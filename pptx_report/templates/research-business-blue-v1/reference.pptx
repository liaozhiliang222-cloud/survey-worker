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461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  <p:sldId id="303" r:id="rId49"/>
    <p:sldId id="304" r:id="rId50"/>
    <p:sldId id="305" r:id="rId51"/>
    <p:sldId id="306" r:id="rId52"/>
    <p:sldId id="307" r:id="rId53"/>
    <p:sldId id="308" r:id="rId54"/>
    <p:sldId id="309" r:id="rId55"/>
    <p:sldId id="310" r:id="rId56"/>
    <p:sldId id="311" r:id="rId57"/>
    <p:sldId id="312" r:id="rId58"/>
    <p:sldId id="313" r:id="rId59"/>
    <p:sldId id="314" r:id="rId60"/>
    <p:sldId id="315" r:id="rId61"/>
    <p:sldId id="316" r:id="rId62"/>
    <p:sldId id="317" r:id="rId63"/>
    <p:sldId id="318" r:id="rId64"/>
    <p:sldId id="319" r:id="rId65"/>
    <p:sldId id="320" r:id="rId66"/>
    <p:sldId id="321" r:id="rId67"/>
    <p:sldId id="322" r:id="rId68"/>
    <p:sldId id="323" r:id="rId69"/>
    <p:sldId id="324" r:id="rId70"/>
    <p:sldId id="325" r:id="rId71"/>
    <p:sldId id="326" r:id="rId72"/>
    <p:sldId id="327" r:id="rId73"/>
    <p:sldId id="328" r:id="rId74"/>
    <p:sldId id="329" r:id="rId75"/>
    <p:sldId id="330" r:id="rId76"/>
    <p:sldId id="331" r:id="rId77"/>
    <p:sldId id="332" r:id="rId78"/>
    <p:sldId id="333" r:id="rId79"/>
    <p:sldId id="334" r:id="rId80"/>
    <p:sldId id="335" r:id="rId81"/>
    <p:sldId id="336" r:id="rId82"/>
    <p:sldId id="337" r:id="rId83"/>
    <p:sldId id="338" r:id="rId84"/>
    <p:sldId id="339" r:id="rId85"/>
    <p:sldId id="340" r:id="rId86"/>
    <p:sldId id="341" r:id="rId87"/>
    <p:sldId id="342" r:id="rId88"/>
    <p:sldId id="343" r:id="rId89"/>
    <p:sldId id="344" r:id="rId90"/>
    <p:sldId id="345" r:id="rId91"/>
    <p:sldId id="346" r:id="rId92"/>
    <p:sldId id="347" r:id="rId93"/>
    <p:sldId id="348" r:id="rId94"/>
    <p:sldId id="349" r:id="rId95"/>
    <p:sldId id="350" r:id="rId96"/>
    <p:sldId id="351" r:id="rId97"/>
    <p:sldId id="352" r:id="rId98"/>
    <p:sldId id="353" r:id="rId99"/>
    <p:sldId id="354" r:id="rId100"/>
    <p:sldId id="355" r:id="rId101"/>
    <p:sldId id="356" r:id="rId102"/>
    <p:sldId id="357" r:id="rId103"/>
    <p:sldId id="358" r:id="rId104"/>
    <p:sldId id="359" r:id="rId105"/>
    <p:sldId id="360" r:id="rId106"/>
    <p:sldId id="361" r:id="rId107"/>
    <p:sldId id="362" r:id="rId108"/>
    <p:sldId id="363" r:id="rId109"/>
    <p:sldId id="364" r:id="rId110"/>
    <p:sldId id="365" r:id="rId111"/>
    <p:sldId id="366" r:id="rId112"/>
    <p:sldId id="367" r:id="rId113"/>
    <p:sldId id="368" r:id="rId114"/>
    <p:sldId id="369" r:id="rId115"/>
    <p:sldId id="370" r:id="rId116"/>
    <p:sldId id="371" r:id="rId117"/>
    <p:sldId id="372" r:id="rId118"/>
    <p:sldId id="373" r:id="rId119"/>
    <p:sldId id="374" r:id="rId120"/>
    <p:sldId id="375" r:id="rId121"/>
    <p:sldId id="376" r:id="rId122"/>
    <p:sldId id="377" r:id="rId123"/>
    <p:sldId id="378" r:id="rId124"/>
    <p:sldId id="379" r:id="rId125"/>
    <p:sldId id="380" r:id="rId126"/>
    <p:sldId id="381" r:id="rId127"/>
    <p:sldId id="382" r:id="rId128"/>
    <p:sldId id="383" r:id="rId129"/>
    <p:sldId id="384" r:id="rId130"/>
    <p:sldId id="385" r:id="rId131"/>
    <p:sldId id="386" r:id="rId132"/>
    <p:sldId id="387" r:id="rId133"/>
    <p:sldId id="388" r:id="rId134"/>
    <p:sldId id="389" r:id="rId135"/>
    <p:sldId id="390" r:id="rId136"/>
    <p:sldId id="391" r:id="rId137"/>
    <p:sldId id="392" r:id="rId138"/>
    <p:sldId id="393" r:id="rId139"/>
    <p:sldId id="394" r:id="rId140"/>
    <p:sldId id="395" r:id="rId141"/>
    <p:sldId id="396" r:id="rId142"/>
    <p:sldId id="397" r:id="rId143"/>
    <p:sldId id="398" r:id="rId144"/>
    <p:sldId id="399" r:id="rId145"/>
    <p:sldId id="400" r:id="rId146"/>
    <p:sldId id="401" r:id="rId147"/>
    <p:sldId id="402" r:id="rId148"/>
    <p:sldId id="403" r:id="rId149"/>
    <p:sldId id="404" r:id="rId150"/>
    <p:sldId id="405" r:id="rId151"/>
    <p:sldId id="406" r:id="rId152"/>
    <p:sldId id="407" r:id="rId153"/>
    <p:sldId id="408" r:id="rId154"/>
    <p:sldId id="409" r:id="rId155"/>
    <p:sldId id="410" r:id="rId156"/>
    <p:sldId id="411" r:id="rId157"/>
    <p:sldId id="412" r:id="rId158"/>
    <p:sldId id="413" r:id="rId159"/>
    <p:sldId id="414" r:id="rId160"/>
    <p:sldId id="415" r:id="rId161"/>
    <p:sldId id="416" r:id="rId162"/>
    <p:sldId id="417" r:id="rId163"/>
    <p:sldId id="418" r:id="rId164"/>
    <p:sldId id="419" r:id="rId165"/>
    <p:sldId id="420" r:id="rId166"/>
    <p:sldId id="421" r:id="rId167"/>
    <p:sldId id="422" r:id="rId168"/>
    <p:sldId id="423" r:id="rId169"/>
    <p:sldId id="424" r:id="rId170"/>
    <p:sldId id="425" r:id="rId171"/>
    <p:sldId id="426" r:id="rId172"/>
    <p:sldId id="427" r:id="rId173"/>
    <p:sldId id="428" r:id="rId174"/>
    <p:sldId id="429" r:id="rId175"/>
    <p:sldId id="430" r:id="rId176"/>
    <p:sldId id="431" r:id="rId177"/>
    <p:sldId id="432" r:id="rId178"/>
    <p:sldId id="433" r:id="rId179"/>
    <p:sldId id="434" r:id="rId180"/>
    <p:sldId id="435" r:id="rId181"/>
    <p:sldId id="436" r:id="rId182"/>
    <p:sldId id="437" r:id="rId183"/>
    <p:sldId id="438" r:id="rId184"/>
    <p:sldId id="439" r:id="rId185"/>
    <p:sldId id="440" r:id="rId186"/>
    <p:sldId id="441" r:id="rId187"/>
    <p:sldId id="442" r:id="rId188"/>
    <p:sldId id="443" r:id="rId189"/>
    <p:sldId id="444" r:id="rId190"/>
    <p:sldId id="445" r:id="rId191"/>
    <p:sldId id="446" r:id="rId192"/>
    <p:sldId id="447" r:id="rId193"/>
    <p:sldId id="448" r:id="rId194"/>
    <p:sldId id="449" r:id="rId195"/>
    <p:sldId id="450" r:id="rId196"/>
    <p:sldId id="451" r:id="rId197"/>
    <p:sldId id="452" r:id="rId198"/>
    <p:sldId id="453" r:id="rId199"/>
    <p:sldId id="454" r:id="rId200"/>
    <p:sldId id="455" r:id="rId201"/>
    <p:sldId id="456" r:id="rId202"/>
    <p:sldId id="256" r:id="rId203"/>
  </p:sldIdLst>
  <p:sldSz cx="12192000" cy="6858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DA6E3A"/>
    <a:srgbClr val="FFFF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89" d="100"/>
          <a:sy n="89" d="100"/>
        </p:scale>
        <p:origin x="52" y="460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200" d="100"/>
        <a:sy n="200" d="100"/>
      </p:scale>
      <p:origin x="0" y="-9804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191" Type="http://schemas.openxmlformats.org/officeDocument/2006/relationships/slide" Target="slides/slide190.xml"/><Relationship Id="rId205" Type="http://schemas.openxmlformats.org/officeDocument/2006/relationships/viewProps" Target="viewProps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81" Type="http://schemas.openxmlformats.org/officeDocument/2006/relationships/slide" Target="slides/slide180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71" Type="http://schemas.openxmlformats.org/officeDocument/2006/relationships/slide" Target="slides/slide170.xml"/><Relationship Id="rId192" Type="http://schemas.openxmlformats.org/officeDocument/2006/relationships/slide" Target="slides/slide191.xml"/><Relationship Id="rId206" Type="http://schemas.openxmlformats.org/officeDocument/2006/relationships/theme" Target="theme/theme1.xml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5" Type="http://schemas.openxmlformats.org/officeDocument/2006/relationships/slide" Target="slides/slide74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61" Type="http://schemas.openxmlformats.org/officeDocument/2006/relationships/slide" Target="slides/slide160.xml"/><Relationship Id="rId182" Type="http://schemas.openxmlformats.org/officeDocument/2006/relationships/slide" Target="slides/slide18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5" Type="http://schemas.openxmlformats.org/officeDocument/2006/relationships/slide" Target="slides/slide64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51" Type="http://schemas.openxmlformats.org/officeDocument/2006/relationships/slide" Target="slides/slide150.xml"/><Relationship Id="rId172" Type="http://schemas.openxmlformats.org/officeDocument/2006/relationships/slide" Target="slides/slide171.xml"/><Relationship Id="rId193" Type="http://schemas.openxmlformats.org/officeDocument/2006/relationships/slide" Target="slides/slide192.xml"/><Relationship Id="rId207" Type="http://schemas.openxmlformats.org/officeDocument/2006/relationships/tableStyles" Target="tableStyles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79" Type="http://schemas.openxmlformats.org/officeDocument/2006/relationships/slide" Target="slides/slide178.xml"/><Relationship Id="rId195" Type="http://schemas.openxmlformats.org/officeDocument/2006/relationships/slide" Target="slides/slide194.xml"/><Relationship Id="rId190" Type="http://schemas.openxmlformats.org/officeDocument/2006/relationships/slide" Target="slides/slide189.xml"/><Relationship Id="rId204" Type="http://schemas.openxmlformats.org/officeDocument/2006/relationships/presProps" Target="presProps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slide" Target="slides/slide168.xml"/><Relationship Id="rId185" Type="http://schemas.openxmlformats.org/officeDocument/2006/relationships/slide" Target="slides/slide184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80" Type="http://schemas.openxmlformats.org/officeDocument/2006/relationships/slide" Target="slides/slide179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201" Type="http://schemas.openxmlformats.org/officeDocument/2006/relationships/slide" Target="slides/slide200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202" Type="http://schemas.openxmlformats.org/officeDocument/2006/relationships/slide" Target="slides/slide201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9/22/2026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9/22/2026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9/22/2026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9/22/2026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9/22/2026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9/22/2026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9/22/2026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9/22/2026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9/22/2026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9/22/2026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9/22/2026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9/22/2026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019643-9625-C0DF-0AE0-21C3A98DB3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-dark">
            <a:extLst>
              <a:ext uri="{FF2B5EF4-FFF2-40B4-BE49-F238E27FC236}">
                <a16:creationId xmlns:a16="http://schemas.microsoft.com/office/drawing/2014/main" id="{7E9E7139-B34C-3C9E-47DA-9FDC287992EE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3A88"/>
              </a:gs>
              <a:gs pos="100000">
                <a:srgbClr val="061F52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" name="mini-card-s01_radial_hub">
            <a:extLst>
              <a:ext uri="{FF2B5EF4-FFF2-40B4-BE49-F238E27FC236}">
                <a16:creationId xmlns:a16="http://schemas.microsoft.com/office/drawing/2014/main" id="{738DBDE2-0B05-6232-B920-4A3B3228C4AD}"/>
              </a:ext>
            </a:extLst>
          </p:cNvPr>
          <p:cNvSpPr/>
          <p:nvPr/>
        </p:nvSpPr>
        <p:spPr>
          <a:xfrm>
            <a:off x="-444500" y="-3810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1" y="0"/>
                </a:moveTo>
                <a:lnTo>
                  <a:pt x="2419160" y="0"/>
                </a:lnTo>
                <a:cubicBezTo>
                  <a:pt x="2463482" y="0"/>
                  <a:pt x="2499360" y="35877"/>
                  <a:pt x="2499360" y="80201"/>
                </a:cubicBezTo>
                <a:lnTo>
                  <a:pt x="2499360" y="1325690"/>
                </a:lnTo>
                <a:cubicBezTo>
                  <a:pt x="2499360" y="1370012"/>
                  <a:pt x="2463482" y="1405890"/>
                  <a:pt x="2419160" y="1405890"/>
                </a:cubicBezTo>
                <a:lnTo>
                  <a:pt x="80201" y="1405890"/>
                </a:lnTo>
                <a:cubicBezTo>
                  <a:pt x="35878" y="1405890"/>
                  <a:pt x="0" y="1370012"/>
                  <a:pt x="0" y="1325690"/>
                </a:cubicBezTo>
                <a:lnTo>
                  <a:pt x="0" y="80201"/>
                </a:lnTo>
                <a:cubicBezTo>
                  <a:pt x="0" y="35877"/>
                  <a:pt x="35878" y="0"/>
                  <a:pt x="80201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m-s01_radial_hub-title-bar">
            <a:extLst>
              <a:ext uri="{FF2B5EF4-FFF2-40B4-BE49-F238E27FC236}">
                <a16:creationId xmlns:a16="http://schemas.microsoft.com/office/drawing/2014/main" id="{94E2E354-57A7-FAC7-3199-43B4A00B6DDD}"/>
              </a:ext>
            </a:extLst>
          </p:cNvPr>
          <p:cNvSpPr/>
          <p:nvPr/>
        </p:nvSpPr>
        <p:spPr>
          <a:xfrm>
            <a:off x="-324739" y="-282067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m-s01_radial_hub-title-bar-accent">
            <a:extLst>
              <a:ext uri="{FF2B5EF4-FFF2-40B4-BE49-F238E27FC236}">
                <a16:creationId xmlns:a16="http://schemas.microsoft.com/office/drawing/2014/main" id="{61B1F8C9-BDC7-9859-6590-39C9A8EEE411}"/>
              </a:ext>
            </a:extLst>
          </p:cNvPr>
          <p:cNvSpPr/>
          <p:nvPr/>
        </p:nvSpPr>
        <p:spPr>
          <a:xfrm>
            <a:off x="-324739" y="-282067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m-s01_radial_hub-title-cn">
            <a:extLst>
              <a:ext uri="{FF2B5EF4-FFF2-40B4-BE49-F238E27FC236}">
                <a16:creationId xmlns:a16="http://schemas.microsoft.com/office/drawing/2014/main" id="{B29C8CE5-30BA-B876-D91D-484FB4026C25}"/>
              </a:ext>
            </a:extLst>
          </p:cNvPr>
          <p:cNvSpPr txBox="1"/>
          <p:nvPr/>
        </p:nvSpPr>
        <p:spPr>
          <a:xfrm>
            <a:off x="-292560" y="-299432"/>
            <a:ext cx="426453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系统解决方案</a:t>
            </a:r>
          </a:p>
        </p:txBody>
      </p:sp>
      <p:sp>
        <p:nvSpPr>
          <p:cNvPr id="7" name="m-s01_radial_hub-title-en">
            <a:extLst>
              <a:ext uri="{FF2B5EF4-FFF2-40B4-BE49-F238E27FC236}">
                <a16:creationId xmlns:a16="http://schemas.microsoft.com/office/drawing/2014/main" id="{5FFB9A2C-BE73-9728-EF0B-4BD429B07A69}"/>
              </a:ext>
            </a:extLst>
          </p:cNvPr>
          <p:cNvSpPr txBox="1"/>
          <p:nvPr/>
        </p:nvSpPr>
        <p:spPr>
          <a:xfrm>
            <a:off x="-285270" y="-212150"/>
            <a:ext cx="38974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SYSTEMATIC SOLUTIONS</a:t>
            </a:r>
          </a:p>
        </p:txBody>
      </p:sp>
      <p:sp>
        <p:nvSpPr>
          <p:cNvPr id="8" name="m-s01_radial_hub-title-sub">
            <a:extLst>
              <a:ext uri="{FF2B5EF4-FFF2-40B4-BE49-F238E27FC236}">
                <a16:creationId xmlns:a16="http://schemas.microsoft.com/office/drawing/2014/main" id="{BA766475-BD40-AC5F-6C17-9EFB0460C4E4}"/>
              </a:ext>
            </a:extLst>
          </p:cNvPr>
          <p:cNvSpPr txBox="1"/>
          <p:nvPr/>
        </p:nvSpPr>
        <p:spPr>
          <a:xfrm>
            <a:off x="1519502" y="-243008"/>
            <a:ext cx="418252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以数字中台为核心，串联八大业务能力</a:t>
            </a:r>
          </a:p>
        </p:txBody>
      </p:sp>
      <p:sp>
        <p:nvSpPr>
          <p:cNvPr id="9" name="m-s01_radial_hub-lead-01">
            <a:extLst>
              <a:ext uri="{FF2B5EF4-FFF2-40B4-BE49-F238E27FC236}">
                <a16:creationId xmlns:a16="http://schemas.microsoft.com/office/drawing/2014/main" id="{4809696E-CD1F-79C8-619C-C948608DAD61}"/>
              </a:ext>
            </a:extLst>
          </p:cNvPr>
          <p:cNvSpPr/>
          <p:nvPr/>
        </p:nvSpPr>
        <p:spPr>
          <a:xfrm>
            <a:off x="978535" y="-78550"/>
            <a:ext cx="389001" cy="28829"/>
          </a:xfrm>
          <a:custGeom>
            <a:avLst/>
            <a:gdLst/>
            <a:ahLst/>
            <a:cxnLst/>
            <a:rect l="0" t="0" r="r" b="b"/>
            <a:pathLst>
              <a:path w="389001" h="28829">
                <a:moveTo>
                  <a:pt x="0" y="28829"/>
                </a:moveTo>
                <a:lnTo>
                  <a:pt x="2984" y="21590"/>
                </a:lnTo>
                <a:quadBezTo>
                  <a:pt x="11938" y="0"/>
                  <a:pt x="35369" y="0"/>
                </a:quadBezTo>
                <a:lnTo>
                  <a:pt x="389001" y="0"/>
                </a:lnTo>
              </a:path>
            </a:pathLst>
          </a:custGeom>
          <a:noFill/>
          <a:ln w="25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" name="m-s01_radial_hub-dot-01">
            <a:extLst>
              <a:ext uri="{FF2B5EF4-FFF2-40B4-BE49-F238E27FC236}">
                <a16:creationId xmlns:a16="http://schemas.microsoft.com/office/drawing/2014/main" id="{A0BA2865-C7D5-57E4-0F9B-46818B10DC65}"/>
              </a:ext>
            </a:extLst>
          </p:cNvPr>
          <p:cNvSpPr/>
          <p:nvPr/>
        </p:nvSpPr>
        <p:spPr>
          <a:xfrm>
            <a:off x="1361027" y="-85090"/>
            <a:ext cx="13017" cy="13017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" name="m-s01_radial_hub-dot-ring-01">
            <a:extLst>
              <a:ext uri="{FF2B5EF4-FFF2-40B4-BE49-F238E27FC236}">
                <a16:creationId xmlns:a16="http://schemas.microsoft.com/office/drawing/2014/main" id="{11F70A9D-33AE-11DF-4EEA-76BD262291E1}"/>
              </a:ext>
            </a:extLst>
          </p:cNvPr>
          <p:cNvSpPr/>
          <p:nvPr/>
        </p:nvSpPr>
        <p:spPr>
          <a:xfrm>
            <a:off x="1355169" y="-90948"/>
            <a:ext cx="24733" cy="24733"/>
          </a:xfrm>
          <a:prstGeom prst="ellipse">
            <a:avLst/>
          </a:prstGeom>
          <a:noFill/>
          <a:ln w="2540" cap="rnd">
            <a:solidFill>
              <a:srgbClr val="0B3E8F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" name="m-s01_radial_hub-lead-02">
            <a:extLst>
              <a:ext uri="{FF2B5EF4-FFF2-40B4-BE49-F238E27FC236}">
                <a16:creationId xmlns:a16="http://schemas.microsoft.com/office/drawing/2014/main" id="{831839B5-AA69-106B-5220-106FA419EB61}"/>
              </a:ext>
            </a:extLst>
          </p:cNvPr>
          <p:cNvSpPr/>
          <p:nvPr/>
        </p:nvSpPr>
        <p:spPr>
          <a:xfrm>
            <a:off x="1223708" y="183515"/>
            <a:ext cx="143828" cy="11938"/>
          </a:xfrm>
          <a:custGeom>
            <a:avLst/>
            <a:gdLst/>
            <a:ahLst/>
            <a:cxnLst/>
            <a:rect l="0" t="0" r="r" b="b"/>
            <a:pathLst>
              <a:path w="143828" h="11938">
                <a:moveTo>
                  <a:pt x="0" y="11938"/>
                </a:moveTo>
                <a:lnTo>
                  <a:pt x="7239" y="8954"/>
                </a:lnTo>
                <a:quadBezTo>
                  <a:pt x="28829" y="0"/>
                  <a:pt x="52260" y="0"/>
                </a:quadBezTo>
                <a:lnTo>
                  <a:pt x="143828" y="0"/>
                </a:lnTo>
              </a:path>
            </a:pathLst>
          </a:custGeom>
          <a:noFill/>
          <a:ln w="25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" name="m-s01_radial_hub-dot-02">
            <a:extLst>
              <a:ext uri="{FF2B5EF4-FFF2-40B4-BE49-F238E27FC236}">
                <a16:creationId xmlns:a16="http://schemas.microsoft.com/office/drawing/2014/main" id="{20132FD4-E087-7ACC-FFE3-CB1B459DFBEE}"/>
              </a:ext>
            </a:extLst>
          </p:cNvPr>
          <p:cNvSpPr/>
          <p:nvPr/>
        </p:nvSpPr>
        <p:spPr>
          <a:xfrm>
            <a:off x="1361027" y="176984"/>
            <a:ext cx="13017" cy="13017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" name="m-s01_radial_hub-dot-ring-02">
            <a:extLst>
              <a:ext uri="{FF2B5EF4-FFF2-40B4-BE49-F238E27FC236}">
                <a16:creationId xmlns:a16="http://schemas.microsoft.com/office/drawing/2014/main" id="{F8AC2E78-544D-DA8E-8EA8-513E8A377016}"/>
              </a:ext>
            </a:extLst>
          </p:cNvPr>
          <p:cNvSpPr/>
          <p:nvPr/>
        </p:nvSpPr>
        <p:spPr>
          <a:xfrm>
            <a:off x="1355169" y="171127"/>
            <a:ext cx="24733" cy="24733"/>
          </a:xfrm>
          <a:prstGeom prst="ellipse">
            <a:avLst/>
          </a:prstGeom>
          <a:noFill/>
          <a:ln w="2540" cap="rnd">
            <a:solidFill>
              <a:srgbClr val="134C9C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" name="m-s01_radial_hub-lead-03">
            <a:extLst>
              <a:ext uri="{FF2B5EF4-FFF2-40B4-BE49-F238E27FC236}">
                <a16:creationId xmlns:a16="http://schemas.microsoft.com/office/drawing/2014/main" id="{4671DC23-B59D-6D0D-6713-693E9950F77F}"/>
              </a:ext>
            </a:extLst>
          </p:cNvPr>
          <p:cNvSpPr/>
          <p:nvPr/>
        </p:nvSpPr>
        <p:spPr>
          <a:xfrm>
            <a:off x="1223708" y="542163"/>
            <a:ext cx="143828" cy="11938"/>
          </a:xfrm>
          <a:custGeom>
            <a:avLst/>
            <a:gdLst/>
            <a:ahLst/>
            <a:cxnLst/>
            <a:rect l="0" t="0" r="r" b="b"/>
            <a:pathLst>
              <a:path w="143828" h="11938">
                <a:moveTo>
                  <a:pt x="0" y="0"/>
                </a:moveTo>
                <a:lnTo>
                  <a:pt x="7239" y="2984"/>
                </a:lnTo>
                <a:quadBezTo>
                  <a:pt x="28829" y="11938"/>
                  <a:pt x="52260" y="11938"/>
                </a:quadBezTo>
                <a:lnTo>
                  <a:pt x="143828" y="11938"/>
                </a:lnTo>
              </a:path>
            </a:pathLst>
          </a:custGeom>
          <a:noFill/>
          <a:ln w="25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" name="m-s01_radial_hub-dot-03">
            <a:extLst>
              <a:ext uri="{FF2B5EF4-FFF2-40B4-BE49-F238E27FC236}">
                <a16:creationId xmlns:a16="http://schemas.microsoft.com/office/drawing/2014/main" id="{434408AA-FF46-2FB0-74C9-2E726FF25DBF}"/>
              </a:ext>
            </a:extLst>
          </p:cNvPr>
          <p:cNvSpPr/>
          <p:nvPr/>
        </p:nvSpPr>
        <p:spPr>
          <a:xfrm>
            <a:off x="1361027" y="547614"/>
            <a:ext cx="13017" cy="13017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" name="m-s01_radial_hub-dot-ring-03">
            <a:extLst>
              <a:ext uri="{FF2B5EF4-FFF2-40B4-BE49-F238E27FC236}">
                <a16:creationId xmlns:a16="http://schemas.microsoft.com/office/drawing/2014/main" id="{4B8FEBAA-2038-4BCC-B66E-8FB95CC56B27}"/>
              </a:ext>
            </a:extLst>
          </p:cNvPr>
          <p:cNvSpPr/>
          <p:nvPr/>
        </p:nvSpPr>
        <p:spPr>
          <a:xfrm>
            <a:off x="1355169" y="541756"/>
            <a:ext cx="24733" cy="24733"/>
          </a:xfrm>
          <a:prstGeom prst="ellipse">
            <a:avLst/>
          </a:prstGeom>
          <a:noFill/>
          <a:ln w="2540" cap="rnd">
            <a:solidFill>
              <a:srgbClr val="1B5AA8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" name="m-s01_radial_hub-lead-04">
            <a:extLst>
              <a:ext uri="{FF2B5EF4-FFF2-40B4-BE49-F238E27FC236}">
                <a16:creationId xmlns:a16="http://schemas.microsoft.com/office/drawing/2014/main" id="{B9C49394-A46E-62C3-5FEF-FF2E9042361D}"/>
              </a:ext>
            </a:extLst>
          </p:cNvPr>
          <p:cNvSpPr/>
          <p:nvPr/>
        </p:nvSpPr>
        <p:spPr>
          <a:xfrm>
            <a:off x="978535" y="787336"/>
            <a:ext cx="389001" cy="28829"/>
          </a:xfrm>
          <a:custGeom>
            <a:avLst/>
            <a:gdLst/>
            <a:ahLst/>
            <a:cxnLst/>
            <a:rect l="0" t="0" r="r" b="b"/>
            <a:pathLst>
              <a:path w="389001" h="28829">
                <a:moveTo>
                  <a:pt x="0" y="0"/>
                </a:moveTo>
                <a:lnTo>
                  <a:pt x="2984" y="7239"/>
                </a:lnTo>
                <a:quadBezTo>
                  <a:pt x="11938" y="28829"/>
                  <a:pt x="35369" y="28829"/>
                </a:quadBezTo>
                <a:lnTo>
                  <a:pt x="389001" y="28829"/>
                </a:lnTo>
              </a:path>
            </a:pathLst>
          </a:custGeom>
          <a:noFill/>
          <a:ln w="25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" name="m-s01_radial_hub-dot-04">
            <a:extLst>
              <a:ext uri="{FF2B5EF4-FFF2-40B4-BE49-F238E27FC236}">
                <a16:creationId xmlns:a16="http://schemas.microsoft.com/office/drawing/2014/main" id="{66132CE4-4F51-729C-D540-78E64BAE3632}"/>
              </a:ext>
            </a:extLst>
          </p:cNvPr>
          <p:cNvSpPr/>
          <p:nvPr/>
        </p:nvSpPr>
        <p:spPr>
          <a:xfrm>
            <a:off x="1361027" y="809689"/>
            <a:ext cx="13017" cy="13017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" name="m-s01_radial_hub-dot-ring-04">
            <a:extLst>
              <a:ext uri="{FF2B5EF4-FFF2-40B4-BE49-F238E27FC236}">
                <a16:creationId xmlns:a16="http://schemas.microsoft.com/office/drawing/2014/main" id="{DB750DA5-E743-5D09-6BA1-E2F5C0433F66}"/>
              </a:ext>
            </a:extLst>
          </p:cNvPr>
          <p:cNvSpPr/>
          <p:nvPr/>
        </p:nvSpPr>
        <p:spPr>
          <a:xfrm>
            <a:off x="1355169" y="803831"/>
            <a:ext cx="24733" cy="24733"/>
          </a:xfrm>
          <a:prstGeom prst="ellipse">
            <a:avLst/>
          </a:prstGeom>
          <a:noFill/>
          <a:ln w="2540" cap="rnd">
            <a:solidFill>
              <a:srgbClr val="2468B6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" name="m-s01_radial_hub-lead-05">
            <a:extLst>
              <a:ext uri="{FF2B5EF4-FFF2-40B4-BE49-F238E27FC236}">
                <a16:creationId xmlns:a16="http://schemas.microsoft.com/office/drawing/2014/main" id="{CB4ACD6D-739D-E2C4-6BD8-ADDC47E338B5}"/>
              </a:ext>
            </a:extLst>
          </p:cNvPr>
          <p:cNvSpPr/>
          <p:nvPr/>
        </p:nvSpPr>
        <p:spPr>
          <a:xfrm>
            <a:off x="242824" y="787336"/>
            <a:ext cx="389001" cy="28829"/>
          </a:xfrm>
          <a:custGeom>
            <a:avLst/>
            <a:gdLst/>
            <a:ahLst/>
            <a:cxnLst/>
            <a:rect l="0" t="0" r="r" b="b"/>
            <a:pathLst>
              <a:path w="389001" h="28829">
                <a:moveTo>
                  <a:pt x="389001" y="0"/>
                </a:moveTo>
                <a:lnTo>
                  <a:pt x="386016" y="7239"/>
                </a:lnTo>
                <a:quadBezTo>
                  <a:pt x="377063" y="28829"/>
                  <a:pt x="353632" y="28829"/>
                </a:quadBezTo>
                <a:lnTo>
                  <a:pt x="0" y="28829"/>
                </a:lnTo>
              </a:path>
            </a:pathLst>
          </a:custGeom>
          <a:noFill/>
          <a:ln w="25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" name="m-s01_radial_hub-dot-05">
            <a:extLst>
              <a:ext uri="{FF2B5EF4-FFF2-40B4-BE49-F238E27FC236}">
                <a16:creationId xmlns:a16="http://schemas.microsoft.com/office/drawing/2014/main" id="{C17F38AB-5DA8-D005-7F83-28683C3D7DC4}"/>
              </a:ext>
            </a:extLst>
          </p:cNvPr>
          <p:cNvSpPr/>
          <p:nvPr/>
        </p:nvSpPr>
        <p:spPr>
          <a:xfrm>
            <a:off x="236315" y="809689"/>
            <a:ext cx="13017" cy="13017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" name="m-s01_radial_hub-dot-ring-05">
            <a:extLst>
              <a:ext uri="{FF2B5EF4-FFF2-40B4-BE49-F238E27FC236}">
                <a16:creationId xmlns:a16="http://schemas.microsoft.com/office/drawing/2014/main" id="{D3F30549-223A-78B8-3034-76EE9C1D7827}"/>
              </a:ext>
            </a:extLst>
          </p:cNvPr>
          <p:cNvSpPr/>
          <p:nvPr/>
        </p:nvSpPr>
        <p:spPr>
          <a:xfrm>
            <a:off x="230457" y="803831"/>
            <a:ext cx="24733" cy="24733"/>
          </a:xfrm>
          <a:prstGeom prst="ellipse">
            <a:avLst/>
          </a:prstGeom>
          <a:noFill/>
          <a:ln w="2540" cap="rnd">
            <a:solidFill>
              <a:srgbClr val="2E77C2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" name="m-s01_radial_hub-lead-06">
            <a:extLst>
              <a:ext uri="{FF2B5EF4-FFF2-40B4-BE49-F238E27FC236}">
                <a16:creationId xmlns:a16="http://schemas.microsoft.com/office/drawing/2014/main" id="{7958BDF8-9CC0-A801-37A2-0DD5ECFA2601}"/>
              </a:ext>
            </a:extLst>
          </p:cNvPr>
          <p:cNvSpPr/>
          <p:nvPr/>
        </p:nvSpPr>
        <p:spPr>
          <a:xfrm>
            <a:off x="242824" y="542163"/>
            <a:ext cx="143828" cy="11938"/>
          </a:xfrm>
          <a:custGeom>
            <a:avLst/>
            <a:gdLst/>
            <a:ahLst/>
            <a:cxnLst/>
            <a:rect l="0" t="0" r="r" b="b"/>
            <a:pathLst>
              <a:path w="143828" h="11938">
                <a:moveTo>
                  <a:pt x="143828" y="0"/>
                </a:moveTo>
                <a:lnTo>
                  <a:pt x="136588" y="2984"/>
                </a:lnTo>
                <a:quadBezTo>
                  <a:pt x="114998" y="11938"/>
                  <a:pt x="91567" y="11938"/>
                </a:quadBezTo>
                <a:lnTo>
                  <a:pt x="0" y="11938"/>
                </a:lnTo>
              </a:path>
            </a:pathLst>
          </a:custGeom>
          <a:noFill/>
          <a:ln w="25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" name="m-s01_radial_hub-dot-06">
            <a:extLst>
              <a:ext uri="{FF2B5EF4-FFF2-40B4-BE49-F238E27FC236}">
                <a16:creationId xmlns:a16="http://schemas.microsoft.com/office/drawing/2014/main" id="{181F84F2-607F-D68E-DCE1-D78664057363}"/>
              </a:ext>
            </a:extLst>
          </p:cNvPr>
          <p:cNvSpPr/>
          <p:nvPr/>
        </p:nvSpPr>
        <p:spPr>
          <a:xfrm>
            <a:off x="236315" y="547614"/>
            <a:ext cx="13017" cy="13017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6" name="m-s01_radial_hub-dot-ring-06">
            <a:extLst>
              <a:ext uri="{FF2B5EF4-FFF2-40B4-BE49-F238E27FC236}">
                <a16:creationId xmlns:a16="http://schemas.microsoft.com/office/drawing/2014/main" id="{B1BFD2A4-6102-94A9-0548-464306BD240D}"/>
              </a:ext>
            </a:extLst>
          </p:cNvPr>
          <p:cNvSpPr/>
          <p:nvPr/>
        </p:nvSpPr>
        <p:spPr>
          <a:xfrm>
            <a:off x="230457" y="541756"/>
            <a:ext cx="24733" cy="24733"/>
          </a:xfrm>
          <a:prstGeom prst="ellipse">
            <a:avLst/>
          </a:prstGeom>
          <a:noFill/>
          <a:ln w="2540" cap="rnd">
            <a:solidFill>
              <a:srgbClr val="3985CD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7" name="m-s01_radial_hub-lead-07">
            <a:extLst>
              <a:ext uri="{FF2B5EF4-FFF2-40B4-BE49-F238E27FC236}">
                <a16:creationId xmlns:a16="http://schemas.microsoft.com/office/drawing/2014/main" id="{70377DA3-D3AF-A074-EB8C-D5C98860BFF1}"/>
              </a:ext>
            </a:extLst>
          </p:cNvPr>
          <p:cNvSpPr/>
          <p:nvPr/>
        </p:nvSpPr>
        <p:spPr>
          <a:xfrm>
            <a:off x="242824" y="183515"/>
            <a:ext cx="143828" cy="11938"/>
          </a:xfrm>
          <a:custGeom>
            <a:avLst/>
            <a:gdLst/>
            <a:ahLst/>
            <a:cxnLst/>
            <a:rect l="0" t="0" r="r" b="b"/>
            <a:pathLst>
              <a:path w="143828" h="11938">
                <a:moveTo>
                  <a:pt x="143828" y="11938"/>
                </a:moveTo>
                <a:lnTo>
                  <a:pt x="136588" y="8954"/>
                </a:lnTo>
                <a:quadBezTo>
                  <a:pt x="114998" y="0"/>
                  <a:pt x="91567" y="0"/>
                </a:quadBezTo>
                <a:lnTo>
                  <a:pt x="0" y="0"/>
                </a:lnTo>
              </a:path>
            </a:pathLst>
          </a:custGeom>
          <a:noFill/>
          <a:ln w="25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8" name="m-s01_radial_hub-dot-07">
            <a:extLst>
              <a:ext uri="{FF2B5EF4-FFF2-40B4-BE49-F238E27FC236}">
                <a16:creationId xmlns:a16="http://schemas.microsoft.com/office/drawing/2014/main" id="{09A89612-4C4A-44F8-B879-D6259E7F25F0}"/>
              </a:ext>
            </a:extLst>
          </p:cNvPr>
          <p:cNvSpPr/>
          <p:nvPr/>
        </p:nvSpPr>
        <p:spPr>
          <a:xfrm>
            <a:off x="236315" y="176984"/>
            <a:ext cx="13017" cy="13017"/>
          </a:xfrm>
          <a:prstGeom prst="ellipse">
            <a:avLst/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9" name="m-s01_radial_hub-dot-ring-07">
            <a:extLst>
              <a:ext uri="{FF2B5EF4-FFF2-40B4-BE49-F238E27FC236}">
                <a16:creationId xmlns:a16="http://schemas.microsoft.com/office/drawing/2014/main" id="{D1E52FBF-F0C9-FFED-2150-6E8D0451989A}"/>
              </a:ext>
            </a:extLst>
          </p:cNvPr>
          <p:cNvSpPr/>
          <p:nvPr/>
        </p:nvSpPr>
        <p:spPr>
          <a:xfrm>
            <a:off x="230457" y="171127"/>
            <a:ext cx="24733" cy="24733"/>
          </a:xfrm>
          <a:prstGeom prst="ellipse">
            <a:avLst/>
          </a:prstGeom>
          <a:noFill/>
          <a:ln w="2540" cap="rnd">
            <a:solidFill>
              <a:srgbClr val="4694D7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0" name="m-s01_radial_hub-lead-08">
            <a:extLst>
              <a:ext uri="{FF2B5EF4-FFF2-40B4-BE49-F238E27FC236}">
                <a16:creationId xmlns:a16="http://schemas.microsoft.com/office/drawing/2014/main" id="{D7EA6A7A-12B2-EBF3-FCF9-E1CEA2578321}"/>
              </a:ext>
            </a:extLst>
          </p:cNvPr>
          <p:cNvSpPr/>
          <p:nvPr/>
        </p:nvSpPr>
        <p:spPr>
          <a:xfrm>
            <a:off x="242824" y="-78550"/>
            <a:ext cx="389001" cy="28829"/>
          </a:xfrm>
          <a:custGeom>
            <a:avLst/>
            <a:gdLst/>
            <a:ahLst/>
            <a:cxnLst/>
            <a:rect l="0" t="0" r="r" b="b"/>
            <a:pathLst>
              <a:path w="389001" h="28829">
                <a:moveTo>
                  <a:pt x="389001" y="28829"/>
                </a:moveTo>
                <a:lnTo>
                  <a:pt x="386016" y="21590"/>
                </a:lnTo>
                <a:quadBezTo>
                  <a:pt x="377063" y="0"/>
                  <a:pt x="353632" y="0"/>
                </a:quadBezTo>
                <a:lnTo>
                  <a:pt x="0" y="0"/>
                </a:lnTo>
              </a:path>
            </a:pathLst>
          </a:custGeom>
          <a:noFill/>
          <a:ln w="25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1" name="m-s01_radial_hub-dot-08">
            <a:extLst>
              <a:ext uri="{FF2B5EF4-FFF2-40B4-BE49-F238E27FC236}">
                <a16:creationId xmlns:a16="http://schemas.microsoft.com/office/drawing/2014/main" id="{9538E1AC-8CBB-2687-5731-F24F8625E759}"/>
              </a:ext>
            </a:extLst>
          </p:cNvPr>
          <p:cNvSpPr/>
          <p:nvPr/>
        </p:nvSpPr>
        <p:spPr>
          <a:xfrm>
            <a:off x="236315" y="-85090"/>
            <a:ext cx="13017" cy="13017"/>
          </a:xfrm>
          <a:prstGeom prst="ellipse">
            <a:avLst/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2" name="m-s01_radial_hub-dot-ring-08">
            <a:extLst>
              <a:ext uri="{FF2B5EF4-FFF2-40B4-BE49-F238E27FC236}">
                <a16:creationId xmlns:a16="http://schemas.microsoft.com/office/drawing/2014/main" id="{C83E94D9-3AE4-F2D3-7C4F-94CDBC9FBC5C}"/>
              </a:ext>
            </a:extLst>
          </p:cNvPr>
          <p:cNvSpPr/>
          <p:nvPr/>
        </p:nvSpPr>
        <p:spPr>
          <a:xfrm>
            <a:off x="230457" y="-90948"/>
            <a:ext cx="24733" cy="24733"/>
          </a:xfrm>
          <a:prstGeom prst="ellipse">
            <a:avLst/>
          </a:prstGeom>
          <a:noFill/>
          <a:ln w="2540" cap="rnd">
            <a:solidFill>
              <a:srgbClr val="54A2DF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3" name="m-s01_radial_hub-seg-01">
            <a:extLst>
              <a:ext uri="{FF2B5EF4-FFF2-40B4-BE49-F238E27FC236}">
                <a16:creationId xmlns:a16="http://schemas.microsoft.com/office/drawing/2014/main" id="{71CE06C9-921B-41CF-7F98-62354CB085DA}"/>
              </a:ext>
            </a:extLst>
          </p:cNvPr>
          <p:cNvSpPr/>
          <p:nvPr/>
        </p:nvSpPr>
        <p:spPr>
          <a:xfrm>
            <a:off x="812356" y="21033"/>
            <a:ext cx="226838" cy="177706"/>
          </a:xfrm>
          <a:custGeom>
            <a:avLst/>
            <a:gdLst/>
            <a:ahLst/>
            <a:cxnLst/>
            <a:rect l="0" t="0" r="r" b="b"/>
            <a:pathLst>
              <a:path w="226838" h="177706">
                <a:moveTo>
                  <a:pt x="20764" y="49"/>
                </a:moveTo>
                <a:cubicBezTo>
                  <a:pt x="93853" y="5891"/>
                  <a:pt x="163132" y="34593"/>
                  <a:pt x="218948" y="82091"/>
                </a:cubicBezTo>
                <a:quadBezTo>
                  <a:pt x="234378" y="96061"/>
                  <a:pt x="219647" y="110793"/>
                </a:quadBezTo>
                <a:lnTo>
                  <a:pt x="164401" y="166038"/>
                </a:lnTo>
                <a:quadBezTo>
                  <a:pt x="142303" y="188136"/>
                  <a:pt x="118047" y="168515"/>
                </a:quadBezTo>
                <a:cubicBezTo>
                  <a:pt x="92011" y="150290"/>
                  <a:pt x="62294" y="137971"/>
                  <a:pt x="31051" y="132447"/>
                </a:cubicBezTo>
                <a:quadBezTo>
                  <a:pt x="0" y="129208"/>
                  <a:pt x="0" y="97966"/>
                </a:quadBezTo>
                <a:lnTo>
                  <a:pt x="0" y="19798"/>
                </a:lnTo>
                <a:quadBezTo>
                  <a:pt x="0" y="-1030"/>
                  <a:pt x="20764" y="49"/>
                </a:quadBezTo>
                <a:close/>
              </a:path>
            </a:pathLst>
          </a:custGeom>
          <a:gradFill rotWithShape="1">
            <a:gsLst>
              <a:gs pos="0">
                <a:srgbClr val="0B3E8F"/>
              </a:gs>
              <a:gs pos="100000">
                <a:srgbClr val="0B3E8F">
                  <a:alpha val="82000"/>
                </a:srgbClr>
              </a:gs>
            </a:gsLst>
            <a:lin ang="76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4" name="m-s01_radial_hub-seg-02">
            <a:extLst>
              <a:ext uri="{FF2B5EF4-FFF2-40B4-BE49-F238E27FC236}">
                <a16:creationId xmlns:a16="http://schemas.microsoft.com/office/drawing/2014/main" id="{4F833AD2-40D6-1EAA-7D51-07BC0E7A0700}"/>
              </a:ext>
            </a:extLst>
          </p:cNvPr>
          <p:cNvSpPr/>
          <p:nvPr/>
        </p:nvSpPr>
        <p:spPr>
          <a:xfrm>
            <a:off x="975249" y="134795"/>
            <a:ext cx="177706" cy="226838"/>
          </a:xfrm>
          <a:custGeom>
            <a:avLst/>
            <a:gdLst/>
            <a:ahLst/>
            <a:cxnLst/>
            <a:rect l="0" t="0" r="r" b="b"/>
            <a:pathLst>
              <a:path w="177706" h="226838">
                <a:moveTo>
                  <a:pt x="95615" y="7890"/>
                </a:moveTo>
                <a:cubicBezTo>
                  <a:pt x="143113" y="63706"/>
                  <a:pt x="171815" y="132985"/>
                  <a:pt x="177657" y="206073"/>
                </a:cubicBezTo>
                <a:quadBezTo>
                  <a:pt x="178737" y="226838"/>
                  <a:pt x="157909" y="226838"/>
                </a:quadBezTo>
                <a:lnTo>
                  <a:pt x="79740" y="226838"/>
                </a:lnTo>
                <a:quadBezTo>
                  <a:pt x="48498" y="226838"/>
                  <a:pt x="45260" y="195786"/>
                </a:quadBezTo>
                <a:cubicBezTo>
                  <a:pt x="39735" y="164544"/>
                  <a:pt x="27416" y="134826"/>
                  <a:pt x="9192" y="108791"/>
                </a:cubicBezTo>
                <a:quadBezTo>
                  <a:pt x="-10430" y="84534"/>
                  <a:pt x="11668" y="62436"/>
                </a:quadBezTo>
                <a:lnTo>
                  <a:pt x="66913" y="7191"/>
                </a:lnTo>
                <a:quadBezTo>
                  <a:pt x="81645" y="-7541"/>
                  <a:pt x="95615" y="7890"/>
                </a:quadBezTo>
                <a:close/>
              </a:path>
            </a:pathLst>
          </a:custGeom>
          <a:gradFill rotWithShape="1">
            <a:gsLst>
              <a:gs pos="0">
                <a:srgbClr val="134C9C"/>
              </a:gs>
              <a:gs pos="100000">
                <a:srgbClr val="134C9C">
                  <a:alpha val="82000"/>
                </a:srgbClr>
              </a:gs>
            </a:gsLst>
            <a:lin ang="76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5" name="m-s01_radial_hub-seg-03">
            <a:extLst>
              <a:ext uri="{FF2B5EF4-FFF2-40B4-BE49-F238E27FC236}">
                <a16:creationId xmlns:a16="http://schemas.microsoft.com/office/drawing/2014/main" id="{906C9225-F4AA-61EE-A197-03DDB54ADFBB}"/>
              </a:ext>
            </a:extLst>
          </p:cNvPr>
          <p:cNvSpPr/>
          <p:nvPr/>
        </p:nvSpPr>
        <p:spPr>
          <a:xfrm>
            <a:off x="975249" y="375984"/>
            <a:ext cx="177706" cy="226838"/>
          </a:xfrm>
          <a:custGeom>
            <a:avLst/>
            <a:gdLst/>
            <a:ahLst/>
            <a:cxnLst/>
            <a:rect l="0" t="0" r="r" b="b"/>
            <a:pathLst>
              <a:path w="177706" h="226838">
                <a:moveTo>
                  <a:pt x="177657" y="20764"/>
                </a:moveTo>
                <a:cubicBezTo>
                  <a:pt x="171815" y="93853"/>
                  <a:pt x="143113" y="163132"/>
                  <a:pt x="95615" y="218948"/>
                </a:cubicBezTo>
                <a:quadBezTo>
                  <a:pt x="81645" y="234379"/>
                  <a:pt x="66913" y="219646"/>
                </a:quadBezTo>
                <a:lnTo>
                  <a:pt x="11668" y="164401"/>
                </a:lnTo>
                <a:quadBezTo>
                  <a:pt x="-10430" y="142304"/>
                  <a:pt x="9192" y="118046"/>
                </a:quadBezTo>
                <a:cubicBezTo>
                  <a:pt x="27416" y="92012"/>
                  <a:pt x="39735" y="62293"/>
                  <a:pt x="45260" y="31051"/>
                </a:cubicBezTo>
                <a:quadBezTo>
                  <a:pt x="48498" y="0"/>
                  <a:pt x="79740" y="0"/>
                </a:quadBezTo>
                <a:lnTo>
                  <a:pt x="157909" y="0"/>
                </a:lnTo>
                <a:quadBezTo>
                  <a:pt x="178737" y="0"/>
                  <a:pt x="177657" y="20764"/>
                </a:quad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1B5AA8">
                  <a:alpha val="82000"/>
                </a:srgbClr>
              </a:gs>
            </a:gsLst>
            <a:lin ang="76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6" name="m-s01_radial_hub-seg-04">
            <a:extLst>
              <a:ext uri="{FF2B5EF4-FFF2-40B4-BE49-F238E27FC236}">
                <a16:creationId xmlns:a16="http://schemas.microsoft.com/office/drawing/2014/main" id="{4550649E-232A-0058-28B5-6327226FA618}"/>
              </a:ext>
            </a:extLst>
          </p:cNvPr>
          <p:cNvSpPr/>
          <p:nvPr/>
        </p:nvSpPr>
        <p:spPr>
          <a:xfrm>
            <a:off x="812356" y="538877"/>
            <a:ext cx="226838" cy="177706"/>
          </a:xfrm>
          <a:custGeom>
            <a:avLst/>
            <a:gdLst/>
            <a:ahLst/>
            <a:cxnLst/>
            <a:rect l="0" t="0" r="r" b="b"/>
            <a:pathLst>
              <a:path w="226838" h="177706">
                <a:moveTo>
                  <a:pt x="218948" y="95615"/>
                </a:moveTo>
                <a:cubicBezTo>
                  <a:pt x="163132" y="143113"/>
                  <a:pt x="93853" y="171815"/>
                  <a:pt x="20764" y="177657"/>
                </a:cubicBezTo>
                <a:quadBezTo>
                  <a:pt x="0" y="178737"/>
                  <a:pt x="0" y="157909"/>
                </a:quadBezTo>
                <a:lnTo>
                  <a:pt x="0" y="79740"/>
                </a:lnTo>
                <a:quadBezTo>
                  <a:pt x="0" y="48498"/>
                  <a:pt x="31051" y="45260"/>
                </a:quadBezTo>
                <a:cubicBezTo>
                  <a:pt x="62294" y="39735"/>
                  <a:pt x="92011" y="27416"/>
                  <a:pt x="118047" y="9192"/>
                </a:cubicBezTo>
                <a:quadBezTo>
                  <a:pt x="142303" y="-10430"/>
                  <a:pt x="164401" y="11668"/>
                </a:quadBezTo>
                <a:lnTo>
                  <a:pt x="219647" y="66913"/>
                </a:lnTo>
                <a:quadBezTo>
                  <a:pt x="234378" y="81645"/>
                  <a:pt x="218948" y="95615"/>
                </a:quadBezTo>
                <a:close/>
              </a:path>
            </a:pathLst>
          </a:custGeom>
          <a:gradFill rotWithShape="1">
            <a:gsLst>
              <a:gs pos="0">
                <a:srgbClr val="2468B6"/>
              </a:gs>
              <a:gs pos="100000">
                <a:srgbClr val="2468B6">
                  <a:alpha val="82000"/>
                </a:srgbClr>
              </a:gs>
            </a:gsLst>
            <a:lin ang="76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7" name="m-s01_radial_hub-seg-05">
            <a:extLst>
              <a:ext uri="{FF2B5EF4-FFF2-40B4-BE49-F238E27FC236}">
                <a16:creationId xmlns:a16="http://schemas.microsoft.com/office/drawing/2014/main" id="{BCB5C467-8913-F43B-412B-4589A3E82D02}"/>
              </a:ext>
            </a:extLst>
          </p:cNvPr>
          <p:cNvSpPr/>
          <p:nvPr/>
        </p:nvSpPr>
        <p:spPr>
          <a:xfrm>
            <a:off x="571167" y="538877"/>
            <a:ext cx="226838" cy="177706"/>
          </a:xfrm>
          <a:custGeom>
            <a:avLst/>
            <a:gdLst/>
            <a:ahLst/>
            <a:cxnLst/>
            <a:rect l="0" t="0" r="r" b="b"/>
            <a:pathLst>
              <a:path w="226838" h="177706">
                <a:moveTo>
                  <a:pt x="206073" y="177657"/>
                </a:moveTo>
                <a:cubicBezTo>
                  <a:pt x="132985" y="171815"/>
                  <a:pt x="63706" y="143113"/>
                  <a:pt x="7890" y="95615"/>
                </a:cubicBezTo>
                <a:quadBezTo>
                  <a:pt x="-7541" y="81645"/>
                  <a:pt x="7191" y="66913"/>
                </a:quadBezTo>
                <a:lnTo>
                  <a:pt x="62436" y="11668"/>
                </a:lnTo>
                <a:quadBezTo>
                  <a:pt x="84534" y="-10430"/>
                  <a:pt x="108791" y="9192"/>
                </a:quadBezTo>
                <a:cubicBezTo>
                  <a:pt x="134826" y="27416"/>
                  <a:pt x="164544" y="39735"/>
                  <a:pt x="195786" y="45260"/>
                </a:cubicBezTo>
                <a:quadBezTo>
                  <a:pt x="226838" y="48498"/>
                  <a:pt x="226838" y="79740"/>
                </a:quadBezTo>
                <a:lnTo>
                  <a:pt x="226838" y="157909"/>
                </a:lnTo>
                <a:quadBezTo>
                  <a:pt x="226838" y="178737"/>
                  <a:pt x="206073" y="177657"/>
                </a:quadBezTo>
                <a:close/>
              </a:path>
            </a:pathLst>
          </a:custGeom>
          <a:gradFill rotWithShape="1">
            <a:gsLst>
              <a:gs pos="0">
                <a:srgbClr val="2E77C2"/>
              </a:gs>
              <a:gs pos="100000">
                <a:srgbClr val="2E77C2">
                  <a:alpha val="82000"/>
                </a:srgbClr>
              </a:gs>
            </a:gsLst>
            <a:lin ang="76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8" name="m-s01_radial_hub-seg-06">
            <a:extLst>
              <a:ext uri="{FF2B5EF4-FFF2-40B4-BE49-F238E27FC236}">
                <a16:creationId xmlns:a16="http://schemas.microsoft.com/office/drawing/2014/main" id="{EED5783D-69E9-3760-D8FD-23E52B3346D6}"/>
              </a:ext>
            </a:extLst>
          </p:cNvPr>
          <p:cNvSpPr/>
          <p:nvPr/>
        </p:nvSpPr>
        <p:spPr>
          <a:xfrm>
            <a:off x="457405" y="375984"/>
            <a:ext cx="177706" cy="226838"/>
          </a:xfrm>
          <a:custGeom>
            <a:avLst/>
            <a:gdLst/>
            <a:ahLst/>
            <a:cxnLst/>
            <a:rect l="0" t="0" r="r" b="b"/>
            <a:pathLst>
              <a:path w="177706" h="226838">
                <a:moveTo>
                  <a:pt x="82091" y="218948"/>
                </a:moveTo>
                <a:cubicBezTo>
                  <a:pt x="34593" y="163132"/>
                  <a:pt x="5891" y="93853"/>
                  <a:pt x="49" y="20764"/>
                </a:cubicBezTo>
                <a:quadBezTo>
                  <a:pt x="-1030" y="0"/>
                  <a:pt x="19798" y="0"/>
                </a:quadBezTo>
                <a:lnTo>
                  <a:pt x="97966" y="0"/>
                </a:lnTo>
                <a:quadBezTo>
                  <a:pt x="129208" y="0"/>
                  <a:pt x="132447" y="31051"/>
                </a:quadBezTo>
                <a:cubicBezTo>
                  <a:pt x="137971" y="62293"/>
                  <a:pt x="150290" y="92012"/>
                  <a:pt x="168515" y="118046"/>
                </a:cubicBezTo>
                <a:quadBezTo>
                  <a:pt x="188136" y="142304"/>
                  <a:pt x="166038" y="164401"/>
                </a:quadBezTo>
                <a:lnTo>
                  <a:pt x="110793" y="219646"/>
                </a:lnTo>
                <a:quadBezTo>
                  <a:pt x="96061" y="234379"/>
                  <a:pt x="82091" y="218948"/>
                </a:quadBezTo>
                <a:close/>
              </a:path>
            </a:pathLst>
          </a:custGeom>
          <a:gradFill rotWithShape="1">
            <a:gsLst>
              <a:gs pos="0">
                <a:srgbClr val="3985CD"/>
              </a:gs>
              <a:gs pos="100000">
                <a:srgbClr val="3985CD">
                  <a:alpha val="82000"/>
                </a:srgbClr>
              </a:gs>
            </a:gsLst>
            <a:lin ang="76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9" name="m-s01_radial_hub-seg-07">
            <a:extLst>
              <a:ext uri="{FF2B5EF4-FFF2-40B4-BE49-F238E27FC236}">
                <a16:creationId xmlns:a16="http://schemas.microsoft.com/office/drawing/2014/main" id="{92E1CD04-0438-399D-899F-BDF29B1014A1}"/>
              </a:ext>
            </a:extLst>
          </p:cNvPr>
          <p:cNvSpPr/>
          <p:nvPr/>
        </p:nvSpPr>
        <p:spPr>
          <a:xfrm>
            <a:off x="457405" y="134795"/>
            <a:ext cx="177706" cy="226838"/>
          </a:xfrm>
          <a:custGeom>
            <a:avLst/>
            <a:gdLst/>
            <a:ahLst/>
            <a:cxnLst/>
            <a:rect l="0" t="0" r="r" b="b"/>
            <a:pathLst>
              <a:path w="177706" h="226838">
                <a:moveTo>
                  <a:pt x="49" y="206073"/>
                </a:moveTo>
                <a:cubicBezTo>
                  <a:pt x="5891" y="132985"/>
                  <a:pt x="34593" y="63706"/>
                  <a:pt x="82091" y="7890"/>
                </a:cubicBezTo>
                <a:quadBezTo>
                  <a:pt x="96061" y="-7541"/>
                  <a:pt x="110793" y="7191"/>
                </a:quadBezTo>
                <a:lnTo>
                  <a:pt x="166038" y="62436"/>
                </a:lnTo>
                <a:quadBezTo>
                  <a:pt x="188136" y="84534"/>
                  <a:pt x="168515" y="108791"/>
                </a:quadBezTo>
                <a:cubicBezTo>
                  <a:pt x="150290" y="134826"/>
                  <a:pt x="137971" y="164544"/>
                  <a:pt x="132447" y="195786"/>
                </a:cubicBezTo>
                <a:quadBezTo>
                  <a:pt x="129208" y="226838"/>
                  <a:pt x="97966" y="226838"/>
                </a:quadBezTo>
                <a:lnTo>
                  <a:pt x="19798" y="226838"/>
                </a:lnTo>
                <a:quadBezTo>
                  <a:pt x="-1030" y="226838"/>
                  <a:pt x="49" y="206073"/>
                </a:quadBezTo>
                <a:close/>
              </a:path>
            </a:pathLst>
          </a:custGeom>
          <a:gradFill rotWithShape="1">
            <a:gsLst>
              <a:gs pos="0">
                <a:srgbClr val="4694D7"/>
              </a:gs>
              <a:gs pos="100000">
                <a:srgbClr val="4694D7">
                  <a:alpha val="82000"/>
                </a:srgbClr>
              </a:gs>
            </a:gsLst>
            <a:lin ang="76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0" name="m-s01_radial_hub-seg-08">
            <a:extLst>
              <a:ext uri="{FF2B5EF4-FFF2-40B4-BE49-F238E27FC236}">
                <a16:creationId xmlns:a16="http://schemas.microsoft.com/office/drawing/2014/main" id="{1BD70EA8-1E8B-E10E-7C01-486D7FE1E1FB}"/>
              </a:ext>
            </a:extLst>
          </p:cNvPr>
          <p:cNvSpPr/>
          <p:nvPr/>
        </p:nvSpPr>
        <p:spPr>
          <a:xfrm>
            <a:off x="571167" y="21033"/>
            <a:ext cx="226838" cy="177706"/>
          </a:xfrm>
          <a:custGeom>
            <a:avLst/>
            <a:gdLst/>
            <a:ahLst/>
            <a:cxnLst/>
            <a:rect l="0" t="0" r="r" b="b"/>
            <a:pathLst>
              <a:path w="226838" h="177706">
                <a:moveTo>
                  <a:pt x="7890" y="82091"/>
                </a:moveTo>
                <a:cubicBezTo>
                  <a:pt x="63706" y="34593"/>
                  <a:pt x="132985" y="5891"/>
                  <a:pt x="206073" y="49"/>
                </a:cubicBezTo>
                <a:quadBezTo>
                  <a:pt x="226838" y="-1030"/>
                  <a:pt x="226838" y="19798"/>
                </a:quadBezTo>
                <a:lnTo>
                  <a:pt x="226838" y="97966"/>
                </a:lnTo>
                <a:quadBezTo>
                  <a:pt x="226838" y="129208"/>
                  <a:pt x="195786" y="132447"/>
                </a:quadBezTo>
                <a:cubicBezTo>
                  <a:pt x="164544" y="137971"/>
                  <a:pt x="134826" y="150290"/>
                  <a:pt x="108791" y="168515"/>
                </a:cubicBezTo>
                <a:quadBezTo>
                  <a:pt x="84534" y="188136"/>
                  <a:pt x="62436" y="166038"/>
                </a:quadBezTo>
                <a:lnTo>
                  <a:pt x="7191" y="110793"/>
                </a:lnTo>
                <a:quadBezTo>
                  <a:pt x="-7541" y="96061"/>
                  <a:pt x="7890" y="82091"/>
                </a:quadBezTo>
                <a:close/>
              </a:path>
            </a:pathLst>
          </a:custGeom>
          <a:gradFill rotWithShape="1">
            <a:gsLst>
              <a:gs pos="0">
                <a:srgbClr val="54A2DF"/>
              </a:gs>
              <a:gs pos="100000">
                <a:srgbClr val="54A2DF">
                  <a:alpha val="82000"/>
                </a:srgbClr>
              </a:gs>
            </a:gsLst>
            <a:lin ang="76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1" name="m-s01_radial_hub-num-01">
            <a:extLst>
              <a:ext uri="{FF2B5EF4-FFF2-40B4-BE49-F238E27FC236}">
                <a16:creationId xmlns:a16="http://schemas.microsoft.com/office/drawing/2014/main" id="{E17ABDC1-BED9-70AC-BF6B-912419019682}"/>
              </a:ext>
            </a:extLst>
          </p:cNvPr>
          <p:cNvSpPr txBox="1"/>
          <p:nvPr/>
        </p:nvSpPr>
        <p:spPr>
          <a:xfrm>
            <a:off x="878957" y="76851"/>
            <a:ext cx="69644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42" name="m-s01_radial_hub-num-02">
            <a:extLst>
              <a:ext uri="{FF2B5EF4-FFF2-40B4-BE49-F238E27FC236}">
                <a16:creationId xmlns:a16="http://schemas.microsoft.com/office/drawing/2014/main" id="{4A869665-AC9D-BB4C-F2EE-086E9363284F}"/>
              </a:ext>
            </a:extLst>
          </p:cNvPr>
          <p:cNvSpPr txBox="1"/>
          <p:nvPr/>
        </p:nvSpPr>
        <p:spPr>
          <a:xfrm>
            <a:off x="1032538" y="230432"/>
            <a:ext cx="69644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43" name="m-s01_radial_hub-num-03">
            <a:extLst>
              <a:ext uri="{FF2B5EF4-FFF2-40B4-BE49-F238E27FC236}">
                <a16:creationId xmlns:a16="http://schemas.microsoft.com/office/drawing/2014/main" id="{42887077-978F-87E4-C393-D68399582343}"/>
              </a:ext>
            </a:extLst>
          </p:cNvPr>
          <p:cNvSpPr txBox="1"/>
          <p:nvPr/>
        </p:nvSpPr>
        <p:spPr>
          <a:xfrm>
            <a:off x="1032538" y="447629"/>
            <a:ext cx="69644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44" name="m-s01_radial_hub-num-04">
            <a:extLst>
              <a:ext uri="{FF2B5EF4-FFF2-40B4-BE49-F238E27FC236}">
                <a16:creationId xmlns:a16="http://schemas.microsoft.com/office/drawing/2014/main" id="{1C184921-23C2-D47A-C64A-B8533DAAD442}"/>
              </a:ext>
            </a:extLst>
          </p:cNvPr>
          <p:cNvSpPr txBox="1"/>
          <p:nvPr/>
        </p:nvSpPr>
        <p:spPr>
          <a:xfrm>
            <a:off x="878957" y="601210"/>
            <a:ext cx="69644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45" name="m-s01_radial_hub-num-05">
            <a:extLst>
              <a:ext uri="{FF2B5EF4-FFF2-40B4-BE49-F238E27FC236}">
                <a16:creationId xmlns:a16="http://schemas.microsoft.com/office/drawing/2014/main" id="{81E82A89-10C6-C516-0DC9-23118C1B9626}"/>
              </a:ext>
            </a:extLst>
          </p:cNvPr>
          <p:cNvSpPr txBox="1"/>
          <p:nvPr/>
        </p:nvSpPr>
        <p:spPr>
          <a:xfrm>
            <a:off x="661760" y="601210"/>
            <a:ext cx="69644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46" name="m-s01_radial_hub-num-06">
            <a:extLst>
              <a:ext uri="{FF2B5EF4-FFF2-40B4-BE49-F238E27FC236}">
                <a16:creationId xmlns:a16="http://schemas.microsoft.com/office/drawing/2014/main" id="{1DFB9D2A-FBCD-1938-8895-06A1F96A350E}"/>
              </a:ext>
            </a:extLst>
          </p:cNvPr>
          <p:cNvSpPr txBox="1"/>
          <p:nvPr/>
        </p:nvSpPr>
        <p:spPr>
          <a:xfrm>
            <a:off x="508178" y="447629"/>
            <a:ext cx="69644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06</a:t>
            </a:r>
          </a:p>
        </p:txBody>
      </p:sp>
      <p:sp>
        <p:nvSpPr>
          <p:cNvPr id="47" name="m-s01_radial_hub-num-07">
            <a:extLst>
              <a:ext uri="{FF2B5EF4-FFF2-40B4-BE49-F238E27FC236}">
                <a16:creationId xmlns:a16="http://schemas.microsoft.com/office/drawing/2014/main" id="{9736479E-A40F-6E69-78F4-2C933329F819}"/>
              </a:ext>
            </a:extLst>
          </p:cNvPr>
          <p:cNvSpPr txBox="1"/>
          <p:nvPr/>
        </p:nvSpPr>
        <p:spPr>
          <a:xfrm>
            <a:off x="508178" y="230432"/>
            <a:ext cx="69644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07</a:t>
            </a:r>
          </a:p>
        </p:txBody>
      </p:sp>
      <p:sp>
        <p:nvSpPr>
          <p:cNvPr id="48" name="m-s01_radial_hub-num-08">
            <a:extLst>
              <a:ext uri="{FF2B5EF4-FFF2-40B4-BE49-F238E27FC236}">
                <a16:creationId xmlns:a16="http://schemas.microsoft.com/office/drawing/2014/main" id="{3D3EBAA4-3CB4-E19C-D880-0AE52ECD32AC}"/>
              </a:ext>
            </a:extLst>
          </p:cNvPr>
          <p:cNvSpPr txBox="1"/>
          <p:nvPr/>
        </p:nvSpPr>
        <p:spPr>
          <a:xfrm>
            <a:off x="661760" y="76851"/>
            <a:ext cx="69644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08</a:t>
            </a:r>
          </a:p>
        </p:txBody>
      </p:sp>
      <p:sp>
        <p:nvSpPr>
          <p:cNvPr id="49" name="m-s01_radial_hub-ring-guide">
            <a:extLst>
              <a:ext uri="{FF2B5EF4-FFF2-40B4-BE49-F238E27FC236}">
                <a16:creationId xmlns:a16="http://schemas.microsoft.com/office/drawing/2014/main" id="{802C9698-3049-853F-0291-20C8F9C636E1}"/>
              </a:ext>
            </a:extLst>
          </p:cNvPr>
          <p:cNvSpPr/>
          <p:nvPr/>
        </p:nvSpPr>
        <p:spPr>
          <a:xfrm>
            <a:off x="434181" y="-2191"/>
            <a:ext cx="741998" cy="741998"/>
          </a:xfrm>
          <a:prstGeom prst="ellipse">
            <a:avLst/>
          </a:prstGeom>
          <a:noFill/>
          <a:ln w="2540" cap="rnd">
            <a:solidFill>
              <a:srgbClr val="0B2545">
                <a:alpha val="14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0" name="m-s01_radial_hub-core">
            <a:extLst>
              <a:ext uri="{FF2B5EF4-FFF2-40B4-BE49-F238E27FC236}">
                <a16:creationId xmlns:a16="http://schemas.microsoft.com/office/drawing/2014/main" id="{B13609FD-1B0D-51AC-B864-FFF21AD2867D}"/>
              </a:ext>
            </a:extLst>
          </p:cNvPr>
          <p:cNvSpPr/>
          <p:nvPr/>
        </p:nvSpPr>
        <p:spPr>
          <a:xfrm>
            <a:off x="607314" y="170942"/>
            <a:ext cx="395732" cy="395732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1" name="m-s01_radial_hub-core-ring1">
            <a:extLst>
              <a:ext uri="{FF2B5EF4-FFF2-40B4-BE49-F238E27FC236}">
                <a16:creationId xmlns:a16="http://schemas.microsoft.com/office/drawing/2014/main" id="{4413A740-0036-AFCE-3AC5-EAD4D51C6FF1}"/>
              </a:ext>
            </a:extLst>
          </p:cNvPr>
          <p:cNvSpPr/>
          <p:nvPr/>
        </p:nvSpPr>
        <p:spPr>
          <a:xfrm>
            <a:off x="622935" y="186563"/>
            <a:ext cx="364490" cy="364490"/>
          </a:xfrm>
          <a:prstGeom prst="ellipse">
            <a:avLst/>
          </a:prstGeom>
          <a:noFill/>
          <a:ln w="2540" cap="rnd">
            <a:solidFill>
              <a:srgbClr val="0B3E8F">
                <a:alpha val="1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2" name="m-s01_radial_hub-core-ring2">
            <a:extLst>
              <a:ext uri="{FF2B5EF4-FFF2-40B4-BE49-F238E27FC236}">
                <a16:creationId xmlns:a16="http://schemas.microsoft.com/office/drawing/2014/main" id="{5CE60180-70FE-067F-0048-2488A0C7513E}"/>
              </a:ext>
            </a:extLst>
          </p:cNvPr>
          <p:cNvSpPr/>
          <p:nvPr/>
        </p:nvSpPr>
        <p:spPr>
          <a:xfrm>
            <a:off x="632047" y="195675"/>
            <a:ext cx="346265" cy="346265"/>
          </a:xfrm>
          <a:prstGeom prst="ellipse">
            <a:avLst/>
          </a:prstGeom>
          <a:noFill/>
          <a:ln w="2540" cap="rnd">
            <a:solidFill>
              <a:srgbClr val="0B3E8F">
                <a:alpha val="7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3" name="m-s01_radial_hub-core-cn">
            <a:extLst>
              <a:ext uri="{FF2B5EF4-FFF2-40B4-BE49-F238E27FC236}">
                <a16:creationId xmlns:a16="http://schemas.microsoft.com/office/drawing/2014/main" id="{802EFE63-7F12-0B32-FA8E-B0B90DA0CDBC}"/>
              </a:ext>
            </a:extLst>
          </p:cNvPr>
          <p:cNvSpPr txBox="1"/>
          <p:nvPr/>
        </p:nvSpPr>
        <p:spPr>
          <a:xfrm>
            <a:off x="673573" y="302510"/>
            <a:ext cx="263214" cy="865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9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数字中台</a:t>
            </a:r>
          </a:p>
        </p:txBody>
      </p:sp>
      <p:sp>
        <p:nvSpPr>
          <p:cNvPr id="54" name="m-s01_radial_hub-core-en">
            <a:extLst>
              <a:ext uri="{FF2B5EF4-FFF2-40B4-BE49-F238E27FC236}">
                <a16:creationId xmlns:a16="http://schemas.microsoft.com/office/drawing/2014/main" id="{97E85CCB-A7E4-C253-789B-275085F1C727}"/>
              </a:ext>
            </a:extLst>
          </p:cNvPr>
          <p:cNvSpPr txBox="1"/>
          <p:nvPr/>
        </p:nvSpPr>
        <p:spPr>
          <a:xfrm>
            <a:off x="696692" y="382750"/>
            <a:ext cx="216976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51" normalizeH="0" baseline="0" noProof="0">
                <a:ln>
                  <a:noFill/>
                </a:ln>
                <a:solidFill>
                  <a:srgbClr val="8397A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DIGITAL CORE</a:t>
            </a:r>
          </a:p>
        </p:txBody>
      </p:sp>
      <p:sp>
        <p:nvSpPr>
          <p:cNvPr id="55" name="m-s01_radial_hub-chip">
            <a:extLst>
              <a:ext uri="{FF2B5EF4-FFF2-40B4-BE49-F238E27FC236}">
                <a16:creationId xmlns:a16="http://schemas.microsoft.com/office/drawing/2014/main" id="{C08E86B3-6F21-40B1-863C-33B5CBB1776C}"/>
              </a:ext>
            </a:extLst>
          </p:cNvPr>
          <p:cNvSpPr/>
          <p:nvPr/>
        </p:nvSpPr>
        <p:spPr>
          <a:xfrm>
            <a:off x="925844" y="-51389"/>
            <a:ext cx="75501" cy="7550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6" name="m-s01_radial_hub-chip-ring">
            <a:extLst>
              <a:ext uri="{FF2B5EF4-FFF2-40B4-BE49-F238E27FC236}">
                <a16:creationId xmlns:a16="http://schemas.microsoft.com/office/drawing/2014/main" id="{DEE0C002-4070-11B6-3503-25E73A651FCB}"/>
              </a:ext>
            </a:extLst>
          </p:cNvPr>
          <p:cNvSpPr/>
          <p:nvPr/>
        </p:nvSpPr>
        <p:spPr>
          <a:xfrm>
            <a:off x="925844" y="-51389"/>
            <a:ext cx="75501" cy="75501"/>
          </a:xfrm>
          <a:prstGeom prst="ellipse">
            <a:avLst/>
          </a:prstGeom>
          <a:noFill/>
          <a:ln w="2540" cap="rnd">
            <a:solidFill>
              <a:srgbClr val="0B3E8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7" name="m-s01_radial_hub-icon-fin">
            <a:extLst>
              <a:ext uri="{FF2B5EF4-FFF2-40B4-BE49-F238E27FC236}">
                <a16:creationId xmlns:a16="http://schemas.microsoft.com/office/drawing/2014/main" id="{76C33E2B-4C12-5D80-E0B3-BA7646D0D9F9}"/>
              </a:ext>
            </a:extLst>
          </p:cNvPr>
          <p:cNvSpPr/>
          <p:nvPr/>
        </p:nvSpPr>
        <p:spPr>
          <a:xfrm>
            <a:off x="956691" y="-24320"/>
            <a:ext cx="13843" cy="21400"/>
          </a:xfrm>
          <a:custGeom>
            <a:avLst/>
            <a:gdLst/>
            <a:ahLst/>
            <a:cxnLst/>
            <a:rect l="0" t="0" r="r" b="b"/>
            <a:pathLst>
              <a:path w="13843" h="21400">
                <a:moveTo>
                  <a:pt x="6922" y="12573"/>
                </a:moveTo>
                <a:lnTo>
                  <a:pt x="6922" y="21400"/>
                </a:lnTo>
                <a:moveTo>
                  <a:pt x="1524" y="12573"/>
                </a:moveTo>
                <a:lnTo>
                  <a:pt x="12256" y="12573"/>
                </a:lnTo>
                <a:moveTo>
                  <a:pt x="1524" y="17272"/>
                </a:moveTo>
                <a:lnTo>
                  <a:pt x="12256" y="17272"/>
                </a:lnTo>
                <a:moveTo>
                  <a:pt x="0" y="0"/>
                </a:moveTo>
                <a:lnTo>
                  <a:pt x="6922" y="9398"/>
                </a:lnTo>
                <a:lnTo>
                  <a:pt x="13843" y="0"/>
                </a:lnTo>
              </a:path>
            </a:pathLst>
          </a:custGeom>
          <a:noFill/>
          <a:ln w="25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8" name="m-s01_radial_hub-chip">
            <a:extLst>
              <a:ext uri="{FF2B5EF4-FFF2-40B4-BE49-F238E27FC236}">
                <a16:creationId xmlns:a16="http://schemas.microsoft.com/office/drawing/2014/main" id="{86A96775-F5E4-C38A-8536-822E5B306526}"/>
              </a:ext>
            </a:extLst>
          </p:cNvPr>
          <p:cNvSpPr/>
          <p:nvPr/>
        </p:nvSpPr>
        <p:spPr>
          <a:xfrm>
            <a:off x="1149875" y="172643"/>
            <a:ext cx="75501" cy="7550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9" name="m-s01_radial_hub-chip-ring">
            <a:extLst>
              <a:ext uri="{FF2B5EF4-FFF2-40B4-BE49-F238E27FC236}">
                <a16:creationId xmlns:a16="http://schemas.microsoft.com/office/drawing/2014/main" id="{2E6FB57A-5276-5BE4-674F-79CC84825C8D}"/>
              </a:ext>
            </a:extLst>
          </p:cNvPr>
          <p:cNvSpPr/>
          <p:nvPr/>
        </p:nvSpPr>
        <p:spPr>
          <a:xfrm>
            <a:off x="1149875" y="172643"/>
            <a:ext cx="75501" cy="75501"/>
          </a:xfrm>
          <a:prstGeom prst="ellipse">
            <a:avLst/>
          </a:prstGeom>
          <a:noFill/>
          <a:ln w="2540" cap="rnd">
            <a:solidFill>
              <a:srgbClr val="134C9C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0" name="m-s01_radial_hub-icon-cart">
            <a:extLst>
              <a:ext uri="{FF2B5EF4-FFF2-40B4-BE49-F238E27FC236}">
                <a16:creationId xmlns:a16="http://schemas.microsoft.com/office/drawing/2014/main" id="{0A219C38-19E5-11D8-25A1-35235B4F159C}"/>
              </a:ext>
            </a:extLst>
          </p:cNvPr>
          <p:cNvSpPr/>
          <p:nvPr/>
        </p:nvSpPr>
        <p:spPr>
          <a:xfrm>
            <a:off x="1173798" y="198755"/>
            <a:ext cx="25019" cy="14796"/>
          </a:xfrm>
          <a:custGeom>
            <a:avLst/>
            <a:gdLst/>
            <a:ahLst/>
            <a:cxnLst/>
            <a:rect l="0" t="0" r="r" b="b"/>
            <a:pathLst>
              <a:path w="25019" h="14796">
                <a:moveTo>
                  <a:pt x="0" y="0"/>
                </a:moveTo>
                <a:lnTo>
                  <a:pt x="3619" y="0"/>
                </a:lnTo>
                <a:lnTo>
                  <a:pt x="7239" y="14796"/>
                </a:lnTo>
                <a:lnTo>
                  <a:pt x="22034" y="14796"/>
                </a:lnTo>
                <a:lnTo>
                  <a:pt x="25019" y="4381"/>
                </a:lnTo>
                <a:lnTo>
                  <a:pt x="4699" y="4381"/>
                </a:lnTo>
              </a:path>
            </a:pathLst>
          </a:custGeom>
          <a:noFill/>
          <a:ln w="254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1" name="m-s01_radial_hub-icon-cart">
            <a:extLst>
              <a:ext uri="{FF2B5EF4-FFF2-40B4-BE49-F238E27FC236}">
                <a16:creationId xmlns:a16="http://schemas.microsoft.com/office/drawing/2014/main" id="{CC78B821-CC8A-D378-08A2-2018A33E933F}"/>
              </a:ext>
            </a:extLst>
          </p:cNvPr>
          <p:cNvSpPr/>
          <p:nvPr/>
        </p:nvSpPr>
        <p:spPr>
          <a:xfrm>
            <a:off x="1181334" y="218258"/>
            <a:ext cx="4404" cy="4404"/>
          </a:xfrm>
          <a:prstGeom prst="ellipse">
            <a:avLst/>
          </a:prstGeom>
          <a:noFill/>
          <a:ln w="254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2" name="m-s01_radial_hub-icon-cart">
            <a:extLst>
              <a:ext uri="{FF2B5EF4-FFF2-40B4-BE49-F238E27FC236}">
                <a16:creationId xmlns:a16="http://schemas.microsoft.com/office/drawing/2014/main" id="{09F940AD-57A6-0BA7-7F34-F1BD65877E08}"/>
              </a:ext>
            </a:extLst>
          </p:cNvPr>
          <p:cNvSpPr/>
          <p:nvPr/>
        </p:nvSpPr>
        <p:spPr>
          <a:xfrm>
            <a:off x="1192659" y="218258"/>
            <a:ext cx="4404" cy="4404"/>
          </a:xfrm>
          <a:prstGeom prst="ellipse">
            <a:avLst/>
          </a:prstGeom>
          <a:noFill/>
          <a:ln w="254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3" name="m-s01_radial_hub-chip">
            <a:extLst>
              <a:ext uri="{FF2B5EF4-FFF2-40B4-BE49-F238E27FC236}">
                <a16:creationId xmlns:a16="http://schemas.microsoft.com/office/drawing/2014/main" id="{652F258D-29A2-48CB-D561-D4CF0EFAB70E}"/>
              </a:ext>
            </a:extLst>
          </p:cNvPr>
          <p:cNvSpPr/>
          <p:nvPr/>
        </p:nvSpPr>
        <p:spPr>
          <a:xfrm>
            <a:off x="1149875" y="489472"/>
            <a:ext cx="75501" cy="7550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4" name="m-s01_radial_hub-chip-ring">
            <a:extLst>
              <a:ext uri="{FF2B5EF4-FFF2-40B4-BE49-F238E27FC236}">
                <a16:creationId xmlns:a16="http://schemas.microsoft.com/office/drawing/2014/main" id="{BE2C1D78-ACE2-0499-23AD-CC9618901EAD}"/>
              </a:ext>
            </a:extLst>
          </p:cNvPr>
          <p:cNvSpPr/>
          <p:nvPr/>
        </p:nvSpPr>
        <p:spPr>
          <a:xfrm>
            <a:off x="1149875" y="489472"/>
            <a:ext cx="75501" cy="75501"/>
          </a:xfrm>
          <a:prstGeom prst="ellipse">
            <a:avLst/>
          </a:prstGeom>
          <a:noFill/>
          <a:ln w="2540" cap="rnd">
            <a:solidFill>
              <a:srgbClr val="1B5AA8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5" name="m-s01_radial_hub-icon-chain">
            <a:extLst>
              <a:ext uri="{FF2B5EF4-FFF2-40B4-BE49-F238E27FC236}">
                <a16:creationId xmlns:a16="http://schemas.microsoft.com/office/drawing/2014/main" id="{0C0F55A1-6EB8-4555-0726-F767CAB85370}"/>
              </a:ext>
            </a:extLst>
          </p:cNvPr>
          <p:cNvSpPr/>
          <p:nvPr/>
        </p:nvSpPr>
        <p:spPr>
          <a:xfrm>
            <a:off x="1175242" y="514842"/>
            <a:ext cx="24797" cy="24797"/>
          </a:xfrm>
          <a:custGeom>
            <a:avLst/>
            <a:gdLst/>
            <a:ahLst/>
            <a:cxnLst/>
            <a:rect l="0" t="0" r="r" b="b"/>
            <a:pathLst>
              <a:path w="24797" h="24797">
                <a:moveTo>
                  <a:pt x="9858" y="14875"/>
                </a:moveTo>
                <a:cubicBezTo>
                  <a:pt x="11065" y="16081"/>
                  <a:pt x="12652" y="16780"/>
                  <a:pt x="14367" y="16780"/>
                </a:cubicBezTo>
                <a:cubicBezTo>
                  <a:pt x="16018" y="16780"/>
                  <a:pt x="17669" y="16081"/>
                  <a:pt x="18812" y="14875"/>
                </a:cubicBezTo>
                <a:lnTo>
                  <a:pt x="22939" y="10811"/>
                </a:lnTo>
                <a:cubicBezTo>
                  <a:pt x="24527" y="9223"/>
                  <a:pt x="25162" y="6874"/>
                  <a:pt x="24590" y="4651"/>
                </a:cubicBezTo>
                <a:cubicBezTo>
                  <a:pt x="23955" y="2492"/>
                  <a:pt x="22241" y="778"/>
                  <a:pt x="20082" y="206"/>
                </a:cubicBezTo>
                <a:cubicBezTo>
                  <a:pt x="17923" y="-365"/>
                  <a:pt x="15573" y="270"/>
                  <a:pt x="13922" y="1857"/>
                </a:cubicBezTo>
                <a:lnTo>
                  <a:pt x="11890" y="3889"/>
                </a:lnTo>
                <a:moveTo>
                  <a:pt x="14875" y="9858"/>
                </a:moveTo>
                <a:cubicBezTo>
                  <a:pt x="13732" y="8652"/>
                  <a:pt x="12081" y="8017"/>
                  <a:pt x="10430" y="8017"/>
                </a:cubicBezTo>
                <a:cubicBezTo>
                  <a:pt x="8715" y="8017"/>
                  <a:pt x="7128" y="8652"/>
                  <a:pt x="5921" y="9858"/>
                </a:cubicBezTo>
                <a:lnTo>
                  <a:pt x="1857" y="13922"/>
                </a:lnTo>
                <a:cubicBezTo>
                  <a:pt x="-619" y="16399"/>
                  <a:pt x="-619" y="20463"/>
                  <a:pt x="1857" y="22939"/>
                </a:cubicBezTo>
                <a:cubicBezTo>
                  <a:pt x="4334" y="25416"/>
                  <a:pt x="8334" y="25416"/>
                  <a:pt x="10811" y="22939"/>
                </a:cubicBezTo>
                <a:lnTo>
                  <a:pt x="12843" y="20907"/>
                </a:lnTo>
              </a:path>
            </a:pathLst>
          </a:custGeom>
          <a:noFill/>
          <a:ln w="254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6" name="m-s01_radial_hub-chip">
            <a:extLst>
              <a:ext uri="{FF2B5EF4-FFF2-40B4-BE49-F238E27FC236}">
                <a16:creationId xmlns:a16="http://schemas.microsoft.com/office/drawing/2014/main" id="{5FFB7CF8-00BB-CF08-A80F-CF5C3549AD56}"/>
              </a:ext>
            </a:extLst>
          </p:cNvPr>
          <p:cNvSpPr/>
          <p:nvPr/>
        </p:nvSpPr>
        <p:spPr>
          <a:xfrm>
            <a:off x="925844" y="713503"/>
            <a:ext cx="75501" cy="7550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7" name="m-s01_radial_hub-chip-ring">
            <a:extLst>
              <a:ext uri="{FF2B5EF4-FFF2-40B4-BE49-F238E27FC236}">
                <a16:creationId xmlns:a16="http://schemas.microsoft.com/office/drawing/2014/main" id="{2B4E231E-AF7B-DA57-BA17-5D56D536CF7C}"/>
              </a:ext>
            </a:extLst>
          </p:cNvPr>
          <p:cNvSpPr/>
          <p:nvPr/>
        </p:nvSpPr>
        <p:spPr>
          <a:xfrm>
            <a:off x="925844" y="713503"/>
            <a:ext cx="75501" cy="75501"/>
          </a:xfrm>
          <a:prstGeom prst="ellipse">
            <a:avLst/>
          </a:prstGeom>
          <a:noFill/>
          <a:ln w="2540" cap="rnd">
            <a:solidFill>
              <a:srgbClr val="2468B6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8" name="m-s01_radial_hub-icon-factory">
            <a:extLst>
              <a:ext uri="{FF2B5EF4-FFF2-40B4-BE49-F238E27FC236}">
                <a16:creationId xmlns:a16="http://schemas.microsoft.com/office/drawing/2014/main" id="{3AF30D30-9E0E-326B-66B1-FF4117AF71B5}"/>
              </a:ext>
            </a:extLst>
          </p:cNvPr>
          <p:cNvSpPr/>
          <p:nvPr/>
        </p:nvSpPr>
        <p:spPr>
          <a:xfrm>
            <a:off x="950087" y="745300"/>
            <a:ext cx="27051" cy="18224"/>
          </a:xfrm>
          <a:custGeom>
            <a:avLst/>
            <a:gdLst/>
            <a:ahLst/>
            <a:cxnLst/>
            <a:rect l="0" t="0" r="r" b="b"/>
            <a:pathLst>
              <a:path w="27051" h="18224">
                <a:moveTo>
                  <a:pt x="0" y="18224"/>
                </a:moveTo>
                <a:lnTo>
                  <a:pt x="0" y="4381"/>
                </a:lnTo>
                <a:lnTo>
                  <a:pt x="7810" y="9080"/>
                </a:lnTo>
                <a:lnTo>
                  <a:pt x="7810" y="4381"/>
                </a:lnTo>
                <a:lnTo>
                  <a:pt x="15684" y="9080"/>
                </a:lnTo>
                <a:lnTo>
                  <a:pt x="15684" y="0"/>
                </a:lnTo>
                <a:lnTo>
                  <a:pt x="23559" y="4699"/>
                </a:lnTo>
                <a:lnTo>
                  <a:pt x="23559" y="16637"/>
                </a:lnTo>
                <a:close/>
                <a:moveTo>
                  <a:pt x="0" y="18224"/>
                </a:moveTo>
                <a:lnTo>
                  <a:pt x="27051" y="18224"/>
                </a:lnTo>
              </a:path>
            </a:pathLst>
          </a:custGeom>
          <a:noFill/>
          <a:ln w="254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9" name="m-s01_radial_hub-chip">
            <a:extLst>
              <a:ext uri="{FF2B5EF4-FFF2-40B4-BE49-F238E27FC236}">
                <a16:creationId xmlns:a16="http://schemas.microsoft.com/office/drawing/2014/main" id="{21BE7000-C765-6EDD-B0AB-B5DBA2D36BFB}"/>
              </a:ext>
            </a:extLst>
          </p:cNvPr>
          <p:cNvSpPr/>
          <p:nvPr/>
        </p:nvSpPr>
        <p:spPr>
          <a:xfrm>
            <a:off x="609015" y="713503"/>
            <a:ext cx="75501" cy="7550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0" name="m-s01_radial_hub-chip-ring">
            <a:extLst>
              <a:ext uri="{FF2B5EF4-FFF2-40B4-BE49-F238E27FC236}">
                <a16:creationId xmlns:a16="http://schemas.microsoft.com/office/drawing/2014/main" id="{D57F1C1C-7367-951B-F1BE-35355E9F0266}"/>
              </a:ext>
            </a:extLst>
          </p:cNvPr>
          <p:cNvSpPr/>
          <p:nvPr/>
        </p:nvSpPr>
        <p:spPr>
          <a:xfrm>
            <a:off x="609015" y="713503"/>
            <a:ext cx="75501" cy="75501"/>
          </a:xfrm>
          <a:prstGeom prst="ellipse">
            <a:avLst/>
          </a:prstGeom>
          <a:noFill/>
          <a:ln w="2540" cap="rnd">
            <a:solidFill>
              <a:srgbClr val="2E77C2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1" name="m-s01_radial_hub-icon-chart">
            <a:extLst>
              <a:ext uri="{FF2B5EF4-FFF2-40B4-BE49-F238E27FC236}">
                <a16:creationId xmlns:a16="http://schemas.microsoft.com/office/drawing/2014/main" id="{64C6350C-742C-315C-D051-A12B36D4F70F}"/>
              </a:ext>
            </a:extLst>
          </p:cNvPr>
          <p:cNvSpPr/>
          <p:nvPr/>
        </p:nvSpPr>
        <p:spPr>
          <a:xfrm>
            <a:off x="633540" y="746506"/>
            <a:ext cx="26416" cy="17336"/>
          </a:xfrm>
          <a:custGeom>
            <a:avLst/>
            <a:gdLst/>
            <a:ahLst/>
            <a:cxnLst/>
            <a:rect l="0" t="0" r="r" b="b"/>
            <a:pathLst>
              <a:path w="26416" h="17336">
                <a:moveTo>
                  <a:pt x="0" y="17336"/>
                </a:moveTo>
                <a:lnTo>
                  <a:pt x="26416" y="17336"/>
                </a:lnTo>
                <a:moveTo>
                  <a:pt x="5969" y="17336"/>
                </a:moveTo>
                <a:lnTo>
                  <a:pt x="5969" y="7239"/>
                </a:lnTo>
                <a:moveTo>
                  <a:pt x="13208" y="17336"/>
                </a:moveTo>
                <a:lnTo>
                  <a:pt x="13208" y="0"/>
                </a:lnTo>
                <a:moveTo>
                  <a:pt x="20447" y="17336"/>
                </a:moveTo>
                <a:lnTo>
                  <a:pt x="20447" y="10731"/>
                </a:lnTo>
              </a:path>
            </a:pathLst>
          </a:custGeom>
          <a:noFill/>
          <a:ln w="254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2" name="m-s01_radial_hub-chip">
            <a:extLst>
              <a:ext uri="{FF2B5EF4-FFF2-40B4-BE49-F238E27FC236}">
                <a16:creationId xmlns:a16="http://schemas.microsoft.com/office/drawing/2014/main" id="{C7268A2B-6E35-DC1B-0961-E3D1CF48B30B}"/>
              </a:ext>
            </a:extLst>
          </p:cNvPr>
          <p:cNvSpPr/>
          <p:nvPr/>
        </p:nvSpPr>
        <p:spPr>
          <a:xfrm>
            <a:off x="384983" y="489472"/>
            <a:ext cx="75501" cy="7550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3" name="m-s01_radial_hub-chip-ring">
            <a:extLst>
              <a:ext uri="{FF2B5EF4-FFF2-40B4-BE49-F238E27FC236}">
                <a16:creationId xmlns:a16="http://schemas.microsoft.com/office/drawing/2014/main" id="{681A8BB6-4C37-A973-8136-04CBA655F463}"/>
              </a:ext>
            </a:extLst>
          </p:cNvPr>
          <p:cNvSpPr/>
          <p:nvPr/>
        </p:nvSpPr>
        <p:spPr>
          <a:xfrm>
            <a:off x="384983" y="489472"/>
            <a:ext cx="75501" cy="75501"/>
          </a:xfrm>
          <a:prstGeom prst="ellipse">
            <a:avLst/>
          </a:prstGeom>
          <a:noFill/>
          <a:ln w="2540" cap="rnd">
            <a:solidFill>
              <a:srgbClr val="3985CD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4" name="m-s01_radial_hub-icon-phone">
            <a:extLst>
              <a:ext uri="{FF2B5EF4-FFF2-40B4-BE49-F238E27FC236}">
                <a16:creationId xmlns:a16="http://schemas.microsoft.com/office/drawing/2014/main" id="{9A77A556-B794-E55D-A98C-5A095FB0BD2A}"/>
              </a:ext>
            </a:extLst>
          </p:cNvPr>
          <p:cNvSpPr/>
          <p:nvPr/>
        </p:nvSpPr>
        <p:spPr>
          <a:xfrm>
            <a:off x="413956" y="513715"/>
            <a:ext cx="17589" cy="27051"/>
          </a:xfrm>
          <a:custGeom>
            <a:avLst/>
            <a:gdLst/>
            <a:ahLst/>
            <a:cxnLst/>
            <a:rect l="0" t="0" r="r" b="b"/>
            <a:pathLst>
              <a:path w="17589" h="27051">
                <a:moveTo>
                  <a:pt x="2477" y="0"/>
                </a:moveTo>
                <a:lnTo>
                  <a:pt x="15050" y="0"/>
                </a:lnTo>
                <a:cubicBezTo>
                  <a:pt x="15748" y="0"/>
                  <a:pt x="16383" y="254"/>
                  <a:pt x="16828" y="698"/>
                </a:cubicBezTo>
                <a:cubicBezTo>
                  <a:pt x="17336" y="1206"/>
                  <a:pt x="17589" y="1841"/>
                  <a:pt x="17589" y="2477"/>
                </a:cubicBezTo>
                <a:lnTo>
                  <a:pt x="17589" y="24511"/>
                </a:lnTo>
                <a:cubicBezTo>
                  <a:pt x="17589" y="25209"/>
                  <a:pt x="17336" y="25844"/>
                  <a:pt x="16828" y="26289"/>
                </a:cubicBezTo>
                <a:cubicBezTo>
                  <a:pt x="16383" y="26797"/>
                  <a:pt x="15748" y="27051"/>
                  <a:pt x="15050" y="27051"/>
                </a:cubicBezTo>
                <a:lnTo>
                  <a:pt x="2477" y="27051"/>
                </a:lnTo>
                <a:cubicBezTo>
                  <a:pt x="1842" y="27051"/>
                  <a:pt x="1206" y="26797"/>
                  <a:pt x="698" y="26289"/>
                </a:cubicBezTo>
                <a:cubicBezTo>
                  <a:pt x="254" y="25844"/>
                  <a:pt x="0" y="25209"/>
                  <a:pt x="0" y="24511"/>
                </a:cubicBezTo>
                <a:lnTo>
                  <a:pt x="0" y="2477"/>
                </a:lnTo>
                <a:cubicBezTo>
                  <a:pt x="0" y="1079"/>
                  <a:pt x="1080" y="0"/>
                  <a:pt x="2477" y="0"/>
                </a:cubicBezTo>
                <a:close/>
                <a:moveTo>
                  <a:pt x="6287" y="22288"/>
                </a:moveTo>
                <a:lnTo>
                  <a:pt x="11303" y="22288"/>
                </a:lnTo>
              </a:path>
            </a:pathLst>
          </a:custGeom>
          <a:noFill/>
          <a:ln w="254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5" name="m-s01_radial_hub-chip">
            <a:extLst>
              <a:ext uri="{FF2B5EF4-FFF2-40B4-BE49-F238E27FC236}">
                <a16:creationId xmlns:a16="http://schemas.microsoft.com/office/drawing/2014/main" id="{A1A19F85-21E8-E1BE-C52C-C69114D429E5}"/>
              </a:ext>
            </a:extLst>
          </p:cNvPr>
          <p:cNvSpPr/>
          <p:nvPr/>
        </p:nvSpPr>
        <p:spPr>
          <a:xfrm>
            <a:off x="384983" y="172643"/>
            <a:ext cx="75501" cy="7550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6" name="m-s01_radial_hub-chip-ring">
            <a:extLst>
              <a:ext uri="{FF2B5EF4-FFF2-40B4-BE49-F238E27FC236}">
                <a16:creationId xmlns:a16="http://schemas.microsoft.com/office/drawing/2014/main" id="{037194EA-9D2C-95C2-0B83-F943F76BA72C}"/>
              </a:ext>
            </a:extLst>
          </p:cNvPr>
          <p:cNvSpPr/>
          <p:nvPr/>
        </p:nvSpPr>
        <p:spPr>
          <a:xfrm>
            <a:off x="384983" y="172643"/>
            <a:ext cx="75501" cy="75501"/>
          </a:xfrm>
          <a:prstGeom prst="ellipse">
            <a:avLst/>
          </a:prstGeom>
          <a:noFill/>
          <a:ln w="2540" cap="rnd">
            <a:solidFill>
              <a:srgbClr val="4694D7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7" name="m-s01_radial_hub-icon-share">
            <a:extLst>
              <a:ext uri="{FF2B5EF4-FFF2-40B4-BE49-F238E27FC236}">
                <a16:creationId xmlns:a16="http://schemas.microsoft.com/office/drawing/2014/main" id="{D55156C8-433F-124C-FEC7-8A7370D7DE3B}"/>
              </a:ext>
            </a:extLst>
          </p:cNvPr>
          <p:cNvSpPr/>
          <p:nvPr/>
        </p:nvSpPr>
        <p:spPr>
          <a:xfrm>
            <a:off x="416750" y="202692"/>
            <a:ext cx="11176" cy="15430"/>
          </a:xfrm>
          <a:custGeom>
            <a:avLst/>
            <a:gdLst/>
            <a:ahLst/>
            <a:cxnLst/>
            <a:rect l="0" t="0" r="r" b="b"/>
            <a:pathLst>
              <a:path w="11176" h="15430">
                <a:moveTo>
                  <a:pt x="0" y="6159"/>
                </a:moveTo>
                <a:lnTo>
                  <a:pt x="11176" y="0"/>
                </a:lnTo>
                <a:moveTo>
                  <a:pt x="0" y="9271"/>
                </a:moveTo>
                <a:lnTo>
                  <a:pt x="11176" y="15430"/>
                </a:lnTo>
              </a:path>
            </a:pathLst>
          </a:custGeom>
          <a:noFill/>
          <a:ln w="254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8" name="m-s01_radial_hub-icon-share">
            <a:extLst>
              <a:ext uri="{FF2B5EF4-FFF2-40B4-BE49-F238E27FC236}">
                <a16:creationId xmlns:a16="http://schemas.microsoft.com/office/drawing/2014/main" id="{704DC154-7FDA-5D49-8699-2E0871206E8C}"/>
              </a:ext>
            </a:extLst>
          </p:cNvPr>
          <p:cNvSpPr/>
          <p:nvPr/>
        </p:nvSpPr>
        <p:spPr>
          <a:xfrm>
            <a:off x="409993" y="206776"/>
            <a:ext cx="7236" cy="7236"/>
          </a:xfrm>
          <a:prstGeom prst="ellipse">
            <a:avLst/>
          </a:prstGeom>
          <a:noFill/>
          <a:ln w="254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9" name="m-s01_radial_hub-icon-share">
            <a:extLst>
              <a:ext uri="{FF2B5EF4-FFF2-40B4-BE49-F238E27FC236}">
                <a16:creationId xmlns:a16="http://schemas.microsoft.com/office/drawing/2014/main" id="{3A84FF18-4350-DF3F-76C5-E7F9EB85A2BF}"/>
              </a:ext>
            </a:extLst>
          </p:cNvPr>
          <p:cNvSpPr/>
          <p:nvPr/>
        </p:nvSpPr>
        <p:spPr>
          <a:xfrm>
            <a:off x="427610" y="197653"/>
            <a:ext cx="7236" cy="7236"/>
          </a:xfrm>
          <a:prstGeom prst="ellipse">
            <a:avLst/>
          </a:prstGeom>
          <a:noFill/>
          <a:ln w="254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0" name="m-s01_radial_hub-icon-share">
            <a:extLst>
              <a:ext uri="{FF2B5EF4-FFF2-40B4-BE49-F238E27FC236}">
                <a16:creationId xmlns:a16="http://schemas.microsoft.com/office/drawing/2014/main" id="{1CFD1105-DD2B-AB3E-BF77-EC0315615381}"/>
              </a:ext>
            </a:extLst>
          </p:cNvPr>
          <p:cNvSpPr/>
          <p:nvPr/>
        </p:nvSpPr>
        <p:spPr>
          <a:xfrm>
            <a:off x="427610" y="215899"/>
            <a:ext cx="7236" cy="7236"/>
          </a:xfrm>
          <a:prstGeom prst="ellipse">
            <a:avLst/>
          </a:prstGeom>
          <a:noFill/>
          <a:ln w="254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1" name="m-s01_radial_hub-chip">
            <a:extLst>
              <a:ext uri="{FF2B5EF4-FFF2-40B4-BE49-F238E27FC236}">
                <a16:creationId xmlns:a16="http://schemas.microsoft.com/office/drawing/2014/main" id="{6DBAFC1A-A3AF-F998-F73B-DBD366FC1887}"/>
              </a:ext>
            </a:extLst>
          </p:cNvPr>
          <p:cNvSpPr/>
          <p:nvPr/>
        </p:nvSpPr>
        <p:spPr>
          <a:xfrm>
            <a:off x="609015" y="-51389"/>
            <a:ext cx="75501" cy="7550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2" name="m-s01_radial_hub-chip-ring">
            <a:extLst>
              <a:ext uri="{FF2B5EF4-FFF2-40B4-BE49-F238E27FC236}">
                <a16:creationId xmlns:a16="http://schemas.microsoft.com/office/drawing/2014/main" id="{3ACB3752-4CF0-5CED-E96E-539EED76247F}"/>
              </a:ext>
            </a:extLst>
          </p:cNvPr>
          <p:cNvSpPr/>
          <p:nvPr/>
        </p:nvSpPr>
        <p:spPr>
          <a:xfrm>
            <a:off x="609015" y="-51389"/>
            <a:ext cx="75501" cy="75501"/>
          </a:xfrm>
          <a:prstGeom prst="ellipse">
            <a:avLst/>
          </a:prstGeom>
          <a:noFill/>
          <a:ln w="2540" cap="rnd">
            <a:solidFill>
              <a:srgbClr val="54A2D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3" name="m-s01_radial_hub-icon-people">
            <a:extLst>
              <a:ext uri="{FF2B5EF4-FFF2-40B4-BE49-F238E27FC236}">
                <a16:creationId xmlns:a16="http://schemas.microsoft.com/office/drawing/2014/main" id="{7521B4AD-7451-163F-0077-F648F6EF139D}"/>
              </a:ext>
            </a:extLst>
          </p:cNvPr>
          <p:cNvSpPr/>
          <p:nvPr/>
        </p:nvSpPr>
        <p:spPr>
          <a:xfrm>
            <a:off x="633540" y="-9525"/>
            <a:ext cx="26734" cy="7556"/>
          </a:xfrm>
          <a:custGeom>
            <a:avLst/>
            <a:gdLst/>
            <a:ahLst/>
            <a:cxnLst/>
            <a:rect l="0" t="0" r="r" b="b"/>
            <a:pathLst>
              <a:path w="26734" h="7556">
                <a:moveTo>
                  <a:pt x="0" y="7556"/>
                </a:moveTo>
                <a:cubicBezTo>
                  <a:pt x="0" y="2794"/>
                  <a:pt x="3937" y="0"/>
                  <a:pt x="8509" y="0"/>
                </a:cubicBezTo>
                <a:cubicBezTo>
                  <a:pt x="13081" y="0"/>
                  <a:pt x="17018" y="2794"/>
                  <a:pt x="17018" y="7556"/>
                </a:cubicBezTo>
                <a:moveTo>
                  <a:pt x="20130" y="635"/>
                </a:moveTo>
                <a:cubicBezTo>
                  <a:pt x="24257" y="1079"/>
                  <a:pt x="26734" y="3937"/>
                  <a:pt x="26734" y="7556"/>
                </a:cubicBezTo>
              </a:path>
            </a:pathLst>
          </a:custGeom>
          <a:noFill/>
          <a:ln w="254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4" name="m-s01_radial_hub-icon-people">
            <a:extLst>
              <a:ext uri="{FF2B5EF4-FFF2-40B4-BE49-F238E27FC236}">
                <a16:creationId xmlns:a16="http://schemas.microsoft.com/office/drawing/2014/main" id="{F86EFD3A-A998-DC62-68E9-4D134AE24C45}"/>
              </a:ext>
            </a:extLst>
          </p:cNvPr>
          <p:cNvSpPr/>
          <p:nvPr/>
        </p:nvSpPr>
        <p:spPr>
          <a:xfrm>
            <a:off x="637013" y="-23076"/>
            <a:ext cx="10067" cy="10067"/>
          </a:xfrm>
          <a:prstGeom prst="ellipse">
            <a:avLst/>
          </a:prstGeom>
          <a:noFill/>
          <a:ln w="254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5" name="m-s01_radial_hub-icon-people">
            <a:extLst>
              <a:ext uri="{FF2B5EF4-FFF2-40B4-BE49-F238E27FC236}">
                <a16:creationId xmlns:a16="http://schemas.microsoft.com/office/drawing/2014/main" id="{A1771741-8148-6EAF-3D90-6336C92DF6D5}"/>
              </a:ext>
            </a:extLst>
          </p:cNvPr>
          <p:cNvSpPr/>
          <p:nvPr/>
        </p:nvSpPr>
        <p:spPr>
          <a:xfrm>
            <a:off x="650541" y="-23076"/>
            <a:ext cx="8179" cy="8179"/>
          </a:xfrm>
          <a:prstGeom prst="ellipse">
            <a:avLst/>
          </a:prstGeom>
          <a:noFill/>
          <a:ln w="254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6" name="m-s01_radial_hub-mark-01">
            <a:extLst>
              <a:ext uri="{FF2B5EF4-FFF2-40B4-BE49-F238E27FC236}">
                <a16:creationId xmlns:a16="http://schemas.microsoft.com/office/drawing/2014/main" id="{84E43CC4-A82C-AA3A-33C9-8CCA26680424}"/>
              </a:ext>
            </a:extLst>
          </p:cNvPr>
          <p:cNvSpPr txBox="1"/>
          <p:nvPr/>
        </p:nvSpPr>
        <p:spPr>
          <a:xfrm>
            <a:off x="1725882" y="-145179"/>
            <a:ext cx="152461" cy="1275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70" b="1" i="0" u="none" strike="noStrike" kern="1200" cap="none" spc="20" normalizeH="0" baseline="0" noProof="0">
                <a:ln>
                  <a:noFill/>
                </a:ln>
                <a:solidFill>
                  <a:srgbClr val="1B5AA8">
                    <a:alpha val="13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87" name="m-s01_radial_hub-h-01">
            <a:extLst>
              <a:ext uri="{FF2B5EF4-FFF2-40B4-BE49-F238E27FC236}">
                <a16:creationId xmlns:a16="http://schemas.microsoft.com/office/drawing/2014/main" id="{2AFF1232-B330-2F8B-6C97-130BCF388E64}"/>
              </a:ext>
            </a:extLst>
          </p:cNvPr>
          <p:cNvSpPr txBox="1"/>
          <p:nvPr/>
        </p:nvSpPr>
        <p:spPr>
          <a:xfrm>
            <a:off x="1405287" y="-126584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智能财务</a:t>
            </a:r>
          </a:p>
        </p:txBody>
      </p:sp>
      <p:sp>
        <p:nvSpPr>
          <p:cNvPr id="88" name="m-s01_radial_hub-rule-01">
            <a:extLst>
              <a:ext uri="{FF2B5EF4-FFF2-40B4-BE49-F238E27FC236}">
                <a16:creationId xmlns:a16="http://schemas.microsoft.com/office/drawing/2014/main" id="{D2102442-3720-E573-6F17-8E1B5D11BFA8}"/>
              </a:ext>
            </a:extLst>
          </p:cNvPr>
          <p:cNvSpPr/>
          <p:nvPr/>
        </p:nvSpPr>
        <p:spPr>
          <a:xfrm>
            <a:off x="1409192" y="-61659"/>
            <a:ext cx="299402" cy="1562"/>
          </a:xfrm>
          <a:prstGeom prst="roundRect">
            <a:avLst>
              <a:gd name="adj" fmla="val 12299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9" name="m-s01_radial_hub-p-01-1">
            <a:extLst>
              <a:ext uri="{FF2B5EF4-FFF2-40B4-BE49-F238E27FC236}">
                <a16:creationId xmlns:a16="http://schemas.microsoft.com/office/drawing/2014/main" id="{DEC0072A-6DE8-1B40-AE5B-5C5D2E4F92B8}"/>
              </a:ext>
            </a:extLst>
          </p:cNvPr>
          <p:cNvSpPr txBox="1"/>
          <p:nvPr/>
        </p:nvSpPr>
        <p:spPr>
          <a:xfrm>
            <a:off x="1406458" y="-52042"/>
            <a:ext cx="20795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全新一代财务中台</a:t>
            </a:r>
          </a:p>
        </p:txBody>
      </p:sp>
      <p:sp>
        <p:nvSpPr>
          <p:cNvPr id="90" name="m-s01_radial_hub-p-01-2">
            <a:extLst>
              <a:ext uri="{FF2B5EF4-FFF2-40B4-BE49-F238E27FC236}">
                <a16:creationId xmlns:a16="http://schemas.microsoft.com/office/drawing/2014/main" id="{239D350F-E719-5417-9A72-60901F110435}"/>
              </a:ext>
            </a:extLst>
          </p:cNvPr>
          <p:cNvSpPr txBox="1"/>
          <p:nvPr/>
        </p:nvSpPr>
        <p:spPr>
          <a:xfrm>
            <a:off x="1406458" y="-16895"/>
            <a:ext cx="214724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月结效率提升 60%</a:t>
            </a:r>
          </a:p>
        </p:txBody>
      </p:sp>
      <p:sp>
        <p:nvSpPr>
          <p:cNvPr id="91" name="m-s01_radial_hub-mark-02">
            <a:extLst>
              <a:ext uri="{FF2B5EF4-FFF2-40B4-BE49-F238E27FC236}">
                <a16:creationId xmlns:a16="http://schemas.microsoft.com/office/drawing/2014/main" id="{CFF964C8-258F-9D12-DF47-F22C2E8F5EDD}"/>
              </a:ext>
            </a:extLst>
          </p:cNvPr>
          <p:cNvSpPr txBox="1"/>
          <p:nvPr/>
        </p:nvSpPr>
        <p:spPr>
          <a:xfrm>
            <a:off x="1725882" y="116896"/>
            <a:ext cx="152461" cy="1275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70" b="1" i="0" u="none" strike="noStrike" kern="1200" cap="none" spc="20" normalizeH="0" baseline="0" noProof="0">
                <a:ln>
                  <a:noFill/>
                </a:ln>
                <a:solidFill>
                  <a:srgbClr val="1B5AA8">
                    <a:alpha val="13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92" name="m-s01_radial_hub-h-02">
            <a:extLst>
              <a:ext uri="{FF2B5EF4-FFF2-40B4-BE49-F238E27FC236}">
                <a16:creationId xmlns:a16="http://schemas.microsoft.com/office/drawing/2014/main" id="{B1AF3A66-5BCC-182A-7FB0-8181F57A059A}"/>
              </a:ext>
            </a:extLst>
          </p:cNvPr>
          <p:cNvSpPr txBox="1"/>
          <p:nvPr/>
        </p:nvSpPr>
        <p:spPr>
          <a:xfrm>
            <a:off x="1405287" y="135491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电商中枢</a:t>
            </a:r>
          </a:p>
        </p:txBody>
      </p:sp>
      <p:sp>
        <p:nvSpPr>
          <p:cNvPr id="93" name="m-s01_radial_hub-rule-02">
            <a:extLst>
              <a:ext uri="{FF2B5EF4-FFF2-40B4-BE49-F238E27FC236}">
                <a16:creationId xmlns:a16="http://schemas.microsoft.com/office/drawing/2014/main" id="{0C9788EE-5378-5F8E-D9BB-B630F45A7CFE}"/>
              </a:ext>
            </a:extLst>
          </p:cNvPr>
          <p:cNvSpPr/>
          <p:nvPr/>
        </p:nvSpPr>
        <p:spPr>
          <a:xfrm>
            <a:off x="1409192" y="200416"/>
            <a:ext cx="299402" cy="1562"/>
          </a:xfrm>
          <a:prstGeom prst="roundRect">
            <a:avLst>
              <a:gd name="adj" fmla="val 12299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4" name="m-s01_radial_hub-p-02-1">
            <a:extLst>
              <a:ext uri="{FF2B5EF4-FFF2-40B4-BE49-F238E27FC236}">
                <a16:creationId xmlns:a16="http://schemas.microsoft.com/office/drawing/2014/main" id="{40631F11-E98F-0DE5-18C0-BF9A1EEDC197}"/>
              </a:ext>
            </a:extLst>
          </p:cNvPr>
          <p:cNvSpPr txBox="1"/>
          <p:nvPr/>
        </p:nvSpPr>
        <p:spPr>
          <a:xfrm>
            <a:off x="1406458" y="210033"/>
            <a:ext cx="254818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无缝对接主流电商平台</a:t>
            </a:r>
          </a:p>
        </p:txBody>
      </p:sp>
      <p:sp>
        <p:nvSpPr>
          <p:cNvPr id="95" name="m-s01_radial_hub-p-02-2">
            <a:extLst>
              <a:ext uri="{FF2B5EF4-FFF2-40B4-BE49-F238E27FC236}">
                <a16:creationId xmlns:a16="http://schemas.microsoft.com/office/drawing/2014/main" id="{F62A1DDF-1085-D929-C708-A0FD03F58C58}"/>
              </a:ext>
            </a:extLst>
          </p:cNvPr>
          <p:cNvSpPr txBox="1"/>
          <p:nvPr/>
        </p:nvSpPr>
        <p:spPr>
          <a:xfrm>
            <a:off x="1406458" y="245180"/>
            <a:ext cx="20795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订单库存实时同步</a:t>
            </a:r>
          </a:p>
        </p:txBody>
      </p:sp>
      <p:sp>
        <p:nvSpPr>
          <p:cNvPr id="96" name="m-s01_radial_hub-mark-03">
            <a:extLst>
              <a:ext uri="{FF2B5EF4-FFF2-40B4-BE49-F238E27FC236}">
                <a16:creationId xmlns:a16="http://schemas.microsoft.com/office/drawing/2014/main" id="{64798434-B652-2DE2-8A1B-64D9C0E02750}"/>
              </a:ext>
            </a:extLst>
          </p:cNvPr>
          <p:cNvSpPr txBox="1"/>
          <p:nvPr/>
        </p:nvSpPr>
        <p:spPr>
          <a:xfrm>
            <a:off x="1725882" y="487525"/>
            <a:ext cx="152461" cy="1275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70" b="1" i="0" u="none" strike="noStrike" kern="1200" cap="none" spc="20" normalizeH="0" baseline="0" noProof="0">
                <a:ln>
                  <a:noFill/>
                </a:ln>
                <a:solidFill>
                  <a:srgbClr val="1B5AA8">
                    <a:alpha val="13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97" name="m-s01_radial_hub-h-03">
            <a:extLst>
              <a:ext uri="{FF2B5EF4-FFF2-40B4-BE49-F238E27FC236}">
                <a16:creationId xmlns:a16="http://schemas.microsoft.com/office/drawing/2014/main" id="{07E73F45-D210-0FDA-A8C5-F169434AEC76}"/>
              </a:ext>
            </a:extLst>
          </p:cNvPr>
          <p:cNvSpPr txBox="1"/>
          <p:nvPr/>
        </p:nvSpPr>
        <p:spPr>
          <a:xfrm>
            <a:off x="1405287" y="506121"/>
            <a:ext cx="199819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供应链协同</a:t>
            </a:r>
          </a:p>
        </p:txBody>
      </p:sp>
      <p:sp>
        <p:nvSpPr>
          <p:cNvPr id="98" name="m-s01_radial_hub-rule-03">
            <a:extLst>
              <a:ext uri="{FF2B5EF4-FFF2-40B4-BE49-F238E27FC236}">
                <a16:creationId xmlns:a16="http://schemas.microsoft.com/office/drawing/2014/main" id="{1EBB0149-DF74-4864-FB11-0AD5FFA0AB9F}"/>
              </a:ext>
            </a:extLst>
          </p:cNvPr>
          <p:cNvSpPr/>
          <p:nvPr/>
        </p:nvSpPr>
        <p:spPr>
          <a:xfrm>
            <a:off x="1409192" y="571046"/>
            <a:ext cx="299402" cy="1562"/>
          </a:xfrm>
          <a:prstGeom prst="roundRect">
            <a:avLst>
              <a:gd name="adj" fmla="val 12299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9" name="m-s01_radial_hub-p-03-1">
            <a:extLst>
              <a:ext uri="{FF2B5EF4-FFF2-40B4-BE49-F238E27FC236}">
                <a16:creationId xmlns:a16="http://schemas.microsoft.com/office/drawing/2014/main" id="{AED15273-E598-4A69-C718-AB294D12580C}"/>
              </a:ext>
            </a:extLst>
          </p:cNvPr>
          <p:cNvSpPr txBox="1"/>
          <p:nvPr/>
        </p:nvSpPr>
        <p:spPr>
          <a:xfrm>
            <a:off x="1406458" y="580662"/>
            <a:ext cx="254818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流程灵活的供应链管理</a:t>
            </a:r>
          </a:p>
        </p:txBody>
      </p:sp>
      <p:sp>
        <p:nvSpPr>
          <p:cNvPr id="100" name="m-s01_radial_hub-p-03-2">
            <a:extLst>
              <a:ext uri="{FF2B5EF4-FFF2-40B4-BE49-F238E27FC236}">
                <a16:creationId xmlns:a16="http://schemas.microsoft.com/office/drawing/2014/main" id="{8B0620D0-E098-246F-DEFC-65800085378B}"/>
              </a:ext>
            </a:extLst>
          </p:cNvPr>
          <p:cNvSpPr txBox="1"/>
          <p:nvPr/>
        </p:nvSpPr>
        <p:spPr>
          <a:xfrm>
            <a:off x="1406458" y="615810"/>
            <a:ext cx="16109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降低采购成本</a:t>
            </a:r>
          </a:p>
        </p:txBody>
      </p:sp>
      <p:sp>
        <p:nvSpPr>
          <p:cNvPr id="101" name="m-s01_radial_hub-mark-04">
            <a:extLst>
              <a:ext uri="{FF2B5EF4-FFF2-40B4-BE49-F238E27FC236}">
                <a16:creationId xmlns:a16="http://schemas.microsoft.com/office/drawing/2014/main" id="{566FDE8B-1FBC-B1FA-B755-B5A36EDEB229}"/>
              </a:ext>
            </a:extLst>
          </p:cNvPr>
          <p:cNvSpPr txBox="1"/>
          <p:nvPr/>
        </p:nvSpPr>
        <p:spPr>
          <a:xfrm>
            <a:off x="1725882" y="749600"/>
            <a:ext cx="152461" cy="1275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70" b="1" i="0" u="none" strike="noStrike" kern="1200" cap="none" spc="20" normalizeH="0" baseline="0" noProof="0">
                <a:ln>
                  <a:noFill/>
                </a:ln>
                <a:solidFill>
                  <a:srgbClr val="1B5AA8">
                    <a:alpha val="13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102" name="m-s01_radial_hub-h-04">
            <a:extLst>
              <a:ext uri="{FF2B5EF4-FFF2-40B4-BE49-F238E27FC236}">
                <a16:creationId xmlns:a16="http://schemas.microsoft.com/office/drawing/2014/main" id="{56F1320D-02A7-F6CD-9A9B-2C290A6DE8DA}"/>
              </a:ext>
            </a:extLst>
          </p:cNvPr>
          <p:cNvSpPr txBox="1"/>
          <p:nvPr/>
        </p:nvSpPr>
        <p:spPr>
          <a:xfrm>
            <a:off x="1405287" y="768196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智能制造</a:t>
            </a:r>
          </a:p>
        </p:txBody>
      </p:sp>
      <p:sp>
        <p:nvSpPr>
          <p:cNvPr id="103" name="m-s01_radial_hub-rule-04">
            <a:extLst>
              <a:ext uri="{FF2B5EF4-FFF2-40B4-BE49-F238E27FC236}">
                <a16:creationId xmlns:a16="http://schemas.microsoft.com/office/drawing/2014/main" id="{6BE21283-5118-05BB-AE36-BA7BF156091F}"/>
              </a:ext>
            </a:extLst>
          </p:cNvPr>
          <p:cNvSpPr/>
          <p:nvPr/>
        </p:nvSpPr>
        <p:spPr>
          <a:xfrm>
            <a:off x="1409192" y="833120"/>
            <a:ext cx="299402" cy="1562"/>
          </a:xfrm>
          <a:prstGeom prst="roundRect">
            <a:avLst>
              <a:gd name="adj" fmla="val 12299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4" name="m-s01_radial_hub-p-04-1">
            <a:extLst>
              <a:ext uri="{FF2B5EF4-FFF2-40B4-BE49-F238E27FC236}">
                <a16:creationId xmlns:a16="http://schemas.microsoft.com/office/drawing/2014/main" id="{80AB7B6B-FE0A-3DC2-3B6E-15E63777F0C7}"/>
              </a:ext>
            </a:extLst>
          </p:cNvPr>
          <p:cNvSpPr txBox="1"/>
          <p:nvPr/>
        </p:nvSpPr>
        <p:spPr>
          <a:xfrm>
            <a:off x="1406458" y="842737"/>
            <a:ext cx="231386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按需生产、按期交货</a:t>
            </a:r>
          </a:p>
        </p:txBody>
      </p:sp>
      <p:sp>
        <p:nvSpPr>
          <p:cNvPr id="105" name="m-s01_radial_hub-p-04-2">
            <a:extLst>
              <a:ext uri="{FF2B5EF4-FFF2-40B4-BE49-F238E27FC236}">
                <a16:creationId xmlns:a16="http://schemas.microsoft.com/office/drawing/2014/main" id="{A06C2C46-DB17-7EE6-49BD-CAC3FA534EEC}"/>
              </a:ext>
            </a:extLst>
          </p:cNvPr>
          <p:cNvSpPr txBox="1"/>
          <p:nvPr/>
        </p:nvSpPr>
        <p:spPr>
          <a:xfrm>
            <a:off x="1406458" y="877884"/>
            <a:ext cx="20795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动态库存全程可控</a:t>
            </a:r>
          </a:p>
        </p:txBody>
      </p:sp>
      <p:sp>
        <p:nvSpPr>
          <p:cNvPr id="106" name="m-s01_radial_hub-mark-05">
            <a:extLst>
              <a:ext uri="{FF2B5EF4-FFF2-40B4-BE49-F238E27FC236}">
                <a16:creationId xmlns:a16="http://schemas.microsoft.com/office/drawing/2014/main" id="{324F28A4-A80A-7A02-EE77-6314B28CA4E2}"/>
              </a:ext>
            </a:extLst>
          </p:cNvPr>
          <p:cNvSpPr txBox="1"/>
          <p:nvPr/>
        </p:nvSpPr>
        <p:spPr>
          <a:xfrm>
            <a:off x="-267983" y="749600"/>
            <a:ext cx="152461" cy="1275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70" b="1" i="0" u="none" strike="noStrike" kern="1200" cap="none" spc="20" normalizeH="0" baseline="0" noProof="0">
                <a:ln>
                  <a:noFill/>
                </a:ln>
                <a:solidFill>
                  <a:srgbClr val="1B5AA8">
                    <a:alpha val="13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107" name="m-s01_radial_hub-h-05">
            <a:extLst>
              <a:ext uri="{FF2B5EF4-FFF2-40B4-BE49-F238E27FC236}">
                <a16:creationId xmlns:a16="http://schemas.microsoft.com/office/drawing/2014/main" id="{AAA569D3-4614-366A-7351-BB3390C957D2}"/>
              </a:ext>
            </a:extLst>
          </p:cNvPr>
          <p:cNvSpPr txBox="1"/>
          <p:nvPr/>
        </p:nvSpPr>
        <p:spPr>
          <a:xfrm>
            <a:off x="39360" y="768196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数据决策</a:t>
            </a:r>
          </a:p>
        </p:txBody>
      </p:sp>
      <p:sp>
        <p:nvSpPr>
          <p:cNvPr id="108" name="m-s01_radial_hub-rule-05">
            <a:extLst>
              <a:ext uri="{FF2B5EF4-FFF2-40B4-BE49-F238E27FC236}">
                <a16:creationId xmlns:a16="http://schemas.microsoft.com/office/drawing/2014/main" id="{024BA062-BD51-F9A4-B6EB-5DC7157DB6B7}"/>
              </a:ext>
            </a:extLst>
          </p:cNvPr>
          <p:cNvSpPr/>
          <p:nvPr/>
        </p:nvSpPr>
        <p:spPr>
          <a:xfrm>
            <a:off x="-98235" y="833120"/>
            <a:ext cx="299402" cy="1562"/>
          </a:xfrm>
          <a:prstGeom prst="roundRect">
            <a:avLst>
              <a:gd name="adj" fmla="val 12299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9" name="m-s01_radial_hub-p-05-1">
            <a:extLst>
              <a:ext uri="{FF2B5EF4-FFF2-40B4-BE49-F238E27FC236}">
                <a16:creationId xmlns:a16="http://schemas.microsoft.com/office/drawing/2014/main" id="{D1C3D7D4-E835-4135-BBCD-49063AADBB39}"/>
              </a:ext>
            </a:extLst>
          </p:cNvPr>
          <p:cNvSpPr txBox="1"/>
          <p:nvPr/>
        </p:nvSpPr>
        <p:spPr>
          <a:xfrm>
            <a:off x="-4053" y="842737"/>
            <a:ext cx="20795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全域经营数据看板</a:t>
            </a:r>
          </a:p>
        </p:txBody>
      </p:sp>
      <p:sp>
        <p:nvSpPr>
          <p:cNvPr id="110" name="m-s01_radial_hub-p-05-2">
            <a:extLst>
              <a:ext uri="{FF2B5EF4-FFF2-40B4-BE49-F238E27FC236}">
                <a16:creationId xmlns:a16="http://schemas.microsoft.com/office/drawing/2014/main" id="{7407DA15-42A6-CC83-7B6C-329DDCA051EE}"/>
              </a:ext>
            </a:extLst>
          </p:cNvPr>
          <p:cNvSpPr txBox="1"/>
          <p:nvPr/>
        </p:nvSpPr>
        <p:spPr>
          <a:xfrm>
            <a:off x="-4053" y="877884"/>
            <a:ext cx="20795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一屏掌握核心指标</a:t>
            </a:r>
          </a:p>
        </p:txBody>
      </p:sp>
      <p:sp>
        <p:nvSpPr>
          <p:cNvPr id="111" name="m-s01_radial_hub-mark-06">
            <a:extLst>
              <a:ext uri="{FF2B5EF4-FFF2-40B4-BE49-F238E27FC236}">
                <a16:creationId xmlns:a16="http://schemas.microsoft.com/office/drawing/2014/main" id="{E5136517-DF08-7914-3DF5-CE679B8EB23F}"/>
              </a:ext>
            </a:extLst>
          </p:cNvPr>
          <p:cNvSpPr txBox="1"/>
          <p:nvPr/>
        </p:nvSpPr>
        <p:spPr>
          <a:xfrm>
            <a:off x="-267983" y="487525"/>
            <a:ext cx="152461" cy="1275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70" b="1" i="0" u="none" strike="noStrike" kern="1200" cap="none" spc="20" normalizeH="0" baseline="0" noProof="0">
                <a:ln>
                  <a:noFill/>
                </a:ln>
                <a:solidFill>
                  <a:srgbClr val="1B5AA8">
                    <a:alpha val="13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06</a:t>
            </a:r>
          </a:p>
        </p:txBody>
      </p:sp>
      <p:sp>
        <p:nvSpPr>
          <p:cNvPr id="112" name="m-s01_radial_hub-h-06">
            <a:extLst>
              <a:ext uri="{FF2B5EF4-FFF2-40B4-BE49-F238E27FC236}">
                <a16:creationId xmlns:a16="http://schemas.microsoft.com/office/drawing/2014/main" id="{6C1DC842-E536-D999-E9D5-F78341373E34}"/>
              </a:ext>
            </a:extLst>
          </p:cNvPr>
          <p:cNvSpPr txBox="1"/>
          <p:nvPr/>
        </p:nvSpPr>
        <p:spPr>
          <a:xfrm>
            <a:off x="39360" y="506121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移动办公</a:t>
            </a:r>
          </a:p>
        </p:txBody>
      </p:sp>
      <p:sp>
        <p:nvSpPr>
          <p:cNvPr id="113" name="m-s01_radial_hub-rule-06">
            <a:extLst>
              <a:ext uri="{FF2B5EF4-FFF2-40B4-BE49-F238E27FC236}">
                <a16:creationId xmlns:a16="http://schemas.microsoft.com/office/drawing/2014/main" id="{A386D317-01D1-0A23-C089-2C2199417A7C}"/>
              </a:ext>
            </a:extLst>
          </p:cNvPr>
          <p:cNvSpPr/>
          <p:nvPr/>
        </p:nvSpPr>
        <p:spPr>
          <a:xfrm>
            <a:off x="-98235" y="571046"/>
            <a:ext cx="299402" cy="1562"/>
          </a:xfrm>
          <a:prstGeom prst="roundRect">
            <a:avLst>
              <a:gd name="adj" fmla="val 12299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4" name="m-s01_radial_hub-p-06-1">
            <a:extLst>
              <a:ext uri="{FF2B5EF4-FFF2-40B4-BE49-F238E27FC236}">
                <a16:creationId xmlns:a16="http://schemas.microsoft.com/office/drawing/2014/main" id="{2B79781B-F0F3-B28E-23F8-56810FA7CD4B}"/>
              </a:ext>
            </a:extLst>
          </p:cNvPr>
          <p:cNvSpPr txBox="1"/>
          <p:nvPr/>
        </p:nvSpPr>
        <p:spPr>
          <a:xfrm>
            <a:off x="19379" y="580662"/>
            <a:ext cx="184523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一站式移动审批</a:t>
            </a:r>
          </a:p>
        </p:txBody>
      </p:sp>
      <p:sp>
        <p:nvSpPr>
          <p:cNvPr id="115" name="m-s01_radial_hub-p-06-2">
            <a:extLst>
              <a:ext uri="{FF2B5EF4-FFF2-40B4-BE49-F238E27FC236}">
                <a16:creationId xmlns:a16="http://schemas.microsoft.com/office/drawing/2014/main" id="{97CAD2CB-7618-41C2-DFD7-978B4F68A8F3}"/>
              </a:ext>
            </a:extLst>
          </p:cNvPr>
          <p:cNvSpPr txBox="1"/>
          <p:nvPr/>
        </p:nvSpPr>
        <p:spPr>
          <a:xfrm>
            <a:off x="-4053" y="615810"/>
            <a:ext cx="20795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个性化高效工作台</a:t>
            </a:r>
          </a:p>
        </p:txBody>
      </p:sp>
      <p:sp>
        <p:nvSpPr>
          <p:cNvPr id="116" name="m-s01_radial_hub-mark-07">
            <a:extLst>
              <a:ext uri="{FF2B5EF4-FFF2-40B4-BE49-F238E27FC236}">
                <a16:creationId xmlns:a16="http://schemas.microsoft.com/office/drawing/2014/main" id="{8ED57CBF-88E1-0062-A958-DF25D30CCF83}"/>
              </a:ext>
            </a:extLst>
          </p:cNvPr>
          <p:cNvSpPr txBox="1"/>
          <p:nvPr/>
        </p:nvSpPr>
        <p:spPr>
          <a:xfrm>
            <a:off x="-267983" y="116896"/>
            <a:ext cx="152461" cy="1275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70" b="1" i="0" u="none" strike="noStrike" kern="1200" cap="none" spc="20" normalizeH="0" baseline="0" noProof="0">
                <a:ln>
                  <a:noFill/>
                </a:ln>
                <a:solidFill>
                  <a:srgbClr val="1B5AA8">
                    <a:alpha val="13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07</a:t>
            </a:r>
          </a:p>
        </p:txBody>
      </p:sp>
      <p:sp>
        <p:nvSpPr>
          <p:cNvPr id="117" name="m-s01_radial_hub-h-07">
            <a:extLst>
              <a:ext uri="{FF2B5EF4-FFF2-40B4-BE49-F238E27FC236}">
                <a16:creationId xmlns:a16="http://schemas.microsoft.com/office/drawing/2014/main" id="{F42A997A-42BC-80DE-C6B6-CA8C3D5A28D8}"/>
              </a:ext>
            </a:extLst>
          </p:cNvPr>
          <p:cNvSpPr txBox="1"/>
          <p:nvPr/>
        </p:nvSpPr>
        <p:spPr>
          <a:xfrm>
            <a:off x="39360" y="135491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渠道管理</a:t>
            </a:r>
          </a:p>
        </p:txBody>
      </p:sp>
      <p:sp>
        <p:nvSpPr>
          <p:cNvPr id="118" name="m-s01_radial_hub-rule-07">
            <a:extLst>
              <a:ext uri="{FF2B5EF4-FFF2-40B4-BE49-F238E27FC236}">
                <a16:creationId xmlns:a16="http://schemas.microsoft.com/office/drawing/2014/main" id="{61AE811F-3833-6BB1-3B84-4201AD87E28E}"/>
              </a:ext>
            </a:extLst>
          </p:cNvPr>
          <p:cNvSpPr/>
          <p:nvPr/>
        </p:nvSpPr>
        <p:spPr>
          <a:xfrm>
            <a:off x="-98235" y="200416"/>
            <a:ext cx="299402" cy="1562"/>
          </a:xfrm>
          <a:prstGeom prst="roundRect">
            <a:avLst>
              <a:gd name="adj" fmla="val 12299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9" name="m-s01_radial_hub-p-07-1">
            <a:extLst>
              <a:ext uri="{FF2B5EF4-FFF2-40B4-BE49-F238E27FC236}">
                <a16:creationId xmlns:a16="http://schemas.microsoft.com/office/drawing/2014/main" id="{4F9068E7-B2CA-AF5A-904E-C73327C933F4}"/>
              </a:ext>
            </a:extLst>
          </p:cNvPr>
          <p:cNvSpPr txBox="1"/>
          <p:nvPr/>
        </p:nvSpPr>
        <p:spPr>
          <a:xfrm>
            <a:off x="-4053" y="210033"/>
            <a:ext cx="20795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经销门店统一管理</a:t>
            </a:r>
          </a:p>
        </p:txBody>
      </p:sp>
      <p:sp>
        <p:nvSpPr>
          <p:cNvPr id="120" name="m-s01_radial_hub-p-07-2">
            <a:extLst>
              <a:ext uri="{FF2B5EF4-FFF2-40B4-BE49-F238E27FC236}">
                <a16:creationId xmlns:a16="http://schemas.microsoft.com/office/drawing/2014/main" id="{2FBB1DE9-B08F-AE58-BF88-22E5DB00BC4E}"/>
              </a:ext>
            </a:extLst>
          </p:cNvPr>
          <p:cNvSpPr txBox="1"/>
          <p:nvPr/>
        </p:nvSpPr>
        <p:spPr>
          <a:xfrm>
            <a:off x="-27484" y="245180"/>
            <a:ext cx="231386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助力企业规模化扩张</a:t>
            </a:r>
          </a:p>
        </p:txBody>
      </p:sp>
      <p:sp>
        <p:nvSpPr>
          <p:cNvPr id="121" name="m-s01_radial_hub-mark-08">
            <a:extLst>
              <a:ext uri="{FF2B5EF4-FFF2-40B4-BE49-F238E27FC236}">
                <a16:creationId xmlns:a16="http://schemas.microsoft.com/office/drawing/2014/main" id="{53659A3C-B46C-C9F8-1FCE-761DD7D7BA28}"/>
              </a:ext>
            </a:extLst>
          </p:cNvPr>
          <p:cNvSpPr txBox="1"/>
          <p:nvPr/>
        </p:nvSpPr>
        <p:spPr>
          <a:xfrm>
            <a:off x="-267983" y="-145179"/>
            <a:ext cx="152461" cy="1275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70" b="1" i="0" u="none" strike="noStrike" kern="1200" cap="none" spc="20" normalizeH="0" baseline="0" noProof="0">
                <a:ln>
                  <a:noFill/>
                </a:ln>
                <a:solidFill>
                  <a:srgbClr val="1B5AA8">
                    <a:alpha val="13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08</a:t>
            </a:r>
          </a:p>
        </p:txBody>
      </p:sp>
      <p:sp>
        <p:nvSpPr>
          <p:cNvPr id="122" name="m-s01_radial_hub-h-08">
            <a:extLst>
              <a:ext uri="{FF2B5EF4-FFF2-40B4-BE49-F238E27FC236}">
                <a16:creationId xmlns:a16="http://schemas.microsoft.com/office/drawing/2014/main" id="{136954A6-5460-05CB-BC9C-F83CA1645F08}"/>
              </a:ext>
            </a:extLst>
          </p:cNvPr>
          <p:cNvSpPr txBox="1"/>
          <p:nvPr/>
        </p:nvSpPr>
        <p:spPr>
          <a:xfrm>
            <a:off x="39360" y="-126584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组织协同</a:t>
            </a:r>
          </a:p>
        </p:txBody>
      </p:sp>
      <p:sp>
        <p:nvSpPr>
          <p:cNvPr id="123" name="m-s01_radial_hub-rule-08">
            <a:extLst>
              <a:ext uri="{FF2B5EF4-FFF2-40B4-BE49-F238E27FC236}">
                <a16:creationId xmlns:a16="http://schemas.microsoft.com/office/drawing/2014/main" id="{57A5B8C2-B435-B13E-B39A-EA1C93A416BC}"/>
              </a:ext>
            </a:extLst>
          </p:cNvPr>
          <p:cNvSpPr/>
          <p:nvPr/>
        </p:nvSpPr>
        <p:spPr>
          <a:xfrm>
            <a:off x="-98235" y="-61659"/>
            <a:ext cx="299402" cy="1562"/>
          </a:xfrm>
          <a:prstGeom prst="roundRect">
            <a:avLst>
              <a:gd name="adj" fmla="val 12299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4" name="m-s01_radial_hub-p-08-1">
            <a:extLst>
              <a:ext uri="{FF2B5EF4-FFF2-40B4-BE49-F238E27FC236}">
                <a16:creationId xmlns:a16="http://schemas.microsoft.com/office/drawing/2014/main" id="{8E9193CB-1190-8E34-AF7E-635194012BC2}"/>
              </a:ext>
            </a:extLst>
          </p:cNvPr>
          <p:cNvSpPr txBox="1"/>
          <p:nvPr/>
        </p:nvSpPr>
        <p:spPr>
          <a:xfrm>
            <a:off x="-27484" y="-52042"/>
            <a:ext cx="231386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企业通讯与任务协同</a:t>
            </a:r>
          </a:p>
        </p:txBody>
      </p:sp>
      <p:sp>
        <p:nvSpPr>
          <p:cNvPr id="125" name="m-s01_radial_hub-p-08-2">
            <a:extLst>
              <a:ext uri="{FF2B5EF4-FFF2-40B4-BE49-F238E27FC236}">
                <a16:creationId xmlns:a16="http://schemas.microsoft.com/office/drawing/2014/main" id="{D6DFA068-A8FB-C3BA-50AB-44BB5F8CAAEB}"/>
              </a:ext>
            </a:extLst>
          </p:cNvPr>
          <p:cNvSpPr txBox="1"/>
          <p:nvPr/>
        </p:nvSpPr>
        <p:spPr>
          <a:xfrm>
            <a:off x="-4053" y="-16895"/>
            <a:ext cx="20795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信息即时触达一线</a:t>
            </a:r>
          </a:p>
        </p:txBody>
      </p:sp>
      <p:cxnSp>
        <p:nvCxnSpPr>
          <p:cNvPr id="126" name="m-s01_radial_hub-foot-line">
            <a:extLst>
              <a:ext uri="{FF2B5EF4-FFF2-40B4-BE49-F238E27FC236}">
                <a16:creationId xmlns:a16="http://schemas.microsoft.com/office/drawing/2014/main" id="{E563CEB1-1061-BF94-D81C-D314124EDE94}"/>
              </a:ext>
            </a:extLst>
          </p:cNvPr>
          <p:cNvCxnSpPr/>
          <p:nvPr/>
        </p:nvCxnSpPr>
        <p:spPr>
          <a:xfrm>
            <a:off x="-324739" y="9441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7" name="m-s01_radial_hub-foot-l">
            <a:extLst>
              <a:ext uri="{FF2B5EF4-FFF2-40B4-BE49-F238E27FC236}">
                <a16:creationId xmlns:a16="http://schemas.microsoft.com/office/drawing/2014/main" id="{ECCEC8E5-7AFE-6E12-E2FE-3254B2E37C90}"/>
              </a:ext>
            </a:extLst>
          </p:cNvPr>
          <p:cNvSpPr txBox="1"/>
          <p:nvPr/>
        </p:nvSpPr>
        <p:spPr>
          <a:xfrm>
            <a:off x="-326926" y="958123"/>
            <a:ext cx="274825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八大能力模块 · 一体化协同</a:t>
            </a:r>
          </a:p>
        </p:txBody>
      </p:sp>
      <p:sp>
        <p:nvSpPr>
          <p:cNvPr id="128" name="m-s01_radial_hub-foot-r">
            <a:extLst>
              <a:ext uri="{FF2B5EF4-FFF2-40B4-BE49-F238E27FC236}">
                <a16:creationId xmlns:a16="http://schemas.microsoft.com/office/drawing/2014/main" id="{8A25CF1F-2473-41D0-D232-453BC1682C94}"/>
              </a:ext>
            </a:extLst>
          </p:cNvPr>
          <p:cNvSpPr txBox="1"/>
          <p:nvPr/>
        </p:nvSpPr>
        <p:spPr>
          <a:xfrm>
            <a:off x="1677509" y="9581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129" name="mini-card-d01_bar_line">
            <a:extLst>
              <a:ext uri="{FF2B5EF4-FFF2-40B4-BE49-F238E27FC236}">
                <a16:creationId xmlns:a16="http://schemas.microsoft.com/office/drawing/2014/main" id="{DBBE01B7-0C96-7331-1685-F8B2C6971B75}"/>
              </a:ext>
            </a:extLst>
          </p:cNvPr>
          <p:cNvSpPr/>
          <p:nvPr/>
        </p:nvSpPr>
        <p:spPr>
          <a:xfrm>
            <a:off x="2171700" y="-3810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0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1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0" y="1405890"/>
                </a:lnTo>
                <a:cubicBezTo>
                  <a:pt x="35877" y="1405890"/>
                  <a:pt x="0" y="1370012"/>
                  <a:pt x="0" y="1325690"/>
                </a:cubicBezTo>
                <a:lnTo>
                  <a:pt x="0" y="80201"/>
                </a:lnTo>
                <a:cubicBezTo>
                  <a:pt x="0" y="35877"/>
                  <a:pt x="35877" y="0"/>
                  <a:pt x="80200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0" name="m-d01_bar_line-title-bar">
            <a:extLst>
              <a:ext uri="{FF2B5EF4-FFF2-40B4-BE49-F238E27FC236}">
                <a16:creationId xmlns:a16="http://schemas.microsoft.com/office/drawing/2014/main" id="{4194FA10-E2BE-89D3-8231-A80137B09D64}"/>
              </a:ext>
            </a:extLst>
          </p:cNvPr>
          <p:cNvSpPr/>
          <p:nvPr/>
        </p:nvSpPr>
        <p:spPr>
          <a:xfrm>
            <a:off x="2291461" y="-282067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1" name="m-d01_bar_line-title-bar-accent">
            <a:extLst>
              <a:ext uri="{FF2B5EF4-FFF2-40B4-BE49-F238E27FC236}">
                <a16:creationId xmlns:a16="http://schemas.microsoft.com/office/drawing/2014/main" id="{B81C0C5F-2825-2670-25DC-A87F5C57AD12}"/>
              </a:ext>
            </a:extLst>
          </p:cNvPr>
          <p:cNvSpPr/>
          <p:nvPr/>
        </p:nvSpPr>
        <p:spPr>
          <a:xfrm>
            <a:off x="2291461" y="-282067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2" name="m-d01_bar_line-title-cn">
            <a:extLst>
              <a:ext uri="{FF2B5EF4-FFF2-40B4-BE49-F238E27FC236}">
                <a16:creationId xmlns:a16="http://schemas.microsoft.com/office/drawing/2014/main" id="{47706C7F-4CDE-1EA5-F775-590668846DD1}"/>
              </a:ext>
            </a:extLst>
          </p:cNvPr>
          <p:cNvSpPr txBox="1"/>
          <p:nvPr/>
        </p:nvSpPr>
        <p:spPr>
          <a:xfrm>
            <a:off x="2323640" y="-299432"/>
            <a:ext cx="488937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上半年经营数据</a:t>
            </a:r>
          </a:p>
        </p:txBody>
      </p:sp>
      <p:sp>
        <p:nvSpPr>
          <p:cNvPr id="133" name="m-d01_bar_line-title-en">
            <a:extLst>
              <a:ext uri="{FF2B5EF4-FFF2-40B4-BE49-F238E27FC236}">
                <a16:creationId xmlns:a16="http://schemas.microsoft.com/office/drawing/2014/main" id="{68A54FC5-143B-CB38-276C-DAC3244F773B}"/>
              </a:ext>
            </a:extLst>
          </p:cNvPr>
          <p:cNvSpPr txBox="1"/>
          <p:nvPr/>
        </p:nvSpPr>
        <p:spPr>
          <a:xfrm>
            <a:off x="2330930" y="-212150"/>
            <a:ext cx="445745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H1 BUSINESS PERFORMANCE</a:t>
            </a:r>
          </a:p>
        </p:txBody>
      </p:sp>
      <p:sp>
        <p:nvSpPr>
          <p:cNvPr id="134" name="m-d01_bar_line-title-sub">
            <a:extLst>
              <a:ext uri="{FF2B5EF4-FFF2-40B4-BE49-F238E27FC236}">
                <a16:creationId xmlns:a16="http://schemas.microsoft.com/office/drawing/2014/main" id="{48DAC477-29D9-E3C9-5157-74EB08CA5C98}"/>
              </a:ext>
            </a:extLst>
          </p:cNvPr>
          <p:cNvSpPr txBox="1"/>
          <p:nvPr/>
        </p:nvSpPr>
        <p:spPr>
          <a:xfrm>
            <a:off x="4112271" y="-243008"/>
            <a:ext cx="441684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营业收入与同比增长率（单位：百万元）</a:t>
            </a:r>
          </a:p>
        </p:txBody>
      </p:sp>
      <p:cxnSp>
        <p:nvCxnSpPr>
          <p:cNvPr id="135" name="m-d01_bar_line-grid-0">
            <a:extLst>
              <a:ext uri="{FF2B5EF4-FFF2-40B4-BE49-F238E27FC236}">
                <a16:creationId xmlns:a16="http://schemas.microsoft.com/office/drawing/2014/main" id="{01A617B6-0113-0FCF-1A1A-A0093FBFB6BD}"/>
              </a:ext>
            </a:extLst>
          </p:cNvPr>
          <p:cNvCxnSpPr/>
          <p:nvPr/>
        </p:nvCxnSpPr>
        <p:spPr>
          <a:xfrm>
            <a:off x="2390394" y="683832"/>
            <a:ext cx="1431925" cy="0"/>
          </a:xfrm>
          <a:prstGeom prst="line">
            <a:avLst/>
          </a:prstGeom>
          <a:ln w="2540" cap="rnd">
            <a:solidFill>
              <a:srgbClr val="0B2545">
                <a:alpha val="1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6" name="m-d01_bar_line-gl-0">
            <a:extLst>
              <a:ext uri="{FF2B5EF4-FFF2-40B4-BE49-F238E27FC236}">
                <a16:creationId xmlns:a16="http://schemas.microsoft.com/office/drawing/2014/main" id="{61C81C8F-CB50-FC1E-3066-E2B84339126B}"/>
              </a:ext>
            </a:extLst>
          </p:cNvPr>
          <p:cNvSpPr txBox="1"/>
          <p:nvPr/>
        </p:nvSpPr>
        <p:spPr>
          <a:xfrm>
            <a:off x="2339274" y="665422"/>
            <a:ext cx="30109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</a:t>
            </a:r>
          </a:p>
        </p:txBody>
      </p:sp>
      <p:cxnSp>
        <p:nvCxnSpPr>
          <p:cNvPr id="137" name="m-d01_bar_line-grid-65">
            <a:extLst>
              <a:ext uri="{FF2B5EF4-FFF2-40B4-BE49-F238E27FC236}">
                <a16:creationId xmlns:a16="http://schemas.microsoft.com/office/drawing/2014/main" id="{0DED39C3-2787-53B7-A955-EF3425D7AC82}"/>
              </a:ext>
            </a:extLst>
          </p:cNvPr>
          <p:cNvCxnSpPr/>
          <p:nvPr/>
        </p:nvCxnSpPr>
        <p:spPr>
          <a:xfrm>
            <a:off x="2390394" y="556260"/>
            <a:ext cx="1431925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m-d01_bar_line-gl-65">
            <a:extLst>
              <a:ext uri="{FF2B5EF4-FFF2-40B4-BE49-F238E27FC236}">
                <a16:creationId xmlns:a16="http://schemas.microsoft.com/office/drawing/2014/main" id="{66A70F97-3B28-0759-D479-95FEEF4DFD4A}"/>
              </a:ext>
            </a:extLst>
          </p:cNvPr>
          <p:cNvSpPr txBox="1"/>
          <p:nvPr/>
        </p:nvSpPr>
        <p:spPr>
          <a:xfrm>
            <a:off x="2327324" y="537850"/>
            <a:ext cx="42060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65</a:t>
            </a:r>
          </a:p>
        </p:txBody>
      </p:sp>
      <p:cxnSp>
        <p:nvCxnSpPr>
          <p:cNvPr id="139" name="m-d01_bar_line-grid-130">
            <a:extLst>
              <a:ext uri="{FF2B5EF4-FFF2-40B4-BE49-F238E27FC236}">
                <a16:creationId xmlns:a16="http://schemas.microsoft.com/office/drawing/2014/main" id="{1CF18322-4B0D-6698-0329-AE23B5292426}"/>
              </a:ext>
            </a:extLst>
          </p:cNvPr>
          <p:cNvCxnSpPr/>
          <p:nvPr/>
        </p:nvCxnSpPr>
        <p:spPr>
          <a:xfrm>
            <a:off x="2390394" y="428688"/>
            <a:ext cx="1431925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0" name="m-d01_bar_line-gl-130">
            <a:extLst>
              <a:ext uri="{FF2B5EF4-FFF2-40B4-BE49-F238E27FC236}">
                <a16:creationId xmlns:a16="http://schemas.microsoft.com/office/drawing/2014/main" id="{776EDA21-E351-7E3B-4BBA-CAE6430C28B4}"/>
              </a:ext>
            </a:extLst>
          </p:cNvPr>
          <p:cNvSpPr txBox="1"/>
          <p:nvPr/>
        </p:nvSpPr>
        <p:spPr>
          <a:xfrm>
            <a:off x="2315374" y="410279"/>
            <a:ext cx="54010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130</a:t>
            </a:r>
          </a:p>
        </p:txBody>
      </p:sp>
      <p:cxnSp>
        <p:nvCxnSpPr>
          <p:cNvPr id="141" name="m-d01_bar_line-grid-195">
            <a:extLst>
              <a:ext uri="{FF2B5EF4-FFF2-40B4-BE49-F238E27FC236}">
                <a16:creationId xmlns:a16="http://schemas.microsoft.com/office/drawing/2014/main" id="{54472CCB-451F-8880-49F0-5E9FB3EBBF74}"/>
              </a:ext>
            </a:extLst>
          </p:cNvPr>
          <p:cNvCxnSpPr/>
          <p:nvPr/>
        </p:nvCxnSpPr>
        <p:spPr>
          <a:xfrm>
            <a:off x="2390394" y="301117"/>
            <a:ext cx="1431925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2" name="m-d01_bar_line-gl-195">
            <a:extLst>
              <a:ext uri="{FF2B5EF4-FFF2-40B4-BE49-F238E27FC236}">
                <a16:creationId xmlns:a16="http://schemas.microsoft.com/office/drawing/2014/main" id="{5A68AFAB-149E-1D2A-96F5-709EE2A2C70C}"/>
              </a:ext>
            </a:extLst>
          </p:cNvPr>
          <p:cNvSpPr txBox="1"/>
          <p:nvPr/>
        </p:nvSpPr>
        <p:spPr>
          <a:xfrm>
            <a:off x="2315374" y="282707"/>
            <a:ext cx="54010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195</a:t>
            </a:r>
          </a:p>
        </p:txBody>
      </p:sp>
      <p:cxnSp>
        <p:nvCxnSpPr>
          <p:cNvPr id="143" name="m-d01_bar_line-grid-260">
            <a:extLst>
              <a:ext uri="{FF2B5EF4-FFF2-40B4-BE49-F238E27FC236}">
                <a16:creationId xmlns:a16="http://schemas.microsoft.com/office/drawing/2014/main" id="{455FF7E9-7616-8F5C-ECAE-40884D1702E3}"/>
              </a:ext>
            </a:extLst>
          </p:cNvPr>
          <p:cNvCxnSpPr/>
          <p:nvPr/>
        </p:nvCxnSpPr>
        <p:spPr>
          <a:xfrm>
            <a:off x="2390394" y="173546"/>
            <a:ext cx="1431925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4" name="m-d01_bar_line-gl-260">
            <a:extLst>
              <a:ext uri="{FF2B5EF4-FFF2-40B4-BE49-F238E27FC236}">
                <a16:creationId xmlns:a16="http://schemas.microsoft.com/office/drawing/2014/main" id="{1DB1AC38-C24B-A1A7-F4D2-3724EBA89BE2}"/>
              </a:ext>
            </a:extLst>
          </p:cNvPr>
          <p:cNvSpPr txBox="1"/>
          <p:nvPr/>
        </p:nvSpPr>
        <p:spPr>
          <a:xfrm>
            <a:off x="2315374" y="155136"/>
            <a:ext cx="54010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260</a:t>
            </a:r>
          </a:p>
        </p:txBody>
      </p:sp>
      <p:sp>
        <p:nvSpPr>
          <p:cNvPr id="145" name="m-d01_bar_line-bar-1">
            <a:extLst>
              <a:ext uri="{FF2B5EF4-FFF2-40B4-BE49-F238E27FC236}">
                <a16:creationId xmlns:a16="http://schemas.microsoft.com/office/drawing/2014/main" id="{3E928CB1-35A9-416D-1256-0E7A46C47713}"/>
              </a:ext>
            </a:extLst>
          </p:cNvPr>
          <p:cNvSpPr/>
          <p:nvPr/>
        </p:nvSpPr>
        <p:spPr>
          <a:xfrm>
            <a:off x="2452434" y="432626"/>
            <a:ext cx="114554" cy="251206"/>
          </a:xfrm>
          <a:custGeom>
            <a:avLst/>
            <a:gdLst/>
            <a:ahLst/>
            <a:cxnLst/>
            <a:rect l="0" t="0" r="r" b="b"/>
            <a:pathLst>
              <a:path w="114554" h="251206">
                <a:moveTo>
                  <a:pt x="0" y="251206"/>
                </a:moveTo>
                <a:lnTo>
                  <a:pt x="0" y="13018"/>
                </a:lnTo>
                <a:cubicBezTo>
                  <a:pt x="0" y="5842"/>
                  <a:pt x="5842" y="0"/>
                  <a:pt x="13018" y="0"/>
                </a:cubicBezTo>
                <a:lnTo>
                  <a:pt x="101537" y="0"/>
                </a:lnTo>
                <a:cubicBezTo>
                  <a:pt x="108712" y="0"/>
                  <a:pt x="114554" y="5842"/>
                  <a:pt x="114554" y="13018"/>
                </a:cubicBezTo>
                <a:lnTo>
                  <a:pt x="114554" y="251206"/>
                </a:lnTo>
                <a:close/>
              </a:path>
            </a:pathLst>
          </a:custGeom>
          <a:gradFill rotWithShape="1">
            <a:gsLst>
              <a:gs pos="0">
                <a:srgbClr val="4168A8"/>
              </a:gs>
              <a:gs pos="100000">
                <a:srgbClr val="0B3E8F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6" name="m-d01_bar_line-val-1">
            <a:extLst>
              <a:ext uri="{FF2B5EF4-FFF2-40B4-BE49-F238E27FC236}">
                <a16:creationId xmlns:a16="http://schemas.microsoft.com/office/drawing/2014/main" id="{5EBDC062-83E7-9AF7-299D-3BCAE3B57FFE}"/>
              </a:ext>
            </a:extLst>
          </p:cNvPr>
          <p:cNvSpPr txBox="1"/>
          <p:nvPr/>
        </p:nvSpPr>
        <p:spPr>
          <a:xfrm>
            <a:off x="2475160" y="377029"/>
            <a:ext cx="69123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128</a:t>
            </a:r>
          </a:p>
        </p:txBody>
      </p:sp>
      <p:sp>
        <p:nvSpPr>
          <p:cNvPr id="147" name="m-d01_bar_line-x-1">
            <a:extLst>
              <a:ext uri="{FF2B5EF4-FFF2-40B4-BE49-F238E27FC236}">
                <a16:creationId xmlns:a16="http://schemas.microsoft.com/office/drawing/2014/main" id="{580F6638-20B7-C1EF-D42A-CE0BD6300914}"/>
              </a:ext>
            </a:extLst>
          </p:cNvPr>
          <p:cNvSpPr txBox="1"/>
          <p:nvPr/>
        </p:nvSpPr>
        <p:spPr>
          <a:xfrm>
            <a:off x="2481050" y="705164"/>
            <a:ext cx="5734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1月</a:t>
            </a:r>
          </a:p>
        </p:txBody>
      </p:sp>
      <p:sp>
        <p:nvSpPr>
          <p:cNvPr id="148" name="m-d01_bar_line-bar-2">
            <a:extLst>
              <a:ext uri="{FF2B5EF4-FFF2-40B4-BE49-F238E27FC236}">
                <a16:creationId xmlns:a16="http://schemas.microsoft.com/office/drawing/2014/main" id="{4D2CAFE5-9CB6-B893-2254-267DB4FCE422}"/>
              </a:ext>
            </a:extLst>
          </p:cNvPr>
          <p:cNvSpPr/>
          <p:nvPr/>
        </p:nvSpPr>
        <p:spPr>
          <a:xfrm>
            <a:off x="2691130" y="377634"/>
            <a:ext cx="114490" cy="306197"/>
          </a:xfrm>
          <a:custGeom>
            <a:avLst/>
            <a:gdLst/>
            <a:ahLst/>
            <a:cxnLst/>
            <a:rect l="0" t="0" r="r" b="b"/>
            <a:pathLst>
              <a:path w="114490" h="306197">
                <a:moveTo>
                  <a:pt x="0" y="306197"/>
                </a:moveTo>
                <a:lnTo>
                  <a:pt x="0" y="13018"/>
                </a:lnTo>
                <a:cubicBezTo>
                  <a:pt x="0" y="5842"/>
                  <a:pt x="5778" y="0"/>
                  <a:pt x="13018" y="0"/>
                </a:cubicBezTo>
                <a:lnTo>
                  <a:pt x="101473" y="0"/>
                </a:lnTo>
                <a:cubicBezTo>
                  <a:pt x="108712" y="0"/>
                  <a:pt x="114490" y="5842"/>
                  <a:pt x="114490" y="13018"/>
                </a:cubicBezTo>
                <a:lnTo>
                  <a:pt x="114490" y="306197"/>
                </a:lnTo>
                <a:close/>
              </a:path>
            </a:pathLst>
          </a:custGeom>
          <a:gradFill rotWithShape="1">
            <a:gsLst>
              <a:gs pos="0">
                <a:srgbClr val="4773B2"/>
              </a:gs>
              <a:gs pos="100000">
                <a:srgbClr val="134C9C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9" name="m-d01_bar_line-val-2">
            <a:extLst>
              <a:ext uri="{FF2B5EF4-FFF2-40B4-BE49-F238E27FC236}">
                <a16:creationId xmlns:a16="http://schemas.microsoft.com/office/drawing/2014/main" id="{B4306998-2990-5D94-E163-5C54951C0442}"/>
              </a:ext>
            </a:extLst>
          </p:cNvPr>
          <p:cNvSpPr txBox="1"/>
          <p:nvPr/>
        </p:nvSpPr>
        <p:spPr>
          <a:xfrm>
            <a:off x="2713814" y="322075"/>
            <a:ext cx="69123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156</a:t>
            </a:r>
          </a:p>
        </p:txBody>
      </p:sp>
      <p:sp>
        <p:nvSpPr>
          <p:cNvPr id="150" name="m-d01_bar_line-x-2">
            <a:extLst>
              <a:ext uri="{FF2B5EF4-FFF2-40B4-BE49-F238E27FC236}">
                <a16:creationId xmlns:a16="http://schemas.microsoft.com/office/drawing/2014/main" id="{F1D8C326-B682-50CF-57F6-1615CAB0189C}"/>
              </a:ext>
            </a:extLst>
          </p:cNvPr>
          <p:cNvSpPr txBox="1"/>
          <p:nvPr/>
        </p:nvSpPr>
        <p:spPr>
          <a:xfrm>
            <a:off x="2719704" y="705164"/>
            <a:ext cx="5734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2月</a:t>
            </a:r>
          </a:p>
        </p:txBody>
      </p:sp>
      <p:sp>
        <p:nvSpPr>
          <p:cNvPr id="151" name="m-d01_bar_line-bar-3">
            <a:extLst>
              <a:ext uri="{FF2B5EF4-FFF2-40B4-BE49-F238E27FC236}">
                <a16:creationId xmlns:a16="http://schemas.microsoft.com/office/drawing/2014/main" id="{302EC020-A370-AD13-B95F-2D3C3F1DF901}"/>
              </a:ext>
            </a:extLst>
          </p:cNvPr>
          <p:cNvSpPr/>
          <p:nvPr/>
        </p:nvSpPr>
        <p:spPr>
          <a:xfrm>
            <a:off x="2929763" y="391414"/>
            <a:ext cx="114554" cy="292418"/>
          </a:xfrm>
          <a:custGeom>
            <a:avLst/>
            <a:gdLst/>
            <a:ahLst/>
            <a:cxnLst/>
            <a:rect l="0" t="0" r="r" b="b"/>
            <a:pathLst>
              <a:path w="114554" h="292418">
                <a:moveTo>
                  <a:pt x="0" y="292418"/>
                </a:moveTo>
                <a:lnTo>
                  <a:pt x="0" y="13017"/>
                </a:lnTo>
                <a:cubicBezTo>
                  <a:pt x="0" y="5842"/>
                  <a:pt x="5842" y="0"/>
                  <a:pt x="13018" y="0"/>
                </a:cubicBezTo>
                <a:lnTo>
                  <a:pt x="101537" y="0"/>
                </a:lnTo>
                <a:cubicBezTo>
                  <a:pt x="108712" y="0"/>
                  <a:pt x="114554" y="5842"/>
                  <a:pt x="114554" y="13017"/>
                </a:cubicBezTo>
                <a:lnTo>
                  <a:pt x="114554" y="292418"/>
                </a:lnTo>
                <a:close/>
              </a:path>
            </a:pathLst>
          </a:custGeom>
          <a:gradFill rotWithShape="1">
            <a:gsLst>
              <a:gs pos="0">
                <a:srgbClr val="5489C6"/>
              </a:gs>
              <a:gs pos="100000">
                <a:srgbClr val="2468B6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2" name="m-d01_bar_line-val-3">
            <a:extLst>
              <a:ext uri="{FF2B5EF4-FFF2-40B4-BE49-F238E27FC236}">
                <a16:creationId xmlns:a16="http://schemas.microsoft.com/office/drawing/2014/main" id="{C0206136-B178-8CE9-EEAD-AE9CA3848D47}"/>
              </a:ext>
            </a:extLst>
          </p:cNvPr>
          <p:cNvSpPr txBox="1"/>
          <p:nvPr/>
        </p:nvSpPr>
        <p:spPr>
          <a:xfrm>
            <a:off x="2952468" y="335814"/>
            <a:ext cx="69123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149</a:t>
            </a:r>
          </a:p>
        </p:txBody>
      </p:sp>
      <p:sp>
        <p:nvSpPr>
          <p:cNvPr id="153" name="m-d01_bar_line-x-3">
            <a:extLst>
              <a:ext uri="{FF2B5EF4-FFF2-40B4-BE49-F238E27FC236}">
                <a16:creationId xmlns:a16="http://schemas.microsoft.com/office/drawing/2014/main" id="{1ECCFE02-B949-C194-DF4C-8D8816E745E1}"/>
              </a:ext>
            </a:extLst>
          </p:cNvPr>
          <p:cNvSpPr txBox="1"/>
          <p:nvPr/>
        </p:nvSpPr>
        <p:spPr>
          <a:xfrm>
            <a:off x="2958358" y="705164"/>
            <a:ext cx="5734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3月</a:t>
            </a:r>
          </a:p>
        </p:txBody>
      </p:sp>
      <p:sp>
        <p:nvSpPr>
          <p:cNvPr id="154" name="m-d01_bar_line-bar-4">
            <a:extLst>
              <a:ext uri="{FF2B5EF4-FFF2-40B4-BE49-F238E27FC236}">
                <a16:creationId xmlns:a16="http://schemas.microsoft.com/office/drawing/2014/main" id="{0B3FC715-516E-C6EF-4A53-0EAA92757916}"/>
              </a:ext>
            </a:extLst>
          </p:cNvPr>
          <p:cNvSpPr/>
          <p:nvPr/>
        </p:nvSpPr>
        <p:spPr>
          <a:xfrm>
            <a:off x="3168396" y="316802"/>
            <a:ext cx="114554" cy="367030"/>
          </a:xfrm>
          <a:custGeom>
            <a:avLst/>
            <a:gdLst/>
            <a:ahLst/>
            <a:cxnLst/>
            <a:rect l="0" t="0" r="r" b="b"/>
            <a:pathLst>
              <a:path w="114554" h="367030">
                <a:moveTo>
                  <a:pt x="0" y="367030"/>
                </a:moveTo>
                <a:lnTo>
                  <a:pt x="0" y="13017"/>
                </a:lnTo>
                <a:cubicBezTo>
                  <a:pt x="0" y="5842"/>
                  <a:pt x="5842" y="0"/>
                  <a:pt x="13018" y="0"/>
                </a:cubicBezTo>
                <a:lnTo>
                  <a:pt x="101537" y="0"/>
                </a:lnTo>
                <a:cubicBezTo>
                  <a:pt x="108712" y="0"/>
                  <a:pt x="114554" y="5842"/>
                  <a:pt x="114554" y="13017"/>
                </a:cubicBezTo>
                <a:lnTo>
                  <a:pt x="114554" y="367030"/>
                </a:lnTo>
                <a:close/>
              </a:path>
            </a:pathLst>
          </a:custGeom>
          <a:gradFill rotWithShape="1">
            <a:gsLst>
              <a:gs pos="0">
                <a:srgbClr val="5C95CF"/>
              </a:gs>
              <a:gs pos="100000">
                <a:srgbClr val="2E77C2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5" name="m-d01_bar_line-val-4">
            <a:extLst>
              <a:ext uri="{FF2B5EF4-FFF2-40B4-BE49-F238E27FC236}">
                <a16:creationId xmlns:a16="http://schemas.microsoft.com/office/drawing/2014/main" id="{DF4F2F33-6F94-7655-4E3A-456804B72102}"/>
              </a:ext>
            </a:extLst>
          </p:cNvPr>
          <p:cNvSpPr txBox="1"/>
          <p:nvPr/>
        </p:nvSpPr>
        <p:spPr>
          <a:xfrm>
            <a:off x="3191122" y="261233"/>
            <a:ext cx="69123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187</a:t>
            </a:r>
          </a:p>
        </p:txBody>
      </p:sp>
      <p:sp>
        <p:nvSpPr>
          <p:cNvPr id="156" name="m-d01_bar_line-x-4">
            <a:extLst>
              <a:ext uri="{FF2B5EF4-FFF2-40B4-BE49-F238E27FC236}">
                <a16:creationId xmlns:a16="http://schemas.microsoft.com/office/drawing/2014/main" id="{C01715EE-265A-4DFF-6674-8D01AD6893CC}"/>
              </a:ext>
            </a:extLst>
          </p:cNvPr>
          <p:cNvSpPr txBox="1"/>
          <p:nvPr/>
        </p:nvSpPr>
        <p:spPr>
          <a:xfrm>
            <a:off x="3197013" y="705164"/>
            <a:ext cx="5734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4月</a:t>
            </a:r>
          </a:p>
        </p:txBody>
      </p:sp>
      <p:sp>
        <p:nvSpPr>
          <p:cNvPr id="157" name="m-d01_bar_line-bar-5">
            <a:extLst>
              <a:ext uri="{FF2B5EF4-FFF2-40B4-BE49-F238E27FC236}">
                <a16:creationId xmlns:a16="http://schemas.microsoft.com/office/drawing/2014/main" id="{A01DFD48-5EC4-C42F-E021-2C549BA4C1F8}"/>
              </a:ext>
            </a:extLst>
          </p:cNvPr>
          <p:cNvSpPr/>
          <p:nvPr/>
        </p:nvSpPr>
        <p:spPr>
          <a:xfrm>
            <a:off x="3407029" y="285432"/>
            <a:ext cx="114618" cy="398399"/>
          </a:xfrm>
          <a:custGeom>
            <a:avLst/>
            <a:gdLst/>
            <a:ahLst/>
            <a:cxnLst/>
            <a:rect l="0" t="0" r="r" b="b"/>
            <a:pathLst>
              <a:path w="114618" h="398399">
                <a:moveTo>
                  <a:pt x="0" y="398399"/>
                </a:moveTo>
                <a:lnTo>
                  <a:pt x="0" y="13017"/>
                </a:lnTo>
                <a:cubicBezTo>
                  <a:pt x="0" y="5842"/>
                  <a:pt x="5842" y="0"/>
                  <a:pt x="13081" y="0"/>
                </a:cubicBezTo>
                <a:lnTo>
                  <a:pt x="101537" y="0"/>
                </a:lnTo>
                <a:cubicBezTo>
                  <a:pt x="108775" y="0"/>
                  <a:pt x="114618" y="5842"/>
                  <a:pt x="114618" y="13017"/>
                </a:cubicBezTo>
                <a:lnTo>
                  <a:pt x="114618" y="398399"/>
                </a:lnTo>
                <a:close/>
              </a:path>
            </a:pathLst>
          </a:custGeom>
          <a:gradFill rotWithShape="1">
            <a:gsLst>
              <a:gs pos="0">
                <a:srgbClr val="6FACE0"/>
              </a:gs>
              <a:gs pos="100000">
                <a:srgbClr val="4694D7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" name="m-d01_bar_line-val-5">
            <a:extLst>
              <a:ext uri="{FF2B5EF4-FFF2-40B4-BE49-F238E27FC236}">
                <a16:creationId xmlns:a16="http://schemas.microsoft.com/office/drawing/2014/main" id="{87730000-3FC7-090B-1565-08BCEDEE94ED}"/>
              </a:ext>
            </a:extLst>
          </p:cNvPr>
          <p:cNvSpPr txBox="1"/>
          <p:nvPr/>
        </p:nvSpPr>
        <p:spPr>
          <a:xfrm>
            <a:off x="3429776" y="229831"/>
            <a:ext cx="69123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203</a:t>
            </a:r>
          </a:p>
        </p:txBody>
      </p:sp>
      <p:sp>
        <p:nvSpPr>
          <p:cNvPr id="159" name="m-d01_bar_line-x-5">
            <a:extLst>
              <a:ext uri="{FF2B5EF4-FFF2-40B4-BE49-F238E27FC236}">
                <a16:creationId xmlns:a16="http://schemas.microsoft.com/office/drawing/2014/main" id="{87EA587F-624C-ABBE-CB81-DB62D75262A6}"/>
              </a:ext>
            </a:extLst>
          </p:cNvPr>
          <p:cNvSpPr txBox="1"/>
          <p:nvPr/>
        </p:nvSpPr>
        <p:spPr>
          <a:xfrm>
            <a:off x="3435667" y="705164"/>
            <a:ext cx="5734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5月</a:t>
            </a:r>
          </a:p>
        </p:txBody>
      </p:sp>
      <p:sp>
        <p:nvSpPr>
          <p:cNvPr id="160" name="m-d01_bar_line-bar-6">
            <a:extLst>
              <a:ext uri="{FF2B5EF4-FFF2-40B4-BE49-F238E27FC236}">
                <a16:creationId xmlns:a16="http://schemas.microsoft.com/office/drawing/2014/main" id="{B0B1DD5D-6EE5-5D7F-2415-152E41E8615F}"/>
              </a:ext>
            </a:extLst>
          </p:cNvPr>
          <p:cNvSpPr/>
          <p:nvPr/>
        </p:nvSpPr>
        <p:spPr>
          <a:xfrm>
            <a:off x="3645726" y="220662"/>
            <a:ext cx="114554" cy="463169"/>
          </a:xfrm>
          <a:custGeom>
            <a:avLst/>
            <a:gdLst/>
            <a:ahLst/>
            <a:cxnLst/>
            <a:rect l="0" t="0" r="r" b="b"/>
            <a:pathLst>
              <a:path w="114554" h="463169">
                <a:moveTo>
                  <a:pt x="0" y="463169"/>
                </a:moveTo>
                <a:lnTo>
                  <a:pt x="0" y="13017"/>
                </a:lnTo>
                <a:cubicBezTo>
                  <a:pt x="0" y="5842"/>
                  <a:pt x="5842" y="0"/>
                  <a:pt x="13017" y="0"/>
                </a:cubicBezTo>
                <a:lnTo>
                  <a:pt x="101537" y="0"/>
                </a:lnTo>
                <a:cubicBezTo>
                  <a:pt x="108712" y="0"/>
                  <a:pt x="114554" y="5842"/>
                  <a:pt x="114554" y="13017"/>
                </a:cubicBezTo>
                <a:lnTo>
                  <a:pt x="114554" y="463169"/>
                </a:lnTo>
                <a:close/>
              </a:path>
            </a:pathLst>
          </a:custGeom>
          <a:gradFill rotWithShape="1">
            <a:gsLst>
              <a:gs pos="0">
                <a:srgbClr val="7AB6E6"/>
              </a:gs>
              <a:gs pos="100000">
                <a:srgbClr val="54A2DF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1" name="m-d01_bar_line-val-6">
            <a:extLst>
              <a:ext uri="{FF2B5EF4-FFF2-40B4-BE49-F238E27FC236}">
                <a16:creationId xmlns:a16="http://schemas.microsoft.com/office/drawing/2014/main" id="{8C695A5E-8921-57EC-5F14-E69D44AA9439}"/>
              </a:ext>
            </a:extLst>
          </p:cNvPr>
          <p:cNvSpPr txBox="1"/>
          <p:nvPr/>
        </p:nvSpPr>
        <p:spPr>
          <a:xfrm>
            <a:off x="3668430" y="165064"/>
            <a:ext cx="69123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236</a:t>
            </a:r>
          </a:p>
        </p:txBody>
      </p:sp>
      <p:sp>
        <p:nvSpPr>
          <p:cNvPr id="162" name="m-d01_bar_line-x-6">
            <a:extLst>
              <a:ext uri="{FF2B5EF4-FFF2-40B4-BE49-F238E27FC236}">
                <a16:creationId xmlns:a16="http://schemas.microsoft.com/office/drawing/2014/main" id="{4FCCA58F-07B0-9080-6809-098AA29FC786}"/>
              </a:ext>
            </a:extLst>
          </p:cNvPr>
          <p:cNvSpPr txBox="1"/>
          <p:nvPr/>
        </p:nvSpPr>
        <p:spPr>
          <a:xfrm>
            <a:off x="3674321" y="705164"/>
            <a:ext cx="5734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6月</a:t>
            </a:r>
          </a:p>
        </p:txBody>
      </p:sp>
      <p:sp>
        <p:nvSpPr>
          <p:cNvPr id="163" name="m-d01_bar_line-line-growth">
            <a:extLst>
              <a:ext uri="{FF2B5EF4-FFF2-40B4-BE49-F238E27FC236}">
                <a16:creationId xmlns:a16="http://schemas.microsoft.com/office/drawing/2014/main" id="{3CADB6B4-A4B1-FE6E-4133-99F064C6435D}"/>
              </a:ext>
            </a:extLst>
          </p:cNvPr>
          <p:cNvSpPr/>
          <p:nvPr/>
        </p:nvSpPr>
        <p:spPr>
          <a:xfrm>
            <a:off x="2509710" y="46801"/>
            <a:ext cx="1193292" cy="98614"/>
          </a:xfrm>
          <a:custGeom>
            <a:avLst/>
            <a:gdLst/>
            <a:ahLst/>
            <a:cxnLst/>
            <a:rect l="0" t="0" r="r" b="b"/>
            <a:pathLst>
              <a:path w="1193292" h="98614">
                <a:moveTo>
                  <a:pt x="0" y="44449"/>
                </a:moveTo>
                <a:cubicBezTo>
                  <a:pt x="33401" y="39750"/>
                  <a:pt x="171831" y="3047"/>
                  <a:pt x="238633" y="10603"/>
                </a:cubicBezTo>
                <a:cubicBezTo>
                  <a:pt x="305498" y="18223"/>
                  <a:pt x="410527" y="100075"/>
                  <a:pt x="477329" y="98614"/>
                </a:cubicBezTo>
                <a:cubicBezTo>
                  <a:pt x="544132" y="97217"/>
                  <a:pt x="649160" y="6603"/>
                  <a:pt x="715962" y="443"/>
                </a:cubicBezTo>
                <a:cubicBezTo>
                  <a:pt x="782764" y="-5653"/>
                  <a:pt x="887793" y="50354"/>
                  <a:pt x="954659" y="54609"/>
                </a:cubicBezTo>
                <a:cubicBezTo>
                  <a:pt x="1021461" y="58927"/>
                  <a:pt x="1159891" y="34225"/>
                  <a:pt x="1193292" y="30923"/>
                </a:cubicBezTo>
              </a:path>
            </a:pathLst>
          </a:custGeom>
          <a:noFill/>
          <a:ln w="3124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4" name="m-d01_bar_line-lp-1">
            <a:extLst>
              <a:ext uri="{FF2B5EF4-FFF2-40B4-BE49-F238E27FC236}">
                <a16:creationId xmlns:a16="http://schemas.microsoft.com/office/drawing/2014/main" id="{29ECBD55-CC6B-6ECB-585D-A9D8B7D69DDC}"/>
              </a:ext>
            </a:extLst>
          </p:cNvPr>
          <p:cNvSpPr/>
          <p:nvPr/>
        </p:nvSpPr>
        <p:spPr>
          <a:xfrm>
            <a:off x="2501260" y="82814"/>
            <a:ext cx="16923" cy="16923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5" name="m-d01_bar_line-lv-1">
            <a:extLst>
              <a:ext uri="{FF2B5EF4-FFF2-40B4-BE49-F238E27FC236}">
                <a16:creationId xmlns:a16="http://schemas.microsoft.com/office/drawing/2014/main" id="{8915861B-B3DA-8637-C9DC-291FC7FA2516}"/>
              </a:ext>
            </a:extLst>
          </p:cNvPr>
          <p:cNvSpPr txBox="1"/>
          <p:nvPr/>
        </p:nvSpPr>
        <p:spPr>
          <a:xfrm>
            <a:off x="2478023" y="41125"/>
            <a:ext cx="63395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4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+12%</a:t>
            </a:r>
          </a:p>
        </p:txBody>
      </p:sp>
      <p:sp>
        <p:nvSpPr>
          <p:cNvPr id="166" name="m-d01_bar_line-lp-2">
            <a:extLst>
              <a:ext uri="{FF2B5EF4-FFF2-40B4-BE49-F238E27FC236}">
                <a16:creationId xmlns:a16="http://schemas.microsoft.com/office/drawing/2014/main" id="{1B57C2C0-6AC3-2A96-022D-1794E013C2BB}"/>
              </a:ext>
            </a:extLst>
          </p:cNvPr>
          <p:cNvSpPr/>
          <p:nvPr/>
        </p:nvSpPr>
        <p:spPr>
          <a:xfrm>
            <a:off x="2739914" y="48968"/>
            <a:ext cx="16923" cy="16923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7" name="m-d01_bar_line-lv-2">
            <a:extLst>
              <a:ext uri="{FF2B5EF4-FFF2-40B4-BE49-F238E27FC236}">
                <a16:creationId xmlns:a16="http://schemas.microsoft.com/office/drawing/2014/main" id="{929E4351-1777-C9A5-2986-2DB25514003A}"/>
              </a:ext>
            </a:extLst>
          </p:cNvPr>
          <p:cNvSpPr txBox="1"/>
          <p:nvPr/>
        </p:nvSpPr>
        <p:spPr>
          <a:xfrm>
            <a:off x="2716678" y="7279"/>
            <a:ext cx="63395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4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+22%</a:t>
            </a:r>
          </a:p>
        </p:txBody>
      </p:sp>
      <p:sp>
        <p:nvSpPr>
          <p:cNvPr id="168" name="m-d01_bar_line-lp-3">
            <a:extLst>
              <a:ext uri="{FF2B5EF4-FFF2-40B4-BE49-F238E27FC236}">
                <a16:creationId xmlns:a16="http://schemas.microsoft.com/office/drawing/2014/main" id="{14E2A82C-48A0-32AB-97F9-73FAD703D038}"/>
              </a:ext>
            </a:extLst>
          </p:cNvPr>
          <p:cNvSpPr/>
          <p:nvPr/>
        </p:nvSpPr>
        <p:spPr>
          <a:xfrm>
            <a:off x="2978568" y="136966"/>
            <a:ext cx="16923" cy="16923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9" name="m-d01_bar_line-lv-3">
            <a:extLst>
              <a:ext uri="{FF2B5EF4-FFF2-40B4-BE49-F238E27FC236}">
                <a16:creationId xmlns:a16="http://schemas.microsoft.com/office/drawing/2014/main" id="{BA812FAD-8561-55DC-4CE5-5FEFD707A960}"/>
              </a:ext>
            </a:extLst>
          </p:cNvPr>
          <p:cNvSpPr txBox="1"/>
          <p:nvPr/>
        </p:nvSpPr>
        <p:spPr>
          <a:xfrm>
            <a:off x="2961060" y="95278"/>
            <a:ext cx="51940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4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-4%</a:t>
            </a:r>
          </a:p>
        </p:txBody>
      </p:sp>
      <p:sp>
        <p:nvSpPr>
          <p:cNvPr id="170" name="m-d01_bar_line-lp-4">
            <a:extLst>
              <a:ext uri="{FF2B5EF4-FFF2-40B4-BE49-F238E27FC236}">
                <a16:creationId xmlns:a16="http://schemas.microsoft.com/office/drawing/2014/main" id="{A3221047-754F-F73C-B140-952E6655BB59}"/>
              </a:ext>
            </a:extLst>
          </p:cNvPr>
          <p:cNvSpPr/>
          <p:nvPr/>
        </p:nvSpPr>
        <p:spPr>
          <a:xfrm>
            <a:off x="3217222" y="38814"/>
            <a:ext cx="16923" cy="16923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1" name="m-d01_bar_line-lv-4">
            <a:extLst>
              <a:ext uri="{FF2B5EF4-FFF2-40B4-BE49-F238E27FC236}">
                <a16:creationId xmlns:a16="http://schemas.microsoft.com/office/drawing/2014/main" id="{03735CF4-3D12-DE16-4EF3-509709431F32}"/>
              </a:ext>
            </a:extLst>
          </p:cNvPr>
          <p:cNvSpPr txBox="1"/>
          <p:nvPr/>
        </p:nvSpPr>
        <p:spPr>
          <a:xfrm>
            <a:off x="3193986" y="-2874"/>
            <a:ext cx="63395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4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+25%</a:t>
            </a:r>
          </a:p>
        </p:txBody>
      </p:sp>
      <p:sp>
        <p:nvSpPr>
          <p:cNvPr id="172" name="m-d01_bar_line-lp-5">
            <a:extLst>
              <a:ext uri="{FF2B5EF4-FFF2-40B4-BE49-F238E27FC236}">
                <a16:creationId xmlns:a16="http://schemas.microsoft.com/office/drawing/2014/main" id="{C173E78F-BC95-AB4D-E53D-E83AC3AB4F17}"/>
              </a:ext>
            </a:extLst>
          </p:cNvPr>
          <p:cNvSpPr/>
          <p:nvPr/>
        </p:nvSpPr>
        <p:spPr>
          <a:xfrm>
            <a:off x="3455876" y="92967"/>
            <a:ext cx="16923" cy="16923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3" name="m-d01_bar_line-lv-5">
            <a:extLst>
              <a:ext uri="{FF2B5EF4-FFF2-40B4-BE49-F238E27FC236}">
                <a16:creationId xmlns:a16="http://schemas.microsoft.com/office/drawing/2014/main" id="{D841DD81-C0A3-71C7-C242-3F2856AFA22B}"/>
              </a:ext>
            </a:extLst>
          </p:cNvPr>
          <p:cNvSpPr txBox="1"/>
          <p:nvPr/>
        </p:nvSpPr>
        <p:spPr>
          <a:xfrm>
            <a:off x="3438368" y="51279"/>
            <a:ext cx="51940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4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+9%</a:t>
            </a:r>
          </a:p>
        </p:txBody>
      </p:sp>
      <p:sp>
        <p:nvSpPr>
          <p:cNvPr id="174" name="m-d01_bar_line-lp-6">
            <a:extLst>
              <a:ext uri="{FF2B5EF4-FFF2-40B4-BE49-F238E27FC236}">
                <a16:creationId xmlns:a16="http://schemas.microsoft.com/office/drawing/2014/main" id="{2C99B3AA-4588-8CC1-6992-83A3E9A3D249}"/>
              </a:ext>
            </a:extLst>
          </p:cNvPr>
          <p:cNvSpPr/>
          <p:nvPr/>
        </p:nvSpPr>
        <p:spPr>
          <a:xfrm>
            <a:off x="3694531" y="69275"/>
            <a:ext cx="16923" cy="16923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5" name="m-d01_bar_line-lv-6">
            <a:extLst>
              <a:ext uri="{FF2B5EF4-FFF2-40B4-BE49-F238E27FC236}">
                <a16:creationId xmlns:a16="http://schemas.microsoft.com/office/drawing/2014/main" id="{FB5B4538-7467-AD5B-D26C-17DAB2334D75}"/>
              </a:ext>
            </a:extLst>
          </p:cNvPr>
          <p:cNvSpPr txBox="1"/>
          <p:nvPr/>
        </p:nvSpPr>
        <p:spPr>
          <a:xfrm>
            <a:off x="3671294" y="27587"/>
            <a:ext cx="63395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4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+16%</a:t>
            </a:r>
          </a:p>
        </p:txBody>
      </p:sp>
      <p:sp>
        <p:nvSpPr>
          <p:cNvPr id="176" name="m-d01_bar_line-legend">
            <a:extLst>
              <a:ext uri="{FF2B5EF4-FFF2-40B4-BE49-F238E27FC236}">
                <a16:creationId xmlns:a16="http://schemas.microsoft.com/office/drawing/2014/main" id="{9EB9A7C6-9F95-F80F-D74D-CD10C9D3FA6B}"/>
              </a:ext>
            </a:extLst>
          </p:cNvPr>
          <p:cNvSpPr/>
          <p:nvPr/>
        </p:nvSpPr>
        <p:spPr>
          <a:xfrm>
            <a:off x="3437001" y="-92012"/>
            <a:ext cx="385318" cy="57277"/>
          </a:xfrm>
          <a:custGeom>
            <a:avLst/>
            <a:gdLst/>
            <a:ahLst/>
            <a:cxnLst/>
            <a:rect l="0" t="0" r="r" b="b"/>
            <a:pathLst>
              <a:path w="385318" h="57277">
                <a:moveTo>
                  <a:pt x="28638" y="0"/>
                </a:moveTo>
                <a:lnTo>
                  <a:pt x="356679" y="0"/>
                </a:lnTo>
                <a:cubicBezTo>
                  <a:pt x="372491" y="0"/>
                  <a:pt x="385318" y="12827"/>
                  <a:pt x="385318" y="28638"/>
                </a:cubicBezTo>
                <a:lnTo>
                  <a:pt x="385318" y="28638"/>
                </a:lnTo>
                <a:cubicBezTo>
                  <a:pt x="385318" y="44450"/>
                  <a:pt x="372491" y="57277"/>
                  <a:pt x="356679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7" name="m-d01_bar_line-lg-1">
            <a:extLst>
              <a:ext uri="{FF2B5EF4-FFF2-40B4-BE49-F238E27FC236}">
                <a16:creationId xmlns:a16="http://schemas.microsoft.com/office/drawing/2014/main" id="{86C89836-CE30-C03C-D7EB-16D7FB70DE1A}"/>
              </a:ext>
            </a:extLst>
          </p:cNvPr>
          <p:cNvSpPr/>
          <p:nvPr/>
        </p:nvSpPr>
        <p:spPr>
          <a:xfrm>
            <a:off x="3470846" y="-73787"/>
            <a:ext cx="22162" cy="22098"/>
          </a:xfrm>
          <a:custGeom>
            <a:avLst/>
            <a:gdLst/>
            <a:ahLst/>
            <a:cxnLst/>
            <a:rect l="0" t="0" r="r" b="b"/>
            <a:pathLst>
              <a:path w="22162" h="22098">
                <a:moveTo>
                  <a:pt x="5207" y="0"/>
                </a:moveTo>
                <a:lnTo>
                  <a:pt x="16891" y="0"/>
                </a:lnTo>
                <a:cubicBezTo>
                  <a:pt x="19812" y="0"/>
                  <a:pt x="22162" y="2349"/>
                  <a:pt x="22162" y="5207"/>
                </a:cubicBezTo>
                <a:lnTo>
                  <a:pt x="22162" y="16891"/>
                </a:lnTo>
                <a:cubicBezTo>
                  <a:pt x="22162" y="19812"/>
                  <a:pt x="19812" y="22098"/>
                  <a:pt x="16891" y="22098"/>
                </a:cubicBezTo>
                <a:lnTo>
                  <a:pt x="5207" y="22098"/>
                </a:lnTo>
                <a:cubicBezTo>
                  <a:pt x="2350" y="22098"/>
                  <a:pt x="0" y="19812"/>
                  <a:pt x="0" y="16891"/>
                </a:cubicBezTo>
                <a:lnTo>
                  <a:pt x="0" y="5207"/>
                </a:lnTo>
                <a:cubicBezTo>
                  <a:pt x="0" y="2349"/>
                  <a:pt x="2350" y="0"/>
                  <a:pt x="5207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8" name="m-d01_bar_line-lg-t1">
            <a:extLst>
              <a:ext uri="{FF2B5EF4-FFF2-40B4-BE49-F238E27FC236}">
                <a16:creationId xmlns:a16="http://schemas.microsoft.com/office/drawing/2014/main" id="{52B8F069-1127-A35E-9D3D-7C5026990C98}"/>
              </a:ext>
            </a:extLst>
          </p:cNvPr>
          <p:cNvSpPr txBox="1"/>
          <p:nvPr/>
        </p:nvSpPr>
        <p:spPr>
          <a:xfrm>
            <a:off x="3502115" y="-80787"/>
            <a:ext cx="105246" cy="37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营业收入</a:t>
            </a:r>
          </a:p>
        </p:txBody>
      </p:sp>
      <p:cxnSp>
        <p:nvCxnSpPr>
          <p:cNvPr id="179" name="m-d01_bar_line-lg-2">
            <a:extLst>
              <a:ext uri="{FF2B5EF4-FFF2-40B4-BE49-F238E27FC236}">
                <a16:creationId xmlns:a16="http://schemas.microsoft.com/office/drawing/2014/main" id="{8479EBD8-9618-222E-1C85-15305E9966F0}"/>
              </a:ext>
            </a:extLst>
          </p:cNvPr>
          <p:cNvCxnSpPr/>
          <p:nvPr/>
        </p:nvCxnSpPr>
        <p:spPr>
          <a:xfrm>
            <a:off x="3640074" y="-63373"/>
            <a:ext cx="33845" cy="0"/>
          </a:xfrm>
          <a:prstGeom prst="line">
            <a:avLst/>
          </a:prstGeom>
          <a:ln w="3124" cap="rnd">
            <a:solidFill>
              <a:srgbClr val="E0703A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0" name="m-d01_bar_line-lg-2d">
            <a:extLst>
              <a:ext uri="{FF2B5EF4-FFF2-40B4-BE49-F238E27FC236}">
                <a16:creationId xmlns:a16="http://schemas.microsoft.com/office/drawing/2014/main" id="{224EF9E7-A716-57D3-9121-D0CD685DF9FB}"/>
              </a:ext>
            </a:extLst>
          </p:cNvPr>
          <p:cNvSpPr/>
          <p:nvPr/>
        </p:nvSpPr>
        <p:spPr>
          <a:xfrm>
            <a:off x="3649837" y="-70533"/>
            <a:ext cx="14319" cy="14319"/>
          </a:xfrm>
          <a:prstGeom prst="ellipse">
            <a:avLst/>
          </a:prstGeom>
          <a:solidFill>
            <a:srgbClr val="FFFFFF"/>
          </a:solidFill>
          <a:ln w="2604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1" name="m-d01_bar_line-lg-t2">
            <a:extLst>
              <a:ext uri="{FF2B5EF4-FFF2-40B4-BE49-F238E27FC236}">
                <a16:creationId xmlns:a16="http://schemas.microsoft.com/office/drawing/2014/main" id="{1382F213-B5AD-9C99-4AFB-7202BBF252B0}"/>
              </a:ext>
            </a:extLst>
          </p:cNvPr>
          <p:cNvSpPr txBox="1"/>
          <p:nvPr/>
        </p:nvSpPr>
        <p:spPr>
          <a:xfrm>
            <a:off x="3684360" y="-80787"/>
            <a:ext cx="105246" cy="37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同比增长</a:t>
            </a:r>
          </a:p>
        </p:txBody>
      </p:sp>
      <p:sp>
        <p:nvSpPr>
          <p:cNvPr id="182" name="m-d01_bar_line-kpi-1">
            <a:extLst>
              <a:ext uri="{FF2B5EF4-FFF2-40B4-BE49-F238E27FC236}">
                <a16:creationId xmlns:a16="http://schemas.microsoft.com/office/drawing/2014/main" id="{FFFA5D92-9584-6D2B-FD6C-9C4AC354CEDE}"/>
              </a:ext>
            </a:extLst>
          </p:cNvPr>
          <p:cNvSpPr/>
          <p:nvPr/>
        </p:nvSpPr>
        <p:spPr>
          <a:xfrm>
            <a:off x="3926459" y="-86804"/>
            <a:ext cx="575374" cy="218694"/>
          </a:xfrm>
          <a:custGeom>
            <a:avLst/>
            <a:gdLst/>
            <a:ahLst/>
            <a:cxnLst/>
            <a:rect l="0" t="0" r="r" b="b"/>
            <a:pathLst>
              <a:path w="575374" h="218694">
                <a:moveTo>
                  <a:pt x="23431" y="0"/>
                </a:moveTo>
                <a:lnTo>
                  <a:pt x="551942" y="0"/>
                </a:lnTo>
                <a:cubicBezTo>
                  <a:pt x="564896" y="0"/>
                  <a:pt x="575374" y="10478"/>
                  <a:pt x="575374" y="23431"/>
                </a:cubicBezTo>
                <a:lnTo>
                  <a:pt x="575374" y="195262"/>
                </a:lnTo>
                <a:cubicBezTo>
                  <a:pt x="575374" y="208216"/>
                  <a:pt x="564896" y="218694"/>
                  <a:pt x="551942" y="218694"/>
                </a:cubicBezTo>
                <a:lnTo>
                  <a:pt x="23431" y="218694"/>
                </a:lnTo>
                <a:cubicBezTo>
                  <a:pt x="10477" y="218694"/>
                  <a:pt x="0" y="208216"/>
                  <a:pt x="0" y="195262"/>
                </a:cubicBezTo>
                <a:lnTo>
                  <a:pt x="0" y="23431"/>
                </a:lnTo>
                <a:cubicBezTo>
                  <a:pt x="0" y="10478"/>
                  <a:pt x="10477" y="0"/>
                  <a:pt x="2343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3" name="m-d01_bar_line-kpi-bar-1">
            <a:extLst>
              <a:ext uri="{FF2B5EF4-FFF2-40B4-BE49-F238E27FC236}">
                <a16:creationId xmlns:a16="http://schemas.microsoft.com/office/drawing/2014/main" id="{04937933-D0E7-F83E-2425-DD8A428DC951}"/>
              </a:ext>
            </a:extLst>
          </p:cNvPr>
          <p:cNvSpPr/>
          <p:nvPr/>
        </p:nvSpPr>
        <p:spPr>
          <a:xfrm>
            <a:off x="3926459" y="-86804"/>
            <a:ext cx="6540" cy="218694"/>
          </a:xfrm>
          <a:custGeom>
            <a:avLst/>
            <a:gdLst/>
            <a:ahLst/>
            <a:cxnLst/>
            <a:rect l="0" t="0" r="r" b="b"/>
            <a:pathLst>
              <a:path w="6540" h="218694">
                <a:moveTo>
                  <a:pt x="3238" y="0"/>
                </a:moveTo>
                <a:lnTo>
                  <a:pt x="3238" y="0"/>
                </a:lnTo>
                <a:cubicBezTo>
                  <a:pt x="5080" y="0"/>
                  <a:pt x="6540" y="1461"/>
                  <a:pt x="6540" y="3238"/>
                </a:cubicBezTo>
                <a:lnTo>
                  <a:pt x="6540" y="215456"/>
                </a:lnTo>
                <a:cubicBezTo>
                  <a:pt x="6540" y="217234"/>
                  <a:pt x="5080" y="218694"/>
                  <a:pt x="3238" y="218694"/>
                </a:cubicBezTo>
                <a:lnTo>
                  <a:pt x="3238" y="218694"/>
                </a:lnTo>
                <a:cubicBezTo>
                  <a:pt x="1461" y="218694"/>
                  <a:pt x="0" y="217234"/>
                  <a:pt x="0" y="215456"/>
                </a:cubicBezTo>
                <a:lnTo>
                  <a:pt x="0" y="3238"/>
                </a:lnTo>
                <a:cubicBezTo>
                  <a:pt x="0" y="1461"/>
                  <a:pt x="1461" y="0"/>
                  <a:pt x="3238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4" name="m-d01_bar_line-icon-coin">
            <a:extLst>
              <a:ext uri="{FF2B5EF4-FFF2-40B4-BE49-F238E27FC236}">
                <a16:creationId xmlns:a16="http://schemas.microsoft.com/office/drawing/2014/main" id="{9CF4CFC1-3F4E-3D0B-47F6-ACDED3B35167}"/>
              </a:ext>
            </a:extLst>
          </p:cNvPr>
          <p:cNvSpPr/>
          <p:nvPr/>
        </p:nvSpPr>
        <p:spPr>
          <a:xfrm>
            <a:off x="4415917" y="-20447"/>
            <a:ext cx="20828" cy="18224"/>
          </a:xfrm>
          <a:custGeom>
            <a:avLst/>
            <a:gdLst/>
            <a:ahLst/>
            <a:cxnLst/>
            <a:rect l="0" t="0" r="r" b="b"/>
            <a:pathLst>
              <a:path w="20828" h="18224">
                <a:moveTo>
                  <a:pt x="10414" y="0"/>
                </a:moveTo>
                <a:cubicBezTo>
                  <a:pt x="4572" y="0"/>
                  <a:pt x="0" y="1651"/>
                  <a:pt x="0" y="3937"/>
                </a:cubicBezTo>
                <a:cubicBezTo>
                  <a:pt x="0" y="6223"/>
                  <a:pt x="4572" y="7811"/>
                  <a:pt x="10414" y="7811"/>
                </a:cubicBezTo>
                <a:cubicBezTo>
                  <a:pt x="16256" y="7811"/>
                  <a:pt x="20828" y="6223"/>
                  <a:pt x="20828" y="3937"/>
                </a:cubicBezTo>
                <a:cubicBezTo>
                  <a:pt x="20828" y="1651"/>
                  <a:pt x="16256" y="0"/>
                  <a:pt x="10414" y="0"/>
                </a:cubicBezTo>
                <a:close/>
                <a:moveTo>
                  <a:pt x="0" y="3937"/>
                </a:moveTo>
                <a:lnTo>
                  <a:pt x="0" y="14351"/>
                </a:lnTo>
                <a:cubicBezTo>
                  <a:pt x="0" y="16637"/>
                  <a:pt x="4572" y="18224"/>
                  <a:pt x="10414" y="18224"/>
                </a:cubicBezTo>
                <a:cubicBezTo>
                  <a:pt x="16256" y="18224"/>
                  <a:pt x="20828" y="16637"/>
                  <a:pt x="20828" y="14351"/>
                </a:cubicBezTo>
                <a:lnTo>
                  <a:pt x="20828" y="3937"/>
                </a:lnTo>
              </a:path>
            </a:pathLst>
          </a:custGeom>
          <a:noFill/>
          <a:ln w="2540" cap="rnd">
            <a:solidFill>
              <a:srgbClr val="0B3E8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5" name="m-d01_bar_line-kpi-v-1">
            <a:extLst>
              <a:ext uri="{FF2B5EF4-FFF2-40B4-BE49-F238E27FC236}">
                <a16:creationId xmlns:a16="http://schemas.microsoft.com/office/drawing/2014/main" id="{F96071B5-A2A4-CFAD-2D63-63DEED587F01}"/>
              </a:ext>
            </a:extLst>
          </p:cNvPr>
          <p:cNvSpPr txBox="1"/>
          <p:nvPr/>
        </p:nvSpPr>
        <p:spPr>
          <a:xfrm>
            <a:off x="3971031" y="-57229"/>
            <a:ext cx="237700" cy="10934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90" b="1" i="0" u="none" strike="noStrike" kern="1200" cap="none" spc="1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1,059</a:t>
            </a:r>
          </a:p>
        </p:txBody>
      </p:sp>
      <p:sp>
        <p:nvSpPr>
          <p:cNvPr id="186" name="m-d01_bar_line-kpi-u-1">
            <a:extLst>
              <a:ext uri="{FF2B5EF4-FFF2-40B4-BE49-F238E27FC236}">
                <a16:creationId xmlns:a16="http://schemas.microsoft.com/office/drawing/2014/main" id="{AF239C08-0A68-32BF-27CE-00AE23C34C67}"/>
              </a:ext>
            </a:extLst>
          </p:cNvPr>
          <p:cNvSpPr txBox="1"/>
          <p:nvPr/>
        </p:nvSpPr>
        <p:spPr>
          <a:xfrm>
            <a:off x="4151453" y="-8999"/>
            <a:ext cx="6795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百万</a:t>
            </a:r>
          </a:p>
        </p:txBody>
      </p:sp>
      <p:sp>
        <p:nvSpPr>
          <p:cNvPr id="187" name="m-d01_bar_line-kpi-l-1">
            <a:extLst>
              <a:ext uri="{FF2B5EF4-FFF2-40B4-BE49-F238E27FC236}">
                <a16:creationId xmlns:a16="http://schemas.microsoft.com/office/drawing/2014/main" id="{B338ED82-243C-9352-F824-E59C0A59C88D}"/>
              </a:ext>
            </a:extLst>
          </p:cNvPr>
          <p:cNvSpPr txBox="1"/>
          <p:nvPr/>
        </p:nvSpPr>
        <p:spPr>
          <a:xfrm>
            <a:off x="3975795" y="43875"/>
            <a:ext cx="184523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上半年累计营收</a:t>
            </a:r>
          </a:p>
        </p:txBody>
      </p:sp>
      <p:sp>
        <p:nvSpPr>
          <p:cNvPr id="188" name="m-d01_bar_line-kpi-2">
            <a:extLst>
              <a:ext uri="{FF2B5EF4-FFF2-40B4-BE49-F238E27FC236}">
                <a16:creationId xmlns:a16="http://schemas.microsoft.com/office/drawing/2014/main" id="{AE14BF16-E491-0765-A811-3AAB890E0724}"/>
              </a:ext>
            </a:extLst>
          </p:cNvPr>
          <p:cNvSpPr/>
          <p:nvPr/>
        </p:nvSpPr>
        <p:spPr>
          <a:xfrm>
            <a:off x="3926459" y="168338"/>
            <a:ext cx="575374" cy="218694"/>
          </a:xfrm>
          <a:custGeom>
            <a:avLst/>
            <a:gdLst/>
            <a:ahLst/>
            <a:cxnLst/>
            <a:rect l="0" t="0" r="r" b="b"/>
            <a:pathLst>
              <a:path w="575374" h="218694">
                <a:moveTo>
                  <a:pt x="23431" y="0"/>
                </a:moveTo>
                <a:lnTo>
                  <a:pt x="551942" y="0"/>
                </a:lnTo>
                <a:cubicBezTo>
                  <a:pt x="564896" y="0"/>
                  <a:pt x="575374" y="10477"/>
                  <a:pt x="575374" y="23431"/>
                </a:cubicBezTo>
                <a:lnTo>
                  <a:pt x="575374" y="195262"/>
                </a:lnTo>
                <a:cubicBezTo>
                  <a:pt x="575374" y="208216"/>
                  <a:pt x="564896" y="218694"/>
                  <a:pt x="551942" y="218694"/>
                </a:cubicBezTo>
                <a:lnTo>
                  <a:pt x="23431" y="218694"/>
                </a:lnTo>
                <a:cubicBezTo>
                  <a:pt x="10477" y="218694"/>
                  <a:pt x="0" y="208216"/>
                  <a:pt x="0" y="195262"/>
                </a:cubicBezTo>
                <a:lnTo>
                  <a:pt x="0" y="23431"/>
                </a:lnTo>
                <a:cubicBezTo>
                  <a:pt x="0" y="10477"/>
                  <a:pt x="10477" y="0"/>
                  <a:pt x="2343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9" name="m-d01_bar_line-kpi-bar-2">
            <a:extLst>
              <a:ext uri="{FF2B5EF4-FFF2-40B4-BE49-F238E27FC236}">
                <a16:creationId xmlns:a16="http://schemas.microsoft.com/office/drawing/2014/main" id="{3D48EED3-42D7-DCCE-677C-41355ADE87A5}"/>
              </a:ext>
            </a:extLst>
          </p:cNvPr>
          <p:cNvSpPr/>
          <p:nvPr/>
        </p:nvSpPr>
        <p:spPr>
          <a:xfrm>
            <a:off x="3926459" y="168338"/>
            <a:ext cx="6540" cy="218694"/>
          </a:xfrm>
          <a:custGeom>
            <a:avLst/>
            <a:gdLst/>
            <a:ahLst/>
            <a:cxnLst/>
            <a:rect l="0" t="0" r="r" b="b"/>
            <a:pathLst>
              <a:path w="6540" h="218694">
                <a:moveTo>
                  <a:pt x="3238" y="0"/>
                </a:moveTo>
                <a:lnTo>
                  <a:pt x="3238" y="0"/>
                </a:lnTo>
                <a:cubicBezTo>
                  <a:pt x="5080" y="0"/>
                  <a:pt x="6540" y="1460"/>
                  <a:pt x="6540" y="3238"/>
                </a:cubicBezTo>
                <a:lnTo>
                  <a:pt x="6540" y="215455"/>
                </a:lnTo>
                <a:cubicBezTo>
                  <a:pt x="6540" y="217233"/>
                  <a:pt x="5080" y="218694"/>
                  <a:pt x="3238" y="218694"/>
                </a:cubicBezTo>
                <a:lnTo>
                  <a:pt x="3238" y="218694"/>
                </a:lnTo>
                <a:cubicBezTo>
                  <a:pt x="1461" y="218694"/>
                  <a:pt x="0" y="217233"/>
                  <a:pt x="0" y="215455"/>
                </a:cubicBezTo>
                <a:lnTo>
                  <a:pt x="0" y="3238"/>
                </a:lnTo>
                <a:cubicBezTo>
                  <a:pt x="0" y="1460"/>
                  <a:pt x="1461" y="0"/>
                  <a:pt x="3238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0" name="m-d01_bar_line-icon-target">
            <a:extLst>
              <a:ext uri="{FF2B5EF4-FFF2-40B4-BE49-F238E27FC236}">
                <a16:creationId xmlns:a16="http://schemas.microsoft.com/office/drawing/2014/main" id="{BCDA9D82-0D54-23CC-31D2-B4B48D2E22B6}"/>
              </a:ext>
            </a:extLst>
          </p:cNvPr>
          <p:cNvSpPr/>
          <p:nvPr/>
        </p:nvSpPr>
        <p:spPr>
          <a:xfrm>
            <a:off x="4426331" y="229870"/>
            <a:ext cx="10732" cy="13970"/>
          </a:xfrm>
          <a:custGeom>
            <a:avLst/>
            <a:gdLst/>
            <a:ahLst/>
            <a:cxnLst/>
            <a:rect l="0" t="0" r="r" b="b"/>
            <a:pathLst>
              <a:path w="10732" h="13970">
                <a:moveTo>
                  <a:pt x="0" y="8128"/>
                </a:moveTo>
                <a:lnTo>
                  <a:pt x="0" y="0"/>
                </a:lnTo>
                <a:moveTo>
                  <a:pt x="0" y="13970"/>
                </a:moveTo>
                <a:lnTo>
                  <a:pt x="10732" y="3238"/>
                </a:lnTo>
              </a:path>
            </a:pathLst>
          </a:custGeom>
          <a:noFill/>
          <a:ln w="2540" cap="rnd">
            <a:solidFill>
              <a:srgbClr val="2E77C2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1" name="m-d01_bar_line-icon-target">
            <a:extLst>
              <a:ext uri="{FF2B5EF4-FFF2-40B4-BE49-F238E27FC236}">
                <a16:creationId xmlns:a16="http://schemas.microsoft.com/office/drawing/2014/main" id="{8D19C715-B5EF-6D94-6E1B-3FE4B0039A5D}"/>
              </a:ext>
            </a:extLst>
          </p:cNvPr>
          <p:cNvSpPr/>
          <p:nvPr/>
        </p:nvSpPr>
        <p:spPr>
          <a:xfrm>
            <a:off x="4412337" y="229846"/>
            <a:ext cx="27988" cy="27988"/>
          </a:xfrm>
          <a:prstGeom prst="ellipse">
            <a:avLst/>
          </a:prstGeom>
          <a:noFill/>
          <a:ln w="2540" cap="rnd">
            <a:solidFill>
              <a:srgbClr val="2E77C2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2" name="m-d01_bar_line-icon-target">
            <a:extLst>
              <a:ext uri="{FF2B5EF4-FFF2-40B4-BE49-F238E27FC236}">
                <a16:creationId xmlns:a16="http://schemas.microsoft.com/office/drawing/2014/main" id="{7C80E239-F2AD-FD8A-D446-3E98096CFBCC}"/>
              </a:ext>
            </a:extLst>
          </p:cNvPr>
          <p:cNvSpPr/>
          <p:nvPr/>
        </p:nvSpPr>
        <p:spPr>
          <a:xfrm>
            <a:off x="4419171" y="236680"/>
            <a:ext cx="14319" cy="14319"/>
          </a:xfrm>
          <a:prstGeom prst="ellipse">
            <a:avLst/>
          </a:prstGeom>
          <a:noFill/>
          <a:ln w="2540" cap="rnd">
            <a:solidFill>
              <a:srgbClr val="2E77C2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3" name="m-d01_bar_line-kpi-v-2">
            <a:extLst>
              <a:ext uri="{FF2B5EF4-FFF2-40B4-BE49-F238E27FC236}">
                <a16:creationId xmlns:a16="http://schemas.microsoft.com/office/drawing/2014/main" id="{BB9F43A3-392E-92BA-E91C-804B8375E5F0}"/>
              </a:ext>
            </a:extLst>
          </p:cNvPr>
          <p:cNvSpPr txBox="1"/>
          <p:nvPr/>
        </p:nvSpPr>
        <p:spPr>
          <a:xfrm>
            <a:off x="3971031" y="197914"/>
            <a:ext cx="165114" cy="10934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90" b="1" i="0" u="none" strike="noStrike" kern="1200" cap="none" spc="1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78%</a:t>
            </a:r>
          </a:p>
        </p:txBody>
      </p:sp>
      <p:sp>
        <p:nvSpPr>
          <p:cNvPr id="194" name="m-d01_bar_line-kpi-l-2">
            <a:extLst>
              <a:ext uri="{FF2B5EF4-FFF2-40B4-BE49-F238E27FC236}">
                <a16:creationId xmlns:a16="http://schemas.microsoft.com/office/drawing/2014/main" id="{79C28580-26DD-FC02-AE9D-34D2CC659843}"/>
              </a:ext>
            </a:extLst>
          </p:cNvPr>
          <p:cNvSpPr txBox="1"/>
          <p:nvPr/>
        </p:nvSpPr>
        <p:spPr>
          <a:xfrm>
            <a:off x="3975795" y="299018"/>
            <a:ext cx="184523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年度目标完成率</a:t>
            </a:r>
          </a:p>
        </p:txBody>
      </p:sp>
      <p:sp>
        <p:nvSpPr>
          <p:cNvPr id="195" name="m-d01_bar_line-kpi-3">
            <a:extLst>
              <a:ext uri="{FF2B5EF4-FFF2-40B4-BE49-F238E27FC236}">
                <a16:creationId xmlns:a16="http://schemas.microsoft.com/office/drawing/2014/main" id="{B1A3842C-768E-EC4E-50A8-530B59464062}"/>
              </a:ext>
            </a:extLst>
          </p:cNvPr>
          <p:cNvSpPr/>
          <p:nvPr/>
        </p:nvSpPr>
        <p:spPr>
          <a:xfrm>
            <a:off x="3926459" y="423482"/>
            <a:ext cx="575374" cy="218694"/>
          </a:xfrm>
          <a:custGeom>
            <a:avLst/>
            <a:gdLst/>
            <a:ahLst/>
            <a:cxnLst/>
            <a:rect l="0" t="0" r="r" b="b"/>
            <a:pathLst>
              <a:path w="575374" h="218694">
                <a:moveTo>
                  <a:pt x="23431" y="0"/>
                </a:moveTo>
                <a:lnTo>
                  <a:pt x="551942" y="0"/>
                </a:lnTo>
                <a:cubicBezTo>
                  <a:pt x="564896" y="0"/>
                  <a:pt x="575374" y="10478"/>
                  <a:pt x="575374" y="23431"/>
                </a:cubicBezTo>
                <a:lnTo>
                  <a:pt x="575374" y="195262"/>
                </a:lnTo>
                <a:cubicBezTo>
                  <a:pt x="575374" y="208217"/>
                  <a:pt x="564896" y="218694"/>
                  <a:pt x="551942" y="218694"/>
                </a:cubicBezTo>
                <a:lnTo>
                  <a:pt x="23431" y="218694"/>
                </a:lnTo>
                <a:cubicBezTo>
                  <a:pt x="10477" y="218694"/>
                  <a:pt x="0" y="208217"/>
                  <a:pt x="0" y="195262"/>
                </a:cubicBezTo>
                <a:lnTo>
                  <a:pt x="0" y="23431"/>
                </a:lnTo>
                <a:cubicBezTo>
                  <a:pt x="0" y="10478"/>
                  <a:pt x="10477" y="0"/>
                  <a:pt x="2343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6" name="m-d01_bar_line-kpi-bar-3">
            <a:extLst>
              <a:ext uri="{FF2B5EF4-FFF2-40B4-BE49-F238E27FC236}">
                <a16:creationId xmlns:a16="http://schemas.microsoft.com/office/drawing/2014/main" id="{5A4553A8-76BC-0D8F-4CB4-2D04F4C2FBA3}"/>
              </a:ext>
            </a:extLst>
          </p:cNvPr>
          <p:cNvSpPr/>
          <p:nvPr/>
        </p:nvSpPr>
        <p:spPr>
          <a:xfrm>
            <a:off x="3926459" y="423482"/>
            <a:ext cx="6540" cy="218694"/>
          </a:xfrm>
          <a:custGeom>
            <a:avLst/>
            <a:gdLst/>
            <a:ahLst/>
            <a:cxnLst/>
            <a:rect l="0" t="0" r="r" b="b"/>
            <a:pathLst>
              <a:path w="6540" h="218694">
                <a:moveTo>
                  <a:pt x="3238" y="0"/>
                </a:moveTo>
                <a:lnTo>
                  <a:pt x="3238" y="0"/>
                </a:lnTo>
                <a:cubicBezTo>
                  <a:pt x="5080" y="0"/>
                  <a:pt x="6540" y="1461"/>
                  <a:pt x="6540" y="3239"/>
                </a:cubicBezTo>
                <a:lnTo>
                  <a:pt x="6540" y="215456"/>
                </a:lnTo>
                <a:cubicBezTo>
                  <a:pt x="6540" y="217234"/>
                  <a:pt x="5080" y="218694"/>
                  <a:pt x="3238" y="218694"/>
                </a:cubicBezTo>
                <a:lnTo>
                  <a:pt x="3238" y="218694"/>
                </a:lnTo>
                <a:cubicBezTo>
                  <a:pt x="1461" y="218694"/>
                  <a:pt x="0" y="217234"/>
                  <a:pt x="0" y="215456"/>
                </a:cubicBezTo>
                <a:lnTo>
                  <a:pt x="0" y="3239"/>
                </a:lnTo>
                <a:cubicBezTo>
                  <a:pt x="0" y="1461"/>
                  <a:pt x="1461" y="0"/>
                  <a:pt x="3238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7" name="m-d01_bar_line-icon-grow">
            <a:extLst>
              <a:ext uri="{FF2B5EF4-FFF2-40B4-BE49-F238E27FC236}">
                <a16:creationId xmlns:a16="http://schemas.microsoft.com/office/drawing/2014/main" id="{9F1506D2-970C-3C2E-9E92-DEF24C90F256}"/>
              </a:ext>
            </a:extLst>
          </p:cNvPr>
          <p:cNvSpPr/>
          <p:nvPr/>
        </p:nvSpPr>
        <p:spPr>
          <a:xfrm>
            <a:off x="4412678" y="492824"/>
            <a:ext cx="24384" cy="15240"/>
          </a:xfrm>
          <a:custGeom>
            <a:avLst/>
            <a:gdLst/>
            <a:ahLst/>
            <a:cxnLst/>
            <a:rect l="0" t="0" r="r" b="b"/>
            <a:pathLst>
              <a:path w="24384" h="15240">
                <a:moveTo>
                  <a:pt x="0" y="15240"/>
                </a:moveTo>
                <a:lnTo>
                  <a:pt x="8128" y="6477"/>
                </a:lnTo>
                <a:lnTo>
                  <a:pt x="13970" y="11367"/>
                </a:lnTo>
                <a:lnTo>
                  <a:pt x="23749" y="0"/>
                </a:lnTo>
                <a:moveTo>
                  <a:pt x="19812" y="0"/>
                </a:moveTo>
                <a:lnTo>
                  <a:pt x="24384" y="0"/>
                </a:lnTo>
                <a:lnTo>
                  <a:pt x="24384" y="4508"/>
                </a:lnTo>
              </a:path>
            </a:pathLst>
          </a:custGeom>
          <a:noFill/>
          <a:ln w="2540" cap="rnd">
            <a:solidFill>
              <a:srgbClr val="54A2D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8" name="m-d01_bar_line-kpi-v-3">
            <a:extLst>
              <a:ext uri="{FF2B5EF4-FFF2-40B4-BE49-F238E27FC236}">
                <a16:creationId xmlns:a16="http://schemas.microsoft.com/office/drawing/2014/main" id="{EB990EEB-52D6-5BD4-47DB-38FFCD732A07}"/>
              </a:ext>
            </a:extLst>
          </p:cNvPr>
          <p:cNvSpPr txBox="1"/>
          <p:nvPr/>
        </p:nvSpPr>
        <p:spPr>
          <a:xfrm>
            <a:off x="3971031" y="453057"/>
            <a:ext cx="273992" cy="10934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90" b="1" i="0" u="none" strike="noStrike" kern="1200" cap="none" spc="1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+16.8%</a:t>
            </a:r>
          </a:p>
        </p:txBody>
      </p:sp>
      <p:sp>
        <p:nvSpPr>
          <p:cNvPr id="199" name="m-d01_bar_line-kpi-l-3">
            <a:extLst>
              <a:ext uri="{FF2B5EF4-FFF2-40B4-BE49-F238E27FC236}">
                <a16:creationId xmlns:a16="http://schemas.microsoft.com/office/drawing/2014/main" id="{7D3A253B-792B-C9F7-3D3C-5878110EE2D3}"/>
              </a:ext>
            </a:extLst>
          </p:cNvPr>
          <p:cNvSpPr txBox="1"/>
          <p:nvPr/>
        </p:nvSpPr>
        <p:spPr>
          <a:xfrm>
            <a:off x="3975795" y="554161"/>
            <a:ext cx="16109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平均同比增速</a:t>
            </a:r>
          </a:p>
        </p:txBody>
      </p:sp>
      <p:sp>
        <p:nvSpPr>
          <p:cNvPr id="200" name="m-d01_bar_line-note">
            <a:extLst>
              <a:ext uri="{FF2B5EF4-FFF2-40B4-BE49-F238E27FC236}">
                <a16:creationId xmlns:a16="http://schemas.microsoft.com/office/drawing/2014/main" id="{253C1B8F-D1E9-781D-26E3-64EDA35AE8A1}"/>
              </a:ext>
            </a:extLst>
          </p:cNvPr>
          <p:cNvSpPr/>
          <p:nvPr/>
        </p:nvSpPr>
        <p:spPr>
          <a:xfrm>
            <a:off x="2366962" y="798386"/>
            <a:ext cx="2134870" cy="111951"/>
          </a:xfrm>
          <a:custGeom>
            <a:avLst/>
            <a:gdLst/>
            <a:ahLst/>
            <a:cxnLst/>
            <a:rect l="0" t="0" r="r" b="b"/>
            <a:pathLst>
              <a:path w="2134870" h="111951">
                <a:moveTo>
                  <a:pt x="20828" y="0"/>
                </a:moveTo>
                <a:lnTo>
                  <a:pt x="2114042" y="0"/>
                </a:lnTo>
                <a:cubicBezTo>
                  <a:pt x="2125536" y="0"/>
                  <a:pt x="2134870" y="9334"/>
                  <a:pt x="2134870" y="20828"/>
                </a:cubicBezTo>
                <a:lnTo>
                  <a:pt x="2134870" y="91123"/>
                </a:lnTo>
                <a:cubicBezTo>
                  <a:pt x="2134870" y="102616"/>
                  <a:pt x="2125536" y="111951"/>
                  <a:pt x="2114042" y="111951"/>
                </a:cubicBezTo>
                <a:lnTo>
                  <a:pt x="20828" y="111951"/>
                </a:lnTo>
                <a:cubicBezTo>
                  <a:pt x="9335" y="111951"/>
                  <a:pt x="0" y="102616"/>
                  <a:pt x="0" y="91123"/>
                </a:cubicBezTo>
                <a:lnTo>
                  <a:pt x="0" y="20828"/>
                </a:lnTo>
                <a:cubicBezTo>
                  <a:pt x="0" y="9334"/>
                  <a:pt x="9335" y="0"/>
                  <a:pt x="20828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1" name="m-d01_bar_line-icon-grow">
            <a:extLst>
              <a:ext uri="{FF2B5EF4-FFF2-40B4-BE49-F238E27FC236}">
                <a16:creationId xmlns:a16="http://schemas.microsoft.com/office/drawing/2014/main" id="{4AE55A7A-6824-7DFB-B90F-22F3DA00AF23}"/>
              </a:ext>
            </a:extLst>
          </p:cNvPr>
          <p:cNvSpPr/>
          <p:nvPr/>
        </p:nvSpPr>
        <p:spPr>
          <a:xfrm>
            <a:off x="2420176" y="848995"/>
            <a:ext cx="21209" cy="13272"/>
          </a:xfrm>
          <a:custGeom>
            <a:avLst/>
            <a:gdLst/>
            <a:ahLst/>
            <a:cxnLst/>
            <a:rect l="0" t="0" r="r" b="b"/>
            <a:pathLst>
              <a:path w="21209" h="13272">
                <a:moveTo>
                  <a:pt x="0" y="13272"/>
                </a:moveTo>
                <a:lnTo>
                  <a:pt x="7112" y="5652"/>
                </a:lnTo>
                <a:lnTo>
                  <a:pt x="12192" y="9906"/>
                </a:lnTo>
                <a:lnTo>
                  <a:pt x="20638" y="0"/>
                </a:lnTo>
                <a:moveTo>
                  <a:pt x="17208" y="0"/>
                </a:moveTo>
                <a:lnTo>
                  <a:pt x="21209" y="0"/>
                </a:lnTo>
                <a:lnTo>
                  <a:pt x="21209" y="3937"/>
                </a:lnTo>
              </a:path>
            </a:pathLst>
          </a:custGeom>
          <a:noFill/>
          <a:ln w="25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2" name="m-d01_bar_line-note-1">
            <a:extLst>
              <a:ext uri="{FF2B5EF4-FFF2-40B4-BE49-F238E27FC236}">
                <a16:creationId xmlns:a16="http://schemas.microsoft.com/office/drawing/2014/main" id="{F03F4A59-CA48-4883-153C-FBB4090975D4}"/>
              </a:ext>
            </a:extLst>
          </p:cNvPr>
          <p:cNvSpPr txBox="1"/>
          <p:nvPr/>
        </p:nvSpPr>
        <p:spPr>
          <a:xfrm>
            <a:off x="2465922" y="836947"/>
            <a:ext cx="418422" cy="37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二季度环比提速，4 月起连续三月创新高</a:t>
            </a:r>
          </a:p>
        </p:txBody>
      </p:sp>
      <p:cxnSp>
        <p:nvCxnSpPr>
          <p:cNvPr id="203" name="m-d01_bar_line-note-div-1">
            <a:extLst>
              <a:ext uri="{FF2B5EF4-FFF2-40B4-BE49-F238E27FC236}">
                <a16:creationId xmlns:a16="http://schemas.microsoft.com/office/drawing/2014/main" id="{A4910872-23B1-CDD2-5F34-F16DCE604D78}"/>
              </a:ext>
            </a:extLst>
          </p:cNvPr>
          <p:cNvCxnSpPr/>
          <p:nvPr/>
        </p:nvCxnSpPr>
        <p:spPr>
          <a:xfrm>
            <a:off x="3121978" y="829627"/>
            <a:ext cx="0" cy="49467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4" name="m-d01_bar_line-icon-target">
            <a:extLst>
              <a:ext uri="{FF2B5EF4-FFF2-40B4-BE49-F238E27FC236}">
                <a16:creationId xmlns:a16="http://schemas.microsoft.com/office/drawing/2014/main" id="{BA08837F-3660-A8F1-FCE7-8893DA597A16}"/>
              </a:ext>
            </a:extLst>
          </p:cNvPr>
          <p:cNvSpPr/>
          <p:nvPr/>
        </p:nvSpPr>
        <p:spPr>
          <a:xfrm>
            <a:off x="3187065" y="842200"/>
            <a:ext cx="9335" cy="12128"/>
          </a:xfrm>
          <a:custGeom>
            <a:avLst/>
            <a:gdLst/>
            <a:ahLst/>
            <a:cxnLst/>
            <a:rect l="0" t="0" r="r" b="b"/>
            <a:pathLst>
              <a:path w="9335" h="12128">
                <a:moveTo>
                  <a:pt x="0" y="7112"/>
                </a:moveTo>
                <a:lnTo>
                  <a:pt x="0" y="0"/>
                </a:lnTo>
                <a:moveTo>
                  <a:pt x="0" y="12128"/>
                </a:moveTo>
                <a:lnTo>
                  <a:pt x="9335" y="2858"/>
                </a:lnTo>
              </a:path>
            </a:pathLst>
          </a:custGeom>
          <a:noFill/>
          <a:ln w="254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5" name="m-d01_bar_line-icon-target">
            <a:extLst>
              <a:ext uri="{FF2B5EF4-FFF2-40B4-BE49-F238E27FC236}">
                <a16:creationId xmlns:a16="http://schemas.microsoft.com/office/drawing/2014/main" id="{317C3D2F-A84E-2D73-0299-DF116173B953}"/>
              </a:ext>
            </a:extLst>
          </p:cNvPr>
          <p:cNvSpPr/>
          <p:nvPr/>
        </p:nvSpPr>
        <p:spPr>
          <a:xfrm>
            <a:off x="3174937" y="842233"/>
            <a:ext cx="24256" cy="24256"/>
          </a:xfrm>
          <a:prstGeom prst="ellipse">
            <a:avLst/>
          </a:prstGeom>
          <a:noFill/>
          <a:ln w="254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6" name="m-d01_bar_line-icon-target">
            <a:extLst>
              <a:ext uri="{FF2B5EF4-FFF2-40B4-BE49-F238E27FC236}">
                <a16:creationId xmlns:a16="http://schemas.microsoft.com/office/drawing/2014/main" id="{058EF735-CAD7-8374-687E-4EB5C984C95E}"/>
              </a:ext>
            </a:extLst>
          </p:cNvPr>
          <p:cNvSpPr/>
          <p:nvPr/>
        </p:nvSpPr>
        <p:spPr>
          <a:xfrm>
            <a:off x="3180860" y="848156"/>
            <a:ext cx="12410" cy="12410"/>
          </a:xfrm>
          <a:prstGeom prst="ellipse">
            <a:avLst/>
          </a:prstGeom>
          <a:noFill/>
          <a:ln w="254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7" name="m-d01_bar_line-note-2">
            <a:extLst>
              <a:ext uri="{FF2B5EF4-FFF2-40B4-BE49-F238E27FC236}">
                <a16:creationId xmlns:a16="http://schemas.microsoft.com/office/drawing/2014/main" id="{4329F6CA-9566-AC2C-1350-3E8CDF4F3ADB}"/>
              </a:ext>
            </a:extLst>
          </p:cNvPr>
          <p:cNvSpPr txBox="1"/>
          <p:nvPr/>
        </p:nvSpPr>
        <p:spPr>
          <a:xfrm>
            <a:off x="3220937" y="836947"/>
            <a:ext cx="393168" cy="37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全年目标 1,360 百万，进度符合预期</a:t>
            </a:r>
          </a:p>
        </p:txBody>
      </p:sp>
      <p:cxnSp>
        <p:nvCxnSpPr>
          <p:cNvPr id="208" name="m-d01_bar_line-note-div-2">
            <a:extLst>
              <a:ext uri="{FF2B5EF4-FFF2-40B4-BE49-F238E27FC236}">
                <a16:creationId xmlns:a16="http://schemas.microsoft.com/office/drawing/2014/main" id="{589B80C3-9076-1630-94E4-996DE16AA6BB}"/>
              </a:ext>
            </a:extLst>
          </p:cNvPr>
          <p:cNvCxnSpPr/>
          <p:nvPr/>
        </p:nvCxnSpPr>
        <p:spPr>
          <a:xfrm>
            <a:off x="3876992" y="829627"/>
            <a:ext cx="0" cy="49467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9" name="m-d01_bar_line-icon-shield">
            <a:extLst>
              <a:ext uri="{FF2B5EF4-FFF2-40B4-BE49-F238E27FC236}">
                <a16:creationId xmlns:a16="http://schemas.microsoft.com/office/drawing/2014/main" id="{2F923AE5-9BA9-CE7D-0FF2-466DA88B26B5}"/>
              </a:ext>
            </a:extLst>
          </p:cNvPr>
          <p:cNvSpPr/>
          <p:nvPr/>
        </p:nvSpPr>
        <p:spPr>
          <a:xfrm>
            <a:off x="3931920" y="842200"/>
            <a:ext cx="20320" cy="24321"/>
          </a:xfrm>
          <a:custGeom>
            <a:avLst/>
            <a:gdLst/>
            <a:ahLst/>
            <a:cxnLst/>
            <a:rect l="0" t="0" r="r" b="b"/>
            <a:pathLst>
              <a:path w="20320" h="24321">
                <a:moveTo>
                  <a:pt x="10160" y="0"/>
                </a:moveTo>
                <a:lnTo>
                  <a:pt x="20320" y="4000"/>
                </a:lnTo>
                <a:lnTo>
                  <a:pt x="20320" y="11875"/>
                </a:lnTo>
                <a:cubicBezTo>
                  <a:pt x="20320" y="17780"/>
                  <a:pt x="16065" y="22288"/>
                  <a:pt x="10160" y="24321"/>
                </a:cubicBezTo>
                <a:cubicBezTo>
                  <a:pt x="4254" y="22288"/>
                  <a:pt x="0" y="17780"/>
                  <a:pt x="0" y="11875"/>
                </a:cubicBezTo>
                <a:lnTo>
                  <a:pt x="0" y="4000"/>
                </a:lnTo>
                <a:close/>
                <a:moveTo>
                  <a:pt x="5905" y="12128"/>
                </a:moveTo>
                <a:lnTo>
                  <a:pt x="9017" y="15240"/>
                </a:lnTo>
                <a:lnTo>
                  <a:pt x="14922" y="9334"/>
                </a:lnTo>
              </a:path>
            </a:pathLst>
          </a:custGeom>
          <a:noFill/>
          <a:ln w="254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0" name="m-d01_bar_line-note-3">
            <a:extLst>
              <a:ext uri="{FF2B5EF4-FFF2-40B4-BE49-F238E27FC236}">
                <a16:creationId xmlns:a16="http://schemas.microsoft.com/office/drawing/2014/main" id="{5A85B481-7730-ED14-0844-21259AB6AB4E}"/>
              </a:ext>
            </a:extLst>
          </p:cNvPr>
          <p:cNvSpPr txBox="1"/>
          <p:nvPr/>
        </p:nvSpPr>
        <p:spPr>
          <a:xfrm>
            <a:off x="3975952" y="836947"/>
            <a:ext cx="396422" cy="37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3 月受季节性因素影响，已于次月修复</a:t>
            </a:r>
          </a:p>
        </p:txBody>
      </p:sp>
      <p:cxnSp>
        <p:nvCxnSpPr>
          <p:cNvPr id="211" name="m-d01_bar_line-foot-line">
            <a:extLst>
              <a:ext uri="{FF2B5EF4-FFF2-40B4-BE49-F238E27FC236}">
                <a16:creationId xmlns:a16="http://schemas.microsoft.com/office/drawing/2014/main" id="{91E36527-A9D1-EBA8-A66B-466D335E830F}"/>
              </a:ext>
            </a:extLst>
          </p:cNvPr>
          <p:cNvCxnSpPr/>
          <p:nvPr/>
        </p:nvCxnSpPr>
        <p:spPr>
          <a:xfrm>
            <a:off x="2291461" y="9441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2" name="m-d01_bar_line-foot-l">
            <a:extLst>
              <a:ext uri="{FF2B5EF4-FFF2-40B4-BE49-F238E27FC236}">
                <a16:creationId xmlns:a16="http://schemas.microsoft.com/office/drawing/2014/main" id="{171F5C0C-C89F-BDD9-8C43-B917E948BAB0}"/>
              </a:ext>
            </a:extLst>
          </p:cNvPr>
          <p:cNvSpPr txBox="1"/>
          <p:nvPr/>
        </p:nvSpPr>
        <p:spPr>
          <a:xfrm>
            <a:off x="2289274" y="958123"/>
            <a:ext cx="19411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经营数据 · 上半年</a:t>
            </a:r>
          </a:p>
        </p:txBody>
      </p:sp>
      <p:sp>
        <p:nvSpPr>
          <p:cNvPr id="213" name="m-d01_bar_line-foot-r">
            <a:extLst>
              <a:ext uri="{FF2B5EF4-FFF2-40B4-BE49-F238E27FC236}">
                <a16:creationId xmlns:a16="http://schemas.microsoft.com/office/drawing/2014/main" id="{D678DA1A-C650-54C2-5DE4-9FB691551E70}"/>
              </a:ext>
            </a:extLst>
          </p:cNvPr>
          <p:cNvSpPr txBox="1"/>
          <p:nvPr/>
        </p:nvSpPr>
        <p:spPr>
          <a:xfrm>
            <a:off x="4293709" y="9581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214" name="mini-card-s12_petal_core">
            <a:extLst>
              <a:ext uri="{FF2B5EF4-FFF2-40B4-BE49-F238E27FC236}">
                <a16:creationId xmlns:a16="http://schemas.microsoft.com/office/drawing/2014/main" id="{670C278F-575D-1627-055B-AC3E2236DF9D}"/>
              </a:ext>
            </a:extLst>
          </p:cNvPr>
          <p:cNvSpPr/>
          <p:nvPr/>
        </p:nvSpPr>
        <p:spPr>
          <a:xfrm>
            <a:off x="4787900" y="-3810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0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1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0" y="1405890"/>
                </a:lnTo>
                <a:cubicBezTo>
                  <a:pt x="35877" y="1405890"/>
                  <a:pt x="0" y="1370012"/>
                  <a:pt x="0" y="1325690"/>
                </a:cubicBezTo>
                <a:lnTo>
                  <a:pt x="0" y="80201"/>
                </a:lnTo>
                <a:cubicBezTo>
                  <a:pt x="0" y="35877"/>
                  <a:pt x="35877" y="0"/>
                  <a:pt x="80200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5" name="m-s12_petal_core-title-bar">
            <a:extLst>
              <a:ext uri="{FF2B5EF4-FFF2-40B4-BE49-F238E27FC236}">
                <a16:creationId xmlns:a16="http://schemas.microsoft.com/office/drawing/2014/main" id="{5D969209-8CA2-FE79-DE80-701298AAFBF4}"/>
              </a:ext>
            </a:extLst>
          </p:cNvPr>
          <p:cNvSpPr/>
          <p:nvPr/>
        </p:nvSpPr>
        <p:spPr>
          <a:xfrm>
            <a:off x="4907661" y="-282067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6" name="m-s12_petal_core-title-bar-accent">
            <a:extLst>
              <a:ext uri="{FF2B5EF4-FFF2-40B4-BE49-F238E27FC236}">
                <a16:creationId xmlns:a16="http://schemas.microsoft.com/office/drawing/2014/main" id="{EEEDBAB1-344A-F8ED-836A-4AF4E66734FD}"/>
              </a:ext>
            </a:extLst>
          </p:cNvPr>
          <p:cNvSpPr/>
          <p:nvPr/>
        </p:nvSpPr>
        <p:spPr>
          <a:xfrm>
            <a:off x="4907661" y="-282067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7" name="m-s12_petal_core-title-cn">
            <a:extLst>
              <a:ext uri="{FF2B5EF4-FFF2-40B4-BE49-F238E27FC236}">
                <a16:creationId xmlns:a16="http://schemas.microsoft.com/office/drawing/2014/main" id="{C676F40E-22E2-520F-63F3-508BA10C858B}"/>
              </a:ext>
            </a:extLst>
          </p:cNvPr>
          <p:cNvSpPr txBox="1"/>
          <p:nvPr/>
        </p:nvSpPr>
        <p:spPr>
          <a:xfrm>
            <a:off x="4939840" y="-299432"/>
            <a:ext cx="426453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六大核心能力</a:t>
            </a:r>
          </a:p>
        </p:txBody>
      </p:sp>
      <p:sp>
        <p:nvSpPr>
          <p:cNvPr id="218" name="m-s12_petal_core-title-en">
            <a:extLst>
              <a:ext uri="{FF2B5EF4-FFF2-40B4-BE49-F238E27FC236}">
                <a16:creationId xmlns:a16="http://schemas.microsoft.com/office/drawing/2014/main" id="{0077DEE9-CEAF-4F26-D1A5-AB9F71EBA0ED}"/>
              </a:ext>
            </a:extLst>
          </p:cNvPr>
          <p:cNvSpPr txBox="1"/>
          <p:nvPr/>
        </p:nvSpPr>
        <p:spPr>
          <a:xfrm>
            <a:off x="4947130" y="-212150"/>
            <a:ext cx="40841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CORE CAPABILITY MODEL</a:t>
            </a:r>
          </a:p>
        </p:txBody>
      </p:sp>
      <p:sp>
        <p:nvSpPr>
          <p:cNvPr id="219" name="m-s12_petal_core-title-sub">
            <a:extLst>
              <a:ext uri="{FF2B5EF4-FFF2-40B4-BE49-F238E27FC236}">
                <a16:creationId xmlns:a16="http://schemas.microsoft.com/office/drawing/2014/main" id="{761BF45C-6C09-9276-D11A-6B9DDD4C8743}"/>
              </a:ext>
            </a:extLst>
          </p:cNvPr>
          <p:cNvSpPr txBox="1"/>
          <p:nvPr/>
        </p:nvSpPr>
        <p:spPr>
          <a:xfrm>
            <a:off x="6564450" y="-243008"/>
            <a:ext cx="605704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围绕客户价值中枢展开的六项能力，互为支撑、循环增强</a:t>
            </a:r>
          </a:p>
        </p:txBody>
      </p:sp>
      <p:sp>
        <p:nvSpPr>
          <p:cNvPr id="220" name="m-s12_petal_core-guide">
            <a:extLst>
              <a:ext uri="{FF2B5EF4-FFF2-40B4-BE49-F238E27FC236}">
                <a16:creationId xmlns:a16="http://schemas.microsoft.com/office/drawing/2014/main" id="{32B60414-B369-1A95-7899-FB7FE04A577F}"/>
              </a:ext>
            </a:extLst>
          </p:cNvPr>
          <p:cNvSpPr/>
          <p:nvPr/>
        </p:nvSpPr>
        <p:spPr>
          <a:xfrm>
            <a:off x="5594985" y="-63373"/>
            <a:ext cx="885190" cy="885190"/>
          </a:xfrm>
          <a:prstGeom prst="ellipse">
            <a:avLst/>
          </a:prstGeom>
          <a:noFill/>
          <a:ln w="2540" cap="rnd">
            <a:solidFill>
              <a:srgbClr val="0B2545">
                <a:alpha val="9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1" name="m-s12_petal_core-petal-1">
            <a:extLst>
              <a:ext uri="{FF2B5EF4-FFF2-40B4-BE49-F238E27FC236}">
                <a16:creationId xmlns:a16="http://schemas.microsoft.com/office/drawing/2014/main" id="{AA0D61A2-7EC6-175D-434C-EE23C43E2DC3}"/>
              </a:ext>
            </a:extLst>
          </p:cNvPr>
          <p:cNvSpPr/>
          <p:nvPr/>
        </p:nvSpPr>
        <p:spPr>
          <a:xfrm>
            <a:off x="5913048" y="-5112"/>
            <a:ext cx="249065" cy="217329"/>
          </a:xfrm>
          <a:custGeom>
            <a:avLst/>
            <a:gdLst/>
            <a:ahLst/>
            <a:cxnLst/>
            <a:rect l="0" t="0" r="r" b="b"/>
            <a:pathLst>
              <a:path w="249065" h="217329">
                <a:moveTo>
                  <a:pt x="39442" y="217329"/>
                </a:moveTo>
                <a:cubicBezTo>
                  <a:pt x="-70984" y="166021"/>
                  <a:pt x="85162" y="6191"/>
                  <a:pt x="85162" y="6191"/>
                </a:cubicBezTo>
                <a:quadBezTo>
                  <a:pt x="124532" y="-6191"/>
                  <a:pt x="163902" y="6191"/>
                </a:quadBezTo>
                <a:cubicBezTo>
                  <a:pt x="163902" y="6191"/>
                  <a:pt x="320049" y="166021"/>
                  <a:pt x="209622" y="217329"/>
                </a:cubicBezTo>
                <a:quadBezTo>
                  <a:pt x="124532" y="208121"/>
                  <a:pt x="39442" y="217329"/>
                </a:quadBezTo>
                <a:close/>
              </a:path>
            </a:pathLst>
          </a:custGeom>
          <a:gradFill rotWithShape="1">
            <a:gsLst>
              <a:gs pos="0">
                <a:srgbClr val="3761A3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2" name="m-s12_petal_core-icon-rocket">
            <a:extLst>
              <a:ext uri="{FF2B5EF4-FFF2-40B4-BE49-F238E27FC236}">
                <a16:creationId xmlns:a16="http://schemas.microsoft.com/office/drawing/2014/main" id="{64F3EE9C-B20D-5E45-E5F4-9491E8C23A7C}"/>
              </a:ext>
            </a:extLst>
          </p:cNvPr>
          <p:cNvSpPr/>
          <p:nvPr/>
        </p:nvSpPr>
        <p:spPr>
          <a:xfrm>
            <a:off x="6023229" y="71120"/>
            <a:ext cx="28638" cy="36068"/>
          </a:xfrm>
          <a:custGeom>
            <a:avLst/>
            <a:gdLst/>
            <a:ahLst/>
            <a:cxnLst/>
            <a:rect l="0" t="0" r="r" b="b"/>
            <a:pathLst>
              <a:path w="28638" h="36068">
                <a:moveTo>
                  <a:pt x="14351" y="0"/>
                </a:moveTo>
                <a:cubicBezTo>
                  <a:pt x="20892" y="4762"/>
                  <a:pt x="24321" y="12192"/>
                  <a:pt x="24321" y="20003"/>
                </a:cubicBezTo>
                <a:lnTo>
                  <a:pt x="19558" y="27813"/>
                </a:lnTo>
                <a:lnTo>
                  <a:pt x="9144" y="27813"/>
                </a:lnTo>
                <a:lnTo>
                  <a:pt x="4382" y="20003"/>
                </a:lnTo>
                <a:cubicBezTo>
                  <a:pt x="4382" y="12192"/>
                  <a:pt x="7811" y="4762"/>
                  <a:pt x="14351" y="0"/>
                </a:cubicBezTo>
                <a:close/>
                <a:moveTo>
                  <a:pt x="4382" y="26035"/>
                </a:moveTo>
                <a:lnTo>
                  <a:pt x="0" y="36068"/>
                </a:lnTo>
                <a:lnTo>
                  <a:pt x="9144" y="32575"/>
                </a:lnTo>
                <a:moveTo>
                  <a:pt x="24321" y="26035"/>
                </a:moveTo>
                <a:lnTo>
                  <a:pt x="28638" y="36068"/>
                </a:lnTo>
                <a:lnTo>
                  <a:pt x="19558" y="32575"/>
                </a:lnTo>
              </a:path>
            </a:pathLst>
          </a:custGeom>
          <a:noFill/>
          <a:ln w="286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3" name="m-s12_petal_core-pno-1">
            <a:extLst>
              <a:ext uri="{FF2B5EF4-FFF2-40B4-BE49-F238E27FC236}">
                <a16:creationId xmlns:a16="http://schemas.microsoft.com/office/drawing/2014/main" id="{024CD782-5B46-EF6E-25BD-E5302AF54C9A}"/>
              </a:ext>
            </a:extLst>
          </p:cNvPr>
          <p:cNvSpPr txBox="1"/>
          <p:nvPr/>
        </p:nvSpPr>
        <p:spPr>
          <a:xfrm>
            <a:off x="6008655" y="21019"/>
            <a:ext cx="57850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alpha val="5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01</a:t>
            </a:r>
          </a:p>
        </p:txBody>
      </p:sp>
      <p:cxnSp>
        <p:nvCxnSpPr>
          <p:cNvPr id="224" name="m-s12_petal_core-lead-1">
            <a:extLst>
              <a:ext uri="{FF2B5EF4-FFF2-40B4-BE49-F238E27FC236}">
                <a16:creationId xmlns:a16="http://schemas.microsoft.com/office/drawing/2014/main" id="{CCF3FDED-F97D-34C1-815F-916109C23B37}"/>
              </a:ext>
            </a:extLst>
          </p:cNvPr>
          <p:cNvCxnSpPr/>
          <p:nvPr/>
        </p:nvCxnSpPr>
        <p:spPr>
          <a:xfrm flipV="1">
            <a:off x="6037580" y="-65976"/>
            <a:ext cx="0" cy="44259"/>
          </a:xfrm>
          <a:prstGeom prst="line">
            <a:avLst/>
          </a:prstGeom>
          <a:ln w="2540" cap="rnd">
            <a:solidFill>
              <a:srgbClr val="0B3E8F">
                <a:alpha val="5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5" name="m-s12_petal_core-leadd-1">
            <a:extLst>
              <a:ext uri="{FF2B5EF4-FFF2-40B4-BE49-F238E27FC236}">
                <a16:creationId xmlns:a16="http://schemas.microsoft.com/office/drawing/2014/main" id="{15570EA7-6A64-62CA-DDE3-66E1C302449B}"/>
              </a:ext>
            </a:extLst>
          </p:cNvPr>
          <p:cNvSpPr/>
          <p:nvPr/>
        </p:nvSpPr>
        <p:spPr>
          <a:xfrm>
            <a:off x="6031722" y="-71834"/>
            <a:ext cx="11716" cy="11716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6" name="m-s12_petal_core-pname-1">
            <a:extLst>
              <a:ext uri="{FF2B5EF4-FFF2-40B4-BE49-F238E27FC236}">
                <a16:creationId xmlns:a16="http://schemas.microsoft.com/office/drawing/2014/main" id="{D19DFA19-4868-8541-A479-A69ADD8E901C}"/>
              </a:ext>
            </a:extLst>
          </p:cNvPr>
          <p:cNvSpPr txBox="1"/>
          <p:nvPr/>
        </p:nvSpPr>
        <p:spPr>
          <a:xfrm>
            <a:off x="5948150" y="-154639"/>
            <a:ext cx="178860" cy="59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70" b="1" i="0" u="none" strike="noStrike" kern="1200" cap="none" spc="26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战略咨询</a:t>
            </a:r>
          </a:p>
        </p:txBody>
      </p:sp>
      <p:sp>
        <p:nvSpPr>
          <p:cNvPr id="227" name="m-s12_petal_core-pnote-1">
            <a:extLst>
              <a:ext uri="{FF2B5EF4-FFF2-40B4-BE49-F238E27FC236}">
                <a16:creationId xmlns:a16="http://schemas.microsoft.com/office/drawing/2014/main" id="{EF6E4F7F-F7F0-FEBD-A825-F8A9FF20706C}"/>
              </a:ext>
            </a:extLst>
          </p:cNvPr>
          <p:cNvSpPr txBox="1"/>
          <p:nvPr/>
        </p:nvSpPr>
        <p:spPr>
          <a:xfrm>
            <a:off x="5922473" y="-104525"/>
            <a:ext cx="230214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行业洞察与路径规划</a:t>
            </a:r>
          </a:p>
        </p:txBody>
      </p:sp>
      <p:sp>
        <p:nvSpPr>
          <p:cNvPr id="228" name="m-s12_petal_core-petal-2">
            <a:extLst>
              <a:ext uri="{FF2B5EF4-FFF2-40B4-BE49-F238E27FC236}">
                <a16:creationId xmlns:a16="http://schemas.microsoft.com/office/drawing/2014/main" id="{03B05B01-55D7-33C1-5529-E541002CB38F}"/>
              </a:ext>
            </a:extLst>
          </p:cNvPr>
          <p:cNvSpPr/>
          <p:nvPr/>
        </p:nvSpPr>
        <p:spPr>
          <a:xfrm>
            <a:off x="6139688" y="143581"/>
            <a:ext cx="245047" cy="239670"/>
          </a:xfrm>
          <a:custGeom>
            <a:avLst/>
            <a:gdLst/>
            <a:ahLst/>
            <a:cxnLst/>
            <a:rect l="0" t="0" r="r" b="b"/>
            <a:pathLst>
              <a:path w="245047" h="239670">
                <a:moveTo>
                  <a:pt x="0" y="78415"/>
                </a:moveTo>
                <a:cubicBezTo>
                  <a:pt x="-10795" y="-42807"/>
                  <a:pt x="205740" y="12502"/>
                  <a:pt x="205740" y="12502"/>
                </a:cubicBezTo>
                <a:quadBezTo>
                  <a:pt x="236093" y="40378"/>
                  <a:pt x="245047" y="80637"/>
                </a:quadBezTo>
                <a:cubicBezTo>
                  <a:pt x="245047" y="80637"/>
                  <a:pt x="184722" y="295839"/>
                  <a:pt x="85090" y="225798"/>
                </a:cubicBezTo>
                <a:quadBezTo>
                  <a:pt x="50483" y="147566"/>
                  <a:pt x="0" y="78415"/>
                </a:quadBezTo>
                <a:close/>
              </a:path>
            </a:pathLst>
          </a:custGeom>
          <a:gradFill rotWithShape="1">
            <a:gsLst>
              <a:gs pos="0">
                <a:srgbClr val="3D6CAE"/>
              </a:gs>
              <a:gs pos="100000">
                <a:srgbClr val="134C9C"/>
              </a:gs>
            </a:gsLst>
            <a:lin ang="36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9" name="m-s12_petal_core-icon-code">
            <a:extLst>
              <a:ext uri="{FF2B5EF4-FFF2-40B4-BE49-F238E27FC236}">
                <a16:creationId xmlns:a16="http://schemas.microsoft.com/office/drawing/2014/main" id="{D264A8C2-936F-452B-5925-5615B47BBF70}"/>
              </a:ext>
            </a:extLst>
          </p:cNvPr>
          <p:cNvSpPr/>
          <p:nvPr/>
        </p:nvSpPr>
        <p:spPr>
          <a:xfrm>
            <a:off x="6271768" y="226060"/>
            <a:ext cx="32131" cy="17335"/>
          </a:xfrm>
          <a:custGeom>
            <a:avLst/>
            <a:gdLst/>
            <a:ahLst/>
            <a:cxnLst/>
            <a:rect l="0" t="0" r="r" b="b"/>
            <a:pathLst>
              <a:path w="32131" h="17335">
                <a:moveTo>
                  <a:pt x="9589" y="0"/>
                </a:moveTo>
                <a:lnTo>
                  <a:pt x="0" y="8636"/>
                </a:lnTo>
                <a:lnTo>
                  <a:pt x="9589" y="17335"/>
                </a:lnTo>
                <a:moveTo>
                  <a:pt x="22606" y="0"/>
                </a:moveTo>
                <a:lnTo>
                  <a:pt x="32131" y="8636"/>
                </a:lnTo>
                <a:lnTo>
                  <a:pt x="22606" y="17335"/>
                </a:lnTo>
              </a:path>
            </a:pathLst>
          </a:custGeom>
          <a:noFill/>
          <a:ln w="286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0" name="m-s12_petal_core-pno-2">
            <a:extLst>
              <a:ext uri="{FF2B5EF4-FFF2-40B4-BE49-F238E27FC236}">
                <a16:creationId xmlns:a16="http://schemas.microsoft.com/office/drawing/2014/main" id="{556F0122-592E-B8DD-3AF1-DAD162EDCFDD}"/>
              </a:ext>
            </a:extLst>
          </p:cNvPr>
          <p:cNvSpPr txBox="1"/>
          <p:nvPr/>
        </p:nvSpPr>
        <p:spPr>
          <a:xfrm>
            <a:off x="6297256" y="187643"/>
            <a:ext cx="57850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alpha val="5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02</a:t>
            </a:r>
          </a:p>
        </p:txBody>
      </p:sp>
      <p:cxnSp>
        <p:nvCxnSpPr>
          <p:cNvPr id="231" name="m-s12_petal_core-lead-2">
            <a:extLst>
              <a:ext uri="{FF2B5EF4-FFF2-40B4-BE49-F238E27FC236}">
                <a16:creationId xmlns:a16="http://schemas.microsoft.com/office/drawing/2014/main" id="{2BF58C71-491F-772A-D72F-642473596D9C}"/>
              </a:ext>
            </a:extLst>
          </p:cNvPr>
          <p:cNvCxnSpPr/>
          <p:nvPr/>
        </p:nvCxnSpPr>
        <p:spPr>
          <a:xfrm flipV="1">
            <a:off x="6384803" y="156623"/>
            <a:ext cx="38330" cy="22129"/>
          </a:xfrm>
          <a:prstGeom prst="line">
            <a:avLst/>
          </a:prstGeom>
          <a:ln w="2540" cap="rnd">
            <a:solidFill>
              <a:srgbClr val="134C9C">
                <a:alpha val="5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2" name="m-s12_petal_core-leadd-2">
            <a:extLst>
              <a:ext uri="{FF2B5EF4-FFF2-40B4-BE49-F238E27FC236}">
                <a16:creationId xmlns:a16="http://schemas.microsoft.com/office/drawing/2014/main" id="{393BFDE2-C1AF-5311-12FD-0D1631080DC9}"/>
              </a:ext>
            </a:extLst>
          </p:cNvPr>
          <p:cNvSpPr/>
          <p:nvPr/>
        </p:nvSpPr>
        <p:spPr>
          <a:xfrm>
            <a:off x="6417275" y="150765"/>
            <a:ext cx="11716" cy="11716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3" name="m-s12_petal_core-pname-2">
            <a:extLst>
              <a:ext uri="{FF2B5EF4-FFF2-40B4-BE49-F238E27FC236}">
                <a16:creationId xmlns:a16="http://schemas.microsoft.com/office/drawing/2014/main" id="{7290F49A-40B2-F850-D6AD-7CB484A820D3}"/>
              </a:ext>
            </a:extLst>
          </p:cNvPr>
          <p:cNvSpPr txBox="1"/>
          <p:nvPr/>
        </p:nvSpPr>
        <p:spPr>
          <a:xfrm>
            <a:off x="6453079" y="103108"/>
            <a:ext cx="178860" cy="59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70" b="1" i="0" u="none" strike="noStrike" kern="1200" cap="none" spc="26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产品研发</a:t>
            </a:r>
          </a:p>
        </p:txBody>
      </p:sp>
      <p:sp>
        <p:nvSpPr>
          <p:cNvPr id="234" name="m-s12_petal_core-pnote-2">
            <a:extLst>
              <a:ext uri="{FF2B5EF4-FFF2-40B4-BE49-F238E27FC236}">
                <a16:creationId xmlns:a16="http://schemas.microsoft.com/office/drawing/2014/main" id="{391FE8CD-F8A0-7FE1-FA3E-8A376D968687}"/>
              </a:ext>
            </a:extLst>
          </p:cNvPr>
          <p:cNvSpPr txBox="1"/>
          <p:nvPr/>
        </p:nvSpPr>
        <p:spPr>
          <a:xfrm>
            <a:off x="6454407" y="155825"/>
            <a:ext cx="230214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自研引擎与快速迭代</a:t>
            </a:r>
          </a:p>
        </p:txBody>
      </p:sp>
      <p:sp>
        <p:nvSpPr>
          <p:cNvPr id="235" name="m-s12_petal_core-petal-3">
            <a:extLst>
              <a:ext uri="{FF2B5EF4-FFF2-40B4-BE49-F238E27FC236}">
                <a16:creationId xmlns:a16="http://schemas.microsoft.com/office/drawing/2014/main" id="{6C05A1CE-BB66-C45C-241A-365E6A08F97C}"/>
              </a:ext>
            </a:extLst>
          </p:cNvPr>
          <p:cNvSpPr/>
          <p:nvPr/>
        </p:nvSpPr>
        <p:spPr>
          <a:xfrm>
            <a:off x="6139688" y="375193"/>
            <a:ext cx="245047" cy="239670"/>
          </a:xfrm>
          <a:custGeom>
            <a:avLst/>
            <a:gdLst/>
            <a:ahLst/>
            <a:cxnLst/>
            <a:rect l="0" t="0" r="r" b="b"/>
            <a:pathLst>
              <a:path w="245047" h="239670">
                <a:moveTo>
                  <a:pt x="85090" y="13872"/>
                </a:moveTo>
                <a:cubicBezTo>
                  <a:pt x="184722" y="-56169"/>
                  <a:pt x="245047" y="159033"/>
                  <a:pt x="245047" y="159033"/>
                </a:cubicBezTo>
                <a:quadBezTo>
                  <a:pt x="236093" y="199292"/>
                  <a:pt x="205740" y="227168"/>
                </a:quadBezTo>
                <a:cubicBezTo>
                  <a:pt x="205740" y="227168"/>
                  <a:pt x="-10795" y="282477"/>
                  <a:pt x="0" y="161255"/>
                </a:cubicBezTo>
                <a:quadBezTo>
                  <a:pt x="50483" y="92104"/>
                  <a:pt x="85090" y="13872"/>
                </a:quadBezTo>
                <a:close/>
              </a:path>
            </a:pathLst>
          </a:custGeom>
          <a:gradFill rotWithShape="1">
            <a:gsLst>
              <a:gs pos="0">
                <a:srgbClr val="4B83C3"/>
              </a:gs>
              <a:gs pos="100000">
                <a:srgbClr val="2468B6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6" name="m-s12_petal_core-icon-process">
            <a:extLst>
              <a:ext uri="{FF2B5EF4-FFF2-40B4-BE49-F238E27FC236}">
                <a16:creationId xmlns:a16="http://schemas.microsoft.com/office/drawing/2014/main" id="{B23024DB-22CB-39EA-CE2A-A9868021EE97}"/>
              </a:ext>
            </a:extLst>
          </p:cNvPr>
          <p:cNvSpPr/>
          <p:nvPr/>
        </p:nvSpPr>
        <p:spPr>
          <a:xfrm>
            <a:off x="6271768" y="515048"/>
            <a:ext cx="32131" cy="17336"/>
          </a:xfrm>
          <a:custGeom>
            <a:avLst/>
            <a:gdLst/>
            <a:ahLst/>
            <a:cxnLst/>
            <a:rect l="0" t="0" r="r" b="b"/>
            <a:pathLst>
              <a:path w="32131" h="17336">
                <a:moveTo>
                  <a:pt x="0" y="0"/>
                </a:moveTo>
                <a:lnTo>
                  <a:pt x="11303" y="0"/>
                </a:lnTo>
                <a:lnTo>
                  <a:pt x="11303" y="11239"/>
                </a:lnTo>
                <a:lnTo>
                  <a:pt x="0" y="11239"/>
                </a:lnTo>
                <a:close/>
                <a:moveTo>
                  <a:pt x="20828" y="6033"/>
                </a:moveTo>
                <a:lnTo>
                  <a:pt x="32131" y="6033"/>
                </a:lnTo>
                <a:lnTo>
                  <a:pt x="32131" y="17336"/>
                </a:lnTo>
                <a:lnTo>
                  <a:pt x="20828" y="17336"/>
                </a:lnTo>
                <a:close/>
                <a:moveTo>
                  <a:pt x="11303" y="5652"/>
                </a:moveTo>
                <a:lnTo>
                  <a:pt x="20828" y="5652"/>
                </a:lnTo>
              </a:path>
            </a:pathLst>
          </a:custGeom>
          <a:noFill/>
          <a:ln w="286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7" name="m-s12_petal_core-pno-3">
            <a:extLst>
              <a:ext uri="{FF2B5EF4-FFF2-40B4-BE49-F238E27FC236}">
                <a16:creationId xmlns:a16="http://schemas.microsoft.com/office/drawing/2014/main" id="{05EC311B-2671-27D8-0FA2-0F3632162619}"/>
              </a:ext>
            </a:extLst>
          </p:cNvPr>
          <p:cNvSpPr txBox="1"/>
          <p:nvPr/>
        </p:nvSpPr>
        <p:spPr>
          <a:xfrm>
            <a:off x="6297256" y="520891"/>
            <a:ext cx="57850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alpha val="5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03</a:t>
            </a:r>
          </a:p>
        </p:txBody>
      </p:sp>
      <p:cxnSp>
        <p:nvCxnSpPr>
          <p:cNvPr id="238" name="m-s12_petal_core-lead-3">
            <a:extLst>
              <a:ext uri="{FF2B5EF4-FFF2-40B4-BE49-F238E27FC236}">
                <a16:creationId xmlns:a16="http://schemas.microsoft.com/office/drawing/2014/main" id="{C71DFB69-B885-CCEB-DBFB-BD8E48DAAF63}"/>
              </a:ext>
            </a:extLst>
          </p:cNvPr>
          <p:cNvCxnSpPr/>
          <p:nvPr/>
        </p:nvCxnSpPr>
        <p:spPr>
          <a:xfrm>
            <a:off x="6384803" y="579692"/>
            <a:ext cx="38330" cy="22129"/>
          </a:xfrm>
          <a:prstGeom prst="line">
            <a:avLst/>
          </a:prstGeom>
          <a:ln w="2540" cap="rnd">
            <a:solidFill>
              <a:srgbClr val="2468B6">
                <a:alpha val="5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9" name="m-s12_petal_core-leadd-3">
            <a:extLst>
              <a:ext uri="{FF2B5EF4-FFF2-40B4-BE49-F238E27FC236}">
                <a16:creationId xmlns:a16="http://schemas.microsoft.com/office/drawing/2014/main" id="{FF34798B-4292-0603-6E9B-2D91ABB53C27}"/>
              </a:ext>
            </a:extLst>
          </p:cNvPr>
          <p:cNvSpPr/>
          <p:nvPr/>
        </p:nvSpPr>
        <p:spPr>
          <a:xfrm>
            <a:off x="6417275" y="595963"/>
            <a:ext cx="11716" cy="11716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0" name="m-s12_petal_core-pname-3">
            <a:extLst>
              <a:ext uri="{FF2B5EF4-FFF2-40B4-BE49-F238E27FC236}">
                <a16:creationId xmlns:a16="http://schemas.microsoft.com/office/drawing/2014/main" id="{F483CF5B-B52E-E88E-C035-494F66B26554}"/>
              </a:ext>
            </a:extLst>
          </p:cNvPr>
          <p:cNvSpPr txBox="1"/>
          <p:nvPr/>
        </p:nvSpPr>
        <p:spPr>
          <a:xfrm>
            <a:off x="6453079" y="566531"/>
            <a:ext cx="178860" cy="59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70" b="1" i="0" u="none" strike="noStrike" kern="1200" cap="none" spc="26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交付实施</a:t>
            </a:r>
          </a:p>
        </p:txBody>
      </p:sp>
      <p:sp>
        <p:nvSpPr>
          <p:cNvPr id="241" name="m-s12_petal_core-pnote-3">
            <a:extLst>
              <a:ext uri="{FF2B5EF4-FFF2-40B4-BE49-F238E27FC236}">
                <a16:creationId xmlns:a16="http://schemas.microsoft.com/office/drawing/2014/main" id="{D2FF0DA8-BC25-FE2E-C514-787CC5859D58}"/>
              </a:ext>
            </a:extLst>
          </p:cNvPr>
          <p:cNvSpPr txBox="1"/>
          <p:nvPr/>
        </p:nvSpPr>
        <p:spPr>
          <a:xfrm>
            <a:off x="6454407" y="619248"/>
            <a:ext cx="206913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标准化实施方法论</a:t>
            </a:r>
          </a:p>
        </p:txBody>
      </p:sp>
      <p:sp>
        <p:nvSpPr>
          <p:cNvPr id="242" name="m-s12_petal_core-petal-4">
            <a:extLst>
              <a:ext uri="{FF2B5EF4-FFF2-40B4-BE49-F238E27FC236}">
                <a16:creationId xmlns:a16="http://schemas.microsoft.com/office/drawing/2014/main" id="{6BA4F6F2-1039-9169-3E9A-FDCB5D61535D}"/>
              </a:ext>
            </a:extLst>
          </p:cNvPr>
          <p:cNvSpPr/>
          <p:nvPr/>
        </p:nvSpPr>
        <p:spPr>
          <a:xfrm>
            <a:off x="5913048" y="546227"/>
            <a:ext cx="249065" cy="217329"/>
          </a:xfrm>
          <a:custGeom>
            <a:avLst/>
            <a:gdLst/>
            <a:ahLst/>
            <a:cxnLst/>
            <a:rect l="0" t="0" r="r" b="b"/>
            <a:pathLst>
              <a:path w="249065" h="217329">
                <a:moveTo>
                  <a:pt x="209622" y="0"/>
                </a:moveTo>
                <a:cubicBezTo>
                  <a:pt x="320049" y="51308"/>
                  <a:pt x="163902" y="211138"/>
                  <a:pt x="163902" y="211138"/>
                </a:cubicBezTo>
                <a:quadBezTo>
                  <a:pt x="124532" y="223520"/>
                  <a:pt x="85162" y="211138"/>
                </a:quadBezTo>
                <a:cubicBezTo>
                  <a:pt x="85162" y="211138"/>
                  <a:pt x="-70984" y="51308"/>
                  <a:pt x="39442" y="0"/>
                </a:cubicBezTo>
                <a:quadBezTo>
                  <a:pt x="124532" y="9208"/>
                  <a:pt x="209622" y="0"/>
                </a:quadBezTo>
                <a:close/>
              </a:path>
            </a:pathLst>
          </a:custGeom>
          <a:gradFill rotWithShape="1">
            <a:gsLst>
              <a:gs pos="0">
                <a:srgbClr val="548FCD"/>
              </a:gs>
              <a:gs pos="100000">
                <a:srgbClr val="2E77C2"/>
              </a:gs>
            </a:gsLst>
            <a:lin ang="108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3" name="m-s12_petal_core-icon-hand">
            <a:extLst>
              <a:ext uri="{FF2B5EF4-FFF2-40B4-BE49-F238E27FC236}">
                <a16:creationId xmlns:a16="http://schemas.microsoft.com/office/drawing/2014/main" id="{76835D38-A202-BFA2-3E2C-25426308F67B}"/>
              </a:ext>
            </a:extLst>
          </p:cNvPr>
          <p:cNvSpPr/>
          <p:nvPr/>
        </p:nvSpPr>
        <p:spPr>
          <a:xfrm>
            <a:off x="6021161" y="649542"/>
            <a:ext cx="29437" cy="37338"/>
          </a:xfrm>
          <a:custGeom>
            <a:avLst/>
            <a:gdLst/>
            <a:ahLst/>
            <a:cxnLst/>
            <a:rect l="0" t="0" r="r" b="b"/>
            <a:pathLst>
              <a:path w="29437" h="37338">
                <a:moveTo>
                  <a:pt x="8609" y="20002"/>
                </a:moveTo>
                <a:lnTo>
                  <a:pt x="8609" y="6096"/>
                </a:lnTo>
                <a:cubicBezTo>
                  <a:pt x="8609" y="4191"/>
                  <a:pt x="10133" y="2603"/>
                  <a:pt x="12101" y="2603"/>
                </a:cubicBezTo>
                <a:cubicBezTo>
                  <a:pt x="14006" y="2603"/>
                  <a:pt x="15530" y="4191"/>
                  <a:pt x="15530" y="6096"/>
                </a:cubicBezTo>
                <a:lnTo>
                  <a:pt x="15530" y="16954"/>
                </a:lnTo>
                <a:moveTo>
                  <a:pt x="15530" y="16954"/>
                </a:moveTo>
                <a:lnTo>
                  <a:pt x="15530" y="3492"/>
                </a:lnTo>
                <a:cubicBezTo>
                  <a:pt x="15530" y="1588"/>
                  <a:pt x="17118" y="0"/>
                  <a:pt x="19023" y="0"/>
                </a:cubicBezTo>
                <a:cubicBezTo>
                  <a:pt x="20928" y="0"/>
                  <a:pt x="22515" y="1588"/>
                  <a:pt x="22515" y="3492"/>
                </a:cubicBezTo>
                <a:lnTo>
                  <a:pt x="22515" y="16954"/>
                </a:lnTo>
                <a:moveTo>
                  <a:pt x="22515" y="17780"/>
                </a:moveTo>
                <a:lnTo>
                  <a:pt x="22515" y="8699"/>
                </a:lnTo>
                <a:cubicBezTo>
                  <a:pt x="22515" y="6794"/>
                  <a:pt x="24039" y="5207"/>
                  <a:pt x="25944" y="5207"/>
                </a:cubicBezTo>
                <a:cubicBezTo>
                  <a:pt x="27913" y="5207"/>
                  <a:pt x="29437" y="6794"/>
                  <a:pt x="29437" y="8699"/>
                </a:cubicBezTo>
                <a:lnTo>
                  <a:pt x="29437" y="24765"/>
                </a:lnTo>
                <a:cubicBezTo>
                  <a:pt x="29437" y="31686"/>
                  <a:pt x="24230" y="37338"/>
                  <a:pt x="17308" y="37338"/>
                </a:cubicBezTo>
                <a:cubicBezTo>
                  <a:pt x="11657" y="37338"/>
                  <a:pt x="8609" y="34734"/>
                  <a:pt x="5561" y="30353"/>
                </a:cubicBezTo>
                <a:lnTo>
                  <a:pt x="354" y="22542"/>
                </a:lnTo>
                <a:cubicBezTo>
                  <a:pt x="-408" y="21018"/>
                  <a:pt x="100" y="19177"/>
                  <a:pt x="1497" y="18224"/>
                </a:cubicBezTo>
                <a:cubicBezTo>
                  <a:pt x="2894" y="17208"/>
                  <a:pt x="4799" y="17462"/>
                  <a:pt x="6005" y="18669"/>
                </a:cubicBezTo>
                <a:close/>
              </a:path>
            </a:pathLst>
          </a:custGeom>
          <a:noFill/>
          <a:ln w="286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4" name="m-s12_petal_core-pno-4">
            <a:extLst>
              <a:ext uri="{FF2B5EF4-FFF2-40B4-BE49-F238E27FC236}">
                <a16:creationId xmlns:a16="http://schemas.microsoft.com/office/drawing/2014/main" id="{83B6FD06-7ED4-588A-7BCE-D94D6FD0970D}"/>
              </a:ext>
            </a:extLst>
          </p:cNvPr>
          <p:cNvSpPr txBox="1"/>
          <p:nvPr/>
        </p:nvSpPr>
        <p:spPr>
          <a:xfrm>
            <a:off x="6008655" y="687515"/>
            <a:ext cx="57850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alpha val="5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04</a:t>
            </a:r>
          </a:p>
        </p:txBody>
      </p:sp>
      <p:cxnSp>
        <p:nvCxnSpPr>
          <p:cNvPr id="245" name="m-s12_petal_core-lead-4">
            <a:extLst>
              <a:ext uri="{FF2B5EF4-FFF2-40B4-BE49-F238E27FC236}">
                <a16:creationId xmlns:a16="http://schemas.microsoft.com/office/drawing/2014/main" id="{C409E8B1-52D4-B9F1-6D2E-F8A1DFF281E9}"/>
              </a:ext>
            </a:extLst>
          </p:cNvPr>
          <p:cNvCxnSpPr/>
          <p:nvPr/>
        </p:nvCxnSpPr>
        <p:spPr>
          <a:xfrm>
            <a:off x="6037580" y="780161"/>
            <a:ext cx="0" cy="44259"/>
          </a:xfrm>
          <a:prstGeom prst="line">
            <a:avLst/>
          </a:prstGeom>
          <a:ln w="2540" cap="rnd">
            <a:solidFill>
              <a:srgbClr val="2E77C2">
                <a:alpha val="5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6" name="m-s12_petal_core-leadd-4">
            <a:extLst>
              <a:ext uri="{FF2B5EF4-FFF2-40B4-BE49-F238E27FC236}">
                <a16:creationId xmlns:a16="http://schemas.microsoft.com/office/drawing/2014/main" id="{69B0E905-2160-B288-45B3-8A725E7E065A}"/>
              </a:ext>
            </a:extLst>
          </p:cNvPr>
          <p:cNvSpPr/>
          <p:nvPr/>
        </p:nvSpPr>
        <p:spPr>
          <a:xfrm>
            <a:off x="6031722" y="818563"/>
            <a:ext cx="11716" cy="11716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7" name="m-s12_petal_core-pname-4">
            <a:extLst>
              <a:ext uri="{FF2B5EF4-FFF2-40B4-BE49-F238E27FC236}">
                <a16:creationId xmlns:a16="http://schemas.microsoft.com/office/drawing/2014/main" id="{67AE64A2-9BAF-079C-2401-521FAD53EC4E}"/>
              </a:ext>
            </a:extLst>
          </p:cNvPr>
          <p:cNvSpPr txBox="1"/>
          <p:nvPr/>
        </p:nvSpPr>
        <p:spPr>
          <a:xfrm>
            <a:off x="5948150" y="837295"/>
            <a:ext cx="178860" cy="59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70" b="1" i="0" u="none" strike="noStrike" kern="1200" cap="none" spc="26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运营服务</a:t>
            </a:r>
          </a:p>
        </p:txBody>
      </p:sp>
      <p:sp>
        <p:nvSpPr>
          <p:cNvPr id="248" name="m-s12_petal_core-pnote-4">
            <a:extLst>
              <a:ext uri="{FF2B5EF4-FFF2-40B4-BE49-F238E27FC236}">
                <a16:creationId xmlns:a16="http://schemas.microsoft.com/office/drawing/2014/main" id="{CD5BFD12-6AFE-24AE-5308-C8C4BB2E5FB5}"/>
              </a:ext>
            </a:extLst>
          </p:cNvPr>
          <p:cNvSpPr txBox="1"/>
          <p:nvPr/>
        </p:nvSpPr>
        <p:spPr>
          <a:xfrm>
            <a:off x="5934123" y="887409"/>
            <a:ext cx="206913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全周期陪跑与优化</a:t>
            </a:r>
          </a:p>
        </p:txBody>
      </p:sp>
      <p:sp>
        <p:nvSpPr>
          <p:cNvPr id="249" name="m-s12_petal_core-petal-5">
            <a:extLst>
              <a:ext uri="{FF2B5EF4-FFF2-40B4-BE49-F238E27FC236}">
                <a16:creationId xmlns:a16="http://schemas.microsoft.com/office/drawing/2014/main" id="{78650518-CCEB-C8E4-076B-09F130C255CF}"/>
              </a:ext>
            </a:extLst>
          </p:cNvPr>
          <p:cNvSpPr/>
          <p:nvPr/>
        </p:nvSpPr>
        <p:spPr>
          <a:xfrm>
            <a:off x="5690426" y="375193"/>
            <a:ext cx="245047" cy="239670"/>
          </a:xfrm>
          <a:custGeom>
            <a:avLst/>
            <a:gdLst/>
            <a:ahLst/>
            <a:cxnLst/>
            <a:rect l="0" t="0" r="r" b="b"/>
            <a:pathLst>
              <a:path w="245047" h="239670">
                <a:moveTo>
                  <a:pt x="245047" y="161255"/>
                </a:moveTo>
                <a:cubicBezTo>
                  <a:pt x="255841" y="282477"/>
                  <a:pt x="39307" y="227168"/>
                  <a:pt x="39307" y="227168"/>
                </a:cubicBezTo>
                <a:quadBezTo>
                  <a:pt x="8953" y="199292"/>
                  <a:pt x="0" y="159033"/>
                </a:quadBezTo>
                <a:cubicBezTo>
                  <a:pt x="0" y="159033"/>
                  <a:pt x="60325" y="-56169"/>
                  <a:pt x="159957" y="13872"/>
                </a:cubicBezTo>
                <a:quadBezTo>
                  <a:pt x="194564" y="92104"/>
                  <a:pt x="245047" y="161255"/>
                </a:quadBezTo>
                <a:close/>
              </a:path>
            </a:pathLst>
          </a:custGeom>
          <a:gradFill rotWithShape="1">
            <a:gsLst>
              <a:gs pos="0">
                <a:srgbClr val="67A7DE"/>
              </a:gs>
              <a:gs pos="100000">
                <a:srgbClr val="4694D7"/>
              </a:gs>
            </a:gsLst>
            <a:lin ang="14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0" name="m-s12_petal_core-icon-network">
            <a:extLst>
              <a:ext uri="{FF2B5EF4-FFF2-40B4-BE49-F238E27FC236}">
                <a16:creationId xmlns:a16="http://schemas.microsoft.com/office/drawing/2014/main" id="{91F05A44-1BAB-D7ED-5155-9B0D31685F03}"/>
              </a:ext>
            </a:extLst>
          </p:cNvPr>
          <p:cNvSpPr/>
          <p:nvPr/>
        </p:nvSpPr>
        <p:spPr>
          <a:xfrm>
            <a:off x="5780786" y="515938"/>
            <a:ext cx="13017" cy="15177"/>
          </a:xfrm>
          <a:custGeom>
            <a:avLst/>
            <a:gdLst/>
            <a:ahLst/>
            <a:cxnLst/>
            <a:rect l="0" t="0" r="r" b="b"/>
            <a:pathLst>
              <a:path w="13017" h="15177">
                <a:moveTo>
                  <a:pt x="6540" y="0"/>
                </a:moveTo>
                <a:lnTo>
                  <a:pt x="6540" y="6922"/>
                </a:lnTo>
                <a:moveTo>
                  <a:pt x="0" y="15177"/>
                </a:moveTo>
                <a:lnTo>
                  <a:pt x="4762" y="9525"/>
                </a:lnTo>
                <a:moveTo>
                  <a:pt x="13017" y="15177"/>
                </a:moveTo>
                <a:lnTo>
                  <a:pt x="8255" y="9525"/>
                </a:lnTo>
              </a:path>
            </a:pathLst>
          </a:custGeom>
          <a:noFill/>
          <a:ln w="286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1" name="m-s12_petal_core-icon-network">
            <a:extLst>
              <a:ext uri="{FF2B5EF4-FFF2-40B4-BE49-F238E27FC236}">
                <a16:creationId xmlns:a16="http://schemas.microsoft.com/office/drawing/2014/main" id="{9A8A3AC8-220B-0743-98DE-734A2A2B512C}"/>
              </a:ext>
            </a:extLst>
          </p:cNvPr>
          <p:cNvSpPr/>
          <p:nvPr/>
        </p:nvSpPr>
        <p:spPr>
          <a:xfrm>
            <a:off x="5781668" y="505058"/>
            <a:ext cx="11282" cy="11282"/>
          </a:xfrm>
          <a:prstGeom prst="ellipse">
            <a:avLst/>
          </a:prstGeom>
          <a:noFill/>
          <a:ln w="286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2" name="m-s12_petal_core-icon-network">
            <a:extLst>
              <a:ext uri="{FF2B5EF4-FFF2-40B4-BE49-F238E27FC236}">
                <a16:creationId xmlns:a16="http://schemas.microsoft.com/office/drawing/2014/main" id="{CFD4DF1E-0C2E-6FA1-9427-1EC05C70E68E}"/>
              </a:ext>
            </a:extLst>
          </p:cNvPr>
          <p:cNvSpPr/>
          <p:nvPr/>
        </p:nvSpPr>
        <p:spPr>
          <a:xfrm>
            <a:off x="5770820" y="529791"/>
            <a:ext cx="11282" cy="11282"/>
          </a:xfrm>
          <a:prstGeom prst="ellipse">
            <a:avLst/>
          </a:prstGeom>
          <a:noFill/>
          <a:ln w="286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3" name="m-s12_petal_core-icon-network">
            <a:extLst>
              <a:ext uri="{FF2B5EF4-FFF2-40B4-BE49-F238E27FC236}">
                <a16:creationId xmlns:a16="http://schemas.microsoft.com/office/drawing/2014/main" id="{1A37C4FA-0C42-6A00-93B7-D81528B6DBFC}"/>
              </a:ext>
            </a:extLst>
          </p:cNvPr>
          <p:cNvSpPr/>
          <p:nvPr/>
        </p:nvSpPr>
        <p:spPr>
          <a:xfrm>
            <a:off x="5792516" y="529791"/>
            <a:ext cx="11282" cy="11282"/>
          </a:xfrm>
          <a:prstGeom prst="ellipse">
            <a:avLst/>
          </a:prstGeom>
          <a:noFill/>
          <a:ln w="286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4" name="m-s12_petal_core-pno-5">
            <a:extLst>
              <a:ext uri="{FF2B5EF4-FFF2-40B4-BE49-F238E27FC236}">
                <a16:creationId xmlns:a16="http://schemas.microsoft.com/office/drawing/2014/main" id="{D94DD2C0-DC3F-EC21-F80F-F71E4F0618B2}"/>
              </a:ext>
            </a:extLst>
          </p:cNvPr>
          <p:cNvSpPr txBox="1"/>
          <p:nvPr/>
        </p:nvSpPr>
        <p:spPr>
          <a:xfrm>
            <a:off x="5720054" y="520891"/>
            <a:ext cx="57850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alpha val="5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05</a:t>
            </a:r>
          </a:p>
        </p:txBody>
      </p:sp>
      <p:cxnSp>
        <p:nvCxnSpPr>
          <p:cNvPr id="255" name="m-s12_petal_core-lead-5">
            <a:extLst>
              <a:ext uri="{FF2B5EF4-FFF2-40B4-BE49-F238E27FC236}">
                <a16:creationId xmlns:a16="http://schemas.microsoft.com/office/drawing/2014/main" id="{6B6CA215-27A2-DB6D-795B-381EBDA71083}"/>
              </a:ext>
            </a:extLst>
          </p:cNvPr>
          <p:cNvCxnSpPr/>
          <p:nvPr/>
        </p:nvCxnSpPr>
        <p:spPr>
          <a:xfrm flipH="1">
            <a:off x="5652027" y="579692"/>
            <a:ext cx="38330" cy="22129"/>
          </a:xfrm>
          <a:prstGeom prst="line">
            <a:avLst/>
          </a:prstGeom>
          <a:ln w="2540" cap="rnd">
            <a:solidFill>
              <a:srgbClr val="4694D7">
                <a:alpha val="5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6" name="m-s12_petal_core-leadd-5">
            <a:extLst>
              <a:ext uri="{FF2B5EF4-FFF2-40B4-BE49-F238E27FC236}">
                <a16:creationId xmlns:a16="http://schemas.microsoft.com/office/drawing/2014/main" id="{0FC24372-EC90-89DB-39F2-8FDB2E9218DB}"/>
              </a:ext>
            </a:extLst>
          </p:cNvPr>
          <p:cNvSpPr/>
          <p:nvPr/>
        </p:nvSpPr>
        <p:spPr>
          <a:xfrm>
            <a:off x="5646169" y="595963"/>
            <a:ext cx="11716" cy="11716"/>
          </a:xfrm>
          <a:prstGeom prst="ellipse">
            <a:avLst/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7" name="m-s12_petal_core-pname-5">
            <a:extLst>
              <a:ext uri="{FF2B5EF4-FFF2-40B4-BE49-F238E27FC236}">
                <a16:creationId xmlns:a16="http://schemas.microsoft.com/office/drawing/2014/main" id="{C921EF1D-270F-AE30-7EFB-351C389FDC60}"/>
              </a:ext>
            </a:extLst>
          </p:cNvPr>
          <p:cNvSpPr txBox="1"/>
          <p:nvPr/>
        </p:nvSpPr>
        <p:spPr>
          <a:xfrm>
            <a:off x="5443220" y="566531"/>
            <a:ext cx="178860" cy="59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70" b="1" i="0" u="none" strike="noStrike" kern="1200" cap="none" spc="26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生态协同</a:t>
            </a:r>
          </a:p>
        </p:txBody>
      </p:sp>
      <p:sp>
        <p:nvSpPr>
          <p:cNvPr id="258" name="m-s12_petal_core-pnote-5">
            <a:extLst>
              <a:ext uri="{FF2B5EF4-FFF2-40B4-BE49-F238E27FC236}">
                <a16:creationId xmlns:a16="http://schemas.microsoft.com/office/drawing/2014/main" id="{9892E93F-5CF8-2F7A-F282-083733473919}"/>
              </a:ext>
            </a:extLst>
          </p:cNvPr>
          <p:cNvSpPr txBox="1"/>
          <p:nvPr/>
        </p:nvSpPr>
        <p:spPr>
          <a:xfrm>
            <a:off x="5413840" y="619248"/>
            <a:ext cx="206913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伙伴共建行业方案</a:t>
            </a:r>
          </a:p>
        </p:txBody>
      </p:sp>
      <p:sp>
        <p:nvSpPr>
          <p:cNvPr id="259" name="m-s12_petal_core-petal-6">
            <a:extLst>
              <a:ext uri="{FF2B5EF4-FFF2-40B4-BE49-F238E27FC236}">
                <a16:creationId xmlns:a16="http://schemas.microsoft.com/office/drawing/2014/main" id="{8D32ADB9-0C30-3B58-B685-310FFDCB2767}"/>
              </a:ext>
            </a:extLst>
          </p:cNvPr>
          <p:cNvSpPr/>
          <p:nvPr/>
        </p:nvSpPr>
        <p:spPr>
          <a:xfrm>
            <a:off x="5690426" y="143581"/>
            <a:ext cx="245047" cy="239670"/>
          </a:xfrm>
          <a:custGeom>
            <a:avLst/>
            <a:gdLst/>
            <a:ahLst/>
            <a:cxnLst/>
            <a:rect l="0" t="0" r="r" b="b"/>
            <a:pathLst>
              <a:path w="245047" h="239670">
                <a:moveTo>
                  <a:pt x="159957" y="225798"/>
                </a:moveTo>
                <a:cubicBezTo>
                  <a:pt x="60325" y="295839"/>
                  <a:pt x="0" y="80637"/>
                  <a:pt x="0" y="80637"/>
                </a:cubicBezTo>
                <a:quadBezTo>
                  <a:pt x="8953" y="40378"/>
                  <a:pt x="39307" y="12502"/>
                </a:quadBezTo>
                <a:cubicBezTo>
                  <a:pt x="39307" y="12502"/>
                  <a:pt x="255841" y="-42807"/>
                  <a:pt x="245047" y="78415"/>
                </a:cubicBezTo>
                <a:quadBezTo>
                  <a:pt x="194564" y="147566"/>
                  <a:pt x="159957" y="225798"/>
                </a:quadBezTo>
                <a:close/>
              </a:path>
            </a:pathLst>
          </a:custGeom>
          <a:gradFill rotWithShape="1">
            <a:gsLst>
              <a:gs pos="0">
                <a:srgbClr val="73B3E5"/>
              </a:gs>
              <a:gs pos="100000">
                <a:srgbClr val="54A2DF"/>
              </a:gs>
            </a:gsLst>
            <a:lin ang="180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60" name="m-s12_petal_core-icon-db">
            <a:extLst>
              <a:ext uri="{FF2B5EF4-FFF2-40B4-BE49-F238E27FC236}">
                <a16:creationId xmlns:a16="http://schemas.microsoft.com/office/drawing/2014/main" id="{9CD1EC8D-FC01-C1B8-A8C5-41B3C3896084}"/>
              </a:ext>
            </a:extLst>
          </p:cNvPr>
          <p:cNvSpPr/>
          <p:nvPr/>
        </p:nvSpPr>
        <p:spPr>
          <a:xfrm>
            <a:off x="5771261" y="215202"/>
            <a:ext cx="32131" cy="39052"/>
          </a:xfrm>
          <a:custGeom>
            <a:avLst/>
            <a:gdLst/>
            <a:ahLst/>
            <a:cxnLst/>
            <a:rect l="0" t="0" r="r" b="b"/>
            <a:pathLst>
              <a:path w="32131" h="39052">
                <a:moveTo>
                  <a:pt x="16065" y="9525"/>
                </a:moveTo>
                <a:cubicBezTo>
                  <a:pt x="24955" y="9525"/>
                  <a:pt x="32131" y="7366"/>
                  <a:pt x="32131" y="4762"/>
                </a:cubicBezTo>
                <a:cubicBezTo>
                  <a:pt x="32131" y="2159"/>
                  <a:pt x="24955" y="0"/>
                  <a:pt x="16065" y="0"/>
                </a:cubicBezTo>
                <a:cubicBezTo>
                  <a:pt x="7175" y="0"/>
                  <a:pt x="0" y="2159"/>
                  <a:pt x="0" y="4762"/>
                </a:cubicBezTo>
                <a:cubicBezTo>
                  <a:pt x="0" y="7366"/>
                  <a:pt x="7175" y="9525"/>
                  <a:pt x="16065" y="9525"/>
                </a:cubicBezTo>
                <a:close/>
                <a:moveTo>
                  <a:pt x="0" y="4762"/>
                </a:moveTo>
                <a:lnTo>
                  <a:pt x="0" y="34290"/>
                </a:lnTo>
                <a:cubicBezTo>
                  <a:pt x="0" y="36894"/>
                  <a:pt x="7175" y="39052"/>
                  <a:pt x="16065" y="39052"/>
                </a:cubicBezTo>
                <a:cubicBezTo>
                  <a:pt x="24955" y="39052"/>
                  <a:pt x="32131" y="36894"/>
                  <a:pt x="32131" y="34290"/>
                </a:cubicBezTo>
                <a:lnTo>
                  <a:pt x="32131" y="4762"/>
                </a:lnTo>
                <a:moveTo>
                  <a:pt x="0" y="19494"/>
                </a:moveTo>
                <a:cubicBezTo>
                  <a:pt x="0" y="22162"/>
                  <a:pt x="7175" y="24320"/>
                  <a:pt x="16065" y="24320"/>
                </a:cubicBezTo>
                <a:cubicBezTo>
                  <a:pt x="24955" y="24320"/>
                  <a:pt x="32131" y="22162"/>
                  <a:pt x="32131" y="19494"/>
                </a:cubicBezTo>
              </a:path>
            </a:pathLst>
          </a:custGeom>
          <a:noFill/>
          <a:ln w="286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61" name="m-s12_petal_core-pno-6">
            <a:extLst>
              <a:ext uri="{FF2B5EF4-FFF2-40B4-BE49-F238E27FC236}">
                <a16:creationId xmlns:a16="http://schemas.microsoft.com/office/drawing/2014/main" id="{9E202BBD-357F-9600-F087-77A0BA01A146}"/>
              </a:ext>
            </a:extLst>
          </p:cNvPr>
          <p:cNvSpPr txBox="1"/>
          <p:nvPr/>
        </p:nvSpPr>
        <p:spPr>
          <a:xfrm>
            <a:off x="5720054" y="187643"/>
            <a:ext cx="57850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alpha val="5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06</a:t>
            </a:r>
          </a:p>
        </p:txBody>
      </p:sp>
      <p:cxnSp>
        <p:nvCxnSpPr>
          <p:cNvPr id="262" name="m-s12_petal_core-lead-6">
            <a:extLst>
              <a:ext uri="{FF2B5EF4-FFF2-40B4-BE49-F238E27FC236}">
                <a16:creationId xmlns:a16="http://schemas.microsoft.com/office/drawing/2014/main" id="{E86B80D7-FDCA-5BB6-5047-F04E16611488}"/>
              </a:ext>
            </a:extLst>
          </p:cNvPr>
          <p:cNvCxnSpPr/>
          <p:nvPr/>
        </p:nvCxnSpPr>
        <p:spPr>
          <a:xfrm flipH="1" flipV="1">
            <a:off x="5652027" y="156623"/>
            <a:ext cx="38330" cy="22129"/>
          </a:xfrm>
          <a:prstGeom prst="line">
            <a:avLst/>
          </a:prstGeom>
          <a:ln w="2540" cap="rnd">
            <a:solidFill>
              <a:srgbClr val="54A2DF">
                <a:alpha val="5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3" name="m-s12_petal_core-leadd-6">
            <a:extLst>
              <a:ext uri="{FF2B5EF4-FFF2-40B4-BE49-F238E27FC236}">
                <a16:creationId xmlns:a16="http://schemas.microsoft.com/office/drawing/2014/main" id="{E3ADAB10-1507-7AA1-FB93-537E2BC31529}"/>
              </a:ext>
            </a:extLst>
          </p:cNvPr>
          <p:cNvSpPr/>
          <p:nvPr/>
        </p:nvSpPr>
        <p:spPr>
          <a:xfrm>
            <a:off x="5646169" y="150765"/>
            <a:ext cx="11716" cy="11716"/>
          </a:xfrm>
          <a:prstGeom prst="ellipse">
            <a:avLst/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64" name="m-s12_petal_core-pname-6">
            <a:extLst>
              <a:ext uri="{FF2B5EF4-FFF2-40B4-BE49-F238E27FC236}">
                <a16:creationId xmlns:a16="http://schemas.microsoft.com/office/drawing/2014/main" id="{99120BB5-8849-336F-E6F8-773F92D7E700}"/>
              </a:ext>
            </a:extLst>
          </p:cNvPr>
          <p:cNvSpPr txBox="1"/>
          <p:nvPr/>
        </p:nvSpPr>
        <p:spPr>
          <a:xfrm>
            <a:off x="5443220" y="103108"/>
            <a:ext cx="178860" cy="59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70" b="1" i="0" u="none" strike="noStrike" kern="1200" cap="none" spc="26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数据资产</a:t>
            </a:r>
          </a:p>
        </p:txBody>
      </p:sp>
      <p:sp>
        <p:nvSpPr>
          <p:cNvPr id="265" name="m-s12_petal_core-pnote-6">
            <a:extLst>
              <a:ext uri="{FF2B5EF4-FFF2-40B4-BE49-F238E27FC236}">
                <a16:creationId xmlns:a16="http://schemas.microsoft.com/office/drawing/2014/main" id="{66E402E1-8DF7-1FCC-507B-18BAD580E240}"/>
              </a:ext>
            </a:extLst>
          </p:cNvPr>
          <p:cNvSpPr txBox="1"/>
          <p:nvPr/>
        </p:nvSpPr>
        <p:spPr>
          <a:xfrm>
            <a:off x="5367237" y="155825"/>
            <a:ext cx="253516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沉淀可复用的数据能力</a:t>
            </a:r>
          </a:p>
        </p:txBody>
      </p:sp>
      <p:sp>
        <p:nvSpPr>
          <p:cNvPr id="266" name="m-s12_petal_core-core">
            <a:extLst>
              <a:ext uri="{FF2B5EF4-FFF2-40B4-BE49-F238E27FC236}">
                <a16:creationId xmlns:a16="http://schemas.microsoft.com/office/drawing/2014/main" id="{75249D14-6D09-A15E-1276-FFAB65609343}"/>
              </a:ext>
            </a:extLst>
          </p:cNvPr>
          <p:cNvSpPr/>
          <p:nvPr/>
        </p:nvSpPr>
        <p:spPr>
          <a:xfrm>
            <a:off x="5847524" y="189166"/>
            <a:ext cx="380111" cy="38011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67" name="m-s12_petal_core-core-ring">
            <a:extLst>
              <a:ext uri="{FF2B5EF4-FFF2-40B4-BE49-F238E27FC236}">
                <a16:creationId xmlns:a16="http://schemas.microsoft.com/office/drawing/2014/main" id="{382982F3-6D38-35E9-AFC3-10C515D2BAC4}"/>
              </a:ext>
            </a:extLst>
          </p:cNvPr>
          <p:cNvSpPr/>
          <p:nvPr/>
        </p:nvSpPr>
        <p:spPr>
          <a:xfrm>
            <a:off x="5865749" y="207391"/>
            <a:ext cx="343662" cy="343662"/>
          </a:xfrm>
          <a:prstGeom prst="ellipse">
            <a:avLst/>
          </a:prstGeom>
          <a:noFill/>
          <a:ln w="2540" cap="rnd">
            <a:solidFill>
              <a:srgbClr val="0B3E8F">
                <a:alpha val="1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68" name="m-s12_petal_core-icon-target">
            <a:extLst>
              <a:ext uri="{FF2B5EF4-FFF2-40B4-BE49-F238E27FC236}">
                <a16:creationId xmlns:a16="http://schemas.microsoft.com/office/drawing/2014/main" id="{183D38FB-C2E3-D280-492B-D7CC7EC44F2A}"/>
              </a:ext>
            </a:extLst>
          </p:cNvPr>
          <p:cNvSpPr/>
          <p:nvPr/>
        </p:nvSpPr>
        <p:spPr>
          <a:xfrm>
            <a:off x="6037580" y="302324"/>
            <a:ext cx="15050" cy="19622"/>
          </a:xfrm>
          <a:custGeom>
            <a:avLst/>
            <a:gdLst/>
            <a:ahLst/>
            <a:cxnLst/>
            <a:rect l="0" t="0" r="r" b="b"/>
            <a:pathLst>
              <a:path w="15050" h="19622">
                <a:moveTo>
                  <a:pt x="0" y="11430"/>
                </a:moveTo>
                <a:lnTo>
                  <a:pt x="0" y="0"/>
                </a:lnTo>
                <a:moveTo>
                  <a:pt x="0" y="19622"/>
                </a:moveTo>
                <a:lnTo>
                  <a:pt x="15050" y="4572"/>
                </a:lnTo>
              </a:path>
            </a:pathLst>
          </a:custGeom>
          <a:noFill/>
          <a:ln w="273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69" name="m-s12_petal_core-icon-target">
            <a:extLst>
              <a:ext uri="{FF2B5EF4-FFF2-40B4-BE49-F238E27FC236}">
                <a16:creationId xmlns:a16="http://schemas.microsoft.com/office/drawing/2014/main" id="{646C6597-43AA-202A-588A-75025081B762}"/>
              </a:ext>
            </a:extLst>
          </p:cNvPr>
          <p:cNvSpPr/>
          <p:nvPr/>
        </p:nvSpPr>
        <p:spPr>
          <a:xfrm>
            <a:off x="6017989" y="302354"/>
            <a:ext cx="39183" cy="39183"/>
          </a:xfrm>
          <a:prstGeom prst="ellipse">
            <a:avLst/>
          </a:prstGeom>
          <a:noFill/>
          <a:ln w="273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70" name="m-s12_petal_core-icon-target">
            <a:extLst>
              <a:ext uri="{FF2B5EF4-FFF2-40B4-BE49-F238E27FC236}">
                <a16:creationId xmlns:a16="http://schemas.microsoft.com/office/drawing/2014/main" id="{1A82A624-4DB2-7507-6700-C4B5CA2FBA9B}"/>
              </a:ext>
            </a:extLst>
          </p:cNvPr>
          <p:cNvSpPr/>
          <p:nvPr/>
        </p:nvSpPr>
        <p:spPr>
          <a:xfrm>
            <a:off x="6027557" y="311922"/>
            <a:ext cx="20047" cy="20047"/>
          </a:xfrm>
          <a:prstGeom prst="ellipse">
            <a:avLst/>
          </a:prstGeom>
          <a:noFill/>
          <a:ln w="273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71" name="m-s12_petal_core-core-cn">
            <a:extLst>
              <a:ext uri="{FF2B5EF4-FFF2-40B4-BE49-F238E27FC236}">
                <a16:creationId xmlns:a16="http://schemas.microsoft.com/office/drawing/2014/main" id="{A0D026AF-C6B8-890A-F83C-6A8764160A52}"/>
              </a:ext>
            </a:extLst>
          </p:cNvPr>
          <p:cNvSpPr txBox="1"/>
          <p:nvPr/>
        </p:nvSpPr>
        <p:spPr>
          <a:xfrm>
            <a:off x="5934091" y="354424"/>
            <a:ext cx="206978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3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客户价值</a:t>
            </a:r>
          </a:p>
        </p:txBody>
      </p:sp>
      <p:sp>
        <p:nvSpPr>
          <p:cNvPr id="272" name="m-s12_petal_core-core-en">
            <a:extLst>
              <a:ext uri="{FF2B5EF4-FFF2-40B4-BE49-F238E27FC236}">
                <a16:creationId xmlns:a16="http://schemas.microsoft.com/office/drawing/2014/main" id="{D1D07C57-F66A-82FE-805F-63A9370E8826}"/>
              </a:ext>
            </a:extLst>
          </p:cNvPr>
          <p:cNvSpPr txBox="1"/>
          <p:nvPr/>
        </p:nvSpPr>
        <p:spPr>
          <a:xfrm>
            <a:off x="5930602" y="416595"/>
            <a:ext cx="213956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31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CUSTOMER VALUE</a:t>
            </a:r>
          </a:p>
        </p:txBody>
      </p:sp>
      <p:sp>
        <p:nvSpPr>
          <p:cNvPr id="273" name="m-s12_petal_core-core-p">
            <a:extLst>
              <a:ext uri="{FF2B5EF4-FFF2-40B4-BE49-F238E27FC236}">
                <a16:creationId xmlns:a16="http://schemas.microsoft.com/office/drawing/2014/main" id="{A75D5106-ECC0-6798-8F72-852BE444491E}"/>
              </a:ext>
            </a:extLst>
          </p:cNvPr>
          <p:cNvSpPr txBox="1"/>
          <p:nvPr/>
        </p:nvSpPr>
        <p:spPr>
          <a:xfrm>
            <a:off x="5947564" y="461851"/>
            <a:ext cx="18003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6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一切能力的出发点</a:t>
            </a:r>
          </a:p>
        </p:txBody>
      </p:sp>
      <p:sp>
        <p:nvSpPr>
          <p:cNvPr id="274" name="m-s12_petal_core-info-1">
            <a:extLst>
              <a:ext uri="{FF2B5EF4-FFF2-40B4-BE49-F238E27FC236}">
                <a16:creationId xmlns:a16="http://schemas.microsoft.com/office/drawing/2014/main" id="{3599E66B-3505-5177-135A-610DA58A6000}"/>
              </a:ext>
            </a:extLst>
          </p:cNvPr>
          <p:cNvSpPr/>
          <p:nvPr/>
        </p:nvSpPr>
        <p:spPr>
          <a:xfrm>
            <a:off x="4983162" y="-52959"/>
            <a:ext cx="424371" cy="135382"/>
          </a:xfrm>
          <a:custGeom>
            <a:avLst/>
            <a:gdLst/>
            <a:ahLst/>
            <a:cxnLst/>
            <a:rect l="0" t="0" r="r" b="b"/>
            <a:pathLst>
              <a:path w="424371" h="135382">
                <a:moveTo>
                  <a:pt x="23432" y="0"/>
                </a:moveTo>
                <a:lnTo>
                  <a:pt x="400939" y="0"/>
                </a:lnTo>
                <a:cubicBezTo>
                  <a:pt x="413893" y="0"/>
                  <a:pt x="424371" y="10477"/>
                  <a:pt x="424371" y="23431"/>
                </a:cubicBezTo>
                <a:lnTo>
                  <a:pt x="424371" y="111950"/>
                </a:lnTo>
                <a:cubicBezTo>
                  <a:pt x="424371" y="124905"/>
                  <a:pt x="413893" y="135382"/>
                  <a:pt x="400939" y="135382"/>
                </a:cubicBezTo>
                <a:lnTo>
                  <a:pt x="23432" y="135382"/>
                </a:lnTo>
                <a:cubicBezTo>
                  <a:pt x="10477" y="135382"/>
                  <a:pt x="0" y="124905"/>
                  <a:pt x="0" y="111950"/>
                </a:cubicBezTo>
                <a:lnTo>
                  <a:pt x="0" y="23431"/>
                </a:lnTo>
                <a:cubicBezTo>
                  <a:pt x="0" y="10477"/>
                  <a:pt x="10477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75" name="m-s12_petal_core-infob-1">
            <a:extLst>
              <a:ext uri="{FF2B5EF4-FFF2-40B4-BE49-F238E27FC236}">
                <a16:creationId xmlns:a16="http://schemas.microsoft.com/office/drawing/2014/main" id="{3F7F001B-238D-F4CB-A40B-58C5878F1E7D}"/>
              </a:ext>
            </a:extLst>
          </p:cNvPr>
          <p:cNvSpPr/>
          <p:nvPr/>
        </p:nvSpPr>
        <p:spPr>
          <a:xfrm>
            <a:off x="4983162" y="-52959"/>
            <a:ext cx="7811" cy="135382"/>
          </a:xfrm>
          <a:custGeom>
            <a:avLst/>
            <a:gdLst/>
            <a:ahLst/>
            <a:cxnLst/>
            <a:rect l="0" t="0" r="r" b="b"/>
            <a:pathLst>
              <a:path w="7811" h="135382">
                <a:moveTo>
                  <a:pt x="3937" y="0"/>
                </a:moveTo>
                <a:lnTo>
                  <a:pt x="3937" y="0"/>
                </a:lnTo>
                <a:cubicBezTo>
                  <a:pt x="6096" y="0"/>
                  <a:pt x="7811" y="1714"/>
                  <a:pt x="7811" y="3873"/>
                </a:cubicBezTo>
                <a:lnTo>
                  <a:pt x="7811" y="131445"/>
                </a:lnTo>
                <a:cubicBezTo>
                  <a:pt x="7811" y="133668"/>
                  <a:pt x="6096" y="135382"/>
                  <a:pt x="3937" y="135382"/>
                </a:cubicBezTo>
                <a:lnTo>
                  <a:pt x="3937" y="135382"/>
                </a:lnTo>
                <a:cubicBezTo>
                  <a:pt x="1714" y="135382"/>
                  <a:pt x="0" y="133668"/>
                  <a:pt x="0" y="131445"/>
                </a:cubicBezTo>
                <a:lnTo>
                  <a:pt x="0" y="3873"/>
                </a:lnTo>
                <a:cubicBezTo>
                  <a:pt x="0" y="1714"/>
                  <a:pt x="1714" y="0"/>
                  <a:pt x="3937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76" name="m-s12_petal_core-infov-1">
            <a:extLst>
              <a:ext uri="{FF2B5EF4-FFF2-40B4-BE49-F238E27FC236}">
                <a16:creationId xmlns:a16="http://schemas.microsoft.com/office/drawing/2014/main" id="{D4B6ECB7-18E3-9E3F-B5D6-7D3781ACEF5F}"/>
              </a:ext>
            </a:extLst>
          </p:cNvPr>
          <p:cNvSpPr txBox="1"/>
          <p:nvPr/>
        </p:nvSpPr>
        <p:spPr>
          <a:xfrm>
            <a:off x="5019195" y="-45747"/>
            <a:ext cx="171935" cy="820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70" b="1" i="0" u="none" strike="noStrike" kern="1200" cap="none" spc="8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12 年</a:t>
            </a:r>
          </a:p>
        </p:txBody>
      </p:sp>
      <p:sp>
        <p:nvSpPr>
          <p:cNvPr id="277" name="m-s12_petal_core-infol-1">
            <a:extLst>
              <a:ext uri="{FF2B5EF4-FFF2-40B4-BE49-F238E27FC236}">
                <a16:creationId xmlns:a16="http://schemas.microsoft.com/office/drawing/2014/main" id="{14A63E6D-CF78-D1DB-55BE-6A36D92282A5}"/>
              </a:ext>
            </a:extLst>
          </p:cNvPr>
          <p:cNvSpPr txBox="1"/>
          <p:nvPr/>
        </p:nvSpPr>
        <p:spPr>
          <a:xfrm>
            <a:off x="5022085" y="25650"/>
            <a:ext cx="11474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6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行业深耕</a:t>
            </a:r>
          </a:p>
        </p:txBody>
      </p:sp>
      <p:sp>
        <p:nvSpPr>
          <p:cNvPr id="278" name="m-s12_petal_core-icon-clock">
            <a:extLst>
              <a:ext uri="{FF2B5EF4-FFF2-40B4-BE49-F238E27FC236}">
                <a16:creationId xmlns:a16="http://schemas.microsoft.com/office/drawing/2014/main" id="{B6673553-B780-A813-0DA5-D42F61F2724C}"/>
              </a:ext>
            </a:extLst>
          </p:cNvPr>
          <p:cNvSpPr/>
          <p:nvPr/>
        </p:nvSpPr>
        <p:spPr>
          <a:xfrm>
            <a:off x="5358066" y="7938"/>
            <a:ext cx="4509" cy="9462"/>
          </a:xfrm>
          <a:custGeom>
            <a:avLst/>
            <a:gdLst/>
            <a:ahLst/>
            <a:cxnLst/>
            <a:rect l="0" t="0" r="r" b="b"/>
            <a:pathLst>
              <a:path w="4509" h="9462">
                <a:moveTo>
                  <a:pt x="0" y="0"/>
                </a:moveTo>
                <a:lnTo>
                  <a:pt x="0" y="6794"/>
                </a:lnTo>
                <a:lnTo>
                  <a:pt x="4509" y="9462"/>
                </a:lnTo>
              </a:path>
            </a:pathLst>
          </a:custGeom>
          <a:noFill/>
          <a:ln w="2540" cap="rnd">
            <a:solidFill>
              <a:srgbClr val="0B3E8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79" name="m-s12_petal_core-icon-clock">
            <a:extLst>
              <a:ext uri="{FF2B5EF4-FFF2-40B4-BE49-F238E27FC236}">
                <a16:creationId xmlns:a16="http://schemas.microsoft.com/office/drawing/2014/main" id="{6E2B13B2-E138-2361-EC1E-2D6853E82B49}"/>
              </a:ext>
            </a:extLst>
          </p:cNvPr>
          <p:cNvSpPr/>
          <p:nvPr/>
        </p:nvSpPr>
        <p:spPr>
          <a:xfrm>
            <a:off x="5345939" y="2604"/>
            <a:ext cx="24256" cy="24256"/>
          </a:xfrm>
          <a:prstGeom prst="ellipse">
            <a:avLst/>
          </a:prstGeom>
          <a:noFill/>
          <a:ln w="2540" cap="rnd">
            <a:solidFill>
              <a:srgbClr val="0B3E8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80" name="m-s12_petal_core-info-2">
            <a:extLst>
              <a:ext uri="{FF2B5EF4-FFF2-40B4-BE49-F238E27FC236}">
                <a16:creationId xmlns:a16="http://schemas.microsoft.com/office/drawing/2014/main" id="{4CD1A794-4C7D-7A16-4682-9177BB047AE7}"/>
              </a:ext>
            </a:extLst>
          </p:cNvPr>
          <p:cNvSpPr/>
          <p:nvPr/>
        </p:nvSpPr>
        <p:spPr>
          <a:xfrm>
            <a:off x="6667627" y="-52959"/>
            <a:ext cx="424370" cy="135382"/>
          </a:xfrm>
          <a:custGeom>
            <a:avLst/>
            <a:gdLst/>
            <a:ahLst/>
            <a:cxnLst/>
            <a:rect l="0" t="0" r="r" b="b"/>
            <a:pathLst>
              <a:path w="424370" h="135382">
                <a:moveTo>
                  <a:pt x="23432" y="0"/>
                </a:moveTo>
                <a:lnTo>
                  <a:pt x="400939" y="0"/>
                </a:lnTo>
                <a:cubicBezTo>
                  <a:pt x="413893" y="0"/>
                  <a:pt x="424370" y="10477"/>
                  <a:pt x="424370" y="23431"/>
                </a:cubicBezTo>
                <a:lnTo>
                  <a:pt x="424370" y="111950"/>
                </a:lnTo>
                <a:cubicBezTo>
                  <a:pt x="424370" y="124905"/>
                  <a:pt x="413893" y="135382"/>
                  <a:pt x="400939" y="135382"/>
                </a:cubicBezTo>
                <a:lnTo>
                  <a:pt x="23432" y="135382"/>
                </a:lnTo>
                <a:cubicBezTo>
                  <a:pt x="10478" y="135382"/>
                  <a:pt x="0" y="124905"/>
                  <a:pt x="0" y="111950"/>
                </a:cubicBezTo>
                <a:lnTo>
                  <a:pt x="0" y="23431"/>
                </a:lnTo>
                <a:cubicBezTo>
                  <a:pt x="0" y="10477"/>
                  <a:pt x="10478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81" name="m-s12_petal_core-infob-2">
            <a:extLst>
              <a:ext uri="{FF2B5EF4-FFF2-40B4-BE49-F238E27FC236}">
                <a16:creationId xmlns:a16="http://schemas.microsoft.com/office/drawing/2014/main" id="{1070449C-C533-5671-53AE-0CA8FC030495}"/>
              </a:ext>
            </a:extLst>
          </p:cNvPr>
          <p:cNvSpPr/>
          <p:nvPr/>
        </p:nvSpPr>
        <p:spPr>
          <a:xfrm>
            <a:off x="6667627" y="-52959"/>
            <a:ext cx="7811" cy="135382"/>
          </a:xfrm>
          <a:custGeom>
            <a:avLst/>
            <a:gdLst/>
            <a:ahLst/>
            <a:cxnLst/>
            <a:rect l="0" t="0" r="r" b="b"/>
            <a:pathLst>
              <a:path w="7811" h="135382">
                <a:moveTo>
                  <a:pt x="3874" y="0"/>
                </a:moveTo>
                <a:lnTo>
                  <a:pt x="3874" y="0"/>
                </a:lnTo>
                <a:cubicBezTo>
                  <a:pt x="6096" y="0"/>
                  <a:pt x="7811" y="1714"/>
                  <a:pt x="7811" y="3873"/>
                </a:cubicBezTo>
                <a:lnTo>
                  <a:pt x="7811" y="131445"/>
                </a:lnTo>
                <a:cubicBezTo>
                  <a:pt x="7811" y="133668"/>
                  <a:pt x="6096" y="135382"/>
                  <a:pt x="3874" y="135382"/>
                </a:cubicBezTo>
                <a:lnTo>
                  <a:pt x="3874" y="135382"/>
                </a:lnTo>
                <a:cubicBezTo>
                  <a:pt x="1714" y="135382"/>
                  <a:pt x="0" y="133668"/>
                  <a:pt x="0" y="131445"/>
                </a:cubicBezTo>
                <a:lnTo>
                  <a:pt x="0" y="3873"/>
                </a:lnTo>
                <a:cubicBezTo>
                  <a:pt x="0" y="1714"/>
                  <a:pt x="1714" y="0"/>
                  <a:pt x="3874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82" name="m-s12_petal_core-infov-2">
            <a:extLst>
              <a:ext uri="{FF2B5EF4-FFF2-40B4-BE49-F238E27FC236}">
                <a16:creationId xmlns:a16="http://schemas.microsoft.com/office/drawing/2014/main" id="{86F39FC7-1174-6790-A785-10299CBB30B9}"/>
              </a:ext>
            </a:extLst>
          </p:cNvPr>
          <p:cNvSpPr txBox="1"/>
          <p:nvPr/>
        </p:nvSpPr>
        <p:spPr>
          <a:xfrm>
            <a:off x="6703659" y="-45747"/>
            <a:ext cx="205885" cy="820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70" b="1" i="0" u="none" strike="noStrike" kern="1200" cap="none" spc="8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1,860+</a:t>
            </a:r>
          </a:p>
        </p:txBody>
      </p:sp>
      <p:sp>
        <p:nvSpPr>
          <p:cNvPr id="283" name="m-s12_petal_core-infol-2">
            <a:extLst>
              <a:ext uri="{FF2B5EF4-FFF2-40B4-BE49-F238E27FC236}">
                <a16:creationId xmlns:a16="http://schemas.microsoft.com/office/drawing/2014/main" id="{F1F6622E-42BE-0E85-F2E9-09B257B6821B}"/>
              </a:ext>
            </a:extLst>
          </p:cNvPr>
          <p:cNvSpPr txBox="1"/>
          <p:nvPr/>
        </p:nvSpPr>
        <p:spPr>
          <a:xfrm>
            <a:off x="6706549" y="25650"/>
            <a:ext cx="11474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6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交付项目</a:t>
            </a:r>
          </a:p>
        </p:txBody>
      </p:sp>
      <p:sp>
        <p:nvSpPr>
          <p:cNvPr id="284" name="m-s12_petal_core-icon-check">
            <a:extLst>
              <a:ext uri="{FF2B5EF4-FFF2-40B4-BE49-F238E27FC236}">
                <a16:creationId xmlns:a16="http://schemas.microsoft.com/office/drawing/2014/main" id="{F3C05EC9-2B3B-08A3-1C56-F6BB85719FC5}"/>
              </a:ext>
            </a:extLst>
          </p:cNvPr>
          <p:cNvSpPr/>
          <p:nvPr/>
        </p:nvSpPr>
        <p:spPr>
          <a:xfrm>
            <a:off x="7033514" y="8509"/>
            <a:ext cx="18034" cy="12700"/>
          </a:xfrm>
          <a:custGeom>
            <a:avLst/>
            <a:gdLst/>
            <a:ahLst/>
            <a:cxnLst/>
            <a:rect l="0" t="0" r="r" b="b"/>
            <a:pathLst>
              <a:path w="18034" h="12700">
                <a:moveTo>
                  <a:pt x="0" y="6794"/>
                </a:moveTo>
                <a:lnTo>
                  <a:pt x="5905" y="12700"/>
                </a:lnTo>
                <a:lnTo>
                  <a:pt x="18034" y="0"/>
                </a:lnTo>
              </a:path>
            </a:pathLst>
          </a:custGeom>
          <a:noFill/>
          <a:ln w="2540" cap="rnd">
            <a:solidFill>
              <a:srgbClr val="1B5AA8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85" name="m-s12_petal_core-info-3">
            <a:extLst>
              <a:ext uri="{FF2B5EF4-FFF2-40B4-BE49-F238E27FC236}">
                <a16:creationId xmlns:a16="http://schemas.microsoft.com/office/drawing/2014/main" id="{F6D2095D-5FEC-A20C-3A90-F13C294A6260}"/>
              </a:ext>
            </a:extLst>
          </p:cNvPr>
          <p:cNvSpPr/>
          <p:nvPr/>
        </p:nvSpPr>
        <p:spPr>
          <a:xfrm>
            <a:off x="4983162" y="759333"/>
            <a:ext cx="424371" cy="135382"/>
          </a:xfrm>
          <a:custGeom>
            <a:avLst/>
            <a:gdLst/>
            <a:ahLst/>
            <a:cxnLst/>
            <a:rect l="0" t="0" r="r" b="b"/>
            <a:pathLst>
              <a:path w="424371" h="135382">
                <a:moveTo>
                  <a:pt x="23432" y="0"/>
                </a:moveTo>
                <a:lnTo>
                  <a:pt x="400939" y="0"/>
                </a:lnTo>
                <a:cubicBezTo>
                  <a:pt x="413893" y="0"/>
                  <a:pt x="424371" y="10478"/>
                  <a:pt x="424371" y="23431"/>
                </a:cubicBezTo>
                <a:lnTo>
                  <a:pt x="424371" y="111951"/>
                </a:lnTo>
                <a:cubicBezTo>
                  <a:pt x="424371" y="124905"/>
                  <a:pt x="413893" y="135382"/>
                  <a:pt x="400939" y="135382"/>
                </a:cubicBezTo>
                <a:lnTo>
                  <a:pt x="23432" y="135382"/>
                </a:lnTo>
                <a:cubicBezTo>
                  <a:pt x="10477" y="135382"/>
                  <a:pt x="0" y="124905"/>
                  <a:pt x="0" y="111951"/>
                </a:cubicBezTo>
                <a:lnTo>
                  <a:pt x="0" y="23431"/>
                </a:lnTo>
                <a:cubicBezTo>
                  <a:pt x="0" y="10478"/>
                  <a:pt x="10477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86" name="m-s12_petal_core-infob-3">
            <a:extLst>
              <a:ext uri="{FF2B5EF4-FFF2-40B4-BE49-F238E27FC236}">
                <a16:creationId xmlns:a16="http://schemas.microsoft.com/office/drawing/2014/main" id="{29F64087-9E6E-69E4-AF05-43A85CC8C718}"/>
              </a:ext>
            </a:extLst>
          </p:cNvPr>
          <p:cNvSpPr/>
          <p:nvPr/>
        </p:nvSpPr>
        <p:spPr>
          <a:xfrm>
            <a:off x="4983162" y="759333"/>
            <a:ext cx="7811" cy="135382"/>
          </a:xfrm>
          <a:custGeom>
            <a:avLst/>
            <a:gdLst/>
            <a:ahLst/>
            <a:cxnLst/>
            <a:rect l="0" t="0" r="r" b="b"/>
            <a:pathLst>
              <a:path w="7811" h="135382">
                <a:moveTo>
                  <a:pt x="3937" y="0"/>
                </a:moveTo>
                <a:lnTo>
                  <a:pt x="3937" y="0"/>
                </a:lnTo>
                <a:cubicBezTo>
                  <a:pt x="6096" y="0"/>
                  <a:pt x="7811" y="1714"/>
                  <a:pt x="7811" y="3873"/>
                </a:cubicBezTo>
                <a:lnTo>
                  <a:pt x="7811" y="131445"/>
                </a:lnTo>
                <a:cubicBezTo>
                  <a:pt x="7811" y="133667"/>
                  <a:pt x="6096" y="135382"/>
                  <a:pt x="3937" y="135382"/>
                </a:cubicBezTo>
                <a:lnTo>
                  <a:pt x="3937" y="135382"/>
                </a:lnTo>
                <a:cubicBezTo>
                  <a:pt x="1714" y="135382"/>
                  <a:pt x="0" y="133667"/>
                  <a:pt x="0" y="131445"/>
                </a:cubicBezTo>
                <a:lnTo>
                  <a:pt x="0" y="3873"/>
                </a:lnTo>
                <a:cubicBezTo>
                  <a:pt x="0" y="1714"/>
                  <a:pt x="1714" y="0"/>
                  <a:pt x="3937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87" name="m-s12_petal_core-infov-3">
            <a:extLst>
              <a:ext uri="{FF2B5EF4-FFF2-40B4-BE49-F238E27FC236}">
                <a16:creationId xmlns:a16="http://schemas.microsoft.com/office/drawing/2014/main" id="{9EA3D7E4-920B-2423-C7CE-5FDA05FBB9E7}"/>
              </a:ext>
            </a:extLst>
          </p:cNvPr>
          <p:cNvSpPr txBox="1"/>
          <p:nvPr/>
        </p:nvSpPr>
        <p:spPr>
          <a:xfrm>
            <a:off x="5019195" y="766545"/>
            <a:ext cx="171935" cy="820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70" b="1" i="0" u="none" strike="noStrike" kern="1200" cap="none" spc="8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36 项</a:t>
            </a:r>
          </a:p>
        </p:txBody>
      </p:sp>
      <p:sp>
        <p:nvSpPr>
          <p:cNvPr id="288" name="m-s12_petal_core-infol-3">
            <a:extLst>
              <a:ext uri="{FF2B5EF4-FFF2-40B4-BE49-F238E27FC236}">
                <a16:creationId xmlns:a16="http://schemas.microsoft.com/office/drawing/2014/main" id="{4AB97C4E-6D3D-8430-663E-7C5BA66F360C}"/>
              </a:ext>
            </a:extLst>
          </p:cNvPr>
          <p:cNvSpPr txBox="1"/>
          <p:nvPr/>
        </p:nvSpPr>
        <p:spPr>
          <a:xfrm>
            <a:off x="5022085" y="837942"/>
            <a:ext cx="161873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6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自主知识产权</a:t>
            </a:r>
          </a:p>
        </p:txBody>
      </p:sp>
      <p:sp>
        <p:nvSpPr>
          <p:cNvPr id="289" name="m-s12_petal_core-icon-award">
            <a:extLst>
              <a:ext uri="{FF2B5EF4-FFF2-40B4-BE49-F238E27FC236}">
                <a16:creationId xmlns:a16="http://schemas.microsoft.com/office/drawing/2014/main" id="{4BCA7CAF-244D-632D-1047-0BE3CA1903CA}"/>
              </a:ext>
            </a:extLst>
          </p:cNvPr>
          <p:cNvSpPr/>
          <p:nvPr/>
        </p:nvSpPr>
        <p:spPr>
          <a:xfrm>
            <a:off x="5352161" y="830707"/>
            <a:ext cx="11811" cy="8192"/>
          </a:xfrm>
          <a:custGeom>
            <a:avLst/>
            <a:gdLst/>
            <a:ahLst/>
            <a:cxnLst/>
            <a:rect l="0" t="0" r="r" b="b"/>
            <a:pathLst>
              <a:path w="11811" h="8192">
                <a:moveTo>
                  <a:pt x="2223" y="0"/>
                </a:moveTo>
                <a:lnTo>
                  <a:pt x="0" y="8192"/>
                </a:lnTo>
                <a:lnTo>
                  <a:pt x="5905" y="5080"/>
                </a:lnTo>
                <a:lnTo>
                  <a:pt x="11811" y="8192"/>
                </a:lnTo>
                <a:lnTo>
                  <a:pt x="9588" y="0"/>
                </a:lnTo>
              </a:path>
            </a:pathLst>
          </a:custGeom>
          <a:noFill/>
          <a:ln w="2540" cap="rnd">
            <a:solidFill>
              <a:srgbClr val="2E77C2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90" name="m-s12_petal_core-icon-award">
            <a:extLst>
              <a:ext uri="{FF2B5EF4-FFF2-40B4-BE49-F238E27FC236}">
                <a16:creationId xmlns:a16="http://schemas.microsoft.com/office/drawing/2014/main" id="{89C837E7-293C-0D6E-26F5-35EF6E6891EB}"/>
              </a:ext>
            </a:extLst>
          </p:cNvPr>
          <p:cNvSpPr/>
          <p:nvPr/>
        </p:nvSpPr>
        <p:spPr>
          <a:xfrm>
            <a:off x="5350169" y="815460"/>
            <a:ext cx="15795" cy="15795"/>
          </a:xfrm>
          <a:prstGeom prst="ellipse">
            <a:avLst/>
          </a:prstGeom>
          <a:noFill/>
          <a:ln w="2540" cap="rnd">
            <a:solidFill>
              <a:srgbClr val="2E77C2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91" name="m-s12_petal_core-info-4">
            <a:extLst>
              <a:ext uri="{FF2B5EF4-FFF2-40B4-BE49-F238E27FC236}">
                <a16:creationId xmlns:a16="http://schemas.microsoft.com/office/drawing/2014/main" id="{F936F873-B1CC-90C1-9AD9-99B7EFBABAD0}"/>
              </a:ext>
            </a:extLst>
          </p:cNvPr>
          <p:cNvSpPr/>
          <p:nvPr/>
        </p:nvSpPr>
        <p:spPr>
          <a:xfrm>
            <a:off x="6667627" y="759333"/>
            <a:ext cx="424370" cy="135382"/>
          </a:xfrm>
          <a:custGeom>
            <a:avLst/>
            <a:gdLst/>
            <a:ahLst/>
            <a:cxnLst/>
            <a:rect l="0" t="0" r="r" b="b"/>
            <a:pathLst>
              <a:path w="424370" h="135382">
                <a:moveTo>
                  <a:pt x="23432" y="0"/>
                </a:moveTo>
                <a:lnTo>
                  <a:pt x="400939" y="0"/>
                </a:lnTo>
                <a:cubicBezTo>
                  <a:pt x="413893" y="0"/>
                  <a:pt x="424370" y="10478"/>
                  <a:pt x="424370" y="23431"/>
                </a:cubicBezTo>
                <a:lnTo>
                  <a:pt x="424370" y="111951"/>
                </a:lnTo>
                <a:cubicBezTo>
                  <a:pt x="424370" y="124905"/>
                  <a:pt x="413893" y="135382"/>
                  <a:pt x="400939" y="135382"/>
                </a:cubicBezTo>
                <a:lnTo>
                  <a:pt x="23432" y="135382"/>
                </a:lnTo>
                <a:cubicBezTo>
                  <a:pt x="10478" y="135382"/>
                  <a:pt x="0" y="124905"/>
                  <a:pt x="0" y="111951"/>
                </a:cubicBezTo>
                <a:lnTo>
                  <a:pt x="0" y="23431"/>
                </a:lnTo>
                <a:cubicBezTo>
                  <a:pt x="0" y="10478"/>
                  <a:pt x="10478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92" name="m-s12_petal_core-infob-4">
            <a:extLst>
              <a:ext uri="{FF2B5EF4-FFF2-40B4-BE49-F238E27FC236}">
                <a16:creationId xmlns:a16="http://schemas.microsoft.com/office/drawing/2014/main" id="{62AE8AFE-19F0-E93E-2E83-A88890575B78}"/>
              </a:ext>
            </a:extLst>
          </p:cNvPr>
          <p:cNvSpPr/>
          <p:nvPr/>
        </p:nvSpPr>
        <p:spPr>
          <a:xfrm>
            <a:off x="6667627" y="759333"/>
            <a:ext cx="7811" cy="135382"/>
          </a:xfrm>
          <a:custGeom>
            <a:avLst/>
            <a:gdLst/>
            <a:ahLst/>
            <a:cxnLst/>
            <a:rect l="0" t="0" r="r" b="b"/>
            <a:pathLst>
              <a:path w="7811" h="135382">
                <a:moveTo>
                  <a:pt x="3874" y="0"/>
                </a:moveTo>
                <a:lnTo>
                  <a:pt x="3874" y="0"/>
                </a:lnTo>
                <a:cubicBezTo>
                  <a:pt x="6096" y="0"/>
                  <a:pt x="7811" y="1714"/>
                  <a:pt x="7811" y="3873"/>
                </a:cubicBezTo>
                <a:lnTo>
                  <a:pt x="7811" y="131445"/>
                </a:lnTo>
                <a:cubicBezTo>
                  <a:pt x="7811" y="133667"/>
                  <a:pt x="6096" y="135382"/>
                  <a:pt x="3874" y="135382"/>
                </a:cubicBezTo>
                <a:lnTo>
                  <a:pt x="3874" y="135382"/>
                </a:lnTo>
                <a:cubicBezTo>
                  <a:pt x="1714" y="135382"/>
                  <a:pt x="0" y="133667"/>
                  <a:pt x="0" y="131445"/>
                </a:cubicBezTo>
                <a:lnTo>
                  <a:pt x="0" y="3873"/>
                </a:lnTo>
                <a:cubicBezTo>
                  <a:pt x="0" y="1714"/>
                  <a:pt x="1714" y="0"/>
                  <a:pt x="3874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93" name="m-s12_petal_core-infov-4">
            <a:extLst>
              <a:ext uri="{FF2B5EF4-FFF2-40B4-BE49-F238E27FC236}">
                <a16:creationId xmlns:a16="http://schemas.microsoft.com/office/drawing/2014/main" id="{327E34FB-1CA7-E564-40AE-94B1A269503F}"/>
              </a:ext>
            </a:extLst>
          </p:cNvPr>
          <p:cNvSpPr txBox="1"/>
          <p:nvPr/>
        </p:nvSpPr>
        <p:spPr>
          <a:xfrm>
            <a:off x="6703659" y="766545"/>
            <a:ext cx="178600" cy="820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70" b="1" i="0" u="none" strike="noStrike" kern="1200" cap="none" spc="8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96.4%</a:t>
            </a:r>
          </a:p>
        </p:txBody>
      </p:sp>
      <p:sp>
        <p:nvSpPr>
          <p:cNvPr id="294" name="m-s12_petal_core-infol-4">
            <a:extLst>
              <a:ext uri="{FF2B5EF4-FFF2-40B4-BE49-F238E27FC236}">
                <a16:creationId xmlns:a16="http://schemas.microsoft.com/office/drawing/2014/main" id="{BF1B7909-D109-9CBE-BBC5-4598725A2B9C}"/>
              </a:ext>
            </a:extLst>
          </p:cNvPr>
          <p:cNvSpPr txBox="1"/>
          <p:nvPr/>
        </p:nvSpPr>
        <p:spPr>
          <a:xfrm>
            <a:off x="6706549" y="837942"/>
            <a:ext cx="138311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6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客户续约率</a:t>
            </a:r>
          </a:p>
        </p:txBody>
      </p:sp>
      <p:sp>
        <p:nvSpPr>
          <p:cNvPr id="295" name="m-s12_petal_core-icon-people">
            <a:extLst>
              <a:ext uri="{FF2B5EF4-FFF2-40B4-BE49-F238E27FC236}">
                <a16:creationId xmlns:a16="http://schemas.microsoft.com/office/drawing/2014/main" id="{F4031832-2DF3-B9E2-092F-F7B8184C4936}"/>
              </a:ext>
            </a:extLst>
          </p:cNvPr>
          <p:cNvSpPr/>
          <p:nvPr/>
        </p:nvSpPr>
        <p:spPr>
          <a:xfrm>
            <a:off x="7030656" y="830707"/>
            <a:ext cx="24003" cy="6731"/>
          </a:xfrm>
          <a:custGeom>
            <a:avLst/>
            <a:gdLst/>
            <a:ahLst/>
            <a:cxnLst/>
            <a:rect l="0" t="0" r="r" b="b"/>
            <a:pathLst>
              <a:path w="24003" h="6731">
                <a:moveTo>
                  <a:pt x="0" y="6731"/>
                </a:moveTo>
                <a:cubicBezTo>
                  <a:pt x="0" y="2540"/>
                  <a:pt x="3556" y="0"/>
                  <a:pt x="7620" y="0"/>
                </a:cubicBezTo>
                <a:cubicBezTo>
                  <a:pt x="11747" y="0"/>
                  <a:pt x="15240" y="2540"/>
                  <a:pt x="15240" y="6731"/>
                </a:cubicBezTo>
                <a:moveTo>
                  <a:pt x="18097" y="572"/>
                </a:moveTo>
                <a:cubicBezTo>
                  <a:pt x="21717" y="953"/>
                  <a:pt x="24003" y="3493"/>
                  <a:pt x="24003" y="6731"/>
                </a:cubicBezTo>
              </a:path>
            </a:pathLst>
          </a:custGeom>
          <a:noFill/>
          <a:ln w="2540" cap="rnd">
            <a:solidFill>
              <a:srgbClr val="4694D7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96" name="m-s12_petal_core-icon-people">
            <a:extLst>
              <a:ext uri="{FF2B5EF4-FFF2-40B4-BE49-F238E27FC236}">
                <a16:creationId xmlns:a16="http://schemas.microsoft.com/office/drawing/2014/main" id="{0F7A95A2-0612-3546-3C50-24ECEB6D7772}"/>
              </a:ext>
            </a:extLst>
          </p:cNvPr>
          <p:cNvSpPr/>
          <p:nvPr/>
        </p:nvSpPr>
        <p:spPr>
          <a:xfrm>
            <a:off x="7033788" y="818563"/>
            <a:ext cx="9025" cy="9025"/>
          </a:xfrm>
          <a:prstGeom prst="ellipse">
            <a:avLst/>
          </a:prstGeom>
          <a:noFill/>
          <a:ln w="2540" cap="rnd">
            <a:solidFill>
              <a:srgbClr val="4694D7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97" name="m-s12_petal_core-icon-people">
            <a:extLst>
              <a:ext uri="{FF2B5EF4-FFF2-40B4-BE49-F238E27FC236}">
                <a16:creationId xmlns:a16="http://schemas.microsoft.com/office/drawing/2014/main" id="{F14087C4-AE91-A362-7CF9-C50F78FB04E7}"/>
              </a:ext>
            </a:extLst>
          </p:cNvPr>
          <p:cNvSpPr/>
          <p:nvPr/>
        </p:nvSpPr>
        <p:spPr>
          <a:xfrm>
            <a:off x="7045916" y="818563"/>
            <a:ext cx="7333" cy="7333"/>
          </a:xfrm>
          <a:prstGeom prst="ellipse">
            <a:avLst/>
          </a:prstGeom>
          <a:noFill/>
          <a:ln w="2540" cap="rnd">
            <a:solidFill>
              <a:srgbClr val="4694D7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298" name="m-s12_petal_core-foot-line">
            <a:extLst>
              <a:ext uri="{FF2B5EF4-FFF2-40B4-BE49-F238E27FC236}">
                <a16:creationId xmlns:a16="http://schemas.microsoft.com/office/drawing/2014/main" id="{0F18E351-1027-EF9C-C221-7860590DD99F}"/>
              </a:ext>
            </a:extLst>
          </p:cNvPr>
          <p:cNvCxnSpPr/>
          <p:nvPr/>
        </p:nvCxnSpPr>
        <p:spPr>
          <a:xfrm>
            <a:off x="4907661" y="9441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9" name="m-s12_petal_core-foot-l">
            <a:extLst>
              <a:ext uri="{FF2B5EF4-FFF2-40B4-BE49-F238E27FC236}">
                <a16:creationId xmlns:a16="http://schemas.microsoft.com/office/drawing/2014/main" id="{A133CC6A-31A7-6FCC-A1BE-0076B02AED57}"/>
              </a:ext>
            </a:extLst>
          </p:cNvPr>
          <p:cNvSpPr txBox="1"/>
          <p:nvPr/>
        </p:nvSpPr>
        <p:spPr>
          <a:xfrm>
            <a:off x="4905474" y="958123"/>
            <a:ext cx="21429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能力模型 · 六大核心</a:t>
            </a:r>
          </a:p>
        </p:txBody>
      </p:sp>
      <p:sp>
        <p:nvSpPr>
          <p:cNvPr id="300" name="m-s12_petal_core-foot-r">
            <a:extLst>
              <a:ext uri="{FF2B5EF4-FFF2-40B4-BE49-F238E27FC236}">
                <a16:creationId xmlns:a16="http://schemas.microsoft.com/office/drawing/2014/main" id="{113A4EC4-7CF9-E777-FCC1-89556C1962C4}"/>
              </a:ext>
            </a:extLst>
          </p:cNvPr>
          <p:cNvSpPr txBox="1"/>
          <p:nvPr/>
        </p:nvSpPr>
        <p:spPr>
          <a:xfrm>
            <a:off x="6909909" y="9581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301" name="mini-card-d05_donut_share">
            <a:extLst>
              <a:ext uri="{FF2B5EF4-FFF2-40B4-BE49-F238E27FC236}">
                <a16:creationId xmlns:a16="http://schemas.microsoft.com/office/drawing/2014/main" id="{E0E44235-9D52-7CB2-2FF4-FCFFC3669B04}"/>
              </a:ext>
            </a:extLst>
          </p:cNvPr>
          <p:cNvSpPr/>
          <p:nvPr/>
        </p:nvSpPr>
        <p:spPr>
          <a:xfrm>
            <a:off x="7404100" y="-3810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1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1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1" y="1405890"/>
                </a:lnTo>
                <a:cubicBezTo>
                  <a:pt x="35878" y="1405890"/>
                  <a:pt x="0" y="1370012"/>
                  <a:pt x="0" y="1325690"/>
                </a:cubicBezTo>
                <a:lnTo>
                  <a:pt x="0" y="80201"/>
                </a:lnTo>
                <a:cubicBezTo>
                  <a:pt x="0" y="35877"/>
                  <a:pt x="35878" y="0"/>
                  <a:pt x="80201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02" name="m-d05_donut_share-title-bar">
            <a:extLst>
              <a:ext uri="{FF2B5EF4-FFF2-40B4-BE49-F238E27FC236}">
                <a16:creationId xmlns:a16="http://schemas.microsoft.com/office/drawing/2014/main" id="{05B6A65F-9247-6D1E-872D-38A0311CB107}"/>
              </a:ext>
            </a:extLst>
          </p:cNvPr>
          <p:cNvSpPr/>
          <p:nvPr/>
        </p:nvSpPr>
        <p:spPr>
          <a:xfrm>
            <a:off x="7523861" y="-282067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03" name="m-d05_donut_share-title-bar-accent">
            <a:extLst>
              <a:ext uri="{FF2B5EF4-FFF2-40B4-BE49-F238E27FC236}">
                <a16:creationId xmlns:a16="http://schemas.microsoft.com/office/drawing/2014/main" id="{3D72497F-6650-B5EC-3417-9F0012621EC5}"/>
              </a:ext>
            </a:extLst>
          </p:cNvPr>
          <p:cNvSpPr/>
          <p:nvPr/>
        </p:nvSpPr>
        <p:spPr>
          <a:xfrm>
            <a:off x="7523861" y="-282067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04" name="m-d05_donut_share-title-cn">
            <a:extLst>
              <a:ext uri="{FF2B5EF4-FFF2-40B4-BE49-F238E27FC236}">
                <a16:creationId xmlns:a16="http://schemas.microsoft.com/office/drawing/2014/main" id="{9DF5F788-9AA8-81B1-AA75-AF8BBE48905D}"/>
              </a:ext>
            </a:extLst>
          </p:cNvPr>
          <p:cNvSpPr txBox="1"/>
          <p:nvPr/>
        </p:nvSpPr>
        <p:spPr>
          <a:xfrm>
            <a:off x="7556040" y="-299432"/>
            <a:ext cx="426453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客户结构分布</a:t>
            </a:r>
          </a:p>
        </p:txBody>
      </p:sp>
      <p:sp>
        <p:nvSpPr>
          <p:cNvPr id="305" name="m-d05_donut_share-title-en">
            <a:extLst>
              <a:ext uri="{FF2B5EF4-FFF2-40B4-BE49-F238E27FC236}">
                <a16:creationId xmlns:a16="http://schemas.microsoft.com/office/drawing/2014/main" id="{0D32CF3C-E757-9FF8-C87A-E24C0EA80F25}"/>
              </a:ext>
            </a:extLst>
          </p:cNvPr>
          <p:cNvSpPr txBox="1"/>
          <p:nvPr/>
        </p:nvSpPr>
        <p:spPr>
          <a:xfrm>
            <a:off x="7563330" y="-212150"/>
            <a:ext cx="24040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CUSTOMER MIX</a:t>
            </a:r>
          </a:p>
        </p:txBody>
      </p:sp>
      <p:sp>
        <p:nvSpPr>
          <p:cNvPr id="306" name="m-d05_donut_share-title-sub">
            <a:extLst>
              <a:ext uri="{FF2B5EF4-FFF2-40B4-BE49-F238E27FC236}">
                <a16:creationId xmlns:a16="http://schemas.microsoft.com/office/drawing/2014/main" id="{117197D5-2C19-FDA2-4D68-6DE29AA29071}"/>
              </a:ext>
            </a:extLst>
          </p:cNvPr>
          <p:cNvSpPr txBox="1"/>
          <p:nvPr/>
        </p:nvSpPr>
        <p:spPr>
          <a:xfrm>
            <a:off x="9368102" y="-243008"/>
            <a:ext cx="418252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按行业划分的客户数量与收入贡献占比</a:t>
            </a:r>
          </a:p>
        </p:txBody>
      </p:sp>
      <p:sp>
        <p:nvSpPr>
          <p:cNvPr id="307" name="m-d05_donut_share-guide">
            <a:extLst>
              <a:ext uri="{FF2B5EF4-FFF2-40B4-BE49-F238E27FC236}">
                <a16:creationId xmlns:a16="http://schemas.microsoft.com/office/drawing/2014/main" id="{227AD15C-79CD-42DA-2F31-072B5C18E864}"/>
              </a:ext>
            </a:extLst>
          </p:cNvPr>
          <p:cNvSpPr/>
          <p:nvPr/>
        </p:nvSpPr>
        <p:spPr>
          <a:xfrm>
            <a:off x="7828470" y="22542"/>
            <a:ext cx="765429" cy="765429"/>
          </a:xfrm>
          <a:prstGeom prst="ellipse">
            <a:avLst/>
          </a:prstGeom>
          <a:noFill/>
          <a:ln w="2540" cap="rnd">
            <a:solidFill>
              <a:srgbClr val="0B2545">
                <a:alpha val="1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08" name="m-d05_donut_share-seg-1">
            <a:extLst>
              <a:ext uri="{FF2B5EF4-FFF2-40B4-BE49-F238E27FC236}">
                <a16:creationId xmlns:a16="http://schemas.microsoft.com/office/drawing/2014/main" id="{3F950EF7-A7F5-6EF9-8271-D3CD68D63086}"/>
              </a:ext>
            </a:extLst>
          </p:cNvPr>
          <p:cNvSpPr/>
          <p:nvPr/>
        </p:nvSpPr>
        <p:spPr>
          <a:xfrm>
            <a:off x="8217027" y="57015"/>
            <a:ext cx="343043" cy="525027"/>
          </a:xfrm>
          <a:custGeom>
            <a:avLst/>
            <a:gdLst/>
            <a:ahLst/>
            <a:cxnLst/>
            <a:rect l="0" t="0" r="r" b="b"/>
            <a:pathLst>
              <a:path w="343043" h="525027">
                <a:moveTo>
                  <a:pt x="15621" y="8"/>
                </a:moveTo>
                <a:cubicBezTo>
                  <a:pt x="135001" y="7374"/>
                  <a:pt x="242253" y="75383"/>
                  <a:pt x="299847" y="180158"/>
                </a:cubicBezTo>
                <a:cubicBezTo>
                  <a:pt x="357505" y="284996"/>
                  <a:pt x="357441" y="411996"/>
                  <a:pt x="299657" y="516708"/>
                </a:cubicBezTo>
                <a:quadBezTo>
                  <a:pt x="291846" y="530170"/>
                  <a:pt x="278638" y="521851"/>
                </a:quadBezTo>
                <a:lnTo>
                  <a:pt x="199454" y="471623"/>
                </a:lnTo>
                <a:quadBezTo>
                  <a:pt x="181864" y="460447"/>
                  <a:pt x="191707" y="442095"/>
                </a:quadBezTo>
                <a:cubicBezTo>
                  <a:pt x="221869" y="378595"/>
                  <a:pt x="219646" y="304491"/>
                  <a:pt x="185801" y="242896"/>
                </a:cubicBezTo>
                <a:cubicBezTo>
                  <a:pt x="151956" y="181301"/>
                  <a:pt x="90551" y="139708"/>
                  <a:pt x="20764" y="131199"/>
                </a:cubicBezTo>
                <a:quadBezTo>
                  <a:pt x="0" y="129612"/>
                  <a:pt x="0" y="108784"/>
                </a:quadBezTo>
                <a:lnTo>
                  <a:pt x="0" y="15058"/>
                </a:lnTo>
                <a:quadBezTo>
                  <a:pt x="0" y="-563"/>
                  <a:pt x="15621" y="8"/>
                </a:quad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09" name="m-d05_donut_share-seg-2">
            <a:extLst>
              <a:ext uri="{FF2B5EF4-FFF2-40B4-BE49-F238E27FC236}">
                <a16:creationId xmlns:a16="http://schemas.microsoft.com/office/drawing/2014/main" id="{27CC1B54-71A1-E07F-B49F-AB9D200727B4}"/>
              </a:ext>
            </a:extLst>
          </p:cNvPr>
          <p:cNvSpPr/>
          <p:nvPr/>
        </p:nvSpPr>
        <p:spPr>
          <a:xfrm>
            <a:off x="8092384" y="534057"/>
            <a:ext cx="404872" cy="220094"/>
          </a:xfrm>
          <a:custGeom>
            <a:avLst/>
            <a:gdLst/>
            <a:ahLst/>
            <a:cxnLst/>
            <a:rect l="0" t="0" r="r" b="b"/>
            <a:pathLst>
              <a:path w="404872" h="220094">
                <a:moveTo>
                  <a:pt x="401312" y="75924"/>
                </a:moveTo>
                <a:cubicBezTo>
                  <a:pt x="312412" y="198543"/>
                  <a:pt x="154551" y="249851"/>
                  <a:pt x="10597" y="202861"/>
                </a:cubicBezTo>
                <a:quadBezTo>
                  <a:pt x="-4135" y="197654"/>
                  <a:pt x="1580" y="183176"/>
                </a:quadBezTo>
                <a:lnTo>
                  <a:pt x="36124" y="95990"/>
                </a:lnTo>
                <a:quadBezTo>
                  <a:pt x="43744" y="76623"/>
                  <a:pt x="63619" y="82846"/>
                </a:quadBezTo>
                <a:cubicBezTo>
                  <a:pt x="146169" y="104309"/>
                  <a:pt x="233672" y="75924"/>
                  <a:pt x="287838" y="10011"/>
                </a:cubicBezTo>
                <a:quadBezTo>
                  <a:pt x="300220" y="-6689"/>
                  <a:pt x="317810" y="4423"/>
                </a:quadBezTo>
                <a:lnTo>
                  <a:pt x="396994" y="54652"/>
                </a:lnTo>
                <a:quadBezTo>
                  <a:pt x="410202" y="63034"/>
                  <a:pt x="401312" y="75924"/>
                </a:quadBezTo>
                <a:close/>
              </a:path>
            </a:pathLst>
          </a:custGeom>
          <a:gradFill rotWithShape="1">
            <a:gsLst>
              <a:gs pos="0">
                <a:srgbClr val="2F61A8"/>
              </a:gs>
              <a:gs pos="100000">
                <a:srgbClr val="134C9C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10" name="m-d05_donut_share-seg-3">
            <a:extLst>
              <a:ext uri="{FF2B5EF4-FFF2-40B4-BE49-F238E27FC236}">
                <a16:creationId xmlns:a16="http://schemas.microsoft.com/office/drawing/2014/main" id="{F8A69875-59AD-1851-B3B4-FED6214BC824}"/>
              </a:ext>
            </a:extLst>
          </p:cNvPr>
          <p:cNvSpPr/>
          <p:nvPr/>
        </p:nvSpPr>
        <p:spPr>
          <a:xfrm>
            <a:off x="7872506" y="455256"/>
            <a:ext cx="247302" cy="267779"/>
          </a:xfrm>
          <a:custGeom>
            <a:avLst/>
            <a:gdLst/>
            <a:ahLst/>
            <a:cxnLst/>
            <a:rect l="0" t="0" r="r" b="b"/>
            <a:pathLst>
              <a:path w="247302" h="267779">
                <a:moveTo>
                  <a:pt x="190533" y="265850"/>
                </a:moveTo>
                <a:cubicBezTo>
                  <a:pt x="96109" y="221591"/>
                  <a:pt x="26449" y="137390"/>
                  <a:pt x="668" y="36361"/>
                </a:cubicBezTo>
                <a:quadBezTo>
                  <a:pt x="-2888" y="21121"/>
                  <a:pt x="12479" y="18200"/>
                </a:quadBezTo>
                <a:lnTo>
                  <a:pt x="104554" y="611"/>
                </a:lnTo>
                <a:quadBezTo>
                  <a:pt x="125065" y="-3263"/>
                  <a:pt x="130462" y="16803"/>
                </a:quadBezTo>
                <a:cubicBezTo>
                  <a:pt x="147607" y="70334"/>
                  <a:pt x="184691" y="115165"/>
                  <a:pt x="234031" y="142025"/>
                </a:cubicBezTo>
                <a:quadBezTo>
                  <a:pt x="252763" y="151106"/>
                  <a:pt x="245080" y="170473"/>
                </a:quadBezTo>
                <a:lnTo>
                  <a:pt x="210599" y="257659"/>
                </a:lnTo>
                <a:quadBezTo>
                  <a:pt x="204821" y="272200"/>
                  <a:pt x="190533" y="265850"/>
                </a:quadBezTo>
                <a:close/>
              </a:path>
            </a:pathLst>
          </a:custGeom>
          <a:gradFill rotWithShape="1">
            <a:gsLst>
              <a:gs pos="0">
                <a:srgbClr val="3E7ABF"/>
              </a:gs>
              <a:gs pos="100000">
                <a:srgbClr val="2468B6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11" name="m-d05_donut_share-seg-4">
            <a:extLst>
              <a:ext uri="{FF2B5EF4-FFF2-40B4-BE49-F238E27FC236}">
                <a16:creationId xmlns:a16="http://schemas.microsoft.com/office/drawing/2014/main" id="{8EC11B5F-B4E3-D75F-6B99-6E89AC13378A}"/>
              </a:ext>
            </a:extLst>
          </p:cNvPr>
          <p:cNvSpPr/>
          <p:nvPr/>
        </p:nvSpPr>
        <p:spPr>
          <a:xfrm>
            <a:off x="7862325" y="228472"/>
            <a:ext cx="154836" cy="233941"/>
          </a:xfrm>
          <a:custGeom>
            <a:avLst/>
            <a:gdLst/>
            <a:ahLst/>
            <a:cxnLst/>
            <a:rect l="0" t="0" r="r" b="b"/>
            <a:pathLst>
              <a:path w="154836" h="233941">
                <a:moveTo>
                  <a:pt x="2785" y="220981"/>
                </a:moveTo>
                <a:cubicBezTo>
                  <a:pt x="-6549" y="147575"/>
                  <a:pt x="7611" y="73089"/>
                  <a:pt x="43362" y="8319"/>
                </a:cubicBezTo>
                <a:quadBezTo>
                  <a:pt x="51172" y="-5143"/>
                  <a:pt x="64380" y="3176"/>
                </a:quadBezTo>
                <a:lnTo>
                  <a:pt x="143565" y="53404"/>
                </a:lnTo>
                <a:quadBezTo>
                  <a:pt x="161154" y="64580"/>
                  <a:pt x="151312" y="82932"/>
                </a:quadBezTo>
                <a:cubicBezTo>
                  <a:pt x="135310" y="116714"/>
                  <a:pt x="128198" y="154052"/>
                  <a:pt x="130674" y="191326"/>
                </a:cubicBezTo>
                <a:quadBezTo>
                  <a:pt x="133024" y="212027"/>
                  <a:pt x="112577" y="215901"/>
                </a:quadBezTo>
                <a:lnTo>
                  <a:pt x="20438" y="233490"/>
                </a:lnTo>
                <a:quadBezTo>
                  <a:pt x="5135" y="236411"/>
                  <a:pt x="2785" y="220981"/>
                </a:quadBezTo>
                <a:close/>
              </a:path>
            </a:pathLst>
          </a:custGeom>
          <a:gradFill rotWithShape="1">
            <a:gsLst>
              <a:gs pos="0">
                <a:srgbClr val="4787C9"/>
              </a:gs>
              <a:gs pos="100000">
                <a:srgbClr val="2E77C2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12" name="m-d05_donut_share-seg-5">
            <a:extLst>
              <a:ext uri="{FF2B5EF4-FFF2-40B4-BE49-F238E27FC236}">
                <a16:creationId xmlns:a16="http://schemas.microsoft.com/office/drawing/2014/main" id="{F72B4B07-B6F0-7B1A-A907-D7ACF1D6DEB1}"/>
              </a:ext>
            </a:extLst>
          </p:cNvPr>
          <p:cNvSpPr/>
          <p:nvPr/>
        </p:nvSpPr>
        <p:spPr>
          <a:xfrm>
            <a:off x="7925114" y="87479"/>
            <a:ext cx="194695" cy="188978"/>
          </a:xfrm>
          <a:custGeom>
            <a:avLst/>
            <a:gdLst/>
            <a:ahLst/>
            <a:cxnLst/>
            <a:rect l="0" t="0" r="r" b="b"/>
            <a:pathLst>
              <a:path w="194695" h="188978">
                <a:moveTo>
                  <a:pt x="3560" y="113054"/>
                </a:moveTo>
                <a:cubicBezTo>
                  <a:pt x="38231" y="65238"/>
                  <a:pt x="84459" y="27011"/>
                  <a:pt x="137926" y="1929"/>
                </a:cubicBezTo>
                <a:quadBezTo>
                  <a:pt x="152213" y="-4421"/>
                  <a:pt x="157992" y="10120"/>
                </a:quadBezTo>
                <a:lnTo>
                  <a:pt x="192472" y="97306"/>
                </a:lnTo>
                <a:quadBezTo>
                  <a:pt x="200156" y="116673"/>
                  <a:pt x="181423" y="125754"/>
                </a:quadBezTo>
                <a:cubicBezTo>
                  <a:pt x="156722" y="139216"/>
                  <a:pt x="134878" y="157250"/>
                  <a:pt x="117034" y="178967"/>
                </a:cubicBezTo>
                <a:quadBezTo>
                  <a:pt x="104652" y="195667"/>
                  <a:pt x="87062" y="184555"/>
                </a:quadBezTo>
                <a:lnTo>
                  <a:pt x="7878" y="134326"/>
                </a:lnTo>
                <a:quadBezTo>
                  <a:pt x="-5330" y="125944"/>
                  <a:pt x="3560" y="113054"/>
                </a:quadBezTo>
                <a:close/>
              </a:path>
            </a:pathLst>
          </a:custGeom>
          <a:gradFill rotWithShape="1">
            <a:gsLst>
              <a:gs pos="0">
                <a:srgbClr val="5CA1DC"/>
              </a:gs>
              <a:gs pos="100000">
                <a:srgbClr val="4694D7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13" name="m-d05_donut_share-seg-6">
            <a:extLst>
              <a:ext uri="{FF2B5EF4-FFF2-40B4-BE49-F238E27FC236}">
                <a16:creationId xmlns:a16="http://schemas.microsoft.com/office/drawing/2014/main" id="{84B8B57D-2FB1-42A4-B718-7BE49F442202}"/>
              </a:ext>
            </a:extLst>
          </p:cNvPr>
          <p:cNvSpPr/>
          <p:nvPr/>
        </p:nvSpPr>
        <p:spPr>
          <a:xfrm>
            <a:off x="8092384" y="57015"/>
            <a:ext cx="112959" cy="138109"/>
          </a:xfrm>
          <a:custGeom>
            <a:avLst/>
            <a:gdLst/>
            <a:ahLst/>
            <a:cxnLst/>
            <a:rect l="0" t="0" r="r" b="b"/>
            <a:pathLst>
              <a:path w="112959" h="138109">
                <a:moveTo>
                  <a:pt x="10597" y="16582"/>
                </a:moveTo>
                <a:cubicBezTo>
                  <a:pt x="38664" y="7438"/>
                  <a:pt x="67810" y="1850"/>
                  <a:pt x="97338" y="8"/>
                </a:cubicBezTo>
                <a:quadBezTo>
                  <a:pt x="112959" y="-563"/>
                  <a:pt x="112959" y="15058"/>
                </a:quadBezTo>
                <a:lnTo>
                  <a:pt x="112959" y="108784"/>
                </a:lnTo>
                <a:quadBezTo>
                  <a:pt x="112959" y="129612"/>
                  <a:pt x="92194" y="131199"/>
                </a:quadBezTo>
                <a:cubicBezTo>
                  <a:pt x="82542" y="132342"/>
                  <a:pt x="73017" y="134184"/>
                  <a:pt x="63619" y="136597"/>
                </a:cubicBezTo>
                <a:quadBezTo>
                  <a:pt x="43744" y="142820"/>
                  <a:pt x="36124" y="123452"/>
                </a:quadBezTo>
                <a:lnTo>
                  <a:pt x="1580" y="36267"/>
                </a:lnTo>
                <a:quadBezTo>
                  <a:pt x="-4135" y="21789"/>
                  <a:pt x="10597" y="16582"/>
                </a:quadBezTo>
                <a:close/>
              </a:path>
            </a:pathLst>
          </a:custGeom>
          <a:gradFill rotWithShape="1">
            <a:gsLst>
              <a:gs pos="0">
                <a:srgbClr val="69ADE3"/>
              </a:gs>
              <a:gs pos="100000">
                <a:srgbClr val="54A2DF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14" name="m-d05_donut_share-pct-1">
            <a:extLst>
              <a:ext uri="{FF2B5EF4-FFF2-40B4-BE49-F238E27FC236}">
                <a16:creationId xmlns:a16="http://schemas.microsoft.com/office/drawing/2014/main" id="{37CE004A-8092-3939-7657-BE40359350D5}"/>
              </a:ext>
            </a:extLst>
          </p:cNvPr>
          <p:cNvSpPr txBox="1"/>
          <p:nvPr/>
        </p:nvSpPr>
        <p:spPr>
          <a:xfrm>
            <a:off x="8423624" y="245197"/>
            <a:ext cx="72481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34%</a:t>
            </a:r>
          </a:p>
        </p:txBody>
      </p:sp>
      <p:sp>
        <p:nvSpPr>
          <p:cNvPr id="315" name="m-d05_donut_share-pct-2">
            <a:extLst>
              <a:ext uri="{FF2B5EF4-FFF2-40B4-BE49-F238E27FC236}">
                <a16:creationId xmlns:a16="http://schemas.microsoft.com/office/drawing/2014/main" id="{D049E217-98BC-FE2F-5EC1-4D59DE3014EE}"/>
              </a:ext>
            </a:extLst>
          </p:cNvPr>
          <p:cNvSpPr txBox="1"/>
          <p:nvPr/>
        </p:nvSpPr>
        <p:spPr>
          <a:xfrm>
            <a:off x="8262638" y="651802"/>
            <a:ext cx="72481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22%</a:t>
            </a:r>
          </a:p>
        </p:txBody>
      </p:sp>
      <p:sp>
        <p:nvSpPr>
          <p:cNvPr id="316" name="m-d05_donut_share-pct-3">
            <a:extLst>
              <a:ext uri="{FF2B5EF4-FFF2-40B4-BE49-F238E27FC236}">
                <a16:creationId xmlns:a16="http://schemas.microsoft.com/office/drawing/2014/main" id="{0E314D00-7295-07EA-3830-A74B26B02851}"/>
              </a:ext>
            </a:extLst>
          </p:cNvPr>
          <p:cNvSpPr txBox="1"/>
          <p:nvPr/>
        </p:nvSpPr>
        <p:spPr>
          <a:xfrm>
            <a:off x="7956287" y="562799"/>
            <a:ext cx="72481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16%</a:t>
            </a:r>
          </a:p>
        </p:txBody>
      </p:sp>
      <p:sp>
        <p:nvSpPr>
          <p:cNvPr id="317" name="m-d05_donut_share-pct-4">
            <a:extLst>
              <a:ext uri="{FF2B5EF4-FFF2-40B4-BE49-F238E27FC236}">
                <a16:creationId xmlns:a16="http://schemas.microsoft.com/office/drawing/2014/main" id="{07D866B3-D109-EFC2-C4B0-F10B9D6CE418}"/>
              </a:ext>
            </a:extLst>
          </p:cNvPr>
          <p:cNvSpPr txBox="1"/>
          <p:nvPr/>
        </p:nvSpPr>
        <p:spPr>
          <a:xfrm>
            <a:off x="7896189" y="328735"/>
            <a:ext cx="72481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12%</a:t>
            </a:r>
          </a:p>
        </p:txBody>
      </p:sp>
      <p:sp>
        <p:nvSpPr>
          <p:cNvPr id="318" name="m-d05_donut_share-pct-5">
            <a:extLst>
              <a:ext uri="{FF2B5EF4-FFF2-40B4-BE49-F238E27FC236}">
                <a16:creationId xmlns:a16="http://schemas.microsoft.com/office/drawing/2014/main" id="{C95C3776-573B-1651-1676-CBC947E456CE}"/>
              </a:ext>
            </a:extLst>
          </p:cNvPr>
          <p:cNvSpPr txBox="1"/>
          <p:nvPr/>
        </p:nvSpPr>
        <p:spPr>
          <a:xfrm>
            <a:off x="7994055" y="163253"/>
            <a:ext cx="72481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10%</a:t>
            </a:r>
          </a:p>
        </p:txBody>
      </p:sp>
      <p:cxnSp>
        <p:nvCxnSpPr>
          <p:cNvPr id="319" name="m-d05_donut_share-pl-6">
            <a:extLst>
              <a:ext uri="{FF2B5EF4-FFF2-40B4-BE49-F238E27FC236}">
                <a16:creationId xmlns:a16="http://schemas.microsoft.com/office/drawing/2014/main" id="{3B0F2A4B-60CA-AFF4-A491-046DEECE47BC}"/>
              </a:ext>
            </a:extLst>
          </p:cNvPr>
          <p:cNvCxnSpPr/>
          <p:nvPr/>
        </p:nvCxnSpPr>
        <p:spPr>
          <a:xfrm flipH="1" flipV="1">
            <a:off x="8138496" y="24207"/>
            <a:ext cx="5854" cy="30688"/>
          </a:xfrm>
          <a:prstGeom prst="line">
            <a:avLst/>
          </a:prstGeom>
          <a:ln w="2540" cap="rnd">
            <a:solidFill>
              <a:srgbClr val="54A2DF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0" name="m-d05_donut_share-pct-6">
            <a:extLst>
              <a:ext uri="{FF2B5EF4-FFF2-40B4-BE49-F238E27FC236}">
                <a16:creationId xmlns:a16="http://schemas.microsoft.com/office/drawing/2014/main" id="{E3FD4D56-494B-05AD-DA65-312C7097DA48}"/>
              </a:ext>
            </a:extLst>
          </p:cNvPr>
          <p:cNvSpPr txBox="1"/>
          <p:nvPr/>
        </p:nvSpPr>
        <p:spPr>
          <a:xfrm>
            <a:off x="8112079" y="-13215"/>
            <a:ext cx="46004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5" normalizeH="0" baseline="0" noProof="0">
                <a:ln>
                  <a:noFill/>
                </a:ln>
                <a:solidFill>
                  <a:srgbClr val="54A2D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6%</a:t>
            </a:r>
          </a:p>
        </p:txBody>
      </p:sp>
      <p:sp>
        <p:nvSpPr>
          <p:cNvPr id="321" name="m-d05_donut_share-core">
            <a:extLst>
              <a:ext uri="{FF2B5EF4-FFF2-40B4-BE49-F238E27FC236}">
                <a16:creationId xmlns:a16="http://schemas.microsoft.com/office/drawing/2014/main" id="{981FB9C3-3CFF-5210-BB1E-D93800C9AE3A}"/>
              </a:ext>
            </a:extLst>
          </p:cNvPr>
          <p:cNvSpPr/>
          <p:nvPr/>
        </p:nvSpPr>
        <p:spPr>
          <a:xfrm>
            <a:off x="8010716" y="204788"/>
            <a:ext cx="400939" cy="400939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22" name="m-d05_donut_share-core-ring">
            <a:extLst>
              <a:ext uri="{FF2B5EF4-FFF2-40B4-BE49-F238E27FC236}">
                <a16:creationId xmlns:a16="http://schemas.microsoft.com/office/drawing/2014/main" id="{4FEE2FBE-C316-FDDE-91E8-A6262D9AC397}"/>
              </a:ext>
            </a:extLst>
          </p:cNvPr>
          <p:cNvSpPr/>
          <p:nvPr/>
        </p:nvSpPr>
        <p:spPr>
          <a:xfrm>
            <a:off x="8026336" y="220408"/>
            <a:ext cx="369697" cy="369697"/>
          </a:xfrm>
          <a:prstGeom prst="ellipse">
            <a:avLst/>
          </a:prstGeom>
          <a:noFill/>
          <a:ln w="2540" cap="rnd">
            <a:solidFill>
              <a:srgbClr val="0B3E8F">
                <a:alpha val="14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23" name="m-d05_donut_share-tot-v">
            <a:extLst>
              <a:ext uri="{FF2B5EF4-FFF2-40B4-BE49-F238E27FC236}">
                <a16:creationId xmlns:a16="http://schemas.microsoft.com/office/drawing/2014/main" id="{58D2D818-804A-5CBC-5240-B8D584161A2F}"/>
              </a:ext>
            </a:extLst>
          </p:cNvPr>
          <p:cNvSpPr txBox="1"/>
          <p:nvPr/>
        </p:nvSpPr>
        <p:spPr>
          <a:xfrm>
            <a:off x="8050080" y="332073"/>
            <a:ext cx="296174" cy="11845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30" b="1" i="0" u="none" strike="noStrike" kern="1200" cap="none" spc="1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12,600</a:t>
            </a:r>
          </a:p>
        </p:txBody>
      </p:sp>
      <p:sp>
        <p:nvSpPr>
          <p:cNvPr id="324" name="m-d05_donut_share-tot-u">
            <a:extLst>
              <a:ext uri="{FF2B5EF4-FFF2-40B4-BE49-F238E27FC236}">
                <a16:creationId xmlns:a16="http://schemas.microsoft.com/office/drawing/2014/main" id="{572787FD-3151-61F6-3ADB-E0075FA407BE}"/>
              </a:ext>
            </a:extLst>
          </p:cNvPr>
          <p:cNvSpPr txBox="1"/>
          <p:nvPr/>
        </p:nvSpPr>
        <p:spPr>
          <a:xfrm>
            <a:off x="8317720" y="386733"/>
            <a:ext cx="4452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家</a:t>
            </a:r>
          </a:p>
        </p:txBody>
      </p:sp>
      <p:sp>
        <p:nvSpPr>
          <p:cNvPr id="325" name="m-d05_donut_share-tot-l">
            <a:extLst>
              <a:ext uri="{FF2B5EF4-FFF2-40B4-BE49-F238E27FC236}">
                <a16:creationId xmlns:a16="http://schemas.microsoft.com/office/drawing/2014/main" id="{71D66C05-1B2F-EA81-32D7-5F5C7059ABA3}"/>
              </a:ext>
            </a:extLst>
          </p:cNvPr>
          <p:cNvSpPr txBox="1"/>
          <p:nvPr/>
        </p:nvSpPr>
        <p:spPr>
          <a:xfrm>
            <a:off x="8136204" y="436811"/>
            <a:ext cx="149962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8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累计服务客户</a:t>
            </a:r>
          </a:p>
        </p:txBody>
      </p:sp>
      <p:sp>
        <p:nvSpPr>
          <p:cNvPr id="326" name="m-d05_donut_share-side-bar">
            <a:extLst>
              <a:ext uri="{FF2B5EF4-FFF2-40B4-BE49-F238E27FC236}">
                <a16:creationId xmlns:a16="http://schemas.microsoft.com/office/drawing/2014/main" id="{258738B0-9FC7-B1C6-B1CB-520816E8AFB4}"/>
              </a:ext>
            </a:extLst>
          </p:cNvPr>
          <p:cNvSpPr/>
          <p:nvPr/>
        </p:nvSpPr>
        <p:spPr>
          <a:xfrm>
            <a:off x="8804783" y="-52959"/>
            <a:ext cx="6509" cy="114554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27" name="m-d05_donut_share-side-h">
            <a:extLst>
              <a:ext uri="{FF2B5EF4-FFF2-40B4-BE49-F238E27FC236}">
                <a16:creationId xmlns:a16="http://schemas.microsoft.com/office/drawing/2014/main" id="{918ED1EC-3BFB-3805-8544-AC32593A3E42}"/>
              </a:ext>
            </a:extLst>
          </p:cNvPr>
          <p:cNvSpPr txBox="1"/>
          <p:nvPr/>
        </p:nvSpPr>
        <p:spPr>
          <a:xfrm>
            <a:off x="8839930" y="-51495"/>
            <a:ext cx="169878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行业明细</a:t>
            </a:r>
          </a:p>
        </p:txBody>
      </p:sp>
      <p:sp>
        <p:nvSpPr>
          <p:cNvPr id="328" name="m-d05_donut_share-side-p">
            <a:extLst>
              <a:ext uri="{FF2B5EF4-FFF2-40B4-BE49-F238E27FC236}">
                <a16:creationId xmlns:a16="http://schemas.microsoft.com/office/drawing/2014/main" id="{FCCD3858-370F-685A-1BF8-06E6F89DA52F}"/>
              </a:ext>
            </a:extLst>
          </p:cNvPr>
          <p:cNvSpPr txBox="1"/>
          <p:nvPr/>
        </p:nvSpPr>
        <p:spPr>
          <a:xfrm>
            <a:off x="8841102" y="7426"/>
            <a:ext cx="18361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按客户数量排序</a:t>
            </a:r>
          </a:p>
        </p:txBody>
      </p:sp>
      <p:sp>
        <p:nvSpPr>
          <p:cNvPr id="329" name="m-d05_donut_share-chip">
            <a:extLst>
              <a:ext uri="{FF2B5EF4-FFF2-40B4-BE49-F238E27FC236}">
                <a16:creationId xmlns:a16="http://schemas.microsoft.com/office/drawing/2014/main" id="{C3B1D155-846F-7169-BA10-717D31466678}"/>
              </a:ext>
            </a:extLst>
          </p:cNvPr>
          <p:cNvSpPr/>
          <p:nvPr/>
        </p:nvSpPr>
        <p:spPr>
          <a:xfrm>
            <a:off x="8811292" y="101949"/>
            <a:ext cx="70294" cy="7029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30" name="m-d05_donut_share-chip-ring">
            <a:extLst>
              <a:ext uri="{FF2B5EF4-FFF2-40B4-BE49-F238E27FC236}">
                <a16:creationId xmlns:a16="http://schemas.microsoft.com/office/drawing/2014/main" id="{1FCE4E42-760F-2F8E-94D3-B60CCD49D5B3}"/>
              </a:ext>
            </a:extLst>
          </p:cNvPr>
          <p:cNvSpPr/>
          <p:nvPr/>
        </p:nvSpPr>
        <p:spPr>
          <a:xfrm>
            <a:off x="8811292" y="101949"/>
            <a:ext cx="70294" cy="70294"/>
          </a:xfrm>
          <a:prstGeom prst="ellipse">
            <a:avLst/>
          </a:prstGeom>
          <a:noFill/>
          <a:ln w="2540" cap="rnd">
            <a:solidFill>
              <a:srgbClr val="0B3E8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31" name="m-d05_donut_share-icon-factory">
            <a:extLst>
              <a:ext uri="{FF2B5EF4-FFF2-40B4-BE49-F238E27FC236}">
                <a16:creationId xmlns:a16="http://schemas.microsoft.com/office/drawing/2014/main" id="{CCE3A801-C7AF-160B-86C2-28C03F3E02FB}"/>
              </a:ext>
            </a:extLst>
          </p:cNvPr>
          <p:cNvSpPr/>
          <p:nvPr/>
        </p:nvSpPr>
        <p:spPr>
          <a:xfrm>
            <a:off x="8834310" y="131762"/>
            <a:ext cx="24257" cy="16320"/>
          </a:xfrm>
          <a:custGeom>
            <a:avLst/>
            <a:gdLst/>
            <a:ahLst/>
            <a:cxnLst/>
            <a:rect l="0" t="0" r="r" b="b"/>
            <a:pathLst>
              <a:path w="24257" h="16320">
                <a:moveTo>
                  <a:pt x="0" y="16320"/>
                </a:moveTo>
                <a:lnTo>
                  <a:pt x="0" y="3937"/>
                </a:lnTo>
                <a:lnTo>
                  <a:pt x="7048" y="8128"/>
                </a:lnTo>
                <a:lnTo>
                  <a:pt x="7048" y="3937"/>
                </a:lnTo>
                <a:lnTo>
                  <a:pt x="14097" y="8128"/>
                </a:lnTo>
                <a:lnTo>
                  <a:pt x="14097" y="0"/>
                </a:lnTo>
                <a:lnTo>
                  <a:pt x="21145" y="4191"/>
                </a:lnTo>
                <a:lnTo>
                  <a:pt x="21145" y="14923"/>
                </a:lnTo>
                <a:close/>
                <a:moveTo>
                  <a:pt x="0" y="16320"/>
                </a:moveTo>
                <a:lnTo>
                  <a:pt x="24257" y="16320"/>
                </a:lnTo>
              </a:path>
            </a:pathLst>
          </a:custGeom>
          <a:noFill/>
          <a:ln w="25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32" name="m-d05_donut_share-n-1">
            <a:extLst>
              <a:ext uri="{FF2B5EF4-FFF2-40B4-BE49-F238E27FC236}">
                <a16:creationId xmlns:a16="http://schemas.microsoft.com/office/drawing/2014/main" id="{C959AFB9-1128-5766-B132-30A2DFEE9DB2}"/>
              </a:ext>
            </a:extLst>
          </p:cNvPr>
          <p:cNvSpPr txBox="1"/>
          <p:nvPr/>
        </p:nvSpPr>
        <p:spPr>
          <a:xfrm>
            <a:off x="8905799" y="97133"/>
            <a:ext cx="106223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制造业</a:t>
            </a:r>
          </a:p>
        </p:txBody>
      </p:sp>
      <p:sp>
        <p:nvSpPr>
          <p:cNvPr id="333" name="m-d05_donut_share-c-1">
            <a:extLst>
              <a:ext uri="{FF2B5EF4-FFF2-40B4-BE49-F238E27FC236}">
                <a16:creationId xmlns:a16="http://schemas.microsoft.com/office/drawing/2014/main" id="{D0E24809-DF1B-0EA7-6AF8-D22C9D8E2B6C}"/>
              </a:ext>
            </a:extLst>
          </p:cNvPr>
          <p:cNvSpPr txBox="1"/>
          <p:nvPr/>
        </p:nvSpPr>
        <p:spPr>
          <a:xfrm>
            <a:off x="8906580" y="141620"/>
            <a:ext cx="10544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4,284 家</a:t>
            </a:r>
          </a:p>
        </p:txBody>
      </p:sp>
      <p:sp>
        <p:nvSpPr>
          <p:cNvPr id="334" name="m-d05_donut_share-bg-1">
            <a:extLst>
              <a:ext uri="{FF2B5EF4-FFF2-40B4-BE49-F238E27FC236}">
                <a16:creationId xmlns:a16="http://schemas.microsoft.com/office/drawing/2014/main" id="{9B760BA9-8631-3BAD-56F2-0C142CEB3E56}"/>
              </a:ext>
            </a:extLst>
          </p:cNvPr>
          <p:cNvSpPr/>
          <p:nvPr/>
        </p:nvSpPr>
        <p:spPr>
          <a:xfrm>
            <a:off x="9195308" y="116269"/>
            <a:ext cx="44259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35" name="m-d05_donut_share-bar-1">
            <a:extLst>
              <a:ext uri="{FF2B5EF4-FFF2-40B4-BE49-F238E27FC236}">
                <a16:creationId xmlns:a16="http://schemas.microsoft.com/office/drawing/2014/main" id="{8FECCA78-8D51-64DA-9458-2582C5DA0A5A}"/>
              </a:ext>
            </a:extLst>
          </p:cNvPr>
          <p:cNvSpPr/>
          <p:nvPr/>
        </p:nvSpPr>
        <p:spPr>
          <a:xfrm>
            <a:off x="9195308" y="116269"/>
            <a:ext cx="442595" cy="13017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36" name="m-d05_donut_share-p-1">
            <a:extLst>
              <a:ext uri="{FF2B5EF4-FFF2-40B4-BE49-F238E27FC236}">
                <a16:creationId xmlns:a16="http://schemas.microsoft.com/office/drawing/2014/main" id="{1BD8E5D8-A994-3EF4-3BA5-714754032D0C}"/>
              </a:ext>
            </a:extLst>
          </p:cNvPr>
          <p:cNvSpPr txBox="1"/>
          <p:nvPr/>
        </p:nvSpPr>
        <p:spPr>
          <a:xfrm>
            <a:off x="9690468" y="96521"/>
            <a:ext cx="75840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34%</a:t>
            </a:r>
          </a:p>
        </p:txBody>
      </p:sp>
      <p:cxnSp>
        <p:nvCxnSpPr>
          <p:cNvPr id="337" name="m-d05_donut_share-d-1">
            <a:extLst>
              <a:ext uri="{FF2B5EF4-FFF2-40B4-BE49-F238E27FC236}">
                <a16:creationId xmlns:a16="http://schemas.microsoft.com/office/drawing/2014/main" id="{857FE002-203B-C561-A774-E9A3F80517A5}"/>
              </a:ext>
            </a:extLst>
          </p:cNvPr>
          <p:cNvCxnSpPr/>
          <p:nvPr/>
        </p:nvCxnSpPr>
        <p:spPr>
          <a:xfrm>
            <a:off x="8908923" y="196977"/>
            <a:ext cx="853948" cy="0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8" name="m-d05_donut_share-chip">
            <a:extLst>
              <a:ext uri="{FF2B5EF4-FFF2-40B4-BE49-F238E27FC236}">
                <a16:creationId xmlns:a16="http://schemas.microsoft.com/office/drawing/2014/main" id="{13C9D293-97F8-8CF0-894E-B48184A147B3}"/>
              </a:ext>
            </a:extLst>
          </p:cNvPr>
          <p:cNvSpPr/>
          <p:nvPr/>
        </p:nvSpPr>
        <p:spPr>
          <a:xfrm>
            <a:off x="8811292" y="229521"/>
            <a:ext cx="70294" cy="7029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39" name="m-d05_donut_share-chip-ring">
            <a:extLst>
              <a:ext uri="{FF2B5EF4-FFF2-40B4-BE49-F238E27FC236}">
                <a16:creationId xmlns:a16="http://schemas.microsoft.com/office/drawing/2014/main" id="{0E26CAEE-35BA-8324-2CEE-CFA5ECF740E0}"/>
              </a:ext>
            </a:extLst>
          </p:cNvPr>
          <p:cNvSpPr/>
          <p:nvPr/>
        </p:nvSpPr>
        <p:spPr>
          <a:xfrm>
            <a:off x="8811292" y="229521"/>
            <a:ext cx="70294" cy="70294"/>
          </a:xfrm>
          <a:prstGeom prst="ellipse">
            <a:avLst/>
          </a:prstGeom>
          <a:noFill/>
          <a:ln w="2540" cap="rnd">
            <a:solidFill>
              <a:srgbClr val="134C9C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40" name="m-d05_donut_share-icon-cart">
            <a:extLst>
              <a:ext uri="{FF2B5EF4-FFF2-40B4-BE49-F238E27FC236}">
                <a16:creationId xmlns:a16="http://schemas.microsoft.com/office/drawing/2014/main" id="{6543F8B4-A39E-B28F-88A2-88EB63E4CB45}"/>
              </a:ext>
            </a:extLst>
          </p:cNvPr>
          <p:cNvSpPr/>
          <p:nvPr/>
        </p:nvSpPr>
        <p:spPr>
          <a:xfrm>
            <a:off x="8834056" y="254254"/>
            <a:ext cx="22415" cy="13208"/>
          </a:xfrm>
          <a:custGeom>
            <a:avLst/>
            <a:gdLst/>
            <a:ahLst/>
            <a:cxnLst/>
            <a:rect l="0" t="0" r="r" b="b"/>
            <a:pathLst>
              <a:path w="22415" h="13208">
                <a:moveTo>
                  <a:pt x="0" y="0"/>
                </a:moveTo>
                <a:lnTo>
                  <a:pt x="3238" y="0"/>
                </a:lnTo>
                <a:lnTo>
                  <a:pt x="6477" y="13208"/>
                </a:lnTo>
                <a:lnTo>
                  <a:pt x="19685" y="13208"/>
                </a:lnTo>
                <a:lnTo>
                  <a:pt x="22415" y="3937"/>
                </a:lnTo>
                <a:lnTo>
                  <a:pt x="4191" y="3937"/>
                </a:lnTo>
              </a:path>
            </a:pathLst>
          </a:custGeom>
          <a:noFill/>
          <a:ln w="254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41" name="m-d05_donut_share-icon-cart">
            <a:extLst>
              <a:ext uri="{FF2B5EF4-FFF2-40B4-BE49-F238E27FC236}">
                <a16:creationId xmlns:a16="http://schemas.microsoft.com/office/drawing/2014/main" id="{90C79ADC-A3C3-AF55-7FCB-673CD858F3B2}"/>
              </a:ext>
            </a:extLst>
          </p:cNvPr>
          <p:cNvSpPr/>
          <p:nvPr/>
        </p:nvSpPr>
        <p:spPr>
          <a:xfrm>
            <a:off x="8840798" y="271719"/>
            <a:ext cx="3949" cy="3949"/>
          </a:xfrm>
          <a:prstGeom prst="ellipse">
            <a:avLst/>
          </a:prstGeom>
          <a:noFill/>
          <a:ln w="254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42" name="m-d05_donut_share-icon-cart">
            <a:extLst>
              <a:ext uri="{FF2B5EF4-FFF2-40B4-BE49-F238E27FC236}">
                <a16:creationId xmlns:a16="http://schemas.microsoft.com/office/drawing/2014/main" id="{D00635A2-27AF-42C4-7D48-CA6739EB25E5}"/>
              </a:ext>
            </a:extLst>
          </p:cNvPr>
          <p:cNvSpPr/>
          <p:nvPr/>
        </p:nvSpPr>
        <p:spPr>
          <a:xfrm>
            <a:off x="8850952" y="271719"/>
            <a:ext cx="3949" cy="3949"/>
          </a:xfrm>
          <a:prstGeom prst="ellipse">
            <a:avLst/>
          </a:prstGeom>
          <a:noFill/>
          <a:ln w="254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43" name="m-d05_donut_share-n-2">
            <a:extLst>
              <a:ext uri="{FF2B5EF4-FFF2-40B4-BE49-F238E27FC236}">
                <a16:creationId xmlns:a16="http://schemas.microsoft.com/office/drawing/2014/main" id="{46787828-BCCD-D934-5893-D226DC4A6F28}"/>
              </a:ext>
            </a:extLst>
          </p:cNvPr>
          <p:cNvSpPr txBox="1"/>
          <p:nvPr/>
        </p:nvSpPr>
        <p:spPr>
          <a:xfrm>
            <a:off x="8905799" y="224704"/>
            <a:ext cx="133820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零售连锁</a:t>
            </a:r>
          </a:p>
        </p:txBody>
      </p:sp>
      <p:sp>
        <p:nvSpPr>
          <p:cNvPr id="344" name="m-d05_donut_share-c-2">
            <a:extLst>
              <a:ext uri="{FF2B5EF4-FFF2-40B4-BE49-F238E27FC236}">
                <a16:creationId xmlns:a16="http://schemas.microsoft.com/office/drawing/2014/main" id="{3C0DFBA7-AED7-5E8F-8F01-0FC15BB36B12}"/>
              </a:ext>
            </a:extLst>
          </p:cNvPr>
          <p:cNvSpPr txBox="1"/>
          <p:nvPr/>
        </p:nvSpPr>
        <p:spPr>
          <a:xfrm>
            <a:off x="8906580" y="269192"/>
            <a:ext cx="10544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2,772 家</a:t>
            </a:r>
          </a:p>
        </p:txBody>
      </p:sp>
      <p:sp>
        <p:nvSpPr>
          <p:cNvPr id="345" name="m-d05_donut_share-bg-2">
            <a:extLst>
              <a:ext uri="{FF2B5EF4-FFF2-40B4-BE49-F238E27FC236}">
                <a16:creationId xmlns:a16="http://schemas.microsoft.com/office/drawing/2014/main" id="{84576042-22B7-34BC-440C-50D97F0D0A08}"/>
              </a:ext>
            </a:extLst>
          </p:cNvPr>
          <p:cNvSpPr/>
          <p:nvPr/>
        </p:nvSpPr>
        <p:spPr>
          <a:xfrm>
            <a:off x="9195308" y="243840"/>
            <a:ext cx="44259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46" name="m-d05_donut_share-bar-2">
            <a:extLst>
              <a:ext uri="{FF2B5EF4-FFF2-40B4-BE49-F238E27FC236}">
                <a16:creationId xmlns:a16="http://schemas.microsoft.com/office/drawing/2014/main" id="{3B1BADEF-935C-E94B-BC25-898B40E72E85}"/>
              </a:ext>
            </a:extLst>
          </p:cNvPr>
          <p:cNvSpPr/>
          <p:nvPr/>
        </p:nvSpPr>
        <p:spPr>
          <a:xfrm>
            <a:off x="9195308" y="243840"/>
            <a:ext cx="286385" cy="13017"/>
          </a:xfrm>
          <a:prstGeom prst="roundRect">
            <a:avLst>
              <a:gd name="adj" fmla="val 50000"/>
            </a:avLst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47" name="m-d05_donut_share-p-2">
            <a:extLst>
              <a:ext uri="{FF2B5EF4-FFF2-40B4-BE49-F238E27FC236}">
                <a16:creationId xmlns:a16="http://schemas.microsoft.com/office/drawing/2014/main" id="{3801B01D-A4BC-3B70-EB10-6114CCEB2DF0}"/>
              </a:ext>
            </a:extLst>
          </p:cNvPr>
          <p:cNvSpPr txBox="1"/>
          <p:nvPr/>
        </p:nvSpPr>
        <p:spPr>
          <a:xfrm>
            <a:off x="9690468" y="224092"/>
            <a:ext cx="75840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5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22%</a:t>
            </a:r>
          </a:p>
        </p:txBody>
      </p:sp>
      <p:cxnSp>
        <p:nvCxnSpPr>
          <p:cNvPr id="348" name="m-d05_donut_share-d-2">
            <a:extLst>
              <a:ext uri="{FF2B5EF4-FFF2-40B4-BE49-F238E27FC236}">
                <a16:creationId xmlns:a16="http://schemas.microsoft.com/office/drawing/2014/main" id="{8E796B28-8FF2-305F-6F93-0600642287EA}"/>
              </a:ext>
            </a:extLst>
          </p:cNvPr>
          <p:cNvCxnSpPr/>
          <p:nvPr/>
        </p:nvCxnSpPr>
        <p:spPr>
          <a:xfrm>
            <a:off x="8908923" y="324548"/>
            <a:ext cx="853948" cy="0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9" name="m-d05_donut_share-chip">
            <a:extLst>
              <a:ext uri="{FF2B5EF4-FFF2-40B4-BE49-F238E27FC236}">
                <a16:creationId xmlns:a16="http://schemas.microsoft.com/office/drawing/2014/main" id="{3164BB1F-2120-984D-81CD-FDD7750ABEDB}"/>
              </a:ext>
            </a:extLst>
          </p:cNvPr>
          <p:cNvSpPr/>
          <p:nvPr/>
        </p:nvSpPr>
        <p:spPr>
          <a:xfrm>
            <a:off x="8811292" y="357092"/>
            <a:ext cx="70294" cy="7029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50" name="m-d05_donut_share-chip-ring">
            <a:extLst>
              <a:ext uri="{FF2B5EF4-FFF2-40B4-BE49-F238E27FC236}">
                <a16:creationId xmlns:a16="http://schemas.microsoft.com/office/drawing/2014/main" id="{C2779B7D-66E3-7880-1E2B-7DB8BF10CBD7}"/>
              </a:ext>
            </a:extLst>
          </p:cNvPr>
          <p:cNvSpPr/>
          <p:nvPr/>
        </p:nvSpPr>
        <p:spPr>
          <a:xfrm>
            <a:off x="8811292" y="357092"/>
            <a:ext cx="70294" cy="70294"/>
          </a:xfrm>
          <a:prstGeom prst="ellipse">
            <a:avLst/>
          </a:prstGeom>
          <a:noFill/>
          <a:ln w="2540" cap="rnd">
            <a:solidFill>
              <a:srgbClr val="2468B6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51" name="m-d05_donut_share-icon-truck">
            <a:extLst>
              <a:ext uri="{FF2B5EF4-FFF2-40B4-BE49-F238E27FC236}">
                <a16:creationId xmlns:a16="http://schemas.microsoft.com/office/drawing/2014/main" id="{8BCE6921-29F2-D394-2C91-B43F0E159BEB}"/>
              </a:ext>
            </a:extLst>
          </p:cNvPr>
          <p:cNvSpPr/>
          <p:nvPr/>
        </p:nvSpPr>
        <p:spPr>
          <a:xfrm>
            <a:off x="8834564" y="384620"/>
            <a:ext cx="22288" cy="13843"/>
          </a:xfrm>
          <a:custGeom>
            <a:avLst/>
            <a:gdLst/>
            <a:ahLst/>
            <a:cxnLst/>
            <a:rect l="0" t="0" r="r" b="b"/>
            <a:pathLst>
              <a:path w="22288" h="13843">
                <a:moveTo>
                  <a:pt x="0" y="0"/>
                </a:moveTo>
                <a:lnTo>
                  <a:pt x="13589" y="0"/>
                </a:lnTo>
                <a:lnTo>
                  <a:pt x="13589" y="13843"/>
                </a:lnTo>
                <a:lnTo>
                  <a:pt x="0" y="13843"/>
                </a:lnTo>
                <a:close/>
                <a:moveTo>
                  <a:pt x="13589" y="5080"/>
                </a:moveTo>
                <a:lnTo>
                  <a:pt x="18352" y="5080"/>
                </a:lnTo>
                <a:lnTo>
                  <a:pt x="22288" y="9334"/>
                </a:lnTo>
                <a:lnTo>
                  <a:pt x="22288" y="13843"/>
                </a:lnTo>
                <a:lnTo>
                  <a:pt x="13589" y="13843"/>
                </a:lnTo>
                <a:close/>
              </a:path>
            </a:pathLst>
          </a:custGeom>
          <a:noFill/>
          <a:ln w="254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52" name="m-d05_donut_share-n-3">
            <a:extLst>
              <a:ext uri="{FF2B5EF4-FFF2-40B4-BE49-F238E27FC236}">
                <a16:creationId xmlns:a16="http://schemas.microsoft.com/office/drawing/2014/main" id="{9D59802A-D7E9-EE86-F104-CC306383F69F}"/>
              </a:ext>
            </a:extLst>
          </p:cNvPr>
          <p:cNvSpPr txBox="1"/>
          <p:nvPr/>
        </p:nvSpPr>
        <p:spPr>
          <a:xfrm>
            <a:off x="8905799" y="352276"/>
            <a:ext cx="133820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物流仓储</a:t>
            </a:r>
          </a:p>
        </p:txBody>
      </p:sp>
      <p:sp>
        <p:nvSpPr>
          <p:cNvPr id="353" name="m-d05_donut_share-c-3">
            <a:extLst>
              <a:ext uri="{FF2B5EF4-FFF2-40B4-BE49-F238E27FC236}">
                <a16:creationId xmlns:a16="http://schemas.microsoft.com/office/drawing/2014/main" id="{8760D375-0DAC-D26D-6D5F-93CB7CB5DCFD}"/>
              </a:ext>
            </a:extLst>
          </p:cNvPr>
          <p:cNvSpPr txBox="1"/>
          <p:nvPr/>
        </p:nvSpPr>
        <p:spPr>
          <a:xfrm>
            <a:off x="8906580" y="396763"/>
            <a:ext cx="10544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2,016 家</a:t>
            </a:r>
          </a:p>
        </p:txBody>
      </p:sp>
      <p:sp>
        <p:nvSpPr>
          <p:cNvPr id="354" name="m-d05_donut_share-bg-3">
            <a:extLst>
              <a:ext uri="{FF2B5EF4-FFF2-40B4-BE49-F238E27FC236}">
                <a16:creationId xmlns:a16="http://schemas.microsoft.com/office/drawing/2014/main" id="{CC5785AF-B2C4-31AF-AB17-9D2B2A2A374A}"/>
              </a:ext>
            </a:extLst>
          </p:cNvPr>
          <p:cNvSpPr/>
          <p:nvPr/>
        </p:nvSpPr>
        <p:spPr>
          <a:xfrm>
            <a:off x="9195308" y="371411"/>
            <a:ext cx="44259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55" name="m-d05_donut_share-bar-3">
            <a:extLst>
              <a:ext uri="{FF2B5EF4-FFF2-40B4-BE49-F238E27FC236}">
                <a16:creationId xmlns:a16="http://schemas.microsoft.com/office/drawing/2014/main" id="{51955DB0-EB47-D16B-0992-29BCBC1914AC}"/>
              </a:ext>
            </a:extLst>
          </p:cNvPr>
          <p:cNvSpPr/>
          <p:nvPr/>
        </p:nvSpPr>
        <p:spPr>
          <a:xfrm>
            <a:off x="9195308" y="371411"/>
            <a:ext cx="208280" cy="13017"/>
          </a:xfrm>
          <a:prstGeom prst="roundRect">
            <a:avLst>
              <a:gd name="adj" fmla="val 50000"/>
            </a:avLst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56" name="m-d05_donut_share-p-3">
            <a:extLst>
              <a:ext uri="{FF2B5EF4-FFF2-40B4-BE49-F238E27FC236}">
                <a16:creationId xmlns:a16="http://schemas.microsoft.com/office/drawing/2014/main" id="{A3778230-4BE8-E890-0690-C1BB8596CB04}"/>
              </a:ext>
            </a:extLst>
          </p:cNvPr>
          <p:cNvSpPr txBox="1"/>
          <p:nvPr/>
        </p:nvSpPr>
        <p:spPr>
          <a:xfrm>
            <a:off x="9690468" y="351664"/>
            <a:ext cx="75840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5" normalizeH="0" baseline="0" noProof="0">
                <a:ln>
                  <a:noFill/>
                </a:ln>
                <a:solidFill>
                  <a:srgbClr val="2468B6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16%</a:t>
            </a:r>
          </a:p>
        </p:txBody>
      </p:sp>
      <p:cxnSp>
        <p:nvCxnSpPr>
          <p:cNvPr id="357" name="m-d05_donut_share-d-3">
            <a:extLst>
              <a:ext uri="{FF2B5EF4-FFF2-40B4-BE49-F238E27FC236}">
                <a16:creationId xmlns:a16="http://schemas.microsoft.com/office/drawing/2014/main" id="{87693254-3FF6-FD04-ABB2-7C160160E47A}"/>
              </a:ext>
            </a:extLst>
          </p:cNvPr>
          <p:cNvCxnSpPr/>
          <p:nvPr/>
        </p:nvCxnSpPr>
        <p:spPr>
          <a:xfrm>
            <a:off x="8908923" y="452120"/>
            <a:ext cx="853948" cy="0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8" name="m-d05_donut_share-chip">
            <a:extLst>
              <a:ext uri="{FF2B5EF4-FFF2-40B4-BE49-F238E27FC236}">
                <a16:creationId xmlns:a16="http://schemas.microsoft.com/office/drawing/2014/main" id="{2E76571A-7BB2-89AA-20C2-B69E464E7E25}"/>
              </a:ext>
            </a:extLst>
          </p:cNvPr>
          <p:cNvSpPr/>
          <p:nvPr/>
        </p:nvSpPr>
        <p:spPr>
          <a:xfrm>
            <a:off x="8811292" y="484664"/>
            <a:ext cx="70294" cy="7029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59" name="m-d05_donut_share-chip-ring">
            <a:extLst>
              <a:ext uri="{FF2B5EF4-FFF2-40B4-BE49-F238E27FC236}">
                <a16:creationId xmlns:a16="http://schemas.microsoft.com/office/drawing/2014/main" id="{8B58E25E-AAA2-5315-3D94-6375C91D78C0}"/>
              </a:ext>
            </a:extLst>
          </p:cNvPr>
          <p:cNvSpPr/>
          <p:nvPr/>
        </p:nvSpPr>
        <p:spPr>
          <a:xfrm>
            <a:off x="8811292" y="484664"/>
            <a:ext cx="70294" cy="70294"/>
          </a:xfrm>
          <a:prstGeom prst="ellipse">
            <a:avLst/>
          </a:prstGeom>
          <a:noFill/>
          <a:ln w="2540" cap="rnd">
            <a:solidFill>
              <a:srgbClr val="2E77C2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60" name="m-d05_donut_share-icon-coin">
            <a:extLst>
              <a:ext uri="{FF2B5EF4-FFF2-40B4-BE49-F238E27FC236}">
                <a16:creationId xmlns:a16="http://schemas.microsoft.com/office/drawing/2014/main" id="{452B76DD-1365-44D6-3EEF-381910BC8363}"/>
              </a:ext>
            </a:extLst>
          </p:cNvPr>
          <p:cNvSpPr/>
          <p:nvPr/>
        </p:nvSpPr>
        <p:spPr>
          <a:xfrm>
            <a:off x="8837422" y="511937"/>
            <a:ext cx="18034" cy="15748"/>
          </a:xfrm>
          <a:custGeom>
            <a:avLst/>
            <a:gdLst/>
            <a:ahLst/>
            <a:cxnLst/>
            <a:rect l="0" t="0" r="r" b="b"/>
            <a:pathLst>
              <a:path w="18034" h="15748">
                <a:moveTo>
                  <a:pt x="9017" y="0"/>
                </a:moveTo>
                <a:cubicBezTo>
                  <a:pt x="3937" y="0"/>
                  <a:pt x="0" y="1397"/>
                  <a:pt x="0" y="3366"/>
                </a:cubicBezTo>
                <a:cubicBezTo>
                  <a:pt x="0" y="5334"/>
                  <a:pt x="3937" y="6731"/>
                  <a:pt x="9017" y="6731"/>
                </a:cubicBezTo>
                <a:cubicBezTo>
                  <a:pt x="14097" y="6731"/>
                  <a:pt x="18034" y="5334"/>
                  <a:pt x="18034" y="3366"/>
                </a:cubicBezTo>
                <a:cubicBezTo>
                  <a:pt x="18034" y="1397"/>
                  <a:pt x="14097" y="0"/>
                  <a:pt x="9017" y="0"/>
                </a:cubicBezTo>
                <a:close/>
                <a:moveTo>
                  <a:pt x="0" y="3366"/>
                </a:moveTo>
                <a:lnTo>
                  <a:pt x="0" y="12382"/>
                </a:lnTo>
                <a:cubicBezTo>
                  <a:pt x="0" y="14351"/>
                  <a:pt x="3937" y="15748"/>
                  <a:pt x="9017" y="15748"/>
                </a:cubicBezTo>
                <a:cubicBezTo>
                  <a:pt x="14097" y="15748"/>
                  <a:pt x="18034" y="14351"/>
                  <a:pt x="18034" y="12382"/>
                </a:cubicBezTo>
                <a:lnTo>
                  <a:pt x="18034" y="3366"/>
                </a:lnTo>
              </a:path>
            </a:pathLst>
          </a:custGeom>
          <a:noFill/>
          <a:ln w="254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61" name="m-d05_donut_share-n-4">
            <a:extLst>
              <a:ext uri="{FF2B5EF4-FFF2-40B4-BE49-F238E27FC236}">
                <a16:creationId xmlns:a16="http://schemas.microsoft.com/office/drawing/2014/main" id="{7CC87E34-C162-14EB-4A7B-445988E2113A}"/>
              </a:ext>
            </a:extLst>
          </p:cNvPr>
          <p:cNvSpPr txBox="1"/>
          <p:nvPr/>
        </p:nvSpPr>
        <p:spPr>
          <a:xfrm>
            <a:off x="8905799" y="479847"/>
            <a:ext cx="133820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金融机构</a:t>
            </a:r>
          </a:p>
        </p:txBody>
      </p:sp>
      <p:sp>
        <p:nvSpPr>
          <p:cNvPr id="362" name="m-d05_donut_share-c-4">
            <a:extLst>
              <a:ext uri="{FF2B5EF4-FFF2-40B4-BE49-F238E27FC236}">
                <a16:creationId xmlns:a16="http://schemas.microsoft.com/office/drawing/2014/main" id="{E17F2A02-5280-47FF-1434-3E213ADEF52A}"/>
              </a:ext>
            </a:extLst>
          </p:cNvPr>
          <p:cNvSpPr txBox="1"/>
          <p:nvPr/>
        </p:nvSpPr>
        <p:spPr>
          <a:xfrm>
            <a:off x="8906580" y="524335"/>
            <a:ext cx="10544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1,512 家</a:t>
            </a:r>
          </a:p>
        </p:txBody>
      </p:sp>
      <p:sp>
        <p:nvSpPr>
          <p:cNvPr id="363" name="m-d05_donut_share-bg-4">
            <a:extLst>
              <a:ext uri="{FF2B5EF4-FFF2-40B4-BE49-F238E27FC236}">
                <a16:creationId xmlns:a16="http://schemas.microsoft.com/office/drawing/2014/main" id="{030682E0-00C4-CA33-E153-4B9CB6F6C780}"/>
              </a:ext>
            </a:extLst>
          </p:cNvPr>
          <p:cNvSpPr/>
          <p:nvPr/>
        </p:nvSpPr>
        <p:spPr>
          <a:xfrm>
            <a:off x="9195308" y="498983"/>
            <a:ext cx="44259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64" name="m-d05_donut_share-bar-4">
            <a:extLst>
              <a:ext uri="{FF2B5EF4-FFF2-40B4-BE49-F238E27FC236}">
                <a16:creationId xmlns:a16="http://schemas.microsoft.com/office/drawing/2014/main" id="{6F045294-34BC-DF7A-2E11-0A8C0C847385}"/>
              </a:ext>
            </a:extLst>
          </p:cNvPr>
          <p:cNvSpPr/>
          <p:nvPr/>
        </p:nvSpPr>
        <p:spPr>
          <a:xfrm>
            <a:off x="9195308" y="498983"/>
            <a:ext cx="156210" cy="13017"/>
          </a:xfrm>
          <a:prstGeom prst="roundRect">
            <a:avLst>
              <a:gd name="adj" fmla="val 50000"/>
            </a:avLst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65" name="m-d05_donut_share-p-4">
            <a:extLst>
              <a:ext uri="{FF2B5EF4-FFF2-40B4-BE49-F238E27FC236}">
                <a16:creationId xmlns:a16="http://schemas.microsoft.com/office/drawing/2014/main" id="{9E2B2D96-73A8-48C1-C14B-8599E7990840}"/>
              </a:ext>
            </a:extLst>
          </p:cNvPr>
          <p:cNvSpPr txBox="1"/>
          <p:nvPr/>
        </p:nvSpPr>
        <p:spPr>
          <a:xfrm>
            <a:off x="9690468" y="479235"/>
            <a:ext cx="75840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5" normalizeH="0" baseline="0" noProof="0">
                <a:ln>
                  <a:noFill/>
                </a:ln>
                <a:solidFill>
                  <a:srgbClr val="2E77C2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12%</a:t>
            </a:r>
          </a:p>
        </p:txBody>
      </p:sp>
      <p:cxnSp>
        <p:nvCxnSpPr>
          <p:cNvPr id="366" name="m-d05_donut_share-d-4">
            <a:extLst>
              <a:ext uri="{FF2B5EF4-FFF2-40B4-BE49-F238E27FC236}">
                <a16:creationId xmlns:a16="http://schemas.microsoft.com/office/drawing/2014/main" id="{6DC6969B-CA39-9F2B-AB36-FE2855F8F03A}"/>
              </a:ext>
            </a:extLst>
          </p:cNvPr>
          <p:cNvCxnSpPr/>
          <p:nvPr/>
        </p:nvCxnSpPr>
        <p:spPr>
          <a:xfrm>
            <a:off x="8908923" y="579692"/>
            <a:ext cx="853948" cy="0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7" name="m-d05_donut_share-chip">
            <a:extLst>
              <a:ext uri="{FF2B5EF4-FFF2-40B4-BE49-F238E27FC236}">
                <a16:creationId xmlns:a16="http://schemas.microsoft.com/office/drawing/2014/main" id="{E162845B-2FE0-F582-3DFF-4DCA52D94ED5}"/>
              </a:ext>
            </a:extLst>
          </p:cNvPr>
          <p:cNvSpPr/>
          <p:nvPr/>
        </p:nvSpPr>
        <p:spPr>
          <a:xfrm>
            <a:off x="8811292" y="612235"/>
            <a:ext cx="70294" cy="7029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68" name="m-d05_donut_share-chip-ring">
            <a:extLst>
              <a:ext uri="{FF2B5EF4-FFF2-40B4-BE49-F238E27FC236}">
                <a16:creationId xmlns:a16="http://schemas.microsoft.com/office/drawing/2014/main" id="{E8A2A979-8BD9-AB97-3BED-55C4B5E9E6EA}"/>
              </a:ext>
            </a:extLst>
          </p:cNvPr>
          <p:cNvSpPr/>
          <p:nvPr/>
        </p:nvSpPr>
        <p:spPr>
          <a:xfrm>
            <a:off x="8811292" y="612235"/>
            <a:ext cx="70294" cy="70294"/>
          </a:xfrm>
          <a:prstGeom prst="ellipse">
            <a:avLst/>
          </a:prstGeom>
          <a:noFill/>
          <a:ln w="2540" cap="rnd">
            <a:solidFill>
              <a:srgbClr val="4694D7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69" name="m-d05_donut_share-icon-flag">
            <a:extLst>
              <a:ext uri="{FF2B5EF4-FFF2-40B4-BE49-F238E27FC236}">
                <a16:creationId xmlns:a16="http://schemas.microsoft.com/office/drawing/2014/main" id="{488F7B48-87C9-520D-8995-AEC54A859598}"/>
              </a:ext>
            </a:extLst>
          </p:cNvPr>
          <p:cNvSpPr/>
          <p:nvPr/>
        </p:nvSpPr>
        <p:spPr>
          <a:xfrm>
            <a:off x="8837994" y="636397"/>
            <a:ext cx="13526" cy="23114"/>
          </a:xfrm>
          <a:custGeom>
            <a:avLst/>
            <a:gdLst/>
            <a:ahLst/>
            <a:cxnLst/>
            <a:rect l="0" t="0" r="r" b="b"/>
            <a:pathLst>
              <a:path w="13526" h="23114">
                <a:moveTo>
                  <a:pt x="0" y="23114"/>
                </a:moveTo>
                <a:lnTo>
                  <a:pt x="0" y="0"/>
                </a:lnTo>
                <a:moveTo>
                  <a:pt x="0" y="1143"/>
                </a:moveTo>
                <a:lnTo>
                  <a:pt x="13526" y="1143"/>
                </a:lnTo>
                <a:lnTo>
                  <a:pt x="11239" y="5652"/>
                </a:lnTo>
                <a:lnTo>
                  <a:pt x="13526" y="10160"/>
                </a:lnTo>
                <a:lnTo>
                  <a:pt x="0" y="10160"/>
                </a:lnTo>
              </a:path>
            </a:pathLst>
          </a:custGeom>
          <a:noFill/>
          <a:ln w="254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70" name="m-d05_donut_share-n-5">
            <a:extLst>
              <a:ext uri="{FF2B5EF4-FFF2-40B4-BE49-F238E27FC236}">
                <a16:creationId xmlns:a16="http://schemas.microsoft.com/office/drawing/2014/main" id="{3D64F808-52C8-37CD-0AC3-4A2E13CC8F06}"/>
              </a:ext>
            </a:extLst>
          </p:cNvPr>
          <p:cNvSpPr txBox="1"/>
          <p:nvPr/>
        </p:nvSpPr>
        <p:spPr>
          <a:xfrm>
            <a:off x="8905799" y="607419"/>
            <a:ext cx="161417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政府与公共</a:t>
            </a:r>
          </a:p>
        </p:txBody>
      </p:sp>
      <p:sp>
        <p:nvSpPr>
          <p:cNvPr id="371" name="m-d05_donut_share-c-5">
            <a:extLst>
              <a:ext uri="{FF2B5EF4-FFF2-40B4-BE49-F238E27FC236}">
                <a16:creationId xmlns:a16="http://schemas.microsoft.com/office/drawing/2014/main" id="{D5C2E452-7088-86BB-E9DB-A8DD2E744B5B}"/>
              </a:ext>
            </a:extLst>
          </p:cNvPr>
          <p:cNvSpPr txBox="1"/>
          <p:nvPr/>
        </p:nvSpPr>
        <p:spPr>
          <a:xfrm>
            <a:off x="8906580" y="651906"/>
            <a:ext cx="10544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1,260 家</a:t>
            </a:r>
          </a:p>
        </p:txBody>
      </p:sp>
      <p:sp>
        <p:nvSpPr>
          <p:cNvPr id="372" name="m-d05_donut_share-bg-5">
            <a:extLst>
              <a:ext uri="{FF2B5EF4-FFF2-40B4-BE49-F238E27FC236}">
                <a16:creationId xmlns:a16="http://schemas.microsoft.com/office/drawing/2014/main" id="{14807D2A-156E-796D-D726-86ED73D0DE51}"/>
              </a:ext>
            </a:extLst>
          </p:cNvPr>
          <p:cNvSpPr/>
          <p:nvPr/>
        </p:nvSpPr>
        <p:spPr>
          <a:xfrm>
            <a:off x="9195308" y="626554"/>
            <a:ext cx="44259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73" name="m-d05_donut_share-bar-5">
            <a:extLst>
              <a:ext uri="{FF2B5EF4-FFF2-40B4-BE49-F238E27FC236}">
                <a16:creationId xmlns:a16="http://schemas.microsoft.com/office/drawing/2014/main" id="{A0CB0AA2-0C1A-9373-D7D5-223CF234F197}"/>
              </a:ext>
            </a:extLst>
          </p:cNvPr>
          <p:cNvSpPr/>
          <p:nvPr/>
        </p:nvSpPr>
        <p:spPr>
          <a:xfrm>
            <a:off x="9195308" y="626554"/>
            <a:ext cx="130175" cy="13017"/>
          </a:xfrm>
          <a:prstGeom prst="roundRect">
            <a:avLst>
              <a:gd name="adj" fmla="val 50000"/>
            </a:avLst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74" name="m-d05_donut_share-p-5">
            <a:extLst>
              <a:ext uri="{FF2B5EF4-FFF2-40B4-BE49-F238E27FC236}">
                <a16:creationId xmlns:a16="http://schemas.microsoft.com/office/drawing/2014/main" id="{650A35FE-7906-6DD2-B713-A935F436F3C9}"/>
              </a:ext>
            </a:extLst>
          </p:cNvPr>
          <p:cNvSpPr txBox="1"/>
          <p:nvPr/>
        </p:nvSpPr>
        <p:spPr>
          <a:xfrm>
            <a:off x="9690468" y="606807"/>
            <a:ext cx="75840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5" normalizeH="0" baseline="0" noProof="0">
                <a:ln>
                  <a:noFill/>
                </a:ln>
                <a:solidFill>
                  <a:srgbClr val="4694D7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10%</a:t>
            </a:r>
          </a:p>
        </p:txBody>
      </p:sp>
      <p:cxnSp>
        <p:nvCxnSpPr>
          <p:cNvPr id="375" name="m-d05_donut_share-d-5">
            <a:extLst>
              <a:ext uri="{FF2B5EF4-FFF2-40B4-BE49-F238E27FC236}">
                <a16:creationId xmlns:a16="http://schemas.microsoft.com/office/drawing/2014/main" id="{9097D5D6-A258-1782-6C9A-E0CF796FF1A9}"/>
              </a:ext>
            </a:extLst>
          </p:cNvPr>
          <p:cNvCxnSpPr/>
          <p:nvPr/>
        </p:nvCxnSpPr>
        <p:spPr>
          <a:xfrm>
            <a:off x="8908923" y="707263"/>
            <a:ext cx="853948" cy="0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6" name="m-d05_donut_share-chip">
            <a:extLst>
              <a:ext uri="{FF2B5EF4-FFF2-40B4-BE49-F238E27FC236}">
                <a16:creationId xmlns:a16="http://schemas.microsoft.com/office/drawing/2014/main" id="{721671AA-1F6F-DFD7-3CDC-19F5496A57C0}"/>
              </a:ext>
            </a:extLst>
          </p:cNvPr>
          <p:cNvSpPr/>
          <p:nvPr/>
        </p:nvSpPr>
        <p:spPr>
          <a:xfrm>
            <a:off x="8811292" y="739807"/>
            <a:ext cx="70294" cy="7029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77" name="m-d05_donut_share-chip-ring">
            <a:extLst>
              <a:ext uri="{FF2B5EF4-FFF2-40B4-BE49-F238E27FC236}">
                <a16:creationId xmlns:a16="http://schemas.microsoft.com/office/drawing/2014/main" id="{AE4B40C2-4837-B195-8568-E33F9D77A05E}"/>
              </a:ext>
            </a:extLst>
          </p:cNvPr>
          <p:cNvSpPr/>
          <p:nvPr/>
        </p:nvSpPr>
        <p:spPr>
          <a:xfrm>
            <a:off x="8811292" y="739807"/>
            <a:ext cx="70294" cy="70294"/>
          </a:xfrm>
          <a:prstGeom prst="ellipse">
            <a:avLst/>
          </a:prstGeom>
          <a:noFill/>
          <a:ln w="2540" cap="rnd">
            <a:solidFill>
              <a:srgbClr val="54A2D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78" name="m-d05_donut_share-icon-layers">
            <a:extLst>
              <a:ext uri="{FF2B5EF4-FFF2-40B4-BE49-F238E27FC236}">
                <a16:creationId xmlns:a16="http://schemas.microsoft.com/office/drawing/2014/main" id="{724878BD-DA21-A997-B53C-05A3F8FF11EF}"/>
              </a:ext>
            </a:extLst>
          </p:cNvPr>
          <p:cNvSpPr/>
          <p:nvPr/>
        </p:nvSpPr>
        <p:spPr>
          <a:xfrm>
            <a:off x="8835136" y="763397"/>
            <a:ext cx="22606" cy="23431"/>
          </a:xfrm>
          <a:custGeom>
            <a:avLst/>
            <a:gdLst/>
            <a:ahLst/>
            <a:cxnLst/>
            <a:rect l="0" t="0" r="r" b="b"/>
            <a:pathLst>
              <a:path w="22606" h="23431">
                <a:moveTo>
                  <a:pt x="11303" y="0"/>
                </a:moveTo>
                <a:lnTo>
                  <a:pt x="22606" y="5906"/>
                </a:lnTo>
                <a:lnTo>
                  <a:pt x="11303" y="11875"/>
                </a:lnTo>
                <a:lnTo>
                  <a:pt x="0" y="5906"/>
                </a:lnTo>
                <a:close/>
                <a:moveTo>
                  <a:pt x="0" y="11875"/>
                </a:moveTo>
                <a:lnTo>
                  <a:pt x="11303" y="17780"/>
                </a:lnTo>
                <a:lnTo>
                  <a:pt x="22606" y="11875"/>
                </a:lnTo>
                <a:moveTo>
                  <a:pt x="0" y="17462"/>
                </a:moveTo>
                <a:lnTo>
                  <a:pt x="11303" y="23431"/>
                </a:lnTo>
                <a:lnTo>
                  <a:pt x="22606" y="17462"/>
                </a:lnTo>
              </a:path>
            </a:pathLst>
          </a:custGeom>
          <a:noFill/>
          <a:ln w="254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79" name="m-d05_donut_share-n-6">
            <a:extLst>
              <a:ext uri="{FF2B5EF4-FFF2-40B4-BE49-F238E27FC236}">
                <a16:creationId xmlns:a16="http://schemas.microsoft.com/office/drawing/2014/main" id="{35AC9FF6-6D91-77D8-8E2B-8591BD5CFCA1}"/>
              </a:ext>
            </a:extLst>
          </p:cNvPr>
          <p:cNvSpPr txBox="1"/>
          <p:nvPr/>
        </p:nvSpPr>
        <p:spPr>
          <a:xfrm>
            <a:off x="8905799" y="734990"/>
            <a:ext cx="133820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其他行业</a:t>
            </a:r>
          </a:p>
        </p:txBody>
      </p:sp>
      <p:sp>
        <p:nvSpPr>
          <p:cNvPr id="380" name="m-d05_donut_share-c-6">
            <a:extLst>
              <a:ext uri="{FF2B5EF4-FFF2-40B4-BE49-F238E27FC236}">
                <a16:creationId xmlns:a16="http://schemas.microsoft.com/office/drawing/2014/main" id="{8042CC6B-10E0-3C30-A2B8-511D5A945A18}"/>
              </a:ext>
            </a:extLst>
          </p:cNvPr>
          <p:cNvSpPr txBox="1"/>
          <p:nvPr/>
        </p:nvSpPr>
        <p:spPr>
          <a:xfrm>
            <a:off x="8906580" y="779478"/>
            <a:ext cx="82791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756 家</a:t>
            </a:r>
          </a:p>
        </p:txBody>
      </p:sp>
      <p:sp>
        <p:nvSpPr>
          <p:cNvPr id="381" name="m-d05_donut_share-bg-6">
            <a:extLst>
              <a:ext uri="{FF2B5EF4-FFF2-40B4-BE49-F238E27FC236}">
                <a16:creationId xmlns:a16="http://schemas.microsoft.com/office/drawing/2014/main" id="{BB1B2F9F-FCDE-D605-F01F-A5C5E7A15643}"/>
              </a:ext>
            </a:extLst>
          </p:cNvPr>
          <p:cNvSpPr/>
          <p:nvPr/>
        </p:nvSpPr>
        <p:spPr>
          <a:xfrm>
            <a:off x="9195308" y="754126"/>
            <a:ext cx="44259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82" name="m-d05_donut_share-bar-6">
            <a:extLst>
              <a:ext uri="{FF2B5EF4-FFF2-40B4-BE49-F238E27FC236}">
                <a16:creationId xmlns:a16="http://schemas.microsoft.com/office/drawing/2014/main" id="{894DEA1E-C9D0-E1AC-EFBD-FE8CB50A42DD}"/>
              </a:ext>
            </a:extLst>
          </p:cNvPr>
          <p:cNvSpPr/>
          <p:nvPr/>
        </p:nvSpPr>
        <p:spPr>
          <a:xfrm>
            <a:off x="9195308" y="754126"/>
            <a:ext cx="78105" cy="13017"/>
          </a:xfrm>
          <a:prstGeom prst="roundRect">
            <a:avLst>
              <a:gd name="adj" fmla="val 50000"/>
            </a:avLst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83" name="m-d05_donut_share-p-6">
            <a:extLst>
              <a:ext uri="{FF2B5EF4-FFF2-40B4-BE49-F238E27FC236}">
                <a16:creationId xmlns:a16="http://schemas.microsoft.com/office/drawing/2014/main" id="{048CF8EC-322D-3540-ECA8-839EE99F858B}"/>
              </a:ext>
            </a:extLst>
          </p:cNvPr>
          <p:cNvSpPr txBox="1"/>
          <p:nvPr/>
        </p:nvSpPr>
        <p:spPr>
          <a:xfrm>
            <a:off x="9707156" y="734378"/>
            <a:ext cx="59152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5" normalizeH="0" baseline="0" noProof="0">
                <a:ln>
                  <a:noFill/>
                </a:ln>
                <a:solidFill>
                  <a:srgbClr val="54A2D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6%</a:t>
            </a:r>
          </a:p>
        </p:txBody>
      </p:sp>
      <p:cxnSp>
        <p:nvCxnSpPr>
          <p:cNvPr id="384" name="m-d05_donut_share-foot-line">
            <a:extLst>
              <a:ext uri="{FF2B5EF4-FFF2-40B4-BE49-F238E27FC236}">
                <a16:creationId xmlns:a16="http://schemas.microsoft.com/office/drawing/2014/main" id="{6E7474BA-EA4B-B0A1-994D-363C10D8AC61}"/>
              </a:ext>
            </a:extLst>
          </p:cNvPr>
          <p:cNvCxnSpPr/>
          <p:nvPr/>
        </p:nvCxnSpPr>
        <p:spPr>
          <a:xfrm>
            <a:off x="7523861" y="9441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5" name="m-d05_donut_share-foot-l">
            <a:extLst>
              <a:ext uri="{FF2B5EF4-FFF2-40B4-BE49-F238E27FC236}">
                <a16:creationId xmlns:a16="http://schemas.microsoft.com/office/drawing/2014/main" id="{42A8C31C-A78D-E9FB-6BFE-F3BAA055B446}"/>
              </a:ext>
            </a:extLst>
          </p:cNvPr>
          <p:cNvSpPr txBox="1"/>
          <p:nvPr/>
        </p:nvSpPr>
        <p:spPr>
          <a:xfrm>
            <a:off x="7521674" y="958123"/>
            <a:ext cx="21429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客户结构 · 六大行业</a:t>
            </a:r>
          </a:p>
        </p:txBody>
      </p:sp>
      <p:sp>
        <p:nvSpPr>
          <p:cNvPr id="386" name="m-d05_donut_share-foot-r">
            <a:extLst>
              <a:ext uri="{FF2B5EF4-FFF2-40B4-BE49-F238E27FC236}">
                <a16:creationId xmlns:a16="http://schemas.microsoft.com/office/drawing/2014/main" id="{5056756D-CABC-DD27-FD03-0D3397A3053A}"/>
              </a:ext>
            </a:extLst>
          </p:cNvPr>
          <p:cNvSpPr txBox="1"/>
          <p:nvPr/>
        </p:nvSpPr>
        <p:spPr>
          <a:xfrm>
            <a:off x="9526109" y="9581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387" name="mini-card-c21_bcg">
            <a:extLst>
              <a:ext uri="{FF2B5EF4-FFF2-40B4-BE49-F238E27FC236}">
                <a16:creationId xmlns:a16="http://schemas.microsoft.com/office/drawing/2014/main" id="{404079A6-F792-5EEE-13F1-0948477FA1A8}"/>
              </a:ext>
            </a:extLst>
          </p:cNvPr>
          <p:cNvSpPr/>
          <p:nvPr/>
        </p:nvSpPr>
        <p:spPr>
          <a:xfrm>
            <a:off x="10020300" y="-3810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1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1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1" y="1405890"/>
                </a:lnTo>
                <a:cubicBezTo>
                  <a:pt x="35878" y="1405890"/>
                  <a:pt x="0" y="1370012"/>
                  <a:pt x="0" y="1325690"/>
                </a:cubicBezTo>
                <a:lnTo>
                  <a:pt x="0" y="80201"/>
                </a:lnTo>
                <a:cubicBezTo>
                  <a:pt x="0" y="35877"/>
                  <a:pt x="35878" y="0"/>
                  <a:pt x="80201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88" name="m-c21_bcg-title-bar">
            <a:extLst>
              <a:ext uri="{FF2B5EF4-FFF2-40B4-BE49-F238E27FC236}">
                <a16:creationId xmlns:a16="http://schemas.microsoft.com/office/drawing/2014/main" id="{4F258E06-9495-FE83-50C8-E8431B5E0E94}"/>
              </a:ext>
            </a:extLst>
          </p:cNvPr>
          <p:cNvSpPr/>
          <p:nvPr/>
        </p:nvSpPr>
        <p:spPr>
          <a:xfrm>
            <a:off x="10140061" y="-282067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89" name="m-c21_bcg-title-bar-accent">
            <a:extLst>
              <a:ext uri="{FF2B5EF4-FFF2-40B4-BE49-F238E27FC236}">
                <a16:creationId xmlns:a16="http://schemas.microsoft.com/office/drawing/2014/main" id="{C0A3ED08-7D63-413C-F430-F79AD28D6E33}"/>
              </a:ext>
            </a:extLst>
          </p:cNvPr>
          <p:cNvSpPr/>
          <p:nvPr/>
        </p:nvSpPr>
        <p:spPr>
          <a:xfrm>
            <a:off x="10140061" y="-282067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90" name="m-c21_bcg-title-cn">
            <a:extLst>
              <a:ext uri="{FF2B5EF4-FFF2-40B4-BE49-F238E27FC236}">
                <a16:creationId xmlns:a16="http://schemas.microsoft.com/office/drawing/2014/main" id="{65136108-A8EF-EA25-F7B9-86A876E21F3A}"/>
              </a:ext>
            </a:extLst>
          </p:cNvPr>
          <p:cNvSpPr txBox="1"/>
          <p:nvPr/>
        </p:nvSpPr>
        <p:spPr>
          <a:xfrm>
            <a:off x="10172240" y="-299432"/>
            <a:ext cx="725752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业务组合 · 波士顿矩阵</a:t>
            </a:r>
          </a:p>
        </p:txBody>
      </p:sp>
      <p:sp>
        <p:nvSpPr>
          <p:cNvPr id="391" name="m-c21_bcg-title-en">
            <a:extLst>
              <a:ext uri="{FF2B5EF4-FFF2-40B4-BE49-F238E27FC236}">
                <a16:creationId xmlns:a16="http://schemas.microsoft.com/office/drawing/2014/main" id="{320D9F26-6D64-63E5-3404-6705120F314E}"/>
              </a:ext>
            </a:extLst>
          </p:cNvPr>
          <p:cNvSpPr txBox="1"/>
          <p:nvPr/>
        </p:nvSpPr>
        <p:spPr>
          <a:xfrm>
            <a:off x="10179530" y="-212150"/>
            <a:ext cx="20307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BCG MATRIX</a:t>
            </a:r>
          </a:p>
        </p:txBody>
      </p:sp>
      <p:sp>
        <p:nvSpPr>
          <p:cNvPr id="392" name="m-c21_bcg-title-sub">
            <a:extLst>
              <a:ext uri="{FF2B5EF4-FFF2-40B4-BE49-F238E27FC236}">
                <a16:creationId xmlns:a16="http://schemas.microsoft.com/office/drawing/2014/main" id="{24BBAF38-7089-7395-F5F8-56538F64B39B}"/>
              </a:ext>
            </a:extLst>
          </p:cNvPr>
          <p:cNvSpPr txBox="1"/>
          <p:nvPr/>
        </p:nvSpPr>
        <p:spPr>
          <a:xfrm>
            <a:off x="11796850" y="-243008"/>
            <a:ext cx="605704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横轴相对市场份额、纵轴市场增长率，气泡大小代表营收</a:t>
            </a:r>
          </a:p>
        </p:txBody>
      </p:sp>
      <p:sp>
        <p:nvSpPr>
          <p:cNvPr id="393" name="m-c21_bcg-qd-1">
            <a:extLst>
              <a:ext uri="{FF2B5EF4-FFF2-40B4-BE49-F238E27FC236}">
                <a16:creationId xmlns:a16="http://schemas.microsoft.com/office/drawing/2014/main" id="{6C16BBAB-0C61-1585-C2B4-640330B3C849}"/>
              </a:ext>
            </a:extLst>
          </p:cNvPr>
          <p:cNvSpPr/>
          <p:nvPr/>
        </p:nvSpPr>
        <p:spPr>
          <a:xfrm>
            <a:off x="10416032" y="-50356"/>
            <a:ext cx="562356" cy="421132"/>
          </a:xfrm>
          <a:custGeom>
            <a:avLst/>
            <a:gdLst/>
            <a:ahLst/>
            <a:cxnLst/>
            <a:rect l="0" t="0" r="r" b="b"/>
            <a:pathLst>
              <a:path w="562356" h="421132">
                <a:moveTo>
                  <a:pt x="23432" y="0"/>
                </a:moveTo>
                <a:lnTo>
                  <a:pt x="538925" y="0"/>
                </a:lnTo>
                <a:cubicBezTo>
                  <a:pt x="551879" y="0"/>
                  <a:pt x="562356" y="10477"/>
                  <a:pt x="562356" y="23431"/>
                </a:cubicBezTo>
                <a:lnTo>
                  <a:pt x="562356" y="397700"/>
                </a:lnTo>
                <a:cubicBezTo>
                  <a:pt x="562356" y="410654"/>
                  <a:pt x="551879" y="421132"/>
                  <a:pt x="538925" y="421132"/>
                </a:cubicBezTo>
                <a:lnTo>
                  <a:pt x="23432" y="421132"/>
                </a:lnTo>
                <a:cubicBezTo>
                  <a:pt x="10478" y="421132"/>
                  <a:pt x="0" y="410654"/>
                  <a:pt x="0" y="397700"/>
                </a:cubicBezTo>
                <a:lnTo>
                  <a:pt x="0" y="23431"/>
                </a:lnTo>
                <a:cubicBezTo>
                  <a:pt x="0" y="10477"/>
                  <a:pt x="10478" y="0"/>
                  <a:pt x="23432" y="0"/>
                </a:cubicBezTo>
                <a:close/>
              </a:path>
            </a:pathLst>
          </a:custGeom>
          <a:solidFill>
            <a:srgbClr val="0B3E8F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94" name="m-c21_bcg-qn-1">
            <a:extLst>
              <a:ext uri="{FF2B5EF4-FFF2-40B4-BE49-F238E27FC236}">
                <a16:creationId xmlns:a16="http://schemas.microsoft.com/office/drawing/2014/main" id="{58E7DE3F-8EFD-27C6-E615-B4088F319A51}"/>
              </a:ext>
            </a:extLst>
          </p:cNvPr>
          <p:cNvSpPr txBox="1"/>
          <p:nvPr/>
        </p:nvSpPr>
        <p:spPr>
          <a:xfrm>
            <a:off x="10437693" y="-35490"/>
            <a:ext cx="116116" cy="6378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90" b="1" i="0" u="none" strike="noStrike" kern="1200" cap="none" spc="41" normalizeH="0" baseline="0" noProof="0">
                <a:ln>
                  <a:noFill/>
                </a:ln>
                <a:solidFill>
                  <a:srgbClr val="0B3E8F">
                    <a:alpha val="90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明星</a:t>
            </a:r>
          </a:p>
        </p:txBody>
      </p:sp>
      <p:sp>
        <p:nvSpPr>
          <p:cNvPr id="395" name="m-c21_bcg-qe-1">
            <a:extLst>
              <a:ext uri="{FF2B5EF4-FFF2-40B4-BE49-F238E27FC236}">
                <a16:creationId xmlns:a16="http://schemas.microsoft.com/office/drawing/2014/main" id="{00B56662-1284-BD83-BF2C-21D76151D56A}"/>
              </a:ext>
            </a:extLst>
          </p:cNvPr>
          <p:cNvSpPr txBox="1"/>
          <p:nvPr/>
        </p:nvSpPr>
        <p:spPr>
          <a:xfrm>
            <a:off x="10439880" y="20863"/>
            <a:ext cx="72846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31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STAR</a:t>
            </a:r>
          </a:p>
        </p:txBody>
      </p:sp>
      <p:sp>
        <p:nvSpPr>
          <p:cNvPr id="396" name="m-c21_bcg-qd-2">
            <a:extLst>
              <a:ext uri="{FF2B5EF4-FFF2-40B4-BE49-F238E27FC236}">
                <a16:creationId xmlns:a16="http://schemas.microsoft.com/office/drawing/2014/main" id="{854138EA-440C-09CA-DD35-93832A113024}"/>
              </a:ext>
            </a:extLst>
          </p:cNvPr>
          <p:cNvSpPr/>
          <p:nvPr/>
        </p:nvSpPr>
        <p:spPr>
          <a:xfrm>
            <a:off x="10988802" y="-50356"/>
            <a:ext cx="562356" cy="421132"/>
          </a:xfrm>
          <a:custGeom>
            <a:avLst/>
            <a:gdLst/>
            <a:ahLst/>
            <a:cxnLst/>
            <a:rect l="0" t="0" r="r" b="b"/>
            <a:pathLst>
              <a:path w="562356" h="421132">
                <a:moveTo>
                  <a:pt x="23432" y="0"/>
                </a:moveTo>
                <a:lnTo>
                  <a:pt x="538925" y="0"/>
                </a:lnTo>
                <a:cubicBezTo>
                  <a:pt x="551879" y="0"/>
                  <a:pt x="562356" y="10477"/>
                  <a:pt x="562356" y="23431"/>
                </a:cubicBezTo>
                <a:lnTo>
                  <a:pt x="562356" y="397700"/>
                </a:lnTo>
                <a:cubicBezTo>
                  <a:pt x="562356" y="410654"/>
                  <a:pt x="551879" y="421132"/>
                  <a:pt x="538925" y="421132"/>
                </a:cubicBezTo>
                <a:lnTo>
                  <a:pt x="23432" y="421132"/>
                </a:lnTo>
                <a:cubicBezTo>
                  <a:pt x="10478" y="421132"/>
                  <a:pt x="0" y="410654"/>
                  <a:pt x="0" y="397700"/>
                </a:cubicBezTo>
                <a:lnTo>
                  <a:pt x="0" y="23431"/>
                </a:lnTo>
                <a:cubicBezTo>
                  <a:pt x="0" y="10477"/>
                  <a:pt x="10478" y="0"/>
                  <a:pt x="23432" y="0"/>
                </a:cubicBezTo>
                <a:close/>
              </a:path>
            </a:pathLst>
          </a:custGeom>
          <a:solidFill>
            <a:srgbClr val="3985CD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97" name="m-c21_bcg-qn-2">
            <a:extLst>
              <a:ext uri="{FF2B5EF4-FFF2-40B4-BE49-F238E27FC236}">
                <a16:creationId xmlns:a16="http://schemas.microsoft.com/office/drawing/2014/main" id="{F8B2D86D-39F8-5BF4-FA4D-F45E3A80B996}"/>
              </a:ext>
            </a:extLst>
          </p:cNvPr>
          <p:cNvSpPr txBox="1"/>
          <p:nvPr/>
        </p:nvSpPr>
        <p:spPr>
          <a:xfrm>
            <a:off x="11413381" y="-35490"/>
            <a:ext cx="116116" cy="6378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90" b="1" i="0" u="none" strike="noStrike" kern="1200" cap="none" spc="41" normalizeH="0" baseline="0" noProof="0">
                <a:ln>
                  <a:noFill/>
                </a:ln>
                <a:solidFill>
                  <a:srgbClr val="3985CD">
                    <a:alpha val="90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问号</a:t>
            </a:r>
          </a:p>
        </p:txBody>
      </p:sp>
      <p:sp>
        <p:nvSpPr>
          <p:cNvPr id="398" name="m-c21_bcg-qe-2">
            <a:extLst>
              <a:ext uri="{FF2B5EF4-FFF2-40B4-BE49-F238E27FC236}">
                <a16:creationId xmlns:a16="http://schemas.microsoft.com/office/drawing/2014/main" id="{6A99D5B8-9FE8-B35C-93CD-159D7179B95E}"/>
              </a:ext>
            </a:extLst>
          </p:cNvPr>
          <p:cNvSpPr txBox="1"/>
          <p:nvPr/>
        </p:nvSpPr>
        <p:spPr>
          <a:xfrm>
            <a:off x="11398020" y="20863"/>
            <a:ext cx="129290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31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QUESTION</a:t>
            </a:r>
          </a:p>
        </p:txBody>
      </p:sp>
      <p:sp>
        <p:nvSpPr>
          <p:cNvPr id="399" name="m-c21_bcg-qd-3">
            <a:extLst>
              <a:ext uri="{FF2B5EF4-FFF2-40B4-BE49-F238E27FC236}">
                <a16:creationId xmlns:a16="http://schemas.microsoft.com/office/drawing/2014/main" id="{DFBABD1B-F652-992D-A9C3-E1B5485A52C3}"/>
              </a:ext>
            </a:extLst>
          </p:cNvPr>
          <p:cNvSpPr/>
          <p:nvPr/>
        </p:nvSpPr>
        <p:spPr>
          <a:xfrm>
            <a:off x="10416032" y="381190"/>
            <a:ext cx="562356" cy="352108"/>
          </a:xfrm>
          <a:custGeom>
            <a:avLst/>
            <a:gdLst/>
            <a:ahLst/>
            <a:cxnLst/>
            <a:rect l="0" t="0" r="r" b="b"/>
            <a:pathLst>
              <a:path w="562356" h="352108">
                <a:moveTo>
                  <a:pt x="23432" y="0"/>
                </a:moveTo>
                <a:lnTo>
                  <a:pt x="538925" y="0"/>
                </a:lnTo>
                <a:cubicBezTo>
                  <a:pt x="551879" y="0"/>
                  <a:pt x="562356" y="10477"/>
                  <a:pt x="562356" y="23431"/>
                </a:cubicBezTo>
                <a:lnTo>
                  <a:pt x="562356" y="328676"/>
                </a:lnTo>
                <a:cubicBezTo>
                  <a:pt x="562356" y="341630"/>
                  <a:pt x="551879" y="352108"/>
                  <a:pt x="538925" y="352108"/>
                </a:cubicBezTo>
                <a:lnTo>
                  <a:pt x="23432" y="352108"/>
                </a:lnTo>
                <a:cubicBezTo>
                  <a:pt x="10478" y="352108"/>
                  <a:pt x="0" y="341630"/>
                  <a:pt x="0" y="328676"/>
                </a:cubicBezTo>
                <a:lnTo>
                  <a:pt x="0" y="23431"/>
                </a:lnTo>
                <a:cubicBezTo>
                  <a:pt x="0" y="10477"/>
                  <a:pt x="10478" y="0"/>
                  <a:pt x="23432" y="0"/>
                </a:cubicBezTo>
                <a:close/>
              </a:path>
            </a:pathLst>
          </a:custGeom>
          <a:solidFill>
            <a:srgbClr val="1B5AA8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00" name="m-c21_bcg-qn-3">
            <a:extLst>
              <a:ext uri="{FF2B5EF4-FFF2-40B4-BE49-F238E27FC236}">
                <a16:creationId xmlns:a16="http://schemas.microsoft.com/office/drawing/2014/main" id="{A64E333D-32A3-40FE-6B9D-952D86BDD6E6}"/>
              </a:ext>
            </a:extLst>
          </p:cNvPr>
          <p:cNvSpPr txBox="1"/>
          <p:nvPr/>
        </p:nvSpPr>
        <p:spPr>
          <a:xfrm>
            <a:off x="10437693" y="396069"/>
            <a:ext cx="116116" cy="6378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90" b="1" i="0" u="none" strike="noStrike" kern="1200" cap="none" spc="41" normalizeH="0" baseline="0" noProof="0">
                <a:ln>
                  <a:noFill/>
                </a:ln>
                <a:solidFill>
                  <a:srgbClr val="1B5AA8">
                    <a:alpha val="90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金牛</a:t>
            </a:r>
          </a:p>
        </p:txBody>
      </p:sp>
      <p:sp>
        <p:nvSpPr>
          <p:cNvPr id="401" name="m-c21_bcg-qe-3">
            <a:extLst>
              <a:ext uri="{FF2B5EF4-FFF2-40B4-BE49-F238E27FC236}">
                <a16:creationId xmlns:a16="http://schemas.microsoft.com/office/drawing/2014/main" id="{BF7367C9-F5A5-D44A-36A7-132D49284026}"/>
              </a:ext>
            </a:extLst>
          </p:cNvPr>
          <p:cNvSpPr txBox="1"/>
          <p:nvPr/>
        </p:nvSpPr>
        <p:spPr>
          <a:xfrm>
            <a:off x="10439880" y="452422"/>
            <a:ext cx="129290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31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CASH COW</a:t>
            </a:r>
          </a:p>
        </p:txBody>
      </p:sp>
      <p:sp>
        <p:nvSpPr>
          <p:cNvPr id="402" name="m-c21_bcg-qd-4">
            <a:extLst>
              <a:ext uri="{FF2B5EF4-FFF2-40B4-BE49-F238E27FC236}">
                <a16:creationId xmlns:a16="http://schemas.microsoft.com/office/drawing/2014/main" id="{EE2DDA60-412C-DC32-4A2C-46275FFE12EE}"/>
              </a:ext>
            </a:extLst>
          </p:cNvPr>
          <p:cNvSpPr/>
          <p:nvPr/>
        </p:nvSpPr>
        <p:spPr>
          <a:xfrm>
            <a:off x="10988802" y="381190"/>
            <a:ext cx="562356" cy="352108"/>
          </a:xfrm>
          <a:custGeom>
            <a:avLst/>
            <a:gdLst/>
            <a:ahLst/>
            <a:cxnLst/>
            <a:rect l="0" t="0" r="r" b="b"/>
            <a:pathLst>
              <a:path w="562356" h="352108">
                <a:moveTo>
                  <a:pt x="23432" y="0"/>
                </a:moveTo>
                <a:lnTo>
                  <a:pt x="538925" y="0"/>
                </a:lnTo>
                <a:cubicBezTo>
                  <a:pt x="551879" y="0"/>
                  <a:pt x="562356" y="10477"/>
                  <a:pt x="562356" y="23431"/>
                </a:cubicBezTo>
                <a:lnTo>
                  <a:pt x="562356" y="328676"/>
                </a:lnTo>
                <a:cubicBezTo>
                  <a:pt x="562356" y="341630"/>
                  <a:pt x="551879" y="352108"/>
                  <a:pt x="538925" y="352108"/>
                </a:cubicBezTo>
                <a:lnTo>
                  <a:pt x="23432" y="352108"/>
                </a:lnTo>
                <a:cubicBezTo>
                  <a:pt x="10478" y="352108"/>
                  <a:pt x="0" y="341630"/>
                  <a:pt x="0" y="328676"/>
                </a:cubicBezTo>
                <a:lnTo>
                  <a:pt x="0" y="23431"/>
                </a:lnTo>
                <a:cubicBezTo>
                  <a:pt x="0" y="10477"/>
                  <a:pt x="10478" y="0"/>
                  <a:pt x="23432" y="0"/>
                </a:cubicBezTo>
                <a:close/>
              </a:path>
            </a:pathLst>
          </a:custGeom>
          <a:solidFill>
            <a:srgbClr val="9DB2CC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03" name="m-c21_bcg-qn-4">
            <a:extLst>
              <a:ext uri="{FF2B5EF4-FFF2-40B4-BE49-F238E27FC236}">
                <a16:creationId xmlns:a16="http://schemas.microsoft.com/office/drawing/2014/main" id="{3A774A91-0DF3-A0FC-7FA8-5AB173910BE6}"/>
              </a:ext>
            </a:extLst>
          </p:cNvPr>
          <p:cNvSpPr txBox="1"/>
          <p:nvPr/>
        </p:nvSpPr>
        <p:spPr>
          <a:xfrm>
            <a:off x="11413381" y="396069"/>
            <a:ext cx="116116" cy="6378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90" b="1" i="0" u="none" strike="noStrike" kern="1200" cap="none" spc="41" normalizeH="0" baseline="0" noProof="0">
                <a:ln>
                  <a:noFill/>
                </a:ln>
                <a:solidFill>
                  <a:srgbClr val="9DB2CC">
                    <a:alpha val="90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瘦狗</a:t>
            </a:r>
          </a:p>
        </p:txBody>
      </p:sp>
      <p:sp>
        <p:nvSpPr>
          <p:cNvPr id="404" name="m-c21_bcg-qe-4">
            <a:extLst>
              <a:ext uri="{FF2B5EF4-FFF2-40B4-BE49-F238E27FC236}">
                <a16:creationId xmlns:a16="http://schemas.microsoft.com/office/drawing/2014/main" id="{84E94DE0-D91D-48EF-9FD3-511D60BE131C}"/>
              </a:ext>
            </a:extLst>
          </p:cNvPr>
          <p:cNvSpPr txBox="1"/>
          <p:nvPr/>
        </p:nvSpPr>
        <p:spPr>
          <a:xfrm>
            <a:off x="11468575" y="452422"/>
            <a:ext cx="58735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31" normalizeH="0" baseline="0" noProof="0">
                <a:ln>
                  <a:noFill/>
                </a:ln>
                <a:solidFill>
                  <a:srgbClr val="9DB2C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DOG</a:t>
            </a:r>
          </a:p>
        </p:txBody>
      </p:sp>
      <p:cxnSp>
        <p:nvCxnSpPr>
          <p:cNvPr id="405" name="m-c21_bcg-ax">
            <a:extLst>
              <a:ext uri="{FF2B5EF4-FFF2-40B4-BE49-F238E27FC236}">
                <a16:creationId xmlns:a16="http://schemas.microsoft.com/office/drawing/2014/main" id="{73C10B15-0194-AC72-54A6-6DF196F8A455}"/>
              </a:ext>
            </a:extLst>
          </p:cNvPr>
          <p:cNvCxnSpPr/>
          <p:nvPr/>
        </p:nvCxnSpPr>
        <p:spPr>
          <a:xfrm>
            <a:off x="10410825" y="751522"/>
            <a:ext cx="1145540" cy="0"/>
          </a:xfrm>
          <a:prstGeom prst="line">
            <a:avLst/>
          </a:prstGeom>
          <a:ln w="2540" cap="rnd">
            <a:solidFill>
              <a:srgbClr val="0B2545">
                <a:alpha val="3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6" name="m-c21_bcg-ax-t">
            <a:extLst>
              <a:ext uri="{FF2B5EF4-FFF2-40B4-BE49-F238E27FC236}">
                <a16:creationId xmlns:a16="http://schemas.microsoft.com/office/drawing/2014/main" id="{91FB29AC-0E70-2E79-D3D0-446273FA0492}"/>
              </a:ext>
            </a:extLst>
          </p:cNvPr>
          <p:cNvSpPr txBox="1"/>
          <p:nvPr/>
        </p:nvSpPr>
        <p:spPr>
          <a:xfrm>
            <a:off x="10408482" y="766460"/>
            <a:ext cx="257616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1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高 ← 相对市场份额 → 低</a:t>
            </a:r>
          </a:p>
        </p:txBody>
      </p:sp>
      <p:sp>
        <p:nvSpPr>
          <p:cNvPr id="407" name="m-c21_bcg-ax-s">
            <a:extLst>
              <a:ext uri="{FF2B5EF4-FFF2-40B4-BE49-F238E27FC236}">
                <a16:creationId xmlns:a16="http://schemas.microsoft.com/office/drawing/2014/main" id="{5795A199-7F02-0C7F-5FB4-CDF740D53001}"/>
              </a:ext>
            </a:extLst>
          </p:cNvPr>
          <p:cNvSpPr txBox="1"/>
          <p:nvPr/>
        </p:nvSpPr>
        <p:spPr>
          <a:xfrm>
            <a:off x="11279743" y="768068"/>
            <a:ext cx="27880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分界：份额 1.0× · 增长 15%</a:t>
            </a:r>
          </a:p>
        </p:txBody>
      </p:sp>
      <p:sp>
        <p:nvSpPr>
          <p:cNvPr id="408" name="m-c21_bcg-gy-0">
            <a:extLst>
              <a:ext uri="{FF2B5EF4-FFF2-40B4-BE49-F238E27FC236}">
                <a16:creationId xmlns:a16="http://schemas.microsoft.com/office/drawing/2014/main" id="{4EBFC99C-65F0-C084-1277-FADE698F92E9}"/>
              </a:ext>
            </a:extLst>
          </p:cNvPr>
          <p:cNvSpPr txBox="1"/>
          <p:nvPr/>
        </p:nvSpPr>
        <p:spPr>
          <a:xfrm>
            <a:off x="10357974" y="618932"/>
            <a:ext cx="3681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0%</a:t>
            </a:r>
          </a:p>
        </p:txBody>
      </p:sp>
      <p:sp>
        <p:nvSpPr>
          <p:cNvPr id="409" name="m-c21_bcg-gy-15">
            <a:extLst>
              <a:ext uri="{FF2B5EF4-FFF2-40B4-BE49-F238E27FC236}">
                <a16:creationId xmlns:a16="http://schemas.microsoft.com/office/drawing/2014/main" id="{37C968B2-588A-B3DE-2636-1A820C3E75DD}"/>
              </a:ext>
            </a:extLst>
          </p:cNvPr>
          <p:cNvSpPr txBox="1"/>
          <p:nvPr/>
        </p:nvSpPr>
        <p:spPr>
          <a:xfrm>
            <a:off x="10347768" y="359997"/>
            <a:ext cx="4701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15%</a:t>
            </a:r>
          </a:p>
        </p:txBody>
      </p:sp>
      <p:sp>
        <p:nvSpPr>
          <p:cNvPr id="410" name="m-c21_bcg-gy-30">
            <a:extLst>
              <a:ext uri="{FF2B5EF4-FFF2-40B4-BE49-F238E27FC236}">
                <a16:creationId xmlns:a16="http://schemas.microsoft.com/office/drawing/2014/main" id="{EAA23061-9AB0-EE96-9828-318F0C221E64}"/>
              </a:ext>
            </a:extLst>
          </p:cNvPr>
          <p:cNvSpPr txBox="1"/>
          <p:nvPr/>
        </p:nvSpPr>
        <p:spPr>
          <a:xfrm>
            <a:off x="10347768" y="101062"/>
            <a:ext cx="4701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30%</a:t>
            </a:r>
          </a:p>
        </p:txBody>
      </p:sp>
      <p:sp>
        <p:nvSpPr>
          <p:cNvPr id="411" name="m-c21_bcg-gy-h">
            <a:extLst>
              <a:ext uri="{FF2B5EF4-FFF2-40B4-BE49-F238E27FC236}">
                <a16:creationId xmlns:a16="http://schemas.microsoft.com/office/drawing/2014/main" id="{222CD58A-FAD7-E7EE-9589-AD8129A35986}"/>
              </a:ext>
            </a:extLst>
          </p:cNvPr>
          <p:cNvSpPr txBox="1"/>
          <p:nvPr/>
        </p:nvSpPr>
        <p:spPr>
          <a:xfrm>
            <a:off x="10323712" y="-70259"/>
            <a:ext cx="71076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增长率</a:t>
            </a:r>
          </a:p>
        </p:txBody>
      </p:sp>
      <p:sp>
        <p:nvSpPr>
          <p:cNvPr id="412" name="m-c21_bcg-b-1">
            <a:extLst>
              <a:ext uri="{FF2B5EF4-FFF2-40B4-BE49-F238E27FC236}">
                <a16:creationId xmlns:a16="http://schemas.microsoft.com/office/drawing/2014/main" id="{FCC47F1E-8466-3BA7-385F-9F37796F1CD4}"/>
              </a:ext>
            </a:extLst>
          </p:cNvPr>
          <p:cNvSpPr/>
          <p:nvPr/>
        </p:nvSpPr>
        <p:spPr>
          <a:xfrm>
            <a:off x="10563570" y="454994"/>
            <a:ext cx="152725" cy="152725"/>
          </a:xfrm>
          <a:prstGeom prst="ellipse">
            <a:avLst/>
          </a:prstGeom>
          <a:gradFill rotWithShape="1">
            <a:gsLst>
              <a:gs pos="0">
                <a:srgbClr val="497BB9">
                  <a:alpha val="92000"/>
                </a:srgbClr>
              </a:gs>
              <a:gs pos="100000">
                <a:srgbClr val="1B5AA8">
                  <a:alpha val="92000"/>
                </a:srgbClr>
              </a:gs>
            </a:gsLst>
            <a:lin ang="7200000" scaled="0"/>
          </a:gradFill>
          <a:ln w="390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13" name="m-c21_bcg-bn-1">
            <a:extLst>
              <a:ext uri="{FF2B5EF4-FFF2-40B4-BE49-F238E27FC236}">
                <a16:creationId xmlns:a16="http://schemas.microsoft.com/office/drawing/2014/main" id="{CC79BF0F-02B3-CEA2-940A-8B5F0AB56045}"/>
              </a:ext>
            </a:extLst>
          </p:cNvPr>
          <p:cNvSpPr txBox="1"/>
          <p:nvPr/>
        </p:nvSpPr>
        <p:spPr>
          <a:xfrm>
            <a:off x="10579922" y="499816"/>
            <a:ext cx="12002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企业软件</a:t>
            </a:r>
          </a:p>
        </p:txBody>
      </p:sp>
      <p:sp>
        <p:nvSpPr>
          <p:cNvPr id="414" name="m-c21_bcg-bv-1">
            <a:extLst>
              <a:ext uri="{FF2B5EF4-FFF2-40B4-BE49-F238E27FC236}">
                <a16:creationId xmlns:a16="http://schemas.microsoft.com/office/drawing/2014/main" id="{86611C0D-326B-ED9D-5AC6-19676E52E03F}"/>
              </a:ext>
            </a:extLst>
          </p:cNvPr>
          <p:cNvSpPr txBox="1"/>
          <p:nvPr/>
        </p:nvSpPr>
        <p:spPr>
          <a:xfrm>
            <a:off x="10594046" y="538484"/>
            <a:ext cx="9177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0" normalizeH="0" baseline="0" noProof="0">
                <a:ln>
                  <a:noFill/>
                </a:ln>
                <a:solidFill>
                  <a:srgbClr val="E3EDF9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18.2 亿</a:t>
            </a:r>
          </a:p>
        </p:txBody>
      </p:sp>
      <p:sp>
        <p:nvSpPr>
          <p:cNvPr id="415" name="m-c21_bcg-b-2">
            <a:extLst>
              <a:ext uri="{FF2B5EF4-FFF2-40B4-BE49-F238E27FC236}">
                <a16:creationId xmlns:a16="http://schemas.microsoft.com/office/drawing/2014/main" id="{FD1869D8-D5C0-AFCF-8CB0-438BC504241A}"/>
              </a:ext>
            </a:extLst>
          </p:cNvPr>
          <p:cNvSpPr/>
          <p:nvPr/>
        </p:nvSpPr>
        <p:spPr>
          <a:xfrm>
            <a:off x="10750603" y="90424"/>
            <a:ext cx="122322" cy="122322"/>
          </a:xfrm>
          <a:prstGeom prst="ellipse">
            <a:avLst/>
          </a:prstGeom>
          <a:gradFill rotWithShape="1">
            <a:gsLst>
              <a:gs pos="0">
                <a:srgbClr val="3C65A5">
                  <a:alpha val="92000"/>
                </a:srgbClr>
              </a:gs>
              <a:gs pos="100000">
                <a:srgbClr val="0B3E8F">
                  <a:alpha val="92000"/>
                </a:srgbClr>
              </a:gs>
            </a:gsLst>
            <a:lin ang="7200000" scaled="0"/>
          </a:gradFill>
          <a:ln w="390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16" name="m-c21_bcg-bn-2">
            <a:extLst>
              <a:ext uri="{FF2B5EF4-FFF2-40B4-BE49-F238E27FC236}">
                <a16:creationId xmlns:a16="http://schemas.microsoft.com/office/drawing/2014/main" id="{2696C688-8B99-E0A9-C5AD-7EF7331D29B5}"/>
              </a:ext>
            </a:extLst>
          </p:cNvPr>
          <p:cNvSpPr txBox="1"/>
          <p:nvPr/>
        </p:nvSpPr>
        <p:spPr>
          <a:xfrm>
            <a:off x="10764120" y="120044"/>
            <a:ext cx="95288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云服务</a:t>
            </a:r>
          </a:p>
        </p:txBody>
      </p:sp>
      <p:sp>
        <p:nvSpPr>
          <p:cNvPr id="417" name="m-c21_bcg-bv-2">
            <a:extLst>
              <a:ext uri="{FF2B5EF4-FFF2-40B4-BE49-F238E27FC236}">
                <a16:creationId xmlns:a16="http://schemas.microsoft.com/office/drawing/2014/main" id="{530BDA87-C612-5020-244A-36FC88409793}"/>
              </a:ext>
            </a:extLst>
          </p:cNvPr>
          <p:cNvSpPr txBox="1"/>
          <p:nvPr/>
        </p:nvSpPr>
        <p:spPr>
          <a:xfrm>
            <a:off x="10771345" y="158713"/>
            <a:ext cx="80839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0" normalizeH="0" baseline="0" noProof="0">
                <a:ln>
                  <a:noFill/>
                </a:ln>
                <a:solidFill>
                  <a:srgbClr val="E3EDF9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9.6 亿</a:t>
            </a:r>
          </a:p>
        </p:txBody>
      </p:sp>
      <p:sp>
        <p:nvSpPr>
          <p:cNvPr id="418" name="m-c21_bcg-b-3">
            <a:extLst>
              <a:ext uri="{FF2B5EF4-FFF2-40B4-BE49-F238E27FC236}">
                <a16:creationId xmlns:a16="http://schemas.microsoft.com/office/drawing/2014/main" id="{FC2797E0-2B51-42AE-3A93-A883A161B129}"/>
              </a:ext>
            </a:extLst>
          </p:cNvPr>
          <p:cNvSpPr/>
          <p:nvPr/>
        </p:nvSpPr>
        <p:spPr>
          <a:xfrm>
            <a:off x="11136878" y="35350"/>
            <a:ext cx="94373" cy="94373"/>
          </a:xfrm>
          <a:prstGeom prst="ellipse">
            <a:avLst/>
          </a:prstGeom>
          <a:gradFill rotWithShape="1">
            <a:gsLst>
              <a:gs pos="0">
                <a:srgbClr val="619DD7">
                  <a:alpha val="92000"/>
                </a:srgbClr>
              </a:gs>
              <a:gs pos="100000">
                <a:srgbClr val="3985CD">
                  <a:alpha val="92000"/>
                </a:srgbClr>
              </a:gs>
            </a:gsLst>
            <a:lin ang="7200000" scaled="0"/>
          </a:gradFill>
          <a:ln w="390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19" name="m-c21_bcg-bn-3">
            <a:extLst>
              <a:ext uri="{FF2B5EF4-FFF2-40B4-BE49-F238E27FC236}">
                <a16:creationId xmlns:a16="http://schemas.microsoft.com/office/drawing/2014/main" id="{530B3847-E25A-99BD-2E68-1F6DA2563018}"/>
              </a:ext>
            </a:extLst>
          </p:cNvPr>
          <p:cNvSpPr txBox="1"/>
          <p:nvPr/>
        </p:nvSpPr>
        <p:spPr>
          <a:xfrm>
            <a:off x="11241613" y="52602"/>
            <a:ext cx="113643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数据服务</a:t>
            </a:r>
          </a:p>
        </p:txBody>
      </p:sp>
      <p:sp>
        <p:nvSpPr>
          <p:cNvPr id="420" name="m-c21_bcg-bv-3">
            <a:extLst>
              <a:ext uri="{FF2B5EF4-FFF2-40B4-BE49-F238E27FC236}">
                <a16:creationId xmlns:a16="http://schemas.microsoft.com/office/drawing/2014/main" id="{34D6A074-4801-FA5C-7AFE-5530085F4E53}"/>
              </a:ext>
            </a:extLst>
          </p:cNvPr>
          <p:cNvSpPr txBox="1"/>
          <p:nvPr/>
        </p:nvSpPr>
        <p:spPr>
          <a:xfrm>
            <a:off x="11242081" y="88667"/>
            <a:ext cx="14688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4.1 亿 · +32%</a:t>
            </a:r>
          </a:p>
        </p:txBody>
      </p:sp>
      <p:sp>
        <p:nvSpPr>
          <p:cNvPr id="421" name="m-c21_bcg-b-4">
            <a:extLst>
              <a:ext uri="{FF2B5EF4-FFF2-40B4-BE49-F238E27FC236}">
                <a16:creationId xmlns:a16="http://schemas.microsoft.com/office/drawing/2014/main" id="{AE4326D4-1B5B-E1FA-4828-A7DDC5422D7A}"/>
              </a:ext>
            </a:extLst>
          </p:cNvPr>
          <p:cNvSpPr/>
          <p:nvPr/>
        </p:nvSpPr>
        <p:spPr>
          <a:xfrm>
            <a:off x="11311781" y="228307"/>
            <a:ext cx="88229" cy="88229"/>
          </a:xfrm>
          <a:prstGeom prst="ellipse">
            <a:avLst/>
          </a:prstGeom>
          <a:gradFill rotWithShape="1">
            <a:gsLst>
              <a:gs pos="0">
                <a:srgbClr val="619DD7">
                  <a:alpha val="92000"/>
                </a:srgbClr>
              </a:gs>
              <a:gs pos="100000">
                <a:srgbClr val="3985CD">
                  <a:alpha val="92000"/>
                </a:srgbClr>
              </a:gs>
            </a:gsLst>
            <a:lin ang="7200000" scaled="0"/>
          </a:gradFill>
          <a:ln w="390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22" name="m-c21_bcg-bn-4">
            <a:extLst>
              <a:ext uri="{FF2B5EF4-FFF2-40B4-BE49-F238E27FC236}">
                <a16:creationId xmlns:a16="http://schemas.microsoft.com/office/drawing/2014/main" id="{84673E07-7F26-0C8E-CE69-29DA62816A4C}"/>
              </a:ext>
            </a:extLst>
          </p:cNvPr>
          <p:cNvSpPr txBox="1"/>
          <p:nvPr/>
        </p:nvSpPr>
        <p:spPr>
          <a:xfrm>
            <a:off x="11410372" y="242488"/>
            <a:ext cx="113643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智能硬件</a:t>
            </a:r>
          </a:p>
        </p:txBody>
      </p:sp>
      <p:sp>
        <p:nvSpPr>
          <p:cNvPr id="423" name="m-c21_bcg-bv-4">
            <a:extLst>
              <a:ext uri="{FF2B5EF4-FFF2-40B4-BE49-F238E27FC236}">
                <a16:creationId xmlns:a16="http://schemas.microsoft.com/office/drawing/2014/main" id="{EE93712E-B822-93BF-A468-24005ADF287A}"/>
              </a:ext>
            </a:extLst>
          </p:cNvPr>
          <p:cNvSpPr txBox="1"/>
          <p:nvPr/>
        </p:nvSpPr>
        <p:spPr>
          <a:xfrm>
            <a:off x="11410840" y="278553"/>
            <a:ext cx="14688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3.2 亿 · +21%</a:t>
            </a:r>
          </a:p>
        </p:txBody>
      </p:sp>
      <p:sp>
        <p:nvSpPr>
          <p:cNvPr id="424" name="m-c21_bcg-b-5">
            <a:extLst>
              <a:ext uri="{FF2B5EF4-FFF2-40B4-BE49-F238E27FC236}">
                <a16:creationId xmlns:a16="http://schemas.microsoft.com/office/drawing/2014/main" id="{AEB64BC3-2CE2-C414-BBA0-027E48211025}"/>
              </a:ext>
            </a:extLst>
          </p:cNvPr>
          <p:cNvSpPr/>
          <p:nvPr/>
        </p:nvSpPr>
        <p:spPr>
          <a:xfrm>
            <a:off x="11114431" y="507625"/>
            <a:ext cx="81989" cy="81989"/>
          </a:xfrm>
          <a:prstGeom prst="ellipse">
            <a:avLst/>
          </a:prstGeom>
          <a:gradFill rotWithShape="1">
            <a:gsLst>
              <a:gs pos="0">
                <a:srgbClr val="98A9BE">
                  <a:alpha val="92000"/>
                </a:srgbClr>
              </a:gs>
              <a:gs pos="100000">
                <a:srgbClr val="7E93AE">
                  <a:alpha val="92000"/>
                </a:srgbClr>
              </a:gs>
            </a:gsLst>
            <a:lin ang="7200000" scaled="0"/>
          </a:gradFill>
          <a:ln w="390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25" name="m-c21_bcg-bn-5">
            <a:extLst>
              <a:ext uri="{FF2B5EF4-FFF2-40B4-BE49-F238E27FC236}">
                <a16:creationId xmlns:a16="http://schemas.microsoft.com/office/drawing/2014/main" id="{5B59514C-28B1-183F-D80A-EA7DCACB4AB5}"/>
              </a:ext>
            </a:extLst>
          </p:cNvPr>
          <p:cNvSpPr txBox="1"/>
          <p:nvPr/>
        </p:nvSpPr>
        <p:spPr>
          <a:xfrm>
            <a:off x="11206783" y="518686"/>
            <a:ext cx="113643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咨询服务</a:t>
            </a:r>
          </a:p>
        </p:txBody>
      </p:sp>
      <p:sp>
        <p:nvSpPr>
          <p:cNvPr id="426" name="m-c21_bcg-bv-5">
            <a:extLst>
              <a:ext uri="{FF2B5EF4-FFF2-40B4-BE49-F238E27FC236}">
                <a16:creationId xmlns:a16="http://schemas.microsoft.com/office/drawing/2014/main" id="{22DE09E4-5D18-50EC-1E93-62D258357FB1}"/>
              </a:ext>
            </a:extLst>
          </p:cNvPr>
          <p:cNvSpPr txBox="1"/>
          <p:nvPr/>
        </p:nvSpPr>
        <p:spPr>
          <a:xfrm>
            <a:off x="11207251" y="554751"/>
            <a:ext cx="13668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2.4 亿 · +5%</a:t>
            </a:r>
          </a:p>
        </p:txBody>
      </p:sp>
      <p:sp>
        <p:nvSpPr>
          <p:cNvPr id="427" name="m-c21_bcg-b-6">
            <a:extLst>
              <a:ext uri="{FF2B5EF4-FFF2-40B4-BE49-F238E27FC236}">
                <a16:creationId xmlns:a16="http://schemas.microsoft.com/office/drawing/2014/main" id="{AAB90B5F-C463-A57A-11BC-8C22EAE5B3F1}"/>
              </a:ext>
            </a:extLst>
          </p:cNvPr>
          <p:cNvSpPr/>
          <p:nvPr/>
        </p:nvSpPr>
        <p:spPr>
          <a:xfrm>
            <a:off x="11347763" y="632685"/>
            <a:ext cx="73542" cy="73542"/>
          </a:xfrm>
          <a:prstGeom prst="ellipse">
            <a:avLst/>
          </a:prstGeom>
          <a:gradFill rotWithShape="1">
            <a:gsLst>
              <a:gs pos="0">
                <a:srgbClr val="98A9BE">
                  <a:alpha val="92000"/>
                </a:srgbClr>
              </a:gs>
              <a:gs pos="100000">
                <a:srgbClr val="7E93AE">
                  <a:alpha val="92000"/>
                </a:srgbClr>
              </a:gs>
            </a:gsLst>
            <a:lin ang="7200000" scaled="0"/>
          </a:gradFill>
          <a:ln w="390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28" name="m-c21_bcg-bn-6">
            <a:extLst>
              <a:ext uri="{FF2B5EF4-FFF2-40B4-BE49-F238E27FC236}">
                <a16:creationId xmlns:a16="http://schemas.microsoft.com/office/drawing/2014/main" id="{366097D0-20FA-53E6-9C70-60589021758B}"/>
              </a:ext>
            </a:extLst>
          </p:cNvPr>
          <p:cNvSpPr txBox="1"/>
          <p:nvPr/>
        </p:nvSpPr>
        <p:spPr>
          <a:xfrm>
            <a:off x="11431667" y="639522"/>
            <a:ext cx="113643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运维外包</a:t>
            </a:r>
          </a:p>
        </p:txBody>
      </p:sp>
      <p:sp>
        <p:nvSpPr>
          <p:cNvPr id="429" name="m-c21_bcg-bv-6">
            <a:extLst>
              <a:ext uri="{FF2B5EF4-FFF2-40B4-BE49-F238E27FC236}">
                <a16:creationId xmlns:a16="http://schemas.microsoft.com/office/drawing/2014/main" id="{4FBB3B51-8094-29BD-95A5-6C03F4B9966C}"/>
              </a:ext>
            </a:extLst>
          </p:cNvPr>
          <p:cNvSpPr txBox="1"/>
          <p:nvPr/>
        </p:nvSpPr>
        <p:spPr>
          <a:xfrm>
            <a:off x="11432136" y="675587"/>
            <a:ext cx="13668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1.5 亿 · -2%</a:t>
            </a:r>
          </a:p>
        </p:txBody>
      </p:sp>
      <p:sp>
        <p:nvSpPr>
          <p:cNvPr id="430" name="m-c21_bcg-st-1">
            <a:extLst>
              <a:ext uri="{FF2B5EF4-FFF2-40B4-BE49-F238E27FC236}">
                <a16:creationId xmlns:a16="http://schemas.microsoft.com/office/drawing/2014/main" id="{9961D499-C89A-56C3-C85C-C5FB7A495C90}"/>
              </a:ext>
            </a:extLst>
          </p:cNvPr>
          <p:cNvSpPr/>
          <p:nvPr/>
        </p:nvSpPr>
        <p:spPr>
          <a:xfrm>
            <a:off x="11647488" y="-55562"/>
            <a:ext cx="676910" cy="177038"/>
          </a:xfrm>
          <a:custGeom>
            <a:avLst/>
            <a:gdLst/>
            <a:ahLst/>
            <a:cxnLst/>
            <a:rect l="0" t="0" r="r" b="b"/>
            <a:pathLst>
              <a:path w="676910" h="177038">
                <a:moveTo>
                  <a:pt x="26035" y="0"/>
                </a:moveTo>
                <a:lnTo>
                  <a:pt x="650875" y="0"/>
                </a:lnTo>
                <a:cubicBezTo>
                  <a:pt x="665289" y="0"/>
                  <a:pt x="676910" y="11620"/>
                  <a:pt x="676910" y="26035"/>
                </a:cubicBezTo>
                <a:lnTo>
                  <a:pt x="676910" y="151003"/>
                </a:lnTo>
                <a:cubicBezTo>
                  <a:pt x="676910" y="165418"/>
                  <a:pt x="665289" y="177038"/>
                  <a:pt x="650875" y="177038"/>
                </a:cubicBezTo>
                <a:lnTo>
                  <a:pt x="26035" y="177038"/>
                </a:lnTo>
                <a:cubicBezTo>
                  <a:pt x="11620" y="177038"/>
                  <a:pt x="0" y="165418"/>
                  <a:pt x="0" y="151003"/>
                </a:cubicBezTo>
                <a:lnTo>
                  <a:pt x="0" y="26035"/>
                </a:lnTo>
                <a:cubicBezTo>
                  <a:pt x="0" y="11620"/>
                  <a:pt x="11620" y="0"/>
                  <a:pt x="260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31" name="m-c21_bcg-stb-1">
            <a:extLst>
              <a:ext uri="{FF2B5EF4-FFF2-40B4-BE49-F238E27FC236}">
                <a16:creationId xmlns:a16="http://schemas.microsoft.com/office/drawing/2014/main" id="{01C94177-DAA0-BEA2-5FED-9C8D7E2458CD}"/>
              </a:ext>
            </a:extLst>
          </p:cNvPr>
          <p:cNvSpPr/>
          <p:nvPr/>
        </p:nvSpPr>
        <p:spPr>
          <a:xfrm>
            <a:off x="11647488" y="-55562"/>
            <a:ext cx="7811" cy="177038"/>
          </a:xfrm>
          <a:custGeom>
            <a:avLst/>
            <a:gdLst/>
            <a:ahLst/>
            <a:cxnLst/>
            <a:rect l="0" t="0" r="r" b="b"/>
            <a:pathLst>
              <a:path w="7811" h="177038">
                <a:moveTo>
                  <a:pt x="3937" y="0"/>
                </a:moveTo>
                <a:lnTo>
                  <a:pt x="3937" y="0"/>
                </a:lnTo>
                <a:cubicBezTo>
                  <a:pt x="6096" y="0"/>
                  <a:pt x="7811" y="1714"/>
                  <a:pt x="7811" y="3873"/>
                </a:cubicBezTo>
                <a:lnTo>
                  <a:pt x="7811" y="173164"/>
                </a:lnTo>
                <a:cubicBezTo>
                  <a:pt x="7811" y="175324"/>
                  <a:pt x="6096" y="177038"/>
                  <a:pt x="3937" y="177038"/>
                </a:cubicBezTo>
                <a:lnTo>
                  <a:pt x="3937" y="177038"/>
                </a:lnTo>
                <a:cubicBezTo>
                  <a:pt x="1714" y="177038"/>
                  <a:pt x="0" y="175324"/>
                  <a:pt x="0" y="173164"/>
                </a:cubicBezTo>
                <a:lnTo>
                  <a:pt x="0" y="3873"/>
                </a:lnTo>
                <a:cubicBezTo>
                  <a:pt x="0" y="1714"/>
                  <a:pt x="1714" y="0"/>
                  <a:pt x="3937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32" name="m-c21_bcg-chip">
            <a:extLst>
              <a:ext uri="{FF2B5EF4-FFF2-40B4-BE49-F238E27FC236}">
                <a16:creationId xmlns:a16="http://schemas.microsoft.com/office/drawing/2014/main" id="{70CBAF1C-EBD5-5C22-CCF8-723942F5644E}"/>
              </a:ext>
            </a:extLst>
          </p:cNvPr>
          <p:cNvSpPr/>
          <p:nvPr/>
        </p:nvSpPr>
        <p:spPr>
          <a:xfrm>
            <a:off x="11681333" y="-24321"/>
            <a:ext cx="67691" cy="6769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33" name="m-c21_bcg-chip-ring">
            <a:extLst>
              <a:ext uri="{FF2B5EF4-FFF2-40B4-BE49-F238E27FC236}">
                <a16:creationId xmlns:a16="http://schemas.microsoft.com/office/drawing/2014/main" id="{2D4DEF19-E110-CCBB-B746-89C7190F3E5A}"/>
              </a:ext>
            </a:extLst>
          </p:cNvPr>
          <p:cNvSpPr/>
          <p:nvPr/>
        </p:nvSpPr>
        <p:spPr>
          <a:xfrm>
            <a:off x="11681333" y="-24321"/>
            <a:ext cx="67691" cy="67691"/>
          </a:xfrm>
          <a:prstGeom prst="ellipse">
            <a:avLst/>
          </a:prstGeom>
          <a:noFill/>
          <a:ln w="2540" cap="rnd">
            <a:solidFill>
              <a:srgbClr val="0B3E8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34" name="m-c21_bcg-icon-star">
            <a:extLst>
              <a:ext uri="{FF2B5EF4-FFF2-40B4-BE49-F238E27FC236}">
                <a16:creationId xmlns:a16="http://schemas.microsoft.com/office/drawing/2014/main" id="{5D0D09BB-7841-28F4-81D8-E16A5589E536}"/>
              </a:ext>
            </a:extLst>
          </p:cNvPr>
          <p:cNvSpPr/>
          <p:nvPr/>
        </p:nvSpPr>
        <p:spPr>
          <a:xfrm>
            <a:off x="11704130" y="-1397"/>
            <a:ext cx="22098" cy="21082"/>
          </a:xfrm>
          <a:custGeom>
            <a:avLst/>
            <a:gdLst/>
            <a:ahLst/>
            <a:cxnLst/>
            <a:rect l="0" t="0" r="r" b="b"/>
            <a:pathLst>
              <a:path w="22098" h="21082">
                <a:moveTo>
                  <a:pt x="11049" y="0"/>
                </a:moveTo>
                <a:lnTo>
                  <a:pt x="14414" y="6985"/>
                </a:lnTo>
                <a:lnTo>
                  <a:pt x="22098" y="8064"/>
                </a:lnTo>
                <a:lnTo>
                  <a:pt x="16510" y="13398"/>
                </a:lnTo>
                <a:lnTo>
                  <a:pt x="17970" y="21082"/>
                </a:lnTo>
                <a:lnTo>
                  <a:pt x="11049" y="17272"/>
                </a:lnTo>
                <a:lnTo>
                  <a:pt x="4127" y="21082"/>
                </a:lnTo>
                <a:lnTo>
                  <a:pt x="5588" y="13398"/>
                </a:lnTo>
                <a:lnTo>
                  <a:pt x="0" y="8064"/>
                </a:lnTo>
                <a:lnTo>
                  <a:pt x="7684" y="6985"/>
                </a:lnTo>
                <a:close/>
              </a:path>
            </a:pathLst>
          </a:custGeom>
          <a:noFill/>
          <a:ln w="260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35" name="m-c21_bcg-stn-1">
            <a:extLst>
              <a:ext uri="{FF2B5EF4-FFF2-40B4-BE49-F238E27FC236}">
                <a16:creationId xmlns:a16="http://schemas.microsoft.com/office/drawing/2014/main" id="{4D70ED3F-3024-B399-FFC7-44D509D5F7F6}"/>
              </a:ext>
            </a:extLst>
          </p:cNvPr>
          <p:cNvSpPr txBox="1"/>
          <p:nvPr/>
        </p:nvSpPr>
        <p:spPr>
          <a:xfrm>
            <a:off x="11765947" y="-20253"/>
            <a:ext cx="102187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31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明星</a:t>
            </a:r>
          </a:p>
        </p:txBody>
      </p:sp>
      <p:sp>
        <p:nvSpPr>
          <p:cNvPr id="436" name="m-c21_bcg-sts-1">
            <a:extLst>
              <a:ext uri="{FF2B5EF4-FFF2-40B4-BE49-F238E27FC236}">
                <a16:creationId xmlns:a16="http://schemas.microsoft.com/office/drawing/2014/main" id="{3EFB5923-AE79-B9EF-B00A-75C3A862BA72}"/>
              </a:ext>
            </a:extLst>
          </p:cNvPr>
          <p:cNvSpPr txBox="1"/>
          <p:nvPr/>
        </p:nvSpPr>
        <p:spPr>
          <a:xfrm>
            <a:off x="11879069" y="-8195"/>
            <a:ext cx="229043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3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加大投入，抢占份额</a:t>
            </a:r>
          </a:p>
        </p:txBody>
      </p:sp>
      <p:sp>
        <p:nvSpPr>
          <p:cNvPr id="437" name="m-c21_bcg-stw-1">
            <a:extLst>
              <a:ext uri="{FF2B5EF4-FFF2-40B4-BE49-F238E27FC236}">
                <a16:creationId xmlns:a16="http://schemas.microsoft.com/office/drawing/2014/main" id="{2EE0437B-EB55-F78A-67CA-924936CB95B9}"/>
              </a:ext>
            </a:extLst>
          </p:cNvPr>
          <p:cNvSpPr txBox="1"/>
          <p:nvPr/>
        </p:nvSpPr>
        <p:spPr>
          <a:xfrm>
            <a:off x="11767196" y="52489"/>
            <a:ext cx="87478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云服务</a:t>
            </a:r>
          </a:p>
        </p:txBody>
      </p:sp>
      <p:sp>
        <p:nvSpPr>
          <p:cNvPr id="438" name="m-c21_bcg-st-2">
            <a:extLst>
              <a:ext uri="{FF2B5EF4-FFF2-40B4-BE49-F238E27FC236}">
                <a16:creationId xmlns:a16="http://schemas.microsoft.com/office/drawing/2014/main" id="{EB2E27E3-646D-9051-7278-72FC9CAEC3AA}"/>
              </a:ext>
            </a:extLst>
          </p:cNvPr>
          <p:cNvSpPr/>
          <p:nvPr/>
        </p:nvSpPr>
        <p:spPr>
          <a:xfrm>
            <a:off x="11647488" y="142304"/>
            <a:ext cx="676910" cy="177038"/>
          </a:xfrm>
          <a:custGeom>
            <a:avLst/>
            <a:gdLst/>
            <a:ahLst/>
            <a:cxnLst/>
            <a:rect l="0" t="0" r="r" b="b"/>
            <a:pathLst>
              <a:path w="676910" h="177038">
                <a:moveTo>
                  <a:pt x="26035" y="0"/>
                </a:moveTo>
                <a:lnTo>
                  <a:pt x="650875" y="0"/>
                </a:lnTo>
                <a:cubicBezTo>
                  <a:pt x="665289" y="0"/>
                  <a:pt x="676910" y="11620"/>
                  <a:pt x="676910" y="26035"/>
                </a:cubicBezTo>
                <a:lnTo>
                  <a:pt x="676910" y="151003"/>
                </a:lnTo>
                <a:cubicBezTo>
                  <a:pt x="676910" y="165418"/>
                  <a:pt x="665289" y="177038"/>
                  <a:pt x="650875" y="177038"/>
                </a:cubicBezTo>
                <a:lnTo>
                  <a:pt x="26035" y="177038"/>
                </a:lnTo>
                <a:cubicBezTo>
                  <a:pt x="11620" y="177038"/>
                  <a:pt x="0" y="165418"/>
                  <a:pt x="0" y="151003"/>
                </a:cubicBezTo>
                <a:lnTo>
                  <a:pt x="0" y="26035"/>
                </a:lnTo>
                <a:cubicBezTo>
                  <a:pt x="0" y="11620"/>
                  <a:pt x="11620" y="0"/>
                  <a:pt x="260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39" name="m-c21_bcg-stb-2">
            <a:extLst>
              <a:ext uri="{FF2B5EF4-FFF2-40B4-BE49-F238E27FC236}">
                <a16:creationId xmlns:a16="http://schemas.microsoft.com/office/drawing/2014/main" id="{409FA6BC-1849-678E-6BEC-8384596625C5}"/>
              </a:ext>
            </a:extLst>
          </p:cNvPr>
          <p:cNvSpPr/>
          <p:nvPr/>
        </p:nvSpPr>
        <p:spPr>
          <a:xfrm>
            <a:off x="11647488" y="142304"/>
            <a:ext cx="7811" cy="177038"/>
          </a:xfrm>
          <a:custGeom>
            <a:avLst/>
            <a:gdLst/>
            <a:ahLst/>
            <a:cxnLst/>
            <a:rect l="0" t="0" r="r" b="b"/>
            <a:pathLst>
              <a:path w="7811" h="177038">
                <a:moveTo>
                  <a:pt x="3937" y="0"/>
                </a:moveTo>
                <a:lnTo>
                  <a:pt x="3937" y="0"/>
                </a:lnTo>
                <a:cubicBezTo>
                  <a:pt x="6096" y="0"/>
                  <a:pt x="7811" y="1714"/>
                  <a:pt x="7811" y="3873"/>
                </a:cubicBezTo>
                <a:lnTo>
                  <a:pt x="7811" y="173101"/>
                </a:lnTo>
                <a:cubicBezTo>
                  <a:pt x="7811" y="175324"/>
                  <a:pt x="6096" y="177038"/>
                  <a:pt x="3937" y="177038"/>
                </a:cubicBezTo>
                <a:lnTo>
                  <a:pt x="3937" y="177038"/>
                </a:lnTo>
                <a:cubicBezTo>
                  <a:pt x="1714" y="177038"/>
                  <a:pt x="0" y="175324"/>
                  <a:pt x="0" y="173101"/>
                </a:cubicBezTo>
                <a:lnTo>
                  <a:pt x="0" y="3873"/>
                </a:lnTo>
                <a:cubicBezTo>
                  <a:pt x="0" y="1714"/>
                  <a:pt x="1714" y="0"/>
                  <a:pt x="3937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40" name="m-c21_bcg-chip">
            <a:extLst>
              <a:ext uri="{FF2B5EF4-FFF2-40B4-BE49-F238E27FC236}">
                <a16:creationId xmlns:a16="http://schemas.microsoft.com/office/drawing/2014/main" id="{CA6C8BC7-1461-D3DE-8592-0A6A4EB0430D}"/>
              </a:ext>
            </a:extLst>
          </p:cNvPr>
          <p:cNvSpPr/>
          <p:nvPr/>
        </p:nvSpPr>
        <p:spPr>
          <a:xfrm>
            <a:off x="11681333" y="173546"/>
            <a:ext cx="67691" cy="6769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41" name="m-c21_bcg-chip-ring">
            <a:extLst>
              <a:ext uri="{FF2B5EF4-FFF2-40B4-BE49-F238E27FC236}">
                <a16:creationId xmlns:a16="http://schemas.microsoft.com/office/drawing/2014/main" id="{96FE9FBF-2F37-413C-EB8A-B3081F765B1D}"/>
              </a:ext>
            </a:extLst>
          </p:cNvPr>
          <p:cNvSpPr/>
          <p:nvPr/>
        </p:nvSpPr>
        <p:spPr>
          <a:xfrm>
            <a:off x="11681333" y="173546"/>
            <a:ext cx="67691" cy="67691"/>
          </a:xfrm>
          <a:prstGeom prst="ellipse">
            <a:avLst/>
          </a:prstGeom>
          <a:noFill/>
          <a:ln w="2540" cap="rnd">
            <a:solidFill>
              <a:srgbClr val="1B5AA8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42" name="m-c21_bcg-icon-coin">
            <a:extLst>
              <a:ext uri="{FF2B5EF4-FFF2-40B4-BE49-F238E27FC236}">
                <a16:creationId xmlns:a16="http://schemas.microsoft.com/office/drawing/2014/main" id="{FEAED8BD-108A-9F28-1E06-D17AA641536B}"/>
              </a:ext>
            </a:extLst>
          </p:cNvPr>
          <p:cNvSpPr/>
          <p:nvPr/>
        </p:nvSpPr>
        <p:spPr>
          <a:xfrm>
            <a:off x="11706860" y="200088"/>
            <a:ext cx="16637" cy="14605"/>
          </a:xfrm>
          <a:custGeom>
            <a:avLst/>
            <a:gdLst/>
            <a:ahLst/>
            <a:cxnLst/>
            <a:rect l="0" t="0" r="r" b="b"/>
            <a:pathLst>
              <a:path w="16637" h="14605">
                <a:moveTo>
                  <a:pt x="8319" y="0"/>
                </a:moveTo>
                <a:cubicBezTo>
                  <a:pt x="3620" y="0"/>
                  <a:pt x="0" y="1333"/>
                  <a:pt x="0" y="3111"/>
                </a:cubicBezTo>
                <a:cubicBezTo>
                  <a:pt x="0" y="4953"/>
                  <a:pt x="3620" y="6286"/>
                  <a:pt x="8319" y="6286"/>
                </a:cubicBezTo>
                <a:cubicBezTo>
                  <a:pt x="13018" y="6286"/>
                  <a:pt x="16637" y="4953"/>
                  <a:pt x="16637" y="3111"/>
                </a:cubicBezTo>
                <a:cubicBezTo>
                  <a:pt x="16637" y="1333"/>
                  <a:pt x="13018" y="0"/>
                  <a:pt x="8319" y="0"/>
                </a:cubicBezTo>
                <a:close/>
                <a:moveTo>
                  <a:pt x="0" y="3111"/>
                </a:moveTo>
                <a:lnTo>
                  <a:pt x="0" y="11493"/>
                </a:lnTo>
                <a:cubicBezTo>
                  <a:pt x="0" y="13272"/>
                  <a:pt x="3620" y="14605"/>
                  <a:pt x="8319" y="14605"/>
                </a:cubicBezTo>
                <a:cubicBezTo>
                  <a:pt x="13018" y="14605"/>
                  <a:pt x="16637" y="13272"/>
                  <a:pt x="16637" y="11493"/>
                </a:cubicBezTo>
                <a:lnTo>
                  <a:pt x="16637" y="3111"/>
                </a:lnTo>
              </a:path>
            </a:pathLst>
          </a:custGeom>
          <a:noFill/>
          <a:ln w="2604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43" name="m-c21_bcg-stn-2">
            <a:extLst>
              <a:ext uri="{FF2B5EF4-FFF2-40B4-BE49-F238E27FC236}">
                <a16:creationId xmlns:a16="http://schemas.microsoft.com/office/drawing/2014/main" id="{8A81AB21-742B-717E-83F2-5EDC6A790457}"/>
              </a:ext>
            </a:extLst>
          </p:cNvPr>
          <p:cNvSpPr txBox="1"/>
          <p:nvPr/>
        </p:nvSpPr>
        <p:spPr>
          <a:xfrm>
            <a:off x="11765947" y="177613"/>
            <a:ext cx="102187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31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金牛</a:t>
            </a:r>
          </a:p>
        </p:txBody>
      </p:sp>
      <p:sp>
        <p:nvSpPr>
          <p:cNvPr id="444" name="m-c21_bcg-sts-2">
            <a:extLst>
              <a:ext uri="{FF2B5EF4-FFF2-40B4-BE49-F238E27FC236}">
                <a16:creationId xmlns:a16="http://schemas.microsoft.com/office/drawing/2014/main" id="{84FFF5E9-F45F-68F9-1B02-5506491F1C4C}"/>
              </a:ext>
            </a:extLst>
          </p:cNvPr>
          <p:cNvSpPr txBox="1"/>
          <p:nvPr/>
        </p:nvSpPr>
        <p:spPr>
          <a:xfrm>
            <a:off x="11879069" y="189671"/>
            <a:ext cx="229043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3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稳住利润，回收现金</a:t>
            </a:r>
          </a:p>
        </p:txBody>
      </p:sp>
      <p:sp>
        <p:nvSpPr>
          <p:cNvPr id="445" name="m-c21_bcg-stw-2">
            <a:extLst>
              <a:ext uri="{FF2B5EF4-FFF2-40B4-BE49-F238E27FC236}">
                <a16:creationId xmlns:a16="http://schemas.microsoft.com/office/drawing/2014/main" id="{F9BCEEF0-1490-4B40-D72E-434AB258344E}"/>
              </a:ext>
            </a:extLst>
          </p:cNvPr>
          <p:cNvSpPr txBox="1"/>
          <p:nvPr/>
        </p:nvSpPr>
        <p:spPr>
          <a:xfrm>
            <a:off x="11767196" y="250355"/>
            <a:ext cx="109998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企业软件</a:t>
            </a:r>
          </a:p>
        </p:txBody>
      </p:sp>
      <p:sp>
        <p:nvSpPr>
          <p:cNvPr id="446" name="m-c21_bcg-st-3">
            <a:extLst>
              <a:ext uri="{FF2B5EF4-FFF2-40B4-BE49-F238E27FC236}">
                <a16:creationId xmlns:a16="http://schemas.microsoft.com/office/drawing/2014/main" id="{396FB27D-76DC-6DF6-6AF7-956ADAA560B6}"/>
              </a:ext>
            </a:extLst>
          </p:cNvPr>
          <p:cNvSpPr/>
          <p:nvPr/>
        </p:nvSpPr>
        <p:spPr>
          <a:xfrm>
            <a:off x="11647488" y="340170"/>
            <a:ext cx="676910" cy="177038"/>
          </a:xfrm>
          <a:custGeom>
            <a:avLst/>
            <a:gdLst/>
            <a:ahLst/>
            <a:cxnLst/>
            <a:rect l="0" t="0" r="r" b="b"/>
            <a:pathLst>
              <a:path w="676910" h="177038">
                <a:moveTo>
                  <a:pt x="26035" y="0"/>
                </a:moveTo>
                <a:lnTo>
                  <a:pt x="650875" y="0"/>
                </a:lnTo>
                <a:cubicBezTo>
                  <a:pt x="665289" y="0"/>
                  <a:pt x="676910" y="11620"/>
                  <a:pt x="676910" y="26035"/>
                </a:cubicBezTo>
                <a:lnTo>
                  <a:pt x="676910" y="151003"/>
                </a:lnTo>
                <a:cubicBezTo>
                  <a:pt x="676910" y="165418"/>
                  <a:pt x="665289" y="177038"/>
                  <a:pt x="650875" y="177038"/>
                </a:cubicBezTo>
                <a:lnTo>
                  <a:pt x="26035" y="177038"/>
                </a:lnTo>
                <a:cubicBezTo>
                  <a:pt x="11620" y="177038"/>
                  <a:pt x="0" y="165418"/>
                  <a:pt x="0" y="151003"/>
                </a:cubicBezTo>
                <a:lnTo>
                  <a:pt x="0" y="26035"/>
                </a:lnTo>
                <a:cubicBezTo>
                  <a:pt x="0" y="11620"/>
                  <a:pt x="11620" y="0"/>
                  <a:pt x="260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47" name="m-c21_bcg-stb-3">
            <a:extLst>
              <a:ext uri="{FF2B5EF4-FFF2-40B4-BE49-F238E27FC236}">
                <a16:creationId xmlns:a16="http://schemas.microsoft.com/office/drawing/2014/main" id="{E7EFD672-6B47-0C25-8EE5-BC222DBB5974}"/>
              </a:ext>
            </a:extLst>
          </p:cNvPr>
          <p:cNvSpPr/>
          <p:nvPr/>
        </p:nvSpPr>
        <p:spPr>
          <a:xfrm>
            <a:off x="11647488" y="340170"/>
            <a:ext cx="7811" cy="177038"/>
          </a:xfrm>
          <a:custGeom>
            <a:avLst/>
            <a:gdLst/>
            <a:ahLst/>
            <a:cxnLst/>
            <a:rect l="0" t="0" r="r" b="b"/>
            <a:pathLst>
              <a:path w="7811" h="177038">
                <a:moveTo>
                  <a:pt x="3937" y="0"/>
                </a:moveTo>
                <a:lnTo>
                  <a:pt x="3937" y="0"/>
                </a:lnTo>
                <a:cubicBezTo>
                  <a:pt x="6096" y="0"/>
                  <a:pt x="7811" y="1715"/>
                  <a:pt x="7811" y="3873"/>
                </a:cubicBezTo>
                <a:lnTo>
                  <a:pt x="7811" y="173101"/>
                </a:lnTo>
                <a:cubicBezTo>
                  <a:pt x="7811" y="175324"/>
                  <a:pt x="6096" y="177038"/>
                  <a:pt x="3937" y="177038"/>
                </a:cubicBezTo>
                <a:lnTo>
                  <a:pt x="3937" y="177038"/>
                </a:lnTo>
                <a:cubicBezTo>
                  <a:pt x="1714" y="177038"/>
                  <a:pt x="0" y="175324"/>
                  <a:pt x="0" y="173101"/>
                </a:cubicBezTo>
                <a:lnTo>
                  <a:pt x="0" y="3873"/>
                </a:lnTo>
                <a:cubicBezTo>
                  <a:pt x="0" y="1715"/>
                  <a:pt x="1714" y="0"/>
                  <a:pt x="3937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48" name="m-c21_bcg-chip">
            <a:extLst>
              <a:ext uri="{FF2B5EF4-FFF2-40B4-BE49-F238E27FC236}">
                <a16:creationId xmlns:a16="http://schemas.microsoft.com/office/drawing/2014/main" id="{A40A79AD-567E-E250-9D84-10214CC210E9}"/>
              </a:ext>
            </a:extLst>
          </p:cNvPr>
          <p:cNvSpPr/>
          <p:nvPr/>
        </p:nvSpPr>
        <p:spPr>
          <a:xfrm>
            <a:off x="11681333" y="371411"/>
            <a:ext cx="67691" cy="6769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49" name="m-c21_bcg-chip-ring">
            <a:extLst>
              <a:ext uri="{FF2B5EF4-FFF2-40B4-BE49-F238E27FC236}">
                <a16:creationId xmlns:a16="http://schemas.microsoft.com/office/drawing/2014/main" id="{FE951A0D-D702-A1D5-C955-3CD01196F88D}"/>
              </a:ext>
            </a:extLst>
          </p:cNvPr>
          <p:cNvSpPr/>
          <p:nvPr/>
        </p:nvSpPr>
        <p:spPr>
          <a:xfrm>
            <a:off x="11681333" y="371411"/>
            <a:ext cx="67691" cy="67691"/>
          </a:xfrm>
          <a:prstGeom prst="ellipse">
            <a:avLst/>
          </a:prstGeom>
          <a:noFill/>
          <a:ln w="2540" cap="rnd">
            <a:solidFill>
              <a:srgbClr val="3985CD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50" name="m-c21_bcg-icon-search">
            <a:extLst>
              <a:ext uri="{FF2B5EF4-FFF2-40B4-BE49-F238E27FC236}">
                <a16:creationId xmlns:a16="http://schemas.microsoft.com/office/drawing/2014/main" id="{6D1B84E6-9B3D-FC08-BC34-BAA96DDF8BEE}"/>
              </a:ext>
            </a:extLst>
          </p:cNvPr>
          <p:cNvSpPr/>
          <p:nvPr/>
        </p:nvSpPr>
        <p:spPr>
          <a:xfrm>
            <a:off x="11719624" y="409702"/>
            <a:ext cx="5207" cy="5207"/>
          </a:xfrm>
          <a:custGeom>
            <a:avLst/>
            <a:gdLst/>
            <a:ahLst/>
            <a:cxnLst/>
            <a:rect l="0" t="0" r="r" b="b"/>
            <a:pathLst>
              <a:path w="5207" h="5207">
                <a:moveTo>
                  <a:pt x="5207" y="5207"/>
                </a:moveTo>
                <a:lnTo>
                  <a:pt x="0" y="0"/>
                </a:lnTo>
              </a:path>
            </a:pathLst>
          </a:custGeom>
          <a:noFill/>
          <a:ln w="2604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51" name="m-c21_bcg-icon-search">
            <a:extLst>
              <a:ext uri="{FF2B5EF4-FFF2-40B4-BE49-F238E27FC236}">
                <a16:creationId xmlns:a16="http://schemas.microsoft.com/office/drawing/2014/main" id="{17E6B532-9E90-B2AA-41C0-9F2978DBA8F6}"/>
              </a:ext>
            </a:extLst>
          </p:cNvPr>
          <p:cNvSpPr/>
          <p:nvPr/>
        </p:nvSpPr>
        <p:spPr>
          <a:xfrm>
            <a:off x="11705546" y="395624"/>
            <a:ext cx="16662" cy="16662"/>
          </a:xfrm>
          <a:prstGeom prst="ellipse">
            <a:avLst/>
          </a:prstGeom>
          <a:noFill/>
          <a:ln w="2604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52" name="m-c21_bcg-stn-3">
            <a:extLst>
              <a:ext uri="{FF2B5EF4-FFF2-40B4-BE49-F238E27FC236}">
                <a16:creationId xmlns:a16="http://schemas.microsoft.com/office/drawing/2014/main" id="{5B0B6560-CEBB-55B8-117A-820E55356D19}"/>
              </a:ext>
            </a:extLst>
          </p:cNvPr>
          <p:cNvSpPr txBox="1"/>
          <p:nvPr/>
        </p:nvSpPr>
        <p:spPr>
          <a:xfrm>
            <a:off x="11765947" y="375479"/>
            <a:ext cx="102187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31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问号</a:t>
            </a:r>
          </a:p>
        </p:txBody>
      </p:sp>
      <p:sp>
        <p:nvSpPr>
          <p:cNvPr id="453" name="m-c21_bcg-sts-3">
            <a:extLst>
              <a:ext uri="{FF2B5EF4-FFF2-40B4-BE49-F238E27FC236}">
                <a16:creationId xmlns:a16="http://schemas.microsoft.com/office/drawing/2014/main" id="{3FD29F05-13A6-6166-3314-2D0359E18480}"/>
              </a:ext>
            </a:extLst>
          </p:cNvPr>
          <p:cNvSpPr txBox="1"/>
          <p:nvPr/>
        </p:nvSpPr>
        <p:spPr>
          <a:xfrm>
            <a:off x="11879069" y="387537"/>
            <a:ext cx="27538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3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选择性下注，一年后复盘</a:t>
            </a:r>
          </a:p>
        </p:txBody>
      </p:sp>
      <p:sp>
        <p:nvSpPr>
          <p:cNvPr id="454" name="m-c21_bcg-stw-3">
            <a:extLst>
              <a:ext uri="{FF2B5EF4-FFF2-40B4-BE49-F238E27FC236}">
                <a16:creationId xmlns:a16="http://schemas.microsoft.com/office/drawing/2014/main" id="{AB127FBB-5D93-633A-888B-2FB4747962DA}"/>
              </a:ext>
            </a:extLst>
          </p:cNvPr>
          <p:cNvSpPr txBox="1"/>
          <p:nvPr/>
        </p:nvSpPr>
        <p:spPr>
          <a:xfrm>
            <a:off x="11767196" y="448221"/>
            <a:ext cx="222599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数据服务、智能硬件</a:t>
            </a:r>
          </a:p>
        </p:txBody>
      </p:sp>
      <p:sp>
        <p:nvSpPr>
          <p:cNvPr id="455" name="m-c21_bcg-st-4">
            <a:extLst>
              <a:ext uri="{FF2B5EF4-FFF2-40B4-BE49-F238E27FC236}">
                <a16:creationId xmlns:a16="http://schemas.microsoft.com/office/drawing/2014/main" id="{59FFCD7D-F814-46BD-4DF3-25B4228E9523}"/>
              </a:ext>
            </a:extLst>
          </p:cNvPr>
          <p:cNvSpPr/>
          <p:nvPr/>
        </p:nvSpPr>
        <p:spPr>
          <a:xfrm>
            <a:off x="11647488" y="538036"/>
            <a:ext cx="676910" cy="177038"/>
          </a:xfrm>
          <a:custGeom>
            <a:avLst/>
            <a:gdLst/>
            <a:ahLst/>
            <a:cxnLst/>
            <a:rect l="0" t="0" r="r" b="b"/>
            <a:pathLst>
              <a:path w="676910" h="177038">
                <a:moveTo>
                  <a:pt x="26035" y="0"/>
                </a:moveTo>
                <a:lnTo>
                  <a:pt x="650875" y="0"/>
                </a:lnTo>
                <a:cubicBezTo>
                  <a:pt x="665289" y="0"/>
                  <a:pt x="676910" y="11620"/>
                  <a:pt x="676910" y="26035"/>
                </a:cubicBezTo>
                <a:lnTo>
                  <a:pt x="676910" y="151003"/>
                </a:lnTo>
                <a:cubicBezTo>
                  <a:pt x="676910" y="165417"/>
                  <a:pt x="665289" y="177038"/>
                  <a:pt x="650875" y="177038"/>
                </a:cubicBezTo>
                <a:lnTo>
                  <a:pt x="26035" y="177038"/>
                </a:lnTo>
                <a:cubicBezTo>
                  <a:pt x="11620" y="177038"/>
                  <a:pt x="0" y="165417"/>
                  <a:pt x="0" y="151003"/>
                </a:cubicBezTo>
                <a:lnTo>
                  <a:pt x="0" y="26035"/>
                </a:lnTo>
                <a:cubicBezTo>
                  <a:pt x="0" y="11620"/>
                  <a:pt x="11620" y="0"/>
                  <a:pt x="260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56" name="m-c21_bcg-stb-4">
            <a:extLst>
              <a:ext uri="{FF2B5EF4-FFF2-40B4-BE49-F238E27FC236}">
                <a16:creationId xmlns:a16="http://schemas.microsoft.com/office/drawing/2014/main" id="{FABAE029-8B69-344F-3694-75FFACD0AF75}"/>
              </a:ext>
            </a:extLst>
          </p:cNvPr>
          <p:cNvSpPr/>
          <p:nvPr/>
        </p:nvSpPr>
        <p:spPr>
          <a:xfrm>
            <a:off x="11647488" y="538036"/>
            <a:ext cx="7811" cy="177038"/>
          </a:xfrm>
          <a:custGeom>
            <a:avLst/>
            <a:gdLst/>
            <a:ahLst/>
            <a:cxnLst/>
            <a:rect l="0" t="0" r="r" b="b"/>
            <a:pathLst>
              <a:path w="7811" h="177038">
                <a:moveTo>
                  <a:pt x="3937" y="0"/>
                </a:moveTo>
                <a:lnTo>
                  <a:pt x="3937" y="0"/>
                </a:lnTo>
                <a:cubicBezTo>
                  <a:pt x="6096" y="0"/>
                  <a:pt x="7811" y="1714"/>
                  <a:pt x="7811" y="3873"/>
                </a:cubicBezTo>
                <a:lnTo>
                  <a:pt x="7811" y="173101"/>
                </a:lnTo>
                <a:cubicBezTo>
                  <a:pt x="7811" y="175324"/>
                  <a:pt x="6096" y="177038"/>
                  <a:pt x="3937" y="177038"/>
                </a:cubicBezTo>
                <a:lnTo>
                  <a:pt x="3937" y="177038"/>
                </a:lnTo>
                <a:cubicBezTo>
                  <a:pt x="1714" y="177038"/>
                  <a:pt x="0" y="175324"/>
                  <a:pt x="0" y="173101"/>
                </a:cubicBezTo>
                <a:lnTo>
                  <a:pt x="0" y="3873"/>
                </a:lnTo>
                <a:cubicBezTo>
                  <a:pt x="0" y="1714"/>
                  <a:pt x="1714" y="0"/>
                  <a:pt x="3937" y="0"/>
                </a:cubicBezTo>
                <a:close/>
              </a:path>
            </a:pathLst>
          </a:custGeom>
          <a:solidFill>
            <a:srgbClr val="7E93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57" name="m-c21_bcg-chip">
            <a:extLst>
              <a:ext uri="{FF2B5EF4-FFF2-40B4-BE49-F238E27FC236}">
                <a16:creationId xmlns:a16="http://schemas.microsoft.com/office/drawing/2014/main" id="{F6C420D1-EA9F-50A8-E54F-6D890DF07C73}"/>
              </a:ext>
            </a:extLst>
          </p:cNvPr>
          <p:cNvSpPr/>
          <p:nvPr/>
        </p:nvSpPr>
        <p:spPr>
          <a:xfrm>
            <a:off x="11681333" y="569278"/>
            <a:ext cx="67691" cy="6769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58" name="m-c21_bcg-chip-ring">
            <a:extLst>
              <a:ext uri="{FF2B5EF4-FFF2-40B4-BE49-F238E27FC236}">
                <a16:creationId xmlns:a16="http://schemas.microsoft.com/office/drawing/2014/main" id="{CF5C80BB-6D0B-EADD-7F3A-0CDE3D1C1B78}"/>
              </a:ext>
            </a:extLst>
          </p:cNvPr>
          <p:cNvSpPr/>
          <p:nvPr/>
        </p:nvSpPr>
        <p:spPr>
          <a:xfrm>
            <a:off x="11681333" y="569278"/>
            <a:ext cx="67691" cy="67691"/>
          </a:xfrm>
          <a:prstGeom prst="ellipse">
            <a:avLst/>
          </a:prstGeom>
          <a:noFill/>
          <a:ln w="2540" cap="rnd">
            <a:solidFill>
              <a:srgbClr val="7E93AE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59" name="m-c21_bcg-icon-clock">
            <a:extLst>
              <a:ext uri="{FF2B5EF4-FFF2-40B4-BE49-F238E27FC236}">
                <a16:creationId xmlns:a16="http://schemas.microsoft.com/office/drawing/2014/main" id="{FCCD670A-64EC-092B-2D37-6B4F597C74F0}"/>
              </a:ext>
            </a:extLst>
          </p:cNvPr>
          <p:cNvSpPr/>
          <p:nvPr/>
        </p:nvSpPr>
        <p:spPr>
          <a:xfrm>
            <a:off x="11715178" y="596900"/>
            <a:ext cx="4191" cy="8700"/>
          </a:xfrm>
          <a:custGeom>
            <a:avLst/>
            <a:gdLst/>
            <a:ahLst/>
            <a:cxnLst/>
            <a:rect l="0" t="0" r="r" b="b"/>
            <a:pathLst>
              <a:path w="4191" h="8700">
                <a:moveTo>
                  <a:pt x="0" y="0"/>
                </a:moveTo>
                <a:lnTo>
                  <a:pt x="0" y="6223"/>
                </a:lnTo>
                <a:lnTo>
                  <a:pt x="4191" y="8700"/>
                </a:lnTo>
              </a:path>
            </a:pathLst>
          </a:custGeom>
          <a:noFill/>
          <a:ln w="2604" cap="rnd">
            <a:solidFill>
              <a:srgbClr val="7E93AE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60" name="m-c21_bcg-icon-clock">
            <a:extLst>
              <a:ext uri="{FF2B5EF4-FFF2-40B4-BE49-F238E27FC236}">
                <a16:creationId xmlns:a16="http://schemas.microsoft.com/office/drawing/2014/main" id="{EBF150C9-EB7F-FFA1-41AD-C385CF0D9E32}"/>
              </a:ext>
            </a:extLst>
          </p:cNvPr>
          <p:cNvSpPr/>
          <p:nvPr/>
        </p:nvSpPr>
        <p:spPr>
          <a:xfrm>
            <a:off x="11703983" y="591928"/>
            <a:ext cx="22390" cy="22390"/>
          </a:xfrm>
          <a:prstGeom prst="ellipse">
            <a:avLst/>
          </a:prstGeom>
          <a:noFill/>
          <a:ln w="2604" cap="rnd">
            <a:solidFill>
              <a:srgbClr val="7E93AE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61" name="m-c21_bcg-stn-4">
            <a:extLst>
              <a:ext uri="{FF2B5EF4-FFF2-40B4-BE49-F238E27FC236}">
                <a16:creationId xmlns:a16="http://schemas.microsoft.com/office/drawing/2014/main" id="{0E5AFC0D-B805-4D9E-ADCB-4B337FB62906}"/>
              </a:ext>
            </a:extLst>
          </p:cNvPr>
          <p:cNvSpPr txBox="1"/>
          <p:nvPr/>
        </p:nvSpPr>
        <p:spPr>
          <a:xfrm>
            <a:off x="11765947" y="573345"/>
            <a:ext cx="102187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31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瘦狗</a:t>
            </a:r>
          </a:p>
        </p:txBody>
      </p:sp>
      <p:sp>
        <p:nvSpPr>
          <p:cNvPr id="462" name="m-c21_bcg-sts-4">
            <a:extLst>
              <a:ext uri="{FF2B5EF4-FFF2-40B4-BE49-F238E27FC236}">
                <a16:creationId xmlns:a16="http://schemas.microsoft.com/office/drawing/2014/main" id="{332EBC5F-B889-6CE8-5E6D-C6642FEA1BDF}"/>
              </a:ext>
            </a:extLst>
          </p:cNvPr>
          <p:cNvSpPr txBox="1"/>
          <p:nvPr/>
        </p:nvSpPr>
        <p:spPr>
          <a:xfrm>
            <a:off x="11879069" y="585403"/>
            <a:ext cx="136358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3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收缩或出售</a:t>
            </a:r>
          </a:p>
        </p:txBody>
      </p:sp>
      <p:sp>
        <p:nvSpPr>
          <p:cNvPr id="463" name="m-c21_bcg-stw-4">
            <a:extLst>
              <a:ext uri="{FF2B5EF4-FFF2-40B4-BE49-F238E27FC236}">
                <a16:creationId xmlns:a16="http://schemas.microsoft.com/office/drawing/2014/main" id="{861CEE47-FCDB-D8F9-D689-66E321B63B51}"/>
              </a:ext>
            </a:extLst>
          </p:cNvPr>
          <p:cNvSpPr txBox="1"/>
          <p:nvPr/>
        </p:nvSpPr>
        <p:spPr>
          <a:xfrm>
            <a:off x="11767196" y="646087"/>
            <a:ext cx="222599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咨询服务、运维外包</a:t>
            </a:r>
          </a:p>
        </p:txBody>
      </p:sp>
      <p:sp>
        <p:nvSpPr>
          <p:cNvPr id="464" name="m-c21_bcg-sum">
            <a:extLst>
              <a:ext uri="{FF2B5EF4-FFF2-40B4-BE49-F238E27FC236}">
                <a16:creationId xmlns:a16="http://schemas.microsoft.com/office/drawing/2014/main" id="{38E2576C-8293-6E7D-9ACD-E772D1F5F32A}"/>
              </a:ext>
            </a:extLst>
          </p:cNvPr>
          <p:cNvSpPr/>
          <p:nvPr/>
        </p:nvSpPr>
        <p:spPr>
          <a:xfrm>
            <a:off x="10215562" y="832231"/>
            <a:ext cx="2108835" cy="83312"/>
          </a:xfrm>
          <a:custGeom>
            <a:avLst/>
            <a:gdLst/>
            <a:ahLst/>
            <a:cxnLst/>
            <a:rect l="0" t="0" r="r" b="b"/>
            <a:pathLst>
              <a:path w="2108835" h="83312">
                <a:moveTo>
                  <a:pt x="18224" y="0"/>
                </a:moveTo>
                <a:lnTo>
                  <a:pt x="2090610" y="0"/>
                </a:lnTo>
                <a:cubicBezTo>
                  <a:pt x="2100643" y="0"/>
                  <a:pt x="2108835" y="8191"/>
                  <a:pt x="2108835" y="18225"/>
                </a:cubicBezTo>
                <a:lnTo>
                  <a:pt x="2108835" y="65088"/>
                </a:lnTo>
                <a:cubicBezTo>
                  <a:pt x="2108835" y="75120"/>
                  <a:pt x="2100643" y="83312"/>
                  <a:pt x="2090610" y="83312"/>
                </a:cubicBezTo>
                <a:lnTo>
                  <a:pt x="18224" y="83312"/>
                </a:lnTo>
                <a:cubicBezTo>
                  <a:pt x="8191" y="83312"/>
                  <a:pt x="0" y="75120"/>
                  <a:pt x="0" y="65088"/>
                </a:cubicBezTo>
                <a:lnTo>
                  <a:pt x="0" y="18225"/>
                </a:lnTo>
                <a:cubicBezTo>
                  <a:pt x="0" y="8191"/>
                  <a:pt x="8191" y="0"/>
                  <a:pt x="18224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65" name="m-c21_bcg-sum-bar">
            <a:extLst>
              <a:ext uri="{FF2B5EF4-FFF2-40B4-BE49-F238E27FC236}">
                <a16:creationId xmlns:a16="http://schemas.microsoft.com/office/drawing/2014/main" id="{46574BF0-C03B-0702-6725-0D436D13B3B2}"/>
              </a:ext>
            </a:extLst>
          </p:cNvPr>
          <p:cNvSpPr/>
          <p:nvPr/>
        </p:nvSpPr>
        <p:spPr>
          <a:xfrm>
            <a:off x="10215562" y="832231"/>
            <a:ext cx="6509" cy="83312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66" name="m-c21_bcg-sum-h">
            <a:extLst>
              <a:ext uri="{FF2B5EF4-FFF2-40B4-BE49-F238E27FC236}">
                <a16:creationId xmlns:a16="http://schemas.microsoft.com/office/drawing/2014/main" id="{288A06AF-6712-55EE-DE83-0DE4376CF93D}"/>
              </a:ext>
            </a:extLst>
          </p:cNvPr>
          <p:cNvSpPr txBox="1"/>
          <p:nvPr/>
        </p:nvSpPr>
        <p:spPr>
          <a:xfrm>
            <a:off x="10254563" y="858273"/>
            <a:ext cx="118850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资源配置</a:t>
            </a:r>
          </a:p>
        </p:txBody>
      </p:sp>
      <p:sp>
        <p:nvSpPr>
          <p:cNvPr id="467" name="m-c21_bcg-sum-p">
            <a:extLst>
              <a:ext uri="{FF2B5EF4-FFF2-40B4-BE49-F238E27FC236}">
                <a16:creationId xmlns:a16="http://schemas.microsoft.com/office/drawing/2014/main" id="{78EE281A-96AA-677D-9AAE-5BAE172BC701}"/>
              </a:ext>
            </a:extLst>
          </p:cNvPr>
          <p:cNvSpPr txBox="1"/>
          <p:nvPr/>
        </p:nvSpPr>
        <p:spPr>
          <a:xfrm>
            <a:off x="10408091" y="857469"/>
            <a:ext cx="101894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金牛业务的现金流反哺明星与问号；两条瘦狗业务明年内完成剥离，释放约 120 人投入云服务。</a:t>
            </a:r>
          </a:p>
        </p:txBody>
      </p:sp>
      <p:cxnSp>
        <p:nvCxnSpPr>
          <p:cNvPr id="468" name="m-c21_bcg-foot-line">
            <a:extLst>
              <a:ext uri="{FF2B5EF4-FFF2-40B4-BE49-F238E27FC236}">
                <a16:creationId xmlns:a16="http://schemas.microsoft.com/office/drawing/2014/main" id="{3B95CC05-5393-CED3-60EF-B1C0841E01FE}"/>
              </a:ext>
            </a:extLst>
          </p:cNvPr>
          <p:cNvCxnSpPr/>
          <p:nvPr/>
        </p:nvCxnSpPr>
        <p:spPr>
          <a:xfrm>
            <a:off x="10140061" y="9441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9" name="m-c21_bcg-foot-l">
            <a:extLst>
              <a:ext uri="{FF2B5EF4-FFF2-40B4-BE49-F238E27FC236}">
                <a16:creationId xmlns:a16="http://schemas.microsoft.com/office/drawing/2014/main" id="{34B7EAAD-C61C-0F50-B1CC-AAE204FE19FC}"/>
              </a:ext>
            </a:extLst>
          </p:cNvPr>
          <p:cNvSpPr txBox="1"/>
          <p:nvPr/>
        </p:nvSpPr>
        <p:spPr>
          <a:xfrm>
            <a:off x="10137874" y="958123"/>
            <a:ext cx="25464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波士顿矩阵 · 六条业务线</a:t>
            </a:r>
          </a:p>
        </p:txBody>
      </p:sp>
      <p:sp>
        <p:nvSpPr>
          <p:cNvPr id="470" name="m-c21_bcg-foot-r">
            <a:extLst>
              <a:ext uri="{FF2B5EF4-FFF2-40B4-BE49-F238E27FC236}">
                <a16:creationId xmlns:a16="http://schemas.microsoft.com/office/drawing/2014/main" id="{8520C1BC-715B-DA06-FE36-17766E128A29}"/>
              </a:ext>
            </a:extLst>
          </p:cNvPr>
          <p:cNvSpPr txBox="1"/>
          <p:nvPr/>
        </p:nvSpPr>
        <p:spPr>
          <a:xfrm>
            <a:off x="12142309" y="9581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471" name="mini-card-p04_funnel">
            <a:extLst>
              <a:ext uri="{FF2B5EF4-FFF2-40B4-BE49-F238E27FC236}">
                <a16:creationId xmlns:a16="http://schemas.microsoft.com/office/drawing/2014/main" id="{F2ED0437-590F-ADED-45AC-4581185854AC}"/>
              </a:ext>
            </a:extLst>
          </p:cNvPr>
          <p:cNvSpPr/>
          <p:nvPr/>
        </p:nvSpPr>
        <p:spPr>
          <a:xfrm>
            <a:off x="-63500" y="11684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0" y="0"/>
                </a:moveTo>
                <a:lnTo>
                  <a:pt x="2419160" y="0"/>
                </a:lnTo>
                <a:cubicBezTo>
                  <a:pt x="2463482" y="0"/>
                  <a:pt x="2499360" y="35878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2" y="1405890"/>
                  <a:pt x="2419160" y="1405890"/>
                </a:cubicBezTo>
                <a:lnTo>
                  <a:pt x="80200" y="1405890"/>
                </a:lnTo>
                <a:cubicBezTo>
                  <a:pt x="35878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8"/>
                  <a:pt x="35878" y="0"/>
                  <a:pt x="80200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72" name="m-p04_funnel-title-bar">
            <a:extLst>
              <a:ext uri="{FF2B5EF4-FFF2-40B4-BE49-F238E27FC236}">
                <a16:creationId xmlns:a16="http://schemas.microsoft.com/office/drawing/2014/main" id="{49F81516-32D2-EAB1-C74D-3F780B9552C5}"/>
              </a:ext>
            </a:extLst>
          </p:cNvPr>
          <p:cNvSpPr/>
          <p:nvPr/>
        </p:nvSpPr>
        <p:spPr>
          <a:xfrm>
            <a:off x="56261" y="12673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73" name="m-p04_funnel-title-bar-accent">
            <a:extLst>
              <a:ext uri="{FF2B5EF4-FFF2-40B4-BE49-F238E27FC236}">
                <a16:creationId xmlns:a16="http://schemas.microsoft.com/office/drawing/2014/main" id="{03EF13B6-2DBC-2080-BBD9-592408AB29E9}"/>
              </a:ext>
            </a:extLst>
          </p:cNvPr>
          <p:cNvSpPr/>
          <p:nvPr/>
        </p:nvSpPr>
        <p:spPr>
          <a:xfrm>
            <a:off x="56261" y="12673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74" name="m-p04_funnel-title-cn">
            <a:extLst>
              <a:ext uri="{FF2B5EF4-FFF2-40B4-BE49-F238E27FC236}">
                <a16:creationId xmlns:a16="http://schemas.microsoft.com/office/drawing/2014/main" id="{E65F739E-1449-2EAF-EFCE-6C30328EE9C1}"/>
              </a:ext>
            </a:extLst>
          </p:cNvPr>
          <p:cNvSpPr txBox="1"/>
          <p:nvPr/>
        </p:nvSpPr>
        <p:spPr>
          <a:xfrm>
            <a:off x="88440" y="1249968"/>
            <a:ext cx="426453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客户转化漏斗</a:t>
            </a:r>
          </a:p>
        </p:txBody>
      </p:sp>
      <p:sp>
        <p:nvSpPr>
          <p:cNvPr id="475" name="m-p04_funnel-title-en">
            <a:extLst>
              <a:ext uri="{FF2B5EF4-FFF2-40B4-BE49-F238E27FC236}">
                <a16:creationId xmlns:a16="http://schemas.microsoft.com/office/drawing/2014/main" id="{C4F81FB1-06DE-012D-BD46-FA5AEE94E97B}"/>
              </a:ext>
            </a:extLst>
          </p:cNvPr>
          <p:cNvSpPr txBox="1"/>
          <p:nvPr/>
        </p:nvSpPr>
        <p:spPr>
          <a:xfrm>
            <a:off x="95730" y="1337250"/>
            <a:ext cx="33374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CONVERSION FUNNEL</a:t>
            </a:r>
          </a:p>
        </p:txBody>
      </p:sp>
      <p:sp>
        <p:nvSpPr>
          <p:cNvPr id="476" name="m-p04_funnel-title-sub">
            <a:extLst>
              <a:ext uri="{FF2B5EF4-FFF2-40B4-BE49-F238E27FC236}">
                <a16:creationId xmlns:a16="http://schemas.microsoft.com/office/drawing/2014/main" id="{AF4A8255-4906-0681-0D59-DDA9990DA749}"/>
              </a:ext>
            </a:extLst>
          </p:cNvPr>
          <p:cNvSpPr txBox="1"/>
          <p:nvPr/>
        </p:nvSpPr>
        <p:spPr>
          <a:xfrm>
            <a:off x="1900502" y="1306392"/>
            <a:ext cx="418252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从触达到成交，逐级转化率与流失分析</a:t>
            </a:r>
          </a:p>
        </p:txBody>
      </p:sp>
      <p:sp>
        <p:nvSpPr>
          <p:cNvPr id="477" name="m-p04_funnel-stage-1">
            <a:extLst>
              <a:ext uri="{FF2B5EF4-FFF2-40B4-BE49-F238E27FC236}">
                <a16:creationId xmlns:a16="http://schemas.microsoft.com/office/drawing/2014/main" id="{B58560BB-2C71-B9AC-0D6B-7ECCE66D06F3}"/>
              </a:ext>
            </a:extLst>
          </p:cNvPr>
          <p:cNvSpPr/>
          <p:nvPr/>
        </p:nvSpPr>
        <p:spPr>
          <a:xfrm>
            <a:off x="487640" y="1504252"/>
            <a:ext cx="980519" cy="161417"/>
          </a:xfrm>
          <a:custGeom>
            <a:avLst/>
            <a:gdLst/>
            <a:ahLst/>
            <a:cxnLst/>
            <a:rect l="0" t="0" r="r" b="b"/>
            <a:pathLst>
              <a:path w="980519" h="161417">
                <a:moveTo>
                  <a:pt x="1691" y="14415"/>
                </a:moveTo>
                <a:quadBezTo>
                  <a:pt x="-4405" y="0"/>
                  <a:pt x="11216" y="0"/>
                </a:quadBezTo>
                <a:lnTo>
                  <a:pt x="969304" y="0"/>
                </a:lnTo>
                <a:quadBezTo>
                  <a:pt x="984925" y="0"/>
                  <a:pt x="978829" y="14415"/>
                </a:quadBezTo>
                <a:lnTo>
                  <a:pt x="922822" y="147003"/>
                </a:lnTo>
                <a:quadBezTo>
                  <a:pt x="916726" y="161417"/>
                  <a:pt x="901105" y="161417"/>
                </a:quadBezTo>
                <a:lnTo>
                  <a:pt x="79415" y="161417"/>
                </a:lnTo>
                <a:quadBezTo>
                  <a:pt x="63794" y="161417"/>
                  <a:pt x="57698" y="147003"/>
                </a:quadBezTo>
                <a:close/>
              </a:path>
            </a:pathLst>
          </a:custGeom>
          <a:gradFill rotWithShape="1">
            <a:gsLst>
              <a:gs pos="0">
                <a:srgbClr val="2D599F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78" name="m-p04_funnel-cnt-1">
            <a:extLst>
              <a:ext uri="{FF2B5EF4-FFF2-40B4-BE49-F238E27FC236}">
                <a16:creationId xmlns:a16="http://schemas.microsoft.com/office/drawing/2014/main" id="{76C07791-D02C-55A7-C979-7D1CDD34A655}"/>
              </a:ext>
            </a:extLst>
          </p:cNvPr>
          <p:cNvSpPr txBox="1"/>
          <p:nvPr/>
        </p:nvSpPr>
        <p:spPr>
          <a:xfrm>
            <a:off x="881505" y="1534127"/>
            <a:ext cx="192789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128,000</a:t>
            </a:r>
          </a:p>
        </p:txBody>
      </p:sp>
      <p:sp>
        <p:nvSpPr>
          <p:cNvPr id="479" name="m-p04_funnel-pct-1">
            <a:extLst>
              <a:ext uri="{FF2B5EF4-FFF2-40B4-BE49-F238E27FC236}">
                <a16:creationId xmlns:a16="http://schemas.microsoft.com/office/drawing/2014/main" id="{5E18ECCE-577A-86FC-152F-8F441A4783BD}"/>
              </a:ext>
            </a:extLst>
          </p:cNvPr>
          <p:cNvSpPr txBox="1"/>
          <p:nvPr/>
        </p:nvSpPr>
        <p:spPr>
          <a:xfrm>
            <a:off x="892538" y="1600701"/>
            <a:ext cx="170725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5" normalizeH="0" baseline="0" noProof="0">
                <a:ln>
                  <a:noFill/>
                </a:ln>
                <a:solidFill>
                  <a:srgbClr val="FFFFFF">
                    <a:alpha val="80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占初始流量 100%</a:t>
            </a:r>
          </a:p>
        </p:txBody>
      </p:sp>
      <p:sp>
        <p:nvSpPr>
          <p:cNvPr id="480" name="m-p04_funnel-ln-1">
            <a:extLst>
              <a:ext uri="{FF2B5EF4-FFF2-40B4-BE49-F238E27FC236}">
                <a16:creationId xmlns:a16="http://schemas.microsoft.com/office/drawing/2014/main" id="{8D005C70-BB6C-6F10-EF44-C6DB5AB3C213}"/>
              </a:ext>
            </a:extLst>
          </p:cNvPr>
          <p:cNvSpPr txBox="1"/>
          <p:nvPr/>
        </p:nvSpPr>
        <p:spPr>
          <a:xfrm>
            <a:off x="40380" y="1539490"/>
            <a:ext cx="102526" cy="865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90" b="1" i="0" u="none" strike="noStrike" kern="1200" cap="none" spc="10" normalizeH="0" baseline="0" noProof="0">
                <a:ln>
                  <a:noFill/>
                </a:ln>
                <a:solidFill>
                  <a:srgbClr val="0B3E8F">
                    <a:alpha val="9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481" name="m-p04_funnel-lt-1">
            <a:extLst>
              <a:ext uri="{FF2B5EF4-FFF2-40B4-BE49-F238E27FC236}">
                <a16:creationId xmlns:a16="http://schemas.microsoft.com/office/drawing/2014/main" id="{13407317-D124-FBAD-643D-D924DB9D2AC2}"/>
              </a:ext>
            </a:extLst>
          </p:cNvPr>
          <p:cNvSpPr txBox="1"/>
          <p:nvPr/>
        </p:nvSpPr>
        <p:spPr>
          <a:xfrm>
            <a:off x="307264" y="1543389"/>
            <a:ext cx="140198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广告触达</a:t>
            </a:r>
          </a:p>
        </p:txBody>
      </p:sp>
      <p:sp>
        <p:nvSpPr>
          <p:cNvPr id="482" name="m-p04_funnel-lp-1">
            <a:extLst>
              <a:ext uri="{FF2B5EF4-FFF2-40B4-BE49-F238E27FC236}">
                <a16:creationId xmlns:a16="http://schemas.microsoft.com/office/drawing/2014/main" id="{2EAE6A97-143E-50CA-87E5-2A5C3D02F7FA}"/>
              </a:ext>
            </a:extLst>
          </p:cNvPr>
          <p:cNvSpPr txBox="1"/>
          <p:nvPr/>
        </p:nvSpPr>
        <p:spPr>
          <a:xfrm>
            <a:off x="289535" y="1592087"/>
            <a:ext cx="156991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全渠道曝光人群</a:t>
            </a:r>
          </a:p>
        </p:txBody>
      </p:sp>
      <p:sp>
        <p:nvSpPr>
          <p:cNvPr id="483" name="m-p04_funnel-lb-1">
            <a:extLst>
              <a:ext uri="{FF2B5EF4-FFF2-40B4-BE49-F238E27FC236}">
                <a16:creationId xmlns:a16="http://schemas.microsoft.com/office/drawing/2014/main" id="{D7B1D585-F0B0-6853-C96A-A894AF60A9B6}"/>
              </a:ext>
            </a:extLst>
          </p:cNvPr>
          <p:cNvSpPr/>
          <p:nvPr/>
        </p:nvSpPr>
        <p:spPr>
          <a:xfrm>
            <a:off x="457200" y="1553718"/>
            <a:ext cx="3905" cy="62484"/>
          </a:xfrm>
          <a:prstGeom prst="roundRect">
            <a:avLst>
              <a:gd name="adj" fmla="val 30750"/>
            </a:avLst>
          </a:prstGeom>
          <a:solidFill>
            <a:srgbClr val="0B3E8F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84" name="m-p04_funnel-stage-2">
            <a:extLst>
              <a:ext uri="{FF2B5EF4-FFF2-40B4-BE49-F238E27FC236}">
                <a16:creationId xmlns:a16="http://schemas.microsoft.com/office/drawing/2014/main" id="{DA2FC0FC-C202-8837-E719-A5B4A5BC3A62}"/>
              </a:ext>
            </a:extLst>
          </p:cNvPr>
          <p:cNvSpPr/>
          <p:nvPr/>
        </p:nvSpPr>
        <p:spPr>
          <a:xfrm>
            <a:off x="555839" y="1678686"/>
            <a:ext cx="844121" cy="161417"/>
          </a:xfrm>
          <a:custGeom>
            <a:avLst/>
            <a:gdLst/>
            <a:ahLst/>
            <a:cxnLst/>
            <a:rect l="0" t="0" r="r" b="b"/>
            <a:pathLst>
              <a:path w="844121" h="161417">
                <a:moveTo>
                  <a:pt x="1691" y="14414"/>
                </a:moveTo>
                <a:quadBezTo>
                  <a:pt x="-4405" y="0"/>
                  <a:pt x="11216" y="0"/>
                </a:quadBezTo>
                <a:lnTo>
                  <a:pt x="832906" y="0"/>
                </a:lnTo>
                <a:quadBezTo>
                  <a:pt x="848527" y="0"/>
                  <a:pt x="842431" y="14414"/>
                </a:quadBezTo>
                <a:lnTo>
                  <a:pt x="786360" y="147002"/>
                </a:lnTo>
                <a:quadBezTo>
                  <a:pt x="780328" y="161417"/>
                  <a:pt x="764707" y="161417"/>
                </a:quadBezTo>
                <a:lnTo>
                  <a:pt x="79415" y="161417"/>
                </a:lnTo>
                <a:quadBezTo>
                  <a:pt x="63794" y="161417"/>
                  <a:pt x="57761" y="147002"/>
                </a:quadBezTo>
                <a:close/>
              </a:path>
            </a:pathLst>
          </a:custGeom>
          <a:gradFill rotWithShape="1">
            <a:gsLst>
              <a:gs pos="0">
                <a:srgbClr val="3B71B4"/>
              </a:gs>
              <a:gs pos="100000">
                <a:srgbClr val="1B5AA8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85" name="m-p04_funnel-cnt-2">
            <a:extLst>
              <a:ext uri="{FF2B5EF4-FFF2-40B4-BE49-F238E27FC236}">
                <a16:creationId xmlns:a16="http://schemas.microsoft.com/office/drawing/2014/main" id="{6F910640-7AB7-DE57-9F61-6B26EB0DBBE1}"/>
              </a:ext>
            </a:extLst>
          </p:cNvPr>
          <p:cNvSpPr txBox="1"/>
          <p:nvPr/>
        </p:nvSpPr>
        <p:spPr>
          <a:xfrm>
            <a:off x="892766" y="1708561"/>
            <a:ext cx="170269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46,080</a:t>
            </a:r>
          </a:p>
        </p:txBody>
      </p:sp>
      <p:sp>
        <p:nvSpPr>
          <p:cNvPr id="486" name="m-p04_funnel-pct-2">
            <a:extLst>
              <a:ext uri="{FF2B5EF4-FFF2-40B4-BE49-F238E27FC236}">
                <a16:creationId xmlns:a16="http://schemas.microsoft.com/office/drawing/2014/main" id="{4CB2918A-1DB0-46B7-8E0C-734BB3235A06}"/>
              </a:ext>
            </a:extLst>
          </p:cNvPr>
          <p:cNvSpPr txBox="1"/>
          <p:nvPr/>
        </p:nvSpPr>
        <p:spPr>
          <a:xfrm>
            <a:off x="898148" y="1775136"/>
            <a:ext cx="159503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5" normalizeH="0" baseline="0" noProof="0">
                <a:ln>
                  <a:noFill/>
                </a:ln>
                <a:solidFill>
                  <a:srgbClr val="FFFFFF">
                    <a:alpha val="80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占初始流量 36%</a:t>
            </a:r>
          </a:p>
        </p:txBody>
      </p:sp>
      <p:sp>
        <p:nvSpPr>
          <p:cNvPr id="487" name="m-p04_funnel-ln-2">
            <a:extLst>
              <a:ext uri="{FF2B5EF4-FFF2-40B4-BE49-F238E27FC236}">
                <a16:creationId xmlns:a16="http://schemas.microsoft.com/office/drawing/2014/main" id="{9EC9354E-BE16-5509-8D11-448DB7D5F14B}"/>
              </a:ext>
            </a:extLst>
          </p:cNvPr>
          <p:cNvSpPr txBox="1"/>
          <p:nvPr/>
        </p:nvSpPr>
        <p:spPr>
          <a:xfrm>
            <a:off x="108591" y="1713924"/>
            <a:ext cx="102526" cy="865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90" b="1" i="0" u="none" strike="noStrike" kern="1200" cap="none" spc="10" normalizeH="0" baseline="0" noProof="0">
                <a:ln>
                  <a:noFill/>
                </a:ln>
                <a:solidFill>
                  <a:srgbClr val="1B5AA8">
                    <a:alpha val="9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488" name="m-p04_funnel-lt-2">
            <a:extLst>
              <a:ext uri="{FF2B5EF4-FFF2-40B4-BE49-F238E27FC236}">
                <a16:creationId xmlns:a16="http://schemas.microsoft.com/office/drawing/2014/main" id="{692C4DDB-1C7A-2009-DCED-FFA79FEEEE68}"/>
              </a:ext>
            </a:extLst>
          </p:cNvPr>
          <p:cNvSpPr txBox="1"/>
          <p:nvPr/>
        </p:nvSpPr>
        <p:spPr>
          <a:xfrm>
            <a:off x="375476" y="1717823"/>
            <a:ext cx="140198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进店浏览</a:t>
            </a:r>
          </a:p>
        </p:txBody>
      </p:sp>
      <p:sp>
        <p:nvSpPr>
          <p:cNvPr id="489" name="m-p04_funnel-lp-2">
            <a:extLst>
              <a:ext uri="{FF2B5EF4-FFF2-40B4-BE49-F238E27FC236}">
                <a16:creationId xmlns:a16="http://schemas.microsoft.com/office/drawing/2014/main" id="{4C913528-1A21-E5EC-748D-29BC62DE5DC2}"/>
              </a:ext>
            </a:extLst>
          </p:cNvPr>
          <p:cNvSpPr txBox="1"/>
          <p:nvPr/>
        </p:nvSpPr>
        <p:spPr>
          <a:xfrm>
            <a:off x="252695" y="1766522"/>
            <a:ext cx="26204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点击进入并停留 15 秒以上</a:t>
            </a:r>
          </a:p>
        </p:txBody>
      </p:sp>
      <p:sp>
        <p:nvSpPr>
          <p:cNvPr id="490" name="m-p04_funnel-lb-2">
            <a:extLst>
              <a:ext uri="{FF2B5EF4-FFF2-40B4-BE49-F238E27FC236}">
                <a16:creationId xmlns:a16="http://schemas.microsoft.com/office/drawing/2014/main" id="{0ADA3ECA-A01A-954B-E13A-33B61F1FBB1A}"/>
              </a:ext>
            </a:extLst>
          </p:cNvPr>
          <p:cNvSpPr/>
          <p:nvPr/>
        </p:nvSpPr>
        <p:spPr>
          <a:xfrm>
            <a:off x="525412" y="1728152"/>
            <a:ext cx="3905" cy="62484"/>
          </a:xfrm>
          <a:prstGeom prst="roundRect">
            <a:avLst>
              <a:gd name="adj" fmla="val 30750"/>
            </a:avLst>
          </a:prstGeom>
          <a:solidFill>
            <a:srgbClr val="1B5AA8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491" name="m-p04_funnel-cl-2">
            <a:extLst>
              <a:ext uri="{FF2B5EF4-FFF2-40B4-BE49-F238E27FC236}">
                <a16:creationId xmlns:a16="http://schemas.microsoft.com/office/drawing/2014/main" id="{20A80157-9790-ABAB-F0CD-959F6F676354}"/>
              </a:ext>
            </a:extLst>
          </p:cNvPr>
          <p:cNvCxnSpPr/>
          <p:nvPr/>
        </p:nvCxnSpPr>
        <p:spPr>
          <a:xfrm>
            <a:off x="1425181" y="1681290"/>
            <a:ext cx="109868" cy="0"/>
          </a:xfrm>
          <a:prstGeom prst="line">
            <a:avLst/>
          </a:prstGeom>
          <a:ln w="2540" cap="rnd">
            <a:solidFill>
              <a:srgbClr val="A9BBD0"/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2" name="m-p04_funnel-conv-2">
            <a:extLst>
              <a:ext uri="{FF2B5EF4-FFF2-40B4-BE49-F238E27FC236}">
                <a16:creationId xmlns:a16="http://schemas.microsoft.com/office/drawing/2014/main" id="{8DD9F5FE-19AA-3F0F-46CD-D9D3E5D8A23D}"/>
              </a:ext>
            </a:extLst>
          </p:cNvPr>
          <p:cNvSpPr/>
          <p:nvPr/>
        </p:nvSpPr>
        <p:spPr>
          <a:xfrm>
            <a:off x="1563688" y="1634426"/>
            <a:ext cx="296799" cy="91123"/>
          </a:xfrm>
          <a:custGeom>
            <a:avLst/>
            <a:gdLst/>
            <a:ahLst/>
            <a:cxnLst/>
            <a:rect l="0" t="0" r="r" b="b"/>
            <a:pathLst>
              <a:path w="296799" h="91123">
                <a:moveTo>
                  <a:pt x="20828" y="0"/>
                </a:moveTo>
                <a:lnTo>
                  <a:pt x="275971" y="0"/>
                </a:lnTo>
                <a:cubicBezTo>
                  <a:pt x="287464" y="0"/>
                  <a:pt x="296799" y="9335"/>
                  <a:pt x="296799" y="20828"/>
                </a:cubicBezTo>
                <a:lnTo>
                  <a:pt x="296799" y="70294"/>
                </a:lnTo>
                <a:cubicBezTo>
                  <a:pt x="296799" y="81788"/>
                  <a:pt x="287464" y="91123"/>
                  <a:pt x="275971" y="91123"/>
                </a:cubicBezTo>
                <a:lnTo>
                  <a:pt x="20828" y="91123"/>
                </a:lnTo>
                <a:cubicBezTo>
                  <a:pt x="9334" y="91123"/>
                  <a:pt x="0" y="81788"/>
                  <a:pt x="0" y="70294"/>
                </a:cubicBezTo>
                <a:lnTo>
                  <a:pt x="0" y="20828"/>
                </a:lnTo>
                <a:cubicBezTo>
                  <a:pt x="0" y="9335"/>
                  <a:pt x="9334" y="0"/>
                  <a:pt x="2082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1B5AA8">
                <a:alpha val="3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93" name="m-p04_funnel-icon-grow">
            <a:extLst>
              <a:ext uri="{FF2B5EF4-FFF2-40B4-BE49-F238E27FC236}">
                <a16:creationId xmlns:a16="http://schemas.microsoft.com/office/drawing/2014/main" id="{B3E6E4C8-A345-87E3-8178-1A8E4A68D535}"/>
              </a:ext>
            </a:extLst>
          </p:cNvPr>
          <p:cNvSpPr/>
          <p:nvPr/>
        </p:nvSpPr>
        <p:spPr>
          <a:xfrm>
            <a:off x="1599628" y="1675067"/>
            <a:ext cx="19494" cy="12192"/>
          </a:xfrm>
          <a:custGeom>
            <a:avLst/>
            <a:gdLst/>
            <a:ahLst/>
            <a:cxnLst/>
            <a:rect l="0" t="0" r="r" b="b"/>
            <a:pathLst>
              <a:path w="19494" h="12192">
                <a:moveTo>
                  <a:pt x="0" y="12192"/>
                </a:moveTo>
                <a:lnTo>
                  <a:pt x="6477" y="5207"/>
                </a:lnTo>
                <a:lnTo>
                  <a:pt x="11176" y="9081"/>
                </a:lnTo>
                <a:lnTo>
                  <a:pt x="18987" y="0"/>
                </a:lnTo>
                <a:moveTo>
                  <a:pt x="15875" y="0"/>
                </a:moveTo>
                <a:lnTo>
                  <a:pt x="19494" y="0"/>
                </a:lnTo>
                <a:lnTo>
                  <a:pt x="19494" y="3619"/>
                </a:lnTo>
              </a:path>
            </a:pathLst>
          </a:custGeom>
          <a:noFill/>
          <a:ln w="2604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94" name="m-p04_funnel-conv-t-2">
            <a:extLst>
              <a:ext uri="{FF2B5EF4-FFF2-40B4-BE49-F238E27FC236}">
                <a16:creationId xmlns:a16="http://schemas.microsoft.com/office/drawing/2014/main" id="{7C308A6C-E8FB-8ECE-FB0B-D3C1E7233339}"/>
              </a:ext>
            </a:extLst>
          </p:cNvPr>
          <p:cNvSpPr txBox="1"/>
          <p:nvPr/>
        </p:nvSpPr>
        <p:spPr>
          <a:xfrm>
            <a:off x="1646166" y="1638110"/>
            <a:ext cx="109217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36.0%</a:t>
            </a:r>
          </a:p>
        </p:txBody>
      </p:sp>
      <p:sp>
        <p:nvSpPr>
          <p:cNvPr id="495" name="m-p04_funnel-conv-l-2">
            <a:extLst>
              <a:ext uri="{FF2B5EF4-FFF2-40B4-BE49-F238E27FC236}">
                <a16:creationId xmlns:a16="http://schemas.microsoft.com/office/drawing/2014/main" id="{D6025899-4A9C-9DA3-C9B4-1E868CBFFDA5}"/>
              </a:ext>
            </a:extLst>
          </p:cNvPr>
          <p:cNvSpPr txBox="1"/>
          <p:nvPr/>
        </p:nvSpPr>
        <p:spPr>
          <a:xfrm>
            <a:off x="1647416" y="1684817"/>
            <a:ext cx="11012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环节转化率</a:t>
            </a:r>
          </a:p>
        </p:txBody>
      </p:sp>
      <p:sp>
        <p:nvSpPr>
          <p:cNvPr id="496" name="m-p04_funnel-stage-3">
            <a:extLst>
              <a:ext uri="{FF2B5EF4-FFF2-40B4-BE49-F238E27FC236}">
                <a16:creationId xmlns:a16="http://schemas.microsoft.com/office/drawing/2014/main" id="{07513DB3-7352-1287-871B-9EF17C24FB07}"/>
              </a:ext>
            </a:extLst>
          </p:cNvPr>
          <p:cNvSpPr/>
          <p:nvPr/>
        </p:nvSpPr>
        <p:spPr>
          <a:xfrm>
            <a:off x="624038" y="1853120"/>
            <a:ext cx="707723" cy="161417"/>
          </a:xfrm>
          <a:custGeom>
            <a:avLst/>
            <a:gdLst/>
            <a:ahLst/>
            <a:cxnLst/>
            <a:rect l="0" t="0" r="r" b="b"/>
            <a:pathLst>
              <a:path w="707723" h="161417">
                <a:moveTo>
                  <a:pt x="1691" y="14415"/>
                </a:moveTo>
                <a:quadBezTo>
                  <a:pt x="-4405" y="0"/>
                  <a:pt x="11216" y="0"/>
                </a:quadBezTo>
                <a:lnTo>
                  <a:pt x="696508" y="0"/>
                </a:lnTo>
                <a:quadBezTo>
                  <a:pt x="712129" y="0"/>
                  <a:pt x="706033" y="14415"/>
                </a:quadBezTo>
                <a:lnTo>
                  <a:pt x="649962" y="147003"/>
                </a:lnTo>
                <a:quadBezTo>
                  <a:pt x="643866" y="161417"/>
                  <a:pt x="628245" y="161417"/>
                </a:quadBezTo>
                <a:lnTo>
                  <a:pt x="79478" y="161417"/>
                </a:lnTo>
                <a:quadBezTo>
                  <a:pt x="63857" y="161417"/>
                  <a:pt x="57761" y="147003"/>
                </a:quadBezTo>
                <a:close/>
              </a:path>
            </a:pathLst>
          </a:custGeom>
          <a:gradFill rotWithShape="1">
            <a:gsLst>
              <a:gs pos="0">
                <a:srgbClr val="4B8ACB"/>
              </a:gs>
              <a:gs pos="100000">
                <a:srgbClr val="2E77C2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97" name="m-p04_funnel-cnt-3">
            <a:extLst>
              <a:ext uri="{FF2B5EF4-FFF2-40B4-BE49-F238E27FC236}">
                <a16:creationId xmlns:a16="http://schemas.microsoft.com/office/drawing/2014/main" id="{89B3B4F4-7569-6C49-DB65-F01907122727}"/>
              </a:ext>
            </a:extLst>
          </p:cNvPr>
          <p:cNvSpPr txBox="1"/>
          <p:nvPr/>
        </p:nvSpPr>
        <p:spPr>
          <a:xfrm>
            <a:off x="892766" y="1882996"/>
            <a:ext cx="170269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13,824</a:t>
            </a:r>
          </a:p>
        </p:txBody>
      </p:sp>
      <p:sp>
        <p:nvSpPr>
          <p:cNvPr id="498" name="m-p04_funnel-pct-3">
            <a:extLst>
              <a:ext uri="{FF2B5EF4-FFF2-40B4-BE49-F238E27FC236}">
                <a16:creationId xmlns:a16="http://schemas.microsoft.com/office/drawing/2014/main" id="{D4BB4C96-2B28-545F-B0CE-3D34A04E6F42}"/>
              </a:ext>
            </a:extLst>
          </p:cNvPr>
          <p:cNvSpPr txBox="1"/>
          <p:nvPr/>
        </p:nvSpPr>
        <p:spPr>
          <a:xfrm>
            <a:off x="886927" y="1949570"/>
            <a:ext cx="181946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5" normalizeH="0" baseline="0" noProof="0">
                <a:ln>
                  <a:noFill/>
                </a:ln>
                <a:solidFill>
                  <a:srgbClr val="FFFFFF">
                    <a:alpha val="80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占初始流量 10.8%</a:t>
            </a:r>
          </a:p>
        </p:txBody>
      </p:sp>
      <p:sp>
        <p:nvSpPr>
          <p:cNvPr id="499" name="m-p04_funnel-ln-3">
            <a:extLst>
              <a:ext uri="{FF2B5EF4-FFF2-40B4-BE49-F238E27FC236}">
                <a16:creationId xmlns:a16="http://schemas.microsoft.com/office/drawing/2014/main" id="{D440CCD2-B38C-B821-838F-9A1BEA1F14FB}"/>
              </a:ext>
            </a:extLst>
          </p:cNvPr>
          <p:cNvSpPr txBox="1"/>
          <p:nvPr/>
        </p:nvSpPr>
        <p:spPr>
          <a:xfrm>
            <a:off x="176803" y="1888359"/>
            <a:ext cx="102526" cy="865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90" b="1" i="0" u="none" strike="noStrike" kern="1200" cap="none" spc="10" normalizeH="0" baseline="0" noProof="0">
                <a:ln>
                  <a:noFill/>
                </a:ln>
                <a:solidFill>
                  <a:srgbClr val="2E77C2">
                    <a:alpha val="9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500" name="m-p04_funnel-lt-3">
            <a:extLst>
              <a:ext uri="{FF2B5EF4-FFF2-40B4-BE49-F238E27FC236}">
                <a16:creationId xmlns:a16="http://schemas.microsoft.com/office/drawing/2014/main" id="{0891CFF4-B8F9-48CF-E023-0F67DB5DDAA8}"/>
              </a:ext>
            </a:extLst>
          </p:cNvPr>
          <p:cNvSpPr txBox="1"/>
          <p:nvPr/>
        </p:nvSpPr>
        <p:spPr>
          <a:xfrm>
            <a:off x="443688" y="1892258"/>
            <a:ext cx="140198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加购留资</a:t>
            </a:r>
          </a:p>
        </p:txBody>
      </p:sp>
      <p:sp>
        <p:nvSpPr>
          <p:cNvPr id="501" name="m-p04_funnel-lp-3">
            <a:extLst>
              <a:ext uri="{FF2B5EF4-FFF2-40B4-BE49-F238E27FC236}">
                <a16:creationId xmlns:a16="http://schemas.microsoft.com/office/drawing/2014/main" id="{DA5902F1-1F09-A696-3D4F-141FDF6F8A0A}"/>
              </a:ext>
            </a:extLst>
          </p:cNvPr>
          <p:cNvSpPr txBox="1"/>
          <p:nvPr/>
        </p:nvSpPr>
        <p:spPr>
          <a:xfrm>
            <a:off x="326374" y="1940956"/>
            <a:ext cx="256575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加入购物车或留下联系方式</a:t>
            </a:r>
          </a:p>
        </p:txBody>
      </p:sp>
      <p:sp>
        <p:nvSpPr>
          <p:cNvPr id="502" name="m-p04_funnel-lb-3">
            <a:extLst>
              <a:ext uri="{FF2B5EF4-FFF2-40B4-BE49-F238E27FC236}">
                <a16:creationId xmlns:a16="http://schemas.microsoft.com/office/drawing/2014/main" id="{6B53E143-BCC6-E628-F562-16A8A29C47DE}"/>
              </a:ext>
            </a:extLst>
          </p:cNvPr>
          <p:cNvSpPr/>
          <p:nvPr/>
        </p:nvSpPr>
        <p:spPr>
          <a:xfrm>
            <a:off x="593623" y="1902587"/>
            <a:ext cx="3905" cy="62484"/>
          </a:xfrm>
          <a:prstGeom prst="roundRect">
            <a:avLst>
              <a:gd name="adj" fmla="val 30750"/>
            </a:avLst>
          </a:prstGeom>
          <a:solidFill>
            <a:srgbClr val="2E77C2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503" name="m-p04_funnel-cl-3">
            <a:extLst>
              <a:ext uri="{FF2B5EF4-FFF2-40B4-BE49-F238E27FC236}">
                <a16:creationId xmlns:a16="http://schemas.microsoft.com/office/drawing/2014/main" id="{ED43E284-E2B7-E902-FC8B-360E4E70F90D}"/>
              </a:ext>
            </a:extLst>
          </p:cNvPr>
          <p:cNvCxnSpPr/>
          <p:nvPr/>
        </p:nvCxnSpPr>
        <p:spPr>
          <a:xfrm>
            <a:off x="1356970" y="1855724"/>
            <a:ext cx="178079" cy="0"/>
          </a:xfrm>
          <a:prstGeom prst="line">
            <a:avLst/>
          </a:prstGeom>
          <a:ln w="2540" cap="rnd">
            <a:solidFill>
              <a:srgbClr val="A9BBD0"/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4" name="m-p04_funnel-conv-3">
            <a:extLst>
              <a:ext uri="{FF2B5EF4-FFF2-40B4-BE49-F238E27FC236}">
                <a16:creationId xmlns:a16="http://schemas.microsoft.com/office/drawing/2014/main" id="{DAB1F9A7-40B0-12C8-1E21-7D75AB49F8E7}"/>
              </a:ext>
            </a:extLst>
          </p:cNvPr>
          <p:cNvSpPr/>
          <p:nvPr/>
        </p:nvSpPr>
        <p:spPr>
          <a:xfrm>
            <a:off x="1563688" y="1808861"/>
            <a:ext cx="296799" cy="91122"/>
          </a:xfrm>
          <a:custGeom>
            <a:avLst/>
            <a:gdLst/>
            <a:ahLst/>
            <a:cxnLst/>
            <a:rect l="0" t="0" r="r" b="b"/>
            <a:pathLst>
              <a:path w="296799" h="91122">
                <a:moveTo>
                  <a:pt x="20828" y="0"/>
                </a:moveTo>
                <a:lnTo>
                  <a:pt x="275971" y="0"/>
                </a:lnTo>
                <a:cubicBezTo>
                  <a:pt x="287464" y="0"/>
                  <a:pt x="296799" y="9334"/>
                  <a:pt x="296799" y="20828"/>
                </a:cubicBezTo>
                <a:lnTo>
                  <a:pt x="296799" y="70294"/>
                </a:lnTo>
                <a:cubicBezTo>
                  <a:pt x="296799" y="81788"/>
                  <a:pt x="287464" y="91122"/>
                  <a:pt x="275971" y="91122"/>
                </a:cubicBezTo>
                <a:lnTo>
                  <a:pt x="20828" y="91122"/>
                </a:lnTo>
                <a:cubicBezTo>
                  <a:pt x="9334" y="91122"/>
                  <a:pt x="0" y="81788"/>
                  <a:pt x="0" y="70294"/>
                </a:cubicBezTo>
                <a:lnTo>
                  <a:pt x="0" y="20828"/>
                </a:lnTo>
                <a:cubicBezTo>
                  <a:pt x="0" y="9334"/>
                  <a:pt x="9334" y="0"/>
                  <a:pt x="2082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2E77C2">
                <a:alpha val="3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05" name="m-p04_funnel-icon-grow">
            <a:extLst>
              <a:ext uri="{FF2B5EF4-FFF2-40B4-BE49-F238E27FC236}">
                <a16:creationId xmlns:a16="http://schemas.microsoft.com/office/drawing/2014/main" id="{478012E2-B89A-4E97-7EA9-1B11D2241C45}"/>
              </a:ext>
            </a:extLst>
          </p:cNvPr>
          <p:cNvSpPr/>
          <p:nvPr/>
        </p:nvSpPr>
        <p:spPr>
          <a:xfrm>
            <a:off x="1599628" y="1849501"/>
            <a:ext cx="19494" cy="12192"/>
          </a:xfrm>
          <a:custGeom>
            <a:avLst/>
            <a:gdLst/>
            <a:ahLst/>
            <a:cxnLst/>
            <a:rect l="0" t="0" r="r" b="b"/>
            <a:pathLst>
              <a:path w="19494" h="12192">
                <a:moveTo>
                  <a:pt x="0" y="12192"/>
                </a:moveTo>
                <a:lnTo>
                  <a:pt x="6477" y="5207"/>
                </a:lnTo>
                <a:lnTo>
                  <a:pt x="11176" y="9081"/>
                </a:lnTo>
                <a:lnTo>
                  <a:pt x="18987" y="0"/>
                </a:lnTo>
                <a:moveTo>
                  <a:pt x="15875" y="0"/>
                </a:moveTo>
                <a:lnTo>
                  <a:pt x="19494" y="0"/>
                </a:lnTo>
                <a:lnTo>
                  <a:pt x="19494" y="3619"/>
                </a:lnTo>
              </a:path>
            </a:pathLst>
          </a:custGeom>
          <a:noFill/>
          <a:ln w="2604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06" name="m-p04_funnel-conv-t-3">
            <a:extLst>
              <a:ext uri="{FF2B5EF4-FFF2-40B4-BE49-F238E27FC236}">
                <a16:creationId xmlns:a16="http://schemas.microsoft.com/office/drawing/2014/main" id="{8CC05D52-0155-0918-5A42-B6B3D381D45D}"/>
              </a:ext>
            </a:extLst>
          </p:cNvPr>
          <p:cNvSpPr txBox="1"/>
          <p:nvPr/>
        </p:nvSpPr>
        <p:spPr>
          <a:xfrm>
            <a:off x="1646166" y="1812545"/>
            <a:ext cx="109217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30.0%</a:t>
            </a:r>
          </a:p>
        </p:txBody>
      </p:sp>
      <p:sp>
        <p:nvSpPr>
          <p:cNvPr id="507" name="m-p04_funnel-conv-l-3">
            <a:extLst>
              <a:ext uri="{FF2B5EF4-FFF2-40B4-BE49-F238E27FC236}">
                <a16:creationId xmlns:a16="http://schemas.microsoft.com/office/drawing/2014/main" id="{7FC068CD-695B-FC53-8ADD-2550DC1BFAE2}"/>
              </a:ext>
            </a:extLst>
          </p:cNvPr>
          <p:cNvSpPr txBox="1"/>
          <p:nvPr/>
        </p:nvSpPr>
        <p:spPr>
          <a:xfrm>
            <a:off x="1647416" y="1859252"/>
            <a:ext cx="11012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环节转化率</a:t>
            </a:r>
          </a:p>
        </p:txBody>
      </p:sp>
      <p:sp>
        <p:nvSpPr>
          <p:cNvPr id="508" name="m-p04_funnel-stage-4">
            <a:extLst>
              <a:ext uri="{FF2B5EF4-FFF2-40B4-BE49-F238E27FC236}">
                <a16:creationId xmlns:a16="http://schemas.microsoft.com/office/drawing/2014/main" id="{2A34A4F2-7183-96C7-D770-AB096A640581}"/>
              </a:ext>
            </a:extLst>
          </p:cNvPr>
          <p:cNvSpPr/>
          <p:nvPr/>
        </p:nvSpPr>
        <p:spPr>
          <a:xfrm>
            <a:off x="692265" y="2027555"/>
            <a:ext cx="571270" cy="161417"/>
          </a:xfrm>
          <a:custGeom>
            <a:avLst/>
            <a:gdLst/>
            <a:ahLst/>
            <a:cxnLst/>
            <a:rect l="0" t="0" r="r" b="b"/>
            <a:pathLst>
              <a:path w="571270" h="161417">
                <a:moveTo>
                  <a:pt x="1663" y="14414"/>
                </a:moveTo>
                <a:quadBezTo>
                  <a:pt x="-4370" y="0"/>
                  <a:pt x="11251" y="0"/>
                </a:quadBezTo>
                <a:lnTo>
                  <a:pt x="560018" y="0"/>
                </a:lnTo>
                <a:quadBezTo>
                  <a:pt x="575639" y="0"/>
                  <a:pt x="569607" y="14414"/>
                </a:quadBezTo>
                <a:lnTo>
                  <a:pt x="513536" y="147002"/>
                </a:lnTo>
                <a:quadBezTo>
                  <a:pt x="507440" y="161417"/>
                  <a:pt x="491819" y="161417"/>
                </a:quadBezTo>
                <a:lnTo>
                  <a:pt x="79450" y="161417"/>
                </a:lnTo>
                <a:quadBezTo>
                  <a:pt x="63829" y="161417"/>
                  <a:pt x="57733" y="147002"/>
                </a:quadBezTo>
                <a:close/>
              </a:path>
            </a:pathLst>
          </a:custGeom>
          <a:gradFill rotWithShape="1">
            <a:gsLst>
              <a:gs pos="0">
                <a:srgbClr val="5596D4"/>
              </a:gs>
              <a:gs pos="100000">
                <a:srgbClr val="3985CD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09" name="m-p04_funnel-cnt-4">
            <a:extLst>
              <a:ext uri="{FF2B5EF4-FFF2-40B4-BE49-F238E27FC236}">
                <a16:creationId xmlns:a16="http://schemas.microsoft.com/office/drawing/2014/main" id="{8F1253AC-C742-58A9-A5AC-91279A56C065}"/>
              </a:ext>
            </a:extLst>
          </p:cNvPr>
          <p:cNvSpPr txBox="1"/>
          <p:nvPr/>
        </p:nvSpPr>
        <p:spPr>
          <a:xfrm>
            <a:off x="904026" y="2057430"/>
            <a:ext cx="147749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4,838</a:t>
            </a:r>
          </a:p>
        </p:txBody>
      </p:sp>
      <p:sp>
        <p:nvSpPr>
          <p:cNvPr id="510" name="m-p04_funnel-pct-4">
            <a:extLst>
              <a:ext uri="{FF2B5EF4-FFF2-40B4-BE49-F238E27FC236}">
                <a16:creationId xmlns:a16="http://schemas.microsoft.com/office/drawing/2014/main" id="{F297F50C-5977-1D77-FAF7-752F04FB0432}"/>
              </a:ext>
            </a:extLst>
          </p:cNvPr>
          <p:cNvSpPr txBox="1"/>
          <p:nvPr/>
        </p:nvSpPr>
        <p:spPr>
          <a:xfrm>
            <a:off x="892538" y="2124005"/>
            <a:ext cx="170725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5" normalizeH="0" baseline="0" noProof="0">
                <a:ln>
                  <a:noFill/>
                </a:ln>
                <a:solidFill>
                  <a:srgbClr val="FFFFFF">
                    <a:alpha val="80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占初始流量 3.8%</a:t>
            </a:r>
          </a:p>
        </p:txBody>
      </p:sp>
      <p:sp>
        <p:nvSpPr>
          <p:cNvPr id="511" name="m-p04_funnel-ln-4">
            <a:extLst>
              <a:ext uri="{FF2B5EF4-FFF2-40B4-BE49-F238E27FC236}">
                <a16:creationId xmlns:a16="http://schemas.microsoft.com/office/drawing/2014/main" id="{35351F18-A29E-DD5B-4DE9-C5D357E0F836}"/>
              </a:ext>
            </a:extLst>
          </p:cNvPr>
          <p:cNvSpPr txBox="1"/>
          <p:nvPr/>
        </p:nvSpPr>
        <p:spPr>
          <a:xfrm>
            <a:off x="245015" y="2062793"/>
            <a:ext cx="102526" cy="865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90" b="1" i="0" u="none" strike="noStrike" kern="1200" cap="none" spc="10" normalizeH="0" baseline="0" noProof="0">
                <a:ln>
                  <a:noFill/>
                </a:ln>
                <a:solidFill>
                  <a:srgbClr val="3985CD">
                    <a:alpha val="9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512" name="m-p04_funnel-lt-4">
            <a:extLst>
              <a:ext uri="{FF2B5EF4-FFF2-40B4-BE49-F238E27FC236}">
                <a16:creationId xmlns:a16="http://schemas.microsoft.com/office/drawing/2014/main" id="{9ABCCFFF-5477-7449-D362-1C3D99CDA5D4}"/>
              </a:ext>
            </a:extLst>
          </p:cNvPr>
          <p:cNvSpPr txBox="1"/>
          <p:nvPr/>
        </p:nvSpPr>
        <p:spPr>
          <a:xfrm>
            <a:off x="511900" y="2066692"/>
            <a:ext cx="140198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下单支付</a:t>
            </a:r>
          </a:p>
        </p:txBody>
      </p:sp>
      <p:sp>
        <p:nvSpPr>
          <p:cNvPr id="513" name="m-p04_funnel-lp-4">
            <a:extLst>
              <a:ext uri="{FF2B5EF4-FFF2-40B4-BE49-F238E27FC236}">
                <a16:creationId xmlns:a16="http://schemas.microsoft.com/office/drawing/2014/main" id="{A46AC011-2328-53F3-526E-C3C0D3513DF2}"/>
              </a:ext>
            </a:extLst>
          </p:cNvPr>
          <p:cNvSpPr txBox="1"/>
          <p:nvPr/>
        </p:nvSpPr>
        <p:spPr>
          <a:xfrm>
            <a:off x="474253" y="2115391"/>
            <a:ext cx="176908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完成首次订单支付</a:t>
            </a:r>
          </a:p>
        </p:txBody>
      </p:sp>
      <p:sp>
        <p:nvSpPr>
          <p:cNvPr id="514" name="m-p04_funnel-lb-4">
            <a:extLst>
              <a:ext uri="{FF2B5EF4-FFF2-40B4-BE49-F238E27FC236}">
                <a16:creationId xmlns:a16="http://schemas.microsoft.com/office/drawing/2014/main" id="{F366CEF4-A9FC-EEB7-0326-345829422170}"/>
              </a:ext>
            </a:extLst>
          </p:cNvPr>
          <p:cNvSpPr/>
          <p:nvPr/>
        </p:nvSpPr>
        <p:spPr>
          <a:xfrm>
            <a:off x="661835" y="2077022"/>
            <a:ext cx="3905" cy="62484"/>
          </a:xfrm>
          <a:prstGeom prst="roundRect">
            <a:avLst>
              <a:gd name="adj" fmla="val 30750"/>
            </a:avLst>
          </a:prstGeom>
          <a:solidFill>
            <a:srgbClr val="3985CD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515" name="m-p04_funnel-cl-4">
            <a:extLst>
              <a:ext uri="{FF2B5EF4-FFF2-40B4-BE49-F238E27FC236}">
                <a16:creationId xmlns:a16="http://schemas.microsoft.com/office/drawing/2014/main" id="{F6A908C2-DA05-08ED-3632-94B3C04901AD}"/>
              </a:ext>
            </a:extLst>
          </p:cNvPr>
          <p:cNvCxnSpPr/>
          <p:nvPr/>
        </p:nvCxnSpPr>
        <p:spPr>
          <a:xfrm>
            <a:off x="1288758" y="2030158"/>
            <a:ext cx="246291" cy="0"/>
          </a:xfrm>
          <a:prstGeom prst="line">
            <a:avLst/>
          </a:prstGeom>
          <a:ln w="2540" cap="rnd">
            <a:solidFill>
              <a:srgbClr val="A9BBD0"/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6" name="m-p04_funnel-conv-4">
            <a:extLst>
              <a:ext uri="{FF2B5EF4-FFF2-40B4-BE49-F238E27FC236}">
                <a16:creationId xmlns:a16="http://schemas.microsoft.com/office/drawing/2014/main" id="{38762CE8-3EC5-90E4-302B-35E21C8F25EA}"/>
              </a:ext>
            </a:extLst>
          </p:cNvPr>
          <p:cNvSpPr/>
          <p:nvPr/>
        </p:nvSpPr>
        <p:spPr>
          <a:xfrm>
            <a:off x="1563688" y="1983296"/>
            <a:ext cx="296799" cy="91123"/>
          </a:xfrm>
          <a:custGeom>
            <a:avLst/>
            <a:gdLst/>
            <a:ahLst/>
            <a:cxnLst/>
            <a:rect l="0" t="0" r="r" b="b"/>
            <a:pathLst>
              <a:path w="296799" h="91123">
                <a:moveTo>
                  <a:pt x="20828" y="0"/>
                </a:moveTo>
                <a:lnTo>
                  <a:pt x="275971" y="0"/>
                </a:lnTo>
                <a:cubicBezTo>
                  <a:pt x="287464" y="0"/>
                  <a:pt x="296799" y="9335"/>
                  <a:pt x="296799" y="20828"/>
                </a:cubicBezTo>
                <a:lnTo>
                  <a:pt x="296799" y="70294"/>
                </a:lnTo>
                <a:cubicBezTo>
                  <a:pt x="296799" y="81788"/>
                  <a:pt x="287464" y="91123"/>
                  <a:pt x="275971" y="91123"/>
                </a:cubicBezTo>
                <a:lnTo>
                  <a:pt x="20828" y="91123"/>
                </a:lnTo>
                <a:cubicBezTo>
                  <a:pt x="9334" y="91123"/>
                  <a:pt x="0" y="81788"/>
                  <a:pt x="0" y="70294"/>
                </a:cubicBezTo>
                <a:lnTo>
                  <a:pt x="0" y="20828"/>
                </a:lnTo>
                <a:cubicBezTo>
                  <a:pt x="0" y="9335"/>
                  <a:pt x="9334" y="0"/>
                  <a:pt x="2082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3985CD">
                <a:alpha val="3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17" name="m-p04_funnel-icon-grow">
            <a:extLst>
              <a:ext uri="{FF2B5EF4-FFF2-40B4-BE49-F238E27FC236}">
                <a16:creationId xmlns:a16="http://schemas.microsoft.com/office/drawing/2014/main" id="{6DAD5FEF-F469-3E64-1FBA-435401878961}"/>
              </a:ext>
            </a:extLst>
          </p:cNvPr>
          <p:cNvSpPr/>
          <p:nvPr/>
        </p:nvSpPr>
        <p:spPr>
          <a:xfrm>
            <a:off x="1599628" y="2023936"/>
            <a:ext cx="19494" cy="12192"/>
          </a:xfrm>
          <a:custGeom>
            <a:avLst/>
            <a:gdLst/>
            <a:ahLst/>
            <a:cxnLst/>
            <a:rect l="0" t="0" r="r" b="b"/>
            <a:pathLst>
              <a:path w="19494" h="12192">
                <a:moveTo>
                  <a:pt x="0" y="12192"/>
                </a:moveTo>
                <a:lnTo>
                  <a:pt x="6477" y="5207"/>
                </a:lnTo>
                <a:lnTo>
                  <a:pt x="11176" y="9081"/>
                </a:lnTo>
                <a:lnTo>
                  <a:pt x="18987" y="0"/>
                </a:lnTo>
                <a:moveTo>
                  <a:pt x="15875" y="0"/>
                </a:moveTo>
                <a:lnTo>
                  <a:pt x="19494" y="0"/>
                </a:lnTo>
                <a:lnTo>
                  <a:pt x="19494" y="3619"/>
                </a:lnTo>
              </a:path>
            </a:pathLst>
          </a:custGeom>
          <a:noFill/>
          <a:ln w="2604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18" name="m-p04_funnel-conv-t-4">
            <a:extLst>
              <a:ext uri="{FF2B5EF4-FFF2-40B4-BE49-F238E27FC236}">
                <a16:creationId xmlns:a16="http://schemas.microsoft.com/office/drawing/2014/main" id="{046B30AF-3B30-D971-AC7C-3C78797C3ACE}"/>
              </a:ext>
            </a:extLst>
          </p:cNvPr>
          <p:cNvSpPr txBox="1"/>
          <p:nvPr/>
        </p:nvSpPr>
        <p:spPr>
          <a:xfrm>
            <a:off x="1646166" y="1986979"/>
            <a:ext cx="109217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35.0%</a:t>
            </a:r>
          </a:p>
        </p:txBody>
      </p:sp>
      <p:sp>
        <p:nvSpPr>
          <p:cNvPr id="519" name="m-p04_funnel-conv-l-4">
            <a:extLst>
              <a:ext uri="{FF2B5EF4-FFF2-40B4-BE49-F238E27FC236}">
                <a16:creationId xmlns:a16="http://schemas.microsoft.com/office/drawing/2014/main" id="{B8AAC699-B71C-4507-DDE1-4ABE5DD19DC2}"/>
              </a:ext>
            </a:extLst>
          </p:cNvPr>
          <p:cNvSpPr txBox="1"/>
          <p:nvPr/>
        </p:nvSpPr>
        <p:spPr>
          <a:xfrm>
            <a:off x="1647416" y="2033686"/>
            <a:ext cx="11012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环节转化率</a:t>
            </a:r>
          </a:p>
        </p:txBody>
      </p:sp>
      <p:sp>
        <p:nvSpPr>
          <p:cNvPr id="520" name="m-p04_funnel-stage-5">
            <a:extLst>
              <a:ext uri="{FF2B5EF4-FFF2-40B4-BE49-F238E27FC236}">
                <a16:creationId xmlns:a16="http://schemas.microsoft.com/office/drawing/2014/main" id="{31DC7595-C4B1-890F-4005-6695A9A8BE78}"/>
              </a:ext>
            </a:extLst>
          </p:cNvPr>
          <p:cNvSpPr/>
          <p:nvPr/>
        </p:nvSpPr>
        <p:spPr>
          <a:xfrm>
            <a:off x="760500" y="2201990"/>
            <a:ext cx="434800" cy="161417"/>
          </a:xfrm>
          <a:custGeom>
            <a:avLst/>
            <a:gdLst/>
            <a:ahLst/>
            <a:cxnLst/>
            <a:rect l="0" t="0" r="r" b="b"/>
            <a:pathLst>
              <a:path w="434800" h="161417">
                <a:moveTo>
                  <a:pt x="1691" y="14415"/>
                </a:moveTo>
                <a:quadBezTo>
                  <a:pt x="-4405" y="0"/>
                  <a:pt x="11216" y="0"/>
                </a:quadBezTo>
                <a:lnTo>
                  <a:pt x="423585" y="0"/>
                </a:lnTo>
                <a:quadBezTo>
                  <a:pt x="439206" y="0"/>
                  <a:pt x="433110" y="14415"/>
                </a:quadBezTo>
                <a:lnTo>
                  <a:pt x="377103" y="147003"/>
                </a:lnTo>
                <a:quadBezTo>
                  <a:pt x="371007" y="161417"/>
                  <a:pt x="355386" y="161417"/>
                </a:quadBezTo>
                <a:lnTo>
                  <a:pt x="79415" y="161417"/>
                </a:lnTo>
                <a:quadBezTo>
                  <a:pt x="63794" y="161417"/>
                  <a:pt x="57698" y="147003"/>
                </a:quadBezTo>
                <a:close/>
              </a:path>
            </a:pathLst>
          </a:custGeom>
          <a:gradFill rotWithShape="1">
            <a:gsLst>
              <a:gs pos="0">
                <a:srgbClr val="6CAFE3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21" name="m-p04_funnel-cnt-5">
            <a:extLst>
              <a:ext uri="{FF2B5EF4-FFF2-40B4-BE49-F238E27FC236}">
                <a16:creationId xmlns:a16="http://schemas.microsoft.com/office/drawing/2014/main" id="{5F858FDB-955F-97DA-AE66-75009537EF06}"/>
              </a:ext>
            </a:extLst>
          </p:cNvPr>
          <p:cNvSpPr txBox="1"/>
          <p:nvPr/>
        </p:nvSpPr>
        <p:spPr>
          <a:xfrm>
            <a:off x="904026" y="2231865"/>
            <a:ext cx="147749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1,596</a:t>
            </a:r>
          </a:p>
        </p:txBody>
      </p:sp>
      <p:sp>
        <p:nvSpPr>
          <p:cNvPr id="522" name="m-p04_funnel-pct-5">
            <a:extLst>
              <a:ext uri="{FF2B5EF4-FFF2-40B4-BE49-F238E27FC236}">
                <a16:creationId xmlns:a16="http://schemas.microsoft.com/office/drawing/2014/main" id="{5EB8788E-AA41-F65B-12C3-4B3553DBF6FC}"/>
              </a:ext>
            </a:extLst>
          </p:cNvPr>
          <p:cNvSpPr txBox="1"/>
          <p:nvPr/>
        </p:nvSpPr>
        <p:spPr>
          <a:xfrm>
            <a:off x="892538" y="2298439"/>
            <a:ext cx="170725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5" normalizeH="0" baseline="0" noProof="0">
                <a:ln>
                  <a:noFill/>
                </a:ln>
                <a:solidFill>
                  <a:srgbClr val="FFFFFF">
                    <a:alpha val="80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占初始流量 1.2%</a:t>
            </a:r>
          </a:p>
        </p:txBody>
      </p:sp>
      <p:sp>
        <p:nvSpPr>
          <p:cNvPr id="523" name="m-p04_funnel-ln-5">
            <a:extLst>
              <a:ext uri="{FF2B5EF4-FFF2-40B4-BE49-F238E27FC236}">
                <a16:creationId xmlns:a16="http://schemas.microsoft.com/office/drawing/2014/main" id="{F24CA4C0-9754-8285-B035-664EB95C2C92}"/>
              </a:ext>
            </a:extLst>
          </p:cNvPr>
          <p:cNvSpPr txBox="1"/>
          <p:nvPr/>
        </p:nvSpPr>
        <p:spPr>
          <a:xfrm>
            <a:off x="313226" y="2237228"/>
            <a:ext cx="102526" cy="865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90" b="1" i="0" u="none" strike="noStrike" kern="1200" cap="none" spc="10" normalizeH="0" baseline="0" noProof="0">
                <a:ln>
                  <a:noFill/>
                </a:ln>
                <a:solidFill>
                  <a:srgbClr val="54A2DF">
                    <a:alpha val="9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524" name="m-p04_funnel-lt-5">
            <a:extLst>
              <a:ext uri="{FF2B5EF4-FFF2-40B4-BE49-F238E27FC236}">
                <a16:creationId xmlns:a16="http://schemas.microsoft.com/office/drawing/2014/main" id="{F9998D23-83F7-71D3-531D-1AA022A18572}"/>
              </a:ext>
            </a:extLst>
          </p:cNvPr>
          <p:cNvSpPr txBox="1"/>
          <p:nvPr/>
        </p:nvSpPr>
        <p:spPr>
          <a:xfrm>
            <a:off x="580111" y="2241127"/>
            <a:ext cx="140198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复购成交</a:t>
            </a:r>
          </a:p>
        </p:txBody>
      </p:sp>
      <p:sp>
        <p:nvSpPr>
          <p:cNvPr id="525" name="m-p04_funnel-lp-5">
            <a:extLst>
              <a:ext uri="{FF2B5EF4-FFF2-40B4-BE49-F238E27FC236}">
                <a16:creationId xmlns:a16="http://schemas.microsoft.com/office/drawing/2014/main" id="{F06A610B-D1FD-DBAE-AB65-E0A3E0B0DA76}"/>
              </a:ext>
            </a:extLst>
          </p:cNvPr>
          <p:cNvSpPr txBox="1"/>
          <p:nvPr/>
        </p:nvSpPr>
        <p:spPr>
          <a:xfrm>
            <a:off x="502631" y="2289825"/>
            <a:ext cx="216741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三个月内产生二次购买</a:t>
            </a:r>
          </a:p>
        </p:txBody>
      </p:sp>
      <p:sp>
        <p:nvSpPr>
          <p:cNvPr id="526" name="m-p04_funnel-lb-5">
            <a:extLst>
              <a:ext uri="{FF2B5EF4-FFF2-40B4-BE49-F238E27FC236}">
                <a16:creationId xmlns:a16="http://schemas.microsoft.com/office/drawing/2014/main" id="{761266CF-4192-8CC5-F2F1-55BC727386F2}"/>
              </a:ext>
            </a:extLst>
          </p:cNvPr>
          <p:cNvSpPr/>
          <p:nvPr/>
        </p:nvSpPr>
        <p:spPr>
          <a:xfrm>
            <a:off x="730047" y="2251456"/>
            <a:ext cx="3905" cy="62484"/>
          </a:xfrm>
          <a:prstGeom prst="roundRect">
            <a:avLst>
              <a:gd name="adj" fmla="val 30750"/>
            </a:avLst>
          </a:prstGeom>
          <a:solidFill>
            <a:srgbClr val="54A2DF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527" name="m-p04_funnel-cl-5">
            <a:extLst>
              <a:ext uri="{FF2B5EF4-FFF2-40B4-BE49-F238E27FC236}">
                <a16:creationId xmlns:a16="http://schemas.microsoft.com/office/drawing/2014/main" id="{47A405CC-D5DD-A580-8F6D-618B4193928C}"/>
              </a:ext>
            </a:extLst>
          </p:cNvPr>
          <p:cNvCxnSpPr/>
          <p:nvPr/>
        </p:nvCxnSpPr>
        <p:spPr>
          <a:xfrm>
            <a:off x="1220546" y="2204593"/>
            <a:ext cx="314503" cy="0"/>
          </a:xfrm>
          <a:prstGeom prst="line">
            <a:avLst/>
          </a:prstGeom>
          <a:ln w="2540" cap="rnd">
            <a:solidFill>
              <a:srgbClr val="A9BBD0"/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8" name="m-p04_funnel-conv-5">
            <a:extLst>
              <a:ext uri="{FF2B5EF4-FFF2-40B4-BE49-F238E27FC236}">
                <a16:creationId xmlns:a16="http://schemas.microsoft.com/office/drawing/2014/main" id="{64EB91FD-3795-533A-AC19-452793C71476}"/>
              </a:ext>
            </a:extLst>
          </p:cNvPr>
          <p:cNvSpPr/>
          <p:nvPr/>
        </p:nvSpPr>
        <p:spPr>
          <a:xfrm>
            <a:off x="1563688" y="2157730"/>
            <a:ext cx="296799" cy="91122"/>
          </a:xfrm>
          <a:custGeom>
            <a:avLst/>
            <a:gdLst/>
            <a:ahLst/>
            <a:cxnLst/>
            <a:rect l="0" t="0" r="r" b="b"/>
            <a:pathLst>
              <a:path w="296799" h="91122">
                <a:moveTo>
                  <a:pt x="20828" y="0"/>
                </a:moveTo>
                <a:lnTo>
                  <a:pt x="275971" y="0"/>
                </a:lnTo>
                <a:cubicBezTo>
                  <a:pt x="287464" y="0"/>
                  <a:pt x="296799" y="9334"/>
                  <a:pt x="296799" y="20828"/>
                </a:cubicBezTo>
                <a:lnTo>
                  <a:pt x="296799" y="70294"/>
                </a:lnTo>
                <a:cubicBezTo>
                  <a:pt x="296799" y="81788"/>
                  <a:pt x="287464" y="91122"/>
                  <a:pt x="275971" y="91122"/>
                </a:cubicBezTo>
                <a:lnTo>
                  <a:pt x="20828" y="91122"/>
                </a:lnTo>
                <a:cubicBezTo>
                  <a:pt x="9334" y="91122"/>
                  <a:pt x="0" y="81788"/>
                  <a:pt x="0" y="70294"/>
                </a:cubicBezTo>
                <a:lnTo>
                  <a:pt x="0" y="20828"/>
                </a:lnTo>
                <a:cubicBezTo>
                  <a:pt x="0" y="9334"/>
                  <a:pt x="9334" y="0"/>
                  <a:pt x="2082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54A2DF">
                <a:alpha val="3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29" name="m-p04_funnel-icon-grow">
            <a:extLst>
              <a:ext uri="{FF2B5EF4-FFF2-40B4-BE49-F238E27FC236}">
                <a16:creationId xmlns:a16="http://schemas.microsoft.com/office/drawing/2014/main" id="{2AAC85A3-EB2F-45F5-5C1A-D6B9C16F50B6}"/>
              </a:ext>
            </a:extLst>
          </p:cNvPr>
          <p:cNvSpPr/>
          <p:nvPr/>
        </p:nvSpPr>
        <p:spPr>
          <a:xfrm>
            <a:off x="1599628" y="2198370"/>
            <a:ext cx="19494" cy="12192"/>
          </a:xfrm>
          <a:custGeom>
            <a:avLst/>
            <a:gdLst/>
            <a:ahLst/>
            <a:cxnLst/>
            <a:rect l="0" t="0" r="r" b="b"/>
            <a:pathLst>
              <a:path w="19494" h="12192">
                <a:moveTo>
                  <a:pt x="0" y="12192"/>
                </a:moveTo>
                <a:lnTo>
                  <a:pt x="6477" y="5207"/>
                </a:lnTo>
                <a:lnTo>
                  <a:pt x="11176" y="9081"/>
                </a:lnTo>
                <a:lnTo>
                  <a:pt x="18987" y="0"/>
                </a:lnTo>
                <a:moveTo>
                  <a:pt x="15875" y="0"/>
                </a:moveTo>
                <a:lnTo>
                  <a:pt x="19494" y="0"/>
                </a:lnTo>
                <a:lnTo>
                  <a:pt x="19494" y="3619"/>
                </a:lnTo>
              </a:path>
            </a:pathLst>
          </a:custGeom>
          <a:noFill/>
          <a:ln w="2604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30" name="m-p04_funnel-conv-t-5">
            <a:extLst>
              <a:ext uri="{FF2B5EF4-FFF2-40B4-BE49-F238E27FC236}">
                <a16:creationId xmlns:a16="http://schemas.microsoft.com/office/drawing/2014/main" id="{CA4A4522-6453-77C8-F9BD-E0976C55A598}"/>
              </a:ext>
            </a:extLst>
          </p:cNvPr>
          <p:cNvSpPr txBox="1"/>
          <p:nvPr/>
        </p:nvSpPr>
        <p:spPr>
          <a:xfrm>
            <a:off x="1646166" y="2161414"/>
            <a:ext cx="109217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33.0%</a:t>
            </a:r>
          </a:p>
        </p:txBody>
      </p:sp>
      <p:sp>
        <p:nvSpPr>
          <p:cNvPr id="531" name="m-p04_funnel-conv-l-5">
            <a:extLst>
              <a:ext uri="{FF2B5EF4-FFF2-40B4-BE49-F238E27FC236}">
                <a16:creationId xmlns:a16="http://schemas.microsoft.com/office/drawing/2014/main" id="{16836723-BE93-74B7-1B10-AEA6BD7A45F3}"/>
              </a:ext>
            </a:extLst>
          </p:cNvPr>
          <p:cNvSpPr txBox="1"/>
          <p:nvPr/>
        </p:nvSpPr>
        <p:spPr>
          <a:xfrm>
            <a:off x="1647416" y="2208121"/>
            <a:ext cx="11012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环节转化率</a:t>
            </a:r>
          </a:p>
        </p:txBody>
      </p:sp>
      <p:sp>
        <p:nvSpPr>
          <p:cNvPr id="532" name="m-p04_funnel-sum-card">
            <a:extLst>
              <a:ext uri="{FF2B5EF4-FFF2-40B4-BE49-F238E27FC236}">
                <a16:creationId xmlns:a16="http://schemas.microsoft.com/office/drawing/2014/main" id="{5E9D41F4-D81F-C3D2-96EF-FE249B40FA33}"/>
              </a:ext>
            </a:extLst>
          </p:cNvPr>
          <p:cNvSpPr/>
          <p:nvPr/>
        </p:nvSpPr>
        <p:spPr>
          <a:xfrm>
            <a:off x="1915160" y="1975485"/>
            <a:ext cx="403542" cy="390525"/>
          </a:xfrm>
          <a:custGeom>
            <a:avLst/>
            <a:gdLst/>
            <a:ahLst/>
            <a:cxnLst/>
            <a:rect l="0" t="0" r="r" b="b"/>
            <a:pathLst>
              <a:path w="403542" h="390525">
                <a:moveTo>
                  <a:pt x="23431" y="0"/>
                </a:moveTo>
                <a:lnTo>
                  <a:pt x="380111" y="0"/>
                </a:lnTo>
                <a:cubicBezTo>
                  <a:pt x="393065" y="0"/>
                  <a:pt x="403542" y="10477"/>
                  <a:pt x="403542" y="23431"/>
                </a:cubicBezTo>
                <a:lnTo>
                  <a:pt x="403542" y="367094"/>
                </a:lnTo>
                <a:cubicBezTo>
                  <a:pt x="403542" y="380047"/>
                  <a:pt x="393065" y="390525"/>
                  <a:pt x="380111" y="390525"/>
                </a:cubicBezTo>
                <a:lnTo>
                  <a:pt x="23431" y="390525"/>
                </a:lnTo>
                <a:cubicBezTo>
                  <a:pt x="10477" y="390525"/>
                  <a:pt x="0" y="380047"/>
                  <a:pt x="0" y="367094"/>
                </a:cubicBezTo>
                <a:lnTo>
                  <a:pt x="0" y="23431"/>
                </a:lnTo>
                <a:cubicBezTo>
                  <a:pt x="0" y="10477"/>
                  <a:pt x="10477" y="0"/>
                  <a:pt x="2343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33" name="m-p04_funnel-sum-cap">
            <a:extLst>
              <a:ext uri="{FF2B5EF4-FFF2-40B4-BE49-F238E27FC236}">
                <a16:creationId xmlns:a16="http://schemas.microsoft.com/office/drawing/2014/main" id="{94D0A1E7-DE93-B7DA-5ADE-E1DB150DB6A9}"/>
              </a:ext>
            </a:extLst>
          </p:cNvPr>
          <p:cNvSpPr/>
          <p:nvPr/>
        </p:nvSpPr>
        <p:spPr>
          <a:xfrm>
            <a:off x="1915160" y="1975485"/>
            <a:ext cx="403542" cy="9080"/>
          </a:xfrm>
          <a:custGeom>
            <a:avLst/>
            <a:gdLst/>
            <a:ahLst/>
            <a:cxnLst/>
            <a:rect l="0" t="0" r="r" b="b"/>
            <a:pathLst>
              <a:path w="403542" h="9080">
                <a:moveTo>
                  <a:pt x="4572" y="0"/>
                </a:moveTo>
                <a:lnTo>
                  <a:pt x="398970" y="0"/>
                </a:lnTo>
                <a:cubicBezTo>
                  <a:pt x="401510" y="0"/>
                  <a:pt x="403542" y="2032"/>
                  <a:pt x="403542" y="4572"/>
                </a:cubicBezTo>
                <a:lnTo>
                  <a:pt x="403542" y="4572"/>
                </a:lnTo>
                <a:cubicBezTo>
                  <a:pt x="403542" y="7048"/>
                  <a:pt x="401510" y="9080"/>
                  <a:pt x="398970" y="9080"/>
                </a:cubicBezTo>
                <a:lnTo>
                  <a:pt x="4572" y="9080"/>
                </a:lnTo>
                <a:cubicBezTo>
                  <a:pt x="2032" y="9080"/>
                  <a:pt x="0" y="7048"/>
                  <a:pt x="0" y="4572"/>
                </a:cubicBezTo>
                <a:lnTo>
                  <a:pt x="0" y="4572"/>
                </a:lnTo>
                <a:cubicBezTo>
                  <a:pt x="0" y="2032"/>
                  <a:pt x="2032" y="0"/>
                  <a:pt x="4572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34" name="m-p04_funnel-sum-h">
            <a:extLst>
              <a:ext uri="{FF2B5EF4-FFF2-40B4-BE49-F238E27FC236}">
                <a16:creationId xmlns:a16="http://schemas.microsoft.com/office/drawing/2014/main" id="{0CBCCF5F-D4EF-7033-AA8C-D1ECA694E756}"/>
              </a:ext>
            </a:extLst>
          </p:cNvPr>
          <p:cNvSpPr txBox="1"/>
          <p:nvPr/>
        </p:nvSpPr>
        <p:spPr>
          <a:xfrm>
            <a:off x="1958743" y="2025036"/>
            <a:ext cx="144364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整体转化</a:t>
            </a:r>
          </a:p>
        </p:txBody>
      </p:sp>
      <p:sp>
        <p:nvSpPr>
          <p:cNvPr id="535" name="m-p04_funnel-sum-v">
            <a:extLst>
              <a:ext uri="{FF2B5EF4-FFF2-40B4-BE49-F238E27FC236}">
                <a16:creationId xmlns:a16="http://schemas.microsoft.com/office/drawing/2014/main" id="{64E26775-B3F9-F87F-B960-E73680015BB7}"/>
              </a:ext>
            </a:extLst>
          </p:cNvPr>
          <p:cNvSpPr txBox="1"/>
          <p:nvPr/>
        </p:nvSpPr>
        <p:spPr>
          <a:xfrm>
            <a:off x="1954525" y="2083166"/>
            <a:ext cx="237700" cy="10934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90" b="1" i="0" u="none" strike="noStrike" kern="1200" cap="none" spc="1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1.25%</a:t>
            </a:r>
          </a:p>
        </p:txBody>
      </p:sp>
      <p:sp>
        <p:nvSpPr>
          <p:cNvPr id="536" name="m-p04_funnel-sum-p">
            <a:extLst>
              <a:ext uri="{FF2B5EF4-FFF2-40B4-BE49-F238E27FC236}">
                <a16:creationId xmlns:a16="http://schemas.microsoft.com/office/drawing/2014/main" id="{FD26D840-7C7A-9203-87EA-2D99AD662706}"/>
              </a:ext>
            </a:extLst>
          </p:cNvPr>
          <p:cNvSpPr txBox="1"/>
          <p:nvPr/>
        </p:nvSpPr>
        <p:spPr>
          <a:xfrm>
            <a:off x="1959758" y="2181282"/>
            <a:ext cx="224825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触达 → 复购整体转化率</a:t>
            </a:r>
          </a:p>
        </p:txBody>
      </p:sp>
      <p:cxnSp>
        <p:nvCxnSpPr>
          <p:cNvPr id="537" name="m-p04_funnel-sum-div">
            <a:extLst>
              <a:ext uri="{FF2B5EF4-FFF2-40B4-BE49-F238E27FC236}">
                <a16:creationId xmlns:a16="http://schemas.microsoft.com/office/drawing/2014/main" id="{E0F69460-625E-7F6E-4405-184CF339EBDF}"/>
              </a:ext>
            </a:extLst>
          </p:cNvPr>
          <p:cNvCxnSpPr/>
          <p:nvPr/>
        </p:nvCxnSpPr>
        <p:spPr>
          <a:xfrm>
            <a:off x="1962023" y="2246249"/>
            <a:ext cx="312420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8" name="m-p04_funnel-sum-l-1">
            <a:extLst>
              <a:ext uri="{FF2B5EF4-FFF2-40B4-BE49-F238E27FC236}">
                <a16:creationId xmlns:a16="http://schemas.microsoft.com/office/drawing/2014/main" id="{010F6651-8C2A-EB71-CF6B-58226DEECE21}"/>
              </a:ext>
            </a:extLst>
          </p:cNvPr>
          <p:cNvSpPr txBox="1"/>
          <p:nvPr/>
        </p:nvSpPr>
        <p:spPr>
          <a:xfrm>
            <a:off x="1959758" y="2269801"/>
            <a:ext cx="94051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最大流失</a:t>
            </a:r>
          </a:p>
        </p:txBody>
      </p:sp>
      <p:sp>
        <p:nvSpPr>
          <p:cNvPr id="539" name="m-p04_funnel-sum-r-1">
            <a:extLst>
              <a:ext uri="{FF2B5EF4-FFF2-40B4-BE49-F238E27FC236}">
                <a16:creationId xmlns:a16="http://schemas.microsoft.com/office/drawing/2014/main" id="{580DB5DF-7A23-BA5A-A253-AC9C97CA87AF}"/>
              </a:ext>
            </a:extLst>
          </p:cNvPr>
          <p:cNvSpPr txBox="1"/>
          <p:nvPr/>
        </p:nvSpPr>
        <p:spPr>
          <a:xfrm>
            <a:off x="2145570" y="2268997"/>
            <a:ext cx="131216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3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进店 → 留资</a:t>
            </a:r>
          </a:p>
        </p:txBody>
      </p:sp>
      <p:sp>
        <p:nvSpPr>
          <p:cNvPr id="540" name="m-p04_funnel-sum-l-2">
            <a:extLst>
              <a:ext uri="{FF2B5EF4-FFF2-40B4-BE49-F238E27FC236}">
                <a16:creationId xmlns:a16="http://schemas.microsoft.com/office/drawing/2014/main" id="{BC7713C1-B877-7B4A-B421-4F9BAD5F8082}"/>
              </a:ext>
            </a:extLst>
          </p:cNvPr>
          <p:cNvSpPr txBox="1"/>
          <p:nvPr/>
        </p:nvSpPr>
        <p:spPr>
          <a:xfrm>
            <a:off x="1959758" y="2311457"/>
            <a:ext cx="113317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优化优先级</a:t>
            </a:r>
          </a:p>
        </p:txBody>
      </p:sp>
      <p:sp>
        <p:nvSpPr>
          <p:cNvPr id="541" name="m-p04_funnel-sum-r-2">
            <a:extLst>
              <a:ext uri="{FF2B5EF4-FFF2-40B4-BE49-F238E27FC236}">
                <a16:creationId xmlns:a16="http://schemas.microsoft.com/office/drawing/2014/main" id="{EE76F5D0-9D8C-5845-5B18-872C7CFE18BF}"/>
              </a:ext>
            </a:extLst>
          </p:cNvPr>
          <p:cNvSpPr txBox="1"/>
          <p:nvPr/>
        </p:nvSpPr>
        <p:spPr>
          <a:xfrm>
            <a:off x="2159629" y="2310653"/>
            <a:ext cx="117158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3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留资页改版</a:t>
            </a:r>
          </a:p>
        </p:txBody>
      </p:sp>
      <p:cxnSp>
        <p:nvCxnSpPr>
          <p:cNvPr id="542" name="m-p04_funnel-foot-line">
            <a:extLst>
              <a:ext uri="{FF2B5EF4-FFF2-40B4-BE49-F238E27FC236}">
                <a16:creationId xmlns:a16="http://schemas.microsoft.com/office/drawing/2014/main" id="{3BFF71F2-574F-F510-4C2A-C4F6C05997D7}"/>
              </a:ext>
            </a:extLst>
          </p:cNvPr>
          <p:cNvCxnSpPr/>
          <p:nvPr/>
        </p:nvCxnSpPr>
        <p:spPr>
          <a:xfrm>
            <a:off x="56261" y="24935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3" name="m-p04_funnel-foot-l">
            <a:extLst>
              <a:ext uri="{FF2B5EF4-FFF2-40B4-BE49-F238E27FC236}">
                <a16:creationId xmlns:a16="http://schemas.microsoft.com/office/drawing/2014/main" id="{D5405DA0-DB4F-638D-810A-CEAC9B12A522}"/>
              </a:ext>
            </a:extLst>
          </p:cNvPr>
          <p:cNvSpPr txBox="1"/>
          <p:nvPr/>
        </p:nvSpPr>
        <p:spPr>
          <a:xfrm>
            <a:off x="54074" y="2507523"/>
            <a:ext cx="21429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转化漏斗 · 五级旅程</a:t>
            </a:r>
          </a:p>
        </p:txBody>
      </p:sp>
      <p:sp>
        <p:nvSpPr>
          <p:cNvPr id="544" name="m-p04_funnel-foot-r">
            <a:extLst>
              <a:ext uri="{FF2B5EF4-FFF2-40B4-BE49-F238E27FC236}">
                <a16:creationId xmlns:a16="http://schemas.microsoft.com/office/drawing/2014/main" id="{AB909C85-717C-0284-69A1-E6E60CA9074E}"/>
              </a:ext>
            </a:extLst>
          </p:cNvPr>
          <p:cNvSpPr txBox="1"/>
          <p:nvPr/>
        </p:nvSpPr>
        <p:spPr>
          <a:xfrm>
            <a:off x="2058509" y="25075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545" name="mini-card-d11_treemap">
            <a:extLst>
              <a:ext uri="{FF2B5EF4-FFF2-40B4-BE49-F238E27FC236}">
                <a16:creationId xmlns:a16="http://schemas.microsoft.com/office/drawing/2014/main" id="{124870E4-9830-ADE1-3B24-09510A60E19A}"/>
              </a:ext>
            </a:extLst>
          </p:cNvPr>
          <p:cNvSpPr/>
          <p:nvPr/>
        </p:nvSpPr>
        <p:spPr>
          <a:xfrm>
            <a:off x="2552700" y="11684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0" y="0"/>
                </a:moveTo>
                <a:lnTo>
                  <a:pt x="2419160" y="0"/>
                </a:lnTo>
                <a:cubicBezTo>
                  <a:pt x="2463483" y="0"/>
                  <a:pt x="2499360" y="35878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0" y="1405890"/>
                </a:lnTo>
                <a:cubicBezTo>
                  <a:pt x="35877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8"/>
                  <a:pt x="35877" y="0"/>
                  <a:pt x="80200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46" name="m-d11_treemap-title-bar">
            <a:extLst>
              <a:ext uri="{FF2B5EF4-FFF2-40B4-BE49-F238E27FC236}">
                <a16:creationId xmlns:a16="http://schemas.microsoft.com/office/drawing/2014/main" id="{86043678-6BD4-325C-A96C-30F9922EE5FE}"/>
              </a:ext>
            </a:extLst>
          </p:cNvPr>
          <p:cNvSpPr/>
          <p:nvPr/>
        </p:nvSpPr>
        <p:spPr>
          <a:xfrm>
            <a:off x="2672461" y="12673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47" name="m-d11_treemap-title-bar-accent">
            <a:extLst>
              <a:ext uri="{FF2B5EF4-FFF2-40B4-BE49-F238E27FC236}">
                <a16:creationId xmlns:a16="http://schemas.microsoft.com/office/drawing/2014/main" id="{B950F045-BF46-F151-57F8-6B01EB7D919C}"/>
              </a:ext>
            </a:extLst>
          </p:cNvPr>
          <p:cNvSpPr/>
          <p:nvPr/>
        </p:nvSpPr>
        <p:spPr>
          <a:xfrm>
            <a:off x="2672461" y="12673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48" name="m-d11_treemap-title-cn">
            <a:extLst>
              <a:ext uri="{FF2B5EF4-FFF2-40B4-BE49-F238E27FC236}">
                <a16:creationId xmlns:a16="http://schemas.microsoft.com/office/drawing/2014/main" id="{D4711026-9107-C401-3283-C7C800E400C8}"/>
              </a:ext>
            </a:extLst>
          </p:cNvPr>
          <p:cNvSpPr txBox="1"/>
          <p:nvPr/>
        </p:nvSpPr>
        <p:spPr>
          <a:xfrm>
            <a:off x="2704640" y="1249968"/>
            <a:ext cx="426453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营收构成树图</a:t>
            </a:r>
          </a:p>
        </p:txBody>
      </p:sp>
      <p:sp>
        <p:nvSpPr>
          <p:cNvPr id="549" name="m-d11_treemap-title-en">
            <a:extLst>
              <a:ext uri="{FF2B5EF4-FFF2-40B4-BE49-F238E27FC236}">
                <a16:creationId xmlns:a16="http://schemas.microsoft.com/office/drawing/2014/main" id="{35CD6D12-2690-83EF-9266-66F20AACCFEC}"/>
              </a:ext>
            </a:extLst>
          </p:cNvPr>
          <p:cNvSpPr txBox="1"/>
          <p:nvPr/>
        </p:nvSpPr>
        <p:spPr>
          <a:xfrm>
            <a:off x="2711930" y="1337250"/>
            <a:ext cx="14707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TREEMAP</a:t>
            </a:r>
          </a:p>
        </p:txBody>
      </p:sp>
      <p:sp>
        <p:nvSpPr>
          <p:cNvPr id="550" name="m-d11_treemap-title-sub">
            <a:extLst>
              <a:ext uri="{FF2B5EF4-FFF2-40B4-BE49-F238E27FC236}">
                <a16:creationId xmlns:a16="http://schemas.microsoft.com/office/drawing/2014/main" id="{0F723978-714E-723C-713E-B22FD46512FD}"/>
              </a:ext>
            </a:extLst>
          </p:cNvPr>
          <p:cNvSpPr txBox="1"/>
          <p:nvPr/>
        </p:nvSpPr>
        <p:spPr>
          <a:xfrm>
            <a:off x="4282387" y="1306392"/>
            <a:ext cx="652567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面积代表营收规模，颜色深浅代表毛利率高低（单位：亿元）</a:t>
            </a:r>
          </a:p>
        </p:txBody>
      </p:sp>
      <p:sp>
        <p:nvSpPr>
          <p:cNvPr id="551" name="m-d11_treemap-blk-1">
            <a:extLst>
              <a:ext uri="{FF2B5EF4-FFF2-40B4-BE49-F238E27FC236}">
                <a16:creationId xmlns:a16="http://schemas.microsoft.com/office/drawing/2014/main" id="{BFBB501D-ADD9-381B-B457-5AE457FECAE2}"/>
              </a:ext>
            </a:extLst>
          </p:cNvPr>
          <p:cNvSpPr/>
          <p:nvPr/>
        </p:nvSpPr>
        <p:spPr>
          <a:xfrm>
            <a:off x="2753170" y="1522476"/>
            <a:ext cx="713930" cy="822706"/>
          </a:xfrm>
          <a:custGeom>
            <a:avLst/>
            <a:gdLst/>
            <a:ahLst/>
            <a:cxnLst/>
            <a:rect l="0" t="0" r="r" b="b"/>
            <a:pathLst>
              <a:path w="713930" h="822706">
                <a:moveTo>
                  <a:pt x="20828" y="0"/>
                </a:moveTo>
                <a:lnTo>
                  <a:pt x="693103" y="0"/>
                </a:lnTo>
                <a:cubicBezTo>
                  <a:pt x="704596" y="0"/>
                  <a:pt x="713930" y="9334"/>
                  <a:pt x="713930" y="20828"/>
                </a:cubicBezTo>
                <a:lnTo>
                  <a:pt x="713930" y="801878"/>
                </a:lnTo>
                <a:cubicBezTo>
                  <a:pt x="713930" y="813372"/>
                  <a:pt x="704596" y="822706"/>
                  <a:pt x="693103" y="822706"/>
                </a:cubicBezTo>
                <a:lnTo>
                  <a:pt x="20828" y="822706"/>
                </a:lnTo>
                <a:cubicBezTo>
                  <a:pt x="9335" y="822706"/>
                  <a:pt x="0" y="813372"/>
                  <a:pt x="0" y="801878"/>
                </a:cubicBezTo>
                <a:lnTo>
                  <a:pt x="0" y="20828"/>
                </a:lnTo>
                <a:cubicBezTo>
                  <a:pt x="0" y="9334"/>
                  <a:pt x="9335" y="0"/>
                  <a:pt x="20828" y="0"/>
                </a:cubicBezTo>
                <a:close/>
              </a:path>
            </a:pathLst>
          </a:custGeom>
          <a:gradFill rotWithShape="1">
            <a:gsLst>
              <a:gs pos="0">
                <a:srgbClr val="7EA3CE"/>
              </a:gs>
              <a:gs pos="100000">
                <a:srgbClr val="6691C5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52" name="m-d11_treemap-icon-factory">
            <a:extLst>
              <a:ext uri="{FF2B5EF4-FFF2-40B4-BE49-F238E27FC236}">
                <a16:creationId xmlns:a16="http://schemas.microsoft.com/office/drawing/2014/main" id="{1BCDA751-01BE-42BA-7EED-A10FA7A56F04}"/>
              </a:ext>
            </a:extLst>
          </p:cNvPr>
          <p:cNvSpPr/>
          <p:nvPr/>
        </p:nvSpPr>
        <p:spPr>
          <a:xfrm>
            <a:off x="2799778" y="1590992"/>
            <a:ext cx="31750" cy="21399"/>
          </a:xfrm>
          <a:custGeom>
            <a:avLst/>
            <a:gdLst/>
            <a:ahLst/>
            <a:cxnLst/>
            <a:rect l="0" t="0" r="r" b="b"/>
            <a:pathLst>
              <a:path w="31750" h="21399">
                <a:moveTo>
                  <a:pt x="0" y="21399"/>
                </a:moveTo>
                <a:lnTo>
                  <a:pt x="0" y="5144"/>
                </a:lnTo>
                <a:lnTo>
                  <a:pt x="9207" y="10668"/>
                </a:lnTo>
                <a:lnTo>
                  <a:pt x="9207" y="5144"/>
                </a:lnTo>
                <a:lnTo>
                  <a:pt x="18478" y="10668"/>
                </a:lnTo>
                <a:lnTo>
                  <a:pt x="18478" y="0"/>
                </a:lnTo>
                <a:lnTo>
                  <a:pt x="27686" y="5524"/>
                </a:lnTo>
                <a:lnTo>
                  <a:pt x="27686" y="19494"/>
                </a:lnTo>
                <a:close/>
                <a:moveTo>
                  <a:pt x="0" y="21399"/>
                </a:moveTo>
                <a:lnTo>
                  <a:pt x="31750" y="21399"/>
                </a:lnTo>
              </a:path>
            </a:pathLst>
          </a:custGeom>
          <a:noFill/>
          <a:ln w="2734" cap="rnd">
            <a:solidFill>
              <a:srgbClr val="FFFFFF">
                <a:alpha val="9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53" name="m-d11_treemap-bn-1">
            <a:extLst>
              <a:ext uri="{FF2B5EF4-FFF2-40B4-BE49-F238E27FC236}">
                <a16:creationId xmlns:a16="http://schemas.microsoft.com/office/drawing/2014/main" id="{149461F1-8CAD-D608-8D05-7CC031A5B399}"/>
              </a:ext>
            </a:extLst>
          </p:cNvPr>
          <p:cNvSpPr txBox="1"/>
          <p:nvPr/>
        </p:nvSpPr>
        <p:spPr>
          <a:xfrm>
            <a:off x="2795034" y="1658483"/>
            <a:ext cx="219735" cy="7289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30" b="1" i="0" u="none" strike="noStrike" kern="1200" cap="none" spc="31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智能装备</a:t>
            </a:r>
          </a:p>
        </p:txBody>
      </p:sp>
      <p:sp>
        <p:nvSpPr>
          <p:cNvPr id="554" name="m-d11_treemap-bv-1">
            <a:extLst>
              <a:ext uri="{FF2B5EF4-FFF2-40B4-BE49-F238E27FC236}">
                <a16:creationId xmlns:a16="http://schemas.microsoft.com/office/drawing/2014/main" id="{E8F88626-61E4-8C8E-09C0-67903341A6EA}"/>
              </a:ext>
            </a:extLst>
          </p:cNvPr>
          <p:cNvSpPr txBox="1"/>
          <p:nvPr/>
        </p:nvSpPr>
        <p:spPr>
          <a:xfrm>
            <a:off x="2791910" y="1701831"/>
            <a:ext cx="178548" cy="11845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30" b="1" i="0" u="none" strike="noStrike" kern="1200" cap="none" spc="1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8.2</a:t>
            </a:r>
          </a:p>
        </p:txBody>
      </p:sp>
      <p:sp>
        <p:nvSpPr>
          <p:cNvPr id="555" name="m-d11_treemap-bu-1">
            <a:extLst>
              <a:ext uri="{FF2B5EF4-FFF2-40B4-BE49-F238E27FC236}">
                <a16:creationId xmlns:a16="http://schemas.microsoft.com/office/drawing/2014/main" id="{2C9FD21A-52AB-4593-B8BA-AF3DBC407AD2}"/>
              </a:ext>
            </a:extLst>
          </p:cNvPr>
          <p:cNvSpPr txBox="1"/>
          <p:nvPr/>
        </p:nvSpPr>
        <p:spPr>
          <a:xfrm>
            <a:off x="2924792" y="1756492"/>
            <a:ext cx="6795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0" normalizeH="0" baseline="0" noProof="0">
                <a:ln>
                  <a:noFill/>
                </a:ln>
                <a:solidFill>
                  <a:srgbClr val="DCE8F7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亿元</a:t>
            </a:r>
          </a:p>
        </p:txBody>
      </p:sp>
      <p:sp>
        <p:nvSpPr>
          <p:cNvPr id="556" name="m-d11_treemap-bc-1">
            <a:extLst>
              <a:ext uri="{FF2B5EF4-FFF2-40B4-BE49-F238E27FC236}">
                <a16:creationId xmlns:a16="http://schemas.microsoft.com/office/drawing/2014/main" id="{3C63893E-5FAF-A06B-CEA4-B7425D4486D9}"/>
              </a:ext>
            </a:extLst>
          </p:cNvPr>
          <p:cNvSpPr/>
          <p:nvPr/>
        </p:nvSpPr>
        <p:spPr>
          <a:xfrm>
            <a:off x="2800032" y="1821879"/>
            <a:ext cx="229108" cy="44259"/>
          </a:xfrm>
          <a:custGeom>
            <a:avLst/>
            <a:gdLst/>
            <a:ahLst/>
            <a:cxnLst/>
            <a:rect l="0" t="0" r="r" b="b"/>
            <a:pathLst>
              <a:path w="229108" h="44259">
                <a:moveTo>
                  <a:pt x="22162" y="0"/>
                </a:moveTo>
                <a:lnTo>
                  <a:pt x="207010" y="0"/>
                </a:lnTo>
                <a:cubicBezTo>
                  <a:pt x="219202" y="0"/>
                  <a:pt x="229108" y="9906"/>
                  <a:pt x="229108" y="22098"/>
                </a:cubicBezTo>
                <a:lnTo>
                  <a:pt x="229108" y="22098"/>
                </a:lnTo>
                <a:cubicBezTo>
                  <a:pt x="229108" y="34353"/>
                  <a:pt x="219202" y="44259"/>
                  <a:pt x="207010" y="44259"/>
                </a:cubicBezTo>
                <a:lnTo>
                  <a:pt x="22162" y="44259"/>
                </a:lnTo>
                <a:cubicBezTo>
                  <a:pt x="9906" y="44259"/>
                  <a:pt x="0" y="34353"/>
                  <a:pt x="0" y="22098"/>
                </a:cubicBezTo>
                <a:lnTo>
                  <a:pt x="0" y="22098"/>
                </a:lnTo>
                <a:cubicBezTo>
                  <a:pt x="0" y="9906"/>
                  <a:pt x="9906" y="0"/>
                  <a:pt x="22162" y="0"/>
                </a:cubicBezTo>
                <a:close/>
              </a:path>
            </a:pathLst>
          </a:cu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57" name="m-d11_treemap-bp-1">
            <a:extLst>
              <a:ext uri="{FF2B5EF4-FFF2-40B4-BE49-F238E27FC236}">
                <a16:creationId xmlns:a16="http://schemas.microsoft.com/office/drawing/2014/main" id="{AD9B54BD-3093-5EE5-C678-4DC5178D72EC}"/>
              </a:ext>
            </a:extLst>
          </p:cNvPr>
          <p:cNvSpPr txBox="1"/>
          <p:nvPr/>
        </p:nvSpPr>
        <p:spPr>
          <a:xfrm>
            <a:off x="2850866" y="1826402"/>
            <a:ext cx="127441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占比 48.8%</a:t>
            </a:r>
          </a:p>
        </p:txBody>
      </p:sp>
      <p:sp>
        <p:nvSpPr>
          <p:cNvPr id="558" name="m-d11_treemap-bg-1">
            <a:extLst>
              <a:ext uri="{FF2B5EF4-FFF2-40B4-BE49-F238E27FC236}">
                <a16:creationId xmlns:a16="http://schemas.microsoft.com/office/drawing/2014/main" id="{8B9C2BD9-F664-BE59-ABE8-31F3BC6643B3}"/>
              </a:ext>
            </a:extLst>
          </p:cNvPr>
          <p:cNvSpPr txBox="1"/>
          <p:nvPr/>
        </p:nvSpPr>
        <p:spPr>
          <a:xfrm>
            <a:off x="2797533" y="2264786"/>
            <a:ext cx="133351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6" normalizeH="0" baseline="0" noProof="0">
                <a:ln>
                  <a:noFill/>
                </a:ln>
                <a:solidFill>
                  <a:srgbClr val="FFFFFF">
                    <a:alpha val="86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毛利率 34%</a:t>
            </a:r>
          </a:p>
        </p:txBody>
      </p:sp>
      <p:sp>
        <p:nvSpPr>
          <p:cNvPr id="559" name="m-d11_treemap-blk-2">
            <a:extLst>
              <a:ext uri="{FF2B5EF4-FFF2-40B4-BE49-F238E27FC236}">
                <a16:creationId xmlns:a16="http://schemas.microsoft.com/office/drawing/2014/main" id="{2EE1D1EE-863B-1BBD-2000-D502BAC1589E}"/>
              </a:ext>
            </a:extLst>
          </p:cNvPr>
          <p:cNvSpPr/>
          <p:nvPr/>
        </p:nvSpPr>
        <p:spPr>
          <a:xfrm>
            <a:off x="3477514" y="1522476"/>
            <a:ext cx="749236" cy="309245"/>
          </a:xfrm>
          <a:custGeom>
            <a:avLst/>
            <a:gdLst/>
            <a:ahLst/>
            <a:cxnLst/>
            <a:rect l="0" t="0" r="r" b="b"/>
            <a:pathLst>
              <a:path w="749236" h="309245">
                <a:moveTo>
                  <a:pt x="20828" y="0"/>
                </a:moveTo>
                <a:lnTo>
                  <a:pt x="728409" y="0"/>
                </a:lnTo>
                <a:cubicBezTo>
                  <a:pt x="739902" y="0"/>
                  <a:pt x="749236" y="9334"/>
                  <a:pt x="749236" y="20828"/>
                </a:cubicBezTo>
                <a:lnTo>
                  <a:pt x="749236" y="288417"/>
                </a:lnTo>
                <a:cubicBezTo>
                  <a:pt x="749236" y="299974"/>
                  <a:pt x="739902" y="309245"/>
                  <a:pt x="728409" y="309245"/>
                </a:cubicBezTo>
                <a:lnTo>
                  <a:pt x="20828" y="309245"/>
                </a:lnTo>
                <a:cubicBezTo>
                  <a:pt x="9335" y="309245"/>
                  <a:pt x="0" y="299974"/>
                  <a:pt x="0" y="288417"/>
                </a:cubicBezTo>
                <a:lnTo>
                  <a:pt x="0" y="20828"/>
                </a:lnTo>
                <a:cubicBezTo>
                  <a:pt x="0" y="9334"/>
                  <a:pt x="9335" y="0"/>
                  <a:pt x="20828" y="0"/>
                </a:cubicBezTo>
                <a:close/>
              </a:path>
            </a:pathLst>
          </a:custGeom>
          <a:gradFill rotWithShape="1">
            <a:gsLst>
              <a:gs pos="0">
                <a:srgbClr val="3A64A5"/>
              </a:gs>
              <a:gs pos="100000">
                <a:srgbClr val="144694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60" name="m-d11_treemap-icon-cloud">
            <a:extLst>
              <a:ext uri="{FF2B5EF4-FFF2-40B4-BE49-F238E27FC236}">
                <a16:creationId xmlns:a16="http://schemas.microsoft.com/office/drawing/2014/main" id="{F9357E52-BA42-A7C2-EDF8-C476060E57A8}"/>
              </a:ext>
            </a:extLst>
          </p:cNvPr>
          <p:cNvSpPr/>
          <p:nvPr/>
        </p:nvSpPr>
        <p:spPr>
          <a:xfrm>
            <a:off x="3508756" y="1575519"/>
            <a:ext cx="26861" cy="18463"/>
          </a:xfrm>
          <a:custGeom>
            <a:avLst/>
            <a:gdLst/>
            <a:ahLst/>
            <a:cxnLst/>
            <a:rect l="0" t="0" r="r" b="b"/>
            <a:pathLst>
              <a:path w="26861" h="18463">
                <a:moveTo>
                  <a:pt x="6223" y="18458"/>
                </a:moveTo>
                <a:cubicBezTo>
                  <a:pt x="2985" y="18649"/>
                  <a:pt x="191" y="16109"/>
                  <a:pt x="0" y="12807"/>
                </a:cubicBezTo>
                <a:cubicBezTo>
                  <a:pt x="-127" y="9568"/>
                  <a:pt x="2413" y="6774"/>
                  <a:pt x="5652" y="6647"/>
                </a:cubicBezTo>
                <a:cubicBezTo>
                  <a:pt x="6160" y="3155"/>
                  <a:pt x="8890" y="488"/>
                  <a:pt x="12319" y="43"/>
                </a:cubicBezTo>
                <a:cubicBezTo>
                  <a:pt x="15812" y="-338"/>
                  <a:pt x="19114" y="1694"/>
                  <a:pt x="20320" y="4933"/>
                </a:cubicBezTo>
                <a:cubicBezTo>
                  <a:pt x="24067" y="5060"/>
                  <a:pt x="26988" y="8235"/>
                  <a:pt x="26861" y="11981"/>
                </a:cubicBezTo>
                <a:cubicBezTo>
                  <a:pt x="26670" y="15728"/>
                  <a:pt x="23495" y="18649"/>
                  <a:pt x="19749" y="18458"/>
                </a:cubicBezTo>
                <a:close/>
              </a:path>
            </a:pathLst>
          </a:custGeom>
          <a:noFill/>
          <a:ln w="2604" cap="rnd">
            <a:solidFill>
              <a:srgbClr val="FFFFFF">
                <a:alpha val="9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61" name="m-d11_treemap-bn-2">
            <a:extLst>
              <a:ext uri="{FF2B5EF4-FFF2-40B4-BE49-F238E27FC236}">
                <a16:creationId xmlns:a16="http://schemas.microsoft.com/office/drawing/2014/main" id="{1DFDB96E-5724-3E41-40F0-95FD294ECF05}"/>
              </a:ext>
            </a:extLst>
          </p:cNvPr>
          <p:cNvSpPr txBox="1"/>
          <p:nvPr/>
        </p:nvSpPr>
        <p:spPr>
          <a:xfrm>
            <a:off x="3507753" y="1615675"/>
            <a:ext cx="157121" cy="523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40" b="1" i="0" u="none" strike="noStrike" kern="1200" cap="none" spc="2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软件平台</a:t>
            </a:r>
          </a:p>
        </p:txBody>
      </p:sp>
      <p:sp>
        <p:nvSpPr>
          <p:cNvPr id="562" name="m-d11_treemap-bv-2">
            <a:extLst>
              <a:ext uri="{FF2B5EF4-FFF2-40B4-BE49-F238E27FC236}">
                <a16:creationId xmlns:a16="http://schemas.microsoft.com/office/drawing/2014/main" id="{AD1F9328-40AF-1D95-842D-A677732FFC18}"/>
              </a:ext>
            </a:extLst>
          </p:cNvPr>
          <p:cNvSpPr txBox="1"/>
          <p:nvPr/>
        </p:nvSpPr>
        <p:spPr>
          <a:xfrm>
            <a:off x="3507128" y="1669125"/>
            <a:ext cx="149415" cy="6150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80" b="1" i="0" u="none" strike="noStrike" kern="1200" cap="none" spc="6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3.3 亿</a:t>
            </a:r>
          </a:p>
        </p:txBody>
      </p:sp>
      <p:sp>
        <p:nvSpPr>
          <p:cNvPr id="563" name="m-d11_treemap-bp-2">
            <a:extLst>
              <a:ext uri="{FF2B5EF4-FFF2-40B4-BE49-F238E27FC236}">
                <a16:creationId xmlns:a16="http://schemas.microsoft.com/office/drawing/2014/main" id="{5489C412-60F7-84EB-445C-07B2004A98C1}"/>
              </a:ext>
            </a:extLst>
          </p:cNvPr>
          <p:cNvSpPr txBox="1"/>
          <p:nvPr/>
        </p:nvSpPr>
        <p:spPr>
          <a:xfrm>
            <a:off x="3509159" y="1729077"/>
            <a:ext cx="18260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FFFFFF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19.6% · 毛利 62%</a:t>
            </a:r>
          </a:p>
        </p:txBody>
      </p:sp>
      <p:sp>
        <p:nvSpPr>
          <p:cNvPr id="564" name="m-d11_treemap-blk-3">
            <a:extLst>
              <a:ext uri="{FF2B5EF4-FFF2-40B4-BE49-F238E27FC236}">
                <a16:creationId xmlns:a16="http://schemas.microsoft.com/office/drawing/2014/main" id="{6A0CA4D0-CFA0-C199-195C-88CAD8C5D0E8}"/>
              </a:ext>
            </a:extLst>
          </p:cNvPr>
          <p:cNvSpPr/>
          <p:nvPr/>
        </p:nvSpPr>
        <p:spPr>
          <a:xfrm>
            <a:off x="3477514" y="1842135"/>
            <a:ext cx="304927" cy="503047"/>
          </a:xfrm>
          <a:custGeom>
            <a:avLst/>
            <a:gdLst/>
            <a:ahLst/>
            <a:cxnLst/>
            <a:rect l="0" t="0" r="r" b="b"/>
            <a:pathLst>
              <a:path w="304927" h="503047">
                <a:moveTo>
                  <a:pt x="20828" y="0"/>
                </a:moveTo>
                <a:lnTo>
                  <a:pt x="284099" y="0"/>
                </a:lnTo>
                <a:cubicBezTo>
                  <a:pt x="295593" y="0"/>
                  <a:pt x="304927" y="9334"/>
                  <a:pt x="304927" y="20828"/>
                </a:cubicBezTo>
                <a:lnTo>
                  <a:pt x="304927" y="482219"/>
                </a:lnTo>
                <a:cubicBezTo>
                  <a:pt x="304927" y="493712"/>
                  <a:pt x="295593" y="503047"/>
                  <a:pt x="284099" y="503047"/>
                </a:cubicBezTo>
                <a:lnTo>
                  <a:pt x="20828" y="503047"/>
                </a:lnTo>
                <a:cubicBezTo>
                  <a:pt x="9335" y="503047"/>
                  <a:pt x="0" y="493712"/>
                  <a:pt x="0" y="482219"/>
                </a:cubicBezTo>
                <a:lnTo>
                  <a:pt x="0" y="20828"/>
                </a:lnTo>
                <a:cubicBezTo>
                  <a:pt x="0" y="9334"/>
                  <a:pt x="9335" y="0"/>
                  <a:pt x="20828" y="0"/>
                </a:cubicBezTo>
                <a:close/>
              </a:path>
            </a:pathLst>
          </a:custGeom>
          <a:gradFill rotWithShape="1">
            <a:gsLst>
              <a:gs pos="0">
                <a:srgbClr val="5C83BA"/>
              </a:gs>
              <a:gs pos="100000">
                <a:srgbClr val="3D6BAD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65" name="m-d11_treemap-icon-hand">
            <a:extLst>
              <a:ext uri="{FF2B5EF4-FFF2-40B4-BE49-F238E27FC236}">
                <a16:creationId xmlns:a16="http://schemas.microsoft.com/office/drawing/2014/main" id="{74112C5F-E962-91D1-2509-F89AA8CDF4EE}"/>
              </a:ext>
            </a:extLst>
          </p:cNvPr>
          <p:cNvSpPr/>
          <p:nvPr/>
        </p:nvSpPr>
        <p:spPr>
          <a:xfrm>
            <a:off x="3511097" y="1892490"/>
            <a:ext cx="19122" cy="24257"/>
          </a:xfrm>
          <a:custGeom>
            <a:avLst/>
            <a:gdLst/>
            <a:ahLst/>
            <a:cxnLst/>
            <a:rect l="0" t="0" r="r" b="b"/>
            <a:pathLst>
              <a:path w="19122" h="24257">
                <a:moveTo>
                  <a:pt x="5597" y="13018"/>
                </a:moveTo>
                <a:lnTo>
                  <a:pt x="5597" y="4001"/>
                </a:lnTo>
                <a:cubicBezTo>
                  <a:pt x="5597" y="2731"/>
                  <a:pt x="6613" y="1715"/>
                  <a:pt x="7819" y="1715"/>
                </a:cubicBezTo>
                <a:cubicBezTo>
                  <a:pt x="9089" y="1715"/>
                  <a:pt x="10105" y="2731"/>
                  <a:pt x="10105" y="4001"/>
                </a:cubicBezTo>
                <a:lnTo>
                  <a:pt x="10105" y="11049"/>
                </a:lnTo>
                <a:moveTo>
                  <a:pt x="10105" y="11049"/>
                </a:moveTo>
                <a:lnTo>
                  <a:pt x="10105" y="2286"/>
                </a:lnTo>
                <a:cubicBezTo>
                  <a:pt x="10105" y="1016"/>
                  <a:pt x="11121" y="0"/>
                  <a:pt x="12328" y="0"/>
                </a:cubicBezTo>
                <a:cubicBezTo>
                  <a:pt x="13598" y="0"/>
                  <a:pt x="14614" y="1016"/>
                  <a:pt x="14614" y="2286"/>
                </a:cubicBezTo>
                <a:lnTo>
                  <a:pt x="14614" y="11049"/>
                </a:lnTo>
                <a:moveTo>
                  <a:pt x="14614" y="11621"/>
                </a:moveTo>
                <a:lnTo>
                  <a:pt x="14614" y="5652"/>
                </a:lnTo>
                <a:cubicBezTo>
                  <a:pt x="14614" y="4445"/>
                  <a:pt x="15630" y="3429"/>
                  <a:pt x="16900" y="3429"/>
                </a:cubicBezTo>
                <a:cubicBezTo>
                  <a:pt x="18106" y="3429"/>
                  <a:pt x="19122" y="4445"/>
                  <a:pt x="19122" y="5652"/>
                </a:cubicBezTo>
                <a:lnTo>
                  <a:pt x="19122" y="16129"/>
                </a:lnTo>
                <a:cubicBezTo>
                  <a:pt x="19122" y="20638"/>
                  <a:pt x="15757" y="24257"/>
                  <a:pt x="11248" y="24257"/>
                </a:cubicBezTo>
                <a:cubicBezTo>
                  <a:pt x="7565" y="24257"/>
                  <a:pt x="5597" y="22606"/>
                  <a:pt x="3628" y="19749"/>
                </a:cubicBezTo>
                <a:lnTo>
                  <a:pt x="199" y="14669"/>
                </a:lnTo>
                <a:cubicBezTo>
                  <a:pt x="-245" y="13716"/>
                  <a:pt x="72" y="12510"/>
                  <a:pt x="961" y="11875"/>
                </a:cubicBezTo>
                <a:cubicBezTo>
                  <a:pt x="1914" y="11240"/>
                  <a:pt x="3120" y="11367"/>
                  <a:pt x="3882" y="12129"/>
                </a:cubicBezTo>
                <a:close/>
              </a:path>
            </a:pathLst>
          </a:custGeom>
          <a:noFill/>
          <a:ln w="2604" cap="rnd">
            <a:solidFill>
              <a:srgbClr val="FFFFFF">
                <a:alpha val="9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66" name="m-d11_treemap-bn-3">
            <a:extLst>
              <a:ext uri="{FF2B5EF4-FFF2-40B4-BE49-F238E27FC236}">
                <a16:creationId xmlns:a16="http://schemas.microsoft.com/office/drawing/2014/main" id="{A3702F6E-9556-44A4-7C2C-1D72A9348D00}"/>
              </a:ext>
            </a:extLst>
          </p:cNvPr>
          <p:cNvSpPr txBox="1"/>
          <p:nvPr/>
        </p:nvSpPr>
        <p:spPr>
          <a:xfrm>
            <a:off x="3507753" y="1935360"/>
            <a:ext cx="157121" cy="523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40" b="1" i="0" u="none" strike="noStrike" kern="1200" cap="none" spc="2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运维服务</a:t>
            </a:r>
          </a:p>
        </p:txBody>
      </p:sp>
      <p:sp>
        <p:nvSpPr>
          <p:cNvPr id="567" name="m-d11_treemap-bv-3">
            <a:extLst>
              <a:ext uri="{FF2B5EF4-FFF2-40B4-BE49-F238E27FC236}">
                <a16:creationId xmlns:a16="http://schemas.microsoft.com/office/drawing/2014/main" id="{A81A4CBE-EF5D-4102-F7ED-DA04CFE72975}"/>
              </a:ext>
            </a:extLst>
          </p:cNvPr>
          <p:cNvSpPr txBox="1"/>
          <p:nvPr/>
        </p:nvSpPr>
        <p:spPr>
          <a:xfrm>
            <a:off x="3507128" y="1988810"/>
            <a:ext cx="149415" cy="6150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80" b="1" i="0" u="none" strike="noStrike" kern="1200" cap="none" spc="6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2.2 亿</a:t>
            </a:r>
          </a:p>
        </p:txBody>
      </p:sp>
      <p:sp>
        <p:nvSpPr>
          <p:cNvPr id="568" name="m-d11_treemap-bp-3">
            <a:extLst>
              <a:ext uri="{FF2B5EF4-FFF2-40B4-BE49-F238E27FC236}">
                <a16:creationId xmlns:a16="http://schemas.microsoft.com/office/drawing/2014/main" id="{3C3F3ACF-B3D3-DBFD-5285-CFC5EF28B3A2}"/>
              </a:ext>
            </a:extLst>
          </p:cNvPr>
          <p:cNvSpPr txBox="1"/>
          <p:nvPr/>
        </p:nvSpPr>
        <p:spPr>
          <a:xfrm>
            <a:off x="3509159" y="2048762"/>
            <a:ext cx="18260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FFFFFF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13.1% · 毛利 48%</a:t>
            </a:r>
          </a:p>
        </p:txBody>
      </p:sp>
      <p:sp>
        <p:nvSpPr>
          <p:cNvPr id="569" name="m-d11_treemap-blk-4">
            <a:extLst>
              <a:ext uri="{FF2B5EF4-FFF2-40B4-BE49-F238E27FC236}">
                <a16:creationId xmlns:a16="http://schemas.microsoft.com/office/drawing/2014/main" id="{46F478E4-BDC5-8640-4DE2-35D8CEEC005C}"/>
              </a:ext>
            </a:extLst>
          </p:cNvPr>
          <p:cNvSpPr/>
          <p:nvPr/>
        </p:nvSpPr>
        <p:spPr>
          <a:xfrm>
            <a:off x="3792855" y="1842135"/>
            <a:ext cx="433896" cy="204914"/>
          </a:xfrm>
          <a:custGeom>
            <a:avLst/>
            <a:gdLst/>
            <a:ahLst/>
            <a:cxnLst/>
            <a:rect l="0" t="0" r="r" b="b"/>
            <a:pathLst>
              <a:path w="433896" h="204914">
                <a:moveTo>
                  <a:pt x="20828" y="0"/>
                </a:moveTo>
                <a:lnTo>
                  <a:pt x="413068" y="0"/>
                </a:lnTo>
                <a:cubicBezTo>
                  <a:pt x="424561" y="0"/>
                  <a:pt x="433896" y="9334"/>
                  <a:pt x="433896" y="20828"/>
                </a:cubicBezTo>
                <a:lnTo>
                  <a:pt x="433896" y="184086"/>
                </a:lnTo>
                <a:cubicBezTo>
                  <a:pt x="433896" y="195580"/>
                  <a:pt x="424561" y="204914"/>
                  <a:pt x="413068" y="204914"/>
                </a:cubicBezTo>
                <a:lnTo>
                  <a:pt x="20828" y="204914"/>
                </a:lnTo>
                <a:cubicBezTo>
                  <a:pt x="9335" y="204914"/>
                  <a:pt x="0" y="195580"/>
                  <a:pt x="0" y="184086"/>
                </a:cubicBezTo>
                <a:lnTo>
                  <a:pt x="0" y="20828"/>
                </a:lnTo>
                <a:cubicBezTo>
                  <a:pt x="0" y="9334"/>
                  <a:pt x="9335" y="0"/>
                  <a:pt x="20828" y="0"/>
                </a:cubicBezTo>
                <a:close/>
              </a:path>
            </a:pathLst>
          </a:custGeom>
          <a:gradFill rotWithShape="1">
            <a:gsLst>
              <a:gs pos="0">
                <a:srgbClr val="6D93C4"/>
              </a:gs>
              <a:gs pos="100000">
                <a:srgbClr val="517EB9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70" name="m-d11_treemap-bn-4">
            <a:extLst>
              <a:ext uri="{FF2B5EF4-FFF2-40B4-BE49-F238E27FC236}">
                <a16:creationId xmlns:a16="http://schemas.microsoft.com/office/drawing/2014/main" id="{F6DE2D05-CDBD-2ADA-1D06-8B37A28FED30}"/>
              </a:ext>
            </a:extLst>
          </p:cNvPr>
          <p:cNvSpPr txBox="1"/>
          <p:nvPr/>
        </p:nvSpPr>
        <p:spPr>
          <a:xfrm>
            <a:off x="3815900" y="1863686"/>
            <a:ext cx="153737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2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供应链金融</a:t>
            </a:r>
          </a:p>
        </p:txBody>
      </p:sp>
      <p:sp>
        <p:nvSpPr>
          <p:cNvPr id="571" name="m-d11_treemap-bv-4">
            <a:extLst>
              <a:ext uri="{FF2B5EF4-FFF2-40B4-BE49-F238E27FC236}">
                <a16:creationId xmlns:a16="http://schemas.microsoft.com/office/drawing/2014/main" id="{FE61CE54-2387-7CE8-BF38-4CEA616F9A77}"/>
              </a:ext>
            </a:extLst>
          </p:cNvPr>
          <p:cNvSpPr txBox="1"/>
          <p:nvPr/>
        </p:nvSpPr>
        <p:spPr>
          <a:xfrm>
            <a:off x="3816681" y="1910777"/>
            <a:ext cx="15313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1.3 亿 · 7.7%</a:t>
            </a:r>
          </a:p>
        </p:txBody>
      </p:sp>
      <p:sp>
        <p:nvSpPr>
          <p:cNvPr id="572" name="m-d11_treemap-blk-5">
            <a:extLst>
              <a:ext uri="{FF2B5EF4-FFF2-40B4-BE49-F238E27FC236}">
                <a16:creationId xmlns:a16="http://schemas.microsoft.com/office/drawing/2014/main" id="{837B5D2F-4263-6DF2-E28A-08727ABDCC47}"/>
              </a:ext>
            </a:extLst>
          </p:cNvPr>
          <p:cNvSpPr/>
          <p:nvPr/>
        </p:nvSpPr>
        <p:spPr>
          <a:xfrm>
            <a:off x="3792855" y="2057464"/>
            <a:ext cx="187071" cy="287718"/>
          </a:xfrm>
          <a:custGeom>
            <a:avLst/>
            <a:gdLst/>
            <a:ahLst/>
            <a:cxnLst/>
            <a:rect l="0" t="0" r="r" b="b"/>
            <a:pathLst>
              <a:path w="187071" h="287718">
                <a:moveTo>
                  <a:pt x="20828" y="0"/>
                </a:moveTo>
                <a:lnTo>
                  <a:pt x="166243" y="0"/>
                </a:lnTo>
                <a:cubicBezTo>
                  <a:pt x="177737" y="0"/>
                  <a:pt x="187071" y="9335"/>
                  <a:pt x="187071" y="20828"/>
                </a:cubicBezTo>
                <a:lnTo>
                  <a:pt x="187071" y="266891"/>
                </a:lnTo>
                <a:cubicBezTo>
                  <a:pt x="187071" y="278384"/>
                  <a:pt x="177737" y="287718"/>
                  <a:pt x="166243" y="287718"/>
                </a:cubicBezTo>
                <a:lnTo>
                  <a:pt x="20828" y="287718"/>
                </a:lnTo>
                <a:cubicBezTo>
                  <a:pt x="9335" y="287718"/>
                  <a:pt x="0" y="278384"/>
                  <a:pt x="0" y="266891"/>
                </a:cubicBezTo>
                <a:lnTo>
                  <a:pt x="0" y="20828"/>
                </a:lnTo>
                <a:cubicBezTo>
                  <a:pt x="0" y="9335"/>
                  <a:pt x="9335" y="0"/>
                  <a:pt x="20828" y="0"/>
                </a:cubicBezTo>
                <a:close/>
              </a:path>
            </a:pathLst>
          </a:custGeom>
          <a:gradFill rotWithShape="1">
            <a:gsLst>
              <a:gs pos="0">
                <a:srgbClr val="4A74B0"/>
              </a:gs>
              <a:gs pos="100000">
                <a:srgbClr val="2859A1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73" name="m-d11_treemap-bn-5">
            <a:extLst>
              <a:ext uri="{FF2B5EF4-FFF2-40B4-BE49-F238E27FC236}">
                <a16:creationId xmlns:a16="http://schemas.microsoft.com/office/drawing/2014/main" id="{9A5A4B4D-E0E6-76BD-445E-051BF7BE7A26}"/>
              </a:ext>
            </a:extLst>
          </p:cNvPr>
          <p:cNvSpPr txBox="1"/>
          <p:nvPr/>
        </p:nvSpPr>
        <p:spPr>
          <a:xfrm>
            <a:off x="3815900" y="2078997"/>
            <a:ext cx="127441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2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培训认证</a:t>
            </a:r>
          </a:p>
        </p:txBody>
      </p:sp>
      <p:sp>
        <p:nvSpPr>
          <p:cNvPr id="574" name="m-d11_treemap-bv-5">
            <a:extLst>
              <a:ext uri="{FF2B5EF4-FFF2-40B4-BE49-F238E27FC236}">
                <a16:creationId xmlns:a16="http://schemas.microsoft.com/office/drawing/2014/main" id="{4923ABD2-0E15-00C5-2119-D569770E0962}"/>
              </a:ext>
            </a:extLst>
          </p:cNvPr>
          <p:cNvSpPr txBox="1"/>
          <p:nvPr/>
        </p:nvSpPr>
        <p:spPr>
          <a:xfrm>
            <a:off x="3816681" y="2126088"/>
            <a:ext cx="15313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0.8 亿 · 4.8%</a:t>
            </a:r>
          </a:p>
        </p:txBody>
      </p:sp>
      <p:sp>
        <p:nvSpPr>
          <p:cNvPr id="575" name="m-d11_treemap-blk-6">
            <a:extLst>
              <a:ext uri="{FF2B5EF4-FFF2-40B4-BE49-F238E27FC236}">
                <a16:creationId xmlns:a16="http://schemas.microsoft.com/office/drawing/2014/main" id="{95934CD6-6681-CD52-BBA1-D998C5D78EDC}"/>
              </a:ext>
            </a:extLst>
          </p:cNvPr>
          <p:cNvSpPr/>
          <p:nvPr/>
        </p:nvSpPr>
        <p:spPr>
          <a:xfrm>
            <a:off x="3990340" y="2057464"/>
            <a:ext cx="236411" cy="168466"/>
          </a:xfrm>
          <a:custGeom>
            <a:avLst/>
            <a:gdLst/>
            <a:ahLst/>
            <a:cxnLst/>
            <a:rect l="0" t="0" r="r" b="b"/>
            <a:pathLst>
              <a:path w="236411" h="168466">
                <a:moveTo>
                  <a:pt x="20828" y="0"/>
                </a:moveTo>
                <a:lnTo>
                  <a:pt x="215583" y="0"/>
                </a:lnTo>
                <a:cubicBezTo>
                  <a:pt x="227076" y="0"/>
                  <a:pt x="236411" y="9335"/>
                  <a:pt x="236411" y="20828"/>
                </a:cubicBezTo>
                <a:lnTo>
                  <a:pt x="236411" y="147638"/>
                </a:lnTo>
                <a:cubicBezTo>
                  <a:pt x="236411" y="159131"/>
                  <a:pt x="227076" y="168466"/>
                  <a:pt x="215583" y="168466"/>
                </a:cubicBezTo>
                <a:lnTo>
                  <a:pt x="20828" y="168466"/>
                </a:lnTo>
                <a:cubicBezTo>
                  <a:pt x="9271" y="168466"/>
                  <a:pt x="0" y="159131"/>
                  <a:pt x="0" y="147638"/>
                </a:cubicBezTo>
                <a:lnTo>
                  <a:pt x="0" y="20828"/>
                </a:lnTo>
                <a:cubicBezTo>
                  <a:pt x="0" y="9335"/>
                  <a:pt x="9271" y="0"/>
                  <a:pt x="20828" y="0"/>
                </a:cubicBezTo>
                <a:close/>
              </a:path>
            </a:pathLst>
          </a:custGeom>
          <a:gradFill rotWithShape="1">
            <a:gsLst>
              <a:gs pos="0">
                <a:srgbClr val="8BAED6"/>
              </a:gs>
              <a:gs pos="100000">
                <a:srgbClr val="759ECE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76" name="m-d11_treemap-bn-6">
            <a:extLst>
              <a:ext uri="{FF2B5EF4-FFF2-40B4-BE49-F238E27FC236}">
                <a16:creationId xmlns:a16="http://schemas.microsoft.com/office/drawing/2014/main" id="{95DE1F8F-9CD8-C3A0-01F9-17E81586B19C}"/>
              </a:ext>
            </a:extLst>
          </p:cNvPr>
          <p:cNvSpPr txBox="1"/>
          <p:nvPr/>
        </p:nvSpPr>
        <p:spPr>
          <a:xfrm>
            <a:off x="4013380" y="2078997"/>
            <a:ext cx="127441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2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配件耗材</a:t>
            </a:r>
          </a:p>
        </p:txBody>
      </p:sp>
      <p:sp>
        <p:nvSpPr>
          <p:cNvPr id="577" name="m-d11_treemap-bv-6">
            <a:extLst>
              <a:ext uri="{FF2B5EF4-FFF2-40B4-BE49-F238E27FC236}">
                <a16:creationId xmlns:a16="http://schemas.microsoft.com/office/drawing/2014/main" id="{FD817BA7-26CF-9266-8E00-C70E14387641}"/>
              </a:ext>
            </a:extLst>
          </p:cNvPr>
          <p:cNvSpPr txBox="1"/>
          <p:nvPr/>
        </p:nvSpPr>
        <p:spPr>
          <a:xfrm>
            <a:off x="4014162" y="2126088"/>
            <a:ext cx="15313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0.6 亿 · 3.6%</a:t>
            </a:r>
          </a:p>
        </p:txBody>
      </p:sp>
      <p:sp>
        <p:nvSpPr>
          <p:cNvPr id="578" name="m-d11_treemap-blk-7">
            <a:extLst>
              <a:ext uri="{FF2B5EF4-FFF2-40B4-BE49-F238E27FC236}">
                <a16:creationId xmlns:a16="http://schemas.microsoft.com/office/drawing/2014/main" id="{97A11E8F-8669-0350-8E5C-2B47ED14FD2F}"/>
              </a:ext>
            </a:extLst>
          </p:cNvPr>
          <p:cNvSpPr/>
          <p:nvPr/>
        </p:nvSpPr>
        <p:spPr>
          <a:xfrm>
            <a:off x="3990340" y="2236343"/>
            <a:ext cx="236411" cy="108839"/>
          </a:xfrm>
          <a:custGeom>
            <a:avLst/>
            <a:gdLst/>
            <a:ahLst/>
            <a:cxnLst/>
            <a:rect l="0" t="0" r="r" b="b"/>
            <a:pathLst>
              <a:path w="236411" h="108839">
                <a:moveTo>
                  <a:pt x="20828" y="0"/>
                </a:moveTo>
                <a:lnTo>
                  <a:pt x="215583" y="0"/>
                </a:lnTo>
                <a:cubicBezTo>
                  <a:pt x="227076" y="0"/>
                  <a:pt x="236411" y="9334"/>
                  <a:pt x="236411" y="20828"/>
                </a:cubicBezTo>
                <a:lnTo>
                  <a:pt x="236411" y="88011"/>
                </a:lnTo>
                <a:cubicBezTo>
                  <a:pt x="236411" y="99505"/>
                  <a:pt x="227076" y="108839"/>
                  <a:pt x="215583" y="108839"/>
                </a:cubicBezTo>
                <a:lnTo>
                  <a:pt x="20828" y="108839"/>
                </a:lnTo>
                <a:cubicBezTo>
                  <a:pt x="9271" y="108839"/>
                  <a:pt x="0" y="99505"/>
                  <a:pt x="0" y="88011"/>
                </a:cubicBezTo>
                <a:lnTo>
                  <a:pt x="0" y="20828"/>
                </a:lnTo>
                <a:cubicBezTo>
                  <a:pt x="0" y="9334"/>
                  <a:pt x="9271" y="0"/>
                  <a:pt x="20828" y="0"/>
                </a:cubicBezTo>
                <a:close/>
              </a:path>
            </a:pathLst>
          </a:custGeom>
          <a:gradFill rotWithShape="1">
            <a:gsLst>
              <a:gs pos="0">
                <a:srgbClr val="9CBDE0"/>
              </a:gs>
              <a:gs pos="100000">
                <a:srgbClr val="89B1DA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79" name="m-d11_treemap-bn-7">
            <a:extLst>
              <a:ext uri="{FF2B5EF4-FFF2-40B4-BE49-F238E27FC236}">
                <a16:creationId xmlns:a16="http://schemas.microsoft.com/office/drawing/2014/main" id="{E5D517FE-43B0-E0E6-44A3-E0FD76D4A717}"/>
              </a:ext>
            </a:extLst>
          </p:cNvPr>
          <p:cNvSpPr txBox="1"/>
          <p:nvPr/>
        </p:nvSpPr>
        <p:spPr>
          <a:xfrm>
            <a:off x="4013380" y="2257871"/>
            <a:ext cx="74851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2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其他</a:t>
            </a:r>
          </a:p>
        </p:txBody>
      </p:sp>
      <p:sp>
        <p:nvSpPr>
          <p:cNvPr id="580" name="m-d11_treemap-bv-7">
            <a:extLst>
              <a:ext uri="{FF2B5EF4-FFF2-40B4-BE49-F238E27FC236}">
                <a16:creationId xmlns:a16="http://schemas.microsoft.com/office/drawing/2014/main" id="{5276E5C4-E069-00E6-3872-0F36CDD63C59}"/>
              </a:ext>
            </a:extLst>
          </p:cNvPr>
          <p:cNvSpPr txBox="1"/>
          <p:nvPr/>
        </p:nvSpPr>
        <p:spPr>
          <a:xfrm>
            <a:off x="4014162" y="2304962"/>
            <a:ext cx="15313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0.4 亿 · 2.4%</a:t>
            </a:r>
          </a:p>
        </p:txBody>
      </p:sp>
      <p:sp>
        <p:nvSpPr>
          <p:cNvPr id="581" name="m-d11_treemap-side-bar">
            <a:extLst>
              <a:ext uri="{FF2B5EF4-FFF2-40B4-BE49-F238E27FC236}">
                <a16:creationId xmlns:a16="http://schemas.microsoft.com/office/drawing/2014/main" id="{2E3840F7-238E-2F8E-B2B4-5892C65E9B78}"/>
              </a:ext>
            </a:extLst>
          </p:cNvPr>
          <p:cNvSpPr/>
          <p:nvPr/>
        </p:nvSpPr>
        <p:spPr>
          <a:xfrm>
            <a:off x="4284028" y="1501648"/>
            <a:ext cx="6509" cy="109347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82" name="m-d11_treemap-side-h">
            <a:extLst>
              <a:ext uri="{FF2B5EF4-FFF2-40B4-BE49-F238E27FC236}">
                <a16:creationId xmlns:a16="http://schemas.microsoft.com/office/drawing/2014/main" id="{BFC99F3D-DCCB-5436-A5CA-B23661900205}"/>
              </a:ext>
            </a:extLst>
          </p:cNvPr>
          <p:cNvSpPr txBox="1"/>
          <p:nvPr/>
        </p:nvSpPr>
        <p:spPr>
          <a:xfrm>
            <a:off x="4316571" y="1503112"/>
            <a:ext cx="169878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结构明细</a:t>
            </a:r>
          </a:p>
        </p:txBody>
      </p:sp>
      <p:sp>
        <p:nvSpPr>
          <p:cNvPr id="583" name="m-d11_treemap-side-p">
            <a:extLst>
              <a:ext uri="{FF2B5EF4-FFF2-40B4-BE49-F238E27FC236}">
                <a16:creationId xmlns:a16="http://schemas.microsoft.com/office/drawing/2014/main" id="{49D79C8E-AA3E-82E3-49BD-D80288E06C98}"/>
              </a:ext>
            </a:extLst>
          </p:cNvPr>
          <p:cNvSpPr txBox="1"/>
          <p:nvPr/>
        </p:nvSpPr>
        <p:spPr>
          <a:xfrm>
            <a:off x="4317743" y="1559429"/>
            <a:ext cx="18361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按营收规模排序</a:t>
            </a:r>
          </a:p>
        </p:txBody>
      </p:sp>
      <p:sp>
        <p:nvSpPr>
          <p:cNvPr id="584" name="m-d11_treemap-lg-1">
            <a:extLst>
              <a:ext uri="{FF2B5EF4-FFF2-40B4-BE49-F238E27FC236}">
                <a16:creationId xmlns:a16="http://schemas.microsoft.com/office/drawing/2014/main" id="{0CF12A3D-590D-9BEC-F850-58C7350FE61B}"/>
              </a:ext>
            </a:extLst>
          </p:cNvPr>
          <p:cNvSpPr/>
          <p:nvPr/>
        </p:nvSpPr>
        <p:spPr>
          <a:xfrm>
            <a:off x="4284028" y="1642237"/>
            <a:ext cx="33846" cy="33845"/>
          </a:xfrm>
          <a:custGeom>
            <a:avLst/>
            <a:gdLst/>
            <a:ahLst/>
            <a:cxnLst/>
            <a:rect l="0" t="0" r="r" b="b"/>
            <a:pathLst>
              <a:path w="33846" h="33845">
                <a:moveTo>
                  <a:pt x="10414" y="0"/>
                </a:moveTo>
                <a:lnTo>
                  <a:pt x="23432" y="0"/>
                </a:lnTo>
                <a:cubicBezTo>
                  <a:pt x="29210" y="0"/>
                  <a:pt x="33846" y="4636"/>
                  <a:pt x="33846" y="10414"/>
                </a:cubicBezTo>
                <a:lnTo>
                  <a:pt x="33846" y="23431"/>
                </a:lnTo>
                <a:cubicBezTo>
                  <a:pt x="33846" y="29210"/>
                  <a:pt x="29210" y="33845"/>
                  <a:pt x="23432" y="33845"/>
                </a:cubicBezTo>
                <a:lnTo>
                  <a:pt x="10414" y="33845"/>
                </a:lnTo>
                <a:cubicBezTo>
                  <a:pt x="4636" y="33845"/>
                  <a:pt x="0" y="29210"/>
                  <a:pt x="0" y="23431"/>
                </a:cubicBezTo>
                <a:lnTo>
                  <a:pt x="0" y="10414"/>
                </a:lnTo>
                <a:cubicBezTo>
                  <a:pt x="0" y="4636"/>
                  <a:pt x="4636" y="0"/>
                  <a:pt x="10414" y="0"/>
                </a:cubicBezTo>
                <a:close/>
              </a:path>
            </a:pathLst>
          </a:custGeom>
          <a:solidFill>
            <a:srgbClr val="6691C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85" name="m-d11_treemap-ln-1">
            <a:extLst>
              <a:ext uri="{FF2B5EF4-FFF2-40B4-BE49-F238E27FC236}">
                <a16:creationId xmlns:a16="http://schemas.microsoft.com/office/drawing/2014/main" id="{08A662E8-242D-A87B-8397-A2BBC32D2926}"/>
              </a:ext>
            </a:extLst>
          </p:cNvPr>
          <p:cNvSpPr txBox="1"/>
          <p:nvPr/>
        </p:nvSpPr>
        <p:spPr>
          <a:xfrm>
            <a:off x="4333286" y="1639334"/>
            <a:ext cx="11898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智能装备</a:t>
            </a:r>
          </a:p>
        </p:txBody>
      </p:sp>
      <p:sp>
        <p:nvSpPr>
          <p:cNvPr id="586" name="m-d11_treemap-lv-1">
            <a:extLst>
              <a:ext uri="{FF2B5EF4-FFF2-40B4-BE49-F238E27FC236}">
                <a16:creationId xmlns:a16="http://schemas.microsoft.com/office/drawing/2014/main" id="{607E633D-B16A-8696-94E0-AA435652F93A}"/>
              </a:ext>
            </a:extLst>
          </p:cNvPr>
          <p:cNvSpPr txBox="1"/>
          <p:nvPr/>
        </p:nvSpPr>
        <p:spPr>
          <a:xfrm>
            <a:off x="4536098" y="1639334"/>
            <a:ext cx="9961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4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8.2 亿</a:t>
            </a:r>
          </a:p>
        </p:txBody>
      </p:sp>
      <p:sp>
        <p:nvSpPr>
          <p:cNvPr id="587" name="m-d11_treemap-lg2-1">
            <a:extLst>
              <a:ext uri="{FF2B5EF4-FFF2-40B4-BE49-F238E27FC236}">
                <a16:creationId xmlns:a16="http://schemas.microsoft.com/office/drawing/2014/main" id="{001F0F9C-9D66-4B17-6FB9-748667DB9EC1}"/>
              </a:ext>
            </a:extLst>
          </p:cNvPr>
          <p:cNvSpPr txBox="1"/>
          <p:nvPr/>
        </p:nvSpPr>
        <p:spPr>
          <a:xfrm>
            <a:off x="4677547" y="1644157"/>
            <a:ext cx="103489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毛利 34%</a:t>
            </a:r>
          </a:p>
        </p:txBody>
      </p:sp>
      <p:cxnSp>
        <p:nvCxnSpPr>
          <p:cNvPr id="588" name="m-d11_treemap-ld-1">
            <a:extLst>
              <a:ext uri="{FF2B5EF4-FFF2-40B4-BE49-F238E27FC236}">
                <a16:creationId xmlns:a16="http://schemas.microsoft.com/office/drawing/2014/main" id="{05B295E9-196D-A190-ABC4-3EDA62AC1731}"/>
              </a:ext>
            </a:extLst>
          </p:cNvPr>
          <p:cNvCxnSpPr/>
          <p:nvPr/>
        </p:nvCxnSpPr>
        <p:spPr>
          <a:xfrm>
            <a:off x="4284028" y="1702118"/>
            <a:ext cx="494664" cy="0"/>
          </a:xfrm>
          <a:prstGeom prst="line">
            <a:avLst/>
          </a:prstGeom>
          <a:ln w="254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9" name="m-d11_treemap-lg-2">
            <a:extLst>
              <a:ext uri="{FF2B5EF4-FFF2-40B4-BE49-F238E27FC236}">
                <a16:creationId xmlns:a16="http://schemas.microsoft.com/office/drawing/2014/main" id="{941F45D8-B0AF-9F14-B154-512578E2CDF7}"/>
              </a:ext>
            </a:extLst>
          </p:cNvPr>
          <p:cNvSpPr/>
          <p:nvPr/>
        </p:nvSpPr>
        <p:spPr>
          <a:xfrm>
            <a:off x="4284028" y="1738567"/>
            <a:ext cx="33846" cy="33845"/>
          </a:xfrm>
          <a:custGeom>
            <a:avLst/>
            <a:gdLst/>
            <a:ahLst/>
            <a:cxnLst/>
            <a:rect l="0" t="0" r="r" b="b"/>
            <a:pathLst>
              <a:path w="33846" h="33845">
                <a:moveTo>
                  <a:pt x="10414" y="0"/>
                </a:moveTo>
                <a:lnTo>
                  <a:pt x="23432" y="0"/>
                </a:lnTo>
                <a:cubicBezTo>
                  <a:pt x="29210" y="0"/>
                  <a:pt x="33846" y="4635"/>
                  <a:pt x="33846" y="10414"/>
                </a:cubicBezTo>
                <a:lnTo>
                  <a:pt x="33846" y="23431"/>
                </a:lnTo>
                <a:cubicBezTo>
                  <a:pt x="33846" y="29210"/>
                  <a:pt x="29210" y="33845"/>
                  <a:pt x="23432" y="33845"/>
                </a:cubicBezTo>
                <a:lnTo>
                  <a:pt x="10414" y="33845"/>
                </a:lnTo>
                <a:cubicBezTo>
                  <a:pt x="4636" y="33845"/>
                  <a:pt x="0" y="29210"/>
                  <a:pt x="0" y="23431"/>
                </a:cubicBezTo>
                <a:lnTo>
                  <a:pt x="0" y="10414"/>
                </a:lnTo>
                <a:cubicBezTo>
                  <a:pt x="0" y="4635"/>
                  <a:pt x="4636" y="0"/>
                  <a:pt x="10414" y="0"/>
                </a:cubicBezTo>
                <a:close/>
              </a:path>
            </a:pathLst>
          </a:custGeom>
          <a:solidFill>
            <a:srgbClr val="14469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90" name="m-d11_treemap-ln-2">
            <a:extLst>
              <a:ext uri="{FF2B5EF4-FFF2-40B4-BE49-F238E27FC236}">
                <a16:creationId xmlns:a16="http://schemas.microsoft.com/office/drawing/2014/main" id="{391F2554-FFAC-11B5-D9DF-D0103A43FDAC}"/>
              </a:ext>
            </a:extLst>
          </p:cNvPr>
          <p:cNvSpPr txBox="1"/>
          <p:nvPr/>
        </p:nvSpPr>
        <p:spPr>
          <a:xfrm>
            <a:off x="4333286" y="1735664"/>
            <a:ext cx="11898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软件平台</a:t>
            </a:r>
          </a:p>
        </p:txBody>
      </p:sp>
      <p:sp>
        <p:nvSpPr>
          <p:cNvPr id="591" name="m-d11_treemap-lv-2">
            <a:extLst>
              <a:ext uri="{FF2B5EF4-FFF2-40B4-BE49-F238E27FC236}">
                <a16:creationId xmlns:a16="http://schemas.microsoft.com/office/drawing/2014/main" id="{D52589A6-5E17-DD6A-9614-B40B0D3D879A}"/>
              </a:ext>
            </a:extLst>
          </p:cNvPr>
          <p:cNvSpPr txBox="1"/>
          <p:nvPr/>
        </p:nvSpPr>
        <p:spPr>
          <a:xfrm>
            <a:off x="4536098" y="1735664"/>
            <a:ext cx="9961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4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3.3 亿</a:t>
            </a:r>
          </a:p>
        </p:txBody>
      </p:sp>
      <p:sp>
        <p:nvSpPr>
          <p:cNvPr id="592" name="m-d11_treemap-lg2-2">
            <a:extLst>
              <a:ext uri="{FF2B5EF4-FFF2-40B4-BE49-F238E27FC236}">
                <a16:creationId xmlns:a16="http://schemas.microsoft.com/office/drawing/2014/main" id="{66D24EBF-DCDE-0C13-9BEA-E110F1CCEA9D}"/>
              </a:ext>
            </a:extLst>
          </p:cNvPr>
          <p:cNvSpPr txBox="1"/>
          <p:nvPr/>
        </p:nvSpPr>
        <p:spPr>
          <a:xfrm>
            <a:off x="4677547" y="1740487"/>
            <a:ext cx="103489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毛利 62%</a:t>
            </a:r>
          </a:p>
        </p:txBody>
      </p:sp>
      <p:cxnSp>
        <p:nvCxnSpPr>
          <p:cNvPr id="593" name="m-d11_treemap-ld-2">
            <a:extLst>
              <a:ext uri="{FF2B5EF4-FFF2-40B4-BE49-F238E27FC236}">
                <a16:creationId xmlns:a16="http://schemas.microsoft.com/office/drawing/2014/main" id="{77F786E3-1C2D-4BF5-1A95-AE2EC78C700A}"/>
              </a:ext>
            </a:extLst>
          </p:cNvPr>
          <p:cNvCxnSpPr/>
          <p:nvPr/>
        </p:nvCxnSpPr>
        <p:spPr>
          <a:xfrm>
            <a:off x="4284028" y="1798447"/>
            <a:ext cx="494664" cy="0"/>
          </a:xfrm>
          <a:prstGeom prst="line">
            <a:avLst/>
          </a:prstGeom>
          <a:ln w="254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4" name="m-d11_treemap-lg-3">
            <a:extLst>
              <a:ext uri="{FF2B5EF4-FFF2-40B4-BE49-F238E27FC236}">
                <a16:creationId xmlns:a16="http://schemas.microsoft.com/office/drawing/2014/main" id="{D4C2C014-EBF1-723E-5422-24B8A7A4D9F7}"/>
              </a:ext>
            </a:extLst>
          </p:cNvPr>
          <p:cNvSpPr/>
          <p:nvPr/>
        </p:nvSpPr>
        <p:spPr>
          <a:xfrm>
            <a:off x="4284028" y="1834896"/>
            <a:ext cx="33846" cy="33846"/>
          </a:xfrm>
          <a:custGeom>
            <a:avLst/>
            <a:gdLst/>
            <a:ahLst/>
            <a:cxnLst/>
            <a:rect l="0" t="0" r="r" b="b"/>
            <a:pathLst>
              <a:path w="33846" h="33846">
                <a:moveTo>
                  <a:pt x="10414" y="0"/>
                </a:moveTo>
                <a:lnTo>
                  <a:pt x="23432" y="0"/>
                </a:lnTo>
                <a:cubicBezTo>
                  <a:pt x="29210" y="0"/>
                  <a:pt x="33846" y="4636"/>
                  <a:pt x="33846" y="10414"/>
                </a:cubicBezTo>
                <a:lnTo>
                  <a:pt x="33846" y="23431"/>
                </a:lnTo>
                <a:cubicBezTo>
                  <a:pt x="33846" y="29210"/>
                  <a:pt x="29210" y="33846"/>
                  <a:pt x="23432" y="33846"/>
                </a:cubicBezTo>
                <a:lnTo>
                  <a:pt x="10414" y="33846"/>
                </a:lnTo>
                <a:cubicBezTo>
                  <a:pt x="4636" y="33846"/>
                  <a:pt x="0" y="29210"/>
                  <a:pt x="0" y="23431"/>
                </a:cubicBezTo>
                <a:lnTo>
                  <a:pt x="0" y="10414"/>
                </a:lnTo>
                <a:cubicBezTo>
                  <a:pt x="0" y="4636"/>
                  <a:pt x="4636" y="0"/>
                  <a:pt x="10414" y="0"/>
                </a:cubicBezTo>
                <a:close/>
              </a:path>
            </a:pathLst>
          </a:custGeom>
          <a:solidFill>
            <a:srgbClr val="3D6BA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95" name="m-d11_treemap-ln-3">
            <a:extLst>
              <a:ext uri="{FF2B5EF4-FFF2-40B4-BE49-F238E27FC236}">
                <a16:creationId xmlns:a16="http://schemas.microsoft.com/office/drawing/2014/main" id="{6ABCECFB-9BA4-F23E-99AE-89809D263A61}"/>
              </a:ext>
            </a:extLst>
          </p:cNvPr>
          <p:cNvSpPr txBox="1"/>
          <p:nvPr/>
        </p:nvSpPr>
        <p:spPr>
          <a:xfrm>
            <a:off x="4333286" y="1831993"/>
            <a:ext cx="11898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运维服务</a:t>
            </a:r>
          </a:p>
        </p:txBody>
      </p:sp>
      <p:sp>
        <p:nvSpPr>
          <p:cNvPr id="596" name="m-d11_treemap-lv-3">
            <a:extLst>
              <a:ext uri="{FF2B5EF4-FFF2-40B4-BE49-F238E27FC236}">
                <a16:creationId xmlns:a16="http://schemas.microsoft.com/office/drawing/2014/main" id="{4D9EF185-EBB5-CA9F-7684-C1147096F3E6}"/>
              </a:ext>
            </a:extLst>
          </p:cNvPr>
          <p:cNvSpPr txBox="1"/>
          <p:nvPr/>
        </p:nvSpPr>
        <p:spPr>
          <a:xfrm>
            <a:off x="4536098" y="1831993"/>
            <a:ext cx="9961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4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2.2 亿</a:t>
            </a:r>
          </a:p>
        </p:txBody>
      </p:sp>
      <p:sp>
        <p:nvSpPr>
          <p:cNvPr id="597" name="m-d11_treemap-lg2-3">
            <a:extLst>
              <a:ext uri="{FF2B5EF4-FFF2-40B4-BE49-F238E27FC236}">
                <a16:creationId xmlns:a16="http://schemas.microsoft.com/office/drawing/2014/main" id="{475425BB-F9A6-152E-7BF2-52C4433DD71F}"/>
              </a:ext>
            </a:extLst>
          </p:cNvPr>
          <p:cNvSpPr txBox="1"/>
          <p:nvPr/>
        </p:nvSpPr>
        <p:spPr>
          <a:xfrm>
            <a:off x="4677547" y="1836816"/>
            <a:ext cx="103489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毛利 48%</a:t>
            </a:r>
          </a:p>
        </p:txBody>
      </p:sp>
      <p:cxnSp>
        <p:nvCxnSpPr>
          <p:cNvPr id="598" name="m-d11_treemap-ld-3">
            <a:extLst>
              <a:ext uri="{FF2B5EF4-FFF2-40B4-BE49-F238E27FC236}">
                <a16:creationId xmlns:a16="http://schemas.microsoft.com/office/drawing/2014/main" id="{D259765A-AE49-1555-08A8-3075B63E037D}"/>
              </a:ext>
            </a:extLst>
          </p:cNvPr>
          <p:cNvCxnSpPr/>
          <p:nvPr/>
        </p:nvCxnSpPr>
        <p:spPr>
          <a:xfrm>
            <a:off x="4284028" y="1894776"/>
            <a:ext cx="494664" cy="0"/>
          </a:xfrm>
          <a:prstGeom prst="line">
            <a:avLst/>
          </a:prstGeom>
          <a:ln w="254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9" name="m-d11_treemap-lg-4">
            <a:extLst>
              <a:ext uri="{FF2B5EF4-FFF2-40B4-BE49-F238E27FC236}">
                <a16:creationId xmlns:a16="http://schemas.microsoft.com/office/drawing/2014/main" id="{4AF8612B-04B1-33DB-7B85-E5DD39CB50E5}"/>
              </a:ext>
            </a:extLst>
          </p:cNvPr>
          <p:cNvSpPr/>
          <p:nvPr/>
        </p:nvSpPr>
        <p:spPr>
          <a:xfrm>
            <a:off x="4284028" y="1931226"/>
            <a:ext cx="33846" cy="33845"/>
          </a:xfrm>
          <a:custGeom>
            <a:avLst/>
            <a:gdLst/>
            <a:ahLst/>
            <a:cxnLst/>
            <a:rect l="0" t="0" r="r" b="b"/>
            <a:pathLst>
              <a:path w="33846" h="33845">
                <a:moveTo>
                  <a:pt x="10414" y="0"/>
                </a:moveTo>
                <a:lnTo>
                  <a:pt x="23432" y="0"/>
                </a:lnTo>
                <a:cubicBezTo>
                  <a:pt x="29210" y="0"/>
                  <a:pt x="33846" y="4636"/>
                  <a:pt x="33846" y="10414"/>
                </a:cubicBezTo>
                <a:lnTo>
                  <a:pt x="33846" y="23431"/>
                </a:lnTo>
                <a:cubicBezTo>
                  <a:pt x="33846" y="29210"/>
                  <a:pt x="29210" y="33845"/>
                  <a:pt x="23432" y="33845"/>
                </a:cubicBezTo>
                <a:lnTo>
                  <a:pt x="10414" y="33845"/>
                </a:lnTo>
                <a:cubicBezTo>
                  <a:pt x="4636" y="33845"/>
                  <a:pt x="0" y="29210"/>
                  <a:pt x="0" y="23431"/>
                </a:cubicBezTo>
                <a:lnTo>
                  <a:pt x="0" y="10414"/>
                </a:lnTo>
                <a:cubicBezTo>
                  <a:pt x="0" y="4636"/>
                  <a:pt x="4636" y="0"/>
                  <a:pt x="10414" y="0"/>
                </a:cubicBezTo>
                <a:close/>
              </a:path>
            </a:pathLst>
          </a:custGeom>
          <a:solidFill>
            <a:srgbClr val="517EB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00" name="m-d11_treemap-ln-4">
            <a:extLst>
              <a:ext uri="{FF2B5EF4-FFF2-40B4-BE49-F238E27FC236}">
                <a16:creationId xmlns:a16="http://schemas.microsoft.com/office/drawing/2014/main" id="{09038B3B-66B8-BD16-6B45-30A68581537A}"/>
              </a:ext>
            </a:extLst>
          </p:cNvPr>
          <p:cNvSpPr txBox="1"/>
          <p:nvPr/>
        </p:nvSpPr>
        <p:spPr>
          <a:xfrm>
            <a:off x="4333286" y="1928323"/>
            <a:ext cx="143453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供应链金融</a:t>
            </a:r>
          </a:p>
        </p:txBody>
      </p:sp>
      <p:sp>
        <p:nvSpPr>
          <p:cNvPr id="601" name="m-d11_treemap-lv-4">
            <a:extLst>
              <a:ext uri="{FF2B5EF4-FFF2-40B4-BE49-F238E27FC236}">
                <a16:creationId xmlns:a16="http://schemas.microsoft.com/office/drawing/2014/main" id="{D58449AC-5E7C-AEA9-DED9-FFA761CFFB5A}"/>
              </a:ext>
            </a:extLst>
          </p:cNvPr>
          <p:cNvSpPr txBox="1"/>
          <p:nvPr/>
        </p:nvSpPr>
        <p:spPr>
          <a:xfrm>
            <a:off x="4536098" y="1928323"/>
            <a:ext cx="9961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4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1.3 亿</a:t>
            </a:r>
          </a:p>
        </p:txBody>
      </p:sp>
      <p:sp>
        <p:nvSpPr>
          <p:cNvPr id="602" name="m-d11_treemap-lg2-4">
            <a:extLst>
              <a:ext uri="{FF2B5EF4-FFF2-40B4-BE49-F238E27FC236}">
                <a16:creationId xmlns:a16="http://schemas.microsoft.com/office/drawing/2014/main" id="{FD90E28A-B1DC-7D31-3E75-38DE9AC875B9}"/>
              </a:ext>
            </a:extLst>
          </p:cNvPr>
          <p:cNvSpPr txBox="1"/>
          <p:nvPr/>
        </p:nvSpPr>
        <p:spPr>
          <a:xfrm>
            <a:off x="4677547" y="1933146"/>
            <a:ext cx="103489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毛利 41%</a:t>
            </a:r>
          </a:p>
        </p:txBody>
      </p:sp>
      <p:cxnSp>
        <p:nvCxnSpPr>
          <p:cNvPr id="603" name="m-d11_treemap-ld-4">
            <a:extLst>
              <a:ext uri="{FF2B5EF4-FFF2-40B4-BE49-F238E27FC236}">
                <a16:creationId xmlns:a16="http://schemas.microsoft.com/office/drawing/2014/main" id="{9717698A-8E8D-F398-F30E-8CC57CC9A14D}"/>
              </a:ext>
            </a:extLst>
          </p:cNvPr>
          <p:cNvCxnSpPr/>
          <p:nvPr/>
        </p:nvCxnSpPr>
        <p:spPr>
          <a:xfrm>
            <a:off x="4284028" y="1991106"/>
            <a:ext cx="494664" cy="0"/>
          </a:xfrm>
          <a:prstGeom prst="line">
            <a:avLst/>
          </a:prstGeom>
          <a:ln w="254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4" name="m-d11_treemap-lg-5">
            <a:extLst>
              <a:ext uri="{FF2B5EF4-FFF2-40B4-BE49-F238E27FC236}">
                <a16:creationId xmlns:a16="http://schemas.microsoft.com/office/drawing/2014/main" id="{47AD91A2-6BC9-CC9F-DE23-20E75C61D9FC}"/>
              </a:ext>
            </a:extLst>
          </p:cNvPr>
          <p:cNvSpPr/>
          <p:nvPr/>
        </p:nvSpPr>
        <p:spPr>
          <a:xfrm>
            <a:off x="4284028" y="2027555"/>
            <a:ext cx="33846" cy="33845"/>
          </a:xfrm>
          <a:custGeom>
            <a:avLst/>
            <a:gdLst/>
            <a:ahLst/>
            <a:cxnLst/>
            <a:rect l="0" t="0" r="r" b="b"/>
            <a:pathLst>
              <a:path w="33846" h="33845">
                <a:moveTo>
                  <a:pt x="10414" y="0"/>
                </a:moveTo>
                <a:lnTo>
                  <a:pt x="23432" y="0"/>
                </a:lnTo>
                <a:cubicBezTo>
                  <a:pt x="29210" y="0"/>
                  <a:pt x="33846" y="4635"/>
                  <a:pt x="33846" y="10414"/>
                </a:cubicBezTo>
                <a:lnTo>
                  <a:pt x="33846" y="23431"/>
                </a:lnTo>
                <a:cubicBezTo>
                  <a:pt x="33846" y="29210"/>
                  <a:pt x="29210" y="33845"/>
                  <a:pt x="23432" y="33845"/>
                </a:cubicBezTo>
                <a:lnTo>
                  <a:pt x="10414" y="33845"/>
                </a:lnTo>
                <a:cubicBezTo>
                  <a:pt x="4636" y="33845"/>
                  <a:pt x="0" y="29210"/>
                  <a:pt x="0" y="23431"/>
                </a:cubicBezTo>
                <a:lnTo>
                  <a:pt x="0" y="10414"/>
                </a:lnTo>
                <a:cubicBezTo>
                  <a:pt x="0" y="4635"/>
                  <a:pt x="4636" y="0"/>
                  <a:pt x="10414" y="0"/>
                </a:cubicBezTo>
                <a:close/>
              </a:path>
            </a:pathLst>
          </a:custGeom>
          <a:solidFill>
            <a:srgbClr val="2859A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05" name="m-d11_treemap-ln-5">
            <a:extLst>
              <a:ext uri="{FF2B5EF4-FFF2-40B4-BE49-F238E27FC236}">
                <a16:creationId xmlns:a16="http://schemas.microsoft.com/office/drawing/2014/main" id="{2FACCD93-49A1-D659-A417-55CD79931131}"/>
              </a:ext>
            </a:extLst>
          </p:cNvPr>
          <p:cNvSpPr txBox="1"/>
          <p:nvPr/>
        </p:nvSpPr>
        <p:spPr>
          <a:xfrm>
            <a:off x="4333286" y="2024652"/>
            <a:ext cx="11898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培训认证</a:t>
            </a:r>
          </a:p>
        </p:txBody>
      </p:sp>
      <p:sp>
        <p:nvSpPr>
          <p:cNvPr id="606" name="m-d11_treemap-lv-5">
            <a:extLst>
              <a:ext uri="{FF2B5EF4-FFF2-40B4-BE49-F238E27FC236}">
                <a16:creationId xmlns:a16="http://schemas.microsoft.com/office/drawing/2014/main" id="{3833AEA4-B27E-0098-466F-131FE3571D64}"/>
              </a:ext>
            </a:extLst>
          </p:cNvPr>
          <p:cNvSpPr txBox="1"/>
          <p:nvPr/>
        </p:nvSpPr>
        <p:spPr>
          <a:xfrm>
            <a:off x="4536098" y="2024652"/>
            <a:ext cx="9961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4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0.8 亿</a:t>
            </a:r>
          </a:p>
        </p:txBody>
      </p:sp>
      <p:sp>
        <p:nvSpPr>
          <p:cNvPr id="607" name="m-d11_treemap-lg2-5">
            <a:extLst>
              <a:ext uri="{FF2B5EF4-FFF2-40B4-BE49-F238E27FC236}">
                <a16:creationId xmlns:a16="http://schemas.microsoft.com/office/drawing/2014/main" id="{B9380337-C697-864D-54EF-B25FBB78FA09}"/>
              </a:ext>
            </a:extLst>
          </p:cNvPr>
          <p:cNvSpPr txBox="1"/>
          <p:nvPr/>
        </p:nvSpPr>
        <p:spPr>
          <a:xfrm>
            <a:off x="4677547" y="2029475"/>
            <a:ext cx="103489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毛利 55%</a:t>
            </a:r>
          </a:p>
        </p:txBody>
      </p:sp>
      <p:cxnSp>
        <p:nvCxnSpPr>
          <p:cNvPr id="608" name="m-d11_treemap-ld-5">
            <a:extLst>
              <a:ext uri="{FF2B5EF4-FFF2-40B4-BE49-F238E27FC236}">
                <a16:creationId xmlns:a16="http://schemas.microsoft.com/office/drawing/2014/main" id="{82028895-1875-0FCF-9CD0-770668E7B051}"/>
              </a:ext>
            </a:extLst>
          </p:cNvPr>
          <p:cNvCxnSpPr/>
          <p:nvPr/>
        </p:nvCxnSpPr>
        <p:spPr>
          <a:xfrm>
            <a:off x="4284028" y="2087436"/>
            <a:ext cx="494664" cy="0"/>
          </a:xfrm>
          <a:prstGeom prst="line">
            <a:avLst/>
          </a:prstGeom>
          <a:ln w="254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9" name="m-d11_treemap-lg-6">
            <a:extLst>
              <a:ext uri="{FF2B5EF4-FFF2-40B4-BE49-F238E27FC236}">
                <a16:creationId xmlns:a16="http://schemas.microsoft.com/office/drawing/2014/main" id="{1EBD4FCA-48F6-95B1-5689-C5E3CDFD3729}"/>
              </a:ext>
            </a:extLst>
          </p:cNvPr>
          <p:cNvSpPr/>
          <p:nvPr/>
        </p:nvSpPr>
        <p:spPr>
          <a:xfrm>
            <a:off x="4284028" y="2123884"/>
            <a:ext cx="33846" cy="33845"/>
          </a:xfrm>
          <a:custGeom>
            <a:avLst/>
            <a:gdLst/>
            <a:ahLst/>
            <a:cxnLst/>
            <a:rect l="0" t="0" r="r" b="b"/>
            <a:pathLst>
              <a:path w="33846" h="33845">
                <a:moveTo>
                  <a:pt x="10414" y="0"/>
                </a:moveTo>
                <a:lnTo>
                  <a:pt x="23432" y="0"/>
                </a:lnTo>
                <a:cubicBezTo>
                  <a:pt x="29210" y="0"/>
                  <a:pt x="33846" y="4635"/>
                  <a:pt x="33846" y="10414"/>
                </a:cubicBezTo>
                <a:lnTo>
                  <a:pt x="33846" y="23431"/>
                </a:lnTo>
                <a:cubicBezTo>
                  <a:pt x="33846" y="29210"/>
                  <a:pt x="29210" y="33845"/>
                  <a:pt x="23432" y="33845"/>
                </a:cubicBezTo>
                <a:lnTo>
                  <a:pt x="10414" y="33845"/>
                </a:lnTo>
                <a:cubicBezTo>
                  <a:pt x="4636" y="33845"/>
                  <a:pt x="0" y="29210"/>
                  <a:pt x="0" y="23431"/>
                </a:cubicBezTo>
                <a:lnTo>
                  <a:pt x="0" y="10414"/>
                </a:lnTo>
                <a:cubicBezTo>
                  <a:pt x="0" y="4635"/>
                  <a:pt x="4636" y="0"/>
                  <a:pt x="10414" y="0"/>
                </a:cubicBezTo>
                <a:close/>
              </a:path>
            </a:pathLst>
          </a:custGeom>
          <a:solidFill>
            <a:srgbClr val="759EC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10" name="m-d11_treemap-ln-6">
            <a:extLst>
              <a:ext uri="{FF2B5EF4-FFF2-40B4-BE49-F238E27FC236}">
                <a16:creationId xmlns:a16="http://schemas.microsoft.com/office/drawing/2014/main" id="{207D24DF-1573-ABB4-B050-4FCC607AF105}"/>
              </a:ext>
            </a:extLst>
          </p:cNvPr>
          <p:cNvSpPr txBox="1"/>
          <p:nvPr/>
        </p:nvSpPr>
        <p:spPr>
          <a:xfrm>
            <a:off x="4333286" y="2120982"/>
            <a:ext cx="11898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配件耗材</a:t>
            </a:r>
          </a:p>
        </p:txBody>
      </p:sp>
      <p:sp>
        <p:nvSpPr>
          <p:cNvPr id="611" name="m-d11_treemap-lv-6">
            <a:extLst>
              <a:ext uri="{FF2B5EF4-FFF2-40B4-BE49-F238E27FC236}">
                <a16:creationId xmlns:a16="http://schemas.microsoft.com/office/drawing/2014/main" id="{9CD62A9A-A511-AC98-6A06-CC6E8B05C9EA}"/>
              </a:ext>
            </a:extLst>
          </p:cNvPr>
          <p:cNvSpPr txBox="1"/>
          <p:nvPr/>
        </p:nvSpPr>
        <p:spPr>
          <a:xfrm>
            <a:off x="4536098" y="2120982"/>
            <a:ext cx="9961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4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0.6 亿</a:t>
            </a:r>
          </a:p>
        </p:txBody>
      </p:sp>
      <p:sp>
        <p:nvSpPr>
          <p:cNvPr id="612" name="m-d11_treemap-lg2-6">
            <a:extLst>
              <a:ext uri="{FF2B5EF4-FFF2-40B4-BE49-F238E27FC236}">
                <a16:creationId xmlns:a16="http://schemas.microsoft.com/office/drawing/2014/main" id="{6E44DEAC-0004-9F0F-F54A-FD78C397D508}"/>
              </a:ext>
            </a:extLst>
          </p:cNvPr>
          <p:cNvSpPr txBox="1"/>
          <p:nvPr/>
        </p:nvSpPr>
        <p:spPr>
          <a:xfrm>
            <a:off x="4677547" y="2125805"/>
            <a:ext cx="103489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毛利 29%</a:t>
            </a:r>
          </a:p>
        </p:txBody>
      </p:sp>
      <p:cxnSp>
        <p:nvCxnSpPr>
          <p:cNvPr id="613" name="m-d11_treemap-ld-6">
            <a:extLst>
              <a:ext uri="{FF2B5EF4-FFF2-40B4-BE49-F238E27FC236}">
                <a16:creationId xmlns:a16="http://schemas.microsoft.com/office/drawing/2014/main" id="{B880130D-A45B-D5AA-A25B-1857365D2C1C}"/>
              </a:ext>
            </a:extLst>
          </p:cNvPr>
          <p:cNvCxnSpPr/>
          <p:nvPr/>
        </p:nvCxnSpPr>
        <p:spPr>
          <a:xfrm>
            <a:off x="4284028" y="2183765"/>
            <a:ext cx="494664" cy="0"/>
          </a:xfrm>
          <a:prstGeom prst="line">
            <a:avLst/>
          </a:prstGeom>
          <a:ln w="254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4" name="m-d11_treemap-lg-7">
            <a:extLst>
              <a:ext uri="{FF2B5EF4-FFF2-40B4-BE49-F238E27FC236}">
                <a16:creationId xmlns:a16="http://schemas.microsoft.com/office/drawing/2014/main" id="{58768F4D-F5A3-1BE5-92B6-440914829EA2}"/>
              </a:ext>
            </a:extLst>
          </p:cNvPr>
          <p:cNvSpPr/>
          <p:nvPr/>
        </p:nvSpPr>
        <p:spPr>
          <a:xfrm>
            <a:off x="4284028" y="2220214"/>
            <a:ext cx="33846" cy="33846"/>
          </a:xfrm>
          <a:custGeom>
            <a:avLst/>
            <a:gdLst/>
            <a:ahLst/>
            <a:cxnLst/>
            <a:rect l="0" t="0" r="r" b="b"/>
            <a:pathLst>
              <a:path w="33846" h="33846">
                <a:moveTo>
                  <a:pt x="10414" y="0"/>
                </a:moveTo>
                <a:lnTo>
                  <a:pt x="23432" y="0"/>
                </a:lnTo>
                <a:cubicBezTo>
                  <a:pt x="29210" y="0"/>
                  <a:pt x="33846" y="4636"/>
                  <a:pt x="33846" y="10414"/>
                </a:cubicBezTo>
                <a:lnTo>
                  <a:pt x="33846" y="23431"/>
                </a:lnTo>
                <a:cubicBezTo>
                  <a:pt x="33846" y="29210"/>
                  <a:pt x="29210" y="33846"/>
                  <a:pt x="23432" y="33846"/>
                </a:cubicBezTo>
                <a:lnTo>
                  <a:pt x="10414" y="33846"/>
                </a:lnTo>
                <a:cubicBezTo>
                  <a:pt x="4636" y="33846"/>
                  <a:pt x="0" y="29210"/>
                  <a:pt x="0" y="23431"/>
                </a:cubicBezTo>
                <a:lnTo>
                  <a:pt x="0" y="10414"/>
                </a:lnTo>
                <a:cubicBezTo>
                  <a:pt x="0" y="4636"/>
                  <a:pt x="4636" y="0"/>
                  <a:pt x="10414" y="0"/>
                </a:cubicBezTo>
                <a:close/>
              </a:path>
            </a:pathLst>
          </a:custGeom>
          <a:solidFill>
            <a:srgbClr val="89B1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15" name="m-d11_treemap-ln-7">
            <a:extLst>
              <a:ext uri="{FF2B5EF4-FFF2-40B4-BE49-F238E27FC236}">
                <a16:creationId xmlns:a16="http://schemas.microsoft.com/office/drawing/2014/main" id="{4838A804-0083-3244-3420-F4CC0AA2CDBA}"/>
              </a:ext>
            </a:extLst>
          </p:cNvPr>
          <p:cNvSpPr txBox="1"/>
          <p:nvPr/>
        </p:nvSpPr>
        <p:spPr>
          <a:xfrm>
            <a:off x="4333286" y="2217311"/>
            <a:ext cx="70034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其他</a:t>
            </a:r>
          </a:p>
        </p:txBody>
      </p:sp>
      <p:sp>
        <p:nvSpPr>
          <p:cNvPr id="616" name="m-d11_treemap-lv-7">
            <a:extLst>
              <a:ext uri="{FF2B5EF4-FFF2-40B4-BE49-F238E27FC236}">
                <a16:creationId xmlns:a16="http://schemas.microsoft.com/office/drawing/2014/main" id="{5D9ED8EB-6AFA-8DAB-4588-B9ACF85A97C4}"/>
              </a:ext>
            </a:extLst>
          </p:cNvPr>
          <p:cNvSpPr txBox="1"/>
          <p:nvPr/>
        </p:nvSpPr>
        <p:spPr>
          <a:xfrm>
            <a:off x="4536098" y="2217311"/>
            <a:ext cx="9961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4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0.4 亿</a:t>
            </a:r>
          </a:p>
        </p:txBody>
      </p:sp>
      <p:sp>
        <p:nvSpPr>
          <p:cNvPr id="617" name="m-d11_treemap-lg2-7">
            <a:extLst>
              <a:ext uri="{FF2B5EF4-FFF2-40B4-BE49-F238E27FC236}">
                <a16:creationId xmlns:a16="http://schemas.microsoft.com/office/drawing/2014/main" id="{F5E0D5F9-21DA-1326-3895-2815AF70D2CD}"/>
              </a:ext>
            </a:extLst>
          </p:cNvPr>
          <p:cNvSpPr txBox="1"/>
          <p:nvPr/>
        </p:nvSpPr>
        <p:spPr>
          <a:xfrm>
            <a:off x="4677547" y="2222134"/>
            <a:ext cx="103489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毛利 22%</a:t>
            </a:r>
          </a:p>
        </p:txBody>
      </p:sp>
      <p:sp>
        <p:nvSpPr>
          <p:cNvPr id="618" name="m-d11_treemap-cl-h">
            <a:extLst>
              <a:ext uri="{FF2B5EF4-FFF2-40B4-BE49-F238E27FC236}">
                <a16:creationId xmlns:a16="http://schemas.microsoft.com/office/drawing/2014/main" id="{99E8FA7B-95A1-46C6-2DE9-466FAAE4A6E1}"/>
              </a:ext>
            </a:extLst>
          </p:cNvPr>
          <p:cNvSpPr txBox="1"/>
          <p:nvPr/>
        </p:nvSpPr>
        <p:spPr>
          <a:xfrm>
            <a:off x="4281762" y="2327078"/>
            <a:ext cx="155572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12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颜色 = 毛利率</a:t>
            </a:r>
          </a:p>
        </p:txBody>
      </p:sp>
      <p:sp>
        <p:nvSpPr>
          <p:cNvPr id="619" name="m-d11_treemap-cl-1">
            <a:extLst>
              <a:ext uri="{FF2B5EF4-FFF2-40B4-BE49-F238E27FC236}">
                <a16:creationId xmlns:a16="http://schemas.microsoft.com/office/drawing/2014/main" id="{787E1A07-704B-B75D-7C3D-125A0CB58043}"/>
              </a:ext>
            </a:extLst>
          </p:cNvPr>
          <p:cNvSpPr/>
          <p:nvPr/>
        </p:nvSpPr>
        <p:spPr>
          <a:xfrm>
            <a:off x="4466272" y="2326958"/>
            <a:ext cx="44260" cy="28638"/>
          </a:xfrm>
          <a:custGeom>
            <a:avLst/>
            <a:gdLst/>
            <a:ahLst/>
            <a:cxnLst/>
            <a:rect l="0" t="0" r="r" b="b"/>
            <a:pathLst>
              <a:path w="44260" h="28638">
                <a:moveTo>
                  <a:pt x="9080" y="0"/>
                </a:moveTo>
                <a:lnTo>
                  <a:pt x="35115" y="0"/>
                </a:lnTo>
                <a:cubicBezTo>
                  <a:pt x="40195" y="0"/>
                  <a:pt x="44260" y="4064"/>
                  <a:pt x="44260" y="9081"/>
                </a:cubicBezTo>
                <a:lnTo>
                  <a:pt x="44260" y="19494"/>
                </a:lnTo>
                <a:cubicBezTo>
                  <a:pt x="44260" y="24575"/>
                  <a:pt x="40195" y="28638"/>
                  <a:pt x="35115" y="28638"/>
                </a:cubicBezTo>
                <a:lnTo>
                  <a:pt x="9080" y="28638"/>
                </a:lnTo>
                <a:cubicBezTo>
                  <a:pt x="4064" y="28638"/>
                  <a:pt x="0" y="24575"/>
                  <a:pt x="0" y="19494"/>
                </a:cubicBezTo>
                <a:lnTo>
                  <a:pt x="0" y="9081"/>
                </a:lnTo>
                <a:cubicBezTo>
                  <a:pt x="0" y="4064"/>
                  <a:pt x="4064" y="0"/>
                  <a:pt x="9080" y="0"/>
                </a:cubicBezTo>
                <a:close/>
              </a:path>
            </a:pathLst>
          </a:custGeom>
          <a:solidFill>
            <a:srgbClr val="8FB6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20" name="m-d11_treemap-cl-2">
            <a:extLst>
              <a:ext uri="{FF2B5EF4-FFF2-40B4-BE49-F238E27FC236}">
                <a16:creationId xmlns:a16="http://schemas.microsoft.com/office/drawing/2014/main" id="{EB00D4FE-6E43-DAFA-4759-68160EBBED51}"/>
              </a:ext>
            </a:extLst>
          </p:cNvPr>
          <p:cNvSpPr/>
          <p:nvPr/>
        </p:nvSpPr>
        <p:spPr>
          <a:xfrm>
            <a:off x="4518342" y="2326958"/>
            <a:ext cx="44260" cy="28638"/>
          </a:xfrm>
          <a:custGeom>
            <a:avLst/>
            <a:gdLst/>
            <a:ahLst/>
            <a:cxnLst/>
            <a:rect l="0" t="0" r="r" b="b"/>
            <a:pathLst>
              <a:path w="44260" h="28638">
                <a:moveTo>
                  <a:pt x="9081" y="0"/>
                </a:moveTo>
                <a:lnTo>
                  <a:pt x="35179" y="0"/>
                </a:lnTo>
                <a:cubicBezTo>
                  <a:pt x="40196" y="0"/>
                  <a:pt x="44260" y="4064"/>
                  <a:pt x="44260" y="9081"/>
                </a:cubicBezTo>
                <a:lnTo>
                  <a:pt x="44260" y="19494"/>
                </a:lnTo>
                <a:cubicBezTo>
                  <a:pt x="44260" y="24575"/>
                  <a:pt x="40196" y="28638"/>
                  <a:pt x="35179" y="28638"/>
                </a:cubicBezTo>
                <a:lnTo>
                  <a:pt x="9081" y="28638"/>
                </a:lnTo>
                <a:cubicBezTo>
                  <a:pt x="4064" y="28638"/>
                  <a:pt x="0" y="24575"/>
                  <a:pt x="0" y="19494"/>
                </a:cubicBezTo>
                <a:lnTo>
                  <a:pt x="0" y="9081"/>
                </a:lnTo>
                <a:cubicBezTo>
                  <a:pt x="0" y="4064"/>
                  <a:pt x="4064" y="0"/>
                  <a:pt x="9081" y="0"/>
                </a:cubicBezTo>
                <a:close/>
              </a:path>
            </a:pathLst>
          </a:custGeom>
          <a:solidFill>
            <a:srgbClr val="759EC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21" name="m-d11_treemap-cl-3">
            <a:extLst>
              <a:ext uri="{FF2B5EF4-FFF2-40B4-BE49-F238E27FC236}">
                <a16:creationId xmlns:a16="http://schemas.microsoft.com/office/drawing/2014/main" id="{4A1AA45A-C67E-2321-B941-EDC4CF174A18}"/>
              </a:ext>
            </a:extLst>
          </p:cNvPr>
          <p:cNvSpPr/>
          <p:nvPr/>
        </p:nvSpPr>
        <p:spPr>
          <a:xfrm>
            <a:off x="4570412" y="2326958"/>
            <a:ext cx="44260" cy="28638"/>
          </a:xfrm>
          <a:custGeom>
            <a:avLst/>
            <a:gdLst/>
            <a:ahLst/>
            <a:cxnLst/>
            <a:rect l="0" t="0" r="r" b="b"/>
            <a:pathLst>
              <a:path w="44260" h="28638">
                <a:moveTo>
                  <a:pt x="9080" y="0"/>
                </a:moveTo>
                <a:lnTo>
                  <a:pt x="35115" y="0"/>
                </a:lnTo>
                <a:cubicBezTo>
                  <a:pt x="40196" y="0"/>
                  <a:pt x="44260" y="4064"/>
                  <a:pt x="44260" y="9081"/>
                </a:cubicBezTo>
                <a:lnTo>
                  <a:pt x="44260" y="19494"/>
                </a:lnTo>
                <a:cubicBezTo>
                  <a:pt x="44260" y="24575"/>
                  <a:pt x="40196" y="28638"/>
                  <a:pt x="35115" y="28638"/>
                </a:cubicBezTo>
                <a:lnTo>
                  <a:pt x="9080" y="28638"/>
                </a:lnTo>
                <a:cubicBezTo>
                  <a:pt x="4064" y="28638"/>
                  <a:pt x="0" y="24575"/>
                  <a:pt x="0" y="19494"/>
                </a:cubicBezTo>
                <a:lnTo>
                  <a:pt x="0" y="9081"/>
                </a:lnTo>
                <a:cubicBezTo>
                  <a:pt x="0" y="4064"/>
                  <a:pt x="4064" y="0"/>
                  <a:pt x="9080" y="0"/>
                </a:cubicBezTo>
                <a:close/>
              </a:path>
            </a:pathLst>
          </a:custGeom>
          <a:solidFill>
            <a:srgbClr val="5A86B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22" name="m-d11_treemap-cl-4">
            <a:extLst>
              <a:ext uri="{FF2B5EF4-FFF2-40B4-BE49-F238E27FC236}">
                <a16:creationId xmlns:a16="http://schemas.microsoft.com/office/drawing/2014/main" id="{A6BA53E5-57BA-FBAC-C90E-235541065CC8}"/>
              </a:ext>
            </a:extLst>
          </p:cNvPr>
          <p:cNvSpPr/>
          <p:nvPr/>
        </p:nvSpPr>
        <p:spPr>
          <a:xfrm>
            <a:off x="4622482" y="2326958"/>
            <a:ext cx="44259" cy="28638"/>
          </a:xfrm>
          <a:custGeom>
            <a:avLst/>
            <a:gdLst/>
            <a:ahLst/>
            <a:cxnLst/>
            <a:rect l="0" t="0" r="r" b="b"/>
            <a:pathLst>
              <a:path w="44259" h="28638">
                <a:moveTo>
                  <a:pt x="9080" y="0"/>
                </a:moveTo>
                <a:lnTo>
                  <a:pt x="35115" y="0"/>
                </a:lnTo>
                <a:cubicBezTo>
                  <a:pt x="40195" y="0"/>
                  <a:pt x="44259" y="4064"/>
                  <a:pt x="44259" y="9081"/>
                </a:cubicBezTo>
                <a:lnTo>
                  <a:pt x="44259" y="19494"/>
                </a:lnTo>
                <a:cubicBezTo>
                  <a:pt x="44259" y="24575"/>
                  <a:pt x="40195" y="28638"/>
                  <a:pt x="35115" y="28638"/>
                </a:cubicBezTo>
                <a:lnTo>
                  <a:pt x="9080" y="28638"/>
                </a:lnTo>
                <a:cubicBezTo>
                  <a:pt x="4064" y="28638"/>
                  <a:pt x="0" y="24575"/>
                  <a:pt x="0" y="19494"/>
                </a:cubicBezTo>
                <a:lnTo>
                  <a:pt x="0" y="9081"/>
                </a:lnTo>
                <a:cubicBezTo>
                  <a:pt x="0" y="4064"/>
                  <a:pt x="4064" y="0"/>
                  <a:pt x="9080" y="0"/>
                </a:cubicBezTo>
                <a:close/>
              </a:path>
            </a:pathLst>
          </a:custGeom>
          <a:solidFill>
            <a:srgbClr val="406E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23" name="m-d11_treemap-cl-5">
            <a:extLst>
              <a:ext uri="{FF2B5EF4-FFF2-40B4-BE49-F238E27FC236}">
                <a16:creationId xmlns:a16="http://schemas.microsoft.com/office/drawing/2014/main" id="{BC5E1E33-3AAD-AEC3-36BA-4B1B1E54E26E}"/>
              </a:ext>
            </a:extLst>
          </p:cNvPr>
          <p:cNvSpPr/>
          <p:nvPr/>
        </p:nvSpPr>
        <p:spPr>
          <a:xfrm>
            <a:off x="4674552" y="2326958"/>
            <a:ext cx="44260" cy="28638"/>
          </a:xfrm>
          <a:custGeom>
            <a:avLst/>
            <a:gdLst/>
            <a:ahLst/>
            <a:cxnLst/>
            <a:rect l="0" t="0" r="r" b="b"/>
            <a:pathLst>
              <a:path w="44260" h="28638">
                <a:moveTo>
                  <a:pt x="9144" y="0"/>
                </a:moveTo>
                <a:lnTo>
                  <a:pt x="35115" y="0"/>
                </a:lnTo>
                <a:cubicBezTo>
                  <a:pt x="40196" y="0"/>
                  <a:pt x="44260" y="4064"/>
                  <a:pt x="44260" y="9081"/>
                </a:cubicBezTo>
                <a:lnTo>
                  <a:pt x="44260" y="19494"/>
                </a:lnTo>
                <a:cubicBezTo>
                  <a:pt x="44260" y="24575"/>
                  <a:pt x="40196" y="28638"/>
                  <a:pt x="35115" y="28638"/>
                </a:cubicBezTo>
                <a:lnTo>
                  <a:pt x="9144" y="28638"/>
                </a:lnTo>
                <a:cubicBezTo>
                  <a:pt x="4064" y="28638"/>
                  <a:pt x="0" y="24575"/>
                  <a:pt x="0" y="19494"/>
                </a:cubicBezTo>
                <a:lnTo>
                  <a:pt x="0" y="9081"/>
                </a:lnTo>
                <a:cubicBezTo>
                  <a:pt x="0" y="4064"/>
                  <a:pt x="4064" y="0"/>
                  <a:pt x="9144" y="0"/>
                </a:cubicBezTo>
                <a:close/>
              </a:path>
            </a:pathLst>
          </a:custGeom>
          <a:solidFill>
            <a:srgbClr val="25569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24" name="m-d11_treemap-cl-6">
            <a:extLst>
              <a:ext uri="{FF2B5EF4-FFF2-40B4-BE49-F238E27FC236}">
                <a16:creationId xmlns:a16="http://schemas.microsoft.com/office/drawing/2014/main" id="{7FACBC22-1E7E-C60B-D4F8-37BC8E951A8E}"/>
              </a:ext>
            </a:extLst>
          </p:cNvPr>
          <p:cNvSpPr/>
          <p:nvPr/>
        </p:nvSpPr>
        <p:spPr>
          <a:xfrm>
            <a:off x="4726622" y="2326958"/>
            <a:ext cx="44260" cy="28638"/>
          </a:xfrm>
          <a:custGeom>
            <a:avLst/>
            <a:gdLst/>
            <a:ahLst/>
            <a:cxnLst/>
            <a:rect l="0" t="0" r="r" b="b"/>
            <a:pathLst>
              <a:path w="44260" h="28638">
                <a:moveTo>
                  <a:pt x="9080" y="0"/>
                </a:moveTo>
                <a:lnTo>
                  <a:pt x="35115" y="0"/>
                </a:lnTo>
                <a:cubicBezTo>
                  <a:pt x="40195" y="0"/>
                  <a:pt x="44260" y="4064"/>
                  <a:pt x="44260" y="9081"/>
                </a:cubicBezTo>
                <a:lnTo>
                  <a:pt x="44260" y="19494"/>
                </a:lnTo>
                <a:cubicBezTo>
                  <a:pt x="44260" y="24575"/>
                  <a:pt x="40195" y="28638"/>
                  <a:pt x="35115" y="28638"/>
                </a:cubicBezTo>
                <a:lnTo>
                  <a:pt x="9080" y="28638"/>
                </a:lnTo>
                <a:cubicBezTo>
                  <a:pt x="4064" y="28638"/>
                  <a:pt x="0" y="24575"/>
                  <a:pt x="0" y="19494"/>
                </a:cubicBezTo>
                <a:lnTo>
                  <a:pt x="0" y="9081"/>
                </a:lnTo>
                <a:cubicBezTo>
                  <a:pt x="0" y="4064"/>
                  <a:pt x="4064" y="0"/>
                  <a:pt x="908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25" name="m-d11_treemap-cl-min">
            <a:extLst>
              <a:ext uri="{FF2B5EF4-FFF2-40B4-BE49-F238E27FC236}">
                <a16:creationId xmlns:a16="http://schemas.microsoft.com/office/drawing/2014/main" id="{3078A78C-A181-3AA0-2A13-5C694614EFD2}"/>
              </a:ext>
            </a:extLst>
          </p:cNvPr>
          <p:cNvSpPr txBox="1"/>
          <p:nvPr/>
        </p:nvSpPr>
        <p:spPr>
          <a:xfrm>
            <a:off x="4464086" y="2364331"/>
            <a:ext cx="4701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20%</a:t>
            </a:r>
          </a:p>
        </p:txBody>
      </p:sp>
      <p:sp>
        <p:nvSpPr>
          <p:cNvPr id="626" name="m-d11_treemap-cl-max">
            <a:extLst>
              <a:ext uri="{FF2B5EF4-FFF2-40B4-BE49-F238E27FC236}">
                <a16:creationId xmlns:a16="http://schemas.microsoft.com/office/drawing/2014/main" id="{540F811D-4738-00DC-820D-65CF98F0597C}"/>
              </a:ext>
            </a:extLst>
          </p:cNvPr>
          <p:cNvSpPr txBox="1"/>
          <p:nvPr/>
        </p:nvSpPr>
        <p:spPr>
          <a:xfrm>
            <a:off x="4733860" y="2364331"/>
            <a:ext cx="4701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65%</a:t>
            </a:r>
          </a:p>
        </p:txBody>
      </p:sp>
      <p:sp>
        <p:nvSpPr>
          <p:cNvPr id="627" name="m-d11_treemap-tot">
            <a:extLst>
              <a:ext uri="{FF2B5EF4-FFF2-40B4-BE49-F238E27FC236}">
                <a16:creationId xmlns:a16="http://schemas.microsoft.com/office/drawing/2014/main" id="{38D9AA50-204F-4952-77AE-ADFE99708384}"/>
              </a:ext>
            </a:extLst>
          </p:cNvPr>
          <p:cNvSpPr/>
          <p:nvPr/>
        </p:nvSpPr>
        <p:spPr>
          <a:xfrm>
            <a:off x="2747962" y="2384234"/>
            <a:ext cx="1483995" cy="80708"/>
          </a:xfrm>
          <a:custGeom>
            <a:avLst/>
            <a:gdLst/>
            <a:ahLst/>
            <a:cxnLst/>
            <a:rect l="0" t="0" r="r" b="b"/>
            <a:pathLst>
              <a:path w="1483995" h="80708">
                <a:moveTo>
                  <a:pt x="18225" y="0"/>
                </a:moveTo>
                <a:lnTo>
                  <a:pt x="1465771" y="0"/>
                </a:lnTo>
                <a:cubicBezTo>
                  <a:pt x="1475803" y="0"/>
                  <a:pt x="1483995" y="8191"/>
                  <a:pt x="1483995" y="18224"/>
                </a:cubicBezTo>
                <a:lnTo>
                  <a:pt x="1483995" y="62484"/>
                </a:lnTo>
                <a:cubicBezTo>
                  <a:pt x="1483995" y="72517"/>
                  <a:pt x="1475803" y="80708"/>
                  <a:pt x="1465771" y="80708"/>
                </a:cubicBezTo>
                <a:lnTo>
                  <a:pt x="18225" y="80708"/>
                </a:lnTo>
                <a:cubicBezTo>
                  <a:pt x="8192" y="80708"/>
                  <a:pt x="0" y="72517"/>
                  <a:pt x="0" y="62484"/>
                </a:cubicBezTo>
                <a:lnTo>
                  <a:pt x="0" y="18224"/>
                </a:lnTo>
                <a:cubicBezTo>
                  <a:pt x="0" y="8191"/>
                  <a:pt x="8192" y="0"/>
                  <a:pt x="18225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28" name="m-d11_treemap-tot-bar">
            <a:extLst>
              <a:ext uri="{FF2B5EF4-FFF2-40B4-BE49-F238E27FC236}">
                <a16:creationId xmlns:a16="http://schemas.microsoft.com/office/drawing/2014/main" id="{7E9AEB48-3097-5648-4A26-EF59F09B5F6D}"/>
              </a:ext>
            </a:extLst>
          </p:cNvPr>
          <p:cNvSpPr/>
          <p:nvPr/>
        </p:nvSpPr>
        <p:spPr>
          <a:xfrm>
            <a:off x="2747962" y="2384234"/>
            <a:ext cx="6509" cy="80708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29" name="m-d11_treemap-tot-h">
            <a:extLst>
              <a:ext uri="{FF2B5EF4-FFF2-40B4-BE49-F238E27FC236}">
                <a16:creationId xmlns:a16="http://schemas.microsoft.com/office/drawing/2014/main" id="{CF7F8D04-7D3F-F567-83F7-57CF5532FC8B}"/>
              </a:ext>
            </a:extLst>
          </p:cNvPr>
          <p:cNvSpPr txBox="1"/>
          <p:nvPr/>
        </p:nvSpPr>
        <p:spPr>
          <a:xfrm>
            <a:off x="2784359" y="2406371"/>
            <a:ext cx="69383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合计</a:t>
            </a:r>
          </a:p>
        </p:txBody>
      </p:sp>
      <p:sp>
        <p:nvSpPr>
          <p:cNvPr id="630" name="m-d11_treemap-tv-1">
            <a:extLst>
              <a:ext uri="{FF2B5EF4-FFF2-40B4-BE49-F238E27FC236}">
                <a16:creationId xmlns:a16="http://schemas.microsoft.com/office/drawing/2014/main" id="{6F384827-E1CC-19E4-C50A-D57FB94B1524}"/>
              </a:ext>
            </a:extLst>
          </p:cNvPr>
          <p:cNvSpPr txBox="1"/>
          <p:nvPr/>
        </p:nvSpPr>
        <p:spPr>
          <a:xfrm>
            <a:off x="2914066" y="2401548"/>
            <a:ext cx="126270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16.8 亿</a:t>
            </a:r>
          </a:p>
        </p:txBody>
      </p:sp>
      <p:sp>
        <p:nvSpPr>
          <p:cNvPr id="631" name="m-d11_treemap-tl-1">
            <a:extLst>
              <a:ext uri="{FF2B5EF4-FFF2-40B4-BE49-F238E27FC236}">
                <a16:creationId xmlns:a16="http://schemas.microsoft.com/office/drawing/2014/main" id="{4C7B41F5-623A-2F36-9C08-529A280E2583}"/>
              </a:ext>
            </a:extLst>
          </p:cNvPr>
          <p:cNvSpPr txBox="1"/>
          <p:nvPr/>
        </p:nvSpPr>
        <p:spPr>
          <a:xfrm>
            <a:off x="3071213" y="2411194"/>
            <a:ext cx="7263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总营收</a:t>
            </a:r>
          </a:p>
        </p:txBody>
      </p:sp>
      <p:sp>
        <p:nvSpPr>
          <p:cNvPr id="632" name="m-d11_treemap-tv-2">
            <a:extLst>
              <a:ext uri="{FF2B5EF4-FFF2-40B4-BE49-F238E27FC236}">
                <a16:creationId xmlns:a16="http://schemas.microsoft.com/office/drawing/2014/main" id="{5B7644E2-D84C-C26E-A662-9D095AC93B35}"/>
              </a:ext>
            </a:extLst>
          </p:cNvPr>
          <p:cNvSpPr txBox="1"/>
          <p:nvPr/>
        </p:nvSpPr>
        <p:spPr>
          <a:xfrm>
            <a:off x="3244710" y="2401548"/>
            <a:ext cx="38662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7</a:t>
            </a:r>
          </a:p>
        </p:txBody>
      </p:sp>
      <p:sp>
        <p:nvSpPr>
          <p:cNvPr id="633" name="m-d11_treemap-tl-2">
            <a:extLst>
              <a:ext uri="{FF2B5EF4-FFF2-40B4-BE49-F238E27FC236}">
                <a16:creationId xmlns:a16="http://schemas.microsoft.com/office/drawing/2014/main" id="{DD33788F-1514-CF0F-6594-0D47FE6EE80D}"/>
              </a:ext>
            </a:extLst>
          </p:cNvPr>
          <p:cNvSpPr txBox="1"/>
          <p:nvPr/>
        </p:nvSpPr>
        <p:spPr>
          <a:xfrm>
            <a:off x="3401858" y="2411194"/>
            <a:ext cx="9138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业务条线</a:t>
            </a:r>
          </a:p>
        </p:txBody>
      </p:sp>
      <p:sp>
        <p:nvSpPr>
          <p:cNvPr id="634" name="m-d11_treemap-tv-3">
            <a:extLst>
              <a:ext uri="{FF2B5EF4-FFF2-40B4-BE49-F238E27FC236}">
                <a16:creationId xmlns:a16="http://schemas.microsoft.com/office/drawing/2014/main" id="{76539A15-4556-0C8E-684A-EA9704EA66EA}"/>
              </a:ext>
            </a:extLst>
          </p:cNvPr>
          <p:cNvSpPr txBox="1"/>
          <p:nvPr/>
        </p:nvSpPr>
        <p:spPr>
          <a:xfrm>
            <a:off x="3575355" y="2401548"/>
            <a:ext cx="99584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41.6%</a:t>
            </a:r>
          </a:p>
        </p:txBody>
      </p:sp>
      <p:sp>
        <p:nvSpPr>
          <p:cNvPr id="635" name="m-d11_treemap-tl-3">
            <a:extLst>
              <a:ext uri="{FF2B5EF4-FFF2-40B4-BE49-F238E27FC236}">
                <a16:creationId xmlns:a16="http://schemas.microsoft.com/office/drawing/2014/main" id="{E55A60AC-475B-1FA2-6503-4F134590E5AF}"/>
              </a:ext>
            </a:extLst>
          </p:cNvPr>
          <p:cNvSpPr txBox="1"/>
          <p:nvPr/>
        </p:nvSpPr>
        <p:spPr>
          <a:xfrm>
            <a:off x="3732502" y="2411194"/>
            <a:ext cx="11012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综合毛利率</a:t>
            </a:r>
          </a:p>
        </p:txBody>
      </p:sp>
      <p:sp>
        <p:nvSpPr>
          <p:cNvPr id="636" name="m-d11_treemap-tv-4">
            <a:extLst>
              <a:ext uri="{FF2B5EF4-FFF2-40B4-BE49-F238E27FC236}">
                <a16:creationId xmlns:a16="http://schemas.microsoft.com/office/drawing/2014/main" id="{F0B369C1-A725-BAA5-4E3E-C32AC73A534D}"/>
              </a:ext>
            </a:extLst>
          </p:cNvPr>
          <p:cNvSpPr txBox="1"/>
          <p:nvPr/>
        </p:nvSpPr>
        <p:spPr>
          <a:xfrm>
            <a:off x="3905999" y="2401548"/>
            <a:ext cx="130175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智能装备</a:t>
            </a:r>
          </a:p>
        </p:txBody>
      </p:sp>
      <p:sp>
        <p:nvSpPr>
          <p:cNvPr id="637" name="m-d11_treemap-tl-4">
            <a:extLst>
              <a:ext uri="{FF2B5EF4-FFF2-40B4-BE49-F238E27FC236}">
                <a16:creationId xmlns:a16="http://schemas.microsoft.com/office/drawing/2014/main" id="{35FB142D-978D-3C17-9E27-6E4AAD4797C6}"/>
              </a:ext>
            </a:extLst>
          </p:cNvPr>
          <p:cNvSpPr txBox="1"/>
          <p:nvPr/>
        </p:nvSpPr>
        <p:spPr>
          <a:xfrm>
            <a:off x="4063147" y="2411194"/>
            <a:ext cx="11012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第一大板块</a:t>
            </a:r>
          </a:p>
        </p:txBody>
      </p:sp>
      <p:cxnSp>
        <p:nvCxnSpPr>
          <p:cNvPr id="638" name="m-d11_treemap-foot-line">
            <a:extLst>
              <a:ext uri="{FF2B5EF4-FFF2-40B4-BE49-F238E27FC236}">
                <a16:creationId xmlns:a16="http://schemas.microsoft.com/office/drawing/2014/main" id="{0CFBB761-05BC-FE5B-690A-3FFE546470EA}"/>
              </a:ext>
            </a:extLst>
          </p:cNvPr>
          <p:cNvCxnSpPr/>
          <p:nvPr/>
        </p:nvCxnSpPr>
        <p:spPr>
          <a:xfrm>
            <a:off x="2672461" y="24935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9" name="m-d11_treemap-foot-l">
            <a:extLst>
              <a:ext uri="{FF2B5EF4-FFF2-40B4-BE49-F238E27FC236}">
                <a16:creationId xmlns:a16="http://schemas.microsoft.com/office/drawing/2014/main" id="{5E32D1BF-3003-78C3-AA8E-BC793E03502D}"/>
              </a:ext>
            </a:extLst>
          </p:cNvPr>
          <p:cNvSpPr txBox="1"/>
          <p:nvPr/>
        </p:nvSpPr>
        <p:spPr>
          <a:xfrm>
            <a:off x="2670274" y="2507523"/>
            <a:ext cx="21429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营收构成 · 七个板块</a:t>
            </a:r>
          </a:p>
        </p:txBody>
      </p:sp>
      <p:sp>
        <p:nvSpPr>
          <p:cNvPr id="640" name="m-d11_treemap-foot-r">
            <a:extLst>
              <a:ext uri="{FF2B5EF4-FFF2-40B4-BE49-F238E27FC236}">
                <a16:creationId xmlns:a16="http://schemas.microsoft.com/office/drawing/2014/main" id="{56E16CE5-256B-E908-BC4F-8AD4E9840EEC}"/>
              </a:ext>
            </a:extLst>
          </p:cNvPr>
          <p:cNvSpPr txBox="1"/>
          <p:nvPr/>
        </p:nvSpPr>
        <p:spPr>
          <a:xfrm>
            <a:off x="4674709" y="25075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641" name="mini-card-s39_flywheel">
            <a:extLst>
              <a:ext uri="{FF2B5EF4-FFF2-40B4-BE49-F238E27FC236}">
                <a16:creationId xmlns:a16="http://schemas.microsoft.com/office/drawing/2014/main" id="{8E2E1BBA-1C5A-697D-1DF8-3AD6A20F9254}"/>
              </a:ext>
            </a:extLst>
          </p:cNvPr>
          <p:cNvSpPr/>
          <p:nvPr/>
        </p:nvSpPr>
        <p:spPr>
          <a:xfrm>
            <a:off x="5168900" y="11684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0" y="0"/>
                </a:moveTo>
                <a:lnTo>
                  <a:pt x="2419160" y="0"/>
                </a:lnTo>
                <a:cubicBezTo>
                  <a:pt x="2463483" y="0"/>
                  <a:pt x="2499360" y="35878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0" y="1405890"/>
                </a:lnTo>
                <a:cubicBezTo>
                  <a:pt x="35877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8"/>
                  <a:pt x="35877" y="0"/>
                  <a:pt x="80200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42" name="m-s39_flywheel-title-bar">
            <a:extLst>
              <a:ext uri="{FF2B5EF4-FFF2-40B4-BE49-F238E27FC236}">
                <a16:creationId xmlns:a16="http://schemas.microsoft.com/office/drawing/2014/main" id="{F6A81F40-AF65-463A-6515-3C16FF8A4ADD}"/>
              </a:ext>
            </a:extLst>
          </p:cNvPr>
          <p:cNvSpPr/>
          <p:nvPr/>
        </p:nvSpPr>
        <p:spPr>
          <a:xfrm>
            <a:off x="5288661" y="12673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43" name="m-s39_flywheel-title-bar-accent">
            <a:extLst>
              <a:ext uri="{FF2B5EF4-FFF2-40B4-BE49-F238E27FC236}">
                <a16:creationId xmlns:a16="http://schemas.microsoft.com/office/drawing/2014/main" id="{4F182ED1-C32B-8AA1-E8A2-DEF40711607A}"/>
              </a:ext>
            </a:extLst>
          </p:cNvPr>
          <p:cNvSpPr/>
          <p:nvPr/>
        </p:nvSpPr>
        <p:spPr>
          <a:xfrm>
            <a:off x="5288661" y="12673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44" name="m-s39_flywheel-title-cn">
            <a:extLst>
              <a:ext uri="{FF2B5EF4-FFF2-40B4-BE49-F238E27FC236}">
                <a16:creationId xmlns:a16="http://schemas.microsoft.com/office/drawing/2014/main" id="{8869F489-9F7D-F58E-22D6-370B6147334F}"/>
              </a:ext>
            </a:extLst>
          </p:cNvPr>
          <p:cNvSpPr txBox="1"/>
          <p:nvPr/>
        </p:nvSpPr>
        <p:spPr>
          <a:xfrm>
            <a:off x="5320840" y="1249968"/>
            <a:ext cx="301485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增长飞轮</a:t>
            </a:r>
          </a:p>
        </p:txBody>
      </p:sp>
      <p:sp>
        <p:nvSpPr>
          <p:cNvPr id="645" name="m-s39_flywheel-title-en">
            <a:extLst>
              <a:ext uri="{FF2B5EF4-FFF2-40B4-BE49-F238E27FC236}">
                <a16:creationId xmlns:a16="http://schemas.microsoft.com/office/drawing/2014/main" id="{EE9422CB-9BDC-D476-8B62-4D8597B0641C}"/>
              </a:ext>
            </a:extLst>
          </p:cNvPr>
          <p:cNvSpPr txBox="1"/>
          <p:nvPr/>
        </p:nvSpPr>
        <p:spPr>
          <a:xfrm>
            <a:off x="5328130" y="1337250"/>
            <a:ext cx="29640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GROWTH FLYWHEEL</a:t>
            </a:r>
          </a:p>
        </p:txBody>
      </p:sp>
      <p:sp>
        <p:nvSpPr>
          <p:cNvPr id="646" name="m-s39_flywheel-title-sub">
            <a:extLst>
              <a:ext uri="{FF2B5EF4-FFF2-40B4-BE49-F238E27FC236}">
                <a16:creationId xmlns:a16="http://schemas.microsoft.com/office/drawing/2014/main" id="{E56E9FD9-0A7A-1010-5D11-71165D8A35D0}"/>
              </a:ext>
            </a:extLst>
          </p:cNvPr>
          <p:cNvSpPr txBox="1"/>
          <p:nvPr/>
        </p:nvSpPr>
        <p:spPr>
          <a:xfrm>
            <a:off x="6800904" y="1306392"/>
            <a:ext cx="750251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五个环节首尾相接，每转一圈，下一圈就更轻松——关键是先让它转起来</a:t>
            </a:r>
          </a:p>
        </p:txBody>
      </p:sp>
      <p:sp>
        <p:nvSpPr>
          <p:cNvPr id="647" name="m-s39_flywheel-halo">
            <a:extLst>
              <a:ext uri="{FF2B5EF4-FFF2-40B4-BE49-F238E27FC236}">
                <a16:creationId xmlns:a16="http://schemas.microsoft.com/office/drawing/2014/main" id="{CEC29DB1-1095-6DDD-9C46-85989430C005}"/>
              </a:ext>
            </a:extLst>
          </p:cNvPr>
          <p:cNvSpPr/>
          <p:nvPr/>
        </p:nvSpPr>
        <p:spPr>
          <a:xfrm>
            <a:off x="5741670" y="1519872"/>
            <a:ext cx="833120" cy="833120"/>
          </a:xfrm>
          <a:prstGeom prst="ellipse">
            <a:avLst/>
          </a:prstGeom>
          <a:solidFill>
            <a:srgbClr val="DCE7F6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48" name="m-s39_flywheel-seg-1">
            <a:extLst>
              <a:ext uri="{FF2B5EF4-FFF2-40B4-BE49-F238E27FC236}">
                <a16:creationId xmlns:a16="http://schemas.microsoft.com/office/drawing/2014/main" id="{9152185E-F633-3CE7-9154-D49D2803E7FD}"/>
              </a:ext>
            </a:extLst>
          </p:cNvPr>
          <p:cNvSpPr/>
          <p:nvPr/>
        </p:nvSpPr>
        <p:spPr>
          <a:xfrm>
            <a:off x="6171732" y="1560204"/>
            <a:ext cx="318905" cy="262889"/>
          </a:xfrm>
          <a:custGeom>
            <a:avLst/>
            <a:gdLst/>
            <a:ahLst/>
            <a:cxnLst/>
            <a:rect l="0" t="0" r="r" b="b"/>
            <a:pathLst>
              <a:path w="318905" h="262889">
                <a:moveTo>
                  <a:pt x="17931" y="54"/>
                </a:moveTo>
                <a:cubicBezTo>
                  <a:pt x="136612" y="9960"/>
                  <a:pt x="243610" y="75302"/>
                  <a:pt x="306729" y="176267"/>
                </a:cubicBezTo>
                <a:lnTo>
                  <a:pt x="315555" y="170742"/>
                </a:lnTo>
                <a:quadBezTo>
                  <a:pt x="322159" y="166615"/>
                  <a:pt x="315746" y="180902"/>
                </a:quadBezTo>
                <a:lnTo>
                  <a:pt x="284567" y="250054"/>
                </a:lnTo>
                <a:quadBezTo>
                  <a:pt x="278154" y="264278"/>
                  <a:pt x="262596" y="262754"/>
                </a:quadBezTo>
                <a:lnTo>
                  <a:pt x="196366" y="256404"/>
                </a:lnTo>
                <a:quadBezTo>
                  <a:pt x="180808" y="254880"/>
                  <a:pt x="187476" y="250752"/>
                </a:quadBezTo>
                <a:lnTo>
                  <a:pt x="196302" y="245228"/>
                </a:lnTo>
                <a:cubicBezTo>
                  <a:pt x="155726" y="180267"/>
                  <a:pt x="87336" y="137722"/>
                  <a:pt x="11136" y="130102"/>
                </a:cubicBezTo>
                <a:quadBezTo>
                  <a:pt x="-548" y="129213"/>
                  <a:pt x="24" y="117529"/>
                </a:quadBezTo>
                <a:lnTo>
                  <a:pt x="5675" y="10913"/>
                </a:lnTo>
                <a:quadBezTo>
                  <a:pt x="6247" y="-771"/>
                  <a:pt x="17931" y="54"/>
                </a:quadBezTo>
                <a:close/>
              </a:path>
            </a:pathLst>
          </a:custGeom>
          <a:gradFill rotWithShape="1">
            <a:gsLst>
              <a:gs pos="0">
                <a:srgbClr val="3667AB"/>
              </a:gs>
              <a:gs pos="100000">
                <a:srgbClr val="134C9C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49" name="m-s39_flywheel-icon-fin">
            <a:extLst>
              <a:ext uri="{FF2B5EF4-FFF2-40B4-BE49-F238E27FC236}">
                <a16:creationId xmlns:a16="http://schemas.microsoft.com/office/drawing/2014/main" id="{2BD24109-A198-BECE-CF69-7ED27B0FD253}"/>
              </a:ext>
            </a:extLst>
          </p:cNvPr>
          <p:cNvSpPr/>
          <p:nvPr/>
        </p:nvSpPr>
        <p:spPr>
          <a:xfrm>
            <a:off x="6317742" y="1638554"/>
            <a:ext cx="12446" cy="19177"/>
          </a:xfrm>
          <a:custGeom>
            <a:avLst/>
            <a:gdLst/>
            <a:ahLst/>
            <a:cxnLst/>
            <a:rect l="0" t="0" r="r" b="b"/>
            <a:pathLst>
              <a:path w="12446" h="19177">
                <a:moveTo>
                  <a:pt x="6223" y="11303"/>
                </a:moveTo>
                <a:lnTo>
                  <a:pt x="6223" y="19177"/>
                </a:lnTo>
                <a:moveTo>
                  <a:pt x="1461" y="11303"/>
                </a:moveTo>
                <a:lnTo>
                  <a:pt x="11049" y="11303"/>
                </a:lnTo>
                <a:moveTo>
                  <a:pt x="1461" y="15557"/>
                </a:moveTo>
                <a:lnTo>
                  <a:pt x="11049" y="15557"/>
                </a:lnTo>
                <a:moveTo>
                  <a:pt x="0" y="0"/>
                </a:moveTo>
                <a:lnTo>
                  <a:pt x="6223" y="8509"/>
                </a:lnTo>
                <a:lnTo>
                  <a:pt x="12446" y="0"/>
                </a:lnTo>
              </a:path>
            </a:pathLst>
          </a:custGeom>
          <a:noFill/>
          <a:ln w="273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50" name="m-s39_flywheel-sn-1">
            <a:extLst>
              <a:ext uri="{FF2B5EF4-FFF2-40B4-BE49-F238E27FC236}">
                <a16:creationId xmlns:a16="http://schemas.microsoft.com/office/drawing/2014/main" id="{7FF3B96F-09B8-A574-3119-26A6CEB7AA88}"/>
              </a:ext>
            </a:extLst>
          </p:cNvPr>
          <p:cNvSpPr txBox="1"/>
          <p:nvPr/>
        </p:nvSpPr>
        <p:spPr>
          <a:xfrm>
            <a:off x="6259471" y="1667090"/>
            <a:ext cx="129003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更低价格</a:t>
            </a:r>
          </a:p>
        </p:txBody>
      </p:sp>
      <p:sp>
        <p:nvSpPr>
          <p:cNvPr id="651" name="m-s39_flywheel-k-1">
            <a:extLst>
              <a:ext uri="{FF2B5EF4-FFF2-40B4-BE49-F238E27FC236}">
                <a16:creationId xmlns:a16="http://schemas.microsoft.com/office/drawing/2014/main" id="{EF93C614-D1BB-26AD-3B1B-36291938F112}"/>
              </a:ext>
            </a:extLst>
          </p:cNvPr>
          <p:cNvSpPr txBox="1"/>
          <p:nvPr/>
        </p:nvSpPr>
        <p:spPr>
          <a:xfrm>
            <a:off x="6403407" y="1498610"/>
            <a:ext cx="165973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3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单价 -12%</a:t>
            </a:r>
          </a:p>
        </p:txBody>
      </p:sp>
      <p:sp>
        <p:nvSpPr>
          <p:cNvPr id="652" name="m-s39_flywheel-d-1">
            <a:extLst>
              <a:ext uri="{FF2B5EF4-FFF2-40B4-BE49-F238E27FC236}">
                <a16:creationId xmlns:a16="http://schemas.microsoft.com/office/drawing/2014/main" id="{CAB950A0-42BD-4DB0-EFFB-07089ACEAD48}"/>
              </a:ext>
            </a:extLst>
          </p:cNvPr>
          <p:cNvSpPr txBox="1"/>
          <p:nvPr/>
        </p:nvSpPr>
        <p:spPr>
          <a:xfrm>
            <a:off x="6404422" y="1545508"/>
            <a:ext cx="182701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规模效应摊薄成本</a:t>
            </a:r>
          </a:p>
        </p:txBody>
      </p:sp>
      <p:sp>
        <p:nvSpPr>
          <p:cNvPr id="653" name="m-s39_flywheel-seg-2">
            <a:extLst>
              <a:ext uri="{FF2B5EF4-FFF2-40B4-BE49-F238E27FC236}">
                <a16:creationId xmlns:a16="http://schemas.microsoft.com/office/drawing/2014/main" id="{B12DFB1A-A6FA-126A-8C67-1AE3E1DEF139}"/>
              </a:ext>
            </a:extLst>
          </p:cNvPr>
          <p:cNvSpPr/>
          <p:nvPr/>
        </p:nvSpPr>
        <p:spPr>
          <a:xfrm>
            <a:off x="6335835" y="1841118"/>
            <a:ext cx="199888" cy="348481"/>
          </a:xfrm>
          <a:custGeom>
            <a:avLst/>
            <a:gdLst/>
            <a:ahLst/>
            <a:cxnLst/>
            <a:rect l="0" t="0" r="r" b="b"/>
            <a:pathLst>
              <a:path w="199888" h="348481">
                <a:moveTo>
                  <a:pt x="189870" y="8955"/>
                </a:moveTo>
                <a:cubicBezTo>
                  <a:pt x="217111" y="124906"/>
                  <a:pt x="188092" y="246889"/>
                  <a:pt x="111511" y="338075"/>
                </a:cubicBezTo>
                <a:lnTo>
                  <a:pt x="119512" y="344743"/>
                </a:lnTo>
                <a:quadBezTo>
                  <a:pt x="125481" y="349759"/>
                  <a:pt x="109923" y="348045"/>
                </a:quadBezTo>
                <a:lnTo>
                  <a:pt x="34549" y="339790"/>
                </a:lnTo>
                <a:quadBezTo>
                  <a:pt x="18991" y="338139"/>
                  <a:pt x="15626" y="322835"/>
                </a:quadBezTo>
                <a:lnTo>
                  <a:pt x="1211" y="257875"/>
                </a:lnTo>
                <a:quadBezTo>
                  <a:pt x="-2154" y="242635"/>
                  <a:pt x="3815" y="247651"/>
                </a:quadBezTo>
                <a:lnTo>
                  <a:pt x="11816" y="254382"/>
                </a:lnTo>
                <a:cubicBezTo>
                  <a:pt x="61092" y="195708"/>
                  <a:pt x="80396" y="117540"/>
                  <a:pt x="64076" y="42673"/>
                </a:cubicBezTo>
                <a:quadBezTo>
                  <a:pt x="61282" y="31307"/>
                  <a:pt x="72649" y="28259"/>
                </a:quadBezTo>
                <a:lnTo>
                  <a:pt x="175709" y="636"/>
                </a:lnTo>
                <a:quadBezTo>
                  <a:pt x="187012" y="-2412"/>
                  <a:pt x="189870" y="8955"/>
                </a:quadBezTo>
                <a:close/>
              </a:path>
            </a:pathLst>
          </a:custGeom>
          <a:gradFill rotWithShape="1">
            <a:gsLst>
              <a:gs pos="0">
                <a:srgbClr val="3D73B5"/>
              </a:gs>
              <a:gs pos="100000">
                <a:srgbClr val="1B5AA8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54" name="m-s39_flywheel-icon-people">
            <a:extLst>
              <a:ext uri="{FF2B5EF4-FFF2-40B4-BE49-F238E27FC236}">
                <a16:creationId xmlns:a16="http://schemas.microsoft.com/office/drawing/2014/main" id="{4DDEA18A-DD81-9218-06F4-64DD8A42EECD}"/>
              </a:ext>
            </a:extLst>
          </p:cNvPr>
          <p:cNvSpPr/>
          <p:nvPr/>
        </p:nvSpPr>
        <p:spPr>
          <a:xfrm>
            <a:off x="6449441" y="1992440"/>
            <a:ext cx="24003" cy="6794"/>
          </a:xfrm>
          <a:custGeom>
            <a:avLst/>
            <a:gdLst/>
            <a:ahLst/>
            <a:cxnLst/>
            <a:rect l="0" t="0" r="r" b="b"/>
            <a:pathLst>
              <a:path w="24003" h="6794">
                <a:moveTo>
                  <a:pt x="0" y="6794"/>
                </a:moveTo>
                <a:cubicBezTo>
                  <a:pt x="0" y="2540"/>
                  <a:pt x="3556" y="0"/>
                  <a:pt x="7620" y="0"/>
                </a:cubicBezTo>
                <a:cubicBezTo>
                  <a:pt x="11748" y="0"/>
                  <a:pt x="15240" y="2540"/>
                  <a:pt x="15240" y="6794"/>
                </a:cubicBezTo>
                <a:moveTo>
                  <a:pt x="18098" y="572"/>
                </a:moveTo>
                <a:cubicBezTo>
                  <a:pt x="21717" y="1016"/>
                  <a:pt x="24003" y="3556"/>
                  <a:pt x="24003" y="6794"/>
                </a:cubicBezTo>
              </a:path>
            </a:pathLst>
          </a:custGeom>
          <a:noFill/>
          <a:ln w="273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55" name="m-s39_flywheel-icon-people">
            <a:extLst>
              <a:ext uri="{FF2B5EF4-FFF2-40B4-BE49-F238E27FC236}">
                <a16:creationId xmlns:a16="http://schemas.microsoft.com/office/drawing/2014/main" id="{C8AABD56-3F7B-F469-0ED8-414A0887B30E}"/>
              </a:ext>
            </a:extLst>
          </p:cNvPr>
          <p:cNvSpPr/>
          <p:nvPr/>
        </p:nvSpPr>
        <p:spPr>
          <a:xfrm>
            <a:off x="6452574" y="1980332"/>
            <a:ext cx="9025" cy="9025"/>
          </a:xfrm>
          <a:prstGeom prst="ellipse">
            <a:avLst/>
          </a:prstGeom>
          <a:noFill/>
          <a:ln w="273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56" name="m-s39_flywheel-icon-people">
            <a:extLst>
              <a:ext uri="{FF2B5EF4-FFF2-40B4-BE49-F238E27FC236}">
                <a16:creationId xmlns:a16="http://schemas.microsoft.com/office/drawing/2014/main" id="{A586D694-42C8-6656-614E-8996CF302623}"/>
              </a:ext>
            </a:extLst>
          </p:cNvPr>
          <p:cNvSpPr/>
          <p:nvPr/>
        </p:nvSpPr>
        <p:spPr>
          <a:xfrm>
            <a:off x="6464702" y="1980332"/>
            <a:ext cx="7333" cy="7333"/>
          </a:xfrm>
          <a:prstGeom prst="ellipse">
            <a:avLst/>
          </a:prstGeom>
          <a:noFill/>
          <a:ln w="273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57" name="m-s39_flywheel-sn-2">
            <a:extLst>
              <a:ext uri="{FF2B5EF4-FFF2-40B4-BE49-F238E27FC236}">
                <a16:creationId xmlns:a16="http://schemas.microsoft.com/office/drawing/2014/main" id="{FCA07FDA-AD90-7CD8-EF18-FE9E2FFAF02C}"/>
              </a:ext>
            </a:extLst>
          </p:cNvPr>
          <p:cNvSpPr txBox="1"/>
          <p:nvPr/>
        </p:nvSpPr>
        <p:spPr>
          <a:xfrm>
            <a:off x="6396815" y="2007715"/>
            <a:ext cx="129003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更多客户</a:t>
            </a:r>
          </a:p>
        </p:txBody>
      </p:sp>
      <p:sp>
        <p:nvSpPr>
          <p:cNvPr id="658" name="m-s39_flywheel-k-2">
            <a:extLst>
              <a:ext uri="{FF2B5EF4-FFF2-40B4-BE49-F238E27FC236}">
                <a16:creationId xmlns:a16="http://schemas.microsoft.com/office/drawing/2014/main" id="{ADA6E62B-4A96-EDDF-339E-8A179F91D57A}"/>
              </a:ext>
            </a:extLst>
          </p:cNvPr>
          <p:cNvSpPr txBox="1"/>
          <p:nvPr/>
        </p:nvSpPr>
        <p:spPr>
          <a:xfrm>
            <a:off x="6609424" y="2009546"/>
            <a:ext cx="165973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3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客户 +24%</a:t>
            </a:r>
          </a:p>
        </p:txBody>
      </p:sp>
      <p:sp>
        <p:nvSpPr>
          <p:cNvPr id="659" name="m-s39_flywheel-d-2">
            <a:extLst>
              <a:ext uri="{FF2B5EF4-FFF2-40B4-BE49-F238E27FC236}">
                <a16:creationId xmlns:a16="http://schemas.microsoft.com/office/drawing/2014/main" id="{E3A13FE3-DFED-7164-3B28-733F99C03801}"/>
              </a:ext>
            </a:extLst>
          </p:cNvPr>
          <p:cNvSpPr txBox="1"/>
          <p:nvPr/>
        </p:nvSpPr>
        <p:spPr>
          <a:xfrm>
            <a:off x="6610439" y="2056445"/>
            <a:ext cx="182701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价格优势带来新客</a:t>
            </a:r>
          </a:p>
        </p:txBody>
      </p:sp>
      <p:sp>
        <p:nvSpPr>
          <p:cNvPr id="660" name="m-s39_flywheel-seg-3">
            <a:extLst>
              <a:ext uri="{FF2B5EF4-FFF2-40B4-BE49-F238E27FC236}">
                <a16:creationId xmlns:a16="http://schemas.microsoft.com/office/drawing/2014/main" id="{54CF9C9F-8391-CCF4-C8CD-FB874EC3C228}"/>
              </a:ext>
            </a:extLst>
          </p:cNvPr>
          <p:cNvSpPr/>
          <p:nvPr/>
        </p:nvSpPr>
        <p:spPr>
          <a:xfrm>
            <a:off x="5990619" y="2147643"/>
            <a:ext cx="369325" cy="166184"/>
          </a:xfrm>
          <a:custGeom>
            <a:avLst/>
            <a:gdLst/>
            <a:ahLst/>
            <a:cxnLst/>
            <a:rect l="0" t="0" r="r" b="b"/>
            <a:pathLst>
              <a:path w="369325" h="166184">
                <a:moveTo>
                  <a:pt x="363318" y="111623"/>
                </a:moveTo>
                <a:cubicBezTo>
                  <a:pt x="261464" y="173345"/>
                  <a:pt x="136496" y="183378"/>
                  <a:pt x="26069" y="138738"/>
                </a:cubicBezTo>
                <a:lnTo>
                  <a:pt x="22196" y="148453"/>
                </a:lnTo>
                <a:quadBezTo>
                  <a:pt x="19275" y="155692"/>
                  <a:pt x="16100" y="140389"/>
                </a:quadBezTo>
                <a:lnTo>
                  <a:pt x="606" y="66094"/>
                </a:lnTo>
                <a:quadBezTo>
                  <a:pt x="-2569" y="50790"/>
                  <a:pt x="10893" y="42853"/>
                </a:quadBezTo>
                <a:lnTo>
                  <a:pt x="68233" y="9134"/>
                </a:lnTo>
                <a:quadBezTo>
                  <a:pt x="81695" y="1197"/>
                  <a:pt x="78774" y="8436"/>
                </a:quadBezTo>
                <a:lnTo>
                  <a:pt x="74901" y="18088"/>
                </a:lnTo>
                <a:cubicBezTo>
                  <a:pt x="145894" y="46790"/>
                  <a:pt x="226221" y="41011"/>
                  <a:pt x="292325" y="2340"/>
                </a:cubicBezTo>
                <a:quadBezTo>
                  <a:pt x="302294" y="-3756"/>
                  <a:pt x="308708" y="6023"/>
                </a:quadBezTo>
                <a:lnTo>
                  <a:pt x="366810" y="95558"/>
                </a:lnTo>
                <a:quadBezTo>
                  <a:pt x="373224" y="105400"/>
                  <a:pt x="363318" y="111623"/>
                </a:quadBezTo>
                <a:close/>
              </a:path>
            </a:pathLst>
          </a:custGeom>
          <a:gradFill rotWithShape="1">
            <a:gsLst>
              <a:gs pos="0">
                <a:srgbClr val="457FC1"/>
              </a:gs>
              <a:gs pos="100000">
                <a:srgbClr val="2468B6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61" name="m-s39_flywheel-icon-share">
            <a:extLst>
              <a:ext uri="{FF2B5EF4-FFF2-40B4-BE49-F238E27FC236}">
                <a16:creationId xmlns:a16="http://schemas.microsoft.com/office/drawing/2014/main" id="{1A1EFE99-13DC-99B1-3B3D-6DC9FDE937A7}"/>
              </a:ext>
            </a:extLst>
          </p:cNvPr>
          <p:cNvSpPr/>
          <p:nvPr/>
        </p:nvSpPr>
        <p:spPr>
          <a:xfrm>
            <a:off x="6174422" y="2217738"/>
            <a:ext cx="10033" cy="13843"/>
          </a:xfrm>
          <a:custGeom>
            <a:avLst/>
            <a:gdLst/>
            <a:ahLst/>
            <a:cxnLst/>
            <a:rect l="0" t="0" r="r" b="b"/>
            <a:pathLst>
              <a:path w="10033" h="13843">
                <a:moveTo>
                  <a:pt x="0" y="5525"/>
                </a:moveTo>
                <a:lnTo>
                  <a:pt x="10033" y="0"/>
                </a:lnTo>
                <a:moveTo>
                  <a:pt x="0" y="8319"/>
                </a:moveTo>
                <a:lnTo>
                  <a:pt x="10033" y="13843"/>
                </a:lnTo>
              </a:path>
            </a:pathLst>
          </a:custGeom>
          <a:noFill/>
          <a:ln w="273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62" name="m-s39_flywheel-icon-share">
            <a:extLst>
              <a:ext uri="{FF2B5EF4-FFF2-40B4-BE49-F238E27FC236}">
                <a16:creationId xmlns:a16="http://schemas.microsoft.com/office/drawing/2014/main" id="{8EA51AB3-746F-F1B5-8E76-37A40B99D3FE}"/>
              </a:ext>
            </a:extLst>
          </p:cNvPr>
          <p:cNvSpPr/>
          <p:nvPr/>
        </p:nvSpPr>
        <p:spPr>
          <a:xfrm>
            <a:off x="6168383" y="2221432"/>
            <a:ext cx="6487" cy="6487"/>
          </a:xfrm>
          <a:prstGeom prst="ellipse">
            <a:avLst/>
          </a:prstGeom>
          <a:noFill/>
          <a:ln w="273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63" name="m-s39_flywheel-icon-share">
            <a:extLst>
              <a:ext uri="{FF2B5EF4-FFF2-40B4-BE49-F238E27FC236}">
                <a16:creationId xmlns:a16="http://schemas.microsoft.com/office/drawing/2014/main" id="{AC6BA002-B513-BBAB-4305-5A3CF55A4940}"/>
              </a:ext>
            </a:extLst>
          </p:cNvPr>
          <p:cNvSpPr/>
          <p:nvPr/>
        </p:nvSpPr>
        <p:spPr>
          <a:xfrm>
            <a:off x="6184177" y="2213252"/>
            <a:ext cx="6487" cy="6487"/>
          </a:xfrm>
          <a:prstGeom prst="ellipse">
            <a:avLst/>
          </a:prstGeom>
          <a:noFill/>
          <a:ln w="273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64" name="m-s39_flywheel-icon-share">
            <a:extLst>
              <a:ext uri="{FF2B5EF4-FFF2-40B4-BE49-F238E27FC236}">
                <a16:creationId xmlns:a16="http://schemas.microsoft.com/office/drawing/2014/main" id="{A78E5CAB-7034-5E11-16B9-1F511FC1BF30}"/>
              </a:ext>
            </a:extLst>
          </p:cNvPr>
          <p:cNvSpPr/>
          <p:nvPr/>
        </p:nvSpPr>
        <p:spPr>
          <a:xfrm>
            <a:off x="6184177" y="2229611"/>
            <a:ext cx="6487" cy="6487"/>
          </a:xfrm>
          <a:prstGeom prst="ellipse">
            <a:avLst/>
          </a:prstGeom>
          <a:noFill/>
          <a:ln w="273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65" name="m-s39_flywheel-sn-3">
            <a:extLst>
              <a:ext uri="{FF2B5EF4-FFF2-40B4-BE49-F238E27FC236}">
                <a16:creationId xmlns:a16="http://schemas.microsoft.com/office/drawing/2014/main" id="{01E6C1CB-3F83-6E55-CFE6-9B9C1FB5066F}"/>
              </a:ext>
            </a:extLst>
          </p:cNvPr>
          <p:cNvSpPr txBox="1"/>
          <p:nvPr/>
        </p:nvSpPr>
        <p:spPr>
          <a:xfrm>
            <a:off x="6115304" y="2243596"/>
            <a:ext cx="129003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更多伙伴</a:t>
            </a:r>
          </a:p>
        </p:txBody>
      </p:sp>
      <p:sp>
        <p:nvSpPr>
          <p:cNvPr id="666" name="m-s39_flywheel-k-3">
            <a:extLst>
              <a:ext uri="{FF2B5EF4-FFF2-40B4-BE49-F238E27FC236}">
                <a16:creationId xmlns:a16="http://schemas.microsoft.com/office/drawing/2014/main" id="{82A7F438-72DD-9385-4846-B10E15CFCB1B}"/>
              </a:ext>
            </a:extLst>
          </p:cNvPr>
          <p:cNvSpPr txBox="1"/>
          <p:nvPr/>
        </p:nvSpPr>
        <p:spPr>
          <a:xfrm>
            <a:off x="6187157" y="2363368"/>
            <a:ext cx="195002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3" normalizeH="0" baseline="0" noProof="0">
                <a:ln>
                  <a:noFill/>
                </a:ln>
                <a:solidFill>
                  <a:srgbClr val="2468B6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伙伴 +38 家</a:t>
            </a:r>
          </a:p>
        </p:txBody>
      </p:sp>
      <p:sp>
        <p:nvSpPr>
          <p:cNvPr id="667" name="m-s39_flywheel-d-3">
            <a:extLst>
              <a:ext uri="{FF2B5EF4-FFF2-40B4-BE49-F238E27FC236}">
                <a16:creationId xmlns:a16="http://schemas.microsoft.com/office/drawing/2014/main" id="{5E07D280-DDEE-5765-1E3E-85E50DC128D4}"/>
              </a:ext>
            </a:extLst>
          </p:cNvPr>
          <p:cNvSpPr txBox="1"/>
          <p:nvPr/>
        </p:nvSpPr>
        <p:spPr>
          <a:xfrm>
            <a:off x="6188172" y="2410267"/>
            <a:ext cx="203268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客户多了伙伴愿意来</a:t>
            </a:r>
          </a:p>
        </p:txBody>
      </p:sp>
      <p:sp>
        <p:nvSpPr>
          <p:cNvPr id="668" name="m-s39_flywheel-seg-4">
            <a:extLst>
              <a:ext uri="{FF2B5EF4-FFF2-40B4-BE49-F238E27FC236}">
                <a16:creationId xmlns:a16="http://schemas.microsoft.com/office/drawing/2014/main" id="{9C4B3EFB-91CE-0C8E-41CC-56B24CE986B5}"/>
              </a:ext>
            </a:extLst>
          </p:cNvPr>
          <p:cNvSpPr/>
          <p:nvPr/>
        </p:nvSpPr>
        <p:spPr>
          <a:xfrm>
            <a:off x="5768412" y="1860029"/>
            <a:ext cx="230135" cy="365664"/>
          </a:xfrm>
          <a:custGeom>
            <a:avLst/>
            <a:gdLst/>
            <a:ahLst/>
            <a:cxnLst/>
            <a:rect l="0" t="0" r="r" b="b"/>
            <a:pathLst>
              <a:path w="230135" h="365664">
                <a:moveTo>
                  <a:pt x="143247" y="362280"/>
                </a:moveTo>
                <a:cubicBezTo>
                  <a:pt x="53077" y="284493"/>
                  <a:pt x="4881" y="168732"/>
                  <a:pt x="13263" y="49924"/>
                </a:cubicBezTo>
                <a:lnTo>
                  <a:pt x="2849" y="49225"/>
                </a:lnTo>
                <a:quadBezTo>
                  <a:pt x="-4962" y="48654"/>
                  <a:pt x="8627" y="40907"/>
                </a:quadBezTo>
                <a:lnTo>
                  <a:pt x="74477" y="3315"/>
                </a:lnTo>
                <a:quadBezTo>
                  <a:pt x="88066" y="-4432"/>
                  <a:pt x="99750" y="5918"/>
                </a:quadBezTo>
                <a:lnTo>
                  <a:pt x="149597" y="49987"/>
                </a:lnTo>
                <a:quadBezTo>
                  <a:pt x="161281" y="60338"/>
                  <a:pt x="153471" y="59830"/>
                </a:quadBezTo>
                <a:lnTo>
                  <a:pt x="143120" y="59068"/>
                </a:lnTo>
                <a:cubicBezTo>
                  <a:pt x="137723" y="135458"/>
                  <a:pt x="168076" y="210071"/>
                  <a:pt x="225226" y="261061"/>
                </a:cubicBezTo>
                <a:quadBezTo>
                  <a:pt x="234179" y="268618"/>
                  <a:pt x="226813" y="277698"/>
                </a:quadBezTo>
                <a:lnTo>
                  <a:pt x="159630" y="360693"/>
                </a:lnTo>
                <a:quadBezTo>
                  <a:pt x="152264" y="369773"/>
                  <a:pt x="143247" y="362280"/>
                </a:quadBezTo>
                <a:close/>
              </a:path>
            </a:pathLst>
          </a:custGeom>
          <a:gradFill rotWithShape="1">
            <a:gsLst>
              <a:gs pos="0">
                <a:srgbClr val="4D8BCB"/>
              </a:gs>
              <a:gs pos="100000">
                <a:srgbClr val="2E77C2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69" name="m-s39_flywheel-icon-star">
            <a:extLst>
              <a:ext uri="{FF2B5EF4-FFF2-40B4-BE49-F238E27FC236}">
                <a16:creationId xmlns:a16="http://schemas.microsoft.com/office/drawing/2014/main" id="{0000BCA5-8D31-88D8-881A-FE411BAEC0D8}"/>
              </a:ext>
            </a:extLst>
          </p:cNvPr>
          <p:cNvSpPr/>
          <p:nvPr/>
        </p:nvSpPr>
        <p:spPr>
          <a:xfrm>
            <a:off x="5856478" y="2017967"/>
            <a:ext cx="24003" cy="22860"/>
          </a:xfrm>
          <a:custGeom>
            <a:avLst/>
            <a:gdLst/>
            <a:ahLst/>
            <a:cxnLst/>
            <a:rect l="0" t="0" r="r" b="b"/>
            <a:pathLst>
              <a:path w="24003" h="22860">
                <a:moveTo>
                  <a:pt x="12001" y="0"/>
                </a:moveTo>
                <a:lnTo>
                  <a:pt x="15685" y="7620"/>
                </a:lnTo>
                <a:lnTo>
                  <a:pt x="24003" y="8763"/>
                </a:lnTo>
                <a:lnTo>
                  <a:pt x="17907" y="14541"/>
                </a:lnTo>
                <a:lnTo>
                  <a:pt x="19495" y="22860"/>
                </a:lnTo>
                <a:lnTo>
                  <a:pt x="12001" y="18796"/>
                </a:lnTo>
                <a:lnTo>
                  <a:pt x="4509" y="22860"/>
                </a:lnTo>
                <a:lnTo>
                  <a:pt x="6096" y="14541"/>
                </a:lnTo>
                <a:lnTo>
                  <a:pt x="0" y="8763"/>
                </a:lnTo>
                <a:lnTo>
                  <a:pt x="8319" y="7620"/>
                </a:lnTo>
                <a:close/>
              </a:path>
            </a:pathLst>
          </a:custGeom>
          <a:noFill/>
          <a:ln w="273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70" name="m-s39_flywheel-sn-4">
            <a:extLst>
              <a:ext uri="{FF2B5EF4-FFF2-40B4-BE49-F238E27FC236}">
                <a16:creationId xmlns:a16="http://schemas.microsoft.com/office/drawing/2014/main" id="{D68A3072-77D3-22ED-AFBA-01C385EFB9AF}"/>
              </a:ext>
            </a:extLst>
          </p:cNvPr>
          <p:cNvSpPr txBox="1"/>
          <p:nvPr/>
        </p:nvSpPr>
        <p:spPr>
          <a:xfrm>
            <a:off x="5803976" y="2048754"/>
            <a:ext cx="129003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更好体验</a:t>
            </a:r>
          </a:p>
        </p:txBody>
      </p:sp>
      <p:sp>
        <p:nvSpPr>
          <p:cNvPr id="671" name="m-s39_flywheel-k-4">
            <a:extLst>
              <a:ext uri="{FF2B5EF4-FFF2-40B4-BE49-F238E27FC236}">
                <a16:creationId xmlns:a16="http://schemas.microsoft.com/office/drawing/2014/main" id="{38917935-C11A-B448-ECEC-731CE51B1C6E}"/>
              </a:ext>
            </a:extLst>
          </p:cNvPr>
          <p:cNvSpPr txBox="1"/>
          <p:nvPr/>
        </p:nvSpPr>
        <p:spPr>
          <a:xfrm>
            <a:off x="5602695" y="2071105"/>
            <a:ext cx="124343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3" normalizeH="0" baseline="0" noProof="0">
                <a:ln>
                  <a:noFill/>
                </a:ln>
                <a:solidFill>
                  <a:srgbClr val="2E77C2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NPS +9</a:t>
            </a:r>
          </a:p>
        </p:txBody>
      </p:sp>
      <p:sp>
        <p:nvSpPr>
          <p:cNvPr id="672" name="m-s39_flywheel-d-4">
            <a:extLst>
              <a:ext uri="{FF2B5EF4-FFF2-40B4-BE49-F238E27FC236}">
                <a16:creationId xmlns:a16="http://schemas.microsoft.com/office/drawing/2014/main" id="{872B4425-9D2C-D740-05C3-00616892F1B6}"/>
              </a:ext>
            </a:extLst>
          </p:cNvPr>
          <p:cNvSpPr txBox="1"/>
          <p:nvPr/>
        </p:nvSpPr>
        <p:spPr>
          <a:xfrm>
            <a:off x="5543322" y="2118004"/>
            <a:ext cx="182701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伙伴补齐解决方案</a:t>
            </a:r>
          </a:p>
        </p:txBody>
      </p:sp>
      <p:sp>
        <p:nvSpPr>
          <p:cNvPr id="673" name="m-s39_flywheel-seg-5">
            <a:extLst>
              <a:ext uri="{FF2B5EF4-FFF2-40B4-BE49-F238E27FC236}">
                <a16:creationId xmlns:a16="http://schemas.microsoft.com/office/drawing/2014/main" id="{7F0079DC-9FE1-7F7A-5A51-14B98E1517EB}"/>
              </a:ext>
            </a:extLst>
          </p:cNvPr>
          <p:cNvSpPr/>
          <p:nvPr/>
        </p:nvSpPr>
        <p:spPr>
          <a:xfrm>
            <a:off x="5808943" y="1556844"/>
            <a:ext cx="328878" cy="287910"/>
          </a:xfrm>
          <a:custGeom>
            <a:avLst/>
            <a:gdLst/>
            <a:ahLst/>
            <a:cxnLst/>
            <a:rect l="0" t="0" r="r" b="b"/>
            <a:pathLst>
              <a:path w="328878" h="287910">
                <a:moveTo>
                  <a:pt x="1244" y="233411"/>
                </a:moveTo>
                <a:cubicBezTo>
                  <a:pt x="47345" y="123620"/>
                  <a:pt x="142531" y="42022"/>
                  <a:pt x="258101" y="13257"/>
                </a:cubicBezTo>
                <a:lnTo>
                  <a:pt x="255561" y="3160"/>
                </a:lnTo>
                <a:quadBezTo>
                  <a:pt x="253656" y="-4396"/>
                  <a:pt x="265213" y="6081"/>
                </a:quadBezTo>
                <a:lnTo>
                  <a:pt x="321347" y="57072"/>
                </a:lnTo>
                <a:quadBezTo>
                  <a:pt x="332968" y="67613"/>
                  <a:pt x="326681" y="81900"/>
                </a:quadBezTo>
                <a:lnTo>
                  <a:pt x="300138" y="142924"/>
                </a:lnTo>
                <a:quadBezTo>
                  <a:pt x="293915" y="157275"/>
                  <a:pt x="292074" y="149655"/>
                </a:quadBezTo>
                <a:lnTo>
                  <a:pt x="289534" y="139558"/>
                </a:lnTo>
                <a:cubicBezTo>
                  <a:pt x="215175" y="158100"/>
                  <a:pt x="153644" y="209980"/>
                  <a:pt x="122846" y="280147"/>
                </a:cubicBezTo>
                <a:quadBezTo>
                  <a:pt x="118401" y="290942"/>
                  <a:pt x="107479" y="286751"/>
                </a:quadBezTo>
                <a:lnTo>
                  <a:pt x="7784" y="248524"/>
                </a:lnTo>
                <a:quadBezTo>
                  <a:pt x="-3138" y="244270"/>
                  <a:pt x="1244" y="233411"/>
                </a:quadBezTo>
                <a:close/>
              </a:path>
            </a:pathLst>
          </a:custGeom>
          <a:gradFill rotWithShape="1">
            <a:gsLst>
              <a:gs pos="0">
                <a:srgbClr val="E58558"/>
              </a:gs>
              <a:gs pos="100000">
                <a:srgbClr val="E0703A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74" name="m-s39_flywheel-icon-grow">
            <a:extLst>
              <a:ext uri="{FF2B5EF4-FFF2-40B4-BE49-F238E27FC236}">
                <a16:creationId xmlns:a16="http://schemas.microsoft.com/office/drawing/2014/main" id="{0D683257-F7DC-E96A-705B-ED10531196F9}"/>
              </a:ext>
            </a:extLst>
          </p:cNvPr>
          <p:cNvSpPr/>
          <p:nvPr/>
        </p:nvSpPr>
        <p:spPr>
          <a:xfrm>
            <a:off x="5945759" y="1668208"/>
            <a:ext cx="21145" cy="13208"/>
          </a:xfrm>
          <a:custGeom>
            <a:avLst/>
            <a:gdLst/>
            <a:ahLst/>
            <a:cxnLst/>
            <a:rect l="0" t="0" r="r" b="b"/>
            <a:pathLst>
              <a:path w="21145" h="13208">
                <a:moveTo>
                  <a:pt x="0" y="13208"/>
                </a:moveTo>
                <a:lnTo>
                  <a:pt x="7049" y="5588"/>
                </a:lnTo>
                <a:lnTo>
                  <a:pt x="12128" y="9843"/>
                </a:lnTo>
                <a:lnTo>
                  <a:pt x="20574" y="0"/>
                </a:lnTo>
                <a:moveTo>
                  <a:pt x="17208" y="0"/>
                </a:moveTo>
                <a:lnTo>
                  <a:pt x="21145" y="0"/>
                </a:lnTo>
                <a:lnTo>
                  <a:pt x="21145" y="3937"/>
                </a:lnTo>
              </a:path>
            </a:pathLst>
          </a:custGeom>
          <a:noFill/>
          <a:ln w="273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75" name="m-s39_flywheel-sn-5">
            <a:extLst>
              <a:ext uri="{FF2B5EF4-FFF2-40B4-BE49-F238E27FC236}">
                <a16:creationId xmlns:a16="http://schemas.microsoft.com/office/drawing/2014/main" id="{7DE5E6B6-AFCB-D5F4-34A4-EE09B5CB2238}"/>
              </a:ext>
            </a:extLst>
          </p:cNvPr>
          <p:cNvSpPr txBox="1"/>
          <p:nvPr/>
        </p:nvSpPr>
        <p:spPr>
          <a:xfrm>
            <a:off x="5893076" y="1692454"/>
            <a:ext cx="129003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更大规模</a:t>
            </a:r>
          </a:p>
        </p:txBody>
      </p:sp>
      <p:sp>
        <p:nvSpPr>
          <p:cNvPr id="676" name="m-s39_flywheel-k-5">
            <a:extLst>
              <a:ext uri="{FF2B5EF4-FFF2-40B4-BE49-F238E27FC236}">
                <a16:creationId xmlns:a16="http://schemas.microsoft.com/office/drawing/2014/main" id="{D93D3BCD-D8D1-F539-9C75-9F57EC2E64EB}"/>
              </a:ext>
            </a:extLst>
          </p:cNvPr>
          <p:cNvSpPr txBox="1"/>
          <p:nvPr/>
        </p:nvSpPr>
        <p:spPr>
          <a:xfrm>
            <a:off x="5694715" y="1536655"/>
            <a:ext cx="165973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3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营收 +20%</a:t>
            </a:r>
          </a:p>
        </p:txBody>
      </p:sp>
      <p:sp>
        <p:nvSpPr>
          <p:cNvPr id="677" name="m-s39_flywheel-d-5">
            <a:extLst>
              <a:ext uri="{FF2B5EF4-FFF2-40B4-BE49-F238E27FC236}">
                <a16:creationId xmlns:a16="http://schemas.microsoft.com/office/drawing/2014/main" id="{0CE943DE-B4CB-04C2-C631-057C9EE3D3AD}"/>
              </a:ext>
            </a:extLst>
          </p:cNvPr>
          <p:cNvSpPr txBox="1"/>
          <p:nvPr/>
        </p:nvSpPr>
        <p:spPr>
          <a:xfrm>
            <a:off x="5676972" y="1583554"/>
            <a:ext cx="182701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口碑推动持续增长</a:t>
            </a:r>
          </a:p>
        </p:txBody>
      </p:sp>
      <p:sp>
        <p:nvSpPr>
          <p:cNvPr id="678" name="m-s39_flywheel-core">
            <a:extLst>
              <a:ext uri="{FF2B5EF4-FFF2-40B4-BE49-F238E27FC236}">
                <a16:creationId xmlns:a16="http://schemas.microsoft.com/office/drawing/2014/main" id="{66C7E2A9-58C8-C1DE-8CEA-6A966568AD40}"/>
              </a:ext>
            </a:extLst>
          </p:cNvPr>
          <p:cNvSpPr/>
          <p:nvPr/>
        </p:nvSpPr>
        <p:spPr>
          <a:xfrm>
            <a:off x="5944743" y="1722946"/>
            <a:ext cx="426974" cy="4269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79" name="m-s39_flywheel-core-t">
            <a:extLst>
              <a:ext uri="{FF2B5EF4-FFF2-40B4-BE49-F238E27FC236}">
                <a16:creationId xmlns:a16="http://schemas.microsoft.com/office/drawing/2014/main" id="{C698C432-9AAC-8B5B-394B-404FF0E153D1}"/>
              </a:ext>
            </a:extLst>
          </p:cNvPr>
          <p:cNvSpPr txBox="1"/>
          <p:nvPr/>
        </p:nvSpPr>
        <p:spPr>
          <a:xfrm>
            <a:off x="6083640" y="1853134"/>
            <a:ext cx="149181" cy="7745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50" b="1" i="0" u="none" strike="noStrike" kern="1200" cap="none" spc="82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飞轮</a:t>
            </a:r>
          </a:p>
        </p:txBody>
      </p:sp>
      <p:sp>
        <p:nvSpPr>
          <p:cNvPr id="680" name="m-s39_flywheel-core-l">
            <a:extLst>
              <a:ext uri="{FF2B5EF4-FFF2-40B4-BE49-F238E27FC236}">
                <a16:creationId xmlns:a16="http://schemas.microsoft.com/office/drawing/2014/main" id="{D3060CF6-D952-4008-C4EE-8A09DB6188A1}"/>
              </a:ext>
            </a:extLst>
          </p:cNvPr>
          <p:cNvSpPr txBox="1"/>
          <p:nvPr/>
        </p:nvSpPr>
        <p:spPr>
          <a:xfrm>
            <a:off x="6125426" y="1934141"/>
            <a:ext cx="65608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2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转速</a:t>
            </a:r>
          </a:p>
        </p:txBody>
      </p:sp>
      <p:sp>
        <p:nvSpPr>
          <p:cNvPr id="681" name="m-s39_flywheel-core-v">
            <a:extLst>
              <a:ext uri="{FF2B5EF4-FFF2-40B4-BE49-F238E27FC236}">
                <a16:creationId xmlns:a16="http://schemas.microsoft.com/office/drawing/2014/main" id="{38DEE35B-6D28-8AF0-56EE-247C1330E6DB}"/>
              </a:ext>
            </a:extLst>
          </p:cNvPr>
          <p:cNvSpPr txBox="1"/>
          <p:nvPr/>
        </p:nvSpPr>
        <p:spPr>
          <a:xfrm>
            <a:off x="6084655" y="1959265"/>
            <a:ext cx="147150" cy="820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7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×1.4</a:t>
            </a:r>
          </a:p>
        </p:txBody>
      </p:sp>
      <p:sp>
        <p:nvSpPr>
          <p:cNvPr id="682" name="m-s39_flywheel-side-bar">
            <a:extLst>
              <a:ext uri="{FF2B5EF4-FFF2-40B4-BE49-F238E27FC236}">
                <a16:creationId xmlns:a16="http://schemas.microsoft.com/office/drawing/2014/main" id="{6E0B062D-86DA-F6F0-EFFC-5273D6AEC6E9}"/>
              </a:ext>
            </a:extLst>
          </p:cNvPr>
          <p:cNvSpPr/>
          <p:nvPr/>
        </p:nvSpPr>
        <p:spPr>
          <a:xfrm>
            <a:off x="6913245" y="1493838"/>
            <a:ext cx="6509" cy="109347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83" name="m-s39_flywheel-side-h">
            <a:extLst>
              <a:ext uri="{FF2B5EF4-FFF2-40B4-BE49-F238E27FC236}">
                <a16:creationId xmlns:a16="http://schemas.microsoft.com/office/drawing/2014/main" id="{5EECB909-EA37-5A97-EC02-EE70ABCE8BD6}"/>
              </a:ext>
            </a:extLst>
          </p:cNvPr>
          <p:cNvSpPr txBox="1"/>
          <p:nvPr/>
        </p:nvSpPr>
        <p:spPr>
          <a:xfrm>
            <a:off x="6945789" y="1495302"/>
            <a:ext cx="275320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怎么让它转起来</a:t>
            </a:r>
          </a:p>
        </p:txBody>
      </p:sp>
      <p:sp>
        <p:nvSpPr>
          <p:cNvPr id="684" name="m-s39_flywheel-side-p">
            <a:extLst>
              <a:ext uri="{FF2B5EF4-FFF2-40B4-BE49-F238E27FC236}">
                <a16:creationId xmlns:a16="http://schemas.microsoft.com/office/drawing/2014/main" id="{F1585B5C-3988-352E-C6B0-FFD508FDD64A}"/>
              </a:ext>
            </a:extLst>
          </p:cNvPr>
          <p:cNvSpPr txBox="1"/>
          <p:nvPr/>
        </p:nvSpPr>
        <p:spPr>
          <a:xfrm>
            <a:off x="6946960" y="1551619"/>
            <a:ext cx="253516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从最容易推的一环下手</a:t>
            </a:r>
          </a:p>
        </p:txBody>
      </p:sp>
      <p:sp>
        <p:nvSpPr>
          <p:cNvPr id="685" name="m-s39_flywheel-tip-1">
            <a:extLst>
              <a:ext uri="{FF2B5EF4-FFF2-40B4-BE49-F238E27FC236}">
                <a16:creationId xmlns:a16="http://schemas.microsoft.com/office/drawing/2014/main" id="{780472B0-F26A-01C8-1C82-74C44327DE83}"/>
              </a:ext>
            </a:extLst>
          </p:cNvPr>
          <p:cNvSpPr/>
          <p:nvPr/>
        </p:nvSpPr>
        <p:spPr>
          <a:xfrm>
            <a:off x="6913245" y="1637030"/>
            <a:ext cx="559752" cy="169227"/>
          </a:xfrm>
          <a:custGeom>
            <a:avLst/>
            <a:gdLst/>
            <a:ahLst/>
            <a:cxnLst/>
            <a:rect l="0" t="0" r="r" b="b"/>
            <a:pathLst>
              <a:path w="559752" h="169227">
                <a:moveTo>
                  <a:pt x="26035" y="0"/>
                </a:moveTo>
                <a:lnTo>
                  <a:pt x="533717" y="0"/>
                </a:lnTo>
                <a:cubicBezTo>
                  <a:pt x="548132" y="0"/>
                  <a:pt x="559752" y="11620"/>
                  <a:pt x="559752" y="26035"/>
                </a:cubicBezTo>
                <a:lnTo>
                  <a:pt x="559752" y="143193"/>
                </a:lnTo>
                <a:cubicBezTo>
                  <a:pt x="559752" y="157607"/>
                  <a:pt x="548132" y="169227"/>
                  <a:pt x="533717" y="169227"/>
                </a:cubicBezTo>
                <a:lnTo>
                  <a:pt x="26035" y="169227"/>
                </a:lnTo>
                <a:cubicBezTo>
                  <a:pt x="11620" y="169227"/>
                  <a:pt x="0" y="157607"/>
                  <a:pt x="0" y="143193"/>
                </a:cubicBezTo>
                <a:lnTo>
                  <a:pt x="0" y="26035"/>
                </a:lnTo>
                <a:cubicBezTo>
                  <a:pt x="0" y="11620"/>
                  <a:pt x="11620" y="0"/>
                  <a:pt x="260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86" name="m-s39_flywheel-tipn-1">
            <a:extLst>
              <a:ext uri="{FF2B5EF4-FFF2-40B4-BE49-F238E27FC236}">
                <a16:creationId xmlns:a16="http://schemas.microsoft.com/office/drawing/2014/main" id="{CED664AE-28CB-0CD8-4DB2-FF6A1B2DD3C1}"/>
              </a:ext>
            </a:extLst>
          </p:cNvPr>
          <p:cNvSpPr txBox="1"/>
          <p:nvPr/>
        </p:nvSpPr>
        <p:spPr>
          <a:xfrm>
            <a:off x="6943446" y="1650829"/>
            <a:ext cx="105181" cy="9112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09" b="1" i="0" u="none" strike="noStrike" kern="1200" cap="none" spc="0" normalizeH="0" baseline="0" noProof="0">
                <a:ln>
                  <a:noFill/>
                </a:ln>
                <a:solidFill>
                  <a:srgbClr val="0B3E8F">
                    <a:alpha val="3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687" name="m-s39_flywheel-tiph-1">
            <a:extLst>
              <a:ext uri="{FF2B5EF4-FFF2-40B4-BE49-F238E27FC236}">
                <a16:creationId xmlns:a16="http://schemas.microsoft.com/office/drawing/2014/main" id="{0C19DBDF-6A89-4989-8464-B9A3E4410EE2}"/>
              </a:ext>
            </a:extLst>
          </p:cNvPr>
          <p:cNvSpPr txBox="1"/>
          <p:nvPr/>
        </p:nvSpPr>
        <p:spPr>
          <a:xfrm>
            <a:off x="7040296" y="1675171"/>
            <a:ext cx="214789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第一推力：价格</a:t>
            </a:r>
          </a:p>
        </p:txBody>
      </p:sp>
      <p:sp>
        <p:nvSpPr>
          <p:cNvPr id="688" name="m-s39_flywheel-tipd-1">
            <a:extLst>
              <a:ext uri="{FF2B5EF4-FFF2-40B4-BE49-F238E27FC236}">
                <a16:creationId xmlns:a16="http://schemas.microsoft.com/office/drawing/2014/main" id="{CE0FDFC9-3A25-1505-B080-9D5FEE2D9895}"/>
              </a:ext>
            </a:extLst>
          </p:cNvPr>
          <p:cNvSpPr txBox="1"/>
          <p:nvPr/>
        </p:nvSpPr>
        <p:spPr>
          <a:xfrm>
            <a:off x="7040999" y="1731872"/>
            <a:ext cx="264971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先用规模采购把成本降下来</a:t>
            </a:r>
          </a:p>
        </p:txBody>
      </p:sp>
      <p:sp>
        <p:nvSpPr>
          <p:cNvPr id="689" name="m-s39_flywheel-tip-2">
            <a:extLst>
              <a:ext uri="{FF2B5EF4-FFF2-40B4-BE49-F238E27FC236}">
                <a16:creationId xmlns:a16="http://schemas.microsoft.com/office/drawing/2014/main" id="{1A178A0C-9CD1-9C23-787D-5A58DA8C6F99}"/>
              </a:ext>
            </a:extLst>
          </p:cNvPr>
          <p:cNvSpPr/>
          <p:nvPr/>
        </p:nvSpPr>
        <p:spPr>
          <a:xfrm>
            <a:off x="6913245" y="1832292"/>
            <a:ext cx="559752" cy="169227"/>
          </a:xfrm>
          <a:custGeom>
            <a:avLst/>
            <a:gdLst/>
            <a:ahLst/>
            <a:cxnLst/>
            <a:rect l="0" t="0" r="r" b="b"/>
            <a:pathLst>
              <a:path w="559752" h="169227">
                <a:moveTo>
                  <a:pt x="26035" y="0"/>
                </a:moveTo>
                <a:lnTo>
                  <a:pt x="533717" y="0"/>
                </a:lnTo>
                <a:cubicBezTo>
                  <a:pt x="548132" y="0"/>
                  <a:pt x="559752" y="11620"/>
                  <a:pt x="559752" y="26035"/>
                </a:cubicBezTo>
                <a:lnTo>
                  <a:pt x="559752" y="143193"/>
                </a:lnTo>
                <a:cubicBezTo>
                  <a:pt x="559752" y="157607"/>
                  <a:pt x="548132" y="169227"/>
                  <a:pt x="533717" y="169227"/>
                </a:cubicBezTo>
                <a:lnTo>
                  <a:pt x="26035" y="169227"/>
                </a:lnTo>
                <a:cubicBezTo>
                  <a:pt x="11620" y="169227"/>
                  <a:pt x="0" y="157607"/>
                  <a:pt x="0" y="143193"/>
                </a:cubicBezTo>
                <a:lnTo>
                  <a:pt x="0" y="26035"/>
                </a:lnTo>
                <a:cubicBezTo>
                  <a:pt x="0" y="11620"/>
                  <a:pt x="11620" y="0"/>
                  <a:pt x="260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90" name="m-s39_flywheel-tipn-2">
            <a:extLst>
              <a:ext uri="{FF2B5EF4-FFF2-40B4-BE49-F238E27FC236}">
                <a16:creationId xmlns:a16="http://schemas.microsoft.com/office/drawing/2014/main" id="{B15E1256-5A43-8EC5-E903-B972F39792D7}"/>
              </a:ext>
            </a:extLst>
          </p:cNvPr>
          <p:cNvSpPr txBox="1"/>
          <p:nvPr/>
        </p:nvSpPr>
        <p:spPr>
          <a:xfrm>
            <a:off x="6943446" y="1846091"/>
            <a:ext cx="105181" cy="9112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09" b="1" i="0" u="none" strike="noStrike" kern="1200" cap="none" spc="0" normalizeH="0" baseline="0" noProof="0">
                <a:ln>
                  <a:noFill/>
                </a:ln>
                <a:solidFill>
                  <a:srgbClr val="1B5AA8">
                    <a:alpha val="3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691" name="m-s39_flywheel-tiph-2">
            <a:extLst>
              <a:ext uri="{FF2B5EF4-FFF2-40B4-BE49-F238E27FC236}">
                <a16:creationId xmlns:a16="http://schemas.microsoft.com/office/drawing/2014/main" id="{00FD80B0-D2C6-314D-E030-208DA4B891F9}"/>
              </a:ext>
            </a:extLst>
          </p:cNvPr>
          <p:cNvSpPr txBox="1"/>
          <p:nvPr/>
        </p:nvSpPr>
        <p:spPr>
          <a:xfrm>
            <a:off x="7040296" y="1870434"/>
            <a:ext cx="132778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不要跳环</a:t>
            </a:r>
          </a:p>
        </p:txBody>
      </p:sp>
      <p:sp>
        <p:nvSpPr>
          <p:cNvPr id="692" name="m-s39_flywheel-tipd-2">
            <a:extLst>
              <a:ext uri="{FF2B5EF4-FFF2-40B4-BE49-F238E27FC236}">
                <a16:creationId xmlns:a16="http://schemas.microsoft.com/office/drawing/2014/main" id="{D4C5EF71-4A25-C1F6-D9EF-6079DCFD031E}"/>
              </a:ext>
            </a:extLst>
          </p:cNvPr>
          <p:cNvSpPr txBox="1"/>
          <p:nvPr/>
        </p:nvSpPr>
        <p:spPr>
          <a:xfrm>
            <a:off x="7040999" y="1927135"/>
            <a:ext cx="326674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任何一环卡住，整个轮子都会减速</a:t>
            </a:r>
          </a:p>
        </p:txBody>
      </p:sp>
      <p:sp>
        <p:nvSpPr>
          <p:cNvPr id="693" name="m-s39_flywheel-tip-3">
            <a:extLst>
              <a:ext uri="{FF2B5EF4-FFF2-40B4-BE49-F238E27FC236}">
                <a16:creationId xmlns:a16="http://schemas.microsoft.com/office/drawing/2014/main" id="{9C06DABD-46F3-5997-5350-5B56D5ECE5D2}"/>
              </a:ext>
            </a:extLst>
          </p:cNvPr>
          <p:cNvSpPr/>
          <p:nvPr/>
        </p:nvSpPr>
        <p:spPr>
          <a:xfrm>
            <a:off x="6913245" y="2027555"/>
            <a:ext cx="559752" cy="169227"/>
          </a:xfrm>
          <a:custGeom>
            <a:avLst/>
            <a:gdLst/>
            <a:ahLst/>
            <a:cxnLst/>
            <a:rect l="0" t="0" r="r" b="b"/>
            <a:pathLst>
              <a:path w="559752" h="169227">
                <a:moveTo>
                  <a:pt x="26035" y="0"/>
                </a:moveTo>
                <a:lnTo>
                  <a:pt x="533717" y="0"/>
                </a:lnTo>
                <a:cubicBezTo>
                  <a:pt x="548132" y="0"/>
                  <a:pt x="559752" y="11620"/>
                  <a:pt x="559752" y="26035"/>
                </a:cubicBezTo>
                <a:lnTo>
                  <a:pt x="559752" y="143193"/>
                </a:lnTo>
                <a:cubicBezTo>
                  <a:pt x="559752" y="157607"/>
                  <a:pt x="548132" y="169227"/>
                  <a:pt x="533717" y="169227"/>
                </a:cubicBezTo>
                <a:lnTo>
                  <a:pt x="26035" y="169227"/>
                </a:lnTo>
                <a:cubicBezTo>
                  <a:pt x="11620" y="169227"/>
                  <a:pt x="0" y="157607"/>
                  <a:pt x="0" y="143193"/>
                </a:cubicBezTo>
                <a:lnTo>
                  <a:pt x="0" y="26035"/>
                </a:lnTo>
                <a:cubicBezTo>
                  <a:pt x="0" y="11620"/>
                  <a:pt x="11620" y="0"/>
                  <a:pt x="260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94" name="m-s39_flywheel-tipn-3">
            <a:extLst>
              <a:ext uri="{FF2B5EF4-FFF2-40B4-BE49-F238E27FC236}">
                <a16:creationId xmlns:a16="http://schemas.microsoft.com/office/drawing/2014/main" id="{C95EA90D-1283-BD94-83FC-5CBA7F3672AE}"/>
              </a:ext>
            </a:extLst>
          </p:cNvPr>
          <p:cNvSpPr txBox="1"/>
          <p:nvPr/>
        </p:nvSpPr>
        <p:spPr>
          <a:xfrm>
            <a:off x="6943446" y="2041354"/>
            <a:ext cx="105181" cy="9112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09" b="1" i="0" u="none" strike="noStrike" kern="1200" cap="none" spc="0" normalizeH="0" baseline="0" noProof="0">
                <a:ln>
                  <a:noFill/>
                </a:ln>
                <a:solidFill>
                  <a:srgbClr val="2E77C2">
                    <a:alpha val="3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695" name="m-s39_flywheel-tiph-3">
            <a:extLst>
              <a:ext uri="{FF2B5EF4-FFF2-40B4-BE49-F238E27FC236}">
                <a16:creationId xmlns:a16="http://schemas.microsoft.com/office/drawing/2014/main" id="{83A5FBB1-5909-D183-E35A-36E5962F1603}"/>
              </a:ext>
            </a:extLst>
          </p:cNvPr>
          <p:cNvSpPr txBox="1"/>
          <p:nvPr/>
        </p:nvSpPr>
        <p:spPr>
          <a:xfrm>
            <a:off x="7040296" y="2065696"/>
            <a:ext cx="187452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每季度量一次</a:t>
            </a:r>
          </a:p>
        </p:txBody>
      </p:sp>
      <p:sp>
        <p:nvSpPr>
          <p:cNvPr id="696" name="m-s39_flywheel-tipd-3">
            <a:extLst>
              <a:ext uri="{FF2B5EF4-FFF2-40B4-BE49-F238E27FC236}">
                <a16:creationId xmlns:a16="http://schemas.microsoft.com/office/drawing/2014/main" id="{A74451C8-C2CF-FF97-53DB-D3808F59576C}"/>
              </a:ext>
            </a:extLst>
          </p:cNvPr>
          <p:cNvSpPr txBox="1"/>
          <p:nvPr/>
        </p:nvSpPr>
        <p:spPr>
          <a:xfrm>
            <a:off x="7040999" y="2122397"/>
            <a:ext cx="347242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五个指标同时看，找出最慢的那一环</a:t>
            </a:r>
          </a:p>
        </p:txBody>
      </p:sp>
      <p:cxnSp>
        <p:nvCxnSpPr>
          <p:cNvPr id="697" name="m-s39_flywheel-foot-line">
            <a:extLst>
              <a:ext uri="{FF2B5EF4-FFF2-40B4-BE49-F238E27FC236}">
                <a16:creationId xmlns:a16="http://schemas.microsoft.com/office/drawing/2014/main" id="{147EC59C-3C80-F672-4F53-C8815316CBEA}"/>
              </a:ext>
            </a:extLst>
          </p:cNvPr>
          <p:cNvCxnSpPr/>
          <p:nvPr/>
        </p:nvCxnSpPr>
        <p:spPr>
          <a:xfrm>
            <a:off x="5288661" y="24935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98" name="m-s39_flywheel-foot-l">
            <a:extLst>
              <a:ext uri="{FF2B5EF4-FFF2-40B4-BE49-F238E27FC236}">
                <a16:creationId xmlns:a16="http://schemas.microsoft.com/office/drawing/2014/main" id="{FC41287C-6DE1-1D77-A845-13C6F0E4FE1C}"/>
              </a:ext>
            </a:extLst>
          </p:cNvPr>
          <p:cNvSpPr txBox="1"/>
          <p:nvPr/>
        </p:nvSpPr>
        <p:spPr>
          <a:xfrm>
            <a:off x="5286474" y="2507523"/>
            <a:ext cx="21429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增长飞轮 · 五个环节</a:t>
            </a:r>
          </a:p>
        </p:txBody>
      </p:sp>
      <p:sp>
        <p:nvSpPr>
          <p:cNvPr id="699" name="m-s39_flywheel-foot-r">
            <a:extLst>
              <a:ext uri="{FF2B5EF4-FFF2-40B4-BE49-F238E27FC236}">
                <a16:creationId xmlns:a16="http://schemas.microsoft.com/office/drawing/2014/main" id="{8507385E-0651-AC2C-06E7-F292F60816FC}"/>
              </a:ext>
            </a:extLst>
          </p:cNvPr>
          <p:cNvSpPr txBox="1"/>
          <p:nvPr/>
        </p:nvSpPr>
        <p:spPr>
          <a:xfrm>
            <a:off x="7290909" y="25075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700" name="mini-card-d30_radial_bar">
            <a:extLst>
              <a:ext uri="{FF2B5EF4-FFF2-40B4-BE49-F238E27FC236}">
                <a16:creationId xmlns:a16="http://schemas.microsoft.com/office/drawing/2014/main" id="{2625F99F-57B5-64DF-FE73-43C16FD4F084}"/>
              </a:ext>
            </a:extLst>
          </p:cNvPr>
          <p:cNvSpPr/>
          <p:nvPr/>
        </p:nvSpPr>
        <p:spPr>
          <a:xfrm>
            <a:off x="7785100" y="11684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1" y="0"/>
                </a:moveTo>
                <a:lnTo>
                  <a:pt x="2419160" y="0"/>
                </a:lnTo>
                <a:cubicBezTo>
                  <a:pt x="2463483" y="0"/>
                  <a:pt x="2499360" y="35878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1" y="1405890"/>
                </a:lnTo>
                <a:cubicBezTo>
                  <a:pt x="35878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8"/>
                  <a:pt x="35878" y="0"/>
                  <a:pt x="80201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01" name="m-d30_radial_bar-title-bar">
            <a:extLst>
              <a:ext uri="{FF2B5EF4-FFF2-40B4-BE49-F238E27FC236}">
                <a16:creationId xmlns:a16="http://schemas.microsoft.com/office/drawing/2014/main" id="{0CADCDD8-F09D-0709-9C6D-D5778072DA8E}"/>
              </a:ext>
            </a:extLst>
          </p:cNvPr>
          <p:cNvSpPr/>
          <p:nvPr/>
        </p:nvSpPr>
        <p:spPr>
          <a:xfrm>
            <a:off x="7904861" y="12673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02" name="m-d30_radial_bar-title-bar-accent">
            <a:extLst>
              <a:ext uri="{FF2B5EF4-FFF2-40B4-BE49-F238E27FC236}">
                <a16:creationId xmlns:a16="http://schemas.microsoft.com/office/drawing/2014/main" id="{FABF17B5-3D85-654D-E232-F00F3C76BAA2}"/>
              </a:ext>
            </a:extLst>
          </p:cNvPr>
          <p:cNvSpPr/>
          <p:nvPr/>
        </p:nvSpPr>
        <p:spPr>
          <a:xfrm>
            <a:off x="7904861" y="12673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03" name="m-d30_radial_bar-title-cn">
            <a:extLst>
              <a:ext uri="{FF2B5EF4-FFF2-40B4-BE49-F238E27FC236}">
                <a16:creationId xmlns:a16="http://schemas.microsoft.com/office/drawing/2014/main" id="{ECA33533-A4A6-7A23-9515-333F5882418F}"/>
              </a:ext>
            </a:extLst>
          </p:cNvPr>
          <p:cNvSpPr txBox="1"/>
          <p:nvPr/>
        </p:nvSpPr>
        <p:spPr>
          <a:xfrm>
            <a:off x="7937040" y="1249968"/>
            <a:ext cx="551421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各大区目标完成率</a:t>
            </a:r>
          </a:p>
        </p:txBody>
      </p:sp>
      <p:sp>
        <p:nvSpPr>
          <p:cNvPr id="704" name="m-d30_radial_bar-title-en">
            <a:extLst>
              <a:ext uri="{FF2B5EF4-FFF2-40B4-BE49-F238E27FC236}">
                <a16:creationId xmlns:a16="http://schemas.microsoft.com/office/drawing/2014/main" id="{983B38B0-051B-E6A8-6A65-3E76D72659F3}"/>
              </a:ext>
            </a:extLst>
          </p:cNvPr>
          <p:cNvSpPr txBox="1"/>
          <p:nvPr/>
        </p:nvSpPr>
        <p:spPr>
          <a:xfrm>
            <a:off x="7944330" y="1337250"/>
            <a:ext cx="315076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RADIAL BAR CHART</a:t>
            </a:r>
          </a:p>
        </p:txBody>
      </p:sp>
      <p:sp>
        <p:nvSpPr>
          <p:cNvPr id="705" name="m-d30_radial_bar-title-sub">
            <a:extLst>
              <a:ext uri="{FF2B5EF4-FFF2-40B4-BE49-F238E27FC236}">
                <a16:creationId xmlns:a16="http://schemas.microsoft.com/office/drawing/2014/main" id="{276CB02A-325F-D253-ED04-9849500CAC9C}"/>
              </a:ext>
            </a:extLst>
          </p:cNvPr>
          <p:cNvSpPr txBox="1"/>
          <p:nvPr/>
        </p:nvSpPr>
        <p:spPr>
          <a:xfrm>
            <a:off x="9540041" y="1306392"/>
            <a:ext cx="627313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每一圈是一个大区，圈越满越接近年度目标，满圈为 100%</a:t>
            </a:r>
          </a:p>
        </p:txBody>
      </p:sp>
      <p:cxnSp>
        <p:nvCxnSpPr>
          <p:cNvPr id="706" name="m-d30_radial_bar-tk-25">
            <a:extLst>
              <a:ext uri="{FF2B5EF4-FFF2-40B4-BE49-F238E27FC236}">
                <a16:creationId xmlns:a16="http://schemas.microsoft.com/office/drawing/2014/main" id="{C557308A-7FC3-C227-B62A-BBDEAF31C93D}"/>
              </a:ext>
            </a:extLst>
          </p:cNvPr>
          <p:cNvCxnSpPr/>
          <p:nvPr/>
        </p:nvCxnSpPr>
        <p:spPr>
          <a:xfrm flipV="1">
            <a:off x="8823807" y="1730290"/>
            <a:ext cx="319908" cy="132510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7" name="m-d30_radial_bar-tkt-25">
            <a:extLst>
              <a:ext uri="{FF2B5EF4-FFF2-40B4-BE49-F238E27FC236}">
                <a16:creationId xmlns:a16="http://schemas.microsoft.com/office/drawing/2014/main" id="{B5034A12-3190-6BF2-7370-36BE43E09EA7}"/>
              </a:ext>
            </a:extLst>
          </p:cNvPr>
          <p:cNvSpPr txBox="1"/>
          <p:nvPr/>
        </p:nvSpPr>
        <p:spPr>
          <a:xfrm>
            <a:off x="9146664" y="1704633"/>
            <a:ext cx="4701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25%</a:t>
            </a:r>
          </a:p>
        </p:txBody>
      </p:sp>
      <p:cxnSp>
        <p:nvCxnSpPr>
          <p:cNvPr id="708" name="m-d30_radial_bar-tk-50">
            <a:extLst>
              <a:ext uri="{FF2B5EF4-FFF2-40B4-BE49-F238E27FC236}">
                <a16:creationId xmlns:a16="http://schemas.microsoft.com/office/drawing/2014/main" id="{9FF67BA3-8F05-7F4E-E302-EB5683B9A3AD}"/>
              </a:ext>
            </a:extLst>
          </p:cNvPr>
          <p:cNvCxnSpPr/>
          <p:nvPr/>
        </p:nvCxnSpPr>
        <p:spPr>
          <a:xfrm>
            <a:off x="8793895" y="2013175"/>
            <a:ext cx="244847" cy="244847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9" name="m-d30_radial_bar-tkt-50">
            <a:extLst>
              <a:ext uri="{FF2B5EF4-FFF2-40B4-BE49-F238E27FC236}">
                <a16:creationId xmlns:a16="http://schemas.microsoft.com/office/drawing/2014/main" id="{3F05015F-FC56-B1C5-D7D6-7304A6634AB6}"/>
              </a:ext>
            </a:extLst>
          </p:cNvPr>
          <p:cNvSpPr txBox="1"/>
          <p:nvPr/>
        </p:nvSpPr>
        <p:spPr>
          <a:xfrm>
            <a:off x="9035483" y="2263575"/>
            <a:ext cx="4701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50%</a:t>
            </a:r>
          </a:p>
        </p:txBody>
      </p:sp>
      <p:cxnSp>
        <p:nvCxnSpPr>
          <p:cNvPr id="710" name="m-d30_radial_bar-tk-75">
            <a:extLst>
              <a:ext uri="{FF2B5EF4-FFF2-40B4-BE49-F238E27FC236}">
                <a16:creationId xmlns:a16="http://schemas.microsoft.com/office/drawing/2014/main" id="{DCF0383D-9FB1-B2EE-20C2-1A3BBAAC9294}"/>
              </a:ext>
            </a:extLst>
          </p:cNvPr>
          <p:cNvCxnSpPr/>
          <p:nvPr/>
        </p:nvCxnSpPr>
        <p:spPr>
          <a:xfrm flipH="1">
            <a:off x="8511010" y="2043086"/>
            <a:ext cx="132510" cy="319908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1" name="m-d30_radial_bar-tkt-75">
            <a:extLst>
              <a:ext uri="{FF2B5EF4-FFF2-40B4-BE49-F238E27FC236}">
                <a16:creationId xmlns:a16="http://schemas.microsoft.com/office/drawing/2014/main" id="{07F0B946-9266-B0D0-05DA-66A8E7626B81}"/>
              </a:ext>
            </a:extLst>
          </p:cNvPr>
          <p:cNvSpPr txBox="1"/>
          <p:nvPr/>
        </p:nvSpPr>
        <p:spPr>
          <a:xfrm>
            <a:off x="8476541" y="2374756"/>
            <a:ext cx="4701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75%</a:t>
            </a:r>
          </a:p>
        </p:txBody>
      </p:sp>
      <p:cxnSp>
        <p:nvCxnSpPr>
          <p:cNvPr id="712" name="m-d30_radial_bar-tk-100">
            <a:extLst>
              <a:ext uri="{FF2B5EF4-FFF2-40B4-BE49-F238E27FC236}">
                <a16:creationId xmlns:a16="http://schemas.microsoft.com/office/drawing/2014/main" id="{B2F91A90-070A-C458-5665-59783014357B}"/>
              </a:ext>
            </a:extLst>
          </p:cNvPr>
          <p:cNvCxnSpPr/>
          <p:nvPr/>
        </p:nvCxnSpPr>
        <p:spPr>
          <a:xfrm flipH="1">
            <a:off x="8212074" y="1915604"/>
            <a:ext cx="346266" cy="0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3" name="m-d30_radial_bar-tkt-100">
            <a:extLst>
              <a:ext uri="{FF2B5EF4-FFF2-40B4-BE49-F238E27FC236}">
                <a16:creationId xmlns:a16="http://schemas.microsoft.com/office/drawing/2014/main" id="{43D33694-244A-927E-C59F-78372079C7FA}"/>
              </a:ext>
            </a:extLst>
          </p:cNvPr>
          <p:cNvSpPr txBox="1"/>
          <p:nvPr/>
        </p:nvSpPr>
        <p:spPr>
          <a:xfrm>
            <a:off x="8154823" y="1900908"/>
            <a:ext cx="57225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100%</a:t>
            </a:r>
          </a:p>
        </p:txBody>
      </p:sp>
      <p:sp>
        <p:nvSpPr>
          <p:cNvPr id="714" name="m-d30_radial_bar-trk-1">
            <a:extLst>
              <a:ext uri="{FF2B5EF4-FFF2-40B4-BE49-F238E27FC236}">
                <a16:creationId xmlns:a16="http://schemas.microsoft.com/office/drawing/2014/main" id="{14862FE5-C2BF-E358-261C-ED223919254E}"/>
              </a:ext>
            </a:extLst>
          </p:cNvPr>
          <p:cNvSpPr/>
          <p:nvPr/>
        </p:nvSpPr>
        <p:spPr>
          <a:xfrm>
            <a:off x="8232902" y="1452182"/>
            <a:ext cx="926846" cy="926846"/>
          </a:xfrm>
          <a:custGeom>
            <a:avLst/>
            <a:gdLst/>
            <a:ahLst/>
            <a:cxnLst/>
            <a:rect l="0" t="0" r="r" b="b"/>
            <a:pathLst>
              <a:path w="926846" h="926846">
                <a:moveTo>
                  <a:pt x="463423" y="0"/>
                </a:moveTo>
                <a:cubicBezTo>
                  <a:pt x="719391" y="0"/>
                  <a:pt x="926846" y="207455"/>
                  <a:pt x="926846" y="463423"/>
                </a:cubicBezTo>
                <a:cubicBezTo>
                  <a:pt x="926846" y="719392"/>
                  <a:pt x="719391" y="926846"/>
                  <a:pt x="463423" y="926846"/>
                </a:cubicBezTo>
                <a:cubicBezTo>
                  <a:pt x="207455" y="926846"/>
                  <a:pt x="0" y="719392"/>
                  <a:pt x="0" y="463423"/>
                </a:cubicBezTo>
                <a:cubicBezTo>
                  <a:pt x="0" y="452628"/>
                  <a:pt x="8763" y="443929"/>
                  <a:pt x="19558" y="443929"/>
                </a:cubicBezTo>
                <a:cubicBezTo>
                  <a:pt x="30289" y="443929"/>
                  <a:pt x="39053" y="452628"/>
                  <a:pt x="39053" y="463423"/>
                </a:cubicBezTo>
                <a:cubicBezTo>
                  <a:pt x="39053" y="697801"/>
                  <a:pt x="229044" y="887794"/>
                  <a:pt x="463423" y="887794"/>
                </a:cubicBezTo>
                <a:cubicBezTo>
                  <a:pt x="697802" y="887794"/>
                  <a:pt x="887793" y="697801"/>
                  <a:pt x="887793" y="463423"/>
                </a:cubicBezTo>
                <a:cubicBezTo>
                  <a:pt x="887793" y="229044"/>
                  <a:pt x="697802" y="39053"/>
                  <a:pt x="463423" y="39053"/>
                </a:cubicBezTo>
                <a:cubicBezTo>
                  <a:pt x="452628" y="39053"/>
                  <a:pt x="443865" y="30290"/>
                  <a:pt x="443865" y="19494"/>
                </a:cubicBezTo>
                <a:cubicBezTo>
                  <a:pt x="443865" y="8763"/>
                  <a:pt x="452628" y="0"/>
                  <a:pt x="463423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15" name="m-d30_radial_bar-bar-1">
            <a:extLst>
              <a:ext uri="{FF2B5EF4-FFF2-40B4-BE49-F238E27FC236}">
                <a16:creationId xmlns:a16="http://schemas.microsoft.com/office/drawing/2014/main" id="{2806B2F2-77BB-0091-CC50-399B32133D71}"/>
              </a:ext>
            </a:extLst>
          </p:cNvPr>
          <p:cNvSpPr/>
          <p:nvPr/>
        </p:nvSpPr>
        <p:spPr>
          <a:xfrm>
            <a:off x="8240744" y="1452182"/>
            <a:ext cx="918772" cy="926670"/>
          </a:xfrm>
          <a:custGeom>
            <a:avLst/>
            <a:gdLst/>
            <a:ahLst/>
            <a:cxnLst/>
            <a:rect l="0" t="0" r="r" b="b"/>
            <a:pathLst>
              <a:path w="918772" h="926670">
                <a:moveTo>
                  <a:pt x="455581" y="0"/>
                </a:moveTo>
                <a:cubicBezTo>
                  <a:pt x="700247" y="0"/>
                  <a:pt x="902748" y="190182"/>
                  <a:pt x="918115" y="434340"/>
                </a:cubicBezTo>
                <a:cubicBezTo>
                  <a:pt x="933482" y="678498"/>
                  <a:pt x="756381" y="892556"/>
                  <a:pt x="513684" y="923163"/>
                </a:cubicBezTo>
                <a:cubicBezTo>
                  <a:pt x="270923" y="953833"/>
                  <a:pt x="46197" y="790575"/>
                  <a:pt x="350" y="550291"/>
                </a:cubicBezTo>
                <a:cubicBezTo>
                  <a:pt x="-1682" y="539686"/>
                  <a:pt x="5303" y="529463"/>
                  <a:pt x="15907" y="527431"/>
                </a:cubicBezTo>
                <a:cubicBezTo>
                  <a:pt x="26512" y="525399"/>
                  <a:pt x="36735" y="532320"/>
                  <a:pt x="38704" y="542925"/>
                </a:cubicBezTo>
                <a:cubicBezTo>
                  <a:pt x="80677" y="763016"/>
                  <a:pt x="286481" y="912495"/>
                  <a:pt x="508794" y="884428"/>
                </a:cubicBezTo>
                <a:cubicBezTo>
                  <a:pt x="731044" y="856361"/>
                  <a:pt x="893160" y="660336"/>
                  <a:pt x="879126" y="436753"/>
                </a:cubicBezTo>
                <a:cubicBezTo>
                  <a:pt x="865029" y="213169"/>
                  <a:pt x="679609" y="39053"/>
                  <a:pt x="455581" y="39053"/>
                </a:cubicBezTo>
                <a:cubicBezTo>
                  <a:pt x="444786" y="39053"/>
                  <a:pt x="436023" y="30290"/>
                  <a:pt x="436023" y="19494"/>
                </a:cubicBezTo>
                <a:cubicBezTo>
                  <a:pt x="436023" y="8763"/>
                  <a:pt x="444786" y="0"/>
                  <a:pt x="455581" y="0"/>
                </a:cubicBezTo>
                <a:close/>
              </a:path>
            </a:pathLst>
          </a:custGeom>
          <a:gradFill rotWithShape="1">
            <a:gsLst>
              <a:gs pos="0">
                <a:srgbClr val="3C65A5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16" name="m-d30_radial_bar-bv-1">
            <a:extLst>
              <a:ext uri="{FF2B5EF4-FFF2-40B4-BE49-F238E27FC236}">
                <a16:creationId xmlns:a16="http://schemas.microsoft.com/office/drawing/2014/main" id="{8CDCF29B-3C28-2920-3970-AA0A3EF907EE}"/>
              </a:ext>
            </a:extLst>
          </p:cNvPr>
          <p:cNvSpPr txBox="1"/>
          <p:nvPr/>
        </p:nvSpPr>
        <p:spPr>
          <a:xfrm>
            <a:off x="8250793" y="2020470"/>
            <a:ext cx="3681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96</a:t>
            </a:r>
          </a:p>
        </p:txBody>
      </p:sp>
      <p:sp>
        <p:nvSpPr>
          <p:cNvPr id="717" name="m-d30_radial_bar-bn-1">
            <a:extLst>
              <a:ext uri="{FF2B5EF4-FFF2-40B4-BE49-F238E27FC236}">
                <a16:creationId xmlns:a16="http://schemas.microsoft.com/office/drawing/2014/main" id="{011BFDBA-36A3-B921-0F41-CD71FCCD426E}"/>
              </a:ext>
            </a:extLst>
          </p:cNvPr>
          <p:cNvSpPr txBox="1"/>
          <p:nvPr/>
        </p:nvSpPr>
        <p:spPr>
          <a:xfrm>
            <a:off x="8603849" y="1451882"/>
            <a:ext cx="71857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华东</a:t>
            </a:r>
          </a:p>
        </p:txBody>
      </p:sp>
      <p:sp>
        <p:nvSpPr>
          <p:cNvPr id="718" name="m-d30_radial_bar-bp-1">
            <a:extLst>
              <a:ext uri="{FF2B5EF4-FFF2-40B4-BE49-F238E27FC236}">
                <a16:creationId xmlns:a16="http://schemas.microsoft.com/office/drawing/2014/main" id="{C82F17EF-DBC7-3331-A1DD-F72B053133A2}"/>
              </a:ext>
            </a:extLst>
          </p:cNvPr>
          <p:cNvSpPr txBox="1"/>
          <p:nvPr/>
        </p:nvSpPr>
        <p:spPr>
          <a:xfrm>
            <a:off x="8551362" y="1453796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96%</a:t>
            </a:r>
          </a:p>
        </p:txBody>
      </p:sp>
      <p:sp>
        <p:nvSpPr>
          <p:cNvPr id="719" name="m-d30_radial_bar-trk-2">
            <a:extLst>
              <a:ext uri="{FF2B5EF4-FFF2-40B4-BE49-F238E27FC236}">
                <a16:creationId xmlns:a16="http://schemas.microsoft.com/office/drawing/2014/main" id="{9FF57DC5-E5C5-517D-5CDE-3556468BB827}"/>
              </a:ext>
            </a:extLst>
          </p:cNvPr>
          <p:cNvSpPr/>
          <p:nvPr/>
        </p:nvSpPr>
        <p:spPr>
          <a:xfrm>
            <a:off x="8287576" y="1506855"/>
            <a:ext cx="817499" cy="817499"/>
          </a:xfrm>
          <a:custGeom>
            <a:avLst/>
            <a:gdLst/>
            <a:ahLst/>
            <a:cxnLst/>
            <a:rect l="0" t="0" r="r" b="b"/>
            <a:pathLst>
              <a:path w="817499" h="817499">
                <a:moveTo>
                  <a:pt x="408749" y="0"/>
                </a:moveTo>
                <a:cubicBezTo>
                  <a:pt x="634492" y="0"/>
                  <a:pt x="817499" y="183007"/>
                  <a:pt x="817499" y="408750"/>
                </a:cubicBezTo>
                <a:cubicBezTo>
                  <a:pt x="817499" y="634492"/>
                  <a:pt x="634492" y="817499"/>
                  <a:pt x="408749" y="817499"/>
                </a:cubicBezTo>
                <a:cubicBezTo>
                  <a:pt x="183007" y="817499"/>
                  <a:pt x="0" y="634492"/>
                  <a:pt x="0" y="408750"/>
                </a:cubicBezTo>
                <a:cubicBezTo>
                  <a:pt x="0" y="397955"/>
                  <a:pt x="8763" y="389255"/>
                  <a:pt x="19494" y="389255"/>
                </a:cubicBezTo>
                <a:cubicBezTo>
                  <a:pt x="30289" y="389255"/>
                  <a:pt x="39052" y="397955"/>
                  <a:pt x="39052" y="408750"/>
                </a:cubicBezTo>
                <a:cubicBezTo>
                  <a:pt x="39052" y="612902"/>
                  <a:pt x="204597" y="778446"/>
                  <a:pt x="408749" y="778446"/>
                </a:cubicBezTo>
                <a:cubicBezTo>
                  <a:pt x="612902" y="778446"/>
                  <a:pt x="778446" y="612902"/>
                  <a:pt x="778446" y="408750"/>
                </a:cubicBezTo>
                <a:cubicBezTo>
                  <a:pt x="778446" y="204597"/>
                  <a:pt x="612902" y="39052"/>
                  <a:pt x="408749" y="39052"/>
                </a:cubicBezTo>
                <a:cubicBezTo>
                  <a:pt x="397954" y="39052"/>
                  <a:pt x="389191" y="30289"/>
                  <a:pt x="389191" y="19558"/>
                </a:cubicBezTo>
                <a:cubicBezTo>
                  <a:pt x="389191" y="8763"/>
                  <a:pt x="397954" y="0"/>
                  <a:pt x="408749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20" name="m-d30_radial_bar-bar-2">
            <a:extLst>
              <a:ext uri="{FF2B5EF4-FFF2-40B4-BE49-F238E27FC236}">
                <a16:creationId xmlns:a16="http://schemas.microsoft.com/office/drawing/2014/main" id="{3097854C-3329-3319-082D-B9B73358DDEB}"/>
              </a:ext>
            </a:extLst>
          </p:cNvPr>
          <p:cNvSpPr/>
          <p:nvPr/>
        </p:nvSpPr>
        <p:spPr>
          <a:xfrm>
            <a:off x="8348158" y="1506855"/>
            <a:ext cx="756931" cy="817419"/>
          </a:xfrm>
          <a:custGeom>
            <a:avLst/>
            <a:gdLst/>
            <a:ahLst/>
            <a:cxnLst/>
            <a:rect l="0" t="0" r="r" b="b"/>
            <a:pathLst>
              <a:path w="756931" h="817419">
                <a:moveTo>
                  <a:pt x="348167" y="0"/>
                </a:moveTo>
                <a:cubicBezTo>
                  <a:pt x="544382" y="0"/>
                  <a:pt x="712911" y="139446"/>
                  <a:pt x="749678" y="332168"/>
                </a:cubicBezTo>
                <a:cubicBezTo>
                  <a:pt x="786444" y="524891"/>
                  <a:pt x="681098" y="716534"/>
                  <a:pt x="498662" y="788797"/>
                </a:cubicBezTo>
                <a:cubicBezTo>
                  <a:pt x="316227" y="861060"/>
                  <a:pt x="108201" y="793432"/>
                  <a:pt x="3045" y="627761"/>
                </a:cubicBezTo>
                <a:cubicBezTo>
                  <a:pt x="-702" y="621856"/>
                  <a:pt x="-1019" y="614426"/>
                  <a:pt x="2219" y="608266"/>
                </a:cubicBezTo>
                <a:cubicBezTo>
                  <a:pt x="5458" y="602044"/>
                  <a:pt x="11744" y="598106"/>
                  <a:pt x="18729" y="597789"/>
                </a:cubicBezTo>
                <a:cubicBezTo>
                  <a:pt x="25714" y="597471"/>
                  <a:pt x="32255" y="600964"/>
                  <a:pt x="36001" y="606806"/>
                </a:cubicBezTo>
                <a:cubicBezTo>
                  <a:pt x="131124" y="756666"/>
                  <a:pt x="319275" y="817816"/>
                  <a:pt x="484248" y="752475"/>
                </a:cubicBezTo>
                <a:cubicBezTo>
                  <a:pt x="649284" y="687133"/>
                  <a:pt x="744534" y="513778"/>
                  <a:pt x="711324" y="339471"/>
                </a:cubicBezTo>
                <a:cubicBezTo>
                  <a:pt x="678050" y="165163"/>
                  <a:pt x="525650" y="39052"/>
                  <a:pt x="348167" y="39052"/>
                </a:cubicBezTo>
                <a:cubicBezTo>
                  <a:pt x="337372" y="39052"/>
                  <a:pt x="328609" y="30289"/>
                  <a:pt x="328609" y="19558"/>
                </a:cubicBezTo>
                <a:cubicBezTo>
                  <a:pt x="328609" y="8763"/>
                  <a:pt x="337372" y="0"/>
                  <a:pt x="348167" y="0"/>
                </a:cubicBezTo>
                <a:close/>
              </a:path>
            </a:pathLst>
          </a:custGeom>
          <a:gradFill rotWithShape="1">
            <a:gsLst>
              <a:gs pos="0">
                <a:srgbClr val="4270B0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21" name="m-d30_radial_bar-bv-2">
            <a:extLst>
              <a:ext uri="{FF2B5EF4-FFF2-40B4-BE49-F238E27FC236}">
                <a16:creationId xmlns:a16="http://schemas.microsoft.com/office/drawing/2014/main" id="{7E019BCF-E17D-DC31-7F7D-9C89482B1771}"/>
              </a:ext>
            </a:extLst>
          </p:cNvPr>
          <p:cNvSpPr txBox="1"/>
          <p:nvPr/>
        </p:nvSpPr>
        <p:spPr>
          <a:xfrm>
            <a:off x="8368714" y="2136011"/>
            <a:ext cx="3681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88</a:t>
            </a:r>
          </a:p>
        </p:txBody>
      </p:sp>
      <p:sp>
        <p:nvSpPr>
          <p:cNvPr id="722" name="m-d30_radial_bar-bn-2">
            <a:extLst>
              <a:ext uri="{FF2B5EF4-FFF2-40B4-BE49-F238E27FC236}">
                <a16:creationId xmlns:a16="http://schemas.microsoft.com/office/drawing/2014/main" id="{35BB1FD6-E3D5-B018-9589-0E78DBB542F9}"/>
              </a:ext>
            </a:extLst>
          </p:cNvPr>
          <p:cNvSpPr txBox="1"/>
          <p:nvPr/>
        </p:nvSpPr>
        <p:spPr>
          <a:xfrm>
            <a:off x="8603849" y="1506556"/>
            <a:ext cx="71857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华南</a:t>
            </a:r>
          </a:p>
        </p:txBody>
      </p:sp>
      <p:sp>
        <p:nvSpPr>
          <p:cNvPr id="723" name="m-d30_radial_bar-bp-2">
            <a:extLst>
              <a:ext uri="{FF2B5EF4-FFF2-40B4-BE49-F238E27FC236}">
                <a16:creationId xmlns:a16="http://schemas.microsoft.com/office/drawing/2014/main" id="{840E3ECC-0514-B458-9085-5BA6225BDD51}"/>
              </a:ext>
            </a:extLst>
          </p:cNvPr>
          <p:cNvSpPr txBox="1"/>
          <p:nvPr/>
        </p:nvSpPr>
        <p:spPr>
          <a:xfrm>
            <a:off x="8551362" y="1508469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88%</a:t>
            </a:r>
          </a:p>
        </p:txBody>
      </p:sp>
      <p:sp>
        <p:nvSpPr>
          <p:cNvPr id="724" name="m-d30_radial_bar-trk-3">
            <a:extLst>
              <a:ext uri="{FF2B5EF4-FFF2-40B4-BE49-F238E27FC236}">
                <a16:creationId xmlns:a16="http://schemas.microsoft.com/office/drawing/2014/main" id="{8E52E32B-68B7-6C6E-5EBA-9A3884FF2221}"/>
              </a:ext>
            </a:extLst>
          </p:cNvPr>
          <p:cNvSpPr/>
          <p:nvPr/>
        </p:nvSpPr>
        <p:spPr>
          <a:xfrm>
            <a:off x="8342249" y="1561528"/>
            <a:ext cx="708152" cy="708152"/>
          </a:xfrm>
          <a:custGeom>
            <a:avLst/>
            <a:gdLst/>
            <a:ahLst/>
            <a:cxnLst/>
            <a:rect l="0" t="0" r="r" b="b"/>
            <a:pathLst>
              <a:path w="708152" h="708152">
                <a:moveTo>
                  <a:pt x="354076" y="0"/>
                </a:moveTo>
                <a:cubicBezTo>
                  <a:pt x="549656" y="0"/>
                  <a:pt x="708152" y="158496"/>
                  <a:pt x="708152" y="354076"/>
                </a:cubicBezTo>
                <a:cubicBezTo>
                  <a:pt x="708152" y="549656"/>
                  <a:pt x="549656" y="708152"/>
                  <a:pt x="354076" y="708152"/>
                </a:cubicBezTo>
                <a:cubicBezTo>
                  <a:pt x="158496" y="708152"/>
                  <a:pt x="0" y="549656"/>
                  <a:pt x="0" y="354076"/>
                </a:cubicBezTo>
                <a:cubicBezTo>
                  <a:pt x="0" y="343281"/>
                  <a:pt x="8763" y="334582"/>
                  <a:pt x="19558" y="334582"/>
                </a:cubicBezTo>
                <a:cubicBezTo>
                  <a:pt x="30289" y="334582"/>
                  <a:pt x="39053" y="343281"/>
                  <a:pt x="39053" y="354076"/>
                </a:cubicBezTo>
                <a:cubicBezTo>
                  <a:pt x="39053" y="528066"/>
                  <a:pt x="180086" y="669099"/>
                  <a:pt x="354076" y="669099"/>
                </a:cubicBezTo>
                <a:cubicBezTo>
                  <a:pt x="528066" y="669099"/>
                  <a:pt x="669099" y="528066"/>
                  <a:pt x="669099" y="354076"/>
                </a:cubicBezTo>
                <a:cubicBezTo>
                  <a:pt x="669099" y="180086"/>
                  <a:pt x="528066" y="39053"/>
                  <a:pt x="354076" y="39053"/>
                </a:cubicBezTo>
                <a:cubicBezTo>
                  <a:pt x="343281" y="39053"/>
                  <a:pt x="334518" y="30290"/>
                  <a:pt x="334518" y="19558"/>
                </a:cubicBezTo>
                <a:cubicBezTo>
                  <a:pt x="334518" y="8763"/>
                  <a:pt x="343281" y="0"/>
                  <a:pt x="354076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25" name="m-d30_radial_bar-bar-3">
            <a:extLst>
              <a:ext uri="{FF2B5EF4-FFF2-40B4-BE49-F238E27FC236}">
                <a16:creationId xmlns:a16="http://schemas.microsoft.com/office/drawing/2014/main" id="{4DFAB093-2E0B-E56D-AB11-80C20C102481}"/>
              </a:ext>
            </a:extLst>
          </p:cNvPr>
          <p:cNvSpPr/>
          <p:nvPr/>
        </p:nvSpPr>
        <p:spPr>
          <a:xfrm>
            <a:off x="8467633" y="1561528"/>
            <a:ext cx="582703" cy="707889"/>
          </a:xfrm>
          <a:custGeom>
            <a:avLst/>
            <a:gdLst/>
            <a:ahLst/>
            <a:cxnLst/>
            <a:rect l="0" t="0" r="r" b="b"/>
            <a:pathLst>
              <a:path w="582703" h="707889">
                <a:moveTo>
                  <a:pt x="228692" y="0"/>
                </a:moveTo>
                <a:cubicBezTo>
                  <a:pt x="384140" y="0"/>
                  <a:pt x="521427" y="101410"/>
                  <a:pt x="567147" y="249936"/>
                </a:cubicBezTo>
                <a:cubicBezTo>
                  <a:pt x="612804" y="398526"/>
                  <a:pt x="556289" y="559562"/>
                  <a:pt x="427701" y="646938"/>
                </a:cubicBezTo>
                <a:cubicBezTo>
                  <a:pt x="299114" y="734314"/>
                  <a:pt x="128616" y="727583"/>
                  <a:pt x="7331" y="630428"/>
                </a:cubicBezTo>
                <a:cubicBezTo>
                  <a:pt x="-1114" y="623697"/>
                  <a:pt x="-2448" y="611378"/>
                  <a:pt x="4283" y="602933"/>
                </a:cubicBezTo>
                <a:cubicBezTo>
                  <a:pt x="11014" y="594551"/>
                  <a:pt x="23333" y="593154"/>
                  <a:pt x="31715" y="599948"/>
                </a:cubicBezTo>
                <a:cubicBezTo>
                  <a:pt x="139665" y="686372"/>
                  <a:pt x="291367" y="692340"/>
                  <a:pt x="405730" y="614616"/>
                </a:cubicBezTo>
                <a:cubicBezTo>
                  <a:pt x="520157" y="536892"/>
                  <a:pt x="570449" y="393636"/>
                  <a:pt x="529809" y="261429"/>
                </a:cubicBezTo>
                <a:cubicBezTo>
                  <a:pt x="489106" y="129286"/>
                  <a:pt x="366995" y="39053"/>
                  <a:pt x="228692" y="39053"/>
                </a:cubicBezTo>
                <a:cubicBezTo>
                  <a:pt x="217897" y="39053"/>
                  <a:pt x="209134" y="30290"/>
                  <a:pt x="209134" y="19558"/>
                </a:cubicBezTo>
                <a:cubicBezTo>
                  <a:pt x="209134" y="8763"/>
                  <a:pt x="217897" y="0"/>
                  <a:pt x="228692" y="0"/>
                </a:cubicBezTo>
                <a:close/>
              </a:path>
            </a:pathLst>
          </a:custGeom>
          <a:gradFill rotWithShape="1">
            <a:gsLst>
              <a:gs pos="0">
                <a:srgbClr val="497BB9"/>
              </a:gs>
              <a:gs pos="100000">
                <a:srgbClr val="1B5AA8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26" name="m-d30_radial_bar-bv-3">
            <a:extLst>
              <a:ext uri="{FF2B5EF4-FFF2-40B4-BE49-F238E27FC236}">
                <a16:creationId xmlns:a16="http://schemas.microsoft.com/office/drawing/2014/main" id="{B0284458-EC9D-58D0-48E2-70BBFC53C3E6}"/>
              </a:ext>
            </a:extLst>
          </p:cNvPr>
          <p:cNvSpPr txBox="1"/>
          <p:nvPr/>
        </p:nvSpPr>
        <p:spPr>
          <a:xfrm>
            <a:off x="8492295" y="2177936"/>
            <a:ext cx="3681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81</a:t>
            </a:r>
          </a:p>
        </p:txBody>
      </p:sp>
      <p:sp>
        <p:nvSpPr>
          <p:cNvPr id="727" name="m-d30_radial_bar-bn-3">
            <a:extLst>
              <a:ext uri="{FF2B5EF4-FFF2-40B4-BE49-F238E27FC236}">
                <a16:creationId xmlns:a16="http://schemas.microsoft.com/office/drawing/2014/main" id="{73D6C347-42C3-313C-EC57-50703DA21FE0}"/>
              </a:ext>
            </a:extLst>
          </p:cNvPr>
          <p:cNvSpPr txBox="1"/>
          <p:nvPr/>
        </p:nvSpPr>
        <p:spPr>
          <a:xfrm>
            <a:off x="8603849" y="1561229"/>
            <a:ext cx="71857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华北</a:t>
            </a:r>
          </a:p>
        </p:txBody>
      </p:sp>
      <p:sp>
        <p:nvSpPr>
          <p:cNvPr id="728" name="m-d30_radial_bar-bp-3">
            <a:extLst>
              <a:ext uri="{FF2B5EF4-FFF2-40B4-BE49-F238E27FC236}">
                <a16:creationId xmlns:a16="http://schemas.microsoft.com/office/drawing/2014/main" id="{D37500C4-C48F-48F4-1B71-EB94E92C7921}"/>
              </a:ext>
            </a:extLst>
          </p:cNvPr>
          <p:cNvSpPr txBox="1"/>
          <p:nvPr/>
        </p:nvSpPr>
        <p:spPr>
          <a:xfrm>
            <a:off x="8551362" y="1563143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81%</a:t>
            </a:r>
          </a:p>
        </p:txBody>
      </p:sp>
      <p:sp>
        <p:nvSpPr>
          <p:cNvPr id="729" name="m-d30_radial_bar-trk-4">
            <a:extLst>
              <a:ext uri="{FF2B5EF4-FFF2-40B4-BE49-F238E27FC236}">
                <a16:creationId xmlns:a16="http://schemas.microsoft.com/office/drawing/2014/main" id="{A6F32FD7-C4A1-D97C-6FFA-685DE6997B29}"/>
              </a:ext>
            </a:extLst>
          </p:cNvPr>
          <p:cNvSpPr/>
          <p:nvPr/>
        </p:nvSpPr>
        <p:spPr>
          <a:xfrm>
            <a:off x="8396922" y="1616202"/>
            <a:ext cx="598805" cy="598805"/>
          </a:xfrm>
          <a:custGeom>
            <a:avLst/>
            <a:gdLst/>
            <a:ahLst/>
            <a:cxnLst/>
            <a:rect l="0" t="0" r="r" b="b"/>
            <a:pathLst>
              <a:path w="598805" h="598805">
                <a:moveTo>
                  <a:pt x="299403" y="0"/>
                </a:moveTo>
                <a:cubicBezTo>
                  <a:pt x="464757" y="0"/>
                  <a:pt x="598805" y="134048"/>
                  <a:pt x="598805" y="299403"/>
                </a:cubicBezTo>
                <a:cubicBezTo>
                  <a:pt x="598805" y="464756"/>
                  <a:pt x="464757" y="598805"/>
                  <a:pt x="299403" y="598805"/>
                </a:cubicBezTo>
                <a:cubicBezTo>
                  <a:pt x="134049" y="598805"/>
                  <a:pt x="0" y="464756"/>
                  <a:pt x="0" y="299403"/>
                </a:cubicBezTo>
                <a:cubicBezTo>
                  <a:pt x="0" y="288608"/>
                  <a:pt x="8763" y="279908"/>
                  <a:pt x="19495" y="279908"/>
                </a:cubicBezTo>
                <a:cubicBezTo>
                  <a:pt x="30289" y="279908"/>
                  <a:pt x="39053" y="288608"/>
                  <a:pt x="39053" y="299403"/>
                </a:cubicBezTo>
                <a:cubicBezTo>
                  <a:pt x="39053" y="443166"/>
                  <a:pt x="155638" y="559752"/>
                  <a:pt x="299403" y="559752"/>
                </a:cubicBezTo>
                <a:cubicBezTo>
                  <a:pt x="443167" y="559752"/>
                  <a:pt x="559753" y="443166"/>
                  <a:pt x="559753" y="299403"/>
                </a:cubicBezTo>
                <a:cubicBezTo>
                  <a:pt x="559753" y="155638"/>
                  <a:pt x="443167" y="39053"/>
                  <a:pt x="299403" y="39053"/>
                </a:cubicBezTo>
                <a:cubicBezTo>
                  <a:pt x="288608" y="39053"/>
                  <a:pt x="279845" y="30290"/>
                  <a:pt x="279845" y="19558"/>
                </a:cubicBezTo>
                <a:cubicBezTo>
                  <a:pt x="279845" y="8763"/>
                  <a:pt x="288608" y="0"/>
                  <a:pt x="299403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30" name="m-d30_radial_bar-bar-4">
            <a:extLst>
              <a:ext uri="{FF2B5EF4-FFF2-40B4-BE49-F238E27FC236}">
                <a16:creationId xmlns:a16="http://schemas.microsoft.com/office/drawing/2014/main" id="{30F1827C-0B15-B934-042B-CDECFBB15CDE}"/>
              </a:ext>
            </a:extLst>
          </p:cNvPr>
          <p:cNvSpPr/>
          <p:nvPr/>
        </p:nvSpPr>
        <p:spPr>
          <a:xfrm>
            <a:off x="8582014" y="1616202"/>
            <a:ext cx="413588" cy="598743"/>
          </a:xfrm>
          <a:custGeom>
            <a:avLst/>
            <a:gdLst/>
            <a:ahLst/>
            <a:cxnLst/>
            <a:rect l="0" t="0" r="r" b="b"/>
            <a:pathLst>
              <a:path w="413588" h="598743">
                <a:moveTo>
                  <a:pt x="114311" y="0"/>
                </a:moveTo>
                <a:cubicBezTo>
                  <a:pt x="233691" y="0"/>
                  <a:pt x="341705" y="70929"/>
                  <a:pt x="389076" y="180530"/>
                </a:cubicBezTo>
                <a:cubicBezTo>
                  <a:pt x="436510" y="290068"/>
                  <a:pt x="414285" y="417322"/>
                  <a:pt x="332561" y="504380"/>
                </a:cubicBezTo>
                <a:cubicBezTo>
                  <a:pt x="250836" y="591375"/>
                  <a:pt x="125233" y="621538"/>
                  <a:pt x="12902" y="581088"/>
                </a:cubicBezTo>
                <a:cubicBezTo>
                  <a:pt x="2742" y="577469"/>
                  <a:pt x="-2529" y="566229"/>
                  <a:pt x="1154" y="556133"/>
                </a:cubicBezTo>
                <a:cubicBezTo>
                  <a:pt x="4774" y="545973"/>
                  <a:pt x="15950" y="540702"/>
                  <a:pt x="26110" y="544385"/>
                </a:cubicBezTo>
                <a:cubicBezTo>
                  <a:pt x="123773" y="579501"/>
                  <a:pt x="233056" y="553275"/>
                  <a:pt x="304113" y="477647"/>
                </a:cubicBezTo>
                <a:cubicBezTo>
                  <a:pt x="375169" y="401955"/>
                  <a:pt x="394473" y="291274"/>
                  <a:pt x="353262" y="196024"/>
                </a:cubicBezTo>
                <a:cubicBezTo>
                  <a:pt x="312050" y="100711"/>
                  <a:pt x="218134" y="39053"/>
                  <a:pt x="114311" y="39053"/>
                </a:cubicBezTo>
                <a:cubicBezTo>
                  <a:pt x="103516" y="39053"/>
                  <a:pt x="94753" y="30290"/>
                  <a:pt x="94753" y="19558"/>
                </a:cubicBezTo>
                <a:cubicBezTo>
                  <a:pt x="94753" y="8763"/>
                  <a:pt x="103516" y="0"/>
                  <a:pt x="114311" y="0"/>
                </a:cubicBezTo>
                <a:close/>
              </a:path>
            </a:pathLst>
          </a:custGeom>
          <a:gradFill rotWithShape="1">
            <a:gsLst>
              <a:gs pos="0">
                <a:srgbClr val="5086C5"/>
              </a:gs>
              <a:gs pos="100000">
                <a:srgbClr val="2468B6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31" name="m-d30_radial_bar-bv-4">
            <a:extLst>
              <a:ext uri="{FF2B5EF4-FFF2-40B4-BE49-F238E27FC236}">
                <a16:creationId xmlns:a16="http://schemas.microsoft.com/office/drawing/2014/main" id="{DA3CF8A2-F082-2247-2986-02A9AE1EEEAE}"/>
              </a:ext>
            </a:extLst>
          </p:cNvPr>
          <p:cNvSpPr txBox="1"/>
          <p:nvPr/>
        </p:nvSpPr>
        <p:spPr>
          <a:xfrm>
            <a:off x="8606425" y="2170197"/>
            <a:ext cx="3681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74</a:t>
            </a:r>
          </a:p>
        </p:txBody>
      </p:sp>
      <p:sp>
        <p:nvSpPr>
          <p:cNvPr id="732" name="m-d30_radial_bar-bn-4">
            <a:extLst>
              <a:ext uri="{FF2B5EF4-FFF2-40B4-BE49-F238E27FC236}">
                <a16:creationId xmlns:a16="http://schemas.microsoft.com/office/drawing/2014/main" id="{6A7687BA-FC02-B759-BB99-F4353AF41A4B}"/>
              </a:ext>
            </a:extLst>
          </p:cNvPr>
          <p:cNvSpPr txBox="1"/>
          <p:nvPr/>
        </p:nvSpPr>
        <p:spPr>
          <a:xfrm>
            <a:off x="8603849" y="1615903"/>
            <a:ext cx="71857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西南</a:t>
            </a:r>
          </a:p>
        </p:txBody>
      </p:sp>
      <p:sp>
        <p:nvSpPr>
          <p:cNvPr id="733" name="m-d30_radial_bar-bp-4">
            <a:extLst>
              <a:ext uri="{FF2B5EF4-FFF2-40B4-BE49-F238E27FC236}">
                <a16:creationId xmlns:a16="http://schemas.microsoft.com/office/drawing/2014/main" id="{29722179-E22C-0535-8D00-3EFB34F50710}"/>
              </a:ext>
            </a:extLst>
          </p:cNvPr>
          <p:cNvSpPr txBox="1"/>
          <p:nvPr/>
        </p:nvSpPr>
        <p:spPr>
          <a:xfrm>
            <a:off x="8551362" y="1617816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2468B6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74%</a:t>
            </a:r>
          </a:p>
        </p:txBody>
      </p:sp>
      <p:sp>
        <p:nvSpPr>
          <p:cNvPr id="734" name="m-d30_radial_bar-trk-5">
            <a:extLst>
              <a:ext uri="{FF2B5EF4-FFF2-40B4-BE49-F238E27FC236}">
                <a16:creationId xmlns:a16="http://schemas.microsoft.com/office/drawing/2014/main" id="{924B61C6-89A8-65B1-0858-84BFE3682DB0}"/>
              </a:ext>
            </a:extLst>
          </p:cNvPr>
          <p:cNvSpPr/>
          <p:nvPr/>
        </p:nvSpPr>
        <p:spPr>
          <a:xfrm>
            <a:off x="8451596" y="1670876"/>
            <a:ext cx="489458" cy="489458"/>
          </a:xfrm>
          <a:custGeom>
            <a:avLst/>
            <a:gdLst/>
            <a:ahLst/>
            <a:cxnLst/>
            <a:rect l="0" t="0" r="r" b="b"/>
            <a:pathLst>
              <a:path w="489458" h="489458">
                <a:moveTo>
                  <a:pt x="244729" y="0"/>
                </a:moveTo>
                <a:cubicBezTo>
                  <a:pt x="379920" y="0"/>
                  <a:pt x="489458" y="109538"/>
                  <a:pt x="489458" y="244729"/>
                </a:cubicBezTo>
                <a:cubicBezTo>
                  <a:pt x="489458" y="379920"/>
                  <a:pt x="379920" y="489458"/>
                  <a:pt x="244729" y="489458"/>
                </a:cubicBezTo>
                <a:cubicBezTo>
                  <a:pt x="109538" y="489458"/>
                  <a:pt x="0" y="379920"/>
                  <a:pt x="0" y="244729"/>
                </a:cubicBezTo>
                <a:cubicBezTo>
                  <a:pt x="0" y="233934"/>
                  <a:pt x="8763" y="225235"/>
                  <a:pt x="19558" y="225235"/>
                </a:cubicBezTo>
                <a:cubicBezTo>
                  <a:pt x="30289" y="225235"/>
                  <a:pt x="39052" y="233934"/>
                  <a:pt x="39052" y="244729"/>
                </a:cubicBezTo>
                <a:cubicBezTo>
                  <a:pt x="39052" y="358331"/>
                  <a:pt x="131127" y="450406"/>
                  <a:pt x="244729" y="450406"/>
                </a:cubicBezTo>
                <a:cubicBezTo>
                  <a:pt x="358331" y="450406"/>
                  <a:pt x="450406" y="358331"/>
                  <a:pt x="450406" y="244729"/>
                </a:cubicBezTo>
                <a:cubicBezTo>
                  <a:pt x="450406" y="131127"/>
                  <a:pt x="358331" y="39052"/>
                  <a:pt x="244729" y="39052"/>
                </a:cubicBezTo>
                <a:cubicBezTo>
                  <a:pt x="233934" y="39052"/>
                  <a:pt x="225171" y="30289"/>
                  <a:pt x="225171" y="19494"/>
                </a:cubicBezTo>
                <a:cubicBezTo>
                  <a:pt x="225171" y="8763"/>
                  <a:pt x="233934" y="0"/>
                  <a:pt x="244729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35" name="m-d30_radial_bar-bar-5">
            <a:extLst>
              <a:ext uri="{FF2B5EF4-FFF2-40B4-BE49-F238E27FC236}">
                <a16:creationId xmlns:a16="http://schemas.microsoft.com/office/drawing/2014/main" id="{B0E6CAD1-8089-C874-1BBD-8126CB6ACD8A}"/>
              </a:ext>
            </a:extLst>
          </p:cNvPr>
          <p:cNvSpPr/>
          <p:nvPr/>
        </p:nvSpPr>
        <p:spPr>
          <a:xfrm>
            <a:off x="8673274" y="1670876"/>
            <a:ext cx="267764" cy="489458"/>
          </a:xfrm>
          <a:custGeom>
            <a:avLst/>
            <a:gdLst/>
            <a:ahLst/>
            <a:cxnLst/>
            <a:rect l="0" t="0" r="r" b="b"/>
            <a:pathLst>
              <a:path w="267764" h="489458">
                <a:moveTo>
                  <a:pt x="23051" y="0"/>
                </a:moveTo>
                <a:cubicBezTo>
                  <a:pt x="110935" y="0"/>
                  <a:pt x="192088" y="47117"/>
                  <a:pt x="235649" y="123444"/>
                </a:cubicBezTo>
                <a:cubicBezTo>
                  <a:pt x="279146" y="199835"/>
                  <a:pt x="278448" y="293624"/>
                  <a:pt x="233680" y="369316"/>
                </a:cubicBezTo>
                <a:cubicBezTo>
                  <a:pt x="188976" y="444944"/>
                  <a:pt x="107061" y="490792"/>
                  <a:pt x="19241" y="489458"/>
                </a:cubicBezTo>
                <a:cubicBezTo>
                  <a:pt x="8446" y="489268"/>
                  <a:pt x="-190" y="480377"/>
                  <a:pt x="0" y="469582"/>
                </a:cubicBezTo>
                <a:cubicBezTo>
                  <a:pt x="127" y="458788"/>
                  <a:pt x="9017" y="450215"/>
                  <a:pt x="19812" y="450406"/>
                </a:cubicBezTo>
                <a:cubicBezTo>
                  <a:pt x="93662" y="451549"/>
                  <a:pt x="162497" y="413004"/>
                  <a:pt x="200089" y="349441"/>
                </a:cubicBezTo>
                <a:cubicBezTo>
                  <a:pt x="237681" y="285877"/>
                  <a:pt x="238316" y="207010"/>
                  <a:pt x="201676" y="142812"/>
                </a:cubicBezTo>
                <a:cubicBezTo>
                  <a:pt x="165100" y="78676"/>
                  <a:pt x="96901" y="39052"/>
                  <a:pt x="23051" y="39052"/>
                </a:cubicBezTo>
                <a:cubicBezTo>
                  <a:pt x="12256" y="39052"/>
                  <a:pt x="3493" y="30289"/>
                  <a:pt x="3493" y="19494"/>
                </a:cubicBezTo>
                <a:cubicBezTo>
                  <a:pt x="3493" y="8763"/>
                  <a:pt x="12256" y="0"/>
                  <a:pt x="23051" y="0"/>
                </a:cubicBezTo>
                <a:close/>
              </a:path>
            </a:pathLst>
          </a:custGeom>
          <a:gradFill rotWithShape="1">
            <a:gsLst>
              <a:gs pos="0">
                <a:srgbClr val="5892CE"/>
              </a:gs>
              <a:gs pos="100000">
                <a:srgbClr val="2E77C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36" name="m-d30_radial_bar-bv-5">
            <a:extLst>
              <a:ext uri="{FF2B5EF4-FFF2-40B4-BE49-F238E27FC236}">
                <a16:creationId xmlns:a16="http://schemas.microsoft.com/office/drawing/2014/main" id="{2B48AF0D-6041-AD55-4362-81B7CB0A8EFE}"/>
              </a:ext>
            </a:extLst>
          </p:cNvPr>
          <p:cNvSpPr txBox="1"/>
          <p:nvPr/>
        </p:nvSpPr>
        <p:spPr>
          <a:xfrm>
            <a:off x="8694020" y="2124232"/>
            <a:ext cx="3681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67</a:t>
            </a:r>
          </a:p>
        </p:txBody>
      </p:sp>
      <p:sp>
        <p:nvSpPr>
          <p:cNvPr id="737" name="m-d30_radial_bar-bn-5">
            <a:extLst>
              <a:ext uri="{FF2B5EF4-FFF2-40B4-BE49-F238E27FC236}">
                <a16:creationId xmlns:a16="http://schemas.microsoft.com/office/drawing/2014/main" id="{BF041E24-1603-A20F-13E2-383BE1C4F798}"/>
              </a:ext>
            </a:extLst>
          </p:cNvPr>
          <p:cNvSpPr txBox="1"/>
          <p:nvPr/>
        </p:nvSpPr>
        <p:spPr>
          <a:xfrm>
            <a:off x="8603849" y="1670576"/>
            <a:ext cx="71857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华中</a:t>
            </a:r>
          </a:p>
        </p:txBody>
      </p:sp>
      <p:sp>
        <p:nvSpPr>
          <p:cNvPr id="738" name="m-d30_radial_bar-bp-5">
            <a:extLst>
              <a:ext uri="{FF2B5EF4-FFF2-40B4-BE49-F238E27FC236}">
                <a16:creationId xmlns:a16="http://schemas.microsoft.com/office/drawing/2014/main" id="{6122E7AD-276D-70F2-F8FD-A3119812BD87}"/>
              </a:ext>
            </a:extLst>
          </p:cNvPr>
          <p:cNvSpPr txBox="1"/>
          <p:nvPr/>
        </p:nvSpPr>
        <p:spPr>
          <a:xfrm>
            <a:off x="8551362" y="1672490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2E77C2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67%</a:t>
            </a:r>
          </a:p>
        </p:txBody>
      </p:sp>
      <p:sp>
        <p:nvSpPr>
          <p:cNvPr id="739" name="m-d30_radial_bar-trk-6">
            <a:extLst>
              <a:ext uri="{FF2B5EF4-FFF2-40B4-BE49-F238E27FC236}">
                <a16:creationId xmlns:a16="http://schemas.microsoft.com/office/drawing/2014/main" id="{EC1E6155-0E74-471C-B8C5-790FE7B6E7EC}"/>
              </a:ext>
            </a:extLst>
          </p:cNvPr>
          <p:cNvSpPr/>
          <p:nvPr/>
        </p:nvSpPr>
        <p:spPr>
          <a:xfrm>
            <a:off x="8506270" y="1725549"/>
            <a:ext cx="380111" cy="380111"/>
          </a:xfrm>
          <a:custGeom>
            <a:avLst/>
            <a:gdLst/>
            <a:ahLst/>
            <a:cxnLst/>
            <a:rect l="0" t="0" r="r" b="b"/>
            <a:pathLst>
              <a:path w="380111" h="380111">
                <a:moveTo>
                  <a:pt x="190056" y="0"/>
                </a:moveTo>
                <a:cubicBezTo>
                  <a:pt x="295021" y="0"/>
                  <a:pt x="380111" y="85090"/>
                  <a:pt x="380111" y="190056"/>
                </a:cubicBezTo>
                <a:cubicBezTo>
                  <a:pt x="380111" y="295021"/>
                  <a:pt x="295021" y="380111"/>
                  <a:pt x="190056" y="380111"/>
                </a:cubicBezTo>
                <a:cubicBezTo>
                  <a:pt x="85090" y="380111"/>
                  <a:pt x="0" y="295021"/>
                  <a:pt x="0" y="190056"/>
                </a:cubicBezTo>
                <a:cubicBezTo>
                  <a:pt x="0" y="179261"/>
                  <a:pt x="8763" y="170561"/>
                  <a:pt x="19495" y="170561"/>
                </a:cubicBezTo>
                <a:cubicBezTo>
                  <a:pt x="30289" y="170561"/>
                  <a:pt x="39053" y="179261"/>
                  <a:pt x="39053" y="190056"/>
                </a:cubicBezTo>
                <a:cubicBezTo>
                  <a:pt x="39053" y="273431"/>
                  <a:pt x="106680" y="341058"/>
                  <a:pt x="190056" y="341058"/>
                </a:cubicBezTo>
                <a:cubicBezTo>
                  <a:pt x="273431" y="341058"/>
                  <a:pt x="341059" y="273431"/>
                  <a:pt x="341059" y="190056"/>
                </a:cubicBezTo>
                <a:cubicBezTo>
                  <a:pt x="341059" y="106680"/>
                  <a:pt x="273431" y="39052"/>
                  <a:pt x="190056" y="39052"/>
                </a:cubicBezTo>
                <a:cubicBezTo>
                  <a:pt x="179261" y="39052"/>
                  <a:pt x="170498" y="30289"/>
                  <a:pt x="170498" y="19494"/>
                </a:cubicBezTo>
                <a:cubicBezTo>
                  <a:pt x="170498" y="8763"/>
                  <a:pt x="179261" y="0"/>
                  <a:pt x="190056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40" name="m-d30_radial_bar-bar-6">
            <a:extLst>
              <a:ext uri="{FF2B5EF4-FFF2-40B4-BE49-F238E27FC236}">
                <a16:creationId xmlns:a16="http://schemas.microsoft.com/office/drawing/2014/main" id="{18096FF4-C98B-9D0C-D8DF-67DCD71DDFCF}"/>
              </a:ext>
            </a:extLst>
          </p:cNvPr>
          <p:cNvSpPr/>
          <p:nvPr/>
        </p:nvSpPr>
        <p:spPr>
          <a:xfrm>
            <a:off x="8676767" y="1725549"/>
            <a:ext cx="209547" cy="366090"/>
          </a:xfrm>
          <a:custGeom>
            <a:avLst/>
            <a:gdLst/>
            <a:ahLst/>
            <a:cxnLst/>
            <a:rect l="0" t="0" r="r" b="b"/>
            <a:pathLst>
              <a:path w="209547" h="366090">
                <a:moveTo>
                  <a:pt x="19558" y="0"/>
                </a:moveTo>
                <a:cubicBezTo>
                  <a:pt x="109664" y="0"/>
                  <a:pt x="187388" y="63309"/>
                  <a:pt x="205676" y="151511"/>
                </a:cubicBezTo>
                <a:cubicBezTo>
                  <a:pt x="223901" y="239776"/>
                  <a:pt x="177737" y="328676"/>
                  <a:pt x="95060" y="364490"/>
                </a:cubicBezTo>
                <a:cubicBezTo>
                  <a:pt x="85153" y="368744"/>
                  <a:pt x="73660" y="364236"/>
                  <a:pt x="69342" y="354330"/>
                </a:cubicBezTo>
                <a:cubicBezTo>
                  <a:pt x="65088" y="344424"/>
                  <a:pt x="69660" y="332931"/>
                  <a:pt x="79502" y="328612"/>
                </a:cubicBezTo>
                <a:cubicBezTo>
                  <a:pt x="145224" y="300228"/>
                  <a:pt x="181927" y="229552"/>
                  <a:pt x="167449" y="159449"/>
                </a:cubicBezTo>
                <a:cubicBezTo>
                  <a:pt x="152908" y="89344"/>
                  <a:pt x="91186" y="39052"/>
                  <a:pt x="19558" y="39052"/>
                </a:cubicBezTo>
                <a:cubicBezTo>
                  <a:pt x="8763" y="39052"/>
                  <a:pt x="0" y="30289"/>
                  <a:pt x="0" y="19494"/>
                </a:cubicBezTo>
                <a:cubicBezTo>
                  <a:pt x="0" y="8763"/>
                  <a:pt x="8763" y="0"/>
                  <a:pt x="19558" y="0"/>
                </a:cubicBezTo>
                <a:close/>
              </a:path>
            </a:pathLst>
          </a:custGeom>
          <a:gradFill rotWithShape="1">
            <a:gsLst>
              <a:gs pos="0">
                <a:srgbClr val="619DD7"/>
              </a:gs>
              <a:gs pos="100000">
                <a:srgbClr val="3985CD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41" name="m-d30_radial_bar-bv-6">
            <a:extLst>
              <a:ext uri="{FF2B5EF4-FFF2-40B4-BE49-F238E27FC236}">
                <a16:creationId xmlns:a16="http://schemas.microsoft.com/office/drawing/2014/main" id="{1C6AD917-43AC-5802-4A5D-007CDEAB1A87}"/>
              </a:ext>
            </a:extLst>
          </p:cNvPr>
          <p:cNvSpPr txBox="1"/>
          <p:nvPr/>
        </p:nvSpPr>
        <p:spPr>
          <a:xfrm>
            <a:off x="8759026" y="2049612"/>
            <a:ext cx="3681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58</a:t>
            </a:r>
          </a:p>
        </p:txBody>
      </p:sp>
      <p:sp>
        <p:nvSpPr>
          <p:cNvPr id="742" name="m-d30_radial_bar-bn-6">
            <a:extLst>
              <a:ext uri="{FF2B5EF4-FFF2-40B4-BE49-F238E27FC236}">
                <a16:creationId xmlns:a16="http://schemas.microsoft.com/office/drawing/2014/main" id="{554FD956-675F-9028-ACB1-4FDA6997B9B1}"/>
              </a:ext>
            </a:extLst>
          </p:cNvPr>
          <p:cNvSpPr txBox="1"/>
          <p:nvPr/>
        </p:nvSpPr>
        <p:spPr>
          <a:xfrm>
            <a:off x="8603849" y="1725250"/>
            <a:ext cx="71857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西北</a:t>
            </a:r>
          </a:p>
        </p:txBody>
      </p:sp>
      <p:sp>
        <p:nvSpPr>
          <p:cNvPr id="743" name="m-d30_radial_bar-bp-6">
            <a:extLst>
              <a:ext uri="{FF2B5EF4-FFF2-40B4-BE49-F238E27FC236}">
                <a16:creationId xmlns:a16="http://schemas.microsoft.com/office/drawing/2014/main" id="{E07CB778-8540-B444-2792-1456B6A8D0FC}"/>
              </a:ext>
            </a:extLst>
          </p:cNvPr>
          <p:cNvSpPr txBox="1"/>
          <p:nvPr/>
        </p:nvSpPr>
        <p:spPr>
          <a:xfrm>
            <a:off x="8551362" y="1727163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58%</a:t>
            </a:r>
          </a:p>
        </p:txBody>
      </p:sp>
      <p:sp>
        <p:nvSpPr>
          <p:cNvPr id="744" name="m-d30_radial_bar-core">
            <a:extLst>
              <a:ext uri="{FF2B5EF4-FFF2-40B4-BE49-F238E27FC236}">
                <a16:creationId xmlns:a16="http://schemas.microsoft.com/office/drawing/2014/main" id="{A31EECF6-06E1-E9F3-6D43-42685062C9E3}"/>
              </a:ext>
            </a:extLst>
          </p:cNvPr>
          <p:cNvSpPr/>
          <p:nvPr/>
        </p:nvSpPr>
        <p:spPr>
          <a:xfrm>
            <a:off x="8568754" y="1788033"/>
            <a:ext cx="255143" cy="255143"/>
          </a:xfrm>
          <a:prstGeom prst="ellipse">
            <a:avLst/>
          </a:pr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45" name="m-d30_radial_bar-core-v">
            <a:extLst>
              <a:ext uri="{FF2B5EF4-FFF2-40B4-BE49-F238E27FC236}">
                <a16:creationId xmlns:a16="http://schemas.microsoft.com/office/drawing/2014/main" id="{5353C3EA-B181-C732-3BB8-93F920E88DD2}"/>
              </a:ext>
            </a:extLst>
          </p:cNvPr>
          <p:cNvSpPr txBox="1"/>
          <p:nvPr/>
        </p:nvSpPr>
        <p:spPr>
          <a:xfrm>
            <a:off x="8635872" y="1862936"/>
            <a:ext cx="120907" cy="820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7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77%</a:t>
            </a:r>
          </a:p>
        </p:txBody>
      </p:sp>
      <p:sp>
        <p:nvSpPr>
          <p:cNvPr id="746" name="m-d30_radial_bar-core-l">
            <a:extLst>
              <a:ext uri="{FF2B5EF4-FFF2-40B4-BE49-F238E27FC236}">
                <a16:creationId xmlns:a16="http://schemas.microsoft.com/office/drawing/2014/main" id="{14FB9ADF-B729-1072-5D62-0DE2C19B34DB}"/>
              </a:ext>
            </a:extLst>
          </p:cNvPr>
          <p:cNvSpPr txBox="1"/>
          <p:nvPr/>
        </p:nvSpPr>
        <p:spPr>
          <a:xfrm>
            <a:off x="8639308" y="1937357"/>
            <a:ext cx="11403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0" normalizeH="0" baseline="0" noProof="0">
                <a:ln>
                  <a:noFill/>
                </a:ln>
                <a:solidFill>
                  <a:srgbClr val="CFE0F4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平均完成率</a:t>
            </a:r>
          </a:p>
        </p:txBody>
      </p:sp>
      <p:sp>
        <p:nvSpPr>
          <p:cNvPr id="747" name="m-d30_radial_bar-side-bar">
            <a:extLst>
              <a:ext uri="{FF2B5EF4-FFF2-40B4-BE49-F238E27FC236}">
                <a16:creationId xmlns:a16="http://schemas.microsoft.com/office/drawing/2014/main" id="{B8BB8C06-87F5-CD39-DC3A-2024AD46DD0E}"/>
              </a:ext>
            </a:extLst>
          </p:cNvPr>
          <p:cNvSpPr/>
          <p:nvPr/>
        </p:nvSpPr>
        <p:spPr>
          <a:xfrm>
            <a:off x="9399270" y="1475613"/>
            <a:ext cx="6509" cy="109347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48" name="m-d30_radial_bar-side-h">
            <a:extLst>
              <a:ext uri="{FF2B5EF4-FFF2-40B4-BE49-F238E27FC236}">
                <a16:creationId xmlns:a16="http://schemas.microsoft.com/office/drawing/2014/main" id="{B23A30AE-CED1-1DB7-B31A-A8D90187174B}"/>
              </a:ext>
            </a:extLst>
          </p:cNvPr>
          <p:cNvSpPr txBox="1"/>
          <p:nvPr/>
        </p:nvSpPr>
        <p:spPr>
          <a:xfrm>
            <a:off x="9431814" y="1477077"/>
            <a:ext cx="169878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完成情况</a:t>
            </a:r>
          </a:p>
        </p:txBody>
      </p:sp>
      <p:sp>
        <p:nvSpPr>
          <p:cNvPr id="749" name="m-d30_radial_bar-side-p">
            <a:extLst>
              <a:ext uri="{FF2B5EF4-FFF2-40B4-BE49-F238E27FC236}">
                <a16:creationId xmlns:a16="http://schemas.microsoft.com/office/drawing/2014/main" id="{3B77B6ED-4957-B5F3-57F7-C592A63FDADA}"/>
              </a:ext>
            </a:extLst>
          </p:cNvPr>
          <p:cNvSpPr txBox="1"/>
          <p:nvPr/>
        </p:nvSpPr>
        <p:spPr>
          <a:xfrm>
            <a:off x="9432985" y="1533394"/>
            <a:ext cx="316651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按完成率排序 · 已完成营收</a:t>
            </a:r>
          </a:p>
        </p:txBody>
      </p:sp>
      <p:sp>
        <p:nvSpPr>
          <p:cNvPr id="750" name="m-d30_radial_bar-r-1">
            <a:extLst>
              <a:ext uri="{FF2B5EF4-FFF2-40B4-BE49-F238E27FC236}">
                <a16:creationId xmlns:a16="http://schemas.microsoft.com/office/drawing/2014/main" id="{8AA140F6-A8EE-CFC4-0398-FF87C1EE2EE7}"/>
              </a:ext>
            </a:extLst>
          </p:cNvPr>
          <p:cNvSpPr/>
          <p:nvPr/>
        </p:nvSpPr>
        <p:spPr>
          <a:xfrm>
            <a:off x="9399270" y="1610995"/>
            <a:ext cx="689927" cy="80709"/>
          </a:xfrm>
          <a:custGeom>
            <a:avLst/>
            <a:gdLst/>
            <a:ahLst/>
            <a:cxnLst/>
            <a:rect l="0" t="0" r="r" b="b"/>
            <a:pathLst>
              <a:path w="689927" h="80709">
                <a:moveTo>
                  <a:pt x="20828" y="0"/>
                </a:moveTo>
                <a:lnTo>
                  <a:pt x="669099" y="0"/>
                </a:lnTo>
                <a:cubicBezTo>
                  <a:pt x="680593" y="0"/>
                  <a:pt x="689927" y="9334"/>
                  <a:pt x="689927" y="20828"/>
                </a:cubicBezTo>
                <a:lnTo>
                  <a:pt x="689927" y="59881"/>
                </a:lnTo>
                <a:cubicBezTo>
                  <a:pt x="689927" y="71374"/>
                  <a:pt x="680593" y="80709"/>
                  <a:pt x="669099" y="80709"/>
                </a:cubicBezTo>
                <a:lnTo>
                  <a:pt x="20828" y="80709"/>
                </a:lnTo>
                <a:cubicBezTo>
                  <a:pt x="9335" y="80709"/>
                  <a:pt x="0" y="71374"/>
                  <a:pt x="0" y="59881"/>
                </a:cubicBezTo>
                <a:lnTo>
                  <a:pt x="0" y="20828"/>
                </a:lnTo>
                <a:cubicBezTo>
                  <a:pt x="0" y="9334"/>
                  <a:pt x="9335" y="0"/>
                  <a:pt x="2082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51" name="m-d30_radial_bar-rb-1">
            <a:extLst>
              <a:ext uri="{FF2B5EF4-FFF2-40B4-BE49-F238E27FC236}">
                <a16:creationId xmlns:a16="http://schemas.microsoft.com/office/drawing/2014/main" id="{43182E38-36F4-1AE1-95A4-D9E6F286983B}"/>
              </a:ext>
            </a:extLst>
          </p:cNvPr>
          <p:cNvSpPr/>
          <p:nvPr/>
        </p:nvSpPr>
        <p:spPr>
          <a:xfrm>
            <a:off x="9399270" y="1610995"/>
            <a:ext cx="7811" cy="80709"/>
          </a:xfrm>
          <a:custGeom>
            <a:avLst/>
            <a:gdLst/>
            <a:ahLst/>
            <a:cxnLst/>
            <a:rect l="0" t="0" r="r" b="b"/>
            <a:pathLst>
              <a:path w="7811" h="80709">
                <a:moveTo>
                  <a:pt x="3937" y="0"/>
                </a:moveTo>
                <a:lnTo>
                  <a:pt x="3937" y="0"/>
                </a:lnTo>
                <a:cubicBezTo>
                  <a:pt x="6096" y="0"/>
                  <a:pt x="7811" y="1715"/>
                  <a:pt x="7811" y="3874"/>
                </a:cubicBezTo>
                <a:lnTo>
                  <a:pt x="7811" y="76835"/>
                </a:lnTo>
                <a:cubicBezTo>
                  <a:pt x="7811" y="78994"/>
                  <a:pt x="6096" y="80709"/>
                  <a:pt x="3937" y="80709"/>
                </a:cubicBezTo>
                <a:lnTo>
                  <a:pt x="3937" y="80709"/>
                </a:lnTo>
                <a:cubicBezTo>
                  <a:pt x="1714" y="80709"/>
                  <a:pt x="0" y="78994"/>
                  <a:pt x="0" y="76835"/>
                </a:cubicBezTo>
                <a:lnTo>
                  <a:pt x="0" y="3874"/>
                </a:lnTo>
                <a:cubicBezTo>
                  <a:pt x="0" y="1715"/>
                  <a:pt x="1714" y="0"/>
                  <a:pt x="3937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52" name="m-d30_radial_bar-rn-1">
            <a:extLst>
              <a:ext uri="{FF2B5EF4-FFF2-40B4-BE49-F238E27FC236}">
                <a16:creationId xmlns:a16="http://schemas.microsoft.com/office/drawing/2014/main" id="{BBF09F56-7F76-B7E0-DB95-64F2D3F6645C}"/>
              </a:ext>
            </a:extLst>
          </p:cNvPr>
          <p:cNvSpPr txBox="1"/>
          <p:nvPr/>
        </p:nvSpPr>
        <p:spPr>
          <a:xfrm>
            <a:off x="9435355" y="1632519"/>
            <a:ext cx="75632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华东</a:t>
            </a:r>
          </a:p>
        </p:txBody>
      </p:sp>
      <p:sp>
        <p:nvSpPr>
          <p:cNvPr id="753" name="m-d30_radial_bar-rv-1">
            <a:extLst>
              <a:ext uri="{FF2B5EF4-FFF2-40B4-BE49-F238E27FC236}">
                <a16:creationId xmlns:a16="http://schemas.microsoft.com/office/drawing/2014/main" id="{4DE5DB74-7EC6-D4FD-5B5C-0B5A0667F69D}"/>
              </a:ext>
            </a:extLst>
          </p:cNvPr>
          <p:cNvSpPr txBox="1"/>
          <p:nvPr/>
        </p:nvSpPr>
        <p:spPr>
          <a:xfrm>
            <a:off x="9539026" y="1627696"/>
            <a:ext cx="73887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96%</a:t>
            </a:r>
          </a:p>
        </p:txBody>
      </p:sp>
      <p:sp>
        <p:nvSpPr>
          <p:cNvPr id="754" name="m-d30_radial_bar-ra-1">
            <a:extLst>
              <a:ext uri="{FF2B5EF4-FFF2-40B4-BE49-F238E27FC236}">
                <a16:creationId xmlns:a16="http://schemas.microsoft.com/office/drawing/2014/main" id="{265A3392-83DD-252B-7B23-DE03D9A83C37}"/>
              </a:ext>
            </a:extLst>
          </p:cNvPr>
          <p:cNvSpPr txBox="1"/>
          <p:nvPr/>
        </p:nvSpPr>
        <p:spPr>
          <a:xfrm>
            <a:off x="9680136" y="1634127"/>
            <a:ext cx="11247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3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18.2 亿</a:t>
            </a:r>
          </a:p>
        </p:txBody>
      </p:sp>
      <p:sp>
        <p:nvSpPr>
          <p:cNvPr id="755" name="m-d30_radial_bar-rs-1">
            <a:extLst>
              <a:ext uri="{FF2B5EF4-FFF2-40B4-BE49-F238E27FC236}">
                <a16:creationId xmlns:a16="http://schemas.microsoft.com/office/drawing/2014/main" id="{CE3A24B9-2E19-1E90-5D68-DDC52167150F}"/>
              </a:ext>
            </a:extLst>
          </p:cNvPr>
          <p:cNvSpPr/>
          <p:nvPr/>
        </p:nvSpPr>
        <p:spPr>
          <a:xfrm>
            <a:off x="9946005" y="1631823"/>
            <a:ext cx="109347" cy="39052"/>
          </a:xfrm>
          <a:custGeom>
            <a:avLst/>
            <a:gdLst/>
            <a:ahLst/>
            <a:cxnLst/>
            <a:rect l="0" t="0" r="r" b="b"/>
            <a:pathLst>
              <a:path w="109347" h="39052">
                <a:moveTo>
                  <a:pt x="19558" y="0"/>
                </a:moveTo>
                <a:lnTo>
                  <a:pt x="89789" y="0"/>
                </a:lnTo>
                <a:cubicBezTo>
                  <a:pt x="100584" y="0"/>
                  <a:pt x="109347" y="8763"/>
                  <a:pt x="109347" y="19558"/>
                </a:cubicBezTo>
                <a:lnTo>
                  <a:pt x="109347" y="19558"/>
                </a:lnTo>
                <a:cubicBezTo>
                  <a:pt x="109347" y="30289"/>
                  <a:pt x="100584" y="39052"/>
                  <a:pt x="89789" y="39052"/>
                </a:cubicBezTo>
                <a:lnTo>
                  <a:pt x="19558" y="39052"/>
                </a:lnTo>
                <a:cubicBezTo>
                  <a:pt x="8763" y="39052"/>
                  <a:pt x="0" y="30289"/>
                  <a:pt x="0" y="19558"/>
                </a:cubicBezTo>
                <a:lnTo>
                  <a:pt x="0" y="19558"/>
                </a:lnTo>
                <a:cubicBezTo>
                  <a:pt x="0" y="8763"/>
                  <a:pt x="8763" y="0"/>
                  <a:pt x="19558" y="0"/>
                </a:cubicBezTo>
                <a:close/>
              </a:path>
            </a:pathLst>
          </a:custGeom>
          <a:solidFill>
            <a:srgbClr val="134C9C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56" name="m-d30_radial_bar-rst-1">
            <a:extLst>
              <a:ext uri="{FF2B5EF4-FFF2-40B4-BE49-F238E27FC236}">
                <a16:creationId xmlns:a16="http://schemas.microsoft.com/office/drawing/2014/main" id="{60AC478E-5AF2-D445-3B1B-8F8E4E5444A6}"/>
              </a:ext>
            </a:extLst>
          </p:cNvPr>
          <p:cNvSpPr txBox="1"/>
          <p:nvPr/>
        </p:nvSpPr>
        <p:spPr>
          <a:xfrm>
            <a:off x="9972007" y="1635849"/>
            <a:ext cx="57342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1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达线</a:t>
            </a:r>
          </a:p>
        </p:txBody>
      </p:sp>
      <p:sp>
        <p:nvSpPr>
          <p:cNvPr id="757" name="m-d30_radial_bar-r-2">
            <a:extLst>
              <a:ext uri="{FF2B5EF4-FFF2-40B4-BE49-F238E27FC236}">
                <a16:creationId xmlns:a16="http://schemas.microsoft.com/office/drawing/2014/main" id="{4E48D00A-FFE7-48EC-A552-70159AD59A87}"/>
              </a:ext>
            </a:extLst>
          </p:cNvPr>
          <p:cNvSpPr/>
          <p:nvPr/>
        </p:nvSpPr>
        <p:spPr>
          <a:xfrm>
            <a:off x="9399270" y="1709928"/>
            <a:ext cx="689927" cy="80709"/>
          </a:xfrm>
          <a:custGeom>
            <a:avLst/>
            <a:gdLst/>
            <a:ahLst/>
            <a:cxnLst/>
            <a:rect l="0" t="0" r="r" b="b"/>
            <a:pathLst>
              <a:path w="689927" h="80709">
                <a:moveTo>
                  <a:pt x="20828" y="0"/>
                </a:moveTo>
                <a:lnTo>
                  <a:pt x="669099" y="0"/>
                </a:lnTo>
                <a:cubicBezTo>
                  <a:pt x="680593" y="0"/>
                  <a:pt x="689927" y="9335"/>
                  <a:pt x="689927" y="20828"/>
                </a:cubicBezTo>
                <a:lnTo>
                  <a:pt x="689927" y="59881"/>
                </a:lnTo>
                <a:cubicBezTo>
                  <a:pt x="689927" y="71374"/>
                  <a:pt x="680593" y="80709"/>
                  <a:pt x="669099" y="80709"/>
                </a:cubicBezTo>
                <a:lnTo>
                  <a:pt x="20828" y="80709"/>
                </a:lnTo>
                <a:cubicBezTo>
                  <a:pt x="9335" y="80709"/>
                  <a:pt x="0" y="71374"/>
                  <a:pt x="0" y="59881"/>
                </a:cubicBezTo>
                <a:lnTo>
                  <a:pt x="0" y="20828"/>
                </a:lnTo>
                <a:cubicBezTo>
                  <a:pt x="0" y="9335"/>
                  <a:pt x="9335" y="0"/>
                  <a:pt x="2082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58" name="m-d30_radial_bar-rb-2">
            <a:extLst>
              <a:ext uri="{FF2B5EF4-FFF2-40B4-BE49-F238E27FC236}">
                <a16:creationId xmlns:a16="http://schemas.microsoft.com/office/drawing/2014/main" id="{DF21F4EE-B55E-A15E-6B31-C0FBD218A073}"/>
              </a:ext>
            </a:extLst>
          </p:cNvPr>
          <p:cNvSpPr/>
          <p:nvPr/>
        </p:nvSpPr>
        <p:spPr>
          <a:xfrm>
            <a:off x="9399270" y="1709928"/>
            <a:ext cx="7811" cy="80709"/>
          </a:xfrm>
          <a:custGeom>
            <a:avLst/>
            <a:gdLst/>
            <a:ahLst/>
            <a:cxnLst/>
            <a:rect l="0" t="0" r="r" b="b"/>
            <a:pathLst>
              <a:path w="7811" h="80709">
                <a:moveTo>
                  <a:pt x="3937" y="0"/>
                </a:moveTo>
                <a:lnTo>
                  <a:pt x="3937" y="0"/>
                </a:lnTo>
                <a:cubicBezTo>
                  <a:pt x="6096" y="0"/>
                  <a:pt x="7811" y="1715"/>
                  <a:pt x="7811" y="3874"/>
                </a:cubicBezTo>
                <a:lnTo>
                  <a:pt x="7811" y="76835"/>
                </a:lnTo>
                <a:cubicBezTo>
                  <a:pt x="7811" y="78994"/>
                  <a:pt x="6096" y="80709"/>
                  <a:pt x="3937" y="80709"/>
                </a:cubicBezTo>
                <a:lnTo>
                  <a:pt x="3937" y="80709"/>
                </a:lnTo>
                <a:cubicBezTo>
                  <a:pt x="1714" y="80709"/>
                  <a:pt x="0" y="78994"/>
                  <a:pt x="0" y="76835"/>
                </a:cubicBezTo>
                <a:lnTo>
                  <a:pt x="0" y="3874"/>
                </a:lnTo>
                <a:cubicBezTo>
                  <a:pt x="0" y="1715"/>
                  <a:pt x="1714" y="0"/>
                  <a:pt x="3937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59" name="m-d30_radial_bar-rn-2">
            <a:extLst>
              <a:ext uri="{FF2B5EF4-FFF2-40B4-BE49-F238E27FC236}">
                <a16:creationId xmlns:a16="http://schemas.microsoft.com/office/drawing/2014/main" id="{A3098923-189C-324C-37D7-BB47ECDB433A}"/>
              </a:ext>
            </a:extLst>
          </p:cNvPr>
          <p:cNvSpPr txBox="1"/>
          <p:nvPr/>
        </p:nvSpPr>
        <p:spPr>
          <a:xfrm>
            <a:off x="9435355" y="1731452"/>
            <a:ext cx="75632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华南</a:t>
            </a:r>
          </a:p>
        </p:txBody>
      </p:sp>
      <p:sp>
        <p:nvSpPr>
          <p:cNvPr id="760" name="m-d30_radial_bar-rv-2">
            <a:extLst>
              <a:ext uri="{FF2B5EF4-FFF2-40B4-BE49-F238E27FC236}">
                <a16:creationId xmlns:a16="http://schemas.microsoft.com/office/drawing/2014/main" id="{56E8FCDA-2A03-6D45-A96F-FCD64BC3A1C2}"/>
              </a:ext>
            </a:extLst>
          </p:cNvPr>
          <p:cNvSpPr txBox="1"/>
          <p:nvPr/>
        </p:nvSpPr>
        <p:spPr>
          <a:xfrm>
            <a:off x="9539026" y="1726629"/>
            <a:ext cx="73887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88%</a:t>
            </a:r>
          </a:p>
        </p:txBody>
      </p:sp>
      <p:sp>
        <p:nvSpPr>
          <p:cNvPr id="761" name="m-d30_radial_bar-ra-2">
            <a:extLst>
              <a:ext uri="{FF2B5EF4-FFF2-40B4-BE49-F238E27FC236}">
                <a16:creationId xmlns:a16="http://schemas.microsoft.com/office/drawing/2014/main" id="{F194AD2A-0788-5329-CBB6-A072AC805CA7}"/>
              </a:ext>
            </a:extLst>
          </p:cNvPr>
          <p:cNvSpPr txBox="1"/>
          <p:nvPr/>
        </p:nvSpPr>
        <p:spPr>
          <a:xfrm>
            <a:off x="9680136" y="1733060"/>
            <a:ext cx="11247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3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12.6 亿</a:t>
            </a:r>
          </a:p>
        </p:txBody>
      </p:sp>
      <p:sp>
        <p:nvSpPr>
          <p:cNvPr id="762" name="m-d30_radial_bar-rs-2">
            <a:extLst>
              <a:ext uri="{FF2B5EF4-FFF2-40B4-BE49-F238E27FC236}">
                <a16:creationId xmlns:a16="http://schemas.microsoft.com/office/drawing/2014/main" id="{5B2A460B-1C79-1E6A-E83B-335E1F2E7C58}"/>
              </a:ext>
            </a:extLst>
          </p:cNvPr>
          <p:cNvSpPr/>
          <p:nvPr/>
        </p:nvSpPr>
        <p:spPr>
          <a:xfrm>
            <a:off x="9946005" y="1730756"/>
            <a:ext cx="109347" cy="39052"/>
          </a:xfrm>
          <a:custGeom>
            <a:avLst/>
            <a:gdLst/>
            <a:ahLst/>
            <a:cxnLst/>
            <a:rect l="0" t="0" r="r" b="b"/>
            <a:pathLst>
              <a:path w="109347" h="39052">
                <a:moveTo>
                  <a:pt x="19558" y="0"/>
                </a:moveTo>
                <a:lnTo>
                  <a:pt x="89789" y="0"/>
                </a:lnTo>
                <a:cubicBezTo>
                  <a:pt x="100584" y="0"/>
                  <a:pt x="109347" y="8763"/>
                  <a:pt x="109347" y="19494"/>
                </a:cubicBezTo>
                <a:lnTo>
                  <a:pt x="109347" y="19494"/>
                </a:lnTo>
                <a:cubicBezTo>
                  <a:pt x="109347" y="30289"/>
                  <a:pt x="100584" y="39052"/>
                  <a:pt x="89789" y="39052"/>
                </a:cubicBezTo>
                <a:lnTo>
                  <a:pt x="19558" y="39052"/>
                </a:lnTo>
                <a:cubicBezTo>
                  <a:pt x="8763" y="39052"/>
                  <a:pt x="0" y="30289"/>
                  <a:pt x="0" y="19494"/>
                </a:cubicBezTo>
                <a:lnTo>
                  <a:pt x="0" y="19494"/>
                </a:lnTo>
                <a:cubicBezTo>
                  <a:pt x="0" y="8763"/>
                  <a:pt x="8763" y="0"/>
                  <a:pt x="19558" y="0"/>
                </a:cubicBezTo>
                <a:close/>
              </a:path>
            </a:pathLst>
          </a:custGeom>
          <a:solidFill>
            <a:srgbClr val="134C9C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63" name="m-d30_radial_bar-rst-2">
            <a:extLst>
              <a:ext uri="{FF2B5EF4-FFF2-40B4-BE49-F238E27FC236}">
                <a16:creationId xmlns:a16="http://schemas.microsoft.com/office/drawing/2014/main" id="{7DDFEEC7-7097-FBED-E07F-6C4A0EFCD836}"/>
              </a:ext>
            </a:extLst>
          </p:cNvPr>
          <p:cNvSpPr txBox="1"/>
          <p:nvPr/>
        </p:nvSpPr>
        <p:spPr>
          <a:xfrm>
            <a:off x="9972007" y="1734782"/>
            <a:ext cx="57342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1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达线</a:t>
            </a:r>
          </a:p>
        </p:txBody>
      </p:sp>
      <p:sp>
        <p:nvSpPr>
          <p:cNvPr id="764" name="m-d30_radial_bar-r-3">
            <a:extLst>
              <a:ext uri="{FF2B5EF4-FFF2-40B4-BE49-F238E27FC236}">
                <a16:creationId xmlns:a16="http://schemas.microsoft.com/office/drawing/2014/main" id="{538788A0-A130-EF48-05BA-9AE587114240}"/>
              </a:ext>
            </a:extLst>
          </p:cNvPr>
          <p:cNvSpPr/>
          <p:nvPr/>
        </p:nvSpPr>
        <p:spPr>
          <a:xfrm>
            <a:off x="9399270" y="1808861"/>
            <a:ext cx="689927" cy="80708"/>
          </a:xfrm>
          <a:custGeom>
            <a:avLst/>
            <a:gdLst/>
            <a:ahLst/>
            <a:cxnLst/>
            <a:rect l="0" t="0" r="r" b="b"/>
            <a:pathLst>
              <a:path w="689927" h="80708">
                <a:moveTo>
                  <a:pt x="20828" y="0"/>
                </a:moveTo>
                <a:lnTo>
                  <a:pt x="669099" y="0"/>
                </a:lnTo>
                <a:cubicBezTo>
                  <a:pt x="680593" y="0"/>
                  <a:pt x="689927" y="9334"/>
                  <a:pt x="689927" y="20828"/>
                </a:cubicBezTo>
                <a:lnTo>
                  <a:pt x="689927" y="59881"/>
                </a:lnTo>
                <a:cubicBezTo>
                  <a:pt x="689927" y="71374"/>
                  <a:pt x="680593" y="80708"/>
                  <a:pt x="669099" y="80708"/>
                </a:cubicBezTo>
                <a:lnTo>
                  <a:pt x="20828" y="80708"/>
                </a:lnTo>
                <a:cubicBezTo>
                  <a:pt x="9335" y="80708"/>
                  <a:pt x="0" y="71374"/>
                  <a:pt x="0" y="59881"/>
                </a:cubicBezTo>
                <a:lnTo>
                  <a:pt x="0" y="20828"/>
                </a:lnTo>
                <a:cubicBezTo>
                  <a:pt x="0" y="9334"/>
                  <a:pt x="9335" y="0"/>
                  <a:pt x="2082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65" name="m-d30_radial_bar-rb-3">
            <a:extLst>
              <a:ext uri="{FF2B5EF4-FFF2-40B4-BE49-F238E27FC236}">
                <a16:creationId xmlns:a16="http://schemas.microsoft.com/office/drawing/2014/main" id="{807E5B8D-C7AA-53A4-F38A-8479A162FACC}"/>
              </a:ext>
            </a:extLst>
          </p:cNvPr>
          <p:cNvSpPr/>
          <p:nvPr/>
        </p:nvSpPr>
        <p:spPr>
          <a:xfrm>
            <a:off x="9399270" y="1808861"/>
            <a:ext cx="7811" cy="80708"/>
          </a:xfrm>
          <a:custGeom>
            <a:avLst/>
            <a:gdLst/>
            <a:ahLst/>
            <a:cxnLst/>
            <a:rect l="0" t="0" r="r" b="b"/>
            <a:pathLst>
              <a:path w="7811" h="80708">
                <a:moveTo>
                  <a:pt x="3937" y="0"/>
                </a:moveTo>
                <a:lnTo>
                  <a:pt x="3937" y="0"/>
                </a:lnTo>
                <a:cubicBezTo>
                  <a:pt x="6096" y="0"/>
                  <a:pt x="7811" y="1714"/>
                  <a:pt x="7811" y="3937"/>
                </a:cubicBezTo>
                <a:lnTo>
                  <a:pt x="7811" y="76771"/>
                </a:lnTo>
                <a:cubicBezTo>
                  <a:pt x="7811" y="78994"/>
                  <a:pt x="6096" y="80708"/>
                  <a:pt x="3937" y="80708"/>
                </a:cubicBezTo>
                <a:lnTo>
                  <a:pt x="3937" y="80708"/>
                </a:lnTo>
                <a:cubicBezTo>
                  <a:pt x="1714" y="80708"/>
                  <a:pt x="0" y="78994"/>
                  <a:pt x="0" y="76771"/>
                </a:cubicBezTo>
                <a:lnTo>
                  <a:pt x="0" y="3937"/>
                </a:lnTo>
                <a:cubicBezTo>
                  <a:pt x="0" y="1714"/>
                  <a:pt x="1714" y="0"/>
                  <a:pt x="3937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66" name="m-d30_radial_bar-rn-3">
            <a:extLst>
              <a:ext uri="{FF2B5EF4-FFF2-40B4-BE49-F238E27FC236}">
                <a16:creationId xmlns:a16="http://schemas.microsoft.com/office/drawing/2014/main" id="{E015C6CB-9CC4-81E7-468E-A9B06B74D72E}"/>
              </a:ext>
            </a:extLst>
          </p:cNvPr>
          <p:cNvSpPr txBox="1"/>
          <p:nvPr/>
        </p:nvSpPr>
        <p:spPr>
          <a:xfrm>
            <a:off x="9435355" y="1830385"/>
            <a:ext cx="75632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华北</a:t>
            </a:r>
          </a:p>
        </p:txBody>
      </p:sp>
      <p:sp>
        <p:nvSpPr>
          <p:cNvPr id="767" name="m-d30_radial_bar-rv-3">
            <a:extLst>
              <a:ext uri="{FF2B5EF4-FFF2-40B4-BE49-F238E27FC236}">
                <a16:creationId xmlns:a16="http://schemas.microsoft.com/office/drawing/2014/main" id="{D93433D5-53BD-D293-3607-04595A1D97CA}"/>
              </a:ext>
            </a:extLst>
          </p:cNvPr>
          <p:cNvSpPr txBox="1"/>
          <p:nvPr/>
        </p:nvSpPr>
        <p:spPr>
          <a:xfrm>
            <a:off x="9539026" y="1825562"/>
            <a:ext cx="73887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81%</a:t>
            </a:r>
          </a:p>
        </p:txBody>
      </p:sp>
      <p:sp>
        <p:nvSpPr>
          <p:cNvPr id="768" name="m-d30_radial_bar-ra-3">
            <a:extLst>
              <a:ext uri="{FF2B5EF4-FFF2-40B4-BE49-F238E27FC236}">
                <a16:creationId xmlns:a16="http://schemas.microsoft.com/office/drawing/2014/main" id="{73F9E441-7276-FAAC-88D7-425BB12282F2}"/>
              </a:ext>
            </a:extLst>
          </p:cNvPr>
          <p:cNvSpPr txBox="1"/>
          <p:nvPr/>
        </p:nvSpPr>
        <p:spPr>
          <a:xfrm>
            <a:off x="9680136" y="1831993"/>
            <a:ext cx="11247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3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10.4 亿</a:t>
            </a:r>
          </a:p>
        </p:txBody>
      </p:sp>
      <p:sp>
        <p:nvSpPr>
          <p:cNvPr id="769" name="m-d30_radial_bar-rs-3">
            <a:extLst>
              <a:ext uri="{FF2B5EF4-FFF2-40B4-BE49-F238E27FC236}">
                <a16:creationId xmlns:a16="http://schemas.microsoft.com/office/drawing/2014/main" id="{5FBA3D0E-7866-EFCE-986B-4607510E04CE}"/>
              </a:ext>
            </a:extLst>
          </p:cNvPr>
          <p:cNvSpPr/>
          <p:nvPr/>
        </p:nvSpPr>
        <p:spPr>
          <a:xfrm>
            <a:off x="9946005" y="1829689"/>
            <a:ext cx="109347" cy="39053"/>
          </a:xfrm>
          <a:custGeom>
            <a:avLst/>
            <a:gdLst/>
            <a:ahLst/>
            <a:cxnLst/>
            <a:rect l="0" t="0" r="r" b="b"/>
            <a:pathLst>
              <a:path w="109347" h="39053">
                <a:moveTo>
                  <a:pt x="19558" y="0"/>
                </a:moveTo>
                <a:lnTo>
                  <a:pt x="89789" y="0"/>
                </a:lnTo>
                <a:cubicBezTo>
                  <a:pt x="100584" y="0"/>
                  <a:pt x="109347" y="8763"/>
                  <a:pt x="109347" y="19494"/>
                </a:cubicBezTo>
                <a:lnTo>
                  <a:pt x="109347" y="19494"/>
                </a:lnTo>
                <a:cubicBezTo>
                  <a:pt x="109347" y="30290"/>
                  <a:pt x="100584" y="39053"/>
                  <a:pt x="89789" y="39053"/>
                </a:cubicBezTo>
                <a:lnTo>
                  <a:pt x="19558" y="39053"/>
                </a:lnTo>
                <a:cubicBezTo>
                  <a:pt x="8763" y="39053"/>
                  <a:pt x="0" y="30290"/>
                  <a:pt x="0" y="19494"/>
                </a:cubicBezTo>
                <a:lnTo>
                  <a:pt x="0" y="19494"/>
                </a:lnTo>
                <a:cubicBezTo>
                  <a:pt x="0" y="8763"/>
                  <a:pt x="8763" y="0"/>
                  <a:pt x="19558" y="0"/>
                </a:cubicBezTo>
                <a:close/>
              </a:path>
            </a:pathLst>
          </a:custGeom>
          <a:solidFill>
            <a:srgbClr val="134C9C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70" name="m-d30_radial_bar-rst-3">
            <a:extLst>
              <a:ext uri="{FF2B5EF4-FFF2-40B4-BE49-F238E27FC236}">
                <a16:creationId xmlns:a16="http://schemas.microsoft.com/office/drawing/2014/main" id="{2C2953FB-5816-06CE-D9D4-62EFACA43D04}"/>
              </a:ext>
            </a:extLst>
          </p:cNvPr>
          <p:cNvSpPr txBox="1"/>
          <p:nvPr/>
        </p:nvSpPr>
        <p:spPr>
          <a:xfrm>
            <a:off x="9972007" y="1833715"/>
            <a:ext cx="57342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1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达线</a:t>
            </a:r>
          </a:p>
        </p:txBody>
      </p:sp>
      <p:sp>
        <p:nvSpPr>
          <p:cNvPr id="771" name="m-d30_radial_bar-r-4">
            <a:extLst>
              <a:ext uri="{FF2B5EF4-FFF2-40B4-BE49-F238E27FC236}">
                <a16:creationId xmlns:a16="http://schemas.microsoft.com/office/drawing/2014/main" id="{AD7CEE63-DA7B-DDF0-0397-B9486EE23A07}"/>
              </a:ext>
            </a:extLst>
          </p:cNvPr>
          <p:cNvSpPr/>
          <p:nvPr/>
        </p:nvSpPr>
        <p:spPr>
          <a:xfrm>
            <a:off x="9399270" y="1907794"/>
            <a:ext cx="689927" cy="80708"/>
          </a:xfrm>
          <a:custGeom>
            <a:avLst/>
            <a:gdLst/>
            <a:ahLst/>
            <a:cxnLst/>
            <a:rect l="0" t="0" r="r" b="b"/>
            <a:pathLst>
              <a:path w="689927" h="80708">
                <a:moveTo>
                  <a:pt x="20828" y="0"/>
                </a:moveTo>
                <a:lnTo>
                  <a:pt x="669099" y="0"/>
                </a:lnTo>
                <a:cubicBezTo>
                  <a:pt x="680593" y="0"/>
                  <a:pt x="689927" y="9335"/>
                  <a:pt x="689927" y="20828"/>
                </a:cubicBezTo>
                <a:lnTo>
                  <a:pt x="689927" y="59881"/>
                </a:lnTo>
                <a:cubicBezTo>
                  <a:pt x="689927" y="71374"/>
                  <a:pt x="680593" y="80708"/>
                  <a:pt x="669099" y="80708"/>
                </a:cubicBezTo>
                <a:lnTo>
                  <a:pt x="20828" y="80708"/>
                </a:lnTo>
                <a:cubicBezTo>
                  <a:pt x="9335" y="80708"/>
                  <a:pt x="0" y="71374"/>
                  <a:pt x="0" y="59881"/>
                </a:cubicBezTo>
                <a:lnTo>
                  <a:pt x="0" y="20828"/>
                </a:lnTo>
                <a:cubicBezTo>
                  <a:pt x="0" y="9335"/>
                  <a:pt x="9335" y="0"/>
                  <a:pt x="2082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72" name="m-d30_radial_bar-rb-4">
            <a:extLst>
              <a:ext uri="{FF2B5EF4-FFF2-40B4-BE49-F238E27FC236}">
                <a16:creationId xmlns:a16="http://schemas.microsoft.com/office/drawing/2014/main" id="{C2044E04-2464-5AD0-4254-BF25426E5642}"/>
              </a:ext>
            </a:extLst>
          </p:cNvPr>
          <p:cNvSpPr/>
          <p:nvPr/>
        </p:nvSpPr>
        <p:spPr>
          <a:xfrm>
            <a:off x="9399270" y="1907794"/>
            <a:ext cx="7811" cy="80708"/>
          </a:xfrm>
          <a:custGeom>
            <a:avLst/>
            <a:gdLst/>
            <a:ahLst/>
            <a:cxnLst/>
            <a:rect l="0" t="0" r="r" b="b"/>
            <a:pathLst>
              <a:path w="7811" h="80708">
                <a:moveTo>
                  <a:pt x="3937" y="0"/>
                </a:moveTo>
                <a:lnTo>
                  <a:pt x="3937" y="0"/>
                </a:lnTo>
                <a:cubicBezTo>
                  <a:pt x="6096" y="0"/>
                  <a:pt x="7811" y="1714"/>
                  <a:pt x="7811" y="3937"/>
                </a:cubicBezTo>
                <a:lnTo>
                  <a:pt x="7811" y="76771"/>
                </a:lnTo>
                <a:cubicBezTo>
                  <a:pt x="7811" y="78994"/>
                  <a:pt x="6096" y="80708"/>
                  <a:pt x="3937" y="80708"/>
                </a:cubicBezTo>
                <a:lnTo>
                  <a:pt x="3937" y="80708"/>
                </a:lnTo>
                <a:cubicBezTo>
                  <a:pt x="1714" y="80708"/>
                  <a:pt x="0" y="78994"/>
                  <a:pt x="0" y="76771"/>
                </a:cubicBezTo>
                <a:lnTo>
                  <a:pt x="0" y="3937"/>
                </a:lnTo>
                <a:cubicBezTo>
                  <a:pt x="0" y="1714"/>
                  <a:pt x="1714" y="0"/>
                  <a:pt x="3937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73" name="m-d30_radial_bar-rn-4">
            <a:extLst>
              <a:ext uri="{FF2B5EF4-FFF2-40B4-BE49-F238E27FC236}">
                <a16:creationId xmlns:a16="http://schemas.microsoft.com/office/drawing/2014/main" id="{346BA47B-F50E-0577-A5B1-DF48CA1F8A07}"/>
              </a:ext>
            </a:extLst>
          </p:cNvPr>
          <p:cNvSpPr txBox="1"/>
          <p:nvPr/>
        </p:nvSpPr>
        <p:spPr>
          <a:xfrm>
            <a:off x="9435355" y="1929318"/>
            <a:ext cx="75632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西南</a:t>
            </a:r>
          </a:p>
        </p:txBody>
      </p:sp>
      <p:sp>
        <p:nvSpPr>
          <p:cNvPr id="774" name="m-d30_radial_bar-rv-4">
            <a:extLst>
              <a:ext uri="{FF2B5EF4-FFF2-40B4-BE49-F238E27FC236}">
                <a16:creationId xmlns:a16="http://schemas.microsoft.com/office/drawing/2014/main" id="{57FBE08F-4984-A174-7474-75F912130B10}"/>
              </a:ext>
            </a:extLst>
          </p:cNvPr>
          <p:cNvSpPr txBox="1"/>
          <p:nvPr/>
        </p:nvSpPr>
        <p:spPr>
          <a:xfrm>
            <a:off x="9539026" y="1924495"/>
            <a:ext cx="73887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2468B6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74%</a:t>
            </a:r>
          </a:p>
        </p:txBody>
      </p:sp>
      <p:sp>
        <p:nvSpPr>
          <p:cNvPr id="775" name="m-d30_radial_bar-ra-4">
            <a:extLst>
              <a:ext uri="{FF2B5EF4-FFF2-40B4-BE49-F238E27FC236}">
                <a16:creationId xmlns:a16="http://schemas.microsoft.com/office/drawing/2014/main" id="{91624213-C62E-053D-FFD7-64A3221C2DAC}"/>
              </a:ext>
            </a:extLst>
          </p:cNvPr>
          <p:cNvSpPr txBox="1"/>
          <p:nvPr/>
        </p:nvSpPr>
        <p:spPr>
          <a:xfrm>
            <a:off x="9693648" y="1930926"/>
            <a:ext cx="98959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3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6.8 亿</a:t>
            </a:r>
          </a:p>
        </p:txBody>
      </p:sp>
      <p:sp>
        <p:nvSpPr>
          <p:cNvPr id="776" name="m-d30_radial_bar-rs-4">
            <a:extLst>
              <a:ext uri="{FF2B5EF4-FFF2-40B4-BE49-F238E27FC236}">
                <a16:creationId xmlns:a16="http://schemas.microsoft.com/office/drawing/2014/main" id="{C61F29FA-557F-7D2F-CC97-01EBF36B15C0}"/>
              </a:ext>
            </a:extLst>
          </p:cNvPr>
          <p:cNvSpPr/>
          <p:nvPr/>
        </p:nvSpPr>
        <p:spPr>
          <a:xfrm>
            <a:off x="9946005" y="1928622"/>
            <a:ext cx="109347" cy="39052"/>
          </a:xfrm>
          <a:custGeom>
            <a:avLst/>
            <a:gdLst/>
            <a:ahLst/>
            <a:cxnLst/>
            <a:rect l="0" t="0" r="r" b="b"/>
            <a:pathLst>
              <a:path w="109347" h="39052">
                <a:moveTo>
                  <a:pt x="19558" y="0"/>
                </a:moveTo>
                <a:lnTo>
                  <a:pt x="89789" y="0"/>
                </a:lnTo>
                <a:cubicBezTo>
                  <a:pt x="100584" y="0"/>
                  <a:pt x="109347" y="8763"/>
                  <a:pt x="109347" y="19494"/>
                </a:cubicBezTo>
                <a:lnTo>
                  <a:pt x="109347" y="19494"/>
                </a:lnTo>
                <a:cubicBezTo>
                  <a:pt x="109347" y="30289"/>
                  <a:pt x="100584" y="39052"/>
                  <a:pt x="89789" y="39052"/>
                </a:cubicBezTo>
                <a:lnTo>
                  <a:pt x="19558" y="39052"/>
                </a:lnTo>
                <a:cubicBezTo>
                  <a:pt x="8763" y="39052"/>
                  <a:pt x="0" y="30289"/>
                  <a:pt x="0" y="19494"/>
                </a:cubicBezTo>
                <a:lnTo>
                  <a:pt x="0" y="19494"/>
                </a:lnTo>
                <a:cubicBezTo>
                  <a:pt x="0" y="8763"/>
                  <a:pt x="8763" y="0"/>
                  <a:pt x="19558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77" name="m-d30_radial_bar-rst-4">
            <a:extLst>
              <a:ext uri="{FF2B5EF4-FFF2-40B4-BE49-F238E27FC236}">
                <a16:creationId xmlns:a16="http://schemas.microsoft.com/office/drawing/2014/main" id="{4052695C-15CA-C3DC-62EA-1185AFCD8B84}"/>
              </a:ext>
            </a:extLst>
          </p:cNvPr>
          <p:cNvSpPr txBox="1"/>
          <p:nvPr/>
        </p:nvSpPr>
        <p:spPr>
          <a:xfrm>
            <a:off x="9961919" y="1932648"/>
            <a:ext cx="77519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1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待追赶</a:t>
            </a:r>
          </a:p>
        </p:txBody>
      </p:sp>
      <p:sp>
        <p:nvSpPr>
          <p:cNvPr id="778" name="m-d30_radial_bar-r-5">
            <a:extLst>
              <a:ext uri="{FF2B5EF4-FFF2-40B4-BE49-F238E27FC236}">
                <a16:creationId xmlns:a16="http://schemas.microsoft.com/office/drawing/2014/main" id="{97ED98FA-0A4A-07DE-0FE2-BDF8D58ED6B8}"/>
              </a:ext>
            </a:extLst>
          </p:cNvPr>
          <p:cNvSpPr/>
          <p:nvPr/>
        </p:nvSpPr>
        <p:spPr>
          <a:xfrm>
            <a:off x="9399270" y="2006727"/>
            <a:ext cx="689927" cy="80709"/>
          </a:xfrm>
          <a:custGeom>
            <a:avLst/>
            <a:gdLst/>
            <a:ahLst/>
            <a:cxnLst/>
            <a:rect l="0" t="0" r="r" b="b"/>
            <a:pathLst>
              <a:path w="689927" h="80709">
                <a:moveTo>
                  <a:pt x="20828" y="0"/>
                </a:moveTo>
                <a:lnTo>
                  <a:pt x="669099" y="0"/>
                </a:lnTo>
                <a:cubicBezTo>
                  <a:pt x="680593" y="0"/>
                  <a:pt x="689927" y="9335"/>
                  <a:pt x="689927" y="20828"/>
                </a:cubicBezTo>
                <a:lnTo>
                  <a:pt x="689927" y="59881"/>
                </a:lnTo>
                <a:cubicBezTo>
                  <a:pt x="689927" y="71374"/>
                  <a:pt x="680593" y="80709"/>
                  <a:pt x="669099" y="80709"/>
                </a:cubicBezTo>
                <a:lnTo>
                  <a:pt x="20828" y="80709"/>
                </a:lnTo>
                <a:cubicBezTo>
                  <a:pt x="9335" y="80709"/>
                  <a:pt x="0" y="71374"/>
                  <a:pt x="0" y="59881"/>
                </a:cubicBezTo>
                <a:lnTo>
                  <a:pt x="0" y="20828"/>
                </a:lnTo>
                <a:cubicBezTo>
                  <a:pt x="0" y="9335"/>
                  <a:pt x="9335" y="0"/>
                  <a:pt x="2082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79" name="m-d30_radial_bar-rb-5">
            <a:extLst>
              <a:ext uri="{FF2B5EF4-FFF2-40B4-BE49-F238E27FC236}">
                <a16:creationId xmlns:a16="http://schemas.microsoft.com/office/drawing/2014/main" id="{DD386535-9789-B3C9-815D-BC1D978DC1D2}"/>
              </a:ext>
            </a:extLst>
          </p:cNvPr>
          <p:cNvSpPr/>
          <p:nvPr/>
        </p:nvSpPr>
        <p:spPr>
          <a:xfrm>
            <a:off x="9399270" y="2006727"/>
            <a:ext cx="7811" cy="80709"/>
          </a:xfrm>
          <a:custGeom>
            <a:avLst/>
            <a:gdLst/>
            <a:ahLst/>
            <a:cxnLst/>
            <a:rect l="0" t="0" r="r" b="b"/>
            <a:pathLst>
              <a:path w="7811" h="80709">
                <a:moveTo>
                  <a:pt x="3937" y="0"/>
                </a:moveTo>
                <a:lnTo>
                  <a:pt x="3937" y="0"/>
                </a:lnTo>
                <a:cubicBezTo>
                  <a:pt x="6096" y="0"/>
                  <a:pt x="7811" y="1715"/>
                  <a:pt x="7811" y="3874"/>
                </a:cubicBezTo>
                <a:lnTo>
                  <a:pt x="7811" y="76835"/>
                </a:lnTo>
                <a:cubicBezTo>
                  <a:pt x="7811" y="78994"/>
                  <a:pt x="6096" y="80709"/>
                  <a:pt x="3937" y="80709"/>
                </a:cubicBezTo>
                <a:lnTo>
                  <a:pt x="3937" y="80709"/>
                </a:lnTo>
                <a:cubicBezTo>
                  <a:pt x="1714" y="80709"/>
                  <a:pt x="0" y="78994"/>
                  <a:pt x="0" y="76835"/>
                </a:cubicBezTo>
                <a:lnTo>
                  <a:pt x="0" y="3874"/>
                </a:lnTo>
                <a:cubicBezTo>
                  <a:pt x="0" y="1715"/>
                  <a:pt x="1714" y="0"/>
                  <a:pt x="3937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80" name="m-d30_radial_bar-rn-5">
            <a:extLst>
              <a:ext uri="{FF2B5EF4-FFF2-40B4-BE49-F238E27FC236}">
                <a16:creationId xmlns:a16="http://schemas.microsoft.com/office/drawing/2014/main" id="{B9D48069-2B84-DA21-DF34-6D2E7154934C}"/>
              </a:ext>
            </a:extLst>
          </p:cNvPr>
          <p:cNvSpPr txBox="1"/>
          <p:nvPr/>
        </p:nvSpPr>
        <p:spPr>
          <a:xfrm>
            <a:off x="9435355" y="2028251"/>
            <a:ext cx="75632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华中</a:t>
            </a:r>
          </a:p>
        </p:txBody>
      </p:sp>
      <p:sp>
        <p:nvSpPr>
          <p:cNvPr id="781" name="m-d30_radial_bar-rv-5">
            <a:extLst>
              <a:ext uri="{FF2B5EF4-FFF2-40B4-BE49-F238E27FC236}">
                <a16:creationId xmlns:a16="http://schemas.microsoft.com/office/drawing/2014/main" id="{C16F79F3-975A-C845-F14C-2EE1B49308DF}"/>
              </a:ext>
            </a:extLst>
          </p:cNvPr>
          <p:cNvSpPr txBox="1"/>
          <p:nvPr/>
        </p:nvSpPr>
        <p:spPr>
          <a:xfrm>
            <a:off x="9539026" y="2023428"/>
            <a:ext cx="73887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2E77C2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67%</a:t>
            </a:r>
          </a:p>
        </p:txBody>
      </p:sp>
      <p:sp>
        <p:nvSpPr>
          <p:cNvPr id="782" name="m-d30_radial_bar-ra-5">
            <a:extLst>
              <a:ext uri="{FF2B5EF4-FFF2-40B4-BE49-F238E27FC236}">
                <a16:creationId xmlns:a16="http://schemas.microsoft.com/office/drawing/2014/main" id="{553D5939-3112-12C0-A7DE-FB90CAF6312D}"/>
              </a:ext>
            </a:extLst>
          </p:cNvPr>
          <p:cNvSpPr txBox="1"/>
          <p:nvPr/>
        </p:nvSpPr>
        <p:spPr>
          <a:xfrm>
            <a:off x="9693648" y="2029859"/>
            <a:ext cx="98959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3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5.9 亿</a:t>
            </a:r>
          </a:p>
        </p:txBody>
      </p:sp>
      <p:sp>
        <p:nvSpPr>
          <p:cNvPr id="783" name="m-d30_radial_bar-rs-5">
            <a:extLst>
              <a:ext uri="{FF2B5EF4-FFF2-40B4-BE49-F238E27FC236}">
                <a16:creationId xmlns:a16="http://schemas.microsoft.com/office/drawing/2014/main" id="{B1082AB0-E51A-4FC7-0697-AB58454D39FB}"/>
              </a:ext>
            </a:extLst>
          </p:cNvPr>
          <p:cNvSpPr/>
          <p:nvPr/>
        </p:nvSpPr>
        <p:spPr>
          <a:xfrm>
            <a:off x="9946005" y="2027555"/>
            <a:ext cx="109347" cy="39052"/>
          </a:xfrm>
          <a:custGeom>
            <a:avLst/>
            <a:gdLst/>
            <a:ahLst/>
            <a:cxnLst/>
            <a:rect l="0" t="0" r="r" b="b"/>
            <a:pathLst>
              <a:path w="109347" h="39052">
                <a:moveTo>
                  <a:pt x="19558" y="0"/>
                </a:moveTo>
                <a:lnTo>
                  <a:pt x="89789" y="0"/>
                </a:lnTo>
                <a:cubicBezTo>
                  <a:pt x="100584" y="0"/>
                  <a:pt x="109347" y="8763"/>
                  <a:pt x="109347" y="19558"/>
                </a:cubicBezTo>
                <a:lnTo>
                  <a:pt x="109347" y="19558"/>
                </a:lnTo>
                <a:cubicBezTo>
                  <a:pt x="109347" y="30289"/>
                  <a:pt x="100584" y="39052"/>
                  <a:pt x="89789" y="39052"/>
                </a:cubicBezTo>
                <a:lnTo>
                  <a:pt x="19558" y="39052"/>
                </a:lnTo>
                <a:cubicBezTo>
                  <a:pt x="8763" y="39052"/>
                  <a:pt x="0" y="30289"/>
                  <a:pt x="0" y="19558"/>
                </a:cubicBezTo>
                <a:lnTo>
                  <a:pt x="0" y="19558"/>
                </a:lnTo>
                <a:cubicBezTo>
                  <a:pt x="0" y="8763"/>
                  <a:pt x="8763" y="0"/>
                  <a:pt x="19558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84" name="m-d30_radial_bar-rst-5">
            <a:extLst>
              <a:ext uri="{FF2B5EF4-FFF2-40B4-BE49-F238E27FC236}">
                <a16:creationId xmlns:a16="http://schemas.microsoft.com/office/drawing/2014/main" id="{E8239EF0-9408-8E27-831A-86D695C54CD2}"/>
              </a:ext>
            </a:extLst>
          </p:cNvPr>
          <p:cNvSpPr txBox="1"/>
          <p:nvPr/>
        </p:nvSpPr>
        <p:spPr>
          <a:xfrm>
            <a:off x="9961919" y="2031581"/>
            <a:ext cx="77519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1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待追赶</a:t>
            </a:r>
          </a:p>
        </p:txBody>
      </p:sp>
      <p:sp>
        <p:nvSpPr>
          <p:cNvPr id="785" name="m-d30_radial_bar-r-6">
            <a:extLst>
              <a:ext uri="{FF2B5EF4-FFF2-40B4-BE49-F238E27FC236}">
                <a16:creationId xmlns:a16="http://schemas.microsoft.com/office/drawing/2014/main" id="{9C699CF6-2B9E-BAD8-80EA-09061F4E16E5}"/>
              </a:ext>
            </a:extLst>
          </p:cNvPr>
          <p:cNvSpPr/>
          <p:nvPr/>
        </p:nvSpPr>
        <p:spPr>
          <a:xfrm>
            <a:off x="9399270" y="2105660"/>
            <a:ext cx="689927" cy="80708"/>
          </a:xfrm>
          <a:custGeom>
            <a:avLst/>
            <a:gdLst/>
            <a:ahLst/>
            <a:cxnLst/>
            <a:rect l="0" t="0" r="r" b="b"/>
            <a:pathLst>
              <a:path w="689927" h="80708">
                <a:moveTo>
                  <a:pt x="20828" y="0"/>
                </a:moveTo>
                <a:lnTo>
                  <a:pt x="669099" y="0"/>
                </a:lnTo>
                <a:cubicBezTo>
                  <a:pt x="680593" y="0"/>
                  <a:pt x="689927" y="9334"/>
                  <a:pt x="689927" y="20828"/>
                </a:cubicBezTo>
                <a:lnTo>
                  <a:pt x="689927" y="59880"/>
                </a:lnTo>
                <a:cubicBezTo>
                  <a:pt x="689927" y="71374"/>
                  <a:pt x="680593" y="80708"/>
                  <a:pt x="669099" y="80708"/>
                </a:cubicBezTo>
                <a:lnTo>
                  <a:pt x="20828" y="80708"/>
                </a:lnTo>
                <a:cubicBezTo>
                  <a:pt x="9335" y="80708"/>
                  <a:pt x="0" y="71374"/>
                  <a:pt x="0" y="59880"/>
                </a:cubicBezTo>
                <a:lnTo>
                  <a:pt x="0" y="20828"/>
                </a:lnTo>
                <a:cubicBezTo>
                  <a:pt x="0" y="9334"/>
                  <a:pt x="9335" y="0"/>
                  <a:pt x="2082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86" name="m-d30_radial_bar-rb-6">
            <a:extLst>
              <a:ext uri="{FF2B5EF4-FFF2-40B4-BE49-F238E27FC236}">
                <a16:creationId xmlns:a16="http://schemas.microsoft.com/office/drawing/2014/main" id="{44C6780C-5BF4-092D-64AC-10612F640DF3}"/>
              </a:ext>
            </a:extLst>
          </p:cNvPr>
          <p:cNvSpPr/>
          <p:nvPr/>
        </p:nvSpPr>
        <p:spPr>
          <a:xfrm>
            <a:off x="9399270" y="2105660"/>
            <a:ext cx="7811" cy="80708"/>
          </a:xfrm>
          <a:custGeom>
            <a:avLst/>
            <a:gdLst/>
            <a:ahLst/>
            <a:cxnLst/>
            <a:rect l="0" t="0" r="r" b="b"/>
            <a:pathLst>
              <a:path w="7811" h="80708">
                <a:moveTo>
                  <a:pt x="3937" y="0"/>
                </a:moveTo>
                <a:lnTo>
                  <a:pt x="3937" y="0"/>
                </a:lnTo>
                <a:cubicBezTo>
                  <a:pt x="6096" y="0"/>
                  <a:pt x="7811" y="1714"/>
                  <a:pt x="7811" y="3937"/>
                </a:cubicBezTo>
                <a:lnTo>
                  <a:pt x="7811" y="76771"/>
                </a:lnTo>
                <a:cubicBezTo>
                  <a:pt x="7811" y="78994"/>
                  <a:pt x="6096" y="80708"/>
                  <a:pt x="3937" y="80708"/>
                </a:cubicBezTo>
                <a:lnTo>
                  <a:pt x="3937" y="80708"/>
                </a:lnTo>
                <a:cubicBezTo>
                  <a:pt x="1714" y="80708"/>
                  <a:pt x="0" y="78994"/>
                  <a:pt x="0" y="76771"/>
                </a:cubicBezTo>
                <a:lnTo>
                  <a:pt x="0" y="3937"/>
                </a:lnTo>
                <a:cubicBezTo>
                  <a:pt x="0" y="1714"/>
                  <a:pt x="1714" y="0"/>
                  <a:pt x="3937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87" name="m-d30_radial_bar-rn-6">
            <a:extLst>
              <a:ext uri="{FF2B5EF4-FFF2-40B4-BE49-F238E27FC236}">
                <a16:creationId xmlns:a16="http://schemas.microsoft.com/office/drawing/2014/main" id="{9CF4DD95-DA32-822B-8014-481ACB263B88}"/>
              </a:ext>
            </a:extLst>
          </p:cNvPr>
          <p:cNvSpPr txBox="1"/>
          <p:nvPr/>
        </p:nvSpPr>
        <p:spPr>
          <a:xfrm>
            <a:off x="9435355" y="2127184"/>
            <a:ext cx="75632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西北</a:t>
            </a:r>
          </a:p>
        </p:txBody>
      </p:sp>
      <p:sp>
        <p:nvSpPr>
          <p:cNvPr id="788" name="m-d30_radial_bar-rv-6">
            <a:extLst>
              <a:ext uri="{FF2B5EF4-FFF2-40B4-BE49-F238E27FC236}">
                <a16:creationId xmlns:a16="http://schemas.microsoft.com/office/drawing/2014/main" id="{E1712CC2-A8F4-FEFC-1D47-161B1DC6D985}"/>
              </a:ext>
            </a:extLst>
          </p:cNvPr>
          <p:cNvSpPr txBox="1"/>
          <p:nvPr/>
        </p:nvSpPr>
        <p:spPr>
          <a:xfrm>
            <a:off x="9539026" y="2122361"/>
            <a:ext cx="73887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58%</a:t>
            </a:r>
          </a:p>
        </p:txBody>
      </p:sp>
      <p:sp>
        <p:nvSpPr>
          <p:cNvPr id="789" name="m-d30_radial_bar-ra-6">
            <a:extLst>
              <a:ext uri="{FF2B5EF4-FFF2-40B4-BE49-F238E27FC236}">
                <a16:creationId xmlns:a16="http://schemas.microsoft.com/office/drawing/2014/main" id="{EFB6A39F-5D95-C242-9165-D2E53DB1EC25}"/>
              </a:ext>
            </a:extLst>
          </p:cNvPr>
          <p:cNvSpPr txBox="1"/>
          <p:nvPr/>
        </p:nvSpPr>
        <p:spPr>
          <a:xfrm>
            <a:off x="9693648" y="2128792"/>
            <a:ext cx="98959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3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3.1 亿</a:t>
            </a:r>
          </a:p>
        </p:txBody>
      </p:sp>
      <p:sp>
        <p:nvSpPr>
          <p:cNvPr id="790" name="m-d30_radial_bar-rs-6">
            <a:extLst>
              <a:ext uri="{FF2B5EF4-FFF2-40B4-BE49-F238E27FC236}">
                <a16:creationId xmlns:a16="http://schemas.microsoft.com/office/drawing/2014/main" id="{FD52D286-6D9F-42F4-CE39-E9C8630D9E13}"/>
              </a:ext>
            </a:extLst>
          </p:cNvPr>
          <p:cNvSpPr/>
          <p:nvPr/>
        </p:nvSpPr>
        <p:spPr>
          <a:xfrm>
            <a:off x="9946005" y="2126488"/>
            <a:ext cx="109347" cy="39052"/>
          </a:xfrm>
          <a:custGeom>
            <a:avLst/>
            <a:gdLst/>
            <a:ahLst/>
            <a:cxnLst/>
            <a:rect l="0" t="0" r="r" b="b"/>
            <a:pathLst>
              <a:path w="109347" h="39052">
                <a:moveTo>
                  <a:pt x="19558" y="0"/>
                </a:moveTo>
                <a:lnTo>
                  <a:pt x="89789" y="0"/>
                </a:lnTo>
                <a:cubicBezTo>
                  <a:pt x="100584" y="0"/>
                  <a:pt x="109347" y="8763"/>
                  <a:pt x="109347" y="19494"/>
                </a:cubicBezTo>
                <a:lnTo>
                  <a:pt x="109347" y="19494"/>
                </a:lnTo>
                <a:cubicBezTo>
                  <a:pt x="109347" y="30289"/>
                  <a:pt x="100584" y="39052"/>
                  <a:pt x="89789" y="39052"/>
                </a:cubicBezTo>
                <a:lnTo>
                  <a:pt x="19558" y="39052"/>
                </a:lnTo>
                <a:cubicBezTo>
                  <a:pt x="8763" y="39052"/>
                  <a:pt x="0" y="30289"/>
                  <a:pt x="0" y="19494"/>
                </a:cubicBezTo>
                <a:lnTo>
                  <a:pt x="0" y="19494"/>
                </a:lnTo>
                <a:cubicBezTo>
                  <a:pt x="0" y="8763"/>
                  <a:pt x="8763" y="0"/>
                  <a:pt x="19558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91" name="m-d30_radial_bar-rst-6">
            <a:extLst>
              <a:ext uri="{FF2B5EF4-FFF2-40B4-BE49-F238E27FC236}">
                <a16:creationId xmlns:a16="http://schemas.microsoft.com/office/drawing/2014/main" id="{EC6E311F-D6FD-D611-D824-0FEA4F981820}"/>
              </a:ext>
            </a:extLst>
          </p:cNvPr>
          <p:cNvSpPr txBox="1"/>
          <p:nvPr/>
        </p:nvSpPr>
        <p:spPr>
          <a:xfrm>
            <a:off x="9961919" y="2130514"/>
            <a:ext cx="77519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1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待追赶</a:t>
            </a:r>
          </a:p>
        </p:txBody>
      </p:sp>
      <p:sp>
        <p:nvSpPr>
          <p:cNvPr id="792" name="m-d30_radial_bar-sum">
            <a:extLst>
              <a:ext uri="{FF2B5EF4-FFF2-40B4-BE49-F238E27FC236}">
                <a16:creationId xmlns:a16="http://schemas.microsoft.com/office/drawing/2014/main" id="{C3C70BB4-239D-258A-4AB4-DE943A51FF4C}"/>
              </a:ext>
            </a:extLst>
          </p:cNvPr>
          <p:cNvSpPr/>
          <p:nvPr/>
        </p:nvSpPr>
        <p:spPr>
          <a:xfrm>
            <a:off x="9399270" y="2230628"/>
            <a:ext cx="689927" cy="143193"/>
          </a:xfrm>
          <a:custGeom>
            <a:avLst/>
            <a:gdLst/>
            <a:ahLst/>
            <a:cxnLst/>
            <a:rect l="0" t="0" r="r" b="b"/>
            <a:pathLst>
              <a:path w="689927" h="143193">
                <a:moveTo>
                  <a:pt x="23432" y="0"/>
                </a:moveTo>
                <a:lnTo>
                  <a:pt x="666496" y="0"/>
                </a:lnTo>
                <a:cubicBezTo>
                  <a:pt x="679450" y="0"/>
                  <a:pt x="689927" y="10478"/>
                  <a:pt x="689927" y="23432"/>
                </a:cubicBezTo>
                <a:lnTo>
                  <a:pt x="689927" y="119761"/>
                </a:lnTo>
                <a:cubicBezTo>
                  <a:pt x="689927" y="132715"/>
                  <a:pt x="679450" y="143193"/>
                  <a:pt x="666496" y="143193"/>
                </a:cubicBezTo>
                <a:lnTo>
                  <a:pt x="23432" y="143193"/>
                </a:lnTo>
                <a:cubicBezTo>
                  <a:pt x="10477" y="143193"/>
                  <a:pt x="0" y="132715"/>
                  <a:pt x="0" y="119761"/>
                </a:cubicBezTo>
                <a:lnTo>
                  <a:pt x="0" y="23432"/>
                </a:lnTo>
                <a:cubicBezTo>
                  <a:pt x="0" y="10478"/>
                  <a:pt x="10477" y="0"/>
                  <a:pt x="23432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93" name="m-d30_radial_bar-sum-bar">
            <a:extLst>
              <a:ext uri="{FF2B5EF4-FFF2-40B4-BE49-F238E27FC236}">
                <a16:creationId xmlns:a16="http://schemas.microsoft.com/office/drawing/2014/main" id="{D7FB53B9-957A-8D7D-7038-800F096EA83D}"/>
              </a:ext>
            </a:extLst>
          </p:cNvPr>
          <p:cNvSpPr/>
          <p:nvPr/>
        </p:nvSpPr>
        <p:spPr>
          <a:xfrm>
            <a:off x="9399270" y="2230628"/>
            <a:ext cx="6509" cy="143192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94" name="m-d30_radial_bar-sum-h">
            <a:extLst>
              <a:ext uri="{FF2B5EF4-FFF2-40B4-BE49-F238E27FC236}">
                <a16:creationId xmlns:a16="http://schemas.microsoft.com/office/drawing/2014/main" id="{85A46996-20CB-C566-506C-D15E85584CCA}"/>
              </a:ext>
            </a:extLst>
          </p:cNvPr>
          <p:cNvSpPr txBox="1"/>
          <p:nvPr/>
        </p:nvSpPr>
        <p:spPr>
          <a:xfrm>
            <a:off x="9432907" y="2253760"/>
            <a:ext cx="125228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冲刺建议</a:t>
            </a:r>
          </a:p>
        </p:txBody>
      </p:sp>
      <p:sp>
        <p:nvSpPr>
          <p:cNvPr id="795" name="m-d30_radial_bar-sum-p1">
            <a:extLst>
              <a:ext uri="{FF2B5EF4-FFF2-40B4-BE49-F238E27FC236}">
                <a16:creationId xmlns:a16="http://schemas.microsoft.com/office/drawing/2014/main" id="{CED65AC0-23DC-79C3-27D8-FD7B243F28C5}"/>
              </a:ext>
            </a:extLst>
          </p:cNvPr>
          <p:cNvSpPr txBox="1"/>
          <p:nvPr/>
        </p:nvSpPr>
        <p:spPr>
          <a:xfrm>
            <a:off x="9432985" y="2304030"/>
            <a:ext cx="327976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80% 线以下的三个大区四季度</a:t>
            </a:r>
          </a:p>
        </p:txBody>
      </p:sp>
      <p:sp>
        <p:nvSpPr>
          <p:cNvPr id="796" name="m-d30_radial_bar-sum-p2">
            <a:extLst>
              <a:ext uri="{FF2B5EF4-FFF2-40B4-BE49-F238E27FC236}">
                <a16:creationId xmlns:a16="http://schemas.microsoft.com/office/drawing/2014/main" id="{EA40F87B-3881-F177-7072-1481D84BB898}"/>
              </a:ext>
            </a:extLst>
          </p:cNvPr>
          <p:cNvSpPr txBox="1"/>
          <p:nvPr/>
        </p:nvSpPr>
        <p:spPr>
          <a:xfrm>
            <a:off x="9432985" y="2337876"/>
            <a:ext cx="31795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集中投放 60% 的市场预算。</a:t>
            </a:r>
          </a:p>
        </p:txBody>
      </p:sp>
      <p:cxnSp>
        <p:nvCxnSpPr>
          <p:cNvPr id="797" name="m-d30_radial_bar-foot-line">
            <a:extLst>
              <a:ext uri="{FF2B5EF4-FFF2-40B4-BE49-F238E27FC236}">
                <a16:creationId xmlns:a16="http://schemas.microsoft.com/office/drawing/2014/main" id="{3E492DFA-4DCB-F2A9-EDC8-7A47A1D924F8}"/>
              </a:ext>
            </a:extLst>
          </p:cNvPr>
          <p:cNvCxnSpPr/>
          <p:nvPr/>
        </p:nvCxnSpPr>
        <p:spPr>
          <a:xfrm>
            <a:off x="7904861" y="24935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8" name="m-d30_radial_bar-foot-l">
            <a:extLst>
              <a:ext uri="{FF2B5EF4-FFF2-40B4-BE49-F238E27FC236}">
                <a16:creationId xmlns:a16="http://schemas.microsoft.com/office/drawing/2014/main" id="{98CD4356-2F4E-FC61-4D25-61719C52EE6D}"/>
              </a:ext>
            </a:extLst>
          </p:cNvPr>
          <p:cNvSpPr txBox="1"/>
          <p:nvPr/>
        </p:nvSpPr>
        <p:spPr>
          <a:xfrm>
            <a:off x="7902674" y="2507523"/>
            <a:ext cx="23447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环形条形图 · 六个大区</a:t>
            </a:r>
          </a:p>
        </p:txBody>
      </p:sp>
      <p:sp>
        <p:nvSpPr>
          <p:cNvPr id="799" name="m-d30_radial_bar-foot-r">
            <a:extLst>
              <a:ext uri="{FF2B5EF4-FFF2-40B4-BE49-F238E27FC236}">
                <a16:creationId xmlns:a16="http://schemas.microsoft.com/office/drawing/2014/main" id="{E1C43004-7D96-40D4-3515-CCEF70D397D3}"/>
              </a:ext>
            </a:extLst>
          </p:cNvPr>
          <p:cNvSpPr txBox="1"/>
          <p:nvPr/>
        </p:nvSpPr>
        <p:spPr>
          <a:xfrm>
            <a:off x="9907109" y="25075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800" name="mini-card-p28_metro">
            <a:extLst>
              <a:ext uri="{FF2B5EF4-FFF2-40B4-BE49-F238E27FC236}">
                <a16:creationId xmlns:a16="http://schemas.microsoft.com/office/drawing/2014/main" id="{A083F35E-D827-E196-936B-2657A60D0B40}"/>
              </a:ext>
            </a:extLst>
          </p:cNvPr>
          <p:cNvSpPr/>
          <p:nvPr/>
        </p:nvSpPr>
        <p:spPr>
          <a:xfrm>
            <a:off x="10401300" y="11684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1" y="0"/>
                </a:moveTo>
                <a:lnTo>
                  <a:pt x="2419160" y="0"/>
                </a:lnTo>
                <a:cubicBezTo>
                  <a:pt x="2463483" y="0"/>
                  <a:pt x="2499360" y="35878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1" y="1405890"/>
                </a:lnTo>
                <a:cubicBezTo>
                  <a:pt x="35878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8"/>
                  <a:pt x="35878" y="0"/>
                  <a:pt x="80201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01" name="m-p28_metro-title-bar">
            <a:extLst>
              <a:ext uri="{FF2B5EF4-FFF2-40B4-BE49-F238E27FC236}">
                <a16:creationId xmlns:a16="http://schemas.microsoft.com/office/drawing/2014/main" id="{A8912A5C-0949-AB2C-0C5A-1FD3018AFB2A}"/>
              </a:ext>
            </a:extLst>
          </p:cNvPr>
          <p:cNvSpPr/>
          <p:nvPr/>
        </p:nvSpPr>
        <p:spPr>
          <a:xfrm>
            <a:off x="10521061" y="12673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02" name="m-p28_metro-title-bar-accent">
            <a:extLst>
              <a:ext uri="{FF2B5EF4-FFF2-40B4-BE49-F238E27FC236}">
                <a16:creationId xmlns:a16="http://schemas.microsoft.com/office/drawing/2014/main" id="{9146E4A2-616F-2633-6640-C3BD2562BCD6}"/>
              </a:ext>
            </a:extLst>
          </p:cNvPr>
          <p:cNvSpPr/>
          <p:nvPr/>
        </p:nvSpPr>
        <p:spPr>
          <a:xfrm>
            <a:off x="10521061" y="12673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03" name="m-p28_metro-title-cn">
            <a:extLst>
              <a:ext uri="{FF2B5EF4-FFF2-40B4-BE49-F238E27FC236}">
                <a16:creationId xmlns:a16="http://schemas.microsoft.com/office/drawing/2014/main" id="{E5414C83-F1A4-898E-E1B2-10E855FB216A}"/>
              </a:ext>
            </a:extLst>
          </p:cNvPr>
          <p:cNvSpPr txBox="1"/>
          <p:nvPr/>
        </p:nvSpPr>
        <p:spPr>
          <a:xfrm>
            <a:off x="10553240" y="1249968"/>
            <a:ext cx="363969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战略地铁图</a:t>
            </a:r>
          </a:p>
        </p:txBody>
      </p:sp>
      <p:sp>
        <p:nvSpPr>
          <p:cNvPr id="804" name="m-p28_metro-title-en">
            <a:extLst>
              <a:ext uri="{FF2B5EF4-FFF2-40B4-BE49-F238E27FC236}">
                <a16:creationId xmlns:a16="http://schemas.microsoft.com/office/drawing/2014/main" id="{84253A91-237C-2ABA-03A0-1E03E97AEB91}"/>
              </a:ext>
            </a:extLst>
          </p:cNvPr>
          <p:cNvSpPr txBox="1"/>
          <p:nvPr/>
        </p:nvSpPr>
        <p:spPr>
          <a:xfrm>
            <a:off x="10560530" y="1337250"/>
            <a:ext cx="184406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METRO MAP</a:t>
            </a:r>
          </a:p>
        </p:txBody>
      </p:sp>
      <p:sp>
        <p:nvSpPr>
          <p:cNvPr id="805" name="m-p28_metro-title-sub">
            <a:extLst>
              <a:ext uri="{FF2B5EF4-FFF2-40B4-BE49-F238E27FC236}">
                <a16:creationId xmlns:a16="http://schemas.microsoft.com/office/drawing/2014/main" id="{EAB15AD1-4E61-1FAE-E6AA-C1D86E4751FA}"/>
              </a:ext>
            </a:extLst>
          </p:cNvPr>
          <p:cNvSpPr txBox="1"/>
          <p:nvPr/>
        </p:nvSpPr>
        <p:spPr>
          <a:xfrm>
            <a:off x="12080167" y="1306392"/>
            <a:ext cx="703388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三条线同时开跑，在两个换乘站交汇——换乘站就是必须协同的节点</a:t>
            </a:r>
          </a:p>
        </p:txBody>
      </p:sp>
      <p:sp>
        <p:nvSpPr>
          <p:cNvPr id="806" name="m-p28_metro-q-1">
            <a:extLst>
              <a:ext uri="{FF2B5EF4-FFF2-40B4-BE49-F238E27FC236}">
                <a16:creationId xmlns:a16="http://schemas.microsoft.com/office/drawing/2014/main" id="{F4D85A63-6827-FECC-D6B8-D97CAB283BD2}"/>
              </a:ext>
            </a:extLst>
          </p:cNvPr>
          <p:cNvSpPr/>
          <p:nvPr/>
        </p:nvSpPr>
        <p:spPr>
          <a:xfrm>
            <a:off x="10784014" y="1446974"/>
            <a:ext cx="222250" cy="44259"/>
          </a:xfrm>
          <a:custGeom>
            <a:avLst/>
            <a:gdLst/>
            <a:ahLst/>
            <a:cxnLst/>
            <a:rect l="0" t="0" r="r" b="b"/>
            <a:pathLst>
              <a:path w="222250" h="44259">
                <a:moveTo>
                  <a:pt x="22162" y="0"/>
                </a:moveTo>
                <a:lnTo>
                  <a:pt x="200152" y="0"/>
                </a:lnTo>
                <a:cubicBezTo>
                  <a:pt x="212344" y="0"/>
                  <a:pt x="222250" y="9906"/>
                  <a:pt x="222250" y="22098"/>
                </a:cubicBezTo>
                <a:lnTo>
                  <a:pt x="222250" y="22098"/>
                </a:lnTo>
                <a:cubicBezTo>
                  <a:pt x="222250" y="34353"/>
                  <a:pt x="212344" y="44259"/>
                  <a:pt x="200152" y="44259"/>
                </a:cubicBezTo>
                <a:lnTo>
                  <a:pt x="22162" y="44259"/>
                </a:lnTo>
                <a:cubicBezTo>
                  <a:pt x="9906" y="44259"/>
                  <a:pt x="0" y="34353"/>
                  <a:pt x="0" y="22098"/>
                </a:cubicBezTo>
                <a:lnTo>
                  <a:pt x="0" y="22098"/>
                </a:lnTo>
                <a:cubicBezTo>
                  <a:pt x="0" y="9906"/>
                  <a:pt x="9906" y="0"/>
                  <a:pt x="22162" y="0"/>
                </a:cubicBezTo>
                <a:close/>
              </a:path>
            </a:pathLst>
          </a:custGeom>
          <a:solidFill>
            <a:srgbClr val="0B3E8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07" name="m-p28_metro-qt-1">
            <a:extLst>
              <a:ext uri="{FF2B5EF4-FFF2-40B4-BE49-F238E27FC236}">
                <a16:creationId xmlns:a16="http://schemas.microsoft.com/office/drawing/2014/main" id="{ECD62EAD-70A0-8C1C-B446-FC18E9A80A9F}"/>
              </a:ext>
            </a:extLst>
          </p:cNvPr>
          <p:cNvSpPr txBox="1"/>
          <p:nvPr/>
        </p:nvSpPr>
        <p:spPr>
          <a:xfrm>
            <a:off x="10848093" y="1452800"/>
            <a:ext cx="94117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2026 Q1</a:t>
            </a:r>
          </a:p>
        </p:txBody>
      </p:sp>
      <p:cxnSp>
        <p:nvCxnSpPr>
          <p:cNvPr id="808" name="m-p28_metro-qg-1">
            <a:extLst>
              <a:ext uri="{FF2B5EF4-FFF2-40B4-BE49-F238E27FC236}">
                <a16:creationId xmlns:a16="http://schemas.microsoft.com/office/drawing/2014/main" id="{8CFE1BEE-6131-FC02-1E00-9B26765511DF}"/>
              </a:ext>
            </a:extLst>
          </p:cNvPr>
          <p:cNvCxnSpPr/>
          <p:nvPr/>
        </p:nvCxnSpPr>
        <p:spPr>
          <a:xfrm>
            <a:off x="10778808" y="1501648"/>
            <a:ext cx="0" cy="747204"/>
          </a:xfrm>
          <a:prstGeom prst="line">
            <a:avLst/>
          </a:prstGeom>
          <a:ln w="2540" cap="rnd">
            <a:solidFill>
              <a:srgbClr val="0B2545">
                <a:alpha val="4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09" name="m-p28_metro-q-2">
            <a:extLst>
              <a:ext uri="{FF2B5EF4-FFF2-40B4-BE49-F238E27FC236}">
                <a16:creationId xmlns:a16="http://schemas.microsoft.com/office/drawing/2014/main" id="{1888B8E0-BA57-FA69-A4AB-DB3342EEF686}"/>
              </a:ext>
            </a:extLst>
          </p:cNvPr>
          <p:cNvSpPr/>
          <p:nvPr/>
        </p:nvSpPr>
        <p:spPr>
          <a:xfrm>
            <a:off x="11016678" y="1446974"/>
            <a:ext cx="222313" cy="44259"/>
          </a:xfrm>
          <a:custGeom>
            <a:avLst/>
            <a:gdLst/>
            <a:ahLst/>
            <a:cxnLst/>
            <a:rect l="0" t="0" r="r" b="b"/>
            <a:pathLst>
              <a:path w="222313" h="44259">
                <a:moveTo>
                  <a:pt x="22162" y="0"/>
                </a:moveTo>
                <a:lnTo>
                  <a:pt x="200152" y="0"/>
                </a:lnTo>
                <a:cubicBezTo>
                  <a:pt x="212407" y="0"/>
                  <a:pt x="222313" y="9906"/>
                  <a:pt x="222313" y="22098"/>
                </a:cubicBezTo>
                <a:lnTo>
                  <a:pt x="222313" y="22098"/>
                </a:lnTo>
                <a:cubicBezTo>
                  <a:pt x="222313" y="34353"/>
                  <a:pt x="212407" y="44259"/>
                  <a:pt x="200152" y="44259"/>
                </a:cubicBezTo>
                <a:lnTo>
                  <a:pt x="22162" y="44259"/>
                </a:lnTo>
                <a:cubicBezTo>
                  <a:pt x="9906" y="44259"/>
                  <a:pt x="0" y="34353"/>
                  <a:pt x="0" y="22098"/>
                </a:cubicBezTo>
                <a:lnTo>
                  <a:pt x="0" y="22098"/>
                </a:lnTo>
                <a:cubicBezTo>
                  <a:pt x="0" y="9906"/>
                  <a:pt x="9906" y="0"/>
                  <a:pt x="22162" y="0"/>
                </a:cubicBezTo>
                <a:close/>
              </a:path>
            </a:pathLst>
          </a:custGeom>
          <a:solidFill>
            <a:srgbClr val="0B3E8F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10" name="m-p28_metro-qt-2">
            <a:extLst>
              <a:ext uri="{FF2B5EF4-FFF2-40B4-BE49-F238E27FC236}">
                <a16:creationId xmlns:a16="http://schemas.microsoft.com/office/drawing/2014/main" id="{0150171A-42F5-4482-04D1-BE97A4EE12BE}"/>
              </a:ext>
            </a:extLst>
          </p:cNvPr>
          <p:cNvSpPr txBox="1"/>
          <p:nvPr/>
        </p:nvSpPr>
        <p:spPr>
          <a:xfrm>
            <a:off x="11108118" y="1452800"/>
            <a:ext cx="3944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Q2</a:t>
            </a:r>
          </a:p>
        </p:txBody>
      </p:sp>
      <p:cxnSp>
        <p:nvCxnSpPr>
          <p:cNvPr id="811" name="m-p28_metro-qg-2">
            <a:extLst>
              <a:ext uri="{FF2B5EF4-FFF2-40B4-BE49-F238E27FC236}">
                <a16:creationId xmlns:a16="http://schemas.microsoft.com/office/drawing/2014/main" id="{BCBCCEA5-3014-551A-6948-11FF0EDB8EBB}"/>
              </a:ext>
            </a:extLst>
          </p:cNvPr>
          <p:cNvCxnSpPr/>
          <p:nvPr/>
        </p:nvCxnSpPr>
        <p:spPr>
          <a:xfrm>
            <a:off x="11011495" y="1501648"/>
            <a:ext cx="0" cy="747204"/>
          </a:xfrm>
          <a:prstGeom prst="line">
            <a:avLst/>
          </a:prstGeom>
          <a:ln w="2540" cap="rnd">
            <a:solidFill>
              <a:srgbClr val="0B2545">
                <a:alpha val="4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2" name="m-p28_metro-q-3">
            <a:extLst>
              <a:ext uri="{FF2B5EF4-FFF2-40B4-BE49-F238E27FC236}">
                <a16:creationId xmlns:a16="http://schemas.microsoft.com/office/drawing/2014/main" id="{9E920666-9529-1A4C-6BD1-5E269319CFC7}"/>
              </a:ext>
            </a:extLst>
          </p:cNvPr>
          <p:cNvSpPr/>
          <p:nvPr/>
        </p:nvSpPr>
        <p:spPr>
          <a:xfrm>
            <a:off x="11249406" y="1446974"/>
            <a:ext cx="222250" cy="44259"/>
          </a:xfrm>
          <a:custGeom>
            <a:avLst/>
            <a:gdLst/>
            <a:ahLst/>
            <a:cxnLst/>
            <a:rect l="0" t="0" r="r" b="b"/>
            <a:pathLst>
              <a:path w="222250" h="44259">
                <a:moveTo>
                  <a:pt x="22098" y="0"/>
                </a:moveTo>
                <a:lnTo>
                  <a:pt x="200152" y="0"/>
                </a:lnTo>
                <a:cubicBezTo>
                  <a:pt x="212344" y="0"/>
                  <a:pt x="222250" y="9906"/>
                  <a:pt x="222250" y="22098"/>
                </a:cubicBezTo>
                <a:lnTo>
                  <a:pt x="222250" y="22098"/>
                </a:lnTo>
                <a:cubicBezTo>
                  <a:pt x="222250" y="34353"/>
                  <a:pt x="212344" y="44259"/>
                  <a:pt x="200152" y="44259"/>
                </a:cubicBezTo>
                <a:lnTo>
                  <a:pt x="22098" y="44259"/>
                </a:lnTo>
                <a:cubicBezTo>
                  <a:pt x="9906" y="44259"/>
                  <a:pt x="0" y="34353"/>
                  <a:pt x="0" y="22098"/>
                </a:cubicBezTo>
                <a:lnTo>
                  <a:pt x="0" y="22098"/>
                </a:lnTo>
                <a:cubicBezTo>
                  <a:pt x="0" y="9906"/>
                  <a:pt x="9906" y="0"/>
                  <a:pt x="22098" y="0"/>
                </a:cubicBezTo>
                <a:close/>
              </a:path>
            </a:pathLst>
          </a:custGeom>
          <a:solidFill>
            <a:srgbClr val="0B3E8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13" name="m-p28_metro-qt-3">
            <a:extLst>
              <a:ext uri="{FF2B5EF4-FFF2-40B4-BE49-F238E27FC236}">
                <a16:creationId xmlns:a16="http://schemas.microsoft.com/office/drawing/2014/main" id="{19626FAA-F929-0B85-C102-9C7D71C26F18}"/>
              </a:ext>
            </a:extLst>
          </p:cNvPr>
          <p:cNvSpPr txBox="1"/>
          <p:nvPr/>
        </p:nvSpPr>
        <p:spPr>
          <a:xfrm>
            <a:off x="11340806" y="1452800"/>
            <a:ext cx="3944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Q3</a:t>
            </a:r>
          </a:p>
        </p:txBody>
      </p:sp>
      <p:cxnSp>
        <p:nvCxnSpPr>
          <p:cNvPr id="814" name="m-p28_metro-qg-3">
            <a:extLst>
              <a:ext uri="{FF2B5EF4-FFF2-40B4-BE49-F238E27FC236}">
                <a16:creationId xmlns:a16="http://schemas.microsoft.com/office/drawing/2014/main" id="{B4C0BF25-311D-7646-5BF2-5106C74A35FF}"/>
              </a:ext>
            </a:extLst>
          </p:cNvPr>
          <p:cNvCxnSpPr/>
          <p:nvPr/>
        </p:nvCxnSpPr>
        <p:spPr>
          <a:xfrm>
            <a:off x="11244183" y="1501648"/>
            <a:ext cx="0" cy="747204"/>
          </a:xfrm>
          <a:prstGeom prst="line">
            <a:avLst/>
          </a:prstGeom>
          <a:ln w="2540" cap="rnd">
            <a:solidFill>
              <a:srgbClr val="0B2545">
                <a:alpha val="4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5" name="m-p28_metro-q-4">
            <a:extLst>
              <a:ext uri="{FF2B5EF4-FFF2-40B4-BE49-F238E27FC236}">
                <a16:creationId xmlns:a16="http://schemas.microsoft.com/office/drawing/2014/main" id="{9D1AB372-5578-5516-16F9-DB9597336794}"/>
              </a:ext>
            </a:extLst>
          </p:cNvPr>
          <p:cNvSpPr/>
          <p:nvPr/>
        </p:nvSpPr>
        <p:spPr>
          <a:xfrm>
            <a:off x="11482070" y="1446974"/>
            <a:ext cx="222250" cy="44259"/>
          </a:xfrm>
          <a:custGeom>
            <a:avLst/>
            <a:gdLst/>
            <a:ahLst/>
            <a:cxnLst/>
            <a:rect l="0" t="0" r="r" b="b"/>
            <a:pathLst>
              <a:path w="222250" h="44259">
                <a:moveTo>
                  <a:pt x="22162" y="0"/>
                </a:moveTo>
                <a:lnTo>
                  <a:pt x="200152" y="0"/>
                </a:lnTo>
                <a:cubicBezTo>
                  <a:pt x="212344" y="0"/>
                  <a:pt x="222250" y="9906"/>
                  <a:pt x="222250" y="22098"/>
                </a:cubicBezTo>
                <a:lnTo>
                  <a:pt x="222250" y="22098"/>
                </a:lnTo>
                <a:cubicBezTo>
                  <a:pt x="222250" y="34353"/>
                  <a:pt x="212344" y="44259"/>
                  <a:pt x="200152" y="44259"/>
                </a:cubicBezTo>
                <a:lnTo>
                  <a:pt x="22162" y="44259"/>
                </a:lnTo>
                <a:cubicBezTo>
                  <a:pt x="9906" y="44259"/>
                  <a:pt x="0" y="34353"/>
                  <a:pt x="0" y="22098"/>
                </a:cubicBezTo>
                <a:lnTo>
                  <a:pt x="0" y="22098"/>
                </a:lnTo>
                <a:cubicBezTo>
                  <a:pt x="0" y="9906"/>
                  <a:pt x="9906" y="0"/>
                  <a:pt x="22162" y="0"/>
                </a:cubicBezTo>
                <a:close/>
              </a:path>
            </a:pathLst>
          </a:custGeom>
          <a:solidFill>
            <a:srgbClr val="0B3E8F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16" name="m-p28_metro-qt-4">
            <a:extLst>
              <a:ext uri="{FF2B5EF4-FFF2-40B4-BE49-F238E27FC236}">
                <a16:creationId xmlns:a16="http://schemas.microsoft.com/office/drawing/2014/main" id="{84619D8C-90F5-1146-75A6-ABDAAE213996}"/>
              </a:ext>
            </a:extLst>
          </p:cNvPr>
          <p:cNvSpPr txBox="1"/>
          <p:nvPr/>
        </p:nvSpPr>
        <p:spPr>
          <a:xfrm>
            <a:off x="11573493" y="1452800"/>
            <a:ext cx="3944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Q4</a:t>
            </a:r>
          </a:p>
        </p:txBody>
      </p:sp>
      <p:cxnSp>
        <p:nvCxnSpPr>
          <p:cNvPr id="817" name="m-p28_metro-qg-4">
            <a:extLst>
              <a:ext uri="{FF2B5EF4-FFF2-40B4-BE49-F238E27FC236}">
                <a16:creationId xmlns:a16="http://schemas.microsoft.com/office/drawing/2014/main" id="{4EBDAA92-417B-CD0A-F98C-DCA87F5A15EC}"/>
              </a:ext>
            </a:extLst>
          </p:cNvPr>
          <p:cNvCxnSpPr/>
          <p:nvPr/>
        </p:nvCxnSpPr>
        <p:spPr>
          <a:xfrm>
            <a:off x="11476871" y="1501648"/>
            <a:ext cx="0" cy="747204"/>
          </a:xfrm>
          <a:prstGeom prst="line">
            <a:avLst/>
          </a:prstGeom>
          <a:ln w="2540" cap="rnd">
            <a:solidFill>
              <a:srgbClr val="0B2545">
                <a:alpha val="4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8" name="m-p28_metro-q-5">
            <a:extLst>
              <a:ext uri="{FF2B5EF4-FFF2-40B4-BE49-F238E27FC236}">
                <a16:creationId xmlns:a16="http://schemas.microsoft.com/office/drawing/2014/main" id="{0BC9BB61-5E96-D2CF-69AB-BFF1C6D5BF77}"/>
              </a:ext>
            </a:extLst>
          </p:cNvPr>
          <p:cNvSpPr/>
          <p:nvPr/>
        </p:nvSpPr>
        <p:spPr>
          <a:xfrm>
            <a:off x="11714798" y="1446974"/>
            <a:ext cx="222250" cy="44259"/>
          </a:xfrm>
          <a:custGeom>
            <a:avLst/>
            <a:gdLst/>
            <a:ahLst/>
            <a:cxnLst/>
            <a:rect l="0" t="0" r="r" b="b"/>
            <a:pathLst>
              <a:path w="222250" h="44259">
                <a:moveTo>
                  <a:pt x="22098" y="0"/>
                </a:moveTo>
                <a:lnTo>
                  <a:pt x="200088" y="0"/>
                </a:lnTo>
                <a:cubicBezTo>
                  <a:pt x="212344" y="0"/>
                  <a:pt x="222250" y="9906"/>
                  <a:pt x="222250" y="22098"/>
                </a:cubicBezTo>
                <a:lnTo>
                  <a:pt x="222250" y="22098"/>
                </a:lnTo>
                <a:cubicBezTo>
                  <a:pt x="222250" y="34353"/>
                  <a:pt x="212344" y="44259"/>
                  <a:pt x="200088" y="44259"/>
                </a:cubicBezTo>
                <a:lnTo>
                  <a:pt x="22098" y="44259"/>
                </a:lnTo>
                <a:cubicBezTo>
                  <a:pt x="9906" y="44259"/>
                  <a:pt x="0" y="34353"/>
                  <a:pt x="0" y="22098"/>
                </a:cubicBezTo>
                <a:lnTo>
                  <a:pt x="0" y="22098"/>
                </a:lnTo>
                <a:cubicBezTo>
                  <a:pt x="0" y="9906"/>
                  <a:pt x="9906" y="0"/>
                  <a:pt x="22098" y="0"/>
                </a:cubicBezTo>
                <a:close/>
              </a:path>
            </a:pathLst>
          </a:custGeom>
          <a:solidFill>
            <a:srgbClr val="3985CD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19" name="m-p28_metro-qt-5">
            <a:extLst>
              <a:ext uri="{FF2B5EF4-FFF2-40B4-BE49-F238E27FC236}">
                <a16:creationId xmlns:a16="http://schemas.microsoft.com/office/drawing/2014/main" id="{2118427F-F5DA-5BEC-2A4E-F11A1B0EA94F}"/>
              </a:ext>
            </a:extLst>
          </p:cNvPr>
          <p:cNvSpPr txBox="1"/>
          <p:nvPr/>
        </p:nvSpPr>
        <p:spPr>
          <a:xfrm>
            <a:off x="11778844" y="1452800"/>
            <a:ext cx="94117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2027 Q1</a:t>
            </a:r>
          </a:p>
        </p:txBody>
      </p:sp>
      <p:cxnSp>
        <p:nvCxnSpPr>
          <p:cNvPr id="820" name="m-p28_metro-qg-5">
            <a:extLst>
              <a:ext uri="{FF2B5EF4-FFF2-40B4-BE49-F238E27FC236}">
                <a16:creationId xmlns:a16="http://schemas.microsoft.com/office/drawing/2014/main" id="{5C498378-5DB1-4635-D234-0AF52660770B}"/>
              </a:ext>
            </a:extLst>
          </p:cNvPr>
          <p:cNvCxnSpPr/>
          <p:nvPr/>
        </p:nvCxnSpPr>
        <p:spPr>
          <a:xfrm>
            <a:off x="11709559" y="1501648"/>
            <a:ext cx="0" cy="747204"/>
          </a:xfrm>
          <a:prstGeom prst="line">
            <a:avLst/>
          </a:prstGeom>
          <a:ln w="2540" cap="rnd">
            <a:solidFill>
              <a:srgbClr val="0B2545">
                <a:alpha val="4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1" name="m-p28_metro-q-6">
            <a:extLst>
              <a:ext uri="{FF2B5EF4-FFF2-40B4-BE49-F238E27FC236}">
                <a16:creationId xmlns:a16="http://schemas.microsoft.com/office/drawing/2014/main" id="{BECB558D-18E4-5DE1-1400-4B6A4DBFD6D4}"/>
              </a:ext>
            </a:extLst>
          </p:cNvPr>
          <p:cNvSpPr/>
          <p:nvPr/>
        </p:nvSpPr>
        <p:spPr>
          <a:xfrm>
            <a:off x="11947462" y="1446974"/>
            <a:ext cx="222250" cy="44259"/>
          </a:xfrm>
          <a:custGeom>
            <a:avLst/>
            <a:gdLst/>
            <a:ahLst/>
            <a:cxnLst/>
            <a:rect l="0" t="0" r="r" b="b"/>
            <a:pathLst>
              <a:path w="222250" h="44259">
                <a:moveTo>
                  <a:pt x="22098" y="0"/>
                </a:moveTo>
                <a:lnTo>
                  <a:pt x="200152" y="0"/>
                </a:lnTo>
                <a:cubicBezTo>
                  <a:pt x="212344" y="0"/>
                  <a:pt x="222250" y="9906"/>
                  <a:pt x="222250" y="22098"/>
                </a:cubicBezTo>
                <a:lnTo>
                  <a:pt x="222250" y="22098"/>
                </a:lnTo>
                <a:cubicBezTo>
                  <a:pt x="222250" y="34353"/>
                  <a:pt x="212344" y="44259"/>
                  <a:pt x="200152" y="44259"/>
                </a:cubicBezTo>
                <a:lnTo>
                  <a:pt x="22098" y="44259"/>
                </a:lnTo>
                <a:cubicBezTo>
                  <a:pt x="9906" y="44259"/>
                  <a:pt x="0" y="34353"/>
                  <a:pt x="0" y="22098"/>
                </a:cubicBezTo>
                <a:lnTo>
                  <a:pt x="0" y="22098"/>
                </a:lnTo>
                <a:cubicBezTo>
                  <a:pt x="0" y="9906"/>
                  <a:pt x="9906" y="0"/>
                  <a:pt x="22098" y="0"/>
                </a:cubicBezTo>
                <a:close/>
              </a:path>
            </a:pathLst>
          </a:custGeom>
          <a:solidFill>
            <a:srgbClr val="3985CD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22" name="m-p28_metro-qt-6">
            <a:extLst>
              <a:ext uri="{FF2B5EF4-FFF2-40B4-BE49-F238E27FC236}">
                <a16:creationId xmlns:a16="http://schemas.microsoft.com/office/drawing/2014/main" id="{5998F2DB-CB8B-4194-BAF4-B6AC209CD000}"/>
              </a:ext>
            </a:extLst>
          </p:cNvPr>
          <p:cNvSpPr txBox="1"/>
          <p:nvPr/>
        </p:nvSpPr>
        <p:spPr>
          <a:xfrm>
            <a:off x="12038869" y="1452800"/>
            <a:ext cx="3944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Q2</a:t>
            </a:r>
          </a:p>
        </p:txBody>
      </p:sp>
      <p:cxnSp>
        <p:nvCxnSpPr>
          <p:cNvPr id="823" name="m-p28_metro-qg-6">
            <a:extLst>
              <a:ext uri="{FF2B5EF4-FFF2-40B4-BE49-F238E27FC236}">
                <a16:creationId xmlns:a16="http://schemas.microsoft.com/office/drawing/2014/main" id="{CF1C2FAB-CB7A-8D8A-A250-EC31F4D419E3}"/>
              </a:ext>
            </a:extLst>
          </p:cNvPr>
          <p:cNvCxnSpPr/>
          <p:nvPr/>
        </p:nvCxnSpPr>
        <p:spPr>
          <a:xfrm>
            <a:off x="11942247" y="1501648"/>
            <a:ext cx="0" cy="747204"/>
          </a:xfrm>
          <a:prstGeom prst="line">
            <a:avLst/>
          </a:prstGeom>
          <a:ln w="2540" cap="rnd">
            <a:solidFill>
              <a:srgbClr val="0B2545">
                <a:alpha val="4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4" name="m-p28_metro-q-7">
            <a:extLst>
              <a:ext uri="{FF2B5EF4-FFF2-40B4-BE49-F238E27FC236}">
                <a16:creationId xmlns:a16="http://schemas.microsoft.com/office/drawing/2014/main" id="{222C54C3-39DF-3D5C-B66C-134B6A66D518}"/>
              </a:ext>
            </a:extLst>
          </p:cNvPr>
          <p:cNvSpPr/>
          <p:nvPr/>
        </p:nvSpPr>
        <p:spPr>
          <a:xfrm>
            <a:off x="12180126" y="1446974"/>
            <a:ext cx="222313" cy="44259"/>
          </a:xfrm>
          <a:custGeom>
            <a:avLst/>
            <a:gdLst/>
            <a:ahLst/>
            <a:cxnLst/>
            <a:rect l="0" t="0" r="r" b="b"/>
            <a:pathLst>
              <a:path w="222313" h="44259">
                <a:moveTo>
                  <a:pt x="22161" y="0"/>
                </a:moveTo>
                <a:lnTo>
                  <a:pt x="200152" y="0"/>
                </a:lnTo>
                <a:cubicBezTo>
                  <a:pt x="212407" y="0"/>
                  <a:pt x="222313" y="9906"/>
                  <a:pt x="222313" y="22098"/>
                </a:cubicBezTo>
                <a:lnTo>
                  <a:pt x="222313" y="22098"/>
                </a:lnTo>
                <a:cubicBezTo>
                  <a:pt x="222313" y="34353"/>
                  <a:pt x="212407" y="44259"/>
                  <a:pt x="200152" y="44259"/>
                </a:cubicBezTo>
                <a:lnTo>
                  <a:pt x="22161" y="44259"/>
                </a:lnTo>
                <a:cubicBezTo>
                  <a:pt x="9906" y="44259"/>
                  <a:pt x="0" y="34353"/>
                  <a:pt x="0" y="22098"/>
                </a:cubicBezTo>
                <a:lnTo>
                  <a:pt x="0" y="22098"/>
                </a:lnTo>
                <a:cubicBezTo>
                  <a:pt x="0" y="9906"/>
                  <a:pt x="9906" y="0"/>
                  <a:pt x="22161" y="0"/>
                </a:cubicBezTo>
                <a:close/>
              </a:path>
            </a:pathLst>
          </a:custGeom>
          <a:solidFill>
            <a:srgbClr val="3985CD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25" name="m-p28_metro-qt-7">
            <a:extLst>
              <a:ext uri="{FF2B5EF4-FFF2-40B4-BE49-F238E27FC236}">
                <a16:creationId xmlns:a16="http://schemas.microsoft.com/office/drawing/2014/main" id="{A092EE78-9D8F-ECB7-F931-AD6BF21D2990}"/>
              </a:ext>
            </a:extLst>
          </p:cNvPr>
          <p:cNvSpPr txBox="1"/>
          <p:nvPr/>
        </p:nvSpPr>
        <p:spPr>
          <a:xfrm>
            <a:off x="12271557" y="1452800"/>
            <a:ext cx="3944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Q3</a:t>
            </a:r>
          </a:p>
        </p:txBody>
      </p:sp>
      <p:cxnSp>
        <p:nvCxnSpPr>
          <p:cNvPr id="826" name="m-p28_metro-qg-7">
            <a:extLst>
              <a:ext uri="{FF2B5EF4-FFF2-40B4-BE49-F238E27FC236}">
                <a16:creationId xmlns:a16="http://schemas.microsoft.com/office/drawing/2014/main" id="{114A9EF5-C2B8-F0BA-E0AD-033097582202}"/>
              </a:ext>
            </a:extLst>
          </p:cNvPr>
          <p:cNvCxnSpPr/>
          <p:nvPr/>
        </p:nvCxnSpPr>
        <p:spPr>
          <a:xfrm>
            <a:off x="12174934" y="1501648"/>
            <a:ext cx="0" cy="747204"/>
          </a:xfrm>
          <a:prstGeom prst="line">
            <a:avLst/>
          </a:prstGeom>
          <a:ln w="2540" cap="rnd">
            <a:solidFill>
              <a:srgbClr val="0B2545">
                <a:alpha val="4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7" name="m-p28_metro-q-8">
            <a:extLst>
              <a:ext uri="{FF2B5EF4-FFF2-40B4-BE49-F238E27FC236}">
                <a16:creationId xmlns:a16="http://schemas.microsoft.com/office/drawing/2014/main" id="{C908C9A9-EF16-EF90-0CC5-913065D88A5A}"/>
              </a:ext>
            </a:extLst>
          </p:cNvPr>
          <p:cNvSpPr/>
          <p:nvPr/>
        </p:nvSpPr>
        <p:spPr>
          <a:xfrm>
            <a:off x="12412853" y="1446974"/>
            <a:ext cx="222250" cy="44259"/>
          </a:xfrm>
          <a:custGeom>
            <a:avLst/>
            <a:gdLst/>
            <a:ahLst/>
            <a:cxnLst/>
            <a:rect l="0" t="0" r="r" b="b"/>
            <a:pathLst>
              <a:path w="222250" h="44259">
                <a:moveTo>
                  <a:pt x="22098" y="0"/>
                </a:moveTo>
                <a:lnTo>
                  <a:pt x="200152" y="0"/>
                </a:lnTo>
                <a:cubicBezTo>
                  <a:pt x="212344" y="0"/>
                  <a:pt x="222250" y="9906"/>
                  <a:pt x="222250" y="22098"/>
                </a:cubicBezTo>
                <a:lnTo>
                  <a:pt x="222250" y="22098"/>
                </a:lnTo>
                <a:cubicBezTo>
                  <a:pt x="222250" y="34353"/>
                  <a:pt x="212344" y="44259"/>
                  <a:pt x="200152" y="44259"/>
                </a:cubicBezTo>
                <a:lnTo>
                  <a:pt x="22098" y="44259"/>
                </a:lnTo>
                <a:cubicBezTo>
                  <a:pt x="9906" y="44259"/>
                  <a:pt x="0" y="34353"/>
                  <a:pt x="0" y="22098"/>
                </a:cubicBezTo>
                <a:lnTo>
                  <a:pt x="0" y="22098"/>
                </a:lnTo>
                <a:cubicBezTo>
                  <a:pt x="0" y="9906"/>
                  <a:pt x="9906" y="0"/>
                  <a:pt x="22098" y="0"/>
                </a:cubicBezTo>
                <a:close/>
              </a:path>
            </a:pathLst>
          </a:custGeom>
          <a:solidFill>
            <a:srgbClr val="3985CD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28" name="m-p28_metro-qt-8">
            <a:extLst>
              <a:ext uri="{FF2B5EF4-FFF2-40B4-BE49-F238E27FC236}">
                <a16:creationId xmlns:a16="http://schemas.microsoft.com/office/drawing/2014/main" id="{04D7FFE9-913D-3DFC-A210-534BE3694A45}"/>
              </a:ext>
            </a:extLst>
          </p:cNvPr>
          <p:cNvSpPr txBox="1"/>
          <p:nvPr/>
        </p:nvSpPr>
        <p:spPr>
          <a:xfrm>
            <a:off x="12504245" y="1452800"/>
            <a:ext cx="3944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Q4</a:t>
            </a:r>
          </a:p>
        </p:txBody>
      </p:sp>
      <p:cxnSp>
        <p:nvCxnSpPr>
          <p:cNvPr id="829" name="m-p28_metro-qg-8">
            <a:extLst>
              <a:ext uri="{FF2B5EF4-FFF2-40B4-BE49-F238E27FC236}">
                <a16:creationId xmlns:a16="http://schemas.microsoft.com/office/drawing/2014/main" id="{7464A003-34FF-94FE-940C-6BC2CF29B8D8}"/>
              </a:ext>
            </a:extLst>
          </p:cNvPr>
          <p:cNvCxnSpPr/>
          <p:nvPr/>
        </p:nvCxnSpPr>
        <p:spPr>
          <a:xfrm>
            <a:off x="12407622" y="1501648"/>
            <a:ext cx="0" cy="747204"/>
          </a:xfrm>
          <a:prstGeom prst="line">
            <a:avLst/>
          </a:prstGeom>
          <a:ln w="2540" cap="rnd">
            <a:solidFill>
              <a:srgbClr val="0B2545">
                <a:alpha val="4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30" name="m-p28_metro-ln-tag-1">
            <a:extLst>
              <a:ext uri="{FF2B5EF4-FFF2-40B4-BE49-F238E27FC236}">
                <a16:creationId xmlns:a16="http://schemas.microsoft.com/office/drawing/2014/main" id="{0B6F5B21-4DC9-996C-A48B-192A3651E545}"/>
              </a:ext>
            </a:extLst>
          </p:cNvPr>
          <p:cNvSpPr/>
          <p:nvPr/>
        </p:nvSpPr>
        <p:spPr>
          <a:xfrm>
            <a:off x="10596562" y="1608392"/>
            <a:ext cx="143192" cy="57277"/>
          </a:xfrm>
          <a:custGeom>
            <a:avLst/>
            <a:gdLst/>
            <a:ahLst/>
            <a:cxnLst/>
            <a:rect l="0" t="0" r="r" b="b"/>
            <a:pathLst>
              <a:path w="143192" h="57277">
                <a:moveTo>
                  <a:pt x="28638" y="0"/>
                </a:moveTo>
                <a:lnTo>
                  <a:pt x="114554" y="0"/>
                </a:lnTo>
                <a:cubicBezTo>
                  <a:pt x="130365" y="0"/>
                  <a:pt x="143192" y="12827"/>
                  <a:pt x="143192" y="28639"/>
                </a:cubicBezTo>
                <a:lnTo>
                  <a:pt x="143192" y="28639"/>
                </a:lnTo>
                <a:cubicBezTo>
                  <a:pt x="143192" y="44450"/>
                  <a:pt x="130365" y="57277"/>
                  <a:pt x="114554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9"/>
                </a:cubicBezTo>
                <a:lnTo>
                  <a:pt x="0" y="28639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31" name="m-p28_metro-ln-t-1">
            <a:extLst>
              <a:ext uri="{FF2B5EF4-FFF2-40B4-BE49-F238E27FC236}">
                <a16:creationId xmlns:a16="http://schemas.microsoft.com/office/drawing/2014/main" id="{77C0EFEB-3EDC-BF20-40BA-CA036F472E9D}"/>
              </a:ext>
            </a:extLst>
          </p:cNvPr>
          <p:cNvSpPr txBox="1"/>
          <p:nvPr/>
        </p:nvSpPr>
        <p:spPr>
          <a:xfrm>
            <a:off x="10618562" y="1617204"/>
            <a:ext cx="99193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2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产品线</a:t>
            </a:r>
          </a:p>
        </p:txBody>
      </p:sp>
      <p:cxnSp>
        <p:nvCxnSpPr>
          <p:cNvPr id="832" name="m-p28_metro-ln-1">
            <a:extLst>
              <a:ext uri="{FF2B5EF4-FFF2-40B4-BE49-F238E27FC236}">
                <a16:creationId xmlns:a16="http://schemas.microsoft.com/office/drawing/2014/main" id="{4765CD41-A4E7-B805-91B9-45211E684FEA}"/>
              </a:ext>
            </a:extLst>
          </p:cNvPr>
          <p:cNvCxnSpPr/>
          <p:nvPr/>
        </p:nvCxnSpPr>
        <p:spPr>
          <a:xfrm>
            <a:off x="10765790" y="1637030"/>
            <a:ext cx="1758176" cy="0"/>
          </a:xfrm>
          <a:prstGeom prst="line">
            <a:avLst/>
          </a:prstGeom>
          <a:ln w="18224" cap="rnd">
            <a:solidFill>
              <a:srgbClr val="134C9C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33" name="m-p28_metro-ln-tag-2">
            <a:extLst>
              <a:ext uri="{FF2B5EF4-FFF2-40B4-BE49-F238E27FC236}">
                <a16:creationId xmlns:a16="http://schemas.microsoft.com/office/drawing/2014/main" id="{5CE48E57-E494-1E20-7C37-5B4C29ECE329}"/>
              </a:ext>
            </a:extLst>
          </p:cNvPr>
          <p:cNvSpPr/>
          <p:nvPr/>
        </p:nvSpPr>
        <p:spPr>
          <a:xfrm>
            <a:off x="10596562" y="1868742"/>
            <a:ext cx="143192" cy="57277"/>
          </a:xfrm>
          <a:custGeom>
            <a:avLst/>
            <a:gdLst/>
            <a:ahLst/>
            <a:cxnLst/>
            <a:rect l="0" t="0" r="r" b="b"/>
            <a:pathLst>
              <a:path w="143192" h="57277">
                <a:moveTo>
                  <a:pt x="28638" y="0"/>
                </a:moveTo>
                <a:lnTo>
                  <a:pt x="114554" y="0"/>
                </a:lnTo>
                <a:cubicBezTo>
                  <a:pt x="130365" y="0"/>
                  <a:pt x="143192" y="12827"/>
                  <a:pt x="143192" y="28638"/>
                </a:cubicBezTo>
                <a:lnTo>
                  <a:pt x="143192" y="28638"/>
                </a:lnTo>
                <a:cubicBezTo>
                  <a:pt x="143192" y="44450"/>
                  <a:pt x="130365" y="57277"/>
                  <a:pt x="114554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34" name="m-p28_metro-ln-t-2">
            <a:extLst>
              <a:ext uri="{FF2B5EF4-FFF2-40B4-BE49-F238E27FC236}">
                <a16:creationId xmlns:a16="http://schemas.microsoft.com/office/drawing/2014/main" id="{E4A25142-6CB2-ED51-763F-59DEA38639D7}"/>
              </a:ext>
            </a:extLst>
          </p:cNvPr>
          <p:cNvSpPr txBox="1"/>
          <p:nvPr/>
        </p:nvSpPr>
        <p:spPr>
          <a:xfrm>
            <a:off x="10618562" y="1877554"/>
            <a:ext cx="99193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2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市场线</a:t>
            </a:r>
          </a:p>
        </p:txBody>
      </p:sp>
      <p:cxnSp>
        <p:nvCxnSpPr>
          <p:cNvPr id="835" name="m-p28_metro-ln-2">
            <a:extLst>
              <a:ext uri="{FF2B5EF4-FFF2-40B4-BE49-F238E27FC236}">
                <a16:creationId xmlns:a16="http://schemas.microsoft.com/office/drawing/2014/main" id="{7CE09C95-4BD5-6997-60E1-DE76D290DF1D}"/>
              </a:ext>
            </a:extLst>
          </p:cNvPr>
          <p:cNvCxnSpPr/>
          <p:nvPr/>
        </p:nvCxnSpPr>
        <p:spPr>
          <a:xfrm>
            <a:off x="10765790" y="1897380"/>
            <a:ext cx="1758176" cy="0"/>
          </a:xfrm>
          <a:prstGeom prst="line">
            <a:avLst/>
          </a:prstGeom>
          <a:ln w="18224" cap="rnd">
            <a:solidFill>
              <a:srgbClr val="3985CD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36" name="m-p28_metro-ln-tag-3">
            <a:extLst>
              <a:ext uri="{FF2B5EF4-FFF2-40B4-BE49-F238E27FC236}">
                <a16:creationId xmlns:a16="http://schemas.microsoft.com/office/drawing/2014/main" id="{27A3B758-EC87-53D2-2412-9B681E1BB882}"/>
              </a:ext>
            </a:extLst>
          </p:cNvPr>
          <p:cNvSpPr/>
          <p:nvPr/>
        </p:nvSpPr>
        <p:spPr>
          <a:xfrm>
            <a:off x="10596562" y="2129092"/>
            <a:ext cx="143192" cy="57277"/>
          </a:xfrm>
          <a:custGeom>
            <a:avLst/>
            <a:gdLst/>
            <a:ahLst/>
            <a:cxnLst/>
            <a:rect l="0" t="0" r="r" b="b"/>
            <a:pathLst>
              <a:path w="143192" h="57277">
                <a:moveTo>
                  <a:pt x="28638" y="0"/>
                </a:moveTo>
                <a:lnTo>
                  <a:pt x="114554" y="0"/>
                </a:lnTo>
                <a:cubicBezTo>
                  <a:pt x="130365" y="0"/>
                  <a:pt x="143192" y="12827"/>
                  <a:pt x="143192" y="28638"/>
                </a:cubicBezTo>
                <a:lnTo>
                  <a:pt x="143192" y="28638"/>
                </a:lnTo>
                <a:cubicBezTo>
                  <a:pt x="143192" y="44450"/>
                  <a:pt x="130365" y="57277"/>
                  <a:pt x="114554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37" name="m-p28_metro-ln-t-3">
            <a:extLst>
              <a:ext uri="{FF2B5EF4-FFF2-40B4-BE49-F238E27FC236}">
                <a16:creationId xmlns:a16="http://schemas.microsoft.com/office/drawing/2014/main" id="{5C582357-D900-959A-38A6-4B416D64B95E}"/>
              </a:ext>
            </a:extLst>
          </p:cNvPr>
          <p:cNvSpPr txBox="1"/>
          <p:nvPr/>
        </p:nvSpPr>
        <p:spPr>
          <a:xfrm>
            <a:off x="10618562" y="2137904"/>
            <a:ext cx="99193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2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组织线</a:t>
            </a:r>
          </a:p>
        </p:txBody>
      </p:sp>
      <p:cxnSp>
        <p:nvCxnSpPr>
          <p:cNvPr id="838" name="m-p28_metro-ln-3">
            <a:extLst>
              <a:ext uri="{FF2B5EF4-FFF2-40B4-BE49-F238E27FC236}">
                <a16:creationId xmlns:a16="http://schemas.microsoft.com/office/drawing/2014/main" id="{AEB0F6C2-DBE4-8919-FCA3-FFE5456D4B44}"/>
              </a:ext>
            </a:extLst>
          </p:cNvPr>
          <p:cNvCxnSpPr/>
          <p:nvPr/>
        </p:nvCxnSpPr>
        <p:spPr>
          <a:xfrm>
            <a:off x="10765790" y="2157730"/>
            <a:ext cx="1758176" cy="0"/>
          </a:xfrm>
          <a:prstGeom prst="line">
            <a:avLst/>
          </a:prstGeom>
          <a:ln w="18224" cap="rnd">
            <a:solidFill>
              <a:srgbClr val="E0703A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39" name="m-p28_metro-xf-915.625">
            <a:extLst>
              <a:ext uri="{FF2B5EF4-FFF2-40B4-BE49-F238E27FC236}">
                <a16:creationId xmlns:a16="http://schemas.microsoft.com/office/drawing/2014/main" id="{3F8A3D1A-E131-0B85-F754-ED12D209D050}"/>
              </a:ext>
            </a:extLst>
          </p:cNvPr>
          <p:cNvSpPr/>
          <p:nvPr/>
        </p:nvSpPr>
        <p:spPr>
          <a:xfrm>
            <a:off x="11561953" y="1605788"/>
            <a:ext cx="62484" cy="322834"/>
          </a:xfrm>
          <a:custGeom>
            <a:avLst/>
            <a:gdLst/>
            <a:ahLst/>
            <a:cxnLst/>
            <a:rect l="0" t="0" r="r" b="b"/>
            <a:pathLst>
              <a:path w="62484" h="322834">
                <a:moveTo>
                  <a:pt x="31242" y="0"/>
                </a:moveTo>
                <a:lnTo>
                  <a:pt x="31242" y="0"/>
                </a:lnTo>
                <a:cubicBezTo>
                  <a:pt x="48514" y="0"/>
                  <a:pt x="62484" y="13970"/>
                  <a:pt x="62484" y="31242"/>
                </a:cubicBezTo>
                <a:lnTo>
                  <a:pt x="62484" y="291592"/>
                </a:lnTo>
                <a:cubicBezTo>
                  <a:pt x="62484" y="308864"/>
                  <a:pt x="48514" y="322834"/>
                  <a:pt x="31242" y="322834"/>
                </a:cubicBezTo>
                <a:lnTo>
                  <a:pt x="31242" y="322834"/>
                </a:lnTo>
                <a:cubicBezTo>
                  <a:pt x="14034" y="322834"/>
                  <a:pt x="0" y="308864"/>
                  <a:pt x="0" y="291592"/>
                </a:cubicBezTo>
                <a:lnTo>
                  <a:pt x="0" y="31242"/>
                </a:lnTo>
                <a:cubicBezTo>
                  <a:pt x="0" y="13970"/>
                  <a:pt x="14034" y="0"/>
                  <a:pt x="31242" y="0"/>
                </a:cubicBezTo>
                <a:close/>
              </a:path>
            </a:pathLst>
          </a:custGeom>
          <a:solidFill>
            <a:srgbClr val="FFFFFF"/>
          </a:solidFill>
          <a:ln w="5207" cap="rnd">
            <a:solidFill>
              <a:srgbClr val="0B2545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840" name="m-p28_metro-xfl-915.625">
            <a:extLst>
              <a:ext uri="{FF2B5EF4-FFF2-40B4-BE49-F238E27FC236}">
                <a16:creationId xmlns:a16="http://schemas.microsoft.com/office/drawing/2014/main" id="{DD93CD6B-E440-DF79-75EE-8560290A4105}"/>
              </a:ext>
            </a:extLst>
          </p:cNvPr>
          <p:cNvCxnSpPr/>
          <p:nvPr/>
        </p:nvCxnSpPr>
        <p:spPr>
          <a:xfrm>
            <a:off x="11593215" y="1670876"/>
            <a:ext cx="0" cy="192659"/>
          </a:xfrm>
          <a:prstGeom prst="line">
            <a:avLst/>
          </a:prstGeom>
          <a:ln w="2604" cap="rnd">
            <a:solidFill>
              <a:srgbClr val="0B2545">
                <a:alpha val="2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1" name="m-p28_metro-xft-bg-915.625">
            <a:extLst>
              <a:ext uri="{FF2B5EF4-FFF2-40B4-BE49-F238E27FC236}">
                <a16:creationId xmlns:a16="http://schemas.microsoft.com/office/drawing/2014/main" id="{29F2843F-E9D5-BEA7-6C6A-86EDB623C81A}"/>
              </a:ext>
            </a:extLst>
          </p:cNvPr>
          <p:cNvSpPr/>
          <p:nvPr/>
        </p:nvSpPr>
        <p:spPr>
          <a:xfrm>
            <a:off x="11637454" y="1743774"/>
            <a:ext cx="195262" cy="46863"/>
          </a:xfrm>
          <a:custGeom>
            <a:avLst/>
            <a:gdLst/>
            <a:ahLst/>
            <a:cxnLst/>
            <a:rect l="0" t="0" r="r" b="b"/>
            <a:pathLst>
              <a:path w="195262" h="46863">
                <a:moveTo>
                  <a:pt x="23431" y="0"/>
                </a:moveTo>
                <a:lnTo>
                  <a:pt x="171831" y="0"/>
                </a:lnTo>
                <a:cubicBezTo>
                  <a:pt x="184785" y="0"/>
                  <a:pt x="195262" y="10477"/>
                  <a:pt x="195262" y="23431"/>
                </a:cubicBezTo>
                <a:lnTo>
                  <a:pt x="195262" y="23431"/>
                </a:lnTo>
                <a:cubicBezTo>
                  <a:pt x="195262" y="36385"/>
                  <a:pt x="184785" y="46863"/>
                  <a:pt x="171831" y="46863"/>
                </a:cubicBezTo>
                <a:lnTo>
                  <a:pt x="23431" y="46863"/>
                </a:lnTo>
                <a:cubicBezTo>
                  <a:pt x="10477" y="46863"/>
                  <a:pt x="0" y="36385"/>
                  <a:pt x="0" y="23431"/>
                </a:cubicBezTo>
                <a:lnTo>
                  <a:pt x="0" y="23431"/>
                </a:lnTo>
                <a:cubicBezTo>
                  <a:pt x="0" y="10477"/>
                  <a:pt x="10477" y="0"/>
                  <a:pt x="23431" y="0"/>
                </a:cubicBezTo>
                <a:close/>
              </a:path>
            </a:pathLst>
          </a:cu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42" name="m-p28_metro-xft-915.625">
            <a:extLst>
              <a:ext uri="{FF2B5EF4-FFF2-40B4-BE49-F238E27FC236}">
                <a16:creationId xmlns:a16="http://schemas.microsoft.com/office/drawing/2014/main" id="{8114B841-24B1-465C-16C8-F4CE3533134B}"/>
              </a:ext>
            </a:extLst>
          </p:cNvPr>
          <p:cNvSpPr txBox="1"/>
          <p:nvPr/>
        </p:nvSpPr>
        <p:spPr>
          <a:xfrm>
            <a:off x="11654657" y="1750901"/>
            <a:ext cx="154257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6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换乘 · 平台化</a:t>
            </a:r>
          </a:p>
        </p:txBody>
      </p:sp>
      <p:sp>
        <p:nvSpPr>
          <p:cNvPr id="843" name="m-p28_metro-xf-1273.125">
            <a:extLst>
              <a:ext uri="{FF2B5EF4-FFF2-40B4-BE49-F238E27FC236}">
                <a16:creationId xmlns:a16="http://schemas.microsoft.com/office/drawing/2014/main" id="{5025B548-F64B-5D2E-3818-D096F1BE767C}"/>
              </a:ext>
            </a:extLst>
          </p:cNvPr>
          <p:cNvSpPr/>
          <p:nvPr/>
        </p:nvSpPr>
        <p:spPr>
          <a:xfrm>
            <a:off x="12027344" y="1866138"/>
            <a:ext cx="62484" cy="322834"/>
          </a:xfrm>
          <a:custGeom>
            <a:avLst/>
            <a:gdLst/>
            <a:ahLst/>
            <a:cxnLst/>
            <a:rect l="0" t="0" r="r" b="b"/>
            <a:pathLst>
              <a:path w="62484" h="322834">
                <a:moveTo>
                  <a:pt x="31242" y="0"/>
                </a:moveTo>
                <a:lnTo>
                  <a:pt x="31242" y="0"/>
                </a:lnTo>
                <a:cubicBezTo>
                  <a:pt x="48514" y="0"/>
                  <a:pt x="62484" y="13970"/>
                  <a:pt x="62484" y="31242"/>
                </a:cubicBezTo>
                <a:lnTo>
                  <a:pt x="62484" y="291592"/>
                </a:lnTo>
                <a:cubicBezTo>
                  <a:pt x="62484" y="308864"/>
                  <a:pt x="48514" y="322834"/>
                  <a:pt x="31242" y="322834"/>
                </a:cubicBezTo>
                <a:lnTo>
                  <a:pt x="31242" y="322834"/>
                </a:lnTo>
                <a:cubicBezTo>
                  <a:pt x="13970" y="322834"/>
                  <a:pt x="0" y="308864"/>
                  <a:pt x="0" y="291592"/>
                </a:cubicBezTo>
                <a:lnTo>
                  <a:pt x="0" y="31242"/>
                </a:lnTo>
                <a:cubicBezTo>
                  <a:pt x="0" y="13970"/>
                  <a:pt x="13970" y="0"/>
                  <a:pt x="31242" y="0"/>
                </a:cubicBezTo>
                <a:close/>
              </a:path>
            </a:pathLst>
          </a:custGeom>
          <a:solidFill>
            <a:srgbClr val="FFFFFF"/>
          </a:solidFill>
          <a:ln w="5207" cap="rnd">
            <a:solidFill>
              <a:srgbClr val="0B2545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844" name="m-p28_metro-xfl-1273.125">
            <a:extLst>
              <a:ext uri="{FF2B5EF4-FFF2-40B4-BE49-F238E27FC236}">
                <a16:creationId xmlns:a16="http://schemas.microsoft.com/office/drawing/2014/main" id="{E85D9E4C-E7C6-D2FB-A82F-DFA2FA1A4088}"/>
              </a:ext>
            </a:extLst>
          </p:cNvPr>
          <p:cNvCxnSpPr/>
          <p:nvPr/>
        </p:nvCxnSpPr>
        <p:spPr>
          <a:xfrm>
            <a:off x="12058590" y="1931226"/>
            <a:ext cx="0" cy="192658"/>
          </a:xfrm>
          <a:prstGeom prst="line">
            <a:avLst/>
          </a:prstGeom>
          <a:ln w="2604" cap="rnd">
            <a:solidFill>
              <a:srgbClr val="0B2545">
                <a:alpha val="2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5" name="m-p28_metro-xft-bg-1273.125">
            <a:extLst>
              <a:ext uri="{FF2B5EF4-FFF2-40B4-BE49-F238E27FC236}">
                <a16:creationId xmlns:a16="http://schemas.microsoft.com/office/drawing/2014/main" id="{E2A288B1-F6DC-6F80-1B99-421CA3779A54}"/>
              </a:ext>
            </a:extLst>
          </p:cNvPr>
          <p:cNvSpPr/>
          <p:nvPr/>
        </p:nvSpPr>
        <p:spPr>
          <a:xfrm>
            <a:off x="12102846" y="2004124"/>
            <a:ext cx="175705" cy="46863"/>
          </a:xfrm>
          <a:custGeom>
            <a:avLst/>
            <a:gdLst/>
            <a:ahLst/>
            <a:cxnLst/>
            <a:rect l="0" t="0" r="r" b="b"/>
            <a:pathLst>
              <a:path w="175705" h="46863">
                <a:moveTo>
                  <a:pt x="23432" y="0"/>
                </a:moveTo>
                <a:lnTo>
                  <a:pt x="152273" y="0"/>
                </a:lnTo>
                <a:cubicBezTo>
                  <a:pt x="165227" y="0"/>
                  <a:pt x="175705" y="10477"/>
                  <a:pt x="175705" y="23431"/>
                </a:cubicBezTo>
                <a:lnTo>
                  <a:pt x="175705" y="23431"/>
                </a:lnTo>
                <a:cubicBezTo>
                  <a:pt x="175705" y="36385"/>
                  <a:pt x="165227" y="46863"/>
                  <a:pt x="152273" y="46863"/>
                </a:cubicBezTo>
                <a:lnTo>
                  <a:pt x="23432" y="46863"/>
                </a:lnTo>
                <a:cubicBezTo>
                  <a:pt x="10477" y="46863"/>
                  <a:pt x="0" y="36385"/>
                  <a:pt x="0" y="23431"/>
                </a:cubicBezTo>
                <a:lnTo>
                  <a:pt x="0" y="23431"/>
                </a:lnTo>
                <a:cubicBezTo>
                  <a:pt x="0" y="10477"/>
                  <a:pt x="10477" y="0"/>
                  <a:pt x="23432" y="0"/>
                </a:cubicBezTo>
                <a:close/>
              </a:path>
            </a:pathLst>
          </a:cu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46" name="m-p28_metro-xft-1273.125">
            <a:extLst>
              <a:ext uri="{FF2B5EF4-FFF2-40B4-BE49-F238E27FC236}">
                <a16:creationId xmlns:a16="http://schemas.microsoft.com/office/drawing/2014/main" id="{FFC3AA48-991E-7EC7-76E3-185D08846B2A}"/>
              </a:ext>
            </a:extLst>
          </p:cNvPr>
          <p:cNvSpPr txBox="1"/>
          <p:nvPr/>
        </p:nvSpPr>
        <p:spPr>
          <a:xfrm>
            <a:off x="12120033" y="2011251"/>
            <a:ext cx="133950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6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换乘 · 出海</a:t>
            </a:r>
          </a:p>
        </p:txBody>
      </p:sp>
      <p:sp>
        <p:nvSpPr>
          <p:cNvPr id="847" name="m-p28_metro-st-1-1">
            <a:extLst>
              <a:ext uri="{FF2B5EF4-FFF2-40B4-BE49-F238E27FC236}">
                <a16:creationId xmlns:a16="http://schemas.microsoft.com/office/drawing/2014/main" id="{A4558C8A-468D-D94E-A45B-0B5917AB500C}"/>
              </a:ext>
            </a:extLst>
          </p:cNvPr>
          <p:cNvSpPr/>
          <p:nvPr/>
        </p:nvSpPr>
        <p:spPr>
          <a:xfrm>
            <a:off x="10879530" y="1621409"/>
            <a:ext cx="31242" cy="31242"/>
          </a:xfrm>
          <a:prstGeom prst="ellipse">
            <a:avLst/>
          </a:prstGeom>
          <a:solidFill>
            <a:srgbClr val="FFFFFF"/>
          </a:solidFill>
          <a:ln w="6509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48" name="m-p28_metro-sn-1-1">
            <a:extLst>
              <a:ext uri="{FF2B5EF4-FFF2-40B4-BE49-F238E27FC236}">
                <a16:creationId xmlns:a16="http://schemas.microsoft.com/office/drawing/2014/main" id="{C1B67397-75BC-F0D2-AE39-B47C87CE4FAF}"/>
              </a:ext>
            </a:extLst>
          </p:cNvPr>
          <p:cNvSpPr txBox="1"/>
          <p:nvPr/>
        </p:nvSpPr>
        <p:spPr>
          <a:xfrm>
            <a:off x="10847507" y="1561229"/>
            <a:ext cx="95288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需求池</a:t>
            </a:r>
          </a:p>
        </p:txBody>
      </p:sp>
      <p:sp>
        <p:nvSpPr>
          <p:cNvPr id="849" name="m-p28_metro-stt-1-1">
            <a:extLst>
              <a:ext uri="{FF2B5EF4-FFF2-40B4-BE49-F238E27FC236}">
                <a16:creationId xmlns:a16="http://schemas.microsoft.com/office/drawing/2014/main" id="{BFB5B1D5-A702-3F19-AD69-D0C11436BF1D}"/>
              </a:ext>
            </a:extLst>
          </p:cNvPr>
          <p:cNvSpPr txBox="1"/>
          <p:nvPr/>
        </p:nvSpPr>
        <p:spPr>
          <a:xfrm>
            <a:off x="10861436" y="1536418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 Q1</a:t>
            </a:r>
          </a:p>
        </p:txBody>
      </p:sp>
      <p:sp>
        <p:nvSpPr>
          <p:cNvPr id="850" name="m-p28_metro-st-1-2">
            <a:extLst>
              <a:ext uri="{FF2B5EF4-FFF2-40B4-BE49-F238E27FC236}">
                <a16:creationId xmlns:a16="http://schemas.microsoft.com/office/drawing/2014/main" id="{6BA6A5CD-D547-B87F-D7EE-E7C02BB349A7}"/>
              </a:ext>
            </a:extLst>
          </p:cNvPr>
          <p:cNvSpPr/>
          <p:nvPr/>
        </p:nvSpPr>
        <p:spPr>
          <a:xfrm>
            <a:off x="11112218" y="1621409"/>
            <a:ext cx="31242" cy="31242"/>
          </a:xfrm>
          <a:prstGeom prst="ellipse">
            <a:avLst/>
          </a:prstGeom>
          <a:solidFill>
            <a:srgbClr val="FFFFFF"/>
          </a:solidFill>
          <a:ln w="6509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51" name="m-p28_metro-sn-1-2">
            <a:extLst>
              <a:ext uri="{FF2B5EF4-FFF2-40B4-BE49-F238E27FC236}">
                <a16:creationId xmlns:a16="http://schemas.microsoft.com/office/drawing/2014/main" id="{24FAFF3A-B194-2090-1334-7479B5E16B8B}"/>
              </a:ext>
            </a:extLst>
          </p:cNvPr>
          <p:cNvSpPr txBox="1"/>
          <p:nvPr/>
        </p:nvSpPr>
        <p:spPr>
          <a:xfrm>
            <a:off x="11070927" y="1561229"/>
            <a:ext cx="113825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V1 发布</a:t>
            </a:r>
          </a:p>
        </p:txBody>
      </p:sp>
      <p:sp>
        <p:nvSpPr>
          <p:cNvPr id="852" name="m-p28_metro-stt-1-2">
            <a:extLst>
              <a:ext uri="{FF2B5EF4-FFF2-40B4-BE49-F238E27FC236}">
                <a16:creationId xmlns:a16="http://schemas.microsoft.com/office/drawing/2014/main" id="{0316755A-6E2B-9F42-48BC-0A27BF381C0C}"/>
              </a:ext>
            </a:extLst>
          </p:cNvPr>
          <p:cNvSpPr txBox="1"/>
          <p:nvPr/>
        </p:nvSpPr>
        <p:spPr>
          <a:xfrm>
            <a:off x="11094124" y="1536418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 Q2</a:t>
            </a:r>
          </a:p>
        </p:txBody>
      </p:sp>
      <p:sp>
        <p:nvSpPr>
          <p:cNvPr id="853" name="m-p28_metro-sn-1-3">
            <a:extLst>
              <a:ext uri="{FF2B5EF4-FFF2-40B4-BE49-F238E27FC236}">
                <a16:creationId xmlns:a16="http://schemas.microsoft.com/office/drawing/2014/main" id="{FF9BEDC5-9D55-120F-8E40-26A97EE91C58}"/>
              </a:ext>
            </a:extLst>
          </p:cNvPr>
          <p:cNvSpPr txBox="1"/>
          <p:nvPr/>
        </p:nvSpPr>
        <p:spPr>
          <a:xfrm>
            <a:off x="11545571" y="1561229"/>
            <a:ext cx="95288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平台化</a:t>
            </a:r>
          </a:p>
        </p:txBody>
      </p:sp>
      <p:sp>
        <p:nvSpPr>
          <p:cNvPr id="854" name="m-p28_metro-stt-1-3">
            <a:extLst>
              <a:ext uri="{FF2B5EF4-FFF2-40B4-BE49-F238E27FC236}">
                <a16:creationId xmlns:a16="http://schemas.microsoft.com/office/drawing/2014/main" id="{8CDD38AD-005D-CD3F-A9B8-35A60684FBA5}"/>
              </a:ext>
            </a:extLst>
          </p:cNvPr>
          <p:cNvSpPr txBox="1"/>
          <p:nvPr/>
        </p:nvSpPr>
        <p:spPr>
          <a:xfrm>
            <a:off x="11559500" y="1536418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 Q4</a:t>
            </a:r>
          </a:p>
        </p:txBody>
      </p:sp>
      <p:sp>
        <p:nvSpPr>
          <p:cNvPr id="855" name="m-p28_metro-st-1-4">
            <a:extLst>
              <a:ext uri="{FF2B5EF4-FFF2-40B4-BE49-F238E27FC236}">
                <a16:creationId xmlns:a16="http://schemas.microsoft.com/office/drawing/2014/main" id="{EB33DD48-E327-74BE-0762-1932266F509A}"/>
              </a:ext>
            </a:extLst>
          </p:cNvPr>
          <p:cNvSpPr/>
          <p:nvPr/>
        </p:nvSpPr>
        <p:spPr>
          <a:xfrm>
            <a:off x="11810282" y="1621409"/>
            <a:ext cx="31242" cy="31242"/>
          </a:xfrm>
          <a:prstGeom prst="ellipse">
            <a:avLst/>
          </a:prstGeom>
          <a:solidFill>
            <a:srgbClr val="FFFFFF"/>
          </a:solidFill>
          <a:ln w="6509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56" name="m-p28_metro-sn-1-4">
            <a:extLst>
              <a:ext uri="{FF2B5EF4-FFF2-40B4-BE49-F238E27FC236}">
                <a16:creationId xmlns:a16="http://schemas.microsoft.com/office/drawing/2014/main" id="{E486EA7F-5404-E968-FFE9-92592D7D188D}"/>
              </a:ext>
            </a:extLst>
          </p:cNvPr>
          <p:cNvSpPr txBox="1"/>
          <p:nvPr/>
        </p:nvSpPr>
        <p:spPr>
          <a:xfrm>
            <a:off x="11768990" y="1561229"/>
            <a:ext cx="113825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AI 能力</a:t>
            </a:r>
          </a:p>
        </p:txBody>
      </p:sp>
      <p:sp>
        <p:nvSpPr>
          <p:cNvPr id="857" name="m-p28_metro-stt-1-4">
            <a:extLst>
              <a:ext uri="{FF2B5EF4-FFF2-40B4-BE49-F238E27FC236}">
                <a16:creationId xmlns:a16="http://schemas.microsoft.com/office/drawing/2014/main" id="{C0A5830D-E821-AC33-E76B-E857C20C7917}"/>
              </a:ext>
            </a:extLst>
          </p:cNvPr>
          <p:cNvSpPr txBox="1"/>
          <p:nvPr/>
        </p:nvSpPr>
        <p:spPr>
          <a:xfrm>
            <a:off x="11792187" y="1536418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27 Q1</a:t>
            </a:r>
          </a:p>
        </p:txBody>
      </p:sp>
      <p:sp>
        <p:nvSpPr>
          <p:cNvPr id="858" name="m-p28_metro-st-1-5">
            <a:extLst>
              <a:ext uri="{FF2B5EF4-FFF2-40B4-BE49-F238E27FC236}">
                <a16:creationId xmlns:a16="http://schemas.microsoft.com/office/drawing/2014/main" id="{826F521E-1D05-4F38-C699-7239AEED4BED}"/>
              </a:ext>
            </a:extLst>
          </p:cNvPr>
          <p:cNvSpPr/>
          <p:nvPr/>
        </p:nvSpPr>
        <p:spPr>
          <a:xfrm>
            <a:off x="12275657" y="1621409"/>
            <a:ext cx="31242" cy="31242"/>
          </a:xfrm>
          <a:prstGeom prst="ellipse">
            <a:avLst/>
          </a:prstGeom>
          <a:solidFill>
            <a:srgbClr val="FFFFFF"/>
          </a:solidFill>
          <a:ln w="6509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59" name="m-p28_metro-sn-1-5">
            <a:extLst>
              <a:ext uri="{FF2B5EF4-FFF2-40B4-BE49-F238E27FC236}">
                <a16:creationId xmlns:a16="http://schemas.microsoft.com/office/drawing/2014/main" id="{8A1FD10F-E219-ED31-121A-F7CCB55FB71B}"/>
              </a:ext>
            </a:extLst>
          </p:cNvPr>
          <p:cNvSpPr txBox="1"/>
          <p:nvPr/>
        </p:nvSpPr>
        <p:spPr>
          <a:xfrm>
            <a:off x="12234366" y="1561229"/>
            <a:ext cx="113825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V3 发布</a:t>
            </a:r>
          </a:p>
        </p:txBody>
      </p:sp>
      <p:sp>
        <p:nvSpPr>
          <p:cNvPr id="860" name="m-p28_metro-stt-1-5">
            <a:extLst>
              <a:ext uri="{FF2B5EF4-FFF2-40B4-BE49-F238E27FC236}">
                <a16:creationId xmlns:a16="http://schemas.microsoft.com/office/drawing/2014/main" id="{5C26AF3E-967B-C4CB-5817-522BA1DF2001}"/>
              </a:ext>
            </a:extLst>
          </p:cNvPr>
          <p:cNvSpPr txBox="1"/>
          <p:nvPr/>
        </p:nvSpPr>
        <p:spPr>
          <a:xfrm>
            <a:off x="12257563" y="1536418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27 Q3</a:t>
            </a:r>
          </a:p>
        </p:txBody>
      </p:sp>
      <p:sp>
        <p:nvSpPr>
          <p:cNvPr id="861" name="m-p28_metro-st-1-6">
            <a:extLst>
              <a:ext uri="{FF2B5EF4-FFF2-40B4-BE49-F238E27FC236}">
                <a16:creationId xmlns:a16="http://schemas.microsoft.com/office/drawing/2014/main" id="{7476AB29-9EC8-F799-01F4-F035EBCA7311}"/>
              </a:ext>
            </a:extLst>
          </p:cNvPr>
          <p:cNvSpPr/>
          <p:nvPr/>
        </p:nvSpPr>
        <p:spPr>
          <a:xfrm>
            <a:off x="12504440" y="1617504"/>
            <a:ext cx="39052" cy="39052"/>
          </a:xfrm>
          <a:prstGeom prst="ellipse">
            <a:avLst/>
          </a:prstGeom>
          <a:solidFill>
            <a:srgbClr val="FFFFFF"/>
          </a:solidFill>
          <a:ln w="781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62" name="m-p28_metro-sn-1-6">
            <a:extLst>
              <a:ext uri="{FF2B5EF4-FFF2-40B4-BE49-F238E27FC236}">
                <a16:creationId xmlns:a16="http://schemas.microsoft.com/office/drawing/2014/main" id="{CF5D2AA1-D743-D6FF-21EE-E9F9707782EE}"/>
              </a:ext>
            </a:extLst>
          </p:cNvPr>
          <p:cNvSpPr txBox="1"/>
          <p:nvPr/>
        </p:nvSpPr>
        <p:spPr>
          <a:xfrm>
            <a:off x="12463955" y="1561229"/>
            <a:ext cx="12002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生态开放</a:t>
            </a:r>
          </a:p>
        </p:txBody>
      </p:sp>
      <p:sp>
        <p:nvSpPr>
          <p:cNvPr id="863" name="m-p28_metro-stt-1-6">
            <a:extLst>
              <a:ext uri="{FF2B5EF4-FFF2-40B4-BE49-F238E27FC236}">
                <a16:creationId xmlns:a16="http://schemas.microsoft.com/office/drawing/2014/main" id="{263E8802-DF2C-0C75-6C96-AFAEA604EF90}"/>
              </a:ext>
            </a:extLst>
          </p:cNvPr>
          <p:cNvSpPr txBox="1"/>
          <p:nvPr/>
        </p:nvSpPr>
        <p:spPr>
          <a:xfrm>
            <a:off x="12490251" y="1536418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27 Q4</a:t>
            </a:r>
          </a:p>
        </p:txBody>
      </p:sp>
      <p:sp>
        <p:nvSpPr>
          <p:cNvPr id="864" name="m-p28_metro-st-2-1">
            <a:extLst>
              <a:ext uri="{FF2B5EF4-FFF2-40B4-BE49-F238E27FC236}">
                <a16:creationId xmlns:a16="http://schemas.microsoft.com/office/drawing/2014/main" id="{0CA6FCCC-1D07-7FCA-2C67-F352E86E6C08}"/>
              </a:ext>
            </a:extLst>
          </p:cNvPr>
          <p:cNvSpPr/>
          <p:nvPr/>
        </p:nvSpPr>
        <p:spPr>
          <a:xfrm>
            <a:off x="10879530" y="1881759"/>
            <a:ext cx="31242" cy="31242"/>
          </a:xfrm>
          <a:prstGeom prst="ellipse">
            <a:avLst/>
          </a:prstGeom>
          <a:solidFill>
            <a:srgbClr val="FFFFFF"/>
          </a:solidFill>
          <a:ln w="6509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65" name="m-p28_metro-sn-2-1">
            <a:extLst>
              <a:ext uri="{FF2B5EF4-FFF2-40B4-BE49-F238E27FC236}">
                <a16:creationId xmlns:a16="http://schemas.microsoft.com/office/drawing/2014/main" id="{46B176B7-BC73-2A82-26D9-81B06C586A91}"/>
              </a:ext>
            </a:extLst>
          </p:cNvPr>
          <p:cNvSpPr txBox="1"/>
          <p:nvPr/>
        </p:nvSpPr>
        <p:spPr>
          <a:xfrm>
            <a:off x="10835141" y="1933530"/>
            <a:ext cx="12002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华东深耕</a:t>
            </a:r>
          </a:p>
        </p:txBody>
      </p:sp>
      <p:sp>
        <p:nvSpPr>
          <p:cNvPr id="866" name="m-p28_metro-stt-2-1">
            <a:extLst>
              <a:ext uri="{FF2B5EF4-FFF2-40B4-BE49-F238E27FC236}">
                <a16:creationId xmlns:a16="http://schemas.microsoft.com/office/drawing/2014/main" id="{BB20A453-B9D4-940A-18C6-D00A986BC319}"/>
              </a:ext>
            </a:extLst>
          </p:cNvPr>
          <p:cNvSpPr txBox="1"/>
          <p:nvPr/>
        </p:nvSpPr>
        <p:spPr>
          <a:xfrm>
            <a:off x="10861436" y="1968599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 Q1</a:t>
            </a:r>
          </a:p>
        </p:txBody>
      </p:sp>
      <p:sp>
        <p:nvSpPr>
          <p:cNvPr id="867" name="m-p28_metro-st-2-2">
            <a:extLst>
              <a:ext uri="{FF2B5EF4-FFF2-40B4-BE49-F238E27FC236}">
                <a16:creationId xmlns:a16="http://schemas.microsoft.com/office/drawing/2014/main" id="{E351C5B8-2227-B350-A761-B6329F6E8D57}"/>
              </a:ext>
            </a:extLst>
          </p:cNvPr>
          <p:cNvSpPr/>
          <p:nvPr/>
        </p:nvSpPr>
        <p:spPr>
          <a:xfrm>
            <a:off x="11112218" y="1881759"/>
            <a:ext cx="31242" cy="31242"/>
          </a:xfrm>
          <a:prstGeom prst="ellipse">
            <a:avLst/>
          </a:prstGeom>
          <a:solidFill>
            <a:srgbClr val="FFFFFF"/>
          </a:solidFill>
          <a:ln w="6509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68" name="m-p28_metro-sn-2-2">
            <a:extLst>
              <a:ext uri="{FF2B5EF4-FFF2-40B4-BE49-F238E27FC236}">
                <a16:creationId xmlns:a16="http://schemas.microsoft.com/office/drawing/2014/main" id="{8FB3F68F-8488-97A9-192F-F9228DCA2531}"/>
              </a:ext>
            </a:extLst>
          </p:cNvPr>
          <p:cNvSpPr txBox="1"/>
          <p:nvPr/>
        </p:nvSpPr>
        <p:spPr>
          <a:xfrm>
            <a:off x="11067829" y="1933530"/>
            <a:ext cx="12002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华南拓展</a:t>
            </a:r>
          </a:p>
        </p:txBody>
      </p:sp>
      <p:sp>
        <p:nvSpPr>
          <p:cNvPr id="869" name="m-p28_metro-stt-2-2">
            <a:extLst>
              <a:ext uri="{FF2B5EF4-FFF2-40B4-BE49-F238E27FC236}">
                <a16:creationId xmlns:a16="http://schemas.microsoft.com/office/drawing/2014/main" id="{ABACE8A9-E064-17D0-CB73-1F2019FA2C19}"/>
              </a:ext>
            </a:extLst>
          </p:cNvPr>
          <p:cNvSpPr txBox="1"/>
          <p:nvPr/>
        </p:nvSpPr>
        <p:spPr>
          <a:xfrm>
            <a:off x="11094124" y="1968599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 Q2</a:t>
            </a:r>
          </a:p>
        </p:txBody>
      </p:sp>
      <p:sp>
        <p:nvSpPr>
          <p:cNvPr id="870" name="m-p28_metro-sn-2-3">
            <a:extLst>
              <a:ext uri="{FF2B5EF4-FFF2-40B4-BE49-F238E27FC236}">
                <a16:creationId xmlns:a16="http://schemas.microsoft.com/office/drawing/2014/main" id="{0F3176E6-0F62-334E-8B19-79380D1FED76}"/>
              </a:ext>
            </a:extLst>
          </p:cNvPr>
          <p:cNvSpPr txBox="1"/>
          <p:nvPr/>
        </p:nvSpPr>
        <p:spPr>
          <a:xfrm>
            <a:off x="11520838" y="1933530"/>
            <a:ext cx="144755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联合发布会</a:t>
            </a:r>
          </a:p>
        </p:txBody>
      </p:sp>
      <p:sp>
        <p:nvSpPr>
          <p:cNvPr id="871" name="m-p28_metro-stt-2-3">
            <a:extLst>
              <a:ext uri="{FF2B5EF4-FFF2-40B4-BE49-F238E27FC236}">
                <a16:creationId xmlns:a16="http://schemas.microsoft.com/office/drawing/2014/main" id="{D93F5178-DBEB-4AC4-5AA0-3086562617CC}"/>
              </a:ext>
            </a:extLst>
          </p:cNvPr>
          <p:cNvSpPr txBox="1"/>
          <p:nvPr/>
        </p:nvSpPr>
        <p:spPr>
          <a:xfrm>
            <a:off x="11559500" y="1968599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 Q4</a:t>
            </a:r>
          </a:p>
        </p:txBody>
      </p:sp>
      <p:sp>
        <p:nvSpPr>
          <p:cNvPr id="872" name="m-p28_metro-sn-2-4">
            <a:extLst>
              <a:ext uri="{FF2B5EF4-FFF2-40B4-BE49-F238E27FC236}">
                <a16:creationId xmlns:a16="http://schemas.microsoft.com/office/drawing/2014/main" id="{94794AD8-D160-E627-3D2B-93C42DCF4566}"/>
              </a:ext>
            </a:extLst>
          </p:cNvPr>
          <p:cNvSpPr txBox="1"/>
          <p:nvPr/>
        </p:nvSpPr>
        <p:spPr>
          <a:xfrm>
            <a:off x="11998580" y="1821579"/>
            <a:ext cx="12002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海外首站</a:t>
            </a:r>
          </a:p>
        </p:txBody>
      </p:sp>
      <p:sp>
        <p:nvSpPr>
          <p:cNvPr id="873" name="m-p28_metro-stt-2-4">
            <a:extLst>
              <a:ext uri="{FF2B5EF4-FFF2-40B4-BE49-F238E27FC236}">
                <a16:creationId xmlns:a16="http://schemas.microsoft.com/office/drawing/2014/main" id="{70610155-1F77-3EBC-E1D2-6A616B9AA073}"/>
              </a:ext>
            </a:extLst>
          </p:cNvPr>
          <p:cNvSpPr txBox="1"/>
          <p:nvPr/>
        </p:nvSpPr>
        <p:spPr>
          <a:xfrm>
            <a:off x="12024875" y="1796768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27 Q2</a:t>
            </a:r>
          </a:p>
        </p:txBody>
      </p:sp>
      <p:sp>
        <p:nvSpPr>
          <p:cNvPr id="874" name="m-p28_metro-st-2-5">
            <a:extLst>
              <a:ext uri="{FF2B5EF4-FFF2-40B4-BE49-F238E27FC236}">
                <a16:creationId xmlns:a16="http://schemas.microsoft.com/office/drawing/2014/main" id="{326C3424-5B97-F51F-090F-7ABE1BE79C98}"/>
              </a:ext>
            </a:extLst>
          </p:cNvPr>
          <p:cNvSpPr/>
          <p:nvPr/>
        </p:nvSpPr>
        <p:spPr>
          <a:xfrm>
            <a:off x="12504440" y="1877854"/>
            <a:ext cx="39052" cy="39052"/>
          </a:xfrm>
          <a:prstGeom prst="ellipse">
            <a:avLst/>
          </a:prstGeom>
          <a:solidFill>
            <a:srgbClr val="FFFFFF"/>
          </a:solidFill>
          <a:ln w="781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75" name="m-p28_metro-sn-2-5">
            <a:extLst>
              <a:ext uri="{FF2B5EF4-FFF2-40B4-BE49-F238E27FC236}">
                <a16:creationId xmlns:a16="http://schemas.microsoft.com/office/drawing/2014/main" id="{BC839028-7EE5-E50D-1FE0-2D678956EFBA}"/>
              </a:ext>
            </a:extLst>
          </p:cNvPr>
          <p:cNvSpPr txBox="1"/>
          <p:nvPr/>
        </p:nvSpPr>
        <p:spPr>
          <a:xfrm>
            <a:off x="12447475" y="1933530"/>
            <a:ext cx="152982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全球 10 国</a:t>
            </a:r>
          </a:p>
        </p:txBody>
      </p:sp>
      <p:sp>
        <p:nvSpPr>
          <p:cNvPr id="876" name="m-p28_metro-stt-2-5">
            <a:extLst>
              <a:ext uri="{FF2B5EF4-FFF2-40B4-BE49-F238E27FC236}">
                <a16:creationId xmlns:a16="http://schemas.microsoft.com/office/drawing/2014/main" id="{650328D8-08AA-16E5-E3E9-FE8B146E2F1F}"/>
              </a:ext>
            </a:extLst>
          </p:cNvPr>
          <p:cNvSpPr txBox="1"/>
          <p:nvPr/>
        </p:nvSpPr>
        <p:spPr>
          <a:xfrm>
            <a:off x="12490251" y="1968599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27 Q4</a:t>
            </a:r>
          </a:p>
        </p:txBody>
      </p:sp>
      <p:sp>
        <p:nvSpPr>
          <p:cNvPr id="877" name="m-p28_metro-st-3-1">
            <a:extLst>
              <a:ext uri="{FF2B5EF4-FFF2-40B4-BE49-F238E27FC236}">
                <a16:creationId xmlns:a16="http://schemas.microsoft.com/office/drawing/2014/main" id="{083CFFA4-268B-00E1-80AD-149E679CDAC5}"/>
              </a:ext>
            </a:extLst>
          </p:cNvPr>
          <p:cNvSpPr/>
          <p:nvPr/>
        </p:nvSpPr>
        <p:spPr>
          <a:xfrm>
            <a:off x="10879530" y="2142109"/>
            <a:ext cx="31242" cy="31242"/>
          </a:xfrm>
          <a:prstGeom prst="ellipse">
            <a:avLst/>
          </a:prstGeom>
          <a:solidFill>
            <a:srgbClr val="FFFFFF"/>
          </a:solidFill>
          <a:ln w="6509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78" name="m-p28_metro-sn-3-1">
            <a:extLst>
              <a:ext uri="{FF2B5EF4-FFF2-40B4-BE49-F238E27FC236}">
                <a16:creationId xmlns:a16="http://schemas.microsoft.com/office/drawing/2014/main" id="{4D06A91E-20BA-EBD6-7B06-ADC06FCBE4BA}"/>
              </a:ext>
            </a:extLst>
          </p:cNvPr>
          <p:cNvSpPr txBox="1"/>
          <p:nvPr/>
        </p:nvSpPr>
        <p:spPr>
          <a:xfrm>
            <a:off x="10835141" y="2193880"/>
            <a:ext cx="12002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组建团队</a:t>
            </a:r>
          </a:p>
        </p:txBody>
      </p:sp>
      <p:sp>
        <p:nvSpPr>
          <p:cNvPr id="879" name="m-p28_metro-stt-3-1">
            <a:extLst>
              <a:ext uri="{FF2B5EF4-FFF2-40B4-BE49-F238E27FC236}">
                <a16:creationId xmlns:a16="http://schemas.microsoft.com/office/drawing/2014/main" id="{1629CD52-E66C-510A-A6B8-2879B56AFC59}"/>
              </a:ext>
            </a:extLst>
          </p:cNvPr>
          <p:cNvSpPr txBox="1"/>
          <p:nvPr/>
        </p:nvSpPr>
        <p:spPr>
          <a:xfrm>
            <a:off x="10861436" y="2228949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 Q1</a:t>
            </a:r>
          </a:p>
        </p:txBody>
      </p:sp>
      <p:sp>
        <p:nvSpPr>
          <p:cNvPr id="880" name="m-p28_metro-st-3-2">
            <a:extLst>
              <a:ext uri="{FF2B5EF4-FFF2-40B4-BE49-F238E27FC236}">
                <a16:creationId xmlns:a16="http://schemas.microsoft.com/office/drawing/2014/main" id="{C2BAB60E-E1F8-CC66-F855-883CAE987CB7}"/>
              </a:ext>
            </a:extLst>
          </p:cNvPr>
          <p:cNvSpPr/>
          <p:nvPr/>
        </p:nvSpPr>
        <p:spPr>
          <a:xfrm>
            <a:off x="11344906" y="2142109"/>
            <a:ext cx="31242" cy="31242"/>
          </a:xfrm>
          <a:prstGeom prst="ellipse">
            <a:avLst/>
          </a:prstGeom>
          <a:solidFill>
            <a:srgbClr val="FFFFFF"/>
          </a:solidFill>
          <a:ln w="6509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81" name="m-p28_metro-sn-3-2">
            <a:extLst>
              <a:ext uri="{FF2B5EF4-FFF2-40B4-BE49-F238E27FC236}">
                <a16:creationId xmlns:a16="http://schemas.microsoft.com/office/drawing/2014/main" id="{53D2E29D-1607-EF94-1961-8EDEE846448F}"/>
              </a:ext>
            </a:extLst>
          </p:cNvPr>
          <p:cNvSpPr txBox="1"/>
          <p:nvPr/>
        </p:nvSpPr>
        <p:spPr>
          <a:xfrm>
            <a:off x="11312883" y="2193880"/>
            <a:ext cx="95288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双中台</a:t>
            </a:r>
          </a:p>
        </p:txBody>
      </p:sp>
      <p:sp>
        <p:nvSpPr>
          <p:cNvPr id="882" name="m-p28_metro-stt-3-2">
            <a:extLst>
              <a:ext uri="{FF2B5EF4-FFF2-40B4-BE49-F238E27FC236}">
                <a16:creationId xmlns:a16="http://schemas.microsoft.com/office/drawing/2014/main" id="{49869580-07BF-155E-06A9-496ED8BAF5DE}"/>
              </a:ext>
            </a:extLst>
          </p:cNvPr>
          <p:cNvSpPr txBox="1"/>
          <p:nvPr/>
        </p:nvSpPr>
        <p:spPr>
          <a:xfrm>
            <a:off x="11326812" y="2228949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 Q3</a:t>
            </a:r>
          </a:p>
        </p:txBody>
      </p:sp>
      <p:sp>
        <p:nvSpPr>
          <p:cNvPr id="883" name="m-p28_metro-st-3-3">
            <a:extLst>
              <a:ext uri="{FF2B5EF4-FFF2-40B4-BE49-F238E27FC236}">
                <a16:creationId xmlns:a16="http://schemas.microsoft.com/office/drawing/2014/main" id="{1EE69B55-1C46-B79D-C2F6-F26EEFF9EED4}"/>
              </a:ext>
            </a:extLst>
          </p:cNvPr>
          <p:cNvSpPr/>
          <p:nvPr/>
        </p:nvSpPr>
        <p:spPr>
          <a:xfrm>
            <a:off x="11810282" y="2142109"/>
            <a:ext cx="31242" cy="31242"/>
          </a:xfrm>
          <a:prstGeom prst="ellipse">
            <a:avLst/>
          </a:prstGeom>
          <a:solidFill>
            <a:srgbClr val="FFFFFF"/>
          </a:solidFill>
          <a:ln w="6509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84" name="m-p28_metro-sn-3-3">
            <a:extLst>
              <a:ext uri="{FF2B5EF4-FFF2-40B4-BE49-F238E27FC236}">
                <a16:creationId xmlns:a16="http://schemas.microsoft.com/office/drawing/2014/main" id="{9A59D934-DE80-B3F1-254E-3F8BA42857AE}"/>
              </a:ext>
            </a:extLst>
          </p:cNvPr>
          <p:cNvSpPr txBox="1"/>
          <p:nvPr/>
        </p:nvSpPr>
        <p:spPr>
          <a:xfrm>
            <a:off x="11765892" y="2193880"/>
            <a:ext cx="12002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干部梯队</a:t>
            </a:r>
          </a:p>
        </p:txBody>
      </p:sp>
      <p:sp>
        <p:nvSpPr>
          <p:cNvPr id="885" name="m-p28_metro-stt-3-3">
            <a:extLst>
              <a:ext uri="{FF2B5EF4-FFF2-40B4-BE49-F238E27FC236}">
                <a16:creationId xmlns:a16="http://schemas.microsoft.com/office/drawing/2014/main" id="{5D9F26A5-15C4-1DAB-3E5D-659E533055A6}"/>
              </a:ext>
            </a:extLst>
          </p:cNvPr>
          <p:cNvSpPr txBox="1"/>
          <p:nvPr/>
        </p:nvSpPr>
        <p:spPr>
          <a:xfrm>
            <a:off x="11792187" y="2228949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27 Q1</a:t>
            </a:r>
          </a:p>
        </p:txBody>
      </p:sp>
      <p:sp>
        <p:nvSpPr>
          <p:cNvPr id="886" name="m-p28_metro-sn-3-4">
            <a:extLst>
              <a:ext uri="{FF2B5EF4-FFF2-40B4-BE49-F238E27FC236}">
                <a16:creationId xmlns:a16="http://schemas.microsoft.com/office/drawing/2014/main" id="{87A4604E-3FA5-F8F3-41F6-AA9452EFF58B}"/>
              </a:ext>
            </a:extLst>
          </p:cNvPr>
          <p:cNvSpPr txBox="1"/>
          <p:nvPr/>
        </p:nvSpPr>
        <p:spPr>
          <a:xfrm>
            <a:off x="11998580" y="2193880"/>
            <a:ext cx="12002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海外团队</a:t>
            </a:r>
          </a:p>
        </p:txBody>
      </p:sp>
      <p:sp>
        <p:nvSpPr>
          <p:cNvPr id="887" name="m-p28_metro-stt-3-4">
            <a:extLst>
              <a:ext uri="{FF2B5EF4-FFF2-40B4-BE49-F238E27FC236}">
                <a16:creationId xmlns:a16="http://schemas.microsoft.com/office/drawing/2014/main" id="{E3D76754-4776-A5F3-97B1-CB539C213F27}"/>
              </a:ext>
            </a:extLst>
          </p:cNvPr>
          <p:cNvSpPr txBox="1"/>
          <p:nvPr/>
        </p:nvSpPr>
        <p:spPr>
          <a:xfrm>
            <a:off x="12024875" y="2228949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27 Q2</a:t>
            </a:r>
          </a:p>
        </p:txBody>
      </p:sp>
      <p:sp>
        <p:nvSpPr>
          <p:cNvPr id="888" name="m-p28_metro-st-3-5">
            <a:extLst>
              <a:ext uri="{FF2B5EF4-FFF2-40B4-BE49-F238E27FC236}">
                <a16:creationId xmlns:a16="http://schemas.microsoft.com/office/drawing/2014/main" id="{DD97D54C-889A-93AF-B4FA-9A2C5774E3E9}"/>
              </a:ext>
            </a:extLst>
          </p:cNvPr>
          <p:cNvSpPr/>
          <p:nvPr/>
        </p:nvSpPr>
        <p:spPr>
          <a:xfrm>
            <a:off x="12504440" y="2138204"/>
            <a:ext cx="39052" cy="39052"/>
          </a:xfrm>
          <a:prstGeom prst="ellipse">
            <a:avLst/>
          </a:prstGeom>
          <a:solidFill>
            <a:srgbClr val="FFFFFF"/>
          </a:solidFill>
          <a:ln w="781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89" name="m-p28_metro-sn-3-5">
            <a:extLst>
              <a:ext uri="{FF2B5EF4-FFF2-40B4-BE49-F238E27FC236}">
                <a16:creationId xmlns:a16="http://schemas.microsoft.com/office/drawing/2014/main" id="{C47060F4-56FF-B255-6C99-013B48550A06}"/>
              </a:ext>
            </a:extLst>
          </p:cNvPr>
          <p:cNvSpPr txBox="1"/>
          <p:nvPr/>
        </p:nvSpPr>
        <p:spPr>
          <a:xfrm>
            <a:off x="12451589" y="2193880"/>
            <a:ext cx="144755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全球化组织</a:t>
            </a:r>
          </a:p>
        </p:txBody>
      </p:sp>
      <p:sp>
        <p:nvSpPr>
          <p:cNvPr id="890" name="m-p28_metro-stt-3-5">
            <a:extLst>
              <a:ext uri="{FF2B5EF4-FFF2-40B4-BE49-F238E27FC236}">
                <a16:creationId xmlns:a16="http://schemas.microsoft.com/office/drawing/2014/main" id="{0CB2E6DF-3358-2965-13C7-BB9733620DAD}"/>
              </a:ext>
            </a:extLst>
          </p:cNvPr>
          <p:cNvSpPr txBox="1"/>
          <p:nvPr/>
        </p:nvSpPr>
        <p:spPr>
          <a:xfrm>
            <a:off x="12490251" y="2228949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27 Q4</a:t>
            </a:r>
          </a:p>
        </p:txBody>
      </p:sp>
      <p:sp>
        <p:nvSpPr>
          <p:cNvPr id="891" name="m-p28_metro-sum">
            <a:extLst>
              <a:ext uri="{FF2B5EF4-FFF2-40B4-BE49-F238E27FC236}">
                <a16:creationId xmlns:a16="http://schemas.microsoft.com/office/drawing/2014/main" id="{459B0585-1033-21CF-B3EF-82602D3B737F}"/>
              </a:ext>
            </a:extLst>
          </p:cNvPr>
          <p:cNvSpPr/>
          <p:nvPr/>
        </p:nvSpPr>
        <p:spPr>
          <a:xfrm>
            <a:off x="10596562" y="2313940"/>
            <a:ext cx="2108835" cy="130175"/>
          </a:xfrm>
          <a:custGeom>
            <a:avLst/>
            <a:gdLst/>
            <a:ahLst/>
            <a:cxnLst/>
            <a:rect l="0" t="0" r="r" b="b"/>
            <a:pathLst>
              <a:path w="2108835" h="130175">
                <a:moveTo>
                  <a:pt x="20828" y="0"/>
                </a:moveTo>
                <a:lnTo>
                  <a:pt x="2088007" y="0"/>
                </a:lnTo>
                <a:cubicBezTo>
                  <a:pt x="2099501" y="0"/>
                  <a:pt x="2108835" y="9335"/>
                  <a:pt x="2108835" y="20828"/>
                </a:cubicBezTo>
                <a:lnTo>
                  <a:pt x="2108835" y="109347"/>
                </a:lnTo>
                <a:cubicBezTo>
                  <a:pt x="2108835" y="120841"/>
                  <a:pt x="2099501" y="130175"/>
                  <a:pt x="2088007" y="130175"/>
                </a:cubicBezTo>
                <a:lnTo>
                  <a:pt x="20828" y="130175"/>
                </a:lnTo>
                <a:cubicBezTo>
                  <a:pt x="9335" y="130175"/>
                  <a:pt x="0" y="120841"/>
                  <a:pt x="0" y="109347"/>
                </a:cubicBezTo>
                <a:lnTo>
                  <a:pt x="0" y="20828"/>
                </a:lnTo>
                <a:cubicBezTo>
                  <a:pt x="0" y="9335"/>
                  <a:pt x="9335" y="0"/>
                  <a:pt x="20828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92" name="m-p28_metro-sum-bar">
            <a:extLst>
              <a:ext uri="{FF2B5EF4-FFF2-40B4-BE49-F238E27FC236}">
                <a16:creationId xmlns:a16="http://schemas.microsoft.com/office/drawing/2014/main" id="{A8DD5148-2EAA-1040-D104-F2D0098099FA}"/>
              </a:ext>
            </a:extLst>
          </p:cNvPr>
          <p:cNvSpPr/>
          <p:nvPr/>
        </p:nvSpPr>
        <p:spPr>
          <a:xfrm>
            <a:off x="10596562" y="2313940"/>
            <a:ext cx="6509" cy="130175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93" name="m-p28_metro-sum-h">
            <a:extLst>
              <a:ext uri="{FF2B5EF4-FFF2-40B4-BE49-F238E27FC236}">
                <a16:creationId xmlns:a16="http://schemas.microsoft.com/office/drawing/2014/main" id="{FBDA3117-4CEE-CFD2-17E6-67253F085C82}"/>
              </a:ext>
            </a:extLst>
          </p:cNvPr>
          <p:cNvSpPr txBox="1"/>
          <p:nvPr/>
        </p:nvSpPr>
        <p:spPr>
          <a:xfrm>
            <a:off x="10635251" y="2338068"/>
            <a:ext cx="131607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读图方法</a:t>
            </a:r>
          </a:p>
        </p:txBody>
      </p:sp>
      <p:sp>
        <p:nvSpPr>
          <p:cNvPr id="894" name="m-p28_metro-sum-p">
            <a:extLst>
              <a:ext uri="{FF2B5EF4-FFF2-40B4-BE49-F238E27FC236}">
                <a16:creationId xmlns:a16="http://schemas.microsoft.com/office/drawing/2014/main" id="{A8D911E9-CC46-D668-C063-3F7D0315B03E}"/>
              </a:ext>
            </a:extLst>
          </p:cNvPr>
          <p:cNvSpPr txBox="1"/>
          <p:nvPr/>
        </p:nvSpPr>
        <p:spPr>
          <a:xfrm>
            <a:off x="10635485" y="2384739"/>
            <a:ext cx="1022460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每条线各自负责人推进；到达换乘站前一个月召开联席会，三条线任何一条没到站，换乘就推迟。</a:t>
            </a:r>
          </a:p>
        </p:txBody>
      </p:sp>
      <p:cxnSp>
        <p:nvCxnSpPr>
          <p:cNvPr id="895" name="m-p28_metro-foot-line">
            <a:extLst>
              <a:ext uri="{FF2B5EF4-FFF2-40B4-BE49-F238E27FC236}">
                <a16:creationId xmlns:a16="http://schemas.microsoft.com/office/drawing/2014/main" id="{1EAFD732-355D-1BAE-41BE-8B4ECE3F8E82}"/>
              </a:ext>
            </a:extLst>
          </p:cNvPr>
          <p:cNvCxnSpPr/>
          <p:nvPr/>
        </p:nvCxnSpPr>
        <p:spPr>
          <a:xfrm>
            <a:off x="10521061" y="24935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96" name="m-p28_metro-foot-l">
            <a:extLst>
              <a:ext uri="{FF2B5EF4-FFF2-40B4-BE49-F238E27FC236}">
                <a16:creationId xmlns:a16="http://schemas.microsoft.com/office/drawing/2014/main" id="{8FDFCC92-E688-84A9-9E12-EBEB92122CAE}"/>
              </a:ext>
            </a:extLst>
          </p:cNvPr>
          <p:cNvSpPr txBox="1"/>
          <p:nvPr/>
        </p:nvSpPr>
        <p:spPr>
          <a:xfrm>
            <a:off x="10518874" y="2507523"/>
            <a:ext cx="25464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地铁线路图 · 三条战略线</a:t>
            </a:r>
          </a:p>
        </p:txBody>
      </p:sp>
      <p:sp>
        <p:nvSpPr>
          <p:cNvPr id="897" name="m-p28_metro-foot-r">
            <a:extLst>
              <a:ext uri="{FF2B5EF4-FFF2-40B4-BE49-F238E27FC236}">
                <a16:creationId xmlns:a16="http://schemas.microsoft.com/office/drawing/2014/main" id="{BDB1CC59-4BA0-FD5E-D420-5BA9B3682E3E}"/>
              </a:ext>
            </a:extLst>
          </p:cNvPr>
          <p:cNvSpPr txBox="1"/>
          <p:nvPr/>
        </p:nvSpPr>
        <p:spPr>
          <a:xfrm>
            <a:off x="12523309" y="25075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898" name="mini-card-s03_honeycomb">
            <a:extLst>
              <a:ext uri="{FF2B5EF4-FFF2-40B4-BE49-F238E27FC236}">
                <a16:creationId xmlns:a16="http://schemas.microsoft.com/office/drawing/2014/main" id="{DD9A26FB-8F46-C6D2-1CCB-47E6A309394D}"/>
              </a:ext>
            </a:extLst>
          </p:cNvPr>
          <p:cNvSpPr/>
          <p:nvPr/>
        </p:nvSpPr>
        <p:spPr>
          <a:xfrm>
            <a:off x="-444500" y="27178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1" y="0"/>
                </a:moveTo>
                <a:lnTo>
                  <a:pt x="2419160" y="0"/>
                </a:lnTo>
                <a:cubicBezTo>
                  <a:pt x="2463482" y="0"/>
                  <a:pt x="2499360" y="35877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2" y="1405890"/>
                  <a:pt x="2419160" y="1405890"/>
                </a:cubicBezTo>
                <a:lnTo>
                  <a:pt x="80201" y="1405890"/>
                </a:lnTo>
                <a:cubicBezTo>
                  <a:pt x="35878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7"/>
                  <a:pt x="35878" y="0"/>
                  <a:pt x="80201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99" name="m-s03_honeycomb-title-bar">
            <a:extLst>
              <a:ext uri="{FF2B5EF4-FFF2-40B4-BE49-F238E27FC236}">
                <a16:creationId xmlns:a16="http://schemas.microsoft.com/office/drawing/2014/main" id="{754A10AE-370B-3287-A53A-9044DE1EA027}"/>
              </a:ext>
            </a:extLst>
          </p:cNvPr>
          <p:cNvSpPr/>
          <p:nvPr/>
        </p:nvSpPr>
        <p:spPr>
          <a:xfrm>
            <a:off x="-324739" y="28167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00" name="m-s03_honeycomb-title-bar-accent">
            <a:extLst>
              <a:ext uri="{FF2B5EF4-FFF2-40B4-BE49-F238E27FC236}">
                <a16:creationId xmlns:a16="http://schemas.microsoft.com/office/drawing/2014/main" id="{8BFA4BE7-D354-5016-DC99-264C656B942E}"/>
              </a:ext>
            </a:extLst>
          </p:cNvPr>
          <p:cNvSpPr/>
          <p:nvPr/>
        </p:nvSpPr>
        <p:spPr>
          <a:xfrm>
            <a:off x="-324739" y="28167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01" name="m-s03_honeycomb-title-cn">
            <a:extLst>
              <a:ext uri="{FF2B5EF4-FFF2-40B4-BE49-F238E27FC236}">
                <a16:creationId xmlns:a16="http://schemas.microsoft.com/office/drawing/2014/main" id="{0571A5C1-75B3-E0D0-637D-82ADE407542C}"/>
              </a:ext>
            </a:extLst>
          </p:cNvPr>
          <p:cNvSpPr txBox="1"/>
          <p:nvPr/>
        </p:nvSpPr>
        <p:spPr>
          <a:xfrm>
            <a:off x="-292560" y="2799368"/>
            <a:ext cx="426453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六大核心能力</a:t>
            </a:r>
          </a:p>
        </p:txBody>
      </p:sp>
      <p:sp>
        <p:nvSpPr>
          <p:cNvPr id="902" name="m-s03_honeycomb-title-en">
            <a:extLst>
              <a:ext uri="{FF2B5EF4-FFF2-40B4-BE49-F238E27FC236}">
                <a16:creationId xmlns:a16="http://schemas.microsoft.com/office/drawing/2014/main" id="{7E6E5F91-1F77-38B9-7DE1-A72A7A0F29BE}"/>
              </a:ext>
            </a:extLst>
          </p:cNvPr>
          <p:cNvSpPr txBox="1"/>
          <p:nvPr/>
        </p:nvSpPr>
        <p:spPr>
          <a:xfrm>
            <a:off x="-285270" y="2886650"/>
            <a:ext cx="33374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CORE CAPABILITIES</a:t>
            </a:r>
          </a:p>
        </p:txBody>
      </p:sp>
      <p:sp>
        <p:nvSpPr>
          <p:cNvPr id="903" name="m-s03_honeycomb-title-sub">
            <a:extLst>
              <a:ext uri="{FF2B5EF4-FFF2-40B4-BE49-F238E27FC236}">
                <a16:creationId xmlns:a16="http://schemas.microsoft.com/office/drawing/2014/main" id="{CB39B556-789A-E8FF-5380-1A5861C566C1}"/>
              </a:ext>
            </a:extLst>
          </p:cNvPr>
          <p:cNvSpPr txBox="1"/>
          <p:nvPr/>
        </p:nvSpPr>
        <p:spPr>
          <a:xfrm>
            <a:off x="1425776" y="2855792"/>
            <a:ext cx="511978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以中台能力为核心，六大板块协同支撑业务增长</a:t>
            </a:r>
          </a:p>
        </p:txBody>
      </p:sp>
      <p:sp>
        <p:nvSpPr>
          <p:cNvPr id="904" name="m-s03_honeycomb-hex-ghost">
            <a:extLst>
              <a:ext uri="{FF2B5EF4-FFF2-40B4-BE49-F238E27FC236}">
                <a16:creationId xmlns:a16="http://schemas.microsoft.com/office/drawing/2014/main" id="{540FA18C-4DEC-AD9D-2AFA-5C5A092E8A60}"/>
              </a:ext>
            </a:extLst>
          </p:cNvPr>
          <p:cNvSpPr/>
          <p:nvPr/>
        </p:nvSpPr>
        <p:spPr>
          <a:xfrm>
            <a:off x="1065848" y="3070257"/>
            <a:ext cx="302705" cy="339820"/>
          </a:xfrm>
          <a:custGeom>
            <a:avLst/>
            <a:gdLst/>
            <a:ahLst/>
            <a:cxnLst/>
            <a:rect l="0" t="0" r="r" b="b"/>
            <a:pathLst>
              <a:path w="302705" h="339820">
                <a:moveTo>
                  <a:pt x="302705" y="237776"/>
                </a:moveTo>
                <a:quadBezTo>
                  <a:pt x="302705" y="257270"/>
                  <a:pt x="285814" y="267049"/>
                </a:quadBezTo>
                <a:lnTo>
                  <a:pt x="168275" y="334931"/>
                </a:lnTo>
                <a:quadBezTo>
                  <a:pt x="151321" y="344710"/>
                  <a:pt x="134430" y="334931"/>
                </a:quadBezTo>
                <a:lnTo>
                  <a:pt x="16891" y="267049"/>
                </a:lnTo>
                <a:quadBezTo>
                  <a:pt x="0" y="257270"/>
                  <a:pt x="0" y="237776"/>
                </a:quadBezTo>
                <a:lnTo>
                  <a:pt x="0" y="102013"/>
                </a:lnTo>
                <a:quadBezTo>
                  <a:pt x="0" y="82518"/>
                  <a:pt x="16891" y="72739"/>
                </a:quadBezTo>
                <a:lnTo>
                  <a:pt x="134430" y="4858"/>
                </a:lnTo>
                <a:quadBezTo>
                  <a:pt x="151321" y="-4858"/>
                  <a:pt x="168275" y="4858"/>
                </a:quadBezTo>
                <a:lnTo>
                  <a:pt x="285814" y="72739"/>
                </a:lnTo>
                <a:quadBezTo>
                  <a:pt x="302705" y="82518"/>
                  <a:pt x="302705" y="102013"/>
                </a:quadBezTo>
                <a:close/>
              </a:path>
            </a:pathLst>
          </a:custGeom>
          <a:solidFill>
            <a:srgbClr val="1B5AA8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05" name="m-s03_honeycomb-hex-ghost">
            <a:extLst>
              <a:ext uri="{FF2B5EF4-FFF2-40B4-BE49-F238E27FC236}">
                <a16:creationId xmlns:a16="http://schemas.microsoft.com/office/drawing/2014/main" id="{F7983CB6-58EE-DDCA-0E72-794BED24C62E}"/>
              </a:ext>
            </a:extLst>
          </p:cNvPr>
          <p:cNvSpPr/>
          <p:nvPr/>
        </p:nvSpPr>
        <p:spPr>
          <a:xfrm>
            <a:off x="1065848" y="3545967"/>
            <a:ext cx="302705" cy="339820"/>
          </a:xfrm>
          <a:custGeom>
            <a:avLst/>
            <a:gdLst/>
            <a:ahLst/>
            <a:cxnLst/>
            <a:rect l="0" t="0" r="r" b="b"/>
            <a:pathLst>
              <a:path w="302705" h="339820">
                <a:moveTo>
                  <a:pt x="302705" y="237807"/>
                </a:moveTo>
                <a:quadBezTo>
                  <a:pt x="302705" y="257302"/>
                  <a:pt x="285814" y="267081"/>
                </a:quadBezTo>
                <a:lnTo>
                  <a:pt x="168275" y="334962"/>
                </a:lnTo>
                <a:quadBezTo>
                  <a:pt x="151321" y="344678"/>
                  <a:pt x="134430" y="334962"/>
                </a:quadBezTo>
                <a:lnTo>
                  <a:pt x="16891" y="267081"/>
                </a:lnTo>
                <a:quadBezTo>
                  <a:pt x="0" y="257302"/>
                  <a:pt x="0" y="237807"/>
                </a:quadBezTo>
                <a:lnTo>
                  <a:pt x="0" y="102044"/>
                </a:lnTo>
                <a:quadBezTo>
                  <a:pt x="0" y="82550"/>
                  <a:pt x="16891" y="72771"/>
                </a:quadBezTo>
                <a:lnTo>
                  <a:pt x="134430" y="4889"/>
                </a:lnTo>
                <a:quadBezTo>
                  <a:pt x="151321" y="-4890"/>
                  <a:pt x="168275" y="4889"/>
                </a:quadBezTo>
                <a:lnTo>
                  <a:pt x="285814" y="72771"/>
                </a:lnTo>
                <a:quadBezTo>
                  <a:pt x="302705" y="82550"/>
                  <a:pt x="302705" y="102044"/>
                </a:quadBezTo>
                <a:close/>
              </a:path>
            </a:pathLst>
          </a:custGeom>
          <a:solidFill>
            <a:srgbClr val="1B5AA8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06" name="m-s03_honeycomb-hex-ghost">
            <a:extLst>
              <a:ext uri="{FF2B5EF4-FFF2-40B4-BE49-F238E27FC236}">
                <a16:creationId xmlns:a16="http://schemas.microsoft.com/office/drawing/2014/main" id="{655D2AC9-F213-8BEB-BBEA-C9826DB610CD}"/>
              </a:ext>
            </a:extLst>
          </p:cNvPr>
          <p:cNvSpPr/>
          <p:nvPr/>
        </p:nvSpPr>
        <p:spPr>
          <a:xfrm>
            <a:off x="653796" y="3783870"/>
            <a:ext cx="302768" cy="339788"/>
          </a:xfrm>
          <a:custGeom>
            <a:avLst/>
            <a:gdLst/>
            <a:ahLst/>
            <a:cxnLst/>
            <a:rect l="0" t="0" r="r" b="b"/>
            <a:pathLst>
              <a:path w="302768" h="339788">
                <a:moveTo>
                  <a:pt x="302768" y="237776"/>
                </a:moveTo>
                <a:quadBezTo>
                  <a:pt x="302768" y="257270"/>
                  <a:pt x="285814" y="267049"/>
                </a:quadBezTo>
                <a:lnTo>
                  <a:pt x="168275" y="334931"/>
                </a:lnTo>
                <a:quadBezTo>
                  <a:pt x="151384" y="344646"/>
                  <a:pt x="134493" y="334931"/>
                </a:quadBezTo>
                <a:lnTo>
                  <a:pt x="16955" y="267049"/>
                </a:lnTo>
                <a:quadBezTo>
                  <a:pt x="0" y="257270"/>
                  <a:pt x="0" y="237776"/>
                </a:quadBezTo>
                <a:lnTo>
                  <a:pt x="0" y="102013"/>
                </a:lnTo>
                <a:quadBezTo>
                  <a:pt x="0" y="82518"/>
                  <a:pt x="16955" y="72739"/>
                </a:quadBezTo>
                <a:lnTo>
                  <a:pt x="134493" y="4858"/>
                </a:lnTo>
                <a:quadBezTo>
                  <a:pt x="151384" y="-4858"/>
                  <a:pt x="168275" y="4858"/>
                </a:quadBezTo>
                <a:lnTo>
                  <a:pt x="285814" y="72739"/>
                </a:lnTo>
                <a:quadBezTo>
                  <a:pt x="302768" y="82518"/>
                  <a:pt x="302768" y="102013"/>
                </a:quadBezTo>
                <a:close/>
              </a:path>
            </a:pathLst>
          </a:custGeom>
          <a:solidFill>
            <a:srgbClr val="1B5AA8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07" name="m-s03_honeycomb-hex-ghost">
            <a:extLst>
              <a:ext uri="{FF2B5EF4-FFF2-40B4-BE49-F238E27FC236}">
                <a16:creationId xmlns:a16="http://schemas.microsoft.com/office/drawing/2014/main" id="{7FF6AF26-B421-E1A8-21F4-13F6A41A1A1A}"/>
              </a:ext>
            </a:extLst>
          </p:cNvPr>
          <p:cNvSpPr/>
          <p:nvPr/>
        </p:nvSpPr>
        <p:spPr>
          <a:xfrm>
            <a:off x="241808" y="3545967"/>
            <a:ext cx="302704" cy="339820"/>
          </a:xfrm>
          <a:custGeom>
            <a:avLst/>
            <a:gdLst/>
            <a:ahLst/>
            <a:cxnLst/>
            <a:rect l="0" t="0" r="r" b="b"/>
            <a:pathLst>
              <a:path w="302704" h="339820">
                <a:moveTo>
                  <a:pt x="302704" y="237807"/>
                </a:moveTo>
                <a:quadBezTo>
                  <a:pt x="302704" y="257302"/>
                  <a:pt x="285814" y="267081"/>
                </a:quadBezTo>
                <a:lnTo>
                  <a:pt x="168275" y="334962"/>
                </a:lnTo>
                <a:quadBezTo>
                  <a:pt x="151384" y="344678"/>
                  <a:pt x="134430" y="334962"/>
                </a:quadBezTo>
                <a:lnTo>
                  <a:pt x="16891" y="267081"/>
                </a:lnTo>
                <a:quadBezTo>
                  <a:pt x="0" y="257302"/>
                  <a:pt x="0" y="237807"/>
                </a:quadBezTo>
                <a:lnTo>
                  <a:pt x="0" y="102044"/>
                </a:lnTo>
                <a:quadBezTo>
                  <a:pt x="0" y="82550"/>
                  <a:pt x="16891" y="72771"/>
                </a:quadBezTo>
                <a:lnTo>
                  <a:pt x="134430" y="4889"/>
                </a:lnTo>
                <a:quadBezTo>
                  <a:pt x="151384" y="-4890"/>
                  <a:pt x="168275" y="4889"/>
                </a:quadBezTo>
                <a:lnTo>
                  <a:pt x="285814" y="72771"/>
                </a:lnTo>
                <a:quadBezTo>
                  <a:pt x="302704" y="82550"/>
                  <a:pt x="302704" y="102044"/>
                </a:quadBezTo>
                <a:close/>
              </a:path>
            </a:pathLst>
          </a:custGeom>
          <a:solidFill>
            <a:srgbClr val="1B5AA8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08" name="m-s03_honeycomb-hex-ghost">
            <a:extLst>
              <a:ext uri="{FF2B5EF4-FFF2-40B4-BE49-F238E27FC236}">
                <a16:creationId xmlns:a16="http://schemas.microsoft.com/office/drawing/2014/main" id="{BDC03C2D-A640-E832-2DD7-A98D1DBD9DF9}"/>
              </a:ext>
            </a:extLst>
          </p:cNvPr>
          <p:cNvSpPr/>
          <p:nvPr/>
        </p:nvSpPr>
        <p:spPr>
          <a:xfrm>
            <a:off x="241808" y="3070257"/>
            <a:ext cx="302704" cy="339820"/>
          </a:xfrm>
          <a:custGeom>
            <a:avLst/>
            <a:gdLst/>
            <a:ahLst/>
            <a:cxnLst/>
            <a:rect l="0" t="0" r="r" b="b"/>
            <a:pathLst>
              <a:path w="302704" h="339820">
                <a:moveTo>
                  <a:pt x="302704" y="237776"/>
                </a:moveTo>
                <a:quadBezTo>
                  <a:pt x="302704" y="257270"/>
                  <a:pt x="285814" y="267049"/>
                </a:quadBezTo>
                <a:lnTo>
                  <a:pt x="168275" y="334931"/>
                </a:lnTo>
                <a:quadBezTo>
                  <a:pt x="151384" y="344710"/>
                  <a:pt x="134430" y="334931"/>
                </a:quadBezTo>
                <a:lnTo>
                  <a:pt x="16891" y="267049"/>
                </a:lnTo>
                <a:quadBezTo>
                  <a:pt x="0" y="257270"/>
                  <a:pt x="0" y="237776"/>
                </a:quadBezTo>
                <a:lnTo>
                  <a:pt x="0" y="102013"/>
                </a:lnTo>
                <a:quadBezTo>
                  <a:pt x="0" y="82518"/>
                  <a:pt x="16891" y="72739"/>
                </a:quadBezTo>
                <a:lnTo>
                  <a:pt x="134430" y="4858"/>
                </a:lnTo>
                <a:quadBezTo>
                  <a:pt x="151384" y="-4858"/>
                  <a:pt x="168275" y="4858"/>
                </a:quadBezTo>
                <a:lnTo>
                  <a:pt x="285814" y="72739"/>
                </a:lnTo>
                <a:quadBezTo>
                  <a:pt x="302704" y="82518"/>
                  <a:pt x="302704" y="102013"/>
                </a:quadBezTo>
                <a:close/>
              </a:path>
            </a:pathLst>
          </a:custGeom>
          <a:solidFill>
            <a:srgbClr val="1B5AA8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09" name="m-s03_honeycomb-hex-ghost">
            <a:extLst>
              <a:ext uri="{FF2B5EF4-FFF2-40B4-BE49-F238E27FC236}">
                <a16:creationId xmlns:a16="http://schemas.microsoft.com/office/drawing/2014/main" id="{2C5A58E8-4F7A-D64A-594E-A0BD998ACFED}"/>
              </a:ext>
            </a:extLst>
          </p:cNvPr>
          <p:cNvSpPr/>
          <p:nvPr/>
        </p:nvSpPr>
        <p:spPr>
          <a:xfrm>
            <a:off x="653796" y="2832386"/>
            <a:ext cx="302768" cy="339789"/>
          </a:xfrm>
          <a:custGeom>
            <a:avLst/>
            <a:gdLst/>
            <a:ahLst/>
            <a:cxnLst/>
            <a:rect l="0" t="0" r="r" b="b"/>
            <a:pathLst>
              <a:path w="302768" h="339789">
                <a:moveTo>
                  <a:pt x="302768" y="237776"/>
                </a:moveTo>
                <a:quadBezTo>
                  <a:pt x="302768" y="257270"/>
                  <a:pt x="285814" y="267049"/>
                </a:quadBezTo>
                <a:lnTo>
                  <a:pt x="168275" y="334931"/>
                </a:lnTo>
                <a:quadBezTo>
                  <a:pt x="151384" y="344646"/>
                  <a:pt x="134493" y="334931"/>
                </a:quadBezTo>
                <a:lnTo>
                  <a:pt x="16955" y="267049"/>
                </a:lnTo>
                <a:quadBezTo>
                  <a:pt x="0" y="257270"/>
                  <a:pt x="0" y="237776"/>
                </a:quadBezTo>
                <a:lnTo>
                  <a:pt x="0" y="102013"/>
                </a:lnTo>
                <a:quadBezTo>
                  <a:pt x="0" y="82518"/>
                  <a:pt x="16955" y="72739"/>
                </a:quadBezTo>
                <a:lnTo>
                  <a:pt x="134493" y="4858"/>
                </a:lnTo>
                <a:quadBezTo>
                  <a:pt x="151384" y="-4858"/>
                  <a:pt x="168275" y="4858"/>
                </a:quadBezTo>
                <a:lnTo>
                  <a:pt x="285814" y="72739"/>
                </a:lnTo>
                <a:quadBezTo>
                  <a:pt x="302768" y="82518"/>
                  <a:pt x="302768" y="102013"/>
                </a:quadBezTo>
                <a:close/>
              </a:path>
            </a:pathLst>
          </a:custGeom>
          <a:solidFill>
            <a:srgbClr val="1B5AA8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10" name="m-s03_honeycomb-hex-shadow">
            <a:extLst>
              <a:ext uri="{FF2B5EF4-FFF2-40B4-BE49-F238E27FC236}">
                <a16:creationId xmlns:a16="http://schemas.microsoft.com/office/drawing/2014/main" id="{453E3769-8F48-5ADD-0326-4C559703864B}"/>
              </a:ext>
            </a:extLst>
          </p:cNvPr>
          <p:cNvSpPr/>
          <p:nvPr/>
        </p:nvSpPr>
        <p:spPr>
          <a:xfrm>
            <a:off x="294894" y="3699320"/>
            <a:ext cx="1020572" cy="114554"/>
          </a:xfrm>
          <a:prstGeom prst="ellipse">
            <a:avLst/>
          </a:prstGeom>
          <a:solidFill>
            <a:srgbClr val="123A6B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11" name="m-s03_honeycomb-hex-core">
            <a:extLst>
              <a:ext uri="{FF2B5EF4-FFF2-40B4-BE49-F238E27FC236}">
                <a16:creationId xmlns:a16="http://schemas.microsoft.com/office/drawing/2014/main" id="{85DF4707-FF57-82D0-11EB-B866CF636ECB}"/>
              </a:ext>
            </a:extLst>
          </p:cNvPr>
          <p:cNvSpPr/>
          <p:nvPr/>
        </p:nvSpPr>
        <p:spPr>
          <a:xfrm>
            <a:off x="649288" y="3303556"/>
            <a:ext cx="311785" cy="348933"/>
          </a:xfrm>
          <a:custGeom>
            <a:avLst/>
            <a:gdLst/>
            <a:ahLst/>
            <a:cxnLst/>
            <a:rect l="0" t="0" r="r" b="b"/>
            <a:pathLst>
              <a:path w="311785" h="348933">
                <a:moveTo>
                  <a:pt x="311785" y="242348"/>
                </a:moveTo>
                <a:quadBezTo>
                  <a:pt x="311785" y="264446"/>
                  <a:pt x="292608" y="275495"/>
                </a:quadBezTo>
                <a:lnTo>
                  <a:pt x="175069" y="343376"/>
                </a:lnTo>
                <a:quadBezTo>
                  <a:pt x="155892" y="354489"/>
                  <a:pt x="136716" y="343376"/>
                </a:quadBezTo>
                <a:lnTo>
                  <a:pt x="19177" y="275495"/>
                </a:lnTo>
                <a:quadBezTo>
                  <a:pt x="0" y="264446"/>
                  <a:pt x="0" y="242348"/>
                </a:quadBezTo>
                <a:lnTo>
                  <a:pt x="0" y="106585"/>
                </a:lnTo>
                <a:quadBezTo>
                  <a:pt x="0" y="84487"/>
                  <a:pt x="19177" y="73438"/>
                </a:quadBezTo>
                <a:lnTo>
                  <a:pt x="136716" y="5556"/>
                </a:lnTo>
                <a:quadBezTo>
                  <a:pt x="155892" y="-5556"/>
                  <a:pt x="175069" y="5556"/>
                </a:quadBezTo>
                <a:lnTo>
                  <a:pt x="292608" y="73438"/>
                </a:lnTo>
                <a:quadBezTo>
                  <a:pt x="311785" y="84487"/>
                  <a:pt x="311785" y="106585"/>
                </a:quadBezTo>
                <a:close/>
              </a:path>
            </a:pathLst>
          </a:custGeom>
          <a:gradFill rotWithShape="1">
            <a:gsLst>
              <a:gs pos="0">
                <a:srgbClr val="1E62B0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12" name="m-s03_honeycomb-hex-01">
            <a:extLst>
              <a:ext uri="{FF2B5EF4-FFF2-40B4-BE49-F238E27FC236}">
                <a16:creationId xmlns:a16="http://schemas.microsoft.com/office/drawing/2014/main" id="{54BCA007-E753-5C73-B14C-9394AD9EBBF9}"/>
              </a:ext>
            </a:extLst>
          </p:cNvPr>
          <p:cNvSpPr/>
          <p:nvPr/>
        </p:nvSpPr>
        <p:spPr>
          <a:xfrm>
            <a:off x="786638" y="3065716"/>
            <a:ext cx="311722" cy="348901"/>
          </a:xfrm>
          <a:custGeom>
            <a:avLst/>
            <a:gdLst/>
            <a:ahLst/>
            <a:cxnLst/>
            <a:rect l="0" t="0" r="r" b="b"/>
            <a:pathLst>
              <a:path w="311722" h="348901">
                <a:moveTo>
                  <a:pt x="311722" y="242316"/>
                </a:moveTo>
                <a:quadBezTo>
                  <a:pt x="311722" y="264414"/>
                  <a:pt x="292608" y="275463"/>
                </a:quadBezTo>
                <a:lnTo>
                  <a:pt x="175069" y="343344"/>
                </a:lnTo>
                <a:quadBezTo>
                  <a:pt x="155893" y="354457"/>
                  <a:pt x="136716" y="343344"/>
                </a:quadBezTo>
                <a:lnTo>
                  <a:pt x="19177" y="275463"/>
                </a:lnTo>
                <a:quadBezTo>
                  <a:pt x="0" y="264414"/>
                  <a:pt x="0" y="242316"/>
                </a:quadBezTo>
                <a:lnTo>
                  <a:pt x="0" y="106553"/>
                </a:lnTo>
                <a:quadBezTo>
                  <a:pt x="0" y="84455"/>
                  <a:pt x="19177" y="73406"/>
                </a:quadBezTo>
                <a:lnTo>
                  <a:pt x="136716" y="5525"/>
                </a:lnTo>
                <a:quadBezTo>
                  <a:pt x="155893" y="-5525"/>
                  <a:pt x="175069" y="5525"/>
                </a:quadBezTo>
                <a:lnTo>
                  <a:pt x="292608" y="73406"/>
                </a:lnTo>
                <a:quadBezTo>
                  <a:pt x="311722" y="84455"/>
                  <a:pt x="311722" y="106553"/>
                </a:quadBezTo>
                <a:close/>
              </a:path>
            </a:pathLst>
          </a:custGeom>
          <a:gradFill rotWithShape="1">
            <a:gsLst>
              <a:gs pos="0">
                <a:srgbClr val="325DA1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13" name="m-s03_honeycomb-hex-02">
            <a:extLst>
              <a:ext uri="{FF2B5EF4-FFF2-40B4-BE49-F238E27FC236}">
                <a16:creationId xmlns:a16="http://schemas.microsoft.com/office/drawing/2014/main" id="{0E8F8983-1144-D4B8-F72B-1684C40781CB}"/>
              </a:ext>
            </a:extLst>
          </p:cNvPr>
          <p:cNvSpPr/>
          <p:nvPr/>
        </p:nvSpPr>
        <p:spPr>
          <a:xfrm>
            <a:off x="923988" y="3303556"/>
            <a:ext cx="311722" cy="348933"/>
          </a:xfrm>
          <a:custGeom>
            <a:avLst/>
            <a:gdLst/>
            <a:ahLst/>
            <a:cxnLst/>
            <a:rect l="0" t="0" r="r" b="b"/>
            <a:pathLst>
              <a:path w="311722" h="348933">
                <a:moveTo>
                  <a:pt x="311722" y="242348"/>
                </a:moveTo>
                <a:quadBezTo>
                  <a:pt x="311722" y="264446"/>
                  <a:pt x="292545" y="275495"/>
                </a:quadBezTo>
                <a:lnTo>
                  <a:pt x="175006" y="343376"/>
                </a:lnTo>
                <a:quadBezTo>
                  <a:pt x="155829" y="354489"/>
                  <a:pt x="136716" y="343376"/>
                </a:quadBezTo>
                <a:lnTo>
                  <a:pt x="19177" y="275495"/>
                </a:lnTo>
                <a:quadBezTo>
                  <a:pt x="0" y="264446"/>
                  <a:pt x="0" y="242348"/>
                </a:quadBezTo>
                <a:lnTo>
                  <a:pt x="0" y="106585"/>
                </a:lnTo>
                <a:quadBezTo>
                  <a:pt x="0" y="84487"/>
                  <a:pt x="19177" y="73438"/>
                </a:quadBezTo>
                <a:lnTo>
                  <a:pt x="136716" y="5556"/>
                </a:lnTo>
                <a:quadBezTo>
                  <a:pt x="155829" y="-5556"/>
                  <a:pt x="175006" y="5556"/>
                </a:quadBezTo>
                <a:lnTo>
                  <a:pt x="292545" y="73438"/>
                </a:lnTo>
                <a:quadBezTo>
                  <a:pt x="311722" y="84487"/>
                  <a:pt x="311722" y="106585"/>
                </a:quadBezTo>
                <a:close/>
              </a:path>
            </a:pathLst>
          </a:custGeom>
          <a:gradFill rotWithShape="1">
            <a:gsLst>
              <a:gs pos="0">
                <a:srgbClr val="3969AC"/>
              </a:gs>
              <a:gs pos="100000">
                <a:srgbClr val="134C9C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14" name="m-s03_honeycomb-hex-03">
            <a:extLst>
              <a:ext uri="{FF2B5EF4-FFF2-40B4-BE49-F238E27FC236}">
                <a16:creationId xmlns:a16="http://schemas.microsoft.com/office/drawing/2014/main" id="{B7EE7D41-8B6F-808F-47CC-80E9B42EDE47}"/>
              </a:ext>
            </a:extLst>
          </p:cNvPr>
          <p:cNvSpPr/>
          <p:nvPr/>
        </p:nvSpPr>
        <p:spPr>
          <a:xfrm>
            <a:off x="786638" y="3541427"/>
            <a:ext cx="311722" cy="348901"/>
          </a:xfrm>
          <a:custGeom>
            <a:avLst/>
            <a:gdLst/>
            <a:ahLst/>
            <a:cxnLst/>
            <a:rect l="0" t="0" r="r" b="b"/>
            <a:pathLst>
              <a:path w="311722" h="348901">
                <a:moveTo>
                  <a:pt x="311722" y="242348"/>
                </a:moveTo>
                <a:quadBezTo>
                  <a:pt x="311722" y="264446"/>
                  <a:pt x="292608" y="275495"/>
                </a:quadBezTo>
                <a:lnTo>
                  <a:pt x="175069" y="343376"/>
                </a:lnTo>
                <a:quadBezTo>
                  <a:pt x="155893" y="354425"/>
                  <a:pt x="136716" y="343376"/>
                </a:quadBezTo>
                <a:lnTo>
                  <a:pt x="19177" y="275495"/>
                </a:lnTo>
                <a:quadBezTo>
                  <a:pt x="0" y="264446"/>
                  <a:pt x="0" y="242348"/>
                </a:quadBezTo>
                <a:lnTo>
                  <a:pt x="0" y="106585"/>
                </a:lnTo>
                <a:quadBezTo>
                  <a:pt x="0" y="84487"/>
                  <a:pt x="19177" y="73438"/>
                </a:quadBezTo>
                <a:lnTo>
                  <a:pt x="136716" y="5556"/>
                </a:lnTo>
                <a:quadBezTo>
                  <a:pt x="155893" y="-5556"/>
                  <a:pt x="175069" y="5556"/>
                </a:quadBezTo>
                <a:lnTo>
                  <a:pt x="292608" y="73438"/>
                </a:lnTo>
                <a:quadBezTo>
                  <a:pt x="311722" y="84487"/>
                  <a:pt x="311722" y="106585"/>
                </a:quadBezTo>
                <a:close/>
              </a:path>
            </a:pathLst>
          </a:custGeom>
          <a:gradFill rotWithShape="1">
            <a:gsLst>
              <a:gs pos="0">
                <a:srgbClr val="4780C2"/>
              </a:gs>
              <a:gs pos="100000">
                <a:srgbClr val="2468B6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15" name="m-s03_honeycomb-hex-04">
            <a:extLst>
              <a:ext uri="{FF2B5EF4-FFF2-40B4-BE49-F238E27FC236}">
                <a16:creationId xmlns:a16="http://schemas.microsoft.com/office/drawing/2014/main" id="{62B8DAFF-D137-77DE-52F0-196A36654B53}"/>
              </a:ext>
            </a:extLst>
          </p:cNvPr>
          <p:cNvSpPr/>
          <p:nvPr/>
        </p:nvSpPr>
        <p:spPr>
          <a:xfrm>
            <a:off x="512000" y="3541427"/>
            <a:ext cx="311722" cy="348901"/>
          </a:xfrm>
          <a:custGeom>
            <a:avLst/>
            <a:gdLst/>
            <a:ahLst/>
            <a:cxnLst/>
            <a:rect l="0" t="0" r="r" b="b"/>
            <a:pathLst>
              <a:path w="311722" h="348901">
                <a:moveTo>
                  <a:pt x="311722" y="242348"/>
                </a:moveTo>
                <a:quadBezTo>
                  <a:pt x="311722" y="264446"/>
                  <a:pt x="292545" y="275495"/>
                </a:quadBezTo>
                <a:lnTo>
                  <a:pt x="175006" y="343376"/>
                </a:lnTo>
                <a:quadBezTo>
                  <a:pt x="155829" y="354425"/>
                  <a:pt x="136652" y="343376"/>
                </a:quadBezTo>
                <a:lnTo>
                  <a:pt x="19114" y="275495"/>
                </a:lnTo>
                <a:quadBezTo>
                  <a:pt x="0" y="264446"/>
                  <a:pt x="0" y="242348"/>
                </a:quadBezTo>
                <a:lnTo>
                  <a:pt x="0" y="106585"/>
                </a:lnTo>
                <a:quadBezTo>
                  <a:pt x="0" y="84487"/>
                  <a:pt x="19114" y="73438"/>
                </a:quadBezTo>
                <a:lnTo>
                  <a:pt x="136652" y="5556"/>
                </a:lnTo>
                <a:quadBezTo>
                  <a:pt x="155829" y="-5556"/>
                  <a:pt x="175006" y="5556"/>
                </a:quadBezTo>
                <a:lnTo>
                  <a:pt x="292545" y="73438"/>
                </a:lnTo>
                <a:quadBezTo>
                  <a:pt x="311722" y="84487"/>
                  <a:pt x="311722" y="106585"/>
                </a:quadBezTo>
                <a:close/>
              </a:path>
            </a:pathLst>
          </a:custGeom>
          <a:gradFill rotWithShape="1">
            <a:gsLst>
              <a:gs pos="0">
                <a:srgbClr val="4F8DCC"/>
              </a:gs>
              <a:gs pos="100000">
                <a:srgbClr val="2E77C2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16" name="m-s03_honeycomb-hex-05">
            <a:extLst>
              <a:ext uri="{FF2B5EF4-FFF2-40B4-BE49-F238E27FC236}">
                <a16:creationId xmlns:a16="http://schemas.microsoft.com/office/drawing/2014/main" id="{328939AD-698C-C738-CB78-30868E36C1B4}"/>
              </a:ext>
            </a:extLst>
          </p:cNvPr>
          <p:cNvSpPr/>
          <p:nvPr/>
        </p:nvSpPr>
        <p:spPr>
          <a:xfrm>
            <a:off x="374650" y="3303556"/>
            <a:ext cx="311722" cy="348933"/>
          </a:xfrm>
          <a:custGeom>
            <a:avLst/>
            <a:gdLst/>
            <a:ahLst/>
            <a:cxnLst/>
            <a:rect l="0" t="0" r="r" b="b"/>
            <a:pathLst>
              <a:path w="311722" h="348933">
                <a:moveTo>
                  <a:pt x="311722" y="242348"/>
                </a:moveTo>
                <a:quadBezTo>
                  <a:pt x="311722" y="264446"/>
                  <a:pt x="292544" y="275495"/>
                </a:quadBezTo>
                <a:lnTo>
                  <a:pt x="175006" y="343376"/>
                </a:lnTo>
                <a:quadBezTo>
                  <a:pt x="155829" y="354489"/>
                  <a:pt x="136716" y="343376"/>
                </a:quadBezTo>
                <a:lnTo>
                  <a:pt x="19177" y="275495"/>
                </a:lnTo>
                <a:quadBezTo>
                  <a:pt x="0" y="264446"/>
                  <a:pt x="0" y="242348"/>
                </a:quadBezTo>
                <a:lnTo>
                  <a:pt x="0" y="106585"/>
                </a:lnTo>
                <a:quadBezTo>
                  <a:pt x="0" y="84487"/>
                  <a:pt x="19177" y="73438"/>
                </a:quadBezTo>
                <a:lnTo>
                  <a:pt x="136716" y="5556"/>
                </a:lnTo>
                <a:quadBezTo>
                  <a:pt x="155829" y="-5556"/>
                  <a:pt x="175006" y="5556"/>
                </a:quadBezTo>
                <a:lnTo>
                  <a:pt x="292544" y="73438"/>
                </a:lnTo>
                <a:quadBezTo>
                  <a:pt x="311722" y="84487"/>
                  <a:pt x="311722" y="106585"/>
                </a:quadBezTo>
                <a:close/>
              </a:path>
            </a:pathLst>
          </a:custGeom>
          <a:gradFill rotWithShape="1">
            <a:gsLst>
              <a:gs pos="0">
                <a:srgbClr val="64A5DD"/>
              </a:gs>
              <a:gs pos="100000">
                <a:srgbClr val="4694D7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17" name="m-s03_honeycomb-hex-06">
            <a:extLst>
              <a:ext uri="{FF2B5EF4-FFF2-40B4-BE49-F238E27FC236}">
                <a16:creationId xmlns:a16="http://schemas.microsoft.com/office/drawing/2014/main" id="{83B5899C-7B87-90F5-EEDF-079F716CD8C4}"/>
              </a:ext>
            </a:extLst>
          </p:cNvPr>
          <p:cNvSpPr/>
          <p:nvPr/>
        </p:nvSpPr>
        <p:spPr>
          <a:xfrm>
            <a:off x="512000" y="3065716"/>
            <a:ext cx="311722" cy="348901"/>
          </a:xfrm>
          <a:custGeom>
            <a:avLst/>
            <a:gdLst/>
            <a:ahLst/>
            <a:cxnLst/>
            <a:rect l="0" t="0" r="r" b="b"/>
            <a:pathLst>
              <a:path w="311722" h="348901">
                <a:moveTo>
                  <a:pt x="311722" y="242316"/>
                </a:moveTo>
                <a:quadBezTo>
                  <a:pt x="311722" y="264414"/>
                  <a:pt x="292545" y="275463"/>
                </a:quadBezTo>
                <a:lnTo>
                  <a:pt x="175006" y="343344"/>
                </a:lnTo>
                <a:quadBezTo>
                  <a:pt x="155829" y="354457"/>
                  <a:pt x="136652" y="343344"/>
                </a:quadBezTo>
                <a:lnTo>
                  <a:pt x="19114" y="275463"/>
                </a:lnTo>
                <a:quadBezTo>
                  <a:pt x="0" y="264414"/>
                  <a:pt x="0" y="242316"/>
                </a:quadBezTo>
                <a:lnTo>
                  <a:pt x="0" y="106553"/>
                </a:lnTo>
                <a:quadBezTo>
                  <a:pt x="0" y="84455"/>
                  <a:pt x="19114" y="73406"/>
                </a:quadBezTo>
                <a:lnTo>
                  <a:pt x="136652" y="5525"/>
                </a:lnTo>
                <a:quadBezTo>
                  <a:pt x="155829" y="-5525"/>
                  <a:pt x="175006" y="5525"/>
                </a:quadBezTo>
                <a:lnTo>
                  <a:pt x="292545" y="73406"/>
                </a:lnTo>
                <a:quadBezTo>
                  <a:pt x="311722" y="84455"/>
                  <a:pt x="311722" y="106553"/>
                </a:quadBezTo>
                <a:close/>
              </a:path>
            </a:pathLst>
          </a:custGeom>
          <a:gradFill rotWithShape="1">
            <a:gsLst>
              <a:gs pos="0">
                <a:srgbClr val="6FB1E4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18" name="m-s03_honeycomb-join-0-1">
            <a:extLst>
              <a:ext uri="{FF2B5EF4-FFF2-40B4-BE49-F238E27FC236}">
                <a16:creationId xmlns:a16="http://schemas.microsoft.com/office/drawing/2014/main" id="{27FA080A-E235-7522-4898-9FF47E855EFD}"/>
              </a:ext>
            </a:extLst>
          </p:cNvPr>
          <p:cNvSpPr/>
          <p:nvPr/>
        </p:nvSpPr>
        <p:spPr>
          <a:xfrm>
            <a:off x="786638" y="3299301"/>
            <a:ext cx="174434" cy="119570"/>
          </a:xfrm>
          <a:custGeom>
            <a:avLst/>
            <a:gdLst/>
            <a:ahLst/>
            <a:cxnLst/>
            <a:rect l="0" t="0" r="r" b="b"/>
            <a:pathLst>
              <a:path w="174434" h="119570">
                <a:moveTo>
                  <a:pt x="0" y="14637"/>
                </a:moveTo>
                <a:quadBezTo>
                  <a:pt x="0" y="9430"/>
                  <a:pt x="4509" y="6826"/>
                </a:quadBezTo>
                <a:lnTo>
                  <a:pt x="14034" y="1302"/>
                </a:lnTo>
                <a:quadBezTo>
                  <a:pt x="18542" y="-1302"/>
                  <a:pt x="23051" y="1302"/>
                </a:quadBezTo>
                <a:lnTo>
                  <a:pt x="169926" y="86138"/>
                </a:lnTo>
                <a:quadBezTo>
                  <a:pt x="174434" y="88741"/>
                  <a:pt x="174434" y="93948"/>
                </a:quadBezTo>
                <a:lnTo>
                  <a:pt x="174434" y="104934"/>
                </a:lnTo>
                <a:quadBezTo>
                  <a:pt x="174434" y="110141"/>
                  <a:pt x="169926" y="112744"/>
                </a:quadBezTo>
                <a:lnTo>
                  <a:pt x="160401" y="118269"/>
                </a:lnTo>
                <a:quadBezTo>
                  <a:pt x="155893" y="120872"/>
                  <a:pt x="151384" y="118269"/>
                </a:quadBezTo>
                <a:lnTo>
                  <a:pt x="4509" y="33433"/>
                </a:lnTo>
                <a:quadBezTo>
                  <a:pt x="0" y="30829"/>
                  <a:pt x="0" y="25622"/>
                </a:quadBezTo>
                <a:close/>
              </a:path>
            </a:pathLst>
          </a:custGeom>
          <a:solidFill>
            <a:srgbClr val="082D7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19" name="m-s03_honeycomb-join-0-2">
            <a:extLst>
              <a:ext uri="{FF2B5EF4-FFF2-40B4-BE49-F238E27FC236}">
                <a16:creationId xmlns:a16="http://schemas.microsoft.com/office/drawing/2014/main" id="{EC7113FF-423C-756F-088F-9C2462A4F2D1}"/>
              </a:ext>
            </a:extLst>
          </p:cNvPr>
          <p:cNvSpPr/>
          <p:nvPr/>
        </p:nvSpPr>
        <p:spPr>
          <a:xfrm>
            <a:off x="923988" y="3378613"/>
            <a:ext cx="37084" cy="198818"/>
          </a:xfrm>
          <a:custGeom>
            <a:avLst/>
            <a:gdLst/>
            <a:ahLst/>
            <a:cxnLst/>
            <a:rect l="0" t="0" r="r" b="b"/>
            <a:pathLst>
              <a:path w="37084" h="198818">
                <a:moveTo>
                  <a:pt x="37084" y="184182"/>
                </a:moveTo>
                <a:quadBezTo>
                  <a:pt x="37084" y="189389"/>
                  <a:pt x="32575" y="191992"/>
                </a:quadBezTo>
                <a:lnTo>
                  <a:pt x="23050" y="197517"/>
                </a:lnTo>
                <a:quadBezTo>
                  <a:pt x="18542" y="200120"/>
                  <a:pt x="14034" y="197517"/>
                </a:quadBezTo>
                <a:lnTo>
                  <a:pt x="4509" y="191992"/>
                </a:lnTo>
                <a:quadBezTo>
                  <a:pt x="0" y="189389"/>
                  <a:pt x="0" y="184182"/>
                </a:quadBezTo>
                <a:lnTo>
                  <a:pt x="0" y="14637"/>
                </a:lnTo>
                <a:quadBezTo>
                  <a:pt x="0" y="9430"/>
                  <a:pt x="4509" y="6826"/>
                </a:quadBezTo>
                <a:lnTo>
                  <a:pt x="14034" y="1302"/>
                </a:lnTo>
                <a:quadBezTo>
                  <a:pt x="18542" y="-1302"/>
                  <a:pt x="23050" y="1302"/>
                </a:quadBezTo>
                <a:lnTo>
                  <a:pt x="32575" y="6826"/>
                </a:lnTo>
                <a:quadBezTo>
                  <a:pt x="37084" y="9430"/>
                  <a:pt x="37084" y="14637"/>
                </a:quadBezTo>
                <a:close/>
              </a:path>
            </a:pathLst>
          </a:custGeom>
          <a:solidFill>
            <a:srgbClr val="0A337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20" name="m-s03_honeycomb-join-0-3">
            <a:extLst>
              <a:ext uri="{FF2B5EF4-FFF2-40B4-BE49-F238E27FC236}">
                <a16:creationId xmlns:a16="http://schemas.microsoft.com/office/drawing/2014/main" id="{56C4E264-C136-53D9-9B48-FCA00768DC82}"/>
              </a:ext>
            </a:extLst>
          </p:cNvPr>
          <p:cNvSpPr/>
          <p:nvPr/>
        </p:nvSpPr>
        <p:spPr>
          <a:xfrm>
            <a:off x="786638" y="3537172"/>
            <a:ext cx="174434" cy="119570"/>
          </a:xfrm>
          <a:custGeom>
            <a:avLst/>
            <a:gdLst/>
            <a:ahLst/>
            <a:cxnLst/>
            <a:rect l="0" t="0" r="r" b="b"/>
            <a:pathLst>
              <a:path w="174434" h="119570">
                <a:moveTo>
                  <a:pt x="174434" y="25622"/>
                </a:moveTo>
                <a:quadBezTo>
                  <a:pt x="174434" y="30829"/>
                  <a:pt x="169926" y="33433"/>
                </a:quadBezTo>
                <a:lnTo>
                  <a:pt x="23051" y="118269"/>
                </a:lnTo>
                <a:quadBezTo>
                  <a:pt x="18542" y="120872"/>
                  <a:pt x="14034" y="118269"/>
                </a:quadBezTo>
                <a:lnTo>
                  <a:pt x="4509" y="112744"/>
                </a:lnTo>
                <a:quadBezTo>
                  <a:pt x="0" y="110141"/>
                  <a:pt x="0" y="104934"/>
                </a:quadBezTo>
                <a:lnTo>
                  <a:pt x="0" y="93948"/>
                </a:lnTo>
                <a:quadBezTo>
                  <a:pt x="0" y="88741"/>
                  <a:pt x="4509" y="86138"/>
                </a:quadBezTo>
                <a:lnTo>
                  <a:pt x="151384" y="1302"/>
                </a:lnTo>
                <a:quadBezTo>
                  <a:pt x="155893" y="-1302"/>
                  <a:pt x="160401" y="1302"/>
                </a:quadBezTo>
                <a:lnTo>
                  <a:pt x="169926" y="6826"/>
                </a:lnTo>
                <a:quadBezTo>
                  <a:pt x="174434" y="9430"/>
                  <a:pt x="174434" y="14637"/>
                </a:quadBezTo>
                <a:close/>
              </a:path>
            </a:pathLst>
          </a:custGeom>
          <a:solidFill>
            <a:srgbClr val="103F8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21" name="m-s03_honeycomb-join-0-4">
            <a:extLst>
              <a:ext uri="{FF2B5EF4-FFF2-40B4-BE49-F238E27FC236}">
                <a16:creationId xmlns:a16="http://schemas.microsoft.com/office/drawing/2014/main" id="{997CD38F-29D5-7A9E-10C2-8D7509ABA6A9}"/>
              </a:ext>
            </a:extLst>
          </p:cNvPr>
          <p:cNvSpPr/>
          <p:nvPr/>
        </p:nvSpPr>
        <p:spPr>
          <a:xfrm>
            <a:off x="649288" y="3537172"/>
            <a:ext cx="174434" cy="119570"/>
          </a:xfrm>
          <a:custGeom>
            <a:avLst/>
            <a:gdLst/>
            <a:ahLst/>
            <a:cxnLst/>
            <a:rect l="0" t="0" r="r" b="b"/>
            <a:pathLst>
              <a:path w="174434" h="119570">
                <a:moveTo>
                  <a:pt x="174434" y="104934"/>
                </a:moveTo>
                <a:quadBezTo>
                  <a:pt x="174434" y="110141"/>
                  <a:pt x="169926" y="112744"/>
                </a:quadBezTo>
                <a:lnTo>
                  <a:pt x="160401" y="118269"/>
                </a:lnTo>
                <a:quadBezTo>
                  <a:pt x="155892" y="120872"/>
                  <a:pt x="151384" y="118269"/>
                </a:quadBezTo>
                <a:lnTo>
                  <a:pt x="4508" y="33433"/>
                </a:lnTo>
                <a:quadBezTo>
                  <a:pt x="0" y="30829"/>
                  <a:pt x="0" y="25622"/>
                </a:quadBezTo>
                <a:lnTo>
                  <a:pt x="0" y="14637"/>
                </a:lnTo>
                <a:quadBezTo>
                  <a:pt x="0" y="9430"/>
                  <a:pt x="4508" y="6826"/>
                </a:quadBezTo>
                <a:lnTo>
                  <a:pt x="14033" y="1302"/>
                </a:lnTo>
                <a:quadBezTo>
                  <a:pt x="18542" y="-1302"/>
                  <a:pt x="23050" y="1302"/>
                </a:quadBezTo>
                <a:lnTo>
                  <a:pt x="169926" y="86138"/>
                </a:lnTo>
                <a:quadBezTo>
                  <a:pt x="174434" y="88741"/>
                  <a:pt x="174434" y="93948"/>
                </a:quadBezTo>
                <a:close/>
              </a:path>
            </a:pathLst>
          </a:custGeom>
          <a:solidFill>
            <a:srgbClr val="13449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22" name="m-s03_honeycomb-join-0-5">
            <a:extLst>
              <a:ext uri="{FF2B5EF4-FFF2-40B4-BE49-F238E27FC236}">
                <a16:creationId xmlns:a16="http://schemas.microsoft.com/office/drawing/2014/main" id="{950892F8-1D87-C76D-B516-46FAB690C74E}"/>
              </a:ext>
            </a:extLst>
          </p:cNvPr>
          <p:cNvSpPr/>
          <p:nvPr/>
        </p:nvSpPr>
        <p:spPr>
          <a:xfrm>
            <a:off x="649288" y="3378613"/>
            <a:ext cx="37084" cy="198818"/>
          </a:xfrm>
          <a:custGeom>
            <a:avLst/>
            <a:gdLst/>
            <a:ahLst/>
            <a:cxnLst/>
            <a:rect l="0" t="0" r="r" b="b"/>
            <a:pathLst>
              <a:path w="37084" h="198818">
                <a:moveTo>
                  <a:pt x="23050" y="197517"/>
                </a:moveTo>
                <a:quadBezTo>
                  <a:pt x="18542" y="200120"/>
                  <a:pt x="14033" y="197517"/>
                </a:quadBezTo>
                <a:lnTo>
                  <a:pt x="4508" y="191992"/>
                </a:lnTo>
                <a:quadBezTo>
                  <a:pt x="0" y="189389"/>
                  <a:pt x="0" y="184182"/>
                </a:quadBezTo>
                <a:lnTo>
                  <a:pt x="0" y="14637"/>
                </a:lnTo>
                <a:quadBezTo>
                  <a:pt x="0" y="9430"/>
                  <a:pt x="4508" y="6826"/>
                </a:quadBezTo>
                <a:lnTo>
                  <a:pt x="14033" y="1302"/>
                </a:lnTo>
                <a:quadBezTo>
                  <a:pt x="18542" y="-1302"/>
                  <a:pt x="23050" y="1302"/>
                </a:quadBezTo>
                <a:lnTo>
                  <a:pt x="32575" y="6826"/>
                </a:lnTo>
                <a:quadBezTo>
                  <a:pt x="37084" y="9430"/>
                  <a:pt x="37084" y="14637"/>
                </a:quadBezTo>
                <a:lnTo>
                  <a:pt x="37084" y="184182"/>
                </a:lnTo>
                <a:quadBezTo>
                  <a:pt x="37084" y="189389"/>
                  <a:pt x="32575" y="191992"/>
                </a:quadBezTo>
                <a:close/>
              </a:path>
            </a:pathLst>
          </a:custGeom>
          <a:solidFill>
            <a:srgbClr val="1A509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23" name="m-s03_honeycomb-join-0-6">
            <a:extLst>
              <a:ext uri="{FF2B5EF4-FFF2-40B4-BE49-F238E27FC236}">
                <a16:creationId xmlns:a16="http://schemas.microsoft.com/office/drawing/2014/main" id="{4F7F03CF-EE63-6A2E-CABF-E8A0ADA971CE}"/>
              </a:ext>
            </a:extLst>
          </p:cNvPr>
          <p:cNvSpPr/>
          <p:nvPr/>
        </p:nvSpPr>
        <p:spPr>
          <a:xfrm>
            <a:off x="649288" y="3299301"/>
            <a:ext cx="174434" cy="119570"/>
          </a:xfrm>
          <a:custGeom>
            <a:avLst/>
            <a:gdLst/>
            <a:ahLst/>
            <a:cxnLst/>
            <a:rect l="0" t="0" r="r" b="b"/>
            <a:pathLst>
              <a:path w="174434" h="119570">
                <a:moveTo>
                  <a:pt x="4508" y="112744"/>
                </a:moveTo>
                <a:quadBezTo>
                  <a:pt x="0" y="110141"/>
                  <a:pt x="0" y="104934"/>
                </a:quadBezTo>
                <a:lnTo>
                  <a:pt x="0" y="93948"/>
                </a:lnTo>
                <a:quadBezTo>
                  <a:pt x="0" y="88741"/>
                  <a:pt x="4508" y="86138"/>
                </a:quadBezTo>
                <a:lnTo>
                  <a:pt x="151384" y="1302"/>
                </a:lnTo>
                <a:quadBezTo>
                  <a:pt x="155892" y="-1302"/>
                  <a:pt x="160401" y="1302"/>
                </a:quadBezTo>
                <a:lnTo>
                  <a:pt x="169926" y="6826"/>
                </a:lnTo>
                <a:quadBezTo>
                  <a:pt x="174434" y="9430"/>
                  <a:pt x="174434" y="14637"/>
                </a:quadBezTo>
                <a:lnTo>
                  <a:pt x="174434" y="25622"/>
                </a:lnTo>
                <a:quadBezTo>
                  <a:pt x="174434" y="30829"/>
                  <a:pt x="169926" y="33433"/>
                </a:quadBezTo>
                <a:lnTo>
                  <a:pt x="23050" y="118269"/>
                </a:lnTo>
                <a:quadBezTo>
                  <a:pt x="18542" y="120872"/>
                  <a:pt x="14033" y="118269"/>
                </a:quadBezTo>
                <a:close/>
              </a:path>
            </a:pathLst>
          </a:custGeom>
          <a:solidFill>
            <a:srgbClr val="1F56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24" name="m-s03_honeycomb-join-1-2">
            <a:extLst>
              <a:ext uri="{FF2B5EF4-FFF2-40B4-BE49-F238E27FC236}">
                <a16:creationId xmlns:a16="http://schemas.microsoft.com/office/drawing/2014/main" id="{3AA90283-0077-15A2-472E-B3FD44C2E566}"/>
              </a:ext>
            </a:extLst>
          </p:cNvPr>
          <p:cNvSpPr/>
          <p:nvPr/>
        </p:nvSpPr>
        <p:spPr>
          <a:xfrm>
            <a:off x="923988" y="3299301"/>
            <a:ext cx="174371" cy="119570"/>
          </a:xfrm>
          <a:custGeom>
            <a:avLst/>
            <a:gdLst/>
            <a:ahLst/>
            <a:cxnLst/>
            <a:rect l="0" t="0" r="r" b="b"/>
            <a:pathLst>
              <a:path w="174371" h="119570">
                <a:moveTo>
                  <a:pt x="174371" y="25622"/>
                </a:moveTo>
                <a:quadBezTo>
                  <a:pt x="174371" y="30829"/>
                  <a:pt x="169862" y="33433"/>
                </a:quadBezTo>
                <a:lnTo>
                  <a:pt x="23050" y="118269"/>
                </a:lnTo>
                <a:quadBezTo>
                  <a:pt x="18542" y="120872"/>
                  <a:pt x="14034" y="118269"/>
                </a:quadBezTo>
                <a:lnTo>
                  <a:pt x="4509" y="112744"/>
                </a:lnTo>
                <a:quadBezTo>
                  <a:pt x="0" y="110141"/>
                  <a:pt x="0" y="104934"/>
                </a:quadBezTo>
                <a:lnTo>
                  <a:pt x="0" y="93948"/>
                </a:lnTo>
                <a:quadBezTo>
                  <a:pt x="0" y="88741"/>
                  <a:pt x="4509" y="86138"/>
                </a:quadBezTo>
                <a:lnTo>
                  <a:pt x="151384" y="1302"/>
                </a:lnTo>
                <a:quadBezTo>
                  <a:pt x="155829" y="-1302"/>
                  <a:pt x="160338" y="1302"/>
                </a:quadBezTo>
                <a:lnTo>
                  <a:pt x="169862" y="6826"/>
                </a:lnTo>
                <a:quadBezTo>
                  <a:pt x="174371" y="9430"/>
                  <a:pt x="174371" y="14637"/>
                </a:quadBezTo>
                <a:close/>
              </a:path>
            </a:pathLst>
          </a:custGeom>
          <a:solidFill>
            <a:srgbClr val="09307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25" name="m-s03_honeycomb-join-1-6">
            <a:extLst>
              <a:ext uri="{FF2B5EF4-FFF2-40B4-BE49-F238E27FC236}">
                <a16:creationId xmlns:a16="http://schemas.microsoft.com/office/drawing/2014/main" id="{893F0107-7258-6C2B-8893-6646BFB2E9DE}"/>
              </a:ext>
            </a:extLst>
          </p:cNvPr>
          <p:cNvSpPr/>
          <p:nvPr/>
        </p:nvSpPr>
        <p:spPr>
          <a:xfrm>
            <a:off x="786638" y="3140742"/>
            <a:ext cx="37084" cy="198818"/>
          </a:xfrm>
          <a:custGeom>
            <a:avLst/>
            <a:gdLst/>
            <a:ahLst/>
            <a:cxnLst/>
            <a:rect l="0" t="0" r="r" b="b"/>
            <a:pathLst>
              <a:path w="37084" h="198818">
                <a:moveTo>
                  <a:pt x="23051" y="197517"/>
                </a:moveTo>
                <a:quadBezTo>
                  <a:pt x="18542" y="200120"/>
                  <a:pt x="14034" y="197517"/>
                </a:quadBezTo>
                <a:lnTo>
                  <a:pt x="4509" y="191992"/>
                </a:lnTo>
                <a:quadBezTo>
                  <a:pt x="0" y="189389"/>
                  <a:pt x="0" y="184182"/>
                </a:quadBezTo>
                <a:lnTo>
                  <a:pt x="0" y="14637"/>
                </a:lnTo>
                <a:quadBezTo>
                  <a:pt x="0" y="9430"/>
                  <a:pt x="4509" y="6826"/>
                </a:quadBezTo>
                <a:lnTo>
                  <a:pt x="14034" y="1302"/>
                </a:lnTo>
                <a:quadBezTo>
                  <a:pt x="18542" y="-1302"/>
                  <a:pt x="23051" y="1302"/>
                </a:quadBezTo>
                <a:lnTo>
                  <a:pt x="32575" y="6826"/>
                </a:lnTo>
                <a:quadBezTo>
                  <a:pt x="37084" y="9430"/>
                  <a:pt x="37084" y="14637"/>
                </a:quadBezTo>
                <a:lnTo>
                  <a:pt x="37084" y="184182"/>
                </a:lnTo>
                <a:quadBezTo>
                  <a:pt x="37084" y="189389"/>
                  <a:pt x="32575" y="191992"/>
                </a:quadBezTo>
                <a:close/>
              </a:path>
            </a:pathLst>
          </a:custGeom>
          <a:solidFill>
            <a:srgbClr val="1E519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26" name="m-s03_honeycomb-join-2-3">
            <a:extLst>
              <a:ext uri="{FF2B5EF4-FFF2-40B4-BE49-F238E27FC236}">
                <a16:creationId xmlns:a16="http://schemas.microsoft.com/office/drawing/2014/main" id="{696EDC0F-ABC0-CE1A-A7B5-C871AE6F7CBA}"/>
              </a:ext>
            </a:extLst>
          </p:cNvPr>
          <p:cNvSpPr/>
          <p:nvPr/>
        </p:nvSpPr>
        <p:spPr>
          <a:xfrm>
            <a:off x="923988" y="3537172"/>
            <a:ext cx="174371" cy="119570"/>
          </a:xfrm>
          <a:custGeom>
            <a:avLst/>
            <a:gdLst/>
            <a:ahLst/>
            <a:cxnLst/>
            <a:rect l="0" t="0" r="r" b="b"/>
            <a:pathLst>
              <a:path w="174371" h="119570">
                <a:moveTo>
                  <a:pt x="174371" y="104934"/>
                </a:moveTo>
                <a:quadBezTo>
                  <a:pt x="174371" y="110141"/>
                  <a:pt x="169862" y="112744"/>
                </a:quadBezTo>
                <a:lnTo>
                  <a:pt x="160338" y="118269"/>
                </a:lnTo>
                <a:quadBezTo>
                  <a:pt x="155829" y="120872"/>
                  <a:pt x="151384" y="118269"/>
                </a:quadBezTo>
                <a:lnTo>
                  <a:pt x="4509" y="33433"/>
                </a:lnTo>
                <a:quadBezTo>
                  <a:pt x="0" y="30829"/>
                  <a:pt x="0" y="25622"/>
                </a:quadBezTo>
                <a:lnTo>
                  <a:pt x="0" y="14637"/>
                </a:lnTo>
                <a:quadBezTo>
                  <a:pt x="0" y="9430"/>
                  <a:pt x="4509" y="6826"/>
                </a:quadBezTo>
                <a:lnTo>
                  <a:pt x="14034" y="1302"/>
                </a:lnTo>
                <a:quadBezTo>
                  <a:pt x="18542" y="-1302"/>
                  <a:pt x="23050" y="1302"/>
                </a:quadBezTo>
                <a:lnTo>
                  <a:pt x="169862" y="86138"/>
                </a:lnTo>
                <a:quadBezTo>
                  <a:pt x="174371" y="88741"/>
                  <a:pt x="174371" y="93948"/>
                </a:quadBezTo>
                <a:close/>
              </a:path>
            </a:pathLst>
          </a:custGeom>
          <a:solidFill>
            <a:srgbClr val="1241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27" name="m-s03_honeycomb-join-3-4">
            <a:extLst>
              <a:ext uri="{FF2B5EF4-FFF2-40B4-BE49-F238E27FC236}">
                <a16:creationId xmlns:a16="http://schemas.microsoft.com/office/drawing/2014/main" id="{CF760627-03E4-9C3C-7108-0DC8D56590F3}"/>
              </a:ext>
            </a:extLst>
          </p:cNvPr>
          <p:cNvSpPr/>
          <p:nvPr/>
        </p:nvSpPr>
        <p:spPr>
          <a:xfrm>
            <a:off x="786638" y="3616484"/>
            <a:ext cx="37084" cy="198818"/>
          </a:xfrm>
          <a:custGeom>
            <a:avLst/>
            <a:gdLst/>
            <a:ahLst/>
            <a:cxnLst/>
            <a:rect l="0" t="0" r="r" b="b"/>
            <a:pathLst>
              <a:path w="37084" h="198818">
                <a:moveTo>
                  <a:pt x="23051" y="197517"/>
                </a:moveTo>
                <a:quadBezTo>
                  <a:pt x="18542" y="200120"/>
                  <a:pt x="14034" y="197517"/>
                </a:quadBezTo>
                <a:lnTo>
                  <a:pt x="4509" y="191992"/>
                </a:lnTo>
                <a:quadBezTo>
                  <a:pt x="0" y="189389"/>
                  <a:pt x="0" y="184182"/>
                </a:quadBezTo>
                <a:lnTo>
                  <a:pt x="0" y="14637"/>
                </a:lnTo>
                <a:quadBezTo>
                  <a:pt x="0" y="9430"/>
                  <a:pt x="4509" y="6826"/>
                </a:quadBezTo>
                <a:lnTo>
                  <a:pt x="14034" y="1302"/>
                </a:lnTo>
                <a:quadBezTo>
                  <a:pt x="18542" y="-1302"/>
                  <a:pt x="23051" y="1302"/>
                </a:quadBezTo>
                <a:lnTo>
                  <a:pt x="32575" y="6826"/>
                </a:lnTo>
                <a:quadBezTo>
                  <a:pt x="37084" y="9430"/>
                  <a:pt x="37084" y="14637"/>
                </a:quadBezTo>
                <a:lnTo>
                  <a:pt x="37084" y="184182"/>
                </a:lnTo>
                <a:quadBezTo>
                  <a:pt x="37084" y="189389"/>
                  <a:pt x="32575" y="191992"/>
                </a:quadBezTo>
                <a:close/>
              </a:path>
            </a:pathLst>
          </a:custGeom>
          <a:solidFill>
            <a:srgbClr val="1A56A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28" name="m-s03_honeycomb-join-4-5">
            <a:extLst>
              <a:ext uri="{FF2B5EF4-FFF2-40B4-BE49-F238E27FC236}">
                <a16:creationId xmlns:a16="http://schemas.microsoft.com/office/drawing/2014/main" id="{7FF0330F-A7BD-C792-5954-E2EB0B366458}"/>
              </a:ext>
            </a:extLst>
          </p:cNvPr>
          <p:cNvSpPr/>
          <p:nvPr/>
        </p:nvSpPr>
        <p:spPr>
          <a:xfrm>
            <a:off x="512000" y="3537172"/>
            <a:ext cx="174371" cy="119570"/>
          </a:xfrm>
          <a:custGeom>
            <a:avLst/>
            <a:gdLst/>
            <a:ahLst/>
            <a:cxnLst/>
            <a:rect l="0" t="0" r="r" b="b"/>
            <a:pathLst>
              <a:path w="174371" h="119570">
                <a:moveTo>
                  <a:pt x="4509" y="112744"/>
                </a:moveTo>
                <a:quadBezTo>
                  <a:pt x="0" y="110141"/>
                  <a:pt x="0" y="104934"/>
                </a:quadBezTo>
                <a:lnTo>
                  <a:pt x="0" y="93948"/>
                </a:lnTo>
                <a:quadBezTo>
                  <a:pt x="0" y="88741"/>
                  <a:pt x="4509" y="86138"/>
                </a:quadBezTo>
                <a:lnTo>
                  <a:pt x="151320" y="1302"/>
                </a:lnTo>
                <a:quadBezTo>
                  <a:pt x="155829" y="-1302"/>
                  <a:pt x="160338" y="1302"/>
                </a:quadBezTo>
                <a:lnTo>
                  <a:pt x="169862" y="6826"/>
                </a:lnTo>
                <a:quadBezTo>
                  <a:pt x="174371" y="9430"/>
                  <a:pt x="174371" y="14637"/>
                </a:quadBezTo>
                <a:lnTo>
                  <a:pt x="174371" y="25622"/>
                </a:lnTo>
                <a:quadBezTo>
                  <a:pt x="174371" y="30829"/>
                  <a:pt x="169862" y="33433"/>
                </a:quadBezTo>
                <a:lnTo>
                  <a:pt x="22987" y="118269"/>
                </a:lnTo>
                <a:quadBezTo>
                  <a:pt x="18479" y="120872"/>
                  <a:pt x="14034" y="118269"/>
                </a:quadBezTo>
                <a:close/>
              </a:path>
            </a:pathLst>
          </a:custGeom>
          <a:solidFill>
            <a:srgbClr val="276BB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29" name="m-s03_honeycomb-join-5-6">
            <a:extLst>
              <a:ext uri="{FF2B5EF4-FFF2-40B4-BE49-F238E27FC236}">
                <a16:creationId xmlns:a16="http://schemas.microsoft.com/office/drawing/2014/main" id="{4AEE8AC7-7FB3-DC92-8360-BF09430F48EB}"/>
              </a:ext>
            </a:extLst>
          </p:cNvPr>
          <p:cNvSpPr/>
          <p:nvPr/>
        </p:nvSpPr>
        <p:spPr>
          <a:xfrm>
            <a:off x="512000" y="3299301"/>
            <a:ext cx="174371" cy="119570"/>
          </a:xfrm>
          <a:custGeom>
            <a:avLst/>
            <a:gdLst/>
            <a:ahLst/>
            <a:cxnLst/>
            <a:rect l="0" t="0" r="r" b="b"/>
            <a:pathLst>
              <a:path w="174371" h="119570">
                <a:moveTo>
                  <a:pt x="0" y="14637"/>
                </a:moveTo>
                <a:quadBezTo>
                  <a:pt x="0" y="9430"/>
                  <a:pt x="4509" y="6826"/>
                </a:quadBezTo>
                <a:lnTo>
                  <a:pt x="14034" y="1302"/>
                </a:lnTo>
                <a:quadBezTo>
                  <a:pt x="18479" y="-1302"/>
                  <a:pt x="22987" y="1302"/>
                </a:quadBezTo>
                <a:lnTo>
                  <a:pt x="169862" y="86138"/>
                </a:lnTo>
                <a:quadBezTo>
                  <a:pt x="174371" y="88741"/>
                  <a:pt x="174371" y="93948"/>
                </a:quadBezTo>
                <a:lnTo>
                  <a:pt x="174371" y="104934"/>
                </a:lnTo>
                <a:quadBezTo>
                  <a:pt x="174371" y="110141"/>
                  <a:pt x="169862" y="112744"/>
                </a:quadBezTo>
                <a:lnTo>
                  <a:pt x="160338" y="118269"/>
                </a:lnTo>
                <a:quadBezTo>
                  <a:pt x="155829" y="120872"/>
                  <a:pt x="151320" y="118269"/>
                </a:quadBezTo>
                <a:lnTo>
                  <a:pt x="4509" y="33433"/>
                </a:lnTo>
                <a:quadBezTo>
                  <a:pt x="0" y="30829"/>
                  <a:pt x="0" y="25622"/>
                </a:quadBezTo>
                <a:close/>
              </a:path>
            </a:pathLst>
          </a:custGeom>
          <a:solidFill>
            <a:srgbClr val="3681C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30" name="m-s03_honeycomb-core-1">
            <a:extLst>
              <a:ext uri="{FF2B5EF4-FFF2-40B4-BE49-F238E27FC236}">
                <a16:creationId xmlns:a16="http://schemas.microsoft.com/office/drawing/2014/main" id="{0EDEC680-72FE-3F5D-323D-E2DFDA8E4DBC}"/>
              </a:ext>
            </a:extLst>
          </p:cNvPr>
          <p:cNvSpPr txBox="1"/>
          <p:nvPr/>
        </p:nvSpPr>
        <p:spPr>
          <a:xfrm>
            <a:off x="743347" y="3414171"/>
            <a:ext cx="123666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41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核心</a:t>
            </a:r>
          </a:p>
        </p:txBody>
      </p:sp>
      <p:sp>
        <p:nvSpPr>
          <p:cNvPr id="931" name="m-s03_honeycomb-core-2">
            <a:extLst>
              <a:ext uri="{FF2B5EF4-FFF2-40B4-BE49-F238E27FC236}">
                <a16:creationId xmlns:a16="http://schemas.microsoft.com/office/drawing/2014/main" id="{C016CE9D-FF4A-920F-A999-7957B0543AFE}"/>
              </a:ext>
            </a:extLst>
          </p:cNvPr>
          <p:cNvSpPr txBox="1"/>
          <p:nvPr/>
        </p:nvSpPr>
        <p:spPr>
          <a:xfrm>
            <a:off x="743347" y="3463638"/>
            <a:ext cx="123666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41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能力</a:t>
            </a:r>
          </a:p>
        </p:txBody>
      </p:sp>
      <p:sp>
        <p:nvSpPr>
          <p:cNvPr id="932" name="m-s03_honeycomb-icon-code">
            <a:extLst>
              <a:ext uri="{FF2B5EF4-FFF2-40B4-BE49-F238E27FC236}">
                <a16:creationId xmlns:a16="http://schemas.microsoft.com/office/drawing/2014/main" id="{6743D1EC-7901-618F-F3D6-2C327EE1209C}"/>
              </a:ext>
            </a:extLst>
          </p:cNvPr>
          <p:cNvSpPr/>
          <p:nvPr/>
        </p:nvSpPr>
        <p:spPr>
          <a:xfrm>
            <a:off x="924052" y="3209354"/>
            <a:ext cx="36894" cy="19939"/>
          </a:xfrm>
          <a:custGeom>
            <a:avLst/>
            <a:gdLst/>
            <a:ahLst/>
            <a:cxnLst/>
            <a:rect l="0" t="0" r="r" b="b"/>
            <a:pathLst>
              <a:path w="36894" h="19939">
                <a:moveTo>
                  <a:pt x="10985" y="0"/>
                </a:moveTo>
                <a:lnTo>
                  <a:pt x="0" y="9969"/>
                </a:lnTo>
                <a:lnTo>
                  <a:pt x="10985" y="19939"/>
                </a:lnTo>
                <a:moveTo>
                  <a:pt x="25972" y="0"/>
                </a:moveTo>
                <a:lnTo>
                  <a:pt x="36894" y="9969"/>
                </a:lnTo>
                <a:lnTo>
                  <a:pt x="25972" y="19939"/>
                </a:lnTo>
              </a:path>
            </a:pathLst>
          </a:custGeom>
          <a:noFill/>
          <a:ln w="260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33" name="m-s03_honeycomb-hex-n-01">
            <a:extLst>
              <a:ext uri="{FF2B5EF4-FFF2-40B4-BE49-F238E27FC236}">
                <a16:creationId xmlns:a16="http://schemas.microsoft.com/office/drawing/2014/main" id="{675F00F5-C81B-B2EC-0CEE-438D3B8E1788}"/>
              </a:ext>
            </a:extLst>
          </p:cNvPr>
          <p:cNvSpPr txBox="1"/>
          <p:nvPr/>
        </p:nvSpPr>
        <p:spPr>
          <a:xfrm>
            <a:off x="914280" y="3266883"/>
            <a:ext cx="56470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26" normalizeH="0" baseline="0" noProof="0">
                <a:ln>
                  <a:noFill/>
                </a:ln>
                <a:solidFill>
                  <a:srgbClr val="FFFFFF">
                    <a:alpha val="72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934" name="m-s03_honeycomb-icon-factory">
            <a:extLst>
              <a:ext uri="{FF2B5EF4-FFF2-40B4-BE49-F238E27FC236}">
                <a16:creationId xmlns:a16="http://schemas.microsoft.com/office/drawing/2014/main" id="{5A26D7F7-04EF-F783-8EC4-8291FB014FED}"/>
              </a:ext>
            </a:extLst>
          </p:cNvPr>
          <p:cNvSpPr/>
          <p:nvPr/>
        </p:nvSpPr>
        <p:spPr>
          <a:xfrm>
            <a:off x="1058418" y="3447733"/>
            <a:ext cx="42862" cy="28892"/>
          </a:xfrm>
          <a:custGeom>
            <a:avLst/>
            <a:gdLst/>
            <a:ahLst/>
            <a:cxnLst/>
            <a:rect l="0" t="0" r="r" b="b"/>
            <a:pathLst>
              <a:path w="42862" h="28892">
                <a:moveTo>
                  <a:pt x="0" y="28892"/>
                </a:moveTo>
                <a:lnTo>
                  <a:pt x="0" y="6985"/>
                </a:lnTo>
                <a:lnTo>
                  <a:pt x="12446" y="14478"/>
                </a:lnTo>
                <a:lnTo>
                  <a:pt x="12446" y="6985"/>
                </a:lnTo>
                <a:lnTo>
                  <a:pt x="24892" y="14478"/>
                </a:lnTo>
                <a:lnTo>
                  <a:pt x="24892" y="0"/>
                </a:lnTo>
                <a:lnTo>
                  <a:pt x="37401" y="7493"/>
                </a:lnTo>
                <a:lnTo>
                  <a:pt x="37401" y="26416"/>
                </a:lnTo>
                <a:close/>
                <a:moveTo>
                  <a:pt x="0" y="28892"/>
                </a:moveTo>
                <a:lnTo>
                  <a:pt x="42862" y="28892"/>
                </a:lnTo>
              </a:path>
            </a:pathLst>
          </a:custGeom>
          <a:noFill/>
          <a:ln w="260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35" name="m-s03_honeycomb-hex-n-02">
            <a:extLst>
              <a:ext uri="{FF2B5EF4-FFF2-40B4-BE49-F238E27FC236}">
                <a16:creationId xmlns:a16="http://schemas.microsoft.com/office/drawing/2014/main" id="{4FC1C45E-A632-A769-4AC5-DBEEB347C1AC}"/>
              </a:ext>
            </a:extLst>
          </p:cNvPr>
          <p:cNvSpPr txBox="1"/>
          <p:nvPr/>
        </p:nvSpPr>
        <p:spPr>
          <a:xfrm>
            <a:off x="1051614" y="3504753"/>
            <a:ext cx="56470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26" normalizeH="0" baseline="0" noProof="0">
                <a:ln>
                  <a:noFill/>
                </a:ln>
                <a:solidFill>
                  <a:srgbClr val="FFFFFF">
                    <a:alpha val="72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936" name="m-s03_honeycomb-icon-network">
            <a:extLst>
              <a:ext uri="{FF2B5EF4-FFF2-40B4-BE49-F238E27FC236}">
                <a16:creationId xmlns:a16="http://schemas.microsoft.com/office/drawing/2014/main" id="{FDE1824C-8D0E-71A5-5F11-EDE89AC91CFE}"/>
              </a:ext>
            </a:extLst>
          </p:cNvPr>
          <p:cNvSpPr/>
          <p:nvPr/>
        </p:nvSpPr>
        <p:spPr>
          <a:xfrm>
            <a:off x="935038" y="3686112"/>
            <a:ext cx="14986" cy="17462"/>
          </a:xfrm>
          <a:custGeom>
            <a:avLst/>
            <a:gdLst/>
            <a:ahLst/>
            <a:cxnLst/>
            <a:rect l="0" t="0" r="r" b="b"/>
            <a:pathLst>
              <a:path w="14986" h="17462">
                <a:moveTo>
                  <a:pt x="7493" y="0"/>
                </a:moveTo>
                <a:lnTo>
                  <a:pt x="7493" y="7938"/>
                </a:lnTo>
                <a:moveTo>
                  <a:pt x="0" y="17462"/>
                </a:moveTo>
                <a:lnTo>
                  <a:pt x="5461" y="10922"/>
                </a:lnTo>
                <a:moveTo>
                  <a:pt x="14986" y="17462"/>
                </a:moveTo>
                <a:lnTo>
                  <a:pt x="9462" y="10922"/>
                </a:lnTo>
              </a:path>
            </a:pathLst>
          </a:custGeom>
          <a:noFill/>
          <a:ln w="260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37" name="m-s03_honeycomb-icon-network">
            <a:extLst>
              <a:ext uri="{FF2B5EF4-FFF2-40B4-BE49-F238E27FC236}">
                <a16:creationId xmlns:a16="http://schemas.microsoft.com/office/drawing/2014/main" id="{F9371992-ABAF-B361-93ED-D874F05E051A}"/>
              </a:ext>
            </a:extLst>
          </p:cNvPr>
          <p:cNvSpPr/>
          <p:nvPr/>
        </p:nvSpPr>
        <p:spPr>
          <a:xfrm>
            <a:off x="936028" y="3673607"/>
            <a:ext cx="12974" cy="12974"/>
          </a:xfrm>
          <a:prstGeom prst="ellipse">
            <a:avLst/>
          </a:prstGeom>
          <a:noFill/>
          <a:ln w="260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38" name="m-s03_honeycomb-icon-network">
            <a:extLst>
              <a:ext uri="{FF2B5EF4-FFF2-40B4-BE49-F238E27FC236}">
                <a16:creationId xmlns:a16="http://schemas.microsoft.com/office/drawing/2014/main" id="{80EE8F3D-C1AA-C89B-18C7-944A03BF054D}"/>
              </a:ext>
            </a:extLst>
          </p:cNvPr>
          <p:cNvSpPr/>
          <p:nvPr/>
        </p:nvSpPr>
        <p:spPr>
          <a:xfrm>
            <a:off x="923552" y="3702051"/>
            <a:ext cx="12974" cy="12974"/>
          </a:xfrm>
          <a:prstGeom prst="ellipse">
            <a:avLst/>
          </a:prstGeom>
          <a:noFill/>
          <a:ln w="260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39" name="m-s03_honeycomb-icon-network">
            <a:extLst>
              <a:ext uri="{FF2B5EF4-FFF2-40B4-BE49-F238E27FC236}">
                <a16:creationId xmlns:a16="http://schemas.microsoft.com/office/drawing/2014/main" id="{5542D387-D4AE-9135-B87B-C84F1AD9BF72}"/>
              </a:ext>
            </a:extLst>
          </p:cNvPr>
          <p:cNvSpPr/>
          <p:nvPr/>
        </p:nvSpPr>
        <p:spPr>
          <a:xfrm>
            <a:off x="948503" y="3702051"/>
            <a:ext cx="12974" cy="12974"/>
          </a:xfrm>
          <a:prstGeom prst="ellipse">
            <a:avLst/>
          </a:prstGeom>
          <a:noFill/>
          <a:ln w="260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40" name="m-s03_honeycomb-hex-n-03">
            <a:extLst>
              <a:ext uri="{FF2B5EF4-FFF2-40B4-BE49-F238E27FC236}">
                <a16:creationId xmlns:a16="http://schemas.microsoft.com/office/drawing/2014/main" id="{D07F306D-FFE2-B1EC-39A6-041B845E089F}"/>
              </a:ext>
            </a:extLst>
          </p:cNvPr>
          <p:cNvSpPr txBox="1"/>
          <p:nvPr/>
        </p:nvSpPr>
        <p:spPr>
          <a:xfrm>
            <a:off x="914280" y="3742624"/>
            <a:ext cx="56470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26" normalizeH="0" baseline="0" noProof="0">
                <a:ln>
                  <a:noFill/>
                </a:ln>
                <a:solidFill>
                  <a:srgbClr val="FFFFFF">
                    <a:alpha val="72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941" name="m-s03_honeycomb-icon-megaphone">
            <a:extLst>
              <a:ext uri="{FF2B5EF4-FFF2-40B4-BE49-F238E27FC236}">
                <a16:creationId xmlns:a16="http://schemas.microsoft.com/office/drawing/2014/main" id="{C551A816-876B-3304-1318-54E9D51EEEA5}"/>
              </a:ext>
            </a:extLst>
          </p:cNvPr>
          <p:cNvSpPr/>
          <p:nvPr/>
        </p:nvSpPr>
        <p:spPr>
          <a:xfrm>
            <a:off x="651383" y="3679571"/>
            <a:ext cx="32448" cy="30988"/>
          </a:xfrm>
          <a:custGeom>
            <a:avLst/>
            <a:gdLst/>
            <a:ahLst/>
            <a:cxnLst/>
            <a:rect l="0" t="0" r="r" b="b"/>
            <a:pathLst>
              <a:path w="32448" h="30988">
                <a:moveTo>
                  <a:pt x="0" y="9525"/>
                </a:moveTo>
                <a:lnTo>
                  <a:pt x="0" y="21463"/>
                </a:lnTo>
                <a:lnTo>
                  <a:pt x="7493" y="21463"/>
                </a:lnTo>
                <a:lnTo>
                  <a:pt x="25464" y="30988"/>
                </a:lnTo>
                <a:lnTo>
                  <a:pt x="25464" y="0"/>
                </a:lnTo>
                <a:lnTo>
                  <a:pt x="7493" y="9525"/>
                </a:lnTo>
                <a:close/>
                <a:moveTo>
                  <a:pt x="32448" y="10477"/>
                </a:moveTo>
                <a:lnTo>
                  <a:pt x="32448" y="20447"/>
                </a:lnTo>
              </a:path>
            </a:pathLst>
          </a:custGeom>
          <a:noFill/>
          <a:ln w="260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42" name="m-s03_honeycomb-hex-n-04">
            <a:extLst>
              <a:ext uri="{FF2B5EF4-FFF2-40B4-BE49-F238E27FC236}">
                <a16:creationId xmlns:a16="http://schemas.microsoft.com/office/drawing/2014/main" id="{537404F6-2B50-DAE0-BBA4-98CE71F7D57E}"/>
              </a:ext>
            </a:extLst>
          </p:cNvPr>
          <p:cNvSpPr txBox="1"/>
          <p:nvPr/>
        </p:nvSpPr>
        <p:spPr>
          <a:xfrm>
            <a:off x="639610" y="3742624"/>
            <a:ext cx="56470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26" normalizeH="0" baseline="0" noProof="0">
                <a:ln>
                  <a:noFill/>
                </a:ln>
                <a:solidFill>
                  <a:srgbClr val="FFFFFF">
                    <a:alpha val="72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943" name="m-s03_honeycomb-icon-truck">
            <a:extLst>
              <a:ext uri="{FF2B5EF4-FFF2-40B4-BE49-F238E27FC236}">
                <a16:creationId xmlns:a16="http://schemas.microsoft.com/office/drawing/2014/main" id="{807A77AF-A267-4B42-2EA6-54B548685731}"/>
              </a:ext>
            </a:extLst>
          </p:cNvPr>
          <p:cNvSpPr/>
          <p:nvPr/>
        </p:nvSpPr>
        <p:spPr>
          <a:xfrm>
            <a:off x="509524" y="3443732"/>
            <a:ext cx="39434" cy="24447"/>
          </a:xfrm>
          <a:custGeom>
            <a:avLst/>
            <a:gdLst/>
            <a:ahLst/>
            <a:cxnLst/>
            <a:rect l="0" t="0" r="r" b="b"/>
            <a:pathLst>
              <a:path w="39434" h="24447">
                <a:moveTo>
                  <a:pt x="0" y="0"/>
                </a:moveTo>
                <a:lnTo>
                  <a:pt x="24003" y="0"/>
                </a:lnTo>
                <a:lnTo>
                  <a:pt x="24003" y="24447"/>
                </a:lnTo>
                <a:lnTo>
                  <a:pt x="0" y="24447"/>
                </a:lnTo>
                <a:close/>
                <a:moveTo>
                  <a:pt x="24003" y="8953"/>
                </a:moveTo>
                <a:lnTo>
                  <a:pt x="32448" y="8953"/>
                </a:lnTo>
                <a:lnTo>
                  <a:pt x="39434" y="16446"/>
                </a:lnTo>
                <a:lnTo>
                  <a:pt x="39434" y="24447"/>
                </a:lnTo>
                <a:lnTo>
                  <a:pt x="24003" y="24447"/>
                </a:lnTo>
                <a:close/>
              </a:path>
            </a:pathLst>
          </a:custGeom>
          <a:noFill/>
          <a:ln w="260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44" name="m-s03_honeycomb-hex-n-05">
            <a:extLst>
              <a:ext uri="{FF2B5EF4-FFF2-40B4-BE49-F238E27FC236}">
                <a16:creationId xmlns:a16="http://schemas.microsoft.com/office/drawing/2014/main" id="{06FBD43B-0F0D-D320-645E-2CF7D9307104}"/>
              </a:ext>
            </a:extLst>
          </p:cNvPr>
          <p:cNvSpPr txBox="1"/>
          <p:nvPr/>
        </p:nvSpPr>
        <p:spPr>
          <a:xfrm>
            <a:off x="502276" y="3504753"/>
            <a:ext cx="56470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26" normalizeH="0" baseline="0" noProof="0">
                <a:ln>
                  <a:noFill/>
                </a:ln>
                <a:solidFill>
                  <a:srgbClr val="FFFFFF">
                    <a:alpha val="72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945" name="m-s03_honeycomb-icon-people">
            <a:extLst>
              <a:ext uri="{FF2B5EF4-FFF2-40B4-BE49-F238E27FC236}">
                <a16:creationId xmlns:a16="http://schemas.microsoft.com/office/drawing/2014/main" id="{A93BD83A-5BE0-88B6-9F6B-5C55F8776F61}"/>
              </a:ext>
            </a:extLst>
          </p:cNvPr>
          <p:cNvSpPr/>
          <p:nvPr/>
        </p:nvSpPr>
        <p:spPr>
          <a:xfrm>
            <a:off x="646874" y="3225800"/>
            <a:ext cx="42418" cy="12001"/>
          </a:xfrm>
          <a:custGeom>
            <a:avLst/>
            <a:gdLst/>
            <a:ahLst/>
            <a:cxnLst/>
            <a:rect l="0" t="0" r="r" b="b"/>
            <a:pathLst>
              <a:path w="42418" h="12001">
                <a:moveTo>
                  <a:pt x="0" y="12001"/>
                </a:moveTo>
                <a:cubicBezTo>
                  <a:pt x="0" y="4508"/>
                  <a:pt x="6223" y="0"/>
                  <a:pt x="13462" y="0"/>
                </a:cubicBezTo>
                <a:cubicBezTo>
                  <a:pt x="20701" y="0"/>
                  <a:pt x="26988" y="4508"/>
                  <a:pt x="26988" y="12001"/>
                </a:cubicBezTo>
                <a:moveTo>
                  <a:pt x="31941" y="1016"/>
                </a:moveTo>
                <a:cubicBezTo>
                  <a:pt x="38417" y="1778"/>
                  <a:pt x="42418" y="6223"/>
                  <a:pt x="42418" y="12001"/>
                </a:cubicBezTo>
              </a:path>
            </a:pathLst>
          </a:custGeom>
          <a:noFill/>
          <a:ln w="260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46" name="m-s03_honeycomb-icon-people">
            <a:extLst>
              <a:ext uri="{FF2B5EF4-FFF2-40B4-BE49-F238E27FC236}">
                <a16:creationId xmlns:a16="http://schemas.microsoft.com/office/drawing/2014/main" id="{147E260B-D11C-FBAA-8998-48B4D20A869C}"/>
              </a:ext>
            </a:extLst>
          </p:cNvPr>
          <p:cNvSpPr/>
          <p:nvPr/>
        </p:nvSpPr>
        <p:spPr>
          <a:xfrm>
            <a:off x="652376" y="3204353"/>
            <a:ext cx="15968" cy="15968"/>
          </a:xfrm>
          <a:prstGeom prst="ellipse">
            <a:avLst/>
          </a:prstGeom>
          <a:noFill/>
          <a:ln w="260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47" name="m-s03_honeycomb-icon-people">
            <a:extLst>
              <a:ext uri="{FF2B5EF4-FFF2-40B4-BE49-F238E27FC236}">
                <a16:creationId xmlns:a16="http://schemas.microsoft.com/office/drawing/2014/main" id="{E6C6C3A0-ADE4-188F-175D-B96D293638C4}"/>
              </a:ext>
            </a:extLst>
          </p:cNvPr>
          <p:cNvSpPr/>
          <p:nvPr/>
        </p:nvSpPr>
        <p:spPr>
          <a:xfrm>
            <a:off x="673833" y="3204353"/>
            <a:ext cx="12974" cy="12974"/>
          </a:xfrm>
          <a:prstGeom prst="ellipse">
            <a:avLst/>
          </a:prstGeom>
          <a:noFill/>
          <a:ln w="260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48" name="m-s03_honeycomb-hex-n-06">
            <a:extLst>
              <a:ext uri="{FF2B5EF4-FFF2-40B4-BE49-F238E27FC236}">
                <a16:creationId xmlns:a16="http://schemas.microsoft.com/office/drawing/2014/main" id="{F0E1C27D-B6CA-86CB-6C76-34480443C581}"/>
              </a:ext>
            </a:extLst>
          </p:cNvPr>
          <p:cNvSpPr txBox="1"/>
          <p:nvPr/>
        </p:nvSpPr>
        <p:spPr>
          <a:xfrm>
            <a:off x="639610" y="3266883"/>
            <a:ext cx="56470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26" normalizeH="0" baseline="0" noProof="0">
                <a:ln>
                  <a:noFill/>
                </a:ln>
                <a:solidFill>
                  <a:srgbClr val="FFFFFF">
                    <a:alpha val="72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06</a:t>
            </a:r>
          </a:p>
        </p:txBody>
      </p:sp>
      <p:sp>
        <p:nvSpPr>
          <p:cNvPr id="949" name="m-s03_honeycomb-lead-01">
            <a:extLst>
              <a:ext uri="{FF2B5EF4-FFF2-40B4-BE49-F238E27FC236}">
                <a16:creationId xmlns:a16="http://schemas.microsoft.com/office/drawing/2014/main" id="{706AA3DD-9D95-9016-50DE-BD818746088D}"/>
              </a:ext>
            </a:extLst>
          </p:cNvPr>
          <p:cNvSpPr/>
          <p:nvPr/>
        </p:nvSpPr>
        <p:spPr>
          <a:xfrm>
            <a:off x="1116520" y="3240151"/>
            <a:ext cx="170307" cy="3175"/>
          </a:xfrm>
          <a:custGeom>
            <a:avLst/>
            <a:gdLst/>
            <a:ahLst/>
            <a:cxnLst/>
            <a:rect l="0" t="0" r="r" b="b"/>
            <a:pathLst>
              <a:path w="170307" h="3175">
                <a:moveTo>
                  <a:pt x="0" y="0"/>
                </a:moveTo>
                <a:lnTo>
                  <a:pt x="85153" y="0"/>
                </a:lnTo>
                <a:quadBezTo>
                  <a:pt x="85153" y="0"/>
                  <a:pt x="85153" y="0"/>
                </a:quadBezTo>
                <a:lnTo>
                  <a:pt x="170307" y="0"/>
                </a:lnTo>
              </a:path>
            </a:pathLst>
          </a:custGeom>
          <a:noFill/>
          <a:ln w="25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50" name="m-s03_honeycomb-dot-01">
            <a:extLst>
              <a:ext uri="{FF2B5EF4-FFF2-40B4-BE49-F238E27FC236}">
                <a16:creationId xmlns:a16="http://schemas.microsoft.com/office/drawing/2014/main" id="{216F6442-0837-0BDA-7E68-8A719833DCC6}"/>
              </a:ext>
            </a:extLst>
          </p:cNvPr>
          <p:cNvSpPr/>
          <p:nvPr/>
        </p:nvSpPr>
        <p:spPr>
          <a:xfrm>
            <a:off x="1280319" y="3233643"/>
            <a:ext cx="13017" cy="13017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51" name="m-s03_honeycomb-dotr-01">
            <a:extLst>
              <a:ext uri="{FF2B5EF4-FFF2-40B4-BE49-F238E27FC236}">
                <a16:creationId xmlns:a16="http://schemas.microsoft.com/office/drawing/2014/main" id="{A21CCD68-0B35-E4EF-0055-A1D476D039A9}"/>
              </a:ext>
            </a:extLst>
          </p:cNvPr>
          <p:cNvSpPr/>
          <p:nvPr/>
        </p:nvSpPr>
        <p:spPr>
          <a:xfrm>
            <a:off x="1274461" y="3227785"/>
            <a:ext cx="24733" cy="24733"/>
          </a:xfrm>
          <a:prstGeom prst="ellipse">
            <a:avLst/>
          </a:prstGeom>
          <a:noFill/>
          <a:ln w="2540" cap="rnd">
            <a:solidFill>
              <a:srgbClr val="0B3E8F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52" name="m-s03_honeycomb-h-01">
            <a:extLst>
              <a:ext uri="{FF2B5EF4-FFF2-40B4-BE49-F238E27FC236}">
                <a16:creationId xmlns:a16="http://schemas.microsoft.com/office/drawing/2014/main" id="{BB997E24-BA2C-B72E-7005-8B47AE20DCA2}"/>
              </a:ext>
            </a:extLst>
          </p:cNvPr>
          <p:cNvSpPr txBox="1"/>
          <p:nvPr/>
        </p:nvSpPr>
        <p:spPr>
          <a:xfrm>
            <a:off x="1337596" y="3192149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产品研发</a:t>
            </a:r>
          </a:p>
        </p:txBody>
      </p:sp>
      <p:sp>
        <p:nvSpPr>
          <p:cNvPr id="953" name="m-s03_honeycomb-rule-01">
            <a:extLst>
              <a:ext uri="{FF2B5EF4-FFF2-40B4-BE49-F238E27FC236}">
                <a16:creationId xmlns:a16="http://schemas.microsoft.com/office/drawing/2014/main" id="{CAA390E9-169B-27BE-A771-896D7FD62A2E}"/>
              </a:ext>
            </a:extLst>
          </p:cNvPr>
          <p:cNvSpPr/>
          <p:nvPr/>
        </p:nvSpPr>
        <p:spPr>
          <a:xfrm>
            <a:off x="1341501" y="3257074"/>
            <a:ext cx="309816" cy="1562"/>
          </a:xfrm>
          <a:prstGeom prst="roundRect">
            <a:avLst>
              <a:gd name="adj" fmla="val 12299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54" name="m-s03_honeycomb-p-01-1">
            <a:extLst>
              <a:ext uri="{FF2B5EF4-FFF2-40B4-BE49-F238E27FC236}">
                <a16:creationId xmlns:a16="http://schemas.microsoft.com/office/drawing/2014/main" id="{11F8C1EB-6A21-F813-D685-62262B40FFB3}"/>
              </a:ext>
            </a:extLst>
          </p:cNvPr>
          <p:cNvSpPr txBox="1"/>
          <p:nvPr/>
        </p:nvSpPr>
        <p:spPr>
          <a:xfrm>
            <a:off x="1338767" y="3266691"/>
            <a:ext cx="348544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自研核心技术栈，季度迭代上线</a:t>
            </a:r>
          </a:p>
        </p:txBody>
      </p:sp>
      <p:sp>
        <p:nvSpPr>
          <p:cNvPr id="955" name="m-s03_honeycomb-p-01-2">
            <a:extLst>
              <a:ext uri="{FF2B5EF4-FFF2-40B4-BE49-F238E27FC236}">
                <a16:creationId xmlns:a16="http://schemas.microsoft.com/office/drawing/2014/main" id="{24ED80BE-EF20-3396-890F-47D60C5FA9DB}"/>
              </a:ext>
            </a:extLst>
          </p:cNvPr>
          <p:cNvSpPr txBox="1"/>
          <p:nvPr/>
        </p:nvSpPr>
        <p:spPr>
          <a:xfrm>
            <a:off x="1338767" y="3301838"/>
            <a:ext cx="308450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近三年累计申请专利 86 项</a:t>
            </a:r>
          </a:p>
        </p:txBody>
      </p:sp>
      <p:sp>
        <p:nvSpPr>
          <p:cNvPr id="956" name="m-s03_honeycomb-mark-01">
            <a:extLst>
              <a:ext uri="{FF2B5EF4-FFF2-40B4-BE49-F238E27FC236}">
                <a16:creationId xmlns:a16="http://schemas.microsoft.com/office/drawing/2014/main" id="{F77A9CF5-329B-CCDF-1850-EC25CC038A91}"/>
              </a:ext>
            </a:extLst>
          </p:cNvPr>
          <p:cNvSpPr txBox="1"/>
          <p:nvPr/>
        </p:nvSpPr>
        <p:spPr>
          <a:xfrm>
            <a:off x="1673812" y="3170950"/>
            <a:ext cx="152461" cy="1275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70" b="1" i="0" u="none" strike="noStrike" kern="1200" cap="none" spc="20" normalizeH="0" baseline="0" noProof="0">
                <a:ln>
                  <a:noFill/>
                </a:ln>
                <a:solidFill>
                  <a:srgbClr val="0B3E8F">
                    <a:alpha val="13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957" name="m-s03_honeycomb-lead-02">
            <a:extLst>
              <a:ext uri="{FF2B5EF4-FFF2-40B4-BE49-F238E27FC236}">
                <a16:creationId xmlns:a16="http://schemas.microsoft.com/office/drawing/2014/main" id="{31791D70-1F5E-BED1-6BC0-D10ABC2B54A5}"/>
              </a:ext>
            </a:extLst>
          </p:cNvPr>
          <p:cNvSpPr/>
          <p:nvPr/>
        </p:nvSpPr>
        <p:spPr>
          <a:xfrm>
            <a:off x="1253871" y="3478022"/>
            <a:ext cx="32956" cy="3175"/>
          </a:xfrm>
          <a:custGeom>
            <a:avLst/>
            <a:gdLst/>
            <a:ahLst/>
            <a:cxnLst/>
            <a:rect l="0" t="0" r="r" b="b"/>
            <a:pathLst>
              <a:path w="32956" h="3175">
                <a:moveTo>
                  <a:pt x="0" y="0"/>
                </a:moveTo>
                <a:lnTo>
                  <a:pt x="16447" y="0"/>
                </a:lnTo>
                <a:quadBezTo>
                  <a:pt x="16447" y="0"/>
                  <a:pt x="16447" y="0"/>
                </a:quadBezTo>
                <a:lnTo>
                  <a:pt x="32956" y="0"/>
                </a:lnTo>
              </a:path>
            </a:pathLst>
          </a:custGeom>
          <a:noFill/>
          <a:ln w="25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58" name="m-s03_honeycomb-dot-02">
            <a:extLst>
              <a:ext uri="{FF2B5EF4-FFF2-40B4-BE49-F238E27FC236}">
                <a16:creationId xmlns:a16="http://schemas.microsoft.com/office/drawing/2014/main" id="{416CF626-F48B-E38B-C641-062058D1A484}"/>
              </a:ext>
            </a:extLst>
          </p:cNvPr>
          <p:cNvSpPr/>
          <p:nvPr/>
        </p:nvSpPr>
        <p:spPr>
          <a:xfrm>
            <a:off x="1280319" y="3471513"/>
            <a:ext cx="13017" cy="13017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59" name="m-s03_honeycomb-dotr-02">
            <a:extLst>
              <a:ext uri="{FF2B5EF4-FFF2-40B4-BE49-F238E27FC236}">
                <a16:creationId xmlns:a16="http://schemas.microsoft.com/office/drawing/2014/main" id="{3A9234BE-9372-4FFC-A940-4EDCFEFD7CBD}"/>
              </a:ext>
            </a:extLst>
          </p:cNvPr>
          <p:cNvSpPr/>
          <p:nvPr/>
        </p:nvSpPr>
        <p:spPr>
          <a:xfrm>
            <a:off x="1274461" y="3465655"/>
            <a:ext cx="24733" cy="24733"/>
          </a:xfrm>
          <a:prstGeom prst="ellipse">
            <a:avLst/>
          </a:prstGeom>
          <a:noFill/>
          <a:ln w="2540" cap="rnd">
            <a:solidFill>
              <a:srgbClr val="134C9C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60" name="m-s03_honeycomb-h-02">
            <a:extLst>
              <a:ext uri="{FF2B5EF4-FFF2-40B4-BE49-F238E27FC236}">
                <a16:creationId xmlns:a16="http://schemas.microsoft.com/office/drawing/2014/main" id="{59E74495-EBDB-415A-462C-290F5198AEAC}"/>
              </a:ext>
            </a:extLst>
          </p:cNvPr>
          <p:cNvSpPr txBox="1"/>
          <p:nvPr/>
        </p:nvSpPr>
        <p:spPr>
          <a:xfrm>
            <a:off x="1337596" y="3430020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智能制造</a:t>
            </a:r>
          </a:p>
        </p:txBody>
      </p:sp>
      <p:sp>
        <p:nvSpPr>
          <p:cNvPr id="961" name="m-s03_honeycomb-rule-02">
            <a:extLst>
              <a:ext uri="{FF2B5EF4-FFF2-40B4-BE49-F238E27FC236}">
                <a16:creationId xmlns:a16="http://schemas.microsoft.com/office/drawing/2014/main" id="{CB8D55BB-ACED-3F41-2A74-8CBD7D31E298}"/>
              </a:ext>
            </a:extLst>
          </p:cNvPr>
          <p:cNvSpPr/>
          <p:nvPr/>
        </p:nvSpPr>
        <p:spPr>
          <a:xfrm>
            <a:off x="1341501" y="3494945"/>
            <a:ext cx="309816" cy="1562"/>
          </a:xfrm>
          <a:prstGeom prst="roundRect">
            <a:avLst>
              <a:gd name="adj" fmla="val 12299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62" name="m-s03_honeycomb-p-02-1">
            <a:extLst>
              <a:ext uri="{FF2B5EF4-FFF2-40B4-BE49-F238E27FC236}">
                <a16:creationId xmlns:a16="http://schemas.microsoft.com/office/drawing/2014/main" id="{26946541-F999-A105-4F16-9C048C166574}"/>
              </a:ext>
            </a:extLst>
          </p:cNvPr>
          <p:cNvSpPr txBox="1"/>
          <p:nvPr/>
        </p:nvSpPr>
        <p:spPr>
          <a:xfrm>
            <a:off x="1338767" y="3504561"/>
            <a:ext cx="27824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柔性产线支持小批量定制</a:t>
            </a:r>
          </a:p>
        </p:txBody>
      </p:sp>
      <p:sp>
        <p:nvSpPr>
          <p:cNvPr id="963" name="m-s03_honeycomb-p-02-2">
            <a:extLst>
              <a:ext uri="{FF2B5EF4-FFF2-40B4-BE49-F238E27FC236}">
                <a16:creationId xmlns:a16="http://schemas.microsoft.com/office/drawing/2014/main" id="{469E1E85-3ACA-CDA2-4DE5-C55D7A751EDC}"/>
              </a:ext>
            </a:extLst>
          </p:cNvPr>
          <p:cNvSpPr txBox="1"/>
          <p:nvPr/>
        </p:nvSpPr>
        <p:spPr>
          <a:xfrm>
            <a:off x="1338767" y="3539709"/>
            <a:ext cx="27824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订单按需生产、按期交付</a:t>
            </a:r>
          </a:p>
        </p:txBody>
      </p:sp>
      <p:sp>
        <p:nvSpPr>
          <p:cNvPr id="964" name="m-s03_honeycomb-mark-02">
            <a:extLst>
              <a:ext uri="{FF2B5EF4-FFF2-40B4-BE49-F238E27FC236}">
                <a16:creationId xmlns:a16="http://schemas.microsoft.com/office/drawing/2014/main" id="{B1A79E50-B4B1-D360-875E-4A1D07BD90C1}"/>
              </a:ext>
            </a:extLst>
          </p:cNvPr>
          <p:cNvSpPr txBox="1"/>
          <p:nvPr/>
        </p:nvSpPr>
        <p:spPr>
          <a:xfrm>
            <a:off x="1673812" y="3408821"/>
            <a:ext cx="152461" cy="1275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70" b="1" i="0" u="none" strike="noStrike" kern="1200" cap="none" spc="20" normalizeH="0" baseline="0" noProof="0">
                <a:ln>
                  <a:noFill/>
                </a:ln>
                <a:solidFill>
                  <a:srgbClr val="134C9C">
                    <a:alpha val="13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965" name="m-s03_honeycomb-lead-03">
            <a:extLst>
              <a:ext uri="{FF2B5EF4-FFF2-40B4-BE49-F238E27FC236}">
                <a16:creationId xmlns:a16="http://schemas.microsoft.com/office/drawing/2014/main" id="{7042248A-0E2E-7122-AF20-62CBDF59139F}"/>
              </a:ext>
            </a:extLst>
          </p:cNvPr>
          <p:cNvSpPr/>
          <p:nvPr/>
        </p:nvSpPr>
        <p:spPr>
          <a:xfrm>
            <a:off x="1116520" y="3715893"/>
            <a:ext cx="170307" cy="3175"/>
          </a:xfrm>
          <a:custGeom>
            <a:avLst/>
            <a:gdLst/>
            <a:ahLst/>
            <a:cxnLst/>
            <a:rect l="0" t="0" r="r" b="b"/>
            <a:pathLst>
              <a:path w="170307" h="3175">
                <a:moveTo>
                  <a:pt x="0" y="0"/>
                </a:moveTo>
                <a:lnTo>
                  <a:pt x="85153" y="0"/>
                </a:lnTo>
                <a:quadBezTo>
                  <a:pt x="85153" y="0"/>
                  <a:pt x="85153" y="0"/>
                </a:quadBezTo>
                <a:lnTo>
                  <a:pt x="170307" y="0"/>
                </a:lnTo>
              </a:path>
            </a:pathLst>
          </a:custGeom>
          <a:noFill/>
          <a:ln w="25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66" name="m-s03_honeycomb-dot-03">
            <a:extLst>
              <a:ext uri="{FF2B5EF4-FFF2-40B4-BE49-F238E27FC236}">
                <a16:creationId xmlns:a16="http://schemas.microsoft.com/office/drawing/2014/main" id="{AD90649A-C50C-AD4A-A482-B4C918B93BB5}"/>
              </a:ext>
            </a:extLst>
          </p:cNvPr>
          <p:cNvSpPr/>
          <p:nvPr/>
        </p:nvSpPr>
        <p:spPr>
          <a:xfrm>
            <a:off x="1280319" y="3709384"/>
            <a:ext cx="13017" cy="13017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67" name="m-s03_honeycomb-dotr-03">
            <a:extLst>
              <a:ext uri="{FF2B5EF4-FFF2-40B4-BE49-F238E27FC236}">
                <a16:creationId xmlns:a16="http://schemas.microsoft.com/office/drawing/2014/main" id="{D1DD94A9-4E16-ED50-691A-2332E76128BB}"/>
              </a:ext>
            </a:extLst>
          </p:cNvPr>
          <p:cNvSpPr/>
          <p:nvPr/>
        </p:nvSpPr>
        <p:spPr>
          <a:xfrm>
            <a:off x="1274461" y="3703526"/>
            <a:ext cx="24733" cy="24733"/>
          </a:xfrm>
          <a:prstGeom prst="ellipse">
            <a:avLst/>
          </a:prstGeom>
          <a:noFill/>
          <a:ln w="2540" cap="rnd">
            <a:solidFill>
              <a:srgbClr val="2468B6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68" name="m-s03_honeycomb-h-03">
            <a:extLst>
              <a:ext uri="{FF2B5EF4-FFF2-40B4-BE49-F238E27FC236}">
                <a16:creationId xmlns:a16="http://schemas.microsoft.com/office/drawing/2014/main" id="{79711078-88A0-D257-C4BA-871C5E59E494}"/>
              </a:ext>
            </a:extLst>
          </p:cNvPr>
          <p:cNvSpPr txBox="1"/>
          <p:nvPr/>
        </p:nvSpPr>
        <p:spPr>
          <a:xfrm>
            <a:off x="1337596" y="3667891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渠道网络</a:t>
            </a:r>
          </a:p>
        </p:txBody>
      </p:sp>
      <p:sp>
        <p:nvSpPr>
          <p:cNvPr id="969" name="m-s03_honeycomb-rule-03">
            <a:extLst>
              <a:ext uri="{FF2B5EF4-FFF2-40B4-BE49-F238E27FC236}">
                <a16:creationId xmlns:a16="http://schemas.microsoft.com/office/drawing/2014/main" id="{604DFAA1-3356-D2DB-87E8-19181CAAD72D}"/>
              </a:ext>
            </a:extLst>
          </p:cNvPr>
          <p:cNvSpPr/>
          <p:nvPr/>
        </p:nvSpPr>
        <p:spPr>
          <a:xfrm>
            <a:off x="1341501" y="3732815"/>
            <a:ext cx="309816" cy="1562"/>
          </a:xfrm>
          <a:prstGeom prst="roundRect">
            <a:avLst>
              <a:gd name="adj" fmla="val 12299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70" name="m-s03_honeycomb-p-03-1">
            <a:extLst>
              <a:ext uri="{FF2B5EF4-FFF2-40B4-BE49-F238E27FC236}">
                <a16:creationId xmlns:a16="http://schemas.microsoft.com/office/drawing/2014/main" id="{62C39E77-F3C9-7D6F-B1AD-EEA737CDDDE8}"/>
              </a:ext>
            </a:extLst>
          </p:cNvPr>
          <p:cNvSpPr txBox="1"/>
          <p:nvPr/>
        </p:nvSpPr>
        <p:spPr>
          <a:xfrm>
            <a:off x="1338767" y="3742432"/>
            <a:ext cx="355443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覆盖 28 省，门店超 1,200 家</a:t>
            </a:r>
          </a:p>
        </p:txBody>
      </p:sp>
      <p:sp>
        <p:nvSpPr>
          <p:cNvPr id="971" name="m-s03_honeycomb-p-03-2">
            <a:extLst>
              <a:ext uri="{FF2B5EF4-FFF2-40B4-BE49-F238E27FC236}">
                <a16:creationId xmlns:a16="http://schemas.microsoft.com/office/drawing/2014/main" id="{F3E7D7F5-ADBB-4471-4B6A-96BDACDF7493}"/>
              </a:ext>
            </a:extLst>
          </p:cNvPr>
          <p:cNvSpPr txBox="1"/>
          <p:nvPr/>
        </p:nvSpPr>
        <p:spPr>
          <a:xfrm>
            <a:off x="1338767" y="3777579"/>
            <a:ext cx="231386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线上线下一体化运营</a:t>
            </a:r>
          </a:p>
        </p:txBody>
      </p:sp>
      <p:sp>
        <p:nvSpPr>
          <p:cNvPr id="972" name="m-s03_honeycomb-mark-03">
            <a:extLst>
              <a:ext uri="{FF2B5EF4-FFF2-40B4-BE49-F238E27FC236}">
                <a16:creationId xmlns:a16="http://schemas.microsoft.com/office/drawing/2014/main" id="{1E74BA4F-FFA3-4173-6B4C-ECA329217F77}"/>
              </a:ext>
            </a:extLst>
          </p:cNvPr>
          <p:cNvSpPr txBox="1"/>
          <p:nvPr/>
        </p:nvSpPr>
        <p:spPr>
          <a:xfrm>
            <a:off x="1673812" y="3646692"/>
            <a:ext cx="152461" cy="1275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70" b="1" i="0" u="none" strike="noStrike" kern="1200" cap="none" spc="20" normalizeH="0" baseline="0" noProof="0">
                <a:ln>
                  <a:noFill/>
                </a:ln>
                <a:solidFill>
                  <a:srgbClr val="2468B6">
                    <a:alpha val="13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973" name="m-s03_honeycomb-lead-06">
            <a:extLst>
              <a:ext uri="{FF2B5EF4-FFF2-40B4-BE49-F238E27FC236}">
                <a16:creationId xmlns:a16="http://schemas.microsoft.com/office/drawing/2014/main" id="{40E036A8-F3A1-F686-931B-00C1CA1F5851}"/>
              </a:ext>
            </a:extLst>
          </p:cNvPr>
          <p:cNvSpPr/>
          <p:nvPr/>
        </p:nvSpPr>
        <p:spPr>
          <a:xfrm>
            <a:off x="323532" y="3240151"/>
            <a:ext cx="170307" cy="3175"/>
          </a:xfrm>
          <a:custGeom>
            <a:avLst/>
            <a:gdLst/>
            <a:ahLst/>
            <a:cxnLst/>
            <a:rect l="0" t="0" r="r" b="b"/>
            <a:pathLst>
              <a:path w="170307" h="3175">
                <a:moveTo>
                  <a:pt x="170307" y="0"/>
                </a:moveTo>
                <a:lnTo>
                  <a:pt x="85153" y="0"/>
                </a:lnTo>
                <a:quadBezTo>
                  <a:pt x="85153" y="0"/>
                  <a:pt x="85153" y="0"/>
                </a:quadBezTo>
                <a:lnTo>
                  <a:pt x="0" y="0"/>
                </a:lnTo>
              </a:path>
            </a:pathLst>
          </a:custGeom>
          <a:noFill/>
          <a:ln w="25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74" name="m-s03_honeycomb-dot-06">
            <a:extLst>
              <a:ext uri="{FF2B5EF4-FFF2-40B4-BE49-F238E27FC236}">
                <a16:creationId xmlns:a16="http://schemas.microsoft.com/office/drawing/2014/main" id="{0C57CC74-7B43-19E5-0B65-9755C52E0EC7}"/>
              </a:ext>
            </a:extLst>
          </p:cNvPr>
          <p:cNvSpPr/>
          <p:nvPr/>
        </p:nvSpPr>
        <p:spPr>
          <a:xfrm>
            <a:off x="317024" y="3233643"/>
            <a:ext cx="13017" cy="13017"/>
          </a:xfrm>
          <a:prstGeom prst="ellipse">
            <a:avLst/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75" name="m-s03_honeycomb-dotr-06">
            <a:extLst>
              <a:ext uri="{FF2B5EF4-FFF2-40B4-BE49-F238E27FC236}">
                <a16:creationId xmlns:a16="http://schemas.microsoft.com/office/drawing/2014/main" id="{3C910465-1A0D-AA54-EE27-768F6AD68092}"/>
              </a:ext>
            </a:extLst>
          </p:cNvPr>
          <p:cNvSpPr/>
          <p:nvPr/>
        </p:nvSpPr>
        <p:spPr>
          <a:xfrm>
            <a:off x="311166" y="3227785"/>
            <a:ext cx="24733" cy="24733"/>
          </a:xfrm>
          <a:prstGeom prst="ellipse">
            <a:avLst/>
          </a:prstGeom>
          <a:noFill/>
          <a:ln w="2540" cap="rnd">
            <a:solidFill>
              <a:srgbClr val="54A2DF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76" name="m-s03_honeycomb-h-06">
            <a:extLst>
              <a:ext uri="{FF2B5EF4-FFF2-40B4-BE49-F238E27FC236}">
                <a16:creationId xmlns:a16="http://schemas.microsoft.com/office/drawing/2014/main" id="{B37D9440-61C7-D332-AD2E-A819A823015E}"/>
              </a:ext>
            </a:extLst>
          </p:cNvPr>
          <p:cNvSpPr txBox="1"/>
          <p:nvPr/>
        </p:nvSpPr>
        <p:spPr>
          <a:xfrm>
            <a:off x="107051" y="3192149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组织人才</a:t>
            </a:r>
          </a:p>
        </p:txBody>
      </p:sp>
      <p:sp>
        <p:nvSpPr>
          <p:cNvPr id="977" name="m-s03_honeycomb-rule-06">
            <a:extLst>
              <a:ext uri="{FF2B5EF4-FFF2-40B4-BE49-F238E27FC236}">
                <a16:creationId xmlns:a16="http://schemas.microsoft.com/office/drawing/2014/main" id="{A04E5B4F-138A-120D-AD06-D835EFD34A4A}"/>
              </a:ext>
            </a:extLst>
          </p:cNvPr>
          <p:cNvSpPr/>
          <p:nvPr/>
        </p:nvSpPr>
        <p:spPr>
          <a:xfrm>
            <a:off x="-40958" y="3257074"/>
            <a:ext cx="309816" cy="1562"/>
          </a:xfrm>
          <a:prstGeom prst="roundRect">
            <a:avLst>
              <a:gd name="adj" fmla="val 12299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78" name="m-s03_honeycomb-p-06-1">
            <a:extLst>
              <a:ext uri="{FF2B5EF4-FFF2-40B4-BE49-F238E27FC236}">
                <a16:creationId xmlns:a16="http://schemas.microsoft.com/office/drawing/2014/main" id="{47C7CBF6-C2D4-BAA8-2A11-0F0CE62DEC1B}"/>
              </a:ext>
            </a:extLst>
          </p:cNvPr>
          <p:cNvSpPr txBox="1"/>
          <p:nvPr/>
        </p:nvSpPr>
        <p:spPr>
          <a:xfrm>
            <a:off x="-6656" y="3266691"/>
            <a:ext cx="27824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专家梯队与内部培养体系</a:t>
            </a:r>
          </a:p>
        </p:txBody>
      </p:sp>
      <p:sp>
        <p:nvSpPr>
          <p:cNvPr id="979" name="m-s03_honeycomb-p-06-2">
            <a:extLst>
              <a:ext uri="{FF2B5EF4-FFF2-40B4-BE49-F238E27FC236}">
                <a16:creationId xmlns:a16="http://schemas.microsoft.com/office/drawing/2014/main" id="{B286B184-21F9-00F9-15BA-E440F1CA5D00}"/>
              </a:ext>
            </a:extLst>
          </p:cNvPr>
          <p:cNvSpPr txBox="1"/>
          <p:nvPr/>
        </p:nvSpPr>
        <p:spPr>
          <a:xfrm>
            <a:off x="-26834" y="3301838"/>
            <a:ext cx="298426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核心团队平均司龄 6.2 年</a:t>
            </a:r>
          </a:p>
        </p:txBody>
      </p:sp>
      <p:sp>
        <p:nvSpPr>
          <p:cNvPr id="980" name="m-s03_honeycomb-mark-06">
            <a:extLst>
              <a:ext uri="{FF2B5EF4-FFF2-40B4-BE49-F238E27FC236}">
                <a16:creationId xmlns:a16="http://schemas.microsoft.com/office/drawing/2014/main" id="{2F6E7F1F-6AB5-D203-C99D-5B780EC080EF}"/>
              </a:ext>
            </a:extLst>
          </p:cNvPr>
          <p:cNvSpPr txBox="1"/>
          <p:nvPr/>
        </p:nvSpPr>
        <p:spPr>
          <a:xfrm>
            <a:off x="-215913" y="3170950"/>
            <a:ext cx="152461" cy="1275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70" b="1" i="0" u="none" strike="noStrike" kern="1200" cap="none" spc="20" normalizeH="0" baseline="0" noProof="0">
                <a:ln>
                  <a:noFill/>
                </a:ln>
                <a:solidFill>
                  <a:srgbClr val="54A2DF">
                    <a:alpha val="13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06</a:t>
            </a:r>
          </a:p>
        </p:txBody>
      </p:sp>
      <p:sp>
        <p:nvSpPr>
          <p:cNvPr id="981" name="m-s03_honeycomb-lead-05">
            <a:extLst>
              <a:ext uri="{FF2B5EF4-FFF2-40B4-BE49-F238E27FC236}">
                <a16:creationId xmlns:a16="http://schemas.microsoft.com/office/drawing/2014/main" id="{9B307145-BA0A-ABEE-11EF-C82D4944788D}"/>
              </a:ext>
            </a:extLst>
          </p:cNvPr>
          <p:cNvSpPr/>
          <p:nvPr/>
        </p:nvSpPr>
        <p:spPr>
          <a:xfrm>
            <a:off x="323532" y="3478022"/>
            <a:ext cx="32956" cy="3175"/>
          </a:xfrm>
          <a:custGeom>
            <a:avLst/>
            <a:gdLst/>
            <a:ahLst/>
            <a:cxnLst/>
            <a:rect l="0" t="0" r="r" b="b"/>
            <a:pathLst>
              <a:path w="32956" h="3175">
                <a:moveTo>
                  <a:pt x="32956" y="0"/>
                </a:moveTo>
                <a:lnTo>
                  <a:pt x="16510" y="0"/>
                </a:lnTo>
                <a:quadBezTo>
                  <a:pt x="16510" y="0"/>
                  <a:pt x="16510" y="0"/>
                </a:quadBezTo>
                <a:lnTo>
                  <a:pt x="0" y="0"/>
                </a:lnTo>
              </a:path>
            </a:pathLst>
          </a:custGeom>
          <a:noFill/>
          <a:ln w="25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82" name="m-s03_honeycomb-dot-05">
            <a:extLst>
              <a:ext uri="{FF2B5EF4-FFF2-40B4-BE49-F238E27FC236}">
                <a16:creationId xmlns:a16="http://schemas.microsoft.com/office/drawing/2014/main" id="{F2C84D85-CB54-3CE0-2EFD-A5A62CE682D4}"/>
              </a:ext>
            </a:extLst>
          </p:cNvPr>
          <p:cNvSpPr/>
          <p:nvPr/>
        </p:nvSpPr>
        <p:spPr>
          <a:xfrm>
            <a:off x="317024" y="3471513"/>
            <a:ext cx="13017" cy="13017"/>
          </a:xfrm>
          <a:prstGeom prst="ellipse">
            <a:avLst/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83" name="m-s03_honeycomb-dotr-05">
            <a:extLst>
              <a:ext uri="{FF2B5EF4-FFF2-40B4-BE49-F238E27FC236}">
                <a16:creationId xmlns:a16="http://schemas.microsoft.com/office/drawing/2014/main" id="{F0C1BCF1-0FAB-C8DB-0EFA-F295F6390B57}"/>
              </a:ext>
            </a:extLst>
          </p:cNvPr>
          <p:cNvSpPr/>
          <p:nvPr/>
        </p:nvSpPr>
        <p:spPr>
          <a:xfrm>
            <a:off x="311166" y="3465655"/>
            <a:ext cx="24733" cy="24733"/>
          </a:xfrm>
          <a:prstGeom prst="ellipse">
            <a:avLst/>
          </a:prstGeom>
          <a:noFill/>
          <a:ln w="2540" cap="rnd">
            <a:solidFill>
              <a:srgbClr val="4694D7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84" name="m-s03_honeycomb-h-05">
            <a:extLst>
              <a:ext uri="{FF2B5EF4-FFF2-40B4-BE49-F238E27FC236}">
                <a16:creationId xmlns:a16="http://schemas.microsoft.com/office/drawing/2014/main" id="{84633086-DA02-8DA4-20D3-1CE5049551F8}"/>
              </a:ext>
            </a:extLst>
          </p:cNvPr>
          <p:cNvSpPr txBox="1"/>
          <p:nvPr/>
        </p:nvSpPr>
        <p:spPr>
          <a:xfrm>
            <a:off x="107051" y="3430020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供应保障</a:t>
            </a:r>
          </a:p>
        </p:txBody>
      </p:sp>
      <p:sp>
        <p:nvSpPr>
          <p:cNvPr id="985" name="m-s03_honeycomb-rule-05">
            <a:extLst>
              <a:ext uri="{FF2B5EF4-FFF2-40B4-BE49-F238E27FC236}">
                <a16:creationId xmlns:a16="http://schemas.microsoft.com/office/drawing/2014/main" id="{5FF55EA3-87D7-9DEE-8953-DA8134BF7EEA}"/>
              </a:ext>
            </a:extLst>
          </p:cNvPr>
          <p:cNvSpPr/>
          <p:nvPr/>
        </p:nvSpPr>
        <p:spPr>
          <a:xfrm>
            <a:off x="-40958" y="3494945"/>
            <a:ext cx="309816" cy="1562"/>
          </a:xfrm>
          <a:prstGeom prst="roundRect">
            <a:avLst>
              <a:gd name="adj" fmla="val 12299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86" name="m-s03_honeycomb-p-05-1">
            <a:extLst>
              <a:ext uri="{FF2B5EF4-FFF2-40B4-BE49-F238E27FC236}">
                <a16:creationId xmlns:a16="http://schemas.microsoft.com/office/drawing/2014/main" id="{30F5410A-5994-DABC-3F6F-CF270446B5B6}"/>
              </a:ext>
            </a:extLst>
          </p:cNvPr>
          <p:cNvSpPr txBox="1"/>
          <p:nvPr/>
        </p:nvSpPr>
        <p:spPr>
          <a:xfrm>
            <a:off x="63638" y="3504561"/>
            <a:ext cx="20795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南北双仓协同调拨</a:t>
            </a:r>
          </a:p>
        </p:txBody>
      </p:sp>
      <p:sp>
        <p:nvSpPr>
          <p:cNvPr id="987" name="m-s03_honeycomb-p-05-2">
            <a:extLst>
              <a:ext uri="{FF2B5EF4-FFF2-40B4-BE49-F238E27FC236}">
                <a16:creationId xmlns:a16="http://schemas.microsoft.com/office/drawing/2014/main" id="{49992C68-A74A-C714-C809-E5544D6D5B5B}"/>
              </a:ext>
            </a:extLst>
          </p:cNvPr>
          <p:cNvSpPr txBox="1"/>
          <p:nvPr/>
        </p:nvSpPr>
        <p:spPr>
          <a:xfrm>
            <a:off x="10006" y="3539709"/>
            <a:ext cx="261587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平均履约时效 48 小时</a:t>
            </a:r>
          </a:p>
        </p:txBody>
      </p:sp>
      <p:sp>
        <p:nvSpPr>
          <p:cNvPr id="988" name="m-s03_honeycomb-mark-05">
            <a:extLst>
              <a:ext uri="{FF2B5EF4-FFF2-40B4-BE49-F238E27FC236}">
                <a16:creationId xmlns:a16="http://schemas.microsoft.com/office/drawing/2014/main" id="{FA438550-30FE-0D65-723B-581F36683762}"/>
              </a:ext>
            </a:extLst>
          </p:cNvPr>
          <p:cNvSpPr txBox="1"/>
          <p:nvPr/>
        </p:nvSpPr>
        <p:spPr>
          <a:xfrm>
            <a:off x="-215913" y="3408821"/>
            <a:ext cx="152461" cy="1275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70" b="1" i="0" u="none" strike="noStrike" kern="1200" cap="none" spc="20" normalizeH="0" baseline="0" noProof="0">
                <a:ln>
                  <a:noFill/>
                </a:ln>
                <a:solidFill>
                  <a:srgbClr val="4694D7">
                    <a:alpha val="13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989" name="m-s03_honeycomb-lead-04">
            <a:extLst>
              <a:ext uri="{FF2B5EF4-FFF2-40B4-BE49-F238E27FC236}">
                <a16:creationId xmlns:a16="http://schemas.microsoft.com/office/drawing/2014/main" id="{BD1C47DE-A597-00DC-2192-C904A59DCBA5}"/>
              </a:ext>
            </a:extLst>
          </p:cNvPr>
          <p:cNvSpPr/>
          <p:nvPr/>
        </p:nvSpPr>
        <p:spPr>
          <a:xfrm>
            <a:off x="323532" y="3715893"/>
            <a:ext cx="170307" cy="3175"/>
          </a:xfrm>
          <a:custGeom>
            <a:avLst/>
            <a:gdLst/>
            <a:ahLst/>
            <a:cxnLst/>
            <a:rect l="0" t="0" r="r" b="b"/>
            <a:pathLst>
              <a:path w="170307" h="3175">
                <a:moveTo>
                  <a:pt x="170307" y="0"/>
                </a:moveTo>
                <a:lnTo>
                  <a:pt x="85153" y="0"/>
                </a:lnTo>
                <a:quadBezTo>
                  <a:pt x="85153" y="0"/>
                  <a:pt x="85153" y="0"/>
                </a:quadBezTo>
                <a:lnTo>
                  <a:pt x="0" y="0"/>
                </a:lnTo>
              </a:path>
            </a:pathLst>
          </a:custGeom>
          <a:noFill/>
          <a:ln w="25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90" name="m-s03_honeycomb-dot-04">
            <a:extLst>
              <a:ext uri="{FF2B5EF4-FFF2-40B4-BE49-F238E27FC236}">
                <a16:creationId xmlns:a16="http://schemas.microsoft.com/office/drawing/2014/main" id="{DD39EA36-ECF8-4BE9-59BA-E9414ECD9EC3}"/>
              </a:ext>
            </a:extLst>
          </p:cNvPr>
          <p:cNvSpPr/>
          <p:nvPr/>
        </p:nvSpPr>
        <p:spPr>
          <a:xfrm>
            <a:off x="317024" y="3709384"/>
            <a:ext cx="13017" cy="13017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91" name="m-s03_honeycomb-dotr-04">
            <a:extLst>
              <a:ext uri="{FF2B5EF4-FFF2-40B4-BE49-F238E27FC236}">
                <a16:creationId xmlns:a16="http://schemas.microsoft.com/office/drawing/2014/main" id="{47386D3F-7D5E-589A-5A40-7C36777E9188}"/>
              </a:ext>
            </a:extLst>
          </p:cNvPr>
          <p:cNvSpPr/>
          <p:nvPr/>
        </p:nvSpPr>
        <p:spPr>
          <a:xfrm>
            <a:off x="311166" y="3703526"/>
            <a:ext cx="24733" cy="24733"/>
          </a:xfrm>
          <a:prstGeom prst="ellipse">
            <a:avLst/>
          </a:prstGeom>
          <a:noFill/>
          <a:ln w="2540" cap="rnd">
            <a:solidFill>
              <a:srgbClr val="2E77C2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92" name="m-s03_honeycomb-h-04">
            <a:extLst>
              <a:ext uri="{FF2B5EF4-FFF2-40B4-BE49-F238E27FC236}">
                <a16:creationId xmlns:a16="http://schemas.microsoft.com/office/drawing/2014/main" id="{DE5E518C-C660-A679-175B-050DD87D5FDB}"/>
              </a:ext>
            </a:extLst>
          </p:cNvPr>
          <p:cNvSpPr txBox="1"/>
          <p:nvPr/>
        </p:nvSpPr>
        <p:spPr>
          <a:xfrm>
            <a:off x="107051" y="3667891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品牌营销</a:t>
            </a:r>
          </a:p>
        </p:txBody>
      </p:sp>
      <p:sp>
        <p:nvSpPr>
          <p:cNvPr id="993" name="m-s03_honeycomb-rule-04">
            <a:extLst>
              <a:ext uri="{FF2B5EF4-FFF2-40B4-BE49-F238E27FC236}">
                <a16:creationId xmlns:a16="http://schemas.microsoft.com/office/drawing/2014/main" id="{77E115F7-2C94-F016-2EB5-9B54210C1D5C}"/>
              </a:ext>
            </a:extLst>
          </p:cNvPr>
          <p:cNvSpPr/>
          <p:nvPr/>
        </p:nvSpPr>
        <p:spPr>
          <a:xfrm>
            <a:off x="-40958" y="3732815"/>
            <a:ext cx="309816" cy="1562"/>
          </a:xfrm>
          <a:prstGeom prst="roundRect">
            <a:avLst>
              <a:gd name="adj" fmla="val 12299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94" name="m-s03_honeycomb-p-04-1">
            <a:extLst>
              <a:ext uri="{FF2B5EF4-FFF2-40B4-BE49-F238E27FC236}">
                <a16:creationId xmlns:a16="http://schemas.microsoft.com/office/drawing/2014/main" id="{8F5B3AEE-BC1C-395E-9A0E-7201B03783A9}"/>
              </a:ext>
            </a:extLst>
          </p:cNvPr>
          <p:cNvSpPr txBox="1"/>
          <p:nvPr/>
        </p:nvSpPr>
        <p:spPr>
          <a:xfrm>
            <a:off x="-6656" y="3742432"/>
            <a:ext cx="27824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全域内容运营与私域沉淀</a:t>
            </a:r>
          </a:p>
        </p:txBody>
      </p:sp>
      <p:sp>
        <p:nvSpPr>
          <p:cNvPr id="995" name="m-s03_honeycomb-p-04-2">
            <a:extLst>
              <a:ext uri="{FF2B5EF4-FFF2-40B4-BE49-F238E27FC236}">
                <a16:creationId xmlns:a16="http://schemas.microsoft.com/office/drawing/2014/main" id="{F1143A33-7C2A-2B50-19BF-18EA227CBD9C}"/>
              </a:ext>
            </a:extLst>
          </p:cNvPr>
          <p:cNvSpPr txBox="1"/>
          <p:nvPr/>
        </p:nvSpPr>
        <p:spPr>
          <a:xfrm>
            <a:off x="-53650" y="3777579"/>
            <a:ext cx="32524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年触达用户规模超 3,000 万</a:t>
            </a:r>
          </a:p>
        </p:txBody>
      </p:sp>
      <p:sp>
        <p:nvSpPr>
          <p:cNvPr id="996" name="m-s03_honeycomb-mark-04">
            <a:extLst>
              <a:ext uri="{FF2B5EF4-FFF2-40B4-BE49-F238E27FC236}">
                <a16:creationId xmlns:a16="http://schemas.microsoft.com/office/drawing/2014/main" id="{9791FA02-3FEF-FAE5-F060-ED3FBCB27414}"/>
              </a:ext>
            </a:extLst>
          </p:cNvPr>
          <p:cNvSpPr txBox="1"/>
          <p:nvPr/>
        </p:nvSpPr>
        <p:spPr>
          <a:xfrm>
            <a:off x="-215913" y="3646692"/>
            <a:ext cx="152461" cy="1275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70" b="1" i="0" u="none" strike="noStrike" kern="1200" cap="none" spc="20" normalizeH="0" baseline="0" noProof="0">
                <a:ln>
                  <a:noFill/>
                </a:ln>
                <a:solidFill>
                  <a:srgbClr val="2E77C2">
                    <a:alpha val="13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04</a:t>
            </a:r>
          </a:p>
        </p:txBody>
      </p:sp>
      <p:cxnSp>
        <p:nvCxnSpPr>
          <p:cNvPr id="997" name="m-s03_honeycomb-foot-line">
            <a:extLst>
              <a:ext uri="{FF2B5EF4-FFF2-40B4-BE49-F238E27FC236}">
                <a16:creationId xmlns:a16="http://schemas.microsoft.com/office/drawing/2014/main" id="{20990429-376C-5D1C-6D9E-024F5352CC96}"/>
              </a:ext>
            </a:extLst>
          </p:cNvPr>
          <p:cNvCxnSpPr/>
          <p:nvPr/>
        </p:nvCxnSpPr>
        <p:spPr>
          <a:xfrm>
            <a:off x="-324739" y="40429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8" name="m-s03_honeycomb-foot-l">
            <a:extLst>
              <a:ext uri="{FF2B5EF4-FFF2-40B4-BE49-F238E27FC236}">
                <a16:creationId xmlns:a16="http://schemas.microsoft.com/office/drawing/2014/main" id="{98ED6F45-C403-CC59-FAE9-4965F211EF48}"/>
              </a:ext>
            </a:extLst>
          </p:cNvPr>
          <p:cNvSpPr txBox="1"/>
          <p:nvPr/>
        </p:nvSpPr>
        <p:spPr>
          <a:xfrm>
            <a:off x="-326926" y="4056923"/>
            <a:ext cx="21429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核心能力 · 六大板块</a:t>
            </a:r>
          </a:p>
        </p:txBody>
      </p:sp>
      <p:sp>
        <p:nvSpPr>
          <p:cNvPr id="999" name="m-s03_honeycomb-foot-r">
            <a:extLst>
              <a:ext uri="{FF2B5EF4-FFF2-40B4-BE49-F238E27FC236}">
                <a16:creationId xmlns:a16="http://schemas.microsoft.com/office/drawing/2014/main" id="{08BA7B92-ADBF-A0B9-A1F5-E15DCD3B758B}"/>
              </a:ext>
            </a:extLst>
          </p:cNvPr>
          <p:cNvSpPr txBox="1"/>
          <p:nvPr/>
        </p:nvSpPr>
        <p:spPr>
          <a:xfrm>
            <a:off x="1677509" y="40569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1000" name="mini-card-d08_kpi_board">
            <a:extLst>
              <a:ext uri="{FF2B5EF4-FFF2-40B4-BE49-F238E27FC236}">
                <a16:creationId xmlns:a16="http://schemas.microsoft.com/office/drawing/2014/main" id="{C4E5D9D8-BE11-FD4A-7C4E-65C8EDA0FFC7}"/>
              </a:ext>
            </a:extLst>
          </p:cNvPr>
          <p:cNvSpPr/>
          <p:nvPr/>
        </p:nvSpPr>
        <p:spPr>
          <a:xfrm>
            <a:off x="2171700" y="27178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0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0" y="1405890"/>
                </a:lnTo>
                <a:cubicBezTo>
                  <a:pt x="35877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7"/>
                  <a:pt x="35877" y="0"/>
                  <a:pt x="80200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01" name="m-d08_kpi_board-title-bar">
            <a:extLst>
              <a:ext uri="{FF2B5EF4-FFF2-40B4-BE49-F238E27FC236}">
                <a16:creationId xmlns:a16="http://schemas.microsoft.com/office/drawing/2014/main" id="{1E758883-C1A4-2B69-5B4D-4AE89D38DB93}"/>
              </a:ext>
            </a:extLst>
          </p:cNvPr>
          <p:cNvSpPr/>
          <p:nvPr/>
        </p:nvSpPr>
        <p:spPr>
          <a:xfrm>
            <a:off x="2291461" y="28167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02" name="m-d08_kpi_board-title-bar-accent">
            <a:extLst>
              <a:ext uri="{FF2B5EF4-FFF2-40B4-BE49-F238E27FC236}">
                <a16:creationId xmlns:a16="http://schemas.microsoft.com/office/drawing/2014/main" id="{884A7AF4-0020-C4B3-2815-65CC049ECAB2}"/>
              </a:ext>
            </a:extLst>
          </p:cNvPr>
          <p:cNvSpPr/>
          <p:nvPr/>
        </p:nvSpPr>
        <p:spPr>
          <a:xfrm>
            <a:off x="2291461" y="28167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03" name="m-d08_kpi_board-title-cn">
            <a:extLst>
              <a:ext uri="{FF2B5EF4-FFF2-40B4-BE49-F238E27FC236}">
                <a16:creationId xmlns:a16="http://schemas.microsoft.com/office/drawing/2014/main" id="{74A96F51-BC83-DD50-5767-52E5EA79FB64}"/>
              </a:ext>
            </a:extLst>
          </p:cNvPr>
          <p:cNvSpPr txBox="1"/>
          <p:nvPr/>
        </p:nvSpPr>
        <p:spPr>
          <a:xfrm>
            <a:off x="2323640" y="2799368"/>
            <a:ext cx="426453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季度经营看板</a:t>
            </a:r>
          </a:p>
        </p:txBody>
      </p:sp>
      <p:sp>
        <p:nvSpPr>
          <p:cNvPr id="1004" name="m-d08_kpi_board-title-en">
            <a:extLst>
              <a:ext uri="{FF2B5EF4-FFF2-40B4-BE49-F238E27FC236}">
                <a16:creationId xmlns:a16="http://schemas.microsoft.com/office/drawing/2014/main" id="{696252DA-134D-7C56-9139-7F0A5676D5D1}"/>
              </a:ext>
            </a:extLst>
          </p:cNvPr>
          <p:cNvSpPr txBox="1"/>
          <p:nvPr/>
        </p:nvSpPr>
        <p:spPr>
          <a:xfrm>
            <a:off x="2330930" y="2886650"/>
            <a:ext cx="25907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KPI DASHBOARD</a:t>
            </a:r>
          </a:p>
        </p:txBody>
      </p:sp>
      <p:sp>
        <p:nvSpPr>
          <p:cNvPr id="1005" name="m-d08_kpi_board-title-sub">
            <a:extLst>
              <a:ext uri="{FF2B5EF4-FFF2-40B4-BE49-F238E27FC236}">
                <a16:creationId xmlns:a16="http://schemas.microsoft.com/office/drawing/2014/main" id="{E3D93FE2-9521-B7F5-1F1B-22DD770D0042}"/>
              </a:ext>
            </a:extLst>
          </p:cNvPr>
          <p:cNvSpPr txBox="1"/>
          <p:nvPr/>
        </p:nvSpPr>
        <p:spPr>
          <a:xfrm>
            <a:off x="4041976" y="2855792"/>
            <a:ext cx="511978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六项核心指标的当期值、环比变化与近六期走势</a:t>
            </a:r>
          </a:p>
        </p:txBody>
      </p:sp>
      <p:sp>
        <p:nvSpPr>
          <p:cNvPr id="1006" name="m-d08_kpi_board-topbar">
            <a:extLst>
              <a:ext uri="{FF2B5EF4-FFF2-40B4-BE49-F238E27FC236}">
                <a16:creationId xmlns:a16="http://schemas.microsoft.com/office/drawing/2014/main" id="{B023A247-2D19-B318-9DEA-36CD10E6AC4B}"/>
              </a:ext>
            </a:extLst>
          </p:cNvPr>
          <p:cNvSpPr/>
          <p:nvPr/>
        </p:nvSpPr>
        <p:spPr>
          <a:xfrm>
            <a:off x="2366962" y="2998978"/>
            <a:ext cx="2108835" cy="109347"/>
          </a:xfrm>
          <a:custGeom>
            <a:avLst/>
            <a:gdLst/>
            <a:ahLst/>
            <a:cxnLst/>
            <a:rect l="0" t="0" r="r" b="b"/>
            <a:pathLst>
              <a:path w="2108835" h="109347">
                <a:moveTo>
                  <a:pt x="20828" y="0"/>
                </a:moveTo>
                <a:lnTo>
                  <a:pt x="2088007" y="0"/>
                </a:lnTo>
                <a:cubicBezTo>
                  <a:pt x="2099500" y="0"/>
                  <a:pt x="2108835" y="9335"/>
                  <a:pt x="2108835" y="20828"/>
                </a:cubicBezTo>
                <a:lnTo>
                  <a:pt x="2108835" y="88519"/>
                </a:lnTo>
                <a:cubicBezTo>
                  <a:pt x="2108835" y="100012"/>
                  <a:pt x="2099500" y="109347"/>
                  <a:pt x="2088007" y="109347"/>
                </a:cubicBezTo>
                <a:lnTo>
                  <a:pt x="20828" y="109347"/>
                </a:lnTo>
                <a:cubicBezTo>
                  <a:pt x="9335" y="109347"/>
                  <a:pt x="0" y="100012"/>
                  <a:pt x="0" y="88519"/>
                </a:cubicBezTo>
                <a:lnTo>
                  <a:pt x="0" y="20828"/>
                </a:lnTo>
                <a:cubicBezTo>
                  <a:pt x="0" y="9335"/>
                  <a:pt x="9335" y="0"/>
                  <a:pt x="20828" y="0"/>
                </a:cubic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0A3A88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07" name="m-d08_kpi_board-icon-target">
            <a:extLst>
              <a:ext uri="{FF2B5EF4-FFF2-40B4-BE49-F238E27FC236}">
                <a16:creationId xmlns:a16="http://schemas.microsoft.com/office/drawing/2014/main" id="{147374A0-DBDB-A441-2B8E-640F64CE46E5}"/>
              </a:ext>
            </a:extLst>
          </p:cNvPr>
          <p:cNvSpPr/>
          <p:nvPr/>
        </p:nvSpPr>
        <p:spPr>
          <a:xfrm>
            <a:off x="2426843" y="3039682"/>
            <a:ext cx="10731" cy="13970"/>
          </a:xfrm>
          <a:custGeom>
            <a:avLst/>
            <a:gdLst/>
            <a:ahLst/>
            <a:cxnLst/>
            <a:rect l="0" t="0" r="r" b="b"/>
            <a:pathLst>
              <a:path w="10731" h="13970">
                <a:moveTo>
                  <a:pt x="0" y="8128"/>
                </a:moveTo>
                <a:lnTo>
                  <a:pt x="0" y="0"/>
                </a:lnTo>
                <a:moveTo>
                  <a:pt x="0" y="13970"/>
                </a:moveTo>
                <a:lnTo>
                  <a:pt x="10731" y="3238"/>
                </a:lnTo>
              </a:path>
            </a:pathLst>
          </a:custGeom>
          <a:noFill/>
          <a:ln w="260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08" name="m-d08_kpi_board-icon-target">
            <a:extLst>
              <a:ext uri="{FF2B5EF4-FFF2-40B4-BE49-F238E27FC236}">
                <a16:creationId xmlns:a16="http://schemas.microsoft.com/office/drawing/2014/main" id="{6DAD3D73-37B9-1CD4-A700-18E7D8CD6CA5}"/>
              </a:ext>
            </a:extLst>
          </p:cNvPr>
          <p:cNvSpPr/>
          <p:nvPr/>
        </p:nvSpPr>
        <p:spPr>
          <a:xfrm>
            <a:off x="2412849" y="3039658"/>
            <a:ext cx="27988" cy="27988"/>
          </a:xfrm>
          <a:prstGeom prst="ellipse">
            <a:avLst/>
          </a:prstGeom>
          <a:noFill/>
          <a:ln w="260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09" name="m-d08_kpi_board-icon-target">
            <a:extLst>
              <a:ext uri="{FF2B5EF4-FFF2-40B4-BE49-F238E27FC236}">
                <a16:creationId xmlns:a16="http://schemas.microsoft.com/office/drawing/2014/main" id="{C4DCD021-1C10-6D2C-415F-05CDC91A48EB}"/>
              </a:ext>
            </a:extLst>
          </p:cNvPr>
          <p:cNvSpPr/>
          <p:nvPr/>
        </p:nvSpPr>
        <p:spPr>
          <a:xfrm>
            <a:off x="2419683" y="3046492"/>
            <a:ext cx="14319" cy="14319"/>
          </a:xfrm>
          <a:prstGeom prst="ellipse">
            <a:avLst/>
          </a:prstGeom>
          <a:noFill/>
          <a:ln w="260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10" name="m-d08_kpi_board-top-t">
            <a:extLst>
              <a:ext uri="{FF2B5EF4-FFF2-40B4-BE49-F238E27FC236}">
                <a16:creationId xmlns:a16="http://schemas.microsoft.com/office/drawing/2014/main" id="{5B94C462-3471-2EA5-562B-4EC06154F315}"/>
              </a:ext>
            </a:extLst>
          </p:cNvPr>
          <p:cNvSpPr txBox="1"/>
          <p:nvPr/>
        </p:nvSpPr>
        <p:spPr>
          <a:xfrm>
            <a:off x="2467666" y="3028697"/>
            <a:ext cx="275190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2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2026 年第三季度</a:t>
            </a:r>
          </a:p>
        </p:txBody>
      </p:sp>
      <p:sp>
        <p:nvSpPr>
          <p:cNvPr id="1011" name="m-d08_kpi_board-tl-1">
            <a:extLst>
              <a:ext uri="{FF2B5EF4-FFF2-40B4-BE49-F238E27FC236}">
                <a16:creationId xmlns:a16="http://schemas.microsoft.com/office/drawing/2014/main" id="{552AEE3D-1E6C-3A6F-8951-24E1819303CD}"/>
              </a:ext>
            </a:extLst>
          </p:cNvPr>
          <p:cNvSpPr txBox="1"/>
          <p:nvPr/>
        </p:nvSpPr>
        <p:spPr>
          <a:xfrm>
            <a:off x="3276001" y="3023334"/>
            <a:ext cx="11273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8" normalizeH="0" baseline="0" noProof="0">
                <a:ln>
                  <a:noFill/>
                </a:ln>
                <a:solidFill>
                  <a:srgbClr val="BFD6F0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目标完成度</a:t>
            </a:r>
          </a:p>
        </p:txBody>
      </p:sp>
      <p:sp>
        <p:nvSpPr>
          <p:cNvPr id="1012" name="m-d08_kpi_board-tv-1">
            <a:extLst>
              <a:ext uri="{FF2B5EF4-FFF2-40B4-BE49-F238E27FC236}">
                <a16:creationId xmlns:a16="http://schemas.microsoft.com/office/drawing/2014/main" id="{EC181CB8-A2FB-FA4F-435B-D125221CC50E}"/>
              </a:ext>
            </a:extLst>
          </p:cNvPr>
          <p:cNvSpPr txBox="1"/>
          <p:nvPr/>
        </p:nvSpPr>
        <p:spPr>
          <a:xfrm>
            <a:off x="3274438" y="3046310"/>
            <a:ext cx="136996" cy="546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5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103.6%</a:t>
            </a:r>
          </a:p>
        </p:txBody>
      </p:sp>
      <p:cxnSp>
        <p:nvCxnSpPr>
          <p:cNvPr id="1013" name="m-d08_kpi_board-tsep-1">
            <a:extLst>
              <a:ext uri="{FF2B5EF4-FFF2-40B4-BE49-F238E27FC236}">
                <a16:creationId xmlns:a16="http://schemas.microsoft.com/office/drawing/2014/main" id="{D38EF64D-119A-3F81-7A60-A06BFA55ABA9}"/>
              </a:ext>
            </a:extLst>
          </p:cNvPr>
          <p:cNvCxnSpPr/>
          <p:nvPr/>
        </p:nvCxnSpPr>
        <p:spPr>
          <a:xfrm>
            <a:off x="3603625" y="3027616"/>
            <a:ext cx="0" cy="52070"/>
          </a:xfrm>
          <a:prstGeom prst="line">
            <a:avLst/>
          </a:prstGeom>
          <a:ln w="2540" cap="rnd">
            <a:solidFill>
              <a:srgbClr val="FFFFFF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14" name="m-d08_kpi_board-tl-2">
            <a:extLst>
              <a:ext uri="{FF2B5EF4-FFF2-40B4-BE49-F238E27FC236}">
                <a16:creationId xmlns:a16="http://schemas.microsoft.com/office/drawing/2014/main" id="{77340338-9BBE-6C42-7D91-F18EBF3FC278}"/>
              </a:ext>
            </a:extLst>
          </p:cNvPr>
          <p:cNvSpPr txBox="1"/>
          <p:nvPr/>
        </p:nvSpPr>
        <p:spPr>
          <a:xfrm>
            <a:off x="3666526" y="3023334"/>
            <a:ext cx="93466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8" normalizeH="0" baseline="0" noProof="0">
                <a:ln>
                  <a:noFill/>
                </a:ln>
                <a:solidFill>
                  <a:srgbClr val="BFD6F0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对比上季</a:t>
            </a:r>
          </a:p>
        </p:txBody>
      </p:sp>
      <p:sp>
        <p:nvSpPr>
          <p:cNvPr id="1015" name="m-d08_kpi_board-tv-2">
            <a:extLst>
              <a:ext uri="{FF2B5EF4-FFF2-40B4-BE49-F238E27FC236}">
                <a16:creationId xmlns:a16="http://schemas.microsoft.com/office/drawing/2014/main" id="{23424697-4F75-D8CD-E72D-810E9246E963}"/>
              </a:ext>
            </a:extLst>
          </p:cNvPr>
          <p:cNvSpPr txBox="1"/>
          <p:nvPr/>
        </p:nvSpPr>
        <p:spPr>
          <a:xfrm>
            <a:off x="3664963" y="3046310"/>
            <a:ext cx="136996" cy="546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5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+12.4%</a:t>
            </a:r>
          </a:p>
        </p:txBody>
      </p:sp>
      <p:cxnSp>
        <p:nvCxnSpPr>
          <p:cNvPr id="1016" name="m-d08_kpi_board-tsep-2">
            <a:extLst>
              <a:ext uri="{FF2B5EF4-FFF2-40B4-BE49-F238E27FC236}">
                <a16:creationId xmlns:a16="http://schemas.microsoft.com/office/drawing/2014/main" id="{67C1537A-7A68-7241-1E53-2F9DECEDA908}"/>
              </a:ext>
            </a:extLst>
          </p:cNvPr>
          <p:cNvCxnSpPr/>
          <p:nvPr/>
        </p:nvCxnSpPr>
        <p:spPr>
          <a:xfrm>
            <a:off x="3994150" y="3027616"/>
            <a:ext cx="0" cy="52070"/>
          </a:xfrm>
          <a:prstGeom prst="line">
            <a:avLst/>
          </a:prstGeom>
          <a:ln w="2540" cap="rnd">
            <a:solidFill>
              <a:srgbClr val="FFFFFF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17" name="m-d08_kpi_board-tl-3">
            <a:extLst>
              <a:ext uri="{FF2B5EF4-FFF2-40B4-BE49-F238E27FC236}">
                <a16:creationId xmlns:a16="http://schemas.microsoft.com/office/drawing/2014/main" id="{8401EE19-8F91-4C4F-16BC-5C1AFD40E132}"/>
              </a:ext>
            </a:extLst>
          </p:cNvPr>
          <p:cNvSpPr txBox="1"/>
          <p:nvPr/>
        </p:nvSpPr>
        <p:spPr>
          <a:xfrm>
            <a:off x="4057051" y="3023334"/>
            <a:ext cx="93466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8" normalizeH="0" baseline="0" noProof="0">
                <a:ln>
                  <a:noFill/>
                </a:ln>
                <a:solidFill>
                  <a:srgbClr val="BFD6F0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达标指标</a:t>
            </a:r>
          </a:p>
        </p:txBody>
      </p:sp>
      <p:sp>
        <p:nvSpPr>
          <p:cNvPr id="1018" name="m-d08_kpi_board-tv-3">
            <a:extLst>
              <a:ext uri="{FF2B5EF4-FFF2-40B4-BE49-F238E27FC236}">
                <a16:creationId xmlns:a16="http://schemas.microsoft.com/office/drawing/2014/main" id="{7ECDCF92-531A-21B1-DE80-3DDB1A7852BC}"/>
              </a:ext>
            </a:extLst>
          </p:cNvPr>
          <p:cNvSpPr txBox="1"/>
          <p:nvPr/>
        </p:nvSpPr>
        <p:spPr>
          <a:xfrm>
            <a:off x="4055488" y="3046310"/>
            <a:ext cx="118850" cy="546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5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5 / 6</a:t>
            </a:r>
          </a:p>
        </p:txBody>
      </p:sp>
      <p:sp>
        <p:nvSpPr>
          <p:cNvPr id="1019" name="m-d08_kpi_board-card-1">
            <a:extLst>
              <a:ext uri="{FF2B5EF4-FFF2-40B4-BE49-F238E27FC236}">
                <a16:creationId xmlns:a16="http://schemas.microsoft.com/office/drawing/2014/main" id="{F88C74C5-4D66-755B-DC33-D36FA198B3D6}"/>
              </a:ext>
            </a:extLst>
          </p:cNvPr>
          <p:cNvSpPr/>
          <p:nvPr/>
        </p:nvSpPr>
        <p:spPr>
          <a:xfrm>
            <a:off x="2366962" y="3149981"/>
            <a:ext cx="697738" cy="390525"/>
          </a:xfrm>
          <a:custGeom>
            <a:avLst/>
            <a:gdLst/>
            <a:ahLst/>
            <a:cxnLst/>
            <a:rect l="0" t="0" r="r" b="b"/>
            <a:pathLst>
              <a:path w="697738" h="390525">
                <a:moveTo>
                  <a:pt x="26035" y="0"/>
                </a:moveTo>
                <a:lnTo>
                  <a:pt x="671703" y="0"/>
                </a:lnTo>
                <a:cubicBezTo>
                  <a:pt x="686118" y="0"/>
                  <a:pt x="697738" y="11620"/>
                  <a:pt x="697738" y="26035"/>
                </a:cubicBezTo>
                <a:lnTo>
                  <a:pt x="697738" y="364490"/>
                </a:lnTo>
                <a:cubicBezTo>
                  <a:pt x="697738" y="378905"/>
                  <a:pt x="686118" y="390525"/>
                  <a:pt x="671703" y="390525"/>
                </a:cubicBezTo>
                <a:lnTo>
                  <a:pt x="26035" y="390525"/>
                </a:lnTo>
                <a:cubicBezTo>
                  <a:pt x="11620" y="390525"/>
                  <a:pt x="0" y="378905"/>
                  <a:pt x="0" y="364490"/>
                </a:cubicBezTo>
                <a:lnTo>
                  <a:pt x="0" y="26035"/>
                </a:lnTo>
                <a:cubicBezTo>
                  <a:pt x="0" y="11620"/>
                  <a:pt x="11620" y="0"/>
                  <a:pt x="260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20" name="m-d08_kpi_board-cap-1">
            <a:extLst>
              <a:ext uri="{FF2B5EF4-FFF2-40B4-BE49-F238E27FC236}">
                <a16:creationId xmlns:a16="http://schemas.microsoft.com/office/drawing/2014/main" id="{A4682FC0-32D0-6958-A218-D5D833BF5749}"/>
              </a:ext>
            </a:extLst>
          </p:cNvPr>
          <p:cNvSpPr/>
          <p:nvPr/>
        </p:nvSpPr>
        <p:spPr>
          <a:xfrm>
            <a:off x="2366962" y="3149981"/>
            <a:ext cx="9144" cy="390525"/>
          </a:xfrm>
          <a:custGeom>
            <a:avLst/>
            <a:gdLst/>
            <a:ahLst/>
            <a:cxnLst/>
            <a:rect l="0" t="0" r="r" b="b"/>
            <a:pathLst>
              <a:path w="9144" h="390525">
                <a:moveTo>
                  <a:pt x="4572" y="0"/>
                </a:moveTo>
                <a:lnTo>
                  <a:pt x="4572" y="0"/>
                </a:lnTo>
                <a:cubicBezTo>
                  <a:pt x="7049" y="0"/>
                  <a:pt x="9144" y="2032"/>
                  <a:pt x="9144" y="4572"/>
                </a:cubicBezTo>
                <a:lnTo>
                  <a:pt x="9144" y="385953"/>
                </a:lnTo>
                <a:cubicBezTo>
                  <a:pt x="9144" y="388493"/>
                  <a:pt x="7049" y="390525"/>
                  <a:pt x="4572" y="390525"/>
                </a:cubicBezTo>
                <a:lnTo>
                  <a:pt x="4572" y="390525"/>
                </a:lnTo>
                <a:cubicBezTo>
                  <a:pt x="2032" y="390525"/>
                  <a:pt x="0" y="388493"/>
                  <a:pt x="0" y="385953"/>
                </a:cubicBezTo>
                <a:lnTo>
                  <a:pt x="0" y="4572"/>
                </a:lnTo>
                <a:cubicBezTo>
                  <a:pt x="0" y="2032"/>
                  <a:pt x="2032" y="0"/>
                  <a:pt x="4572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21" name="m-d08_kpi_board-chip-1">
            <a:extLst>
              <a:ext uri="{FF2B5EF4-FFF2-40B4-BE49-F238E27FC236}">
                <a16:creationId xmlns:a16="http://schemas.microsoft.com/office/drawing/2014/main" id="{30BF1BA9-EA44-232B-09CB-2520B5C51179}"/>
              </a:ext>
            </a:extLst>
          </p:cNvPr>
          <p:cNvSpPr/>
          <p:nvPr/>
        </p:nvSpPr>
        <p:spPr>
          <a:xfrm>
            <a:off x="2411222" y="3186430"/>
            <a:ext cx="67691" cy="67691"/>
          </a:xfrm>
          <a:prstGeom prst="ellipse">
            <a:avLst/>
          </a:pr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22" name="m-d08_kpi_board-icon-coin">
            <a:extLst>
              <a:ext uri="{FF2B5EF4-FFF2-40B4-BE49-F238E27FC236}">
                <a16:creationId xmlns:a16="http://schemas.microsoft.com/office/drawing/2014/main" id="{3DADA929-AE8C-CB62-D9C0-E1A653130A6C}"/>
              </a:ext>
            </a:extLst>
          </p:cNvPr>
          <p:cNvSpPr/>
          <p:nvPr/>
        </p:nvSpPr>
        <p:spPr>
          <a:xfrm>
            <a:off x="2435352" y="3211766"/>
            <a:ext cx="19431" cy="17018"/>
          </a:xfrm>
          <a:custGeom>
            <a:avLst/>
            <a:gdLst/>
            <a:ahLst/>
            <a:cxnLst/>
            <a:rect l="0" t="0" r="r" b="b"/>
            <a:pathLst>
              <a:path w="19431" h="17018">
                <a:moveTo>
                  <a:pt x="9716" y="0"/>
                </a:moveTo>
                <a:cubicBezTo>
                  <a:pt x="4255" y="0"/>
                  <a:pt x="0" y="1524"/>
                  <a:pt x="0" y="3683"/>
                </a:cubicBezTo>
                <a:cubicBezTo>
                  <a:pt x="0" y="5778"/>
                  <a:pt x="4255" y="7302"/>
                  <a:pt x="9716" y="7302"/>
                </a:cubicBezTo>
                <a:cubicBezTo>
                  <a:pt x="15177" y="7302"/>
                  <a:pt x="19431" y="5778"/>
                  <a:pt x="19431" y="3683"/>
                </a:cubicBezTo>
                <a:cubicBezTo>
                  <a:pt x="19431" y="1524"/>
                  <a:pt x="15177" y="0"/>
                  <a:pt x="9716" y="0"/>
                </a:cubicBezTo>
                <a:close/>
                <a:moveTo>
                  <a:pt x="0" y="3683"/>
                </a:moveTo>
                <a:lnTo>
                  <a:pt x="0" y="13335"/>
                </a:lnTo>
                <a:cubicBezTo>
                  <a:pt x="0" y="15494"/>
                  <a:pt x="4255" y="17018"/>
                  <a:pt x="9716" y="17018"/>
                </a:cubicBezTo>
                <a:cubicBezTo>
                  <a:pt x="15177" y="17018"/>
                  <a:pt x="19431" y="15494"/>
                  <a:pt x="19431" y="13335"/>
                </a:cubicBezTo>
                <a:lnTo>
                  <a:pt x="19431" y="3683"/>
                </a:lnTo>
              </a:path>
            </a:pathLst>
          </a:custGeom>
          <a:noFill/>
          <a:ln w="260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23" name="m-d08_kpi_board-nm-1">
            <a:extLst>
              <a:ext uri="{FF2B5EF4-FFF2-40B4-BE49-F238E27FC236}">
                <a16:creationId xmlns:a16="http://schemas.microsoft.com/office/drawing/2014/main" id="{AF1CE76B-67CC-FC34-F812-FEA8BBCF49AF}"/>
              </a:ext>
            </a:extLst>
          </p:cNvPr>
          <p:cNvSpPr txBox="1"/>
          <p:nvPr/>
        </p:nvSpPr>
        <p:spPr>
          <a:xfrm>
            <a:off x="2493232" y="3190498"/>
            <a:ext cx="169878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营业收入</a:t>
            </a:r>
          </a:p>
        </p:txBody>
      </p:sp>
      <p:sp>
        <p:nvSpPr>
          <p:cNvPr id="1024" name="m-d08_kpi_board-dlt-1">
            <a:extLst>
              <a:ext uri="{FF2B5EF4-FFF2-40B4-BE49-F238E27FC236}">
                <a16:creationId xmlns:a16="http://schemas.microsoft.com/office/drawing/2014/main" id="{1DBC4623-5F16-3524-3A36-39351061722C}"/>
              </a:ext>
            </a:extLst>
          </p:cNvPr>
          <p:cNvSpPr/>
          <p:nvPr/>
        </p:nvSpPr>
        <p:spPr>
          <a:xfrm>
            <a:off x="2885059" y="3194240"/>
            <a:ext cx="145796" cy="52070"/>
          </a:xfrm>
          <a:custGeom>
            <a:avLst/>
            <a:gdLst/>
            <a:ahLst/>
            <a:cxnLst/>
            <a:rect l="0" t="0" r="r" b="b"/>
            <a:pathLst>
              <a:path w="145796" h="52070">
                <a:moveTo>
                  <a:pt x="26035" y="0"/>
                </a:moveTo>
                <a:lnTo>
                  <a:pt x="119761" y="0"/>
                </a:lnTo>
                <a:cubicBezTo>
                  <a:pt x="134176" y="0"/>
                  <a:pt x="145796" y="11621"/>
                  <a:pt x="145796" y="26035"/>
                </a:cubicBezTo>
                <a:lnTo>
                  <a:pt x="145796" y="26035"/>
                </a:lnTo>
                <a:cubicBezTo>
                  <a:pt x="145796" y="40450"/>
                  <a:pt x="134176" y="52070"/>
                  <a:pt x="119761" y="52070"/>
                </a:cubicBezTo>
                <a:lnTo>
                  <a:pt x="26035" y="52070"/>
                </a:lnTo>
                <a:cubicBezTo>
                  <a:pt x="11621" y="52070"/>
                  <a:pt x="0" y="40450"/>
                  <a:pt x="0" y="26035"/>
                </a:cubicBezTo>
                <a:lnTo>
                  <a:pt x="0" y="26035"/>
                </a:lnTo>
                <a:cubicBezTo>
                  <a:pt x="0" y="11621"/>
                  <a:pt x="11621" y="0"/>
                  <a:pt x="26035" y="0"/>
                </a:cubicBezTo>
                <a:close/>
              </a:path>
            </a:pathLst>
          </a:cu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25" name="m-d08_kpi_board-icon-grow">
            <a:extLst>
              <a:ext uri="{FF2B5EF4-FFF2-40B4-BE49-F238E27FC236}">
                <a16:creationId xmlns:a16="http://schemas.microsoft.com/office/drawing/2014/main" id="{E8B085C2-0C0F-762E-DFDF-993132B1D8B9}"/>
              </a:ext>
            </a:extLst>
          </p:cNvPr>
          <p:cNvSpPr/>
          <p:nvPr/>
        </p:nvSpPr>
        <p:spPr>
          <a:xfrm>
            <a:off x="2907157" y="3216148"/>
            <a:ext cx="16319" cy="10223"/>
          </a:xfrm>
          <a:custGeom>
            <a:avLst/>
            <a:gdLst/>
            <a:ahLst/>
            <a:cxnLst/>
            <a:rect l="0" t="0" r="r" b="b"/>
            <a:pathLst>
              <a:path w="16319" h="10223">
                <a:moveTo>
                  <a:pt x="0" y="10223"/>
                </a:moveTo>
                <a:lnTo>
                  <a:pt x="5461" y="4318"/>
                </a:lnTo>
                <a:lnTo>
                  <a:pt x="9335" y="7620"/>
                </a:lnTo>
                <a:lnTo>
                  <a:pt x="15875" y="0"/>
                </a:lnTo>
                <a:moveTo>
                  <a:pt x="13272" y="0"/>
                </a:moveTo>
                <a:lnTo>
                  <a:pt x="16319" y="0"/>
                </a:lnTo>
                <a:lnTo>
                  <a:pt x="16319" y="3048"/>
                </a:lnTo>
              </a:path>
            </a:pathLst>
          </a:custGeom>
          <a:noFill/>
          <a:ln w="260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26" name="m-d08_kpi_board-dltt-1">
            <a:extLst>
              <a:ext uri="{FF2B5EF4-FFF2-40B4-BE49-F238E27FC236}">
                <a16:creationId xmlns:a16="http://schemas.microsoft.com/office/drawing/2014/main" id="{3D642DDB-6743-4EF6-52EB-80D8CF7F351A}"/>
              </a:ext>
            </a:extLst>
          </p:cNvPr>
          <p:cNvSpPr txBox="1"/>
          <p:nvPr/>
        </p:nvSpPr>
        <p:spPr>
          <a:xfrm>
            <a:off x="2918852" y="3203665"/>
            <a:ext cx="9107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3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+18.6%</a:t>
            </a:r>
          </a:p>
        </p:txBody>
      </p:sp>
      <p:sp>
        <p:nvSpPr>
          <p:cNvPr id="1027" name="m-d08_kpi_board-v-1">
            <a:extLst>
              <a:ext uri="{FF2B5EF4-FFF2-40B4-BE49-F238E27FC236}">
                <a16:creationId xmlns:a16="http://schemas.microsoft.com/office/drawing/2014/main" id="{032CA93B-4E2D-D533-C9CD-509235FF9CDE}"/>
              </a:ext>
            </a:extLst>
          </p:cNvPr>
          <p:cNvSpPr txBox="1"/>
          <p:nvPr/>
        </p:nvSpPr>
        <p:spPr>
          <a:xfrm>
            <a:off x="2402787" y="3268844"/>
            <a:ext cx="225932" cy="12301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5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4.82</a:t>
            </a:r>
          </a:p>
        </p:txBody>
      </p:sp>
      <p:sp>
        <p:nvSpPr>
          <p:cNvPr id="1028" name="m-d08_kpi_board-u-1">
            <a:extLst>
              <a:ext uri="{FF2B5EF4-FFF2-40B4-BE49-F238E27FC236}">
                <a16:creationId xmlns:a16="http://schemas.microsoft.com/office/drawing/2014/main" id="{04B65308-F653-E183-2F45-D3D9CECDF429}"/>
              </a:ext>
            </a:extLst>
          </p:cNvPr>
          <p:cNvSpPr txBox="1"/>
          <p:nvPr/>
        </p:nvSpPr>
        <p:spPr>
          <a:xfrm>
            <a:off x="2587114" y="3326720"/>
            <a:ext cx="6795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亿元</a:t>
            </a:r>
          </a:p>
        </p:txBody>
      </p:sp>
      <p:sp>
        <p:nvSpPr>
          <p:cNvPr id="1029" name="m-d08_kpi_board-sp-1-1">
            <a:extLst>
              <a:ext uri="{FF2B5EF4-FFF2-40B4-BE49-F238E27FC236}">
                <a16:creationId xmlns:a16="http://schemas.microsoft.com/office/drawing/2014/main" id="{79150D42-6A68-F697-1DEE-05C6423CDE48}"/>
              </a:ext>
            </a:extLst>
          </p:cNvPr>
          <p:cNvSpPr/>
          <p:nvPr/>
        </p:nvSpPr>
        <p:spPr>
          <a:xfrm>
            <a:off x="2411222" y="3445066"/>
            <a:ext cx="39052" cy="51181"/>
          </a:xfrm>
          <a:custGeom>
            <a:avLst/>
            <a:gdLst/>
            <a:ahLst/>
            <a:cxnLst/>
            <a:rect l="0" t="0" r="r" b="b"/>
            <a:pathLst>
              <a:path w="39052" h="51181">
                <a:moveTo>
                  <a:pt x="0" y="51181"/>
                </a:moveTo>
                <a:lnTo>
                  <a:pt x="0" y="7811"/>
                </a:lnTo>
                <a:cubicBezTo>
                  <a:pt x="0" y="3493"/>
                  <a:pt x="3492" y="0"/>
                  <a:pt x="7810" y="0"/>
                </a:cubicBezTo>
                <a:lnTo>
                  <a:pt x="31242" y="0"/>
                </a:lnTo>
                <a:cubicBezTo>
                  <a:pt x="35560" y="0"/>
                  <a:pt x="39052" y="3493"/>
                  <a:pt x="39052" y="7811"/>
                </a:cubicBezTo>
                <a:lnTo>
                  <a:pt x="39052" y="51181"/>
                </a:lnTo>
                <a:close/>
              </a:path>
            </a:pathLst>
          </a:custGeom>
          <a:solidFill>
            <a:srgbClr val="0B3E8F">
              <a:alpha val="2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30" name="m-d08_kpi_board-sp-1-2">
            <a:extLst>
              <a:ext uri="{FF2B5EF4-FFF2-40B4-BE49-F238E27FC236}">
                <a16:creationId xmlns:a16="http://schemas.microsoft.com/office/drawing/2014/main" id="{B8B79061-4806-8497-EBA2-D9CA18D7A074}"/>
              </a:ext>
            </a:extLst>
          </p:cNvPr>
          <p:cNvSpPr/>
          <p:nvPr/>
        </p:nvSpPr>
        <p:spPr>
          <a:xfrm>
            <a:off x="2465896" y="3439160"/>
            <a:ext cx="39053" cy="57087"/>
          </a:xfrm>
          <a:custGeom>
            <a:avLst/>
            <a:gdLst/>
            <a:ahLst/>
            <a:cxnLst/>
            <a:rect l="0" t="0" r="r" b="b"/>
            <a:pathLst>
              <a:path w="39053" h="57087">
                <a:moveTo>
                  <a:pt x="0" y="57087"/>
                </a:moveTo>
                <a:lnTo>
                  <a:pt x="0" y="7811"/>
                </a:lnTo>
                <a:cubicBezTo>
                  <a:pt x="0" y="3492"/>
                  <a:pt x="3493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3" y="3492"/>
                  <a:pt x="39053" y="7811"/>
                </a:cubicBezTo>
                <a:lnTo>
                  <a:pt x="39053" y="57087"/>
                </a:lnTo>
                <a:close/>
              </a:path>
            </a:pathLst>
          </a:custGeom>
          <a:solidFill>
            <a:srgbClr val="0B3E8F">
              <a:alpha val="4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31" name="m-d08_kpi_board-sp-1-3">
            <a:extLst>
              <a:ext uri="{FF2B5EF4-FFF2-40B4-BE49-F238E27FC236}">
                <a16:creationId xmlns:a16="http://schemas.microsoft.com/office/drawing/2014/main" id="{6AD835D4-E155-BEE5-282C-B31E2ECFA6B3}"/>
              </a:ext>
            </a:extLst>
          </p:cNvPr>
          <p:cNvSpPr/>
          <p:nvPr/>
        </p:nvSpPr>
        <p:spPr>
          <a:xfrm>
            <a:off x="2520569" y="3442081"/>
            <a:ext cx="39052" cy="54166"/>
          </a:xfrm>
          <a:custGeom>
            <a:avLst/>
            <a:gdLst/>
            <a:ahLst/>
            <a:cxnLst/>
            <a:rect l="0" t="0" r="r" b="b"/>
            <a:pathLst>
              <a:path w="39052" h="54166">
                <a:moveTo>
                  <a:pt x="0" y="54166"/>
                </a:moveTo>
                <a:lnTo>
                  <a:pt x="0" y="7811"/>
                </a:lnTo>
                <a:cubicBezTo>
                  <a:pt x="0" y="3556"/>
                  <a:pt x="3493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556"/>
                  <a:pt x="39052" y="7811"/>
                </a:cubicBezTo>
                <a:lnTo>
                  <a:pt x="39052" y="54166"/>
                </a:lnTo>
                <a:close/>
              </a:path>
            </a:pathLst>
          </a:custGeom>
          <a:solidFill>
            <a:srgbClr val="0B3E8F">
              <a:alpha val="5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32" name="m-d08_kpi_board-sp-1-4">
            <a:extLst>
              <a:ext uri="{FF2B5EF4-FFF2-40B4-BE49-F238E27FC236}">
                <a16:creationId xmlns:a16="http://schemas.microsoft.com/office/drawing/2014/main" id="{B3F71577-630F-DF94-892C-E955FC2791AC}"/>
              </a:ext>
            </a:extLst>
          </p:cNvPr>
          <p:cNvSpPr/>
          <p:nvPr/>
        </p:nvSpPr>
        <p:spPr>
          <a:xfrm>
            <a:off x="2575242" y="3433254"/>
            <a:ext cx="39052" cy="62992"/>
          </a:xfrm>
          <a:custGeom>
            <a:avLst/>
            <a:gdLst/>
            <a:ahLst/>
            <a:cxnLst/>
            <a:rect l="0" t="0" r="r" b="b"/>
            <a:pathLst>
              <a:path w="39052" h="62992">
                <a:moveTo>
                  <a:pt x="0" y="62992"/>
                </a:moveTo>
                <a:lnTo>
                  <a:pt x="0" y="7811"/>
                </a:lnTo>
                <a:cubicBezTo>
                  <a:pt x="0" y="3493"/>
                  <a:pt x="3493" y="0"/>
                  <a:pt x="7810" y="0"/>
                </a:cubicBezTo>
                <a:lnTo>
                  <a:pt x="31242" y="0"/>
                </a:lnTo>
                <a:cubicBezTo>
                  <a:pt x="35560" y="0"/>
                  <a:pt x="39052" y="3493"/>
                  <a:pt x="39052" y="7811"/>
                </a:cubicBezTo>
                <a:lnTo>
                  <a:pt x="39052" y="62992"/>
                </a:lnTo>
                <a:close/>
              </a:path>
            </a:pathLst>
          </a:custGeom>
          <a:solidFill>
            <a:srgbClr val="0B3E8F">
              <a:alpha val="6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33" name="m-d08_kpi_board-sp-1-5">
            <a:extLst>
              <a:ext uri="{FF2B5EF4-FFF2-40B4-BE49-F238E27FC236}">
                <a16:creationId xmlns:a16="http://schemas.microsoft.com/office/drawing/2014/main" id="{6AC5F0C6-C669-787B-E7AB-C9BA41FC238D}"/>
              </a:ext>
            </a:extLst>
          </p:cNvPr>
          <p:cNvSpPr/>
          <p:nvPr/>
        </p:nvSpPr>
        <p:spPr>
          <a:xfrm>
            <a:off x="2629916" y="3426396"/>
            <a:ext cx="39052" cy="69850"/>
          </a:xfrm>
          <a:custGeom>
            <a:avLst/>
            <a:gdLst/>
            <a:ahLst/>
            <a:cxnLst/>
            <a:rect l="0" t="0" r="r" b="b"/>
            <a:pathLst>
              <a:path w="39052" h="69850">
                <a:moveTo>
                  <a:pt x="0" y="69850"/>
                </a:moveTo>
                <a:lnTo>
                  <a:pt x="0" y="7811"/>
                </a:lnTo>
                <a:cubicBezTo>
                  <a:pt x="0" y="3429"/>
                  <a:pt x="3492" y="0"/>
                  <a:pt x="7810" y="0"/>
                </a:cubicBezTo>
                <a:lnTo>
                  <a:pt x="31242" y="0"/>
                </a:lnTo>
                <a:cubicBezTo>
                  <a:pt x="35560" y="0"/>
                  <a:pt x="39052" y="3429"/>
                  <a:pt x="39052" y="7811"/>
                </a:cubicBezTo>
                <a:lnTo>
                  <a:pt x="39052" y="69850"/>
                </a:lnTo>
                <a:close/>
              </a:path>
            </a:pathLst>
          </a:custGeom>
          <a:solidFill>
            <a:srgbClr val="0B3E8F">
              <a:alpha val="7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34" name="m-d08_kpi_board-sp-1-6">
            <a:extLst>
              <a:ext uri="{FF2B5EF4-FFF2-40B4-BE49-F238E27FC236}">
                <a16:creationId xmlns:a16="http://schemas.microsoft.com/office/drawing/2014/main" id="{2A037410-08B7-BF29-CEB8-3CC060DF70DC}"/>
              </a:ext>
            </a:extLst>
          </p:cNvPr>
          <p:cNvSpPr/>
          <p:nvPr/>
        </p:nvSpPr>
        <p:spPr>
          <a:xfrm>
            <a:off x="2684590" y="3415538"/>
            <a:ext cx="39053" cy="80709"/>
          </a:xfrm>
          <a:custGeom>
            <a:avLst/>
            <a:gdLst/>
            <a:ahLst/>
            <a:cxnLst/>
            <a:rect l="0" t="0" r="r" b="b"/>
            <a:pathLst>
              <a:path w="39053" h="80709">
                <a:moveTo>
                  <a:pt x="0" y="80709"/>
                </a:moveTo>
                <a:lnTo>
                  <a:pt x="0" y="7811"/>
                </a:lnTo>
                <a:cubicBezTo>
                  <a:pt x="0" y="3492"/>
                  <a:pt x="3493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3" y="3492"/>
                  <a:pt x="39053" y="7811"/>
                </a:cubicBezTo>
                <a:lnTo>
                  <a:pt x="39053" y="80709"/>
                </a:lnTo>
                <a:close/>
              </a:path>
            </a:pathLst>
          </a:custGeom>
          <a:solidFill>
            <a:srgbClr val="0B3E8F">
              <a:alpha val="8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035" name="m-d08_kpi_board-spl-1">
            <a:extLst>
              <a:ext uri="{FF2B5EF4-FFF2-40B4-BE49-F238E27FC236}">
                <a16:creationId xmlns:a16="http://schemas.microsoft.com/office/drawing/2014/main" id="{6ED876C4-AAF7-776B-F493-7BE519407AB9}"/>
              </a:ext>
            </a:extLst>
          </p:cNvPr>
          <p:cNvCxnSpPr/>
          <p:nvPr/>
        </p:nvCxnSpPr>
        <p:spPr>
          <a:xfrm>
            <a:off x="2411222" y="3506660"/>
            <a:ext cx="609219" cy="0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36" name="m-d08_kpi_board-spt-1">
            <a:extLst>
              <a:ext uri="{FF2B5EF4-FFF2-40B4-BE49-F238E27FC236}">
                <a16:creationId xmlns:a16="http://schemas.microsoft.com/office/drawing/2014/main" id="{461B8FD5-D09B-2EA2-B3EC-FFA80C213AD9}"/>
              </a:ext>
            </a:extLst>
          </p:cNvPr>
          <p:cNvSpPr txBox="1"/>
          <p:nvPr/>
        </p:nvSpPr>
        <p:spPr>
          <a:xfrm>
            <a:off x="2936556" y="3421669"/>
            <a:ext cx="8607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近 6 期</a:t>
            </a:r>
          </a:p>
        </p:txBody>
      </p:sp>
      <p:sp>
        <p:nvSpPr>
          <p:cNvPr id="1037" name="m-d08_kpi_board-spt2-1">
            <a:extLst>
              <a:ext uri="{FF2B5EF4-FFF2-40B4-BE49-F238E27FC236}">
                <a16:creationId xmlns:a16="http://schemas.microsoft.com/office/drawing/2014/main" id="{D755ECDC-6827-E947-6A1A-68C19FE7C61F}"/>
              </a:ext>
            </a:extLst>
          </p:cNvPr>
          <p:cNvSpPr txBox="1"/>
          <p:nvPr/>
        </p:nvSpPr>
        <p:spPr>
          <a:xfrm>
            <a:off x="2931245" y="3468532"/>
            <a:ext cx="9138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环比走势</a:t>
            </a:r>
          </a:p>
        </p:txBody>
      </p:sp>
      <p:sp>
        <p:nvSpPr>
          <p:cNvPr id="1038" name="m-d08_kpi_board-card-2">
            <a:extLst>
              <a:ext uri="{FF2B5EF4-FFF2-40B4-BE49-F238E27FC236}">
                <a16:creationId xmlns:a16="http://schemas.microsoft.com/office/drawing/2014/main" id="{7B581242-C05E-8304-4889-82D407BB81F4}"/>
              </a:ext>
            </a:extLst>
          </p:cNvPr>
          <p:cNvSpPr/>
          <p:nvPr/>
        </p:nvSpPr>
        <p:spPr>
          <a:xfrm>
            <a:off x="3098546" y="3149981"/>
            <a:ext cx="697738" cy="390525"/>
          </a:xfrm>
          <a:custGeom>
            <a:avLst/>
            <a:gdLst/>
            <a:ahLst/>
            <a:cxnLst/>
            <a:rect l="0" t="0" r="r" b="b"/>
            <a:pathLst>
              <a:path w="697738" h="390525">
                <a:moveTo>
                  <a:pt x="26035" y="0"/>
                </a:moveTo>
                <a:lnTo>
                  <a:pt x="671703" y="0"/>
                </a:lnTo>
                <a:cubicBezTo>
                  <a:pt x="686118" y="0"/>
                  <a:pt x="697738" y="11620"/>
                  <a:pt x="697738" y="26035"/>
                </a:cubicBezTo>
                <a:lnTo>
                  <a:pt x="697738" y="364490"/>
                </a:lnTo>
                <a:cubicBezTo>
                  <a:pt x="697738" y="378905"/>
                  <a:pt x="686118" y="390525"/>
                  <a:pt x="671703" y="390525"/>
                </a:cubicBezTo>
                <a:lnTo>
                  <a:pt x="26035" y="390525"/>
                </a:lnTo>
                <a:cubicBezTo>
                  <a:pt x="11621" y="390525"/>
                  <a:pt x="0" y="378905"/>
                  <a:pt x="0" y="364490"/>
                </a:cubicBezTo>
                <a:lnTo>
                  <a:pt x="0" y="26035"/>
                </a:lnTo>
                <a:cubicBezTo>
                  <a:pt x="0" y="11620"/>
                  <a:pt x="11621" y="0"/>
                  <a:pt x="260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39" name="m-d08_kpi_board-cap-2">
            <a:extLst>
              <a:ext uri="{FF2B5EF4-FFF2-40B4-BE49-F238E27FC236}">
                <a16:creationId xmlns:a16="http://schemas.microsoft.com/office/drawing/2014/main" id="{AD5B442C-455F-9455-53D1-4D631F4749AF}"/>
              </a:ext>
            </a:extLst>
          </p:cNvPr>
          <p:cNvSpPr/>
          <p:nvPr/>
        </p:nvSpPr>
        <p:spPr>
          <a:xfrm>
            <a:off x="3098546" y="3149981"/>
            <a:ext cx="9081" cy="390525"/>
          </a:xfrm>
          <a:custGeom>
            <a:avLst/>
            <a:gdLst/>
            <a:ahLst/>
            <a:cxnLst/>
            <a:rect l="0" t="0" r="r" b="b"/>
            <a:pathLst>
              <a:path w="9081" h="390525">
                <a:moveTo>
                  <a:pt x="4572" y="0"/>
                </a:moveTo>
                <a:lnTo>
                  <a:pt x="4572" y="0"/>
                </a:lnTo>
                <a:cubicBezTo>
                  <a:pt x="7049" y="0"/>
                  <a:pt x="9081" y="2032"/>
                  <a:pt x="9081" y="4572"/>
                </a:cubicBezTo>
                <a:lnTo>
                  <a:pt x="9081" y="385953"/>
                </a:lnTo>
                <a:cubicBezTo>
                  <a:pt x="9081" y="388493"/>
                  <a:pt x="7049" y="390525"/>
                  <a:pt x="4572" y="390525"/>
                </a:cubicBezTo>
                <a:lnTo>
                  <a:pt x="4572" y="390525"/>
                </a:lnTo>
                <a:cubicBezTo>
                  <a:pt x="2032" y="390525"/>
                  <a:pt x="0" y="388493"/>
                  <a:pt x="0" y="385953"/>
                </a:cubicBezTo>
                <a:lnTo>
                  <a:pt x="0" y="4572"/>
                </a:lnTo>
                <a:cubicBezTo>
                  <a:pt x="0" y="2032"/>
                  <a:pt x="2032" y="0"/>
                  <a:pt x="4572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40" name="m-d08_kpi_board-chip-2">
            <a:extLst>
              <a:ext uri="{FF2B5EF4-FFF2-40B4-BE49-F238E27FC236}">
                <a16:creationId xmlns:a16="http://schemas.microsoft.com/office/drawing/2014/main" id="{281A2851-E3C6-62F7-A5AB-CD802805EC3A}"/>
              </a:ext>
            </a:extLst>
          </p:cNvPr>
          <p:cNvSpPr/>
          <p:nvPr/>
        </p:nvSpPr>
        <p:spPr>
          <a:xfrm>
            <a:off x="3142806" y="3186430"/>
            <a:ext cx="67691" cy="67691"/>
          </a:xfrm>
          <a:prstGeom prst="ellipse">
            <a:avLst/>
          </a:prstGeom>
          <a:solidFill>
            <a:srgbClr val="134C9C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41" name="m-d08_kpi_board-icon-chart">
            <a:extLst>
              <a:ext uri="{FF2B5EF4-FFF2-40B4-BE49-F238E27FC236}">
                <a16:creationId xmlns:a16="http://schemas.microsoft.com/office/drawing/2014/main" id="{6309615A-3787-CFA2-ECEA-2EA4DF6EDB7C}"/>
              </a:ext>
            </a:extLst>
          </p:cNvPr>
          <p:cNvSpPr/>
          <p:nvPr/>
        </p:nvSpPr>
        <p:spPr>
          <a:xfrm>
            <a:off x="3163888" y="3215704"/>
            <a:ext cx="25527" cy="16700"/>
          </a:xfrm>
          <a:custGeom>
            <a:avLst/>
            <a:gdLst/>
            <a:ahLst/>
            <a:cxnLst/>
            <a:rect l="0" t="0" r="r" b="b"/>
            <a:pathLst>
              <a:path w="25527" h="16700">
                <a:moveTo>
                  <a:pt x="0" y="16700"/>
                </a:moveTo>
                <a:lnTo>
                  <a:pt x="25527" y="16700"/>
                </a:lnTo>
                <a:moveTo>
                  <a:pt x="5779" y="16700"/>
                </a:moveTo>
                <a:lnTo>
                  <a:pt x="5779" y="6985"/>
                </a:lnTo>
                <a:moveTo>
                  <a:pt x="12763" y="16700"/>
                </a:moveTo>
                <a:lnTo>
                  <a:pt x="12763" y="0"/>
                </a:lnTo>
                <a:moveTo>
                  <a:pt x="19749" y="16700"/>
                </a:moveTo>
                <a:lnTo>
                  <a:pt x="19749" y="10350"/>
                </a:lnTo>
              </a:path>
            </a:pathLst>
          </a:custGeom>
          <a:noFill/>
          <a:ln w="2604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42" name="m-d08_kpi_board-nm-2">
            <a:extLst>
              <a:ext uri="{FF2B5EF4-FFF2-40B4-BE49-F238E27FC236}">
                <a16:creationId xmlns:a16="http://schemas.microsoft.com/office/drawing/2014/main" id="{7B8AB325-4A92-638F-547E-D310D0EA8C8E}"/>
              </a:ext>
            </a:extLst>
          </p:cNvPr>
          <p:cNvSpPr txBox="1"/>
          <p:nvPr/>
        </p:nvSpPr>
        <p:spPr>
          <a:xfrm>
            <a:off x="3224816" y="3190498"/>
            <a:ext cx="134731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毛利率</a:t>
            </a:r>
          </a:p>
        </p:txBody>
      </p:sp>
      <p:sp>
        <p:nvSpPr>
          <p:cNvPr id="1043" name="m-d08_kpi_board-dlt-2">
            <a:extLst>
              <a:ext uri="{FF2B5EF4-FFF2-40B4-BE49-F238E27FC236}">
                <a16:creationId xmlns:a16="http://schemas.microsoft.com/office/drawing/2014/main" id="{C7BD573A-754D-433A-9D52-68EFEBCBAFFA}"/>
              </a:ext>
            </a:extLst>
          </p:cNvPr>
          <p:cNvSpPr/>
          <p:nvPr/>
        </p:nvSpPr>
        <p:spPr>
          <a:xfrm>
            <a:off x="3616642" y="3194240"/>
            <a:ext cx="145796" cy="52070"/>
          </a:xfrm>
          <a:custGeom>
            <a:avLst/>
            <a:gdLst/>
            <a:ahLst/>
            <a:cxnLst/>
            <a:rect l="0" t="0" r="r" b="b"/>
            <a:pathLst>
              <a:path w="145796" h="52070">
                <a:moveTo>
                  <a:pt x="26035" y="0"/>
                </a:moveTo>
                <a:lnTo>
                  <a:pt x="119761" y="0"/>
                </a:lnTo>
                <a:cubicBezTo>
                  <a:pt x="134175" y="0"/>
                  <a:pt x="145796" y="11621"/>
                  <a:pt x="145796" y="26035"/>
                </a:cubicBezTo>
                <a:lnTo>
                  <a:pt x="145796" y="26035"/>
                </a:lnTo>
                <a:cubicBezTo>
                  <a:pt x="145796" y="40450"/>
                  <a:pt x="134175" y="52070"/>
                  <a:pt x="119761" y="52070"/>
                </a:cubicBezTo>
                <a:lnTo>
                  <a:pt x="26035" y="52070"/>
                </a:lnTo>
                <a:cubicBezTo>
                  <a:pt x="11621" y="52070"/>
                  <a:pt x="0" y="40450"/>
                  <a:pt x="0" y="26035"/>
                </a:cubicBezTo>
                <a:lnTo>
                  <a:pt x="0" y="26035"/>
                </a:lnTo>
                <a:cubicBezTo>
                  <a:pt x="0" y="11621"/>
                  <a:pt x="11621" y="0"/>
                  <a:pt x="26035" y="0"/>
                </a:cubicBezTo>
                <a:close/>
              </a:path>
            </a:pathLst>
          </a:cu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44" name="m-d08_kpi_board-icon-grow">
            <a:extLst>
              <a:ext uri="{FF2B5EF4-FFF2-40B4-BE49-F238E27FC236}">
                <a16:creationId xmlns:a16="http://schemas.microsoft.com/office/drawing/2014/main" id="{2A7AE693-BFDE-ED19-D1D5-197D830F31AC}"/>
              </a:ext>
            </a:extLst>
          </p:cNvPr>
          <p:cNvSpPr/>
          <p:nvPr/>
        </p:nvSpPr>
        <p:spPr>
          <a:xfrm>
            <a:off x="3638740" y="3216148"/>
            <a:ext cx="16320" cy="10223"/>
          </a:xfrm>
          <a:custGeom>
            <a:avLst/>
            <a:gdLst/>
            <a:ahLst/>
            <a:cxnLst/>
            <a:rect l="0" t="0" r="r" b="b"/>
            <a:pathLst>
              <a:path w="16320" h="10223">
                <a:moveTo>
                  <a:pt x="0" y="10223"/>
                </a:moveTo>
                <a:lnTo>
                  <a:pt x="5461" y="4318"/>
                </a:lnTo>
                <a:lnTo>
                  <a:pt x="9335" y="7620"/>
                </a:lnTo>
                <a:lnTo>
                  <a:pt x="15875" y="0"/>
                </a:lnTo>
                <a:moveTo>
                  <a:pt x="13272" y="0"/>
                </a:moveTo>
                <a:lnTo>
                  <a:pt x="16320" y="0"/>
                </a:lnTo>
                <a:lnTo>
                  <a:pt x="16320" y="3048"/>
                </a:lnTo>
              </a:path>
            </a:pathLst>
          </a:custGeom>
          <a:noFill/>
          <a:ln w="260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45" name="m-d08_kpi_board-dltt-2">
            <a:extLst>
              <a:ext uri="{FF2B5EF4-FFF2-40B4-BE49-F238E27FC236}">
                <a16:creationId xmlns:a16="http://schemas.microsoft.com/office/drawing/2014/main" id="{B996EC39-3E38-D8E1-C2BD-0A143F229C63}"/>
              </a:ext>
            </a:extLst>
          </p:cNvPr>
          <p:cNvSpPr txBox="1"/>
          <p:nvPr/>
        </p:nvSpPr>
        <p:spPr>
          <a:xfrm>
            <a:off x="3650436" y="3203665"/>
            <a:ext cx="9107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3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+2.1pt</a:t>
            </a:r>
          </a:p>
        </p:txBody>
      </p:sp>
      <p:sp>
        <p:nvSpPr>
          <p:cNvPr id="1046" name="m-d08_kpi_board-v-2">
            <a:extLst>
              <a:ext uri="{FF2B5EF4-FFF2-40B4-BE49-F238E27FC236}">
                <a16:creationId xmlns:a16="http://schemas.microsoft.com/office/drawing/2014/main" id="{8116C5F3-15AB-469A-8A24-ACD0D2176963}"/>
              </a:ext>
            </a:extLst>
          </p:cNvPr>
          <p:cNvSpPr txBox="1"/>
          <p:nvPr/>
        </p:nvSpPr>
        <p:spPr>
          <a:xfrm>
            <a:off x="3134370" y="3268844"/>
            <a:ext cx="225932" cy="12301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5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38.4</a:t>
            </a:r>
          </a:p>
        </p:txBody>
      </p:sp>
      <p:sp>
        <p:nvSpPr>
          <p:cNvPr id="1047" name="m-d08_kpi_board-u-2">
            <a:extLst>
              <a:ext uri="{FF2B5EF4-FFF2-40B4-BE49-F238E27FC236}">
                <a16:creationId xmlns:a16="http://schemas.microsoft.com/office/drawing/2014/main" id="{062CA7C0-C8D6-DCEA-0D2D-DB88BAA1FD1F}"/>
              </a:ext>
            </a:extLst>
          </p:cNvPr>
          <p:cNvSpPr txBox="1"/>
          <p:nvPr/>
        </p:nvSpPr>
        <p:spPr>
          <a:xfrm>
            <a:off x="3318698" y="3326720"/>
            <a:ext cx="3421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%</a:t>
            </a:r>
          </a:p>
        </p:txBody>
      </p:sp>
      <p:sp>
        <p:nvSpPr>
          <p:cNvPr id="1048" name="m-d08_kpi_board-sp-2-1">
            <a:extLst>
              <a:ext uri="{FF2B5EF4-FFF2-40B4-BE49-F238E27FC236}">
                <a16:creationId xmlns:a16="http://schemas.microsoft.com/office/drawing/2014/main" id="{493DDA3D-033B-FAF6-CFAF-09AD0179409A}"/>
              </a:ext>
            </a:extLst>
          </p:cNvPr>
          <p:cNvSpPr/>
          <p:nvPr/>
        </p:nvSpPr>
        <p:spPr>
          <a:xfrm>
            <a:off x="3142806" y="3426142"/>
            <a:ext cx="39052" cy="70104"/>
          </a:xfrm>
          <a:custGeom>
            <a:avLst/>
            <a:gdLst/>
            <a:ahLst/>
            <a:cxnLst/>
            <a:rect l="0" t="0" r="r" b="b"/>
            <a:pathLst>
              <a:path w="39052" h="70104">
                <a:moveTo>
                  <a:pt x="0" y="70104"/>
                </a:moveTo>
                <a:lnTo>
                  <a:pt x="0" y="7811"/>
                </a:lnTo>
                <a:cubicBezTo>
                  <a:pt x="0" y="3493"/>
                  <a:pt x="3493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493"/>
                  <a:pt x="39052" y="7811"/>
                </a:cubicBezTo>
                <a:lnTo>
                  <a:pt x="39052" y="70104"/>
                </a:lnTo>
                <a:close/>
              </a:path>
            </a:pathLst>
          </a:custGeom>
          <a:solidFill>
            <a:srgbClr val="134C9C">
              <a:alpha val="2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49" name="m-d08_kpi_board-sp-2-2">
            <a:extLst>
              <a:ext uri="{FF2B5EF4-FFF2-40B4-BE49-F238E27FC236}">
                <a16:creationId xmlns:a16="http://schemas.microsoft.com/office/drawing/2014/main" id="{01E97D0F-36DE-B6B3-39A9-E0B396505A33}"/>
              </a:ext>
            </a:extLst>
          </p:cNvPr>
          <p:cNvSpPr/>
          <p:nvPr/>
        </p:nvSpPr>
        <p:spPr>
          <a:xfrm>
            <a:off x="3197479" y="3424047"/>
            <a:ext cx="39052" cy="72200"/>
          </a:xfrm>
          <a:custGeom>
            <a:avLst/>
            <a:gdLst/>
            <a:ahLst/>
            <a:cxnLst/>
            <a:rect l="0" t="0" r="r" b="b"/>
            <a:pathLst>
              <a:path w="39052" h="72200">
                <a:moveTo>
                  <a:pt x="0" y="72200"/>
                </a:moveTo>
                <a:lnTo>
                  <a:pt x="0" y="7811"/>
                </a:lnTo>
                <a:cubicBezTo>
                  <a:pt x="0" y="3492"/>
                  <a:pt x="3492" y="0"/>
                  <a:pt x="7810" y="0"/>
                </a:cubicBezTo>
                <a:lnTo>
                  <a:pt x="31242" y="0"/>
                </a:lnTo>
                <a:cubicBezTo>
                  <a:pt x="35560" y="0"/>
                  <a:pt x="39052" y="3492"/>
                  <a:pt x="39052" y="7811"/>
                </a:cubicBezTo>
                <a:lnTo>
                  <a:pt x="39052" y="72200"/>
                </a:lnTo>
                <a:close/>
              </a:path>
            </a:pathLst>
          </a:custGeom>
          <a:solidFill>
            <a:srgbClr val="134C9C">
              <a:alpha val="4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50" name="m-d08_kpi_board-sp-2-3">
            <a:extLst>
              <a:ext uri="{FF2B5EF4-FFF2-40B4-BE49-F238E27FC236}">
                <a16:creationId xmlns:a16="http://schemas.microsoft.com/office/drawing/2014/main" id="{F73588A6-E819-0F69-3398-7C25D49FDD96}"/>
              </a:ext>
            </a:extLst>
          </p:cNvPr>
          <p:cNvSpPr/>
          <p:nvPr/>
        </p:nvSpPr>
        <p:spPr>
          <a:xfrm>
            <a:off x="3252152" y="3421888"/>
            <a:ext cx="39052" cy="74359"/>
          </a:xfrm>
          <a:custGeom>
            <a:avLst/>
            <a:gdLst/>
            <a:ahLst/>
            <a:cxnLst/>
            <a:rect l="0" t="0" r="r" b="b"/>
            <a:pathLst>
              <a:path w="39052" h="74359">
                <a:moveTo>
                  <a:pt x="0" y="74359"/>
                </a:moveTo>
                <a:lnTo>
                  <a:pt x="0" y="7811"/>
                </a:lnTo>
                <a:cubicBezTo>
                  <a:pt x="0" y="3492"/>
                  <a:pt x="3493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492"/>
                  <a:pt x="39052" y="7811"/>
                </a:cubicBezTo>
                <a:lnTo>
                  <a:pt x="39052" y="74359"/>
                </a:lnTo>
                <a:close/>
              </a:path>
            </a:pathLst>
          </a:custGeom>
          <a:solidFill>
            <a:srgbClr val="134C9C">
              <a:alpha val="5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51" name="m-d08_kpi_board-sp-2-4">
            <a:extLst>
              <a:ext uri="{FF2B5EF4-FFF2-40B4-BE49-F238E27FC236}">
                <a16:creationId xmlns:a16="http://schemas.microsoft.com/office/drawing/2014/main" id="{74D8E5B3-886B-14BE-4DEB-7F6465B0B82D}"/>
              </a:ext>
            </a:extLst>
          </p:cNvPr>
          <p:cNvSpPr/>
          <p:nvPr/>
        </p:nvSpPr>
        <p:spPr>
          <a:xfrm>
            <a:off x="3306826" y="3419792"/>
            <a:ext cx="39052" cy="76454"/>
          </a:xfrm>
          <a:custGeom>
            <a:avLst/>
            <a:gdLst/>
            <a:ahLst/>
            <a:cxnLst/>
            <a:rect l="0" t="0" r="r" b="b"/>
            <a:pathLst>
              <a:path w="39052" h="76454">
                <a:moveTo>
                  <a:pt x="0" y="76454"/>
                </a:moveTo>
                <a:lnTo>
                  <a:pt x="0" y="7811"/>
                </a:lnTo>
                <a:cubicBezTo>
                  <a:pt x="0" y="3493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493"/>
                  <a:pt x="39052" y="7811"/>
                </a:cubicBezTo>
                <a:lnTo>
                  <a:pt x="39052" y="76454"/>
                </a:lnTo>
                <a:close/>
              </a:path>
            </a:pathLst>
          </a:custGeom>
          <a:solidFill>
            <a:srgbClr val="134C9C">
              <a:alpha val="6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52" name="m-d08_kpi_board-sp-2-5">
            <a:extLst>
              <a:ext uri="{FF2B5EF4-FFF2-40B4-BE49-F238E27FC236}">
                <a16:creationId xmlns:a16="http://schemas.microsoft.com/office/drawing/2014/main" id="{C50FF1D6-3A1C-B4E2-E9B7-ACEDAF694E50}"/>
              </a:ext>
            </a:extLst>
          </p:cNvPr>
          <p:cNvSpPr/>
          <p:nvPr/>
        </p:nvSpPr>
        <p:spPr>
          <a:xfrm>
            <a:off x="3361500" y="3417634"/>
            <a:ext cx="39052" cy="78613"/>
          </a:xfrm>
          <a:custGeom>
            <a:avLst/>
            <a:gdLst/>
            <a:ahLst/>
            <a:cxnLst/>
            <a:rect l="0" t="0" r="r" b="b"/>
            <a:pathLst>
              <a:path w="39052" h="78613">
                <a:moveTo>
                  <a:pt x="0" y="78613"/>
                </a:moveTo>
                <a:lnTo>
                  <a:pt x="0" y="7811"/>
                </a:lnTo>
                <a:cubicBezTo>
                  <a:pt x="0" y="3556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556"/>
                  <a:pt x="39052" y="7811"/>
                </a:cubicBezTo>
                <a:lnTo>
                  <a:pt x="39052" y="78613"/>
                </a:lnTo>
                <a:close/>
              </a:path>
            </a:pathLst>
          </a:custGeom>
          <a:solidFill>
            <a:srgbClr val="134C9C">
              <a:alpha val="7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53" name="m-d08_kpi_board-sp-2-6">
            <a:extLst>
              <a:ext uri="{FF2B5EF4-FFF2-40B4-BE49-F238E27FC236}">
                <a16:creationId xmlns:a16="http://schemas.microsoft.com/office/drawing/2014/main" id="{BED82908-AC2E-92FF-F8B3-D4217B2940E5}"/>
              </a:ext>
            </a:extLst>
          </p:cNvPr>
          <p:cNvSpPr/>
          <p:nvPr/>
        </p:nvSpPr>
        <p:spPr>
          <a:xfrm>
            <a:off x="3416173" y="3415538"/>
            <a:ext cx="39052" cy="80709"/>
          </a:xfrm>
          <a:custGeom>
            <a:avLst/>
            <a:gdLst/>
            <a:ahLst/>
            <a:cxnLst/>
            <a:rect l="0" t="0" r="r" b="b"/>
            <a:pathLst>
              <a:path w="39052" h="80709">
                <a:moveTo>
                  <a:pt x="0" y="80709"/>
                </a:moveTo>
                <a:lnTo>
                  <a:pt x="0" y="7811"/>
                </a:lnTo>
                <a:cubicBezTo>
                  <a:pt x="0" y="3492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492"/>
                  <a:pt x="39052" y="7811"/>
                </a:cubicBezTo>
                <a:lnTo>
                  <a:pt x="39052" y="80709"/>
                </a:lnTo>
                <a:close/>
              </a:path>
            </a:pathLst>
          </a:custGeom>
          <a:solidFill>
            <a:srgbClr val="134C9C">
              <a:alpha val="8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054" name="m-d08_kpi_board-spl-2">
            <a:extLst>
              <a:ext uri="{FF2B5EF4-FFF2-40B4-BE49-F238E27FC236}">
                <a16:creationId xmlns:a16="http://schemas.microsoft.com/office/drawing/2014/main" id="{26AE19FA-BF66-4DF6-2E2B-3426ECB0111A}"/>
              </a:ext>
            </a:extLst>
          </p:cNvPr>
          <p:cNvCxnSpPr/>
          <p:nvPr/>
        </p:nvCxnSpPr>
        <p:spPr>
          <a:xfrm>
            <a:off x="3142805" y="3506660"/>
            <a:ext cx="609219" cy="0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5" name="m-d08_kpi_board-spt-2">
            <a:extLst>
              <a:ext uri="{FF2B5EF4-FFF2-40B4-BE49-F238E27FC236}">
                <a16:creationId xmlns:a16="http://schemas.microsoft.com/office/drawing/2014/main" id="{9B3BF822-94F2-5EE9-AAC2-282D24C95CBB}"/>
              </a:ext>
            </a:extLst>
          </p:cNvPr>
          <p:cNvSpPr txBox="1"/>
          <p:nvPr/>
        </p:nvSpPr>
        <p:spPr>
          <a:xfrm>
            <a:off x="3668140" y="3421669"/>
            <a:ext cx="8607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近 6 期</a:t>
            </a:r>
          </a:p>
        </p:txBody>
      </p:sp>
      <p:sp>
        <p:nvSpPr>
          <p:cNvPr id="1056" name="m-d08_kpi_board-spt2-2">
            <a:extLst>
              <a:ext uri="{FF2B5EF4-FFF2-40B4-BE49-F238E27FC236}">
                <a16:creationId xmlns:a16="http://schemas.microsoft.com/office/drawing/2014/main" id="{C124ABF1-C528-99D4-D1C0-77025F05C2F9}"/>
              </a:ext>
            </a:extLst>
          </p:cNvPr>
          <p:cNvSpPr txBox="1"/>
          <p:nvPr/>
        </p:nvSpPr>
        <p:spPr>
          <a:xfrm>
            <a:off x="3662829" y="3468532"/>
            <a:ext cx="9138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环比走势</a:t>
            </a:r>
          </a:p>
        </p:txBody>
      </p:sp>
      <p:sp>
        <p:nvSpPr>
          <p:cNvPr id="1057" name="m-d08_kpi_board-card-3">
            <a:extLst>
              <a:ext uri="{FF2B5EF4-FFF2-40B4-BE49-F238E27FC236}">
                <a16:creationId xmlns:a16="http://schemas.microsoft.com/office/drawing/2014/main" id="{88B3B71E-39BE-6E30-60BB-6571B734AB0A}"/>
              </a:ext>
            </a:extLst>
          </p:cNvPr>
          <p:cNvSpPr/>
          <p:nvPr/>
        </p:nvSpPr>
        <p:spPr>
          <a:xfrm>
            <a:off x="3830129" y="3149981"/>
            <a:ext cx="697738" cy="390525"/>
          </a:xfrm>
          <a:custGeom>
            <a:avLst/>
            <a:gdLst/>
            <a:ahLst/>
            <a:cxnLst/>
            <a:rect l="0" t="0" r="r" b="b"/>
            <a:pathLst>
              <a:path w="697738" h="390525">
                <a:moveTo>
                  <a:pt x="26035" y="0"/>
                </a:moveTo>
                <a:lnTo>
                  <a:pt x="671703" y="0"/>
                </a:lnTo>
                <a:cubicBezTo>
                  <a:pt x="686118" y="0"/>
                  <a:pt x="697738" y="11620"/>
                  <a:pt x="697738" y="26035"/>
                </a:cubicBezTo>
                <a:lnTo>
                  <a:pt x="697738" y="364490"/>
                </a:lnTo>
                <a:cubicBezTo>
                  <a:pt x="697738" y="378905"/>
                  <a:pt x="686118" y="390525"/>
                  <a:pt x="671703" y="390525"/>
                </a:cubicBezTo>
                <a:lnTo>
                  <a:pt x="26035" y="390525"/>
                </a:lnTo>
                <a:cubicBezTo>
                  <a:pt x="11621" y="390525"/>
                  <a:pt x="0" y="378905"/>
                  <a:pt x="0" y="364490"/>
                </a:cubicBezTo>
                <a:lnTo>
                  <a:pt x="0" y="26035"/>
                </a:lnTo>
                <a:cubicBezTo>
                  <a:pt x="0" y="11620"/>
                  <a:pt x="11621" y="0"/>
                  <a:pt x="260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58" name="m-d08_kpi_board-cap-3">
            <a:extLst>
              <a:ext uri="{FF2B5EF4-FFF2-40B4-BE49-F238E27FC236}">
                <a16:creationId xmlns:a16="http://schemas.microsoft.com/office/drawing/2014/main" id="{47052602-6912-FA41-611D-BD528315A220}"/>
              </a:ext>
            </a:extLst>
          </p:cNvPr>
          <p:cNvSpPr/>
          <p:nvPr/>
        </p:nvSpPr>
        <p:spPr>
          <a:xfrm>
            <a:off x="3830129" y="3149981"/>
            <a:ext cx="9144" cy="390525"/>
          </a:xfrm>
          <a:custGeom>
            <a:avLst/>
            <a:gdLst/>
            <a:ahLst/>
            <a:cxnLst/>
            <a:rect l="0" t="0" r="r" b="b"/>
            <a:pathLst>
              <a:path w="9144" h="390525">
                <a:moveTo>
                  <a:pt x="4572" y="0"/>
                </a:moveTo>
                <a:lnTo>
                  <a:pt x="4572" y="0"/>
                </a:lnTo>
                <a:cubicBezTo>
                  <a:pt x="7049" y="0"/>
                  <a:pt x="9144" y="2032"/>
                  <a:pt x="9144" y="4572"/>
                </a:cubicBezTo>
                <a:lnTo>
                  <a:pt x="9144" y="385953"/>
                </a:lnTo>
                <a:cubicBezTo>
                  <a:pt x="9144" y="388493"/>
                  <a:pt x="7049" y="390525"/>
                  <a:pt x="4572" y="390525"/>
                </a:cubicBezTo>
                <a:lnTo>
                  <a:pt x="4572" y="390525"/>
                </a:lnTo>
                <a:cubicBezTo>
                  <a:pt x="2032" y="390525"/>
                  <a:pt x="0" y="388493"/>
                  <a:pt x="0" y="385953"/>
                </a:cubicBezTo>
                <a:lnTo>
                  <a:pt x="0" y="4572"/>
                </a:lnTo>
                <a:cubicBezTo>
                  <a:pt x="0" y="2032"/>
                  <a:pt x="2032" y="0"/>
                  <a:pt x="4572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59" name="m-d08_kpi_board-chip-3">
            <a:extLst>
              <a:ext uri="{FF2B5EF4-FFF2-40B4-BE49-F238E27FC236}">
                <a16:creationId xmlns:a16="http://schemas.microsoft.com/office/drawing/2014/main" id="{C870B1A3-0549-E53B-4B9D-F76539F6EAF3}"/>
              </a:ext>
            </a:extLst>
          </p:cNvPr>
          <p:cNvSpPr/>
          <p:nvPr/>
        </p:nvSpPr>
        <p:spPr>
          <a:xfrm>
            <a:off x="3874389" y="3186430"/>
            <a:ext cx="67691" cy="67691"/>
          </a:xfrm>
          <a:prstGeom prst="ellipse">
            <a:avLst/>
          </a:prstGeom>
          <a:solidFill>
            <a:srgbClr val="2468B6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60" name="m-d08_kpi_board-icon-doc">
            <a:extLst>
              <a:ext uri="{FF2B5EF4-FFF2-40B4-BE49-F238E27FC236}">
                <a16:creationId xmlns:a16="http://schemas.microsoft.com/office/drawing/2014/main" id="{83FAB6D1-D5C5-2E3C-D7B9-8261E37146D7}"/>
              </a:ext>
            </a:extLst>
          </p:cNvPr>
          <p:cNvSpPr/>
          <p:nvPr/>
        </p:nvSpPr>
        <p:spPr>
          <a:xfrm>
            <a:off x="3900043" y="3207512"/>
            <a:ext cx="17018" cy="25527"/>
          </a:xfrm>
          <a:custGeom>
            <a:avLst/>
            <a:gdLst/>
            <a:ahLst/>
            <a:cxnLst/>
            <a:rect l="0" t="0" r="r" b="b"/>
            <a:pathLst>
              <a:path w="17018" h="25527">
                <a:moveTo>
                  <a:pt x="0" y="0"/>
                </a:moveTo>
                <a:lnTo>
                  <a:pt x="10922" y="0"/>
                </a:lnTo>
                <a:lnTo>
                  <a:pt x="17018" y="6096"/>
                </a:lnTo>
                <a:lnTo>
                  <a:pt x="17018" y="25527"/>
                </a:lnTo>
                <a:lnTo>
                  <a:pt x="0" y="25527"/>
                </a:lnTo>
                <a:close/>
                <a:moveTo>
                  <a:pt x="10922" y="0"/>
                </a:moveTo>
                <a:lnTo>
                  <a:pt x="10922" y="6096"/>
                </a:lnTo>
                <a:lnTo>
                  <a:pt x="17018" y="6096"/>
                </a:lnTo>
                <a:moveTo>
                  <a:pt x="3937" y="13399"/>
                </a:moveTo>
                <a:lnTo>
                  <a:pt x="13018" y="13399"/>
                </a:lnTo>
                <a:moveTo>
                  <a:pt x="3937" y="18542"/>
                </a:moveTo>
                <a:lnTo>
                  <a:pt x="13018" y="18542"/>
                </a:lnTo>
              </a:path>
            </a:pathLst>
          </a:custGeom>
          <a:noFill/>
          <a:ln w="2604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61" name="m-d08_kpi_board-nm-3">
            <a:extLst>
              <a:ext uri="{FF2B5EF4-FFF2-40B4-BE49-F238E27FC236}">
                <a16:creationId xmlns:a16="http://schemas.microsoft.com/office/drawing/2014/main" id="{67F66B10-B612-6C8C-9A23-9C1F3695B6FC}"/>
              </a:ext>
            </a:extLst>
          </p:cNvPr>
          <p:cNvSpPr txBox="1"/>
          <p:nvPr/>
        </p:nvSpPr>
        <p:spPr>
          <a:xfrm>
            <a:off x="3956399" y="3190498"/>
            <a:ext cx="169878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新签订单</a:t>
            </a:r>
          </a:p>
        </p:txBody>
      </p:sp>
      <p:sp>
        <p:nvSpPr>
          <p:cNvPr id="1062" name="m-d08_kpi_board-dlt-3">
            <a:extLst>
              <a:ext uri="{FF2B5EF4-FFF2-40B4-BE49-F238E27FC236}">
                <a16:creationId xmlns:a16="http://schemas.microsoft.com/office/drawing/2014/main" id="{9D745573-B7B3-937D-7D33-710588C4BF46}"/>
              </a:ext>
            </a:extLst>
          </p:cNvPr>
          <p:cNvSpPr/>
          <p:nvPr/>
        </p:nvSpPr>
        <p:spPr>
          <a:xfrm>
            <a:off x="4348226" y="3194240"/>
            <a:ext cx="145796" cy="52070"/>
          </a:xfrm>
          <a:custGeom>
            <a:avLst/>
            <a:gdLst/>
            <a:ahLst/>
            <a:cxnLst/>
            <a:rect l="0" t="0" r="r" b="b"/>
            <a:pathLst>
              <a:path w="145796" h="52070">
                <a:moveTo>
                  <a:pt x="26035" y="0"/>
                </a:moveTo>
                <a:lnTo>
                  <a:pt x="119761" y="0"/>
                </a:lnTo>
                <a:cubicBezTo>
                  <a:pt x="134175" y="0"/>
                  <a:pt x="145796" y="11621"/>
                  <a:pt x="145796" y="26035"/>
                </a:cubicBezTo>
                <a:lnTo>
                  <a:pt x="145796" y="26035"/>
                </a:lnTo>
                <a:cubicBezTo>
                  <a:pt x="145796" y="40450"/>
                  <a:pt x="134175" y="52070"/>
                  <a:pt x="119761" y="52070"/>
                </a:cubicBezTo>
                <a:lnTo>
                  <a:pt x="26035" y="52070"/>
                </a:lnTo>
                <a:cubicBezTo>
                  <a:pt x="11621" y="52070"/>
                  <a:pt x="0" y="40450"/>
                  <a:pt x="0" y="26035"/>
                </a:cubicBezTo>
                <a:lnTo>
                  <a:pt x="0" y="26035"/>
                </a:lnTo>
                <a:cubicBezTo>
                  <a:pt x="0" y="11621"/>
                  <a:pt x="11621" y="0"/>
                  <a:pt x="26035" y="0"/>
                </a:cubicBezTo>
                <a:close/>
              </a:path>
            </a:pathLst>
          </a:cu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63" name="m-d08_kpi_board-icon-grow">
            <a:extLst>
              <a:ext uri="{FF2B5EF4-FFF2-40B4-BE49-F238E27FC236}">
                <a16:creationId xmlns:a16="http://schemas.microsoft.com/office/drawing/2014/main" id="{0712E1B6-1371-D78A-0740-D6202EAF5C3B}"/>
              </a:ext>
            </a:extLst>
          </p:cNvPr>
          <p:cNvSpPr/>
          <p:nvPr/>
        </p:nvSpPr>
        <p:spPr>
          <a:xfrm>
            <a:off x="4370388" y="3216148"/>
            <a:ext cx="16256" cy="10223"/>
          </a:xfrm>
          <a:custGeom>
            <a:avLst/>
            <a:gdLst/>
            <a:ahLst/>
            <a:cxnLst/>
            <a:rect l="0" t="0" r="r" b="b"/>
            <a:pathLst>
              <a:path w="16256" h="10223">
                <a:moveTo>
                  <a:pt x="0" y="10223"/>
                </a:moveTo>
                <a:lnTo>
                  <a:pt x="5398" y="4318"/>
                </a:lnTo>
                <a:lnTo>
                  <a:pt x="9271" y="7620"/>
                </a:lnTo>
                <a:lnTo>
                  <a:pt x="15812" y="0"/>
                </a:lnTo>
                <a:moveTo>
                  <a:pt x="13208" y="0"/>
                </a:moveTo>
                <a:lnTo>
                  <a:pt x="16256" y="0"/>
                </a:lnTo>
                <a:lnTo>
                  <a:pt x="16256" y="3048"/>
                </a:lnTo>
              </a:path>
            </a:pathLst>
          </a:custGeom>
          <a:noFill/>
          <a:ln w="260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64" name="m-d08_kpi_board-dltt-3">
            <a:extLst>
              <a:ext uri="{FF2B5EF4-FFF2-40B4-BE49-F238E27FC236}">
                <a16:creationId xmlns:a16="http://schemas.microsoft.com/office/drawing/2014/main" id="{E39A7812-5BC6-38B0-967A-7935E02E6E3B}"/>
              </a:ext>
            </a:extLst>
          </p:cNvPr>
          <p:cNvSpPr txBox="1"/>
          <p:nvPr/>
        </p:nvSpPr>
        <p:spPr>
          <a:xfrm>
            <a:off x="4382019" y="3203665"/>
            <a:ext cx="9107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3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+24.3%</a:t>
            </a:r>
          </a:p>
        </p:txBody>
      </p:sp>
      <p:sp>
        <p:nvSpPr>
          <p:cNvPr id="1065" name="m-d08_kpi_board-v-3">
            <a:extLst>
              <a:ext uri="{FF2B5EF4-FFF2-40B4-BE49-F238E27FC236}">
                <a16:creationId xmlns:a16="http://schemas.microsoft.com/office/drawing/2014/main" id="{C94C38A3-FD72-3FB8-37C7-4D2E4C7854AC}"/>
              </a:ext>
            </a:extLst>
          </p:cNvPr>
          <p:cNvSpPr txBox="1"/>
          <p:nvPr/>
        </p:nvSpPr>
        <p:spPr>
          <a:xfrm>
            <a:off x="3865954" y="3268844"/>
            <a:ext cx="266598" cy="12301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5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1,286</a:t>
            </a:r>
          </a:p>
        </p:txBody>
      </p:sp>
      <p:sp>
        <p:nvSpPr>
          <p:cNvPr id="1066" name="m-d08_kpi_board-u-3">
            <a:extLst>
              <a:ext uri="{FF2B5EF4-FFF2-40B4-BE49-F238E27FC236}">
                <a16:creationId xmlns:a16="http://schemas.microsoft.com/office/drawing/2014/main" id="{EE0919D2-C5DA-727C-2B15-CDFA3C8A2C29}"/>
              </a:ext>
            </a:extLst>
          </p:cNvPr>
          <p:cNvSpPr txBox="1"/>
          <p:nvPr/>
        </p:nvSpPr>
        <p:spPr>
          <a:xfrm>
            <a:off x="4091052" y="3326720"/>
            <a:ext cx="4452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单</a:t>
            </a:r>
          </a:p>
        </p:txBody>
      </p:sp>
      <p:sp>
        <p:nvSpPr>
          <p:cNvPr id="1067" name="m-d08_kpi_board-sp-3-1">
            <a:extLst>
              <a:ext uri="{FF2B5EF4-FFF2-40B4-BE49-F238E27FC236}">
                <a16:creationId xmlns:a16="http://schemas.microsoft.com/office/drawing/2014/main" id="{B3E05E83-BF51-C023-56ED-B71679992C54}"/>
              </a:ext>
            </a:extLst>
          </p:cNvPr>
          <p:cNvSpPr/>
          <p:nvPr/>
        </p:nvSpPr>
        <p:spPr>
          <a:xfrm>
            <a:off x="3874389" y="3444113"/>
            <a:ext cx="39052" cy="52134"/>
          </a:xfrm>
          <a:custGeom>
            <a:avLst/>
            <a:gdLst/>
            <a:ahLst/>
            <a:cxnLst/>
            <a:rect l="0" t="0" r="r" b="b"/>
            <a:pathLst>
              <a:path w="39052" h="52134">
                <a:moveTo>
                  <a:pt x="0" y="52134"/>
                </a:moveTo>
                <a:lnTo>
                  <a:pt x="0" y="7811"/>
                </a:lnTo>
                <a:cubicBezTo>
                  <a:pt x="0" y="3492"/>
                  <a:pt x="3493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492"/>
                  <a:pt x="39052" y="7811"/>
                </a:cubicBezTo>
                <a:lnTo>
                  <a:pt x="39052" y="52134"/>
                </a:lnTo>
                <a:close/>
              </a:path>
            </a:pathLst>
          </a:custGeom>
          <a:solidFill>
            <a:srgbClr val="2468B6">
              <a:alpha val="2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68" name="m-d08_kpi_board-sp-3-2">
            <a:extLst>
              <a:ext uri="{FF2B5EF4-FFF2-40B4-BE49-F238E27FC236}">
                <a16:creationId xmlns:a16="http://schemas.microsoft.com/office/drawing/2014/main" id="{732B29CD-71EA-DAC0-0EF6-0652C306861F}"/>
              </a:ext>
            </a:extLst>
          </p:cNvPr>
          <p:cNvSpPr/>
          <p:nvPr/>
        </p:nvSpPr>
        <p:spPr>
          <a:xfrm>
            <a:off x="3929062" y="3437382"/>
            <a:ext cx="39052" cy="58864"/>
          </a:xfrm>
          <a:custGeom>
            <a:avLst/>
            <a:gdLst/>
            <a:ahLst/>
            <a:cxnLst/>
            <a:rect l="0" t="0" r="r" b="b"/>
            <a:pathLst>
              <a:path w="39052" h="58864">
                <a:moveTo>
                  <a:pt x="0" y="58864"/>
                </a:moveTo>
                <a:lnTo>
                  <a:pt x="0" y="7810"/>
                </a:lnTo>
                <a:cubicBezTo>
                  <a:pt x="0" y="3492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492"/>
                  <a:pt x="39052" y="7810"/>
                </a:cubicBezTo>
                <a:lnTo>
                  <a:pt x="39052" y="58864"/>
                </a:lnTo>
                <a:close/>
              </a:path>
            </a:pathLst>
          </a:custGeom>
          <a:solidFill>
            <a:srgbClr val="2468B6">
              <a:alpha val="4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69" name="m-d08_kpi_board-sp-3-3">
            <a:extLst>
              <a:ext uri="{FF2B5EF4-FFF2-40B4-BE49-F238E27FC236}">
                <a16:creationId xmlns:a16="http://schemas.microsoft.com/office/drawing/2014/main" id="{F83F8076-A3A2-AD63-708E-7E85A7884196}"/>
              </a:ext>
            </a:extLst>
          </p:cNvPr>
          <p:cNvSpPr/>
          <p:nvPr/>
        </p:nvSpPr>
        <p:spPr>
          <a:xfrm>
            <a:off x="3983736" y="3439096"/>
            <a:ext cx="39052" cy="57150"/>
          </a:xfrm>
          <a:custGeom>
            <a:avLst/>
            <a:gdLst/>
            <a:ahLst/>
            <a:cxnLst/>
            <a:rect l="0" t="0" r="r" b="b"/>
            <a:pathLst>
              <a:path w="39052" h="57150">
                <a:moveTo>
                  <a:pt x="0" y="57150"/>
                </a:moveTo>
                <a:lnTo>
                  <a:pt x="0" y="7811"/>
                </a:lnTo>
                <a:cubicBezTo>
                  <a:pt x="0" y="3492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492"/>
                  <a:pt x="39052" y="7811"/>
                </a:cubicBezTo>
                <a:lnTo>
                  <a:pt x="39052" y="57150"/>
                </a:lnTo>
                <a:close/>
              </a:path>
            </a:pathLst>
          </a:custGeom>
          <a:solidFill>
            <a:srgbClr val="2468B6">
              <a:alpha val="5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70" name="m-d08_kpi_board-sp-3-4">
            <a:extLst>
              <a:ext uri="{FF2B5EF4-FFF2-40B4-BE49-F238E27FC236}">
                <a16:creationId xmlns:a16="http://schemas.microsoft.com/office/drawing/2014/main" id="{A0DB2855-A583-BD9E-04D6-2FDD3458DC74}"/>
              </a:ext>
            </a:extLst>
          </p:cNvPr>
          <p:cNvSpPr/>
          <p:nvPr/>
        </p:nvSpPr>
        <p:spPr>
          <a:xfrm>
            <a:off x="4038410" y="3429826"/>
            <a:ext cx="39052" cy="66421"/>
          </a:xfrm>
          <a:custGeom>
            <a:avLst/>
            <a:gdLst/>
            <a:ahLst/>
            <a:cxnLst/>
            <a:rect l="0" t="0" r="r" b="b"/>
            <a:pathLst>
              <a:path w="39052" h="66421">
                <a:moveTo>
                  <a:pt x="0" y="66421"/>
                </a:moveTo>
                <a:lnTo>
                  <a:pt x="0" y="7811"/>
                </a:lnTo>
                <a:cubicBezTo>
                  <a:pt x="0" y="3492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492"/>
                  <a:pt x="39052" y="7811"/>
                </a:cubicBezTo>
                <a:lnTo>
                  <a:pt x="39052" y="66421"/>
                </a:lnTo>
                <a:close/>
              </a:path>
            </a:pathLst>
          </a:custGeom>
          <a:solidFill>
            <a:srgbClr val="2468B6">
              <a:alpha val="6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71" name="m-d08_kpi_board-sp-3-5">
            <a:extLst>
              <a:ext uri="{FF2B5EF4-FFF2-40B4-BE49-F238E27FC236}">
                <a16:creationId xmlns:a16="http://schemas.microsoft.com/office/drawing/2014/main" id="{A7DAAFE2-7211-76AA-A673-33BDEF1DC51E}"/>
              </a:ext>
            </a:extLst>
          </p:cNvPr>
          <p:cNvSpPr/>
          <p:nvPr/>
        </p:nvSpPr>
        <p:spPr>
          <a:xfrm>
            <a:off x="4093083" y="3422269"/>
            <a:ext cx="39052" cy="73977"/>
          </a:xfrm>
          <a:custGeom>
            <a:avLst/>
            <a:gdLst/>
            <a:ahLst/>
            <a:cxnLst/>
            <a:rect l="0" t="0" r="r" b="b"/>
            <a:pathLst>
              <a:path w="39052" h="73977">
                <a:moveTo>
                  <a:pt x="0" y="73977"/>
                </a:moveTo>
                <a:lnTo>
                  <a:pt x="0" y="7810"/>
                </a:lnTo>
                <a:cubicBezTo>
                  <a:pt x="0" y="3492"/>
                  <a:pt x="3492" y="0"/>
                  <a:pt x="7810" y="0"/>
                </a:cubicBezTo>
                <a:lnTo>
                  <a:pt x="31242" y="0"/>
                </a:lnTo>
                <a:cubicBezTo>
                  <a:pt x="35560" y="0"/>
                  <a:pt x="39052" y="3492"/>
                  <a:pt x="39052" y="7810"/>
                </a:cubicBezTo>
                <a:lnTo>
                  <a:pt x="39052" y="73977"/>
                </a:lnTo>
                <a:close/>
              </a:path>
            </a:pathLst>
          </a:custGeom>
          <a:solidFill>
            <a:srgbClr val="2468B6">
              <a:alpha val="7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72" name="m-d08_kpi_board-sp-3-6">
            <a:extLst>
              <a:ext uri="{FF2B5EF4-FFF2-40B4-BE49-F238E27FC236}">
                <a16:creationId xmlns:a16="http://schemas.microsoft.com/office/drawing/2014/main" id="{0B6CE8DF-543F-53B6-FB9A-90BB66C65401}"/>
              </a:ext>
            </a:extLst>
          </p:cNvPr>
          <p:cNvSpPr/>
          <p:nvPr/>
        </p:nvSpPr>
        <p:spPr>
          <a:xfrm>
            <a:off x="4147757" y="3415538"/>
            <a:ext cx="39052" cy="80709"/>
          </a:xfrm>
          <a:custGeom>
            <a:avLst/>
            <a:gdLst/>
            <a:ahLst/>
            <a:cxnLst/>
            <a:rect l="0" t="0" r="r" b="b"/>
            <a:pathLst>
              <a:path w="39052" h="80709">
                <a:moveTo>
                  <a:pt x="0" y="80709"/>
                </a:moveTo>
                <a:lnTo>
                  <a:pt x="0" y="7811"/>
                </a:lnTo>
                <a:cubicBezTo>
                  <a:pt x="0" y="3492"/>
                  <a:pt x="3492" y="0"/>
                  <a:pt x="7810" y="0"/>
                </a:cubicBezTo>
                <a:lnTo>
                  <a:pt x="31242" y="0"/>
                </a:lnTo>
                <a:cubicBezTo>
                  <a:pt x="35560" y="0"/>
                  <a:pt x="39052" y="3492"/>
                  <a:pt x="39052" y="7811"/>
                </a:cubicBezTo>
                <a:lnTo>
                  <a:pt x="39052" y="80709"/>
                </a:lnTo>
                <a:close/>
              </a:path>
            </a:pathLst>
          </a:custGeom>
          <a:solidFill>
            <a:srgbClr val="2468B6">
              <a:alpha val="8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073" name="m-d08_kpi_board-spl-3">
            <a:extLst>
              <a:ext uri="{FF2B5EF4-FFF2-40B4-BE49-F238E27FC236}">
                <a16:creationId xmlns:a16="http://schemas.microsoft.com/office/drawing/2014/main" id="{8FF662DF-CD88-B4B7-074A-66781C421BF0}"/>
              </a:ext>
            </a:extLst>
          </p:cNvPr>
          <p:cNvCxnSpPr/>
          <p:nvPr/>
        </p:nvCxnSpPr>
        <p:spPr>
          <a:xfrm>
            <a:off x="3874389" y="3506660"/>
            <a:ext cx="609219" cy="0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4" name="m-d08_kpi_board-spt-3">
            <a:extLst>
              <a:ext uri="{FF2B5EF4-FFF2-40B4-BE49-F238E27FC236}">
                <a16:creationId xmlns:a16="http://schemas.microsoft.com/office/drawing/2014/main" id="{AD998246-3429-8FCC-39A5-60E63D2AEDA3}"/>
              </a:ext>
            </a:extLst>
          </p:cNvPr>
          <p:cNvSpPr txBox="1"/>
          <p:nvPr/>
        </p:nvSpPr>
        <p:spPr>
          <a:xfrm>
            <a:off x="4399723" y="3421669"/>
            <a:ext cx="8607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近 6 期</a:t>
            </a:r>
          </a:p>
        </p:txBody>
      </p:sp>
      <p:sp>
        <p:nvSpPr>
          <p:cNvPr id="1075" name="m-d08_kpi_board-spt2-3">
            <a:extLst>
              <a:ext uri="{FF2B5EF4-FFF2-40B4-BE49-F238E27FC236}">
                <a16:creationId xmlns:a16="http://schemas.microsoft.com/office/drawing/2014/main" id="{A9DC4C9A-B640-34F8-459A-A80495129C91}"/>
              </a:ext>
            </a:extLst>
          </p:cNvPr>
          <p:cNvSpPr txBox="1"/>
          <p:nvPr/>
        </p:nvSpPr>
        <p:spPr>
          <a:xfrm>
            <a:off x="4394412" y="3468532"/>
            <a:ext cx="9138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环比走势</a:t>
            </a:r>
          </a:p>
        </p:txBody>
      </p:sp>
      <p:sp>
        <p:nvSpPr>
          <p:cNvPr id="1076" name="m-d08_kpi_board-card-4">
            <a:extLst>
              <a:ext uri="{FF2B5EF4-FFF2-40B4-BE49-F238E27FC236}">
                <a16:creationId xmlns:a16="http://schemas.microsoft.com/office/drawing/2014/main" id="{8CB40F5C-FBE4-5A26-81A7-F251C93316ED}"/>
              </a:ext>
            </a:extLst>
          </p:cNvPr>
          <p:cNvSpPr/>
          <p:nvPr/>
        </p:nvSpPr>
        <p:spPr>
          <a:xfrm>
            <a:off x="2366962" y="3571748"/>
            <a:ext cx="697738" cy="390525"/>
          </a:xfrm>
          <a:custGeom>
            <a:avLst/>
            <a:gdLst/>
            <a:ahLst/>
            <a:cxnLst/>
            <a:rect l="0" t="0" r="r" b="b"/>
            <a:pathLst>
              <a:path w="697738" h="390525">
                <a:moveTo>
                  <a:pt x="26035" y="0"/>
                </a:moveTo>
                <a:lnTo>
                  <a:pt x="671703" y="0"/>
                </a:lnTo>
                <a:cubicBezTo>
                  <a:pt x="686118" y="0"/>
                  <a:pt x="697738" y="11620"/>
                  <a:pt x="697738" y="26035"/>
                </a:cubicBezTo>
                <a:lnTo>
                  <a:pt x="697738" y="364490"/>
                </a:lnTo>
                <a:cubicBezTo>
                  <a:pt x="697738" y="378904"/>
                  <a:pt x="686118" y="390525"/>
                  <a:pt x="671703" y="390525"/>
                </a:cubicBezTo>
                <a:lnTo>
                  <a:pt x="26035" y="390525"/>
                </a:lnTo>
                <a:cubicBezTo>
                  <a:pt x="11620" y="390525"/>
                  <a:pt x="0" y="378904"/>
                  <a:pt x="0" y="364490"/>
                </a:cubicBezTo>
                <a:lnTo>
                  <a:pt x="0" y="26035"/>
                </a:lnTo>
                <a:cubicBezTo>
                  <a:pt x="0" y="11620"/>
                  <a:pt x="11620" y="0"/>
                  <a:pt x="260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77" name="m-d08_kpi_board-cap-4">
            <a:extLst>
              <a:ext uri="{FF2B5EF4-FFF2-40B4-BE49-F238E27FC236}">
                <a16:creationId xmlns:a16="http://schemas.microsoft.com/office/drawing/2014/main" id="{156C5E48-08CD-2C26-8BF2-004B444348EB}"/>
              </a:ext>
            </a:extLst>
          </p:cNvPr>
          <p:cNvSpPr/>
          <p:nvPr/>
        </p:nvSpPr>
        <p:spPr>
          <a:xfrm>
            <a:off x="2366962" y="3571748"/>
            <a:ext cx="9144" cy="390525"/>
          </a:xfrm>
          <a:custGeom>
            <a:avLst/>
            <a:gdLst/>
            <a:ahLst/>
            <a:cxnLst/>
            <a:rect l="0" t="0" r="r" b="b"/>
            <a:pathLst>
              <a:path w="9144" h="390525">
                <a:moveTo>
                  <a:pt x="4572" y="0"/>
                </a:moveTo>
                <a:lnTo>
                  <a:pt x="4572" y="0"/>
                </a:lnTo>
                <a:cubicBezTo>
                  <a:pt x="7049" y="0"/>
                  <a:pt x="9144" y="2032"/>
                  <a:pt x="9144" y="4572"/>
                </a:cubicBezTo>
                <a:lnTo>
                  <a:pt x="9144" y="385953"/>
                </a:lnTo>
                <a:cubicBezTo>
                  <a:pt x="9144" y="388493"/>
                  <a:pt x="7049" y="390525"/>
                  <a:pt x="4572" y="390525"/>
                </a:cubicBezTo>
                <a:lnTo>
                  <a:pt x="4572" y="390525"/>
                </a:lnTo>
                <a:cubicBezTo>
                  <a:pt x="2032" y="390525"/>
                  <a:pt x="0" y="388493"/>
                  <a:pt x="0" y="385953"/>
                </a:cubicBezTo>
                <a:lnTo>
                  <a:pt x="0" y="4572"/>
                </a:lnTo>
                <a:cubicBezTo>
                  <a:pt x="0" y="2032"/>
                  <a:pt x="2032" y="0"/>
                  <a:pt x="4572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78" name="m-d08_kpi_board-chip-4">
            <a:extLst>
              <a:ext uri="{FF2B5EF4-FFF2-40B4-BE49-F238E27FC236}">
                <a16:creationId xmlns:a16="http://schemas.microsoft.com/office/drawing/2014/main" id="{189E7DA8-9970-8B9D-C6A2-BF32CF09B03F}"/>
              </a:ext>
            </a:extLst>
          </p:cNvPr>
          <p:cNvSpPr/>
          <p:nvPr/>
        </p:nvSpPr>
        <p:spPr>
          <a:xfrm>
            <a:off x="2411222" y="3608197"/>
            <a:ext cx="67691" cy="67691"/>
          </a:xfrm>
          <a:prstGeom prst="ellipse">
            <a:avLst/>
          </a:prstGeom>
          <a:solidFill>
            <a:srgbClr val="2E77C2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79" name="m-d08_kpi_board-icon-people">
            <a:extLst>
              <a:ext uri="{FF2B5EF4-FFF2-40B4-BE49-F238E27FC236}">
                <a16:creationId xmlns:a16="http://schemas.microsoft.com/office/drawing/2014/main" id="{60E7B98D-6D00-83F8-2E02-AF8C9B96C934}"/>
              </a:ext>
            </a:extLst>
          </p:cNvPr>
          <p:cNvSpPr/>
          <p:nvPr/>
        </p:nvSpPr>
        <p:spPr>
          <a:xfrm>
            <a:off x="2432304" y="3645979"/>
            <a:ext cx="25844" cy="7303"/>
          </a:xfrm>
          <a:custGeom>
            <a:avLst/>
            <a:gdLst/>
            <a:ahLst/>
            <a:cxnLst/>
            <a:rect l="0" t="0" r="r" b="b"/>
            <a:pathLst>
              <a:path w="25844" h="7303">
                <a:moveTo>
                  <a:pt x="0" y="7303"/>
                </a:moveTo>
                <a:cubicBezTo>
                  <a:pt x="0" y="2731"/>
                  <a:pt x="3810" y="0"/>
                  <a:pt x="8191" y="0"/>
                </a:cubicBezTo>
                <a:cubicBezTo>
                  <a:pt x="12636" y="0"/>
                  <a:pt x="16383" y="2731"/>
                  <a:pt x="16383" y="7303"/>
                </a:cubicBezTo>
                <a:moveTo>
                  <a:pt x="19431" y="635"/>
                </a:moveTo>
                <a:cubicBezTo>
                  <a:pt x="23368" y="1080"/>
                  <a:pt x="25844" y="3810"/>
                  <a:pt x="25844" y="7303"/>
                </a:cubicBezTo>
              </a:path>
            </a:pathLst>
          </a:custGeom>
          <a:noFill/>
          <a:ln w="2604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80" name="m-d08_kpi_board-icon-people">
            <a:extLst>
              <a:ext uri="{FF2B5EF4-FFF2-40B4-BE49-F238E27FC236}">
                <a16:creationId xmlns:a16="http://schemas.microsoft.com/office/drawing/2014/main" id="{6161E967-6FCA-F33F-0490-3F794998C4F1}"/>
              </a:ext>
            </a:extLst>
          </p:cNvPr>
          <p:cNvSpPr/>
          <p:nvPr/>
        </p:nvSpPr>
        <p:spPr>
          <a:xfrm>
            <a:off x="2435652" y="3632930"/>
            <a:ext cx="9720" cy="9720"/>
          </a:xfrm>
          <a:prstGeom prst="ellipse">
            <a:avLst/>
          </a:prstGeom>
          <a:noFill/>
          <a:ln w="2604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81" name="m-d08_kpi_board-icon-people">
            <a:extLst>
              <a:ext uri="{FF2B5EF4-FFF2-40B4-BE49-F238E27FC236}">
                <a16:creationId xmlns:a16="http://schemas.microsoft.com/office/drawing/2014/main" id="{72E20124-FDD9-691B-A6FC-2A48D37A50A2}"/>
              </a:ext>
            </a:extLst>
          </p:cNvPr>
          <p:cNvSpPr/>
          <p:nvPr/>
        </p:nvSpPr>
        <p:spPr>
          <a:xfrm>
            <a:off x="2448712" y="3632930"/>
            <a:ext cx="7897" cy="7897"/>
          </a:xfrm>
          <a:prstGeom prst="ellipse">
            <a:avLst/>
          </a:prstGeom>
          <a:noFill/>
          <a:ln w="2604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82" name="m-d08_kpi_board-nm-4">
            <a:extLst>
              <a:ext uri="{FF2B5EF4-FFF2-40B4-BE49-F238E27FC236}">
                <a16:creationId xmlns:a16="http://schemas.microsoft.com/office/drawing/2014/main" id="{EBCD41F7-2185-795A-1CAE-AFFB06DF60C1}"/>
              </a:ext>
            </a:extLst>
          </p:cNvPr>
          <p:cNvSpPr txBox="1"/>
          <p:nvPr/>
        </p:nvSpPr>
        <p:spPr>
          <a:xfrm>
            <a:off x="2493232" y="3612265"/>
            <a:ext cx="205026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客户续约率</a:t>
            </a:r>
          </a:p>
        </p:txBody>
      </p:sp>
      <p:sp>
        <p:nvSpPr>
          <p:cNvPr id="1083" name="m-d08_kpi_board-dlt-4">
            <a:extLst>
              <a:ext uri="{FF2B5EF4-FFF2-40B4-BE49-F238E27FC236}">
                <a16:creationId xmlns:a16="http://schemas.microsoft.com/office/drawing/2014/main" id="{C8B19966-2BDD-1FE1-DEB2-DCAE62FD8C55}"/>
              </a:ext>
            </a:extLst>
          </p:cNvPr>
          <p:cNvSpPr/>
          <p:nvPr/>
        </p:nvSpPr>
        <p:spPr>
          <a:xfrm>
            <a:off x="2885059" y="3616008"/>
            <a:ext cx="145796" cy="52070"/>
          </a:xfrm>
          <a:custGeom>
            <a:avLst/>
            <a:gdLst/>
            <a:ahLst/>
            <a:cxnLst/>
            <a:rect l="0" t="0" r="r" b="b"/>
            <a:pathLst>
              <a:path w="145796" h="52070">
                <a:moveTo>
                  <a:pt x="26035" y="0"/>
                </a:moveTo>
                <a:lnTo>
                  <a:pt x="119761" y="0"/>
                </a:lnTo>
                <a:cubicBezTo>
                  <a:pt x="134176" y="0"/>
                  <a:pt x="145796" y="11620"/>
                  <a:pt x="145796" y="26035"/>
                </a:cubicBezTo>
                <a:lnTo>
                  <a:pt x="145796" y="26035"/>
                </a:lnTo>
                <a:cubicBezTo>
                  <a:pt x="145796" y="40450"/>
                  <a:pt x="134176" y="52070"/>
                  <a:pt x="119761" y="52070"/>
                </a:cubicBezTo>
                <a:lnTo>
                  <a:pt x="26035" y="52070"/>
                </a:lnTo>
                <a:cubicBezTo>
                  <a:pt x="11621" y="52070"/>
                  <a:pt x="0" y="40450"/>
                  <a:pt x="0" y="26035"/>
                </a:cubicBezTo>
                <a:lnTo>
                  <a:pt x="0" y="26035"/>
                </a:lnTo>
                <a:cubicBezTo>
                  <a:pt x="0" y="11620"/>
                  <a:pt x="11621" y="0"/>
                  <a:pt x="26035" y="0"/>
                </a:cubicBezTo>
                <a:close/>
              </a:path>
            </a:pathLst>
          </a:cu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84" name="m-d08_kpi_board-icon-grow">
            <a:extLst>
              <a:ext uri="{FF2B5EF4-FFF2-40B4-BE49-F238E27FC236}">
                <a16:creationId xmlns:a16="http://schemas.microsoft.com/office/drawing/2014/main" id="{45EBC788-9880-C892-293F-195027761222}"/>
              </a:ext>
            </a:extLst>
          </p:cNvPr>
          <p:cNvSpPr/>
          <p:nvPr/>
        </p:nvSpPr>
        <p:spPr>
          <a:xfrm>
            <a:off x="2907157" y="3637915"/>
            <a:ext cx="16319" cy="10224"/>
          </a:xfrm>
          <a:custGeom>
            <a:avLst/>
            <a:gdLst/>
            <a:ahLst/>
            <a:cxnLst/>
            <a:rect l="0" t="0" r="r" b="b"/>
            <a:pathLst>
              <a:path w="16319" h="10224">
                <a:moveTo>
                  <a:pt x="0" y="10224"/>
                </a:moveTo>
                <a:lnTo>
                  <a:pt x="5461" y="4318"/>
                </a:lnTo>
                <a:lnTo>
                  <a:pt x="9335" y="7620"/>
                </a:lnTo>
                <a:lnTo>
                  <a:pt x="15875" y="0"/>
                </a:lnTo>
                <a:moveTo>
                  <a:pt x="13272" y="0"/>
                </a:moveTo>
                <a:lnTo>
                  <a:pt x="16319" y="0"/>
                </a:lnTo>
                <a:lnTo>
                  <a:pt x="16319" y="3048"/>
                </a:lnTo>
              </a:path>
            </a:pathLst>
          </a:custGeom>
          <a:noFill/>
          <a:ln w="260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85" name="m-d08_kpi_board-dltt-4">
            <a:extLst>
              <a:ext uri="{FF2B5EF4-FFF2-40B4-BE49-F238E27FC236}">
                <a16:creationId xmlns:a16="http://schemas.microsoft.com/office/drawing/2014/main" id="{208B1334-994E-7BB5-3C1F-4462DF9776A7}"/>
              </a:ext>
            </a:extLst>
          </p:cNvPr>
          <p:cNvSpPr txBox="1"/>
          <p:nvPr/>
        </p:nvSpPr>
        <p:spPr>
          <a:xfrm>
            <a:off x="2918852" y="3625432"/>
            <a:ext cx="9107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3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+1.2pt</a:t>
            </a:r>
          </a:p>
        </p:txBody>
      </p:sp>
      <p:sp>
        <p:nvSpPr>
          <p:cNvPr id="1086" name="m-d08_kpi_board-v-4">
            <a:extLst>
              <a:ext uri="{FF2B5EF4-FFF2-40B4-BE49-F238E27FC236}">
                <a16:creationId xmlns:a16="http://schemas.microsoft.com/office/drawing/2014/main" id="{8AECB77F-F4F7-566F-1C94-6C3C891A246B}"/>
              </a:ext>
            </a:extLst>
          </p:cNvPr>
          <p:cNvSpPr txBox="1"/>
          <p:nvPr/>
        </p:nvSpPr>
        <p:spPr>
          <a:xfrm>
            <a:off x="2402787" y="3690611"/>
            <a:ext cx="225932" cy="12301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5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96.4</a:t>
            </a:r>
          </a:p>
        </p:txBody>
      </p:sp>
      <p:sp>
        <p:nvSpPr>
          <p:cNvPr id="1087" name="m-d08_kpi_board-u-4">
            <a:extLst>
              <a:ext uri="{FF2B5EF4-FFF2-40B4-BE49-F238E27FC236}">
                <a16:creationId xmlns:a16="http://schemas.microsoft.com/office/drawing/2014/main" id="{C8538D64-8DF8-F489-5F92-47B5F7C4C416}"/>
              </a:ext>
            </a:extLst>
          </p:cNvPr>
          <p:cNvSpPr txBox="1"/>
          <p:nvPr/>
        </p:nvSpPr>
        <p:spPr>
          <a:xfrm>
            <a:off x="2587114" y="3748487"/>
            <a:ext cx="3421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%</a:t>
            </a:r>
          </a:p>
        </p:txBody>
      </p:sp>
      <p:sp>
        <p:nvSpPr>
          <p:cNvPr id="1088" name="m-d08_kpi_board-sp-4-1">
            <a:extLst>
              <a:ext uri="{FF2B5EF4-FFF2-40B4-BE49-F238E27FC236}">
                <a16:creationId xmlns:a16="http://schemas.microsoft.com/office/drawing/2014/main" id="{8951AD9B-1244-8D8C-233D-368B7009997C}"/>
              </a:ext>
            </a:extLst>
          </p:cNvPr>
          <p:cNvSpPr/>
          <p:nvPr/>
        </p:nvSpPr>
        <p:spPr>
          <a:xfrm>
            <a:off x="2411222" y="3844036"/>
            <a:ext cx="39052" cy="73977"/>
          </a:xfrm>
          <a:custGeom>
            <a:avLst/>
            <a:gdLst/>
            <a:ahLst/>
            <a:cxnLst/>
            <a:rect l="0" t="0" r="r" b="b"/>
            <a:pathLst>
              <a:path w="39052" h="73977">
                <a:moveTo>
                  <a:pt x="0" y="73977"/>
                </a:moveTo>
                <a:lnTo>
                  <a:pt x="0" y="7811"/>
                </a:lnTo>
                <a:cubicBezTo>
                  <a:pt x="0" y="3492"/>
                  <a:pt x="3492" y="0"/>
                  <a:pt x="7810" y="0"/>
                </a:cubicBezTo>
                <a:lnTo>
                  <a:pt x="31242" y="0"/>
                </a:lnTo>
                <a:cubicBezTo>
                  <a:pt x="35560" y="0"/>
                  <a:pt x="39052" y="3492"/>
                  <a:pt x="39052" y="7811"/>
                </a:cubicBezTo>
                <a:lnTo>
                  <a:pt x="39052" y="73977"/>
                </a:lnTo>
                <a:close/>
              </a:path>
            </a:pathLst>
          </a:custGeom>
          <a:solidFill>
            <a:srgbClr val="2E77C2">
              <a:alpha val="2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89" name="m-d08_kpi_board-sp-4-2">
            <a:extLst>
              <a:ext uri="{FF2B5EF4-FFF2-40B4-BE49-F238E27FC236}">
                <a16:creationId xmlns:a16="http://schemas.microsoft.com/office/drawing/2014/main" id="{5B7AE25C-0063-D2A1-8611-BD63FE6A9D9E}"/>
              </a:ext>
            </a:extLst>
          </p:cNvPr>
          <p:cNvSpPr/>
          <p:nvPr/>
        </p:nvSpPr>
        <p:spPr>
          <a:xfrm>
            <a:off x="2465896" y="3842385"/>
            <a:ext cx="39053" cy="75628"/>
          </a:xfrm>
          <a:custGeom>
            <a:avLst/>
            <a:gdLst/>
            <a:ahLst/>
            <a:cxnLst/>
            <a:rect l="0" t="0" r="r" b="b"/>
            <a:pathLst>
              <a:path w="39053" h="75628">
                <a:moveTo>
                  <a:pt x="0" y="75628"/>
                </a:moveTo>
                <a:lnTo>
                  <a:pt x="0" y="7811"/>
                </a:lnTo>
                <a:cubicBezTo>
                  <a:pt x="0" y="3429"/>
                  <a:pt x="3493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3" y="3429"/>
                  <a:pt x="39053" y="7811"/>
                </a:cubicBezTo>
                <a:lnTo>
                  <a:pt x="39053" y="75628"/>
                </a:lnTo>
                <a:close/>
              </a:path>
            </a:pathLst>
          </a:custGeom>
          <a:solidFill>
            <a:srgbClr val="2E77C2">
              <a:alpha val="4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90" name="m-d08_kpi_board-sp-4-3">
            <a:extLst>
              <a:ext uri="{FF2B5EF4-FFF2-40B4-BE49-F238E27FC236}">
                <a16:creationId xmlns:a16="http://schemas.microsoft.com/office/drawing/2014/main" id="{42CF7878-59AC-7641-B1BC-227B2475C579}"/>
              </a:ext>
            </a:extLst>
          </p:cNvPr>
          <p:cNvSpPr/>
          <p:nvPr/>
        </p:nvSpPr>
        <p:spPr>
          <a:xfrm>
            <a:off x="2520569" y="3841496"/>
            <a:ext cx="39052" cy="76517"/>
          </a:xfrm>
          <a:custGeom>
            <a:avLst/>
            <a:gdLst/>
            <a:ahLst/>
            <a:cxnLst/>
            <a:rect l="0" t="0" r="r" b="b"/>
            <a:pathLst>
              <a:path w="39052" h="76517">
                <a:moveTo>
                  <a:pt x="0" y="76517"/>
                </a:moveTo>
                <a:lnTo>
                  <a:pt x="0" y="7811"/>
                </a:lnTo>
                <a:cubicBezTo>
                  <a:pt x="0" y="3492"/>
                  <a:pt x="3493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492"/>
                  <a:pt x="39052" y="7811"/>
                </a:cubicBezTo>
                <a:lnTo>
                  <a:pt x="39052" y="76517"/>
                </a:lnTo>
                <a:close/>
              </a:path>
            </a:pathLst>
          </a:custGeom>
          <a:solidFill>
            <a:srgbClr val="2E77C2">
              <a:alpha val="5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91" name="m-d08_kpi_board-sp-4-4">
            <a:extLst>
              <a:ext uri="{FF2B5EF4-FFF2-40B4-BE49-F238E27FC236}">
                <a16:creationId xmlns:a16="http://schemas.microsoft.com/office/drawing/2014/main" id="{DA908AAF-CC03-A7F0-2C27-FD0E6FC46DF2}"/>
              </a:ext>
            </a:extLst>
          </p:cNvPr>
          <p:cNvSpPr/>
          <p:nvPr/>
        </p:nvSpPr>
        <p:spPr>
          <a:xfrm>
            <a:off x="2575242" y="3839845"/>
            <a:ext cx="39052" cy="78168"/>
          </a:xfrm>
          <a:custGeom>
            <a:avLst/>
            <a:gdLst/>
            <a:ahLst/>
            <a:cxnLst/>
            <a:rect l="0" t="0" r="r" b="b"/>
            <a:pathLst>
              <a:path w="39052" h="78168">
                <a:moveTo>
                  <a:pt x="0" y="78168"/>
                </a:moveTo>
                <a:lnTo>
                  <a:pt x="0" y="7810"/>
                </a:lnTo>
                <a:cubicBezTo>
                  <a:pt x="0" y="3492"/>
                  <a:pt x="3493" y="0"/>
                  <a:pt x="7810" y="0"/>
                </a:cubicBezTo>
                <a:lnTo>
                  <a:pt x="31242" y="0"/>
                </a:lnTo>
                <a:cubicBezTo>
                  <a:pt x="35560" y="0"/>
                  <a:pt x="39052" y="3492"/>
                  <a:pt x="39052" y="7810"/>
                </a:cubicBezTo>
                <a:lnTo>
                  <a:pt x="39052" y="78168"/>
                </a:lnTo>
                <a:close/>
              </a:path>
            </a:pathLst>
          </a:custGeom>
          <a:solidFill>
            <a:srgbClr val="2E77C2">
              <a:alpha val="6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92" name="m-d08_kpi_board-sp-4-5">
            <a:extLst>
              <a:ext uri="{FF2B5EF4-FFF2-40B4-BE49-F238E27FC236}">
                <a16:creationId xmlns:a16="http://schemas.microsoft.com/office/drawing/2014/main" id="{3FCC3003-9401-F7B3-7E89-E889112EFA83}"/>
              </a:ext>
            </a:extLst>
          </p:cNvPr>
          <p:cNvSpPr/>
          <p:nvPr/>
        </p:nvSpPr>
        <p:spPr>
          <a:xfrm>
            <a:off x="2629916" y="3838130"/>
            <a:ext cx="39052" cy="79883"/>
          </a:xfrm>
          <a:custGeom>
            <a:avLst/>
            <a:gdLst/>
            <a:ahLst/>
            <a:cxnLst/>
            <a:rect l="0" t="0" r="r" b="b"/>
            <a:pathLst>
              <a:path w="39052" h="79883">
                <a:moveTo>
                  <a:pt x="0" y="79883"/>
                </a:moveTo>
                <a:lnTo>
                  <a:pt x="0" y="7811"/>
                </a:lnTo>
                <a:cubicBezTo>
                  <a:pt x="0" y="3493"/>
                  <a:pt x="3492" y="0"/>
                  <a:pt x="7810" y="0"/>
                </a:cubicBezTo>
                <a:lnTo>
                  <a:pt x="31242" y="0"/>
                </a:lnTo>
                <a:cubicBezTo>
                  <a:pt x="35560" y="0"/>
                  <a:pt x="39052" y="3493"/>
                  <a:pt x="39052" y="7811"/>
                </a:cubicBezTo>
                <a:lnTo>
                  <a:pt x="39052" y="79883"/>
                </a:lnTo>
                <a:close/>
              </a:path>
            </a:pathLst>
          </a:custGeom>
          <a:solidFill>
            <a:srgbClr val="2E77C2">
              <a:alpha val="7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93" name="m-d08_kpi_board-sp-4-6">
            <a:extLst>
              <a:ext uri="{FF2B5EF4-FFF2-40B4-BE49-F238E27FC236}">
                <a16:creationId xmlns:a16="http://schemas.microsoft.com/office/drawing/2014/main" id="{00C396BA-FFDF-539E-37A2-AA08BB1A736E}"/>
              </a:ext>
            </a:extLst>
          </p:cNvPr>
          <p:cNvSpPr/>
          <p:nvPr/>
        </p:nvSpPr>
        <p:spPr>
          <a:xfrm>
            <a:off x="2684590" y="3837305"/>
            <a:ext cx="39053" cy="80709"/>
          </a:xfrm>
          <a:custGeom>
            <a:avLst/>
            <a:gdLst/>
            <a:ahLst/>
            <a:cxnLst/>
            <a:rect l="0" t="0" r="r" b="b"/>
            <a:pathLst>
              <a:path w="39053" h="80709">
                <a:moveTo>
                  <a:pt x="0" y="80709"/>
                </a:moveTo>
                <a:lnTo>
                  <a:pt x="0" y="7811"/>
                </a:lnTo>
                <a:cubicBezTo>
                  <a:pt x="0" y="3493"/>
                  <a:pt x="3493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3" y="3493"/>
                  <a:pt x="39053" y="7811"/>
                </a:cubicBezTo>
                <a:lnTo>
                  <a:pt x="39053" y="80709"/>
                </a:lnTo>
                <a:close/>
              </a:path>
            </a:pathLst>
          </a:custGeom>
          <a:solidFill>
            <a:srgbClr val="2E77C2">
              <a:alpha val="8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094" name="m-d08_kpi_board-spl-4">
            <a:extLst>
              <a:ext uri="{FF2B5EF4-FFF2-40B4-BE49-F238E27FC236}">
                <a16:creationId xmlns:a16="http://schemas.microsoft.com/office/drawing/2014/main" id="{15103E4B-2179-EDB6-9657-5EE1C3E51954}"/>
              </a:ext>
            </a:extLst>
          </p:cNvPr>
          <p:cNvCxnSpPr/>
          <p:nvPr/>
        </p:nvCxnSpPr>
        <p:spPr>
          <a:xfrm>
            <a:off x="2411222" y="3928428"/>
            <a:ext cx="609219" cy="0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95" name="m-d08_kpi_board-spt-4">
            <a:extLst>
              <a:ext uri="{FF2B5EF4-FFF2-40B4-BE49-F238E27FC236}">
                <a16:creationId xmlns:a16="http://schemas.microsoft.com/office/drawing/2014/main" id="{F7FC6B2A-A6AF-911D-5CBD-FAD1BCA8CA74}"/>
              </a:ext>
            </a:extLst>
          </p:cNvPr>
          <p:cNvSpPr txBox="1"/>
          <p:nvPr/>
        </p:nvSpPr>
        <p:spPr>
          <a:xfrm>
            <a:off x="2936556" y="3843436"/>
            <a:ext cx="8607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近 6 期</a:t>
            </a:r>
          </a:p>
        </p:txBody>
      </p:sp>
      <p:sp>
        <p:nvSpPr>
          <p:cNvPr id="1096" name="m-d08_kpi_board-spt2-4">
            <a:extLst>
              <a:ext uri="{FF2B5EF4-FFF2-40B4-BE49-F238E27FC236}">
                <a16:creationId xmlns:a16="http://schemas.microsoft.com/office/drawing/2014/main" id="{859889E1-4CFF-EE74-F8DF-2A90A35D7CA2}"/>
              </a:ext>
            </a:extLst>
          </p:cNvPr>
          <p:cNvSpPr txBox="1"/>
          <p:nvPr/>
        </p:nvSpPr>
        <p:spPr>
          <a:xfrm>
            <a:off x="2931245" y="3890299"/>
            <a:ext cx="9138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环比走势</a:t>
            </a:r>
          </a:p>
        </p:txBody>
      </p:sp>
      <p:sp>
        <p:nvSpPr>
          <p:cNvPr id="1097" name="m-d08_kpi_board-card-5">
            <a:extLst>
              <a:ext uri="{FF2B5EF4-FFF2-40B4-BE49-F238E27FC236}">
                <a16:creationId xmlns:a16="http://schemas.microsoft.com/office/drawing/2014/main" id="{908E6481-5C17-90F0-824E-6E12F93FC8C2}"/>
              </a:ext>
            </a:extLst>
          </p:cNvPr>
          <p:cNvSpPr/>
          <p:nvPr/>
        </p:nvSpPr>
        <p:spPr>
          <a:xfrm>
            <a:off x="3098546" y="3571748"/>
            <a:ext cx="697738" cy="390525"/>
          </a:xfrm>
          <a:custGeom>
            <a:avLst/>
            <a:gdLst/>
            <a:ahLst/>
            <a:cxnLst/>
            <a:rect l="0" t="0" r="r" b="b"/>
            <a:pathLst>
              <a:path w="697738" h="390525">
                <a:moveTo>
                  <a:pt x="26035" y="0"/>
                </a:moveTo>
                <a:lnTo>
                  <a:pt x="671703" y="0"/>
                </a:lnTo>
                <a:cubicBezTo>
                  <a:pt x="686118" y="0"/>
                  <a:pt x="697738" y="11620"/>
                  <a:pt x="697738" y="26035"/>
                </a:cubicBezTo>
                <a:lnTo>
                  <a:pt x="697738" y="364490"/>
                </a:lnTo>
                <a:cubicBezTo>
                  <a:pt x="697738" y="378904"/>
                  <a:pt x="686118" y="390525"/>
                  <a:pt x="671703" y="390525"/>
                </a:cubicBezTo>
                <a:lnTo>
                  <a:pt x="26035" y="390525"/>
                </a:lnTo>
                <a:cubicBezTo>
                  <a:pt x="11621" y="390525"/>
                  <a:pt x="0" y="378904"/>
                  <a:pt x="0" y="364490"/>
                </a:cubicBezTo>
                <a:lnTo>
                  <a:pt x="0" y="26035"/>
                </a:lnTo>
                <a:cubicBezTo>
                  <a:pt x="0" y="11620"/>
                  <a:pt x="11621" y="0"/>
                  <a:pt x="260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98" name="m-d08_kpi_board-cap-5">
            <a:extLst>
              <a:ext uri="{FF2B5EF4-FFF2-40B4-BE49-F238E27FC236}">
                <a16:creationId xmlns:a16="http://schemas.microsoft.com/office/drawing/2014/main" id="{326CEEE9-330A-6027-7E22-B23174ED931A}"/>
              </a:ext>
            </a:extLst>
          </p:cNvPr>
          <p:cNvSpPr/>
          <p:nvPr/>
        </p:nvSpPr>
        <p:spPr>
          <a:xfrm>
            <a:off x="3098546" y="3571748"/>
            <a:ext cx="9081" cy="390525"/>
          </a:xfrm>
          <a:custGeom>
            <a:avLst/>
            <a:gdLst/>
            <a:ahLst/>
            <a:cxnLst/>
            <a:rect l="0" t="0" r="r" b="b"/>
            <a:pathLst>
              <a:path w="9081" h="390525">
                <a:moveTo>
                  <a:pt x="4572" y="0"/>
                </a:moveTo>
                <a:lnTo>
                  <a:pt x="4572" y="0"/>
                </a:lnTo>
                <a:cubicBezTo>
                  <a:pt x="7049" y="0"/>
                  <a:pt x="9081" y="2032"/>
                  <a:pt x="9081" y="4572"/>
                </a:cubicBezTo>
                <a:lnTo>
                  <a:pt x="9081" y="385953"/>
                </a:lnTo>
                <a:cubicBezTo>
                  <a:pt x="9081" y="388493"/>
                  <a:pt x="7049" y="390525"/>
                  <a:pt x="4572" y="390525"/>
                </a:cubicBezTo>
                <a:lnTo>
                  <a:pt x="4572" y="390525"/>
                </a:lnTo>
                <a:cubicBezTo>
                  <a:pt x="2032" y="390525"/>
                  <a:pt x="0" y="388493"/>
                  <a:pt x="0" y="385953"/>
                </a:cubicBezTo>
                <a:lnTo>
                  <a:pt x="0" y="4572"/>
                </a:lnTo>
                <a:cubicBezTo>
                  <a:pt x="0" y="2032"/>
                  <a:pt x="2032" y="0"/>
                  <a:pt x="4572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99" name="m-d08_kpi_board-chip-5">
            <a:extLst>
              <a:ext uri="{FF2B5EF4-FFF2-40B4-BE49-F238E27FC236}">
                <a16:creationId xmlns:a16="http://schemas.microsoft.com/office/drawing/2014/main" id="{0D277733-8EDA-E8C0-76CE-0625F556D386}"/>
              </a:ext>
            </a:extLst>
          </p:cNvPr>
          <p:cNvSpPr/>
          <p:nvPr/>
        </p:nvSpPr>
        <p:spPr>
          <a:xfrm>
            <a:off x="3142806" y="3608197"/>
            <a:ext cx="67691" cy="67691"/>
          </a:xfrm>
          <a:prstGeom prst="ellipse">
            <a:avLst/>
          </a:prstGeom>
          <a:solidFill>
            <a:srgbClr val="4694D7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00" name="m-d08_kpi_board-icon-clock">
            <a:extLst>
              <a:ext uri="{FF2B5EF4-FFF2-40B4-BE49-F238E27FC236}">
                <a16:creationId xmlns:a16="http://schemas.microsoft.com/office/drawing/2014/main" id="{D816569E-77BE-B8D4-C0B9-2CE85E9D4380}"/>
              </a:ext>
            </a:extLst>
          </p:cNvPr>
          <p:cNvSpPr/>
          <p:nvPr/>
        </p:nvSpPr>
        <p:spPr>
          <a:xfrm>
            <a:off x="3176651" y="3634740"/>
            <a:ext cx="4826" cy="10224"/>
          </a:xfrm>
          <a:custGeom>
            <a:avLst/>
            <a:gdLst/>
            <a:ahLst/>
            <a:cxnLst/>
            <a:rect l="0" t="0" r="r" b="b"/>
            <a:pathLst>
              <a:path w="4826" h="10224">
                <a:moveTo>
                  <a:pt x="0" y="0"/>
                </a:moveTo>
                <a:lnTo>
                  <a:pt x="0" y="7302"/>
                </a:lnTo>
                <a:lnTo>
                  <a:pt x="4826" y="10224"/>
                </a:lnTo>
              </a:path>
            </a:pathLst>
          </a:custGeom>
          <a:noFill/>
          <a:ln w="2604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01" name="m-d08_kpi_board-icon-clock">
            <a:extLst>
              <a:ext uri="{FF2B5EF4-FFF2-40B4-BE49-F238E27FC236}">
                <a16:creationId xmlns:a16="http://schemas.microsoft.com/office/drawing/2014/main" id="{B622044E-B905-BF13-B60A-F54558E8B0CA}"/>
              </a:ext>
            </a:extLst>
          </p:cNvPr>
          <p:cNvSpPr/>
          <p:nvPr/>
        </p:nvSpPr>
        <p:spPr>
          <a:xfrm>
            <a:off x="3163590" y="3628982"/>
            <a:ext cx="26122" cy="26122"/>
          </a:xfrm>
          <a:prstGeom prst="ellipse">
            <a:avLst/>
          </a:prstGeom>
          <a:noFill/>
          <a:ln w="2604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02" name="m-d08_kpi_board-nm-5">
            <a:extLst>
              <a:ext uri="{FF2B5EF4-FFF2-40B4-BE49-F238E27FC236}">
                <a16:creationId xmlns:a16="http://schemas.microsoft.com/office/drawing/2014/main" id="{3F421723-0731-A17F-3033-AA0CAB82A0F2}"/>
              </a:ext>
            </a:extLst>
          </p:cNvPr>
          <p:cNvSpPr txBox="1"/>
          <p:nvPr/>
        </p:nvSpPr>
        <p:spPr>
          <a:xfrm>
            <a:off x="3224816" y="3612265"/>
            <a:ext cx="205026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交付准时率</a:t>
            </a:r>
          </a:p>
        </p:txBody>
      </p:sp>
      <p:sp>
        <p:nvSpPr>
          <p:cNvPr id="1103" name="m-d08_kpi_board-dlt-5">
            <a:extLst>
              <a:ext uri="{FF2B5EF4-FFF2-40B4-BE49-F238E27FC236}">
                <a16:creationId xmlns:a16="http://schemas.microsoft.com/office/drawing/2014/main" id="{4B24C782-A52E-5B54-4612-09C9EA02D378}"/>
              </a:ext>
            </a:extLst>
          </p:cNvPr>
          <p:cNvSpPr/>
          <p:nvPr/>
        </p:nvSpPr>
        <p:spPr>
          <a:xfrm>
            <a:off x="3616642" y="3616008"/>
            <a:ext cx="145796" cy="52070"/>
          </a:xfrm>
          <a:custGeom>
            <a:avLst/>
            <a:gdLst/>
            <a:ahLst/>
            <a:cxnLst/>
            <a:rect l="0" t="0" r="r" b="b"/>
            <a:pathLst>
              <a:path w="145796" h="52070">
                <a:moveTo>
                  <a:pt x="26035" y="0"/>
                </a:moveTo>
                <a:lnTo>
                  <a:pt x="119761" y="0"/>
                </a:lnTo>
                <a:cubicBezTo>
                  <a:pt x="134175" y="0"/>
                  <a:pt x="145796" y="11620"/>
                  <a:pt x="145796" y="26035"/>
                </a:cubicBezTo>
                <a:lnTo>
                  <a:pt x="145796" y="26035"/>
                </a:lnTo>
                <a:cubicBezTo>
                  <a:pt x="145796" y="40450"/>
                  <a:pt x="134175" y="52070"/>
                  <a:pt x="119761" y="52070"/>
                </a:cubicBezTo>
                <a:lnTo>
                  <a:pt x="26035" y="52070"/>
                </a:lnTo>
                <a:cubicBezTo>
                  <a:pt x="11621" y="52070"/>
                  <a:pt x="0" y="40450"/>
                  <a:pt x="0" y="26035"/>
                </a:cubicBezTo>
                <a:lnTo>
                  <a:pt x="0" y="26035"/>
                </a:lnTo>
                <a:cubicBezTo>
                  <a:pt x="0" y="11620"/>
                  <a:pt x="11621" y="0"/>
                  <a:pt x="26035" y="0"/>
                </a:cubicBezTo>
                <a:close/>
              </a:path>
            </a:pathLst>
          </a:custGeom>
          <a:solidFill>
            <a:srgbClr val="B06A46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04" name="m-d08_kpi_board-icon-chart">
            <a:extLst>
              <a:ext uri="{FF2B5EF4-FFF2-40B4-BE49-F238E27FC236}">
                <a16:creationId xmlns:a16="http://schemas.microsoft.com/office/drawing/2014/main" id="{9862D4B7-3BC7-B97F-D4F9-6B211BD9950F}"/>
              </a:ext>
            </a:extLst>
          </p:cNvPr>
          <p:cNvSpPr/>
          <p:nvPr/>
        </p:nvSpPr>
        <p:spPr>
          <a:xfrm>
            <a:off x="3638740" y="3638804"/>
            <a:ext cx="18225" cy="11938"/>
          </a:xfrm>
          <a:custGeom>
            <a:avLst/>
            <a:gdLst/>
            <a:ahLst/>
            <a:cxnLst/>
            <a:rect l="0" t="0" r="r" b="b"/>
            <a:pathLst>
              <a:path w="18225" h="11938">
                <a:moveTo>
                  <a:pt x="0" y="11938"/>
                </a:moveTo>
                <a:lnTo>
                  <a:pt x="18225" y="11938"/>
                </a:lnTo>
                <a:moveTo>
                  <a:pt x="4127" y="11938"/>
                </a:moveTo>
                <a:lnTo>
                  <a:pt x="4127" y="4953"/>
                </a:lnTo>
                <a:moveTo>
                  <a:pt x="9144" y="11938"/>
                </a:moveTo>
                <a:lnTo>
                  <a:pt x="9144" y="0"/>
                </a:lnTo>
                <a:moveTo>
                  <a:pt x="14161" y="11938"/>
                </a:moveTo>
                <a:lnTo>
                  <a:pt x="14161" y="7366"/>
                </a:lnTo>
              </a:path>
            </a:pathLst>
          </a:custGeom>
          <a:noFill/>
          <a:ln w="2604" cap="rnd">
            <a:solidFill>
              <a:srgbClr val="B06A4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05" name="m-d08_kpi_board-dltt-5">
            <a:extLst>
              <a:ext uri="{FF2B5EF4-FFF2-40B4-BE49-F238E27FC236}">
                <a16:creationId xmlns:a16="http://schemas.microsoft.com/office/drawing/2014/main" id="{4539EF16-A458-1545-A515-A9BEF12F2AF4}"/>
              </a:ext>
            </a:extLst>
          </p:cNvPr>
          <p:cNvSpPr txBox="1"/>
          <p:nvPr/>
        </p:nvSpPr>
        <p:spPr>
          <a:xfrm>
            <a:off x="3650436" y="3625432"/>
            <a:ext cx="9107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3" normalizeH="0" baseline="0" noProof="0">
                <a:ln>
                  <a:noFill/>
                </a:ln>
                <a:solidFill>
                  <a:srgbClr val="B06A46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-1.4pt</a:t>
            </a:r>
          </a:p>
        </p:txBody>
      </p:sp>
      <p:sp>
        <p:nvSpPr>
          <p:cNvPr id="1106" name="m-d08_kpi_board-v-5">
            <a:extLst>
              <a:ext uri="{FF2B5EF4-FFF2-40B4-BE49-F238E27FC236}">
                <a16:creationId xmlns:a16="http://schemas.microsoft.com/office/drawing/2014/main" id="{6CD228DD-5E69-CB03-D6CF-4C929090036E}"/>
              </a:ext>
            </a:extLst>
          </p:cNvPr>
          <p:cNvSpPr txBox="1"/>
          <p:nvPr/>
        </p:nvSpPr>
        <p:spPr>
          <a:xfrm>
            <a:off x="3134370" y="3690611"/>
            <a:ext cx="225932" cy="12301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5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92.1</a:t>
            </a:r>
          </a:p>
        </p:txBody>
      </p:sp>
      <p:sp>
        <p:nvSpPr>
          <p:cNvPr id="1107" name="m-d08_kpi_board-u-5">
            <a:extLst>
              <a:ext uri="{FF2B5EF4-FFF2-40B4-BE49-F238E27FC236}">
                <a16:creationId xmlns:a16="http://schemas.microsoft.com/office/drawing/2014/main" id="{462DA1A5-EDB4-B47E-D0AF-77401B6B1248}"/>
              </a:ext>
            </a:extLst>
          </p:cNvPr>
          <p:cNvSpPr txBox="1"/>
          <p:nvPr/>
        </p:nvSpPr>
        <p:spPr>
          <a:xfrm>
            <a:off x="3318698" y="3748487"/>
            <a:ext cx="3421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%</a:t>
            </a:r>
          </a:p>
        </p:txBody>
      </p:sp>
      <p:sp>
        <p:nvSpPr>
          <p:cNvPr id="1108" name="m-d08_kpi_board-sp-5-1">
            <a:extLst>
              <a:ext uri="{FF2B5EF4-FFF2-40B4-BE49-F238E27FC236}">
                <a16:creationId xmlns:a16="http://schemas.microsoft.com/office/drawing/2014/main" id="{38017FEB-C3C5-71F5-22AF-89D38A0373B9}"/>
              </a:ext>
            </a:extLst>
          </p:cNvPr>
          <p:cNvSpPr/>
          <p:nvPr/>
        </p:nvSpPr>
        <p:spPr>
          <a:xfrm>
            <a:off x="3142806" y="3837305"/>
            <a:ext cx="39052" cy="80709"/>
          </a:xfrm>
          <a:custGeom>
            <a:avLst/>
            <a:gdLst/>
            <a:ahLst/>
            <a:cxnLst/>
            <a:rect l="0" t="0" r="r" b="b"/>
            <a:pathLst>
              <a:path w="39052" h="80709">
                <a:moveTo>
                  <a:pt x="0" y="80709"/>
                </a:moveTo>
                <a:lnTo>
                  <a:pt x="0" y="7811"/>
                </a:lnTo>
                <a:cubicBezTo>
                  <a:pt x="0" y="3493"/>
                  <a:pt x="3493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493"/>
                  <a:pt x="39052" y="7811"/>
                </a:cubicBezTo>
                <a:lnTo>
                  <a:pt x="39052" y="80709"/>
                </a:lnTo>
                <a:close/>
              </a:path>
            </a:pathLst>
          </a:custGeom>
          <a:solidFill>
            <a:srgbClr val="4694D7">
              <a:alpha val="2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09" name="m-d08_kpi_board-sp-5-2">
            <a:extLst>
              <a:ext uri="{FF2B5EF4-FFF2-40B4-BE49-F238E27FC236}">
                <a16:creationId xmlns:a16="http://schemas.microsoft.com/office/drawing/2014/main" id="{A018DDDA-6E69-7651-A7B8-50E6F56402C5}"/>
              </a:ext>
            </a:extLst>
          </p:cNvPr>
          <p:cNvSpPr/>
          <p:nvPr/>
        </p:nvSpPr>
        <p:spPr>
          <a:xfrm>
            <a:off x="3197479" y="3838130"/>
            <a:ext cx="39052" cy="79883"/>
          </a:xfrm>
          <a:custGeom>
            <a:avLst/>
            <a:gdLst/>
            <a:ahLst/>
            <a:cxnLst/>
            <a:rect l="0" t="0" r="r" b="b"/>
            <a:pathLst>
              <a:path w="39052" h="79883">
                <a:moveTo>
                  <a:pt x="0" y="79883"/>
                </a:moveTo>
                <a:lnTo>
                  <a:pt x="0" y="7811"/>
                </a:lnTo>
                <a:cubicBezTo>
                  <a:pt x="0" y="3493"/>
                  <a:pt x="3492" y="0"/>
                  <a:pt x="7810" y="0"/>
                </a:cubicBezTo>
                <a:lnTo>
                  <a:pt x="31242" y="0"/>
                </a:lnTo>
                <a:cubicBezTo>
                  <a:pt x="35560" y="0"/>
                  <a:pt x="39052" y="3493"/>
                  <a:pt x="39052" y="7811"/>
                </a:cubicBezTo>
                <a:lnTo>
                  <a:pt x="39052" y="79883"/>
                </a:lnTo>
                <a:close/>
              </a:path>
            </a:pathLst>
          </a:custGeom>
          <a:solidFill>
            <a:srgbClr val="4694D7">
              <a:alpha val="4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10" name="m-d08_kpi_board-sp-5-3">
            <a:extLst>
              <a:ext uri="{FF2B5EF4-FFF2-40B4-BE49-F238E27FC236}">
                <a16:creationId xmlns:a16="http://schemas.microsoft.com/office/drawing/2014/main" id="{EFDA7F7D-6E7E-22C7-6FFB-0465869471AE}"/>
              </a:ext>
            </a:extLst>
          </p:cNvPr>
          <p:cNvSpPr/>
          <p:nvPr/>
        </p:nvSpPr>
        <p:spPr>
          <a:xfrm>
            <a:off x="3252152" y="3838130"/>
            <a:ext cx="39052" cy="79883"/>
          </a:xfrm>
          <a:custGeom>
            <a:avLst/>
            <a:gdLst/>
            <a:ahLst/>
            <a:cxnLst/>
            <a:rect l="0" t="0" r="r" b="b"/>
            <a:pathLst>
              <a:path w="39052" h="79883">
                <a:moveTo>
                  <a:pt x="0" y="79883"/>
                </a:moveTo>
                <a:lnTo>
                  <a:pt x="0" y="7811"/>
                </a:lnTo>
                <a:cubicBezTo>
                  <a:pt x="0" y="3493"/>
                  <a:pt x="3493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493"/>
                  <a:pt x="39052" y="7811"/>
                </a:cubicBezTo>
                <a:lnTo>
                  <a:pt x="39052" y="79883"/>
                </a:lnTo>
                <a:close/>
              </a:path>
            </a:pathLst>
          </a:custGeom>
          <a:solidFill>
            <a:srgbClr val="4694D7">
              <a:alpha val="5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11" name="m-d08_kpi_board-sp-5-4">
            <a:extLst>
              <a:ext uri="{FF2B5EF4-FFF2-40B4-BE49-F238E27FC236}">
                <a16:creationId xmlns:a16="http://schemas.microsoft.com/office/drawing/2014/main" id="{AC8B3238-EFE9-5886-1B6E-51DC740A569D}"/>
              </a:ext>
            </a:extLst>
          </p:cNvPr>
          <p:cNvSpPr/>
          <p:nvPr/>
        </p:nvSpPr>
        <p:spPr>
          <a:xfrm>
            <a:off x="3306826" y="3838956"/>
            <a:ext cx="39052" cy="79058"/>
          </a:xfrm>
          <a:custGeom>
            <a:avLst/>
            <a:gdLst/>
            <a:ahLst/>
            <a:cxnLst/>
            <a:rect l="0" t="0" r="r" b="b"/>
            <a:pathLst>
              <a:path w="39052" h="79058">
                <a:moveTo>
                  <a:pt x="0" y="79058"/>
                </a:moveTo>
                <a:lnTo>
                  <a:pt x="0" y="7811"/>
                </a:lnTo>
                <a:cubicBezTo>
                  <a:pt x="0" y="3556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556"/>
                  <a:pt x="39052" y="7811"/>
                </a:cubicBezTo>
                <a:lnTo>
                  <a:pt x="39052" y="79058"/>
                </a:lnTo>
                <a:close/>
              </a:path>
            </a:pathLst>
          </a:custGeom>
          <a:solidFill>
            <a:srgbClr val="4694D7">
              <a:alpha val="6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12" name="m-d08_kpi_board-sp-5-5">
            <a:extLst>
              <a:ext uri="{FF2B5EF4-FFF2-40B4-BE49-F238E27FC236}">
                <a16:creationId xmlns:a16="http://schemas.microsoft.com/office/drawing/2014/main" id="{4881188E-F7A4-4A87-50DF-0A87CD495E6B}"/>
              </a:ext>
            </a:extLst>
          </p:cNvPr>
          <p:cNvSpPr/>
          <p:nvPr/>
        </p:nvSpPr>
        <p:spPr>
          <a:xfrm>
            <a:off x="3361500" y="3839845"/>
            <a:ext cx="39052" cy="78168"/>
          </a:xfrm>
          <a:custGeom>
            <a:avLst/>
            <a:gdLst/>
            <a:ahLst/>
            <a:cxnLst/>
            <a:rect l="0" t="0" r="r" b="b"/>
            <a:pathLst>
              <a:path w="39052" h="78168">
                <a:moveTo>
                  <a:pt x="0" y="78168"/>
                </a:moveTo>
                <a:lnTo>
                  <a:pt x="0" y="7810"/>
                </a:lnTo>
                <a:cubicBezTo>
                  <a:pt x="0" y="3492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492"/>
                  <a:pt x="39052" y="7810"/>
                </a:cubicBezTo>
                <a:lnTo>
                  <a:pt x="39052" y="78168"/>
                </a:lnTo>
                <a:close/>
              </a:path>
            </a:pathLst>
          </a:custGeom>
          <a:solidFill>
            <a:srgbClr val="4694D7">
              <a:alpha val="7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13" name="m-d08_kpi_board-sp-5-6">
            <a:extLst>
              <a:ext uri="{FF2B5EF4-FFF2-40B4-BE49-F238E27FC236}">
                <a16:creationId xmlns:a16="http://schemas.microsoft.com/office/drawing/2014/main" id="{C4B254C0-5C09-42FC-8E17-E60702FCB582}"/>
              </a:ext>
            </a:extLst>
          </p:cNvPr>
          <p:cNvSpPr/>
          <p:nvPr/>
        </p:nvSpPr>
        <p:spPr>
          <a:xfrm>
            <a:off x="3416173" y="3840671"/>
            <a:ext cx="39052" cy="77343"/>
          </a:xfrm>
          <a:custGeom>
            <a:avLst/>
            <a:gdLst/>
            <a:ahLst/>
            <a:cxnLst/>
            <a:rect l="0" t="0" r="r" b="b"/>
            <a:pathLst>
              <a:path w="39052" h="77343">
                <a:moveTo>
                  <a:pt x="0" y="77343"/>
                </a:moveTo>
                <a:lnTo>
                  <a:pt x="0" y="7810"/>
                </a:lnTo>
                <a:cubicBezTo>
                  <a:pt x="0" y="3492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492"/>
                  <a:pt x="39052" y="7810"/>
                </a:cubicBezTo>
                <a:lnTo>
                  <a:pt x="39052" y="77343"/>
                </a:lnTo>
                <a:close/>
              </a:path>
            </a:pathLst>
          </a:custGeom>
          <a:solidFill>
            <a:srgbClr val="4694D7">
              <a:alpha val="8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114" name="m-d08_kpi_board-spl-5">
            <a:extLst>
              <a:ext uri="{FF2B5EF4-FFF2-40B4-BE49-F238E27FC236}">
                <a16:creationId xmlns:a16="http://schemas.microsoft.com/office/drawing/2014/main" id="{551163B4-7D28-2930-93A2-E26BF5D9065A}"/>
              </a:ext>
            </a:extLst>
          </p:cNvPr>
          <p:cNvCxnSpPr/>
          <p:nvPr/>
        </p:nvCxnSpPr>
        <p:spPr>
          <a:xfrm>
            <a:off x="3142805" y="3928428"/>
            <a:ext cx="609219" cy="0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15" name="m-d08_kpi_board-spt-5">
            <a:extLst>
              <a:ext uri="{FF2B5EF4-FFF2-40B4-BE49-F238E27FC236}">
                <a16:creationId xmlns:a16="http://schemas.microsoft.com/office/drawing/2014/main" id="{D3B6B388-2053-7C9D-9303-B6D17BFCE596}"/>
              </a:ext>
            </a:extLst>
          </p:cNvPr>
          <p:cNvSpPr txBox="1"/>
          <p:nvPr/>
        </p:nvSpPr>
        <p:spPr>
          <a:xfrm>
            <a:off x="3668140" y="3843436"/>
            <a:ext cx="8607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近 6 期</a:t>
            </a:r>
          </a:p>
        </p:txBody>
      </p:sp>
      <p:sp>
        <p:nvSpPr>
          <p:cNvPr id="1116" name="m-d08_kpi_board-spt2-5">
            <a:extLst>
              <a:ext uri="{FF2B5EF4-FFF2-40B4-BE49-F238E27FC236}">
                <a16:creationId xmlns:a16="http://schemas.microsoft.com/office/drawing/2014/main" id="{2FDDA610-C5CB-53E9-146C-F00FE306098D}"/>
              </a:ext>
            </a:extLst>
          </p:cNvPr>
          <p:cNvSpPr txBox="1"/>
          <p:nvPr/>
        </p:nvSpPr>
        <p:spPr>
          <a:xfrm>
            <a:off x="3662829" y="3890299"/>
            <a:ext cx="9138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环比走势</a:t>
            </a:r>
          </a:p>
        </p:txBody>
      </p:sp>
      <p:sp>
        <p:nvSpPr>
          <p:cNvPr id="1117" name="m-d08_kpi_board-card-6">
            <a:extLst>
              <a:ext uri="{FF2B5EF4-FFF2-40B4-BE49-F238E27FC236}">
                <a16:creationId xmlns:a16="http://schemas.microsoft.com/office/drawing/2014/main" id="{A128ED1C-B51A-C110-F703-C6C9DA4B7313}"/>
              </a:ext>
            </a:extLst>
          </p:cNvPr>
          <p:cNvSpPr/>
          <p:nvPr/>
        </p:nvSpPr>
        <p:spPr>
          <a:xfrm>
            <a:off x="3830129" y="3571748"/>
            <a:ext cx="697738" cy="390525"/>
          </a:xfrm>
          <a:custGeom>
            <a:avLst/>
            <a:gdLst/>
            <a:ahLst/>
            <a:cxnLst/>
            <a:rect l="0" t="0" r="r" b="b"/>
            <a:pathLst>
              <a:path w="697738" h="390525">
                <a:moveTo>
                  <a:pt x="26035" y="0"/>
                </a:moveTo>
                <a:lnTo>
                  <a:pt x="671703" y="0"/>
                </a:lnTo>
                <a:cubicBezTo>
                  <a:pt x="686118" y="0"/>
                  <a:pt x="697738" y="11620"/>
                  <a:pt x="697738" y="26035"/>
                </a:cubicBezTo>
                <a:lnTo>
                  <a:pt x="697738" y="364490"/>
                </a:lnTo>
                <a:cubicBezTo>
                  <a:pt x="697738" y="378904"/>
                  <a:pt x="686118" y="390525"/>
                  <a:pt x="671703" y="390525"/>
                </a:cubicBezTo>
                <a:lnTo>
                  <a:pt x="26035" y="390525"/>
                </a:lnTo>
                <a:cubicBezTo>
                  <a:pt x="11621" y="390525"/>
                  <a:pt x="0" y="378904"/>
                  <a:pt x="0" y="364490"/>
                </a:cubicBezTo>
                <a:lnTo>
                  <a:pt x="0" y="26035"/>
                </a:lnTo>
                <a:cubicBezTo>
                  <a:pt x="0" y="11620"/>
                  <a:pt x="11621" y="0"/>
                  <a:pt x="260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18" name="m-d08_kpi_board-cap-6">
            <a:extLst>
              <a:ext uri="{FF2B5EF4-FFF2-40B4-BE49-F238E27FC236}">
                <a16:creationId xmlns:a16="http://schemas.microsoft.com/office/drawing/2014/main" id="{219D0134-3658-1AA8-E5C6-4C92FCBCE080}"/>
              </a:ext>
            </a:extLst>
          </p:cNvPr>
          <p:cNvSpPr/>
          <p:nvPr/>
        </p:nvSpPr>
        <p:spPr>
          <a:xfrm>
            <a:off x="3830129" y="3571748"/>
            <a:ext cx="9144" cy="390525"/>
          </a:xfrm>
          <a:custGeom>
            <a:avLst/>
            <a:gdLst/>
            <a:ahLst/>
            <a:cxnLst/>
            <a:rect l="0" t="0" r="r" b="b"/>
            <a:pathLst>
              <a:path w="9144" h="390525">
                <a:moveTo>
                  <a:pt x="4572" y="0"/>
                </a:moveTo>
                <a:lnTo>
                  <a:pt x="4572" y="0"/>
                </a:lnTo>
                <a:cubicBezTo>
                  <a:pt x="7049" y="0"/>
                  <a:pt x="9144" y="2032"/>
                  <a:pt x="9144" y="4572"/>
                </a:cubicBezTo>
                <a:lnTo>
                  <a:pt x="9144" y="385953"/>
                </a:lnTo>
                <a:cubicBezTo>
                  <a:pt x="9144" y="388493"/>
                  <a:pt x="7049" y="390525"/>
                  <a:pt x="4572" y="390525"/>
                </a:cubicBezTo>
                <a:lnTo>
                  <a:pt x="4572" y="390525"/>
                </a:lnTo>
                <a:cubicBezTo>
                  <a:pt x="2032" y="390525"/>
                  <a:pt x="0" y="388493"/>
                  <a:pt x="0" y="385953"/>
                </a:cubicBezTo>
                <a:lnTo>
                  <a:pt x="0" y="4572"/>
                </a:lnTo>
                <a:cubicBezTo>
                  <a:pt x="0" y="2032"/>
                  <a:pt x="2032" y="0"/>
                  <a:pt x="4572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19" name="m-d08_kpi_board-chip-6">
            <a:extLst>
              <a:ext uri="{FF2B5EF4-FFF2-40B4-BE49-F238E27FC236}">
                <a16:creationId xmlns:a16="http://schemas.microsoft.com/office/drawing/2014/main" id="{01360266-C9FA-3CE0-1EA1-218B905B34E7}"/>
              </a:ext>
            </a:extLst>
          </p:cNvPr>
          <p:cNvSpPr/>
          <p:nvPr/>
        </p:nvSpPr>
        <p:spPr>
          <a:xfrm>
            <a:off x="3874389" y="3608197"/>
            <a:ext cx="67691" cy="67691"/>
          </a:xfrm>
          <a:prstGeom prst="ellipse">
            <a:avLst/>
          </a:prstGeom>
          <a:solidFill>
            <a:srgbClr val="54A2D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20" name="m-d08_kpi_board-icon-grow">
            <a:extLst>
              <a:ext uri="{FF2B5EF4-FFF2-40B4-BE49-F238E27FC236}">
                <a16:creationId xmlns:a16="http://schemas.microsoft.com/office/drawing/2014/main" id="{E4329844-DA23-9F7E-3E62-1D3C3D054737}"/>
              </a:ext>
            </a:extLst>
          </p:cNvPr>
          <p:cNvSpPr/>
          <p:nvPr/>
        </p:nvSpPr>
        <p:spPr>
          <a:xfrm>
            <a:off x="3895471" y="3636264"/>
            <a:ext cx="22796" cy="14288"/>
          </a:xfrm>
          <a:custGeom>
            <a:avLst/>
            <a:gdLst/>
            <a:ahLst/>
            <a:cxnLst/>
            <a:rect l="0" t="0" r="r" b="b"/>
            <a:pathLst>
              <a:path w="22796" h="14288">
                <a:moveTo>
                  <a:pt x="0" y="14288"/>
                </a:moveTo>
                <a:lnTo>
                  <a:pt x="7620" y="6096"/>
                </a:lnTo>
                <a:lnTo>
                  <a:pt x="13081" y="10604"/>
                </a:lnTo>
                <a:lnTo>
                  <a:pt x="22162" y="0"/>
                </a:lnTo>
                <a:moveTo>
                  <a:pt x="18542" y="0"/>
                </a:moveTo>
                <a:lnTo>
                  <a:pt x="22796" y="0"/>
                </a:lnTo>
                <a:lnTo>
                  <a:pt x="22796" y="4254"/>
                </a:lnTo>
              </a:path>
            </a:pathLst>
          </a:custGeom>
          <a:noFill/>
          <a:ln w="2604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21" name="m-d08_kpi_board-nm-6">
            <a:extLst>
              <a:ext uri="{FF2B5EF4-FFF2-40B4-BE49-F238E27FC236}">
                <a16:creationId xmlns:a16="http://schemas.microsoft.com/office/drawing/2014/main" id="{791FEE0A-0008-19C2-4FE6-BAF60036A88E}"/>
              </a:ext>
            </a:extLst>
          </p:cNvPr>
          <p:cNvSpPr txBox="1"/>
          <p:nvPr/>
        </p:nvSpPr>
        <p:spPr>
          <a:xfrm>
            <a:off x="3956399" y="3612265"/>
            <a:ext cx="169878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人均产值</a:t>
            </a:r>
          </a:p>
        </p:txBody>
      </p:sp>
      <p:sp>
        <p:nvSpPr>
          <p:cNvPr id="1122" name="m-d08_kpi_board-dlt-6">
            <a:extLst>
              <a:ext uri="{FF2B5EF4-FFF2-40B4-BE49-F238E27FC236}">
                <a16:creationId xmlns:a16="http://schemas.microsoft.com/office/drawing/2014/main" id="{A9068146-DF0C-D65B-FFC0-2B5C508AF976}"/>
              </a:ext>
            </a:extLst>
          </p:cNvPr>
          <p:cNvSpPr/>
          <p:nvPr/>
        </p:nvSpPr>
        <p:spPr>
          <a:xfrm>
            <a:off x="4348226" y="3616008"/>
            <a:ext cx="145796" cy="52070"/>
          </a:xfrm>
          <a:custGeom>
            <a:avLst/>
            <a:gdLst/>
            <a:ahLst/>
            <a:cxnLst/>
            <a:rect l="0" t="0" r="r" b="b"/>
            <a:pathLst>
              <a:path w="145796" h="52070">
                <a:moveTo>
                  <a:pt x="26035" y="0"/>
                </a:moveTo>
                <a:lnTo>
                  <a:pt x="119761" y="0"/>
                </a:lnTo>
                <a:cubicBezTo>
                  <a:pt x="134175" y="0"/>
                  <a:pt x="145796" y="11620"/>
                  <a:pt x="145796" y="26035"/>
                </a:cubicBezTo>
                <a:lnTo>
                  <a:pt x="145796" y="26035"/>
                </a:lnTo>
                <a:cubicBezTo>
                  <a:pt x="145796" y="40450"/>
                  <a:pt x="134175" y="52070"/>
                  <a:pt x="119761" y="52070"/>
                </a:cubicBezTo>
                <a:lnTo>
                  <a:pt x="26035" y="52070"/>
                </a:lnTo>
                <a:cubicBezTo>
                  <a:pt x="11621" y="52070"/>
                  <a:pt x="0" y="40450"/>
                  <a:pt x="0" y="26035"/>
                </a:cubicBezTo>
                <a:lnTo>
                  <a:pt x="0" y="26035"/>
                </a:lnTo>
                <a:cubicBezTo>
                  <a:pt x="0" y="11620"/>
                  <a:pt x="11621" y="0"/>
                  <a:pt x="26035" y="0"/>
                </a:cubicBezTo>
                <a:close/>
              </a:path>
            </a:pathLst>
          </a:cu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23" name="m-d08_kpi_board-icon-grow">
            <a:extLst>
              <a:ext uri="{FF2B5EF4-FFF2-40B4-BE49-F238E27FC236}">
                <a16:creationId xmlns:a16="http://schemas.microsoft.com/office/drawing/2014/main" id="{FB4305ED-BD21-5FEA-AFD1-C5E309553882}"/>
              </a:ext>
            </a:extLst>
          </p:cNvPr>
          <p:cNvSpPr/>
          <p:nvPr/>
        </p:nvSpPr>
        <p:spPr>
          <a:xfrm>
            <a:off x="4370388" y="3637915"/>
            <a:ext cx="16256" cy="10224"/>
          </a:xfrm>
          <a:custGeom>
            <a:avLst/>
            <a:gdLst/>
            <a:ahLst/>
            <a:cxnLst/>
            <a:rect l="0" t="0" r="r" b="b"/>
            <a:pathLst>
              <a:path w="16256" h="10224">
                <a:moveTo>
                  <a:pt x="0" y="10224"/>
                </a:moveTo>
                <a:lnTo>
                  <a:pt x="5398" y="4318"/>
                </a:lnTo>
                <a:lnTo>
                  <a:pt x="9271" y="7620"/>
                </a:lnTo>
                <a:lnTo>
                  <a:pt x="15812" y="0"/>
                </a:lnTo>
                <a:moveTo>
                  <a:pt x="13208" y="0"/>
                </a:moveTo>
                <a:lnTo>
                  <a:pt x="16256" y="0"/>
                </a:lnTo>
                <a:lnTo>
                  <a:pt x="16256" y="3048"/>
                </a:lnTo>
              </a:path>
            </a:pathLst>
          </a:custGeom>
          <a:noFill/>
          <a:ln w="260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24" name="m-d08_kpi_board-dltt-6">
            <a:extLst>
              <a:ext uri="{FF2B5EF4-FFF2-40B4-BE49-F238E27FC236}">
                <a16:creationId xmlns:a16="http://schemas.microsoft.com/office/drawing/2014/main" id="{8FBC692D-A30A-880E-E842-D1479A697F82}"/>
              </a:ext>
            </a:extLst>
          </p:cNvPr>
          <p:cNvSpPr txBox="1"/>
          <p:nvPr/>
        </p:nvSpPr>
        <p:spPr>
          <a:xfrm>
            <a:off x="4394074" y="3625432"/>
            <a:ext cx="7901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3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+9.8%</a:t>
            </a:r>
          </a:p>
        </p:txBody>
      </p:sp>
      <p:sp>
        <p:nvSpPr>
          <p:cNvPr id="1125" name="m-d08_kpi_board-v-6">
            <a:extLst>
              <a:ext uri="{FF2B5EF4-FFF2-40B4-BE49-F238E27FC236}">
                <a16:creationId xmlns:a16="http://schemas.microsoft.com/office/drawing/2014/main" id="{7D6E5DBE-69F2-BE14-0CAF-E883B9894C6B}"/>
              </a:ext>
            </a:extLst>
          </p:cNvPr>
          <p:cNvSpPr txBox="1"/>
          <p:nvPr/>
        </p:nvSpPr>
        <p:spPr>
          <a:xfrm>
            <a:off x="3865954" y="3690611"/>
            <a:ext cx="225932" cy="12301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5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86.5</a:t>
            </a:r>
          </a:p>
        </p:txBody>
      </p:sp>
      <p:sp>
        <p:nvSpPr>
          <p:cNvPr id="1126" name="m-d08_kpi_board-u-6">
            <a:extLst>
              <a:ext uri="{FF2B5EF4-FFF2-40B4-BE49-F238E27FC236}">
                <a16:creationId xmlns:a16="http://schemas.microsoft.com/office/drawing/2014/main" id="{109DD74D-BF8C-4ED0-D80A-1C96B2C0D751}"/>
              </a:ext>
            </a:extLst>
          </p:cNvPr>
          <p:cNvSpPr txBox="1"/>
          <p:nvPr/>
        </p:nvSpPr>
        <p:spPr>
          <a:xfrm>
            <a:off x="4050281" y="3748487"/>
            <a:ext cx="6795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万元</a:t>
            </a:r>
          </a:p>
        </p:txBody>
      </p:sp>
      <p:sp>
        <p:nvSpPr>
          <p:cNvPr id="1127" name="m-d08_kpi_board-sp-6-1">
            <a:extLst>
              <a:ext uri="{FF2B5EF4-FFF2-40B4-BE49-F238E27FC236}">
                <a16:creationId xmlns:a16="http://schemas.microsoft.com/office/drawing/2014/main" id="{EE422872-10FD-5246-44B8-4EFDF944884C}"/>
              </a:ext>
            </a:extLst>
          </p:cNvPr>
          <p:cNvSpPr/>
          <p:nvPr/>
        </p:nvSpPr>
        <p:spPr>
          <a:xfrm>
            <a:off x="3874389" y="3857942"/>
            <a:ext cx="39052" cy="60071"/>
          </a:xfrm>
          <a:custGeom>
            <a:avLst/>
            <a:gdLst/>
            <a:ahLst/>
            <a:cxnLst/>
            <a:rect l="0" t="0" r="r" b="b"/>
            <a:pathLst>
              <a:path w="39052" h="60071">
                <a:moveTo>
                  <a:pt x="0" y="60071"/>
                </a:moveTo>
                <a:lnTo>
                  <a:pt x="0" y="7811"/>
                </a:lnTo>
                <a:cubicBezTo>
                  <a:pt x="0" y="3493"/>
                  <a:pt x="3493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493"/>
                  <a:pt x="39052" y="7811"/>
                </a:cubicBezTo>
                <a:lnTo>
                  <a:pt x="39052" y="60071"/>
                </a:lnTo>
                <a:close/>
              </a:path>
            </a:pathLst>
          </a:custGeom>
          <a:solidFill>
            <a:srgbClr val="54A2DF">
              <a:alpha val="2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28" name="m-d08_kpi_board-sp-6-2">
            <a:extLst>
              <a:ext uri="{FF2B5EF4-FFF2-40B4-BE49-F238E27FC236}">
                <a16:creationId xmlns:a16="http://schemas.microsoft.com/office/drawing/2014/main" id="{C91CE457-8B81-1344-6C78-12FD7140F218}"/>
              </a:ext>
            </a:extLst>
          </p:cNvPr>
          <p:cNvSpPr/>
          <p:nvPr/>
        </p:nvSpPr>
        <p:spPr>
          <a:xfrm>
            <a:off x="3929062" y="3854196"/>
            <a:ext cx="39052" cy="63817"/>
          </a:xfrm>
          <a:custGeom>
            <a:avLst/>
            <a:gdLst/>
            <a:ahLst/>
            <a:cxnLst/>
            <a:rect l="0" t="0" r="r" b="b"/>
            <a:pathLst>
              <a:path w="39052" h="63817">
                <a:moveTo>
                  <a:pt x="0" y="63817"/>
                </a:moveTo>
                <a:lnTo>
                  <a:pt x="0" y="7811"/>
                </a:lnTo>
                <a:cubicBezTo>
                  <a:pt x="0" y="3492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492"/>
                  <a:pt x="39052" y="7811"/>
                </a:cubicBezTo>
                <a:lnTo>
                  <a:pt x="39052" y="63817"/>
                </a:lnTo>
                <a:close/>
              </a:path>
            </a:pathLst>
          </a:custGeom>
          <a:solidFill>
            <a:srgbClr val="54A2DF">
              <a:alpha val="4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29" name="m-d08_kpi_board-sp-6-3">
            <a:extLst>
              <a:ext uri="{FF2B5EF4-FFF2-40B4-BE49-F238E27FC236}">
                <a16:creationId xmlns:a16="http://schemas.microsoft.com/office/drawing/2014/main" id="{EBC4A73A-8331-395F-3FBE-4FD2E6E0548D}"/>
              </a:ext>
            </a:extLst>
          </p:cNvPr>
          <p:cNvSpPr/>
          <p:nvPr/>
        </p:nvSpPr>
        <p:spPr>
          <a:xfrm>
            <a:off x="3983736" y="3850450"/>
            <a:ext cx="39052" cy="67564"/>
          </a:xfrm>
          <a:custGeom>
            <a:avLst/>
            <a:gdLst/>
            <a:ahLst/>
            <a:cxnLst/>
            <a:rect l="0" t="0" r="r" b="b"/>
            <a:pathLst>
              <a:path w="39052" h="67564">
                <a:moveTo>
                  <a:pt x="0" y="67564"/>
                </a:moveTo>
                <a:lnTo>
                  <a:pt x="0" y="7811"/>
                </a:lnTo>
                <a:cubicBezTo>
                  <a:pt x="0" y="3492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492"/>
                  <a:pt x="39052" y="7811"/>
                </a:cubicBezTo>
                <a:lnTo>
                  <a:pt x="39052" y="67564"/>
                </a:lnTo>
                <a:close/>
              </a:path>
            </a:pathLst>
          </a:custGeom>
          <a:solidFill>
            <a:srgbClr val="54A2DF">
              <a:alpha val="5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30" name="m-d08_kpi_board-sp-6-4">
            <a:extLst>
              <a:ext uri="{FF2B5EF4-FFF2-40B4-BE49-F238E27FC236}">
                <a16:creationId xmlns:a16="http://schemas.microsoft.com/office/drawing/2014/main" id="{EF8600EA-2BCB-54C0-CA1C-0EF219439263}"/>
              </a:ext>
            </a:extLst>
          </p:cNvPr>
          <p:cNvSpPr/>
          <p:nvPr/>
        </p:nvSpPr>
        <p:spPr>
          <a:xfrm>
            <a:off x="4038410" y="3847655"/>
            <a:ext cx="39052" cy="70358"/>
          </a:xfrm>
          <a:custGeom>
            <a:avLst/>
            <a:gdLst/>
            <a:ahLst/>
            <a:cxnLst/>
            <a:rect l="0" t="0" r="r" b="b"/>
            <a:pathLst>
              <a:path w="39052" h="70358">
                <a:moveTo>
                  <a:pt x="0" y="70358"/>
                </a:moveTo>
                <a:lnTo>
                  <a:pt x="0" y="7811"/>
                </a:lnTo>
                <a:cubicBezTo>
                  <a:pt x="0" y="3493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493"/>
                  <a:pt x="39052" y="7811"/>
                </a:cubicBezTo>
                <a:lnTo>
                  <a:pt x="39052" y="70358"/>
                </a:lnTo>
                <a:close/>
              </a:path>
            </a:pathLst>
          </a:custGeom>
          <a:solidFill>
            <a:srgbClr val="54A2DF">
              <a:alpha val="6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31" name="m-d08_kpi_board-sp-6-5">
            <a:extLst>
              <a:ext uri="{FF2B5EF4-FFF2-40B4-BE49-F238E27FC236}">
                <a16:creationId xmlns:a16="http://schemas.microsoft.com/office/drawing/2014/main" id="{151801A5-599D-A791-48BB-B8CDF7E6FEAE}"/>
              </a:ext>
            </a:extLst>
          </p:cNvPr>
          <p:cNvSpPr/>
          <p:nvPr/>
        </p:nvSpPr>
        <p:spPr>
          <a:xfrm>
            <a:off x="4093083" y="3842957"/>
            <a:ext cx="39052" cy="75057"/>
          </a:xfrm>
          <a:custGeom>
            <a:avLst/>
            <a:gdLst/>
            <a:ahLst/>
            <a:cxnLst/>
            <a:rect l="0" t="0" r="r" b="b"/>
            <a:pathLst>
              <a:path w="39052" h="75057">
                <a:moveTo>
                  <a:pt x="0" y="75057"/>
                </a:moveTo>
                <a:lnTo>
                  <a:pt x="0" y="7810"/>
                </a:lnTo>
                <a:cubicBezTo>
                  <a:pt x="0" y="3492"/>
                  <a:pt x="3492" y="0"/>
                  <a:pt x="7810" y="0"/>
                </a:cubicBezTo>
                <a:lnTo>
                  <a:pt x="31242" y="0"/>
                </a:lnTo>
                <a:cubicBezTo>
                  <a:pt x="35560" y="0"/>
                  <a:pt x="39052" y="3492"/>
                  <a:pt x="39052" y="7810"/>
                </a:cubicBezTo>
                <a:lnTo>
                  <a:pt x="39052" y="75057"/>
                </a:lnTo>
                <a:close/>
              </a:path>
            </a:pathLst>
          </a:custGeom>
          <a:solidFill>
            <a:srgbClr val="54A2DF">
              <a:alpha val="7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32" name="m-d08_kpi_board-sp-6-6">
            <a:extLst>
              <a:ext uri="{FF2B5EF4-FFF2-40B4-BE49-F238E27FC236}">
                <a16:creationId xmlns:a16="http://schemas.microsoft.com/office/drawing/2014/main" id="{D080134A-0DC7-FD99-4A73-377174261382}"/>
              </a:ext>
            </a:extLst>
          </p:cNvPr>
          <p:cNvSpPr/>
          <p:nvPr/>
        </p:nvSpPr>
        <p:spPr>
          <a:xfrm>
            <a:off x="4147757" y="3837305"/>
            <a:ext cx="39052" cy="80709"/>
          </a:xfrm>
          <a:custGeom>
            <a:avLst/>
            <a:gdLst/>
            <a:ahLst/>
            <a:cxnLst/>
            <a:rect l="0" t="0" r="r" b="b"/>
            <a:pathLst>
              <a:path w="39052" h="80709">
                <a:moveTo>
                  <a:pt x="0" y="80709"/>
                </a:moveTo>
                <a:lnTo>
                  <a:pt x="0" y="7811"/>
                </a:lnTo>
                <a:cubicBezTo>
                  <a:pt x="0" y="3493"/>
                  <a:pt x="3492" y="0"/>
                  <a:pt x="7810" y="0"/>
                </a:cubicBezTo>
                <a:lnTo>
                  <a:pt x="31242" y="0"/>
                </a:lnTo>
                <a:cubicBezTo>
                  <a:pt x="35560" y="0"/>
                  <a:pt x="39052" y="3493"/>
                  <a:pt x="39052" y="7811"/>
                </a:cubicBezTo>
                <a:lnTo>
                  <a:pt x="39052" y="80709"/>
                </a:lnTo>
                <a:close/>
              </a:path>
            </a:pathLst>
          </a:custGeom>
          <a:solidFill>
            <a:srgbClr val="54A2DF">
              <a:alpha val="8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133" name="m-d08_kpi_board-spl-6">
            <a:extLst>
              <a:ext uri="{FF2B5EF4-FFF2-40B4-BE49-F238E27FC236}">
                <a16:creationId xmlns:a16="http://schemas.microsoft.com/office/drawing/2014/main" id="{3E284779-08CA-2764-07BA-2BDA0C1BADF7}"/>
              </a:ext>
            </a:extLst>
          </p:cNvPr>
          <p:cNvCxnSpPr/>
          <p:nvPr/>
        </p:nvCxnSpPr>
        <p:spPr>
          <a:xfrm>
            <a:off x="3874389" y="3928428"/>
            <a:ext cx="609219" cy="0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34" name="m-d08_kpi_board-spt-6">
            <a:extLst>
              <a:ext uri="{FF2B5EF4-FFF2-40B4-BE49-F238E27FC236}">
                <a16:creationId xmlns:a16="http://schemas.microsoft.com/office/drawing/2014/main" id="{5F2F9122-1166-BB7E-6A91-28DEE7396716}"/>
              </a:ext>
            </a:extLst>
          </p:cNvPr>
          <p:cNvSpPr txBox="1"/>
          <p:nvPr/>
        </p:nvSpPr>
        <p:spPr>
          <a:xfrm>
            <a:off x="4399723" y="3843436"/>
            <a:ext cx="8607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近 6 期</a:t>
            </a:r>
          </a:p>
        </p:txBody>
      </p:sp>
      <p:sp>
        <p:nvSpPr>
          <p:cNvPr id="1135" name="m-d08_kpi_board-spt2-6">
            <a:extLst>
              <a:ext uri="{FF2B5EF4-FFF2-40B4-BE49-F238E27FC236}">
                <a16:creationId xmlns:a16="http://schemas.microsoft.com/office/drawing/2014/main" id="{0A1C3A81-F641-695F-0FA4-D12A39EEACBD}"/>
              </a:ext>
            </a:extLst>
          </p:cNvPr>
          <p:cNvSpPr txBox="1"/>
          <p:nvPr/>
        </p:nvSpPr>
        <p:spPr>
          <a:xfrm>
            <a:off x="4394412" y="3890299"/>
            <a:ext cx="9138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环比走势</a:t>
            </a:r>
          </a:p>
        </p:txBody>
      </p:sp>
      <p:cxnSp>
        <p:nvCxnSpPr>
          <p:cNvPr id="1136" name="m-d08_kpi_board-foot-line">
            <a:extLst>
              <a:ext uri="{FF2B5EF4-FFF2-40B4-BE49-F238E27FC236}">
                <a16:creationId xmlns:a16="http://schemas.microsoft.com/office/drawing/2014/main" id="{6F504842-90A4-D03A-36D9-E63266254C86}"/>
              </a:ext>
            </a:extLst>
          </p:cNvPr>
          <p:cNvCxnSpPr/>
          <p:nvPr/>
        </p:nvCxnSpPr>
        <p:spPr>
          <a:xfrm>
            <a:off x="2291461" y="40429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37" name="m-d08_kpi_board-foot-l">
            <a:extLst>
              <a:ext uri="{FF2B5EF4-FFF2-40B4-BE49-F238E27FC236}">
                <a16:creationId xmlns:a16="http://schemas.microsoft.com/office/drawing/2014/main" id="{A406AB3F-523E-E9AB-1660-77023C6C5697}"/>
              </a:ext>
            </a:extLst>
          </p:cNvPr>
          <p:cNvSpPr txBox="1"/>
          <p:nvPr/>
        </p:nvSpPr>
        <p:spPr>
          <a:xfrm>
            <a:off x="2289274" y="4056923"/>
            <a:ext cx="21429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经营看板 · 六项指标</a:t>
            </a:r>
          </a:p>
        </p:txBody>
      </p:sp>
      <p:sp>
        <p:nvSpPr>
          <p:cNvPr id="1138" name="m-d08_kpi_board-foot-r">
            <a:extLst>
              <a:ext uri="{FF2B5EF4-FFF2-40B4-BE49-F238E27FC236}">
                <a16:creationId xmlns:a16="http://schemas.microsoft.com/office/drawing/2014/main" id="{EC901017-6622-6B5D-5F06-7033EC165267}"/>
              </a:ext>
            </a:extLst>
          </p:cNvPr>
          <p:cNvSpPr txBox="1"/>
          <p:nvPr/>
        </p:nvSpPr>
        <p:spPr>
          <a:xfrm>
            <a:off x="4293709" y="40569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1139" name="mini-card-c05_radar">
            <a:extLst>
              <a:ext uri="{FF2B5EF4-FFF2-40B4-BE49-F238E27FC236}">
                <a16:creationId xmlns:a16="http://schemas.microsoft.com/office/drawing/2014/main" id="{0C3D0B3F-B48C-911D-B4AB-5031F293F277}"/>
              </a:ext>
            </a:extLst>
          </p:cNvPr>
          <p:cNvSpPr/>
          <p:nvPr/>
        </p:nvSpPr>
        <p:spPr>
          <a:xfrm>
            <a:off x="4787900" y="27178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0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0" y="1405890"/>
                </a:lnTo>
                <a:cubicBezTo>
                  <a:pt x="35877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7"/>
                  <a:pt x="35877" y="0"/>
                  <a:pt x="80200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40" name="m-c05_radar-title-bar">
            <a:extLst>
              <a:ext uri="{FF2B5EF4-FFF2-40B4-BE49-F238E27FC236}">
                <a16:creationId xmlns:a16="http://schemas.microsoft.com/office/drawing/2014/main" id="{0F31D089-0F48-8BC9-7295-8CBB91D1159D}"/>
              </a:ext>
            </a:extLst>
          </p:cNvPr>
          <p:cNvSpPr/>
          <p:nvPr/>
        </p:nvSpPr>
        <p:spPr>
          <a:xfrm>
            <a:off x="4907661" y="28167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41" name="m-c05_radar-title-bar-accent">
            <a:extLst>
              <a:ext uri="{FF2B5EF4-FFF2-40B4-BE49-F238E27FC236}">
                <a16:creationId xmlns:a16="http://schemas.microsoft.com/office/drawing/2014/main" id="{0A88B5D5-8005-7A2A-E982-2A98EED1D7F8}"/>
              </a:ext>
            </a:extLst>
          </p:cNvPr>
          <p:cNvSpPr/>
          <p:nvPr/>
        </p:nvSpPr>
        <p:spPr>
          <a:xfrm>
            <a:off x="4907661" y="28167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42" name="m-c05_radar-title-cn">
            <a:extLst>
              <a:ext uri="{FF2B5EF4-FFF2-40B4-BE49-F238E27FC236}">
                <a16:creationId xmlns:a16="http://schemas.microsoft.com/office/drawing/2014/main" id="{5B3C10B0-D8D8-ED4E-95BD-46DAB6B770B2}"/>
              </a:ext>
            </a:extLst>
          </p:cNvPr>
          <p:cNvSpPr txBox="1"/>
          <p:nvPr/>
        </p:nvSpPr>
        <p:spPr>
          <a:xfrm>
            <a:off x="4939840" y="2799368"/>
            <a:ext cx="426453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竞品能力评估</a:t>
            </a:r>
          </a:p>
        </p:txBody>
      </p:sp>
      <p:sp>
        <p:nvSpPr>
          <p:cNvPr id="1143" name="m-c05_radar-title-en">
            <a:extLst>
              <a:ext uri="{FF2B5EF4-FFF2-40B4-BE49-F238E27FC236}">
                <a16:creationId xmlns:a16="http://schemas.microsoft.com/office/drawing/2014/main" id="{7350D9C0-4B17-BD8B-F43E-F6FD2550F462}"/>
              </a:ext>
            </a:extLst>
          </p:cNvPr>
          <p:cNvSpPr txBox="1"/>
          <p:nvPr/>
        </p:nvSpPr>
        <p:spPr>
          <a:xfrm>
            <a:off x="4947130" y="2886650"/>
            <a:ext cx="315076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CAPABILITY RADAR</a:t>
            </a:r>
          </a:p>
        </p:txBody>
      </p:sp>
      <p:sp>
        <p:nvSpPr>
          <p:cNvPr id="1144" name="m-c05_radar-title-sub">
            <a:extLst>
              <a:ext uri="{FF2B5EF4-FFF2-40B4-BE49-F238E27FC236}">
                <a16:creationId xmlns:a16="http://schemas.microsoft.com/office/drawing/2014/main" id="{F39AEA18-A6E4-F10F-A6B4-92BDE6AC1E07}"/>
              </a:ext>
            </a:extLst>
          </p:cNvPr>
          <p:cNvSpPr txBox="1"/>
          <p:nvPr/>
        </p:nvSpPr>
        <p:spPr>
          <a:xfrm>
            <a:off x="6603399" y="2855792"/>
            <a:ext cx="566756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六个维度与两家主要竞品的量化对照（满分 10 分）</a:t>
            </a:r>
          </a:p>
        </p:txBody>
      </p:sp>
      <p:sp>
        <p:nvSpPr>
          <p:cNvPr id="1145" name="m-c05_radar-grid-1">
            <a:extLst>
              <a:ext uri="{FF2B5EF4-FFF2-40B4-BE49-F238E27FC236}">
                <a16:creationId xmlns:a16="http://schemas.microsoft.com/office/drawing/2014/main" id="{E71BEA4C-23BD-324A-E035-E6C057274A12}"/>
              </a:ext>
            </a:extLst>
          </p:cNvPr>
          <p:cNvSpPr/>
          <p:nvPr/>
        </p:nvSpPr>
        <p:spPr>
          <a:xfrm>
            <a:off x="5636006" y="3420745"/>
            <a:ext cx="126238" cy="145796"/>
          </a:xfrm>
          <a:custGeom>
            <a:avLst/>
            <a:gdLst/>
            <a:ahLst/>
            <a:cxnLst/>
            <a:rect l="0" t="0" r="r" b="b"/>
            <a:pathLst>
              <a:path w="126238" h="145796">
                <a:moveTo>
                  <a:pt x="63119" y="0"/>
                </a:moveTo>
                <a:lnTo>
                  <a:pt x="126238" y="36449"/>
                </a:lnTo>
                <a:lnTo>
                  <a:pt x="126238" y="109347"/>
                </a:lnTo>
                <a:lnTo>
                  <a:pt x="63119" y="145796"/>
                </a:lnTo>
                <a:lnTo>
                  <a:pt x="0" y="109347"/>
                </a:lnTo>
                <a:lnTo>
                  <a:pt x="0" y="36449"/>
                </a:lnTo>
                <a:close/>
              </a:path>
            </a:pathLst>
          </a:custGeom>
          <a:noFill/>
          <a:ln w="2540" cap="rnd">
            <a:solidFill>
              <a:srgbClr val="0B2545">
                <a:alpha val="9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46" name="m-c05_radar-grid-2">
            <a:extLst>
              <a:ext uri="{FF2B5EF4-FFF2-40B4-BE49-F238E27FC236}">
                <a16:creationId xmlns:a16="http://schemas.microsoft.com/office/drawing/2014/main" id="{D7D430FD-C4CC-5337-429E-91EA973EC8DA}"/>
              </a:ext>
            </a:extLst>
          </p:cNvPr>
          <p:cNvSpPr/>
          <p:nvPr/>
        </p:nvSpPr>
        <p:spPr>
          <a:xfrm>
            <a:off x="5572887" y="3347847"/>
            <a:ext cx="252476" cy="291592"/>
          </a:xfrm>
          <a:custGeom>
            <a:avLst/>
            <a:gdLst/>
            <a:ahLst/>
            <a:cxnLst/>
            <a:rect l="0" t="0" r="r" b="b"/>
            <a:pathLst>
              <a:path w="252476" h="291592">
                <a:moveTo>
                  <a:pt x="126238" y="0"/>
                </a:moveTo>
                <a:lnTo>
                  <a:pt x="252476" y="72898"/>
                </a:lnTo>
                <a:lnTo>
                  <a:pt x="252476" y="218694"/>
                </a:lnTo>
                <a:lnTo>
                  <a:pt x="126238" y="291592"/>
                </a:lnTo>
                <a:lnTo>
                  <a:pt x="0" y="218694"/>
                </a:lnTo>
                <a:lnTo>
                  <a:pt x="0" y="72898"/>
                </a:lnTo>
                <a:close/>
              </a:path>
            </a:pathLst>
          </a:custGeom>
          <a:noFill/>
          <a:ln w="2540" cap="rnd">
            <a:solidFill>
              <a:srgbClr val="0B2545">
                <a:alpha val="9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47" name="m-c05_radar-grid-3">
            <a:extLst>
              <a:ext uri="{FF2B5EF4-FFF2-40B4-BE49-F238E27FC236}">
                <a16:creationId xmlns:a16="http://schemas.microsoft.com/office/drawing/2014/main" id="{EAEFA493-2B77-5D06-640B-09C271B4AC77}"/>
              </a:ext>
            </a:extLst>
          </p:cNvPr>
          <p:cNvSpPr/>
          <p:nvPr/>
        </p:nvSpPr>
        <p:spPr>
          <a:xfrm>
            <a:off x="5509704" y="3274949"/>
            <a:ext cx="378841" cy="437388"/>
          </a:xfrm>
          <a:custGeom>
            <a:avLst/>
            <a:gdLst/>
            <a:ahLst/>
            <a:cxnLst/>
            <a:rect l="0" t="0" r="r" b="b"/>
            <a:pathLst>
              <a:path w="378841" h="437388">
                <a:moveTo>
                  <a:pt x="189421" y="0"/>
                </a:moveTo>
                <a:lnTo>
                  <a:pt x="378841" y="109347"/>
                </a:lnTo>
                <a:lnTo>
                  <a:pt x="378841" y="328041"/>
                </a:lnTo>
                <a:lnTo>
                  <a:pt x="189421" y="437388"/>
                </a:lnTo>
                <a:lnTo>
                  <a:pt x="0" y="328041"/>
                </a:lnTo>
                <a:lnTo>
                  <a:pt x="0" y="109347"/>
                </a:lnTo>
                <a:close/>
              </a:path>
            </a:pathLst>
          </a:custGeom>
          <a:noFill/>
          <a:ln w="2540" cap="rnd">
            <a:solidFill>
              <a:srgbClr val="0B2545">
                <a:alpha val="9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48" name="m-c05_radar-grid-4">
            <a:extLst>
              <a:ext uri="{FF2B5EF4-FFF2-40B4-BE49-F238E27FC236}">
                <a16:creationId xmlns:a16="http://schemas.microsoft.com/office/drawing/2014/main" id="{732F3FA5-B05C-09BC-2D24-65A6FAA302D2}"/>
              </a:ext>
            </a:extLst>
          </p:cNvPr>
          <p:cNvSpPr/>
          <p:nvPr/>
        </p:nvSpPr>
        <p:spPr>
          <a:xfrm>
            <a:off x="5446586" y="3202051"/>
            <a:ext cx="505079" cy="583184"/>
          </a:xfrm>
          <a:custGeom>
            <a:avLst/>
            <a:gdLst/>
            <a:ahLst/>
            <a:cxnLst/>
            <a:rect l="0" t="0" r="r" b="b"/>
            <a:pathLst>
              <a:path w="505079" h="583184">
                <a:moveTo>
                  <a:pt x="252539" y="0"/>
                </a:moveTo>
                <a:lnTo>
                  <a:pt x="505079" y="145796"/>
                </a:lnTo>
                <a:lnTo>
                  <a:pt x="505079" y="437388"/>
                </a:lnTo>
                <a:lnTo>
                  <a:pt x="252539" y="583184"/>
                </a:lnTo>
                <a:lnTo>
                  <a:pt x="0" y="437388"/>
                </a:lnTo>
                <a:lnTo>
                  <a:pt x="0" y="145796"/>
                </a:lnTo>
                <a:close/>
              </a:path>
            </a:pathLst>
          </a:custGeom>
          <a:noFill/>
          <a:ln w="2540" cap="rnd">
            <a:solidFill>
              <a:srgbClr val="0B2545">
                <a:alpha val="9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49" name="m-c05_radar-grid-5">
            <a:extLst>
              <a:ext uri="{FF2B5EF4-FFF2-40B4-BE49-F238E27FC236}">
                <a16:creationId xmlns:a16="http://schemas.microsoft.com/office/drawing/2014/main" id="{6C69273D-DF51-E28C-B371-E7B2B1037EFF}"/>
              </a:ext>
            </a:extLst>
          </p:cNvPr>
          <p:cNvSpPr/>
          <p:nvPr/>
        </p:nvSpPr>
        <p:spPr>
          <a:xfrm>
            <a:off x="5383466" y="3129153"/>
            <a:ext cx="631317" cy="728980"/>
          </a:xfrm>
          <a:custGeom>
            <a:avLst/>
            <a:gdLst/>
            <a:ahLst/>
            <a:cxnLst/>
            <a:rect l="0" t="0" r="r" b="b"/>
            <a:pathLst>
              <a:path w="631317" h="728980">
                <a:moveTo>
                  <a:pt x="315659" y="0"/>
                </a:moveTo>
                <a:lnTo>
                  <a:pt x="631317" y="182245"/>
                </a:lnTo>
                <a:lnTo>
                  <a:pt x="631317" y="546735"/>
                </a:lnTo>
                <a:lnTo>
                  <a:pt x="315659" y="728980"/>
                </a:lnTo>
                <a:lnTo>
                  <a:pt x="0" y="546735"/>
                </a:lnTo>
                <a:lnTo>
                  <a:pt x="0" y="182245"/>
                </a:lnTo>
                <a:close/>
              </a:path>
            </a:pathLst>
          </a:custGeom>
          <a:solidFill>
            <a:srgbClr val="FFFFFF">
              <a:alpha val="50000"/>
            </a:srgbClr>
          </a:solidFill>
          <a:ln w="2540" cap="rnd">
            <a:solidFill>
              <a:srgbClr val="0B2545">
                <a:alpha val="1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150" name="m-c05_radar-axis-1">
            <a:extLst>
              <a:ext uri="{FF2B5EF4-FFF2-40B4-BE49-F238E27FC236}">
                <a16:creationId xmlns:a16="http://schemas.microsoft.com/office/drawing/2014/main" id="{5A52D6AC-148D-FF92-ECD3-8BB52B262E3C}"/>
              </a:ext>
            </a:extLst>
          </p:cNvPr>
          <p:cNvCxnSpPr/>
          <p:nvPr/>
        </p:nvCxnSpPr>
        <p:spPr>
          <a:xfrm flipV="1">
            <a:off x="5699125" y="3129153"/>
            <a:ext cx="0" cy="364490"/>
          </a:xfrm>
          <a:prstGeom prst="line">
            <a:avLst/>
          </a:prstGeom>
          <a:ln w="254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51" name="m-c05_radar-axl-1">
            <a:extLst>
              <a:ext uri="{FF2B5EF4-FFF2-40B4-BE49-F238E27FC236}">
                <a16:creationId xmlns:a16="http://schemas.microsoft.com/office/drawing/2014/main" id="{D6ACA4C1-52D1-25E6-DD7F-5AC8618C0C08}"/>
              </a:ext>
            </a:extLst>
          </p:cNvPr>
          <p:cNvSpPr txBox="1"/>
          <p:nvPr/>
        </p:nvSpPr>
        <p:spPr>
          <a:xfrm>
            <a:off x="5641230" y="3041138"/>
            <a:ext cx="115791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产品性能</a:t>
            </a:r>
          </a:p>
        </p:txBody>
      </p:sp>
      <p:cxnSp>
        <p:nvCxnSpPr>
          <p:cNvPr id="1152" name="m-c05_radar-axis-2">
            <a:extLst>
              <a:ext uri="{FF2B5EF4-FFF2-40B4-BE49-F238E27FC236}">
                <a16:creationId xmlns:a16="http://schemas.microsoft.com/office/drawing/2014/main" id="{7213AD6D-34F3-9515-C246-A19DC0E3F803}"/>
              </a:ext>
            </a:extLst>
          </p:cNvPr>
          <p:cNvCxnSpPr/>
          <p:nvPr/>
        </p:nvCxnSpPr>
        <p:spPr>
          <a:xfrm flipV="1">
            <a:off x="5699125" y="3311398"/>
            <a:ext cx="315658" cy="182245"/>
          </a:xfrm>
          <a:prstGeom prst="line">
            <a:avLst/>
          </a:prstGeom>
          <a:ln w="254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53" name="m-c05_radar-axl-2">
            <a:extLst>
              <a:ext uri="{FF2B5EF4-FFF2-40B4-BE49-F238E27FC236}">
                <a16:creationId xmlns:a16="http://schemas.microsoft.com/office/drawing/2014/main" id="{EB3E6DFD-9DBB-D9E9-1B3A-9993A2FA5202}"/>
              </a:ext>
            </a:extLst>
          </p:cNvPr>
          <p:cNvSpPr txBox="1"/>
          <p:nvPr/>
        </p:nvSpPr>
        <p:spPr>
          <a:xfrm>
            <a:off x="6070671" y="3257229"/>
            <a:ext cx="139613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价格竞争力</a:t>
            </a:r>
          </a:p>
        </p:txBody>
      </p:sp>
      <p:cxnSp>
        <p:nvCxnSpPr>
          <p:cNvPr id="1154" name="m-c05_radar-axis-3">
            <a:extLst>
              <a:ext uri="{FF2B5EF4-FFF2-40B4-BE49-F238E27FC236}">
                <a16:creationId xmlns:a16="http://schemas.microsoft.com/office/drawing/2014/main" id="{CE05743C-570F-FCB5-3229-61E043B35D09}"/>
              </a:ext>
            </a:extLst>
          </p:cNvPr>
          <p:cNvCxnSpPr/>
          <p:nvPr/>
        </p:nvCxnSpPr>
        <p:spPr>
          <a:xfrm>
            <a:off x="5699125" y="3493643"/>
            <a:ext cx="315658" cy="182245"/>
          </a:xfrm>
          <a:prstGeom prst="line">
            <a:avLst/>
          </a:prstGeom>
          <a:ln w="254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55" name="m-c05_radar-axl-3">
            <a:extLst>
              <a:ext uri="{FF2B5EF4-FFF2-40B4-BE49-F238E27FC236}">
                <a16:creationId xmlns:a16="http://schemas.microsoft.com/office/drawing/2014/main" id="{F15A8E08-6023-338D-682B-E7A31F134D3C}"/>
              </a:ext>
            </a:extLst>
          </p:cNvPr>
          <p:cNvSpPr txBox="1"/>
          <p:nvPr/>
        </p:nvSpPr>
        <p:spPr>
          <a:xfrm>
            <a:off x="6070671" y="3689410"/>
            <a:ext cx="115791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交付速度</a:t>
            </a:r>
          </a:p>
        </p:txBody>
      </p:sp>
      <p:cxnSp>
        <p:nvCxnSpPr>
          <p:cNvPr id="1156" name="m-c05_radar-axis-4">
            <a:extLst>
              <a:ext uri="{FF2B5EF4-FFF2-40B4-BE49-F238E27FC236}">
                <a16:creationId xmlns:a16="http://schemas.microsoft.com/office/drawing/2014/main" id="{1117023E-28F7-B5DC-A2B4-CC6F957B7A02}"/>
              </a:ext>
            </a:extLst>
          </p:cNvPr>
          <p:cNvCxnSpPr/>
          <p:nvPr/>
        </p:nvCxnSpPr>
        <p:spPr>
          <a:xfrm>
            <a:off x="5699125" y="3493643"/>
            <a:ext cx="0" cy="364490"/>
          </a:xfrm>
          <a:prstGeom prst="line">
            <a:avLst/>
          </a:prstGeom>
          <a:ln w="254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57" name="m-c05_radar-axl-4">
            <a:extLst>
              <a:ext uri="{FF2B5EF4-FFF2-40B4-BE49-F238E27FC236}">
                <a16:creationId xmlns:a16="http://schemas.microsoft.com/office/drawing/2014/main" id="{955E5B7E-DF98-8BFF-9970-011E4547629B}"/>
              </a:ext>
            </a:extLst>
          </p:cNvPr>
          <p:cNvSpPr txBox="1"/>
          <p:nvPr/>
        </p:nvSpPr>
        <p:spPr>
          <a:xfrm>
            <a:off x="5641230" y="3905500"/>
            <a:ext cx="115791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服务响应</a:t>
            </a:r>
          </a:p>
        </p:txBody>
      </p:sp>
      <p:cxnSp>
        <p:nvCxnSpPr>
          <p:cNvPr id="1158" name="m-c05_radar-axis-5">
            <a:extLst>
              <a:ext uri="{FF2B5EF4-FFF2-40B4-BE49-F238E27FC236}">
                <a16:creationId xmlns:a16="http://schemas.microsoft.com/office/drawing/2014/main" id="{C485BA8A-1A97-8DCA-4D15-0646F8D726EC}"/>
              </a:ext>
            </a:extLst>
          </p:cNvPr>
          <p:cNvCxnSpPr/>
          <p:nvPr/>
        </p:nvCxnSpPr>
        <p:spPr>
          <a:xfrm flipH="1">
            <a:off x="5383467" y="3493643"/>
            <a:ext cx="315658" cy="182245"/>
          </a:xfrm>
          <a:prstGeom prst="line">
            <a:avLst/>
          </a:prstGeom>
          <a:ln w="254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59" name="m-c05_radar-axl-5">
            <a:extLst>
              <a:ext uri="{FF2B5EF4-FFF2-40B4-BE49-F238E27FC236}">
                <a16:creationId xmlns:a16="http://schemas.microsoft.com/office/drawing/2014/main" id="{3E3F5D0D-7F71-56A9-4335-89122EAD491C}"/>
              </a:ext>
            </a:extLst>
          </p:cNvPr>
          <p:cNvSpPr txBox="1"/>
          <p:nvPr/>
        </p:nvSpPr>
        <p:spPr>
          <a:xfrm>
            <a:off x="5211788" y="3689410"/>
            <a:ext cx="115791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生态开放</a:t>
            </a:r>
          </a:p>
        </p:txBody>
      </p:sp>
      <p:cxnSp>
        <p:nvCxnSpPr>
          <p:cNvPr id="1160" name="m-c05_radar-axis-6">
            <a:extLst>
              <a:ext uri="{FF2B5EF4-FFF2-40B4-BE49-F238E27FC236}">
                <a16:creationId xmlns:a16="http://schemas.microsoft.com/office/drawing/2014/main" id="{F821E561-9C1B-442B-6B11-D89816E31E77}"/>
              </a:ext>
            </a:extLst>
          </p:cNvPr>
          <p:cNvCxnSpPr/>
          <p:nvPr/>
        </p:nvCxnSpPr>
        <p:spPr>
          <a:xfrm flipH="1" flipV="1">
            <a:off x="5383467" y="3311398"/>
            <a:ext cx="315658" cy="182245"/>
          </a:xfrm>
          <a:prstGeom prst="line">
            <a:avLst/>
          </a:prstGeom>
          <a:ln w="254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61" name="m-c05_radar-axl-6">
            <a:extLst>
              <a:ext uri="{FF2B5EF4-FFF2-40B4-BE49-F238E27FC236}">
                <a16:creationId xmlns:a16="http://schemas.microsoft.com/office/drawing/2014/main" id="{A76D0C26-B1D8-EC21-F2C5-906AE6D8E07C}"/>
              </a:ext>
            </a:extLst>
          </p:cNvPr>
          <p:cNvSpPr txBox="1"/>
          <p:nvPr/>
        </p:nvSpPr>
        <p:spPr>
          <a:xfrm>
            <a:off x="5211788" y="3257229"/>
            <a:ext cx="115791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品牌影响</a:t>
            </a:r>
          </a:p>
        </p:txBody>
      </p:sp>
      <p:sp>
        <p:nvSpPr>
          <p:cNvPr id="1162" name="m-c05_radar-area-1">
            <a:extLst>
              <a:ext uri="{FF2B5EF4-FFF2-40B4-BE49-F238E27FC236}">
                <a16:creationId xmlns:a16="http://schemas.microsoft.com/office/drawing/2014/main" id="{8AEAF8E5-A448-7CE3-6029-19D9A2C639A5}"/>
              </a:ext>
            </a:extLst>
          </p:cNvPr>
          <p:cNvSpPr/>
          <p:nvPr/>
        </p:nvSpPr>
        <p:spPr>
          <a:xfrm>
            <a:off x="5433949" y="3202051"/>
            <a:ext cx="536638" cy="554038"/>
          </a:xfrm>
          <a:custGeom>
            <a:avLst/>
            <a:gdLst/>
            <a:ahLst/>
            <a:cxnLst/>
            <a:rect l="0" t="0" r="r" b="b"/>
            <a:pathLst>
              <a:path w="536638" h="554038">
                <a:moveTo>
                  <a:pt x="265176" y="0"/>
                </a:moveTo>
                <a:lnTo>
                  <a:pt x="536638" y="134874"/>
                </a:lnTo>
                <a:lnTo>
                  <a:pt x="467169" y="408241"/>
                </a:lnTo>
                <a:lnTo>
                  <a:pt x="265176" y="554038"/>
                </a:lnTo>
                <a:lnTo>
                  <a:pt x="82105" y="397320"/>
                </a:lnTo>
                <a:lnTo>
                  <a:pt x="0" y="138494"/>
                </a:lnTo>
                <a:close/>
              </a:path>
            </a:pathLst>
          </a:custGeom>
          <a:solidFill>
            <a:srgbClr val="3985CD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63" name="m-c05_radar-line-1">
            <a:extLst>
              <a:ext uri="{FF2B5EF4-FFF2-40B4-BE49-F238E27FC236}">
                <a16:creationId xmlns:a16="http://schemas.microsoft.com/office/drawing/2014/main" id="{BD4399ED-9455-5DC9-A566-A68161A2B022}"/>
              </a:ext>
            </a:extLst>
          </p:cNvPr>
          <p:cNvSpPr/>
          <p:nvPr/>
        </p:nvSpPr>
        <p:spPr>
          <a:xfrm>
            <a:off x="5433949" y="3202051"/>
            <a:ext cx="536638" cy="554038"/>
          </a:xfrm>
          <a:custGeom>
            <a:avLst/>
            <a:gdLst/>
            <a:ahLst/>
            <a:cxnLst/>
            <a:rect l="0" t="0" r="r" b="b"/>
            <a:pathLst>
              <a:path w="536638" h="554038">
                <a:moveTo>
                  <a:pt x="265176" y="0"/>
                </a:moveTo>
                <a:lnTo>
                  <a:pt x="536638" y="134874"/>
                </a:lnTo>
                <a:lnTo>
                  <a:pt x="467169" y="408241"/>
                </a:lnTo>
                <a:lnTo>
                  <a:pt x="265176" y="554038"/>
                </a:lnTo>
                <a:lnTo>
                  <a:pt x="82105" y="397320"/>
                </a:lnTo>
                <a:lnTo>
                  <a:pt x="0" y="138494"/>
                </a:lnTo>
                <a:close/>
              </a:path>
            </a:pathLst>
          </a:custGeom>
          <a:noFill/>
          <a:ln w="3385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64" name="m-c05_radar-pt-1-1">
            <a:extLst>
              <a:ext uri="{FF2B5EF4-FFF2-40B4-BE49-F238E27FC236}">
                <a16:creationId xmlns:a16="http://schemas.microsoft.com/office/drawing/2014/main" id="{900AB6D0-C66B-B39F-6F0F-D0C6D7FBF045}"/>
              </a:ext>
            </a:extLst>
          </p:cNvPr>
          <p:cNvSpPr/>
          <p:nvPr/>
        </p:nvSpPr>
        <p:spPr>
          <a:xfrm>
            <a:off x="5691314" y="3194240"/>
            <a:ext cx="15621" cy="15621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65" name="m-c05_radar-pt-1-2">
            <a:extLst>
              <a:ext uri="{FF2B5EF4-FFF2-40B4-BE49-F238E27FC236}">
                <a16:creationId xmlns:a16="http://schemas.microsoft.com/office/drawing/2014/main" id="{1523C86D-188C-4FF3-7916-0276325D50FA}"/>
              </a:ext>
            </a:extLst>
          </p:cNvPr>
          <p:cNvSpPr/>
          <p:nvPr/>
        </p:nvSpPr>
        <p:spPr>
          <a:xfrm>
            <a:off x="5962780" y="3329102"/>
            <a:ext cx="15621" cy="15621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66" name="m-c05_radar-pt-1-3">
            <a:extLst>
              <a:ext uri="{FF2B5EF4-FFF2-40B4-BE49-F238E27FC236}">
                <a16:creationId xmlns:a16="http://schemas.microsoft.com/office/drawing/2014/main" id="{CBE43C27-4BF1-3B77-FE29-C32BA04B6B15}"/>
              </a:ext>
            </a:extLst>
          </p:cNvPr>
          <p:cNvSpPr/>
          <p:nvPr/>
        </p:nvSpPr>
        <p:spPr>
          <a:xfrm>
            <a:off x="5893335" y="3602469"/>
            <a:ext cx="15621" cy="15621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67" name="m-c05_radar-pt-1-4">
            <a:extLst>
              <a:ext uri="{FF2B5EF4-FFF2-40B4-BE49-F238E27FC236}">
                <a16:creationId xmlns:a16="http://schemas.microsoft.com/office/drawing/2014/main" id="{0576464E-BA9B-BF55-641B-83C2EB923EAF}"/>
              </a:ext>
            </a:extLst>
          </p:cNvPr>
          <p:cNvSpPr/>
          <p:nvPr/>
        </p:nvSpPr>
        <p:spPr>
          <a:xfrm>
            <a:off x="5691314" y="3748265"/>
            <a:ext cx="15621" cy="15621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68" name="m-c05_radar-pt-1-5">
            <a:extLst>
              <a:ext uri="{FF2B5EF4-FFF2-40B4-BE49-F238E27FC236}">
                <a16:creationId xmlns:a16="http://schemas.microsoft.com/office/drawing/2014/main" id="{82B656B8-C5BC-117B-5151-34C00BD82106}"/>
              </a:ext>
            </a:extLst>
          </p:cNvPr>
          <p:cNvSpPr/>
          <p:nvPr/>
        </p:nvSpPr>
        <p:spPr>
          <a:xfrm>
            <a:off x="5508233" y="3591535"/>
            <a:ext cx="15621" cy="15621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69" name="m-c05_radar-pt-1-6">
            <a:extLst>
              <a:ext uri="{FF2B5EF4-FFF2-40B4-BE49-F238E27FC236}">
                <a16:creationId xmlns:a16="http://schemas.microsoft.com/office/drawing/2014/main" id="{232E1620-4CE1-0E14-2512-B27457C7BEB5}"/>
              </a:ext>
            </a:extLst>
          </p:cNvPr>
          <p:cNvSpPr/>
          <p:nvPr/>
        </p:nvSpPr>
        <p:spPr>
          <a:xfrm>
            <a:off x="5426162" y="3332747"/>
            <a:ext cx="15621" cy="15621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70" name="m-c05_radar-area-2">
            <a:extLst>
              <a:ext uri="{FF2B5EF4-FFF2-40B4-BE49-F238E27FC236}">
                <a16:creationId xmlns:a16="http://schemas.microsoft.com/office/drawing/2014/main" id="{12D8E974-B70E-DB6C-4CA1-1ACAAAF57507}"/>
              </a:ext>
            </a:extLst>
          </p:cNvPr>
          <p:cNvSpPr/>
          <p:nvPr/>
        </p:nvSpPr>
        <p:spPr>
          <a:xfrm>
            <a:off x="5440299" y="3158300"/>
            <a:ext cx="536575" cy="663385"/>
          </a:xfrm>
          <a:custGeom>
            <a:avLst/>
            <a:gdLst/>
            <a:ahLst/>
            <a:cxnLst/>
            <a:rect l="0" t="0" r="r" b="b"/>
            <a:pathLst>
              <a:path w="536575" h="663385">
                <a:moveTo>
                  <a:pt x="258826" y="0"/>
                </a:moveTo>
                <a:lnTo>
                  <a:pt x="492442" y="200470"/>
                </a:lnTo>
                <a:lnTo>
                  <a:pt x="536575" y="495745"/>
                </a:lnTo>
                <a:lnTo>
                  <a:pt x="258826" y="663385"/>
                </a:lnTo>
                <a:lnTo>
                  <a:pt x="0" y="484759"/>
                </a:lnTo>
                <a:lnTo>
                  <a:pt x="37846" y="207772"/>
                </a:lnTo>
                <a:close/>
              </a:path>
            </a:pathLst>
          </a:custGeom>
          <a:solidFill>
            <a:srgbClr val="0B3E8F">
              <a:alpha val="3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71" name="m-c05_radar-line-2">
            <a:extLst>
              <a:ext uri="{FF2B5EF4-FFF2-40B4-BE49-F238E27FC236}">
                <a16:creationId xmlns:a16="http://schemas.microsoft.com/office/drawing/2014/main" id="{A6D76999-447B-FA98-C320-CBECD7E97627}"/>
              </a:ext>
            </a:extLst>
          </p:cNvPr>
          <p:cNvSpPr/>
          <p:nvPr/>
        </p:nvSpPr>
        <p:spPr>
          <a:xfrm>
            <a:off x="5440299" y="3158300"/>
            <a:ext cx="536575" cy="663385"/>
          </a:xfrm>
          <a:custGeom>
            <a:avLst/>
            <a:gdLst/>
            <a:ahLst/>
            <a:cxnLst/>
            <a:rect l="0" t="0" r="r" b="b"/>
            <a:pathLst>
              <a:path w="536575" h="663385">
                <a:moveTo>
                  <a:pt x="258826" y="0"/>
                </a:moveTo>
                <a:lnTo>
                  <a:pt x="492442" y="200470"/>
                </a:lnTo>
                <a:lnTo>
                  <a:pt x="536575" y="495745"/>
                </a:lnTo>
                <a:lnTo>
                  <a:pt x="258826" y="663385"/>
                </a:lnTo>
                <a:lnTo>
                  <a:pt x="0" y="484759"/>
                </a:lnTo>
                <a:lnTo>
                  <a:pt x="37846" y="207772"/>
                </a:lnTo>
                <a:close/>
              </a:path>
            </a:pathLst>
          </a:custGeom>
          <a:noFill/>
          <a:ln w="338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72" name="m-c05_radar-pt-2-1">
            <a:extLst>
              <a:ext uri="{FF2B5EF4-FFF2-40B4-BE49-F238E27FC236}">
                <a16:creationId xmlns:a16="http://schemas.microsoft.com/office/drawing/2014/main" id="{282A302A-D389-277D-42DD-CDFE49BC0EF3}"/>
              </a:ext>
            </a:extLst>
          </p:cNvPr>
          <p:cNvSpPr/>
          <p:nvPr/>
        </p:nvSpPr>
        <p:spPr>
          <a:xfrm>
            <a:off x="5691314" y="3150502"/>
            <a:ext cx="15621" cy="15621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73" name="m-c05_radar-pt-2-2">
            <a:extLst>
              <a:ext uri="{FF2B5EF4-FFF2-40B4-BE49-F238E27FC236}">
                <a16:creationId xmlns:a16="http://schemas.microsoft.com/office/drawing/2014/main" id="{F885F340-26BE-3895-6985-53D7969FB978}"/>
              </a:ext>
            </a:extLst>
          </p:cNvPr>
          <p:cNvSpPr/>
          <p:nvPr/>
        </p:nvSpPr>
        <p:spPr>
          <a:xfrm>
            <a:off x="5924901" y="3350971"/>
            <a:ext cx="15621" cy="15621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74" name="m-c05_radar-pt-2-3">
            <a:extLst>
              <a:ext uri="{FF2B5EF4-FFF2-40B4-BE49-F238E27FC236}">
                <a16:creationId xmlns:a16="http://schemas.microsoft.com/office/drawing/2014/main" id="{4697B9BA-77E4-DFC5-2334-E935BB57D275}"/>
              </a:ext>
            </a:extLst>
          </p:cNvPr>
          <p:cNvSpPr/>
          <p:nvPr/>
        </p:nvSpPr>
        <p:spPr>
          <a:xfrm>
            <a:off x="5969093" y="3646208"/>
            <a:ext cx="15621" cy="15621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75" name="m-c05_radar-pt-2-4">
            <a:extLst>
              <a:ext uri="{FF2B5EF4-FFF2-40B4-BE49-F238E27FC236}">
                <a16:creationId xmlns:a16="http://schemas.microsoft.com/office/drawing/2014/main" id="{5E23A81B-3A20-F3A9-FB1D-8C3A09F6F80D}"/>
              </a:ext>
            </a:extLst>
          </p:cNvPr>
          <p:cNvSpPr/>
          <p:nvPr/>
        </p:nvSpPr>
        <p:spPr>
          <a:xfrm>
            <a:off x="5691314" y="3813874"/>
            <a:ext cx="15621" cy="15621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76" name="m-c05_radar-pt-2-5">
            <a:extLst>
              <a:ext uri="{FF2B5EF4-FFF2-40B4-BE49-F238E27FC236}">
                <a16:creationId xmlns:a16="http://schemas.microsoft.com/office/drawing/2014/main" id="{3BF405D6-6E42-F21E-DB99-A560152EE14E}"/>
              </a:ext>
            </a:extLst>
          </p:cNvPr>
          <p:cNvSpPr/>
          <p:nvPr/>
        </p:nvSpPr>
        <p:spPr>
          <a:xfrm>
            <a:off x="5432475" y="3635273"/>
            <a:ext cx="15621" cy="15621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77" name="m-c05_radar-pt-2-6">
            <a:extLst>
              <a:ext uri="{FF2B5EF4-FFF2-40B4-BE49-F238E27FC236}">
                <a16:creationId xmlns:a16="http://schemas.microsoft.com/office/drawing/2014/main" id="{D81DAC4C-2ABA-0E5D-C92B-815A3ADE2A79}"/>
              </a:ext>
            </a:extLst>
          </p:cNvPr>
          <p:cNvSpPr/>
          <p:nvPr/>
        </p:nvSpPr>
        <p:spPr>
          <a:xfrm>
            <a:off x="5470354" y="3358261"/>
            <a:ext cx="15621" cy="15621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78" name="m-c05_radar-tickbg-2">
            <a:extLst>
              <a:ext uri="{FF2B5EF4-FFF2-40B4-BE49-F238E27FC236}">
                <a16:creationId xmlns:a16="http://schemas.microsoft.com/office/drawing/2014/main" id="{F37B6BAE-396F-8E5B-8093-6A472D03C177}"/>
              </a:ext>
            </a:extLst>
          </p:cNvPr>
          <p:cNvSpPr/>
          <p:nvPr/>
        </p:nvSpPr>
        <p:spPr>
          <a:xfrm>
            <a:off x="5704332" y="3330892"/>
            <a:ext cx="44259" cy="31306"/>
          </a:xfrm>
          <a:custGeom>
            <a:avLst/>
            <a:gdLst/>
            <a:ahLst/>
            <a:cxnLst/>
            <a:rect l="0" t="0" r="r" b="b"/>
            <a:pathLst>
              <a:path w="44259" h="31306">
                <a:moveTo>
                  <a:pt x="15621" y="0"/>
                </a:moveTo>
                <a:lnTo>
                  <a:pt x="28638" y="0"/>
                </a:lnTo>
                <a:cubicBezTo>
                  <a:pt x="37275" y="0"/>
                  <a:pt x="44259" y="7049"/>
                  <a:pt x="44259" y="15621"/>
                </a:cubicBezTo>
                <a:lnTo>
                  <a:pt x="44259" y="15621"/>
                </a:lnTo>
                <a:cubicBezTo>
                  <a:pt x="44259" y="24257"/>
                  <a:pt x="37275" y="31306"/>
                  <a:pt x="28638" y="31306"/>
                </a:cubicBezTo>
                <a:lnTo>
                  <a:pt x="15621" y="31306"/>
                </a:lnTo>
                <a:cubicBezTo>
                  <a:pt x="6985" y="31306"/>
                  <a:pt x="0" y="24257"/>
                  <a:pt x="0" y="15621"/>
                </a:cubicBezTo>
                <a:lnTo>
                  <a:pt x="0" y="15621"/>
                </a:lnTo>
                <a:cubicBezTo>
                  <a:pt x="0" y="7049"/>
                  <a:pt x="6985" y="0"/>
                  <a:pt x="15621" y="0"/>
                </a:cubicBezTo>
                <a:close/>
              </a:path>
            </a:pathLst>
          </a:custGeom>
          <a:solidFill>
            <a:srgbClr val="FFFFFF">
              <a:alpha val="8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79" name="m-c05_radar-tick-2">
            <a:extLst>
              <a:ext uri="{FF2B5EF4-FFF2-40B4-BE49-F238E27FC236}">
                <a16:creationId xmlns:a16="http://schemas.microsoft.com/office/drawing/2014/main" id="{25ACA1FF-B68F-C982-3F72-D67FC9B59EBE}"/>
              </a:ext>
            </a:extLst>
          </p:cNvPr>
          <p:cNvSpPr txBox="1"/>
          <p:nvPr/>
        </p:nvSpPr>
        <p:spPr>
          <a:xfrm>
            <a:off x="5713158" y="3331848"/>
            <a:ext cx="2660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1180" name="m-c05_radar-tickbg-4">
            <a:extLst>
              <a:ext uri="{FF2B5EF4-FFF2-40B4-BE49-F238E27FC236}">
                <a16:creationId xmlns:a16="http://schemas.microsoft.com/office/drawing/2014/main" id="{D7F79BAB-95EF-C040-EAD4-ADB09B2E77F8}"/>
              </a:ext>
            </a:extLst>
          </p:cNvPr>
          <p:cNvSpPr/>
          <p:nvPr/>
        </p:nvSpPr>
        <p:spPr>
          <a:xfrm>
            <a:off x="5704332" y="3185160"/>
            <a:ext cx="44259" cy="31178"/>
          </a:xfrm>
          <a:custGeom>
            <a:avLst/>
            <a:gdLst/>
            <a:ahLst/>
            <a:cxnLst/>
            <a:rect l="0" t="0" r="r" b="b"/>
            <a:pathLst>
              <a:path w="44259" h="31178">
                <a:moveTo>
                  <a:pt x="15621" y="0"/>
                </a:moveTo>
                <a:lnTo>
                  <a:pt x="28638" y="0"/>
                </a:lnTo>
                <a:cubicBezTo>
                  <a:pt x="37275" y="0"/>
                  <a:pt x="44259" y="6985"/>
                  <a:pt x="44259" y="15621"/>
                </a:cubicBezTo>
                <a:lnTo>
                  <a:pt x="44259" y="15621"/>
                </a:lnTo>
                <a:cubicBezTo>
                  <a:pt x="44259" y="24194"/>
                  <a:pt x="37275" y="31178"/>
                  <a:pt x="28638" y="31178"/>
                </a:cubicBezTo>
                <a:lnTo>
                  <a:pt x="15621" y="31178"/>
                </a:lnTo>
                <a:cubicBezTo>
                  <a:pt x="6985" y="31178"/>
                  <a:pt x="0" y="24194"/>
                  <a:pt x="0" y="15621"/>
                </a:cubicBezTo>
                <a:lnTo>
                  <a:pt x="0" y="15621"/>
                </a:lnTo>
                <a:cubicBezTo>
                  <a:pt x="0" y="6985"/>
                  <a:pt x="6985" y="0"/>
                  <a:pt x="15621" y="0"/>
                </a:cubicBezTo>
                <a:close/>
              </a:path>
            </a:pathLst>
          </a:custGeom>
          <a:solidFill>
            <a:srgbClr val="FFFFFF">
              <a:alpha val="8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81" name="m-c05_radar-tick-4">
            <a:extLst>
              <a:ext uri="{FF2B5EF4-FFF2-40B4-BE49-F238E27FC236}">
                <a16:creationId xmlns:a16="http://schemas.microsoft.com/office/drawing/2014/main" id="{AA3583F1-C565-E9E1-0AEC-3716119BE5C2}"/>
              </a:ext>
            </a:extLst>
          </p:cNvPr>
          <p:cNvSpPr txBox="1"/>
          <p:nvPr/>
        </p:nvSpPr>
        <p:spPr>
          <a:xfrm>
            <a:off x="5713158" y="3186052"/>
            <a:ext cx="2660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</a:t>
            </a:r>
          </a:p>
        </p:txBody>
      </p:sp>
      <p:sp>
        <p:nvSpPr>
          <p:cNvPr id="1182" name="m-c05_radar-side-bar">
            <a:extLst>
              <a:ext uri="{FF2B5EF4-FFF2-40B4-BE49-F238E27FC236}">
                <a16:creationId xmlns:a16="http://schemas.microsoft.com/office/drawing/2014/main" id="{D7714415-7151-7D0B-84AC-004F8C2B1A59}"/>
              </a:ext>
            </a:extLst>
          </p:cNvPr>
          <p:cNvSpPr/>
          <p:nvPr/>
        </p:nvSpPr>
        <p:spPr>
          <a:xfrm>
            <a:off x="6415088" y="3048444"/>
            <a:ext cx="6509" cy="135382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83" name="m-c05_radar-side-h">
            <a:extLst>
              <a:ext uri="{FF2B5EF4-FFF2-40B4-BE49-F238E27FC236}">
                <a16:creationId xmlns:a16="http://schemas.microsoft.com/office/drawing/2014/main" id="{32CC042C-94F5-6836-3F7D-B717CF67711A}"/>
              </a:ext>
            </a:extLst>
          </p:cNvPr>
          <p:cNvSpPr txBox="1"/>
          <p:nvPr/>
        </p:nvSpPr>
        <p:spPr>
          <a:xfrm>
            <a:off x="6452838" y="3052512"/>
            <a:ext cx="169878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综合评分</a:t>
            </a:r>
          </a:p>
        </p:txBody>
      </p:sp>
      <p:sp>
        <p:nvSpPr>
          <p:cNvPr id="1184" name="m-c05_radar-lg-1">
            <a:extLst>
              <a:ext uri="{FF2B5EF4-FFF2-40B4-BE49-F238E27FC236}">
                <a16:creationId xmlns:a16="http://schemas.microsoft.com/office/drawing/2014/main" id="{A034C386-B3B8-C2DD-75E8-A563F514C78B}"/>
              </a:ext>
            </a:extLst>
          </p:cNvPr>
          <p:cNvSpPr/>
          <p:nvPr/>
        </p:nvSpPr>
        <p:spPr>
          <a:xfrm>
            <a:off x="6456744" y="3129153"/>
            <a:ext cx="26035" cy="13017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85" name="m-c05_radar-lgt-1">
            <a:extLst>
              <a:ext uri="{FF2B5EF4-FFF2-40B4-BE49-F238E27FC236}">
                <a16:creationId xmlns:a16="http://schemas.microsoft.com/office/drawing/2014/main" id="{823CB88C-7EA1-0109-E841-7B84B97CFFB1}"/>
              </a:ext>
            </a:extLst>
          </p:cNvPr>
          <p:cNvSpPr txBox="1"/>
          <p:nvPr/>
        </p:nvSpPr>
        <p:spPr>
          <a:xfrm>
            <a:off x="6493219" y="3115644"/>
            <a:ext cx="85330" cy="37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本公司</a:t>
            </a:r>
          </a:p>
        </p:txBody>
      </p:sp>
      <p:sp>
        <p:nvSpPr>
          <p:cNvPr id="1186" name="m-c05_radar-avg-1">
            <a:extLst>
              <a:ext uri="{FF2B5EF4-FFF2-40B4-BE49-F238E27FC236}">
                <a16:creationId xmlns:a16="http://schemas.microsoft.com/office/drawing/2014/main" id="{0445D4F9-A524-43B5-2B83-5493A79BED29}"/>
              </a:ext>
            </a:extLst>
          </p:cNvPr>
          <p:cNvSpPr txBox="1"/>
          <p:nvPr/>
        </p:nvSpPr>
        <p:spPr>
          <a:xfrm>
            <a:off x="6451432" y="3149994"/>
            <a:ext cx="116142" cy="7745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5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8.3</a:t>
            </a:r>
          </a:p>
        </p:txBody>
      </p:sp>
      <p:sp>
        <p:nvSpPr>
          <p:cNvPr id="1187" name="m-c05_radar-lg-2">
            <a:extLst>
              <a:ext uri="{FF2B5EF4-FFF2-40B4-BE49-F238E27FC236}">
                <a16:creationId xmlns:a16="http://schemas.microsoft.com/office/drawing/2014/main" id="{729D2E0F-04DE-14C0-C19E-5F6AA0781880}"/>
              </a:ext>
            </a:extLst>
          </p:cNvPr>
          <p:cNvSpPr/>
          <p:nvPr/>
        </p:nvSpPr>
        <p:spPr>
          <a:xfrm>
            <a:off x="6758749" y="3129153"/>
            <a:ext cx="26035" cy="13017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88" name="m-c05_radar-lgt-2">
            <a:extLst>
              <a:ext uri="{FF2B5EF4-FFF2-40B4-BE49-F238E27FC236}">
                <a16:creationId xmlns:a16="http://schemas.microsoft.com/office/drawing/2014/main" id="{1BCFB6F6-AC99-9544-D8DB-58FAC17298ED}"/>
              </a:ext>
            </a:extLst>
          </p:cNvPr>
          <p:cNvSpPr txBox="1"/>
          <p:nvPr/>
        </p:nvSpPr>
        <p:spPr>
          <a:xfrm>
            <a:off x="6795225" y="3115644"/>
            <a:ext cx="88428" cy="37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竞品 A</a:t>
            </a:r>
          </a:p>
        </p:txBody>
      </p:sp>
      <p:sp>
        <p:nvSpPr>
          <p:cNvPr id="1189" name="m-c05_radar-avg-2">
            <a:extLst>
              <a:ext uri="{FF2B5EF4-FFF2-40B4-BE49-F238E27FC236}">
                <a16:creationId xmlns:a16="http://schemas.microsoft.com/office/drawing/2014/main" id="{6A1DA527-8986-1212-BE2D-548FE7D05B51}"/>
              </a:ext>
            </a:extLst>
          </p:cNvPr>
          <p:cNvSpPr txBox="1"/>
          <p:nvPr/>
        </p:nvSpPr>
        <p:spPr>
          <a:xfrm>
            <a:off x="6753438" y="3149994"/>
            <a:ext cx="116142" cy="7745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50" b="1" i="0" u="none" strike="noStrike" kern="1200" cap="none" spc="5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7.4</a:t>
            </a:r>
          </a:p>
        </p:txBody>
      </p:sp>
      <p:cxnSp>
        <p:nvCxnSpPr>
          <p:cNvPr id="1190" name="m-c05_radar-div">
            <a:extLst>
              <a:ext uri="{FF2B5EF4-FFF2-40B4-BE49-F238E27FC236}">
                <a16:creationId xmlns:a16="http://schemas.microsoft.com/office/drawing/2014/main" id="{74ED92D5-5D6A-671A-0416-B8777CE68813}"/>
              </a:ext>
            </a:extLst>
          </p:cNvPr>
          <p:cNvCxnSpPr/>
          <p:nvPr/>
        </p:nvCxnSpPr>
        <p:spPr>
          <a:xfrm>
            <a:off x="6415088" y="3254121"/>
            <a:ext cx="731583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91" name="m-c05_radar-rl-1">
            <a:extLst>
              <a:ext uri="{FF2B5EF4-FFF2-40B4-BE49-F238E27FC236}">
                <a16:creationId xmlns:a16="http://schemas.microsoft.com/office/drawing/2014/main" id="{8E228B86-28B5-D4B6-AEAE-E872368C12E7}"/>
              </a:ext>
            </a:extLst>
          </p:cNvPr>
          <p:cNvSpPr txBox="1"/>
          <p:nvPr/>
        </p:nvSpPr>
        <p:spPr>
          <a:xfrm>
            <a:off x="6412510" y="3290079"/>
            <a:ext cx="107850" cy="37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产品性能</a:t>
            </a:r>
          </a:p>
        </p:txBody>
      </p:sp>
      <p:sp>
        <p:nvSpPr>
          <p:cNvPr id="1192" name="m-c05_radar-bg-1-1">
            <a:extLst>
              <a:ext uri="{FF2B5EF4-FFF2-40B4-BE49-F238E27FC236}">
                <a16:creationId xmlns:a16="http://schemas.microsoft.com/office/drawing/2014/main" id="{C933D24B-CC05-8670-BD39-655CB7B0B858}"/>
              </a:ext>
            </a:extLst>
          </p:cNvPr>
          <p:cNvSpPr/>
          <p:nvPr/>
        </p:nvSpPr>
        <p:spPr>
          <a:xfrm>
            <a:off x="6657213" y="3337433"/>
            <a:ext cx="39052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93" name="m-c05_radar-bar-1-1">
            <a:extLst>
              <a:ext uri="{FF2B5EF4-FFF2-40B4-BE49-F238E27FC236}">
                <a16:creationId xmlns:a16="http://schemas.microsoft.com/office/drawing/2014/main" id="{A46F222B-0C2B-13E1-AA29-041B690935D6}"/>
              </a:ext>
            </a:extLst>
          </p:cNvPr>
          <p:cNvSpPr/>
          <p:nvPr/>
        </p:nvSpPr>
        <p:spPr>
          <a:xfrm>
            <a:off x="6657213" y="3337433"/>
            <a:ext cx="359283" cy="13017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94" name="m-c05_radar-bv-1-1">
            <a:extLst>
              <a:ext uri="{FF2B5EF4-FFF2-40B4-BE49-F238E27FC236}">
                <a16:creationId xmlns:a16="http://schemas.microsoft.com/office/drawing/2014/main" id="{7E7416FA-F683-650E-1112-19424CA90ABC}"/>
              </a:ext>
            </a:extLst>
          </p:cNvPr>
          <p:cNvSpPr txBox="1"/>
          <p:nvPr/>
        </p:nvSpPr>
        <p:spPr>
          <a:xfrm>
            <a:off x="7100238" y="3327139"/>
            <a:ext cx="48698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9.2</a:t>
            </a:r>
          </a:p>
        </p:txBody>
      </p:sp>
      <p:sp>
        <p:nvSpPr>
          <p:cNvPr id="1195" name="m-c05_radar-bg-1-2">
            <a:extLst>
              <a:ext uri="{FF2B5EF4-FFF2-40B4-BE49-F238E27FC236}">
                <a16:creationId xmlns:a16="http://schemas.microsoft.com/office/drawing/2014/main" id="{44A5FD9E-8D92-3167-975F-6BC81540FB4A}"/>
              </a:ext>
            </a:extLst>
          </p:cNvPr>
          <p:cNvSpPr/>
          <p:nvPr/>
        </p:nvSpPr>
        <p:spPr>
          <a:xfrm>
            <a:off x="6657213" y="3363468"/>
            <a:ext cx="39052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96" name="m-c05_radar-bar-1-2">
            <a:extLst>
              <a:ext uri="{FF2B5EF4-FFF2-40B4-BE49-F238E27FC236}">
                <a16:creationId xmlns:a16="http://schemas.microsoft.com/office/drawing/2014/main" id="{5C7051D8-A957-51C6-C6C3-36CD1A82F117}"/>
              </a:ext>
            </a:extLst>
          </p:cNvPr>
          <p:cNvSpPr/>
          <p:nvPr/>
        </p:nvSpPr>
        <p:spPr>
          <a:xfrm>
            <a:off x="6657213" y="3363468"/>
            <a:ext cx="312420" cy="13017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97" name="m-c05_radar-bv-1-2">
            <a:extLst>
              <a:ext uri="{FF2B5EF4-FFF2-40B4-BE49-F238E27FC236}">
                <a16:creationId xmlns:a16="http://schemas.microsoft.com/office/drawing/2014/main" id="{EED2E74A-E82D-764A-E24D-B55E8CADCAB7}"/>
              </a:ext>
            </a:extLst>
          </p:cNvPr>
          <p:cNvSpPr txBox="1"/>
          <p:nvPr/>
        </p:nvSpPr>
        <p:spPr>
          <a:xfrm>
            <a:off x="7100238" y="3353174"/>
            <a:ext cx="48698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8.0</a:t>
            </a:r>
          </a:p>
        </p:txBody>
      </p:sp>
      <p:sp>
        <p:nvSpPr>
          <p:cNvPr id="1198" name="m-c05_radar-rl-2">
            <a:extLst>
              <a:ext uri="{FF2B5EF4-FFF2-40B4-BE49-F238E27FC236}">
                <a16:creationId xmlns:a16="http://schemas.microsoft.com/office/drawing/2014/main" id="{7B14BE69-85BE-B009-B7E3-619D392847AA}"/>
              </a:ext>
            </a:extLst>
          </p:cNvPr>
          <p:cNvSpPr txBox="1"/>
          <p:nvPr/>
        </p:nvSpPr>
        <p:spPr>
          <a:xfrm>
            <a:off x="6412510" y="3399426"/>
            <a:ext cx="129980" cy="37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价格竞争力</a:t>
            </a:r>
          </a:p>
        </p:txBody>
      </p:sp>
      <p:sp>
        <p:nvSpPr>
          <p:cNvPr id="1199" name="m-c05_radar-bg-2-1">
            <a:extLst>
              <a:ext uri="{FF2B5EF4-FFF2-40B4-BE49-F238E27FC236}">
                <a16:creationId xmlns:a16="http://schemas.microsoft.com/office/drawing/2014/main" id="{4019044F-914F-8349-E21B-812CCB06B3C5}"/>
              </a:ext>
            </a:extLst>
          </p:cNvPr>
          <p:cNvSpPr/>
          <p:nvPr/>
        </p:nvSpPr>
        <p:spPr>
          <a:xfrm>
            <a:off x="6657213" y="3446780"/>
            <a:ext cx="39052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00" name="m-c05_radar-bar-2-1">
            <a:extLst>
              <a:ext uri="{FF2B5EF4-FFF2-40B4-BE49-F238E27FC236}">
                <a16:creationId xmlns:a16="http://schemas.microsoft.com/office/drawing/2014/main" id="{0B3A5776-C1D4-DA25-E6E0-027863CFA835}"/>
              </a:ext>
            </a:extLst>
          </p:cNvPr>
          <p:cNvSpPr/>
          <p:nvPr/>
        </p:nvSpPr>
        <p:spPr>
          <a:xfrm>
            <a:off x="6657213" y="3446780"/>
            <a:ext cx="288988" cy="13017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01" name="m-c05_radar-bv-2-1">
            <a:extLst>
              <a:ext uri="{FF2B5EF4-FFF2-40B4-BE49-F238E27FC236}">
                <a16:creationId xmlns:a16="http://schemas.microsoft.com/office/drawing/2014/main" id="{EE256802-9E2F-34DB-44F7-F9F21A92C424}"/>
              </a:ext>
            </a:extLst>
          </p:cNvPr>
          <p:cNvSpPr txBox="1"/>
          <p:nvPr/>
        </p:nvSpPr>
        <p:spPr>
          <a:xfrm>
            <a:off x="7100238" y="3436486"/>
            <a:ext cx="48698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7.4</a:t>
            </a:r>
          </a:p>
        </p:txBody>
      </p:sp>
      <p:sp>
        <p:nvSpPr>
          <p:cNvPr id="1202" name="m-c05_radar-bg-2-2">
            <a:extLst>
              <a:ext uri="{FF2B5EF4-FFF2-40B4-BE49-F238E27FC236}">
                <a16:creationId xmlns:a16="http://schemas.microsoft.com/office/drawing/2014/main" id="{13ECEBAC-7397-A8E8-109B-4DC8765241DD}"/>
              </a:ext>
            </a:extLst>
          </p:cNvPr>
          <p:cNvSpPr/>
          <p:nvPr/>
        </p:nvSpPr>
        <p:spPr>
          <a:xfrm>
            <a:off x="6657213" y="3472815"/>
            <a:ext cx="39052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03" name="m-c05_radar-bar-2-2">
            <a:extLst>
              <a:ext uri="{FF2B5EF4-FFF2-40B4-BE49-F238E27FC236}">
                <a16:creationId xmlns:a16="http://schemas.microsoft.com/office/drawing/2014/main" id="{93E0E623-A572-9253-EA09-CF7BB4FDF471}"/>
              </a:ext>
            </a:extLst>
          </p:cNvPr>
          <p:cNvSpPr/>
          <p:nvPr/>
        </p:nvSpPr>
        <p:spPr>
          <a:xfrm>
            <a:off x="6657213" y="3472815"/>
            <a:ext cx="335851" cy="13017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04" name="m-c05_radar-bv-2-2">
            <a:extLst>
              <a:ext uri="{FF2B5EF4-FFF2-40B4-BE49-F238E27FC236}">
                <a16:creationId xmlns:a16="http://schemas.microsoft.com/office/drawing/2014/main" id="{37530EF1-9DE6-F1E8-C292-6D72EAE90A30}"/>
              </a:ext>
            </a:extLst>
          </p:cNvPr>
          <p:cNvSpPr txBox="1"/>
          <p:nvPr/>
        </p:nvSpPr>
        <p:spPr>
          <a:xfrm>
            <a:off x="7100238" y="3462521"/>
            <a:ext cx="48698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8.6</a:t>
            </a:r>
          </a:p>
        </p:txBody>
      </p:sp>
      <p:sp>
        <p:nvSpPr>
          <p:cNvPr id="1205" name="m-c05_radar-rl-3">
            <a:extLst>
              <a:ext uri="{FF2B5EF4-FFF2-40B4-BE49-F238E27FC236}">
                <a16:creationId xmlns:a16="http://schemas.microsoft.com/office/drawing/2014/main" id="{DC2CDAA9-C415-4519-12FA-AB016BD853F5}"/>
              </a:ext>
            </a:extLst>
          </p:cNvPr>
          <p:cNvSpPr txBox="1"/>
          <p:nvPr/>
        </p:nvSpPr>
        <p:spPr>
          <a:xfrm>
            <a:off x="6412510" y="3508773"/>
            <a:ext cx="107850" cy="37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交付速度</a:t>
            </a:r>
          </a:p>
        </p:txBody>
      </p:sp>
      <p:sp>
        <p:nvSpPr>
          <p:cNvPr id="1206" name="m-c05_radar-bg-3-1">
            <a:extLst>
              <a:ext uri="{FF2B5EF4-FFF2-40B4-BE49-F238E27FC236}">
                <a16:creationId xmlns:a16="http://schemas.microsoft.com/office/drawing/2014/main" id="{86634A6B-CACB-AF6E-A2C1-91BFBBCC459C}"/>
              </a:ext>
            </a:extLst>
          </p:cNvPr>
          <p:cNvSpPr/>
          <p:nvPr/>
        </p:nvSpPr>
        <p:spPr>
          <a:xfrm>
            <a:off x="6657213" y="3556127"/>
            <a:ext cx="39052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07" name="m-c05_radar-bar-3-1">
            <a:extLst>
              <a:ext uri="{FF2B5EF4-FFF2-40B4-BE49-F238E27FC236}">
                <a16:creationId xmlns:a16="http://schemas.microsoft.com/office/drawing/2014/main" id="{7A8D4AE1-293A-1924-7ADB-B26C70B2B98C}"/>
              </a:ext>
            </a:extLst>
          </p:cNvPr>
          <p:cNvSpPr/>
          <p:nvPr/>
        </p:nvSpPr>
        <p:spPr>
          <a:xfrm>
            <a:off x="6657213" y="3556127"/>
            <a:ext cx="343662" cy="13017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08" name="m-c05_radar-bv-3-1">
            <a:extLst>
              <a:ext uri="{FF2B5EF4-FFF2-40B4-BE49-F238E27FC236}">
                <a16:creationId xmlns:a16="http://schemas.microsoft.com/office/drawing/2014/main" id="{6CD2D60F-340F-E825-666D-2656465D0B63}"/>
              </a:ext>
            </a:extLst>
          </p:cNvPr>
          <p:cNvSpPr txBox="1"/>
          <p:nvPr/>
        </p:nvSpPr>
        <p:spPr>
          <a:xfrm>
            <a:off x="7100238" y="3545833"/>
            <a:ext cx="48698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8.8</a:t>
            </a:r>
          </a:p>
        </p:txBody>
      </p:sp>
      <p:sp>
        <p:nvSpPr>
          <p:cNvPr id="1209" name="m-c05_radar-bg-3-2">
            <a:extLst>
              <a:ext uri="{FF2B5EF4-FFF2-40B4-BE49-F238E27FC236}">
                <a16:creationId xmlns:a16="http://schemas.microsoft.com/office/drawing/2014/main" id="{CE414B97-FB63-5F81-82D8-9887E379AFA9}"/>
              </a:ext>
            </a:extLst>
          </p:cNvPr>
          <p:cNvSpPr/>
          <p:nvPr/>
        </p:nvSpPr>
        <p:spPr>
          <a:xfrm>
            <a:off x="6657213" y="3582162"/>
            <a:ext cx="39052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10" name="m-c05_radar-bar-3-2">
            <a:extLst>
              <a:ext uri="{FF2B5EF4-FFF2-40B4-BE49-F238E27FC236}">
                <a16:creationId xmlns:a16="http://schemas.microsoft.com/office/drawing/2014/main" id="{8B17D19E-FAF6-3BFC-96B5-217D7F422DCC}"/>
              </a:ext>
            </a:extLst>
          </p:cNvPr>
          <p:cNvSpPr/>
          <p:nvPr/>
        </p:nvSpPr>
        <p:spPr>
          <a:xfrm>
            <a:off x="6657213" y="3582162"/>
            <a:ext cx="249936" cy="13017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11" name="m-c05_radar-bv-3-2">
            <a:extLst>
              <a:ext uri="{FF2B5EF4-FFF2-40B4-BE49-F238E27FC236}">
                <a16:creationId xmlns:a16="http://schemas.microsoft.com/office/drawing/2014/main" id="{BB1CB715-A71C-E700-25A8-0AA16FC0BBC3}"/>
              </a:ext>
            </a:extLst>
          </p:cNvPr>
          <p:cNvSpPr txBox="1"/>
          <p:nvPr/>
        </p:nvSpPr>
        <p:spPr>
          <a:xfrm>
            <a:off x="7100238" y="3571868"/>
            <a:ext cx="48698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6.4</a:t>
            </a:r>
          </a:p>
        </p:txBody>
      </p:sp>
      <p:sp>
        <p:nvSpPr>
          <p:cNvPr id="1212" name="m-c05_radar-rl-4">
            <a:extLst>
              <a:ext uri="{FF2B5EF4-FFF2-40B4-BE49-F238E27FC236}">
                <a16:creationId xmlns:a16="http://schemas.microsoft.com/office/drawing/2014/main" id="{8071254A-20DA-FE25-9B47-42225759B4D5}"/>
              </a:ext>
            </a:extLst>
          </p:cNvPr>
          <p:cNvSpPr txBox="1"/>
          <p:nvPr/>
        </p:nvSpPr>
        <p:spPr>
          <a:xfrm>
            <a:off x="6412510" y="3618120"/>
            <a:ext cx="107850" cy="37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服务响应</a:t>
            </a:r>
          </a:p>
        </p:txBody>
      </p:sp>
      <p:sp>
        <p:nvSpPr>
          <p:cNvPr id="1213" name="m-c05_radar-bg-4-1">
            <a:extLst>
              <a:ext uri="{FF2B5EF4-FFF2-40B4-BE49-F238E27FC236}">
                <a16:creationId xmlns:a16="http://schemas.microsoft.com/office/drawing/2014/main" id="{A3CABF9E-89E5-7B97-43AC-8DF69D5D560E}"/>
              </a:ext>
            </a:extLst>
          </p:cNvPr>
          <p:cNvSpPr/>
          <p:nvPr/>
        </p:nvSpPr>
        <p:spPr>
          <a:xfrm>
            <a:off x="6657213" y="3665474"/>
            <a:ext cx="39052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14" name="m-c05_radar-bar-4-1">
            <a:extLst>
              <a:ext uri="{FF2B5EF4-FFF2-40B4-BE49-F238E27FC236}">
                <a16:creationId xmlns:a16="http://schemas.microsoft.com/office/drawing/2014/main" id="{BF45974B-F4F7-432A-9F59-ACE3E3E0D5AB}"/>
              </a:ext>
            </a:extLst>
          </p:cNvPr>
          <p:cNvSpPr/>
          <p:nvPr/>
        </p:nvSpPr>
        <p:spPr>
          <a:xfrm>
            <a:off x="6657213" y="3665474"/>
            <a:ext cx="351472" cy="13017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15" name="m-c05_radar-bv-4-1">
            <a:extLst>
              <a:ext uri="{FF2B5EF4-FFF2-40B4-BE49-F238E27FC236}">
                <a16:creationId xmlns:a16="http://schemas.microsoft.com/office/drawing/2014/main" id="{D7DE4BE5-EFF6-1069-CD91-9B8D444B538D}"/>
              </a:ext>
            </a:extLst>
          </p:cNvPr>
          <p:cNvSpPr txBox="1"/>
          <p:nvPr/>
        </p:nvSpPr>
        <p:spPr>
          <a:xfrm>
            <a:off x="7100238" y="3655180"/>
            <a:ext cx="48698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9.0</a:t>
            </a:r>
          </a:p>
        </p:txBody>
      </p:sp>
      <p:sp>
        <p:nvSpPr>
          <p:cNvPr id="1216" name="m-c05_radar-bg-4-2">
            <a:extLst>
              <a:ext uri="{FF2B5EF4-FFF2-40B4-BE49-F238E27FC236}">
                <a16:creationId xmlns:a16="http://schemas.microsoft.com/office/drawing/2014/main" id="{37037DE8-5973-2A34-5CF2-086B95054CEF}"/>
              </a:ext>
            </a:extLst>
          </p:cNvPr>
          <p:cNvSpPr/>
          <p:nvPr/>
        </p:nvSpPr>
        <p:spPr>
          <a:xfrm>
            <a:off x="6657213" y="3691509"/>
            <a:ext cx="39052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17" name="m-c05_radar-bar-4-2">
            <a:extLst>
              <a:ext uri="{FF2B5EF4-FFF2-40B4-BE49-F238E27FC236}">
                <a16:creationId xmlns:a16="http://schemas.microsoft.com/office/drawing/2014/main" id="{0EBFBFF3-7209-25AB-DEB2-CF28EBC344AF}"/>
              </a:ext>
            </a:extLst>
          </p:cNvPr>
          <p:cNvSpPr/>
          <p:nvPr/>
        </p:nvSpPr>
        <p:spPr>
          <a:xfrm>
            <a:off x="6657213" y="3691509"/>
            <a:ext cx="281178" cy="13017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18" name="m-c05_radar-bv-4-2">
            <a:extLst>
              <a:ext uri="{FF2B5EF4-FFF2-40B4-BE49-F238E27FC236}">
                <a16:creationId xmlns:a16="http://schemas.microsoft.com/office/drawing/2014/main" id="{697CCAAC-0656-B139-88B5-2302B3D9E6A1}"/>
              </a:ext>
            </a:extLst>
          </p:cNvPr>
          <p:cNvSpPr txBox="1"/>
          <p:nvPr/>
        </p:nvSpPr>
        <p:spPr>
          <a:xfrm>
            <a:off x="7100238" y="3681215"/>
            <a:ext cx="48698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7.2</a:t>
            </a:r>
          </a:p>
        </p:txBody>
      </p:sp>
      <p:sp>
        <p:nvSpPr>
          <p:cNvPr id="1219" name="m-c05_radar-rl-5">
            <a:extLst>
              <a:ext uri="{FF2B5EF4-FFF2-40B4-BE49-F238E27FC236}">
                <a16:creationId xmlns:a16="http://schemas.microsoft.com/office/drawing/2014/main" id="{9574EC81-FD9C-75D8-5DFE-4C1BF403F743}"/>
              </a:ext>
            </a:extLst>
          </p:cNvPr>
          <p:cNvSpPr txBox="1"/>
          <p:nvPr/>
        </p:nvSpPr>
        <p:spPr>
          <a:xfrm>
            <a:off x="6412510" y="3727467"/>
            <a:ext cx="107850" cy="37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生态开放</a:t>
            </a:r>
          </a:p>
        </p:txBody>
      </p:sp>
      <p:sp>
        <p:nvSpPr>
          <p:cNvPr id="1220" name="m-c05_radar-bg-5-1">
            <a:extLst>
              <a:ext uri="{FF2B5EF4-FFF2-40B4-BE49-F238E27FC236}">
                <a16:creationId xmlns:a16="http://schemas.microsoft.com/office/drawing/2014/main" id="{A2CB7D5E-4192-04CA-DB43-5278CB68E76E}"/>
              </a:ext>
            </a:extLst>
          </p:cNvPr>
          <p:cNvSpPr/>
          <p:nvPr/>
        </p:nvSpPr>
        <p:spPr>
          <a:xfrm>
            <a:off x="6657213" y="3774821"/>
            <a:ext cx="39052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21" name="m-c05_radar-bar-5-1">
            <a:extLst>
              <a:ext uri="{FF2B5EF4-FFF2-40B4-BE49-F238E27FC236}">
                <a16:creationId xmlns:a16="http://schemas.microsoft.com/office/drawing/2014/main" id="{B7DE7A93-0DA2-FFCF-A5F3-A53D4C197368}"/>
              </a:ext>
            </a:extLst>
          </p:cNvPr>
          <p:cNvSpPr/>
          <p:nvPr/>
        </p:nvSpPr>
        <p:spPr>
          <a:xfrm>
            <a:off x="6657213" y="3774821"/>
            <a:ext cx="320230" cy="13017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22" name="m-c05_radar-bv-5-1">
            <a:extLst>
              <a:ext uri="{FF2B5EF4-FFF2-40B4-BE49-F238E27FC236}">
                <a16:creationId xmlns:a16="http://schemas.microsoft.com/office/drawing/2014/main" id="{06F5A370-CB74-0AE7-A78E-EB533322D577}"/>
              </a:ext>
            </a:extLst>
          </p:cNvPr>
          <p:cNvSpPr txBox="1"/>
          <p:nvPr/>
        </p:nvSpPr>
        <p:spPr>
          <a:xfrm>
            <a:off x="7100238" y="3764527"/>
            <a:ext cx="48698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8.2</a:t>
            </a:r>
          </a:p>
        </p:txBody>
      </p:sp>
      <p:sp>
        <p:nvSpPr>
          <p:cNvPr id="1223" name="m-c05_radar-bg-5-2">
            <a:extLst>
              <a:ext uri="{FF2B5EF4-FFF2-40B4-BE49-F238E27FC236}">
                <a16:creationId xmlns:a16="http://schemas.microsoft.com/office/drawing/2014/main" id="{24A247A4-6A70-9367-C7DB-0827AB50D5BE}"/>
              </a:ext>
            </a:extLst>
          </p:cNvPr>
          <p:cNvSpPr/>
          <p:nvPr/>
        </p:nvSpPr>
        <p:spPr>
          <a:xfrm>
            <a:off x="6657213" y="3800856"/>
            <a:ext cx="39052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24" name="m-c05_radar-bar-5-2">
            <a:extLst>
              <a:ext uri="{FF2B5EF4-FFF2-40B4-BE49-F238E27FC236}">
                <a16:creationId xmlns:a16="http://schemas.microsoft.com/office/drawing/2014/main" id="{4A26F2B1-0460-80ED-2106-30D7AE0727C2}"/>
              </a:ext>
            </a:extLst>
          </p:cNvPr>
          <p:cNvSpPr/>
          <p:nvPr/>
        </p:nvSpPr>
        <p:spPr>
          <a:xfrm>
            <a:off x="6657213" y="3800856"/>
            <a:ext cx="226504" cy="13017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25" name="m-c05_radar-bv-5-2">
            <a:extLst>
              <a:ext uri="{FF2B5EF4-FFF2-40B4-BE49-F238E27FC236}">
                <a16:creationId xmlns:a16="http://schemas.microsoft.com/office/drawing/2014/main" id="{9B04643B-738B-D0DA-D2CD-A579CFF9B15B}"/>
              </a:ext>
            </a:extLst>
          </p:cNvPr>
          <p:cNvSpPr txBox="1"/>
          <p:nvPr/>
        </p:nvSpPr>
        <p:spPr>
          <a:xfrm>
            <a:off x="7100238" y="3790562"/>
            <a:ext cx="48698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5.8</a:t>
            </a:r>
          </a:p>
        </p:txBody>
      </p:sp>
      <p:sp>
        <p:nvSpPr>
          <p:cNvPr id="1226" name="m-c05_radar-rl-6">
            <a:extLst>
              <a:ext uri="{FF2B5EF4-FFF2-40B4-BE49-F238E27FC236}">
                <a16:creationId xmlns:a16="http://schemas.microsoft.com/office/drawing/2014/main" id="{4AD303D4-BB57-2B6C-7F63-E86B87D5E6C5}"/>
              </a:ext>
            </a:extLst>
          </p:cNvPr>
          <p:cNvSpPr txBox="1"/>
          <p:nvPr/>
        </p:nvSpPr>
        <p:spPr>
          <a:xfrm>
            <a:off x="6412510" y="3836814"/>
            <a:ext cx="107850" cy="37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品牌影响</a:t>
            </a:r>
          </a:p>
        </p:txBody>
      </p:sp>
      <p:sp>
        <p:nvSpPr>
          <p:cNvPr id="1227" name="m-c05_radar-bg-6-1">
            <a:extLst>
              <a:ext uri="{FF2B5EF4-FFF2-40B4-BE49-F238E27FC236}">
                <a16:creationId xmlns:a16="http://schemas.microsoft.com/office/drawing/2014/main" id="{0D94387E-474F-4580-0F78-778FD089F283}"/>
              </a:ext>
            </a:extLst>
          </p:cNvPr>
          <p:cNvSpPr/>
          <p:nvPr/>
        </p:nvSpPr>
        <p:spPr>
          <a:xfrm>
            <a:off x="6657213" y="3884168"/>
            <a:ext cx="39052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28" name="m-c05_radar-bar-6-1">
            <a:extLst>
              <a:ext uri="{FF2B5EF4-FFF2-40B4-BE49-F238E27FC236}">
                <a16:creationId xmlns:a16="http://schemas.microsoft.com/office/drawing/2014/main" id="{A838C686-C1AC-6142-A887-3EC245F8A1FE}"/>
              </a:ext>
            </a:extLst>
          </p:cNvPr>
          <p:cNvSpPr/>
          <p:nvPr/>
        </p:nvSpPr>
        <p:spPr>
          <a:xfrm>
            <a:off x="6657213" y="3884168"/>
            <a:ext cx="273368" cy="13017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29" name="m-c05_radar-bv-6-1">
            <a:extLst>
              <a:ext uri="{FF2B5EF4-FFF2-40B4-BE49-F238E27FC236}">
                <a16:creationId xmlns:a16="http://schemas.microsoft.com/office/drawing/2014/main" id="{23C54435-86E2-7AE9-FCF2-145213A312C2}"/>
              </a:ext>
            </a:extLst>
          </p:cNvPr>
          <p:cNvSpPr txBox="1"/>
          <p:nvPr/>
        </p:nvSpPr>
        <p:spPr>
          <a:xfrm>
            <a:off x="7100238" y="3873874"/>
            <a:ext cx="48698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7.0</a:t>
            </a:r>
          </a:p>
        </p:txBody>
      </p:sp>
      <p:sp>
        <p:nvSpPr>
          <p:cNvPr id="1230" name="m-c05_radar-bg-6-2">
            <a:extLst>
              <a:ext uri="{FF2B5EF4-FFF2-40B4-BE49-F238E27FC236}">
                <a16:creationId xmlns:a16="http://schemas.microsoft.com/office/drawing/2014/main" id="{93E73B90-06B7-CAE3-CB48-978F7199FF6C}"/>
              </a:ext>
            </a:extLst>
          </p:cNvPr>
          <p:cNvSpPr/>
          <p:nvPr/>
        </p:nvSpPr>
        <p:spPr>
          <a:xfrm>
            <a:off x="6657213" y="3910203"/>
            <a:ext cx="39052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31" name="m-c05_radar-bar-6-2">
            <a:extLst>
              <a:ext uri="{FF2B5EF4-FFF2-40B4-BE49-F238E27FC236}">
                <a16:creationId xmlns:a16="http://schemas.microsoft.com/office/drawing/2014/main" id="{B9A1E262-EA14-E87E-32C4-FC1193CA5F9D}"/>
              </a:ext>
            </a:extLst>
          </p:cNvPr>
          <p:cNvSpPr/>
          <p:nvPr/>
        </p:nvSpPr>
        <p:spPr>
          <a:xfrm>
            <a:off x="6657213" y="3910203"/>
            <a:ext cx="328041" cy="13017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32" name="m-c05_radar-bv-6-2">
            <a:extLst>
              <a:ext uri="{FF2B5EF4-FFF2-40B4-BE49-F238E27FC236}">
                <a16:creationId xmlns:a16="http://schemas.microsoft.com/office/drawing/2014/main" id="{2AB31767-D15A-647E-083B-C300A4514023}"/>
              </a:ext>
            </a:extLst>
          </p:cNvPr>
          <p:cNvSpPr txBox="1"/>
          <p:nvPr/>
        </p:nvSpPr>
        <p:spPr>
          <a:xfrm>
            <a:off x="7100238" y="3899909"/>
            <a:ext cx="48698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8.4</a:t>
            </a:r>
          </a:p>
        </p:txBody>
      </p:sp>
      <p:cxnSp>
        <p:nvCxnSpPr>
          <p:cNvPr id="1233" name="m-c05_radar-foot-line">
            <a:extLst>
              <a:ext uri="{FF2B5EF4-FFF2-40B4-BE49-F238E27FC236}">
                <a16:creationId xmlns:a16="http://schemas.microsoft.com/office/drawing/2014/main" id="{B82E1668-6CB2-2D11-F448-8D767A179E88}"/>
              </a:ext>
            </a:extLst>
          </p:cNvPr>
          <p:cNvCxnSpPr/>
          <p:nvPr/>
        </p:nvCxnSpPr>
        <p:spPr>
          <a:xfrm>
            <a:off x="4907661" y="40429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34" name="m-c05_radar-foot-l">
            <a:extLst>
              <a:ext uri="{FF2B5EF4-FFF2-40B4-BE49-F238E27FC236}">
                <a16:creationId xmlns:a16="http://schemas.microsoft.com/office/drawing/2014/main" id="{C6F5A766-0061-DAE6-D179-A6BB12ADBC76}"/>
              </a:ext>
            </a:extLst>
          </p:cNvPr>
          <p:cNvSpPr txBox="1"/>
          <p:nvPr/>
        </p:nvSpPr>
        <p:spPr>
          <a:xfrm>
            <a:off x="4905474" y="4056923"/>
            <a:ext cx="21429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竞品评估 · 六维雷达</a:t>
            </a:r>
          </a:p>
        </p:txBody>
      </p:sp>
      <p:sp>
        <p:nvSpPr>
          <p:cNvPr id="1235" name="m-c05_radar-foot-r">
            <a:extLst>
              <a:ext uri="{FF2B5EF4-FFF2-40B4-BE49-F238E27FC236}">
                <a16:creationId xmlns:a16="http://schemas.microsoft.com/office/drawing/2014/main" id="{95E169C6-E685-728E-2B94-ACEEC5336B04}"/>
              </a:ext>
            </a:extLst>
          </p:cNvPr>
          <p:cNvSpPr txBox="1"/>
          <p:nvPr/>
        </p:nvSpPr>
        <p:spPr>
          <a:xfrm>
            <a:off x="6909909" y="40569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1236" name="mini-card-p16_year_wheel">
            <a:extLst>
              <a:ext uri="{FF2B5EF4-FFF2-40B4-BE49-F238E27FC236}">
                <a16:creationId xmlns:a16="http://schemas.microsoft.com/office/drawing/2014/main" id="{586B6B91-D1D2-7992-5C05-4A08B3A52C51}"/>
              </a:ext>
            </a:extLst>
          </p:cNvPr>
          <p:cNvSpPr/>
          <p:nvPr/>
        </p:nvSpPr>
        <p:spPr>
          <a:xfrm>
            <a:off x="7404100" y="27178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1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1" y="1405890"/>
                </a:lnTo>
                <a:cubicBezTo>
                  <a:pt x="35878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7"/>
                  <a:pt x="35878" y="0"/>
                  <a:pt x="80201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37" name="m-p16_year_wheel-title-bar">
            <a:extLst>
              <a:ext uri="{FF2B5EF4-FFF2-40B4-BE49-F238E27FC236}">
                <a16:creationId xmlns:a16="http://schemas.microsoft.com/office/drawing/2014/main" id="{B918BB18-B9FF-227D-D6D7-144899635F34}"/>
              </a:ext>
            </a:extLst>
          </p:cNvPr>
          <p:cNvSpPr/>
          <p:nvPr/>
        </p:nvSpPr>
        <p:spPr>
          <a:xfrm>
            <a:off x="7523861" y="28167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38" name="m-p16_year_wheel-title-bar-accent">
            <a:extLst>
              <a:ext uri="{FF2B5EF4-FFF2-40B4-BE49-F238E27FC236}">
                <a16:creationId xmlns:a16="http://schemas.microsoft.com/office/drawing/2014/main" id="{3DAF705C-B371-3DEA-81DE-5556258DD124}"/>
              </a:ext>
            </a:extLst>
          </p:cNvPr>
          <p:cNvSpPr/>
          <p:nvPr/>
        </p:nvSpPr>
        <p:spPr>
          <a:xfrm>
            <a:off x="7523861" y="28167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39" name="m-p16_year_wheel-title-cn">
            <a:extLst>
              <a:ext uri="{FF2B5EF4-FFF2-40B4-BE49-F238E27FC236}">
                <a16:creationId xmlns:a16="http://schemas.microsoft.com/office/drawing/2014/main" id="{4BD19710-DA5E-0A9E-1305-D5FDD39F990F}"/>
              </a:ext>
            </a:extLst>
          </p:cNvPr>
          <p:cNvSpPr txBox="1"/>
          <p:nvPr/>
        </p:nvSpPr>
        <p:spPr>
          <a:xfrm>
            <a:off x="7556040" y="2799368"/>
            <a:ext cx="488937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年度经营节奏环</a:t>
            </a:r>
          </a:p>
        </p:txBody>
      </p:sp>
      <p:sp>
        <p:nvSpPr>
          <p:cNvPr id="1240" name="m-p16_year_wheel-title-en">
            <a:extLst>
              <a:ext uri="{FF2B5EF4-FFF2-40B4-BE49-F238E27FC236}">
                <a16:creationId xmlns:a16="http://schemas.microsoft.com/office/drawing/2014/main" id="{05E07E12-F9B3-7689-244F-187701BE1D1C}"/>
              </a:ext>
            </a:extLst>
          </p:cNvPr>
          <p:cNvSpPr txBox="1"/>
          <p:nvPr/>
        </p:nvSpPr>
        <p:spPr>
          <a:xfrm>
            <a:off x="7563330" y="2886650"/>
            <a:ext cx="20307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YEAR WHEEL</a:t>
            </a:r>
          </a:p>
        </p:txBody>
      </p:sp>
      <p:sp>
        <p:nvSpPr>
          <p:cNvPr id="1241" name="m-p16_year_wheel-title-sub">
            <a:extLst>
              <a:ext uri="{FF2B5EF4-FFF2-40B4-BE49-F238E27FC236}">
                <a16:creationId xmlns:a16="http://schemas.microsoft.com/office/drawing/2014/main" id="{3B987081-4946-7979-C5B8-C0C32D1C172B}"/>
              </a:ext>
            </a:extLst>
          </p:cNvPr>
          <p:cNvSpPr txBox="1"/>
          <p:nvPr/>
        </p:nvSpPr>
        <p:spPr>
          <a:xfrm>
            <a:off x="9110356" y="2855792"/>
            <a:ext cx="675999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十二个月分四个季度，每季度一个主题、每月一件必须闭环的事</a:t>
            </a:r>
          </a:p>
        </p:txBody>
      </p:sp>
      <p:sp>
        <p:nvSpPr>
          <p:cNvPr id="1242" name="m-p16_year_wheel-q-1">
            <a:extLst>
              <a:ext uri="{FF2B5EF4-FFF2-40B4-BE49-F238E27FC236}">
                <a16:creationId xmlns:a16="http://schemas.microsoft.com/office/drawing/2014/main" id="{7BFBC685-3F40-8477-0F88-6961F33E10D3}"/>
              </a:ext>
            </a:extLst>
          </p:cNvPr>
          <p:cNvSpPr/>
          <p:nvPr/>
        </p:nvSpPr>
        <p:spPr>
          <a:xfrm>
            <a:off x="8326692" y="3096929"/>
            <a:ext cx="390555" cy="390555"/>
          </a:xfrm>
          <a:custGeom>
            <a:avLst/>
            <a:gdLst/>
            <a:ahLst/>
            <a:cxnLst/>
            <a:rect l="0" t="0" r="r" b="b"/>
            <a:pathLst>
              <a:path w="390555" h="390555">
                <a:moveTo>
                  <a:pt x="25590" y="93"/>
                </a:moveTo>
                <a:cubicBezTo>
                  <a:pt x="219265" y="17873"/>
                  <a:pt x="372682" y="171289"/>
                  <a:pt x="390462" y="364964"/>
                </a:cubicBezTo>
                <a:quadBezTo>
                  <a:pt x="391986" y="388396"/>
                  <a:pt x="368554" y="388777"/>
                </a:quadBezTo>
                <a:lnTo>
                  <a:pt x="266954" y="390555"/>
                </a:lnTo>
                <a:quadBezTo>
                  <a:pt x="243523" y="390936"/>
                  <a:pt x="241490" y="367631"/>
                </a:quadBezTo>
                <a:cubicBezTo>
                  <a:pt x="226060" y="253966"/>
                  <a:pt x="136588" y="164495"/>
                  <a:pt x="22924" y="149064"/>
                </a:cubicBezTo>
                <a:quadBezTo>
                  <a:pt x="-381" y="147032"/>
                  <a:pt x="0" y="123601"/>
                </a:quadBezTo>
                <a:lnTo>
                  <a:pt x="1778" y="22001"/>
                </a:lnTo>
                <a:quadBezTo>
                  <a:pt x="2159" y="-1431"/>
                  <a:pt x="25590" y="93"/>
                </a:quadBezTo>
                <a:close/>
              </a:path>
            </a:pathLst>
          </a:custGeom>
          <a:gradFill rotWithShape="1">
            <a:gsLst>
              <a:gs pos="0">
                <a:srgbClr val="325DA1"/>
              </a:gs>
              <a:gs pos="100000">
                <a:srgbClr val="0B3E8F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43" name="m-p16_year_wheel-qn-1">
            <a:extLst>
              <a:ext uri="{FF2B5EF4-FFF2-40B4-BE49-F238E27FC236}">
                <a16:creationId xmlns:a16="http://schemas.microsoft.com/office/drawing/2014/main" id="{ECDDC3AD-EF7D-3DC5-4A86-E7A89060760D}"/>
              </a:ext>
            </a:extLst>
          </p:cNvPr>
          <p:cNvSpPr txBox="1"/>
          <p:nvPr/>
        </p:nvSpPr>
        <p:spPr>
          <a:xfrm>
            <a:off x="8625287" y="3100538"/>
            <a:ext cx="72273" cy="59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70" b="1" i="0" u="none" strike="noStrike" kern="1200" cap="none" spc="1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Q1</a:t>
            </a:r>
          </a:p>
        </p:txBody>
      </p:sp>
      <p:sp>
        <p:nvSpPr>
          <p:cNvPr id="1244" name="m-p16_year_wheel-qt-1">
            <a:extLst>
              <a:ext uri="{FF2B5EF4-FFF2-40B4-BE49-F238E27FC236}">
                <a16:creationId xmlns:a16="http://schemas.microsoft.com/office/drawing/2014/main" id="{D3A68CF0-B124-69A4-CB66-9B6CDEE56CCB}"/>
              </a:ext>
            </a:extLst>
          </p:cNvPr>
          <p:cNvSpPr txBox="1"/>
          <p:nvPr/>
        </p:nvSpPr>
        <p:spPr>
          <a:xfrm>
            <a:off x="8596922" y="3148240"/>
            <a:ext cx="129003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开局定调</a:t>
            </a:r>
          </a:p>
        </p:txBody>
      </p:sp>
      <p:sp>
        <p:nvSpPr>
          <p:cNvPr id="1245" name="m-p16_year_wheel-q-2">
            <a:extLst>
              <a:ext uri="{FF2B5EF4-FFF2-40B4-BE49-F238E27FC236}">
                <a16:creationId xmlns:a16="http://schemas.microsoft.com/office/drawing/2014/main" id="{793C0652-A739-E6D6-1D38-4864FC58A3AF}"/>
              </a:ext>
            </a:extLst>
          </p:cNvPr>
          <p:cNvSpPr/>
          <p:nvPr/>
        </p:nvSpPr>
        <p:spPr>
          <a:xfrm>
            <a:off x="8326692" y="3510216"/>
            <a:ext cx="390555" cy="390555"/>
          </a:xfrm>
          <a:custGeom>
            <a:avLst/>
            <a:gdLst/>
            <a:ahLst/>
            <a:cxnLst/>
            <a:rect l="0" t="0" r="r" b="b"/>
            <a:pathLst>
              <a:path w="390555" h="390555">
                <a:moveTo>
                  <a:pt x="390462" y="25591"/>
                </a:moveTo>
                <a:cubicBezTo>
                  <a:pt x="372682" y="219266"/>
                  <a:pt x="219265" y="372682"/>
                  <a:pt x="25590" y="390462"/>
                </a:cubicBezTo>
                <a:quadBezTo>
                  <a:pt x="2159" y="391986"/>
                  <a:pt x="1778" y="368554"/>
                </a:quadBezTo>
                <a:lnTo>
                  <a:pt x="0" y="266954"/>
                </a:lnTo>
                <a:quadBezTo>
                  <a:pt x="-381" y="243523"/>
                  <a:pt x="22924" y="241491"/>
                </a:quadBezTo>
                <a:cubicBezTo>
                  <a:pt x="136588" y="226060"/>
                  <a:pt x="226060" y="136588"/>
                  <a:pt x="241490" y="22924"/>
                </a:cubicBezTo>
                <a:quadBezTo>
                  <a:pt x="243523" y="-381"/>
                  <a:pt x="266954" y="0"/>
                </a:quadBezTo>
                <a:lnTo>
                  <a:pt x="368554" y="1778"/>
                </a:lnTo>
                <a:quadBezTo>
                  <a:pt x="391986" y="2159"/>
                  <a:pt x="390462" y="25591"/>
                </a:quadBezTo>
                <a:close/>
              </a:path>
            </a:pathLst>
          </a:custGeom>
          <a:gradFill rotWithShape="1">
            <a:gsLst>
              <a:gs pos="0">
                <a:srgbClr val="3F74B6"/>
              </a:gs>
              <a:gs pos="100000">
                <a:srgbClr val="1B5AA8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46" name="m-p16_year_wheel-qn-2">
            <a:extLst>
              <a:ext uri="{FF2B5EF4-FFF2-40B4-BE49-F238E27FC236}">
                <a16:creationId xmlns:a16="http://schemas.microsoft.com/office/drawing/2014/main" id="{970CFFCB-675F-7BAD-1BEC-D70426236B43}"/>
              </a:ext>
            </a:extLst>
          </p:cNvPr>
          <p:cNvSpPr txBox="1"/>
          <p:nvPr/>
        </p:nvSpPr>
        <p:spPr>
          <a:xfrm>
            <a:off x="8625287" y="3792736"/>
            <a:ext cx="72273" cy="59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70" b="1" i="0" u="none" strike="noStrike" kern="1200" cap="none" spc="15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Q2</a:t>
            </a:r>
          </a:p>
        </p:txBody>
      </p:sp>
      <p:sp>
        <p:nvSpPr>
          <p:cNvPr id="1247" name="m-p16_year_wheel-qt-2">
            <a:extLst>
              <a:ext uri="{FF2B5EF4-FFF2-40B4-BE49-F238E27FC236}">
                <a16:creationId xmlns:a16="http://schemas.microsoft.com/office/drawing/2014/main" id="{A1F05632-B641-4268-8C9B-01FCE69A8ED1}"/>
              </a:ext>
            </a:extLst>
          </p:cNvPr>
          <p:cNvSpPr txBox="1"/>
          <p:nvPr/>
        </p:nvSpPr>
        <p:spPr>
          <a:xfrm>
            <a:off x="8596922" y="3840439"/>
            <a:ext cx="129003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夯实能力</a:t>
            </a:r>
          </a:p>
        </p:txBody>
      </p:sp>
      <p:sp>
        <p:nvSpPr>
          <p:cNvPr id="1248" name="m-p16_year_wheel-q-3">
            <a:extLst>
              <a:ext uri="{FF2B5EF4-FFF2-40B4-BE49-F238E27FC236}">
                <a16:creationId xmlns:a16="http://schemas.microsoft.com/office/drawing/2014/main" id="{9E3F135E-AF9F-0805-F84F-B57083E9CB10}"/>
              </a:ext>
            </a:extLst>
          </p:cNvPr>
          <p:cNvSpPr/>
          <p:nvPr/>
        </p:nvSpPr>
        <p:spPr>
          <a:xfrm>
            <a:off x="7913404" y="3510216"/>
            <a:ext cx="390555" cy="390555"/>
          </a:xfrm>
          <a:custGeom>
            <a:avLst/>
            <a:gdLst/>
            <a:ahLst/>
            <a:cxnLst/>
            <a:rect l="0" t="0" r="r" b="b"/>
            <a:pathLst>
              <a:path w="390555" h="390555">
                <a:moveTo>
                  <a:pt x="364964" y="390462"/>
                </a:moveTo>
                <a:cubicBezTo>
                  <a:pt x="171289" y="372682"/>
                  <a:pt x="17873" y="219266"/>
                  <a:pt x="93" y="25591"/>
                </a:cubicBezTo>
                <a:quadBezTo>
                  <a:pt x="-1431" y="2159"/>
                  <a:pt x="22001" y="1778"/>
                </a:quadBezTo>
                <a:lnTo>
                  <a:pt x="123601" y="0"/>
                </a:lnTo>
                <a:quadBezTo>
                  <a:pt x="147032" y="-381"/>
                  <a:pt x="149064" y="22924"/>
                </a:quadBezTo>
                <a:cubicBezTo>
                  <a:pt x="164495" y="136588"/>
                  <a:pt x="253966" y="226060"/>
                  <a:pt x="367631" y="241491"/>
                </a:cubicBezTo>
                <a:quadBezTo>
                  <a:pt x="390936" y="243523"/>
                  <a:pt x="390555" y="266954"/>
                </a:quadBezTo>
                <a:lnTo>
                  <a:pt x="388777" y="368554"/>
                </a:lnTo>
                <a:quadBezTo>
                  <a:pt x="388396" y="391986"/>
                  <a:pt x="364964" y="390462"/>
                </a:quadBezTo>
                <a:close/>
              </a:path>
            </a:pathLst>
          </a:custGeom>
          <a:gradFill rotWithShape="1">
            <a:gsLst>
              <a:gs pos="0">
                <a:srgbClr val="5999D5"/>
              </a:gs>
              <a:gs pos="100000">
                <a:srgbClr val="3985CD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49" name="m-p16_year_wheel-qn-3">
            <a:extLst>
              <a:ext uri="{FF2B5EF4-FFF2-40B4-BE49-F238E27FC236}">
                <a16:creationId xmlns:a16="http://schemas.microsoft.com/office/drawing/2014/main" id="{2C88FB10-AA22-8015-BDC7-C96CB6E39CAC}"/>
              </a:ext>
            </a:extLst>
          </p:cNvPr>
          <p:cNvSpPr txBox="1"/>
          <p:nvPr/>
        </p:nvSpPr>
        <p:spPr>
          <a:xfrm>
            <a:off x="7933089" y="3792736"/>
            <a:ext cx="72273" cy="59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70" b="1" i="0" u="none" strike="noStrike" kern="1200" cap="none" spc="15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Q3</a:t>
            </a:r>
          </a:p>
        </p:txBody>
      </p:sp>
      <p:sp>
        <p:nvSpPr>
          <p:cNvPr id="1250" name="m-p16_year_wheel-qt-3">
            <a:extLst>
              <a:ext uri="{FF2B5EF4-FFF2-40B4-BE49-F238E27FC236}">
                <a16:creationId xmlns:a16="http://schemas.microsoft.com/office/drawing/2014/main" id="{01C0FE3D-2709-7283-4677-4C08E54AC680}"/>
              </a:ext>
            </a:extLst>
          </p:cNvPr>
          <p:cNvSpPr txBox="1"/>
          <p:nvPr/>
        </p:nvSpPr>
        <p:spPr>
          <a:xfrm>
            <a:off x="7904724" y="3840439"/>
            <a:ext cx="129003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规模冲刺</a:t>
            </a:r>
          </a:p>
        </p:txBody>
      </p:sp>
      <p:sp>
        <p:nvSpPr>
          <p:cNvPr id="1251" name="m-p16_year_wheel-q-4">
            <a:extLst>
              <a:ext uri="{FF2B5EF4-FFF2-40B4-BE49-F238E27FC236}">
                <a16:creationId xmlns:a16="http://schemas.microsoft.com/office/drawing/2014/main" id="{3787039C-09EC-CB6E-C8FC-9BB178103EAE}"/>
              </a:ext>
            </a:extLst>
          </p:cNvPr>
          <p:cNvSpPr/>
          <p:nvPr/>
        </p:nvSpPr>
        <p:spPr>
          <a:xfrm>
            <a:off x="7913404" y="3096929"/>
            <a:ext cx="390555" cy="390555"/>
          </a:xfrm>
          <a:custGeom>
            <a:avLst/>
            <a:gdLst/>
            <a:ahLst/>
            <a:cxnLst/>
            <a:rect l="0" t="0" r="r" b="b"/>
            <a:pathLst>
              <a:path w="390555" h="390555">
                <a:moveTo>
                  <a:pt x="93" y="364964"/>
                </a:moveTo>
                <a:cubicBezTo>
                  <a:pt x="17873" y="171289"/>
                  <a:pt x="171289" y="17873"/>
                  <a:pt x="364964" y="93"/>
                </a:cubicBezTo>
                <a:quadBezTo>
                  <a:pt x="388396" y="-1431"/>
                  <a:pt x="388777" y="22001"/>
                </a:quadBezTo>
                <a:lnTo>
                  <a:pt x="390555" y="123601"/>
                </a:lnTo>
                <a:quadBezTo>
                  <a:pt x="390936" y="147032"/>
                  <a:pt x="367631" y="149064"/>
                </a:quadBezTo>
                <a:cubicBezTo>
                  <a:pt x="253966" y="164495"/>
                  <a:pt x="164495" y="253966"/>
                  <a:pt x="149064" y="367631"/>
                </a:cubicBezTo>
                <a:quadBezTo>
                  <a:pt x="147032" y="390936"/>
                  <a:pt x="123601" y="390555"/>
                </a:quadBezTo>
                <a:lnTo>
                  <a:pt x="22001" y="388777"/>
                </a:lnTo>
                <a:quadBezTo>
                  <a:pt x="-1431" y="388396"/>
                  <a:pt x="93" y="364964"/>
                </a:quadBezTo>
                <a:close/>
              </a:path>
            </a:pathLst>
          </a:custGeom>
          <a:gradFill rotWithShape="1">
            <a:gsLst>
              <a:gs pos="0">
                <a:srgbClr val="6FB1E4"/>
              </a:gs>
              <a:gs pos="100000">
                <a:srgbClr val="54A2DF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52" name="m-p16_year_wheel-qn-4">
            <a:extLst>
              <a:ext uri="{FF2B5EF4-FFF2-40B4-BE49-F238E27FC236}">
                <a16:creationId xmlns:a16="http://schemas.microsoft.com/office/drawing/2014/main" id="{6BFB4B74-92EB-76BE-920A-45B952539EE8}"/>
              </a:ext>
            </a:extLst>
          </p:cNvPr>
          <p:cNvSpPr txBox="1"/>
          <p:nvPr/>
        </p:nvSpPr>
        <p:spPr>
          <a:xfrm>
            <a:off x="7933089" y="3100538"/>
            <a:ext cx="72273" cy="59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70" b="1" i="0" u="none" strike="noStrike" kern="1200" cap="none" spc="15" normalizeH="0" baseline="0" noProof="0">
                <a:ln>
                  <a:noFill/>
                </a:ln>
                <a:solidFill>
                  <a:srgbClr val="54A2D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Q4</a:t>
            </a:r>
          </a:p>
        </p:txBody>
      </p:sp>
      <p:sp>
        <p:nvSpPr>
          <p:cNvPr id="1253" name="m-p16_year_wheel-qt-4">
            <a:extLst>
              <a:ext uri="{FF2B5EF4-FFF2-40B4-BE49-F238E27FC236}">
                <a16:creationId xmlns:a16="http://schemas.microsoft.com/office/drawing/2014/main" id="{AEADE6D0-03D4-D391-FD49-20BA98F6DD28}"/>
              </a:ext>
            </a:extLst>
          </p:cNvPr>
          <p:cNvSpPr txBox="1"/>
          <p:nvPr/>
        </p:nvSpPr>
        <p:spPr>
          <a:xfrm>
            <a:off x="7904724" y="3148240"/>
            <a:ext cx="129003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收口复盘</a:t>
            </a:r>
          </a:p>
        </p:txBody>
      </p:sp>
      <p:sp>
        <p:nvSpPr>
          <p:cNvPr id="1254" name="m-p16_year_wheel-mm-1">
            <a:extLst>
              <a:ext uri="{FF2B5EF4-FFF2-40B4-BE49-F238E27FC236}">
                <a16:creationId xmlns:a16="http://schemas.microsoft.com/office/drawing/2014/main" id="{CF2CD0BF-8B49-EC8E-4453-F488B3FF35B2}"/>
              </a:ext>
            </a:extLst>
          </p:cNvPr>
          <p:cNvSpPr txBox="1"/>
          <p:nvPr/>
        </p:nvSpPr>
        <p:spPr>
          <a:xfrm>
            <a:off x="8370450" y="3139947"/>
            <a:ext cx="62927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8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1月</a:t>
            </a:r>
          </a:p>
        </p:txBody>
      </p:sp>
      <p:sp>
        <p:nvSpPr>
          <p:cNvPr id="1255" name="m-p16_year_wheel-ml-1">
            <a:extLst>
              <a:ext uri="{FF2B5EF4-FFF2-40B4-BE49-F238E27FC236}">
                <a16:creationId xmlns:a16="http://schemas.microsoft.com/office/drawing/2014/main" id="{7CF6D169-9B4D-BC7A-73A8-BA46B0115F36}"/>
              </a:ext>
            </a:extLst>
          </p:cNvPr>
          <p:cNvSpPr txBox="1"/>
          <p:nvPr/>
        </p:nvSpPr>
        <p:spPr>
          <a:xfrm>
            <a:off x="8356482" y="3181831"/>
            <a:ext cx="9086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目标拆解</a:t>
            </a:r>
          </a:p>
        </p:txBody>
      </p:sp>
      <p:cxnSp>
        <p:nvCxnSpPr>
          <p:cNvPr id="1256" name="m-p16_year_wheel-msep-2">
            <a:extLst>
              <a:ext uri="{FF2B5EF4-FFF2-40B4-BE49-F238E27FC236}">
                <a16:creationId xmlns:a16="http://schemas.microsoft.com/office/drawing/2014/main" id="{4306CEA1-D71C-3CEA-E394-6DA120A80F9F}"/>
              </a:ext>
            </a:extLst>
          </p:cNvPr>
          <p:cNvCxnSpPr/>
          <p:nvPr/>
        </p:nvCxnSpPr>
        <p:spPr>
          <a:xfrm flipV="1">
            <a:off x="8446802" y="3156136"/>
            <a:ext cx="66389" cy="114990"/>
          </a:xfrm>
          <a:prstGeom prst="line">
            <a:avLst/>
          </a:prstGeom>
          <a:ln w="2540" cap="rnd">
            <a:solidFill>
              <a:srgbClr val="FFFFF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57" name="m-p16_year_wheel-mm-2">
            <a:extLst>
              <a:ext uri="{FF2B5EF4-FFF2-40B4-BE49-F238E27FC236}">
                <a16:creationId xmlns:a16="http://schemas.microsoft.com/office/drawing/2014/main" id="{2EF0DAA1-531E-17E4-88F1-5937702ADB3B}"/>
              </a:ext>
            </a:extLst>
          </p:cNvPr>
          <p:cNvSpPr txBox="1"/>
          <p:nvPr/>
        </p:nvSpPr>
        <p:spPr>
          <a:xfrm>
            <a:off x="8520424" y="3226535"/>
            <a:ext cx="62927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8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2月</a:t>
            </a:r>
          </a:p>
        </p:txBody>
      </p:sp>
      <p:sp>
        <p:nvSpPr>
          <p:cNvPr id="1258" name="m-p16_year_wheel-ml-2">
            <a:extLst>
              <a:ext uri="{FF2B5EF4-FFF2-40B4-BE49-F238E27FC236}">
                <a16:creationId xmlns:a16="http://schemas.microsoft.com/office/drawing/2014/main" id="{0B4C9741-20C4-F286-72CD-011604B212B4}"/>
              </a:ext>
            </a:extLst>
          </p:cNvPr>
          <p:cNvSpPr txBox="1"/>
          <p:nvPr/>
        </p:nvSpPr>
        <p:spPr>
          <a:xfrm>
            <a:off x="8506456" y="3268419"/>
            <a:ext cx="9086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预算落位</a:t>
            </a:r>
          </a:p>
        </p:txBody>
      </p:sp>
      <p:cxnSp>
        <p:nvCxnSpPr>
          <p:cNvPr id="1259" name="m-p16_year_wheel-msep-3">
            <a:extLst>
              <a:ext uri="{FF2B5EF4-FFF2-40B4-BE49-F238E27FC236}">
                <a16:creationId xmlns:a16="http://schemas.microsoft.com/office/drawing/2014/main" id="{7BE8362A-4CED-D3D1-C7FB-0E9E85FD98FC}"/>
              </a:ext>
            </a:extLst>
          </p:cNvPr>
          <p:cNvCxnSpPr/>
          <p:nvPr/>
        </p:nvCxnSpPr>
        <p:spPr>
          <a:xfrm flipV="1">
            <a:off x="8543049" y="3300984"/>
            <a:ext cx="114990" cy="66389"/>
          </a:xfrm>
          <a:prstGeom prst="line">
            <a:avLst/>
          </a:prstGeom>
          <a:ln w="2540" cap="rnd">
            <a:solidFill>
              <a:srgbClr val="FFFFF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60" name="m-p16_year_wheel-mm-3">
            <a:extLst>
              <a:ext uri="{FF2B5EF4-FFF2-40B4-BE49-F238E27FC236}">
                <a16:creationId xmlns:a16="http://schemas.microsoft.com/office/drawing/2014/main" id="{0C5E4EB4-8847-5425-05BC-4BE35F981A7D}"/>
              </a:ext>
            </a:extLst>
          </p:cNvPr>
          <p:cNvSpPr txBox="1"/>
          <p:nvPr/>
        </p:nvSpPr>
        <p:spPr>
          <a:xfrm>
            <a:off x="8607012" y="3376510"/>
            <a:ext cx="62927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8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3月</a:t>
            </a:r>
          </a:p>
        </p:txBody>
      </p:sp>
      <p:sp>
        <p:nvSpPr>
          <p:cNvPr id="1261" name="m-p16_year_wheel-ml-3">
            <a:extLst>
              <a:ext uri="{FF2B5EF4-FFF2-40B4-BE49-F238E27FC236}">
                <a16:creationId xmlns:a16="http://schemas.microsoft.com/office/drawing/2014/main" id="{35AD86E7-EC5A-C829-6D96-C5DDC448B38A}"/>
              </a:ext>
            </a:extLst>
          </p:cNvPr>
          <p:cNvSpPr txBox="1"/>
          <p:nvPr/>
        </p:nvSpPr>
        <p:spPr>
          <a:xfrm>
            <a:off x="8593044" y="3418393"/>
            <a:ext cx="9086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组织就位</a:t>
            </a:r>
          </a:p>
        </p:txBody>
      </p:sp>
      <p:sp>
        <p:nvSpPr>
          <p:cNvPr id="1262" name="m-p16_year_wheel-mm-4">
            <a:extLst>
              <a:ext uri="{FF2B5EF4-FFF2-40B4-BE49-F238E27FC236}">
                <a16:creationId xmlns:a16="http://schemas.microsoft.com/office/drawing/2014/main" id="{C7A94896-5B0F-C53C-2D24-B44830D36B11}"/>
              </a:ext>
            </a:extLst>
          </p:cNvPr>
          <p:cNvSpPr txBox="1"/>
          <p:nvPr/>
        </p:nvSpPr>
        <p:spPr>
          <a:xfrm>
            <a:off x="8607012" y="3549685"/>
            <a:ext cx="62927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8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4月</a:t>
            </a:r>
          </a:p>
        </p:txBody>
      </p:sp>
      <p:sp>
        <p:nvSpPr>
          <p:cNvPr id="1263" name="m-p16_year_wheel-ml-4">
            <a:extLst>
              <a:ext uri="{FF2B5EF4-FFF2-40B4-BE49-F238E27FC236}">
                <a16:creationId xmlns:a16="http://schemas.microsoft.com/office/drawing/2014/main" id="{F0EE7DEB-5C2B-89D6-F0C8-DFF506AD50C2}"/>
              </a:ext>
            </a:extLst>
          </p:cNvPr>
          <p:cNvSpPr txBox="1"/>
          <p:nvPr/>
        </p:nvSpPr>
        <p:spPr>
          <a:xfrm>
            <a:off x="8593044" y="3591569"/>
            <a:ext cx="9086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产品迭代</a:t>
            </a:r>
          </a:p>
        </p:txBody>
      </p:sp>
      <p:cxnSp>
        <p:nvCxnSpPr>
          <p:cNvPr id="1264" name="m-p16_year_wheel-msep-5">
            <a:extLst>
              <a:ext uri="{FF2B5EF4-FFF2-40B4-BE49-F238E27FC236}">
                <a16:creationId xmlns:a16="http://schemas.microsoft.com/office/drawing/2014/main" id="{D310C73D-4C45-25DD-13BE-42DF76F9E130}"/>
              </a:ext>
            </a:extLst>
          </p:cNvPr>
          <p:cNvCxnSpPr/>
          <p:nvPr/>
        </p:nvCxnSpPr>
        <p:spPr>
          <a:xfrm>
            <a:off x="8543049" y="3630327"/>
            <a:ext cx="114990" cy="66389"/>
          </a:xfrm>
          <a:prstGeom prst="line">
            <a:avLst/>
          </a:prstGeom>
          <a:ln w="2540" cap="rnd">
            <a:solidFill>
              <a:srgbClr val="FFFFF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65" name="m-p16_year_wheel-mm-5">
            <a:extLst>
              <a:ext uri="{FF2B5EF4-FFF2-40B4-BE49-F238E27FC236}">
                <a16:creationId xmlns:a16="http://schemas.microsoft.com/office/drawing/2014/main" id="{C568A72C-17AD-F2C6-832A-ABD3EC85EE2D}"/>
              </a:ext>
            </a:extLst>
          </p:cNvPr>
          <p:cNvSpPr txBox="1"/>
          <p:nvPr/>
        </p:nvSpPr>
        <p:spPr>
          <a:xfrm>
            <a:off x="8520424" y="3699660"/>
            <a:ext cx="62927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8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5月</a:t>
            </a:r>
          </a:p>
        </p:txBody>
      </p:sp>
      <p:sp>
        <p:nvSpPr>
          <p:cNvPr id="1266" name="m-p16_year_wheel-ml-5">
            <a:extLst>
              <a:ext uri="{FF2B5EF4-FFF2-40B4-BE49-F238E27FC236}">
                <a16:creationId xmlns:a16="http://schemas.microsoft.com/office/drawing/2014/main" id="{79D40308-46EC-2793-55DC-C07B4598F1C7}"/>
              </a:ext>
            </a:extLst>
          </p:cNvPr>
          <p:cNvSpPr txBox="1"/>
          <p:nvPr/>
        </p:nvSpPr>
        <p:spPr>
          <a:xfrm>
            <a:off x="8506456" y="3741544"/>
            <a:ext cx="9086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流程固化</a:t>
            </a:r>
          </a:p>
        </p:txBody>
      </p:sp>
      <p:cxnSp>
        <p:nvCxnSpPr>
          <p:cNvPr id="1267" name="m-p16_year_wheel-msep-6">
            <a:extLst>
              <a:ext uri="{FF2B5EF4-FFF2-40B4-BE49-F238E27FC236}">
                <a16:creationId xmlns:a16="http://schemas.microsoft.com/office/drawing/2014/main" id="{986AA291-DDB2-20A6-F988-136F8FB7C10A}"/>
              </a:ext>
            </a:extLst>
          </p:cNvPr>
          <p:cNvCxnSpPr/>
          <p:nvPr/>
        </p:nvCxnSpPr>
        <p:spPr>
          <a:xfrm>
            <a:off x="8446802" y="3726574"/>
            <a:ext cx="66389" cy="114990"/>
          </a:xfrm>
          <a:prstGeom prst="line">
            <a:avLst/>
          </a:prstGeom>
          <a:ln w="2540" cap="rnd">
            <a:solidFill>
              <a:srgbClr val="FFFFF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68" name="m-p16_year_wheel-mm-6">
            <a:extLst>
              <a:ext uri="{FF2B5EF4-FFF2-40B4-BE49-F238E27FC236}">
                <a16:creationId xmlns:a16="http://schemas.microsoft.com/office/drawing/2014/main" id="{456901FA-2D8C-CDF5-E4C7-FBD8E5C7D2A6}"/>
              </a:ext>
            </a:extLst>
          </p:cNvPr>
          <p:cNvSpPr txBox="1"/>
          <p:nvPr/>
        </p:nvSpPr>
        <p:spPr>
          <a:xfrm>
            <a:off x="8370450" y="3786248"/>
            <a:ext cx="62927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8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6月</a:t>
            </a:r>
          </a:p>
        </p:txBody>
      </p:sp>
      <p:sp>
        <p:nvSpPr>
          <p:cNvPr id="1269" name="m-p16_year_wheel-ml-6">
            <a:extLst>
              <a:ext uri="{FF2B5EF4-FFF2-40B4-BE49-F238E27FC236}">
                <a16:creationId xmlns:a16="http://schemas.microsoft.com/office/drawing/2014/main" id="{DD715C30-D555-4FA1-4F7C-A16029668FF1}"/>
              </a:ext>
            </a:extLst>
          </p:cNvPr>
          <p:cNvSpPr txBox="1"/>
          <p:nvPr/>
        </p:nvSpPr>
        <p:spPr>
          <a:xfrm>
            <a:off x="8356482" y="3828131"/>
            <a:ext cx="9086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人才补齐</a:t>
            </a:r>
          </a:p>
        </p:txBody>
      </p:sp>
      <p:sp>
        <p:nvSpPr>
          <p:cNvPr id="1270" name="m-p16_year_wheel-mm-7">
            <a:extLst>
              <a:ext uri="{FF2B5EF4-FFF2-40B4-BE49-F238E27FC236}">
                <a16:creationId xmlns:a16="http://schemas.microsoft.com/office/drawing/2014/main" id="{4092CBBE-A887-4991-554E-B32883E201CE}"/>
              </a:ext>
            </a:extLst>
          </p:cNvPr>
          <p:cNvSpPr txBox="1"/>
          <p:nvPr/>
        </p:nvSpPr>
        <p:spPr>
          <a:xfrm>
            <a:off x="8197274" y="3786248"/>
            <a:ext cx="62927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8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7月</a:t>
            </a:r>
          </a:p>
        </p:txBody>
      </p:sp>
      <p:sp>
        <p:nvSpPr>
          <p:cNvPr id="1271" name="m-p16_year_wheel-ml-7">
            <a:extLst>
              <a:ext uri="{FF2B5EF4-FFF2-40B4-BE49-F238E27FC236}">
                <a16:creationId xmlns:a16="http://schemas.microsoft.com/office/drawing/2014/main" id="{0B0575A6-FF3D-9FA6-1C63-0B6B68AE9DFE}"/>
              </a:ext>
            </a:extLst>
          </p:cNvPr>
          <p:cNvSpPr txBox="1"/>
          <p:nvPr/>
        </p:nvSpPr>
        <p:spPr>
          <a:xfrm>
            <a:off x="8183306" y="3828131"/>
            <a:ext cx="9086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渠道扩张</a:t>
            </a:r>
          </a:p>
        </p:txBody>
      </p:sp>
      <p:cxnSp>
        <p:nvCxnSpPr>
          <p:cNvPr id="1272" name="m-p16_year_wheel-msep-8">
            <a:extLst>
              <a:ext uri="{FF2B5EF4-FFF2-40B4-BE49-F238E27FC236}">
                <a16:creationId xmlns:a16="http://schemas.microsoft.com/office/drawing/2014/main" id="{0CA9F7BA-1CC3-1749-9070-46536B714516}"/>
              </a:ext>
            </a:extLst>
          </p:cNvPr>
          <p:cNvCxnSpPr/>
          <p:nvPr/>
        </p:nvCxnSpPr>
        <p:spPr>
          <a:xfrm flipH="1">
            <a:off x="8117459" y="3726574"/>
            <a:ext cx="66389" cy="114990"/>
          </a:xfrm>
          <a:prstGeom prst="line">
            <a:avLst/>
          </a:prstGeom>
          <a:ln w="2540" cap="rnd">
            <a:solidFill>
              <a:srgbClr val="FFFFF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73" name="m-p16_year_wheel-mm-8">
            <a:extLst>
              <a:ext uri="{FF2B5EF4-FFF2-40B4-BE49-F238E27FC236}">
                <a16:creationId xmlns:a16="http://schemas.microsoft.com/office/drawing/2014/main" id="{A3698D4E-45AE-E37D-E515-60AA36CDD536}"/>
              </a:ext>
            </a:extLst>
          </p:cNvPr>
          <p:cNvSpPr txBox="1"/>
          <p:nvPr/>
        </p:nvSpPr>
        <p:spPr>
          <a:xfrm>
            <a:off x="8047299" y="3699660"/>
            <a:ext cx="62927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8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8月</a:t>
            </a:r>
          </a:p>
        </p:txBody>
      </p:sp>
      <p:sp>
        <p:nvSpPr>
          <p:cNvPr id="1274" name="m-p16_year_wheel-ml-8">
            <a:extLst>
              <a:ext uri="{FF2B5EF4-FFF2-40B4-BE49-F238E27FC236}">
                <a16:creationId xmlns:a16="http://schemas.microsoft.com/office/drawing/2014/main" id="{4806AA98-1707-048D-BF75-E00D710A2E9B}"/>
              </a:ext>
            </a:extLst>
          </p:cNvPr>
          <p:cNvSpPr txBox="1"/>
          <p:nvPr/>
        </p:nvSpPr>
        <p:spPr>
          <a:xfrm>
            <a:off x="8033332" y="3741544"/>
            <a:ext cx="9086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大促冲刺</a:t>
            </a:r>
          </a:p>
        </p:txBody>
      </p:sp>
      <p:cxnSp>
        <p:nvCxnSpPr>
          <p:cNvPr id="1275" name="m-p16_year_wheel-msep-9">
            <a:extLst>
              <a:ext uri="{FF2B5EF4-FFF2-40B4-BE49-F238E27FC236}">
                <a16:creationId xmlns:a16="http://schemas.microsoft.com/office/drawing/2014/main" id="{9C5ACBF2-C691-45F1-622C-CED350DEED34}"/>
              </a:ext>
            </a:extLst>
          </p:cNvPr>
          <p:cNvCxnSpPr/>
          <p:nvPr/>
        </p:nvCxnSpPr>
        <p:spPr>
          <a:xfrm flipH="1">
            <a:off x="7972611" y="3630327"/>
            <a:ext cx="114990" cy="66389"/>
          </a:xfrm>
          <a:prstGeom prst="line">
            <a:avLst/>
          </a:prstGeom>
          <a:ln w="2540" cap="rnd">
            <a:solidFill>
              <a:srgbClr val="FFFFF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76" name="m-p16_year_wheel-mm-9">
            <a:extLst>
              <a:ext uri="{FF2B5EF4-FFF2-40B4-BE49-F238E27FC236}">
                <a16:creationId xmlns:a16="http://schemas.microsoft.com/office/drawing/2014/main" id="{D4F68097-A340-BC0B-76E6-5CF9627C7614}"/>
              </a:ext>
            </a:extLst>
          </p:cNvPr>
          <p:cNvSpPr txBox="1"/>
          <p:nvPr/>
        </p:nvSpPr>
        <p:spPr>
          <a:xfrm>
            <a:off x="7960711" y="3549685"/>
            <a:ext cx="62927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8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9月</a:t>
            </a:r>
          </a:p>
        </p:txBody>
      </p:sp>
      <p:sp>
        <p:nvSpPr>
          <p:cNvPr id="1277" name="m-p16_year_wheel-ml-9">
            <a:extLst>
              <a:ext uri="{FF2B5EF4-FFF2-40B4-BE49-F238E27FC236}">
                <a16:creationId xmlns:a16="http://schemas.microsoft.com/office/drawing/2014/main" id="{6BE01FEC-41F1-F67D-8908-23B1669715BA}"/>
              </a:ext>
            </a:extLst>
          </p:cNvPr>
          <p:cNvSpPr txBox="1"/>
          <p:nvPr/>
        </p:nvSpPr>
        <p:spPr>
          <a:xfrm>
            <a:off x="7946744" y="3591569"/>
            <a:ext cx="9086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交付提速</a:t>
            </a:r>
          </a:p>
        </p:txBody>
      </p:sp>
      <p:sp>
        <p:nvSpPr>
          <p:cNvPr id="1278" name="m-p16_year_wheel-mm-10">
            <a:extLst>
              <a:ext uri="{FF2B5EF4-FFF2-40B4-BE49-F238E27FC236}">
                <a16:creationId xmlns:a16="http://schemas.microsoft.com/office/drawing/2014/main" id="{12E51779-45BD-C4EC-1F18-1E8867138C68}"/>
              </a:ext>
            </a:extLst>
          </p:cNvPr>
          <p:cNvSpPr txBox="1"/>
          <p:nvPr/>
        </p:nvSpPr>
        <p:spPr>
          <a:xfrm>
            <a:off x="7953265" y="3376510"/>
            <a:ext cx="77819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8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10月</a:t>
            </a:r>
          </a:p>
        </p:txBody>
      </p:sp>
      <p:sp>
        <p:nvSpPr>
          <p:cNvPr id="1279" name="m-p16_year_wheel-ml-10">
            <a:extLst>
              <a:ext uri="{FF2B5EF4-FFF2-40B4-BE49-F238E27FC236}">
                <a16:creationId xmlns:a16="http://schemas.microsoft.com/office/drawing/2014/main" id="{4CE7A632-ADDA-383A-CBF7-2E0AF4B6465C}"/>
              </a:ext>
            </a:extLst>
          </p:cNvPr>
          <p:cNvSpPr txBox="1"/>
          <p:nvPr/>
        </p:nvSpPr>
        <p:spPr>
          <a:xfrm>
            <a:off x="7946744" y="3418393"/>
            <a:ext cx="9086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回款清收</a:t>
            </a:r>
          </a:p>
        </p:txBody>
      </p:sp>
      <p:cxnSp>
        <p:nvCxnSpPr>
          <p:cNvPr id="1280" name="m-p16_year_wheel-msep-11">
            <a:extLst>
              <a:ext uri="{FF2B5EF4-FFF2-40B4-BE49-F238E27FC236}">
                <a16:creationId xmlns:a16="http://schemas.microsoft.com/office/drawing/2014/main" id="{6751A8E0-7709-1F60-C830-122E8DFF8CC3}"/>
              </a:ext>
            </a:extLst>
          </p:cNvPr>
          <p:cNvCxnSpPr/>
          <p:nvPr/>
        </p:nvCxnSpPr>
        <p:spPr>
          <a:xfrm flipH="1" flipV="1">
            <a:off x="7972611" y="3300984"/>
            <a:ext cx="114990" cy="66389"/>
          </a:xfrm>
          <a:prstGeom prst="line">
            <a:avLst/>
          </a:prstGeom>
          <a:ln w="2540" cap="rnd">
            <a:solidFill>
              <a:srgbClr val="FFFFF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1" name="m-p16_year_wheel-mm-11">
            <a:extLst>
              <a:ext uri="{FF2B5EF4-FFF2-40B4-BE49-F238E27FC236}">
                <a16:creationId xmlns:a16="http://schemas.microsoft.com/office/drawing/2014/main" id="{28C49E9F-02E3-F073-0F34-0556593487F0}"/>
              </a:ext>
            </a:extLst>
          </p:cNvPr>
          <p:cNvSpPr txBox="1"/>
          <p:nvPr/>
        </p:nvSpPr>
        <p:spPr>
          <a:xfrm>
            <a:off x="8039853" y="3226535"/>
            <a:ext cx="77819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8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11月</a:t>
            </a:r>
          </a:p>
        </p:txBody>
      </p:sp>
      <p:sp>
        <p:nvSpPr>
          <p:cNvPr id="1282" name="m-p16_year_wheel-ml-11">
            <a:extLst>
              <a:ext uri="{FF2B5EF4-FFF2-40B4-BE49-F238E27FC236}">
                <a16:creationId xmlns:a16="http://schemas.microsoft.com/office/drawing/2014/main" id="{C9C3E6FD-AAE6-F088-373C-2EBBB4656811}"/>
              </a:ext>
            </a:extLst>
          </p:cNvPr>
          <p:cNvSpPr txBox="1"/>
          <p:nvPr/>
        </p:nvSpPr>
        <p:spPr>
          <a:xfrm>
            <a:off x="8033332" y="3268419"/>
            <a:ext cx="9086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年度复盘</a:t>
            </a:r>
          </a:p>
        </p:txBody>
      </p:sp>
      <p:cxnSp>
        <p:nvCxnSpPr>
          <p:cNvPr id="1283" name="m-p16_year_wheel-msep-12">
            <a:extLst>
              <a:ext uri="{FF2B5EF4-FFF2-40B4-BE49-F238E27FC236}">
                <a16:creationId xmlns:a16="http://schemas.microsoft.com/office/drawing/2014/main" id="{3FAC9313-E39C-6208-ECE7-12AB849C89BD}"/>
              </a:ext>
            </a:extLst>
          </p:cNvPr>
          <p:cNvCxnSpPr/>
          <p:nvPr/>
        </p:nvCxnSpPr>
        <p:spPr>
          <a:xfrm flipH="1" flipV="1">
            <a:off x="8117459" y="3156136"/>
            <a:ext cx="66389" cy="114990"/>
          </a:xfrm>
          <a:prstGeom prst="line">
            <a:avLst/>
          </a:prstGeom>
          <a:ln w="2540" cap="rnd">
            <a:solidFill>
              <a:srgbClr val="FFFFF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4" name="m-p16_year_wheel-mm-12">
            <a:extLst>
              <a:ext uri="{FF2B5EF4-FFF2-40B4-BE49-F238E27FC236}">
                <a16:creationId xmlns:a16="http://schemas.microsoft.com/office/drawing/2014/main" id="{8B9ED882-563C-222A-5378-4713A2B66952}"/>
              </a:ext>
            </a:extLst>
          </p:cNvPr>
          <p:cNvSpPr txBox="1"/>
          <p:nvPr/>
        </p:nvSpPr>
        <p:spPr>
          <a:xfrm>
            <a:off x="8189828" y="3139947"/>
            <a:ext cx="77819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8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12月</a:t>
            </a:r>
          </a:p>
        </p:txBody>
      </p:sp>
      <p:sp>
        <p:nvSpPr>
          <p:cNvPr id="1285" name="m-p16_year_wheel-ml-12">
            <a:extLst>
              <a:ext uri="{FF2B5EF4-FFF2-40B4-BE49-F238E27FC236}">
                <a16:creationId xmlns:a16="http://schemas.microsoft.com/office/drawing/2014/main" id="{7DF988DA-9071-2764-CA4E-8D322BBDCF90}"/>
              </a:ext>
            </a:extLst>
          </p:cNvPr>
          <p:cNvSpPr txBox="1"/>
          <p:nvPr/>
        </p:nvSpPr>
        <p:spPr>
          <a:xfrm>
            <a:off x="8183306" y="3181831"/>
            <a:ext cx="9086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明年规划</a:t>
            </a:r>
          </a:p>
        </p:txBody>
      </p:sp>
      <p:sp>
        <p:nvSpPr>
          <p:cNvPr id="1286" name="m-p16_year_wheel-core">
            <a:extLst>
              <a:ext uri="{FF2B5EF4-FFF2-40B4-BE49-F238E27FC236}">
                <a16:creationId xmlns:a16="http://schemas.microsoft.com/office/drawing/2014/main" id="{C38FFF48-688A-D6A6-002C-F05406C9743A}"/>
              </a:ext>
            </a:extLst>
          </p:cNvPr>
          <p:cNvSpPr/>
          <p:nvPr/>
        </p:nvSpPr>
        <p:spPr>
          <a:xfrm>
            <a:off x="8081010" y="3264535"/>
            <a:ext cx="468630" cy="46863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87" name="m-p16_year_wheel-core-ring">
            <a:extLst>
              <a:ext uri="{FF2B5EF4-FFF2-40B4-BE49-F238E27FC236}">
                <a16:creationId xmlns:a16="http://schemas.microsoft.com/office/drawing/2014/main" id="{DE2C7794-6F5D-8AAE-3191-AFD242F52E21}"/>
              </a:ext>
            </a:extLst>
          </p:cNvPr>
          <p:cNvSpPr/>
          <p:nvPr/>
        </p:nvSpPr>
        <p:spPr>
          <a:xfrm>
            <a:off x="8099234" y="3282760"/>
            <a:ext cx="432181" cy="432181"/>
          </a:xfrm>
          <a:prstGeom prst="ellipse">
            <a:avLst/>
          </a:prstGeom>
          <a:noFill/>
          <a:ln w="2540" cap="rnd">
            <a:solidFill>
              <a:srgbClr val="0B3E8F">
                <a:alpha val="14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88" name="m-p16_year_wheel-icon-calendar">
            <a:extLst>
              <a:ext uri="{FF2B5EF4-FFF2-40B4-BE49-F238E27FC236}">
                <a16:creationId xmlns:a16="http://schemas.microsoft.com/office/drawing/2014/main" id="{39F8646E-F786-4C8E-39AF-8B90A558968A}"/>
              </a:ext>
            </a:extLst>
          </p:cNvPr>
          <p:cNvSpPr/>
          <p:nvPr/>
        </p:nvSpPr>
        <p:spPr>
          <a:xfrm>
            <a:off x="8300085" y="3413824"/>
            <a:ext cx="30480" cy="33020"/>
          </a:xfrm>
          <a:custGeom>
            <a:avLst/>
            <a:gdLst/>
            <a:ahLst/>
            <a:cxnLst/>
            <a:rect l="0" t="0" r="r" b="b"/>
            <a:pathLst>
              <a:path w="30480" h="33020">
                <a:moveTo>
                  <a:pt x="0" y="5778"/>
                </a:moveTo>
                <a:lnTo>
                  <a:pt x="30480" y="5778"/>
                </a:lnTo>
                <a:lnTo>
                  <a:pt x="30480" y="33020"/>
                </a:lnTo>
                <a:lnTo>
                  <a:pt x="0" y="33020"/>
                </a:lnTo>
                <a:close/>
                <a:moveTo>
                  <a:pt x="0" y="14034"/>
                </a:moveTo>
                <a:lnTo>
                  <a:pt x="30480" y="14034"/>
                </a:lnTo>
                <a:moveTo>
                  <a:pt x="8255" y="0"/>
                </a:moveTo>
                <a:lnTo>
                  <a:pt x="8255" y="8255"/>
                </a:lnTo>
                <a:moveTo>
                  <a:pt x="22225" y="0"/>
                </a:moveTo>
                <a:lnTo>
                  <a:pt x="22225" y="8255"/>
                </a:lnTo>
              </a:path>
            </a:pathLst>
          </a:custGeom>
          <a:noFill/>
          <a:ln w="273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89" name="m-p16_year_wheel-core-y">
            <a:extLst>
              <a:ext uri="{FF2B5EF4-FFF2-40B4-BE49-F238E27FC236}">
                <a16:creationId xmlns:a16="http://schemas.microsoft.com/office/drawing/2014/main" id="{94988171-FD0E-28E8-8EEE-81C1509A7C96}"/>
              </a:ext>
            </a:extLst>
          </p:cNvPr>
          <p:cNvSpPr txBox="1"/>
          <p:nvPr/>
        </p:nvSpPr>
        <p:spPr>
          <a:xfrm>
            <a:off x="8220193" y="3441130"/>
            <a:ext cx="190264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2026</a:t>
            </a:r>
          </a:p>
        </p:txBody>
      </p:sp>
      <p:sp>
        <p:nvSpPr>
          <p:cNvPr id="1290" name="m-p16_year_wheel-core-t">
            <a:extLst>
              <a:ext uri="{FF2B5EF4-FFF2-40B4-BE49-F238E27FC236}">
                <a16:creationId xmlns:a16="http://schemas.microsoft.com/office/drawing/2014/main" id="{0285E035-B0A5-165F-D90E-022E4AC970B9}"/>
              </a:ext>
            </a:extLst>
          </p:cNvPr>
          <p:cNvSpPr txBox="1"/>
          <p:nvPr/>
        </p:nvSpPr>
        <p:spPr>
          <a:xfrm>
            <a:off x="8248220" y="3525581"/>
            <a:ext cx="134210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26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经营节奏</a:t>
            </a:r>
          </a:p>
        </p:txBody>
      </p:sp>
      <p:sp>
        <p:nvSpPr>
          <p:cNvPr id="1291" name="m-p16_year_wheel-core-p">
            <a:extLst>
              <a:ext uri="{FF2B5EF4-FFF2-40B4-BE49-F238E27FC236}">
                <a16:creationId xmlns:a16="http://schemas.microsoft.com/office/drawing/2014/main" id="{B6CE559E-27E3-EC48-7A09-0CE2076927D2}"/>
              </a:ext>
            </a:extLst>
          </p:cNvPr>
          <p:cNvSpPr txBox="1"/>
          <p:nvPr/>
        </p:nvSpPr>
        <p:spPr>
          <a:xfrm>
            <a:off x="8238034" y="3577075"/>
            <a:ext cx="154583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6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每月一件必闭环</a:t>
            </a:r>
          </a:p>
        </p:txBody>
      </p:sp>
      <p:sp>
        <p:nvSpPr>
          <p:cNvPr id="1292" name="m-p16_year_wheel-dir-arrow">
            <a:extLst>
              <a:ext uri="{FF2B5EF4-FFF2-40B4-BE49-F238E27FC236}">
                <a16:creationId xmlns:a16="http://schemas.microsoft.com/office/drawing/2014/main" id="{E714BA60-F35F-05B8-C147-B935226946AD}"/>
              </a:ext>
            </a:extLst>
          </p:cNvPr>
          <p:cNvSpPr/>
          <p:nvPr/>
        </p:nvSpPr>
        <p:spPr>
          <a:xfrm>
            <a:off x="8361258" y="3051439"/>
            <a:ext cx="259733" cy="127934"/>
          </a:xfrm>
          <a:custGeom>
            <a:avLst/>
            <a:gdLst/>
            <a:ahLst/>
            <a:cxnLst/>
            <a:rect l="0" t="0" r="r" b="b"/>
            <a:pathLst>
              <a:path w="259733" h="127934">
                <a:moveTo>
                  <a:pt x="6328" y="54"/>
                </a:moveTo>
                <a:cubicBezTo>
                  <a:pt x="92688" y="10150"/>
                  <a:pt x="174285" y="45012"/>
                  <a:pt x="241278" y="100447"/>
                </a:cubicBezTo>
                <a:lnTo>
                  <a:pt x="247120" y="93462"/>
                </a:lnTo>
                <a:quadBezTo>
                  <a:pt x="249596" y="90414"/>
                  <a:pt x="251882" y="97907"/>
                </a:quadBezTo>
                <a:lnTo>
                  <a:pt x="259185" y="121593"/>
                </a:lnTo>
                <a:quadBezTo>
                  <a:pt x="261534" y="129022"/>
                  <a:pt x="253851" y="127752"/>
                </a:quadBezTo>
                <a:lnTo>
                  <a:pt x="230737" y="123815"/>
                </a:lnTo>
                <a:quadBezTo>
                  <a:pt x="223053" y="122545"/>
                  <a:pt x="225530" y="119497"/>
                </a:quadBezTo>
                <a:lnTo>
                  <a:pt x="231308" y="112512"/>
                </a:lnTo>
                <a:cubicBezTo>
                  <a:pt x="166729" y="58982"/>
                  <a:pt x="87989" y="25327"/>
                  <a:pt x="4677" y="15611"/>
                </a:cubicBezTo>
                <a:quadBezTo>
                  <a:pt x="-467" y="15040"/>
                  <a:pt x="41" y="9833"/>
                </a:quadBezTo>
                <a:lnTo>
                  <a:pt x="613" y="4626"/>
                </a:lnTo>
                <a:quadBezTo>
                  <a:pt x="1121" y="-518"/>
                  <a:pt x="6328" y="54"/>
                </a:quadBezTo>
                <a:close/>
              </a:path>
            </a:pathLst>
          </a:custGeom>
          <a:solidFill>
            <a:srgbClr val="1B5AA8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93" name="m-p16_year_wheel-side-bar">
            <a:extLst>
              <a:ext uri="{FF2B5EF4-FFF2-40B4-BE49-F238E27FC236}">
                <a16:creationId xmlns:a16="http://schemas.microsoft.com/office/drawing/2014/main" id="{87FE3364-E18C-7FC4-5CBE-8FB19FF4A499}"/>
              </a:ext>
            </a:extLst>
          </p:cNvPr>
          <p:cNvSpPr/>
          <p:nvPr/>
        </p:nvSpPr>
        <p:spPr>
          <a:xfrm>
            <a:off x="8862060" y="3038030"/>
            <a:ext cx="6509" cy="109347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94" name="m-p16_year_wheel-side-h">
            <a:extLst>
              <a:ext uri="{FF2B5EF4-FFF2-40B4-BE49-F238E27FC236}">
                <a16:creationId xmlns:a16="http://schemas.microsoft.com/office/drawing/2014/main" id="{04335873-BE9F-7884-E72A-264DB36F8853}"/>
              </a:ext>
            </a:extLst>
          </p:cNvPr>
          <p:cNvSpPr txBox="1"/>
          <p:nvPr/>
        </p:nvSpPr>
        <p:spPr>
          <a:xfrm>
            <a:off x="8894604" y="3039495"/>
            <a:ext cx="169878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季度主题</a:t>
            </a:r>
          </a:p>
        </p:txBody>
      </p:sp>
      <p:sp>
        <p:nvSpPr>
          <p:cNvPr id="1295" name="m-p16_year_wheel-side-p">
            <a:extLst>
              <a:ext uri="{FF2B5EF4-FFF2-40B4-BE49-F238E27FC236}">
                <a16:creationId xmlns:a16="http://schemas.microsoft.com/office/drawing/2014/main" id="{BD8BFBB9-F0D6-782E-CAC1-EABB032515A7}"/>
              </a:ext>
            </a:extLst>
          </p:cNvPr>
          <p:cNvSpPr txBox="1"/>
          <p:nvPr/>
        </p:nvSpPr>
        <p:spPr>
          <a:xfrm>
            <a:off x="8895775" y="3095812"/>
            <a:ext cx="276817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四个季度的重心与交付物</a:t>
            </a:r>
          </a:p>
        </p:txBody>
      </p:sp>
      <p:sp>
        <p:nvSpPr>
          <p:cNvPr id="1296" name="m-p16_year_wheel-qc-1">
            <a:extLst>
              <a:ext uri="{FF2B5EF4-FFF2-40B4-BE49-F238E27FC236}">
                <a16:creationId xmlns:a16="http://schemas.microsoft.com/office/drawing/2014/main" id="{5E912BF0-B07F-BC93-5811-07D6BA8553ED}"/>
              </a:ext>
            </a:extLst>
          </p:cNvPr>
          <p:cNvSpPr/>
          <p:nvPr/>
        </p:nvSpPr>
        <p:spPr>
          <a:xfrm>
            <a:off x="8862060" y="3189034"/>
            <a:ext cx="846138" cy="164020"/>
          </a:xfrm>
          <a:custGeom>
            <a:avLst/>
            <a:gdLst/>
            <a:ahLst/>
            <a:cxnLst/>
            <a:rect l="0" t="0" r="r" b="b"/>
            <a:pathLst>
              <a:path w="846138" h="164020">
                <a:moveTo>
                  <a:pt x="23432" y="0"/>
                </a:moveTo>
                <a:lnTo>
                  <a:pt x="822706" y="0"/>
                </a:lnTo>
                <a:cubicBezTo>
                  <a:pt x="835660" y="0"/>
                  <a:pt x="846138" y="10478"/>
                  <a:pt x="846138" y="23431"/>
                </a:cubicBezTo>
                <a:lnTo>
                  <a:pt x="846138" y="140589"/>
                </a:lnTo>
                <a:cubicBezTo>
                  <a:pt x="846138" y="153543"/>
                  <a:pt x="835660" y="164020"/>
                  <a:pt x="822706" y="164020"/>
                </a:cubicBezTo>
                <a:lnTo>
                  <a:pt x="23432" y="164020"/>
                </a:lnTo>
                <a:cubicBezTo>
                  <a:pt x="10478" y="164020"/>
                  <a:pt x="0" y="153543"/>
                  <a:pt x="0" y="140589"/>
                </a:cubicBezTo>
                <a:lnTo>
                  <a:pt x="0" y="23431"/>
                </a:lnTo>
                <a:cubicBezTo>
                  <a:pt x="0" y="10478"/>
                  <a:pt x="10478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97" name="m-p16_year_wheel-qcb-1">
            <a:extLst>
              <a:ext uri="{FF2B5EF4-FFF2-40B4-BE49-F238E27FC236}">
                <a16:creationId xmlns:a16="http://schemas.microsoft.com/office/drawing/2014/main" id="{67C8B002-DB42-259E-3642-F87F80A10F4F}"/>
              </a:ext>
            </a:extLst>
          </p:cNvPr>
          <p:cNvSpPr/>
          <p:nvPr/>
        </p:nvSpPr>
        <p:spPr>
          <a:xfrm>
            <a:off x="8862060" y="3189034"/>
            <a:ext cx="6477" cy="164020"/>
          </a:xfrm>
          <a:custGeom>
            <a:avLst/>
            <a:gdLst/>
            <a:ahLst/>
            <a:cxnLst/>
            <a:rect l="0" t="0" r="r" b="b"/>
            <a:pathLst>
              <a:path w="6477" h="164020">
                <a:moveTo>
                  <a:pt x="3238" y="0"/>
                </a:moveTo>
                <a:lnTo>
                  <a:pt x="3238" y="0"/>
                </a:lnTo>
                <a:cubicBezTo>
                  <a:pt x="5080" y="0"/>
                  <a:pt x="6477" y="1461"/>
                  <a:pt x="6477" y="3239"/>
                </a:cubicBezTo>
                <a:lnTo>
                  <a:pt x="6477" y="160782"/>
                </a:lnTo>
                <a:cubicBezTo>
                  <a:pt x="6477" y="162560"/>
                  <a:pt x="5080" y="164020"/>
                  <a:pt x="3238" y="164020"/>
                </a:cubicBezTo>
                <a:lnTo>
                  <a:pt x="3238" y="164020"/>
                </a:lnTo>
                <a:cubicBezTo>
                  <a:pt x="1461" y="164020"/>
                  <a:pt x="0" y="162560"/>
                  <a:pt x="0" y="160782"/>
                </a:cubicBezTo>
                <a:lnTo>
                  <a:pt x="0" y="3239"/>
                </a:lnTo>
                <a:cubicBezTo>
                  <a:pt x="0" y="1461"/>
                  <a:pt x="1461" y="0"/>
                  <a:pt x="3238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98" name="m-p16_year_wheel-qcc-1">
            <a:extLst>
              <a:ext uri="{FF2B5EF4-FFF2-40B4-BE49-F238E27FC236}">
                <a16:creationId xmlns:a16="http://schemas.microsoft.com/office/drawing/2014/main" id="{5FEC45EC-0E98-A7A9-9907-1B2516721E91}"/>
              </a:ext>
            </a:extLst>
          </p:cNvPr>
          <p:cNvSpPr/>
          <p:nvPr/>
        </p:nvSpPr>
        <p:spPr>
          <a:xfrm>
            <a:off x="8895906" y="3233293"/>
            <a:ext cx="72898" cy="72898"/>
          </a:xfrm>
          <a:prstGeom prst="ellipse">
            <a:avLst/>
          </a:pr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99" name="m-p16_year_wheel-qcn-1">
            <a:extLst>
              <a:ext uri="{FF2B5EF4-FFF2-40B4-BE49-F238E27FC236}">
                <a16:creationId xmlns:a16="http://schemas.microsoft.com/office/drawing/2014/main" id="{AB3CE8FE-0E58-216E-0422-3D0B43502C34}"/>
              </a:ext>
            </a:extLst>
          </p:cNvPr>
          <p:cNvSpPr txBox="1"/>
          <p:nvPr/>
        </p:nvSpPr>
        <p:spPr>
          <a:xfrm>
            <a:off x="8903963" y="3246395"/>
            <a:ext cx="56782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6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Q1</a:t>
            </a:r>
          </a:p>
        </p:txBody>
      </p:sp>
      <p:sp>
        <p:nvSpPr>
          <p:cNvPr id="1300" name="m-p16_year_wheel-icon-flag">
            <a:extLst>
              <a:ext uri="{FF2B5EF4-FFF2-40B4-BE49-F238E27FC236}">
                <a16:creationId xmlns:a16="http://schemas.microsoft.com/office/drawing/2014/main" id="{D72064C0-558B-C7D5-2C51-8C57643B0AE0}"/>
              </a:ext>
            </a:extLst>
          </p:cNvPr>
          <p:cNvSpPr/>
          <p:nvPr/>
        </p:nvSpPr>
        <p:spPr>
          <a:xfrm>
            <a:off x="9007221" y="3243136"/>
            <a:ext cx="13525" cy="23114"/>
          </a:xfrm>
          <a:custGeom>
            <a:avLst/>
            <a:gdLst/>
            <a:ahLst/>
            <a:cxnLst/>
            <a:rect l="0" t="0" r="r" b="b"/>
            <a:pathLst>
              <a:path w="13525" h="23114">
                <a:moveTo>
                  <a:pt x="0" y="23114"/>
                </a:moveTo>
                <a:lnTo>
                  <a:pt x="0" y="0"/>
                </a:lnTo>
                <a:moveTo>
                  <a:pt x="0" y="1143"/>
                </a:moveTo>
                <a:lnTo>
                  <a:pt x="13525" y="1143"/>
                </a:lnTo>
                <a:lnTo>
                  <a:pt x="11239" y="5651"/>
                </a:lnTo>
                <a:lnTo>
                  <a:pt x="13525" y="10160"/>
                </a:lnTo>
                <a:lnTo>
                  <a:pt x="0" y="10160"/>
                </a:lnTo>
              </a:path>
            </a:pathLst>
          </a:custGeom>
          <a:noFill/>
          <a:ln w="260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01" name="m-p16_year_wheel-qct-1">
            <a:extLst>
              <a:ext uri="{FF2B5EF4-FFF2-40B4-BE49-F238E27FC236}">
                <a16:creationId xmlns:a16="http://schemas.microsoft.com/office/drawing/2014/main" id="{1C5C2B47-96F0-DEE7-F988-B1E2CFE41137}"/>
              </a:ext>
            </a:extLst>
          </p:cNvPr>
          <p:cNvSpPr txBox="1"/>
          <p:nvPr/>
        </p:nvSpPr>
        <p:spPr>
          <a:xfrm>
            <a:off x="9051282" y="3229166"/>
            <a:ext cx="149701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1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开局定调</a:t>
            </a:r>
          </a:p>
        </p:txBody>
      </p:sp>
      <p:sp>
        <p:nvSpPr>
          <p:cNvPr id="1302" name="m-p16_year_wheel-qcp-1">
            <a:extLst>
              <a:ext uri="{FF2B5EF4-FFF2-40B4-BE49-F238E27FC236}">
                <a16:creationId xmlns:a16="http://schemas.microsoft.com/office/drawing/2014/main" id="{B66BE005-1874-D9A1-5B4E-A3C2C0286FDF}"/>
              </a:ext>
            </a:extLst>
          </p:cNvPr>
          <p:cNvSpPr txBox="1"/>
          <p:nvPr/>
        </p:nvSpPr>
        <p:spPr>
          <a:xfrm>
            <a:off x="9012933" y="3283264"/>
            <a:ext cx="230214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目标拆解与资源就位</a:t>
            </a:r>
          </a:p>
        </p:txBody>
      </p:sp>
      <p:sp>
        <p:nvSpPr>
          <p:cNvPr id="1303" name="m-p16_year_wheel-qcm-1">
            <a:extLst>
              <a:ext uri="{FF2B5EF4-FFF2-40B4-BE49-F238E27FC236}">
                <a16:creationId xmlns:a16="http://schemas.microsoft.com/office/drawing/2014/main" id="{FC870485-1F9E-1F68-40B5-F1C33871B224}"/>
              </a:ext>
            </a:extLst>
          </p:cNvPr>
          <p:cNvSpPr txBox="1"/>
          <p:nvPr/>
        </p:nvSpPr>
        <p:spPr>
          <a:xfrm>
            <a:off x="9407337" y="3288891"/>
            <a:ext cx="27701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目标拆解、预算落位、组织就位</a:t>
            </a:r>
          </a:p>
        </p:txBody>
      </p:sp>
      <p:sp>
        <p:nvSpPr>
          <p:cNvPr id="1304" name="m-p16_year_wheel-qc-2">
            <a:extLst>
              <a:ext uri="{FF2B5EF4-FFF2-40B4-BE49-F238E27FC236}">
                <a16:creationId xmlns:a16="http://schemas.microsoft.com/office/drawing/2014/main" id="{C8C46F21-6EE3-EE70-2EA5-3A4F431E0E47}"/>
              </a:ext>
            </a:extLst>
          </p:cNvPr>
          <p:cNvSpPr/>
          <p:nvPr/>
        </p:nvSpPr>
        <p:spPr>
          <a:xfrm>
            <a:off x="8862060" y="3379089"/>
            <a:ext cx="846138" cy="164021"/>
          </a:xfrm>
          <a:custGeom>
            <a:avLst/>
            <a:gdLst/>
            <a:ahLst/>
            <a:cxnLst/>
            <a:rect l="0" t="0" r="r" b="b"/>
            <a:pathLst>
              <a:path w="846138" h="164021">
                <a:moveTo>
                  <a:pt x="23432" y="0"/>
                </a:moveTo>
                <a:lnTo>
                  <a:pt x="822706" y="0"/>
                </a:lnTo>
                <a:cubicBezTo>
                  <a:pt x="835660" y="0"/>
                  <a:pt x="846138" y="10477"/>
                  <a:pt x="846138" y="23432"/>
                </a:cubicBezTo>
                <a:lnTo>
                  <a:pt x="846138" y="140589"/>
                </a:lnTo>
                <a:cubicBezTo>
                  <a:pt x="846138" y="153543"/>
                  <a:pt x="835660" y="164021"/>
                  <a:pt x="822706" y="164021"/>
                </a:cubicBezTo>
                <a:lnTo>
                  <a:pt x="23432" y="164021"/>
                </a:lnTo>
                <a:cubicBezTo>
                  <a:pt x="10478" y="164021"/>
                  <a:pt x="0" y="153543"/>
                  <a:pt x="0" y="140589"/>
                </a:cubicBezTo>
                <a:lnTo>
                  <a:pt x="0" y="23432"/>
                </a:lnTo>
                <a:cubicBezTo>
                  <a:pt x="0" y="10477"/>
                  <a:pt x="10478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05" name="m-p16_year_wheel-qcb-2">
            <a:extLst>
              <a:ext uri="{FF2B5EF4-FFF2-40B4-BE49-F238E27FC236}">
                <a16:creationId xmlns:a16="http://schemas.microsoft.com/office/drawing/2014/main" id="{7D026A4B-1570-DB98-2542-165CB86AF987}"/>
              </a:ext>
            </a:extLst>
          </p:cNvPr>
          <p:cNvSpPr/>
          <p:nvPr/>
        </p:nvSpPr>
        <p:spPr>
          <a:xfrm>
            <a:off x="8862060" y="3379089"/>
            <a:ext cx="6477" cy="164021"/>
          </a:xfrm>
          <a:custGeom>
            <a:avLst/>
            <a:gdLst/>
            <a:ahLst/>
            <a:cxnLst/>
            <a:rect l="0" t="0" r="r" b="b"/>
            <a:pathLst>
              <a:path w="6477" h="164021">
                <a:moveTo>
                  <a:pt x="3238" y="0"/>
                </a:moveTo>
                <a:lnTo>
                  <a:pt x="3238" y="0"/>
                </a:lnTo>
                <a:cubicBezTo>
                  <a:pt x="5080" y="0"/>
                  <a:pt x="6477" y="1461"/>
                  <a:pt x="6477" y="3238"/>
                </a:cubicBezTo>
                <a:lnTo>
                  <a:pt x="6477" y="160782"/>
                </a:lnTo>
                <a:cubicBezTo>
                  <a:pt x="6477" y="162560"/>
                  <a:pt x="5080" y="164021"/>
                  <a:pt x="3238" y="164021"/>
                </a:cubicBezTo>
                <a:lnTo>
                  <a:pt x="3238" y="164021"/>
                </a:lnTo>
                <a:cubicBezTo>
                  <a:pt x="1461" y="164021"/>
                  <a:pt x="0" y="162560"/>
                  <a:pt x="0" y="160782"/>
                </a:cubicBezTo>
                <a:lnTo>
                  <a:pt x="0" y="3238"/>
                </a:lnTo>
                <a:cubicBezTo>
                  <a:pt x="0" y="1461"/>
                  <a:pt x="1461" y="0"/>
                  <a:pt x="3238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06" name="m-p16_year_wheel-qcc-2">
            <a:extLst>
              <a:ext uri="{FF2B5EF4-FFF2-40B4-BE49-F238E27FC236}">
                <a16:creationId xmlns:a16="http://schemas.microsoft.com/office/drawing/2014/main" id="{325103EB-B952-D068-EEC9-BC3E657FE53B}"/>
              </a:ext>
            </a:extLst>
          </p:cNvPr>
          <p:cNvSpPr/>
          <p:nvPr/>
        </p:nvSpPr>
        <p:spPr>
          <a:xfrm>
            <a:off x="8895906" y="3423348"/>
            <a:ext cx="72898" cy="72898"/>
          </a:xfrm>
          <a:prstGeom prst="ellipse">
            <a:avLst/>
          </a:pr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07" name="m-p16_year_wheel-qcn-2">
            <a:extLst>
              <a:ext uri="{FF2B5EF4-FFF2-40B4-BE49-F238E27FC236}">
                <a16:creationId xmlns:a16="http://schemas.microsoft.com/office/drawing/2014/main" id="{221DBE92-B9DD-4D5B-E64D-D1A6F6129F52}"/>
              </a:ext>
            </a:extLst>
          </p:cNvPr>
          <p:cNvSpPr txBox="1"/>
          <p:nvPr/>
        </p:nvSpPr>
        <p:spPr>
          <a:xfrm>
            <a:off x="8903963" y="3436451"/>
            <a:ext cx="56782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6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Q2</a:t>
            </a:r>
          </a:p>
        </p:txBody>
      </p:sp>
      <p:sp>
        <p:nvSpPr>
          <p:cNvPr id="1308" name="m-p16_year_wheel-icon-tools">
            <a:extLst>
              <a:ext uri="{FF2B5EF4-FFF2-40B4-BE49-F238E27FC236}">
                <a16:creationId xmlns:a16="http://schemas.microsoft.com/office/drawing/2014/main" id="{F09A54EB-DCF6-772E-5DA6-F21613A1907A}"/>
              </a:ext>
            </a:extLst>
          </p:cNvPr>
          <p:cNvSpPr/>
          <p:nvPr/>
        </p:nvSpPr>
        <p:spPr>
          <a:xfrm>
            <a:off x="9004946" y="3432810"/>
            <a:ext cx="20055" cy="19812"/>
          </a:xfrm>
          <a:custGeom>
            <a:avLst/>
            <a:gdLst/>
            <a:ahLst/>
            <a:cxnLst/>
            <a:rect l="0" t="0" r="r" b="b"/>
            <a:pathLst>
              <a:path w="20055" h="19812">
                <a:moveTo>
                  <a:pt x="3672" y="635"/>
                </a:moveTo>
                <a:lnTo>
                  <a:pt x="7926" y="4890"/>
                </a:lnTo>
                <a:lnTo>
                  <a:pt x="4815" y="8001"/>
                </a:lnTo>
                <a:lnTo>
                  <a:pt x="560" y="3747"/>
                </a:lnTo>
                <a:cubicBezTo>
                  <a:pt x="-456" y="5842"/>
                  <a:pt x="-75" y="8382"/>
                  <a:pt x="1576" y="10097"/>
                </a:cubicBezTo>
                <a:cubicBezTo>
                  <a:pt x="3227" y="11811"/>
                  <a:pt x="5704" y="12319"/>
                  <a:pt x="7926" y="11367"/>
                </a:cubicBezTo>
                <a:lnTo>
                  <a:pt x="16372" y="19812"/>
                </a:lnTo>
                <a:lnTo>
                  <a:pt x="20055" y="16129"/>
                </a:lnTo>
                <a:lnTo>
                  <a:pt x="11546" y="7684"/>
                </a:lnTo>
                <a:cubicBezTo>
                  <a:pt x="12435" y="5525"/>
                  <a:pt x="11863" y="2985"/>
                  <a:pt x="10085" y="1397"/>
                </a:cubicBezTo>
                <a:cubicBezTo>
                  <a:pt x="8307" y="-127"/>
                  <a:pt x="5767" y="-444"/>
                  <a:pt x="3672" y="635"/>
                </a:cubicBezTo>
                <a:close/>
              </a:path>
            </a:pathLst>
          </a:custGeom>
          <a:noFill/>
          <a:ln w="2604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09" name="m-p16_year_wheel-qct-2">
            <a:extLst>
              <a:ext uri="{FF2B5EF4-FFF2-40B4-BE49-F238E27FC236}">
                <a16:creationId xmlns:a16="http://schemas.microsoft.com/office/drawing/2014/main" id="{C999DCE4-BA9D-9DE0-12C6-985C70C17CC5}"/>
              </a:ext>
            </a:extLst>
          </p:cNvPr>
          <p:cNvSpPr txBox="1"/>
          <p:nvPr/>
        </p:nvSpPr>
        <p:spPr>
          <a:xfrm>
            <a:off x="9051282" y="3419222"/>
            <a:ext cx="149701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1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夯实能力</a:t>
            </a:r>
          </a:p>
        </p:txBody>
      </p:sp>
      <p:sp>
        <p:nvSpPr>
          <p:cNvPr id="1310" name="m-p16_year_wheel-qcp-2">
            <a:extLst>
              <a:ext uri="{FF2B5EF4-FFF2-40B4-BE49-F238E27FC236}">
                <a16:creationId xmlns:a16="http://schemas.microsoft.com/office/drawing/2014/main" id="{97097E91-7650-9329-9485-F83D0126F77A}"/>
              </a:ext>
            </a:extLst>
          </p:cNvPr>
          <p:cNvSpPr txBox="1"/>
          <p:nvPr/>
        </p:nvSpPr>
        <p:spPr>
          <a:xfrm>
            <a:off x="9012933" y="3473319"/>
            <a:ext cx="230214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产品与交付能力补齐</a:t>
            </a:r>
          </a:p>
        </p:txBody>
      </p:sp>
      <p:sp>
        <p:nvSpPr>
          <p:cNvPr id="1311" name="m-p16_year_wheel-qcm-2">
            <a:extLst>
              <a:ext uri="{FF2B5EF4-FFF2-40B4-BE49-F238E27FC236}">
                <a16:creationId xmlns:a16="http://schemas.microsoft.com/office/drawing/2014/main" id="{40D888B9-D143-7826-825F-770D772A2D41}"/>
              </a:ext>
            </a:extLst>
          </p:cNvPr>
          <p:cNvSpPr txBox="1"/>
          <p:nvPr/>
        </p:nvSpPr>
        <p:spPr>
          <a:xfrm>
            <a:off x="9407337" y="3478946"/>
            <a:ext cx="27701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产品迭代、流程固化、人才补齐</a:t>
            </a:r>
          </a:p>
        </p:txBody>
      </p:sp>
      <p:sp>
        <p:nvSpPr>
          <p:cNvPr id="1312" name="m-p16_year_wheel-qc-3">
            <a:extLst>
              <a:ext uri="{FF2B5EF4-FFF2-40B4-BE49-F238E27FC236}">
                <a16:creationId xmlns:a16="http://schemas.microsoft.com/office/drawing/2014/main" id="{AD35B0ED-245C-BBDB-D4D1-3F446A10EF3A}"/>
              </a:ext>
            </a:extLst>
          </p:cNvPr>
          <p:cNvSpPr/>
          <p:nvPr/>
        </p:nvSpPr>
        <p:spPr>
          <a:xfrm>
            <a:off x="8862060" y="3569145"/>
            <a:ext cx="846138" cy="164020"/>
          </a:xfrm>
          <a:custGeom>
            <a:avLst/>
            <a:gdLst/>
            <a:ahLst/>
            <a:cxnLst/>
            <a:rect l="0" t="0" r="r" b="b"/>
            <a:pathLst>
              <a:path w="846138" h="164020">
                <a:moveTo>
                  <a:pt x="23432" y="0"/>
                </a:moveTo>
                <a:lnTo>
                  <a:pt x="822706" y="0"/>
                </a:lnTo>
                <a:cubicBezTo>
                  <a:pt x="835660" y="0"/>
                  <a:pt x="846138" y="10477"/>
                  <a:pt x="846138" y="23431"/>
                </a:cubicBezTo>
                <a:lnTo>
                  <a:pt x="846138" y="140589"/>
                </a:lnTo>
                <a:cubicBezTo>
                  <a:pt x="846138" y="153543"/>
                  <a:pt x="835660" y="164020"/>
                  <a:pt x="822706" y="164020"/>
                </a:cubicBezTo>
                <a:lnTo>
                  <a:pt x="23432" y="164020"/>
                </a:lnTo>
                <a:cubicBezTo>
                  <a:pt x="10478" y="164020"/>
                  <a:pt x="0" y="153543"/>
                  <a:pt x="0" y="140589"/>
                </a:cubicBezTo>
                <a:lnTo>
                  <a:pt x="0" y="23431"/>
                </a:lnTo>
                <a:cubicBezTo>
                  <a:pt x="0" y="10477"/>
                  <a:pt x="10478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13" name="m-p16_year_wheel-qcb-3">
            <a:extLst>
              <a:ext uri="{FF2B5EF4-FFF2-40B4-BE49-F238E27FC236}">
                <a16:creationId xmlns:a16="http://schemas.microsoft.com/office/drawing/2014/main" id="{A04CAD34-6D4B-3234-AD1E-A965EF538DD3}"/>
              </a:ext>
            </a:extLst>
          </p:cNvPr>
          <p:cNvSpPr/>
          <p:nvPr/>
        </p:nvSpPr>
        <p:spPr>
          <a:xfrm>
            <a:off x="8862060" y="3569145"/>
            <a:ext cx="6477" cy="164020"/>
          </a:xfrm>
          <a:custGeom>
            <a:avLst/>
            <a:gdLst/>
            <a:ahLst/>
            <a:cxnLst/>
            <a:rect l="0" t="0" r="r" b="b"/>
            <a:pathLst>
              <a:path w="6477" h="164020">
                <a:moveTo>
                  <a:pt x="3238" y="0"/>
                </a:moveTo>
                <a:lnTo>
                  <a:pt x="3238" y="0"/>
                </a:lnTo>
                <a:cubicBezTo>
                  <a:pt x="5080" y="0"/>
                  <a:pt x="6477" y="1460"/>
                  <a:pt x="6477" y="3238"/>
                </a:cubicBezTo>
                <a:lnTo>
                  <a:pt x="6477" y="160782"/>
                </a:lnTo>
                <a:cubicBezTo>
                  <a:pt x="6477" y="162560"/>
                  <a:pt x="5080" y="164020"/>
                  <a:pt x="3238" y="164020"/>
                </a:cubicBezTo>
                <a:lnTo>
                  <a:pt x="3238" y="164020"/>
                </a:lnTo>
                <a:cubicBezTo>
                  <a:pt x="1461" y="164020"/>
                  <a:pt x="0" y="162560"/>
                  <a:pt x="0" y="160782"/>
                </a:cubicBezTo>
                <a:lnTo>
                  <a:pt x="0" y="3238"/>
                </a:lnTo>
                <a:cubicBezTo>
                  <a:pt x="0" y="1460"/>
                  <a:pt x="1461" y="0"/>
                  <a:pt x="3238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14" name="m-p16_year_wheel-qcc-3">
            <a:extLst>
              <a:ext uri="{FF2B5EF4-FFF2-40B4-BE49-F238E27FC236}">
                <a16:creationId xmlns:a16="http://schemas.microsoft.com/office/drawing/2014/main" id="{A0E68C5F-52B9-D8E5-489A-C3657D5B8A48}"/>
              </a:ext>
            </a:extLst>
          </p:cNvPr>
          <p:cNvSpPr/>
          <p:nvPr/>
        </p:nvSpPr>
        <p:spPr>
          <a:xfrm>
            <a:off x="8895906" y="3613404"/>
            <a:ext cx="72898" cy="72898"/>
          </a:xfrm>
          <a:prstGeom prst="ellipse">
            <a:avLst/>
          </a:prstGeom>
          <a:solidFill>
            <a:srgbClr val="3985CD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15" name="m-p16_year_wheel-qcn-3">
            <a:extLst>
              <a:ext uri="{FF2B5EF4-FFF2-40B4-BE49-F238E27FC236}">
                <a16:creationId xmlns:a16="http://schemas.microsoft.com/office/drawing/2014/main" id="{FE38AE61-C278-A9CE-957A-CC59920F4AD0}"/>
              </a:ext>
            </a:extLst>
          </p:cNvPr>
          <p:cNvSpPr txBox="1"/>
          <p:nvPr/>
        </p:nvSpPr>
        <p:spPr>
          <a:xfrm>
            <a:off x="8903963" y="3626506"/>
            <a:ext cx="56782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6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Q3</a:t>
            </a:r>
          </a:p>
        </p:txBody>
      </p:sp>
      <p:sp>
        <p:nvSpPr>
          <p:cNvPr id="1316" name="m-p16_year_wheel-icon-rocket">
            <a:extLst>
              <a:ext uri="{FF2B5EF4-FFF2-40B4-BE49-F238E27FC236}">
                <a16:creationId xmlns:a16="http://schemas.microsoft.com/office/drawing/2014/main" id="{4EC304C5-0C64-8520-1ECA-755BE4C6E6DE}"/>
              </a:ext>
            </a:extLst>
          </p:cNvPr>
          <p:cNvSpPr/>
          <p:nvPr/>
        </p:nvSpPr>
        <p:spPr>
          <a:xfrm>
            <a:off x="9006332" y="3621850"/>
            <a:ext cx="18669" cy="23368"/>
          </a:xfrm>
          <a:custGeom>
            <a:avLst/>
            <a:gdLst/>
            <a:ahLst/>
            <a:cxnLst/>
            <a:rect l="0" t="0" r="r" b="b"/>
            <a:pathLst>
              <a:path w="18669" h="23368">
                <a:moveTo>
                  <a:pt x="9335" y="0"/>
                </a:moveTo>
                <a:cubicBezTo>
                  <a:pt x="13589" y="3048"/>
                  <a:pt x="15812" y="7874"/>
                  <a:pt x="15812" y="12954"/>
                </a:cubicBezTo>
                <a:lnTo>
                  <a:pt x="12700" y="18034"/>
                </a:lnTo>
                <a:lnTo>
                  <a:pt x="5969" y="18034"/>
                </a:lnTo>
                <a:lnTo>
                  <a:pt x="2858" y="12954"/>
                </a:lnTo>
                <a:cubicBezTo>
                  <a:pt x="2858" y="7874"/>
                  <a:pt x="5080" y="3048"/>
                  <a:pt x="9335" y="0"/>
                </a:cubicBezTo>
                <a:close/>
                <a:moveTo>
                  <a:pt x="2858" y="16891"/>
                </a:moveTo>
                <a:lnTo>
                  <a:pt x="0" y="23368"/>
                </a:lnTo>
                <a:lnTo>
                  <a:pt x="5969" y="21146"/>
                </a:lnTo>
                <a:moveTo>
                  <a:pt x="15812" y="16891"/>
                </a:moveTo>
                <a:lnTo>
                  <a:pt x="18669" y="23368"/>
                </a:lnTo>
                <a:lnTo>
                  <a:pt x="12700" y="21146"/>
                </a:lnTo>
              </a:path>
            </a:pathLst>
          </a:custGeom>
          <a:noFill/>
          <a:ln w="2604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17" name="m-p16_year_wheel-qct-3">
            <a:extLst>
              <a:ext uri="{FF2B5EF4-FFF2-40B4-BE49-F238E27FC236}">
                <a16:creationId xmlns:a16="http://schemas.microsoft.com/office/drawing/2014/main" id="{4653CD61-8056-43A9-37EC-4188160D07E1}"/>
              </a:ext>
            </a:extLst>
          </p:cNvPr>
          <p:cNvSpPr txBox="1"/>
          <p:nvPr/>
        </p:nvSpPr>
        <p:spPr>
          <a:xfrm>
            <a:off x="9051282" y="3609277"/>
            <a:ext cx="149701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1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规模冲刺</a:t>
            </a:r>
          </a:p>
        </p:txBody>
      </p:sp>
      <p:sp>
        <p:nvSpPr>
          <p:cNvPr id="1318" name="m-p16_year_wheel-qcp-3">
            <a:extLst>
              <a:ext uri="{FF2B5EF4-FFF2-40B4-BE49-F238E27FC236}">
                <a16:creationId xmlns:a16="http://schemas.microsoft.com/office/drawing/2014/main" id="{1F777786-88B5-62D8-BE96-4D0E63700616}"/>
              </a:ext>
            </a:extLst>
          </p:cNvPr>
          <p:cNvSpPr txBox="1"/>
          <p:nvPr/>
        </p:nvSpPr>
        <p:spPr>
          <a:xfrm>
            <a:off x="9012933" y="3663375"/>
            <a:ext cx="230214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渠道扩张与订单转化</a:t>
            </a:r>
          </a:p>
        </p:txBody>
      </p:sp>
      <p:sp>
        <p:nvSpPr>
          <p:cNvPr id="1319" name="m-p16_year_wheel-qcm-3">
            <a:extLst>
              <a:ext uri="{FF2B5EF4-FFF2-40B4-BE49-F238E27FC236}">
                <a16:creationId xmlns:a16="http://schemas.microsoft.com/office/drawing/2014/main" id="{A100C88A-78AB-18F7-4F46-4000BEAA85C6}"/>
              </a:ext>
            </a:extLst>
          </p:cNvPr>
          <p:cNvSpPr txBox="1"/>
          <p:nvPr/>
        </p:nvSpPr>
        <p:spPr>
          <a:xfrm>
            <a:off x="9407337" y="3669002"/>
            <a:ext cx="27701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渠道扩张、大促冲刺、交付提速</a:t>
            </a:r>
          </a:p>
        </p:txBody>
      </p:sp>
      <p:sp>
        <p:nvSpPr>
          <p:cNvPr id="1320" name="m-p16_year_wheel-qc-4">
            <a:extLst>
              <a:ext uri="{FF2B5EF4-FFF2-40B4-BE49-F238E27FC236}">
                <a16:creationId xmlns:a16="http://schemas.microsoft.com/office/drawing/2014/main" id="{56B9D39B-9705-1AA8-8935-EF68E5AC12D2}"/>
              </a:ext>
            </a:extLst>
          </p:cNvPr>
          <p:cNvSpPr/>
          <p:nvPr/>
        </p:nvSpPr>
        <p:spPr>
          <a:xfrm>
            <a:off x="8862060" y="3759200"/>
            <a:ext cx="846138" cy="164021"/>
          </a:xfrm>
          <a:custGeom>
            <a:avLst/>
            <a:gdLst/>
            <a:ahLst/>
            <a:cxnLst/>
            <a:rect l="0" t="0" r="r" b="b"/>
            <a:pathLst>
              <a:path w="846138" h="164021">
                <a:moveTo>
                  <a:pt x="23432" y="0"/>
                </a:moveTo>
                <a:lnTo>
                  <a:pt x="822706" y="0"/>
                </a:lnTo>
                <a:cubicBezTo>
                  <a:pt x="835660" y="0"/>
                  <a:pt x="846138" y="10477"/>
                  <a:pt x="846138" y="23432"/>
                </a:cubicBezTo>
                <a:lnTo>
                  <a:pt x="846138" y="140589"/>
                </a:lnTo>
                <a:cubicBezTo>
                  <a:pt x="846138" y="153543"/>
                  <a:pt x="835660" y="164021"/>
                  <a:pt x="822706" y="164021"/>
                </a:cubicBezTo>
                <a:lnTo>
                  <a:pt x="23432" y="164021"/>
                </a:lnTo>
                <a:cubicBezTo>
                  <a:pt x="10478" y="164021"/>
                  <a:pt x="0" y="153543"/>
                  <a:pt x="0" y="140589"/>
                </a:cubicBezTo>
                <a:lnTo>
                  <a:pt x="0" y="23432"/>
                </a:lnTo>
                <a:cubicBezTo>
                  <a:pt x="0" y="10477"/>
                  <a:pt x="10478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21" name="m-p16_year_wheel-qcb-4">
            <a:extLst>
              <a:ext uri="{FF2B5EF4-FFF2-40B4-BE49-F238E27FC236}">
                <a16:creationId xmlns:a16="http://schemas.microsoft.com/office/drawing/2014/main" id="{B45C6A0D-6466-7DCE-2DD3-A419957838D1}"/>
              </a:ext>
            </a:extLst>
          </p:cNvPr>
          <p:cNvSpPr/>
          <p:nvPr/>
        </p:nvSpPr>
        <p:spPr>
          <a:xfrm>
            <a:off x="8862060" y="3759200"/>
            <a:ext cx="6477" cy="164021"/>
          </a:xfrm>
          <a:custGeom>
            <a:avLst/>
            <a:gdLst/>
            <a:ahLst/>
            <a:cxnLst/>
            <a:rect l="0" t="0" r="r" b="b"/>
            <a:pathLst>
              <a:path w="6477" h="164021">
                <a:moveTo>
                  <a:pt x="3238" y="0"/>
                </a:moveTo>
                <a:lnTo>
                  <a:pt x="3238" y="0"/>
                </a:lnTo>
                <a:cubicBezTo>
                  <a:pt x="5080" y="0"/>
                  <a:pt x="6477" y="1461"/>
                  <a:pt x="6477" y="3238"/>
                </a:cubicBezTo>
                <a:lnTo>
                  <a:pt x="6477" y="160782"/>
                </a:lnTo>
                <a:cubicBezTo>
                  <a:pt x="6477" y="162560"/>
                  <a:pt x="5080" y="164021"/>
                  <a:pt x="3238" y="164021"/>
                </a:cubicBezTo>
                <a:lnTo>
                  <a:pt x="3238" y="164021"/>
                </a:lnTo>
                <a:cubicBezTo>
                  <a:pt x="1461" y="164021"/>
                  <a:pt x="0" y="162560"/>
                  <a:pt x="0" y="160782"/>
                </a:cubicBezTo>
                <a:lnTo>
                  <a:pt x="0" y="3238"/>
                </a:lnTo>
                <a:cubicBezTo>
                  <a:pt x="0" y="1461"/>
                  <a:pt x="1461" y="0"/>
                  <a:pt x="3238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22" name="m-p16_year_wheel-qcc-4">
            <a:extLst>
              <a:ext uri="{FF2B5EF4-FFF2-40B4-BE49-F238E27FC236}">
                <a16:creationId xmlns:a16="http://schemas.microsoft.com/office/drawing/2014/main" id="{B1126356-D40C-116E-34C1-6F4CD92023A4}"/>
              </a:ext>
            </a:extLst>
          </p:cNvPr>
          <p:cNvSpPr/>
          <p:nvPr/>
        </p:nvSpPr>
        <p:spPr>
          <a:xfrm>
            <a:off x="8895906" y="3803460"/>
            <a:ext cx="72898" cy="72898"/>
          </a:xfrm>
          <a:prstGeom prst="ellipse">
            <a:avLst/>
          </a:prstGeom>
          <a:solidFill>
            <a:srgbClr val="54A2D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23" name="m-p16_year_wheel-qcn-4">
            <a:extLst>
              <a:ext uri="{FF2B5EF4-FFF2-40B4-BE49-F238E27FC236}">
                <a16:creationId xmlns:a16="http://schemas.microsoft.com/office/drawing/2014/main" id="{649B0021-2750-6883-F59B-F3335C4A493D}"/>
              </a:ext>
            </a:extLst>
          </p:cNvPr>
          <p:cNvSpPr txBox="1"/>
          <p:nvPr/>
        </p:nvSpPr>
        <p:spPr>
          <a:xfrm>
            <a:off x="8903963" y="3816562"/>
            <a:ext cx="56782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6" normalizeH="0" baseline="0" noProof="0">
                <a:ln>
                  <a:noFill/>
                </a:ln>
                <a:solidFill>
                  <a:srgbClr val="54A2D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Q4</a:t>
            </a:r>
          </a:p>
        </p:txBody>
      </p:sp>
      <p:sp>
        <p:nvSpPr>
          <p:cNvPr id="1324" name="m-p16_year_wheel-icon-check">
            <a:extLst>
              <a:ext uri="{FF2B5EF4-FFF2-40B4-BE49-F238E27FC236}">
                <a16:creationId xmlns:a16="http://schemas.microsoft.com/office/drawing/2014/main" id="{72A10DF5-B94E-11F2-DD65-406AFF08C6CC}"/>
              </a:ext>
            </a:extLst>
          </p:cNvPr>
          <p:cNvSpPr/>
          <p:nvPr/>
        </p:nvSpPr>
        <p:spPr>
          <a:xfrm>
            <a:off x="9006650" y="3818064"/>
            <a:ext cx="18034" cy="12700"/>
          </a:xfrm>
          <a:custGeom>
            <a:avLst/>
            <a:gdLst/>
            <a:ahLst/>
            <a:cxnLst/>
            <a:rect l="0" t="0" r="r" b="b"/>
            <a:pathLst>
              <a:path w="18034" h="12700">
                <a:moveTo>
                  <a:pt x="0" y="6795"/>
                </a:moveTo>
                <a:lnTo>
                  <a:pt x="5906" y="12700"/>
                </a:lnTo>
                <a:lnTo>
                  <a:pt x="18034" y="0"/>
                </a:lnTo>
              </a:path>
            </a:pathLst>
          </a:custGeom>
          <a:noFill/>
          <a:ln w="2604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25" name="m-p16_year_wheel-qct-4">
            <a:extLst>
              <a:ext uri="{FF2B5EF4-FFF2-40B4-BE49-F238E27FC236}">
                <a16:creationId xmlns:a16="http://schemas.microsoft.com/office/drawing/2014/main" id="{8C728084-C07A-7630-D97F-D530C6C2750C}"/>
              </a:ext>
            </a:extLst>
          </p:cNvPr>
          <p:cNvSpPr txBox="1"/>
          <p:nvPr/>
        </p:nvSpPr>
        <p:spPr>
          <a:xfrm>
            <a:off x="9051282" y="3799333"/>
            <a:ext cx="149701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1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收口复盘</a:t>
            </a:r>
          </a:p>
        </p:txBody>
      </p:sp>
      <p:sp>
        <p:nvSpPr>
          <p:cNvPr id="1326" name="m-p16_year_wheel-qcp-4">
            <a:extLst>
              <a:ext uri="{FF2B5EF4-FFF2-40B4-BE49-F238E27FC236}">
                <a16:creationId xmlns:a16="http://schemas.microsoft.com/office/drawing/2014/main" id="{819E8B46-C2F8-4BE4-3B17-2B8EF5A464EF}"/>
              </a:ext>
            </a:extLst>
          </p:cNvPr>
          <p:cNvSpPr txBox="1"/>
          <p:nvPr/>
        </p:nvSpPr>
        <p:spPr>
          <a:xfrm>
            <a:off x="9012933" y="3853430"/>
            <a:ext cx="253516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回款、复盘与下年规划</a:t>
            </a:r>
          </a:p>
        </p:txBody>
      </p:sp>
      <p:sp>
        <p:nvSpPr>
          <p:cNvPr id="1327" name="m-p16_year_wheel-qcm-4">
            <a:extLst>
              <a:ext uri="{FF2B5EF4-FFF2-40B4-BE49-F238E27FC236}">
                <a16:creationId xmlns:a16="http://schemas.microsoft.com/office/drawing/2014/main" id="{C325FB4F-E552-14F7-8E7F-027D73521474}"/>
              </a:ext>
            </a:extLst>
          </p:cNvPr>
          <p:cNvSpPr txBox="1"/>
          <p:nvPr/>
        </p:nvSpPr>
        <p:spPr>
          <a:xfrm>
            <a:off x="9407337" y="3859057"/>
            <a:ext cx="27701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回款清收、年度复盘、明年规划</a:t>
            </a:r>
          </a:p>
        </p:txBody>
      </p:sp>
      <p:sp>
        <p:nvSpPr>
          <p:cNvPr id="1328" name="m-p16_year_wheel-sum">
            <a:extLst>
              <a:ext uri="{FF2B5EF4-FFF2-40B4-BE49-F238E27FC236}">
                <a16:creationId xmlns:a16="http://schemas.microsoft.com/office/drawing/2014/main" id="{B503C56F-5C8A-3F2C-CF98-F7833724D024}"/>
              </a:ext>
            </a:extLst>
          </p:cNvPr>
          <p:cNvSpPr/>
          <p:nvPr/>
        </p:nvSpPr>
        <p:spPr>
          <a:xfrm>
            <a:off x="7599362" y="3941445"/>
            <a:ext cx="2108835" cy="75501"/>
          </a:xfrm>
          <a:custGeom>
            <a:avLst/>
            <a:gdLst/>
            <a:ahLst/>
            <a:cxnLst/>
            <a:rect l="0" t="0" r="r" b="b"/>
            <a:pathLst>
              <a:path w="2108835" h="75501">
                <a:moveTo>
                  <a:pt x="18224" y="0"/>
                </a:moveTo>
                <a:lnTo>
                  <a:pt x="2090610" y="0"/>
                </a:lnTo>
                <a:cubicBezTo>
                  <a:pt x="2100643" y="0"/>
                  <a:pt x="2108835" y="8191"/>
                  <a:pt x="2108835" y="18225"/>
                </a:cubicBezTo>
                <a:lnTo>
                  <a:pt x="2108835" y="57277"/>
                </a:lnTo>
                <a:cubicBezTo>
                  <a:pt x="2108835" y="67310"/>
                  <a:pt x="2100643" y="75501"/>
                  <a:pt x="2090610" y="75501"/>
                </a:cubicBezTo>
                <a:lnTo>
                  <a:pt x="18224" y="75501"/>
                </a:lnTo>
                <a:cubicBezTo>
                  <a:pt x="8191" y="75501"/>
                  <a:pt x="0" y="67310"/>
                  <a:pt x="0" y="57277"/>
                </a:cubicBezTo>
                <a:lnTo>
                  <a:pt x="0" y="18225"/>
                </a:lnTo>
                <a:cubicBezTo>
                  <a:pt x="0" y="8191"/>
                  <a:pt x="8191" y="0"/>
                  <a:pt x="18224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29" name="m-p16_year_wheel-sum-bar">
            <a:extLst>
              <a:ext uri="{FF2B5EF4-FFF2-40B4-BE49-F238E27FC236}">
                <a16:creationId xmlns:a16="http://schemas.microsoft.com/office/drawing/2014/main" id="{4B7B5475-0668-353E-E189-8107DC5B26FA}"/>
              </a:ext>
            </a:extLst>
          </p:cNvPr>
          <p:cNvSpPr/>
          <p:nvPr/>
        </p:nvSpPr>
        <p:spPr>
          <a:xfrm>
            <a:off x="7599362" y="3941445"/>
            <a:ext cx="6509" cy="75501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30" name="m-p16_year_wheel-sum-h">
            <a:extLst>
              <a:ext uri="{FF2B5EF4-FFF2-40B4-BE49-F238E27FC236}">
                <a16:creationId xmlns:a16="http://schemas.microsoft.com/office/drawing/2014/main" id="{A2A68D6C-D463-CC92-CCB5-7AF8C7A09AF6}"/>
              </a:ext>
            </a:extLst>
          </p:cNvPr>
          <p:cNvSpPr txBox="1"/>
          <p:nvPr/>
        </p:nvSpPr>
        <p:spPr>
          <a:xfrm>
            <a:off x="7638363" y="3960978"/>
            <a:ext cx="118850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节奏纪律</a:t>
            </a:r>
          </a:p>
        </p:txBody>
      </p:sp>
      <p:sp>
        <p:nvSpPr>
          <p:cNvPr id="1331" name="m-p16_year_wheel-sum-p">
            <a:extLst>
              <a:ext uri="{FF2B5EF4-FFF2-40B4-BE49-F238E27FC236}">
                <a16:creationId xmlns:a16="http://schemas.microsoft.com/office/drawing/2014/main" id="{67B7C9C2-55AA-E09A-A453-D8F8598030E7}"/>
              </a:ext>
            </a:extLst>
          </p:cNvPr>
          <p:cNvSpPr txBox="1"/>
          <p:nvPr/>
        </p:nvSpPr>
        <p:spPr>
          <a:xfrm>
            <a:off x="7791891" y="3960174"/>
            <a:ext cx="859350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每月最后一个周五做闭环确认，未闭环事项自动进入下月首位，不做顺延式积压。</a:t>
            </a:r>
          </a:p>
        </p:txBody>
      </p:sp>
      <p:cxnSp>
        <p:nvCxnSpPr>
          <p:cNvPr id="1332" name="m-p16_year_wheel-foot-line">
            <a:extLst>
              <a:ext uri="{FF2B5EF4-FFF2-40B4-BE49-F238E27FC236}">
                <a16:creationId xmlns:a16="http://schemas.microsoft.com/office/drawing/2014/main" id="{D6FF1F8A-4163-2458-4293-F009E50ACC96}"/>
              </a:ext>
            </a:extLst>
          </p:cNvPr>
          <p:cNvCxnSpPr/>
          <p:nvPr/>
        </p:nvCxnSpPr>
        <p:spPr>
          <a:xfrm>
            <a:off x="7523861" y="40429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33" name="m-p16_year_wheel-foot-l">
            <a:extLst>
              <a:ext uri="{FF2B5EF4-FFF2-40B4-BE49-F238E27FC236}">
                <a16:creationId xmlns:a16="http://schemas.microsoft.com/office/drawing/2014/main" id="{D61A4C8A-D287-BA0A-7431-E07575B64A5C}"/>
              </a:ext>
            </a:extLst>
          </p:cNvPr>
          <p:cNvSpPr txBox="1"/>
          <p:nvPr/>
        </p:nvSpPr>
        <p:spPr>
          <a:xfrm>
            <a:off x="7521674" y="4056923"/>
            <a:ext cx="23447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年度节奏 · 四季十二月</a:t>
            </a:r>
          </a:p>
        </p:txBody>
      </p:sp>
      <p:sp>
        <p:nvSpPr>
          <p:cNvPr id="1334" name="m-p16_year_wheel-foot-r">
            <a:extLst>
              <a:ext uri="{FF2B5EF4-FFF2-40B4-BE49-F238E27FC236}">
                <a16:creationId xmlns:a16="http://schemas.microsoft.com/office/drawing/2014/main" id="{E89633A6-C368-53E8-4670-F87DA2846D87}"/>
              </a:ext>
            </a:extLst>
          </p:cNvPr>
          <p:cNvSpPr txBox="1"/>
          <p:nvPr/>
        </p:nvSpPr>
        <p:spPr>
          <a:xfrm>
            <a:off x="9526109" y="40569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1335" name="mini-card-d33_sunburst">
            <a:extLst>
              <a:ext uri="{FF2B5EF4-FFF2-40B4-BE49-F238E27FC236}">
                <a16:creationId xmlns:a16="http://schemas.microsoft.com/office/drawing/2014/main" id="{BC863124-E0D6-E931-17A2-485FA3052AD3}"/>
              </a:ext>
            </a:extLst>
          </p:cNvPr>
          <p:cNvSpPr/>
          <p:nvPr/>
        </p:nvSpPr>
        <p:spPr>
          <a:xfrm>
            <a:off x="10020300" y="27178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1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1" y="1405890"/>
                </a:lnTo>
                <a:cubicBezTo>
                  <a:pt x="35878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7"/>
                  <a:pt x="35878" y="0"/>
                  <a:pt x="80201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36" name="m-d33_sunburst-title-bar">
            <a:extLst>
              <a:ext uri="{FF2B5EF4-FFF2-40B4-BE49-F238E27FC236}">
                <a16:creationId xmlns:a16="http://schemas.microsoft.com/office/drawing/2014/main" id="{3EAA7299-A825-4DA2-DC48-86DBFB4C814A}"/>
              </a:ext>
            </a:extLst>
          </p:cNvPr>
          <p:cNvSpPr/>
          <p:nvPr/>
        </p:nvSpPr>
        <p:spPr>
          <a:xfrm>
            <a:off x="10140061" y="28167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37" name="m-d33_sunburst-title-bar-accent">
            <a:extLst>
              <a:ext uri="{FF2B5EF4-FFF2-40B4-BE49-F238E27FC236}">
                <a16:creationId xmlns:a16="http://schemas.microsoft.com/office/drawing/2014/main" id="{E18A9547-0A44-F11B-B2A7-E505CA8E1D34}"/>
              </a:ext>
            </a:extLst>
          </p:cNvPr>
          <p:cNvSpPr/>
          <p:nvPr/>
        </p:nvSpPr>
        <p:spPr>
          <a:xfrm>
            <a:off x="10140061" y="28167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38" name="m-d33_sunburst-title-cn">
            <a:extLst>
              <a:ext uri="{FF2B5EF4-FFF2-40B4-BE49-F238E27FC236}">
                <a16:creationId xmlns:a16="http://schemas.microsoft.com/office/drawing/2014/main" id="{634B9903-858B-E604-27CD-875090B57C8C}"/>
              </a:ext>
            </a:extLst>
          </p:cNvPr>
          <p:cNvSpPr txBox="1"/>
          <p:nvPr/>
        </p:nvSpPr>
        <p:spPr>
          <a:xfrm>
            <a:off x="10172240" y="2799368"/>
            <a:ext cx="551421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营收结构两层拆解</a:t>
            </a:r>
          </a:p>
        </p:txBody>
      </p:sp>
      <p:sp>
        <p:nvSpPr>
          <p:cNvPr id="1339" name="m-d33_sunburst-title-en">
            <a:extLst>
              <a:ext uri="{FF2B5EF4-FFF2-40B4-BE49-F238E27FC236}">
                <a16:creationId xmlns:a16="http://schemas.microsoft.com/office/drawing/2014/main" id="{9EB9F664-CFAE-CD17-A6BE-0758E46E2F87}"/>
              </a:ext>
            </a:extLst>
          </p:cNvPr>
          <p:cNvSpPr txBox="1"/>
          <p:nvPr/>
        </p:nvSpPr>
        <p:spPr>
          <a:xfrm>
            <a:off x="10179530" y="2886650"/>
            <a:ext cx="27774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SUNBURST CHART</a:t>
            </a:r>
          </a:p>
        </p:txBody>
      </p:sp>
      <p:sp>
        <p:nvSpPr>
          <p:cNvPr id="1340" name="m-d33_sunburst-title-sub">
            <a:extLst>
              <a:ext uri="{FF2B5EF4-FFF2-40B4-BE49-F238E27FC236}">
                <a16:creationId xmlns:a16="http://schemas.microsoft.com/office/drawing/2014/main" id="{D7811B3D-7B4F-B262-B1A3-A5927CAAC583}"/>
              </a:ext>
            </a:extLst>
          </p:cNvPr>
          <p:cNvSpPr txBox="1"/>
          <p:nvPr/>
        </p:nvSpPr>
        <p:spPr>
          <a:xfrm>
            <a:off x="11773419" y="2855792"/>
            <a:ext cx="629136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内圈是四大业务，外圈是各自的产品线，角度代表营收占比</a:t>
            </a:r>
          </a:p>
        </p:txBody>
      </p:sp>
      <p:sp>
        <p:nvSpPr>
          <p:cNvPr id="1341" name="m-d33_sunburst-in-1">
            <a:extLst>
              <a:ext uri="{FF2B5EF4-FFF2-40B4-BE49-F238E27FC236}">
                <a16:creationId xmlns:a16="http://schemas.microsoft.com/office/drawing/2014/main" id="{67AFEAC2-7C74-01D1-E2F1-F64DDE595D04}"/>
              </a:ext>
            </a:extLst>
          </p:cNvPr>
          <p:cNvSpPr/>
          <p:nvPr/>
        </p:nvSpPr>
        <p:spPr>
          <a:xfrm>
            <a:off x="10935462" y="3189531"/>
            <a:ext cx="279851" cy="525842"/>
          </a:xfrm>
          <a:custGeom>
            <a:avLst/>
            <a:gdLst/>
            <a:ahLst/>
            <a:cxnLst/>
            <a:rect l="0" t="0" r="r" b="b"/>
            <a:pathLst>
              <a:path w="279851" h="525842">
                <a:moveTo>
                  <a:pt x="12954" y="11"/>
                </a:moveTo>
                <a:cubicBezTo>
                  <a:pt x="136017" y="7377"/>
                  <a:pt x="240284" y="93292"/>
                  <a:pt x="270955" y="212736"/>
                </a:cubicBezTo>
                <a:cubicBezTo>
                  <a:pt x="301562" y="332116"/>
                  <a:pt x="251651" y="457655"/>
                  <a:pt x="147384" y="523378"/>
                </a:cubicBezTo>
                <a:quadBezTo>
                  <a:pt x="136208" y="530045"/>
                  <a:pt x="129921" y="518679"/>
                </a:quadBezTo>
                <a:lnTo>
                  <a:pt x="74740" y="418222"/>
                </a:lnTo>
                <a:quadBezTo>
                  <a:pt x="68453" y="406855"/>
                  <a:pt x="79375" y="399743"/>
                </a:quadBezTo>
                <a:cubicBezTo>
                  <a:pt x="127445" y="365326"/>
                  <a:pt x="149479" y="304938"/>
                  <a:pt x="134747" y="247661"/>
                </a:cubicBezTo>
                <a:cubicBezTo>
                  <a:pt x="120015" y="190384"/>
                  <a:pt x="71628" y="148093"/>
                  <a:pt x="12954" y="141108"/>
                </a:cubicBezTo>
                <a:quadBezTo>
                  <a:pt x="0" y="140155"/>
                  <a:pt x="0" y="127138"/>
                </a:quadBezTo>
                <a:lnTo>
                  <a:pt x="0" y="12520"/>
                </a:lnTo>
                <a:quadBezTo>
                  <a:pt x="0" y="-497"/>
                  <a:pt x="12954" y="11"/>
                </a:quad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42" name="m-d33_sunburst-int-1">
            <a:extLst>
              <a:ext uri="{FF2B5EF4-FFF2-40B4-BE49-F238E27FC236}">
                <a16:creationId xmlns:a16="http://schemas.microsoft.com/office/drawing/2014/main" id="{6CCC2F9F-A598-0D14-EBB7-0B16406CD539}"/>
              </a:ext>
            </a:extLst>
          </p:cNvPr>
          <p:cNvSpPr txBox="1"/>
          <p:nvPr/>
        </p:nvSpPr>
        <p:spPr>
          <a:xfrm>
            <a:off x="11078294" y="3388182"/>
            <a:ext cx="12002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企业软件</a:t>
            </a:r>
          </a:p>
        </p:txBody>
      </p:sp>
      <p:sp>
        <p:nvSpPr>
          <p:cNvPr id="1343" name="m-d33_sunburst-inv-1">
            <a:extLst>
              <a:ext uri="{FF2B5EF4-FFF2-40B4-BE49-F238E27FC236}">
                <a16:creationId xmlns:a16="http://schemas.microsoft.com/office/drawing/2014/main" id="{97022467-1642-FB38-98BB-334A8402D43B}"/>
              </a:ext>
            </a:extLst>
          </p:cNvPr>
          <p:cNvSpPr txBox="1"/>
          <p:nvPr/>
        </p:nvSpPr>
        <p:spPr>
          <a:xfrm>
            <a:off x="11113116" y="3424247"/>
            <a:ext cx="50378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E3EDF9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42%</a:t>
            </a:r>
          </a:p>
        </p:txBody>
      </p:sp>
      <p:sp>
        <p:nvSpPr>
          <p:cNvPr id="1344" name="m-d33_sunburst-out-1-1">
            <a:extLst>
              <a:ext uri="{FF2B5EF4-FFF2-40B4-BE49-F238E27FC236}">
                <a16:creationId xmlns:a16="http://schemas.microsoft.com/office/drawing/2014/main" id="{D52FC931-68D4-8936-3A7C-0775C6D6B847}"/>
              </a:ext>
            </a:extLst>
          </p:cNvPr>
          <p:cNvSpPr/>
          <p:nvPr/>
        </p:nvSpPr>
        <p:spPr>
          <a:xfrm>
            <a:off x="10934764" y="3043428"/>
            <a:ext cx="380939" cy="298174"/>
          </a:xfrm>
          <a:custGeom>
            <a:avLst/>
            <a:gdLst/>
            <a:ahLst/>
            <a:cxnLst/>
            <a:rect l="0" t="0" r="r" b="b"/>
            <a:pathLst>
              <a:path w="380939" h="298174">
                <a:moveTo>
                  <a:pt x="10414" y="0"/>
                </a:moveTo>
                <a:cubicBezTo>
                  <a:pt x="166941" y="5017"/>
                  <a:pt x="308292" y="94742"/>
                  <a:pt x="379412" y="234188"/>
                </a:cubicBezTo>
                <a:quadBezTo>
                  <a:pt x="384048" y="243523"/>
                  <a:pt x="374650" y="247968"/>
                </a:quadBezTo>
                <a:lnTo>
                  <a:pt x="270955" y="296736"/>
                </a:lnTo>
                <a:quadBezTo>
                  <a:pt x="261557" y="301181"/>
                  <a:pt x="256858" y="291910"/>
                </a:quadBezTo>
                <a:cubicBezTo>
                  <a:pt x="208153" y="199835"/>
                  <a:pt x="114490" y="140335"/>
                  <a:pt x="10414" y="135509"/>
                </a:cubicBezTo>
                <a:quadBezTo>
                  <a:pt x="0" y="135192"/>
                  <a:pt x="0" y="124778"/>
                </a:quadBezTo>
                <a:lnTo>
                  <a:pt x="0" y="10224"/>
                </a:lnTo>
                <a:quadBezTo>
                  <a:pt x="0" y="-190"/>
                  <a:pt x="10414" y="0"/>
                </a:quadBezTo>
                <a:close/>
              </a:path>
            </a:pathLst>
          </a:custGeom>
          <a:solidFill>
            <a:srgbClr val="486EA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45" name="m-d33_sunburst-outt-1-1">
            <a:extLst>
              <a:ext uri="{FF2B5EF4-FFF2-40B4-BE49-F238E27FC236}">
                <a16:creationId xmlns:a16="http://schemas.microsoft.com/office/drawing/2014/main" id="{DBC68EED-8DD9-B61A-DB2A-8DEFF0C78C34}"/>
              </a:ext>
            </a:extLst>
          </p:cNvPr>
          <p:cNvSpPr txBox="1"/>
          <p:nvPr/>
        </p:nvSpPr>
        <p:spPr>
          <a:xfrm>
            <a:off x="11100245" y="3150960"/>
            <a:ext cx="50378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ERP</a:t>
            </a:r>
          </a:p>
        </p:txBody>
      </p:sp>
      <p:sp>
        <p:nvSpPr>
          <p:cNvPr id="1346" name="m-d33_sunburst-out-1-2">
            <a:extLst>
              <a:ext uri="{FF2B5EF4-FFF2-40B4-BE49-F238E27FC236}">
                <a16:creationId xmlns:a16="http://schemas.microsoft.com/office/drawing/2014/main" id="{63BE782C-4E83-95E0-5415-630DB18256D7}"/>
              </a:ext>
            </a:extLst>
          </p:cNvPr>
          <p:cNvSpPr/>
          <p:nvPr/>
        </p:nvSpPr>
        <p:spPr>
          <a:xfrm>
            <a:off x="11201983" y="3295887"/>
            <a:ext cx="159120" cy="353856"/>
          </a:xfrm>
          <a:custGeom>
            <a:avLst/>
            <a:gdLst/>
            <a:ahLst/>
            <a:cxnLst/>
            <a:rect l="0" t="0" r="r" b="b"/>
            <a:pathLst>
              <a:path w="159120" h="353856">
                <a:moveTo>
                  <a:pt x="123877" y="6494"/>
                </a:moveTo>
                <a:cubicBezTo>
                  <a:pt x="170867" y="115269"/>
                  <a:pt x="170867" y="238586"/>
                  <a:pt x="123877" y="347362"/>
                </a:cubicBezTo>
                <a:quadBezTo>
                  <a:pt x="119623" y="356887"/>
                  <a:pt x="110161" y="352442"/>
                </a:quadBezTo>
                <a:lnTo>
                  <a:pt x="6529" y="303674"/>
                </a:lnTo>
                <a:quadBezTo>
                  <a:pt x="-2869" y="299229"/>
                  <a:pt x="1259" y="289704"/>
                </a:quadBezTo>
                <a:cubicBezTo>
                  <a:pt x="31231" y="217504"/>
                  <a:pt x="31231" y="136351"/>
                  <a:pt x="1259" y="64152"/>
                </a:cubicBezTo>
                <a:quadBezTo>
                  <a:pt x="-2869" y="54627"/>
                  <a:pt x="6529" y="50182"/>
                </a:quadBezTo>
                <a:lnTo>
                  <a:pt x="110161" y="1414"/>
                </a:lnTo>
                <a:quadBezTo>
                  <a:pt x="119623" y="-3031"/>
                  <a:pt x="123877" y="6494"/>
                </a:quadBezTo>
                <a:close/>
              </a:path>
            </a:pathLst>
          </a:custGeom>
          <a:solidFill>
            <a:srgbClr val="7995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47" name="m-d33_sunburst-outt-1-2">
            <a:extLst>
              <a:ext uri="{FF2B5EF4-FFF2-40B4-BE49-F238E27FC236}">
                <a16:creationId xmlns:a16="http://schemas.microsoft.com/office/drawing/2014/main" id="{5B15E96C-3FCE-720F-162E-53B962D188B3}"/>
              </a:ext>
            </a:extLst>
          </p:cNvPr>
          <p:cNvSpPr txBox="1"/>
          <p:nvPr/>
        </p:nvSpPr>
        <p:spPr>
          <a:xfrm>
            <a:off x="11268223" y="3456511"/>
            <a:ext cx="50378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CRM</a:t>
            </a:r>
          </a:p>
        </p:txBody>
      </p:sp>
      <p:sp>
        <p:nvSpPr>
          <p:cNvPr id="1348" name="m-d33_sunburst-out-1-3">
            <a:extLst>
              <a:ext uri="{FF2B5EF4-FFF2-40B4-BE49-F238E27FC236}">
                <a16:creationId xmlns:a16="http://schemas.microsoft.com/office/drawing/2014/main" id="{280E60C5-4375-174A-E635-C8C59D925469}"/>
              </a:ext>
            </a:extLst>
          </p:cNvPr>
          <p:cNvSpPr/>
          <p:nvPr/>
        </p:nvSpPr>
        <p:spPr>
          <a:xfrm>
            <a:off x="11079333" y="3604028"/>
            <a:ext cx="236370" cy="240342"/>
          </a:xfrm>
          <a:custGeom>
            <a:avLst/>
            <a:gdLst/>
            <a:ahLst/>
            <a:cxnLst/>
            <a:rect l="0" t="0" r="r" b="b"/>
            <a:pathLst>
              <a:path w="236370" h="240342">
                <a:moveTo>
                  <a:pt x="234843" y="63986"/>
                </a:moveTo>
                <a:cubicBezTo>
                  <a:pt x="197886" y="136503"/>
                  <a:pt x="141053" y="197019"/>
                  <a:pt x="71013" y="238484"/>
                </a:cubicBezTo>
                <a:quadBezTo>
                  <a:pt x="61996" y="243628"/>
                  <a:pt x="56979" y="234547"/>
                </a:quadBezTo>
                <a:lnTo>
                  <a:pt x="1798" y="134154"/>
                </a:lnTo>
                <a:quadBezTo>
                  <a:pt x="-3219" y="125010"/>
                  <a:pt x="5735" y="119739"/>
                </a:quadBezTo>
                <a:cubicBezTo>
                  <a:pt x="50820" y="92180"/>
                  <a:pt x="87586" y="53001"/>
                  <a:pt x="112288" y="6265"/>
                </a:cubicBezTo>
                <a:quadBezTo>
                  <a:pt x="116987" y="-3006"/>
                  <a:pt x="126385" y="1439"/>
                </a:quadBezTo>
                <a:lnTo>
                  <a:pt x="230080" y="50207"/>
                </a:lnTo>
                <a:quadBezTo>
                  <a:pt x="239478" y="54652"/>
                  <a:pt x="234843" y="63986"/>
                </a:quadBezTo>
                <a:close/>
              </a:path>
            </a:pathLst>
          </a:custGeom>
          <a:solidFill>
            <a:srgbClr val="AABBD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49" name="m-d33_sunburst-outt-1-3">
            <a:extLst>
              <a:ext uri="{FF2B5EF4-FFF2-40B4-BE49-F238E27FC236}">
                <a16:creationId xmlns:a16="http://schemas.microsoft.com/office/drawing/2014/main" id="{D98CE726-7E64-7CF7-2ABE-9FA2AFC0806F}"/>
              </a:ext>
            </a:extLst>
          </p:cNvPr>
          <p:cNvSpPr txBox="1"/>
          <p:nvPr/>
        </p:nvSpPr>
        <p:spPr>
          <a:xfrm>
            <a:off x="11175607" y="3704239"/>
            <a:ext cx="3944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OA</a:t>
            </a:r>
          </a:p>
        </p:txBody>
      </p:sp>
      <p:sp>
        <p:nvSpPr>
          <p:cNvPr id="1350" name="m-d33_sunburst-in-2">
            <a:extLst>
              <a:ext uri="{FF2B5EF4-FFF2-40B4-BE49-F238E27FC236}">
                <a16:creationId xmlns:a16="http://schemas.microsoft.com/office/drawing/2014/main" id="{99460AF7-61DA-BC50-3F77-6D35CC0AC2A4}"/>
              </a:ext>
            </a:extLst>
          </p:cNvPr>
          <p:cNvSpPr/>
          <p:nvPr/>
        </p:nvSpPr>
        <p:spPr>
          <a:xfrm>
            <a:off x="10666166" y="3523762"/>
            <a:ext cx="394555" cy="232784"/>
          </a:xfrm>
          <a:custGeom>
            <a:avLst/>
            <a:gdLst/>
            <a:ahLst/>
            <a:cxnLst/>
            <a:rect l="0" t="0" r="r" b="b"/>
            <a:pathLst>
              <a:path w="394555" h="232784">
                <a:moveTo>
                  <a:pt x="387025" y="205403"/>
                </a:moveTo>
                <a:cubicBezTo>
                  <a:pt x="315905" y="239185"/>
                  <a:pt x="234053" y="241852"/>
                  <a:pt x="160901" y="212896"/>
                </a:cubicBezTo>
                <a:cubicBezTo>
                  <a:pt x="87749" y="183940"/>
                  <a:pt x="29901" y="125901"/>
                  <a:pt x="1199" y="52685"/>
                </a:cubicBezTo>
                <a:quadBezTo>
                  <a:pt x="-3310" y="40430"/>
                  <a:pt x="9073" y="36429"/>
                </a:quadBezTo>
                <a:lnTo>
                  <a:pt x="118039" y="996"/>
                </a:lnTo>
                <a:quadBezTo>
                  <a:pt x="130421" y="-3004"/>
                  <a:pt x="135311" y="9061"/>
                </a:quadBezTo>
                <a:cubicBezTo>
                  <a:pt x="167378" y="78466"/>
                  <a:pt x="248214" y="110470"/>
                  <a:pt x="319080" y="81768"/>
                </a:cubicBezTo>
                <a:quadBezTo>
                  <a:pt x="330891" y="76371"/>
                  <a:pt x="337177" y="87801"/>
                </a:quadBezTo>
                <a:lnTo>
                  <a:pt x="392359" y="188194"/>
                </a:lnTo>
                <a:quadBezTo>
                  <a:pt x="398645" y="199561"/>
                  <a:pt x="387025" y="205403"/>
                </a:quadBezTo>
                <a:close/>
              </a:path>
            </a:pathLst>
          </a:custGeom>
          <a:gradFill rotWithShape="1">
            <a:gsLst>
              <a:gs pos="0">
                <a:srgbClr val="3E7ABF"/>
              </a:gs>
              <a:gs pos="100000">
                <a:srgbClr val="2468B6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51" name="m-d33_sunburst-int-2">
            <a:extLst>
              <a:ext uri="{FF2B5EF4-FFF2-40B4-BE49-F238E27FC236}">
                <a16:creationId xmlns:a16="http://schemas.microsoft.com/office/drawing/2014/main" id="{6F490181-1014-A8EE-53B4-C65A2577B47F}"/>
              </a:ext>
            </a:extLst>
          </p:cNvPr>
          <p:cNvSpPr txBox="1"/>
          <p:nvPr/>
        </p:nvSpPr>
        <p:spPr>
          <a:xfrm>
            <a:off x="10805291" y="3639769"/>
            <a:ext cx="95288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云服务</a:t>
            </a:r>
          </a:p>
        </p:txBody>
      </p:sp>
      <p:sp>
        <p:nvSpPr>
          <p:cNvPr id="1352" name="m-d33_sunburst-inv-2">
            <a:extLst>
              <a:ext uri="{FF2B5EF4-FFF2-40B4-BE49-F238E27FC236}">
                <a16:creationId xmlns:a16="http://schemas.microsoft.com/office/drawing/2014/main" id="{C092FF16-C52B-ABCC-5C8D-9D0A4364CD82}"/>
              </a:ext>
            </a:extLst>
          </p:cNvPr>
          <p:cNvSpPr txBox="1"/>
          <p:nvPr/>
        </p:nvSpPr>
        <p:spPr>
          <a:xfrm>
            <a:off x="10827746" y="3675834"/>
            <a:ext cx="50378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E3EDF9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28%</a:t>
            </a:r>
          </a:p>
        </p:txBody>
      </p:sp>
      <p:sp>
        <p:nvSpPr>
          <p:cNvPr id="1353" name="m-d33_sunburst-out-2-1">
            <a:extLst>
              <a:ext uri="{FF2B5EF4-FFF2-40B4-BE49-F238E27FC236}">
                <a16:creationId xmlns:a16="http://schemas.microsoft.com/office/drawing/2014/main" id="{25D00D75-5842-B1F1-66F1-BA8705B2BF89}"/>
              </a:ext>
            </a:extLst>
          </p:cNvPr>
          <p:cNvSpPr/>
          <p:nvPr/>
        </p:nvSpPr>
        <p:spPr>
          <a:xfrm>
            <a:off x="10829905" y="3735293"/>
            <a:ext cx="302454" cy="167101"/>
          </a:xfrm>
          <a:custGeom>
            <a:avLst/>
            <a:gdLst/>
            <a:ahLst/>
            <a:cxnLst/>
            <a:rect l="0" t="0" r="r" b="b"/>
            <a:pathLst>
              <a:path w="302454" h="167101">
                <a:moveTo>
                  <a:pt x="296501" y="120364"/>
                </a:moveTo>
                <a:cubicBezTo>
                  <a:pt x="207538" y="165639"/>
                  <a:pt x="105557" y="178530"/>
                  <a:pt x="8084" y="156813"/>
                </a:cubicBezTo>
                <a:quadBezTo>
                  <a:pt x="-2076" y="154400"/>
                  <a:pt x="528" y="144303"/>
                </a:quadBezTo>
                <a:lnTo>
                  <a:pt x="29039" y="33369"/>
                </a:lnTo>
                <a:quadBezTo>
                  <a:pt x="31643" y="23272"/>
                  <a:pt x="41739" y="25558"/>
                </a:quadBezTo>
                <a:cubicBezTo>
                  <a:pt x="105811" y="38893"/>
                  <a:pt x="172486" y="30448"/>
                  <a:pt x="231223" y="1619"/>
                </a:cubicBezTo>
                <a:quadBezTo>
                  <a:pt x="240494" y="-3144"/>
                  <a:pt x="245511" y="6000"/>
                </a:quadBezTo>
                <a:lnTo>
                  <a:pt x="300692" y="106394"/>
                </a:lnTo>
                <a:quadBezTo>
                  <a:pt x="305709" y="115538"/>
                  <a:pt x="296501" y="120364"/>
                </a:quadBezTo>
                <a:close/>
              </a:path>
            </a:pathLst>
          </a:custGeom>
          <a:solidFill>
            <a:srgbClr val="5B8EC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54" name="m-d33_sunburst-outt-2-1">
            <a:extLst>
              <a:ext uri="{FF2B5EF4-FFF2-40B4-BE49-F238E27FC236}">
                <a16:creationId xmlns:a16="http://schemas.microsoft.com/office/drawing/2014/main" id="{FE92C00D-C5B4-26FE-32DE-457BBCB75D2C}"/>
              </a:ext>
            </a:extLst>
          </p:cNvPr>
          <p:cNvSpPr txBox="1"/>
          <p:nvPr/>
        </p:nvSpPr>
        <p:spPr>
          <a:xfrm>
            <a:off x="10946225" y="3815543"/>
            <a:ext cx="6131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IaaS</a:t>
            </a:r>
          </a:p>
        </p:txBody>
      </p:sp>
      <p:sp>
        <p:nvSpPr>
          <p:cNvPr id="1355" name="m-d33_sunburst-out-2-2">
            <a:extLst>
              <a:ext uri="{FF2B5EF4-FFF2-40B4-BE49-F238E27FC236}">
                <a16:creationId xmlns:a16="http://schemas.microsoft.com/office/drawing/2014/main" id="{E99E5A29-C9F0-7C0D-5094-F2513FCD9942}"/>
              </a:ext>
            </a:extLst>
          </p:cNvPr>
          <p:cNvSpPr/>
          <p:nvPr/>
        </p:nvSpPr>
        <p:spPr>
          <a:xfrm>
            <a:off x="10624328" y="3680206"/>
            <a:ext cx="228801" cy="205680"/>
          </a:xfrm>
          <a:custGeom>
            <a:avLst/>
            <a:gdLst/>
            <a:ahLst/>
            <a:cxnLst/>
            <a:rect l="0" t="0" r="r" b="b"/>
            <a:pathLst>
              <a:path w="228801" h="205680">
                <a:moveTo>
                  <a:pt x="187182" y="205105"/>
                </a:moveTo>
                <a:cubicBezTo>
                  <a:pt x="117840" y="184912"/>
                  <a:pt x="54658" y="147574"/>
                  <a:pt x="3540" y="96520"/>
                </a:cubicBezTo>
                <a:quadBezTo>
                  <a:pt x="-3699" y="89027"/>
                  <a:pt x="3858" y="81915"/>
                </a:quadBezTo>
                <a:lnTo>
                  <a:pt x="87360" y="3492"/>
                </a:lnTo>
                <a:quadBezTo>
                  <a:pt x="94980" y="-3620"/>
                  <a:pt x="102346" y="3746"/>
                </a:quadBezTo>
                <a:cubicBezTo>
                  <a:pt x="135747" y="36131"/>
                  <a:pt x="176387" y="60198"/>
                  <a:pt x="220901" y="73850"/>
                </a:cubicBezTo>
                <a:quadBezTo>
                  <a:pt x="230870" y="76708"/>
                  <a:pt x="228267" y="86804"/>
                </a:quadBezTo>
                <a:lnTo>
                  <a:pt x="199819" y="197802"/>
                </a:lnTo>
                <a:quadBezTo>
                  <a:pt x="197215" y="207835"/>
                  <a:pt x="187182" y="205105"/>
                </a:quadBezTo>
                <a:close/>
              </a:path>
            </a:pathLst>
          </a:custGeom>
          <a:solidFill>
            <a:srgbClr val="87AC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56" name="m-d33_sunburst-outt-2-2">
            <a:extLst>
              <a:ext uri="{FF2B5EF4-FFF2-40B4-BE49-F238E27FC236}">
                <a16:creationId xmlns:a16="http://schemas.microsoft.com/office/drawing/2014/main" id="{1FEB74B0-65C6-8690-71C9-8702E90F82E7}"/>
              </a:ext>
            </a:extLst>
          </p:cNvPr>
          <p:cNvSpPr txBox="1"/>
          <p:nvPr/>
        </p:nvSpPr>
        <p:spPr>
          <a:xfrm>
            <a:off x="10716654" y="3768002"/>
            <a:ext cx="6131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PaaS</a:t>
            </a:r>
          </a:p>
        </p:txBody>
      </p:sp>
      <p:sp>
        <p:nvSpPr>
          <p:cNvPr id="1357" name="m-d33_sunburst-out-2-3">
            <a:extLst>
              <a:ext uri="{FF2B5EF4-FFF2-40B4-BE49-F238E27FC236}">
                <a16:creationId xmlns:a16="http://schemas.microsoft.com/office/drawing/2014/main" id="{FA32664E-9839-4E76-AE19-BE4D3247FCB7}"/>
              </a:ext>
            </a:extLst>
          </p:cNvPr>
          <p:cNvSpPr/>
          <p:nvPr/>
        </p:nvSpPr>
        <p:spPr>
          <a:xfrm>
            <a:off x="10526530" y="3569232"/>
            <a:ext cx="184698" cy="191540"/>
          </a:xfrm>
          <a:custGeom>
            <a:avLst/>
            <a:gdLst/>
            <a:ahLst/>
            <a:cxnLst/>
            <a:rect l="0" t="0" r="r" b="b"/>
            <a:pathLst>
              <a:path w="184698" h="191540">
                <a:moveTo>
                  <a:pt x="82669" y="187555"/>
                </a:moveTo>
                <a:cubicBezTo>
                  <a:pt x="46919" y="146979"/>
                  <a:pt x="19169" y="100116"/>
                  <a:pt x="881" y="49252"/>
                </a:cubicBezTo>
                <a:quadBezTo>
                  <a:pt x="-2548" y="39410"/>
                  <a:pt x="7358" y="36235"/>
                </a:quadBezTo>
                <a:lnTo>
                  <a:pt x="116324" y="802"/>
                </a:lnTo>
                <a:quadBezTo>
                  <a:pt x="126230" y="-2437"/>
                  <a:pt x="129723" y="7406"/>
                </a:quadBezTo>
                <a:cubicBezTo>
                  <a:pt x="141788" y="39283"/>
                  <a:pt x="159250" y="68874"/>
                  <a:pt x="181412" y="94782"/>
                </a:cubicBezTo>
                <a:quadBezTo>
                  <a:pt x="188333" y="102592"/>
                  <a:pt x="180713" y="109704"/>
                </a:quadBezTo>
                <a:lnTo>
                  <a:pt x="97211" y="188127"/>
                </a:lnTo>
                <a:quadBezTo>
                  <a:pt x="89654" y="195239"/>
                  <a:pt x="82669" y="187555"/>
                </a:quadBezTo>
                <a:close/>
              </a:path>
            </a:pathLst>
          </a:custGeom>
          <a:solidFill>
            <a:srgbClr val="B2CAE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58" name="m-d33_sunburst-outt-2-3">
            <a:extLst>
              <a:ext uri="{FF2B5EF4-FFF2-40B4-BE49-F238E27FC236}">
                <a16:creationId xmlns:a16="http://schemas.microsoft.com/office/drawing/2014/main" id="{FDF38E43-D309-57BE-149E-5B725DC1079A}"/>
              </a:ext>
            </a:extLst>
          </p:cNvPr>
          <p:cNvSpPr txBox="1"/>
          <p:nvPr/>
        </p:nvSpPr>
        <p:spPr>
          <a:xfrm>
            <a:off x="10600313" y="3640726"/>
            <a:ext cx="3944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7%</a:t>
            </a:r>
          </a:p>
        </p:txBody>
      </p:sp>
      <p:sp>
        <p:nvSpPr>
          <p:cNvPr id="1359" name="m-d33_sunburst-in-3">
            <a:extLst>
              <a:ext uri="{FF2B5EF4-FFF2-40B4-BE49-F238E27FC236}">
                <a16:creationId xmlns:a16="http://schemas.microsoft.com/office/drawing/2014/main" id="{49AEC56B-4419-8984-B5E3-CFA67D6381A0}"/>
              </a:ext>
            </a:extLst>
          </p:cNvPr>
          <p:cNvSpPr/>
          <p:nvPr/>
        </p:nvSpPr>
        <p:spPr>
          <a:xfrm>
            <a:off x="10647732" y="3273330"/>
            <a:ext cx="178526" cy="280400"/>
          </a:xfrm>
          <a:custGeom>
            <a:avLst/>
            <a:gdLst/>
            <a:ahLst/>
            <a:cxnLst/>
            <a:rect l="0" t="0" r="r" b="b"/>
            <a:pathLst>
              <a:path w="178526" h="280400">
                <a:moveTo>
                  <a:pt x="9156" y="270923"/>
                </a:moveTo>
                <a:cubicBezTo>
                  <a:pt x="-15482" y="176308"/>
                  <a:pt x="10362" y="75660"/>
                  <a:pt x="77545" y="4540"/>
                </a:cubicBezTo>
                <a:quadBezTo>
                  <a:pt x="86689" y="-4667"/>
                  <a:pt x="95643" y="4794"/>
                </a:quadBezTo>
                <a:lnTo>
                  <a:pt x="174065" y="88360"/>
                </a:lnTo>
                <a:quadBezTo>
                  <a:pt x="182955" y="97822"/>
                  <a:pt x="174129" y="107410"/>
                </a:quadBezTo>
                <a:cubicBezTo>
                  <a:pt x="146189" y="140621"/>
                  <a:pt x="134886" y="184753"/>
                  <a:pt x="143331" y="227362"/>
                </a:cubicBezTo>
                <a:quadBezTo>
                  <a:pt x="146443" y="239998"/>
                  <a:pt x="134060" y="244062"/>
                </a:quadBezTo>
                <a:lnTo>
                  <a:pt x="25094" y="279432"/>
                </a:lnTo>
                <a:quadBezTo>
                  <a:pt x="12712" y="283432"/>
                  <a:pt x="9156" y="270923"/>
                </a:quadBezTo>
                <a:close/>
              </a:path>
            </a:pathLst>
          </a:custGeom>
          <a:gradFill rotWithShape="1">
            <a:gsLst>
              <a:gs pos="0">
                <a:srgbClr val="5CA1DC"/>
              </a:gs>
              <a:gs pos="100000">
                <a:srgbClr val="4694D7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60" name="m-d33_sunburst-int-3">
            <a:extLst>
              <a:ext uri="{FF2B5EF4-FFF2-40B4-BE49-F238E27FC236}">
                <a16:creationId xmlns:a16="http://schemas.microsoft.com/office/drawing/2014/main" id="{ADA7CDF6-12C8-110C-2C68-E203A5CCFF93}"/>
              </a:ext>
            </a:extLst>
          </p:cNvPr>
          <p:cNvSpPr txBox="1"/>
          <p:nvPr/>
        </p:nvSpPr>
        <p:spPr>
          <a:xfrm>
            <a:off x="10664734" y="3388182"/>
            <a:ext cx="12002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数据服务</a:t>
            </a:r>
          </a:p>
        </p:txBody>
      </p:sp>
      <p:sp>
        <p:nvSpPr>
          <p:cNvPr id="1361" name="m-d33_sunburst-inv-3">
            <a:extLst>
              <a:ext uri="{FF2B5EF4-FFF2-40B4-BE49-F238E27FC236}">
                <a16:creationId xmlns:a16="http://schemas.microsoft.com/office/drawing/2014/main" id="{57C6B084-7EC1-3688-B832-ED78946185C2}"/>
              </a:ext>
            </a:extLst>
          </p:cNvPr>
          <p:cNvSpPr txBox="1"/>
          <p:nvPr/>
        </p:nvSpPr>
        <p:spPr>
          <a:xfrm>
            <a:off x="10699556" y="3424247"/>
            <a:ext cx="50378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E3EDF9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18%</a:t>
            </a:r>
          </a:p>
        </p:txBody>
      </p:sp>
      <p:sp>
        <p:nvSpPr>
          <p:cNvPr id="1362" name="m-d33_sunburst-out-3-1">
            <a:extLst>
              <a:ext uri="{FF2B5EF4-FFF2-40B4-BE49-F238E27FC236}">
                <a16:creationId xmlns:a16="http://schemas.microsoft.com/office/drawing/2014/main" id="{36000D8B-FB47-C5D7-2870-1F374C65E527}"/>
              </a:ext>
            </a:extLst>
          </p:cNvPr>
          <p:cNvSpPr/>
          <p:nvPr/>
        </p:nvSpPr>
        <p:spPr>
          <a:xfrm>
            <a:off x="10501972" y="3397153"/>
            <a:ext cx="146494" cy="202885"/>
          </a:xfrm>
          <a:custGeom>
            <a:avLst/>
            <a:gdLst/>
            <a:ahLst/>
            <a:cxnLst/>
            <a:rect l="0" t="0" r="r" b="b"/>
            <a:pathLst>
              <a:path w="146494" h="202885">
                <a:moveTo>
                  <a:pt x="16994" y="195360"/>
                </a:moveTo>
                <a:cubicBezTo>
                  <a:pt x="-596" y="134717"/>
                  <a:pt x="-4596" y="70963"/>
                  <a:pt x="5246" y="8606"/>
                </a:cubicBezTo>
                <a:quadBezTo>
                  <a:pt x="6961" y="-1617"/>
                  <a:pt x="17184" y="288"/>
                </a:quadBezTo>
                <a:lnTo>
                  <a:pt x="129770" y="21814"/>
                </a:lnTo>
                <a:quadBezTo>
                  <a:pt x="139993" y="23719"/>
                  <a:pt x="138342" y="34006"/>
                </a:quadBezTo>
                <a:cubicBezTo>
                  <a:pt x="132627" y="73948"/>
                  <a:pt x="135167" y="114588"/>
                  <a:pt x="145835" y="153450"/>
                </a:cubicBezTo>
                <a:quadBezTo>
                  <a:pt x="148756" y="163483"/>
                  <a:pt x="138850" y="166721"/>
                </a:quadBezTo>
                <a:lnTo>
                  <a:pt x="29948" y="202091"/>
                </a:lnTo>
                <a:quadBezTo>
                  <a:pt x="19978" y="205329"/>
                  <a:pt x="16994" y="195360"/>
                </a:quadBezTo>
                <a:close/>
              </a:path>
            </a:pathLst>
          </a:custGeom>
          <a:solidFill>
            <a:srgbClr val="74AF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63" name="m-d33_sunburst-outt-3-1">
            <a:extLst>
              <a:ext uri="{FF2B5EF4-FFF2-40B4-BE49-F238E27FC236}">
                <a16:creationId xmlns:a16="http://schemas.microsoft.com/office/drawing/2014/main" id="{81102235-F2C2-5962-93C4-13B48BAA4976}"/>
              </a:ext>
            </a:extLst>
          </p:cNvPr>
          <p:cNvSpPr txBox="1"/>
          <p:nvPr/>
        </p:nvSpPr>
        <p:spPr>
          <a:xfrm>
            <a:off x="10550631" y="3479234"/>
            <a:ext cx="3944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8%</a:t>
            </a:r>
          </a:p>
        </p:txBody>
      </p:sp>
      <p:sp>
        <p:nvSpPr>
          <p:cNvPr id="1364" name="m-d33_sunburst-out-3-2">
            <a:extLst>
              <a:ext uri="{FF2B5EF4-FFF2-40B4-BE49-F238E27FC236}">
                <a16:creationId xmlns:a16="http://schemas.microsoft.com/office/drawing/2014/main" id="{22E065B3-1AC5-B27F-C6EC-1E1EE3CAC25C}"/>
              </a:ext>
            </a:extLst>
          </p:cNvPr>
          <p:cNvSpPr/>
          <p:nvPr/>
        </p:nvSpPr>
        <p:spPr>
          <a:xfrm>
            <a:off x="10511987" y="3248800"/>
            <a:ext cx="166095" cy="164063"/>
          </a:xfrm>
          <a:custGeom>
            <a:avLst/>
            <a:gdLst/>
            <a:ahLst/>
            <a:cxnLst/>
            <a:rect l="0" t="0" r="r" b="b"/>
            <a:pathLst>
              <a:path w="166095" h="164063">
                <a:moveTo>
                  <a:pt x="374" y="130162"/>
                </a:moveTo>
                <a:cubicBezTo>
                  <a:pt x="10153" y="86284"/>
                  <a:pt x="26854" y="44183"/>
                  <a:pt x="49714" y="5512"/>
                </a:cubicBezTo>
                <a:quadBezTo>
                  <a:pt x="55111" y="-3442"/>
                  <a:pt x="63874" y="2146"/>
                </a:quadBezTo>
                <a:lnTo>
                  <a:pt x="160648" y="63551"/>
                </a:lnTo>
                <a:quadBezTo>
                  <a:pt x="169411" y="69139"/>
                  <a:pt x="164077" y="78092"/>
                </a:quadBezTo>
                <a:cubicBezTo>
                  <a:pt x="150234" y="102349"/>
                  <a:pt x="139947" y="128384"/>
                  <a:pt x="133407" y="155499"/>
                </a:cubicBezTo>
                <a:quadBezTo>
                  <a:pt x="131184" y="165722"/>
                  <a:pt x="120961" y="163754"/>
                </a:quadBezTo>
                <a:lnTo>
                  <a:pt x="8439" y="142291"/>
                </a:lnTo>
                <a:quadBezTo>
                  <a:pt x="-1785" y="140322"/>
                  <a:pt x="374" y="130162"/>
                </a:quadBezTo>
                <a:close/>
              </a:path>
            </a:pathLst>
          </a:custGeom>
          <a:solidFill>
            <a:srgbClr val="99C4E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65" name="m-d33_sunburst-outt-3-2">
            <a:extLst>
              <a:ext uri="{FF2B5EF4-FFF2-40B4-BE49-F238E27FC236}">
                <a16:creationId xmlns:a16="http://schemas.microsoft.com/office/drawing/2014/main" id="{90080E07-86A3-A166-C375-9A1A87D81978}"/>
              </a:ext>
            </a:extLst>
          </p:cNvPr>
          <p:cNvSpPr txBox="1"/>
          <p:nvPr/>
        </p:nvSpPr>
        <p:spPr>
          <a:xfrm>
            <a:off x="10575330" y="3323291"/>
            <a:ext cx="3944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6%</a:t>
            </a:r>
          </a:p>
        </p:txBody>
      </p:sp>
      <p:sp>
        <p:nvSpPr>
          <p:cNvPr id="1366" name="m-d33_sunburst-out-3-3">
            <a:extLst>
              <a:ext uri="{FF2B5EF4-FFF2-40B4-BE49-F238E27FC236}">
                <a16:creationId xmlns:a16="http://schemas.microsoft.com/office/drawing/2014/main" id="{F34340E3-51D3-B18D-359A-47345FAD1DFC}"/>
              </a:ext>
            </a:extLst>
          </p:cNvPr>
          <p:cNvSpPr/>
          <p:nvPr/>
        </p:nvSpPr>
        <p:spPr>
          <a:xfrm>
            <a:off x="10574056" y="3165618"/>
            <a:ext cx="150078" cy="143399"/>
          </a:xfrm>
          <a:custGeom>
            <a:avLst/>
            <a:gdLst/>
            <a:ahLst/>
            <a:cxnLst/>
            <a:rect l="0" t="0" r="r" b="b"/>
            <a:pathLst>
              <a:path w="150078" h="143399">
                <a:moveTo>
                  <a:pt x="2250" y="65580"/>
                </a:moveTo>
                <a:cubicBezTo>
                  <a:pt x="17427" y="43355"/>
                  <a:pt x="34572" y="22590"/>
                  <a:pt x="53558" y="3540"/>
                </a:cubicBezTo>
                <a:quadBezTo>
                  <a:pt x="61051" y="-3699"/>
                  <a:pt x="68163" y="3858"/>
                </a:quadBezTo>
                <a:lnTo>
                  <a:pt x="146586" y="87360"/>
                </a:lnTo>
                <a:quadBezTo>
                  <a:pt x="153698" y="94980"/>
                  <a:pt x="146332" y="102346"/>
                </a:quadBezTo>
                <a:cubicBezTo>
                  <a:pt x="135537" y="113459"/>
                  <a:pt x="125567" y="125460"/>
                  <a:pt x="116677" y="138160"/>
                </a:cubicBezTo>
                <a:quadBezTo>
                  <a:pt x="110835" y="146796"/>
                  <a:pt x="102009" y="141208"/>
                </a:quadBezTo>
                <a:lnTo>
                  <a:pt x="5298" y="79867"/>
                </a:lnTo>
                <a:quadBezTo>
                  <a:pt x="-3465" y="74279"/>
                  <a:pt x="2250" y="65580"/>
                </a:quadBezTo>
                <a:close/>
              </a:path>
            </a:pathLst>
          </a:custGeom>
          <a:solidFill>
            <a:srgbClr val="BEDA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67" name="m-d33_sunburst-in-4">
            <a:extLst>
              <a:ext uri="{FF2B5EF4-FFF2-40B4-BE49-F238E27FC236}">
                <a16:creationId xmlns:a16="http://schemas.microsoft.com/office/drawing/2014/main" id="{A3EF34AB-D9F1-9D51-5477-52BFAC653F30}"/>
              </a:ext>
            </a:extLst>
          </p:cNvPr>
          <p:cNvSpPr/>
          <p:nvPr/>
        </p:nvSpPr>
        <p:spPr>
          <a:xfrm>
            <a:off x="10744803" y="3189531"/>
            <a:ext cx="182785" cy="171872"/>
          </a:xfrm>
          <a:custGeom>
            <a:avLst/>
            <a:gdLst/>
            <a:ahLst/>
            <a:cxnLst/>
            <a:rect l="0" t="0" r="r" b="b"/>
            <a:pathLst>
              <a:path w="182785" h="171872">
                <a:moveTo>
                  <a:pt x="5112" y="65225"/>
                </a:moveTo>
                <a:cubicBezTo>
                  <a:pt x="51657" y="26490"/>
                  <a:pt x="109379" y="3630"/>
                  <a:pt x="169831" y="11"/>
                </a:cubicBezTo>
                <a:quadBezTo>
                  <a:pt x="182785" y="-497"/>
                  <a:pt x="182785" y="12520"/>
                </a:quadBezTo>
                <a:lnTo>
                  <a:pt x="182785" y="127138"/>
                </a:lnTo>
                <a:quadBezTo>
                  <a:pt x="182785" y="140155"/>
                  <a:pt x="169831" y="141108"/>
                </a:quadBezTo>
                <a:cubicBezTo>
                  <a:pt x="145193" y="144029"/>
                  <a:pt x="121698" y="153300"/>
                  <a:pt x="101695" y="168095"/>
                </a:cubicBezTo>
                <a:quadBezTo>
                  <a:pt x="91599" y="176287"/>
                  <a:pt x="82645" y="166762"/>
                </a:quadBezTo>
                <a:lnTo>
                  <a:pt x="4223" y="83259"/>
                </a:lnTo>
                <a:quadBezTo>
                  <a:pt x="-4667" y="73798"/>
                  <a:pt x="5112" y="65225"/>
                </a:quadBezTo>
                <a:close/>
              </a:path>
            </a:pathLst>
          </a:custGeom>
          <a:gradFill rotWithShape="1">
            <a:gsLst>
              <a:gs pos="0">
                <a:srgbClr val="E48152"/>
              </a:gs>
              <a:gs pos="100000">
                <a:srgbClr val="E0703A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68" name="m-d33_sunburst-int-4">
            <a:extLst>
              <a:ext uri="{FF2B5EF4-FFF2-40B4-BE49-F238E27FC236}">
                <a16:creationId xmlns:a16="http://schemas.microsoft.com/office/drawing/2014/main" id="{70D0A7EA-E7C9-080C-5211-944EE51C6688}"/>
              </a:ext>
            </a:extLst>
          </p:cNvPr>
          <p:cNvSpPr txBox="1"/>
          <p:nvPr/>
        </p:nvSpPr>
        <p:spPr>
          <a:xfrm>
            <a:off x="10817658" y="3242778"/>
            <a:ext cx="70555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咨询</a:t>
            </a:r>
          </a:p>
        </p:txBody>
      </p:sp>
      <p:sp>
        <p:nvSpPr>
          <p:cNvPr id="1369" name="m-d33_sunburst-inv-4">
            <a:extLst>
              <a:ext uri="{FF2B5EF4-FFF2-40B4-BE49-F238E27FC236}">
                <a16:creationId xmlns:a16="http://schemas.microsoft.com/office/drawing/2014/main" id="{6757CF2D-F9B7-9056-8966-3C857FCC41CF}"/>
              </a:ext>
            </a:extLst>
          </p:cNvPr>
          <p:cNvSpPr txBox="1"/>
          <p:nvPr/>
        </p:nvSpPr>
        <p:spPr>
          <a:xfrm>
            <a:off x="10827746" y="3278843"/>
            <a:ext cx="50378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E3EDF9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12%</a:t>
            </a:r>
          </a:p>
        </p:txBody>
      </p:sp>
      <p:sp>
        <p:nvSpPr>
          <p:cNvPr id="1370" name="m-d33_sunburst-out-4-1">
            <a:extLst>
              <a:ext uri="{FF2B5EF4-FFF2-40B4-BE49-F238E27FC236}">
                <a16:creationId xmlns:a16="http://schemas.microsoft.com/office/drawing/2014/main" id="{0B513F79-10D8-E2C1-E58F-D47FDE851734}"/>
              </a:ext>
            </a:extLst>
          </p:cNvPr>
          <p:cNvSpPr/>
          <p:nvPr/>
        </p:nvSpPr>
        <p:spPr>
          <a:xfrm>
            <a:off x="10643568" y="3067820"/>
            <a:ext cx="191540" cy="184698"/>
          </a:xfrm>
          <a:custGeom>
            <a:avLst/>
            <a:gdLst/>
            <a:ahLst/>
            <a:cxnLst/>
            <a:rect l="0" t="0" r="r" b="b"/>
            <a:pathLst>
              <a:path w="191540" h="184698">
                <a:moveTo>
                  <a:pt x="3985" y="82669"/>
                </a:moveTo>
                <a:cubicBezTo>
                  <a:pt x="44561" y="46919"/>
                  <a:pt x="91424" y="19169"/>
                  <a:pt x="142288" y="881"/>
                </a:cubicBezTo>
                <a:quadBezTo>
                  <a:pt x="152130" y="-2548"/>
                  <a:pt x="155305" y="7358"/>
                </a:quadBezTo>
                <a:lnTo>
                  <a:pt x="190738" y="116324"/>
                </a:lnTo>
                <a:quadBezTo>
                  <a:pt x="193977" y="126230"/>
                  <a:pt x="184134" y="129723"/>
                </a:quadBezTo>
                <a:cubicBezTo>
                  <a:pt x="152257" y="141788"/>
                  <a:pt x="122666" y="159250"/>
                  <a:pt x="96758" y="181412"/>
                </a:cubicBezTo>
                <a:quadBezTo>
                  <a:pt x="88948" y="188333"/>
                  <a:pt x="81836" y="180713"/>
                </a:quadBezTo>
                <a:lnTo>
                  <a:pt x="3413" y="97211"/>
                </a:lnTo>
                <a:quadBezTo>
                  <a:pt x="-3699" y="89654"/>
                  <a:pt x="3985" y="82669"/>
                </a:quadBezTo>
                <a:close/>
              </a:path>
            </a:pathLst>
          </a:custGeom>
          <a:solidFill>
            <a:srgbClr val="E8946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71" name="m-d33_sunburst-outt-4-1">
            <a:extLst>
              <a:ext uri="{FF2B5EF4-FFF2-40B4-BE49-F238E27FC236}">
                <a16:creationId xmlns:a16="http://schemas.microsoft.com/office/drawing/2014/main" id="{FC316897-D72A-914D-8ABC-B6F233A1B7B6}"/>
              </a:ext>
            </a:extLst>
          </p:cNvPr>
          <p:cNvSpPr txBox="1"/>
          <p:nvPr/>
        </p:nvSpPr>
        <p:spPr>
          <a:xfrm>
            <a:off x="10727588" y="3145020"/>
            <a:ext cx="3944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7%</a:t>
            </a:r>
          </a:p>
        </p:txBody>
      </p:sp>
      <p:sp>
        <p:nvSpPr>
          <p:cNvPr id="1372" name="m-d33_sunburst-out-4-2">
            <a:extLst>
              <a:ext uri="{FF2B5EF4-FFF2-40B4-BE49-F238E27FC236}">
                <a16:creationId xmlns:a16="http://schemas.microsoft.com/office/drawing/2014/main" id="{B2E008EA-38ED-54AF-BDBB-6A7DA3BFCDB7}"/>
              </a:ext>
            </a:extLst>
          </p:cNvPr>
          <p:cNvSpPr/>
          <p:nvPr/>
        </p:nvSpPr>
        <p:spPr>
          <a:xfrm>
            <a:off x="10804303" y="3043428"/>
            <a:ext cx="123984" cy="146328"/>
          </a:xfrm>
          <a:custGeom>
            <a:avLst/>
            <a:gdLst/>
            <a:ahLst/>
            <a:cxnLst/>
            <a:rect l="0" t="0" r="r" b="b"/>
            <a:pathLst>
              <a:path w="123984" h="146328">
                <a:moveTo>
                  <a:pt x="7525" y="16828"/>
                </a:moveTo>
                <a:cubicBezTo>
                  <a:pt x="42005" y="6795"/>
                  <a:pt x="77629" y="1143"/>
                  <a:pt x="113570" y="0"/>
                </a:cubicBezTo>
                <a:quadBezTo>
                  <a:pt x="123984" y="-190"/>
                  <a:pt x="123984" y="10224"/>
                </a:quadBezTo>
                <a:lnTo>
                  <a:pt x="123984" y="124778"/>
                </a:lnTo>
                <a:quadBezTo>
                  <a:pt x="123984" y="135192"/>
                  <a:pt x="113570" y="135509"/>
                </a:quadBezTo>
                <a:cubicBezTo>
                  <a:pt x="91853" y="136525"/>
                  <a:pt x="70326" y="139954"/>
                  <a:pt x="49435" y="145669"/>
                </a:cubicBezTo>
                <a:quadBezTo>
                  <a:pt x="39402" y="148590"/>
                  <a:pt x="36163" y="138684"/>
                </a:quadBezTo>
                <a:lnTo>
                  <a:pt x="794" y="29718"/>
                </a:lnTo>
                <a:quadBezTo>
                  <a:pt x="-2445" y="19812"/>
                  <a:pt x="7525" y="16828"/>
                </a:quadBezTo>
                <a:close/>
              </a:path>
            </a:pathLst>
          </a:custGeom>
          <a:solidFill>
            <a:srgbClr val="EEB09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73" name="m-d33_sunburst-core">
            <a:extLst>
              <a:ext uri="{FF2B5EF4-FFF2-40B4-BE49-F238E27FC236}">
                <a16:creationId xmlns:a16="http://schemas.microsoft.com/office/drawing/2014/main" id="{49F09518-8968-E0ED-F27B-87A5A9BA45B6}"/>
              </a:ext>
            </a:extLst>
          </p:cNvPr>
          <p:cNvSpPr/>
          <p:nvPr/>
        </p:nvSpPr>
        <p:spPr>
          <a:xfrm>
            <a:off x="10803954" y="3345243"/>
            <a:ext cx="255143" cy="255143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74" name="m-d33_sunburst-core-v">
            <a:extLst>
              <a:ext uri="{FF2B5EF4-FFF2-40B4-BE49-F238E27FC236}">
                <a16:creationId xmlns:a16="http://schemas.microsoft.com/office/drawing/2014/main" id="{34CF08FE-FA94-4F9A-DF8F-31A8AC49C51F}"/>
              </a:ext>
            </a:extLst>
          </p:cNvPr>
          <p:cNvSpPr txBox="1"/>
          <p:nvPr/>
        </p:nvSpPr>
        <p:spPr>
          <a:xfrm>
            <a:off x="10871046" y="3401466"/>
            <a:ext cx="120959" cy="10479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7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12</a:t>
            </a:r>
          </a:p>
        </p:txBody>
      </p:sp>
      <p:sp>
        <p:nvSpPr>
          <p:cNvPr id="1375" name="m-d33_sunburst-core-l">
            <a:extLst>
              <a:ext uri="{FF2B5EF4-FFF2-40B4-BE49-F238E27FC236}">
                <a16:creationId xmlns:a16="http://schemas.microsoft.com/office/drawing/2014/main" id="{451353A6-9BEE-2280-DACE-DE0A396A27BB}"/>
              </a:ext>
            </a:extLst>
          </p:cNvPr>
          <p:cNvSpPr txBox="1"/>
          <p:nvPr/>
        </p:nvSpPr>
        <p:spPr>
          <a:xfrm>
            <a:off x="10881082" y="3492960"/>
            <a:ext cx="100886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亿元营收</a:t>
            </a:r>
          </a:p>
        </p:txBody>
      </p:sp>
      <p:sp>
        <p:nvSpPr>
          <p:cNvPr id="1376" name="m-d33_sunburst-lg-1">
            <a:extLst>
              <a:ext uri="{FF2B5EF4-FFF2-40B4-BE49-F238E27FC236}">
                <a16:creationId xmlns:a16="http://schemas.microsoft.com/office/drawing/2014/main" id="{E8B3AC70-AAEF-C16E-DDBE-3DE494FD5881}"/>
              </a:ext>
            </a:extLst>
          </p:cNvPr>
          <p:cNvSpPr/>
          <p:nvPr/>
        </p:nvSpPr>
        <p:spPr>
          <a:xfrm>
            <a:off x="11556365" y="3025013"/>
            <a:ext cx="768032" cy="208280"/>
          </a:xfrm>
          <a:custGeom>
            <a:avLst/>
            <a:gdLst/>
            <a:ahLst/>
            <a:cxnLst/>
            <a:rect l="0" t="0" r="r" b="b"/>
            <a:pathLst>
              <a:path w="768032" h="208280">
                <a:moveTo>
                  <a:pt x="23431" y="0"/>
                </a:moveTo>
                <a:lnTo>
                  <a:pt x="744601" y="0"/>
                </a:lnTo>
                <a:cubicBezTo>
                  <a:pt x="757555" y="0"/>
                  <a:pt x="768032" y="10477"/>
                  <a:pt x="768032" y="23431"/>
                </a:cubicBezTo>
                <a:lnTo>
                  <a:pt x="768032" y="184849"/>
                </a:lnTo>
                <a:cubicBezTo>
                  <a:pt x="768032" y="197802"/>
                  <a:pt x="757555" y="208280"/>
                  <a:pt x="744601" y="208280"/>
                </a:cubicBezTo>
                <a:lnTo>
                  <a:pt x="23431" y="208280"/>
                </a:lnTo>
                <a:cubicBezTo>
                  <a:pt x="10477" y="208280"/>
                  <a:pt x="0" y="197802"/>
                  <a:pt x="0" y="184849"/>
                </a:cubicBezTo>
                <a:lnTo>
                  <a:pt x="0" y="23431"/>
                </a:lnTo>
                <a:cubicBezTo>
                  <a:pt x="0" y="10477"/>
                  <a:pt x="10477" y="0"/>
                  <a:pt x="2343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77" name="m-d33_sunburst-lgb-1">
            <a:extLst>
              <a:ext uri="{FF2B5EF4-FFF2-40B4-BE49-F238E27FC236}">
                <a16:creationId xmlns:a16="http://schemas.microsoft.com/office/drawing/2014/main" id="{55F964F4-2EF3-ADF5-69AC-318EEF60F0C7}"/>
              </a:ext>
            </a:extLst>
          </p:cNvPr>
          <p:cNvSpPr/>
          <p:nvPr/>
        </p:nvSpPr>
        <p:spPr>
          <a:xfrm>
            <a:off x="11556365" y="3025013"/>
            <a:ext cx="7811" cy="208280"/>
          </a:xfrm>
          <a:custGeom>
            <a:avLst/>
            <a:gdLst/>
            <a:ahLst/>
            <a:cxnLst/>
            <a:rect l="0" t="0" r="r" b="b"/>
            <a:pathLst>
              <a:path w="7811" h="208280">
                <a:moveTo>
                  <a:pt x="3873" y="0"/>
                </a:moveTo>
                <a:lnTo>
                  <a:pt x="3873" y="0"/>
                </a:lnTo>
                <a:cubicBezTo>
                  <a:pt x="6096" y="0"/>
                  <a:pt x="7811" y="1714"/>
                  <a:pt x="7811" y="3937"/>
                </a:cubicBezTo>
                <a:lnTo>
                  <a:pt x="7811" y="204343"/>
                </a:lnTo>
                <a:cubicBezTo>
                  <a:pt x="7811" y="206566"/>
                  <a:pt x="6096" y="208280"/>
                  <a:pt x="3873" y="208280"/>
                </a:cubicBezTo>
                <a:lnTo>
                  <a:pt x="3873" y="208280"/>
                </a:lnTo>
                <a:cubicBezTo>
                  <a:pt x="1714" y="208280"/>
                  <a:pt x="0" y="206566"/>
                  <a:pt x="0" y="204343"/>
                </a:cubicBezTo>
                <a:lnTo>
                  <a:pt x="0" y="3937"/>
                </a:lnTo>
                <a:cubicBezTo>
                  <a:pt x="0" y="1714"/>
                  <a:pt x="1714" y="0"/>
                  <a:pt x="3873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78" name="m-d33_sunburst-lgn-1">
            <a:extLst>
              <a:ext uri="{FF2B5EF4-FFF2-40B4-BE49-F238E27FC236}">
                <a16:creationId xmlns:a16="http://schemas.microsoft.com/office/drawing/2014/main" id="{7AD3EB29-6814-398E-59EB-F0B5C1CEB683}"/>
              </a:ext>
            </a:extLst>
          </p:cNvPr>
          <p:cNvSpPr txBox="1"/>
          <p:nvPr/>
        </p:nvSpPr>
        <p:spPr>
          <a:xfrm>
            <a:off x="11589690" y="3037119"/>
            <a:ext cx="135382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企业软件</a:t>
            </a:r>
          </a:p>
        </p:txBody>
      </p:sp>
      <p:sp>
        <p:nvSpPr>
          <p:cNvPr id="1379" name="m-d33_sunburst-lgv-1">
            <a:extLst>
              <a:ext uri="{FF2B5EF4-FFF2-40B4-BE49-F238E27FC236}">
                <a16:creationId xmlns:a16="http://schemas.microsoft.com/office/drawing/2014/main" id="{5731F0AE-9152-4CE8-2931-D5628E82C8BE}"/>
              </a:ext>
            </a:extLst>
          </p:cNvPr>
          <p:cNvSpPr txBox="1"/>
          <p:nvPr/>
        </p:nvSpPr>
        <p:spPr>
          <a:xfrm>
            <a:off x="12104948" y="3041942"/>
            <a:ext cx="183052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3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42% · 5.04 亿</a:t>
            </a:r>
          </a:p>
        </p:txBody>
      </p:sp>
      <p:sp>
        <p:nvSpPr>
          <p:cNvPr id="1380" name="m-d33_sunburst-lgc-1-1">
            <a:extLst>
              <a:ext uri="{FF2B5EF4-FFF2-40B4-BE49-F238E27FC236}">
                <a16:creationId xmlns:a16="http://schemas.microsoft.com/office/drawing/2014/main" id="{C24126A3-22EB-7681-614C-D8201E8FA6EC}"/>
              </a:ext>
            </a:extLst>
          </p:cNvPr>
          <p:cNvSpPr/>
          <p:nvPr/>
        </p:nvSpPr>
        <p:spPr>
          <a:xfrm>
            <a:off x="11595418" y="3096578"/>
            <a:ext cx="20828" cy="20892"/>
          </a:xfrm>
          <a:custGeom>
            <a:avLst/>
            <a:gdLst/>
            <a:ahLst/>
            <a:cxnLst/>
            <a:rect l="0" t="0" r="r" b="b"/>
            <a:pathLst>
              <a:path w="20828" h="20892">
                <a:moveTo>
                  <a:pt x="5207" y="0"/>
                </a:moveTo>
                <a:lnTo>
                  <a:pt x="15621" y="0"/>
                </a:lnTo>
                <a:cubicBezTo>
                  <a:pt x="18479" y="0"/>
                  <a:pt x="20828" y="2350"/>
                  <a:pt x="20828" y="5271"/>
                </a:cubicBezTo>
                <a:lnTo>
                  <a:pt x="20828" y="15685"/>
                </a:lnTo>
                <a:cubicBezTo>
                  <a:pt x="20828" y="18542"/>
                  <a:pt x="18479" y="20892"/>
                  <a:pt x="15621" y="20892"/>
                </a:cubicBezTo>
                <a:lnTo>
                  <a:pt x="5207" y="20892"/>
                </a:lnTo>
                <a:cubicBezTo>
                  <a:pt x="2350" y="20892"/>
                  <a:pt x="0" y="18542"/>
                  <a:pt x="0" y="15685"/>
                </a:cubicBezTo>
                <a:lnTo>
                  <a:pt x="0" y="5271"/>
                </a:lnTo>
                <a:cubicBezTo>
                  <a:pt x="0" y="2350"/>
                  <a:pt x="2350" y="0"/>
                  <a:pt x="5207" y="0"/>
                </a:cubicBezTo>
                <a:close/>
              </a:path>
            </a:pathLst>
          </a:custGeom>
          <a:solidFill>
            <a:srgbClr val="486EA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81" name="m-d33_sunburst-lgs-1-1">
            <a:extLst>
              <a:ext uri="{FF2B5EF4-FFF2-40B4-BE49-F238E27FC236}">
                <a16:creationId xmlns:a16="http://schemas.microsoft.com/office/drawing/2014/main" id="{AEA7A299-AEE6-DA59-1CCD-0C6A0149A864}"/>
              </a:ext>
            </a:extLst>
          </p:cNvPr>
          <p:cNvSpPr txBox="1"/>
          <p:nvPr/>
        </p:nvSpPr>
        <p:spPr>
          <a:xfrm>
            <a:off x="11626764" y="3087809"/>
            <a:ext cx="55298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ERP</a:t>
            </a:r>
          </a:p>
        </p:txBody>
      </p:sp>
      <p:sp>
        <p:nvSpPr>
          <p:cNvPr id="1382" name="m-d33_sunburst-lgbar-1-1">
            <a:extLst>
              <a:ext uri="{FF2B5EF4-FFF2-40B4-BE49-F238E27FC236}">
                <a16:creationId xmlns:a16="http://schemas.microsoft.com/office/drawing/2014/main" id="{221D83D7-C2C6-D517-107B-D516342D859D}"/>
              </a:ext>
            </a:extLst>
          </p:cNvPr>
          <p:cNvSpPr/>
          <p:nvPr/>
        </p:nvSpPr>
        <p:spPr>
          <a:xfrm>
            <a:off x="11816715" y="3099181"/>
            <a:ext cx="338455" cy="15621"/>
          </a:xfrm>
          <a:custGeom>
            <a:avLst/>
            <a:gdLst/>
            <a:ahLst/>
            <a:cxnLst/>
            <a:rect l="0" t="0" r="r" b="b"/>
            <a:pathLst>
              <a:path w="338455" h="15621">
                <a:moveTo>
                  <a:pt x="7811" y="0"/>
                </a:moveTo>
                <a:lnTo>
                  <a:pt x="330644" y="0"/>
                </a:lnTo>
                <a:cubicBezTo>
                  <a:pt x="334962" y="0"/>
                  <a:pt x="338455" y="3556"/>
                  <a:pt x="338455" y="7874"/>
                </a:cubicBezTo>
                <a:lnTo>
                  <a:pt x="338455" y="7874"/>
                </a:lnTo>
                <a:cubicBezTo>
                  <a:pt x="338455" y="12129"/>
                  <a:pt x="334962" y="15621"/>
                  <a:pt x="330644" y="15621"/>
                </a:cubicBezTo>
                <a:lnTo>
                  <a:pt x="7811" y="15621"/>
                </a:lnTo>
                <a:cubicBezTo>
                  <a:pt x="3492" y="15621"/>
                  <a:pt x="0" y="12129"/>
                  <a:pt x="0" y="7874"/>
                </a:cubicBezTo>
                <a:lnTo>
                  <a:pt x="0" y="7874"/>
                </a:lnTo>
                <a:cubicBezTo>
                  <a:pt x="0" y="3556"/>
                  <a:pt x="3492" y="0"/>
                  <a:pt x="7811" y="0"/>
                </a:cubicBezTo>
                <a:close/>
              </a:path>
            </a:pathLst>
          </a:custGeom>
          <a:solidFill>
            <a:srgbClr val="486EA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83" name="m-d33_sunburst-lgp-1-1">
            <a:extLst>
              <a:ext uri="{FF2B5EF4-FFF2-40B4-BE49-F238E27FC236}">
                <a16:creationId xmlns:a16="http://schemas.microsoft.com/office/drawing/2014/main" id="{306D7445-1E07-23DE-9563-187CF964D9D0}"/>
              </a:ext>
            </a:extLst>
          </p:cNvPr>
          <p:cNvSpPr txBox="1"/>
          <p:nvPr/>
        </p:nvSpPr>
        <p:spPr>
          <a:xfrm>
            <a:off x="12234108" y="3087809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18%</a:t>
            </a:r>
          </a:p>
        </p:txBody>
      </p:sp>
      <p:sp>
        <p:nvSpPr>
          <p:cNvPr id="1384" name="m-d33_sunburst-lgc-1-2">
            <a:extLst>
              <a:ext uri="{FF2B5EF4-FFF2-40B4-BE49-F238E27FC236}">
                <a16:creationId xmlns:a16="http://schemas.microsoft.com/office/drawing/2014/main" id="{10BCDA0A-AD1C-567B-9A5D-C97D0CD985E9}"/>
              </a:ext>
            </a:extLst>
          </p:cNvPr>
          <p:cNvSpPr/>
          <p:nvPr/>
        </p:nvSpPr>
        <p:spPr>
          <a:xfrm>
            <a:off x="11595418" y="3143440"/>
            <a:ext cx="20828" cy="20828"/>
          </a:xfrm>
          <a:custGeom>
            <a:avLst/>
            <a:gdLst/>
            <a:ahLst/>
            <a:cxnLst/>
            <a:rect l="0" t="0" r="r" b="b"/>
            <a:pathLst>
              <a:path w="20828" h="20828">
                <a:moveTo>
                  <a:pt x="5207" y="0"/>
                </a:moveTo>
                <a:lnTo>
                  <a:pt x="15621" y="0"/>
                </a:lnTo>
                <a:cubicBezTo>
                  <a:pt x="18479" y="0"/>
                  <a:pt x="20828" y="2350"/>
                  <a:pt x="20828" y="5271"/>
                </a:cubicBezTo>
                <a:lnTo>
                  <a:pt x="20828" y="15685"/>
                </a:lnTo>
                <a:cubicBezTo>
                  <a:pt x="20828" y="18542"/>
                  <a:pt x="18479" y="20828"/>
                  <a:pt x="15621" y="20828"/>
                </a:cubicBezTo>
                <a:lnTo>
                  <a:pt x="5207" y="20828"/>
                </a:lnTo>
                <a:cubicBezTo>
                  <a:pt x="2350" y="20828"/>
                  <a:pt x="0" y="18542"/>
                  <a:pt x="0" y="15685"/>
                </a:cubicBezTo>
                <a:lnTo>
                  <a:pt x="0" y="5271"/>
                </a:lnTo>
                <a:cubicBezTo>
                  <a:pt x="0" y="2350"/>
                  <a:pt x="2350" y="0"/>
                  <a:pt x="5207" y="0"/>
                </a:cubicBezTo>
                <a:close/>
              </a:path>
            </a:pathLst>
          </a:custGeom>
          <a:solidFill>
            <a:srgbClr val="7995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85" name="m-d33_sunburst-lgs-1-2">
            <a:extLst>
              <a:ext uri="{FF2B5EF4-FFF2-40B4-BE49-F238E27FC236}">
                <a16:creationId xmlns:a16="http://schemas.microsoft.com/office/drawing/2014/main" id="{7192E38B-575C-2643-0B93-1AB8716EA42E}"/>
              </a:ext>
            </a:extLst>
          </p:cNvPr>
          <p:cNvSpPr txBox="1"/>
          <p:nvPr/>
        </p:nvSpPr>
        <p:spPr>
          <a:xfrm>
            <a:off x="11626764" y="3134672"/>
            <a:ext cx="55298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CRM</a:t>
            </a:r>
          </a:p>
        </p:txBody>
      </p:sp>
      <p:sp>
        <p:nvSpPr>
          <p:cNvPr id="1386" name="m-d33_sunburst-lgbar-1-2">
            <a:extLst>
              <a:ext uri="{FF2B5EF4-FFF2-40B4-BE49-F238E27FC236}">
                <a16:creationId xmlns:a16="http://schemas.microsoft.com/office/drawing/2014/main" id="{925A543F-67D9-2484-F554-ADB07CCC5A69}"/>
              </a:ext>
            </a:extLst>
          </p:cNvPr>
          <p:cNvSpPr/>
          <p:nvPr/>
        </p:nvSpPr>
        <p:spPr>
          <a:xfrm>
            <a:off x="11816715" y="3146044"/>
            <a:ext cx="263271" cy="15621"/>
          </a:xfrm>
          <a:custGeom>
            <a:avLst/>
            <a:gdLst/>
            <a:ahLst/>
            <a:cxnLst/>
            <a:rect l="0" t="0" r="r" b="b"/>
            <a:pathLst>
              <a:path w="263271" h="15621">
                <a:moveTo>
                  <a:pt x="7811" y="0"/>
                </a:moveTo>
                <a:lnTo>
                  <a:pt x="255461" y="0"/>
                </a:lnTo>
                <a:cubicBezTo>
                  <a:pt x="259778" y="0"/>
                  <a:pt x="263271" y="3556"/>
                  <a:pt x="263271" y="7874"/>
                </a:cubicBezTo>
                <a:lnTo>
                  <a:pt x="263271" y="7874"/>
                </a:lnTo>
                <a:cubicBezTo>
                  <a:pt x="263271" y="12129"/>
                  <a:pt x="259778" y="15621"/>
                  <a:pt x="255461" y="15621"/>
                </a:cubicBezTo>
                <a:lnTo>
                  <a:pt x="7811" y="15621"/>
                </a:lnTo>
                <a:cubicBezTo>
                  <a:pt x="3492" y="15621"/>
                  <a:pt x="0" y="12129"/>
                  <a:pt x="0" y="7874"/>
                </a:cubicBezTo>
                <a:lnTo>
                  <a:pt x="0" y="7874"/>
                </a:lnTo>
                <a:cubicBezTo>
                  <a:pt x="0" y="3556"/>
                  <a:pt x="3492" y="0"/>
                  <a:pt x="7811" y="0"/>
                </a:cubicBezTo>
                <a:close/>
              </a:path>
            </a:pathLst>
          </a:custGeom>
          <a:solidFill>
            <a:srgbClr val="7995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87" name="m-d33_sunburst-lgp-1-2">
            <a:extLst>
              <a:ext uri="{FF2B5EF4-FFF2-40B4-BE49-F238E27FC236}">
                <a16:creationId xmlns:a16="http://schemas.microsoft.com/office/drawing/2014/main" id="{6FD5C6A8-8503-1028-81EF-44109429590C}"/>
              </a:ext>
            </a:extLst>
          </p:cNvPr>
          <p:cNvSpPr txBox="1"/>
          <p:nvPr/>
        </p:nvSpPr>
        <p:spPr>
          <a:xfrm>
            <a:off x="12234108" y="3134672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14%</a:t>
            </a:r>
          </a:p>
        </p:txBody>
      </p:sp>
      <p:sp>
        <p:nvSpPr>
          <p:cNvPr id="1388" name="m-d33_sunburst-lgc-1-3">
            <a:extLst>
              <a:ext uri="{FF2B5EF4-FFF2-40B4-BE49-F238E27FC236}">
                <a16:creationId xmlns:a16="http://schemas.microsoft.com/office/drawing/2014/main" id="{A1A01418-C53D-9505-A4A6-FF8E1AB045B9}"/>
              </a:ext>
            </a:extLst>
          </p:cNvPr>
          <p:cNvSpPr/>
          <p:nvPr/>
        </p:nvSpPr>
        <p:spPr>
          <a:xfrm>
            <a:off x="11595418" y="3190304"/>
            <a:ext cx="20828" cy="20828"/>
          </a:xfrm>
          <a:custGeom>
            <a:avLst/>
            <a:gdLst/>
            <a:ahLst/>
            <a:cxnLst/>
            <a:rect l="0" t="0" r="r" b="b"/>
            <a:pathLst>
              <a:path w="20828" h="20828">
                <a:moveTo>
                  <a:pt x="5207" y="0"/>
                </a:moveTo>
                <a:lnTo>
                  <a:pt x="15621" y="0"/>
                </a:lnTo>
                <a:cubicBezTo>
                  <a:pt x="18479" y="0"/>
                  <a:pt x="20828" y="2349"/>
                  <a:pt x="20828" y="5270"/>
                </a:cubicBezTo>
                <a:lnTo>
                  <a:pt x="20828" y="15684"/>
                </a:lnTo>
                <a:cubicBezTo>
                  <a:pt x="20828" y="18542"/>
                  <a:pt x="18479" y="20828"/>
                  <a:pt x="15621" y="20828"/>
                </a:cubicBezTo>
                <a:lnTo>
                  <a:pt x="5207" y="20828"/>
                </a:lnTo>
                <a:cubicBezTo>
                  <a:pt x="2350" y="20828"/>
                  <a:pt x="0" y="18542"/>
                  <a:pt x="0" y="15684"/>
                </a:cubicBezTo>
                <a:lnTo>
                  <a:pt x="0" y="5270"/>
                </a:lnTo>
                <a:cubicBezTo>
                  <a:pt x="0" y="2349"/>
                  <a:pt x="2350" y="0"/>
                  <a:pt x="5207" y="0"/>
                </a:cubicBezTo>
                <a:close/>
              </a:path>
            </a:pathLst>
          </a:custGeom>
          <a:solidFill>
            <a:srgbClr val="AABBD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89" name="m-d33_sunburst-lgs-1-3">
            <a:extLst>
              <a:ext uri="{FF2B5EF4-FFF2-40B4-BE49-F238E27FC236}">
                <a16:creationId xmlns:a16="http://schemas.microsoft.com/office/drawing/2014/main" id="{074744A0-1B67-BA99-9494-69076E47E17C}"/>
              </a:ext>
            </a:extLst>
          </p:cNvPr>
          <p:cNvSpPr txBox="1"/>
          <p:nvPr/>
        </p:nvSpPr>
        <p:spPr>
          <a:xfrm>
            <a:off x="11626764" y="3181535"/>
            <a:ext cx="43114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OA</a:t>
            </a:r>
          </a:p>
        </p:txBody>
      </p:sp>
      <p:sp>
        <p:nvSpPr>
          <p:cNvPr id="1390" name="m-d33_sunburst-lgbar-1-3">
            <a:extLst>
              <a:ext uri="{FF2B5EF4-FFF2-40B4-BE49-F238E27FC236}">
                <a16:creationId xmlns:a16="http://schemas.microsoft.com/office/drawing/2014/main" id="{0B74E186-4414-00DD-5DE1-37919A3C5945}"/>
              </a:ext>
            </a:extLst>
          </p:cNvPr>
          <p:cNvSpPr/>
          <p:nvPr/>
        </p:nvSpPr>
        <p:spPr>
          <a:xfrm>
            <a:off x="11816715" y="3192907"/>
            <a:ext cx="188023" cy="15621"/>
          </a:xfrm>
          <a:custGeom>
            <a:avLst/>
            <a:gdLst/>
            <a:ahLst/>
            <a:cxnLst/>
            <a:rect l="0" t="0" r="r" b="b"/>
            <a:pathLst>
              <a:path w="188023" h="15621">
                <a:moveTo>
                  <a:pt x="7811" y="0"/>
                </a:moveTo>
                <a:lnTo>
                  <a:pt x="180213" y="0"/>
                </a:lnTo>
                <a:cubicBezTo>
                  <a:pt x="184531" y="0"/>
                  <a:pt x="188023" y="3556"/>
                  <a:pt x="188023" y="7874"/>
                </a:cubicBezTo>
                <a:lnTo>
                  <a:pt x="188023" y="7874"/>
                </a:lnTo>
                <a:cubicBezTo>
                  <a:pt x="188023" y="12129"/>
                  <a:pt x="184531" y="15621"/>
                  <a:pt x="180213" y="15621"/>
                </a:cubicBezTo>
                <a:lnTo>
                  <a:pt x="7811" y="15621"/>
                </a:lnTo>
                <a:cubicBezTo>
                  <a:pt x="3492" y="15621"/>
                  <a:pt x="0" y="12129"/>
                  <a:pt x="0" y="7874"/>
                </a:cubicBezTo>
                <a:lnTo>
                  <a:pt x="0" y="7874"/>
                </a:lnTo>
                <a:cubicBezTo>
                  <a:pt x="0" y="3556"/>
                  <a:pt x="3492" y="0"/>
                  <a:pt x="7811" y="0"/>
                </a:cubicBezTo>
                <a:close/>
              </a:path>
            </a:pathLst>
          </a:custGeom>
          <a:solidFill>
            <a:srgbClr val="AABBD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91" name="m-d33_sunburst-lgp-1-3">
            <a:extLst>
              <a:ext uri="{FF2B5EF4-FFF2-40B4-BE49-F238E27FC236}">
                <a16:creationId xmlns:a16="http://schemas.microsoft.com/office/drawing/2014/main" id="{1A1A5334-DED6-1F9E-4C00-2C262C66B61B}"/>
              </a:ext>
            </a:extLst>
          </p:cNvPr>
          <p:cNvSpPr txBox="1"/>
          <p:nvPr/>
        </p:nvSpPr>
        <p:spPr>
          <a:xfrm>
            <a:off x="12234108" y="3181535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10%</a:t>
            </a:r>
          </a:p>
        </p:txBody>
      </p:sp>
      <p:sp>
        <p:nvSpPr>
          <p:cNvPr id="1392" name="m-d33_sunburst-lg-2">
            <a:extLst>
              <a:ext uri="{FF2B5EF4-FFF2-40B4-BE49-F238E27FC236}">
                <a16:creationId xmlns:a16="http://schemas.microsoft.com/office/drawing/2014/main" id="{5BD3FD98-A4A5-4951-4AEA-271690712B02}"/>
              </a:ext>
            </a:extLst>
          </p:cNvPr>
          <p:cNvSpPr/>
          <p:nvPr/>
        </p:nvSpPr>
        <p:spPr>
          <a:xfrm>
            <a:off x="11556365" y="3256724"/>
            <a:ext cx="768032" cy="208280"/>
          </a:xfrm>
          <a:custGeom>
            <a:avLst/>
            <a:gdLst/>
            <a:ahLst/>
            <a:cxnLst/>
            <a:rect l="0" t="0" r="r" b="b"/>
            <a:pathLst>
              <a:path w="768032" h="208280">
                <a:moveTo>
                  <a:pt x="23431" y="0"/>
                </a:moveTo>
                <a:lnTo>
                  <a:pt x="744601" y="0"/>
                </a:lnTo>
                <a:cubicBezTo>
                  <a:pt x="757555" y="0"/>
                  <a:pt x="768032" y="10477"/>
                  <a:pt x="768032" y="23431"/>
                </a:cubicBezTo>
                <a:lnTo>
                  <a:pt x="768032" y="184849"/>
                </a:lnTo>
                <a:cubicBezTo>
                  <a:pt x="768032" y="197802"/>
                  <a:pt x="757555" y="208280"/>
                  <a:pt x="744601" y="208280"/>
                </a:cubicBezTo>
                <a:lnTo>
                  <a:pt x="23431" y="208280"/>
                </a:lnTo>
                <a:cubicBezTo>
                  <a:pt x="10477" y="208280"/>
                  <a:pt x="0" y="197802"/>
                  <a:pt x="0" y="184849"/>
                </a:cubicBezTo>
                <a:lnTo>
                  <a:pt x="0" y="23431"/>
                </a:lnTo>
                <a:cubicBezTo>
                  <a:pt x="0" y="10477"/>
                  <a:pt x="10477" y="0"/>
                  <a:pt x="2343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93" name="m-d33_sunburst-lgb-2">
            <a:extLst>
              <a:ext uri="{FF2B5EF4-FFF2-40B4-BE49-F238E27FC236}">
                <a16:creationId xmlns:a16="http://schemas.microsoft.com/office/drawing/2014/main" id="{C4FA227F-1BCE-9485-E257-38400FEEF641}"/>
              </a:ext>
            </a:extLst>
          </p:cNvPr>
          <p:cNvSpPr/>
          <p:nvPr/>
        </p:nvSpPr>
        <p:spPr>
          <a:xfrm>
            <a:off x="11556365" y="3256724"/>
            <a:ext cx="7811" cy="208280"/>
          </a:xfrm>
          <a:custGeom>
            <a:avLst/>
            <a:gdLst/>
            <a:ahLst/>
            <a:cxnLst/>
            <a:rect l="0" t="0" r="r" b="b"/>
            <a:pathLst>
              <a:path w="7811" h="208280">
                <a:moveTo>
                  <a:pt x="3873" y="0"/>
                </a:moveTo>
                <a:lnTo>
                  <a:pt x="3873" y="0"/>
                </a:lnTo>
                <a:cubicBezTo>
                  <a:pt x="6096" y="0"/>
                  <a:pt x="7811" y="1714"/>
                  <a:pt x="7811" y="3937"/>
                </a:cubicBezTo>
                <a:lnTo>
                  <a:pt x="7811" y="204343"/>
                </a:lnTo>
                <a:cubicBezTo>
                  <a:pt x="7811" y="206565"/>
                  <a:pt x="6096" y="208280"/>
                  <a:pt x="3873" y="208280"/>
                </a:cubicBezTo>
                <a:lnTo>
                  <a:pt x="3873" y="208280"/>
                </a:lnTo>
                <a:cubicBezTo>
                  <a:pt x="1714" y="208280"/>
                  <a:pt x="0" y="206565"/>
                  <a:pt x="0" y="204343"/>
                </a:cubicBezTo>
                <a:lnTo>
                  <a:pt x="0" y="3937"/>
                </a:lnTo>
                <a:cubicBezTo>
                  <a:pt x="0" y="1714"/>
                  <a:pt x="1714" y="0"/>
                  <a:pt x="3873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94" name="m-d33_sunburst-lgn-2">
            <a:extLst>
              <a:ext uri="{FF2B5EF4-FFF2-40B4-BE49-F238E27FC236}">
                <a16:creationId xmlns:a16="http://schemas.microsoft.com/office/drawing/2014/main" id="{442909DE-74A3-B2A1-696E-FB057CF994C7}"/>
              </a:ext>
            </a:extLst>
          </p:cNvPr>
          <p:cNvSpPr txBox="1"/>
          <p:nvPr/>
        </p:nvSpPr>
        <p:spPr>
          <a:xfrm>
            <a:off x="11589690" y="3268831"/>
            <a:ext cx="107394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云服务</a:t>
            </a:r>
          </a:p>
        </p:txBody>
      </p:sp>
      <p:sp>
        <p:nvSpPr>
          <p:cNvPr id="1395" name="m-d33_sunburst-lgv-2">
            <a:extLst>
              <a:ext uri="{FF2B5EF4-FFF2-40B4-BE49-F238E27FC236}">
                <a16:creationId xmlns:a16="http://schemas.microsoft.com/office/drawing/2014/main" id="{115C3115-1879-99B5-D038-FCC8724ABCCA}"/>
              </a:ext>
            </a:extLst>
          </p:cNvPr>
          <p:cNvSpPr txBox="1"/>
          <p:nvPr/>
        </p:nvSpPr>
        <p:spPr>
          <a:xfrm>
            <a:off x="12104948" y="3273654"/>
            <a:ext cx="183052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3" normalizeH="0" baseline="0" noProof="0">
                <a:ln>
                  <a:noFill/>
                </a:ln>
                <a:solidFill>
                  <a:srgbClr val="2468B6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28% · 3.36 亿</a:t>
            </a:r>
          </a:p>
        </p:txBody>
      </p:sp>
      <p:sp>
        <p:nvSpPr>
          <p:cNvPr id="1396" name="m-d33_sunburst-lgc-2-1">
            <a:extLst>
              <a:ext uri="{FF2B5EF4-FFF2-40B4-BE49-F238E27FC236}">
                <a16:creationId xmlns:a16="http://schemas.microsoft.com/office/drawing/2014/main" id="{A71BDE4D-3494-EE91-6AAD-C8A76963AE43}"/>
              </a:ext>
            </a:extLst>
          </p:cNvPr>
          <p:cNvSpPr/>
          <p:nvPr/>
        </p:nvSpPr>
        <p:spPr>
          <a:xfrm>
            <a:off x="11595418" y="3328289"/>
            <a:ext cx="20828" cy="20828"/>
          </a:xfrm>
          <a:custGeom>
            <a:avLst/>
            <a:gdLst/>
            <a:ahLst/>
            <a:cxnLst/>
            <a:rect l="0" t="0" r="r" b="b"/>
            <a:pathLst>
              <a:path w="20828" h="20828">
                <a:moveTo>
                  <a:pt x="5207" y="0"/>
                </a:moveTo>
                <a:lnTo>
                  <a:pt x="15621" y="0"/>
                </a:lnTo>
                <a:cubicBezTo>
                  <a:pt x="18479" y="0"/>
                  <a:pt x="20828" y="2350"/>
                  <a:pt x="20828" y="5271"/>
                </a:cubicBezTo>
                <a:lnTo>
                  <a:pt x="20828" y="15685"/>
                </a:lnTo>
                <a:cubicBezTo>
                  <a:pt x="20828" y="18542"/>
                  <a:pt x="18479" y="20828"/>
                  <a:pt x="15621" y="20828"/>
                </a:cubicBezTo>
                <a:lnTo>
                  <a:pt x="5207" y="20828"/>
                </a:lnTo>
                <a:cubicBezTo>
                  <a:pt x="2350" y="20828"/>
                  <a:pt x="0" y="18542"/>
                  <a:pt x="0" y="15685"/>
                </a:cubicBezTo>
                <a:lnTo>
                  <a:pt x="0" y="5271"/>
                </a:lnTo>
                <a:cubicBezTo>
                  <a:pt x="0" y="2350"/>
                  <a:pt x="2350" y="0"/>
                  <a:pt x="5207" y="0"/>
                </a:cubicBezTo>
                <a:close/>
              </a:path>
            </a:pathLst>
          </a:custGeom>
          <a:solidFill>
            <a:srgbClr val="5B8EC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97" name="m-d33_sunburst-lgs-2-1">
            <a:extLst>
              <a:ext uri="{FF2B5EF4-FFF2-40B4-BE49-F238E27FC236}">
                <a16:creationId xmlns:a16="http://schemas.microsoft.com/office/drawing/2014/main" id="{3E017AFF-E04F-7CE1-E381-DEFEDA7FA5F6}"/>
              </a:ext>
            </a:extLst>
          </p:cNvPr>
          <p:cNvSpPr txBox="1"/>
          <p:nvPr/>
        </p:nvSpPr>
        <p:spPr>
          <a:xfrm>
            <a:off x="11626764" y="3319521"/>
            <a:ext cx="67483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IaaS</a:t>
            </a:r>
          </a:p>
        </p:txBody>
      </p:sp>
      <p:sp>
        <p:nvSpPr>
          <p:cNvPr id="1398" name="m-d33_sunburst-lgbar-2-1">
            <a:extLst>
              <a:ext uri="{FF2B5EF4-FFF2-40B4-BE49-F238E27FC236}">
                <a16:creationId xmlns:a16="http://schemas.microsoft.com/office/drawing/2014/main" id="{35E9D5F8-0030-D338-96E4-308AED16E173}"/>
              </a:ext>
            </a:extLst>
          </p:cNvPr>
          <p:cNvSpPr/>
          <p:nvPr/>
        </p:nvSpPr>
        <p:spPr>
          <a:xfrm>
            <a:off x="11816715" y="3330892"/>
            <a:ext cx="225615" cy="15621"/>
          </a:xfrm>
          <a:custGeom>
            <a:avLst/>
            <a:gdLst/>
            <a:ahLst/>
            <a:cxnLst/>
            <a:rect l="0" t="0" r="r" b="b"/>
            <a:pathLst>
              <a:path w="225615" h="15621">
                <a:moveTo>
                  <a:pt x="7811" y="0"/>
                </a:moveTo>
                <a:lnTo>
                  <a:pt x="217805" y="0"/>
                </a:lnTo>
                <a:cubicBezTo>
                  <a:pt x="222123" y="0"/>
                  <a:pt x="225615" y="3556"/>
                  <a:pt x="225615" y="7811"/>
                </a:cubicBezTo>
                <a:lnTo>
                  <a:pt x="225615" y="7811"/>
                </a:lnTo>
                <a:cubicBezTo>
                  <a:pt x="225615" y="12129"/>
                  <a:pt x="222123" y="15621"/>
                  <a:pt x="217805" y="15621"/>
                </a:cubicBezTo>
                <a:lnTo>
                  <a:pt x="7811" y="15621"/>
                </a:lnTo>
                <a:cubicBezTo>
                  <a:pt x="3492" y="15621"/>
                  <a:pt x="0" y="12129"/>
                  <a:pt x="0" y="7811"/>
                </a:cubicBezTo>
                <a:lnTo>
                  <a:pt x="0" y="7811"/>
                </a:lnTo>
                <a:cubicBezTo>
                  <a:pt x="0" y="3556"/>
                  <a:pt x="3492" y="0"/>
                  <a:pt x="7811" y="0"/>
                </a:cubicBezTo>
                <a:close/>
              </a:path>
            </a:pathLst>
          </a:custGeom>
          <a:solidFill>
            <a:srgbClr val="5B8EC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99" name="m-d33_sunburst-lgp-2-1">
            <a:extLst>
              <a:ext uri="{FF2B5EF4-FFF2-40B4-BE49-F238E27FC236}">
                <a16:creationId xmlns:a16="http://schemas.microsoft.com/office/drawing/2014/main" id="{2FE1A8EA-7D12-9014-1864-B5FAFAA0E3D4}"/>
              </a:ext>
            </a:extLst>
          </p:cNvPr>
          <p:cNvSpPr txBox="1"/>
          <p:nvPr/>
        </p:nvSpPr>
        <p:spPr>
          <a:xfrm>
            <a:off x="12234108" y="3319521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12%</a:t>
            </a:r>
          </a:p>
        </p:txBody>
      </p:sp>
      <p:sp>
        <p:nvSpPr>
          <p:cNvPr id="1400" name="m-d33_sunburst-lgc-2-2">
            <a:extLst>
              <a:ext uri="{FF2B5EF4-FFF2-40B4-BE49-F238E27FC236}">
                <a16:creationId xmlns:a16="http://schemas.microsoft.com/office/drawing/2014/main" id="{469A9199-2862-7A28-5207-F8FACAD6EBE3}"/>
              </a:ext>
            </a:extLst>
          </p:cNvPr>
          <p:cNvSpPr/>
          <p:nvPr/>
        </p:nvSpPr>
        <p:spPr>
          <a:xfrm>
            <a:off x="11595418" y="3375152"/>
            <a:ext cx="20828" cy="20828"/>
          </a:xfrm>
          <a:custGeom>
            <a:avLst/>
            <a:gdLst/>
            <a:ahLst/>
            <a:cxnLst/>
            <a:rect l="0" t="0" r="r" b="b"/>
            <a:pathLst>
              <a:path w="20828" h="20828">
                <a:moveTo>
                  <a:pt x="5207" y="0"/>
                </a:moveTo>
                <a:lnTo>
                  <a:pt x="15621" y="0"/>
                </a:lnTo>
                <a:cubicBezTo>
                  <a:pt x="18479" y="0"/>
                  <a:pt x="20828" y="2350"/>
                  <a:pt x="20828" y="5271"/>
                </a:cubicBezTo>
                <a:lnTo>
                  <a:pt x="20828" y="15685"/>
                </a:lnTo>
                <a:cubicBezTo>
                  <a:pt x="20828" y="18542"/>
                  <a:pt x="18479" y="20828"/>
                  <a:pt x="15621" y="20828"/>
                </a:cubicBezTo>
                <a:lnTo>
                  <a:pt x="5207" y="20828"/>
                </a:lnTo>
                <a:cubicBezTo>
                  <a:pt x="2350" y="20828"/>
                  <a:pt x="0" y="18542"/>
                  <a:pt x="0" y="15685"/>
                </a:cubicBezTo>
                <a:lnTo>
                  <a:pt x="0" y="5271"/>
                </a:lnTo>
                <a:cubicBezTo>
                  <a:pt x="0" y="2350"/>
                  <a:pt x="2350" y="0"/>
                  <a:pt x="5207" y="0"/>
                </a:cubicBezTo>
                <a:close/>
              </a:path>
            </a:pathLst>
          </a:custGeom>
          <a:solidFill>
            <a:srgbClr val="87AC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01" name="m-d33_sunburst-lgs-2-2">
            <a:extLst>
              <a:ext uri="{FF2B5EF4-FFF2-40B4-BE49-F238E27FC236}">
                <a16:creationId xmlns:a16="http://schemas.microsoft.com/office/drawing/2014/main" id="{EDF61F8F-E4AD-589F-1A68-4B9A8DFABA5F}"/>
              </a:ext>
            </a:extLst>
          </p:cNvPr>
          <p:cNvSpPr txBox="1"/>
          <p:nvPr/>
        </p:nvSpPr>
        <p:spPr>
          <a:xfrm>
            <a:off x="11626764" y="3366384"/>
            <a:ext cx="67483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PaaS</a:t>
            </a:r>
          </a:p>
        </p:txBody>
      </p:sp>
      <p:sp>
        <p:nvSpPr>
          <p:cNvPr id="1402" name="m-d33_sunburst-lgbar-2-2">
            <a:extLst>
              <a:ext uri="{FF2B5EF4-FFF2-40B4-BE49-F238E27FC236}">
                <a16:creationId xmlns:a16="http://schemas.microsoft.com/office/drawing/2014/main" id="{292D538F-B005-73B2-CC75-0CF1D6868C70}"/>
              </a:ext>
            </a:extLst>
          </p:cNvPr>
          <p:cNvSpPr/>
          <p:nvPr/>
        </p:nvSpPr>
        <p:spPr>
          <a:xfrm>
            <a:off x="11816715" y="3377755"/>
            <a:ext cx="169227" cy="15621"/>
          </a:xfrm>
          <a:custGeom>
            <a:avLst/>
            <a:gdLst/>
            <a:ahLst/>
            <a:cxnLst/>
            <a:rect l="0" t="0" r="r" b="b"/>
            <a:pathLst>
              <a:path w="169227" h="15621">
                <a:moveTo>
                  <a:pt x="7811" y="0"/>
                </a:moveTo>
                <a:lnTo>
                  <a:pt x="161417" y="0"/>
                </a:lnTo>
                <a:cubicBezTo>
                  <a:pt x="165735" y="0"/>
                  <a:pt x="169227" y="3556"/>
                  <a:pt x="169227" y="7811"/>
                </a:cubicBezTo>
                <a:lnTo>
                  <a:pt x="169227" y="7811"/>
                </a:lnTo>
                <a:cubicBezTo>
                  <a:pt x="169227" y="12129"/>
                  <a:pt x="165735" y="15621"/>
                  <a:pt x="161417" y="15621"/>
                </a:cubicBezTo>
                <a:lnTo>
                  <a:pt x="7811" y="15621"/>
                </a:lnTo>
                <a:cubicBezTo>
                  <a:pt x="3492" y="15621"/>
                  <a:pt x="0" y="12129"/>
                  <a:pt x="0" y="7811"/>
                </a:cubicBezTo>
                <a:lnTo>
                  <a:pt x="0" y="7811"/>
                </a:lnTo>
                <a:cubicBezTo>
                  <a:pt x="0" y="3556"/>
                  <a:pt x="3492" y="0"/>
                  <a:pt x="7811" y="0"/>
                </a:cubicBezTo>
                <a:close/>
              </a:path>
            </a:pathLst>
          </a:custGeom>
          <a:solidFill>
            <a:srgbClr val="87AC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03" name="m-d33_sunburst-lgp-2-2">
            <a:extLst>
              <a:ext uri="{FF2B5EF4-FFF2-40B4-BE49-F238E27FC236}">
                <a16:creationId xmlns:a16="http://schemas.microsoft.com/office/drawing/2014/main" id="{6C1EA594-9BFF-3962-C12E-5F54FE3B44E0}"/>
              </a:ext>
            </a:extLst>
          </p:cNvPr>
          <p:cNvSpPr txBox="1"/>
          <p:nvPr/>
        </p:nvSpPr>
        <p:spPr>
          <a:xfrm>
            <a:off x="12245772" y="3366384"/>
            <a:ext cx="42073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9%</a:t>
            </a:r>
          </a:p>
        </p:txBody>
      </p:sp>
      <p:sp>
        <p:nvSpPr>
          <p:cNvPr id="1404" name="m-d33_sunburst-lgc-2-3">
            <a:extLst>
              <a:ext uri="{FF2B5EF4-FFF2-40B4-BE49-F238E27FC236}">
                <a16:creationId xmlns:a16="http://schemas.microsoft.com/office/drawing/2014/main" id="{7A5BB33B-77C1-2808-BBE1-07DE6000DF51}"/>
              </a:ext>
            </a:extLst>
          </p:cNvPr>
          <p:cNvSpPr/>
          <p:nvPr/>
        </p:nvSpPr>
        <p:spPr>
          <a:xfrm>
            <a:off x="11595418" y="3422015"/>
            <a:ext cx="20828" cy="20828"/>
          </a:xfrm>
          <a:custGeom>
            <a:avLst/>
            <a:gdLst/>
            <a:ahLst/>
            <a:cxnLst/>
            <a:rect l="0" t="0" r="r" b="b"/>
            <a:pathLst>
              <a:path w="20828" h="20828">
                <a:moveTo>
                  <a:pt x="5207" y="0"/>
                </a:moveTo>
                <a:lnTo>
                  <a:pt x="15621" y="0"/>
                </a:lnTo>
                <a:cubicBezTo>
                  <a:pt x="18479" y="0"/>
                  <a:pt x="20828" y="2350"/>
                  <a:pt x="20828" y="5271"/>
                </a:cubicBezTo>
                <a:lnTo>
                  <a:pt x="20828" y="15685"/>
                </a:lnTo>
                <a:cubicBezTo>
                  <a:pt x="20828" y="18542"/>
                  <a:pt x="18479" y="20828"/>
                  <a:pt x="15621" y="20828"/>
                </a:cubicBezTo>
                <a:lnTo>
                  <a:pt x="5207" y="20828"/>
                </a:lnTo>
                <a:cubicBezTo>
                  <a:pt x="2350" y="20828"/>
                  <a:pt x="0" y="18542"/>
                  <a:pt x="0" y="15685"/>
                </a:cubicBezTo>
                <a:lnTo>
                  <a:pt x="0" y="5271"/>
                </a:lnTo>
                <a:cubicBezTo>
                  <a:pt x="0" y="2350"/>
                  <a:pt x="2350" y="0"/>
                  <a:pt x="5207" y="0"/>
                </a:cubicBezTo>
                <a:close/>
              </a:path>
            </a:pathLst>
          </a:custGeom>
          <a:solidFill>
            <a:srgbClr val="B2CAE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05" name="m-d33_sunburst-lgs-2-3">
            <a:extLst>
              <a:ext uri="{FF2B5EF4-FFF2-40B4-BE49-F238E27FC236}">
                <a16:creationId xmlns:a16="http://schemas.microsoft.com/office/drawing/2014/main" id="{AAF99FCB-B918-B094-9391-AA6F97747ED6}"/>
              </a:ext>
            </a:extLst>
          </p:cNvPr>
          <p:cNvSpPr txBox="1"/>
          <p:nvPr/>
        </p:nvSpPr>
        <p:spPr>
          <a:xfrm>
            <a:off x="11626764" y="3413247"/>
            <a:ext cx="67483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SaaS</a:t>
            </a:r>
          </a:p>
        </p:txBody>
      </p:sp>
      <p:sp>
        <p:nvSpPr>
          <p:cNvPr id="1406" name="m-d33_sunburst-lgbar-2-3">
            <a:extLst>
              <a:ext uri="{FF2B5EF4-FFF2-40B4-BE49-F238E27FC236}">
                <a16:creationId xmlns:a16="http://schemas.microsoft.com/office/drawing/2014/main" id="{4A0E5D03-45BD-6F08-4EE0-09C34FEA4BF7}"/>
              </a:ext>
            </a:extLst>
          </p:cNvPr>
          <p:cNvSpPr/>
          <p:nvPr/>
        </p:nvSpPr>
        <p:spPr>
          <a:xfrm>
            <a:off x="11816715" y="3424682"/>
            <a:ext cx="131636" cy="15557"/>
          </a:xfrm>
          <a:custGeom>
            <a:avLst/>
            <a:gdLst/>
            <a:ahLst/>
            <a:cxnLst/>
            <a:rect l="0" t="0" r="r" b="b"/>
            <a:pathLst>
              <a:path w="131636" h="15557">
                <a:moveTo>
                  <a:pt x="7811" y="0"/>
                </a:moveTo>
                <a:lnTo>
                  <a:pt x="123825" y="0"/>
                </a:lnTo>
                <a:cubicBezTo>
                  <a:pt x="128143" y="0"/>
                  <a:pt x="131636" y="3492"/>
                  <a:pt x="131636" y="7747"/>
                </a:cubicBezTo>
                <a:lnTo>
                  <a:pt x="131636" y="7747"/>
                </a:lnTo>
                <a:cubicBezTo>
                  <a:pt x="131636" y="12065"/>
                  <a:pt x="128143" y="15557"/>
                  <a:pt x="123825" y="15557"/>
                </a:cubicBezTo>
                <a:lnTo>
                  <a:pt x="7811" y="15557"/>
                </a:lnTo>
                <a:cubicBezTo>
                  <a:pt x="3492" y="15557"/>
                  <a:pt x="0" y="12065"/>
                  <a:pt x="0" y="7747"/>
                </a:cubicBezTo>
                <a:lnTo>
                  <a:pt x="0" y="7747"/>
                </a:lnTo>
                <a:cubicBezTo>
                  <a:pt x="0" y="3492"/>
                  <a:pt x="3492" y="0"/>
                  <a:pt x="7811" y="0"/>
                </a:cubicBezTo>
                <a:close/>
              </a:path>
            </a:pathLst>
          </a:custGeom>
          <a:solidFill>
            <a:srgbClr val="B2CAE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07" name="m-d33_sunburst-lgp-2-3">
            <a:extLst>
              <a:ext uri="{FF2B5EF4-FFF2-40B4-BE49-F238E27FC236}">
                <a16:creationId xmlns:a16="http://schemas.microsoft.com/office/drawing/2014/main" id="{5E2F0C35-6CC8-748D-A215-22192E31C1E4}"/>
              </a:ext>
            </a:extLst>
          </p:cNvPr>
          <p:cNvSpPr txBox="1"/>
          <p:nvPr/>
        </p:nvSpPr>
        <p:spPr>
          <a:xfrm>
            <a:off x="12245772" y="3413247"/>
            <a:ext cx="42073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7%</a:t>
            </a:r>
          </a:p>
        </p:txBody>
      </p:sp>
      <p:sp>
        <p:nvSpPr>
          <p:cNvPr id="1408" name="m-d33_sunburst-lg-3">
            <a:extLst>
              <a:ext uri="{FF2B5EF4-FFF2-40B4-BE49-F238E27FC236}">
                <a16:creationId xmlns:a16="http://schemas.microsoft.com/office/drawing/2014/main" id="{9DF2C18C-6F2B-FF98-1011-CCDFCABD70AF}"/>
              </a:ext>
            </a:extLst>
          </p:cNvPr>
          <p:cNvSpPr/>
          <p:nvPr/>
        </p:nvSpPr>
        <p:spPr>
          <a:xfrm>
            <a:off x="11556365" y="3488436"/>
            <a:ext cx="768032" cy="208280"/>
          </a:xfrm>
          <a:custGeom>
            <a:avLst/>
            <a:gdLst/>
            <a:ahLst/>
            <a:cxnLst/>
            <a:rect l="0" t="0" r="r" b="b"/>
            <a:pathLst>
              <a:path w="768032" h="208280">
                <a:moveTo>
                  <a:pt x="23431" y="0"/>
                </a:moveTo>
                <a:lnTo>
                  <a:pt x="744601" y="0"/>
                </a:lnTo>
                <a:cubicBezTo>
                  <a:pt x="757555" y="0"/>
                  <a:pt x="768032" y="10477"/>
                  <a:pt x="768032" y="23431"/>
                </a:cubicBezTo>
                <a:lnTo>
                  <a:pt x="768032" y="184849"/>
                </a:lnTo>
                <a:cubicBezTo>
                  <a:pt x="768032" y="197802"/>
                  <a:pt x="757555" y="208280"/>
                  <a:pt x="744601" y="208280"/>
                </a:cubicBezTo>
                <a:lnTo>
                  <a:pt x="23431" y="208280"/>
                </a:lnTo>
                <a:cubicBezTo>
                  <a:pt x="10477" y="208280"/>
                  <a:pt x="0" y="197802"/>
                  <a:pt x="0" y="184849"/>
                </a:cubicBezTo>
                <a:lnTo>
                  <a:pt x="0" y="23431"/>
                </a:lnTo>
                <a:cubicBezTo>
                  <a:pt x="0" y="10477"/>
                  <a:pt x="10477" y="0"/>
                  <a:pt x="2343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09" name="m-d33_sunburst-lgb-3">
            <a:extLst>
              <a:ext uri="{FF2B5EF4-FFF2-40B4-BE49-F238E27FC236}">
                <a16:creationId xmlns:a16="http://schemas.microsoft.com/office/drawing/2014/main" id="{B8B38077-2F94-15ED-2BC9-3B0DC9FCD4F2}"/>
              </a:ext>
            </a:extLst>
          </p:cNvPr>
          <p:cNvSpPr/>
          <p:nvPr/>
        </p:nvSpPr>
        <p:spPr>
          <a:xfrm>
            <a:off x="11556365" y="3488436"/>
            <a:ext cx="7811" cy="208280"/>
          </a:xfrm>
          <a:custGeom>
            <a:avLst/>
            <a:gdLst/>
            <a:ahLst/>
            <a:cxnLst/>
            <a:rect l="0" t="0" r="r" b="b"/>
            <a:pathLst>
              <a:path w="7811" h="208280">
                <a:moveTo>
                  <a:pt x="3873" y="0"/>
                </a:moveTo>
                <a:lnTo>
                  <a:pt x="3873" y="0"/>
                </a:lnTo>
                <a:cubicBezTo>
                  <a:pt x="6096" y="0"/>
                  <a:pt x="7811" y="1714"/>
                  <a:pt x="7811" y="3937"/>
                </a:cubicBezTo>
                <a:lnTo>
                  <a:pt x="7811" y="204343"/>
                </a:lnTo>
                <a:cubicBezTo>
                  <a:pt x="7811" y="206565"/>
                  <a:pt x="6096" y="208280"/>
                  <a:pt x="3873" y="208280"/>
                </a:cubicBezTo>
                <a:lnTo>
                  <a:pt x="3873" y="208280"/>
                </a:lnTo>
                <a:cubicBezTo>
                  <a:pt x="1714" y="208280"/>
                  <a:pt x="0" y="206565"/>
                  <a:pt x="0" y="204343"/>
                </a:cubicBezTo>
                <a:lnTo>
                  <a:pt x="0" y="3937"/>
                </a:lnTo>
                <a:cubicBezTo>
                  <a:pt x="0" y="1714"/>
                  <a:pt x="1714" y="0"/>
                  <a:pt x="3873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10" name="m-d33_sunburst-lgn-3">
            <a:extLst>
              <a:ext uri="{FF2B5EF4-FFF2-40B4-BE49-F238E27FC236}">
                <a16:creationId xmlns:a16="http://schemas.microsoft.com/office/drawing/2014/main" id="{9A080EB7-814C-B820-4CEB-07686DECF91C}"/>
              </a:ext>
            </a:extLst>
          </p:cNvPr>
          <p:cNvSpPr txBox="1"/>
          <p:nvPr/>
        </p:nvSpPr>
        <p:spPr>
          <a:xfrm>
            <a:off x="11589690" y="3500542"/>
            <a:ext cx="135382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数据服务</a:t>
            </a:r>
          </a:p>
        </p:txBody>
      </p:sp>
      <p:sp>
        <p:nvSpPr>
          <p:cNvPr id="1411" name="m-d33_sunburst-lgv-3">
            <a:extLst>
              <a:ext uri="{FF2B5EF4-FFF2-40B4-BE49-F238E27FC236}">
                <a16:creationId xmlns:a16="http://schemas.microsoft.com/office/drawing/2014/main" id="{411096FF-0247-4D0D-2E03-4412047C4AF8}"/>
              </a:ext>
            </a:extLst>
          </p:cNvPr>
          <p:cNvSpPr txBox="1"/>
          <p:nvPr/>
        </p:nvSpPr>
        <p:spPr>
          <a:xfrm>
            <a:off x="12104948" y="3505365"/>
            <a:ext cx="183052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3" normalizeH="0" baseline="0" noProof="0">
                <a:ln>
                  <a:noFill/>
                </a:ln>
                <a:solidFill>
                  <a:srgbClr val="4694D7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18% · 2.16 亿</a:t>
            </a:r>
          </a:p>
        </p:txBody>
      </p:sp>
      <p:sp>
        <p:nvSpPr>
          <p:cNvPr id="1412" name="m-d33_sunburst-lgc-3-1">
            <a:extLst>
              <a:ext uri="{FF2B5EF4-FFF2-40B4-BE49-F238E27FC236}">
                <a16:creationId xmlns:a16="http://schemas.microsoft.com/office/drawing/2014/main" id="{DE77189E-D2CF-D76D-38DF-FFBA003C7AEE}"/>
              </a:ext>
            </a:extLst>
          </p:cNvPr>
          <p:cNvSpPr/>
          <p:nvPr/>
        </p:nvSpPr>
        <p:spPr>
          <a:xfrm>
            <a:off x="11595418" y="3560000"/>
            <a:ext cx="20828" cy="20828"/>
          </a:xfrm>
          <a:custGeom>
            <a:avLst/>
            <a:gdLst/>
            <a:ahLst/>
            <a:cxnLst/>
            <a:rect l="0" t="0" r="r" b="b"/>
            <a:pathLst>
              <a:path w="20828" h="20828">
                <a:moveTo>
                  <a:pt x="5207" y="0"/>
                </a:moveTo>
                <a:lnTo>
                  <a:pt x="15621" y="0"/>
                </a:lnTo>
                <a:cubicBezTo>
                  <a:pt x="18479" y="0"/>
                  <a:pt x="20828" y="2350"/>
                  <a:pt x="20828" y="5207"/>
                </a:cubicBezTo>
                <a:lnTo>
                  <a:pt x="20828" y="15685"/>
                </a:lnTo>
                <a:cubicBezTo>
                  <a:pt x="20828" y="18542"/>
                  <a:pt x="18479" y="20828"/>
                  <a:pt x="15621" y="20828"/>
                </a:cubicBezTo>
                <a:lnTo>
                  <a:pt x="5207" y="20828"/>
                </a:lnTo>
                <a:cubicBezTo>
                  <a:pt x="2350" y="20828"/>
                  <a:pt x="0" y="18542"/>
                  <a:pt x="0" y="15685"/>
                </a:cubicBezTo>
                <a:lnTo>
                  <a:pt x="0" y="5207"/>
                </a:lnTo>
                <a:cubicBezTo>
                  <a:pt x="0" y="2350"/>
                  <a:pt x="2350" y="0"/>
                  <a:pt x="5207" y="0"/>
                </a:cubicBezTo>
                <a:close/>
              </a:path>
            </a:pathLst>
          </a:custGeom>
          <a:solidFill>
            <a:srgbClr val="74AF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13" name="m-d33_sunburst-lgs-3-1">
            <a:extLst>
              <a:ext uri="{FF2B5EF4-FFF2-40B4-BE49-F238E27FC236}">
                <a16:creationId xmlns:a16="http://schemas.microsoft.com/office/drawing/2014/main" id="{7C67A7DD-A66D-B0E1-9589-73543D229924}"/>
              </a:ext>
            </a:extLst>
          </p:cNvPr>
          <p:cNvSpPr txBox="1"/>
          <p:nvPr/>
        </p:nvSpPr>
        <p:spPr>
          <a:xfrm>
            <a:off x="11626764" y="3551232"/>
            <a:ext cx="10414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数据治理</a:t>
            </a:r>
          </a:p>
        </p:txBody>
      </p:sp>
      <p:sp>
        <p:nvSpPr>
          <p:cNvPr id="1414" name="m-d33_sunburst-lgbar-3-1">
            <a:extLst>
              <a:ext uri="{FF2B5EF4-FFF2-40B4-BE49-F238E27FC236}">
                <a16:creationId xmlns:a16="http://schemas.microsoft.com/office/drawing/2014/main" id="{19B497B4-5643-E6A1-CD59-1A2DECA72921}"/>
              </a:ext>
            </a:extLst>
          </p:cNvPr>
          <p:cNvSpPr/>
          <p:nvPr/>
        </p:nvSpPr>
        <p:spPr>
          <a:xfrm>
            <a:off x="11816715" y="3562604"/>
            <a:ext cx="150431" cy="15621"/>
          </a:xfrm>
          <a:custGeom>
            <a:avLst/>
            <a:gdLst/>
            <a:ahLst/>
            <a:cxnLst/>
            <a:rect l="0" t="0" r="r" b="b"/>
            <a:pathLst>
              <a:path w="150431" h="15621">
                <a:moveTo>
                  <a:pt x="7811" y="0"/>
                </a:moveTo>
                <a:lnTo>
                  <a:pt x="142621" y="0"/>
                </a:lnTo>
                <a:cubicBezTo>
                  <a:pt x="146939" y="0"/>
                  <a:pt x="150431" y="3556"/>
                  <a:pt x="150431" y="7811"/>
                </a:cubicBezTo>
                <a:lnTo>
                  <a:pt x="150431" y="7811"/>
                </a:lnTo>
                <a:cubicBezTo>
                  <a:pt x="150431" y="12129"/>
                  <a:pt x="146939" y="15621"/>
                  <a:pt x="142621" y="15621"/>
                </a:cubicBezTo>
                <a:lnTo>
                  <a:pt x="7811" y="15621"/>
                </a:lnTo>
                <a:cubicBezTo>
                  <a:pt x="3492" y="15621"/>
                  <a:pt x="0" y="12129"/>
                  <a:pt x="0" y="7811"/>
                </a:cubicBezTo>
                <a:lnTo>
                  <a:pt x="0" y="7811"/>
                </a:lnTo>
                <a:cubicBezTo>
                  <a:pt x="0" y="3556"/>
                  <a:pt x="3492" y="0"/>
                  <a:pt x="7811" y="0"/>
                </a:cubicBezTo>
                <a:close/>
              </a:path>
            </a:pathLst>
          </a:custGeom>
          <a:solidFill>
            <a:srgbClr val="74AF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15" name="m-d33_sunburst-lgp-3-1">
            <a:extLst>
              <a:ext uri="{FF2B5EF4-FFF2-40B4-BE49-F238E27FC236}">
                <a16:creationId xmlns:a16="http://schemas.microsoft.com/office/drawing/2014/main" id="{706D6FE6-2A9B-35D3-64DE-F0251B38BFE9}"/>
              </a:ext>
            </a:extLst>
          </p:cNvPr>
          <p:cNvSpPr txBox="1"/>
          <p:nvPr/>
        </p:nvSpPr>
        <p:spPr>
          <a:xfrm>
            <a:off x="12245772" y="3551232"/>
            <a:ext cx="42073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8%</a:t>
            </a:r>
          </a:p>
        </p:txBody>
      </p:sp>
      <p:sp>
        <p:nvSpPr>
          <p:cNvPr id="1416" name="m-d33_sunburst-lgc-3-2">
            <a:extLst>
              <a:ext uri="{FF2B5EF4-FFF2-40B4-BE49-F238E27FC236}">
                <a16:creationId xmlns:a16="http://schemas.microsoft.com/office/drawing/2014/main" id="{AE5444CB-74D2-8178-604E-0EE484708B74}"/>
              </a:ext>
            </a:extLst>
          </p:cNvPr>
          <p:cNvSpPr/>
          <p:nvPr/>
        </p:nvSpPr>
        <p:spPr>
          <a:xfrm>
            <a:off x="11595418" y="3606864"/>
            <a:ext cx="20828" cy="20828"/>
          </a:xfrm>
          <a:custGeom>
            <a:avLst/>
            <a:gdLst/>
            <a:ahLst/>
            <a:cxnLst/>
            <a:rect l="0" t="0" r="r" b="b"/>
            <a:pathLst>
              <a:path w="20828" h="20828">
                <a:moveTo>
                  <a:pt x="5207" y="0"/>
                </a:moveTo>
                <a:lnTo>
                  <a:pt x="15621" y="0"/>
                </a:lnTo>
                <a:cubicBezTo>
                  <a:pt x="18479" y="0"/>
                  <a:pt x="20828" y="2350"/>
                  <a:pt x="20828" y="5271"/>
                </a:cubicBezTo>
                <a:lnTo>
                  <a:pt x="20828" y="15685"/>
                </a:lnTo>
                <a:cubicBezTo>
                  <a:pt x="20828" y="18542"/>
                  <a:pt x="18479" y="20828"/>
                  <a:pt x="15621" y="20828"/>
                </a:cubicBezTo>
                <a:lnTo>
                  <a:pt x="5207" y="20828"/>
                </a:lnTo>
                <a:cubicBezTo>
                  <a:pt x="2350" y="20828"/>
                  <a:pt x="0" y="18542"/>
                  <a:pt x="0" y="15685"/>
                </a:cubicBezTo>
                <a:lnTo>
                  <a:pt x="0" y="5271"/>
                </a:lnTo>
                <a:cubicBezTo>
                  <a:pt x="0" y="2350"/>
                  <a:pt x="2350" y="0"/>
                  <a:pt x="5207" y="0"/>
                </a:cubicBezTo>
                <a:close/>
              </a:path>
            </a:pathLst>
          </a:custGeom>
          <a:solidFill>
            <a:srgbClr val="99C4E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17" name="m-d33_sunburst-lgs-3-2">
            <a:extLst>
              <a:ext uri="{FF2B5EF4-FFF2-40B4-BE49-F238E27FC236}">
                <a16:creationId xmlns:a16="http://schemas.microsoft.com/office/drawing/2014/main" id="{CF9F34C0-36DD-DAAA-251A-0E422402B9EE}"/>
              </a:ext>
            </a:extLst>
          </p:cNvPr>
          <p:cNvSpPr txBox="1"/>
          <p:nvPr/>
        </p:nvSpPr>
        <p:spPr>
          <a:xfrm>
            <a:off x="11626764" y="3598095"/>
            <a:ext cx="9799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BI 分析</a:t>
            </a:r>
          </a:p>
        </p:txBody>
      </p:sp>
      <p:sp>
        <p:nvSpPr>
          <p:cNvPr id="1418" name="m-d33_sunburst-lgbar-3-2">
            <a:extLst>
              <a:ext uri="{FF2B5EF4-FFF2-40B4-BE49-F238E27FC236}">
                <a16:creationId xmlns:a16="http://schemas.microsoft.com/office/drawing/2014/main" id="{FCC338FE-9537-0E2F-CE78-1817F63DD474}"/>
              </a:ext>
            </a:extLst>
          </p:cNvPr>
          <p:cNvSpPr/>
          <p:nvPr/>
        </p:nvSpPr>
        <p:spPr>
          <a:xfrm>
            <a:off x="11816715" y="3609467"/>
            <a:ext cx="112839" cy="15621"/>
          </a:xfrm>
          <a:custGeom>
            <a:avLst/>
            <a:gdLst/>
            <a:ahLst/>
            <a:cxnLst/>
            <a:rect l="0" t="0" r="r" b="b"/>
            <a:pathLst>
              <a:path w="112839" h="15621">
                <a:moveTo>
                  <a:pt x="7811" y="0"/>
                </a:moveTo>
                <a:lnTo>
                  <a:pt x="105029" y="0"/>
                </a:lnTo>
                <a:cubicBezTo>
                  <a:pt x="109347" y="0"/>
                  <a:pt x="112839" y="3556"/>
                  <a:pt x="112839" y="7811"/>
                </a:cubicBezTo>
                <a:lnTo>
                  <a:pt x="112839" y="7811"/>
                </a:lnTo>
                <a:cubicBezTo>
                  <a:pt x="112839" y="12129"/>
                  <a:pt x="109347" y="15621"/>
                  <a:pt x="105029" y="15621"/>
                </a:cubicBezTo>
                <a:lnTo>
                  <a:pt x="7811" y="15621"/>
                </a:lnTo>
                <a:cubicBezTo>
                  <a:pt x="3492" y="15621"/>
                  <a:pt x="0" y="12129"/>
                  <a:pt x="0" y="7811"/>
                </a:cubicBezTo>
                <a:lnTo>
                  <a:pt x="0" y="7811"/>
                </a:lnTo>
                <a:cubicBezTo>
                  <a:pt x="0" y="3556"/>
                  <a:pt x="3492" y="0"/>
                  <a:pt x="7811" y="0"/>
                </a:cubicBezTo>
                <a:close/>
              </a:path>
            </a:pathLst>
          </a:custGeom>
          <a:solidFill>
            <a:srgbClr val="99C4E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19" name="m-d33_sunburst-lgp-3-2">
            <a:extLst>
              <a:ext uri="{FF2B5EF4-FFF2-40B4-BE49-F238E27FC236}">
                <a16:creationId xmlns:a16="http://schemas.microsoft.com/office/drawing/2014/main" id="{1A8CD99B-545E-12AB-FF58-C7B6E790DC52}"/>
              </a:ext>
            </a:extLst>
          </p:cNvPr>
          <p:cNvSpPr txBox="1"/>
          <p:nvPr/>
        </p:nvSpPr>
        <p:spPr>
          <a:xfrm>
            <a:off x="12245772" y="3598095"/>
            <a:ext cx="42073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6%</a:t>
            </a:r>
          </a:p>
        </p:txBody>
      </p:sp>
      <p:sp>
        <p:nvSpPr>
          <p:cNvPr id="1420" name="m-d33_sunburst-lgc-3-3">
            <a:extLst>
              <a:ext uri="{FF2B5EF4-FFF2-40B4-BE49-F238E27FC236}">
                <a16:creationId xmlns:a16="http://schemas.microsoft.com/office/drawing/2014/main" id="{A0B3975A-367E-C9D9-A7EC-7610B069C7E2}"/>
              </a:ext>
            </a:extLst>
          </p:cNvPr>
          <p:cNvSpPr/>
          <p:nvPr/>
        </p:nvSpPr>
        <p:spPr>
          <a:xfrm>
            <a:off x="11595418" y="3653726"/>
            <a:ext cx="20828" cy="20828"/>
          </a:xfrm>
          <a:custGeom>
            <a:avLst/>
            <a:gdLst/>
            <a:ahLst/>
            <a:cxnLst/>
            <a:rect l="0" t="0" r="r" b="b"/>
            <a:pathLst>
              <a:path w="20828" h="20828">
                <a:moveTo>
                  <a:pt x="5207" y="0"/>
                </a:moveTo>
                <a:lnTo>
                  <a:pt x="15621" y="0"/>
                </a:lnTo>
                <a:cubicBezTo>
                  <a:pt x="18479" y="0"/>
                  <a:pt x="20828" y="2350"/>
                  <a:pt x="20828" y="5271"/>
                </a:cubicBezTo>
                <a:lnTo>
                  <a:pt x="20828" y="15685"/>
                </a:lnTo>
                <a:cubicBezTo>
                  <a:pt x="20828" y="18542"/>
                  <a:pt x="18479" y="20828"/>
                  <a:pt x="15621" y="20828"/>
                </a:cubicBezTo>
                <a:lnTo>
                  <a:pt x="5207" y="20828"/>
                </a:lnTo>
                <a:cubicBezTo>
                  <a:pt x="2350" y="20828"/>
                  <a:pt x="0" y="18542"/>
                  <a:pt x="0" y="15685"/>
                </a:cubicBezTo>
                <a:lnTo>
                  <a:pt x="0" y="5271"/>
                </a:lnTo>
                <a:cubicBezTo>
                  <a:pt x="0" y="2350"/>
                  <a:pt x="2350" y="0"/>
                  <a:pt x="5207" y="0"/>
                </a:cubicBezTo>
                <a:close/>
              </a:path>
            </a:pathLst>
          </a:custGeom>
          <a:solidFill>
            <a:srgbClr val="BEDA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21" name="m-d33_sunburst-lgs-3-3">
            <a:extLst>
              <a:ext uri="{FF2B5EF4-FFF2-40B4-BE49-F238E27FC236}">
                <a16:creationId xmlns:a16="http://schemas.microsoft.com/office/drawing/2014/main" id="{A3E4DC4E-EE0A-5011-2A8E-AE3C1647EFEF}"/>
              </a:ext>
            </a:extLst>
          </p:cNvPr>
          <p:cNvSpPr txBox="1"/>
          <p:nvPr/>
        </p:nvSpPr>
        <p:spPr>
          <a:xfrm>
            <a:off x="11626764" y="3644958"/>
            <a:ext cx="10414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数据交易</a:t>
            </a:r>
          </a:p>
        </p:txBody>
      </p:sp>
      <p:sp>
        <p:nvSpPr>
          <p:cNvPr id="1422" name="m-d33_sunburst-lgbar-3-3">
            <a:extLst>
              <a:ext uri="{FF2B5EF4-FFF2-40B4-BE49-F238E27FC236}">
                <a16:creationId xmlns:a16="http://schemas.microsoft.com/office/drawing/2014/main" id="{AF336DC1-7C83-E023-C528-ECE892269E14}"/>
              </a:ext>
            </a:extLst>
          </p:cNvPr>
          <p:cNvSpPr/>
          <p:nvPr/>
        </p:nvSpPr>
        <p:spPr>
          <a:xfrm>
            <a:off x="11816715" y="3656330"/>
            <a:ext cx="75184" cy="15621"/>
          </a:xfrm>
          <a:custGeom>
            <a:avLst/>
            <a:gdLst/>
            <a:ahLst/>
            <a:cxnLst/>
            <a:rect l="0" t="0" r="r" b="b"/>
            <a:pathLst>
              <a:path w="75184" h="15621">
                <a:moveTo>
                  <a:pt x="7811" y="0"/>
                </a:moveTo>
                <a:lnTo>
                  <a:pt x="67373" y="0"/>
                </a:lnTo>
                <a:cubicBezTo>
                  <a:pt x="71691" y="0"/>
                  <a:pt x="75184" y="3556"/>
                  <a:pt x="75184" y="7811"/>
                </a:cubicBezTo>
                <a:lnTo>
                  <a:pt x="75184" y="7811"/>
                </a:lnTo>
                <a:cubicBezTo>
                  <a:pt x="75184" y="12129"/>
                  <a:pt x="71691" y="15621"/>
                  <a:pt x="67373" y="15621"/>
                </a:cubicBezTo>
                <a:lnTo>
                  <a:pt x="7811" y="15621"/>
                </a:lnTo>
                <a:cubicBezTo>
                  <a:pt x="3492" y="15621"/>
                  <a:pt x="0" y="12129"/>
                  <a:pt x="0" y="7811"/>
                </a:cubicBezTo>
                <a:lnTo>
                  <a:pt x="0" y="7811"/>
                </a:lnTo>
                <a:cubicBezTo>
                  <a:pt x="0" y="3556"/>
                  <a:pt x="3492" y="0"/>
                  <a:pt x="7811" y="0"/>
                </a:cubicBezTo>
                <a:close/>
              </a:path>
            </a:pathLst>
          </a:custGeom>
          <a:solidFill>
            <a:srgbClr val="BEDA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23" name="m-d33_sunburst-lgp-3-3">
            <a:extLst>
              <a:ext uri="{FF2B5EF4-FFF2-40B4-BE49-F238E27FC236}">
                <a16:creationId xmlns:a16="http://schemas.microsoft.com/office/drawing/2014/main" id="{9EFDE291-287A-98AE-6CA8-D2EA584A4C78}"/>
              </a:ext>
            </a:extLst>
          </p:cNvPr>
          <p:cNvSpPr txBox="1"/>
          <p:nvPr/>
        </p:nvSpPr>
        <p:spPr>
          <a:xfrm>
            <a:off x="12245772" y="3644958"/>
            <a:ext cx="42073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4%</a:t>
            </a:r>
          </a:p>
        </p:txBody>
      </p:sp>
      <p:sp>
        <p:nvSpPr>
          <p:cNvPr id="1424" name="m-d33_sunburst-lg-4">
            <a:extLst>
              <a:ext uri="{FF2B5EF4-FFF2-40B4-BE49-F238E27FC236}">
                <a16:creationId xmlns:a16="http://schemas.microsoft.com/office/drawing/2014/main" id="{27802CD2-3530-1783-A1DB-57028836969B}"/>
              </a:ext>
            </a:extLst>
          </p:cNvPr>
          <p:cNvSpPr/>
          <p:nvPr/>
        </p:nvSpPr>
        <p:spPr>
          <a:xfrm>
            <a:off x="11556365" y="3720148"/>
            <a:ext cx="768032" cy="161417"/>
          </a:xfrm>
          <a:custGeom>
            <a:avLst/>
            <a:gdLst/>
            <a:ahLst/>
            <a:cxnLst/>
            <a:rect l="0" t="0" r="r" b="b"/>
            <a:pathLst>
              <a:path w="768032" h="161417">
                <a:moveTo>
                  <a:pt x="23431" y="0"/>
                </a:moveTo>
                <a:lnTo>
                  <a:pt x="744601" y="0"/>
                </a:lnTo>
                <a:cubicBezTo>
                  <a:pt x="757555" y="0"/>
                  <a:pt x="768032" y="10477"/>
                  <a:pt x="768032" y="23431"/>
                </a:cubicBezTo>
                <a:lnTo>
                  <a:pt x="768032" y="137986"/>
                </a:lnTo>
                <a:cubicBezTo>
                  <a:pt x="768032" y="150939"/>
                  <a:pt x="757555" y="161417"/>
                  <a:pt x="744601" y="161417"/>
                </a:cubicBezTo>
                <a:lnTo>
                  <a:pt x="23431" y="161417"/>
                </a:lnTo>
                <a:cubicBezTo>
                  <a:pt x="10477" y="161417"/>
                  <a:pt x="0" y="150939"/>
                  <a:pt x="0" y="137986"/>
                </a:cubicBezTo>
                <a:lnTo>
                  <a:pt x="0" y="23431"/>
                </a:lnTo>
                <a:cubicBezTo>
                  <a:pt x="0" y="10477"/>
                  <a:pt x="10477" y="0"/>
                  <a:pt x="2343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25" name="m-d33_sunburst-lgb-4">
            <a:extLst>
              <a:ext uri="{FF2B5EF4-FFF2-40B4-BE49-F238E27FC236}">
                <a16:creationId xmlns:a16="http://schemas.microsoft.com/office/drawing/2014/main" id="{E168F7D3-23D5-18CB-376C-A76778C947C8}"/>
              </a:ext>
            </a:extLst>
          </p:cNvPr>
          <p:cNvSpPr/>
          <p:nvPr/>
        </p:nvSpPr>
        <p:spPr>
          <a:xfrm>
            <a:off x="11556365" y="3720148"/>
            <a:ext cx="7811" cy="161417"/>
          </a:xfrm>
          <a:custGeom>
            <a:avLst/>
            <a:gdLst/>
            <a:ahLst/>
            <a:cxnLst/>
            <a:rect l="0" t="0" r="r" b="b"/>
            <a:pathLst>
              <a:path w="7811" h="161417">
                <a:moveTo>
                  <a:pt x="3873" y="0"/>
                </a:moveTo>
                <a:lnTo>
                  <a:pt x="3873" y="0"/>
                </a:lnTo>
                <a:cubicBezTo>
                  <a:pt x="6096" y="0"/>
                  <a:pt x="7811" y="1714"/>
                  <a:pt x="7811" y="3937"/>
                </a:cubicBezTo>
                <a:lnTo>
                  <a:pt x="7811" y="157480"/>
                </a:lnTo>
                <a:cubicBezTo>
                  <a:pt x="7811" y="159702"/>
                  <a:pt x="6096" y="161417"/>
                  <a:pt x="3873" y="161417"/>
                </a:cubicBezTo>
                <a:lnTo>
                  <a:pt x="3873" y="161417"/>
                </a:lnTo>
                <a:cubicBezTo>
                  <a:pt x="1714" y="161417"/>
                  <a:pt x="0" y="159702"/>
                  <a:pt x="0" y="157480"/>
                </a:cubicBezTo>
                <a:lnTo>
                  <a:pt x="0" y="3937"/>
                </a:lnTo>
                <a:cubicBezTo>
                  <a:pt x="0" y="1714"/>
                  <a:pt x="1714" y="0"/>
                  <a:pt x="3873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26" name="m-d33_sunburst-lgn-4">
            <a:extLst>
              <a:ext uri="{FF2B5EF4-FFF2-40B4-BE49-F238E27FC236}">
                <a16:creationId xmlns:a16="http://schemas.microsoft.com/office/drawing/2014/main" id="{D0E7E406-0A6B-40B1-22F7-08CF6915D2B2}"/>
              </a:ext>
            </a:extLst>
          </p:cNvPr>
          <p:cNvSpPr txBox="1"/>
          <p:nvPr/>
        </p:nvSpPr>
        <p:spPr>
          <a:xfrm>
            <a:off x="11589690" y="3732254"/>
            <a:ext cx="79407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咨询</a:t>
            </a:r>
          </a:p>
        </p:txBody>
      </p:sp>
      <p:sp>
        <p:nvSpPr>
          <p:cNvPr id="1427" name="m-d33_sunburst-lgv-4">
            <a:extLst>
              <a:ext uri="{FF2B5EF4-FFF2-40B4-BE49-F238E27FC236}">
                <a16:creationId xmlns:a16="http://schemas.microsoft.com/office/drawing/2014/main" id="{41C94ACE-0A12-C807-7BAC-1F0B0ED8C08E}"/>
              </a:ext>
            </a:extLst>
          </p:cNvPr>
          <p:cNvSpPr txBox="1"/>
          <p:nvPr/>
        </p:nvSpPr>
        <p:spPr>
          <a:xfrm>
            <a:off x="12104948" y="3737077"/>
            <a:ext cx="183052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3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12% · 1.44 亿</a:t>
            </a:r>
          </a:p>
        </p:txBody>
      </p:sp>
      <p:sp>
        <p:nvSpPr>
          <p:cNvPr id="1428" name="m-d33_sunburst-lgc-4-1">
            <a:extLst>
              <a:ext uri="{FF2B5EF4-FFF2-40B4-BE49-F238E27FC236}">
                <a16:creationId xmlns:a16="http://schemas.microsoft.com/office/drawing/2014/main" id="{FA36F34F-6FAD-B874-0439-26010299D8E7}"/>
              </a:ext>
            </a:extLst>
          </p:cNvPr>
          <p:cNvSpPr/>
          <p:nvPr/>
        </p:nvSpPr>
        <p:spPr>
          <a:xfrm>
            <a:off x="11595418" y="3791712"/>
            <a:ext cx="20828" cy="20828"/>
          </a:xfrm>
          <a:custGeom>
            <a:avLst/>
            <a:gdLst/>
            <a:ahLst/>
            <a:cxnLst/>
            <a:rect l="0" t="0" r="r" b="b"/>
            <a:pathLst>
              <a:path w="20828" h="20828">
                <a:moveTo>
                  <a:pt x="5207" y="0"/>
                </a:moveTo>
                <a:lnTo>
                  <a:pt x="15621" y="0"/>
                </a:lnTo>
                <a:cubicBezTo>
                  <a:pt x="18479" y="0"/>
                  <a:pt x="20828" y="2350"/>
                  <a:pt x="20828" y="5207"/>
                </a:cubicBezTo>
                <a:lnTo>
                  <a:pt x="20828" y="15685"/>
                </a:lnTo>
                <a:cubicBezTo>
                  <a:pt x="20828" y="18542"/>
                  <a:pt x="18479" y="20828"/>
                  <a:pt x="15621" y="20828"/>
                </a:cubicBezTo>
                <a:lnTo>
                  <a:pt x="5207" y="20828"/>
                </a:lnTo>
                <a:cubicBezTo>
                  <a:pt x="2350" y="20828"/>
                  <a:pt x="0" y="18542"/>
                  <a:pt x="0" y="15685"/>
                </a:cubicBezTo>
                <a:lnTo>
                  <a:pt x="0" y="5207"/>
                </a:lnTo>
                <a:cubicBezTo>
                  <a:pt x="0" y="2350"/>
                  <a:pt x="2350" y="0"/>
                  <a:pt x="5207" y="0"/>
                </a:cubicBezTo>
                <a:close/>
              </a:path>
            </a:pathLst>
          </a:custGeom>
          <a:solidFill>
            <a:srgbClr val="E8946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29" name="m-d33_sunburst-lgs-4-1">
            <a:extLst>
              <a:ext uri="{FF2B5EF4-FFF2-40B4-BE49-F238E27FC236}">
                <a16:creationId xmlns:a16="http://schemas.microsoft.com/office/drawing/2014/main" id="{22EFB8B9-A75D-9706-42AC-C7152ACC1AFF}"/>
              </a:ext>
            </a:extLst>
          </p:cNvPr>
          <p:cNvSpPr txBox="1"/>
          <p:nvPr/>
        </p:nvSpPr>
        <p:spPr>
          <a:xfrm>
            <a:off x="11626764" y="3782944"/>
            <a:ext cx="10414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规划咨询</a:t>
            </a:r>
          </a:p>
        </p:txBody>
      </p:sp>
      <p:sp>
        <p:nvSpPr>
          <p:cNvPr id="1430" name="m-d33_sunburst-lgbar-4-1">
            <a:extLst>
              <a:ext uri="{FF2B5EF4-FFF2-40B4-BE49-F238E27FC236}">
                <a16:creationId xmlns:a16="http://schemas.microsoft.com/office/drawing/2014/main" id="{E1603C09-944B-4D0E-3DD2-3C8C3E8ABB05}"/>
              </a:ext>
            </a:extLst>
          </p:cNvPr>
          <p:cNvSpPr/>
          <p:nvPr/>
        </p:nvSpPr>
        <p:spPr>
          <a:xfrm>
            <a:off x="11816715" y="3794316"/>
            <a:ext cx="131636" cy="15685"/>
          </a:xfrm>
          <a:custGeom>
            <a:avLst/>
            <a:gdLst/>
            <a:ahLst/>
            <a:cxnLst/>
            <a:rect l="0" t="0" r="r" b="b"/>
            <a:pathLst>
              <a:path w="131636" h="15685">
                <a:moveTo>
                  <a:pt x="7811" y="0"/>
                </a:moveTo>
                <a:lnTo>
                  <a:pt x="123825" y="0"/>
                </a:lnTo>
                <a:cubicBezTo>
                  <a:pt x="128143" y="0"/>
                  <a:pt x="131636" y="3556"/>
                  <a:pt x="131636" y="7811"/>
                </a:cubicBezTo>
                <a:lnTo>
                  <a:pt x="131636" y="7811"/>
                </a:lnTo>
                <a:cubicBezTo>
                  <a:pt x="131636" y="12129"/>
                  <a:pt x="128143" y="15685"/>
                  <a:pt x="123825" y="15685"/>
                </a:cubicBezTo>
                <a:lnTo>
                  <a:pt x="7811" y="15685"/>
                </a:lnTo>
                <a:cubicBezTo>
                  <a:pt x="3492" y="15685"/>
                  <a:pt x="0" y="12129"/>
                  <a:pt x="0" y="7811"/>
                </a:cubicBezTo>
                <a:lnTo>
                  <a:pt x="0" y="7811"/>
                </a:lnTo>
                <a:cubicBezTo>
                  <a:pt x="0" y="3556"/>
                  <a:pt x="3492" y="0"/>
                  <a:pt x="7811" y="0"/>
                </a:cubicBezTo>
                <a:close/>
              </a:path>
            </a:pathLst>
          </a:custGeom>
          <a:solidFill>
            <a:srgbClr val="E8946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31" name="m-d33_sunburst-lgp-4-1">
            <a:extLst>
              <a:ext uri="{FF2B5EF4-FFF2-40B4-BE49-F238E27FC236}">
                <a16:creationId xmlns:a16="http://schemas.microsoft.com/office/drawing/2014/main" id="{A63D540E-7367-5BF5-5599-23F77F395915}"/>
              </a:ext>
            </a:extLst>
          </p:cNvPr>
          <p:cNvSpPr txBox="1"/>
          <p:nvPr/>
        </p:nvSpPr>
        <p:spPr>
          <a:xfrm>
            <a:off x="12245772" y="3782944"/>
            <a:ext cx="42073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7%</a:t>
            </a:r>
          </a:p>
        </p:txBody>
      </p:sp>
      <p:sp>
        <p:nvSpPr>
          <p:cNvPr id="1432" name="m-d33_sunburst-lgc-4-2">
            <a:extLst>
              <a:ext uri="{FF2B5EF4-FFF2-40B4-BE49-F238E27FC236}">
                <a16:creationId xmlns:a16="http://schemas.microsoft.com/office/drawing/2014/main" id="{EFAA20CC-E39A-4A39-624D-23C7E95D03E1}"/>
              </a:ext>
            </a:extLst>
          </p:cNvPr>
          <p:cNvSpPr/>
          <p:nvPr/>
        </p:nvSpPr>
        <p:spPr>
          <a:xfrm>
            <a:off x="11595418" y="3838575"/>
            <a:ext cx="20828" cy="20828"/>
          </a:xfrm>
          <a:custGeom>
            <a:avLst/>
            <a:gdLst/>
            <a:ahLst/>
            <a:cxnLst/>
            <a:rect l="0" t="0" r="r" b="b"/>
            <a:pathLst>
              <a:path w="20828" h="20828">
                <a:moveTo>
                  <a:pt x="5207" y="0"/>
                </a:moveTo>
                <a:lnTo>
                  <a:pt x="15621" y="0"/>
                </a:lnTo>
                <a:cubicBezTo>
                  <a:pt x="18479" y="0"/>
                  <a:pt x="20828" y="2350"/>
                  <a:pt x="20828" y="5271"/>
                </a:cubicBezTo>
                <a:lnTo>
                  <a:pt x="20828" y="15685"/>
                </a:lnTo>
                <a:cubicBezTo>
                  <a:pt x="20828" y="18542"/>
                  <a:pt x="18479" y="20828"/>
                  <a:pt x="15621" y="20828"/>
                </a:cubicBezTo>
                <a:lnTo>
                  <a:pt x="5207" y="20828"/>
                </a:lnTo>
                <a:cubicBezTo>
                  <a:pt x="2350" y="20828"/>
                  <a:pt x="0" y="18542"/>
                  <a:pt x="0" y="15685"/>
                </a:cubicBezTo>
                <a:lnTo>
                  <a:pt x="0" y="5271"/>
                </a:lnTo>
                <a:cubicBezTo>
                  <a:pt x="0" y="2350"/>
                  <a:pt x="2350" y="0"/>
                  <a:pt x="5207" y="0"/>
                </a:cubicBezTo>
                <a:close/>
              </a:path>
            </a:pathLst>
          </a:custGeom>
          <a:solidFill>
            <a:srgbClr val="EEB09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33" name="m-d33_sunburst-lgs-4-2">
            <a:extLst>
              <a:ext uri="{FF2B5EF4-FFF2-40B4-BE49-F238E27FC236}">
                <a16:creationId xmlns:a16="http://schemas.microsoft.com/office/drawing/2014/main" id="{E8559885-C101-BD3C-3347-B4AC0478BD3E}"/>
              </a:ext>
            </a:extLst>
          </p:cNvPr>
          <p:cNvSpPr txBox="1"/>
          <p:nvPr/>
        </p:nvSpPr>
        <p:spPr>
          <a:xfrm>
            <a:off x="11626764" y="3829807"/>
            <a:ext cx="10414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实施服务</a:t>
            </a:r>
          </a:p>
        </p:txBody>
      </p:sp>
      <p:sp>
        <p:nvSpPr>
          <p:cNvPr id="1434" name="m-d33_sunburst-lgbar-4-2">
            <a:extLst>
              <a:ext uri="{FF2B5EF4-FFF2-40B4-BE49-F238E27FC236}">
                <a16:creationId xmlns:a16="http://schemas.microsoft.com/office/drawing/2014/main" id="{BC70D317-4FB0-D764-4388-4D956281BF6D}"/>
              </a:ext>
            </a:extLst>
          </p:cNvPr>
          <p:cNvSpPr/>
          <p:nvPr/>
        </p:nvSpPr>
        <p:spPr>
          <a:xfrm>
            <a:off x="11816715" y="3841178"/>
            <a:ext cx="94043" cy="15685"/>
          </a:xfrm>
          <a:custGeom>
            <a:avLst/>
            <a:gdLst/>
            <a:ahLst/>
            <a:cxnLst/>
            <a:rect l="0" t="0" r="r" b="b"/>
            <a:pathLst>
              <a:path w="94043" h="15685">
                <a:moveTo>
                  <a:pt x="7811" y="0"/>
                </a:moveTo>
                <a:lnTo>
                  <a:pt x="86233" y="0"/>
                </a:lnTo>
                <a:cubicBezTo>
                  <a:pt x="90551" y="0"/>
                  <a:pt x="94043" y="3556"/>
                  <a:pt x="94043" y="7811"/>
                </a:cubicBezTo>
                <a:lnTo>
                  <a:pt x="94043" y="7811"/>
                </a:lnTo>
                <a:cubicBezTo>
                  <a:pt x="94043" y="12129"/>
                  <a:pt x="90551" y="15685"/>
                  <a:pt x="86233" y="15685"/>
                </a:cubicBezTo>
                <a:lnTo>
                  <a:pt x="7811" y="15685"/>
                </a:lnTo>
                <a:cubicBezTo>
                  <a:pt x="3492" y="15685"/>
                  <a:pt x="0" y="12129"/>
                  <a:pt x="0" y="7811"/>
                </a:cubicBezTo>
                <a:lnTo>
                  <a:pt x="0" y="7811"/>
                </a:lnTo>
                <a:cubicBezTo>
                  <a:pt x="0" y="3556"/>
                  <a:pt x="3492" y="0"/>
                  <a:pt x="7811" y="0"/>
                </a:cubicBezTo>
                <a:close/>
              </a:path>
            </a:pathLst>
          </a:custGeom>
          <a:solidFill>
            <a:srgbClr val="EEB09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35" name="m-d33_sunburst-lgp-4-2">
            <a:extLst>
              <a:ext uri="{FF2B5EF4-FFF2-40B4-BE49-F238E27FC236}">
                <a16:creationId xmlns:a16="http://schemas.microsoft.com/office/drawing/2014/main" id="{09AB0442-ABFE-57BB-7193-80F0DF2C61F9}"/>
              </a:ext>
            </a:extLst>
          </p:cNvPr>
          <p:cNvSpPr txBox="1"/>
          <p:nvPr/>
        </p:nvSpPr>
        <p:spPr>
          <a:xfrm>
            <a:off x="12245772" y="3829807"/>
            <a:ext cx="42073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5%</a:t>
            </a:r>
          </a:p>
        </p:txBody>
      </p:sp>
      <p:cxnSp>
        <p:nvCxnSpPr>
          <p:cNvPr id="1436" name="m-d33_sunburst-foot-line">
            <a:extLst>
              <a:ext uri="{FF2B5EF4-FFF2-40B4-BE49-F238E27FC236}">
                <a16:creationId xmlns:a16="http://schemas.microsoft.com/office/drawing/2014/main" id="{49C956D2-D76C-28CC-7709-7A3F4E6B3FE2}"/>
              </a:ext>
            </a:extLst>
          </p:cNvPr>
          <p:cNvCxnSpPr/>
          <p:nvPr/>
        </p:nvCxnSpPr>
        <p:spPr>
          <a:xfrm>
            <a:off x="10140061" y="40429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37" name="m-d33_sunburst-foot-l">
            <a:extLst>
              <a:ext uri="{FF2B5EF4-FFF2-40B4-BE49-F238E27FC236}">
                <a16:creationId xmlns:a16="http://schemas.microsoft.com/office/drawing/2014/main" id="{E28CD117-8B8E-CC9B-5822-50A6E7747585}"/>
              </a:ext>
            </a:extLst>
          </p:cNvPr>
          <p:cNvSpPr txBox="1"/>
          <p:nvPr/>
        </p:nvSpPr>
        <p:spPr>
          <a:xfrm>
            <a:off x="10137874" y="4056923"/>
            <a:ext cx="347776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旭日图 · 四大业务 · 11 条产品线</a:t>
            </a:r>
          </a:p>
        </p:txBody>
      </p:sp>
      <p:sp>
        <p:nvSpPr>
          <p:cNvPr id="1438" name="m-d33_sunburst-foot-r">
            <a:extLst>
              <a:ext uri="{FF2B5EF4-FFF2-40B4-BE49-F238E27FC236}">
                <a16:creationId xmlns:a16="http://schemas.microsoft.com/office/drawing/2014/main" id="{460A9F7F-2ED5-94DA-4409-8673E67FBD81}"/>
              </a:ext>
            </a:extLst>
          </p:cNvPr>
          <p:cNvSpPr txBox="1"/>
          <p:nvPr/>
        </p:nvSpPr>
        <p:spPr>
          <a:xfrm>
            <a:off x="12142309" y="40569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1439" name="mini-card-c02_swot">
            <a:extLst>
              <a:ext uri="{FF2B5EF4-FFF2-40B4-BE49-F238E27FC236}">
                <a16:creationId xmlns:a16="http://schemas.microsoft.com/office/drawing/2014/main" id="{8B24A894-A29E-7CCF-B699-5C67273B9146}"/>
              </a:ext>
            </a:extLst>
          </p:cNvPr>
          <p:cNvSpPr/>
          <p:nvPr/>
        </p:nvSpPr>
        <p:spPr>
          <a:xfrm>
            <a:off x="-63500" y="42672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0" y="0"/>
                </a:moveTo>
                <a:lnTo>
                  <a:pt x="2419160" y="0"/>
                </a:lnTo>
                <a:cubicBezTo>
                  <a:pt x="2463482" y="0"/>
                  <a:pt x="2499360" y="35877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2" y="1405890"/>
                  <a:pt x="2419160" y="1405890"/>
                </a:cubicBezTo>
                <a:lnTo>
                  <a:pt x="80200" y="1405890"/>
                </a:lnTo>
                <a:cubicBezTo>
                  <a:pt x="35878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7"/>
                  <a:pt x="35878" y="0"/>
                  <a:pt x="80200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40" name="m-c02_swot-title-bar">
            <a:extLst>
              <a:ext uri="{FF2B5EF4-FFF2-40B4-BE49-F238E27FC236}">
                <a16:creationId xmlns:a16="http://schemas.microsoft.com/office/drawing/2014/main" id="{454E6D7B-78CD-DAA4-80DB-1E4358AE21D6}"/>
              </a:ext>
            </a:extLst>
          </p:cNvPr>
          <p:cNvSpPr/>
          <p:nvPr/>
        </p:nvSpPr>
        <p:spPr>
          <a:xfrm>
            <a:off x="56261" y="43661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41" name="m-c02_swot-title-bar-accent">
            <a:extLst>
              <a:ext uri="{FF2B5EF4-FFF2-40B4-BE49-F238E27FC236}">
                <a16:creationId xmlns:a16="http://schemas.microsoft.com/office/drawing/2014/main" id="{ACD3A059-35C7-52C8-6B47-E45CDB86CC94}"/>
              </a:ext>
            </a:extLst>
          </p:cNvPr>
          <p:cNvSpPr/>
          <p:nvPr/>
        </p:nvSpPr>
        <p:spPr>
          <a:xfrm>
            <a:off x="56261" y="43661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42" name="m-c02_swot-title-cn">
            <a:extLst>
              <a:ext uri="{FF2B5EF4-FFF2-40B4-BE49-F238E27FC236}">
                <a16:creationId xmlns:a16="http://schemas.microsoft.com/office/drawing/2014/main" id="{6B63788A-9F92-FBA4-F30B-40354E8525C0}"/>
              </a:ext>
            </a:extLst>
          </p:cNvPr>
          <p:cNvSpPr txBox="1"/>
          <p:nvPr/>
        </p:nvSpPr>
        <p:spPr>
          <a:xfrm>
            <a:off x="88440" y="4348768"/>
            <a:ext cx="487896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SWOT 战略分析</a:t>
            </a:r>
          </a:p>
        </p:txBody>
      </p:sp>
      <p:sp>
        <p:nvSpPr>
          <p:cNvPr id="1443" name="m-c02_swot-title-en">
            <a:extLst>
              <a:ext uri="{FF2B5EF4-FFF2-40B4-BE49-F238E27FC236}">
                <a16:creationId xmlns:a16="http://schemas.microsoft.com/office/drawing/2014/main" id="{FB52713A-0D30-434F-5FBA-87BFE13531A8}"/>
              </a:ext>
            </a:extLst>
          </p:cNvPr>
          <p:cNvSpPr txBox="1"/>
          <p:nvPr/>
        </p:nvSpPr>
        <p:spPr>
          <a:xfrm>
            <a:off x="95730" y="4436050"/>
            <a:ext cx="25907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SWOT ANALYSIS</a:t>
            </a:r>
          </a:p>
        </p:txBody>
      </p:sp>
      <p:sp>
        <p:nvSpPr>
          <p:cNvPr id="1444" name="m-c02_swot-title-sub">
            <a:extLst>
              <a:ext uri="{FF2B5EF4-FFF2-40B4-BE49-F238E27FC236}">
                <a16:creationId xmlns:a16="http://schemas.microsoft.com/office/drawing/2014/main" id="{DC30B473-DDF3-A937-C4CC-2F6AAAB1EA6B}"/>
              </a:ext>
            </a:extLst>
          </p:cNvPr>
          <p:cNvSpPr txBox="1"/>
          <p:nvPr/>
        </p:nvSpPr>
        <p:spPr>
          <a:xfrm>
            <a:off x="1830208" y="4405192"/>
            <a:ext cx="488547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内外部四个维度，识别优势与风险并匹配对策</a:t>
            </a:r>
          </a:p>
        </p:txBody>
      </p:sp>
      <p:sp>
        <p:nvSpPr>
          <p:cNvPr id="1445" name="m-c02_swot-ax-1">
            <a:extLst>
              <a:ext uri="{FF2B5EF4-FFF2-40B4-BE49-F238E27FC236}">
                <a16:creationId xmlns:a16="http://schemas.microsoft.com/office/drawing/2014/main" id="{140780DE-BFBE-F2C1-3562-9599FE099568}"/>
              </a:ext>
            </a:extLst>
          </p:cNvPr>
          <p:cNvSpPr txBox="1"/>
          <p:nvPr/>
        </p:nvSpPr>
        <p:spPr>
          <a:xfrm>
            <a:off x="1032235" y="4502823"/>
            <a:ext cx="118850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2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积极因素</a:t>
            </a:r>
          </a:p>
        </p:txBody>
      </p:sp>
      <p:sp>
        <p:nvSpPr>
          <p:cNvPr id="1446" name="m-c02_swot-ax-2">
            <a:extLst>
              <a:ext uri="{FF2B5EF4-FFF2-40B4-BE49-F238E27FC236}">
                <a16:creationId xmlns:a16="http://schemas.microsoft.com/office/drawing/2014/main" id="{7596DACC-619C-112D-F31D-4DE629011274}"/>
              </a:ext>
            </a:extLst>
          </p:cNvPr>
          <p:cNvSpPr txBox="1"/>
          <p:nvPr/>
        </p:nvSpPr>
        <p:spPr>
          <a:xfrm>
            <a:off x="1203051" y="4502823"/>
            <a:ext cx="118850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消极因素</a:t>
            </a:r>
          </a:p>
        </p:txBody>
      </p:sp>
      <p:sp>
        <p:nvSpPr>
          <p:cNvPr id="1447" name="m-c02_swot-ax-dot">
            <a:extLst>
              <a:ext uri="{FF2B5EF4-FFF2-40B4-BE49-F238E27FC236}">
                <a16:creationId xmlns:a16="http://schemas.microsoft.com/office/drawing/2014/main" id="{A5860AAD-41B4-80B8-674B-EC6F56C8D769}"/>
              </a:ext>
            </a:extLst>
          </p:cNvPr>
          <p:cNvSpPr/>
          <p:nvPr/>
        </p:nvSpPr>
        <p:spPr>
          <a:xfrm>
            <a:off x="1171861" y="4517136"/>
            <a:ext cx="10414" cy="10414"/>
          </a:xfrm>
          <a:prstGeom prst="ellipse">
            <a:avLst/>
          </a:prstGeom>
          <a:solidFill>
            <a:srgbClr val="0B2545">
              <a:alpha val="2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48" name="m-c02_swot-ax-3">
            <a:extLst>
              <a:ext uri="{FF2B5EF4-FFF2-40B4-BE49-F238E27FC236}">
                <a16:creationId xmlns:a16="http://schemas.microsoft.com/office/drawing/2014/main" id="{5FFE0A4E-779C-BBDA-2595-DC5419764E08}"/>
              </a:ext>
            </a:extLst>
          </p:cNvPr>
          <p:cNvSpPr txBox="1"/>
          <p:nvPr/>
        </p:nvSpPr>
        <p:spPr>
          <a:xfrm>
            <a:off x="2248512" y="4736142"/>
            <a:ext cx="65608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内部</a:t>
            </a:r>
          </a:p>
        </p:txBody>
      </p:sp>
      <p:sp>
        <p:nvSpPr>
          <p:cNvPr id="1449" name="m-c02_swot-ax-4">
            <a:extLst>
              <a:ext uri="{FF2B5EF4-FFF2-40B4-BE49-F238E27FC236}">
                <a16:creationId xmlns:a16="http://schemas.microsoft.com/office/drawing/2014/main" id="{0CB1DB9A-C399-C871-C22B-820F334DD9DB}"/>
              </a:ext>
            </a:extLst>
          </p:cNvPr>
          <p:cNvSpPr txBox="1"/>
          <p:nvPr/>
        </p:nvSpPr>
        <p:spPr>
          <a:xfrm>
            <a:off x="2248512" y="5150099"/>
            <a:ext cx="65608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外部</a:t>
            </a:r>
          </a:p>
        </p:txBody>
      </p:sp>
      <p:cxnSp>
        <p:nvCxnSpPr>
          <p:cNvPr id="1450" name="m-c02_swot-ax-v">
            <a:extLst>
              <a:ext uri="{FF2B5EF4-FFF2-40B4-BE49-F238E27FC236}">
                <a16:creationId xmlns:a16="http://schemas.microsoft.com/office/drawing/2014/main" id="{D2D8C4D1-CD65-E1B3-7505-AD36CBD7F335}"/>
              </a:ext>
            </a:extLst>
          </p:cNvPr>
          <p:cNvCxnSpPr/>
          <p:nvPr/>
        </p:nvCxnSpPr>
        <p:spPr>
          <a:xfrm>
            <a:off x="1177068" y="4545774"/>
            <a:ext cx="0" cy="812292"/>
          </a:xfrm>
          <a:prstGeom prst="line">
            <a:avLst/>
          </a:prstGeom>
          <a:ln w="2540" cap="rnd">
            <a:solidFill>
              <a:srgbClr val="0B2545">
                <a:alpha val="14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51" name="m-c02_swot-ax-h">
            <a:extLst>
              <a:ext uri="{FF2B5EF4-FFF2-40B4-BE49-F238E27FC236}">
                <a16:creationId xmlns:a16="http://schemas.microsoft.com/office/drawing/2014/main" id="{75CD2A4A-DCAB-7B8F-46A0-FC15D5C3AAF9}"/>
              </a:ext>
            </a:extLst>
          </p:cNvPr>
          <p:cNvCxnSpPr/>
          <p:nvPr/>
        </p:nvCxnSpPr>
        <p:spPr>
          <a:xfrm>
            <a:off x="113538" y="4961033"/>
            <a:ext cx="2127060" cy="0"/>
          </a:xfrm>
          <a:prstGeom prst="line">
            <a:avLst/>
          </a:prstGeom>
          <a:ln w="2540" cap="rnd">
            <a:solidFill>
              <a:srgbClr val="0B2545">
                <a:alpha val="14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52" name="m-c02_swot-cell-S">
            <a:extLst>
              <a:ext uri="{FF2B5EF4-FFF2-40B4-BE49-F238E27FC236}">
                <a16:creationId xmlns:a16="http://schemas.microsoft.com/office/drawing/2014/main" id="{F878A4FA-E5D8-A6A0-91B9-63E38628BA16}"/>
              </a:ext>
            </a:extLst>
          </p:cNvPr>
          <p:cNvSpPr/>
          <p:nvPr/>
        </p:nvSpPr>
        <p:spPr>
          <a:xfrm>
            <a:off x="131762" y="4563999"/>
            <a:ext cx="1028382" cy="380111"/>
          </a:xfrm>
          <a:custGeom>
            <a:avLst/>
            <a:gdLst/>
            <a:ahLst/>
            <a:cxnLst/>
            <a:rect l="0" t="0" r="r" b="b"/>
            <a:pathLst>
              <a:path w="1028382" h="380111">
                <a:moveTo>
                  <a:pt x="26035" y="0"/>
                </a:moveTo>
                <a:lnTo>
                  <a:pt x="1002348" y="0"/>
                </a:lnTo>
                <a:cubicBezTo>
                  <a:pt x="1016762" y="0"/>
                  <a:pt x="1028382" y="11621"/>
                  <a:pt x="1028382" y="26035"/>
                </a:cubicBezTo>
                <a:lnTo>
                  <a:pt x="1028382" y="354076"/>
                </a:lnTo>
                <a:cubicBezTo>
                  <a:pt x="1028382" y="368490"/>
                  <a:pt x="1016762" y="380111"/>
                  <a:pt x="1002348" y="380111"/>
                </a:cubicBezTo>
                <a:lnTo>
                  <a:pt x="26035" y="380111"/>
                </a:lnTo>
                <a:cubicBezTo>
                  <a:pt x="11620" y="380111"/>
                  <a:pt x="0" y="368490"/>
                  <a:pt x="0" y="354076"/>
                </a:cubicBezTo>
                <a:lnTo>
                  <a:pt x="0" y="26035"/>
                </a:lnTo>
                <a:cubicBezTo>
                  <a:pt x="0" y="11621"/>
                  <a:pt x="11620" y="0"/>
                  <a:pt x="26035" y="0"/>
                </a:cubicBezTo>
                <a:close/>
              </a:path>
            </a:pathLst>
          </a:custGeom>
          <a:gradFill rotWithShape="1">
            <a:gsLst>
              <a:gs pos="0">
                <a:srgbClr val="134C9C"/>
              </a:gs>
              <a:gs pos="100000">
                <a:srgbClr val="0B3E8F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53" name="m-c02_swot-wm-S">
            <a:extLst>
              <a:ext uri="{FF2B5EF4-FFF2-40B4-BE49-F238E27FC236}">
                <a16:creationId xmlns:a16="http://schemas.microsoft.com/office/drawing/2014/main" id="{49B07A69-8491-9823-58BF-37F1B3B416E7}"/>
              </a:ext>
            </a:extLst>
          </p:cNvPr>
          <p:cNvSpPr txBox="1"/>
          <p:nvPr/>
        </p:nvSpPr>
        <p:spPr>
          <a:xfrm>
            <a:off x="934474" y="4555616"/>
            <a:ext cx="197658" cy="23691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07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alpha val="18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S</a:t>
            </a:r>
          </a:p>
        </p:txBody>
      </p:sp>
      <p:sp>
        <p:nvSpPr>
          <p:cNvPr id="1454" name="m-c02_swot-icon-shield">
            <a:extLst>
              <a:ext uri="{FF2B5EF4-FFF2-40B4-BE49-F238E27FC236}">
                <a16:creationId xmlns:a16="http://schemas.microsoft.com/office/drawing/2014/main" id="{C5C4F038-2EC7-AD31-4560-5D9C263D63FA}"/>
              </a:ext>
            </a:extLst>
          </p:cNvPr>
          <p:cNvSpPr/>
          <p:nvPr/>
        </p:nvSpPr>
        <p:spPr>
          <a:xfrm>
            <a:off x="179959" y="4617720"/>
            <a:ext cx="23368" cy="27940"/>
          </a:xfrm>
          <a:custGeom>
            <a:avLst/>
            <a:gdLst/>
            <a:ahLst/>
            <a:cxnLst/>
            <a:rect l="0" t="0" r="r" b="b"/>
            <a:pathLst>
              <a:path w="23368" h="27940">
                <a:moveTo>
                  <a:pt x="11684" y="0"/>
                </a:moveTo>
                <a:lnTo>
                  <a:pt x="23368" y="4508"/>
                </a:lnTo>
                <a:lnTo>
                  <a:pt x="23368" y="13652"/>
                </a:lnTo>
                <a:cubicBezTo>
                  <a:pt x="23368" y="20447"/>
                  <a:pt x="18542" y="25717"/>
                  <a:pt x="11684" y="27940"/>
                </a:cubicBezTo>
                <a:cubicBezTo>
                  <a:pt x="4826" y="25717"/>
                  <a:pt x="0" y="20447"/>
                  <a:pt x="0" y="13652"/>
                </a:cubicBezTo>
                <a:lnTo>
                  <a:pt x="0" y="4508"/>
                </a:lnTo>
                <a:close/>
                <a:moveTo>
                  <a:pt x="6795" y="13970"/>
                </a:moveTo>
                <a:lnTo>
                  <a:pt x="10350" y="17526"/>
                </a:lnTo>
                <a:lnTo>
                  <a:pt x="17209" y="10731"/>
                </a:lnTo>
              </a:path>
            </a:pathLst>
          </a:custGeom>
          <a:noFill/>
          <a:ln w="254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55" name="m-c02_swot-cn-S">
            <a:extLst>
              <a:ext uri="{FF2B5EF4-FFF2-40B4-BE49-F238E27FC236}">
                <a16:creationId xmlns:a16="http://schemas.microsoft.com/office/drawing/2014/main" id="{B00B6BEF-71C5-13E9-11C7-1030173D71F7}"/>
              </a:ext>
            </a:extLst>
          </p:cNvPr>
          <p:cNvSpPr txBox="1"/>
          <p:nvPr/>
        </p:nvSpPr>
        <p:spPr>
          <a:xfrm>
            <a:off x="234445" y="4579477"/>
            <a:ext cx="178860" cy="59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70" b="1" i="0" u="none" strike="noStrike" kern="1200" cap="none" spc="26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内部优势</a:t>
            </a:r>
          </a:p>
        </p:txBody>
      </p:sp>
      <p:sp>
        <p:nvSpPr>
          <p:cNvPr id="1456" name="m-c02_swot-en-S">
            <a:extLst>
              <a:ext uri="{FF2B5EF4-FFF2-40B4-BE49-F238E27FC236}">
                <a16:creationId xmlns:a16="http://schemas.microsoft.com/office/drawing/2014/main" id="{33DC0B80-7556-2385-12E6-8CF254AEFF43}"/>
              </a:ext>
            </a:extLst>
          </p:cNvPr>
          <p:cNvSpPr txBox="1"/>
          <p:nvPr/>
        </p:nvSpPr>
        <p:spPr>
          <a:xfrm>
            <a:off x="236319" y="4632614"/>
            <a:ext cx="14340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31" normalizeH="0" baseline="0" noProof="0">
                <a:ln>
                  <a:noFill/>
                </a:ln>
                <a:solidFill>
                  <a:srgbClr val="FFFFFF">
                    <a:alpha val="6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STRENGTHS</a:t>
            </a:r>
          </a:p>
        </p:txBody>
      </p:sp>
      <p:sp>
        <p:nvSpPr>
          <p:cNvPr id="1457" name="m-c02_swot-rule-S">
            <a:extLst>
              <a:ext uri="{FF2B5EF4-FFF2-40B4-BE49-F238E27FC236}">
                <a16:creationId xmlns:a16="http://schemas.microsoft.com/office/drawing/2014/main" id="{1CEC760B-9970-E5E9-C450-CCBD0F3CB912}"/>
              </a:ext>
            </a:extLst>
          </p:cNvPr>
          <p:cNvSpPr/>
          <p:nvPr/>
        </p:nvSpPr>
        <p:spPr>
          <a:xfrm>
            <a:off x="191643" y="4686364"/>
            <a:ext cx="62484" cy="3124"/>
          </a:xfrm>
          <a:prstGeom prst="roundRect">
            <a:avLst>
              <a:gd name="adj" fmla="val 24599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58" name="m-c02_swot-d-S-1">
            <a:extLst>
              <a:ext uri="{FF2B5EF4-FFF2-40B4-BE49-F238E27FC236}">
                <a16:creationId xmlns:a16="http://schemas.microsoft.com/office/drawing/2014/main" id="{2257ADB9-C480-DC8E-B2A1-35E2E2A878CE}"/>
              </a:ext>
            </a:extLst>
          </p:cNvPr>
          <p:cNvSpPr/>
          <p:nvPr/>
        </p:nvSpPr>
        <p:spPr>
          <a:xfrm>
            <a:off x="195028" y="4734008"/>
            <a:ext cx="8852" cy="8852"/>
          </a:xfrm>
          <a:prstGeom prst="ellipse">
            <a:avLst/>
          </a:prstGeom>
          <a:solidFill>
            <a:srgbClr val="FFFFF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59" name="m-c02_swot-p-S-1">
            <a:extLst>
              <a:ext uri="{FF2B5EF4-FFF2-40B4-BE49-F238E27FC236}">
                <a16:creationId xmlns:a16="http://schemas.microsoft.com/office/drawing/2014/main" id="{C76902B5-DF45-68D6-5687-19A3FF5907EE}"/>
              </a:ext>
            </a:extLst>
          </p:cNvPr>
          <p:cNvSpPr txBox="1"/>
          <p:nvPr/>
        </p:nvSpPr>
        <p:spPr>
          <a:xfrm>
            <a:off x="220151" y="4718110"/>
            <a:ext cx="306627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FFFFFF">
                    <a:alpha val="9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自研技术壁垒，专利 86 项</a:t>
            </a:r>
          </a:p>
        </p:txBody>
      </p:sp>
      <p:sp>
        <p:nvSpPr>
          <p:cNvPr id="1460" name="m-c02_swot-d-S-2">
            <a:extLst>
              <a:ext uri="{FF2B5EF4-FFF2-40B4-BE49-F238E27FC236}">
                <a16:creationId xmlns:a16="http://schemas.microsoft.com/office/drawing/2014/main" id="{E4BB0A7E-7BEB-28F7-25E5-F9916B4A533B}"/>
              </a:ext>
            </a:extLst>
          </p:cNvPr>
          <p:cNvSpPr/>
          <p:nvPr/>
        </p:nvSpPr>
        <p:spPr>
          <a:xfrm>
            <a:off x="195028" y="4793888"/>
            <a:ext cx="8852" cy="8852"/>
          </a:xfrm>
          <a:prstGeom prst="ellipse">
            <a:avLst/>
          </a:prstGeom>
          <a:solidFill>
            <a:srgbClr val="FFFFF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61" name="m-c02_swot-p-S-2">
            <a:extLst>
              <a:ext uri="{FF2B5EF4-FFF2-40B4-BE49-F238E27FC236}">
                <a16:creationId xmlns:a16="http://schemas.microsoft.com/office/drawing/2014/main" id="{F9019637-37CA-9B01-BF29-AD35E41420C4}"/>
              </a:ext>
            </a:extLst>
          </p:cNvPr>
          <p:cNvSpPr txBox="1"/>
          <p:nvPr/>
        </p:nvSpPr>
        <p:spPr>
          <a:xfrm>
            <a:off x="220151" y="4777990"/>
            <a:ext cx="32992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FFFFFF">
                    <a:alpha val="9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渠道覆盖 28 省，网点超千家</a:t>
            </a:r>
          </a:p>
        </p:txBody>
      </p:sp>
      <p:sp>
        <p:nvSpPr>
          <p:cNvPr id="1462" name="m-c02_swot-d-S-3">
            <a:extLst>
              <a:ext uri="{FF2B5EF4-FFF2-40B4-BE49-F238E27FC236}">
                <a16:creationId xmlns:a16="http://schemas.microsoft.com/office/drawing/2014/main" id="{67E7D8CF-A308-1F9E-FB92-D6F4D05344DC}"/>
              </a:ext>
            </a:extLst>
          </p:cNvPr>
          <p:cNvSpPr/>
          <p:nvPr/>
        </p:nvSpPr>
        <p:spPr>
          <a:xfrm>
            <a:off x="195028" y="4853769"/>
            <a:ext cx="8852" cy="8852"/>
          </a:xfrm>
          <a:prstGeom prst="ellipse">
            <a:avLst/>
          </a:prstGeom>
          <a:solidFill>
            <a:srgbClr val="FFFFF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63" name="m-c02_swot-p-S-3">
            <a:extLst>
              <a:ext uri="{FF2B5EF4-FFF2-40B4-BE49-F238E27FC236}">
                <a16:creationId xmlns:a16="http://schemas.microsoft.com/office/drawing/2014/main" id="{F4D891DD-BC0B-9E0D-A2C2-81BE91A4B6D6}"/>
              </a:ext>
            </a:extLst>
          </p:cNvPr>
          <p:cNvSpPr txBox="1"/>
          <p:nvPr/>
        </p:nvSpPr>
        <p:spPr>
          <a:xfrm>
            <a:off x="220151" y="4837871"/>
            <a:ext cx="31990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FFFFFF">
                    <a:alpha val="9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核心团队稳定，司龄 6.2 年</a:t>
            </a:r>
          </a:p>
        </p:txBody>
      </p:sp>
      <p:sp>
        <p:nvSpPr>
          <p:cNvPr id="1464" name="m-c02_swot-cell-W">
            <a:extLst>
              <a:ext uri="{FF2B5EF4-FFF2-40B4-BE49-F238E27FC236}">
                <a16:creationId xmlns:a16="http://schemas.microsoft.com/office/drawing/2014/main" id="{B465826E-1F92-F19E-CD45-F02F2EF44663}"/>
              </a:ext>
            </a:extLst>
          </p:cNvPr>
          <p:cNvSpPr/>
          <p:nvPr/>
        </p:nvSpPr>
        <p:spPr>
          <a:xfrm>
            <a:off x="1193990" y="4563999"/>
            <a:ext cx="1028383" cy="380111"/>
          </a:xfrm>
          <a:custGeom>
            <a:avLst/>
            <a:gdLst/>
            <a:ahLst/>
            <a:cxnLst/>
            <a:rect l="0" t="0" r="r" b="b"/>
            <a:pathLst>
              <a:path w="1028383" h="380111">
                <a:moveTo>
                  <a:pt x="26035" y="0"/>
                </a:moveTo>
                <a:lnTo>
                  <a:pt x="1002348" y="0"/>
                </a:lnTo>
                <a:cubicBezTo>
                  <a:pt x="1016762" y="0"/>
                  <a:pt x="1028383" y="11621"/>
                  <a:pt x="1028383" y="26035"/>
                </a:cubicBezTo>
                <a:lnTo>
                  <a:pt x="1028383" y="354076"/>
                </a:lnTo>
                <a:cubicBezTo>
                  <a:pt x="1028383" y="368490"/>
                  <a:pt x="1016762" y="380111"/>
                  <a:pt x="1002348" y="380111"/>
                </a:cubicBezTo>
                <a:lnTo>
                  <a:pt x="26035" y="380111"/>
                </a:lnTo>
                <a:cubicBezTo>
                  <a:pt x="11621" y="380111"/>
                  <a:pt x="0" y="368490"/>
                  <a:pt x="0" y="354076"/>
                </a:cubicBezTo>
                <a:lnTo>
                  <a:pt x="0" y="26035"/>
                </a:lnTo>
                <a:cubicBezTo>
                  <a:pt x="0" y="11621"/>
                  <a:pt x="11621" y="0"/>
                  <a:pt x="26035" y="0"/>
                </a:cubicBezTo>
                <a:close/>
              </a:path>
            </a:pathLst>
          </a:custGeom>
          <a:gradFill rotWithShape="1">
            <a:gsLst>
              <a:gs pos="0">
                <a:srgbClr val="E7EDF5"/>
              </a:gs>
              <a:gs pos="100000">
                <a:srgbClr val="DDE5F0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65" name="m-c02_swot-wm-W">
            <a:extLst>
              <a:ext uri="{FF2B5EF4-FFF2-40B4-BE49-F238E27FC236}">
                <a16:creationId xmlns:a16="http://schemas.microsoft.com/office/drawing/2014/main" id="{BE7DE157-F8A7-DBC2-80FD-B688C2235C75}"/>
              </a:ext>
            </a:extLst>
          </p:cNvPr>
          <p:cNvSpPr txBox="1"/>
          <p:nvPr/>
        </p:nvSpPr>
        <p:spPr>
          <a:xfrm>
            <a:off x="1996702" y="4555616"/>
            <a:ext cx="197658" cy="23691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070" b="1" i="0" u="none" strike="noStrike" kern="1200" cap="none" spc="0" normalizeH="0" baseline="0" noProof="0">
                <a:ln>
                  <a:noFill/>
                </a:ln>
                <a:solidFill>
                  <a:srgbClr val="9FB2C9">
                    <a:alpha val="34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W</a:t>
            </a:r>
          </a:p>
        </p:txBody>
      </p:sp>
      <p:sp>
        <p:nvSpPr>
          <p:cNvPr id="1466" name="m-c02_swot-icon-search">
            <a:extLst>
              <a:ext uri="{FF2B5EF4-FFF2-40B4-BE49-F238E27FC236}">
                <a16:creationId xmlns:a16="http://schemas.microsoft.com/office/drawing/2014/main" id="{31734D3E-75EA-1DAC-A063-D848BC046C24}"/>
              </a:ext>
            </a:extLst>
          </p:cNvPr>
          <p:cNvSpPr/>
          <p:nvPr/>
        </p:nvSpPr>
        <p:spPr>
          <a:xfrm>
            <a:off x="1259396" y="4637214"/>
            <a:ext cx="6541" cy="6540"/>
          </a:xfrm>
          <a:custGeom>
            <a:avLst/>
            <a:gdLst/>
            <a:ahLst/>
            <a:cxnLst/>
            <a:rect l="0" t="0" r="r" b="b"/>
            <a:pathLst>
              <a:path w="6541" h="6540">
                <a:moveTo>
                  <a:pt x="6541" y="6540"/>
                </a:moveTo>
                <a:lnTo>
                  <a:pt x="0" y="0"/>
                </a:lnTo>
              </a:path>
            </a:pathLst>
          </a:custGeom>
          <a:noFill/>
          <a:ln w="2540" cap="rnd">
            <a:solidFill>
              <a:srgbClr val="41587A">
                <a:alpha val="8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67" name="m-c02_swot-icon-search">
            <a:extLst>
              <a:ext uri="{FF2B5EF4-FFF2-40B4-BE49-F238E27FC236}">
                <a16:creationId xmlns:a16="http://schemas.microsoft.com/office/drawing/2014/main" id="{030A5FC2-6249-BF97-4425-F6EB39F99D35}"/>
              </a:ext>
            </a:extLst>
          </p:cNvPr>
          <p:cNvSpPr/>
          <p:nvPr/>
        </p:nvSpPr>
        <p:spPr>
          <a:xfrm>
            <a:off x="1241830" y="4619649"/>
            <a:ext cx="20828" cy="20828"/>
          </a:xfrm>
          <a:prstGeom prst="ellipse">
            <a:avLst/>
          </a:prstGeom>
          <a:noFill/>
          <a:ln w="2540" cap="rnd">
            <a:solidFill>
              <a:srgbClr val="41587A">
                <a:alpha val="8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68" name="m-c02_swot-cn-W">
            <a:extLst>
              <a:ext uri="{FF2B5EF4-FFF2-40B4-BE49-F238E27FC236}">
                <a16:creationId xmlns:a16="http://schemas.microsoft.com/office/drawing/2014/main" id="{86492DF0-532B-38B7-84B6-56B3B275B951}"/>
              </a:ext>
            </a:extLst>
          </p:cNvPr>
          <p:cNvSpPr txBox="1"/>
          <p:nvPr/>
        </p:nvSpPr>
        <p:spPr>
          <a:xfrm>
            <a:off x="1296673" y="4579477"/>
            <a:ext cx="178860" cy="59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70" b="1" i="0" u="none" strike="noStrike" kern="1200" cap="none" spc="26" normalizeH="0" baseline="0" noProof="0">
                <a:ln>
                  <a:noFill/>
                </a:ln>
                <a:solidFill>
                  <a:srgbClr val="41587A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内部劣势</a:t>
            </a:r>
          </a:p>
        </p:txBody>
      </p:sp>
      <p:sp>
        <p:nvSpPr>
          <p:cNvPr id="1469" name="m-c02_swot-en-W">
            <a:extLst>
              <a:ext uri="{FF2B5EF4-FFF2-40B4-BE49-F238E27FC236}">
                <a16:creationId xmlns:a16="http://schemas.microsoft.com/office/drawing/2014/main" id="{C458996D-EFEA-B49D-E579-B864FBA89B54}"/>
              </a:ext>
            </a:extLst>
          </p:cNvPr>
          <p:cNvSpPr txBox="1"/>
          <p:nvPr/>
        </p:nvSpPr>
        <p:spPr>
          <a:xfrm>
            <a:off x="1298547" y="4632614"/>
            <a:ext cx="15751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31" normalizeH="0" baseline="0" noProof="0">
                <a:ln>
                  <a:noFill/>
                </a:ln>
                <a:solidFill>
                  <a:srgbClr val="41587A">
                    <a:alpha val="6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WEAKNESSES</a:t>
            </a:r>
          </a:p>
        </p:txBody>
      </p:sp>
      <p:sp>
        <p:nvSpPr>
          <p:cNvPr id="1470" name="m-c02_swot-rule-W">
            <a:extLst>
              <a:ext uri="{FF2B5EF4-FFF2-40B4-BE49-F238E27FC236}">
                <a16:creationId xmlns:a16="http://schemas.microsoft.com/office/drawing/2014/main" id="{7F7B9295-D07B-B311-C76B-CA79B8861711}"/>
              </a:ext>
            </a:extLst>
          </p:cNvPr>
          <p:cNvSpPr/>
          <p:nvPr/>
        </p:nvSpPr>
        <p:spPr>
          <a:xfrm>
            <a:off x="1253871" y="4686364"/>
            <a:ext cx="62484" cy="3124"/>
          </a:xfrm>
          <a:prstGeom prst="roundRect">
            <a:avLst>
              <a:gd name="adj" fmla="val 24599"/>
            </a:avLst>
          </a:prstGeom>
          <a:solidFill>
            <a:srgbClr val="41587A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71" name="m-c02_swot-d-W-1">
            <a:extLst>
              <a:ext uri="{FF2B5EF4-FFF2-40B4-BE49-F238E27FC236}">
                <a16:creationId xmlns:a16="http://schemas.microsoft.com/office/drawing/2014/main" id="{330C965C-644D-86EF-5B2E-6B6C93FD1C3E}"/>
              </a:ext>
            </a:extLst>
          </p:cNvPr>
          <p:cNvSpPr/>
          <p:nvPr/>
        </p:nvSpPr>
        <p:spPr>
          <a:xfrm>
            <a:off x="1257256" y="4734008"/>
            <a:ext cx="8852" cy="8852"/>
          </a:xfrm>
          <a:prstGeom prst="ellipse">
            <a:avLst/>
          </a:prstGeom>
          <a:solidFill>
            <a:srgbClr val="41587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72" name="m-c02_swot-p-W-1">
            <a:extLst>
              <a:ext uri="{FF2B5EF4-FFF2-40B4-BE49-F238E27FC236}">
                <a16:creationId xmlns:a16="http://schemas.microsoft.com/office/drawing/2014/main" id="{DBE6EADA-2DCF-F99D-2F64-40D74C848418}"/>
              </a:ext>
            </a:extLst>
          </p:cNvPr>
          <p:cNvSpPr txBox="1"/>
          <p:nvPr/>
        </p:nvSpPr>
        <p:spPr>
          <a:xfrm>
            <a:off x="1282379" y="4718110"/>
            <a:ext cx="206913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41587A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海外市场经验不足</a:t>
            </a:r>
          </a:p>
        </p:txBody>
      </p:sp>
      <p:sp>
        <p:nvSpPr>
          <p:cNvPr id="1473" name="m-c02_swot-d-W-2">
            <a:extLst>
              <a:ext uri="{FF2B5EF4-FFF2-40B4-BE49-F238E27FC236}">
                <a16:creationId xmlns:a16="http://schemas.microsoft.com/office/drawing/2014/main" id="{59D33696-E501-6E3C-F67B-113ACD399F0D}"/>
              </a:ext>
            </a:extLst>
          </p:cNvPr>
          <p:cNvSpPr/>
          <p:nvPr/>
        </p:nvSpPr>
        <p:spPr>
          <a:xfrm>
            <a:off x="1257256" y="4793888"/>
            <a:ext cx="8852" cy="8852"/>
          </a:xfrm>
          <a:prstGeom prst="ellipse">
            <a:avLst/>
          </a:prstGeom>
          <a:solidFill>
            <a:srgbClr val="41587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74" name="m-c02_swot-p-W-2">
            <a:extLst>
              <a:ext uri="{FF2B5EF4-FFF2-40B4-BE49-F238E27FC236}">
                <a16:creationId xmlns:a16="http://schemas.microsoft.com/office/drawing/2014/main" id="{86EDAAE0-57E8-4A61-4811-882851F21932}"/>
              </a:ext>
            </a:extLst>
          </p:cNvPr>
          <p:cNvSpPr txBox="1"/>
          <p:nvPr/>
        </p:nvSpPr>
        <p:spPr>
          <a:xfrm>
            <a:off x="1282379" y="4777990"/>
            <a:ext cx="253516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41587A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高端产线产能仍有缺口</a:t>
            </a:r>
          </a:p>
        </p:txBody>
      </p:sp>
      <p:sp>
        <p:nvSpPr>
          <p:cNvPr id="1475" name="m-c02_swot-d-W-3">
            <a:extLst>
              <a:ext uri="{FF2B5EF4-FFF2-40B4-BE49-F238E27FC236}">
                <a16:creationId xmlns:a16="http://schemas.microsoft.com/office/drawing/2014/main" id="{9EAE2568-6761-B58B-D4CE-C99EE129B717}"/>
              </a:ext>
            </a:extLst>
          </p:cNvPr>
          <p:cNvSpPr/>
          <p:nvPr/>
        </p:nvSpPr>
        <p:spPr>
          <a:xfrm>
            <a:off x="1257256" y="4853769"/>
            <a:ext cx="8852" cy="8852"/>
          </a:xfrm>
          <a:prstGeom prst="ellipse">
            <a:avLst/>
          </a:prstGeom>
          <a:solidFill>
            <a:srgbClr val="41587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76" name="m-c02_swot-p-W-3">
            <a:extLst>
              <a:ext uri="{FF2B5EF4-FFF2-40B4-BE49-F238E27FC236}">
                <a16:creationId xmlns:a16="http://schemas.microsoft.com/office/drawing/2014/main" id="{6AE5277F-7524-6A34-E47C-460A7AE345B7}"/>
              </a:ext>
            </a:extLst>
          </p:cNvPr>
          <p:cNvSpPr txBox="1"/>
          <p:nvPr/>
        </p:nvSpPr>
        <p:spPr>
          <a:xfrm>
            <a:off x="1282379" y="4837871"/>
            <a:ext cx="276817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41587A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品牌认知集中在华东地区</a:t>
            </a:r>
          </a:p>
        </p:txBody>
      </p:sp>
      <p:sp>
        <p:nvSpPr>
          <p:cNvPr id="1477" name="m-c02_swot-cell-O">
            <a:extLst>
              <a:ext uri="{FF2B5EF4-FFF2-40B4-BE49-F238E27FC236}">
                <a16:creationId xmlns:a16="http://schemas.microsoft.com/office/drawing/2014/main" id="{21079A26-04C6-DC2E-611F-5CC40AC80F18}"/>
              </a:ext>
            </a:extLst>
          </p:cNvPr>
          <p:cNvSpPr/>
          <p:nvPr/>
        </p:nvSpPr>
        <p:spPr>
          <a:xfrm>
            <a:off x="131762" y="4977956"/>
            <a:ext cx="1028382" cy="380111"/>
          </a:xfrm>
          <a:custGeom>
            <a:avLst/>
            <a:gdLst/>
            <a:ahLst/>
            <a:cxnLst/>
            <a:rect l="0" t="0" r="r" b="b"/>
            <a:pathLst>
              <a:path w="1028382" h="380111">
                <a:moveTo>
                  <a:pt x="26035" y="0"/>
                </a:moveTo>
                <a:lnTo>
                  <a:pt x="1002348" y="0"/>
                </a:lnTo>
                <a:cubicBezTo>
                  <a:pt x="1016762" y="0"/>
                  <a:pt x="1028382" y="11621"/>
                  <a:pt x="1028382" y="26035"/>
                </a:cubicBezTo>
                <a:lnTo>
                  <a:pt x="1028382" y="354076"/>
                </a:lnTo>
                <a:cubicBezTo>
                  <a:pt x="1028382" y="368491"/>
                  <a:pt x="1016762" y="380111"/>
                  <a:pt x="1002348" y="380111"/>
                </a:cubicBezTo>
                <a:lnTo>
                  <a:pt x="26035" y="380111"/>
                </a:lnTo>
                <a:cubicBezTo>
                  <a:pt x="11620" y="380111"/>
                  <a:pt x="0" y="368491"/>
                  <a:pt x="0" y="354076"/>
                </a:cubicBezTo>
                <a:lnTo>
                  <a:pt x="0" y="26035"/>
                </a:lnTo>
                <a:cubicBezTo>
                  <a:pt x="0" y="11621"/>
                  <a:pt x="11620" y="0"/>
                  <a:pt x="26035" y="0"/>
                </a:cubicBezTo>
                <a:close/>
              </a:path>
            </a:pathLst>
          </a:custGeom>
          <a:gradFill rotWithShape="1">
            <a:gsLst>
              <a:gs pos="0">
                <a:srgbClr val="2E77C2"/>
              </a:gs>
              <a:gs pos="100000">
                <a:srgbClr val="1B5AA8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78" name="m-c02_swot-wm-O">
            <a:extLst>
              <a:ext uri="{FF2B5EF4-FFF2-40B4-BE49-F238E27FC236}">
                <a16:creationId xmlns:a16="http://schemas.microsoft.com/office/drawing/2014/main" id="{059C489C-AA61-B5C7-B363-336A1F3D6160}"/>
              </a:ext>
            </a:extLst>
          </p:cNvPr>
          <p:cNvSpPr txBox="1"/>
          <p:nvPr/>
        </p:nvSpPr>
        <p:spPr>
          <a:xfrm>
            <a:off x="934474" y="4969572"/>
            <a:ext cx="197658" cy="23691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07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alpha val="18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O</a:t>
            </a:r>
          </a:p>
        </p:txBody>
      </p:sp>
      <p:sp>
        <p:nvSpPr>
          <p:cNvPr id="1479" name="m-c02_swot-icon-rocket">
            <a:extLst>
              <a:ext uri="{FF2B5EF4-FFF2-40B4-BE49-F238E27FC236}">
                <a16:creationId xmlns:a16="http://schemas.microsoft.com/office/drawing/2014/main" id="{D081F752-8A73-FA2F-A1CF-2F9A117C2A09}"/>
              </a:ext>
            </a:extLst>
          </p:cNvPr>
          <p:cNvSpPr/>
          <p:nvPr/>
        </p:nvSpPr>
        <p:spPr>
          <a:xfrm>
            <a:off x="180912" y="5031359"/>
            <a:ext cx="21463" cy="26988"/>
          </a:xfrm>
          <a:custGeom>
            <a:avLst/>
            <a:gdLst/>
            <a:ahLst/>
            <a:cxnLst/>
            <a:rect l="0" t="0" r="r" b="b"/>
            <a:pathLst>
              <a:path w="21463" h="26988">
                <a:moveTo>
                  <a:pt x="10732" y="0"/>
                </a:moveTo>
                <a:cubicBezTo>
                  <a:pt x="15621" y="3556"/>
                  <a:pt x="18225" y="9080"/>
                  <a:pt x="18225" y="14923"/>
                </a:cubicBezTo>
                <a:lnTo>
                  <a:pt x="14605" y="20828"/>
                </a:lnTo>
                <a:lnTo>
                  <a:pt x="6795" y="20828"/>
                </a:lnTo>
                <a:lnTo>
                  <a:pt x="3239" y="14923"/>
                </a:lnTo>
                <a:cubicBezTo>
                  <a:pt x="3239" y="9080"/>
                  <a:pt x="5842" y="3556"/>
                  <a:pt x="10732" y="0"/>
                </a:cubicBezTo>
                <a:close/>
                <a:moveTo>
                  <a:pt x="3239" y="19494"/>
                </a:moveTo>
                <a:lnTo>
                  <a:pt x="0" y="26988"/>
                </a:lnTo>
                <a:lnTo>
                  <a:pt x="6795" y="24384"/>
                </a:lnTo>
                <a:moveTo>
                  <a:pt x="18225" y="19494"/>
                </a:moveTo>
                <a:lnTo>
                  <a:pt x="21463" y="26988"/>
                </a:lnTo>
                <a:lnTo>
                  <a:pt x="14605" y="24384"/>
                </a:lnTo>
              </a:path>
            </a:pathLst>
          </a:custGeom>
          <a:noFill/>
          <a:ln w="254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80" name="m-c02_swot-cn-O">
            <a:extLst>
              <a:ext uri="{FF2B5EF4-FFF2-40B4-BE49-F238E27FC236}">
                <a16:creationId xmlns:a16="http://schemas.microsoft.com/office/drawing/2014/main" id="{A4F52AE8-C680-9C32-0C5F-314831042CB1}"/>
              </a:ext>
            </a:extLst>
          </p:cNvPr>
          <p:cNvSpPr txBox="1"/>
          <p:nvPr/>
        </p:nvSpPr>
        <p:spPr>
          <a:xfrm>
            <a:off x="234445" y="4993433"/>
            <a:ext cx="178860" cy="59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70" b="1" i="0" u="none" strike="noStrike" kern="1200" cap="none" spc="26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外部机会</a:t>
            </a:r>
          </a:p>
        </p:txBody>
      </p:sp>
      <p:sp>
        <p:nvSpPr>
          <p:cNvPr id="1481" name="m-c02_swot-en-O">
            <a:extLst>
              <a:ext uri="{FF2B5EF4-FFF2-40B4-BE49-F238E27FC236}">
                <a16:creationId xmlns:a16="http://schemas.microsoft.com/office/drawing/2014/main" id="{5B771450-B7BF-0D55-911E-DB777B27CC8F}"/>
              </a:ext>
            </a:extLst>
          </p:cNvPr>
          <p:cNvSpPr txBox="1"/>
          <p:nvPr/>
        </p:nvSpPr>
        <p:spPr>
          <a:xfrm>
            <a:off x="236319" y="5046571"/>
            <a:ext cx="199845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31" normalizeH="0" baseline="0" noProof="0">
                <a:ln>
                  <a:noFill/>
                </a:ln>
                <a:solidFill>
                  <a:srgbClr val="FFFFFF">
                    <a:alpha val="6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OPPORTUNITIES</a:t>
            </a:r>
          </a:p>
        </p:txBody>
      </p:sp>
      <p:sp>
        <p:nvSpPr>
          <p:cNvPr id="1482" name="m-c02_swot-rule-O">
            <a:extLst>
              <a:ext uri="{FF2B5EF4-FFF2-40B4-BE49-F238E27FC236}">
                <a16:creationId xmlns:a16="http://schemas.microsoft.com/office/drawing/2014/main" id="{FFB3DAD7-E7CD-09F8-DCF1-E213A312E98F}"/>
              </a:ext>
            </a:extLst>
          </p:cNvPr>
          <p:cNvSpPr/>
          <p:nvPr/>
        </p:nvSpPr>
        <p:spPr>
          <a:xfrm>
            <a:off x="191643" y="5100320"/>
            <a:ext cx="62484" cy="3124"/>
          </a:xfrm>
          <a:prstGeom prst="roundRect">
            <a:avLst>
              <a:gd name="adj" fmla="val 24599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83" name="m-c02_swot-d-O-1">
            <a:extLst>
              <a:ext uri="{FF2B5EF4-FFF2-40B4-BE49-F238E27FC236}">
                <a16:creationId xmlns:a16="http://schemas.microsoft.com/office/drawing/2014/main" id="{6D43DCE2-B793-EACD-E0F0-F33836EB3A97}"/>
              </a:ext>
            </a:extLst>
          </p:cNvPr>
          <p:cNvSpPr/>
          <p:nvPr/>
        </p:nvSpPr>
        <p:spPr>
          <a:xfrm>
            <a:off x="195028" y="5147964"/>
            <a:ext cx="8852" cy="8852"/>
          </a:xfrm>
          <a:prstGeom prst="ellipse">
            <a:avLst/>
          </a:prstGeom>
          <a:solidFill>
            <a:srgbClr val="FFFFF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84" name="m-c02_swot-p-O-1">
            <a:extLst>
              <a:ext uri="{FF2B5EF4-FFF2-40B4-BE49-F238E27FC236}">
                <a16:creationId xmlns:a16="http://schemas.microsoft.com/office/drawing/2014/main" id="{C225834C-A12A-975C-79AB-5F43B7CA72DA}"/>
              </a:ext>
            </a:extLst>
          </p:cNvPr>
          <p:cNvSpPr txBox="1"/>
          <p:nvPr/>
        </p:nvSpPr>
        <p:spPr>
          <a:xfrm>
            <a:off x="220151" y="5132066"/>
            <a:ext cx="300118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FFFFFF">
                    <a:alpha val="9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行业数字化渗透率快速提升</a:t>
            </a:r>
          </a:p>
        </p:txBody>
      </p:sp>
      <p:sp>
        <p:nvSpPr>
          <p:cNvPr id="1485" name="m-c02_swot-d-O-2">
            <a:extLst>
              <a:ext uri="{FF2B5EF4-FFF2-40B4-BE49-F238E27FC236}">
                <a16:creationId xmlns:a16="http://schemas.microsoft.com/office/drawing/2014/main" id="{29A57683-7757-CD8C-D530-250E0B032C1E}"/>
              </a:ext>
            </a:extLst>
          </p:cNvPr>
          <p:cNvSpPr/>
          <p:nvPr/>
        </p:nvSpPr>
        <p:spPr>
          <a:xfrm>
            <a:off x="195028" y="5207845"/>
            <a:ext cx="8852" cy="8852"/>
          </a:xfrm>
          <a:prstGeom prst="ellipse">
            <a:avLst/>
          </a:prstGeom>
          <a:solidFill>
            <a:srgbClr val="FFFFF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86" name="m-c02_swot-p-O-2">
            <a:extLst>
              <a:ext uri="{FF2B5EF4-FFF2-40B4-BE49-F238E27FC236}">
                <a16:creationId xmlns:a16="http://schemas.microsoft.com/office/drawing/2014/main" id="{474DA392-1D73-4810-CBFE-0A8AC34DF6CA}"/>
              </a:ext>
            </a:extLst>
          </p:cNvPr>
          <p:cNvSpPr txBox="1"/>
          <p:nvPr/>
        </p:nvSpPr>
        <p:spPr>
          <a:xfrm>
            <a:off x="220151" y="5191947"/>
            <a:ext cx="276817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FFFFFF">
                    <a:alpha val="9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政策补贴向智能制造倾斜</a:t>
            </a:r>
          </a:p>
        </p:txBody>
      </p:sp>
      <p:sp>
        <p:nvSpPr>
          <p:cNvPr id="1487" name="m-c02_swot-d-O-3">
            <a:extLst>
              <a:ext uri="{FF2B5EF4-FFF2-40B4-BE49-F238E27FC236}">
                <a16:creationId xmlns:a16="http://schemas.microsoft.com/office/drawing/2014/main" id="{AD25B407-69C1-5A26-6969-1F67838E42E7}"/>
              </a:ext>
            </a:extLst>
          </p:cNvPr>
          <p:cNvSpPr/>
          <p:nvPr/>
        </p:nvSpPr>
        <p:spPr>
          <a:xfrm>
            <a:off x="195028" y="5267725"/>
            <a:ext cx="8852" cy="8852"/>
          </a:xfrm>
          <a:prstGeom prst="ellipse">
            <a:avLst/>
          </a:prstGeom>
          <a:solidFill>
            <a:srgbClr val="FFFFF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88" name="m-c02_swot-p-O-3">
            <a:extLst>
              <a:ext uri="{FF2B5EF4-FFF2-40B4-BE49-F238E27FC236}">
                <a16:creationId xmlns:a16="http://schemas.microsoft.com/office/drawing/2014/main" id="{4A4E57F9-895A-0B17-C521-FAFD7396BB45}"/>
              </a:ext>
            </a:extLst>
          </p:cNvPr>
          <p:cNvSpPr txBox="1"/>
          <p:nvPr/>
        </p:nvSpPr>
        <p:spPr>
          <a:xfrm>
            <a:off x="220151" y="5251827"/>
            <a:ext cx="253516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FFFFFF">
                    <a:alpha val="9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下沉市场需求持续释放</a:t>
            </a:r>
          </a:p>
        </p:txBody>
      </p:sp>
      <p:sp>
        <p:nvSpPr>
          <p:cNvPr id="1489" name="m-c02_swot-cell-T">
            <a:extLst>
              <a:ext uri="{FF2B5EF4-FFF2-40B4-BE49-F238E27FC236}">
                <a16:creationId xmlns:a16="http://schemas.microsoft.com/office/drawing/2014/main" id="{BD22BC74-F8FE-C4C4-8194-7B8A68BFD97C}"/>
              </a:ext>
            </a:extLst>
          </p:cNvPr>
          <p:cNvSpPr/>
          <p:nvPr/>
        </p:nvSpPr>
        <p:spPr>
          <a:xfrm>
            <a:off x="1193990" y="4977956"/>
            <a:ext cx="1028383" cy="380111"/>
          </a:xfrm>
          <a:custGeom>
            <a:avLst/>
            <a:gdLst/>
            <a:ahLst/>
            <a:cxnLst/>
            <a:rect l="0" t="0" r="r" b="b"/>
            <a:pathLst>
              <a:path w="1028383" h="380111">
                <a:moveTo>
                  <a:pt x="26035" y="0"/>
                </a:moveTo>
                <a:lnTo>
                  <a:pt x="1002348" y="0"/>
                </a:lnTo>
                <a:cubicBezTo>
                  <a:pt x="1016762" y="0"/>
                  <a:pt x="1028383" y="11621"/>
                  <a:pt x="1028383" y="26035"/>
                </a:cubicBezTo>
                <a:lnTo>
                  <a:pt x="1028383" y="354076"/>
                </a:lnTo>
                <a:cubicBezTo>
                  <a:pt x="1028383" y="368491"/>
                  <a:pt x="1016762" y="380111"/>
                  <a:pt x="1002348" y="380111"/>
                </a:cubicBezTo>
                <a:lnTo>
                  <a:pt x="26035" y="380111"/>
                </a:lnTo>
                <a:cubicBezTo>
                  <a:pt x="11621" y="380111"/>
                  <a:pt x="0" y="368491"/>
                  <a:pt x="0" y="354076"/>
                </a:cubicBezTo>
                <a:lnTo>
                  <a:pt x="0" y="26035"/>
                </a:lnTo>
                <a:cubicBezTo>
                  <a:pt x="0" y="11621"/>
                  <a:pt x="11621" y="0"/>
                  <a:pt x="26035" y="0"/>
                </a:cubicBezTo>
                <a:close/>
              </a:path>
            </a:pathLst>
          </a:custGeom>
          <a:gradFill rotWithShape="1">
            <a:gsLst>
              <a:gs pos="0">
                <a:srgbClr val="EDF1F7"/>
              </a:gs>
              <a:gs pos="100000">
                <a:srgbClr val="E2E9F3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90" name="m-c02_swot-wm-T">
            <a:extLst>
              <a:ext uri="{FF2B5EF4-FFF2-40B4-BE49-F238E27FC236}">
                <a16:creationId xmlns:a16="http://schemas.microsoft.com/office/drawing/2014/main" id="{DB3C66C5-D980-DF8D-D0F8-93626D6BB82B}"/>
              </a:ext>
            </a:extLst>
          </p:cNvPr>
          <p:cNvSpPr txBox="1"/>
          <p:nvPr/>
        </p:nvSpPr>
        <p:spPr>
          <a:xfrm>
            <a:off x="1996702" y="4969572"/>
            <a:ext cx="197658" cy="23691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070" b="1" i="0" u="none" strike="noStrike" kern="1200" cap="none" spc="0" normalizeH="0" baseline="0" noProof="0">
                <a:ln>
                  <a:noFill/>
                </a:ln>
                <a:solidFill>
                  <a:srgbClr val="9FB2C9">
                    <a:alpha val="34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T</a:t>
            </a:r>
          </a:p>
        </p:txBody>
      </p:sp>
      <p:sp>
        <p:nvSpPr>
          <p:cNvPr id="1491" name="m-c02_swot-icon-flag">
            <a:extLst>
              <a:ext uri="{FF2B5EF4-FFF2-40B4-BE49-F238E27FC236}">
                <a16:creationId xmlns:a16="http://schemas.microsoft.com/office/drawing/2014/main" id="{9AF369DD-C683-C35A-0EA9-93BF97B38329}"/>
              </a:ext>
            </a:extLst>
          </p:cNvPr>
          <p:cNvSpPr/>
          <p:nvPr/>
        </p:nvSpPr>
        <p:spPr>
          <a:xfrm>
            <a:off x="1244092" y="5032946"/>
            <a:ext cx="15621" cy="26670"/>
          </a:xfrm>
          <a:custGeom>
            <a:avLst/>
            <a:gdLst/>
            <a:ahLst/>
            <a:cxnLst/>
            <a:rect l="0" t="0" r="r" b="b"/>
            <a:pathLst>
              <a:path w="15621" h="26670">
                <a:moveTo>
                  <a:pt x="0" y="26670"/>
                </a:moveTo>
                <a:lnTo>
                  <a:pt x="0" y="0"/>
                </a:lnTo>
                <a:moveTo>
                  <a:pt x="0" y="1333"/>
                </a:moveTo>
                <a:lnTo>
                  <a:pt x="15621" y="1333"/>
                </a:lnTo>
                <a:lnTo>
                  <a:pt x="13018" y="6540"/>
                </a:lnTo>
                <a:lnTo>
                  <a:pt x="15621" y="11748"/>
                </a:lnTo>
                <a:lnTo>
                  <a:pt x="0" y="11748"/>
                </a:lnTo>
              </a:path>
            </a:pathLst>
          </a:custGeom>
          <a:noFill/>
          <a:ln w="2540" cap="rnd">
            <a:solidFill>
              <a:srgbClr val="41587A">
                <a:alpha val="8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92" name="m-c02_swot-cn-T">
            <a:extLst>
              <a:ext uri="{FF2B5EF4-FFF2-40B4-BE49-F238E27FC236}">
                <a16:creationId xmlns:a16="http://schemas.microsoft.com/office/drawing/2014/main" id="{0D57F2E9-7BF1-BC5A-562B-5EF60AA47257}"/>
              </a:ext>
            </a:extLst>
          </p:cNvPr>
          <p:cNvSpPr txBox="1"/>
          <p:nvPr/>
        </p:nvSpPr>
        <p:spPr>
          <a:xfrm>
            <a:off x="1296673" y="4993433"/>
            <a:ext cx="178860" cy="59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70" b="1" i="0" u="none" strike="noStrike" kern="1200" cap="none" spc="26" normalizeH="0" baseline="0" noProof="0">
                <a:ln>
                  <a:noFill/>
                </a:ln>
                <a:solidFill>
                  <a:srgbClr val="41587A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外部威胁</a:t>
            </a:r>
          </a:p>
        </p:txBody>
      </p:sp>
      <p:sp>
        <p:nvSpPr>
          <p:cNvPr id="1493" name="m-c02_swot-en-T">
            <a:extLst>
              <a:ext uri="{FF2B5EF4-FFF2-40B4-BE49-F238E27FC236}">
                <a16:creationId xmlns:a16="http://schemas.microsoft.com/office/drawing/2014/main" id="{073973B9-1C18-B0DC-C135-3BBA4D57D9F9}"/>
              </a:ext>
            </a:extLst>
          </p:cNvPr>
          <p:cNvSpPr txBox="1"/>
          <p:nvPr/>
        </p:nvSpPr>
        <p:spPr>
          <a:xfrm>
            <a:off x="1298547" y="5046571"/>
            <a:ext cx="11517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31" normalizeH="0" baseline="0" noProof="0">
                <a:ln>
                  <a:noFill/>
                </a:ln>
                <a:solidFill>
                  <a:srgbClr val="41587A">
                    <a:alpha val="6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THREATS</a:t>
            </a:r>
          </a:p>
        </p:txBody>
      </p:sp>
      <p:sp>
        <p:nvSpPr>
          <p:cNvPr id="1494" name="m-c02_swot-rule-T">
            <a:extLst>
              <a:ext uri="{FF2B5EF4-FFF2-40B4-BE49-F238E27FC236}">
                <a16:creationId xmlns:a16="http://schemas.microsoft.com/office/drawing/2014/main" id="{A35D9BBD-263E-8717-FFE3-C9C0238BAF82}"/>
              </a:ext>
            </a:extLst>
          </p:cNvPr>
          <p:cNvSpPr/>
          <p:nvPr/>
        </p:nvSpPr>
        <p:spPr>
          <a:xfrm>
            <a:off x="1253871" y="5100320"/>
            <a:ext cx="62484" cy="3124"/>
          </a:xfrm>
          <a:prstGeom prst="roundRect">
            <a:avLst>
              <a:gd name="adj" fmla="val 24599"/>
            </a:avLst>
          </a:prstGeom>
          <a:solidFill>
            <a:srgbClr val="41587A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95" name="m-c02_swot-d-T-1">
            <a:extLst>
              <a:ext uri="{FF2B5EF4-FFF2-40B4-BE49-F238E27FC236}">
                <a16:creationId xmlns:a16="http://schemas.microsoft.com/office/drawing/2014/main" id="{C075A4E1-2A00-F4C4-2943-71F4EE9DF69A}"/>
              </a:ext>
            </a:extLst>
          </p:cNvPr>
          <p:cNvSpPr/>
          <p:nvPr/>
        </p:nvSpPr>
        <p:spPr>
          <a:xfrm>
            <a:off x="1257256" y="5147964"/>
            <a:ext cx="8852" cy="8852"/>
          </a:xfrm>
          <a:prstGeom prst="ellipse">
            <a:avLst/>
          </a:prstGeom>
          <a:solidFill>
            <a:srgbClr val="41587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96" name="m-c02_swot-p-T-1">
            <a:extLst>
              <a:ext uri="{FF2B5EF4-FFF2-40B4-BE49-F238E27FC236}">
                <a16:creationId xmlns:a16="http://schemas.microsoft.com/office/drawing/2014/main" id="{C60892DF-763A-BC91-E390-10AA7CD6FEBA}"/>
              </a:ext>
            </a:extLst>
          </p:cNvPr>
          <p:cNvSpPr txBox="1"/>
          <p:nvPr/>
        </p:nvSpPr>
        <p:spPr>
          <a:xfrm>
            <a:off x="1282379" y="5132066"/>
            <a:ext cx="230214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41587A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头部厂商价格战加剧</a:t>
            </a:r>
          </a:p>
        </p:txBody>
      </p:sp>
      <p:sp>
        <p:nvSpPr>
          <p:cNvPr id="1497" name="m-c02_swot-d-T-2">
            <a:extLst>
              <a:ext uri="{FF2B5EF4-FFF2-40B4-BE49-F238E27FC236}">
                <a16:creationId xmlns:a16="http://schemas.microsoft.com/office/drawing/2014/main" id="{2B9A1F42-BC50-4A6A-4336-77B5D7F7A702}"/>
              </a:ext>
            </a:extLst>
          </p:cNvPr>
          <p:cNvSpPr/>
          <p:nvPr/>
        </p:nvSpPr>
        <p:spPr>
          <a:xfrm>
            <a:off x="1257256" y="5207845"/>
            <a:ext cx="8852" cy="8852"/>
          </a:xfrm>
          <a:prstGeom prst="ellipse">
            <a:avLst/>
          </a:prstGeom>
          <a:solidFill>
            <a:srgbClr val="41587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98" name="m-c02_swot-p-T-2">
            <a:extLst>
              <a:ext uri="{FF2B5EF4-FFF2-40B4-BE49-F238E27FC236}">
                <a16:creationId xmlns:a16="http://schemas.microsoft.com/office/drawing/2014/main" id="{7F3DDB3A-9090-CE18-2D73-6756812A11C8}"/>
              </a:ext>
            </a:extLst>
          </p:cNvPr>
          <p:cNvSpPr txBox="1"/>
          <p:nvPr/>
        </p:nvSpPr>
        <p:spPr>
          <a:xfrm>
            <a:off x="1282379" y="5191947"/>
            <a:ext cx="230214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41587A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上游原材料成本波动</a:t>
            </a:r>
          </a:p>
        </p:txBody>
      </p:sp>
      <p:sp>
        <p:nvSpPr>
          <p:cNvPr id="1499" name="m-c02_swot-d-T-3">
            <a:extLst>
              <a:ext uri="{FF2B5EF4-FFF2-40B4-BE49-F238E27FC236}">
                <a16:creationId xmlns:a16="http://schemas.microsoft.com/office/drawing/2014/main" id="{00F97731-D501-4B32-B85A-A5EB43B33C79}"/>
              </a:ext>
            </a:extLst>
          </p:cNvPr>
          <p:cNvSpPr/>
          <p:nvPr/>
        </p:nvSpPr>
        <p:spPr>
          <a:xfrm>
            <a:off x="1257256" y="5267725"/>
            <a:ext cx="8852" cy="8852"/>
          </a:xfrm>
          <a:prstGeom prst="ellipse">
            <a:avLst/>
          </a:prstGeom>
          <a:solidFill>
            <a:srgbClr val="41587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00" name="m-c02_swot-p-T-3">
            <a:extLst>
              <a:ext uri="{FF2B5EF4-FFF2-40B4-BE49-F238E27FC236}">
                <a16:creationId xmlns:a16="http://schemas.microsoft.com/office/drawing/2014/main" id="{BBF35EFC-5E6C-0B72-2AE7-A6D20218B9F6}"/>
              </a:ext>
            </a:extLst>
          </p:cNvPr>
          <p:cNvSpPr txBox="1"/>
          <p:nvPr/>
        </p:nvSpPr>
        <p:spPr>
          <a:xfrm>
            <a:off x="1282379" y="5251827"/>
            <a:ext cx="230214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41587A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同类产品同质化明显</a:t>
            </a:r>
          </a:p>
        </p:txBody>
      </p:sp>
      <p:sp>
        <p:nvSpPr>
          <p:cNvPr id="1501" name="m-c02_swot-st-panel">
            <a:extLst>
              <a:ext uri="{FF2B5EF4-FFF2-40B4-BE49-F238E27FC236}">
                <a16:creationId xmlns:a16="http://schemas.microsoft.com/office/drawing/2014/main" id="{87C3C025-DE4F-0875-7159-5B50251A3B6A}"/>
              </a:ext>
            </a:extLst>
          </p:cNvPr>
          <p:cNvSpPr/>
          <p:nvPr/>
        </p:nvSpPr>
        <p:spPr>
          <a:xfrm>
            <a:off x="131762" y="5397119"/>
            <a:ext cx="2090610" cy="124968"/>
          </a:xfrm>
          <a:custGeom>
            <a:avLst/>
            <a:gdLst/>
            <a:ahLst/>
            <a:cxnLst/>
            <a:rect l="0" t="0" r="r" b="b"/>
            <a:pathLst>
              <a:path w="2090610" h="124968">
                <a:moveTo>
                  <a:pt x="20828" y="0"/>
                </a:moveTo>
                <a:lnTo>
                  <a:pt x="2069782" y="0"/>
                </a:lnTo>
                <a:cubicBezTo>
                  <a:pt x="2081276" y="0"/>
                  <a:pt x="2090610" y="9334"/>
                  <a:pt x="2090610" y="20828"/>
                </a:cubicBezTo>
                <a:lnTo>
                  <a:pt x="2090610" y="104140"/>
                </a:lnTo>
                <a:cubicBezTo>
                  <a:pt x="2090610" y="115633"/>
                  <a:pt x="2081276" y="124968"/>
                  <a:pt x="2069782" y="124968"/>
                </a:cubicBezTo>
                <a:lnTo>
                  <a:pt x="20828" y="124968"/>
                </a:lnTo>
                <a:cubicBezTo>
                  <a:pt x="9334" y="124968"/>
                  <a:pt x="0" y="115633"/>
                  <a:pt x="0" y="104140"/>
                </a:cubicBezTo>
                <a:lnTo>
                  <a:pt x="0" y="20828"/>
                </a:lnTo>
                <a:cubicBezTo>
                  <a:pt x="0" y="9334"/>
                  <a:pt x="9334" y="0"/>
                  <a:pt x="20828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02" name="m-c02_swot-st-bar-1">
            <a:extLst>
              <a:ext uri="{FF2B5EF4-FFF2-40B4-BE49-F238E27FC236}">
                <a16:creationId xmlns:a16="http://schemas.microsoft.com/office/drawing/2014/main" id="{196C8B4F-8897-6D97-AB51-22EB146BF087}"/>
              </a:ext>
            </a:extLst>
          </p:cNvPr>
          <p:cNvSpPr/>
          <p:nvPr/>
        </p:nvSpPr>
        <p:spPr>
          <a:xfrm>
            <a:off x="170815" y="5430964"/>
            <a:ext cx="5207" cy="57277"/>
          </a:xfrm>
          <a:prstGeom prst="roundRect">
            <a:avLst>
              <a:gd name="adj" fmla="val 41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03" name="m-c02_swot-st-h-1">
            <a:extLst>
              <a:ext uri="{FF2B5EF4-FFF2-40B4-BE49-F238E27FC236}">
                <a16:creationId xmlns:a16="http://schemas.microsoft.com/office/drawing/2014/main" id="{F6C2AEEB-F081-1A2D-135D-1595E1499614}"/>
              </a:ext>
            </a:extLst>
          </p:cNvPr>
          <p:cNvSpPr txBox="1"/>
          <p:nvPr/>
        </p:nvSpPr>
        <p:spPr>
          <a:xfrm>
            <a:off x="191591" y="5429669"/>
            <a:ext cx="107863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SO 进攻</a:t>
            </a:r>
          </a:p>
        </p:txBody>
      </p:sp>
      <p:sp>
        <p:nvSpPr>
          <p:cNvPr id="1504" name="m-c02_swot-st-p-1">
            <a:extLst>
              <a:ext uri="{FF2B5EF4-FFF2-40B4-BE49-F238E27FC236}">
                <a16:creationId xmlns:a16="http://schemas.microsoft.com/office/drawing/2014/main" id="{3E7CA6D1-8087-9729-9D92-20AA91802269}"/>
              </a:ext>
            </a:extLst>
          </p:cNvPr>
          <p:cNvSpPr txBox="1"/>
          <p:nvPr/>
        </p:nvSpPr>
        <p:spPr>
          <a:xfrm>
            <a:off x="192060" y="5468338"/>
            <a:ext cx="25839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以技术优势抢占政策红利市场</a:t>
            </a:r>
          </a:p>
        </p:txBody>
      </p:sp>
      <p:sp>
        <p:nvSpPr>
          <p:cNvPr id="1505" name="m-c02_swot-st-bar-2">
            <a:extLst>
              <a:ext uri="{FF2B5EF4-FFF2-40B4-BE49-F238E27FC236}">
                <a16:creationId xmlns:a16="http://schemas.microsoft.com/office/drawing/2014/main" id="{97338C1D-6C25-22BB-729D-EDA974DC017F}"/>
              </a:ext>
            </a:extLst>
          </p:cNvPr>
          <p:cNvSpPr/>
          <p:nvPr/>
        </p:nvSpPr>
        <p:spPr>
          <a:xfrm>
            <a:off x="680450" y="5430964"/>
            <a:ext cx="5207" cy="57277"/>
          </a:xfrm>
          <a:prstGeom prst="roundRect">
            <a:avLst>
              <a:gd name="adj" fmla="val 41000"/>
            </a:avLst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06" name="m-c02_swot-st-h-2">
            <a:extLst>
              <a:ext uri="{FF2B5EF4-FFF2-40B4-BE49-F238E27FC236}">
                <a16:creationId xmlns:a16="http://schemas.microsoft.com/office/drawing/2014/main" id="{F1D8118B-ED11-B818-2DC6-7E7AB92A2BCD}"/>
              </a:ext>
            </a:extLst>
          </p:cNvPr>
          <p:cNvSpPr txBox="1"/>
          <p:nvPr/>
        </p:nvSpPr>
        <p:spPr>
          <a:xfrm>
            <a:off x="701226" y="5429669"/>
            <a:ext cx="107863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WO 改善</a:t>
            </a:r>
          </a:p>
        </p:txBody>
      </p:sp>
      <p:sp>
        <p:nvSpPr>
          <p:cNvPr id="1507" name="m-c02_swot-st-p-2">
            <a:extLst>
              <a:ext uri="{FF2B5EF4-FFF2-40B4-BE49-F238E27FC236}">
                <a16:creationId xmlns:a16="http://schemas.microsoft.com/office/drawing/2014/main" id="{637CE0CE-F7D5-0073-534A-720B3BD265B6}"/>
              </a:ext>
            </a:extLst>
          </p:cNvPr>
          <p:cNvSpPr txBox="1"/>
          <p:nvPr/>
        </p:nvSpPr>
        <p:spPr>
          <a:xfrm>
            <a:off x="701695" y="5468338"/>
            <a:ext cx="23978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补齐产能短板承接下沉需求</a:t>
            </a:r>
          </a:p>
        </p:txBody>
      </p:sp>
      <p:sp>
        <p:nvSpPr>
          <p:cNvPr id="1508" name="m-c02_swot-st-bar-3">
            <a:extLst>
              <a:ext uri="{FF2B5EF4-FFF2-40B4-BE49-F238E27FC236}">
                <a16:creationId xmlns:a16="http://schemas.microsoft.com/office/drawing/2014/main" id="{CBA4F26D-76E9-049D-3894-29BB9F6C6D27}"/>
              </a:ext>
            </a:extLst>
          </p:cNvPr>
          <p:cNvSpPr/>
          <p:nvPr/>
        </p:nvSpPr>
        <p:spPr>
          <a:xfrm>
            <a:off x="1190085" y="5430964"/>
            <a:ext cx="5207" cy="57277"/>
          </a:xfrm>
          <a:prstGeom prst="roundRect">
            <a:avLst>
              <a:gd name="adj" fmla="val 41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09" name="m-c02_swot-st-h-3">
            <a:extLst>
              <a:ext uri="{FF2B5EF4-FFF2-40B4-BE49-F238E27FC236}">
                <a16:creationId xmlns:a16="http://schemas.microsoft.com/office/drawing/2014/main" id="{46E3ACDC-ADE6-379B-8676-B99981F31BA7}"/>
              </a:ext>
            </a:extLst>
          </p:cNvPr>
          <p:cNvSpPr txBox="1"/>
          <p:nvPr/>
        </p:nvSpPr>
        <p:spPr>
          <a:xfrm>
            <a:off x="1210861" y="5429669"/>
            <a:ext cx="107863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ST 防御</a:t>
            </a:r>
          </a:p>
        </p:txBody>
      </p:sp>
      <p:sp>
        <p:nvSpPr>
          <p:cNvPr id="1510" name="m-c02_swot-st-p-3">
            <a:extLst>
              <a:ext uri="{FF2B5EF4-FFF2-40B4-BE49-F238E27FC236}">
                <a16:creationId xmlns:a16="http://schemas.microsoft.com/office/drawing/2014/main" id="{C69CD1BB-8C0D-E7A3-55E8-6726EC8FC306}"/>
              </a:ext>
            </a:extLst>
          </p:cNvPr>
          <p:cNvSpPr txBox="1"/>
          <p:nvPr/>
        </p:nvSpPr>
        <p:spPr>
          <a:xfrm>
            <a:off x="1211330" y="5468338"/>
            <a:ext cx="22116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以渠道深度对冲价格竞争</a:t>
            </a:r>
          </a:p>
        </p:txBody>
      </p:sp>
      <p:sp>
        <p:nvSpPr>
          <p:cNvPr id="1511" name="m-c02_swot-st-bar-4">
            <a:extLst>
              <a:ext uri="{FF2B5EF4-FFF2-40B4-BE49-F238E27FC236}">
                <a16:creationId xmlns:a16="http://schemas.microsoft.com/office/drawing/2014/main" id="{FFCD8905-D364-E62D-E9CB-84AE3AE0770D}"/>
              </a:ext>
            </a:extLst>
          </p:cNvPr>
          <p:cNvSpPr/>
          <p:nvPr/>
        </p:nvSpPr>
        <p:spPr>
          <a:xfrm>
            <a:off x="1699720" y="5430964"/>
            <a:ext cx="5207" cy="57277"/>
          </a:xfrm>
          <a:prstGeom prst="roundRect">
            <a:avLst>
              <a:gd name="adj" fmla="val 41000"/>
            </a:avLst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12" name="m-c02_swot-st-h-4">
            <a:extLst>
              <a:ext uri="{FF2B5EF4-FFF2-40B4-BE49-F238E27FC236}">
                <a16:creationId xmlns:a16="http://schemas.microsoft.com/office/drawing/2014/main" id="{42CD0282-2759-44B3-B85A-4CC2F3A652AA}"/>
              </a:ext>
            </a:extLst>
          </p:cNvPr>
          <p:cNvSpPr txBox="1"/>
          <p:nvPr/>
        </p:nvSpPr>
        <p:spPr>
          <a:xfrm>
            <a:off x="1720496" y="5429669"/>
            <a:ext cx="107863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WT 规避</a:t>
            </a:r>
          </a:p>
        </p:txBody>
      </p:sp>
      <p:sp>
        <p:nvSpPr>
          <p:cNvPr id="1513" name="m-c02_swot-st-p-4">
            <a:extLst>
              <a:ext uri="{FF2B5EF4-FFF2-40B4-BE49-F238E27FC236}">
                <a16:creationId xmlns:a16="http://schemas.microsoft.com/office/drawing/2014/main" id="{DB8309CA-109A-D6B8-C9A7-CB12ADD38515}"/>
              </a:ext>
            </a:extLst>
          </p:cNvPr>
          <p:cNvSpPr txBox="1"/>
          <p:nvPr/>
        </p:nvSpPr>
        <p:spPr>
          <a:xfrm>
            <a:off x="1720965" y="5468338"/>
            <a:ext cx="25839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收缩非优势区域，聚焦主航道</a:t>
            </a:r>
          </a:p>
        </p:txBody>
      </p:sp>
      <p:cxnSp>
        <p:nvCxnSpPr>
          <p:cNvPr id="1514" name="m-c02_swot-foot-line">
            <a:extLst>
              <a:ext uri="{FF2B5EF4-FFF2-40B4-BE49-F238E27FC236}">
                <a16:creationId xmlns:a16="http://schemas.microsoft.com/office/drawing/2014/main" id="{E4B34260-724B-7417-29C2-827C0553C917}"/>
              </a:ext>
            </a:extLst>
          </p:cNvPr>
          <p:cNvCxnSpPr/>
          <p:nvPr/>
        </p:nvCxnSpPr>
        <p:spPr>
          <a:xfrm>
            <a:off x="56261" y="55923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15" name="m-c02_swot-foot-l">
            <a:extLst>
              <a:ext uri="{FF2B5EF4-FFF2-40B4-BE49-F238E27FC236}">
                <a16:creationId xmlns:a16="http://schemas.microsoft.com/office/drawing/2014/main" id="{99D6FF6D-2D0C-AE3E-0F4F-BEDA3E4E71E7}"/>
              </a:ext>
            </a:extLst>
          </p:cNvPr>
          <p:cNvSpPr txBox="1"/>
          <p:nvPr/>
        </p:nvSpPr>
        <p:spPr>
          <a:xfrm>
            <a:off x="54074" y="5606323"/>
            <a:ext cx="22257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SWOT · 四维战略定位</a:t>
            </a:r>
          </a:p>
        </p:txBody>
      </p:sp>
      <p:sp>
        <p:nvSpPr>
          <p:cNvPr id="1516" name="m-c02_swot-foot-r">
            <a:extLst>
              <a:ext uri="{FF2B5EF4-FFF2-40B4-BE49-F238E27FC236}">
                <a16:creationId xmlns:a16="http://schemas.microsoft.com/office/drawing/2014/main" id="{5B8309CD-6A48-A6F7-73B7-218C6AADC793}"/>
              </a:ext>
            </a:extLst>
          </p:cNvPr>
          <p:cNvSpPr txBox="1"/>
          <p:nvPr/>
        </p:nvSpPr>
        <p:spPr>
          <a:xfrm>
            <a:off x="2058509" y="56063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1517" name="mini-card-d13_pareto">
            <a:extLst>
              <a:ext uri="{FF2B5EF4-FFF2-40B4-BE49-F238E27FC236}">
                <a16:creationId xmlns:a16="http://schemas.microsoft.com/office/drawing/2014/main" id="{E45EC5C7-C5A7-3C58-C260-A96B786B4AD0}"/>
              </a:ext>
            </a:extLst>
          </p:cNvPr>
          <p:cNvSpPr/>
          <p:nvPr/>
        </p:nvSpPr>
        <p:spPr>
          <a:xfrm>
            <a:off x="2552700" y="42672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0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0" y="1405890"/>
                </a:lnTo>
                <a:cubicBezTo>
                  <a:pt x="35877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7"/>
                  <a:pt x="35877" y="0"/>
                  <a:pt x="80200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18" name="m-d13_pareto-title-bar">
            <a:extLst>
              <a:ext uri="{FF2B5EF4-FFF2-40B4-BE49-F238E27FC236}">
                <a16:creationId xmlns:a16="http://schemas.microsoft.com/office/drawing/2014/main" id="{D59307CB-2B1C-FF64-3114-007D5FD5EE1E}"/>
              </a:ext>
            </a:extLst>
          </p:cNvPr>
          <p:cNvSpPr/>
          <p:nvPr/>
        </p:nvSpPr>
        <p:spPr>
          <a:xfrm>
            <a:off x="2672461" y="43661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19" name="m-d13_pareto-title-bar-accent">
            <a:extLst>
              <a:ext uri="{FF2B5EF4-FFF2-40B4-BE49-F238E27FC236}">
                <a16:creationId xmlns:a16="http://schemas.microsoft.com/office/drawing/2014/main" id="{59A9E6D0-D9FA-EB91-3D1B-E553F7C6399B}"/>
              </a:ext>
            </a:extLst>
          </p:cNvPr>
          <p:cNvSpPr/>
          <p:nvPr/>
        </p:nvSpPr>
        <p:spPr>
          <a:xfrm>
            <a:off x="2672461" y="43661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20" name="m-d13_pareto-title-cn">
            <a:extLst>
              <a:ext uri="{FF2B5EF4-FFF2-40B4-BE49-F238E27FC236}">
                <a16:creationId xmlns:a16="http://schemas.microsoft.com/office/drawing/2014/main" id="{59F4DA22-AE55-F1E3-F4E2-30A04DA2417D}"/>
              </a:ext>
            </a:extLst>
          </p:cNvPr>
          <p:cNvSpPr txBox="1"/>
          <p:nvPr/>
        </p:nvSpPr>
        <p:spPr>
          <a:xfrm>
            <a:off x="2704640" y="4348768"/>
            <a:ext cx="613905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质量问题帕累托分析</a:t>
            </a:r>
          </a:p>
        </p:txBody>
      </p:sp>
      <p:sp>
        <p:nvSpPr>
          <p:cNvPr id="1521" name="m-d13_pareto-title-en">
            <a:extLst>
              <a:ext uri="{FF2B5EF4-FFF2-40B4-BE49-F238E27FC236}">
                <a16:creationId xmlns:a16="http://schemas.microsoft.com/office/drawing/2014/main" id="{F1245809-EEBB-5A71-BB12-55C538EE796A}"/>
              </a:ext>
            </a:extLst>
          </p:cNvPr>
          <p:cNvSpPr txBox="1"/>
          <p:nvPr/>
        </p:nvSpPr>
        <p:spPr>
          <a:xfrm>
            <a:off x="2711930" y="4436050"/>
            <a:ext cx="24040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PARETO CHART</a:t>
            </a:r>
          </a:p>
        </p:txBody>
      </p:sp>
      <p:sp>
        <p:nvSpPr>
          <p:cNvPr id="1522" name="m-d13_pareto-title-sub">
            <a:extLst>
              <a:ext uri="{FF2B5EF4-FFF2-40B4-BE49-F238E27FC236}">
                <a16:creationId xmlns:a16="http://schemas.microsoft.com/office/drawing/2014/main" id="{F8C0F532-CDCC-1F99-1411-F7CD401D5541}"/>
              </a:ext>
            </a:extLst>
          </p:cNvPr>
          <p:cNvSpPr txBox="1"/>
          <p:nvPr/>
        </p:nvSpPr>
        <p:spPr>
          <a:xfrm>
            <a:off x="4368199" y="4405192"/>
            <a:ext cx="566756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八类缺陷按频次排序，前三类已占到全部问题的 76%</a:t>
            </a:r>
          </a:p>
        </p:txBody>
      </p:sp>
      <p:cxnSp>
        <p:nvCxnSpPr>
          <p:cNvPr id="1523" name="m-d13_pareto-grid-0">
            <a:extLst>
              <a:ext uri="{FF2B5EF4-FFF2-40B4-BE49-F238E27FC236}">
                <a16:creationId xmlns:a16="http://schemas.microsoft.com/office/drawing/2014/main" id="{7F516A6A-4672-82B7-00D8-A7189D573D5F}"/>
              </a:ext>
            </a:extLst>
          </p:cNvPr>
          <p:cNvCxnSpPr/>
          <p:nvPr/>
        </p:nvCxnSpPr>
        <p:spPr>
          <a:xfrm>
            <a:off x="2831274" y="5256530"/>
            <a:ext cx="1369442" cy="0"/>
          </a:xfrm>
          <a:prstGeom prst="line">
            <a:avLst/>
          </a:prstGeom>
          <a:ln w="2540" cap="rnd">
            <a:solidFill>
              <a:srgbClr val="0B2545">
                <a:alpha val="1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4" name="m-d13_pareto-yl-0">
            <a:extLst>
              <a:ext uri="{FF2B5EF4-FFF2-40B4-BE49-F238E27FC236}">
                <a16:creationId xmlns:a16="http://schemas.microsoft.com/office/drawing/2014/main" id="{E34509AD-C8D8-FBB6-8DF8-2A237D93A228}"/>
              </a:ext>
            </a:extLst>
          </p:cNvPr>
          <p:cNvSpPr txBox="1"/>
          <p:nvPr/>
        </p:nvSpPr>
        <p:spPr>
          <a:xfrm>
            <a:off x="2784750" y="5238618"/>
            <a:ext cx="30799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</a:t>
            </a:r>
          </a:p>
        </p:txBody>
      </p:sp>
      <p:cxnSp>
        <p:nvCxnSpPr>
          <p:cNvPr id="1525" name="m-d13_pareto-grid-50">
            <a:extLst>
              <a:ext uri="{FF2B5EF4-FFF2-40B4-BE49-F238E27FC236}">
                <a16:creationId xmlns:a16="http://schemas.microsoft.com/office/drawing/2014/main" id="{78B002F8-7C1A-CCAF-B5D5-F3D3160A2861}"/>
              </a:ext>
            </a:extLst>
          </p:cNvPr>
          <p:cNvCxnSpPr/>
          <p:nvPr/>
        </p:nvCxnSpPr>
        <p:spPr>
          <a:xfrm>
            <a:off x="2831274" y="5155915"/>
            <a:ext cx="1369442" cy="0"/>
          </a:xfrm>
          <a:prstGeom prst="line">
            <a:avLst/>
          </a:prstGeom>
          <a:ln w="254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6" name="m-d13_pareto-yl-50">
            <a:extLst>
              <a:ext uri="{FF2B5EF4-FFF2-40B4-BE49-F238E27FC236}">
                <a16:creationId xmlns:a16="http://schemas.microsoft.com/office/drawing/2014/main" id="{D12E71E0-983C-9871-0AA9-C26E71E63A1E}"/>
              </a:ext>
            </a:extLst>
          </p:cNvPr>
          <p:cNvSpPr txBox="1"/>
          <p:nvPr/>
        </p:nvSpPr>
        <p:spPr>
          <a:xfrm>
            <a:off x="2772696" y="5138003"/>
            <a:ext cx="42854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50</a:t>
            </a:r>
          </a:p>
        </p:txBody>
      </p:sp>
      <p:cxnSp>
        <p:nvCxnSpPr>
          <p:cNvPr id="1527" name="m-d13_pareto-grid-100">
            <a:extLst>
              <a:ext uri="{FF2B5EF4-FFF2-40B4-BE49-F238E27FC236}">
                <a16:creationId xmlns:a16="http://schemas.microsoft.com/office/drawing/2014/main" id="{640A71A1-6BC1-A353-6FDD-D899DDF0E6DF}"/>
              </a:ext>
            </a:extLst>
          </p:cNvPr>
          <p:cNvCxnSpPr/>
          <p:nvPr/>
        </p:nvCxnSpPr>
        <p:spPr>
          <a:xfrm>
            <a:off x="2831274" y="5055300"/>
            <a:ext cx="1369442" cy="0"/>
          </a:xfrm>
          <a:prstGeom prst="line">
            <a:avLst/>
          </a:prstGeom>
          <a:ln w="254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8" name="m-d13_pareto-yl-100">
            <a:extLst>
              <a:ext uri="{FF2B5EF4-FFF2-40B4-BE49-F238E27FC236}">
                <a16:creationId xmlns:a16="http://schemas.microsoft.com/office/drawing/2014/main" id="{C4D3BAEC-5ECB-B3AD-FAC3-181C86A02E37}"/>
              </a:ext>
            </a:extLst>
          </p:cNvPr>
          <p:cNvSpPr txBox="1"/>
          <p:nvPr/>
        </p:nvSpPr>
        <p:spPr>
          <a:xfrm>
            <a:off x="2760642" y="5037388"/>
            <a:ext cx="54908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100</a:t>
            </a:r>
          </a:p>
        </p:txBody>
      </p:sp>
      <p:cxnSp>
        <p:nvCxnSpPr>
          <p:cNvPr id="1529" name="m-d13_pareto-grid-150">
            <a:extLst>
              <a:ext uri="{FF2B5EF4-FFF2-40B4-BE49-F238E27FC236}">
                <a16:creationId xmlns:a16="http://schemas.microsoft.com/office/drawing/2014/main" id="{986E0BBB-07C9-B020-CFC4-6DF803CC7320}"/>
              </a:ext>
            </a:extLst>
          </p:cNvPr>
          <p:cNvCxnSpPr/>
          <p:nvPr/>
        </p:nvCxnSpPr>
        <p:spPr>
          <a:xfrm>
            <a:off x="2831274" y="4954685"/>
            <a:ext cx="1369442" cy="0"/>
          </a:xfrm>
          <a:prstGeom prst="line">
            <a:avLst/>
          </a:prstGeom>
          <a:ln w="254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30" name="m-d13_pareto-yl-150">
            <a:extLst>
              <a:ext uri="{FF2B5EF4-FFF2-40B4-BE49-F238E27FC236}">
                <a16:creationId xmlns:a16="http://schemas.microsoft.com/office/drawing/2014/main" id="{EA76B540-C44B-9F62-1C6E-69656C69C336}"/>
              </a:ext>
            </a:extLst>
          </p:cNvPr>
          <p:cNvSpPr txBox="1"/>
          <p:nvPr/>
        </p:nvSpPr>
        <p:spPr>
          <a:xfrm>
            <a:off x="2760642" y="4936773"/>
            <a:ext cx="54908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150</a:t>
            </a:r>
          </a:p>
        </p:txBody>
      </p:sp>
      <p:cxnSp>
        <p:nvCxnSpPr>
          <p:cNvPr id="1531" name="m-d13_pareto-grid-200">
            <a:extLst>
              <a:ext uri="{FF2B5EF4-FFF2-40B4-BE49-F238E27FC236}">
                <a16:creationId xmlns:a16="http://schemas.microsoft.com/office/drawing/2014/main" id="{71AFBFCB-0601-C25D-91B1-F4D4D839696E}"/>
              </a:ext>
            </a:extLst>
          </p:cNvPr>
          <p:cNvCxnSpPr/>
          <p:nvPr/>
        </p:nvCxnSpPr>
        <p:spPr>
          <a:xfrm>
            <a:off x="2831274" y="4854070"/>
            <a:ext cx="1369442" cy="0"/>
          </a:xfrm>
          <a:prstGeom prst="line">
            <a:avLst/>
          </a:prstGeom>
          <a:ln w="254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32" name="m-d13_pareto-yl-200">
            <a:extLst>
              <a:ext uri="{FF2B5EF4-FFF2-40B4-BE49-F238E27FC236}">
                <a16:creationId xmlns:a16="http://schemas.microsoft.com/office/drawing/2014/main" id="{8ABB92ED-B528-0ABD-2180-A501120BE66A}"/>
              </a:ext>
            </a:extLst>
          </p:cNvPr>
          <p:cNvSpPr txBox="1"/>
          <p:nvPr/>
        </p:nvSpPr>
        <p:spPr>
          <a:xfrm>
            <a:off x="2760642" y="4836158"/>
            <a:ext cx="54908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200</a:t>
            </a:r>
          </a:p>
        </p:txBody>
      </p:sp>
      <p:cxnSp>
        <p:nvCxnSpPr>
          <p:cNvPr id="1533" name="m-d13_pareto-grid-250">
            <a:extLst>
              <a:ext uri="{FF2B5EF4-FFF2-40B4-BE49-F238E27FC236}">
                <a16:creationId xmlns:a16="http://schemas.microsoft.com/office/drawing/2014/main" id="{AD48FD82-AB29-4BB7-5B46-FC8822403C8D}"/>
              </a:ext>
            </a:extLst>
          </p:cNvPr>
          <p:cNvCxnSpPr/>
          <p:nvPr/>
        </p:nvCxnSpPr>
        <p:spPr>
          <a:xfrm>
            <a:off x="2831274" y="4753455"/>
            <a:ext cx="1369442" cy="0"/>
          </a:xfrm>
          <a:prstGeom prst="line">
            <a:avLst/>
          </a:prstGeom>
          <a:ln w="254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34" name="m-d13_pareto-yl-250">
            <a:extLst>
              <a:ext uri="{FF2B5EF4-FFF2-40B4-BE49-F238E27FC236}">
                <a16:creationId xmlns:a16="http://schemas.microsoft.com/office/drawing/2014/main" id="{974997CC-A7ED-E808-26A8-D5C616D06B5F}"/>
              </a:ext>
            </a:extLst>
          </p:cNvPr>
          <p:cNvSpPr txBox="1"/>
          <p:nvPr/>
        </p:nvSpPr>
        <p:spPr>
          <a:xfrm>
            <a:off x="2760642" y="4735543"/>
            <a:ext cx="54908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250</a:t>
            </a:r>
          </a:p>
        </p:txBody>
      </p:sp>
      <p:sp>
        <p:nvSpPr>
          <p:cNvPr id="1535" name="m-d13_pareto-yl-unit">
            <a:extLst>
              <a:ext uri="{FF2B5EF4-FFF2-40B4-BE49-F238E27FC236}">
                <a16:creationId xmlns:a16="http://schemas.microsoft.com/office/drawing/2014/main" id="{BE2B2ED0-622D-382B-DF4D-E83E9177562C}"/>
              </a:ext>
            </a:extLst>
          </p:cNvPr>
          <p:cNvSpPr txBox="1"/>
          <p:nvPr/>
        </p:nvSpPr>
        <p:spPr>
          <a:xfrm>
            <a:off x="2761084" y="4585751"/>
            <a:ext cx="5415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件数</a:t>
            </a:r>
          </a:p>
        </p:txBody>
      </p:sp>
      <p:sp>
        <p:nvSpPr>
          <p:cNvPr id="1536" name="m-d13_pareto-yr-0">
            <a:extLst>
              <a:ext uri="{FF2B5EF4-FFF2-40B4-BE49-F238E27FC236}">
                <a16:creationId xmlns:a16="http://schemas.microsoft.com/office/drawing/2014/main" id="{DB38F93E-E46A-93F5-AFFB-6AD0C3EE19E8}"/>
              </a:ext>
            </a:extLst>
          </p:cNvPr>
          <p:cNvSpPr txBox="1"/>
          <p:nvPr/>
        </p:nvSpPr>
        <p:spPr>
          <a:xfrm>
            <a:off x="4219044" y="5238618"/>
            <a:ext cx="42854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0%</a:t>
            </a:r>
          </a:p>
        </p:txBody>
      </p:sp>
      <p:sp>
        <p:nvSpPr>
          <p:cNvPr id="1537" name="m-d13_pareto-yr-25">
            <a:extLst>
              <a:ext uri="{FF2B5EF4-FFF2-40B4-BE49-F238E27FC236}">
                <a16:creationId xmlns:a16="http://schemas.microsoft.com/office/drawing/2014/main" id="{9D9F3AC9-D2CA-BFAF-231A-3404262617E1}"/>
              </a:ext>
            </a:extLst>
          </p:cNvPr>
          <p:cNvSpPr txBox="1"/>
          <p:nvPr/>
        </p:nvSpPr>
        <p:spPr>
          <a:xfrm>
            <a:off x="4219044" y="5087615"/>
            <a:ext cx="54908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25%</a:t>
            </a:r>
          </a:p>
        </p:txBody>
      </p:sp>
      <p:sp>
        <p:nvSpPr>
          <p:cNvPr id="1538" name="m-d13_pareto-yr-50">
            <a:extLst>
              <a:ext uri="{FF2B5EF4-FFF2-40B4-BE49-F238E27FC236}">
                <a16:creationId xmlns:a16="http://schemas.microsoft.com/office/drawing/2014/main" id="{A344F25F-65CE-B210-CB6C-D19188C0CF7B}"/>
              </a:ext>
            </a:extLst>
          </p:cNvPr>
          <p:cNvSpPr txBox="1"/>
          <p:nvPr/>
        </p:nvSpPr>
        <p:spPr>
          <a:xfrm>
            <a:off x="4219044" y="4936612"/>
            <a:ext cx="54908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50%</a:t>
            </a:r>
          </a:p>
        </p:txBody>
      </p:sp>
      <p:sp>
        <p:nvSpPr>
          <p:cNvPr id="1539" name="m-d13_pareto-yr-75">
            <a:extLst>
              <a:ext uri="{FF2B5EF4-FFF2-40B4-BE49-F238E27FC236}">
                <a16:creationId xmlns:a16="http://schemas.microsoft.com/office/drawing/2014/main" id="{6848130C-927A-D4C0-6D7A-7CB9BA22FF40}"/>
              </a:ext>
            </a:extLst>
          </p:cNvPr>
          <p:cNvSpPr txBox="1"/>
          <p:nvPr/>
        </p:nvSpPr>
        <p:spPr>
          <a:xfrm>
            <a:off x="4219044" y="4785609"/>
            <a:ext cx="54908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75%</a:t>
            </a:r>
          </a:p>
        </p:txBody>
      </p:sp>
      <p:sp>
        <p:nvSpPr>
          <p:cNvPr id="1540" name="m-d13_pareto-yr-100">
            <a:extLst>
              <a:ext uri="{FF2B5EF4-FFF2-40B4-BE49-F238E27FC236}">
                <a16:creationId xmlns:a16="http://schemas.microsoft.com/office/drawing/2014/main" id="{B44ACD8C-EB5D-732E-DC1A-1CE29D3E0939}"/>
              </a:ext>
            </a:extLst>
          </p:cNvPr>
          <p:cNvSpPr txBox="1"/>
          <p:nvPr/>
        </p:nvSpPr>
        <p:spPr>
          <a:xfrm>
            <a:off x="4219044" y="4634606"/>
            <a:ext cx="66962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100%</a:t>
            </a:r>
          </a:p>
        </p:txBody>
      </p:sp>
      <p:sp>
        <p:nvSpPr>
          <p:cNvPr id="1541" name="m-d13_pareto-yr-unit">
            <a:extLst>
              <a:ext uri="{FF2B5EF4-FFF2-40B4-BE49-F238E27FC236}">
                <a16:creationId xmlns:a16="http://schemas.microsoft.com/office/drawing/2014/main" id="{BDD0315D-21BE-08BB-31E7-67C0FBB2FC14}"/>
              </a:ext>
            </a:extLst>
          </p:cNvPr>
          <p:cNvSpPr txBox="1"/>
          <p:nvPr/>
        </p:nvSpPr>
        <p:spPr>
          <a:xfrm>
            <a:off x="4219357" y="4585751"/>
            <a:ext cx="9190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累计占比</a:t>
            </a:r>
          </a:p>
        </p:txBody>
      </p:sp>
      <p:cxnSp>
        <p:nvCxnSpPr>
          <p:cNvPr id="1542" name="m-d13_pareto-ref80">
            <a:extLst>
              <a:ext uri="{FF2B5EF4-FFF2-40B4-BE49-F238E27FC236}">
                <a16:creationId xmlns:a16="http://schemas.microsoft.com/office/drawing/2014/main" id="{7E97EF93-68D4-8CC5-1BD5-F7BB762F3D98}"/>
              </a:ext>
            </a:extLst>
          </p:cNvPr>
          <p:cNvCxnSpPr/>
          <p:nvPr/>
        </p:nvCxnSpPr>
        <p:spPr>
          <a:xfrm>
            <a:off x="2831274" y="4773320"/>
            <a:ext cx="1369442" cy="0"/>
          </a:xfrm>
          <a:prstGeom prst="line">
            <a:avLst/>
          </a:prstGeom>
          <a:ln w="2604" cap="rnd">
            <a:solidFill>
              <a:srgbClr val="E0703A">
                <a:alpha val="7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43" name="m-d13_pareto-ref80-tag">
            <a:extLst>
              <a:ext uri="{FF2B5EF4-FFF2-40B4-BE49-F238E27FC236}">
                <a16:creationId xmlns:a16="http://schemas.microsoft.com/office/drawing/2014/main" id="{3717B285-8019-B017-AEF9-55FE4E0B12DE}"/>
              </a:ext>
            </a:extLst>
          </p:cNvPr>
          <p:cNvSpPr/>
          <p:nvPr/>
        </p:nvSpPr>
        <p:spPr>
          <a:xfrm>
            <a:off x="4008057" y="4726432"/>
            <a:ext cx="171831" cy="36449"/>
          </a:xfrm>
          <a:custGeom>
            <a:avLst/>
            <a:gdLst/>
            <a:ahLst/>
            <a:cxnLst/>
            <a:rect l="0" t="0" r="r" b="b"/>
            <a:pathLst>
              <a:path w="171831" h="36449">
                <a:moveTo>
                  <a:pt x="18224" y="0"/>
                </a:moveTo>
                <a:lnTo>
                  <a:pt x="153606" y="0"/>
                </a:lnTo>
                <a:cubicBezTo>
                  <a:pt x="163639" y="0"/>
                  <a:pt x="171831" y="8191"/>
                  <a:pt x="171831" y="18225"/>
                </a:cubicBezTo>
                <a:lnTo>
                  <a:pt x="171831" y="18225"/>
                </a:lnTo>
                <a:cubicBezTo>
                  <a:pt x="171831" y="28321"/>
                  <a:pt x="163639" y="36449"/>
                  <a:pt x="153606" y="36449"/>
                </a:cubicBezTo>
                <a:lnTo>
                  <a:pt x="18224" y="36449"/>
                </a:lnTo>
                <a:cubicBezTo>
                  <a:pt x="8191" y="36449"/>
                  <a:pt x="0" y="28321"/>
                  <a:pt x="0" y="18225"/>
                </a:cubicBezTo>
                <a:lnTo>
                  <a:pt x="0" y="18225"/>
                </a:lnTo>
                <a:cubicBezTo>
                  <a:pt x="0" y="8191"/>
                  <a:pt x="8191" y="0"/>
                  <a:pt x="18224" y="0"/>
                </a:cubicBezTo>
                <a:close/>
              </a:path>
            </a:pathLst>
          </a:custGeom>
          <a:solidFill>
            <a:srgbClr val="E0703A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44" name="m-d13_pareto-ref80-t">
            <a:extLst>
              <a:ext uri="{FF2B5EF4-FFF2-40B4-BE49-F238E27FC236}">
                <a16:creationId xmlns:a16="http://schemas.microsoft.com/office/drawing/2014/main" id="{4ED36D0C-AF93-545B-2579-30E21FA70953}"/>
              </a:ext>
            </a:extLst>
          </p:cNvPr>
          <p:cNvSpPr txBox="1"/>
          <p:nvPr/>
        </p:nvSpPr>
        <p:spPr>
          <a:xfrm>
            <a:off x="4035289" y="4729985"/>
            <a:ext cx="117366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80% 分界线</a:t>
            </a:r>
          </a:p>
        </p:txBody>
      </p:sp>
      <p:sp>
        <p:nvSpPr>
          <p:cNvPr id="1545" name="m-d13_pareto-bar-1">
            <a:extLst>
              <a:ext uri="{FF2B5EF4-FFF2-40B4-BE49-F238E27FC236}">
                <a16:creationId xmlns:a16="http://schemas.microsoft.com/office/drawing/2014/main" id="{48714F2C-5E19-2F45-E7DE-B759907CB72D}"/>
              </a:ext>
            </a:extLst>
          </p:cNvPr>
          <p:cNvSpPr/>
          <p:nvPr/>
        </p:nvSpPr>
        <p:spPr>
          <a:xfrm>
            <a:off x="2883980" y="4717224"/>
            <a:ext cx="124968" cy="539305"/>
          </a:xfrm>
          <a:custGeom>
            <a:avLst/>
            <a:gdLst/>
            <a:ahLst/>
            <a:cxnLst/>
            <a:rect l="0" t="0" r="r" b="b"/>
            <a:pathLst>
              <a:path w="124968" h="539305">
                <a:moveTo>
                  <a:pt x="0" y="539305"/>
                </a:moveTo>
                <a:lnTo>
                  <a:pt x="0" y="13017"/>
                </a:lnTo>
                <a:cubicBezTo>
                  <a:pt x="0" y="5842"/>
                  <a:pt x="5842" y="0"/>
                  <a:pt x="13018" y="0"/>
                </a:cubicBezTo>
                <a:lnTo>
                  <a:pt x="111950" y="0"/>
                </a:lnTo>
                <a:cubicBezTo>
                  <a:pt x="119126" y="0"/>
                  <a:pt x="124968" y="5842"/>
                  <a:pt x="124968" y="13017"/>
                </a:cubicBezTo>
                <a:lnTo>
                  <a:pt x="124968" y="539305"/>
                </a:lnTo>
                <a:close/>
              </a:path>
            </a:pathLst>
          </a:custGeom>
          <a:gradFill rotWithShape="1">
            <a:gsLst>
              <a:gs pos="0">
                <a:srgbClr val="3C65A5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46" name="m-d13_pareto-bv-1">
            <a:extLst>
              <a:ext uri="{FF2B5EF4-FFF2-40B4-BE49-F238E27FC236}">
                <a16:creationId xmlns:a16="http://schemas.microsoft.com/office/drawing/2014/main" id="{4A026455-A682-D7E4-F1F7-7260B39829EB}"/>
              </a:ext>
            </a:extLst>
          </p:cNvPr>
          <p:cNvSpPr txBox="1"/>
          <p:nvPr/>
        </p:nvSpPr>
        <p:spPr>
          <a:xfrm>
            <a:off x="2915472" y="4667468"/>
            <a:ext cx="62015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4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268</a:t>
            </a:r>
          </a:p>
        </p:txBody>
      </p:sp>
      <p:sp>
        <p:nvSpPr>
          <p:cNvPr id="1547" name="m-d13_pareto-bn-1">
            <a:extLst>
              <a:ext uri="{FF2B5EF4-FFF2-40B4-BE49-F238E27FC236}">
                <a16:creationId xmlns:a16="http://schemas.microsoft.com/office/drawing/2014/main" id="{41BFAD1B-D06D-A137-4DF0-43A8C4506D84}"/>
              </a:ext>
            </a:extLst>
          </p:cNvPr>
          <p:cNvSpPr txBox="1"/>
          <p:nvPr/>
        </p:nvSpPr>
        <p:spPr>
          <a:xfrm>
            <a:off x="2889365" y="5277862"/>
            <a:ext cx="11422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装配偏差</a:t>
            </a:r>
          </a:p>
        </p:txBody>
      </p:sp>
      <p:sp>
        <p:nvSpPr>
          <p:cNvPr id="1548" name="m-d13_pareto-bp-1">
            <a:extLst>
              <a:ext uri="{FF2B5EF4-FFF2-40B4-BE49-F238E27FC236}">
                <a16:creationId xmlns:a16="http://schemas.microsoft.com/office/drawing/2014/main" id="{2B79DEC8-42D2-4A63-7260-7B77DB22EF07}"/>
              </a:ext>
            </a:extLst>
          </p:cNvPr>
          <p:cNvSpPr txBox="1"/>
          <p:nvPr/>
        </p:nvSpPr>
        <p:spPr>
          <a:xfrm>
            <a:off x="2911788" y="5319938"/>
            <a:ext cx="6938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32.2%</a:t>
            </a:r>
          </a:p>
        </p:txBody>
      </p:sp>
      <p:sp>
        <p:nvSpPr>
          <p:cNvPr id="1549" name="m-d13_pareto-bar-2">
            <a:extLst>
              <a:ext uri="{FF2B5EF4-FFF2-40B4-BE49-F238E27FC236}">
                <a16:creationId xmlns:a16="http://schemas.microsoft.com/office/drawing/2014/main" id="{7A117C69-3024-EB67-1521-AC94CDFCA701}"/>
              </a:ext>
            </a:extLst>
          </p:cNvPr>
          <p:cNvSpPr/>
          <p:nvPr/>
        </p:nvSpPr>
        <p:spPr>
          <a:xfrm>
            <a:off x="3046730" y="4862132"/>
            <a:ext cx="124968" cy="394398"/>
          </a:xfrm>
          <a:custGeom>
            <a:avLst/>
            <a:gdLst/>
            <a:ahLst/>
            <a:cxnLst/>
            <a:rect l="0" t="0" r="r" b="b"/>
            <a:pathLst>
              <a:path w="124968" h="394398">
                <a:moveTo>
                  <a:pt x="0" y="394398"/>
                </a:moveTo>
                <a:lnTo>
                  <a:pt x="0" y="13017"/>
                </a:lnTo>
                <a:cubicBezTo>
                  <a:pt x="0" y="5842"/>
                  <a:pt x="5842" y="0"/>
                  <a:pt x="13018" y="0"/>
                </a:cubicBezTo>
                <a:lnTo>
                  <a:pt x="111950" y="0"/>
                </a:lnTo>
                <a:cubicBezTo>
                  <a:pt x="119126" y="0"/>
                  <a:pt x="124968" y="5842"/>
                  <a:pt x="124968" y="13017"/>
                </a:cubicBezTo>
                <a:lnTo>
                  <a:pt x="124968" y="394398"/>
                </a:lnTo>
                <a:close/>
              </a:path>
            </a:pathLst>
          </a:custGeom>
          <a:gradFill rotWithShape="1">
            <a:gsLst>
              <a:gs pos="0">
                <a:srgbClr val="4270B0"/>
              </a:gs>
              <a:gs pos="100000">
                <a:srgbClr val="134C9C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50" name="m-d13_pareto-bv-2">
            <a:extLst>
              <a:ext uri="{FF2B5EF4-FFF2-40B4-BE49-F238E27FC236}">
                <a16:creationId xmlns:a16="http://schemas.microsoft.com/office/drawing/2014/main" id="{DD58998D-E48F-4672-4102-5C643859FBA8}"/>
              </a:ext>
            </a:extLst>
          </p:cNvPr>
          <p:cNvSpPr txBox="1"/>
          <p:nvPr/>
        </p:nvSpPr>
        <p:spPr>
          <a:xfrm>
            <a:off x="3078190" y="4812353"/>
            <a:ext cx="62015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4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196</a:t>
            </a:r>
          </a:p>
        </p:txBody>
      </p:sp>
      <p:sp>
        <p:nvSpPr>
          <p:cNvPr id="1551" name="m-d13_pareto-bn-2">
            <a:extLst>
              <a:ext uri="{FF2B5EF4-FFF2-40B4-BE49-F238E27FC236}">
                <a16:creationId xmlns:a16="http://schemas.microsoft.com/office/drawing/2014/main" id="{ECF8D2A7-0D09-4387-2D0C-8CF82BE59C6D}"/>
              </a:ext>
            </a:extLst>
          </p:cNvPr>
          <p:cNvSpPr txBox="1"/>
          <p:nvPr/>
        </p:nvSpPr>
        <p:spPr>
          <a:xfrm>
            <a:off x="3052084" y="5277862"/>
            <a:ext cx="11422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来料不良</a:t>
            </a:r>
          </a:p>
        </p:txBody>
      </p:sp>
      <p:sp>
        <p:nvSpPr>
          <p:cNvPr id="1552" name="m-d13_pareto-bp-2">
            <a:extLst>
              <a:ext uri="{FF2B5EF4-FFF2-40B4-BE49-F238E27FC236}">
                <a16:creationId xmlns:a16="http://schemas.microsoft.com/office/drawing/2014/main" id="{3F19BF6B-179D-B0D3-56D1-94070AB9B088}"/>
              </a:ext>
            </a:extLst>
          </p:cNvPr>
          <p:cNvSpPr txBox="1"/>
          <p:nvPr/>
        </p:nvSpPr>
        <p:spPr>
          <a:xfrm>
            <a:off x="3074506" y="5319938"/>
            <a:ext cx="6938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23.6%</a:t>
            </a:r>
          </a:p>
        </p:txBody>
      </p:sp>
      <p:sp>
        <p:nvSpPr>
          <p:cNvPr id="1553" name="m-d13_pareto-bar-3">
            <a:extLst>
              <a:ext uri="{FF2B5EF4-FFF2-40B4-BE49-F238E27FC236}">
                <a16:creationId xmlns:a16="http://schemas.microsoft.com/office/drawing/2014/main" id="{A6B33BDA-34D2-B5B7-25C5-5EA1A9ACAC57}"/>
              </a:ext>
            </a:extLst>
          </p:cNvPr>
          <p:cNvSpPr/>
          <p:nvPr/>
        </p:nvSpPr>
        <p:spPr>
          <a:xfrm>
            <a:off x="3209417" y="4970780"/>
            <a:ext cx="124968" cy="285750"/>
          </a:xfrm>
          <a:custGeom>
            <a:avLst/>
            <a:gdLst/>
            <a:ahLst/>
            <a:cxnLst/>
            <a:rect l="0" t="0" r="r" b="b"/>
            <a:pathLst>
              <a:path w="124968" h="285750">
                <a:moveTo>
                  <a:pt x="0" y="285750"/>
                </a:moveTo>
                <a:lnTo>
                  <a:pt x="0" y="13018"/>
                </a:lnTo>
                <a:cubicBezTo>
                  <a:pt x="0" y="5842"/>
                  <a:pt x="5842" y="0"/>
                  <a:pt x="13018" y="0"/>
                </a:cubicBezTo>
                <a:lnTo>
                  <a:pt x="111950" y="0"/>
                </a:lnTo>
                <a:cubicBezTo>
                  <a:pt x="119126" y="0"/>
                  <a:pt x="124968" y="5842"/>
                  <a:pt x="124968" y="13018"/>
                </a:cubicBezTo>
                <a:lnTo>
                  <a:pt x="124968" y="285750"/>
                </a:lnTo>
                <a:close/>
              </a:path>
            </a:pathLst>
          </a:custGeom>
          <a:gradFill rotWithShape="1">
            <a:gsLst>
              <a:gs pos="0">
                <a:srgbClr val="497BB9"/>
              </a:gs>
              <a:gs pos="100000">
                <a:srgbClr val="1B5AA8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54" name="m-d13_pareto-bv-3">
            <a:extLst>
              <a:ext uri="{FF2B5EF4-FFF2-40B4-BE49-F238E27FC236}">
                <a16:creationId xmlns:a16="http://schemas.microsoft.com/office/drawing/2014/main" id="{5EF53AF5-B123-33A7-BD5F-9DF3F2838CAD}"/>
              </a:ext>
            </a:extLst>
          </p:cNvPr>
          <p:cNvSpPr txBox="1"/>
          <p:nvPr/>
        </p:nvSpPr>
        <p:spPr>
          <a:xfrm>
            <a:off x="3240909" y="4921017"/>
            <a:ext cx="62015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4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142</a:t>
            </a:r>
          </a:p>
        </p:txBody>
      </p:sp>
      <p:sp>
        <p:nvSpPr>
          <p:cNvPr id="1555" name="m-d13_pareto-bn-3">
            <a:extLst>
              <a:ext uri="{FF2B5EF4-FFF2-40B4-BE49-F238E27FC236}">
                <a16:creationId xmlns:a16="http://schemas.microsoft.com/office/drawing/2014/main" id="{921404E0-8947-B084-EF43-E2E95E2091BB}"/>
              </a:ext>
            </a:extLst>
          </p:cNvPr>
          <p:cNvSpPr txBox="1"/>
          <p:nvPr/>
        </p:nvSpPr>
        <p:spPr>
          <a:xfrm>
            <a:off x="3214803" y="5277862"/>
            <a:ext cx="11422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参数漂移</a:t>
            </a:r>
          </a:p>
        </p:txBody>
      </p:sp>
      <p:sp>
        <p:nvSpPr>
          <p:cNvPr id="1556" name="m-d13_pareto-bp-3">
            <a:extLst>
              <a:ext uri="{FF2B5EF4-FFF2-40B4-BE49-F238E27FC236}">
                <a16:creationId xmlns:a16="http://schemas.microsoft.com/office/drawing/2014/main" id="{3DCF0A6B-B7CF-62F1-C268-A71C4A2EFADE}"/>
              </a:ext>
            </a:extLst>
          </p:cNvPr>
          <p:cNvSpPr txBox="1"/>
          <p:nvPr/>
        </p:nvSpPr>
        <p:spPr>
          <a:xfrm>
            <a:off x="3237225" y="5319938"/>
            <a:ext cx="6938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17.1%</a:t>
            </a:r>
          </a:p>
        </p:txBody>
      </p:sp>
      <p:sp>
        <p:nvSpPr>
          <p:cNvPr id="1557" name="m-d13_pareto-bar-4">
            <a:extLst>
              <a:ext uri="{FF2B5EF4-FFF2-40B4-BE49-F238E27FC236}">
                <a16:creationId xmlns:a16="http://schemas.microsoft.com/office/drawing/2014/main" id="{54D8754A-8E44-31A7-D4F1-E4329526A948}"/>
              </a:ext>
            </a:extLst>
          </p:cNvPr>
          <p:cNvSpPr/>
          <p:nvPr/>
        </p:nvSpPr>
        <p:spPr>
          <a:xfrm>
            <a:off x="3372167" y="5083492"/>
            <a:ext cx="124968" cy="173038"/>
          </a:xfrm>
          <a:custGeom>
            <a:avLst/>
            <a:gdLst/>
            <a:ahLst/>
            <a:cxnLst/>
            <a:rect l="0" t="0" r="r" b="b"/>
            <a:pathLst>
              <a:path w="124968" h="173038">
                <a:moveTo>
                  <a:pt x="0" y="173038"/>
                </a:moveTo>
                <a:lnTo>
                  <a:pt x="0" y="13018"/>
                </a:lnTo>
                <a:cubicBezTo>
                  <a:pt x="0" y="5779"/>
                  <a:pt x="5842" y="0"/>
                  <a:pt x="13018" y="0"/>
                </a:cubicBezTo>
                <a:lnTo>
                  <a:pt x="111950" y="0"/>
                </a:lnTo>
                <a:cubicBezTo>
                  <a:pt x="119126" y="0"/>
                  <a:pt x="124968" y="5779"/>
                  <a:pt x="124968" y="13018"/>
                </a:cubicBezTo>
                <a:lnTo>
                  <a:pt x="124968" y="173038"/>
                </a:lnTo>
                <a:close/>
              </a:path>
            </a:pathLst>
          </a:custGeom>
          <a:gradFill rotWithShape="1">
            <a:gsLst>
              <a:gs pos="0">
                <a:srgbClr val="5086C5"/>
              </a:gs>
              <a:gs pos="100000">
                <a:srgbClr val="2468B6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58" name="m-d13_pareto-bv-4">
            <a:extLst>
              <a:ext uri="{FF2B5EF4-FFF2-40B4-BE49-F238E27FC236}">
                <a16:creationId xmlns:a16="http://schemas.microsoft.com/office/drawing/2014/main" id="{90D8344C-0D36-D170-582B-5E5619D011AA}"/>
              </a:ext>
            </a:extLst>
          </p:cNvPr>
          <p:cNvSpPr txBox="1"/>
          <p:nvPr/>
        </p:nvSpPr>
        <p:spPr>
          <a:xfrm>
            <a:off x="3410449" y="5033706"/>
            <a:ext cx="48373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4" normalizeH="0" baseline="0" noProof="0">
                <a:ln>
                  <a:noFill/>
                </a:ln>
                <a:solidFill>
                  <a:srgbClr val="2468B6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86</a:t>
            </a:r>
          </a:p>
        </p:txBody>
      </p:sp>
      <p:sp>
        <p:nvSpPr>
          <p:cNvPr id="1559" name="m-d13_pareto-bn-4">
            <a:extLst>
              <a:ext uri="{FF2B5EF4-FFF2-40B4-BE49-F238E27FC236}">
                <a16:creationId xmlns:a16="http://schemas.microsoft.com/office/drawing/2014/main" id="{9BA1444E-F187-8E27-3A38-6C41865A104F}"/>
              </a:ext>
            </a:extLst>
          </p:cNvPr>
          <p:cNvSpPr txBox="1"/>
          <p:nvPr/>
        </p:nvSpPr>
        <p:spPr>
          <a:xfrm>
            <a:off x="3377521" y="5277862"/>
            <a:ext cx="11422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外观瑕疵</a:t>
            </a:r>
          </a:p>
        </p:txBody>
      </p:sp>
      <p:sp>
        <p:nvSpPr>
          <p:cNvPr id="1560" name="m-d13_pareto-bp-4">
            <a:extLst>
              <a:ext uri="{FF2B5EF4-FFF2-40B4-BE49-F238E27FC236}">
                <a16:creationId xmlns:a16="http://schemas.microsoft.com/office/drawing/2014/main" id="{D3AE62B3-258B-756D-17AB-7B1DAE8FA6AE}"/>
              </a:ext>
            </a:extLst>
          </p:cNvPr>
          <p:cNvSpPr txBox="1"/>
          <p:nvPr/>
        </p:nvSpPr>
        <p:spPr>
          <a:xfrm>
            <a:off x="3399944" y="5319938"/>
            <a:ext cx="6938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10.3%</a:t>
            </a:r>
          </a:p>
        </p:txBody>
      </p:sp>
      <p:sp>
        <p:nvSpPr>
          <p:cNvPr id="1561" name="m-d13_pareto-bar-5">
            <a:extLst>
              <a:ext uri="{FF2B5EF4-FFF2-40B4-BE49-F238E27FC236}">
                <a16:creationId xmlns:a16="http://schemas.microsoft.com/office/drawing/2014/main" id="{004FA85B-364D-CB3B-B143-5F79618F4737}"/>
              </a:ext>
            </a:extLst>
          </p:cNvPr>
          <p:cNvSpPr/>
          <p:nvPr/>
        </p:nvSpPr>
        <p:spPr>
          <a:xfrm>
            <a:off x="3534854" y="5131752"/>
            <a:ext cx="124968" cy="124777"/>
          </a:xfrm>
          <a:custGeom>
            <a:avLst/>
            <a:gdLst/>
            <a:ahLst/>
            <a:cxnLst/>
            <a:rect l="0" t="0" r="r" b="b"/>
            <a:pathLst>
              <a:path w="124968" h="124777">
                <a:moveTo>
                  <a:pt x="0" y="124777"/>
                </a:moveTo>
                <a:lnTo>
                  <a:pt x="0" y="13018"/>
                </a:lnTo>
                <a:cubicBezTo>
                  <a:pt x="0" y="5842"/>
                  <a:pt x="5842" y="0"/>
                  <a:pt x="13018" y="0"/>
                </a:cubicBezTo>
                <a:lnTo>
                  <a:pt x="111950" y="0"/>
                </a:lnTo>
                <a:cubicBezTo>
                  <a:pt x="119126" y="0"/>
                  <a:pt x="124968" y="5842"/>
                  <a:pt x="124968" y="13018"/>
                </a:cubicBezTo>
                <a:lnTo>
                  <a:pt x="124968" y="124777"/>
                </a:lnTo>
                <a:close/>
              </a:path>
            </a:pathLst>
          </a:custGeom>
          <a:gradFill rotWithShape="1">
            <a:gsLst>
              <a:gs pos="0">
                <a:srgbClr val="5892CE"/>
              </a:gs>
              <a:gs pos="100000">
                <a:srgbClr val="2E77C2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62" name="m-d13_pareto-bv-5">
            <a:extLst>
              <a:ext uri="{FF2B5EF4-FFF2-40B4-BE49-F238E27FC236}">
                <a16:creationId xmlns:a16="http://schemas.microsoft.com/office/drawing/2014/main" id="{A0EE5A17-0E83-766B-B1D5-0D24058A798E}"/>
              </a:ext>
            </a:extLst>
          </p:cNvPr>
          <p:cNvSpPr txBox="1"/>
          <p:nvPr/>
        </p:nvSpPr>
        <p:spPr>
          <a:xfrm>
            <a:off x="3573168" y="5082001"/>
            <a:ext cx="48373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4" normalizeH="0" baseline="0" noProof="0">
                <a:ln>
                  <a:noFill/>
                </a:ln>
                <a:solidFill>
                  <a:srgbClr val="2E77C2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62</a:t>
            </a:r>
          </a:p>
        </p:txBody>
      </p:sp>
      <p:sp>
        <p:nvSpPr>
          <p:cNvPr id="1563" name="m-d13_pareto-bn-5">
            <a:extLst>
              <a:ext uri="{FF2B5EF4-FFF2-40B4-BE49-F238E27FC236}">
                <a16:creationId xmlns:a16="http://schemas.microsoft.com/office/drawing/2014/main" id="{7BDFE406-5A30-8A65-620E-10EB5DD27BA2}"/>
              </a:ext>
            </a:extLst>
          </p:cNvPr>
          <p:cNvSpPr txBox="1"/>
          <p:nvPr/>
        </p:nvSpPr>
        <p:spPr>
          <a:xfrm>
            <a:off x="3540240" y="5277862"/>
            <a:ext cx="11422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软件缺陷</a:t>
            </a:r>
          </a:p>
        </p:txBody>
      </p:sp>
      <p:sp>
        <p:nvSpPr>
          <p:cNvPr id="1564" name="m-d13_pareto-bp-5">
            <a:extLst>
              <a:ext uri="{FF2B5EF4-FFF2-40B4-BE49-F238E27FC236}">
                <a16:creationId xmlns:a16="http://schemas.microsoft.com/office/drawing/2014/main" id="{5ADD7AF1-EEA6-AD74-7761-1D9FB34B88BB}"/>
              </a:ext>
            </a:extLst>
          </p:cNvPr>
          <p:cNvSpPr txBox="1"/>
          <p:nvPr/>
        </p:nvSpPr>
        <p:spPr>
          <a:xfrm>
            <a:off x="3567961" y="5319938"/>
            <a:ext cx="5878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7.5%</a:t>
            </a:r>
          </a:p>
        </p:txBody>
      </p:sp>
      <p:sp>
        <p:nvSpPr>
          <p:cNvPr id="1565" name="m-d13_pareto-bar-6">
            <a:extLst>
              <a:ext uri="{FF2B5EF4-FFF2-40B4-BE49-F238E27FC236}">
                <a16:creationId xmlns:a16="http://schemas.microsoft.com/office/drawing/2014/main" id="{4B446F53-9DDF-60FA-9996-BE65943A6796}"/>
              </a:ext>
            </a:extLst>
          </p:cNvPr>
          <p:cNvSpPr/>
          <p:nvPr/>
        </p:nvSpPr>
        <p:spPr>
          <a:xfrm>
            <a:off x="3697605" y="5180076"/>
            <a:ext cx="124968" cy="76454"/>
          </a:xfrm>
          <a:custGeom>
            <a:avLst/>
            <a:gdLst/>
            <a:ahLst/>
            <a:cxnLst/>
            <a:rect l="0" t="0" r="r" b="b"/>
            <a:pathLst>
              <a:path w="124968" h="76454">
                <a:moveTo>
                  <a:pt x="0" y="76454"/>
                </a:moveTo>
                <a:lnTo>
                  <a:pt x="0" y="13017"/>
                </a:lnTo>
                <a:cubicBezTo>
                  <a:pt x="0" y="5778"/>
                  <a:pt x="5842" y="0"/>
                  <a:pt x="13018" y="0"/>
                </a:cubicBezTo>
                <a:lnTo>
                  <a:pt x="111950" y="0"/>
                </a:lnTo>
                <a:cubicBezTo>
                  <a:pt x="119126" y="0"/>
                  <a:pt x="124968" y="5778"/>
                  <a:pt x="124968" y="13017"/>
                </a:cubicBezTo>
                <a:lnTo>
                  <a:pt x="124968" y="76454"/>
                </a:lnTo>
                <a:close/>
              </a:path>
            </a:pathLst>
          </a:custGeom>
          <a:gradFill rotWithShape="1">
            <a:gsLst>
              <a:gs pos="0">
                <a:srgbClr val="619DD7"/>
              </a:gs>
              <a:gs pos="100000">
                <a:srgbClr val="3985CD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66" name="m-d13_pareto-bv-6">
            <a:extLst>
              <a:ext uri="{FF2B5EF4-FFF2-40B4-BE49-F238E27FC236}">
                <a16:creationId xmlns:a16="http://schemas.microsoft.com/office/drawing/2014/main" id="{EF12516A-7051-D10F-241C-2753F021F2A9}"/>
              </a:ext>
            </a:extLst>
          </p:cNvPr>
          <p:cNvSpPr txBox="1"/>
          <p:nvPr/>
        </p:nvSpPr>
        <p:spPr>
          <a:xfrm>
            <a:off x="3735887" y="5130297"/>
            <a:ext cx="48373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4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38</a:t>
            </a:r>
          </a:p>
        </p:txBody>
      </p:sp>
      <p:sp>
        <p:nvSpPr>
          <p:cNvPr id="1567" name="m-d13_pareto-bn-6">
            <a:extLst>
              <a:ext uri="{FF2B5EF4-FFF2-40B4-BE49-F238E27FC236}">
                <a16:creationId xmlns:a16="http://schemas.microsoft.com/office/drawing/2014/main" id="{0710DF61-052B-5BAC-8EF3-407D2BD30177}"/>
              </a:ext>
            </a:extLst>
          </p:cNvPr>
          <p:cNvSpPr txBox="1"/>
          <p:nvPr/>
        </p:nvSpPr>
        <p:spPr>
          <a:xfrm>
            <a:off x="3702959" y="5277862"/>
            <a:ext cx="11422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包装破损</a:t>
            </a:r>
          </a:p>
        </p:txBody>
      </p:sp>
      <p:sp>
        <p:nvSpPr>
          <p:cNvPr id="1568" name="m-d13_pareto-bp-6">
            <a:extLst>
              <a:ext uri="{FF2B5EF4-FFF2-40B4-BE49-F238E27FC236}">
                <a16:creationId xmlns:a16="http://schemas.microsoft.com/office/drawing/2014/main" id="{646861F4-5295-0AFA-9EA9-6AA66772A1C3}"/>
              </a:ext>
            </a:extLst>
          </p:cNvPr>
          <p:cNvSpPr txBox="1"/>
          <p:nvPr/>
        </p:nvSpPr>
        <p:spPr>
          <a:xfrm>
            <a:off x="3730680" y="5319938"/>
            <a:ext cx="5878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4.6%</a:t>
            </a:r>
          </a:p>
        </p:txBody>
      </p:sp>
      <p:sp>
        <p:nvSpPr>
          <p:cNvPr id="1569" name="m-d13_pareto-bar-7">
            <a:extLst>
              <a:ext uri="{FF2B5EF4-FFF2-40B4-BE49-F238E27FC236}">
                <a16:creationId xmlns:a16="http://schemas.microsoft.com/office/drawing/2014/main" id="{176D2795-6647-D837-F09C-2D6B5775D713}"/>
              </a:ext>
            </a:extLst>
          </p:cNvPr>
          <p:cNvSpPr/>
          <p:nvPr/>
        </p:nvSpPr>
        <p:spPr>
          <a:xfrm>
            <a:off x="3860292" y="5208206"/>
            <a:ext cx="124968" cy="48323"/>
          </a:xfrm>
          <a:custGeom>
            <a:avLst/>
            <a:gdLst/>
            <a:ahLst/>
            <a:cxnLst/>
            <a:rect l="0" t="0" r="r" b="b"/>
            <a:pathLst>
              <a:path w="124968" h="48323">
                <a:moveTo>
                  <a:pt x="0" y="48323"/>
                </a:moveTo>
                <a:lnTo>
                  <a:pt x="0" y="13017"/>
                </a:lnTo>
                <a:cubicBezTo>
                  <a:pt x="0" y="5842"/>
                  <a:pt x="5842" y="0"/>
                  <a:pt x="13018" y="0"/>
                </a:cubicBezTo>
                <a:lnTo>
                  <a:pt x="111950" y="0"/>
                </a:lnTo>
                <a:cubicBezTo>
                  <a:pt x="119126" y="0"/>
                  <a:pt x="124968" y="5842"/>
                  <a:pt x="124968" y="13017"/>
                </a:cubicBezTo>
                <a:lnTo>
                  <a:pt x="124968" y="48323"/>
                </a:lnTo>
                <a:close/>
              </a:path>
            </a:pathLst>
          </a:custGeom>
          <a:gradFill rotWithShape="1">
            <a:gsLst>
              <a:gs pos="0">
                <a:srgbClr val="6BA9DF"/>
              </a:gs>
              <a:gs pos="100000">
                <a:srgbClr val="4694D7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70" name="m-d13_pareto-bv-7">
            <a:extLst>
              <a:ext uri="{FF2B5EF4-FFF2-40B4-BE49-F238E27FC236}">
                <a16:creationId xmlns:a16="http://schemas.microsoft.com/office/drawing/2014/main" id="{2921F014-A15E-9A12-D1EF-1393134A756D}"/>
              </a:ext>
            </a:extLst>
          </p:cNvPr>
          <p:cNvSpPr txBox="1"/>
          <p:nvPr/>
        </p:nvSpPr>
        <p:spPr>
          <a:xfrm>
            <a:off x="3898605" y="5158469"/>
            <a:ext cx="48373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4" normalizeH="0" baseline="0" noProof="0">
                <a:ln>
                  <a:noFill/>
                </a:ln>
                <a:solidFill>
                  <a:srgbClr val="4694D7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24</a:t>
            </a:r>
          </a:p>
        </p:txBody>
      </p:sp>
      <p:sp>
        <p:nvSpPr>
          <p:cNvPr id="1571" name="m-d13_pareto-bn-7">
            <a:extLst>
              <a:ext uri="{FF2B5EF4-FFF2-40B4-BE49-F238E27FC236}">
                <a16:creationId xmlns:a16="http://schemas.microsoft.com/office/drawing/2014/main" id="{AE1EF0F6-6DBF-9F7E-5C9D-FC40CE4B20E3}"/>
              </a:ext>
            </a:extLst>
          </p:cNvPr>
          <p:cNvSpPr txBox="1"/>
          <p:nvPr/>
        </p:nvSpPr>
        <p:spPr>
          <a:xfrm>
            <a:off x="3865678" y="5277862"/>
            <a:ext cx="11422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标识错误</a:t>
            </a:r>
          </a:p>
        </p:txBody>
      </p:sp>
      <p:sp>
        <p:nvSpPr>
          <p:cNvPr id="1572" name="m-d13_pareto-bp-7">
            <a:extLst>
              <a:ext uri="{FF2B5EF4-FFF2-40B4-BE49-F238E27FC236}">
                <a16:creationId xmlns:a16="http://schemas.microsoft.com/office/drawing/2014/main" id="{BEFE437E-192B-7E28-C6EB-3B5F7A2B8252}"/>
              </a:ext>
            </a:extLst>
          </p:cNvPr>
          <p:cNvSpPr txBox="1"/>
          <p:nvPr/>
        </p:nvSpPr>
        <p:spPr>
          <a:xfrm>
            <a:off x="3893398" y="5319938"/>
            <a:ext cx="5878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2.9%</a:t>
            </a:r>
          </a:p>
        </p:txBody>
      </p:sp>
      <p:sp>
        <p:nvSpPr>
          <p:cNvPr id="1573" name="m-d13_pareto-bar-8">
            <a:extLst>
              <a:ext uri="{FF2B5EF4-FFF2-40B4-BE49-F238E27FC236}">
                <a16:creationId xmlns:a16="http://schemas.microsoft.com/office/drawing/2014/main" id="{F38755D4-E4D3-9D85-A387-E8378DCC25DD}"/>
              </a:ext>
            </a:extLst>
          </p:cNvPr>
          <p:cNvSpPr/>
          <p:nvPr/>
        </p:nvSpPr>
        <p:spPr>
          <a:xfrm>
            <a:off x="4023042" y="5224336"/>
            <a:ext cx="124968" cy="32194"/>
          </a:xfrm>
          <a:custGeom>
            <a:avLst/>
            <a:gdLst/>
            <a:ahLst/>
            <a:cxnLst/>
            <a:rect l="0" t="0" r="r" b="b"/>
            <a:pathLst>
              <a:path w="124968" h="32194">
                <a:moveTo>
                  <a:pt x="0" y="32194"/>
                </a:moveTo>
                <a:lnTo>
                  <a:pt x="0" y="13017"/>
                </a:lnTo>
                <a:cubicBezTo>
                  <a:pt x="0" y="5842"/>
                  <a:pt x="5842" y="0"/>
                  <a:pt x="13018" y="0"/>
                </a:cubicBezTo>
                <a:lnTo>
                  <a:pt x="111950" y="0"/>
                </a:lnTo>
                <a:cubicBezTo>
                  <a:pt x="119126" y="0"/>
                  <a:pt x="124968" y="5842"/>
                  <a:pt x="124968" y="13017"/>
                </a:cubicBezTo>
                <a:lnTo>
                  <a:pt x="124968" y="32194"/>
                </a:lnTo>
                <a:close/>
              </a:path>
            </a:pathLst>
          </a:custGeom>
          <a:gradFill rotWithShape="1">
            <a:gsLst>
              <a:gs pos="0">
                <a:srgbClr val="76B5E5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74" name="m-d13_pareto-bv-8">
            <a:extLst>
              <a:ext uri="{FF2B5EF4-FFF2-40B4-BE49-F238E27FC236}">
                <a16:creationId xmlns:a16="http://schemas.microsoft.com/office/drawing/2014/main" id="{E47FD8F8-62A2-D6A9-CF84-CB5AF98E49FC}"/>
              </a:ext>
            </a:extLst>
          </p:cNvPr>
          <p:cNvSpPr txBox="1"/>
          <p:nvPr/>
        </p:nvSpPr>
        <p:spPr>
          <a:xfrm>
            <a:off x="4061324" y="5174567"/>
            <a:ext cx="48373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4" normalizeH="0" baseline="0" noProof="0">
                <a:ln>
                  <a:noFill/>
                </a:ln>
                <a:solidFill>
                  <a:srgbClr val="54A2D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16</a:t>
            </a:r>
          </a:p>
        </p:txBody>
      </p:sp>
      <p:sp>
        <p:nvSpPr>
          <p:cNvPr id="1575" name="m-d13_pareto-bn-8">
            <a:extLst>
              <a:ext uri="{FF2B5EF4-FFF2-40B4-BE49-F238E27FC236}">
                <a16:creationId xmlns:a16="http://schemas.microsoft.com/office/drawing/2014/main" id="{9C9D3AFE-3183-CD8A-4B84-0F75D80B663C}"/>
              </a:ext>
            </a:extLst>
          </p:cNvPr>
          <p:cNvSpPr txBox="1"/>
          <p:nvPr/>
        </p:nvSpPr>
        <p:spPr>
          <a:xfrm>
            <a:off x="4051828" y="5277862"/>
            <a:ext cx="67366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其他</a:t>
            </a:r>
          </a:p>
        </p:txBody>
      </p:sp>
      <p:sp>
        <p:nvSpPr>
          <p:cNvPr id="1576" name="m-d13_pareto-bp-8">
            <a:extLst>
              <a:ext uri="{FF2B5EF4-FFF2-40B4-BE49-F238E27FC236}">
                <a16:creationId xmlns:a16="http://schemas.microsoft.com/office/drawing/2014/main" id="{70D6862C-22EB-6483-3208-B5041316EA14}"/>
              </a:ext>
            </a:extLst>
          </p:cNvPr>
          <p:cNvSpPr txBox="1"/>
          <p:nvPr/>
        </p:nvSpPr>
        <p:spPr>
          <a:xfrm>
            <a:off x="4056117" y="5319938"/>
            <a:ext cx="5878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1.9%</a:t>
            </a:r>
          </a:p>
        </p:txBody>
      </p:sp>
      <p:sp>
        <p:nvSpPr>
          <p:cNvPr id="1577" name="m-d13_pareto-cum-line">
            <a:extLst>
              <a:ext uri="{FF2B5EF4-FFF2-40B4-BE49-F238E27FC236}">
                <a16:creationId xmlns:a16="http://schemas.microsoft.com/office/drawing/2014/main" id="{BC9505D6-05D1-9466-97AC-AF361A483618}"/>
              </a:ext>
            </a:extLst>
          </p:cNvPr>
          <p:cNvSpPr/>
          <p:nvPr/>
        </p:nvSpPr>
        <p:spPr>
          <a:xfrm>
            <a:off x="2946464" y="4652518"/>
            <a:ext cx="1139063" cy="409448"/>
          </a:xfrm>
          <a:custGeom>
            <a:avLst/>
            <a:gdLst/>
            <a:ahLst/>
            <a:cxnLst/>
            <a:rect l="0" t="0" r="r" b="b"/>
            <a:pathLst>
              <a:path w="1139063" h="409448">
                <a:moveTo>
                  <a:pt x="0" y="409448"/>
                </a:moveTo>
                <a:cubicBezTo>
                  <a:pt x="21717" y="390462"/>
                  <a:pt x="119317" y="299847"/>
                  <a:pt x="162750" y="267145"/>
                </a:cubicBezTo>
                <a:cubicBezTo>
                  <a:pt x="206121" y="234442"/>
                  <a:pt x="282067" y="186119"/>
                  <a:pt x="325438" y="164084"/>
                </a:cubicBezTo>
                <a:cubicBezTo>
                  <a:pt x="368872" y="141986"/>
                  <a:pt x="444754" y="115951"/>
                  <a:pt x="488188" y="101664"/>
                </a:cubicBezTo>
                <a:cubicBezTo>
                  <a:pt x="531559" y="87312"/>
                  <a:pt x="607504" y="66294"/>
                  <a:pt x="650875" y="56642"/>
                </a:cubicBezTo>
                <a:cubicBezTo>
                  <a:pt x="694309" y="46927"/>
                  <a:pt x="770191" y="35052"/>
                  <a:pt x="813626" y="29020"/>
                </a:cubicBezTo>
                <a:cubicBezTo>
                  <a:pt x="856996" y="23050"/>
                  <a:pt x="932942" y="15494"/>
                  <a:pt x="976312" y="11621"/>
                </a:cubicBezTo>
                <a:cubicBezTo>
                  <a:pt x="1019747" y="7747"/>
                  <a:pt x="1117346" y="1524"/>
                  <a:pt x="1139063" y="0"/>
                </a:cubicBezTo>
              </a:path>
            </a:pathLst>
          </a:custGeom>
          <a:noFill/>
          <a:ln w="390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78" name="m-d13_pareto-cd-1">
            <a:extLst>
              <a:ext uri="{FF2B5EF4-FFF2-40B4-BE49-F238E27FC236}">
                <a16:creationId xmlns:a16="http://schemas.microsoft.com/office/drawing/2014/main" id="{19323DD6-6040-CDF2-CF20-244BBD2A96E5}"/>
              </a:ext>
            </a:extLst>
          </p:cNvPr>
          <p:cNvSpPr/>
          <p:nvPr/>
        </p:nvSpPr>
        <p:spPr>
          <a:xfrm>
            <a:off x="2938669" y="5054158"/>
            <a:ext cx="15621" cy="15621"/>
          </a:xfrm>
          <a:prstGeom prst="ellipse">
            <a:avLst/>
          </a:prstGeom>
          <a:solidFill>
            <a:srgbClr val="FFFFFF"/>
          </a:solidFill>
          <a:ln w="338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79" name="m-d13_pareto-cc-1">
            <a:extLst>
              <a:ext uri="{FF2B5EF4-FFF2-40B4-BE49-F238E27FC236}">
                <a16:creationId xmlns:a16="http://schemas.microsoft.com/office/drawing/2014/main" id="{5F716986-B95A-F90C-E43A-9ADB9116F318}"/>
              </a:ext>
            </a:extLst>
          </p:cNvPr>
          <p:cNvSpPr/>
          <p:nvPr/>
        </p:nvSpPr>
        <p:spPr>
          <a:xfrm>
            <a:off x="2904808" y="5004689"/>
            <a:ext cx="83312" cy="36449"/>
          </a:xfrm>
          <a:custGeom>
            <a:avLst/>
            <a:gdLst/>
            <a:ahLst/>
            <a:cxnLst/>
            <a:rect l="0" t="0" r="r" b="b"/>
            <a:pathLst>
              <a:path w="83312" h="36449">
                <a:moveTo>
                  <a:pt x="15621" y="0"/>
                </a:moveTo>
                <a:lnTo>
                  <a:pt x="67691" y="0"/>
                </a:lnTo>
                <a:cubicBezTo>
                  <a:pt x="76327" y="0"/>
                  <a:pt x="83312" y="6985"/>
                  <a:pt x="83312" y="15621"/>
                </a:cubicBezTo>
                <a:lnTo>
                  <a:pt x="83312" y="20828"/>
                </a:lnTo>
                <a:cubicBezTo>
                  <a:pt x="83312" y="29464"/>
                  <a:pt x="76327" y="36449"/>
                  <a:pt x="67691" y="36449"/>
                </a:cubicBezTo>
                <a:lnTo>
                  <a:pt x="15621" y="36449"/>
                </a:lnTo>
                <a:cubicBezTo>
                  <a:pt x="6985" y="36449"/>
                  <a:pt x="0" y="29464"/>
                  <a:pt x="0" y="20828"/>
                </a:cubicBezTo>
                <a:lnTo>
                  <a:pt x="0" y="15621"/>
                </a:lnTo>
                <a:cubicBezTo>
                  <a:pt x="0" y="6985"/>
                  <a:pt x="6985" y="0"/>
                  <a:pt x="1562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0" name="m-d13_pareto-ct-1">
            <a:extLst>
              <a:ext uri="{FF2B5EF4-FFF2-40B4-BE49-F238E27FC236}">
                <a16:creationId xmlns:a16="http://schemas.microsoft.com/office/drawing/2014/main" id="{1CFD0098-AD63-38E7-0215-F4249334F172}"/>
              </a:ext>
            </a:extLst>
          </p:cNvPr>
          <p:cNvSpPr txBox="1"/>
          <p:nvPr/>
        </p:nvSpPr>
        <p:spPr>
          <a:xfrm>
            <a:off x="2922384" y="5008219"/>
            <a:ext cx="4819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3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32%</a:t>
            </a:r>
          </a:p>
        </p:txBody>
      </p:sp>
      <p:sp>
        <p:nvSpPr>
          <p:cNvPr id="1581" name="m-d13_pareto-cd-2">
            <a:extLst>
              <a:ext uri="{FF2B5EF4-FFF2-40B4-BE49-F238E27FC236}">
                <a16:creationId xmlns:a16="http://schemas.microsoft.com/office/drawing/2014/main" id="{253EB740-8749-7738-8EC3-2363FCF0191A}"/>
              </a:ext>
            </a:extLst>
          </p:cNvPr>
          <p:cNvSpPr/>
          <p:nvPr/>
        </p:nvSpPr>
        <p:spPr>
          <a:xfrm>
            <a:off x="3101388" y="4911867"/>
            <a:ext cx="15621" cy="15621"/>
          </a:xfrm>
          <a:prstGeom prst="ellipse">
            <a:avLst/>
          </a:prstGeom>
          <a:solidFill>
            <a:srgbClr val="FFFFFF"/>
          </a:solidFill>
          <a:ln w="338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2" name="m-d13_pareto-cc-2">
            <a:extLst>
              <a:ext uri="{FF2B5EF4-FFF2-40B4-BE49-F238E27FC236}">
                <a16:creationId xmlns:a16="http://schemas.microsoft.com/office/drawing/2014/main" id="{3E74CC32-A905-F579-527B-7AD5EBDDEAE2}"/>
              </a:ext>
            </a:extLst>
          </p:cNvPr>
          <p:cNvSpPr/>
          <p:nvPr/>
        </p:nvSpPr>
        <p:spPr>
          <a:xfrm>
            <a:off x="3067558" y="4862386"/>
            <a:ext cx="83312" cy="36449"/>
          </a:xfrm>
          <a:custGeom>
            <a:avLst/>
            <a:gdLst/>
            <a:ahLst/>
            <a:cxnLst/>
            <a:rect l="0" t="0" r="r" b="b"/>
            <a:pathLst>
              <a:path w="83312" h="36449">
                <a:moveTo>
                  <a:pt x="15621" y="0"/>
                </a:moveTo>
                <a:lnTo>
                  <a:pt x="67691" y="0"/>
                </a:lnTo>
                <a:cubicBezTo>
                  <a:pt x="76327" y="0"/>
                  <a:pt x="83312" y="6985"/>
                  <a:pt x="83312" y="15621"/>
                </a:cubicBezTo>
                <a:lnTo>
                  <a:pt x="83312" y="20828"/>
                </a:lnTo>
                <a:cubicBezTo>
                  <a:pt x="83312" y="29464"/>
                  <a:pt x="76327" y="36449"/>
                  <a:pt x="67691" y="36449"/>
                </a:cubicBezTo>
                <a:lnTo>
                  <a:pt x="15621" y="36449"/>
                </a:lnTo>
                <a:cubicBezTo>
                  <a:pt x="6985" y="36449"/>
                  <a:pt x="0" y="29464"/>
                  <a:pt x="0" y="20828"/>
                </a:cubicBezTo>
                <a:lnTo>
                  <a:pt x="0" y="15621"/>
                </a:lnTo>
                <a:cubicBezTo>
                  <a:pt x="0" y="6985"/>
                  <a:pt x="6985" y="0"/>
                  <a:pt x="1562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3" name="m-d13_pareto-ct-2">
            <a:extLst>
              <a:ext uri="{FF2B5EF4-FFF2-40B4-BE49-F238E27FC236}">
                <a16:creationId xmlns:a16="http://schemas.microsoft.com/office/drawing/2014/main" id="{141C64CB-FE34-80E8-4315-923BF55F8062}"/>
              </a:ext>
            </a:extLst>
          </p:cNvPr>
          <p:cNvSpPr txBox="1"/>
          <p:nvPr/>
        </p:nvSpPr>
        <p:spPr>
          <a:xfrm>
            <a:off x="3085103" y="4865928"/>
            <a:ext cx="4819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3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56%</a:t>
            </a:r>
          </a:p>
        </p:txBody>
      </p:sp>
      <p:sp>
        <p:nvSpPr>
          <p:cNvPr id="1584" name="m-d13_pareto-cd-3">
            <a:extLst>
              <a:ext uri="{FF2B5EF4-FFF2-40B4-BE49-F238E27FC236}">
                <a16:creationId xmlns:a16="http://schemas.microsoft.com/office/drawing/2014/main" id="{0244E846-DDE9-4B1A-7150-6A2A4B7D690C}"/>
              </a:ext>
            </a:extLst>
          </p:cNvPr>
          <p:cNvSpPr/>
          <p:nvPr/>
        </p:nvSpPr>
        <p:spPr>
          <a:xfrm>
            <a:off x="3264106" y="4808778"/>
            <a:ext cx="15621" cy="15621"/>
          </a:xfrm>
          <a:prstGeom prst="ellipse">
            <a:avLst/>
          </a:prstGeom>
          <a:solidFill>
            <a:srgbClr val="FFFFFF"/>
          </a:solidFill>
          <a:ln w="338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5" name="m-d13_pareto-cc-3">
            <a:extLst>
              <a:ext uri="{FF2B5EF4-FFF2-40B4-BE49-F238E27FC236}">
                <a16:creationId xmlns:a16="http://schemas.microsoft.com/office/drawing/2014/main" id="{DEC5A2BC-BDDC-6E36-7D2B-97A35D9401A2}"/>
              </a:ext>
            </a:extLst>
          </p:cNvPr>
          <p:cNvSpPr/>
          <p:nvPr/>
        </p:nvSpPr>
        <p:spPr>
          <a:xfrm>
            <a:off x="3230245" y="4759325"/>
            <a:ext cx="83312" cy="36449"/>
          </a:xfrm>
          <a:custGeom>
            <a:avLst/>
            <a:gdLst/>
            <a:ahLst/>
            <a:cxnLst/>
            <a:rect l="0" t="0" r="r" b="b"/>
            <a:pathLst>
              <a:path w="83312" h="36449">
                <a:moveTo>
                  <a:pt x="15621" y="0"/>
                </a:moveTo>
                <a:lnTo>
                  <a:pt x="67691" y="0"/>
                </a:lnTo>
                <a:cubicBezTo>
                  <a:pt x="76327" y="0"/>
                  <a:pt x="83312" y="6985"/>
                  <a:pt x="83312" y="15621"/>
                </a:cubicBezTo>
                <a:lnTo>
                  <a:pt x="83312" y="20828"/>
                </a:lnTo>
                <a:cubicBezTo>
                  <a:pt x="83312" y="29464"/>
                  <a:pt x="76327" y="36449"/>
                  <a:pt x="67691" y="36449"/>
                </a:cubicBezTo>
                <a:lnTo>
                  <a:pt x="15621" y="36449"/>
                </a:lnTo>
                <a:cubicBezTo>
                  <a:pt x="6985" y="36449"/>
                  <a:pt x="0" y="29464"/>
                  <a:pt x="0" y="20828"/>
                </a:cubicBezTo>
                <a:lnTo>
                  <a:pt x="0" y="15621"/>
                </a:lnTo>
                <a:cubicBezTo>
                  <a:pt x="0" y="6985"/>
                  <a:pt x="6985" y="0"/>
                  <a:pt x="1562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6" name="m-d13_pareto-ct-3">
            <a:extLst>
              <a:ext uri="{FF2B5EF4-FFF2-40B4-BE49-F238E27FC236}">
                <a16:creationId xmlns:a16="http://schemas.microsoft.com/office/drawing/2014/main" id="{81A866BF-C3AF-9271-EDF6-FB6C1696BB91}"/>
              </a:ext>
            </a:extLst>
          </p:cNvPr>
          <p:cNvSpPr txBox="1"/>
          <p:nvPr/>
        </p:nvSpPr>
        <p:spPr>
          <a:xfrm>
            <a:off x="3247821" y="4762839"/>
            <a:ext cx="4819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3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73%</a:t>
            </a:r>
          </a:p>
        </p:txBody>
      </p:sp>
      <p:sp>
        <p:nvSpPr>
          <p:cNvPr id="1587" name="m-d13_pareto-cd-4">
            <a:extLst>
              <a:ext uri="{FF2B5EF4-FFF2-40B4-BE49-F238E27FC236}">
                <a16:creationId xmlns:a16="http://schemas.microsoft.com/office/drawing/2014/main" id="{0B3088A1-0D6F-BFEC-1F2B-8418EE5714AB}"/>
              </a:ext>
            </a:extLst>
          </p:cNvPr>
          <p:cNvSpPr/>
          <p:nvPr/>
        </p:nvSpPr>
        <p:spPr>
          <a:xfrm>
            <a:off x="3426825" y="4746344"/>
            <a:ext cx="15621" cy="15621"/>
          </a:xfrm>
          <a:prstGeom prst="ellipse">
            <a:avLst/>
          </a:prstGeom>
          <a:solidFill>
            <a:srgbClr val="FFFFFF"/>
          </a:solidFill>
          <a:ln w="338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8" name="m-d13_pareto-cc-4">
            <a:extLst>
              <a:ext uri="{FF2B5EF4-FFF2-40B4-BE49-F238E27FC236}">
                <a16:creationId xmlns:a16="http://schemas.microsoft.com/office/drawing/2014/main" id="{0BEAAC66-C194-5BDC-7249-042F233E8F9B}"/>
              </a:ext>
            </a:extLst>
          </p:cNvPr>
          <p:cNvSpPr/>
          <p:nvPr/>
        </p:nvSpPr>
        <p:spPr>
          <a:xfrm>
            <a:off x="3392996" y="4696904"/>
            <a:ext cx="83312" cy="36449"/>
          </a:xfrm>
          <a:custGeom>
            <a:avLst/>
            <a:gdLst/>
            <a:ahLst/>
            <a:cxnLst/>
            <a:rect l="0" t="0" r="r" b="b"/>
            <a:pathLst>
              <a:path w="83312" h="36449">
                <a:moveTo>
                  <a:pt x="15621" y="0"/>
                </a:moveTo>
                <a:lnTo>
                  <a:pt x="67691" y="0"/>
                </a:lnTo>
                <a:cubicBezTo>
                  <a:pt x="76327" y="0"/>
                  <a:pt x="83312" y="6985"/>
                  <a:pt x="83312" y="15621"/>
                </a:cubicBezTo>
                <a:lnTo>
                  <a:pt x="83312" y="20828"/>
                </a:lnTo>
                <a:cubicBezTo>
                  <a:pt x="83312" y="29400"/>
                  <a:pt x="76327" y="36449"/>
                  <a:pt x="67691" y="36449"/>
                </a:cubicBezTo>
                <a:lnTo>
                  <a:pt x="15621" y="36449"/>
                </a:lnTo>
                <a:cubicBezTo>
                  <a:pt x="6985" y="36449"/>
                  <a:pt x="0" y="29400"/>
                  <a:pt x="0" y="20828"/>
                </a:cubicBezTo>
                <a:lnTo>
                  <a:pt x="0" y="15621"/>
                </a:lnTo>
                <a:cubicBezTo>
                  <a:pt x="0" y="6985"/>
                  <a:pt x="6985" y="0"/>
                  <a:pt x="1562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9" name="m-d13_pareto-ct-4">
            <a:extLst>
              <a:ext uri="{FF2B5EF4-FFF2-40B4-BE49-F238E27FC236}">
                <a16:creationId xmlns:a16="http://schemas.microsoft.com/office/drawing/2014/main" id="{A3A07C6C-09CE-B80F-BEF2-2DC77D23D56E}"/>
              </a:ext>
            </a:extLst>
          </p:cNvPr>
          <p:cNvSpPr txBox="1"/>
          <p:nvPr/>
        </p:nvSpPr>
        <p:spPr>
          <a:xfrm>
            <a:off x="3410540" y="4700405"/>
            <a:ext cx="4819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3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83%</a:t>
            </a:r>
          </a:p>
        </p:txBody>
      </p:sp>
      <p:sp>
        <p:nvSpPr>
          <p:cNvPr id="1590" name="m-d13_pareto-cd-5">
            <a:extLst>
              <a:ext uri="{FF2B5EF4-FFF2-40B4-BE49-F238E27FC236}">
                <a16:creationId xmlns:a16="http://schemas.microsoft.com/office/drawing/2014/main" id="{5C54619D-D98E-E2C6-B8DF-8DFA8C2DFCD1}"/>
              </a:ext>
            </a:extLst>
          </p:cNvPr>
          <p:cNvSpPr/>
          <p:nvPr/>
        </p:nvSpPr>
        <p:spPr>
          <a:xfrm>
            <a:off x="3589544" y="4701334"/>
            <a:ext cx="15621" cy="15621"/>
          </a:xfrm>
          <a:prstGeom prst="ellipse">
            <a:avLst/>
          </a:prstGeom>
          <a:solidFill>
            <a:srgbClr val="FFFFFF"/>
          </a:solidFill>
          <a:ln w="338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91" name="m-d13_pareto-cd-6">
            <a:extLst>
              <a:ext uri="{FF2B5EF4-FFF2-40B4-BE49-F238E27FC236}">
                <a16:creationId xmlns:a16="http://schemas.microsoft.com/office/drawing/2014/main" id="{2449FD0F-F086-8BCB-D2B5-885F4376ECCE}"/>
              </a:ext>
            </a:extLst>
          </p:cNvPr>
          <p:cNvSpPr/>
          <p:nvPr/>
        </p:nvSpPr>
        <p:spPr>
          <a:xfrm>
            <a:off x="3752263" y="4673747"/>
            <a:ext cx="15621" cy="15621"/>
          </a:xfrm>
          <a:prstGeom prst="ellipse">
            <a:avLst/>
          </a:prstGeom>
          <a:solidFill>
            <a:srgbClr val="FFFFFF"/>
          </a:solidFill>
          <a:ln w="338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92" name="m-d13_pareto-cd-7">
            <a:extLst>
              <a:ext uri="{FF2B5EF4-FFF2-40B4-BE49-F238E27FC236}">
                <a16:creationId xmlns:a16="http://schemas.microsoft.com/office/drawing/2014/main" id="{1482619E-8720-212E-E987-CFB72A8DB129}"/>
              </a:ext>
            </a:extLst>
          </p:cNvPr>
          <p:cNvSpPr/>
          <p:nvPr/>
        </p:nvSpPr>
        <p:spPr>
          <a:xfrm>
            <a:off x="3914981" y="4656323"/>
            <a:ext cx="15621" cy="15621"/>
          </a:xfrm>
          <a:prstGeom prst="ellipse">
            <a:avLst/>
          </a:prstGeom>
          <a:solidFill>
            <a:srgbClr val="FFFFFF"/>
          </a:solidFill>
          <a:ln w="338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93" name="m-d13_pareto-cd-8">
            <a:extLst>
              <a:ext uri="{FF2B5EF4-FFF2-40B4-BE49-F238E27FC236}">
                <a16:creationId xmlns:a16="http://schemas.microsoft.com/office/drawing/2014/main" id="{42B7BD21-B198-390B-142C-9501624C660E}"/>
              </a:ext>
            </a:extLst>
          </p:cNvPr>
          <p:cNvSpPr/>
          <p:nvPr/>
        </p:nvSpPr>
        <p:spPr>
          <a:xfrm>
            <a:off x="4077700" y="4644708"/>
            <a:ext cx="15621" cy="15621"/>
          </a:xfrm>
          <a:prstGeom prst="ellipse">
            <a:avLst/>
          </a:prstGeom>
          <a:solidFill>
            <a:srgbClr val="FFFFFF"/>
          </a:solidFill>
          <a:ln w="338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94" name="m-d13_pareto-vital-box">
            <a:extLst>
              <a:ext uri="{FF2B5EF4-FFF2-40B4-BE49-F238E27FC236}">
                <a16:creationId xmlns:a16="http://schemas.microsoft.com/office/drawing/2014/main" id="{42B883F4-64E3-D664-2121-C8799CCF49B4}"/>
              </a:ext>
            </a:extLst>
          </p:cNvPr>
          <p:cNvSpPr/>
          <p:nvPr/>
        </p:nvSpPr>
        <p:spPr>
          <a:xfrm>
            <a:off x="2849499" y="4629086"/>
            <a:ext cx="519366" cy="643064"/>
          </a:xfrm>
          <a:custGeom>
            <a:avLst/>
            <a:gdLst/>
            <a:ahLst/>
            <a:cxnLst/>
            <a:rect l="0" t="0" r="r" b="b"/>
            <a:pathLst>
              <a:path w="519366" h="643064">
                <a:moveTo>
                  <a:pt x="20828" y="0"/>
                </a:moveTo>
                <a:lnTo>
                  <a:pt x="498538" y="0"/>
                </a:lnTo>
                <a:cubicBezTo>
                  <a:pt x="510096" y="0"/>
                  <a:pt x="519366" y="9335"/>
                  <a:pt x="519366" y="20828"/>
                </a:cubicBezTo>
                <a:lnTo>
                  <a:pt x="519366" y="622236"/>
                </a:lnTo>
                <a:cubicBezTo>
                  <a:pt x="519366" y="633730"/>
                  <a:pt x="510096" y="643064"/>
                  <a:pt x="498538" y="643064"/>
                </a:cubicBezTo>
                <a:lnTo>
                  <a:pt x="20828" y="643064"/>
                </a:lnTo>
                <a:cubicBezTo>
                  <a:pt x="9334" y="643064"/>
                  <a:pt x="0" y="633730"/>
                  <a:pt x="0" y="622236"/>
                </a:cubicBezTo>
                <a:lnTo>
                  <a:pt x="0" y="20828"/>
                </a:lnTo>
                <a:cubicBezTo>
                  <a:pt x="0" y="9335"/>
                  <a:pt x="9334" y="0"/>
                  <a:pt x="20828" y="0"/>
                </a:cubicBezTo>
                <a:close/>
              </a:path>
            </a:pathLst>
          </a:custGeom>
          <a:noFill/>
          <a:ln w="2604" cap="rnd">
            <a:solidFill>
              <a:srgbClr val="E0703A">
                <a:alpha val="45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95" name="m-d13_pareto-vital-t">
            <a:extLst>
              <a:ext uri="{FF2B5EF4-FFF2-40B4-BE49-F238E27FC236}">
                <a16:creationId xmlns:a16="http://schemas.microsoft.com/office/drawing/2014/main" id="{A57FC9DE-B9AD-F3D8-185B-EA4C809F8747}"/>
              </a:ext>
            </a:extLst>
          </p:cNvPr>
          <p:cNvSpPr txBox="1"/>
          <p:nvPr/>
        </p:nvSpPr>
        <p:spPr>
          <a:xfrm>
            <a:off x="3022046" y="4586747"/>
            <a:ext cx="174304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1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关键少数 · 76%</a:t>
            </a:r>
          </a:p>
        </p:txBody>
      </p:sp>
      <p:sp>
        <p:nvSpPr>
          <p:cNvPr id="1596" name="m-d13_pareto-side-bar">
            <a:extLst>
              <a:ext uri="{FF2B5EF4-FFF2-40B4-BE49-F238E27FC236}">
                <a16:creationId xmlns:a16="http://schemas.microsoft.com/office/drawing/2014/main" id="{0E34BAFB-1718-3C34-125D-4E2846A55930}"/>
              </a:ext>
            </a:extLst>
          </p:cNvPr>
          <p:cNvSpPr/>
          <p:nvPr/>
        </p:nvSpPr>
        <p:spPr>
          <a:xfrm>
            <a:off x="4286631" y="4600448"/>
            <a:ext cx="6509" cy="109347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97" name="m-d13_pareto-side-h">
            <a:extLst>
              <a:ext uri="{FF2B5EF4-FFF2-40B4-BE49-F238E27FC236}">
                <a16:creationId xmlns:a16="http://schemas.microsoft.com/office/drawing/2014/main" id="{26A3C654-D17C-25B1-2D49-D5966D05BC30}"/>
              </a:ext>
            </a:extLst>
          </p:cNvPr>
          <p:cNvSpPr txBox="1"/>
          <p:nvPr/>
        </p:nvSpPr>
        <p:spPr>
          <a:xfrm>
            <a:off x="4319175" y="4601912"/>
            <a:ext cx="169878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改善动作</a:t>
            </a:r>
          </a:p>
        </p:txBody>
      </p:sp>
      <p:sp>
        <p:nvSpPr>
          <p:cNvPr id="1598" name="m-d13_pareto-side-p">
            <a:extLst>
              <a:ext uri="{FF2B5EF4-FFF2-40B4-BE49-F238E27FC236}">
                <a16:creationId xmlns:a16="http://schemas.microsoft.com/office/drawing/2014/main" id="{66BFD0DC-A588-7365-6289-262E81D6AF9D}"/>
              </a:ext>
            </a:extLst>
          </p:cNvPr>
          <p:cNvSpPr txBox="1"/>
          <p:nvPr/>
        </p:nvSpPr>
        <p:spPr>
          <a:xfrm>
            <a:off x="4320346" y="4658229"/>
            <a:ext cx="18361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针对前三类缺陷</a:t>
            </a:r>
          </a:p>
        </p:txBody>
      </p:sp>
      <p:sp>
        <p:nvSpPr>
          <p:cNvPr id="1599" name="m-d13_pareto-ac-1">
            <a:extLst>
              <a:ext uri="{FF2B5EF4-FFF2-40B4-BE49-F238E27FC236}">
                <a16:creationId xmlns:a16="http://schemas.microsoft.com/office/drawing/2014/main" id="{E05D77B9-90C0-FA66-C596-DC416D43FD25}"/>
              </a:ext>
            </a:extLst>
          </p:cNvPr>
          <p:cNvSpPr/>
          <p:nvPr/>
        </p:nvSpPr>
        <p:spPr>
          <a:xfrm>
            <a:off x="4286631" y="4751451"/>
            <a:ext cx="567563" cy="166624"/>
          </a:xfrm>
          <a:custGeom>
            <a:avLst/>
            <a:gdLst/>
            <a:ahLst/>
            <a:cxnLst/>
            <a:rect l="0" t="0" r="r" b="b"/>
            <a:pathLst>
              <a:path w="567563" h="166624">
                <a:moveTo>
                  <a:pt x="23432" y="0"/>
                </a:moveTo>
                <a:lnTo>
                  <a:pt x="544132" y="0"/>
                </a:lnTo>
                <a:cubicBezTo>
                  <a:pt x="557086" y="0"/>
                  <a:pt x="567563" y="10477"/>
                  <a:pt x="567563" y="23432"/>
                </a:cubicBezTo>
                <a:lnTo>
                  <a:pt x="567563" y="143192"/>
                </a:lnTo>
                <a:cubicBezTo>
                  <a:pt x="567563" y="156147"/>
                  <a:pt x="557086" y="166624"/>
                  <a:pt x="544132" y="166624"/>
                </a:cubicBezTo>
                <a:lnTo>
                  <a:pt x="23432" y="166624"/>
                </a:lnTo>
                <a:cubicBezTo>
                  <a:pt x="10478" y="166624"/>
                  <a:pt x="0" y="156147"/>
                  <a:pt x="0" y="143192"/>
                </a:cubicBezTo>
                <a:lnTo>
                  <a:pt x="0" y="23432"/>
                </a:lnTo>
                <a:cubicBezTo>
                  <a:pt x="0" y="10477"/>
                  <a:pt x="10478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00" name="m-d13_pareto-acb-1">
            <a:extLst>
              <a:ext uri="{FF2B5EF4-FFF2-40B4-BE49-F238E27FC236}">
                <a16:creationId xmlns:a16="http://schemas.microsoft.com/office/drawing/2014/main" id="{03930929-A50C-BF6D-9832-762346A6B638}"/>
              </a:ext>
            </a:extLst>
          </p:cNvPr>
          <p:cNvSpPr/>
          <p:nvPr/>
        </p:nvSpPr>
        <p:spPr>
          <a:xfrm>
            <a:off x="4286631" y="4751451"/>
            <a:ext cx="6541" cy="166624"/>
          </a:xfrm>
          <a:custGeom>
            <a:avLst/>
            <a:gdLst/>
            <a:ahLst/>
            <a:cxnLst/>
            <a:rect l="0" t="0" r="r" b="b"/>
            <a:pathLst>
              <a:path w="6541" h="166624">
                <a:moveTo>
                  <a:pt x="3239" y="0"/>
                </a:moveTo>
                <a:lnTo>
                  <a:pt x="3239" y="0"/>
                </a:lnTo>
                <a:cubicBezTo>
                  <a:pt x="5080" y="0"/>
                  <a:pt x="6541" y="1461"/>
                  <a:pt x="6541" y="3238"/>
                </a:cubicBezTo>
                <a:lnTo>
                  <a:pt x="6541" y="163386"/>
                </a:lnTo>
                <a:cubicBezTo>
                  <a:pt x="6541" y="165163"/>
                  <a:pt x="5080" y="166624"/>
                  <a:pt x="3239" y="166624"/>
                </a:cubicBezTo>
                <a:lnTo>
                  <a:pt x="3239" y="166624"/>
                </a:lnTo>
                <a:cubicBezTo>
                  <a:pt x="1461" y="166624"/>
                  <a:pt x="0" y="165163"/>
                  <a:pt x="0" y="163386"/>
                </a:cubicBezTo>
                <a:lnTo>
                  <a:pt x="0" y="3238"/>
                </a:lnTo>
                <a:cubicBezTo>
                  <a:pt x="0" y="1461"/>
                  <a:pt x="1461" y="0"/>
                  <a:pt x="3239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01" name="m-d13_pareto-icon-tools">
            <a:extLst>
              <a:ext uri="{FF2B5EF4-FFF2-40B4-BE49-F238E27FC236}">
                <a16:creationId xmlns:a16="http://schemas.microsoft.com/office/drawing/2014/main" id="{99A6563B-D2BB-0379-A5C8-13511EE4A064}"/>
              </a:ext>
            </a:extLst>
          </p:cNvPr>
          <p:cNvSpPr/>
          <p:nvPr/>
        </p:nvSpPr>
        <p:spPr>
          <a:xfrm>
            <a:off x="4332384" y="4796467"/>
            <a:ext cx="21557" cy="21405"/>
          </a:xfrm>
          <a:custGeom>
            <a:avLst/>
            <a:gdLst/>
            <a:ahLst/>
            <a:cxnLst/>
            <a:rect l="0" t="0" r="r" b="b"/>
            <a:pathLst>
              <a:path w="21557" h="21405">
                <a:moveTo>
                  <a:pt x="3904" y="704"/>
                </a:moveTo>
                <a:lnTo>
                  <a:pt x="8476" y="5276"/>
                </a:lnTo>
                <a:lnTo>
                  <a:pt x="5174" y="8642"/>
                </a:lnTo>
                <a:lnTo>
                  <a:pt x="602" y="4070"/>
                </a:lnTo>
                <a:cubicBezTo>
                  <a:pt x="-478" y="6356"/>
                  <a:pt x="-97" y="9086"/>
                  <a:pt x="1681" y="10928"/>
                </a:cubicBezTo>
                <a:cubicBezTo>
                  <a:pt x="3459" y="12706"/>
                  <a:pt x="6190" y="13277"/>
                  <a:pt x="8476" y="12261"/>
                </a:cubicBezTo>
                <a:lnTo>
                  <a:pt x="17620" y="21405"/>
                </a:lnTo>
                <a:lnTo>
                  <a:pt x="21557" y="17405"/>
                </a:lnTo>
                <a:lnTo>
                  <a:pt x="12413" y="8324"/>
                </a:lnTo>
                <a:cubicBezTo>
                  <a:pt x="13365" y="5975"/>
                  <a:pt x="12730" y="3244"/>
                  <a:pt x="10825" y="1530"/>
                </a:cubicBezTo>
                <a:cubicBezTo>
                  <a:pt x="8920" y="-121"/>
                  <a:pt x="6190" y="-502"/>
                  <a:pt x="3904" y="704"/>
                </a:cubicBezTo>
                <a:close/>
              </a:path>
            </a:pathLst>
          </a:custGeom>
          <a:noFill/>
          <a:ln w="260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02" name="m-d13_pareto-acn-1">
            <a:extLst>
              <a:ext uri="{FF2B5EF4-FFF2-40B4-BE49-F238E27FC236}">
                <a16:creationId xmlns:a16="http://schemas.microsoft.com/office/drawing/2014/main" id="{A9D22268-7B8F-46CA-AF0A-4211D85FB2CA}"/>
              </a:ext>
            </a:extLst>
          </p:cNvPr>
          <p:cNvSpPr txBox="1"/>
          <p:nvPr/>
        </p:nvSpPr>
        <p:spPr>
          <a:xfrm>
            <a:off x="4387491" y="4785381"/>
            <a:ext cx="141761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装配偏差</a:t>
            </a:r>
          </a:p>
        </p:txBody>
      </p:sp>
      <p:sp>
        <p:nvSpPr>
          <p:cNvPr id="1603" name="m-d13_pareto-acp-1">
            <a:extLst>
              <a:ext uri="{FF2B5EF4-FFF2-40B4-BE49-F238E27FC236}">
                <a16:creationId xmlns:a16="http://schemas.microsoft.com/office/drawing/2014/main" id="{A417E5FB-A163-37C0-5906-8416B8C8B12D}"/>
              </a:ext>
            </a:extLst>
          </p:cNvPr>
          <p:cNvSpPr txBox="1"/>
          <p:nvPr/>
        </p:nvSpPr>
        <p:spPr>
          <a:xfrm>
            <a:off x="4323262" y="4851500"/>
            <a:ext cx="260597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工装治具升级 + 首件必检</a:t>
            </a:r>
          </a:p>
        </p:txBody>
      </p:sp>
      <p:sp>
        <p:nvSpPr>
          <p:cNvPr id="1604" name="m-d13_pareto-ace-1">
            <a:extLst>
              <a:ext uri="{FF2B5EF4-FFF2-40B4-BE49-F238E27FC236}">
                <a16:creationId xmlns:a16="http://schemas.microsoft.com/office/drawing/2014/main" id="{CDECA232-F2A4-9284-2A6F-E16276C477FF}"/>
              </a:ext>
            </a:extLst>
          </p:cNvPr>
          <p:cNvSpPr/>
          <p:nvPr/>
        </p:nvSpPr>
        <p:spPr>
          <a:xfrm>
            <a:off x="4724019" y="4790504"/>
            <a:ext cx="104140" cy="44260"/>
          </a:xfrm>
          <a:custGeom>
            <a:avLst/>
            <a:gdLst/>
            <a:ahLst/>
            <a:cxnLst/>
            <a:rect l="0" t="0" r="r" b="b"/>
            <a:pathLst>
              <a:path w="104140" h="44260">
                <a:moveTo>
                  <a:pt x="22098" y="0"/>
                </a:moveTo>
                <a:lnTo>
                  <a:pt x="82042" y="0"/>
                </a:lnTo>
                <a:cubicBezTo>
                  <a:pt x="94234" y="0"/>
                  <a:pt x="104140" y="9906"/>
                  <a:pt x="104140" y="22098"/>
                </a:cubicBezTo>
                <a:lnTo>
                  <a:pt x="104140" y="22098"/>
                </a:lnTo>
                <a:cubicBezTo>
                  <a:pt x="104140" y="34354"/>
                  <a:pt x="94234" y="44260"/>
                  <a:pt x="82042" y="44260"/>
                </a:cubicBezTo>
                <a:lnTo>
                  <a:pt x="22098" y="44260"/>
                </a:lnTo>
                <a:cubicBezTo>
                  <a:pt x="9906" y="44260"/>
                  <a:pt x="0" y="34354"/>
                  <a:pt x="0" y="22098"/>
                </a:cubicBezTo>
                <a:lnTo>
                  <a:pt x="0" y="22098"/>
                </a:lnTo>
                <a:cubicBezTo>
                  <a:pt x="0" y="9906"/>
                  <a:pt x="9906" y="0"/>
                  <a:pt x="22098" y="0"/>
                </a:cubicBezTo>
                <a:close/>
              </a:path>
            </a:pathLst>
          </a:cu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05" name="m-d13_pareto-acet-1">
            <a:extLst>
              <a:ext uri="{FF2B5EF4-FFF2-40B4-BE49-F238E27FC236}">
                <a16:creationId xmlns:a16="http://schemas.microsoft.com/office/drawing/2014/main" id="{591284BB-A182-8D10-779A-DDCEF057FAC1}"/>
              </a:ext>
            </a:extLst>
          </p:cNvPr>
          <p:cNvSpPr txBox="1"/>
          <p:nvPr/>
        </p:nvSpPr>
        <p:spPr>
          <a:xfrm>
            <a:off x="4742348" y="4793419"/>
            <a:ext cx="67483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-40%</a:t>
            </a:r>
          </a:p>
        </p:txBody>
      </p:sp>
      <p:sp>
        <p:nvSpPr>
          <p:cNvPr id="1606" name="m-d13_pareto-ac-2">
            <a:extLst>
              <a:ext uri="{FF2B5EF4-FFF2-40B4-BE49-F238E27FC236}">
                <a16:creationId xmlns:a16="http://schemas.microsoft.com/office/drawing/2014/main" id="{862E0C3F-97A0-479F-289A-EE3E9D9DAA87}"/>
              </a:ext>
            </a:extLst>
          </p:cNvPr>
          <p:cNvSpPr/>
          <p:nvPr/>
        </p:nvSpPr>
        <p:spPr>
          <a:xfrm>
            <a:off x="4286631" y="4946714"/>
            <a:ext cx="567563" cy="166624"/>
          </a:xfrm>
          <a:custGeom>
            <a:avLst/>
            <a:gdLst/>
            <a:ahLst/>
            <a:cxnLst/>
            <a:rect l="0" t="0" r="r" b="b"/>
            <a:pathLst>
              <a:path w="567563" h="166624">
                <a:moveTo>
                  <a:pt x="23432" y="0"/>
                </a:moveTo>
                <a:lnTo>
                  <a:pt x="544132" y="0"/>
                </a:lnTo>
                <a:cubicBezTo>
                  <a:pt x="557086" y="0"/>
                  <a:pt x="567563" y="10477"/>
                  <a:pt x="567563" y="23432"/>
                </a:cubicBezTo>
                <a:lnTo>
                  <a:pt x="567563" y="143192"/>
                </a:lnTo>
                <a:cubicBezTo>
                  <a:pt x="567563" y="156147"/>
                  <a:pt x="557086" y="166624"/>
                  <a:pt x="544132" y="166624"/>
                </a:cubicBezTo>
                <a:lnTo>
                  <a:pt x="23432" y="166624"/>
                </a:lnTo>
                <a:cubicBezTo>
                  <a:pt x="10478" y="166624"/>
                  <a:pt x="0" y="156147"/>
                  <a:pt x="0" y="143192"/>
                </a:cubicBezTo>
                <a:lnTo>
                  <a:pt x="0" y="23432"/>
                </a:lnTo>
                <a:cubicBezTo>
                  <a:pt x="0" y="10477"/>
                  <a:pt x="10478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07" name="m-d13_pareto-acb-2">
            <a:extLst>
              <a:ext uri="{FF2B5EF4-FFF2-40B4-BE49-F238E27FC236}">
                <a16:creationId xmlns:a16="http://schemas.microsoft.com/office/drawing/2014/main" id="{ED1A8071-C95F-0F59-9CEB-617A4476B755}"/>
              </a:ext>
            </a:extLst>
          </p:cNvPr>
          <p:cNvSpPr/>
          <p:nvPr/>
        </p:nvSpPr>
        <p:spPr>
          <a:xfrm>
            <a:off x="4286631" y="4946714"/>
            <a:ext cx="6541" cy="166624"/>
          </a:xfrm>
          <a:custGeom>
            <a:avLst/>
            <a:gdLst/>
            <a:ahLst/>
            <a:cxnLst/>
            <a:rect l="0" t="0" r="r" b="b"/>
            <a:pathLst>
              <a:path w="6541" h="166624">
                <a:moveTo>
                  <a:pt x="3239" y="0"/>
                </a:moveTo>
                <a:lnTo>
                  <a:pt x="3239" y="0"/>
                </a:lnTo>
                <a:cubicBezTo>
                  <a:pt x="5080" y="0"/>
                  <a:pt x="6541" y="1461"/>
                  <a:pt x="6541" y="3238"/>
                </a:cubicBezTo>
                <a:lnTo>
                  <a:pt x="6541" y="163386"/>
                </a:lnTo>
                <a:cubicBezTo>
                  <a:pt x="6541" y="165163"/>
                  <a:pt x="5080" y="166624"/>
                  <a:pt x="3239" y="166624"/>
                </a:cubicBezTo>
                <a:lnTo>
                  <a:pt x="3239" y="166624"/>
                </a:lnTo>
                <a:cubicBezTo>
                  <a:pt x="1461" y="166624"/>
                  <a:pt x="0" y="165163"/>
                  <a:pt x="0" y="163386"/>
                </a:cubicBezTo>
                <a:lnTo>
                  <a:pt x="0" y="3238"/>
                </a:lnTo>
                <a:cubicBezTo>
                  <a:pt x="0" y="1461"/>
                  <a:pt x="1461" y="0"/>
                  <a:pt x="3239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08" name="m-d13_pareto-icon-cart">
            <a:extLst>
              <a:ext uri="{FF2B5EF4-FFF2-40B4-BE49-F238E27FC236}">
                <a16:creationId xmlns:a16="http://schemas.microsoft.com/office/drawing/2014/main" id="{760FD98A-8E00-5053-EF82-F978EC3E4297}"/>
              </a:ext>
            </a:extLst>
          </p:cNvPr>
          <p:cNvSpPr/>
          <p:nvPr/>
        </p:nvSpPr>
        <p:spPr>
          <a:xfrm>
            <a:off x="4330510" y="4992751"/>
            <a:ext cx="24193" cy="14288"/>
          </a:xfrm>
          <a:custGeom>
            <a:avLst/>
            <a:gdLst/>
            <a:ahLst/>
            <a:cxnLst/>
            <a:rect l="0" t="0" r="r" b="b"/>
            <a:pathLst>
              <a:path w="24193" h="14288">
                <a:moveTo>
                  <a:pt x="0" y="0"/>
                </a:moveTo>
                <a:lnTo>
                  <a:pt x="3556" y="0"/>
                </a:lnTo>
                <a:lnTo>
                  <a:pt x="7049" y="14288"/>
                </a:lnTo>
                <a:lnTo>
                  <a:pt x="21273" y="14288"/>
                </a:lnTo>
                <a:lnTo>
                  <a:pt x="24193" y="4254"/>
                </a:lnTo>
                <a:lnTo>
                  <a:pt x="4572" y="4254"/>
                </a:lnTo>
              </a:path>
            </a:pathLst>
          </a:custGeom>
          <a:noFill/>
          <a:ln w="2604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09" name="m-d13_pareto-icon-cart">
            <a:extLst>
              <a:ext uri="{FF2B5EF4-FFF2-40B4-BE49-F238E27FC236}">
                <a16:creationId xmlns:a16="http://schemas.microsoft.com/office/drawing/2014/main" id="{9FDDE5B1-F34D-4303-369C-EFE34BC85E80}"/>
              </a:ext>
            </a:extLst>
          </p:cNvPr>
          <p:cNvSpPr/>
          <p:nvPr/>
        </p:nvSpPr>
        <p:spPr>
          <a:xfrm>
            <a:off x="4337833" y="5011584"/>
            <a:ext cx="4252" cy="4252"/>
          </a:xfrm>
          <a:prstGeom prst="ellipse">
            <a:avLst/>
          </a:prstGeom>
          <a:noFill/>
          <a:ln w="2604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10" name="m-d13_pareto-icon-cart">
            <a:extLst>
              <a:ext uri="{FF2B5EF4-FFF2-40B4-BE49-F238E27FC236}">
                <a16:creationId xmlns:a16="http://schemas.microsoft.com/office/drawing/2014/main" id="{DAF431A5-7D26-2CA3-C936-D6187AB70DF4}"/>
              </a:ext>
            </a:extLst>
          </p:cNvPr>
          <p:cNvSpPr/>
          <p:nvPr/>
        </p:nvSpPr>
        <p:spPr>
          <a:xfrm>
            <a:off x="4348768" y="5011584"/>
            <a:ext cx="4252" cy="4252"/>
          </a:xfrm>
          <a:prstGeom prst="ellipse">
            <a:avLst/>
          </a:prstGeom>
          <a:noFill/>
          <a:ln w="2604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11" name="m-d13_pareto-acn-2">
            <a:extLst>
              <a:ext uri="{FF2B5EF4-FFF2-40B4-BE49-F238E27FC236}">
                <a16:creationId xmlns:a16="http://schemas.microsoft.com/office/drawing/2014/main" id="{D61D428F-3DD2-8723-C85C-14EA6697146A}"/>
              </a:ext>
            </a:extLst>
          </p:cNvPr>
          <p:cNvSpPr txBox="1"/>
          <p:nvPr/>
        </p:nvSpPr>
        <p:spPr>
          <a:xfrm>
            <a:off x="4387491" y="4980644"/>
            <a:ext cx="141761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来料不良</a:t>
            </a:r>
          </a:p>
        </p:txBody>
      </p:sp>
      <p:sp>
        <p:nvSpPr>
          <p:cNvPr id="1612" name="m-d13_pareto-acp-2">
            <a:extLst>
              <a:ext uri="{FF2B5EF4-FFF2-40B4-BE49-F238E27FC236}">
                <a16:creationId xmlns:a16="http://schemas.microsoft.com/office/drawing/2014/main" id="{F9A51ED3-F0B3-A01C-02BF-5498BFDE11F5}"/>
              </a:ext>
            </a:extLst>
          </p:cNvPr>
          <p:cNvSpPr txBox="1"/>
          <p:nvPr/>
        </p:nvSpPr>
        <p:spPr>
          <a:xfrm>
            <a:off x="4323262" y="5046763"/>
            <a:ext cx="225138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供应商分级与来料全检</a:t>
            </a:r>
          </a:p>
        </p:txBody>
      </p:sp>
      <p:sp>
        <p:nvSpPr>
          <p:cNvPr id="1613" name="m-d13_pareto-ace-2">
            <a:extLst>
              <a:ext uri="{FF2B5EF4-FFF2-40B4-BE49-F238E27FC236}">
                <a16:creationId xmlns:a16="http://schemas.microsoft.com/office/drawing/2014/main" id="{054B79C5-E875-C0A0-E9D3-262C1EDFBC7D}"/>
              </a:ext>
            </a:extLst>
          </p:cNvPr>
          <p:cNvSpPr/>
          <p:nvPr/>
        </p:nvSpPr>
        <p:spPr>
          <a:xfrm>
            <a:off x="4724019" y="4985766"/>
            <a:ext cx="104140" cy="44260"/>
          </a:xfrm>
          <a:custGeom>
            <a:avLst/>
            <a:gdLst/>
            <a:ahLst/>
            <a:cxnLst/>
            <a:rect l="0" t="0" r="r" b="b"/>
            <a:pathLst>
              <a:path w="104140" h="44260">
                <a:moveTo>
                  <a:pt x="22098" y="0"/>
                </a:moveTo>
                <a:lnTo>
                  <a:pt x="82042" y="0"/>
                </a:lnTo>
                <a:cubicBezTo>
                  <a:pt x="94234" y="0"/>
                  <a:pt x="104140" y="9906"/>
                  <a:pt x="104140" y="22098"/>
                </a:cubicBezTo>
                <a:lnTo>
                  <a:pt x="104140" y="22098"/>
                </a:lnTo>
                <a:cubicBezTo>
                  <a:pt x="104140" y="34354"/>
                  <a:pt x="94234" y="44260"/>
                  <a:pt x="82042" y="44260"/>
                </a:cubicBezTo>
                <a:lnTo>
                  <a:pt x="22098" y="44260"/>
                </a:lnTo>
                <a:cubicBezTo>
                  <a:pt x="9906" y="44260"/>
                  <a:pt x="0" y="34354"/>
                  <a:pt x="0" y="22098"/>
                </a:cubicBezTo>
                <a:lnTo>
                  <a:pt x="0" y="22098"/>
                </a:lnTo>
                <a:cubicBezTo>
                  <a:pt x="0" y="9906"/>
                  <a:pt x="9906" y="0"/>
                  <a:pt x="22098" y="0"/>
                </a:cubicBezTo>
                <a:close/>
              </a:path>
            </a:pathLst>
          </a:custGeom>
          <a:solidFill>
            <a:srgbClr val="134C9C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14" name="m-d13_pareto-acet-2">
            <a:extLst>
              <a:ext uri="{FF2B5EF4-FFF2-40B4-BE49-F238E27FC236}">
                <a16:creationId xmlns:a16="http://schemas.microsoft.com/office/drawing/2014/main" id="{B1012D54-C40C-830C-D3AC-D07136C0BAFB}"/>
              </a:ext>
            </a:extLst>
          </p:cNvPr>
          <p:cNvSpPr txBox="1"/>
          <p:nvPr/>
        </p:nvSpPr>
        <p:spPr>
          <a:xfrm>
            <a:off x="4742348" y="4988682"/>
            <a:ext cx="67483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-35%</a:t>
            </a:r>
          </a:p>
        </p:txBody>
      </p:sp>
      <p:sp>
        <p:nvSpPr>
          <p:cNvPr id="1615" name="m-d13_pareto-ac-3">
            <a:extLst>
              <a:ext uri="{FF2B5EF4-FFF2-40B4-BE49-F238E27FC236}">
                <a16:creationId xmlns:a16="http://schemas.microsoft.com/office/drawing/2014/main" id="{FBC37F98-ACA6-675D-F4B7-B147AF92E672}"/>
              </a:ext>
            </a:extLst>
          </p:cNvPr>
          <p:cNvSpPr/>
          <p:nvPr/>
        </p:nvSpPr>
        <p:spPr>
          <a:xfrm>
            <a:off x="4286631" y="5141976"/>
            <a:ext cx="567563" cy="166624"/>
          </a:xfrm>
          <a:custGeom>
            <a:avLst/>
            <a:gdLst/>
            <a:ahLst/>
            <a:cxnLst/>
            <a:rect l="0" t="0" r="r" b="b"/>
            <a:pathLst>
              <a:path w="567563" h="166624">
                <a:moveTo>
                  <a:pt x="23432" y="0"/>
                </a:moveTo>
                <a:lnTo>
                  <a:pt x="544132" y="0"/>
                </a:lnTo>
                <a:cubicBezTo>
                  <a:pt x="557086" y="0"/>
                  <a:pt x="567563" y="10477"/>
                  <a:pt x="567563" y="23432"/>
                </a:cubicBezTo>
                <a:lnTo>
                  <a:pt x="567563" y="143192"/>
                </a:lnTo>
                <a:cubicBezTo>
                  <a:pt x="567563" y="156147"/>
                  <a:pt x="557086" y="166624"/>
                  <a:pt x="544132" y="166624"/>
                </a:cubicBezTo>
                <a:lnTo>
                  <a:pt x="23432" y="166624"/>
                </a:lnTo>
                <a:cubicBezTo>
                  <a:pt x="10478" y="166624"/>
                  <a:pt x="0" y="156147"/>
                  <a:pt x="0" y="143192"/>
                </a:cubicBezTo>
                <a:lnTo>
                  <a:pt x="0" y="23432"/>
                </a:lnTo>
                <a:cubicBezTo>
                  <a:pt x="0" y="10477"/>
                  <a:pt x="10478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16" name="m-d13_pareto-acb-3">
            <a:extLst>
              <a:ext uri="{FF2B5EF4-FFF2-40B4-BE49-F238E27FC236}">
                <a16:creationId xmlns:a16="http://schemas.microsoft.com/office/drawing/2014/main" id="{6A3A41B7-7ABB-0B0C-8E8A-78CBD0AE7A02}"/>
              </a:ext>
            </a:extLst>
          </p:cNvPr>
          <p:cNvSpPr/>
          <p:nvPr/>
        </p:nvSpPr>
        <p:spPr>
          <a:xfrm>
            <a:off x="4286631" y="5141976"/>
            <a:ext cx="6541" cy="166624"/>
          </a:xfrm>
          <a:custGeom>
            <a:avLst/>
            <a:gdLst/>
            <a:ahLst/>
            <a:cxnLst/>
            <a:rect l="0" t="0" r="r" b="b"/>
            <a:pathLst>
              <a:path w="6541" h="166624">
                <a:moveTo>
                  <a:pt x="3239" y="0"/>
                </a:moveTo>
                <a:lnTo>
                  <a:pt x="3239" y="0"/>
                </a:lnTo>
                <a:cubicBezTo>
                  <a:pt x="5080" y="0"/>
                  <a:pt x="6541" y="1461"/>
                  <a:pt x="6541" y="3238"/>
                </a:cubicBezTo>
                <a:lnTo>
                  <a:pt x="6541" y="163386"/>
                </a:lnTo>
                <a:cubicBezTo>
                  <a:pt x="6541" y="165163"/>
                  <a:pt x="5080" y="166624"/>
                  <a:pt x="3239" y="166624"/>
                </a:cubicBezTo>
                <a:lnTo>
                  <a:pt x="3239" y="166624"/>
                </a:lnTo>
                <a:cubicBezTo>
                  <a:pt x="1461" y="166624"/>
                  <a:pt x="0" y="165163"/>
                  <a:pt x="0" y="163386"/>
                </a:cubicBezTo>
                <a:lnTo>
                  <a:pt x="0" y="3238"/>
                </a:lnTo>
                <a:cubicBezTo>
                  <a:pt x="0" y="1461"/>
                  <a:pt x="1461" y="0"/>
                  <a:pt x="3239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17" name="m-d13_pareto-icon-gear">
            <a:extLst>
              <a:ext uri="{FF2B5EF4-FFF2-40B4-BE49-F238E27FC236}">
                <a16:creationId xmlns:a16="http://schemas.microsoft.com/office/drawing/2014/main" id="{661687DD-2F58-1954-F776-85DA2D068452}"/>
              </a:ext>
            </a:extLst>
          </p:cNvPr>
          <p:cNvSpPr/>
          <p:nvPr/>
        </p:nvSpPr>
        <p:spPr>
          <a:xfrm>
            <a:off x="4332542" y="5185283"/>
            <a:ext cx="22733" cy="27940"/>
          </a:xfrm>
          <a:custGeom>
            <a:avLst/>
            <a:gdLst/>
            <a:ahLst/>
            <a:cxnLst/>
            <a:rect l="0" t="0" r="r" b="b"/>
            <a:pathLst>
              <a:path w="22733" h="27940">
                <a:moveTo>
                  <a:pt x="11367" y="8826"/>
                </a:moveTo>
                <a:cubicBezTo>
                  <a:pt x="9525" y="8826"/>
                  <a:pt x="7811" y="9779"/>
                  <a:pt x="6858" y="11366"/>
                </a:cubicBezTo>
                <a:cubicBezTo>
                  <a:pt x="5969" y="12954"/>
                  <a:pt x="5969" y="14986"/>
                  <a:pt x="6858" y="16574"/>
                </a:cubicBezTo>
                <a:cubicBezTo>
                  <a:pt x="7811" y="18161"/>
                  <a:pt x="9525" y="19113"/>
                  <a:pt x="11367" y="19113"/>
                </a:cubicBezTo>
                <a:cubicBezTo>
                  <a:pt x="14224" y="19113"/>
                  <a:pt x="16510" y="16827"/>
                  <a:pt x="16510" y="13970"/>
                </a:cubicBezTo>
                <a:cubicBezTo>
                  <a:pt x="16510" y="11112"/>
                  <a:pt x="14224" y="8826"/>
                  <a:pt x="11367" y="8826"/>
                </a:cubicBezTo>
                <a:close/>
                <a:moveTo>
                  <a:pt x="11367" y="0"/>
                </a:moveTo>
                <a:lnTo>
                  <a:pt x="13018" y="3937"/>
                </a:lnTo>
                <a:lnTo>
                  <a:pt x="17272" y="3048"/>
                </a:lnTo>
                <a:lnTo>
                  <a:pt x="18796" y="7112"/>
                </a:lnTo>
                <a:lnTo>
                  <a:pt x="22733" y="8826"/>
                </a:lnTo>
                <a:lnTo>
                  <a:pt x="20955" y="12763"/>
                </a:lnTo>
                <a:lnTo>
                  <a:pt x="22733" y="16700"/>
                </a:lnTo>
                <a:lnTo>
                  <a:pt x="18796" y="18351"/>
                </a:lnTo>
                <a:lnTo>
                  <a:pt x="17272" y="22479"/>
                </a:lnTo>
                <a:lnTo>
                  <a:pt x="13018" y="21590"/>
                </a:lnTo>
                <a:lnTo>
                  <a:pt x="11367" y="27940"/>
                </a:lnTo>
                <a:lnTo>
                  <a:pt x="9716" y="24003"/>
                </a:lnTo>
                <a:lnTo>
                  <a:pt x="5461" y="24892"/>
                </a:lnTo>
                <a:lnTo>
                  <a:pt x="3937" y="20828"/>
                </a:lnTo>
                <a:lnTo>
                  <a:pt x="0" y="19113"/>
                </a:lnTo>
                <a:lnTo>
                  <a:pt x="1778" y="13970"/>
                </a:lnTo>
                <a:lnTo>
                  <a:pt x="0" y="10033"/>
                </a:lnTo>
                <a:lnTo>
                  <a:pt x="3937" y="8318"/>
                </a:lnTo>
                <a:lnTo>
                  <a:pt x="5461" y="4254"/>
                </a:lnTo>
                <a:lnTo>
                  <a:pt x="9716" y="5143"/>
                </a:lnTo>
                <a:close/>
              </a:path>
            </a:pathLst>
          </a:custGeom>
          <a:noFill/>
          <a:ln w="2604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18" name="m-d13_pareto-acn-3">
            <a:extLst>
              <a:ext uri="{FF2B5EF4-FFF2-40B4-BE49-F238E27FC236}">
                <a16:creationId xmlns:a16="http://schemas.microsoft.com/office/drawing/2014/main" id="{046E8841-D6E1-7D34-C0E8-5C7F20E73808}"/>
              </a:ext>
            </a:extLst>
          </p:cNvPr>
          <p:cNvSpPr txBox="1"/>
          <p:nvPr/>
        </p:nvSpPr>
        <p:spPr>
          <a:xfrm>
            <a:off x="4387491" y="5175906"/>
            <a:ext cx="141761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参数漂移</a:t>
            </a:r>
          </a:p>
        </p:txBody>
      </p:sp>
      <p:sp>
        <p:nvSpPr>
          <p:cNvPr id="1619" name="m-d13_pareto-acp-3">
            <a:extLst>
              <a:ext uri="{FF2B5EF4-FFF2-40B4-BE49-F238E27FC236}">
                <a16:creationId xmlns:a16="http://schemas.microsoft.com/office/drawing/2014/main" id="{AD1ED3C9-8863-D436-CB38-875D42F5DC98}"/>
              </a:ext>
            </a:extLst>
          </p:cNvPr>
          <p:cNvSpPr txBox="1"/>
          <p:nvPr/>
        </p:nvSpPr>
        <p:spPr>
          <a:xfrm>
            <a:off x="4323262" y="5242025"/>
            <a:ext cx="245835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设备点检周期缩短至班次</a:t>
            </a:r>
          </a:p>
        </p:txBody>
      </p:sp>
      <p:sp>
        <p:nvSpPr>
          <p:cNvPr id="1620" name="m-d13_pareto-ace-3">
            <a:extLst>
              <a:ext uri="{FF2B5EF4-FFF2-40B4-BE49-F238E27FC236}">
                <a16:creationId xmlns:a16="http://schemas.microsoft.com/office/drawing/2014/main" id="{0EDA71B1-D5D3-575C-4800-3F41279DBBA0}"/>
              </a:ext>
            </a:extLst>
          </p:cNvPr>
          <p:cNvSpPr/>
          <p:nvPr/>
        </p:nvSpPr>
        <p:spPr>
          <a:xfrm>
            <a:off x="4724019" y="5181028"/>
            <a:ext cx="104140" cy="44260"/>
          </a:xfrm>
          <a:custGeom>
            <a:avLst/>
            <a:gdLst/>
            <a:ahLst/>
            <a:cxnLst/>
            <a:rect l="0" t="0" r="r" b="b"/>
            <a:pathLst>
              <a:path w="104140" h="44260">
                <a:moveTo>
                  <a:pt x="22098" y="0"/>
                </a:moveTo>
                <a:lnTo>
                  <a:pt x="82042" y="0"/>
                </a:lnTo>
                <a:cubicBezTo>
                  <a:pt x="94234" y="0"/>
                  <a:pt x="104140" y="9906"/>
                  <a:pt x="104140" y="22098"/>
                </a:cubicBezTo>
                <a:lnTo>
                  <a:pt x="104140" y="22098"/>
                </a:lnTo>
                <a:cubicBezTo>
                  <a:pt x="104140" y="34354"/>
                  <a:pt x="94234" y="44260"/>
                  <a:pt x="82042" y="44260"/>
                </a:cubicBezTo>
                <a:lnTo>
                  <a:pt x="22098" y="44260"/>
                </a:lnTo>
                <a:cubicBezTo>
                  <a:pt x="9906" y="44260"/>
                  <a:pt x="0" y="34354"/>
                  <a:pt x="0" y="22098"/>
                </a:cubicBezTo>
                <a:lnTo>
                  <a:pt x="0" y="22098"/>
                </a:lnTo>
                <a:cubicBezTo>
                  <a:pt x="0" y="9906"/>
                  <a:pt x="9906" y="0"/>
                  <a:pt x="22098" y="0"/>
                </a:cubicBezTo>
                <a:close/>
              </a:path>
            </a:pathLst>
          </a:cu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21" name="m-d13_pareto-acet-3">
            <a:extLst>
              <a:ext uri="{FF2B5EF4-FFF2-40B4-BE49-F238E27FC236}">
                <a16:creationId xmlns:a16="http://schemas.microsoft.com/office/drawing/2014/main" id="{E299D902-6C2A-748C-259C-438AFFF2A1E4}"/>
              </a:ext>
            </a:extLst>
          </p:cNvPr>
          <p:cNvSpPr txBox="1"/>
          <p:nvPr/>
        </p:nvSpPr>
        <p:spPr>
          <a:xfrm>
            <a:off x="4742348" y="5183944"/>
            <a:ext cx="67483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-30%</a:t>
            </a:r>
          </a:p>
        </p:txBody>
      </p:sp>
      <p:sp>
        <p:nvSpPr>
          <p:cNvPr id="1622" name="m-d13_pareto-sum">
            <a:extLst>
              <a:ext uri="{FF2B5EF4-FFF2-40B4-BE49-F238E27FC236}">
                <a16:creationId xmlns:a16="http://schemas.microsoft.com/office/drawing/2014/main" id="{58B9D1B0-7E23-34A3-305D-08FD6429EA3D}"/>
              </a:ext>
            </a:extLst>
          </p:cNvPr>
          <p:cNvSpPr/>
          <p:nvPr/>
        </p:nvSpPr>
        <p:spPr>
          <a:xfrm>
            <a:off x="2747962" y="5394516"/>
            <a:ext cx="2108835" cy="119761"/>
          </a:xfrm>
          <a:custGeom>
            <a:avLst/>
            <a:gdLst/>
            <a:ahLst/>
            <a:cxnLst/>
            <a:rect l="0" t="0" r="r" b="b"/>
            <a:pathLst>
              <a:path w="2108835" h="119761">
                <a:moveTo>
                  <a:pt x="20828" y="0"/>
                </a:moveTo>
                <a:lnTo>
                  <a:pt x="2088007" y="0"/>
                </a:lnTo>
                <a:cubicBezTo>
                  <a:pt x="2099500" y="0"/>
                  <a:pt x="2108835" y="9335"/>
                  <a:pt x="2108835" y="20828"/>
                </a:cubicBezTo>
                <a:lnTo>
                  <a:pt x="2108835" y="98933"/>
                </a:lnTo>
                <a:cubicBezTo>
                  <a:pt x="2108835" y="110426"/>
                  <a:pt x="2099500" y="119761"/>
                  <a:pt x="2088007" y="119761"/>
                </a:cubicBezTo>
                <a:lnTo>
                  <a:pt x="20828" y="119761"/>
                </a:lnTo>
                <a:cubicBezTo>
                  <a:pt x="9335" y="119761"/>
                  <a:pt x="0" y="110426"/>
                  <a:pt x="0" y="98933"/>
                </a:cubicBezTo>
                <a:lnTo>
                  <a:pt x="0" y="20828"/>
                </a:lnTo>
                <a:cubicBezTo>
                  <a:pt x="0" y="9335"/>
                  <a:pt x="9335" y="0"/>
                  <a:pt x="20828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23" name="m-d13_pareto-sum-bar">
            <a:extLst>
              <a:ext uri="{FF2B5EF4-FFF2-40B4-BE49-F238E27FC236}">
                <a16:creationId xmlns:a16="http://schemas.microsoft.com/office/drawing/2014/main" id="{6E6FD554-4F26-B6F5-F4E2-E740FE098DAB}"/>
              </a:ext>
            </a:extLst>
          </p:cNvPr>
          <p:cNvSpPr/>
          <p:nvPr/>
        </p:nvSpPr>
        <p:spPr>
          <a:xfrm>
            <a:off x="2747962" y="5394516"/>
            <a:ext cx="6509" cy="119761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24" name="m-d13_pareto-sum-h">
            <a:extLst>
              <a:ext uri="{FF2B5EF4-FFF2-40B4-BE49-F238E27FC236}">
                <a16:creationId xmlns:a16="http://schemas.microsoft.com/office/drawing/2014/main" id="{4B074CA4-A3F2-128F-E738-B2D8736C6068}"/>
              </a:ext>
            </a:extLst>
          </p:cNvPr>
          <p:cNvSpPr txBox="1"/>
          <p:nvPr/>
        </p:nvSpPr>
        <p:spPr>
          <a:xfrm>
            <a:off x="2786651" y="5416040"/>
            <a:ext cx="158944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帕累托判断</a:t>
            </a:r>
          </a:p>
        </p:txBody>
      </p:sp>
      <p:sp>
        <p:nvSpPr>
          <p:cNvPr id="1625" name="m-d13_pareto-sum-p">
            <a:extLst>
              <a:ext uri="{FF2B5EF4-FFF2-40B4-BE49-F238E27FC236}">
                <a16:creationId xmlns:a16="http://schemas.microsoft.com/office/drawing/2014/main" id="{E191EFB2-7F8E-5C97-B3FB-E74E1D58087D}"/>
              </a:ext>
            </a:extLst>
          </p:cNvPr>
          <p:cNvSpPr txBox="1"/>
          <p:nvPr/>
        </p:nvSpPr>
        <p:spPr>
          <a:xfrm>
            <a:off x="2786885" y="5460107"/>
            <a:ext cx="112868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前三类缺陷占 76%，集中资源攻这三项即可覆盖四分之三的质量损失；后五类合计 24%，按季度批量处理。</a:t>
            </a:r>
          </a:p>
        </p:txBody>
      </p:sp>
      <p:sp>
        <p:nvSpPr>
          <p:cNvPr id="1626" name="m-d13_pareto-sv-1">
            <a:extLst>
              <a:ext uri="{FF2B5EF4-FFF2-40B4-BE49-F238E27FC236}">
                <a16:creationId xmlns:a16="http://schemas.microsoft.com/office/drawing/2014/main" id="{F30D57AB-0120-934B-58EC-8E9CE4442389}"/>
              </a:ext>
            </a:extLst>
          </p:cNvPr>
          <p:cNvSpPr txBox="1"/>
          <p:nvPr/>
        </p:nvSpPr>
        <p:spPr>
          <a:xfrm>
            <a:off x="4242749" y="5418416"/>
            <a:ext cx="82557" cy="546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5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832</a:t>
            </a:r>
          </a:p>
        </p:txBody>
      </p:sp>
      <p:sp>
        <p:nvSpPr>
          <p:cNvPr id="1627" name="m-d13_pareto-sl-1">
            <a:extLst>
              <a:ext uri="{FF2B5EF4-FFF2-40B4-BE49-F238E27FC236}">
                <a16:creationId xmlns:a16="http://schemas.microsoft.com/office/drawing/2014/main" id="{C0A49BE6-86E4-4CFF-9F0B-99BB4484DB11}"/>
              </a:ext>
            </a:extLst>
          </p:cNvPr>
          <p:cNvSpPr txBox="1"/>
          <p:nvPr/>
        </p:nvSpPr>
        <p:spPr>
          <a:xfrm>
            <a:off x="4238336" y="5470941"/>
            <a:ext cx="9138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问题总数</a:t>
            </a:r>
          </a:p>
        </p:txBody>
      </p:sp>
      <p:sp>
        <p:nvSpPr>
          <p:cNvPr id="1628" name="m-d13_pareto-sv-2">
            <a:extLst>
              <a:ext uri="{FF2B5EF4-FFF2-40B4-BE49-F238E27FC236}">
                <a16:creationId xmlns:a16="http://schemas.microsoft.com/office/drawing/2014/main" id="{26498118-2FE1-42B0-30D7-D6BB5AEE1345}"/>
              </a:ext>
            </a:extLst>
          </p:cNvPr>
          <p:cNvSpPr txBox="1"/>
          <p:nvPr/>
        </p:nvSpPr>
        <p:spPr>
          <a:xfrm>
            <a:off x="4432883" y="5418416"/>
            <a:ext cx="118850" cy="546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5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 / 8</a:t>
            </a:r>
          </a:p>
        </p:txBody>
      </p:sp>
      <p:sp>
        <p:nvSpPr>
          <p:cNvPr id="1629" name="m-d13_pareto-sl-2">
            <a:extLst>
              <a:ext uri="{FF2B5EF4-FFF2-40B4-BE49-F238E27FC236}">
                <a16:creationId xmlns:a16="http://schemas.microsoft.com/office/drawing/2014/main" id="{1DAC4ADD-10E1-AA02-EAA4-8352023C5AE7}"/>
              </a:ext>
            </a:extLst>
          </p:cNvPr>
          <p:cNvSpPr txBox="1"/>
          <p:nvPr/>
        </p:nvSpPr>
        <p:spPr>
          <a:xfrm>
            <a:off x="4446616" y="5470941"/>
            <a:ext cx="9138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关键类别</a:t>
            </a:r>
          </a:p>
        </p:txBody>
      </p:sp>
      <p:sp>
        <p:nvSpPr>
          <p:cNvPr id="1630" name="m-d13_pareto-sv-3">
            <a:extLst>
              <a:ext uri="{FF2B5EF4-FFF2-40B4-BE49-F238E27FC236}">
                <a16:creationId xmlns:a16="http://schemas.microsoft.com/office/drawing/2014/main" id="{1D798ED7-524E-51A9-81BE-2107D74099CB}"/>
              </a:ext>
            </a:extLst>
          </p:cNvPr>
          <p:cNvSpPr txBox="1"/>
          <p:nvPr/>
        </p:nvSpPr>
        <p:spPr>
          <a:xfrm>
            <a:off x="4659309" y="5418416"/>
            <a:ext cx="82557" cy="546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5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76%</a:t>
            </a:r>
          </a:p>
        </p:txBody>
      </p:sp>
      <p:sp>
        <p:nvSpPr>
          <p:cNvPr id="1631" name="m-d13_pareto-sl-3">
            <a:extLst>
              <a:ext uri="{FF2B5EF4-FFF2-40B4-BE49-F238E27FC236}">
                <a16:creationId xmlns:a16="http://schemas.microsoft.com/office/drawing/2014/main" id="{CFB89862-B545-3154-1D44-55DA6C45B61C}"/>
              </a:ext>
            </a:extLst>
          </p:cNvPr>
          <p:cNvSpPr txBox="1"/>
          <p:nvPr/>
        </p:nvSpPr>
        <p:spPr>
          <a:xfrm>
            <a:off x="4654896" y="5470941"/>
            <a:ext cx="9138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累计占比</a:t>
            </a:r>
          </a:p>
        </p:txBody>
      </p:sp>
      <p:cxnSp>
        <p:nvCxnSpPr>
          <p:cNvPr id="1632" name="m-d13_pareto-foot-line">
            <a:extLst>
              <a:ext uri="{FF2B5EF4-FFF2-40B4-BE49-F238E27FC236}">
                <a16:creationId xmlns:a16="http://schemas.microsoft.com/office/drawing/2014/main" id="{763DD0CB-C321-1A42-53CD-DD8C59795A74}"/>
              </a:ext>
            </a:extLst>
          </p:cNvPr>
          <p:cNvCxnSpPr/>
          <p:nvPr/>
        </p:nvCxnSpPr>
        <p:spPr>
          <a:xfrm>
            <a:off x="2672461" y="55923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33" name="m-d13_pareto-foot-l">
            <a:extLst>
              <a:ext uri="{FF2B5EF4-FFF2-40B4-BE49-F238E27FC236}">
                <a16:creationId xmlns:a16="http://schemas.microsoft.com/office/drawing/2014/main" id="{FA89D496-18FB-BECB-5534-A15958C6710A}"/>
              </a:ext>
            </a:extLst>
          </p:cNvPr>
          <p:cNvSpPr txBox="1"/>
          <p:nvPr/>
        </p:nvSpPr>
        <p:spPr>
          <a:xfrm>
            <a:off x="2670274" y="5606323"/>
            <a:ext cx="19411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帕累托 · 八类缺陷</a:t>
            </a:r>
          </a:p>
        </p:txBody>
      </p:sp>
      <p:sp>
        <p:nvSpPr>
          <p:cNvPr id="1634" name="m-d13_pareto-foot-r">
            <a:extLst>
              <a:ext uri="{FF2B5EF4-FFF2-40B4-BE49-F238E27FC236}">
                <a16:creationId xmlns:a16="http://schemas.microsoft.com/office/drawing/2014/main" id="{567485D8-9857-9A74-5D3D-D83B289C359B}"/>
              </a:ext>
            </a:extLst>
          </p:cNvPr>
          <p:cNvSpPr txBox="1"/>
          <p:nvPr/>
        </p:nvSpPr>
        <p:spPr>
          <a:xfrm>
            <a:off x="4674709" y="56063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1635" name="mini-card-s07_pyramid">
            <a:extLst>
              <a:ext uri="{FF2B5EF4-FFF2-40B4-BE49-F238E27FC236}">
                <a16:creationId xmlns:a16="http://schemas.microsoft.com/office/drawing/2014/main" id="{E61F619F-4785-7011-DC3D-367F4D8CF692}"/>
              </a:ext>
            </a:extLst>
          </p:cNvPr>
          <p:cNvSpPr/>
          <p:nvPr/>
        </p:nvSpPr>
        <p:spPr>
          <a:xfrm>
            <a:off x="5168900" y="42672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0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0" y="1405890"/>
                </a:lnTo>
                <a:cubicBezTo>
                  <a:pt x="35877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7"/>
                  <a:pt x="35877" y="0"/>
                  <a:pt x="80200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36" name="m-s07_pyramid-title-bar">
            <a:extLst>
              <a:ext uri="{FF2B5EF4-FFF2-40B4-BE49-F238E27FC236}">
                <a16:creationId xmlns:a16="http://schemas.microsoft.com/office/drawing/2014/main" id="{F709EFF2-E874-446A-C84C-7E4D1197F628}"/>
              </a:ext>
            </a:extLst>
          </p:cNvPr>
          <p:cNvSpPr/>
          <p:nvPr/>
        </p:nvSpPr>
        <p:spPr>
          <a:xfrm>
            <a:off x="5288661" y="43661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37" name="m-s07_pyramid-title-bar-accent">
            <a:extLst>
              <a:ext uri="{FF2B5EF4-FFF2-40B4-BE49-F238E27FC236}">
                <a16:creationId xmlns:a16="http://schemas.microsoft.com/office/drawing/2014/main" id="{B343FB42-9C23-A5B4-FB31-B246023CB404}"/>
              </a:ext>
            </a:extLst>
          </p:cNvPr>
          <p:cNvSpPr/>
          <p:nvPr/>
        </p:nvSpPr>
        <p:spPr>
          <a:xfrm>
            <a:off x="5288661" y="43661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38" name="m-s07_pyramid-title-cn">
            <a:extLst>
              <a:ext uri="{FF2B5EF4-FFF2-40B4-BE49-F238E27FC236}">
                <a16:creationId xmlns:a16="http://schemas.microsoft.com/office/drawing/2014/main" id="{5DD4C3FA-F0EF-4490-F059-5525D8785F35}"/>
              </a:ext>
            </a:extLst>
          </p:cNvPr>
          <p:cNvSpPr txBox="1"/>
          <p:nvPr/>
        </p:nvSpPr>
        <p:spPr>
          <a:xfrm>
            <a:off x="5320840" y="4348768"/>
            <a:ext cx="426453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人才梯队结构</a:t>
            </a:r>
          </a:p>
        </p:txBody>
      </p:sp>
      <p:sp>
        <p:nvSpPr>
          <p:cNvPr id="1639" name="m-s07_pyramid-title-en">
            <a:extLst>
              <a:ext uri="{FF2B5EF4-FFF2-40B4-BE49-F238E27FC236}">
                <a16:creationId xmlns:a16="http://schemas.microsoft.com/office/drawing/2014/main" id="{BCD7B92F-195B-4E40-082B-C36BCEB30B9F}"/>
              </a:ext>
            </a:extLst>
          </p:cNvPr>
          <p:cNvSpPr txBox="1"/>
          <p:nvPr/>
        </p:nvSpPr>
        <p:spPr>
          <a:xfrm>
            <a:off x="5328130" y="4436050"/>
            <a:ext cx="27774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TALENT PYRAMID</a:t>
            </a:r>
          </a:p>
        </p:txBody>
      </p:sp>
      <p:sp>
        <p:nvSpPr>
          <p:cNvPr id="1640" name="m-s07_pyramid-title-sub">
            <a:extLst>
              <a:ext uri="{FF2B5EF4-FFF2-40B4-BE49-F238E27FC236}">
                <a16:creationId xmlns:a16="http://schemas.microsoft.com/office/drawing/2014/main" id="{0C08EB7D-CAEA-97DB-F639-FEC33D0AFE96}"/>
              </a:ext>
            </a:extLst>
          </p:cNvPr>
          <p:cNvSpPr txBox="1"/>
          <p:nvPr/>
        </p:nvSpPr>
        <p:spPr>
          <a:xfrm>
            <a:off x="7086039" y="4405192"/>
            <a:ext cx="465115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五级梯队层层支撑，形成可持续的人才供给</a:t>
            </a:r>
          </a:p>
        </p:txBody>
      </p:sp>
      <p:sp>
        <p:nvSpPr>
          <p:cNvPr id="1641" name="m-s07_pyramid-lvl-1">
            <a:extLst>
              <a:ext uri="{FF2B5EF4-FFF2-40B4-BE49-F238E27FC236}">
                <a16:creationId xmlns:a16="http://schemas.microsoft.com/office/drawing/2014/main" id="{8E38CCAC-2E0C-7DDC-5AC0-4F6075882C8D}"/>
              </a:ext>
            </a:extLst>
          </p:cNvPr>
          <p:cNvSpPr/>
          <p:nvPr/>
        </p:nvSpPr>
        <p:spPr>
          <a:xfrm>
            <a:off x="6024429" y="4558792"/>
            <a:ext cx="402984" cy="163005"/>
          </a:xfrm>
          <a:custGeom>
            <a:avLst/>
            <a:gdLst/>
            <a:ahLst/>
            <a:cxnLst/>
            <a:rect l="0" t="0" r="r" b="b"/>
            <a:pathLst>
              <a:path w="402984" h="163005">
                <a:moveTo>
                  <a:pt x="57665" y="19050"/>
                </a:moveTo>
                <a:quadBezTo>
                  <a:pt x="66110" y="0"/>
                  <a:pt x="86938" y="0"/>
                </a:quadBezTo>
                <a:lnTo>
                  <a:pt x="316046" y="0"/>
                </a:lnTo>
                <a:quadBezTo>
                  <a:pt x="336874" y="0"/>
                  <a:pt x="345320" y="19050"/>
                </a:quadBezTo>
                <a:lnTo>
                  <a:pt x="400565" y="143955"/>
                </a:lnTo>
                <a:quadBezTo>
                  <a:pt x="409010" y="163005"/>
                  <a:pt x="388182" y="163005"/>
                </a:quadBezTo>
                <a:lnTo>
                  <a:pt x="14802" y="163005"/>
                </a:lnTo>
                <a:quadBezTo>
                  <a:pt x="-6026" y="163005"/>
                  <a:pt x="2420" y="143955"/>
                </a:quadBezTo>
                <a:close/>
              </a:path>
            </a:pathLst>
          </a:custGeom>
          <a:gradFill rotWithShape="1">
            <a:gsLst>
              <a:gs pos="0">
                <a:srgbClr val="2D599F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42" name="m-s07_pyramid-cn-1">
            <a:extLst>
              <a:ext uri="{FF2B5EF4-FFF2-40B4-BE49-F238E27FC236}">
                <a16:creationId xmlns:a16="http://schemas.microsoft.com/office/drawing/2014/main" id="{BED7D2E8-0F90-2179-E4FF-013705F5C75C}"/>
              </a:ext>
            </a:extLst>
          </p:cNvPr>
          <p:cNvSpPr txBox="1"/>
          <p:nvPr/>
        </p:nvSpPr>
        <p:spPr>
          <a:xfrm>
            <a:off x="6171248" y="4602921"/>
            <a:ext cx="109347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2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战略决</a:t>
            </a:r>
          </a:p>
        </p:txBody>
      </p:sp>
      <p:sp>
        <p:nvSpPr>
          <p:cNvPr id="1643" name="m-s07_pyramid-sub-1">
            <a:extLst>
              <a:ext uri="{FF2B5EF4-FFF2-40B4-BE49-F238E27FC236}">
                <a16:creationId xmlns:a16="http://schemas.microsoft.com/office/drawing/2014/main" id="{09C678CF-AD0D-5BB8-FDE5-67A2957FF17A}"/>
              </a:ext>
            </a:extLst>
          </p:cNvPr>
          <p:cNvSpPr txBox="1"/>
          <p:nvPr/>
        </p:nvSpPr>
        <p:spPr>
          <a:xfrm>
            <a:off x="6189667" y="4647409"/>
            <a:ext cx="72507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5" normalizeH="0" baseline="0" noProof="0">
                <a:ln>
                  <a:noFill/>
                </a:ln>
                <a:solidFill>
                  <a:srgbClr val="FFFFFF">
                    <a:alpha val="80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12 人</a:t>
            </a:r>
          </a:p>
        </p:txBody>
      </p:sp>
      <p:sp>
        <p:nvSpPr>
          <p:cNvPr id="1644" name="m-s07_pyramid-ln-1">
            <a:extLst>
              <a:ext uri="{FF2B5EF4-FFF2-40B4-BE49-F238E27FC236}">
                <a16:creationId xmlns:a16="http://schemas.microsoft.com/office/drawing/2014/main" id="{869D7C9D-74BE-956F-090A-942DB4A0A30E}"/>
              </a:ext>
            </a:extLst>
          </p:cNvPr>
          <p:cNvSpPr txBox="1"/>
          <p:nvPr/>
        </p:nvSpPr>
        <p:spPr>
          <a:xfrm>
            <a:off x="5457888" y="4591596"/>
            <a:ext cx="107785" cy="9112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09" b="1" i="0" u="none" strike="noStrike" kern="1200" cap="none" spc="10" normalizeH="0" baseline="0" noProof="0">
                <a:ln>
                  <a:noFill/>
                </a:ln>
                <a:solidFill>
                  <a:srgbClr val="0B3E8F">
                    <a:alpha val="8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1645" name="m-s07_pyramid-bg-1">
            <a:extLst>
              <a:ext uri="{FF2B5EF4-FFF2-40B4-BE49-F238E27FC236}">
                <a16:creationId xmlns:a16="http://schemas.microsoft.com/office/drawing/2014/main" id="{062526F6-CDBB-4FBB-73AD-7132D11F0E7C}"/>
              </a:ext>
            </a:extLst>
          </p:cNvPr>
          <p:cNvSpPr/>
          <p:nvPr/>
        </p:nvSpPr>
        <p:spPr>
          <a:xfrm>
            <a:off x="5598478" y="4632471"/>
            <a:ext cx="195262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46" name="m-s07_pyramid-bar-1">
            <a:extLst>
              <a:ext uri="{FF2B5EF4-FFF2-40B4-BE49-F238E27FC236}">
                <a16:creationId xmlns:a16="http://schemas.microsoft.com/office/drawing/2014/main" id="{4D2868C9-E45B-E07F-B9CB-EFF060E75B06}"/>
              </a:ext>
            </a:extLst>
          </p:cNvPr>
          <p:cNvSpPr/>
          <p:nvPr/>
        </p:nvSpPr>
        <p:spPr>
          <a:xfrm>
            <a:off x="5598478" y="4632471"/>
            <a:ext cx="10414" cy="13017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47" name="m-s07_pyramid-bl-1">
            <a:extLst>
              <a:ext uri="{FF2B5EF4-FFF2-40B4-BE49-F238E27FC236}">
                <a16:creationId xmlns:a16="http://schemas.microsoft.com/office/drawing/2014/main" id="{756A251C-CCB1-C622-42E0-BB92DADDE3F8}"/>
              </a:ext>
            </a:extLst>
          </p:cNvPr>
          <p:cNvSpPr txBox="1"/>
          <p:nvPr/>
        </p:nvSpPr>
        <p:spPr>
          <a:xfrm>
            <a:off x="5596212" y="4658626"/>
            <a:ext cx="89053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占比 1%</a:t>
            </a:r>
          </a:p>
        </p:txBody>
      </p:sp>
      <p:cxnSp>
        <p:nvCxnSpPr>
          <p:cNvPr id="1648" name="m-s07_pyramid-lead-1">
            <a:extLst>
              <a:ext uri="{FF2B5EF4-FFF2-40B4-BE49-F238E27FC236}">
                <a16:creationId xmlns:a16="http://schemas.microsoft.com/office/drawing/2014/main" id="{754AF158-CE53-CCF0-B059-8A5434FD1A5E}"/>
              </a:ext>
            </a:extLst>
          </p:cNvPr>
          <p:cNvCxnSpPr/>
          <p:nvPr/>
        </p:nvCxnSpPr>
        <p:spPr>
          <a:xfrm>
            <a:off x="6451644" y="4640282"/>
            <a:ext cx="334029" cy="0"/>
          </a:xfrm>
          <a:prstGeom prst="line">
            <a:avLst/>
          </a:prstGeom>
          <a:ln w="2540" cap="rnd">
            <a:solidFill>
              <a:srgbClr val="0B3E8F">
                <a:alpha val="4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49" name="m-s07_pyramid-dot-1">
            <a:extLst>
              <a:ext uri="{FF2B5EF4-FFF2-40B4-BE49-F238E27FC236}">
                <a16:creationId xmlns:a16="http://schemas.microsoft.com/office/drawing/2014/main" id="{6F288431-E13D-86C6-6A0D-E53C8E4BB54B}"/>
              </a:ext>
            </a:extLst>
          </p:cNvPr>
          <p:cNvSpPr/>
          <p:nvPr/>
        </p:nvSpPr>
        <p:spPr>
          <a:xfrm>
            <a:off x="6779165" y="4633773"/>
            <a:ext cx="13017" cy="13017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50" name="m-s07_pyramid-icon-brain">
            <a:extLst>
              <a:ext uri="{FF2B5EF4-FFF2-40B4-BE49-F238E27FC236}">
                <a16:creationId xmlns:a16="http://schemas.microsoft.com/office/drawing/2014/main" id="{C61B3DC7-9E53-020E-E2EE-FA0C15495E50}"/>
              </a:ext>
            </a:extLst>
          </p:cNvPr>
          <p:cNvSpPr/>
          <p:nvPr/>
        </p:nvSpPr>
        <p:spPr>
          <a:xfrm>
            <a:off x="6826984" y="4627370"/>
            <a:ext cx="21518" cy="20322"/>
          </a:xfrm>
          <a:custGeom>
            <a:avLst/>
            <a:gdLst/>
            <a:ahLst/>
            <a:cxnLst/>
            <a:rect l="0" t="0" r="r" b="b"/>
            <a:pathLst>
              <a:path w="21518" h="20322">
                <a:moveTo>
                  <a:pt x="10759" y="2"/>
                </a:moveTo>
                <a:lnTo>
                  <a:pt x="10759" y="20322"/>
                </a:lnTo>
                <a:moveTo>
                  <a:pt x="6822" y="2"/>
                </a:moveTo>
                <a:cubicBezTo>
                  <a:pt x="5362" y="-61"/>
                  <a:pt x="3965" y="701"/>
                  <a:pt x="3139" y="1907"/>
                </a:cubicBezTo>
                <a:cubicBezTo>
                  <a:pt x="2314" y="3177"/>
                  <a:pt x="2250" y="4701"/>
                  <a:pt x="2885" y="6035"/>
                </a:cubicBezTo>
                <a:cubicBezTo>
                  <a:pt x="1298" y="6606"/>
                  <a:pt x="218" y="7940"/>
                  <a:pt x="28" y="9591"/>
                </a:cubicBezTo>
                <a:cubicBezTo>
                  <a:pt x="-163" y="11178"/>
                  <a:pt x="599" y="12766"/>
                  <a:pt x="1933" y="13655"/>
                </a:cubicBezTo>
                <a:cubicBezTo>
                  <a:pt x="980" y="15179"/>
                  <a:pt x="1044" y="17147"/>
                  <a:pt x="2123" y="18544"/>
                </a:cubicBezTo>
                <a:cubicBezTo>
                  <a:pt x="3203" y="20005"/>
                  <a:pt x="5108" y="20576"/>
                  <a:pt x="6822" y="20005"/>
                </a:cubicBezTo>
                <a:moveTo>
                  <a:pt x="14696" y="2"/>
                </a:moveTo>
                <a:cubicBezTo>
                  <a:pt x="16157" y="-61"/>
                  <a:pt x="17554" y="701"/>
                  <a:pt x="18379" y="1907"/>
                </a:cubicBezTo>
                <a:cubicBezTo>
                  <a:pt x="19205" y="3177"/>
                  <a:pt x="19268" y="4701"/>
                  <a:pt x="18633" y="6035"/>
                </a:cubicBezTo>
                <a:cubicBezTo>
                  <a:pt x="20221" y="6606"/>
                  <a:pt x="21300" y="7940"/>
                  <a:pt x="21491" y="9591"/>
                </a:cubicBezTo>
                <a:cubicBezTo>
                  <a:pt x="21681" y="11178"/>
                  <a:pt x="20919" y="12766"/>
                  <a:pt x="19586" y="13655"/>
                </a:cubicBezTo>
                <a:cubicBezTo>
                  <a:pt x="20538" y="15179"/>
                  <a:pt x="20475" y="17147"/>
                  <a:pt x="19395" y="18544"/>
                </a:cubicBezTo>
                <a:cubicBezTo>
                  <a:pt x="18316" y="20005"/>
                  <a:pt x="16411" y="20576"/>
                  <a:pt x="14696" y="20005"/>
                </a:cubicBezTo>
              </a:path>
            </a:pathLst>
          </a:custGeom>
          <a:noFill/>
          <a:ln w="25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51" name="m-s07_pyramid-rn-1">
            <a:extLst>
              <a:ext uri="{FF2B5EF4-FFF2-40B4-BE49-F238E27FC236}">
                <a16:creationId xmlns:a16="http://schemas.microsoft.com/office/drawing/2014/main" id="{B3D5AFEF-D14C-AA17-4E21-67541193D984}"/>
              </a:ext>
            </a:extLst>
          </p:cNvPr>
          <p:cNvSpPr txBox="1"/>
          <p:nvPr/>
        </p:nvSpPr>
        <p:spPr>
          <a:xfrm>
            <a:off x="6872891" y="4594883"/>
            <a:ext cx="199819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战略决策层</a:t>
            </a:r>
          </a:p>
        </p:txBody>
      </p:sp>
      <p:sp>
        <p:nvSpPr>
          <p:cNvPr id="1652" name="m-s07_pyramid-rp-1">
            <a:extLst>
              <a:ext uri="{FF2B5EF4-FFF2-40B4-BE49-F238E27FC236}">
                <a16:creationId xmlns:a16="http://schemas.microsoft.com/office/drawing/2014/main" id="{4E882785-A2D0-9BBC-205D-3B7CE1148A25}"/>
              </a:ext>
            </a:extLst>
          </p:cNvPr>
          <p:cNvSpPr txBox="1"/>
          <p:nvPr/>
        </p:nvSpPr>
        <p:spPr>
          <a:xfrm>
            <a:off x="6874062" y="4645993"/>
            <a:ext cx="276817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把握方向，决策重大事项</a:t>
            </a:r>
          </a:p>
        </p:txBody>
      </p:sp>
      <p:sp>
        <p:nvSpPr>
          <p:cNvPr id="1653" name="m-s07_pyramid-rc-1">
            <a:extLst>
              <a:ext uri="{FF2B5EF4-FFF2-40B4-BE49-F238E27FC236}">
                <a16:creationId xmlns:a16="http://schemas.microsoft.com/office/drawing/2014/main" id="{DB2B8548-7BF5-DBE5-5276-4388752A2120}"/>
              </a:ext>
            </a:extLst>
          </p:cNvPr>
          <p:cNvSpPr txBox="1"/>
          <p:nvPr/>
        </p:nvSpPr>
        <p:spPr>
          <a:xfrm>
            <a:off x="7472998" y="4599862"/>
            <a:ext cx="80188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12</a:t>
            </a:r>
          </a:p>
        </p:txBody>
      </p:sp>
      <p:sp>
        <p:nvSpPr>
          <p:cNvPr id="1654" name="m-s07_pyramid-lvl-2">
            <a:extLst>
              <a:ext uri="{FF2B5EF4-FFF2-40B4-BE49-F238E27FC236}">
                <a16:creationId xmlns:a16="http://schemas.microsoft.com/office/drawing/2014/main" id="{56230CF5-BED1-8BB2-0FF4-7224F6D6CF4F}"/>
              </a:ext>
            </a:extLst>
          </p:cNvPr>
          <p:cNvSpPr/>
          <p:nvPr/>
        </p:nvSpPr>
        <p:spPr>
          <a:xfrm>
            <a:off x="5943552" y="4734814"/>
            <a:ext cx="564737" cy="162941"/>
          </a:xfrm>
          <a:custGeom>
            <a:avLst/>
            <a:gdLst/>
            <a:ahLst/>
            <a:cxnLst/>
            <a:rect l="0" t="0" r="r" b="b"/>
            <a:pathLst>
              <a:path w="564737" h="162941">
                <a:moveTo>
                  <a:pt x="63103" y="11875"/>
                </a:moveTo>
                <a:quadBezTo>
                  <a:pt x="68374" y="0"/>
                  <a:pt x="81391" y="0"/>
                </a:quadBezTo>
                <a:lnTo>
                  <a:pt x="483346" y="0"/>
                </a:lnTo>
                <a:quadBezTo>
                  <a:pt x="496364" y="0"/>
                  <a:pt x="501634" y="11875"/>
                </a:quadBezTo>
                <a:lnTo>
                  <a:pt x="563229" y="151066"/>
                </a:lnTo>
                <a:quadBezTo>
                  <a:pt x="568500" y="162941"/>
                  <a:pt x="555482" y="162941"/>
                </a:quadBezTo>
                <a:lnTo>
                  <a:pt x="9255" y="162941"/>
                </a:lnTo>
                <a:quadBezTo>
                  <a:pt x="-3762" y="162941"/>
                  <a:pt x="1508" y="151066"/>
                </a:quadBezTo>
                <a:close/>
              </a:path>
            </a:pathLst>
          </a:custGeom>
          <a:gradFill rotWithShape="1">
            <a:gsLst>
              <a:gs pos="0">
                <a:srgbClr val="3B71B4"/>
              </a:gs>
              <a:gs pos="100000">
                <a:srgbClr val="1B5AA8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55" name="m-s07_pyramid-cn-2">
            <a:extLst>
              <a:ext uri="{FF2B5EF4-FFF2-40B4-BE49-F238E27FC236}">
                <a16:creationId xmlns:a16="http://schemas.microsoft.com/office/drawing/2014/main" id="{728D8226-0034-12D4-015B-FF6D6EF7FC3C}"/>
              </a:ext>
            </a:extLst>
          </p:cNvPr>
          <p:cNvSpPr txBox="1"/>
          <p:nvPr/>
        </p:nvSpPr>
        <p:spPr>
          <a:xfrm>
            <a:off x="6129461" y="4771491"/>
            <a:ext cx="192919" cy="523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40" b="1" i="0" u="none" strike="noStrike" kern="1200" cap="none" spc="26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中层管理者</a:t>
            </a:r>
          </a:p>
        </p:txBody>
      </p:sp>
      <p:sp>
        <p:nvSpPr>
          <p:cNvPr id="1656" name="m-s07_pyramid-sub-2">
            <a:extLst>
              <a:ext uri="{FF2B5EF4-FFF2-40B4-BE49-F238E27FC236}">
                <a16:creationId xmlns:a16="http://schemas.microsoft.com/office/drawing/2014/main" id="{FA1F5BF9-2A44-243E-6B4F-C6D888830819}"/>
              </a:ext>
            </a:extLst>
          </p:cNvPr>
          <p:cNvSpPr txBox="1"/>
          <p:nvPr/>
        </p:nvSpPr>
        <p:spPr>
          <a:xfrm>
            <a:off x="6131043" y="4825205"/>
            <a:ext cx="189756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6" normalizeH="0" baseline="0" noProof="0">
                <a:ln>
                  <a:noFill/>
                </a:ln>
                <a:solidFill>
                  <a:srgbClr val="FFFFFF">
                    <a:alpha val="7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86 人 · 占比 7%</a:t>
            </a:r>
          </a:p>
        </p:txBody>
      </p:sp>
      <p:sp>
        <p:nvSpPr>
          <p:cNvPr id="1657" name="m-s07_pyramid-ln-2">
            <a:extLst>
              <a:ext uri="{FF2B5EF4-FFF2-40B4-BE49-F238E27FC236}">
                <a16:creationId xmlns:a16="http://schemas.microsoft.com/office/drawing/2014/main" id="{C1C64AAA-7A91-77CF-05E7-CF2A9C8C8396}"/>
              </a:ext>
            </a:extLst>
          </p:cNvPr>
          <p:cNvSpPr txBox="1"/>
          <p:nvPr/>
        </p:nvSpPr>
        <p:spPr>
          <a:xfrm>
            <a:off x="5457888" y="4767593"/>
            <a:ext cx="107785" cy="9112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09" b="1" i="0" u="none" strike="noStrike" kern="1200" cap="none" spc="10" normalizeH="0" baseline="0" noProof="0">
                <a:ln>
                  <a:noFill/>
                </a:ln>
                <a:solidFill>
                  <a:srgbClr val="1B5AA8">
                    <a:alpha val="8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1658" name="m-s07_pyramid-bg-2">
            <a:extLst>
              <a:ext uri="{FF2B5EF4-FFF2-40B4-BE49-F238E27FC236}">
                <a16:creationId xmlns:a16="http://schemas.microsoft.com/office/drawing/2014/main" id="{3402FEA7-CD2F-6861-CA42-EF1A296C6A33}"/>
              </a:ext>
            </a:extLst>
          </p:cNvPr>
          <p:cNvSpPr/>
          <p:nvPr/>
        </p:nvSpPr>
        <p:spPr>
          <a:xfrm>
            <a:off x="5598478" y="4808468"/>
            <a:ext cx="195262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59" name="m-s07_pyramid-bar-2">
            <a:extLst>
              <a:ext uri="{FF2B5EF4-FFF2-40B4-BE49-F238E27FC236}">
                <a16:creationId xmlns:a16="http://schemas.microsoft.com/office/drawing/2014/main" id="{AD996F58-CDFF-7B56-2530-5FF262131A04}"/>
              </a:ext>
            </a:extLst>
          </p:cNvPr>
          <p:cNvSpPr/>
          <p:nvPr/>
        </p:nvSpPr>
        <p:spPr>
          <a:xfrm>
            <a:off x="5598478" y="4808468"/>
            <a:ext cx="31787" cy="13017"/>
          </a:xfrm>
          <a:prstGeom prst="roundRect">
            <a:avLst>
              <a:gd name="adj" fmla="val 50000"/>
            </a:avLst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60" name="m-s07_pyramid-bl-2">
            <a:extLst>
              <a:ext uri="{FF2B5EF4-FFF2-40B4-BE49-F238E27FC236}">
                <a16:creationId xmlns:a16="http://schemas.microsoft.com/office/drawing/2014/main" id="{86CE9495-9670-BD4A-8F19-5A76612C8BBF}"/>
              </a:ext>
            </a:extLst>
          </p:cNvPr>
          <p:cNvSpPr txBox="1"/>
          <p:nvPr/>
        </p:nvSpPr>
        <p:spPr>
          <a:xfrm>
            <a:off x="5596212" y="4834623"/>
            <a:ext cx="89053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占比 7%</a:t>
            </a:r>
          </a:p>
        </p:txBody>
      </p:sp>
      <p:cxnSp>
        <p:nvCxnSpPr>
          <p:cNvPr id="1661" name="m-s07_pyramid-lead-2">
            <a:extLst>
              <a:ext uri="{FF2B5EF4-FFF2-40B4-BE49-F238E27FC236}">
                <a16:creationId xmlns:a16="http://schemas.microsoft.com/office/drawing/2014/main" id="{96C5C1B4-F6DF-505B-F0E7-1FB4A543D2A2}"/>
              </a:ext>
            </a:extLst>
          </p:cNvPr>
          <p:cNvCxnSpPr/>
          <p:nvPr/>
        </p:nvCxnSpPr>
        <p:spPr>
          <a:xfrm>
            <a:off x="6530270" y="4816278"/>
            <a:ext cx="255403" cy="0"/>
          </a:xfrm>
          <a:prstGeom prst="line">
            <a:avLst/>
          </a:prstGeom>
          <a:ln w="2540" cap="rnd">
            <a:solidFill>
              <a:srgbClr val="1B5AA8">
                <a:alpha val="4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62" name="m-s07_pyramid-dot-2">
            <a:extLst>
              <a:ext uri="{FF2B5EF4-FFF2-40B4-BE49-F238E27FC236}">
                <a16:creationId xmlns:a16="http://schemas.microsoft.com/office/drawing/2014/main" id="{90EF4BEF-B305-F834-C59E-B800722EBD41}"/>
              </a:ext>
            </a:extLst>
          </p:cNvPr>
          <p:cNvSpPr/>
          <p:nvPr/>
        </p:nvSpPr>
        <p:spPr>
          <a:xfrm>
            <a:off x="6779165" y="4809769"/>
            <a:ext cx="13017" cy="13017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63" name="m-s07_pyramid-icon-target">
            <a:extLst>
              <a:ext uri="{FF2B5EF4-FFF2-40B4-BE49-F238E27FC236}">
                <a16:creationId xmlns:a16="http://schemas.microsoft.com/office/drawing/2014/main" id="{7E58DC63-5C49-12AE-65AF-1E84F63F02C6}"/>
              </a:ext>
            </a:extLst>
          </p:cNvPr>
          <p:cNvSpPr/>
          <p:nvPr/>
        </p:nvSpPr>
        <p:spPr>
          <a:xfrm>
            <a:off x="6837744" y="4800600"/>
            <a:ext cx="10033" cy="13081"/>
          </a:xfrm>
          <a:custGeom>
            <a:avLst/>
            <a:gdLst/>
            <a:ahLst/>
            <a:cxnLst/>
            <a:rect l="0" t="0" r="r" b="b"/>
            <a:pathLst>
              <a:path w="10033" h="13081">
                <a:moveTo>
                  <a:pt x="0" y="7620"/>
                </a:moveTo>
                <a:lnTo>
                  <a:pt x="0" y="0"/>
                </a:lnTo>
                <a:moveTo>
                  <a:pt x="0" y="13081"/>
                </a:moveTo>
                <a:lnTo>
                  <a:pt x="10033" y="3048"/>
                </a:lnTo>
              </a:path>
            </a:pathLst>
          </a:custGeom>
          <a:noFill/>
          <a:ln w="254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64" name="m-s07_pyramid-icon-target">
            <a:extLst>
              <a:ext uri="{FF2B5EF4-FFF2-40B4-BE49-F238E27FC236}">
                <a16:creationId xmlns:a16="http://schemas.microsoft.com/office/drawing/2014/main" id="{52C9B751-DFB3-367B-7AEF-6A60734F3D6B}"/>
              </a:ext>
            </a:extLst>
          </p:cNvPr>
          <p:cNvSpPr/>
          <p:nvPr/>
        </p:nvSpPr>
        <p:spPr>
          <a:xfrm>
            <a:off x="6824683" y="4800614"/>
            <a:ext cx="26122" cy="26122"/>
          </a:xfrm>
          <a:prstGeom prst="ellipse">
            <a:avLst/>
          </a:prstGeom>
          <a:noFill/>
          <a:ln w="254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65" name="m-s07_pyramid-icon-target">
            <a:extLst>
              <a:ext uri="{FF2B5EF4-FFF2-40B4-BE49-F238E27FC236}">
                <a16:creationId xmlns:a16="http://schemas.microsoft.com/office/drawing/2014/main" id="{8CB344AD-60BE-F4E5-84AB-AAB9A5640271}"/>
              </a:ext>
            </a:extLst>
          </p:cNvPr>
          <p:cNvSpPr/>
          <p:nvPr/>
        </p:nvSpPr>
        <p:spPr>
          <a:xfrm>
            <a:off x="6831061" y="4806992"/>
            <a:ext cx="13365" cy="13365"/>
          </a:xfrm>
          <a:prstGeom prst="ellipse">
            <a:avLst/>
          </a:prstGeom>
          <a:noFill/>
          <a:ln w="254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66" name="m-s07_pyramid-rn-2">
            <a:extLst>
              <a:ext uri="{FF2B5EF4-FFF2-40B4-BE49-F238E27FC236}">
                <a16:creationId xmlns:a16="http://schemas.microsoft.com/office/drawing/2014/main" id="{D8A6FE52-F7C4-8E3F-823E-140609B8A25D}"/>
              </a:ext>
            </a:extLst>
          </p:cNvPr>
          <p:cNvSpPr txBox="1"/>
          <p:nvPr/>
        </p:nvSpPr>
        <p:spPr>
          <a:xfrm>
            <a:off x="6872891" y="4770880"/>
            <a:ext cx="199819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中层管理者</a:t>
            </a:r>
          </a:p>
        </p:txBody>
      </p:sp>
      <p:sp>
        <p:nvSpPr>
          <p:cNvPr id="1667" name="m-s07_pyramid-rp-2">
            <a:extLst>
              <a:ext uri="{FF2B5EF4-FFF2-40B4-BE49-F238E27FC236}">
                <a16:creationId xmlns:a16="http://schemas.microsoft.com/office/drawing/2014/main" id="{62BB79AB-2945-2D2F-416C-551A62A31CF8}"/>
              </a:ext>
            </a:extLst>
          </p:cNvPr>
          <p:cNvSpPr txBox="1"/>
          <p:nvPr/>
        </p:nvSpPr>
        <p:spPr>
          <a:xfrm>
            <a:off x="6874062" y="4821990"/>
            <a:ext cx="276817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承接目标，带队达成结果</a:t>
            </a:r>
          </a:p>
        </p:txBody>
      </p:sp>
      <p:sp>
        <p:nvSpPr>
          <p:cNvPr id="1668" name="m-s07_pyramid-rc-2">
            <a:extLst>
              <a:ext uri="{FF2B5EF4-FFF2-40B4-BE49-F238E27FC236}">
                <a16:creationId xmlns:a16="http://schemas.microsoft.com/office/drawing/2014/main" id="{E3870AAD-FC5B-EE92-4F05-E2D4C98C115F}"/>
              </a:ext>
            </a:extLst>
          </p:cNvPr>
          <p:cNvSpPr txBox="1"/>
          <p:nvPr/>
        </p:nvSpPr>
        <p:spPr>
          <a:xfrm>
            <a:off x="7472998" y="4775859"/>
            <a:ext cx="80188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5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86</a:t>
            </a:r>
          </a:p>
        </p:txBody>
      </p:sp>
      <p:sp>
        <p:nvSpPr>
          <p:cNvPr id="1669" name="m-s07_pyramid-lvl-3">
            <a:extLst>
              <a:ext uri="{FF2B5EF4-FFF2-40B4-BE49-F238E27FC236}">
                <a16:creationId xmlns:a16="http://schemas.microsoft.com/office/drawing/2014/main" id="{68B1C7C8-2F3E-249D-6F75-482BE5732C54}"/>
              </a:ext>
            </a:extLst>
          </p:cNvPr>
          <p:cNvSpPr/>
          <p:nvPr/>
        </p:nvSpPr>
        <p:spPr>
          <a:xfrm>
            <a:off x="5864939" y="4910772"/>
            <a:ext cx="721963" cy="163004"/>
          </a:xfrm>
          <a:custGeom>
            <a:avLst/>
            <a:gdLst/>
            <a:ahLst/>
            <a:cxnLst/>
            <a:rect l="0" t="0" r="r" b="b"/>
            <a:pathLst>
              <a:path w="721963" h="163004">
                <a:moveTo>
                  <a:pt x="63103" y="11938"/>
                </a:moveTo>
                <a:quadBezTo>
                  <a:pt x="68374" y="0"/>
                  <a:pt x="81391" y="0"/>
                </a:quadBezTo>
                <a:lnTo>
                  <a:pt x="640572" y="0"/>
                </a:lnTo>
                <a:quadBezTo>
                  <a:pt x="653590" y="0"/>
                  <a:pt x="658860" y="11938"/>
                </a:quadBezTo>
                <a:lnTo>
                  <a:pt x="720455" y="151066"/>
                </a:lnTo>
                <a:quadBezTo>
                  <a:pt x="725726" y="163004"/>
                  <a:pt x="712708" y="163004"/>
                </a:quadBezTo>
                <a:lnTo>
                  <a:pt x="9255" y="163004"/>
                </a:lnTo>
                <a:quadBezTo>
                  <a:pt x="-3762" y="163004"/>
                  <a:pt x="1508" y="151066"/>
                </a:quadBezTo>
                <a:close/>
              </a:path>
            </a:pathLst>
          </a:custGeom>
          <a:gradFill rotWithShape="1">
            <a:gsLst>
              <a:gs pos="0">
                <a:srgbClr val="4B8ACB"/>
              </a:gs>
              <a:gs pos="100000">
                <a:srgbClr val="2E77C2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70" name="m-s07_pyramid-cn-3">
            <a:extLst>
              <a:ext uri="{FF2B5EF4-FFF2-40B4-BE49-F238E27FC236}">
                <a16:creationId xmlns:a16="http://schemas.microsoft.com/office/drawing/2014/main" id="{B5F7ACCF-C35B-CBF3-996E-D565A119C5FE}"/>
              </a:ext>
            </a:extLst>
          </p:cNvPr>
          <p:cNvSpPr txBox="1"/>
          <p:nvPr/>
        </p:nvSpPr>
        <p:spPr>
          <a:xfrm>
            <a:off x="6142869" y="4945880"/>
            <a:ext cx="166103" cy="546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50" b="1" i="0" u="none" strike="noStrike" kern="1200" cap="none" spc="26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资深专家</a:t>
            </a:r>
          </a:p>
        </p:txBody>
      </p:sp>
      <p:sp>
        <p:nvSpPr>
          <p:cNvPr id="1671" name="m-s07_pyramid-sub-3">
            <a:extLst>
              <a:ext uri="{FF2B5EF4-FFF2-40B4-BE49-F238E27FC236}">
                <a16:creationId xmlns:a16="http://schemas.microsoft.com/office/drawing/2014/main" id="{317604C4-C7A6-6856-6893-4A752EED6748}"/>
              </a:ext>
            </a:extLst>
          </p:cNvPr>
          <p:cNvSpPr txBox="1"/>
          <p:nvPr/>
        </p:nvSpPr>
        <p:spPr>
          <a:xfrm>
            <a:off x="6118963" y="5001202"/>
            <a:ext cx="213917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6" normalizeH="0" baseline="0" noProof="0">
                <a:ln>
                  <a:noFill/>
                </a:ln>
                <a:solidFill>
                  <a:srgbClr val="FFFFFF">
                    <a:alpha val="7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164 人 · 占比 13%</a:t>
            </a:r>
          </a:p>
        </p:txBody>
      </p:sp>
      <p:sp>
        <p:nvSpPr>
          <p:cNvPr id="1672" name="m-s07_pyramid-ln-3">
            <a:extLst>
              <a:ext uri="{FF2B5EF4-FFF2-40B4-BE49-F238E27FC236}">
                <a16:creationId xmlns:a16="http://schemas.microsoft.com/office/drawing/2014/main" id="{FA93FBC4-3285-D28F-CB01-C3588D3BEF5D}"/>
              </a:ext>
            </a:extLst>
          </p:cNvPr>
          <p:cNvSpPr txBox="1"/>
          <p:nvPr/>
        </p:nvSpPr>
        <p:spPr>
          <a:xfrm>
            <a:off x="5457888" y="4943589"/>
            <a:ext cx="107785" cy="9112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09" b="1" i="0" u="none" strike="noStrike" kern="1200" cap="none" spc="10" normalizeH="0" baseline="0" noProof="0">
                <a:ln>
                  <a:noFill/>
                </a:ln>
                <a:solidFill>
                  <a:srgbClr val="2E77C2">
                    <a:alpha val="8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1673" name="m-s07_pyramid-bg-3">
            <a:extLst>
              <a:ext uri="{FF2B5EF4-FFF2-40B4-BE49-F238E27FC236}">
                <a16:creationId xmlns:a16="http://schemas.microsoft.com/office/drawing/2014/main" id="{DE0F1EB8-E3C8-CA35-3EB5-A0302D62F5E0}"/>
              </a:ext>
            </a:extLst>
          </p:cNvPr>
          <p:cNvSpPr/>
          <p:nvPr/>
        </p:nvSpPr>
        <p:spPr>
          <a:xfrm>
            <a:off x="5598478" y="4984464"/>
            <a:ext cx="195262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74" name="m-s07_pyramid-bar-3">
            <a:extLst>
              <a:ext uri="{FF2B5EF4-FFF2-40B4-BE49-F238E27FC236}">
                <a16:creationId xmlns:a16="http://schemas.microsoft.com/office/drawing/2014/main" id="{64F8B633-1920-3199-13B3-E1606CB3C277}"/>
              </a:ext>
            </a:extLst>
          </p:cNvPr>
          <p:cNvSpPr/>
          <p:nvPr/>
        </p:nvSpPr>
        <p:spPr>
          <a:xfrm>
            <a:off x="5598478" y="4984464"/>
            <a:ext cx="59033" cy="13017"/>
          </a:xfrm>
          <a:prstGeom prst="roundRect">
            <a:avLst>
              <a:gd name="adj" fmla="val 50000"/>
            </a:avLst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75" name="m-s07_pyramid-bl-3">
            <a:extLst>
              <a:ext uri="{FF2B5EF4-FFF2-40B4-BE49-F238E27FC236}">
                <a16:creationId xmlns:a16="http://schemas.microsoft.com/office/drawing/2014/main" id="{6091E365-1974-76CA-57FE-FA60B31461F7}"/>
              </a:ext>
            </a:extLst>
          </p:cNvPr>
          <p:cNvSpPr txBox="1"/>
          <p:nvPr/>
        </p:nvSpPr>
        <p:spPr>
          <a:xfrm>
            <a:off x="5596212" y="5010620"/>
            <a:ext cx="100144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占比 13%</a:t>
            </a:r>
          </a:p>
        </p:txBody>
      </p:sp>
      <p:cxnSp>
        <p:nvCxnSpPr>
          <p:cNvPr id="1676" name="m-s07_pyramid-lead-3">
            <a:extLst>
              <a:ext uri="{FF2B5EF4-FFF2-40B4-BE49-F238E27FC236}">
                <a16:creationId xmlns:a16="http://schemas.microsoft.com/office/drawing/2014/main" id="{F54C2747-196B-FD40-7921-B4E65844901A}"/>
              </a:ext>
            </a:extLst>
          </p:cNvPr>
          <p:cNvCxnSpPr/>
          <p:nvPr/>
        </p:nvCxnSpPr>
        <p:spPr>
          <a:xfrm>
            <a:off x="6608896" y="4992275"/>
            <a:ext cx="176777" cy="0"/>
          </a:xfrm>
          <a:prstGeom prst="line">
            <a:avLst/>
          </a:prstGeom>
          <a:ln w="2540" cap="rnd">
            <a:solidFill>
              <a:srgbClr val="2E77C2">
                <a:alpha val="4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7" name="m-s07_pyramid-dot-3">
            <a:extLst>
              <a:ext uri="{FF2B5EF4-FFF2-40B4-BE49-F238E27FC236}">
                <a16:creationId xmlns:a16="http://schemas.microsoft.com/office/drawing/2014/main" id="{F0ECB458-6B5F-5004-32DA-67EAE29DA569}"/>
              </a:ext>
            </a:extLst>
          </p:cNvPr>
          <p:cNvSpPr/>
          <p:nvPr/>
        </p:nvSpPr>
        <p:spPr>
          <a:xfrm>
            <a:off x="6779165" y="4985766"/>
            <a:ext cx="13017" cy="13017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78" name="m-s07_pyramid-icon-award">
            <a:extLst>
              <a:ext uri="{FF2B5EF4-FFF2-40B4-BE49-F238E27FC236}">
                <a16:creationId xmlns:a16="http://schemas.microsoft.com/office/drawing/2014/main" id="{6C059CA8-C298-65A4-B4B3-2DA5AFD30AE3}"/>
              </a:ext>
            </a:extLst>
          </p:cNvPr>
          <p:cNvSpPr/>
          <p:nvPr/>
        </p:nvSpPr>
        <p:spPr>
          <a:xfrm>
            <a:off x="6831394" y="4993640"/>
            <a:ext cx="12700" cy="8763"/>
          </a:xfrm>
          <a:custGeom>
            <a:avLst/>
            <a:gdLst/>
            <a:ahLst/>
            <a:cxnLst/>
            <a:rect l="0" t="0" r="r" b="b"/>
            <a:pathLst>
              <a:path w="12700" h="8763">
                <a:moveTo>
                  <a:pt x="2413" y="0"/>
                </a:moveTo>
                <a:lnTo>
                  <a:pt x="0" y="8763"/>
                </a:lnTo>
                <a:lnTo>
                  <a:pt x="6350" y="5461"/>
                </a:lnTo>
                <a:lnTo>
                  <a:pt x="12700" y="8763"/>
                </a:lnTo>
                <a:lnTo>
                  <a:pt x="10287" y="0"/>
                </a:lnTo>
              </a:path>
            </a:pathLst>
          </a:custGeom>
          <a:noFill/>
          <a:ln w="254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79" name="m-s07_pyramid-icon-award">
            <a:extLst>
              <a:ext uri="{FF2B5EF4-FFF2-40B4-BE49-F238E27FC236}">
                <a16:creationId xmlns:a16="http://schemas.microsoft.com/office/drawing/2014/main" id="{772DD741-A4D6-7570-7191-2E01337987EA}"/>
              </a:ext>
            </a:extLst>
          </p:cNvPr>
          <p:cNvSpPr/>
          <p:nvPr/>
        </p:nvSpPr>
        <p:spPr>
          <a:xfrm>
            <a:off x="6829239" y="4977218"/>
            <a:ext cx="17010" cy="17010"/>
          </a:xfrm>
          <a:prstGeom prst="ellipse">
            <a:avLst/>
          </a:prstGeom>
          <a:noFill/>
          <a:ln w="254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80" name="m-s07_pyramid-rn-3">
            <a:extLst>
              <a:ext uri="{FF2B5EF4-FFF2-40B4-BE49-F238E27FC236}">
                <a16:creationId xmlns:a16="http://schemas.microsoft.com/office/drawing/2014/main" id="{65C14D8A-09A9-B474-6C1D-B9D0DEE8E7A7}"/>
              </a:ext>
            </a:extLst>
          </p:cNvPr>
          <p:cNvSpPr txBox="1"/>
          <p:nvPr/>
        </p:nvSpPr>
        <p:spPr>
          <a:xfrm>
            <a:off x="6872891" y="4946876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资深专家</a:t>
            </a:r>
          </a:p>
        </p:txBody>
      </p:sp>
      <p:sp>
        <p:nvSpPr>
          <p:cNvPr id="1681" name="m-s07_pyramid-rp-3">
            <a:extLst>
              <a:ext uri="{FF2B5EF4-FFF2-40B4-BE49-F238E27FC236}">
                <a16:creationId xmlns:a16="http://schemas.microsoft.com/office/drawing/2014/main" id="{F1938D4D-BF00-321A-68C9-276253BB3AA3}"/>
              </a:ext>
            </a:extLst>
          </p:cNvPr>
          <p:cNvSpPr txBox="1"/>
          <p:nvPr/>
        </p:nvSpPr>
        <p:spPr>
          <a:xfrm>
            <a:off x="6874062" y="4997986"/>
            <a:ext cx="276817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攻坚技术难题与标准建设</a:t>
            </a:r>
          </a:p>
        </p:txBody>
      </p:sp>
      <p:sp>
        <p:nvSpPr>
          <p:cNvPr id="1682" name="m-s07_pyramid-rc-3">
            <a:extLst>
              <a:ext uri="{FF2B5EF4-FFF2-40B4-BE49-F238E27FC236}">
                <a16:creationId xmlns:a16="http://schemas.microsoft.com/office/drawing/2014/main" id="{730373B0-7612-5D24-6EF3-305EE3E8D6A9}"/>
              </a:ext>
            </a:extLst>
          </p:cNvPr>
          <p:cNvSpPr txBox="1"/>
          <p:nvPr/>
        </p:nvSpPr>
        <p:spPr>
          <a:xfrm>
            <a:off x="7450477" y="4951855"/>
            <a:ext cx="102708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5" normalizeH="0" baseline="0" noProof="0">
                <a:ln>
                  <a:noFill/>
                </a:ln>
                <a:solidFill>
                  <a:srgbClr val="2E77C2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164</a:t>
            </a:r>
          </a:p>
        </p:txBody>
      </p:sp>
      <p:sp>
        <p:nvSpPr>
          <p:cNvPr id="1683" name="m-s07_pyramid-lvl-4">
            <a:extLst>
              <a:ext uri="{FF2B5EF4-FFF2-40B4-BE49-F238E27FC236}">
                <a16:creationId xmlns:a16="http://schemas.microsoft.com/office/drawing/2014/main" id="{578304A3-A28A-0002-1AF8-B8005744D1B7}"/>
              </a:ext>
            </a:extLst>
          </p:cNvPr>
          <p:cNvSpPr/>
          <p:nvPr/>
        </p:nvSpPr>
        <p:spPr>
          <a:xfrm>
            <a:off x="5786326" y="5086794"/>
            <a:ext cx="879189" cy="162941"/>
          </a:xfrm>
          <a:custGeom>
            <a:avLst/>
            <a:gdLst/>
            <a:ahLst/>
            <a:cxnLst/>
            <a:rect l="0" t="0" r="r" b="b"/>
            <a:pathLst>
              <a:path w="879189" h="162941">
                <a:moveTo>
                  <a:pt x="63040" y="11875"/>
                </a:moveTo>
                <a:quadBezTo>
                  <a:pt x="68310" y="0"/>
                  <a:pt x="81328" y="0"/>
                </a:quadBezTo>
                <a:lnTo>
                  <a:pt x="797862" y="0"/>
                </a:lnTo>
                <a:quadBezTo>
                  <a:pt x="810879" y="0"/>
                  <a:pt x="816150" y="11875"/>
                </a:quadBezTo>
                <a:lnTo>
                  <a:pt x="877681" y="151066"/>
                </a:lnTo>
                <a:quadBezTo>
                  <a:pt x="882952" y="162941"/>
                  <a:pt x="869934" y="162941"/>
                </a:quadBezTo>
                <a:lnTo>
                  <a:pt x="9255" y="162941"/>
                </a:lnTo>
                <a:quadBezTo>
                  <a:pt x="-3762" y="162941"/>
                  <a:pt x="1508" y="151066"/>
                </a:quadBezTo>
                <a:close/>
              </a:path>
            </a:pathLst>
          </a:custGeom>
          <a:gradFill rotWithShape="1">
            <a:gsLst>
              <a:gs pos="0">
                <a:srgbClr val="5596D4"/>
              </a:gs>
              <a:gs pos="100000">
                <a:srgbClr val="3985CD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84" name="m-s07_pyramid-cn-4">
            <a:extLst>
              <a:ext uri="{FF2B5EF4-FFF2-40B4-BE49-F238E27FC236}">
                <a16:creationId xmlns:a16="http://schemas.microsoft.com/office/drawing/2014/main" id="{5F4D725A-19CB-2B4A-C291-47779698DCA2}"/>
              </a:ext>
            </a:extLst>
          </p:cNvPr>
          <p:cNvSpPr txBox="1"/>
          <p:nvPr/>
        </p:nvSpPr>
        <p:spPr>
          <a:xfrm>
            <a:off x="6139680" y="5120269"/>
            <a:ext cx="172482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6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骨干员工</a:t>
            </a:r>
          </a:p>
        </p:txBody>
      </p:sp>
      <p:sp>
        <p:nvSpPr>
          <p:cNvPr id="1685" name="m-s07_pyramid-sub-4">
            <a:extLst>
              <a:ext uri="{FF2B5EF4-FFF2-40B4-BE49-F238E27FC236}">
                <a16:creationId xmlns:a16="http://schemas.microsoft.com/office/drawing/2014/main" id="{B93245D4-4C5E-5887-5767-0344A31F03AE}"/>
              </a:ext>
            </a:extLst>
          </p:cNvPr>
          <p:cNvSpPr txBox="1"/>
          <p:nvPr/>
        </p:nvSpPr>
        <p:spPr>
          <a:xfrm>
            <a:off x="6118963" y="5177198"/>
            <a:ext cx="213917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6" normalizeH="0" baseline="0" noProof="0">
                <a:ln>
                  <a:noFill/>
                </a:ln>
                <a:solidFill>
                  <a:srgbClr val="FFFFFF">
                    <a:alpha val="7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462 人 · 占比 36%</a:t>
            </a:r>
          </a:p>
        </p:txBody>
      </p:sp>
      <p:sp>
        <p:nvSpPr>
          <p:cNvPr id="1686" name="m-s07_pyramid-ln-4">
            <a:extLst>
              <a:ext uri="{FF2B5EF4-FFF2-40B4-BE49-F238E27FC236}">
                <a16:creationId xmlns:a16="http://schemas.microsoft.com/office/drawing/2014/main" id="{7FE96826-E0CC-61C7-E586-5E536E09A488}"/>
              </a:ext>
            </a:extLst>
          </p:cNvPr>
          <p:cNvSpPr txBox="1"/>
          <p:nvPr/>
        </p:nvSpPr>
        <p:spPr>
          <a:xfrm>
            <a:off x="5457888" y="5119586"/>
            <a:ext cx="107785" cy="9112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09" b="1" i="0" u="none" strike="noStrike" kern="1200" cap="none" spc="10" normalizeH="0" baseline="0" noProof="0">
                <a:ln>
                  <a:noFill/>
                </a:ln>
                <a:solidFill>
                  <a:srgbClr val="3985CD">
                    <a:alpha val="8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1687" name="m-s07_pyramid-bg-4">
            <a:extLst>
              <a:ext uri="{FF2B5EF4-FFF2-40B4-BE49-F238E27FC236}">
                <a16:creationId xmlns:a16="http://schemas.microsoft.com/office/drawing/2014/main" id="{2018C953-CCA1-A5D2-5263-F50440D58DE3}"/>
              </a:ext>
            </a:extLst>
          </p:cNvPr>
          <p:cNvSpPr/>
          <p:nvPr/>
        </p:nvSpPr>
        <p:spPr>
          <a:xfrm>
            <a:off x="5598478" y="5160461"/>
            <a:ext cx="195262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88" name="m-s07_pyramid-bar-4">
            <a:extLst>
              <a:ext uri="{FF2B5EF4-FFF2-40B4-BE49-F238E27FC236}">
                <a16:creationId xmlns:a16="http://schemas.microsoft.com/office/drawing/2014/main" id="{A5E07250-C858-4BAD-3C0F-E60754F1CEB9}"/>
              </a:ext>
            </a:extLst>
          </p:cNvPr>
          <p:cNvSpPr/>
          <p:nvPr/>
        </p:nvSpPr>
        <p:spPr>
          <a:xfrm>
            <a:off x="5598478" y="5160461"/>
            <a:ext cx="163476" cy="13017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89" name="m-s07_pyramid-bl-4">
            <a:extLst>
              <a:ext uri="{FF2B5EF4-FFF2-40B4-BE49-F238E27FC236}">
                <a16:creationId xmlns:a16="http://schemas.microsoft.com/office/drawing/2014/main" id="{03C0B128-3E45-D0EA-FEB5-3D718DA95261}"/>
              </a:ext>
            </a:extLst>
          </p:cNvPr>
          <p:cNvSpPr txBox="1"/>
          <p:nvPr/>
        </p:nvSpPr>
        <p:spPr>
          <a:xfrm>
            <a:off x="5596212" y="5186616"/>
            <a:ext cx="100144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占比 36%</a:t>
            </a:r>
          </a:p>
        </p:txBody>
      </p:sp>
      <p:cxnSp>
        <p:nvCxnSpPr>
          <p:cNvPr id="1690" name="m-s07_pyramid-lead-4">
            <a:extLst>
              <a:ext uri="{FF2B5EF4-FFF2-40B4-BE49-F238E27FC236}">
                <a16:creationId xmlns:a16="http://schemas.microsoft.com/office/drawing/2014/main" id="{93ED67C7-1BB1-705F-B59E-199182F9C547}"/>
              </a:ext>
            </a:extLst>
          </p:cNvPr>
          <p:cNvCxnSpPr/>
          <p:nvPr/>
        </p:nvCxnSpPr>
        <p:spPr>
          <a:xfrm>
            <a:off x="6687522" y="5168271"/>
            <a:ext cx="98151" cy="0"/>
          </a:xfrm>
          <a:prstGeom prst="line">
            <a:avLst/>
          </a:prstGeom>
          <a:ln w="2540" cap="rnd">
            <a:solidFill>
              <a:srgbClr val="3985CD">
                <a:alpha val="4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91" name="m-s07_pyramid-dot-4">
            <a:extLst>
              <a:ext uri="{FF2B5EF4-FFF2-40B4-BE49-F238E27FC236}">
                <a16:creationId xmlns:a16="http://schemas.microsoft.com/office/drawing/2014/main" id="{91C3CF4C-78EF-575F-A18C-BB7951C2F1EF}"/>
              </a:ext>
            </a:extLst>
          </p:cNvPr>
          <p:cNvSpPr/>
          <p:nvPr/>
        </p:nvSpPr>
        <p:spPr>
          <a:xfrm>
            <a:off x="6779165" y="5161763"/>
            <a:ext cx="13017" cy="13017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92" name="m-s07_pyramid-icon-tools">
            <a:extLst>
              <a:ext uri="{FF2B5EF4-FFF2-40B4-BE49-F238E27FC236}">
                <a16:creationId xmlns:a16="http://schemas.microsoft.com/office/drawing/2014/main" id="{FFB6B0E4-16F9-B5D2-477A-F4907928591E}"/>
              </a:ext>
            </a:extLst>
          </p:cNvPr>
          <p:cNvSpPr/>
          <p:nvPr/>
        </p:nvSpPr>
        <p:spPr>
          <a:xfrm>
            <a:off x="6826220" y="5153400"/>
            <a:ext cx="21557" cy="21405"/>
          </a:xfrm>
          <a:custGeom>
            <a:avLst/>
            <a:gdLst/>
            <a:ahLst/>
            <a:cxnLst/>
            <a:rect l="0" t="0" r="r" b="b"/>
            <a:pathLst>
              <a:path w="21557" h="21405">
                <a:moveTo>
                  <a:pt x="3904" y="704"/>
                </a:moveTo>
                <a:lnTo>
                  <a:pt x="8476" y="5276"/>
                </a:lnTo>
                <a:lnTo>
                  <a:pt x="5174" y="8642"/>
                </a:lnTo>
                <a:lnTo>
                  <a:pt x="602" y="4070"/>
                </a:lnTo>
                <a:cubicBezTo>
                  <a:pt x="-478" y="6356"/>
                  <a:pt x="-97" y="9086"/>
                  <a:pt x="1681" y="10928"/>
                </a:cubicBezTo>
                <a:cubicBezTo>
                  <a:pt x="3459" y="12706"/>
                  <a:pt x="6190" y="13277"/>
                  <a:pt x="8476" y="12261"/>
                </a:cubicBezTo>
                <a:lnTo>
                  <a:pt x="17620" y="21405"/>
                </a:lnTo>
                <a:lnTo>
                  <a:pt x="21557" y="17405"/>
                </a:lnTo>
                <a:lnTo>
                  <a:pt x="12413" y="8324"/>
                </a:lnTo>
                <a:cubicBezTo>
                  <a:pt x="13365" y="5975"/>
                  <a:pt x="12730" y="3244"/>
                  <a:pt x="10825" y="1530"/>
                </a:cubicBezTo>
                <a:cubicBezTo>
                  <a:pt x="8920" y="-121"/>
                  <a:pt x="6190" y="-502"/>
                  <a:pt x="3904" y="704"/>
                </a:cubicBezTo>
                <a:close/>
              </a:path>
            </a:pathLst>
          </a:custGeom>
          <a:noFill/>
          <a:ln w="254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93" name="m-s07_pyramid-rn-4">
            <a:extLst>
              <a:ext uri="{FF2B5EF4-FFF2-40B4-BE49-F238E27FC236}">
                <a16:creationId xmlns:a16="http://schemas.microsoft.com/office/drawing/2014/main" id="{AFFDD585-DB3D-3648-5C62-6FF96FFD8FC2}"/>
              </a:ext>
            </a:extLst>
          </p:cNvPr>
          <p:cNvSpPr txBox="1"/>
          <p:nvPr/>
        </p:nvSpPr>
        <p:spPr>
          <a:xfrm>
            <a:off x="6872891" y="5122873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骨干员工</a:t>
            </a:r>
          </a:p>
        </p:txBody>
      </p:sp>
      <p:sp>
        <p:nvSpPr>
          <p:cNvPr id="1694" name="m-s07_pyramid-rp-4">
            <a:extLst>
              <a:ext uri="{FF2B5EF4-FFF2-40B4-BE49-F238E27FC236}">
                <a16:creationId xmlns:a16="http://schemas.microsoft.com/office/drawing/2014/main" id="{B2308AFE-E93D-5581-A263-E724668293DA}"/>
              </a:ext>
            </a:extLst>
          </p:cNvPr>
          <p:cNvSpPr txBox="1"/>
          <p:nvPr/>
        </p:nvSpPr>
        <p:spPr>
          <a:xfrm>
            <a:off x="6874062" y="5173983"/>
            <a:ext cx="276817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独立负责模块与项目交付</a:t>
            </a:r>
          </a:p>
        </p:txBody>
      </p:sp>
      <p:sp>
        <p:nvSpPr>
          <p:cNvPr id="1695" name="m-s07_pyramid-rc-4">
            <a:extLst>
              <a:ext uri="{FF2B5EF4-FFF2-40B4-BE49-F238E27FC236}">
                <a16:creationId xmlns:a16="http://schemas.microsoft.com/office/drawing/2014/main" id="{4F81FDC4-451E-5C2A-9B62-0D8B9AC03206}"/>
              </a:ext>
            </a:extLst>
          </p:cNvPr>
          <p:cNvSpPr txBox="1"/>
          <p:nvPr/>
        </p:nvSpPr>
        <p:spPr>
          <a:xfrm>
            <a:off x="7450477" y="5127852"/>
            <a:ext cx="102708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5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462</a:t>
            </a:r>
          </a:p>
        </p:txBody>
      </p:sp>
      <p:sp>
        <p:nvSpPr>
          <p:cNvPr id="1696" name="m-s07_pyramid-lvl-5">
            <a:extLst>
              <a:ext uri="{FF2B5EF4-FFF2-40B4-BE49-F238E27FC236}">
                <a16:creationId xmlns:a16="http://schemas.microsoft.com/office/drawing/2014/main" id="{6B028D30-163A-E265-38E4-18C36C622227}"/>
              </a:ext>
            </a:extLst>
          </p:cNvPr>
          <p:cNvSpPr/>
          <p:nvPr/>
        </p:nvSpPr>
        <p:spPr>
          <a:xfrm>
            <a:off x="5707680" y="5262753"/>
            <a:ext cx="1036455" cy="163005"/>
          </a:xfrm>
          <a:custGeom>
            <a:avLst/>
            <a:gdLst/>
            <a:ahLst/>
            <a:cxnLst/>
            <a:rect l="0" t="0" r="r" b="b"/>
            <a:pathLst>
              <a:path w="1036455" h="163005">
                <a:moveTo>
                  <a:pt x="63073" y="11938"/>
                </a:moveTo>
                <a:quadBezTo>
                  <a:pt x="68344" y="0"/>
                  <a:pt x="81361" y="0"/>
                </a:quadBezTo>
                <a:lnTo>
                  <a:pt x="955121" y="0"/>
                </a:lnTo>
                <a:quadBezTo>
                  <a:pt x="968139" y="0"/>
                  <a:pt x="973409" y="11938"/>
                </a:quadBezTo>
                <a:lnTo>
                  <a:pt x="1034941" y="151130"/>
                </a:lnTo>
                <a:quadBezTo>
                  <a:pt x="1040211" y="163005"/>
                  <a:pt x="1027257" y="163005"/>
                </a:quadBezTo>
                <a:lnTo>
                  <a:pt x="9225" y="163005"/>
                </a:lnTo>
                <a:quadBezTo>
                  <a:pt x="-3792" y="163005"/>
                  <a:pt x="1542" y="151130"/>
                </a:quadBezTo>
                <a:close/>
              </a:path>
            </a:pathLst>
          </a:custGeom>
          <a:gradFill rotWithShape="1">
            <a:gsLst>
              <a:gs pos="0">
                <a:srgbClr val="6CAFE3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97" name="m-s07_pyramid-cn-5">
            <a:extLst>
              <a:ext uri="{FF2B5EF4-FFF2-40B4-BE49-F238E27FC236}">
                <a16:creationId xmlns:a16="http://schemas.microsoft.com/office/drawing/2014/main" id="{6A955B8D-6220-D84D-C40C-0FA878AE534E}"/>
              </a:ext>
            </a:extLst>
          </p:cNvPr>
          <p:cNvSpPr txBox="1"/>
          <p:nvPr/>
        </p:nvSpPr>
        <p:spPr>
          <a:xfrm>
            <a:off x="6136491" y="5294658"/>
            <a:ext cx="178860" cy="59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70" b="1" i="0" u="none" strike="noStrike" kern="1200" cap="none" spc="26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基础岗位</a:t>
            </a:r>
          </a:p>
        </p:txBody>
      </p:sp>
      <p:sp>
        <p:nvSpPr>
          <p:cNvPr id="1698" name="m-s07_pyramid-sub-5">
            <a:extLst>
              <a:ext uri="{FF2B5EF4-FFF2-40B4-BE49-F238E27FC236}">
                <a16:creationId xmlns:a16="http://schemas.microsoft.com/office/drawing/2014/main" id="{A4A33141-8905-43FF-BEE2-8D4CFB588FDA}"/>
              </a:ext>
            </a:extLst>
          </p:cNvPr>
          <p:cNvSpPr txBox="1"/>
          <p:nvPr/>
        </p:nvSpPr>
        <p:spPr>
          <a:xfrm>
            <a:off x="6118963" y="5353195"/>
            <a:ext cx="213917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6" normalizeH="0" baseline="0" noProof="0">
                <a:ln>
                  <a:noFill/>
                </a:ln>
                <a:solidFill>
                  <a:srgbClr val="FFFFFF">
                    <a:alpha val="7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562 人 · 占比 43%</a:t>
            </a:r>
          </a:p>
        </p:txBody>
      </p:sp>
      <p:sp>
        <p:nvSpPr>
          <p:cNvPr id="1699" name="m-s07_pyramid-ln-5">
            <a:extLst>
              <a:ext uri="{FF2B5EF4-FFF2-40B4-BE49-F238E27FC236}">
                <a16:creationId xmlns:a16="http://schemas.microsoft.com/office/drawing/2014/main" id="{92B3C939-4B79-89A2-A783-25FDF9D1EC7B}"/>
              </a:ext>
            </a:extLst>
          </p:cNvPr>
          <p:cNvSpPr txBox="1"/>
          <p:nvPr/>
        </p:nvSpPr>
        <p:spPr>
          <a:xfrm>
            <a:off x="5457888" y="5295582"/>
            <a:ext cx="107785" cy="9112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09" b="1" i="0" u="none" strike="noStrike" kern="1200" cap="none" spc="10" normalizeH="0" baseline="0" noProof="0">
                <a:ln>
                  <a:noFill/>
                </a:ln>
                <a:solidFill>
                  <a:srgbClr val="54A2DF">
                    <a:alpha val="8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1700" name="m-s07_pyramid-bg-5">
            <a:extLst>
              <a:ext uri="{FF2B5EF4-FFF2-40B4-BE49-F238E27FC236}">
                <a16:creationId xmlns:a16="http://schemas.microsoft.com/office/drawing/2014/main" id="{2C3C816A-922C-A265-475B-223A8D93206E}"/>
              </a:ext>
            </a:extLst>
          </p:cNvPr>
          <p:cNvSpPr/>
          <p:nvPr/>
        </p:nvSpPr>
        <p:spPr>
          <a:xfrm>
            <a:off x="5598478" y="5336457"/>
            <a:ext cx="195262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01" name="m-s07_pyramid-bar-5">
            <a:extLst>
              <a:ext uri="{FF2B5EF4-FFF2-40B4-BE49-F238E27FC236}">
                <a16:creationId xmlns:a16="http://schemas.microsoft.com/office/drawing/2014/main" id="{82D0AA54-A13B-DBF0-6A07-8C0901A87CF4}"/>
              </a:ext>
            </a:extLst>
          </p:cNvPr>
          <p:cNvSpPr/>
          <p:nvPr/>
        </p:nvSpPr>
        <p:spPr>
          <a:xfrm>
            <a:off x="5598478" y="5336457"/>
            <a:ext cx="195262" cy="13017"/>
          </a:xfrm>
          <a:prstGeom prst="roundRect">
            <a:avLst>
              <a:gd name="adj" fmla="val 50000"/>
            </a:avLst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02" name="m-s07_pyramid-bl-5">
            <a:extLst>
              <a:ext uri="{FF2B5EF4-FFF2-40B4-BE49-F238E27FC236}">
                <a16:creationId xmlns:a16="http://schemas.microsoft.com/office/drawing/2014/main" id="{25E1A172-CE8F-4777-2883-67BEDC4562A1}"/>
              </a:ext>
            </a:extLst>
          </p:cNvPr>
          <p:cNvSpPr txBox="1"/>
          <p:nvPr/>
        </p:nvSpPr>
        <p:spPr>
          <a:xfrm>
            <a:off x="5596212" y="5362613"/>
            <a:ext cx="100144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占比 43%</a:t>
            </a:r>
          </a:p>
        </p:txBody>
      </p:sp>
      <p:cxnSp>
        <p:nvCxnSpPr>
          <p:cNvPr id="1703" name="m-s07_pyramid-lead-5">
            <a:extLst>
              <a:ext uri="{FF2B5EF4-FFF2-40B4-BE49-F238E27FC236}">
                <a16:creationId xmlns:a16="http://schemas.microsoft.com/office/drawing/2014/main" id="{4721027C-E452-7401-04EC-57B739134171}"/>
              </a:ext>
            </a:extLst>
          </p:cNvPr>
          <p:cNvCxnSpPr/>
          <p:nvPr/>
        </p:nvCxnSpPr>
        <p:spPr>
          <a:xfrm>
            <a:off x="6766147" y="5344268"/>
            <a:ext cx="19526" cy="0"/>
          </a:xfrm>
          <a:prstGeom prst="line">
            <a:avLst/>
          </a:prstGeom>
          <a:ln w="2540" cap="rnd">
            <a:solidFill>
              <a:srgbClr val="54A2DF">
                <a:alpha val="4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04" name="m-s07_pyramid-dot-5">
            <a:extLst>
              <a:ext uri="{FF2B5EF4-FFF2-40B4-BE49-F238E27FC236}">
                <a16:creationId xmlns:a16="http://schemas.microsoft.com/office/drawing/2014/main" id="{F77A1139-295D-1CAD-8D5F-65A1CC4D7455}"/>
              </a:ext>
            </a:extLst>
          </p:cNvPr>
          <p:cNvSpPr/>
          <p:nvPr/>
        </p:nvSpPr>
        <p:spPr>
          <a:xfrm>
            <a:off x="6779165" y="5337759"/>
            <a:ext cx="13017" cy="13017"/>
          </a:xfrm>
          <a:prstGeom prst="ellipse">
            <a:avLst/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05" name="m-s07_pyramid-icon-people">
            <a:extLst>
              <a:ext uri="{FF2B5EF4-FFF2-40B4-BE49-F238E27FC236}">
                <a16:creationId xmlns:a16="http://schemas.microsoft.com/office/drawing/2014/main" id="{59A9A369-15E8-DA23-D121-CBCF40742006}"/>
              </a:ext>
            </a:extLst>
          </p:cNvPr>
          <p:cNvSpPr/>
          <p:nvPr/>
        </p:nvSpPr>
        <p:spPr>
          <a:xfrm>
            <a:off x="6824980" y="5345620"/>
            <a:ext cx="25844" cy="7302"/>
          </a:xfrm>
          <a:custGeom>
            <a:avLst/>
            <a:gdLst/>
            <a:ahLst/>
            <a:cxnLst/>
            <a:rect l="0" t="0" r="r" b="b"/>
            <a:pathLst>
              <a:path w="25844" h="7302">
                <a:moveTo>
                  <a:pt x="0" y="7302"/>
                </a:moveTo>
                <a:cubicBezTo>
                  <a:pt x="0" y="2730"/>
                  <a:pt x="3810" y="0"/>
                  <a:pt x="8191" y="0"/>
                </a:cubicBezTo>
                <a:cubicBezTo>
                  <a:pt x="12637" y="0"/>
                  <a:pt x="16383" y="2730"/>
                  <a:pt x="16383" y="7302"/>
                </a:cubicBezTo>
                <a:moveTo>
                  <a:pt x="19431" y="571"/>
                </a:moveTo>
                <a:cubicBezTo>
                  <a:pt x="23368" y="1079"/>
                  <a:pt x="25844" y="3810"/>
                  <a:pt x="25844" y="7302"/>
                </a:cubicBezTo>
              </a:path>
            </a:pathLst>
          </a:custGeom>
          <a:noFill/>
          <a:ln w="254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06" name="m-s07_pyramid-icon-people">
            <a:extLst>
              <a:ext uri="{FF2B5EF4-FFF2-40B4-BE49-F238E27FC236}">
                <a16:creationId xmlns:a16="http://schemas.microsoft.com/office/drawing/2014/main" id="{17BB7B2A-A098-BB1F-4DE9-93E7EDE8ECE6}"/>
              </a:ext>
            </a:extLst>
          </p:cNvPr>
          <p:cNvSpPr/>
          <p:nvPr/>
        </p:nvSpPr>
        <p:spPr>
          <a:xfrm>
            <a:off x="6828328" y="5332552"/>
            <a:ext cx="9720" cy="9720"/>
          </a:xfrm>
          <a:prstGeom prst="ellipse">
            <a:avLst/>
          </a:prstGeom>
          <a:noFill/>
          <a:ln w="254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07" name="m-s07_pyramid-icon-people">
            <a:extLst>
              <a:ext uri="{FF2B5EF4-FFF2-40B4-BE49-F238E27FC236}">
                <a16:creationId xmlns:a16="http://schemas.microsoft.com/office/drawing/2014/main" id="{7431E9E1-1B51-9BC9-5BAD-F36D442A25EB}"/>
              </a:ext>
            </a:extLst>
          </p:cNvPr>
          <p:cNvSpPr/>
          <p:nvPr/>
        </p:nvSpPr>
        <p:spPr>
          <a:xfrm>
            <a:off x="6841388" y="5332552"/>
            <a:ext cx="7897" cy="7897"/>
          </a:xfrm>
          <a:prstGeom prst="ellipse">
            <a:avLst/>
          </a:prstGeom>
          <a:noFill/>
          <a:ln w="254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08" name="m-s07_pyramid-rn-5">
            <a:extLst>
              <a:ext uri="{FF2B5EF4-FFF2-40B4-BE49-F238E27FC236}">
                <a16:creationId xmlns:a16="http://schemas.microsoft.com/office/drawing/2014/main" id="{2B80D8EF-2F31-D735-A81C-C26C017DFE95}"/>
              </a:ext>
            </a:extLst>
          </p:cNvPr>
          <p:cNvSpPr txBox="1"/>
          <p:nvPr/>
        </p:nvSpPr>
        <p:spPr>
          <a:xfrm>
            <a:off x="6872891" y="5298869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基础岗位</a:t>
            </a:r>
          </a:p>
        </p:txBody>
      </p:sp>
      <p:sp>
        <p:nvSpPr>
          <p:cNvPr id="1709" name="m-s07_pyramid-rp-5">
            <a:extLst>
              <a:ext uri="{FF2B5EF4-FFF2-40B4-BE49-F238E27FC236}">
                <a16:creationId xmlns:a16="http://schemas.microsoft.com/office/drawing/2014/main" id="{73BA27CF-E3B8-BA38-8D62-8B6F87294EAA}"/>
              </a:ext>
            </a:extLst>
          </p:cNvPr>
          <p:cNvSpPr txBox="1"/>
          <p:nvPr/>
        </p:nvSpPr>
        <p:spPr>
          <a:xfrm>
            <a:off x="6874062" y="5349979"/>
            <a:ext cx="276817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承担执行工作并持续成长</a:t>
            </a:r>
          </a:p>
        </p:txBody>
      </p:sp>
      <p:sp>
        <p:nvSpPr>
          <p:cNvPr id="1710" name="m-s07_pyramid-rc-5">
            <a:extLst>
              <a:ext uri="{FF2B5EF4-FFF2-40B4-BE49-F238E27FC236}">
                <a16:creationId xmlns:a16="http://schemas.microsoft.com/office/drawing/2014/main" id="{F765A6A9-FE3C-AF4B-EC85-0560CEF2F82C}"/>
              </a:ext>
            </a:extLst>
          </p:cNvPr>
          <p:cNvSpPr txBox="1"/>
          <p:nvPr/>
        </p:nvSpPr>
        <p:spPr>
          <a:xfrm>
            <a:off x="7450477" y="5303849"/>
            <a:ext cx="102708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5" normalizeH="0" baseline="0" noProof="0">
                <a:ln>
                  <a:noFill/>
                </a:ln>
                <a:solidFill>
                  <a:srgbClr val="54A2D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562</a:t>
            </a:r>
          </a:p>
        </p:txBody>
      </p:sp>
      <p:sp>
        <p:nvSpPr>
          <p:cNvPr id="1711" name="m-s07_pyramid-base">
            <a:extLst>
              <a:ext uri="{FF2B5EF4-FFF2-40B4-BE49-F238E27FC236}">
                <a16:creationId xmlns:a16="http://schemas.microsoft.com/office/drawing/2014/main" id="{06686FFD-9F91-E10E-2446-334D10B3AFB7}"/>
              </a:ext>
            </a:extLst>
          </p:cNvPr>
          <p:cNvSpPr/>
          <p:nvPr/>
        </p:nvSpPr>
        <p:spPr>
          <a:xfrm>
            <a:off x="5653151" y="5449189"/>
            <a:ext cx="1145540" cy="20828"/>
          </a:xfrm>
          <a:custGeom>
            <a:avLst/>
            <a:gdLst/>
            <a:ahLst/>
            <a:cxnLst/>
            <a:rect l="0" t="0" r="r" b="b"/>
            <a:pathLst>
              <a:path w="1145540" h="20828">
                <a:moveTo>
                  <a:pt x="10414" y="0"/>
                </a:moveTo>
                <a:lnTo>
                  <a:pt x="1135126" y="0"/>
                </a:lnTo>
                <a:cubicBezTo>
                  <a:pt x="1140905" y="0"/>
                  <a:pt x="1145540" y="4636"/>
                  <a:pt x="1145540" y="10414"/>
                </a:cubicBezTo>
                <a:lnTo>
                  <a:pt x="1145540" y="10414"/>
                </a:lnTo>
                <a:cubicBezTo>
                  <a:pt x="1145540" y="16193"/>
                  <a:pt x="1140905" y="20828"/>
                  <a:pt x="1135126" y="20828"/>
                </a:cubicBezTo>
                <a:lnTo>
                  <a:pt x="10414" y="20828"/>
                </a:lnTo>
                <a:cubicBezTo>
                  <a:pt x="4636" y="20828"/>
                  <a:pt x="0" y="16193"/>
                  <a:pt x="0" y="10414"/>
                </a:cubicBezTo>
                <a:lnTo>
                  <a:pt x="0" y="10414"/>
                </a:lnTo>
                <a:cubicBezTo>
                  <a:pt x="0" y="4636"/>
                  <a:pt x="4636" y="0"/>
                  <a:pt x="10414" y="0"/>
                </a:cubicBezTo>
                <a:close/>
              </a:path>
            </a:pathLst>
          </a:custGeom>
          <a:solidFill>
            <a:srgbClr val="0B2545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12" name="m-s07_pyramid-base-t">
            <a:extLst>
              <a:ext uri="{FF2B5EF4-FFF2-40B4-BE49-F238E27FC236}">
                <a16:creationId xmlns:a16="http://schemas.microsoft.com/office/drawing/2014/main" id="{DFEC55F4-0247-3039-C91A-FEA113046EC6}"/>
              </a:ext>
            </a:extLst>
          </p:cNvPr>
          <p:cNvSpPr txBox="1"/>
          <p:nvPr/>
        </p:nvSpPr>
        <p:spPr>
          <a:xfrm>
            <a:off x="6014660" y="5492153"/>
            <a:ext cx="422522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合计 1,286 人 · 核心骨干占比 56%</a:t>
            </a:r>
          </a:p>
        </p:txBody>
      </p:sp>
      <p:cxnSp>
        <p:nvCxnSpPr>
          <p:cNvPr id="1713" name="m-s07_pyramid-foot-line">
            <a:extLst>
              <a:ext uri="{FF2B5EF4-FFF2-40B4-BE49-F238E27FC236}">
                <a16:creationId xmlns:a16="http://schemas.microsoft.com/office/drawing/2014/main" id="{B7D84E62-C5BF-5F29-FA34-BC7FD4275C03}"/>
              </a:ext>
            </a:extLst>
          </p:cNvPr>
          <p:cNvCxnSpPr/>
          <p:nvPr/>
        </p:nvCxnSpPr>
        <p:spPr>
          <a:xfrm>
            <a:off x="5288661" y="55923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14" name="m-s07_pyramid-foot-l">
            <a:extLst>
              <a:ext uri="{FF2B5EF4-FFF2-40B4-BE49-F238E27FC236}">
                <a16:creationId xmlns:a16="http://schemas.microsoft.com/office/drawing/2014/main" id="{E846C687-7FAD-94B5-D119-39BAE6BB2891}"/>
              </a:ext>
            </a:extLst>
          </p:cNvPr>
          <p:cNvSpPr txBox="1"/>
          <p:nvPr/>
        </p:nvSpPr>
        <p:spPr>
          <a:xfrm>
            <a:off x="5286474" y="5606323"/>
            <a:ext cx="21429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人才梯队 · 五级结构</a:t>
            </a:r>
          </a:p>
        </p:txBody>
      </p:sp>
      <p:sp>
        <p:nvSpPr>
          <p:cNvPr id="1715" name="m-s07_pyramid-foot-r">
            <a:extLst>
              <a:ext uri="{FF2B5EF4-FFF2-40B4-BE49-F238E27FC236}">
                <a16:creationId xmlns:a16="http://schemas.microsoft.com/office/drawing/2014/main" id="{6D89D2A5-8DEC-DEE3-A261-BF85F80AE360}"/>
              </a:ext>
            </a:extLst>
          </p:cNvPr>
          <p:cNvSpPr txBox="1"/>
          <p:nvPr/>
        </p:nvSpPr>
        <p:spPr>
          <a:xfrm>
            <a:off x="7290909" y="56063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1716" name="mini-card-d41_combo">
            <a:extLst>
              <a:ext uri="{FF2B5EF4-FFF2-40B4-BE49-F238E27FC236}">
                <a16:creationId xmlns:a16="http://schemas.microsoft.com/office/drawing/2014/main" id="{1007A37E-AFC7-33C8-9A36-C09C2B008DDC}"/>
              </a:ext>
            </a:extLst>
          </p:cNvPr>
          <p:cNvSpPr/>
          <p:nvPr/>
        </p:nvSpPr>
        <p:spPr>
          <a:xfrm>
            <a:off x="7785100" y="42672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1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1" y="1405890"/>
                </a:lnTo>
                <a:cubicBezTo>
                  <a:pt x="35878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7"/>
                  <a:pt x="35878" y="0"/>
                  <a:pt x="80201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17" name="m-d41_combo-title-bar">
            <a:extLst>
              <a:ext uri="{FF2B5EF4-FFF2-40B4-BE49-F238E27FC236}">
                <a16:creationId xmlns:a16="http://schemas.microsoft.com/office/drawing/2014/main" id="{AD7A05F2-21ED-7F57-C0A8-BA83671A2279}"/>
              </a:ext>
            </a:extLst>
          </p:cNvPr>
          <p:cNvSpPr/>
          <p:nvPr/>
        </p:nvSpPr>
        <p:spPr>
          <a:xfrm>
            <a:off x="7904861" y="43661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18" name="m-d41_combo-title-bar-accent">
            <a:extLst>
              <a:ext uri="{FF2B5EF4-FFF2-40B4-BE49-F238E27FC236}">
                <a16:creationId xmlns:a16="http://schemas.microsoft.com/office/drawing/2014/main" id="{4C90117E-FFAE-489C-3F62-4A2A60ADADE3}"/>
              </a:ext>
            </a:extLst>
          </p:cNvPr>
          <p:cNvSpPr/>
          <p:nvPr/>
        </p:nvSpPr>
        <p:spPr>
          <a:xfrm>
            <a:off x="7904861" y="43661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19" name="m-d41_combo-title-cn">
            <a:extLst>
              <a:ext uri="{FF2B5EF4-FFF2-40B4-BE49-F238E27FC236}">
                <a16:creationId xmlns:a16="http://schemas.microsoft.com/office/drawing/2014/main" id="{59B52C8E-C06B-14D5-EBCB-83B8D47EA045}"/>
              </a:ext>
            </a:extLst>
          </p:cNvPr>
          <p:cNvSpPr txBox="1"/>
          <p:nvPr/>
        </p:nvSpPr>
        <p:spPr>
          <a:xfrm>
            <a:off x="7937040" y="4348768"/>
            <a:ext cx="551421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季度营收与毛利率</a:t>
            </a:r>
          </a:p>
        </p:txBody>
      </p:sp>
      <p:sp>
        <p:nvSpPr>
          <p:cNvPr id="1720" name="m-d41_combo-title-en">
            <a:extLst>
              <a:ext uri="{FF2B5EF4-FFF2-40B4-BE49-F238E27FC236}">
                <a16:creationId xmlns:a16="http://schemas.microsoft.com/office/drawing/2014/main" id="{485404D6-5B93-3313-D844-819A8CBBCE5C}"/>
              </a:ext>
            </a:extLst>
          </p:cNvPr>
          <p:cNvSpPr txBox="1"/>
          <p:nvPr/>
        </p:nvSpPr>
        <p:spPr>
          <a:xfrm>
            <a:off x="7944330" y="4436050"/>
            <a:ext cx="29640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DUAL-AXIS COMBO</a:t>
            </a:r>
          </a:p>
        </p:txBody>
      </p:sp>
      <p:sp>
        <p:nvSpPr>
          <p:cNvPr id="1721" name="m-d41_combo-title-sub">
            <a:extLst>
              <a:ext uri="{FF2B5EF4-FFF2-40B4-BE49-F238E27FC236}">
                <a16:creationId xmlns:a16="http://schemas.microsoft.com/office/drawing/2014/main" id="{BE4C606D-4BA1-4E2C-084F-3876DB5223D9}"/>
              </a:ext>
            </a:extLst>
          </p:cNvPr>
          <p:cNvSpPr txBox="1"/>
          <p:nvPr/>
        </p:nvSpPr>
        <p:spPr>
          <a:xfrm>
            <a:off x="9149308" y="4405192"/>
            <a:ext cx="1018047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柱子看规模、折线看质量——2026 每个季度营收同比都在增长，毛利率自 26Q1 起回到目标区间</a:t>
            </a:r>
          </a:p>
        </p:txBody>
      </p:sp>
      <p:sp>
        <p:nvSpPr>
          <p:cNvPr id="1722" name="m-d41_combo-tgt">
            <a:extLst>
              <a:ext uri="{FF2B5EF4-FFF2-40B4-BE49-F238E27FC236}">
                <a16:creationId xmlns:a16="http://schemas.microsoft.com/office/drawing/2014/main" id="{52947C98-A427-E49B-231D-213B31F0C370}"/>
              </a:ext>
            </a:extLst>
          </p:cNvPr>
          <p:cNvSpPr/>
          <p:nvPr/>
        </p:nvSpPr>
        <p:spPr>
          <a:xfrm>
            <a:off x="8123555" y="4686364"/>
            <a:ext cx="1353820" cy="135382"/>
          </a:xfrm>
          <a:prstGeom prst="rect">
            <a:avLst/>
          </a:prstGeom>
          <a:solidFill>
            <a:srgbClr val="E0703A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23" name="m-d41_combo-tgt-t">
            <a:extLst>
              <a:ext uri="{FF2B5EF4-FFF2-40B4-BE49-F238E27FC236}">
                <a16:creationId xmlns:a16="http://schemas.microsoft.com/office/drawing/2014/main" id="{DE6B3F1F-EA89-9F5F-0CE8-871AB7C6E380}"/>
              </a:ext>
            </a:extLst>
          </p:cNvPr>
          <p:cNvSpPr txBox="1"/>
          <p:nvPr/>
        </p:nvSpPr>
        <p:spPr>
          <a:xfrm>
            <a:off x="8136911" y="4650035"/>
            <a:ext cx="243440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5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毛利率目标区间 36%–40%</a:t>
            </a:r>
          </a:p>
        </p:txBody>
      </p:sp>
      <p:cxnSp>
        <p:nvCxnSpPr>
          <p:cNvPr id="1724" name="m-d41_combo-g-0">
            <a:extLst>
              <a:ext uri="{FF2B5EF4-FFF2-40B4-BE49-F238E27FC236}">
                <a16:creationId xmlns:a16="http://schemas.microsoft.com/office/drawing/2014/main" id="{5A152EAD-4A88-82B4-38DB-3CF7D5F8A850}"/>
              </a:ext>
            </a:extLst>
          </p:cNvPr>
          <p:cNvCxnSpPr/>
          <p:nvPr/>
        </p:nvCxnSpPr>
        <p:spPr>
          <a:xfrm>
            <a:off x="8102727" y="5295582"/>
            <a:ext cx="1395476" cy="0"/>
          </a:xfrm>
          <a:prstGeom prst="line">
            <a:avLst/>
          </a:prstGeom>
          <a:ln w="2540" cap="rnd">
            <a:solidFill>
              <a:srgbClr val="0B2545">
                <a:alpha val="1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25" name="m-d41_combo-gl-0">
            <a:extLst>
              <a:ext uri="{FF2B5EF4-FFF2-40B4-BE49-F238E27FC236}">
                <a16:creationId xmlns:a16="http://schemas.microsoft.com/office/drawing/2014/main" id="{61DEDC62-A0A1-6D3C-CA1A-E0678B00B440}"/>
              </a:ext>
            </a:extLst>
          </p:cNvPr>
          <p:cNvSpPr txBox="1"/>
          <p:nvPr/>
        </p:nvSpPr>
        <p:spPr>
          <a:xfrm>
            <a:off x="8061800" y="5277670"/>
            <a:ext cx="30409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</a:t>
            </a:r>
          </a:p>
        </p:txBody>
      </p:sp>
      <p:sp>
        <p:nvSpPr>
          <p:cNvPr id="1726" name="m-d41_combo-gr-0">
            <a:extLst>
              <a:ext uri="{FF2B5EF4-FFF2-40B4-BE49-F238E27FC236}">
                <a16:creationId xmlns:a16="http://schemas.microsoft.com/office/drawing/2014/main" id="{CA3D0C77-211C-AC6B-981F-C1E0F7DD913A}"/>
              </a:ext>
            </a:extLst>
          </p:cNvPr>
          <p:cNvSpPr txBox="1"/>
          <p:nvPr/>
        </p:nvSpPr>
        <p:spPr>
          <a:xfrm>
            <a:off x="9511325" y="5277670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22%</a:t>
            </a:r>
          </a:p>
        </p:txBody>
      </p:sp>
      <p:cxnSp>
        <p:nvCxnSpPr>
          <p:cNvPr id="1727" name="m-d41_combo-g-1">
            <a:extLst>
              <a:ext uri="{FF2B5EF4-FFF2-40B4-BE49-F238E27FC236}">
                <a16:creationId xmlns:a16="http://schemas.microsoft.com/office/drawing/2014/main" id="{07A3D085-58CC-B4AA-4835-2831BCFAC19C}"/>
              </a:ext>
            </a:extLst>
          </p:cNvPr>
          <p:cNvCxnSpPr/>
          <p:nvPr/>
        </p:nvCxnSpPr>
        <p:spPr>
          <a:xfrm>
            <a:off x="8102727" y="5160200"/>
            <a:ext cx="1395476" cy="0"/>
          </a:xfrm>
          <a:prstGeom prst="line">
            <a:avLst/>
          </a:prstGeom>
          <a:ln w="254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28" name="m-d41_combo-gl-1">
            <a:extLst>
              <a:ext uri="{FF2B5EF4-FFF2-40B4-BE49-F238E27FC236}">
                <a16:creationId xmlns:a16="http://schemas.microsoft.com/office/drawing/2014/main" id="{AFE275BD-3715-5EF9-BDA1-2CAAD4F38993}"/>
              </a:ext>
            </a:extLst>
          </p:cNvPr>
          <p:cNvSpPr txBox="1"/>
          <p:nvPr/>
        </p:nvSpPr>
        <p:spPr>
          <a:xfrm>
            <a:off x="8038473" y="5142288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1.5</a:t>
            </a:r>
          </a:p>
        </p:txBody>
      </p:sp>
      <p:sp>
        <p:nvSpPr>
          <p:cNvPr id="1729" name="m-d41_combo-gr-1">
            <a:extLst>
              <a:ext uri="{FF2B5EF4-FFF2-40B4-BE49-F238E27FC236}">
                <a16:creationId xmlns:a16="http://schemas.microsoft.com/office/drawing/2014/main" id="{2CBEBD01-F218-4E47-307D-BA17AAA6D273}"/>
              </a:ext>
            </a:extLst>
          </p:cNvPr>
          <p:cNvSpPr txBox="1"/>
          <p:nvPr/>
        </p:nvSpPr>
        <p:spPr>
          <a:xfrm>
            <a:off x="9511325" y="5142288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26%</a:t>
            </a:r>
          </a:p>
        </p:txBody>
      </p:sp>
      <p:cxnSp>
        <p:nvCxnSpPr>
          <p:cNvPr id="1730" name="m-d41_combo-g-2">
            <a:extLst>
              <a:ext uri="{FF2B5EF4-FFF2-40B4-BE49-F238E27FC236}">
                <a16:creationId xmlns:a16="http://schemas.microsoft.com/office/drawing/2014/main" id="{7DD0A43C-0E7E-9E0A-75AE-C8620B154265}"/>
              </a:ext>
            </a:extLst>
          </p:cNvPr>
          <p:cNvCxnSpPr/>
          <p:nvPr/>
        </p:nvCxnSpPr>
        <p:spPr>
          <a:xfrm>
            <a:off x="8102727" y="5024818"/>
            <a:ext cx="1395476" cy="0"/>
          </a:xfrm>
          <a:prstGeom prst="line">
            <a:avLst/>
          </a:prstGeom>
          <a:ln w="254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31" name="m-d41_combo-gl-2">
            <a:extLst>
              <a:ext uri="{FF2B5EF4-FFF2-40B4-BE49-F238E27FC236}">
                <a16:creationId xmlns:a16="http://schemas.microsoft.com/office/drawing/2014/main" id="{91A88E43-AB13-2B8D-AD10-3AFE37CFE54D}"/>
              </a:ext>
            </a:extLst>
          </p:cNvPr>
          <p:cNvSpPr txBox="1"/>
          <p:nvPr/>
        </p:nvSpPr>
        <p:spPr>
          <a:xfrm>
            <a:off x="8061800" y="5006906"/>
            <a:ext cx="30409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1732" name="m-d41_combo-gr-2">
            <a:extLst>
              <a:ext uri="{FF2B5EF4-FFF2-40B4-BE49-F238E27FC236}">
                <a16:creationId xmlns:a16="http://schemas.microsoft.com/office/drawing/2014/main" id="{F10B58E0-8951-A024-E06C-350120A5CE10}"/>
              </a:ext>
            </a:extLst>
          </p:cNvPr>
          <p:cNvSpPr txBox="1"/>
          <p:nvPr/>
        </p:nvSpPr>
        <p:spPr>
          <a:xfrm>
            <a:off x="9511325" y="5006906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30%</a:t>
            </a:r>
          </a:p>
        </p:txBody>
      </p:sp>
      <p:cxnSp>
        <p:nvCxnSpPr>
          <p:cNvPr id="1733" name="m-d41_combo-g-3">
            <a:extLst>
              <a:ext uri="{FF2B5EF4-FFF2-40B4-BE49-F238E27FC236}">
                <a16:creationId xmlns:a16="http://schemas.microsoft.com/office/drawing/2014/main" id="{99FDD96B-A8B0-856A-4632-85F7F9083841}"/>
              </a:ext>
            </a:extLst>
          </p:cNvPr>
          <p:cNvCxnSpPr/>
          <p:nvPr/>
        </p:nvCxnSpPr>
        <p:spPr>
          <a:xfrm>
            <a:off x="8102727" y="4889436"/>
            <a:ext cx="1395476" cy="0"/>
          </a:xfrm>
          <a:prstGeom prst="line">
            <a:avLst/>
          </a:prstGeom>
          <a:ln w="254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34" name="m-d41_combo-gl-3">
            <a:extLst>
              <a:ext uri="{FF2B5EF4-FFF2-40B4-BE49-F238E27FC236}">
                <a16:creationId xmlns:a16="http://schemas.microsoft.com/office/drawing/2014/main" id="{40641D36-4132-3AB4-E681-BEF2F0591064}"/>
              </a:ext>
            </a:extLst>
          </p:cNvPr>
          <p:cNvSpPr txBox="1"/>
          <p:nvPr/>
        </p:nvSpPr>
        <p:spPr>
          <a:xfrm>
            <a:off x="8038473" y="4871524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4.5</a:t>
            </a:r>
          </a:p>
        </p:txBody>
      </p:sp>
      <p:sp>
        <p:nvSpPr>
          <p:cNvPr id="1735" name="m-d41_combo-gr-3">
            <a:extLst>
              <a:ext uri="{FF2B5EF4-FFF2-40B4-BE49-F238E27FC236}">
                <a16:creationId xmlns:a16="http://schemas.microsoft.com/office/drawing/2014/main" id="{46B9455F-9145-8159-9247-335248B82024}"/>
              </a:ext>
            </a:extLst>
          </p:cNvPr>
          <p:cNvSpPr txBox="1"/>
          <p:nvPr/>
        </p:nvSpPr>
        <p:spPr>
          <a:xfrm>
            <a:off x="9511325" y="4871524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34%</a:t>
            </a:r>
          </a:p>
        </p:txBody>
      </p:sp>
      <p:cxnSp>
        <p:nvCxnSpPr>
          <p:cNvPr id="1736" name="m-d41_combo-g-4">
            <a:extLst>
              <a:ext uri="{FF2B5EF4-FFF2-40B4-BE49-F238E27FC236}">
                <a16:creationId xmlns:a16="http://schemas.microsoft.com/office/drawing/2014/main" id="{405346C6-0820-2CB7-AA09-4D09EC9230F5}"/>
              </a:ext>
            </a:extLst>
          </p:cNvPr>
          <p:cNvCxnSpPr/>
          <p:nvPr/>
        </p:nvCxnSpPr>
        <p:spPr>
          <a:xfrm>
            <a:off x="8102727" y="4754054"/>
            <a:ext cx="1395476" cy="0"/>
          </a:xfrm>
          <a:prstGeom prst="line">
            <a:avLst/>
          </a:prstGeom>
          <a:ln w="254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37" name="m-d41_combo-gl-4">
            <a:extLst>
              <a:ext uri="{FF2B5EF4-FFF2-40B4-BE49-F238E27FC236}">
                <a16:creationId xmlns:a16="http://schemas.microsoft.com/office/drawing/2014/main" id="{761F733A-2EFF-828C-C009-18811D6B9501}"/>
              </a:ext>
            </a:extLst>
          </p:cNvPr>
          <p:cNvSpPr txBox="1"/>
          <p:nvPr/>
        </p:nvSpPr>
        <p:spPr>
          <a:xfrm>
            <a:off x="8061800" y="4736142"/>
            <a:ext cx="30409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6</a:t>
            </a:r>
          </a:p>
        </p:txBody>
      </p:sp>
      <p:sp>
        <p:nvSpPr>
          <p:cNvPr id="1738" name="m-d41_combo-gr-4">
            <a:extLst>
              <a:ext uri="{FF2B5EF4-FFF2-40B4-BE49-F238E27FC236}">
                <a16:creationId xmlns:a16="http://schemas.microsoft.com/office/drawing/2014/main" id="{01323C0E-2857-1559-F623-54174832C2CC}"/>
              </a:ext>
            </a:extLst>
          </p:cNvPr>
          <p:cNvSpPr txBox="1"/>
          <p:nvPr/>
        </p:nvSpPr>
        <p:spPr>
          <a:xfrm>
            <a:off x="9511325" y="4736142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38%</a:t>
            </a:r>
          </a:p>
        </p:txBody>
      </p:sp>
      <p:cxnSp>
        <p:nvCxnSpPr>
          <p:cNvPr id="1739" name="m-d41_combo-g-5">
            <a:extLst>
              <a:ext uri="{FF2B5EF4-FFF2-40B4-BE49-F238E27FC236}">
                <a16:creationId xmlns:a16="http://schemas.microsoft.com/office/drawing/2014/main" id="{D1888D69-1820-628D-F3E5-A8541A81E17E}"/>
              </a:ext>
            </a:extLst>
          </p:cNvPr>
          <p:cNvCxnSpPr/>
          <p:nvPr/>
        </p:nvCxnSpPr>
        <p:spPr>
          <a:xfrm>
            <a:off x="8102727" y="4618672"/>
            <a:ext cx="1395476" cy="0"/>
          </a:xfrm>
          <a:prstGeom prst="line">
            <a:avLst/>
          </a:prstGeom>
          <a:ln w="254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40" name="m-d41_combo-gl-5">
            <a:extLst>
              <a:ext uri="{FF2B5EF4-FFF2-40B4-BE49-F238E27FC236}">
                <a16:creationId xmlns:a16="http://schemas.microsoft.com/office/drawing/2014/main" id="{3A6F3E86-82A4-C1AA-C9DB-CF584A941DDF}"/>
              </a:ext>
            </a:extLst>
          </p:cNvPr>
          <p:cNvSpPr txBox="1"/>
          <p:nvPr/>
        </p:nvSpPr>
        <p:spPr>
          <a:xfrm>
            <a:off x="8038473" y="4600760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7.5</a:t>
            </a:r>
          </a:p>
        </p:txBody>
      </p:sp>
      <p:sp>
        <p:nvSpPr>
          <p:cNvPr id="1741" name="m-d41_combo-gr-5">
            <a:extLst>
              <a:ext uri="{FF2B5EF4-FFF2-40B4-BE49-F238E27FC236}">
                <a16:creationId xmlns:a16="http://schemas.microsoft.com/office/drawing/2014/main" id="{62C0F439-B9CA-F347-9DAF-A6578B10B5B1}"/>
              </a:ext>
            </a:extLst>
          </p:cNvPr>
          <p:cNvSpPr txBox="1"/>
          <p:nvPr/>
        </p:nvSpPr>
        <p:spPr>
          <a:xfrm>
            <a:off x="9511325" y="4600760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42%</a:t>
            </a:r>
          </a:p>
        </p:txBody>
      </p:sp>
      <p:sp>
        <p:nvSpPr>
          <p:cNvPr id="1742" name="m-d41_combo-ul">
            <a:extLst>
              <a:ext uri="{FF2B5EF4-FFF2-40B4-BE49-F238E27FC236}">
                <a16:creationId xmlns:a16="http://schemas.microsoft.com/office/drawing/2014/main" id="{D1FFD56D-4FA7-07E3-9B25-BBC730BF32BB}"/>
              </a:ext>
            </a:extLst>
          </p:cNvPr>
          <p:cNvSpPr txBox="1"/>
          <p:nvPr/>
        </p:nvSpPr>
        <p:spPr>
          <a:xfrm>
            <a:off x="7966147" y="4557113"/>
            <a:ext cx="12574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营收（亿元）</a:t>
            </a:r>
          </a:p>
        </p:txBody>
      </p:sp>
      <p:sp>
        <p:nvSpPr>
          <p:cNvPr id="1743" name="m-d41_combo-ur">
            <a:extLst>
              <a:ext uri="{FF2B5EF4-FFF2-40B4-BE49-F238E27FC236}">
                <a16:creationId xmlns:a16="http://schemas.microsoft.com/office/drawing/2014/main" id="{13E80436-68AE-9CCD-3203-161A7DC3967C}"/>
              </a:ext>
            </a:extLst>
          </p:cNvPr>
          <p:cNvSpPr txBox="1"/>
          <p:nvPr/>
        </p:nvSpPr>
        <p:spPr>
          <a:xfrm>
            <a:off x="9511637" y="4557113"/>
            <a:ext cx="71076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毛利率</a:t>
            </a:r>
          </a:p>
        </p:txBody>
      </p:sp>
      <p:sp>
        <p:nvSpPr>
          <p:cNvPr id="1744" name="m-d41_combo-b-1">
            <a:extLst>
              <a:ext uri="{FF2B5EF4-FFF2-40B4-BE49-F238E27FC236}">
                <a16:creationId xmlns:a16="http://schemas.microsoft.com/office/drawing/2014/main" id="{FB141716-9441-6C55-B08F-E656126A9D45}"/>
              </a:ext>
            </a:extLst>
          </p:cNvPr>
          <p:cNvSpPr/>
          <p:nvPr/>
        </p:nvSpPr>
        <p:spPr>
          <a:xfrm>
            <a:off x="8165846" y="5106035"/>
            <a:ext cx="84645" cy="189548"/>
          </a:xfrm>
          <a:custGeom>
            <a:avLst/>
            <a:gdLst/>
            <a:ahLst/>
            <a:cxnLst/>
            <a:rect l="0" t="0" r="r" b="b"/>
            <a:pathLst>
              <a:path w="84645" h="189548">
                <a:moveTo>
                  <a:pt x="0" y="189548"/>
                </a:moveTo>
                <a:lnTo>
                  <a:pt x="0" y="13017"/>
                </a:lnTo>
                <a:cubicBezTo>
                  <a:pt x="0" y="5842"/>
                  <a:pt x="5842" y="0"/>
                  <a:pt x="13017" y="0"/>
                </a:cubicBezTo>
                <a:lnTo>
                  <a:pt x="71628" y="0"/>
                </a:lnTo>
                <a:cubicBezTo>
                  <a:pt x="78803" y="0"/>
                  <a:pt x="84645" y="5842"/>
                  <a:pt x="84645" y="13017"/>
                </a:cubicBezTo>
                <a:lnTo>
                  <a:pt x="84645" y="189548"/>
                </a:lnTo>
                <a:close/>
              </a:path>
            </a:pathLst>
          </a:custGeom>
          <a:gradFill rotWithShape="1">
            <a:gsLst>
              <a:gs pos="0">
                <a:srgbClr val="619DD7"/>
              </a:gs>
              <a:gs pos="100000">
                <a:srgbClr val="3985CD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45" name="m-d41_combo-bv-1">
            <a:extLst>
              <a:ext uri="{FF2B5EF4-FFF2-40B4-BE49-F238E27FC236}">
                <a16:creationId xmlns:a16="http://schemas.microsoft.com/office/drawing/2014/main" id="{6A4C9C2E-4A5F-C466-6CFF-E716B83E17BE}"/>
              </a:ext>
            </a:extLst>
          </p:cNvPr>
          <p:cNvSpPr txBox="1"/>
          <p:nvPr/>
        </p:nvSpPr>
        <p:spPr>
          <a:xfrm>
            <a:off x="8181301" y="5064704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2.1</a:t>
            </a:r>
          </a:p>
        </p:txBody>
      </p:sp>
      <p:sp>
        <p:nvSpPr>
          <p:cNvPr id="1746" name="m-d41_combo-x-1">
            <a:extLst>
              <a:ext uri="{FF2B5EF4-FFF2-40B4-BE49-F238E27FC236}">
                <a16:creationId xmlns:a16="http://schemas.microsoft.com/office/drawing/2014/main" id="{1EEC9C29-F69E-DA40-FFB1-29DB6BD7530D}"/>
              </a:ext>
            </a:extLst>
          </p:cNvPr>
          <p:cNvSpPr txBox="1"/>
          <p:nvPr/>
        </p:nvSpPr>
        <p:spPr>
          <a:xfrm>
            <a:off x="8177513" y="5313124"/>
            <a:ext cx="6131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25Q1</a:t>
            </a:r>
          </a:p>
        </p:txBody>
      </p:sp>
      <p:sp>
        <p:nvSpPr>
          <p:cNvPr id="1747" name="m-d41_combo-b-2">
            <a:extLst>
              <a:ext uri="{FF2B5EF4-FFF2-40B4-BE49-F238E27FC236}">
                <a16:creationId xmlns:a16="http://schemas.microsoft.com/office/drawing/2014/main" id="{E24B048A-D10A-C05B-6AC1-4D79D8BE1B96}"/>
              </a:ext>
            </a:extLst>
          </p:cNvPr>
          <p:cNvSpPr/>
          <p:nvPr/>
        </p:nvSpPr>
        <p:spPr>
          <a:xfrm>
            <a:off x="8335073" y="5078984"/>
            <a:ext cx="84646" cy="216599"/>
          </a:xfrm>
          <a:custGeom>
            <a:avLst/>
            <a:gdLst/>
            <a:ahLst/>
            <a:cxnLst/>
            <a:rect l="0" t="0" r="r" b="b"/>
            <a:pathLst>
              <a:path w="84646" h="216599">
                <a:moveTo>
                  <a:pt x="0" y="216599"/>
                </a:moveTo>
                <a:lnTo>
                  <a:pt x="0" y="13017"/>
                </a:lnTo>
                <a:cubicBezTo>
                  <a:pt x="0" y="5842"/>
                  <a:pt x="5842" y="0"/>
                  <a:pt x="13018" y="0"/>
                </a:cubicBezTo>
                <a:lnTo>
                  <a:pt x="71628" y="0"/>
                </a:lnTo>
                <a:cubicBezTo>
                  <a:pt x="78804" y="0"/>
                  <a:pt x="84646" y="5842"/>
                  <a:pt x="84646" y="13017"/>
                </a:cubicBezTo>
                <a:lnTo>
                  <a:pt x="84646" y="216599"/>
                </a:lnTo>
                <a:close/>
              </a:path>
            </a:pathLst>
          </a:custGeom>
          <a:gradFill rotWithShape="1">
            <a:gsLst>
              <a:gs pos="0">
                <a:srgbClr val="619DD7"/>
              </a:gs>
              <a:gs pos="100000">
                <a:srgbClr val="3985CD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48" name="m-d41_combo-bv-2">
            <a:extLst>
              <a:ext uri="{FF2B5EF4-FFF2-40B4-BE49-F238E27FC236}">
                <a16:creationId xmlns:a16="http://schemas.microsoft.com/office/drawing/2014/main" id="{4B7B39EA-A095-AF9E-02BC-A9423BECF05B}"/>
              </a:ext>
            </a:extLst>
          </p:cNvPr>
          <p:cNvSpPr txBox="1"/>
          <p:nvPr/>
        </p:nvSpPr>
        <p:spPr>
          <a:xfrm>
            <a:off x="8350528" y="5037628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2.4</a:t>
            </a:r>
          </a:p>
        </p:txBody>
      </p:sp>
      <p:sp>
        <p:nvSpPr>
          <p:cNvPr id="1749" name="m-d41_combo-x-2">
            <a:extLst>
              <a:ext uri="{FF2B5EF4-FFF2-40B4-BE49-F238E27FC236}">
                <a16:creationId xmlns:a16="http://schemas.microsoft.com/office/drawing/2014/main" id="{A006D7F5-7681-0470-A2FE-3C7AA6DB6247}"/>
              </a:ext>
            </a:extLst>
          </p:cNvPr>
          <p:cNvSpPr txBox="1"/>
          <p:nvPr/>
        </p:nvSpPr>
        <p:spPr>
          <a:xfrm>
            <a:off x="8346740" y="5313124"/>
            <a:ext cx="6131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25Q2</a:t>
            </a:r>
          </a:p>
        </p:txBody>
      </p:sp>
      <p:sp>
        <p:nvSpPr>
          <p:cNvPr id="1750" name="m-d41_combo-b-3">
            <a:extLst>
              <a:ext uri="{FF2B5EF4-FFF2-40B4-BE49-F238E27FC236}">
                <a16:creationId xmlns:a16="http://schemas.microsoft.com/office/drawing/2014/main" id="{DB1AAD8D-7FDD-1E9C-27F8-DA2D886EAAC4}"/>
              </a:ext>
            </a:extLst>
          </p:cNvPr>
          <p:cNvSpPr/>
          <p:nvPr/>
        </p:nvSpPr>
        <p:spPr>
          <a:xfrm>
            <a:off x="8504301" y="5060886"/>
            <a:ext cx="84645" cy="234696"/>
          </a:xfrm>
          <a:custGeom>
            <a:avLst/>
            <a:gdLst/>
            <a:ahLst/>
            <a:cxnLst/>
            <a:rect l="0" t="0" r="r" b="b"/>
            <a:pathLst>
              <a:path w="84645" h="234696">
                <a:moveTo>
                  <a:pt x="0" y="234696"/>
                </a:moveTo>
                <a:lnTo>
                  <a:pt x="0" y="13017"/>
                </a:lnTo>
                <a:cubicBezTo>
                  <a:pt x="0" y="5842"/>
                  <a:pt x="5842" y="0"/>
                  <a:pt x="13017" y="0"/>
                </a:cubicBezTo>
                <a:lnTo>
                  <a:pt x="71628" y="0"/>
                </a:lnTo>
                <a:cubicBezTo>
                  <a:pt x="78804" y="0"/>
                  <a:pt x="84645" y="5842"/>
                  <a:pt x="84645" y="13017"/>
                </a:cubicBezTo>
                <a:lnTo>
                  <a:pt x="84645" y="234696"/>
                </a:lnTo>
                <a:close/>
              </a:path>
            </a:pathLst>
          </a:custGeom>
          <a:gradFill rotWithShape="1">
            <a:gsLst>
              <a:gs pos="0">
                <a:srgbClr val="619DD7"/>
              </a:gs>
              <a:gs pos="100000">
                <a:srgbClr val="3985CD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51" name="m-d41_combo-bv-3">
            <a:extLst>
              <a:ext uri="{FF2B5EF4-FFF2-40B4-BE49-F238E27FC236}">
                <a16:creationId xmlns:a16="http://schemas.microsoft.com/office/drawing/2014/main" id="{837525CD-00CD-0D99-E63F-353D668335CF}"/>
              </a:ext>
            </a:extLst>
          </p:cNvPr>
          <p:cNvSpPr txBox="1"/>
          <p:nvPr/>
        </p:nvSpPr>
        <p:spPr>
          <a:xfrm>
            <a:off x="8519756" y="5019577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2.6</a:t>
            </a:r>
          </a:p>
        </p:txBody>
      </p:sp>
      <p:sp>
        <p:nvSpPr>
          <p:cNvPr id="1752" name="m-d41_combo-x-3">
            <a:extLst>
              <a:ext uri="{FF2B5EF4-FFF2-40B4-BE49-F238E27FC236}">
                <a16:creationId xmlns:a16="http://schemas.microsoft.com/office/drawing/2014/main" id="{011E3550-803D-06CA-CD6D-A5AFD16B8063}"/>
              </a:ext>
            </a:extLst>
          </p:cNvPr>
          <p:cNvSpPr txBox="1"/>
          <p:nvPr/>
        </p:nvSpPr>
        <p:spPr>
          <a:xfrm>
            <a:off x="8515968" y="5313124"/>
            <a:ext cx="6131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25Q3</a:t>
            </a:r>
          </a:p>
        </p:txBody>
      </p:sp>
      <p:sp>
        <p:nvSpPr>
          <p:cNvPr id="1753" name="m-d41_combo-b-4">
            <a:extLst>
              <a:ext uri="{FF2B5EF4-FFF2-40B4-BE49-F238E27FC236}">
                <a16:creationId xmlns:a16="http://schemas.microsoft.com/office/drawing/2014/main" id="{153ECFD7-B78D-C4A0-6B2D-4E1E10D2A528}"/>
              </a:ext>
            </a:extLst>
          </p:cNvPr>
          <p:cNvSpPr/>
          <p:nvPr/>
        </p:nvSpPr>
        <p:spPr>
          <a:xfrm>
            <a:off x="8673528" y="5024818"/>
            <a:ext cx="84645" cy="270764"/>
          </a:xfrm>
          <a:custGeom>
            <a:avLst/>
            <a:gdLst/>
            <a:ahLst/>
            <a:cxnLst/>
            <a:rect l="0" t="0" r="r" b="b"/>
            <a:pathLst>
              <a:path w="84645" h="270764">
                <a:moveTo>
                  <a:pt x="0" y="270764"/>
                </a:moveTo>
                <a:lnTo>
                  <a:pt x="0" y="13018"/>
                </a:lnTo>
                <a:cubicBezTo>
                  <a:pt x="0" y="5842"/>
                  <a:pt x="5842" y="0"/>
                  <a:pt x="13017" y="0"/>
                </a:cubicBezTo>
                <a:lnTo>
                  <a:pt x="71628" y="0"/>
                </a:lnTo>
                <a:cubicBezTo>
                  <a:pt x="78803" y="0"/>
                  <a:pt x="84645" y="5842"/>
                  <a:pt x="84645" y="13018"/>
                </a:cubicBezTo>
                <a:lnTo>
                  <a:pt x="84645" y="270764"/>
                </a:lnTo>
                <a:close/>
              </a:path>
            </a:pathLst>
          </a:custGeom>
          <a:gradFill rotWithShape="1">
            <a:gsLst>
              <a:gs pos="0">
                <a:srgbClr val="619DD7"/>
              </a:gs>
              <a:gs pos="100000">
                <a:srgbClr val="3985CD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54" name="m-d41_combo-bv-4">
            <a:extLst>
              <a:ext uri="{FF2B5EF4-FFF2-40B4-BE49-F238E27FC236}">
                <a16:creationId xmlns:a16="http://schemas.microsoft.com/office/drawing/2014/main" id="{4CC3E8BA-23D5-66E4-A093-7A19EAB7369E}"/>
              </a:ext>
            </a:extLst>
          </p:cNvPr>
          <p:cNvSpPr txBox="1"/>
          <p:nvPr/>
        </p:nvSpPr>
        <p:spPr>
          <a:xfrm>
            <a:off x="8688983" y="4983475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3.0</a:t>
            </a:r>
          </a:p>
        </p:txBody>
      </p:sp>
      <p:sp>
        <p:nvSpPr>
          <p:cNvPr id="1755" name="m-d41_combo-x-4">
            <a:extLst>
              <a:ext uri="{FF2B5EF4-FFF2-40B4-BE49-F238E27FC236}">
                <a16:creationId xmlns:a16="http://schemas.microsoft.com/office/drawing/2014/main" id="{1601B469-19E0-C97B-820C-228481FCB1C2}"/>
              </a:ext>
            </a:extLst>
          </p:cNvPr>
          <p:cNvSpPr txBox="1"/>
          <p:nvPr/>
        </p:nvSpPr>
        <p:spPr>
          <a:xfrm>
            <a:off x="8685195" y="5313124"/>
            <a:ext cx="6131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25Q4</a:t>
            </a:r>
          </a:p>
        </p:txBody>
      </p:sp>
      <p:sp>
        <p:nvSpPr>
          <p:cNvPr id="1756" name="m-d41_combo-b-5">
            <a:extLst>
              <a:ext uri="{FF2B5EF4-FFF2-40B4-BE49-F238E27FC236}">
                <a16:creationId xmlns:a16="http://schemas.microsoft.com/office/drawing/2014/main" id="{9A72D426-A7E9-204E-3B68-D773E3B905DA}"/>
              </a:ext>
            </a:extLst>
          </p:cNvPr>
          <p:cNvSpPr/>
          <p:nvPr/>
        </p:nvSpPr>
        <p:spPr>
          <a:xfrm>
            <a:off x="8842756" y="5042852"/>
            <a:ext cx="84646" cy="252730"/>
          </a:xfrm>
          <a:custGeom>
            <a:avLst/>
            <a:gdLst/>
            <a:ahLst/>
            <a:cxnLst/>
            <a:rect l="0" t="0" r="r" b="b"/>
            <a:pathLst>
              <a:path w="84646" h="252730">
                <a:moveTo>
                  <a:pt x="0" y="252730"/>
                </a:moveTo>
                <a:lnTo>
                  <a:pt x="0" y="13018"/>
                </a:lnTo>
                <a:cubicBezTo>
                  <a:pt x="0" y="5842"/>
                  <a:pt x="5842" y="0"/>
                  <a:pt x="13017" y="0"/>
                </a:cubicBezTo>
                <a:lnTo>
                  <a:pt x="71628" y="0"/>
                </a:lnTo>
                <a:cubicBezTo>
                  <a:pt x="78804" y="0"/>
                  <a:pt x="84646" y="5842"/>
                  <a:pt x="84646" y="13018"/>
                </a:cubicBezTo>
                <a:lnTo>
                  <a:pt x="84646" y="252730"/>
                </a:lnTo>
                <a:close/>
              </a:path>
            </a:pathLst>
          </a:custGeom>
          <a:gradFill rotWithShape="1">
            <a:gsLst>
              <a:gs pos="0">
                <a:srgbClr val="4270B0"/>
              </a:gs>
              <a:gs pos="100000">
                <a:srgbClr val="134C9C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57" name="m-d41_combo-bv-5">
            <a:extLst>
              <a:ext uri="{FF2B5EF4-FFF2-40B4-BE49-F238E27FC236}">
                <a16:creationId xmlns:a16="http://schemas.microsoft.com/office/drawing/2014/main" id="{981A595E-2B23-A0E2-E50A-7B6EAD8B7D2C}"/>
              </a:ext>
            </a:extLst>
          </p:cNvPr>
          <p:cNvSpPr txBox="1"/>
          <p:nvPr/>
        </p:nvSpPr>
        <p:spPr>
          <a:xfrm>
            <a:off x="8858211" y="5001526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2.8</a:t>
            </a:r>
          </a:p>
        </p:txBody>
      </p:sp>
      <p:sp>
        <p:nvSpPr>
          <p:cNvPr id="1758" name="m-d41_combo-x-5">
            <a:extLst>
              <a:ext uri="{FF2B5EF4-FFF2-40B4-BE49-F238E27FC236}">
                <a16:creationId xmlns:a16="http://schemas.microsoft.com/office/drawing/2014/main" id="{8263376D-E126-B820-717E-D502B2E9ADDF}"/>
              </a:ext>
            </a:extLst>
          </p:cNvPr>
          <p:cNvSpPr txBox="1"/>
          <p:nvPr/>
        </p:nvSpPr>
        <p:spPr>
          <a:xfrm>
            <a:off x="8854423" y="5313124"/>
            <a:ext cx="6131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26Q1</a:t>
            </a:r>
          </a:p>
        </p:txBody>
      </p:sp>
      <p:sp>
        <p:nvSpPr>
          <p:cNvPr id="1759" name="m-d41_combo-b-6">
            <a:extLst>
              <a:ext uri="{FF2B5EF4-FFF2-40B4-BE49-F238E27FC236}">
                <a16:creationId xmlns:a16="http://schemas.microsoft.com/office/drawing/2014/main" id="{268C7575-EAF0-9611-357E-3D8439AEAE59}"/>
              </a:ext>
            </a:extLst>
          </p:cNvPr>
          <p:cNvSpPr/>
          <p:nvPr/>
        </p:nvSpPr>
        <p:spPr>
          <a:xfrm>
            <a:off x="9011984" y="5006784"/>
            <a:ext cx="84645" cy="288798"/>
          </a:xfrm>
          <a:custGeom>
            <a:avLst/>
            <a:gdLst/>
            <a:ahLst/>
            <a:cxnLst/>
            <a:rect l="0" t="0" r="r" b="b"/>
            <a:pathLst>
              <a:path w="84645" h="288798">
                <a:moveTo>
                  <a:pt x="0" y="288798"/>
                </a:moveTo>
                <a:lnTo>
                  <a:pt x="0" y="13017"/>
                </a:lnTo>
                <a:cubicBezTo>
                  <a:pt x="0" y="5842"/>
                  <a:pt x="5842" y="0"/>
                  <a:pt x="13017" y="0"/>
                </a:cubicBezTo>
                <a:lnTo>
                  <a:pt x="71628" y="0"/>
                </a:lnTo>
                <a:cubicBezTo>
                  <a:pt x="78803" y="0"/>
                  <a:pt x="84645" y="5842"/>
                  <a:pt x="84645" y="13017"/>
                </a:cubicBezTo>
                <a:lnTo>
                  <a:pt x="84645" y="288798"/>
                </a:lnTo>
                <a:close/>
              </a:path>
            </a:pathLst>
          </a:custGeom>
          <a:gradFill rotWithShape="1">
            <a:gsLst>
              <a:gs pos="0">
                <a:srgbClr val="4270B0"/>
              </a:gs>
              <a:gs pos="100000">
                <a:srgbClr val="134C9C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60" name="m-d41_combo-bv-6">
            <a:extLst>
              <a:ext uri="{FF2B5EF4-FFF2-40B4-BE49-F238E27FC236}">
                <a16:creationId xmlns:a16="http://schemas.microsoft.com/office/drawing/2014/main" id="{DF472B96-BB68-5065-62A1-2B924C72D5AB}"/>
              </a:ext>
            </a:extLst>
          </p:cNvPr>
          <p:cNvSpPr txBox="1"/>
          <p:nvPr/>
        </p:nvSpPr>
        <p:spPr>
          <a:xfrm>
            <a:off x="9027438" y="4965424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3.2</a:t>
            </a:r>
          </a:p>
        </p:txBody>
      </p:sp>
      <p:sp>
        <p:nvSpPr>
          <p:cNvPr id="1761" name="m-d41_combo-x-6">
            <a:extLst>
              <a:ext uri="{FF2B5EF4-FFF2-40B4-BE49-F238E27FC236}">
                <a16:creationId xmlns:a16="http://schemas.microsoft.com/office/drawing/2014/main" id="{D915C03A-9299-7BBB-2D42-6B526EFA2851}"/>
              </a:ext>
            </a:extLst>
          </p:cNvPr>
          <p:cNvSpPr txBox="1"/>
          <p:nvPr/>
        </p:nvSpPr>
        <p:spPr>
          <a:xfrm>
            <a:off x="9023650" y="5313124"/>
            <a:ext cx="6131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26Q2</a:t>
            </a:r>
          </a:p>
        </p:txBody>
      </p:sp>
      <p:sp>
        <p:nvSpPr>
          <p:cNvPr id="1762" name="m-d41_combo-b-7">
            <a:extLst>
              <a:ext uri="{FF2B5EF4-FFF2-40B4-BE49-F238E27FC236}">
                <a16:creationId xmlns:a16="http://schemas.microsoft.com/office/drawing/2014/main" id="{9DC07BA8-8752-3356-DFC0-369279808F42}"/>
              </a:ext>
            </a:extLst>
          </p:cNvPr>
          <p:cNvSpPr/>
          <p:nvPr/>
        </p:nvSpPr>
        <p:spPr>
          <a:xfrm>
            <a:off x="9181211" y="4979670"/>
            <a:ext cx="84646" cy="315912"/>
          </a:xfrm>
          <a:custGeom>
            <a:avLst/>
            <a:gdLst/>
            <a:ahLst/>
            <a:cxnLst/>
            <a:rect l="0" t="0" r="r" b="b"/>
            <a:pathLst>
              <a:path w="84646" h="315912">
                <a:moveTo>
                  <a:pt x="0" y="315912"/>
                </a:moveTo>
                <a:lnTo>
                  <a:pt x="0" y="13017"/>
                </a:lnTo>
                <a:cubicBezTo>
                  <a:pt x="0" y="5842"/>
                  <a:pt x="5842" y="0"/>
                  <a:pt x="13018" y="0"/>
                </a:cubicBezTo>
                <a:lnTo>
                  <a:pt x="71628" y="0"/>
                </a:lnTo>
                <a:cubicBezTo>
                  <a:pt x="78804" y="0"/>
                  <a:pt x="84646" y="5842"/>
                  <a:pt x="84646" y="13017"/>
                </a:cubicBezTo>
                <a:lnTo>
                  <a:pt x="84646" y="315912"/>
                </a:lnTo>
                <a:close/>
              </a:path>
            </a:pathLst>
          </a:custGeom>
          <a:gradFill rotWithShape="1">
            <a:gsLst>
              <a:gs pos="0">
                <a:srgbClr val="4270B0"/>
              </a:gs>
              <a:gs pos="100000">
                <a:srgbClr val="134C9C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63" name="m-d41_combo-bv-7">
            <a:extLst>
              <a:ext uri="{FF2B5EF4-FFF2-40B4-BE49-F238E27FC236}">
                <a16:creationId xmlns:a16="http://schemas.microsoft.com/office/drawing/2014/main" id="{2F4A3542-8F5F-577C-0FF5-A05AEE8ED2EE}"/>
              </a:ext>
            </a:extLst>
          </p:cNvPr>
          <p:cNvSpPr txBox="1"/>
          <p:nvPr/>
        </p:nvSpPr>
        <p:spPr>
          <a:xfrm>
            <a:off x="9196666" y="4938348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3.5</a:t>
            </a:r>
          </a:p>
        </p:txBody>
      </p:sp>
      <p:sp>
        <p:nvSpPr>
          <p:cNvPr id="1764" name="m-d41_combo-x-7">
            <a:extLst>
              <a:ext uri="{FF2B5EF4-FFF2-40B4-BE49-F238E27FC236}">
                <a16:creationId xmlns:a16="http://schemas.microsoft.com/office/drawing/2014/main" id="{1CEFEBFF-6633-BAC0-9B44-52B96BA61428}"/>
              </a:ext>
            </a:extLst>
          </p:cNvPr>
          <p:cNvSpPr txBox="1"/>
          <p:nvPr/>
        </p:nvSpPr>
        <p:spPr>
          <a:xfrm>
            <a:off x="9192878" y="5313124"/>
            <a:ext cx="6131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26Q3</a:t>
            </a:r>
          </a:p>
        </p:txBody>
      </p:sp>
      <p:sp>
        <p:nvSpPr>
          <p:cNvPr id="1765" name="m-d41_combo-b-8">
            <a:extLst>
              <a:ext uri="{FF2B5EF4-FFF2-40B4-BE49-F238E27FC236}">
                <a16:creationId xmlns:a16="http://schemas.microsoft.com/office/drawing/2014/main" id="{02C0C562-4F70-2B43-9040-ECB7160F5C4A}"/>
              </a:ext>
            </a:extLst>
          </p:cNvPr>
          <p:cNvSpPr/>
          <p:nvPr/>
        </p:nvSpPr>
        <p:spPr>
          <a:xfrm>
            <a:off x="9350438" y="4925504"/>
            <a:ext cx="84645" cy="370078"/>
          </a:xfrm>
          <a:custGeom>
            <a:avLst/>
            <a:gdLst/>
            <a:ahLst/>
            <a:cxnLst/>
            <a:rect l="0" t="0" r="r" b="b"/>
            <a:pathLst>
              <a:path w="84645" h="370078">
                <a:moveTo>
                  <a:pt x="0" y="370078"/>
                </a:moveTo>
                <a:lnTo>
                  <a:pt x="0" y="13018"/>
                </a:lnTo>
                <a:cubicBezTo>
                  <a:pt x="0" y="5842"/>
                  <a:pt x="5842" y="0"/>
                  <a:pt x="13017" y="0"/>
                </a:cubicBezTo>
                <a:lnTo>
                  <a:pt x="71628" y="0"/>
                </a:lnTo>
                <a:cubicBezTo>
                  <a:pt x="78804" y="0"/>
                  <a:pt x="84645" y="5842"/>
                  <a:pt x="84645" y="13018"/>
                </a:cubicBezTo>
                <a:lnTo>
                  <a:pt x="84645" y="370078"/>
                </a:lnTo>
                <a:close/>
              </a:path>
            </a:pathLst>
          </a:custGeom>
          <a:gradFill rotWithShape="1">
            <a:gsLst>
              <a:gs pos="0">
                <a:srgbClr val="4270B0"/>
              </a:gs>
              <a:gs pos="100000">
                <a:srgbClr val="134C9C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66" name="m-d41_combo-bv-8">
            <a:extLst>
              <a:ext uri="{FF2B5EF4-FFF2-40B4-BE49-F238E27FC236}">
                <a16:creationId xmlns:a16="http://schemas.microsoft.com/office/drawing/2014/main" id="{7193BAC0-8013-F117-783A-1AC4C47BFDC8}"/>
              </a:ext>
            </a:extLst>
          </p:cNvPr>
          <p:cNvSpPr txBox="1"/>
          <p:nvPr/>
        </p:nvSpPr>
        <p:spPr>
          <a:xfrm>
            <a:off x="9365893" y="4884195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4.1</a:t>
            </a:r>
          </a:p>
        </p:txBody>
      </p:sp>
      <p:sp>
        <p:nvSpPr>
          <p:cNvPr id="1767" name="m-d41_combo-x-8">
            <a:extLst>
              <a:ext uri="{FF2B5EF4-FFF2-40B4-BE49-F238E27FC236}">
                <a16:creationId xmlns:a16="http://schemas.microsoft.com/office/drawing/2014/main" id="{86733015-0709-E684-FA8D-3F63B970CA1B}"/>
              </a:ext>
            </a:extLst>
          </p:cNvPr>
          <p:cNvSpPr txBox="1"/>
          <p:nvPr/>
        </p:nvSpPr>
        <p:spPr>
          <a:xfrm>
            <a:off x="9362105" y="5313124"/>
            <a:ext cx="6131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26Q4</a:t>
            </a:r>
          </a:p>
        </p:txBody>
      </p:sp>
      <p:sp>
        <p:nvSpPr>
          <p:cNvPr id="1768" name="m-d41_combo-gm">
            <a:extLst>
              <a:ext uri="{FF2B5EF4-FFF2-40B4-BE49-F238E27FC236}">
                <a16:creationId xmlns:a16="http://schemas.microsoft.com/office/drawing/2014/main" id="{D71A4F25-FD5D-ADA8-8F6E-B52654423FF8}"/>
              </a:ext>
            </a:extLst>
          </p:cNvPr>
          <p:cNvSpPr/>
          <p:nvPr/>
        </p:nvSpPr>
        <p:spPr>
          <a:xfrm>
            <a:off x="8208137" y="4713414"/>
            <a:ext cx="1184593" cy="182999"/>
          </a:xfrm>
          <a:custGeom>
            <a:avLst/>
            <a:gdLst/>
            <a:ahLst/>
            <a:cxnLst/>
            <a:rect l="0" t="0" r="r" b="b"/>
            <a:pathLst>
              <a:path w="1184593" h="182999">
                <a:moveTo>
                  <a:pt x="0" y="91376"/>
                </a:moveTo>
                <a:cubicBezTo>
                  <a:pt x="19749" y="96520"/>
                  <a:pt x="129794" y="124777"/>
                  <a:pt x="169291" y="135382"/>
                </a:cubicBezTo>
                <a:cubicBezTo>
                  <a:pt x="208725" y="146050"/>
                  <a:pt x="299022" y="180403"/>
                  <a:pt x="338455" y="182816"/>
                </a:cubicBezTo>
                <a:cubicBezTo>
                  <a:pt x="377952" y="185166"/>
                  <a:pt x="468249" y="164783"/>
                  <a:pt x="507746" y="155702"/>
                </a:cubicBezTo>
                <a:cubicBezTo>
                  <a:pt x="547180" y="146622"/>
                  <a:pt x="637477" y="116014"/>
                  <a:pt x="676910" y="104965"/>
                </a:cubicBezTo>
                <a:cubicBezTo>
                  <a:pt x="716407" y="93916"/>
                  <a:pt x="806704" y="70802"/>
                  <a:pt x="846201" y="60960"/>
                </a:cubicBezTo>
                <a:cubicBezTo>
                  <a:pt x="885635" y="51054"/>
                  <a:pt x="975932" y="27432"/>
                  <a:pt x="1015429" y="20320"/>
                </a:cubicBezTo>
                <a:cubicBezTo>
                  <a:pt x="1054862" y="13208"/>
                  <a:pt x="1164908" y="2413"/>
                  <a:pt x="1184593" y="0"/>
                </a:cubicBezTo>
              </a:path>
            </a:pathLst>
          </a:custGeom>
          <a:noFill/>
          <a:ln w="5207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69" name="m-d41_combo-gp-1">
            <a:extLst>
              <a:ext uri="{FF2B5EF4-FFF2-40B4-BE49-F238E27FC236}">
                <a16:creationId xmlns:a16="http://schemas.microsoft.com/office/drawing/2014/main" id="{CFB51303-2924-C6E0-0B83-3623CF34DB22}"/>
              </a:ext>
            </a:extLst>
          </p:cNvPr>
          <p:cNvSpPr/>
          <p:nvPr/>
        </p:nvSpPr>
        <p:spPr>
          <a:xfrm>
            <a:off x="8197755" y="4794409"/>
            <a:ext cx="20828" cy="20828"/>
          </a:xfrm>
          <a:prstGeom prst="ellipse">
            <a:avLst/>
          </a:prstGeom>
          <a:solidFill>
            <a:srgbClr val="E0703A"/>
          </a:solidFill>
          <a:ln w="3905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70" name="m-d41_combo-gv-1">
            <a:extLst>
              <a:ext uri="{FF2B5EF4-FFF2-40B4-BE49-F238E27FC236}">
                <a16:creationId xmlns:a16="http://schemas.microsoft.com/office/drawing/2014/main" id="{1B22498F-3BFC-8327-DC76-3DD623360688}"/>
              </a:ext>
            </a:extLst>
          </p:cNvPr>
          <p:cNvSpPr txBox="1"/>
          <p:nvPr/>
        </p:nvSpPr>
        <p:spPr>
          <a:xfrm>
            <a:off x="8173249" y="4755477"/>
            <a:ext cx="69839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36.5%</a:t>
            </a:r>
          </a:p>
        </p:txBody>
      </p:sp>
      <p:sp>
        <p:nvSpPr>
          <p:cNvPr id="1771" name="m-d41_combo-gp-2">
            <a:extLst>
              <a:ext uri="{FF2B5EF4-FFF2-40B4-BE49-F238E27FC236}">
                <a16:creationId xmlns:a16="http://schemas.microsoft.com/office/drawing/2014/main" id="{2A2844A3-550A-1322-A945-7720DCD9B120}"/>
              </a:ext>
            </a:extLst>
          </p:cNvPr>
          <p:cNvSpPr/>
          <p:nvPr/>
        </p:nvSpPr>
        <p:spPr>
          <a:xfrm>
            <a:off x="8366982" y="4838408"/>
            <a:ext cx="20828" cy="20828"/>
          </a:xfrm>
          <a:prstGeom prst="ellipse">
            <a:avLst/>
          </a:prstGeom>
          <a:solidFill>
            <a:srgbClr val="FFFFFF"/>
          </a:solidFill>
          <a:ln w="3905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72" name="m-d41_combo-gv-2">
            <a:extLst>
              <a:ext uri="{FF2B5EF4-FFF2-40B4-BE49-F238E27FC236}">
                <a16:creationId xmlns:a16="http://schemas.microsoft.com/office/drawing/2014/main" id="{36C54783-DE62-70DC-44B1-55C0086802EF}"/>
              </a:ext>
            </a:extLst>
          </p:cNvPr>
          <p:cNvSpPr txBox="1"/>
          <p:nvPr/>
        </p:nvSpPr>
        <p:spPr>
          <a:xfrm>
            <a:off x="8342477" y="4799476"/>
            <a:ext cx="69839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35.2%</a:t>
            </a:r>
          </a:p>
        </p:txBody>
      </p:sp>
      <p:sp>
        <p:nvSpPr>
          <p:cNvPr id="1773" name="m-d41_combo-gp-3">
            <a:extLst>
              <a:ext uri="{FF2B5EF4-FFF2-40B4-BE49-F238E27FC236}">
                <a16:creationId xmlns:a16="http://schemas.microsoft.com/office/drawing/2014/main" id="{B4474860-027B-061B-5DED-17F1C57BF8FE}"/>
              </a:ext>
            </a:extLst>
          </p:cNvPr>
          <p:cNvSpPr/>
          <p:nvPr/>
        </p:nvSpPr>
        <p:spPr>
          <a:xfrm>
            <a:off x="8536210" y="4885792"/>
            <a:ext cx="20828" cy="20828"/>
          </a:xfrm>
          <a:prstGeom prst="ellipse">
            <a:avLst/>
          </a:prstGeom>
          <a:solidFill>
            <a:srgbClr val="FFFFFF"/>
          </a:solidFill>
          <a:ln w="3905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74" name="m-d41_combo-gv-3">
            <a:extLst>
              <a:ext uri="{FF2B5EF4-FFF2-40B4-BE49-F238E27FC236}">
                <a16:creationId xmlns:a16="http://schemas.microsoft.com/office/drawing/2014/main" id="{F4E208C0-756A-DAF2-F169-8C7E688526B4}"/>
              </a:ext>
            </a:extLst>
          </p:cNvPr>
          <p:cNvSpPr txBox="1"/>
          <p:nvPr/>
        </p:nvSpPr>
        <p:spPr>
          <a:xfrm>
            <a:off x="8511704" y="4846860"/>
            <a:ext cx="69839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33.8%</a:t>
            </a:r>
          </a:p>
        </p:txBody>
      </p:sp>
      <p:sp>
        <p:nvSpPr>
          <p:cNvPr id="1775" name="m-d41_combo-gp-4">
            <a:extLst>
              <a:ext uri="{FF2B5EF4-FFF2-40B4-BE49-F238E27FC236}">
                <a16:creationId xmlns:a16="http://schemas.microsoft.com/office/drawing/2014/main" id="{69F70D02-E7F5-902D-C1BF-F119B9D5AE80}"/>
              </a:ext>
            </a:extLst>
          </p:cNvPr>
          <p:cNvSpPr/>
          <p:nvPr/>
        </p:nvSpPr>
        <p:spPr>
          <a:xfrm>
            <a:off x="8705437" y="4858715"/>
            <a:ext cx="20828" cy="20828"/>
          </a:xfrm>
          <a:prstGeom prst="ellipse">
            <a:avLst/>
          </a:prstGeom>
          <a:solidFill>
            <a:srgbClr val="FFFFFF"/>
          </a:solidFill>
          <a:ln w="3905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76" name="m-d41_combo-gv-4">
            <a:extLst>
              <a:ext uri="{FF2B5EF4-FFF2-40B4-BE49-F238E27FC236}">
                <a16:creationId xmlns:a16="http://schemas.microsoft.com/office/drawing/2014/main" id="{5B8B1D36-3B2C-5020-0516-17F02128EFCF}"/>
              </a:ext>
            </a:extLst>
          </p:cNvPr>
          <p:cNvSpPr txBox="1"/>
          <p:nvPr/>
        </p:nvSpPr>
        <p:spPr>
          <a:xfrm>
            <a:off x="8680932" y="4819783"/>
            <a:ext cx="69839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34.6%</a:t>
            </a:r>
          </a:p>
        </p:txBody>
      </p:sp>
      <p:sp>
        <p:nvSpPr>
          <p:cNvPr id="1777" name="m-d41_combo-gp-5">
            <a:extLst>
              <a:ext uri="{FF2B5EF4-FFF2-40B4-BE49-F238E27FC236}">
                <a16:creationId xmlns:a16="http://schemas.microsoft.com/office/drawing/2014/main" id="{DF621326-432E-E0EF-38CA-07EB112D2F6B}"/>
              </a:ext>
            </a:extLst>
          </p:cNvPr>
          <p:cNvSpPr/>
          <p:nvPr/>
        </p:nvSpPr>
        <p:spPr>
          <a:xfrm>
            <a:off x="8874665" y="4807947"/>
            <a:ext cx="20828" cy="20828"/>
          </a:xfrm>
          <a:prstGeom prst="ellipse">
            <a:avLst/>
          </a:prstGeom>
          <a:solidFill>
            <a:srgbClr val="E0703A"/>
          </a:solidFill>
          <a:ln w="3905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78" name="m-d41_combo-gv-5">
            <a:extLst>
              <a:ext uri="{FF2B5EF4-FFF2-40B4-BE49-F238E27FC236}">
                <a16:creationId xmlns:a16="http://schemas.microsoft.com/office/drawing/2014/main" id="{0E015829-B8F8-1F0E-4E04-E66E477CAC7F}"/>
              </a:ext>
            </a:extLst>
          </p:cNvPr>
          <p:cNvSpPr txBox="1"/>
          <p:nvPr/>
        </p:nvSpPr>
        <p:spPr>
          <a:xfrm>
            <a:off x="8850159" y="4769015"/>
            <a:ext cx="69839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36.1%</a:t>
            </a:r>
          </a:p>
        </p:txBody>
      </p:sp>
      <p:sp>
        <p:nvSpPr>
          <p:cNvPr id="1779" name="m-d41_combo-gp-6">
            <a:extLst>
              <a:ext uri="{FF2B5EF4-FFF2-40B4-BE49-F238E27FC236}">
                <a16:creationId xmlns:a16="http://schemas.microsoft.com/office/drawing/2014/main" id="{A5BFE735-CB67-62F4-8026-8CD939ED2DAF}"/>
              </a:ext>
            </a:extLst>
          </p:cNvPr>
          <p:cNvSpPr/>
          <p:nvPr/>
        </p:nvSpPr>
        <p:spPr>
          <a:xfrm>
            <a:off x="9043892" y="4763948"/>
            <a:ext cx="20828" cy="20828"/>
          </a:xfrm>
          <a:prstGeom prst="ellipse">
            <a:avLst/>
          </a:prstGeom>
          <a:solidFill>
            <a:srgbClr val="E0703A"/>
          </a:solidFill>
          <a:ln w="3905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80" name="m-d41_combo-gv-6">
            <a:extLst>
              <a:ext uri="{FF2B5EF4-FFF2-40B4-BE49-F238E27FC236}">
                <a16:creationId xmlns:a16="http://schemas.microsoft.com/office/drawing/2014/main" id="{FD5A0F67-B060-135E-4322-D3D679F6E3A3}"/>
              </a:ext>
            </a:extLst>
          </p:cNvPr>
          <p:cNvSpPr txBox="1"/>
          <p:nvPr/>
        </p:nvSpPr>
        <p:spPr>
          <a:xfrm>
            <a:off x="9019387" y="4725016"/>
            <a:ext cx="69839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37.4%</a:t>
            </a:r>
          </a:p>
        </p:txBody>
      </p:sp>
      <p:sp>
        <p:nvSpPr>
          <p:cNvPr id="1781" name="m-d41_combo-gp-7">
            <a:extLst>
              <a:ext uri="{FF2B5EF4-FFF2-40B4-BE49-F238E27FC236}">
                <a16:creationId xmlns:a16="http://schemas.microsoft.com/office/drawing/2014/main" id="{BED10F0A-4FA8-E819-CE5C-21E6972D59F2}"/>
              </a:ext>
            </a:extLst>
          </p:cNvPr>
          <p:cNvSpPr/>
          <p:nvPr/>
        </p:nvSpPr>
        <p:spPr>
          <a:xfrm>
            <a:off x="9213120" y="4723333"/>
            <a:ext cx="20828" cy="20828"/>
          </a:xfrm>
          <a:prstGeom prst="ellipse">
            <a:avLst/>
          </a:prstGeom>
          <a:solidFill>
            <a:srgbClr val="E0703A"/>
          </a:solidFill>
          <a:ln w="3905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82" name="m-d41_combo-gv-7">
            <a:extLst>
              <a:ext uri="{FF2B5EF4-FFF2-40B4-BE49-F238E27FC236}">
                <a16:creationId xmlns:a16="http://schemas.microsoft.com/office/drawing/2014/main" id="{17DE63DE-F54C-57F0-465C-7FF9F531E059}"/>
              </a:ext>
            </a:extLst>
          </p:cNvPr>
          <p:cNvSpPr txBox="1"/>
          <p:nvPr/>
        </p:nvSpPr>
        <p:spPr>
          <a:xfrm>
            <a:off x="9188614" y="4684401"/>
            <a:ext cx="69839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38.6%</a:t>
            </a:r>
          </a:p>
        </p:txBody>
      </p:sp>
      <p:sp>
        <p:nvSpPr>
          <p:cNvPr id="1783" name="m-d41_combo-gp-8">
            <a:extLst>
              <a:ext uri="{FF2B5EF4-FFF2-40B4-BE49-F238E27FC236}">
                <a16:creationId xmlns:a16="http://schemas.microsoft.com/office/drawing/2014/main" id="{6403C5F8-2822-D04F-D29C-71BC0F487E5A}"/>
              </a:ext>
            </a:extLst>
          </p:cNvPr>
          <p:cNvSpPr/>
          <p:nvPr/>
        </p:nvSpPr>
        <p:spPr>
          <a:xfrm>
            <a:off x="9382347" y="4703026"/>
            <a:ext cx="20828" cy="20828"/>
          </a:xfrm>
          <a:prstGeom prst="ellipse">
            <a:avLst/>
          </a:prstGeom>
          <a:solidFill>
            <a:srgbClr val="E0703A"/>
          </a:solidFill>
          <a:ln w="3905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84" name="m-d41_combo-gv-8">
            <a:extLst>
              <a:ext uri="{FF2B5EF4-FFF2-40B4-BE49-F238E27FC236}">
                <a16:creationId xmlns:a16="http://schemas.microsoft.com/office/drawing/2014/main" id="{A4082D9B-0FB7-3533-76D3-D5C1F3541CA0}"/>
              </a:ext>
            </a:extLst>
          </p:cNvPr>
          <p:cNvSpPr txBox="1"/>
          <p:nvPr/>
        </p:nvSpPr>
        <p:spPr>
          <a:xfrm>
            <a:off x="9357842" y="4664094"/>
            <a:ext cx="69839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39.2%</a:t>
            </a:r>
          </a:p>
        </p:txBody>
      </p:sp>
      <p:sp>
        <p:nvSpPr>
          <p:cNvPr id="1785" name="m-d41_combo-lg-1">
            <a:extLst>
              <a:ext uri="{FF2B5EF4-FFF2-40B4-BE49-F238E27FC236}">
                <a16:creationId xmlns:a16="http://schemas.microsoft.com/office/drawing/2014/main" id="{C2EFB1C1-E069-3708-F272-5FC891591DEC}"/>
              </a:ext>
            </a:extLst>
          </p:cNvPr>
          <p:cNvSpPr/>
          <p:nvPr/>
        </p:nvSpPr>
        <p:spPr>
          <a:xfrm>
            <a:off x="8123555" y="5371084"/>
            <a:ext cx="28638" cy="28638"/>
          </a:xfrm>
          <a:custGeom>
            <a:avLst/>
            <a:gdLst/>
            <a:ahLst/>
            <a:cxnLst/>
            <a:rect l="0" t="0" r="r" b="b"/>
            <a:pathLst>
              <a:path w="28638" h="28638">
                <a:moveTo>
                  <a:pt x="6540" y="0"/>
                </a:moveTo>
                <a:lnTo>
                  <a:pt x="22162" y="0"/>
                </a:lnTo>
                <a:cubicBezTo>
                  <a:pt x="25717" y="0"/>
                  <a:pt x="28638" y="2921"/>
                  <a:pt x="28638" y="6540"/>
                </a:cubicBezTo>
                <a:lnTo>
                  <a:pt x="28638" y="22162"/>
                </a:lnTo>
                <a:cubicBezTo>
                  <a:pt x="28638" y="25717"/>
                  <a:pt x="25717" y="28638"/>
                  <a:pt x="22162" y="28638"/>
                </a:cubicBezTo>
                <a:lnTo>
                  <a:pt x="6540" y="28638"/>
                </a:lnTo>
                <a:cubicBezTo>
                  <a:pt x="2921" y="28638"/>
                  <a:pt x="0" y="25717"/>
                  <a:pt x="0" y="22162"/>
                </a:cubicBezTo>
                <a:lnTo>
                  <a:pt x="0" y="6540"/>
                </a:lnTo>
                <a:cubicBezTo>
                  <a:pt x="0" y="2921"/>
                  <a:pt x="2921" y="0"/>
                  <a:pt x="654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86" name="m-d41_combo-lg-1t">
            <a:extLst>
              <a:ext uri="{FF2B5EF4-FFF2-40B4-BE49-F238E27FC236}">
                <a16:creationId xmlns:a16="http://schemas.microsoft.com/office/drawing/2014/main" id="{4B35AF65-1F89-0F57-1B0E-B46C2B67E7C0}"/>
              </a:ext>
            </a:extLst>
          </p:cNvPr>
          <p:cNvSpPr txBox="1"/>
          <p:nvPr/>
        </p:nvSpPr>
        <p:spPr>
          <a:xfrm>
            <a:off x="8162868" y="5367797"/>
            <a:ext cx="111300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2025 营收</a:t>
            </a:r>
          </a:p>
        </p:txBody>
      </p:sp>
      <p:sp>
        <p:nvSpPr>
          <p:cNvPr id="1787" name="m-d41_combo-lg-2">
            <a:extLst>
              <a:ext uri="{FF2B5EF4-FFF2-40B4-BE49-F238E27FC236}">
                <a16:creationId xmlns:a16="http://schemas.microsoft.com/office/drawing/2014/main" id="{599A94A1-E2C4-936C-CB0D-88BF11BFFD51}"/>
              </a:ext>
            </a:extLst>
          </p:cNvPr>
          <p:cNvSpPr/>
          <p:nvPr/>
        </p:nvSpPr>
        <p:spPr>
          <a:xfrm>
            <a:off x="8318818" y="5371084"/>
            <a:ext cx="28638" cy="28638"/>
          </a:xfrm>
          <a:custGeom>
            <a:avLst/>
            <a:gdLst/>
            <a:ahLst/>
            <a:cxnLst/>
            <a:rect l="0" t="0" r="r" b="b"/>
            <a:pathLst>
              <a:path w="28638" h="28638">
                <a:moveTo>
                  <a:pt x="6540" y="0"/>
                </a:moveTo>
                <a:lnTo>
                  <a:pt x="22162" y="0"/>
                </a:lnTo>
                <a:cubicBezTo>
                  <a:pt x="25717" y="0"/>
                  <a:pt x="28638" y="2921"/>
                  <a:pt x="28638" y="6540"/>
                </a:cubicBezTo>
                <a:lnTo>
                  <a:pt x="28638" y="22162"/>
                </a:lnTo>
                <a:cubicBezTo>
                  <a:pt x="28638" y="25717"/>
                  <a:pt x="25717" y="28638"/>
                  <a:pt x="22162" y="28638"/>
                </a:cubicBezTo>
                <a:lnTo>
                  <a:pt x="6540" y="28638"/>
                </a:lnTo>
                <a:cubicBezTo>
                  <a:pt x="2921" y="28638"/>
                  <a:pt x="0" y="25717"/>
                  <a:pt x="0" y="22162"/>
                </a:cubicBezTo>
                <a:lnTo>
                  <a:pt x="0" y="6540"/>
                </a:lnTo>
                <a:cubicBezTo>
                  <a:pt x="0" y="2921"/>
                  <a:pt x="2921" y="0"/>
                  <a:pt x="654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88" name="m-d41_combo-lg-2t">
            <a:extLst>
              <a:ext uri="{FF2B5EF4-FFF2-40B4-BE49-F238E27FC236}">
                <a16:creationId xmlns:a16="http://schemas.microsoft.com/office/drawing/2014/main" id="{ACB02A03-B54F-892B-35B1-43CDB3691131}"/>
              </a:ext>
            </a:extLst>
          </p:cNvPr>
          <p:cNvSpPr txBox="1"/>
          <p:nvPr/>
        </p:nvSpPr>
        <p:spPr>
          <a:xfrm>
            <a:off x="8358130" y="5367797"/>
            <a:ext cx="111300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2026 营收</a:t>
            </a:r>
          </a:p>
        </p:txBody>
      </p:sp>
      <p:cxnSp>
        <p:nvCxnSpPr>
          <p:cNvPr id="1789" name="m-d41_combo-lg-3">
            <a:extLst>
              <a:ext uri="{FF2B5EF4-FFF2-40B4-BE49-F238E27FC236}">
                <a16:creationId xmlns:a16="http://schemas.microsoft.com/office/drawing/2014/main" id="{546523AB-5BD7-636A-4316-8A37102670F3}"/>
              </a:ext>
            </a:extLst>
          </p:cNvPr>
          <p:cNvCxnSpPr/>
          <p:nvPr/>
        </p:nvCxnSpPr>
        <p:spPr>
          <a:xfrm>
            <a:off x="8514080" y="5385403"/>
            <a:ext cx="52070" cy="0"/>
          </a:xfrm>
          <a:prstGeom prst="line">
            <a:avLst/>
          </a:prstGeom>
          <a:ln w="5207" cap="rnd">
            <a:solidFill>
              <a:srgbClr val="E0703A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90" name="m-d41_combo-lg-3t">
            <a:extLst>
              <a:ext uri="{FF2B5EF4-FFF2-40B4-BE49-F238E27FC236}">
                <a16:creationId xmlns:a16="http://schemas.microsoft.com/office/drawing/2014/main" id="{A38CD7A9-68CC-2545-1270-29B17A886D54}"/>
              </a:ext>
            </a:extLst>
          </p:cNvPr>
          <p:cNvSpPr txBox="1"/>
          <p:nvPr/>
        </p:nvSpPr>
        <p:spPr>
          <a:xfrm>
            <a:off x="8576824" y="5367797"/>
            <a:ext cx="226114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毛利率（实心 = 达标）</a:t>
            </a:r>
          </a:p>
        </p:txBody>
      </p:sp>
      <p:sp>
        <p:nvSpPr>
          <p:cNvPr id="1791" name="m-d41_combo-k-1">
            <a:extLst>
              <a:ext uri="{FF2B5EF4-FFF2-40B4-BE49-F238E27FC236}">
                <a16:creationId xmlns:a16="http://schemas.microsoft.com/office/drawing/2014/main" id="{DD5B90B1-0B93-E0E7-208C-1D27A6580693}"/>
              </a:ext>
            </a:extLst>
          </p:cNvPr>
          <p:cNvSpPr/>
          <p:nvPr/>
        </p:nvSpPr>
        <p:spPr>
          <a:xfrm>
            <a:off x="9633585" y="4605655"/>
            <a:ext cx="455612" cy="218694"/>
          </a:xfrm>
          <a:custGeom>
            <a:avLst/>
            <a:gdLst/>
            <a:ahLst/>
            <a:cxnLst/>
            <a:rect l="0" t="0" r="r" b="b"/>
            <a:pathLst>
              <a:path w="455612" h="218694">
                <a:moveTo>
                  <a:pt x="26035" y="0"/>
                </a:moveTo>
                <a:lnTo>
                  <a:pt x="429578" y="0"/>
                </a:lnTo>
                <a:cubicBezTo>
                  <a:pt x="443992" y="0"/>
                  <a:pt x="455612" y="11621"/>
                  <a:pt x="455612" y="26035"/>
                </a:cubicBezTo>
                <a:lnTo>
                  <a:pt x="455612" y="192659"/>
                </a:lnTo>
                <a:cubicBezTo>
                  <a:pt x="455612" y="207074"/>
                  <a:pt x="443992" y="218694"/>
                  <a:pt x="429578" y="218694"/>
                </a:cubicBezTo>
                <a:lnTo>
                  <a:pt x="26035" y="218694"/>
                </a:lnTo>
                <a:cubicBezTo>
                  <a:pt x="11621" y="218694"/>
                  <a:pt x="0" y="207074"/>
                  <a:pt x="0" y="192659"/>
                </a:cubicBezTo>
                <a:lnTo>
                  <a:pt x="0" y="26035"/>
                </a:lnTo>
                <a:cubicBezTo>
                  <a:pt x="0" y="11621"/>
                  <a:pt x="11621" y="0"/>
                  <a:pt x="26035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92" name="m-d41_combo-kh-1">
            <a:extLst>
              <a:ext uri="{FF2B5EF4-FFF2-40B4-BE49-F238E27FC236}">
                <a16:creationId xmlns:a16="http://schemas.microsoft.com/office/drawing/2014/main" id="{B90863E8-8923-F0D7-C115-59D461E0B642}"/>
              </a:ext>
            </a:extLst>
          </p:cNvPr>
          <p:cNvSpPr txBox="1"/>
          <p:nvPr/>
        </p:nvSpPr>
        <p:spPr>
          <a:xfrm>
            <a:off x="9667378" y="4638205"/>
            <a:ext cx="182115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CFE0F4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2026 全年营收</a:t>
            </a:r>
          </a:p>
        </p:txBody>
      </p:sp>
      <p:sp>
        <p:nvSpPr>
          <p:cNvPr id="1793" name="m-d41_combo-kv-1">
            <a:extLst>
              <a:ext uri="{FF2B5EF4-FFF2-40B4-BE49-F238E27FC236}">
                <a16:creationId xmlns:a16="http://schemas.microsoft.com/office/drawing/2014/main" id="{42FD5E29-8721-2209-A395-08230CCC1574}"/>
              </a:ext>
            </a:extLst>
          </p:cNvPr>
          <p:cNvSpPr txBox="1"/>
          <p:nvPr/>
        </p:nvSpPr>
        <p:spPr>
          <a:xfrm>
            <a:off x="9663161" y="4675507"/>
            <a:ext cx="273107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13.6 亿</a:t>
            </a:r>
          </a:p>
        </p:txBody>
      </p:sp>
      <p:sp>
        <p:nvSpPr>
          <p:cNvPr id="1794" name="m-d41_combo-kd-1">
            <a:extLst>
              <a:ext uri="{FF2B5EF4-FFF2-40B4-BE49-F238E27FC236}">
                <a16:creationId xmlns:a16="http://schemas.microsoft.com/office/drawing/2014/main" id="{678924D6-86F3-421D-38E4-86F0C27950F6}"/>
              </a:ext>
            </a:extLst>
          </p:cNvPr>
          <p:cNvSpPr txBox="1"/>
          <p:nvPr/>
        </p:nvSpPr>
        <p:spPr>
          <a:xfrm>
            <a:off x="9667691" y="4768992"/>
            <a:ext cx="11403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CFE0F4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同比 +35%</a:t>
            </a:r>
          </a:p>
        </p:txBody>
      </p:sp>
      <p:sp>
        <p:nvSpPr>
          <p:cNvPr id="1795" name="m-d41_combo-k-2">
            <a:extLst>
              <a:ext uri="{FF2B5EF4-FFF2-40B4-BE49-F238E27FC236}">
                <a16:creationId xmlns:a16="http://schemas.microsoft.com/office/drawing/2014/main" id="{8A7706C6-66A5-2800-CD3D-EF09B76A96A1}"/>
              </a:ext>
            </a:extLst>
          </p:cNvPr>
          <p:cNvSpPr/>
          <p:nvPr/>
        </p:nvSpPr>
        <p:spPr>
          <a:xfrm>
            <a:off x="9633585" y="4852988"/>
            <a:ext cx="455612" cy="218694"/>
          </a:xfrm>
          <a:custGeom>
            <a:avLst/>
            <a:gdLst/>
            <a:ahLst/>
            <a:cxnLst/>
            <a:rect l="0" t="0" r="r" b="b"/>
            <a:pathLst>
              <a:path w="455612" h="218694">
                <a:moveTo>
                  <a:pt x="26035" y="0"/>
                </a:moveTo>
                <a:lnTo>
                  <a:pt x="429578" y="0"/>
                </a:lnTo>
                <a:cubicBezTo>
                  <a:pt x="443992" y="0"/>
                  <a:pt x="455612" y="11621"/>
                  <a:pt x="455612" y="26035"/>
                </a:cubicBezTo>
                <a:lnTo>
                  <a:pt x="455612" y="192659"/>
                </a:lnTo>
                <a:cubicBezTo>
                  <a:pt x="455612" y="207074"/>
                  <a:pt x="443992" y="218694"/>
                  <a:pt x="429578" y="218694"/>
                </a:cubicBezTo>
                <a:lnTo>
                  <a:pt x="26035" y="218694"/>
                </a:lnTo>
                <a:cubicBezTo>
                  <a:pt x="11621" y="218694"/>
                  <a:pt x="0" y="207074"/>
                  <a:pt x="0" y="192659"/>
                </a:cubicBezTo>
                <a:lnTo>
                  <a:pt x="0" y="26035"/>
                </a:lnTo>
                <a:cubicBezTo>
                  <a:pt x="0" y="11621"/>
                  <a:pt x="11621" y="0"/>
                  <a:pt x="260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96" name="m-d41_combo-kh-2">
            <a:extLst>
              <a:ext uri="{FF2B5EF4-FFF2-40B4-BE49-F238E27FC236}">
                <a16:creationId xmlns:a16="http://schemas.microsoft.com/office/drawing/2014/main" id="{37E4C7A3-36FE-F411-E8AC-17803D2C87A9}"/>
              </a:ext>
            </a:extLst>
          </p:cNvPr>
          <p:cNvSpPr txBox="1"/>
          <p:nvPr/>
        </p:nvSpPr>
        <p:spPr>
          <a:xfrm>
            <a:off x="9667378" y="4885538"/>
            <a:ext cx="154726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Q4 单季营收</a:t>
            </a:r>
          </a:p>
        </p:txBody>
      </p:sp>
      <p:sp>
        <p:nvSpPr>
          <p:cNvPr id="1797" name="m-d41_combo-kv-2">
            <a:extLst>
              <a:ext uri="{FF2B5EF4-FFF2-40B4-BE49-F238E27FC236}">
                <a16:creationId xmlns:a16="http://schemas.microsoft.com/office/drawing/2014/main" id="{46373242-EC78-199B-D2EA-5205953F0A41}"/>
              </a:ext>
            </a:extLst>
          </p:cNvPr>
          <p:cNvSpPr txBox="1"/>
          <p:nvPr/>
        </p:nvSpPr>
        <p:spPr>
          <a:xfrm>
            <a:off x="9663161" y="4922839"/>
            <a:ext cx="240381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4.1 亿</a:t>
            </a:r>
          </a:p>
        </p:txBody>
      </p:sp>
      <p:sp>
        <p:nvSpPr>
          <p:cNvPr id="1798" name="m-d41_combo-kd-2">
            <a:extLst>
              <a:ext uri="{FF2B5EF4-FFF2-40B4-BE49-F238E27FC236}">
                <a16:creationId xmlns:a16="http://schemas.microsoft.com/office/drawing/2014/main" id="{BABAAD9B-1900-BD7B-949D-9959DDFB43C4}"/>
              </a:ext>
            </a:extLst>
          </p:cNvPr>
          <p:cNvSpPr txBox="1"/>
          <p:nvPr/>
        </p:nvSpPr>
        <p:spPr>
          <a:xfrm>
            <a:off x="9667691" y="5016325"/>
            <a:ext cx="117158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创历史新高</a:t>
            </a:r>
          </a:p>
        </p:txBody>
      </p:sp>
      <p:sp>
        <p:nvSpPr>
          <p:cNvPr id="1799" name="m-d41_combo-k-3">
            <a:extLst>
              <a:ext uri="{FF2B5EF4-FFF2-40B4-BE49-F238E27FC236}">
                <a16:creationId xmlns:a16="http://schemas.microsoft.com/office/drawing/2014/main" id="{74E38664-76CC-680A-B50F-EC38FEF3B420}"/>
              </a:ext>
            </a:extLst>
          </p:cNvPr>
          <p:cNvSpPr/>
          <p:nvPr/>
        </p:nvSpPr>
        <p:spPr>
          <a:xfrm>
            <a:off x="9633585" y="5100320"/>
            <a:ext cx="455612" cy="218694"/>
          </a:xfrm>
          <a:custGeom>
            <a:avLst/>
            <a:gdLst/>
            <a:ahLst/>
            <a:cxnLst/>
            <a:rect l="0" t="0" r="r" b="b"/>
            <a:pathLst>
              <a:path w="455612" h="218694">
                <a:moveTo>
                  <a:pt x="26035" y="0"/>
                </a:moveTo>
                <a:lnTo>
                  <a:pt x="429578" y="0"/>
                </a:lnTo>
                <a:cubicBezTo>
                  <a:pt x="443992" y="0"/>
                  <a:pt x="455612" y="11620"/>
                  <a:pt x="455612" y="26035"/>
                </a:cubicBezTo>
                <a:lnTo>
                  <a:pt x="455612" y="192659"/>
                </a:lnTo>
                <a:cubicBezTo>
                  <a:pt x="455612" y="207073"/>
                  <a:pt x="443992" y="218694"/>
                  <a:pt x="429578" y="218694"/>
                </a:cubicBezTo>
                <a:lnTo>
                  <a:pt x="26035" y="218694"/>
                </a:lnTo>
                <a:cubicBezTo>
                  <a:pt x="11621" y="218694"/>
                  <a:pt x="0" y="207073"/>
                  <a:pt x="0" y="192659"/>
                </a:cubicBezTo>
                <a:lnTo>
                  <a:pt x="0" y="26035"/>
                </a:lnTo>
                <a:cubicBezTo>
                  <a:pt x="0" y="11620"/>
                  <a:pt x="11621" y="0"/>
                  <a:pt x="260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00" name="m-d41_combo-kh-3">
            <a:extLst>
              <a:ext uri="{FF2B5EF4-FFF2-40B4-BE49-F238E27FC236}">
                <a16:creationId xmlns:a16="http://schemas.microsoft.com/office/drawing/2014/main" id="{D4E1325D-DC0B-F84B-5AC2-78BC1FC8E101}"/>
              </a:ext>
            </a:extLst>
          </p:cNvPr>
          <p:cNvSpPr txBox="1"/>
          <p:nvPr/>
        </p:nvSpPr>
        <p:spPr>
          <a:xfrm>
            <a:off x="9667378" y="5132870"/>
            <a:ext cx="131295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Q4 毛利率</a:t>
            </a:r>
          </a:p>
        </p:txBody>
      </p:sp>
      <p:sp>
        <p:nvSpPr>
          <p:cNvPr id="1801" name="m-d41_combo-kv-3">
            <a:extLst>
              <a:ext uri="{FF2B5EF4-FFF2-40B4-BE49-F238E27FC236}">
                <a16:creationId xmlns:a16="http://schemas.microsoft.com/office/drawing/2014/main" id="{920FC3D0-7ED0-B503-E15E-82C10A241101}"/>
              </a:ext>
            </a:extLst>
          </p:cNvPr>
          <p:cNvSpPr txBox="1"/>
          <p:nvPr/>
        </p:nvSpPr>
        <p:spPr>
          <a:xfrm>
            <a:off x="9663161" y="5170172"/>
            <a:ext cx="215179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5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39.2%</a:t>
            </a:r>
          </a:p>
        </p:txBody>
      </p:sp>
      <p:sp>
        <p:nvSpPr>
          <p:cNvPr id="1802" name="m-d41_combo-kd-3">
            <a:extLst>
              <a:ext uri="{FF2B5EF4-FFF2-40B4-BE49-F238E27FC236}">
                <a16:creationId xmlns:a16="http://schemas.microsoft.com/office/drawing/2014/main" id="{39E7435E-FD29-0FBB-743A-A8494A98F4D7}"/>
              </a:ext>
            </a:extLst>
          </p:cNvPr>
          <p:cNvSpPr txBox="1"/>
          <p:nvPr/>
        </p:nvSpPr>
        <p:spPr>
          <a:xfrm>
            <a:off x="9667691" y="5263657"/>
            <a:ext cx="216741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连续四季在目标区间内</a:t>
            </a:r>
          </a:p>
        </p:txBody>
      </p:sp>
      <p:sp>
        <p:nvSpPr>
          <p:cNvPr id="1803" name="m-d41_combo-sum">
            <a:extLst>
              <a:ext uri="{FF2B5EF4-FFF2-40B4-BE49-F238E27FC236}">
                <a16:creationId xmlns:a16="http://schemas.microsoft.com/office/drawing/2014/main" id="{579D8759-4E4A-2C62-BC15-F63B302A72E3}"/>
              </a:ext>
            </a:extLst>
          </p:cNvPr>
          <p:cNvSpPr/>
          <p:nvPr/>
        </p:nvSpPr>
        <p:spPr>
          <a:xfrm>
            <a:off x="7980362" y="5462206"/>
            <a:ext cx="2108835" cy="85915"/>
          </a:xfrm>
          <a:custGeom>
            <a:avLst/>
            <a:gdLst/>
            <a:ahLst/>
            <a:cxnLst/>
            <a:rect l="0" t="0" r="r" b="b"/>
            <a:pathLst>
              <a:path w="2108835" h="85915">
                <a:moveTo>
                  <a:pt x="18224" y="0"/>
                </a:moveTo>
                <a:lnTo>
                  <a:pt x="2090610" y="0"/>
                </a:lnTo>
                <a:cubicBezTo>
                  <a:pt x="2100643" y="0"/>
                  <a:pt x="2108835" y="8191"/>
                  <a:pt x="2108835" y="18224"/>
                </a:cubicBezTo>
                <a:lnTo>
                  <a:pt x="2108835" y="67691"/>
                </a:lnTo>
                <a:cubicBezTo>
                  <a:pt x="2108835" y="77724"/>
                  <a:pt x="2100643" y="85915"/>
                  <a:pt x="2090610" y="85915"/>
                </a:cubicBezTo>
                <a:lnTo>
                  <a:pt x="18224" y="85915"/>
                </a:lnTo>
                <a:cubicBezTo>
                  <a:pt x="8191" y="85915"/>
                  <a:pt x="0" y="77724"/>
                  <a:pt x="0" y="67691"/>
                </a:cubicBezTo>
                <a:lnTo>
                  <a:pt x="0" y="18224"/>
                </a:lnTo>
                <a:cubicBezTo>
                  <a:pt x="0" y="8191"/>
                  <a:pt x="8191" y="0"/>
                  <a:pt x="18224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04" name="m-d41_combo-sum-bar">
            <a:extLst>
              <a:ext uri="{FF2B5EF4-FFF2-40B4-BE49-F238E27FC236}">
                <a16:creationId xmlns:a16="http://schemas.microsoft.com/office/drawing/2014/main" id="{AAB00B9D-09EA-108B-F241-65138C62D31B}"/>
              </a:ext>
            </a:extLst>
          </p:cNvPr>
          <p:cNvSpPr/>
          <p:nvPr/>
        </p:nvSpPr>
        <p:spPr>
          <a:xfrm>
            <a:off x="7980362" y="5462206"/>
            <a:ext cx="6509" cy="85916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05" name="m-d41_combo-sum-h">
            <a:extLst>
              <a:ext uri="{FF2B5EF4-FFF2-40B4-BE49-F238E27FC236}">
                <a16:creationId xmlns:a16="http://schemas.microsoft.com/office/drawing/2014/main" id="{25D27DEC-3787-79B8-2B07-C4E84EC751FA}"/>
              </a:ext>
            </a:extLst>
          </p:cNvPr>
          <p:cNvSpPr txBox="1"/>
          <p:nvPr/>
        </p:nvSpPr>
        <p:spPr>
          <a:xfrm>
            <a:off x="8019363" y="5489550"/>
            <a:ext cx="118850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经营判断</a:t>
            </a:r>
          </a:p>
        </p:txBody>
      </p:sp>
      <p:sp>
        <p:nvSpPr>
          <p:cNvPr id="1806" name="m-d41_combo-sum-p">
            <a:extLst>
              <a:ext uri="{FF2B5EF4-FFF2-40B4-BE49-F238E27FC236}">
                <a16:creationId xmlns:a16="http://schemas.microsoft.com/office/drawing/2014/main" id="{3ADC5DF9-51A1-0627-0553-9BF316A3CA14}"/>
              </a:ext>
            </a:extLst>
          </p:cNvPr>
          <p:cNvSpPr txBox="1"/>
          <p:nvPr/>
        </p:nvSpPr>
        <p:spPr>
          <a:xfrm>
            <a:off x="8172891" y="5488746"/>
            <a:ext cx="87562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2025 下半年为冲规模牺牲了毛利；2026 调整价格策略后，规模与质量同时回升。</a:t>
            </a:r>
          </a:p>
        </p:txBody>
      </p:sp>
      <p:cxnSp>
        <p:nvCxnSpPr>
          <p:cNvPr id="1807" name="m-d41_combo-foot-line">
            <a:extLst>
              <a:ext uri="{FF2B5EF4-FFF2-40B4-BE49-F238E27FC236}">
                <a16:creationId xmlns:a16="http://schemas.microsoft.com/office/drawing/2014/main" id="{4AE5A74A-3255-E353-BD01-8331E3A66B84}"/>
              </a:ext>
            </a:extLst>
          </p:cNvPr>
          <p:cNvCxnSpPr/>
          <p:nvPr/>
        </p:nvCxnSpPr>
        <p:spPr>
          <a:xfrm>
            <a:off x="7904861" y="55923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08" name="m-d41_combo-foot-l">
            <a:extLst>
              <a:ext uri="{FF2B5EF4-FFF2-40B4-BE49-F238E27FC236}">
                <a16:creationId xmlns:a16="http://schemas.microsoft.com/office/drawing/2014/main" id="{C01FA413-046E-1B61-28D0-CFBE124F3FCE}"/>
              </a:ext>
            </a:extLst>
          </p:cNvPr>
          <p:cNvSpPr txBox="1"/>
          <p:nvPr/>
        </p:nvSpPr>
        <p:spPr>
          <a:xfrm>
            <a:off x="7902674" y="5606323"/>
            <a:ext cx="23861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双轴组合图 · 8 个季度</a:t>
            </a:r>
          </a:p>
        </p:txBody>
      </p:sp>
      <p:sp>
        <p:nvSpPr>
          <p:cNvPr id="1809" name="m-d41_combo-foot-r">
            <a:extLst>
              <a:ext uri="{FF2B5EF4-FFF2-40B4-BE49-F238E27FC236}">
                <a16:creationId xmlns:a16="http://schemas.microsoft.com/office/drawing/2014/main" id="{8CC546A4-3139-ADE0-DFFB-9D5D98EA4A48}"/>
              </a:ext>
            </a:extLst>
          </p:cNvPr>
          <p:cNvSpPr txBox="1"/>
          <p:nvPr/>
        </p:nvSpPr>
        <p:spPr>
          <a:xfrm>
            <a:off x="9907109" y="56063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1810" name="mini-card-p02_cycle_loop">
            <a:extLst>
              <a:ext uri="{FF2B5EF4-FFF2-40B4-BE49-F238E27FC236}">
                <a16:creationId xmlns:a16="http://schemas.microsoft.com/office/drawing/2014/main" id="{7633D4F1-BF52-4961-09C4-BE3CC68D0077}"/>
              </a:ext>
            </a:extLst>
          </p:cNvPr>
          <p:cNvSpPr/>
          <p:nvPr/>
        </p:nvSpPr>
        <p:spPr>
          <a:xfrm>
            <a:off x="10401300" y="42672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1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1" y="1405890"/>
                </a:lnTo>
                <a:cubicBezTo>
                  <a:pt x="35878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7"/>
                  <a:pt x="35878" y="0"/>
                  <a:pt x="80201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11" name="m-p02_cycle_loop-title-bar">
            <a:extLst>
              <a:ext uri="{FF2B5EF4-FFF2-40B4-BE49-F238E27FC236}">
                <a16:creationId xmlns:a16="http://schemas.microsoft.com/office/drawing/2014/main" id="{FB15F761-B616-94F6-0117-DA085BCECEB6}"/>
              </a:ext>
            </a:extLst>
          </p:cNvPr>
          <p:cNvSpPr/>
          <p:nvPr/>
        </p:nvSpPr>
        <p:spPr>
          <a:xfrm>
            <a:off x="10521061" y="43661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12" name="m-p02_cycle_loop-title-bar-accent">
            <a:extLst>
              <a:ext uri="{FF2B5EF4-FFF2-40B4-BE49-F238E27FC236}">
                <a16:creationId xmlns:a16="http://schemas.microsoft.com/office/drawing/2014/main" id="{02B1F77D-276C-2453-761B-D908BAB479BB}"/>
              </a:ext>
            </a:extLst>
          </p:cNvPr>
          <p:cNvSpPr/>
          <p:nvPr/>
        </p:nvSpPr>
        <p:spPr>
          <a:xfrm>
            <a:off x="10521061" y="43661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13" name="m-p02_cycle_loop-title-cn">
            <a:extLst>
              <a:ext uri="{FF2B5EF4-FFF2-40B4-BE49-F238E27FC236}">
                <a16:creationId xmlns:a16="http://schemas.microsoft.com/office/drawing/2014/main" id="{DB30F386-C195-7126-732F-4E5DC9B6B48E}"/>
              </a:ext>
            </a:extLst>
          </p:cNvPr>
          <p:cNvSpPr txBox="1"/>
          <p:nvPr/>
        </p:nvSpPr>
        <p:spPr>
          <a:xfrm>
            <a:off x="10553240" y="4348768"/>
            <a:ext cx="426453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闭环运营机制</a:t>
            </a:r>
          </a:p>
        </p:txBody>
      </p:sp>
      <p:sp>
        <p:nvSpPr>
          <p:cNvPr id="1814" name="m-p02_cycle_loop-title-en">
            <a:extLst>
              <a:ext uri="{FF2B5EF4-FFF2-40B4-BE49-F238E27FC236}">
                <a16:creationId xmlns:a16="http://schemas.microsoft.com/office/drawing/2014/main" id="{0FA82C0A-F42F-4F86-ACB6-1F4C56574E05}"/>
              </a:ext>
            </a:extLst>
          </p:cNvPr>
          <p:cNvSpPr txBox="1"/>
          <p:nvPr/>
        </p:nvSpPr>
        <p:spPr>
          <a:xfrm>
            <a:off x="10560530" y="4436050"/>
            <a:ext cx="40841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CLOSED-LOOP OPERATION</a:t>
            </a:r>
          </a:p>
        </p:txBody>
      </p:sp>
      <p:sp>
        <p:nvSpPr>
          <p:cNvPr id="1815" name="m-p02_cycle_loop-title-sub">
            <a:extLst>
              <a:ext uri="{FF2B5EF4-FFF2-40B4-BE49-F238E27FC236}">
                <a16:creationId xmlns:a16="http://schemas.microsoft.com/office/drawing/2014/main" id="{589F10F7-36A8-453C-16A3-845D815D2B11}"/>
              </a:ext>
            </a:extLst>
          </p:cNvPr>
          <p:cNvSpPr txBox="1"/>
          <p:nvPr/>
        </p:nvSpPr>
        <p:spPr>
          <a:xfrm>
            <a:off x="12295008" y="4405192"/>
            <a:ext cx="488547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五个环节持续循环，形成自我优化的管理闭环</a:t>
            </a:r>
          </a:p>
        </p:txBody>
      </p:sp>
      <p:sp>
        <p:nvSpPr>
          <p:cNvPr id="1816" name="m-p02_cycle_loop-band-01">
            <a:extLst>
              <a:ext uri="{FF2B5EF4-FFF2-40B4-BE49-F238E27FC236}">
                <a16:creationId xmlns:a16="http://schemas.microsoft.com/office/drawing/2014/main" id="{8DF16ECF-AF01-3BC1-95A8-E4915DA6D074}"/>
              </a:ext>
            </a:extLst>
          </p:cNvPr>
          <p:cNvSpPr/>
          <p:nvPr/>
        </p:nvSpPr>
        <p:spPr>
          <a:xfrm>
            <a:off x="11611928" y="4686364"/>
            <a:ext cx="78105" cy="67691"/>
          </a:xfrm>
          <a:custGeom>
            <a:avLst/>
            <a:gdLst/>
            <a:ahLst/>
            <a:cxnLst/>
            <a:rect l="0" t="0" r="r" b="b"/>
            <a:pathLst>
              <a:path w="78105" h="67691">
                <a:moveTo>
                  <a:pt x="63754" y="67691"/>
                </a:moveTo>
                <a:lnTo>
                  <a:pt x="78105" y="0"/>
                </a:lnTo>
                <a:lnTo>
                  <a:pt x="0" y="0"/>
                </a:lnTo>
                <a:lnTo>
                  <a:pt x="14288" y="67691"/>
                </a:lnTo>
                <a:close/>
              </a:path>
            </a:pathLst>
          </a:custGeom>
          <a:solidFill>
            <a:srgbClr val="0B3E8F">
              <a:alpha val="85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17" name="m-p02_cycle_loop-band-02">
            <a:extLst>
              <a:ext uri="{FF2B5EF4-FFF2-40B4-BE49-F238E27FC236}">
                <a16:creationId xmlns:a16="http://schemas.microsoft.com/office/drawing/2014/main" id="{AC9AD60B-9617-50E7-1A59-8122F35DB282}"/>
              </a:ext>
            </a:extLst>
          </p:cNvPr>
          <p:cNvSpPr/>
          <p:nvPr/>
        </p:nvSpPr>
        <p:spPr>
          <a:xfrm>
            <a:off x="11927967" y="4905184"/>
            <a:ext cx="123952" cy="77597"/>
          </a:xfrm>
          <a:custGeom>
            <a:avLst/>
            <a:gdLst/>
            <a:ahLst/>
            <a:cxnLst/>
            <a:rect l="0" t="0" r="r" b="b"/>
            <a:pathLst>
              <a:path w="123952" h="77597">
                <a:moveTo>
                  <a:pt x="5651" y="76644"/>
                </a:moveTo>
                <a:lnTo>
                  <a:pt x="123952" y="77597"/>
                </a:lnTo>
                <a:lnTo>
                  <a:pt x="114998" y="0"/>
                </a:lnTo>
                <a:lnTo>
                  <a:pt x="0" y="27623"/>
                </a:lnTo>
                <a:close/>
              </a:path>
            </a:pathLst>
          </a:custGeom>
          <a:solidFill>
            <a:srgbClr val="1B5AA8">
              <a:alpha val="85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18" name="m-p02_cycle_loop-band-03">
            <a:extLst>
              <a:ext uri="{FF2B5EF4-FFF2-40B4-BE49-F238E27FC236}">
                <a16:creationId xmlns:a16="http://schemas.microsoft.com/office/drawing/2014/main" id="{ACE4B41D-C229-BB60-3847-A0786715C28E}"/>
              </a:ext>
            </a:extLst>
          </p:cNvPr>
          <p:cNvSpPr/>
          <p:nvPr/>
        </p:nvSpPr>
        <p:spPr>
          <a:xfrm>
            <a:off x="11810556" y="5265356"/>
            <a:ext cx="140843" cy="121729"/>
          </a:xfrm>
          <a:custGeom>
            <a:avLst/>
            <a:gdLst/>
            <a:ahLst/>
            <a:cxnLst/>
            <a:rect l="0" t="0" r="r" b="b"/>
            <a:pathLst>
              <a:path w="140843" h="121729">
                <a:moveTo>
                  <a:pt x="0" y="41783"/>
                </a:moveTo>
                <a:lnTo>
                  <a:pt x="98806" y="121729"/>
                </a:lnTo>
                <a:lnTo>
                  <a:pt x="140843" y="55880"/>
                </a:lnTo>
                <a:lnTo>
                  <a:pt x="26734" y="0"/>
                </a:lnTo>
                <a:close/>
              </a:path>
            </a:pathLst>
          </a:custGeom>
          <a:solidFill>
            <a:srgbClr val="2E77C2">
              <a:alpha val="85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19" name="m-p02_cycle_loop-band-04">
            <a:extLst>
              <a:ext uri="{FF2B5EF4-FFF2-40B4-BE49-F238E27FC236}">
                <a16:creationId xmlns:a16="http://schemas.microsoft.com/office/drawing/2014/main" id="{DE381D6E-0344-7B3E-FF64-DD8C64D6DFD1}"/>
              </a:ext>
            </a:extLst>
          </p:cNvPr>
          <p:cNvSpPr/>
          <p:nvPr/>
        </p:nvSpPr>
        <p:spPr>
          <a:xfrm>
            <a:off x="11350562" y="5265356"/>
            <a:ext cx="140843" cy="121729"/>
          </a:xfrm>
          <a:custGeom>
            <a:avLst/>
            <a:gdLst/>
            <a:ahLst/>
            <a:cxnLst/>
            <a:rect l="0" t="0" r="r" b="b"/>
            <a:pathLst>
              <a:path w="140843" h="121729">
                <a:moveTo>
                  <a:pt x="114110" y="0"/>
                </a:moveTo>
                <a:lnTo>
                  <a:pt x="0" y="55880"/>
                </a:lnTo>
                <a:lnTo>
                  <a:pt x="42037" y="121729"/>
                </a:lnTo>
                <a:lnTo>
                  <a:pt x="140843" y="41783"/>
                </a:lnTo>
                <a:close/>
              </a:path>
            </a:pathLst>
          </a:custGeom>
          <a:solidFill>
            <a:srgbClr val="3985CD">
              <a:alpha val="85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20" name="m-p02_cycle_loop-band-05">
            <a:extLst>
              <a:ext uri="{FF2B5EF4-FFF2-40B4-BE49-F238E27FC236}">
                <a16:creationId xmlns:a16="http://schemas.microsoft.com/office/drawing/2014/main" id="{AD5A7728-33AB-0ACD-8666-A0F53081BAFC}"/>
              </a:ext>
            </a:extLst>
          </p:cNvPr>
          <p:cNvSpPr/>
          <p:nvPr/>
        </p:nvSpPr>
        <p:spPr>
          <a:xfrm>
            <a:off x="11250041" y="4905184"/>
            <a:ext cx="123952" cy="77597"/>
          </a:xfrm>
          <a:custGeom>
            <a:avLst/>
            <a:gdLst/>
            <a:ahLst/>
            <a:cxnLst/>
            <a:rect l="0" t="0" r="r" b="b"/>
            <a:pathLst>
              <a:path w="123952" h="77597">
                <a:moveTo>
                  <a:pt x="123952" y="27623"/>
                </a:moveTo>
                <a:lnTo>
                  <a:pt x="8953" y="0"/>
                </a:lnTo>
                <a:lnTo>
                  <a:pt x="0" y="77597"/>
                </a:lnTo>
                <a:lnTo>
                  <a:pt x="118300" y="76644"/>
                </a:lnTo>
                <a:close/>
              </a:path>
            </a:pathLst>
          </a:custGeom>
          <a:solidFill>
            <a:srgbClr val="54A2DF">
              <a:alpha val="85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21" name="m-p02_cycle_loop-guide">
            <a:extLst>
              <a:ext uri="{FF2B5EF4-FFF2-40B4-BE49-F238E27FC236}">
                <a16:creationId xmlns:a16="http://schemas.microsoft.com/office/drawing/2014/main" id="{D4384928-0B13-5D48-E87E-5B7D1861EDC4}"/>
              </a:ext>
            </a:extLst>
          </p:cNvPr>
          <p:cNvSpPr/>
          <p:nvPr/>
        </p:nvSpPr>
        <p:spPr>
          <a:xfrm>
            <a:off x="11341164" y="4738434"/>
            <a:ext cx="619633" cy="619633"/>
          </a:xfrm>
          <a:prstGeom prst="ellipse">
            <a:avLst/>
          </a:prstGeom>
          <a:noFill/>
          <a:ln w="2540" cap="rnd">
            <a:solidFill>
              <a:srgbClr val="0B2545">
                <a:alpha val="1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22" name="m-p02_cycle_loop-arc-01">
            <a:extLst>
              <a:ext uri="{FF2B5EF4-FFF2-40B4-BE49-F238E27FC236}">
                <a16:creationId xmlns:a16="http://schemas.microsoft.com/office/drawing/2014/main" id="{B7D45199-41AE-5525-D271-3F1DBA6D23AB}"/>
              </a:ext>
            </a:extLst>
          </p:cNvPr>
          <p:cNvSpPr/>
          <p:nvPr/>
        </p:nvSpPr>
        <p:spPr>
          <a:xfrm>
            <a:off x="11507415" y="4777518"/>
            <a:ext cx="285179" cy="127175"/>
          </a:xfrm>
          <a:custGeom>
            <a:avLst/>
            <a:gdLst/>
            <a:ahLst/>
            <a:cxnLst/>
            <a:rect l="0" t="0" r="r" b="b"/>
            <a:pathLst>
              <a:path w="285179" h="127175">
                <a:moveTo>
                  <a:pt x="6087" y="37497"/>
                </a:moveTo>
                <a:cubicBezTo>
                  <a:pt x="89653" y="-11779"/>
                  <a:pt x="193285" y="-12541"/>
                  <a:pt x="277613" y="35465"/>
                </a:cubicBezTo>
                <a:lnTo>
                  <a:pt x="281804" y="28099"/>
                </a:lnTo>
                <a:quadBezTo>
                  <a:pt x="285360" y="21876"/>
                  <a:pt x="285170" y="36227"/>
                </a:quadBezTo>
                <a:lnTo>
                  <a:pt x="284662" y="82391"/>
                </a:lnTo>
                <a:quadBezTo>
                  <a:pt x="284471" y="96742"/>
                  <a:pt x="271962" y="103664"/>
                </a:quadBezTo>
                <a:lnTo>
                  <a:pt x="236021" y="123539"/>
                </a:lnTo>
                <a:quadBezTo>
                  <a:pt x="223448" y="130461"/>
                  <a:pt x="227004" y="124238"/>
                </a:quadBezTo>
                <a:lnTo>
                  <a:pt x="231195" y="116935"/>
                </a:lnTo>
                <a:cubicBezTo>
                  <a:pt x="177347" y="86201"/>
                  <a:pt x="111307" y="85947"/>
                  <a:pt x="57141" y="116173"/>
                </a:cubicBezTo>
                <a:quadBezTo>
                  <a:pt x="47172" y="122269"/>
                  <a:pt x="40758" y="112427"/>
                </a:quadBezTo>
                <a:lnTo>
                  <a:pt x="2468" y="53499"/>
                </a:lnTo>
                <a:quadBezTo>
                  <a:pt x="-3882" y="43656"/>
                  <a:pt x="6087" y="37497"/>
                </a:quad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23" name="m-p02_cycle_loop-arc-02">
            <a:extLst>
              <a:ext uri="{FF2B5EF4-FFF2-40B4-BE49-F238E27FC236}">
                <a16:creationId xmlns:a16="http://schemas.microsoft.com/office/drawing/2014/main" id="{DAB9359F-F58F-95BA-0544-5CF8450407B0}"/>
              </a:ext>
            </a:extLst>
          </p:cNvPr>
          <p:cNvSpPr/>
          <p:nvPr/>
        </p:nvSpPr>
        <p:spPr>
          <a:xfrm>
            <a:off x="11766443" y="4841952"/>
            <a:ext cx="160346" cy="283566"/>
          </a:xfrm>
          <a:custGeom>
            <a:avLst/>
            <a:gdLst/>
            <a:ahLst/>
            <a:cxnLst/>
            <a:rect l="0" t="0" r="r" b="b"/>
            <a:pathLst>
              <a:path w="160346" h="283566">
                <a:moveTo>
                  <a:pt x="63861" y="3415"/>
                </a:moveTo>
                <a:cubicBezTo>
                  <a:pt x="136569" y="67741"/>
                  <a:pt x="169335" y="166039"/>
                  <a:pt x="149713" y="261098"/>
                </a:cubicBezTo>
                <a:lnTo>
                  <a:pt x="157968" y="262813"/>
                </a:lnTo>
                <a:quadBezTo>
                  <a:pt x="165017" y="264210"/>
                  <a:pt x="151301" y="268528"/>
                </a:quadBezTo>
                <a:lnTo>
                  <a:pt x="107232" y="282244"/>
                </a:lnTo>
                <a:quadBezTo>
                  <a:pt x="93579" y="286562"/>
                  <a:pt x="83102" y="276783"/>
                </a:quadBezTo>
                <a:lnTo>
                  <a:pt x="53066" y="248716"/>
                </a:lnTo>
                <a:quadBezTo>
                  <a:pt x="42652" y="238937"/>
                  <a:pt x="49637" y="240397"/>
                </a:quadBezTo>
                <a:lnTo>
                  <a:pt x="57892" y="242112"/>
                </a:lnTo>
                <a:cubicBezTo>
                  <a:pt x="70465" y="181406"/>
                  <a:pt x="50336" y="118541"/>
                  <a:pt x="4806" y="76377"/>
                </a:cubicBezTo>
                <a:quadBezTo>
                  <a:pt x="-4020" y="68693"/>
                  <a:pt x="3346" y="59613"/>
                </a:quadBezTo>
                <a:lnTo>
                  <a:pt x="47542" y="5003"/>
                </a:lnTo>
                <a:quadBezTo>
                  <a:pt x="54908" y="-4141"/>
                  <a:pt x="63861" y="3415"/>
                </a:quadBezTo>
                <a:close/>
              </a:path>
            </a:pathLst>
          </a:custGeom>
          <a:gradFill rotWithShape="1">
            <a:gsLst>
              <a:gs pos="0">
                <a:srgbClr val="366EB2"/>
              </a:gs>
              <a:gs pos="100000">
                <a:srgbClr val="1B5AA8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24" name="m-p02_cycle_loop-arc-03">
            <a:extLst>
              <a:ext uri="{FF2B5EF4-FFF2-40B4-BE49-F238E27FC236}">
                <a16:creationId xmlns:a16="http://schemas.microsoft.com/office/drawing/2014/main" id="{9EF00B2B-7749-16D5-B316-54E565B4E7C3}"/>
              </a:ext>
            </a:extLst>
          </p:cNvPr>
          <p:cNvSpPr/>
          <p:nvPr/>
        </p:nvSpPr>
        <p:spPr>
          <a:xfrm>
            <a:off x="11642754" y="5114719"/>
            <a:ext cx="257846" cy="213756"/>
          </a:xfrm>
          <a:custGeom>
            <a:avLst/>
            <a:gdLst/>
            <a:ahLst/>
            <a:cxnLst/>
            <a:rect l="0" t="0" r="r" b="b"/>
            <a:pathLst>
              <a:path w="257846" h="213756">
                <a:moveTo>
                  <a:pt x="256575" y="41418"/>
                </a:moveTo>
                <a:cubicBezTo>
                  <a:pt x="217903" y="130445"/>
                  <a:pt x="134528" y="191976"/>
                  <a:pt x="38071" y="202644"/>
                </a:cubicBezTo>
                <a:lnTo>
                  <a:pt x="39024" y="211026"/>
                </a:lnTo>
                <a:quadBezTo>
                  <a:pt x="39786" y="218202"/>
                  <a:pt x="31531" y="206518"/>
                </a:quadBezTo>
                <a:lnTo>
                  <a:pt x="4797" y="168799"/>
                </a:lnTo>
                <a:quadBezTo>
                  <a:pt x="-3521" y="157115"/>
                  <a:pt x="2575" y="144161"/>
                </a:quadBezTo>
                <a:lnTo>
                  <a:pt x="19974" y="106950"/>
                </a:lnTo>
                <a:quadBezTo>
                  <a:pt x="26006" y="93932"/>
                  <a:pt x="26832" y="101108"/>
                </a:quadBezTo>
                <a:lnTo>
                  <a:pt x="27721" y="109490"/>
                </a:lnTo>
                <a:cubicBezTo>
                  <a:pt x="89379" y="102632"/>
                  <a:pt x="142973" y="64087"/>
                  <a:pt x="168945" y="7763"/>
                </a:cubicBezTo>
                <a:quadBezTo>
                  <a:pt x="173517" y="-3032"/>
                  <a:pt x="184439" y="1159"/>
                </a:quadBezTo>
                <a:lnTo>
                  <a:pt x="250034" y="26368"/>
                </a:lnTo>
                <a:quadBezTo>
                  <a:pt x="261020" y="30559"/>
                  <a:pt x="256575" y="41418"/>
                </a:quadBezTo>
                <a:close/>
              </a:path>
            </a:pathLst>
          </a:custGeom>
          <a:gradFill rotWithShape="1">
            <a:gsLst>
              <a:gs pos="0">
                <a:srgbClr val="4787C9"/>
              </a:gs>
              <a:gs pos="100000">
                <a:srgbClr val="2E77C2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25" name="m-p02_cycle_loop-arc-04">
            <a:extLst>
              <a:ext uri="{FF2B5EF4-FFF2-40B4-BE49-F238E27FC236}">
                <a16:creationId xmlns:a16="http://schemas.microsoft.com/office/drawing/2014/main" id="{2FCA3B8B-3945-E9F0-44C8-4B29E00A2F38}"/>
              </a:ext>
            </a:extLst>
          </p:cNvPr>
          <p:cNvSpPr/>
          <p:nvPr/>
        </p:nvSpPr>
        <p:spPr>
          <a:xfrm>
            <a:off x="11393705" y="5107717"/>
            <a:ext cx="247400" cy="210145"/>
          </a:xfrm>
          <a:custGeom>
            <a:avLst/>
            <a:gdLst/>
            <a:ahLst/>
            <a:cxnLst/>
            <a:rect l="0" t="0" r="r" b="b"/>
            <a:pathLst>
              <a:path w="247400" h="210145">
                <a:moveTo>
                  <a:pt x="231430" y="210091"/>
                </a:moveTo>
                <a:cubicBezTo>
                  <a:pt x="134783" y="200820"/>
                  <a:pt x="50519" y="140495"/>
                  <a:pt x="10577" y="52103"/>
                </a:cubicBezTo>
                <a:lnTo>
                  <a:pt x="2830" y="55532"/>
                </a:lnTo>
                <a:quadBezTo>
                  <a:pt x="-3710" y="58516"/>
                  <a:pt x="4862" y="47023"/>
                </a:quadBezTo>
                <a:lnTo>
                  <a:pt x="32421" y="9939"/>
                </a:lnTo>
                <a:quadBezTo>
                  <a:pt x="40994" y="-1491"/>
                  <a:pt x="55218" y="223"/>
                </a:quadBezTo>
                <a:lnTo>
                  <a:pt x="95985" y="5240"/>
                </a:lnTo>
                <a:quadBezTo>
                  <a:pt x="110209" y="7018"/>
                  <a:pt x="103668" y="10002"/>
                </a:quadBezTo>
                <a:lnTo>
                  <a:pt x="95985" y="13431"/>
                </a:lnTo>
                <a:cubicBezTo>
                  <a:pt x="121512" y="69946"/>
                  <a:pt x="174788" y="108999"/>
                  <a:pt x="236320" y="116365"/>
                </a:cubicBezTo>
                <a:quadBezTo>
                  <a:pt x="248004" y="117317"/>
                  <a:pt x="247369" y="129001"/>
                </a:quadBezTo>
                <a:lnTo>
                  <a:pt x="243749" y="199232"/>
                </a:lnTo>
                <a:quadBezTo>
                  <a:pt x="243114" y="210916"/>
                  <a:pt x="231430" y="210091"/>
                </a:quadBezTo>
                <a:close/>
              </a:path>
            </a:pathLst>
          </a:custGeom>
          <a:gradFill rotWithShape="1">
            <a:gsLst>
              <a:gs pos="0">
                <a:srgbClr val="5194D3"/>
              </a:gs>
              <a:gs pos="100000">
                <a:srgbClr val="3985CD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26" name="m-p02_cycle_loop-arc-05">
            <a:extLst>
              <a:ext uri="{FF2B5EF4-FFF2-40B4-BE49-F238E27FC236}">
                <a16:creationId xmlns:a16="http://schemas.microsoft.com/office/drawing/2014/main" id="{C75D4D1A-476A-2DCF-DF06-5A6711F2C1BD}"/>
              </a:ext>
            </a:extLst>
          </p:cNvPr>
          <p:cNvSpPr/>
          <p:nvPr/>
        </p:nvSpPr>
        <p:spPr>
          <a:xfrm>
            <a:off x="11380247" y="4838996"/>
            <a:ext cx="160276" cy="276944"/>
          </a:xfrm>
          <a:custGeom>
            <a:avLst/>
            <a:gdLst/>
            <a:ahLst/>
            <a:cxnLst/>
            <a:rect l="0" t="0" r="r" b="b"/>
            <a:pathLst>
              <a:path w="160276" h="276944">
                <a:moveTo>
                  <a:pt x="6383" y="267928"/>
                </a:moveTo>
                <a:cubicBezTo>
                  <a:pt x="-14636" y="173186"/>
                  <a:pt x="16670" y="74443"/>
                  <a:pt x="88425" y="9102"/>
                </a:cubicBezTo>
                <a:lnTo>
                  <a:pt x="82710" y="2815"/>
                </a:lnTo>
                <a:quadBezTo>
                  <a:pt x="77884" y="-2455"/>
                  <a:pt x="91473" y="2117"/>
                </a:quadBezTo>
                <a:lnTo>
                  <a:pt x="135224" y="16912"/>
                </a:lnTo>
                <a:quadBezTo>
                  <a:pt x="148813" y="21484"/>
                  <a:pt x="151480" y="35518"/>
                </a:quadBezTo>
                <a:lnTo>
                  <a:pt x="159291" y="75840"/>
                </a:lnTo>
                <a:quadBezTo>
                  <a:pt x="162021" y="89937"/>
                  <a:pt x="157195" y="84603"/>
                </a:quadBezTo>
                <a:lnTo>
                  <a:pt x="151544" y="78380"/>
                </a:lnTo>
                <a:cubicBezTo>
                  <a:pt x="105697" y="120100"/>
                  <a:pt x="84996" y="182838"/>
                  <a:pt x="97061" y="243671"/>
                </a:cubicBezTo>
                <a:quadBezTo>
                  <a:pt x="99728" y="255101"/>
                  <a:pt x="88425" y="258085"/>
                </a:quadBezTo>
                <a:lnTo>
                  <a:pt x="20480" y="276310"/>
                </a:lnTo>
                <a:quadBezTo>
                  <a:pt x="9177" y="279358"/>
                  <a:pt x="6383" y="267928"/>
                </a:quadBezTo>
                <a:close/>
              </a:path>
            </a:pathLst>
          </a:custGeom>
          <a:gradFill rotWithShape="1">
            <a:gsLst>
              <a:gs pos="0">
                <a:srgbClr val="69ADE3"/>
              </a:gs>
              <a:gs pos="100000">
                <a:srgbClr val="54A2DF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27" name="m-p02_cycle_loop-arc-num-01">
            <a:extLst>
              <a:ext uri="{FF2B5EF4-FFF2-40B4-BE49-F238E27FC236}">
                <a16:creationId xmlns:a16="http://schemas.microsoft.com/office/drawing/2014/main" id="{F3BFDAA5-A906-E080-44E3-BED5E4477CEB}"/>
              </a:ext>
            </a:extLst>
          </p:cNvPr>
          <p:cNvSpPr txBox="1"/>
          <p:nvPr/>
        </p:nvSpPr>
        <p:spPr>
          <a:xfrm>
            <a:off x="11601770" y="4790575"/>
            <a:ext cx="82791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15" normalizeH="0" baseline="0" noProof="0">
                <a:ln>
                  <a:noFill/>
                </a:ln>
                <a:solidFill>
                  <a:srgbClr val="FFFFFF">
                    <a:alpha val="9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1828" name="m-p02_cycle_loop-arc-num-02">
            <a:extLst>
              <a:ext uri="{FF2B5EF4-FFF2-40B4-BE49-F238E27FC236}">
                <a16:creationId xmlns:a16="http://schemas.microsoft.com/office/drawing/2014/main" id="{310A9B32-C2CF-F29A-0D82-011E6C582224}"/>
              </a:ext>
            </a:extLst>
          </p:cNvPr>
          <p:cNvSpPr txBox="1"/>
          <p:nvPr/>
        </p:nvSpPr>
        <p:spPr>
          <a:xfrm>
            <a:off x="11819982" y="4937761"/>
            <a:ext cx="82791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15" normalizeH="0" baseline="0" noProof="0">
                <a:ln>
                  <a:noFill/>
                </a:ln>
                <a:solidFill>
                  <a:srgbClr val="FFFFFF">
                    <a:alpha val="9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1829" name="m-p02_cycle_loop-arc-num-03">
            <a:extLst>
              <a:ext uri="{FF2B5EF4-FFF2-40B4-BE49-F238E27FC236}">
                <a16:creationId xmlns:a16="http://schemas.microsoft.com/office/drawing/2014/main" id="{CC599B64-01FD-2561-6AF0-48A563AB887B}"/>
              </a:ext>
            </a:extLst>
          </p:cNvPr>
          <p:cNvSpPr txBox="1"/>
          <p:nvPr/>
        </p:nvSpPr>
        <p:spPr>
          <a:xfrm>
            <a:off x="11747432" y="5190776"/>
            <a:ext cx="82791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15" normalizeH="0" baseline="0" noProof="0">
                <a:ln>
                  <a:noFill/>
                </a:ln>
                <a:solidFill>
                  <a:srgbClr val="FFFFFF">
                    <a:alpha val="9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1830" name="m-p02_cycle_loop-arc-num-04">
            <a:extLst>
              <a:ext uri="{FF2B5EF4-FFF2-40B4-BE49-F238E27FC236}">
                <a16:creationId xmlns:a16="http://schemas.microsoft.com/office/drawing/2014/main" id="{65F1E2E1-13AE-1661-20DB-5A964C0B3909}"/>
              </a:ext>
            </a:extLst>
          </p:cNvPr>
          <p:cNvSpPr txBox="1"/>
          <p:nvPr/>
        </p:nvSpPr>
        <p:spPr>
          <a:xfrm>
            <a:off x="11484380" y="5199962"/>
            <a:ext cx="82791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15" normalizeH="0" baseline="0" noProof="0">
                <a:ln>
                  <a:noFill/>
                </a:ln>
                <a:solidFill>
                  <a:srgbClr val="FFFFFF">
                    <a:alpha val="9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1831" name="m-p02_cycle_loop-arc-num-05">
            <a:extLst>
              <a:ext uri="{FF2B5EF4-FFF2-40B4-BE49-F238E27FC236}">
                <a16:creationId xmlns:a16="http://schemas.microsoft.com/office/drawing/2014/main" id="{4D7C2720-66DE-64B8-7022-76873B2AD481}"/>
              </a:ext>
            </a:extLst>
          </p:cNvPr>
          <p:cNvSpPr txBox="1"/>
          <p:nvPr/>
        </p:nvSpPr>
        <p:spPr>
          <a:xfrm>
            <a:off x="11394357" y="4952624"/>
            <a:ext cx="82791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15" normalizeH="0" baseline="0" noProof="0">
                <a:ln>
                  <a:noFill/>
                </a:ln>
                <a:solidFill>
                  <a:srgbClr val="FFFFFF">
                    <a:alpha val="9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1832" name="m-p02_cycle_loop-core">
            <a:extLst>
              <a:ext uri="{FF2B5EF4-FFF2-40B4-BE49-F238E27FC236}">
                <a16:creationId xmlns:a16="http://schemas.microsoft.com/office/drawing/2014/main" id="{7673445C-6983-B7A9-59F7-48A792B0D507}"/>
              </a:ext>
            </a:extLst>
          </p:cNvPr>
          <p:cNvSpPr/>
          <p:nvPr/>
        </p:nvSpPr>
        <p:spPr>
          <a:xfrm>
            <a:off x="11486960" y="4884230"/>
            <a:ext cx="328041" cy="32804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33" name="m-p02_cycle_loop-core-ring">
            <a:extLst>
              <a:ext uri="{FF2B5EF4-FFF2-40B4-BE49-F238E27FC236}">
                <a16:creationId xmlns:a16="http://schemas.microsoft.com/office/drawing/2014/main" id="{C9E6C9DF-0302-D477-6DC5-4A79D5175288}"/>
              </a:ext>
            </a:extLst>
          </p:cNvPr>
          <p:cNvSpPr/>
          <p:nvPr/>
        </p:nvSpPr>
        <p:spPr>
          <a:xfrm>
            <a:off x="11499977" y="4897247"/>
            <a:ext cx="302006" cy="302006"/>
          </a:xfrm>
          <a:prstGeom prst="ellipse">
            <a:avLst/>
          </a:prstGeom>
          <a:noFill/>
          <a:ln w="2540" cap="rnd">
            <a:solidFill>
              <a:srgbClr val="0B3E8F">
                <a:alpha val="14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34" name="m-p02_cycle_loop-core-1">
            <a:extLst>
              <a:ext uri="{FF2B5EF4-FFF2-40B4-BE49-F238E27FC236}">
                <a16:creationId xmlns:a16="http://schemas.microsoft.com/office/drawing/2014/main" id="{155FE25F-4051-D3F7-F75E-27C6D934F611}"/>
              </a:ext>
            </a:extLst>
          </p:cNvPr>
          <p:cNvSpPr txBox="1"/>
          <p:nvPr/>
        </p:nvSpPr>
        <p:spPr>
          <a:xfrm>
            <a:off x="11585958" y="4982792"/>
            <a:ext cx="130045" cy="7062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20" b="1" i="0" u="none" strike="noStrike" kern="1200" cap="none" spc="5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持续</a:t>
            </a:r>
          </a:p>
        </p:txBody>
      </p:sp>
      <p:sp>
        <p:nvSpPr>
          <p:cNvPr id="1835" name="m-p02_cycle_loop-core-2">
            <a:extLst>
              <a:ext uri="{FF2B5EF4-FFF2-40B4-BE49-F238E27FC236}">
                <a16:creationId xmlns:a16="http://schemas.microsoft.com/office/drawing/2014/main" id="{EA550D0F-4618-98AF-5C4F-8B22755BB8A7}"/>
              </a:ext>
            </a:extLst>
          </p:cNvPr>
          <p:cNvSpPr txBox="1"/>
          <p:nvPr/>
        </p:nvSpPr>
        <p:spPr>
          <a:xfrm>
            <a:off x="11585958" y="5032258"/>
            <a:ext cx="130045" cy="7062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20" b="1" i="0" u="none" strike="noStrike" kern="1200" cap="none" spc="51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优化</a:t>
            </a:r>
          </a:p>
        </p:txBody>
      </p:sp>
      <p:sp>
        <p:nvSpPr>
          <p:cNvPr id="1836" name="m-p02_cycle_loop-core-en">
            <a:extLst>
              <a:ext uri="{FF2B5EF4-FFF2-40B4-BE49-F238E27FC236}">
                <a16:creationId xmlns:a16="http://schemas.microsoft.com/office/drawing/2014/main" id="{16CE6568-C47F-AC18-AE58-FFA4B2D42001}"/>
              </a:ext>
            </a:extLst>
          </p:cNvPr>
          <p:cNvSpPr txBox="1"/>
          <p:nvPr/>
        </p:nvSpPr>
        <p:spPr>
          <a:xfrm>
            <a:off x="11532065" y="5101244"/>
            <a:ext cx="237830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36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CONTINUOUS LOOP</a:t>
            </a:r>
          </a:p>
        </p:txBody>
      </p:sp>
      <p:cxnSp>
        <p:nvCxnSpPr>
          <p:cNvPr id="1837" name="m-p02_cycle_loop-lead-01">
            <a:extLst>
              <a:ext uri="{FF2B5EF4-FFF2-40B4-BE49-F238E27FC236}">
                <a16:creationId xmlns:a16="http://schemas.microsoft.com/office/drawing/2014/main" id="{5013C901-102C-CDCA-DEA3-8D2963448B5C}"/>
              </a:ext>
            </a:extLst>
          </p:cNvPr>
          <p:cNvCxnSpPr/>
          <p:nvPr/>
        </p:nvCxnSpPr>
        <p:spPr>
          <a:xfrm flipV="1">
            <a:off x="11650980" y="4686364"/>
            <a:ext cx="0" cy="28638"/>
          </a:xfrm>
          <a:prstGeom prst="line">
            <a:avLst/>
          </a:prstGeom>
          <a:ln w="2540" cap="rnd">
            <a:solidFill>
              <a:srgbClr val="0B3E8F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38" name="m-p02_cycle_loop-chip">
            <a:extLst>
              <a:ext uri="{FF2B5EF4-FFF2-40B4-BE49-F238E27FC236}">
                <a16:creationId xmlns:a16="http://schemas.microsoft.com/office/drawing/2014/main" id="{DFDC3066-730B-4B3A-EEE5-829F0E77ECE0}"/>
              </a:ext>
            </a:extLst>
          </p:cNvPr>
          <p:cNvSpPr/>
          <p:nvPr/>
        </p:nvSpPr>
        <p:spPr>
          <a:xfrm>
            <a:off x="11613229" y="4716304"/>
            <a:ext cx="75501" cy="7550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39" name="m-p02_cycle_loop-chip-ring">
            <a:extLst>
              <a:ext uri="{FF2B5EF4-FFF2-40B4-BE49-F238E27FC236}">
                <a16:creationId xmlns:a16="http://schemas.microsoft.com/office/drawing/2014/main" id="{EE9914E5-BCD1-A31F-3590-518916A3922B}"/>
              </a:ext>
            </a:extLst>
          </p:cNvPr>
          <p:cNvSpPr/>
          <p:nvPr/>
        </p:nvSpPr>
        <p:spPr>
          <a:xfrm>
            <a:off x="11613229" y="4716304"/>
            <a:ext cx="75501" cy="75501"/>
          </a:xfrm>
          <a:prstGeom prst="ellipse">
            <a:avLst/>
          </a:prstGeom>
          <a:noFill/>
          <a:ln w="2540" cap="rnd">
            <a:solidFill>
              <a:srgbClr val="0B3E8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40" name="m-p02_cycle_loop-icon-target">
            <a:extLst>
              <a:ext uri="{FF2B5EF4-FFF2-40B4-BE49-F238E27FC236}">
                <a16:creationId xmlns:a16="http://schemas.microsoft.com/office/drawing/2014/main" id="{A10F91A4-E386-0E58-DC82-34205E2194BD}"/>
              </a:ext>
            </a:extLst>
          </p:cNvPr>
          <p:cNvSpPr/>
          <p:nvPr/>
        </p:nvSpPr>
        <p:spPr>
          <a:xfrm>
            <a:off x="11650980" y="4740529"/>
            <a:ext cx="10414" cy="13525"/>
          </a:xfrm>
          <a:custGeom>
            <a:avLst/>
            <a:gdLst/>
            <a:ahLst/>
            <a:cxnLst/>
            <a:rect l="0" t="0" r="r" b="b"/>
            <a:pathLst>
              <a:path w="10414" h="13525">
                <a:moveTo>
                  <a:pt x="0" y="7874"/>
                </a:moveTo>
                <a:lnTo>
                  <a:pt x="0" y="0"/>
                </a:lnTo>
                <a:moveTo>
                  <a:pt x="0" y="13525"/>
                </a:moveTo>
                <a:lnTo>
                  <a:pt x="10414" y="3112"/>
                </a:lnTo>
              </a:path>
            </a:pathLst>
          </a:custGeom>
          <a:noFill/>
          <a:ln w="25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41" name="m-p02_cycle_loop-icon-target">
            <a:extLst>
              <a:ext uri="{FF2B5EF4-FFF2-40B4-BE49-F238E27FC236}">
                <a16:creationId xmlns:a16="http://schemas.microsoft.com/office/drawing/2014/main" id="{9BD3AA33-C7DC-32F5-16E6-1F6A68B93AC9}"/>
              </a:ext>
            </a:extLst>
          </p:cNvPr>
          <p:cNvSpPr/>
          <p:nvPr/>
        </p:nvSpPr>
        <p:spPr>
          <a:xfrm>
            <a:off x="11637453" y="4740527"/>
            <a:ext cx="27055" cy="27055"/>
          </a:xfrm>
          <a:prstGeom prst="ellipse">
            <a:avLst/>
          </a:prstGeom>
          <a:noFill/>
          <a:ln w="25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42" name="m-p02_cycle_loop-icon-target">
            <a:extLst>
              <a:ext uri="{FF2B5EF4-FFF2-40B4-BE49-F238E27FC236}">
                <a16:creationId xmlns:a16="http://schemas.microsoft.com/office/drawing/2014/main" id="{AB1355CF-844D-4E5C-C60C-9E990AD1598E}"/>
              </a:ext>
            </a:extLst>
          </p:cNvPr>
          <p:cNvSpPr/>
          <p:nvPr/>
        </p:nvSpPr>
        <p:spPr>
          <a:xfrm>
            <a:off x="11644059" y="4747134"/>
            <a:ext cx="13842" cy="13842"/>
          </a:xfrm>
          <a:prstGeom prst="ellipse">
            <a:avLst/>
          </a:prstGeom>
          <a:noFill/>
          <a:ln w="25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843" name="m-p02_cycle_loop-lead-02">
            <a:extLst>
              <a:ext uri="{FF2B5EF4-FFF2-40B4-BE49-F238E27FC236}">
                <a16:creationId xmlns:a16="http://schemas.microsoft.com/office/drawing/2014/main" id="{1B57620B-0EE5-0258-911D-C71E9CD200F6}"/>
              </a:ext>
            </a:extLst>
          </p:cNvPr>
          <p:cNvCxnSpPr/>
          <p:nvPr/>
        </p:nvCxnSpPr>
        <p:spPr>
          <a:xfrm flipV="1">
            <a:off x="11969574" y="4943931"/>
            <a:ext cx="77853" cy="8948"/>
          </a:xfrm>
          <a:prstGeom prst="line">
            <a:avLst/>
          </a:prstGeom>
          <a:ln w="2540" cap="rnd">
            <a:solidFill>
              <a:srgbClr val="1B5AA8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44" name="m-p02_cycle_loop-chip">
            <a:extLst>
              <a:ext uri="{FF2B5EF4-FFF2-40B4-BE49-F238E27FC236}">
                <a16:creationId xmlns:a16="http://schemas.microsoft.com/office/drawing/2014/main" id="{99524F0E-5C66-7086-02F4-7B99939B8178}"/>
              </a:ext>
            </a:extLst>
          </p:cNvPr>
          <p:cNvSpPr/>
          <p:nvPr/>
        </p:nvSpPr>
        <p:spPr>
          <a:xfrm>
            <a:off x="11893026" y="4919588"/>
            <a:ext cx="75501" cy="7550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45" name="m-p02_cycle_loop-chip-ring">
            <a:extLst>
              <a:ext uri="{FF2B5EF4-FFF2-40B4-BE49-F238E27FC236}">
                <a16:creationId xmlns:a16="http://schemas.microsoft.com/office/drawing/2014/main" id="{03B93CDD-6F01-EF0C-A5A3-D829D4275166}"/>
              </a:ext>
            </a:extLst>
          </p:cNvPr>
          <p:cNvSpPr/>
          <p:nvPr/>
        </p:nvSpPr>
        <p:spPr>
          <a:xfrm>
            <a:off x="11893026" y="4919588"/>
            <a:ext cx="75501" cy="75501"/>
          </a:xfrm>
          <a:prstGeom prst="ellipse">
            <a:avLst/>
          </a:prstGeom>
          <a:noFill/>
          <a:ln w="2540" cap="rnd">
            <a:solidFill>
              <a:srgbClr val="1B5AA8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46" name="m-p02_cycle_loop-icon-process">
            <a:extLst>
              <a:ext uri="{FF2B5EF4-FFF2-40B4-BE49-F238E27FC236}">
                <a16:creationId xmlns:a16="http://schemas.microsoft.com/office/drawing/2014/main" id="{8ABB56DB-84FF-E788-1A04-AFE6EBB3C06D}"/>
              </a:ext>
            </a:extLst>
          </p:cNvPr>
          <p:cNvSpPr/>
          <p:nvPr/>
        </p:nvSpPr>
        <p:spPr>
          <a:xfrm>
            <a:off x="11919140" y="4951032"/>
            <a:ext cx="23305" cy="12573"/>
          </a:xfrm>
          <a:custGeom>
            <a:avLst/>
            <a:gdLst/>
            <a:ahLst/>
            <a:cxnLst/>
            <a:rect l="0" t="0" r="r" b="b"/>
            <a:pathLst>
              <a:path w="23305" h="12573">
                <a:moveTo>
                  <a:pt x="0" y="0"/>
                </a:moveTo>
                <a:lnTo>
                  <a:pt x="8191" y="0"/>
                </a:lnTo>
                <a:lnTo>
                  <a:pt x="8191" y="8191"/>
                </a:lnTo>
                <a:lnTo>
                  <a:pt x="0" y="8191"/>
                </a:lnTo>
                <a:close/>
                <a:moveTo>
                  <a:pt x="15113" y="4445"/>
                </a:moveTo>
                <a:lnTo>
                  <a:pt x="23305" y="4445"/>
                </a:lnTo>
                <a:lnTo>
                  <a:pt x="23305" y="12573"/>
                </a:lnTo>
                <a:lnTo>
                  <a:pt x="15113" y="12573"/>
                </a:lnTo>
                <a:close/>
                <a:moveTo>
                  <a:pt x="8191" y="4127"/>
                </a:moveTo>
                <a:lnTo>
                  <a:pt x="15113" y="4127"/>
                </a:lnTo>
              </a:path>
            </a:pathLst>
          </a:custGeom>
          <a:noFill/>
          <a:ln w="254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847" name="m-p02_cycle_loop-lead-03">
            <a:extLst>
              <a:ext uri="{FF2B5EF4-FFF2-40B4-BE49-F238E27FC236}">
                <a16:creationId xmlns:a16="http://schemas.microsoft.com/office/drawing/2014/main" id="{11361F1D-C3FB-93AA-5E6E-71746049A7EB}"/>
              </a:ext>
            </a:extLst>
          </p:cNvPr>
          <p:cNvCxnSpPr/>
          <p:nvPr/>
        </p:nvCxnSpPr>
        <p:spPr>
          <a:xfrm>
            <a:off x="11856836" y="5307248"/>
            <a:ext cx="73558" cy="46881"/>
          </a:xfrm>
          <a:prstGeom prst="line">
            <a:avLst/>
          </a:prstGeom>
          <a:ln w="2540" cap="rnd">
            <a:solidFill>
              <a:srgbClr val="2E77C2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48" name="m-p02_cycle_loop-chip">
            <a:extLst>
              <a:ext uri="{FF2B5EF4-FFF2-40B4-BE49-F238E27FC236}">
                <a16:creationId xmlns:a16="http://schemas.microsoft.com/office/drawing/2014/main" id="{E3EF61EE-2C1B-0E1F-9CA6-13DBAB39824B}"/>
              </a:ext>
            </a:extLst>
          </p:cNvPr>
          <p:cNvSpPr/>
          <p:nvPr/>
        </p:nvSpPr>
        <p:spPr>
          <a:xfrm>
            <a:off x="11786153" y="5248508"/>
            <a:ext cx="75501" cy="7550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49" name="m-p02_cycle_loop-chip-ring">
            <a:extLst>
              <a:ext uri="{FF2B5EF4-FFF2-40B4-BE49-F238E27FC236}">
                <a16:creationId xmlns:a16="http://schemas.microsoft.com/office/drawing/2014/main" id="{32AF00AC-F7B4-31CA-D94D-3A4918D9FE40}"/>
              </a:ext>
            </a:extLst>
          </p:cNvPr>
          <p:cNvSpPr/>
          <p:nvPr/>
        </p:nvSpPr>
        <p:spPr>
          <a:xfrm>
            <a:off x="11786153" y="5248508"/>
            <a:ext cx="75501" cy="75501"/>
          </a:xfrm>
          <a:prstGeom prst="ellipse">
            <a:avLst/>
          </a:prstGeom>
          <a:noFill/>
          <a:ln w="2540" cap="rnd">
            <a:solidFill>
              <a:srgbClr val="2E77C2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50" name="m-p02_cycle_loop-icon-chart">
            <a:extLst>
              <a:ext uri="{FF2B5EF4-FFF2-40B4-BE49-F238E27FC236}">
                <a16:creationId xmlns:a16="http://schemas.microsoft.com/office/drawing/2014/main" id="{987EDB21-48B9-A628-48ED-2E8963CA8164}"/>
              </a:ext>
            </a:extLst>
          </p:cNvPr>
          <p:cNvSpPr/>
          <p:nvPr/>
        </p:nvSpPr>
        <p:spPr>
          <a:xfrm>
            <a:off x="11810682" y="5281549"/>
            <a:ext cx="26416" cy="17272"/>
          </a:xfrm>
          <a:custGeom>
            <a:avLst/>
            <a:gdLst/>
            <a:ahLst/>
            <a:cxnLst/>
            <a:rect l="0" t="0" r="r" b="b"/>
            <a:pathLst>
              <a:path w="26416" h="17272">
                <a:moveTo>
                  <a:pt x="0" y="17272"/>
                </a:moveTo>
                <a:lnTo>
                  <a:pt x="26416" y="17272"/>
                </a:lnTo>
                <a:moveTo>
                  <a:pt x="5969" y="17272"/>
                </a:moveTo>
                <a:lnTo>
                  <a:pt x="5969" y="7239"/>
                </a:lnTo>
                <a:moveTo>
                  <a:pt x="13208" y="17272"/>
                </a:moveTo>
                <a:lnTo>
                  <a:pt x="13208" y="0"/>
                </a:lnTo>
                <a:moveTo>
                  <a:pt x="20447" y="17272"/>
                </a:moveTo>
                <a:lnTo>
                  <a:pt x="20447" y="10668"/>
                </a:lnTo>
              </a:path>
            </a:pathLst>
          </a:custGeom>
          <a:noFill/>
          <a:ln w="254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851" name="m-p02_cycle_loop-lead-04">
            <a:extLst>
              <a:ext uri="{FF2B5EF4-FFF2-40B4-BE49-F238E27FC236}">
                <a16:creationId xmlns:a16="http://schemas.microsoft.com/office/drawing/2014/main" id="{F1A45FB1-7C47-6E76-7839-CF40445B975A}"/>
              </a:ext>
            </a:extLst>
          </p:cNvPr>
          <p:cNvCxnSpPr/>
          <p:nvPr/>
        </p:nvCxnSpPr>
        <p:spPr>
          <a:xfrm flipH="1">
            <a:off x="11371566" y="5307248"/>
            <a:ext cx="73558" cy="46881"/>
          </a:xfrm>
          <a:prstGeom prst="line">
            <a:avLst/>
          </a:prstGeom>
          <a:ln w="2540" cap="rnd">
            <a:solidFill>
              <a:srgbClr val="3985CD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52" name="m-p02_cycle_loop-chip">
            <a:extLst>
              <a:ext uri="{FF2B5EF4-FFF2-40B4-BE49-F238E27FC236}">
                <a16:creationId xmlns:a16="http://schemas.microsoft.com/office/drawing/2014/main" id="{73DDCC1D-4035-9636-40A8-6001B3F0370A}"/>
              </a:ext>
            </a:extLst>
          </p:cNvPr>
          <p:cNvSpPr/>
          <p:nvPr/>
        </p:nvSpPr>
        <p:spPr>
          <a:xfrm>
            <a:off x="11440305" y="5248508"/>
            <a:ext cx="75501" cy="7550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53" name="m-p02_cycle_loop-chip-ring">
            <a:extLst>
              <a:ext uri="{FF2B5EF4-FFF2-40B4-BE49-F238E27FC236}">
                <a16:creationId xmlns:a16="http://schemas.microsoft.com/office/drawing/2014/main" id="{C211A697-DFBC-E1C0-91F7-207AE139FD8E}"/>
              </a:ext>
            </a:extLst>
          </p:cNvPr>
          <p:cNvSpPr/>
          <p:nvPr/>
        </p:nvSpPr>
        <p:spPr>
          <a:xfrm>
            <a:off x="11440305" y="5248508"/>
            <a:ext cx="75501" cy="75501"/>
          </a:xfrm>
          <a:prstGeom prst="ellipse">
            <a:avLst/>
          </a:prstGeom>
          <a:noFill/>
          <a:ln w="2540" cap="rnd">
            <a:solidFill>
              <a:srgbClr val="3985CD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54" name="m-p02_cycle_loop-icon-doc">
            <a:extLst>
              <a:ext uri="{FF2B5EF4-FFF2-40B4-BE49-F238E27FC236}">
                <a16:creationId xmlns:a16="http://schemas.microsoft.com/office/drawing/2014/main" id="{E826D0EE-929E-6860-7923-8AF158824C4E}"/>
              </a:ext>
            </a:extLst>
          </p:cNvPr>
          <p:cNvSpPr/>
          <p:nvPr/>
        </p:nvSpPr>
        <p:spPr>
          <a:xfrm>
            <a:off x="11469560" y="5273040"/>
            <a:ext cx="17589" cy="26416"/>
          </a:xfrm>
          <a:custGeom>
            <a:avLst/>
            <a:gdLst/>
            <a:ahLst/>
            <a:cxnLst/>
            <a:rect l="0" t="0" r="r" b="b"/>
            <a:pathLst>
              <a:path w="17589" h="26416">
                <a:moveTo>
                  <a:pt x="0" y="0"/>
                </a:moveTo>
                <a:lnTo>
                  <a:pt x="11303" y="0"/>
                </a:lnTo>
                <a:lnTo>
                  <a:pt x="17589" y="6287"/>
                </a:lnTo>
                <a:lnTo>
                  <a:pt x="17589" y="26416"/>
                </a:lnTo>
                <a:lnTo>
                  <a:pt x="0" y="26416"/>
                </a:lnTo>
                <a:close/>
                <a:moveTo>
                  <a:pt x="11303" y="0"/>
                </a:moveTo>
                <a:lnTo>
                  <a:pt x="11303" y="6287"/>
                </a:lnTo>
                <a:lnTo>
                  <a:pt x="17589" y="6287"/>
                </a:lnTo>
                <a:moveTo>
                  <a:pt x="4064" y="13843"/>
                </a:moveTo>
                <a:lnTo>
                  <a:pt x="13525" y="13843"/>
                </a:lnTo>
                <a:moveTo>
                  <a:pt x="4064" y="19177"/>
                </a:moveTo>
                <a:lnTo>
                  <a:pt x="13525" y="19177"/>
                </a:lnTo>
              </a:path>
            </a:pathLst>
          </a:custGeom>
          <a:noFill/>
          <a:ln w="254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855" name="m-p02_cycle_loop-lead-05">
            <a:extLst>
              <a:ext uri="{FF2B5EF4-FFF2-40B4-BE49-F238E27FC236}">
                <a16:creationId xmlns:a16="http://schemas.microsoft.com/office/drawing/2014/main" id="{4F6060ED-A21C-EC68-7E8D-149118C5D5F0}"/>
              </a:ext>
            </a:extLst>
          </p:cNvPr>
          <p:cNvCxnSpPr/>
          <p:nvPr/>
        </p:nvCxnSpPr>
        <p:spPr>
          <a:xfrm flipH="1" flipV="1">
            <a:off x="11254533" y="4943931"/>
            <a:ext cx="77853" cy="8948"/>
          </a:xfrm>
          <a:prstGeom prst="line">
            <a:avLst/>
          </a:prstGeom>
          <a:ln w="2540" cap="rnd">
            <a:solidFill>
              <a:srgbClr val="54A2DF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56" name="m-p02_cycle_loop-chip">
            <a:extLst>
              <a:ext uri="{FF2B5EF4-FFF2-40B4-BE49-F238E27FC236}">
                <a16:creationId xmlns:a16="http://schemas.microsoft.com/office/drawing/2014/main" id="{47A27E7D-3DE1-F9F7-A46E-DB9D7E44A6B6}"/>
              </a:ext>
            </a:extLst>
          </p:cNvPr>
          <p:cNvSpPr/>
          <p:nvPr/>
        </p:nvSpPr>
        <p:spPr>
          <a:xfrm>
            <a:off x="11333433" y="4919588"/>
            <a:ext cx="75501" cy="7550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57" name="m-p02_cycle_loop-chip-ring">
            <a:extLst>
              <a:ext uri="{FF2B5EF4-FFF2-40B4-BE49-F238E27FC236}">
                <a16:creationId xmlns:a16="http://schemas.microsoft.com/office/drawing/2014/main" id="{0D83EA9D-FD3B-2E6B-8B52-8EB1C8919C81}"/>
              </a:ext>
            </a:extLst>
          </p:cNvPr>
          <p:cNvSpPr/>
          <p:nvPr/>
        </p:nvSpPr>
        <p:spPr>
          <a:xfrm>
            <a:off x="11333433" y="4919588"/>
            <a:ext cx="75501" cy="75501"/>
          </a:xfrm>
          <a:prstGeom prst="ellipse">
            <a:avLst/>
          </a:prstGeom>
          <a:noFill/>
          <a:ln w="2540" cap="rnd">
            <a:solidFill>
              <a:srgbClr val="54A2D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58" name="m-p02_cycle_loop-icon-grow">
            <a:extLst>
              <a:ext uri="{FF2B5EF4-FFF2-40B4-BE49-F238E27FC236}">
                <a16:creationId xmlns:a16="http://schemas.microsoft.com/office/drawing/2014/main" id="{16090032-BB7A-2D09-C41F-A2500C758C3E}"/>
              </a:ext>
            </a:extLst>
          </p:cNvPr>
          <p:cNvSpPr/>
          <p:nvPr/>
        </p:nvSpPr>
        <p:spPr>
          <a:xfrm>
            <a:off x="11357991" y="4951349"/>
            <a:ext cx="23558" cy="14796"/>
          </a:xfrm>
          <a:custGeom>
            <a:avLst/>
            <a:gdLst/>
            <a:ahLst/>
            <a:cxnLst/>
            <a:rect l="0" t="0" r="r" b="b"/>
            <a:pathLst>
              <a:path w="23558" h="14796">
                <a:moveTo>
                  <a:pt x="0" y="14796"/>
                </a:moveTo>
                <a:lnTo>
                  <a:pt x="7811" y="6287"/>
                </a:lnTo>
                <a:lnTo>
                  <a:pt x="13525" y="11049"/>
                </a:lnTo>
                <a:lnTo>
                  <a:pt x="22923" y="0"/>
                </a:lnTo>
                <a:moveTo>
                  <a:pt x="19177" y="0"/>
                </a:moveTo>
                <a:lnTo>
                  <a:pt x="23558" y="0"/>
                </a:lnTo>
                <a:lnTo>
                  <a:pt x="23558" y="4381"/>
                </a:lnTo>
              </a:path>
            </a:pathLst>
          </a:custGeom>
          <a:noFill/>
          <a:ln w="254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59" name="m-p02_cycle_loop-card-01">
            <a:extLst>
              <a:ext uri="{FF2B5EF4-FFF2-40B4-BE49-F238E27FC236}">
                <a16:creationId xmlns:a16="http://schemas.microsoft.com/office/drawing/2014/main" id="{B2000E12-B3AE-D99A-2DA3-305753AB3CD3}"/>
              </a:ext>
            </a:extLst>
          </p:cNvPr>
          <p:cNvSpPr/>
          <p:nvPr/>
        </p:nvSpPr>
        <p:spPr>
          <a:xfrm>
            <a:off x="11403648" y="4535360"/>
            <a:ext cx="494665" cy="151003"/>
          </a:xfrm>
          <a:custGeom>
            <a:avLst/>
            <a:gdLst/>
            <a:ahLst/>
            <a:cxnLst/>
            <a:rect l="0" t="0" r="r" b="b"/>
            <a:pathLst>
              <a:path w="494665" h="151003">
                <a:moveTo>
                  <a:pt x="23432" y="0"/>
                </a:moveTo>
                <a:lnTo>
                  <a:pt x="471234" y="0"/>
                </a:lnTo>
                <a:cubicBezTo>
                  <a:pt x="484188" y="0"/>
                  <a:pt x="494665" y="10477"/>
                  <a:pt x="494665" y="23431"/>
                </a:cubicBezTo>
                <a:lnTo>
                  <a:pt x="494665" y="127572"/>
                </a:lnTo>
                <a:cubicBezTo>
                  <a:pt x="494665" y="140525"/>
                  <a:pt x="484188" y="151003"/>
                  <a:pt x="471234" y="151003"/>
                </a:cubicBezTo>
                <a:lnTo>
                  <a:pt x="23432" y="151003"/>
                </a:lnTo>
                <a:cubicBezTo>
                  <a:pt x="10478" y="151003"/>
                  <a:pt x="0" y="140525"/>
                  <a:pt x="0" y="127572"/>
                </a:cubicBezTo>
                <a:lnTo>
                  <a:pt x="0" y="23431"/>
                </a:lnTo>
                <a:cubicBezTo>
                  <a:pt x="0" y="10477"/>
                  <a:pt x="10478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60" name="m-p02_cycle_loop-card-bar-01">
            <a:extLst>
              <a:ext uri="{FF2B5EF4-FFF2-40B4-BE49-F238E27FC236}">
                <a16:creationId xmlns:a16="http://schemas.microsoft.com/office/drawing/2014/main" id="{64B4998A-71F7-EAF3-F735-7C50B3D43C09}"/>
              </a:ext>
            </a:extLst>
          </p:cNvPr>
          <p:cNvSpPr/>
          <p:nvPr/>
        </p:nvSpPr>
        <p:spPr>
          <a:xfrm>
            <a:off x="11403648" y="4563999"/>
            <a:ext cx="6541" cy="93726"/>
          </a:xfrm>
          <a:custGeom>
            <a:avLst/>
            <a:gdLst/>
            <a:ahLst/>
            <a:cxnLst/>
            <a:rect l="0" t="0" r="r" b="b"/>
            <a:pathLst>
              <a:path w="6541" h="93726">
                <a:moveTo>
                  <a:pt x="3238" y="0"/>
                </a:moveTo>
                <a:lnTo>
                  <a:pt x="3238" y="0"/>
                </a:lnTo>
                <a:cubicBezTo>
                  <a:pt x="5080" y="0"/>
                  <a:pt x="6541" y="1461"/>
                  <a:pt x="6541" y="3238"/>
                </a:cubicBezTo>
                <a:lnTo>
                  <a:pt x="6541" y="90488"/>
                </a:lnTo>
                <a:cubicBezTo>
                  <a:pt x="6541" y="92265"/>
                  <a:pt x="5080" y="93726"/>
                  <a:pt x="3238" y="93726"/>
                </a:cubicBezTo>
                <a:lnTo>
                  <a:pt x="3238" y="93726"/>
                </a:lnTo>
                <a:cubicBezTo>
                  <a:pt x="1461" y="93726"/>
                  <a:pt x="0" y="92265"/>
                  <a:pt x="0" y="90488"/>
                </a:cubicBezTo>
                <a:lnTo>
                  <a:pt x="0" y="3238"/>
                </a:lnTo>
                <a:cubicBezTo>
                  <a:pt x="0" y="1461"/>
                  <a:pt x="1461" y="0"/>
                  <a:pt x="3238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61" name="m-p02_cycle_loop-card-h-01">
            <a:extLst>
              <a:ext uri="{FF2B5EF4-FFF2-40B4-BE49-F238E27FC236}">
                <a16:creationId xmlns:a16="http://schemas.microsoft.com/office/drawing/2014/main" id="{66F667F9-31AA-E1D3-C627-7EDC6DD117F8}"/>
              </a:ext>
            </a:extLst>
          </p:cNvPr>
          <p:cNvSpPr txBox="1"/>
          <p:nvPr/>
        </p:nvSpPr>
        <p:spPr>
          <a:xfrm>
            <a:off x="11444002" y="4560256"/>
            <a:ext cx="167275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目标设定</a:t>
            </a:r>
          </a:p>
        </p:txBody>
      </p:sp>
      <p:sp>
        <p:nvSpPr>
          <p:cNvPr id="1862" name="m-p02_cycle_loop-card-p-01">
            <a:extLst>
              <a:ext uri="{FF2B5EF4-FFF2-40B4-BE49-F238E27FC236}">
                <a16:creationId xmlns:a16="http://schemas.microsoft.com/office/drawing/2014/main" id="{2D0F6DFD-3517-A802-3768-4B9C5F5BE8FF}"/>
              </a:ext>
            </a:extLst>
          </p:cNvPr>
          <p:cNvSpPr txBox="1"/>
          <p:nvPr/>
        </p:nvSpPr>
        <p:spPr>
          <a:xfrm>
            <a:off x="11445173" y="4619177"/>
            <a:ext cx="20795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年度目标拆解到岗</a:t>
            </a:r>
          </a:p>
        </p:txBody>
      </p:sp>
      <p:sp>
        <p:nvSpPr>
          <p:cNvPr id="1863" name="m-p02_cycle_loop-card-n-01">
            <a:extLst>
              <a:ext uri="{FF2B5EF4-FFF2-40B4-BE49-F238E27FC236}">
                <a16:creationId xmlns:a16="http://schemas.microsoft.com/office/drawing/2014/main" id="{BBE91CF9-028B-B5C7-2FAE-2FCB79F84C72}"/>
              </a:ext>
            </a:extLst>
          </p:cNvPr>
          <p:cNvSpPr txBox="1"/>
          <p:nvPr/>
        </p:nvSpPr>
        <p:spPr>
          <a:xfrm>
            <a:off x="11737937" y="4518073"/>
            <a:ext cx="128821" cy="10934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90" b="1" i="0" u="none" strike="noStrike" kern="1200" cap="none" spc="10" normalizeH="0" baseline="0" noProof="0">
                <a:ln>
                  <a:noFill/>
                </a:ln>
                <a:solidFill>
                  <a:srgbClr val="0B3E8F">
                    <a:alpha val="16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1864" name="m-p02_cycle_loop-card-02">
            <a:extLst>
              <a:ext uri="{FF2B5EF4-FFF2-40B4-BE49-F238E27FC236}">
                <a16:creationId xmlns:a16="http://schemas.microsoft.com/office/drawing/2014/main" id="{C9F2D717-76C1-BB52-A5D3-E4FE3B14689B}"/>
              </a:ext>
            </a:extLst>
          </p:cNvPr>
          <p:cNvSpPr/>
          <p:nvPr/>
        </p:nvSpPr>
        <p:spPr>
          <a:xfrm>
            <a:off x="12047410" y="4839970"/>
            <a:ext cx="494665" cy="151003"/>
          </a:xfrm>
          <a:custGeom>
            <a:avLst/>
            <a:gdLst/>
            <a:ahLst/>
            <a:cxnLst/>
            <a:rect l="0" t="0" r="r" b="b"/>
            <a:pathLst>
              <a:path w="494665" h="151003">
                <a:moveTo>
                  <a:pt x="23432" y="0"/>
                </a:moveTo>
                <a:lnTo>
                  <a:pt x="471234" y="0"/>
                </a:lnTo>
                <a:cubicBezTo>
                  <a:pt x="484188" y="0"/>
                  <a:pt x="494665" y="10541"/>
                  <a:pt x="494665" y="23431"/>
                </a:cubicBezTo>
                <a:lnTo>
                  <a:pt x="494665" y="127571"/>
                </a:lnTo>
                <a:cubicBezTo>
                  <a:pt x="494665" y="140525"/>
                  <a:pt x="484188" y="151003"/>
                  <a:pt x="471234" y="151003"/>
                </a:cubicBezTo>
                <a:lnTo>
                  <a:pt x="23432" y="151003"/>
                </a:lnTo>
                <a:cubicBezTo>
                  <a:pt x="10541" y="151003"/>
                  <a:pt x="0" y="140525"/>
                  <a:pt x="0" y="127571"/>
                </a:cubicBezTo>
                <a:lnTo>
                  <a:pt x="0" y="23431"/>
                </a:lnTo>
                <a:cubicBezTo>
                  <a:pt x="0" y="10541"/>
                  <a:pt x="10541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65" name="m-p02_cycle_loop-card-bar-02">
            <a:extLst>
              <a:ext uri="{FF2B5EF4-FFF2-40B4-BE49-F238E27FC236}">
                <a16:creationId xmlns:a16="http://schemas.microsoft.com/office/drawing/2014/main" id="{D3A31C8B-4964-7863-5581-AFF87AF04378}"/>
              </a:ext>
            </a:extLst>
          </p:cNvPr>
          <p:cNvSpPr/>
          <p:nvPr/>
        </p:nvSpPr>
        <p:spPr>
          <a:xfrm>
            <a:off x="12047410" y="4868608"/>
            <a:ext cx="6540" cy="93726"/>
          </a:xfrm>
          <a:custGeom>
            <a:avLst/>
            <a:gdLst/>
            <a:ahLst/>
            <a:cxnLst/>
            <a:rect l="0" t="0" r="r" b="b"/>
            <a:pathLst>
              <a:path w="6540" h="93726">
                <a:moveTo>
                  <a:pt x="3302" y="0"/>
                </a:moveTo>
                <a:lnTo>
                  <a:pt x="3302" y="0"/>
                </a:lnTo>
                <a:cubicBezTo>
                  <a:pt x="5080" y="0"/>
                  <a:pt x="6540" y="1461"/>
                  <a:pt x="6540" y="3302"/>
                </a:cubicBezTo>
                <a:lnTo>
                  <a:pt x="6540" y="90488"/>
                </a:lnTo>
                <a:cubicBezTo>
                  <a:pt x="6540" y="92329"/>
                  <a:pt x="5080" y="93726"/>
                  <a:pt x="3302" y="93726"/>
                </a:cubicBezTo>
                <a:lnTo>
                  <a:pt x="3302" y="93726"/>
                </a:lnTo>
                <a:cubicBezTo>
                  <a:pt x="1461" y="93726"/>
                  <a:pt x="0" y="92329"/>
                  <a:pt x="0" y="90488"/>
                </a:cubicBezTo>
                <a:lnTo>
                  <a:pt x="0" y="3302"/>
                </a:lnTo>
                <a:cubicBezTo>
                  <a:pt x="0" y="1461"/>
                  <a:pt x="1461" y="0"/>
                  <a:pt x="3302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66" name="m-p02_cycle_loop-card-h-02">
            <a:extLst>
              <a:ext uri="{FF2B5EF4-FFF2-40B4-BE49-F238E27FC236}">
                <a16:creationId xmlns:a16="http://schemas.microsoft.com/office/drawing/2014/main" id="{AE4563DF-3B7D-7701-5C43-C62D3EA710FE}"/>
              </a:ext>
            </a:extLst>
          </p:cNvPr>
          <p:cNvSpPr txBox="1"/>
          <p:nvPr/>
        </p:nvSpPr>
        <p:spPr>
          <a:xfrm>
            <a:off x="12087781" y="4864898"/>
            <a:ext cx="167275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计划执行</a:t>
            </a:r>
          </a:p>
        </p:txBody>
      </p:sp>
      <p:sp>
        <p:nvSpPr>
          <p:cNvPr id="1867" name="m-p02_cycle_loop-card-p-02">
            <a:extLst>
              <a:ext uri="{FF2B5EF4-FFF2-40B4-BE49-F238E27FC236}">
                <a16:creationId xmlns:a16="http://schemas.microsoft.com/office/drawing/2014/main" id="{23D58209-DFBE-5C24-BF44-A6F7BFA4ADC8}"/>
              </a:ext>
            </a:extLst>
          </p:cNvPr>
          <p:cNvSpPr txBox="1"/>
          <p:nvPr/>
        </p:nvSpPr>
        <p:spPr>
          <a:xfrm>
            <a:off x="12088953" y="4923818"/>
            <a:ext cx="20795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行动计划资源对齐</a:t>
            </a:r>
          </a:p>
        </p:txBody>
      </p:sp>
      <p:sp>
        <p:nvSpPr>
          <p:cNvPr id="1868" name="m-p02_cycle_loop-card-n-02">
            <a:extLst>
              <a:ext uri="{FF2B5EF4-FFF2-40B4-BE49-F238E27FC236}">
                <a16:creationId xmlns:a16="http://schemas.microsoft.com/office/drawing/2014/main" id="{56B88557-4542-A623-D5D1-A8BEAAF1833D}"/>
              </a:ext>
            </a:extLst>
          </p:cNvPr>
          <p:cNvSpPr txBox="1"/>
          <p:nvPr/>
        </p:nvSpPr>
        <p:spPr>
          <a:xfrm>
            <a:off x="12381717" y="4822715"/>
            <a:ext cx="128821" cy="10934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90" b="1" i="0" u="none" strike="noStrike" kern="1200" cap="none" spc="10" normalizeH="0" baseline="0" noProof="0">
                <a:ln>
                  <a:noFill/>
                </a:ln>
                <a:solidFill>
                  <a:srgbClr val="1B5AA8">
                    <a:alpha val="16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1869" name="m-p02_cycle_loop-card-03">
            <a:extLst>
              <a:ext uri="{FF2B5EF4-FFF2-40B4-BE49-F238E27FC236}">
                <a16:creationId xmlns:a16="http://schemas.microsoft.com/office/drawing/2014/main" id="{83B71FF5-3964-A089-088E-325FF0AAF701}"/>
              </a:ext>
            </a:extLst>
          </p:cNvPr>
          <p:cNvSpPr/>
          <p:nvPr/>
        </p:nvSpPr>
        <p:spPr>
          <a:xfrm>
            <a:off x="11801538" y="5354130"/>
            <a:ext cx="494665" cy="151003"/>
          </a:xfrm>
          <a:custGeom>
            <a:avLst/>
            <a:gdLst/>
            <a:ahLst/>
            <a:cxnLst/>
            <a:rect l="0" t="0" r="r" b="b"/>
            <a:pathLst>
              <a:path w="494665" h="151003">
                <a:moveTo>
                  <a:pt x="23432" y="0"/>
                </a:moveTo>
                <a:lnTo>
                  <a:pt x="471234" y="0"/>
                </a:lnTo>
                <a:cubicBezTo>
                  <a:pt x="484188" y="0"/>
                  <a:pt x="494665" y="10478"/>
                  <a:pt x="494665" y="23432"/>
                </a:cubicBezTo>
                <a:lnTo>
                  <a:pt x="494665" y="127572"/>
                </a:lnTo>
                <a:cubicBezTo>
                  <a:pt x="494665" y="140525"/>
                  <a:pt x="484188" y="151003"/>
                  <a:pt x="471234" y="151003"/>
                </a:cubicBezTo>
                <a:lnTo>
                  <a:pt x="23432" y="151003"/>
                </a:lnTo>
                <a:cubicBezTo>
                  <a:pt x="10478" y="151003"/>
                  <a:pt x="0" y="140525"/>
                  <a:pt x="0" y="127572"/>
                </a:cubicBezTo>
                <a:lnTo>
                  <a:pt x="0" y="23432"/>
                </a:lnTo>
                <a:cubicBezTo>
                  <a:pt x="0" y="10478"/>
                  <a:pt x="10478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70" name="m-p02_cycle_loop-card-bar-03">
            <a:extLst>
              <a:ext uri="{FF2B5EF4-FFF2-40B4-BE49-F238E27FC236}">
                <a16:creationId xmlns:a16="http://schemas.microsoft.com/office/drawing/2014/main" id="{38E08C14-5A74-107D-8F04-E720B411B199}"/>
              </a:ext>
            </a:extLst>
          </p:cNvPr>
          <p:cNvSpPr/>
          <p:nvPr/>
        </p:nvSpPr>
        <p:spPr>
          <a:xfrm>
            <a:off x="11801538" y="5382768"/>
            <a:ext cx="6477" cy="93726"/>
          </a:xfrm>
          <a:custGeom>
            <a:avLst/>
            <a:gdLst/>
            <a:ahLst/>
            <a:cxnLst/>
            <a:rect l="0" t="0" r="r" b="b"/>
            <a:pathLst>
              <a:path w="6477" h="93726">
                <a:moveTo>
                  <a:pt x="3238" y="0"/>
                </a:moveTo>
                <a:lnTo>
                  <a:pt x="3238" y="0"/>
                </a:lnTo>
                <a:cubicBezTo>
                  <a:pt x="5016" y="0"/>
                  <a:pt x="6477" y="1461"/>
                  <a:pt x="6477" y="3239"/>
                </a:cubicBezTo>
                <a:lnTo>
                  <a:pt x="6477" y="90488"/>
                </a:lnTo>
                <a:cubicBezTo>
                  <a:pt x="6477" y="92266"/>
                  <a:pt x="5016" y="93726"/>
                  <a:pt x="3238" y="93726"/>
                </a:cubicBezTo>
                <a:lnTo>
                  <a:pt x="3238" y="93726"/>
                </a:lnTo>
                <a:cubicBezTo>
                  <a:pt x="1461" y="93726"/>
                  <a:pt x="0" y="92266"/>
                  <a:pt x="0" y="90488"/>
                </a:cubicBezTo>
                <a:lnTo>
                  <a:pt x="0" y="3239"/>
                </a:lnTo>
                <a:cubicBezTo>
                  <a:pt x="0" y="1461"/>
                  <a:pt x="1461" y="0"/>
                  <a:pt x="3238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71" name="m-p02_cycle_loop-card-h-03">
            <a:extLst>
              <a:ext uri="{FF2B5EF4-FFF2-40B4-BE49-F238E27FC236}">
                <a16:creationId xmlns:a16="http://schemas.microsoft.com/office/drawing/2014/main" id="{5DC3AC2E-94C2-7309-511A-98B8896C4785}"/>
              </a:ext>
            </a:extLst>
          </p:cNvPr>
          <p:cNvSpPr txBox="1"/>
          <p:nvPr/>
        </p:nvSpPr>
        <p:spPr>
          <a:xfrm>
            <a:off x="11841879" y="5379025"/>
            <a:ext cx="167275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过程监控</a:t>
            </a:r>
          </a:p>
        </p:txBody>
      </p:sp>
      <p:sp>
        <p:nvSpPr>
          <p:cNvPr id="1872" name="m-p02_cycle_loop-card-p-03">
            <a:extLst>
              <a:ext uri="{FF2B5EF4-FFF2-40B4-BE49-F238E27FC236}">
                <a16:creationId xmlns:a16="http://schemas.microsoft.com/office/drawing/2014/main" id="{DC8586C4-DD09-2E58-4787-4C077FDC7A1B}"/>
              </a:ext>
            </a:extLst>
          </p:cNvPr>
          <p:cNvSpPr txBox="1"/>
          <p:nvPr/>
        </p:nvSpPr>
        <p:spPr>
          <a:xfrm>
            <a:off x="11843051" y="5437946"/>
            <a:ext cx="20795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关键指标实时预警</a:t>
            </a:r>
          </a:p>
        </p:txBody>
      </p:sp>
      <p:sp>
        <p:nvSpPr>
          <p:cNvPr id="1873" name="m-p02_cycle_loop-card-n-03">
            <a:extLst>
              <a:ext uri="{FF2B5EF4-FFF2-40B4-BE49-F238E27FC236}">
                <a16:creationId xmlns:a16="http://schemas.microsoft.com/office/drawing/2014/main" id="{1E7DE685-DB30-B9CD-C57E-C2B1A2D7819F}"/>
              </a:ext>
            </a:extLst>
          </p:cNvPr>
          <p:cNvSpPr txBox="1"/>
          <p:nvPr/>
        </p:nvSpPr>
        <p:spPr>
          <a:xfrm>
            <a:off x="12135815" y="5336842"/>
            <a:ext cx="128821" cy="10934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90" b="1" i="0" u="none" strike="noStrike" kern="1200" cap="none" spc="10" normalizeH="0" baseline="0" noProof="0">
                <a:ln>
                  <a:noFill/>
                </a:ln>
                <a:solidFill>
                  <a:srgbClr val="2E77C2">
                    <a:alpha val="16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1874" name="m-p02_cycle_loop-card-04">
            <a:extLst>
              <a:ext uri="{FF2B5EF4-FFF2-40B4-BE49-F238E27FC236}">
                <a16:creationId xmlns:a16="http://schemas.microsoft.com/office/drawing/2014/main" id="{3EDD811A-EA4F-DD4C-C9E1-44189E633368}"/>
              </a:ext>
            </a:extLst>
          </p:cNvPr>
          <p:cNvSpPr/>
          <p:nvPr/>
        </p:nvSpPr>
        <p:spPr>
          <a:xfrm>
            <a:off x="11005756" y="5354130"/>
            <a:ext cx="494665" cy="151003"/>
          </a:xfrm>
          <a:custGeom>
            <a:avLst/>
            <a:gdLst/>
            <a:ahLst/>
            <a:cxnLst/>
            <a:rect l="0" t="0" r="r" b="b"/>
            <a:pathLst>
              <a:path w="494665" h="151003">
                <a:moveTo>
                  <a:pt x="23432" y="0"/>
                </a:moveTo>
                <a:lnTo>
                  <a:pt x="471234" y="0"/>
                </a:lnTo>
                <a:cubicBezTo>
                  <a:pt x="484188" y="0"/>
                  <a:pt x="494665" y="10478"/>
                  <a:pt x="494665" y="23432"/>
                </a:cubicBezTo>
                <a:lnTo>
                  <a:pt x="494665" y="127572"/>
                </a:lnTo>
                <a:cubicBezTo>
                  <a:pt x="494665" y="140525"/>
                  <a:pt x="484188" y="151003"/>
                  <a:pt x="471234" y="151003"/>
                </a:cubicBezTo>
                <a:lnTo>
                  <a:pt x="23432" y="151003"/>
                </a:lnTo>
                <a:cubicBezTo>
                  <a:pt x="10477" y="151003"/>
                  <a:pt x="0" y="140525"/>
                  <a:pt x="0" y="127572"/>
                </a:cubicBezTo>
                <a:lnTo>
                  <a:pt x="0" y="23432"/>
                </a:lnTo>
                <a:cubicBezTo>
                  <a:pt x="0" y="10478"/>
                  <a:pt x="10477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75" name="m-p02_cycle_loop-card-bar-04">
            <a:extLst>
              <a:ext uri="{FF2B5EF4-FFF2-40B4-BE49-F238E27FC236}">
                <a16:creationId xmlns:a16="http://schemas.microsoft.com/office/drawing/2014/main" id="{CEDD4EA2-FA2E-1BFC-2FA1-620AFE100B47}"/>
              </a:ext>
            </a:extLst>
          </p:cNvPr>
          <p:cNvSpPr/>
          <p:nvPr/>
        </p:nvSpPr>
        <p:spPr>
          <a:xfrm>
            <a:off x="11005756" y="5382768"/>
            <a:ext cx="6540" cy="93726"/>
          </a:xfrm>
          <a:custGeom>
            <a:avLst/>
            <a:gdLst/>
            <a:ahLst/>
            <a:cxnLst/>
            <a:rect l="0" t="0" r="r" b="b"/>
            <a:pathLst>
              <a:path w="6540" h="93726">
                <a:moveTo>
                  <a:pt x="3238" y="0"/>
                </a:moveTo>
                <a:lnTo>
                  <a:pt x="3238" y="0"/>
                </a:lnTo>
                <a:cubicBezTo>
                  <a:pt x="5080" y="0"/>
                  <a:pt x="6540" y="1461"/>
                  <a:pt x="6540" y="3239"/>
                </a:cubicBezTo>
                <a:lnTo>
                  <a:pt x="6540" y="90488"/>
                </a:lnTo>
                <a:cubicBezTo>
                  <a:pt x="6540" y="92266"/>
                  <a:pt x="5080" y="93726"/>
                  <a:pt x="3238" y="93726"/>
                </a:cubicBezTo>
                <a:lnTo>
                  <a:pt x="3238" y="93726"/>
                </a:lnTo>
                <a:cubicBezTo>
                  <a:pt x="1461" y="93726"/>
                  <a:pt x="0" y="92266"/>
                  <a:pt x="0" y="90488"/>
                </a:cubicBezTo>
                <a:lnTo>
                  <a:pt x="0" y="3239"/>
                </a:lnTo>
                <a:cubicBezTo>
                  <a:pt x="0" y="1461"/>
                  <a:pt x="1461" y="0"/>
                  <a:pt x="3238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76" name="m-p02_cycle_loop-card-h-04">
            <a:extLst>
              <a:ext uri="{FF2B5EF4-FFF2-40B4-BE49-F238E27FC236}">
                <a16:creationId xmlns:a16="http://schemas.microsoft.com/office/drawing/2014/main" id="{69AF4B9E-EA5A-94C9-9A1E-9525A30D9D97}"/>
              </a:ext>
            </a:extLst>
          </p:cNvPr>
          <p:cNvSpPr txBox="1"/>
          <p:nvPr/>
        </p:nvSpPr>
        <p:spPr>
          <a:xfrm>
            <a:off x="11046124" y="5379025"/>
            <a:ext cx="167275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复盘评估</a:t>
            </a:r>
          </a:p>
        </p:txBody>
      </p:sp>
      <p:sp>
        <p:nvSpPr>
          <p:cNvPr id="1877" name="m-p02_cycle_loop-card-p-04">
            <a:extLst>
              <a:ext uri="{FF2B5EF4-FFF2-40B4-BE49-F238E27FC236}">
                <a16:creationId xmlns:a16="http://schemas.microsoft.com/office/drawing/2014/main" id="{EF0826B2-50C1-F364-4BB5-1A89F7CDD0C0}"/>
              </a:ext>
            </a:extLst>
          </p:cNvPr>
          <p:cNvSpPr txBox="1"/>
          <p:nvPr/>
        </p:nvSpPr>
        <p:spPr>
          <a:xfrm>
            <a:off x="11047296" y="5437946"/>
            <a:ext cx="20795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对照目标量化评估</a:t>
            </a:r>
          </a:p>
        </p:txBody>
      </p:sp>
      <p:sp>
        <p:nvSpPr>
          <p:cNvPr id="1878" name="m-p02_cycle_loop-card-n-04">
            <a:extLst>
              <a:ext uri="{FF2B5EF4-FFF2-40B4-BE49-F238E27FC236}">
                <a16:creationId xmlns:a16="http://schemas.microsoft.com/office/drawing/2014/main" id="{8E987A26-80A3-E4C9-B67C-52C6DD1EB9BE}"/>
              </a:ext>
            </a:extLst>
          </p:cNvPr>
          <p:cNvSpPr txBox="1"/>
          <p:nvPr/>
        </p:nvSpPr>
        <p:spPr>
          <a:xfrm>
            <a:off x="11340059" y="5336842"/>
            <a:ext cx="128821" cy="10934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90" b="1" i="0" u="none" strike="noStrike" kern="1200" cap="none" spc="10" normalizeH="0" baseline="0" noProof="0">
                <a:ln>
                  <a:noFill/>
                </a:ln>
                <a:solidFill>
                  <a:srgbClr val="3985CD">
                    <a:alpha val="16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1879" name="m-p02_cycle_loop-card-05">
            <a:extLst>
              <a:ext uri="{FF2B5EF4-FFF2-40B4-BE49-F238E27FC236}">
                <a16:creationId xmlns:a16="http://schemas.microsoft.com/office/drawing/2014/main" id="{0BF36084-AB37-50A2-DCB5-56C64CADED86}"/>
              </a:ext>
            </a:extLst>
          </p:cNvPr>
          <p:cNvSpPr/>
          <p:nvPr/>
        </p:nvSpPr>
        <p:spPr>
          <a:xfrm>
            <a:off x="10759884" y="4839970"/>
            <a:ext cx="494665" cy="151003"/>
          </a:xfrm>
          <a:custGeom>
            <a:avLst/>
            <a:gdLst/>
            <a:ahLst/>
            <a:cxnLst/>
            <a:rect l="0" t="0" r="r" b="b"/>
            <a:pathLst>
              <a:path w="494665" h="151003">
                <a:moveTo>
                  <a:pt x="23432" y="0"/>
                </a:moveTo>
                <a:lnTo>
                  <a:pt x="471234" y="0"/>
                </a:lnTo>
                <a:cubicBezTo>
                  <a:pt x="484124" y="0"/>
                  <a:pt x="494665" y="10541"/>
                  <a:pt x="494665" y="23431"/>
                </a:cubicBezTo>
                <a:lnTo>
                  <a:pt x="494665" y="127571"/>
                </a:lnTo>
                <a:cubicBezTo>
                  <a:pt x="494665" y="140525"/>
                  <a:pt x="484124" y="151003"/>
                  <a:pt x="471234" y="151003"/>
                </a:cubicBezTo>
                <a:lnTo>
                  <a:pt x="23432" y="151003"/>
                </a:lnTo>
                <a:cubicBezTo>
                  <a:pt x="10477" y="151003"/>
                  <a:pt x="0" y="140525"/>
                  <a:pt x="0" y="127571"/>
                </a:cubicBezTo>
                <a:lnTo>
                  <a:pt x="0" y="23431"/>
                </a:lnTo>
                <a:cubicBezTo>
                  <a:pt x="0" y="10541"/>
                  <a:pt x="10477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80" name="m-p02_cycle_loop-card-bar-05">
            <a:extLst>
              <a:ext uri="{FF2B5EF4-FFF2-40B4-BE49-F238E27FC236}">
                <a16:creationId xmlns:a16="http://schemas.microsoft.com/office/drawing/2014/main" id="{BF2F7174-6981-CFB0-D79C-DCCF2E0A45DC}"/>
              </a:ext>
            </a:extLst>
          </p:cNvPr>
          <p:cNvSpPr/>
          <p:nvPr/>
        </p:nvSpPr>
        <p:spPr>
          <a:xfrm>
            <a:off x="10759884" y="4868608"/>
            <a:ext cx="6477" cy="93726"/>
          </a:xfrm>
          <a:custGeom>
            <a:avLst/>
            <a:gdLst/>
            <a:ahLst/>
            <a:cxnLst/>
            <a:rect l="0" t="0" r="r" b="b"/>
            <a:pathLst>
              <a:path w="6477" h="93726">
                <a:moveTo>
                  <a:pt x="3238" y="0"/>
                </a:moveTo>
                <a:lnTo>
                  <a:pt x="3238" y="0"/>
                </a:lnTo>
                <a:cubicBezTo>
                  <a:pt x="5016" y="0"/>
                  <a:pt x="6477" y="1461"/>
                  <a:pt x="6477" y="3302"/>
                </a:cubicBezTo>
                <a:lnTo>
                  <a:pt x="6477" y="90488"/>
                </a:lnTo>
                <a:cubicBezTo>
                  <a:pt x="6477" y="92329"/>
                  <a:pt x="5016" y="93726"/>
                  <a:pt x="3238" y="93726"/>
                </a:cubicBezTo>
                <a:lnTo>
                  <a:pt x="3238" y="93726"/>
                </a:lnTo>
                <a:cubicBezTo>
                  <a:pt x="1461" y="93726"/>
                  <a:pt x="0" y="92329"/>
                  <a:pt x="0" y="90488"/>
                </a:cubicBezTo>
                <a:lnTo>
                  <a:pt x="0" y="3302"/>
                </a:lnTo>
                <a:cubicBezTo>
                  <a:pt x="0" y="1461"/>
                  <a:pt x="1461" y="0"/>
                  <a:pt x="3238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81" name="m-p02_cycle_loop-card-h-05">
            <a:extLst>
              <a:ext uri="{FF2B5EF4-FFF2-40B4-BE49-F238E27FC236}">
                <a16:creationId xmlns:a16="http://schemas.microsoft.com/office/drawing/2014/main" id="{030D1549-9A25-6F6A-2045-BCA0EBA8F08E}"/>
              </a:ext>
            </a:extLst>
          </p:cNvPr>
          <p:cNvSpPr txBox="1"/>
          <p:nvPr/>
        </p:nvSpPr>
        <p:spPr>
          <a:xfrm>
            <a:off x="10800222" y="4864898"/>
            <a:ext cx="167275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迭代改进</a:t>
            </a:r>
          </a:p>
        </p:txBody>
      </p:sp>
      <p:sp>
        <p:nvSpPr>
          <p:cNvPr id="1882" name="m-p02_cycle_loop-card-p-05">
            <a:extLst>
              <a:ext uri="{FF2B5EF4-FFF2-40B4-BE49-F238E27FC236}">
                <a16:creationId xmlns:a16="http://schemas.microsoft.com/office/drawing/2014/main" id="{6703A408-F047-3B6F-A6BA-3A44B7089DEC}"/>
              </a:ext>
            </a:extLst>
          </p:cNvPr>
          <p:cNvSpPr txBox="1"/>
          <p:nvPr/>
        </p:nvSpPr>
        <p:spPr>
          <a:xfrm>
            <a:off x="10801394" y="4923818"/>
            <a:ext cx="20795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改进措施闭环落地</a:t>
            </a:r>
          </a:p>
        </p:txBody>
      </p:sp>
      <p:sp>
        <p:nvSpPr>
          <p:cNvPr id="1883" name="m-p02_cycle_loop-card-n-05">
            <a:extLst>
              <a:ext uri="{FF2B5EF4-FFF2-40B4-BE49-F238E27FC236}">
                <a16:creationId xmlns:a16="http://schemas.microsoft.com/office/drawing/2014/main" id="{299C3B17-82E6-CCEC-82E3-F626F3C8BBB3}"/>
              </a:ext>
            </a:extLst>
          </p:cNvPr>
          <p:cNvSpPr txBox="1"/>
          <p:nvPr/>
        </p:nvSpPr>
        <p:spPr>
          <a:xfrm>
            <a:off x="11094157" y="4822715"/>
            <a:ext cx="128821" cy="10934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90" b="1" i="0" u="none" strike="noStrike" kern="1200" cap="none" spc="10" normalizeH="0" baseline="0" noProof="0">
                <a:ln>
                  <a:noFill/>
                </a:ln>
                <a:solidFill>
                  <a:srgbClr val="54A2DF">
                    <a:alpha val="16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05</a:t>
            </a:r>
          </a:p>
        </p:txBody>
      </p:sp>
      <p:cxnSp>
        <p:nvCxnSpPr>
          <p:cNvPr id="1884" name="m-p02_cycle_loop-foot-line">
            <a:extLst>
              <a:ext uri="{FF2B5EF4-FFF2-40B4-BE49-F238E27FC236}">
                <a16:creationId xmlns:a16="http://schemas.microsoft.com/office/drawing/2014/main" id="{33CBE155-1C0D-BDFE-21A3-E2C35B9CCDC9}"/>
              </a:ext>
            </a:extLst>
          </p:cNvPr>
          <p:cNvCxnSpPr/>
          <p:nvPr/>
        </p:nvCxnSpPr>
        <p:spPr>
          <a:xfrm>
            <a:off x="10521061" y="55923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85" name="m-p02_cycle_loop-foot-l">
            <a:extLst>
              <a:ext uri="{FF2B5EF4-FFF2-40B4-BE49-F238E27FC236}">
                <a16:creationId xmlns:a16="http://schemas.microsoft.com/office/drawing/2014/main" id="{5CAD8344-B76B-67BD-D0DF-A598EFD49FA8}"/>
              </a:ext>
            </a:extLst>
          </p:cNvPr>
          <p:cNvSpPr txBox="1"/>
          <p:nvPr/>
        </p:nvSpPr>
        <p:spPr>
          <a:xfrm>
            <a:off x="10518874" y="5606323"/>
            <a:ext cx="23447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闭环机制 · 五环节循环</a:t>
            </a:r>
          </a:p>
        </p:txBody>
      </p:sp>
      <p:sp>
        <p:nvSpPr>
          <p:cNvPr id="1886" name="m-p02_cycle_loop-foot-r">
            <a:extLst>
              <a:ext uri="{FF2B5EF4-FFF2-40B4-BE49-F238E27FC236}">
                <a16:creationId xmlns:a16="http://schemas.microsoft.com/office/drawing/2014/main" id="{B0F9F8AA-2E54-2C4D-1130-0FB8362C2991}"/>
              </a:ext>
            </a:extLst>
          </p:cNvPr>
          <p:cNvSpPr txBox="1"/>
          <p:nvPr/>
        </p:nvSpPr>
        <p:spPr>
          <a:xfrm>
            <a:off x="12523309" y="56063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1887" name="mini-card-s29_iso_stack">
            <a:extLst>
              <a:ext uri="{FF2B5EF4-FFF2-40B4-BE49-F238E27FC236}">
                <a16:creationId xmlns:a16="http://schemas.microsoft.com/office/drawing/2014/main" id="{676557C6-F007-D0C6-7F46-3D12AB8F0888}"/>
              </a:ext>
            </a:extLst>
          </p:cNvPr>
          <p:cNvSpPr/>
          <p:nvPr/>
        </p:nvSpPr>
        <p:spPr>
          <a:xfrm>
            <a:off x="-444500" y="58166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1" y="0"/>
                </a:moveTo>
                <a:lnTo>
                  <a:pt x="2419160" y="0"/>
                </a:lnTo>
                <a:cubicBezTo>
                  <a:pt x="2463482" y="0"/>
                  <a:pt x="2499360" y="35877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2" y="1405890"/>
                  <a:pt x="2419160" y="1405890"/>
                </a:cubicBezTo>
                <a:lnTo>
                  <a:pt x="80201" y="1405890"/>
                </a:lnTo>
                <a:cubicBezTo>
                  <a:pt x="35878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7"/>
                  <a:pt x="35878" y="0"/>
                  <a:pt x="80201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88" name="m-s29_iso_stack-title-bar">
            <a:extLst>
              <a:ext uri="{FF2B5EF4-FFF2-40B4-BE49-F238E27FC236}">
                <a16:creationId xmlns:a16="http://schemas.microsoft.com/office/drawing/2014/main" id="{8B563C0B-3119-F05D-BCAC-614FF16CB5C9}"/>
              </a:ext>
            </a:extLst>
          </p:cNvPr>
          <p:cNvSpPr/>
          <p:nvPr/>
        </p:nvSpPr>
        <p:spPr>
          <a:xfrm>
            <a:off x="-324739" y="59155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89" name="m-s29_iso_stack-title-bar-accent">
            <a:extLst>
              <a:ext uri="{FF2B5EF4-FFF2-40B4-BE49-F238E27FC236}">
                <a16:creationId xmlns:a16="http://schemas.microsoft.com/office/drawing/2014/main" id="{A6B495B1-013D-96D3-B99F-D92129141A01}"/>
              </a:ext>
            </a:extLst>
          </p:cNvPr>
          <p:cNvSpPr/>
          <p:nvPr/>
        </p:nvSpPr>
        <p:spPr>
          <a:xfrm>
            <a:off x="-324739" y="59155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90" name="m-s29_iso_stack-title-cn">
            <a:extLst>
              <a:ext uri="{FF2B5EF4-FFF2-40B4-BE49-F238E27FC236}">
                <a16:creationId xmlns:a16="http://schemas.microsoft.com/office/drawing/2014/main" id="{C5D55BB6-D8C4-1EA8-199E-90E9F244B53F}"/>
              </a:ext>
            </a:extLst>
          </p:cNvPr>
          <p:cNvSpPr txBox="1"/>
          <p:nvPr/>
        </p:nvSpPr>
        <p:spPr>
          <a:xfrm>
            <a:off x="-292560" y="5898168"/>
            <a:ext cx="426453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五层技术架构</a:t>
            </a:r>
          </a:p>
        </p:txBody>
      </p:sp>
      <p:sp>
        <p:nvSpPr>
          <p:cNvPr id="1891" name="m-s29_iso_stack-title-en">
            <a:extLst>
              <a:ext uri="{FF2B5EF4-FFF2-40B4-BE49-F238E27FC236}">
                <a16:creationId xmlns:a16="http://schemas.microsoft.com/office/drawing/2014/main" id="{A5AC88B1-4BD8-A13D-E8A9-FA75B3440FCE}"/>
              </a:ext>
            </a:extLst>
          </p:cNvPr>
          <p:cNvSpPr txBox="1"/>
          <p:nvPr/>
        </p:nvSpPr>
        <p:spPr>
          <a:xfrm>
            <a:off x="-285270" y="5985450"/>
            <a:ext cx="315076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ISOMETRIC LAYERS</a:t>
            </a:r>
          </a:p>
        </p:txBody>
      </p:sp>
      <p:sp>
        <p:nvSpPr>
          <p:cNvPr id="1892" name="m-s29_iso_stack-title-sub">
            <a:extLst>
              <a:ext uri="{FF2B5EF4-FFF2-40B4-BE49-F238E27FC236}">
                <a16:creationId xmlns:a16="http://schemas.microsoft.com/office/drawing/2014/main" id="{EC1764B9-9542-4525-AE6E-3627BCBF546B}"/>
              </a:ext>
            </a:extLst>
          </p:cNvPr>
          <p:cNvSpPr txBox="1"/>
          <p:nvPr/>
        </p:nvSpPr>
        <p:spPr>
          <a:xfrm>
            <a:off x="1402345" y="5954592"/>
            <a:ext cx="535410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自下而上逐层支撑，每一层只依赖它下面的那一层</a:t>
            </a:r>
          </a:p>
        </p:txBody>
      </p:sp>
      <p:sp>
        <p:nvSpPr>
          <p:cNvPr id="1893" name="m-s29_iso_stack-side-l-5">
            <a:extLst>
              <a:ext uri="{FF2B5EF4-FFF2-40B4-BE49-F238E27FC236}">
                <a16:creationId xmlns:a16="http://schemas.microsoft.com/office/drawing/2014/main" id="{BCB5B16A-53F6-37F5-E654-E649E43CA760}"/>
              </a:ext>
            </a:extLst>
          </p:cNvPr>
          <p:cNvSpPr/>
          <p:nvPr/>
        </p:nvSpPr>
        <p:spPr>
          <a:xfrm>
            <a:off x="414655" y="6821551"/>
            <a:ext cx="390525" cy="158813"/>
          </a:xfrm>
          <a:custGeom>
            <a:avLst/>
            <a:gdLst/>
            <a:ahLst/>
            <a:cxnLst/>
            <a:rect l="0" t="0" r="r" b="b"/>
            <a:pathLst>
              <a:path w="390525" h="158813">
                <a:moveTo>
                  <a:pt x="0" y="0"/>
                </a:moveTo>
                <a:lnTo>
                  <a:pt x="390525" y="124968"/>
                </a:lnTo>
                <a:lnTo>
                  <a:pt x="390525" y="158813"/>
                </a:lnTo>
                <a:lnTo>
                  <a:pt x="0" y="33845"/>
                </a:lnTo>
                <a:close/>
              </a:path>
            </a:pathLst>
          </a:custGeom>
          <a:solidFill>
            <a:srgbClr val="0A347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94" name="m-s29_iso_stack-side-r-5">
            <a:extLst>
              <a:ext uri="{FF2B5EF4-FFF2-40B4-BE49-F238E27FC236}">
                <a16:creationId xmlns:a16="http://schemas.microsoft.com/office/drawing/2014/main" id="{C6E3A927-4F99-5487-CE8D-EBDA64E4D298}"/>
              </a:ext>
            </a:extLst>
          </p:cNvPr>
          <p:cNvSpPr/>
          <p:nvPr/>
        </p:nvSpPr>
        <p:spPr>
          <a:xfrm>
            <a:off x="805180" y="6821551"/>
            <a:ext cx="390525" cy="158813"/>
          </a:xfrm>
          <a:custGeom>
            <a:avLst/>
            <a:gdLst/>
            <a:ahLst/>
            <a:cxnLst/>
            <a:rect l="0" t="0" r="r" b="b"/>
            <a:pathLst>
              <a:path w="390525" h="158813">
                <a:moveTo>
                  <a:pt x="0" y="124968"/>
                </a:moveTo>
                <a:lnTo>
                  <a:pt x="390525" y="0"/>
                </a:lnTo>
                <a:lnTo>
                  <a:pt x="390525" y="33845"/>
                </a:lnTo>
                <a:lnTo>
                  <a:pt x="0" y="158813"/>
                </a:lnTo>
                <a:close/>
              </a:path>
            </a:pathLst>
          </a:custGeom>
          <a:solidFill>
            <a:srgbClr val="0A388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95" name="m-s29_iso_stack-top-5">
            <a:extLst>
              <a:ext uri="{FF2B5EF4-FFF2-40B4-BE49-F238E27FC236}">
                <a16:creationId xmlns:a16="http://schemas.microsoft.com/office/drawing/2014/main" id="{78EAB007-6D50-1884-EC94-84E908869D59}"/>
              </a:ext>
            </a:extLst>
          </p:cNvPr>
          <p:cNvSpPr/>
          <p:nvPr/>
        </p:nvSpPr>
        <p:spPr>
          <a:xfrm>
            <a:off x="414655" y="6696583"/>
            <a:ext cx="781050" cy="249936"/>
          </a:xfrm>
          <a:custGeom>
            <a:avLst/>
            <a:gdLst/>
            <a:ahLst/>
            <a:cxnLst/>
            <a:rect l="0" t="0" r="r" b="b"/>
            <a:pathLst>
              <a:path w="781050" h="249936">
                <a:moveTo>
                  <a:pt x="390525" y="0"/>
                </a:moveTo>
                <a:lnTo>
                  <a:pt x="781050" y="124968"/>
                </a:lnTo>
                <a:lnTo>
                  <a:pt x="390525" y="249936"/>
                </a:lnTo>
                <a:lnTo>
                  <a:pt x="0" y="124968"/>
                </a:lnTo>
                <a:close/>
              </a:path>
            </a:pathLst>
          </a:custGeom>
          <a:gradFill rotWithShape="1">
            <a:gsLst>
              <a:gs pos="0">
                <a:srgbClr val="4168A8"/>
              </a:gs>
              <a:gs pos="100000">
                <a:srgbClr val="0B3E8F"/>
              </a:gs>
            </a:gsLst>
            <a:lin ang="6000000" scaled="0"/>
          </a:gradFill>
          <a:ln w="2540" cap="rnd">
            <a:solidFill>
              <a:srgbClr val="FFFFF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96" name="m-s29_iso_stack-icon-cloud">
            <a:extLst>
              <a:ext uri="{FF2B5EF4-FFF2-40B4-BE49-F238E27FC236}">
                <a16:creationId xmlns:a16="http://schemas.microsoft.com/office/drawing/2014/main" id="{EDF13E81-E6C8-5102-931B-3D49ECA33E1D}"/>
              </a:ext>
            </a:extLst>
          </p:cNvPr>
          <p:cNvSpPr/>
          <p:nvPr/>
        </p:nvSpPr>
        <p:spPr>
          <a:xfrm>
            <a:off x="668528" y="6861576"/>
            <a:ext cx="26797" cy="18463"/>
          </a:xfrm>
          <a:custGeom>
            <a:avLst/>
            <a:gdLst/>
            <a:ahLst/>
            <a:cxnLst/>
            <a:rect l="0" t="0" r="r" b="b"/>
            <a:pathLst>
              <a:path w="26797" h="18463">
                <a:moveTo>
                  <a:pt x="6223" y="18458"/>
                </a:moveTo>
                <a:cubicBezTo>
                  <a:pt x="2921" y="18649"/>
                  <a:pt x="191" y="16109"/>
                  <a:pt x="0" y="12807"/>
                </a:cubicBezTo>
                <a:cubicBezTo>
                  <a:pt x="-127" y="9568"/>
                  <a:pt x="2350" y="6774"/>
                  <a:pt x="5652" y="6647"/>
                </a:cubicBezTo>
                <a:cubicBezTo>
                  <a:pt x="6096" y="3155"/>
                  <a:pt x="8890" y="488"/>
                  <a:pt x="12319" y="43"/>
                </a:cubicBezTo>
                <a:cubicBezTo>
                  <a:pt x="15811" y="-338"/>
                  <a:pt x="19050" y="1694"/>
                  <a:pt x="20320" y="4933"/>
                </a:cubicBezTo>
                <a:cubicBezTo>
                  <a:pt x="24066" y="5060"/>
                  <a:pt x="26988" y="8235"/>
                  <a:pt x="26797" y="11981"/>
                </a:cubicBezTo>
                <a:cubicBezTo>
                  <a:pt x="26670" y="15728"/>
                  <a:pt x="23495" y="18649"/>
                  <a:pt x="19748" y="18458"/>
                </a:cubicBezTo>
                <a:close/>
              </a:path>
            </a:pathLst>
          </a:custGeom>
          <a:noFill/>
          <a:ln w="273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97" name="m-s29_iso_stack-tn-5">
            <a:extLst>
              <a:ext uri="{FF2B5EF4-FFF2-40B4-BE49-F238E27FC236}">
                <a16:creationId xmlns:a16="http://schemas.microsoft.com/office/drawing/2014/main" id="{F3BCCE51-E7B1-69E4-B24B-CCADB16EB869}"/>
              </a:ext>
            </a:extLst>
          </p:cNvPr>
          <p:cNvSpPr txBox="1"/>
          <p:nvPr/>
        </p:nvSpPr>
        <p:spPr>
          <a:xfrm>
            <a:off x="699218" y="6846063"/>
            <a:ext cx="188493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31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基础设施层</a:t>
            </a:r>
          </a:p>
        </p:txBody>
      </p:sp>
      <p:cxnSp>
        <p:nvCxnSpPr>
          <p:cNvPr id="1898" name="m-s29_iso_stack-ll-5">
            <a:extLst>
              <a:ext uri="{FF2B5EF4-FFF2-40B4-BE49-F238E27FC236}">
                <a16:creationId xmlns:a16="http://schemas.microsoft.com/office/drawing/2014/main" id="{33001C27-15D9-310E-EEE3-17201990C15A}"/>
              </a:ext>
            </a:extLst>
          </p:cNvPr>
          <p:cNvCxnSpPr/>
          <p:nvPr/>
        </p:nvCxnSpPr>
        <p:spPr>
          <a:xfrm flipH="1">
            <a:off x="323532" y="6873621"/>
            <a:ext cx="78106" cy="0"/>
          </a:xfrm>
          <a:prstGeom prst="line">
            <a:avLst/>
          </a:prstGeom>
          <a:ln w="2540" cap="rnd">
            <a:solidFill>
              <a:srgbClr val="0B3E8F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99" name="m-s29_iso_stack-lld-5">
            <a:extLst>
              <a:ext uri="{FF2B5EF4-FFF2-40B4-BE49-F238E27FC236}">
                <a16:creationId xmlns:a16="http://schemas.microsoft.com/office/drawing/2014/main" id="{D0FF8FAF-EACC-9457-7127-8A937BF6B190}"/>
              </a:ext>
            </a:extLst>
          </p:cNvPr>
          <p:cNvSpPr/>
          <p:nvPr/>
        </p:nvSpPr>
        <p:spPr>
          <a:xfrm>
            <a:off x="395129" y="6867112"/>
            <a:ext cx="13017" cy="13017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00" name="m-s29_iso_stack-no-5">
            <a:extLst>
              <a:ext uri="{FF2B5EF4-FFF2-40B4-BE49-F238E27FC236}">
                <a16:creationId xmlns:a16="http://schemas.microsoft.com/office/drawing/2014/main" id="{7027BA06-62AC-EF75-A02A-02E35F68C11C}"/>
              </a:ext>
            </a:extLst>
          </p:cNvPr>
          <p:cNvSpPr txBox="1"/>
          <p:nvPr/>
        </p:nvSpPr>
        <p:spPr>
          <a:xfrm>
            <a:off x="-255486" y="6830143"/>
            <a:ext cx="105181" cy="9112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09" b="1" i="0" u="none" strike="noStrike" kern="1200" cap="none" spc="0" normalizeH="0" baseline="0" noProof="0">
                <a:ln>
                  <a:noFill/>
                </a:ln>
                <a:solidFill>
                  <a:srgbClr val="0B3E8F">
                    <a:alpha val="3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1901" name="m-s29_iso_stack-ln-5">
            <a:extLst>
              <a:ext uri="{FF2B5EF4-FFF2-40B4-BE49-F238E27FC236}">
                <a16:creationId xmlns:a16="http://schemas.microsoft.com/office/drawing/2014/main" id="{6016C114-E405-2D1E-E7DB-4CB1A95F0EC6}"/>
              </a:ext>
            </a:extLst>
          </p:cNvPr>
          <p:cNvSpPr txBox="1"/>
          <p:nvPr/>
        </p:nvSpPr>
        <p:spPr>
          <a:xfrm>
            <a:off x="-146399" y="6828222"/>
            <a:ext cx="205026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基础设施层</a:t>
            </a:r>
          </a:p>
        </p:txBody>
      </p:sp>
      <p:sp>
        <p:nvSpPr>
          <p:cNvPr id="1902" name="m-s29_iso_stack-ld-5">
            <a:extLst>
              <a:ext uri="{FF2B5EF4-FFF2-40B4-BE49-F238E27FC236}">
                <a16:creationId xmlns:a16="http://schemas.microsoft.com/office/drawing/2014/main" id="{443A2604-3F80-2BE5-4E6E-F421BAB785BA}"/>
              </a:ext>
            </a:extLst>
          </p:cNvPr>
          <p:cNvSpPr txBox="1"/>
          <p:nvPr/>
        </p:nvSpPr>
        <p:spPr>
          <a:xfrm>
            <a:off x="-144915" y="6882548"/>
            <a:ext cx="245835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安全、稳定、弹性的资源</a:t>
            </a:r>
          </a:p>
        </p:txBody>
      </p:sp>
      <p:cxnSp>
        <p:nvCxnSpPr>
          <p:cNvPr id="1903" name="m-s29_iso_stack-rl-5">
            <a:extLst>
              <a:ext uri="{FF2B5EF4-FFF2-40B4-BE49-F238E27FC236}">
                <a16:creationId xmlns:a16="http://schemas.microsoft.com/office/drawing/2014/main" id="{34C2D773-A788-8DFD-9906-CAECB733D3EF}"/>
              </a:ext>
            </a:extLst>
          </p:cNvPr>
          <p:cNvCxnSpPr/>
          <p:nvPr/>
        </p:nvCxnSpPr>
        <p:spPr>
          <a:xfrm>
            <a:off x="1208722" y="6873621"/>
            <a:ext cx="78105" cy="0"/>
          </a:xfrm>
          <a:prstGeom prst="line">
            <a:avLst/>
          </a:prstGeom>
          <a:ln w="2540" cap="rnd">
            <a:solidFill>
              <a:srgbClr val="0B3E8F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04" name="m-s29_iso_stack-rld-5">
            <a:extLst>
              <a:ext uri="{FF2B5EF4-FFF2-40B4-BE49-F238E27FC236}">
                <a16:creationId xmlns:a16="http://schemas.microsoft.com/office/drawing/2014/main" id="{B8423916-ED3A-5C99-A960-D35268848158}"/>
              </a:ext>
            </a:extLst>
          </p:cNvPr>
          <p:cNvSpPr/>
          <p:nvPr/>
        </p:nvSpPr>
        <p:spPr>
          <a:xfrm>
            <a:off x="1202214" y="6867112"/>
            <a:ext cx="13017" cy="13017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05" name="m-s29_iso_stack-cp-5-1">
            <a:extLst>
              <a:ext uri="{FF2B5EF4-FFF2-40B4-BE49-F238E27FC236}">
                <a16:creationId xmlns:a16="http://schemas.microsoft.com/office/drawing/2014/main" id="{01B686D1-F671-0961-C90A-2F654D00A47E}"/>
              </a:ext>
            </a:extLst>
          </p:cNvPr>
          <p:cNvSpPr/>
          <p:nvPr/>
        </p:nvSpPr>
        <p:spPr>
          <a:xfrm>
            <a:off x="1299845" y="6844982"/>
            <a:ext cx="171831" cy="57277"/>
          </a:xfrm>
          <a:custGeom>
            <a:avLst/>
            <a:gdLst/>
            <a:ahLst/>
            <a:cxnLst/>
            <a:rect l="0" t="0" r="r" b="b"/>
            <a:pathLst>
              <a:path w="171831" h="57277">
                <a:moveTo>
                  <a:pt x="28639" y="0"/>
                </a:moveTo>
                <a:lnTo>
                  <a:pt x="143193" y="0"/>
                </a:lnTo>
                <a:cubicBezTo>
                  <a:pt x="159004" y="0"/>
                  <a:pt x="171831" y="12827"/>
                  <a:pt x="171831" y="28638"/>
                </a:cubicBezTo>
                <a:lnTo>
                  <a:pt x="171831" y="28638"/>
                </a:lnTo>
                <a:cubicBezTo>
                  <a:pt x="171831" y="44450"/>
                  <a:pt x="159004" y="57277"/>
                  <a:pt x="143193" y="57277"/>
                </a:cubicBezTo>
                <a:lnTo>
                  <a:pt x="28639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9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0B3E8F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06" name="m-s29_iso_stack-cpt-5-1">
            <a:extLst>
              <a:ext uri="{FF2B5EF4-FFF2-40B4-BE49-F238E27FC236}">
                <a16:creationId xmlns:a16="http://schemas.microsoft.com/office/drawing/2014/main" id="{5364EB3B-53C4-0E4B-4BA4-EA4A278249C1}"/>
              </a:ext>
            </a:extLst>
          </p:cNvPr>
          <p:cNvSpPr txBox="1"/>
          <p:nvPr/>
        </p:nvSpPr>
        <p:spPr>
          <a:xfrm>
            <a:off x="1344365" y="6855709"/>
            <a:ext cx="82791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混合云</a:t>
            </a:r>
          </a:p>
        </p:txBody>
      </p:sp>
      <p:sp>
        <p:nvSpPr>
          <p:cNvPr id="1907" name="m-s29_iso_stack-cp-5-2">
            <a:extLst>
              <a:ext uri="{FF2B5EF4-FFF2-40B4-BE49-F238E27FC236}">
                <a16:creationId xmlns:a16="http://schemas.microsoft.com/office/drawing/2014/main" id="{93167EBE-9517-3801-1933-A0A9D207D6D3}"/>
              </a:ext>
            </a:extLst>
          </p:cNvPr>
          <p:cNvSpPr/>
          <p:nvPr/>
        </p:nvSpPr>
        <p:spPr>
          <a:xfrm>
            <a:off x="1487297" y="6844982"/>
            <a:ext cx="171831" cy="57277"/>
          </a:xfrm>
          <a:custGeom>
            <a:avLst/>
            <a:gdLst/>
            <a:ahLst/>
            <a:cxnLst/>
            <a:rect l="0" t="0" r="r" b="b"/>
            <a:pathLst>
              <a:path w="171831" h="57277">
                <a:moveTo>
                  <a:pt x="28638" y="0"/>
                </a:moveTo>
                <a:lnTo>
                  <a:pt x="143192" y="0"/>
                </a:lnTo>
                <a:cubicBezTo>
                  <a:pt x="159004" y="0"/>
                  <a:pt x="171831" y="12827"/>
                  <a:pt x="171831" y="28638"/>
                </a:cubicBezTo>
                <a:lnTo>
                  <a:pt x="171831" y="28638"/>
                </a:lnTo>
                <a:cubicBezTo>
                  <a:pt x="171831" y="44450"/>
                  <a:pt x="159004" y="57277"/>
                  <a:pt x="143192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0B3E8F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08" name="m-s29_iso_stack-cpt-5-2">
            <a:extLst>
              <a:ext uri="{FF2B5EF4-FFF2-40B4-BE49-F238E27FC236}">
                <a16:creationId xmlns:a16="http://schemas.microsoft.com/office/drawing/2014/main" id="{EDF840AC-2D27-FC07-131F-AF3119866FF7}"/>
              </a:ext>
            </a:extLst>
          </p:cNvPr>
          <p:cNvSpPr txBox="1"/>
          <p:nvPr/>
        </p:nvSpPr>
        <p:spPr>
          <a:xfrm>
            <a:off x="1521142" y="6855709"/>
            <a:ext cx="10414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网络安全</a:t>
            </a:r>
          </a:p>
        </p:txBody>
      </p:sp>
      <p:sp>
        <p:nvSpPr>
          <p:cNvPr id="1909" name="m-s29_iso_stack-cp-5-3">
            <a:extLst>
              <a:ext uri="{FF2B5EF4-FFF2-40B4-BE49-F238E27FC236}">
                <a16:creationId xmlns:a16="http://schemas.microsoft.com/office/drawing/2014/main" id="{48FFAE77-501F-1635-7FF6-7A108F473AB1}"/>
              </a:ext>
            </a:extLst>
          </p:cNvPr>
          <p:cNvSpPr/>
          <p:nvPr/>
        </p:nvSpPr>
        <p:spPr>
          <a:xfrm>
            <a:off x="1674749" y="6844982"/>
            <a:ext cx="171831" cy="57277"/>
          </a:xfrm>
          <a:custGeom>
            <a:avLst/>
            <a:gdLst/>
            <a:ahLst/>
            <a:cxnLst/>
            <a:rect l="0" t="0" r="r" b="b"/>
            <a:pathLst>
              <a:path w="171831" h="57277">
                <a:moveTo>
                  <a:pt x="28638" y="0"/>
                </a:moveTo>
                <a:lnTo>
                  <a:pt x="143193" y="0"/>
                </a:lnTo>
                <a:cubicBezTo>
                  <a:pt x="159004" y="0"/>
                  <a:pt x="171831" y="12827"/>
                  <a:pt x="171831" y="28638"/>
                </a:cubicBezTo>
                <a:lnTo>
                  <a:pt x="171831" y="28638"/>
                </a:lnTo>
                <a:cubicBezTo>
                  <a:pt x="171831" y="44450"/>
                  <a:pt x="159004" y="57277"/>
                  <a:pt x="143193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0B3E8F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10" name="m-s29_iso_stack-cpt-5-3">
            <a:extLst>
              <a:ext uri="{FF2B5EF4-FFF2-40B4-BE49-F238E27FC236}">
                <a16:creationId xmlns:a16="http://schemas.microsoft.com/office/drawing/2014/main" id="{CC1F1D1F-0C2E-12DE-8BD4-57BC3476BB09}"/>
              </a:ext>
            </a:extLst>
          </p:cNvPr>
          <p:cNvSpPr txBox="1"/>
          <p:nvPr/>
        </p:nvSpPr>
        <p:spPr>
          <a:xfrm>
            <a:off x="1708594" y="6855709"/>
            <a:ext cx="10414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灾备中心</a:t>
            </a:r>
          </a:p>
        </p:txBody>
      </p:sp>
      <p:sp>
        <p:nvSpPr>
          <p:cNvPr id="1911" name="m-s29_iso_stack-side-l-4">
            <a:extLst>
              <a:ext uri="{FF2B5EF4-FFF2-40B4-BE49-F238E27FC236}">
                <a16:creationId xmlns:a16="http://schemas.microsoft.com/office/drawing/2014/main" id="{81768482-813E-EE8B-5F63-1AEFA600C350}"/>
              </a:ext>
            </a:extLst>
          </p:cNvPr>
          <p:cNvSpPr/>
          <p:nvPr/>
        </p:nvSpPr>
        <p:spPr>
          <a:xfrm>
            <a:off x="414655" y="6665341"/>
            <a:ext cx="390525" cy="158813"/>
          </a:xfrm>
          <a:custGeom>
            <a:avLst/>
            <a:gdLst/>
            <a:ahLst/>
            <a:cxnLst/>
            <a:rect l="0" t="0" r="r" b="b"/>
            <a:pathLst>
              <a:path w="390525" h="158813">
                <a:moveTo>
                  <a:pt x="0" y="0"/>
                </a:moveTo>
                <a:lnTo>
                  <a:pt x="390525" y="124968"/>
                </a:lnTo>
                <a:lnTo>
                  <a:pt x="390525" y="158813"/>
                </a:lnTo>
                <a:lnTo>
                  <a:pt x="0" y="33845"/>
                </a:lnTo>
                <a:close/>
              </a:path>
            </a:pathLst>
          </a:custGeom>
          <a:solidFill>
            <a:srgbClr val="0F3C7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12" name="m-s29_iso_stack-side-r-4">
            <a:extLst>
              <a:ext uri="{FF2B5EF4-FFF2-40B4-BE49-F238E27FC236}">
                <a16:creationId xmlns:a16="http://schemas.microsoft.com/office/drawing/2014/main" id="{F39F4C22-A58C-A64A-5A4A-C93F47F1B74C}"/>
              </a:ext>
            </a:extLst>
          </p:cNvPr>
          <p:cNvSpPr/>
          <p:nvPr/>
        </p:nvSpPr>
        <p:spPr>
          <a:xfrm>
            <a:off x="805180" y="6665341"/>
            <a:ext cx="390525" cy="158813"/>
          </a:xfrm>
          <a:custGeom>
            <a:avLst/>
            <a:gdLst/>
            <a:ahLst/>
            <a:cxnLst/>
            <a:rect l="0" t="0" r="r" b="b"/>
            <a:pathLst>
              <a:path w="390525" h="158813">
                <a:moveTo>
                  <a:pt x="0" y="124968"/>
                </a:moveTo>
                <a:lnTo>
                  <a:pt x="390525" y="0"/>
                </a:lnTo>
                <a:lnTo>
                  <a:pt x="390525" y="33845"/>
                </a:lnTo>
                <a:lnTo>
                  <a:pt x="0" y="158813"/>
                </a:lnTo>
                <a:close/>
              </a:path>
            </a:pathLst>
          </a:custGeom>
          <a:solidFill>
            <a:srgbClr val="11438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13" name="m-s29_iso_stack-top-4">
            <a:extLst>
              <a:ext uri="{FF2B5EF4-FFF2-40B4-BE49-F238E27FC236}">
                <a16:creationId xmlns:a16="http://schemas.microsoft.com/office/drawing/2014/main" id="{FBDEDC14-08E3-5B33-6EE0-BAF69DF33068}"/>
              </a:ext>
            </a:extLst>
          </p:cNvPr>
          <p:cNvSpPr/>
          <p:nvPr/>
        </p:nvSpPr>
        <p:spPr>
          <a:xfrm>
            <a:off x="414655" y="6540373"/>
            <a:ext cx="781050" cy="249936"/>
          </a:xfrm>
          <a:custGeom>
            <a:avLst/>
            <a:gdLst/>
            <a:ahLst/>
            <a:cxnLst/>
            <a:rect l="0" t="0" r="r" b="b"/>
            <a:pathLst>
              <a:path w="781050" h="249936">
                <a:moveTo>
                  <a:pt x="390525" y="0"/>
                </a:moveTo>
                <a:lnTo>
                  <a:pt x="781050" y="124968"/>
                </a:lnTo>
                <a:lnTo>
                  <a:pt x="390525" y="249936"/>
                </a:lnTo>
                <a:lnTo>
                  <a:pt x="0" y="124968"/>
                </a:lnTo>
                <a:close/>
              </a:path>
            </a:pathLst>
          </a:custGeom>
          <a:gradFill rotWithShape="1">
            <a:gsLst>
              <a:gs pos="0">
                <a:srgbClr val="4773B2"/>
              </a:gs>
              <a:gs pos="100000">
                <a:srgbClr val="134C9C"/>
              </a:gs>
            </a:gsLst>
            <a:lin ang="6000000" scaled="0"/>
          </a:gradFill>
          <a:ln w="2540" cap="rnd">
            <a:solidFill>
              <a:srgbClr val="FFFFF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14" name="m-s29_iso_stack-icon-layers">
            <a:extLst>
              <a:ext uri="{FF2B5EF4-FFF2-40B4-BE49-F238E27FC236}">
                <a16:creationId xmlns:a16="http://schemas.microsoft.com/office/drawing/2014/main" id="{E371B7B4-1FE0-5761-1D2A-3C2C2B0D6D6C}"/>
              </a:ext>
            </a:extLst>
          </p:cNvPr>
          <p:cNvSpPr/>
          <p:nvPr/>
        </p:nvSpPr>
        <p:spPr>
          <a:xfrm>
            <a:off x="683260" y="6703251"/>
            <a:ext cx="22543" cy="23431"/>
          </a:xfrm>
          <a:custGeom>
            <a:avLst/>
            <a:gdLst/>
            <a:ahLst/>
            <a:cxnLst/>
            <a:rect l="0" t="0" r="r" b="b"/>
            <a:pathLst>
              <a:path w="22543" h="23431">
                <a:moveTo>
                  <a:pt x="11303" y="0"/>
                </a:moveTo>
                <a:lnTo>
                  <a:pt x="22543" y="5905"/>
                </a:lnTo>
                <a:lnTo>
                  <a:pt x="11303" y="11874"/>
                </a:lnTo>
                <a:lnTo>
                  <a:pt x="0" y="5905"/>
                </a:lnTo>
                <a:close/>
                <a:moveTo>
                  <a:pt x="0" y="11874"/>
                </a:moveTo>
                <a:lnTo>
                  <a:pt x="11303" y="17780"/>
                </a:lnTo>
                <a:lnTo>
                  <a:pt x="22543" y="11874"/>
                </a:lnTo>
                <a:moveTo>
                  <a:pt x="0" y="17462"/>
                </a:moveTo>
                <a:lnTo>
                  <a:pt x="11303" y="23431"/>
                </a:lnTo>
                <a:lnTo>
                  <a:pt x="22543" y="17462"/>
                </a:lnTo>
              </a:path>
            </a:pathLst>
          </a:custGeom>
          <a:noFill/>
          <a:ln w="273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15" name="m-s29_iso_stack-tn-4">
            <a:extLst>
              <a:ext uri="{FF2B5EF4-FFF2-40B4-BE49-F238E27FC236}">
                <a16:creationId xmlns:a16="http://schemas.microsoft.com/office/drawing/2014/main" id="{753232FF-5B49-C847-1644-8BB7AF28F5D4}"/>
              </a:ext>
            </a:extLst>
          </p:cNvPr>
          <p:cNvSpPr txBox="1"/>
          <p:nvPr/>
        </p:nvSpPr>
        <p:spPr>
          <a:xfrm>
            <a:off x="744779" y="6689853"/>
            <a:ext cx="123406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31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平台层</a:t>
            </a:r>
          </a:p>
        </p:txBody>
      </p:sp>
      <p:cxnSp>
        <p:nvCxnSpPr>
          <p:cNvPr id="1916" name="m-s29_iso_stack-ll-4">
            <a:extLst>
              <a:ext uri="{FF2B5EF4-FFF2-40B4-BE49-F238E27FC236}">
                <a16:creationId xmlns:a16="http://schemas.microsoft.com/office/drawing/2014/main" id="{D0503649-61F2-789E-B962-88933FE75353}"/>
              </a:ext>
            </a:extLst>
          </p:cNvPr>
          <p:cNvCxnSpPr/>
          <p:nvPr/>
        </p:nvCxnSpPr>
        <p:spPr>
          <a:xfrm flipH="1">
            <a:off x="323532" y="6717411"/>
            <a:ext cx="78106" cy="0"/>
          </a:xfrm>
          <a:prstGeom prst="line">
            <a:avLst/>
          </a:prstGeom>
          <a:ln w="2540" cap="rnd">
            <a:solidFill>
              <a:srgbClr val="134C9C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17" name="m-s29_iso_stack-lld-4">
            <a:extLst>
              <a:ext uri="{FF2B5EF4-FFF2-40B4-BE49-F238E27FC236}">
                <a16:creationId xmlns:a16="http://schemas.microsoft.com/office/drawing/2014/main" id="{ABD0A1CC-193D-7C12-E8B3-222928937B18}"/>
              </a:ext>
            </a:extLst>
          </p:cNvPr>
          <p:cNvSpPr/>
          <p:nvPr/>
        </p:nvSpPr>
        <p:spPr>
          <a:xfrm>
            <a:off x="395129" y="6710902"/>
            <a:ext cx="13017" cy="13017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18" name="m-s29_iso_stack-no-4">
            <a:extLst>
              <a:ext uri="{FF2B5EF4-FFF2-40B4-BE49-F238E27FC236}">
                <a16:creationId xmlns:a16="http://schemas.microsoft.com/office/drawing/2014/main" id="{FB9985D9-ABD0-BA8A-4E28-28AD583DDA12}"/>
              </a:ext>
            </a:extLst>
          </p:cNvPr>
          <p:cNvSpPr txBox="1"/>
          <p:nvPr/>
        </p:nvSpPr>
        <p:spPr>
          <a:xfrm>
            <a:off x="-255486" y="6673933"/>
            <a:ext cx="105181" cy="9112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09" b="1" i="0" u="none" strike="noStrike" kern="1200" cap="none" spc="0" normalizeH="0" baseline="0" noProof="0">
                <a:ln>
                  <a:noFill/>
                </a:ln>
                <a:solidFill>
                  <a:srgbClr val="134C9C">
                    <a:alpha val="3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1919" name="m-s29_iso_stack-ln-4">
            <a:extLst>
              <a:ext uri="{FF2B5EF4-FFF2-40B4-BE49-F238E27FC236}">
                <a16:creationId xmlns:a16="http://schemas.microsoft.com/office/drawing/2014/main" id="{0BCAD7D6-ED40-71DB-5A0D-C573680F9CCD}"/>
              </a:ext>
            </a:extLst>
          </p:cNvPr>
          <p:cNvSpPr txBox="1"/>
          <p:nvPr/>
        </p:nvSpPr>
        <p:spPr>
          <a:xfrm>
            <a:off x="-146399" y="6672012"/>
            <a:ext cx="134731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平台层</a:t>
            </a:r>
          </a:p>
        </p:txBody>
      </p:sp>
      <p:sp>
        <p:nvSpPr>
          <p:cNvPr id="1920" name="m-s29_iso_stack-ld-4">
            <a:extLst>
              <a:ext uri="{FF2B5EF4-FFF2-40B4-BE49-F238E27FC236}">
                <a16:creationId xmlns:a16="http://schemas.microsoft.com/office/drawing/2014/main" id="{516E1EC7-F2D5-0ACF-D9DD-C4398F8AFF9E}"/>
              </a:ext>
            </a:extLst>
          </p:cNvPr>
          <p:cNvSpPr txBox="1"/>
          <p:nvPr/>
        </p:nvSpPr>
        <p:spPr>
          <a:xfrm>
            <a:off x="-144915" y="6726338"/>
            <a:ext cx="225138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研发与运行的公共底座</a:t>
            </a:r>
          </a:p>
        </p:txBody>
      </p:sp>
      <p:cxnSp>
        <p:nvCxnSpPr>
          <p:cNvPr id="1921" name="m-s29_iso_stack-rl-4">
            <a:extLst>
              <a:ext uri="{FF2B5EF4-FFF2-40B4-BE49-F238E27FC236}">
                <a16:creationId xmlns:a16="http://schemas.microsoft.com/office/drawing/2014/main" id="{3821B496-78C0-0309-CA28-07FE554618C6}"/>
              </a:ext>
            </a:extLst>
          </p:cNvPr>
          <p:cNvCxnSpPr/>
          <p:nvPr/>
        </p:nvCxnSpPr>
        <p:spPr>
          <a:xfrm>
            <a:off x="1208722" y="6717411"/>
            <a:ext cx="78105" cy="0"/>
          </a:xfrm>
          <a:prstGeom prst="line">
            <a:avLst/>
          </a:prstGeom>
          <a:ln w="2540" cap="rnd">
            <a:solidFill>
              <a:srgbClr val="134C9C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22" name="m-s29_iso_stack-rld-4">
            <a:extLst>
              <a:ext uri="{FF2B5EF4-FFF2-40B4-BE49-F238E27FC236}">
                <a16:creationId xmlns:a16="http://schemas.microsoft.com/office/drawing/2014/main" id="{83894E7A-557D-E9D6-CB6F-A8BC45DE1137}"/>
              </a:ext>
            </a:extLst>
          </p:cNvPr>
          <p:cNvSpPr/>
          <p:nvPr/>
        </p:nvSpPr>
        <p:spPr>
          <a:xfrm>
            <a:off x="1202214" y="6710902"/>
            <a:ext cx="13017" cy="13017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23" name="m-s29_iso_stack-cp-4-1">
            <a:extLst>
              <a:ext uri="{FF2B5EF4-FFF2-40B4-BE49-F238E27FC236}">
                <a16:creationId xmlns:a16="http://schemas.microsoft.com/office/drawing/2014/main" id="{9D23450C-EDD9-99EF-3D04-81186B8B907B}"/>
              </a:ext>
            </a:extLst>
          </p:cNvPr>
          <p:cNvSpPr/>
          <p:nvPr/>
        </p:nvSpPr>
        <p:spPr>
          <a:xfrm>
            <a:off x="1299845" y="6688772"/>
            <a:ext cx="171831" cy="57277"/>
          </a:xfrm>
          <a:custGeom>
            <a:avLst/>
            <a:gdLst/>
            <a:ahLst/>
            <a:cxnLst/>
            <a:rect l="0" t="0" r="r" b="b"/>
            <a:pathLst>
              <a:path w="171831" h="57277">
                <a:moveTo>
                  <a:pt x="28639" y="0"/>
                </a:moveTo>
                <a:lnTo>
                  <a:pt x="143193" y="0"/>
                </a:lnTo>
                <a:cubicBezTo>
                  <a:pt x="159004" y="0"/>
                  <a:pt x="171831" y="12827"/>
                  <a:pt x="171831" y="28638"/>
                </a:cubicBezTo>
                <a:lnTo>
                  <a:pt x="171831" y="28638"/>
                </a:lnTo>
                <a:cubicBezTo>
                  <a:pt x="171831" y="44450"/>
                  <a:pt x="159004" y="57277"/>
                  <a:pt x="143193" y="57277"/>
                </a:cubicBezTo>
                <a:lnTo>
                  <a:pt x="28639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9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134C9C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24" name="m-s29_iso_stack-cpt-4-1">
            <a:extLst>
              <a:ext uri="{FF2B5EF4-FFF2-40B4-BE49-F238E27FC236}">
                <a16:creationId xmlns:a16="http://schemas.microsoft.com/office/drawing/2014/main" id="{28FF8C5A-4EEB-3439-0617-4DD5946D7DB1}"/>
              </a:ext>
            </a:extLst>
          </p:cNvPr>
          <p:cNvSpPr txBox="1"/>
          <p:nvPr/>
        </p:nvSpPr>
        <p:spPr>
          <a:xfrm>
            <a:off x="1333690" y="6699499"/>
            <a:ext cx="10414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容器平台</a:t>
            </a:r>
          </a:p>
        </p:txBody>
      </p:sp>
      <p:sp>
        <p:nvSpPr>
          <p:cNvPr id="1925" name="m-s29_iso_stack-cp-4-2">
            <a:extLst>
              <a:ext uri="{FF2B5EF4-FFF2-40B4-BE49-F238E27FC236}">
                <a16:creationId xmlns:a16="http://schemas.microsoft.com/office/drawing/2014/main" id="{F05BB1E5-824E-8EDD-3D62-E467C9AC1612}"/>
              </a:ext>
            </a:extLst>
          </p:cNvPr>
          <p:cNvSpPr/>
          <p:nvPr/>
        </p:nvSpPr>
        <p:spPr>
          <a:xfrm>
            <a:off x="1487297" y="6688772"/>
            <a:ext cx="171831" cy="57277"/>
          </a:xfrm>
          <a:custGeom>
            <a:avLst/>
            <a:gdLst/>
            <a:ahLst/>
            <a:cxnLst/>
            <a:rect l="0" t="0" r="r" b="b"/>
            <a:pathLst>
              <a:path w="171831" h="57277">
                <a:moveTo>
                  <a:pt x="28638" y="0"/>
                </a:moveTo>
                <a:lnTo>
                  <a:pt x="143192" y="0"/>
                </a:lnTo>
                <a:cubicBezTo>
                  <a:pt x="159004" y="0"/>
                  <a:pt x="171831" y="12827"/>
                  <a:pt x="171831" y="28638"/>
                </a:cubicBezTo>
                <a:lnTo>
                  <a:pt x="171831" y="28638"/>
                </a:lnTo>
                <a:cubicBezTo>
                  <a:pt x="171831" y="44450"/>
                  <a:pt x="159004" y="57277"/>
                  <a:pt x="143192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134C9C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26" name="m-s29_iso_stack-cpt-4-2">
            <a:extLst>
              <a:ext uri="{FF2B5EF4-FFF2-40B4-BE49-F238E27FC236}">
                <a16:creationId xmlns:a16="http://schemas.microsoft.com/office/drawing/2014/main" id="{9C6173AF-931E-7F95-25CD-38B3FF5A4D43}"/>
              </a:ext>
            </a:extLst>
          </p:cNvPr>
          <p:cNvSpPr txBox="1"/>
          <p:nvPr/>
        </p:nvSpPr>
        <p:spPr>
          <a:xfrm>
            <a:off x="1518122" y="6699499"/>
            <a:ext cx="11018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API 网关</a:t>
            </a:r>
          </a:p>
        </p:txBody>
      </p:sp>
      <p:sp>
        <p:nvSpPr>
          <p:cNvPr id="1927" name="m-s29_iso_stack-cp-4-3">
            <a:extLst>
              <a:ext uri="{FF2B5EF4-FFF2-40B4-BE49-F238E27FC236}">
                <a16:creationId xmlns:a16="http://schemas.microsoft.com/office/drawing/2014/main" id="{315EF2B8-2456-75DD-BAA8-85C3AEC37922}"/>
              </a:ext>
            </a:extLst>
          </p:cNvPr>
          <p:cNvSpPr/>
          <p:nvPr/>
        </p:nvSpPr>
        <p:spPr>
          <a:xfrm>
            <a:off x="1674749" y="6688772"/>
            <a:ext cx="171831" cy="57277"/>
          </a:xfrm>
          <a:custGeom>
            <a:avLst/>
            <a:gdLst/>
            <a:ahLst/>
            <a:cxnLst/>
            <a:rect l="0" t="0" r="r" b="b"/>
            <a:pathLst>
              <a:path w="171831" h="57277">
                <a:moveTo>
                  <a:pt x="28638" y="0"/>
                </a:moveTo>
                <a:lnTo>
                  <a:pt x="143193" y="0"/>
                </a:lnTo>
                <a:cubicBezTo>
                  <a:pt x="159004" y="0"/>
                  <a:pt x="171831" y="12827"/>
                  <a:pt x="171831" y="28638"/>
                </a:cubicBezTo>
                <a:lnTo>
                  <a:pt x="171831" y="28638"/>
                </a:lnTo>
                <a:cubicBezTo>
                  <a:pt x="171831" y="44450"/>
                  <a:pt x="159004" y="57277"/>
                  <a:pt x="143193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134C9C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28" name="m-s29_iso_stack-cpt-4-3">
            <a:extLst>
              <a:ext uri="{FF2B5EF4-FFF2-40B4-BE49-F238E27FC236}">
                <a16:creationId xmlns:a16="http://schemas.microsoft.com/office/drawing/2014/main" id="{F02987BE-9796-5278-5DE7-C8EB482D892C}"/>
              </a:ext>
            </a:extLst>
          </p:cNvPr>
          <p:cNvSpPr txBox="1"/>
          <p:nvPr/>
        </p:nvSpPr>
        <p:spPr>
          <a:xfrm>
            <a:off x="1714739" y="6699499"/>
            <a:ext cx="91851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DevOps</a:t>
            </a:r>
          </a:p>
        </p:txBody>
      </p:sp>
      <p:sp>
        <p:nvSpPr>
          <p:cNvPr id="1929" name="m-s29_iso_stack-side-l-3">
            <a:extLst>
              <a:ext uri="{FF2B5EF4-FFF2-40B4-BE49-F238E27FC236}">
                <a16:creationId xmlns:a16="http://schemas.microsoft.com/office/drawing/2014/main" id="{F3844880-67CF-1027-9C67-8A968E533A2C}"/>
              </a:ext>
            </a:extLst>
          </p:cNvPr>
          <p:cNvSpPr/>
          <p:nvPr/>
        </p:nvSpPr>
        <p:spPr>
          <a:xfrm>
            <a:off x="414655" y="6509131"/>
            <a:ext cx="390525" cy="158813"/>
          </a:xfrm>
          <a:custGeom>
            <a:avLst/>
            <a:gdLst/>
            <a:ahLst/>
            <a:cxnLst/>
            <a:rect l="0" t="0" r="r" b="b"/>
            <a:pathLst>
              <a:path w="390525" h="158813">
                <a:moveTo>
                  <a:pt x="0" y="0"/>
                </a:moveTo>
                <a:lnTo>
                  <a:pt x="390525" y="124968"/>
                </a:lnTo>
                <a:lnTo>
                  <a:pt x="390525" y="158813"/>
                </a:lnTo>
                <a:lnTo>
                  <a:pt x="0" y="33846"/>
                </a:lnTo>
                <a:close/>
              </a:path>
            </a:pathLst>
          </a:custGeom>
          <a:solidFill>
            <a:srgbClr val="194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30" name="m-s29_iso_stack-side-r-3">
            <a:extLst>
              <a:ext uri="{FF2B5EF4-FFF2-40B4-BE49-F238E27FC236}">
                <a16:creationId xmlns:a16="http://schemas.microsoft.com/office/drawing/2014/main" id="{D9D468AB-00AE-DED4-DD3A-6C694E857848}"/>
              </a:ext>
            </a:extLst>
          </p:cNvPr>
          <p:cNvSpPr/>
          <p:nvPr/>
        </p:nvSpPr>
        <p:spPr>
          <a:xfrm>
            <a:off x="805180" y="6509131"/>
            <a:ext cx="390525" cy="158813"/>
          </a:xfrm>
          <a:custGeom>
            <a:avLst/>
            <a:gdLst/>
            <a:ahLst/>
            <a:cxnLst/>
            <a:rect l="0" t="0" r="r" b="b"/>
            <a:pathLst>
              <a:path w="390525" h="158813">
                <a:moveTo>
                  <a:pt x="0" y="124968"/>
                </a:moveTo>
                <a:lnTo>
                  <a:pt x="390525" y="0"/>
                </a:lnTo>
                <a:lnTo>
                  <a:pt x="390525" y="33846"/>
                </a:lnTo>
                <a:lnTo>
                  <a:pt x="0" y="158813"/>
                </a:lnTo>
                <a:close/>
              </a:path>
            </a:pathLst>
          </a:custGeom>
          <a:solidFill>
            <a:srgbClr val="1E599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31" name="m-s29_iso_stack-top-3">
            <a:extLst>
              <a:ext uri="{FF2B5EF4-FFF2-40B4-BE49-F238E27FC236}">
                <a16:creationId xmlns:a16="http://schemas.microsoft.com/office/drawing/2014/main" id="{6857A996-3DBB-86AB-9B6E-41B9F3136938}"/>
              </a:ext>
            </a:extLst>
          </p:cNvPr>
          <p:cNvSpPr/>
          <p:nvPr/>
        </p:nvSpPr>
        <p:spPr>
          <a:xfrm>
            <a:off x="414655" y="6384163"/>
            <a:ext cx="781050" cy="249936"/>
          </a:xfrm>
          <a:custGeom>
            <a:avLst/>
            <a:gdLst/>
            <a:ahLst/>
            <a:cxnLst/>
            <a:rect l="0" t="0" r="r" b="b"/>
            <a:pathLst>
              <a:path w="781050" h="249936">
                <a:moveTo>
                  <a:pt x="390525" y="0"/>
                </a:moveTo>
                <a:lnTo>
                  <a:pt x="781050" y="124968"/>
                </a:lnTo>
                <a:lnTo>
                  <a:pt x="390525" y="249936"/>
                </a:lnTo>
                <a:lnTo>
                  <a:pt x="0" y="124968"/>
                </a:lnTo>
                <a:close/>
              </a:path>
            </a:pathLst>
          </a:custGeom>
          <a:gradFill rotWithShape="1">
            <a:gsLst>
              <a:gs pos="0">
                <a:srgbClr val="5489C6"/>
              </a:gs>
              <a:gs pos="100000">
                <a:srgbClr val="2468B6"/>
              </a:gs>
            </a:gsLst>
            <a:lin ang="6000000" scaled="0"/>
          </a:gradFill>
          <a:ln w="2540" cap="rnd">
            <a:solidFill>
              <a:srgbClr val="FFFFF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32" name="m-s29_iso_stack-icon-db">
            <a:extLst>
              <a:ext uri="{FF2B5EF4-FFF2-40B4-BE49-F238E27FC236}">
                <a16:creationId xmlns:a16="http://schemas.microsoft.com/office/drawing/2014/main" id="{2FB8A9B2-DAE5-6FC9-4FEF-E0C9FC2BFE85}"/>
              </a:ext>
            </a:extLst>
          </p:cNvPr>
          <p:cNvSpPr/>
          <p:nvPr/>
        </p:nvSpPr>
        <p:spPr>
          <a:xfrm>
            <a:off x="684086" y="6545897"/>
            <a:ext cx="20891" cy="25400"/>
          </a:xfrm>
          <a:custGeom>
            <a:avLst/>
            <a:gdLst/>
            <a:ahLst/>
            <a:cxnLst/>
            <a:rect l="0" t="0" r="r" b="b"/>
            <a:pathLst>
              <a:path w="20891" h="25400">
                <a:moveTo>
                  <a:pt x="10477" y="6223"/>
                </a:moveTo>
                <a:cubicBezTo>
                  <a:pt x="16256" y="6223"/>
                  <a:pt x="20891" y="4826"/>
                  <a:pt x="20891" y="3112"/>
                </a:cubicBezTo>
                <a:cubicBezTo>
                  <a:pt x="20891" y="1397"/>
                  <a:pt x="16256" y="0"/>
                  <a:pt x="10477" y="0"/>
                </a:cubicBezTo>
                <a:cubicBezTo>
                  <a:pt x="4635" y="0"/>
                  <a:pt x="0" y="1397"/>
                  <a:pt x="0" y="3112"/>
                </a:cubicBezTo>
                <a:cubicBezTo>
                  <a:pt x="0" y="4826"/>
                  <a:pt x="4635" y="6223"/>
                  <a:pt x="10477" y="6223"/>
                </a:cubicBezTo>
                <a:close/>
                <a:moveTo>
                  <a:pt x="0" y="3112"/>
                </a:moveTo>
                <a:lnTo>
                  <a:pt x="0" y="22288"/>
                </a:lnTo>
                <a:cubicBezTo>
                  <a:pt x="0" y="24003"/>
                  <a:pt x="4635" y="25400"/>
                  <a:pt x="10477" y="25400"/>
                </a:cubicBezTo>
                <a:cubicBezTo>
                  <a:pt x="16256" y="25400"/>
                  <a:pt x="20891" y="24003"/>
                  <a:pt x="20891" y="22288"/>
                </a:cubicBezTo>
                <a:lnTo>
                  <a:pt x="20891" y="3112"/>
                </a:lnTo>
                <a:moveTo>
                  <a:pt x="0" y="12700"/>
                </a:moveTo>
                <a:cubicBezTo>
                  <a:pt x="0" y="14414"/>
                  <a:pt x="4635" y="15812"/>
                  <a:pt x="10477" y="15812"/>
                </a:cubicBezTo>
                <a:cubicBezTo>
                  <a:pt x="16256" y="15812"/>
                  <a:pt x="20891" y="14414"/>
                  <a:pt x="20891" y="12700"/>
                </a:cubicBezTo>
              </a:path>
            </a:pathLst>
          </a:custGeom>
          <a:noFill/>
          <a:ln w="273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33" name="m-s29_iso_stack-tn-3">
            <a:extLst>
              <a:ext uri="{FF2B5EF4-FFF2-40B4-BE49-F238E27FC236}">
                <a16:creationId xmlns:a16="http://schemas.microsoft.com/office/drawing/2014/main" id="{2F82E9BE-2F52-806E-85C8-D2C2C9FF5D5E}"/>
              </a:ext>
            </a:extLst>
          </p:cNvPr>
          <p:cNvSpPr txBox="1"/>
          <p:nvPr/>
        </p:nvSpPr>
        <p:spPr>
          <a:xfrm>
            <a:off x="744779" y="6533643"/>
            <a:ext cx="123406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31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数据层</a:t>
            </a:r>
          </a:p>
        </p:txBody>
      </p:sp>
      <p:cxnSp>
        <p:nvCxnSpPr>
          <p:cNvPr id="1934" name="m-s29_iso_stack-ll-3">
            <a:extLst>
              <a:ext uri="{FF2B5EF4-FFF2-40B4-BE49-F238E27FC236}">
                <a16:creationId xmlns:a16="http://schemas.microsoft.com/office/drawing/2014/main" id="{483275B7-EAF2-7FFD-4E46-2F3273A93402}"/>
              </a:ext>
            </a:extLst>
          </p:cNvPr>
          <p:cNvCxnSpPr/>
          <p:nvPr/>
        </p:nvCxnSpPr>
        <p:spPr>
          <a:xfrm flipH="1">
            <a:off x="323532" y="6561201"/>
            <a:ext cx="78106" cy="0"/>
          </a:xfrm>
          <a:prstGeom prst="line">
            <a:avLst/>
          </a:prstGeom>
          <a:ln w="2540" cap="rnd">
            <a:solidFill>
              <a:srgbClr val="2468B6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35" name="m-s29_iso_stack-lld-3">
            <a:extLst>
              <a:ext uri="{FF2B5EF4-FFF2-40B4-BE49-F238E27FC236}">
                <a16:creationId xmlns:a16="http://schemas.microsoft.com/office/drawing/2014/main" id="{A4FD346E-FB93-A5C0-E9AE-7BB568339F92}"/>
              </a:ext>
            </a:extLst>
          </p:cNvPr>
          <p:cNvSpPr/>
          <p:nvPr/>
        </p:nvSpPr>
        <p:spPr>
          <a:xfrm>
            <a:off x="395129" y="6554692"/>
            <a:ext cx="13017" cy="13017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36" name="m-s29_iso_stack-no-3">
            <a:extLst>
              <a:ext uri="{FF2B5EF4-FFF2-40B4-BE49-F238E27FC236}">
                <a16:creationId xmlns:a16="http://schemas.microsoft.com/office/drawing/2014/main" id="{2B67464B-2E4E-1873-2A4D-46E9B748242C}"/>
              </a:ext>
            </a:extLst>
          </p:cNvPr>
          <p:cNvSpPr txBox="1"/>
          <p:nvPr/>
        </p:nvSpPr>
        <p:spPr>
          <a:xfrm>
            <a:off x="-255486" y="6517723"/>
            <a:ext cx="105181" cy="9112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09" b="1" i="0" u="none" strike="noStrike" kern="1200" cap="none" spc="0" normalizeH="0" baseline="0" noProof="0">
                <a:ln>
                  <a:noFill/>
                </a:ln>
                <a:solidFill>
                  <a:srgbClr val="2468B6">
                    <a:alpha val="3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1937" name="m-s29_iso_stack-ln-3">
            <a:extLst>
              <a:ext uri="{FF2B5EF4-FFF2-40B4-BE49-F238E27FC236}">
                <a16:creationId xmlns:a16="http://schemas.microsoft.com/office/drawing/2014/main" id="{1DA0DACC-D74F-E55A-8066-2B90723D8052}"/>
              </a:ext>
            </a:extLst>
          </p:cNvPr>
          <p:cNvSpPr txBox="1"/>
          <p:nvPr/>
        </p:nvSpPr>
        <p:spPr>
          <a:xfrm>
            <a:off x="-146399" y="6515802"/>
            <a:ext cx="134731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数据层</a:t>
            </a:r>
          </a:p>
        </p:txBody>
      </p:sp>
      <p:sp>
        <p:nvSpPr>
          <p:cNvPr id="1938" name="m-s29_iso_stack-ld-3">
            <a:extLst>
              <a:ext uri="{FF2B5EF4-FFF2-40B4-BE49-F238E27FC236}">
                <a16:creationId xmlns:a16="http://schemas.microsoft.com/office/drawing/2014/main" id="{F77C5A5E-C289-5DA8-47C7-2FB3F1888EFF}"/>
              </a:ext>
            </a:extLst>
          </p:cNvPr>
          <p:cNvSpPr txBox="1"/>
          <p:nvPr/>
        </p:nvSpPr>
        <p:spPr>
          <a:xfrm>
            <a:off x="-144915" y="6570128"/>
            <a:ext cx="204440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统一口径的数据资产</a:t>
            </a:r>
          </a:p>
        </p:txBody>
      </p:sp>
      <p:cxnSp>
        <p:nvCxnSpPr>
          <p:cNvPr id="1939" name="m-s29_iso_stack-rl-3">
            <a:extLst>
              <a:ext uri="{FF2B5EF4-FFF2-40B4-BE49-F238E27FC236}">
                <a16:creationId xmlns:a16="http://schemas.microsoft.com/office/drawing/2014/main" id="{74424642-86C3-8383-9AB2-00722BDCCE47}"/>
              </a:ext>
            </a:extLst>
          </p:cNvPr>
          <p:cNvCxnSpPr/>
          <p:nvPr/>
        </p:nvCxnSpPr>
        <p:spPr>
          <a:xfrm>
            <a:off x="1208722" y="6561201"/>
            <a:ext cx="78105" cy="0"/>
          </a:xfrm>
          <a:prstGeom prst="line">
            <a:avLst/>
          </a:prstGeom>
          <a:ln w="2540" cap="rnd">
            <a:solidFill>
              <a:srgbClr val="2468B6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40" name="m-s29_iso_stack-rld-3">
            <a:extLst>
              <a:ext uri="{FF2B5EF4-FFF2-40B4-BE49-F238E27FC236}">
                <a16:creationId xmlns:a16="http://schemas.microsoft.com/office/drawing/2014/main" id="{83DF41CD-A73B-C9B0-DC66-9A6D33FD73A4}"/>
              </a:ext>
            </a:extLst>
          </p:cNvPr>
          <p:cNvSpPr/>
          <p:nvPr/>
        </p:nvSpPr>
        <p:spPr>
          <a:xfrm>
            <a:off x="1202214" y="6554692"/>
            <a:ext cx="13017" cy="13017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41" name="m-s29_iso_stack-cp-3-1">
            <a:extLst>
              <a:ext uri="{FF2B5EF4-FFF2-40B4-BE49-F238E27FC236}">
                <a16:creationId xmlns:a16="http://schemas.microsoft.com/office/drawing/2014/main" id="{BCCD62A6-8824-C60B-ACC1-1BA9003F00DD}"/>
              </a:ext>
            </a:extLst>
          </p:cNvPr>
          <p:cNvSpPr/>
          <p:nvPr/>
        </p:nvSpPr>
        <p:spPr>
          <a:xfrm>
            <a:off x="1299845" y="6532562"/>
            <a:ext cx="171831" cy="57277"/>
          </a:xfrm>
          <a:custGeom>
            <a:avLst/>
            <a:gdLst/>
            <a:ahLst/>
            <a:cxnLst/>
            <a:rect l="0" t="0" r="r" b="b"/>
            <a:pathLst>
              <a:path w="171831" h="57277">
                <a:moveTo>
                  <a:pt x="28639" y="0"/>
                </a:moveTo>
                <a:lnTo>
                  <a:pt x="143193" y="0"/>
                </a:lnTo>
                <a:cubicBezTo>
                  <a:pt x="159004" y="0"/>
                  <a:pt x="171831" y="12827"/>
                  <a:pt x="171831" y="28638"/>
                </a:cubicBezTo>
                <a:lnTo>
                  <a:pt x="171831" y="28638"/>
                </a:lnTo>
                <a:cubicBezTo>
                  <a:pt x="171831" y="44450"/>
                  <a:pt x="159004" y="57277"/>
                  <a:pt x="143193" y="57277"/>
                </a:cubicBezTo>
                <a:lnTo>
                  <a:pt x="28639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9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2468B6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42" name="m-s29_iso_stack-cpt-3-1">
            <a:extLst>
              <a:ext uri="{FF2B5EF4-FFF2-40B4-BE49-F238E27FC236}">
                <a16:creationId xmlns:a16="http://schemas.microsoft.com/office/drawing/2014/main" id="{29D98CCA-5AF9-C46B-7886-A3CD7C8F15B8}"/>
              </a:ext>
            </a:extLst>
          </p:cNvPr>
          <p:cNvSpPr txBox="1"/>
          <p:nvPr/>
        </p:nvSpPr>
        <p:spPr>
          <a:xfrm>
            <a:off x="1333690" y="6543289"/>
            <a:ext cx="10414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数据仓库</a:t>
            </a:r>
          </a:p>
        </p:txBody>
      </p:sp>
      <p:sp>
        <p:nvSpPr>
          <p:cNvPr id="1943" name="m-s29_iso_stack-cp-3-2">
            <a:extLst>
              <a:ext uri="{FF2B5EF4-FFF2-40B4-BE49-F238E27FC236}">
                <a16:creationId xmlns:a16="http://schemas.microsoft.com/office/drawing/2014/main" id="{E2C213AB-CBE0-4A46-7943-7D723BB8A60A}"/>
              </a:ext>
            </a:extLst>
          </p:cNvPr>
          <p:cNvSpPr/>
          <p:nvPr/>
        </p:nvSpPr>
        <p:spPr>
          <a:xfrm>
            <a:off x="1487297" y="6532562"/>
            <a:ext cx="171831" cy="57277"/>
          </a:xfrm>
          <a:custGeom>
            <a:avLst/>
            <a:gdLst/>
            <a:ahLst/>
            <a:cxnLst/>
            <a:rect l="0" t="0" r="r" b="b"/>
            <a:pathLst>
              <a:path w="171831" h="57277">
                <a:moveTo>
                  <a:pt x="28638" y="0"/>
                </a:moveTo>
                <a:lnTo>
                  <a:pt x="143192" y="0"/>
                </a:lnTo>
                <a:cubicBezTo>
                  <a:pt x="159004" y="0"/>
                  <a:pt x="171831" y="12827"/>
                  <a:pt x="171831" y="28638"/>
                </a:cubicBezTo>
                <a:lnTo>
                  <a:pt x="171831" y="28638"/>
                </a:lnTo>
                <a:cubicBezTo>
                  <a:pt x="171831" y="44450"/>
                  <a:pt x="159004" y="57277"/>
                  <a:pt x="143192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2468B6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44" name="m-s29_iso_stack-cpt-3-2">
            <a:extLst>
              <a:ext uri="{FF2B5EF4-FFF2-40B4-BE49-F238E27FC236}">
                <a16:creationId xmlns:a16="http://schemas.microsoft.com/office/drawing/2014/main" id="{BC23706A-0717-677A-1A15-F903D07AD0F2}"/>
              </a:ext>
            </a:extLst>
          </p:cNvPr>
          <p:cNvSpPr txBox="1"/>
          <p:nvPr/>
        </p:nvSpPr>
        <p:spPr>
          <a:xfrm>
            <a:off x="1521142" y="6543289"/>
            <a:ext cx="10414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指标平台</a:t>
            </a:r>
          </a:p>
        </p:txBody>
      </p:sp>
      <p:sp>
        <p:nvSpPr>
          <p:cNvPr id="1945" name="m-s29_iso_stack-cp-3-3">
            <a:extLst>
              <a:ext uri="{FF2B5EF4-FFF2-40B4-BE49-F238E27FC236}">
                <a16:creationId xmlns:a16="http://schemas.microsoft.com/office/drawing/2014/main" id="{EB1B83BF-0A68-2CB2-D765-C3CB68AF928C}"/>
              </a:ext>
            </a:extLst>
          </p:cNvPr>
          <p:cNvSpPr/>
          <p:nvPr/>
        </p:nvSpPr>
        <p:spPr>
          <a:xfrm>
            <a:off x="1674749" y="6532562"/>
            <a:ext cx="171831" cy="57277"/>
          </a:xfrm>
          <a:custGeom>
            <a:avLst/>
            <a:gdLst/>
            <a:ahLst/>
            <a:cxnLst/>
            <a:rect l="0" t="0" r="r" b="b"/>
            <a:pathLst>
              <a:path w="171831" h="57277">
                <a:moveTo>
                  <a:pt x="28638" y="0"/>
                </a:moveTo>
                <a:lnTo>
                  <a:pt x="143193" y="0"/>
                </a:lnTo>
                <a:cubicBezTo>
                  <a:pt x="159004" y="0"/>
                  <a:pt x="171831" y="12827"/>
                  <a:pt x="171831" y="28638"/>
                </a:cubicBezTo>
                <a:lnTo>
                  <a:pt x="171831" y="28638"/>
                </a:lnTo>
                <a:cubicBezTo>
                  <a:pt x="171831" y="44450"/>
                  <a:pt x="159004" y="57277"/>
                  <a:pt x="143193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2468B6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46" name="m-s29_iso_stack-cpt-3-3">
            <a:extLst>
              <a:ext uri="{FF2B5EF4-FFF2-40B4-BE49-F238E27FC236}">
                <a16:creationId xmlns:a16="http://schemas.microsoft.com/office/drawing/2014/main" id="{1B15C42A-490B-63A1-9B43-FFDF7C41D14B}"/>
              </a:ext>
            </a:extLst>
          </p:cNvPr>
          <p:cNvSpPr txBox="1"/>
          <p:nvPr/>
        </p:nvSpPr>
        <p:spPr>
          <a:xfrm>
            <a:off x="1708594" y="6543289"/>
            <a:ext cx="10414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标签体系</a:t>
            </a:r>
          </a:p>
        </p:txBody>
      </p:sp>
      <p:sp>
        <p:nvSpPr>
          <p:cNvPr id="1947" name="m-s29_iso_stack-side-l-2">
            <a:extLst>
              <a:ext uri="{FF2B5EF4-FFF2-40B4-BE49-F238E27FC236}">
                <a16:creationId xmlns:a16="http://schemas.microsoft.com/office/drawing/2014/main" id="{CC607B0E-F373-2C62-FB7E-FB809CD0895A}"/>
              </a:ext>
            </a:extLst>
          </p:cNvPr>
          <p:cNvSpPr/>
          <p:nvPr/>
        </p:nvSpPr>
        <p:spPr>
          <a:xfrm>
            <a:off x="414655" y="6352921"/>
            <a:ext cx="390525" cy="158813"/>
          </a:xfrm>
          <a:custGeom>
            <a:avLst/>
            <a:gdLst/>
            <a:ahLst/>
            <a:cxnLst/>
            <a:rect l="0" t="0" r="r" b="b"/>
            <a:pathLst>
              <a:path w="390525" h="158813">
                <a:moveTo>
                  <a:pt x="0" y="0"/>
                </a:moveTo>
                <a:lnTo>
                  <a:pt x="390525" y="124968"/>
                </a:lnTo>
                <a:lnTo>
                  <a:pt x="390525" y="158813"/>
                </a:lnTo>
                <a:lnTo>
                  <a:pt x="0" y="33845"/>
                </a:lnTo>
                <a:close/>
              </a:path>
            </a:pathLst>
          </a:custGeom>
          <a:solidFill>
            <a:srgbClr val="26609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48" name="m-s29_iso_stack-side-r-2">
            <a:extLst>
              <a:ext uri="{FF2B5EF4-FFF2-40B4-BE49-F238E27FC236}">
                <a16:creationId xmlns:a16="http://schemas.microsoft.com/office/drawing/2014/main" id="{777DCA50-5AB3-B5D4-D89D-310468B08ED6}"/>
              </a:ext>
            </a:extLst>
          </p:cNvPr>
          <p:cNvSpPr/>
          <p:nvPr/>
        </p:nvSpPr>
        <p:spPr>
          <a:xfrm>
            <a:off x="805180" y="6352921"/>
            <a:ext cx="390525" cy="158813"/>
          </a:xfrm>
          <a:custGeom>
            <a:avLst/>
            <a:gdLst/>
            <a:ahLst/>
            <a:cxnLst/>
            <a:rect l="0" t="0" r="r" b="b"/>
            <a:pathLst>
              <a:path w="390525" h="158813">
                <a:moveTo>
                  <a:pt x="0" y="124968"/>
                </a:moveTo>
                <a:lnTo>
                  <a:pt x="390525" y="0"/>
                </a:lnTo>
                <a:lnTo>
                  <a:pt x="390525" y="33845"/>
                </a:lnTo>
                <a:lnTo>
                  <a:pt x="0" y="158813"/>
                </a:lnTo>
                <a:close/>
              </a:path>
            </a:pathLst>
          </a:custGeom>
          <a:solidFill>
            <a:srgbClr val="2E6FB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49" name="m-s29_iso_stack-top-2">
            <a:extLst>
              <a:ext uri="{FF2B5EF4-FFF2-40B4-BE49-F238E27FC236}">
                <a16:creationId xmlns:a16="http://schemas.microsoft.com/office/drawing/2014/main" id="{D7D51FFA-8FF4-AE0C-9921-5A1BB81A312B}"/>
              </a:ext>
            </a:extLst>
          </p:cNvPr>
          <p:cNvSpPr/>
          <p:nvPr/>
        </p:nvSpPr>
        <p:spPr>
          <a:xfrm>
            <a:off x="414655" y="6227953"/>
            <a:ext cx="781050" cy="249936"/>
          </a:xfrm>
          <a:custGeom>
            <a:avLst/>
            <a:gdLst/>
            <a:ahLst/>
            <a:cxnLst/>
            <a:rect l="0" t="0" r="r" b="b"/>
            <a:pathLst>
              <a:path w="781050" h="249936">
                <a:moveTo>
                  <a:pt x="390525" y="0"/>
                </a:moveTo>
                <a:lnTo>
                  <a:pt x="781050" y="124968"/>
                </a:lnTo>
                <a:lnTo>
                  <a:pt x="390525" y="249936"/>
                </a:lnTo>
                <a:lnTo>
                  <a:pt x="0" y="124968"/>
                </a:lnTo>
                <a:close/>
              </a:path>
            </a:pathLst>
          </a:custGeom>
          <a:gradFill rotWithShape="1">
            <a:gsLst>
              <a:gs pos="0">
                <a:srgbClr val="65A0D8"/>
              </a:gs>
              <a:gs pos="100000">
                <a:srgbClr val="3985CD"/>
              </a:gs>
            </a:gsLst>
            <a:lin ang="6000000" scaled="0"/>
          </a:gradFill>
          <a:ln w="2540" cap="rnd">
            <a:solidFill>
              <a:srgbClr val="FFFFF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50" name="m-s29_iso_stack-icon-gear">
            <a:extLst>
              <a:ext uri="{FF2B5EF4-FFF2-40B4-BE49-F238E27FC236}">
                <a16:creationId xmlns:a16="http://schemas.microsoft.com/office/drawing/2014/main" id="{926CDF4E-8EB7-D1B2-FA5A-33AE2DC93EB2}"/>
              </a:ext>
            </a:extLst>
          </p:cNvPr>
          <p:cNvSpPr/>
          <p:nvPr/>
        </p:nvSpPr>
        <p:spPr>
          <a:xfrm>
            <a:off x="683958" y="6389434"/>
            <a:ext cx="21146" cy="25908"/>
          </a:xfrm>
          <a:custGeom>
            <a:avLst/>
            <a:gdLst/>
            <a:ahLst/>
            <a:cxnLst/>
            <a:rect l="0" t="0" r="r" b="b"/>
            <a:pathLst>
              <a:path w="21146" h="25908">
                <a:moveTo>
                  <a:pt x="10605" y="8191"/>
                </a:moveTo>
                <a:cubicBezTo>
                  <a:pt x="8827" y="8191"/>
                  <a:pt x="7303" y="9080"/>
                  <a:pt x="6414" y="10541"/>
                </a:cubicBezTo>
                <a:cubicBezTo>
                  <a:pt x="5588" y="12065"/>
                  <a:pt x="5588" y="13843"/>
                  <a:pt x="6414" y="15367"/>
                </a:cubicBezTo>
                <a:cubicBezTo>
                  <a:pt x="7303" y="16827"/>
                  <a:pt x="8827" y="17716"/>
                  <a:pt x="10605" y="17716"/>
                </a:cubicBezTo>
                <a:cubicBezTo>
                  <a:pt x="13208" y="17716"/>
                  <a:pt x="15367" y="15621"/>
                  <a:pt x="15367" y="12954"/>
                </a:cubicBezTo>
                <a:cubicBezTo>
                  <a:pt x="15367" y="10287"/>
                  <a:pt x="13208" y="8191"/>
                  <a:pt x="10605" y="8191"/>
                </a:cubicBezTo>
                <a:close/>
                <a:moveTo>
                  <a:pt x="10605" y="0"/>
                </a:moveTo>
                <a:lnTo>
                  <a:pt x="12129" y="3619"/>
                </a:lnTo>
                <a:lnTo>
                  <a:pt x="16066" y="2794"/>
                </a:lnTo>
                <a:lnTo>
                  <a:pt x="17462" y="6604"/>
                </a:lnTo>
                <a:lnTo>
                  <a:pt x="21146" y="8191"/>
                </a:lnTo>
                <a:lnTo>
                  <a:pt x="19495" y="11811"/>
                </a:lnTo>
                <a:lnTo>
                  <a:pt x="21146" y="15494"/>
                </a:lnTo>
                <a:lnTo>
                  <a:pt x="17462" y="17018"/>
                </a:lnTo>
                <a:lnTo>
                  <a:pt x="16066" y="20828"/>
                </a:lnTo>
                <a:lnTo>
                  <a:pt x="12129" y="20002"/>
                </a:lnTo>
                <a:lnTo>
                  <a:pt x="10605" y="25908"/>
                </a:lnTo>
                <a:lnTo>
                  <a:pt x="9017" y="22288"/>
                </a:lnTo>
                <a:lnTo>
                  <a:pt x="5080" y="23114"/>
                </a:lnTo>
                <a:lnTo>
                  <a:pt x="3683" y="19304"/>
                </a:lnTo>
                <a:lnTo>
                  <a:pt x="0" y="17716"/>
                </a:lnTo>
                <a:lnTo>
                  <a:pt x="1651" y="12954"/>
                </a:lnTo>
                <a:lnTo>
                  <a:pt x="0" y="9271"/>
                </a:lnTo>
                <a:lnTo>
                  <a:pt x="3683" y="7747"/>
                </a:lnTo>
                <a:lnTo>
                  <a:pt x="5080" y="3937"/>
                </a:lnTo>
                <a:lnTo>
                  <a:pt x="9017" y="4762"/>
                </a:lnTo>
                <a:close/>
              </a:path>
            </a:pathLst>
          </a:custGeom>
          <a:noFill/>
          <a:ln w="273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51" name="m-s29_iso_stack-tn-2">
            <a:extLst>
              <a:ext uri="{FF2B5EF4-FFF2-40B4-BE49-F238E27FC236}">
                <a16:creationId xmlns:a16="http://schemas.microsoft.com/office/drawing/2014/main" id="{05645A60-5C14-D327-F7EA-3EBE550C3B8E}"/>
              </a:ext>
            </a:extLst>
          </p:cNvPr>
          <p:cNvSpPr txBox="1"/>
          <p:nvPr/>
        </p:nvSpPr>
        <p:spPr>
          <a:xfrm>
            <a:off x="744779" y="6377433"/>
            <a:ext cx="123406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31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服务层</a:t>
            </a:r>
          </a:p>
        </p:txBody>
      </p:sp>
      <p:cxnSp>
        <p:nvCxnSpPr>
          <p:cNvPr id="1952" name="m-s29_iso_stack-ll-2">
            <a:extLst>
              <a:ext uri="{FF2B5EF4-FFF2-40B4-BE49-F238E27FC236}">
                <a16:creationId xmlns:a16="http://schemas.microsoft.com/office/drawing/2014/main" id="{6433C52E-F798-0E87-2F23-DCE653F7E8BD}"/>
              </a:ext>
            </a:extLst>
          </p:cNvPr>
          <p:cNvCxnSpPr/>
          <p:nvPr/>
        </p:nvCxnSpPr>
        <p:spPr>
          <a:xfrm flipH="1">
            <a:off x="323532" y="6404991"/>
            <a:ext cx="78106" cy="0"/>
          </a:xfrm>
          <a:prstGeom prst="line">
            <a:avLst/>
          </a:prstGeom>
          <a:ln w="2540" cap="rnd">
            <a:solidFill>
              <a:srgbClr val="3985CD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53" name="m-s29_iso_stack-lld-2">
            <a:extLst>
              <a:ext uri="{FF2B5EF4-FFF2-40B4-BE49-F238E27FC236}">
                <a16:creationId xmlns:a16="http://schemas.microsoft.com/office/drawing/2014/main" id="{54AE0FD6-815F-94DF-93EB-58335123156D}"/>
              </a:ext>
            </a:extLst>
          </p:cNvPr>
          <p:cNvSpPr/>
          <p:nvPr/>
        </p:nvSpPr>
        <p:spPr>
          <a:xfrm>
            <a:off x="395129" y="6398482"/>
            <a:ext cx="13017" cy="13017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54" name="m-s29_iso_stack-no-2">
            <a:extLst>
              <a:ext uri="{FF2B5EF4-FFF2-40B4-BE49-F238E27FC236}">
                <a16:creationId xmlns:a16="http://schemas.microsoft.com/office/drawing/2014/main" id="{AF1E6371-49B8-C3C0-EA50-1D2F65A869F5}"/>
              </a:ext>
            </a:extLst>
          </p:cNvPr>
          <p:cNvSpPr txBox="1"/>
          <p:nvPr/>
        </p:nvSpPr>
        <p:spPr>
          <a:xfrm>
            <a:off x="-255486" y="6361513"/>
            <a:ext cx="105181" cy="9112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09" b="1" i="0" u="none" strike="noStrike" kern="1200" cap="none" spc="0" normalizeH="0" baseline="0" noProof="0">
                <a:ln>
                  <a:noFill/>
                </a:ln>
                <a:solidFill>
                  <a:srgbClr val="3985CD">
                    <a:alpha val="3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1955" name="m-s29_iso_stack-ln-2">
            <a:extLst>
              <a:ext uri="{FF2B5EF4-FFF2-40B4-BE49-F238E27FC236}">
                <a16:creationId xmlns:a16="http://schemas.microsoft.com/office/drawing/2014/main" id="{C35AD7B9-7AD6-62CC-E51D-40620130DE8C}"/>
              </a:ext>
            </a:extLst>
          </p:cNvPr>
          <p:cNvSpPr txBox="1"/>
          <p:nvPr/>
        </p:nvSpPr>
        <p:spPr>
          <a:xfrm>
            <a:off x="-146399" y="6359592"/>
            <a:ext cx="134731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服务层</a:t>
            </a:r>
          </a:p>
        </p:txBody>
      </p:sp>
      <p:sp>
        <p:nvSpPr>
          <p:cNvPr id="1956" name="m-s29_iso_stack-ld-2">
            <a:extLst>
              <a:ext uri="{FF2B5EF4-FFF2-40B4-BE49-F238E27FC236}">
                <a16:creationId xmlns:a16="http://schemas.microsoft.com/office/drawing/2014/main" id="{E5181873-7C95-B147-2E99-1A55A7A39CE8}"/>
              </a:ext>
            </a:extLst>
          </p:cNvPr>
          <p:cNvSpPr txBox="1"/>
          <p:nvPr/>
        </p:nvSpPr>
        <p:spPr>
          <a:xfrm>
            <a:off x="-144915" y="6413918"/>
            <a:ext cx="225138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可复用的业务能力中心</a:t>
            </a:r>
          </a:p>
        </p:txBody>
      </p:sp>
      <p:cxnSp>
        <p:nvCxnSpPr>
          <p:cNvPr id="1957" name="m-s29_iso_stack-rl-2">
            <a:extLst>
              <a:ext uri="{FF2B5EF4-FFF2-40B4-BE49-F238E27FC236}">
                <a16:creationId xmlns:a16="http://schemas.microsoft.com/office/drawing/2014/main" id="{17A1C9F9-25B1-7A41-EEE7-26BFE8B07142}"/>
              </a:ext>
            </a:extLst>
          </p:cNvPr>
          <p:cNvCxnSpPr/>
          <p:nvPr/>
        </p:nvCxnSpPr>
        <p:spPr>
          <a:xfrm>
            <a:off x="1208722" y="6404991"/>
            <a:ext cx="78105" cy="0"/>
          </a:xfrm>
          <a:prstGeom prst="line">
            <a:avLst/>
          </a:prstGeom>
          <a:ln w="2540" cap="rnd">
            <a:solidFill>
              <a:srgbClr val="3985CD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58" name="m-s29_iso_stack-rld-2">
            <a:extLst>
              <a:ext uri="{FF2B5EF4-FFF2-40B4-BE49-F238E27FC236}">
                <a16:creationId xmlns:a16="http://schemas.microsoft.com/office/drawing/2014/main" id="{EFC56C7F-5BE8-3FF8-FDBD-357C3EEE4D0F}"/>
              </a:ext>
            </a:extLst>
          </p:cNvPr>
          <p:cNvSpPr/>
          <p:nvPr/>
        </p:nvSpPr>
        <p:spPr>
          <a:xfrm>
            <a:off x="1202214" y="6398482"/>
            <a:ext cx="13017" cy="13017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59" name="m-s29_iso_stack-cp-2-1">
            <a:extLst>
              <a:ext uri="{FF2B5EF4-FFF2-40B4-BE49-F238E27FC236}">
                <a16:creationId xmlns:a16="http://schemas.microsoft.com/office/drawing/2014/main" id="{3D06D103-C7B3-1262-C59B-7C9F04818718}"/>
              </a:ext>
            </a:extLst>
          </p:cNvPr>
          <p:cNvSpPr/>
          <p:nvPr/>
        </p:nvSpPr>
        <p:spPr>
          <a:xfrm>
            <a:off x="1299845" y="6376352"/>
            <a:ext cx="171831" cy="57277"/>
          </a:xfrm>
          <a:custGeom>
            <a:avLst/>
            <a:gdLst/>
            <a:ahLst/>
            <a:cxnLst/>
            <a:rect l="0" t="0" r="r" b="b"/>
            <a:pathLst>
              <a:path w="171831" h="57277">
                <a:moveTo>
                  <a:pt x="28639" y="0"/>
                </a:moveTo>
                <a:lnTo>
                  <a:pt x="143193" y="0"/>
                </a:lnTo>
                <a:cubicBezTo>
                  <a:pt x="159004" y="0"/>
                  <a:pt x="171831" y="12827"/>
                  <a:pt x="171831" y="28638"/>
                </a:cubicBezTo>
                <a:lnTo>
                  <a:pt x="171831" y="28638"/>
                </a:lnTo>
                <a:cubicBezTo>
                  <a:pt x="171831" y="44450"/>
                  <a:pt x="159004" y="57277"/>
                  <a:pt x="143193" y="57277"/>
                </a:cubicBezTo>
                <a:lnTo>
                  <a:pt x="28639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9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3985CD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60" name="m-s29_iso_stack-cpt-2-1">
            <a:extLst>
              <a:ext uri="{FF2B5EF4-FFF2-40B4-BE49-F238E27FC236}">
                <a16:creationId xmlns:a16="http://schemas.microsoft.com/office/drawing/2014/main" id="{6174B6A5-C0FB-C48C-8ECD-1EF564ED466B}"/>
              </a:ext>
            </a:extLst>
          </p:cNvPr>
          <p:cNvSpPr txBox="1"/>
          <p:nvPr/>
        </p:nvSpPr>
        <p:spPr>
          <a:xfrm>
            <a:off x="1333690" y="6387079"/>
            <a:ext cx="10414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订单中心</a:t>
            </a:r>
          </a:p>
        </p:txBody>
      </p:sp>
      <p:sp>
        <p:nvSpPr>
          <p:cNvPr id="1961" name="m-s29_iso_stack-cp-2-2">
            <a:extLst>
              <a:ext uri="{FF2B5EF4-FFF2-40B4-BE49-F238E27FC236}">
                <a16:creationId xmlns:a16="http://schemas.microsoft.com/office/drawing/2014/main" id="{1EA01A00-A4A7-B271-3CD8-640B79C5AFD1}"/>
              </a:ext>
            </a:extLst>
          </p:cNvPr>
          <p:cNvSpPr/>
          <p:nvPr/>
        </p:nvSpPr>
        <p:spPr>
          <a:xfrm>
            <a:off x="1487297" y="6376352"/>
            <a:ext cx="171831" cy="57277"/>
          </a:xfrm>
          <a:custGeom>
            <a:avLst/>
            <a:gdLst/>
            <a:ahLst/>
            <a:cxnLst/>
            <a:rect l="0" t="0" r="r" b="b"/>
            <a:pathLst>
              <a:path w="171831" h="57277">
                <a:moveTo>
                  <a:pt x="28638" y="0"/>
                </a:moveTo>
                <a:lnTo>
                  <a:pt x="143192" y="0"/>
                </a:lnTo>
                <a:cubicBezTo>
                  <a:pt x="159004" y="0"/>
                  <a:pt x="171831" y="12827"/>
                  <a:pt x="171831" y="28638"/>
                </a:cubicBezTo>
                <a:lnTo>
                  <a:pt x="171831" y="28638"/>
                </a:lnTo>
                <a:cubicBezTo>
                  <a:pt x="171831" y="44450"/>
                  <a:pt x="159004" y="57277"/>
                  <a:pt x="143192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3985CD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62" name="m-s29_iso_stack-cpt-2-2">
            <a:extLst>
              <a:ext uri="{FF2B5EF4-FFF2-40B4-BE49-F238E27FC236}">
                <a16:creationId xmlns:a16="http://schemas.microsoft.com/office/drawing/2014/main" id="{20542CE3-B3CB-0ACF-66CE-A4DBC2728E68}"/>
              </a:ext>
            </a:extLst>
          </p:cNvPr>
          <p:cNvSpPr txBox="1"/>
          <p:nvPr/>
        </p:nvSpPr>
        <p:spPr>
          <a:xfrm>
            <a:off x="1521142" y="6387079"/>
            <a:ext cx="10414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会员中心</a:t>
            </a:r>
          </a:p>
        </p:txBody>
      </p:sp>
      <p:sp>
        <p:nvSpPr>
          <p:cNvPr id="1963" name="m-s29_iso_stack-cp-2-3">
            <a:extLst>
              <a:ext uri="{FF2B5EF4-FFF2-40B4-BE49-F238E27FC236}">
                <a16:creationId xmlns:a16="http://schemas.microsoft.com/office/drawing/2014/main" id="{518411D0-A2E8-83CC-B11B-A69C46B75CF4}"/>
              </a:ext>
            </a:extLst>
          </p:cNvPr>
          <p:cNvSpPr/>
          <p:nvPr/>
        </p:nvSpPr>
        <p:spPr>
          <a:xfrm>
            <a:off x="1674749" y="6376352"/>
            <a:ext cx="171831" cy="57277"/>
          </a:xfrm>
          <a:custGeom>
            <a:avLst/>
            <a:gdLst/>
            <a:ahLst/>
            <a:cxnLst/>
            <a:rect l="0" t="0" r="r" b="b"/>
            <a:pathLst>
              <a:path w="171831" h="57277">
                <a:moveTo>
                  <a:pt x="28638" y="0"/>
                </a:moveTo>
                <a:lnTo>
                  <a:pt x="143193" y="0"/>
                </a:lnTo>
                <a:cubicBezTo>
                  <a:pt x="159004" y="0"/>
                  <a:pt x="171831" y="12827"/>
                  <a:pt x="171831" y="28638"/>
                </a:cubicBezTo>
                <a:lnTo>
                  <a:pt x="171831" y="28638"/>
                </a:lnTo>
                <a:cubicBezTo>
                  <a:pt x="171831" y="44450"/>
                  <a:pt x="159004" y="57277"/>
                  <a:pt x="143193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3985CD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64" name="m-s29_iso_stack-cpt-2-3">
            <a:extLst>
              <a:ext uri="{FF2B5EF4-FFF2-40B4-BE49-F238E27FC236}">
                <a16:creationId xmlns:a16="http://schemas.microsoft.com/office/drawing/2014/main" id="{9560267F-243D-D5B2-1DF1-F04BB68D6D82}"/>
              </a:ext>
            </a:extLst>
          </p:cNvPr>
          <p:cNvSpPr txBox="1"/>
          <p:nvPr/>
        </p:nvSpPr>
        <p:spPr>
          <a:xfrm>
            <a:off x="1708594" y="6387079"/>
            <a:ext cx="10414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支付中心</a:t>
            </a:r>
          </a:p>
        </p:txBody>
      </p:sp>
      <p:sp>
        <p:nvSpPr>
          <p:cNvPr id="1965" name="m-s29_iso_stack-side-l-1">
            <a:extLst>
              <a:ext uri="{FF2B5EF4-FFF2-40B4-BE49-F238E27FC236}">
                <a16:creationId xmlns:a16="http://schemas.microsoft.com/office/drawing/2014/main" id="{91C77FDF-C35D-2434-F893-578CA92FA0CE}"/>
              </a:ext>
            </a:extLst>
          </p:cNvPr>
          <p:cNvSpPr/>
          <p:nvPr/>
        </p:nvSpPr>
        <p:spPr>
          <a:xfrm>
            <a:off x="414655" y="6196711"/>
            <a:ext cx="390525" cy="158813"/>
          </a:xfrm>
          <a:custGeom>
            <a:avLst/>
            <a:gdLst/>
            <a:ahLst/>
            <a:cxnLst/>
            <a:rect l="0" t="0" r="r" b="b"/>
            <a:pathLst>
              <a:path w="390525" h="158813">
                <a:moveTo>
                  <a:pt x="0" y="0"/>
                </a:moveTo>
                <a:lnTo>
                  <a:pt x="390525" y="124968"/>
                </a:lnTo>
                <a:lnTo>
                  <a:pt x="390525" y="158813"/>
                </a:lnTo>
                <a:lnTo>
                  <a:pt x="0" y="33846"/>
                </a:lnTo>
                <a:close/>
              </a:path>
            </a:pathLst>
          </a:custGeom>
          <a:solidFill>
            <a:srgbClr val="3772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66" name="m-s29_iso_stack-side-r-1">
            <a:extLst>
              <a:ext uri="{FF2B5EF4-FFF2-40B4-BE49-F238E27FC236}">
                <a16:creationId xmlns:a16="http://schemas.microsoft.com/office/drawing/2014/main" id="{5FDBA0F3-C04C-2FBE-5C51-78F73E8C2AD8}"/>
              </a:ext>
            </a:extLst>
          </p:cNvPr>
          <p:cNvSpPr/>
          <p:nvPr/>
        </p:nvSpPr>
        <p:spPr>
          <a:xfrm>
            <a:off x="805180" y="6196711"/>
            <a:ext cx="390525" cy="158813"/>
          </a:xfrm>
          <a:custGeom>
            <a:avLst/>
            <a:gdLst/>
            <a:ahLst/>
            <a:cxnLst/>
            <a:rect l="0" t="0" r="r" b="b"/>
            <a:pathLst>
              <a:path w="390525" h="158813">
                <a:moveTo>
                  <a:pt x="0" y="124968"/>
                </a:moveTo>
                <a:lnTo>
                  <a:pt x="390525" y="0"/>
                </a:lnTo>
                <a:lnTo>
                  <a:pt x="390525" y="33846"/>
                </a:lnTo>
                <a:lnTo>
                  <a:pt x="0" y="158813"/>
                </a:lnTo>
                <a:close/>
              </a:path>
            </a:pathLst>
          </a:custGeom>
          <a:solidFill>
            <a:srgbClr val="4386B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67" name="m-s29_iso_stack-top-1">
            <a:extLst>
              <a:ext uri="{FF2B5EF4-FFF2-40B4-BE49-F238E27FC236}">
                <a16:creationId xmlns:a16="http://schemas.microsoft.com/office/drawing/2014/main" id="{BF0C252F-D8FF-3576-0B83-60FF59831A66}"/>
              </a:ext>
            </a:extLst>
          </p:cNvPr>
          <p:cNvSpPr/>
          <p:nvPr/>
        </p:nvSpPr>
        <p:spPr>
          <a:xfrm>
            <a:off x="414655" y="6071743"/>
            <a:ext cx="781050" cy="249936"/>
          </a:xfrm>
          <a:custGeom>
            <a:avLst/>
            <a:gdLst/>
            <a:ahLst/>
            <a:cxnLst/>
            <a:rect l="0" t="0" r="r" b="b"/>
            <a:pathLst>
              <a:path w="781050" h="249936">
                <a:moveTo>
                  <a:pt x="390525" y="0"/>
                </a:moveTo>
                <a:lnTo>
                  <a:pt x="781050" y="124968"/>
                </a:lnTo>
                <a:lnTo>
                  <a:pt x="390525" y="249936"/>
                </a:lnTo>
                <a:lnTo>
                  <a:pt x="0" y="124968"/>
                </a:lnTo>
                <a:close/>
              </a:path>
            </a:pathLst>
          </a:custGeom>
          <a:gradFill rotWithShape="1">
            <a:gsLst>
              <a:gs pos="0">
                <a:srgbClr val="7AB6E6"/>
              </a:gs>
              <a:gs pos="100000">
                <a:srgbClr val="54A2DF"/>
              </a:gs>
            </a:gsLst>
            <a:lin ang="6000000" scaled="0"/>
          </a:gradFill>
          <a:ln w="2540" cap="rnd">
            <a:solidFill>
              <a:srgbClr val="FFFFF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68" name="m-s29_iso_stack-icon-phone">
            <a:extLst>
              <a:ext uri="{FF2B5EF4-FFF2-40B4-BE49-F238E27FC236}">
                <a16:creationId xmlns:a16="http://schemas.microsoft.com/office/drawing/2014/main" id="{FC87A734-C5B0-5041-D6C5-F9D5EDA32E59}"/>
              </a:ext>
            </a:extLst>
          </p:cNvPr>
          <p:cNvSpPr/>
          <p:nvPr/>
        </p:nvSpPr>
        <p:spPr>
          <a:xfrm>
            <a:off x="686626" y="6187186"/>
            <a:ext cx="15812" cy="24257"/>
          </a:xfrm>
          <a:custGeom>
            <a:avLst/>
            <a:gdLst/>
            <a:ahLst/>
            <a:cxnLst/>
            <a:rect l="0" t="0" r="r" b="b"/>
            <a:pathLst>
              <a:path w="15812" h="24257">
                <a:moveTo>
                  <a:pt x="2286" y="0"/>
                </a:moveTo>
                <a:lnTo>
                  <a:pt x="13526" y="0"/>
                </a:lnTo>
                <a:cubicBezTo>
                  <a:pt x="14161" y="0"/>
                  <a:pt x="14732" y="254"/>
                  <a:pt x="15113" y="635"/>
                </a:cubicBezTo>
                <a:cubicBezTo>
                  <a:pt x="15558" y="1079"/>
                  <a:pt x="15812" y="1651"/>
                  <a:pt x="15812" y="2286"/>
                </a:cubicBezTo>
                <a:lnTo>
                  <a:pt x="15812" y="21971"/>
                </a:lnTo>
                <a:cubicBezTo>
                  <a:pt x="15812" y="22606"/>
                  <a:pt x="15558" y="23177"/>
                  <a:pt x="15113" y="23622"/>
                </a:cubicBezTo>
                <a:cubicBezTo>
                  <a:pt x="14732" y="24003"/>
                  <a:pt x="14161" y="24257"/>
                  <a:pt x="13526" y="24257"/>
                </a:cubicBezTo>
                <a:lnTo>
                  <a:pt x="2286" y="24257"/>
                </a:lnTo>
                <a:cubicBezTo>
                  <a:pt x="1651" y="24257"/>
                  <a:pt x="1080" y="24003"/>
                  <a:pt x="698" y="23622"/>
                </a:cubicBezTo>
                <a:cubicBezTo>
                  <a:pt x="254" y="23177"/>
                  <a:pt x="0" y="22606"/>
                  <a:pt x="0" y="21971"/>
                </a:cubicBezTo>
                <a:lnTo>
                  <a:pt x="0" y="2286"/>
                </a:lnTo>
                <a:cubicBezTo>
                  <a:pt x="0" y="1016"/>
                  <a:pt x="1016" y="0"/>
                  <a:pt x="2286" y="0"/>
                </a:cubicBezTo>
                <a:close/>
                <a:moveTo>
                  <a:pt x="5652" y="20002"/>
                </a:moveTo>
                <a:lnTo>
                  <a:pt x="10160" y="20002"/>
                </a:lnTo>
              </a:path>
            </a:pathLst>
          </a:custGeom>
          <a:noFill/>
          <a:ln w="273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69" name="m-s29_iso_stack-tn-1">
            <a:extLst>
              <a:ext uri="{FF2B5EF4-FFF2-40B4-BE49-F238E27FC236}">
                <a16:creationId xmlns:a16="http://schemas.microsoft.com/office/drawing/2014/main" id="{A965D377-EDEC-A209-5765-55C39D0F8615}"/>
              </a:ext>
            </a:extLst>
          </p:cNvPr>
          <p:cNvSpPr txBox="1"/>
          <p:nvPr/>
        </p:nvSpPr>
        <p:spPr>
          <a:xfrm>
            <a:off x="744779" y="6174360"/>
            <a:ext cx="123406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31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应用层</a:t>
            </a:r>
          </a:p>
        </p:txBody>
      </p:sp>
      <p:cxnSp>
        <p:nvCxnSpPr>
          <p:cNvPr id="1970" name="m-s29_iso_stack-ll-1">
            <a:extLst>
              <a:ext uri="{FF2B5EF4-FFF2-40B4-BE49-F238E27FC236}">
                <a16:creationId xmlns:a16="http://schemas.microsoft.com/office/drawing/2014/main" id="{F903BE5C-9104-D9B8-54C3-4C804E4F2515}"/>
              </a:ext>
            </a:extLst>
          </p:cNvPr>
          <p:cNvCxnSpPr/>
          <p:nvPr/>
        </p:nvCxnSpPr>
        <p:spPr>
          <a:xfrm flipH="1">
            <a:off x="323532" y="6196711"/>
            <a:ext cx="78106" cy="0"/>
          </a:xfrm>
          <a:prstGeom prst="line">
            <a:avLst/>
          </a:prstGeom>
          <a:ln w="2540" cap="rnd">
            <a:solidFill>
              <a:srgbClr val="54A2DF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71" name="m-s29_iso_stack-lld-1">
            <a:extLst>
              <a:ext uri="{FF2B5EF4-FFF2-40B4-BE49-F238E27FC236}">
                <a16:creationId xmlns:a16="http://schemas.microsoft.com/office/drawing/2014/main" id="{3D2F2E49-8050-FC88-607A-85EF2352F995}"/>
              </a:ext>
            </a:extLst>
          </p:cNvPr>
          <p:cNvSpPr/>
          <p:nvPr/>
        </p:nvSpPr>
        <p:spPr>
          <a:xfrm>
            <a:off x="395129" y="6190202"/>
            <a:ext cx="13017" cy="13017"/>
          </a:xfrm>
          <a:prstGeom prst="ellipse">
            <a:avLst/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72" name="m-s29_iso_stack-no-1">
            <a:extLst>
              <a:ext uri="{FF2B5EF4-FFF2-40B4-BE49-F238E27FC236}">
                <a16:creationId xmlns:a16="http://schemas.microsoft.com/office/drawing/2014/main" id="{0C8DADF5-F34A-DCAF-438E-29A84CCFC0D6}"/>
              </a:ext>
            </a:extLst>
          </p:cNvPr>
          <p:cNvSpPr txBox="1"/>
          <p:nvPr/>
        </p:nvSpPr>
        <p:spPr>
          <a:xfrm>
            <a:off x="-255486" y="6153233"/>
            <a:ext cx="105181" cy="9112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09" b="1" i="0" u="none" strike="noStrike" kern="1200" cap="none" spc="0" normalizeH="0" baseline="0" noProof="0">
                <a:ln>
                  <a:noFill/>
                </a:ln>
                <a:solidFill>
                  <a:srgbClr val="54A2DF">
                    <a:alpha val="3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1973" name="m-s29_iso_stack-ln-1">
            <a:extLst>
              <a:ext uri="{FF2B5EF4-FFF2-40B4-BE49-F238E27FC236}">
                <a16:creationId xmlns:a16="http://schemas.microsoft.com/office/drawing/2014/main" id="{2803D779-E0D1-E21E-1CCA-2A3940E6121A}"/>
              </a:ext>
            </a:extLst>
          </p:cNvPr>
          <p:cNvSpPr txBox="1"/>
          <p:nvPr/>
        </p:nvSpPr>
        <p:spPr>
          <a:xfrm>
            <a:off x="-146399" y="6151312"/>
            <a:ext cx="134731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应用层</a:t>
            </a:r>
          </a:p>
        </p:txBody>
      </p:sp>
      <p:sp>
        <p:nvSpPr>
          <p:cNvPr id="1974" name="m-s29_iso_stack-ld-1">
            <a:extLst>
              <a:ext uri="{FF2B5EF4-FFF2-40B4-BE49-F238E27FC236}">
                <a16:creationId xmlns:a16="http://schemas.microsoft.com/office/drawing/2014/main" id="{F05B9E16-8F86-AF24-939E-D92278283FB3}"/>
              </a:ext>
            </a:extLst>
          </p:cNvPr>
          <p:cNvSpPr txBox="1"/>
          <p:nvPr/>
        </p:nvSpPr>
        <p:spPr>
          <a:xfrm>
            <a:off x="-144915" y="6205638"/>
            <a:ext cx="266533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面向客户与员工的前台应用</a:t>
            </a:r>
          </a:p>
        </p:txBody>
      </p:sp>
      <p:cxnSp>
        <p:nvCxnSpPr>
          <p:cNvPr id="1975" name="m-s29_iso_stack-rl-1">
            <a:extLst>
              <a:ext uri="{FF2B5EF4-FFF2-40B4-BE49-F238E27FC236}">
                <a16:creationId xmlns:a16="http://schemas.microsoft.com/office/drawing/2014/main" id="{1C907779-E3FC-A8E4-51C3-CDB65FFBF8C7}"/>
              </a:ext>
            </a:extLst>
          </p:cNvPr>
          <p:cNvCxnSpPr/>
          <p:nvPr/>
        </p:nvCxnSpPr>
        <p:spPr>
          <a:xfrm>
            <a:off x="1208722" y="6196711"/>
            <a:ext cx="78105" cy="0"/>
          </a:xfrm>
          <a:prstGeom prst="line">
            <a:avLst/>
          </a:prstGeom>
          <a:ln w="2540" cap="rnd">
            <a:solidFill>
              <a:srgbClr val="54A2DF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76" name="m-s29_iso_stack-rld-1">
            <a:extLst>
              <a:ext uri="{FF2B5EF4-FFF2-40B4-BE49-F238E27FC236}">
                <a16:creationId xmlns:a16="http://schemas.microsoft.com/office/drawing/2014/main" id="{E6B0D589-5E4C-F96B-A543-F73A9EC5171B}"/>
              </a:ext>
            </a:extLst>
          </p:cNvPr>
          <p:cNvSpPr/>
          <p:nvPr/>
        </p:nvSpPr>
        <p:spPr>
          <a:xfrm>
            <a:off x="1202214" y="6190202"/>
            <a:ext cx="13017" cy="13017"/>
          </a:xfrm>
          <a:prstGeom prst="ellipse">
            <a:avLst/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77" name="m-s29_iso_stack-cp-1-1">
            <a:extLst>
              <a:ext uri="{FF2B5EF4-FFF2-40B4-BE49-F238E27FC236}">
                <a16:creationId xmlns:a16="http://schemas.microsoft.com/office/drawing/2014/main" id="{FFEA106C-5C8D-DF7A-2631-750BE73CD1A5}"/>
              </a:ext>
            </a:extLst>
          </p:cNvPr>
          <p:cNvSpPr/>
          <p:nvPr/>
        </p:nvSpPr>
        <p:spPr>
          <a:xfrm>
            <a:off x="1299845" y="6168072"/>
            <a:ext cx="171831" cy="57277"/>
          </a:xfrm>
          <a:custGeom>
            <a:avLst/>
            <a:gdLst/>
            <a:ahLst/>
            <a:cxnLst/>
            <a:rect l="0" t="0" r="r" b="b"/>
            <a:pathLst>
              <a:path w="171831" h="57277">
                <a:moveTo>
                  <a:pt x="28639" y="0"/>
                </a:moveTo>
                <a:lnTo>
                  <a:pt x="143193" y="0"/>
                </a:lnTo>
                <a:cubicBezTo>
                  <a:pt x="159004" y="0"/>
                  <a:pt x="171831" y="12827"/>
                  <a:pt x="171831" y="28638"/>
                </a:cubicBezTo>
                <a:lnTo>
                  <a:pt x="171831" y="28638"/>
                </a:lnTo>
                <a:cubicBezTo>
                  <a:pt x="171831" y="44450"/>
                  <a:pt x="159004" y="57277"/>
                  <a:pt x="143193" y="57277"/>
                </a:cubicBezTo>
                <a:lnTo>
                  <a:pt x="28639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9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54A2DF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78" name="m-s29_iso_stack-cpt-1-1">
            <a:extLst>
              <a:ext uri="{FF2B5EF4-FFF2-40B4-BE49-F238E27FC236}">
                <a16:creationId xmlns:a16="http://schemas.microsoft.com/office/drawing/2014/main" id="{614BEFF2-3DB3-A5B6-E1A1-B7DA0E0FD918}"/>
              </a:ext>
            </a:extLst>
          </p:cNvPr>
          <p:cNvSpPr txBox="1"/>
          <p:nvPr/>
        </p:nvSpPr>
        <p:spPr>
          <a:xfrm>
            <a:off x="1333690" y="6178799"/>
            <a:ext cx="10414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客户门户</a:t>
            </a:r>
          </a:p>
        </p:txBody>
      </p:sp>
      <p:sp>
        <p:nvSpPr>
          <p:cNvPr id="1979" name="m-s29_iso_stack-cp-1-2">
            <a:extLst>
              <a:ext uri="{FF2B5EF4-FFF2-40B4-BE49-F238E27FC236}">
                <a16:creationId xmlns:a16="http://schemas.microsoft.com/office/drawing/2014/main" id="{13720E43-B9A1-30C9-89FF-D45E955C1842}"/>
              </a:ext>
            </a:extLst>
          </p:cNvPr>
          <p:cNvSpPr/>
          <p:nvPr/>
        </p:nvSpPr>
        <p:spPr>
          <a:xfrm>
            <a:off x="1487297" y="6168072"/>
            <a:ext cx="171831" cy="57277"/>
          </a:xfrm>
          <a:custGeom>
            <a:avLst/>
            <a:gdLst/>
            <a:ahLst/>
            <a:cxnLst/>
            <a:rect l="0" t="0" r="r" b="b"/>
            <a:pathLst>
              <a:path w="171831" h="57277">
                <a:moveTo>
                  <a:pt x="28638" y="0"/>
                </a:moveTo>
                <a:lnTo>
                  <a:pt x="143192" y="0"/>
                </a:lnTo>
                <a:cubicBezTo>
                  <a:pt x="159004" y="0"/>
                  <a:pt x="171831" y="12827"/>
                  <a:pt x="171831" y="28638"/>
                </a:cubicBezTo>
                <a:lnTo>
                  <a:pt x="171831" y="28638"/>
                </a:lnTo>
                <a:cubicBezTo>
                  <a:pt x="171831" y="44450"/>
                  <a:pt x="159004" y="57277"/>
                  <a:pt x="143192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54A2DF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80" name="m-s29_iso_stack-cpt-1-2">
            <a:extLst>
              <a:ext uri="{FF2B5EF4-FFF2-40B4-BE49-F238E27FC236}">
                <a16:creationId xmlns:a16="http://schemas.microsoft.com/office/drawing/2014/main" id="{C43D15E5-DBC8-C769-F087-5BAD97939646}"/>
              </a:ext>
            </a:extLst>
          </p:cNvPr>
          <p:cNvSpPr txBox="1"/>
          <p:nvPr/>
        </p:nvSpPr>
        <p:spPr>
          <a:xfrm>
            <a:off x="1518122" y="6178799"/>
            <a:ext cx="11018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移动 App</a:t>
            </a:r>
          </a:p>
        </p:txBody>
      </p:sp>
      <p:sp>
        <p:nvSpPr>
          <p:cNvPr id="1981" name="m-s29_iso_stack-cp-1-3">
            <a:extLst>
              <a:ext uri="{FF2B5EF4-FFF2-40B4-BE49-F238E27FC236}">
                <a16:creationId xmlns:a16="http://schemas.microsoft.com/office/drawing/2014/main" id="{24992758-3735-F525-B92C-2E2DE88ACC0E}"/>
              </a:ext>
            </a:extLst>
          </p:cNvPr>
          <p:cNvSpPr/>
          <p:nvPr/>
        </p:nvSpPr>
        <p:spPr>
          <a:xfrm>
            <a:off x="1674749" y="6168072"/>
            <a:ext cx="171831" cy="57277"/>
          </a:xfrm>
          <a:custGeom>
            <a:avLst/>
            <a:gdLst/>
            <a:ahLst/>
            <a:cxnLst/>
            <a:rect l="0" t="0" r="r" b="b"/>
            <a:pathLst>
              <a:path w="171831" h="57277">
                <a:moveTo>
                  <a:pt x="28638" y="0"/>
                </a:moveTo>
                <a:lnTo>
                  <a:pt x="143193" y="0"/>
                </a:lnTo>
                <a:cubicBezTo>
                  <a:pt x="159004" y="0"/>
                  <a:pt x="171831" y="12827"/>
                  <a:pt x="171831" y="28638"/>
                </a:cubicBezTo>
                <a:lnTo>
                  <a:pt x="171831" y="28638"/>
                </a:lnTo>
                <a:cubicBezTo>
                  <a:pt x="171831" y="44450"/>
                  <a:pt x="159004" y="57277"/>
                  <a:pt x="143193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54A2DF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82" name="m-s29_iso_stack-cpt-1-3">
            <a:extLst>
              <a:ext uri="{FF2B5EF4-FFF2-40B4-BE49-F238E27FC236}">
                <a16:creationId xmlns:a16="http://schemas.microsoft.com/office/drawing/2014/main" id="{18D8DF12-56E7-6659-7886-42C4D116C34F}"/>
              </a:ext>
            </a:extLst>
          </p:cNvPr>
          <p:cNvSpPr txBox="1"/>
          <p:nvPr/>
        </p:nvSpPr>
        <p:spPr>
          <a:xfrm>
            <a:off x="1711667" y="6178799"/>
            <a:ext cx="9799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BI 看板</a:t>
            </a:r>
          </a:p>
        </p:txBody>
      </p:sp>
      <p:sp>
        <p:nvSpPr>
          <p:cNvPr id="1983" name="m-s29_iso_stack-sum">
            <a:extLst>
              <a:ext uri="{FF2B5EF4-FFF2-40B4-BE49-F238E27FC236}">
                <a16:creationId xmlns:a16="http://schemas.microsoft.com/office/drawing/2014/main" id="{78A0A82D-68E9-60E0-2B85-9BB25CF8D8EA}"/>
              </a:ext>
            </a:extLst>
          </p:cNvPr>
          <p:cNvSpPr/>
          <p:nvPr/>
        </p:nvSpPr>
        <p:spPr>
          <a:xfrm>
            <a:off x="-249238" y="7027228"/>
            <a:ext cx="2108835" cy="85915"/>
          </a:xfrm>
          <a:custGeom>
            <a:avLst/>
            <a:gdLst/>
            <a:ahLst/>
            <a:cxnLst/>
            <a:rect l="0" t="0" r="r" b="b"/>
            <a:pathLst>
              <a:path w="2108835" h="85915">
                <a:moveTo>
                  <a:pt x="18224" y="0"/>
                </a:moveTo>
                <a:lnTo>
                  <a:pt x="2090610" y="0"/>
                </a:lnTo>
                <a:cubicBezTo>
                  <a:pt x="2100644" y="0"/>
                  <a:pt x="2108835" y="8191"/>
                  <a:pt x="2108835" y="18224"/>
                </a:cubicBezTo>
                <a:lnTo>
                  <a:pt x="2108835" y="67691"/>
                </a:lnTo>
                <a:cubicBezTo>
                  <a:pt x="2108835" y="77724"/>
                  <a:pt x="2100644" y="85915"/>
                  <a:pt x="2090610" y="85915"/>
                </a:cubicBezTo>
                <a:lnTo>
                  <a:pt x="18224" y="85915"/>
                </a:lnTo>
                <a:cubicBezTo>
                  <a:pt x="8191" y="85915"/>
                  <a:pt x="0" y="77724"/>
                  <a:pt x="0" y="67691"/>
                </a:cubicBezTo>
                <a:lnTo>
                  <a:pt x="0" y="18224"/>
                </a:lnTo>
                <a:cubicBezTo>
                  <a:pt x="0" y="8191"/>
                  <a:pt x="8191" y="0"/>
                  <a:pt x="18224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84" name="m-s29_iso_stack-sum-bar">
            <a:extLst>
              <a:ext uri="{FF2B5EF4-FFF2-40B4-BE49-F238E27FC236}">
                <a16:creationId xmlns:a16="http://schemas.microsoft.com/office/drawing/2014/main" id="{DC8477DD-7BF9-BC5B-5C8B-BC3250A2076F}"/>
              </a:ext>
            </a:extLst>
          </p:cNvPr>
          <p:cNvSpPr/>
          <p:nvPr/>
        </p:nvSpPr>
        <p:spPr>
          <a:xfrm>
            <a:off x="-249238" y="7027228"/>
            <a:ext cx="6509" cy="85916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85" name="m-s29_iso_stack-sum-h">
            <a:extLst>
              <a:ext uri="{FF2B5EF4-FFF2-40B4-BE49-F238E27FC236}">
                <a16:creationId xmlns:a16="http://schemas.microsoft.com/office/drawing/2014/main" id="{6F74DA40-5BEE-B1D6-2416-20B040692209}"/>
              </a:ext>
            </a:extLst>
          </p:cNvPr>
          <p:cNvSpPr txBox="1"/>
          <p:nvPr/>
        </p:nvSpPr>
        <p:spPr>
          <a:xfrm>
            <a:off x="-210237" y="7054571"/>
            <a:ext cx="118850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架构原则</a:t>
            </a:r>
          </a:p>
        </p:txBody>
      </p:sp>
      <p:sp>
        <p:nvSpPr>
          <p:cNvPr id="1986" name="m-s29_iso_stack-sum-p">
            <a:extLst>
              <a:ext uri="{FF2B5EF4-FFF2-40B4-BE49-F238E27FC236}">
                <a16:creationId xmlns:a16="http://schemas.microsoft.com/office/drawing/2014/main" id="{19A6BC8D-0182-393D-8CB7-C58840848827}"/>
              </a:ext>
            </a:extLst>
          </p:cNvPr>
          <p:cNvSpPr txBox="1"/>
          <p:nvPr/>
        </p:nvSpPr>
        <p:spPr>
          <a:xfrm>
            <a:off x="-56709" y="7053767"/>
            <a:ext cx="81600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上层只调用下层开放的接口，禁止跨层直连——任何一层都可以独立升级替换。</a:t>
            </a:r>
          </a:p>
        </p:txBody>
      </p:sp>
      <p:cxnSp>
        <p:nvCxnSpPr>
          <p:cNvPr id="1987" name="m-s29_iso_stack-foot-line">
            <a:extLst>
              <a:ext uri="{FF2B5EF4-FFF2-40B4-BE49-F238E27FC236}">
                <a16:creationId xmlns:a16="http://schemas.microsoft.com/office/drawing/2014/main" id="{AA843FAA-F9E2-E271-BDCA-32B931A92F45}"/>
              </a:ext>
            </a:extLst>
          </p:cNvPr>
          <p:cNvCxnSpPr/>
          <p:nvPr/>
        </p:nvCxnSpPr>
        <p:spPr>
          <a:xfrm>
            <a:off x="-324739" y="71417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88" name="m-s29_iso_stack-foot-l">
            <a:extLst>
              <a:ext uri="{FF2B5EF4-FFF2-40B4-BE49-F238E27FC236}">
                <a16:creationId xmlns:a16="http://schemas.microsoft.com/office/drawing/2014/main" id="{8565C98C-D169-C41B-BA79-99C5139CA0B5}"/>
              </a:ext>
            </a:extLst>
          </p:cNvPr>
          <p:cNvSpPr txBox="1"/>
          <p:nvPr/>
        </p:nvSpPr>
        <p:spPr>
          <a:xfrm>
            <a:off x="-326926" y="7155723"/>
            <a:ext cx="21429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等轴分层 · 五层架构</a:t>
            </a:r>
          </a:p>
        </p:txBody>
      </p:sp>
      <p:sp>
        <p:nvSpPr>
          <p:cNvPr id="1989" name="m-s29_iso_stack-foot-r">
            <a:extLst>
              <a:ext uri="{FF2B5EF4-FFF2-40B4-BE49-F238E27FC236}">
                <a16:creationId xmlns:a16="http://schemas.microsoft.com/office/drawing/2014/main" id="{2A9C9710-9295-6672-6E88-7DB4D1EA0DAB}"/>
              </a:ext>
            </a:extLst>
          </p:cNvPr>
          <p:cNvSpPr txBox="1"/>
          <p:nvPr/>
        </p:nvSpPr>
        <p:spPr>
          <a:xfrm>
            <a:off x="1677509" y="71557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1990" name="mini-card-d44_stream">
            <a:extLst>
              <a:ext uri="{FF2B5EF4-FFF2-40B4-BE49-F238E27FC236}">
                <a16:creationId xmlns:a16="http://schemas.microsoft.com/office/drawing/2014/main" id="{7FED7F55-E41D-D1BE-BDA8-B471E60D0A5D}"/>
              </a:ext>
            </a:extLst>
          </p:cNvPr>
          <p:cNvSpPr/>
          <p:nvPr/>
        </p:nvSpPr>
        <p:spPr>
          <a:xfrm>
            <a:off x="2171700" y="58166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0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0" y="1405890"/>
                </a:lnTo>
                <a:cubicBezTo>
                  <a:pt x="35877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7"/>
                  <a:pt x="35877" y="0"/>
                  <a:pt x="80200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91" name="m-d44_stream-title-bar">
            <a:extLst>
              <a:ext uri="{FF2B5EF4-FFF2-40B4-BE49-F238E27FC236}">
                <a16:creationId xmlns:a16="http://schemas.microsoft.com/office/drawing/2014/main" id="{DC14749F-EF42-D15D-667A-70E26F5CCE8B}"/>
              </a:ext>
            </a:extLst>
          </p:cNvPr>
          <p:cNvSpPr/>
          <p:nvPr/>
        </p:nvSpPr>
        <p:spPr>
          <a:xfrm>
            <a:off x="2291461" y="59155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92" name="m-d44_stream-title-bar-accent">
            <a:extLst>
              <a:ext uri="{FF2B5EF4-FFF2-40B4-BE49-F238E27FC236}">
                <a16:creationId xmlns:a16="http://schemas.microsoft.com/office/drawing/2014/main" id="{0226CDA4-F009-CC72-0F1E-2809FD5F5FD9}"/>
              </a:ext>
            </a:extLst>
          </p:cNvPr>
          <p:cNvSpPr/>
          <p:nvPr/>
        </p:nvSpPr>
        <p:spPr>
          <a:xfrm>
            <a:off x="2291461" y="59155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93" name="m-d44_stream-title-cn">
            <a:extLst>
              <a:ext uri="{FF2B5EF4-FFF2-40B4-BE49-F238E27FC236}">
                <a16:creationId xmlns:a16="http://schemas.microsoft.com/office/drawing/2014/main" id="{720FCDEC-800E-5E09-0D1B-83759DE7BA91}"/>
              </a:ext>
            </a:extLst>
          </p:cNvPr>
          <p:cNvSpPr txBox="1"/>
          <p:nvPr/>
        </p:nvSpPr>
        <p:spPr>
          <a:xfrm>
            <a:off x="2323640" y="5898168"/>
            <a:ext cx="551421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五年营收结构演变</a:t>
            </a:r>
          </a:p>
        </p:txBody>
      </p:sp>
      <p:sp>
        <p:nvSpPr>
          <p:cNvPr id="1994" name="m-d44_stream-title-en">
            <a:extLst>
              <a:ext uri="{FF2B5EF4-FFF2-40B4-BE49-F238E27FC236}">
                <a16:creationId xmlns:a16="http://schemas.microsoft.com/office/drawing/2014/main" id="{4349F4EA-8FFD-720D-D4D5-F75C95700238}"/>
              </a:ext>
            </a:extLst>
          </p:cNvPr>
          <p:cNvSpPr txBox="1"/>
          <p:nvPr/>
        </p:nvSpPr>
        <p:spPr>
          <a:xfrm>
            <a:off x="2330930" y="5985450"/>
            <a:ext cx="221740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STREAMGRAPH</a:t>
            </a:r>
          </a:p>
        </p:txBody>
      </p:sp>
      <p:sp>
        <p:nvSpPr>
          <p:cNvPr id="1995" name="m-d44_stream-title-sub">
            <a:extLst>
              <a:ext uri="{FF2B5EF4-FFF2-40B4-BE49-F238E27FC236}">
                <a16:creationId xmlns:a16="http://schemas.microsoft.com/office/drawing/2014/main" id="{3B9A9015-DE77-AEF8-0415-FA740AEBBD67}"/>
              </a:ext>
            </a:extLst>
          </p:cNvPr>
          <p:cNvSpPr txBox="1"/>
          <p:nvPr/>
        </p:nvSpPr>
        <p:spPr>
          <a:xfrm>
            <a:off x="3733409" y="5954592"/>
            <a:ext cx="820545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每条河的宽度代表当年营收——软件占比在下降，云与数据服务的河道越来越宽</a:t>
            </a:r>
          </a:p>
        </p:txBody>
      </p:sp>
      <p:sp>
        <p:nvSpPr>
          <p:cNvPr id="1996" name="m-d44_stream-st-1">
            <a:extLst>
              <a:ext uri="{FF2B5EF4-FFF2-40B4-BE49-F238E27FC236}">
                <a16:creationId xmlns:a16="http://schemas.microsoft.com/office/drawing/2014/main" id="{EAF7635C-BD06-573B-1F9A-56B677B5792C}"/>
              </a:ext>
            </a:extLst>
          </p:cNvPr>
          <p:cNvSpPr/>
          <p:nvPr/>
        </p:nvSpPr>
        <p:spPr>
          <a:xfrm>
            <a:off x="2458085" y="6218301"/>
            <a:ext cx="1379855" cy="401193"/>
          </a:xfrm>
          <a:custGeom>
            <a:avLst/>
            <a:gdLst/>
            <a:ahLst/>
            <a:cxnLst/>
            <a:rect l="0" t="0" r="r" b="b"/>
            <a:pathLst>
              <a:path w="1379855" h="401193">
                <a:moveTo>
                  <a:pt x="0" y="149733"/>
                </a:moveTo>
                <a:cubicBezTo>
                  <a:pt x="45974" y="144907"/>
                  <a:pt x="252984" y="122555"/>
                  <a:pt x="344995" y="113792"/>
                </a:cubicBezTo>
                <a:cubicBezTo>
                  <a:pt x="436944" y="105029"/>
                  <a:pt x="597916" y="92647"/>
                  <a:pt x="689927" y="83884"/>
                </a:cubicBezTo>
                <a:cubicBezTo>
                  <a:pt x="781939" y="75057"/>
                  <a:pt x="942912" y="59119"/>
                  <a:pt x="1034923" y="47942"/>
                </a:cubicBezTo>
                <a:cubicBezTo>
                  <a:pt x="1126871" y="36766"/>
                  <a:pt x="1333881" y="6413"/>
                  <a:pt x="1379855" y="0"/>
                </a:cubicBezTo>
                <a:lnTo>
                  <a:pt x="1379855" y="299403"/>
                </a:lnTo>
                <a:cubicBezTo>
                  <a:pt x="1333881" y="304229"/>
                  <a:pt x="1126871" y="326581"/>
                  <a:pt x="1034923" y="335343"/>
                </a:cubicBezTo>
                <a:cubicBezTo>
                  <a:pt x="942912" y="344107"/>
                  <a:pt x="781939" y="358902"/>
                  <a:pt x="689927" y="365315"/>
                </a:cubicBezTo>
                <a:cubicBezTo>
                  <a:pt x="597916" y="371665"/>
                  <a:pt x="436944" y="378460"/>
                  <a:pt x="344995" y="383286"/>
                </a:cubicBezTo>
                <a:cubicBezTo>
                  <a:pt x="252984" y="388048"/>
                  <a:pt x="45974" y="398843"/>
                  <a:pt x="0" y="401193"/>
                </a:cubicBezTo>
                <a:close/>
              </a:path>
            </a:pathLst>
          </a:custGeom>
          <a:gradFill rotWithShape="1">
            <a:gsLst>
              <a:gs pos="0">
                <a:srgbClr val="23519A"/>
              </a:gs>
              <a:gs pos="100000">
                <a:srgbClr val="0B3E8F"/>
              </a:gs>
            </a:gsLst>
            <a:lin ang="0" scaled="0"/>
          </a:gradFill>
          <a:ln w="260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97" name="m-d44_stream-sl-1">
            <a:extLst>
              <a:ext uri="{FF2B5EF4-FFF2-40B4-BE49-F238E27FC236}">
                <a16:creationId xmlns:a16="http://schemas.microsoft.com/office/drawing/2014/main" id="{E87EA024-4839-27A4-FD72-674DEC094D0B}"/>
              </a:ext>
            </a:extLst>
          </p:cNvPr>
          <p:cNvSpPr txBox="1"/>
          <p:nvPr/>
        </p:nvSpPr>
        <p:spPr>
          <a:xfrm>
            <a:off x="3861319" y="6348502"/>
            <a:ext cx="113643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企业软件</a:t>
            </a:r>
          </a:p>
        </p:txBody>
      </p:sp>
      <p:sp>
        <p:nvSpPr>
          <p:cNvPr id="1998" name="m-d44_stream-sv-1">
            <a:extLst>
              <a:ext uri="{FF2B5EF4-FFF2-40B4-BE49-F238E27FC236}">
                <a16:creationId xmlns:a16="http://schemas.microsoft.com/office/drawing/2014/main" id="{EAA92E7D-8FA9-F699-85F7-383FEDF38B2B}"/>
              </a:ext>
            </a:extLst>
          </p:cNvPr>
          <p:cNvSpPr txBox="1"/>
          <p:nvPr/>
        </p:nvSpPr>
        <p:spPr>
          <a:xfrm>
            <a:off x="3970823" y="6350109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5.0</a:t>
            </a:r>
          </a:p>
        </p:txBody>
      </p:sp>
      <p:sp>
        <p:nvSpPr>
          <p:cNvPr id="1999" name="m-d44_stream-st-2">
            <a:extLst>
              <a:ext uri="{FF2B5EF4-FFF2-40B4-BE49-F238E27FC236}">
                <a16:creationId xmlns:a16="http://schemas.microsoft.com/office/drawing/2014/main" id="{984D811C-9F53-6CE7-1C79-9BB97E44D147}"/>
              </a:ext>
            </a:extLst>
          </p:cNvPr>
          <p:cNvSpPr/>
          <p:nvPr/>
        </p:nvSpPr>
        <p:spPr>
          <a:xfrm>
            <a:off x="2458085" y="6517704"/>
            <a:ext cx="1379855" cy="203581"/>
          </a:xfrm>
          <a:custGeom>
            <a:avLst/>
            <a:gdLst/>
            <a:ahLst/>
            <a:cxnLst/>
            <a:rect l="0" t="0" r="r" b="b"/>
            <a:pathLst>
              <a:path w="1379855" h="203581">
                <a:moveTo>
                  <a:pt x="0" y="101790"/>
                </a:moveTo>
                <a:cubicBezTo>
                  <a:pt x="45974" y="99441"/>
                  <a:pt x="252984" y="88646"/>
                  <a:pt x="344995" y="83883"/>
                </a:cubicBezTo>
                <a:cubicBezTo>
                  <a:pt x="436944" y="79057"/>
                  <a:pt x="597916" y="72263"/>
                  <a:pt x="689927" y="65913"/>
                </a:cubicBezTo>
                <a:cubicBezTo>
                  <a:pt x="781939" y="59499"/>
                  <a:pt x="942912" y="44704"/>
                  <a:pt x="1034923" y="35941"/>
                </a:cubicBezTo>
                <a:cubicBezTo>
                  <a:pt x="1126871" y="27178"/>
                  <a:pt x="1333881" y="4826"/>
                  <a:pt x="1379855" y="0"/>
                </a:cubicBezTo>
                <a:lnTo>
                  <a:pt x="1379855" y="203581"/>
                </a:lnTo>
                <a:cubicBezTo>
                  <a:pt x="1333881" y="201993"/>
                  <a:pt x="1126871" y="194056"/>
                  <a:pt x="1034923" y="191643"/>
                </a:cubicBezTo>
                <a:cubicBezTo>
                  <a:pt x="942912" y="189230"/>
                  <a:pt x="781939" y="188849"/>
                  <a:pt x="689927" y="185674"/>
                </a:cubicBezTo>
                <a:cubicBezTo>
                  <a:pt x="597916" y="182436"/>
                  <a:pt x="436944" y="172466"/>
                  <a:pt x="344995" y="167703"/>
                </a:cubicBezTo>
                <a:cubicBezTo>
                  <a:pt x="252984" y="162877"/>
                  <a:pt x="45974" y="152146"/>
                  <a:pt x="0" y="149733"/>
                </a:cubicBezTo>
                <a:close/>
              </a:path>
            </a:pathLst>
          </a:custGeom>
          <a:gradFill rotWithShape="1">
            <a:gsLst>
              <a:gs pos="0">
                <a:srgbClr val="326AB1"/>
              </a:gs>
              <a:gs pos="100000">
                <a:srgbClr val="1B5AA8"/>
              </a:gs>
            </a:gsLst>
            <a:lin ang="0" scaled="0"/>
          </a:gradFill>
          <a:ln w="260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00" name="m-d44_stream-sl-2">
            <a:extLst>
              <a:ext uri="{FF2B5EF4-FFF2-40B4-BE49-F238E27FC236}">
                <a16:creationId xmlns:a16="http://schemas.microsoft.com/office/drawing/2014/main" id="{6AE5AE7F-9309-9D74-6437-A6D57596BCD6}"/>
              </a:ext>
            </a:extLst>
          </p:cNvPr>
          <p:cNvSpPr txBox="1"/>
          <p:nvPr/>
        </p:nvSpPr>
        <p:spPr>
          <a:xfrm>
            <a:off x="3861319" y="6600000"/>
            <a:ext cx="90211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云服务</a:t>
            </a:r>
          </a:p>
        </p:txBody>
      </p:sp>
      <p:sp>
        <p:nvSpPr>
          <p:cNvPr id="2001" name="m-d44_stream-sv-2">
            <a:extLst>
              <a:ext uri="{FF2B5EF4-FFF2-40B4-BE49-F238E27FC236}">
                <a16:creationId xmlns:a16="http://schemas.microsoft.com/office/drawing/2014/main" id="{3CE9EC26-4E4C-5E45-143B-9B419EA76E81}"/>
              </a:ext>
            </a:extLst>
          </p:cNvPr>
          <p:cNvSpPr txBox="1"/>
          <p:nvPr/>
        </p:nvSpPr>
        <p:spPr>
          <a:xfrm>
            <a:off x="3947391" y="6601607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3.4</a:t>
            </a:r>
          </a:p>
        </p:txBody>
      </p:sp>
      <p:sp>
        <p:nvSpPr>
          <p:cNvPr id="2002" name="m-d44_stream-st-3">
            <a:extLst>
              <a:ext uri="{FF2B5EF4-FFF2-40B4-BE49-F238E27FC236}">
                <a16:creationId xmlns:a16="http://schemas.microsoft.com/office/drawing/2014/main" id="{B749BE0F-0432-3523-2539-E8759116161A}"/>
              </a:ext>
            </a:extLst>
          </p:cNvPr>
          <p:cNvSpPr/>
          <p:nvPr/>
        </p:nvSpPr>
        <p:spPr>
          <a:xfrm>
            <a:off x="2458085" y="6667436"/>
            <a:ext cx="1379855" cy="185611"/>
          </a:xfrm>
          <a:custGeom>
            <a:avLst/>
            <a:gdLst/>
            <a:ahLst/>
            <a:cxnLst/>
            <a:rect l="0" t="0" r="r" b="b"/>
            <a:pathLst>
              <a:path w="1379855" h="185611">
                <a:moveTo>
                  <a:pt x="0" y="0"/>
                </a:moveTo>
                <a:cubicBezTo>
                  <a:pt x="45974" y="2413"/>
                  <a:pt x="252984" y="13144"/>
                  <a:pt x="344995" y="17970"/>
                </a:cubicBezTo>
                <a:cubicBezTo>
                  <a:pt x="436944" y="22733"/>
                  <a:pt x="597916" y="32703"/>
                  <a:pt x="689927" y="35941"/>
                </a:cubicBezTo>
                <a:cubicBezTo>
                  <a:pt x="781939" y="39116"/>
                  <a:pt x="942912" y="39497"/>
                  <a:pt x="1034923" y="41910"/>
                </a:cubicBezTo>
                <a:cubicBezTo>
                  <a:pt x="1126871" y="44323"/>
                  <a:pt x="1333881" y="52261"/>
                  <a:pt x="1379855" y="53848"/>
                </a:cubicBezTo>
                <a:lnTo>
                  <a:pt x="1379855" y="185611"/>
                </a:lnTo>
                <a:cubicBezTo>
                  <a:pt x="1333881" y="178435"/>
                  <a:pt x="1126871" y="143700"/>
                  <a:pt x="1034923" y="131699"/>
                </a:cubicBezTo>
                <a:cubicBezTo>
                  <a:pt x="942912" y="119761"/>
                  <a:pt x="781939" y="106172"/>
                  <a:pt x="689927" y="95821"/>
                </a:cubicBezTo>
                <a:cubicBezTo>
                  <a:pt x="597916" y="85408"/>
                  <a:pt x="436944" y="64262"/>
                  <a:pt x="344995" y="53848"/>
                </a:cubicBezTo>
                <a:cubicBezTo>
                  <a:pt x="252984" y="43497"/>
                  <a:pt x="45974" y="22733"/>
                  <a:pt x="0" y="17970"/>
                </a:cubicBezTo>
                <a:close/>
              </a:path>
            </a:pathLst>
          </a:custGeom>
          <a:gradFill rotWithShape="1">
            <a:gsLst>
              <a:gs pos="0">
                <a:srgbClr val="4385C8"/>
              </a:gs>
              <a:gs pos="100000">
                <a:srgbClr val="2E77C2"/>
              </a:gs>
            </a:gsLst>
            <a:lin ang="0" scaled="0"/>
          </a:gradFill>
          <a:ln w="260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03" name="m-d44_stream-sl-3">
            <a:extLst>
              <a:ext uri="{FF2B5EF4-FFF2-40B4-BE49-F238E27FC236}">
                <a16:creationId xmlns:a16="http://schemas.microsoft.com/office/drawing/2014/main" id="{2DA600CD-9E75-DEF8-12C9-9BFD4652E471}"/>
              </a:ext>
            </a:extLst>
          </p:cNvPr>
          <p:cNvSpPr txBox="1"/>
          <p:nvPr/>
        </p:nvSpPr>
        <p:spPr>
          <a:xfrm>
            <a:off x="3861319" y="6767665"/>
            <a:ext cx="113643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数据服务</a:t>
            </a:r>
          </a:p>
        </p:txBody>
      </p:sp>
      <p:sp>
        <p:nvSpPr>
          <p:cNvPr id="2004" name="m-d44_stream-sv-3">
            <a:extLst>
              <a:ext uri="{FF2B5EF4-FFF2-40B4-BE49-F238E27FC236}">
                <a16:creationId xmlns:a16="http://schemas.microsoft.com/office/drawing/2014/main" id="{8735E670-D11B-EC26-1738-A2EE916F0F1E}"/>
              </a:ext>
            </a:extLst>
          </p:cNvPr>
          <p:cNvSpPr txBox="1"/>
          <p:nvPr/>
        </p:nvSpPr>
        <p:spPr>
          <a:xfrm>
            <a:off x="3970823" y="6769273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2E77C2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2.2</a:t>
            </a:r>
          </a:p>
        </p:txBody>
      </p:sp>
      <p:sp>
        <p:nvSpPr>
          <p:cNvPr id="2005" name="m-d44_stream-st-4">
            <a:extLst>
              <a:ext uri="{FF2B5EF4-FFF2-40B4-BE49-F238E27FC236}">
                <a16:creationId xmlns:a16="http://schemas.microsoft.com/office/drawing/2014/main" id="{5CB72402-9779-F444-3EA4-60D1A7ADB942}"/>
              </a:ext>
            </a:extLst>
          </p:cNvPr>
          <p:cNvSpPr/>
          <p:nvPr/>
        </p:nvSpPr>
        <p:spPr>
          <a:xfrm>
            <a:off x="2458085" y="6685407"/>
            <a:ext cx="1379855" cy="215519"/>
          </a:xfrm>
          <a:custGeom>
            <a:avLst/>
            <a:gdLst/>
            <a:ahLst/>
            <a:cxnLst/>
            <a:rect l="0" t="0" r="r" b="b"/>
            <a:pathLst>
              <a:path w="1379855" h="215519">
                <a:moveTo>
                  <a:pt x="0" y="0"/>
                </a:moveTo>
                <a:cubicBezTo>
                  <a:pt x="45974" y="4762"/>
                  <a:pt x="252984" y="25527"/>
                  <a:pt x="344995" y="35878"/>
                </a:cubicBezTo>
                <a:cubicBezTo>
                  <a:pt x="436944" y="46291"/>
                  <a:pt x="597916" y="67437"/>
                  <a:pt x="689927" y="77851"/>
                </a:cubicBezTo>
                <a:cubicBezTo>
                  <a:pt x="781939" y="88202"/>
                  <a:pt x="942912" y="101790"/>
                  <a:pt x="1034923" y="113729"/>
                </a:cubicBezTo>
                <a:cubicBezTo>
                  <a:pt x="1126871" y="125730"/>
                  <a:pt x="1333881" y="160464"/>
                  <a:pt x="1379855" y="167640"/>
                </a:cubicBezTo>
                <a:lnTo>
                  <a:pt x="1379855" y="215519"/>
                </a:lnTo>
                <a:cubicBezTo>
                  <a:pt x="1333881" y="209169"/>
                  <a:pt x="1126871" y="178816"/>
                  <a:pt x="1034923" y="167640"/>
                </a:cubicBezTo>
                <a:cubicBezTo>
                  <a:pt x="942912" y="156464"/>
                  <a:pt x="781939" y="141288"/>
                  <a:pt x="689927" y="131699"/>
                </a:cubicBezTo>
                <a:cubicBezTo>
                  <a:pt x="597916" y="122111"/>
                  <a:pt x="436944" y="105347"/>
                  <a:pt x="344995" y="95758"/>
                </a:cubicBezTo>
                <a:cubicBezTo>
                  <a:pt x="252984" y="86233"/>
                  <a:pt x="45974" y="64643"/>
                  <a:pt x="0" y="59881"/>
                </a:cubicBezTo>
                <a:close/>
              </a:path>
            </a:pathLst>
          </a:custGeom>
          <a:gradFill rotWithShape="1">
            <a:gsLst>
              <a:gs pos="0">
                <a:srgbClr val="589FDB"/>
              </a:gs>
              <a:gs pos="100000">
                <a:srgbClr val="4694D7"/>
              </a:gs>
            </a:gsLst>
            <a:lin ang="0" scaled="0"/>
          </a:gradFill>
          <a:ln w="260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06" name="m-d44_stream-sl-4">
            <a:extLst>
              <a:ext uri="{FF2B5EF4-FFF2-40B4-BE49-F238E27FC236}">
                <a16:creationId xmlns:a16="http://schemas.microsoft.com/office/drawing/2014/main" id="{5CE5071D-243E-A63D-B7B7-3876B822FFEA}"/>
              </a:ext>
            </a:extLst>
          </p:cNvPr>
          <p:cNvSpPr txBox="1"/>
          <p:nvPr/>
        </p:nvSpPr>
        <p:spPr>
          <a:xfrm>
            <a:off x="3861319" y="6857486"/>
            <a:ext cx="66780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咨询</a:t>
            </a:r>
          </a:p>
        </p:txBody>
      </p:sp>
      <p:sp>
        <p:nvSpPr>
          <p:cNvPr id="2007" name="m-d44_stream-sv-4">
            <a:extLst>
              <a:ext uri="{FF2B5EF4-FFF2-40B4-BE49-F238E27FC236}">
                <a16:creationId xmlns:a16="http://schemas.microsoft.com/office/drawing/2014/main" id="{651905E0-35FB-6B98-3135-A3C15BB073E1}"/>
              </a:ext>
            </a:extLst>
          </p:cNvPr>
          <p:cNvSpPr txBox="1"/>
          <p:nvPr/>
        </p:nvSpPr>
        <p:spPr>
          <a:xfrm>
            <a:off x="3923960" y="6859093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4694D7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0.8</a:t>
            </a:r>
          </a:p>
        </p:txBody>
      </p:sp>
      <p:sp>
        <p:nvSpPr>
          <p:cNvPr id="2008" name="m-d44_stream-st-5">
            <a:extLst>
              <a:ext uri="{FF2B5EF4-FFF2-40B4-BE49-F238E27FC236}">
                <a16:creationId xmlns:a16="http://schemas.microsoft.com/office/drawing/2014/main" id="{142C67A9-2EA0-11C0-8B9F-8855222BEF21}"/>
              </a:ext>
            </a:extLst>
          </p:cNvPr>
          <p:cNvSpPr/>
          <p:nvPr/>
        </p:nvSpPr>
        <p:spPr>
          <a:xfrm>
            <a:off x="2458085" y="6745288"/>
            <a:ext cx="1379855" cy="179641"/>
          </a:xfrm>
          <a:custGeom>
            <a:avLst/>
            <a:gdLst/>
            <a:ahLst/>
            <a:cxnLst/>
            <a:rect l="0" t="0" r="r" b="b"/>
            <a:pathLst>
              <a:path w="1379855" h="179641">
                <a:moveTo>
                  <a:pt x="0" y="0"/>
                </a:moveTo>
                <a:cubicBezTo>
                  <a:pt x="45974" y="4762"/>
                  <a:pt x="252984" y="26353"/>
                  <a:pt x="344995" y="35878"/>
                </a:cubicBezTo>
                <a:cubicBezTo>
                  <a:pt x="436944" y="45466"/>
                  <a:pt x="597916" y="62230"/>
                  <a:pt x="689927" y="71818"/>
                </a:cubicBezTo>
                <a:cubicBezTo>
                  <a:pt x="781939" y="81407"/>
                  <a:pt x="942912" y="96584"/>
                  <a:pt x="1034923" y="107760"/>
                </a:cubicBezTo>
                <a:cubicBezTo>
                  <a:pt x="1126871" y="118936"/>
                  <a:pt x="1333881" y="149288"/>
                  <a:pt x="1379855" y="155638"/>
                </a:cubicBezTo>
                <a:lnTo>
                  <a:pt x="1379855" y="179641"/>
                </a:lnTo>
                <a:cubicBezTo>
                  <a:pt x="1333881" y="173228"/>
                  <a:pt x="1126871" y="142875"/>
                  <a:pt x="1034923" y="131699"/>
                </a:cubicBezTo>
                <a:cubicBezTo>
                  <a:pt x="942912" y="120523"/>
                  <a:pt x="781939" y="104585"/>
                  <a:pt x="689927" y="95821"/>
                </a:cubicBezTo>
                <a:cubicBezTo>
                  <a:pt x="597916" y="86995"/>
                  <a:pt x="436944" y="74612"/>
                  <a:pt x="344995" y="65849"/>
                </a:cubicBezTo>
                <a:cubicBezTo>
                  <a:pt x="252984" y="57087"/>
                  <a:pt x="45974" y="34735"/>
                  <a:pt x="0" y="29909"/>
                </a:cubicBezTo>
                <a:close/>
              </a:path>
            </a:pathLst>
          </a:custGeom>
          <a:gradFill rotWithShape="1">
            <a:gsLst>
              <a:gs pos="0">
                <a:srgbClr val="BECDDF"/>
              </a:gs>
              <a:gs pos="100000">
                <a:srgbClr val="B7C7DB"/>
              </a:gs>
            </a:gsLst>
            <a:lin ang="0" scaled="0"/>
          </a:gradFill>
          <a:ln w="260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09" name="m-d44_stream-sl-5">
            <a:extLst>
              <a:ext uri="{FF2B5EF4-FFF2-40B4-BE49-F238E27FC236}">
                <a16:creationId xmlns:a16="http://schemas.microsoft.com/office/drawing/2014/main" id="{B4E6413C-17C8-1D44-138C-98DCC07AF11F}"/>
              </a:ext>
            </a:extLst>
          </p:cNvPr>
          <p:cNvSpPr txBox="1"/>
          <p:nvPr/>
        </p:nvSpPr>
        <p:spPr>
          <a:xfrm>
            <a:off x="3861319" y="6893414"/>
            <a:ext cx="66780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其他</a:t>
            </a:r>
          </a:p>
        </p:txBody>
      </p:sp>
      <p:sp>
        <p:nvSpPr>
          <p:cNvPr id="2010" name="m-d44_stream-sv-5">
            <a:extLst>
              <a:ext uri="{FF2B5EF4-FFF2-40B4-BE49-F238E27FC236}">
                <a16:creationId xmlns:a16="http://schemas.microsoft.com/office/drawing/2014/main" id="{0FCEE85E-AF09-2364-8DD8-842BCE215A48}"/>
              </a:ext>
            </a:extLst>
          </p:cNvPr>
          <p:cNvSpPr txBox="1"/>
          <p:nvPr/>
        </p:nvSpPr>
        <p:spPr>
          <a:xfrm>
            <a:off x="3923960" y="6895022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0.4</a:t>
            </a:r>
          </a:p>
        </p:txBody>
      </p:sp>
      <p:cxnSp>
        <p:nvCxnSpPr>
          <p:cNvPr id="2011" name="m-d44_stream-vg-2022">
            <a:extLst>
              <a:ext uri="{FF2B5EF4-FFF2-40B4-BE49-F238E27FC236}">
                <a16:creationId xmlns:a16="http://schemas.microsoft.com/office/drawing/2014/main" id="{4AC51801-DE7D-B036-110A-700872FE049B}"/>
              </a:ext>
            </a:extLst>
          </p:cNvPr>
          <p:cNvCxnSpPr/>
          <p:nvPr/>
        </p:nvCxnSpPr>
        <p:spPr>
          <a:xfrm>
            <a:off x="2458085" y="6192285"/>
            <a:ext cx="0" cy="758660"/>
          </a:xfrm>
          <a:prstGeom prst="line">
            <a:avLst/>
          </a:prstGeom>
          <a:ln w="2540" cap="rnd">
            <a:solidFill>
              <a:srgbClr val="0B2545">
                <a:alpha val="6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12" name="m-d44_stream-yr-2022">
            <a:extLst>
              <a:ext uri="{FF2B5EF4-FFF2-40B4-BE49-F238E27FC236}">
                <a16:creationId xmlns:a16="http://schemas.microsoft.com/office/drawing/2014/main" id="{F313AD4D-FB6F-1AFC-2115-893426BC4053}"/>
              </a:ext>
            </a:extLst>
          </p:cNvPr>
          <p:cNvSpPr txBox="1"/>
          <p:nvPr/>
        </p:nvSpPr>
        <p:spPr>
          <a:xfrm>
            <a:off x="2421298" y="6968870"/>
            <a:ext cx="73575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2022</a:t>
            </a:r>
          </a:p>
        </p:txBody>
      </p:sp>
      <p:sp>
        <p:nvSpPr>
          <p:cNvPr id="2013" name="m-d44_stream-tot-2022">
            <a:extLst>
              <a:ext uri="{FF2B5EF4-FFF2-40B4-BE49-F238E27FC236}">
                <a16:creationId xmlns:a16="http://schemas.microsoft.com/office/drawing/2014/main" id="{236FA069-09DB-EC69-252A-6EC3A8F6D366}"/>
              </a:ext>
            </a:extLst>
          </p:cNvPr>
          <p:cNvSpPr txBox="1"/>
          <p:nvPr/>
        </p:nvSpPr>
        <p:spPr>
          <a:xfrm>
            <a:off x="2417666" y="6323078"/>
            <a:ext cx="80839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6.8 亿</a:t>
            </a:r>
          </a:p>
        </p:txBody>
      </p:sp>
      <p:cxnSp>
        <p:nvCxnSpPr>
          <p:cNvPr id="2014" name="m-d44_stream-vg-2023">
            <a:extLst>
              <a:ext uri="{FF2B5EF4-FFF2-40B4-BE49-F238E27FC236}">
                <a16:creationId xmlns:a16="http://schemas.microsoft.com/office/drawing/2014/main" id="{1FA7F9BA-A672-50F0-204A-C64691D56CFE}"/>
              </a:ext>
            </a:extLst>
          </p:cNvPr>
          <p:cNvCxnSpPr/>
          <p:nvPr/>
        </p:nvCxnSpPr>
        <p:spPr>
          <a:xfrm>
            <a:off x="2803049" y="6192285"/>
            <a:ext cx="0" cy="758660"/>
          </a:xfrm>
          <a:prstGeom prst="line">
            <a:avLst/>
          </a:prstGeom>
          <a:ln w="2540" cap="rnd">
            <a:solidFill>
              <a:srgbClr val="0B2545">
                <a:alpha val="6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15" name="m-d44_stream-yr-2023">
            <a:extLst>
              <a:ext uri="{FF2B5EF4-FFF2-40B4-BE49-F238E27FC236}">
                <a16:creationId xmlns:a16="http://schemas.microsoft.com/office/drawing/2014/main" id="{EAE163A1-674C-1EB7-2DCA-40ABDC237F86}"/>
              </a:ext>
            </a:extLst>
          </p:cNvPr>
          <p:cNvSpPr txBox="1"/>
          <p:nvPr/>
        </p:nvSpPr>
        <p:spPr>
          <a:xfrm>
            <a:off x="2766261" y="6968870"/>
            <a:ext cx="73575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2023</a:t>
            </a:r>
          </a:p>
        </p:txBody>
      </p:sp>
      <p:sp>
        <p:nvSpPr>
          <p:cNvPr id="2016" name="m-d44_stream-tot-2023">
            <a:extLst>
              <a:ext uri="{FF2B5EF4-FFF2-40B4-BE49-F238E27FC236}">
                <a16:creationId xmlns:a16="http://schemas.microsoft.com/office/drawing/2014/main" id="{EA14DB38-4471-84CB-C34C-69486B0F0753}"/>
              </a:ext>
            </a:extLst>
          </p:cNvPr>
          <p:cNvSpPr txBox="1"/>
          <p:nvPr/>
        </p:nvSpPr>
        <p:spPr>
          <a:xfrm>
            <a:off x="2762629" y="6287150"/>
            <a:ext cx="80839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8.0 亿</a:t>
            </a:r>
          </a:p>
        </p:txBody>
      </p:sp>
      <p:cxnSp>
        <p:nvCxnSpPr>
          <p:cNvPr id="2017" name="m-d44_stream-vg-2024">
            <a:extLst>
              <a:ext uri="{FF2B5EF4-FFF2-40B4-BE49-F238E27FC236}">
                <a16:creationId xmlns:a16="http://schemas.microsoft.com/office/drawing/2014/main" id="{DDB77F84-8942-27B2-DF9D-45F90EA55C55}"/>
              </a:ext>
            </a:extLst>
          </p:cNvPr>
          <p:cNvCxnSpPr/>
          <p:nvPr/>
        </p:nvCxnSpPr>
        <p:spPr>
          <a:xfrm>
            <a:off x="3148012" y="6192285"/>
            <a:ext cx="0" cy="758660"/>
          </a:xfrm>
          <a:prstGeom prst="line">
            <a:avLst/>
          </a:prstGeom>
          <a:ln w="2540" cap="rnd">
            <a:solidFill>
              <a:srgbClr val="0B2545">
                <a:alpha val="6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18" name="m-d44_stream-yr-2024">
            <a:extLst>
              <a:ext uri="{FF2B5EF4-FFF2-40B4-BE49-F238E27FC236}">
                <a16:creationId xmlns:a16="http://schemas.microsoft.com/office/drawing/2014/main" id="{97BBCEBC-784A-850E-D350-E6C151E5ED28}"/>
              </a:ext>
            </a:extLst>
          </p:cNvPr>
          <p:cNvSpPr txBox="1"/>
          <p:nvPr/>
        </p:nvSpPr>
        <p:spPr>
          <a:xfrm>
            <a:off x="3111225" y="6968870"/>
            <a:ext cx="73575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2024</a:t>
            </a:r>
          </a:p>
        </p:txBody>
      </p:sp>
      <p:sp>
        <p:nvSpPr>
          <p:cNvPr id="2019" name="m-d44_stream-tot-2024">
            <a:extLst>
              <a:ext uri="{FF2B5EF4-FFF2-40B4-BE49-F238E27FC236}">
                <a16:creationId xmlns:a16="http://schemas.microsoft.com/office/drawing/2014/main" id="{0DC79DE3-DF32-D996-764A-D59FEC5A9E67}"/>
              </a:ext>
            </a:extLst>
          </p:cNvPr>
          <p:cNvSpPr txBox="1"/>
          <p:nvPr/>
        </p:nvSpPr>
        <p:spPr>
          <a:xfrm>
            <a:off x="3107593" y="6257210"/>
            <a:ext cx="80839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9.0 亿</a:t>
            </a:r>
          </a:p>
        </p:txBody>
      </p:sp>
      <p:cxnSp>
        <p:nvCxnSpPr>
          <p:cNvPr id="2020" name="m-d44_stream-vg-2025">
            <a:extLst>
              <a:ext uri="{FF2B5EF4-FFF2-40B4-BE49-F238E27FC236}">
                <a16:creationId xmlns:a16="http://schemas.microsoft.com/office/drawing/2014/main" id="{BAE44C86-21AF-4526-BB22-C6FAAEDA3728}"/>
              </a:ext>
            </a:extLst>
          </p:cNvPr>
          <p:cNvCxnSpPr/>
          <p:nvPr/>
        </p:nvCxnSpPr>
        <p:spPr>
          <a:xfrm>
            <a:off x="3492976" y="6192285"/>
            <a:ext cx="0" cy="758660"/>
          </a:xfrm>
          <a:prstGeom prst="line">
            <a:avLst/>
          </a:prstGeom>
          <a:ln w="2540" cap="rnd">
            <a:solidFill>
              <a:srgbClr val="0B2545">
                <a:alpha val="6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21" name="m-d44_stream-yr-2025">
            <a:extLst>
              <a:ext uri="{FF2B5EF4-FFF2-40B4-BE49-F238E27FC236}">
                <a16:creationId xmlns:a16="http://schemas.microsoft.com/office/drawing/2014/main" id="{2E324B26-C670-BDFB-0C54-299DDB378B89}"/>
              </a:ext>
            </a:extLst>
          </p:cNvPr>
          <p:cNvSpPr txBox="1"/>
          <p:nvPr/>
        </p:nvSpPr>
        <p:spPr>
          <a:xfrm>
            <a:off x="3456189" y="6968870"/>
            <a:ext cx="73575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2025</a:t>
            </a:r>
          </a:p>
        </p:txBody>
      </p:sp>
      <p:sp>
        <p:nvSpPr>
          <p:cNvPr id="2022" name="m-d44_stream-tot-2025">
            <a:extLst>
              <a:ext uri="{FF2B5EF4-FFF2-40B4-BE49-F238E27FC236}">
                <a16:creationId xmlns:a16="http://schemas.microsoft.com/office/drawing/2014/main" id="{533AE75D-CD51-E448-AA7C-67D70DCB18C2}"/>
              </a:ext>
            </a:extLst>
          </p:cNvPr>
          <p:cNvSpPr txBox="1"/>
          <p:nvPr/>
        </p:nvSpPr>
        <p:spPr>
          <a:xfrm>
            <a:off x="3447090" y="6221282"/>
            <a:ext cx="9177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10.2 亿</a:t>
            </a:r>
          </a:p>
        </p:txBody>
      </p:sp>
      <p:cxnSp>
        <p:nvCxnSpPr>
          <p:cNvPr id="2023" name="m-d44_stream-vg-2026">
            <a:extLst>
              <a:ext uri="{FF2B5EF4-FFF2-40B4-BE49-F238E27FC236}">
                <a16:creationId xmlns:a16="http://schemas.microsoft.com/office/drawing/2014/main" id="{6740C6AC-613F-2740-3EE2-5B0DA781ECB3}"/>
              </a:ext>
            </a:extLst>
          </p:cNvPr>
          <p:cNvCxnSpPr/>
          <p:nvPr/>
        </p:nvCxnSpPr>
        <p:spPr>
          <a:xfrm>
            <a:off x="3837940" y="6192285"/>
            <a:ext cx="0" cy="758660"/>
          </a:xfrm>
          <a:prstGeom prst="line">
            <a:avLst/>
          </a:prstGeom>
          <a:ln w="2540" cap="rnd">
            <a:solidFill>
              <a:srgbClr val="0B2545">
                <a:alpha val="6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24" name="m-d44_stream-yr-2026">
            <a:extLst>
              <a:ext uri="{FF2B5EF4-FFF2-40B4-BE49-F238E27FC236}">
                <a16:creationId xmlns:a16="http://schemas.microsoft.com/office/drawing/2014/main" id="{1BEAA161-4925-9939-961F-21C6B371CFBB}"/>
              </a:ext>
            </a:extLst>
          </p:cNvPr>
          <p:cNvSpPr txBox="1"/>
          <p:nvPr/>
        </p:nvSpPr>
        <p:spPr>
          <a:xfrm>
            <a:off x="3801153" y="6968870"/>
            <a:ext cx="73575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2026</a:t>
            </a:r>
          </a:p>
        </p:txBody>
      </p:sp>
      <p:sp>
        <p:nvSpPr>
          <p:cNvPr id="2025" name="m-d44_stream-tot-2026">
            <a:extLst>
              <a:ext uri="{FF2B5EF4-FFF2-40B4-BE49-F238E27FC236}">
                <a16:creationId xmlns:a16="http://schemas.microsoft.com/office/drawing/2014/main" id="{54C98818-BE9F-4067-6930-9B0F78141C3D}"/>
              </a:ext>
            </a:extLst>
          </p:cNvPr>
          <p:cNvSpPr txBox="1"/>
          <p:nvPr/>
        </p:nvSpPr>
        <p:spPr>
          <a:xfrm>
            <a:off x="3792053" y="6173377"/>
            <a:ext cx="9177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11.8 亿</a:t>
            </a:r>
          </a:p>
        </p:txBody>
      </p:sp>
      <p:sp>
        <p:nvSpPr>
          <p:cNvPr id="2026" name="m-d44_stream-rh">
            <a:extLst>
              <a:ext uri="{FF2B5EF4-FFF2-40B4-BE49-F238E27FC236}">
                <a16:creationId xmlns:a16="http://schemas.microsoft.com/office/drawing/2014/main" id="{A5994621-ED36-0E21-3E11-C8456B40F179}"/>
              </a:ext>
            </a:extLst>
          </p:cNvPr>
          <p:cNvSpPr txBox="1"/>
          <p:nvPr/>
        </p:nvSpPr>
        <p:spPr>
          <a:xfrm>
            <a:off x="4120420" y="6140898"/>
            <a:ext cx="169878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占比变化</a:t>
            </a:r>
          </a:p>
        </p:txBody>
      </p:sp>
      <p:sp>
        <p:nvSpPr>
          <p:cNvPr id="2027" name="m-d44_stream-rp">
            <a:extLst>
              <a:ext uri="{FF2B5EF4-FFF2-40B4-BE49-F238E27FC236}">
                <a16:creationId xmlns:a16="http://schemas.microsoft.com/office/drawing/2014/main" id="{8E560CDF-00CD-BDC1-91A4-AA5EE2092A14}"/>
              </a:ext>
            </a:extLst>
          </p:cNvPr>
          <p:cNvSpPr txBox="1"/>
          <p:nvPr/>
        </p:nvSpPr>
        <p:spPr>
          <a:xfrm>
            <a:off x="4121982" y="6198631"/>
            <a:ext cx="137855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2022 → 2026</a:t>
            </a:r>
          </a:p>
        </p:txBody>
      </p:sp>
      <p:sp>
        <p:nvSpPr>
          <p:cNvPr id="2028" name="m-d44_stream-c-1">
            <a:extLst>
              <a:ext uri="{FF2B5EF4-FFF2-40B4-BE49-F238E27FC236}">
                <a16:creationId xmlns:a16="http://schemas.microsoft.com/office/drawing/2014/main" id="{4D118E39-B721-1132-CE37-104584C43150}"/>
              </a:ext>
            </a:extLst>
          </p:cNvPr>
          <p:cNvSpPr/>
          <p:nvPr/>
        </p:nvSpPr>
        <p:spPr>
          <a:xfrm>
            <a:off x="4124325" y="6272212"/>
            <a:ext cx="351473" cy="169227"/>
          </a:xfrm>
          <a:custGeom>
            <a:avLst/>
            <a:gdLst/>
            <a:ahLst/>
            <a:cxnLst/>
            <a:rect l="0" t="0" r="r" b="b"/>
            <a:pathLst>
              <a:path w="351473" h="169227">
                <a:moveTo>
                  <a:pt x="23432" y="0"/>
                </a:moveTo>
                <a:lnTo>
                  <a:pt x="328041" y="0"/>
                </a:lnTo>
                <a:cubicBezTo>
                  <a:pt x="340995" y="0"/>
                  <a:pt x="351473" y="10477"/>
                  <a:pt x="351473" y="23432"/>
                </a:cubicBezTo>
                <a:lnTo>
                  <a:pt x="351473" y="145796"/>
                </a:lnTo>
                <a:cubicBezTo>
                  <a:pt x="351473" y="158750"/>
                  <a:pt x="340995" y="169227"/>
                  <a:pt x="328041" y="169227"/>
                </a:cubicBezTo>
                <a:lnTo>
                  <a:pt x="23432" y="169227"/>
                </a:lnTo>
                <a:cubicBezTo>
                  <a:pt x="10477" y="169227"/>
                  <a:pt x="0" y="158750"/>
                  <a:pt x="0" y="145796"/>
                </a:cubicBezTo>
                <a:lnTo>
                  <a:pt x="0" y="23432"/>
                </a:lnTo>
                <a:cubicBezTo>
                  <a:pt x="0" y="10477"/>
                  <a:pt x="10477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29" name="m-d44_stream-cb-1">
            <a:extLst>
              <a:ext uri="{FF2B5EF4-FFF2-40B4-BE49-F238E27FC236}">
                <a16:creationId xmlns:a16="http://schemas.microsoft.com/office/drawing/2014/main" id="{A4CC5E51-7BD9-0828-7C69-612CB0E5A844}"/>
              </a:ext>
            </a:extLst>
          </p:cNvPr>
          <p:cNvSpPr/>
          <p:nvPr/>
        </p:nvSpPr>
        <p:spPr>
          <a:xfrm>
            <a:off x="4124325" y="6272212"/>
            <a:ext cx="7811" cy="169227"/>
          </a:xfrm>
          <a:custGeom>
            <a:avLst/>
            <a:gdLst/>
            <a:ahLst/>
            <a:cxnLst/>
            <a:rect l="0" t="0" r="r" b="b"/>
            <a:pathLst>
              <a:path w="7811" h="169227">
                <a:moveTo>
                  <a:pt x="3937" y="0"/>
                </a:moveTo>
                <a:lnTo>
                  <a:pt x="3937" y="0"/>
                </a:lnTo>
                <a:cubicBezTo>
                  <a:pt x="6096" y="0"/>
                  <a:pt x="7811" y="1714"/>
                  <a:pt x="7811" y="3937"/>
                </a:cubicBezTo>
                <a:lnTo>
                  <a:pt x="7811" y="165290"/>
                </a:lnTo>
                <a:cubicBezTo>
                  <a:pt x="7811" y="167513"/>
                  <a:pt x="6096" y="169227"/>
                  <a:pt x="3937" y="169227"/>
                </a:cubicBezTo>
                <a:lnTo>
                  <a:pt x="3937" y="169227"/>
                </a:lnTo>
                <a:cubicBezTo>
                  <a:pt x="1714" y="169227"/>
                  <a:pt x="0" y="167513"/>
                  <a:pt x="0" y="165290"/>
                </a:cubicBezTo>
                <a:lnTo>
                  <a:pt x="0" y="3937"/>
                </a:lnTo>
                <a:cubicBezTo>
                  <a:pt x="0" y="1714"/>
                  <a:pt x="1714" y="0"/>
                  <a:pt x="3937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30" name="m-d44_stream-cn-1">
            <a:extLst>
              <a:ext uri="{FF2B5EF4-FFF2-40B4-BE49-F238E27FC236}">
                <a16:creationId xmlns:a16="http://schemas.microsoft.com/office/drawing/2014/main" id="{E8C4764E-B46D-CC2A-4E73-67F11C9D17B0}"/>
              </a:ext>
            </a:extLst>
          </p:cNvPr>
          <p:cNvSpPr txBox="1"/>
          <p:nvPr/>
        </p:nvSpPr>
        <p:spPr>
          <a:xfrm>
            <a:off x="4155359" y="6295345"/>
            <a:ext cx="12002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企业软件</a:t>
            </a:r>
          </a:p>
        </p:txBody>
      </p:sp>
      <p:sp>
        <p:nvSpPr>
          <p:cNvPr id="2031" name="m-d44_stream-ca-1">
            <a:extLst>
              <a:ext uri="{FF2B5EF4-FFF2-40B4-BE49-F238E27FC236}">
                <a16:creationId xmlns:a16="http://schemas.microsoft.com/office/drawing/2014/main" id="{052CAADE-7418-4A13-4DD2-7BC1DB119848}"/>
              </a:ext>
            </a:extLst>
          </p:cNvPr>
          <p:cNvSpPr txBox="1"/>
          <p:nvPr/>
        </p:nvSpPr>
        <p:spPr>
          <a:xfrm>
            <a:off x="4155046" y="6359820"/>
            <a:ext cx="67170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0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62%</a:t>
            </a:r>
          </a:p>
        </p:txBody>
      </p:sp>
      <p:sp>
        <p:nvSpPr>
          <p:cNvPr id="2032" name="m-d44_stream-car-1">
            <a:extLst>
              <a:ext uri="{FF2B5EF4-FFF2-40B4-BE49-F238E27FC236}">
                <a16:creationId xmlns:a16="http://schemas.microsoft.com/office/drawing/2014/main" id="{8CF49C30-4C0C-2B8D-B0B2-C09D97DD7A25}"/>
              </a:ext>
            </a:extLst>
          </p:cNvPr>
          <p:cNvSpPr txBox="1"/>
          <p:nvPr/>
        </p:nvSpPr>
        <p:spPr>
          <a:xfrm>
            <a:off x="4251688" y="6360432"/>
            <a:ext cx="3421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→</a:t>
            </a:r>
          </a:p>
        </p:txBody>
      </p:sp>
      <p:sp>
        <p:nvSpPr>
          <p:cNvPr id="2033" name="m-d44_stream-cv-1">
            <a:extLst>
              <a:ext uri="{FF2B5EF4-FFF2-40B4-BE49-F238E27FC236}">
                <a16:creationId xmlns:a16="http://schemas.microsoft.com/office/drawing/2014/main" id="{A27244A7-F81F-7A3F-2C97-95181D83C0C7}"/>
              </a:ext>
            </a:extLst>
          </p:cNvPr>
          <p:cNvSpPr txBox="1"/>
          <p:nvPr/>
        </p:nvSpPr>
        <p:spPr>
          <a:xfrm>
            <a:off x="4335677" y="6339917"/>
            <a:ext cx="114190" cy="7745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5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42%</a:t>
            </a:r>
          </a:p>
        </p:txBody>
      </p:sp>
      <p:sp>
        <p:nvSpPr>
          <p:cNvPr id="2034" name="m-d44_stream-c-2">
            <a:extLst>
              <a:ext uri="{FF2B5EF4-FFF2-40B4-BE49-F238E27FC236}">
                <a16:creationId xmlns:a16="http://schemas.microsoft.com/office/drawing/2014/main" id="{84322115-57C9-3AEF-B630-21A18150816E}"/>
              </a:ext>
            </a:extLst>
          </p:cNvPr>
          <p:cNvSpPr/>
          <p:nvPr/>
        </p:nvSpPr>
        <p:spPr>
          <a:xfrm>
            <a:off x="4124325" y="6467475"/>
            <a:ext cx="351473" cy="169228"/>
          </a:xfrm>
          <a:custGeom>
            <a:avLst/>
            <a:gdLst/>
            <a:ahLst/>
            <a:cxnLst/>
            <a:rect l="0" t="0" r="r" b="b"/>
            <a:pathLst>
              <a:path w="351473" h="169228">
                <a:moveTo>
                  <a:pt x="23432" y="0"/>
                </a:moveTo>
                <a:lnTo>
                  <a:pt x="328041" y="0"/>
                </a:lnTo>
                <a:cubicBezTo>
                  <a:pt x="340995" y="0"/>
                  <a:pt x="351473" y="10477"/>
                  <a:pt x="351473" y="23432"/>
                </a:cubicBezTo>
                <a:lnTo>
                  <a:pt x="351473" y="145796"/>
                </a:lnTo>
                <a:cubicBezTo>
                  <a:pt x="351473" y="158750"/>
                  <a:pt x="340995" y="169228"/>
                  <a:pt x="328041" y="169228"/>
                </a:cubicBezTo>
                <a:lnTo>
                  <a:pt x="23432" y="169228"/>
                </a:lnTo>
                <a:cubicBezTo>
                  <a:pt x="10477" y="169228"/>
                  <a:pt x="0" y="158750"/>
                  <a:pt x="0" y="145796"/>
                </a:cubicBezTo>
                <a:lnTo>
                  <a:pt x="0" y="23432"/>
                </a:lnTo>
                <a:cubicBezTo>
                  <a:pt x="0" y="10477"/>
                  <a:pt x="10477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35" name="m-d44_stream-cb-2">
            <a:extLst>
              <a:ext uri="{FF2B5EF4-FFF2-40B4-BE49-F238E27FC236}">
                <a16:creationId xmlns:a16="http://schemas.microsoft.com/office/drawing/2014/main" id="{B2631409-F1DD-30DD-5616-27F1AAB9F741}"/>
              </a:ext>
            </a:extLst>
          </p:cNvPr>
          <p:cNvSpPr/>
          <p:nvPr/>
        </p:nvSpPr>
        <p:spPr>
          <a:xfrm>
            <a:off x="4124325" y="6467475"/>
            <a:ext cx="7811" cy="169228"/>
          </a:xfrm>
          <a:custGeom>
            <a:avLst/>
            <a:gdLst/>
            <a:ahLst/>
            <a:cxnLst/>
            <a:rect l="0" t="0" r="r" b="b"/>
            <a:pathLst>
              <a:path w="7811" h="169228">
                <a:moveTo>
                  <a:pt x="3937" y="0"/>
                </a:moveTo>
                <a:lnTo>
                  <a:pt x="3937" y="0"/>
                </a:lnTo>
                <a:cubicBezTo>
                  <a:pt x="6096" y="0"/>
                  <a:pt x="7811" y="1714"/>
                  <a:pt x="7811" y="3937"/>
                </a:cubicBezTo>
                <a:lnTo>
                  <a:pt x="7811" y="165354"/>
                </a:lnTo>
                <a:cubicBezTo>
                  <a:pt x="7811" y="167513"/>
                  <a:pt x="6096" y="169228"/>
                  <a:pt x="3937" y="169228"/>
                </a:cubicBezTo>
                <a:lnTo>
                  <a:pt x="3937" y="169228"/>
                </a:lnTo>
                <a:cubicBezTo>
                  <a:pt x="1714" y="169228"/>
                  <a:pt x="0" y="167513"/>
                  <a:pt x="0" y="165354"/>
                </a:cubicBezTo>
                <a:lnTo>
                  <a:pt x="0" y="3937"/>
                </a:lnTo>
                <a:cubicBezTo>
                  <a:pt x="0" y="1714"/>
                  <a:pt x="1714" y="0"/>
                  <a:pt x="3937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36" name="m-d44_stream-cn-2">
            <a:extLst>
              <a:ext uri="{FF2B5EF4-FFF2-40B4-BE49-F238E27FC236}">
                <a16:creationId xmlns:a16="http://schemas.microsoft.com/office/drawing/2014/main" id="{01990BD1-D6E9-A245-06F0-A1A9F3644B65}"/>
              </a:ext>
            </a:extLst>
          </p:cNvPr>
          <p:cNvSpPr txBox="1"/>
          <p:nvPr/>
        </p:nvSpPr>
        <p:spPr>
          <a:xfrm>
            <a:off x="4155359" y="6490607"/>
            <a:ext cx="95288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云服务</a:t>
            </a:r>
          </a:p>
        </p:txBody>
      </p:sp>
      <p:sp>
        <p:nvSpPr>
          <p:cNvPr id="2037" name="m-d44_stream-ca-2">
            <a:extLst>
              <a:ext uri="{FF2B5EF4-FFF2-40B4-BE49-F238E27FC236}">
                <a16:creationId xmlns:a16="http://schemas.microsoft.com/office/drawing/2014/main" id="{85D16BD3-0C64-7DFB-4CA1-F3CC3CDFA4DE}"/>
              </a:ext>
            </a:extLst>
          </p:cNvPr>
          <p:cNvSpPr txBox="1"/>
          <p:nvPr/>
        </p:nvSpPr>
        <p:spPr>
          <a:xfrm>
            <a:off x="4155046" y="6555083"/>
            <a:ext cx="67170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0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12%</a:t>
            </a:r>
          </a:p>
        </p:txBody>
      </p:sp>
      <p:sp>
        <p:nvSpPr>
          <p:cNvPr id="2038" name="m-d44_stream-car-2">
            <a:extLst>
              <a:ext uri="{FF2B5EF4-FFF2-40B4-BE49-F238E27FC236}">
                <a16:creationId xmlns:a16="http://schemas.microsoft.com/office/drawing/2014/main" id="{F76B22BB-BE49-A1FF-0C07-39965336EA49}"/>
              </a:ext>
            </a:extLst>
          </p:cNvPr>
          <p:cNvSpPr txBox="1"/>
          <p:nvPr/>
        </p:nvSpPr>
        <p:spPr>
          <a:xfrm>
            <a:off x="4251688" y="6555695"/>
            <a:ext cx="3421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→</a:t>
            </a:r>
          </a:p>
        </p:txBody>
      </p:sp>
      <p:sp>
        <p:nvSpPr>
          <p:cNvPr id="2039" name="m-d44_stream-cv-2">
            <a:extLst>
              <a:ext uri="{FF2B5EF4-FFF2-40B4-BE49-F238E27FC236}">
                <a16:creationId xmlns:a16="http://schemas.microsoft.com/office/drawing/2014/main" id="{D79209AE-C3B6-9133-7F0F-2C1F97595CFB}"/>
              </a:ext>
            </a:extLst>
          </p:cNvPr>
          <p:cNvSpPr txBox="1"/>
          <p:nvPr/>
        </p:nvSpPr>
        <p:spPr>
          <a:xfrm>
            <a:off x="4335677" y="6535179"/>
            <a:ext cx="114190" cy="7745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29%</a:t>
            </a:r>
          </a:p>
        </p:txBody>
      </p:sp>
      <p:sp>
        <p:nvSpPr>
          <p:cNvPr id="2040" name="m-d44_stream-c-3">
            <a:extLst>
              <a:ext uri="{FF2B5EF4-FFF2-40B4-BE49-F238E27FC236}">
                <a16:creationId xmlns:a16="http://schemas.microsoft.com/office/drawing/2014/main" id="{01C4AE8A-BC1B-5305-EA1A-62B03692F8FF}"/>
              </a:ext>
            </a:extLst>
          </p:cNvPr>
          <p:cNvSpPr/>
          <p:nvPr/>
        </p:nvSpPr>
        <p:spPr>
          <a:xfrm>
            <a:off x="4124325" y="6662738"/>
            <a:ext cx="351473" cy="169228"/>
          </a:xfrm>
          <a:custGeom>
            <a:avLst/>
            <a:gdLst/>
            <a:ahLst/>
            <a:cxnLst/>
            <a:rect l="0" t="0" r="r" b="b"/>
            <a:pathLst>
              <a:path w="351473" h="169228">
                <a:moveTo>
                  <a:pt x="23432" y="0"/>
                </a:moveTo>
                <a:lnTo>
                  <a:pt x="328041" y="0"/>
                </a:lnTo>
                <a:cubicBezTo>
                  <a:pt x="340995" y="0"/>
                  <a:pt x="351473" y="10478"/>
                  <a:pt x="351473" y="23432"/>
                </a:cubicBezTo>
                <a:lnTo>
                  <a:pt x="351473" y="145796"/>
                </a:lnTo>
                <a:cubicBezTo>
                  <a:pt x="351473" y="158750"/>
                  <a:pt x="340995" y="169228"/>
                  <a:pt x="328041" y="169228"/>
                </a:cubicBezTo>
                <a:lnTo>
                  <a:pt x="23432" y="169228"/>
                </a:lnTo>
                <a:cubicBezTo>
                  <a:pt x="10477" y="169228"/>
                  <a:pt x="0" y="158750"/>
                  <a:pt x="0" y="145796"/>
                </a:cubicBezTo>
                <a:lnTo>
                  <a:pt x="0" y="23432"/>
                </a:lnTo>
                <a:cubicBezTo>
                  <a:pt x="0" y="10478"/>
                  <a:pt x="10477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41" name="m-d44_stream-cb-3">
            <a:extLst>
              <a:ext uri="{FF2B5EF4-FFF2-40B4-BE49-F238E27FC236}">
                <a16:creationId xmlns:a16="http://schemas.microsoft.com/office/drawing/2014/main" id="{93611DDC-CE88-DE48-7F2A-E368A62FD723}"/>
              </a:ext>
            </a:extLst>
          </p:cNvPr>
          <p:cNvSpPr/>
          <p:nvPr/>
        </p:nvSpPr>
        <p:spPr>
          <a:xfrm>
            <a:off x="4124325" y="6662738"/>
            <a:ext cx="7811" cy="169228"/>
          </a:xfrm>
          <a:custGeom>
            <a:avLst/>
            <a:gdLst/>
            <a:ahLst/>
            <a:cxnLst/>
            <a:rect l="0" t="0" r="r" b="b"/>
            <a:pathLst>
              <a:path w="7811" h="169228">
                <a:moveTo>
                  <a:pt x="3937" y="0"/>
                </a:moveTo>
                <a:lnTo>
                  <a:pt x="3937" y="0"/>
                </a:lnTo>
                <a:cubicBezTo>
                  <a:pt x="6096" y="0"/>
                  <a:pt x="7811" y="1714"/>
                  <a:pt x="7811" y="3937"/>
                </a:cubicBezTo>
                <a:lnTo>
                  <a:pt x="7811" y="165354"/>
                </a:lnTo>
                <a:cubicBezTo>
                  <a:pt x="7811" y="167513"/>
                  <a:pt x="6096" y="169228"/>
                  <a:pt x="3937" y="169228"/>
                </a:cubicBezTo>
                <a:lnTo>
                  <a:pt x="3937" y="169228"/>
                </a:lnTo>
                <a:cubicBezTo>
                  <a:pt x="1714" y="169228"/>
                  <a:pt x="0" y="167513"/>
                  <a:pt x="0" y="165354"/>
                </a:cubicBezTo>
                <a:lnTo>
                  <a:pt x="0" y="3937"/>
                </a:lnTo>
                <a:cubicBezTo>
                  <a:pt x="0" y="1714"/>
                  <a:pt x="1714" y="0"/>
                  <a:pt x="3937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42" name="m-d44_stream-cn-3">
            <a:extLst>
              <a:ext uri="{FF2B5EF4-FFF2-40B4-BE49-F238E27FC236}">
                <a16:creationId xmlns:a16="http://schemas.microsoft.com/office/drawing/2014/main" id="{E5DC6978-B217-B20B-88CF-C6346E1A3418}"/>
              </a:ext>
            </a:extLst>
          </p:cNvPr>
          <p:cNvSpPr txBox="1"/>
          <p:nvPr/>
        </p:nvSpPr>
        <p:spPr>
          <a:xfrm>
            <a:off x="4155359" y="6685870"/>
            <a:ext cx="12002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数据服务</a:t>
            </a:r>
          </a:p>
        </p:txBody>
      </p:sp>
      <p:sp>
        <p:nvSpPr>
          <p:cNvPr id="2043" name="m-d44_stream-ca-3">
            <a:extLst>
              <a:ext uri="{FF2B5EF4-FFF2-40B4-BE49-F238E27FC236}">
                <a16:creationId xmlns:a16="http://schemas.microsoft.com/office/drawing/2014/main" id="{8184C816-2C6F-444D-DCA8-8C17442040C3}"/>
              </a:ext>
            </a:extLst>
          </p:cNvPr>
          <p:cNvSpPr txBox="1"/>
          <p:nvPr/>
        </p:nvSpPr>
        <p:spPr>
          <a:xfrm>
            <a:off x="4155046" y="6750345"/>
            <a:ext cx="52591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0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4%</a:t>
            </a:r>
          </a:p>
        </p:txBody>
      </p:sp>
      <p:sp>
        <p:nvSpPr>
          <p:cNvPr id="2044" name="m-d44_stream-car-3">
            <a:extLst>
              <a:ext uri="{FF2B5EF4-FFF2-40B4-BE49-F238E27FC236}">
                <a16:creationId xmlns:a16="http://schemas.microsoft.com/office/drawing/2014/main" id="{37098AA2-F03B-D646-2933-55CD824F39DE}"/>
              </a:ext>
            </a:extLst>
          </p:cNvPr>
          <p:cNvSpPr txBox="1"/>
          <p:nvPr/>
        </p:nvSpPr>
        <p:spPr>
          <a:xfrm>
            <a:off x="4251688" y="6750957"/>
            <a:ext cx="3421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→</a:t>
            </a:r>
          </a:p>
        </p:txBody>
      </p:sp>
      <p:sp>
        <p:nvSpPr>
          <p:cNvPr id="2045" name="m-d44_stream-cv-3">
            <a:extLst>
              <a:ext uri="{FF2B5EF4-FFF2-40B4-BE49-F238E27FC236}">
                <a16:creationId xmlns:a16="http://schemas.microsoft.com/office/drawing/2014/main" id="{419EB54A-A240-E800-0D42-9496BA0D47C9}"/>
              </a:ext>
            </a:extLst>
          </p:cNvPr>
          <p:cNvSpPr txBox="1"/>
          <p:nvPr/>
        </p:nvSpPr>
        <p:spPr>
          <a:xfrm>
            <a:off x="4335677" y="6730442"/>
            <a:ext cx="114190" cy="7745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19%</a:t>
            </a:r>
          </a:p>
        </p:txBody>
      </p:sp>
      <p:sp>
        <p:nvSpPr>
          <p:cNvPr id="2046" name="m-d44_stream-sum">
            <a:extLst>
              <a:ext uri="{FF2B5EF4-FFF2-40B4-BE49-F238E27FC236}">
                <a16:creationId xmlns:a16="http://schemas.microsoft.com/office/drawing/2014/main" id="{D1945BF9-1713-15AA-C6B0-477E21EB7A7B}"/>
              </a:ext>
            </a:extLst>
          </p:cNvPr>
          <p:cNvSpPr/>
          <p:nvPr/>
        </p:nvSpPr>
        <p:spPr>
          <a:xfrm>
            <a:off x="2366962" y="7003796"/>
            <a:ext cx="2108835" cy="93726"/>
          </a:xfrm>
          <a:custGeom>
            <a:avLst/>
            <a:gdLst/>
            <a:ahLst/>
            <a:cxnLst/>
            <a:rect l="0" t="0" r="r" b="b"/>
            <a:pathLst>
              <a:path w="2108835" h="93726">
                <a:moveTo>
                  <a:pt x="18225" y="0"/>
                </a:moveTo>
                <a:lnTo>
                  <a:pt x="2090610" y="0"/>
                </a:lnTo>
                <a:cubicBezTo>
                  <a:pt x="2100643" y="0"/>
                  <a:pt x="2108835" y="8191"/>
                  <a:pt x="2108835" y="18224"/>
                </a:cubicBezTo>
                <a:lnTo>
                  <a:pt x="2108835" y="75501"/>
                </a:lnTo>
                <a:cubicBezTo>
                  <a:pt x="2108835" y="85535"/>
                  <a:pt x="2100643" y="93726"/>
                  <a:pt x="2090610" y="93726"/>
                </a:cubicBezTo>
                <a:lnTo>
                  <a:pt x="18225" y="93726"/>
                </a:lnTo>
                <a:cubicBezTo>
                  <a:pt x="8192" y="93726"/>
                  <a:pt x="0" y="85535"/>
                  <a:pt x="0" y="75501"/>
                </a:cubicBezTo>
                <a:lnTo>
                  <a:pt x="0" y="18224"/>
                </a:lnTo>
                <a:cubicBezTo>
                  <a:pt x="0" y="8191"/>
                  <a:pt x="8192" y="0"/>
                  <a:pt x="18225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47" name="m-d44_stream-sum-bar">
            <a:extLst>
              <a:ext uri="{FF2B5EF4-FFF2-40B4-BE49-F238E27FC236}">
                <a16:creationId xmlns:a16="http://schemas.microsoft.com/office/drawing/2014/main" id="{74310F81-BB15-BA0E-718E-FD1EDE82A2D8}"/>
              </a:ext>
            </a:extLst>
          </p:cNvPr>
          <p:cNvSpPr/>
          <p:nvPr/>
        </p:nvSpPr>
        <p:spPr>
          <a:xfrm>
            <a:off x="2366962" y="7003796"/>
            <a:ext cx="6509" cy="93726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48" name="m-d44_stream-sum-h">
            <a:extLst>
              <a:ext uri="{FF2B5EF4-FFF2-40B4-BE49-F238E27FC236}">
                <a16:creationId xmlns:a16="http://schemas.microsoft.com/office/drawing/2014/main" id="{E95E5845-4A89-30D0-B437-C8E8A0297A46}"/>
              </a:ext>
            </a:extLst>
          </p:cNvPr>
          <p:cNvSpPr txBox="1"/>
          <p:nvPr/>
        </p:nvSpPr>
        <p:spPr>
          <a:xfrm>
            <a:off x="2405963" y="7036346"/>
            <a:ext cx="118850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结构判断</a:t>
            </a:r>
          </a:p>
        </p:txBody>
      </p:sp>
      <p:sp>
        <p:nvSpPr>
          <p:cNvPr id="2049" name="m-d44_stream-sum-p">
            <a:extLst>
              <a:ext uri="{FF2B5EF4-FFF2-40B4-BE49-F238E27FC236}">
                <a16:creationId xmlns:a16="http://schemas.microsoft.com/office/drawing/2014/main" id="{FA267C5E-4347-83AC-11C5-648C95FD2DDE}"/>
              </a:ext>
            </a:extLst>
          </p:cNvPr>
          <p:cNvSpPr txBox="1"/>
          <p:nvPr/>
        </p:nvSpPr>
        <p:spPr>
          <a:xfrm>
            <a:off x="2559491" y="7035542"/>
            <a:ext cx="901917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五年营收从 6.8 亿增至 11.8 亿；新增的 5 亿里，云与数据服务贡献了 4.5 亿。</a:t>
            </a:r>
          </a:p>
        </p:txBody>
      </p:sp>
      <p:cxnSp>
        <p:nvCxnSpPr>
          <p:cNvPr id="2050" name="m-d44_stream-foot-line">
            <a:extLst>
              <a:ext uri="{FF2B5EF4-FFF2-40B4-BE49-F238E27FC236}">
                <a16:creationId xmlns:a16="http://schemas.microsoft.com/office/drawing/2014/main" id="{7EF72673-F27C-A073-02E0-A111BE3DA831}"/>
              </a:ext>
            </a:extLst>
          </p:cNvPr>
          <p:cNvCxnSpPr/>
          <p:nvPr/>
        </p:nvCxnSpPr>
        <p:spPr>
          <a:xfrm>
            <a:off x="2291461" y="71417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51" name="m-d44_stream-foot-l">
            <a:extLst>
              <a:ext uri="{FF2B5EF4-FFF2-40B4-BE49-F238E27FC236}">
                <a16:creationId xmlns:a16="http://schemas.microsoft.com/office/drawing/2014/main" id="{5337C6BA-421F-65C6-021B-BCEE8A2EAA6F}"/>
              </a:ext>
            </a:extLst>
          </p:cNvPr>
          <p:cNvSpPr txBox="1"/>
          <p:nvPr/>
        </p:nvSpPr>
        <p:spPr>
          <a:xfrm>
            <a:off x="2289274" y="7155723"/>
            <a:ext cx="19411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河流图 · 五年五类</a:t>
            </a:r>
          </a:p>
        </p:txBody>
      </p:sp>
      <p:sp>
        <p:nvSpPr>
          <p:cNvPr id="2052" name="m-d44_stream-foot-r">
            <a:extLst>
              <a:ext uri="{FF2B5EF4-FFF2-40B4-BE49-F238E27FC236}">
                <a16:creationId xmlns:a16="http://schemas.microsoft.com/office/drawing/2014/main" id="{D3B569DD-002A-D548-86F8-D31D1E5F5118}"/>
              </a:ext>
            </a:extLst>
          </p:cNvPr>
          <p:cNvSpPr txBox="1"/>
          <p:nvPr/>
        </p:nvSpPr>
        <p:spPr>
          <a:xfrm>
            <a:off x="4293709" y="71557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2053" name="mini-card-c27_price_tiers">
            <a:extLst>
              <a:ext uri="{FF2B5EF4-FFF2-40B4-BE49-F238E27FC236}">
                <a16:creationId xmlns:a16="http://schemas.microsoft.com/office/drawing/2014/main" id="{63DE7502-9993-C803-8190-C5B5302B2A96}"/>
              </a:ext>
            </a:extLst>
          </p:cNvPr>
          <p:cNvSpPr/>
          <p:nvPr/>
        </p:nvSpPr>
        <p:spPr>
          <a:xfrm>
            <a:off x="4787900" y="58166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0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0" y="1405890"/>
                </a:lnTo>
                <a:cubicBezTo>
                  <a:pt x="35877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7"/>
                  <a:pt x="35877" y="0"/>
                  <a:pt x="80200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54" name="m-c27_price_tiers-title-bar">
            <a:extLst>
              <a:ext uri="{FF2B5EF4-FFF2-40B4-BE49-F238E27FC236}">
                <a16:creationId xmlns:a16="http://schemas.microsoft.com/office/drawing/2014/main" id="{48B9CE4B-E0B2-D597-B1D5-6C4DF3C56F0B}"/>
              </a:ext>
            </a:extLst>
          </p:cNvPr>
          <p:cNvSpPr/>
          <p:nvPr/>
        </p:nvSpPr>
        <p:spPr>
          <a:xfrm>
            <a:off x="4907661" y="59155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55" name="m-c27_price_tiers-title-bar-accent">
            <a:extLst>
              <a:ext uri="{FF2B5EF4-FFF2-40B4-BE49-F238E27FC236}">
                <a16:creationId xmlns:a16="http://schemas.microsoft.com/office/drawing/2014/main" id="{E5552CA2-D803-EBFF-1434-6C48DCF8DB29}"/>
              </a:ext>
            </a:extLst>
          </p:cNvPr>
          <p:cNvSpPr/>
          <p:nvPr/>
        </p:nvSpPr>
        <p:spPr>
          <a:xfrm>
            <a:off x="4907661" y="59155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56" name="m-c27_price_tiers-title-cn">
            <a:extLst>
              <a:ext uri="{FF2B5EF4-FFF2-40B4-BE49-F238E27FC236}">
                <a16:creationId xmlns:a16="http://schemas.microsoft.com/office/drawing/2014/main" id="{CCAA4C55-9CF3-0A79-8565-2B8BFA6EC756}"/>
              </a:ext>
            </a:extLst>
          </p:cNvPr>
          <p:cNvSpPr txBox="1"/>
          <p:nvPr/>
        </p:nvSpPr>
        <p:spPr>
          <a:xfrm>
            <a:off x="4939840" y="5898168"/>
            <a:ext cx="426453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三档订阅方案</a:t>
            </a:r>
          </a:p>
        </p:txBody>
      </p:sp>
      <p:sp>
        <p:nvSpPr>
          <p:cNvPr id="2057" name="m-c27_price_tiers-title-en">
            <a:extLst>
              <a:ext uri="{FF2B5EF4-FFF2-40B4-BE49-F238E27FC236}">
                <a16:creationId xmlns:a16="http://schemas.microsoft.com/office/drawing/2014/main" id="{283C015E-EBA8-FBB5-FF6B-FDD448B423E5}"/>
              </a:ext>
            </a:extLst>
          </p:cNvPr>
          <p:cNvSpPr txBox="1"/>
          <p:nvPr/>
        </p:nvSpPr>
        <p:spPr>
          <a:xfrm>
            <a:off x="4947130" y="5985450"/>
            <a:ext cx="25907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PRICING TIERS</a:t>
            </a:r>
          </a:p>
        </p:txBody>
      </p:sp>
      <p:sp>
        <p:nvSpPr>
          <p:cNvPr id="2058" name="m-c27_price_tiers-title-sub">
            <a:extLst>
              <a:ext uri="{FF2B5EF4-FFF2-40B4-BE49-F238E27FC236}">
                <a16:creationId xmlns:a16="http://schemas.microsoft.com/office/drawing/2014/main" id="{AF3AA8FA-29D4-025B-E9FD-C92D80298FA7}"/>
              </a:ext>
            </a:extLst>
          </p:cNvPr>
          <p:cNvSpPr txBox="1"/>
          <p:nvPr/>
        </p:nvSpPr>
        <p:spPr>
          <a:xfrm>
            <a:off x="6519410" y="5954592"/>
            <a:ext cx="650745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按团队规模选择，年付享 8 折——超过七成客户选择了专业版</a:t>
            </a:r>
          </a:p>
        </p:txBody>
      </p:sp>
      <p:sp>
        <p:nvSpPr>
          <p:cNvPr id="2059" name="m-c27_price_tiers-card-1">
            <a:extLst>
              <a:ext uri="{FF2B5EF4-FFF2-40B4-BE49-F238E27FC236}">
                <a16:creationId xmlns:a16="http://schemas.microsoft.com/office/drawing/2014/main" id="{68D669D1-1DBB-1B88-435E-F4DD710F0105}"/>
              </a:ext>
            </a:extLst>
          </p:cNvPr>
          <p:cNvSpPr/>
          <p:nvPr/>
        </p:nvSpPr>
        <p:spPr>
          <a:xfrm>
            <a:off x="4983162" y="6142038"/>
            <a:ext cx="680847" cy="898208"/>
          </a:xfrm>
          <a:custGeom>
            <a:avLst/>
            <a:gdLst/>
            <a:ahLst/>
            <a:cxnLst/>
            <a:rect l="0" t="0" r="r" b="b"/>
            <a:pathLst>
              <a:path w="680847" h="898208">
                <a:moveTo>
                  <a:pt x="33846" y="0"/>
                </a:moveTo>
                <a:lnTo>
                  <a:pt x="646938" y="0"/>
                </a:lnTo>
                <a:cubicBezTo>
                  <a:pt x="665671" y="0"/>
                  <a:pt x="680847" y="15176"/>
                  <a:pt x="680847" y="33846"/>
                </a:cubicBezTo>
                <a:lnTo>
                  <a:pt x="680847" y="864362"/>
                </a:lnTo>
                <a:cubicBezTo>
                  <a:pt x="680847" y="883031"/>
                  <a:pt x="665671" y="898208"/>
                  <a:pt x="646938" y="898208"/>
                </a:cubicBezTo>
                <a:lnTo>
                  <a:pt x="33846" y="898208"/>
                </a:lnTo>
                <a:cubicBezTo>
                  <a:pt x="15176" y="898208"/>
                  <a:pt x="0" y="883031"/>
                  <a:pt x="0" y="864362"/>
                </a:cubicBezTo>
                <a:lnTo>
                  <a:pt x="0" y="33846"/>
                </a:lnTo>
                <a:cubicBezTo>
                  <a:pt x="0" y="15176"/>
                  <a:pt x="15176" y="0"/>
                  <a:pt x="33846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60" name="m-c27_price_tiers-en-1">
            <a:extLst>
              <a:ext uri="{FF2B5EF4-FFF2-40B4-BE49-F238E27FC236}">
                <a16:creationId xmlns:a16="http://schemas.microsoft.com/office/drawing/2014/main" id="{81C17111-688C-EF81-994F-CF128ABC6235}"/>
              </a:ext>
            </a:extLst>
          </p:cNvPr>
          <p:cNvSpPr txBox="1"/>
          <p:nvPr/>
        </p:nvSpPr>
        <p:spPr>
          <a:xfrm>
            <a:off x="5033046" y="6200239"/>
            <a:ext cx="93466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41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BASIC</a:t>
            </a:r>
          </a:p>
        </p:txBody>
      </p:sp>
      <p:sp>
        <p:nvSpPr>
          <p:cNvPr id="2061" name="m-c27_price_tiers-nm-1">
            <a:extLst>
              <a:ext uri="{FF2B5EF4-FFF2-40B4-BE49-F238E27FC236}">
                <a16:creationId xmlns:a16="http://schemas.microsoft.com/office/drawing/2014/main" id="{79B2C479-C62D-44E7-860D-9AAABC6E975C}"/>
              </a:ext>
            </a:extLst>
          </p:cNvPr>
          <p:cNvSpPr txBox="1"/>
          <p:nvPr/>
        </p:nvSpPr>
        <p:spPr>
          <a:xfrm>
            <a:off x="5030234" y="6233785"/>
            <a:ext cx="178079" cy="7289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3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基础版</a:t>
            </a:r>
          </a:p>
        </p:txBody>
      </p:sp>
      <p:sp>
        <p:nvSpPr>
          <p:cNvPr id="2062" name="m-c27_price_tiers-who-1">
            <a:extLst>
              <a:ext uri="{FF2B5EF4-FFF2-40B4-BE49-F238E27FC236}">
                <a16:creationId xmlns:a16="http://schemas.microsoft.com/office/drawing/2014/main" id="{0583F029-FD51-EA1A-9D0E-A375B81A8315}"/>
              </a:ext>
            </a:extLst>
          </p:cNvPr>
          <p:cNvSpPr txBox="1"/>
          <p:nvPr/>
        </p:nvSpPr>
        <p:spPr>
          <a:xfrm>
            <a:off x="5032499" y="6303959"/>
            <a:ext cx="137660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小团队起步</a:t>
            </a:r>
          </a:p>
        </p:txBody>
      </p:sp>
      <p:sp>
        <p:nvSpPr>
          <p:cNvPr id="2063" name="m-c27_price_tiers-cur-1">
            <a:extLst>
              <a:ext uri="{FF2B5EF4-FFF2-40B4-BE49-F238E27FC236}">
                <a16:creationId xmlns:a16="http://schemas.microsoft.com/office/drawing/2014/main" id="{007D6101-E8FD-91B8-0B9B-FB5E435B1408}"/>
              </a:ext>
            </a:extLst>
          </p:cNvPr>
          <p:cNvSpPr txBox="1"/>
          <p:nvPr/>
        </p:nvSpPr>
        <p:spPr>
          <a:xfrm>
            <a:off x="5030859" y="6409443"/>
            <a:ext cx="53216" cy="6378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9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¥</a:t>
            </a:r>
          </a:p>
        </p:txBody>
      </p:sp>
      <p:sp>
        <p:nvSpPr>
          <p:cNvPr id="2064" name="m-c27_price_tiers-pr-1">
            <a:extLst>
              <a:ext uri="{FF2B5EF4-FFF2-40B4-BE49-F238E27FC236}">
                <a16:creationId xmlns:a16="http://schemas.microsoft.com/office/drawing/2014/main" id="{241AEF91-7C11-71CA-BE93-68ABAE6C56E9}"/>
              </a:ext>
            </a:extLst>
          </p:cNvPr>
          <p:cNvSpPr txBox="1"/>
          <p:nvPr/>
        </p:nvSpPr>
        <p:spPr>
          <a:xfrm>
            <a:off x="5057831" y="6338706"/>
            <a:ext cx="189327" cy="16402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74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99</a:t>
            </a:r>
          </a:p>
        </p:txBody>
      </p:sp>
      <p:sp>
        <p:nvSpPr>
          <p:cNvPr id="2065" name="m-c27_price_tiers-pru-1">
            <a:extLst>
              <a:ext uri="{FF2B5EF4-FFF2-40B4-BE49-F238E27FC236}">
                <a16:creationId xmlns:a16="http://schemas.microsoft.com/office/drawing/2014/main" id="{861A0826-1910-8BE2-97DB-14E0462EEEFD}"/>
              </a:ext>
            </a:extLst>
          </p:cNvPr>
          <p:cNvSpPr txBox="1"/>
          <p:nvPr/>
        </p:nvSpPr>
        <p:spPr>
          <a:xfrm>
            <a:off x="5196754" y="6428735"/>
            <a:ext cx="155898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元 / 人 / 月</a:t>
            </a:r>
          </a:p>
        </p:txBody>
      </p:sp>
      <p:cxnSp>
        <p:nvCxnSpPr>
          <p:cNvPr id="2066" name="m-c27_price_tiers-sep-1">
            <a:extLst>
              <a:ext uri="{FF2B5EF4-FFF2-40B4-BE49-F238E27FC236}">
                <a16:creationId xmlns:a16="http://schemas.microsoft.com/office/drawing/2014/main" id="{72452FA5-E2D2-D9C6-AB09-805CAC6714AE}"/>
              </a:ext>
            </a:extLst>
          </p:cNvPr>
          <p:cNvCxnSpPr/>
          <p:nvPr/>
        </p:nvCxnSpPr>
        <p:spPr>
          <a:xfrm>
            <a:off x="5035232" y="6506528"/>
            <a:ext cx="576676" cy="0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67" name="m-c27_price_tiers-ok-1-5 个账号">
            <a:extLst>
              <a:ext uri="{FF2B5EF4-FFF2-40B4-BE49-F238E27FC236}">
                <a16:creationId xmlns:a16="http://schemas.microsoft.com/office/drawing/2014/main" id="{49AE1AC6-79A3-A3F9-ED8E-D4247372FE0D}"/>
              </a:ext>
            </a:extLst>
          </p:cNvPr>
          <p:cNvSpPr/>
          <p:nvPr/>
        </p:nvSpPr>
        <p:spPr>
          <a:xfrm>
            <a:off x="5039138" y="6544278"/>
            <a:ext cx="28638" cy="28638"/>
          </a:xfrm>
          <a:prstGeom prst="ellipse">
            <a:avLst/>
          </a:prstGeom>
          <a:solidFill>
            <a:srgbClr val="3985CD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68" name="m-c27_price_tiers-okc-1-5 个账号">
            <a:extLst>
              <a:ext uri="{FF2B5EF4-FFF2-40B4-BE49-F238E27FC236}">
                <a16:creationId xmlns:a16="http://schemas.microsoft.com/office/drawing/2014/main" id="{B5F5D050-A7B9-4EA6-1331-F2A874CEF636}"/>
              </a:ext>
            </a:extLst>
          </p:cNvPr>
          <p:cNvSpPr/>
          <p:nvPr/>
        </p:nvSpPr>
        <p:spPr>
          <a:xfrm>
            <a:off x="5045646" y="6552120"/>
            <a:ext cx="15621" cy="11684"/>
          </a:xfrm>
          <a:custGeom>
            <a:avLst/>
            <a:gdLst/>
            <a:ahLst/>
            <a:cxnLst/>
            <a:rect l="0" t="0" r="r" b="b"/>
            <a:pathLst>
              <a:path w="15621" h="11684">
                <a:moveTo>
                  <a:pt x="0" y="6477"/>
                </a:moveTo>
                <a:lnTo>
                  <a:pt x="5207" y="11684"/>
                </a:lnTo>
                <a:lnTo>
                  <a:pt x="15621" y="0"/>
                </a:lnTo>
              </a:path>
            </a:pathLst>
          </a:custGeom>
          <a:noFill/>
          <a:ln w="3124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69" name="m-c27_price_tiers-inc-1-5 个账号">
            <a:extLst>
              <a:ext uri="{FF2B5EF4-FFF2-40B4-BE49-F238E27FC236}">
                <a16:creationId xmlns:a16="http://schemas.microsoft.com/office/drawing/2014/main" id="{81077DF9-F28D-7C86-F145-4CC938CAACB7}"/>
              </a:ext>
            </a:extLst>
          </p:cNvPr>
          <p:cNvSpPr txBox="1"/>
          <p:nvPr/>
        </p:nvSpPr>
        <p:spPr>
          <a:xfrm>
            <a:off x="5081887" y="6537470"/>
            <a:ext cx="12023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5 个账号</a:t>
            </a:r>
          </a:p>
        </p:txBody>
      </p:sp>
      <p:sp>
        <p:nvSpPr>
          <p:cNvPr id="2070" name="m-c27_price_tiers-ok-1-基础模板 300+">
            <a:extLst>
              <a:ext uri="{FF2B5EF4-FFF2-40B4-BE49-F238E27FC236}">
                <a16:creationId xmlns:a16="http://schemas.microsoft.com/office/drawing/2014/main" id="{914CA93D-21B0-B1D6-3506-416AB80217DC}"/>
              </a:ext>
            </a:extLst>
          </p:cNvPr>
          <p:cNvSpPr/>
          <p:nvPr/>
        </p:nvSpPr>
        <p:spPr>
          <a:xfrm>
            <a:off x="5039138" y="6604159"/>
            <a:ext cx="28638" cy="28638"/>
          </a:xfrm>
          <a:prstGeom prst="ellipse">
            <a:avLst/>
          </a:prstGeom>
          <a:solidFill>
            <a:srgbClr val="3985CD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71" name="m-c27_price_tiers-okc-1-基础模板 300+">
            <a:extLst>
              <a:ext uri="{FF2B5EF4-FFF2-40B4-BE49-F238E27FC236}">
                <a16:creationId xmlns:a16="http://schemas.microsoft.com/office/drawing/2014/main" id="{C823F740-028B-6AB9-78AE-7098DE19D0DA}"/>
              </a:ext>
            </a:extLst>
          </p:cNvPr>
          <p:cNvSpPr/>
          <p:nvPr/>
        </p:nvSpPr>
        <p:spPr>
          <a:xfrm>
            <a:off x="5045646" y="6612001"/>
            <a:ext cx="15621" cy="11684"/>
          </a:xfrm>
          <a:custGeom>
            <a:avLst/>
            <a:gdLst/>
            <a:ahLst/>
            <a:cxnLst/>
            <a:rect l="0" t="0" r="r" b="b"/>
            <a:pathLst>
              <a:path w="15621" h="11684">
                <a:moveTo>
                  <a:pt x="0" y="6477"/>
                </a:moveTo>
                <a:lnTo>
                  <a:pt x="5207" y="11684"/>
                </a:lnTo>
                <a:lnTo>
                  <a:pt x="15621" y="0"/>
                </a:lnTo>
              </a:path>
            </a:pathLst>
          </a:custGeom>
          <a:noFill/>
          <a:ln w="3124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72" name="m-c27_price_tiers-inc-1-基础模板 300+">
            <a:extLst>
              <a:ext uri="{FF2B5EF4-FFF2-40B4-BE49-F238E27FC236}">
                <a16:creationId xmlns:a16="http://schemas.microsoft.com/office/drawing/2014/main" id="{BB7277DA-E5CA-D04C-A0DC-2D77FAC04CD7}"/>
              </a:ext>
            </a:extLst>
          </p:cNvPr>
          <p:cNvSpPr txBox="1"/>
          <p:nvPr/>
        </p:nvSpPr>
        <p:spPr>
          <a:xfrm>
            <a:off x="5081887" y="6597351"/>
            <a:ext cx="185109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基础模板 300+</a:t>
            </a:r>
          </a:p>
        </p:txBody>
      </p:sp>
      <p:sp>
        <p:nvSpPr>
          <p:cNvPr id="2073" name="m-c27_price_tiers-ok-1-10 GB 存储">
            <a:extLst>
              <a:ext uri="{FF2B5EF4-FFF2-40B4-BE49-F238E27FC236}">
                <a16:creationId xmlns:a16="http://schemas.microsoft.com/office/drawing/2014/main" id="{740288AA-7B89-7128-FDFE-BD3D405132E9}"/>
              </a:ext>
            </a:extLst>
          </p:cNvPr>
          <p:cNvSpPr/>
          <p:nvPr/>
        </p:nvSpPr>
        <p:spPr>
          <a:xfrm>
            <a:off x="5039138" y="6664039"/>
            <a:ext cx="28638" cy="28638"/>
          </a:xfrm>
          <a:prstGeom prst="ellipse">
            <a:avLst/>
          </a:prstGeom>
          <a:solidFill>
            <a:srgbClr val="3985CD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74" name="m-c27_price_tiers-okc-1-10 GB 存储">
            <a:extLst>
              <a:ext uri="{FF2B5EF4-FFF2-40B4-BE49-F238E27FC236}">
                <a16:creationId xmlns:a16="http://schemas.microsoft.com/office/drawing/2014/main" id="{1E967BDA-5415-20E8-C2EE-600910C33912}"/>
              </a:ext>
            </a:extLst>
          </p:cNvPr>
          <p:cNvSpPr/>
          <p:nvPr/>
        </p:nvSpPr>
        <p:spPr>
          <a:xfrm>
            <a:off x="5045646" y="6671818"/>
            <a:ext cx="15621" cy="11747"/>
          </a:xfrm>
          <a:custGeom>
            <a:avLst/>
            <a:gdLst/>
            <a:ahLst/>
            <a:cxnLst/>
            <a:rect l="0" t="0" r="r" b="b"/>
            <a:pathLst>
              <a:path w="15621" h="11747">
                <a:moveTo>
                  <a:pt x="0" y="6540"/>
                </a:moveTo>
                <a:lnTo>
                  <a:pt x="5207" y="11747"/>
                </a:lnTo>
                <a:lnTo>
                  <a:pt x="15621" y="0"/>
                </a:lnTo>
              </a:path>
            </a:pathLst>
          </a:custGeom>
          <a:noFill/>
          <a:ln w="3124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75" name="m-c27_price_tiers-inc-1-10 GB 存储">
            <a:extLst>
              <a:ext uri="{FF2B5EF4-FFF2-40B4-BE49-F238E27FC236}">
                <a16:creationId xmlns:a16="http://schemas.microsoft.com/office/drawing/2014/main" id="{F4D1BBAE-4AD9-FFCE-D45A-56FE830C31F2}"/>
              </a:ext>
            </a:extLst>
          </p:cNvPr>
          <p:cNvSpPr txBox="1"/>
          <p:nvPr/>
        </p:nvSpPr>
        <p:spPr>
          <a:xfrm>
            <a:off x="5081887" y="6657231"/>
            <a:ext cx="150847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10 GB 存储</a:t>
            </a:r>
          </a:p>
        </p:txBody>
      </p:sp>
      <p:sp>
        <p:nvSpPr>
          <p:cNvPr id="2076" name="m-c27_price_tiers-ok-1-邮件支持">
            <a:extLst>
              <a:ext uri="{FF2B5EF4-FFF2-40B4-BE49-F238E27FC236}">
                <a16:creationId xmlns:a16="http://schemas.microsoft.com/office/drawing/2014/main" id="{ACDFBDEA-678C-920F-A7C1-F6F63073AF26}"/>
              </a:ext>
            </a:extLst>
          </p:cNvPr>
          <p:cNvSpPr/>
          <p:nvPr/>
        </p:nvSpPr>
        <p:spPr>
          <a:xfrm>
            <a:off x="5039138" y="6723920"/>
            <a:ext cx="28638" cy="28638"/>
          </a:xfrm>
          <a:prstGeom prst="ellipse">
            <a:avLst/>
          </a:prstGeom>
          <a:solidFill>
            <a:srgbClr val="3985CD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77" name="m-c27_price_tiers-okc-1-邮件支持">
            <a:extLst>
              <a:ext uri="{FF2B5EF4-FFF2-40B4-BE49-F238E27FC236}">
                <a16:creationId xmlns:a16="http://schemas.microsoft.com/office/drawing/2014/main" id="{E97244D1-D491-6933-81CE-BAC22B2399B4}"/>
              </a:ext>
            </a:extLst>
          </p:cNvPr>
          <p:cNvSpPr/>
          <p:nvPr/>
        </p:nvSpPr>
        <p:spPr>
          <a:xfrm>
            <a:off x="5045646" y="6731762"/>
            <a:ext cx="15621" cy="11684"/>
          </a:xfrm>
          <a:custGeom>
            <a:avLst/>
            <a:gdLst/>
            <a:ahLst/>
            <a:cxnLst/>
            <a:rect l="0" t="0" r="r" b="b"/>
            <a:pathLst>
              <a:path w="15621" h="11684">
                <a:moveTo>
                  <a:pt x="0" y="6477"/>
                </a:moveTo>
                <a:lnTo>
                  <a:pt x="5207" y="11684"/>
                </a:lnTo>
                <a:lnTo>
                  <a:pt x="15621" y="0"/>
                </a:lnTo>
              </a:path>
            </a:pathLst>
          </a:custGeom>
          <a:noFill/>
          <a:ln w="3124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78" name="m-c27_price_tiers-inc-1-邮件支持">
            <a:extLst>
              <a:ext uri="{FF2B5EF4-FFF2-40B4-BE49-F238E27FC236}">
                <a16:creationId xmlns:a16="http://schemas.microsoft.com/office/drawing/2014/main" id="{E124ED74-CB54-9572-D48A-DA37C8152F30}"/>
              </a:ext>
            </a:extLst>
          </p:cNvPr>
          <p:cNvSpPr txBox="1"/>
          <p:nvPr/>
        </p:nvSpPr>
        <p:spPr>
          <a:xfrm>
            <a:off x="5081887" y="6717112"/>
            <a:ext cx="116897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邮件支持</a:t>
            </a:r>
          </a:p>
        </p:txBody>
      </p:sp>
      <p:cxnSp>
        <p:nvCxnSpPr>
          <p:cNvPr id="2079" name="m-c27_price_tiers-no-1-数据分析看板">
            <a:extLst>
              <a:ext uri="{FF2B5EF4-FFF2-40B4-BE49-F238E27FC236}">
                <a16:creationId xmlns:a16="http://schemas.microsoft.com/office/drawing/2014/main" id="{E095F66B-6B57-4A5B-2AB4-F394D805F45F}"/>
              </a:ext>
            </a:extLst>
          </p:cNvPr>
          <p:cNvCxnSpPr/>
          <p:nvPr/>
        </p:nvCxnSpPr>
        <p:spPr>
          <a:xfrm>
            <a:off x="5045646" y="6798120"/>
            <a:ext cx="15622" cy="0"/>
          </a:xfrm>
          <a:prstGeom prst="line">
            <a:avLst/>
          </a:prstGeom>
          <a:ln w="2604" cap="rnd">
            <a:solidFill>
              <a:srgbClr val="0B2545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80" name="m-c27_price_tiers-exc-1-数据分析看板">
            <a:extLst>
              <a:ext uri="{FF2B5EF4-FFF2-40B4-BE49-F238E27FC236}">
                <a16:creationId xmlns:a16="http://schemas.microsoft.com/office/drawing/2014/main" id="{057507F3-D628-4E6F-3200-F24283EB8436}"/>
              </a:ext>
            </a:extLst>
          </p:cNvPr>
          <p:cNvSpPr txBox="1"/>
          <p:nvPr/>
        </p:nvSpPr>
        <p:spPr>
          <a:xfrm>
            <a:off x="5081887" y="6776992"/>
            <a:ext cx="164802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数据分析看板</a:t>
            </a:r>
          </a:p>
        </p:txBody>
      </p:sp>
      <p:cxnSp>
        <p:nvCxnSpPr>
          <p:cNvPr id="2081" name="m-c27_price_tiers-no-1-专属客户经理">
            <a:extLst>
              <a:ext uri="{FF2B5EF4-FFF2-40B4-BE49-F238E27FC236}">
                <a16:creationId xmlns:a16="http://schemas.microsoft.com/office/drawing/2014/main" id="{78FB53BB-15C2-A395-7D84-7018193788F2}"/>
              </a:ext>
            </a:extLst>
          </p:cNvPr>
          <p:cNvCxnSpPr/>
          <p:nvPr/>
        </p:nvCxnSpPr>
        <p:spPr>
          <a:xfrm>
            <a:off x="5045646" y="6858000"/>
            <a:ext cx="15622" cy="0"/>
          </a:xfrm>
          <a:prstGeom prst="line">
            <a:avLst/>
          </a:prstGeom>
          <a:ln w="2604" cap="rnd">
            <a:solidFill>
              <a:srgbClr val="0B2545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82" name="m-c27_price_tiers-exc-1-专属客户经理">
            <a:extLst>
              <a:ext uri="{FF2B5EF4-FFF2-40B4-BE49-F238E27FC236}">
                <a16:creationId xmlns:a16="http://schemas.microsoft.com/office/drawing/2014/main" id="{DE16E17F-CEF4-1875-443E-A79E8F3A0CA7}"/>
              </a:ext>
            </a:extLst>
          </p:cNvPr>
          <p:cNvSpPr txBox="1"/>
          <p:nvPr/>
        </p:nvSpPr>
        <p:spPr>
          <a:xfrm>
            <a:off x="5081887" y="6836873"/>
            <a:ext cx="164802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专属客户经理</a:t>
            </a:r>
          </a:p>
        </p:txBody>
      </p:sp>
      <p:sp>
        <p:nvSpPr>
          <p:cNvPr id="2083" name="m-c27_price_tiers-sh-1">
            <a:extLst>
              <a:ext uri="{FF2B5EF4-FFF2-40B4-BE49-F238E27FC236}">
                <a16:creationId xmlns:a16="http://schemas.microsoft.com/office/drawing/2014/main" id="{D4D0BF09-B459-7919-DA0A-ADE32743018C}"/>
              </a:ext>
            </a:extLst>
          </p:cNvPr>
          <p:cNvSpPr/>
          <p:nvPr/>
        </p:nvSpPr>
        <p:spPr>
          <a:xfrm>
            <a:off x="5022215" y="6904863"/>
            <a:ext cx="602742" cy="96329"/>
          </a:xfrm>
          <a:custGeom>
            <a:avLst/>
            <a:gdLst/>
            <a:ahLst/>
            <a:cxnLst/>
            <a:rect l="0" t="0" r="r" b="b"/>
            <a:pathLst>
              <a:path w="602742" h="96329">
                <a:moveTo>
                  <a:pt x="23432" y="0"/>
                </a:moveTo>
                <a:lnTo>
                  <a:pt x="579247" y="0"/>
                </a:lnTo>
                <a:cubicBezTo>
                  <a:pt x="592201" y="0"/>
                  <a:pt x="602742" y="10477"/>
                  <a:pt x="602742" y="23431"/>
                </a:cubicBezTo>
                <a:lnTo>
                  <a:pt x="602742" y="72898"/>
                </a:lnTo>
                <a:cubicBezTo>
                  <a:pt x="602742" y="85852"/>
                  <a:pt x="592201" y="96329"/>
                  <a:pt x="579247" y="96329"/>
                </a:cubicBezTo>
                <a:lnTo>
                  <a:pt x="23432" y="96329"/>
                </a:lnTo>
                <a:cubicBezTo>
                  <a:pt x="10477" y="96329"/>
                  <a:pt x="0" y="85852"/>
                  <a:pt x="0" y="72898"/>
                </a:cubicBezTo>
                <a:lnTo>
                  <a:pt x="0" y="23431"/>
                </a:lnTo>
                <a:cubicBezTo>
                  <a:pt x="0" y="10477"/>
                  <a:pt x="10477" y="0"/>
                  <a:pt x="23432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84" name="m-c27_price_tiers-shl-1">
            <a:extLst>
              <a:ext uri="{FF2B5EF4-FFF2-40B4-BE49-F238E27FC236}">
                <a16:creationId xmlns:a16="http://schemas.microsoft.com/office/drawing/2014/main" id="{79C3C54D-E68C-69BA-C10D-7EC6A3A8A2A2}"/>
              </a:ext>
            </a:extLst>
          </p:cNvPr>
          <p:cNvSpPr txBox="1"/>
          <p:nvPr/>
        </p:nvSpPr>
        <p:spPr>
          <a:xfrm>
            <a:off x="5053561" y="6939021"/>
            <a:ext cx="151524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客户选择占比</a:t>
            </a:r>
          </a:p>
        </p:txBody>
      </p:sp>
      <p:sp>
        <p:nvSpPr>
          <p:cNvPr id="2085" name="m-c27_price_tiers-shv-1">
            <a:extLst>
              <a:ext uri="{FF2B5EF4-FFF2-40B4-BE49-F238E27FC236}">
                <a16:creationId xmlns:a16="http://schemas.microsoft.com/office/drawing/2014/main" id="{05333288-6EE2-221B-0298-472FF4698BBA}"/>
              </a:ext>
            </a:extLst>
          </p:cNvPr>
          <p:cNvSpPr txBox="1"/>
          <p:nvPr/>
        </p:nvSpPr>
        <p:spPr>
          <a:xfrm>
            <a:off x="5488606" y="6918505"/>
            <a:ext cx="107472" cy="7289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3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18%</a:t>
            </a:r>
          </a:p>
        </p:txBody>
      </p:sp>
      <p:sp>
        <p:nvSpPr>
          <p:cNvPr id="2086" name="m-c27_price_tiers-card-2">
            <a:extLst>
              <a:ext uri="{FF2B5EF4-FFF2-40B4-BE49-F238E27FC236}">
                <a16:creationId xmlns:a16="http://schemas.microsoft.com/office/drawing/2014/main" id="{9953FDA1-7F1E-DCC0-C91D-B5C86A33E314}"/>
              </a:ext>
            </a:extLst>
          </p:cNvPr>
          <p:cNvSpPr/>
          <p:nvPr/>
        </p:nvSpPr>
        <p:spPr>
          <a:xfrm>
            <a:off x="5696522" y="6097778"/>
            <a:ext cx="680783" cy="986727"/>
          </a:xfrm>
          <a:custGeom>
            <a:avLst/>
            <a:gdLst/>
            <a:ahLst/>
            <a:cxnLst/>
            <a:rect l="0" t="0" r="r" b="b"/>
            <a:pathLst>
              <a:path w="680783" h="986727">
                <a:moveTo>
                  <a:pt x="33845" y="0"/>
                </a:moveTo>
                <a:lnTo>
                  <a:pt x="647001" y="0"/>
                </a:lnTo>
                <a:cubicBezTo>
                  <a:pt x="665670" y="0"/>
                  <a:pt x="680783" y="15176"/>
                  <a:pt x="680783" y="33846"/>
                </a:cubicBezTo>
                <a:lnTo>
                  <a:pt x="680783" y="952881"/>
                </a:lnTo>
                <a:cubicBezTo>
                  <a:pt x="680783" y="971550"/>
                  <a:pt x="665670" y="986727"/>
                  <a:pt x="647001" y="986727"/>
                </a:cubicBezTo>
                <a:lnTo>
                  <a:pt x="33845" y="986727"/>
                </a:lnTo>
                <a:cubicBezTo>
                  <a:pt x="15176" y="986727"/>
                  <a:pt x="0" y="971550"/>
                  <a:pt x="0" y="952881"/>
                </a:cubicBezTo>
                <a:lnTo>
                  <a:pt x="0" y="33846"/>
                </a:lnTo>
                <a:cubicBezTo>
                  <a:pt x="0" y="15176"/>
                  <a:pt x="15176" y="0"/>
                  <a:pt x="33845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87" name="m-c27_price_tiers-hot">
            <a:extLst>
              <a:ext uri="{FF2B5EF4-FFF2-40B4-BE49-F238E27FC236}">
                <a16:creationId xmlns:a16="http://schemas.microsoft.com/office/drawing/2014/main" id="{EDDA7275-938E-F37D-ADA4-70A1FD15FE53}"/>
              </a:ext>
            </a:extLst>
          </p:cNvPr>
          <p:cNvSpPr/>
          <p:nvPr/>
        </p:nvSpPr>
        <p:spPr>
          <a:xfrm>
            <a:off x="6182042" y="6136830"/>
            <a:ext cx="156210" cy="44260"/>
          </a:xfrm>
          <a:custGeom>
            <a:avLst/>
            <a:gdLst/>
            <a:ahLst/>
            <a:cxnLst/>
            <a:rect l="0" t="0" r="r" b="b"/>
            <a:pathLst>
              <a:path w="156210" h="44260">
                <a:moveTo>
                  <a:pt x="22162" y="0"/>
                </a:moveTo>
                <a:lnTo>
                  <a:pt x="134112" y="0"/>
                </a:lnTo>
                <a:cubicBezTo>
                  <a:pt x="146304" y="0"/>
                  <a:pt x="156210" y="9906"/>
                  <a:pt x="156210" y="22098"/>
                </a:cubicBezTo>
                <a:lnTo>
                  <a:pt x="156210" y="22098"/>
                </a:lnTo>
                <a:cubicBezTo>
                  <a:pt x="156210" y="34354"/>
                  <a:pt x="146304" y="44260"/>
                  <a:pt x="134112" y="44260"/>
                </a:cubicBezTo>
                <a:lnTo>
                  <a:pt x="22162" y="44260"/>
                </a:lnTo>
                <a:cubicBezTo>
                  <a:pt x="9970" y="44260"/>
                  <a:pt x="0" y="34354"/>
                  <a:pt x="0" y="22098"/>
                </a:cubicBezTo>
                <a:lnTo>
                  <a:pt x="0" y="22098"/>
                </a:lnTo>
                <a:cubicBezTo>
                  <a:pt x="0" y="9906"/>
                  <a:pt x="9970" y="0"/>
                  <a:pt x="22162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88" name="m-c27_price_tiers-hot-t">
            <a:extLst>
              <a:ext uri="{FF2B5EF4-FFF2-40B4-BE49-F238E27FC236}">
                <a16:creationId xmlns:a16="http://schemas.microsoft.com/office/drawing/2014/main" id="{AF2A322E-BAE6-751F-813F-0CBD6F823D39}"/>
              </a:ext>
            </a:extLst>
          </p:cNvPr>
          <p:cNvSpPr txBox="1"/>
          <p:nvPr/>
        </p:nvSpPr>
        <p:spPr>
          <a:xfrm>
            <a:off x="6208435" y="6142656"/>
            <a:ext cx="103489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1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最受欢迎</a:t>
            </a:r>
          </a:p>
        </p:txBody>
      </p:sp>
      <p:sp>
        <p:nvSpPr>
          <p:cNvPr id="2089" name="m-c27_price_tiers-en-2">
            <a:extLst>
              <a:ext uri="{FF2B5EF4-FFF2-40B4-BE49-F238E27FC236}">
                <a16:creationId xmlns:a16="http://schemas.microsoft.com/office/drawing/2014/main" id="{42F67C74-5B7D-DFE6-B58C-72C4280A85F5}"/>
              </a:ext>
            </a:extLst>
          </p:cNvPr>
          <p:cNvSpPr txBox="1"/>
          <p:nvPr/>
        </p:nvSpPr>
        <p:spPr>
          <a:xfrm>
            <a:off x="5746405" y="6155979"/>
            <a:ext cx="62640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41" normalizeH="0" baseline="0" noProof="0">
                <a:ln>
                  <a:noFill/>
                </a:ln>
                <a:solidFill>
                  <a:srgbClr val="CFE0F4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PRO</a:t>
            </a:r>
          </a:p>
        </p:txBody>
      </p:sp>
      <p:sp>
        <p:nvSpPr>
          <p:cNvPr id="2090" name="m-c27_price_tiers-nm-2">
            <a:extLst>
              <a:ext uri="{FF2B5EF4-FFF2-40B4-BE49-F238E27FC236}">
                <a16:creationId xmlns:a16="http://schemas.microsoft.com/office/drawing/2014/main" id="{3FAA9929-AA2A-F9BC-0A97-0B9D116D716A}"/>
              </a:ext>
            </a:extLst>
          </p:cNvPr>
          <p:cNvSpPr txBox="1"/>
          <p:nvPr/>
        </p:nvSpPr>
        <p:spPr>
          <a:xfrm>
            <a:off x="5743593" y="6189525"/>
            <a:ext cx="178079" cy="7289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30" b="1" i="0" u="none" strike="noStrike" kern="1200" cap="none" spc="41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专业版</a:t>
            </a:r>
          </a:p>
        </p:txBody>
      </p:sp>
      <p:sp>
        <p:nvSpPr>
          <p:cNvPr id="2091" name="m-c27_price_tiers-who-2">
            <a:extLst>
              <a:ext uri="{FF2B5EF4-FFF2-40B4-BE49-F238E27FC236}">
                <a16:creationId xmlns:a16="http://schemas.microsoft.com/office/drawing/2014/main" id="{3861352D-2283-8E39-B415-E24B0FD848E8}"/>
              </a:ext>
            </a:extLst>
          </p:cNvPr>
          <p:cNvSpPr txBox="1"/>
          <p:nvPr/>
        </p:nvSpPr>
        <p:spPr>
          <a:xfrm>
            <a:off x="5745858" y="6259699"/>
            <a:ext cx="184523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CFE0F4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成长型企业首选</a:t>
            </a:r>
          </a:p>
        </p:txBody>
      </p:sp>
      <p:sp>
        <p:nvSpPr>
          <p:cNvPr id="2092" name="m-c27_price_tiers-cur-2">
            <a:extLst>
              <a:ext uri="{FF2B5EF4-FFF2-40B4-BE49-F238E27FC236}">
                <a16:creationId xmlns:a16="http://schemas.microsoft.com/office/drawing/2014/main" id="{83C30277-CAA8-CAE9-95AB-74797EDC2990}"/>
              </a:ext>
            </a:extLst>
          </p:cNvPr>
          <p:cNvSpPr txBox="1"/>
          <p:nvPr/>
        </p:nvSpPr>
        <p:spPr>
          <a:xfrm>
            <a:off x="5744218" y="6365183"/>
            <a:ext cx="53216" cy="6378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9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¥</a:t>
            </a:r>
          </a:p>
        </p:txBody>
      </p:sp>
      <p:sp>
        <p:nvSpPr>
          <p:cNvPr id="2093" name="m-c27_price_tiers-pr-2">
            <a:extLst>
              <a:ext uri="{FF2B5EF4-FFF2-40B4-BE49-F238E27FC236}">
                <a16:creationId xmlns:a16="http://schemas.microsoft.com/office/drawing/2014/main" id="{52CB3CDA-1213-D78C-D14D-15DDA4D42AAD}"/>
              </a:ext>
            </a:extLst>
          </p:cNvPr>
          <p:cNvSpPr txBox="1"/>
          <p:nvPr/>
        </p:nvSpPr>
        <p:spPr>
          <a:xfrm>
            <a:off x="5771190" y="6294446"/>
            <a:ext cx="241813" cy="16402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74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299</a:t>
            </a:r>
          </a:p>
        </p:txBody>
      </p:sp>
      <p:sp>
        <p:nvSpPr>
          <p:cNvPr id="2094" name="m-c27_price_tiers-pru-2">
            <a:extLst>
              <a:ext uri="{FF2B5EF4-FFF2-40B4-BE49-F238E27FC236}">
                <a16:creationId xmlns:a16="http://schemas.microsoft.com/office/drawing/2014/main" id="{CBD8E38F-5D9B-0A57-F24D-0858E2DF9DC3}"/>
              </a:ext>
            </a:extLst>
          </p:cNvPr>
          <p:cNvSpPr txBox="1"/>
          <p:nvPr/>
        </p:nvSpPr>
        <p:spPr>
          <a:xfrm>
            <a:off x="5967390" y="6384475"/>
            <a:ext cx="155898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CFE0F4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元 / 人 / 月</a:t>
            </a:r>
          </a:p>
        </p:txBody>
      </p:sp>
      <p:cxnSp>
        <p:nvCxnSpPr>
          <p:cNvPr id="2095" name="m-c27_price_tiers-sep-2">
            <a:extLst>
              <a:ext uri="{FF2B5EF4-FFF2-40B4-BE49-F238E27FC236}">
                <a16:creationId xmlns:a16="http://schemas.microsoft.com/office/drawing/2014/main" id="{471CFDB1-3DB6-3D50-B884-1CC85F9349B7}"/>
              </a:ext>
            </a:extLst>
          </p:cNvPr>
          <p:cNvCxnSpPr/>
          <p:nvPr/>
        </p:nvCxnSpPr>
        <p:spPr>
          <a:xfrm>
            <a:off x="5748592" y="6462268"/>
            <a:ext cx="576675" cy="0"/>
          </a:xfrm>
          <a:prstGeom prst="line">
            <a:avLst/>
          </a:prstGeom>
          <a:ln w="2540" cap="rnd">
            <a:solidFill>
              <a:srgbClr val="FFFFFF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96" name="m-c27_price_tiers-ok-2-30 个账号">
            <a:extLst>
              <a:ext uri="{FF2B5EF4-FFF2-40B4-BE49-F238E27FC236}">
                <a16:creationId xmlns:a16="http://schemas.microsoft.com/office/drawing/2014/main" id="{589A7526-1F52-D658-5DFB-54D819411737}"/>
              </a:ext>
            </a:extLst>
          </p:cNvPr>
          <p:cNvSpPr/>
          <p:nvPr/>
        </p:nvSpPr>
        <p:spPr>
          <a:xfrm>
            <a:off x="5752497" y="6500019"/>
            <a:ext cx="28638" cy="28638"/>
          </a:xfrm>
          <a:prstGeom prst="ellipse">
            <a:avLst/>
          </a:pr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97" name="m-c27_price_tiers-okc-2-30 个账号">
            <a:extLst>
              <a:ext uri="{FF2B5EF4-FFF2-40B4-BE49-F238E27FC236}">
                <a16:creationId xmlns:a16="http://schemas.microsoft.com/office/drawing/2014/main" id="{70B36F5C-FEB3-1B96-6540-7D4D8F9EBFE2}"/>
              </a:ext>
            </a:extLst>
          </p:cNvPr>
          <p:cNvSpPr/>
          <p:nvPr/>
        </p:nvSpPr>
        <p:spPr>
          <a:xfrm>
            <a:off x="5759006" y="6507861"/>
            <a:ext cx="15621" cy="11684"/>
          </a:xfrm>
          <a:custGeom>
            <a:avLst/>
            <a:gdLst/>
            <a:ahLst/>
            <a:cxnLst/>
            <a:rect l="0" t="0" r="r" b="b"/>
            <a:pathLst>
              <a:path w="15621" h="11684">
                <a:moveTo>
                  <a:pt x="0" y="6477"/>
                </a:moveTo>
                <a:lnTo>
                  <a:pt x="5207" y="11684"/>
                </a:lnTo>
                <a:lnTo>
                  <a:pt x="15621" y="0"/>
                </a:lnTo>
              </a:path>
            </a:pathLst>
          </a:custGeom>
          <a:noFill/>
          <a:ln w="312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98" name="m-c27_price_tiers-inc-2-30 个账号">
            <a:extLst>
              <a:ext uri="{FF2B5EF4-FFF2-40B4-BE49-F238E27FC236}">
                <a16:creationId xmlns:a16="http://schemas.microsoft.com/office/drawing/2014/main" id="{732962F7-D314-3305-E685-3F6EF5C5ED29}"/>
              </a:ext>
            </a:extLst>
          </p:cNvPr>
          <p:cNvSpPr txBox="1"/>
          <p:nvPr/>
        </p:nvSpPr>
        <p:spPr>
          <a:xfrm>
            <a:off x="5795246" y="6493211"/>
            <a:ext cx="133872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30 个账号</a:t>
            </a:r>
          </a:p>
        </p:txBody>
      </p:sp>
      <p:sp>
        <p:nvSpPr>
          <p:cNvPr id="2099" name="m-c27_price_tiers-ok-2-全部模板 2,000+">
            <a:extLst>
              <a:ext uri="{FF2B5EF4-FFF2-40B4-BE49-F238E27FC236}">
                <a16:creationId xmlns:a16="http://schemas.microsoft.com/office/drawing/2014/main" id="{E3E0B9A8-50E4-09A8-C23E-3038BEE58483}"/>
              </a:ext>
            </a:extLst>
          </p:cNvPr>
          <p:cNvSpPr/>
          <p:nvPr/>
        </p:nvSpPr>
        <p:spPr>
          <a:xfrm>
            <a:off x="5752497" y="6559899"/>
            <a:ext cx="28638" cy="28638"/>
          </a:xfrm>
          <a:prstGeom prst="ellipse">
            <a:avLst/>
          </a:pr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00" name="m-c27_price_tiers-okc-2-全部模板 2,000+">
            <a:extLst>
              <a:ext uri="{FF2B5EF4-FFF2-40B4-BE49-F238E27FC236}">
                <a16:creationId xmlns:a16="http://schemas.microsoft.com/office/drawing/2014/main" id="{17CA9EAA-0BB1-0CF5-B73D-FD6117B5337E}"/>
              </a:ext>
            </a:extLst>
          </p:cNvPr>
          <p:cNvSpPr/>
          <p:nvPr/>
        </p:nvSpPr>
        <p:spPr>
          <a:xfrm>
            <a:off x="5759006" y="6567742"/>
            <a:ext cx="15621" cy="11684"/>
          </a:xfrm>
          <a:custGeom>
            <a:avLst/>
            <a:gdLst/>
            <a:ahLst/>
            <a:cxnLst/>
            <a:rect l="0" t="0" r="r" b="b"/>
            <a:pathLst>
              <a:path w="15621" h="11684">
                <a:moveTo>
                  <a:pt x="0" y="6477"/>
                </a:moveTo>
                <a:lnTo>
                  <a:pt x="5207" y="11684"/>
                </a:lnTo>
                <a:lnTo>
                  <a:pt x="15621" y="0"/>
                </a:lnTo>
              </a:path>
            </a:pathLst>
          </a:custGeom>
          <a:noFill/>
          <a:ln w="312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01" name="m-c27_price_tiers-inc-2-全部模板 2,000+">
            <a:extLst>
              <a:ext uri="{FF2B5EF4-FFF2-40B4-BE49-F238E27FC236}">
                <a16:creationId xmlns:a16="http://schemas.microsoft.com/office/drawing/2014/main" id="{24CBC961-7D8F-8250-44A4-A07CABCC1AC5}"/>
              </a:ext>
            </a:extLst>
          </p:cNvPr>
          <p:cNvSpPr txBox="1"/>
          <p:nvPr/>
        </p:nvSpPr>
        <p:spPr>
          <a:xfrm>
            <a:off x="5795246" y="6553091"/>
            <a:ext cx="212394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全部模板 2,000+</a:t>
            </a:r>
          </a:p>
        </p:txBody>
      </p:sp>
      <p:sp>
        <p:nvSpPr>
          <p:cNvPr id="2102" name="m-c27_price_tiers-ok-2-200 GB 存储">
            <a:extLst>
              <a:ext uri="{FF2B5EF4-FFF2-40B4-BE49-F238E27FC236}">
                <a16:creationId xmlns:a16="http://schemas.microsoft.com/office/drawing/2014/main" id="{5F056A99-6777-1882-5056-1D8695A975BD}"/>
              </a:ext>
            </a:extLst>
          </p:cNvPr>
          <p:cNvSpPr/>
          <p:nvPr/>
        </p:nvSpPr>
        <p:spPr>
          <a:xfrm>
            <a:off x="5752497" y="6619780"/>
            <a:ext cx="28638" cy="28638"/>
          </a:xfrm>
          <a:prstGeom prst="ellipse">
            <a:avLst/>
          </a:pr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03" name="m-c27_price_tiers-okc-2-200 GB 存储">
            <a:extLst>
              <a:ext uri="{FF2B5EF4-FFF2-40B4-BE49-F238E27FC236}">
                <a16:creationId xmlns:a16="http://schemas.microsoft.com/office/drawing/2014/main" id="{45257FDB-2278-C88D-398B-A2A59BB8125E}"/>
              </a:ext>
            </a:extLst>
          </p:cNvPr>
          <p:cNvSpPr/>
          <p:nvPr/>
        </p:nvSpPr>
        <p:spPr>
          <a:xfrm>
            <a:off x="5759006" y="6627558"/>
            <a:ext cx="15621" cy="11747"/>
          </a:xfrm>
          <a:custGeom>
            <a:avLst/>
            <a:gdLst/>
            <a:ahLst/>
            <a:cxnLst/>
            <a:rect l="0" t="0" r="r" b="b"/>
            <a:pathLst>
              <a:path w="15621" h="11747">
                <a:moveTo>
                  <a:pt x="0" y="6540"/>
                </a:moveTo>
                <a:lnTo>
                  <a:pt x="5207" y="11747"/>
                </a:lnTo>
                <a:lnTo>
                  <a:pt x="15621" y="0"/>
                </a:lnTo>
              </a:path>
            </a:pathLst>
          </a:custGeom>
          <a:noFill/>
          <a:ln w="312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04" name="m-c27_price_tiers-inc-2-200 GB 存储">
            <a:extLst>
              <a:ext uri="{FF2B5EF4-FFF2-40B4-BE49-F238E27FC236}">
                <a16:creationId xmlns:a16="http://schemas.microsoft.com/office/drawing/2014/main" id="{D5BE32F2-4355-3F33-B1DD-F7727822E582}"/>
              </a:ext>
            </a:extLst>
          </p:cNvPr>
          <p:cNvSpPr txBox="1"/>
          <p:nvPr/>
        </p:nvSpPr>
        <p:spPr>
          <a:xfrm>
            <a:off x="5795246" y="6612972"/>
            <a:ext cx="164489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200 GB 存储</a:t>
            </a:r>
          </a:p>
        </p:txBody>
      </p:sp>
      <p:sp>
        <p:nvSpPr>
          <p:cNvPr id="2105" name="m-c27_price_tiers-ok-2-数据分析看板">
            <a:extLst>
              <a:ext uri="{FF2B5EF4-FFF2-40B4-BE49-F238E27FC236}">
                <a16:creationId xmlns:a16="http://schemas.microsoft.com/office/drawing/2014/main" id="{7C90E27B-1317-0EDF-EB27-8DD1CDAF8880}"/>
              </a:ext>
            </a:extLst>
          </p:cNvPr>
          <p:cNvSpPr/>
          <p:nvPr/>
        </p:nvSpPr>
        <p:spPr>
          <a:xfrm>
            <a:off x="5752497" y="6679660"/>
            <a:ext cx="28638" cy="28638"/>
          </a:xfrm>
          <a:prstGeom prst="ellipse">
            <a:avLst/>
          </a:pr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06" name="m-c27_price_tiers-okc-2-数据分析看板">
            <a:extLst>
              <a:ext uri="{FF2B5EF4-FFF2-40B4-BE49-F238E27FC236}">
                <a16:creationId xmlns:a16="http://schemas.microsoft.com/office/drawing/2014/main" id="{A920A3D6-1D19-9392-8781-BB863D576B1E}"/>
              </a:ext>
            </a:extLst>
          </p:cNvPr>
          <p:cNvSpPr/>
          <p:nvPr/>
        </p:nvSpPr>
        <p:spPr>
          <a:xfrm>
            <a:off x="5759006" y="6687439"/>
            <a:ext cx="15621" cy="11747"/>
          </a:xfrm>
          <a:custGeom>
            <a:avLst/>
            <a:gdLst/>
            <a:ahLst/>
            <a:cxnLst/>
            <a:rect l="0" t="0" r="r" b="b"/>
            <a:pathLst>
              <a:path w="15621" h="11747">
                <a:moveTo>
                  <a:pt x="0" y="6540"/>
                </a:moveTo>
                <a:lnTo>
                  <a:pt x="5207" y="11747"/>
                </a:lnTo>
                <a:lnTo>
                  <a:pt x="15621" y="0"/>
                </a:lnTo>
              </a:path>
            </a:pathLst>
          </a:custGeom>
          <a:noFill/>
          <a:ln w="312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07" name="m-c27_price_tiers-inc-2-数据分析看板">
            <a:extLst>
              <a:ext uri="{FF2B5EF4-FFF2-40B4-BE49-F238E27FC236}">
                <a16:creationId xmlns:a16="http://schemas.microsoft.com/office/drawing/2014/main" id="{2A87ABA1-D855-D679-A61F-B652BD485EE7}"/>
              </a:ext>
            </a:extLst>
          </p:cNvPr>
          <p:cNvSpPr txBox="1"/>
          <p:nvPr/>
        </p:nvSpPr>
        <p:spPr>
          <a:xfrm>
            <a:off x="5795246" y="6672852"/>
            <a:ext cx="164802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数据分析看板</a:t>
            </a:r>
          </a:p>
        </p:txBody>
      </p:sp>
      <p:sp>
        <p:nvSpPr>
          <p:cNvPr id="2108" name="m-c27_price_tiers-ok-2-7×12 在线支持">
            <a:extLst>
              <a:ext uri="{FF2B5EF4-FFF2-40B4-BE49-F238E27FC236}">
                <a16:creationId xmlns:a16="http://schemas.microsoft.com/office/drawing/2014/main" id="{8B2AB45B-FB21-BA7F-2C87-AD59EA88C5D0}"/>
              </a:ext>
            </a:extLst>
          </p:cNvPr>
          <p:cNvSpPr/>
          <p:nvPr/>
        </p:nvSpPr>
        <p:spPr>
          <a:xfrm>
            <a:off x="5752497" y="6739541"/>
            <a:ext cx="28638" cy="28638"/>
          </a:xfrm>
          <a:prstGeom prst="ellipse">
            <a:avLst/>
          </a:pr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09" name="m-c27_price_tiers-okc-2-7×12 在线支持">
            <a:extLst>
              <a:ext uri="{FF2B5EF4-FFF2-40B4-BE49-F238E27FC236}">
                <a16:creationId xmlns:a16="http://schemas.microsoft.com/office/drawing/2014/main" id="{B33CCE7B-1BDE-298D-3724-10266817B311}"/>
              </a:ext>
            </a:extLst>
          </p:cNvPr>
          <p:cNvSpPr/>
          <p:nvPr/>
        </p:nvSpPr>
        <p:spPr>
          <a:xfrm>
            <a:off x="5759006" y="6747383"/>
            <a:ext cx="15621" cy="11684"/>
          </a:xfrm>
          <a:custGeom>
            <a:avLst/>
            <a:gdLst/>
            <a:ahLst/>
            <a:cxnLst/>
            <a:rect l="0" t="0" r="r" b="b"/>
            <a:pathLst>
              <a:path w="15621" h="11684">
                <a:moveTo>
                  <a:pt x="0" y="6477"/>
                </a:moveTo>
                <a:lnTo>
                  <a:pt x="5207" y="11684"/>
                </a:lnTo>
                <a:lnTo>
                  <a:pt x="15621" y="0"/>
                </a:lnTo>
              </a:path>
            </a:pathLst>
          </a:custGeom>
          <a:noFill/>
          <a:ln w="312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10" name="m-c27_price_tiers-inc-2-7×12 在线支持">
            <a:extLst>
              <a:ext uri="{FF2B5EF4-FFF2-40B4-BE49-F238E27FC236}">
                <a16:creationId xmlns:a16="http://schemas.microsoft.com/office/drawing/2014/main" id="{DECD0FF8-FE79-A3DA-5E86-66B9A804EF4B}"/>
              </a:ext>
            </a:extLst>
          </p:cNvPr>
          <p:cNvSpPr txBox="1"/>
          <p:nvPr/>
        </p:nvSpPr>
        <p:spPr>
          <a:xfrm>
            <a:off x="5795246" y="6732733"/>
            <a:ext cx="185109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7×12 在线支持</a:t>
            </a:r>
          </a:p>
        </p:txBody>
      </p:sp>
      <p:cxnSp>
        <p:nvCxnSpPr>
          <p:cNvPr id="2111" name="m-c27_price_tiers-no-2-专属客户经理">
            <a:extLst>
              <a:ext uri="{FF2B5EF4-FFF2-40B4-BE49-F238E27FC236}">
                <a16:creationId xmlns:a16="http://schemas.microsoft.com/office/drawing/2014/main" id="{8C126599-DD89-B5B0-6A2F-8E5D7DB7F929}"/>
              </a:ext>
            </a:extLst>
          </p:cNvPr>
          <p:cNvCxnSpPr/>
          <p:nvPr/>
        </p:nvCxnSpPr>
        <p:spPr>
          <a:xfrm>
            <a:off x="5759006" y="6813740"/>
            <a:ext cx="15620" cy="0"/>
          </a:xfrm>
          <a:prstGeom prst="line">
            <a:avLst/>
          </a:prstGeom>
          <a:ln w="2604" cap="rnd">
            <a:solidFill>
              <a:srgbClr val="FFFFFF">
                <a:alpha val="4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2" name="m-c27_price_tiers-exc-2-专属客户经理">
            <a:extLst>
              <a:ext uri="{FF2B5EF4-FFF2-40B4-BE49-F238E27FC236}">
                <a16:creationId xmlns:a16="http://schemas.microsoft.com/office/drawing/2014/main" id="{CC52ADD9-D1FE-EA4E-4239-A1780610959E}"/>
              </a:ext>
            </a:extLst>
          </p:cNvPr>
          <p:cNvSpPr txBox="1"/>
          <p:nvPr/>
        </p:nvSpPr>
        <p:spPr>
          <a:xfrm>
            <a:off x="5795246" y="6792613"/>
            <a:ext cx="164802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8FB0D8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专属客户经理</a:t>
            </a:r>
          </a:p>
        </p:txBody>
      </p:sp>
      <p:sp>
        <p:nvSpPr>
          <p:cNvPr id="2113" name="m-c27_price_tiers-sh-2">
            <a:extLst>
              <a:ext uri="{FF2B5EF4-FFF2-40B4-BE49-F238E27FC236}">
                <a16:creationId xmlns:a16="http://schemas.microsoft.com/office/drawing/2014/main" id="{C424FDE1-6043-9D0A-14E7-9A70A852BB18}"/>
              </a:ext>
            </a:extLst>
          </p:cNvPr>
          <p:cNvSpPr/>
          <p:nvPr/>
        </p:nvSpPr>
        <p:spPr>
          <a:xfrm>
            <a:off x="5735574" y="6949122"/>
            <a:ext cx="602678" cy="96330"/>
          </a:xfrm>
          <a:custGeom>
            <a:avLst/>
            <a:gdLst/>
            <a:ahLst/>
            <a:cxnLst/>
            <a:rect l="0" t="0" r="r" b="b"/>
            <a:pathLst>
              <a:path w="602678" h="96330">
                <a:moveTo>
                  <a:pt x="23431" y="0"/>
                </a:moveTo>
                <a:lnTo>
                  <a:pt x="579247" y="0"/>
                </a:lnTo>
                <a:cubicBezTo>
                  <a:pt x="592201" y="0"/>
                  <a:pt x="602678" y="10478"/>
                  <a:pt x="602678" y="23432"/>
                </a:cubicBezTo>
                <a:lnTo>
                  <a:pt x="602678" y="72898"/>
                </a:lnTo>
                <a:cubicBezTo>
                  <a:pt x="602678" y="85852"/>
                  <a:pt x="592201" y="96330"/>
                  <a:pt x="579247" y="96330"/>
                </a:cubicBezTo>
                <a:lnTo>
                  <a:pt x="23431" y="96330"/>
                </a:lnTo>
                <a:cubicBezTo>
                  <a:pt x="10477" y="96330"/>
                  <a:pt x="0" y="85852"/>
                  <a:pt x="0" y="72898"/>
                </a:cubicBezTo>
                <a:lnTo>
                  <a:pt x="0" y="23432"/>
                </a:lnTo>
                <a:cubicBezTo>
                  <a:pt x="0" y="10478"/>
                  <a:pt x="10477" y="0"/>
                  <a:pt x="23431" y="0"/>
                </a:cubicBezTo>
                <a:close/>
              </a:path>
            </a:pathLst>
          </a:custGeom>
          <a:solidFill>
            <a:srgbClr val="FFFFF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14" name="m-c27_price_tiers-shl-2">
            <a:extLst>
              <a:ext uri="{FF2B5EF4-FFF2-40B4-BE49-F238E27FC236}">
                <a16:creationId xmlns:a16="http://schemas.microsoft.com/office/drawing/2014/main" id="{A2AB2BE8-6958-A847-C130-2435E234DAF5}"/>
              </a:ext>
            </a:extLst>
          </p:cNvPr>
          <p:cNvSpPr txBox="1"/>
          <p:nvPr/>
        </p:nvSpPr>
        <p:spPr>
          <a:xfrm>
            <a:off x="5766920" y="6983280"/>
            <a:ext cx="151524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10" normalizeH="0" baseline="0" noProof="0">
                <a:ln>
                  <a:noFill/>
                </a:ln>
                <a:solidFill>
                  <a:srgbClr val="CFE0F4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客户选择占比</a:t>
            </a:r>
          </a:p>
        </p:txBody>
      </p:sp>
      <p:sp>
        <p:nvSpPr>
          <p:cNvPr id="2115" name="m-c27_price_tiers-shv-2">
            <a:extLst>
              <a:ext uri="{FF2B5EF4-FFF2-40B4-BE49-F238E27FC236}">
                <a16:creationId xmlns:a16="http://schemas.microsoft.com/office/drawing/2014/main" id="{4753FFEE-AD5D-FAD5-09AC-5721A1CB092A}"/>
              </a:ext>
            </a:extLst>
          </p:cNvPr>
          <p:cNvSpPr txBox="1"/>
          <p:nvPr/>
        </p:nvSpPr>
        <p:spPr>
          <a:xfrm>
            <a:off x="6201965" y="6962765"/>
            <a:ext cx="107472" cy="7289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3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71%</a:t>
            </a:r>
          </a:p>
        </p:txBody>
      </p:sp>
      <p:sp>
        <p:nvSpPr>
          <p:cNvPr id="2116" name="m-c27_price_tiers-card-3">
            <a:extLst>
              <a:ext uri="{FF2B5EF4-FFF2-40B4-BE49-F238E27FC236}">
                <a16:creationId xmlns:a16="http://schemas.microsoft.com/office/drawing/2014/main" id="{A7C05C2F-FD6C-41BB-077C-808169D04490}"/>
              </a:ext>
            </a:extLst>
          </p:cNvPr>
          <p:cNvSpPr/>
          <p:nvPr/>
        </p:nvSpPr>
        <p:spPr>
          <a:xfrm>
            <a:off x="6409880" y="6142038"/>
            <a:ext cx="680784" cy="898208"/>
          </a:xfrm>
          <a:custGeom>
            <a:avLst/>
            <a:gdLst/>
            <a:ahLst/>
            <a:cxnLst/>
            <a:rect l="0" t="0" r="r" b="b"/>
            <a:pathLst>
              <a:path w="680784" h="898208">
                <a:moveTo>
                  <a:pt x="33846" y="0"/>
                </a:moveTo>
                <a:lnTo>
                  <a:pt x="647001" y="0"/>
                </a:lnTo>
                <a:cubicBezTo>
                  <a:pt x="665671" y="0"/>
                  <a:pt x="680784" y="15176"/>
                  <a:pt x="680784" y="33846"/>
                </a:cubicBezTo>
                <a:lnTo>
                  <a:pt x="680784" y="864362"/>
                </a:lnTo>
                <a:cubicBezTo>
                  <a:pt x="680784" y="883031"/>
                  <a:pt x="665671" y="898208"/>
                  <a:pt x="647001" y="898208"/>
                </a:cubicBezTo>
                <a:lnTo>
                  <a:pt x="33846" y="898208"/>
                </a:lnTo>
                <a:cubicBezTo>
                  <a:pt x="15177" y="898208"/>
                  <a:pt x="0" y="883031"/>
                  <a:pt x="0" y="864362"/>
                </a:cubicBezTo>
                <a:lnTo>
                  <a:pt x="0" y="33846"/>
                </a:lnTo>
                <a:cubicBezTo>
                  <a:pt x="0" y="15176"/>
                  <a:pt x="15177" y="0"/>
                  <a:pt x="33846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17" name="m-c27_price_tiers-en-3">
            <a:extLst>
              <a:ext uri="{FF2B5EF4-FFF2-40B4-BE49-F238E27FC236}">
                <a16:creationId xmlns:a16="http://schemas.microsoft.com/office/drawing/2014/main" id="{1A67B0BF-B881-17FB-B5B2-4172236A9E0A}"/>
              </a:ext>
            </a:extLst>
          </p:cNvPr>
          <p:cNvSpPr txBox="1"/>
          <p:nvPr/>
        </p:nvSpPr>
        <p:spPr>
          <a:xfrm>
            <a:off x="6459764" y="6200239"/>
            <a:ext cx="17052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41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ENTERPRISE</a:t>
            </a:r>
          </a:p>
        </p:txBody>
      </p:sp>
      <p:sp>
        <p:nvSpPr>
          <p:cNvPr id="2118" name="m-c27_price_tiers-nm-3">
            <a:extLst>
              <a:ext uri="{FF2B5EF4-FFF2-40B4-BE49-F238E27FC236}">
                <a16:creationId xmlns:a16="http://schemas.microsoft.com/office/drawing/2014/main" id="{2CEE3F65-1528-D521-4480-332DEA515BE6}"/>
              </a:ext>
            </a:extLst>
          </p:cNvPr>
          <p:cNvSpPr txBox="1"/>
          <p:nvPr/>
        </p:nvSpPr>
        <p:spPr>
          <a:xfrm>
            <a:off x="6456952" y="6233785"/>
            <a:ext cx="178079" cy="7289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3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旗舰版</a:t>
            </a:r>
          </a:p>
        </p:txBody>
      </p:sp>
      <p:sp>
        <p:nvSpPr>
          <p:cNvPr id="2119" name="m-c27_price_tiers-who-3">
            <a:extLst>
              <a:ext uri="{FF2B5EF4-FFF2-40B4-BE49-F238E27FC236}">
                <a16:creationId xmlns:a16="http://schemas.microsoft.com/office/drawing/2014/main" id="{20A93064-1709-7BF8-0751-ED425F66CC0D}"/>
              </a:ext>
            </a:extLst>
          </p:cNvPr>
          <p:cNvSpPr txBox="1"/>
          <p:nvPr/>
        </p:nvSpPr>
        <p:spPr>
          <a:xfrm>
            <a:off x="6459217" y="6303959"/>
            <a:ext cx="16109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集团与大客户</a:t>
            </a:r>
          </a:p>
        </p:txBody>
      </p:sp>
      <p:sp>
        <p:nvSpPr>
          <p:cNvPr id="2120" name="m-c27_price_tiers-cur-3">
            <a:extLst>
              <a:ext uri="{FF2B5EF4-FFF2-40B4-BE49-F238E27FC236}">
                <a16:creationId xmlns:a16="http://schemas.microsoft.com/office/drawing/2014/main" id="{9D1ACC0D-D92D-2512-8D29-3397F50F8623}"/>
              </a:ext>
            </a:extLst>
          </p:cNvPr>
          <p:cNvSpPr txBox="1"/>
          <p:nvPr/>
        </p:nvSpPr>
        <p:spPr>
          <a:xfrm>
            <a:off x="6457577" y="6409443"/>
            <a:ext cx="53216" cy="6378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9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¥</a:t>
            </a:r>
          </a:p>
        </p:txBody>
      </p:sp>
      <p:sp>
        <p:nvSpPr>
          <p:cNvPr id="2121" name="m-c27_price_tiers-pr-3">
            <a:extLst>
              <a:ext uri="{FF2B5EF4-FFF2-40B4-BE49-F238E27FC236}">
                <a16:creationId xmlns:a16="http://schemas.microsoft.com/office/drawing/2014/main" id="{D670AE14-B3D1-2942-FA79-F79B51825643}"/>
              </a:ext>
            </a:extLst>
          </p:cNvPr>
          <p:cNvSpPr txBox="1"/>
          <p:nvPr/>
        </p:nvSpPr>
        <p:spPr>
          <a:xfrm>
            <a:off x="6484549" y="6338706"/>
            <a:ext cx="241813" cy="16402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74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899</a:t>
            </a:r>
          </a:p>
        </p:txBody>
      </p:sp>
      <p:sp>
        <p:nvSpPr>
          <p:cNvPr id="2122" name="m-c27_price_tiers-pru-3">
            <a:extLst>
              <a:ext uri="{FF2B5EF4-FFF2-40B4-BE49-F238E27FC236}">
                <a16:creationId xmlns:a16="http://schemas.microsoft.com/office/drawing/2014/main" id="{368E6ABE-730A-2BA7-A4BB-C786C4E7A93F}"/>
              </a:ext>
            </a:extLst>
          </p:cNvPr>
          <p:cNvSpPr txBox="1"/>
          <p:nvPr/>
        </p:nvSpPr>
        <p:spPr>
          <a:xfrm>
            <a:off x="6680749" y="6428735"/>
            <a:ext cx="155898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元 / 人 / 月</a:t>
            </a:r>
          </a:p>
        </p:txBody>
      </p:sp>
      <p:cxnSp>
        <p:nvCxnSpPr>
          <p:cNvPr id="2123" name="m-c27_price_tiers-sep-3">
            <a:extLst>
              <a:ext uri="{FF2B5EF4-FFF2-40B4-BE49-F238E27FC236}">
                <a16:creationId xmlns:a16="http://schemas.microsoft.com/office/drawing/2014/main" id="{EAC4C5D9-5A1E-BFF5-E379-FB42D00D63E8}"/>
              </a:ext>
            </a:extLst>
          </p:cNvPr>
          <p:cNvCxnSpPr/>
          <p:nvPr/>
        </p:nvCxnSpPr>
        <p:spPr>
          <a:xfrm>
            <a:off x="6461950" y="6506528"/>
            <a:ext cx="576676" cy="0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24" name="m-c27_price_tiers-ok-3-不限账号">
            <a:extLst>
              <a:ext uri="{FF2B5EF4-FFF2-40B4-BE49-F238E27FC236}">
                <a16:creationId xmlns:a16="http://schemas.microsoft.com/office/drawing/2014/main" id="{35205F08-AB91-0E69-D898-BCE9DF8AD9F9}"/>
              </a:ext>
            </a:extLst>
          </p:cNvPr>
          <p:cNvSpPr/>
          <p:nvPr/>
        </p:nvSpPr>
        <p:spPr>
          <a:xfrm>
            <a:off x="6465856" y="6544278"/>
            <a:ext cx="28638" cy="28638"/>
          </a:xfrm>
          <a:prstGeom prst="ellipse">
            <a:avLst/>
          </a:prstGeom>
          <a:solidFill>
            <a:srgbClr val="3985CD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25" name="m-c27_price_tiers-okc-3-不限账号">
            <a:extLst>
              <a:ext uri="{FF2B5EF4-FFF2-40B4-BE49-F238E27FC236}">
                <a16:creationId xmlns:a16="http://schemas.microsoft.com/office/drawing/2014/main" id="{CCAB1088-DB76-171F-7488-772B465EC5B0}"/>
              </a:ext>
            </a:extLst>
          </p:cNvPr>
          <p:cNvSpPr/>
          <p:nvPr/>
        </p:nvSpPr>
        <p:spPr>
          <a:xfrm>
            <a:off x="6472364" y="6552120"/>
            <a:ext cx="15621" cy="11684"/>
          </a:xfrm>
          <a:custGeom>
            <a:avLst/>
            <a:gdLst/>
            <a:ahLst/>
            <a:cxnLst/>
            <a:rect l="0" t="0" r="r" b="b"/>
            <a:pathLst>
              <a:path w="15621" h="11684">
                <a:moveTo>
                  <a:pt x="0" y="6477"/>
                </a:moveTo>
                <a:lnTo>
                  <a:pt x="5207" y="11684"/>
                </a:lnTo>
                <a:lnTo>
                  <a:pt x="15621" y="0"/>
                </a:lnTo>
              </a:path>
            </a:pathLst>
          </a:custGeom>
          <a:noFill/>
          <a:ln w="3124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26" name="m-c27_price_tiers-inc-3-不限账号">
            <a:extLst>
              <a:ext uri="{FF2B5EF4-FFF2-40B4-BE49-F238E27FC236}">
                <a16:creationId xmlns:a16="http://schemas.microsoft.com/office/drawing/2014/main" id="{D3B157B3-1CEA-6770-95B9-16993F3162CB}"/>
              </a:ext>
            </a:extLst>
          </p:cNvPr>
          <p:cNvSpPr txBox="1"/>
          <p:nvPr/>
        </p:nvSpPr>
        <p:spPr>
          <a:xfrm>
            <a:off x="6508605" y="6537470"/>
            <a:ext cx="116897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不限账号</a:t>
            </a:r>
          </a:p>
        </p:txBody>
      </p:sp>
      <p:sp>
        <p:nvSpPr>
          <p:cNvPr id="2127" name="m-c27_price_tiers-ok-3-全部模板 + 定制">
            <a:extLst>
              <a:ext uri="{FF2B5EF4-FFF2-40B4-BE49-F238E27FC236}">
                <a16:creationId xmlns:a16="http://schemas.microsoft.com/office/drawing/2014/main" id="{0BA2192F-A6E2-23DF-F6D4-2429BEC29FFD}"/>
              </a:ext>
            </a:extLst>
          </p:cNvPr>
          <p:cNvSpPr/>
          <p:nvPr/>
        </p:nvSpPr>
        <p:spPr>
          <a:xfrm>
            <a:off x="6465856" y="6604159"/>
            <a:ext cx="28638" cy="28638"/>
          </a:xfrm>
          <a:prstGeom prst="ellipse">
            <a:avLst/>
          </a:prstGeom>
          <a:solidFill>
            <a:srgbClr val="3985CD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28" name="m-c27_price_tiers-okc-3-全部模板 + 定制">
            <a:extLst>
              <a:ext uri="{FF2B5EF4-FFF2-40B4-BE49-F238E27FC236}">
                <a16:creationId xmlns:a16="http://schemas.microsoft.com/office/drawing/2014/main" id="{342D25D4-E974-0B22-A520-6F95A7B6B46A}"/>
              </a:ext>
            </a:extLst>
          </p:cNvPr>
          <p:cNvSpPr/>
          <p:nvPr/>
        </p:nvSpPr>
        <p:spPr>
          <a:xfrm>
            <a:off x="6472364" y="6612001"/>
            <a:ext cx="15621" cy="11684"/>
          </a:xfrm>
          <a:custGeom>
            <a:avLst/>
            <a:gdLst/>
            <a:ahLst/>
            <a:cxnLst/>
            <a:rect l="0" t="0" r="r" b="b"/>
            <a:pathLst>
              <a:path w="15621" h="11684">
                <a:moveTo>
                  <a:pt x="0" y="6477"/>
                </a:moveTo>
                <a:lnTo>
                  <a:pt x="5207" y="11684"/>
                </a:lnTo>
                <a:lnTo>
                  <a:pt x="15621" y="0"/>
                </a:lnTo>
              </a:path>
            </a:pathLst>
          </a:custGeom>
          <a:noFill/>
          <a:ln w="3124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29" name="m-c27_price_tiers-inc-3-全部模板 + 定制">
            <a:extLst>
              <a:ext uri="{FF2B5EF4-FFF2-40B4-BE49-F238E27FC236}">
                <a16:creationId xmlns:a16="http://schemas.microsoft.com/office/drawing/2014/main" id="{5CB2E957-79F3-9BB9-9046-4A5E7C6962AF}"/>
              </a:ext>
            </a:extLst>
          </p:cNvPr>
          <p:cNvSpPr txBox="1"/>
          <p:nvPr/>
        </p:nvSpPr>
        <p:spPr>
          <a:xfrm>
            <a:off x="6508605" y="6597351"/>
            <a:ext cx="205729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全部模板 + 定制</a:t>
            </a:r>
          </a:p>
        </p:txBody>
      </p:sp>
      <p:sp>
        <p:nvSpPr>
          <p:cNvPr id="2130" name="m-c27_price_tiers-ok-3-不限存储">
            <a:extLst>
              <a:ext uri="{FF2B5EF4-FFF2-40B4-BE49-F238E27FC236}">
                <a16:creationId xmlns:a16="http://schemas.microsoft.com/office/drawing/2014/main" id="{1BCA3AED-905E-3BA2-B01C-4C62117D4200}"/>
              </a:ext>
            </a:extLst>
          </p:cNvPr>
          <p:cNvSpPr/>
          <p:nvPr/>
        </p:nvSpPr>
        <p:spPr>
          <a:xfrm>
            <a:off x="6465856" y="6664039"/>
            <a:ext cx="28638" cy="28638"/>
          </a:xfrm>
          <a:prstGeom prst="ellipse">
            <a:avLst/>
          </a:prstGeom>
          <a:solidFill>
            <a:srgbClr val="3985CD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31" name="m-c27_price_tiers-okc-3-不限存储">
            <a:extLst>
              <a:ext uri="{FF2B5EF4-FFF2-40B4-BE49-F238E27FC236}">
                <a16:creationId xmlns:a16="http://schemas.microsoft.com/office/drawing/2014/main" id="{7A0F3F0E-AE71-07D5-51D9-8A48BAF7029C}"/>
              </a:ext>
            </a:extLst>
          </p:cNvPr>
          <p:cNvSpPr/>
          <p:nvPr/>
        </p:nvSpPr>
        <p:spPr>
          <a:xfrm>
            <a:off x="6472364" y="6671818"/>
            <a:ext cx="15621" cy="11747"/>
          </a:xfrm>
          <a:custGeom>
            <a:avLst/>
            <a:gdLst/>
            <a:ahLst/>
            <a:cxnLst/>
            <a:rect l="0" t="0" r="r" b="b"/>
            <a:pathLst>
              <a:path w="15621" h="11747">
                <a:moveTo>
                  <a:pt x="0" y="6540"/>
                </a:moveTo>
                <a:lnTo>
                  <a:pt x="5207" y="11747"/>
                </a:lnTo>
                <a:lnTo>
                  <a:pt x="15621" y="0"/>
                </a:lnTo>
              </a:path>
            </a:pathLst>
          </a:custGeom>
          <a:noFill/>
          <a:ln w="3124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32" name="m-c27_price_tiers-inc-3-不限存储">
            <a:extLst>
              <a:ext uri="{FF2B5EF4-FFF2-40B4-BE49-F238E27FC236}">
                <a16:creationId xmlns:a16="http://schemas.microsoft.com/office/drawing/2014/main" id="{1A425BD3-DB9D-5870-54CC-AE59FC16EF06}"/>
              </a:ext>
            </a:extLst>
          </p:cNvPr>
          <p:cNvSpPr txBox="1"/>
          <p:nvPr/>
        </p:nvSpPr>
        <p:spPr>
          <a:xfrm>
            <a:off x="6508605" y="6657231"/>
            <a:ext cx="116897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不限存储</a:t>
            </a:r>
          </a:p>
        </p:txBody>
      </p:sp>
      <p:sp>
        <p:nvSpPr>
          <p:cNvPr id="2133" name="m-c27_price_tiers-ok-3-数据分析看板">
            <a:extLst>
              <a:ext uri="{FF2B5EF4-FFF2-40B4-BE49-F238E27FC236}">
                <a16:creationId xmlns:a16="http://schemas.microsoft.com/office/drawing/2014/main" id="{9037BAE6-BEB4-31E2-FE0B-3049F70F5A30}"/>
              </a:ext>
            </a:extLst>
          </p:cNvPr>
          <p:cNvSpPr/>
          <p:nvPr/>
        </p:nvSpPr>
        <p:spPr>
          <a:xfrm>
            <a:off x="6465856" y="6723920"/>
            <a:ext cx="28638" cy="28638"/>
          </a:xfrm>
          <a:prstGeom prst="ellipse">
            <a:avLst/>
          </a:prstGeom>
          <a:solidFill>
            <a:srgbClr val="3985CD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34" name="m-c27_price_tiers-okc-3-数据分析看板">
            <a:extLst>
              <a:ext uri="{FF2B5EF4-FFF2-40B4-BE49-F238E27FC236}">
                <a16:creationId xmlns:a16="http://schemas.microsoft.com/office/drawing/2014/main" id="{50A3A7F4-301C-64FE-F61B-A84BB928BBD5}"/>
              </a:ext>
            </a:extLst>
          </p:cNvPr>
          <p:cNvSpPr/>
          <p:nvPr/>
        </p:nvSpPr>
        <p:spPr>
          <a:xfrm>
            <a:off x="6472364" y="6731762"/>
            <a:ext cx="15621" cy="11684"/>
          </a:xfrm>
          <a:custGeom>
            <a:avLst/>
            <a:gdLst/>
            <a:ahLst/>
            <a:cxnLst/>
            <a:rect l="0" t="0" r="r" b="b"/>
            <a:pathLst>
              <a:path w="15621" h="11684">
                <a:moveTo>
                  <a:pt x="0" y="6477"/>
                </a:moveTo>
                <a:lnTo>
                  <a:pt x="5207" y="11684"/>
                </a:lnTo>
                <a:lnTo>
                  <a:pt x="15621" y="0"/>
                </a:lnTo>
              </a:path>
            </a:pathLst>
          </a:custGeom>
          <a:noFill/>
          <a:ln w="3124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35" name="m-c27_price_tiers-inc-3-数据分析看板">
            <a:extLst>
              <a:ext uri="{FF2B5EF4-FFF2-40B4-BE49-F238E27FC236}">
                <a16:creationId xmlns:a16="http://schemas.microsoft.com/office/drawing/2014/main" id="{61FF68D9-C2CA-C19D-7732-22540BFA15A1}"/>
              </a:ext>
            </a:extLst>
          </p:cNvPr>
          <p:cNvSpPr txBox="1"/>
          <p:nvPr/>
        </p:nvSpPr>
        <p:spPr>
          <a:xfrm>
            <a:off x="6508605" y="6717112"/>
            <a:ext cx="164802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数据分析看板</a:t>
            </a:r>
          </a:p>
        </p:txBody>
      </p:sp>
      <p:sp>
        <p:nvSpPr>
          <p:cNvPr id="2136" name="m-c27_price_tiers-ok-3-专属客户经理">
            <a:extLst>
              <a:ext uri="{FF2B5EF4-FFF2-40B4-BE49-F238E27FC236}">
                <a16:creationId xmlns:a16="http://schemas.microsoft.com/office/drawing/2014/main" id="{E15F8BD7-90A7-E46E-36A3-0D8EAB3F23FF}"/>
              </a:ext>
            </a:extLst>
          </p:cNvPr>
          <p:cNvSpPr/>
          <p:nvPr/>
        </p:nvSpPr>
        <p:spPr>
          <a:xfrm>
            <a:off x="6465856" y="6783800"/>
            <a:ext cx="28638" cy="28638"/>
          </a:xfrm>
          <a:prstGeom prst="ellipse">
            <a:avLst/>
          </a:prstGeom>
          <a:solidFill>
            <a:srgbClr val="3985CD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37" name="m-c27_price_tiers-okc-3-专属客户经理">
            <a:extLst>
              <a:ext uri="{FF2B5EF4-FFF2-40B4-BE49-F238E27FC236}">
                <a16:creationId xmlns:a16="http://schemas.microsoft.com/office/drawing/2014/main" id="{4BA50675-EC5E-894D-7226-818212250B3E}"/>
              </a:ext>
            </a:extLst>
          </p:cNvPr>
          <p:cNvSpPr/>
          <p:nvPr/>
        </p:nvSpPr>
        <p:spPr>
          <a:xfrm>
            <a:off x="6472364" y="6791642"/>
            <a:ext cx="15621" cy="11684"/>
          </a:xfrm>
          <a:custGeom>
            <a:avLst/>
            <a:gdLst/>
            <a:ahLst/>
            <a:cxnLst/>
            <a:rect l="0" t="0" r="r" b="b"/>
            <a:pathLst>
              <a:path w="15621" h="11684">
                <a:moveTo>
                  <a:pt x="0" y="6477"/>
                </a:moveTo>
                <a:lnTo>
                  <a:pt x="5207" y="11684"/>
                </a:lnTo>
                <a:lnTo>
                  <a:pt x="15621" y="0"/>
                </a:lnTo>
              </a:path>
            </a:pathLst>
          </a:custGeom>
          <a:noFill/>
          <a:ln w="3124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38" name="m-c27_price_tiers-inc-3-专属客户经理">
            <a:extLst>
              <a:ext uri="{FF2B5EF4-FFF2-40B4-BE49-F238E27FC236}">
                <a16:creationId xmlns:a16="http://schemas.microsoft.com/office/drawing/2014/main" id="{64E6EDFA-E6C4-389E-8C2E-2466EAA62657}"/>
              </a:ext>
            </a:extLst>
          </p:cNvPr>
          <p:cNvSpPr txBox="1"/>
          <p:nvPr/>
        </p:nvSpPr>
        <p:spPr>
          <a:xfrm>
            <a:off x="6508605" y="6776992"/>
            <a:ext cx="164802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专属客户经理</a:t>
            </a:r>
          </a:p>
        </p:txBody>
      </p:sp>
      <p:sp>
        <p:nvSpPr>
          <p:cNvPr id="2139" name="m-c27_price_tiers-sh-3">
            <a:extLst>
              <a:ext uri="{FF2B5EF4-FFF2-40B4-BE49-F238E27FC236}">
                <a16:creationId xmlns:a16="http://schemas.microsoft.com/office/drawing/2014/main" id="{87CBA84B-D841-17EA-2FFB-A69016A8DF0D}"/>
              </a:ext>
            </a:extLst>
          </p:cNvPr>
          <p:cNvSpPr/>
          <p:nvPr/>
        </p:nvSpPr>
        <p:spPr>
          <a:xfrm>
            <a:off x="6448933" y="6904863"/>
            <a:ext cx="602678" cy="96329"/>
          </a:xfrm>
          <a:custGeom>
            <a:avLst/>
            <a:gdLst/>
            <a:ahLst/>
            <a:cxnLst/>
            <a:rect l="0" t="0" r="r" b="b"/>
            <a:pathLst>
              <a:path w="602678" h="96329">
                <a:moveTo>
                  <a:pt x="23431" y="0"/>
                </a:moveTo>
                <a:lnTo>
                  <a:pt x="579310" y="0"/>
                </a:lnTo>
                <a:cubicBezTo>
                  <a:pt x="592201" y="0"/>
                  <a:pt x="602678" y="10477"/>
                  <a:pt x="602678" y="23431"/>
                </a:cubicBezTo>
                <a:lnTo>
                  <a:pt x="602678" y="72898"/>
                </a:lnTo>
                <a:cubicBezTo>
                  <a:pt x="602678" y="85852"/>
                  <a:pt x="592201" y="96329"/>
                  <a:pt x="579310" y="96329"/>
                </a:cubicBezTo>
                <a:lnTo>
                  <a:pt x="23431" y="96329"/>
                </a:lnTo>
                <a:cubicBezTo>
                  <a:pt x="10477" y="96329"/>
                  <a:pt x="0" y="85852"/>
                  <a:pt x="0" y="72898"/>
                </a:cubicBezTo>
                <a:lnTo>
                  <a:pt x="0" y="23431"/>
                </a:lnTo>
                <a:cubicBezTo>
                  <a:pt x="0" y="10477"/>
                  <a:pt x="10477" y="0"/>
                  <a:pt x="23431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40" name="m-c27_price_tiers-shl-3">
            <a:extLst>
              <a:ext uri="{FF2B5EF4-FFF2-40B4-BE49-F238E27FC236}">
                <a16:creationId xmlns:a16="http://schemas.microsoft.com/office/drawing/2014/main" id="{24D92078-BEE7-BFD2-AB68-112FECDA7833}"/>
              </a:ext>
            </a:extLst>
          </p:cNvPr>
          <p:cNvSpPr txBox="1"/>
          <p:nvPr/>
        </p:nvSpPr>
        <p:spPr>
          <a:xfrm>
            <a:off x="6480279" y="6939021"/>
            <a:ext cx="151524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客户选择占比</a:t>
            </a:r>
          </a:p>
        </p:txBody>
      </p:sp>
      <p:sp>
        <p:nvSpPr>
          <p:cNvPr id="2141" name="m-c27_price_tiers-shv-3">
            <a:extLst>
              <a:ext uri="{FF2B5EF4-FFF2-40B4-BE49-F238E27FC236}">
                <a16:creationId xmlns:a16="http://schemas.microsoft.com/office/drawing/2014/main" id="{A1EE678A-2312-8B16-2A7C-994E797EFA15}"/>
              </a:ext>
            </a:extLst>
          </p:cNvPr>
          <p:cNvSpPr txBox="1"/>
          <p:nvPr/>
        </p:nvSpPr>
        <p:spPr>
          <a:xfrm>
            <a:off x="6915324" y="6918505"/>
            <a:ext cx="107472" cy="7289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3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11%</a:t>
            </a:r>
          </a:p>
        </p:txBody>
      </p:sp>
      <p:cxnSp>
        <p:nvCxnSpPr>
          <p:cNvPr id="2142" name="m-c27_price_tiers-foot-line">
            <a:extLst>
              <a:ext uri="{FF2B5EF4-FFF2-40B4-BE49-F238E27FC236}">
                <a16:creationId xmlns:a16="http://schemas.microsoft.com/office/drawing/2014/main" id="{EB2E540B-B6DC-B3BF-177A-5392197B4AF7}"/>
              </a:ext>
            </a:extLst>
          </p:cNvPr>
          <p:cNvCxnSpPr/>
          <p:nvPr/>
        </p:nvCxnSpPr>
        <p:spPr>
          <a:xfrm>
            <a:off x="4907661" y="71417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43" name="m-c27_price_tiers-foot-l">
            <a:extLst>
              <a:ext uri="{FF2B5EF4-FFF2-40B4-BE49-F238E27FC236}">
                <a16:creationId xmlns:a16="http://schemas.microsoft.com/office/drawing/2014/main" id="{B170BE96-0F53-8736-8EFF-67D14D771229}"/>
              </a:ext>
            </a:extLst>
          </p:cNvPr>
          <p:cNvSpPr txBox="1"/>
          <p:nvPr/>
        </p:nvSpPr>
        <p:spPr>
          <a:xfrm>
            <a:off x="4905474" y="7155723"/>
            <a:ext cx="21429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价格方案 · 三档订阅</a:t>
            </a:r>
          </a:p>
        </p:txBody>
      </p:sp>
      <p:sp>
        <p:nvSpPr>
          <p:cNvPr id="2144" name="m-c27_price_tiers-foot-r">
            <a:extLst>
              <a:ext uri="{FF2B5EF4-FFF2-40B4-BE49-F238E27FC236}">
                <a16:creationId xmlns:a16="http://schemas.microsoft.com/office/drawing/2014/main" id="{403DB2B9-D531-6849-AC81-9D42D2BD0336}"/>
              </a:ext>
            </a:extLst>
          </p:cNvPr>
          <p:cNvSpPr txBox="1"/>
          <p:nvPr/>
        </p:nvSpPr>
        <p:spPr>
          <a:xfrm>
            <a:off x="6909909" y="71557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2145" name="mini-card-d02_progress_rings">
            <a:extLst>
              <a:ext uri="{FF2B5EF4-FFF2-40B4-BE49-F238E27FC236}">
                <a16:creationId xmlns:a16="http://schemas.microsoft.com/office/drawing/2014/main" id="{E256C4A7-E9CC-A6EC-749E-9FF95EC8763A}"/>
              </a:ext>
            </a:extLst>
          </p:cNvPr>
          <p:cNvSpPr/>
          <p:nvPr/>
        </p:nvSpPr>
        <p:spPr>
          <a:xfrm>
            <a:off x="7404100" y="58166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1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1" y="1405890"/>
                </a:lnTo>
                <a:cubicBezTo>
                  <a:pt x="35878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7"/>
                  <a:pt x="35878" y="0"/>
                  <a:pt x="80201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46" name="m-d02_progress_rings-title-bar">
            <a:extLst>
              <a:ext uri="{FF2B5EF4-FFF2-40B4-BE49-F238E27FC236}">
                <a16:creationId xmlns:a16="http://schemas.microsoft.com/office/drawing/2014/main" id="{B45A7912-3CA2-2B6D-CDAA-B1EFF84995B7}"/>
              </a:ext>
            </a:extLst>
          </p:cNvPr>
          <p:cNvSpPr/>
          <p:nvPr/>
        </p:nvSpPr>
        <p:spPr>
          <a:xfrm>
            <a:off x="7523861" y="59155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47" name="m-d02_progress_rings-title-bar-accent">
            <a:extLst>
              <a:ext uri="{FF2B5EF4-FFF2-40B4-BE49-F238E27FC236}">
                <a16:creationId xmlns:a16="http://schemas.microsoft.com/office/drawing/2014/main" id="{3A5DC8E7-DAC5-F31F-9647-0114DDA8F2F3}"/>
              </a:ext>
            </a:extLst>
          </p:cNvPr>
          <p:cNvSpPr/>
          <p:nvPr/>
        </p:nvSpPr>
        <p:spPr>
          <a:xfrm>
            <a:off x="7523861" y="59155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48" name="m-d02_progress_rings-title-cn">
            <a:extLst>
              <a:ext uri="{FF2B5EF4-FFF2-40B4-BE49-F238E27FC236}">
                <a16:creationId xmlns:a16="http://schemas.microsoft.com/office/drawing/2014/main" id="{618908A1-BD36-52BE-4881-231BEC75A0BD}"/>
              </a:ext>
            </a:extLst>
          </p:cNvPr>
          <p:cNvSpPr txBox="1"/>
          <p:nvPr/>
        </p:nvSpPr>
        <p:spPr>
          <a:xfrm>
            <a:off x="7556040" y="5898168"/>
            <a:ext cx="488937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年度目标完成度</a:t>
            </a:r>
          </a:p>
        </p:txBody>
      </p:sp>
      <p:sp>
        <p:nvSpPr>
          <p:cNvPr id="2149" name="m-d02_progress_rings-title-en">
            <a:extLst>
              <a:ext uri="{FF2B5EF4-FFF2-40B4-BE49-F238E27FC236}">
                <a16:creationId xmlns:a16="http://schemas.microsoft.com/office/drawing/2014/main" id="{A0B14951-EDC9-D150-8D96-70EC70E6A492}"/>
              </a:ext>
            </a:extLst>
          </p:cNvPr>
          <p:cNvSpPr txBox="1"/>
          <p:nvPr/>
        </p:nvSpPr>
        <p:spPr>
          <a:xfrm>
            <a:off x="7563330" y="5985450"/>
            <a:ext cx="29640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ANNUAL PROGRESS</a:t>
            </a:r>
          </a:p>
        </p:txBody>
      </p:sp>
      <p:sp>
        <p:nvSpPr>
          <p:cNvPr id="2150" name="m-d02_progress_rings-title-sub">
            <a:extLst>
              <a:ext uri="{FF2B5EF4-FFF2-40B4-BE49-F238E27FC236}">
                <a16:creationId xmlns:a16="http://schemas.microsoft.com/office/drawing/2014/main" id="{C155A312-E4E5-D3BF-1156-502F564C61CC}"/>
              </a:ext>
            </a:extLst>
          </p:cNvPr>
          <p:cNvSpPr txBox="1"/>
          <p:nvPr/>
        </p:nvSpPr>
        <p:spPr>
          <a:xfrm>
            <a:off x="9391534" y="5954592"/>
            <a:ext cx="394821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总体进度与四项关键指标的完成情况</a:t>
            </a:r>
          </a:p>
        </p:txBody>
      </p:sp>
      <p:sp>
        <p:nvSpPr>
          <p:cNvPr id="2151" name="m-d02_progress_rings-main-bg">
            <a:extLst>
              <a:ext uri="{FF2B5EF4-FFF2-40B4-BE49-F238E27FC236}">
                <a16:creationId xmlns:a16="http://schemas.microsoft.com/office/drawing/2014/main" id="{EBDB3135-B12D-1865-E95A-13856EB5F559}"/>
              </a:ext>
            </a:extLst>
          </p:cNvPr>
          <p:cNvSpPr/>
          <p:nvPr/>
        </p:nvSpPr>
        <p:spPr>
          <a:xfrm>
            <a:off x="7831074" y="6316472"/>
            <a:ext cx="551942" cy="551942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52" name="m-d02_progress_rings-main-track">
            <a:extLst>
              <a:ext uri="{FF2B5EF4-FFF2-40B4-BE49-F238E27FC236}">
                <a16:creationId xmlns:a16="http://schemas.microsoft.com/office/drawing/2014/main" id="{25056D9E-F8CB-1A79-2AA9-93FE02DE3EFC}"/>
              </a:ext>
            </a:extLst>
          </p:cNvPr>
          <p:cNvSpPr/>
          <p:nvPr/>
        </p:nvSpPr>
        <p:spPr>
          <a:xfrm>
            <a:off x="7875334" y="6360732"/>
            <a:ext cx="463423" cy="463423"/>
          </a:xfrm>
          <a:prstGeom prst="ellipse">
            <a:avLst/>
          </a:prstGeom>
          <a:noFill/>
          <a:ln w="39052" cap="rnd">
            <a:solidFill>
              <a:srgbClr val="E3EBF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53" name="m-d02_progress_rings-main-arc">
            <a:extLst>
              <a:ext uri="{FF2B5EF4-FFF2-40B4-BE49-F238E27FC236}">
                <a16:creationId xmlns:a16="http://schemas.microsoft.com/office/drawing/2014/main" id="{E6DE6AA1-3D40-D04B-A192-7F7DCF198605}"/>
              </a:ext>
            </a:extLst>
          </p:cNvPr>
          <p:cNvSpPr/>
          <p:nvPr/>
        </p:nvSpPr>
        <p:spPr>
          <a:xfrm>
            <a:off x="7875453" y="6360732"/>
            <a:ext cx="463151" cy="463416"/>
          </a:xfrm>
          <a:custGeom>
            <a:avLst/>
            <a:gdLst/>
            <a:ahLst/>
            <a:cxnLst/>
            <a:rect l="0" t="0" r="r" b="b"/>
            <a:pathLst>
              <a:path w="463151" h="463416">
                <a:moveTo>
                  <a:pt x="231592" y="0"/>
                </a:moveTo>
                <a:cubicBezTo>
                  <a:pt x="329318" y="0"/>
                  <a:pt x="416504" y="61277"/>
                  <a:pt x="449587" y="153225"/>
                </a:cubicBezTo>
                <a:cubicBezTo>
                  <a:pt x="482671" y="245173"/>
                  <a:pt x="454604" y="347980"/>
                  <a:pt x="379293" y="410273"/>
                </a:cubicBezTo>
                <a:cubicBezTo>
                  <a:pt x="303982" y="472503"/>
                  <a:pt x="197746" y="480886"/>
                  <a:pt x="113672" y="431165"/>
                </a:cubicBezTo>
                <a:cubicBezTo>
                  <a:pt x="29535" y="381444"/>
                  <a:pt x="-14344" y="284289"/>
                  <a:pt x="4008" y="188277"/>
                </a:cubicBezTo>
              </a:path>
            </a:pathLst>
          </a:custGeom>
          <a:noFill/>
          <a:ln w="39052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54" name="m-d02_progress_rings-main-line">
            <a:extLst>
              <a:ext uri="{FF2B5EF4-FFF2-40B4-BE49-F238E27FC236}">
                <a16:creationId xmlns:a16="http://schemas.microsoft.com/office/drawing/2014/main" id="{0CD02124-4569-4AC9-B760-24D590E2AE6F}"/>
              </a:ext>
            </a:extLst>
          </p:cNvPr>
          <p:cNvSpPr/>
          <p:nvPr/>
        </p:nvSpPr>
        <p:spPr>
          <a:xfrm>
            <a:off x="7911782" y="6397180"/>
            <a:ext cx="390525" cy="390525"/>
          </a:xfrm>
          <a:prstGeom prst="ellipse">
            <a:avLst/>
          </a:prstGeom>
          <a:noFill/>
          <a:ln w="2540" cap="rnd">
            <a:solidFill>
              <a:srgbClr val="1B5AA8">
                <a:alpha val="1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55" name="m-d02_progress_rings-main-v">
            <a:extLst>
              <a:ext uri="{FF2B5EF4-FFF2-40B4-BE49-F238E27FC236}">
                <a16:creationId xmlns:a16="http://schemas.microsoft.com/office/drawing/2014/main" id="{0E905D13-0353-1309-C0D2-B82CAB6A4985}"/>
              </a:ext>
            </a:extLst>
          </p:cNvPr>
          <p:cNvSpPr txBox="1"/>
          <p:nvPr/>
        </p:nvSpPr>
        <p:spPr>
          <a:xfrm>
            <a:off x="7872209" y="6466746"/>
            <a:ext cx="255039" cy="21869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980" b="1" i="0" u="none" strike="noStrike" kern="1200" cap="none" spc="1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78</a:t>
            </a:r>
          </a:p>
        </p:txBody>
      </p:sp>
      <p:sp>
        <p:nvSpPr>
          <p:cNvPr id="2156" name="m-d02_progress_rings-main-p">
            <a:extLst>
              <a:ext uri="{FF2B5EF4-FFF2-40B4-BE49-F238E27FC236}">
                <a16:creationId xmlns:a16="http://schemas.microsoft.com/office/drawing/2014/main" id="{327DD1CE-A5E7-4553-7007-72D60DE1AC15}"/>
              </a:ext>
            </a:extLst>
          </p:cNvPr>
          <p:cNvSpPr txBox="1"/>
          <p:nvPr/>
        </p:nvSpPr>
        <p:spPr>
          <a:xfrm>
            <a:off x="8117980" y="6520782"/>
            <a:ext cx="57017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%</a:t>
            </a:r>
          </a:p>
        </p:txBody>
      </p:sp>
      <p:sp>
        <p:nvSpPr>
          <p:cNvPr id="2157" name="m-d02_progress_rings-main-l">
            <a:extLst>
              <a:ext uri="{FF2B5EF4-FFF2-40B4-BE49-F238E27FC236}">
                <a16:creationId xmlns:a16="http://schemas.microsoft.com/office/drawing/2014/main" id="{7D0A4C9F-D890-1B51-6355-A4EA90AF0174}"/>
              </a:ext>
            </a:extLst>
          </p:cNvPr>
          <p:cNvSpPr txBox="1"/>
          <p:nvPr/>
        </p:nvSpPr>
        <p:spPr>
          <a:xfrm>
            <a:off x="8002514" y="6645209"/>
            <a:ext cx="209061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年度综合完成率</a:t>
            </a:r>
          </a:p>
        </p:txBody>
      </p:sp>
      <p:sp>
        <p:nvSpPr>
          <p:cNvPr id="2158" name="m-d02_progress_rings-main-dot">
            <a:extLst>
              <a:ext uri="{FF2B5EF4-FFF2-40B4-BE49-F238E27FC236}">
                <a16:creationId xmlns:a16="http://schemas.microsoft.com/office/drawing/2014/main" id="{D08EA439-58D1-039D-5C16-4790BA49EF59}"/>
              </a:ext>
            </a:extLst>
          </p:cNvPr>
          <p:cNvSpPr/>
          <p:nvPr/>
        </p:nvSpPr>
        <p:spPr>
          <a:xfrm>
            <a:off x="7865118" y="6534705"/>
            <a:ext cx="28638" cy="28638"/>
          </a:xfrm>
          <a:prstGeom prst="ellipse">
            <a:avLst/>
          </a:prstGeom>
          <a:solidFill>
            <a:srgbClr val="FFFFFF"/>
          </a:solidFill>
          <a:ln w="4426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59" name="m-d02_progress_rings-main-note">
            <a:extLst>
              <a:ext uri="{FF2B5EF4-FFF2-40B4-BE49-F238E27FC236}">
                <a16:creationId xmlns:a16="http://schemas.microsoft.com/office/drawing/2014/main" id="{4A01F538-456A-7A47-BE1E-1CBD61B8A1E2}"/>
              </a:ext>
            </a:extLst>
          </p:cNvPr>
          <p:cNvSpPr txBox="1"/>
          <p:nvPr/>
        </p:nvSpPr>
        <p:spPr>
          <a:xfrm>
            <a:off x="7881165" y="6923400"/>
            <a:ext cx="451759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距离全年目标还差 22%，四季度为冲刺关键期</a:t>
            </a:r>
          </a:p>
        </p:txBody>
      </p:sp>
      <p:sp>
        <p:nvSpPr>
          <p:cNvPr id="2160" name="m-d02_progress_rings-card-1">
            <a:extLst>
              <a:ext uri="{FF2B5EF4-FFF2-40B4-BE49-F238E27FC236}">
                <a16:creationId xmlns:a16="http://schemas.microsoft.com/office/drawing/2014/main" id="{A00456C0-8916-3716-AFC6-1A16D933A6A4}"/>
              </a:ext>
            </a:extLst>
          </p:cNvPr>
          <p:cNvSpPr/>
          <p:nvPr/>
        </p:nvSpPr>
        <p:spPr>
          <a:xfrm>
            <a:off x="8653780" y="6227953"/>
            <a:ext cx="508953" cy="320231"/>
          </a:xfrm>
          <a:custGeom>
            <a:avLst/>
            <a:gdLst/>
            <a:ahLst/>
            <a:cxnLst/>
            <a:rect l="0" t="0" r="r" b="b"/>
            <a:pathLst>
              <a:path w="508953" h="320231">
                <a:moveTo>
                  <a:pt x="23432" y="0"/>
                </a:moveTo>
                <a:lnTo>
                  <a:pt x="485521" y="0"/>
                </a:lnTo>
                <a:cubicBezTo>
                  <a:pt x="498475" y="0"/>
                  <a:pt x="508953" y="10477"/>
                  <a:pt x="508953" y="23432"/>
                </a:cubicBezTo>
                <a:lnTo>
                  <a:pt x="508953" y="296799"/>
                </a:lnTo>
                <a:cubicBezTo>
                  <a:pt x="508953" y="309753"/>
                  <a:pt x="498475" y="320231"/>
                  <a:pt x="485521" y="320231"/>
                </a:cubicBezTo>
                <a:lnTo>
                  <a:pt x="23432" y="320231"/>
                </a:lnTo>
                <a:cubicBezTo>
                  <a:pt x="10478" y="320231"/>
                  <a:pt x="0" y="309753"/>
                  <a:pt x="0" y="296799"/>
                </a:cubicBezTo>
                <a:lnTo>
                  <a:pt x="0" y="23432"/>
                </a:lnTo>
                <a:cubicBezTo>
                  <a:pt x="0" y="10477"/>
                  <a:pt x="10478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61" name="m-d02_progress_rings-cap-1">
            <a:extLst>
              <a:ext uri="{FF2B5EF4-FFF2-40B4-BE49-F238E27FC236}">
                <a16:creationId xmlns:a16="http://schemas.microsoft.com/office/drawing/2014/main" id="{F4955D92-C6A3-1CF4-E3EE-B6EEE96122CC}"/>
              </a:ext>
            </a:extLst>
          </p:cNvPr>
          <p:cNvSpPr/>
          <p:nvPr/>
        </p:nvSpPr>
        <p:spPr>
          <a:xfrm>
            <a:off x="8653780" y="6227953"/>
            <a:ext cx="508953" cy="7811"/>
          </a:xfrm>
          <a:custGeom>
            <a:avLst/>
            <a:gdLst/>
            <a:ahLst/>
            <a:cxnLst/>
            <a:rect l="0" t="0" r="r" b="b"/>
            <a:pathLst>
              <a:path w="508953" h="7811">
                <a:moveTo>
                  <a:pt x="3874" y="0"/>
                </a:moveTo>
                <a:lnTo>
                  <a:pt x="505079" y="0"/>
                </a:lnTo>
                <a:cubicBezTo>
                  <a:pt x="507238" y="0"/>
                  <a:pt x="508953" y="1714"/>
                  <a:pt x="508953" y="3874"/>
                </a:cubicBezTo>
                <a:lnTo>
                  <a:pt x="508953" y="3874"/>
                </a:lnTo>
                <a:cubicBezTo>
                  <a:pt x="508953" y="6096"/>
                  <a:pt x="507238" y="7811"/>
                  <a:pt x="505079" y="7811"/>
                </a:cubicBezTo>
                <a:lnTo>
                  <a:pt x="3874" y="7811"/>
                </a:lnTo>
                <a:cubicBezTo>
                  <a:pt x="1714" y="7811"/>
                  <a:pt x="0" y="6096"/>
                  <a:pt x="0" y="3874"/>
                </a:cubicBezTo>
                <a:lnTo>
                  <a:pt x="0" y="3874"/>
                </a:lnTo>
                <a:cubicBezTo>
                  <a:pt x="0" y="1714"/>
                  <a:pt x="1714" y="0"/>
                  <a:pt x="3874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62" name="m-d02_progress_rings-tr-1">
            <a:extLst>
              <a:ext uri="{FF2B5EF4-FFF2-40B4-BE49-F238E27FC236}">
                <a16:creationId xmlns:a16="http://schemas.microsoft.com/office/drawing/2014/main" id="{A2666C61-7634-20EF-CCF9-ED2B197BAE75}"/>
              </a:ext>
            </a:extLst>
          </p:cNvPr>
          <p:cNvSpPr/>
          <p:nvPr/>
        </p:nvSpPr>
        <p:spPr>
          <a:xfrm>
            <a:off x="8700643" y="6316472"/>
            <a:ext cx="145796" cy="145796"/>
          </a:xfrm>
          <a:prstGeom prst="ellipse">
            <a:avLst/>
          </a:prstGeom>
          <a:noFill/>
          <a:ln w="19526" cap="rnd">
            <a:solidFill>
              <a:srgbClr val="E7EEF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63" name="m-d02_progress_rings-arc-1">
            <a:extLst>
              <a:ext uri="{FF2B5EF4-FFF2-40B4-BE49-F238E27FC236}">
                <a16:creationId xmlns:a16="http://schemas.microsoft.com/office/drawing/2014/main" id="{F77976EE-89C3-585C-4887-71FD68863EDD}"/>
              </a:ext>
            </a:extLst>
          </p:cNvPr>
          <p:cNvSpPr/>
          <p:nvPr/>
        </p:nvSpPr>
        <p:spPr>
          <a:xfrm>
            <a:off x="8700643" y="6316472"/>
            <a:ext cx="145724" cy="145807"/>
          </a:xfrm>
          <a:custGeom>
            <a:avLst/>
            <a:gdLst/>
            <a:ahLst/>
            <a:cxnLst/>
            <a:rect l="0" t="0" r="r" b="b"/>
            <a:pathLst>
              <a:path w="145724" h="145807">
                <a:moveTo>
                  <a:pt x="72898" y="0"/>
                </a:moveTo>
                <a:cubicBezTo>
                  <a:pt x="107061" y="0"/>
                  <a:pt x="136588" y="23686"/>
                  <a:pt x="144018" y="57023"/>
                </a:cubicBezTo>
                <a:cubicBezTo>
                  <a:pt x="151447" y="90297"/>
                  <a:pt x="134811" y="124333"/>
                  <a:pt x="103949" y="138875"/>
                </a:cubicBezTo>
                <a:cubicBezTo>
                  <a:pt x="73025" y="153416"/>
                  <a:pt x="36195" y="144526"/>
                  <a:pt x="15303" y="117602"/>
                </a:cubicBezTo>
                <a:cubicBezTo>
                  <a:pt x="-5652" y="90614"/>
                  <a:pt x="-5016" y="52705"/>
                  <a:pt x="16700" y="26416"/>
                </a:cubicBezTo>
              </a:path>
            </a:pathLst>
          </a:custGeom>
          <a:noFill/>
          <a:ln w="19526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64" name="m-d02_progress_rings-v-1">
            <a:extLst>
              <a:ext uri="{FF2B5EF4-FFF2-40B4-BE49-F238E27FC236}">
                <a16:creationId xmlns:a16="http://schemas.microsoft.com/office/drawing/2014/main" id="{B0F6C9E8-A611-9FDA-6ACB-51376FD45DC7}"/>
              </a:ext>
            </a:extLst>
          </p:cNvPr>
          <p:cNvSpPr txBox="1"/>
          <p:nvPr/>
        </p:nvSpPr>
        <p:spPr>
          <a:xfrm>
            <a:off x="8733421" y="6350942"/>
            <a:ext cx="85447" cy="7289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30" b="1" i="0" u="none" strike="noStrike" kern="1200" cap="none" spc="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86</a:t>
            </a:r>
          </a:p>
        </p:txBody>
      </p:sp>
      <p:sp>
        <p:nvSpPr>
          <p:cNvPr id="2165" name="m-d02_progress_rings-p-1">
            <a:extLst>
              <a:ext uri="{FF2B5EF4-FFF2-40B4-BE49-F238E27FC236}">
                <a16:creationId xmlns:a16="http://schemas.microsoft.com/office/drawing/2014/main" id="{143A2DD5-C548-F6AC-4D03-0B7B7BBA92F3}"/>
              </a:ext>
            </a:extLst>
          </p:cNvPr>
          <p:cNvSpPr txBox="1"/>
          <p:nvPr/>
        </p:nvSpPr>
        <p:spPr>
          <a:xfrm>
            <a:off x="8815614" y="6359052"/>
            <a:ext cx="2660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%</a:t>
            </a:r>
          </a:p>
        </p:txBody>
      </p:sp>
      <p:sp>
        <p:nvSpPr>
          <p:cNvPr id="2166" name="m-d02_progress_rings-icon-coin">
            <a:extLst>
              <a:ext uri="{FF2B5EF4-FFF2-40B4-BE49-F238E27FC236}">
                <a16:creationId xmlns:a16="http://schemas.microsoft.com/office/drawing/2014/main" id="{C94F9D92-3FE9-1B99-6D95-E3CCD7DFC656}"/>
              </a:ext>
            </a:extLst>
          </p:cNvPr>
          <p:cNvSpPr/>
          <p:nvPr/>
        </p:nvSpPr>
        <p:spPr>
          <a:xfrm>
            <a:off x="9091232" y="6287770"/>
            <a:ext cx="18097" cy="15748"/>
          </a:xfrm>
          <a:custGeom>
            <a:avLst/>
            <a:gdLst/>
            <a:ahLst/>
            <a:cxnLst/>
            <a:rect l="0" t="0" r="r" b="b"/>
            <a:pathLst>
              <a:path w="18097" h="15748">
                <a:moveTo>
                  <a:pt x="9080" y="0"/>
                </a:moveTo>
                <a:cubicBezTo>
                  <a:pt x="4000" y="0"/>
                  <a:pt x="0" y="1397"/>
                  <a:pt x="0" y="3365"/>
                </a:cubicBezTo>
                <a:cubicBezTo>
                  <a:pt x="0" y="5334"/>
                  <a:pt x="4000" y="6731"/>
                  <a:pt x="9080" y="6731"/>
                </a:cubicBezTo>
                <a:cubicBezTo>
                  <a:pt x="14097" y="6731"/>
                  <a:pt x="18097" y="5334"/>
                  <a:pt x="18097" y="3365"/>
                </a:cubicBezTo>
                <a:cubicBezTo>
                  <a:pt x="18097" y="1397"/>
                  <a:pt x="14097" y="0"/>
                  <a:pt x="9080" y="0"/>
                </a:cubicBezTo>
                <a:close/>
                <a:moveTo>
                  <a:pt x="0" y="3365"/>
                </a:moveTo>
                <a:lnTo>
                  <a:pt x="0" y="12382"/>
                </a:lnTo>
                <a:cubicBezTo>
                  <a:pt x="0" y="14351"/>
                  <a:pt x="4000" y="15748"/>
                  <a:pt x="9080" y="15748"/>
                </a:cubicBezTo>
                <a:cubicBezTo>
                  <a:pt x="14097" y="15748"/>
                  <a:pt x="18097" y="14351"/>
                  <a:pt x="18097" y="12382"/>
                </a:cubicBezTo>
                <a:lnTo>
                  <a:pt x="18097" y="3365"/>
                </a:lnTo>
              </a:path>
            </a:pathLst>
          </a:custGeom>
          <a:noFill/>
          <a:ln w="2540" cap="rnd">
            <a:solidFill>
              <a:srgbClr val="0B3E8F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67" name="m-d02_progress_rings-n-1">
            <a:extLst>
              <a:ext uri="{FF2B5EF4-FFF2-40B4-BE49-F238E27FC236}">
                <a16:creationId xmlns:a16="http://schemas.microsoft.com/office/drawing/2014/main" id="{82C3CB54-FEA4-EC5B-3232-50005D1C6119}"/>
              </a:ext>
            </a:extLst>
          </p:cNvPr>
          <p:cNvSpPr txBox="1"/>
          <p:nvPr/>
        </p:nvSpPr>
        <p:spPr>
          <a:xfrm>
            <a:off x="8873776" y="6333557"/>
            <a:ext cx="167275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营收目标</a:t>
            </a:r>
          </a:p>
        </p:txBody>
      </p:sp>
      <p:sp>
        <p:nvSpPr>
          <p:cNvPr id="2168" name="m-d02_progress_rings-note-1">
            <a:extLst>
              <a:ext uri="{FF2B5EF4-FFF2-40B4-BE49-F238E27FC236}">
                <a16:creationId xmlns:a16="http://schemas.microsoft.com/office/drawing/2014/main" id="{A36F3FCB-E6F6-F806-37AA-6A8AEC761D42}"/>
              </a:ext>
            </a:extLst>
          </p:cNvPr>
          <p:cNvSpPr txBox="1"/>
          <p:nvPr/>
        </p:nvSpPr>
        <p:spPr>
          <a:xfrm>
            <a:off x="8874947" y="6389874"/>
            <a:ext cx="21316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17.2 亿 / 20 亿</a:t>
            </a:r>
          </a:p>
        </p:txBody>
      </p:sp>
      <p:sp>
        <p:nvSpPr>
          <p:cNvPr id="2169" name="m-d02_progress_rings-bg-1">
            <a:extLst>
              <a:ext uri="{FF2B5EF4-FFF2-40B4-BE49-F238E27FC236}">
                <a16:creationId xmlns:a16="http://schemas.microsoft.com/office/drawing/2014/main" id="{0B7A1531-8D03-F98C-491F-D0F86E46C0E0}"/>
              </a:ext>
            </a:extLst>
          </p:cNvPr>
          <p:cNvSpPr/>
          <p:nvPr/>
        </p:nvSpPr>
        <p:spPr>
          <a:xfrm>
            <a:off x="8877681" y="6454458"/>
            <a:ext cx="247332" cy="10414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70" name="m-d02_progress_rings-bar-1">
            <a:extLst>
              <a:ext uri="{FF2B5EF4-FFF2-40B4-BE49-F238E27FC236}">
                <a16:creationId xmlns:a16="http://schemas.microsoft.com/office/drawing/2014/main" id="{D3A1C6C3-1AC1-1FD7-B404-4B480397B1C7}"/>
              </a:ext>
            </a:extLst>
          </p:cNvPr>
          <p:cNvSpPr/>
          <p:nvPr/>
        </p:nvSpPr>
        <p:spPr>
          <a:xfrm>
            <a:off x="8877681" y="6454458"/>
            <a:ext cx="212706" cy="10414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71" name="m-d02_progress_rings-card-2">
            <a:extLst>
              <a:ext uri="{FF2B5EF4-FFF2-40B4-BE49-F238E27FC236}">
                <a16:creationId xmlns:a16="http://schemas.microsoft.com/office/drawing/2014/main" id="{89822A41-A234-9D07-81D9-5EB2DB2262D3}"/>
              </a:ext>
            </a:extLst>
          </p:cNvPr>
          <p:cNvSpPr/>
          <p:nvPr/>
        </p:nvSpPr>
        <p:spPr>
          <a:xfrm>
            <a:off x="9199182" y="6227953"/>
            <a:ext cx="509016" cy="320231"/>
          </a:xfrm>
          <a:custGeom>
            <a:avLst/>
            <a:gdLst/>
            <a:ahLst/>
            <a:cxnLst/>
            <a:rect l="0" t="0" r="r" b="b"/>
            <a:pathLst>
              <a:path w="509016" h="320231">
                <a:moveTo>
                  <a:pt x="23432" y="0"/>
                </a:moveTo>
                <a:lnTo>
                  <a:pt x="485585" y="0"/>
                </a:lnTo>
                <a:cubicBezTo>
                  <a:pt x="498538" y="0"/>
                  <a:pt x="509016" y="10477"/>
                  <a:pt x="509016" y="23432"/>
                </a:cubicBezTo>
                <a:lnTo>
                  <a:pt x="509016" y="296799"/>
                </a:lnTo>
                <a:cubicBezTo>
                  <a:pt x="509016" y="309753"/>
                  <a:pt x="498538" y="320231"/>
                  <a:pt x="485585" y="320231"/>
                </a:cubicBezTo>
                <a:lnTo>
                  <a:pt x="23432" y="320231"/>
                </a:lnTo>
                <a:cubicBezTo>
                  <a:pt x="10541" y="320231"/>
                  <a:pt x="0" y="309753"/>
                  <a:pt x="0" y="296799"/>
                </a:cubicBezTo>
                <a:lnTo>
                  <a:pt x="0" y="23432"/>
                </a:lnTo>
                <a:cubicBezTo>
                  <a:pt x="0" y="10477"/>
                  <a:pt x="10541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72" name="m-d02_progress_rings-cap-2">
            <a:extLst>
              <a:ext uri="{FF2B5EF4-FFF2-40B4-BE49-F238E27FC236}">
                <a16:creationId xmlns:a16="http://schemas.microsoft.com/office/drawing/2014/main" id="{20AC96E2-5FB6-93C9-74C3-801354ED0A98}"/>
              </a:ext>
            </a:extLst>
          </p:cNvPr>
          <p:cNvSpPr/>
          <p:nvPr/>
        </p:nvSpPr>
        <p:spPr>
          <a:xfrm>
            <a:off x="9199182" y="6227953"/>
            <a:ext cx="509016" cy="7811"/>
          </a:xfrm>
          <a:custGeom>
            <a:avLst/>
            <a:gdLst/>
            <a:ahLst/>
            <a:cxnLst/>
            <a:rect l="0" t="0" r="r" b="b"/>
            <a:pathLst>
              <a:path w="509016" h="7811">
                <a:moveTo>
                  <a:pt x="3937" y="0"/>
                </a:moveTo>
                <a:lnTo>
                  <a:pt x="505079" y="0"/>
                </a:lnTo>
                <a:cubicBezTo>
                  <a:pt x="507301" y="0"/>
                  <a:pt x="509016" y="1714"/>
                  <a:pt x="509016" y="3874"/>
                </a:cubicBezTo>
                <a:lnTo>
                  <a:pt x="509016" y="3874"/>
                </a:lnTo>
                <a:cubicBezTo>
                  <a:pt x="509016" y="6096"/>
                  <a:pt x="507301" y="7811"/>
                  <a:pt x="505079" y="7811"/>
                </a:cubicBezTo>
                <a:lnTo>
                  <a:pt x="3937" y="7811"/>
                </a:lnTo>
                <a:cubicBezTo>
                  <a:pt x="1778" y="7811"/>
                  <a:pt x="0" y="6096"/>
                  <a:pt x="0" y="3874"/>
                </a:cubicBezTo>
                <a:lnTo>
                  <a:pt x="0" y="3874"/>
                </a:lnTo>
                <a:cubicBezTo>
                  <a:pt x="0" y="1714"/>
                  <a:pt x="1778" y="0"/>
                  <a:pt x="3937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73" name="m-d02_progress_rings-tr-2">
            <a:extLst>
              <a:ext uri="{FF2B5EF4-FFF2-40B4-BE49-F238E27FC236}">
                <a16:creationId xmlns:a16="http://schemas.microsoft.com/office/drawing/2014/main" id="{6947168C-307E-770B-58CD-1177B9704B3A}"/>
              </a:ext>
            </a:extLst>
          </p:cNvPr>
          <p:cNvSpPr/>
          <p:nvPr/>
        </p:nvSpPr>
        <p:spPr>
          <a:xfrm>
            <a:off x="9246076" y="6316472"/>
            <a:ext cx="145796" cy="145796"/>
          </a:xfrm>
          <a:prstGeom prst="ellipse">
            <a:avLst/>
          </a:prstGeom>
          <a:noFill/>
          <a:ln w="19526" cap="rnd">
            <a:solidFill>
              <a:srgbClr val="E7EEF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74" name="m-d02_progress_rings-arc-2">
            <a:extLst>
              <a:ext uri="{FF2B5EF4-FFF2-40B4-BE49-F238E27FC236}">
                <a16:creationId xmlns:a16="http://schemas.microsoft.com/office/drawing/2014/main" id="{3561AFF8-CE6E-F418-FB1E-8CE79F78FABB}"/>
              </a:ext>
            </a:extLst>
          </p:cNvPr>
          <p:cNvSpPr/>
          <p:nvPr/>
        </p:nvSpPr>
        <p:spPr>
          <a:xfrm>
            <a:off x="9247378" y="6316472"/>
            <a:ext cx="144439" cy="145776"/>
          </a:xfrm>
          <a:custGeom>
            <a:avLst/>
            <a:gdLst/>
            <a:ahLst/>
            <a:cxnLst/>
            <a:rect l="0" t="0" r="r" b="b"/>
            <a:pathLst>
              <a:path w="144439" h="145776">
                <a:moveTo>
                  <a:pt x="71628" y="0"/>
                </a:moveTo>
                <a:cubicBezTo>
                  <a:pt x="110109" y="0"/>
                  <a:pt x="141923" y="29908"/>
                  <a:pt x="144336" y="68326"/>
                </a:cubicBezTo>
                <a:cubicBezTo>
                  <a:pt x="146749" y="106743"/>
                  <a:pt x="118936" y="140399"/>
                  <a:pt x="80709" y="145225"/>
                </a:cubicBezTo>
                <a:cubicBezTo>
                  <a:pt x="42545" y="150050"/>
                  <a:pt x="7176" y="124333"/>
                  <a:pt x="0" y="86550"/>
                </a:cubicBezTo>
              </a:path>
            </a:pathLst>
          </a:custGeom>
          <a:noFill/>
          <a:ln w="19526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75" name="m-d02_progress_rings-v-2">
            <a:extLst>
              <a:ext uri="{FF2B5EF4-FFF2-40B4-BE49-F238E27FC236}">
                <a16:creationId xmlns:a16="http://schemas.microsoft.com/office/drawing/2014/main" id="{15F0196F-EE25-F9F8-7C74-76B1E846682D}"/>
              </a:ext>
            </a:extLst>
          </p:cNvPr>
          <p:cNvSpPr txBox="1"/>
          <p:nvPr/>
        </p:nvSpPr>
        <p:spPr>
          <a:xfrm>
            <a:off x="9278854" y="6350942"/>
            <a:ext cx="85447" cy="7289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30" b="1" i="0" u="none" strike="noStrike" kern="1200" cap="none" spc="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72</a:t>
            </a:r>
          </a:p>
        </p:txBody>
      </p:sp>
      <p:sp>
        <p:nvSpPr>
          <p:cNvPr id="2176" name="m-d02_progress_rings-p-2">
            <a:extLst>
              <a:ext uri="{FF2B5EF4-FFF2-40B4-BE49-F238E27FC236}">
                <a16:creationId xmlns:a16="http://schemas.microsoft.com/office/drawing/2014/main" id="{370DDF0D-A97F-0F3B-E8D9-D4A2686B8C91}"/>
              </a:ext>
            </a:extLst>
          </p:cNvPr>
          <p:cNvSpPr txBox="1"/>
          <p:nvPr/>
        </p:nvSpPr>
        <p:spPr>
          <a:xfrm>
            <a:off x="9361047" y="6359052"/>
            <a:ext cx="2660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%</a:t>
            </a:r>
          </a:p>
        </p:txBody>
      </p:sp>
      <p:sp>
        <p:nvSpPr>
          <p:cNvPr id="2177" name="m-d02_progress_rings-icon-people">
            <a:extLst>
              <a:ext uri="{FF2B5EF4-FFF2-40B4-BE49-F238E27FC236}">
                <a16:creationId xmlns:a16="http://schemas.microsoft.com/office/drawing/2014/main" id="{C448699F-732B-039B-049A-83F8DA7E2520}"/>
              </a:ext>
            </a:extLst>
          </p:cNvPr>
          <p:cNvSpPr/>
          <p:nvPr/>
        </p:nvSpPr>
        <p:spPr>
          <a:xfrm>
            <a:off x="9633839" y="6299327"/>
            <a:ext cx="24003" cy="6731"/>
          </a:xfrm>
          <a:custGeom>
            <a:avLst/>
            <a:gdLst/>
            <a:ahLst/>
            <a:cxnLst/>
            <a:rect l="0" t="0" r="r" b="b"/>
            <a:pathLst>
              <a:path w="24003" h="6731">
                <a:moveTo>
                  <a:pt x="0" y="6731"/>
                </a:moveTo>
                <a:cubicBezTo>
                  <a:pt x="0" y="2540"/>
                  <a:pt x="3556" y="0"/>
                  <a:pt x="7620" y="0"/>
                </a:cubicBezTo>
                <a:cubicBezTo>
                  <a:pt x="11747" y="0"/>
                  <a:pt x="15240" y="2540"/>
                  <a:pt x="15240" y="6731"/>
                </a:cubicBezTo>
                <a:moveTo>
                  <a:pt x="18097" y="572"/>
                </a:moveTo>
                <a:cubicBezTo>
                  <a:pt x="21717" y="952"/>
                  <a:pt x="24003" y="3493"/>
                  <a:pt x="24003" y="6731"/>
                </a:cubicBezTo>
              </a:path>
            </a:pathLst>
          </a:custGeom>
          <a:noFill/>
          <a:ln w="2540" cap="rnd">
            <a:solidFill>
              <a:srgbClr val="1B5AA8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78" name="m-d02_progress_rings-icon-people">
            <a:extLst>
              <a:ext uri="{FF2B5EF4-FFF2-40B4-BE49-F238E27FC236}">
                <a16:creationId xmlns:a16="http://schemas.microsoft.com/office/drawing/2014/main" id="{0602516E-D79A-AA3A-D627-1A03698FEB2E}"/>
              </a:ext>
            </a:extLst>
          </p:cNvPr>
          <p:cNvSpPr/>
          <p:nvPr/>
        </p:nvSpPr>
        <p:spPr>
          <a:xfrm>
            <a:off x="9636970" y="6287183"/>
            <a:ext cx="9025" cy="9025"/>
          </a:xfrm>
          <a:prstGeom prst="ellipse">
            <a:avLst/>
          </a:prstGeom>
          <a:noFill/>
          <a:ln w="2540" cap="rnd">
            <a:solidFill>
              <a:srgbClr val="1B5AA8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79" name="m-d02_progress_rings-icon-people">
            <a:extLst>
              <a:ext uri="{FF2B5EF4-FFF2-40B4-BE49-F238E27FC236}">
                <a16:creationId xmlns:a16="http://schemas.microsoft.com/office/drawing/2014/main" id="{EF58EB45-440A-E11C-49A0-32CB73D45717}"/>
              </a:ext>
            </a:extLst>
          </p:cNvPr>
          <p:cNvSpPr/>
          <p:nvPr/>
        </p:nvSpPr>
        <p:spPr>
          <a:xfrm>
            <a:off x="9649098" y="6287183"/>
            <a:ext cx="7333" cy="7333"/>
          </a:xfrm>
          <a:prstGeom prst="ellipse">
            <a:avLst/>
          </a:prstGeom>
          <a:noFill/>
          <a:ln w="2540" cap="rnd">
            <a:solidFill>
              <a:srgbClr val="1B5AA8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80" name="m-d02_progress_rings-n-2">
            <a:extLst>
              <a:ext uri="{FF2B5EF4-FFF2-40B4-BE49-F238E27FC236}">
                <a16:creationId xmlns:a16="http://schemas.microsoft.com/office/drawing/2014/main" id="{F2DD60D5-BA02-89D6-8F3B-36C9D954BBC6}"/>
              </a:ext>
            </a:extLst>
          </p:cNvPr>
          <p:cNvSpPr txBox="1"/>
          <p:nvPr/>
        </p:nvSpPr>
        <p:spPr>
          <a:xfrm>
            <a:off x="9419209" y="6333557"/>
            <a:ext cx="167275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新客获取</a:t>
            </a:r>
          </a:p>
        </p:txBody>
      </p:sp>
      <p:sp>
        <p:nvSpPr>
          <p:cNvPr id="2181" name="m-d02_progress_rings-note-2">
            <a:extLst>
              <a:ext uri="{FF2B5EF4-FFF2-40B4-BE49-F238E27FC236}">
                <a16:creationId xmlns:a16="http://schemas.microsoft.com/office/drawing/2014/main" id="{BD79364D-9AF5-033C-86A2-6490DDDB661C}"/>
              </a:ext>
            </a:extLst>
          </p:cNvPr>
          <p:cNvSpPr txBox="1"/>
          <p:nvPr/>
        </p:nvSpPr>
        <p:spPr>
          <a:xfrm>
            <a:off x="9420381" y="6389874"/>
            <a:ext cx="24297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8,640 / 12,000 家</a:t>
            </a:r>
          </a:p>
        </p:txBody>
      </p:sp>
      <p:sp>
        <p:nvSpPr>
          <p:cNvPr id="2182" name="m-d02_progress_rings-bg-2">
            <a:extLst>
              <a:ext uri="{FF2B5EF4-FFF2-40B4-BE49-F238E27FC236}">
                <a16:creationId xmlns:a16="http://schemas.microsoft.com/office/drawing/2014/main" id="{AF8EDEED-EE52-DA63-58E5-C4A77AA94D9B}"/>
              </a:ext>
            </a:extLst>
          </p:cNvPr>
          <p:cNvSpPr/>
          <p:nvPr/>
        </p:nvSpPr>
        <p:spPr>
          <a:xfrm>
            <a:off x="9423114" y="6454458"/>
            <a:ext cx="247332" cy="10414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83" name="m-d02_progress_rings-bar-2">
            <a:extLst>
              <a:ext uri="{FF2B5EF4-FFF2-40B4-BE49-F238E27FC236}">
                <a16:creationId xmlns:a16="http://schemas.microsoft.com/office/drawing/2014/main" id="{09AC0AA3-92C2-5D79-1C04-AB21BB7AA4AB}"/>
              </a:ext>
            </a:extLst>
          </p:cNvPr>
          <p:cNvSpPr/>
          <p:nvPr/>
        </p:nvSpPr>
        <p:spPr>
          <a:xfrm>
            <a:off x="9423114" y="6454458"/>
            <a:ext cx="178079" cy="10414"/>
          </a:xfrm>
          <a:prstGeom prst="roundRect">
            <a:avLst>
              <a:gd name="adj" fmla="val 50000"/>
            </a:avLst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84" name="m-d02_progress_rings-card-3">
            <a:extLst>
              <a:ext uri="{FF2B5EF4-FFF2-40B4-BE49-F238E27FC236}">
                <a16:creationId xmlns:a16="http://schemas.microsoft.com/office/drawing/2014/main" id="{A02AFDD7-9C78-18F0-5405-A455082FF591}"/>
              </a:ext>
            </a:extLst>
          </p:cNvPr>
          <p:cNvSpPr/>
          <p:nvPr/>
        </p:nvSpPr>
        <p:spPr>
          <a:xfrm>
            <a:off x="8653780" y="6584632"/>
            <a:ext cx="508953" cy="320231"/>
          </a:xfrm>
          <a:custGeom>
            <a:avLst/>
            <a:gdLst/>
            <a:ahLst/>
            <a:cxnLst/>
            <a:rect l="0" t="0" r="r" b="b"/>
            <a:pathLst>
              <a:path w="508953" h="320231">
                <a:moveTo>
                  <a:pt x="23432" y="0"/>
                </a:moveTo>
                <a:lnTo>
                  <a:pt x="485521" y="0"/>
                </a:lnTo>
                <a:cubicBezTo>
                  <a:pt x="498475" y="0"/>
                  <a:pt x="508953" y="10477"/>
                  <a:pt x="508953" y="23432"/>
                </a:cubicBezTo>
                <a:lnTo>
                  <a:pt x="508953" y="296799"/>
                </a:lnTo>
                <a:cubicBezTo>
                  <a:pt x="508953" y="309753"/>
                  <a:pt x="498475" y="320231"/>
                  <a:pt x="485521" y="320231"/>
                </a:cubicBezTo>
                <a:lnTo>
                  <a:pt x="23432" y="320231"/>
                </a:lnTo>
                <a:cubicBezTo>
                  <a:pt x="10478" y="320231"/>
                  <a:pt x="0" y="309753"/>
                  <a:pt x="0" y="296799"/>
                </a:cubicBezTo>
                <a:lnTo>
                  <a:pt x="0" y="23432"/>
                </a:lnTo>
                <a:cubicBezTo>
                  <a:pt x="0" y="10477"/>
                  <a:pt x="10478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85" name="m-d02_progress_rings-cap-3">
            <a:extLst>
              <a:ext uri="{FF2B5EF4-FFF2-40B4-BE49-F238E27FC236}">
                <a16:creationId xmlns:a16="http://schemas.microsoft.com/office/drawing/2014/main" id="{4DF56840-5714-EF0D-37E9-9A42E019AC9D}"/>
              </a:ext>
            </a:extLst>
          </p:cNvPr>
          <p:cNvSpPr/>
          <p:nvPr/>
        </p:nvSpPr>
        <p:spPr>
          <a:xfrm>
            <a:off x="8653780" y="6584632"/>
            <a:ext cx="508953" cy="7811"/>
          </a:xfrm>
          <a:custGeom>
            <a:avLst/>
            <a:gdLst/>
            <a:ahLst/>
            <a:cxnLst/>
            <a:rect l="0" t="0" r="r" b="b"/>
            <a:pathLst>
              <a:path w="508953" h="7811">
                <a:moveTo>
                  <a:pt x="3874" y="0"/>
                </a:moveTo>
                <a:lnTo>
                  <a:pt x="505079" y="0"/>
                </a:lnTo>
                <a:cubicBezTo>
                  <a:pt x="507238" y="0"/>
                  <a:pt x="508953" y="1714"/>
                  <a:pt x="508953" y="3937"/>
                </a:cubicBezTo>
                <a:lnTo>
                  <a:pt x="508953" y="3937"/>
                </a:lnTo>
                <a:cubicBezTo>
                  <a:pt x="508953" y="6096"/>
                  <a:pt x="507238" y="7811"/>
                  <a:pt x="505079" y="7811"/>
                </a:cubicBezTo>
                <a:lnTo>
                  <a:pt x="3874" y="7811"/>
                </a:lnTo>
                <a:cubicBezTo>
                  <a:pt x="1714" y="7811"/>
                  <a:pt x="0" y="6096"/>
                  <a:pt x="0" y="3937"/>
                </a:cubicBezTo>
                <a:lnTo>
                  <a:pt x="0" y="3937"/>
                </a:lnTo>
                <a:cubicBezTo>
                  <a:pt x="0" y="1714"/>
                  <a:pt x="1714" y="0"/>
                  <a:pt x="3874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86" name="m-d02_progress_rings-tr-3">
            <a:extLst>
              <a:ext uri="{FF2B5EF4-FFF2-40B4-BE49-F238E27FC236}">
                <a16:creationId xmlns:a16="http://schemas.microsoft.com/office/drawing/2014/main" id="{411663B8-10B0-0DC0-ED7C-503BB778C033}"/>
              </a:ext>
            </a:extLst>
          </p:cNvPr>
          <p:cNvSpPr/>
          <p:nvPr/>
        </p:nvSpPr>
        <p:spPr>
          <a:xfrm>
            <a:off x="8700643" y="6673151"/>
            <a:ext cx="145796" cy="145796"/>
          </a:xfrm>
          <a:prstGeom prst="ellipse">
            <a:avLst/>
          </a:prstGeom>
          <a:noFill/>
          <a:ln w="19526" cap="rnd">
            <a:solidFill>
              <a:srgbClr val="E7EEF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87" name="m-d02_progress_rings-arc-3">
            <a:extLst>
              <a:ext uri="{FF2B5EF4-FFF2-40B4-BE49-F238E27FC236}">
                <a16:creationId xmlns:a16="http://schemas.microsoft.com/office/drawing/2014/main" id="{621D217F-41CA-D4F0-1A9B-0C038AEBE2B1}"/>
              </a:ext>
            </a:extLst>
          </p:cNvPr>
          <p:cNvSpPr/>
          <p:nvPr/>
        </p:nvSpPr>
        <p:spPr>
          <a:xfrm>
            <a:off x="8700678" y="6673152"/>
            <a:ext cx="145722" cy="145791"/>
          </a:xfrm>
          <a:custGeom>
            <a:avLst/>
            <a:gdLst/>
            <a:ahLst/>
            <a:cxnLst/>
            <a:rect l="0" t="0" r="r" b="b"/>
            <a:pathLst>
              <a:path w="145722" h="145791">
                <a:moveTo>
                  <a:pt x="72863" y="0"/>
                </a:moveTo>
                <a:cubicBezTo>
                  <a:pt x="109185" y="0"/>
                  <a:pt x="139919" y="26670"/>
                  <a:pt x="145063" y="62611"/>
                </a:cubicBezTo>
                <a:cubicBezTo>
                  <a:pt x="150143" y="98552"/>
                  <a:pt x="128045" y="132778"/>
                  <a:pt x="93183" y="142875"/>
                </a:cubicBezTo>
                <a:cubicBezTo>
                  <a:pt x="58385" y="153035"/>
                  <a:pt x="21365" y="135953"/>
                  <a:pt x="6442" y="102870"/>
                </a:cubicBezTo>
                <a:cubicBezTo>
                  <a:pt x="-8480" y="69850"/>
                  <a:pt x="3140" y="30797"/>
                  <a:pt x="33811" y="11366"/>
                </a:cubicBezTo>
              </a:path>
            </a:pathLst>
          </a:custGeom>
          <a:noFill/>
          <a:ln w="19526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88" name="m-d02_progress_rings-v-3">
            <a:extLst>
              <a:ext uri="{FF2B5EF4-FFF2-40B4-BE49-F238E27FC236}">
                <a16:creationId xmlns:a16="http://schemas.microsoft.com/office/drawing/2014/main" id="{E5835CEA-369D-5EAF-8A1C-600FB47D25AF}"/>
              </a:ext>
            </a:extLst>
          </p:cNvPr>
          <p:cNvSpPr txBox="1"/>
          <p:nvPr/>
        </p:nvSpPr>
        <p:spPr>
          <a:xfrm>
            <a:off x="8733421" y="6707622"/>
            <a:ext cx="85447" cy="7289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30" b="1" i="0" u="none" strike="noStrike" kern="1200" cap="none" spc="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91</a:t>
            </a:r>
          </a:p>
        </p:txBody>
      </p:sp>
      <p:sp>
        <p:nvSpPr>
          <p:cNvPr id="2189" name="m-d02_progress_rings-p-3">
            <a:extLst>
              <a:ext uri="{FF2B5EF4-FFF2-40B4-BE49-F238E27FC236}">
                <a16:creationId xmlns:a16="http://schemas.microsoft.com/office/drawing/2014/main" id="{7A57F155-FC93-DED7-17F8-CCC596FFB2BE}"/>
              </a:ext>
            </a:extLst>
          </p:cNvPr>
          <p:cNvSpPr txBox="1"/>
          <p:nvPr/>
        </p:nvSpPr>
        <p:spPr>
          <a:xfrm>
            <a:off x="8815614" y="6715732"/>
            <a:ext cx="2660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%</a:t>
            </a:r>
          </a:p>
        </p:txBody>
      </p:sp>
      <p:sp>
        <p:nvSpPr>
          <p:cNvPr id="2190" name="m-d02_progress_rings-icon-truck">
            <a:extLst>
              <a:ext uri="{FF2B5EF4-FFF2-40B4-BE49-F238E27FC236}">
                <a16:creationId xmlns:a16="http://schemas.microsoft.com/office/drawing/2014/main" id="{867621CB-004D-DA3D-E044-6B1AE1E49673}"/>
              </a:ext>
            </a:extLst>
          </p:cNvPr>
          <p:cNvSpPr/>
          <p:nvPr/>
        </p:nvSpPr>
        <p:spPr>
          <a:xfrm>
            <a:off x="9088438" y="6644704"/>
            <a:ext cx="22288" cy="13843"/>
          </a:xfrm>
          <a:custGeom>
            <a:avLst/>
            <a:gdLst/>
            <a:ahLst/>
            <a:cxnLst/>
            <a:rect l="0" t="0" r="r" b="b"/>
            <a:pathLst>
              <a:path w="22288" h="13843">
                <a:moveTo>
                  <a:pt x="0" y="0"/>
                </a:moveTo>
                <a:lnTo>
                  <a:pt x="13526" y="0"/>
                </a:lnTo>
                <a:lnTo>
                  <a:pt x="13526" y="13843"/>
                </a:lnTo>
                <a:lnTo>
                  <a:pt x="0" y="13843"/>
                </a:lnTo>
                <a:close/>
                <a:moveTo>
                  <a:pt x="13526" y="5080"/>
                </a:moveTo>
                <a:lnTo>
                  <a:pt x="18352" y="5080"/>
                </a:lnTo>
                <a:lnTo>
                  <a:pt x="22288" y="9335"/>
                </a:lnTo>
                <a:lnTo>
                  <a:pt x="22288" y="13843"/>
                </a:lnTo>
                <a:lnTo>
                  <a:pt x="13526" y="13843"/>
                </a:lnTo>
                <a:close/>
              </a:path>
            </a:pathLst>
          </a:custGeom>
          <a:noFill/>
          <a:ln w="2540" cap="rnd">
            <a:solidFill>
              <a:srgbClr val="3985CD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91" name="m-d02_progress_rings-n-3">
            <a:extLst>
              <a:ext uri="{FF2B5EF4-FFF2-40B4-BE49-F238E27FC236}">
                <a16:creationId xmlns:a16="http://schemas.microsoft.com/office/drawing/2014/main" id="{3BF4FCD0-4D13-AA7E-41B6-96FFDF2F920E}"/>
              </a:ext>
            </a:extLst>
          </p:cNvPr>
          <p:cNvSpPr txBox="1"/>
          <p:nvPr/>
        </p:nvSpPr>
        <p:spPr>
          <a:xfrm>
            <a:off x="8873776" y="6690237"/>
            <a:ext cx="167275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产品交付</a:t>
            </a:r>
          </a:p>
        </p:txBody>
      </p:sp>
      <p:sp>
        <p:nvSpPr>
          <p:cNvPr id="2192" name="m-d02_progress_rings-note-3">
            <a:extLst>
              <a:ext uri="{FF2B5EF4-FFF2-40B4-BE49-F238E27FC236}">
                <a16:creationId xmlns:a16="http://schemas.microsoft.com/office/drawing/2014/main" id="{D9F7E6B6-AD2B-02E4-CA33-8E3B99BDE4AC}"/>
              </a:ext>
            </a:extLst>
          </p:cNvPr>
          <p:cNvSpPr txBox="1"/>
          <p:nvPr/>
        </p:nvSpPr>
        <p:spPr>
          <a:xfrm>
            <a:off x="8874947" y="6746554"/>
            <a:ext cx="229694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1,092 / 1,200 台</a:t>
            </a:r>
          </a:p>
        </p:txBody>
      </p:sp>
      <p:sp>
        <p:nvSpPr>
          <p:cNvPr id="2193" name="m-d02_progress_rings-bg-3">
            <a:extLst>
              <a:ext uri="{FF2B5EF4-FFF2-40B4-BE49-F238E27FC236}">
                <a16:creationId xmlns:a16="http://schemas.microsoft.com/office/drawing/2014/main" id="{332E4531-2EB1-8AC3-742F-EDD621225034}"/>
              </a:ext>
            </a:extLst>
          </p:cNvPr>
          <p:cNvSpPr/>
          <p:nvPr/>
        </p:nvSpPr>
        <p:spPr>
          <a:xfrm>
            <a:off x="8877681" y="6811137"/>
            <a:ext cx="247332" cy="10414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94" name="m-d02_progress_rings-bar-3">
            <a:extLst>
              <a:ext uri="{FF2B5EF4-FFF2-40B4-BE49-F238E27FC236}">
                <a16:creationId xmlns:a16="http://schemas.microsoft.com/office/drawing/2014/main" id="{49CDC40B-FFF5-0774-13B7-8184B3C341FD}"/>
              </a:ext>
            </a:extLst>
          </p:cNvPr>
          <p:cNvSpPr/>
          <p:nvPr/>
        </p:nvSpPr>
        <p:spPr>
          <a:xfrm>
            <a:off x="8877681" y="6811137"/>
            <a:ext cx="225073" cy="10414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95" name="m-d02_progress_rings-card-4">
            <a:extLst>
              <a:ext uri="{FF2B5EF4-FFF2-40B4-BE49-F238E27FC236}">
                <a16:creationId xmlns:a16="http://schemas.microsoft.com/office/drawing/2014/main" id="{A743D8C4-9CB2-7177-E38D-631468F248E3}"/>
              </a:ext>
            </a:extLst>
          </p:cNvPr>
          <p:cNvSpPr/>
          <p:nvPr/>
        </p:nvSpPr>
        <p:spPr>
          <a:xfrm>
            <a:off x="9199182" y="6584632"/>
            <a:ext cx="509016" cy="320231"/>
          </a:xfrm>
          <a:custGeom>
            <a:avLst/>
            <a:gdLst/>
            <a:ahLst/>
            <a:cxnLst/>
            <a:rect l="0" t="0" r="r" b="b"/>
            <a:pathLst>
              <a:path w="509016" h="320231">
                <a:moveTo>
                  <a:pt x="23432" y="0"/>
                </a:moveTo>
                <a:lnTo>
                  <a:pt x="485585" y="0"/>
                </a:lnTo>
                <a:cubicBezTo>
                  <a:pt x="498538" y="0"/>
                  <a:pt x="509016" y="10477"/>
                  <a:pt x="509016" y="23432"/>
                </a:cubicBezTo>
                <a:lnTo>
                  <a:pt x="509016" y="296799"/>
                </a:lnTo>
                <a:cubicBezTo>
                  <a:pt x="509016" y="309753"/>
                  <a:pt x="498538" y="320231"/>
                  <a:pt x="485585" y="320231"/>
                </a:cubicBezTo>
                <a:lnTo>
                  <a:pt x="23432" y="320231"/>
                </a:lnTo>
                <a:cubicBezTo>
                  <a:pt x="10541" y="320231"/>
                  <a:pt x="0" y="309753"/>
                  <a:pt x="0" y="296799"/>
                </a:cubicBezTo>
                <a:lnTo>
                  <a:pt x="0" y="23432"/>
                </a:lnTo>
                <a:cubicBezTo>
                  <a:pt x="0" y="10477"/>
                  <a:pt x="10541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96" name="m-d02_progress_rings-cap-4">
            <a:extLst>
              <a:ext uri="{FF2B5EF4-FFF2-40B4-BE49-F238E27FC236}">
                <a16:creationId xmlns:a16="http://schemas.microsoft.com/office/drawing/2014/main" id="{2DE04F05-AC3A-2BD3-06A4-AE10E26C4532}"/>
              </a:ext>
            </a:extLst>
          </p:cNvPr>
          <p:cNvSpPr/>
          <p:nvPr/>
        </p:nvSpPr>
        <p:spPr>
          <a:xfrm>
            <a:off x="9199182" y="6584632"/>
            <a:ext cx="509016" cy="7811"/>
          </a:xfrm>
          <a:custGeom>
            <a:avLst/>
            <a:gdLst/>
            <a:ahLst/>
            <a:cxnLst/>
            <a:rect l="0" t="0" r="r" b="b"/>
            <a:pathLst>
              <a:path w="509016" h="7811">
                <a:moveTo>
                  <a:pt x="3937" y="0"/>
                </a:moveTo>
                <a:lnTo>
                  <a:pt x="505079" y="0"/>
                </a:lnTo>
                <a:cubicBezTo>
                  <a:pt x="507301" y="0"/>
                  <a:pt x="509016" y="1714"/>
                  <a:pt x="509016" y="3937"/>
                </a:cubicBezTo>
                <a:lnTo>
                  <a:pt x="509016" y="3937"/>
                </a:lnTo>
                <a:cubicBezTo>
                  <a:pt x="509016" y="6096"/>
                  <a:pt x="507301" y="7811"/>
                  <a:pt x="505079" y="7811"/>
                </a:cubicBezTo>
                <a:lnTo>
                  <a:pt x="3937" y="7811"/>
                </a:lnTo>
                <a:cubicBezTo>
                  <a:pt x="1778" y="7811"/>
                  <a:pt x="0" y="6096"/>
                  <a:pt x="0" y="3937"/>
                </a:cubicBezTo>
                <a:lnTo>
                  <a:pt x="0" y="3937"/>
                </a:lnTo>
                <a:cubicBezTo>
                  <a:pt x="0" y="1714"/>
                  <a:pt x="1778" y="0"/>
                  <a:pt x="3937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97" name="m-d02_progress_rings-tr-4">
            <a:extLst>
              <a:ext uri="{FF2B5EF4-FFF2-40B4-BE49-F238E27FC236}">
                <a16:creationId xmlns:a16="http://schemas.microsoft.com/office/drawing/2014/main" id="{D980638D-FA99-2559-7E86-52A1E8535791}"/>
              </a:ext>
            </a:extLst>
          </p:cNvPr>
          <p:cNvSpPr/>
          <p:nvPr/>
        </p:nvSpPr>
        <p:spPr>
          <a:xfrm>
            <a:off x="9246076" y="6673151"/>
            <a:ext cx="145796" cy="145796"/>
          </a:xfrm>
          <a:prstGeom prst="ellipse">
            <a:avLst/>
          </a:prstGeom>
          <a:noFill/>
          <a:ln w="19526" cap="rnd">
            <a:solidFill>
              <a:srgbClr val="E7EEF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98" name="m-d02_progress_rings-arc-4">
            <a:extLst>
              <a:ext uri="{FF2B5EF4-FFF2-40B4-BE49-F238E27FC236}">
                <a16:creationId xmlns:a16="http://schemas.microsoft.com/office/drawing/2014/main" id="{6ADB0CE0-F71D-B6F9-672E-C524690A6ECE}"/>
              </a:ext>
            </a:extLst>
          </p:cNvPr>
          <p:cNvSpPr/>
          <p:nvPr/>
        </p:nvSpPr>
        <p:spPr>
          <a:xfrm>
            <a:off x="9262808" y="6673152"/>
            <a:ext cx="129042" cy="145742"/>
          </a:xfrm>
          <a:custGeom>
            <a:avLst/>
            <a:gdLst/>
            <a:ahLst/>
            <a:cxnLst/>
            <a:rect l="0" t="0" r="r" b="b"/>
            <a:pathLst>
              <a:path w="129042" h="145742">
                <a:moveTo>
                  <a:pt x="56197" y="0"/>
                </a:moveTo>
                <a:cubicBezTo>
                  <a:pt x="90043" y="0"/>
                  <a:pt x="119380" y="23304"/>
                  <a:pt x="127127" y="56261"/>
                </a:cubicBezTo>
                <a:cubicBezTo>
                  <a:pt x="134874" y="89217"/>
                  <a:pt x="118872" y="123126"/>
                  <a:pt x="88583" y="138176"/>
                </a:cubicBezTo>
                <a:cubicBezTo>
                  <a:pt x="58230" y="153225"/>
                  <a:pt x="21590" y="145478"/>
                  <a:pt x="0" y="119380"/>
                </a:cubicBezTo>
              </a:path>
            </a:pathLst>
          </a:custGeom>
          <a:noFill/>
          <a:ln w="19526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99" name="m-d02_progress_rings-v-4">
            <a:extLst>
              <a:ext uri="{FF2B5EF4-FFF2-40B4-BE49-F238E27FC236}">
                <a16:creationId xmlns:a16="http://schemas.microsoft.com/office/drawing/2014/main" id="{4FDE89CE-CD94-0878-90A1-7F53F8053A6F}"/>
              </a:ext>
            </a:extLst>
          </p:cNvPr>
          <p:cNvSpPr txBox="1"/>
          <p:nvPr/>
        </p:nvSpPr>
        <p:spPr>
          <a:xfrm>
            <a:off x="9278854" y="6707622"/>
            <a:ext cx="85447" cy="7289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30" b="1" i="0" u="none" strike="noStrike" kern="1200" cap="none" spc="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64</a:t>
            </a:r>
          </a:p>
        </p:txBody>
      </p:sp>
      <p:sp>
        <p:nvSpPr>
          <p:cNvPr id="2200" name="m-d02_progress_rings-p-4">
            <a:extLst>
              <a:ext uri="{FF2B5EF4-FFF2-40B4-BE49-F238E27FC236}">
                <a16:creationId xmlns:a16="http://schemas.microsoft.com/office/drawing/2014/main" id="{4B46BFDE-BA15-5264-FC59-EB5DEE60C71E}"/>
              </a:ext>
            </a:extLst>
          </p:cNvPr>
          <p:cNvSpPr txBox="1"/>
          <p:nvPr/>
        </p:nvSpPr>
        <p:spPr>
          <a:xfrm>
            <a:off x="9361047" y="6715732"/>
            <a:ext cx="2660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%</a:t>
            </a:r>
          </a:p>
        </p:txBody>
      </p:sp>
      <p:sp>
        <p:nvSpPr>
          <p:cNvPr id="2201" name="m-d02_progress_rings-icon-star">
            <a:extLst>
              <a:ext uri="{FF2B5EF4-FFF2-40B4-BE49-F238E27FC236}">
                <a16:creationId xmlns:a16="http://schemas.microsoft.com/office/drawing/2014/main" id="{6C846B8E-DC27-8C50-F36B-3D04C1204AFB}"/>
              </a:ext>
            </a:extLst>
          </p:cNvPr>
          <p:cNvSpPr/>
          <p:nvPr/>
        </p:nvSpPr>
        <p:spPr>
          <a:xfrm>
            <a:off x="9633712" y="6640449"/>
            <a:ext cx="24003" cy="22860"/>
          </a:xfrm>
          <a:custGeom>
            <a:avLst/>
            <a:gdLst/>
            <a:ahLst/>
            <a:cxnLst/>
            <a:rect l="0" t="0" r="r" b="b"/>
            <a:pathLst>
              <a:path w="24003" h="22860">
                <a:moveTo>
                  <a:pt x="12002" y="0"/>
                </a:moveTo>
                <a:lnTo>
                  <a:pt x="15685" y="7620"/>
                </a:lnTo>
                <a:lnTo>
                  <a:pt x="24003" y="8763"/>
                </a:lnTo>
                <a:lnTo>
                  <a:pt x="17907" y="14541"/>
                </a:lnTo>
                <a:lnTo>
                  <a:pt x="19495" y="22860"/>
                </a:lnTo>
                <a:lnTo>
                  <a:pt x="12002" y="18796"/>
                </a:lnTo>
                <a:lnTo>
                  <a:pt x="4509" y="22860"/>
                </a:lnTo>
                <a:lnTo>
                  <a:pt x="6096" y="14541"/>
                </a:lnTo>
                <a:lnTo>
                  <a:pt x="0" y="8763"/>
                </a:lnTo>
                <a:lnTo>
                  <a:pt x="8319" y="7620"/>
                </a:lnTo>
                <a:close/>
              </a:path>
            </a:pathLst>
          </a:custGeom>
          <a:noFill/>
          <a:ln w="2540" cap="rnd">
            <a:solidFill>
              <a:srgbClr val="54A2DF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02" name="m-d02_progress_rings-n-4">
            <a:extLst>
              <a:ext uri="{FF2B5EF4-FFF2-40B4-BE49-F238E27FC236}">
                <a16:creationId xmlns:a16="http://schemas.microsoft.com/office/drawing/2014/main" id="{2CAE10DA-229E-FC72-B016-272C81B6763E}"/>
              </a:ext>
            </a:extLst>
          </p:cNvPr>
          <p:cNvSpPr txBox="1"/>
          <p:nvPr/>
        </p:nvSpPr>
        <p:spPr>
          <a:xfrm>
            <a:off x="9419209" y="6690237"/>
            <a:ext cx="132778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满意度</a:t>
            </a:r>
          </a:p>
        </p:txBody>
      </p:sp>
      <p:sp>
        <p:nvSpPr>
          <p:cNvPr id="2203" name="m-d02_progress_rings-note-4">
            <a:extLst>
              <a:ext uri="{FF2B5EF4-FFF2-40B4-BE49-F238E27FC236}">
                <a16:creationId xmlns:a16="http://schemas.microsoft.com/office/drawing/2014/main" id="{AAD447DD-7BFD-4254-9F66-1C8D9B161980}"/>
              </a:ext>
            </a:extLst>
          </p:cNvPr>
          <p:cNvSpPr txBox="1"/>
          <p:nvPr/>
        </p:nvSpPr>
        <p:spPr>
          <a:xfrm>
            <a:off x="9420381" y="6746554"/>
            <a:ext cx="22643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NPS 64 / 目标 80</a:t>
            </a:r>
          </a:p>
        </p:txBody>
      </p:sp>
      <p:sp>
        <p:nvSpPr>
          <p:cNvPr id="2204" name="m-d02_progress_rings-bg-4">
            <a:extLst>
              <a:ext uri="{FF2B5EF4-FFF2-40B4-BE49-F238E27FC236}">
                <a16:creationId xmlns:a16="http://schemas.microsoft.com/office/drawing/2014/main" id="{379D512A-D19B-0117-8122-5316A363D129}"/>
              </a:ext>
            </a:extLst>
          </p:cNvPr>
          <p:cNvSpPr/>
          <p:nvPr/>
        </p:nvSpPr>
        <p:spPr>
          <a:xfrm>
            <a:off x="9423114" y="6811137"/>
            <a:ext cx="247332" cy="10414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05" name="m-d02_progress_rings-bar-4">
            <a:extLst>
              <a:ext uri="{FF2B5EF4-FFF2-40B4-BE49-F238E27FC236}">
                <a16:creationId xmlns:a16="http://schemas.microsoft.com/office/drawing/2014/main" id="{C3C1B5FE-C076-F049-8635-8B33A53E46E3}"/>
              </a:ext>
            </a:extLst>
          </p:cNvPr>
          <p:cNvSpPr/>
          <p:nvPr/>
        </p:nvSpPr>
        <p:spPr>
          <a:xfrm>
            <a:off x="9423114" y="6811137"/>
            <a:ext cx="158293" cy="10414"/>
          </a:xfrm>
          <a:prstGeom prst="roundRect">
            <a:avLst>
              <a:gd name="adj" fmla="val 50000"/>
            </a:avLst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06" name="m-d02_progress_rings-q-panel">
            <a:extLst>
              <a:ext uri="{FF2B5EF4-FFF2-40B4-BE49-F238E27FC236}">
                <a16:creationId xmlns:a16="http://schemas.microsoft.com/office/drawing/2014/main" id="{9FEE3336-746A-9A5C-9CB0-2C2AB0655F37}"/>
              </a:ext>
            </a:extLst>
          </p:cNvPr>
          <p:cNvSpPr/>
          <p:nvPr/>
        </p:nvSpPr>
        <p:spPr>
          <a:xfrm>
            <a:off x="7599362" y="6977761"/>
            <a:ext cx="2163508" cy="119761"/>
          </a:xfrm>
          <a:custGeom>
            <a:avLst/>
            <a:gdLst/>
            <a:ahLst/>
            <a:cxnLst/>
            <a:rect l="0" t="0" r="r" b="b"/>
            <a:pathLst>
              <a:path w="2163508" h="119761">
                <a:moveTo>
                  <a:pt x="20828" y="0"/>
                </a:moveTo>
                <a:lnTo>
                  <a:pt x="2142681" y="0"/>
                </a:lnTo>
                <a:cubicBezTo>
                  <a:pt x="2154174" y="0"/>
                  <a:pt x="2163508" y="9335"/>
                  <a:pt x="2163508" y="20828"/>
                </a:cubicBezTo>
                <a:lnTo>
                  <a:pt x="2163508" y="98933"/>
                </a:lnTo>
                <a:cubicBezTo>
                  <a:pt x="2163508" y="110427"/>
                  <a:pt x="2154174" y="119761"/>
                  <a:pt x="2142681" y="119761"/>
                </a:cubicBezTo>
                <a:lnTo>
                  <a:pt x="20828" y="119761"/>
                </a:lnTo>
                <a:cubicBezTo>
                  <a:pt x="9335" y="119761"/>
                  <a:pt x="0" y="110427"/>
                  <a:pt x="0" y="98933"/>
                </a:cubicBezTo>
                <a:lnTo>
                  <a:pt x="0" y="20828"/>
                </a:lnTo>
                <a:cubicBezTo>
                  <a:pt x="0" y="9335"/>
                  <a:pt x="9335" y="0"/>
                  <a:pt x="20828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07" name="m-d02_progress_rings-q-h">
            <a:extLst>
              <a:ext uri="{FF2B5EF4-FFF2-40B4-BE49-F238E27FC236}">
                <a16:creationId xmlns:a16="http://schemas.microsoft.com/office/drawing/2014/main" id="{DC35D2D9-C0B6-322F-4AD4-9156DC9613DA}"/>
              </a:ext>
            </a:extLst>
          </p:cNvPr>
          <p:cNvSpPr txBox="1"/>
          <p:nvPr/>
        </p:nvSpPr>
        <p:spPr>
          <a:xfrm>
            <a:off x="7651068" y="7020113"/>
            <a:ext cx="131607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季度累计</a:t>
            </a:r>
          </a:p>
        </p:txBody>
      </p:sp>
      <p:sp>
        <p:nvSpPr>
          <p:cNvPr id="2208" name="m-d02_progress_rings-q-track">
            <a:extLst>
              <a:ext uri="{FF2B5EF4-FFF2-40B4-BE49-F238E27FC236}">
                <a16:creationId xmlns:a16="http://schemas.microsoft.com/office/drawing/2014/main" id="{B136CF91-2C33-0978-7D59-825EE09E49A6}"/>
              </a:ext>
            </a:extLst>
          </p:cNvPr>
          <p:cNvSpPr/>
          <p:nvPr/>
        </p:nvSpPr>
        <p:spPr>
          <a:xfrm>
            <a:off x="7924800" y="7032434"/>
            <a:ext cx="1627188" cy="15621"/>
          </a:xfrm>
          <a:prstGeom prst="roundRect">
            <a:avLst>
              <a:gd name="adj" fmla="val 50000"/>
            </a:avLst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09" name="m-d02_progress_rings-q-bar">
            <a:extLst>
              <a:ext uri="{FF2B5EF4-FFF2-40B4-BE49-F238E27FC236}">
                <a16:creationId xmlns:a16="http://schemas.microsoft.com/office/drawing/2014/main" id="{3CD48472-9EF2-FB0C-68F1-93583B92CDCB}"/>
              </a:ext>
            </a:extLst>
          </p:cNvPr>
          <p:cNvSpPr/>
          <p:nvPr/>
        </p:nvSpPr>
        <p:spPr>
          <a:xfrm>
            <a:off x="7924800" y="7032434"/>
            <a:ext cx="1269206" cy="15621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2E77C2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10" name="m-d02_progress_rings-q-dot-1">
            <a:extLst>
              <a:ext uri="{FF2B5EF4-FFF2-40B4-BE49-F238E27FC236}">
                <a16:creationId xmlns:a16="http://schemas.microsoft.com/office/drawing/2014/main" id="{F99B49E9-FF07-FDDE-7FC6-9ABD3E459781}"/>
              </a:ext>
            </a:extLst>
          </p:cNvPr>
          <p:cNvSpPr/>
          <p:nvPr/>
        </p:nvSpPr>
        <p:spPr>
          <a:xfrm>
            <a:off x="8271066" y="7028529"/>
            <a:ext cx="23432" cy="23432"/>
          </a:xfrm>
          <a:prstGeom prst="ellipse">
            <a:avLst/>
          </a:prstGeom>
          <a:solidFill>
            <a:srgbClr val="FFFFFF"/>
          </a:solidFill>
          <a:ln w="338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11" name="m-d02_progress_rings-q-t-1">
            <a:extLst>
              <a:ext uri="{FF2B5EF4-FFF2-40B4-BE49-F238E27FC236}">
                <a16:creationId xmlns:a16="http://schemas.microsoft.com/office/drawing/2014/main" id="{897A420B-68DC-6B43-DE8E-0FE1FA59FE3C}"/>
              </a:ext>
            </a:extLst>
          </p:cNvPr>
          <p:cNvSpPr txBox="1"/>
          <p:nvPr/>
        </p:nvSpPr>
        <p:spPr>
          <a:xfrm>
            <a:off x="8241015" y="6993502"/>
            <a:ext cx="83533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Q1 22%</a:t>
            </a:r>
          </a:p>
        </p:txBody>
      </p:sp>
      <p:sp>
        <p:nvSpPr>
          <p:cNvPr id="2212" name="m-d02_progress_rings-q-dot-2">
            <a:extLst>
              <a:ext uri="{FF2B5EF4-FFF2-40B4-BE49-F238E27FC236}">
                <a16:creationId xmlns:a16="http://schemas.microsoft.com/office/drawing/2014/main" id="{EAFF1AA7-27AA-E2B9-4D0A-E3E495AC5926}"/>
              </a:ext>
            </a:extLst>
          </p:cNvPr>
          <p:cNvSpPr/>
          <p:nvPr/>
        </p:nvSpPr>
        <p:spPr>
          <a:xfrm>
            <a:off x="8580231" y="7028529"/>
            <a:ext cx="23432" cy="23432"/>
          </a:xfrm>
          <a:prstGeom prst="ellipse">
            <a:avLst/>
          </a:prstGeom>
          <a:solidFill>
            <a:srgbClr val="FFFFFF"/>
          </a:solidFill>
          <a:ln w="338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13" name="m-d02_progress_rings-q-t-2">
            <a:extLst>
              <a:ext uri="{FF2B5EF4-FFF2-40B4-BE49-F238E27FC236}">
                <a16:creationId xmlns:a16="http://schemas.microsoft.com/office/drawing/2014/main" id="{B0ADCDC1-3129-9DA9-62F5-F7BE56BD56F7}"/>
              </a:ext>
            </a:extLst>
          </p:cNvPr>
          <p:cNvSpPr txBox="1"/>
          <p:nvPr/>
        </p:nvSpPr>
        <p:spPr>
          <a:xfrm>
            <a:off x="8550180" y="6993502"/>
            <a:ext cx="83533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Q2 41%</a:t>
            </a:r>
          </a:p>
        </p:txBody>
      </p:sp>
      <p:sp>
        <p:nvSpPr>
          <p:cNvPr id="2214" name="m-d02_progress_rings-q-dot-3">
            <a:extLst>
              <a:ext uri="{FF2B5EF4-FFF2-40B4-BE49-F238E27FC236}">
                <a16:creationId xmlns:a16="http://schemas.microsoft.com/office/drawing/2014/main" id="{30D01725-C6CC-A603-1CAD-8819F47B296B}"/>
              </a:ext>
            </a:extLst>
          </p:cNvPr>
          <p:cNvSpPr/>
          <p:nvPr/>
        </p:nvSpPr>
        <p:spPr>
          <a:xfrm>
            <a:off x="8921940" y="7028529"/>
            <a:ext cx="23432" cy="23432"/>
          </a:xfrm>
          <a:prstGeom prst="ellipse">
            <a:avLst/>
          </a:prstGeom>
          <a:solidFill>
            <a:srgbClr val="FFFFFF"/>
          </a:solidFill>
          <a:ln w="338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15" name="m-d02_progress_rings-q-t-3">
            <a:extLst>
              <a:ext uri="{FF2B5EF4-FFF2-40B4-BE49-F238E27FC236}">
                <a16:creationId xmlns:a16="http://schemas.microsoft.com/office/drawing/2014/main" id="{07220E19-6C90-C137-EBD3-04472FFD4179}"/>
              </a:ext>
            </a:extLst>
          </p:cNvPr>
          <p:cNvSpPr txBox="1"/>
          <p:nvPr/>
        </p:nvSpPr>
        <p:spPr>
          <a:xfrm>
            <a:off x="8891890" y="6993502"/>
            <a:ext cx="83533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Q3 62%</a:t>
            </a:r>
          </a:p>
        </p:txBody>
      </p:sp>
      <p:sp>
        <p:nvSpPr>
          <p:cNvPr id="2216" name="m-d02_progress_rings-q-dot-4">
            <a:extLst>
              <a:ext uri="{FF2B5EF4-FFF2-40B4-BE49-F238E27FC236}">
                <a16:creationId xmlns:a16="http://schemas.microsoft.com/office/drawing/2014/main" id="{00278B0B-D0F0-60EA-11AB-618D1BA21D03}"/>
              </a:ext>
            </a:extLst>
          </p:cNvPr>
          <p:cNvSpPr/>
          <p:nvPr/>
        </p:nvSpPr>
        <p:spPr>
          <a:xfrm>
            <a:off x="9182290" y="7028529"/>
            <a:ext cx="23432" cy="23432"/>
          </a:xfrm>
          <a:prstGeom prst="ellipse">
            <a:avLst/>
          </a:prstGeom>
          <a:solidFill>
            <a:srgbClr val="FFFFFF"/>
          </a:solidFill>
          <a:ln w="338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17" name="m-d02_progress_rings-q-t-4">
            <a:extLst>
              <a:ext uri="{FF2B5EF4-FFF2-40B4-BE49-F238E27FC236}">
                <a16:creationId xmlns:a16="http://schemas.microsoft.com/office/drawing/2014/main" id="{224F9F52-E1FB-E17A-5893-12CABAEB5425}"/>
              </a:ext>
            </a:extLst>
          </p:cNvPr>
          <p:cNvSpPr txBox="1"/>
          <p:nvPr/>
        </p:nvSpPr>
        <p:spPr>
          <a:xfrm>
            <a:off x="9152240" y="6993502"/>
            <a:ext cx="83533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4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Q4 78%</a:t>
            </a:r>
          </a:p>
        </p:txBody>
      </p:sp>
      <p:sp>
        <p:nvSpPr>
          <p:cNvPr id="2218" name="m-d02_progress_rings-q-end">
            <a:extLst>
              <a:ext uri="{FF2B5EF4-FFF2-40B4-BE49-F238E27FC236}">
                <a16:creationId xmlns:a16="http://schemas.microsoft.com/office/drawing/2014/main" id="{44CD9749-5530-4BCA-77D1-0933488241F6}"/>
              </a:ext>
            </a:extLst>
          </p:cNvPr>
          <p:cNvSpPr txBox="1"/>
          <p:nvPr/>
        </p:nvSpPr>
        <p:spPr>
          <a:xfrm>
            <a:off x="9567947" y="7024744"/>
            <a:ext cx="111235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目标 100%</a:t>
            </a:r>
          </a:p>
        </p:txBody>
      </p:sp>
      <p:cxnSp>
        <p:nvCxnSpPr>
          <p:cNvPr id="2219" name="m-d02_progress_rings-foot-line">
            <a:extLst>
              <a:ext uri="{FF2B5EF4-FFF2-40B4-BE49-F238E27FC236}">
                <a16:creationId xmlns:a16="http://schemas.microsoft.com/office/drawing/2014/main" id="{11B6A5AF-E36F-6428-2AE7-645F24313068}"/>
              </a:ext>
            </a:extLst>
          </p:cNvPr>
          <p:cNvCxnSpPr/>
          <p:nvPr/>
        </p:nvCxnSpPr>
        <p:spPr>
          <a:xfrm>
            <a:off x="7523861" y="71417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20" name="m-d02_progress_rings-foot-l">
            <a:extLst>
              <a:ext uri="{FF2B5EF4-FFF2-40B4-BE49-F238E27FC236}">
                <a16:creationId xmlns:a16="http://schemas.microsoft.com/office/drawing/2014/main" id="{13E79E3F-223A-908B-7EE2-ED19C872EFF1}"/>
              </a:ext>
            </a:extLst>
          </p:cNvPr>
          <p:cNvSpPr txBox="1"/>
          <p:nvPr/>
        </p:nvSpPr>
        <p:spPr>
          <a:xfrm>
            <a:off x="7521674" y="7155723"/>
            <a:ext cx="274825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目标完成度 · 四项关键指标</a:t>
            </a:r>
          </a:p>
        </p:txBody>
      </p:sp>
      <p:sp>
        <p:nvSpPr>
          <p:cNvPr id="2221" name="m-d02_progress_rings-foot-r">
            <a:extLst>
              <a:ext uri="{FF2B5EF4-FFF2-40B4-BE49-F238E27FC236}">
                <a16:creationId xmlns:a16="http://schemas.microsoft.com/office/drawing/2014/main" id="{9901F0D5-A4C9-4899-1E14-ECF455428C1D}"/>
              </a:ext>
            </a:extLst>
          </p:cNvPr>
          <p:cNvSpPr txBox="1"/>
          <p:nvPr/>
        </p:nvSpPr>
        <p:spPr>
          <a:xfrm>
            <a:off x="9526109" y="71557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2222" name="mini-card-p17_double_funnel">
            <a:extLst>
              <a:ext uri="{FF2B5EF4-FFF2-40B4-BE49-F238E27FC236}">
                <a16:creationId xmlns:a16="http://schemas.microsoft.com/office/drawing/2014/main" id="{0F978006-1157-2D59-40EB-9325B1287B25}"/>
              </a:ext>
            </a:extLst>
          </p:cNvPr>
          <p:cNvSpPr/>
          <p:nvPr/>
        </p:nvSpPr>
        <p:spPr>
          <a:xfrm>
            <a:off x="10020300" y="58166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1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1" y="1405890"/>
                </a:lnTo>
                <a:cubicBezTo>
                  <a:pt x="35878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7"/>
                  <a:pt x="35878" y="0"/>
                  <a:pt x="80201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23" name="m-p17_double_funnel-title-bar">
            <a:extLst>
              <a:ext uri="{FF2B5EF4-FFF2-40B4-BE49-F238E27FC236}">
                <a16:creationId xmlns:a16="http://schemas.microsoft.com/office/drawing/2014/main" id="{1421F2DD-89E7-02A7-A146-F16FE16E0722}"/>
              </a:ext>
            </a:extLst>
          </p:cNvPr>
          <p:cNvSpPr/>
          <p:nvPr/>
        </p:nvSpPr>
        <p:spPr>
          <a:xfrm>
            <a:off x="10140061" y="59155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24" name="m-p17_double_funnel-title-bar-accent">
            <a:extLst>
              <a:ext uri="{FF2B5EF4-FFF2-40B4-BE49-F238E27FC236}">
                <a16:creationId xmlns:a16="http://schemas.microsoft.com/office/drawing/2014/main" id="{FE80DE81-E420-632E-75A0-CB51F653BA15}"/>
              </a:ext>
            </a:extLst>
          </p:cNvPr>
          <p:cNvSpPr/>
          <p:nvPr/>
        </p:nvSpPr>
        <p:spPr>
          <a:xfrm>
            <a:off x="10140061" y="59155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25" name="m-p17_double_funnel-title-cn">
            <a:extLst>
              <a:ext uri="{FF2B5EF4-FFF2-40B4-BE49-F238E27FC236}">
                <a16:creationId xmlns:a16="http://schemas.microsoft.com/office/drawing/2014/main" id="{DB6388F6-C00D-AF65-960F-F77C1C213108}"/>
              </a:ext>
            </a:extLst>
          </p:cNvPr>
          <p:cNvSpPr txBox="1"/>
          <p:nvPr/>
        </p:nvSpPr>
        <p:spPr>
          <a:xfrm>
            <a:off x="10172240" y="5898168"/>
            <a:ext cx="551421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获客与留存双漏斗</a:t>
            </a:r>
          </a:p>
        </p:txBody>
      </p:sp>
      <p:sp>
        <p:nvSpPr>
          <p:cNvPr id="2226" name="m-p17_double_funnel-title-en">
            <a:extLst>
              <a:ext uri="{FF2B5EF4-FFF2-40B4-BE49-F238E27FC236}">
                <a16:creationId xmlns:a16="http://schemas.microsoft.com/office/drawing/2014/main" id="{2007EA63-73EA-D4F3-553C-E87026C8257C}"/>
              </a:ext>
            </a:extLst>
          </p:cNvPr>
          <p:cNvSpPr txBox="1"/>
          <p:nvPr/>
        </p:nvSpPr>
        <p:spPr>
          <a:xfrm>
            <a:off x="10179530" y="5985450"/>
            <a:ext cx="25907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DOUBLE FUNNEL</a:t>
            </a:r>
          </a:p>
        </p:txBody>
      </p:sp>
      <p:sp>
        <p:nvSpPr>
          <p:cNvPr id="2227" name="m-p17_double_funnel-title-sub">
            <a:extLst>
              <a:ext uri="{FF2B5EF4-FFF2-40B4-BE49-F238E27FC236}">
                <a16:creationId xmlns:a16="http://schemas.microsoft.com/office/drawing/2014/main" id="{79F8718F-BDA8-CA45-C771-A73A88B42110}"/>
              </a:ext>
            </a:extLst>
          </p:cNvPr>
          <p:cNvSpPr txBox="1"/>
          <p:nvPr/>
        </p:nvSpPr>
        <p:spPr>
          <a:xfrm>
            <a:off x="11843713" y="5954592"/>
            <a:ext cx="558841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左漏斗把线索收成客户，右漏斗把客户养成长期收入</a:t>
            </a:r>
          </a:p>
        </p:txBody>
      </p:sp>
      <p:sp>
        <p:nvSpPr>
          <p:cNvPr id="2228" name="m-p17_double_funnel-fh-1">
            <a:extLst>
              <a:ext uri="{FF2B5EF4-FFF2-40B4-BE49-F238E27FC236}">
                <a16:creationId xmlns:a16="http://schemas.microsoft.com/office/drawing/2014/main" id="{F24A94B2-35ED-A3DE-13EA-D63C4F9C07D7}"/>
              </a:ext>
            </a:extLst>
          </p:cNvPr>
          <p:cNvSpPr txBox="1"/>
          <p:nvPr/>
        </p:nvSpPr>
        <p:spPr>
          <a:xfrm>
            <a:off x="10504486" y="6117923"/>
            <a:ext cx="30734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26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获客漏斗 · ACQUISITION</a:t>
            </a:r>
          </a:p>
        </p:txBody>
      </p:sp>
      <p:sp>
        <p:nvSpPr>
          <p:cNvPr id="2229" name="m-p17_double_funnel-f-1-1">
            <a:extLst>
              <a:ext uri="{FF2B5EF4-FFF2-40B4-BE49-F238E27FC236}">
                <a16:creationId xmlns:a16="http://schemas.microsoft.com/office/drawing/2014/main" id="{EB4470FA-E928-A214-391E-BD07D18FB1DA}"/>
              </a:ext>
            </a:extLst>
          </p:cNvPr>
          <p:cNvSpPr/>
          <p:nvPr/>
        </p:nvSpPr>
        <p:spPr>
          <a:xfrm>
            <a:off x="10259755" y="6194108"/>
            <a:ext cx="796806" cy="145796"/>
          </a:xfrm>
          <a:custGeom>
            <a:avLst/>
            <a:gdLst/>
            <a:ahLst/>
            <a:cxnLst/>
            <a:rect l="0" t="0" r="r" b="b"/>
            <a:pathLst>
              <a:path w="796806" h="145796">
                <a:moveTo>
                  <a:pt x="1972" y="16764"/>
                </a:moveTo>
                <a:quadBezTo>
                  <a:pt x="-5140" y="0"/>
                  <a:pt x="13085" y="0"/>
                </a:quadBezTo>
                <a:lnTo>
                  <a:pt x="783721" y="0"/>
                </a:lnTo>
                <a:quadBezTo>
                  <a:pt x="801945" y="0"/>
                  <a:pt x="794833" y="16764"/>
                </a:quadBezTo>
                <a:lnTo>
                  <a:pt x="747208" y="129032"/>
                </a:lnTo>
                <a:quadBezTo>
                  <a:pt x="740096" y="145796"/>
                  <a:pt x="721872" y="145796"/>
                </a:quadBezTo>
                <a:lnTo>
                  <a:pt x="74934" y="145796"/>
                </a:lnTo>
                <a:quadBezTo>
                  <a:pt x="56709" y="145796"/>
                  <a:pt x="49597" y="129032"/>
                </a:quadBezTo>
                <a:close/>
              </a:path>
            </a:pathLst>
          </a:custGeom>
          <a:gradFill rotWithShape="1">
            <a:gsLst>
              <a:gs pos="0">
                <a:srgbClr val="3761A3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30" name="m-p17_double_funnel-fn-1-1">
            <a:extLst>
              <a:ext uri="{FF2B5EF4-FFF2-40B4-BE49-F238E27FC236}">
                <a16:creationId xmlns:a16="http://schemas.microsoft.com/office/drawing/2014/main" id="{0153E388-100B-1AC4-A568-64F001B27278}"/>
              </a:ext>
            </a:extLst>
          </p:cNvPr>
          <p:cNvSpPr txBox="1"/>
          <p:nvPr/>
        </p:nvSpPr>
        <p:spPr>
          <a:xfrm>
            <a:off x="10357271" y="6223826"/>
            <a:ext cx="150743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2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曝光触达</a:t>
            </a:r>
          </a:p>
        </p:txBody>
      </p:sp>
      <p:sp>
        <p:nvSpPr>
          <p:cNvPr id="2231" name="m-p17_double_funnel-fp-1-1">
            <a:extLst>
              <a:ext uri="{FF2B5EF4-FFF2-40B4-BE49-F238E27FC236}">
                <a16:creationId xmlns:a16="http://schemas.microsoft.com/office/drawing/2014/main" id="{6D0DA59D-0B57-26CB-1D09-65EF314B3006}"/>
              </a:ext>
            </a:extLst>
          </p:cNvPr>
          <p:cNvSpPr txBox="1"/>
          <p:nvPr/>
        </p:nvSpPr>
        <p:spPr>
          <a:xfrm>
            <a:off x="10358521" y="6280947"/>
            <a:ext cx="16532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广告、内容与展会</a:t>
            </a:r>
          </a:p>
        </p:txBody>
      </p:sp>
      <p:sp>
        <p:nvSpPr>
          <p:cNvPr id="2232" name="m-p17_double_funnel-fv-1-1">
            <a:extLst>
              <a:ext uri="{FF2B5EF4-FFF2-40B4-BE49-F238E27FC236}">
                <a16:creationId xmlns:a16="http://schemas.microsoft.com/office/drawing/2014/main" id="{E6DC791F-1E9A-3796-7436-0B3F612211EE}"/>
              </a:ext>
            </a:extLst>
          </p:cNvPr>
          <p:cNvSpPr txBox="1"/>
          <p:nvPr/>
        </p:nvSpPr>
        <p:spPr>
          <a:xfrm>
            <a:off x="10814003" y="6231409"/>
            <a:ext cx="153633" cy="6150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8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48,600</a:t>
            </a:r>
          </a:p>
        </p:txBody>
      </p:sp>
      <p:sp>
        <p:nvSpPr>
          <p:cNvPr id="2233" name="m-p17_double_funnel-f-1-2">
            <a:extLst>
              <a:ext uri="{FF2B5EF4-FFF2-40B4-BE49-F238E27FC236}">
                <a16:creationId xmlns:a16="http://schemas.microsoft.com/office/drawing/2014/main" id="{47F68062-8036-AE10-2951-B8E85D02A810}"/>
              </a:ext>
            </a:extLst>
          </p:cNvPr>
          <p:cNvSpPr/>
          <p:nvPr/>
        </p:nvSpPr>
        <p:spPr>
          <a:xfrm>
            <a:off x="10321604" y="6363335"/>
            <a:ext cx="673108" cy="145796"/>
          </a:xfrm>
          <a:custGeom>
            <a:avLst/>
            <a:gdLst/>
            <a:ahLst/>
            <a:cxnLst/>
            <a:rect l="0" t="0" r="r" b="b"/>
            <a:pathLst>
              <a:path w="673108" h="145796">
                <a:moveTo>
                  <a:pt x="1972" y="16764"/>
                </a:moveTo>
                <a:quadBezTo>
                  <a:pt x="-5140" y="0"/>
                  <a:pt x="13085" y="0"/>
                </a:quadBezTo>
                <a:lnTo>
                  <a:pt x="660023" y="0"/>
                </a:lnTo>
                <a:quadBezTo>
                  <a:pt x="678247" y="0"/>
                  <a:pt x="671135" y="16764"/>
                </a:quadBezTo>
                <a:lnTo>
                  <a:pt x="623574" y="129032"/>
                </a:lnTo>
                <a:quadBezTo>
                  <a:pt x="616462" y="145796"/>
                  <a:pt x="598174" y="145796"/>
                </a:quadBezTo>
                <a:lnTo>
                  <a:pt x="74870" y="145796"/>
                </a:lnTo>
                <a:quadBezTo>
                  <a:pt x="56709" y="145796"/>
                  <a:pt x="49534" y="129032"/>
                </a:quadBezTo>
                <a:close/>
              </a:path>
            </a:pathLst>
          </a:custGeom>
          <a:gradFill rotWithShape="1">
            <a:gsLst>
              <a:gs pos="0">
                <a:srgbClr val="4478B8"/>
              </a:gs>
              <a:gs pos="100000">
                <a:srgbClr val="1B5AA8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34" name="m-p17_double_funnel-fn-1-2">
            <a:extLst>
              <a:ext uri="{FF2B5EF4-FFF2-40B4-BE49-F238E27FC236}">
                <a16:creationId xmlns:a16="http://schemas.microsoft.com/office/drawing/2014/main" id="{F9CCAE48-5BA2-580E-254A-720DAA4C9678}"/>
              </a:ext>
            </a:extLst>
          </p:cNvPr>
          <p:cNvSpPr txBox="1"/>
          <p:nvPr/>
        </p:nvSpPr>
        <p:spPr>
          <a:xfrm>
            <a:off x="10419104" y="6393054"/>
            <a:ext cx="150743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2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有效线索</a:t>
            </a:r>
          </a:p>
        </p:txBody>
      </p:sp>
      <p:sp>
        <p:nvSpPr>
          <p:cNvPr id="2235" name="m-p17_double_funnel-fp-1-2">
            <a:extLst>
              <a:ext uri="{FF2B5EF4-FFF2-40B4-BE49-F238E27FC236}">
                <a16:creationId xmlns:a16="http://schemas.microsoft.com/office/drawing/2014/main" id="{0B856EAB-44D5-5FDD-FA14-9BB407B3B0A2}"/>
              </a:ext>
            </a:extLst>
          </p:cNvPr>
          <p:cNvSpPr txBox="1"/>
          <p:nvPr/>
        </p:nvSpPr>
        <p:spPr>
          <a:xfrm>
            <a:off x="10420354" y="6450175"/>
            <a:ext cx="14670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留资并通过初筛</a:t>
            </a:r>
          </a:p>
        </p:txBody>
      </p:sp>
      <p:sp>
        <p:nvSpPr>
          <p:cNvPr id="2236" name="m-p17_double_funnel-fv-1-2">
            <a:extLst>
              <a:ext uri="{FF2B5EF4-FFF2-40B4-BE49-F238E27FC236}">
                <a16:creationId xmlns:a16="http://schemas.microsoft.com/office/drawing/2014/main" id="{082F308A-A7C9-DD9F-339F-255786DE2E86}"/>
              </a:ext>
            </a:extLst>
          </p:cNvPr>
          <p:cNvSpPr txBox="1"/>
          <p:nvPr/>
        </p:nvSpPr>
        <p:spPr>
          <a:xfrm>
            <a:off x="10752170" y="6400637"/>
            <a:ext cx="153633" cy="6150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8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12,400</a:t>
            </a:r>
          </a:p>
        </p:txBody>
      </p:sp>
      <p:sp>
        <p:nvSpPr>
          <p:cNvPr id="2237" name="m-p17_double_funnel-fr-1-2">
            <a:extLst>
              <a:ext uri="{FF2B5EF4-FFF2-40B4-BE49-F238E27FC236}">
                <a16:creationId xmlns:a16="http://schemas.microsoft.com/office/drawing/2014/main" id="{63D5011B-07A8-071D-CCAA-37810CC288C8}"/>
              </a:ext>
            </a:extLst>
          </p:cNvPr>
          <p:cNvSpPr/>
          <p:nvPr/>
        </p:nvSpPr>
        <p:spPr>
          <a:xfrm>
            <a:off x="10211626" y="6329490"/>
            <a:ext cx="145859" cy="44260"/>
          </a:xfrm>
          <a:custGeom>
            <a:avLst/>
            <a:gdLst/>
            <a:ahLst/>
            <a:cxnLst/>
            <a:rect l="0" t="0" r="r" b="b"/>
            <a:pathLst>
              <a:path w="145859" h="44260">
                <a:moveTo>
                  <a:pt x="22161" y="0"/>
                </a:moveTo>
                <a:lnTo>
                  <a:pt x="123698" y="0"/>
                </a:lnTo>
                <a:cubicBezTo>
                  <a:pt x="135890" y="0"/>
                  <a:pt x="145859" y="9906"/>
                  <a:pt x="145859" y="22098"/>
                </a:cubicBezTo>
                <a:lnTo>
                  <a:pt x="145859" y="22098"/>
                </a:lnTo>
                <a:cubicBezTo>
                  <a:pt x="145859" y="34353"/>
                  <a:pt x="135890" y="44260"/>
                  <a:pt x="123698" y="44260"/>
                </a:cubicBezTo>
                <a:lnTo>
                  <a:pt x="22161" y="44260"/>
                </a:lnTo>
                <a:cubicBezTo>
                  <a:pt x="9969" y="44260"/>
                  <a:pt x="0" y="34353"/>
                  <a:pt x="0" y="22098"/>
                </a:cubicBezTo>
                <a:lnTo>
                  <a:pt x="0" y="22098"/>
                </a:lnTo>
                <a:cubicBezTo>
                  <a:pt x="0" y="9906"/>
                  <a:pt x="9969" y="0"/>
                  <a:pt x="221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38" name="m-p17_double_funnel-frt-1-2">
            <a:extLst>
              <a:ext uri="{FF2B5EF4-FFF2-40B4-BE49-F238E27FC236}">
                <a16:creationId xmlns:a16="http://schemas.microsoft.com/office/drawing/2014/main" id="{7258AE6B-2DB7-3108-3453-55757E166BFD}"/>
              </a:ext>
            </a:extLst>
          </p:cNvPr>
          <p:cNvSpPr txBox="1"/>
          <p:nvPr/>
        </p:nvSpPr>
        <p:spPr>
          <a:xfrm>
            <a:off x="10247455" y="6335315"/>
            <a:ext cx="74200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3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25.5%</a:t>
            </a:r>
          </a:p>
        </p:txBody>
      </p:sp>
      <p:sp>
        <p:nvSpPr>
          <p:cNvPr id="2239" name="m-p17_double_funnel-f-1-3">
            <a:extLst>
              <a:ext uri="{FF2B5EF4-FFF2-40B4-BE49-F238E27FC236}">
                <a16:creationId xmlns:a16="http://schemas.microsoft.com/office/drawing/2014/main" id="{7BA07F09-0A9C-8983-086F-416F6FECED4E}"/>
              </a:ext>
            </a:extLst>
          </p:cNvPr>
          <p:cNvSpPr/>
          <p:nvPr/>
        </p:nvSpPr>
        <p:spPr>
          <a:xfrm>
            <a:off x="10383448" y="6532562"/>
            <a:ext cx="549440" cy="145796"/>
          </a:xfrm>
          <a:custGeom>
            <a:avLst/>
            <a:gdLst/>
            <a:ahLst/>
            <a:cxnLst/>
            <a:rect l="0" t="0" r="r" b="b"/>
            <a:pathLst>
              <a:path w="549440" h="145796">
                <a:moveTo>
                  <a:pt x="1977" y="16764"/>
                </a:moveTo>
                <a:quadBezTo>
                  <a:pt x="-5135" y="0"/>
                  <a:pt x="13026" y="0"/>
                </a:quadBezTo>
                <a:lnTo>
                  <a:pt x="536329" y="0"/>
                </a:lnTo>
                <a:quadBezTo>
                  <a:pt x="554617" y="0"/>
                  <a:pt x="547442" y="16764"/>
                </a:quadBezTo>
                <a:lnTo>
                  <a:pt x="499880" y="129032"/>
                </a:lnTo>
                <a:quadBezTo>
                  <a:pt x="492768" y="145796"/>
                  <a:pt x="474544" y="145796"/>
                </a:quadBezTo>
                <a:lnTo>
                  <a:pt x="74875" y="145796"/>
                </a:lnTo>
                <a:quadBezTo>
                  <a:pt x="56650" y="145796"/>
                  <a:pt x="49538" y="129032"/>
                </a:quadBezTo>
                <a:close/>
              </a:path>
            </a:pathLst>
          </a:custGeom>
          <a:gradFill rotWithShape="1">
            <a:gsLst>
              <a:gs pos="0">
                <a:srgbClr val="5D9BD6"/>
              </a:gs>
              <a:gs pos="100000">
                <a:srgbClr val="3985CD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40" name="m-p17_double_funnel-fn-1-3">
            <a:extLst>
              <a:ext uri="{FF2B5EF4-FFF2-40B4-BE49-F238E27FC236}">
                <a16:creationId xmlns:a16="http://schemas.microsoft.com/office/drawing/2014/main" id="{C4AEF206-2E82-73E8-AFAF-AB96BCF95860}"/>
              </a:ext>
            </a:extLst>
          </p:cNvPr>
          <p:cNvSpPr txBox="1"/>
          <p:nvPr/>
        </p:nvSpPr>
        <p:spPr>
          <a:xfrm>
            <a:off x="10480937" y="6562281"/>
            <a:ext cx="150743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2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商机立项</a:t>
            </a:r>
          </a:p>
        </p:txBody>
      </p:sp>
      <p:sp>
        <p:nvSpPr>
          <p:cNvPr id="2241" name="m-p17_double_funnel-fp-1-3">
            <a:extLst>
              <a:ext uri="{FF2B5EF4-FFF2-40B4-BE49-F238E27FC236}">
                <a16:creationId xmlns:a16="http://schemas.microsoft.com/office/drawing/2014/main" id="{46263F3D-528D-D51A-34AF-86F1B8E61174}"/>
              </a:ext>
            </a:extLst>
          </p:cNvPr>
          <p:cNvSpPr txBox="1"/>
          <p:nvPr/>
        </p:nvSpPr>
        <p:spPr>
          <a:xfrm>
            <a:off x="10482187" y="6619402"/>
            <a:ext cx="14670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进入方案与报价</a:t>
            </a:r>
          </a:p>
        </p:txBody>
      </p:sp>
      <p:sp>
        <p:nvSpPr>
          <p:cNvPr id="2242" name="m-p17_double_funnel-fv-1-3">
            <a:extLst>
              <a:ext uri="{FF2B5EF4-FFF2-40B4-BE49-F238E27FC236}">
                <a16:creationId xmlns:a16="http://schemas.microsoft.com/office/drawing/2014/main" id="{8079AEC0-722B-2E46-BDE0-36BF80BAD97B}"/>
              </a:ext>
            </a:extLst>
          </p:cNvPr>
          <p:cNvSpPr txBox="1"/>
          <p:nvPr/>
        </p:nvSpPr>
        <p:spPr>
          <a:xfrm>
            <a:off x="10710670" y="6569864"/>
            <a:ext cx="133299" cy="6150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8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3,860</a:t>
            </a:r>
          </a:p>
        </p:txBody>
      </p:sp>
      <p:sp>
        <p:nvSpPr>
          <p:cNvPr id="2243" name="m-p17_double_funnel-fr-1-3">
            <a:extLst>
              <a:ext uri="{FF2B5EF4-FFF2-40B4-BE49-F238E27FC236}">
                <a16:creationId xmlns:a16="http://schemas.microsoft.com/office/drawing/2014/main" id="{BF862C2B-064B-D382-3233-B97C292FBD43}"/>
              </a:ext>
            </a:extLst>
          </p:cNvPr>
          <p:cNvSpPr/>
          <p:nvPr/>
        </p:nvSpPr>
        <p:spPr>
          <a:xfrm>
            <a:off x="10273474" y="6498717"/>
            <a:ext cx="145796" cy="44260"/>
          </a:xfrm>
          <a:custGeom>
            <a:avLst/>
            <a:gdLst/>
            <a:ahLst/>
            <a:cxnLst/>
            <a:rect l="0" t="0" r="r" b="b"/>
            <a:pathLst>
              <a:path w="145796" h="44260">
                <a:moveTo>
                  <a:pt x="22162" y="0"/>
                </a:moveTo>
                <a:lnTo>
                  <a:pt x="123698" y="0"/>
                </a:lnTo>
                <a:cubicBezTo>
                  <a:pt x="135890" y="0"/>
                  <a:pt x="145796" y="9906"/>
                  <a:pt x="145796" y="22098"/>
                </a:cubicBezTo>
                <a:lnTo>
                  <a:pt x="145796" y="22098"/>
                </a:lnTo>
                <a:cubicBezTo>
                  <a:pt x="145796" y="34353"/>
                  <a:pt x="135890" y="44260"/>
                  <a:pt x="123698" y="44260"/>
                </a:cubicBezTo>
                <a:lnTo>
                  <a:pt x="22162" y="44260"/>
                </a:lnTo>
                <a:cubicBezTo>
                  <a:pt x="9906" y="44260"/>
                  <a:pt x="0" y="34353"/>
                  <a:pt x="0" y="22098"/>
                </a:cubicBezTo>
                <a:lnTo>
                  <a:pt x="0" y="22098"/>
                </a:lnTo>
                <a:cubicBezTo>
                  <a:pt x="0" y="9906"/>
                  <a:pt x="9906" y="0"/>
                  <a:pt x="2216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44" name="m-p17_double_funnel-frt-1-3">
            <a:extLst>
              <a:ext uri="{FF2B5EF4-FFF2-40B4-BE49-F238E27FC236}">
                <a16:creationId xmlns:a16="http://schemas.microsoft.com/office/drawing/2014/main" id="{8D4D39F5-68D5-E8FA-6EF4-70B8387F1143}"/>
              </a:ext>
            </a:extLst>
          </p:cNvPr>
          <p:cNvSpPr txBox="1"/>
          <p:nvPr/>
        </p:nvSpPr>
        <p:spPr>
          <a:xfrm>
            <a:off x="10309288" y="6504542"/>
            <a:ext cx="74200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3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31.1%</a:t>
            </a:r>
          </a:p>
        </p:txBody>
      </p:sp>
      <p:sp>
        <p:nvSpPr>
          <p:cNvPr id="2245" name="m-p17_double_funnel-f-1-4">
            <a:extLst>
              <a:ext uri="{FF2B5EF4-FFF2-40B4-BE49-F238E27FC236}">
                <a16:creationId xmlns:a16="http://schemas.microsoft.com/office/drawing/2014/main" id="{F6834611-0D02-AD5D-B997-45940E77B74B}"/>
              </a:ext>
            </a:extLst>
          </p:cNvPr>
          <p:cNvSpPr/>
          <p:nvPr/>
        </p:nvSpPr>
        <p:spPr>
          <a:xfrm>
            <a:off x="10445238" y="6701790"/>
            <a:ext cx="425839" cy="145796"/>
          </a:xfrm>
          <a:custGeom>
            <a:avLst/>
            <a:gdLst/>
            <a:ahLst/>
            <a:cxnLst/>
            <a:rect l="0" t="0" r="r" b="b"/>
            <a:pathLst>
              <a:path w="425839" h="145796">
                <a:moveTo>
                  <a:pt x="1972" y="16764"/>
                </a:moveTo>
                <a:quadBezTo>
                  <a:pt x="-5140" y="0"/>
                  <a:pt x="13085" y="0"/>
                </a:quadBezTo>
                <a:lnTo>
                  <a:pt x="412754" y="0"/>
                </a:lnTo>
                <a:quadBezTo>
                  <a:pt x="430978" y="0"/>
                  <a:pt x="423866" y="16764"/>
                </a:quadBezTo>
                <a:lnTo>
                  <a:pt x="376241" y="129032"/>
                </a:lnTo>
                <a:quadBezTo>
                  <a:pt x="369129" y="145796"/>
                  <a:pt x="350905" y="145796"/>
                </a:quadBezTo>
                <a:lnTo>
                  <a:pt x="74934" y="145796"/>
                </a:lnTo>
                <a:quadBezTo>
                  <a:pt x="56709" y="145796"/>
                  <a:pt x="49597" y="129032"/>
                </a:quadBezTo>
                <a:close/>
              </a:path>
            </a:pathLst>
          </a:custGeom>
          <a:gradFill rotWithShape="1">
            <a:gsLst>
              <a:gs pos="0">
                <a:srgbClr val="73B3E5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46" name="m-p17_double_funnel-fn-1-4">
            <a:extLst>
              <a:ext uri="{FF2B5EF4-FFF2-40B4-BE49-F238E27FC236}">
                <a16:creationId xmlns:a16="http://schemas.microsoft.com/office/drawing/2014/main" id="{313E6646-5E5D-1689-175A-1924011BF027}"/>
              </a:ext>
            </a:extLst>
          </p:cNvPr>
          <p:cNvSpPr txBox="1"/>
          <p:nvPr/>
        </p:nvSpPr>
        <p:spPr>
          <a:xfrm>
            <a:off x="10542770" y="6731509"/>
            <a:ext cx="150743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2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成交客户</a:t>
            </a:r>
          </a:p>
        </p:txBody>
      </p:sp>
      <p:sp>
        <p:nvSpPr>
          <p:cNvPr id="2247" name="m-p17_double_funnel-fp-1-4">
            <a:extLst>
              <a:ext uri="{FF2B5EF4-FFF2-40B4-BE49-F238E27FC236}">
                <a16:creationId xmlns:a16="http://schemas.microsoft.com/office/drawing/2014/main" id="{53BC9A33-D779-0C3B-131F-70BC67B26C95}"/>
              </a:ext>
            </a:extLst>
          </p:cNvPr>
          <p:cNvSpPr txBox="1"/>
          <p:nvPr/>
        </p:nvSpPr>
        <p:spPr>
          <a:xfrm>
            <a:off x="10544020" y="6788630"/>
            <a:ext cx="16532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签约并支付预付款</a:t>
            </a:r>
          </a:p>
        </p:txBody>
      </p:sp>
      <p:sp>
        <p:nvSpPr>
          <p:cNvPr id="2248" name="m-p17_double_funnel-fv-1-4">
            <a:extLst>
              <a:ext uri="{FF2B5EF4-FFF2-40B4-BE49-F238E27FC236}">
                <a16:creationId xmlns:a16="http://schemas.microsoft.com/office/drawing/2014/main" id="{0F1D0B9F-1D68-4410-02CC-0FF68694CEB1}"/>
              </a:ext>
            </a:extLst>
          </p:cNvPr>
          <p:cNvSpPr txBox="1"/>
          <p:nvPr/>
        </p:nvSpPr>
        <p:spPr>
          <a:xfrm>
            <a:off x="10648837" y="6739092"/>
            <a:ext cx="133299" cy="6150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8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1,286</a:t>
            </a:r>
          </a:p>
        </p:txBody>
      </p:sp>
      <p:sp>
        <p:nvSpPr>
          <p:cNvPr id="2249" name="m-p17_double_funnel-fr-1-4">
            <a:extLst>
              <a:ext uri="{FF2B5EF4-FFF2-40B4-BE49-F238E27FC236}">
                <a16:creationId xmlns:a16="http://schemas.microsoft.com/office/drawing/2014/main" id="{736AECA5-C975-7A06-2889-28928EFF8A94}"/>
              </a:ext>
            </a:extLst>
          </p:cNvPr>
          <p:cNvSpPr/>
          <p:nvPr/>
        </p:nvSpPr>
        <p:spPr>
          <a:xfrm>
            <a:off x="10335324" y="6667944"/>
            <a:ext cx="145796" cy="44260"/>
          </a:xfrm>
          <a:custGeom>
            <a:avLst/>
            <a:gdLst/>
            <a:ahLst/>
            <a:cxnLst/>
            <a:rect l="0" t="0" r="r" b="b"/>
            <a:pathLst>
              <a:path w="145796" h="44260">
                <a:moveTo>
                  <a:pt x="22162" y="0"/>
                </a:moveTo>
                <a:lnTo>
                  <a:pt x="123698" y="0"/>
                </a:lnTo>
                <a:cubicBezTo>
                  <a:pt x="135890" y="0"/>
                  <a:pt x="145796" y="9906"/>
                  <a:pt x="145796" y="22162"/>
                </a:cubicBezTo>
                <a:lnTo>
                  <a:pt x="145796" y="22162"/>
                </a:lnTo>
                <a:cubicBezTo>
                  <a:pt x="145796" y="34354"/>
                  <a:pt x="135890" y="44260"/>
                  <a:pt x="123698" y="44260"/>
                </a:cubicBezTo>
                <a:lnTo>
                  <a:pt x="22162" y="44260"/>
                </a:lnTo>
                <a:cubicBezTo>
                  <a:pt x="9906" y="44260"/>
                  <a:pt x="0" y="34354"/>
                  <a:pt x="0" y="22162"/>
                </a:cubicBezTo>
                <a:lnTo>
                  <a:pt x="0" y="22162"/>
                </a:lnTo>
                <a:cubicBezTo>
                  <a:pt x="0" y="9906"/>
                  <a:pt x="9906" y="0"/>
                  <a:pt x="2216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50" name="m-p17_double_funnel-frt-1-4">
            <a:extLst>
              <a:ext uri="{FF2B5EF4-FFF2-40B4-BE49-F238E27FC236}">
                <a16:creationId xmlns:a16="http://schemas.microsoft.com/office/drawing/2014/main" id="{47A7BE63-CD08-B9D1-1505-2844B5DD5E75}"/>
              </a:ext>
            </a:extLst>
          </p:cNvPr>
          <p:cNvSpPr txBox="1"/>
          <p:nvPr/>
        </p:nvSpPr>
        <p:spPr>
          <a:xfrm>
            <a:off x="10371122" y="6673770"/>
            <a:ext cx="74200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3" normalizeH="0" baseline="0" noProof="0">
                <a:ln>
                  <a:noFill/>
                </a:ln>
                <a:solidFill>
                  <a:srgbClr val="54A2D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33.3%</a:t>
            </a:r>
          </a:p>
        </p:txBody>
      </p:sp>
      <p:sp>
        <p:nvSpPr>
          <p:cNvPr id="2251" name="m-p17_double_funnel-fh-2">
            <a:extLst>
              <a:ext uri="{FF2B5EF4-FFF2-40B4-BE49-F238E27FC236}">
                <a16:creationId xmlns:a16="http://schemas.microsoft.com/office/drawing/2014/main" id="{C0C1152A-DDAF-9A2E-E556-C7106ACC2AA6}"/>
              </a:ext>
            </a:extLst>
          </p:cNvPr>
          <p:cNvSpPr txBox="1"/>
          <p:nvPr/>
        </p:nvSpPr>
        <p:spPr>
          <a:xfrm>
            <a:off x="11625162" y="6117923"/>
            <a:ext cx="278965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26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留存漏斗 · RETENTION</a:t>
            </a:r>
          </a:p>
        </p:txBody>
      </p:sp>
      <p:sp>
        <p:nvSpPr>
          <p:cNvPr id="2252" name="m-p17_double_funnel-f-2-1">
            <a:extLst>
              <a:ext uri="{FF2B5EF4-FFF2-40B4-BE49-F238E27FC236}">
                <a16:creationId xmlns:a16="http://schemas.microsoft.com/office/drawing/2014/main" id="{371B4D94-BAC0-660B-1870-A9D340218C64}"/>
              </a:ext>
            </a:extLst>
          </p:cNvPr>
          <p:cNvSpPr/>
          <p:nvPr/>
        </p:nvSpPr>
        <p:spPr>
          <a:xfrm>
            <a:off x="11366242" y="6194108"/>
            <a:ext cx="796806" cy="145796"/>
          </a:xfrm>
          <a:custGeom>
            <a:avLst/>
            <a:gdLst/>
            <a:ahLst/>
            <a:cxnLst/>
            <a:rect l="0" t="0" r="r" b="b"/>
            <a:pathLst>
              <a:path w="796806" h="145796">
                <a:moveTo>
                  <a:pt x="1972" y="16764"/>
                </a:moveTo>
                <a:quadBezTo>
                  <a:pt x="-5140" y="0"/>
                  <a:pt x="13085" y="0"/>
                </a:quadBezTo>
                <a:lnTo>
                  <a:pt x="783721" y="0"/>
                </a:lnTo>
                <a:quadBezTo>
                  <a:pt x="801945" y="0"/>
                  <a:pt x="794833" y="16764"/>
                </a:quadBezTo>
                <a:lnTo>
                  <a:pt x="747208" y="129032"/>
                </a:lnTo>
                <a:quadBezTo>
                  <a:pt x="740096" y="145796"/>
                  <a:pt x="721872" y="145796"/>
                </a:quadBezTo>
                <a:lnTo>
                  <a:pt x="74934" y="145796"/>
                </a:lnTo>
                <a:quadBezTo>
                  <a:pt x="56709" y="145796"/>
                  <a:pt x="49597" y="129032"/>
                </a:quadBezTo>
                <a:close/>
              </a:path>
            </a:pathLst>
          </a:custGeom>
          <a:gradFill rotWithShape="1">
            <a:gsLst>
              <a:gs pos="0">
                <a:srgbClr val="73B3E5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53" name="m-p17_double_funnel-fn-2-1">
            <a:extLst>
              <a:ext uri="{FF2B5EF4-FFF2-40B4-BE49-F238E27FC236}">
                <a16:creationId xmlns:a16="http://schemas.microsoft.com/office/drawing/2014/main" id="{803C1F42-D948-0BF1-88EA-598FBB9ED993}"/>
              </a:ext>
            </a:extLst>
          </p:cNvPr>
          <p:cNvSpPr txBox="1"/>
          <p:nvPr/>
        </p:nvSpPr>
        <p:spPr>
          <a:xfrm>
            <a:off x="11463759" y="6223826"/>
            <a:ext cx="150743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2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首次上线</a:t>
            </a:r>
          </a:p>
        </p:txBody>
      </p:sp>
      <p:sp>
        <p:nvSpPr>
          <p:cNvPr id="2254" name="m-p17_double_funnel-fp-2-1">
            <a:extLst>
              <a:ext uri="{FF2B5EF4-FFF2-40B4-BE49-F238E27FC236}">
                <a16:creationId xmlns:a16="http://schemas.microsoft.com/office/drawing/2014/main" id="{95EEA2C2-78C7-3EB0-F1FA-1DF5415906EE}"/>
              </a:ext>
            </a:extLst>
          </p:cNvPr>
          <p:cNvSpPr txBox="1"/>
          <p:nvPr/>
        </p:nvSpPr>
        <p:spPr>
          <a:xfrm>
            <a:off x="11465008" y="6280947"/>
            <a:ext cx="14670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完成实施并验收</a:t>
            </a:r>
          </a:p>
        </p:txBody>
      </p:sp>
      <p:sp>
        <p:nvSpPr>
          <p:cNvPr id="2255" name="m-p17_double_funnel-fv-2-1">
            <a:extLst>
              <a:ext uri="{FF2B5EF4-FFF2-40B4-BE49-F238E27FC236}">
                <a16:creationId xmlns:a16="http://schemas.microsoft.com/office/drawing/2014/main" id="{C13EBD7F-414A-3C25-C8A1-2EC40501FD28}"/>
              </a:ext>
            </a:extLst>
          </p:cNvPr>
          <p:cNvSpPr txBox="1"/>
          <p:nvPr/>
        </p:nvSpPr>
        <p:spPr>
          <a:xfrm>
            <a:off x="11940824" y="6231409"/>
            <a:ext cx="133299" cy="6150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8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1,286</a:t>
            </a:r>
          </a:p>
        </p:txBody>
      </p:sp>
      <p:sp>
        <p:nvSpPr>
          <p:cNvPr id="2256" name="m-p17_double_funnel-f-2-2">
            <a:extLst>
              <a:ext uri="{FF2B5EF4-FFF2-40B4-BE49-F238E27FC236}">
                <a16:creationId xmlns:a16="http://schemas.microsoft.com/office/drawing/2014/main" id="{0EC45210-F811-3762-B79F-1304EBD3997E}"/>
              </a:ext>
            </a:extLst>
          </p:cNvPr>
          <p:cNvSpPr/>
          <p:nvPr/>
        </p:nvSpPr>
        <p:spPr>
          <a:xfrm>
            <a:off x="11428091" y="6363335"/>
            <a:ext cx="673108" cy="145796"/>
          </a:xfrm>
          <a:custGeom>
            <a:avLst/>
            <a:gdLst/>
            <a:ahLst/>
            <a:cxnLst/>
            <a:rect l="0" t="0" r="r" b="b"/>
            <a:pathLst>
              <a:path w="673108" h="145796">
                <a:moveTo>
                  <a:pt x="1972" y="16764"/>
                </a:moveTo>
                <a:quadBezTo>
                  <a:pt x="-5140" y="0"/>
                  <a:pt x="13085" y="0"/>
                </a:quadBezTo>
                <a:lnTo>
                  <a:pt x="660023" y="0"/>
                </a:lnTo>
                <a:quadBezTo>
                  <a:pt x="678247" y="0"/>
                  <a:pt x="671135" y="16764"/>
                </a:quadBezTo>
                <a:lnTo>
                  <a:pt x="623574" y="129032"/>
                </a:lnTo>
                <a:quadBezTo>
                  <a:pt x="616462" y="145796"/>
                  <a:pt x="598174" y="145796"/>
                </a:quadBezTo>
                <a:lnTo>
                  <a:pt x="74870" y="145796"/>
                </a:lnTo>
                <a:quadBezTo>
                  <a:pt x="56646" y="145796"/>
                  <a:pt x="49534" y="129032"/>
                </a:quadBezTo>
                <a:close/>
              </a:path>
            </a:pathLst>
          </a:custGeom>
          <a:gradFill rotWithShape="1">
            <a:gsLst>
              <a:gs pos="0">
                <a:srgbClr val="5D9BD6"/>
              </a:gs>
              <a:gs pos="100000">
                <a:srgbClr val="3985CD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57" name="m-p17_double_funnel-fn-2-2">
            <a:extLst>
              <a:ext uri="{FF2B5EF4-FFF2-40B4-BE49-F238E27FC236}">
                <a16:creationId xmlns:a16="http://schemas.microsoft.com/office/drawing/2014/main" id="{893A81FF-8BCC-A035-AF5F-3416AC9266B4}"/>
              </a:ext>
            </a:extLst>
          </p:cNvPr>
          <p:cNvSpPr txBox="1"/>
          <p:nvPr/>
        </p:nvSpPr>
        <p:spPr>
          <a:xfrm>
            <a:off x="11525592" y="6393054"/>
            <a:ext cx="150743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2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稳定使用</a:t>
            </a:r>
          </a:p>
        </p:txBody>
      </p:sp>
      <p:sp>
        <p:nvSpPr>
          <p:cNvPr id="2258" name="m-p17_double_funnel-fp-2-2">
            <a:extLst>
              <a:ext uri="{FF2B5EF4-FFF2-40B4-BE49-F238E27FC236}">
                <a16:creationId xmlns:a16="http://schemas.microsoft.com/office/drawing/2014/main" id="{08254297-A80A-03A0-4596-3F202FB02DD1}"/>
              </a:ext>
            </a:extLst>
          </p:cNvPr>
          <p:cNvSpPr txBox="1"/>
          <p:nvPr/>
        </p:nvSpPr>
        <p:spPr>
          <a:xfrm>
            <a:off x="11526841" y="6450175"/>
            <a:ext cx="12809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月活账号达标</a:t>
            </a:r>
          </a:p>
        </p:txBody>
      </p:sp>
      <p:sp>
        <p:nvSpPr>
          <p:cNvPr id="2259" name="m-p17_double_funnel-fv-2-2">
            <a:extLst>
              <a:ext uri="{FF2B5EF4-FFF2-40B4-BE49-F238E27FC236}">
                <a16:creationId xmlns:a16="http://schemas.microsoft.com/office/drawing/2014/main" id="{309B0AB8-55D4-C72B-9611-BF8497D5F769}"/>
              </a:ext>
            </a:extLst>
          </p:cNvPr>
          <p:cNvSpPr txBox="1"/>
          <p:nvPr/>
        </p:nvSpPr>
        <p:spPr>
          <a:xfrm>
            <a:off x="11878991" y="6400637"/>
            <a:ext cx="133299" cy="6150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8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1,180</a:t>
            </a:r>
          </a:p>
        </p:txBody>
      </p:sp>
      <p:sp>
        <p:nvSpPr>
          <p:cNvPr id="2260" name="m-p17_double_funnel-fr-2-2">
            <a:extLst>
              <a:ext uri="{FF2B5EF4-FFF2-40B4-BE49-F238E27FC236}">
                <a16:creationId xmlns:a16="http://schemas.microsoft.com/office/drawing/2014/main" id="{8861D07D-2E45-FB0E-DAFE-EE818A847C0C}"/>
              </a:ext>
            </a:extLst>
          </p:cNvPr>
          <p:cNvSpPr/>
          <p:nvPr/>
        </p:nvSpPr>
        <p:spPr>
          <a:xfrm>
            <a:off x="11318113" y="6329490"/>
            <a:ext cx="145859" cy="44260"/>
          </a:xfrm>
          <a:custGeom>
            <a:avLst/>
            <a:gdLst/>
            <a:ahLst/>
            <a:cxnLst/>
            <a:rect l="0" t="0" r="r" b="b"/>
            <a:pathLst>
              <a:path w="145859" h="44260">
                <a:moveTo>
                  <a:pt x="22161" y="0"/>
                </a:moveTo>
                <a:lnTo>
                  <a:pt x="123698" y="0"/>
                </a:lnTo>
                <a:cubicBezTo>
                  <a:pt x="135890" y="0"/>
                  <a:pt x="145859" y="9906"/>
                  <a:pt x="145859" y="22098"/>
                </a:cubicBezTo>
                <a:lnTo>
                  <a:pt x="145859" y="22098"/>
                </a:lnTo>
                <a:cubicBezTo>
                  <a:pt x="145859" y="34353"/>
                  <a:pt x="135890" y="44260"/>
                  <a:pt x="123698" y="44260"/>
                </a:cubicBezTo>
                <a:lnTo>
                  <a:pt x="22161" y="44260"/>
                </a:lnTo>
                <a:cubicBezTo>
                  <a:pt x="9969" y="44260"/>
                  <a:pt x="0" y="34353"/>
                  <a:pt x="0" y="22098"/>
                </a:cubicBezTo>
                <a:lnTo>
                  <a:pt x="0" y="22098"/>
                </a:lnTo>
                <a:cubicBezTo>
                  <a:pt x="0" y="9906"/>
                  <a:pt x="9969" y="0"/>
                  <a:pt x="221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61" name="m-p17_double_funnel-frt-2-2">
            <a:extLst>
              <a:ext uri="{FF2B5EF4-FFF2-40B4-BE49-F238E27FC236}">
                <a16:creationId xmlns:a16="http://schemas.microsoft.com/office/drawing/2014/main" id="{D1E06226-9C87-FCC9-8B08-04E82C30F1F4}"/>
              </a:ext>
            </a:extLst>
          </p:cNvPr>
          <p:cNvSpPr txBox="1"/>
          <p:nvPr/>
        </p:nvSpPr>
        <p:spPr>
          <a:xfrm>
            <a:off x="11353943" y="6335315"/>
            <a:ext cx="74200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3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91.8%</a:t>
            </a:r>
          </a:p>
        </p:txBody>
      </p:sp>
      <p:sp>
        <p:nvSpPr>
          <p:cNvPr id="2262" name="m-p17_double_funnel-f-2-3">
            <a:extLst>
              <a:ext uri="{FF2B5EF4-FFF2-40B4-BE49-F238E27FC236}">
                <a16:creationId xmlns:a16="http://schemas.microsoft.com/office/drawing/2014/main" id="{18AA9E98-4FCD-F70D-A737-79749F695F51}"/>
              </a:ext>
            </a:extLst>
          </p:cNvPr>
          <p:cNvSpPr/>
          <p:nvPr/>
        </p:nvSpPr>
        <p:spPr>
          <a:xfrm>
            <a:off x="11489908" y="6532562"/>
            <a:ext cx="549467" cy="145796"/>
          </a:xfrm>
          <a:custGeom>
            <a:avLst/>
            <a:gdLst/>
            <a:ahLst/>
            <a:cxnLst/>
            <a:rect l="0" t="0" r="r" b="b"/>
            <a:pathLst>
              <a:path w="549467" h="145796">
                <a:moveTo>
                  <a:pt x="2004" y="16764"/>
                </a:moveTo>
                <a:quadBezTo>
                  <a:pt x="-5171" y="0"/>
                  <a:pt x="13053" y="0"/>
                </a:quadBezTo>
                <a:lnTo>
                  <a:pt x="536357" y="0"/>
                </a:lnTo>
                <a:quadBezTo>
                  <a:pt x="554645" y="0"/>
                  <a:pt x="547469" y="16764"/>
                </a:quadBezTo>
                <a:lnTo>
                  <a:pt x="499908" y="129032"/>
                </a:lnTo>
                <a:quadBezTo>
                  <a:pt x="492796" y="145796"/>
                  <a:pt x="474571" y="145796"/>
                </a:quadBezTo>
                <a:lnTo>
                  <a:pt x="74902" y="145796"/>
                </a:lnTo>
                <a:quadBezTo>
                  <a:pt x="56678" y="145796"/>
                  <a:pt x="49566" y="129032"/>
                </a:quadBezTo>
                <a:close/>
              </a:path>
            </a:pathLst>
          </a:custGeom>
          <a:gradFill rotWithShape="1">
            <a:gsLst>
              <a:gs pos="0">
                <a:srgbClr val="4478B8"/>
              </a:gs>
              <a:gs pos="100000">
                <a:srgbClr val="1B5AA8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63" name="m-p17_double_funnel-fn-2-3">
            <a:extLst>
              <a:ext uri="{FF2B5EF4-FFF2-40B4-BE49-F238E27FC236}">
                <a16:creationId xmlns:a16="http://schemas.microsoft.com/office/drawing/2014/main" id="{C51DDD67-CC7F-50FC-D2BB-38736BD0FFE9}"/>
              </a:ext>
            </a:extLst>
          </p:cNvPr>
          <p:cNvSpPr txBox="1"/>
          <p:nvPr/>
        </p:nvSpPr>
        <p:spPr>
          <a:xfrm>
            <a:off x="11587425" y="6562281"/>
            <a:ext cx="150743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2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增购扩容</a:t>
            </a:r>
          </a:p>
        </p:txBody>
      </p:sp>
      <p:sp>
        <p:nvSpPr>
          <p:cNvPr id="2264" name="m-p17_double_funnel-fp-2-3">
            <a:extLst>
              <a:ext uri="{FF2B5EF4-FFF2-40B4-BE49-F238E27FC236}">
                <a16:creationId xmlns:a16="http://schemas.microsoft.com/office/drawing/2014/main" id="{F810D665-3353-4AF5-7208-DBA75E71B264}"/>
              </a:ext>
            </a:extLst>
          </p:cNvPr>
          <p:cNvSpPr txBox="1"/>
          <p:nvPr/>
        </p:nvSpPr>
        <p:spPr>
          <a:xfrm>
            <a:off x="11588674" y="6619402"/>
            <a:ext cx="14670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新增模块或席位</a:t>
            </a:r>
          </a:p>
        </p:txBody>
      </p:sp>
      <p:sp>
        <p:nvSpPr>
          <p:cNvPr id="2265" name="m-p17_double_funnel-fv-2-3">
            <a:extLst>
              <a:ext uri="{FF2B5EF4-FFF2-40B4-BE49-F238E27FC236}">
                <a16:creationId xmlns:a16="http://schemas.microsoft.com/office/drawing/2014/main" id="{BD14C0B8-04C9-E80D-8218-B49C1AC89766}"/>
              </a:ext>
            </a:extLst>
          </p:cNvPr>
          <p:cNvSpPr txBox="1"/>
          <p:nvPr/>
        </p:nvSpPr>
        <p:spPr>
          <a:xfrm>
            <a:off x="11857824" y="6569864"/>
            <a:ext cx="92633" cy="6150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8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486</a:t>
            </a:r>
          </a:p>
        </p:txBody>
      </p:sp>
      <p:sp>
        <p:nvSpPr>
          <p:cNvPr id="2266" name="m-p17_double_funnel-fr-2-3">
            <a:extLst>
              <a:ext uri="{FF2B5EF4-FFF2-40B4-BE49-F238E27FC236}">
                <a16:creationId xmlns:a16="http://schemas.microsoft.com/office/drawing/2014/main" id="{48C90B44-14E3-8C0F-5A26-AE268B45D8E7}"/>
              </a:ext>
            </a:extLst>
          </p:cNvPr>
          <p:cNvSpPr/>
          <p:nvPr/>
        </p:nvSpPr>
        <p:spPr>
          <a:xfrm>
            <a:off x="11379962" y="6498717"/>
            <a:ext cx="145796" cy="44260"/>
          </a:xfrm>
          <a:custGeom>
            <a:avLst/>
            <a:gdLst/>
            <a:ahLst/>
            <a:cxnLst/>
            <a:rect l="0" t="0" r="r" b="b"/>
            <a:pathLst>
              <a:path w="145796" h="44260">
                <a:moveTo>
                  <a:pt x="22162" y="0"/>
                </a:moveTo>
                <a:lnTo>
                  <a:pt x="123698" y="0"/>
                </a:lnTo>
                <a:cubicBezTo>
                  <a:pt x="135890" y="0"/>
                  <a:pt x="145796" y="9906"/>
                  <a:pt x="145796" y="22098"/>
                </a:cubicBezTo>
                <a:lnTo>
                  <a:pt x="145796" y="22098"/>
                </a:lnTo>
                <a:cubicBezTo>
                  <a:pt x="145796" y="34353"/>
                  <a:pt x="135890" y="44260"/>
                  <a:pt x="123698" y="44260"/>
                </a:cubicBezTo>
                <a:lnTo>
                  <a:pt x="22162" y="44260"/>
                </a:lnTo>
                <a:cubicBezTo>
                  <a:pt x="9906" y="44260"/>
                  <a:pt x="0" y="34353"/>
                  <a:pt x="0" y="22098"/>
                </a:cubicBezTo>
                <a:lnTo>
                  <a:pt x="0" y="22098"/>
                </a:lnTo>
                <a:cubicBezTo>
                  <a:pt x="0" y="9906"/>
                  <a:pt x="9906" y="0"/>
                  <a:pt x="2216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67" name="m-p17_double_funnel-frt-2-3">
            <a:extLst>
              <a:ext uri="{FF2B5EF4-FFF2-40B4-BE49-F238E27FC236}">
                <a16:creationId xmlns:a16="http://schemas.microsoft.com/office/drawing/2014/main" id="{FCAF5A0D-3176-BB67-337E-9BD2D6BA2ADB}"/>
              </a:ext>
            </a:extLst>
          </p:cNvPr>
          <p:cNvSpPr txBox="1"/>
          <p:nvPr/>
        </p:nvSpPr>
        <p:spPr>
          <a:xfrm>
            <a:off x="11415776" y="6504542"/>
            <a:ext cx="74200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3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37.8%</a:t>
            </a:r>
          </a:p>
        </p:txBody>
      </p:sp>
      <p:sp>
        <p:nvSpPr>
          <p:cNvPr id="2268" name="m-p17_double_funnel-f-2-4">
            <a:extLst>
              <a:ext uri="{FF2B5EF4-FFF2-40B4-BE49-F238E27FC236}">
                <a16:creationId xmlns:a16="http://schemas.microsoft.com/office/drawing/2014/main" id="{BF90B0BF-1FD7-85C9-48D2-93FC4D0E873E}"/>
              </a:ext>
            </a:extLst>
          </p:cNvPr>
          <p:cNvSpPr/>
          <p:nvPr/>
        </p:nvSpPr>
        <p:spPr>
          <a:xfrm>
            <a:off x="11551726" y="6701790"/>
            <a:ext cx="425839" cy="145796"/>
          </a:xfrm>
          <a:custGeom>
            <a:avLst/>
            <a:gdLst/>
            <a:ahLst/>
            <a:cxnLst/>
            <a:rect l="0" t="0" r="r" b="b"/>
            <a:pathLst>
              <a:path w="425839" h="145796">
                <a:moveTo>
                  <a:pt x="1972" y="16764"/>
                </a:moveTo>
                <a:quadBezTo>
                  <a:pt x="-5140" y="0"/>
                  <a:pt x="13085" y="0"/>
                </a:quadBezTo>
                <a:lnTo>
                  <a:pt x="412754" y="0"/>
                </a:lnTo>
                <a:quadBezTo>
                  <a:pt x="430978" y="0"/>
                  <a:pt x="423866" y="16764"/>
                </a:quadBezTo>
                <a:lnTo>
                  <a:pt x="376241" y="129032"/>
                </a:lnTo>
                <a:quadBezTo>
                  <a:pt x="369129" y="145796"/>
                  <a:pt x="350905" y="145796"/>
                </a:quadBezTo>
                <a:lnTo>
                  <a:pt x="74934" y="145796"/>
                </a:lnTo>
                <a:quadBezTo>
                  <a:pt x="56709" y="145796"/>
                  <a:pt x="49597" y="129032"/>
                </a:quadBezTo>
                <a:close/>
              </a:path>
            </a:pathLst>
          </a:custGeom>
          <a:gradFill rotWithShape="1">
            <a:gsLst>
              <a:gs pos="0">
                <a:srgbClr val="3761A3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69" name="m-p17_double_funnel-fn-2-4">
            <a:extLst>
              <a:ext uri="{FF2B5EF4-FFF2-40B4-BE49-F238E27FC236}">
                <a16:creationId xmlns:a16="http://schemas.microsoft.com/office/drawing/2014/main" id="{C3BCAF01-F89E-36F9-2BD7-C450C4FB5517}"/>
              </a:ext>
            </a:extLst>
          </p:cNvPr>
          <p:cNvSpPr txBox="1"/>
          <p:nvPr/>
        </p:nvSpPr>
        <p:spPr>
          <a:xfrm>
            <a:off x="11649258" y="6731509"/>
            <a:ext cx="150743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2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续约复购</a:t>
            </a:r>
          </a:p>
        </p:txBody>
      </p:sp>
      <p:sp>
        <p:nvSpPr>
          <p:cNvPr id="2270" name="m-p17_double_funnel-fp-2-4">
            <a:extLst>
              <a:ext uri="{FF2B5EF4-FFF2-40B4-BE49-F238E27FC236}">
                <a16:creationId xmlns:a16="http://schemas.microsoft.com/office/drawing/2014/main" id="{34721B83-85C9-ACCB-647D-AC995514BCA8}"/>
              </a:ext>
            </a:extLst>
          </p:cNvPr>
          <p:cNvSpPr txBox="1"/>
          <p:nvPr/>
        </p:nvSpPr>
        <p:spPr>
          <a:xfrm>
            <a:off x="11650508" y="6788630"/>
            <a:ext cx="9086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次年续签</a:t>
            </a:r>
          </a:p>
        </p:txBody>
      </p:sp>
      <p:sp>
        <p:nvSpPr>
          <p:cNvPr id="2271" name="m-p17_double_funnel-fv-2-4">
            <a:extLst>
              <a:ext uri="{FF2B5EF4-FFF2-40B4-BE49-F238E27FC236}">
                <a16:creationId xmlns:a16="http://schemas.microsoft.com/office/drawing/2014/main" id="{07E6E6C6-AEC8-F57D-CFA8-6B4F1AFF30DE}"/>
              </a:ext>
            </a:extLst>
          </p:cNvPr>
          <p:cNvSpPr txBox="1"/>
          <p:nvPr/>
        </p:nvSpPr>
        <p:spPr>
          <a:xfrm>
            <a:off x="11755324" y="6739092"/>
            <a:ext cx="133299" cy="6150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8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1,240</a:t>
            </a:r>
          </a:p>
        </p:txBody>
      </p:sp>
      <p:sp>
        <p:nvSpPr>
          <p:cNvPr id="2272" name="m-p17_double_funnel-fr-2-4">
            <a:extLst>
              <a:ext uri="{FF2B5EF4-FFF2-40B4-BE49-F238E27FC236}">
                <a16:creationId xmlns:a16="http://schemas.microsoft.com/office/drawing/2014/main" id="{AE7F9FA3-AE61-7BDF-340C-E6EE273D8088}"/>
              </a:ext>
            </a:extLst>
          </p:cNvPr>
          <p:cNvSpPr/>
          <p:nvPr/>
        </p:nvSpPr>
        <p:spPr>
          <a:xfrm>
            <a:off x="11441811" y="6667944"/>
            <a:ext cx="145796" cy="44260"/>
          </a:xfrm>
          <a:custGeom>
            <a:avLst/>
            <a:gdLst/>
            <a:ahLst/>
            <a:cxnLst/>
            <a:rect l="0" t="0" r="r" b="b"/>
            <a:pathLst>
              <a:path w="145796" h="44260">
                <a:moveTo>
                  <a:pt x="22162" y="0"/>
                </a:moveTo>
                <a:lnTo>
                  <a:pt x="123698" y="0"/>
                </a:lnTo>
                <a:cubicBezTo>
                  <a:pt x="135890" y="0"/>
                  <a:pt x="145796" y="9906"/>
                  <a:pt x="145796" y="22162"/>
                </a:cubicBezTo>
                <a:lnTo>
                  <a:pt x="145796" y="22162"/>
                </a:lnTo>
                <a:cubicBezTo>
                  <a:pt x="145796" y="34354"/>
                  <a:pt x="135890" y="44260"/>
                  <a:pt x="123698" y="44260"/>
                </a:cubicBezTo>
                <a:lnTo>
                  <a:pt x="22162" y="44260"/>
                </a:lnTo>
                <a:cubicBezTo>
                  <a:pt x="9906" y="44260"/>
                  <a:pt x="0" y="34354"/>
                  <a:pt x="0" y="22162"/>
                </a:cubicBezTo>
                <a:lnTo>
                  <a:pt x="0" y="22162"/>
                </a:lnTo>
                <a:cubicBezTo>
                  <a:pt x="0" y="9906"/>
                  <a:pt x="9906" y="0"/>
                  <a:pt x="2216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73" name="m-p17_double_funnel-frt-2-4">
            <a:extLst>
              <a:ext uri="{FF2B5EF4-FFF2-40B4-BE49-F238E27FC236}">
                <a16:creationId xmlns:a16="http://schemas.microsoft.com/office/drawing/2014/main" id="{7FAA2060-F71D-E22E-3440-3D949CB2F93C}"/>
              </a:ext>
            </a:extLst>
          </p:cNvPr>
          <p:cNvSpPr txBox="1"/>
          <p:nvPr/>
        </p:nvSpPr>
        <p:spPr>
          <a:xfrm>
            <a:off x="11477609" y="6673770"/>
            <a:ext cx="74200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3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96.4%</a:t>
            </a:r>
          </a:p>
        </p:txBody>
      </p:sp>
      <p:sp>
        <p:nvSpPr>
          <p:cNvPr id="2274" name="m-p17_double_funnel-bridge">
            <a:extLst>
              <a:ext uri="{FF2B5EF4-FFF2-40B4-BE49-F238E27FC236}">
                <a16:creationId xmlns:a16="http://schemas.microsoft.com/office/drawing/2014/main" id="{D462A85E-4CAB-5EB9-D8F5-41EECBDA9069}"/>
              </a:ext>
            </a:extLst>
          </p:cNvPr>
          <p:cNvSpPr/>
          <p:nvPr/>
        </p:nvSpPr>
        <p:spPr>
          <a:xfrm>
            <a:off x="11197082" y="6701790"/>
            <a:ext cx="145796" cy="145796"/>
          </a:xfrm>
          <a:custGeom>
            <a:avLst/>
            <a:gdLst/>
            <a:ahLst/>
            <a:cxnLst/>
            <a:rect l="0" t="0" r="r" b="b"/>
            <a:pathLst>
              <a:path w="145796" h="145796">
                <a:moveTo>
                  <a:pt x="31242" y="0"/>
                </a:moveTo>
                <a:lnTo>
                  <a:pt x="114554" y="0"/>
                </a:lnTo>
                <a:cubicBezTo>
                  <a:pt x="131826" y="0"/>
                  <a:pt x="145796" y="13970"/>
                  <a:pt x="145796" y="31242"/>
                </a:cubicBezTo>
                <a:lnTo>
                  <a:pt x="145796" y="114554"/>
                </a:lnTo>
                <a:cubicBezTo>
                  <a:pt x="145796" y="131826"/>
                  <a:pt x="131826" y="145796"/>
                  <a:pt x="114554" y="145796"/>
                </a:cubicBezTo>
                <a:lnTo>
                  <a:pt x="31242" y="145796"/>
                </a:lnTo>
                <a:cubicBezTo>
                  <a:pt x="13970" y="145796"/>
                  <a:pt x="0" y="131826"/>
                  <a:pt x="0" y="114554"/>
                </a:cubicBezTo>
                <a:lnTo>
                  <a:pt x="0" y="31242"/>
                </a:lnTo>
                <a:cubicBezTo>
                  <a:pt x="0" y="13970"/>
                  <a:pt x="13970" y="0"/>
                  <a:pt x="31242" y="0"/>
                </a:cubic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0A3A88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75" name="m-p17_double_funnel-icon-chain">
            <a:extLst>
              <a:ext uri="{FF2B5EF4-FFF2-40B4-BE49-F238E27FC236}">
                <a16:creationId xmlns:a16="http://schemas.microsoft.com/office/drawing/2014/main" id="{5598BFD4-34F2-7E27-C217-62F6E288994B}"/>
              </a:ext>
            </a:extLst>
          </p:cNvPr>
          <p:cNvSpPr/>
          <p:nvPr/>
        </p:nvSpPr>
        <p:spPr>
          <a:xfrm>
            <a:off x="11256312" y="6745375"/>
            <a:ext cx="27361" cy="27361"/>
          </a:xfrm>
          <a:custGeom>
            <a:avLst/>
            <a:gdLst/>
            <a:ahLst/>
            <a:cxnLst/>
            <a:rect l="0" t="0" r="r" b="b"/>
            <a:pathLst>
              <a:path w="27361" h="27361">
                <a:moveTo>
                  <a:pt x="10874" y="16486"/>
                </a:moveTo>
                <a:cubicBezTo>
                  <a:pt x="12208" y="17820"/>
                  <a:pt x="13986" y="18518"/>
                  <a:pt x="15827" y="18518"/>
                </a:cubicBezTo>
                <a:cubicBezTo>
                  <a:pt x="17732" y="18518"/>
                  <a:pt x="19447" y="17820"/>
                  <a:pt x="20780" y="16486"/>
                </a:cubicBezTo>
                <a:lnTo>
                  <a:pt x="25289" y="11978"/>
                </a:lnTo>
                <a:cubicBezTo>
                  <a:pt x="27067" y="10200"/>
                  <a:pt x="27765" y="7596"/>
                  <a:pt x="27130" y="5183"/>
                </a:cubicBezTo>
                <a:cubicBezTo>
                  <a:pt x="26495" y="2770"/>
                  <a:pt x="24590" y="865"/>
                  <a:pt x="22177" y="230"/>
                </a:cubicBezTo>
                <a:cubicBezTo>
                  <a:pt x="19764" y="-405"/>
                  <a:pt x="17161" y="294"/>
                  <a:pt x="15383" y="2072"/>
                </a:cubicBezTo>
                <a:lnTo>
                  <a:pt x="13160" y="4294"/>
                </a:lnTo>
                <a:moveTo>
                  <a:pt x="16462" y="10898"/>
                </a:moveTo>
                <a:cubicBezTo>
                  <a:pt x="15129" y="9565"/>
                  <a:pt x="13351" y="8866"/>
                  <a:pt x="11509" y="8866"/>
                </a:cubicBezTo>
                <a:cubicBezTo>
                  <a:pt x="9604" y="8866"/>
                  <a:pt x="7890" y="9565"/>
                  <a:pt x="6556" y="10898"/>
                </a:cubicBezTo>
                <a:lnTo>
                  <a:pt x="2048" y="15407"/>
                </a:lnTo>
                <a:cubicBezTo>
                  <a:pt x="-683" y="18137"/>
                  <a:pt x="-683" y="22582"/>
                  <a:pt x="2048" y="25313"/>
                </a:cubicBezTo>
                <a:cubicBezTo>
                  <a:pt x="4778" y="28043"/>
                  <a:pt x="9223" y="28043"/>
                  <a:pt x="11954" y="25313"/>
                </a:cubicBezTo>
                <a:lnTo>
                  <a:pt x="14176" y="23090"/>
                </a:lnTo>
              </a:path>
            </a:pathLst>
          </a:custGeom>
          <a:noFill/>
          <a:ln w="273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76" name="m-p17_double_funnel-bridge-t">
            <a:extLst>
              <a:ext uri="{FF2B5EF4-FFF2-40B4-BE49-F238E27FC236}">
                <a16:creationId xmlns:a16="http://schemas.microsoft.com/office/drawing/2014/main" id="{EAD26E70-605E-2D87-61EE-9E8C78ABE2AD}"/>
              </a:ext>
            </a:extLst>
          </p:cNvPr>
          <p:cNvSpPr txBox="1"/>
          <p:nvPr/>
        </p:nvSpPr>
        <p:spPr>
          <a:xfrm>
            <a:off x="11235939" y="6786410"/>
            <a:ext cx="68082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交棒</a:t>
            </a:r>
          </a:p>
        </p:txBody>
      </p:sp>
      <p:sp>
        <p:nvSpPr>
          <p:cNvPr id="2277" name="m-p17_double_funnel-bridge-arr">
            <a:extLst>
              <a:ext uri="{FF2B5EF4-FFF2-40B4-BE49-F238E27FC236}">
                <a16:creationId xmlns:a16="http://schemas.microsoft.com/office/drawing/2014/main" id="{74E61899-1B22-5828-4C6E-B0823C38FF2D}"/>
              </a:ext>
            </a:extLst>
          </p:cNvPr>
          <p:cNvSpPr/>
          <p:nvPr/>
        </p:nvSpPr>
        <p:spPr>
          <a:xfrm>
            <a:off x="11355896" y="6761670"/>
            <a:ext cx="39053" cy="26035"/>
          </a:xfrm>
          <a:custGeom>
            <a:avLst/>
            <a:gdLst/>
            <a:ahLst/>
            <a:cxnLst/>
            <a:rect l="0" t="0" r="r" b="b"/>
            <a:pathLst>
              <a:path w="39053" h="26035">
                <a:moveTo>
                  <a:pt x="0" y="0"/>
                </a:moveTo>
                <a:lnTo>
                  <a:pt x="39053" y="13018"/>
                </a:lnTo>
                <a:lnTo>
                  <a:pt x="0" y="26035"/>
                </a:lnTo>
              </a:path>
            </a:pathLst>
          </a:custGeom>
          <a:noFill/>
          <a:ln w="3124" cap="rnd">
            <a:solidFill>
              <a:srgbClr val="1B5AA8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78" name="m-p17_double_funnel-bridge-n">
            <a:extLst>
              <a:ext uri="{FF2B5EF4-FFF2-40B4-BE49-F238E27FC236}">
                <a16:creationId xmlns:a16="http://schemas.microsoft.com/office/drawing/2014/main" id="{4B13BD4B-0BE2-7ADA-FD83-BF41E7959D05}"/>
              </a:ext>
            </a:extLst>
          </p:cNvPr>
          <p:cNvSpPr txBox="1"/>
          <p:nvPr/>
        </p:nvSpPr>
        <p:spPr>
          <a:xfrm>
            <a:off x="11189206" y="6630812"/>
            <a:ext cx="161547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8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成交即交付起点</a:t>
            </a:r>
          </a:p>
        </p:txBody>
      </p:sp>
      <p:sp>
        <p:nvSpPr>
          <p:cNvPr id="2279" name="m-p17_double_funnel-kpi">
            <a:extLst>
              <a:ext uri="{FF2B5EF4-FFF2-40B4-BE49-F238E27FC236}">
                <a16:creationId xmlns:a16="http://schemas.microsoft.com/office/drawing/2014/main" id="{62D6FDCD-663B-2837-7935-E868DF755F11}"/>
              </a:ext>
            </a:extLst>
          </p:cNvPr>
          <p:cNvSpPr/>
          <p:nvPr/>
        </p:nvSpPr>
        <p:spPr>
          <a:xfrm>
            <a:off x="10215562" y="6897053"/>
            <a:ext cx="2108835" cy="143192"/>
          </a:xfrm>
          <a:custGeom>
            <a:avLst/>
            <a:gdLst/>
            <a:ahLst/>
            <a:cxnLst/>
            <a:rect l="0" t="0" r="r" b="b"/>
            <a:pathLst>
              <a:path w="2108835" h="143192">
                <a:moveTo>
                  <a:pt x="23432" y="0"/>
                </a:moveTo>
                <a:lnTo>
                  <a:pt x="2085404" y="0"/>
                </a:lnTo>
                <a:cubicBezTo>
                  <a:pt x="2098358" y="0"/>
                  <a:pt x="2108835" y="10477"/>
                  <a:pt x="2108835" y="23431"/>
                </a:cubicBezTo>
                <a:lnTo>
                  <a:pt x="2108835" y="119761"/>
                </a:lnTo>
                <a:cubicBezTo>
                  <a:pt x="2108835" y="132715"/>
                  <a:pt x="2098358" y="143192"/>
                  <a:pt x="2085404" y="143192"/>
                </a:cubicBezTo>
                <a:lnTo>
                  <a:pt x="23432" y="143192"/>
                </a:lnTo>
                <a:cubicBezTo>
                  <a:pt x="10478" y="143192"/>
                  <a:pt x="0" y="132715"/>
                  <a:pt x="0" y="119761"/>
                </a:cubicBezTo>
                <a:lnTo>
                  <a:pt x="0" y="23431"/>
                </a:lnTo>
                <a:cubicBezTo>
                  <a:pt x="0" y="10477"/>
                  <a:pt x="10478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80" name="m-p17_double_funnel-kpi-cap">
            <a:extLst>
              <a:ext uri="{FF2B5EF4-FFF2-40B4-BE49-F238E27FC236}">
                <a16:creationId xmlns:a16="http://schemas.microsoft.com/office/drawing/2014/main" id="{A6D24363-7C6C-F623-8032-374DEB3E633B}"/>
              </a:ext>
            </a:extLst>
          </p:cNvPr>
          <p:cNvSpPr/>
          <p:nvPr/>
        </p:nvSpPr>
        <p:spPr>
          <a:xfrm>
            <a:off x="10215562" y="6897053"/>
            <a:ext cx="2108835" cy="9144"/>
          </a:xfrm>
          <a:custGeom>
            <a:avLst/>
            <a:gdLst/>
            <a:ahLst/>
            <a:cxnLst/>
            <a:rect l="0" t="0" r="r" b="b"/>
            <a:pathLst>
              <a:path w="2108835" h="9144">
                <a:moveTo>
                  <a:pt x="4572" y="0"/>
                </a:moveTo>
                <a:lnTo>
                  <a:pt x="2104263" y="0"/>
                </a:lnTo>
                <a:cubicBezTo>
                  <a:pt x="2106803" y="0"/>
                  <a:pt x="2108835" y="2032"/>
                  <a:pt x="2108835" y="4572"/>
                </a:cubicBezTo>
                <a:lnTo>
                  <a:pt x="2108835" y="4572"/>
                </a:lnTo>
                <a:cubicBezTo>
                  <a:pt x="2108835" y="7048"/>
                  <a:pt x="2106803" y="9144"/>
                  <a:pt x="2104263" y="9144"/>
                </a:cubicBezTo>
                <a:lnTo>
                  <a:pt x="4572" y="9144"/>
                </a:lnTo>
                <a:cubicBezTo>
                  <a:pt x="2032" y="9144"/>
                  <a:pt x="0" y="7048"/>
                  <a:pt x="0" y="4572"/>
                </a:cubicBezTo>
                <a:lnTo>
                  <a:pt x="0" y="4572"/>
                </a:lnTo>
                <a:cubicBezTo>
                  <a:pt x="0" y="2032"/>
                  <a:pt x="2032" y="0"/>
                  <a:pt x="4572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81" name="m-p17_double_funnel-kv-1">
            <a:extLst>
              <a:ext uri="{FF2B5EF4-FFF2-40B4-BE49-F238E27FC236}">
                <a16:creationId xmlns:a16="http://schemas.microsoft.com/office/drawing/2014/main" id="{0C553158-C89B-2474-E650-9CD6BE8D6E35}"/>
              </a:ext>
            </a:extLst>
          </p:cNvPr>
          <p:cNvSpPr txBox="1"/>
          <p:nvPr/>
        </p:nvSpPr>
        <p:spPr>
          <a:xfrm>
            <a:off x="10301999" y="6921721"/>
            <a:ext cx="125749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6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2.6%</a:t>
            </a:r>
          </a:p>
        </p:txBody>
      </p:sp>
      <p:sp>
        <p:nvSpPr>
          <p:cNvPr id="2282" name="m-p17_double_funnel-kl-1">
            <a:extLst>
              <a:ext uri="{FF2B5EF4-FFF2-40B4-BE49-F238E27FC236}">
                <a16:creationId xmlns:a16="http://schemas.microsoft.com/office/drawing/2014/main" id="{28798AAA-C163-320A-F35B-FE88750C6007}"/>
              </a:ext>
            </a:extLst>
          </p:cNvPr>
          <p:cNvSpPr txBox="1"/>
          <p:nvPr/>
        </p:nvSpPr>
        <p:spPr>
          <a:xfrm>
            <a:off x="10473179" y="6936609"/>
            <a:ext cx="138311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6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线索到成交</a:t>
            </a:r>
          </a:p>
        </p:txBody>
      </p:sp>
      <p:sp>
        <p:nvSpPr>
          <p:cNvPr id="2283" name="m-p17_double_funnel-kn-1">
            <a:extLst>
              <a:ext uri="{FF2B5EF4-FFF2-40B4-BE49-F238E27FC236}">
                <a16:creationId xmlns:a16="http://schemas.microsoft.com/office/drawing/2014/main" id="{0826F747-D7BB-8DE9-65CF-447CF5AF23FE}"/>
              </a:ext>
            </a:extLst>
          </p:cNvPr>
          <p:cNvSpPr txBox="1"/>
          <p:nvPr/>
        </p:nvSpPr>
        <p:spPr>
          <a:xfrm>
            <a:off x="10473726" y="6978685"/>
            <a:ext cx="16474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48,600 → 1,286</a:t>
            </a:r>
          </a:p>
        </p:txBody>
      </p:sp>
      <p:cxnSp>
        <p:nvCxnSpPr>
          <p:cNvPr id="2284" name="m-p17_double_funnel-ksep-1">
            <a:extLst>
              <a:ext uri="{FF2B5EF4-FFF2-40B4-BE49-F238E27FC236}">
                <a16:creationId xmlns:a16="http://schemas.microsoft.com/office/drawing/2014/main" id="{ADEF56B9-0F16-3E97-1AEE-B4573E5D6E44}"/>
              </a:ext>
            </a:extLst>
          </p:cNvPr>
          <p:cNvCxnSpPr/>
          <p:nvPr/>
        </p:nvCxnSpPr>
        <p:spPr>
          <a:xfrm>
            <a:off x="10754487" y="6933501"/>
            <a:ext cx="0" cy="75502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85" name="m-p17_double_funnel-kv-2">
            <a:extLst>
              <a:ext uri="{FF2B5EF4-FFF2-40B4-BE49-F238E27FC236}">
                <a16:creationId xmlns:a16="http://schemas.microsoft.com/office/drawing/2014/main" id="{8E92040C-DC67-B351-4B25-896692D27B22}"/>
              </a:ext>
            </a:extLst>
          </p:cNvPr>
          <p:cNvSpPr txBox="1"/>
          <p:nvPr/>
        </p:nvSpPr>
        <p:spPr>
          <a:xfrm>
            <a:off x="10822699" y="6921721"/>
            <a:ext cx="148400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6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96.4%</a:t>
            </a:r>
          </a:p>
        </p:txBody>
      </p:sp>
      <p:sp>
        <p:nvSpPr>
          <p:cNvPr id="2286" name="m-p17_double_funnel-kl-2">
            <a:extLst>
              <a:ext uri="{FF2B5EF4-FFF2-40B4-BE49-F238E27FC236}">
                <a16:creationId xmlns:a16="http://schemas.microsoft.com/office/drawing/2014/main" id="{B78B24EB-48DE-6832-AC36-35141E572F87}"/>
              </a:ext>
            </a:extLst>
          </p:cNvPr>
          <p:cNvSpPr txBox="1"/>
          <p:nvPr/>
        </p:nvSpPr>
        <p:spPr>
          <a:xfrm>
            <a:off x="10993879" y="6936609"/>
            <a:ext cx="138311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6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首年续约率</a:t>
            </a:r>
          </a:p>
        </p:txBody>
      </p:sp>
      <p:sp>
        <p:nvSpPr>
          <p:cNvPr id="2287" name="m-p17_double_funnel-kn-2">
            <a:extLst>
              <a:ext uri="{FF2B5EF4-FFF2-40B4-BE49-F238E27FC236}">
                <a16:creationId xmlns:a16="http://schemas.microsoft.com/office/drawing/2014/main" id="{198AF90D-6F75-D6EF-259F-D79543A04C7C}"/>
              </a:ext>
            </a:extLst>
          </p:cNvPr>
          <p:cNvSpPr txBox="1"/>
          <p:nvPr/>
        </p:nvSpPr>
        <p:spPr>
          <a:xfrm>
            <a:off x="10994426" y="6978685"/>
            <a:ext cx="15415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1,286 → 1,240</a:t>
            </a:r>
          </a:p>
        </p:txBody>
      </p:sp>
      <p:cxnSp>
        <p:nvCxnSpPr>
          <p:cNvPr id="2288" name="m-p17_double_funnel-ksep-2">
            <a:extLst>
              <a:ext uri="{FF2B5EF4-FFF2-40B4-BE49-F238E27FC236}">
                <a16:creationId xmlns:a16="http://schemas.microsoft.com/office/drawing/2014/main" id="{DF1E206A-D2AA-B7D0-D4F7-A783D3607128}"/>
              </a:ext>
            </a:extLst>
          </p:cNvPr>
          <p:cNvCxnSpPr/>
          <p:nvPr/>
        </p:nvCxnSpPr>
        <p:spPr>
          <a:xfrm>
            <a:off x="11275187" y="6933501"/>
            <a:ext cx="0" cy="75502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89" name="m-p17_double_funnel-kv-3">
            <a:extLst>
              <a:ext uri="{FF2B5EF4-FFF2-40B4-BE49-F238E27FC236}">
                <a16:creationId xmlns:a16="http://schemas.microsoft.com/office/drawing/2014/main" id="{D112F84B-C49F-4404-C1CB-85973B359CE1}"/>
              </a:ext>
            </a:extLst>
          </p:cNvPr>
          <p:cNvSpPr txBox="1"/>
          <p:nvPr/>
        </p:nvSpPr>
        <p:spPr>
          <a:xfrm>
            <a:off x="11343399" y="6921721"/>
            <a:ext cx="148400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6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37.8%</a:t>
            </a:r>
          </a:p>
        </p:txBody>
      </p:sp>
      <p:sp>
        <p:nvSpPr>
          <p:cNvPr id="2290" name="m-p17_double_funnel-kl-3">
            <a:extLst>
              <a:ext uri="{FF2B5EF4-FFF2-40B4-BE49-F238E27FC236}">
                <a16:creationId xmlns:a16="http://schemas.microsoft.com/office/drawing/2014/main" id="{88BECC24-5398-751B-BDF2-A3DB38CD5CF8}"/>
              </a:ext>
            </a:extLst>
          </p:cNvPr>
          <p:cNvSpPr txBox="1"/>
          <p:nvPr/>
        </p:nvSpPr>
        <p:spPr>
          <a:xfrm>
            <a:off x="11514579" y="6936609"/>
            <a:ext cx="138311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6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增购渗透率</a:t>
            </a:r>
          </a:p>
        </p:txBody>
      </p:sp>
      <p:sp>
        <p:nvSpPr>
          <p:cNvPr id="2291" name="m-p17_double_funnel-kn-3">
            <a:extLst>
              <a:ext uri="{FF2B5EF4-FFF2-40B4-BE49-F238E27FC236}">
                <a16:creationId xmlns:a16="http://schemas.microsoft.com/office/drawing/2014/main" id="{62895409-61A3-CAE0-C396-B44B4DC7BA15}"/>
              </a:ext>
            </a:extLst>
          </p:cNvPr>
          <p:cNvSpPr txBox="1"/>
          <p:nvPr/>
        </p:nvSpPr>
        <p:spPr>
          <a:xfrm>
            <a:off x="11515126" y="6978685"/>
            <a:ext cx="13296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486 / 1,286</a:t>
            </a:r>
          </a:p>
        </p:txBody>
      </p:sp>
      <p:cxnSp>
        <p:nvCxnSpPr>
          <p:cNvPr id="2292" name="m-p17_double_funnel-ksep-3">
            <a:extLst>
              <a:ext uri="{FF2B5EF4-FFF2-40B4-BE49-F238E27FC236}">
                <a16:creationId xmlns:a16="http://schemas.microsoft.com/office/drawing/2014/main" id="{944A9E67-991A-BEC3-4FCE-67804524336C}"/>
              </a:ext>
            </a:extLst>
          </p:cNvPr>
          <p:cNvCxnSpPr/>
          <p:nvPr/>
        </p:nvCxnSpPr>
        <p:spPr>
          <a:xfrm>
            <a:off x="11795887" y="6933501"/>
            <a:ext cx="0" cy="75502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93" name="m-p17_double_funnel-kv-4">
            <a:extLst>
              <a:ext uri="{FF2B5EF4-FFF2-40B4-BE49-F238E27FC236}">
                <a16:creationId xmlns:a16="http://schemas.microsoft.com/office/drawing/2014/main" id="{B70D718D-E4F8-C64C-E13E-80F28C1A84E0}"/>
              </a:ext>
            </a:extLst>
          </p:cNvPr>
          <p:cNvSpPr txBox="1"/>
          <p:nvPr/>
        </p:nvSpPr>
        <p:spPr>
          <a:xfrm>
            <a:off x="11864099" y="6921721"/>
            <a:ext cx="148400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6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1.42×</a:t>
            </a:r>
          </a:p>
        </p:txBody>
      </p:sp>
      <p:sp>
        <p:nvSpPr>
          <p:cNvPr id="2294" name="m-p17_double_funnel-kl-4">
            <a:extLst>
              <a:ext uri="{FF2B5EF4-FFF2-40B4-BE49-F238E27FC236}">
                <a16:creationId xmlns:a16="http://schemas.microsoft.com/office/drawing/2014/main" id="{6D4F04A4-5EC5-8E0A-3224-5737A0056F16}"/>
              </a:ext>
            </a:extLst>
          </p:cNvPr>
          <p:cNvSpPr txBox="1"/>
          <p:nvPr/>
        </p:nvSpPr>
        <p:spPr>
          <a:xfrm>
            <a:off x="12035279" y="6936609"/>
            <a:ext cx="185434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6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客户净收入留存</a:t>
            </a:r>
          </a:p>
        </p:txBody>
      </p:sp>
      <p:sp>
        <p:nvSpPr>
          <p:cNvPr id="2295" name="m-p17_double_funnel-kn-4">
            <a:extLst>
              <a:ext uri="{FF2B5EF4-FFF2-40B4-BE49-F238E27FC236}">
                <a16:creationId xmlns:a16="http://schemas.microsoft.com/office/drawing/2014/main" id="{6089626B-D818-27E0-E887-BA173A3A8754}"/>
              </a:ext>
            </a:extLst>
          </p:cNvPr>
          <p:cNvSpPr txBox="1"/>
          <p:nvPr/>
        </p:nvSpPr>
        <p:spPr>
          <a:xfrm>
            <a:off x="12035826" y="6978685"/>
            <a:ext cx="12809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含增购与流失</a:t>
            </a:r>
          </a:p>
        </p:txBody>
      </p:sp>
      <p:sp>
        <p:nvSpPr>
          <p:cNvPr id="2296" name="m-p17_double_funnel-note-bar">
            <a:extLst>
              <a:ext uri="{FF2B5EF4-FFF2-40B4-BE49-F238E27FC236}">
                <a16:creationId xmlns:a16="http://schemas.microsoft.com/office/drawing/2014/main" id="{AE933976-CB26-017B-3FBE-76852BDB61E2}"/>
              </a:ext>
            </a:extLst>
          </p:cNvPr>
          <p:cNvSpPr/>
          <p:nvPr/>
        </p:nvSpPr>
        <p:spPr>
          <a:xfrm>
            <a:off x="10215562" y="7048056"/>
            <a:ext cx="5207" cy="67691"/>
          </a:xfrm>
          <a:prstGeom prst="roundRect">
            <a:avLst>
              <a:gd name="adj" fmla="val 41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97" name="m-p17_double_funnel-note-h">
            <a:extLst>
              <a:ext uri="{FF2B5EF4-FFF2-40B4-BE49-F238E27FC236}">
                <a16:creationId xmlns:a16="http://schemas.microsoft.com/office/drawing/2014/main" id="{47BE12C6-2298-699F-90D2-F8E048E47F86}"/>
              </a:ext>
            </a:extLst>
          </p:cNvPr>
          <p:cNvSpPr txBox="1"/>
          <p:nvPr/>
        </p:nvSpPr>
        <p:spPr>
          <a:xfrm>
            <a:off x="10246752" y="7059778"/>
            <a:ext cx="69383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判断</a:t>
            </a:r>
          </a:p>
        </p:txBody>
      </p:sp>
      <p:sp>
        <p:nvSpPr>
          <p:cNvPr id="2298" name="m-p17_double_funnel-note-p">
            <a:extLst>
              <a:ext uri="{FF2B5EF4-FFF2-40B4-BE49-F238E27FC236}">
                <a16:creationId xmlns:a16="http://schemas.microsoft.com/office/drawing/2014/main" id="{C0E8E381-0247-9652-88E2-6B0C858570FC}"/>
              </a:ext>
            </a:extLst>
          </p:cNvPr>
          <p:cNvSpPr txBox="1"/>
          <p:nvPr/>
        </p:nvSpPr>
        <p:spPr>
          <a:xfrm>
            <a:off x="10345607" y="7058974"/>
            <a:ext cx="108181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获客漏斗最大的损耗在「线索 → 商机」（31.1%），留存漏斗的机会在增购（当前仅 37.8% 渗透）。</a:t>
            </a:r>
          </a:p>
        </p:txBody>
      </p:sp>
      <p:cxnSp>
        <p:nvCxnSpPr>
          <p:cNvPr id="2299" name="m-p17_double_funnel-foot-line">
            <a:extLst>
              <a:ext uri="{FF2B5EF4-FFF2-40B4-BE49-F238E27FC236}">
                <a16:creationId xmlns:a16="http://schemas.microsoft.com/office/drawing/2014/main" id="{A5314F87-889E-03C4-8EC6-3180FEF592D1}"/>
              </a:ext>
            </a:extLst>
          </p:cNvPr>
          <p:cNvCxnSpPr/>
          <p:nvPr/>
        </p:nvCxnSpPr>
        <p:spPr>
          <a:xfrm>
            <a:off x="10140061" y="71417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00" name="m-p17_double_funnel-foot-l">
            <a:extLst>
              <a:ext uri="{FF2B5EF4-FFF2-40B4-BE49-F238E27FC236}">
                <a16:creationId xmlns:a16="http://schemas.microsoft.com/office/drawing/2014/main" id="{20236E1B-CC9D-4550-FB67-259B9CBA866C}"/>
              </a:ext>
            </a:extLst>
          </p:cNvPr>
          <p:cNvSpPr txBox="1"/>
          <p:nvPr/>
        </p:nvSpPr>
        <p:spPr>
          <a:xfrm>
            <a:off x="10137874" y="7155723"/>
            <a:ext cx="21429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双漏斗 · 获客与留存</a:t>
            </a:r>
          </a:p>
        </p:txBody>
      </p:sp>
      <p:sp>
        <p:nvSpPr>
          <p:cNvPr id="2301" name="m-p17_double_funnel-foot-r">
            <a:extLst>
              <a:ext uri="{FF2B5EF4-FFF2-40B4-BE49-F238E27FC236}">
                <a16:creationId xmlns:a16="http://schemas.microsoft.com/office/drawing/2014/main" id="{E6B49996-7F14-D3E4-0CE3-BA09A70DEDEA}"/>
              </a:ext>
            </a:extLst>
          </p:cNvPr>
          <p:cNvSpPr txBox="1"/>
          <p:nvPr/>
        </p:nvSpPr>
        <p:spPr>
          <a:xfrm>
            <a:off x="12142309" y="71557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2302" name="veil">
            <a:extLst>
              <a:ext uri="{FF2B5EF4-FFF2-40B4-BE49-F238E27FC236}">
                <a16:creationId xmlns:a16="http://schemas.microsoft.com/office/drawing/2014/main" id="{D1768AF7-F161-1ECF-639B-110314300E0D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61F52">
                  <a:alpha val="98000"/>
                </a:srgbClr>
              </a:gs>
              <a:gs pos="40000">
                <a:srgbClr val="081F5C">
                  <a:alpha val="93000"/>
                </a:srgbClr>
              </a:gs>
              <a:gs pos="62000">
                <a:srgbClr val="0A2E72">
                  <a:alpha val="72000"/>
                </a:srgbClr>
              </a:gs>
              <a:gs pos="100000">
                <a:srgbClr val="0A3A88">
                  <a:alpha val="55000"/>
                </a:srgbClr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03" name="veil-b">
            <a:extLst>
              <a:ext uri="{FF2B5EF4-FFF2-40B4-BE49-F238E27FC236}">
                <a16:creationId xmlns:a16="http://schemas.microsoft.com/office/drawing/2014/main" id="{B11CC406-BCEF-B420-7711-325352D0CDD7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61F52">
                  <a:alpha val="0"/>
                </a:srgbClr>
              </a:gs>
              <a:gs pos="70000">
                <a:srgbClr val="061F52">
                  <a:alpha val="0"/>
                </a:srgbClr>
              </a:gs>
              <a:gs pos="100000">
                <a:srgbClr val="061F52">
                  <a:alpha val="7000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04" name="glow-1">
            <a:extLst>
              <a:ext uri="{FF2B5EF4-FFF2-40B4-BE49-F238E27FC236}">
                <a16:creationId xmlns:a16="http://schemas.microsoft.com/office/drawing/2014/main" id="{91C95800-D91D-BC75-0A6E-733E6E353B9F}"/>
              </a:ext>
            </a:extLst>
          </p:cNvPr>
          <p:cNvSpPr/>
          <p:nvPr/>
        </p:nvSpPr>
        <p:spPr>
          <a:xfrm>
            <a:off x="5461000" y="635000"/>
            <a:ext cx="7620000" cy="5842000"/>
          </a:xfrm>
          <a:prstGeom prst="ellipse">
            <a:avLst/>
          </a:prstGeom>
          <a:solidFill>
            <a:srgbClr val="2E77C2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05" name="glow-2">
            <a:extLst>
              <a:ext uri="{FF2B5EF4-FFF2-40B4-BE49-F238E27FC236}">
                <a16:creationId xmlns:a16="http://schemas.microsoft.com/office/drawing/2014/main" id="{36C73587-B9FA-785A-F5C5-A061C164DE44}"/>
              </a:ext>
            </a:extLst>
          </p:cNvPr>
          <p:cNvSpPr/>
          <p:nvPr/>
        </p:nvSpPr>
        <p:spPr>
          <a:xfrm>
            <a:off x="6731000" y="1651000"/>
            <a:ext cx="5080000" cy="3810000"/>
          </a:xfrm>
          <a:prstGeom prst="ellipse">
            <a:avLst/>
          </a:prstGeom>
          <a:solidFill>
            <a:srgbClr val="4694D7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06" name="mini-card-d33_sunburst">
            <a:extLst>
              <a:ext uri="{FF2B5EF4-FFF2-40B4-BE49-F238E27FC236}">
                <a16:creationId xmlns:a16="http://schemas.microsoft.com/office/drawing/2014/main" id="{DB394188-AED8-7350-0E66-112398A8E05A}"/>
              </a:ext>
            </a:extLst>
          </p:cNvPr>
          <p:cNvSpPr/>
          <p:nvPr/>
        </p:nvSpPr>
        <p:spPr>
          <a:xfrm>
            <a:off x="8191500" y="698500"/>
            <a:ext cx="3413760" cy="1920240"/>
          </a:xfrm>
          <a:custGeom>
            <a:avLst/>
            <a:gdLst/>
            <a:ahLst/>
            <a:cxnLst/>
            <a:rect l="0" t="0" r="r" b="b"/>
            <a:pathLst>
              <a:path w="3413760" h="1920240">
                <a:moveTo>
                  <a:pt x="109538" y="0"/>
                </a:moveTo>
                <a:lnTo>
                  <a:pt x="3304222" y="0"/>
                </a:lnTo>
                <a:cubicBezTo>
                  <a:pt x="3364738" y="0"/>
                  <a:pt x="3413760" y="49022"/>
                  <a:pt x="3413760" y="109538"/>
                </a:cubicBezTo>
                <a:lnTo>
                  <a:pt x="3413760" y="1810702"/>
                </a:lnTo>
                <a:cubicBezTo>
                  <a:pt x="3413760" y="1871218"/>
                  <a:pt x="3364738" y="1920240"/>
                  <a:pt x="3304222" y="1920240"/>
                </a:cubicBezTo>
                <a:lnTo>
                  <a:pt x="109538" y="1920240"/>
                </a:lnTo>
                <a:cubicBezTo>
                  <a:pt x="49022" y="1920240"/>
                  <a:pt x="0" y="1871218"/>
                  <a:pt x="0" y="1810702"/>
                </a:cubicBezTo>
                <a:lnTo>
                  <a:pt x="0" y="109538"/>
                </a:lnTo>
                <a:cubicBezTo>
                  <a:pt x="0" y="49022"/>
                  <a:pt x="49022" y="0"/>
                  <a:pt x="109538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07" name="m-d33_sunburst-title-bar">
            <a:extLst>
              <a:ext uri="{FF2B5EF4-FFF2-40B4-BE49-F238E27FC236}">
                <a16:creationId xmlns:a16="http://schemas.microsoft.com/office/drawing/2014/main" id="{583BB6BB-FE7A-0FBC-6C71-582A23171268}"/>
              </a:ext>
            </a:extLst>
          </p:cNvPr>
          <p:cNvSpPr/>
          <p:nvPr/>
        </p:nvSpPr>
        <p:spPr>
          <a:xfrm>
            <a:off x="8355076" y="833628"/>
            <a:ext cx="8890" cy="138684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08" name="m-d33_sunburst-title-bar-accent">
            <a:extLst>
              <a:ext uri="{FF2B5EF4-FFF2-40B4-BE49-F238E27FC236}">
                <a16:creationId xmlns:a16="http://schemas.microsoft.com/office/drawing/2014/main" id="{F0FF0A0F-9221-5020-0D63-5E1036A58616}"/>
              </a:ext>
            </a:extLst>
          </p:cNvPr>
          <p:cNvSpPr/>
          <p:nvPr/>
        </p:nvSpPr>
        <p:spPr>
          <a:xfrm>
            <a:off x="8355076" y="833628"/>
            <a:ext cx="8890" cy="48006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09" name="m-d33_sunburst-title-cn">
            <a:extLst>
              <a:ext uri="{FF2B5EF4-FFF2-40B4-BE49-F238E27FC236}">
                <a16:creationId xmlns:a16="http://schemas.microsoft.com/office/drawing/2014/main" id="{3C8232CD-49B4-FA55-363C-DCC45A3CEC45}"/>
              </a:ext>
            </a:extLst>
          </p:cNvPr>
          <p:cNvSpPr txBox="1"/>
          <p:nvPr/>
        </p:nvSpPr>
        <p:spPr>
          <a:xfrm>
            <a:off x="8399028" y="809909"/>
            <a:ext cx="753161" cy="13690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620" b="1" i="0" u="none" strike="noStrike" kern="1200" cap="none" spc="56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营收结构两层拆解</a:t>
            </a:r>
          </a:p>
        </p:txBody>
      </p:sp>
      <p:sp>
        <p:nvSpPr>
          <p:cNvPr id="2310" name="m-d33_sunburst-title-en">
            <a:extLst>
              <a:ext uri="{FF2B5EF4-FFF2-40B4-BE49-F238E27FC236}">
                <a16:creationId xmlns:a16="http://schemas.microsoft.com/office/drawing/2014/main" id="{8EB1CF9C-2C37-0E69-27E1-09B83C8E2335}"/>
              </a:ext>
            </a:extLst>
          </p:cNvPr>
          <p:cNvSpPr txBox="1"/>
          <p:nvPr/>
        </p:nvSpPr>
        <p:spPr>
          <a:xfrm>
            <a:off x="8408985" y="929124"/>
            <a:ext cx="379354" cy="43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91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SUNBURST CHART</a:t>
            </a:r>
          </a:p>
        </p:txBody>
      </p:sp>
      <p:sp>
        <p:nvSpPr>
          <p:cNvPr id="2311" name="m-d33_sunburst-title-sub">
            <a:extLst>
              <a:ext uri="{FF2B5EF4-FFF2-40B4-BE49-F238E27FC236}">
                <a16:creationId xmlns:a16="http://schemas.microsoft.com/office/drawing/2014/main" id="{D3B22929-BC57-6BED-723D-49F98B80BE80}"/>
              </a:ext>
            </a:extLst>
          </p:cNvPr>
          <p:cNvSpPr txBox="1"/>
          <p:nvPr/>
        </p:nvSpPr>
        <p:spPr>
          <a:xfrm>
            <a:off x="10586004" y="886977"/>
            <a:ext cx="859307" cy="5289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40" b="0" i="0" u="none" strike="noStrike" kern="1200" cap="none" spc="1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内圈是四大业务，外圈是各自的产品线，角度代表营收占比</a:t>
            </a:r>
          </a:p>
        </p:txBody>
      </p:sp>
      <p:sp>
        <p:nvSpPr>
          <p:cNvPr id="2312" name="m-d33_sunburst-in-1">
            <a:extLst>
              <a:ext uri="{FF2B5EF4-FFF2-40B4-BE49-F238E27FC236}">
                <a16:creationId xmlns:a16="http://schemas.microsoft.com/office/drawing/2014/main" id="{099DB84B-D1D2-F629-4154-07F3CC5B18D3}"/>
              </a:ext>
            </a:extLst>
          </p:cNvPr>
          <p:cNvSpPr/>
          <p:nvPr/>
        </p:nvSpPr>
        <p:spPr>
          <a:xfrm>
            <a:off x="9441434" y="1342827"/>
            <a:ext cx="382275" cy="718211"/>
          </a:xfrm>
          <a:custGeom>
            <a:avLst/>
            <a:gdLst/>
            <a:ahLst/>
            <a:cxnLst/>
            <a:rect l="0" t="0" r="r" b="b"/>
            <a:pathLst>
              <a:path w="382275" h="718211">
                <a:moveTo>
                  <a:pt x="17780" y="7"/>
                </a:moveTo>
                <a:cubicBezTo>
                  <a:pt x="185864" y="10040"/>
                  <a:pt x="328232" y="127452"/>
                  <a:pt x="370078" y="290520"/>
                </a:cubicBezTo>
                <a:cubicBezTo>
                  <a:pt x="411988" y="453588"/>
                  <a:pt x="343789" y="625101"/>
                  <a:pt x="201295" y="714827"/>
                </a:cubicBezTo>
                <a:quadBezTo>
                  <a:pt x="186055" y="723971"/>
                  <a:pt x="177483" y="708413"/>
                </a:quadBezTo>
                <a:lnTo>
                  <a:pt x="102108" y="571253"/>
                </a:lnTo>
                <a:quadBezTo>
                  <a:pt x="93536" y="555632"/>
                  <a:pt x="108458" y="545980"/>
                </a:quadBezTo>
                <a:cubicBezTo>
                  <a:pt x="174117" y="498990"/>
                  <a:pt x="204153" y="416504"/>
                  <a:pt x="184087" y="338272"/>
                </a:cubicBezTo>
                <a:cubicBezTo>
                  <a:pt x="164021" y="260040"/>
                  <a:pt x="97917" y="202255"/>
                  <a:pt x="17717" y="192730"/>
                </a:cubicBezTo>
                <a:quadBezTo>
                  <a:pt x="0" y="191396"/>
                  <a:pt x="0" y="173616"/>
                </a:quadBezTo>
                <a:lnTo>
                  <a:pt x="0" y="17152"/>
                </a:lnTo>
                <a:quadBezTo>
                  <a:pt x="0" y="-628"/>
                  <a:pt x="17780" y="7"/>
                </a:quad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13" name="m-d33_sunburst-int-1">
            <a:extLst>
              <a:ext uri="{FF2B5EF4-FFF2-40B4-BE49-F238E27FC236}">
                <a16:creationId xmlns:a16="http://schemas.microsoft.com/office/drawing/2014/main" id="{0677FFAE-A9B6-482B-33D4-03980BD14B92}"/>
              </a:ext>
            </a:extLst>
          </p:cNvPr>
          <p:cNvSpPr txBox="1"/>
          <p:nvPr/>
        </p:nvSpPr>
        <p:spPr>
          <a:xfrm>
            <a:off x="9636565" y="1614143"/>
            <a:ext cx="163932" cy="5600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50" b="1" i="0" u="none" strike="noStrike" kern="1200" cap="none" spc="14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企业软件</a:t>
            </a:r>
          </a:p>
        </p:txBody>
      </p:sp>
      <p:sp>
        <p:nvSpPr>
          <p:cNvPr id="2314" name="m-d33_sunburst-inv-1">
            <a:extLst>
              <a:ext uri="{FF2B5EF4-FFF2-40B4-BE49-F238E27FC236}">
                <a16:creationId xmlns:a16="http://schemas.microsoft.com/office/drawing/2014/main" id="{1EB99EEB-F4C1-6054-4995-782BA43D0075}"/>
              </a:ext>
            </a:extLst>
          </p:cNvPr>
          <p:cNvSpPr txBox="1"/>
          <p:nvPr/>
        </p:nvSpPr>
        <p:spPr>
          <a:xfrm>
            <a:off x="9684127" y="1663403"/>
            <a:ext cx="68809" cy="4667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1" i="0" u="none" strike="noStrike" kern="1200" cap="none" spc="0" normalizeH="0" baseline="0" noProof="0">
                <a:ln>
                  <a:noFill/>
                </a:ln>
                <a:solidFill>
                  <a:srgbClr val="E3EDF9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42%</a:t>
            </a:r>
          </a:p>
        </p:txBody>
      </p:sp>
      <p:sp>
        <p:nvSpPr>
          <p:cNvPr id="2315" name="m-d33_sunburst-out-1-1">
            <a:extLst>
              <a:ext uri="{FF2B5EF4-FFF2-40B4-BE49-F238E27FC236}">
                <a16:creationId xmlns:a16="http://schemas.microsoft.com/office/drawing/2014/main" id="{AF316565-DB5C-DB89-0F17-B2975B5EC3F8}"/>
              </a:ext>
            </a:extLst>
          </p:cNvPr>
          <p:cNvSpPr/>
          <p:nvPr/>
        </p:nvSpPr>
        <p:spPr>
          <a:xfrm>
            <a:off x="9440545" y="1143318"/>
            <a:ext cx="520313" cy="407231"/>
          </a:xfrm>
          <a:custGeom>
            <a:avLst/>
            <a:gdLst/>
            <a:ahLst/>
            <a:cxnLst/>
            <a:rect l="0" t="0" r="r" b="b"/>
            <a:pathLst>
              <a:path w="520313" h="407231">
                <a:moveTo>
                  <a:pt x="14224" y="0"/>
                </a:moveTo>
                <a:cubicBezTo>
                  <a:pt x="227965" y="6794"/>
                  <a:pt x="421068" y="129349"/>
                  <a:pt x="518223" y="319849"/>
                </a:cubicBezTo>
                <a:quadBezTo>
                  <a:pt x="524573" y="332549"/>
                  <a:pt x="511683" y="338645"/>
                </a:quadBezTo>
                <a:lnTo>
                  <a:pt x="370078" y="405257"/>
                </a:lnTo>
                <a:quadBezTo>
                  <a:pt x="357188" y="411353"/>
                  <a:pt x="350774" y="398653"/>
                </a:quadBezTo>
                <a:cubicBezTo>
                  <a:pt x="284353" y="272860"/>
                  <a:pt x="156337" y="191643"/>
                  <a:pt x="14224" y="185039"/>
                </a:cubicBezTo>
                <a:quadBezTo>
                  <a:pt x="0" y="184594"/>
                  <a:pt x="0" y="170370"/>
                </a:quadBezTo>
                <a:lnTo>
                  <a:pt x="0" y="13906"/>
                </a:lnTo>
                <a:quadBezTo>
                  <a:pt x="0" y="-318"/>
                  <a:pt x="14224" y="0"/>
                </a:quadBezTo>
                <a:close/>
              </a:path>
            </a:pathLst>
          </a:custGeom>
          <a:solidFill>
            <a:srgbClr val="486EA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16" name="m-d33_sunburst-outt-1-1">
            <a:extLst>
              <a:ext uri="{FF2B5EF4-FFF2-40B4-BE49-F238E27FC236}">
                <a16:creationId xmlns:a16="http://schemas.microsoft.com/office/drawing/2014/main" id="{80F22163-A518-ADDA-10B0-719DA2DFFA18}"/>
              </a:ext>
            </a:extLst>
          </p:cNvPr>
          <p:cNvSpPr txBox="1"/>
          <p:nvPr/>
        </p:nvSpPr>
        <p:spPr>
          <a:xfrm>
            <a:off x="9666546" y="1290133"/>
            <a:ext cx="68809" cy="4667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ERP</a:t>
            </a:r>
          </a:p>
        </p:txBody>
      </p:sp>
      <p:sp>
        <p:nvSpPr>
          <p:cNvPr id="2317" name="m-d33_sunburst-out-1-2">
            <a:extLst>
              <a:ext uri="{FF2B5EF4-FFF2-40B4-BE49-F238E27FC236}">
                <a16:creationId xmlns:a16="http://schemas.microsoft.com/office/drawing/2014/main" id="{E746FC35-468E-7F57-3EEB-CBCA848F5E43}"/>
              </a:ext>
            </a:extLst>
          </p:cNvPr>
          <p:cNvSpPr/>
          <p:nvPr/>
        </p:nvSpPr>
        <p:spPr>
          <a:xfrm>
            <a:off x="9805503" y="1488084"/>
            <a:ext cx="217337" cy="483312"/>
          </a:xfrm>
          <a:custGeom>
            <a:avLst/>
            <a:gdLst/>
            <a:ahLst/>
            <a:cxnLst/>
            <a:rect l="0" t="0" r="r" b="b"/>
            <a:pathLst>
              <a:path w="217337" h="483312">
                <a:moveTo>
                  <a:pt x="169141" y="8865"/>
                </a:moveTo>
                <a:cubicBezTo>
                  <a:pt x="233403" y="157391"/>
                  <a:pt x="233403" y="325920"/>
                  <a:pt x="169141" y="474447"/>
                </a:cubicBezTo>
                <a:quadBezTo>
                  <a:pt x="163362" y="487464"/>
                  <a:pt x="150472" y="481368"/>
                </a:quadBezTo>
                <a:lnTo>
                  <a:pt x="8930" y="414757"/>
                </a:lnTo>
                <a:quadBezTo>
                  <a:pt x="-3960" y="408724"/>
                  <a:pt x="1755" y="395643"/>
                </a:quadBezTo>
                <a:cubicBezTo>
                  <a:pt x="42649" y="297091"/>
                  <a:pt x="42649" y="186220"/>
                  <a:pt x="1755" y="87668"/>
                </a:cubicBezTo>
                <a:quadBezTo>
                  <a:pt x="-3960" y="74587"/>
                  <a:pt x="8930" y="68555"/>
                </a:quadBezTo>
                <a:lnTo>
                  <a:pt x="150472" y="1943"/>
                </a:lnTo>
                <a:quadBezTo>
                  <a:pt x="163362" y="-4153"/>
                  <a:pt x="169141" y="8865"/>
                </a:quadBezTo>
                <a:close/>
              </a:path>
            </a:pathLst>
          </a:custGeom>
          <a:solidFill>
            <a:srgbClr val="7995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18" name="m-d33_sunburst-outt-1-2">
            <a:extLst>
              <a:ext uri="{FF2B5EF4-FFF2-40B4-BE49-F238E27FC236}">
                <a16:creationId xmlns:a16="http://schemas.microsoft.com/office/drawing/2014/main" id="{3DC4164C-7BFA-6626-AEC4-933DDEABE6FA}"/>
              </a:ext>
            </a:extLst>
          </p:cNvPr>
          <p:cNvSpPr txBox="1"/>
          <p:nvPr/>
        </p:nvSpPr>
        <p:spPr>
          <a:xfrm>
            <a:off x="9895980" y="1707471"/>
            <a:ext cx="68809" cy="4667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CRM</a:t>
            </a:r>
          </a:p>
        </p:txBody>
      </p:sp>
      <p:sp>
        <p:nvSpPr>
          <p:cNvPr id="2319" name="m-d33_sunburst-out-1-3">
            <a:extLst>
              <a:ext uri="{FF2B5EF4-FFF2-40B4-BE49-F238E27FC236}">
                <a16:creationId xmlns:a16="http://schemas.microsoft.com/office/drawing/2014/main" id="{6466FEBC-313D-60BD-A7D8-D68584306F48}"/>
              </a:ext>
            </a:extLst>
          </p:cNvPr>
          <p:cNvSpPr/>
          <p:nvPr/>
        </p:nvSpPr>
        <p:spPr>
          <a:xfrm>
            <a:off x="9637963" y="1908931"/>
            <a:ext cx="322896" cy="328281"/>
          </a:xfrm>
          <a:custGeom>
            <a:avLst/>
            <a:gdLst/>
            <a:ahLst/>
            <a:cxnLst/>
            <a:rect l="0" t="0" r="r" b="b"/>
            <a:pathLst>
              <a:path w="322896" h="328281">
                <a:moveTo>
                  <a:pt x="320806" y="87382"/>
                </a:moveTo>
                <a:cubicBezTo>
                  <a:pt x="270323" y="186442"/>
                  <a:pt x="192663" y="269119"/>
                  <a:pt x="97032" y="325697"/>
                </a:cubicBezTo>
                <a:quadBezTo>
                  <a:pt x="84649" y="332809"/>
                  <a:pt x="77855" y="320363"/>
                </a:quadBezTo>
                <a:lnTo>
                  <a:pt x="2417" y="183267"/>
                </a:lnTo>
                <a:quadBezTo>
                  <a:pt x="-4378" y="170757"/>
                  <a:pt x="7878" y="163582"/>
                </a:quadBezTo>
                <a:cubicBezTo>
                  <a:pt x="69409" y="125926"/>
                  <a:pt x="119638" y="72396"/>
                  <a:pt x="153356" y="8578"/>
                </a:cubicBezTo>
                <a:quadBezTo>
                  <a:pt x="159770" y="-4122"/>
                  <a:pt x="172660" y="1974"/>
                </a:quadBezTo>
                <a:lnTo>
                  <a:pt x="314265" y="68586"/>
                </a:lnTo>
                <a:quadBezTo>
                  <a:pt x="327156" y="74682"/>
                  <a:pt x="320806" y="87382"/>
                </a:quadBezTo>
                <a:close/>
              </a:path>
            </a:pathLst>
          </a:custGeom>
          <a:solidFill>
            <a:srgbClr val="AABBD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20" name="m-d33_sunburst-outt-1-3">
            <a:extLst>
              <a:ext uri="{FF2B5EF4-FFF2-40B4-BE49-F238E27FC236}">
                <a16:creationId xmlns:a16="http://schemas.microsoft.com/office/drawing/2014/main" id="{8CCB4812-5C7F-E4B3-F3C0-27D82F11AB70}"/>
              </a:ext>
            </a:extLst>
          </p:cNvPr>
          <p:cNvSpPr txBox="1"/>
          <p:nvPr/>
        </p:nvSpPr>
        <p:spPr>
          <a:xfrm>
            <a:off x="9769481" y="2045831"/>
            <a:ext cx="53873" cy="4667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OA</a:t>
            </a:r>
          </a:p>
        </p:txBody>
      </p:sp>
      <p:sp>
        <p:nvSpPr>
          <p:cNvPr id="2321" name="m-d33_sunburst-in-2">
            <a:extLst>
              <a:ext uri="{FF2B5EF4-FFF2-40B4-BE49-F238E27FC236}">
                <a16:creationId xmlns:a16="http://schemas.microsoft.com/office/drawing/2014/main" id="{969338D6-8C1A-89AF-3523-F72832E0ACD5}"/>
              </a:ext>
            </a:extLst>
          </p:cNvPr>
          <p:cNvSpPr/>
          <p:nvPr/>
        </p:nvSpPr>
        <p:spPr>
          <a:xfrm>
            <a:off x="9073622" y="1799348"/>
            <a:ext cx="538951" cy="317921"/>
          </a:xfrm>
          <a:custGeom>
            <a:avLst/>
            <a:gdLst/>
            <a:ahLst/>
            <a:cxnLst/>
            <a:rect l="0" t="0" r="r" b="b"/>
            <a:pathLst>
              <a:path w="538951" h="317921">
                <a:moveTo>
                  <a:pt x="528657" y="280595"/>
                </a:moveTo>
                <a:cubicBezTo>
                  <a:pt x="431566" y="326632"/>
                  <a:pt x="319679" y="330315"/>
                  <a:pt x="219793" y="290755"/>
                </a:cubicBezTo>
                <a:cubicBezTo>
                  <a:pt x="119908" y="251194"/>
                  <a:pt x="40850" y="171946"/>
                  <a:pt x="1607" y="71934"/>
                </a:cubicBezTo>
                <a:quadBezTo>
                  <a:pt x="-4489" y="55233"/>
                  <a:pt x="12466" y="49709"/>
                </a:quadBezTo>
                <a:lnTo>
                  <a:pt x="161310" y="1385"/>
                </a:lnTo>
                <a:quadBezTo>
                  <a:pt x="178201" y="-4139"/>
                  <a:pt x="184868" y="12371"/>
                </a:quadBezTo>
                <a:cubicBezTo>
                  <a:pt x="228620" y="107113"/>
                  <a:pt x="339110" y="150864"/>
                  <a:pt x="435820" y="111685"/>
                </a:cubicBezTo>
                <a:quadBezTo>
                  <a:pt x="452013" y="104255"/>
                  <a:pt x="460522" y="119876"/>
                </a:quadBezTo>
                <a:lnTo>
                  <a:pt x="535960" y="257036"/>
                </a:lnTo>
                <a:quadBezTo>
                  <a:pt x="544532" y="272594"/>
                  <a:pt x="528657" y="280595"/>
                </a:quadBezTo>
                <a:close/>
              </a:path>
            </a:pathLst>
          </a:custGeom>
          <a:gradFill rotWithShape="1">
            <a:gsLst>
              <a:gs pos="0">
                <a:srgbClr val="3E7ABF"/>
              </a:gs>
              <a:gs pos="100000">
                <a:srgbClr val="2468B6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22" name="m-d33_sunburst-int-2">
            <a:extLst>
              <a:ext uri="{FF2B5EF4-FFF2-40B4-BE49-F238E27FC236}">
                <a16:creationId xmlns:a16="http://schemas.microsoft.com/office/drawing/2014/main" id="{C2EC577C-0B0D-0A37-33F7-33309E9878AD}"/>
              </a:ext>
            </a:extLst>
          </p:cNvPr>
          <p:cNvSpPr txBox="1"/>
          <p:nvPr/>
        </p:nvSpPr>
        <p:spPr>
          <a:xfrm>
            <a:off x="9263683" y="1957774"/>
            <a:ext cx="130150" cy="5600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50" b="1" i="0" u="none" strike="noStrike" kern="1200" cap="none" spc="14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云服务</a:t>
            </a:r>
          </a:p>
        </p:txBody>
      </p:sp>
      <p:sp>
        <p:nvSpPr>
          <p:cNvPr id="2323" name="m-d33_sunburst-inv-2">
            <a:extLst>
              <a:ext uri="{FF2B5EF4-FFF2-40B4-BE49-F238E27FC236}">
                <a16:creationId xmlns:a16="http://schemas.microsoft.com/office/drawing/2014/main" id="{B00E374D-BC21-5E8F-27E8-5E5068795413}"/>
              </a:ext>
            </a:extLst>
          </p:cNvPr>
          <p:cNvSpPr txBox="1"/>
          <p:nvPr/>
        </p:nvSpPr>
        <p:spPr>
          <a:xfrm>
            <a:off x="9294354" y="2007034"/>
            <a:ext cx="68809" cy="4667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1" i="0" u="none" strike="noStrike" kern="1200" cap="none" spc="0" normalizeH="0" baseline="0" noProof="0">
                <a:ln>
                  <a:noFill/>
                </a:ln>
                <a:solidFill>
                  <a:srgbClr val="E3EDF9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28%</a:t>
            </a:r>
          </a:p>
        </p:txBody>
      </p:sp>
      <p:sp>
        <p:nvSpPr>
          <p:cNvPr id="2324" name="m-d33_sunburst-out-2-1">
            <a:extLst>
              <a:ext uri="{FF2B5EF4-FFF2-40B4-BE49-F238E27FC236}">
                <a16:creationId xmlns:a16="http://schemas.microsoft.com/office/drawing/2014/main" id="{891FA03F-97C9-77E7-ED33-B498E831EB15}"/>
              </a:ext>
            </a:extLst>
          </p:cNvPr>
          <p:cNvSpPr/>
          <p:nvPr/>
        </p:nvSpPr>
        <p:spPr>
          <a:xfrm>
            <a:off x="9297329" y="2088283"/>
            <a:ext cx="413089" cy="228194"/>
          </a:xfrm>
          <a:custGeom>
            <a:avLst/>
            <a:gdLst/>
            <a:ahLst/>
            <a:cxnLst/>
            <a:rect l="0" t="0" r="r" b="b"/>
            <a:pathLst>
              <a:path w="413089" h="228194">
                <a:moveTo>
                  <a:pt x="404963" y="164379"/>
                </a:moveTo>
                <a:cubicBezTo>
                  <a:pt x="283424" y="226228"/>
                  <a:pt x="144105" y="243818"/>
                  <a:pt x="11009" y="214100"/>
                </a:cubicBezTo>
                <a:quadBezTo>
                  <a:pt x="-2834" y="210861"/>
                  <a:pt x="722" y="197082"/>
                </a:quadBezTo>
                <a:lnTo>
                  <a:pt x="39584" y="45507"/>
                </a:lnTo>
                <a:quadBezTo>
                  <a:pt x="43140" y="31728"/>
                  <a:pt x="57046" y="34903"/>
                </a:quadBezTo>
                <a:cubicBezTo>
                  <a:pt x="144486" y="53064"/>
                  <a:pt x="235545" y="41570"/>
                  <a:pt x="315809" y="2200"/>
                </a:cubicBezTo>
                <a:quadBezTo>
                  <a:pt x="328445" y="-4277"/>
                  <a:pt x="335303" y="8169"/>
                </a:quadBezTo>
                <a:lnTo>
                  <a:pt x="410678" y="145266"/>
                </a:lnTo>
                <a:quadBezTo>
                  <a:pt x="417536" y="157775"/>
                  <a:pt x="404963" y="164379"/>
                </a:quadBezTo>
                <a:close/>
              </a:path>
            </a:pathLst>
          </a:custGeom>
          <a:solidFill>
            <a:srgbClr val="5B8EC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25" name="m-d33_sunburst-outt-2-1">
            <a:extLst>
              <a:ext uri="{FF2B5EF4-FFF2-40B4-BE49-F238E27FC236}">
                <a16:creationId xmlns:a16="http://schemas.microsoft.com/office/drawing/2014/main" id="{DA635801-2750-3232-B58C-99776B235894}"/>
              </a:ext>
            </a:extLst>
          </p:cNvPr>
          <p:cNvSpPr txBox="1"/>
          <p:nvPr/>
        </p:nvSpPr>
        <p:spPr>
          <a:xfrm>
            <a:off x="9456178" y="2197857"/>
            <a:ext cx="83744" cy="4667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IaaS</a:t>
            </a:r>
          </a:p>
        </p:txBody>
      </p:sp>
      <p:sp>
        <p:nvSpPr>
          <p:cNvPr id="2326" name="m-d33_sunburst-out-2-2">
            <a:extLst>
              <a:ext uri="{FF2B5EF4-FFF2-40B4-BE49-F238E27FC236}">
                <a16:creationId xmlns:a16="http://schemas.microsoft.com/office/drawing/2014/main" id="{5F96CD0D-034D-9B2E-C747-B0FF96423FD7}"/>
              </a:ext>
            </a:extLst>
          </p:cNvPr>
          <p:cNvSpPr/>
          <p:nvPr/>
        </p:nvSpPr>
        <p:spPr>
          <a:xfrm>
            <a:off x="9016508" y="2012998"/>
            <a:ext cx="312559" cy="280925"/>
          </a:xfrm>
          <a:custGeom>
            <a:avLst/>
            <a:gdLst/>
            <a:ahLst/>
            <a:cxnLst/>
            <a:rect l="0" t="0" r="r" b="b"/>
            <a:pathLst>
              <a:path w="312559" h="280925">
                <a:moveTo>
                  <a:pt x="255699" y="280114"/>
                </a:moveTo>
                <a:cubicBezTo>
                  <a:pt x="160957" y="252555"/>
                  <a:pt x="74660" y="201565"/>
                  <a:pt x="4874" y="131778"/>
                </a:cubicBezTo>
                <a:quadBezTo>
                  <a:pt x="-5096" y="121618"/>
                  <a:pt x="5318" y="111903"/>
                </a:quadBezTo>
                <a:lnTo>
                  <a:pt x="119364" y="4778"/>
                </a:lnTo>
                <a:quadBezTo>
                  <a:pt x="129715" y="-4937"/>
                  <a:pt x="139748" y="5096"/>
                </a:quadBezTo>
                <a:cubicBezTo>
                  <a:pt x="185404" y="49419"/>
                  <a:pt x="240903" y="82248"/>
                  <a:pt x="301673" y="100854"/>
                </a:cubicBezTo>
                <a:quadBezTo>
                  <a:pt x="315389" y="104791"/>
                  <a:pt x="311833" y="118570"/>
                </a:quadBezTo>
                <a:lnTo>
                  <a:pt x="272907" y="270145"/>
                </a:lnTo>
                <a:quadBezTo>
                  <a:pt x="269351" y="283924"/>
                  <a:pt x="255699" y="280114"/>
                </a:quadBezTo>
                <a:close/>
              </a:path>
            </a:pathLst>
          </a:custGeom>
          <a:solidFill>
            <a:srgbClr val="87AC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27" name="m-d33_sunburst-outt-2-2">
            <a:extLst>
              <a:ext uri="{FF2B5EF4-FFF2-40B4-BE49-F238E27FC236}">
                <a16:creationId xmlns:a16="http://schemas.microsoft.com/office/drawing/2014/main" id="{34B9146E-EE70-2DBC-2C13-5C193D7B14CD}"/>
              </a:ext>
            </a:extLst>
          </p:cNvPr>
          <p:cNvSpPr txBox="1"/>
          <p:nvPr/>
        </p:nvSpPr>
        <p:spPr>
          <a:xfrm>
            <a:off x="9142617" y="2132922"/>
            <a:ext cx="83744" cy="4667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PaaS</a:t>
            </a:r>
          </a:p>
        </p:txBody>
      </p:sp>
      <p:sp>
        <p:nvSpPr>
          <p:cNvPr id="2328" name="m-d33_sunburst-out-2-3">
            <a:extLst>
              <a:ext uri="{FF2B5EF4-FFF2-40B4-BE49-F238E27FC236}">
                <a16:creationId xmlns:a16="http://schemas.microsoft.com/office/drawing/2014/main" id="{B59BEE81-4BA7-795C-1802-3473A8FCC53B}"/>
              </a:ext>
            </a:extLst>
          </p:cNvPr>
          <p:cNvSpPr/>
          <p:nvPr/>
        </p:nvSpPr>
        <p:spPr>
          <a:xfrm>
            <a:off x="8882912" y="1861439"/>
            <a:ext cx="252278" cy="261636"/>
          </a:xfrm>
          <a:custGeom>
            <a:avLst/>
            <a:gdLst/>
            <a:ahLst/>
            <a:cxnLst/>
            <a:rect l="0" t="0" r="r" b="b"/>
            <a:pathLst>
              <a:path w="252278" h="261636">
                <a:moveTo>
                  <a:pt x="112943" y="256159"/>
                </a:moveTo>
                <a:cubicBezTo>
                  <a:pt x="64111" y="200787"/>
                  <a:pt x="26265" y="136716"/>
                  <a:pt x="1183" y="67247"/>
                </a:cubicBezTo>
                <a:quadBezTo>
                  <a:pt x="-3453" y="53848"/>
                  <a:pt x="10073" y="49467"/>
                </a:quadBezTo>
                <a:lnTo>
                  <a:pt x="158917" y="1080"/>
                </a:lnTo>
                <a:quadBezTo>
                  <a:pt x="172442" y="-3302"/>
                  <a:pt x="177205" y="10097"/>
                </a:quadBezTo>
                <a:cubicBezTo>
                  <a:pt x="193651" y="53657"/>
                  <a:pt x="217527" y="94044"/>
                  <a:pt x="247817" y="129476"/>
                </a:cubicBezTo>
                <a:quadBezTo>
                  <a:pt x="257215" y="140144"/>
                  <a:pt x="246864" y="149860"/>
                </a:quadBezTo>
                <a:lnTo>
                  <a:pt x="132818" y="256985"/>
                </a:lnTo>
                <a:quadBezTo>
                  <a:pt x="122468" y="266700"/>
                  <a:pt x="112943" y="256159"/>
                </a:quadBezTo>
                <a:close/>
              </a:path>
            </a:pathLst>
          </a:custGeom>
          <a:solidFill>
            <a:srgbClr val="B2CAE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29" name="m-d33_sunburst-outt-2-3">
            <a:extLst>
              <a:ext uri="{FF2B5EF4-FFF2-40B4-BE49-F238E27FC236}">
                <a16:creationId xmlns:a16="http://schemas.microsoft.com/office/drawing/2014/main" id="{0952A0EC-D456-5632-9711-B8F0F1456B12}"/>
              </a:ext>
            </a:extLst>
          </p:cNvPr>
          <p:cNvSpPr txBox="1"/>
          <p:nvPr/>
        </p:nvSpPr>
        <p:spPr>
          <a:xfrm>
            <a:off x="8983712" y="1959082"/>
            <a:ext cx="53873" cy="4667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7%</a:t>
            </a:r>
          </a:p>
        </p:txBody>
      </p:sp>
      <p:sp>
        <p:nvSpPr>
          <p:cNvPr id="2330" name="m-d33_sunburst-in-3">
            <a:extLst>
              <a:ext uri="{FF2B5EF4-FFF2-40B4-BE49-F238E27FC236}">
                <a16:creationId xmlns:a16="http://schemas.microsoft.com/office/drawing/2014/main" id="{F7C1A751-9120-CC37-50D6-5262F765025F}"/>
              </a:ext>
            </a:extLst>
          </p:cNvPr>
          <p:cNvSpPr/>
          <p:nvPr/>
        </p:nvSpPr>
        <p:spPr>
          <a:xfrm>
            <a:off x="9048499" y="1457246"/>
            <a:ext cx="243837" cy="383036"/>
          </a:xfrm>
          <a:custGeom>
            <a:avLst/>
            <a:gdLst/>
            <a:ahLst/>
            <a:cxnLst/>
            <a:rect l="0" t="0" r="r" b="b"/>
            <a:pathLst>
              <a:path w="243837" h="383036">
                <a:moveTo>
                  <a:pt x="12507" y="370094"/>
                </a:moveTo>
                <a:cubicBezTo>
                  <a:pt x="-21148" y="240808"/>
                  <a:pt x="14158" y="103330"/>
                  <a:pt x="105915" y="6239"/>
                </a:cubicBezTo>
                <a:quadBezTo>
                  <a:pt x="118425" y="-6398"/>
                  <a:pt x="130553" y="6556"/>
                </a:quadBezTo>
                <a:lnTo>
                  <a:pt x="237741" y="120666"/>
                </a:lnTo>
                <a:quadBezTo>
                  <a:pt x="249870" y="133620"/>
                  <a:pt x="237868" y="146701"/>
                </a:quadBezTo>
                <a:cubicBezTo>
                  <a:pt x="199705" y="192103"/>
                  <a:pt x="184211" y="252428"/>
                  <a:pt x="195768" y="310594"/>
                </a:cubicBezTo>
                <a:quadBezTo>
                  <a:pt x="200022" y="327866"/>
                  <a:pt x="183131" y="333327"/>
                </a:quadBezTo>
                <a:lnTo>
                  <a:pt x="34287" y="381714"/>
                </a:lnTo>
                <a:quadBezTo>
                  <a:pt x="17333" y="387175"/>
                  <a:pt x="12507" y="370094"/>
                </a:quadBezTo>
                <a:close/>
              </a:path>
            </a:pathLst>
          </a:custGeom>
          <a:gradFill rotWithShape="1">
            <a:gsLst>
              <a:gs pos="0">
                <a:srgbClr val="5CA1DC"/>
              </a:gs>
              <a:gs pos="100000">
                <a:srgbClr val="4694D7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31" name="m-d33_sunburst-int-3">
            <a:extLst>
              <a:ext uri="{FF2B5EF4-FFF2-40B4-BE49-F238E27FC236}">
                <a16:creationId xmlns:a16="http://schemas.microsoft.com/office/drawing/2014/main" id="{29FA6FE1-3F3F-3811-2B12-0BFE2214AAF4}"/>
              </a:ext>
            </a:extLst>
          </p:cNvPr>
          <p:cNvSpPr txBox="1"/>
          <p:nvPr/>
        </p:nvSpPr>
        <p:spPr>
          <a:xfrm>
            <a:off x="9071703" y="1614143"/>
            <a:ext cx="163932" cy="5600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50" b="1" i="0" u="none" strike="noStrike" kern="1200" cap="none" spc="14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数据服务</a:t>
            </a:r>
          </a:p>
        </p:txBody>
      </p:sp>
      <p:sp>
        <p:nvSpPr>
          <p:cNvPr id="2332" name="m-d33_sunburst-inv-3">
            <a:extLst>
              <a:ext uri="{FF2B5EF4-FFF2-40B4-BE49-F238E27FC236}">
                <a16:creationId xmlns:a16="http://schemas.microsoft.com/office/drawing/2014/main" id="{72F55630-A478-EE70-FDB4-7A01F4630911}"/>
              </a:ext>
            </a:extLst>
          </p:cNvPr>
          <p:cNvSpPr txBox="1"/>
          <p:nvPr/>
        </p:nvSpPr>
        <p:spPr>
          <a:xfrm>
            <a:off x="9119265" y="1663403"/>
            <a:ext cx="68809" cy="4667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1" i="0" u="none" strike="noStrike" kern="1200" cap="none" spc="0" normalizeH="0" baseline="0" noProof="0">
                <a:ln>
                  <a:noFill/>
                </a:ln>
                <a:solidFill>
                  <a:srgbClr val="E3EDF9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18%</a:t>
            </a:r>
          </a:p>
        </p:txBody>
      </p:sp>
      <p:sp>
        <p:nvSpPr>
          <p:cNvPr id="2333" name="m-d33_sunburst-out-3-1">
            <a:extLst>
              <a:ext uri="{FF2B5EF4-FFF2-40B4-BE49-F238E27FC236}">
                <a16:creationId xmlns:a16="http://schemas.microsoft.com/office/drawing/2014/main" id="{ADE94C7E-B522-DC3A-75AD-2E60C36C16C5}"/>
              </a:ext>
            </a:extLst>
          </p:cNvPr>
          <p:cNvSpPr/>
          <p:nvPr/>
        </p:nvSpPr>
        <p:spPr>
          <a:xfrm>
            <a:off x="8849374" y="1626394"/>
            <a:ext cx="200090" cy="277094"/>
          </a:xfrm>
          <a:custGeom>
            <a:avLst/>
            <a:gdLst/>
            <a:ahLst/>
            <a:cxnLst/>
            <a:rect l="0" t="0" r="r" b="b"/>
            <a:pathLst>
              <a:path w="200090" h="277094">
                <a:moveTo>
                  <a:pt x="23227" y="266795"/>
                </a:moveTo>
                <a:cubicBezTo>
                  <a:pt x="-776" y="183991"/>
                  <a:pt x="-6300" y="96933"/>
                  <a:pt x="7162" y="11779"/>
                </a:cubicBezTo>
                <a:quadBezTo>
                  <a:pt x="9575" y="-2254"/>
                  <a:pt x="23545" y="413"/>
                </a:quadBezTo>
                <a:lnTo>
                  <a:pt x="177215" y="29750"/>
                </a:lnTo>
                <a:quadBezTo>
                  <a:pt x="191185" y="32417"/>
                  <a:pt x="188962" y="46450"/>
                </a:quadBezTo>
                <a:cubicBezTo>
                  <a:pt x="181152" y="100997"/>
                  <a:pt x="184644" y="156496"/>
                  <a:pt x="199186" y="209645"/>
                </a:cubicBezTo>
                <a:quadBezTo>
                  <a:pt x="203186" y="223298"/>
                  <a:pt x="189661" y="227679"/>
                </a:quadBezTo>
                <a:lnTo>
                  <a:pt x="40880" y="276003"/>
                </a:lnTo>
                <a:quadBezTo>
                  <a:pt x="27355" y="280448"/>
                  <a:pt x="23227" y="266795"/>
                </a:quadBezTo>
                <a:close/>
              </a:path>
            </a:pathLst>
          </a:custGeom>
          <a:solidFill>
            <a:srgbClr val="74AF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34" name="m-d33_sunburst-outt-3-1">
            <a:extLst>
              <a:ext uri="{FF2B5EF4-FFF2-40B4-BE49-F238E27FC236}">
                <a16:creationId xmlns:a16="http://schemas.microsoft.com/office/drawing/2014/main" id="{058ACCA6-FB17-D759-F76F-28AF165074A4}"/>
              </a:ext>
            </a:extLst>
          </p:cNvPr>
          <p:cNvSpPr txBox="1"/>
          <p:nvPr/>
        </p:nvSpPr>
        <p:spPr>
          <a:xfrm>
            <a:off x="8915855" y="1738507"/>
            <a:ext cx="53873" cy="4667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8%</a:t>
            </a:r>
          </a:p>
        </p:txBody>
      </p:sp>
      <p:sp>
        <p:nvSpPr>
          <p:cNvPr id="2335" name="m-d33_sunburst-out-3-2">
            <a:extLst>
              <a:ext uri="{FF2B5EF4-FFF2-40B4-BE49-F238E27FC236}">
                <a16:creationId xmlns:a16="http://schemas.microsoft.com/office/drawing/2014/main" id="{7A128132-7EF3-0794-B34C-4FD653902455}"/>
              </a:ext>
            </a:extLst>
          </p:cNvPr>
          <p:cNvSpPr/>
          <p:nvPr/>
        </p:nvSpPr>
        <p:spPr>
          <a:xfrm>
            <a:off x="8863019" y="1423789"/>
            <a:ext cx="226911" cy="224072"/>
          </a:xfrm>
          <a:custGeom>
            <a:avLst/>
            <a:gdLst/>
            <a:ahLst/>
            <a:cxnLst/>
            <a:rect l="0" t="0" r="r" b="b"/>
            <a:pathLst>
              <a:path w="226911" h="224072">
                <a:moveTo>
                  <a:pt x="502" y="177744"/>
                </a:moveTo>
                <a:cubicBezTo>
                  <a:pt x="13964" y="117800"/>
                  <a:pt x="36697" y="60333"/>
                  <a:pt x="67939" y="7501"/>
                </a:cubicBezTo>
                <a:quadBezTo>
                  <a:pt x="75305" y="-4691"/>
                  <a:pt x="87306" y="2929"/>
                </a:quadBezTo>
                <a:lnTo>
                  <a:pt x="219450" y="86749"/>
                </a:lnTo>
                <a:quadBezTo>
                  <a:pt x="231451" y="94432"/>
                  <a:pt x="224149" y="106624"/>
                </a:quadBezTo>
                <a:cubicBezTo>
                  <a:pt x="205289" y="139708"/>
                  <a:pt x="191192" y="175331"/>
                  <a:pt x="182302" y="212415"/>
                </a:cubicBezTo>
                <a:quadBezTo>
                  <a:pt x="179254" y="226322"/>
                  <a:pt x="165284" y="223655"/>
                </a:quadBezTo>
                <a:lnTo>
                  <a:pt x="11551" y="194318"/>
                </a:lnTo>
                <a:quadBezTo>
                  <a:pt x="-2419" y="191651"/>
                  <a:pt x="502" y="177744"/>
                </a:quadBezTo>
                <a:close/>
              </a:path>
            </a:pathLst>
          </a:custGeom>
          <a:solidFill>
            <a:srgbClr val="99C4E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36" name="m-d33_sunburst-outt-3-2">
            <a:extLst>
              <a:ext uri="{FF2B5EF4-FFF2-40B4-BE49-F238E27FC236}">
                <a16:creationId xmlns:a16="http://schemas.microsoft.com/office/drawing/2014/main" id="{768A3FD0-3F4F-BE9B-0797-0386E6CE7D2B}"/>
              </a:ext>
            </a:extLst>
          </p:cNvPr>
          <p:cNvSpPr txBox="1"/>
          <p:nvPr/>
        </p:nvSpPr>
        <p:spPr>
          <a:xfrm>
            <a:off x="8949590" y="1525512"/>
            <a:ext cx="53873" cy="4667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6%</a:t>
            </a:r>
          </a:p>
        </p:txBody>
      </p:sp>
      <p:sp>
        <p:nvSpPr>
          <p:cNvPr id="2337" name="m-d33_sunburst-out-3-3">
            <a:extLst>
              <a:ext uri="{FF2B5EF4-FFF2-40B4-BE49-F238E27FC236}">
                <a16:creationId xmlns:a16="http://schemas.microsoft.com/office/drawing/2014/main" id="{1019F4A6-471F-5CF0-E93C-AC1E4D39027B}"/>
              </a:ext>
            </a:extLst>
          </p:cNvPr>
          <p:cNvSpPr/>
          <p:nvPr/>
        </p:nvSpPr>
        <p:spPr>
          <a:xfrm>
            <a:off x="8947849" y="1310148"/>
            <a:ext cx="204993" cy="195889"/>
          </a:xfrm>
          <a:custGeom>
            <a:avLst/>
            <a:gdLst/>
            <a:ahLst/>
            <a:cxnLst/>
            <a:rect l="0" t="0" r="r" b="b"/>
            <a:pathLst>
              <a:path w="204993" h="195889">
                <a:moveTo>
                  <a:pt x="3111" y="89583"/>
                </a:moveTo>
                <a:cubicBezTo>
                  <a:pt x="23748" y="59230"/>
                  <a:pt x="47243" y="30845"/>
                  <a:pt x="73215" y="4874"/>
                </a:cubicBezTo>
                <a:quadBezTo>
                  <a:pt x="83375" y="-5096"/>
                  <a:pt x="93090" y="5318"/>
                </a:quadBezTo>
                <a:lnTo>
                  <a:pt x="200215" y="119364"/>
                </a:lnTo>
                <a:quadBezTo>
                  <a:pt x="209930" y="129715"/>
                  <a:pt x="199897" y="139748"/>
                </a:quadBezTo>
                <a:cubicBezTo>
                  <a:pt x="185102" y="154988"/>
                  <a:pt x="171513" y="171371"/>
                  <a:pt x="159321" y="188770"/>
                </a:cubicBezTo>
                <a:quadBezTo>
                  <a:pt x="151383" y="200517"/>
                  <a:pt x="139382" y="192897"/>
                </a:quadBezTo>
                <a:lnTo>
                  <a:pt x="7238" y="109077"/>
                </a:lnTo>
                <a:quadBezTo>
                  <a:pt x="-4763" y="101457"/>
                  <a:pt x="3111" y="89583"/>
                </a:quadBezTo>
                <a:close/>
              </a:path>
            </a:pathLst>
          </a:custGeom>
          <a:solidFill>
            <a:srgbClr val="BEDA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38" name="m-d33_sunburst-in-4">
            <a:extLst>
              <a:ext uri="{FF2B5EF4-FFF2-40B4-BE49-F238E27FC236}">
                <a16:creationId xmlns:a16="http://schemas.microsoft.com/office/drawing/2014/main" id="{B10D1B6D-E0A8-D76B-FE20-DE98AC2D7FD2}"/>
              </a:ext>
            </a:extLst>
          </p:cNvPr>
          <p:cNvSpPr/>
          <p:nvPr/>
        </p:nvSpPr>
        <p:spPr>
          <a:xfrm>
            <a:off x="9181068" y="1342827"/>
            <a:ext cx="249698" cy="234720"/>
          </a:xfrm>
          <a:custGeom>
            <a:avLst/>
            <a:gdLst/>
            <a:ahLst/>
            <a:cxnLst/>
            <a:rect l="0" t="0" r="r" b="b"/>
            <a:pathLst>
              <a:path w="249698" h="234720">
                <a:moveTo>
                  <a:pt x="7001" y="89034"/>
                </a:moveTo>
                <a:cubicBezTo>
                  <a:pt x="70564" y="36139"/>
                  <a:pt x="149368" y="4960"/>
                  <a:pt x="231918" y="7"/>
                </a:cubicBezTo>
                <a:quadBezTo>
                  <a:pt x="249698" y="-628"/>
                  <a:pt x="249698" y="17152"/>
                </a:quadBezTo>
                <a:lnTo>
                  <a:pt x="249698" y="173616"/>
                </a:lnTo>
                <a:quadBezTo>
                  <a:pt x="249698" y="191396"/>
                  <a:pt x="231981" y="192730"/>
                </a:quadBezTo>
                <a:cubicBezTo>
                  <a:pt x="198263" y="196730"/>
                  <a:pt x="166195" y="209367"/>
                  <a:pt x="138890" y="229560"/>
                </a:cubicBezTo>
                <a:quadBezTo>
                  <a:pt x="125047" y="240736"/>
                  <a:pt x="112919" y="227782"/>
                </a:quadBezTo>
                <a:lnTo>
                  <a:pt x="5794" y="113736"/>
                </a:lnTo>
                <a:quadBezTo>
                  <a:pt x="-6398" y="100718"/>
                  <a:pt x="7001" y="89034"/>
                </a:quadBezTo>
                <a:close/>
              </a:path>
            </a:pathLst>
          </a:custGeom>
          <a:gradFill rotWithShape="1">
            <a:gsLst>
              <a:gs pos="0">
                <a:srgbClr val="E48152"/>
              </a:gs>
              <a:gs pos="100000">
                <a:srgbClr val="E0703A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39" name="m-d33_sunburst-int-4">
            <a:extLst>
              <a:ext uri="{FF2B5EF4-FFF2-40B4-BE49-F238E27FC236}">
                <a16:creationId xmlns:a16="http://schemas.microsoft.com/office/drawing/2014/main" id="{2AA1D8FA-AC93-964F-D834-FD46BBFF60D1}"/>
              </a:ext>
            </a:extLst>
          </p:cNvPr>
          <p:cNvSpPr txBox="1"/>
          <p:nvPr/>
        </p:nvSpPr>
        <p:spPr>
          <a:xfrm>
            <a:off x="9280574" y="1415544"/>
            <a:ext cx="96368" cy="5600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50" b="1" i="0" u="none" strike="noStrike" kern="1200" cap="none" spc="14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咨询</a:t>
            </a:r>
          </a:p>
        </p:txBody>
      </p:sp>
      <p:sp>
        <p:nvSpPr>
          <p:cNvPr id="2340" name="m-d33_sunburst-inv-4">
            <a:extLst>
              <a:ext uri="{FF2B5EF4-FFF2-40B4-BE49-F238E27FC236}">
                <a16:creationId xmlns:a16="http://schemas.microsoft.com/office/drawing/2014/main" id="{CCC09D33-3C65-86F3-903A-D63E1C5E4F97}"/>
              </a:ext>
            </a:extLst>
          </p:cNvPr>
          <p:cNvSpPr txBox="1"/>
          <p:nvPr/>
        </p:nvSpPr>
        <p:spPr>
          <a:xfrm>
            <a:off x="9294354" y="1464803"/>
            <a:ext cx="68809" cy="4667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1" i="0" u="none" strike="noStrike" kern="1200" cap="none" spc="0" normalizeH="0" baseline="0" noProof="0">
                <a:ln>
                  <a:noFill/>
                </a:ln>
                <a:solidFill>
                  <a:srgbClr val="E3EDF9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12%</a:t>
            </a:r>
          </a:p>
        </p:txBody>
      </p:sp>
      <p:sp>
        <p:nvSpPr>
          <p:cNvPr id="2341" name="m-d33_sunburst-out-4-1">
            <a:extLst>
              <a:ext uri="{FF2B5EF4-FFF2-40B4-BE49-F238E27FC236}">
                <a16:creationId xmlns:a16="http://schemas.microsoft.com/office/drawing/2014/main" id="{3BABAF89-3747-AF74-1086-099AE6B02613}"/>
              </a:ext>
            </a:extLst>
          </p:cNvPr>
          <p:cNvSpPr/>
          <p:nvPr/>
        </p:nvSpPr>
        <p:spPr>
          <a:xfrm>
            <a:off x="9042765" y="1176552"/>
            <a:ext cx="261636" cy="252278"/>
          </a:xfrm>
          <a:custGeom>
            <a:avLst/>
            <a:gdLst/>
            <a:ahLst/>
            <a:cxnLst/>
            <a:rect l="0" t="0" r="r" b="b"/>
            <a:pathLst>
              <a:path w="261636" h="252278">
                <a:moveTo>
                  <a:pt x="5477" y="112943"/>
                </a:moveTo>
                <a:cubicBezTo>
                  <a:pt x="60849" y="64111"/>
                  <a:pt x="124920" y="26265"/>
                  <a:pt x="194389" y="1183"/>
                </a:cubicBezTo>
                <a:quadBezTo>
                  <a:pt x="207788" y="-3453"/>
                  <a:pt x="212169" y="10073"/>
                </a:quadBezTo>
                <a:lnTo>
                  <a:pt x="260556" y="158917"/>
                </a:lnTo>
                <a:quadBezTo>
                  <a:pt x="264938" y="172442"/>
                  <a:pt x="251539" y="177205"/>
                </a:quadBezTo>
                <a:cubicBezTo>
                  <a:pt x="207978" y="193651"/>
                  <a:pt x="167592" y="217527"/>
                  <a:pt x="132159" y="247817"/>
                </a:cubicBezTo>
                <a:quadBezTo>
                  <a:pt x="121491" y="257215"/>
                  <a:pt x="111776" y="246864"/>
                </a:quadBezTo>
                <a:lnTo>
                  <a:pt x="4651" y="132818"/>
                </a:lnTo>
                <a:quadBezTo>
                  <a:pt x="-5064" y="122468"/>
                  <a:pt x="5477" y="112943"/>
                </a:quadBezTo>
                <a:close/>
              </a:path>
            </a:pathLst>
          </a:custGeom>
          <a:solidFill>
            <a:srgbClr val="E8946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42" name="m-d33_sunburst-outt-4-1">
            <a:extLst>
              <a:ext uri="{FF2B5EF4-FFF2-40B4-BE49-F238E27FC236}">
                <a16:creationId xmlns:a16="http://schemas.microsoft.com/office/drawing/2014/main" id="{F173D62E-1B7F-91E2-47A1-1FECEBACDB1B}"/>
              </a:ext>
            </a:extLst>
          </p:cNvPr>
          <p:cNvSpPr txBox="1"/>
          <p:nvPr/>
        </p:nvSpPr>
        <p:spPr>
          <a:xfrm>
            <a:off x="9157552" y="1282020"/>
            <a:ext cx="53873" cy="4667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7%</a:t>
            </a:r>
          </a:p>
        </p:txBody>
      </p:sp>
      <p:sp>
        <p:nvSpPr>
          <p:cNvPr id="2343" name="m-d33_sunburst-out-4-2">
            <a:extLst>
              <a:ext uri="{FF2B5EF4-FFF2-40B4-BE49-F238E27FC236}">
                <a16:creationId xmlns:a16="http://schemas.microsoft.com/office/drawing/2014/main" id="{A6939F73-C6CB-5703-F098-49BB691794CA}"/>
              </a:ext>
            </a:extLst>
          </p:cNvPr>
          <p:cNvSpPr/>
          <p:nvPr/>
        </p:nvSpPr>
        <p:spPr>
          <a:xfrm>
            <a:off x="9262352" y="1143318"/>
            <a:ext cx="169303" cy="199787"/>
          </a:xfrm>
          <a:custGeom>
            <a:avLst/>
            <a:gdLst/>
            <a:ahLst/>
            <a:cxnLst/>
            <a:rect l="0" t="0" r="r" b="b"/>
            <a:pathLst>
              <a:path w="169303" h="199787">
                <a:moveTo>
                  <a:pt x="10299" y="22923"/>
                </a:moveTo>
                <a:cubicBezTo>
                  <a:pt x="57416" y="9271"/>
                  <a:pt x="106057" y="1524"/>
                  <a:pt x="155079" y="0"/>
                </a:cubicBezTo>
                <a:quadBezTo>
                  <a:pt x="169303" y="-318"/>
                  <a:pt x="169303" y="13906"/>
                </a:quadBezTo>
                <a:lnTo>
                  <a:pt x="169303" y="170370"/>
                </a:lnTo>
                <a:quadBezTo>
                  <a:pt x="169303" y="184594"/>
                  <a:pt x="155079" y="185039"/>
                </a:quadBezTo>
                <a:cubicBezTo>
                  <a:pt x="125424" y="186372"/>
                  <a:pt x="96087" y="191071"/>
                  <a:pt x="67449" y="198882"/>
                </a:cubicBezTo>
                <a:quadBezTo>
                  <a:pt x="53796" y="202882"/>
                  <a:pt x="49415" y="189357"/>
                </a:quadBezTo>
                <a:lnTo>
                  <a:pt x="1091" y="40576"/>
                </a:lnTo>
                <a:quadBezTo>
                  <a:pt x="-3354" y="27051"/>
                  <a:pt x="10299" y="22923"/>
                </a:quadBezTo>
                <a:close/>
              </a:path>
            </a:pathLst>
          </a:custGeom>
          <a:solidFill>
            <a:srgbClr val="EEB09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44" name="m-d33_sunburst-core">
            <a:extLst>
              <a:ext uri="{FF2B5EF4-FFF2-40B4-BE49-F238E27FC236}">
                <a16:creationId xmlns:a16="http://schemas.microsoft.com/office/drawing/2014/main" id="{803E57E5-5B05-6FFB-326A-7DA4E0B7B899}"/>
              </a:ext>
            </a:extLst>
          </p:cNvPr>
          <p:cNvSpPr/>
          <p:nvPr/>
        </p:nvSpPr>
        <p:spPr>
          <a:xfrm>
            <a:off x="9261856" y="1555496"/>
            <a:ext cx="348488" cy="348488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45" name="m-d33_sunburst-core-v">
            <a:extLst>
              <a:ext uri="{FF2B5EF4-FFF2-40B4-BE49-F238E27FC236}">
                <a16:creationId xmlns:a16="http://schemas.microsoft.com/office/drawing/2014/main" id="{F3C5526E-C0A1-17A0-2BE2-ECF45C1F859F}"/>
              </a:ext>
            </a:extLst>
          </p:cNvPr>
          <p:cNvSpPr txBox="1"/>
          <p:nvPr/>
        </p:nvSpPr>
        <p:spPr>
          <a:xfrm>
            <a:off x="9353494" y="1632288"/>
            <a:ext cx="165212" cy="14312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64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12</a:t>
            </a:r>
          </a:p>
        </p:txBody>
      </p:sp>
      <p:sp>
        <p:nvSpPr>
          <p:cNvPr id="2346" name="m-d33_sunburst-core-l">
            <a:extLst>
              <a:ext uri="{FF2B5EF4-FFF2-40B4-BE49-F238E27FC236}">
                <a16:creationId xmlns:a16="http://schemas.microsoft.com/office/drawing/2014/main" id="{6F7D876C-E550-2A6F-CFA0-6C3ACA6B32C2}"/>
              </a:ext>
            </a:extLst>
          </p:cNvPr>
          <p:cNvSpPr txBox="1"/>
          <p:nvPr/>
        </p:nvSpPr>
        <p:spPr>
          <a:xfrm>
            <a:off x="9367202" y="1757255"/>
            <a:ext cx="137795" cy="4667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0" i="0" u="none" strike="noStrike" kern="1200" cap="none" spc="1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亿元营收</a:t>
            </a:r>
          </a:p>
        </p:txBody>
      </p:sp>
      <p:sp>
        <p:nvSpPr>
          <p:cNvPr id="2347" name="m-d33_sunburst-lg-1">
            <a:extLst>
              <a:ext uri="{FF2B5EF4-FFF2-40B4-BE49-F238E27FC236}">
                <a16:creationId xmlns:a16="http://schemas.microsoft.com/office/drawing/2014/main" id="{5484884B-CBED-BD05-1FE7-5CD8BF92366D}"/>
              </a:ext>
            </a:extLst>
          </p:cNvPr>
          <p:cNvSpPr/>
          <p:nvPr/>
        </p:nvSpPr>
        <p:spPr>
          <a:xfrm>
            <a:off x="10289540" y="1118108"/>
            <a:ext cx="1049020" cy="284480"/>
          </a:xfrm>
          <a:custGeom>
            <a:avLst/>
            <a:gdLst/>
            <a:ahLst/>
            <a:cxnLst/>
            <a:rect l="0" t="0" r="r" b="b"/>
            <a:pathLst>
              <a:path w="1049020" h="284480">
                <a:moveTo>
                  <a:pt x="32004" y="0"/>
                </a:moveTo>
                <a:lnTo>
                  <a:pt x="1017016" y="0"/>
                </a:lnTo>
                <a:cubicBezTo>
                  <a:pt x="1034669" y="0"/>
                  <a:pt x="1049020" y="14351"/>
                  <a:pt x="1049020" y="32004"/>
                </a:cubicBezTo>
                <a:lnTo>
                  <a:pt x="1049020" y="252476"/>
                </a:lnTo>
                <a:cubicBezTo>
                  <a:pt x="1049020" y="270129"/>
                  <a:pt x="1034669" y="284480"/>
                  <a:pt x="1017016" y="284480"/>
                </a:cubicBezTo>
                <a:lnTo>
                  <a:pt x="32004" y="284480"/>
                </a:lnTo>
                <a:cubicBezTo>
                  <a:pt x="14351" y="284480"/>
                  <a:pt x="0" y="270129"/>
                  <a:pt x="0" y="252476"/>
                </a:cubicBezTo>
                <a:lnTo>
                  <a:pt x="0" y="32004"/>
                </a:lnTo>
                <a:cubicBezTo>
                  <a:pt x="0" y="14351"/>
                  <a:pt x="14351" y="0"/>
                  <a:pt x="3200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48" name="m-d33_sunburst-lgb-1">
            <a:extLst>
              <a:ext uri="{FF2B5EF4-FFF2-40B4-BE49-F238E27FC236}">
                <a16:creationId xmlns:a16="http://schemas.microsoft.com/office/drawing/2014/main" id="{59334425-22A5-5397-F6B5-045A5DF7926C}"/>
              </a:ext>
            </a:extLst>
          </p:cNvPr>
          <p:cNvSpPr/>
          <p:nvPr/>
        </p:nvSpPr>
        <p:spPr>
          <a:xfrm>
            <a:off x="10289540" y="1118108"/>
            <a:ext cx="10668" cy="284480"/>
          </a:xfrm>
          <a:custGeom>
            <a:avLst/>
            <a:gdLst/>
            <a:ahLst/>
            <a:cxnLst/>
            <a:rect l="0" t="0" r="r" b="b"/>
            <a:pathLst>
              <a:path w="10668" h="284480">
                <a:moveTo>
                  <a:pt x="5334" y="0"/>
                </a:moveTo>
                <a:lnTo>
                  <a:pt x="5334" y="0"/>
                </a:lnTo>
                <a:cubicBezTo>
                  <a:pt x="8255" y="0"/>
                  <a:pt x="10668" y="2413"/>
                  <a:pt x="10668" y="5334"/>
                </a:cubicBezTo>
                <a:lnTo>
                  <a:pt x="10668" y="279146"/>
                </a:lnTo>
                <a:cubicBezTo>
                  <a:pt x="10668" y="282067"/>
                  <a:pt x="8255" y="284480"/>
                  <a:pt x="5334" y="284480"/>
                </a:cubicBezTo>
                <a:lnTo>
                  <a:pt x="5334" y="284480"/>
                </a:lnTo>
                <a:cubicBezTo>
                  <a:pt x="2413" y="284480"/>
                  <a:pt x="0" y="282067"/>
                  <a:pt x="0" y="279146"/>
                </a:cubicBezTo>
                <a:lnTo>
                  <a:pt x="0" y="5334"/>
                </a:lnTo>
                <a:cubicBezTo>
                  <a:pt x="0" y="2413"/>
                  <a:pt x="2413" y="0"/>
                  <a:pt x="5334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49" name="m-d33_sunburst-lgn-1">
            <a:extLst>
              <a:ext uri="{FF2B5EF4-FFF2-40B4-BE49-F238E27FC236}">
                <a16:creationId xmlns:a16="http://schemas.microsoft.com/office/drawing/2014/main" id="{D71F1FF9-BE7B-19AE-CF95-55A672B95D25}"/>
              </a:ext>
            </a:extLst>
          </p:cNvPr>
          <p:cNvSpPr txBox="1"/>
          <p:nvPr/>
        </p:nvSpPr>
        <p:spPr>
          <a:xfrm>
            <a:off x="10335057" y="1134643"/>
            <a:ext cx="184912" cy="62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80" b="1" i="0" u="none" strike="noStrike" kern="1200" cap="none" spc="2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企业软件</a:t>
            </a:r>
          </a:p>
        </p:txBody>
      </p:sp>
      <p:sp>
        <p:nvSpPr>
          <p:cNvPr id="2350" name="m-d33_sunburst-lgv-1">
            <a:extLst>
              <a:ext uri="{FF2B5EF4-FFF2-40B4-BE49-F238E27FC236}">
                <a16:creationId xmlns:a16="http://schemas.microsoft.com/office/drawing/2014/main" id="{9C902224-0BB3-29C4-E1C7-E4AD857E8439}"/>
              </a:ext>
            </a:extLst>
          </p:cNvPr>
          <p:cNvSpPr txBox="1"/>
          <p:nvPr/>
        </p:nvSpPr>
        <p:spPr>
          <a:xfrm>
            <a:off x="11038825" y="1141231"/>
            <a:ext cx="250022" cy="5289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40" b="1" i="0" u="none" strike="noStrike" kern="1200" cap="none" spc="4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42% · 5.04 亿</a:t>
            </a:r>
          </a:p>
        </p:txBody>
      </p:sp>
      <p:sp>
        <p:nvSpPr>
          <p:cNvPr id="2351" name="m-d33_sunburst-lgc-1-1">
            <a:extLst>
              <a:ext uri="{FF2B5EF4-FFF2-40B4-BE49-F238E27FC236}">
                <a16:creationId xmlns:a16="http://schemas.microsoft.com/office/drawing/2014/main" id="{D1E30FBB-10CE-EDAB-9218-7EF81373573B}"/>
              </a:ext>
            </a:extLst>
          </p:cNvPr>
          <p:cNvSpPr/>
          <p:nvPr/>
        </p:nvSpPr>
        <p:spPr>
          <a:xfrm>
            <a:off x="10342880" y="1215898"/>
            <a:ext cx="28448" cy="28448"/>
          </a:xfrm>
          <a:custGeom>
            <a:avLst/>
            <a:gdLst/>
            <a:ahLst/>
            <a:cxnLst/>
            <a:rect l="0" t="0" r="r" b="b"/>
            <a:pathLst>
              <a:path w="28448" h="28448">
                <a:moveTo>
                  <a:pt x="7112" y="0"/>
                </a:moveTo>
                <a:lnTo>
                  <a:pt x="21336" y="0"/>
                </a:lnTo>
                <a:cubicBezTo>
                  <a:pt x="25273" y="0"/>
                  <a:pt x="28448" y="3175"/>
                  <a:pt x="28448" y="7112"/>
                </a:cubicBezTo>
                <a:lnTo>
                  <a:pt x="28448" y="21336"/>
                </a:lnTo>
                <a:cubicBezTo>
                  <a:pt x="28448" y="25273"/>
                  <a:pt x="25273" y="28448"/>
                  <a:pt x="21336" y="28448"/>
                </a:cubicBezTo>
                <a:lnTo>
                  <a:pt x="7112" y="28448"/>
                </a:lnTo>
                <a:cubicBezTo>
                  <a:pt x="3175" y="28448"/>
                  <a:pt x="0" y="25273"/>
                  <a:pt x="0" y="21336"/>
                </a:cubicBezTo>
                <a:lnTo>
                  <a:pt x="0" y="7112"/>
                </a:lnTo>
                <a:cubicBezTo>
                  <a:pt x="0" y="3175"/>
                  <a:pt x="3175" y="0"/>
                  <a:pt x="7112" y="0"/>
                </a:cubicBezTo>
                <a:close/>
              </a:path>
            </a:pathLst>
          </a:custGeom>
          <a:solidFill>
            <a:srgbClr val="486EA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52" name="m-d33_sunburst-lgs-1-1">
            <a:extLst>
              <a:ext uri="{FF2B5EF4-FFF2-40B4-BE49-F238E27FC236}">
                <a16:creationId xmlns:a16="http://schemas.microsoft.com/office/drawing/2014/main" id="{D057377C-A592-B82C-0B17-B3AFCF74EFF3}"/>
              </a:ext>
            </a:extLst>
          </p:cNvPr>
          <p:cNvSpPr txBox="1"/>
          <p:nvPr/>
        </p:nvSpPr>
        <p:spPr>
          <a:xfrm>
            <a:off x="10385694" y="1203879"/>
            <a:ext cx="75529" cy="4978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0" i="0" u="none" strike="noStrike" kern="1200" cap="none" spc="6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ERP</a:t>
            </a:r>
          </a:p>
        </p:txBody>
      </p:sp>
      <p:sp>
        <p:nvSpPr>
          <p:cNvPr id="2353" name="m-d33_sunburst-lgbar-1-1">
            <a:extLst>
              <a:ext uri="{FF2B5EF4-FFF2-40B4-BE49-F238E27FC236}">
                <a16:creationId xmlns:a16="http://schemas.microsoft.com/office/drawing/2014/main" id="{D00CFA44-0AED-C553-3408-072001EE83B3}"/>
              </a:ext>
            </a:extLst>
          </p:cNvPr>
          <p:cNvSpPr/>
          <p:nvPr/>
        </p:nvSpPr>
        <p:spPr>
          <a:xfrm>
            <a:off x="10645140" y="1219454"/>
            <a:ext cx="462280" cy="21336"/>
          </a:xfrm>
          <a:custGeom>
            <a:avLst/>
            <a:gdLst/>
            <a:ahLst/>
            <a:cxnLst/>
            <a:rect l="0" t="0" r="r" b="b"/>
            <a:pathLst>
              <a:path w="462280" h="21336">
                <a:moveTo>
                  <a:pt x="10668" y="0"/>
                </a:moveTo>
                <a:lnTo>
                  <a:pt x="451612" y="0"/>
                </a:lnTo>
                <a:cubicBezTo>
                  <a:pt x="457517" y="0"/>
                  <a:pt x="462280" y="4762"/>
                  <a:pt x="462280" y="10668"/>
                </a:cubicBezTo>
                <a:lnTo>
                  <a:pt x="462280" y="10668"/>
                </a:lnTo>
                <a:cubicBezTo>
                  <a:pt x="462280" y="16574"/>
                  <a:pt x="457517" y="21336"/>
                  <a:pt x="451612" y="21336"/>
                </a:cubicBezTo>
                <a:lnTo>
                  <a:pt x="10668" y="21336"/>
                </a:lnTo>
                <a:cubicBezTo>
                  <a:pt x="4762" y="21336"/>
                  <a:pt x="0" y="16574"/>
                  <a:pt x="0" y="10668"/>
                </a:cubicBezTo>
                <a:lnTo>
                  <a:pt x="0" y="10668"/>
                </a:lnTo>
                <a:cubicBezTo>
                  <a:pt x="0" y="4762"/>
                  <a:pt x="4762" y="0"/>
                  <a:pt x="10668" y="0"/>
                </a:cubicBezTo>
                <a:close/>
              </a:path>
            </a:pathLst>
          </a:custGeom>
          <a:solidFill>
            <a:srgbClr val="486EA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54" name="m-d33_sunburst-lgp-1-1">
            <a:extLst>
              <a:ext uri="{FF2B5EF4-FFF2-40B4-BE49-F238E27FC236}">
                <a16:creationId xmlns:a16="http://schemas.microsoft.com/office/drawing/2014/main" id="{63458BA1-8DDE-40B9-64C7-853B7FE0D679}"/>
              </a:ext>
            </a:extLst>
          </p:cNvPr>
          <p:cNvSpPr txBox="1"/>
          <p:nvPr/>
        </p:nvSpPr>
        <p:spPr>
          <a:xfrm>
            <a:off x="11215238" y="1203879"/>
            <a:ext cx="73396" cy="4978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18%</a:t>
            </a:r>
          </a:p>
        </p:txBody>
      </p:sp>
      <p:sp>
        <p:nvSpPr>
          <p:cNvPr id="2355" name="m-d33_sunburst-lgc-1-2">
            <a:extLst>
              <a:ext uri="{FF2B5EF4-FFF2-40B4-BE49-F238E27FC236}">
                <a16:creationId xmlns:a16="http://schemas.microsoft.com/office/drawing/2014/main" id="{320DC843-C2CD-D396-E56C-3716EAA1F667}"/>
              </a:ext>
            </a:extLst>
          </p:cNvPr>
          <p:cNvSpPr/>
          <p:nvPr/>
        </p:nvSpPr>
        <p:spPr>
          <a:xfrm>
            <a:off x="10342880" y="1279906"/>
            <a:ext cx="28448" cy="28448"/>
          </a:xfrm>
          <a:custGeom>
            <a:avLst/>
            <a:gdLst/>
            <a:ahLst/>
            <a:cxnLst/>
            <a:rect l="0" t="0" r="r" b="b"/>
            <a:pathLst>
              <a:path w="28448" h="28448">
                <a:moveTo>
                  <a:pt x="7112" y="0"/>
                </a:moveTo>
                <a:lnTo>
                  <a:pt x="21336" y="0"/>
                </a:lnTo>
                <a:cubicBezTo>
                  <a:pt x="25273" y="0"/>
                  <a:pt x="28448" y="3175"/>
                  <a:pt x="28448" y="7112"/>
                </a:cubicBezTo>
                <a:lnTo>
                  <a:pt x="28448" y="21336"/>
                </a:lnTo>
                <a:cubicBezTo>
                  <a:pt x="28448" y="25273"/>
                  <a:pt x="25273" y="28448"/>
                  <a:pt x="21336" y="28448"/>
                </a:cubicBezTo>
                <a:lnTo>
                  <a:pt x="7112" y="28448"/>
                </a:lnTo>
                <a:cubicBezTo>
                  <a:pt x="3175" y="28448"/>
                  <a:pt x="0" y="25273"/>
                  <a:pt x="0" y="21336"/>
                </a:cubicBezTo>
                <a:lnTo>
                  <a:pt x="0" y="7112"/>
                </a:lnTo>
                <a:cubicBezTo>
                  <a:pt x="0" y="3175"/>
                  <a:pt x="3175" y="0"/>
                  <a:pt x="7112" y="0"/>
                </a:cubicBezTo>
                <a:close/>
              </a:path>
            </a:pathLst>
          </a:custGeom>
          <a:solidFill>
            <a:srgbClr val="7995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56" name="m-d33_sunburst-lgs-1-2">
            <a:extLst>
              <a:ext uri="{FF2B5EF4-FFF2-40B4-BE49-F238E27FC236}">
                <a16:creationId xmlns:a16="http://schemas.microsoft.com/office/drawing/2014/main" id="{7C05CDED-8FD5-2015-B468-874803DC473E}"/>
              </a:ext>
            </a:extLst>
          </p:cNvPr>
          <p:cNvSpPr txBox="1"/>
          <p:nvPr/>
        </p:nvSpPr>
        <p:spPr>
          <a:xfrm>
            <a:off x="10385694" y="1267887"/>
            <a:ext cx="75529" cy="4978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0" i="0" u="none" strike="noStrike" kern="1200" cap="none" spc="6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CRM</a:t>
            </a:r>
          </a:p>
        </p:txBody>
      </p:sp>
      <p:sp>
        <p:nvSpPr>
          <p:cNvPr id="2357" name="m-d33_sunburst-lgbar-1-2">
            <a:extLst>
              <a:ext uri="{FF2B5EF4-FFF2-40B4-BE49-F238E27FC236}">
                <a16:creationId xmlns:a16="http://schemas.microsoft.com/office/drawing/2014/main" id="{C9C9C6A2-0EF1-FECB-CD53-E4343601377A}"/>
              </a:ext>
            </a:extLst>
          </p:cNvPr>
          <p:cNvSpPr/>
          <p:nvPr/>
        </p:nvSpPr>
        <p:spPr>
          <a:xfrm>
            <a:off x="10645140" y="1283462"/>
            <a:ext cx="359537" cy="21336"/>
          </a:xfrm>
          <a:custGeom>
            <a:avLst/>
            <a:gdLst/>
            <a:ahLst/>
            <a:cxnLst/>
            <a:rect l="0" t="0" r="r" b="b"/>
            <a:pathLst>
              <a:path w="359537" h="21336">
                <a:moveTo>
                  <a:pt x="10668" y="0"/>
                </a:moveTo>
                <a:lnTo>
                  <a:pt x="348869" y="0"/>
                </a:lnTo>
                <a:cubicBezTo>
                  <a:pt x="354774" y="0"/>
                  <a:pt x="359537" y="4762"/>
                  <a:pt x="359537" y="10668"/>
                </a:cubicBezTo>
                <a:lnTo>
                  <a:pt x="359537" y="10668"/>
                </a:lnTo>
                <a:cubicBezTo>
                  <a:pt x="359537" y="16573"/>
                  <a:pt x="354774" y="21336"/>
                  <a:pt x="348869" y="21336"/>
                </a:cubicBezTo>
                <a:lnTo>
                  <a:pt x="10668" y="21336"/>
                </a:lnTo>
                <a:cubicBezTo>
                  <a:pt x="4762" y="21336"/>
                  <a:pt x="0" y="16573"/>
                  <a:pt x="0" y="10668"/>
                </a:cubicBezTo>
                <a:lnTo>
                  <a:pt x="0" y="10668"/>
                </a:lnTo>
                <a:cubicBezTo>
                  <a:pt x="0" y="4762"/>
                  <a:pt x="4762" y="0"/>
                  <a:pt x="10668" y="0"/>
                </a:cubicBezTo>
                <a:close/>
              </a:path>
            </a:pathLst>
          </a:custGeom>
          <a:solidFill>
            <a:srgbClr val="7995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58" name="m-d33_sunburst-lgp-1-2">
            <a:extLst>
              <a:ext uri="{FF2B5EF4-FFF2-40B4-BE49-F238E27FC236}">
                <a16:creationId xmlns:a16="http://schemas.microsoft.com/office/drawing/2014/main" id="{3BB32AAA-4843-B7F1-A83B-665042417CC3}"/>
              </a:ext>
            </a:extLst>
          </p:cNvPr>
          <p:cNvSpPr txBox="1"/>
          <p:nvPr/>
        </p:nvSpPr>
        <p:spPr>
          <a:xfrm>
            <a:off x="11215238" y="1267887"/>
            <a:ext cx="73396" cy="4978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14%</a:t>
            </a:r>
          </a:p>
        </p:txBody>
      </p:sp>
      <p:sp>
        <p:nvSpPr>
          <p:cNvPr id="2359" name="m-d33_sunburst-lgc-1-3">
            <a:extLst>
              <a:ext uri="{FF2B5EF4-FFF2-40B4-BE49-F238E27FC236}">
                <a16:creationId xmlns:a16="http://schemas.microsoft.com/office/drawing/2014/main" id="{99D74CEA-86FB-F4B6-5AB7-2034E51D1AB4}"/>
              </a:ext>
            </a:extLst>
          </p:cNvPr>
          <p:cNvSpPr/>
          <p:nvPr/>
        </p:nvSpPr>
        <p:spPr>
          <a:xfrm>
            <a:off x="10342880" y="1343914"/>
            <a:ext cx="28448" cy="28448"/>
          </a:xfrm>
          <a:custGeom>
            <a:avLst/>
            <a:gdLst/>
            <a:ahLst/>
            <a:cxnLst/>
            <a:rect l="0" t="0" r="r" b="b"/>
            <a:pathLst>
              <a:path w="28448" h="28448">
                <a:moveTo>
                  <a:pt x="7112" y="0"/>
                </a:moveTo>
                <a:lnTo>
                  <a:pt x="21336" y="0"/>
                </a:lnTo>
                <a:cubicBezTo>
                  <a:pt x="25273" y="0"/>
                  <a:pt x="28448" y="3175"/>
                  <a:pt x="28448" y="7112"/>
                </a:cubicBezTo>
                <a:lnTo>
                  <a:pt x="28448" y="21336"/>
                </a:lnTo>
                <a:cubicBezTo>
                  <a:pt x="28448" y="25273"/>
                  <a:pt x="25273" y="28448"/>
                  <a:pt x="21336" y="28448"/>
                </a:cubicBezTo>
                <a:lnTo>
                  <a:pt x="7112" y="28448"/>
                </a:lnTo>
                <a:cubicBezTo>
                  <a:pt x="3175" y="28448"/>
                  <a:pt x="0" y="25273"/>
                  <a:pt x="0" y="21336"/>
                </a:cubicBezTo>
                <a:lnTo>
                  <a:pt x="0" y="7112"/>
                </a:lnTo>
                <a:cubicBezTo>
                  <a:pt x="0" y="3175"/>
                  <a:pt x="3175" y="0"/>
                  <a:pt x="7112" y="0"/>
                </a:cubicBezTo>
                <a:close/>
              </a:path>
            </a:pathLst>
          </a:custGeom>
          <a:solidFill>
            <a:srgbClr val="AABBD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60" name="m-d33_sunburst-lgs-1-3">
            <a:extLst>
              <a:ext uri="{FF2B5EF4-FFF2-40B4-BE49-F238E27FC236}">
                <a16:creationId xmlns:a16="http://schemas.microsoft.com/office/drawing/2014/main" id="{CBD94BFF-7766-4444-C291-6DDCE55E61F1}"/>
              </a:ext>
            </a:extLst>
          </p:cNvPr>
          <p:cNvSpPr txBox="1"/>
          <p:nvPr/>
        </p:nvSpPr>
        <p:spPr>
          <a:xfrm>
            <a:off x="10385694" y="1331895"/>
            <a:ext cx="58887" cy="4978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0" i="0" u="none" strike="noStrike" kern="1200" cap="none" spc="6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OA</a:t>
            </a:r>
          </a:p>
        </p:txBody>
      </p:sp>
      <p:sp>
        <p:nvSpPr>
          <p:cNvPr id="2361" name="m-d33_sunburst-lgbar-1-3">
            <a:extLst>
              <a:ext uri="{FF2B5EF4-FFF2-40B4-BE49-F238E27FC236}">
                <a16:creationId xmlns:a16="http://schemas.microsoft.com/office/drawing/2014/main" id="{A3F3845A-1C85-0AC2-36C1-33D82E7AEF5E}"/>
              </a:ext>
            </a:extLst>
          </p:cNvPr>
          <p:cNvSpPr/>
          <p:nvPr/>
        </p:nvSpPr>
        <p:spPr>
          <a:xfrm>
            <a:off x="10645140" y="1347470"/>
            <a:ext cx="256794" cy="21336"/>
          </a:xfrm>
          <a:custGeom>
            <a:avLst/>
            <a:gdLst/>
            <a:ahLst/>
            <a:cxnLst/>
            <a:rect l="0" t="0" r="r" b="b"/>
            <a:pathLst>
              <a:path w="256794" h="21336">
                <a:moveTo>
                  <a:pt x="10668" y="0"/>
                </a:moveTo>
                <a:lnTo>
                  <a:pt x="246126" y="0"/>
                </a:lnTo>
                <a:cubicBezTo>
                  <a:pt x="252031" y="0"/>
                  <a:pt x="256794" y="4762"/>
                  <a:pt x="256794" y="10668"/>
                </a:cubicBezTo>
                <a:lnTo>
                  <a:pt x="256794" y="10668"/>
                </a:lnTo>
                <a:cubicBezTo>
                  <a:pt x="256794" y="16574"/>
                  <a:pt x="252031" y="21336"/>
                  <a:pt x="246126" y="21336"/>
                </a:cubicBezTo>
                <a:lnTo>
                  <a:pt x="10668" y="21336"/>
                </a:lnTo>
                <a:cubicBezTo>
                  <a:pt x="4762" y="21336"/>
                  <a:pt x="0" y="16574"/>
                  <a:pt x="0" y="10668"/>
                </a:cubicBezTo>
                <a:lnTo>
                  <a:pt x="0" y="10668"/>
                </a:lnTo>
                <a:cubicBezTo>
                  <a:pt x="0" y="4762"/>
                  <a:pt x="4762" y="0"/>
                  <a:pt x="10668" y="0"/>
                </a:cubicBezTo>
                <a:close/>
              </a:path>
            </a:pathLst>
          </a:custGeom>
          <a:solidFill>
            <a:srgbClr val="AABBD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62" name="m-d33_sunburst-lgp-1-3">
            <a:extLst>
              <a:ext uri="{FF2B5EF4-FFF2-40B4-BE49-F238E27FC236}">
                <a16:creationId xmlns:a16="http://schemas.microsoft.com/office/drawing/2014/main" id="{7F9681D8-2454-DDCF-7830-7CF402A00DAB}"/>
              </a:ext>
            </a:extLst>
          </p:cNvPr>
          <p:cNvSpPr txBox="1"/>
          <p:nvPr/>
        </p:nvSpPr>
        <p:spPr>
          <a:xfrm>
            <a:off x="11215238" y="1331895"/>
            <a:ext cx="73396" cy="4978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10%</a:t>
            </a:r>
          </a:p>
        </p:txBody>
      </p:sp>
      <p:sp>
        <p:nvSpPr>
          <p:cNvPr id="2363" name="m-d33_sunburst-lg-2">
            <a:extLst>
              <a:ext uri="{FF2B5EF4-FFF2-40B4-BE49-F238E27FC236}">
                <a16:creationId xmlns:a16="http://schemas.microsoft.com/office/drawing/2014/main" id="{C3F1FA3E-C47F-E513-8DDA-10869307CB4E}"/>
              </a:ext>
            </a:extLst>
          </p:cNvPr>
          <p:cNvSpPr/>
          <p:nvPr/>
        </p:nvSpPr>
        <p:spPr>
          <a:xfrm>
            <a:off x="10289540" y="1434592"/>
            <a:ext cx="1049020" cy="284480"/>
          </a:xfrm>
          <a:custGeom>
            <a:avLst/>
            <a:gdLst/>
            <a:ahLst/>
            <a:cxnLst/>
            <a:rect l="0" t="0" r="r" b="b"/>
            <a:pathLst>
              <a:path w="1049020" h="284480">
                <a:moveTo>
                  <a:pt x="32004" y="0"/>
                </a:moveTo>
                <a:lnTo>
                  <a:pt x="1017016" y="0"/>
                </a:lnTo>
                <a:cubicBezTo>
                  <a:pt x="1034669" y="0"/>
                  <a:pt x="1049020" y="14351"/>
                  <a:pt x="1049020" y="32004"/>
                </a:cubicBezTo>
                <a:lnTo>
                  <a:pt x="1049020" y="252476"/>
                </a:lnTo>
                <a:cubicBezTo>
                  <a:pt x="1049020" y="270129"/>
                  <a:pt x="1034669" y="284480"/>
                  <a:pt x="1017016" y="284480"/>
                </a:cubicBezTo>
                <a:lnTo>
                  <a:pt x="32004" y="284480"/>
                </a:lnTo>
                <a:cubicBezTo>
                  <a:pt x="14351" y="284480"/>
                  <a:pt x="0" y="270129"/>
                  <a:pt x="0" y="252476"/>
                </a:cubicBezTo>
                <a:lnTo>
                  <a:pt x="0" y="32004"/>
                </a:lnTo>
                <a:cubicBezTo>
                  <a:pt x="0" y="14351"/>
                  <a:pt x="14351" y="0"/>
                  <a:pt x="3200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64" name="m-d33_sunburst-lgb-2">
            <a:extLst>
              <a:ext uri="{FF2B5EF4-FFF2-40B4-BE49-F238E27FC236}">
                <a16:creationId xmlns:a16="http://schemas.microsoft.com/office/drawing/2014/main" id="{32B27FCD-33A4-0AF0-025E-E142A9FF4353}"/>
              </a:ext>
            </a:extLst>
          </p:cNvPr>
          <p:cNvSpPr/>
          <p:nvPr/>
        </p:nvSpPr>
        <p:spPr>
          <a:xfrm>
            <a:off x="10289540" y="1434592"/>
            <a:ext cx="10668" cy="284480"/>
          </a:xfrm>
          <a:custGeom>
            <a:avLst/>
            <a:gdLst/>
            <a:ahLst/>
            <a:cxnLst/>
            <a:rect l="0" t="0" r="r" b="b"/>
            <a:pathLst>
              <a:path w="10668" h="284480">
                <a:moveTo>
                  <a:pt x="5334" y="0"/>
                </a:moveTo>
                <a:lnTo>
                  <a:pt x="5334" y="0"/>
                </a:lnTo>
                <a:cubicBezTo>
                  <a:pt x="8255" y="0"/>
                  <a:pt x="10668" y="2413"/>
                  <a:pt x="10668" y="5334"/>
                </a:cubicBezTo>
                <a:lnTo>
                  <a:pt x="10668" y="279146"/>
                </a:lnTo>
                <a:cubicBezTo>
                  <a:pt x="10668" y="282067"/>
                  <a:pt x="8255" y="284480"/>
                  <a:pt x="5334" y="284480"/>
                </a:cubicBezTo>
                <a:lnTo>
                  <a:pt x="5334" y="284480"/>
                </a:lnTo>
                <a:cubicBezTo>
                  <a:pt x="2413" y="284480"/>
                  <a:pt x="0" y="282067"/>
                  <a:pt x="0" y="279146"/>
                </a:cubicBezTo>
                <a:lnTo>
                  <a:pt x="0" y="5334"/>
                </a:lnTo>
                <a:cubicBezTo>
                  <a:pt x="0" y="2413"/>
                  <a:pt x="2413" y="0"/>
                  <a:pt x="5334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65" name="m-d33_sunburst-lgn-2">
            <a:extLst>
              <a:ext uri="{FF2B5EF4-FFF2-40B4-BE49-F238E27FC236}">
                <a16:creationId xmlns:a16="http://schemas.microsoft.com/office/drawing/2014/main" id="{731B8A97-0A99-08DC-079C-890764AD9002}"/>
              </a:ext>
            </a:extLst>
          </p:cNvPr>
          <p:cNvSpPr txBox="1"/>
          <p:nvPr/>
        </p:nvSpPr>
        <p:spPr>
          <a:xfrm>
            <a:off x="10335057" y="1451127"/>
            <a:ext cx="146685" cy="62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80" b="1" i="0" u="none" strike="noStrike" kern="1200" cap="none" spc="2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云服务</a:t>
            </a:r>
          </a:p>
        </p:txBody>
      </p:sp>
      <p:sp>
        <p:nvSpPr>
          <p:cNvPr id="2366" name="m-d33_sunburst-lgv-2">
            <a:extLst>
              <a:ext uri="{FF2B5EF4-FFF2-40B4-BE49-F238E27FC236}">
                <a16:creationId xmlns:a16="http://schemas.microsoft.com/office/drawing/2014/main" id="{7ABBB98E-F1E8-2CAB-7A72-2FC2B49DD641}"/>
              </a:ext>
            </a:extLst>
          </p:cNvPr>
          <p:cNvSpPr txBox="1"/>
          <p:nvPr/>
        </p:nvSpPr>
        <p:spPr>
          <a:xfrm>
            <a:off x="11038825" y="1457715"/>
            <a:ext cx="250022" cy="5289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40" b="1" i="0" u="none" strike="noStrike" kern="1200" cap="none" spc="4" normalizeH="0" baseline="0" noProof="0">
                <a:ln>
                  <a:noFill/>
                </a:ln>
                <a:solidFill>
                  <a:srgbClr val="2468B6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28% · 3.36 亿</a:t>
            </a:r>
          </a:p>
        </p:txBody>
      </p:sp>
      <p:sp>
        <p:nvSpPr>
          <p:cNvPr id="2367" name="m-d33_sunburst-lgc-2-1">
            <a:extLst>
              <a:ext uri="{FF2B5EF4-FFF2-40B4-BE49-F238E27FC236}">
                <a16:creationId xmlns:a16="http://schemas.microsoft.com/office/drawing/2014/main" id="{6452D779-4B6C-85A4-1E51-BE544EAA7613}"/>
              </a:ext>
            </a:extLst>
          </p:cNvPr>
          <p:cNvSpPr/>
          <p:nvPr/>
        </p:nvSpPr>
        <p:spPr>
          <a:xfrm>
            <a:off x="10342880" y="1532382"/>
            <a:ext cx="28448" cy="28448"/>
          </a:xfrm>
          <a:custGeom>
            <a:avLst/>
            <a:gdLst/>
            <a:ahLst/>
            <a:cxnLst/>
            <a:rect l="0" t="0" r="r" b="b"/>
            <a:pathLst>
              <a:path w="28448" h="28448">
                <a:moveTo>
                  <a:pt x="7112" y="0"/>
                </a:moveTo>
                <a:lnTo>
                  <a:pt x="21336" y="0"/>
                </a:lnTo>
                <a:cubicBezTo>
                  <a:pt x="25273" y="0"/>
                  <a:pt x="28448" y="3175"/>
                  <a:pt x="28448" y="7112"/>
                </a:cubicBezTo>
                <a:lnTo>
                  <a:pt x="28448" y="21336"/>
                </a:lnTo>
                <a:cubicBezTo>
                  <a:pt x="28448" y="25273"/>
                  <a:pt x="25273" y="28448"/>
                  <a:pt x="21336" y="28448"/>
                </a:cubicBezTo>
                <a:lnTo>
                  <a:pt x="7112" y="28448"/>
                </a:lnTo>
                <a:cubicBezTo>
                  <a:pt x="3175" y="28448"/>
                  <a:pt x="0" y="25273"/>
                  <a:pt x="0" y="21336"/>
                </a:cubicBezTo>
                <a:lnTo>
                  <a:pt x="0" y="7112"/>
                </a:lnTo>
                <a:cubicBezTo>
                  <a:pt x="0" y="3175"/>
                  <a:pt x="3175" y="0"/>
                  <a:pt x="7112" y="0"/>
                </a:cubicBezTo>
                <a:close/>
              </a:path>
            </a:pathLst>
          </a:custGeom>
          <a:solidFill>
            <a:srgbClr val="5B8EC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68" name="m-d33_sunburst-lgs-2-1">
            <a:extLst>
              <a:ext uri="{FF2B5EF4-FFF2-40B4-BE49-F238E27FC236}">
                <a16:creationId xmlns:a16="http://schemas.microsoft.com/office/drawing/2014/main" id="{9333C34E-4513-5A4E-D2A7-FDB6E99389A2}"/>
              </a:ext>
            </a:extLst>
          </p:cNvPr>
          <p:cNvSpPr txBox="1"/>
          <p:nvPr/>
        </p:nvSpPr>
        <p:spPr>
          <a:xfrm>
            <a:off x="10385694" y="1520363"/>
            <a:ext cx="92172" cy="4978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0" i="0" u="none" strike="noStrike" kern="1200" cap="none" spc="6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IaaS</a:t>
            </a:r>
          </a:p>
        </p:txBody>
      </p:sp>
      <p:sp>
        <p:nvSpPr>
          <p:cNvPr id="2369" name="m-d33_sunburst-lgbar-2-1">
            <a:extLst>
              <a:ext uri="{FF2B5EF4-FFF2-40B4-BE49-F238E27FC236}">
                <a16:creationId xmlns:a16="http://schemas.microsoft.com/office/drawing/2014/main" id="{68907DD3-1130-011B-4210-7003E00E0488}"/>
              </a:ext>
            </a:extLst>
          </p:cNvPr>
          <p:cNvSpPr/>
          <p:nvPr/>
        </p:nvSpPr>
        <p:spPr>
          <a:xfrm>
            <a:off x="10645140" y="1535938"/>
            <a:ext cx="308165" cy="21336"/>
          </a:xfrm>
          <a:custGeom>
            <a:avLst/>
            <a:gdLst/>
            <a:ahLst/>
            <a:cxnLst/>
            <a:rect l="0" t="0" r="r" b="b"/>
            <a:pathLst>
              <a:path w="308165" h="21336">
                <a:moveTo>
                  <a:pt x="10668" y="0"/>
                </a:moveTo>
                <a:lnTo>
                  <a:pt x="297497" y="0"/>
                </a:lnTo>
                <a:cubicBezTo>
                  <a:pt x="303403" y="0"/>
                  <a:pt x="308165" y="4762"/>
                  <a:pt x="308165" y="10668"/>
                </a:cubicBezTo>
                <a:lnTo>
                  <a:pt x="308165" y="10668"/>
                </a:lnTo>
                <a:cubicBezTo>
                  <a:pt x="308165" y="16574"/>
                  <a:pt x="303403" y="21336"/>
                  <a:pt x="297497" y="21336"/>
                </a:cubicBezTo>
                <a:lnTo>
                  <a:pt x="10668" y="21336"/>
                </a:lnTo>
                <a:cubicBezTo>
                  <a:pt x="4762" y="21336"/>
                  <a:pt x="0" y="16574"/>
                  <a:pt x="0" y="10668"/>
                </a:cubicBezTo>
                <a:lnTo>
                  <a:pt x="0" y="10668"/>
                </a:lnTo>
                <a:cubicBezTo>
                  <a:pt x="0" y="4762"/>
                  <a:pt x="4762" y="0"/>
                  <a:pt x="10668" y="0"/>
                </a:cubicBezTo>
                <a:close/>
              </a:path>
            </a:pathLst>
          </a:custGeom>
          <a:solidFill>
            <a:srgbClr val="5B8EC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70" name="m-d33_sunburst-lgp-2-1">
            <a:extLst>
              <a:ext uri="{FF2B5EF4-FFF2-40B4-BE49-F238E27FC236}">
                <a16:creationId xmlns:a16="http://schemas.microsoft.com/office/drawing/2014/main" id="{5238009B-E181-8195-8A26-5F86712DC709}"/>
              </a:ext>
            </a:extLst>
          </p:cNvPr>
          <p:cNvSpPr txBox="1"/>
          <p:nvPr/>
        </p:nvSpPr>
        <p:spPr>
          <a:xfrm>
            <a:off x="11215238" y="1520363"/>
            <a:ext cx="73396" cy="4978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12%</a:t>
            </a:r>
          </a:p>
        </p:txBody>
      </p:sp>
      <p:sp>
        <p:nvSpPr>
          <p:cNvPr id="2371" name="m-d33_sunburst-lgc-2-2">
            <a:extLst>
              <a:ext uri="{FF2B5EF4-FFF2-40B4-BE49-F238E27FC236}">
                <a16:creationId xmlns:a16="http://schemas.microsoft.com/office/drawing/2014/main" id="{12B3E6ED-D78B-8D54-601A-BE87946BFBC1}"/>
              </a:ext>
            </a:extLst>
          </p:cNvPr>
          <p:cNvSpPr/>
          <p:nvPr/>
        </p:nvSpPr>
        <p:spPr>
          <a:xfrm>
            <a:off x="10342880" y="1596390"/>
            <a:ext cx="28448" cy="28448"/>
          </a:xfrm>
          <a:custGeom>
            <a:avLst/>
            <a:gdLst/>
            <a:ahLst/>
            <a:cxnLst/>
            <a:rect l="0" t="0" r="r" b="b"/>
            <a:pathLst>
              <a:path w="28448" h="28448">
                <a:moveTo>
                  <a:pt x="7112" y="0"/>
                </a:moveTo>
                <a:lnTo>
                  <a:pt x="21336" y="0"/>
                </a:lnTo>
                <a:cubicBezTo>
                  <a:pt x="25273" y="0"/>
                  <a:pt x="28448" y="3175"/>
                  <a:pt x="28448" y="7112"/>
                </a:cubicBezTo>
                <a:lnTo>
                  <a:pt x="28448" y="21336"/>
                </a:lnTo>
                <a:cubicBezTo>
                  <a:pt x="28448" y="25273"/>
                  <a:pt x="25273" y="28448"/>
                  <a:pt x="21336" y="28448"/>
                </a:cubicBezTo>
                <a:lnTo>
                  <a:pt x="7112" y="28448"/>
                </a:lnTo>
                <a:cubicBezTo>
                  <a:pt x="3175" y="28448"/>
                  <a:pt x="0" y="25273"/>
                  <a:pt x="0" y="21336"/>
                </a:cubicBezTo>
                <a:lnTo>
                  <a:pt x="0" y="7112"/>
                </a:lnTo>
                <a:cubicBezTo>
                  <a:pt x="0" y="3175"/>
                  <a:pt x="3175" y="0"/>
                  <a:pt x="7112" y="0"/>
                </a:cubicBezTo>
                <a:close/>
              </a:path>
            </a:pathLst>
          </a:custGeom>
          <a:solidFill>
            <a:srgbClr val="87AC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72" name="m-d33_sunburst-lgs-2-2">
            <a:extLst>
              <a:ext uri="{FF2B5EF4-FFF2-40B4-BE49-F238E27FC236}">
                <a16:creationId xmlns:a16="http://schemas.microsoft.com/office/drawing/2014/main" id="{46A7DF1C-BB1A-16B7-7B14-389F4B505DE2}"/>
              </a:ext>
            </a:extLst>
          </p:cNvPr>
          <p:cNvSpPr txBox="1"/>
          <p:nvPr/>
        </p:nvSpPr>
        <p:spPr>
          <a:xfrm>
            <a:off x="10385694" y="1584371"/>
            <a:ext cx="92172" cy="4978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0" i="0" u="none" strike="noStrike" kern="1200" cap="none" spc="6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PaaS</a:t>
            </a:r>
          </a:p>
        </p:txBody>
      </p:sp>
      <p:sp>
        <p:nvSpPr>
          <p:cNvPr id="2373" name="m-d33_sunburst-lgbar-2-2">
            <a:extLst>
              <a:ext uri="{FF2B5EF4-FFF2-40B4-BE49-F238E27FC236}">
                <a16:creationId xmlns:a16="http://schemas.microsoft.com/office/drawing/2014/main" id="{E246D904-1445-A033-87F3-C5023CDD5D39}"/>
              </a:ext>
            </a:extLst>
          </p:cNvPr>
          <p:cNvSpPr/>
          <p:nvPr/>
        </p:nvSpPr>
        <p:spPr>
          <a:xfrm>
            <a:off x="10645140" y="1599946"/>
            <a:ext cx="231140" cy="21336"/>
          </a:xfrm>
          <a:custGeom>
            <a:avLst/>
            <a:gdLst/>
            <a:ahLst/>
            <a:cxnLst/>
            <a:rect l="0" t="0" r="r" b="b"/>
            <a:pathLst>
              <a:path w="231140" h="21336">
                <a:moveTo>
                  <a:pt x="10668" y="0"/>
                </a:moveTo>
                <a:lnTo>
                  <a:pt x="220472" y="0"/>
                </a:lnTo>
                <a:cubicBezTo>
                  <a:pt x="226377" y="0"/>
                  <a:pt x="231140" y="4762"/>
                  <a:pt x="231140" y="10668"/>
                </a:cubicBezTo>
                <a:lnTo>
                  <a:pt x="231140" y="10668"/>
                </a:lnTo>
                <a:cubicBezTo>
                  <a:pt x="231140" y="16573"/>
                  <a:pt x="226377" y="21336"/>
                  <a:pt x="220472" y="21336"/>
                </a:cubicBezTo>
                <a:lnTo>
                  <a:pt x="10668" y="21336"/>
                </a:lnTo>
                <a:cubicBezTo>
                  <a:pt x="4762" y="21336"/>
                  <a:pt x="0" y="16573"/>
                  <a:pt x="0" y="10668"/>
                </a:cubicBezTo>
                <a:lnTo>
                  <a:pt x="0" y="10668"/>
                </a:lnTo>
                <a:cubicBezTo>
                  <a:pt x="0" y="4762"/>
                  <a:pt x="4762" y="0"/>
                  <a:pt x="10668" y="0"/>
                </a:cubicBezTo>
                <a:close/>
              </a:path>
            </a:pathLst>
          </a:custGeom>
          <a:solidFill>
            <a:srgbClr val="87AC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74" name="m-d33_sunburst-lgp-2-2">
            <a:extLst>
              <a:ext uri="{FF2B5EF4-FFF2-40B4-BE49-F238E27FC236}">
                <a16:creationId xmlns:a16="http://schemas.microsoft.com/office/drawing/2014/main" id="{41C59E7F-AD07-5A6B-03D8-D77A134E3ADF}"/>
              </a:ext>
            </a:extLst>
          </p:cNvPr>
          <p:cNvSpPr txBox="1"/>
          <p:nvPr/>
        </p:nvSpPr>
        <p:spPr>
          <a:xfrm>
            <a:off x="11231169" y="1584371"/>
            <a:ext cx="57465" cy="4978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9%</a:t>
            </a:r>
          </a:p>
        </p:txBody>
      </p:sp>
      <p:sp>
        <p:nvSpPr>
          <p:cNvPr id="2375" name="m-d33_sunburst-lgc-2-3">
            <a:extLst>
              <a:ext uri="{FF2B5EF4-FFF2-40B4-BE49-F238E27FC236}">
                <a16:creationId xmlns:a16="http://schemas.microsoft.com/office/drawing/2014/main" id="{8C1D2EAD-03A6-3F00-5E6D-BF0006E4FA1D}"/>
              </a:ext>
            </a:extLst>
          </p:cNvPr>
          <p:cNvSpPr/>
          <p:nvPr/>
        </p:nvSpPr>
        <p:spPr>
          <a:xfrm>
            <a:off x="10342880" y="1660398"/>
            <a:ext cx="28448" cy="28448"/>
          </a:xfrm>
          <a:custGeom>
            <a:avLst/>
            <a:gdLst/>
            <a:ahLst/>
            <a:cxnLst/>
            <a:rect l="0" t="0" r="r" b="b"/>
            <a:pathLst>
              <a:path w="28448" h="28448">
                <a:moveTo>
                  <a:pt x="7112" y="0"/>
                </a:moveTo>
                <a:lnTo>
                  <a:pt x="21336" y="0"/>
                </a:lnTo>
                <a:cubicBezTo>
                  <a:pt x="25273" y="0"/>
                  <a:pt x="28448" y="3175"/>
                  <a:pt x="28448" y="7112"/>
                </a:cubicBezTo>
                <a:lnTo>
                  <a:pt x="28448" y="21336"/>
                </a:lnTo>
                <a:cubicBezTo>
                  <a:pt x="28448" y="25273"/>
                  <a:pt x="25273" y="28448"/>
                  <a:pt x="21336" y="28448"/>
                </a:cubicBezTo>
                <a:lnTo>
                  <a:pt x="7112" y="28448"/>
                </a:lnTo>
                <a:cubicBezTo>
                  <a:pt x="3175" y="28448"/>
                  <a:pt x="0" y="25273"/>
                  <a:pt x="0" y="21336"/>
                </a:cubicBezTo>
                <a:lnTo>
                  <a:pt x="0" y="7112"/>
                </a:lnTo>
                <a:cubicBezTo>
                  <a:pt x="0" y="3175"/>
                  <a:pt x="3175" y="0"/>
                  <a:pt x="7112" y="0"/>
                </a:cubicBezTo>
                <a:close/>
              </a:path>
            </a:pathLst>
          </a:custGeom>
          <a:solidFill>
            <a:srgbClr val="B2CAE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76" name="m-d33_sunburst-lgs-2-3">
            <a:extLst>
              <a:ext uri="{FF2B5EF4-FFF2-40B4-BE49-F238E27FC236}">
                <a16:creationId xmlns:a16="http://schemas.microsoft.com/office/drawing/2014/main" id="{5AAB1418-016D-9EE8-A9CC-C7F7187ADA40}"/>
              </a:ext>
            </a:extLst>
          </p:cNvPr>
          <p:cNvSpPr txBox="1"/>
          <p:nvPr/>
        </p:nvSpPr>
        <p:spPr>
          <a:xfrm>
            <a:off x="10385694" y="1648379"/>
            <a:ext cx="92172" cy="4978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0" i="0" u="none" strike="noStrike" kern="1200" cap="none" spc="6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SaaS</a:t>
            </a:r>
          </a:p>
        </p:txBody>
      </p:sp>
      <p:sp>
        <p:nvSpPr>
          <p:cNvPr id="2377" name="m-d33_sunburst-lgbar-2-3">
            <a:extLst>
              <a:ext uri="{FF2B5EF4-FFF2-40B4-BE49-F238E27FC236}">
                <a16:creationId xmlns:a16="http://schemas.microsoft.com/office/drawing/2014/main" id="{01504BE6-B553-7E0E-6C62-F05F092141CC}"/>
              </a:ext>
            </a:extLst>
          </p:cNvPr>
          <p:cNvSpPr/>
          <p:nvPr/>
        </p:nvSpPr>
        <p:spPr>
          <a:xfrm>
            <a:off x="10645140" y="1663954"/>
            <a:ext cx="179768" cy="21336"/>
          </a:xfrm>
          <a:custGeom>
            <a:avLst/>
            <a:gdLst/>
            <a:ahLst/>
            <a:cxnLst/>
            <a:rect l="0" t="0" r="r" b="b"/>
            <a:pathLst>
              <a:path w="179768" h="21336">
                <a:moveTo>
                  <a:pt x="10668" y="0"/>
                </a:moveTo>
                <a:lnTo>
                  <a:pt x="169100" y="0"/>
                </a:lnTo>
                <a:cubicBezTo>
                  <a:pt x="175006" y="0"/>
                  <a:pt x="179768" y="4762"/>
                  <a:pt x="179768" y="10668"/>
                </a:cubicBezTo>
                <a:lnTo>
                  <a:pt x="179768" y="10668"/>
                </a:lnTo>
                <a:cubicBezTo>
                  <a:pt x="179768" y="16573"/>
                  <a:pt x="175006" y="21336"/>
                  <a:pt x="169100" y="21336"/>
                </a:cubicBezTo>
                <a:lnTo>
                  <a:pt x="10668" y="21336"/>
                </a:lnTo>
                <a:cubicBezTo>
                  <a:pt x="4762" y="21336"/>
                  <a:pt x="0" y="16573"/>
                  <a:pt x="0" y="10668"/>
                </a:cubicBezTo>
                <a:lnTo>
                  <a:pt x="0" y="10668"/>
                </a:lnTo>
                <a:cubicBezTo>
                  <a:pt x="0" y="4762"/>
                  <a:pt x="4762" y="0"/>
                  <a:pt x="10668" y="0"/>
                </a:cubicBezTo>
                <a:close/>
              </a:path>
            </a:pathLst>
          </a:custGeom>
          <a:solidFill>
            <a:srgbClr val="B2CAE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78" name="m-d33_sunburst-lgp-2-3">
            <a:extLst>
              <a:ext uri="{FF2B5EF4-FFF2-40B4-BE49-F238E27FC236}">
                <a16:creationId xmlns:a16="http://schemas.microsoft.com/office/drawing/2014/main" id="{8E6B75F6-0BD9-4070-D848-EFAF0A7B7FC9}"/>
              </a:ext>
            </a:extLst>
          </p:cNvPr>
          <p:cNvSpPr txBox="1"/>
          <p:nvPr/>
        </p:nvSpPr>
        <p:spPr>
          <a:xfrm>
            <a:off x="11231169" y="1648379"/>
            <a:ext cx="57465" cy="4978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7%</a:t>
            </a:r>
          </a:p>
        </p:txBody>
      </p:sp>
      <p:sp>
        <p:nvSpPr>
          <p:cNvPr id="2379" name="m-d33_sunburst-lg-3">
            <a:extLst>
              <a:ext uri="{FF2B5EF4-FFF2-40B4-BE49-F238E27FC236}">
                <a16:creationId xmlns:a16="http://schemas.microsoft.com/office/drawing/2014/main" id="{E0ACD667-1956-44DF-27BA-2C851D9EC69C}"/>
              </a:ext>
            </a:extLst>
          </p:cNvPr>
          <p:cNvSpPr/>
          <p:nvPr/>
        </p:nvSpPr>
        <p:spPr>
          <a:xfrm>
            <a:off x="10289540" y="1751076"/>
            <a:ext cx="1049020" cy="284480"/>
          </a:xfrm>
          <a:custGeom>
            <a:avLst/>
            <a:gdLst/>
            <a:ahLst/>
            <a:cxnLst/>
            <a:rect l="0" t="0" r="r" b="b"/>
            <a:pathLst>
              <a:path w="1049020" h="284480">
                <a:moveTo>
                  <a:pt x="32004" y="0"/>
                </a:moveTo>
                <a:lnTo>
                  <a:pt x="1017016" y="0"/>
                </a:lnTo>
                <a:cubicBezTo>
                  <a:pt x="1034669" y="0"/>
                  <a:pt x="1049020" y="14351"/>
                  <a:pt x="1049020" y="32004"/>
                </a:cubicBezTo>
                <a:lnTo>
                  <a:pt x="1049020" y="252476"/>
                </a:lnTo>
                <a:cubicBezTo>
                  <a:pt x="1049020" y="270129"/>
                  <a:pt x="1034669" y="284480"/>
                  <a:pt x="1017016" y="284480"/>
                </a:cubicBezTo>
                <a:lnTo>
                  <a:pt x="32004" y="284480"/>
                </a:lnTo>
                <a:cubicBezTo>
                  <a:pt x="14351" y="284480"/>
                  <a:pt x="0" y="270129"/>
                  <a:pt x="0" y="252476"/>
                </a:cubicBezTo>
                <a:lnTo>
                  <a:pt x="0" y="32004"/>
                </a:lnTo>
                <a:cubicBezTo>
                  <a:pt x="0" y="14351"/>
                  <a:pt x="14351" y="0"/>
                  <a:pt x="3200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80" name="m-d33_sunburst-lgb-3">
            <a:extLst>
              <a:ext uri="{FF2B5EF4-FFF2-40B4-BE49-F238E27FC236}">
                <a16:creationId xmlns:a16="http://schemas.microsoft.com/office/drawing/2014/main" id="{A0B71FEE-7073-2346-A4EB-7EA00B27BD5F}"/>
              </a:ext>
            </a:extLst>
          </p:cNvPr>
          <p:cNvSpPr/>
          <p:nvPr/>
        </p:nvSpPr>
        <p:spPr>
          <a:xfrm>
            <a:off x="10289540" y="1751076"/>
            <a:ext cx="10668" cy="284480"/>
          </a:xfrm>
          <a:custGeom>
            <a:avLst/>
            <a:gdLst/>
            <a:ahLst/>
            <a:cxnLst/>
            <a:rect l="0" t="0" r="r" b="b"/>
            <a:pathLst>
              <a:path w="10668" h="284480">
                <a:moveTo>
                  <a:pt x="5334" y="0"/>
                </a:moveTo>
                <a:lnTo>
                  <a:pt x="5334" y="0"/>
                </a:lnTo>
                <a:cubicBezTo>
                  <a:pt x="8255" y="0"/>
                  <a:pt x="10668" y="2413"/>
                  <a:pt x="10668" y="5334"/>
                </a:cubicBezTo>
                <a:lnTo>
                  <a:pt x="10668" y="279146"/>
                </a:lnTo>
                <a:cubicBezTo>
                  <a:pt x="10668" y="282067"/>
                  <a:pt x="8255" y="284480"/>
                  <a:pt x="5334" y="284480"/>
                </a:cubicBezTo>
                <a:lnTo>
                  <a:pt x="5334" y="284480"/>
                </a:lnTo>
                <a:cubicBezTo>
                  <a:pt x="2413" y="284480"/>
                  <a:pt x="0" y="282067"/>
                  <a:pt x="0" y="279146"/>
                </a:cubicBezTo>
                <a:lnTo>
                  <a:pt x="0" y="5334"/>
                </a:lnTo>
                <a:cubicBezTo>
                  <a:pt x="0" y="2413"/>
                  <a:pt x="2413" y="0"/>
                  <a:pt x="5334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81" name="m-d33_sunburst-lgn-3">
            <a:extLst>
              <a:ext uri="{FF2B5EF4-FFF2-40B4-BE49-F238E27FC236}">
                <a16:creationId xmlns:a16="http://schemas.microsoft.com/office/drawing/2014/main" id="{6AFC14ED-6B66-C3E0-3DB1-05687383AF73}"/>
              </a:ext>
            </a:extLst>
          </p:cNvPr>
          <p:cNvSpPr txBox="1"/>
          <p:nvPr/>
        </p:nvSpPr>
        <p:spPr>
          <a:xfrm>
            <a:off x="10335057" y="1767611"/>
            <a:ext cx="184912" cy="62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80" b="1" i="0" u="none" strike="noStrike" kern="1200" cap="none" spc="2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数据服务</a:t>
            </a:r>
          </a:p>
        </p:txBody>
      </p:sp>
      <p:sp>
        <p:nvSpPr>
          <p:cNvPr id="2382" name="m-d33_sunburst-lgv-3">
            <a:extLst>
              <a:ext uri="{FF2B5EF4-FFF2-40B4-BE49-F238E27FC236}">
                <a16:creationId xmlns:a16="http://schemas.microsoft.com/office/drawing/2014/main" id="{4D0A37B2-CE5B-F93D-76B4-C6044E5F48E1}"/>
              </a:ext>
            </a:extLst>
          </p:cNvPr>
          <p:cNvSpPr txBox="1"/>
          <p:nvPr/>
        </p:nvSpPr>
        <p:spPr>
          <a:xfrm>
            <a:off x="11038825" y="1774199"/>
            <a:ext cx="250022" cy="5289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40" b="1" i="0" u="none" strike="noStrike" kern="1200" cap="none" spc="4" normalizeH="0" baseline="0" noProof="0">
                <a:ln>
                  <a:noFill/>
                </a:ln>
                <a:solidFill>
                  <a:srgbClr val="4694D7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18% · 2.16 亿</a:t>
            </a:r>
          </a:p>
        </p:txBody>
      </p:sp>
      <p:sp>
        <p:nvSpPr>
          <p:cNvPr id="2383" name="m-d33_sunburst-lgc-3-1">
            <a:extLst>
              <a:ext uri="{FF2B5EF4-FFF2-40B4-BE49-F238E27FC236}">
                <a16:creationId xmlns:a16="http://schemas.microsoft.com/office/drawing/2014/main" id="{4FF3AFDF-5F5E-2EBA-AD03-26CE31154B86}"/>
              </a:ext>
            </a:extLst>
          </p:cNvPr>
          <p:cNvSpPr/>
          <p:nvPr/>
        </p:nvSpPr>
        <p:spPr>
          <a:xfrm>
            <a:off x="10342880" y="1848866"/>
            <a:ext cx="28448" cy="28448"/>
          </a:xfrm>
          <a:custGeom>
            <a:avLst/>
            <a:gdLst/>
            <a:ahLst/>
            <a:cxnLst/>
            <a:rect l="0" t="0" r="r" b="b"/>
            <a:pathLst>
              <a:path w="28448" h="28448">
                <a:moveTo>
                  <a:pt x="7112" y="0"/>
                </a:moveTo>
                <a:lnTo>
                  <a:pt x="21336" y="0"/>
                </a:lnTo>
                <a:cubicBezTo>
                  <a:pt x="25273" y="0"/>
                  <a:pt x="28448" y="3175"/>
                  <a:pt x="28448" y="7112"/>
                </a:cubicBezTo>
                <a:lnTo>
                  <a:pt x="28448" y="21336"/>
                </a:lnTo>
                <a:cubicBezTo>
                  <a:pt x="28448" y="25273"/>
                  <a:pt x="25273" y="28448"/>
                  <a:pt x="21336" y="28448"/>
                </a:cubicBezTo>
                <a:lnTo>
                  <a:pt x="7112" y="28448"/>
                </a:lnTo>
                <a:cubicBezTo>
                  <a:pt x="3175" y="28448"/>
                  <a:pt x="0" y="25273"/>
                  <a:pt x="0" y="21336"/>
                </a:cubicBezTo>
                <a:lnTo>
                  <a:pt x="0" y="7112"/>
                </a:lnTo>
                <a:cubicBezTo>
                  <a:pt x="0" y="3175"/>
                  <a:pt x="3175" y="0"/>
                  <a:pt x="7112" y="0"/>
                </a:cubicBezTo>
                <a:close/>
              </a:path>
            </a:pathLst>
          </a:custGeom>
          <a:solidFill>
            <a:srgbClr val="74AF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84" name="m-d33_sunburst-lgs-3-1">
            <a:extLst>
              <a:ext uri="{FF2B5EF4-FFF2-40B4-BE49-F238E27FC236}">
                <a16:creationId xmlns:a16="http://schemas.microsoft.com/office/drawing/2014/main" id="{1F9CEE80-7307-78C6-A93B-23B7FF637F08}"/>
              </a:ext>
            </a:extLst>
          </p:cNvPr>
          <p:cNvSpPr txBox="1"/>
          <p:nvPr/>
        </p:nvSpPr>
        <p:spPr>
          <a:xfrm>
            <a:off x="10385694" y="1836847"/>
            <a:ext cx="142240" cy="4978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0" i="0" u="none" strike="noStrike" kern="1200" cap="none" spc="6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数据治理</a:t>
            </a:r>
          </a:p>
        </p:txBody>
      </p:sp>
      <p:sp>
        <p:nvSpPr>
          <p:cNvPr id="2385" name="m-d33_sunburst-lgbar-3-1">
            <a:extLst>
              <a:ext uri="{FF2B5EF4-FFF2-40B4-BE49-F238E27FC236}">
                <a16:creationId xmlns:a16="http://schemas.microsoft.com/office/drawing/2014/main" id="{DF9829A0-8190-0D64-61EF-B3CF705F8E9B}"/>
              </a:ext>
            </a:extLst>
          </p:cNvPr>
          <p:cNvSpPr/>
          <p:nvPr/>
        </p:nvSpPr>
        <p:spPr>
          <a:xfrm>
            <a:off x="10645140" y="1852422"/>
            <a:ext cx="205486" cy="21336"/>
          </a:xfrm>
          <a:custGeom>
            <a:avLst/>
            <a:gdLst/>
            <a:ahLst/>
            <a:cxnLst/>
            <a:rect l="0" t="0" r="r" b="b"/>
            <a:pathLst>
              <a:path w="205486" h="21336">
                <a:moveTo>
                  <a:pt x="10668" y="0"/>
                </a:moveTo>
                <a:lnTo>
                  <a:pt x="194818" y="0"/>
                </a:lnTo>
                <a:cubicBezTo>
                  <a:pt x="200660" y="0"/>
                  <a:pt x="205486" y="4762"/>
                  <a:pt x="205486" y="10668"/>
                </a:cubicBezTo>
                <a:lnTo>
                  <a:pt x="205486" y="10668"/>
                </a:lnTo>
                <a:cubicBezTo>
                  <a:pt x="205486" y="16573"/>
                  <a:pt x="200660" y="21336"/>
                  <a:pt x="194818" y="21336"/>
                </a:cubicBezTo>
                <a:lnTo>
                  <a:pt x="10668" y="21336"/>
                </a:lnTo>
                <a:cubicBezTo>
                  <a:pt x="4762" y="21336"/>
                  <a:pt x="0" y="16573"/>
                  <a:pt x="0" y="10668"/>
                </a:cubicBezTo>
                <a:lnTo>
                  <a:pt x="0" y="10668"/>
                </a:lnTo>
                <a:cubicBezTo>
                  <a:pt x="0" y="4762"/>
                  <a:pt x="4762" y="0"/>
                  <a:pt x="10668" y="0"/>
                </a:cubicBezTo>
                <a:close/>
              </a:path>
            </a:pathLst>
          </a:custGeom>
          <a:solidFill>
            <a:srgbClr val="74AF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86" name="m-d33_sunburst-lgp-3-1">
            <a:extLst>
              <a:ext uri="{FF2B5EF4-FFF2-40B4-BE49-F238E27FC236}">
                <a16:creationId xmlns:a16="http://schemas.microsoft.com/office/drawing/2014/main" id="{C8B65DFD-9C36-444B-1E30-60BF2572846B}"/>
              </a:ext>
            </a:extLst>
          </p:cNvPr>
          <p:cNvSpPr txBox="1"/>
          <p:nvPr/>
        </p:nvSpPr>
        <p:spPr>
          <a:xfrm>
            <a:off x="11231169" y="1836847"/>
            <a:ext cx="57465" cy="4978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8%</a:t>
            </a:r>
          </a:p>
        </p:txBody>
      </p:sp>
      <p:sp>
        <p:nvSpPr>
          <p:cNvPr id="2387" name="m-d33_sunburst-lgc-3-2">
            <a:extLst>
              <a:ext uri="{FF2B5EF4-FFF2-40B4-BE49-F238E27FC236}">
                <a16:creationId xmlns:a16="http://schemas.microsoft.com/office/drawing/2014/main" id="{062565AC-0B50-B048-DD68-EA29F28E6606}"/>
              </a:ext>
            </a:extLst>
          </p:cNvPr>
          <p:cNvSpPr/>
          <p:nvPr/>
        </p:nvSpPr>
        <p:spPr>
          <a:xfrm>
            <a:off x="10342880" y="1912874"/>
            <a:ext cx="28448" cy="28448"/>
          </a:xfrm>
          <a:custGeom>
            <a:avLst/>
            <a:gdLst/>
            <a:ahLst/>
            <a:cxnLst/>
            <a:rect l="0" t="0" r="r" b="b"/>
            <a:pathLst>
              <a:path w="28448" h="28448">
                <a:moveTo>
                  <a:pt x="7112" y="0"/>
                </a:moveTo>
                <a:lnTo>
                  <a:pt x="21336" y="0"/>
                </a:lnTo>
                <a:cubicBezTo>
                  <a:pt x="25273" y="0"/>
                  <a:pt x="28448" y="3175"/>
                  <a:pt x="28448" y="7112"/>
                </a:cubicBezTo>
                <a:lnTo>
                  <a:pt x="28448" y="21336"/>
                </a:lnTo>
                <a:cubicBezTo>
                  <a:pt x="28448" y="25273"/>
                  <a:pt x="25273" y="28448"/>
                  <a:pt x="21336" y="28448"/>
                </a:cubicBezTo>
                <a:lnTo>
                  <a:pt x="7112" y="28448"/>
                </a:lnTo>
                <a:cubicBezTo>
                  <a:pt x="3175" y="28448"/>
                  <a:pt x="0" y="25273"/>
                  <a:pt x="0" y="21336"/>
                </a:cubicBezTo>
                <a:lnTo>
                  <a:pt x="0" y="7112"/>
                </a:lnTo>
                <a:cubicBezTo>
                  <a:pt x="0" y="3175"/>
                  <a:pt x="3175" y="0"/>
                  <a:pt x="7112" y="0"/>
                </a:cubicBezTo>
                <a:close/>
              </a:path>
            </a:pathLst>
          </a:custGeom>
          <a:solidFill>
            <a:srgbClr val="99C4E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88" name="m-d33_sunburst-lgs-3-2">
            <a:extLst>
              <a:ext uri="{FF2B5EF4-FFF2-40B4-BE49-F238E27FC236}">
                <a16:creationId xmlns:a16="http://schemas.microsoft.com/office/drawing/2014/main" id="{52E25198-8C24-11DE-57C3-57348216DE18}"/>
              </a:ext>
            </a:extLst>
          </p:cNvPr>
          <p:cNvSpPr txBox="1"/>
          <p:nvPr/>
        </p:nvSpPr>
        <p:spPr>
          <a:xfrm>
            <a:off x="10385694" y="1900855"/>
            <a:ext cx="133848" cy="4978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0" i="0" u="none" strike="noStrike" kern="1200" cap="none" spc="6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BI 分析</a:t>
            </a:r>
          </a:p>
        </p:txBody>
      </p:sp>
      <p:sp>
        <p:nvSpPr>
          <p:cNvPr id="2389" name="m-d33_sunburst-lgbar-3-2">
            <a:extLst>
              <a:ext uri="{FF2B5EF4-FFF2-40B4-BE49-F238E27FC236}">
                <a16:creationId xmlns:a16="http://schemas.microsoft.com/office/drawing/2014/main" id="{69097E65-0E46-370A-721A-CE54F9B44013}"/>
              </a:ext>
            </a:extLst>
          </p:cNvPr>
          <p:cNvSpPr/>
          <p:nvPr/>
        </p:nvSpPr>
        <p:spPr>
          <a:xfrm>
            <a:off x="10645140" y="1916430"/>
            <a:ext cx="154114" cy="21336"/>
          </a:xfrm>
          <a:custGeom>
            <a:avLst/>
            <a:gdLst/>
            <a:ahLst/>
            <a:cxnLst/>
            <a:rect l="0" t="0" r="r" b="b"/>
            <a:pathLst>
              <a:path w="154114" h="21336">
                <a:moveTo>
                  <a:pt x="10668" y="0"/>
                </a:moveTo>
                <a:lnTo>
                  <a:pt x="143446" y="0"/>
                </a:lnTo>
                <a:cubicBezTo>
                  <a:pt x="149288" y="0"/>
                  <a:pt x="154114" y="4762"/>
                  <a:pt x="154114" y="10668"/>
                </a:cubicBezTo>
                <a:lnTo>
                  <a:pt x="154114" y="10668"/>
                </a:lnTo>
                <a:cubicBezTo>
                  <a:pt x="154114" y="16574"/>
                  <a:pt x="149288" y="21336"/>
                  <a:pt x="143446" y="21336"/>
                </a:cubicBezTo>
                <a:lnTo>
                  <a:pt x="10668" y="21336"/>
                </a:lnTo>
                <a:cubicBezTo>
                  <a:pt x="4762" y="21336"/>
                  <a:pt x="0" y="16574"/>
                  <a:pt x="0" y="10668"/>
                </a:cubicBezTo>
                <a:lnTo>
                  <a:pt x="0" y="10668"/>
                </a:lnTo>
                <a:cubicBezTo>
                  <a:pt x="0" y="4762"/>
                  <a:pt x="4762" y="0"/>
                  <a:pt x="10668" y="0"/>
                </a:cubicBezTo>
                <a:close/>
              </a:path>
            </a:pathLst>
          </a:custGeom>
          <a:solidFill>
            <a:srgbClr val="99C4E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90" name="m-d33_sunburst-lgp-3-2">
            <a:extLst>
              <a:ext uri="{FF2B5EF4-FFF2-40B4-BE49-F238E27FC236}">
                <a16:creationId xmlns:a16="http://schemas.microsoft.com/office/drawing/2014/main" id="{B1086C63-1A2B-57A7-3FDD-A0CBD374490F}"/>
              </a:ext>
            </a:extLst>
          </p:cNvPr>
          <p:cNvSpPr txBox="1"/>
          <p:nvPr/>
        </p:nvSpPr>
        <p:spPr>
          <a:xfrm>
            <a:off x="11231169" y="1900855"/>
            <a:ext cx="57465" cy="4978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6%</a:t>
            </a:r>
          </a:p>
        </p:txBody>
      </p:sp>
      <p:sp>
        <p:nvSpPr>
          <p:cNvPr id="2391" name="m-d33_sunburst-lgc-3-3">
            <a:extLst>
              <a:ext uri="{FF2B5EF4-FFF2-40B4-BE49-F238E27FC236}">
                <a16:creationId xmlns:a16="http://schemas.microsoft.com/office/drawing/2014/main" id="{B6CF02DD-798C-D474-7987-22BE71C73574}"/>
              </a:ext>
            </a:extLst>
          </p:cNvPr>
          <p:cNvSpPr/>
          <p:nvPr/>
        </p:nvSpPr>
        <p:spPr>
          <a:xfrm>
            <a:off x="10342880" y="1976882"/>
            <a:ext cx="28448" cy="28448"/>
          </a:xfrm>
          <a:custGeom>
            <a:avLst/>
            <a:gdLst/>
            <a:ahLst/>
            <a:cxnLst/>
            <a:rect l="0" t="0" r="r" b="b"/>
            <a:pathLst>
              <a:path w="28448" h="28448">
                <a:moveTo>
                  <a:pt x="7112" y="0"/>
                </a:moveTo>
                <a:lnTo>
                  <a:pt x="21336" y="0"/>
                </a:lnTo>
                <a:cubicBezTo>
                  <a:pt x="25273" y="0"/>
                  <a:pt x="28448" y="3175"/>
                  <a:pt x="28448" y="7112"/>
                </a:cubicBezTo>
                <a:lnTo>
                  <a:pt x="28448" y="21336"/>
                </a:lnTo>
                <a:cubicBezTo>
                  <a:pt x="28448" y="25273"/>
                  <a:pt x="25273" y="28448"/>
                  <a:pt x="21336" y="28448"/>
                </a:cubicBezTo>
                <a:lnTo>
                  <a:pt x="7112" y="28448"/>
                </a:lnTo>
                <a:cubicBezTo>
                  <a:pt x="3175" y="28448"/>
                  <a:pt x="0" y="25273"/>
                  <a:pt x="0" y="21336"/>
                </a:cubicBezTo>
                <a:lnTo>
                  <a:pt x="0" y="7112"/>
                </a:lnTo>
                <a:cubicBezTo>
                  <a:pt x="0" y="3175"/>
                  <a:pt x="3175" y="0"/>
                  <a:pt x="7112" y="0"/>
                </a:cubicBezTo>
                <a:close/>
              </a:path>
            </a:pathLst>
          </a:custGeom>
          <a:solidFill>
            <a:srgbClr val="BEDA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92" name="m-d33_sunburst-lgs-3-3">
            <a:extLst>
              <a:ext uri="{FF2B5EF4-FFF2-40B4-BE49-F238E27FC236}">
                <a16:creationId xmlns:a16="http://schemas.microsoft.com/office/drawing/2014/main" id="{711A35B7-FEA6-9FA4-9E21-FFA111BA65DA}"/>
              </a:ext>
            </a:extLst>
          </p:cNvPr>
          <p:cNvSpPr txBox="1"/>
          <p:nvPr/>
        </p:nvSpPr>
        <p:spPr>
          <a:xfrm>
            <a:off x="10385694" y="1964863"/>
            <a:ext cx="142240" cy="4978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0" i="0" u="none" strike="noStrike" kern="1200" cap="none" spc="6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数据交易</a:t>
            </a:r>
          </a:p>
        </p:txBody>
      </p:sp>
      <p:sp>
        <p:nvSpPr>
          <p:cNvPr id="2393" name="m-d33_sunburst-lgbar-3-3">
            <a:extLst>
              <a:ext uri="{FF2B5EF4-FFF2-40B4-BE49-F238E27FC236}">
                <a16:creationId xmlns:a16="http://schemas.microsoft.com/office/drawing/2014/main" id="{CF21B622-45B2-2D23-0BBB-DDC29FA35D1D}"/>
              </a:ext>
            </a:extLst>
          </p:cNvPr>
          <p:cNvSpPr/>
          <p:nvPr/>
        </p:nvSpPr>
        <p:spPr>
          <a:xfrm>
            <a:off x="10645140" y="1980438"/>
            <a:ext cx="102743" cy="21336"/>
          </a:xfrm>
          <a:custGeom>
            <a:avLst/>
            <a:gdLst/>
            <a:ahLst/>
            <a:cxnLst/>
            <a:rect l="0" t="0" r="r" b="b"/>
            <a:pathLst>
              <a:path w="102743" h="21336">
                <a:moveTo>
                  <a:pt x="10668" y="0"/>
                </a:moveTo>
                <a:lnTo>
                  <a:pt x="92075" y="0"/>
                </a:lnTo>
                <a:cubicBezTo>
                  <a:pt x="97980" y="0"/>
                  <a:pt x="102743" y="4762"/>
                  <a:pt x="102743" y="10668"/>
                </a:cubicBezTo>
                <a:lnTo>
                  <a:pt x="102743" y="10668"/>
                </a:lnTo>
                <a:cubicBezTo>
                  <a:pt x="102743" y="16574"/>
                  <a:pt x="97980" y="21336"/>
                  <a:pt x="92075" y="21336"/>
                </a:cubicBezTo>
                <a:lnTo>
                  <a:pt x="10668" y="21336"/>
                </a:lnTo>
                <a:cubicBezTo>
                  <a:pt x="4762" y="21336"/>
                  <a:pt x="0" y="16574"/>
                  <a:pt x="0" y="10668"/>
                </a:cubicBezTo>
                <a:lnTo>
                  <a:pt x="0" y="10668"/>
                </a:lnTo>
                <a:cubicBezTo>
                  <a:pt x="0" y="4762"/>
                  <a:pt x="4762" y="0"/>
                  <a:pt x="10668" y="0"/>
                </a:cubicBezTo>
                <a:close/>
              </a:path>
            </a:pathLst>
          </a:custGeom>
          <a:solidFill>
            <a:srgbClr val="BEDA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94" name="m-d33_sunburst-lgp-3-3">
            <a:extLst>
              <a:ext uri="{FF2B5EF4-FFF2-40B4-BE49-F238E27FC236}">
                <a16:creationId xmlns:a16="http://schemas.microsoft.com/office/drawing/2014/main" id="{A61D898F-7835-20EE-A19B-808176E571EC}"/>
              </a:ext>
            </a:extLst>
          </p:cNvPr>
          <p:cNvSpPr txBox="1"/>
          <p:nvPr/>
        </p:nvSpPr>
        <p:spPr>
          <a:xfrm>
            <a:off x="11231169" y="1964863"/>
            <a:ext cx="57465" cy="4978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4%</a:t>
            </a:r>
          </a:p>
        </p:txBody>
      </p:sp>
      <p:sp>
        <p:nvSpPr>
          <p:cNvPr id="2395" name="m-d33_sunburst-lg-4">
            <a:extLst>
              <a:ext uri="{FF2B5EF4-FFF2-40B4-BE49-F238E27FC236}">
                <a16:creationId xmlns:a16="http://schemas.microsoft.com/office/drawing/2014/main" id="{42C295F3-EAE6-67C9-FD72-FB5F428FAA8D}"/>
              </a:ext>
            </a:extLst>
          </p:cNvPr>
          <p:cNvSpPr/>
          <p:nvPr/>
        </p:nvSpPr>
        <p:spPr>
          <a:xfrm>
            <a:off x="10289540" y="2067560"/>
            <a:ext cx="1049020" cy="220472"/>
          </a:xfrm>
          <a:custGeom>
            <a:avLst/>
            <a:gdLst/>
            <a:ahLst/>
            <a:cxnLst/>
            <a:rect l="0" t="0" r="r" b="b"/>
            <a:pathLst>
              <a:path w="1049020" h="220472">
                <a:moveTo>
                  <a:pt x="32004" y="0"/>
                </a:moveTo>
                <a:lnTo>
                  <a:pt x="1017016" y="0"/>
                </a:lnTo>
                <a:cubicBezTo>
                  <a:pt x="1034669" y="0"/>
                  <a:pt x="1049020" y="14351"/>
                  <a:pt x="1049020" y="32004"/>
                </a:cubicBezTo>
                <a:lnTo>
                  <a:pt x="1049020" y="188468"/>
                </a:lnTo>
                <a:cubicBezTo>
                  <a:pt x="1049020" y="206121"/>
                  <a:pt x="1034669" y="220472"/>
                  <a:pt x="1017016" y="220472"/>
                </a:cubicBezTo>
                <a:lnTo>
                  <a:pt x="32004" y="220472"/>
                </a:lnTo>
                <a:cubicBezTo>
                  <a:pt x="14351" y="220472"/>
                  <a:pt x="0" y="206121"/>
                  <a:pt x="0" y="188468"/>
                </a:cubicBezTo>
                <a:lnTo>
                  <a:pt x="0" y="32004"/>
                </a:lnTo>
                <a:cubicBezTo>
                  <a:pt x="0" y="14351"/>
                  <a:pt x="14351" y="0"/>
                  <a:pt x="3200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96" name="m-d33_sunburst-lgb-4">
            <a:extLst>
              <a:ext uri="{FF2B5EF4-FFF2-40B4-BE49-F238E27FC236}">
                <a16:creationId xmlns:a16="http://schemas.microsoft.com/office/drawing/2014/main" id="{56E5635D-1796-EE49-9252-F48B4FC8768E}"/>
              </a:ext>
            </a:extLst>
          </p:cNvPr>
          <p:cNvSpPr/>
          <p:nvPr/>
        </p:nvSpPr>
        <p:spPr>
          <a:xfrm>
            <a:off x="10289540" y="2067560"/>
            <a:ext cx="10668" cy="220472"/>
          </a:xfrm>
          <a:custGeom>
            <a:avLst/>
            <a:gdLst/>
            <a:ahLst/>
            <a:cxnLst/>
            <a:rect l="0" t="0" r="r" b="b"/>
            <a:pathLst>
              <a:path w="10668" h="220472">
                <a:moveTo>
                  <a:pt x="5334" y="0"/>
                </a:moveTo>
                <a:lnTo>
                  <a:pt x="5334" y="0"/>
                </a:lnTo>
                <a:cubicBezTo>
                  <a:pt x="8255" y="0"/>
                  <a:pt x="10668" y="2413"/>
                  <a:pt x="10668" y="5334"/>
                </a:cubicBezTo>
                <a:lnTo>
                  <a:pt x="10668" y="215138"/>
                </a:lnTo>
                <a:cubicBezTo>
                  <a:pt x="10668" y="218059"/>
                  <a:pt x="8255" y="220472"/>
                  <a:pt x="5334" y="220472"/>
                </a:cubicBezTo>
                <a:lnTo>
                  <a:pt x="5334" y="220472"/>
                </a:lnTo>
                <a:cubicBezTo>
                  <a:pt x="2413" y="220472"/>
                  <a:pt x="0" y="218059"/>
                  <a:pt x="0" y="215138"/>
                </a:cubicBezTo>
                <a:lnTo>
                  <a:pt x="0" y="5334"/>
                </a:lnTo>
                <a:cubicBezTo>
                  <a:pt x="0" y="2413"/>
                  <a:pt x="2413" y="0"/>
                  <a:pt x="5334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97" name="m-d33_sunburst-lgn-4">
            <a:extLst>
              <a:ext uri="{FF2B5EF4-FFF2-40B4-BE49-F238E27FC236}">
                <a16:creationId xmlns:a16="http://schemas.microsoft.com/office/drawing/2014/main" id="{E4A1A0CE-F3E3-D4A8-80FF-5ACC40BBC313}"/>
              </a:ext>
            </a:extLst>
          </p:cNvPr>
          <p:cNvSpPr txBox="1"/>
          <p:nvPr/>
        </p:nvSpPr>
        <p:spPr>
          <a:xfrm>
            <a:off x="10335057" y="2084095"/>
            <a:ext cx="108458" cy="62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80" b="1" i="0" u="none" strike="noStrike" kern="1200" cap="none" spc="2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咨询</a:t>
            </a:r>
          </a:p>
        </p:txBody>
      </p:sp>
      <p:sp>
        <p:nvSpPr>
          <p:cNvPr id="2398" name="m-d33_sunburst-lgv-4">
            <a:extLst>
              <a:ext uri="{FF2B5EF4-FFF2-40B4-BE49-F238E27FC236}">
                <a16:creationId xmlns:a16="http://schemas.microsoft.com/office/drawing/2014/main" id="{B7F8F8AE-D441-760A-E46C-5B29DF518C64}"/>
              </a:ext>
            </a:extLst>
          </p:cNvPr>
          <p:cNvSpPr txBox="1"/>
          <p:nvPr/>
        </p:nvSpPr>
        <p:spPr>
          <a:xfrm>
            <a:off x="11038825" y="2090683"/>
            <a:ext cx="250022" cy="5289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40" b="1" i="0" u="none" strike="noStrike" kern="1200" cap="none" spc="4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12% · 1.44 亿</a:t>
            </a:r>
          </a:p>
        </p:txBody>
      </p:sp>
      <p:sp>
        <p:nvSpPr>
          <p:cNvPr id="2399" name="m-d33_sunburst-lgc-4-1">
            <a:extLst>
              <a:ext uri="{FF2B5EF4-FFF2-40B4-BE49-F238E27FC236}">
                <a16:creationId xmlns:a16="http://schemas.microsoft.com/office/drawing/2014/main" id="{6C0508DB-0D5F-3079-86DC-DE7B4DC186EA}"/>
              </a:ext>
            </a:extLst>
          </p:cNvPr>
          <p:cNvSpPr/>
          <p:nvPr/>
        </p:nvSpPr>
        <p:spPr>
          <a:xfrm>
            <a:off x="10342880" y="2165350"/>
            <a:ext cx="28448" cy="28448"/>
          </a:xfrm>
          <a:custGeom>
            <a:avLst/>
            <a:gdLst/>
            <a:ahLst/>
            <a:cxnLst/>
            <a:rect l="0" t="0" r="r" b="b"/>
            <a:pathLst>
              <a:path w="28448" h="28448">
                <a:moveTo>
                  <a:pt x="7112" y="0"/>
                </a:moveTo>
                <a:lnTo>
                  <a:pt x="21336" y="0"/>
                </a:lnTo>
                <a:cubicBezTo>
                  <a:pt x="25273" y="0"/>
                  <a:pt x="28448" y="3175"/>
                  <a:pt x="28448" y="7112"/>
                </a:cubicBezTo>
                <a:lnTo>
                  <a:pt x="28448" y="21336"/>
                </a:lnTo>
                <a:cubicBezTo>
                  <a:pt x="28448" y="25273"/>
                  <a:pt x="25273" y="28448"/>
                  <a:pt x="21336" y="28448"/>
                </a:cubicBezTo>
                <a:lnTo>
                  <a:pt x="7112" y="28448"/>
                </a:lnTo>
                <a:cubicBezTo>
                  <a:pt x="3175" y="28448"/>
                  <a:pt x="0" y="25273"/>
                  <a:pt x="0" y="21336"/>
                </a:cubicBezTo>
                <a:lnTo>
                  <a:pt x="0" y="7112"/>
                </a:lnTo>
                <a:cubicBezTo>
                  <a:pt x="0" y="3175"/>
                  <a:pt x="3175" y="0"/>
                  <a:pt x="7112" y="0"/>
                </a:cubicBezTo>
                <a:close/>
              </a:path>
            </a:pathLst>
          </a:custGeom>
          <a:solidFill>
            <a:srgbClr val="E8946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00" name="m-d33_sunburst-lgs-4-1">
            <a:extLst>
              <a:ext uri="{FF2B5EF4-FFF2-40B4-BE49-F238E27FC236}">
                <a16:creationId xmlns:a16="http://schemas.microsoft.com/office/drawing/2014/main" id="{4886A32C-5E09-3FC3-F790-E5279A7E87BF}"/>
              </a:ext>
            </a:extLst>
          </p:cNvPr>
          <p:cNvSpPr txBox="1"/>
          <p:nvPr/>
        </p:nvSpPr>
        <p:spPr>
          <a:xfrm>
            <a:off x="10385694" y="2153331"/>
            <a:ext cx="142240" cy="4978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0" i="0" u="none" strike="noStrike" kern="1200" cap="none" spc="6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规划咨询</a:t>
            </a:r>
          </a:p>
        </p:txBody>
      </p:sp>
      <p:sp>
        <p:nvSpPr>
          <p:cNvPr id="2401" name="m-d33_sunburst-lgbar-4-1">
            <a:extLst>
              <a:ext uri="{FF2B5EF4-FFF2-40B4-BE49-F238E27FC236}">
                <a16:creationId xmlns:a16="http://schemas.microsoft.com/office/drawing/2014/main" id="{A68C2E08-E234-68D4-5BD4-D6575EBFF8CE}"/>
              </a:ext>
            </a:extLst>
          </p:cNvPr>
          <p:cNvSpPr/>
          <p:nvPr/>
        </p:nvSpPr>
        <p:spPr>
          <a:xfrm>
            <a:off x="10645140" y="2168906"/>
            <a:ext cx="179768" cy="21336"/>
          </a:xfrm>
          <a:custGeom>
            <a:avLst/>
            <a:gdLst/>
            <a:ahLst/>
            <a:cxnLst/>
            <a:rect l="0" t="0" r="r" b="b"/>
            <a:pathLst>
              <a:path w="179768" h="21336">
                <a:moveTo>
                  <a:pt x="10668" y="0"/>
                </a:moveTo>
                <a:lnTo>
                  <a:pt x="169100" y="0"/>
                </a:lnTo>
                <a:cubicBezTo>
                  <a:pt x="175006" y="0"/>
                  <a:pt x="179768" y="4762"/>
                  <a:pt x="179768" y="10668"/>
                </a:cubicBezTo>
                <a:lnTo>
                  <a:pt x="179768" y="10668"/>
                </a:lnTo>
                <a:cubicBezTo>
                  <a:pt x="179768" y="16574"/>
                  <a:pt x="175006" y="21336"/>
                  <a:pt x="169100" y="21336"/>
                </a:cubicBezTo>
                <a:lnTo>
                  <a:pt x="10668" y="21336"/>
                </a:lnTo>
                <a:cubicBezTo>
                  <a:pt x="4762" y="21336"/>
                  <a:pt x="0" y="16574"/>
                  <a:pt x="0" y="10668"/>
                </a:cubicBezTo>
                <a:lnTo>
                  <a:pt x="0" y="10668"/>
                </a:lnTo>
                <a:cubicBezTo>
                  <a:pt x="0" y="4762"/>
                  <a:pt x="4762" y="0"/>
                  <a:pt x="10668" y="0"/>
                </a:cubicBezTo>
                <a:close/>
              </a:path>
            </a:pathLst>
          </a:custGeom>
          <a:solidFill>
            <a:srgbClr val="E8946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02" name="m-d33_sunburst-lgp-4-1">
            <a:extLst>
              <a:ext uri="{FF2B5EF4-FFF2-40B4-BE49-F238E27FC236}">
                <a16:creationId xmlns:a16="http://schemas.microsoft.com/office/drawing/2014/main" id="{F09DD270-FFBE-C2DB-BC4B-8BE092ADE366}"/>
              </a:ext>
            </a:extLst>
          </p:cNvPr>
          <p:cNvSpPr txBox="1"/>
          <p:nvPr/>
        </p:nvSpPr>
        <p:spPr>
          <a:xfrm>
            <a:off x="11231169" y="2153331"/>
            <a:ext cx="57465" cy="4978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7%</a:t>
            </a:r>
          </a:p>
        </p:txBody>
      </p:sp>
      <p:sp>
        <p:nvSpPr>
          <p:cNvPr id="2403" name="m-d33_sunburst-lgc-4-2">
            <a:extLst>
              <a:ext uri="{FF2B5EF4-FFF2-40B4-BE49-F238E27FC236}">
                <a16:creationId xmlns:a16="http://schemas.microsoft.com/office/drawing/2014/main" id="{22563D57-B256-6692-7E61-F7A8893BCAA4}"/>
              </a:ext>
            </a:extLst>
          </p:cNvPr>
          <p:cNvSpPr/>
          <p:nvPr/>
        </p:nvSpPr>
        <p:spPr>
          <a:xfrm>
            <a:off x="10342880" y="2229358"/>
            <a:ext cx="28448" cy="28448"/>
          </a:xfrm>
          <a:custGeom>
            <a:avLst/>
            <a:gdLst/>
            <a:ahLst/>
            <a:cxnLst/>
            <a:rect l="0" t="0" r="r" b="b"/>
            <a:pathLst>
              <a:path w="28448" h="28448">
                <a:moveTo>
                  <a:pt x="7112" y="0"/>
                </a:moveTo>
                <a:lnTo>
                  <a:pt x="21336" y="0"/>
                </a:lnTo>
                <a:cubicBezTo>
                  <a:pt x="25273" y="0"/>
                  <a:pt x="28448" y="3175"/>
                  <a:pt x="28448" y="7112"/>
                </a:cubicBezTo>
                <a:lnTo>
                  <a:pt x="28448" y="21336"/>
                </a:lnTo>
                <a:cubicBezTo>
                  <a:pt x="28448" y="25273"/>
                  <a:pt x="25273" y="28448"/>
                  <a:pt x="21336" y="28448"/>
                </a:cubicBezTo>
                <a:lnTo>
                  <a:pt x="7112" y="28448"/>
                </a:lnTo>
                <a:cubicBezTo>
                  <a:pt x="3175" y="28448"/>
                  <a:pt x="0" y="25273"/>
                  <a:pt x="0" y="21336"/>
                </a:cubicBezTo>
                <a:lnTo>
                  <a:pt x="0" y="7112"/>
                </a:lnTo>
                <a:cubicBezTo>
                  <a:pt x="0" y="3175"/>
                  <a:pt x="3175" y="0"/>
                  <a:pt x="7112" y="0"/>
                </a:cubicBezTo>
                <a:close/>
              </a:path>
            </a:pathLst>
          </a:custGeom>
          <a:solidFill>
            <a:srgbClr val="EEB09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04" name="m-d33_sunburst-lgs-4-2">
            <a:extLst>
              <a:ext uri="{FF2B5EF4-FFF2-40B4-BE49-F238E27FC236}">
                <a16:creationId xmlns:a16="http://schemas.microsoft.com/office/drawing/2014/main" id="{AC0F36C6-867E-1158-BCE8-457D59DBD699}"/>
              </a:ext>
            </a:extLst>
          </p:cNvPr>
          <p:cNvSpPr txBox="1"/>
          <p:nvPr/>
        </p:nvSpPr>
        <p:spPr>
          <a:xfrm>
            <a:off x="10385694" y="2217339"/>
            <a:ext cx="142240" cy="4978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0" i="0" u="none" strike="noStrike" kern="1200" cap="none" spc="6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实施服务</a:t>
            </a:r>
          </a:p>
        </p:txBody>
      </p:sp>
      <p:sp>
        <p:nvSpPr>
          <p:cNvPr id="2405" name="m-d33_sunburst-lgbar-4-2">
            <a:extLst>
              <a:ext uri="{FF2B5EF4-FFF2-40B4-BE49-F238E27FC236}">
                <a16:creationId xmlns:a16="http://schemas.microsoft.com/office/drawing/2014/main" id="{DDB0B1FD-D3E7-D77C-CA76-4D92E489749E}"/>
              </a:ext>
            </a:extLst>
          </p:cNvPr>
          <p:cNvSpPr/>
          <p:nvPr/>
        </p:nvSpPr>
        <p:spPr>
          <a:xfrm>
            <a:off x="10645140" y="2232914"/>
            <a:ext cx="128397" cy="21336"/>
          </a:xfrm>
          <a:custGeom>
            <a:avLst/>
            <a:gdLst/>
            <a:ahLst/>
            <a:cxnLst/>
            <a:rect l="0" t="0" r="r" b="b"/>
            <a:pathLst>
              <a:path w="128397" h="21336">
                <a:moveTo>
                  <a:pt x="10668" y="0"/>
                </a:moveTo>
                <a:lnTo>
                  <a:pt x="117729" y="0"/>
                </a:lnTo>
                <a:cubicBezTo>
                  <a:pt x="123634" y="0"/>
                  <a:pt x="128397" y="4762"/>
                  <a:pt x="128397" y="10668"/>
                </a:cubicBezTo>
                <a:lnTo>
                  <a:pt x="128397" y="10668"/>
                </a:lnTo>
                <a:cubicBezTo>
                  <a:pt x="128397" y="16574"/>
                  <a:pt x="123634" y="21336"/>
                  <a:pt x="117729" y="21336"/>
                </a:cubicBezTo>
                <a:lnTo>
                  <a:pt x="10668" y="21336"/>
                </a:lnTo>
                <a:cubicBezTo>
                  <a:pt x="4762" y="21336"/>
                  <a:pt x="0" y="16574"/>
                  <a:pt x="0" y="10668"/>
                </a:cubicBezTo>
                <a:lnTo>
                  <a:pt x="0" y="10668"/>
                </a:lnTo>
                <a:cubicBezTo>
                  <a:pt x="0" y="4762"/>
                  <a:pt x="4762" y="0"/>
                  <a:pt x="10668" y="0"/>
                </a:cubicBezTo>
                <a:close/>
              </a:path>
            </a:pathLst>
          </a:custGeom>
          <a:solidFill>
            <a:srgbClr val="EEB09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06" name="m-d33_sunburst-lgp-4-2">
            <a:extLst>
              <a:ext uri="{FF2B5EF4-FFF2-40B4-BE49-F238E27FC236}">
                <a16:creationId xmlns:a16="http://schemas.microsoft.com/office/drawing/2014/main" id="{2E4CBE53-EC70-B7F7-1433-AD2BF1656422}"/>
              </a:ext>
            </a:extLst>
          </p:cNvPr>
          <p:cNvSpPr txBox="1"/>
          <p:nvPr/>
        </p:nvSpPr>
        <p:spPr>
          <a:xfrm>
            <a:off x="11231169" y="2217339"/>
            <a:ext cx="57465" cy="4978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5%</a:t>
            </a:r>
          </a:p>
        </p:txBody>
      </p:sp>
      <p:cxnSp>
        <p:nvCxnSpPr>
          <p:cNvPr id="2407" name="m-d33_sunburst-foot-line">
            <a:extLst>
              <a:ext uri="{FF2B5EF4-FFF2-40B4-BE49-F238E27FC236}">
                <a16:creationId xmlns:a16="http://schemas.microsoft.com/office/drawing/2014/main" id="{E2A8C560-C3DF-FC03-6EE0-95F1A4C9653D}"/>
              </a:ext>
            </a:extLst>
          </p:cNvPr>
          <p:cNvCxnSpPr/>
          <p:nvPr/>
        </p:nvCxnSpPr>
        <p:spPr>
          <a:xfrm>
            <a:off x="8355076" y="2508504"/>
            <a:ext cx="308660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08" name="m-d33_sunburst-foot-l">
            <a:extLst>
              <a:ext uri="{FF2B5EF4-FFF2-40B4-BE49-F238E27FC236}">
                <a16:creationId xmlns:a16="http://schemas.microsoft.com/office/drawing/2014/main" id="{EC8BE1BE-7400-3400-C714-F9F58949E235}"/>
              </a:ext>
            </a:extLst>
          </p:cNvPr>
          <p:cNvSpPr txBox="1"/>
          <p:nvPr/>
        </p:nvSpPr>
        <p:spPr>
          <a:xfrm>
            <a:off x="8352089" y="2527546"/>
            <a:ext cx="475010" cy="43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0" i="0" u="none" strike="noStrike" kern="1200" cap="none" spc="21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旭日图 · 四大业务 · 11 条产品线</a:t>
            </a:r>
          </a:p>
        </p:txBody>
      </p:sp>
      <p:sp>
        <p:nvSpPr>
          <p:cNvPr id="2409" name="m-d33_sunburst-foot-r">
            <a:extLst>
              <a:ext uri="{FF2B5EF4-FFF2-40B4-BE49-F238E27FC236}">
                <a16:creationId xmlns:a16="http://schemas.microsoft.com/office/drawing/2014/main" id="{C8D2D352-BF4F-F175-E3F6-4878B9367426}"/>
              </a:ext>
            </a:extLst>
          </p:cNvPr>
          <p:cNvSpPr txBox="1"/>
          <p:nvPr/>
        </p:nvSpPr>
        <p:spPr>
          <a:xfrm>
            <a:off x="11089853" y="2527546"/>
            <a:ext cx="354818" cy="43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0" i="0" u="none" strike="noStrike" kern="1200" cap="none" spc="28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2410" name="mini-card-d41_combo">
            <a:extLst>
              <a:ext uri="{FF2B5EF4-FFF2-40B4-BE49-F238E27FC236}">
                <a16:creationId xmlns:a16="http://schemas.microsoft.com/office/drawing/2014/main" id="{2AFE10A4-5303-6DE1-0D46-1CB6B9B82203}"/>
              </a:ext>
            </a:extLst>
          </p:cNvPr>
          <p:cNvSpPr/>
          <p:nvPr/>
        </p:nvSpPr>
        <p:spPr>
          <a:xfrm>
            <a:off x="6921500" y="2413000"/>
            <a:ext cx="3535680" cy="1988820"/>
          </a:xfrm>
          <a:custGeom>
            <a:avLst/>
            <a:gdLst/>
            <a:ahLst/>
            <a:cxnLst/>
            <a:rect l="0" t="0" r="r" b="b"/>
            <a:pathLst>
              <a:path w="3535680" h="1988820">
                <a:moveTo>
                  <a:pt x="113411" y="0"/>
                </a:moveTo>
                <a:lnTo>
                  <a:pt x="3422269" y="0"/>
                </a:lnTo>
                <a:cubicBezTo>
                  <a:pt x="3484880" y="0"/>
                  <a:pt x="3535680" y="50800"/>
                  <a:pt x="3535680" y="113411"/>
                </a:cubicBezTo>
                <a:lnTo>
                  <a:pt x="3535680" y="1875409"/>
                </a:lnTo>
                <a:cubicBezTo>
                  <a:pt x="3535680" y="1938020"/>
                  <a:pt x="3484880" y="1988820"/>
                  <a:pt x="3422269" y="1988820"/>
                </a:cubicBezTo>
                <a:lnTo>
                  <a:pt x="113411" y="1988820"/>
                </a:lnTo>
                <a:cubicBezTo>
                  <a:pt x="50800" y="1988820"/>
                  <a:pt x="0" y="1938020"/>
                  <a:pt x="0" y="1875409"/>
                </a:cubicBezTo>
                <a:lnTo>
                  <a:pt x="0" y="113411"/>
                </a:lnTo>
                <a:cubicBezTo>
                  <a:pt x="0" y="50800"/>
                  <a:pt x="50800" y="0"/>
                  <a:pt x="113411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11" name="m-d41_combo-title-bar">
            <a:extLst>
              <a:ext uri="{FF2B5EF4-FFF2-40B4-BE49-F238E27FC236}">
                <a16:creationId xmlns:a16="http://schemas.microsoft.com/office/drawing/2014/main" id="{99A24E97-4C86-4E5E-C8B8-6BCE32CAC96E}"/>
              </a:ext>
            </a:extLst>
          </p:cNvPr>
          <p:cNvSpPr/>
          <p:nvPr/>
        </p:nvSpPr>
        <p:spPr>
          <a:xfrm>
            <a:off x="7090918" y="2552954"/>
            <a:ext cx="9208" cy="143637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12" name="m-d41_combo-title-bar-accent">
            <a:extLst>
              <a:ext uri="{FF2B5EF4-FFF2-40B4-BE49-F238E27FC236}">
                <a16:creationId xmlns:a16="http://schemas.microsoft.com/office/drawing/2014/main" id="{A615863B-E0FC-6234-54CF-58E048B9649B}"/>
              </a:ext>
            </a:extLst>
          </p:cNvPr>
          <p:cNvSpPr/>
          <p:nvPr/>
        </p:nvSpPr>
        <p:spPr>
          <a:xfrm>
            <a:off x="7090918" y="2552954"/>
            <a:ext cx="9208" cy="4972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13" name="m-d41_combo-title-cn">
            <a:extLst>
              <a:ext uri="{FF2B5EF4-FFF2-40B4-BE49-F238E27FC236}">
                <a16:creationId xmlns:a16="http://schemas.microsoft.com/office/drawing/2014/main" id="{06DD8AEC-81E0-90D9-2DD8-A697A57D7316}"/>
              </a:ext>
            </a:extLst>
          </p:cNvPr>
          <p:cNvSpPr txBox="1"/>
          <p:nvPr/>
        </p:nvSpPr>
        <p:spPr>
          <a:xfrm>
            <a:off x="7136440" y="2528388"/>
            <a:ext cx="780059" cy="14179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640" b="1" i="0" u="none" strike="noStrike" kern="1200" cap="none" spc="5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季度营收与毛利率</a:t>
            </a:r>
          </a:p>
        </p:txBody>
      </p:sp>
      <p:sp>
        <p:nvSpPr>
          <p:cNvPr id="2414" name="m-d41_combo-title-en">
            <a:extLst>
              <a:ext uri="{FF2B5EF4-FFF2-40B4-BE49-F238E27FC236}">
                <a16:creationId xmlns:a16="http://schemas.microsoft.com/office/drawing/2014/main" id="{D9F6B4C9-C874-2B5E-878C-38AEE1BDBFC2}"/>
              </a:ext>
            </a:extLst>
          </p:cNvPr>
          <p:cNvSpPr txBox="1"/>
          <p:nvPr/>
        </p:nvSpPr>
        <p:spPr>
          <a:xfrm>
            <a:off x="7146752" y="2651861"/>
            <a:ext cx="419310" cy="45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9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DUAL-AXIS COMBO</a:t>
            </a:r>
          </a:p>
        </p:txBody>
      </p:sp>
      <p:sp>
        <p:nvSpPr>
          <p:cNvPr id="2415" name="m-d41_combo-title-sub">
            <a:extLst>
              <a:ext uri="{FF2B5EF4-FFF2-40B4-BE49-F238E27FC236}">
                <a16:creationId xmlns:a16="http://schemas.microsoft.com/office/drawing/2014/main" id="{99584F69-A849-08ED-27AF-AA1D8CA17498}"/>
              </a:ext>
            </a:extLst>
          </p:cNvPr>
          <p:cNvSpPr txBox="1"/>
          <p:nvPr/>
        </p:nvSpPr>
        <p:spPr>
          <a:xfrm>
            <a:off x="8851355" y="2608208"/>
            <a:ext cx="1440163" cy="5478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50" b="0" i="0" u="none" strike="noStrike" kern="1200" cap="none" spc="1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柱子看规模、折线看质量——2026 每个季度营收同比都在增长，毛利率自 26Q1 起回到目标区间</a:t>
            </a:r>
          </a:p>
        </p:txBody>
      </p:sp>
      <p:sp>
        <p:nvSpPr>
          <p:cNvPr id="2416" name="m-d41_combo-tgt">
            <a:extLst>
              <a:ext uri="{FF2B5EF4-FFF2-40B4-BE49-F238E27FC236}">
                <a16:creationId xmlns:a16="http://schemas.microsoft.com/office/drawing/2014/main" id="{945E1187-AAB6-888C-128B-3F7658710206}"/>
              </a:ext>
            </a:extLst>
          </p:cNvPr>
          <p:cNvSpPr/>
          <p:nvPr/>
        </p:nvSpPr>
        <p:spPr>
          <a:xfrm>
            <a:off x="7400290" y="3005963"/>
            <a:ext cx="1915160" cy="191516"/>
          </a:xfrm>
          <a:prstGeom prst="rect">
            <a:avLst/>
          </a:prstGeom>
          <a:solidFill>
            <a:srgbClr val="E0703A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17" name="m-d41_combo-tgt-t">
            <a:extLst>
              <a:ext uri="{FF2B5EF4-FFF2-40B4-BE49-F238E27FC236}">
                <a16:creationId xmlns:a16="http://schemas.microsoft.com/office/drawing/2014/main" id="{9FA18FE5-892B-2A2A-8480-63FEBFEF6EBA}"/>
              </a:ext>
            </a:extLst>
          </p:cNvPr>
          <p:cNvSpPr txBox="1"/>
          <p:nvPr/>
        </p:nvSpPr>
        <p:spPr>
          <a:xfrm>
            <a:off x="7419184" y="2954571"/>
            <a:ext cx="344379" cy="4672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1" i="0" u="none" strike="noStrike" kern="1200" cap="none" spc="7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毛利率目标区间 36%–40%</a:t>
            </a:r>
          </a:p>
        </p:txBody>
      </p:sp>
      <p:cxnSp>
        <p:nvCxnSpPr>
          <p:cNvPr id="2418" name="m-d41_combo-g-0">
            <a:extLst>
              <a:ext uri="{FF2B5EF4-FFF2-40B4-BE49-F238E27FC236}">
                <a16:creationId xmlns:a16="http://schemas.microsoft.com/office/drawing/2014/main" id="{38668CF1-BC66-90F9-80EE-D97138F183BF}"/>
              </a:ext>
            </a:extLst>
          </p:cNvPr>
          <p:cNvCxnSpPr/>
          <p:nvPr/>
        </p:nvCxnSpPr>
        <p:spPr>
          <a:xfrm>
            <a:off x="7370826" y="3867785"/>
            <a:ext cx="1974088" cy="0"/>
          </a:xfrm>
          <a:prstGeom prst="line">
            <a:avLst/>
          </a:prstGeom>
          <a:ln w="2540" cap="rnd">
            <a:solidFill>
              <a:srgbClr val="0B2545">
                <a:alpha val="1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19" name="m-d41_combo-gl-0">
            <a:extLst>
              <a:ext uri="{FF2B5EF4-FFF2-40B4-BE49-F238E27FC236}">
                <a16:creationId xmlns:a16="http://schemas.microsoft.com/office/drawing/2014/main" id="{9562A5E7-12CB-6D5E-0BF4-25383E37FD21}"/>
              </a:ext>
            </a:extLst>
          </p:cNvPr>
          <p:cNvSpPr txBox="1"/>
          <p:nvPr/>
        </p:nvSpPr>
        <p:spPr>
          <a:xfrm>
            <a:off x="7312929" y="3842446"/>
            <a:ext cx="43017" cy="515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0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</a:t>
            </a:r>
          </a:p>
        </p:txBody>
      </p:sp>
      <p:sp>
        <p:nvSpPr>
          <p:cNvPr id="2420" name="m-d41_combo-gr-0">
            <a:extLst>
              <a:ext uri="{FF2B5EF4-FFF2-40B4-BE49-F238E27FC236}">
                <a16:creationId xmlns:a16="http://schemas.microsoft.com/office/drawing/2014/main" id="{77189122-8F7F-46FC-02F0-B61BECCDB113}"/>
              </a:ext>
            </a:extLst>
          </p:cNvPr>
          <p:cNvSpPr txBox="1"/>
          <p:nvPr/>
        </p:nvSpPr>
        <p:spPr>
          <a:xfrm>
            <a:off x="9363476" y="3842446"/>
            <a:ext cx="76017" cy="515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0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22%</a:t>
            </a:r>
          </a:p>
        </p:txBody>
      </p:sp>
      <p:cxnSp>
        <p:nvCxnSpPr>
          <p:cNvPr id="2421" name="m-d41_combo-g-1">
            <a:extLst>
              <a:ext uri="{FF2B5EF4-FFF2-40B4-BE49-F238E27FC236}">
                <a16:creationId xmlns:a16="http://schemas.microsoft.com/office/drawing/2014/main" id="{E3398F05-BE7F-D515-D310-9EC8B941EA47}"/>
              </a:ext>
            </a:extLst>
          </p:cNvPr>
          <p:cNvCxnSpPr/>
          <p:nvPr/>
        </p:nvCxnSpPr>
        <p:spPr>
          <a:xfrm>
            <a:off x="7370826" y="3676269"/>
            <a:ext cx="1974088" cy="0"/>
          </a:xfrm>
          <a:prstGeom prst="line">
            <a:avLst/>
          </a:prstGeom>
          <a:ln w="254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22" name="m-d41_combo-gl-1">
            <a:extLst>
              <a:ext uri="{FF2B5EF4-FFF2-40B4-BE49-F238E27FC236}">
                <a16:creationId xmlns:a16="http://schemas.microsoft.com/office/drawing/2014/main" id="{42B94614-1228-A761-7387-7286852CF321}"/>
              </a:ext>
            </a:extLst>
          </p:cNvPr>
          <p:cNvSpPr txBox="1"/>
          <p:nvPr/>
        </p:nvSpPr>
        <p:spPr>
          <a:xfrm>
            <a:off x="7279930" y="3650930"/>
            <a:ext cx="76017" cy="515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0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1.5</a:t>
            </a:r>
          </a:p>
        </p:txBody>
      </p:sp>
      <p:sp>
        <p:nvSpPr>
          <p:cNvPr id="2423" name="m-d41_combo-gr-1">
            <a:extLst>
              <a:ext uri="{FF2B5EF4-FFF2-40B4-BE49-F238E27FC236}">
                <a16:creationId xmlns:a16="http://schemas.microsoft.com/office/drawing/2014/main" id="{FA05E4B1-7BB3-246A-BC54-C8E55A1DE383}"/>
              </a:ext>
            </a:extLst>
          </p:cNvPr>
          <p:cNvSpPr txBox="1"/>
          <p:nvPr/>
        </p:nvSpPr>
        <p:spPr>
          <a:xfrm>
            <a:off x="9363476" y="3650930"/>
            <a:ext cx="76017" cy="515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0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26%</a:t>
            </a:r>
          </a:p>
        </p:txBody>
      </p:sp>
      <p:cxnSp>
        <p:nvCxnSpPr>
          <p:cNvPr id="2424" name="m-d41_combo-g-2">
            <a:extLst>
              <a:ext uri="{FF2B5EF4-FFF2-40B4-BE49-F238E27FC236}">
                <a16:creationId xmlns:a16="http://schemas.microsoft.com/office/drawing/2014/main" id="{156306D6-039E-CA2A-DDE5-CEC5ABE6D16A}"/>
              </a:ext>
            </a:extLst>
          </p:cNvPr>
          <p:cNvCxnSpPr/>
          <p:nvPr/>
        </p:nvCxnSpPr>
        <p:spPr>
          <a:xfrm>
            <a:off x="7370826" y="3484753"/>
            <a:ext cx="1974088" cy="0"/>
          </a:xfrm>
          <a:prstGeom prst="line">
            <a:avLst/>
          </a:prstGeom>
          <a:ln w="254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25" name="m-d41_combo-gl-2">
            <a:extLst>
              <a:ext uri="{FF2B5EF4-FFF2-40B4-BE49-F238E27FC236}">
                <a16:creationId xmlns:a16="http://schemas.microsoft.com/office/drawing/2014/main" id="{818E1293-D8A1-0922-2DE2-A48B942C173F}"/>
              </a:ext>
            </a:extLst>
          </p:cNvPr>
          <p:cNvSpPr txBox="1"/>
          <p:nvPr/>
        </p:nvSpPr>
        <p:spPr>
          <a:xfrm>
            <a:off x="7312929" y="3459414"/>
            <a:ext cx="43017" cy="515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0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2426" name="m-d41_combo-gr-2">
            <a:extLst>
              <a:ext uri="{FF2B5EF4-FFF2-40B4-BE49-F238E27FC236}">
                <a16:creationId xmlns:a16="http://schemas.microsoft.com/office/drawing/2014/main" id="{C0504089-56E5-80CE-A7D3-F038AAFC4F6E}"/>
              </a:ext>
            </a:extLst>
          </p:cNvPr>
          <p:cNvSpPr txBox="1"/>
          <p:nvPr/>
        </p:nvSpPr>
        <p:spPr>
          <a:xfrm>
            <a:off x="9363476" y="3459414"/>
            <a:ext cx="76017" cy="515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0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30%</a:t>
            </a:r>
          </a:p>
        </p:txBody>
      </p:sp>
      <p:cxnSp>
        <p:nvCxnSpPr>
          <p:cNvPr id="2427" name="m-d41_combo-g-3">
            <a:extLst>
              <a:ext uri="{FF2B5EF4-FFF2-40B4-BE49-F238E27FC236}">
                <a16:creationId xmlns:a16="http://schemas.microsoft.com/office/drawing/2014/main" id="{EFEB6BD9-B48D-0390-6029-5410207E7DE8}"/>
              </a:ext>
            </a:extLst>
          </p:cNvPr>
          <p:cNvCxnSpPr/>
          <p:nvPr/>
        </p:nvCxnSpPr>
        <p:spPr>
          <a:xfrm>
            <a:off x="7370826" y="3293237"/>
            <a:ext cx="1974088" cy="0"/>
          </a:xfrm>
          <a:prstGeom prst="line">
            <a:avLst/>
          </a:prstGeom>
          <a:ln w="254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28" name="m-d41_combo-gl-3">
            <a:extLst>
              <a:ext uri="{FF2B5EF4-FFF2-40B4-BE49-F238E27FC236}">
                <a16:creationId xmlns:a16="http://schemas.microsoft.com/office/drawing/2014/main" id="{C2BD13F0-A63C-B8FE-6B0A-E6DC5C01A908}"/>
              </a:ext>
            </a:extLst>
          </p:cNvPr>
          <p:cNvSpPr txBox="1"/>
          <p:nvPr/>
        </p:nvSpPr>
        <p:spPr>
          <a:xfrm>
            <a:off x="7279930" y="3267898"/>
            <a:ext cx="76017" cy="515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0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4.5</a:t>
            </a:r>
          </a:p>
        </p:txBody>
      </p:sp>
      <p:sp>
        <p:nvSpPr>
          <p:cNvPr id="2429" name="m-d41_combo-gr-3">
            <a:extLst>
              <a:ext uri="{FF2B5EF4-FFF2-40B4-BE49-F238E27FC236}">
                <a16:creationId xmlns:a16="http://schemas.microsoft.com/office/drawing/2014/main" id="{675122DE-FA42-E3D3-74DD-EC3F64738FD1}"/>
              </a:ext>
            </a:extLst>
          </p:cNvPr>
          <p:cNvSpPr txBox="1"/>
          <p:nvPr/>
        </p:nvSpPr>
        <p:spPr>
          <a:xfrm>
            <a:off x="9363476" y="3267898"/>
            <a:ext cx="76017" cy="515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0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34%</a:t>
            </a:r>
          </a:p>
        </p:txBody>
      </p:sp>
      <p:cxnSp>
        <p:nvCxnSpPr>
          <p:cNvPr id="2430" name="m-d41_combo-g-4">
            <a:extLst>
              <a:ext uri="{FF2B5EF4-FFF2-40B4-BE49-F238E27FC236}">
                <a16:creationId xmlns:a16="http://schemas.microsoft.com/office/drawing/2014/main" id="{27C5381A-C4F3-D26B-9742-C6AA0DE1E771}"/>
              </a:ext>
            </a:extLst>
          </p:cNvPr>
          <p:cNvCxnSpPr/>
          <p:nvPr/>
        </p:nvCxnSpPr>
        <p:spPr>
          <a:xfrm>
            <a:off x="7370826" y="3101721"/>
            <a:ext cx="1974088" cy="0"/>
          </a:xfrm>
          <a:prstGeom prst="line">
            <a:avLst/>
          </a:prstGeom>
          <a:ln w="254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31" name="m-d41_combo-gl-4">
            <a:extLst>
              <a:ext uri="{FF2B5EF4-FFF2-40B4-BE49-F238E27FC236}">
                <a16:creationId xmlns:a16="http://schemas.microsoft.com/office/drawing/2014/main" id="{7EBFE60A-34A3-47AA-D162-BED00BC50373}"/>
              </a:ext>
            </a:extLst>
          </p:cNvPr>
          <p:cNvSpPr txBox="1"/>
          <p:nvPr/>
        </p:nvSpPr>
        <p:spPr>
          <a:xfrm>
            <a:off x="7312929" y="3076382"/>
            <a:ext cx="43017" cy="515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0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6</a:t>
            </a:r>
          </a:p>
        </p:txBody>
      </p:sp>
      <p:sp>
        <p:nvSpPr>
          <p:cNvPr id="2432" name="m-d41_combo-gr-4">
            <a:extLst>
              <a:ext uri="{FF2B5EF4-FFF2-40B4-BE49-F238E27FC236}">
                <a16:creationId xmlns:a16="http://schemas.microsoft.com/office/drawing/2014/main" id="{17CD3D05-03F5-1540-F408-FF33E8216E65}"/>
              </a:ext>
            </a:extLst>
          </p:cNvPr>
          <p:cNvSpPr txBox="1"/>
          <p:nvPr/>
        </p:nvSpPr>
        <p:spPr>
          <a:xfrm>
            <a:off x="9363476" y="3076382"/>
            <a:ext cx="76017" cy="515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0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38%</a:t>
            </a:r>
          </a:p>
        </p:txBody>
      </p:sp>
      <p:cxnSp>
        <p:nvCxnSpPr>
          <p:cNvPr id="2433" name="m-d41_combo-g-5">
            <a:extLst>
              <a:ext uri="{FF2B5EF4-FFF2-40B4-BE49-F238E27FC236}">
                <a16:creationId xmlns:a16="http://schemas.microsoft.com/office/drawing/2014/main" id="{643431C5-1680-DF8E-27AA-11F18AC64695}"/>
              </a:ext>
            </a:extLst>
          </p:cNvPr>
          <p:cNvCxnSpPr/>
          <p:nvPr/>
        </p:nvCxnSpPr>
        <p:spPr>
          <a:xfrm>
            <a:off x="7370826" y="2910205"/>
            <a:ext cx="1974088" cy="0"/>
          </a:xfrm>
          <a:prstGeom prst="line">
            <a:avLst/>
          </a:prstGeom>
          <a:ln w="254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34" name="m-d41_combo-gl-5">
            <a:extLst>
              <a:ext uri="{FF2B5EF4-FFF2-40B4-BE49-F238E27FC236}">
                <a16:creationId xmlns:a16="http://schemas.microsoft.com/office/drawing/2014/main" id="{0F5DDA6D-7AB5-50FB-DCE9-D00D340328C1}"/>
              </a:ext>
            </a:extLst>
          </p:cNvPr>
          <p:cNvSpPr txBox="1"/>
          <p:nvPr/>
        </p:nvSpPr>
        <p:spPr>
          <a:xfrm>
            <a:off x="7279930" y="2884866"/>
            <a:ext cx="76017" cy="515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0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7.5</a:t>
            </a:r>
          </a:p>
        </p:txBody>
      </p:sp>
      <p:sp>
        <p:nvSpPr>
          <p:cNvPr id="2435" name="m-d41_combo-gr-5">
            <a:extLst>
              <a:ext uri="{FF2B5EF4-FFF2-40B4-BE49-F238E27FC236}">
                <a16:creationId xmlns:a16="http://schemas.microsoft.com/office/drawing/2014/main" id="{777CE9E8-E9BF-7ACF-5D32-2288B031F1A7}"/>
              </a:ext>
            </a:extLst>
          </p:cNvPr>
          <p:cNvSpPr txBox="1"/>
          <p:nvPr/>
        </p:nvSpPr>
        <p:spPr>
          <a:xfrm>
            <a:off x="9363476" y="2884866"/>
            <a:ext cx="76017" cy="515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0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42%</a:t>
            </a:r>
          </a:p>
        </p:txBody>
      </p:sp>
      <p:sp>
        <p:nvSpPr>
          <p:cNvPr id="2436" name="m-d41_combo-ul">
            <a:extLst>
              <a:ext uri="{FF2B5EF4-FFF2-40B4-BE49-F238E27FC236}">
                <a16:creationId xmlns:a16="http://schemas.microsoft.com/office/drawing/2014/main" id="{95EE1CBB-D0BD-515F-8F3F-08FDD3BB7594}"/>
              </a:ext>
            </a:extLst>
          </p:cNvPr>
          <p:cNvSpPr txBox="1"/>
          <p:nvPr/>
        </p:nvSpPr>
        <p:spPr>
          <a:xfrm>
            <a:off x="7177616" y="2823120"/>
            <a:ext cx="177889" cy="45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营收（亿元）</a:t>
            </a:r>
          </a:p>
        </p:txBody>
      </p:sp>
      <p:sp>
        <p:nvSpPr>
          <p:cNvPr id="2437" name="m-d41_combo-ur">
            <a:extLst>
              <a:ext uri="{FF2B5EF4-FFF2-40B4-BE49-F238E27FC236}">
                <a16:creationId xmlns:a16="http://schemas.microsoft.com/office/drawing/2014/main" id="{48C9B1B5-8B98-A586-4DFD-00F2C05F14C0}"/>
              </a:ext>
            </a:extLst>
          </p:cNvPr>
          <p:cNvSpPr txBox="1"/>
          <p:nvPr/>
        </p:nvSpPr>
        <p:spPr>
          <a:xfrm>
            <a:off x="9363918" y="2823120"/>
            <a:ext cx="100546" cy="45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毛利率</a:t>
            </a:r>
          </a:p>
        </p:txBody>
      </p:sp>
      <p:sp>
        <p:nvSpPr>
          <p:cNvPr id="2438" name="m-d41_combo-b-1">
            <a:extLst>
              <a:ext uri="{FF2B5EF4-FFF2-40B4-BE49-F238E27FC236}">
                <a16:creationId xmlns:a16="http://schemas.microsoft.com/office/drawing/2014/main" id="{8882B97E-4B52-C969-5C58-3580C9B3E0DC}"/>
              </a:ext>
            </a:extLst>
          </p:cNvPr>
          <p:cNvSpPr/>
          <p:nvPr/>
        </p:nvSpPr>
        <p:spPr>
          <a:xfrm>
            <a:off x="7460170" y="3599688"/>
            <a:ext cx="119634" cy="268097"/>
          </a:xfrm>
          <a:custGeom>
            <a:avLst/>
            <a:gdLst/>
            <a:ahLst/>
            <a:cxnLst/>
            <a:rect l="0" t="0" r="r" b="b"/>
            <a:pathLst>
              <a:path w="119634" h="268097">
                <a:moveTo>
                  <a:pt x="0" y="268097"/>
                </a:moveTo>
                <a:lnTo>
                  <a:pt x="0" y="18415"/>
                </a:lnTo>
                <a:cubicBezTo>
                  <a:pt x="0" y="8255"/>
                  <a:pt x="8191" y="0"/>
                  <a:pt x="18352" y="0"/>
                </a:cubicBezTo>
                <a:lnTo>
                  <a:pt x="101283" y="0"/>
                </a:lnTo>
                <a:cubicBezTo>
                  <a:pt x="111443" y="0"/>
                  <a:pt x="119634" y="8255"/>
                  <a:pt x="119634" y="18415"/>
                </a:cubicBezTo>
                <a:lnTo>
                  <a:pt x="119634" y="268097"/>
                </a:lnTo>
                <a:close/>
              </a:path>
            </a:pathLst>
          </a:custGeom>
          <a:gradFill rotWithShape="1">
            <a:gsLst>
              <a:gs pos="0">
                <a:srgbClr val="619DD7"/>
              </a:gs>
              <a:gs pos="100000">
                <a:srgbClr val="3985CD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39" name="m-d41_combo-bv-1">
            <a:extLst>
              <a:ext uri="{FF2B5EF4-FFF2-40B4-BE49-F238E27FC236}">
                <a16:creationId xmlns:a16="http://schemas.microsoft.com/office/drawing/2014/main" id="{0BC86718-669A-7BE8-7EC9-C2FB20121658}"/>
              </a:ext>
            </a:extLst>
          </p:cNvPr>
          <p:cNvSpPr txBox="1"/>
          <p:nvPr/>
        </p:nvSpPr>
        <p:spPr>
          <a:xfrm>
            <a:off x="7481979" y="3541177"/>
            <a:ext cx="76017" cy="515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2.1</a:t>
            </a:r>
          </a:p>
        </p:txBody>
      </p:sp>
      <p:sp>
        <p:nvSpPr>
          <p:cNvPr id="2440" name="m-d41_combo-x-1">
            <a:extLst>
              <a:ext uri="{FF2B5EF4-FFF2-40B4-BE49-F238E27FC236}">
                <a16:creationId xmlns:a16="http://schemas.microsoft.com/office/drawing/2014/main" id="{8834974E-5FD5-A331-165B-A23439963FF4}"/>
              </a:ext>
            </a:extLst>
          </p:cNvPr>
          <p:cNvSpPr txBox="1"/>
          <p:nvPr/>
        </p:nvSpPr>
        <p:spPr>
          <a:xfrm>
            <a:off x="7476620" y="3892599"/>
            <a:ext cx="86735" cy="483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25Q1</a:t>
            </a:r>
          </a:p>
        </p:txBody>
      </p:sp>
      <p:sp>
        <p:nvSpPr>
          <p:cNvPr id="2441" name="m-d41_combo-b-2">
            <a:extLst>
              <a:ext uri="{FF2B5EF4-FFF2-40B4-BE49-F238E27FC236}">
                <a16:creationId xmlns:a16="http://schemas.microsoft.com/office/drawing/2014/main" id="{609D44F4-0351-EC88-8E2D-9370E6D42C04}"/>
              </a:ext>
            </a:extLst>
          </p:cNvPr>
          <p:cNvSpPr/>
          <p:nvPr/>
        </p:nvSpPr>
        <p:spPr>
          <a:xfrm>
            <a:off x="7699566" y="3561334"/>
            <a:ext cx="119698" cy="306451"/>
          </a:xfrm>
          <a:custGeom>
            <a:avLst/>
            <a:gdLst/>
            <a:ahLst/>
            <a:cxnLst/>
            <a:rect l="0" t="0" r="r" b="b"/>
            <a:pathLst>
              <a:path w="119698" h="306451">
                <a:moveTo>
                  <a:pt x="0" y="306451"/>
                </a:moveTo>
                <a:lnTo>
                  <a:pt x="0" y="18415"/>
                </a:lnTo>
                <a:cubicBezTo>
                  <a:pt x="0" y="8255"/>
                  <a:pt x="8191" y="0"/>
                  <a:pt x="18352" y="0"/>
                </a:cubicBezTo>
                <a:lnTo>
                  <a:pt x="101219" y="0"/>
                </a:lnTo>
                <a:cubicBezTo>
                  <a:pt x="111442" y="0"/>
                  <a:pt x="119698" y="8255"/>
                  <a:pt x="119698" y="18415"/>
                </a:cubicBezTo>
                <a:lnTo>
                  <a:pt x="119698" y="306451"/>
                </a:lnTo>
                <a:close/>
              </a:path>
            </a:pathLst>
          </a:custGeom>
          <a:gradFill rotWithShape="1">
            <a:gsLst>
              <a:gs pos="0">
                <a:srgbClr val="619DD7"/>
              </a:gs>
              <a:gs pos="100000">
                <a:srgbClr val="3985CD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42" name="m-d41_combo-bv-2">
            <a:extLst>
              <a:ext uri="{FF2B5EF4-FFF2-40B4-BE49-F238E27FC236}">
                <a16:creationId xmlns:a16="http://schemas.microsoft.com/office/drawing/2014/main" id="{4EFDE8EE-C1AA-C18D-0E52-D0CCCF23E8D6}"/>
              </a:ext>
            </a:extLst>
          </p:cNvPr>
          <p:cNvSpPr txBox="1"/>
          <p:nvPr/>
        </p:nvSpPr>
        <p:spPr>
          <a:xfrm>
            <a:off x="7721374" y="3502873"/>
            <a:ext cx="76017" cy="515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2.4</a:t>
            </a:r>
          </a:p>
        </p:txBody>
      </p:sp>
      <p:sp>
        <p:nvSpPr>
          <p:cNvPr id="2443" name="m-d41_combo-x-2">
            <a:extLst>
              <a:ext uri="{FF2B5EF4-FFF2-40B4-BE49-F238E27FC236}">
                <a16:creationId xmlns:a16="http://schemas.microsoft.com/office/drawing/2014/main" id="{E09C062F-34A2-2058-D976-E241C267D301}"/>
              </a:ext>
            </a:extLst>
          </p:cNvPr>
          <p:cNvSpPr txBox="1"/>
          <p:nvPr/>
        </p:nvSpPr>
        <p:spPr>
          <a:xfrm>
            <a:off x="7716015" y="3892599"/>
            <a:ext cx="86735" cy="483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25Q2</a:t>
            </a:r>
          </a:p>
        </p:txBody>
      </p:sp>
      <p:sp>
        <p:nvSpPr>
          <p:cNvPr id="2444" name="m-d41_combo-b-3">
            <a:extLst>
              <a:ext uri="{FF2B5EF4-FFF2-40B4-BE49-F238E27FC236}">
                <a16:creationId xmlns:a16="http://schemas.microsoft.com/office/drawing/2014/main" id="{0A471D6F-EDA6-6083-33CF-9133E96812E0}"/>
              </a:ext>
            </a:extLst>
          </p:cNvPr>
          <p:cNvSpPr/>
          <p:nvPr/>
        </p:nvSpPr>
        <p:spPr>
          <a:xfrm>
            <a:off x="7938897" y="3535807"/>
            <a:ext cx="119761" cy="331978"/>
          </a:xfrm>
          <a:custGeom>
            <a:avLst/>
            <a:gdLst/>
            <a:ahLst/>
            <a:cxnLst/>
            <a:rect l="0" t="0" r="r" b="b"/>
            <a:pathLst>
              <a:path w="119761" h="331978">
                <a:moveTo>
                  <a:pt x="0" y="331978"/>
                </a:moveTo>
                <a:lnTo>
                  <a:pt x="0" y="18415"/>
                </a:lnTo>
                <a:cubicBezTo>
                  <a:pt x="0" y="8255"/>
                  <a:pt x="8255" y="0"/>
                  <a:pt x="18415" y="0"/>
                </a:cubicBezTo>
                <a:lnTo>
                  <a:pt x="101283" y="0"/>
                </a:lnTo>
                <a:cubicBezTo>
                  <a:pt x="111506" y="0"/>
                  <a:pt x="119761" y="8255"/>
                  <a:pt x="119761" y="18415"/>
                </a:cubicBezTo>
                <a:lnTo>
                  <a:pt x="119761" y="331978"/>
                </a:lnTo>
                <a:close/>
              </a:path>
            </a:pathLst>
          </a:custGeom>
          <a:gradFill rotWithShape="1">
            <a:gsLst>
              <a:gs pos="0">
                <a:srgbClr val="619DD7"/>
              </a:gs>
              <a:gs pos="100000">
                <a:srgbClr val="3985CD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45" name="m-d41_combo-bv-3">
            <a:extLst>
              <a:ext uri="{FF2B5EF4-FFF2-40B4-BE49-F238E27FC236}">
                <a16:creationId xmlns:a16="http://schemas.microsoft.com/office/drawing/2014/main" id="{4EC675A0-6AC2-CD0A-3EEC-B23E9052701E}"/>
              </a:ext>
            </a:extLst>
          </p:cNvPr>
          <p:cNvSpPr txBox="1"/>
          <p:nvPr/>
        </p:nvSpPr>
        <p:spPr>
          <a:xfrm>
            <a:off x="7960769" y="3477338"/>
            <a:ext cx="76017" cy="515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2.6</a:t>
            </a:r>
          </a:p>
        </p:txBody>
      </p:sp>
      <p:sp>
        <p:nvSpPr>
          <p:cNvPr id="2446" name="m-d41_combo-x-3">
            <a:extLst>
              <a:ext uri="{FF2B5EF4-FFF2-40B4-BE49-F238E27FC236}">
                <a16:creationId xmlns:a16="http://schemas.microsoft.com/office/drawing/2014/main" id="{C8024B14-55D1-7A49-8F30-0308E32582FA}"/>
              </a:ext>
            </a:extLst>
          </p:cNvPr>
          <p:cNvSpPr txBox="1"/>
          <p:nvPr/>
        </p:nvSpPr>
        <p:spPr>
          <a:xfrm>
            <a:off x="7955410" y="3892599"/>
            <a:ext cx="86735" cy="483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25Q3</a:t>
            </a:r>
          </a:p>
        </p:txBody>
      </p:sp>
      <p:sp>
        <p:nvSpPr>
          <p:cNvPr id="2447" name="m-d41_combo-b-4">
            <a:extLst>
              <a:ext uri="{FF2B5EF4-FFF2-40B4-BE49-F238E27FC236}">
                <a16:creationId xmlns:a16="http://schemas.microsoft.com/office/drawing/2014/main" id="{1E7C32E6-BEDE-EA77-814F-C31DEEBF9E09}"/>
              </a:ext>
            </a:extLst>
          </p:cNvPr>
          <p:cNvSpPr/>
          <p:nvPr/>
        </p:nvSpPr>
        <p:spPr>
          <a:xfrm>
            <a:off x="8178292" y="3484753"/>
            <a:ext cx="119761" cy="383032"/>
          </a:xfrm>
          <a:custGeom>
            <a:avLst/>
            <a:gdLst/>
            <a:ahLst/>
            <a:cxnLst/>
            <a:rect l="0" t="0" r="r" b="b"/>
            <a:pathLst>
              <a:path w="119761" h="383032">
                <a:moveTo>
                  <a:pt x="0" y="383032"/>
                </a:moveTo>
                <a:lnTo>
                  <a:pt x="0" y="18415"/>
                </a:lnTo>
                <a:cubicBezTo>
                  <a:pt x="0" y="8255"/>
                  <a:pt x="8255" y="0"/>
                  <a:pt x="18478" y="0"/>
                </a:cubicBezTo>
                <a:lnTo>
                  <a:pt x="101346" y="0"/>
                </a:lnTo>
                <a:cubicBezTo>
                  <a:pt x="111506" y="0"/>
                  <a:pt x="119761" y="8255"/>
                  <a:pt x="119761" y="18415"/>
                </a:cubicBezTo>
                <a:lnTo>
                  <a:pt x="119761" y="383032"/>
                </a:lnTo>
                <a:close/>
              </a:path>
            </a:pathLst>
          </a:custGeom>
          <a:gradFill rotWithShape="1">
            <a:gsLst>
              <a:gs pos="0">
                <a:srgbClr val="619DD7"/>
              </a:gs>
              <a:gs pos="100000">
                <a:srgbClr val="3985CD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48" name="m-d41_combo-bv-4">
            <a:extLst>
              <a:ext uri="{FF2B5EF4-FFF2-40B4-BE49-F238E27FC236}">
                <a16:creationId xmlns:a16="http://schemas.microsoft.com/office/drawing/2014/main" id="{81345B48-3ABD-C3D4-42DF-6FEDE9315F14}"/>
              </a:ext>
            </a:extLst>
          </p:cNvPr>
          <p:cNvSpPr txBox="1"/>
          <p:nvPr/>
        </p:nvSpPr>
        <p:spPr>
          <a:xfrm>
            <a:off x="8200164" y="3426267"/>
            <a:ext cx="76017" cy="515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3.0</a:t>
            </a:r>
          </a:p>
        </p:txBody>
      </p:sp>
      <p:sp>
        <p:nvSpPr>
          <p:cNvPr id="2449" name="m-d41_combo-x-4">
            <a:extLst>
              <a:ext uri="{FF2B5EF4-FFF2-40B4-BE49-F238E27FC236}">
                <a16:creationId xmlns:a16="http://schemas.microsoft.com/office/drawing/2014/main" id="{2A3B7833-FBE9-129D-0C81-4DC3278D0D9F}"/>
              </a:ext>
            </a:extLst>
          </p:cNvPr>
          <p:cNvSpPr txBox="1"/>
          <p:nvPr/>
        </p:nvSpPr>
        <p:spPr>
          <a:xfrm>
            <a:off x="8194805" y="3892599"/>
            <a:ext cx="86735" cy="483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25Q4</a:t>
            </a:r>
          </a:p>
        </p:txBody>
      </p:sp>
      <p:sp>
        <p:nvSpPr>
          <p:cNvPr id="2450" name="m-d41_combo-b-5">
            <a:extLst>
              <a:ext uri="{FF2B5EF4-FFF2-40B4-BE49-F238E27FC236}">
                <a16:creationId xmlns:a16="http://schemas.microsoft.com/office/drawing/2014/main" id="{DB78C122-DCCB-3919-C35A-8638FD7E2738}"/>
              </a:ext>
            </a:extLst>
          </p:cNvPr>
          <p:cNvSpPr/>
          <p:nvPr/>
        </p:nvSpPr>
        <p:spPr>
          <a:xfrm>
            <a:off x="8417687" y="3510280"/>
            <a:ext cx="119698" cy="357505"/>
          </a:xfrm>
          <a:custGeom>
            <a:avLst/>
            <a:gdLst/>
            <a:ahLst/>
            <a:cxnLst/>
            <a:rect l="0" t="0" r="r" b="b"/>
            <a:pathLst>
              <a:path w="119698" h="357505">
                <a:moveTo>
                  <a:pt x="0" y="357505"/>
                </a:moveTo>
                <a:lnTo>
                  <a:pt x="0" y="18415"/>
                </a:lnTo>
                <a:cubicBezTo>
                  <a:pt x="0" y="8255"/>
                  <a:pt x="8255" y="0"/>
                  <a:pt x="18479" y="0"/>
                </a:cubicBezTo>
                <a:lnTo>
                  <a:pt x="101346" y="0"/>
                </a:lnTo>
                <a:cubicBezTo>
                  <a:pt x="111506" y="0"/>
                  <a:pt x="119698" y="8255"/>
                  <a:pt x="119698" y="18415"/>
                </a:cubicBezTo>
                <a:lnTo>
                  <a:pt x="119698" y="357505"/>
                </a:lnTo>
                <a:close/>
              </a:path>
            </a:pathLst>
          </a:custGeom>
          <a:gradFill rotWithShape="1">
            <a:gsLst>
              <a:gs pos="0">
                <a:srgbClr val="4270B0"/>
              </a:gs>
              <a:gs pos="100000">
                <a:srgbClr val="134C9C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51" name="m-d41_combo-bv-5">
            <a:extLst>
              <a:ext uri="{FF2B5EF4-FFF2-40B4-BE49-F238E27FC236}">
                <a16:creationId xmlns:a16="http://schemas.microsoft.com/office/drawing/2014/main" id="{3488BF7E-D9A3-2783-7888-79C00437A565}"/>
              </a:ext>
            </a:extLst>
          </p:cNvPr>
          <p:cNvSpPr txBox="1"/>
          <p:nvPr/>
        </p:nvSpPr>
        <p:spPr>
          <a:xfrm>
            <a:off x="8439559" y="3451802"/>
            <a:ext cx="76017" cy="515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2.8</a:t>
            </a:r>
          </a:p>
        </p:txBody>
      </p:sp>
      <p:sp>
        <p:nvSpPr>
          <p:cNvPr id="2452" name="m-d41_combo-x-5">
            <a:extLst>
              <a:ext uri="{FF2B5EF4-FFF2-40B4-BE49-F238E27FC236}">
                <a16:creationId xmlns:a16="http://schemas.microsoft.com/office/drawing/2014/main" id="{4E7687CA-D5D1-2871-D1C9-B69EE5971852}"/>
              </a:ext>
            </a:extLst>
          </p:cNvPr>
          <p:cNvSpPr txBox="1"/>
          <p:nvPr/>
        </p:nvSpPr>
        <p:spPr>
          <a:xfrm>
            <a:off x="8434200" y="3892599"/>
            <a:ext cx="86735" cy="483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26Q1</a:t>
            </a:r>
          </a:p>
        </p:txBody>
      </p:sp>
      <p:sp>
        <p:nvSpPr>
          <p:cNvPr id="2453" name="m-d41_combo-b-6">
            <a:extLst>
              <a:ext uri="{FF2B5EF4-FFF2-40B4-BE49-F238E27FC236}">
                <a16:creationId xmlns:a16="http://schemas.microsoft.com/office/drawing/2014/main" id="{C19EA0DE-D673-06D6-8ADB-084EDE98E606}"/>
              </a:ext>
            </a:extLst>
          </p:cNvPr>
          <p:cNvSpPr/>
          <p:nvPr/>
        </p:nvSpPr>
        <p:spPr>
          <a:xfrm>
            <a:off x="8657146" y="3459226"/>
            <a:ext cx="119634" cy="408559"/>
          </a:xfrm>
          <a:custGeom>
            <a:avLst/>
            <a:gdLst/>
            <a:ahLst/>
            <a:cxnLst/>
            <a:rect l="0" t="0" r="r" b="b"/>
            <a:pathLst>
              <a:path w="119634" h="408559">
                <a:moveTo>
                  <a:pt x="0" y="408559"/>
                </a:moveTo>
                <a:lnTo>
                  <a:pt x="0" y="18415"/>
                </a:lnTo>
                <a:cubicBezTo>
                  <a:pt x="0" y="8255"/>
                  <a:pt x="8191" y="0"/>
                  <a:pt x="18352" y="0"/>
                </a:cubicBezTo>
                <a:lnTo>
                  <a:pt x="101283" y="0"/>
                </a:lnTo>
                <a:cubicBezTo>
                  <a:pt x="111443" y="0"/>
                  <a:pt x="119634" y="8255"/>
                  <a:pt x="119634" y="18415"/>
                </a:cubicBezTo>
                <a:lnTo>
                  <a:pt x="119634" y="408559"/>
                </a:lnTo>
                <a:close/>
              </a:path>
            </a:pathLst>
          </a:custGeom>
          <a:gradFill rotWithShape="1">
            <a:gsLst>
              <a:gs pos="0">
                <a:srgbClr val="4270B0"/>
              </a:gs>
              <a:gs pos="100000">
                <a:srgbClr val="134C9C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54" name="m-d41_combo-bv-6">
            <a:extLst>
              <a:ext uri="{FF2B5EF4-FFF2-40B4-BE49-F238E27FC236}">
                <a16:creationId xmlns:a16="http://schemas.microsoft.com/office/drawing/2014/main" id="{6FE3EBC5-3720-623D-0CE3-7AEED2C0E36B}"/>
              </a:ext>
            </a:extLst>
          </p:cNvPr>
          <p:cNvSpPr txBox="1"/>
          <p:nvPr/>
        </p:nvSpPr>
        <p:spPr>
          <a:xfrm>
            <a:off x="8678954" y="3400731"/>
            <a:ext cx="76017" cy="515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3.2</a:t>
            </a:r>
          </a:p>
        </p:txBody>
      </p:sp>
      <p:sp>
        <p:nvSpPr>
          <p:cNvPr id="2455" name="m-d41_combo-x-6">
            <a:extLst>
              <a:ext uri="{FF2B5EF4-FFF2-40B4-BE49-F238E27FC236}">
                <a16:creationId xmlns:a16="http://schemas.microsoft.com/office/drawing/2014/main" id="{65EDDD0A-106C-8D30-557B-1EBD2726EC0E}"/>
              </a:ext>
            </a:extLst>
          </p:cNvPr>
          <p:cNvSpPr txBox="1"/>
          <p:nvPr/>
        </p:nvSpPr>
        <p:spPr>
          <a:xfrm>
            <a:off x="8673595" y="3892599"/>
            <a:ext cx="86735" cy="483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26Q2</a:t>
            </a:r>
          </a:p>
        </p:txBody>
      </p:sp>
      <p:sp>
        <p:nvSpPr>
          <p:cNvPr id="2456" name="m-d41_combo-b-7">
            <a:extLst>
              <a:ext uri="{FF2B5EF4-FFF2-40B4-BE49-F238E27FC236}">
                <a16:creationId xmlns:a16="http://schemas.microsoft.com/office/drawing/2014/main" id="{474FF638-CA54-50A9-D7FB-A77C3FF95C19}"/>
              </a:ext>
            </a:extLst>
          </p:cNvPr>
          <p:cNvSpPr/>
          <p:nvPr/>
        </p:nvSpPr>
        <p:spPr>
          <a:xfrm>
            <a:off x="8896540" y="3420936"/>
            <a:ext cx="119698" cy="446850"/>
          </a:xfrm>
          <a:custGeom>
            <a:avLst/>
            <a:gdLst/>
            <a:ahLst/>
            <a:cxnLst/>
            <a:rect l="0" t="0" r="r" b="b"/>
            <a:pathLst>
              <a:path w="119698" h="446850">
                <a:moveTo>
                  <a:pt x="0" y="446850"/>
                </a:moveTo>
                <a:lnTo>
                  <a:pt x="0" y="18415"/>
                </a:lnTo>
                <a:cubicBezTo>
                  <a:pt x="0" y="8191"/>
                  <a:pt x="8191" y="0"/>
                  <a:pt x="18352" y="0"/>
                </a:cubicBezTo>
                <a:lnTo>
                  <a:pt x="101219" y="0"/>
                </a:lnTo>
                <a:cubicBezTo>
                  <a:pt x="111442" y="0"/>
                  <a:pt x="119698" y="8191"/>
                  <a:pt x="119698" y="18415"/>
                </a:cubicBezTo>
                <a:lnTo>
                  <a:pt x="119698" y="446850"/>
                </a:lnTo>
                <a:close/>
              </a:path>
            </a:pathLst>
          </a:custGeom>
          <a:gradFill rotWithShape="1">
            <a:gsLst>
              <a:gs pos="0">
                <a:srgbClr val="4270B0"/>
              </a:gs>
              <a:gs pos="100000">
                <a:srgbClr val="134C9C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57" name="m-d41_combo-bv-7">
            <a:extLst>
              <a:ext uri="{FF2B5EF4-FFF2-40B4-BE49-F238E27FC236}">
                <a16:creationId xmlns:a16="http://schemas.microsoft.com/office/drawing/2014/main" id="{D9FC4840-A4A4-1632-CBC6-4F5FBF01FA08}"/>
              </a:ext>
            </a:extLst>
          </p:cNvPr>
          <p:cNvSpPr txBox="1"/>
          <p:nvPr/>
        </p:nvSpPr>
        <p:spPr>
          <a:xfrm>
            <a:off x="8918349" y="3362428"/>
            <a:ext cx="76017" cy="515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3.5</a:t>
            </a:r>
          </a:p>
        </p:txBody>
      </p:sp>
      <p:sp>
        <p:nvSpPr>
          <p:cNvPr id="2458" name="m-d41_combo-x-7">
            <a:extLst>
              <a:ext uri="{FF2B5EF4-FFF2-40B4-BE49-F238E27FC236}">
                <a16:creationId xmlns:a16="http://schemas.microsoft.com/office/drawing/2014/main" id="{4D0C1C24-ACB8-AC92-6F8E-152CAAB0FC31}"/>
              </a:ext>
            </a:extLst>
          </p:cNvPr>
          <p:cNvSpPr txBox="1"/>
          <p:nvPr/>
        </p:nvSpPr>
        <p:spPr>
          <a:xfrm>
            <a:off x="8912990" y="3892599"/>
            <a:ext cx="86735" cy="483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26Q3</a:t>
            </a:r>
          </a:p>
        </p:txBody>
      </p:sp>
      <p:sp>
        <p:nvSpPr>
          <p:cNvPr id="2459" name="m-d41_combo-b-8">
            <a:extLst>
              <a:ext uri="{FF2B5EF4-FFF2-40B4-BE49-F238E27FC236}">
                <a16:creationId xmlns:a16="http://schemas.microsoft.com/office/drawing/2014/main" id="{F9427BEC-5BF8-B109-1518-EC255E2E6ADB}"/>
              </a:ext>
            </a:extLst>
          </p:cNvPr>
          <p:cNvSpPr/>
          <p:nvPr/>
        </p:nvSpPr>
        <p:spPr>
          <a:xfrm>
            <a:off x="9135872" y="3344291"/>
            <a:ext cx="119761" cy="523494"/>
          </a:xfrm>
          <a:custGeom>
            <a:avLst/>
            <a:gdLst/>
            <a:ahLst/>
            <a:cxnLst/>
            <a:rect l="0" t="0" r="r" b="b"/>
            <a:pathLst>
              <a:path w="119761" h="523494">
                <a:moveTo>
                  <a:pt x="0" y="523494"/>
                </a:moveTo>
                <a:lnTo>
                  <a:pt x="0" y="18415"/>
                </a:lnTo>
                <a:cubicBezTo>
                  <a:pt x="0" y="8255"/>
                  <a:pt x="8255" y="0"/>
                  <a:pt x="18415" y="0"/>
                </a:cubicBezTo>
                <a:lnTo>
                  <a:pt x="101283" y="0"/>
                </a:lnTo>
                <a:cubicBezTo>
                  <a:pt x="111506" y="0"/>
                  <a:pt x="119761" y="8255"/>
                  <a:pt x="119761" y="18415"/>
                </a:cubicBezTo>
                <a:lnTo>
                  <a:pt x="119761" y="523494"/>
                </a:lnTo>
                <a:close/>
              </a:path>
            </a:pathLst>
          </a:custGeom>
          <a:gradFill rotWithShape="1">
            <a:gsLst>
              <a:gs pos="0">
                <a:srgbClr val="4270B0"/>
              </a:gs>
              <a:gs pos="100000">
                <a:srgbClr val="134C9C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60" name="m-d41_combo-bv-8">
            <a:extLst>
              <a:ext uri="{FF2B5EF4-FFF2-40B4-BE49-F238E27FC236}">
                <a16:creationId xmlns:a16="http://schemas.microsoft.com/office/drawing/2014/main" id="{0E84E12E-1CE3-405C-5AF4-BED1AA06BA12}"/>
              </a:ext>
            </a:extLst>
          </p:cNvPr>
          <p:cNvSpPr txBox="1"/>
          <p:nvPr/>
        </p:nvSpPr>
        <p:spPr>
          <a:xfrm>
            <a:off x="9157744" y="3285822"/>
            <a:ext cx="76017" cy="515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4.1</a:t>
            </a:r>
          </a:p>
        </p:txBody>
      </p:sp>
      <p:sp>
        <p:nvSpPr>
          <p:cNvPr id="2461" name="m-d41_combo-x-8">
            <a:extLst>
              <a:ext uri="{FF2B5EF4-FFF2-40B4-BE49-F238E27FC236}">
                <a16:creationId xmlns:a16="http://schemas.microsoft.com/office/drawing/2014/main" id="{794A3B94-FDBB-F4F0-7AF3-ADFE4A645273}"/>
              </a:ext>
            </a:extLst>
          </p:cNvPr>
          <p:cNvSpPr txBox="1"/>
          <p:nvPr/>
        </p:nvSpPr>
        <p:spPr>
          <a:xfrm>
            <a:off x="9152385" y="3892599"/>
            <a:ext cx="86735" cy="483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26Q4</a:t>
            </a:r>
          </a:p>
        </p:txBody>
      </p:sp>
      <p:sp>
        <p:nvSpPr>
          <p:cNvPr id="2462" name="m-d41_combo-gm">
            <a:extLst>
              <a:ext uri="{FF2B5EF4-FFF2-40B4-BE49-F238E27FC236}">
                <a16:creationId xmlns:a16="http://schemas.microsoft.com/office/drawing/2014/main" id="{DAC913C8-1EA5-1BB7-C9F8-0DF50F4B8BE3}"/>
              </a:ext>
            </a:extLst>
          </p:cNvPr>
          <p:cNvSpPr/>
          <p:nvPr/>
        </p:nvSpPr>
        <p:spPr>
          <a:xfrm>
            <a:off x="7519988" y="3044254"/>
            <a:ext cx="1675765" cy="258838"/>
          </a:xfrm>
          <a:custGeom>
            <a:avLst/>
            <a:gdLst/>
            <a:ahLst/>
            <a:cxnLst/>
            <a:rect l="0" t="0" r="r" b="b"/>
            <a:pathLst>
              <a:path w="1675765" h="258838">
                <a:moveTo>
                  <a:pt x="0" y="129286"/>
                </a:moveTo>
                <a:cubicBezTo>
                  <a:pt x="27940" y="136525"/>
                  <a:pt x="183515" y="176466"/>
                  <a:pt x="239395" y="191516"/>
                </a:cubicBezTo>
                <a:cubicBezTo>
                  <a:pt x="295275" y="206629"/>
                  <a:pt x="422910" y="255206"/>
                  <a:pt x="478790" y="258572"/>
                </a:cubicBezTo>
                <a:cubicBezTo>
                  <a:pt x="534670" y="261937"/>
                  <a:pt x="662305" y="233108"/>
                  <a:pt x="718185" y="220282"/>
                </a:cubicBezTo>
                <a:cubicBezTo>
                  <a:pt x="774065" y="207391"/>
                  <a:pt x="901700" y="164084"/>
                  <a:pt x="957580" y="148463"/>
                </a:cubicBezTo>
                <a:cubicBezTo>
                  <a:pt x="1013460" y="132778"/>
                  <a:pt x="1141095" y="100139"/>
                  <a:pt x="1196975" y="86169"/>
                </a:cubicBezTo>
                <a:cubicBezTo>
                  <a:pt x="1252855" y="72263"/>
                  <a:pt x="1380490" y="38798"/>
                  <a:pt x="1436370" y="28765"/>
                </a:cubicBezTo>
                <a:cubicBezTo>
                  <a:pt x="1492250" y="18669"/>
                  <a:pt x="1647825" y="3365"/>
                  <a:pt x="1675765" y="0"/>
                </a:cubicBezTo>
              </a:path>
            </a:pathLst>
          </a:custGeom>
          <a:noFill/>
          <a:ln w="7366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63" name="m-d41_combo-gp-1">
            <a:extLst>
              <a:ext uri="{FF2B5EF4-FFF2-40B4-BE49-F238E27FC236}">
                <a16:creationId xmlns:a16="http://schemas.microsoft.com/office/drawing/2014/main" id="{C56197ED-E0A7-5131-CEBD-C3EC68291EF4}"/>
              </a:ext>
            </a:extLst>
          </p:cNvPr>
          <p:cNvSpPr/>
          <p:nvPr/>
        </p:nvSpPr>
        <p:spPr>
          <a:xfrm>
            <a:off x="7505256" y="3158808"/>
            <a:ext cx="29464" cy="29464"/>
          </a:xfrm>
          <a:prstGeom prst="ellipse">
            <a:avLst/>
          </a:prstGeom>
          <a:solidFill>
            <a:srgbClr val="E0703A"/>
          </a:solidFill>
          <a:ln w="5524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64" name="m-d41_combo-gv-1">
            <a:extLst>
              <a:ext uri="{FF2B5EF4-FFF2-40B4-BE49-F238E27FC236}">
                <a16:creationId xmlns:a16="http://schemas.microsoft.com/office/drawing/2014/main" id="{5AA6AD87-0C41-AD4F-9008-83782F198194}"/>
              </a:ext>
            </a:extLst>
          </p:cNvPr>
          <p:cNvSpPr txBox="1"/>
          <p:nvPr/>
        </p:nvSpPr>
        <p:spPr>
          <a:xfrm>
            <a:off x="7470589" y="3103733"/>
            <a:ext cx="98796" cy="4672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36.5%</a:t>
            </a:r>
          </a:p>
        </p:txBody>
      </p:sp>
      <p:sp>
        <p:nvSpPr>
          <p:cNvPr id="2465" name="m-d41_combo-gp-2">
            <a:extLst>
              <a:ext uri="{FF2B5EF4-FFF2-40B4-BE49-F238E27FC236}">
                <a16:creationId xmlns:a16="http://schemas.microsoft.com/office/drawing/2014/main" id="{AF1AABBD-AFB6-3874-F529-55D4B5BC05EC}"/>
              </a:ext>
            </a:extLst>
          </p:cNvPr>
          <p:cNvSpPr/>
          <p:nvPr/>
        </p:nvSpPr>
        <p:spPr>
          <a:xfrm>
            <a:off x="7744651" y="3221050"/>
            <a:ext cx="29464" cy="29464"/>
          </a:xfrm>
          <a:prstGeom prst="ellipse">
            <a:avLst/>
          </a:prstGeom>
          <a:solidFill>
            <a:srgbClr val="FFFFFF"/>
          </a:solidFill>
          <a:ln w="5524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66" name="m-d41_combo-gv-2">
            <a:extLst>
              <a:ext uri="{FF2B5EF4-FFF2-40B4-BE49-F238E27FC236}">
                <a16:creationId xmlns:a16="http://schemas.microsoft.com/office/drawing/2014/main" id="{C2DB3344-E1B5-1F07-8384-A25E5984CA93}"/>
              </a:ext>
            </a:extLst>
          </p:cNvPr>
          <p:cNvSpPr txBox="1"/>
          <p:nvPr/>
        </p:nvSpPr>
        <p:spPr>
          <a:xfrm>
            <a:off x="7709984" y="3165976"/>
            <a:ext cx="98796" cy="4672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35.2%</a:t>
            </a:r>
          </a:p>
        </p:txBody>
      </p:sp>
      <p:sp>
        <p:nvSpPr>
          <p:cNvPr id="2467" name="m-d41_combo-gp-3">
            <a:extLst>
              <a:ext uri="{FF2B5EF4-FFF2-40B4-BE49-F238E27FC236}">
                <a16:creationId xmlns:a16="http://schemas.microsoft.com/office/drawing/2014/main" id="{1CE5D17D-A497-02CE-A87C-758C85116F53}"/>
              </a:ext>
            </a:extLst>
          </p:cNvPr>
          <p:cNvSpPr/>
          <p:nvPr/>
        </p:nvSpPr>
        <p:spPr>
          <a:xfrm>
            <a:off x="7984046" y="3288081"/>
            <a:ext cx="29464" cy="29464"/>
          </a:xfrm>
          <a:prstGeom prst="ellipse">
            <a:avLst/>
          </a:prstGeom>
          <a:solidFill>
            <a:srgbClr val="FFFFFF"/>
          </a:solidFill>
          <a:ln w="5524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68" name="m-d41_combo-gv-3">
            <a:extLst>
              <a:ext uri="{FF2B5EF4-FFF2-40B4-BE49-F238E27FC236}">
                <a16:creationId xmlns:a16="http://schemas.microsoft.com/office/drawing/2014/main" id="{500C00AA-8C7B-D66D-5A6B-A7954D9EA0F8}"/>
              </a:ext>
            </a:extLst>
          </p:cNvPr>
          <p:cNvSpPr txBox="1"/>
          <p:nvPr/>
        </p:nvSpPr>
        <p:spPr>
          <a:xfrm>
            <a:off x="7949379" y="3233006"/>
            <a:ext cx="98796" cy="4672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33.8%</a:t>
            </a:r>
          </a:p>
        </p:txBody>
      </p:sp>
      <p:sp>
        <p:nvSpPr>
          <p:cNvPr id="2469" name="m-d41_combo-gp-4">
            <a:extLst>
              <a:ext uri="{FF2B5EF4-FFF2-40B4-BE49-F238E27FC236}">
                <a16:creationId xmlns:a16="http://schemas.microsoft.com/office/drawing/2014/main" id="{E690872E-E4B0-4572-F277-0A6CD47292AF}"/>
              </a:ext>
            </a:extLst>
          </p:cNvPr>
          <p:cNvSpPr/>
          <p:nvPr/>
        </p:nvSpPr>
        <p:spPr>
          <a:xfrm>
            <a:off x="8223440" y="3249778"/>
            <a:ext cx="29464" cy="29464"/>
          </a:xfrm>
          <a:prstGeom prst="ellipse">
            <a:avLst/>
          </a:prstGeom>
          <a:solidFill>
            <a:srgbClr val="FFFFFF"/>
          </a:solidFill>
          <a:ln w="5524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70" name="m-d41_combo-gv-4">
            <a:extLst>
              <a:ext uri="{FF2B5EF4-FFF2-40B4-BE49-F238E27FC236}">
                <a16:creationId xmlns:a16="http://schemas.microsoft.com/office/drawing/2014/main" id="{6882A715-6AC6-4653-B675-09AFD3B758F9}"/>
              </a:ext>
            </a:extLst>
          </p:cNvPr>
          <p:cNvSpPr txBox="1"/>
          <p:nvPr/>
        </p:nvSpPr>
        <p:spPr>
          <a:xfrm>
            <a:off x="8188774" y="3194703"/>
            <a:ext cx="98796" cy="4672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34.6%</a:t>
            </a:r>
          </a:p>
        </p:txBody>
      </p:sp>
      <p:sp>
        <p:nvSpPr>
          <p:cNvPr id="2471" name="m-d41_combo-gp-5">
            <a:extLst>
              <a:ext uri="{FF2B5EF4-FFF2-40B4-BE49-F238E27FC236}">
                <a16:creationId xmlns:a16="http://schemas.microsoft.com/office/drawing/2014/main" id="{3D9D0256-AA4B-2D47-9070-4102A5DC0A81}"/>
              </a:ext>
            </a:extLst>
          </p:cNvPr>
          <p:cNvSpPr/>
          <p:nvPr/>
        </p:nvSpPr>
        <p:spPr>
          <a:xfrm>
            <a:off x="8462836" y="3177959"/>
            <a:ext cx="29464" cy="29464"/>
          </a:xfrm>
          <a:prstGeom prst="ellipse">
            <a:avLst/>
          </a:prstGeom>
          <a:solidFill>
            <a:srgbClr val="E0703A"/>
          </a:solidFill>
          <a:ln w="5524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72" name="m-d41_combo-gv-5">
            <a:extLst>
              <a:ext uri="{FF2B5EF4-FFF2-40B4-BE49-F238E27FC236}">
                <a16:creationId xmlns:a16="http://schemas.microsoft.com/office/drawing/2014/main" id="{80511932-0190-1470-9CBB-C32593A1B0B7}"/>
              </a:ext>
            </a:extLst>
          </p:cNvPr>
          <p:cNvSpPr txBox="1"/>
          <p:nvPr/>
        </p:nvSpPr>
        <p:spPr>
          <a:xfrm>
            <a:off x="8428169" y="3122884"/>
            <a:ext cx="98796" cy="4672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36.1%</a:t>
            </a:r>
          </a:p>
        </p:txBody>
      </p:sp>
      <p:sp>
        <p:nvSpPr>
          <p:cNvPr id="2473" name="m-d41_combo-gp-6">
            <a:extLst>
              <a:ext uri="{FF2B5EF4-FFF2-40B4-BE49-F238E27FC236}">
                <a16:creationId xmlns:a16="http://schemas.microsoft.com/office/drawing/2014/main" id="{A92B9B5B-2407-420C-7F1A-4F4E0D25C19E}"/>
              </a:ext>
            </a:extLst>
          </p:cNvPr>
          <p:cNvSpPr/>
          <p:nvPr/>
        </p:nvSpPr>
        <p:spPr>
          <a:xfrm>
            <a:off x="8702230" y="3115716"/>
            <a:ext cx="29464" cy="29464"/>
          </a:xfrm>
          <a:prstGeom prst="ellipse">
            <a:avLst/>
          </a:prstGeom>
          <a:solidFill>
            <a:srgbClr val="E0703A"/>
          </a:solidFill>
          <a:ln w="5524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74" name="m-d41_combo-gv-6">
            <a:extLst>
              <a:ext uri="{FF2B5EF4-FFF2-40B4-BE49-F238E27FC236}">
                <a16:creationId xmlns:a16="http://schemas.microsoft.com/office/drawing/2014/main" id="{CBF2B08D-DF46-BC84-768C-EDE098C12524}"/>
              </a:ext>
            </a:extLst>
          </p:cNvPr>
          <p:cNvSpPr txBox="1"/>
          <p:nvPr/>
        </p:nvSpPr>
        <p:spPr>
          <a:xfrm>
            <a:off x="8667564" y="3060642"/>
            <a:ext cx="98796" cy="4672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37.4%</a:t>
            </a:r>
          </a:p>
        </p:txBody>
      </p:sp>
      <p:sp>
        <p:nvSpPr>
          <p:cNvPr id="2475" name="m-d41_combo-gp-7">
            <a:extLst>
              <a:ext uri="{FF2B5EF4-FFF2-40B4-BE49-F238E27FC236}">
                <a16:creationId xmlns:a16="http://schemas.microsoft.com/office/drawing/2014/main" id="{39BDCB8E-346D-8F4A-FF85-9197D2279553}"/>
              </a:ext>
            </a:extLst>
          </p:cNvPr>
          <p:cNvSpPr/>
          <p:nvPr/>
        </p:nvSpPr>
        <p:spPr>
          <a:xfrm>
            <a:off x="8941626" y="3058262"/>
            <a:ext cx="29464" cy="29464"/>
          </a:xfrm>
          <a:prstGeom prst="ellipse">
            <a:avLst/>
          </a:prstGeom>
          <a:solidFill>
            <a:srgbClr val="E0703A"/>
          </a:solidFill>
          <a:ln w="5524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76" name="m-d41_combo-gv-7">
            <a:extLst>
              <a:ext uri="{FF2B5EF4-FFF2-40B4-BE49-F238E27FC236}">
                <a16:creationId xmlns:a16="http://schemas.microsoft.com/office/drawing/2014/main" id="{C3CB15CA-380B-6CE7-D0A5-C01FC8878723}"/>
              </a:ext>
            </a:extLst>
          </p:cNvPr>
          <p:cNvSpPr txBox="1"/>
          <p:nvPr/>
        </p:nvSpPr>
        <p:spPr>
          <a:xfrm>
            <a:off x="8906959" y="3003187"/>
            <a:ext cx="98796" cy="4672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38.6%</a:t>
            </a:r>
          </a:p>
        </p:txBody>
      </p:sp>
      <p:sp>
        <p:nvSpPr>
          <p:cNvPr id="2477" name="m-d41_combo-gp-8">
            <a:extLst>
              <a:ext uri="{FF2B5EF4-FFF2-40B4-BE49-F238E27FC236}">
                <a16:creationId xmlns:a16="http://schemas.microsoft.com/office/drawing/2014/main" id="{4C5B8C4B-7CBE-5D42-7F8F-BB8FDCAD2B81}"/>
              </a:ext>
            </a:extLst>
          </p:cNvPr>
          <p:cNvSpPr/>
          <p:nvPr/>
        </p:nvSpPr>
        <p:spPr>
          <a:xfrm>
            <a:off x="9181021" y="3029534"/>
            <a:ext cx="29464" cy="29464"/>
          </a:xfrm>
          <a:prstGeom prst="ellipse">
            <a:avLst/>
          </a:prstGeom>
          <a:solidFill>
            <a:srgbClr val="E0703A"/>
          </a:solidFill>
          <a:ln w="5524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78" name="m-d41_combo-gv-8">
            <a:extLst>
              <a:ext uri="{FF2B5EF4-FFF2-40B4-BE49-F238E27FC236}">
                <a16:creationId xmlns:a16="http://schemas.microsoft.com/office/drawing/2014/main" id="{32468943-9468-35DA-9BE6-0192FBF250B5}"/>
              </a:ext>
            </a:extLst>
          </p:cNvPr>
          <p:cNvSpPr txBox="1"/>
          <p:nvPr/>
        </p:nvSpPr>
        <p:spPr>
          <a:xfrm>
            <a:off x="9146354" y="2974460"/>
            <a:ext cx="98796" cy="4672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39.2%</a:t>
            </a:r>
          </a:p>
        </p:txBody>
      </p:sp>
      <p:sp>
        <p:nvSpPr>
          <p:cNvPr id="2479" name="m-d41_combo-lg-1">
            <a:extLst>
              <a:ext uri="{FF2B5EF4-FFF2-40B4-BE49-F238E27FC236}">
                <a16:creationId xmlns:a16="http://schemas.microsoft.com/office/drawing/2014/main" id="{78BEB680-5B29-5C8E-365B-8BC4186294EF}"/>
              </a:ext>
            </a:extLst>
          </p:cNvPr>
          <p:cNvSpPr/>
          <p:nvPr/>
        </p:nvSpPr>
        <p:spPr>
          <a:xfrm>
            <a:off x="7400290" y="3974592"/>
            <a:ext cx="40513" cy="40513"/>
          </a:xfrm>
          <a:custGeom>
            <a:avLst/>
            <a:gdLst/>
            <a:ahLst/>
            <a:cxnLst/>
            <a:rect l="0" t="0" r="r" b="b"/>
            <a:pathLst>
              <a:path w="40513" h="40513">
                <a:moveTo>
                  <a:pt x="9207" y="0"/>
                </a:moveTo>
                <a:lnTo>
                  <a:pt x="31305" y="0"/>
                </a:lnTo>
                <a:cubicBezTo>
                  <a:pt x="36386" y="0"/>
                  <a:pt x="40513" y="4128"/>
                  <a:pt x="40513" y="9208"/>
                </a:cubicBezTo>
                <a:lnTo>
                  <a:pt x="40513" y="31306"/>
                </a:lnTo>
                <a:cubicBezTo>
                  <a:pt x="40513" y="36386"/>
                  <a:pt x="36386" y="40513"/>
                  <a:pt x="31305" y="40513"/>
                </a:cubicBezTo>
                <a:lnTo>
                  <a:pt x="9207" y="40513"/>
                </a:lnTo>
                <a:cubicBezTo>
                  <a:pt x="4127" y="40513"/>
                  <a:pt x="0" y="36386"/>
                  <a:pt x="0" y="31306"/>
                </a:cubicBezTo>
                <a:lnTo>
                  <a:pt x="0" y="9208"/>
                </a:lnTo>
                <a:cubicBezTo>
                  <a:pt x="0" y="4128"/>
                  <a:pt x="4127" y="0"/>
                  <a:pt x="9207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80" name="m-d41_combo-lg-1t">
            <a:extLst>
              <a:ext uri="{FF2B5EF4-FFF2-40B4-BE49-F238E27FC236}">
                <a16:creationId xmlns:a16="http://schemas.microsoft.com/office/drawing/2014/main" id="{CB895B61-4590-F6BF-F9FA-1278E8DD4D76}"/>
              </a:ext>
            </a:extLst>
          </p:cNvPr>
          <p:cNvSpPr txBox="1"/>
          <p:nvPr/>
        </p:nvSpPr>
        <p:spPr>
          <a:xfrm>
            <a:off x="7455903" y="3969942"/>
            <a:ext cx="157448" cy="483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0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2025 营收</a:t>
            </a:r>
          </a:p>
        </p:txBody>
      </p:sp>
      <p:sp>
        <p:nvSpPr>
          <p:cNvPr id="2481" name="m-d41_combo-lg-2">
            <a:extLst>
              <a:ext uri="{FF2B5EF4-FFF2-40B4-BE49-F238E27FC236}">
                <a16:creationId xmlns:a16="http://schemas.microsoft.com/office/drawing/2014/main" id="{4132981F-2797-EC49-818D-4473167AE269}"/>
              </a:ext>
            </a:extLst>
          </p:cNvPr>
          <p:cNvSpPr/>
          <p:nvPr/>
        </p:nvSpPr>
        <p:spPr>
          <a:xfrm>
            <a:off x="7676515" y="3974592"/>
            <a:ext cx="40513" cy="40513"/>
          </a:xfrm>
          <a:custGeom>
            <a:avLst/>
            <a:gdLst/>
            <a:ahLst/>
            <a:cxnLst/>
            <a:rect l="0" t="0" r="r" b="b"/>
            <a:pathLst>
              <a:path w="40513" h="40513">
                <a:moveTo>
                  <a:pt x="9207" y="0"/>
                </a:moveTo>
                <a:lnTo>
                  <a:pt x="31305" y="0"/>
                </a:lnTo>
                <a:cubicBezTo>
                  <a:pt x="36386" y="0"/>
                  <a:pt x="40513" y="4128"/>
                  <a:pt x="40513" y="9208"/>
                </a:cubicBezTo>
                <a:lnTo>
                  <a:pt x="40513" y="31306"/>
                </a:lnTo>
                <a:cubicBezTo>
                  <a:pt x="40513" y="36386"/>
                  <a:pt x="36386" y="40513"/>
                  <a:pt x="31305" y="40513"/>
                </a:cubicBezTo>
                <a:lnTo>
                  <a:pt x="9207" y="40513"/>
                </a:lnTo>
                <a:cubicBezTo>
                  <a:pt x="4127" y="40513"/>
                  <a:pt x="0" y="36386"/>
                  <a:pt x="0" y="31306"/>
                </a:cubicBezTo>
                <a:lnTo>
                  <a:pt x="0" y="9208"/>
                </a:lnTo>
                <a:cubicBezTo>
                  <a:pt x="0" y="4128"/>
                  <a:pt x="4127" y="0"/>
                  <a:pt x="9207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82" name="m-d41_combo-lg-2t">
            <a:extLst>
              <a:ext uri="{FF2B5EF4-FFF2-40B4-BE49-F238E27FC236}">
                <a16:creationId xmlns:a16="http://schemas.microsoft.com/office/drawing/2014/main" id="{20C2AD79-13E2-58FF-B204-548C69F032F5}"/>
              </a:ext>
            </a:extLst>
          </p:cNvPr>
          <p:cNvSpPr txBox="1"/>
          <p:nvPr/>
        </p:nvSpPr>
        <p:spPr>
          <a:xfrm>
            <a:off x="7732128" y="3969942"/>
            <a:ext cx="157448" cy="483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0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2026 营收</a:t>
            </a:r>
          </a:p>
        </p:txBody>
      </p:sp>
      <p:cxnSp>
        <p:nvCxnSpPr>
          <p:cNvPr id="2483" name="m-d41_combo-lg-3">
            <a:extLst>
              <a:ext uri="{FF2B5EF4-FFF2-40B4-BE49-F238E27FC236}">
                <a16:creationId xmlns:a16="http://schemas.microsoft.com/office/drawing/2014/main" id="{D9CF3E4A-531C-0B5F-B0A8-3696CAD24011}"/>
              </a:ext>
            </a:extLst>
          </p:cNvPr>
          <p:cNvCxnSpPr/>
          <p:nvPr/>
        </p:nvCxnSpPr>
        <p:spPr>
          <a:xfrm>
            <a:off x="7952740" y="3994848"/>
            <a:ext cx="73660" cy="0"/>
          </a:xfrm>
          <a:prstGeom prst="line">
            <a:avLst/>
          </a:prstGeom>
          <a:ln w="7366" cap="rnd">
            <a:solidFill>
              <a:srgbClr val="E0703A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84" name="m-d41_combo-lg-3t">
            <a:extLst>
              <a:ext uri="{FF2B5EF4-FFF2-40B4-BE49-F238E27FC236}">
                <a16:creationId xmlns:a16="http://schemas.microsoft.com/office/drawing/2014/main" id="{4ED2E632-D5C8-029E-E27F-9D80DFC68FB3}"/>
              </a:ext>
            </a:extLst>
          </p:cNvPr>
          <p:cNvSpPr txBox="1"/>
          <p:nvPr/>
        </p:nvSpPr>
        <p:spPr>
          <a:xfrm>
            <a:off x="8041500" y="3969942"/>
            <a:ext cx="319869" cy="483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0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毛利率（实心 = 达标）</a:t>
            </a:r>
          </a:p>
        </p:txBody>
      </p:sp>
      <p:sp>
        <p:nvSpPr>
          <p:cNvPr id="2485" name="m-d41_combo-k-1">
            <a:extLst>
              <a:ext uri="{FF2B5EF4-FFF2-40B4-BE49-F238E27FC236}">
                <a16:creationId xmlns:a16="http://schemas.microsoft.com/office/drawing/2014/main" id="{E1D3FACA-3300-D9E0-FA92-4226DDBEB580}"/>
              </a:ext>
            </a:extLst>
          </p:cNvPr>
          <p:cNvSpPr/>
          <p:nvPr/>
        </p:nvSpPr>
        <p:spPr>
          <a:xfrm>
            <a:off x="9536430" y="2891790"/>
            <a:ext cx="644525" cy="309372"/>
          </a:xfrm>
          <a:custGeom>
            <a:avLst/>
            <a:gdLst/>
            <a:ahLst/>
            <a:cxnLst/>
            <a:rect l="0" t="0" r="r" b="b"/>
            <a:pathLst>
              <a:path w="644525" h="309372">
                <a:moveTo>
                  <a:pt x="36830" y="0"/>
                </a:moveTo>
                <a:lnTo>
                  <a:pt x="607695" y="0"/>
                </a:lnTo>
                <a:cubicBezTo>
                  <a:pt x="628015" y="0"/>
                  <a:pt x="644525" y="16510"/>
                  <a:pt x="644525" y="36830"/>
                </a:cubicBezTo>
                <a:lnTo>
                  <a:pt x="644525" y="272542"/>
                </a:lnTo>
                <a:cubicBezTo>
                  <a:pt x="644525" y="292862"/>
                  <a:pt x="628015" y="309372"/>
                  <a:pt x="607695" y="309372"/>
                </a:cubicBezTo>
                <a:lnTo>
                  <a:pt x="36830" y="309372"/>
                </a:lnTo>
                <a:cubicBezTo>
                  <a:pt x="16510" y="309372"/>
                  <a:pt x="0" y="292862"/>
                  <a:pt x="0" y="272542"/>
                </a:cubicBezTo>
                <a:lnTo>
                  <a:pt x="0" y="36830"/>
                </a:lnTo>
                <a:cubicBezTo>
                  <a:pt x="0" y="16510"/>
                  <a:pt x="16510" y="0"/>
                  <a:pt x="3683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86" name="m-d41_combo-kh-1">
            <a:extLst>
              <a:ext uri="{FF2B5EF4-FFF2-40B4-BE49-F238E27FC236}">
                <a16:creationId xmlns:a16="http://schemas.microsoft.com/office/drawing/2014/main" id="{7D77F1CB-7F8F-A644-F772-B8F936C03343}"/>
              </a:ext>
            </a:extLst>
          </p:cNvPr>
          <p:cNvSpPr txBox="1"/>
          <p:nvPr/>
        </p:nvSpPr>
        <p:spPr>
          <a:xfrm>
            <a:off x="9584235" y="2937837"/>
            <a:ext cx="257626" cy="5478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50" b="1" i="0" u="none" strike="noStrike" kern="1200" cap="none" spc="14" normalizeH="0" baseline="0" noProof="0">
                <a:ln>
                  <a:noFill/>
                </a:ln>
                <a:solidFill>
                  <a:srgbClr val="CFE0F4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2026 全年营收</a:t>
            </a:r>
          </a:p>
        </p:txBody>
      </p:sp>
      <p:sp>
        <p:nvSpPr>
          <p:cNvPr id="2487" name="m-d41_combo-kv-1">
            <a:extLst>
              <a:ext uri="{FF2B5EF4-FFF2-40B4-BE49-F238E27FC236}">
                <a16:creationId xmlns:a16="http://schemas.microsoft.com/office/drawing/2014/main" id="{39B04D4B-3883-FD45-5755-DE11CAF22BE1}"/>
              </a:ext>
            </a:extLst>
          </p:cNvPr>
          <p:cNvSpPr txBox="1"/>
          <p:nvPr/>
        </p:nvSpPr>
        <p:spPr>
          <a:xfrm>
            <a:off x="9578269" y="2990605"/>
            <a:ext cx="386347" cy="14179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640" b="1" i="0" u="none" strike="noStrike" kern="1200" cap="none" spc="7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13.6 亿</a:t>
            </a:r>
          </a:p>
        </p:txBody>
      </p:sp>
      <p:sp>
        <p:nvSpPr>
          <p:cNvPr id="2488" name="m-d41_combo-kd-1">
            <a:extLst>
              <a:ext uri="{FF2B5EF4-FFF2-40B4-BE49-F238E27FC236}">
                <a16:creationId xmlns:a16="http://schemas.microsoft.com/office/drawing/2014/main" id="{E26E3015-130A-8DB2-AB2B-7C1488C04479}"/>
              </a:ext>
            </a:extLst>
          </p:cNvPr>
          <p:cNvSpPr txBox="1"/>
          <p:nvPr/>
        </p:nvSpPr>
        <p:spPr>
          <a:xfrm>
            <a:off x="9584677" y="3122852"/>
            <a:ext cx="161315" cy="483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0" i="0" u="none" strike="noStrike" kern="1200" cap="none" spc="4" normalizeH="0" baseline="0" noProof="0">
                <a:ln>
                  <a:noFill/>
                </a:ln>
                <a:solidFill>
                  <a:srgbClr val="CFE0F4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同比 +35%</a:t>
            </a:r>
          </a:p>
        </p:txBody>
      </p:sp>
      <p:sp>
        <p:nvSpPr>
          <p:cNvPr id="2489" name="m-d41_combo-k-2">
            <a:extLst>
              <a:ext uri="{FF2B5EF4-FFF2-40B4-BE49-F238E27FC236}">
                <a16:creationId xmlns:a16="http://schemas.microsoft.com/office/drawing/2014/main" id="{573896AE-06E2-E6B0-0D50-A203C202E03A}"/>
              </a:ext>
            </a:extLst>
          </p:cNvPr>
          <p:cNvSpPr/>
          <p:nvPr/>
        </p:nvSpPr>
        <p:spPr>
          <a:xfrm>
            <a:off x="9536430" y="3241675"/>
            <a:ext cx="644525" cy="309372"/>
          </a:xfrm>
          <a:custGeom>
            <a:avLst/>
            <a:gdLst/>
            <a:ahLst/>
            <a:cxnLst/>
            <a:rect l="0" t="0" r="r" b="b"/>
            <a:pathLst>
              <a:path w="644525" h="309372">
                <a:moveTo>
                  <a:pt x="36830" y="0"/>
                </a:moveTo>
                <a:lnTo>
                  <a:pt x="607695" y="0"/>
                </a:lnTo>
                <a:cubicBezTo>
                  <a:pt x="628015" y="0"/>
                  <a:pt x="644525" y="16510"/>
                  <a:pt x="644525" y="36830"/>
                </a:cubicBezTo>
                <a:lnTo>
                  <a:pt x="644525" y="272542"/>
                </a:lnTo>
                <a:cubicBezTo>
                  <a:pt x="644525" y="292862"/>
                  <a:pt x="628015" y="309372"/>
                  <a:pt x="607695" y="309372"/>
                </a:cubicBezTo>
                <a:lnTo>
                  <a:pt x="36830" y="309372"/>
                </a:lnTo>
                <a:cubicBezTo>
                  <a:pt x="16510" y="309372"/>
                  <a:pt x="0" y="292862"/>
                  <a:pt x="0" y="272542"/>
                </a:cubicBezTo>
                <a:lnTo>
                  <a:pt x="0" y="36830"/>
                </a:lnTo>
                <a:cubicBezTo>
                  <a:pt x="0" y="16510"/>
                  <a:pt x="16510" y="0"/>
                  <a:pt x="3683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90" name="m-d41_combo-kh-2">
            <a:extLst>
              <a:ext uri="{FF2B5EF4-FFF2-40B4-BE49-F238E27FC236}">
                <a16:creationId xmlns:a16="http://schemas.microsoft.com/office/drawing/2014/main" id="{73B94376-A9E1-2E99-85C2-C36FC232A5EC}"/>
              </a:ext>
            </a:extLst>
          </p:cNvPr>
          <p:cNvSpPr txBox="1"/>
          <p:nvPr/>
        </p:nvSpPr>
        <p:spPr>
          <a:xfrm>
            <a:off x="9584235" y="3287722"/>
            <a:ext cx="218881" cy="5478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50" b="1" i="0" u="none" strike="noStrike" kern="1200" cap="none" spc="1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Q4 单季营收</a:t>
            </a:r>
          </a:p>
        </p:txBody>
      </p:sp>
      <p:sp>
        <p:nvSpPr>
          <p:cNvPr id="2491" name="m-d41_combo-kv-2">
            <a:extLst>
              <a:ext uri="{FF2B5EF4-FFF2-40B4-BE49-F238E27FC236}">
                <a16:creationId xmlns:a16="http://schemas.microsoft.com/office/drawing/2014/main" id="{99EB47F6-4FCB-831C-2856-8E5842BE6FC7}"/>
              </a:ext>
            </a:extLst>
          </p:cNvPr>
          <p:cNvSpPr txBox="1"/>
          <p:nvPr/>
        </p:nvSpPr>
        <p:spPr>
          <a:xfrm>
            <a:off x="9578269" y="3340490"/>
            <a:ext cx="340051" cy="14179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640" b="1" i="0" u="none" strike="noStrike" kern="1200" cap="none" spc="7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4.1 亿</a:t>
            </a:r>
          </a:p>
        </p:txBody>
      </p:sp>
      <p:sp>
        <p:nvSpPr>
          <p:cNvPr id="2492" name="m-d41_combo-kd-2">
            <a:extLst>
              <a:ext uri="{FF2B5EF4-FFF2-40B4-BE49-F238E27FC236}">
                <a16:creationId xmlns:a16="http://schemas.microsoft.com/office/drawing/2014/main" id="{A3F096CD-CA24-9DE5-50BE-8F36C8CE1DFF}"/>
              </a:ext>
            </a:extLst>
          </p:cNvPr>
          <p:cNvSpPr txBox="1"/>
          <p:nvPr/>
        </p:nvSpPr>
        <p:spPr>
          <a:xfrm>
            <a:off x="9584677" y="3472737"/>
            <a:ext cx="165735" cy="483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创历史新高</a:t>
            </a:r>
          </a:p>
        </p:txBody>
      </p:sp>
      <p:sp>
        <p:nvSpPr>
          <p:cNvPr id="2493" name="m-d41_combo-k-3">
            <a:extLst>
              <a:ext uri="{FF2B5EF4-FFF2-40B4-BE49-F238E27FC236}">
                <a16:creationId xmlns:a16="http://schemas.microsoft.com/office/drawing/2014/main" id="{50DCBA21-DBB7-F2B7-05FF-578885B5D618}"/>
              </a:ext>
            </a:extLst>
          </p:cNvPr>
          <p:cNvSpPr/>
          <p:nvPr/>
        </p:nvSpPr>
        <p:spPr>
          <a:xfrm>
            <a:off x="9536430" y="3591560"/>
            <a:ext cx="644525" cy="309372"/>
          </a:xfrm>
          <a:custGeom>
            <a:avLst/>
            <a:gdLst/>
            <a:ahLst/>
            <a:cxnLst/>
            <a:rect l="0" t="0" r="r" b="b"/>
            <a:pathLst>
              <a:path w="644525" h="309372">
                <a:moveTo>
                  <a:pt x="36830" y="0"/>
                </a:moveTo>
                <a:lnTo>
                  <a:pt x="607695" y="0"/>
                </a:lnTo>
                <a:cubicBezTo>
                  <a:pt x="628015" y="0"/>
                  <a:pt x="644525" y="16510"/>
                  <a:pt x="644525" y="36830"/>
                </a:cubicBezTo>
                <a:lnTo>
                  <a:pt x="644525" y="272542"/>
                </a:lnTo>
                <a:cubicBezTo>
                  <a:pt x="644525" y="292862"/>
                  <a:pt x="628015" y="309372"/>
                  <a:pt x="607695" y="309372"/>
                </a:cubicBezTo>
                <a:lnTo>
                  <a:pt x="36830" y="309372"/>
                </a:lnTo>
                <a:cubicBezTo>
                  <a:pt x="16510" y="309372"/>
                  <a:pt x="0" y="292862"/>
                  <a:pt x="0" y="272542"/>
                </a:cubicBezTo>
                <a:lnTo>
                  <a:pt x="0" y="36830"/>
                </a:lnTo>
                <a:cubicBezTo>
                  <a:pt x="0" y="16510"/>
                  <a:pt x="16510" y="0"/>
                  <a:pt x="3683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94" name="m-d41_combo-kh-3">
            <a:extLst>
              <a:ext uri="{FF2B5EF4-FFF2-40B4-BE49-F238E27FC236}">
                <a16:creationId xmlns:a16="http://schemas.microsoft.com/office/drawing/2014/main" id="{B5C3D6A3-AEF8-19A9-A5BD-3B53546C8B20}"/>
              </a:ext>
            </a:extLst>
          </p:cNvPr>
          <p:cNvSpPr txBox="1"/>
          <p:nvPr/>
        </p:nvSpPr>
        <p:spPr>
          <a:xfrm>
            <a:off x="9584235" y="3637607"/>
            <a:ext cx="185734" cy="5478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50" b="1" i="0" u="none" strike="noStrike" kern="1200" cap="none" spc="1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Q4 毛利率</a:t>
            </a:r>
          </a:p>
        </p:txBody>
      </p:sp>
      <p:sp>
        <p:nvSpPr>
          <p:cNvPr id="2495" name="m-d41_combo-kv-3">
            <a:extLst>
              <a:ext uri="{FF2B5EF4-FFF2-40B4-BE49-F238E27FC236}">
                <a16:creationId xmlns:a16="http://schemas.microsoft.com/office/drawing/2014/main" id="{5308919E-5118-93FE-D623-41BA27D25C0A}"/>
              </a:ext>
            </a:extLst>
          </p:cNvPr>
          <p:cNvSpPr txBox="1"/>
          <p:nvPr/>
        </p:nvSpPr>
        <p:spPr>
          <a:xfrm>
            <a:off x="9578269" y="3690375"/>
            <a:ext cx="304400" cy="14179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640" b="1" i="0" u="none" strike="noStrike" kern="1200" cap="none" spc="7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39.2%</a:t>
            </a:r>
          </a:p>
        </p:txBody>
      </p:sp>
      <p:sp>
        <p:nvSpPr>
          <p:cNvPr id="2496" name="m-d41_combo-kd-3">
            <a:extLst>
              <a:ext uri="{FF2B5EF4-FFF2-40B4-BE49-F238E27FC236}">
                <a16:creationId xmlns:a16="http://schemas.microsoft.com/office/drawing/2014/main" id="{1B8A8EE5-8E13-E424-335A-FBCAF60EAC25}"/>
              </a:ext>
            </a:extLst>
          </p:cNvPr>
          <p:cNvSpPr txBox="1"/>
          <p:nvPr/>
        </p:nvSpPr>
        <p:spPr>
          <a:xfrm>
            <a:off x="9584677" y="3822622"/>
            <a:ext cx="306610" cy="483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连续四季在目标区间内</a:t>
            </a:r>
          </a:p>
        </p:txBody>
      </p:sp>
      <p:sp>
        <p:nvSpPr>
          <p:cNvPr id="2497" name="m-d41_combo-sum">
            <a:extLst>
              <a:ext uri="{FF2B5EF4-FFF2-40B4-BE49-F238E27FC236}">
                <a16:creationId xmlns:a16="http://schemas.microsoft.com/office/drawing/2014/main" id="{CCA4EDD8-95CD-530E-A5B6-5C7EC3058A5B}"/>
              </a:ext>
            </a:extLst>
          </p:cNvPr>
          <p:cNvSpPr/>
          <p:nvPr/>
        </p:nvSpPr>
        <p:spPr>
          <a:xfrm>
            <a:off x="7197725" y="4103497"/>
            <a:ext cx="2983230" cy="121539"/>
          </a:xfrm>
          <a:custGeom>
            <a:avLst/>
            <a:gdLst/>
            <a:ahLst/>
            <a:cxnLst/>
            <a:rect l="0" t="0" r="r" b="b"/>
            <a:pathLst>
              <a:path w="2983230" h="121539">
                <a:moveTo>
                  <a:pt x="25781" y="0"/>
                </a:moveTo>
                <a:lnTo>
                  <a:pt x="2957449" y="0"/>
                </a:lnTo>
                <a:cubicBezTo>
                  <a:pt x="2971673" y="0"/>
                  <a:pt x="2983230" y="11557"/>
                  <a:pt x="2983230" y="25781"/>
                </a:cubicBezTo>
                <a:lnTo>
                  <a:pt x="2983230" y="95758"/>
                </a:lnTo>
                <a:cubicBezTo>
                  <a:pt x="2983230" y="109982"/>
                  <a:pt x="2971673" y="121539"/>
                  <a:pt x="2957449" y="121539"/>
                </a:cubicBezTo>
                <a:lnTo>
                  <a:pt x="25781" y="121539"/>
                </a:lnTo>
                <a:cubicBezTo>
                  <a:pt x="11557" y="121539"/>
                  <a:pt x="0" y="109982"/>
                  <a:pt x="0" y="95758"/>
                </a:cubicBezTo>
                <a:lnTo>
                  <a:pt x="0" y="25781"/>
                </a:lnTo>
                <a:cubicBezTo>
                  <a:pt x="0" y="11557"/>
                  <a:pt x="11557" y="0"/>
                  <a:pt x="25781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98" name="m-d41_combo-sum-bar">
            <a:extLst>
              <a:ext uri="{FF2B5EF4-FFF2-40B4-BE49-F238E27FC236}">
                <a16:creationId xmlns:a16="http://schemas.microsoft.com/office/drawing/2014/main" id="{5071C560-5174-6017-8A31-83E47A9AC827}"/>
              </a:ext>
            </a:extLst>
          </p:cNvPr>
          <p:cNvSpPr/>
          <p:nvPr/>
        </p:nvSpPr>
        <p:spPr>
          <a:xfrm>
            <a:off x="7197725" y="4103497"/>
            <a:ext cx="9208" cy="121539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99" name="m-d41_combo-sum-h">
            <a:extLst>
              <a:ext uri="{FF2B5EF4-FFF2-40B4-BE49-F238E27FC236}">
                <a16:creationId xmlns:a16="http://schemas.microsoft.com/office/drawing/2014/main" id="{36AA6562-D3AF-A617-B948-9A960924D918}"/>
              </a:ext>
            </a:extLst>
          </p:cNvPr>
          <p:cNvSpPr txBox="1"/>
          <p:nvPr/>
        </p:nvSpPr>
        <p:spPr>
          <a:xfrm>
            <a:off x="7252896" y="4142178"/>
            <a:ext cx="168129" cy="5478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50" b="1" i="0" u="none" strike="noStrike" kern="1200" cap="none" spc="29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经营判断</a:t>
            </a:r>
          </a:p>
        </p:txBody>
      </p:sp>
      <p:sp>
        <p:nvSpPr>
          <p:cNvPr id="2500" name="m-d41_combo-sum-p">
            <a:extLst>
              <a:ext uri="{FF2B5EF4-FFF2-40B4-BE49-F238E27FC236}">
                <a16:creationId xmlns:a16="http://schemas.microsoft.com/office/drawing/2014/main" id="{952403BC-2F89-D357-8866-3DFF6FAD6C3C}"/>
              </a:ext>
            </a:extLst>
          </p:cNvPr>
          <p:cNvSpPr txBox="1"/>
          <p:nvPr/>
        </p:nvSpPr>
        <p:spPr>
          <a:xfrm>
            <a:off x="7470083" y="4141041"/>
            <a:ext cx="1238685" cy="5639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50" b="0" i="0" u="none" strike="noStrike" kern="1200" cap="none" spc="6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2025 下半年为冲规模牺牲了毛利；2026 调整价格策略后，规模与质量同时回升。</a:t>
            </a:r>
          </a:p>
        </p:txBody>
      </p:sp>
      <p:cxnSp>
        <p:nvCxnSpPr>
          <p:cNvPr id="2501" name="m-d41_combo-foot-line">
            <a:extLst>
              <a:ext uri="{FF2B5EF4-FFF2-40B4-BE49-F238E27FC236}">
                <a16:creationId xmlns:a16="http://schemas.microsoft.com/office/drawing/2014/main" id="{CC7E786D-C54E-B129-94D1-4B6DA15BCDCB}"/>
              </a:ext>
            </a:extLst>
          </p:cNvPr>
          <p:cNvCxnSpPr/>
          <p:nvPr/>
        </p:nvCxnSpPr>
        <p:spPr>
          <a:xfrm>
            <a:off x="7090918" y="4287647"/>
            <a:ext cx="3196844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02" name="m-d41_combo-foot-l">
            <a:extLst>
              <a:ext uri="{FF2B5EF4-FFF2-40B4-BE49-F238E27FC236}">
                <a16:creationId xmlns:a16="http://schemas.microsoft.com/office/drawing/2014/main" id="{E349A8FE-9A26-C285-FADF-6573AC834633}"/>
              </a:ext>
            </a:extLst>
          </p:cNvPr>
          <p:cNvSpPr txBox="1"/>
          <p:nvPr/>
        </p:nvSpPr>
        <p:spPr>
          <a:xfrm>
            <a:off x="7087824" y="4307369"/>
            <a:ext cx="337547" cy="45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0" i="0" u="none" strike="noStrike" kern="1200" cap="none" spc="22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双轴组合图 · 8 个季度</a:t>
            </a:r>
          </a:p>
        </p:txBody>
      </p:sp>
      <p:sp>
        <p:nvSpPr>
          <p:cNvPr id="2503" name="m-d41_combo-foot-r">
            <a:extLst>
              <a:ext uri="{FF2B5EF4-FFF2-40B4-BE49-F238E27FC236}">
                <a16:creationId xmlns:a16="http://schemas.microsoft.com/office/drawing/2014/main" id="{62AB1AF4-B2BA-9EA1-3452-8E91707F4AE4}"/>
              </a:ext>
            </a:extLst>
          </p:cNvPr>
          <p:cNvSpPr txBox="1"/>
          <p:nvPr/>
        </p:nvSpPr>
        <p:spPr>
          <a:xfrm>
            <a:off x="9923366" y="4307369"/>
            <a:ext cx="367490" cy="45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0" i="0" u="none" strike="noStrike" kern="1200" cap="none" spc="29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2504" name="mini-card-s12_petal_core">
            <a:extLst>
              <a:ext uri="{FF2B5EF4-FFF2-40B4-BE49-F238E27FC236}">
                <a16:creationId xmlns:a16="http://schemas.microsoft.com/office/drawing/2014/main" id="{73F775DF-11F6-0690-6601-2A1DA60EF9F0}"/>
              </a:ext>
            </a:extLst>
          </p:cNvPr>
          <p:cNvSpPr/>
          <p:nvPr/>
        </p:nvSpPr>
        <p:spPr>
          <a:xfrm>
            <a:off x="8763000" y="4127500"/>
            <a:ext cx="2926080" cy="1645920"/>
          </a:xfrm>
          <a:custGeom>
            <a:avLst/>
            <a:gdLst/>
            <a:ahLst/>
            <a:cxnLst/>
            <a:rect l="0" t="0" r="r" b="b"/>
            <a:pathLst>
              <a:path w="2926080" h="1645920">
                <a:moveTo>
                  <a:pt x="93853" y="0"/>
                </a:moveTo>
                <a:lnTo>
                  <a:pt x="2832227" y="0"/>
                </a:lnTo>
                <a:cubicBezTo>
                  <a:pt x="2884043" y="0"/>
                  <a:pt x="2926080" y="42037"/>
                  <a:pt x="2926080" y="93853"/>
                </a:cubicBezTo>
                <a:lnTo>
                  <a:pt x="2926080" y="1552067"/>
                </a:lnTo>
                <a:cubicBezTo>
                  <a:pt x="2926080" y="1603883"/>
                  <a:pt x="2884043" y="1645920"/>
                  <a:pt x="2832227" y="1645920"/>
                </a:cubicBezTo>
                <a:lnTo>
                  <a:pt x="93853" y="1645920"/>
                </a:lnTo>
                <a:cubicBezTo>
                  <a:pt x="42037" y="1645920"/>
                  <a:pt x="0" y="1603883"/>
                  <a:pt x="0" y="1552067"/>
                </a:cubicBezTo>
                <a:lnTo>
                  <a:pt x="0" y="93853"/>
                </a:lnTo>
                <a:cubicBezTo>
                  <a:pt x="0" y="42037"/>
                  <a:pt x="42037" y="0"/>
                  <a:pt x="93853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05" name="m-s12_petal_core-title-bar">
            <a:extLst>
              <a:ext uri="{FF2B5EF4-FFF2-40B4-BE49-F238E27FC236}">
                <a16:creationId xmlns:a16="http://schemas.microsoft.com/office/drawing/2014/main" id="{23FAA8D2-11A9-368F-AAAC-12C2C5881A12}"/>
              </a:ext>
            </a:extLst>
          </p:cNvPr>
          <p:cNvSpPr/>
          <p:nvPr/>
        </p:nvSpPr>
        <p:spPr>
          <a:xfrm>
            <a:off x="8903208" y="4243324"/>
            <a:ext cx="7620" cy="118872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06" name="m-s12_petal_core-title-bar-accent">
            <a:extLst>
              <a:ext uri="{FF2B5EF4-FFF2-40B4-BE49-F238E27FC236}">
                <a16:creationId xmlns:a16="http://schemas.microsoft.com/office/drawing/2014/main" id="{DCD39EFA-E939-73DC-6BA2-A2707BC9CA78}"/>
              </a:ext>
            </a:extLst>
          </p:cNvPr>
          <p:cNvSpPr/>
          <p:nvPr/>
        </p:nvSpPr>
        <p:spPr>
          <a:xfrm>
            <a:off x="8903208" y="4243324"/>
            <a:ext cx="7620" cy="41148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07" name="m-s12_petal_core-title-cn">
            <a:extLst>
              <a:ext uri="{FF2B5EF4-FFF2-40B4-BE49-F238E27FC236}">
                <a16:creationId xmlns:a16="http://schemas.microsoft.com/office/drawing/2014/main" id="{49EE78EF-2CDF-6484-19C6-2B5731D37406}"/>
              </a:ext>
            </a:extLst>
          </p:cNvPr>
          <p:cNvSpPr txBox="1"/>
          <p:nvPr/>
        </p:nvSpPr>
        <p:spPr>
          <a:xfrm>
            <a:off x="8940881" y="4222994"/>
            <a:ext cx="499262" cy="11734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30" b="1" i="0" u="none" strike="noStrike" kern="1200" cap="none" spc="4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六大核心能力</a:t>
            </a:r>
          </a:p>
        </p:txBody>
      </p:sp>
      <p:sp>
        <p:nvSpPr>
          <p:cNvPr id="2508" name="m-s12_petal_core-title-en">
            <a:extLst>
              <a:ext uri="{FF2B5EF4-FFF2-40B4-BE49-F238E27FC236}">
                <a16:creationId xmlns:a16="http://schemas.microsoft.com/office/drawing/2014/main" id="{7BE9585B-9272-8454-C1B5-E9C4C66E2B31}"/>
              </a:ext>
            </a:extLst>
          </p:cNvPr>
          <p:cNvSpPr txBox="1"/>
          <p:nvPr/>
        </p:nvSpPr>
        <p:spPr>
          <a:xfrm>
            <a:off x="8949416" y="4325178"/>
            <a:ext cx="478140" cy="373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78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CORE CAPABILITY MODEL</a:t>
            </a:r>
          </a:p>
        </p:txBody>
      </p:sp>
      <p:sp>
        <p:nvSpPr>
          <p:cNvPr id="2509" name="m-s12_petal_core-title-sub">
            <a:extLst>
              <a:ext uri="{FF2B5EF4-FFF2-40B4-BE49-F238E27FC236}">
                <a16:creationId xmlns:a16="http://schemas.microsoft.com/office/drawing/2014/main" id="{E4D8EC0B-DFB3-A14F-ED7B-CA6A7664969B}"/>
              </a:ext>
            </a:extLst>
          </p:cNvPr>
          <p:cNvSpPr txBox="1"/>
          <p:nvPr/>
        </p:nvSpPr>
        <p:spPr>
          <a:xfrm>
            <a:off x="10842864" y="4289052"/>
            <a:ext cx="709117" cy="453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0" i="0" u="none" strike="noStrike" kern="1200" cap="none" spc="12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围绕客户价值中枢展开的六项能力，互为支撑、循环增强</a:t>
            </a:r>
          </a:p>
        </p:txBody>
      </p:sp>
      <p:sp>
        <p:nvSpPr>
          <p:cNvPr id="2510" name="m-s12_petal_core-guide">
            <a:extLst>
              <a:ext uri="{FF2B5EF4-FFF2-40B4-BE49-F238E27FC236}">
                <a16:creationId xmlns:a16="http://schemas.microsoft.com/office/drawing/2014/main" id="{D0178192-B09B-3DCA-FE18-898F73C75E33}"/>
              </a:ext>
            </a:extLst>
          </p:cNvPr>
          <p:cNvSpPr/>
          <p:nvPr/>
        </p:nvSpPr>
        <p:spPr>
          <a:xfrm>
            <a:off x="9707880" y="4499356"/>
            <a:ext cx="1036320" cy="1036320"/>
          </a:xfrm>
          <a:prstGeom prst="ellipse">
            <a:avLst/>
          </a:prstGeom>
          <a:noFill/>
          <a:ln w="2540" cap="rnd">
            <a:solidFill>
              <a:srgbClr val="0B2545">
                <a:alpha val="9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11" name="m-s12_petal_core-petal-1">
            <a:extLst>
              <a:ext uri="{FF2B5EF4-FFF2-40B4-BE49-F238E27FC236}">
                <a16:creationId xmlns:a16="http://schemas.microsoft.com/office/drawing/2014/main" id="{05B725E9-3FD1-4F47-6813-30B2C94C52B5}"/>
              </a:ext>
            </a:extLst>
          </p:cNvPr>
          <p:cNvSpPr/>
          <p:nvPr/>
        </p:nvSpPr>
        <p:spPr>
          <a:xfrm>
            <a:off x="10080230" y="4567555"/>
            <a:ext cx="291620" cy="254444"/>
          </a:xfrm>
          <a:custGeom>
            <a:avLst/>
            <a:gdLst/>
            <a:ahLst/>
            <a:cxnLst/>
            <a:rect l="0" t="0" r="r" b="b"/>
            <a:pathLst>
              <a:path w="291620" h="254444">
                <a:moveTo>
                  <a:pt x="46178" y="254444"/>
                </a:moveTo>
                <a:cubicBezTo>
                  <a:pt x="-83108" y="194373"/>
                  <a:pt x="99709" y="7239"/>
                  <a:pt x="99709" y="7239"/>
                </a:cubicBezTo>
                <a:quadBezTo>
                  <a:pt x="145810" y="-7239"/>
                  <a:pt x="191911" y="7239"/>
                </a:quadBezTo>
                <a:cubicBezTo>
                  <a:pt x="191911" y="7239"/>
                  <a:pt x="374727" y="194373"/>
                  <a:pt x="245441" y="254444"/>
                </a:cubicBezTo>
                <a:quadBezTo>
                  <a:pt x="145810" y="243649"/>
                  <a:pt x="46178" y="254444"/>
                </a:quadBezTo>
                <a:close/>
              </a:path>
            </a:pathLst>
          </a:custGeom>
          <a:gradFill rotWithShape="1">
            <a:gsLst>
              <a:gs pos="0">
                <a:srgbClr val="3761A3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12" name="m-s12_petal_core-icon-rocket">
            <a:extLst>
              <a:ext uri="{FF2B5EF4-FFF2-40B4-BE49-F238E27FC236}">
                <a16:creationId xmlns:a16="http://schemas.microsoft.com/office/drawing/2014/main" id="{B3B4F8F2-5942-34CE-5498-9FBE765EF98F}"/>
              </a:ext>
            </a:extLst>
          </p:cNvPr>
          <p:cNvSpPr/>
          <p:nvPr/>
        </p:nvSpPr>
        <p:spPr>
          <a:xfrm>
            <a:off x="10209276" y="4656836"/>
            <a:ext cx="33528" cy="42164"/>
          </a:xfrm>
          <a:custGeom>
            <a:avLst/>
            <a:gdLst/>
            <a:ahLst/>
            <a:cxnLst/>
            <a:rect l="0" t="0" r="r" b="b"/>
            <a:pathLst>
              <a:path w="33528" h="42164">
                <a:moveTo>
                  <a:pt x="16764" y="0"/>
                </a:moveTo>
                <a:cubicBezTo>
                  <a:pt x="24384" y="5588"/>
                  <a:pt x="28448" y="14224"/>
                  <a:pt x="28448" y="23368"/>
                </a:cubicBezTo>
                <a:lnTo>
                  <a:pt x="22860" y="32512"/>
                </a:lnTo>
                <a:lnTo>
                  <a:pt x="10668" y="32512"/>
                </a:lnTo>
                <a:lnTo>
                  <a:pt x="5080" y="23368"/>
                </a:lnTo>
                <a:cubicBezTo>
                  <a:pt x="5080" y="14224"/>
                  <a:pt x="9144" y="5588"/>
                  <a:pt x="16764" y="0"/>
                </a:cubicBezTo>
                <a:close/>
                <a:moveTo>
                  <a:pt x="5080" y="30480"/>
                </a:moveTo>
                <a:lnTo>
                  <a:pt x="0" y="42164"/>
                </a:lnTo>
                <a:lnTo>
                  <a:pt x="10668" y="38100"/>
                </a:lnTo>
                <a:moveTo>
                  <a:pt x="28448" y="30480"/>
                </a:moveTo>
                <a:lnTo>
                  <a:pt x="33528" y="42164"/>
                </a:lnTo>
                <a:lnTo>
                  <a:pt x="22860" y="38100"/>
                </a:lnTo>
              </a:path>
            </a:pathLst>
          </a:custGeom>
          <a:noFill/>
          <a:ln w="3353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13" name="m-s12_petal_core-pno-1">
            <a:extLst>
              <a:ext uri="{FF2B5EF4-FFF2-40B4-BE49-F238E27FC236}">
                <a16:creationId xmlns:a16="http://schemas.microsoft.com/office/drawing/2014/main" id="{1E33BB67-1FAF-3A0C-E35A-698002623E03}"/>
              </a:ext>
            </a:extLst>
          </p:cNvPr>
          <p:cNvSpPr txBox="1"/>
          <p:nvPr/>
        </p:nvSpPr>
        <p:spPr>
          <a:xfrm>
            <a:off x="10192177" y="4598157"/>
            <a:ext cx="67727" cy="586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alpha val="5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01</a:t>
            </a:r>
          </a:p>
        </p:txBody>
      </p:sp>
      <p:cxnSp>
        <p:nvCxnSpPr>
          <p:cNvPr id="2514" name="m-s12_petal_core-lead-1">
            <a:extLst>
              <a:ext uri="{FF2B5EF4-FFF2-40B4-BE49-F238E27FC236}">
                <a16:creationId xmlns:a16="http://schemas.microsoft.com/office/drawing/2014/main" id="{462CAC0C-17CF-F329-49FF-023E1E8D2068}"/>
              </a:ext>
            </a:extLst>
          </p:cNvPr>
          <p:cNvCxnSpPr/>
          <p:nvPr/>
        </p:nvCxnSpPr>
        <p:spPr>
          <a:xfrm flipV="1">
            <a:off x="10226040" y="4496308"/>
            <a:ext cx="0" cy="51816"/>
          </a:xfrm>
          <a:prstGeom prst="line">
            <a:avLst/>
          </a:prstGeom>
          <a:ln w="2743" cap="rnd">
            <a:solidFill>
              <a:srgbClr val="0B3E8F">
                <a:alpha val="5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15" name="m-s12_petal_core-leadd-1">
            <a:extLst>
              <a:ext uri="{FF2B5EF4-FFF2-40B4-BE49-F238E27FC236}">
                <a16:creationId xmlns:a16="http://schemas.microsoft.com/office/drawing/2014/main" id="{11E562E9-A384-A401-0252-AA213D23C31A}"/>
              </a:ext>
            </a:extLst>
          </p:cNvPr>
          <p:cNvSpPr/>
          <p:nvPr/>
        </p:nvSpPr>
        <p:spPr>
          <a:xfrm>
            <a:off x="10219182" y="4489450"/>
            <a:ext cx="13716" cy="13716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16" name="m-s12_petal_core-pname-1">
            <a:extLst>
              <a:ext uri="{FF2B5EF4-FFF2-40B4-BE49-F238E27FC236}">
                <a16:creationId xmlns:a16="http://schemas.microsoft.com/office/drawing/2014/main" id="{DAEB2B39-0A5B-A8A5-184B-3EBC18221A33}"/>
              </a:ext>
            </a:extLst>
          </p:cNvPr>
          <p:cNvSpPr txBox="1"/>
          <p:nvPr/>
        </p:nvSpPr>
        <p:spPr>
          <a:xfrm>
            <a:off x="10121341" y="4392508"/>
            <a:ext cx="209398" cy="69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3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战略咨询</a:t>
            </a:r>
          </a:p>
        </p:txBody>
      </p:sp>
      <p:sp>
        <p:nvSpPr>
          <p:cNvPr id="2517" name="m-s12_petal_core-pnote-1">
            <a:extLst>
              <a:ext uri="{FF2B5EF4-FFF2-40B4-BE49-F238E27FC236}">
                <a16:creationId xmlns:a16="http://schemas.microsoft.com/office/drawing/2014/main" id="{6FECE00C-6CFF-8D0B-6A01-76C624172B36}"/>
              </a:ext>
            </a:extLst>
          </p:cNvPr>
          <p:cNvSpPr txBox="1"/>
          <p:nvPr/>
        </p:nvSpPr>
        <p:spPr>
          <a:xfrm>
            <a:off x="10091280" y="4451179"/>
            <a:ext cx="269519" cy="4667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行业洞察与路径规划</a:t>
            </a:r>
          </a:p>
        </p:txBody>
      </p:sp>
      <p:sp>
        <p:nvSpPr>
          <p:cNvPr id="2518" name="m-s12_petal_core-petal-2">
            <a:extLst>
              <a:ext uri="{FF2B5EF4-FFF2-40B4-BE49-F238E27FC236}">
                <a16:creationId xmlns:a16="http://schemas.microsoft.com/office/drawing/2014/main" id="{EE931772-19C0-6107-C0B8-E4B45E4823C5}"/>
              </a:ext>
            </a:extLst>
          </p:cNvPr>
          <p:cNvSpPr/>
          <p:nvPr/>
        </p:nvSpPr>
        <p:spPr>
          <a:xfrm>
            <a:off x="10345547" y="4741640"/>
            <a:ext cx="286957" cy="280615"/>
          </a:xfrm>
          <a:custGeom>
            <a:avLst/>
            <a:gdLst/>
            <a:ahLst/>
            <a:cxnLst/>
            <a:rect l="0" t="0" r="r" b="b"/>
            <a:pathLst>
              <a:path w="286957" h="280615">
                <a:moveTo>
                  <a:pt x="0" y="91853"/>
                </a:moveTo>
                <a:cubicBezTo>
                  <a:pt x="-12637" y="-50133"/>
                  <a:pt x="240919" y="14637"/>
                  <a:pt x="240919" y="14637"/>
                </a:cubicBezTo>
                <a:quadBezTo>
                  <a:pt x="276415" y="47276"/>
                  <a:pt x="286957" y="94393"/>
                </a:quadBezTo>
                <a:cubicBezTo>
                  <a:pt x="286957" y="94393"/>
                  <a:pt x="216281" y="346361"/>
                  <a:pt x="99632" y="264382"/>
                </a:cubicBezTo>
                <a:quadBezTo>
                  <a:pt x="59182" y="172752"/>
                  <a:pt x="0" y="91853"/>
                </a:quadBezTo>
                <a:close/>
              </a:path>
            </a:pathLst>
          </a:custGeom>
          <a:gradFill rotWithShape="1">
            <a:gsLst>
              <a:gs pos="0">
                <a:srgbClr val="3D6CAE"/>
              </a:gs>
              <a:gs pos="100000">
                <a:srgbClr val="134C9C"/>
              </a:gs>
            </a:gsLst>
            <a:lin ang="36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19" name="m-s12_petal_core-icon-code">
            <a:extLst>
              <a:ext uri="{FF2B5EF4-FFF2-40B4-BE49-F238E27FC236}">
                <a16:creationId xmlns:a16="http://schemas.microsoft.com/office/drawing/2014/main" id="{9362369A-62EB-C760-A699-3450D7564E62}"/>
              </a:ext>
            </a:extLst>
          </p:cNvPr>
          <p:cNvSpPr/>
          <p:nvPr/>
        </p:nvSpPr>
        <p:spPr>
          <a:xfrm>
            <a:off x="10500233" y="4838192"/>
            <a:ext cx="37592" cy="20320"/>
          </a:xfrm>
          <a:custGeom>
            <a:avLst/>
            <a:gdLst/>
            <a:ahLst/>
            <a:cxnLst/>
            <a:rect l="0" t="0" r="r" b="b"/>
            <a:pathLst>
              <a:path w="37592" h="20320">
                <a:moveTo>
                  <a:pt x="11176" y="0"/>
                </a:moveTo>
                <a:lnTo>
                  <a:pt x="0" y="10160"/>
                </a:lnTo>
                <a:lnTo>
                  <a:pt x="11176" y="20320"/>
                </a:lnTo>
                <a:moveTo>
                  <a:pt x="26416" y="0"/>
                </a:moveTo>
                <a:lnTo>
                  <a:pt x="37592" y="10160"/>
                </a:lnTo>
                <a:lnTo>
                  <a:pt x="26416" y="20320"/>
                </a:lnTo>
              </a:path>
            </a:pathLst>
          </a:custGeom>
          <a:noFill/>
          <a:ln w="3353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20" name="m-s12_petal_core-pno-2">
            <a:extLst>
              <a:ext uri="{FF2B5EF4-FFF2-40B4-BE49-F238E27FC236}">
                <a16:creationId xmlns:a16="http://schemas.microsoft.com/office/drawing/2014/main" id="{1C3C6024-CA4B-1BE9-250F-7F4A3B7497F4}"/>
              </a:ext>
            </a:extLst>
          </p:cNvPr>
          <p:cNvSpPr txBox="1"/>
          <p:nvPr/>
        </p:nvSpPr>
        <p:spPr>
          <a:xfrm>
            <a:off x="10530051" y="4793229"/>
            <a:ext cx="67727" cy="586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alpha val="5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02</a:t>
            </a:r>
          </a:p>
        </p:txBody>
      </p:sp>
      <p:cxnSp>
        <p:nvCxnSpPr>
          <p:cNvPr id="2521" name="m-s12_petal_core-lead-2">
            <a:extLst>
              <a:ext uri="{FF2B5EF4-FFF2-40B4-BE49-F238E27FC236}">
                <a16:creationId xmlns:a16="http://schemas.microsoft.com/office/drawing/2014/main" id="{E39FFAE3-A6F7-F951-5BFD-0BFD97788292}"/>
              </a:ext>
            </a:extLst>
          </p:cNvPr>
          <p:cNvCxnSpPr/>
          <p:nvPr/>
        </p:nvCxnSpPr>
        <p:spPr>
          <a:xfrm flipV="1">
            <a:off x="10632545" y="4756912"/>
            <a:ext cx="44874" cy="25908"/>
          </a:xfrm>
          <a:prstGeom prst="line">
            <a:avLst/>
          </a:prstGeom>
          <a:ln w="2743" cap="rnd">
            <a:solidFill>
              <a:srgbClr val="134C9C">
                <a:alpha val="5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22" name="m-s12_petal_core-leadd-2">
            <a:extLst>
              <a:ext uri="{FF2B5EF4-FFF2-40B4-BE49-F238E27FC236}">
                <a16:creationId xmlns:a16="http://schemas.microsoft.com/office/drawing/2014/main" id="{F192E204-9C10-20BB-FF9A-33CEA6FA692D}"/>
              </a:ext>
            </a:extLst>
          </p:cNvPr>
          <p:cNvSpPr/>
          <p:nvPr/>
        </p:nvSpPr>
        <p:spPr>
          <a:xfrm>
            <a:off x="10670561" y="4750054"/>
            <a:ext cx="13716" cy="13716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23" name="m-s12_petal_core-pname-2">
            <a:extLst>
              <a:ext uri="{FF2B5EF4-FFF2-40B4-BE49-F238E27FC236}">
                <a16:creationId xmlns:a16="http://schemas.microsoft.com/office/drawing/2014/main" id="{412CC05C-2B38-82DE-6B5E-D530CA74EBF8}"/>
              </a:ext>
            </a:extLst>
          </p:cNvPr>
          <p:cNvSpPr txBox="1"/>
          <p:nvPr/>
        </p:nvSpPr>
        <p:spPr>
          <a:xfrm>
            <a:off x="10712478" y="4694260"/>
            <a:ext cx="209398" cy="69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3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产品研发</a:t>
            </a:r>
          </a:p>
        </p:txBody>
      </p:sp>
      <p:sp>
        <p:nvSpPr>
          <p:cNvPr id="2524" name="m-s12_petal_core-pnote-2">
            <a:extLst>
              <a:ext uri="{FF2B5EF4-FFF2-40B4-BE49-F238E27FC236}">
                <a16:creationId xmlns:a16="http://schemas.microsoft.com/office/drawing/2014/main" id="{36534923-4411-7642-522D-D7EA9CEFC5CD}"/>
              </a:ext>
            </a:extLst>
          </p:cNvPr>
          <p:cNvSpPr txBox="1"/>
          <p:nvPr/>
        </p:nvSpPr>
        <p:spPr>
          <a:xfrm>
            <a:off x="10714032" y="4755979"/>
            <a:ext cx="269519" cy="4667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自研引擎与快速迭代</a:t>
            </a:r>
          </a:p>
        </p:txBody>
      </p:sp>
      <p:sp>
        <p:nvSpPr>
          <p:cNvPr id="2525" name="m-s12_petal_core-petal-3">
            <a:extLst>
              <a:ext uri="{FF2B5EF4-FFF2-40B4-BE49-F238E27FC236}">
                <a16:creationId xmlns:a16="http://schemas.microsoft.com/office/drawing/2014/main" id="{559F7DE6-1489-6A5C-EDF2-56E21B5DEDD8}"/>
              </a:ext>
            </a:extLst>
          </p:cNvPr>
          <p:cNvSpPr/>
          <p:nvPr/>
        </p:nvSpPr>
        <p:spPr>
          <a:xfrm>
            <a:off x="10345547" y="5012777"/>
            <a:ext cx="286957" cy="280615"/>
          </a:xfrm>
          <a:custGeom>
            <a:avLst/>
            <a:gdLst/>
            <a:ahLst/>
            <a:cxnLst/>
            <a:rect l="0" t="0" r="r" b="b"/>
            <a:pathLst>
              <a:path w="286957" h="280615">
                <a:moveTo>
                  <a:pt x="99632" y="16233"/>
                </a:moveTo>
                <a:cubicBezTo>
                  <a:pt x="216281" y="-65746"/>
                  <a:pt x="286957" y="186222"/>
                  <a:pt x="286957" y="186222"/>
                </a:cubicBezTo>
                <a:quadBezTo>
                  <a:pt x="276415" y="233339"/>
                  <a:pt x="240919" y="265978"/>
                </a:quadBezTo>
                <a:cubicBezTo>
                  <a:pt x="240919" y="265978"/>
                  <a:pt x="-12637" y="330748"/>
                  <a:pt x="0" y="188762"/>
                </a:cubicBezTo>
                <a:quadBezTo>
                  <a:pt x="59182" y="107863"/>
                  <a:pt x="99632" y="16233"/>
                </a:quadBezTo>
                <a:close/>
              </a:path>
            </a:pathLst>
          </a:custGeom>
          <a:gradFill rotWithShape="1">
            <a:gsLst>
              <a:gs pos="0">
                <a:srgbClr val="4B83C3"/>
              </a:gs>
              <a:gs pos="100000">
                <a:srgbClr val="2468B6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26" name="m-s12_petal_core-icon-process">
            <a:extLst>
              <a:ext uri="{FF2B5EF4-FFF2-40B4-BE49-F238E27FC236}">
                <a16:creationId xmlns:a16="http://schemas.microsoft.com/office/drawing/2014/main" id="{843EF785-23D8-1E3D-92B5-DC9CF27B8162}"/>
              </a:ext>
            </a:extLst>
          </p:cNvPr>
          <p:cNvSpPr/>
          <p:nvPr/>
        </p:nvSpPr>
        <p:spPr>
          <a:xfrm>
            <a:off x="10500233" y="5176520"/>
            <a:ext cx="37592" cy="20320"/>
          </a:xfrm>
          <a:custGeom>
            <a:avLst/>
            <a:gdLst/>
            <a:ahLst/>
            <a:cxnLst/>
            <a:rect l="0" t="0" r="r" b="b"/>
            <a:pathLst>
              <a:path w="37592" h="20320">
                <a:moveTo>
                  <a:pt x="0" y="0"/>
                </a:moveTo>
                <a:lnTo>
                  <a:pt x="13208" y="0"/>
                </a:lnTo>
                <a:lnTo>
                  <a:pt x="13208" y="13208"/>
                </a:lnTo>
                <a:lnTo>
                  <a:pt x="0" y="13208"/>
                </a:lnTo>
                <a:close/>
                <a:moveTo>
                  <a:pt x="24384" y="7112"/>
                </a:moveTo>
                <a:lnTo>
                  <a:pt x="37592" y="7112"/>
                </a:lnTo>
                <a:lnTo>
                  <a:pt x="37592" y="20320"/>
                </a:lnTo>
                <a:lnTo>
                  <a:pt x="24384" y="20320"/>
                </a:lnTo>
                <a:close/>
                <a:moveTo>
                  <a:pt x="13208" y="6604"/>
                </a:moveTo>
                <a:lnTo>
                  <a:pt x="24384" y="6604"/>
                </a:lnTo>
              </a:path>
            </a:pathLst>
          </a:custGeom>
          <a:noFill/>
          <a:ln w="3353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27" name="m-s12_petal_core-pno-3">
            <a:extLst>
              <a:ext uri="{FF2B5EF4-FFF2-40B4-BE49-F238E27FC236}">
                <a16:creationId xmlns:a16="http://schemas.microsoft.com/office/drawing/2014/main" id="{90BF8D1E-FE42-2C56-CA39-69388AB25853}"/>
              </a:ext>
            </a:extLst>
          </p:cNvPr>
          <p:cNvSpPr txBox="1"/>
          <p:nvPr/>
        </p:nvSpPr>
        <p:spPr>
          <a:xfrm>
            <a:off x="10530051" y="5183373"/>
            <a:ext cx="67727" cy="586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alpha val="5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03</a:t>
            </a:r>
          </a:p>
        </p:txBody>
      </p:sp>
      <p:cxnSp>
        <p:nvCxnSpPr>
          <p:cNvPr id="2528" name="m-s12_petal_core-lead-3">
            <a:extLst>
              <a:ext uri="{FF2B5EF4-FFF2-40B4-BE49-F238E27FC236}">
                <a16:creationId xmlns:a16="http://schemas.microsoft.com/office/drawing/2014/main" id="{F1F8F6CF-8E6A-1E59-7720-AFCBF2F6C0F3}"/>
              </a:ext>
            </a:extLst>
          </p:cNvPr>
          <p:cNvCxnSpPr/>
          <p:nvPr/>
        </p:nvCxnSpPr>
        <p:spPr>
          <a:xfrm>
            <a:off x="10632545" y="5252212"/>
            <a:ext cx="44874" cy="25908"/>
          </a:xfrm>
          <a:prstGeom prst="line">
            <a:avLst/>
          </a:prstGeom>
          <a:ln w="2743" cap="rnd">
            <a:solidFill>
              <a:srgbClr val="2468B6">
                <a:alpha val="5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29" name="m-s12_petal_core-leadd-3">
            <a:extLst>
              <a:ext uri="{FF2B5EF4-FFF2-40B4-BE49-F238E27FC236}">
                <a16:creationId xmlns:a16="http://schemas.microsoft.com/office/drawing/2014/main" id="{04083485-F8CF-AE4A-3804-B9AFF799B51C}"/>
              </a:ext>
            </a:extLst>
          </p:cNvPr>
          <p:cNvSpPr/>
          <p:nvPr/>
        </p:nvSpPr>
        <p:spPr>
          <a:xfrm>
            <a:off x="10670561" y="5271262"/>
            <a:ext cx="13716" cy="13716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30" name="m-s12_petal_core-pname-3">
            <a:extLst>
              <a:ext uri="{FF2B5EF4-FFF2-40B4-BE49-F238E27FC236}">
                <a16:creationId xmlns:a16="http://schemas.microsoft.com/office/drawing/2014/main" id="{3EFAF143-13B4-738F-2F18-BEBED642C13D}"/>
              </a:ext>
            </a:extLst>
          </p:cNvPr>
          <p:cNvSpPr txBox="1"/>
          <p:nvPr/>
        </p:nvSpPr>
        <p:spPr>
          <a:xfrm>
            <a:off x="10712478" y="5236804"/>
            <a:ext cx="209398" cy="69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3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交付实施</a:t>
            </a:r>
          </a:p>
        </p:txBody>
      </p:sp>
      <p:sp>
        <p:nvSpPr>
          <p:cNvPr id="2531" name="m-s12_petal_core-pnote-3">
            <a:extLst>
              <a:ext uri="{FF2B5EF4-FFF2-40B4-BE49-F238E27FC236}">
                <a16:creationId xmlns:a16="http://schemas.microsoft.com/office/drawing/2014/main" id="{4537B9FD-F009-15EF-0F1E-D3AFFBC6C297}"/>
              </a:ext>
            </a:extLst>
          </p:cNvPr>
          <p:cNvSpPr txBox="1"/>
          <p:nvPr/>
        </p:nvSpPr>
        <p:spPr>
          <a:xfrm>
            <a:off x="10714032" y="5298523"/>
            <a:ext cx="242240" cy="4667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标准化实施方法论</a:t>
            </a:r>
          </a:p>
        </p:txBody>
      </p:sp>
      <p:sp>
        <p:nvSpPr>
          <p:cNvPr id="2532" name="m-s12_petal_core-petal-4">
            <a:extLst>
              <a:ext uri="{FF2B5EF4-FFF2-40B4-BE49-F238E27FC236}">
                <a16:creationId xmlns:a16="http://schemas.microsoft.com/office/drawing/2014/main" id="{82888F8A-6A10-5408-63D3-CFB23211EC0E}"/>
              </a:ext>
            </a:extLst>
          </p:cNvPr>
          <p:cNvSpPr/>
          <p:nvPr/>
        </p:nvSpPr>
        <p:spPr>
          <a:xfrm>
            <a:off x="10080230" y="5213032"/>
            <a:ext cx="291620" cy="254444"/>
          </a:xfrm>
          <a:custGeom>
            <a:avLst/>
            <a:gdLst/>
            <a:ahLst/>
            <a:cxnLst/>
            <a:rect l="0" t="0" r="r" b="b"/>
            <a:pathLst>
              <a:path w="291620" h="254444">
                <a:moveTo>
                  <a:pt x="245441" y="0"/>
                </a:moveTo>
                <a:cubicBezTo>
                  <a:pt x="374727" y="60071"/>
                  <a:pt x="191911" y="247205"/>
                  <a:pt x="191911" y="247205"/>
                </a:cubicBezTo>
                <a:quadBezTo>
                  <a:pt x="145810" y="261683"/>
                  <a:pt x="99709" y="247205"/>
                </a:quadBezTo>
                <a:cubicBezTo>
                  <a:pt x="99709" y="247205"/>
                  <a:pt x="-83108" y="60071"/>
                  <a:pt x="46178" y="0"/>
                </a:cubicBezTo>
                <a:quadBezTo>
                  <a:pt x="145810" y="10795"/>
                  <a:pt x="245441" y="0"/>
                </a:quadBezTo>
                <a:close/>
              </a:path>
            </a:pathLst>
          </a:custGeom>
          <a:gradFill rotWithShape="1">
            <a:gsLst>
              <a:gs pos="0">
                <a:srgbClr val="548FCD"/>
              </a:gs>
              <a:gs pos="100000">
                <a:srgbClr val="2E77C2"/>
              </a:gs>
            </a:gsLst>
            <a:lin ang="108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33" name="m-s12_petal_core-icon-hand">
            <a:extLst>
              <a:ext uri="{FF2B5EF4-FFF2-40B4-BE49-F238E27FC236}">
                <a16:creationId xmlns:a16="http://schemas.microsoft.com/office/drawing/2014/main" id="{2E8DD764-1C7E-7A5F-9755-C9F9CDB30366}"/>
              </a:ext>
            </a:extLst>
          </p:cNvPr>
          <p:cNvSpPr/>
          <p:nvPr/>
        </p:nvSpPr>
        <p:spPr>
          <a:xfrm>
            <a:off x="10206827" y="5334000"/>
            <a:ext cx="34453" cy="43688"/>
          </a:xfrm>
          <a:custGeom>
            <a:avLst/>
            <a:gdLst/>
            <a:ahLst/>
            <a:cxnLst/>
            <a:rect l="0" t="0" r="r" b="b"/>
            <a:pathLst>
              <a:path w="34453" h="43688">
                <a:moveTo>
                  <a:pt x="10069" y="23368"/>
                </a:moveTo>
                <a:lnTo>
                  <a:pt x="10069" y="7112"/>
                </a:lnTo>
                <a:cubicBezTo>
                  <a:pt x="10069" y="4889"/>
                  <a:pt x="11911" y="3048"/>
                  <a:pt x="14133" y="3048"/>
                </a:cubicBezTo>
                <a:cubicBezTo>
                  <a:pt x="16356" y="3048"/>
                  <a:pt x="18197" y="4889"/>
                  <a:pt x="18197" y="7112"/>
                </a:cubicBezTo>
                <a:lnTo>
                  <a:pt x="18197" y="19812"/>
                </a:lnTo>
                <a:moveTo>
                  <a:pt x="18197" y="19812"/>
                </a:moveTo>
                <a:lnTo>
                  <a:pt x="18197" y="4064"/>
                </a:lnTo>
                <a:cubicBezTo>
                  <a:pt x="18197" y="1841"/>
                  <a:pt x="20039" y="0"/>
                  <a:pt x="22261" y="0"/>
                </a:cubicBezTo>
                <a:cubicBezTo>
                  <a:pt x="24484" y="0"/>
                  <a:pt x="26325" y="1841"/>
                  <a:pt x="26325" y="4064"/>
                </a:cubicBezTo>
                <a:lnTo>
                  <a:pt x="26325" y="19812"/>
                </a:lnTo>
                <a:moveTo>
                  <a:pt x="26325" y="20828"/>
                </a:moveTo>
                <a:lnTo>
                  <a:pt x="26325" y="10160"/>
                </a:lnTo>
                <a:cubicBezTo>
                  <a:pt x="26325" y="7938"/>
                  <a:pt x="28167" y="6096"/>
                  <a:pt x="30389" y="6096"/>
                </a:cubicBezTo>
                <a:cubicBezTo>
                  <a:pt x="32612" y="6096"/>
                  <a:pt x="34453" y="7938"/>
                  <a:pt x="34453" y="10160"/>
                </a:cubicBezTo>
                <a:lnTo>
                  <a:pt x="34453" y="28956"/>
                </a:lnTo>
                <a:cubicBezTo>
                  <a:pt x="34453" y="37084"/>
                  <a:pt x="28357" y="43688"/>
                  <a:pt x="20229" y="43688"/>
                </a:cubicBezTo>
                <a:cubicBezTo>
                  <a:pt x="13625" y="43688"/>
                  <a:pt x="10069" y="40640"/>
                  <a:pt x="6513" y="35560"/>
                </a:cubicBezTo>
                <a:lnTo>
                  <a:pt x="417" y="26416"/>
                </a:lnTo>
                <a:cubicBezTo>
                  <a:pt x="-472" y="24638"/>
                  <a:pt x="100" y="22415"/>
                  <a:pt x="1751" y="21273"/>
                </a:cubicBezTo>
                <a:cubicBezTo>
                  <a:pt x="3402" y="20129"/>
                  <a:pt x="5624" y="20384"/>
                  <a:pt x="7021" y="21844"/>
                </a:cubicBezTo>
                <a:close/>
              </a:path>
            </a:pathLst>
          </a:custGeom>
          <a:noFill/>
          <a:ln w="3353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34" name="m-s12_petal_core-pno-4">
            <a:extLst>
              <a:ext uri="{FF2B5EF4-FFF2-40B4-BE49-F238E27FC236}">
                <a16:creationId xmlns:a16="http://schemas.microsoft.com/office/drawing/2014/main" id="{6424E15F-D64B-6E6C-1840-F1E211512493}"/>
              </a:ext>
            </a:extLst>
          </p:cNvPr>
          <p:cNvSpPr txBox="1"/>
          <p:nvPr/>
        </p:nvSpPr>
        <p:spPr>
          <a:xfrm>
            <a:off x="10192177" y="5378445"/>
            <a:ext cx="67727" cy="586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alpha val="5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04</a:t>
            </a:r>
          </a:p>
        </p:txBody>
      </p:sp>
      <p:cxnSp>
        <p:nvCxnSpPr>
          <p:cNvPr id="2535" name="m-s12_petal_core-lead-4">
            <a:extLst>
              <a:ext uri="{FF2B5EF4-FFF2-40B4-BE49-F238E27FC236}">
                <a16:creationId xmlns:a16="http://schemas.microsoft.com/office/drawing/2014/main" id="{95EC533A-66E6-673B-EBC7-8EC9EAD80C52}"/>
              </a:ext>
            </a:extLst>
          </p:cNvPr>
          <p:cNvCxnSpPr/>
          <p:nvPr/>
        </p:nvCxnSpPr>
        <p:spPr>
          <a:xfrm>
            <a:off x="10226040" y="5486908"/>
            <a:ext cx="0" cy="51816"/>
          </a:xfrm>
          <a:prstGeom prst="line">
            <a:avLst/>
          </a:prstGeom>
          <a:ln w="2743" cap="rnd">
            <a:solidFill>
              <a:srgbClr val="2E77C2">
                <a:alpha val="5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36" name="m-s12_petal_core-leadd-4">
            <a:extLst>
              <a:ext uri="{FF2B5EF4-FFF2-40B4-BE49-F238E27FC236}">
                <a16:creationId xmlns:a16="http://schemas.microsoft.com/office/drawing/2014/main" id="{26F6E4CC-85E6-34E1-B413-57EFAAE9FBBC}"/>
              </a:ext>
            </a:extLst>
          </p:cNvPr>
          <p:cNvSpPr/>
          <p:nvPr/>
        </p:nvSpPr>
        <p:spPr>
          <a:xfrm>
            <a:off x="10219182" y="5531866"/>
            <a:ext cx="13716" cy="13716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37" name="m-s12_petal_core-pname-4">
            <a:extLst>
              <a:ext uri="{FF2B5EF4-FFF2-40B4-BE49-F238E27FC236}">
                <a16:creationId xmlns:a16="http://schemas.microsoft.com/office/drawing/2014/main" id="{3D3E65E9-5227-5592-2253-7CBBB688E4A6}"/>
              </a:ext>
            </a:extLst>
          </p:cNvPr>
          <p:cNvSpPr txBox="1"/>
          <p:nvPr/>
        </p:nvSpPr>
        <p:spPr>
          <a:xfrm>
            <a:off x="10121341" y="5553796"/>
            <a:ext cx="209398" cy="69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3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运营服务</a:t>
            </a:r>
          </a:p>
        </p:txBody>
      </p:sp>
      <p:sp>
        <p:nvSpPr>
          <p:cNvPr id="2538" name="m-s12_petal_core-pnote-4">
            <a:extLst>
              <a:ext uri="{FF2B5EF4-FFF2-40B4-BE49-F238E27FC236}">
                <a16:creationId xmlns:a16="http://schemas.microsoft.com/office/drawing/2014/main" id="{7B432A7F-B014-2B6B-C4CC-C1E708AB459E}"/>
              </a:ext>
            </a:extLst>
          </p:cNvPr>
          <p:cNvSpPr txBox="1"/>
          <p:nvPr/>
        </p:nvSpPr>
        <p:spPr>
          <a:xfrm>
            <a:off x="10104920" y="5612467"/>
            <a:ext cx="242240" cy="4667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全周期陪跑与优化</a:t>
            </a:r>
          </a:p>
        </p:txBody>
      </p:sp>
      <p:sp>
        <p:nvSpPr>
          <p:cNvPr id="2539" name="m-s12_petal_core-petal-5">
            <a:extLst>
              <a:ext uri="{FF2B5EF4-FFF2-40B4-BE49-F238E27FC236}">
                <a16:creationId xmlns:a16="http://schemas.microsoft.com/office/drawing/2014/main" id="{1C1FB20A-B623-2598-FE6B-E63632C8B152}"/>
              </a:ext>
            </a:extLst>
          </p:cNvPr>
          <p:cNvSpPr/>
          <p:nvPr/>
        </p:nvSpPr>
        <p:spPr>
          <a:xfrm>
            <a:off x="9819576" y="5012777"/>
            <a:ext cx="286956" cy="280615"/>
          </a:xfrm>
          <a:custGeom>
            <a:avLst/>
            <a:gdLst/>
            <a:ahLst/>
            <a:cxnLst/>
            <a:rect l="0" t="0" r="r" b="b"/>
            <a:pathLst>
              <a:path w="286956" h="280615">
                <a:moveTo>
                  <a:pt x="286956" y="188762"/>
                </a:moveTo>
                <a:cubicBezTo>
                  <a:pt x="299593" y="330748"/>
                  <a:pt x="46038" y="265978"/>
                  <a:pt x="46038" y="265978"/>
                </a:cubicBezTo>
                <a:quadBezTo>
                  <a:pt x="10541" y="233339"/>
                  <a:pt x="0" y="186222"/>
                </a:quadBezTo>
                <a:cubicBezTo>
                  <a:pt x="0" y="186222"/>
                  <a:pt x="70675" y="-65746"/>
                  <a:pt x="187325" y="16233"/>
                </a:cubicBezTo>
                <a:quadBezTo>
                  <a:pt x="227774" y="107863"/>
                  <a:pt x="286956" y="188762"/>
                </a:quadBezTo>
                <a:close/>
              </a:path>
            </a:pathLst>
          </a:custGeom>
          <a:gradFill rotWithShape="1">
            <a:gsLst>
              <a:gs pos="0">
                <a:srgbClr val="67A7DE"/>
              </a:gs>
              <a:gs pos="100000">
                <a:srgbClr val="4694D7"/>
              </a:gs>
            </a:gsLst>
            <a:lin ang="14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40" name="m-s12_petal_core-icon-network">
            <a:extLst>
              <a:ext uri="{FF2B5EF4-FFF2-40B4-BE49-F238E27FC236}">
                <a16:creationId xmlns:a16="http://schemas.microsoft.com/office/drawing/2014/main" id="{4FEE9DC3-A2EB-4692-A074-C6F364F58345}"/>
              </a:ext>
            </a:extLst>
          </p:cNvPr>
          <p:cNvSpPr/>
          <p:nvPr/>
        </p:nvSpPr>
        <p:spPr>
          <a:xfrm>
            <a:off x="9925431" y="5177536"/>
            <a:ext cx="15240" cy="17780"/>
          </a:xfrm>
          <a:custGeom>
            <a:avLst/>
            <a:gdLst/>
            <a:ahLst/>
            <a:cxnLst/>
            <a:rect l="0" t="0" r="r" b="b"/>
            <a:pathLst>
              <a:path w="15240" h="17780">
                <a:moveTo>
                  <a:pt x="7620" y="0"/>
                </a:moveTo>
                <a:lnTo>
                  <a:pt x="7620" y="8128"/>
                </a:lnTo>
                <a:moveTo>
                  <a:pt x="0" y="17780"/>
                </a:moveTo>
                <a:lnTo>
                  <a:pt x="5588" y="11176"/>
                </a:lnTo>
                <a:moveTo>
                  <a:pt x="15240" y="17780"/>
                </a:moveTo>
                <a:lnTo>
                  <a:pt x="9652" y="11176"/>
                </a:lnTo>
              </a:path>
            </a:pathLst>
          </a:custGeom>
          <a:noFill/>
          <a:ln w="3353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41" name="m-s12_petal_core-icon-network">
            <a:extLst>
              <a:ext uri="{FF2B5EF4-FFF2-40B4-BE49-F238E27FC236}">
                <a16:creationId xmlns:a16="http://schemas.microsoft.com/office/drawing/2014/main" id="{39DE88A8-749E-1CA9-FD3E-3C9754D98947}"/>
              </a:ext>
            </a:extLst>
          </p:cNvPr>
          <p:cNvSpPr/>
          <p:nvPr/>
        </p:nvSpPr>
        <p:spPr>
          <a:xfrm>
            <a:off x="9926435" y="5164836"/>
            <a:ext cx="13208" cy="13208"/>
          </a:xfrm>
          <a:prstGeom prst="ellipse">
            <a:avLst/>
          </a:prstGeom>
          <a:noFill/>
          <a:ln w="3353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42" name="m-s12_petal_core-icon-network">
            <a:extLst>
              <a:ext uri="{FF2B5EF4-FFF2-40B4-BE49-F238E27FC236}">
                <a16:creationId xmlns:a16="http://schemas.microsoft.com/office/drawing/2014/main" id="{6AEB43F4-B43C-990C-7897-483CE0C699F4}"/>
              </a:ext>
            </a:extLst>
          </p:cNvPr>
          <p:cNvSpPr/>
          <p:nvPr/>
        </p:nvSpPr>
        <p:spPr>
          <a:xfrm>
            <a:off x="9913735" y="5193792"/>
            <a:ext cx="13208" cy="13208"/>
          </a:xfrm>
          <a:prstGeom prst="ellipse">
            <a:avLst/>
          </a:prstGeom>
          <a:noFill/>
          <a:ln w="3353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43" name="m-s12_petal_core-icon-network">
            <a:extLst>
              <a:ext uri="{FF2B5EF4-FFF2-40B4-BE49-F238E27FC236}">
                <a16:creationId xmlns:a16="http://schemas.microsoft.com/office/drawing/2014/main" id="{6C1B9534-9885-80F4-DB3B-1DE574EE7EAC}"/>
              </a:ext>
            </a:extLst>
          </p:cNvPr>
          <p:cNvSpPr/>
          <p:nvPr/>
        </p:nvSpPr>
        <p:spPr>
          <a:xfrm>
            <a:off x="9939135" y="5193792"/>
            <a:ext cx="13208" cy="13208"/>
          </a:xfrm>
          <a:prstGeom prst="ellipse">
            <a:avLst/>
          </a:prstGeom>
          <a:noFill/>
          <a:ln w="3353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44" name="m-s12_petal_core-pno-5">
            <a:extLst>
              <a:ext uri="{FF2B5EF4-FFF2-40B4-BE49-F238E27FC236}">
                <a16:creationId xmlns:a16="http://schemas.microsoft.com/office/drawing/2014/main" id="{05B3C12B-402F-94BE-2DDA-BFF55B1AE1C5}"/>
              </a:ext>
            </a:extLst>
          </p:cNvPr>
          <p:cNvSpPr txBox="1"/>
          <p:nvPr/>
        </p:nvSpPr>
        <p:spPr>
          <a:xfrm>
            <a:off x="9854302" y="5183373"/>
            <a:ext cx="67727" cy="586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alpha val="5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05</a:t>
            </a:r>
          </a:p>
        </p:txBody>
      </p:sp>
      <p:cxnSp>
        <p:nvCxnSpPr>
          <p:cNvPr id="2545" name="m-s12_petal_core-lead-5">
            <a:extLst>
              <a:ext uri="{FF2B5EF4-FFF2-40B4-BE49-F238E27FC236}">
                <a16:creationId xmlns:a16="http://schemas.microsoft.com/office/drawing/2014/main" id="{6E538C39-D7DE-61F0-062C-7D3501F7C358}"/>
              </a:ext>
            </a:extLst>
          </p:cNvPr>
          <p:cNvCxnSpPr/>
          <p:nvPr/>
        </p:nvCxnSpPr>
        <p:spPr>
          <a:xfrm flipH="1">
            <a:off x="9774661" y="5252212"/>
            <a:ext cx="44874" cy="25908"/>
          </a:xfrm>
          <a:prstGeom prst="line">
            <a:avLst/>
          </a:prstGeom>
          <a:ln w="2743" cap="rnd">
            <a:solidFill>
              <a:srgbClr val="4694D7">
                <a:alpha val="5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46" name="m-s12_petal_core-leadd-5">
            <a:extLst>
              <a:ext uri="{FF2B5EF4-FFF2-40B4-BE49-F238E27FC236}">
                <a16:creationId xmlns:a16="http://schemas.microsoft.com/office/drawing/2014/main" id="{8E3BBF86-E74D-8B64-6518-4A260E555FE6}"/>
              </a:ext>
            </a:extLst>
          </p:cNvPr>
          <p:cNvSpPr/>
          <p:nvPr/>
        </p:nvSpPr>
        <p:spPr>
          <a:xfrm>
            <a:off x="9767803" y="5271262"/>
            <a:ext cx="13716" cy="13716"/>
          </a:xfrm>
          <a:prstGeom prst="ellipse">
            <a:avLst/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47" name="m-s12_petal_core-pname-5">
            <a:extLst>
              <a:ext uri="{FF2B5EF4-FFF2-40B4-BE49-F238E27FC236}">
                <a16:creationId xmlns:a16="http://schemas.microsoft.com/office/drawing/2014/main" id="{2A75A499-54C1-1A47-AF0F-B66A50BF71CA}"/>
              </a:ext>
            </a:extLst>
          </p:cNvPr>
          <p:cNvSpPr txBox="1"/>
          <p:nvPr/>
        </p:nvSpPr>
        <p:spPr>
          <a:xfrm>
            <a:off x="9530204" y="5236804"/>
            <a:ext cx="209398" cy="69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3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生态协同</a:t>
            </a:r>
          </a:p>
        </p:txBody>
      </p:sp>
      <p:sp>
        <p:nvSpPr>
          <p:cNvPr id="2548" name="m-s12_petal_core-pnote-5">
            <a:extLst>
              <a:ext uri="{FF2B5EF4-FFF2-40B4-BE49-F238E27FC236}">
                <a16:creationId xmlns:a16="http://schemas.microsoft.com/office/drawing/2014/main" id="{4766AA1B-8214-ABFD-E704-E7EC148EB829}"/>
              </a:ext>
            </a:extLst>
          </p:cNvPr>
          <p:cNvSpPr txBox="1"/>
          <p:nvPr/>
        </p:nvSpPr>
        <p:spPr>
          <a:xfrm>
            <a:off x="9495808" y="5298523"/>
            <a:ext cx="242240" cy="4667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伙伴共建行业方案</a:t>
            </a:r>
          </a:p>
        </p:txBody>
      </p:sp>
      <p:sp>
        <p:nvSpPr>
          <p:cNvPr id="2549" name="m-s12_petal_core-petal-6">
            <a:extLst>
              <a:ext uri="{FF2B5EF4-FFF2-40B4-BE49-F238E27FC236}">
                <a16:creationId xmlns:a16="http://schemas.microsoft.com/office/drawing/2014/main" id="{B3B15616-371C-ADFA-9973-452055356C2F}"/>
              </a:ext>
            </a:extLst>
          </p:cNvPr>
          <p:cNvSpPr/>
          <p:nvPr/>
        </p:nvSpPr>
        <p:spPr>
          <a:xfrm>
            <a:off x="9819576" y="4741640"/>
            <a:ext cx="286956" cy="280615"/>
          </a:xfrm>
          <a:custGeom>
            <a:avLst/>
            <a:gdLst/>
            <a:ahLst/>
            <a:cxnLst/>
            <a:rect l="0" t="0" r="r" b="b"/>
            <a:pathLst>
              <a:path w="286956" h="280615">
                <a:moveTo>
                  <a:pt x="187325" y="264382"/>
                </a:moveTo>
                <a:cubicBezTo>
                  <a:pt x="70675" y="346361"/>
                  <a:pt x="0" y="94393"/>
                  <a:pt x="0" y="94393"/>
                </a:cubicBezTo>
                <a:quadBezTo>
                  <a:pt x="10541" y="47276"/>
                  <a:pt x="46038" y="14637"/>
                </a:quadBezTo>
                <a:cubicBezTo>
                  <a:pt x="46038" y="14637"/>
                  <a:pt x="299593" y="-50133"/>
                  <a:pt x="286956" y="91853"/>
                </a:cubicBezTo>
                <a:quadBezTo>
                  <a:pt x="227774" y="172752"/>
                  <a:pt x="187325" y="264382"/>
                </a:quadBezTo>
                <a:close/>
              </a:path>
            </a:pathLst>
          </a:custGeom>
          <a:gradFill rotWithShape="1">
            <a:gsLst>
              <a:gs pos="0">
                <a:srgbClr val="73B3E5"/>
              </a:gs>
              <a:gs pos="100000">
                <a:srgbClr val="54A2DF"/>
              </a:gs>
            </a:gsLst>
            <a:lin ang="180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50" name="m-s12_petal_core-icon-db">
            <a:extLst>
              <a:ext uri="{FF2B5EF4-FFF2-40B4-BE49-F238E27FC236}">
                <a16:creationId xmlns:a16="http://schemas.microsoft.com/office/drawing/2014/main" id="{F2B0043C-6A92-F5CC-A58B-47513051D5E3}"/>
              </a:ext>
            </a:extLst>
          </p:cNvPr>
          <p:cNvSpPr/>
          <p:nvPr/>
        </p:nvSpPr>
        <p:spPr>
          <a:xfrm>
            <a:off x="9914255" y="4825492"/>
            <a:ext cx="37592" cy="45720"/>
          </a:xfrm>
          <a:custGeom>
            <a:avLst/>
            <a:gdLst/>
            <a:ahLst/>
            <a:cxnLst/>
            <a:rect l="0" t="0" r="r" b="b"/>
            <a:pathLst>
              <a:path w="37592" h="45720">
                <a:moveTo>
                  <a:pt x="18796" y="11176"/>
                </a:moveTo>
                <a:cubicBezTo>
                  <a:pt x="29210" y="11176"/>
                  <a:pt x="37592" y="8636"/>
                  <a:pt x="37592" y="5588"/>
                </a:cubicBezTo>
                <a:cubicBezTo>
                  <a:pt x="37592" y="2540"/>
                  <a:pt x="29210" y="0"/>
                  <a:pt x="18796" y="0"/>
                </a:cubicBezTo>
                <a:cubicBezTo>
                  <a:pt x="8382" y="0"/>
                  <a:pt x="0" y="2540"/>
                  <a:pt x="0" y="5588"/>
                </a:cubicBezTo>
                <a:cubicBezTo>
                  <a:pt x="0" y="8636"/>
                  <a:pt x="8382" y="11176"/>
                  <a:pt x="18796" y="11176"/>
                </a:cubicBezTo>
                <a:close/>
                <a:moveTo>
                  <a:pt x="0" y="5588"/>
                </a:moveTo>
                <a:lnTo>
                  <a:pt x="0" y="40132"/>
                </a:lnTo>
                <a:cubicBezTo>
                  <a:pt x="0" y="43180"/>
                  <a:pt x="8382" y="45720"/>
                  <a:pt x="18796" y="45720"/>
                </a:cubicBezTo>
                <a:cubicBezTo>
                  <a:pt x="29210" y="45720"/>
                  <a:pt x="37592" y="43180"/>
                  <a:pt x="37592" y="40132"/>
                </a:cubicBezTo>
                <a:lnTo>
                  <a:pt x="37592" y="5588"/>
                </a:lnTo>
                <a:moveTo>
                  <a:pt x="0" y="22860"/>
                </a:moveTo>
                <a:cubicBezTo>
                  <a:pt x="0" y="25908"/>
                  <a:pt x="8382" y="28448"/>
                  <a:pt x="18796" y="28448"/>
                </a:cubicBezTo>
                <a:cubicBezTo>
                  <a:pt x="29210" y="28448"/>
                  <a:pt x="37592" y="25908"/>
                  <a:pt x="37592" y="22860"/>
                </a:cubicBezTo>
              </a:path>
            </a:pathLst>
          </a:custGeom>
          <a:noFill/>
          <a:ln w="3353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51" name="m-s12_petal_core-pno-6">
            <a:extLst>
              <a:ext uri="{FF2B5EF4-FFF2-40B4-BE49-F238E27FC236}">
                <a16:creationId xmlns:a16="http://schemas.microsoft.com/office/drawing/2014/main" id="{C60403F8-7D7C-1C6B-F18D-9A69E763F844}"/>
              </a:ext>
            </a:extLst>
          </p:cNvPr>
          <p:cNvSpPr txBox="1"/>
          <p:nvPr/>
        </p:nvSpPr>
        <p:spPr>
          <a:xfrm>
            <a:off x="9854302" y="4793229"/>
            <a:ext cx="67727" cy="586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alpha val="5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06</a:t>
            </a:r>
          </a:p>
        </p:txBody>
      </p:sp>
      <p:cxnSp>
        <p:nvCxnSpPr>
          <p:cNvPr id="2552" name="m-s12_petal_core-lead-6">
            <a:extLst>
              <a:ext uri="{FF2B5EF4-FFF2-40B4-BE49-F238E27FC236}">
                <a16:creationId xmlns:a16="http://schemas.microsoft.com/office/drawing/2014/main" id="{39D93365-8706-CF2D-7CD3-A7C0A03C1CC4}"/>
              </a:ext>
            </a:extLst>
          </p:cNvPr>
          <p:cNvCxnSpPr/>
          <p:nvPr/>
        </p:nvCxnSpPr>
        <p:spPr>
          <a:xfrm flipH="1" flipV="1">
            <a:off x="9774661" y="4756912"/>
            <a:ext cx="44874" cy="25908"/>
          </a:xfrm>
          <a:prstGeom prst="line">
            <a:avLst/>
          </a:prstGeom>
          <a:ln w="2743" cap="rnd">
            <a:solidFill>
              <a:srgbClr val="54A2DF">
                <a:alpha val="5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53" name="m-s12_petal_core-leadd-6">
            <a:extLst>
              <a:ext uri="{FF2B5EF4-FFF2-40B4-BE49-F238E27FC236}">
                <a16:creationId xmlns:a16="http://schemas.microsoft.com/office/drawing/2014/main" id="{E51C5E6D-BB82-8E4A-9B9F-32B68885DEEA}"/>
              </a:ext>
            </a:extLst>
          </p:cNvPr>
          <p:cNvSpPr/>
          <p:nvPr/>
        </p:nvSpPr>
        <p:spPr>
          <a:xfrm>
            <a:off x="9767803" y="4750054"/>
            <a:ext cx="13716" cy="13716"/>
          </a:xfrm>
          <a:prstGeom prst="ellipse">
            <a:avLst/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54" name="m-s12_petal_core-pname-6">
            <a:extLst>
              <a:ext uri="{FF2B5EF4-FFF2-40B4-BE49-F238E27FC236}">
                <a16:creationId xmlns:a16="http://schemas.microsoft.com/office/drawing/2014/main" id="{62E1CC79-B5D8-5CCF-77D9-94D40A9648FF}"/>
              </a:ext>
            </a:extLst>
          </p:cNvPr>
          <p:cNvSpPr txBox="1"/>
          <p:nvPr/>
        </p:nvSpPr>
        <p:spPr>
          <a:xfrm>
            <a:off x="9530204" y="4694260"/>
            <a:ext cx="209398" cy="69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3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数据资产</a:t>
            </a:r>
          </a:p>
        </p:txBody>
      </p:sp>
      <p:sp>
        <p:nvSpPr>
          <p:cNvPr id="2555" name="m-s12_petal_core-pnote-6">
            <a:extLst>
              <a:ext uri="{FF2B5EF4-FFF2-40B4-BE49-F238E27FC236}">
                <a16:creationId xmlns:a16="http://schemas.microsoft.com/office/drawing/2014/main" id="{28B715F4-01C8-C6D1-3FB0-695743DABD0D}"/>
              </a:ext>
            </a:extLst>
          </p:cNvPr>
          <p:cNvSpPr txBox="1"/>
          <p:nvPr/>
        </p:nvSpPr>
        <p:spPr>
          <a:xfrm>
            <a:off x="9441249" y="4755979"/>
            <a:ext cx="296799" cy="4667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沉淀可复用的数据能力</a:t>
            </a:r>
          </a:p>
        </p:txBody>
      </p:sp>
      <p:sp>
        <p:nvSpPr>
          <p:cNvPr id="2556" name="m-s12_petal_core-core">
            <a:extLst>
              <a:ext uri="{FF2B5EF4-FFF2-40B4-BE49-F238E27FC236}">
                <a16:creationId xmlns:a16="http://schemas.microsoft.com/office/drawing/2014/main" id="{9C4C4BAE-8A60-7527-576B-32E83BF966F7}"/>
              </a:ext>
            </a:extLst>
          </p:cNvPr>
          <p:cNvSpPr/>
          <p:nvPr/>
        </p:nvSpPr>
        <p:spPr>
          <a:xfrm>
            <a:off x="10003536" y="4795012"/>
            <a:ext cx="445008" cy="445008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57" name="m-s12_petal_core-core-ring">
            <a:extLst>
              <a:ext uri="{FF2B5EF4-FFF2-40B4-BE49-F238E27FC236}">
                <a16:creationId xmlns:a16="http://schemas.microsoft.com/office/drawing/2014/main" id="{EC503FC2-6997-6AB0-555B-6811F9DB589C}"/>
              </a:ext>
            </a:extLst>
          </p:cNvPr>
          <p:cNvSpPr/>
          <p:nvPr/>
        </p:nvSpPr>
        <p:spPr>
          <a:xfrm>
            <a:off x="10024872" y="4816348"/>
            <a:ext cx="402336" cy="402336"/>
          </a:xfrm>
          <a:prstGeom prst="ellipse">
            <a:avLst/>
          </a:prstGeom>
          <a:noFill/>
          <a:ln w="2540" cap="rnd">
            <a:solidFill>
              <a:srgbClr val="0B3E8F">
                <a:alpha val="1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58" name="m-s12_petal_core-icon-target">
            <a:extLst>
              <a:ext uri="{FF2B5EF4-FFF2-40B4-BE49-F238E27FC236}">
                <a16:creationId xmlns:a16="http://schemas.microsoft.com/office/drawing/2014/main" id="{1D646E3D-4881-805A-0C28-A2ED2D608D62}"/>
              </a:ext>
            </a:extLst>
          </p:cNvPr>
          <p:cNvSpPr/>
          <p:nvPr/>
        </p:nvSpPr>
        <p:spPr>
          <a:xfrm>
            <a:off x="10226040" y="4927536"/>
            <a:ext cx="17589" cy="22924"/>
          </a:xfrm>
          <a:custGeom>
            <a:avLst/>
            <a:gdLst/>
            <a:ahLst/>
            <a:cxnLst/>
            <a:rect l="0" t="0" r="r" b="b"/>
            <a:pathLst>
              <a:path w="17589" h="22924">
                <a:moveTo>
                  <a:pt x="0" y="13335"/>
                </a:moveTo>
                <a:lnTo>
                  <a:pt x="0" y="0"/>
                </a:lnTo>
                <a:moveTo>
                  <a:pt x="0" y="22924"/>
                </a:moveTo>
                <a:lnTo>
                  <a:pt x="17589" y="5334"/>
                </a:lnTo>
              </a:path>
            </a:pathLst>
          </a:custGeom>
          <a:noFill/>
          <a:ln w="32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59" name="m-s12_petal_core-icon-target">
            <a:extLst>
              <a:ext uri="{FF2B5EF4-FFF2-40B4-BE49-F238E27FC236}">
                <a16:creationId xmlns:a16="http://schemas.microsoft.com/office/drawing/2014/main" id="{D04F9038-746C-2FAB-A8DF-36BD5429C36C}"/>
              </a:ext>
            </a:extLst>
          </p:cNvPr>
          <p:cNvSpPr/>
          <p:nvPr/>
        </p:nvSpPr>
        <p:spPr>
          <a:xfrm>
            <a:off x="10203104" y="4927524"/>
            <a:ext cx="45872" cy="45872"/>
          </a:xfrm>
          <a:prstGeom prst="ellipse">
            <a:avLst/>
          </a:prstGeom>
          <a:noFill/>
          <a:ln w="32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60" name="m-s12_petal_core-icon-target">
            <a:extLst>
              <a:ext uri="{FF2B5EF4-FFF2-40B4-BE49-F238E27FC236}">
                <a16:creationId xmlns:a16="http://schemas.microsoft.com/office/drawing/2014/main" id="{146ABA6F-9B8A-F804-2B03-B213B2FA6192}"/>
              </a:ext>
            </a:extLst>
          </p:cNvPr>
          <p:cNvSpPr/>
          <p:nvPr/>
        </p:nvSpPr>
        <p:spPr>
          <a:xfrm>
            <a:off x="10214305" y="4938725"/>
            <a:ext cx="23470" cy="23470"/>
          </a:xfrm>
          <a:prstGeom prst="ellipse">
            <a:avLst/>
          </a:prstGeom>
          <a:noFill/>
          <a:ln w="32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61" name="m-s12_petal_core-core-cn">
            <a:extLst>
              <a:ext uri="{FF2B5EF4-FFF2-40B4-BE49-F238E27FC236}">
                <a16:creationId xmlns:a16="http://schemas.microsoft.com/office/drawing/2014/main" id="{B000FD8A-09F5-646F-1524-31D1B0979A15}"/>
              </a:ext>
            </a:extLst>
          </p:cNvPr>
          <p:cNvSpPr txBox="1"/>
          <p:nvPr/>
        </p:nvSpPr>
        <p:spPr>
          <a:xfrm>
            <a:off x="10104882" y="4988484"/>
            <a:ext cx="242316" cy="800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60" b="1" i="0" u="none" strike="noStrike" kern="1200" cap="none" spc="36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客户价值</a:t>
            </a:r>
          </a:p>
        </p:txBody>
      </p:sp>
      <p:sp>
        <p:nvSpPr>
          <p:cNvPr id="2562" name="m-s12_petal_core-core-en">
            <a:extLst>
              <a:ext uri="{FF2B5EF4-FFF2-40B4-BE49-F238E27FC236}">
                <a16:creationId xmlns:a16="http://schemas.microsoft.com/office/drawing/2014/main" id="{30AC002D-663F-EC88-9F39-0EDC84B71BDD}"/>
              </a:ext>
            </a:extLst>
          </p:cNvPr>
          <p:cNvSpPr txBox="1"/>
          <p:nvPr/>
        </p:nvSpPr>
        <p:spPr>
          <a:xfrm>
            <a:off x="10100798" y="5061270"/>
            <a:ext cx="250485" cy="373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36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CUSTOMER VALUE</a:t>
            </a:r>
          </a:p>
        </p:txBody>
      </p:sp>
      <p:sp>
        <p:nvSpPr>
          <p:cNvPr id="2563" name="m-s12_petal_core-core-p">
            <a:extLst>
              <a:ext uri="{FF2B5EF4-FFF2-40B4-BE49-F238E27FC236}">
                <a16:creationId xmlns:a16="http://schemas.microsoft.com/office/drawing/2014/main" id="{34E1646F-BA80-8970-187E-564316206294}"/>
              </a:ext>
            </a:extLst>
          </p:cNvPr>
          <p:cNvSpPr txBox="1"/>
          <p:nvPr/>
        </p:nvSpPr>
        <p:spPr>
          <a:xfrm>
            <a:off x="10120655" y="5114252"/>
            <a:ext cx="210769" cy="40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7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一切能力的出发点</a:t>
            </a:r>
          </a:p>
        </p:txBody>
      </p:sp>
      <p:sp>
        <p:nvSpPr>
          <p:cNvPr id="2564" name="m-s12_petal_core-info-1">
            <a:extLst>
              <a:ext uri="{FF2B5EF4-FFF2-40B4-BE49-F238E27FC236}">
                <a16:creationId xmlns:a16="http://schemas.microsoft.com/office/drawing/2014/main" id="{E0AB7751-4D7C-2B76-779D-3B5A85BDAD2A}"/>
              </a:ext>
            </a:extLst>
          </p:cNvPr>
          <p:cNvSpPr/>
          <p:nvPr/>
        </p:nvSpPr>
        <p:spPr>
          <a:xfrm>
            <a:off x="8991600" y="4511548"/>
            <a:ext cx="496824" cy="158496"/>
          </a:xfrm>
          <a:custGeom>
            <a:avLst/>
            <a:gdLst/>
            <a:ahLst/>
            <a:cxnLst/>
            <a:rect l="0" t="0" r="r" b="b"/>
            <a:pathLst>
              <a:path w="496824" h="158496">
                <a:moveTo>
                  <a:pt x="27432" y="0"/>
                </a:moveTo>
                <a:lnTo>
                  <a:pt x="469392" y="0"/>
                </a:lnTo>
                <a:cubicBezTo>
                  <a:pt x="484568" y="0"/>
                  <a:pt x="496824" y="12255"/>
                  <a:pt x="496824" y="27432"/>
                </a:cubicBezTo>
                <a:lnTo>
                  <a:pt x="496824" y="131064"/>
                </a:lnTo>
                <a:cubicBezTo>
                  <a:pt x="496824" y="146240"/>
                  <a:pt x="484568" y="158496"/>
                  <a:pt x="469392" y="158496"/>
                </a:cubicBezTo>
                <a:lnTo>
                  <a:pt x="27432" y="158496"/>
                </a:lnTo>
                <a:cubicBezTo>
                  <a:pt x="12256" y="158496"/>
                  <a:pt x="0" y="146240"/>
                  <a:pt x="0" y="131064"/>
                </a:cubicBezTo>
                <a:lnTo>
                  <a:pt x="0" y="27432"/>
                </a:lnTo>
                <a:cubicBezTo>
                  <a:pt x="0" y="12255"/>
                  <a:pt x="12256" y="0"/>
                  <a:pt x="27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65" name="m-s12_petal_core-infob-1">
            <a:extLst>
              <a:ext uri="{FF2B5EF4-FFF2-40B4-BE49-F238E27FC236}">
                <a16:creationId xmlns:a16="http://schemas.microsoft.com/office/drawing/2014/main" id="{4C102843-B565-4A49-29ED-4DD40AFFD95B}"/>
              </a:ext>
            </a:extLst>
          </p:cNvPr>
          <p:cNvSpPr/>
          <p:nvPr/>
        </p:nvSpPr>
        <p:spPr>
          <a:xfrm>
            <a:off x="8991600" y="4511548"/>
            <a:ext cx="9144" cy="158496"/>
          </a:xfrm>
          <a:custGeom>
            <a:avLst/>
            <a:gdLst/>
            <a:ahLst/>
            <a:cxnLst/>
            <a:rect l="0" t="0" r="r" b="b"/>
            <a:pathLst>
              <a:path w="9144" h="158496">
                <a:moveTo>
                  <a:pt x="4572" y="0"/>
                </a:moveTo>
                <a:lnTo>
                  <a:pt x="4572" y="0"/>
                </a:lnTo>
                <a:cubicBezTo>
                  <a:pt x="7112" y="0"/>
                  <a:pt x="9144" y="2032"/>
                  <a:pt x="9144" y="4572"/>
                </a:cubicBezTo>
                <a:lnTo>
                  <a:pt x="9144" y="153924"/>
                </a:lnTo>
                <a:cubicBezTo>
                  <a:pt x="9144" y="156464"/>
                  <a:pt x="7112" y="158496"/>
                  <a:pt x="4572" y="158496"/>
                </a:cubicBezTo>
                <a:lnTo>
                  <a:pt x="4572" y="158496"/>
                </a:lnTo>
                <a:cubicBezTo>
                  <a:pt x="2032" y="158496"/>
                  <a:pt x="0" y="156464"/>
                  <a:pt x="0" y="153924"/>
                </a:cubicBezTo>
                <a:lnTo>
                  <a:pt x="0" y="4572"/>
                </a:lnTo>
                <a:cubicBezTo>
                  <a:pt x="0" y="2032"/>
                  <a:pt x="2032" y="0"/>
                  <a:pt x="4572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66" name="m-s12_petal_core-infov-1">
            <a:extLst>
              <a:ext uri="{FF2B5EF4-FFF2-40B4-BE49-F238E27FC236}">
                <a16:creationId xmlns:a16="http://schemas.microsoft.com/office/drawing/2014/main" id="{C122493C-B895-2584-24C5-33496360EBF8}"/>
              </a:ext>
            </a:extLst>
          </p:cNvPr>
          <p:cNvSpPr txBox="1"/>
          <p:nvPr/>
        </p:nvSpPr>
        <p:spPr>
          <a:xfrm>
            <a:off x="9033784" y="4519991"/>
            <a:ext cx="201290" cy="960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30" b="1" i="0" u="none" strike="noStrike" kern="1200" cap="none" spc="1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12 年</a:t>
            </a:r>
          </a:p>
        </p:txBody>
      </p:sp>
      <p:sp>
        <p:nvSpPr>
          <p:cNvPr id="2567" name="m-s12_petal_core-infol-1">
            <a:extLst>
              <a:ext uri="{FF2B5EF4-FFF2-40B4-BE49-F238E27FC236}">
                <a16:creationId xmlns:a16="http://schemas.microsoft.com/office/drawing/2014/main" id="{0CDEEB29-38F3-1A2B-A21B-79C1C0DEF44A}"/>
              </a:ext>
            </a:extLst>
          </p:cNvPr>
          <p:cNvSpPr txBox="1"/>
          <p:nvPr/>
        </p:nvSpPr>
        <p:spPr>
          <a:xfrm>
            <a:off x="9037168" y="4603579"/>
            <a:ext cx="134341" cy="4667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0" i="0" u="none" strike="noStrike" kern="1200" cap="none" spc="7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行业深耕</a:t>
            </a:r>
          </a:p>
        </p:txBody>
      </p:sp>
      <p:sp>
        <p:nvSpPr>
          <p:cNvPr id="2568" name="m-s12_petal_core-icon-clock">
            <a:extLst>
              <a:ext uri="{FF2B5EF4-FFF2-40B4-BE49-F238E27FC236}">
                <a16:creationId xmlns:a16="http://schemas.microsoft.com/office/drawing/2014/main" id="{FD01C9B0-8D69-074B-2FE2-5CE414C86DDE}"/>
              </a:ext>
            </a:extLst>
          </p:cNvPr>
          <p:cNvSpPr/>
          <p:nvPr/>
        </p:nvSpPr>
        <p:spPr>
          <a:xfrm>
            <a:off x="9430512" y="4582858"/>
            <a:ext cx="5271" cy="11049"/>
          </a:xfrm>
          <a:custGeom>
            <a:avLst/>
            <a:gdLst/>
            <a:ahLst/>
            <a:cxnLst/>
            <a:rect l="0" t="0" r="r" b="b"/>
            <a:pathLst>
              <a:path w="5271" h="11049">
                <a:moveTo>
                  <a:pt x="0" y="0"/>
                </a:moveTo>
                <a:lnTo>
                  <a:pt x="0" y="7938"/>
                </a:lnTo>
                <a:lnTo>
                  <a:pt x="5271" y="11049"/>
                </a:lnTo>
              </a:path>
            </a:pathLst>
          </a:custGeom>
          <a:noFill/>
          <a:ln w="2896" cap="rnd">
            <a:solidFill>
              <a:srgbClr val="0B3E8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69" name="m-s12_petal_core-icon-clock">
            <a:extLst>
              <a:ext uri="{FF2B5EF4-FFF2-40B4-BE49-F238E27FC236}">
                <a16:creationId xmlns:a16="http://schemas.microsoft.com/office/drawing/2014/main" id="{B07FD92F-0295-AF3B-F8B8-865737E25063}"/>
              </a:ext>
            </a:extLst>
          </p:cNvPr>
          <p:cNvSpPr/>
          <p:nvPr/>
        </p:nvSpPr>
        <p:spPr>
          <a:xfrm>
            <a:off x="9416313" y="4576597"/>
            <a:ext cx="28397" cy="28397"/>
          </a:xfrm>
          <a:prstGeom prst="ellipse">
            <a:avLst/>
          </a:prstGeom>
          <a:noFill/>
          <a:ln w="2896" cap="rnd">
            <a:solidFill>
              <a:srgbClr val="0B3E8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70" name="m-s12_petal_core-info-2">
            <a:extLst>
              <a:ext uri="{FF2B5EF4-FFF2-40B4-BE49-F238E27FC236}">
                <a16:creationId xmlns:a16="http://schemas.microsoft.com/office/drawing/2014/main" id="{F13677E7-9D4A-6F40-0A9D-2E2BB0D981CF}"/>
              </a:ext>
            </a:extLst>
          </p:cNvPr>
          <p:cNvSpPr/>
          <p:nvPr/>
        </p:nvSpPr>
        <p:spPr>
          <a:xfrm>
            <a:off x="10963656" y="4511548"/>
            <a:ext cx="496824" cy="158496"/>
          </a:xfrm>
          <a:custGeom>
            <a:avLst/>
            <a:gdLst/>
            <a:ahLst/>
            <a:cxnLst/>
            <a:rect l="0" t="0" r="r" b="b"/>
            <a:pathLst>
              <a:path w="496824" h="158496">
                <a:moveTo>
                  <a:pt x="27432" y="0"/>
                </a:moveTo>
                <a:lnTo>
                  <a:pt x="469392" y="0"/>
                </a:lnTo>
                <a:cubicBezTo>
                  <a:pt x="484568" y="0"/>
                  <a:pt x="496824" y="12255"/>
                  <a:pt x="496824" y="27432"/>
                </a:cubicBezTo>
                <a:lnTo>
                  <a:pt x="496824" y="131064"/>
                </a:lnTo>
                <a:cubicBezTo>
                  <a:pt x="496824" y="146240"/>
                  <a:pt x="484568" y="158496"/>
                  <a:pt x="469392" y="158496"/>
                </a:cubicBezTo>
                <a:lnTo>
                  <a:pt x="27432" y="158496"/>
                </a:lnTo>
                <a:cubicBezTo>
                  <a:pt x="12256" y="158496"/>
                  <a:pt x="0" y="146240"/>
                  <a:pt x="0" y="131064"/>
                </a:cubicBezTo>
                <a:lnTo>
                  <a:pt x="0" y="27432"/>
                </a:lnTo>
                <a:cubicBezTo>
                  <a:pt x="0" y="12255"/>
                  <a:pt x="12256" y="0"/>
                  <a:pt x="27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71" name="m-s12_petal_core-infob-2">
            <a:extLst>
              <a:ext uri="{FF2B5EF4-FFF2-40B4-BE49-F238E27FC236}">
                <a16:creationId xmlns:a16="http://schemas.microsoft.com/office/drawing/2014/main" id="{698FF9F0-FE64-E2ED-37E9-968EA234012D}"/>
              </a:ext>
            </a:extLst>
          </p:cNvPr>
          <p:cNvSpPr/>
          <p:nvPr/>
        </p:nvSpPr>
        <p:spPr>
          <a:xfrm>
            <a:off x="10963656" y="4511548"/>
            <a:ext cx="9144" cy="158496"/>
          </a:xfrm>
          <a:custGeom>
            <a:avLst/>
            <a:gdLst/>
            <a:ahLst/>
            <a:cxnLst/>
            <a:rect l="0" t="0" r="r" b="b"/>
            <a:pathLst>
              <a:path w="9144" h="158496">
                <a:moveTo>
                  <a:pt x="4572" y="0"/>
                </a:moveTo>
                <a:lnTo>
                  <a:pt x="4572" y="0"/>
                </a:lnTo>
                <a:cubicBezTo>
                  <a:pt x="7112" y="0"/>
                  <a:pt x="9144" y="2032"/>
                  <a:pt x="9144" y="4572"/>
                </a:cubicBezTo>
                <a:lnTo>
                  <a:pt x="9144" y="153924"/>
                </a:lnTo>
                <a:cubicBezTo>
                  <a:pt x="9144" y="156464"/>
                  <a:pt x="7112" y="158496"/>
                  <a:pt x="4572" y="158496"/>
                </a:cubicBezTo>
                <a:lnTo>
                  <a:pt x="4572" y="158496"/>
                </a:lnTo>
                <a:cubicBezTo>
                  <a:pt x="2032" y="158496"/>
                  <a:pt x="0" y="156464"/>
                  <a:pt x="0" y="153924"/>
                </a:cubicBezTo>
                <a:lnTo>
                  <a:pt x="0" y="4572"/>
                </a:lnTo>
                <a:cubicBezTo>
                  <a:pt x="0" y="2032"/>
                  <a:pt x="2032" y="0"/>
                  <a:pt x="4572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72" name="m-s12_petal_core-infov-2">
            <a:extLst>
              <a:ext uri="{FF2B5EF4-FFF2-40B4-BE49-F238E27FC236}">
                <a16:creationId xmlns:a16="http://schemas.microsoft.com/office/drawing/2014/main" id="{970178F6-FFDC-B9FE-147B-F86B7528137D}"/>
              </a:ext>
            </a:extLst>
          </p:cNvPr>
          <p:cNvSpPr txBox="1"/>
          <p:nvPr/>
        </p:nvSpPr>
        <p:spPr>
          <a:xfrm>
            <a:off x="11005840" y="4519991"/>
            <a:ext cx="241036" cy="960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30" b="1" i="0" u="none" strike="noStrike" kern="1200" cap="none" spc="1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1,860+</a:t>
            </a:r>
          </a:p>
        </p:txBody>
      </p:sp>
      <p:sp>
        <p:nvSpPr>
          <p:cNvPr id="2573" name="m-s12_petal_core-infol-2">
            <a:extLst>
              <a:ext uri="{FF2B5EF4-FFF2-40B4-BE49-F238E27FC236}">
                <a16:creationId xmlns:a16="http://schemas.microsoft.com/office/drawing/2014/main" id="{6E4DF0E0-B897-E505-E03B-82DFDB20791C}"/>
              </a:ext>
            </a:extLst>
          </p:cNvPr>
          <p:cNvSpPr txBox="1"/>
          <p:nvPr/>
        </p:nvSpPr>
        <p:spPr>
          <a:xfrm>
            <a:off x="11009224" y="4603579"/>
            <a:ext cx="134341" cy="4667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0" i="0" u="none" strike="noStrike" kern="1200" cap="none" spc="7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交付项目</a:t>
            </a:r>
          </a:p>
        </p:txBody>
      </p:sp>
      <p:sp>
        <p:nvSpPr>
          <p:cNvPr id="2574" name="m-s12_petal_core-icon-check">
            <a:extLst>
              <a:ext uri="{FF2B5EF4-FFF2-40B4-BE49-F238E27FC236}">
                <a16:creationId xmlns:a16="http://schemas.microsoft.com/office/drawing/2014/main" id="{FF274369-9EAF-9369-BE21-68294C448B99}"/>
              </a:ext>
            </a:extLst>
          </p:cNvPr>
          <p:cNvSpPr/>
          <p:nvPr/>
        </p:nvSpPr>
        <p:spPr>
          <a:xfrm>
            <a:off x="11392027" y="4583557"/>
            <a:ext cx="21082" cy="14859"/>
          </a:xfrm>
          <a:custGeom>
            <a:avLst/>
            <a:gdLst/>
            <a:ahLst/>
            <a:cxnLst/>
            <a:rect l="0" t="0" r="r" b="b"/>
            <a:pathLst>
              <a:path w="21082" h="14859">
                <a:moveTo>
                  <a:pt x="0" y="7874"/>
                </a:moveTo>
                <a:lnTo>
                  <a:pt x="6921" y="14859"/>
                </a:lnTo>
                <a:lnTo>
                  <a:pt x="21082" y="0"/>
                </a:lnTo>
              </a:path>
            </a:pathLst>
          </a:custGeom>
          <a:noFill/>
          <a:ln w="2896" cap="rnd">
            <a:solidFill>
              <a:srgbClr val="1B5AA8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75" name="m-s12_petal_core-info-3">
            <a:extLst>
              <a:ext uri="{FF2B5EF4-FFF2-40B4-BE49-F238E27FC236}">
                <a16:creationId xmlns:a16="http://schemas.microsoft.com/office/drawing/2014/main" id="{3C27355E-600C-D00D-326E-5D18E2FB0501}"/>
              </a:ext>
            </a:extLst>
          </p:cNvPr>
          <p:cNvSpPr/>
          <p:nvPr/>
        </p:nvSpPr>
        <p:spPr>
          <a:xfrm>
            <a:off x="8991600" y="5462524"/>
            <a:ext cx="496824" cy="158496"/>
          </a:xfrm>
          <a:custGeom>
            <a:avLst/>
            <a:gdLst/>
            <a:ahLst/>
            <a:cxnLst/>
            <a:rect l="0" t="0" r="r" b="b"/>
            <a:pathLst>
              <a:path w="496824" h="158496">
                <a:moveTo>
                  <a:pt x="27432" y="0"/>
                </a:moveTo>
                <a:lnTo>
                  <a:pt x="469392" y="0"/>
                </a:lnTo>
                <a:cubicBezTo>
                  <a:pt x="484568" y="0"/>
                  <a:pt x="496824" y="12255"/>
                  <a:pt x="496824" y="27432"/>
                </a:cubicBezTo>
                <a:lnTo>
                  <a:pt x="496824" y="131064"/>
                </a:lnTo>
                <a:cubicBezTo>
                  <a:pt x="496824" y="146240"/>
                  <a:pt x="484568" y="158496"/>
                  <a:pt x="469392" y="158496"/>
                </a:cubicBezTo>
                <a:lnTo>
                  <a:pt x="27432" y="158496"/>
                </a:lnTo>
                <a:cubicBezTo>
                  <a:pt x="12256" y="158496"/>
                  <a:pt x="0" y="146240"/>
                  <a:pt x="0" y="131064"/>
                </a:cubicBezTo>
                <a:lnTo>
                  <a:pt x="0" y="27432"/>
                </a:lnTo>
                <a:cubicBezTo>
                  <a:pt x="0" y="12255"/>
                  <a:pt x="12256" y="0"/>
                  <a:pt x="27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76" name="m-s12_petal_core-infob-3">
            <a:extLst>
              <a:ext uri="{FF2B5EF4-FFF2-40B4-BE49-F238E27FC236}">
                <a16:creationId xmlns:a16="http://schemas.microsoft.com/office/drawing/2014/main" id="{524D2AC5-972A-B0A8-4056-8BDA475F8642}"/>
              </a:ext>
            </a:extLst>
          </p:cNvPr>
          <p:cNvSpPr/>
          <p:nvPr/>
        </p:nvSpPr>
        <p:spPr>
          <a:xfrm>
            <a:off x="8991600" y="5462524"/>
            <a:ext cx="9144" cy="158496"/>
          </a:xfrm>
          <a:custGeom>
            <a:avLst/>
            <a:gdLst/>
            <a:ahLst/>
            <a:cxnLst/>
            <a:rect l="0" t="0" r="r" b="b"/>
            <a:pathLst>
              <a:path w="9144" h="158496">
                <a:moveTo>
                  <a:pt x="4572" y="0"/>
                </a:moveTo>
                <a:lnTo>
                  <a:pt x="4572" y="0"/>
                </a:lnTo>
                <a:cubicBezTo>
                  <a:pt x="7112" y="0"/>
                  <a:pt x="9144" y="2032"/>
                  <a:pt x="9144" y="4572"/>
                </a:cubicBezTo>
                <a:lnTo>
                  <a:pt x="9144" y="153924"/>
                </a:lnTo>
                <a:cubicBezTo>
                  <a:pt x="9144" y="156464"/>
                  <a:pt x="7112" y="158496"/>
                  <a:pt x="4572" y="158496"/>
                </a:cubicBezTo>
                <a:lnTo>
                  <a:pt x="4572" y="158496"/>
                </a:lnTo>
                <a:cubicBezTo>
                  <a:pt x="2032" y="158496"/>
                  <a:pt x="0" y="156464"/>
                  <a:pt x="0" y="153924"/>
                </a:cubicBezTo>
                <a:lnTo>
                  <a:pt x="0" y="4572"/>
                </a:lnTo>
                <a:cubicBezTo>
                  <a:pt x="0" y="2032"/>
                  <a:pt x="2032" y="0"/>
                  <a:pt x="4572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77" name="m-s12_petal_core-infov-3">
            <a:extLst>
              <a:ext uri="{FF2B5EF4-FFF2-40B4-BE49-F238E27FC236}">
                <a16:creationId xmlns:a16="http://schemas.microsoft.com/office/drawing/2014/main" id="{A92905CB-5018-B099-922B-9361F06902EE}"/>
              </a:ext>
            </a:extLst>
          </p:cNvPr>
          <p:cNvSpPr txBox="1"/>
          <p:nvPr/>
        </p:nvSpPr>
        <p:spPr>
          <a:xfrm>
            <a:off x="9033784" y="5470967"/>
            <a:ext cx="201290" cy="960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30" b="1" i="0" u="none" strike="noStrike" kern="1200" cap="none" spc="1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36 项</a:t>
            </a:r>
          </a:p>
        </p:txBody>
      </p:sp>
      <p:sp>
        <p:nvSpPr>
          <p:cNvPr id="2578" name="m-s12_petal_core-infol-3">
            <a:extLst>
              <a:ext uri="{FF2B5EF4-FFF2-40B4-BE49-F238E27FC236}">
                <a16:creationId xmlns:a16="http://schemas.microsoft.com/office/drawing/2014/main" id="{7A1976CF-0705-4787-5546-17E4C95F72DF}"/>
              </a:ext>
            </a:extLst>
          </p:cNvPr>
          <p:cNvSpPr txBox="1"/>
          <p:nvPr/>
        </p:nvSpPr>
        <p:spPr>
          <a:xfrm>
            <a:off x="9037168" y="5554555"/>
            <a:ext cx="189509" cy="4667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0" i="0" u="none" strike="noStrike" kern="1200" cap="none" spc="7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自主知识产权</a:t>
            </a:r>
          </a:p>
        </p:txBody>
      </p:sp>
      <p:sp>
        <p:nvSpPr>
          <p:cNvPr id="2579" name="m-s12_petal_core-icon-award">
            <a:extLst>
              <a:ext uri="{FF2B5EF4-FFF2-40B4-BE49-F238E27FC236}">
                <a16:creationId xmlns:a16="http://schemas.microsoft.com/office/drawing/2014/main" id="{C2764357-15E6-1EA6-2B3B-A4B9D0CE8830}"/>
              </a:ext>
            </a:extLst>
          </p:cNvPr>
          <p:cNvSpPr/>
          <p:nvPr/>
        </p:nvSpPr>
        <p:spPr>
          <a:xfrm>
            <a:off x="9423590" y="5546090"/>
            <a:ext cx="13843" cy="9525"/>
          </a:xfrm>
          <a:custGeom>
            <a:avLst/>
            <a:gdLst/>
            <a:ahLst/>
            <a:cxnLst/>
            <a:rect l="0" t="0" r="r" b="b"/>
            <a:pathLst>
              <a:path w="13843" h="9525">
                <a:moveTo>
                  <a:pt x="2604" y="0"/>
                </a:moveTo>
                <a:lnTo>
                  <a:pt x="0" y="9525"/>
                </a:lnTo>
                <a:lnTo>
                  <a:pt x="6921" y="5906"/>
                </a:lnTo>
                <a:lnTo>
                  <a:pt x="13843" y="9525"/>
                </a:lnTo>
                <a:lnTo>
                  <a:pt x="11239" y="0"/>
                </a:lnTo>
              </a:path>
            </a:pathLst>
          </a:custGeom>
          <a:noFill/>
          <a:ln w="2896" cap="rnd">
            <a:solidFill>
              <a:srgbClr val="2E77C2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80" name="m-s12_petal_core-icon-award">
            <a:extLst>
              <a:ext uri="{FF2B5EF4-FFF2-40B4-BE49-F238E27FC236}">
                <a16:creationId xmlns:a16="http://schemas.microsoft.com/office/drawing/2014/main" id="{8B67D563-FDC5-8E13-F72B-C2452795E04B}"/>
              </a:ext>
            </a:extLst>
          </p:cNvPr>
          <p:cNvSpPr/>
          <p:nvPr/>
        </p:nvSpPr>
        <p:spPr>
          <a:xfrm>
            <a:off x="9421266" y="5528234"/>
            <a:ext cx="18491" cy="18491"/>
          </a:xfrm>
          <a:prstGeom prst="ellipse">
            <a:avLst/>
          </a:prstGeom>
          <a:noFill/>
          <a:ln w="2896" cap="rnd">
            <a:solidFill>
              <a:srgbClr val="2E77C2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81" name="m-s12_petal_core-info-4">
            <a:extLst>
              <a:ext uri="{FF2B5EF4-FFF2-40B4-BE49-F238E27FC236}">
                <a16:creationId xmlns:a16="http://schemas.microsoft.com/office/drawing/2014/main" id="{01597D20-F518-3E4D-CE68-AD9C382FF465}"/>
              </a:ext>
            </a:extLst>
          </p:cNvPr>
          <p:cNvSpPr/>
          <p:nvPr/>
        </p:nvSpPr>
        <p:spPr>
          <a:xfrm>
            <a:off x="10963656" y="5462524"/>
            <a:ext cx="496824" cy="158496"/>
          </a:xfrm>
          <a:custGeom>
            <a:avLst/>
            <a:gdLst/>
            <a:ahLst/>
            <a:cxnLst/>
            <a:rect l="0" t="0" r="r" b="b"/>
            <a:pathLst>
              <a:path w="496824" h="158496">
                <a:moveTo>
                  <a:pt x="27432" y="0"/>
                </a:moveTo>
                <a:lnTo>
                  <a:pt x="469392" y="0"/>
                </a:lnTo>
                <a:cubicBezTo>
                  <a:pt x="484568" y="0"/>
                  <a:pt x="496824" y="12255"/>
                  <a:pt x="496824" y="27432"/>
                </a:cubicBezTo>
                <a:lnTo>
                  <a:pt x="496824" y="131064"/>
                </a:lnTo>
                <a:cubicBezTo>
                  <a:pt x="496824" y="146240"/>
                  <a:pt x="484568" y="158496"/>
                  <a:pt x="469392" y="158496"/>
                </a:cubicBezTo>
                <a:lnTo>
                  <a:pt x="27432" y="158496"/>
                </a:lnTo>
                <a:cubicBezTo>
                  <a:pt x="12256" y="158496"/>
                  <a:pt x="0" y="146240"/>
                  <a:pt x="0" y="131064"/>
                </a:cubicBezTo>
                <a:lnTo>
                  <a:pt x="0" y="27432"/>
                </a:lnTo>
                <a:cubicBezTo>
                  <a:pt x="0" y="12255"/>
                  <a:pt x="12256" y="0"/>
                  <a:pt x="27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82" name="m-s12_petal_core-infob-4">
            <a:extLst>
              <a:ext uri="{FF2B5EF4-FFF2-40B4-BE49-F238E27FC236}">
                <a16:creationId xmlns:a16="http://schemas.microsoft.com/office/drawing/2014/main" id="{DA92FDE0-2926-0438-4431-E9DDC2BC6FB5}"/>
              </a:ext>
            </a:extLst>
          </p:cNvPr>
          <p:cNvSpPr/>
          <p:nvPr/>
        </p:nvSpPr>
        <p:spPr>
          <a:xfrm>
            <a:off x="10963656" y="5462524"/>
            <a:ext cx="9144" cy="158496"/>
          </a:xfrm>
          <a:custGeom>
            <a:avLst/>
            <a:gdLst/>
            <a:ahLst/>
            <a:cxnLst/>
            <a:rect l="0" t="0" r="r" b="b"/>
            <a:pathLst>
              <a:path w="9144" h="158496">
                <a:moveTo>
                  <a:pt x="4572" y="0"/>
                </a:moveTo>
                <a:lnTo>
                  <a:pt x="4572" y="0"/>
                </a:lnTo>
                <a:cubicBezTo>
                  <a:pt x="7112" y="0"/>
                  <a:pt x="9144" y="2032"/>
                  <a:pt x="9144" y="4572"/>
                </a:cubicBezTo>
                <a:lnTo>
                  <a:pt x="9144" y="153924"/>
                </a:lnTo>
                <a:cubicBezTo>
                  <a:pt x="9144" y="156464"/>
                  <a:pt x="7112" y="158496"/>
                  <a:pt x="4572" y="158496"/>
                </a:cubicBezTo>
                <a:lnTo>
                  <a:pt x="4572" y="158496"/>
                </a:lnTo>
                <a:cubicBezTo>
                  <a:pt x="2032" y="158496"/>
                  <a:pt x="0" y="156464"/>
                  <a:pt x="0" y="153924"/>
                </a:cubicBezTo>
                <a:lnTo>
                  <a:pt x="0" y="4572"/>
                </a:lnTo>
                <a:cubicBezTo>
                  <a:pt x="0" y="2032"/>
                  <a:pt x="2032" y="0"/>
                  <a:pt x="4572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83" name="m-s12_petal_core-infov-4">
            <a:extLst>
              <a:ext uri="{FF2B5EF4-FFF2-40B4-BE49-F238E27FC236}">
                <a16:creationId xmlns:a16="http://schemas.microsoft.com/office/drawing/2014/main" id="{58D77BF7-5DEB-E377-2D80-9E171E65685E}"/>
              </a:ext>
            </a:extLst>
          </p:cNvPr>
          <p:cNvSpPr txBox="1"/>
          <p:nvPr/>
        </p:nvSpPr>
        <p:spPr>
          <a:xfrm>
            <a:off x="11005840" y="5470967"/>
            <a:ext cx="209093" cy="960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30" b="1" i="0" u="none" strike="noStrike" kern="1200" cap="none" spc="1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96.4%</a:t>
            </a:r>
          </a:p>
        </p:txBody>
      </p:sp>
      <p:sp>
        <p:nvSpPr>
          <p:cNvPr id="2584" name="m-s12_petal_core-infol-4">
            <a:extLst>
              <a:ext uri="{FF2B5EF4-FFF2-40B4-BE49-F238E27FC236}">
                <a16:creationId xmlns:a16="http://schemas.microsoft.com/office/drawing/2014/main" id="{EC2822C9-372F-B486-D837-1C3F64888640}"/>
              </a:ext>
            </a:extLst>
          </p:cNvPr>
          <p:cNvSpPr txBox="1"/>
          <p:nvPr/>
        </p:nvSpPr>
        <p:spPr>
          <a:xfrm>
            <a:off x="11009224" y="5554555"/>
            <a:ext cx="161925" cy="4667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" b="0" i="0" u="none" strike="noStrike" kern="1200" cap="none" spc="7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客户续约率</a:t>
            </a:r>
          </a:p>
        </p:txBody>
      </p:sp>
      <p:sp>
        <p:nvSpPr>
          <p:cNvPr id="2585" name="m-s12_petal_core-icon-people">
            <a:extLst>
              <a:ext uri="{FF2B5EF4-FFF2-40B4-BE49-F238E27FC236}">
                <a16:creationId xmlns:a16="http://schemas.microsoft.com/office/drawing/2014/main" id="{4F7AC89F-A493-59EC-A609-B067D8588EFA}"/>
              </a:ext>
            </a:extLst>
          </p:cNvPr>
          <p:cNvSpPr/>
          <p:nvPr/>
        </p:nvSpPr>
        <p:spPr>
          <a:xfrm>
            <a:off x="11388725" y="5546090"/>
            <a:ext cx="28067" cy="7874"/>
          </a:xfrm>
          <a:custGeom>
            <a:avLst/>
            <a:gdLst/>
            <a:ahLst/>
            <a:cxnLst/>
            <a:rect l="0" t="0" r="r" b="b"/>
            <a:pathLst>
              <a:path w="28067" h="7874">
                <a:moveTo>
                  <a:pt x="0" y="7874"/>
                </a:moveTo>
                <a:cubicBezTo>
                  <a:pt x="0" y="2921"/>
                  <a:pt x="4128" y="0"/>
                  <a:pt x="8890" y="0"/>
                </a:cubicBezTo>
                <a:cubicBezTo>
                  <a:pt x="13653" y="0"/>
                  <a:pt x="17780" y="2921"/>
                  <a:pt x="17780" y="7874"/>
                </a:cubicBezTo>
                <a:moveTo>
                  <a:pt x="21082" y="635"/>
                </a:moveTo>
                <a:cubicBezTo>
                  <a:pt x="25400" y="1143"/>
                  <a:pt x="28067" y="4064"/>
                  <a:pt x="28067" y="7874"/>
                </a:cubicBezTo>
              </a:path>
            </a:pathLst>
          </a:custGeom>
          <a:noFill/>
          <a:ln w="2896" cap="rnd">
            <a:solidFill>
              <a:srgbClr val="4694D7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86" name="m-s12_petal_core-icon-people">
            <a:extLst>
              <a:ext uri="{FF2B5EF4-FFF2-40B4-BE49-F238E27FC236}">
                <a16:creationId xmlns:a16="http://schemas.microsoft.com/office/drawing/2014/main" id="{1F079155-5E92-3722-E442-126042E24F19}"/>
              </a:ext>
            </a:extLst>
          </p:cNvPr>
          <p:cNvSpPr/>
          <p:nvPr/>
        </p:nvSpPr>
        <p:spPr>
          <a:xfrm>
            <a:off x="11392332" y="5531866"/>
            <a:ext cx="10566" cy="10566"/>
          </a:xfrm>
          <a:prstGeom prst="ellipse">
            <a:avLst/>
          </a:prstGeom>
          <a:noFill/>
          <a:ln w="2896" cap="rnd">
            <a:solidFill>
              <a:srgbClr val="4694D7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87" name="m-s12_petal_core-icon-people">
            <a:extLst>
              <a:ext uri="{FF2B5EF4-FFF2-40B4-BE49-F238E27FC236}">
                <a16:creationId xmlns:a16="http://schemas.microsoft.com/office/drawing/2014/main" id="{B11688BC-CB28-1C23-2598-51F45866E508}"/>
              </a:ext>
            </a:extLst>
          </p:cNvPr>
          <p:cNvSpPr/>
          <p:nvPr/>
        </p:nvSpPr>
        <p:spPr>
          <a:xfrm>
            <a:off x="11406530" y="5531866"/>
            <a:ext cx="8585" cy="8585"/>
          </a:xfrm>
          <a:prstGeom prst="ellipse">
            <a:avLst/>
          </a:prstGeom>
          <a:noFill/>
          <a:ln w="2896" cap="rnd">
            <a:solidFill>
              <a:srgbClr val="4694D7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2588" name="m-s12_petal_core-foot-line">
            <a:extLst>
              <a:ext uri="{FF2B5EF4-FFF2-40B4-BE49-F238E27FC236}">
                <a16:creationId xmlns:a16="http://schemas.microsoft.com/office/drawing/2014/main" id="{F8C251D4-4C3B-7891-FFD6-A71F2E55D01D}"/>
              </a:ext>
            </a:extLst>
          </p:cNvPr>
          <p:cNvCxnSpPr/>
          <p:nvPr/>
        </p:nvCxnSpPr>
        <p:spPr>
          <a:xfrm>
            <a:off x="8903208" y="5678932"/>
            <a:ext cx="2645664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89" name="m-s12_petal_core-foot-l">
            <a:extLst>
              <a:ext uri="{FF2B5EF4-FFF2-40B4-BE49-F238E27FC236}">
                <a16:creationId xmlns:a16="http://schemas.microsoft.com/office/drawing/2014/main" id="{A5BB65E9-D2F9-A48C-46AB-5A16C70381C0}"/>
              </a:ext>
            </a:extLst>
          </p:cNvPr>
          <p:cNvSpPr txBox="1"/>
          <p:nvPr/>
        </p:nvSpPr>
        <p:spPr>
          <a:xfrm>
            <a:off x="8900648" y="5695254"/>
            <a:ext cx="250881" cy="373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8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能力模型 · 六大核心</a:t>
            </a:r>
          </a:p>
        </p:txBody>
      </p:sp>
      <p:sp>
        <p:nvSpPr>
          <p:cNvPr id="2590" name="m-s12_petal_core-foot-r">
            <a:extLst>
              <a:ext uri="{FF2B5EF4-FFF2-40B4-BE49-F238E27FC236}">
                <a16:creationId xmlns:a16="http://schemas.microsoft.com/office/drawing/2014/main" id="{D3BD4AF4-30B7-019A-DBCE-F67C3F8AA906}"/>
              </a:ext>
            </a:extLst>
          </p:cNvPr>
          <p:cNvSpPr txBox="1"/>
          <p:nvPr/>
        </p:nvSpPr>
        <p:spPr>
          <a:xfrm>
            <a:off x="11247303" y="5695254"/>
            <a:ext cx="304129" cy="373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2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pic>
        <p:nvPicPr>
          <p:cNvPr id="2593" name="logo" descr="ripro_logo_white.png">
            <a:extLst>
              <a:ext uri="{FF2B5EF4-FFF2-40B4-BE49-F238E27FC236}">
                <a16:creationId xmlns:a16="http://schemas.microsoft.com/office/drawing/2014/main" id="{9A1753F6-38EE-4017-9CC7-AE6D1A745B7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52500" y="609600"/>
            <a:ext cx="1460500" cy="398065"/>
          </a:xfrm>
          <a:prstGeom prst="rect">
            <a:avLst/>
          </a:prstGeom>
        </p:spPr>
      </p:pic>
      <p:sp>
        <p:nvSpPr>
          <p:cNvPr id="2594" name="acc">
            <a:extLst>
              <a:ext uri="{FF2B5EF4-FFF2-40B4-BE49-F238E27FC236}">
                <a16:creationId xmlns:a16="http://schemas.microsoft.com/office/drawing/2014/main" id="{BA077D42-A7A7-A7EF-F7AE-BB95BC42657E}"/>
              </a:ext>
            </a:extLst>
          </p:cNvPr>
          <p:cNvSpPr/>
          <p:nvPr/>
        </p:nvSpPr>
        <p:spPr>
          <a:xfrm>
            <a:off x="952500" y="1727200"/>
            <a:ext cx="406400" cy="381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96" name="big-0">
            <a:extLst>
              <a:ext uri="{FF2B5EF4-FFF2-40B4-BE49-F238E27FC236}">
                <a16:creationId xmlns:a16="http://schemas.microsoft.com/office/drawing/2014/main" id="{200C62F8-8E31-9C6F-23EF-E3578939020C}"/>
              </a:ext>
            </a:extLst>
          </p:cNvPr>
          <p:cNvSpPr/>
          <p:nvPr/>
        </p:nvSpPr>
        <p:spPr>
          <a:xfrm>
            <a:off x="972184" y="2288338"/>
            <a:ext cx="1199934" cy="1752561"/>
          </a:xfrm>
          <a:custGeom>
            <a:avLst/>
            <a:gdLst/>
            <a:ahLst/>
            <a:cxnLst/>
            <a:rect l="0" t="0" r="r" b="b"/>
            <a:pathLst>
              <a:path w="1134745" h="1657350">
                <a:moveTo>
                  <a:pt x="74295" y="1315085"/>
                </a:moveTo>
                <a:quadBezTo>
                  <a:pt x="295275" y="1132205"/>
                  <a:pt x="422275" y="1015365"/>
                </a:quadBezTo>
                <a:quadBezTo>
                  <a:pt x="549275" y="898525"/>
                  <a:pt x="637540" y="769620"/>
                </a:quadBezTo>
                <a:quadBezTo>
                  <a:pt x="725170" y="641350"/>
                  <a:pt x="725170" y="520065"/>
                </a:quadBezTo>
                <a:quadBezTo>
                  <a:pt x="725170" y="427355"/>
                  <a:pt x="682625" y="375920"/>
                </a:quadBezTo>
                <a:quadBezTo>
                  <a:pt x="639445" y="323850"/>
                  <a:pt x="554355" y="323850"/>
                </a:quadBezTo>
                <a:quadBezTo>
                  <a:pt x="468630" y="323850"/>
                  <a:pt x="420370" y="387985"/>
                </a:quadBezTo>
                <a:quadBezTo>
                  <a:pt x="371475" y="452120"/>
                  <a:pt x="371475" y="569595"/>
                </a:quadBezTo>
                <a:lnTo>
                  <a:pt x="0" y="569595"/>
                </a:lnTo>
                <a:quadBezTo>
                  <a:pt x="4445" y="377825"/>
                  <a:pt x="82550" y="249555"/>
                </a:quadBezTo>
                <a:quadBezTo>
                  <a:pt x="160020" y="121285"/>
                  <a:pt x="287020" y="60325"/>
                </a:quadBezTo>
                <a:quadBezTo>
                  <a:pt x="414655" y="0"/>
                  <a:pt x="569595" y="0"/>
                </a:quadBezTo>
                <a:quadBezTo>
                  <a:pt x="837565" y="0"/>
                  <a:pt x="974090" y="137160"/>
                </a:quadBezTo>
                <a:quadBezTo>
                  <a:pt x="1109980" y="274320"/>
                  <a:pt x="1109980" y="495300"/>
                </a:quadBezTo>
                <a:quadBezTo>
                  <a:pt x="1109980" y="735965"/>
                  <a:pt x="946150" y="942340"/>
                </a:quadBezTo>
                <a:quadBezTo>
                  <a:pt x="781685" y="1148080"/>
                  <a:pt x="527050" y="1344295"/>
                </a:quadBezTo>
                <a:lnTo>
                  <a:pt x="1134745" y="1344295"/>
                </a:lnTo>
                <a:lnTo>
                  <a:pt x="1134745" y="1657350"/>
                </a:lnTo>
                <a:lnTo>
                  <a:pt x="4445" y="1657350"/>
                </a:lnTo>
                <a:lnTo>
                  <a:pt x="4445" y="1370965"/>
                </a:lnTo>
                <a:quadBezTo>
                  <a:pt x="81280" y="1310005"/>
                  <a:pt x="74295" y="1315085"/>
                </a:quad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97" name="big-1">
            <a:extLst>
              <a:ext uri="{FF2B5EF4-FFF2-40B4-BE49-F238E27FC236}">
                <a16:creationId xmlns:a16="http://schemas.microsoft.com/office/drawing/2014/main" id="{199278E9-0862-757D-CB56-B8A829EDB571}"/>
              </a:ext>
            </a:extLst>
          </p:cNvPr>
          <p:cNvSpPr/>
          <p:nvPr/>
        </p:nvSpPr>
        <p:spPr>
          <a:xfrm>
            <a:off x="2377591" y="2290352"/>
            <a:ext cx="1338259" cy="1766663"/>
          </a:xfrm>
          <a:custGeom>
            <a:avLst/>
            <a:gdLst/>
            <a:ahLst/>
            <a:cxnLst/>
            <a:rect l="0" t="0" r="r" b="b"/>
            <a:pathLst>
              <a:path w="1265555" h="1670685">
                <a:moveTo>
                  <a:pt x="633095" y="0"/>
                </a:moveTo>
                <a:quadBezTo>
                  <a:pt x="966470" y="0"/>
                  <a:pt x="1115695" y="222885"/>
                </a:quadBezTo>
                <a:quadBezTo>
                  <a:pt x="1265555" y="445770"/>
                  <a:pt x="1265555" y="833120"/>
                </a:quadBezTo>
                <a:quadBezTo>
                  <a:pt x="1265555" y="1224915"/>
                  <a:pt x="1115695" y="1447800"/>
                </a:quadBezTo>
                <a:quadBezTo>
                  <a:pt x="966470" y="1670685"/>
                  <a:pt x="633095" y="1670685"/>
                </a:quadBezTo>
                <a:quadBezTo>
                  <a:pt x="299720" y="1670685"/>
                  <a:pt x="149860" y="1447800"/>
                </a:quadBezTo>
                <a:quadBezTo>
                  <a:pt x="0" y="1224915"/>
                  <a:pt x="0" y="833120"/>
                </a:quadBezTo>
                <a:quadBezTo>
                  <a:pt x="0" y="445770"/>
                  <a:pt x="149860" y="222885"/>
                </a:quadBezTo>
                <a:quadBezTo>
                  <a:pt x="299720" y="0"/>
                  <a:pt x="633095" y="0"/>
                </a:quadBezTo>
                <a:close/>
                <a:moveTo>
                  <a:pt x="633095" y="360680"/>
                </a:moveTo>
                <a:quadBezTo>
                  <a:pt x="477520" y="360680"/>
                  <a:pt x="427990" y="483235"/>
                </a:quadBezTo>
                <a:quadBezTo>
                  <a:pt x="378460" y="605790"/>
                  <a:pt x="378460" y="833120"/>
                </a:quadBezTo>
                <a:quadBezTo>
                  <a:pt x="378460" y="986155"/>
                  <a:pt x="396875" y="1086485"/>
                </a:quadBezTo>
                <a:quadBezTo>
                  <a:pt x="414655" y="1186815"/>
                  <a:pt x="469900" y="1248410"/>
                </a:quadBezTo>
                <a:quadBezTo>
                  <a:pt x="525145" y="1310640"/>
                  <a:pt x="633095" y="1310640"/>
                </a:quadBezTo>
                <a:quadBezTo>
                  <a:pt x="741045" y="1310640"/>
                  <a:pt x="796290" y="1248410"/>
                </a:quadBezTo>
                <a:quadBezTo>
                  <a:pt x="851535" y="1186815"/>
                  <a:pt x="869315" y="1086485"/>
                </a:quadBezTo>
                <a:quadBezTo>
                  <a:pt x="887730" y="986155"/>
                  <a:pt x="887730" y="833120"/>
                </a:quadBezTo>
                <a:quadBezTo>
                  <a:pt x="887730" y="605790"/>
                  <a:pt x="838200" y="483235"/>
                </a:quadBezTo>
                <a:quadBezTo>
                  <a:pt x="788670" y="360680"/>
                  <a:pt x="633095" y="360680"/>
                </a:quad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98" name="big-2">
            <a:extLst>
              <a:ext uri="{FF2B5EF4-FFF2-40B4-BE49-F238E27FC236}">
                <a16:creationId xmlns:a16="http://schemas.microsoft.com/office/drawing/2014/main" id="{9B1A9FBB-76D5-7750-1037-4C840616215F}"/>
              </a:ext>
            </a:extLst>
          </p:cNvPr>
          <p:cNvSpPr/>
          <p:nvPr/>
        </p:nvSpPr>
        <p:spPr>
          <a:xfrm>
            <a:off x="3956910" y="2290352"/>
            <a:ext cx="1338259" cy="1766663"/>
          </a:xfrm>
          <a:custGeom>
            <a:avLst/>
            <a:gdLst/>
            <a:ahLst/>
            <a:cxnLst/>
            <a:rect l="0" t="0" r="r" b="b"/>
            <a:pathLst>
              <a:path w="1265555" h="1670685">
                <a:moveTo>
                  <a:pt x="633095" y="0"/>
                </a:moveTo>
                <a:quadBezTo>
                  <a:pt x="966470" y="0"/>
                  <a:pt x="1116330" y="222885"/>
                </a:quadBezTo>
                <a:quadBezTo>
                  <a:pt x="1265555" y="445770"/>
                  <a:pt x="1265555" y="833120"/>
                </a:quadBezTo>
                <a:quadBezTo>
                  <a:pt x="1265555" y="1224915"/>
                  <a:pt x="1116330" y="1447800"/>
                </a:quadBezTo>
                <a:quadBezTo>
                  <a:pt x="966470" y="1670685"/>
                  <a:pt x="633095" y="1670685"/>
                </a:quadBezTo>
                <a:quadBezTo>
                  <a:pt x="299720" y="1670685"/>
                  <a:pt x="149860" y="1447800"/>
                </a:quadBezTo>
                <a:quadBezTo>
                  <a:pt x="0" y="1224915"/>
                  <a:pt x="0" y="833120"/>
                </a:quadBezTo>
                <a:quadBezTo>
                  <a:pt x="0" y="445770"/>
                  <a:pt x="149860" y="222885"/>
                </a:quadBezTo>
                <a:quadBezTo>
                  <a:pt x="299720" y="0"/>
                  <a:pt x="633095" y="0"/>
                </a:quadBezTo>
                <a:close/>
                <a:moveTo>
                  <a:pt x="633095" y="360680"/>
                </a:moveTo>
                <a:quadBezTo>
                  <a:pt x="477520" y="360680"/>
                  <a:pt x="427990" y="483235"/>
                </a:quadBezTo>
                <a:quadBezTo>
                  <a:pt x="378460" y="605790"/>
                  <a:pt x="378460" y="833120"/>
                </a:quadBezTo>
                <a:quadBezTo>
                  <a:pt x="378460" y="986155"/>
                  <a:pt x="396875" y="1086485"/>
                </a:quadBezTo>
                <a:quadBezTo>
                  <a:pt x="414655" y="1186815"/>
                  <a:pt x="469900" y="1248410"/>
                </a:quadBezTo>
                <a:quadBezTo>
                  <a:pt x="525145" y="1310640"/>
                  <a:pt x="633095" y="1310640"/>
                </a:quadBezTo>
                <a:quadBezTo>
                  <a:pt x="741045" y="1310640"/>
                  <a:pt x="796290" y="1248410"/>
                </a:quadBezTo>
                <a:quadBezTo>
                  <a:pt x="851535" y="1186815"/>
                  <a:pt x="869315" y="1086485"/>
                </a:quadBezTo>
                <a:quadBezTo>
                  <a:pt x="887730" y="986155"/>
                  <a:pt x="887730" y="833120"/>
                </a:quadBezTo>
                <a:quadBezTo>
                  <a:pt x="887730" y="605790"/>
                  <a:pt x="838200" y="483235"/>
                </a:quadBezTo>
                <a:quadBezTo>
                  <a:pt x="788670" y="360680"/>
                  <a:pt x="633095" y="360680"/>
                </a:quad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99" name="unit">
            <a:extLst>
              <a:ext uri="{FF2B5EF4-FFF2-40B4-BE49-F238E27FC236}">
                <a16:creationId xmlns:a16="http://schemas.microsoft.com/office/drawing/2014/main" id="{4EF3116B-146C-DB02-2736-322FEDCC5362}"/>
              </a:ext>
            </a:extLst>
          </p:cNvPr>
          <p:cNvSpPr txBox="1"/>
          <p:nvPr/>
        </p:nvSpPr>
        <p:spPr>
          <a:xfrm>
            <a:off x="5370195" y="3415538"/>
            <a:ext cx="723900" cy="6667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张</a:t>
            </a:r>
          </a:p>
        </p:txBody>
      </p:sp>
      <p:sp>
        <p:nvSpPr>
          <p:cNvPr id="2601" name="title">
            <a:extLst>
              <a:ext uri="{FF2B5EF4-FFF2-40B4-BE49-F238E27FC236}">
                <a16:creationId xmlns:a16="http://schemas.microsoft.com/office/drawing/2014/main" id="{2243C7F5-519A-CEFA-2987-D6688935B4E6}"/>
              </a:ext>
            </a:extLst>
          </p:cNvPr>
          <p:cNvSpPr txBox="1"/>
          <p:nvPr/>
        </p:nvSpPr>
        <p:spPr>
          <a:xfrm>
            <a:off x="878332" y="4321121"/>
            <a:ext cx="4969309" cy="61555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4000" b="1" spc="3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高级蓝灰</a:t>
            </a:r>
            <a:r>
              <a:rPr kumimoji="0" sz="4000" b="1" i="0" u="none" strike="noStrike" kern="1200" cap="none" spc="30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PPT图表库</a:t>
            </a:r>
          </a:p>
        </p:txBody>
      </p:sp>
      <p:sp>
        <p:nvSpPr>
          <p:cNvPr id="2602" name="sub">
            <a:extLst>
              <a:ext uri="{FF2B5EF4-FFF2-40B4-BE49-F238E27FC236}">
                <a16:creationId xmlns:a16="http://schemas.microsoft.com/office/drawing/2014/main" id="{5C92F147-786E-6979-8D4E-F8BC2F4EE703}"/>
              </a:ext>
            </a:extLst>
          </p:cNvPr>
          <p:cNvSpPr txBox="1"/>
          <p:nvPr/>
        </p:nvSpPr>
        <p:spPr>
          <a:xfrm>
            <a:off x="935736" y="5101693"/>
            <a:ext cx="3234860" cy="16927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100" b="0" i="0" u="none" strike="noStrike" kern="1200" cap="none" spc="100" normalizeH="0" baseline="0" noProof="0">
                <a:ln>
                  <a:noFill/>
                </a:ln>
                <a:solidFill>
                  <a:srgbClr val="CFE0F4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全部原生形状 · 一键改色改字 ·</a:t>
            </a:r>
            <a:r>
              <a:rPr kumimoji="0" lang="en-US" sz="1100" b="0" i="0" u="none" strike="noStrike" kern="1200" cap="none" spc="100" normalizeH="0" baseline="0" noProof="0">
                <a:ln>
                  <a:noFill/>
                </a:ln>
                <a:solidFill>
                  <a:srgbClr val="CFE0F4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 </a:t>
            </a:r>
            <a:r>
              <a:rPr kumimoji="0" lang="zh-CN" altLang="en-US" sz="1100" b="0" i="0" u="none" strike="noStrike" kern="1200" cap="none" spc="100" normalizeH="0" baseline="0" noProof="0">
                <a:ln>
                  <a:noFill/>
                </a:ln>
                <a:solidFill>
                  <a:srgbClr val="CFE0F4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科技互联网公司</a:t>
            </a:r>
            <a:endParaRPr kumimoji="0" sz="1100" b="0" i="0" u="none" strike="noStrike" kern="1200" cap="none" spc="100" normalizeH="0" baseline="0" noProof="0">
              <a:ln>
                <a:noFill/>
              </a:ln>
              <a:solidFill>
                <a:srgbClr val="CFE0F4"/>
              </a:solidFill>
              <a:effectLst/>
              <a:uLnTx/>
              <a:uFillTx/>
              <a:latin typeface="微软雅黑"/>
              <a:ea typeface="微软雅黑"/>
              <a:cs typeface="微软雅黑"/>
            </a:endParaRPr>
          </a:p>
        </p:txBody>
      </p:sp>
      <p:sp>
        <p:nvSpPr>
          <p:cNvPr id="2603" name="chip-0">
            <a:extLst>
              <a:ext uri="{FF2B5EF4-FFF2-40B4-BE49-F238E27FC236}">
                <a16:creationId xmlns:a16="http://schemas.microsoft.com/office/drawing/2014/main" id="{7CB9D024-935F-341A-13AA-D8D21032AD25}"/>
              </a:ext>
            </a:extLst>
          </p:cNvPr>
          <p:cNvSpPr/>
          <p:nvPr/>
        </p:nvSpPr>
        <p:spPr>
          <a:xfrm>
            <a:off x="952500" y="5473700"/>
            <a:ext cx="952500" cy="406400"/>
          </a:xfrm>
          <a:custGeom>
            <a:avLst/>
            <a:gdLst/>
            <a:ahLst/>
            <a:cxnLst/>
            <a:rect l="0" t="0" r="r" b="b"/>
            <a:pathLst>
              <a:path w="952500" h="406400">
                <a:moveTo>
                  <a:pt x="203200" y="0"/>
                </a:moveTo>
                <a:lnTo>
                  <a:pt x="749300" y="0"/>
                </a:lnTo>
                <a:cubicBezTo>
                  <a:pt x="861505" y="0"/>
                  <a:pt x="952500" y="90996"/>
                  <a:pt x="952500" y="203200"/>
                </a:cubicBezTo>
                <a:lnTo>
                  <a:pt x="952500" y="203200"/>
                </a:lnTo>
                <a:cubicBezTo>
                  <a:pt x="952500" y="315404"/>
                  <a:pt x="861505" y="406400"/>
                  <a:pt x="749300" y="406400"/>
                </a:cubicBezTo>
                <a:lnTo>
                  <a:pt x="203200" y="406400"/>
                </a:lnTo>
                <a:cubicBezTo>
                  <a:pt x="90996" y="406400"/>
                  <a:pt x="0" y="315404"/>
                  <a:pt x="0" y="203200"/>
                </a:cubicBezTo>
                <a:lnTo>
                  <a:pt x="0" y="203200"/>
                </a:lnTo>
                <a:cubicBezTo>
                  <a:pt x="0" y="90996"/>
                  <a:pt x="90996" y="0"/>
                  <a:pt x="203200" y="0"/>
                </a:cubicBezTo>
                <a:close/>
              </a:path>
            </a:pathLst>
          </a:custGeom>
          <a:solidFill>
            <a:srgbClr val="FFFFFF">
              <a:alpha val="8000"/>
            </a:srgbClr>
          </a:solidFill>
          <a:ln w="7620" cap="rnd">
            <a:solidFill>
              <a:srgbClr val="FFFFFF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604" name="chipn-0">
            <a:extLst>
              <a:ext uri="{FF2B5EF4-FFF2-40B4-BE49-F238E27FC236}">
                <a16:creationId xmlns:a16="http://schemas.microsoft.com/office/drawing/2014/main" id="{6C79AA98-52F2-3BA0-99CB-8BCF0E738DC6}"/>
              </a:ext>
            </a:extLst>
          </p:cNvPr>
          <p:cNvSpPr txBox="1"/>
          <p:nvPr/>
        </p:nvSpPr>
        <p:spPr>
          <a:xfrm>
            <a:off x="1103122" y="558504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950" b="1" i="0" u="none" strike="noStrike" kern="1200" cap="none" spc="10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结构</a:t>
            </a:r>
          </a:p>
        </p:txBody>
      </p:sp>
      <p:sp>
        <p:nvSpPr>
          <p:cNvPr id="2605" name="chipv-0">
            <a:extLst>
              <a:ext uri="{FF2B5EF4-FFF2-40B4-BE49-F238E27FC236}">
                <a16:creationId xmlns:a16="http://schemas.microsoft.com/office/drawing/2014/main" id="{C91739CB-4E27-31B5-1722-286C2FBF834A}"/>
              </a:ext>
            </a:extLst>
          </p:cNvPr>
          <p:cNvSpPr txBox="1"/>
          <p:nvPr/>
        </p:nvSpPr>
        <p:spPr>
          <a:xfrm>
            <a:off x="1463040" y="5558536"/>
            <a:ext cx="307848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>
                <a:ln>
                  <a:noFill/>
                </a:ln>
                <a:solidFill>
                  <a:srgbClr val="8CC4F2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48</a:t>
            </a:r>
          </a:p>
        </p:txBody>
      </p:sp>
      <p:sp>
        <p:nvSpPr>
          <p:cNvPr id="2606" name="chip-1">
            <a:extLst>
              <a:ext uri="{FF2B5EF4-FFF2-40B4-BE49-F238E27FC236}">
                <a16:creationId xmlns:a16="http://schemas.microsoft.com/office/drawing/2014/main" id="{FE0B07EF-CDF8-8944-D87A-481B1D38A51B}"/>
              </a:ext>
            </a:extLst>
          </p:cNvPr>
          <p:cNvSpPr/>
          <p:nvPr/>
        </p:nvSpPr>
        <p:spPr>
          <a:xfrm>
            <a:off x="1993900" y="5473700"/>
            <a:ext cx="952500" cy="406400"/>
          </a:xfrm>
          <a:custGeom>
            <a:avLst/>
            <a:gdLst/>
            <a:ahLst/>
            <a:cxnLst/>
            <a:rect l="0" t="0" r="r" b="b"/>
            <a:pathLst>
              <a:path w="952500" h="406400">
                <a:moveTo>
                  <a:pt x="203200" y="0"/>
                </a:moveTo>
                <a:lnTo>
                  <a:pt x="749300" y="0"/>
                </a:lnTo>
                <a:cubicBezTo>
                  <a:pt x="861505" y="0"/>
                  <a:pt x="952500" y="90996"/>
                  <a:pt x="952500" y="203200"/>
                </a:cubicBezTo>
                <a:lnTo>
                  <a:pt x="952500" y="203200"/>
                </a:lnTo>
                <a:cubicBezTo>
                  <a:pt x="952500" y="315404"/>
                  <a:pt x="861505" y="406400"/>
                  <a:pt x="749300" y="406400"/>
                </a:cubicBezTo>
                <a:lnTo>
                  <a:pt x="203200" y="406400"/>
                </a:lnTo>
                <a:cubicBezTo>
                  <a:pt x="90995" y="406400"/>
                  <a:pt x="0" y="315404"/>
                  <a:pt x="0" y="203200"/>
                </a:cubicBezTo>
                <a:lnTo>
                  <a:pt x="0" y="203200"/>
                </a:lnTo>
                <a:cubicBezTo>
                  <a:pt x="0" y="90996"/>
                  <a:pt x="90995" y="0"/>
                  <a:pt x="203200" y="0"/>
                </a:cubicBezTo>
                <a:close/>
              </a:path>
            </a:pathLst>
          </a:custGeom>
          <a:solidFill>
            <a:srgbClr val="FFFFFF">
              <a:alpha val="8000"/>
            </a:srgbClr>
          </a:solidFill>
          <a:ln w="7620" cap="rnd">
            <a:solidFill>
              <a:srgbClr val="FFFFFF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607" name="chipn-1">
            <a:extLst>
              <a:ext uri="{FF2B5EF4-FFF2-40B4-BE49-F238E27FC236}">
                <a16:creationId xmlns:a16="http://schemas.microsoft.com/office/drawing/2014/main" id="{11199645-0D34-260A-78AF-FE9444B6A3B8}"/>
              </a:ext>
            </a:extLst>
          </p:cNvPr>
          <p:cNvSpPr txBox="1"/>
          <p:nvPr/>
        </p:nvSpPr>
        <p:spPr>
          <a:xfrm>
            <a:off x="2144522" y="558504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950" b="1" i="0" u="none" strike="noStrike" kern="1200" cap="none" spc="10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流程</a:t>
            </a:r>
          </a:p>
        </p:txBody>
      </p:sp>
      <p:sp>
        <p:nvSpPr>
          <p:cNvPr id="2608" name="chipv-1">
            <a:extLst>
              <a:ext uri="{FF2B5EF4-FFF2-40B4-BE49-F238E27FC236}">
                <a16:creationId xmlns:a16="http://schemas.microsoft.com/office/drawing/2014/main" id="{DA2C6ADA-5140-2661-5DB5-BE164478588E}"/>
              </a:ext>
            </a:extLst>
          </p:cNvPr>
          <p:cNvSpPr txBox="1"/>
          <p:nvPr/>
        </p:nvSpPr>
        <p:spPr>
          <a:xfrm>
            <a:off x="2504440" y="5558536"/>
            <a:ext cx="307848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>
                <a:ln>
                  <a:noFill/>
                </a:ln>
                <a:solidFill>
                  <a:srgbClr val="8CC4F2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43</a:t>
            </a:r>
          </a:p>
        </p:txBody>
      </p:sp>
      <p:sp>
        <p:nvSpPr>
          <p:cNvPr id="2609" name="chip-2">
            <a:extLst>
              <a:ext uri="{FF2B5EF4-FFF2-40B4-BE49-F238E27FC236}">
                <a16:creationId xmlns:a16="http://schemas.microsoft.com/office/drawing/2014/main" id="{A9683496-5C4D-EC40-3C21-1CF686984891}"/>
              </a:ext>
            </a:extLst>
          </p:cNvPr>
          <p:cNvSpPr/>
          <p:nvPr/>
        </p:nvSpPr>
        <p:spPr>
          <a:xfrm>
            <a:off x="3035300" y="5473700"/>
            <a:ext cx="952500" cy="406400"/>
          </a:xfrm>
          <a:custGeom>
            <a:avLst/>
            <a:gdLst/>
            <a:ahLst/>
            <a:cxnLst/>
            <a:rect l="0" t="0" r="r" b="b"/>
            <a:pathLst>
              <a:path w="952500" h="406400">
                <a:moveTo>
                  <a:pt x="203200" y="0"/>
                </a:moveTo>
                <a:lnTo>
                  <a:pt x="749300" y="0"/>
                </a:lnTo>
                <a:cubicBezTo>
                  <a:pt x="861504" y="0"/>
                  <a:pt x="952500" y="90996"/>
                  <a:pt x="952500" y="203200"/>
                </a:cubicBezTo>
                <a:lnTo>
                  <a:pt x="952500" y="203200"/>
                </a:lnTo>
                <a:cubicBezTo>
                  <a:pt x="952500" y="315404"/>
                  <a:pt x="861504" y="406400"/>
                  <a:pt x="749300" y="406400"/>
                </a:cubicBezTo>
                <a:lnTo>
                  <a:pt x="203200" y="406400"/>
                </a:lnTo>
                <a:cubicBezTo>
                  <a:pt x="90995" y="406400"/>
                  <a:pt x="0" y="315404"/>
                  <a:pt x="0" y="203200"/>
                </a:cubicBezTo>
                <a:lnTo>
                  <a:pt x="0" y="203200"/>
                </a:lnTo>
                <a:cubicBezTo>
                  <a:pt x="0" y="90996"/>
                  <a:pt x="90995" y="0"/>
                  <a:pt x="203200" y="0"/>
                </a:cubicBezTo>
                <a:close/>
              </a:path>
            </a:pathLst>
          </a:custGeom>
          <a:solidFill>
            <a:srgbClr val="FFFFFF">
              <a:alpha val="8000"/>
            </a:srgbClr>
          </a:solidFill>
          <a:ln w="7620" cap="rnd">
            <a:solidFill>
              <a:srgbClr val="FFFFFF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610" name="chipn-2">
            <a:extLst>
              <a:ext uri="{FF2B5EF4-FFF2-40B4-BE49-F238E27FC236}">
                <a16:creationId xmlns:a16="http://schemas.microsoft.com/office/drawing/2014/main" id="{5087EF4E-1310-3B5B-62C7-8C28982D460C}"/>
              </a:ext>
            </a:extLst>
          </p:cNvPr>
          <p:cNvSpPr txBox="1"/>
          <p:nvPr/>
        </p:nvSpPr>
        <p:spPr>
          <a:xfrm>
            <a:off x="3185922" y="558504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950" b="1" i="0" u="none" strike="noStrike" kern="1200" cap="none" spc="10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对比</a:t>
            </a:r>
          </a:p>
        </p:txBody>
      </p:sp>
      <p:sp>
        <p:nvSpPr>
          <p:cNvPr id="2611" name="chipv-2">
            <a:extLst>
              <a:ext uri="{FF2B5EF4-FFF2-40B4-BE49-F238E27FC236}">
                <a16:creationId xmlns:a16="http://schemas.microsoft.com/office/drawing/2014/main" id="{8A7A4A04-D6D1-81E4-E461-9DEDC714AF09}"/>
              </a:ext>
            </a:extLst>
          </p:cNvPr>
          <p:cNvSpPr txBox="1"/>
          <p:nvPr/>
        </p:nvSpPr>
        <p:spPr>
          <a:xfrm>
            <a:off x="3545840" y="5558536"/>
            <a:ext cx="307848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>
                <a:ln>
                  <a:noFill/>
                </a:ln>
                <a:solidFill>
                  <a:srgbClr val="8CC4F2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36</a:t>
            </a:r>
          </a:p>
        </p:txBody>
      </p:sp>
      <p:sp>
        <p:nvSpPr>
          <p:cNvPr id="2612" name="chip-3">
            <a:extLst>
              <a:ext uri="{FF2B5EF4-FFF2-40B4-BE49-F238E27FC236}">
                <a16:creationId xmlns:a16="http://schemas.microsoft.com/office/drawing/2014/main" id="{1A184098-8A45-31E8-1599-B86490903F93}"/>
              </a:ext>
            </a:extLst>
          </p:cNvPr>
          <p:cNvSpPr/>
          <p:nvPr/>
        </p:nvSpPr>
        <p:spPr>
          <a:xfrm>
            <a:off x="4076700" y="5473700"/>
            <a:ext cx="952500" cy="406400"/>
          </a:xfrm>
          <a:custGeom>
            <a:avLst/>
            <a:gdLst/>
            <a:ahLst/>
            <a:cxnLst/>
            <a:rect l="0" t="0" r="r" b="b"/>
            <a:pathLst>
              <a:path w="952500" h="406400">
                <a:moveTo>
                  <a:pt x="203200" y="0"/>
                </a:moveTo>
                <a:lnTo>
                  <a:pt x="749300" y="0"/>
                </a:lnTo>
                <a:cubicBezTo>
                  <a:pt x="861504" y="0"/>
                  <a:pt x="952500" y="90996"/>
                  <a:pt x="952500" y="203200"/>
                </a:cubicBezTo>
                <a:lnTo>
                  <a:pt x="952500" y="203200"/>
                </a:lnTo>
                <a:cubicBezTo>
                  <a:pt x="952500" y="315404"/>
                  <a:pt x="861504" y="406400"/>
                  <a:pt x="749300" y="406400"/>
                </a:cubicBezTo>
                <a:lnTo>
                  <a:pt x="203200" y="406400"/>
                </a:lnTo>
                <a:cubicBezTo>
                  <a:pt x="90996" y="406400"/>
                  <a:pt x="0" y="315404"/>
                  <a:pt x="0" y="203200"/>
                </a:cubicBezTo>
                <a:lnTo>
                  <a:pt x="0" y="203200"/>
                </a:lnTo>
                <a:cubicBezTo>
                  <a:pt x="0" y="90996"/>
                  <a:pt x="90996" y="0"/>
                  <a:pt x="203200" y="0"/>
                </a:cubicBezTo>
                <a:close/>
              </a:path>
            </a:pathLst>
          </a:custGeom>
          <a:solidFill>
            <a:srgbClr val="FFFFFF">
              <a:alpha val="8000"/>
            </a:srgbClr>
          </a:solidFill>
          <a:ln w="7620" cap="rnd">
            <a:solidFill>
              <a:srgbClr val="FFFFFF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613" name="chipn-3">
            <a:extLst>
              <a:ext uri="{FF2B5EF4-FFF2-40B4-BE49-F238E27FC236}">
                <a16:creationId xmlns:a16="http://schemas.microsoft.com/office/drawing/2014/main" id="{616A025D-4A8E-3A93-3ED0-4421E4CD88D7}"/>
              </a:ext>
            </a:extLst>
          </p:cNvPr>
          <p:cNvSpPr txBox="1"/>
          <p:nvPr/>
        </p:nvSpPr>
        <p:spPr>
          <a:xfrm>
            <a:off x="4227322" y="558504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950" b="1" i="0" u="none" strike="noStrike" kern="1200" cap="none" spc="10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</a:t>
            </a:r>
          </a:p>
        </p:txBody>
      </p:sp>
      <p:sp>
        <p:nvSpPr>
          <p:cNvPr id="2614" name="chipv-3">
            <a:extLst>
              <a:ext uri="{FF2B5EF4-FFF2-40B4-BE49-F238E27FC236}">
                <a16:creationId xmlns:a16="http://schemas.microsoft.com/office/drawing/2014/main" id="{4034C12A-2B7C-E619-2A86-68FEE2E3B58F}"/>
              </a:ext>
            </a:extLst>
          </p:cNvPr>
          <p:cNvSpPr txBox="1"/>
          <p:nvPr/>
        </p:nvSpPr>
        <p:spPr>
          <a:xfrm>
            <a:off x="4587240" y="5558536"/>
            <a:ext cx="307848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53</a:t>
            </a:r>
          </a:p>
        </p:txBody>
      </p:sp>
      <p:sp>
        <p:nvSpPr>
          <p:cNvPr id="2615" name="chip-4">
            <a:extLst>
              <a:ext uri="{FF2B5EF4-FFF2-40B4-BE49-F238E27FC236}">
                <a16:creationId xmlns:a16="http://schemas.microsoft.com/office/drawing/2014/main" id="{24B2AD04-BA0D-2839-2E85-D890B1A8D6BD}"/>
              </a:ext>
            </a:extLst>
          </p:cNvPr>
          <p:cNvSpPr/>
          <p:nvPr/>
        </p:nvSpPr>
        <p:spPr>
          <a:xfrm>
            <a:off x="5118100" y="5473700"/>
            <a:ext cx="952500" cy="406400"/>
          </a:xfrm>
          <a:custGeom>
            <a:avLst/>
            <a:gdLst/>
            <a:ahLst/>
            <a:cxnLst/>
            <a:rect l="0" t="0" r="r" b="b"/>
            <a:pathLst>
              <a:path w="952500" h="406400">
                <a:moveTo>
                  <a:pt x="203200" y="0"/>
                </a:moveTo>
                <a:lnTo>
                  <a:pt x="749300" y="0"/>
                </a:lnTo>
                <a:cubicBezTo>
                  <a:pt x="861504" y="0"/>
                  <a:pt x="952500" y="90996"/>
                  <a:pt x="952500" y="203200"/>
                </a:cubicBezTo>
                <a:lnTo>
                  <a:pt x="952500" y="203200"/>
                </a:lnTo>
                <a:cubicBezTo>
                  <a:pt x="952500" y="315404"/>
                  <a:pt x="861504" y="406400"/>
                  <a:pt x="749300" y="406400"/>
                </a:cubicBezTo>
                <a:lnTo>
                  <a:pt x="203200" y="406400"/>
                </a:lnTo>
                <a:cubicBezTo>
                  <a:pt x="90996" y="406400"/>
                  <a:pt x="0" y="315404"/>
                  <a:pt x="0" y="203200"/>
                </a:cubicBezTo>
                <a:lnTo>
                  <a:pt x="0" y="203200"/>
                </a:lnTo>
                <a:cubicBezTo>
                  <a:pt x="0" y="90996"/>
                  <a:pt x="90996" y="0"/>
                  <a:pt x="203200" y="0"/>
                </a:cubicBezTo>
                <a:close/>
              </a:path>
            </a:pathLst>
          </a:custGeom>
          <a:solidFill>
            <a:srgbClr val="FFFFFF">
              <a:alpha val="8000"/>
            </a:srgbClr>
          </a:solidFill>
          <a:ln w="7620" cap="rnd">
            <a:solidFill>
              <a:srgbClr val="FFFFFF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616" name="chipn-4">
            <a:extLst>
              <a:ext uri="{FF2B5EF4-FFF2-40B4-BE49-F238E27FC236}">
                <a16:creationId xmlns:a16="http://schemas.microsoft.com/office/drawing/2014/main" id="{7E557AE1-9DC4-5F28-D393-F4DCF1BF2FFF}"/>
              </a:ext>
            </a:extLst>
          </p:cNvPr>
          <p:cNvSpPr txBox="1"/>
          <p:nvPr/>
        </p:nvSpPr>
        <p:spPr>
          <a:xfrm>
            <a:off x="5268722" y="558504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950" b="1" i="0" u="none" strike="noStrike" kern="1200" cap="none" spc="10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列表</a:t>
            </a:r>
          </a:p>
        </p:txBody>
      </p:sp>
      <p:sp>
        <p:nvSpPr>
          <p:cNvPr id="2617" name="chipv-4">
            <a:extLst>
              <a:ext uri="{FF2B5EF4-FFF2-40B4-BE49-F238E27FC236}">
                <a16:creationId xmlns:a16="http://schemas.microsoft.com/office/drawing/2014/main" id="{443459D0-6CCD-B0C1-3457-0A6F1B6C3095}"/>
              </a:ext>
            </a:extLst>
          </p:cNvPr>
          <p:cNvSpPr txBox="1"/>
          <p:nvPr/>
        </p:nvSpPr>
        <p:spPr>
          <a:xfrm>
            <a:off x="5628640" y="5558536"/>
            <a:ext cx="307848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>
                <a:ln>
                  <a:noFill/>
                </a:ln>
                <a:solidFill>
                  <a:srgbClr val="8CC4F2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20</a:t>
            </a:r>
          </a:p>
        </p:txBody>
      </p:sp>
      <p:grpSp>
        <p:nvGrpSpPr>
          <p:cNvPr id="2620" name="组合 2619">
            <a:extLst>
              <a:ext uri="{FF2B5EF4-FFF2-40B4-BE49-F238E27FC236}">
                <a16:creationId xmlns:a16="http://schemas.microsoft.com/office/drawing/2014/main" id="{352C75C4-743C-0BF5-7209-52561FFEDC2C}"/>
              </a:ext>
            </a:extLst>
          </p:cNvPr>
          <p:cNvGrpSpPr/>
          <p:nvPr/>
        </p:nvGrpSpPr>
        <p:grpSpPr>
          <a:xfrm>
            <a:off x="4981567" y="1996633"/>
            <a:ext cx="1260681" cy="1260596"/>
            <a:chOff x="4669700" y="772290"/>
            <a:chExt cx="1260681" cy="1260596"/>
          </a:xfrm>
        </p:grpSpPr>
        <p:sp>
          <p:nvSpPr>
            <p:cNvPr id="2619" name="任意多边形: 形状 2618">
              <a:extLst>
                <a:ext uri="{FF2B5EF4-FFF2-40B4-BE49-F238E27FC236}">
                  <a16:creationId xmlns:a16="http://schemas.microsoft.com/office/drawing/2014/main" id="{2D6E47DC-F6AA-5044-5B69-6CCA59241C77}"/>
                </a:ext>
              </a:extLst>
            </p:cNvPr>
            <p:cNvSpPr/>
            <p:nvPr/>
          </p:nvSpPr>
          <p:spPr>
            <a:xfrm>
              <a:off x="4669700" y="772290"/>
              <a:ext cx="1260681" cy="1260596"/>
            </a:xfrm>
            <a:custGeom>
              <a:avLst/>
              <a:gdLst>
                <a:gd name="connsiteX0" fmla="*/ 630340 w 1260681"/>
                <a:gd name="connsiteY0" fmla="*/ 49878 h 1260596"/>
                <a:gd name="connsiteX1" fmla="*/ 665733 w 1260681"/>
                <a:gd name="connsiteY1" fmla="*/ 6166 h 1260596"/>
                <a:gd name="connsiteX2" fmla="*/ 693058 w 1260681"/>
                <a:gd name="connsiteY2" fmla="*/ 8320 h 1260596"/>
                <a:gd name="connsiteX3" fmla="*/ 721185 w 1260681"/>
                <a:gd name="connsiteY3" fmla="*/ 57016 h 1260596"/>
                <a:gd name="connsiteX4" fmla="*/ 762955 w 1260681"/>
                <a:gd name="connsiteY4" fmla="*/ 19386 h 1260596"/>
                <a:gd name="connsiteX5" fmla="*/ 789604 w 1260681"/>
                <a:gd name="connsiteY5" fmla="*/ 25763 h 1260596"/>
                <a:gd name="connsiteX6" fmla="*/ 809750 w 1260681"/>
                <a:gd name="connsiteY6" fmla="*/ 78260 h 1260596"/>
                <a:gd name="connsiteX7" fmla="*/ 856926 w 1260681"/>
                <a:gd name="connsiteY7" fmla="*/ 47640 h 1260596"/>
                <a:gd name="connsiteX8" fmla="*/ 882224 w 1260681"/>
                <a:gd name="connsiteY8" fmla="*/ 58114 h 1260596"/>
                <a:gd name="connsiteX9" fmla="*/ 893923 w 1260681"/>
                <a:gd name="connsiteY9" fmla="*/ 113102 h 1260596"/>
                <a:gd name="connsiteX10" fmla="*/ 945279 w 1260681"/>
                <a:gd name="connsiteY10" fmla="*/ 90212 h 1260596"/>
                <a:gd name="connsiteX11" fmla="*/ 968634 w 1260681"/>
                <a:gd name="connsiteY11" fmla="*/ 104529 h 1260596"/>
                <a:gd name="connsiteX12" fmla="*/ 971590 w 1260681"/>
                <a:gd name="connsiteY12" fmla="*/ 160700 h 1260596"/>
                <a:gd name="connsiteX13" fmla="*/ 1025903 w 1260681"/>
                <a:gd name="connsiteY13" fmla="*/ 146129 h 1260596"/>
                <a:gd name="connsiteX14" fmla="*/ 1046724 w 1260681"/>
                <a:gd name="connsiteY14" fmla="*/ 163910 h 1260596"/>
                <a:gd name="connsiteX15" fmla="*/ 1040854 w 1260681"/>
                <a:gd name="connsiteY15" fmla="*/ 219827 h 1260596"/>
                <a:gd name="connsiteX16" fmla="*/ 1096772 w 1260681"/>
                <a:gd name="connsiteY16" fmla="*/ 213957 h 1260596"/>
                <a:gd name="connsiteX17" fmla="*/ 1114552 w 1260681"/>
                <a:gd name="connsiteY17" fmla="*/ 234778 h 1260596"/>
                <a:gd name="connsiteX18" fmla="*/ 1099982 w 1260681"/>
                <a:gd name="connsiteY18" fmla="*/ 289091 h 1260596"/>
                <a:gd name="connsiteX19" fmla="*/ 1156152 w 1260681"/>
                <a:gd name="connsiteY19" fmla="*/ 292005 h 1260596"/>
                <a:gd name="connsiteX20" fmla="*/ 1170470 w 1260681"/>
                <a:gd name="connsiteY20" fmla="*/ 315360 h 1260596"/>
                <a:gd name="connsiteX21" fmla="*/ 1147578 w 1260681"/>
                <a:gd name="connsiteY21" fmla="*/ 366717 h 1260596"/>
                <a:gd name="connsiteX22" fmla="*/ 1202567 w 1260681"/>
                <a:gd name="connsiteY22" fmla="*/ 378416 h 1260596"/>
                <a:gd name="connsiteX23" fmla="*/ 1213041 w 1260681"/>
                <a:gd name="connsiteY23" fmla="*/ 403714 h 1260596"/>
                <a:gd name="connsiteX24" fmla="*/ 1182421 w 1260681"/>
                <a:gd name="connsiteY24" fmla="*/ 450889 h 1260596"/>
                <a:gd name="connsiteX25" fmla="*/ 1234919 w 1260681"/>
                <a:gd name="connsiteY25" fmla="*/ 471035 h 1260596"/>
                <a:gd name="connsiteX26" fmla="*/ 1241296 w 1260681"/>
                <a:gd name="connsiteY26" fmla="*/ 497684 h 1260596"/>
                <a:gd name="connsiteX27" fmla="*/ 1203665 w 1260681"/>
                <a:gd name="connsiteY27" fmla="*/ 539453 h 1260596"/>
                <a:gd name="connsiteX28" fmla="*/ 1252361 w 1260681"/>
                <a:gd name="connsiteY28" fmla="*/ 567581 h 1260596"/>
                <a:gd name="connsiteX29" fmla="*/ 1254515 w 1260681"/>
                <a:gd name="connsiteY29" fmla="*/ 594906 h 1260596"/>
                <a:gd name="connsiteX30" fmla="*/ 1210803 w 1260681"/>
                <a:gd name="connsiteY30" fmla="*/ 630298 h 1260596"/>
                <a:gd name="connsiteX31" fmla="*/ 1254515 w 1260681"/>
                <a:gd name="connsiteY31" fmla="*/ 665690 h 1260596"/>
                <a:gd name="connsiteX32" fmla="*/ 1252361 w 1260681"/>
                <a:gd name="connsiteY32" fmla="*/ 693016 h 1260596"/>
                <a:gd name="connsiteX33" fmla="*/ 1203665 w 1260681"/>
                <a:gd name="connsiteY33" fmla="*/ 721144 h 1260596"/>
                <a:gd name="connsiteX34" fmla="*/ 1241296 w 1260681"/>
                <a:gd name="connsiteY34" fmla="*/ 762913 h 1260596"/>
                <a:gd name="connsiteX35" fmla="*/ 1234919 w 1260681"/>
                <a:gd name="connsiteY35" fmla="*/ 789562 h 1260596"/>
                <a:gd name="connsiteX36" fmla="*/ 1182421 w 1260681"/>
                <a:gd name="connsiteY36" fmla="*/ 809708 h 1260596"/>
                <a:gd name="connsiteX37" fmla="*/ 1213041 w 1260681"/>
                <a:gd name="connsiteY37" fmla="*/ 856883 h 1260596"/>
                <a:gd name="connsiteX38" fmla="*/ 1202567 w 1260681"/>
                <a:gd name="connsiteY38" fmla="*/ 882181 h 1260596"/>
                <a:gd name="connsiteX39" fmla="*/ 1147578 w 1260681"/>
                <a:gd name="connsiteY39" fmla="*/ 893880 h 1260596"/>
                <a:gd name="connsiteX40" fmla="*/ 1170470 w 1260681"/>
                <a:gd name="connsiteY40" fmla="*/ 945236 h 1260596"/>
                <a:gd name="connsiteX41" fmla="*/ 1156152 w 1260681"/>
                <a:gd name="connsiteY41" fmla="*/ 968592 h 1260596"/>
                <a:gd name="connsiteX42" fmla="*/ 1099982 w 1260681"/>
                <a:gd name="connsiteY42" fmla="*/ 971506 h 1260596"/>
                <a:gd name="connsiteX43" fmla="*/ 1114552 w 1260681"/>
                <a:gd name="connsiteY43" fmla="*/ 1025819 h 1260596"/>
                <a:gd name="connsiteX44" fmla="*/ 1096772 w 1260681"/>
                <a:gd name="connsiteY44" fmla="*/ 1046640 h 1260596"/>
                <a:gd name="connsiteX45" fmla="*/ 1040854 w 1260681"/>
                <a:gd name="connsiteY45" fmla="*/ 1040769 h 1260596"/>
                <a:gd name="connsiteX46" fmla="*/ 1046724 w 1260681"/>
                <a:gd name="connsiteY46" fmla="*/ 1096687 h 1260596"/>
                <a:gd name="connsiteX47" fmla="*/ 1025903 w 1260681"/>
                <a:gd name="connsiteY47" fmla="*/ 1114468 h 1260596"/>
                <a:gd name="connsiteX48" fmla="*/ 971590 w 1260681"/>
                <a:gd name="connsiteY48" fmla="*/ 1099897 h 1260596"/>
                <a:gd name="connsiteX49" fmla="*/ 968634 w 1260681"/>
                <a:gd name="connsiteY49" fmla="*/ 1156068 h 1260596"/>
                <a:gd name="connsiteX50" fmla="*/ 945279 w 1260681"/>
                <a:gd name="connsiteY50" fmla="*/ 1170385 h 1260596"/>
                <a:gd name="connsiteX51" fmla="*/ 893923 w 1260681"/>
                <a:gd name="connsiteY51" fmla="*/ 1147495 h 1260596"/>
                <a:gd name="connsiteX52" fmla="*/ 882224 w 1260681"/>
                <a:gd name="connsiteY52" fmla="*/ 1202483 h 1260596"/>
                <a:gd name="connsiteX53" fmla="*/ 856926 w 1260681"/>
                <a:gd name="connsiteY53" fmla="*/ 1212957 h 1260596"/>
                <a:gd name="connsiteX54" fmla="*/ 809750 w 1260681"/>
                <a:gd name="connsiteY54" fmla="*/ 1182337 h 1260596"/>
                <a:gd name="connsiteX55" fmla="*/ 789604 w 1260681"/>
                <a:gd name="connsiteY55" fmla="*/ 1234834 h 1260596"/>
                <a:gd name="connsiteX56" fmla="*/ 762955 w 1260681"/>
                <a:gd name="connsiteY56" fmla="*/ 1241211 h 1260596"/>
                <a:gd name="connsiteX57" fmla="*/ 721185 w 1260681"/>
                <a:gd name="connsiteY57" fmla="*/ 1203581 h 1260596"/>
                <a:gd name="connsiteX58" fmla="*/ 693058 w 1260681"/>
                <a:gd name="connsiteY58" fmla="*/ 1252277 h 1260596"/>
                <a:gd name="connsiteX59" fmla="*/ 665733 w 1260681"/>
                <a:gd name="connsiteY59" fmla="*/ 1254431 h 1260596"/>
                <a:gd name="connsiteX60" fmla="*/ 630340 w 1260681"/>
                <a:gd name="connsiteY60" fmla="*/ 1210719 h 1260596"/>
                <a:gd name="connsiteX61" fmla="*/ 594949 w 1260681"/>
                <a:gd name="connsiteY61" fmla="*/ 1254431 h 1260596"/>
                <a:gd name="connsiteX62" fmla="*/ 567624 w 1260681"/>
                <a:gd name="connsiteY62" fmla="*/ 1252277 h 1260596"/>
                <a:gd name="connsiteX63" fmla="*/ 539495 w 1260681"/>
                <a:gd name="connsiteY63" fmla="*/ 1203581 h 1260596"/>
                <a:gd name="connsiteX64" fmla="*/ 497726 w 1260681"/>
                <a:gd name="connsiteY64" fmla="*/ 1241211 h 1260596"/>
                <a:gd name="connsiteX65" fmla="*/ 471077 w 1260681"/>
                <a:gd name="connsiteY65" fmla="*/ 1234834 h 1260596"/>
                <a:gd name="connsiteX66" fmla="*/ 450931 w 1260681"/>
                <a:gd name="connsiteY66" fmla="*/ 1182337 h 1260596"/>
                <a:gd name="connsiteX67" fmla="*/ 403756 w 1260681"/>
                <a:gd name="connsiteY67" fmla="*/ 1212957 h 1260596"/>
                <a:gd name="connsiteX68" fmla="*/ 378458 w 1260681"/>
                <a:gd name="connsiteY68" fmla="*/ 1202483 h 1260596"/>
                <a:gd name="connsiteX69" fmla="*/ 366759 w 1260681"/>
                <a:gd name="connsiteY69" fmla="*/ 1147495 h 1260596"/>
                <a:gd name="connsiteX70" fmla="*/ 315403 w 1260681"/>
                <a:gd name="connsiteY70" fmla="*/ 1170385 h 1260596"/>
                <a:gd name="connsiteX71" fmla="*/ 292047 w 1260681"/>
                <a:gd name="connsiteY71" fmla="*/ 1156068 h 1260596"/>
                <a:gd name="connsiteX72" fmla="*/ 289091 w 1260681"/>
                <a:gd name="connsiteY72" fmla="*/ 1099897 h 1260596"/>
                <a:gd name="connsiteX73" fmla="*/ 234778 w 1260681"/>
                <a:gd name="connsiteY73" fmla="*/ 1114468 h 1260596"/>
                <a:gd name="connsiteX74" fmla="*/ 213957 w 1260681"/>
                <a:gd name="connsiteY74" fmla="*/ 1096687 h 1260596"/>
                <a:gd name="connsiteX75" fmla="*/ 219827 w 1260681"/>
                <a:gd name="connsiteY75" fmla="*/ 1040769 h 1260596"/>
                <a:gd name="connsiteX76" fmla="*/ 163910 w 1260681"/>
                <a:gd name="connsiteY76" fmla="*/ 1046640 h 1260596"/>
                <a:gd name="connsiteX77" fmla="*/ 146129 w 1260681"/>
                <a:gd name="connsiteY77" fmla="*/ 1025819 h 1260596"/>
                <a:gd name="connsiteX78" fmla="*/ 160700 w 1260681"/>
                <a:gd name="connsiteY78" fmla="*/ 971506 h 1260596"/>
                <a:gd name="connsiteX79" fmla="*/ 104529 w 1260681"/>
                <a:gd name="connsiteY79" fmla="*/ 968592 h 1260596"/>
                <a:gd name="connsiteX80" fmla="*/ 90212 w 1260681"/>
                <a:gd name="connsiteY80" fmla="*/ 945236 h 1260596"/>
                <a:gd name="connsiteX81" fmla="*/ 113102 w 1260681"/>
                <a:gd name="connsiteY81" fmla="*/ 893880 h 1260596"/>
                <a:gd name="connsiteX82" fmla="*/ 58114 w 1260681"/>
                <a:gd name="connsiteY82" fmla="*/ 882181 h 1260596"/>
                <a:gd name="connsiteX83" fmla="*/ 47640 w 1260681"/>
                <a:gd name="connsiteY83" fmla="*/ 856883 h 1260596"/>
                <a:gd name="connsiteX84" fmla="*/ 78259 w 1260681"/>
                <a:gd name="connsiteY84" fmla="*/ 809708 h 1260596"/>
                <a:gd name="connsiteX85" fmla="*/ 25763 w 1260681"/>
                <a:gd name="connsiteY85" fmla="*/ 789562 h 1260596"/>
                <a:gd name="connsiteX86" fmla="*/ 19386 w 1260681"/>
                <a:gd name="connsiteY86" fmla="*/ 762913 h 1260596"/>
                <a:gd name="connsiteX87" fmla="*/ 57016 w 1260681"/>
                <a:gd name="connsiteY87" fmla="*/ 721144 h 1260596"/>
                <a:gd name="connsiteX88" fmla="*/ 8320 w 1260681"/>
                <a:gd name="connsiteY88" fmla="*/ 693016 h 1260596"/>
                <a:gd name="connsiteX89" fmla="*/ 6166 w 1260681"/>
                <a:gd name="connsiteY89" fmla="*/ 665690 h 1260596"/>
                <a:gd name="connsiteX90" fmla="*/ 49878 w 1260681"/>
                <a:gd name="connsiteY90" fmla="*/ 630298 h 1260596"/>
                <a:gd name="connsiteX91" fmla="*/ 6166 w 1260681"/>
                <a:gd name="connsiteY91" fmla="*/ 594906 h 1260596"/>
                <a:gd name="connsiteX92" fmla="*/ 8320 w 1260681"/>
                <a:gd name="connsiteY92" fmla="*/ 567581 h 1260596"/>
                <a:gd name="connsiteX93" fmla="*/ 57016 w 1260681"/>
                <a:gd name="connsiteY93" fmla="*/ 539453 h 1260596"/>
                <a:gd name="connsiteX94" fmla="*/ 19386 w 1260681"/>
                <a:gd name="connsiteY94" fmla="*/ 497684 h 1260596"/>
                <a:gd name="connsiteX95" fmla="*/ 25763 w 1260681"/>
                <a:gd name="connsiteY95" fmla="*/ 471035 h 1260596"/>
                <a:gd name="connsiteX96" fmla="*/ 78259 w 1260681"/>
                <a:gd name="connsiteY96" fmla="*/ 450889 h 1260596"/>
                <a:gd name="connsiteX97" fmla="*/ 47640 w 1260681"/>
                <a:gd name="connsiteY97" fmla="*/ 403714 h 1260596"/>
                <a:gd name="connsiteX98" fmla="*/ 58114 w 1260681"/>
                <a:gd name="connsiteY98" fmla="*/ 378416 h 1260596"/>
                <a:gd name="connsiteX99" fmla="*/ 113102 w 1260681"/>
                <a:gd name="connsiteY99" fmla="*/ 366717 h 1260596"/>
                <a:gd name="connsiteX100" fmla="*/ 90212 w 1260681"/>
                <a:gd name="connsiteY100" fmla="*/ 315360 h 1260596"/>
                <a:gd name="connsiteX101" fmla="*/ 104529 w 1260681"/>
                <a:gd name="connsiteY101" fmla="*/ 292005 h 1260596"/>
                <a:gd name="connsiteX102" fmla="*/ 160700 w 1260681"/>
                <a:gd name="connsiteY102" fmla="*/ 289091 h 1260596"/>
                <a:gd name="connsiteX103" fmla="*/ 146129 w 1260681"/>
                <a:gd name="connsiteY103" fmla="*/ 234778 h 1260596"/>
                <a:gd name="connsiteX104" fmla="*/ 163910 w 1260681"/>
                <a:gd name="connsiteY104" fmla="*/ 213957 h 1260596"/>
                <a:gd name="connsiteX105" fmla="*/ 219827 w 1260681"/>
                <a:gd name="connsiteY105" fmla="*/ 219827 h 1260596"/>
                <a:gd name="connsiteX106" fmla="*/ 213957 w 1260681"/>
                <a:gd name="connsiteY106" fmla="*/ 163910 h 1260596"/>
                <a:gd name="connsiteX107" fmla="*/ 234778 w 1260681"/>
                <a:gd name="connsiteY107" fmla="*/ 146129 h 1260596"/>
                <a:gd name="connsiteX108" fmla="*/ 289091 w 1260681"/>
                <a:gd name="connsiteY108" fmla="*/ 160700 h 1260596"/>
                <a:gd name="connsiteX109" fmla="*/ 292047 w 1260681"/>
                <a:gd name="connsiteY109" fmla="*/ 104529 h 1260596"/>
                <a:gd name="connsiteX110" fmla="*/ 315403 w 1260681"/>
                <a:gd name="connsiteY110" fmla="*/ 90212 h 1260596"/>
                <a:gd name="connsiteX111" fmla="*/ 366759 w 1260681"/>
                <a:gd name="connsiteY111" fmla="*/ 113102 h 1260596"/>
                <a:gd name="connsiteX112" fmla="*/ 378458 w 1260681"/>
                <a:gd name="connsiteY112" fmla="*/ 58114 h 1260596"/>
                <a:gd name="connsiteX113" fmla="*/ 403756 w 1260681"/>
                <a:gd name="connsiteY113" fmla="*/ 47640 h 1260596"/>
                <a:gd name="connsiteX114" fmla="*/ 450931 w 1260681"/>
                <a:gd name="connsiteY114" fmla="*/ 78260 h 1260596"/>
                <a:gd name="connsiteX115" fmla="*/ 471077 w 1260681"/>
                <a:gd name="connsiteY115" fmla="*/ 25763 h 1260596"/>
                <a:gd name="connsiteX116" fmla="*/ 497726 w 1260681"/>
                <a:gd name="connsiteY116" fmla="*/ 19386 h 1260596"/>
                <a:gd name="connsiteX117" fmla="*/ 539495 w 1260681"/>
                <a:gd name="connsiteY117" fmla="*/ 57016 h 1260596"/>
                <a:gd name="connsiteX118" fmla="*/ 567624 w 1260681"/>
                <a:gd name="connsiteY118" fmla="*/ 8320 h 1260596"/>
                <a:gd name="connsiteX119" fmla="*/ 594949 w 1260681"/>
                <a:gd name="connsiteY119" fmla="*/ 6166 h 1260596"/>
                <a:gd name="connsiteX120" fmla="*/ 630340 w 1260681"/>
                <a:gd name="connsiteY120" fmla="*/ 49878 h 1260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1260681" h="1260596">
                  <a:moveTo>
                    <a:pt x="630340" y="49878"/>
                  </a:moveTo>
                  <a:lnTo>
                    <a:pt x="665733" y="6166"/>
                  </a:lnTo>
                  <a:cubicBezTo>
                    <a:pt x="673081" y="-2914"/>
                    <a:pt x="687229" y="-1774"/>
                    <a:pt x="693058" y="8320"/>
                  </a:cubicBezTo>
                  <a:lnTo>
                    <a:pt x="721185" y="57016"/>
                  </a:lnTo>
                  <a:lnTo>
                    <a:pt x="762955" y="19386"/>
                  </a:lnTo>
                  <a:cubicBezTo>
                    <a:pt x="771613" y="11572"/>
                    <a:pt x="785423" y="14909"/>
                    <a:pt x="789604" y="25763"/>
                  </a:cubicBezTo>
                  <a:lnTo>
                    <a:pt x="809750" y="78260"/>
                  </a:lnTo>
                  <a:lnTo>
                    <a:pt x="856926" y="47640"/>
                  </a:lnTo>
                  <a:cubicBezTo>
                    <a:pt x="866723" y="41305"/>
                    <a:pt x="879816" y="46711"/>
                    <a:pt x="882224" y="58114"/>
                  </a:cubicBezTo>
                  <a:lnTo>
                    <a:pt x="893923" y="113102"/>
                  </a:lnTo>
                  <a:lnTo>
                    <a:pt x="945279" y="90212"/>
                  </a:lnTo>
                  <a:cubicBezTo>
                    <a:pt x="955922" y="85482"/>
                    <a:pt x="968042" y="92872"/>
                    <a:pt x="968634" y="104529"/>
                  </a:cubicBezTo>
                  <a:lnTo>
                    <a:pt x="971590" y="160700"/>
                  </a:lnTo>
                  <a:lnTo>
                    <a:pt x="1025903" y="146129"/>
                  </a:lnTo>
                  <a:cubicBezTo>
                    <a:pt x="1037179" y="143131"/>
                    <a:pt x="1047949" y="152338"/>
                    <a:pt x="1046724" y="163910"/>
                  </a:cubicBezTo>
                  <a:lnTo>
                    <a:pt x="1040854" y="219827"/>
                  </a:lnTo>
                  <a:lnTo>
                    <a:pt x="1096772" y="213957"/>
                  </a:lnTo>
                  <a:cubicBezTo>
                    <a:pt x="1108386" y="212732"/>
                    <a:pt x="1117593" y="223544"/>
                    <a:pt x="1114552" y="234778"/>
                  </a:cubicBezTo>
                  <a:lnTo>
                    <a:pt x="1099982" y="289091"/>
                  </a:lnTo>
                  <a:lnTo>
                    <a:pt x="1156152" y="292005"/>
                  </a:lnTo>
                  <a:cubicBezTo>
                    <a:pt x="1167809" y="292596"/>
                    <a:pt x="1175199" y="304718"/>
                    <a:pt x="1170470" y="315360"/>
                  </a:cubicBezTo>
                  <a:lnTo>
                    <a:pt x="1147578" y="366717"/>
                  </a:lnTo>
                  <a:lnTo>
                    <a:pt x="1202567" y="378416"/>
                  </a:lnTo>
                  <a:cubicBezTo>
                    <a:pt x="1213971" y="380823"/>
                    <a:pt x="1219418" y="393958"/>
                    <a:pt x="1213041" y="403714"/>
                  </a:cubicBezTo>
                  <a:lnTo>
                    <a:pt x="1182421" y="450889"/>
                  </a:lnTo>
                  <a:lnTo>
                    <a:pt x="1234919" y="471035"/>
                  </a:lnTo>
                  <a:cubicBezTo>
                    <a:pt x="1245814" y="475216"/>
                    <a:pt x="1249109" y="489026"/>
                    <a:pt x="1241296" y="497684"/>
                  </a:cubicBezTo>
                  <a:lnTo>
                    <a:pt x="1203665" y="539453"/>
                  </a:lnTo>
                  <a:lnTo>
                    <a:pt x="1252361" y="567581"/>
                  </a:lnTo>
                  <a:cubicBezTo>
                    <a:pt x="1262455" y="573409"/>
                    <a:pt x="1263553" y="587558"/>
                    <a:pt x="1254515" y="594906"/>
                  </a:cubicBezTo>
                  <a:lnTo>
                    <a:pt x="1210803" y="630298"/>
                  </a:lnTo>
                  <a:lnTo>
                    <a:pt x="1254515" y="665690"/>
                  </a:lnTo>
                  <a:cubicBezTo>
                    <a:pt x="1263596" y="673039"/>
                    <a:pt x="1262455" y="687187"/>
                    <a:pt x="1252361" y="693016"/>
                  </a:cubicBezTo>
                  <a:lnTo>
                    <a:pt x="1203665" y="721144"/>
                  </a:lnTo>
                  <a:lnTo>
                    <a:pt x="1241296" y="762913"/>
                  </a:lnTo>
                  <a:cubicBezTo>
                    <a:pt x="1249109" y="771571"/>
                    <a:pt x="1245772" y="785381"/>
                    <a:pt x="1234919" y="789562"/>
                  </a:cubicBezTo>
                  <a:lnTo>
                    <a:pt x="1182421" y="809708"/>
                  </a:lnTo>
                  <a:lnTo>
                    <a:pt x="1213041" y="856883"/>
                  </a:lnTo>
                  <a:cubicBezTo>
                    <a:pt x="1219376" y="866682"/>
                    <a:pt x="1213971" y="879774"/>
                    <a:pt x="1202567" y="882181"/>
                  </a:cubicBezTo>
                  <a:lnTo>
                    <a:pt x="1147578" y="893880"/>
                  </a:lnTo>
                  <a:lnTo>
                    <a:pt x="1170470" y="945236"/>
                  </a:lnTo>
                  <a:cubicBezTo>
                    <a:pt x="1175199" y="955879"/>
                    <a:pt x="1167809" y="968001"/>
                    <a:pt x="1156152" y="968592"/>
                  </a:cubicBezTo>
                  <a:lnTo>
                    <a:pt x="1099982" y="971506"/>
                  </a:lnTo>
                  <a:lnTo>
                    <a:pt x="1114552" y="1025819"/>
                  </a:lnTo>
                  <a:cubicBezTo>
                    <a:pt x="1117551" y="1037095"/>
                    <a:pt x="1108344" y="1047865"/>
                    <a:pt x="1096772" y="1046640"/>
                  </a:cubicBezTo>
                  <a:lnTo>
                    <a:pt x="1040854" y="1040769"/>
                  </a:lnTo>
                  <a:lnTo>
                    <a:pt x="1046724" y="1096687"/>
                  </a:lnTo>
                  <a:cubicBezTo>
                    <a:pt x="1047949" y="1108301"/>
                    <a:pt x="1037137" y="1117508"/>
                    <a:pt x="1025903" y="1114468"/>
                  </a:cubicBezTo>
                  <a:lnTo>
                    <a:pt x="971590" y="1099897"/>
                  </a:lnTo>
                  <a:lnTo>
                    <a:pt x="968634" y="1156068"/>
                  </a:lnTo>
                  <a:cubicBezTo>
                    <a:pt x="968042" y="1167724"/>
                    <a:pt x="955922" y="1175115"/>
                    <a:pt x="945279" y="1170385"/>
                  </a:cubicBezTo>
                  <a:lnTo>
                    <a:pt x="893923" y="1147495"/>
                  </a:lnTo>
                  <a:lnTo>
                    <a:pt x="882224" y="1202483"/>
                  </a:lnTo>
                  <a:cubicBezTo>
                    <a:pt x="879816" y="1213886"/>
                    <a:pt x="866681" y="1219334"/>
                    <a:pt x="856926" y="1212957"/>
                  </a:cubicBezTo>
                  <a:lnTo>
                    <a:pt x="809750" y="1182337"/>
                  </a:lnTo>
                  <a:lnTo>
                    <a:pt x="789604" y="1234834"/>
                  </a:lnTo>
                  <a:cubicBezTo>
                    <a:pt x="785423" y="1245731"/>
                    <a:pt x="771613" y="1249025"/>
                    <a:pt x="762955" y="1241211"/>
                  </a:cubicBezTo>
                  <a:lnTo>
                    <a:pt x="721185" y="1203581"/>
                  </a:lnTo>
                  <a:lnTo>
                    <a:pt x="693058" y="1252277"/>
                  </a:lnTo>
                  <a:cubicBezTo>
                    <a:pt x="687229" y="1262370"/>
                    <a:pt x="673081" y="1263469"/>
                    <a:pt x="665733" y="1254431"/>
                  </a:cubicBezTo>
                  <a:lnTo>
                    <a:pt x="630340" y="1210719"/>
                  </a:lnTo>
                  <a:lnTo>
                    <a:pt x="594949" y="1254431"/>
                  </a:lnTo>
                  <a:cubicBezTo>
                    <a:pt x="587600" y="1263511"/>
                    <a:pt x="573451" y="1262370"/>
                    <a:pt x="567624" y="1252277"/>
                  </a:cubicBezTo>
                  <a:lnTo>
                    <a:pt x="539495" y="1203581"/>
                  </a:lnTo>
                  <a:lnTo>
                    <a:pt x="497726" y="1241211"/>
                  </a:lnTo>
                  <a:cubicBezTo>
                    <a:pt x="489068" y="1249025"/>
                    <a:pt x="475258" y="1245688"/>
                    <a:pt x="471077" y="1234834"/>
                  </a:cubicBezTo>
                  <a:lnTo>
                    <a:pt x="450931" y="1182337"/>
                  </a:lnTo>
                  <a:lnTo>
                    <a:pt x="403756" y="1212957"/>
                  </a:lnTo>
                  <a:cubicBezTo>
                    <a:pt x="393957" y="1219292"/>
                    <a:pt x="380865" y="1213886"/>
                    <a:pt x="378458" y="1202483"/>
                  </a:cubicBezTo>
                  <a:lnTo>
                    <a:pt x="366759" y="1147495"/>
                  </a:lnTo>
                  <a:lnTo>
                    <a:pt x="315403" y="1170385"/>
                  </a:lnTo>
                  <a:cubicBezTo>
                    <a:pt x="304760" y="1175115"/>
                    <a:pt x="292638" y="1167724"/>
                    <a:pt x="292047" y="1156068"/>
                  </a:cubicBezTo>
                  <a:lnTo>
                    <a:pt x="289091" y="1099897"/>
                  </a:lnTo>
                  <a:lnTo>
                    <a:pt x="234778" y="1114468"/>
                  </a:lnTo>
                  <a:cubicBezTo>
                    <a:pt x="223502" y="1117466"/>
                    <a:pt x="212732" y="1108259"/>
                    <a:pt x="213957" y="1096687"/>
                  </a:cubicBezTo>
                  <a:lnTo>
                    <a:pt x="219827" y="1040769"/>
                  </a:lnTo>
                  <a:lnTo>
                    <a:pt x="163910" y="1046640"/>
                  </a:lnTo>
                  <a:cubicBezTo>
                    <a:pt x="152295" y="1047865"/>
                    <a:pt x="143089" y="1037053"/>
                    <a:pt x="146129" y="1025819"/>
                  </a:cubicBezTo>
                  <a:lnTo>
                    <a:pt x="160700" y="971506"/>
                  </a:lnTo>
                  <a:lnTo>
                    <a:pt x="104529" y="968592"/>
                  </a:lnTo>
                  <a:cubicBezTo>
                    <a:pt x="92873" y="968001"/>
                    <a:pt x="85482" y="955879"/>
                    <a:pt x="90212" y="945236"/>
                  </a:cubicBezTo>
                  <a:lnTo>
                    <a:pt x="113102" y="893880"/>
                  </a:lnTo>
                  <a:lnTo>
                    <a:pt x="58114" y="882181"/>
                  </a:lnTo>
                  <a:cubicBezTo>
                    <a:pt x="46711" y="879774"/>
                    <a:pt x="41262" y="866639"/>
                    <a:pt x="47640" y="856883"/>
                  </a:cubicBezTo>
                  <a:lnTo>
                    <a:pt x="78259" y="809708"/>
                  </a:lnTo>
                  <a:lnTo>
                    <a:pt x="25763" y="789562"/>
                  </a:lnTo>
                  <a:cubicBezTo>
                    <a:pt x="14866" y="785381"/>
                    <a:pt x="11572" y="771571"/>
                    <a:pt x="19386" y="762913"/>
                  </a:cubicBezTo>
                  <a:lnTo>
                    <a:pt x="57016" y="721144"/>
                  </a:lnTo>
                  <a:lnTo>
                    <a:pt x="8320" y="693016"/>
                  </a:lnTo>
                  <a:cubicBezTo>
                    <a:pt x="-1774" y="687187"/>
                    <a:pt x="-2872" y="673039"/>
                    <a:pt x="6166" y="665690"/>
                  </a:cubicBezTo>
                  <a:lnTo>
                    <a:pt x="49878" y="630298"/>
                  </a:lnTo>
                  <a:lnTo>
                    <a:pt x="6166" y="594906"/>
                  </a:lnTo>
                  <a:cubicBezTo>
                    <a:pt x="-2914" y="587558"/>
                    <a:pt x="-1774" y="573409"/>
                    <a:pt x="8320" y="567581"/>
                  </a:cubicBezTo>
                  <a:lnTo>
                    <a:pt x="57016" y="539453"/>
                  </a:lnTo>
                  <a:lnTo>
                    <a:pt x="19386" y="497684"/>
                  </a:lnTo>
                  <a:cubicBezTo>
                    <a:pt x="11572" y="489026"/>
                    <a:pt x="14909" y="475216"/>
                    <a:pt x="25763" y="471035"/>
                  </a:cubicBezTo>
                  <a:lnTo>
                    <a:pt x="78259" y="450889"/>
                  </a:lnTo>
                  <a:lnTo>
                    <a:pt x="47640" y="403714"/>
                  </a:lnTo>
                  <a:cubicBezTo>
                    <a:pt x="41305" y="393915"/>
                    <a:pt x="46711" y="380823"/>
                    <a:pt x="58114" y="378416"/>
                  </a:cubicBezTo>
                  <a:lnTo>
                    <a:pt x="113102" y="366717"/>
                  </a:lnTo>
                  <a:lnTo>
                    <a:pt x="90212" y="315360"/>
                  </a:lnTo>
                  <a:cubicBezTo>
                    <a:pt x="85482" y="304718"/>
                    <a:pt x="92873" y="292596"/>
                    <a:pt x="104529" y="292005"/>
                  </a:cubicBezTo>
                  <a:lnTo>
                    <a:pt x="160700" y="289091"/>
                  </a:lnTo>
                  <a:lnTo>
                    <a:pt x="146129" y="234778"/>
                  </a:lnTo>
                  <a:cubicBezTo>
                    <a:pt x="143131" y="223502"/>
                    <a:pt x="152338" y="212732"/>
                    <a:pt x="163910" y="213957"/>
                  </a:cubicBezTo>
                  <a:lnTo>
                    <a:pt x="219827" y="219827"/>
                  </a:lnTo>
                  <a:lnTo>
                    <a:pt x="213957" y="163910"/>
                  </a:lnTo>
                  <a:cubicBezTo>
                    <a:pt x="212732" y="152296"/>
                    <a:pt x="223544" y="143089"/>
                    <a:pt x="234778" y="146129"/>
                  </a:cubicBezTo>
                  <a:lnTo>
                    <a:pt x="289091" y="160700"/>
                  </a:lnTo>
                  <a:lnTo>
                    <a:pt x="292047" y="104529"/>
                  </a:lnTo>
                  <a:cubicBezTo>
                    <a:pt x="292638" y="92872"/>
                    <a:pt x="304760" y="85482"/>
                    <a:pt x="315403" y="90212"/>
                  </a:cubicBezTo>
                  <a:lnTo>
                    <a:pt x="366759" y="113102"/>
                  </a:lnTo>
                  <a:lnTo>
                    <a:pt x="378458" y="58114"/>
                  </a:lnTo>
                  <a:cubicBezTo>
                    <a:pt x="380865" y="46711"/>
                    <a:pt x="394000" y="41263"/>
                    <a:pt x="403756" y="47640"/>
                  </a:cubicBezTo>
                  <a:lnTo>
                    <a:pt x="450931" y="78260"/>
                  </a:lnTo>
                  <a:lnTo>
                    <a:pt x="471077" y="25763"/>
                  </a:lnTo>
                  <a:cubicBezTo>
                    <a:pt x="475258" y="14866"/>
                    <a:pt x="489068" y="11572"/>
                    <a:pt x="497726" y="19386"/>
                  </a:cubicBezTo>
                  <a:lnTo>
                    <a:pt x="539495" y="57016"/>
                  </a:lnTo>
                  <a:lnTo>
                    <a:pt x="567624" y="8320"/>
                  </a:lnTo>
                  <a:cubicBezTo>
                    <a:pt x="573451" y="-1774"/>
                    <a:pt x="587600" y="-2872"/>
                    <a:pt x="594949" y="6166"/>
                  </a:cubicBezTo>
                  <a:lnTo>
                    <a:pt x="630340" y="49878"/>
                  </a:lnTo>
                  <a:close/>
                </a:path>
              </a:pathLst>
            </a:custGeom>
            <a:gradFill rotWithShape="1">
              <a:gsLst>
                <a:gs pos="0">
                  <a:srgbClr val="F08A4B"/>
                </a:gs>
                <a:gs pos="100000">
                  <a:srgbClr val="C95A22"/>
                </a:gs>
              </a:gsLst>
              <a:lin ang="7200000" scaled="0"/>
            </a:gradFill>
            <a:ln>
              <a:noFill/>
            </a:ln>
            <a:effectLst>
              <a:outerShdw blurRad="177800" dist="57150" dir="5400000" rotWithShape="0">
                <a:srgbClr val="123A6B">
                  <a:alpha val="16000"/>
                </a:srgb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endParaRPr lang="zh-CN" altLang="en-US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2592" name="tag-t">
              <a:extLst>
                <a:ext uri="{FF2B5EF4-FFF2-40B4-BE49-F238E27FC236}">
                  <a16:creationId xmlns:a16="http://schemas.microsoft.com/office/drawing/2014/main" id="{4687EAAD-5F36-2E32-B140-A75F532D4B2A}"/>
                </a:ext>
              </a:extLst>
            </p:cNvPr>
            <p:cNvSpPr txBox="1"/>
            <p:nvPr/>
          </p:nvSpPr>
          <p:spPr>
            <a:xfrm>
              <a:off x="4941304" y="1103948"/>
              <a:ext cx="711734" cy="553998"/>
            </a:xfrm>
            <a:prstGeom prst="rect">
              <a:avLst/>
            </a:prstGeom>
            <a:noFill/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微软雅黑"/>
                  <a:ea typeface="微软雅黑"/>
                  <a:cs typeface="微软雅黑"/>
                </a:rPr>
                <a:t>100% </a:t>
              </a:r>
              <a:endParaRPr kumimoji="0" lang="en-US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endParaRPr>
            </a:p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微软雅黑"/>
                  <a:ea typeface="微软雅黑"/>
                  <a:cs typeface="微软雅黑"/>
                </a:rPr>
                <a:t>可编辑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50218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系统解决方案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9011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SYSTEMATIC SOLUTIONS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580499" y="673132"/>
            <a:ext cx="20402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以数字中台为核心，串联八大业务能力</a:t>
            </a:r>
          </a:p>
        </p:txBody>
      </p:sp>
      <p:sp>
        <p:nvSpPr>
          <p:cNvPr id="10" name="lead-01"/>
          <p:cNvSpPr/>
          <p:nvPr/>
        </p:nvSpPr>
        <p:spPr>
          <a:xfrm>
            <a:off x="6941630" y="1475232"/>
            <a:ext cx="1897570" cy="140780"/>
          </a:xfrm>
          <a:custGeom>
            <a:avLst/>
            <a:gdLst/>
            <a:ahLst/>
            <a:cxnLst/>
            <a:rect l="0" t="0" r="r" b="b"/>
            <a:pathLst>
              <a:path w="1897570" h="140780">
                <a:moveTo>
                  <a:pt x="0" y="140780"/>
                </a:moveTo>
                <a:lnTo>
                  <a:pt x="14605" y="105600"/>
                </a:lnTo>
                <a:quadBezTo>
                  <a:pt x="58356" y="0"/>
                  <a:pt x="172656" y="0"/>
                </a:quadBezTo>
                <a:lnTo>
                  <a:pt x="1897570" y="0"/>
                </a:lnTo>
              </a:path>
            </a:pathLst>
          </a:custGeom>
          <a:noFill/>
          <a:ln w="762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dot-01"/>
          <p:cNvSpPr/>
          <p:nvPr/>
        </p:nvSpPr>
        <p:spPr>
          <a:xfrm>
            <a:off x="8807450" y="1443462"/>
            <a:ext cx="63500" cy="635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dot-ring-01"/>
          <p:cNvSpPr/>
          <p:nvPr/>
        </p:nvSpPr>
        <p:spPr>
          <a:xfrm>
            <a:off x="8778875" y="1414887"/>
            <a:ext cx="120650" cy="120650"/>
          </a:xfrm>
          <a:prstGeom prst="ellipse">
            <a:avLst/>
          </a:prstGeom>
          <a:noFill/>
          <a:ln w="7620" cap="rnd">
            <a:solidFill>
              <a:srgbClr val="0B3E8F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lead-02"/>
          <p:cNvSpPr/>
          <p:nvPr/>
        </p:nvSpPr>
        <p:spPr>
          <a:xfrm>
            <a:off x="8137588" y="2753614"/>
            <a:ext cx="701612" cy="58356"/>
          </a:xfrm>
          <a:custGeom>
            <a:avLst/>
            <a:gdLst/>
            <a:ahLst/>
            <a:cxnLst/>
            <a:rect l="0" t="0" r="r" b="b"/>
            <a:pathLst>
              <a:path w="701612" h="58356">
                <a:moveTo>
                  <a:pt x="0" y="58356"/>
                </a:moveTo>
                <a:lnTo>
                  <a:pt x="35179" y="43751"/>
                </a:lnTo>
                <a:quadBezTo>
                  <a:pt x="140780" y="0"/>
                  <a:pt x="255080" y="0"/>
                </a:quadBezTo>
                <a:lnTo>
                  <a:pt x="701612" y="0"/>
                </a:lnTo>
              </a:path>
            </a:pathLst>
          </a:custGeom>
          <a:noFill/>
          <a:ln w="762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dot-02"/>
          <p:cNvSpPr/>
          <p:nvPr/>
        </p:nvSpPr>
        <p:spPr>
          <a:xfrm>
            <a:off x="8807450" y="2721875"/>
            <a:ext cx="63500" cy="635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dot-ring-02"/>
          <p:cNvSpPr/>
          <p:nvPr/>
        </p:nvSpPr>
        <p:spPr>
          <a:xfrm>
            <a:off x="8778875" y="2693300"/>
            <a:ext cx="120650" cy="120650"/>
          </a:xfrm>
          <a:prstGeom prst="ellipse">
            <a:avLst/>
          </a:prstGeom>
          <a:noFill/>
          <a:ln w="7620" cap="rnd">
            <a:solidFill>
              <a:srgbClr val="134C9C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lead-03"/>
          <p:cNvSpPr/>
          <p:nvPr/>
        </p:nvSpPr>
        <p:spPr>
          <a:xfrm>
            <a:off x="8137588" y="4503230"/>
            <a:ext cx="701612" cy="58357"/>
          </a:xfrm>
          <a:custGeom>
            <a:avLst/>
            <a:gdLst/>
            <a:ahLst/>
            <a:cxnLst/>
            <a:rect l="0" t="0" r="r" b="b"/>
            <a:pathLst>
              <a:path w="701612" h="58357">
                <a:moveTo>
                  <a:pt x="0" y="0"/>
                </a:moveTo>
                <a:lnTo>
                  <a:pt x="35179" y="14605"/>
                </a:lnTo>
                <a:quadBezTo>
                  <a:pt x="140780" y="58357"/>
                  <a:pt x="255080" y="58357"/>
                </a:quadBezTo>
                <a:lnTo>
                  <a:pt x="701612" y="58357"/>
                </a:lnTo>
              </a:path>
            </a:pathLst>
          </a:custGeom>
          <a:noFill/>
          <a:ln w="762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dot-03"/>
          <p:cNvSpPr/>
          <p:nvPr/>
        </p:nvSpPr>
        <p:spPr>
          <a:xfrm>
            <a:off x="8807450" y="4529825"/>
            <a:ext cx="63500" cy="6350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dot-ring-03"/>
          <p:cNvSpPr/>
          <p:nvPr/>
        </p:nvSpPr>
        <p:spPr>
          <a:xfrm>
            <a:off x="8778875" y="4501250"/>
            <a:ext cx="120650" cy="120650"/>
          </a:xfrm>
          <a:prstGeom prst="ellipse">
            <a:avLst/>
          </a:prstGeom>
          <a:noFill/>
          <a:ln w="7620" cap="rnd">
            <a:solidFill>
              <a:srgbClr val="1B5AA8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lead-04"/>
          <p:cNvSpPr/>
          <p:nvPr/>
        </p:nvSpPr>
        <p:spPr>
          <a:xfrm>
            <a:off x="6941630" y="5699188"/>
            <a:ext cx="1897570" cy="140779"/>
          </a:xfrm>
          <a:custGeom>
            <a:avLst/>
            <a:gdLst/>
            <a:ahLst/>
            <a:cxnLst/>
            <a:rect l="0" t="0" r="r" b="b"/>
            <a:pathLst>
              <a:path w="1897570" h="140779">
                <a:moveTo>
                  <a:pt x="0" y="0"/>
                </a:moveTo>
                <a:lnTo>
                  <a:pt x="14605" y="35179"/>
                </a:lnTo>
                <a:quadBezTo>
                  <a:pt x="58356" y="140779"/>
                  <a:pt x="172656" y="140779"/>
                </a:quadBezTo>
                <a:lnTo>
                  <a:pt x="1897570" y="140779"/>
                </a:lnTo>
              </a:path>
            </a:pathLst>
          </a:custGeom>
          <a:noFill/>
          <a:ln w="762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dot-04"/>
          <p:cNvSpPr/>
          <p:nvPr/>
        </p:nvSpPr>
        <p:spPr>
          <a:xfrm>
            <a:off x="8807450" y="5808238"/>
            <a:ext cx="63500" cy="63500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dot-ring-04"/>
          <p:cNvSpPr/>
          <p:nvPr/>
        </p:nvSpPr>
        <p:spPr>
          <a:xfrm>
            <a:off x="8778875" y="5779663"/>
            <a:ext cx="120650" cy="120650"/>
          </a:xfrm>
          <a:prstGeom prst="ellipse">
            <a:avLst/>
          </a:prstGeom>
          <a:noFill/>
          <a:ln w="7620" cap="rnd">
            <a:solidFill>
              <a:srgbClr val="2468B6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lead-05"/>
          <p:cNvSpPr/>
          <p:nvPr/>
        </p:nvSpPr>
        <p:spPr>
          <a:xfrm>
            <a:off x="3352800" y="5699188"/>
            <a:ext cx="1897571" cy="140779"/>
          </a:xfrm>
          <a:custGeom>
            <a:avLst/>
            <a:gdLst/>
            <a:ahLst/>
            <a:cxnLst/>
            <a:rect l="0" t="0" r="r" b="b"/>
            <a:pathLst>
              <a:path w="1897571" h="140779">
                <a:moveTo>
                  <a:pt x="1897571" y="0"/>
                </a:moveTo>
                <a:lnTo>
                  <a:pt x="1882965" y="35179"/>
                </a:lnTo>
                <a:quadBezTo>
                  <a:pt x="1839214" y="140779"/>
                  <a:pt x="1724914" y="140779"/>
                </a:quadBezTo>
                <a:lnTo>
                  <a:pt x="0" y="140779"/>
                </a:lnTo>
              </a:path>
            </a:pathLst>
          </a:custGeom>
          <a:noFill/>
          <a:ln w="762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dot-05"/>
          <p:cNvSpPr/>
          <p:nvPr/>
        </p:nvSpPr>
        <p:spPr>
          <a:xfrm>
            <a:off x="3321050" y="5808238"/>
            <a:ext cx="63500" cy="635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dot-ring-05"/>
          <p:cNvSpPr/>
          <p:nvPr/>
        </p:nvSpPr>
        <p:spPr>
          <a:xfrm>
            <a:off x="3292475" y="5779663"/>
            <a:ext cx="120650" cy="120650"/>
          </a:xfrm>
          <a:prstGeom prst="ellipse">
            <a:avLst/>
          </a:prstGeom>
          <a:noFill/>
          <a:ln w="7620" cap="rnd">
            <a:solidFill>
              <a:srgbClr val="2E77C2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lead-06"/>
          <p:cNvSpPr/>
          <p:nvPr/>
        </p:nvSpPr>
        <p:spPr>
          <a:xfrm>
            <a:off x="3352800" y="4503230"/>
            <a:ext cx="701612" cy="58357"/>
          </a:xfrm>
          <a:custGeom>
            <a:avLst/>
            <a:gdLst/>
            <a:ahLst/>
            <a:cxnLst/>
            <a:rect l="0" t="0" r="r" b="b"/>
            <a:pathLst>
              <a:path w="701612" h="58357">
                <a:moveTo>
                  <a:pt x="701612" y="0"/>
                </a:moveTo>
                <a:lnTo>
                  <a:pt x="666433" y="14605"/>
                </a:lnTo>
                <a:quadBezTo>
                  <a:pt x="560832" y="58357"/>
                  <a:pt x="446532" y="58357"/>
                </a:quadBezTo>
                <a:lnTo>
                  <a:pt x="0" y="58357"/>
                </a:lnTo>
              </a:path>
            </a:pathLst>
          </a:custGeom>
          <a:noFill/>
          <a:ln w="762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dot-06"/>
          <p:cNvSpPr/>
          <p:nvPr/>
        </p:nvSpPr>
        <p:spPr>
          <a:xfrm>
            <a:off x="3321050" y="4529825"/>
            <a:ext cx="63500" cy="63500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dot-ring-06"/>
          <p:cNvSpPr/>
          <p:nvPr/>
        </p:nvSpPr>
        <p:spPr>
          <a:xfrm>
            <a:off x="3292475" y="4501250"/>
            <a:ext cx="120650" cy="120650"/>
          </a:xfrm>
          <a:prstGeom prst="ellipse">
            <a:avLst/>
          </a:prstGeom>
          <a:noFill/>
          <a:ln w="7620" cap="rnd">
            <a:solidFill>
              <a:srgbClr val="3985CD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lead-07"/>
          <p:cNvSpPr/>
          <p:nvPr/>
        </p:nvSpPr>
        <p:spPr>
          <a:xfrm>
            <a:off x="3352800" y="2753614"/>
            <a:ext cx="701612" cy="58356"/>
          </a:xfrm>
          <a:custGeom>
            <a:avLst/>
            <a:gdLst/>
            <a:ahLst/>
            <a:cxnLst/>
            <a:rect l="0" t="0" r="r" b="b"/>
            <a:pathLst>
              <a:path w="701612" h="58356">
                <a:moveTo>
                  <a:pt x="701612" y="58356"/>
                </a:moveTo>
                <a:lnTo>
                  <a:pt x="666433" y="43751"/>
                </a:lnTo>
                <a:quadBezTo>
                  <a:pt x="560832" y="0"/>
                  <a:pt x="446532" y="0"/>
                </a:quadBezTo>
                <a:lnTo>
                  <a:pt x="0" y="0"/>
                </a:lnTo>
              </a:path>
            </a:pathLst>
          </a:custGeom>
          <a:noFill/>
          <a:ln w="762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dot-07"/>
          <p:cNvSpPr/>
          <p:nvPr/>
        </p:nvSpPr>
        <p:spPr>
          <a:xfrm>
            <a:off x="3321050" y="2721875"/>
            <a:ext cx="63500" cy="63500"/>
          </a:xfrm>
          <a:prstGeom prst="ellipse">
            <a:avLst/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dot-ring-07"/>
          <p:cNvSpPr/>
          <p:nvPr/>
        </p:nvSpPr>
        <p:spPr>
          <a:xfrm>
            <a:off x="3292475" y="2693300"/>
            <a:ext cx="120650" cy="120650"/>
          </a:xfrm>
          <a:prstGeom prst="ellipse">
            <a:avLst/>
          </a:prstGeom>
          <a:noFill/>
          <a:ln w="7620" cap="rnd">
            <a:solidFill>
              <a:srgbClr val="4694D7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lead-08"/>
          <p:cNvSpPr/>
          <p:nvPr/>
        </p:nvSpPr>
        <p:spPr>
          <a:xfrm>
            <a:off x="3352800" y="1475232"/>
            <a:ext cx="1897571" cy="140780"/>
          </a:xfrm>
          <a:custGeom>
            <a:avLst/>
            <a:gdLst/>
            <a:ahLst/>
            <a:cxnLst/>
            <a:rect l="0" t="0" r="r" b="b"/>
            <a:pathLst>
              <a:path w="1897571" h="140780">
                <a:moveTo>
                  <a:pt x="1897571" y="140780"/>
                </a:moveTo>
                <a:lnTo>
                  <a:pt x="1882965" y="105600"/>
                </a:lnTo>
                <a:quadBezTo>
                  <a:pt x="1839214" y="0"/>
                  <a:pt x="1724914" y="0"/>
                </a:quadBezTo>
                <a:lnTo>
                  <a:pt x="0" y="0"/>
                </a:lnTo>
              </a:path>
            </a:pathLst>
          </a:custGeom>
          <a:noFill/>
          <a:ln w="762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dot-08"/>
          <p:cNvSpPr/>
          <p:nvPr/>
        </p:nvSpPr>
        <p:spPr>
          <a:xfrm>
            <a:off x="3321050" y="1443462"/>
            <a:ext cx="63500" cy="63500"/>
          </a:xfrm>
          <a:prstGeom prst="ellipse">
            <a:avLst/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dot-ring-08"/>
          <p:cNvSpPr/>
          <p:nvPr/>
        </p:nvSpPr>
        <p:spPr>
          <a:xfrm>
            <a:off x="3292475" y="1414887"/>
            <a:ext cx="120650" cy="120650"/>
          </a:xfrm>
          <a:prstGeom prst="ellipse">
            <a:avLst/>
          </a:prstGeom>
          <a:noFill/>
          <a:ln w="7620" cap="rnd">
            <a:solidFill>
              <a:srgbClr val="54A2DF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seg-01"/>
          <p:cNvSpPr/>
          <p:nvPr/>
        </p:nvSpPr>
        <p:spPr>
          <a:xfrm>
            <a:off x="6130925" y="1961043"/>
            <a:ext cx="1106694" cy="867009"/>
          </a:xfrm>
          <a:custGeom>
            <a:avLst/>
            <a:gdLst/>
            <a:ahLst/>
            <a:cxnLst/>
            <a:rect l="0" t="0" r="r" b="b"/>
            <a:pathLst>
              <a:path w="1106694" h="867009">
                <a:moveTo>
                  <a:pt x="101473" y="218"/>
                </a:moveTo>
                <a:cubicBezTo>
                  <a:pt x="457749" y="28870"/>
                  <a:pt x="795959" y="168971"/>
                  <a:pt x="1068134" y="400649"/>
                </a:cubicBezTo>
                <a:quadBezTo>
                  <a:pt x="1143508" y="468785"/>
                  <a:pt x="1071626" y="540603"/>
                </a:quadBezTo>
                <a:lnTo>
                  <a:pt x="802068" y="810161"/>
                </a:lnTo>
                <a:quadBezTo>
                  <a:pt x="694309" y="917920"/>
                  <a:pt x="576009" y="822035"/>
                </a:quadBezTo>
                <a:cubicBezTo>
                  <a:pt x="448947" y="733256"/>
                  <a:pt x="304066" y="673232"/>
                  <a:pt x="151448" y="646140"/>
                </a:cubicBezTo>
                <a:quadBezTo>
                  <a:pt x="0" y="630329"/>
                  <a:pt x="0" y="477929"/>
                </a:quadBezTo>
                <a:lnTo>
                  <a:pt x="0" y="96738"/>
                </a:lnTo>
                <a:quadBezTo>
                  <a:pt x="0" y="-4862"/>
                  <a:pt x="101473" y="218"/>
                </a:quadBezTo>
                <a:close/>
              </a:path>
            </a:pathLst>
          </a:custGeom>
          <a:gradFill rotWithShape="1">
            <a:gsLst>
              <a:gs pos="0">
                <a:srgbClr val="0B3E8F"/>
              </a:gs>
              <a:gs pos="100000">
                <a:srgbClr val="0B3E8F">
                  <a:alpha val="82000"/>
                </a:srgbClr>
              </a:gs>
            </a:gsLst>
            <a:lin ang="768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seg-02"/>
          <p:cNvSpPr/>
          <p:nvPr/>
        </p:nvSpPr>
        <p:spPr>
          <a:xfrm>
            <a:off x="6925548" y="2515981"/>
            <a:ext cx="867009" cy="1106694"/>
          </a:xfrm>
          <a:custGeom>
            <a:avLst/>
            <a:gdLst/>
            <a:ahLst/>
            <a:cxnLst/>
            <a:rect l="0" t="0" r="r" b="b"/>
            <a:pathLst>
              <a:path w="867009" h="1106694">
                <a:moveTo>
                  <a:pt x="466360" y="38560"/>
                </a:moveTo>
                <a:cubicBezTo>
                  <a:pt x="698038" y="310734"/>
                  <a:pt x="838139" y="648945"/>
                  <a:pt x="866791" y="1005221"/>
                </a:cubicBezTo>
                <a:quadBezTo>
                  <a:pt x="871871" y="1106694"/>
                  <a:pt x="770271" y="1106694"/>
                </a:quadBezTo>
                <a:lnTo>
                  <a:pt x="389080" y="1106694"/>
                </a:lnTo>
                <a:quadBezTo>
                  <a:pt x="236680" y="1106694"/>
                  <a:pt x="220869" y="955246"/>
                </a:quadBezTo>
                <a:cubicBezTo>
                  <a:pt x="193777" y="802628"/>
                  <a:pt x="133753" y="657746"/>
                  <a:pt x="44974" y="530685"/>
                </a:cubicBezTo>
                <a:quadBezTo>
                  <a:pt x="-50911" y="412385"/>
                  <a:pt x="56848" y="304625"/>
                </a:quadBezTo>
                <a:lnTo>
                  <a:pt x="326406" y="35068"/>
                </a:lnTo>
                <a:quadBezTo>
                  <a:pt x="398224" y="-36814"/>
                  <a:pt x="466360" y="38560"/>
                </a:quadBezTo>
                <a:close/>
              </a:path>
            </a:pathLst>
          </a:custGeom>
          <a:gradFill rotWithShape="1">
            <a:gsLst>
              <a:gs pos="0">
                <a:srgbClr val="134C9C"/>
              </a:gs>
              <a:gs pos="100000">
                <a:srgbClr val="134C9C">
                  <a:alpha val="82000"/>
                </a:srgbClr>
              </a:gs>
            </a:gsLst>
            <a:lin ang="768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seg-03"/>
          <p:cNvSpPr/>
          <p:nvPr/>
        </p:nvSpPr>
        <p:spPr>
          <a:xfrm>
            <a:off x="6925548" y="3692525"/>
            <a:ext cx="867009" cy="1106694"/>
          </a:xfrm>
          <a:custGeom>
            <a:avLst/>
            <a:gdLst/>
            <a:ahLst/>
            <a:cxnLst/>
            <a:rect l="0" t="0" r="r" b="b"/>
            <a:pathLst>
              <a:path w="867009" h="1106694">
                <a:moveTo>
                  <a:pt x="866791" y="101473"/>
                </a:moveTo>
                <a:cubicBezTo>
                  <a:pt x="838139" y="457749"/>
                  <a:pt x="698038" y="795959"/>
                  <a:pt x="466360" y="1068134"/>
                </a:cubicBezTo>
                <a:quadBezTo>
                  <a:pt x="398224" y="1143508"/>
                  <a:pt x="326406" y="1071626"/>
                </a:quadBezTo>
                <a:lnTo>
                  <a:pt x="56848" y="802068"/>
                </a:lnTo>
                <a:quadBezTo>
                  <a:pt x="-50911" y="694309"/>
                  <a:pt x="44974" y="576009"/>
                </a:quadBezTo>
                <a:cubicBezTo>
                  <a:pt x="133753" y="448947"/>
                  <a:pt x="193777" y="304066"/>
                  <a:pt x="220869" y="151448"/>
                </a:cubicBezTo>
                <a:quadBezTo>
                  <a:pt x="236680" y="0"/>
                  <a:pt x="389080" y="0"/>
                </a:quadBezTo>
                <a:lnTo>
                  <a:pt x="770271" y="0"/>
                </a:lnTo>
                <a:quadBezTo>
                  <a:pt x="871871" y="0"/>
                  <a:pt x="866791" y="101473"/>
                </a:quad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1B5AA8">
                  <a:alpha val="82000"/>
                </a:srgbClr>
              </a:gs>
            </a:gsLst>
            <a:lin ang="768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seg-04"/>
          <p:cNvSpPr/>
          <p:nvPr/>
        </p:nvSpPr>
        <p:spPr>
          <a:xfrm>
            <a:off x="6130925" y="4487148"/>
            <a:ext cx="1106694" cy="867009"/>
          </a:xfrm>
          <a:custGeom>
            <a:avLst/>
            <a:gdLst/>
            <a:ahLst/>
            <a:cxnLst/>
            <a:rect l="0" t="0" r="r" b="b"/>
            <a:pathLst>
              <a:path w="1106694" h="867009">
                <a:moveTo>
                  <a:pt x="1068134" y="466360"/>
                </a:moveTo>
                <a:cubicBezTo>
                  <a:pt x="795959" y="698038"/>
                  <a:pt x="457749" y="838139"/>
                  <a:pt x="101473" y="866791"/>
                </a:cubicBezTo>
                <a:quadBezTo>
                  <a:pt x="0" y="871871"/>
                  <a:pt x="0" y="770271"/>
                </a:quadBezTo>
                <a:lnTo>
                  <a:pt x="0" y="389080"/>
                </a:lnTo>
                <a:quadBezTo>
                  <a:pt x="0" y="236680"/>
                  <a:pt x="151448" y="220869"/>
                </a:quadBezTo>
                <a:cubicBezTo>
                  <a:pt x="304066" y="193777"/>
                  <a:pt x="448947" y="133753"/>
                  <a:pt x="576009" y="44974"/>
                </a:cubicBezTo>
                <a:quadBezTo>
                  <a:pt x="694309" y="-50911"/>
                  <a:pt x="802068" y="56848"/>
                </a:quadBezTo>
                <a:lnTo>
                  <a:pt x="1071626" y="326406"/>
                </a:lnTo>
                <a:quadBezTo>
                  <a:pt x="1143508" y="398224"/>
                  <a:pt x="1068134" y="466360"/>
                </a:quadBezTo>
                <a:close/>
              </a:path>
            </a:pathLst>
          </a:custGeom>
          <a:gradFill rotWithShape="1">
            <a:gsLst>
              <a:gs pos="0">
                <a:srgbClr val="2468B6"/>
              </a:gs>
              <a:gs pos="100000">
                <a:srgbClr val="2468B6">
                  <a:alpha val="82000"/>
                </a:srgbClr>
              </a:gs>
            </a:gsLst>
            <a:lin ang="768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seg-05"/>
          <p:cNvSpPr/>
          <p:nvPr/>
        </p:nvSpPr>
        <p:spPr>
          <a:xfrm>
            <a:off x="4954381" y="4487148"/>
            <a:ext cx="1106694" cy="867009"/>
          </a:xfrm>
          <a:custGeom>
            <a:avLst/>
            <a:gdLst/>
            <a:ahLst/>
            <a:cxnLst/>
            <a:rect l="0" t="0" r="r" b="b"/>
            <a:pathLst>
              <a:path w="1106694" h="867009">
                <a:moveTo>
                  <a:pt x="1005221" y="866791"/>
                </a:moveTo>
                <a:cubicBezTo>
                  <a:pt x="648945" y="838139"/>
                  <a:pt x="310734" y="698038"/>
                  <a:pt x="38560" y="466360"/>
                </a:cubicBezTo>
                <a:quadBezTo>
                  <a:pt x="-36814" y="398224"/>
                  <a:pt x="35068" y="326406"/>
                </a:quadBezTo>
                <a:lnTo>
                  <a:pt x="304625" y="56848"/>
                </a:lnTo>
                <a:quadBezTo>
                  <a:pt x="412385" y="-50911"/>
                  <a:pt x="530685" y="44974"/>
                </a:quadBezTo>
                <a:cubicBezTo>
                  <a:pt x="657746" y="133753"/>
                  <a:pt x="802628" y="193777"/>
                  <a:pt x="955246" y="220869"/>
                </a:cubicBezTo>
                <a:quadBezTo>
                  <a:pt x="1106694" y="236680"/>
                  <a:pt x="1106694" y="389080"/>
                </a:quadBezTo>
                <a:lnTo>
                  <a:pt x="1106694" y="770271"/>
                </a:lnTo>
                <a:quadBezTo>
                  <a:pt x="1106694" y="871871"/>
                  <a:pt x="1005221" y="866791"/>
                </a:quadBezTo>
                <a:close/>
              </a:path>
            </a:pathLst>
          </a:custGeom>
          <a:gradFill rotWithShape="1">
            <a:gsLst>
              <a:gs pos="0">
                <a:srgbClr val="2E77C2"/>
              </a:gs>
              <a:gs pos="100000">
                <a:srgbClr val="2E77C2">
                  <a:alpha val="82000"/>
                </a:srgbClr>
              </a:gs>
            </a:gsLst>
            <a:lin ang="768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seg-06"/>
          <p:cNvSpPr/>
          <p:nvPr/>
        </p:nvSpPr>
        <p:spPr>
          <a:xfrm>
            <a:off x="4399443" y="3692525"/>
            <a:ext cx="867009" cy="1106694"/>
          </a:xfrm>
          <a:custGeom>
            <a:avLst/>
            <a:gdLst/>
            <a:ahLst/>
            <a:cxnLst/>
            <a:rect l="0" t="0" r="r" b="b"/>
            <a:pathLst>
              <a:path w="867009" h="1106694">
                <a:moveTo>
                  <a:pt x="400649" y="1068134"/>
                </a:moveTo>
                <a:cubicBezTo>
                  <a:pt x="168971" y="795959"/>
                  <a:pt x="28870" y="457749"/>
                  <a:pt x="218" y="101473"/>
                </a:cubicBezTo>
                <a:quadBezTo>
                  <a:pt x="-4862" y="0"/>
                  <a:pt x="96738" y="0"/>
                </a:quadBezTo>
                <a:lnTo>
                  <a:pt x="477929" y="0"/>
                </a:lnTo>
                <a:quadBezTo>
                  <a:pt x="630329" y="0"/>
                  <a:pt x="646140" y="151448"/>
                </a:quadBezTo>
                <a:cubicBezTo>
                  <a:pt x="673232" y="304066"/>
                  <a:pt x="733256" y="448947"/>
                  <a:pt x="822035" y="576009"/>
                </a:cubicBezTo>
                <a:quadBezTo>
                  <a:pt x="917920" y="694309"/>
                  <a:pt x="810161" y="802068"/>
                </a:quadBezTo>
                <a:lnTo>
                  <a:pt x="540603" y="1071626"/>
                </a:lnTo>
                <a:quadBezTo>
                  <a:pt x="468785" y="1143508"/>
                  <a:pt x="400649" y="1068134"/>
                </a:quadBezTo>
                <a:close/>
              </a:path>
            </a:pathLst>
          </a:custGeom>
          <a:gradFill rotWithShape="1">
            <a:gsLst>
              <a:gs pos="0">
                <a:srgbClr val="3985CD"/>
              </a:gs>
              <a:gs pos="100000">
                <a:srgbClr val="3985CD">
                  <a:alpha val="82000"/>
                </a:srgbClr>
              </a:gs>
            </a:gsLst>
            <a:lin ang="768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seg-07"/>
          <p:cNvSpPr/>
          <p:nvPr/>
        </p:nvSpPr>
        <p:spPr>
          <a:xfrm>
            <a:off x="4399443" y="2515981"/>
            <a:ext cx="867009" cy="1106694"/>
          </a:xfrm>
          <a:custGeom>
            <a:avLst/>
            <a:gdLst/>
            <a:ahLst/>
            <a:cxnLst/>
            <a:rect l="0" t="0" r="r" b="b"/>
            <a:pathLst>
              <a:path w="867009" h="1106694">
                <a:moveTo>
                  <a:pt x="218" y="1005221"/>
                </a:moveTo>
                <a:cubicBezTo>
                  <a:pt x="28870" y="648945"/>
                  <a:pt x="168971" y="310734"/>
                  <a:pt x="400649" y="38560"/>
                </a:cubicBezTo>
                <a:quadBezTo>
                  <a:pt x="468785" y="-36814"/>
                  <a:pt x="540603" y="35068"/>
                </a:quadBezTo>
                <a:lnTo>
                  <a:pt x="810161" y="304625"/>
                </a:lnTo>
                <a:quadBezTo>
                  <a:pt x="917920" y="412385"/>
                  <a:pt x="822035" y="530685"/>
                </a:quadBezTo>
                <a:cubicBezTo>
                  <a:pt x="733256" y="657746"/>
                  <a:pt x="673232" y="802628"/>
                  <a:pt x="646140" y="955246"/>
                </a:cubicBezTo>
                <a:quadBezTo>
                  <a:pt x="630329" y="1106694"/>
                  <a:pt x="477929" y="1106694"/>
                </a:quadBezTo>
                <a:lnTo>
                  <a:pt x="96738" y="1106694"/>
                </a:lnTo>
                <a:quadBezTo>
                  <a:pt x="-4862" y="1106694"/>
                  <a:pt x="218" y="1005221"/>
                </a:quadBezTo>
                <a:close/>
              </a:path>
            </a:pathLst>
          </a:custGeom>
          <a:gradFill rotWithShape="1">
            <a:gsLst>
              <a:gs pos="0">
                <a:srgbClr val="4694D7"/>
              </a:gs>
              <a:gs pos="100000">
                <a:srgbClr val="4694D7">
                  <a:alpha val="82000"/>
                </a:srgbClr>
              </a:gs>
            </a:gsLst>
            <a:lin ang="768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seg-08"/>
          <p:cNvSpPr/>
          <p:nvPr/>
        </p:nvSpPr>
        <p:spPr>
          <a:xfrm>
            <a:off x="4954381" y="1961043"/>
            <a:ext cx="1106694" cy="867009"/>
          </a:xfrm>
          <a:custGeom>
            <a:avLst/>
            <a:gdLst/>
            <a:ahLst/>
            <a:cxnLst/>
            <a:rect l="0" t="0" r="r" b="b"/>
            <a:pathLst>
              <a:path w="1106694" h="867009">
                <a:moveTo>
                  <a:pt x="38560" y="400649"/>
                </a:moveTo>
                <a:cubicBezTo>
                  <a:pt x="310734" y="168971"/>
                  <a:pt x="648945" y="28870"/>
                  <a:pt x="1005221" y="218"/>
                </a:cubicBezTo>
                <a:quadBezTo>
                  <a:pt x="1106694" y="-4862"/>
                  <a:pt x="1106694" y="96738"/>
                </a:quadBezTo>
                <a:lnTo>
                  <a:pt x="1106694" y="477929"/>
                </a:lnTo>
                <a:quadBezTo>
                  <a:pt x="1106694" y="630329"/>
                  <a:pt x="955246" y="646140"/>
                </a:quadBezTo>
                <a:cubicBezTo>
                  <a:pt x="802628" y="673232"/>
                  <a:pt x="657746" y="733256"/>
                  <a:pt x="530685" y="822035"/>
                </a:cubicBezTo>
                <a:quadBezTo>
                  <a:pt x="412385" y="917920"/>
                  <a:pt x="304625" y="810161"/>
                </a:quadBezTo>
                <a:lnTo>
                  <a:pt x="35068" y="540603"/>
                </a:lnTo>
                <a:quadBezTo>
                  <a:pt x="-36814" y="468785"/>
                  <a:pt x="38560" y="400649"/>
                </a:quadBezTo>
                <a:close/>
              </a:path>
            </a:pathLst>
          </a:custGeom>
          <a:gradFill rotWithShape="1">
            <a:gsLst>
              <a:gs pos="0">
                <a:srgbClr val="54A2DF"/>
              </a:gs>
              <a:gs pos="100000">
                <a:srgbClr val="54A2DF">
                  <a:alpha val="82000"/>
                </a:srgbClr>
              </a:gs>
            </a:gsLst>
            <a:lin ang="768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num-01"/>
          <p:cNvSpPr txBox="1"/>
          <p:nvPr/>
        </p:nvSpPr>
        <p:spPr>
          <a:xfrm>
            <a:off x="6455886" y="2233417"/>
            <a:ext cx="3397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75">
                <a:solidFill>
                  <a:srgbClr val="FFFFFF"/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43" name="num-02"/>
          <p:cNvSpPr txBox="1"/>
          <p:nvPr/>
        </p:nvSpPr>
        <p:spPr>
          <a:xfrm>
            <a:off x="7205064" y="2982595"/>
            <a:ext cx="3397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75">
                <a:solidFill>
                  <a:srgbClr val="FFFFFF"/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44" name="num-03"/>
          <p:cNvSpPr txBox="1"/>
          <p:nvPr/>
        </p:nvSpPr>
        <p:spPr>
          <a:xfrm>
            <a:off x="7205064" y="4042092"/>
            <a:ext cx="3397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75">
                <a:solidFill>
                  <a:srgbClr val="FFFFFF"/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45" name="num-04"/>
          <p:cNvSpPr txBox="1"/>
          <p:nvPr/>
        </p:nvSpPr>
        <p:spPr>
          <a:xfrm>
            <a:off x="6455886" y="4791270"/>
            <a:ext cx="3397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75">
                <a:solidFill>
                  <a:srgbClr val="FFFFFF"/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46" name="num-05"/>
          <p:cNvSpPr txBox="1"/>
          <p:nvPr/>
        </p:nvSpPr>
        <p:spPr>
          <a:xfrm>
            <a:off x="5396389" y="4791270"/>
            <a:ext cx="3397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75">
                <a:solidFill>
                  <a:srgbClr val="FFFFFF"/>
                </a:solidFill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47" name="num-06"/>
          <p:cNvSpPr txBox="1"/>
          <p:nvPr/>
        </p:nvSpPr>
        <p:spPr>
          <a:xfrm>
            <a:off x="4647211" y="4042092"/>
            <a:ext cx="3397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75">
                <a:solidFill>
                  <a:srgbClr val="FFFFFF"/>
                </a:solidFill>
                <a:latin typeface="Arial"/>
                <a:ea typeface="Arial"/>
                <a:cs typeface="Arial"/>
              </a:rPr>
              <a:t>06</a:t>
            </a:r>
          </a:p>
        </p:txBody>
      </p:sp>
      <p:sp>
        <p:nvSpPr>
          <p:cNvPr id="48" name="num-07"/>
          <p:cNvSpPr txBox="1"/>
          <p:nvPr/>
        </p:nvSpPr>
        <p:spPr>
          <a:xfrm>
            <a:off x="4647211" y="2982595"/>
            <a:ext cx="3397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75">
                <a:solidFill>
                  <a:srgbClr val="FFFFFF"/>
                </a:solidFill>
                <a:latin typeface="Arial"/>
                <a:ea typeface="Arial"/>
                <a:cs typeface="Arial"/>
              </a:rPr>
              <a:t>07</a:t>
            </a:r>
          </a:p>
        </p:txBody>
      </p:sp>
      <p:sp>
        <p:nvSpPr>
          <p:cNvPr id="49" name="num-08"/>
          <p:cNvSpPr txBox="1"/>
          <p:nvPr/>
        </p:nvSpPr>
        <p:spPr>
          <a:xfrm>
            <a:off x="5396389" y="2233417"/>
            <a:ext cx="3397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75">
                <a:solidFill>
                  <a:srgbClr val="FFFFFF"/>
                </a:solidFill>
                <a:latin typeface="Arial"/>
                <a:ea typeface="Arial"/>
                <a:cs typeface="Arial"/>
              </a:rPr>
              <a:t>08</a:t>
            </a:r>
          </a:p>
        </p:txBody>
      </p:sp>
      <p:sp>
        <p:nvSpPr>
          <p:cNvPr id="50" name="ring-guide"/>
          <p:cNvSpPr/>
          <p:nvPr/>
        </p:nvSpPr>
        <p:spPr>
          <a:xfrm>
            <a:off x="4286250" y="1847850"/>
            <a:ext cx="3619500" cy="3619500"/>
          </a:xfrm>
          <a:prstGeom prst="ellipse">
            <a:avLst/>
          </a:prstGeom>
          <a:noFill/>
          <a:ln w="6350" cap="rnd">
            <a:solidFill>
              <a:srgbClr val="0B2545">
                <a:alpha val="14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core"/>
          <p:cNvSpPr/>
          <p:nvPr/>
        </p:nvSpPr>
        <p:spPr>
          <a:xfrm>
            <a:off x="5130800" y="2692400"/>
            <a:ext cx="1930400" cy="19304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core-ring1"/>
          <p:cNvSpPr/>
          <p:nvPr/>
        </p:nvSpPr>
        <p:spPr>
          <a:xfrm>
            <a:off x="5207000" y="2768600"/>
            <a:ext cx="1778000" cy="1778000"/>
          </a:xfrm>
          <a:prstGeom prst="ellipse">
            <a:avLst/>
          </a:prstGeom>
          <a:noFill/>
          <a:ln w="6350" cap="rnd">
            <a:solidFill>
              <a:srgbClr val="0B3E8F">
                <a:alpha val="1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core-ring2"/>
          <p:cNvSpPr/>
          <p:nvPr/>
        </p:nvSpPr>
        <p:spPr>
          <a:xfrm>
            <a:off x="5251450" y="2813050"/>
            <a:ext cx="1689100" cy="1689100"/>
          </a:xfrm>
          <a:prstGeom prst="ellipse">
            <a:avLst/>
          </a:prstGeom>
          <a:noFill/>
          <a:ln w="6350" cap="rnd">
            <a:solidFill>
              <a:srgbClr val="0B3E8F">
                <a:alpha val="7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core-cn"/>
          <p:cNvSpPr txBox="1"/>
          <p:nvPr/>
        </p:nvSpPr>
        <p:spPr>
          <a:xfrm>
            <a:off x="5454015" y="3334195"/>
            <a:ext cx="1283970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9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数字中台</a:t>
            </a:r>
          </a:p>
        </p:txBody>
      </p:sp>
      <p:sp>
        <p:nvSpPr>
          <p:cNvPr id="55" name="core-en"/>
          <p:cNvSpPr txBox="1"/>
          <p:nvPr/>
        </p:nvSpPr>
        <p:spPr>
          <a:xfrm>
            <a:off x="5566791" y="3725608"/>
            <a:ext cx="105841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50">
                <a:solidFill>
                  <a:srgbClr val="8397AF"/>
                </a:solidFill>
                <a:latin typeface="Arial"/>
                <a:ea typeface="Arial"/>
                <a:cs typeface="Arial"/>
              </a:rPr>
              <a:t>DIGITAL CORE</a:t>
            </a:r>
          </a:p>
        </p:txBody>
      </p:sp>
      <p:sp>
        <p:nvSpPr>
          <p:cNvPr id="56" name="chip"/>
          <p:cNvSpPr/>
          <p:nvPr/>
        </p:nvSpPr>
        <p:spPr>
          <a:xfrm>
            <a:off x="6684603" y="1607860"/>
            <a:ext cx="368300" cy="3683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chip-ring"/>
          <p:cNvSpPr/>
          <p:nvPr/>
        </p:nvSpPr>
        <p:spPr>
          <a:xfrm>
            <a:off x="6684603" y="1607860"/>
            <a:ext cx="368300" cy="368300"/>
          </a:xfrm>
          <a:prstGeom prst="ellipse">
            <a:avLst/>
          </a:prstGeom>
          <a:noFill/>
          <a:ln w="6350" cap="rnd">
            <a:solidFill>
              <a:srgbClr val="0B3E8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icon-fin"/>
          <p:cNvSpPr/>
          <p:nvPr/>
        </p:nvSpPr>
        <p:spPr>
          <a:xfrm>
            <a:off x="6835013" y="1739836"/>
            <a:ext cx="67500" cy="104331"/>
          </a:xfrm>
          <a:custGeom>
            <a:avLst/>
            <a:gdLst/>
            <a:ahLst/>
            <a:cxnLst/>
            <a:rect l="0" t="0" r="r" b="b"/>
            <a:pathLst>
              <a:path w="67500" h="104331">
                <a:moveTo>
                  <a:pt x="33718" y="61405"/>
                </a:moveTo>
                <a:lnTo>
                  <a:pt x="33718" y="104331"/>
                </a:lnTo>
                <a:moveTo>
                  <a:pt x="7620" y="61405"/>
                </a:moveTo>
                <a:lnTo>
                  <a:pt x="59817" y="61405"/>
                </a:lnTo>
                <a:moveTo>
                  <a:pt x="7620" y="84391"/>
                </a:moveTo>
                <a:lnTo>
                  <a:pt x="59817" y="84391"/>
                </a:lnTo>
                <a:moveTo>
                  <a:pt x="0" y="0"/>
                </a:moveTo>
                <a:lnTo>
                  <a:pt x="33718" y="46038"/>
                </a:lnTo>
                <a:lnTo>
                  <a:pt x="67500" y="0"/>
                </a:lnTo>
              </a:path>
            </a:pathLst>
          </a:custGeom>
          <a:noFill/>
          <a:ln w="1143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chip"/>
          <p:cNvSpPr/>
          <p:nvPr/>
        </p:nvSpPr>
        <p:spPr>
          <a:xfrm>
            <a:off x="7777440" y="2700697"/>
            <a:ext cx="368300" cy="3683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chip-ring"/>
          <p:cNvSpPr/>
          <p:nvPr/>
        </p:nvSpPr>
        <p:spPr>
          <a:xfrm>
            <a:off x="7777440" y="2700697"/>
            <a:ext cx="368300" cy="368300"/>
          </a:xfrm>
          <a:prstGeom prst="ellipse">
            <a:avLst/>
          </a:prstGeom>
          <a:noFill/>
          <a:ln w="6350" cap="rnd">
            <a:solidFill>
              <a:srgbClr val="134C9C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icon-cart"/>
          <p:cNvSpPr/>
          <p:nvPr/>
        </p:nvSpPr>
        <p:spPr>
          <a:xfrm>
            <a:off x="7894066" y="2828100"/>
            <a:ext cx="121983" cy="72073"/>
          </a:xfrm>
          <a:custGeom>
            <a:avLst/>
            <a:gdLst/>
            <a:ahLst/>
            <a:cxnLst/>
            <a:rect l="0" t="0" r="r" b="b"/>
            <a:pathLst>
              <a:path w="121983" h="72073">
                <a:moveTo>
                  <a:pt x="0" y="0"/>
                </a:moveTo>
                <a:lnTo>
                  <a:pt x="17653" y="0"/>
                </a:lnTo>
                <a:lnTo>
                  <a:pt x="35306" y="72073"/>
                </a:lnTo>
                <a:lnTo>
                  <a:pt x="107442" y="72073"/>
                </a:lnTo>
                <a:lnTo>
                  <a:pt x="121983" y="21463"/>
                </a:lnTo>
                <a:lnTo>
                  <a:pt x="23050" y="21463"/>
                </a:lnTo>
              </a:path>
            </a:pathLst>
          </a:custGeom>
          <a:noFill/>
          <a:ln w="1143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icon-cart"/>
          <p:cNvSpPr/>
          <p:nvPr/>
        </p:nvSpPr>
        <p:spPr>
          <a:xfrm>
            <a:off x="7930898" y="2923212"/>
            <a:ext cx="21484" cy="21484"/>
          </a:xfrm>
          <a:prstGeom prst="ellipse">
            <a:avLst/>
          </a:prstGeom>
          <a:noFill/>
          <a:ln w="1143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icon-cart"/>
          <p:cNvSpPr/>
          <p:nvPr/>
        </p:nvSpPr>
        <p:spPr>
          <a:xfrm>
            <a:off x="7986143" y="2923212"/>
            <a:ext cx="21484" cy="21484"/>
          </a:xfrm>
          <a:prstGeom prst="ellipse">
            <a:avLst/>
          </a:prstGeom>
          <a:noFill/>
          <a:ln w="1143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chip"/>
          <p:cNvSpPr/>
          <p:nvPr/>
        </p:nvSpPr>
        <p:spPr>
          <a:xfrm>
            <a:off x="7777440" y="4246203"/>
            <a:ext cx="368300" cy="3683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chip-ring"/>
          <p:cNvSpPr/>
          <p:nvPr/>
        </p:nvSpPr>
        <p:spPr>
          <a:xfrm>
            <a:off x="7777440" y="4246203"/>
            <a:ext cx="368300" cy="368300"/>
          </a:xfrm>
          <a:prstGeom prst="ellipse">
            <a:avLst/>
          </a:prstGeom>
          <a:noFill/>
          <a:ln w="6350" cap="rnd">
            <a:solidFill>
              <a:srgbClr val="1B5AA8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icon-chain"/>
          <p:cNvSpPr/>
          <p:nvPr/>
        </p:nvSpPr>
        <p:spPr>
          <a:xfrm>
            <a:off x="7901146" y="4369905"/>
            <a:ext cx="120910" cy="120910"/>
          </a:xfrm>
          <a:custGeom>
            <a:avLst/>
            <a:gdLst/>
            <a:ahLst/>
            <a:cxnLst/>
            <a:rect l="0" t="0" r="r" b="b"/>
            <a:pathLst>
              <a:path w="120910" h="120910">
                <a:moveTo>
                  <a:pt x="48165" y="72745"/>
                </a:moveTo>
                <a:cubicBezTo>
                  <a:pt x="53943" y="78587"/>
                  <a:pt x="61817" y="81889"/>
                  <a:pt x="70009" y="81889"/>
                </a:cubicBezTo>
                <a:cubicBezTo>
                  <a:pt x="78264" y="81889"/>
                  <a:pt x="86138" y="78587"/>
                  <a:pt x="91916" y="72745"/>
                </a:cubicBezTo>
                <a:lnTo>
                  <a:pt x="111855" y="52743"/>
                </a:lnTo>
                <a:cubicBezTo>
                  <a:pt x="119666" y="44932"/>
                  <a:pt x="122714" y="33566"/>
                  <a:pt x="119856" y="22898"/>
                </a:cubicBezTo>
                <a:cubicBezTo>
                  <a:pt x="116999" y="12230"/>
                  <a:pt x="108680" y="3911"/>
                  <a:pt x="98012" y="1054"/>
                </a:cubicBezTo>
                <a:cubicBezTo>
                  <a:pt x="87344" y="-1804"/>
                  <a:pt x="75914" y="1244"/>
                  <a:pt x="68104" y="9055"/>
                </a:cubicBezTo>
                <a:lnTo>
                  <a:pt x="58134" y="19024"/>
                </a:lnTo>
                <a:moveTo>
                  <a:pt x="72739" y="48171"/>
                </a:moveTo>
                <a:cubicBezTo>
                  <a:pt x="66961" y="42329"/>
                  <a:pt x="59087" y="39027"/>
                  <a:pt x="50832" y="39027"/>
                </a:cubicBezTo>
                <a:cubicBezTo>
                  <a:pt x="42640" y="39027"/>
                  <a:pt x="34766" y="42329"/>
                  <a:pt x="28988" y="48171"/>
                </a:cubicBezTo>
                <a:lnTo>
                  <a:pt x="9049" y="68110"/>
                </a:lnTo>
                <a:cubicBezTo>
                  <a:pt x="-3016" y="80175"/>
                  <a:pt x="-3016" y="99796"/>
                  <a:pt x="9049" y="111861"/>
                </a:cubicBezTo>
                <a:cubicBezTo>
                  <a:pt x="21114" y="123926"/>
                  <a:pt x="40672" y="123926"/>
                  <a:pt x="52800" y="111861"/>
                </a:cubicBezTo>
                <a:lnTo>
                  <a:pt x="62770" y="101892"/>
                </a:lnTo>
              </a:path>
            </a:pathLst>
          </a:custGeom>
          <a:noFill/>
          <a:ln w="1143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chip"/>
          <p:cNvSpPr/>
          <p:nvPr/>
        </p:nvSpPr>
        <p:spPr>
          <a:xfrm>
            <a:off x="6684603" y="5339040"/>
            <a:ext cx="368300" cy="3683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chip-ring"/>
          <p:cNvSpPr/>
          <p:nvPr/>
        </p:nvSpPr>
        <p:spPr>
          <a:xfrm>
            <a:off x="6684603" y="5339040"/>
            <a:ext cx="368300" cy="368300"/>
          </a:xfrm>
          <a:prstGeom prst="ellipse">
            <a:avLst/>
          </a:prstGeom>
          <a:noFill/>
          <a:ln w="6350" cap="rnd">
            <a:solidFill>
              <a:srgbClr val="2468B6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icon-factory"/>
          <p:cNvSpPr/>
          <p:nvPr/>
        </p:nvSpPr>
        <p:spPr>
          <a:xfrm>
            <a:off x="6802755" y="5494020"/>
            <a:ext cx="131953" cy="89027"/>
          </a:xfrm>
          <a:custGeom>
            <a:avLst/>
            <a:gdLst/>
            <a:ahLst/>
            <a:cxnLst/>
            <a:rect l="0" t="0" r="r" b="b"/>
            <a:pathLst>
              <a:path w="131953" h="89027">
                <a:moveTo>
                  <a:pt x="0" y="89027"/>
                </a:moveTo>
                <a:lnTo>
                  <a:pt x="0" y="21526"/>
                </a:lnTo>
                <a:lnTo>
                  <a:pt x="38354" y="44513"/>
                </a:lnTo>
                <a:lnTo>
                  <a:pt x="38354" y="21526"/>
                </a:lnTo>
                <a:lnTo>
                  <a:pt x="76708" y="44513"/>
                </a:lnTo>
                <a:lnTo>
                  <a:pt x="76708" y="0"/>
                </a:lnTo>
                <a:lnTo>
                  <a:pt x="115126" y="23050"/>
                </a:lnTo>
                <a:lnTo>
                  <a:pt x="115126" y="81343"/>
                </a:lnTo>
                <a:close/>
                <a:moveTo>
                  <a:pt x="0" y="89027"/>
                </a:moveTo>
                <a:lnTo>
                  <a:pt x="131953" y="89027"/>
                </a:lnTo>
              </a:path>
            </a:pathLst>
          </a:custGeom>
          <a:noFill/>
          <a:ln w="1143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chip"/>
          <p:cNvSpPr/>
          <p:nvPr/>
        </p:nvSpPr>
        <p:spPr>
          <a:xfrm>
            <a:off x="5139097" y="5339040"/>
            <a:ext cx="368300" cy="3683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chip-ring"/>
          <p:cNvSpPr/>
          <p:nvPr/>
        </p:nvSpPr>
        <p:spPr>
          <a:xfrm>
            <a:off x="5139097" y="5339040"/>
            <a:ext cx="368300" cy="368300"/>
          </a:xfrm>
          <a:prstGeom prst="ellipse">
            <a:avLst/>
          </a:prstGeom>
          <a:noFill/>
          <a:ln w="6350" cap="rnd">
            <a:solidFill>
              <a:srgbClr val="2E77C2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icon-chart"/>
          <p:cNvSpPr/>
          <p:nvPr/>
        </p:nvSpPr>
        <p:spPr>
          <a:xfrm>
            <a:off x="5258816" y="5500180"/>
            <a:ext cx="128905" cy="84392"/>
          </a:xfrm>
          <a:custGeom>
            <a:avLst/>
            <a:gdLst/>
            <a:ahLst/>
            <a:cxnLst/>
            <a:rect l="0" t="0" r="r" b="b"/>
            <a:pathLst>
              <a:path w="128905" h="84392">
                <a:moveTo>
                  <a:pt x="0" y="84392"/>
                </a:moveTo>
                <a:lnTo>
                  <a:pt x="128905" y="84392"/>
                </a:lnTo>
                <a:moveTo>
                  <a:pt x="29147" y="84392"/>
                </a:moveTo>
                <a:lnTo>
                  <a:pt x="29147" y="35306"/>
                </a:lnTo>
                <a:moveTo>
                  <a:pt x="64452" y="84392"/>
                </a:moveTo>
                <a:lnTo>
                  <a:pt x="64452" y="0"/>
                </a:lnTo>
                <a:moveTo>
                  <a:pt x="99759" y="84392"/>
                </a:moveTo>
                <a:lnTo>
                  <a:pt x="99759" y="52197"/>
                </a:lnTo>
              </a:path>
            </a:pathLst>
          </a:custGeom>
          <a:noFill/>
          <a:ln w="1143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chip"/>
          <p:cNvSpPr/>
          <p:nvPr/>
        </p:nvSpPr>
        <p:spPr>
          <a:xfrm>
            <a:off x="4046260" y="4246203"/>
            <a:ext cx="368300" cy="3683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chip-ring"/>
          <p:cNvSpPr/>
          <p:nvPr/>
        </p:nvSpPr>
        <p:spPr>
          <a:xfrm>
            <a:off x="4046260" y="4246203"/>
            <a:ext cx="368300" cy="368300"/>
          </a:xfrm>
          <a:prstGeom prst="ellipse">
            <a:avLst/>
          </a:prstGeom>
          <a:noFill/>
          <a:ln w="6350" cap="rnd">
            <a:solidFill>
              <a:srgbClr val="3985CD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icon-phone"/>
          <p:cNvSpPr/>
          <p:nvPr/>
        </p:nvSpPr>
        <p:spPr>
          <a:xfrm>
            <a:off x="4187444" y="4364355"/>
            <a:ext cx="85915" cy="131953"/>
          </a:xfrm>
          <a:custGeom>
            <a:avLst/>
            <a:gdLst/>
            <a:ahLst/>
            <a:cxnLst/>
            <a:rect l="0" t="0" r="r" b="b"/>
            <a:pathLst>
              <a:path w="85915" h="131953">
                <a:moveTo>
                  <a:pt x="12255" y="0"/>
                </a:moveTo>
                <a:lnTo>
                  <a:pt x="73660" y="0"/>
                </a:lnTo>
                <a:cubicBezTo>
                  <a:pt x="76898" y="0"/>
                  <a:pt x="80010" y="1334"/>
                  <a:pt x="82359" y="3620"/>
                </a:cubicBezTo>
                <a:cubicBezTo>
                  <a:pt x="84645" y="5906"/>
                  <a:pt x="85915" y="9017"/>
                  <a:pt x="85915" y="12256"/>
                </a:cubicBezTo>
                <a:lnTo>
                  <a:pt x="85915" y="119698"/>
                </a:lnTo>
                <a:cubicBezTo>
                  <a:pt x="85915" y="122936"/>
                  <a:pt x="84645" y="126111"/>
                  <a:pt x="82359" y="128397"/>
                </a:cubicBezTo>
                <a:cubicBezTo>
                  <a:pt x="80010" y="130683"/>
                  <a:pt x="76898" y="131953"/>
                  <a:pt x="73660" y="131953"/>
                </a:cubicBezTo>
                <a:lnTo>
                  <a:pt x="12255" y="131953"/>
                </a:lnTo>
                <a:cubicBezTo>
                  <a:pt x="9017" y="131953"/>
                  <a:pt x="5905" y="130683"/>
                  <a:pt x="3619" y="128397"/>
                </a:cubicBezTo>
                <a:cubicBezTo>
                  <a:pt x="1270" y="126111"/>
                  <a:pt x="0" y="122936"/>
                  <a:pt x="0" y="119698"/>
                </a:cubicBezTo>
                <a:lnTo>
                  <a:pt x="0" y="12256"/>
                </a:lnTo>
                <a:cubicBezTo>
                  <a:pt x="0" y="5525"/>
                  <a:pt x="5524" y="0"/>
                  <a:pt x="12255" y="0"/>
                </a:cubicBezTo>
                <a:close/>
                <a:moveTo>
                  <a:pt x="30670" y="108966"/>
                </a:moveTo>
                <a:lnTo>
                  <a:pt x="55245" y="108966"/>
                </a:lnTo>
              </a:path>
            </a:pathLst>
          </a:custGeom>
          <a:noFill/>
          <a:ln w="1143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chip"/>
          <p:cNvSpPr/>
          <p:nvPr/>
        </p:nvSpPr>
        <p:spPr>
          <a:xfrm>
            <a:off x="4046260" y="2700697"/>
            <a:ext cx="368300" cy="3683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chip-ring"/>
          <p:cNvSpPr/>
          <p:nvPr/>
        </p:nvSpPr>
        <p:spPr>
          <a:xfrm>
            <a:off x="4046260" y="2700697"/>
            <a:ext cx="368300" cy="368300"/>
          </a:xfrm>
          <a:prstGeom prst="ellipse">
            <a:avLst/>
          </a:prstGeom>
          <a:noFill/>
          <a:ln w="6350" cap="rnd">
            <a:solidFill>
              <a:srgbClr val="4694D7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icon-share"/>
          <p:cNvSpPr/>
          <p:nvPr/>
        </p:nvSpPr>
        <p:spPr>
          <a:xfrm>
            <a:off x="4201224" y="2847276"/>
            <a:ext cx="54483" cy="75184"/>
          </a:xfrm>
          <a:custGeom>
            <a:avLst/>
            <a:gdLst/>
            <a:ahLst/>
            <a:cxnLst/>
            <a:rect l="0" t="0" r="r" b="b"/>
            <a:pathLst>
              <a:path w="54483" h="75184">
                <a:moveTo>
                  <a:pt x="0" y="29909"/>
                </a:moveTo>
                <a:lnTo>
                  <a:pt x="54483" y="0"/>
                </a:lnTo>
                <a:moveTo>
                  <a:pt x="0" y="45275"/>
                </a:moveTo>
                <a:lnTo>
                  <a:pt x="54483" y="75184"/>
                </a:lnTo>
              </a:path>
            </a:pathLst>
          </a:custGeom>
          <a:noFill/>
          <a:ln w="1143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icon-share"/>
          <p:cNvSpPr/>
          <p:nvPr/>
        </p:nvSpPr>
        <p:spPr>
          <a:xfrm>
            <a:off x="4168259" y="2867200"/>
            <a:ext cx="35295" cy="35295"/>
          </a:xfrm>
          <a:prstGeom prst="ellipse">
            <a:avLst/>
          </a:prstGeom>
          <a:noFill/>
          <a:ln w="1143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icon-share"/>
          <p:cNvSpPr/>
          <p:nvPr/>
        </p:nvSpPr>
        <p:spPr>
          <a:xfrm>
            <a:off x="4254196" y="2822697"/>
            <a:ext cx="35295" cy="35295"/>
          </a:xfrm>
          <a:prstGeom prst="ellipse">
            <a:avLst/>
          </a:prstGeom>
          <a:noFill/>
          <a:ln w="1143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icon-share"/>
          <p:cNvSpPr/>
          <p:nvPr/>
        </p:nvSpPr>
        <p:spPr>
          <a:xfrm>
            <a:off x="4254196" y="2911703"/>
            <a:ext cx="35295" cy="35295"/>
          </a:xfrm>
          <a:prstGeom prst="ellipse">
            <a:avLst/>
          </a:prstGeom>
          <a:noFill/>
          <a:ln w="1143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chip"/>
          <p:cNvSpPr/>
          <p:nvPr/>
        </p:nvSpPr>
        <p:spPr>
          <a:xfrm>
            <a:off x="5139097" y="1607860"/>
            <a:ext cx="368300" cy="3683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chip-ring"/>
          <p:cNvSpPr/>
          <p:nvPr/>
        </p:nvSpPr>
        <p:spPr>
          <a:xfrm>
            <a:off x="5139097" y="1607860"/>
            <a:ext cx="368300" cy="368300"/>
          </a:xfrm>
          <a:prstGeom prst="ellipse">
            <a:avLst/>
          </a:prstGeom>
          <a:noFill/>
          <a:ln w="6350" cap="rnd">
            <a:solidFill>
              <a:srgbClr val="54A2D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icon-people"/>
          <p:cNvSpPr/>
          <p:nvPr/>
        </p:nvSpPr>
        <p:spPr>
          <a:xfrm>
            <a:off x="5258816" y="1811973"/>
            <a:ext cx="130429" cy="36830"/>
          </a:xfrm>
          <a:custGeom>
            <a:avLst/>
            <a:gdLst/>
            <a:ahLst/>
            <a:cxnLst/>
            <a:rect l="0" t="0" r="r" b="b"/>
            <a:pathLst>
              <a:path w="130429" h="36830">
                <a:moveTo>
                  <a:pt x="0" y="36830"/>
                </a:moveTo>
                <a:cubicBezTo>
                  <a:pt x="0" y="13779"/>
                  <a:pt x="19177" y="0"/>
                  <a:pt x="41402" y="0"/>
                </a:cubicBezTo>
                <a:cubicBezTo>
                  <a:pt x="63691" y="0"/>
                  <a:pt x="82868" y="13779"/>
                  <a:pt x="82868" y="36830"/>
                </a:cubicBezTo>
                <a:moveTo>
                  <a:pt x="98171" y="3048"/>
                </a:moveTo>
                <a:cubicBezTo>
                  <a:pt x="118174" y="5334"/>
                  <a:pt x="130429" y="19177"/>
                  <a:pt x="130429" y="36830"/>
                </a:cubicBezTo>
              </a:path>
            </a:pathLst>
          </a:custGeom>
          <a:noFill/>
          <a:ln w="1143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icon-people"/>
          <p:cNvSpPr/>
          <p:nvPr/>
        </p:nvSpPr>
        <p:spPr>
          <a:xfrm>
            <a:off x="5275675" y="1745973"/>
            <a:ext cx="49107" cy="49107"/>
          </a:xfrm>
          <a:prstGeom prst="ellipse">
            <a:avLst/>
          </a:prstGeom>
          <a:noFill/>
          <a:ln w="1143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icon-people"/>
          <p:cNvSpPr/>
          <p:nvPr/>
        </p:nvSpPr>
        <p:spPr>
          <a:xfrm>
            <a:off x="5341662" y="1745973"/>
            <a:ext cx="39899" cy="39899"/>
          </a:xfrm>
          <a:prstGeom prst="ellipse">
            <a:avLst/>
          </a:prstGeom>
          <a:noFill/>
          <a:ln w="1143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mark-01"/>
          <p:cNvSpPr txBox="1"/>
          <p:nvPr/>
        </p:nvSpPr>
        <p:spPr>
          <a:xfrm>
            <a:off x="10587228" y="1150346"/>
            <a:ext cx="743712" cy="6223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800" b="1" spc="100">
                <a:solidFill>
                  <a:srgbClr val="1B5AA8">
                    <a:alpha val="13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88" name="h-01"/>
          <p:cNvSpPr txBox="1"/>
          <p:nvPr/>
        </p:nvSpPr>
        <p:spPr>
          <a:xfrm>
            <a:off x="9023350" y="1241056"/>
            <a:ext cx="80835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智能财务</a:t>
            </a:r>
          </a:p>
        </p:txBody>
      </p:sp>
      <p:sp>
        <p:nvSpPr>
          <p:cNvPr id="89" name="rule-01"/>
          <p:cNvSpPr/>
          <p:nvPr/>
        </p:nvSpPr>
        <p:spPr>
          <a:xfrm>
            <a:off x="9042400" y="1557762"/>
            <a:ext cx="1460500" cy="7620"/>
          </a:xfrm>
          <a:prstGeom prst="roundRect">
            <a:avLst>
              <a:gd name="adj" fmla="val 50000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p-01-1"/>
          <p:cNvSpPr txBox="1"/>
          <p:nvPr/>
        </p:nvSpPr>
        <p:spPr>
          <a:xfrm>
            <a:off x="9029065" y="1604672"/>
            <a:ext cx="10144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全新一代财务中台</a:t>
            </a:r>
          </a:p>
        </p:txBody>
      </p:sp>
      <p:sp>
        <p:nvSpPr>
          <p:cNvPr id="91" name="p-01-2"/>
          <p:cNvSpPr txBox="1"/>
          <p:nvPr/>
        </p:nvSpPr>
        <p:spPr>
          <a:xfrm>
            <a:off x="9029065" y="1776122"/>
            <a:ext cx="10474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月结效率提升 60%</a:t>
            </a:r>
          </a:p>
        </p:txBody>
      </p:sp>
      <p:sp>
        <p:nvSpPr>
          <p:cNvPr id="92" name="mark-02"/>
          <p:cNvSpPr txBox="1"/>
          <p:nvPr/>
        </p:nvSpPr>
        <p:spPr>
          <a:xfrm>
            <a:off x="10587228" y="2428759"/>
            <a:ext cx="743712" cy="6223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800" b="1" spc="100">
                <a:solidFill>
                  <a:srgbClr val="1B5AA8">
                    <a:alpha val="13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93" name="h-02"/>
          <p:cNvSpPr txBox="1"/>
          <p:nvPr/>
        </p:nvSpPr>
        <p:spPr>
          <a:xfrm>
            <a:off x="9023350" y="2519469"/>
            <a:ext cx="80835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电商中枢</a:t>
            </a:r>
          </a:p>
        </p:txBody>
      </p:sp>
      <p:sp>
        <p:nvSpPr>
          <p:cNvPr id="94" name="rule-02"/>
          <p:cNvSpPr/>
          <p:nvPr/>
        </p:nvSpPr>
        <p:spPr>
          <a:xfrm>
            <a:off x="9042400" y="2836175"/>
            <a:ext cx="1460500" cy="7620"/>
          </a:xfrm>
          <a:prstGeom prst="roundRect">
            <a:avLst>
              <a:gd name="adj" fmla="val 50000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p-02-1"/>
          <p:cNvSpPr txBox="1"/>
          <p:nvPr/>
        </p:nvSpPr>
        <p:spPr>
          <a:xfrm>
            <a:off x="9029065" y="2883086"/>
            <a:ext cx="12430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无缝对接主流电商平台</a:t>
            </a:r>
          </a:p>
        </p:txBody>
      </p:sp>
      <p:sp>
        <p:nvSpPr>
          <p:cNvPr id="96" name="p-02-2"/>
          <p:cNvSpPr txBox="1"/>
          <p:nvPr/>
        </p:nvSpPr>
        <p:spPr>
          <a:xfrm>
            <a:off x="9029065" y="3054536"/>
            <a:ext cx="10144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订单库存实时同步</a:t>
            </a:r>
          </a:p>
        </p:txBody>
      </p:sp>
      <p:sp>
        <p:nvSpPr>
          <p:cNvPr id="97" name="mark-03"/>
          <p:cNvSpPr txBox="1"/>
          <p:nvPr/>
        </p:nvSpPr>
        <p:spPr>
          <a:xfrm>
            <a:off x="10587228" y="4236709"/>
            <a:ext cx="743712" cy="6223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800" b="1" spc="100">
                <a:solidFill>
                  <a:srgbClr val="1B5AA8">
                    <a:alpha val="13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98" name="h-03"/>
          <p:cNvSpPr txBox="1"/>
          <p:nvPr/>
        </p:nvSpPr>
        <p:spPr>
          <a:xfrm>
            <a:off x="9023350" y="4327419"/>
            <a:ext cx="9747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供应链协同</a:t>
            </a:r>
          </a:p>
        </p:txBody>
      </p:sp>
      <p:sp>
        <p:nvSpPr>
          <p:cNvPr id="99" name="rule-03"/>
          <p:cNvSpPr/>
          <p:nvPr/>
        </p:nvSpPr>
        <p:spPr>
          <a:xfrm>
            <a:off x="9042400" y="4644125"/>
            <a:ext cx="1460500" cy="7620"/>
          </a:xfrm>
          <a:prstGeom prst="roundRect">
            <a:avLst>
              <a:gd name="adj" fmla="val 50000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p-03-1"/>
          <p:cNvSpPr txBox="1"/>
          <p:nvPr/>
        </p:nvSpPr>
        <p:spPr>
          <a:xfrm>
            <a:off x="9029065" y="4691035"/>
            <a:ext cx="12430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流程灵活的供应链管理</a:t>
            </a:r>
          </a:p>
        </p:txBody>
      </p:sp>
      <p:sp>
        <p:nvSpPr>
          <p:cNvPr id="101" name="p-03-2"/>
          <p:cNvSpPr txBox="1"/>
          <p:nvPr/>
        </p:nvSpPr>
        <p:spPr>
          <a:xfrm>
            <a:off x="9029065" y="4862485"/>
            <a:ext cx="7858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降低采购成本</a:t>
            </a:r>
          </a:p>
        </p:txBody>
      </p:sp>
      <p:sp>
        <p:nvSpPr>
          <p:cNvPr id="102" name="mark-04"/>
          <p:cNvSpPr txBox="1"/>
          <p:nvPr/>
        </p:nvSpPr>
        <p:spPr>
          <a:xfrm>
            <a:off x="10587228" y="5515122"/>
            <a:ext cx="743712" cy="6223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800" b="1" spc="100">
                <a:solidFill>
                  <a:srgbClr val="1B5AA8">
                    <a:alpha val="13000"/>
                  </a:srgbClr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103" name="h-04"/>
          <p:cNvSpPr txBox="1"/>
          <p:nvPr/>
        </p:nvSpPr>
        <p:spPr>
          <a:xfrm>
            <a:off x="9023350" y="5605832"/>
            <a:ext cx="80835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智能制造</a:t>
            </a:r>
          </a:p>
        </p:txBody>
      </p:sp>
      <p:sp>
        <p:nvSpPr>
          <p:cNvPr id="104" name="rule-04"/>
          <p:cNvSpPr/>
          <p:nvPr/>
        </p:nvSpPr>
        <p:spPr>
          <a:xfrm>
            <a:off x="9042400" y="5922538"/>
            <a:ext cx="1460500" cy="7620"/>
          </a:xfrm>
          <a:prstGeom prst="roundRect">
            <a:avLst>
              <a:gd name="adj" fmla="val 50000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p-04-1"/>
          <p:cNvSpPr txBox="1"/>
          <p:nvPr/>
        </p:nvSpPr>
        <p:spPr>
          <a:xfrm>
            <a:off x="9029065" y="5969449"/>
            <a:ext cx="11287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按需生产、按期交货</a:t>
            </a:r>
          </a:p>
        </p:txBody>
      </p:sp>
      <p:sp>
        <p:nvSpPr>
          <p:cNvPr id="106" name="p-04-2"/>
          <p:cNvSpPr txBox="1"/>
          <p:nvPr/>
        </p:nvSpPr>
        <p:spPr>
          <a:xfrm>
            <a:off x="9029065" y="6140899"/>
            <a:ext cx="10144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动态库存全程可控</a:t>
            </a:r>
          </a:p>
        </p:txBody>
      </p:sp>
      <p:sp>
        <p:nvSpPr>
          <p:cNvPr id="107" name="mark-05"/>
          <p:cNvSpPr txBox="1"/>
          <p:nvPr/>
        </p:nvSpPr>
        <p:spPr>
          <a:xfrm>
            <a:off x="861060" y="5515122"/>
            <a:ext cx="743712" cy="6223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800" b="1" spc="100">
                <a:solidFill>
                  <a:srgbClr val="1B5AA8">
                    <a:alpha val="13000"/>
                  </a:srgbClr>
                </a:solidFill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108" name="h-05"/>
          <p:cNvSpPr txBox="1"/>
          <p:nvPr/>
        </p:nvSpPr>
        <p:spPr>
          <a:xfrm>
            <a:off x="2360295" y="5605832"/>
            <a:ext cx="80835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数据决策</a:t>
            </a:r>
          </a:p>
        </p:txBody>
      </p:sp>
      <p:sp>
        <p:nvSpPr>
          <p:cNvPr id="109" name="rule-05"/>
          <p:cNvSpPr/>
          <p:nvPr/>
        </p:nvSpPr>
        <p:spPr>
          <a:xfrm>
            <a:off x="1689100" y="5922538"/>
            <a:ext cx="1460500" cy="7620"/>
          </a:xfrm>
          <a:prstGeom prst="roundRect">
            <a:avLst>
              <a:gd name="adj" fmla="val 50000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0" name="p-05-1"/>
          <p:cNvSpPr txBox="1"/>
          <p:nvPr/>
        </p:nvSpPr>
        <p:spPr>
          <a:xfrm>
            <a:off x="2148522" y="5969449"/>
            <a:ext cx="10144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全域经营数据看板</a:t>
            </a:r>
          </a:p>
        </p:txBody>
      </p:sp>
      <p:sp>
        <p:nvSpPr>
          <p:cNvPr id="111" name="p-05-2"/>
          <p:cNvSpPr txBox="1"/>
          <p:nvPr/>
        </p:nvSpPr>
        <p:spPr>
          <a:xfrm>
            <a:off x="2148522" y="6140899"/>
            <a:ext cx="10144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一屏掌握核心指标</a:t>
            </a:r>
          </a:p>
        </p:txBody>
      </p:sp>
      <p:sp>
        <p:nvSpPr>
          <p:cNvPr id="112" name="mark-06"/>
          <p:cNvSpPr txBox="1"/>
          <p:nvPr/>
        </p:nvSpPr>
        <p:spPr>
          <a:xfrm>
            <a:off x="861060" y="4236709"/>
            <a:ext cx="743712" cy="6223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800" b="1" spc="100">
                <a:solidFill>
                  <a:srgbClr val="1B5AA8">
                    <a:alpha val="13000"/>
                  </a:srgbClr>
                </a:solidFill>
                <a:latin typeface="Arial"/>
                <a:ea typeface="Arial"/>
                <a:cs typeface="Arial"/>
              </a:rPr>
              <a:t>06</a:t>
            </a:r>
          </a:p>
        </p:txBody>
      </p:sp>
      <p:sp>
        <p:nvSpPr>
          <p:cNvPr id="113" name="h-06"/>
          <p:cNvSpPr txBox="1"/>
          <p:nvPr/>
        </p:nvSpPr>
        <p:spPr>
          <a:xfrm>
            <a:off x="2360295" y="4327419"/>
            <a:ext cx="80835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移动办公</a:t>
            </a:r>
          </a:p>
        </p:txBody>
      </p:sp>
      <p:sp>
        <p:nvSpPr>
          <p:cNvPr id="114" name="rule-06"/>
          <p:cNvSpPr/>
          <p:nvPr/>
        </p:nvSpPr>
        <p:spPr>
          <a:xfrm>
            <a:off x="1689100" y="4644125"/>
            <a:ext cx="1460500" cy="7620"/>
          </a:xfrm>
          <a:prstGeom prst="roundRect">
            <a:avLst>
              <a:gd name="adj" fmla="val 50000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5" name="p-06-1"/>
          <p:cNvSpPr txBox="1"/>
          <p:nvPr/>
        </p:nvSpPr>
        <p:spPr>
          <a:xfrm>
            <a:off x="2262822" y="4691035"/>
            <a:ext cx="9001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一站式移动审批</a:t>
            </a:r>
          </a:p>
        </p:txBody>
      </p:sp>
      <p:sp>
        <p:nvSpPr>
          <p:cNvPr id="116" name="p-06-2"/>
          <p:cNvSpPr txBox="1"/>
          <p:nvPr/>
        </p:nvSpPr>
        <p:spPr>
          <a:xfrm>
            <a:off x="2148522" y="4862485"/>
            <a:ext cx="10144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个性化高效工作台</a:t>
            </a:r>
          </a:p>
        </p:txBody>
      </p:sp>
      <p:sp>
        <p:nvSpPr>
          <p:cNvPr id="117" name="mark-07"/>
          <p:cNvSpPr txBox="1"/>
          <p:nvPr/>
        </p:nvSpPr>
        <p:spPr>
          <a:xfrm>
            <a:off x="861060" y="2428759"/>
            <a:ext cx="743712" cy="6223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800" b="1" spc="100">
                <a:solidFill>
                  <a:srgbClr val="1B5AA8">
                    <a:alpha val="13000"/>
                  </a:srgbClr>
                </a:solidFill>
                <a:latin typeface="Arial"/>
                <a:ea typeface="Arial"/>
                <a:cs typeface="Arial"/>
              </a:rPr>
              <a:t>07</a:t>
            </a:r>
          </a:p>
        </p:txBody>
      </p:sp>
      <p:sp>
        <p:nvSpPr>
          <p:cNvPr id="118" name="h-07"/>
          <p:cNvSpPr txBox="1"/>
          <p:nvPr/>
        </p:nvSpPr>
        <p:spPr>
          <a:xfrm>
            <a:off x="2360295" y="2519469"/>
            <a:ext cx="80835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渠道管理</a:t>
            </a:r>
          </a:p>
        </p:txBody>
      </p:sp>
      <p:sp>
        <p:nvSpPr>
          <p:cNvPr id="119" name="rule-07"/>
          <p:cNvSpPr/>
          <p:nvPr/>
        </p:nvSpPr>
        <p:spPr>
          <a:xfrm>
            <a:off x="1689100" y="2836175"/>
            <a:ext cx="1460500" cy="7620"/>
          </a:xfrm>
          <a:prstGeom prst="roundRect">
            <a:avLst>
              <a:gd name="adj" fmla="val 50000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0" name="p-07-1"/>
          <p:cNvSpPr txBox="1"/>
          <p:nvPr/>
        </p:nvSpPr>
        <p:spPr>
          <a:xfrm>
            <a:off x="2148522" y="2883086"/>
            <a:ext cx="10144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经销门店统一管理</a:t>
            </a:r>
          </a:p>
        </p:txBody>
      </p:sp>
      <p:sp>
        <p:nvSpPr>
          <p:cNvPr id="121" name="p-07-2"/>
          <p:cNvSpPr txBox="1"/>
          <p:nvPr/>
        </p:nvSpPr>
        <p:spPr>
          <a:xfrm>
            <a:off x="2034223" y="3054536"/>
            <a:ext cx="11287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助力企业规模化扩张</a:t>
            </a:r>
          </a:p>
        </p:txBody>
      </p:sp>
      <p:sp>
        <p:nvSpPr>
          <p:cNvPr id="122" name="mark-08"/>
          <p:cNvSpPr txBox="1"/>
          <p:nvPr/>
        </p:nvSpPr>
        <p:spPr>
          <a:xfrm>
            <a:off x="861060" y="1150346"/>
            <a:ext cx="743712" cy="6223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800" b="1" spc="100">
                <a:solidFill>
                  <a:srgbClr val="1B5AA8">
                    <a:alpha val="13000"/>
                  </a:srgbClr>
                </a:solidFill>
                <a:latin typeface="Arial"/>
                <a:ea typeface="Arial"/>
                <a:cs typeface="Arial"/>
              </a:rPr>
              <a:t>08</a:t>
            </a:r>
          </a:p>
        </p:txBody>
      </p:sp>
      <p:sp>
        <p:nvSpPr>
          <p:cNvPr id="123" name="h-08"/>
          <p:cNvSpPr txBox="1"/>
          <p:nvPr/>
        </p:nvSpPr>
        <p:spPr>
          <a:xfrm>
            <a:off x="2360295" y="1241056"/>
            <a:ext cx="80835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组织协同</a:t>
            </a:r>
          </a:p>
        </p:txBody>
      </p:sp>
      <p:sp>
        <p:nvSpPr>
          <p:cNvPr id="124" name="rule-08"/>
          <p:cNvSpPr/>
          <p:nvPr/>
        </p:nvSpPr>
        <p:spPr>
          <a:xfrm>
            <a:off x="1689100" y="1557762"/>
            <a:ext cx="1460500" cy="7620"/>
          </a:xfrm>
          <a:prstGeom prst="roundRect">
            <a:avLst>
              <a:gd name="adj" fmla="val 50000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5" name="p-08-1"/>
          <p:cNvSpPr txBox="1"/>
          <p:nvPr/>
        </p:nvSpPr>
        <p:spPr>
          <a:xfrm>
            <a:off x="2034223" y="1604672"/>
            <a:ext cx="11287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企业通讯与任务协同</a:t>
            </a:r>
          </a:p>
        </p:txBody>
      </p:sp>
      <p:sp>
        <p:nvSpPr>
          <p:cNvPr id="126" name="p-08-2"/>
          <p:cNvSpPr txBox="1"/>
          <p:nvPr/>
        </p:nvSpPr>
        <p:spPr>
          <a:xfrm>
            <a:off x="2148522" y="1776122"/>
            <a:ext cx="10144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信息即时触达一线</a:t>
            </a:r>
          </a:p>
        </p:txBody>
      </p:sp>
      <p:cxnSp>
        <p:nvCxnSpPr>
          <p:cNvPr id="127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" name="foot-l"/>
          <p:cNvSpPr txBox="1"/>
          <p:nvPr/>
        </p:nvSpPr>
        <p:spPr>
          <a:xfrm>
            <a:off x="573532" y="6532308"/>
            <a:ext cx="13406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八大能力模块 · 一体化协同</a:t>
            </a:r>
          </a:p>
        </p:txBody>
      </p:sp>
      <p:sp>
        <p:nvSpPr>
          <p:cNvPr id="129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总体技术架构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99224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PLATFORM ARCHITECTURE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580499" y="673132"/>
            <a:ext cx="20402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自下而上层层支撑，自上而下能力赋能</a:t>
            </a:r>
          </a:p>
        </p:txBody>
      </p:sp>
      <p:cxnSp>
        <p:nvCxnSpPr>
          <p:cNvPr id="10" name="axis"/>
          <p:cNvCxnSpPr/>
          <p:nvPr/>
        </p:nvCxnSpPr>
        <p:spPr>
          <a:xfrm>
            <a:off x="2349500" y="1638300"/>
            <a:ext cx="0" cy="3898900"/>
          </a:xfrm>
          <a:prstGeom prst="line">
            <a:avLst/>
          </a:prstGeom>
          <a:ln w="6350" cap="rnd">
            <a:solidFill>
              <a:srgbClr val="0B2545">
                <a:alpha val="1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axis-arrow"/>
          <p:cNvSpPr/>
          <p:nvPr/>
        </p:nvSpPr>
        <p:spPr>
          <a:xfrm>
            <a:off x="2305050" y="1587500"/>
            <a:ext cx="88900" cy="101600"/>
          </a:xfrm>
          <a:custGeom>
            <a:avLst/>
            <a:gdLst/>
            <a:ahLst/>
            <a:cxnLst/>
            <a:rect l="0" t="0" r="r" b="b"/>
            <a:pathLst>
              <a:path w="88900" h="101600">
                <a:moveTo>
                  <a:pt x="0" y="101600"/>
                </a:moveTo>
                <a:lnTo>
                  <a:pt x="44450" y="0"/>
                </a:lnTo>
                <a:lnTo>
                  <a:pt x="88900" y="101600"/>
                </a:lnTo>
              </a:path>
            </a:pathLst>
          </a:custGeom>
          <a:noFill/>
          <a:ln w="10160" cap="rnd">
            <a:solidFill>
              <a:srgbClr val="1B5AA8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layer-04"/>
          <p:cNvSpPr/>
          <p:nvPr/>
        </p:nvSpPr>
        <p:spPr>
          <a:xfrm>
            <a:off x="2667000" y="1473200"/>
            <a:ext cx="8572500" cy="927100"/>
          </a:xfrm>
          <a:custGeom>
            <a:avLst/>
            <a:gdLst/>
            <a:ahLst/>
            <a:cxnLst/>
            <a:rect l="0" t="0" r="r" b="b"/>
            <a:pathLst>
              <a:path w="8572500" h="927100">
                <a:moveTo>
                  <a:pt x="114300" y="0"/>
                </a:moveTo>
                <a:lnTo>
                  <a:pt x="8458200" y="0"/>
                </a:lnTo>
                <a:cubicBezTo>
                  <a:pt x="8521319" y="0"/>
                  <a:pt x="8572500" y="51181"/>
                  <a:pt x="8572500" y="114300"/>
                </a:cubicBezTo>
                <a:lnTo>
                  <a:pt x="8572500" y="812800"/>
                </a:lnTo>
                <a:cubicBezTo>
                  <a:pt x="8572500" y="875919"/>
                  <a:pt x="8521319" y="927100"/>
                  <a:pt x="8458200" y="927100"/>
                </a:cubicBezTo>
                <a:lnTo>
                  <a:pt x="114300" y="927100"/>
                </a:lnTo>
                <a:cubicBezTo>
                  <a:pt x="51181" y="927100"/>
                  <a:pt x="0" y="875919"/>
                  <a:pt x="0" y="8128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60A3DD"/>
              </a:gs>
              <a:gs pos="100000">
                <a:srgbClr val="4694D7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node-04"/>
          <p:cNvSpPr/>
          <p:nvPr/>
        </p:nvSpPr>
        <p:spPr>
          <a:xfrm>
            <a:off x="2305050" y="1892300"/>
            <a:ext cx="88900" cy="88900"/>
          </a:xfrm>
          <a:prstGeom prst="ellipse">
            <a:avLst/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node-r-04"/>
          <p:cNvSpPr/>
          <p:nvPr/>
        </p:nvSpPr>
        <p:spPr>
          <a:xfrm>
            <a:off x="2266950" y="1854200"/>
            <a:ext cx="165100" cy="165100"/>
          </a:xfrm>
          <a:prstGeom prst="ellipse">
            <a:avLst/>
          </a:prstGeom>
          <a:noFill/>
          <a:ln w="8255" cap="rnd">
            <a:solidFill>
              <a:srgbClr val="4694D7">
                <a:alpha val="32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num-04"/>
          <p:cNvSpPr txBox="1"/>
          <p:nvPr/>
        </p:nvSpPr>
        <p:spPr>
          <a:xfrm>
            <a:off x="922020" y="1635760"/>
            <a:ext cx="52578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 spc="50">
                <a:solidFill>
                  <a:srgbClr val="4694D7">
                    <a:alpha val="85000"/>
                  </a:srgbClr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16" name="note-04"/>
          <p:cNvSpPr txBox="1"/>
          <p:nvPr/>
        </p:nvSpPr>
        <p:spPr>
          <a:xfrm>
            <a:off x="941070" y="2022316"/>
            <a:ext cx="11474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面向业务场景的前台应用</a:t>
            </a:r>
          </a:p>
        </p:txBody>
      </p:sp>
      <p:sp>
        <p:nvSpPr>
          <p:cNvPr id="17" name="cn-04"/>
          <p:cNvSpPr txBox="1"/>
          <p:nvPr/>
        </p:nvSpPr>
        <p:spPr>
          <a:xfrm>
            <a:off x="2899664" y="1691767"/>
            <a:ext cx="75057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应用层</a:t>
            </a:r>
          </a:p>
        </p:txBody>
      </p:sp>
      <p:sp>
        <p:nvSpPr>
          <p:cNvPr id="18" name="en-04"/>
          <p:cNvSpPr txBox="1"/>
          <p:nvPr/>
        </p:nvSpPr>
        <p:spPr>
          <a:xfrm>
            <a:off x="2910332" y="2004758"/>
            <a:ext cx="83718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FFFFFF">
                    <a:alpha val="65000"/>
                  </a:srgbClr>
                </a:solidFill>
                <a:latin typeface="Arial"/>
                <a:ea typeface="Arial"/>
                <a:cs typeface="Arial"/>
              </a:rPr>
              <a:t>APPLICATION</a:t>
            </a:r>
          </a:p>
        </p:txBody>
      </p:sp>
      <p:sp>
        <p:nvSpPr>
          <p:cNvPr id="19" name="mod-04-1"/>
          <p:cNvSpPr/>
          <p:nvPr/>
        </p:nvSpPr>
        <p:spPr>
          <a:xfrm>
            <a:off x="4140200" y="1739900"/>
            <a:ext cx="1075246" cy="393700"/>
          </a:xfrm>
          <a:custGeom>
            <a:avLst/>
            <a:gdLst/>
            <a:ahLst/>
            <a:cxnLst/>
            <a:rect l="0" t="0" r="r" b="b"/>
            <a:pathLst>
              <a:path w="1075246" h="393700">
                <a:moveTo>
                  <a:pt x="88900" y="0"/>
                </a:moveTo>
                <a:lnTo>
                  <a:pt x="986346" y="0"/>
                </a:lnTo>
                <a:cubicBezTo>
                  <a:pt x="1035495" y="0"/>
                  <a:pt x="1075246" y="39814"/>
                  <a:pt x="1075246" y="88900"/>
                </a:cubicBezTo>
                <a:lnTo>
                  <a:pt x="1075246" y="304800"/>
                </a:lnTo>
                <a:cubicBezTo>
                  <a:pt x="1075246" y="353886"/>
                  <a:pt x="1035495" y="393700"/>
                  <a:pt x="986346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22000"/>
            </a:srgbClr>
          </a:solidFill>
          <a:ln w="6350" cap="rnd">
            <a:solidFill>
              <a:srgbClr val="FFFFFF">
                <a:alpha val="3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mod-t-04-1"/>
          <p:cNvSpPr txBox="1"/>
          <p:nvPr/>
        </p:nvSpPr>
        <p:spPr>
          <a:xfrm>
            <a:off x="4397957" y="184396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智能报表</a:t>
            </a:r>
          </a:p>
        </p:txBody>
      </p:sp>
      <p:sp>
        <p:nvSpPr>
          <p:cNvPr id="21" name="mod-04-2"/>
          <p:cNvSpPr/>
          <p:nvPr/>
        </p:nvSpPr>
        <p:spPr>
          <a:xfrm>
            <a:off x="5304346" y="1739900"/>
            <a:ext cx="1075309" cy="393700"/>
          </a:xfrm>
          <a:custGeom>
            <a:avLst/>
            <a:gdLst/>
            <a:ahLst/>
            <a:cxnLst/>
            <a:rect l="0" t="0" r="r" b="b"/>
            <a:pathLst>
              <a:path w="1075309" h="393700">
                <a:moveTo>
                  <a:pt x="88900" y="0"/>
                </a:moveTo>
                <a:lnTo>
                  <a:pt x="986409" y="0"/>
                </a:lnTo>
                <a:cubicBezTo>
                  <a:pt x="1035494" y="0"/>
                  <a:pt x="1075309" y="39814"/>
                  <a:pt x="1075309" y="88900"/>
                </a:cubicBezTo>
                <a:lnTo>
                  <a:pt x="1075309" y="304800"/>
                </a:lnTo>
                <a:cubicBezTo>
                  <a:pt x="1075309" y="353886"/>
                  <a:pt x="1035494" y="393700"/>
                  <a:pt x="986409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22000"/>
            </a:srgbClr>
          </a:solidFill>
          <a:ln w="6350" cap="rnd">
            <a:solidFill>
              <a:srgbClr val="FFFFFF">
                <a:alpha val="3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mod-t-04-2"/>
          <p:cNvSpPr txBox="1"/>
          <p:nvPr/>
        </p:nvSpPr>
        <p:spPr>
          <a:xfrm>
            <a:off x="5562124" y="184396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移动审批</a:t>
            </a:r>
          </a:p>
        </p:txBody>
      </p:sp>
      <p:sp>
        <p:nvSpPr>
          <p:cNvPr id="23" name="mod-04-3"/>
          <p:cNvSpPr/>
          <p:nvPr/>
        </p:nvSpPr>
        <p:spPr>
          <a:xfrm>
            <a:off x="6468554" y="1739900"/>
            <a:ext cx="1075246" cy="393700"/>
          </a:xfrm>
          <a:custGeom>
            <a:avLst/>
            <a:gdLst/>
            <a:ahLst/>
            <a:cxnLst/>
            <a:rect l="0" t="0" r="r" b="b"/>
            <a:pathLst>
              <a:path w="1075246" h="393700">
                <a:moveTo>
                  <a:pt x="88900" y="0"/>
                </a:moveTo>
                <a:lnTo>
                  <a:pt x="986346" y="0"/>
                </a:lnTo>
                <a:cubicBezTo>
                  <a:pt x="1035431" y="0"/>
                  <a:pt x="1075246" y="39814"/>
                  <a:pt x="1075246" y="88900"/>
                </a:cubicBezTo>
                <a:lnTo>
                  <a:pt x="1075246" y="304800"/>
                </a:lnTo>
                <a:cubicBezTo>
                  <a:pt x="1075246" y="353886"/>
                  <a:pt x="1035431" y="393700"/>
                  <a:pt x="986346" y="393700"/>
                </a:cubicBezTo>
                <a:lnTo>
                  <a:pt x="88900" y="393700"/>
                </a:lnTo>
                <a:cubicBezTo>
                  <a:pt x="39751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751" y="0"/>
                  <a:pt x="88900" y="0"/>
                </a:cubicBezTo>
                <a:close/>
              </a:path>
            </a:pathLst>
          </a:custGeom>
          <a:solidFill>
            <a:srgbClr val="FFFFFF">
              <a:alpha val="22000"/>
            </a:srgbClr>
          </a:solidFill>
          <a:ln w="6350" cap="rnd">
            <a:solidFill>
              <a:srgbClr val="FFFFFF">
                <a:alpha val="3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mod-t-04-3"/>
          <p:cNvSpPr txBox="1"/>
          <p:nvPr/>
        </p:nvSpPr>
        <p:spPr>
          <a:xfrm>
            <a:off x="6726290" y="184396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客户门户</a:t>
            </a:r>
          </a:p>
        </p:txBody>
      </p:sp>
      <p:sp>
        <p:nvSpPr>
          <p:cNvPr id="25" name="mod-04-4"/>
          <p:cNvSpPr/>
          <p:nvPr/>
        </p:nvSpPr>
        <p:spPr>
          <a:xfrm>
            <a:off x="7632700" y="1739900"/>
            <a:ext cx="1075245" cy="393700"/>
          </a:xfrm>
          <a:custGeom>
            <a:avLst/>
            <a:gdLst/>
            <a:ahLst/>
            <a:cxnLst/>
            <a:rect l="0" t="0" r="r" b="b"/>
            <a:pathLst>
              <a:path w="1075245" h="393700">
                <a:moveTo>
                  <a:pt x="88900" y="0"/>
                </a:moveTo>
                <a:lnTo>
                  <a:pt x="986345" y="0"/>
                </a:lnTo>
                <a:cubicBezTo>
                  <a:pt x="1035494" y="0"/>
                  <a:pt x="1075245" y="39814"/>
                  <a:pt x="1075245" y="88900"/>
                </a:cubicBezTo>
                <a:lnTo>
                  <a:pt x="1075245" y="304800"/>
                </a:lnTo>
                <a:cubicBezTo>
                  <a:pt x="1075245" y="353886"/>
                  <a:pt x="1035494" y="393700"/>
                  <a:pt x="986345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22000"/>
            </a:srgbClr>
          </a:solidFill>
          <a:ln w="6350" cap="rnd">
            <a:solidFill>
              <a:srgbClr val="FFFFFF">
                <a:alpha val="3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mod-t-04-4"/>
          <p:cNvSpPr txBox="1"/>
          <p:nvPr/>
        </p:nvSpPr>
        <p:spPr>
          <a:xfrm>
            <a:off x="7832990" y="1843961"/>
            <a:ext cx="67468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经销商平台</a:t>
            </a:r>
          </a:p>
        </p:txBody>
      </p:sp>
      <p:sp>
        <p:nvSpPr>
          <p:cNvPr id="27" name="mod-04-5"/>
          <p:cNvSpPr/>
          <p:nvPr/>
        </p:nvSpPr>
        <p:spPr>
          <a:xfrm>
            <a:off x="8796846" y="1739900"/>
            <a:ext cx="1075309" cy="393700"/>
          </a:xfrm>
          <a:custGeom>
            <a:avLst/>
            <a:gdLst/>
            <a:ahLst/>
            <a:cxnLst/>
            <a:rect l="0" t="0" r="r" b="b"/>
            <a:pathLst>
              <a:path w="1075309" h="393700">
                <a:moveTo>
                  <a:pt x="88900" y="0"/>
                </a:moveTo>
                <a:lnTo>
                  <a:pt x="986409" y="0"/>
                </a:lnTo>
                <a:cubicBezTo>
                  <a:pt x="1035495" y="0"/>
                  <a:pt x="1075309" y="39814"/>
                  <a:pt x="1075309" y="88900"/>
                </a:cubicBezTo>
                <a:lnTo>
                  <a:pt x="1075309" y="304800"/>
                </a:lnTo>
                <a:cubicBezTo>
                  <a:pt x="1075309" y="353886"/>
                  <a:pt x="1035495" y="393700"/>
                  <a:pt x="986409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22000"/>
            </a:srgbClr>
          </a:solidFill>
          <a:ln w="6350" cap="rnd">
            <a:solidFill>
              <a:srgbClr val="FFFFFF">
                <a:alpha val="3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mod-t-04-5"/>
          <p:cNvSpPr txBox="1"/>
          <p:nvPr/>
        </p:nvSpPr>
        <p:spPr>
          <a:xfrm>
            <a:off x="9054624" y="184396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数据大屏</a:t>
            </a:r>
          </a:p>
        </p:txBody>
      </p:sp>
      <p:sp>
        <p:nvSpPr>
          <p:cNvPr id="29" name="mod-04-6"/>
          <p:cNvSpPr/>
          <p:nvPr/>
        </p:nvSpPr>
        <p:spPr>
          <a:xfrm>
            <a:off x="9961054" y="1739900"/>
            <a:ext cx="1075245" cy="393700"/>
          </a:xfrm>
          <a:custGeom>
            <a:avLst/>
            <a:gdLst/>
            <a:ahLst/>
            <a:cxnLst/>
            <a:rect l="0" t="0" r="r" b="b"/>
            <a:pathLst>
              <a:path w="1075245" h="393700">
                <a:moveTo>
                  <a:pt x="88900" y="0"/>
                </a:moveTo>
                <a:lnTo>
                  <a:pt x="986345" y="0"/>
                </a:lnTo>
                <a:cubicBezTo>
                  <a:pt x="1035431" y="0"/>
                  <a:pt x="1075245" y="39814"/>
                  <a:pt x="1075245" y="88900"/>
                </a:cubicBezTo>
                <a:lnTo>
                  <a:pt x="1075245" y="304800"/>
                </a:lnTo>
                <a:cubicBezTo>
                  <a:pt x="1075245" y="353886"/>
                  <a:pt x="1035431" y="393700"/>
                  <a:pt x="986345" y="393700"/>
                </a:cubicBezTo>
                <a:lnTo>
                  <a:pt x="88900" y="393700"/>
                </a:lnTo>
                <a:cubicBezTo>
                  <a:pt x="39751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751" y="0"/>
                  <a:pt x="88900" y="0"/>
                </a:cubicBezTo>
                <a:close/>
              </a:path>
            </a:pathLst>
          </a:custGeom>
          <a:solidFill>
            <a:srgbClr val="FFFFFF">
              <a:alpha val="22000"/>
            </a:srgbClr>
          </a:solidFill>
          <a:ln w="6350" cap="rnd">
            <a:solidFill>
              <a:srgbClr val="FFFFFF">
                <a:alpha val="3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mod-t-04-6"/>
          <p:cNvSpPr txBox="1"/>
          <p:nvPr/>
        </p:nvSpPr>
        <p:spPr>
          <a:xfrm>
            <a:off x="10218790" y="184396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业务预警</a:t>
            </a:r>
          </a:p>
        </p:txBody>
      </p:sp>
      <p:sp>
        <p:nvSpPr>
          <p:cNvPr id="31" name="layer-03"/>
          <p:cNvSpPr/>
          <p:nvPr/>
        </p:nvSpPr>
        <p:spPr>
          <a:xfrm>
            <a:off x="2667000" y="2565400"/>
            <a:ext cx="8572500" cy="1066800"/>
          </a:xfrm>
          <a:custGeom>
            <a:avLst/>
            <a:gdLst/>
            <a:ahLst/>
            <a:cxnLst/>
            <a:rect l="0" t="0" r="r" b="b"/>
            <a:pathLst>
              <a:path w="8572500" h="1066800">
                <a:moveTo>
                  <a:pt x="114300" y="0"/>
                </a:moveTo>
                <a:lnTo>
                  <a:pt x="8458200" y="0"/>
                </a:lnTo>
                <a:cubicBezTo>
                  <a:pt x="8521319" y="0"/>
                  <a:pt x="8572500" y="51181"/>
                  <a:pt x="8572500" y="114300"/>
                </a:cubicBezTo>
                <a:lnTo>
                  <a:pt x="8572500" y="952500"/>
                </a:lnTo>
                <a:cubicBezTo>
                  <a:pt x="8572500" y="1015619"/>
                  <a:pt x="8521319" y="1066800"/>
                  <a:pt x="8458200" y="1066800"/>
                </a:cubicBezTo>
                <a:lnTo>
                  <a:pt x="114300" y="1066800"/>
                </a:lnTo>
                <a:cubicBezTo>
                  <a:pt x="51181" y="1066800"/>
                  <a:pt x="0" y="1015619"/>
                  <a:pt x="0" y="952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4B8ACB"/>
              </a:gs>
              <a:gs pos="100000">
                <a:srgbClr val="2E77C2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node-03"/>
          <p:cNvSpPr/>
          <p:nvPr/>
        </p:nvSpPr>
        <p:spPr>
          <a:xfrm>
            <a:off x="2305050" y="3054350"/>
            <a:ext cx="88900" cy="889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node-r-03"/>
          <p:cNvSpPr/>
          <p:nvPr/>
        </p:nvSpPr>
        <p:spPr>
          <a:xfrm>
            <a:off x="2266950" y="3016250"/>
            <a:ext cx="165100" cy="165100"/>
          </a:xfrm>
          <a:prstGeom prst="ellipse">
            <a:avLst/>
          </a:prstGeom>
          <a:noFill/>
          <a:ln w="8255" cap="rnd">
            <a:solidFill>
              <a:srgbClr val="2E77C2">
                <a:alpha val="32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num-03"/>
          <p:cNvSpPr txBox="1"/>
          <p:nvPr/>
        </p:nvSpPr>
        <p:spPr>
          <a:xfrm>
            <a:off x="922020" y="2797810"/>
            <a:ext cx="52578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 spc="50">
                <a:solidFill>
                  <a:srgbClr val="2E77C2">
                    <a:alpha val="85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35" name="note-03"/>
          <p:cNvSpPr txBox="1"/>
          <p:nvPr/>
        </p:nvSpPr>
        <p:spPr>
          <a:xfrm>
            <a:off x="941070" y="3184366"/>
            <a:ext cx="10509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可复用的通用能力中枢</a:t>
            </a:r>
          </a:p>
        </p:txBody>
      </p:sp>
      <p:sp>
        <p:nvSpPr>
          <p:cNvPr id="36" name="cn-03"/>
          <p:cNvSpPr txBox="1"/>
          <p:nvPr/>
        </p:nvSpPr>
        <p:spPr>
          <a:xfrm>
            <a:off x="2899664" y="2853817"/>
            <a:ext cx="75057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平台层</a:t>
            </a:r>
          </a:p>
        </p:txBody>
      </p:sp>
      <p:sp>
        <p:nvSpPr>
          <p:cNvPr id="37" name="en-03"/>
          <p:cNvSpPr txBox="1"/>
          <p:nvPr/>
        </p:nvSpPr>
        <p:spPr>
          <a:xfrm>
            <a:off x="2910332" y="3166808"/>
            <a:ext cx="6306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FFFFFF">
                    <a:alpha val="65000"/>
                  </a:srgbClr>
                </a:solidFill>
                <a:latin typeface="Arial"/>
                <a:ea typeface="Arial"/>
                <a:cs typeface="Arial"/>
              </a:rPr>
              <a:t>PLATFORM</a:t>
            </a:r>
          </a:p>
        </p:txBody>
      </p:sp>
      <p:sp>
        <p:nvSpPr>
          <p:cNvPr id="38" name="mod-03-1"/>
          <p:cNvSpPr/>
          <p:nvPr/>
        </p:nvSpPr>
        <p:spPr>
          <a:xfrm>
            <a:off x="4140200" y="2901950"/>
            <a:ext cx="1308100" cy="393700"/>
          </a:xfrm>
          <a:custGeom>
            <a:avLst/>
            <a:gdLst/>
            <a:ahLst/>
            <a:cxnLst/>
            <a:rect l="0" t="0" r="r" b="b"/>
            <a:pathLst>
              <a:path w="1308100" h="393700">
                <a:moveTo>
                  <a:pt x="88900" y="0"/>
                </a:moveTo>
                <a:lnTo>
                  <a:pt x="1219200" y="0"/>
                </a:lnTo>
                <a:cubicBezTo>
                  <a:pt x="1268286" y="0"/>
                  <a:pt x="1308100" y="39814"/>
                  <a:pt x="1308100" y="88900"/>
                </a:cubicBezTo>
                <a:lnTo>
                  <a:pt x="1308100" y="304800"/>
                </a:lnTo>
                <a:cubicBezTo>
                  <a:pt x="1308100" y="353886"/>
                  <a:pt x="1268286" y="393700"/>
                  <a:pt x="1219200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22000"/>
            </a:srgbClr>
          </a:solidFill>
          <a:ln w="6350" cap="rnd">
            <a:solidFill>
              <a:srgbClr val="FFFFFF">
                <a:alpha val="3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mod-t-03-1"/>
          <p:cNvSpPr txBox="1"/>
          <p:nvPr/>
        </p:nvSpPr>
        <p:spPr>
          <a:xfrm>
            <a:off x="4514374" y="300601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流程引擎</a:t>
            </a:r>
          </a:p>
        </p:txBody>
      </p:sp>
      <p:sp>
        <p:nvSpPr>
          <p:cNvPr id="40" name="mod-03-2"/>
          <p:cNvSpPr/>
          <p:nvPr/>
        </p:nvSpPr>
        <p:spPr>
          <a:xfrm>
            <a:off x="5537200" y="2901950"/>
            <a:ext cx="1308100" cy="393700"/>
          </a:xfrm>
          <a:custGeom>
            <a:avLst/>
            <a:gdLst/>
            <a:ahLst/>
            <a:cxnLst/>
            <a:rect l="0" t="0" r="r" b="b"/>
            <a:pathLst>
              <a:path w="1308100" h="393700">
                <a:moveTo>
                  <a:pt x="88900" y="0"/>
                </a:moveTo>
                <a:lnTo>
                  <a:pt x="1219200" y="0"/>
                </a:lnTo>
                <a:cubicBezTo>
                  <a:pt x="1268286" y="0"/>
                  <a:pt x="1308100" y="39814"/>
                  <a:pt x="1308100" y="88900"/>
                </a:cubicBezTo>
                <a:lnTo>
                  <a:pt x="1308100" y="304800"/>
                </a:lnTo>
                <a:cubicBezTo>
                  <a:pt x="1308100" y="353886"/>
                  <a:pt x="1268286" y="393700"/>
                  <a:pt x="1219200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22000"/>
            </a:srgbClr>
          </a:solidFill>
          <a:ln w="6350" cap="rnd">
            <a:solidFill>
              <a:srgbClr val="FFFFFF">
                <a:alpha val="3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mod-t-03-2"/>
          <p:cNvSpPr txBox="1"/>
          <p:nvPr/>
        </p:nvSpPr>
        <p:spPr>
          <a:xfrm>
            <a:off x="5911374" y="300601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权限中心</a:t>
            </a:r>
          </a:p>
        </p:txBody>
      </p:sp>
      <p:sp>
        <p:nvSpPr>
          <p:cNvPr id="42" name="mod-03-3"/>
          <p:cNvSpPr/>
          <p:nvPr/>
        </p:nvSpPr>
        <p:spPr>
          <a:xfrm>
            <a:off x="6934200" y="2901950"/>
            <a:ext cx="1308100" cy="393700"/>
          </a:xfrm>
          <a:custGeom>
            <a:avLst/>
            <a:gdLst/>
            <a:ahLst/>
            <a:cxnLst/>
            <a:rect l="0" t="0" r="r" b="b"/>
            <a:pathLst>
              <a:path w="1308100" h="393700">
                <a:moveTo>
                  <a:pt x="88900" y="0"/>
                </a:moveTo>
                <a:lnTo>
                  <a:pt x="1219200" y="0"/>
                </a:lnTo>
                <a:cubicBezTo>
                  <a:pt x="1268286" y="0"/>
                  <a:pt x="1308100" y="39814"/>
                  <a:pt x="1308100" y="88900"/>
                </a:cubicBezTo>
                <a:lnTo>
                  <a:pt x="1308100" y="304800"/>
                </a:lnTo>
                <a:cubicBezTo>
                  <a:pt x="1308100" y="353886"/>
                  <a:pt x="1268286" y="393700"/>
                  <a:pt x="1219200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22000"/>
            </a:srgbClr>
          </a:solidFill>
          <a:ln w="6350" cap="rnd">
            <a:solidFill>
              <a:srgbClr val="FFFFFF">
                <a:alpha val="3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mod-t-03-3"/>
          <p:cNvSpPr txBox="1"/>
          <p:nvPr/>
        </p:nvSpPr>
        <p:spPr>
          <a:xfrm>
            <a:off x="7308374" y="300601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集成网关</a:t>
            </a:r>
          </a:p>
        </p:txBody>
      </p:sp>
      <p:sp>
        <p:nvSpPr>
          <p:cNvPr id="44" name="mod-03-4"/>
          <p:cNvSpPr/>
          <p:nvPr/>
        </p:nvSpPr>
        <p:spPr>
          <a:xfrm>
            <a:off x="8331200" y="2901950"/>
            <a:ext cx="1308100" cy="393700"/>
          </a:xfrm>
          <a:custGeom>
            <a:avLst/>
            <a:gdLst/>
            <a:ahLst/>
            <a:cxnLst/>
            <a:rect l="0" t="0" r="r" b="b"/>
            <a:pathLst>
              <a:path w="1308100" h="393700">
                <a:moveTo>
                  <a:pt x="88900" y="0"/>
                </a:moveTo>
                <a:lnTo>
                  <a:pt x="1219200" y="0"/>
                </a:lnTo>
                <a:cubicBezTo>
                  <a:pt x="1268286" y="0"/>
                  <a:pt x="1308100" y="39814"/>
                  <a:pt x="1308100" y="88900"/>
                </a:cubicBezTo>
                <a:lnTo>
                  <a:pt x="1308100" y="304800"/>
                </a:lnTo>
                <a:cubicBezTo>
                  <a:pt x="1308100" y="353886"/>
                  <a:pt x="1268286" y="393700"/>
                  <a:pt x="1219200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22000"/>
            </a:srgbClr>
          </a:solidFill>
          <a:ln w="6350" cap="rnd">
            <a:solidFill>
              <a:srgbClr val="FFFFFF">
                <a:alpha val="3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mod-t-03-4"/>
          <p:cNvSpPr txBox="1"/>
          <p:nvPr/>
        </p:nvSpPr>
        <p:spPr>
          <a:xfrm>
            <a:off x="8705374" y="300601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消息中枢</a:t>
            </a:r>
          </a:p>
        </p:txBody>
      </p:sp>
      <p:sp>
        <p:nvSpPr>
          <p:cNvPr id="46" name="mod-03-5"/>
          <p:cNvSpPr/>
          <p:nvPr/>
        </p:nvSpPr>
        <p:spPr>
          <a:xfrm>
            <a:off x="9728200" y="2901950"/>
            <a:ext cx="1308100" cy="393700"/>
          </a:xfrm>
          <a:custGeom>
            <a:avLst/>
            <a:gdLst/>
            <a:ahLst/>
            <a:cxnLst/>
            <a:rect l="0" t="0" r="r" b="b"/>
            <a:pathLst>
              <a:path w="1308100" h="393700">
                <a:moveTo>
                  <a:pt x="88900" y="0"/>
                </a:moveTo>
                <a:lnTo>
                  <a:pt x="1219200" y="0"/>
                </a:lnTo>
                <a:cubicBezTo>
                  <a:pt x="1268286" y="0"/>
                  <a:pt x="1308100" y="39814"/>
                  <a:pt x="1308100" y="88900"/>
                </a:cubicBezTo>
                <a:lnTo>
                  <a:pt x="1308100" y="304800"/>
                </a:lnTo>
                <a:cubicBezTo>
                  <a:pt x="1308100" y="353886"/>
                  <a:pt x="1268286" y="393700"/>
                  <a:pt x="1219200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22000"/>
            </a:srgbClr>
          </a:solidFill>
          <a:ln w="6350" cap="rnd">
            <a:solidFill>
              <a:srgbClr val="FFFFFF">
                <a:alpha val="3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mod-t-03-5"/>
          <p:cNvSpPr txBox="1"/>
          <p:nvPr/>
        </p:nvSpPr>
        <p:spPr>
          <a:xfrm>
            <a:off x="10044906" y="3006011"/>
            <a:ext cx="67468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低代码搭建</a:t>
            </a:r>
          </a:p>
        </p:txBody>
      </p:sp>
      <p:sp>
        <p:nvSpPr>
          <p:cNvPr id="48" name="layer-02"/>
          <p:cNvSpPr/>
          <p:nvPr/>
        </p:nvSpPr>
        <p:spPr>
          <a:xfrm>
            <a:off x="2667000" y="3797300"/>
            <a:ext cx="8572500" cy="927100"/>
          </a:xfrm>
          <a:custGeom>
            <a:avLst/>
            <a:gdLst/>
            <a:ahLst/>
            <a:cxnLst/>
            <a:rect l="0" t="0" r="r" b="b"/>
            <a:pathLst>
              <a:path w="8572500" h="927100">
                <a:moveTo>
                  <a:pt x="114300" y="0"/>
                </a:moveTo>
                <a:lnTo>
                  <a:pt x="8458200" y="0"/>
                </a:lnTo>
                <a:cubicBezTo>
                  <a:pt x="8521319" y="0"/>
                  <a:pt x="8572500" y="51181"/>
                  <a:pt x="8572500" y="114300"/>
                </a:cubicBezTo>
                <a:lnTo>
                  <a:pt x="8572500" y="812800"/>
                </a:lnTo>
                <a:cubicBezTo>
                  <a:pt x="8572500" y="875919"/>
                  <a:pt x="8521319" y="927100"/>
                  <a:pt x="8458200" y="927100"/>
                </a:cubicBezTo>
                <a:lnTo>
                  <a:pt x="114300" y="927100"/>
                </a:lnTo>
                <a:cubicBezTo>
                  <a:pt x="51181" y="927100"/>
                  <a:pt x="0" y="875919"/>
                  <a:pt x="0" y="8128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3B71B4"/>
              </a:gs>
              <a:gs pos="100000">
                <a:srgbClr val="1B5AA8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node-02"/>
          <p:cNvSpPr/>
          <p:nvPr/>
        </p:nvSpPr>
        <p:spPr>
          <a:xfrm>
            <a:off x="2305050" y="4216400"/>
            <a:ext cx="88900" cy="8890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node-r-02"/>
          <p:cNvSpPr/>
          <p:nvPr/>
        </p:nvSpPr>
        <p:spPr>
          <a:xfrm>
            <a:off x="2266950" y="4178300"/>
            <a:ext cx="165100" cy="165100"/>
          </a:xfrm>
          <a:prstGeom prst="ellipse">
            <a:avLst/>
          </a:prstGeom>
          <a:noFill/>
          <a:ln w="8255" cap="rnd">
            <a:solidFill>
              <a:srgbClr val="1B5AA8">
                <a:alpha val="32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num-02"/>
          <p:cNvSpPr txBox="1"/>
          <p:nvPr/>
        </p:nvSpPr>
        <p:spPr>
          <a:xfrm>
            <a:off x="922020" y="3959860"/>
            <a:ext cx="52578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 spc="50">
                <a:solidFill>
                  <a:srgbClr val="1B5AA8">
                    <a:alpha val="85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52" name="note-02"/>
          <p:cNvSpPr txBox="1"/>
          <p:nvPr/>
        </p:nvSpPr>
        <p:spPr>
          <a:xfrm>
            <a:off x="941070" y="4346416"/>
            <a:ext cx="11474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统一口径的数据资产底座</a:t>
            </a:r>
          </a:p>
        </p:txBody>
      </p:sp>
      <p:sp>
        <p:nvSpPr>
          <p:cNvPr id="53" name="cn-02"/>
          <p:cNvSpPr txBox="1"/>
          <p:nvPr/>
        </p:nvSpPr>
        <p:spPr>
          <a:xfrm>
            <a:off x="2899664" y="4015867"/>
            <a:ext cx="75057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数据层</a:t>
            </a:r>
          </a:p>
        </p:txBody>
      </p:sp>
      <p:sp>
        <p:nvSpPr>
          <p:cNvPr id="54" name="en-02"/>
          <p:cNvSpPr txBox="1"/>
          <p:nvPr/>
        </p:nvSpPr>
        <p:spPr>
          <a:xfrm>
            <a:off x="2910332" y="4328858"/>
            <a:ext cx="3553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FFFFFF">
                    <a:alpha val="65000"/>
                  </a:srgbClr>
                </a:solidFill>
                <a:latin typeface="Arial"/>
                <a:ea typeface="Arial"/>
                <a:cs typeface="Arial"/>
              </a:rPr>
              <a:t>DATA</a:t>
            </a:r>
          </a:p>
        </p:txBody>
      </p:sp>
      <p:sp>
        <p:nvSpPr>
          <p:cNvPr id="55" name="mod-02-1"/>
          <p:cNvSpPr/>
          <p:nvPr/>
        </p:nvSpPr>
        <p:spPr>
          <a:xfrm>
            <a:off x="4140200" y="4064000"/>
            <a:ext cx="1308100" cy="393700"/>
          </a:xfrm>
          <a:custGeom>
            <a:avLst/>
            <a:gdLst/>
            <a:ahLst/>
            <a:cxnLst/>
            <a:rect l="0" t="0" r="r" b="b"/>
            <a:pathLst>
              <a:path w="1308100" h="393700">
                <a:moveTo>
                  <a:pt x="88900" y="0"/>
                </a:moveTo>
                <a:lnTo>
                  <a:pt x="1219200" y="0"/>
                </a:lnTo>
                <a:cubicBezTo>
                  <a:pt x="1268286" y="0"/>
                  <a:pt x="1308100" y="39814"/>
                  <a:pt x="1308100" y="88900"/>
                </a:cubicBezTo>
                <a:lnTo>
                  <a:pt x="1308100" y="304800"/>
                </a:lnTo>
                <a:cubicBezTo>
                  <a:pt x="1308100" y="353886"/>
                  <a:pt x="1268286" y="393700"/>
                  <a:pt x="1219200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22000"/>
            </a:srgbClr>
          </a:solidFill>
          <a:ln w="6350" cap="rnd">
            <a:solidFill>
              <a:srgbClr val="FFFFFF">
                <a:alpha val="3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mod-t-02-1"/>
          <p:cNvSpPr txBox="1"/>
          <p:nvPr/>
        </p:nvSpPr>
        <p:spPr>
          <a:xfrm>
            <a:off x="4456906" y="4168061"/>
            <a:ext cx="67468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主数据管理</a:t>
            </a:r>
          </a:p>
        </p:txBody>
      </p:sp>
      <p:sp>
        <p:nvSpPr>
          <p:cNvPr id="57" name="mod-02-2"/>
          <p:cNvSpPr/>
          <p:nvPr/>
        </p:nvSpPr>
        <p:spPr>
          <a:xfrm>
            <a:off x="5537200" y="4064000"/>
            <a:ext cx="1308100" cy="393700"/>
          </a:xfrm>
          <a:custGeom>
            <a:avLst/>
            <a:gdLst/>
            <a:ahLst/>
            <a:cxnLst/>
            <a:rect l="0" t="0" r="r" b="b"/>
            <a:pathLst>
              <a:path w="1308100" h="393700">
                <a:moveTo>
                  <a:pt x="88900" y="0"/>
                </a:moveTo>
                <a:lnTo>
                  <a:pt x="1219200" y="0"/>
                </a:lnTo>
                <a:cubicBezTo>
                  <a:pt x="1268286" y="0"/>
                  <a:pt x="1308100" y="39814"/>
                  <a:pt x="1308100" y="88900"/>
                </a:cubicBezTo>
                <a:lnTo>
                  <a:pt x="1308100" y="304800"/>
                </a:lnTo>
                <a:cubicBezTo>
                  <a:pt x="1308100" y="353886"/>
                  <a:pt x="1268286" y="393700"/>
                  <a:pt x="1219200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22000"/>
            </a:srgbClr>
          </a:solidFill>
          <a:ln w="6350" cap="rnd">
            <a:solidFill>
              <a:srgbClr val="FFFFFF">
                <a:alpha val="3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mod-t-02-2"/>
          <p:cNvSpPr txBox="1"/>
          <p:nvPr/>
        </p:nvSpPr>
        <p:spPr>
          <a:xfrm>
            <a:off x="5911374" y="416806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数据仓库</a:t>
            </a:r>
          </a:p>
        </p:txBody>
      </p:sp>
      <p:sp>
        <p:nvSpPr>
          <p:cNvPr id="59" name="mod-02-3"/>
          <p:cNvSpPr/>
          <p:nvPr/>
        </p:nvSpPr>
        <p:spPr>
          <a:xfrm>
            <a:off x="6934200" y="4064000"/>
            <a:ext cx="1308100" cy="393700"/>
          </a:xfrm>
          <a:custGeom>
            <a:avLst/>
            <a:gdLst/>
            <a:ahLst/>
            <a:cxnLst/>
            <a:rect l="0" t="0" r="r" b="b"/>
            <a:pathLst>
              <a:path w="1308100" h="393700">
                <a:moveTo>
                  <a:pt x="88900" y="0"/>
                </a:moveTo>
                <a:lnTo>
                  <a:pt x="1219200" y="0"/>
                </a:lnTo>
                <a:cubicBezTo>
                  <a:pt x="1268286" y="0"/>
                  <a:pt x="1308100" y="39814"/>
                  <a:pt x="1308100" y="88900"/>
                </a:cubicBezTo>
                <a:lnTo>
                  <a:pt x="1308100" y="304800"/>
                </a:lnTo>
                <a:cubicBezTo>
                  <a:pt x="1308100" y="353886"/>
                  <a:pt x="1268286" y="393700"/>
                  <a:pt x="1219200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22000"/>
            </a:srgbClr>
          </a:solidFill>
          <a:ln w="6350" cap="rnd">
            <a:solidFill>
              <a:srgbClr val="FFFFFF">
                <a:alpha val="3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mod-t-02-3"/>
          <p:cNvSpPr txBox="1"/>
          <p:nvPr/>
        </p:nvSpPr>
        <p:spPr>
          <a:xfrm>
            <a:off x="7308374" y="416806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实时计算</a:t>
            </a:r>
          </a:p>
        </p:txBody>
      </p:sp>
      <p:sp>
        <p:nvSpPr>
          <p:cNvPr id="61" name="mod-02-4"/>
          <p:cNvSpPr/>
          <p:nvPr/>
        </p:nvSpPr>
        <p:spPr>
          <a:xfrm>
            <a:off x="8331200" y="4064000"/>
            <a:ext cx="1308100" cy="393700"/>
          </a:xfrm>
          <a:custGeom>
            <a:avLst/>
            <a:gdLst/>
            <a:ahLst/>
            <a:cxnLst/>
            <a:rect l="0" t="0" r="r" b="b"/>
            <a:pathLst>
              <a:path w="1308100" h="393700">
                <a:moveTo>
                  <a:pt x="88900" y="0"/>
                </a:moveTo>
                <a:lnTo>
                  <a:pt x="1219200" y="0"/>
                </a:lnTo>
                <a:cubicBezTo>
                  <a:pt x="1268286" y="0"/>
                  <a:pt x="1308100" y="39814"/>
                  <a:pt x="1308100" y="88900"/>
                </a:cubicBezTo>
                <a:lnTo>
                  <a:pt x="1308100" y="304800"/>
                </a:lnTo>
                <a:cubicBezTo>
                  <a:pt x="1308100" y="353886"/>
                  <a:pt x="1268286" y="393700"/>
                  <a:pt x="1219200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22000"/>
            </a:srgbClr>
          </a:solidFill>
          <a:ln w="6350" cap="rnd">
            <a:solidFill>
              <a:srgbClr val="FFFFFF">
                <a:alpha val="3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mod-t-02-4"/>
          <p:cNvSpPr txBox="1"/>
          <p:nvPr/>
        </p:nvSpPr>
        <p:spPr>
          <a:xfrm>
            <a:off x="8705374" y="416806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数据治理</a:t>
            </a:r>
          </a:p>
        </p:txBody>
      </p:sp>
      <p:sp>
        <p:nvSpPr>
          <p:cNvPr id="63" name="mod-02-5"/>
          <p:cNvSpPr/>
          <p:nvPr/>
        </p:nvSpPr>
        <p:spPr>
          <a:xfrm>
            <a:off x="9728200" y="4064000"/>
            <a:ext cx="1308100" cy="393700"/>
          </a:xfrm>
          <a:custGeom>
            <a:avLst/>
            <a:gdLst/>
            <a:ahLst/>
            <a:cxnLst/>
            <a:rect l="0" t="0" r="r" b="b"/>
            <a:pathLst>
              <a:path w="1308100" h="393700">
                <a:moveTo>
                  <a:pt x="88900" y="0"/>
                </a:moveTo>
                <a:lnTo>
                  <a:pt x="1219200" y="0"/>
                </a:lnTo>
                <a:cubicBezTo>
                  <a:pt x="1268286" y="0"/>
                  <a:pt x="1308100" y="39814"/>
                  <a:pt x="1308100" y="88900"/>
                </a:cubicBezTo>
                <a:lnTo>
                  <a:pt x="1308100" y="304800"/>
                </a:lnTo>
                <a:cubicBezTo>
                  <a:pt x="1308100" y="353886"/>
                  <a:pt x="1268286" y="393700"/>
                  <a:pt x="1219200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22000"/>
            </a:srgbClr>
          </a:solidFill>
          <a:ln w="6350" cap="rnd">
            <a:solidFill>
              <a:srgbClr val="FFFFFF">
                <a:alpha val="3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mod-t-02-5"/>
          <p:cNvSpPr txBox="1"/>
          <p:nvPr/>
        </p:nvSpPr>
        <p:spPr>
          <a:xfrm>
            <a:off x="10102374" y="416806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指标体系</a:t>
            </a:r>
          </a:p>
        </p:txBody>
      </p:sp>
      <p:sp>
        <p:nvSpPr>
          <p:cNvPr id="65" name="layer-01"/>
          <p:cNvSpPr/>
          <p:nvPr/>
        </p:nvSpPr>
        <p:spPr>
          <a:xfrm>
            <a:off x="2667000" y="4889500"/>
            <a:ext cx="8572500" cy="812800"/>
          </a:xfrm>
          <a:custGeom>
            <a:avLst/>
            <a:gdLst/>
            <a:ahLst/>
            <a:cxnLst/>
            <a:rect l="0" t="0" r="r" b="b"/>
            <a:pathLst>
              <a:path w="8572500" h="812800">
                <a:moveTo>
                  <a:pt x="114300" y="0"/>
                </a:moveTo>
                <a:lnTo>
                  <a:pt x="8458200" y="0"/>
                </a:lnTo>
                <a:cubicBezTo>
                  <a:pt x="8521319" y="0"/>
                  <a:pt x="8572500" y="51181"/>
                  <a:pt x="8572500" y="114300"/>
                </a:cubicBezTo>
                <a:lnTo>
                  <a:pt x="8572500" y="698500"/>
                </a:lnTo>
                <a:cubicBezTo>
                  <a:pt x="8572500" y="761619"/>
                  <a:pt x="8521319" y="812800"/>
                  <a:pt x="8458200" y="812800"/>
                </a:cubicBezTo>
                <a:lnTo>
                  <a:pt x="114300" y="812800"/>
                </a:lnTo>
                <a:cubicBezTo>
                  <a:pt x="51181" y="812800"/>
                  <a:pt x="0" y="761619"/>
                  <a:pt x="0" y="698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2D599F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node-01"/>
          <p:cNvSpPr/>
          <p:nvPr/>
        </p:nvSpPr>
        <p:spPr>
          <a:xfrm>
            <a:off x="2305050" y="5251450"/>
            <a:ext cx="88900" cy="889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node-r-01"/>
          <p:cNvSpPr/>
          <p:nvPr/>
        </p:nvSpPr>
        <p:spPr>
          <a:xfrm>
            <a:off x="2266950" y="5213350"/>
            <a:ext cx="165100" cy="165100"/>
          </a:xfrm>
          <a:prstGeom prst="ellipse">
            <a:avLst/>
          </a:prstGeom>
          <a:noFill/>
          <a:ln w="8255" cap="rnd">
            <a:solidFill>
              <a:srgbClr val="0B3E8F">
                <a:alpha val="32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num-01"/>
          <p:cNvSpPr txBox="1"/>
          <p:nvPr/>
        </p:nvSpPr>
        <p:spPr>
          <a:xfrm>
            <a:off x="922020" y="4994910"/>
            <a:ext cx="52578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 spc="50">
                <a:solidFill>
                  <a:srgbClr val="0B3E8F">
                    <a:alpha val="85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69" name="note-01"/>
          <p:cNvSpPr txBox="1"/>
          <p:nvPr/>
        </p:nvSpPr>
        <p:spPr>
          <a:xfrm>
            <a:off x="941070" y="5381466"/>
            <a:ext cx="954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稳定弹性的运行环境</a:t>
            </a:r>
          </a:p>
        </p:txBody>
      </p:sp>
      <p:sp>
        <p:nvSpPr>
          <p:cNvPr id="70" name="cn-01"/>
          <p:cNvSpPr txBox="1"/>
          <p:nvPr/>
        </p:nvSpPr>
        <p:spPr>
          <a:xfrm>
            <a:off x="2899664" y="5050917"/>
            <a:ext cx="75057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基础层</a:t>
            </a:r>
          </a:p>
        </p:txBody>
      </p:sp>
      <p:sp>
        <p:nvSpPr>
          <p:cNvPr id="71" name="en-01"/>
          <p:cNvSpPr txBox="1"/>
          <p:nvPr/>
        </p:nvSpPr>
        <p:spPr>
          <a:xfrm>
            <a:off x="2910332" y="5363908"/>
            <a:ext cx="104368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FFFFFF">
                    <a:alpha val="65000"/>
                  </a:srgbClr>
                </a:solidFill>
                <a:latin typeface="Arial"/>
                <a:ea typeface="Arial"/>
                <a:cs typeface="Arial"/>
              </a:rPr>
              <a:t>INFRASTRUCTURE</a:t>
            </a:r>
          </a:p>
        </p:txBody>
      </p:sp>
      <p:sp>
        <p:nvSpPr>
          <p:cNvPr id="72" name="mod-01-1"/>
          <p:cNvSpPr/>
          <p:nvPr/>
        </p:nvSpPr>
        <p:spPr>
          <a:xfrm>
            <a:off x="4140200" y="5099050"/>
            <a:ext cx="1657350" cy="393700"/>
          </a:xfrm>
          <a:custGeom>
            <a:avLst/>
            <a:gdLst/>
            <a:ahLst/>
            <a:cxnLst/>
            <a:rect l="0" t="0" r="r" b="b"/>
            <a:pathLst>
              <a:path w="1657350" h="393700">
                <a:moveTo>
                  <a:pt x="88900" y="0"/>
                </a:moveTo>
                <a:lnTo>
                  <a:pt x="1568450" y="0"/>
                </a:lnTo>
                <a:cubicBezTo>
                  <a:pt x="1617536" y="0"/>
                  <a:pt x="1657350" y="39814"/>
                  <a:pt x="1657350" y="88900"/>
                </a:cubicBezTo>
                <a:lnTo>
                  <a:pt x="1657350" y="304800"/>
                </a:lnTo>
                <a:cubicBezTo>
                  <a:pt x="1657350" y="353886"/>
                  <a:pt x="1617536" y="393700"/>
                  <a:pt x="1568450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22000"/>
            </a:srgbClr>
          </a:solidFill>
          <a:ln w="6350" cap="rnd">
            <a:solidFill>
              <a:srgbClr val="FFFFFF">
                <a:alpha val="3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mod-t-01-1"/>
          <p:cNvSpPr txBox="1"/>
          <p:nvPr/>
        </p:nvSpPr>
        <p:spPr>
          <a:xfrm>
            <a:off x="4746466" y="5203111"/>
            <a:ext cx="44481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云主机</a:t>
            </a:r>
          </a:p>
        </p:txBody>
      </p:sp>
      <p:sp>
        <p:nvSpPr>
          <p:cNvPr id="74" name="mod-01-2"/>
          <p:cNvSpPr/>
          <p:nvPr/>
        </p:nvSpPr>
        <p:spPr>
          <a:xfrm>
            <a:off x="5886450" y="5099050"/>
            <a:ext cx="1657350" cy="393700"/>
          </a:xfrm>
          <a:custGeom>
            <a:avLst/>
            <a:gdLst/>
            <a:ahLst/>
            <a:cxnLst/>
            <a:rect l="0" t="0" r="r" b="b"/>
            <a:pathLst>
              <a:path w="1657350" h="393700">
                <a:moveTo>
                  <a:pt x="88900" y="0"/>
                </a:moveTo>
                <a:lnTo>
                  <a:pt x="1568450" y="0"/>
                </a:lnTo>
                <a:cubicBezTo>
                  <a:pt x="1617536" y="0"/>
                  <a:pt x="1657350" y="39814"/>
                  <a:pt x="1657350" y="88900"/>
                </a:cubicBezTo>
                <a:lnTo>
                  <a:pt x="1657350" y="304800"/>
                </a:lnTo>
                <a:cubicBezTo>
                  <a:pt x="1657350" y="353886"/>
                  <a:pt x="1617536" y="393700"/>
                  <a:pt x="1568450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22000"/>
            </a:srgbClr>
          </a:solidFill>
          <a:ln w="6350" cap="rnd">
            <a:solidFill>
              <a:srgbClr val="FFFFFF">
                <a:alpha val="3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mod-t-01-2"/>
          <p:cNvSpPr txBox="1"/>
          <p:nvPr/>
        </p:nvSpPr>
        <p:spPr>
          <a:xfrm>
            <a:off x="6435249" y="520311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容器集群</a:t>
            </a:r>
          </a:p>
        </p:txBody>
      </p:sp>
      <p:sp>
        <p:nvSpPr>
          <p:cNvPr id="76" name="mod-01-3"/>
          <p:cNvSpPr/>
          <p:nvPr/>
        </p:nvSpPr>
        <p:spPr>
          <a:xfrm>
            <a:off x="7632700" y="5099050"/>
            <a:ext cx="1657350" cy="393700"/>
          </a:xfrm>
          <a:custGeom>
            <a:avLst/>
            <a:gdLst/>
            <a:ahLst/>
            <a:cxnLst/>
            <a:rect l="0" t="0" r="r" b="b"/>
            <a:pathLst>
              <a:path w="1657350" h="393700">
                <a:moveTo>
                  <a:pt x="88900" y="0"/>
                </a:moveTo>
                <a:lnTo>
                  <a:pt x="1568450" y="0"/>
                </a:lnTo>
                <a:cubicBezTo>
                  <a:pt x="1617536" y="0"/>
                  <a:pt x="1657350" y="39814"/>
                  <a:pt x="1657350" y="88900"/>
                </a:cubicBezTo>
                <a:lnTo>
                  <a:pt x="1657350" y="304800"/>
                </a:lnTo>
                <a:cubicBezTo>
                  <a:pt x="1657350" y="353886"/>
                  <a:pt x="1617536" y="393700"/>
                  <a:pt x="1568450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22000"/>
            </a:srgbClr>
          </a:solidFill>
          <a:ln w="6350" cap="rnd">
            <a:solidFill>
              <a:srgbClr val="FFFFFF">
                <a:alpha val="3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mod-t-01-3"/>
          <p:cNvSpPr txBox="1"/>
          <p:nvPr/>
        </p:nvSpPr>
        <p:spPr>
          <a:xfrm>
            <a:off x="8181499" y="520311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安全合规</a:t>
            </a:r>
          </a:p>
        </p:txBody>
      </p:sp>
      <p:sp>
        <p:nvSpPr>
          <p:cNvPr id="78" name="mod-01-4"/>
          <p:cNvSpPr/>
          <p:nvPr/>
        </p:nvSpPr>
        <p:spPr>
          <a:xfrm>
            <a:off x="9378950" y="5099050"/>
            <a:ext cx="1657350" cy="393700"/>
          </a:xfrm>
          <a:custGeom>
            <a:avLst/>
            <a:gdLst/>
            <a:ahLst/>
            <a:cxnLst/>
            <a:rect l="0" t="0" r="r" b="b"/>
            <a:pathLst>
              <a:path w="1657350" h="393700">
                <a:moveTo>
                  <a:pt x="88900" y="0"/>
                </a:moveTo>
                <a:lnTo>
                  <a:pt x="1568450" y="0"/>
                </a:lnTo>
                <a:cubicBezTo>
                  <a:pt x="1617536" y="0"/>
                  <a:pt x="1657350" y="39814"/>
                  <a:pt x="1657350" y="88900"/>
                </a:cubicBezTo>
                <a:lnTo>
                  <a:pt x="1657350" y="304800"/>
                </a:lnTo>
                <a:cubicBezTo>
                  <a:pt x="1657350" y="353886"/>
                  <a:pt x="1617536" y="393700"/>
                  <a:pt x="1568450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22000"/>
            </a:srgbClr>
          </a:solidFill>
          <a:ln w="6350" cap="rnd">
            <a:solidFill>
              <a:srgbClr val="FFFFFF">
                <a:alpha val="3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mod-t-01-4"/>
          <p:cNvSpPr txBox="1"/>
          <p:nvPr/>
        </p:nvSpPr>
        <p:spPr>
          <a:xfrm>
            <a:off x="9927749" y="520311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运维监控</a:t>
            </a:r>
          </a:p>
        </p:txBody>
      </p:sp>
      <p:sp>
        <p:nvSpPr>
          <p:cNvPr id="80" name="base-bar"/>
          <p:cNvSpPr/>
          <p:nvPr/>
        </p:nvSpPr>
        <p:spPr>
          <a:xfrm>
            <a:off x="2667000" y="5867400"/>
            <a:ext cx="8572500" cy="393700"/>
          </a:xfrm>
          <a:custGeom>
            <a:avLst/>
            <a:gdLst/>
            <a:ahLst/>
            <a:cxnLst/>
            <a:rect l="0" t="0" r="r" b="b"/>
            <a:pathLst>
              <a:path w="8572500" h="393700">
                <a:moveTo>
                  <a:pt x="88900" y="0"/>
                </a:moveTo>
                <a:lnTo>
                  <a:pt x="8483600" y="0"/>
                </a:lnTo>
                <a:cubicBezTo>
                  <a:pt x="8532686" y="0"/>
                  <a:pt x="8572500" y="39814"/>
                  <a:pt x="8572500" y="88900"/>
                </a:cubicBezTo>
                <a:lnTo>
                  <a:pt x="8572500" y="304800"/>
                </a:lnTo>
                <a:cubicBezTo>
                  <a:pt x="8572500" y="353886"/>
                  <a:pt x="8532686" y="393700"/>
                  <a:pt x="8483600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E6ED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icon-shield"/>
          <p:cNvSpPr/>
          <p:nvPr/>
        </p:nvSpPr>
        <p:spPr>
          <a:xfrm>
            <a:off x="2938780" y="6009640"/>
            <a:ext cx="91440" cy="109220"/>
          </a:xfrm>
          <a:custGeom>
            <a:avLst/>
            <a:gdLst/>
            <a:ahLst/>
            <a:cxnLst/>
            <a:rect l="0" t="0" r="r" b="b"/>
            <a:pathLst>
              <a:path w="91440" h="109220">
                <a:moveTo>
                  <a:pt x="45720" y="0"/>
                </a:moveTo>
                <a:lnTo>
                  <a:pt x="91440" y="17780"/>
                </a:lnTo>
                <a:lnTo>
                  <a:pt x="91440" y="53340"/>
                </a:lnTo>
                <a:cubicBezTo>
                  <a:pt x="91440" y="80010"/>
                  <a:pt x="72390" y="100330"/>
                  <a:pt x="45720" y="109220"/>
                </a:cubicBezTo>
                <a:cubicBezTo>
                  <a:pt x="19050" y="100330"/>
                  <a:pt x="0" y="80010"/>
                  <a:pt x="0" y="53340"/>
                </a:cubicBezTo>
                <a:lnTo>
                  <a:pt x="0" y="17780"/>
                </a:lnTo>
                <a:close/>
                <a:moveTo>
                  <a:pt x="26670" y="54610"/>
                </a:moveTo>
                <a:lnTo>
                  <a:pt x="40640" y="68580"/>
                </a:lnTo>
                <a:lnTo>
                  <a:pt x="67310" y="41910"/>
                </a:lnTo>
              </a:path>
            </a:pathLst>
          </a:custGeom>
          <a:noFill/>
          <a:ln w="1143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base-t-1"/>
          <p:cNvSpPr txBox="1"/>
          <p:nvPr/>
        </p:nvSpPr>
        <p:spPr>
          <a:xfrm>
            <a:off x="3124327" y="5979303"/>
            <a:ext cx="74199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统一安全策略</a:t>
            </a:r>
          </a:p>
        </p:txBody>
      </p:sp>
      <p:sp>
        <p:nvSpPr>
          <p:cNvPr id="83" name="icon-gear"/>
          <p:cNvSpPr/>
          <p:nvPr/>
        </p:nvSpPr>
        <p:spPr>
          <a:xfrm>
            <a:off x="5045075" y="6005830"/>
            <a:ext cx="95250" cy="116840"/>
          </a:xfrm>
          <a:custGeom>
            <a:avLst/>
            <a:gdLst/>
            <a:ahLst/>
            <a:cxnLst/>
            <a:rect l="0" t="0" r="r" b="b"/>
            <a:pathLst>
              <a:path w="95250" h="116840">
                <a:moveTo>
                  <a:pt x="47625" y="36830"/>
                </a:moveTo>
                <a:cubicBezTo>
                  <a:pt x="39941" y="36830"/>
                  <a:pt x="32766" y="40958"/>
                  <a:pt x="28956" y="47625"/>
                </a:cubicBezTo>
                <a:cubicBezTo>
                  <a:pt x="25083" y="54293"/>
                  <a:pt x="25083" y="62548"/>
                  <a:pt x="28956" y="69215"/>
                </a:cubicBezTo>
                <a:cubicBezTo>
                  <a:pt x="32766" y="75883"/>
                  <a:pt x="39941" y="80010"/>
                  <a:pt x="47625" y="80010"/>
                </a:cubicBezTo>
                <a:cubicBezTo>
                  <a:pt x="59563" y="80010"/>
                  <a:pt x="69215" y="70358"/>
                  <a:pt x="69215" y="58420"/>
                </a:cubicBezTo>
                <a:cubicBezTo>
                  <a:pt x="69215" y="46482"/>
                  <a:pt x="59563" y="36830"/>
                  <a:pt x="47625" y="36830"/>
                </a:cubicBezTo>
                <a:close/>
                <a:moveTo>
                  <a:pt x="47625" y="0"/>
                </a:moveTo>
                <a:lnTo>
                  <a:pt x="54610" y="16510"/>
                </a:lnTo>
                <a:lnTo>
                  <a:pt x="72390" y="12700"/>
                </a:lnTo>
                <a:lnTo>
                  <a:pt x="78740" y="29845"/>
                </a:lnTo>
                <a:lnTo>
                  <a:pt x="95250" y="36830"/>
                </a:lnTo>
                <a:lnTo>
                  <a:pt x="87630" y="53340"/>
                </a:lnTo>
                <a:lnTo>
                  <a:pt x="95250" y="69850"/>
                </a:lnTo>
                <a:lnTo>
                  <a:pt x="78740" y="76835"/>
                </a:lnTo>
                <a:lnTo>
                  <a:pt x="72390" y="93980"/>
                </a:lnTo>
                <a:lnTo>
                  <a:pt x="54610" y="90170"/>
                </a:lnTo>
                <a:lnTo>
                  <a:pt x="47625" y="116840"/>
                </a:lnTo>
                <a:lnTo>
                  <a:pt x="40640" y="100330"/>
                </a:lnTo>
                <a:lnTo>
                  <a:pt x="22860" y="104140"/>
                </a:lnTo>
                <a:lnTo>
                  <a:pt x="16510" y="86995"/>
                </a:lnTo>
                <a:lnTo>
                  <a:pt x="0" y="80010"/>
                </a:lnTo>
                <a:lnTo>
                  <a:pt x="7620" y="58420"/>
                </a:lnTo>
                <a:lnTo>
                  <a:pt x="0" y="41910"/>
                </a:lnTo>
                <a:lnTo>
                  <a:pt x="16510" y="34925"/>
                </a:lnTo>
                <a:lnTo>
                  <a:pt x="22860" y="17780"/>
                </a:lnTo>
                <a:lnTo>
                  <a:pt x="40640" y="21590"/>
                </a:lnTo>
                <a:close/>
              </a:path>
            </a:pathLst>
          </a:custGeom>
          <a:noFill/>
          <a:ln w="1143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base-t-2"/>
          <p:cNvSpPr txBox="1"/>
          <p:nvPr/>
        </p:nvSpPr>
        <p:spPr>
          <a:xfrm>
            <a:off x="5232527" y="5979303"/>
            <a:ext cx="63404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标准化运维</a:t>
            </a:r>
          </a:p>
        </p:txBody>
      </p:sp>
      <p:sp>
        <p:nvSpPr>
          <p:cNvPr id="85" name="icon-lock"/>
          <p:cNvSpPr/>
          <p:nvPr/>
        </p:nvSpPr>
        <p:spPr>
          <a:xfrm>
            <a:off x="7162800" y="6015990"/>
            <a:ext cx="76200" cy="101600"/>
          </a:xfrm>
          <a:custGeom>
            <a:avLst/>
            <a:gdLst/>
            <a:ahLst/>
            <a:cxnLst/>
            <a:rect l="0" t="0" r="r" b="b"/>
            <a:pathLst>
              <a:path w="76200" h="101600">
                <a:moveTo>
                  <a:pt x="8890" y="39370"/>
                </a:moveTo>
                <a:lnTo>
                  <a:pt x="67310" y="39370"/>
                </a:lnTo>
                <a:cubicBezTo>
                  <a:pt x="72199" y="39370"/>
                  <a:pt x="76200" y="43371"/>
                  <a:pt x="76200" y="48260"/>
                </a:cubicBezTo>
                <a:lnTo>
                  <a:pt x="76200" y="92710"/>
                </a:lnTo>
                <a:cubicBezTo>
                  <a:pt x="76200" y="97600"/>
                  <a:pt x="72199" y="101600"/>
                  <a:pt x="67310" y="101600"/>
                </a:cubicBezTo>
                <a:lnTo>
                  <a:pt x="8890" y="101600"/>
                </a:lnTo>
                <a:cubicBezTo>
                  <a:pt x="4001" y="101600"/>
                  <a:pt x="0" y="97600"/>
                  <a:pt x="0" y="92710"/>
                </a:cubicBezTo>
                <a:lnTo>
                  <a:pt x="0" y="48260"/>
                </a:lnTo>
                <a:cubicBezTo>
                  <a:pt x="0" y="45911"/>
                  <a:pt x="953" y="43625"/>
                  <a:pt x="2604" y="41974"/>
                </a:cubicBezTo>
                <a:cubicBezTo>
                  <a:pt x="4255" y="40323"/>
                  <a:pt x="6540" y="39370"/>
                  <a:pt x="8890" y="39370"/>
                </a:cubicBezTo>
                <a:close/>
                <a:moveTo>
                  <a:pt x="17780" y="39370"/>
                </a:moveTo>
                <a:lnTo>
                  <a:pt x="17780" y="20320"/>
                </a:lnTo>
                <a:cubicBezTo>
                  <a:pt x="17780" y="9081"/>
                  <a:pt x="26861" y="0"/>
                  <a:pt x="38100" y="0"/>
                </a:cubicBezTo>
                <a:cubicBezTo>
                  <a:pt x="49339" y="0"/>
                  <a:pt x="58420" y="9081"/>
                  <a:pt x="58420" y="20320"/>
                </a:cubicBezTo>
                <a:lnTo>
                  <a:pt x="58420" y="39370"/>
                </a:lnTo>
              </a:path>
            </a:pathLst>
          </a:custGeom>
          <a:noFill/>
          <a:ln w="1143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base-t-3"/>
          <p:cNvSpPr txBox="1"/>
          <p:nvPr/>
        </p:nvSpPr>
        <p:spPr>
          <a:xfrm>
            <a:off x="7340727" y="5979303"/>
            <a:ext cx="74199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分级权限管控</a:t>
            </a:r>
          </a:p>
        </p:txBody>
      </p:sp>
      <p:sp>
        <p:nvSpPr>
          <p:cNvPr id="87" name="icon-clock"/>
          <p:cNvSpPr/>
          <p:nvPr/>
        </p:nvSpPr>
        <p:spPr>
          <a:xfrm>
            <a:off x="9309100" y="6033770"/>
            <a:ext cx="20320" cy="42545"/>
          </a:xfrm>
          <a:custGeom>
            <a:avLst/>
            <a:gdLst/>
            <a:ahLst/>
            <a:cxnLst/>
            <a:rect l="0" t="0" r="r" b="b"/>
            <a:pathLst>
              <a:path w="20320" h="42545">
                <a:moveTo>
                  <a:pt x="0" y="0"/>
                </a:moveTo>
                <a:lnTo>
                  <a:pt x="0" y="30480"/>
                </a:lnTo>
                <a:lnTo>
                  <a:pt x="20320" y="42545"/>
                </a:lnTo>
              </a:path>
            </a:pathLst>
          </a:custGeom>
          <a:noFill/>
          <a:ln w="1143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icon-clock"/>
          <p:cNvSpPr/>
          <p:nvPr/>
        </p:nvSpPr>
        <p:spPr>
          <a:xfrm>
            <a:off x="9254490" y="6009640"/>
            <a:ext cx="109220" cy="109220"/>
          </a:xfrm>
          <a:prstGeom prst="ellipse">
            <a:avLst/>
          </a:prstGeom>
          <a:noFill/>
          <a:ln w="1143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base-t-4"/>
          <p:cNvSpPr txBox="1"/>
          <p:nvPr/>
        </p:nvSpPr>
        <p:spPr>
          <a:xfrm>
            <a:off x="9448927" y="5979303"/>
            <a:ext cx="835343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7×24 监控值守</a:t>
            </a:r>
          </a:p>
        </p:txBody>
      </p:sp>
      <p:cxnSp>
        <p:nvCxnSpPr>
          <p:cNvPr id="90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总体架构 · 四层支撑</a:t>
            </a:r>
          </a:p>
        </p:txBody>
      </p:sp>
      <p:sp>
        <p:nvSpPr>
          <p:cNvPr id="92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六大核心能力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62801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CORE CAPABILITIES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123299" y="673132"/>
            <a:ext cx="24974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以中台能力为核心，六大板块协同支撑业务增长</a:t>
            </a:r>
          </a:p>
        </p:txBody>
      </p:sp>
      <p:sp>
        <p:nvSpPr>
          <p:cNvPr id="10" name="hex-ghost"/>
          <p:cNvSpPr/>
          <p:nvPr/>
        </p:nvSpPr>
        <p:spPr>
          <a:xfrm>
            <a:off x="7367397" y="1719262"/>
            <a:ext cx="1476756" cy="1657604"/>
          </a:xfrm>
          <a:custGeom>
            <a:avLst/>
            <a:gdLst/>
            <a:ahLst/>
            <a:cxnLst/>
            <a:rect l="0" t="0" r="r" b="b"/>
            <a:pathLst>
              <a:path w="1476756" h="1657604">
                <a:moveTo>
                  <a:pt x="1476756" y="1159827"/>
                </a:moveTo>
                <a:quadBezTo>
                  <a:pt x="1476756" y="1255077"/>
                  <a:pt x="1394269" y="1302702"/>
                </a:quadBezTo>
                <a:lnTo>
                  <a:pt x="820864" y="1633791"/>
                </a:lnTo>
                <a:quadBezTo>
                  <a:pt x="738378" y="1681416"/>
                  <a:pt x="655891" y="1633791"/>
                </a:quadBezTo>
                <a:lnTo>
                  <a:pt x="82487" y="1302702"/>
                </a:lnTo>
                <a:quadBezTo>
                  <a:pt x="0" y="1255077"/>
                  <a:pt x="0" y="1159827"/>
                </a:quadBezTo>
                <a:lnTo>
                  <a:pt x="0" y="497776"/>
                </a:lnTo>
                <a:quadBezTo>
                  <a:pt x="0" y="402526"/>
                  <a:pt x="82487" y="354901"/>
                </a:quadBezTo>
                <a:lnTo>
                  <a:pt x="655891" y="23812"/>
                </a:lnTo>
                <a:quadBezTo>
                  <a:pt x="738378" y="-23812"/>
                  <a:pt x="820864" y="23812"/>
                </a:quadBezTo>
                <a:lnTo>
                  <a:pt x="1394269" y="354901"/>
                </a:lnTo>
                <a:quadBezTo>
                  <a:pt x="1476756" y="402526"/>
                  <a:pt x="1476756" y="497776"/>
                </a:quadBezTo>
                <a:close/>
              </a:path>
            </a:pathLst>
          </a:custGeom>
          <a:solidFill>
            <a:srgbClr val="1B5AA8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hex-ghost"/>
          <p:cNvSpPr/>
          <p:nvPr/>
        </p:nvSpPr>
        <p:spPr>
          <a:xfrm>
            <a:off x="7367397" y="4039934"/>
            <a:ext cx="1476756" cy="1657604"/>
          </a:xfrm>
          <a:custGeom>
            <a:avLst/>
            <a:gdLst/>
            <a:ahLst/>
            <a:cxnLst/>
            <a:rect l="0" t="0" r="r" b="b"/>
            <a:pathLst>
              <a:path w="1476756" h="1657604">
                <a:moveTo>
                  <a:pt x="1476756" y="1159827"/>
                </a:moveTo>
                <a:quadBezTo>
                  <a:pt x="1476756" y="1255077"/>
                  <a:pt x="1394269" y="1302702"/>
                </a:quadBezTo>
                <a:lnTo>
                  <a:pt x="820864" y="1633791"/>
                </a:lnTo>
                <a:quadBezTo>
                  <a:pt x="738378" y="1681416"/>
                  <a:pt x="655891" y="1633791"/>
                </a:quadBezTo>
                <a:lnTo>
                  <a:pt x="82487" y="1302702"/>
                </a:lnTo>
                <a:quadBezTo>
                  <a:pt x="0" y="1255077"/>
                  <a:pt x="0" y="1159827"/>
                </a:quadBezTo>
                <a:lnTo>
                  <a:pt x="0" y="497776"/>
                </a:lnTo>
                <a:quadBezTo>
                  <a:pt x="0" y="402526"/>
                  <a:pt x="82487" y="354901"/>
                </a:quadBezTo>
                <a:lnTo>
                  <a:pt x="655891" y="23812"/>
                </a:lnTo>
                <a:quadBezTo>
                  <a:pt x="738378" y="-23812"/>
                  <a:pt x="820864" y="23812"/>
                </a:quadBezTo>
                <a:lnTo>
                  <a:pt x="1394269" y="354901"/>
                </a:lnTo>
                <a:quadBezTo>
                  <a:pt x="1476756" y="402526"/>
                  <a:pt x="1476756" y="497776"/>
                </a:quadBezTo>
                <a:close/>
              </a:path>
            </a:pathLst>
          </a:custGeom>
          <a:solidFill>
            <a:srgbClr val="1B5AA8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hex-ghost"/>
          <p:cNvSpPr/>
          <p:nvPr/>
        </p:nvSpPr>
        <p:spPr>
          <a:xfrm>
            <a:off x="5357622" y="5200332"/>
            <a:ext cx="1476756" cy="1657540"/>
          </a:xfrm>
          <a:custGeom>
            <a:avLst/>
            <a:gdLst/>
            <a:ahLst/>
            <a:cxnLst/>
            <a:rect l="0" t="0" r="r" b="b"/>
            <a:pathLst>
              <a:path w="1476756" h="1657540">
                <a:moveTo>
                  <a:pt x="1476756" y="1159827"/>
                </a:moveTo>
                <a:quadBezTo>
                  <a:pt x="1476756" y="1255077"/>
                  <a:pt x="1394269" y="1302702"/>
                </a:quadBezTo>
                <a:lnTo>
                  <a:pt x="820864" y="1633728"/>
                </a:lnTo>
                <a:quadBezTo>
                  <a:pt x="738378" y="1681353"/>
                  <a:pt x="655891" y="1633728"/>
                </a:quadBezTo>
                <a:lnTo>
                  <a:pt x="82487" y="1302702"/>
                </a:lnTo>
                <a:quadBezTo>
                  <a:pt x="0" y="1255077"/>
                  <a:pt x="0" y="1159827"/>
                </a:quadBezTo>
                <a:lnTo>
                  <a:pt x="0" y="497713"/>
                </a:lnTo>
                <a:quadBezTo>
                  <a:pt x="0" y="402463"/>
                  <a:pt x="82487" y="354838"/>
                </a:quadBezTo>
                <a:lnTo>
                  <a:pt x="655891" y="23812"/>
                </a:lnTo>
                <a:quadBezTo>
                  <a:pt x="738378" y="-23812"/>
                  <a:pt x="820864" y="23812"/>
                </a:quadBezTo>
                <a:lnTo>
                  <a:pt x="1394269" y="354838"/>
                </a:lnTo>
                <a:quadBezTo>
                  <a:pt x="1476756" y="402463"/>
                  <a:pt x="1476756" y="497713"/>
                </a:quadBezTo>
                <a:close/>
              </a:path>
            </a:pathLst>
          </a:custGeom>
          <a:solidFill>
            <a:srgbClr val="1B5AA8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hex-ghost"/>
          <p:cNvSpPr/>
          <p:nvPr/>
        </p:nvSpPr>
        <p:spPr>
          <a:xfrm>
            <a:off x="3347847" y="4039934"/>
            <a:ext cx="1476756" cy="1657604"/>
          </a:xfrm>
          <a:custGeom>
            <a:avLst/>
            <a:gdLst/>
            <a:ahLst/>
            <a:cxnLst/>
            <a:rect l="0" t="0" r="r" b="b"/>
            <a:pathLst>
              <a:path w="1476756" h="1657604">
                <a:moveTo>
                  <a:pt x="1476756" y="1159827"/>
                </a:moveTo>
                <a:quadBezTo>
                  <a:pt x="1476756" y="1255077"/>
                  <a:pt x="1394269" y="1302702"/>
                </a:quadBezTo>
                <a:lnTo>
                  <a:pt x="820864" y="1633791"/>
                </a:lnTo>
                <a:quadBezTo>
                  <a:pt x="738378" y="1681416"/>
                  <a:pt x="655891" y="1633791"/>
                </a:quadBezTo>
                <a:lnTo>
                  <a:pt x="82487" y="1302702"/>
                </a:lnTo>
                <a:quadBezTo>
                  <a:pt x="0" y="1255077"/>
                  <a:pt x="0" y="1159827"/>
                </a:quadBezTo>
                <a:lnTo>
                  <a:pt x="0" y="497776"/>
                </a:lnTo>
                <a:quadBezTo>
                  <a:pt x="0" y="402526"/>
                  <a:pt x="82487" y="354901"/>
                </a:quadBezTo>
                <a:lnTo>
                  <a:pt x="655891" y="23812"/>
                </a:lnTo>
                <a:quadBezTo>
                  <a:pt x="738378" y="-23812"/>
                  <a:pt x="820864" y="23812"/>
                </a:quadBezTo>
                <a:lnTo>
                  <a:pt x="1394269" y="354901"/>
                </a:lnTo>
                <a:quadBezTo>
                  <a:pt x="1476756" y="402526"/>
                  <a:pt x="1476756" y="497776"/>
                </a:quadBezTo>
                <a:close/>
              </a:path>
            </a:pathLst>
          </a:custGeom>
          <a:solidFill>
            <a:srgbClr val="1B5AA8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hex-ghost"/>
          <p:cNvSpPr/>
          <p:nvPr/>
        </p:nvSpPr>
        <p:spPr>
          <a:xfrm>
            <a:off x="3347847" y="1719262"/>
            <a:ext cx="1476756" cy="1657604"/>
          </a:xfrm>
          <a:custGeom>
            <a:avLst/>
            <a:gdLst/>
            <a:ahLst/>
            <a:cxnLst/>
            <a:rect l="0" t="0" r="r" b="b"/>
            <a:pathLst>
              <a:path w="1476756" h="1657604">
                <a:moveTo>
                  <a:pt x="1476756" y="1159827"/>
                </a:moveTo>
                <a:quadBezTo>
                  <a:pt x="1476756" y="1255077"/>
                  <a:pt x="1394269" y="1302702"/>
                </a:quadBezTo>
                <a:lnTo>
                  <a:pt x="820864" y="1633791"/>
                </a:lnTo>
                <a:quadBezTo>
                  <a:pt x="738378" y="1681416"/>
                  <a:pt x="655891" y="1633791"/>
                </a:quadBezTo>
                <a:lnTo>
                  <a:pt x="82487" y="1302702"/>
                </a:lnTo>
                <a:quadBezTo>
                  <a:pt x="0" y="1255077"/>
                  <a:pt x="0" y="1159827"/>
                </a:quadBezTo>
                <a:lnTo>
                  <a:pt x="0" y="497776"/>
                </a:lnTo>
                <a:quadBezTo>
                  <a:pt x="0" y="402526"/>
                  <a:pt x="82487" y="354901"/>
                </a:quadBezTo>
                <a:lnTo>
                  <a:pt x="655891" y="23812"/>
                </a:lnTo>
                <a:quadBezTo>
                  <a:pt x="738378" y="-23812"/>
                  <a:pt x="820864" y="23812"/>
                </a:quadBezTo>
                <a:lnTo>
                  <a:pt x="1394269" y="354901"/>
                </a:lnTo>
                <a:quadBezTo>
                  <a:pt x="1476756" y="402526"/>
                  <a:pt x="1476756" y="497776"/>
                </a:quadBezTo>
                <a:close/>
              </a:path>
            </a:pathLst>
          </a:custGeom>
          <a:solidFill>
            <a:srgbClr val="1B5AA8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hex-ghost"/>
          <p:cNvSpPr/>
          <p:nvPr/>
        </p:nvSpPr>
        <p:spPr>
          <a:xfrm>
            <a:off x="5357622" y="558927"/>
            <a:ext cx="1476756" cy="1657541"/>
          </a:xfrm>
          <a:custGeom>
            <a:avLst/>
            <a:gdLst/>
            <a:ahLst/>
            <a:cxnLst/>
            <a:rect l="0" t="0" r="r" b="b"/>
            <a:pathLst>
              <a:path w="1476756" h="1657541">
                <a:moveTo>
                  <a:pt x="1476756" y="1159828"/>
                </a:moveTo>
                <a:quadBezTo>
                  <a:pt x="1476756" y="1255078"/>
                  <a:pt x="1394269" y="1302703"/>
                </a:quadBezTo>
                <a:lnTo>
                  <a:pt x="820864" y="1633728"/>
                </a:lnTo>
                <a:quadBezTo>
                  <a:pt x="738378" y="1681353"/>
                  <a:pt x="655891" y="1633728"/>
                </a:quadBezTo>
                <a:lnTo>
                  <a:pt x="82487" y="1302703"/>
                </a:lnTo>
                <a:quadBezTo>
                  <a:pt x="0" y="1255078"/>
                  <a:pt x="0" y="1159828"/>
                </a:quadBezTo>
                <a:lnTo>
                  <a:pt x="0" y="497713"/>
                </a:lnTo>
                <a:quadBezTo>
                  <a:pt x="0" y="402463"/>
                  <a:pt x="82487" y="354838"/>
                </a:quadBezTo>
                <a:lnTo>
                  <a:pt x="655891" y="23812"/>
                </a:lnTo>
                <a:quadBezTo>
                  <a:pt x="738378" y="-23812"/>
                  <a:pt x="820864" y="23812"/>
                </a:quadBezTo>
                <a:lnTo>
                  <a:pt x="1394269" y="354838"/>
                </a:lnTo>
                <a:quadBezTo>
                  <a:pt x="1476756" y="402463"/>
                  <a:pt x="1476756" y="497713"/>
                </a:quadBezTo>
                <a:close/>
              </a:path>
            </a:pathLst>
          </a:custGeom>
          <a:solidFill>
            <a:srgbClr val="1B5AA8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hex-shadow"/>
          <p:cNvSpPr/>
          <p:nvPr/>
        </p:nvSpPr>
        <p:spPr>
          <a:xfrm>
            <a:off x="3606800" y="4787900"/>
            <a:ext cx="4978400" cy="558800"/>
          </a:xfrm>
          <a:prstGeom prst="ellipse">
            <a:avLst/>
          </a:prstGeom>
          <a:solidFill>
            <a:srgbClr val="123A6B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hex-core"/>
          <p:cNvSpPr/>
          <p:nvPr/>
        </p:nvSpPr>
        <p:spPr>
          <a:xfrm>
            <a:off x="5335651" y="2857373"/>
            <a:ext cx="1520698" cy="1702054"/>
          </a:xfrm>
          <a:custGeom>
            <a:avLst/>
            <a:gdLst/>
            <a:ahLst/>
            <a:cxnLst/>
            <a:rect l="0" t="0" r="r" b="b"/>
            <a:pathLst>
              <a:path w="1520698" h="1702054">
                <a:moveTo>
                  <a:pt x="1520698" y="1182052"/>
                </a:moveTo>
                <a:quadBezTo>
                  <a:pt x="1520698" y="1290002"/>
                  <a:pt x="1427226" y="1343977"/>
                </a:quadBezTo>
                <a:lnTo>
                  <a:pt x="853821" y="1675066"/>
                </a:lnTo>
                <a:quadBezTo>
                  <a:pt x="760349" y="1729041"/>
                  <a:pt x="666877" y="1675066"/>
                </a:quadBezTo>
                <a:lnTo>
                  <a:pt x="93472" y="1343977"/>
                </a:lnTo>
                <a:quadBezTo>
                  <a:pt x="0" y="1290002"/>
                  <a:pt x="0" y="1182052"/>
                </a:quadBezTo>
                <a:lnTo>
                  <a:pt x="0" y="520001"/>
                </a:lnTo>
                <a:quadBezTo>
                  <a:pt x="0" y="412051"/>
                  <a:pt x="93472" y="358076"/>
                </a:quadBezTo>
                <a:lnTo>
                  <a:pt x="666877" y="26988"/>
                </a:lnTo>
                <a:quadBezTo>
                  <a:pt x="760349" y="-26988"/>
                  <a:pt x="853821" y="26988"/>
                </a:quadBezTo>
                <a:lnTo>
                  <a:pt x="1427226" y="358076"/>
                </a:lnTo>
                <a:quadBezTo>
                  <a:pt x="1520698" y="412051"/>
                  <a:pt x="1520698" y="520001"/>
                </a:quadBezTo>
                <a:close/>
              </a:path>
            </a:pathLst>
          </a:custGeom>
          <a:gradFill rotWithShape="1">
            <a:gsLst>
              <a:gs pos="0">
                <a:srgbClr val="1E62B0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hex-01"/>
          <p:cNvSpPr/>
          <p:nvPr/>
        </p:nvSpPr>
        <p:spPr>
          <a:xfrm>
            <a:off x="6005576" y="1697038"/>
            <a:ext cx="1520698" cy="1702054"/>
          </a:xfrm>
          <a:custGeom>
            <a:avLst/>
            <a:gdLst/>
            <a:ahLst/>
            <a:cxnLst/>
            <a:rect l="0" t="0" r="r" b="b"/>
            <a:pathLst>
              <a:path w="1520698" h="1702054">
                <a:moveTo>
                  <a:pt x="1520698" y="1182052"/>
                </a:moveTo>
                <a:quadBezTo>
                  <a:pt x="1520698" y="1290002"/>
                  <a:pt x="1427226" y="1343977"/>
                </a:quadBezTo>
                <a:lnTo>
                  <a:pt x="853821" y="1675066"/>
                </a:lnTo>
                <a:quadBezTo>
                  <a:pt x="760349" y="1729041"/>
                  <a:pt x="666877" y="1675066"/>
                </a:quadBezTo>
                <a:lnTo>
                  <a:pt x="93472" y="1343977"/>
                </a:lnTo>
                <a:quadBezTo>
                  <a:pt x="0" y="1290002"/>
                  <a:pt x="0" y="1182052"/>
                </a:quadBezTo>
                <a:lnTo>
                  <a:pt x="0" y="520001"/>
                </a:lnTo>
                <a:quadBezTo>
                  <a:pt x="0" y="412051"/>
                  <a:pt x="93472" y="358076"/>
                </a:quadBezTo>
                <a:lnTo>
                  <a:pt x="666877" y="26988"/>
                </a:lnTo>
                <a:quadBezTo>
                  <a:pt x="760349" y="-26988"/>
                  <a:pt x="853821" y="26988"/>
                </a:quadBezTo>
                <a:lnTo>
                  <a:pt x="1427226" y="358076"/>
                </a:lnTo>
                <a:quadBezTo>
                  <a:pt x="1520698" y="412051"/>
                  <a:pt x="1520698" y="520001"/>
                </a:quadBezTo>
                <a:close/>
              </a:path>
            </a:pathLst>
          </a:custGeom>
          <a:gradFill rotWithShape="1">
            <a:gsLst>
              <a:gs pos="0">
                <a:srgbClr val="325DA1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hex-02"/>
          <p:cNvSpPr/>
          <p:nvPr/>
        </p:nvSpPr>
        <p:spPr>
          <a:xfrm>
            <a:off x="6675501" y="2857373"/>
            <a:ext cx="1520698" cy="1702054"/>
          </a:xfrm>
          <a:custGeom>
            <a:avLst/>
            <a:gdLst/>
            <a:ahLst/>
            <a:cxnLst/>
            <a:rect l="0" t="0" r="r" b="b"/>
            <a:pathLst>
              <a:path w="1520698" h="1702054">
                <a:moveTo>
                  <a:pt x="1520698" y="1182052"/>
                </a:moveTo>
                <a:quadBezTo>
                  <a:pt x="1520698" y="1290002"/>
                  <a:pt x="1427226" y="1343977"/>
                </a:quadBezTo>
                <a:lnTo>
                  <a:pt x="853821" y="1675066"/>
                </a:lnTo>
                <a:quadBezTo>
                  <a:pt x="760349" y="1729041"/>
                  <a:pt x="666877" y="1675066"/>
                </a:quadBezTo>
                <a:lnTo>
                  <a:pt x="93472" y="1343977"/>
                </a:lnTo>
                <a:quadBezTo>
                  <a:pt x="0" y="1290002"/>
                  <a:pt x="0" y="1182052"/>
                </a:quadBezTo>
                <a:lnTo>
                  <a:pt x="0" y="520001"/>
                </a:lnTo>
                <a:quadBezTo>
                  <a:pt x="0" y="412051"/>
                  <a:pt x="93472" y="358076"/>
                </a:quadBezTo>
                <a:lnTo>
                  <a:pt x="666877" y="26988"/>
                </a:lnTo>
                <a:quadBezTo>
                  <a:pt x="760349" y="-26988"/>
                  <a:pt x="853821" y="26988"/>
                </a:quadBezTo>
                <a:lnTo>
                  <a:pt x="1427226" y="358076"/>
                </a:lnTo>
                <a:quadBezTo>
                  <a:pt x="1520698" y="412051"/>
                  <a:pt x="1520698" y="520001"/>
                </a:quadBezTo>
                <a:close/>
              </a:path>
            </a:pathLst>
          </a:custGeom>
          <a:gradFill rotWithShape="1">
            <a:gsLst>
              <a:gs pos="0">
                <a:srgbClr val="3969AC"/>
              </a:gs>
              <a:gs pos="100000">
                <a:srgbClr val="134C9C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hex-03"/>
          <p:cNvSpPr/>
          <p:nvPr/>
        </p:nvSpPr>
        <p:spPr>
          <a:xfrm>
            <a:off x="6005576" y="4017708"/>
            <a:ext cx="1520698" cy="1702054"/>
          </a:xfrm>
          <a:custGeom>
            <a:avLst/>
            <a:gdLst/>
            <a:ahLst/>
            <a:cxnLst/>
            <a:rect l="0" t="0" r="r" b="b"/>
            <a:pathLst>
              <a:path w="1520698" h="1702054">
                <a:moveTo>
                  <a:pt x="1520698" y="1182052"/>
                </a:moveTo>
                <a:quadBezTo>
                  <a:pt x="1520698" y="1290002"/>
                  <a:pt x="1427226" y="1343977"/>
                </a:quadBezTo>
                <a:lnTo>
                  <a:pt x="853821" y="1675066"/>
                </a:lnTo>
                <a:quadBezTo>
                  <a:pt x="760349" y="1729041"/>
                  <a:pt x="666877" y="1675066"/>
                </a:quadBezTo>
                <a:lnTo>
                  <a:pt x="93472" y="1343977"/>
                </a:lnTo>
                <a:quadBezTo>
                  <a:pt x="0" y="1290002"/>
                  <a:pt x="0" y="1182052"/>
                </a:quadBezTo>
                <a:lnTo>
                  <a:pt x="0" y="520001"/>
                </a:lnTo>
                <a:quadBezTo>
                  <a:pt x="0" y="412051"/>
                  <a:pt x="93472" y="358076"/>
                </a:quadBezTo>
                <a:lnTo>
                  <a:pt x="666877" y="26988"/>
                </a:lnTo>
                <a:quadBezTo>
                  <a:pt x="760349" y="-26988"/>
                  <a:pt x="853821" y="26988"/>
                </a:quadBezTo>
                <a:lnTo>
                  <a:pt x="1427226" y="358076"/>
                </a:lnTo>
                <a:quadBezTo>
                  <a:pt x="1520698" y="412051"/>
                  <a:pt x="1520698" y="520001"/>
                </a:quadBezTo>
                <a:close/>
              </a:path>
            </a:pathLst>
          </a:custGeom>
          <a:gradFill rotWithShape="1">
            <a:gsLst>
              <a:gs pos="0">
                <a:srgbClr val="4780C2"/>
              </a:gs>
              <a:gs pos="100000">
                <a:srgbClr val="2468B6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hex-04"/>
          <p:cNvSpPr/>
          <p:nvPr/>
        </p:nvSpPr>
        <p:spPr>
          <a:xfrm>
            <a:off x="4665726" y="4017708"/>
            <a:ext cx="1520698" cy="1702054"/>
          </a:xfrm>
          <a:custGeom>
            <a:avLst/>
            <a:gdLst/>
            <a:ahLst/>
            <a:cxnLst/>
            <a:rect l="0" t="0" r="r" b="b"/>
            <a:pathLst>
              <a:path w="1520698" h="1702054">
                <a:moveTo>
                  <a:pt x="1520698" y="1182052"/>
                </a:moveTo>
                <a:quadBezTo>
                  <a:pt x="1520698" y="1290002"/>
                  <a:pt x="1427226" y="1343977"/>
                </a:quadBezTo>
                <a:lnTo>
                  <a:pt x="853821" y="1675066"/>
                </a:lnTo>
                <a:quadBezTo>
                  <a:pt x="760349" y="1729041"/>
                  <a:pt x="666877" y="1675066"/>
                </a:quadBezTo>
                <a:lnTo>
                  <a:pt x="93472" y="1343977"/>
                </a:lnTo>
                <a:quadBezTo>
                  <a:pt x="0" y="1290002"/>
                  <a:pt x="0" y="1182052"/>
                </a:quadBezTo>
                <a:lnTo>
                  <a:pt x="0" y="520001"/>
                </a:lnTo>
                <a:quadBezTo>
                  <a:pt x="0" y="412051"/>
                  <a:pt x="93472" y="358076"/>
                </a:quadBezTo>
                <a:lnTo>
                  <a:pt x="666877" y="26988"/>
                </a:lnTo>
                <a:quadBezTo>
                  <a:pt x="760349" y="-26988"/>
                  <a:pt x="853821" y="26988"/>
                </a:quadBezTo>
                <a:lnTo>
                  <a:pt x="1427226" y="358076"/>
                </a:lnTo>
                <a:quadBezTo>
                  <a:pt x="1520698" y="412051"/>
                  <a:pt x="1520698" y="520001"/>
                </a:quadBezTo>
                <a:close/>
              </a:path>
            </a:pathLst>
          </a:custGeom>
          <a:gradFill rotWithShape="1">
            <a:gsLst>
              <a:gs pos="0">
                <a:srgbClr val="4F8DCC"/>
              </a:gs>
              <a:gs pos="100000">
                <a:srgbClr val="2E77C2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hex-05"/>
          <p:cNvSpPr/>
          <p:nvPr/>
        </p:nvSpPr>
        <p:spPr>
          <a:xfrm>
            <a:off x="3995801" y="2857373"/>
            <a:ext cx="1520698" cy="1702054"/>
          </a:xfrm>
          <a:custGeom>
            <a:avLst/>
            <a:gdLst/>
            <a:ahLst/>
            <a:cxnLst/>
            <a:rect l="0" t="0" r="r" b="b"/>
            <a:pathLst>
              <a:path w="1520698" h="1702054">
                <a:moveTo>
                  <a:pt x="1520698" y="1182052"/>
                </a:moveTo>
                <a:quadBezTo>
                  <a:pt x="1520698" y="1290002"/>
                  <a:pt x="1427226" y="1343977"/>
                </a:quadBezTo>
                <a:lnTo>
                  <a:pt x="853821" y="1675066"/>
                </a:lnTo>
                <a:quadBezTo>
                  <a:pt x="760349" y="1729041"/>
                  <a:pt x="666877" y="1675066"/>
                </a:quadBezTo>
                <a:lnTo>
                  <a:pt x="93472" y="1343977"/>
                </a:lnTo>
                <a:quadBezTo>
                  <a:pt x="0" y="1290002"/>
                  <a:pt x="0" y="1182052"/>
                </a:quadBezTo>
                <a:lnTo>
                  <a:pt x="0" y="520001"/>
                </a:lnTo>
                <a:quadBezTo>
                  <a:pt x="0" y="412051"/>
                  <a:pt x="93472" y="358076"/>
                </a:quadBezTo>
                <a:lnTo>
                  <a:pt x="666877" y="26988"/>
                </a:lnTo>
                <a:quadBezTo>
                  <a:pt x="760349" y="-26988"/>
                  <a:pt x="853821" y="26988"/>
                </a:quadBezTo>
                <a:lnTo>
                  <a:pt x="1427226" y="358076"/>
                </a:lnTo>
                <a:quadBezTo>
                  <a:pt x="1520698" y="412051"/>
                  <a:pt x="1520698" y="520001"/>
                </a:quadBezTo>
                <a:close/>
              </a:path>
            </a:pathLst>
          </a:custGeom>
          <a:gradFill rotWithShape="1">
            <a:gsLst>
              <a:gs pos="0">
                <a:srgbClr val="64A5DD"/>
              </a:gs>
              <a:gs pos="100000">
                <a:srgbClr val="4694D7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hex-06"/>
          <p:cNvSpPr/>
          <p:nvPr/>
        </p:nvSpPr>
        <p:spPr>
          <a:xfrm>
            <a:off x="4665726" y="1697038"/>
            <a:ext cx="1520698" cy="1702054"/>
          </a:xfrm>
          <a:custGeom>
            <a:avLst/>
            <a:gdLst/>
            <a:ahLst/>
            <a:cxnLst/>
            <a:rect l="0" t="0" r="r" b="b"/>
            <a:pathLst>
              <a:path w="1520698" h="1702054">
                <a:moveTo>
                  <a:pt x="1520698" y="1182052"/>
                </a:moveTo>
                <a:quadBezTo>
                  <a:pt x="1520698" y="1290002"/>
                  <a:pt x="1427226" y="1343977"/>
                </a:quadBezTo>
                <a:lnTo>
                  <a:pt x="853821" y="1675066"/>
                </a:lnTo>
                <a:quadBezTo>
                  <a:pt x="760349" y="1729041"/>
                  <a:pt x="666877" y="1675066"/>
                </a:quadBezTo>
                <a:lnTo>
                  <a:pt x="93472" y="1343977"/>
                </a:lnTo>
                <a:quadBezTo>
                  <a:pt x="0" y="1290002"/>
                  <a:pt x="0" y="1182052"/>
                </a:quadBezTo>
                <a:lnTo>
                  <a:pt x="0" y="520001"/>
                </a:lnTo>
                <a:quadBezTo>
                  <a:pt x="0" y="412051"/>
                  <a:pt x="93472" y="358076"/>
                </a:quadBezTo>
                <a:lnTo>
                  <a:pt x="666877" y="26988"/>
                </a:lnTo>
                <a:quadBezTo>
                  <a:pt x="760349" y="-26988"/>
                  <a:pt x="853821" y="26988"/>
                </a:quadBezTo>
                <a:lnTo>
                  <a:pt x="1427226" y="358076"/>
                </a:lnTo>
                <a:quadBezTo>
                  <a:pt x="1520698" y="412051"/>
                  <a:pt x="1520698" y="520001"/>
                </a:quadBezTo>
                <a:close/>
              </a:path>
            </a:pathLst>
          </a:custGeom>
          <a:gradFill rotWithShape="1">
            <a:gsLst>
              <a:gs pos="0">
                <a:srgbClr val="6FB1E4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join-0-1"/>
          <p:cNvSpPr/>
          <p:nvPr/>
        </p:nvSpPr>
        <p:spPr>
          <a:xfrm>
            <a:off x="6005576" y="2836736"/>
            <a:ext cx="850773" cy="582993"/>
          </a:xfrm>
          <a:custGeom>
            <a:avLst/>
            <a:gdLst/>
            <a:ahLst/>
            <a:cxnLst/>
            <a:rect l="0" t="0" r="r" b="b"/>
            <a:pathLst>
              <a:path w="850773" h="582993">
                <a:moveTo>
                  <a:pt x="0" y="71310"/>
                </a:moveTo>
                <a:quadBezTo>
                  <a:pt x="0" y="45910"/>
                  <a:pt x="21971" y="33210"/>
                </a:quadBezTo>
                <a:lnTo>
                  <a:pt x="68453" y="6350"/>
                </a:lnTo>
                <a:quadBezTo>
                  <a:pt x="90424" y="-6350"/>
                  <a:pt x="112395" y="6350"/>
                </a:quadBezTo>
                <a:lnTo>
                  <a:pt x="828802" y="419989"/>
                </a:lnTo>
                <a:quadBezTo>
                  <a:pt x="850773" y="432689"/>
                  <a:pt x="850773" y="458089"/>
                </a:quadBezTo>
                <a:lnTo>
                  <a:pt x="850773" y="511683"/>
                </a:lnTo>
                <a:quadBezTo>
                  <a:pt x="850773" y="537083"/>
                  <a:pt x="828802" y="549783"/>
                </a:quadBezTo>
                <a:lnTo>
                  <a:pt x="782320" y="576643"/>
                </a:lnTo>
                <a:quadBezTo>
                  <a:pt x="760349" y="589343"/>
                  <a:pt x="738378" y="576643"/>
                </a:quadBezTo>
                <a:lnTo>
                  <a:pt x="21971" y="163004"/>
                </a:lnTo>
                <a:quadBezTo>
                  <a:pt x="0" y="150304"/>
                  <a:pt x="0" y="124904"/>
                </a:quadBezTo>
                <a:close/>
              </a:path>
            </a:pathLst>
          </a:custGeom>
          <a:solidFill>
            <a:srgbClr val="082D7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join-0-2"/>
          <p:cNvSpPr/>
          <p:nvPr/>
        </p:nvSpPr>
        <p:spPr>
          <a:xfrm>
            <a:off x="6675501" y="3223514"/>
            <a:ext cx="180848" cy="969772"/>
          </a:xfrm>
          <a:custGeom>
            <a:avLst/>
            <a:gdLst/>
            <a:ahLst/>
            <a:cxnLst/>
            <a:rect l="0" t="0" r="r" b="b"/>
            <a:pathLst>
              <a:path w="180848" h="969772">
                <a:moveTo>
                  <a:pt x="180848" y="898462"/>
                </a:moveTo>
                <a:quadBezTo>
                  <a:pt x="180848" y="923862"/>
                  <a:pt x="158877" y="936562"/>
                </a:quadBezTo>
                <a:lnTo>
                  <a:pt x="112395" y="963422"/>
                </a:lnTo>
                <a:quadBezTo>
                  <a:pt x="90424" y="976122"/>
                  <a:pt x="68453" y="963422"/>
                </a:quadBezTo>
                <a:lnTo>
                  <a:pt x="21971" y="936562"/>
                </a:lnTo>
                <a:quadBezTo>
                  <a:pt x="0" y="923862"/>
                  <a:pt x="0" y="898462"/>
                </a:quadBezTo>
                <a:lnTo>
                  <a:pt x="0" y="71311"/>
                </a:lnTo>
                <a:quadBezTo>
                  <a:pt x="0" y="45911"/>
                  <a:pt x="21971" y="33211"/>
                </a:quadBezTo>
                <a:lnTo>
                  <a:pt x="68453" y="6350"/>
                </a:lnTo>
                <a:quadBezTo>
                  <a:pt x="90424" y="-6350"/>
                  <a:pt x="112395" y="6350"/>
                </a:quadBezTo>
                <a:lnTo>
                  <a:pt x="158877" y="33211"/>
                </a:lnTo>
                <a:quadBezTo>
                  <a:pt x="180848" y="45911"/>
                  <a:pt x="180848" y="71311"/>
                </a:quadBezTo>
                <a:close/>
              </a:path>
            </a:pathLst>
          </a:custGeom>
          <a:solidFill>
            <a:srgbClr val="0A337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join-0-3"/>
          <p:cNvSpPr/>
          <p:nvPr/>
        </p:nvSpPr>
        <p:spPr>
          <a:xfrm>
            <a:off x="6005576" y="3997071"/>
            <a:ext cx="850773" cy="582993"/>
          </a:xfrm>
          <a:custGeom>
            <a:avLst/>
            <a:gdLst/>
            <a:ahLst/>
            <a:cxnLst/>
            <a:rect l="0" t="0" r="r" b="b"/>
            <a:pathLst>
              <a:path w="850773" h="582993">
                <a:moveTo>
                  <a:pt x="850773" y="124904"/>
                </a:moveTo>
                <a:quadBezTo>
                  <a:pt x="850773" y="150304"/>
                  <a:pt x="828802" y="163004"/>
                </a:quadBezTo>
                <a:lnTo>
                  <a:pt x="112395" y="576643"/>
                </a:lnTo>
                <a:quadBezTo>
                  <a:pt x="90424" y="589343"/>
                  <a:pt x="68453" y="576643"/>
                </a:quadBezTo>
                <a:lnTo>
                  <a:pt x="21971" y="549783"/>
                </a:lnTo>
                <a:quadBezTo>
                  <a:pt x="0" y="537083"/>
                  <a:pt x="0" y="511683"/>
                </a:quadBezTo>
                <a:lnTo>
                  <a:pt x="0" y="458089"/>
                </a:lnTo>
                <a:quadBezTo>
                  <a:pt x="0" y="432689"/>
                  <a:pt x="21971" y="419989"/>
                </a:quadBezTo>
                <a:lnTo>
                  <a:pt x="738378" y="6350"/>
                </a:lnTo>
                <a:quadBezTo>
                  <a:pt x="760349" y="-6350"/>
                  <a:pt x="782320" y="6350"/>
                </a:quadBezTo>
                <a:lnTo>
                  <a:pt x="828802" y="33211"/>
                </a:lnTo>
                <a:quadBezTo>
                  <a:pt x="850773" y="45911"/>
                  <a:pt x="850773" y="71311"/>
                </a:quadBezTo>
                <a:close/>
              </a:path>
            </a:pathLst>
          </a:custGeom>
          <a:solidFill>
            <a:srgbClr val="103F8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join-0-4"/>
          <p:cNvSpPr/>
          <p:nvPr/>
        </p:nvSpPr>
        <p:spPr>
          <a:xfrm>
            <a:off x="5335651" y="3997071"/>
            <a:ext cx="850773" cy="582993"/>
          </a:xfrm>
          <a:custGeom>
            <a:avLst/>
            <a:gdLst/>
            <a:ahLst/>
            <a:cxnLst/>
            <a:rect l="0" t="0" r="r" b="b"/>
            <a:pathLst>
              <a:path w="850773" h="582993">
                <a:moveTo>
                  <a:pt x="850773" y="511683"/>
                </a:moveTo>
                <a:quadBezTo>
                  <a:pt x="850773" y="537083"/>
                  <a:pt x="828802" y="549783"/>
                </a:quadBezTo>
                <a:lnTo>
                  <a:pt x="782320" y="576643"/>
                </a:lnTo>
                <a:quadBezTo>
                  <a:pt x="760349" y="589343"/>
                  <a:pt x="738378" y="576643"/>
                </a:quadBezTo>
                <a:lnTo>
                  <a:pt x="21971" y="163004"/>
                </a:lnTo>
                <a:quadBezTo>
                  <a:pt x="0" y="150304"/>
                  <a:pt x="0" y="124904"/>
                </a:quadBezTo>
                <a:lnTo>
                  <a:pt x="0" y="71311"/>
                </a:lnTo>
                <a:quadBezTo>
                  <a:pt x="0" y="45911"/>
                  <a:pt x="21971" y="33211"/>
                </a:quadBezTo>
                <a:lnTo>
                  <a:pt x="68453" y="6350"/>
                </a:lnTo>
                <a:quadBezTo>
                  <a:pt x="90424" y="-6350"/>
                  <a:pt x="112395" y="6350"/>
                </a:quadBezTo>
                <a:lnTo>
                  <a:pt x="828802" y="419989"/>
                </a:lnTo>
                <a:quadBezTo>
                  <a:pt x="850773" y="432689"/>
                  <a:pt x="850773" y="458089"/>
                </a:quadBezTo>
                <a:close/>
              </a:path>
            </a:pathLst>
          </a:custGeom>
          <a:solidFill>
            <a:srgbClr val="13449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join-0-5"/>
          <p:cNvSpPr/>
          <p:nvPr/>
        </p:nvSpPr>
        <p:spPr>
          <a:xfrm>
            <a:off x="5335651" y="3223514"/>
            <a:ext cx="180848" cy="969772"/>
          </a:xfrm>
          <a:custGeom>
            <a:avLst/>
            <a:gdLst/>
            <a:ahLst/>
            <a:cxnLst/>
            <a:rect l="0" t="0" r="r" b="b"/>
            <a:pathLst>
              <a:path w="180848" h="969772">
                <a:moveTo>
                  <a:pt x="112395" y="963422"/>
                </a:moveTo>
                <a:quadBezTo>
                  <a:pt x="90424" y="976122"/>
                  <a:pt x="68453" y="963422"/>
                </a:quadBezTo>
                <a:lnTo>
                  <a:pt x="21971" y="936562"/>
                </a:lnTo>
                <a:quadBezTo>
                  <a:pt x="0" y="923862"/>
                  <a:pt x="0" y="898462"/>
                </a:quadBezTo>
                <a:lnTo>
                  <a:pt x="0" y="71311"/>
                </a:lnTo>
                <a:quadBezTo>
                  <a:pt x="0" y="45911"/>
                  <a:pt x="21971" y="33211"/>
                </a:quadBezTo>
                <a:lnTo>
                  <a:pt x="68453" y="6350"/>
                </a:lnTo>
                <a:quadBezTo>
                  <a:pt x="90424" y="-6350"/>
                  <a:pt x="112395" y="6350"/>
                </a:quadBezTo>
                <a:lnTo>
                  <a:pt x="158877" y="33211"/>
                </a:lnTo>
                <a:quadBezTo>
                  <a:pt x="180848" y="45911"/>
                  <a:pt x="180848" y="71311"/>
                </a:quadBezTo>
                <a:lnTo>
                  <a:pt x="180848" y="898462"/>
                </a:lnTo>
                <a:quadBezTo>
                  <a:pt x="180848" y="923862"/>
                  <a:pt x="158877" y="936562"/>
                </a:quadBezTo>
                <a:close/>
              </a:path>
            </a:pathLst>
          </a:custGeom>
          <a:solidFill>
            <a:srgbClr val="1A509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join-0-6"/>
          <p:cNvSpPr/>
          <p:nvPr/>
        </p:nvSpPr>
        <p:spPr>
          <a:xfrm>
            <a:off x="5335651" y="2836736"/>
            <a:ext cx="850773" cy="582993"/>
          </a:xfrm>
          <a:custGeom>
            <a:avLst/>
            <a:gdLst/>
            <a:ahLst/>
            <a:cxnLst/>
            <a:rect l="0" t="0" r="r" b="b"/>
            <a:pathLst>
              <a:path w="850773" h="582993">
                <a:moveTo>
                  <a:pt x="21971" y="549783"/>
                </a:moveTo>
                <a:quadBezTo>
                  <a:pt x="0" y="537083"/>
                  <a:pt x="0" y="511683"/>
                </a:quadBezTo>
                <a:lnTo>
                  <a:pt x="0" y="458089"/>
                </a:lnTo>
                <a:quadBezTo>
                  <a:pt x="0" y="432689"/>
                  <a:pt x="21971" y="419989"/>
                </a:quadBezTo>
                <a:lnTo>
                  <a:pt x="738378" y="6350"/>
                </a:lnTo>
                <a:quadBezTo>
                  <a:pt x="760349" y="-6350"/>
                  <a:pt x="782320" y="6350"/>
                </a:quadBezTo>
                <a:lnTo>
                  <a:pt x="828802" y="33210"/>
                </a:lnTo>
                <a:quadBezTo>
                  <a:pt x="850773" y="45910"/>
                  <a:pt x="850773" y="71310"/>
                </a:quadBezTo>
                <a:lnTo>
                  <a:pt x="850773" y="124904"/>
                </a:lnTo>
                <a:quadBezTo>
                  <a:pt x="850773" y="150304"/>
                  <a:pt x="828802" y="163004"/>
                </a:quadBezTo>
                <a:lnTo>
                  <a:pt x="112395" y="576643"/>
                </a:lnTo>
                <a:quadBezTo>
                  <a:pt x="90424" y="589343"/>
                  <a:pt x="68453" y="576643"/>
                </a:quadBezTo>
                <a:close/>
              </a:path>
            </a:pathLst>
          </a:custGeom>
          <a:solidFill>
            <a:srgbClr val="1F56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join-1-2"/>
          <p:cNvSpPr/>
          <p:nvPr/>
        </p:nvSpPr>
        <p:spPr>
          <a:xfrm>
            <a:off x="6675501" y="2836736"/>
            <a:ext cx="850773" cy="582993"/>
          </a:xfrm>
          <a:custGeom>
            <a:avLst/>
            <a:gdLst/>
            <a:ahLst/>
            <a:cxnLst/>
            <a:rect l="0" t="0" r="r" b="b"/>
            <a:pathLst>
              <a:path w="850773" h="582993">
                <a:moveTo>
                  <a:pt x="850773" y="124904"/>
                </a:moveTo>
                <a:quadBezTo>
                  <a:pt x="850773" y="150304"/>
                  <a:pt x="828802" y="163004"/>
                </a:quadBezTo>
                <a:lnTo>
                  <a:pt x="112395" y="576643"/>
                </a:lnTo>
                <a:quadBezTo>
                  <a:pt x="90424" y="589343"/>
                  <a:pt x="68453" y="576643"/>
                </a:quadBezTo>
                <a:lnTo>
                  <a:pt x="21971" y="549783"/>
                </a:lnTo>
                <a:quadBezTo>
                  <a:pt x="0" y="537083"/>
                  <a:pt x="0" y="511683"/>
                </a:quadBezTo>
                <a:lnTo>
                  <a:pt x="0" y="458089"/>
                </a:lnTo>
                <a:quadBezTo>
                  <a:pt x="0" y="432689"/>
                  <a:pt x="21971" y="419989"/>
                </a:quadBezTo>
                <a:lnTo>
                  <a:pt x="738378" y="6350"/>
                </a:lnTo>
                <a:quadBezTo>
                  <a:pt x="760349" y="-6350"/>
                  <a:pt x="782320" y="6350"/>
                </a:quadBezTo>
                <a:lnTo>
                  <a:pt x="828802" y="33210"/>
                </a:lnTo>
                <a:quadBezTo>
                  <a:pt x="850773" y="45910"/>
                  <a:pt x="850773" y="71310"/>
                </a:quadBezTo>
                <a:close/>
              </a:path>
            </a:pathLst>
          </a:custGeom>
          <a:solidFill>
            <a:srgbClr val="09307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join-1-6"/>
          <p:cNvSpPr/>
          <p:nvPr/>
        </p:nvSpPr>
        <p:spPr>
          <a:xfrm>
            <a:off x="6005576" y="2063179"/>
            <a:ext cx="180848" cy="969708"/>
          </a:xfrm>
          <a:custGeom>
            <a:avLst/>
            <a:gdLst/>
            <a:ahLst/>
            <a:cxnLst/>
            <a:rect l="0" t="0" r="r" b="b"/>
            <a:pathLst>
              <a:path w="180848" h="969708">
                <a:moveTo>
                  <a:pt x="112395" y="963358"/>
                </a:moveTo>
                <a:quadBezTo>
                  <a:pt x="90424" y="976058"/>
                  <a:pt x="68453" y="963358"/>
                </a:quadBezTo>
                <a:lnTo>
                  <a:pt x="21971" y="936561"/>
                </a:lnTo>
                <a:quadBezTo>
                  <a:pt x="0" y="923861"/>
                  <a:pt x="0" y="898461"/>
                </a:quadBezTo>
                <a:lnTo>
                  <a:pt x="0" y="71310"/>
                </a:lnTo>
                <a:quadBezTo>
                  <a:pt x="0" y="45910"/>
                  <a:pt x="21971" y="33210"/>
                </a:quadBezTo>
                <a:lnTo>
                  <a:pt x="68453" y="6350"/>
                </a:lnTo>
                <a:quadBezTo>
                  <a:pt x="90424" y="-6350"/>
                  <a:pt x="112395" y="6350"/>
                </a:quadBezTo>
                <a:lnTo>
                  <a:pt x="158877" y="33210"/>
                </a:lnTo>
                <a:quadBezTo>
                  <a:pt x="180848" y="45910"/>
                  <a:pt x="180848" y="71310"/>
                </a:quadBezTo>
                <a:lnTo>
                  <a:pt x="180848" y="898461"/>
                </a:lnTo>
                <a:quadBezTo>
                  <a:pt x="180848" y="923861"/>
                  <a:pt x="158877" y="936561"/>
                </a:quadBezTo>
                <a:close/>
              </a:path>
            </a:pathLst>
          </a:custGeom>
          <a:solidFill>
            <a:srgbClr val="1E519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join-2-3"/>
          <p:cNvSpPr/>
          <p:nvPr/>
        </p:nvSpPr>
        <p:spPr>
          <a:xfrm>
            <a:off x="6675501" y="3997071"/>
            <a:ext cx="850773" cy="582993"/>
          </a:xfrm>
          <a:custGeom>
            <a:avLst/>
            <a:gdLst/>
            <a:ahLst/>
            <a:cxnLst/>
            <a:rect l="0" t="0" r="r" b="b"/>
            <a:pathLst>
              <a:path w="850773" h="582993">
                <a:moveTo>
                  <a:pt x="850773" y="511683"/>
                </a:moveTo>
                <a:quadBezTo>
                  <a:pt x="850773" y="537083"/>
                  <a:pt x="828802" y="549783"/>
                </a:quadBezTo>
                <a:lnTo>
                  <a:pt x="782320" y="576643"/>
                </a:lnTo>
                <a:quadBezTo>
                  <a:pt x="760349" y="589343"/>
                  <a:pt x="738378" y="576643"/>
                </a:quadBezTo>
                <a:lnTo>
                  <a:pt x="21971" y="163004"/>
                </a:lnTo>
                <a:quadBezTo>
                  <a:pt x="0" y="150304"/>
                  <a:pt x="0" y="124904"/>
                </a:quadBezTo>
                <a:lnTo>
                  <a:pt x="0" y="71311"/>
                </a:lnTo>
                <a:quadBezTo>
                  <a:pt x="0" y="45911"/>
                  <a:pt x="21971" y="33211"/>
                </a:quadBezTo>
                <a:lnTo>
                  <a:pt x="68453" y="6350"/>
                </a:lnTo>
                <a:quadBezTo>
                  <a:pt x="90424" y="-6350"/>
                  <a:pt x="112395" y="6350"/>
                </a:quadBezTo>
                <a:lnTo>
                  <a:pt x="828802" y="419989"/>
                </a:lnTo>
                <a:quadBezTo>
                  <a:pt x="850773" y="432689"/>
                  <a:pt x="850773" y="458089"/>
                </a:quadBezTo>
                <a:close/>
              </a:path>
            </a:pathLst>
          </a:custGeom>
          <a:solidFill>
            <a:srgbClr val="1241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join-3-4"/>
          <p:cNvSpPr/>
          <p:nvPr/>
        </p:nvSpPr>
        <p:spPr>
          <a:xfrm>
            <a:off x="6005576" y="4383913"/>
            <a:ext cx="180848" cy="969709"/>
          </a:xfrm>
          <a:custGeom>
            <a:avLst/>
            <a:gdLst/>
            <a:ahLst/>
            <a:cxnLst/>
            <a:rect l="0" t="0" r="r" b="b"/>
            <a:pathLst>
              <a:path w="180848" h="969709">
                <a:moveTo>
                  <a:pt x="112395" y="963359"/>
                </a:moveTo>
                <a:quadBezTo>
                  <a:pt x="90424" y="976059"/>
                  <a:pt x="68453" y="963359"/>
                </a:quadBezTo>
                <a:lnTo>
                  <a:pt x="21971" y="936498"/>
                </a:lnTo>
                <a:quadBezTo>
                  <a:pt x="0" y="923798"/>
                  <a:pt x="0" y="898398"/>
                </a:quadBezTo>
                <a:lnTo>
                  <a:pt x="0" y="71247"/>
                </a:lnTo>
                <a:quadBezTo>
                  <a:pt x="0" y="45847"/>
                  <a:pt x="21971" y="33147"/>
                </a:quadBezTo>
                <a:lnTo>
                  <a:pt x="68453" y="6350"/>
                </a:lnTo>
                <a:quadBezTo>
                  <a:pt x="90424" y="-6350"/>
                  <a:pt x="112395" y="6350"/>
                </a:quadBezTo>
                <a:lnTo>
                  <a:pt x="158877" y="33147"/>
                </a:lnTo>
                <a:quadBezTo>
                  <a:pt x="180848" y="45847"/>
                  <a:pt x="180848" y="71247"/>
                </a:quadBezTo>
                <a:lnTo>
                  <a:pt x="180848" y="898398"/>
                </a:lnTo>
                <a:quadBezTo>
                  <a:pt x="180848" y="923798"/>
                  <a:pt x="158877" y="936498"/>
                </a:quadBezTo>
                <a:close/>
              </a:path>
            </a:pathLst>
          </a:custGeom>
          <a:solidFill>
            <a:srgbClr val="1A56A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join-4-5"/>
          <p:cNvSpPr/>
          <p:nvPr/>
        </p:nvSpPr>
        <p:spPr>
          <a:xfrm>
            <a:off x="4665726" y="3997071"/>
            <a:ext cx="850773" cy="582993"/>
          </a:xfrm>
          <a:custGeom>
            <a:avLst/>
            <a:gdLst/>
            <a:ahLst/>
            <a:cxnLst/>
            <a:rect l="0" t="0" r="r" b="b"/>
            <a:pathLst>
              <a:path w="850773" h="582993">
                <a:moveTo>
                  <a:pt x="21971" y="549783"/>
                </a:moveTo>
                <a:quadBezTo>
                  <a:pt x="0" y="537083"/>
                  <a:pt x="0" y="511683"/>
                </a:quadBezTo>
                <a:lnTo>
                  <a:pt x="0" y="458089"/>
                </a:lnTo>
                <a:quadBezTo>
                  <a:pt x="0" y="432689"/>
                  <a:pt x="21971" y="419989"/>
                </a:quadBezTo>
                <a:lnTo>
                  <a:pt x="738378" y="6350"/>
                </a:lnTo>
                <a:quadBezTo>
                  <a:pt x="760349" y="-6350"/>
                  <a:pt x="782320" y="6350"/>
                </a:quadBezTo>
                <a:lnTo>
                  <a:pt x="828802" y="33211"/>
                </a:lnTo>
                <a:quadBezTo>
                  <a:pt x="850773" y="45911"/>
                  <a:pt x="850773" y="71311"/>
                </a:quadBezTo>
                <a:lnTo>
                  <a:pt x="850773" y="124904"/>
                </a:lnTo>
                <a:quadBezTo>
                  <a:pt x="850773" y="150304"/>
                  <a:pt x="828802" y="163004"/>
                </a:quadBezTo>
                <a:lnTo>
                  <a:pt x="112395" y="576643"/>
                </a:lnTo>
                <a:quadBezTo>
                  <a:pt x="90424" y="589343"/>
                  <a:pt x="68453" y="576643"/>
                </a:quadBezTo>
                <a:close/>
              </a:path>
            </a:pathLst>
          </a:custGeom>
          <a:solidFill>
            <a:srgbClr val="276BB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join-5-6"/>
          <p:cNvSpPr/>
          <p:nvPr/>
        </p:nvSpPr>
        <p:spPr>
          <a:xfrm>
            <a:off x="4665726" y="2836736"/>
            <a:ext cx="850773" cy="582993"/>
          </a:xfrm>
          <a:custGeom>
            <a:avLst/>
            <a:gdLst/>
            <a:ahLst/>
            <a:cxnLst/>
            <a:rect l="0" t="0" r="r" b="b"/>
            <a:pathLst>
              <a:path w="850773" h="582993">
                <a:moveTo>
                  <a:pt x="0" y="71310"/>
                </a:moveTo>
                <a:quadBezTo>
                  <a:pt x="0" y="45910"/>
                  <a:pt x="21971" y="33210"/>
                </a:quadBezTo>
                <a:lnTo>
                  <a:pt x="68453" y="6350"/>
                </a:lnTo>
                <a:quadBezTo>
                  <a:pt x="90424" y="-6350"/>
                  <a:pt x="112395" y="6350"/>
                </a:quadBezTo>
                <a:lnTo>
                  <a:pt x="828802" y="419989"/>
                </a:lnTo>
                <a:quadBezTo>
                  <a:pt x="850773" y="432689"/>
                  <a:pt x="850773" y="458089"/>
                </a:quadBezTo>
                <a:lnTo>
                  <a:pt x="850773" y="511683"/>
                </a:lnTo>
                <a:quadBezTo>
                  <a:pt x="850773" y="537083"/>
                  <a:pt x="828802" y="549783"/>
                </a:quadBezTo>
                <a:lnTo>
                  <a:pt x="782320" y="576643"/>
                </a:lnTo>
                <a:quadBezTo>
                  <a:pt x="760349" y="589343"/>
                  <a:pt x="738378" y="576643"/>
                </a:quadBezTo>
                <a:lnTo>
                  <a:pt x="21971" y="163004"/>
                </a:lnTo>
                <a:quadBezTo>
                  <a:pt x="0" y="150304"/>
                  <a:pt x="0" y="124904"/>
                </a:quadBezTo>
                <a:close/>
              </a:path>
            </a:pathLst>
          </a:custGeom>
          <a:solidFill>
            <a:srgbClr val="3681C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core-1"/>
          <p:cNvSpPr txBox="1"/>
          <p:nvPr/>
        </p:nvSpPr>
        <p:spPr>
          <a:xfrm>
            <a:off x="5794375" y="3396933"/>
            <a:ext cx="60325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核心</a:t>
            </a:r>
          </a:p>
        </p:txBody>
      </p:sp>
      <p:sp>
        <p:nvSpPr>
          <p:cNvPr id="37" name="core-2"/>
          <p:cNvSpPr txBox="1"/>
          <p:nvPr/>
        </p:nvSpPr>
        <p:spPr>
          <a:xfrm>
            <a:off x="5794375" y="3638233"/>
            <a:ext cx="60325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能力</a:t>
            </a:r>
          </a:p>
        </p:txBody>
      </p:sp>
      <p:sp>
        <p:nvSpPr>
          <p:cNvPr id="38" name="icon-code"/>
          <p:cNvSpPr/>
          <p:nvPr/>
        </p:nvSpPr>
        <p:spPr>
          <a:xfrm>
            <a:off x="6675882" y="2397760"/>
            <a:ext cx="180086" cy="97409"/>
          </a:xfrm>
          <a:custGeom>
            <a:avLst/>
            <a:gdLst/>
            <a:ahLst/>
            <a:cxnLst/>
            <a:rect l="0" t="0" r="r" b="b"/>
            <a:pathLst>
              <a:path w="180086" h="97409">
                <a:moveTo>
                  <a:pt x="53531" y="0"/>
                </a:moveTo>
                <a:lnTo>
                  <a:pt x="0" y="48704"/>
                </a:lnTo>
                <a:lnTo>
                  <a:pt x="53531" y="97409"/>
                </a:lnTo>
                <a:moveTo>
                  <a:pt x="126556" y="0"/>
                </a:moveTo>
                <a:lnTo>
                  <a:pt x="180086" y="48704"/>
                </a:lnTo>
                <a:lnTo>
                  <a:pt x="126556" y="97409"/>
                </a:lnTo>
              </a:path>
            </a:pathLst>
          </a:custGeom>
          <a:noFill/>
          <a:ln w="1270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hex-n-01"/>
          <p:cNvSpPr txBox="1"/>
          <p:nvPr/>
        </p:nvSpPr>
        <p:spPr>
          <a:xfrm>
            <a:off x="6628194" y="2678453"/>
            <a:ext cx="27546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25">
                <a:solidFill>
                  <a:srgbClr val="FFFFFF">
                    <a:alpha val="72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40" name="icon-factory"/>
          <p:cNvSpPr/>
          <p:nvPr/>
        </p:nvSpPr>
        <p:spPr>
          <a:xfrm>
            <a:off x="7331202" y="3560572"/>
            <a:ext cx="209296" cy="141161"/>
          </a:xfrm>
          <a:custGeom>
            <a:avLst/>
            <a:gdLst/>
            <a:ahLst/>
            <a:cxnLst/>
            <a:rect l="0" t="0" r="r" b="b"/>
            <a:pathLst>
              <a:path w="209296" h="141161">
                <a:moveTo>
                  <a:pt x="0" y="141161"/>
                </a:moveTo>
                <a:lnTo>
                  <a:pt x="0" y="34036"/>
                </a:lnTo>
                <a:lnTo>
                  <a:pt x="60833" y="70549"/>
                </a:lnTo>
                <a:lnTo>
                  <a:pt x="60833" y="34036"/>
                </a:lnTo>
                <a:lnTo>
                  <a:pt x="121666" y="70549"/>
                </a:lnTo>
                <a:lnTo>
                  <a:pt x="121666" y="0"/>
                </a:lnTo>
                <a:lnTo>
                  <a:pt x="182562" y="36512"/>
                </a:lnTo>
                <a:lnTo>
                  <a:pt x="182562" y="128968"/>
                </a:lnTo>
                <a:close/>
                <a:moveTo>
                  <a:pt x="0" y="141161"/>
                </a:moveTo>
                <a:lnTo>
                  <a:pt x="209296" y="141161"/>
                </a:lnTo>
              </a:path>
            </a:pathLst>
          </a:custGeom>
          <a:noFill/>
          <a:ln w="1270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hex-n-02"/>
          <p:cNvSpPr txBox="1"/>
          <p:nvPr/>
        </p:nvSpPr>
        <p:spPr>
          <a:xfrm>
            <a:off x="7298118" y="3838797"/>
            <a:ext cx="27546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25">
                <a:solidFill>
                  <a:srgbClr val="FFFFFF">
                    <a:alpha val="72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42" name="icon-network"/>
          <p:cNvSpPr/>
          <p:nvPr/>
        </p:nvSpPr>
        <p:spPr>
          <a:xfrm>
            <a:off x="6729412" y="4723320"/>
            <a:ext cx="73025" cy="85217"/>
          </a:xfrm>
          <a:custGeom>
            <a:avLst/>
            <a:gdLst/>
            <a:ahLst/>
            <a:cxnLst/>
            <a:rect l="0" t="0" r="r" b="b"/>
            <a:pathLst>
              <a:path w="73025" h="85217">
                <a:moveTo>
                  <a:pt x="36512" y="0"/>
                </a:moveTo>
                <a:lnTo>
                  <a:pt x="36512" y="38925"/>
                </a:lnTo>
                <a:moveTo>
                  <a:pt x="0" y="85217"/>
                </a:moveTo>
                <a:lnTo>
                  <a:pt x="26797" y="53530"/>
                </a:lnTo>
                <a:moveTo>
                  <a:pt x="73025" y="85217"/>
                </a:moveTo>
                <a:lnTo>
                  <a:pt x="46228" y="53530"/>
                </a:lnTo>
              </a:path>
            </a:pathLst>
          </a:custGeom>
          <a:noFill/>
          <a:ln w="1270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icon-network"/>
          <p:cNvSpPr/>
          <p:nvPr/>
        </p:nvSpPr>
        <p:spPr>
          <a:xfrm>
            <a:off x="6734281" y="4662475"/>
            <a:ext cx="63288" cy="63288"/>
          </a:xfrm>
          <a:prstGeom prst="ellipse">
            <a:avLst/>
          </a:prstGeom>
          <a:noFill/>
          <a:ln w="1270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icon-network"/>
          <p:cNvSpPr/>
          <p:nvPr/>
        </p:nvSpPr>
        <p:spPr>
          <a:xfrm>
            <a:off x="6673427" y="4801222"/>
            <a:ext cx="63288" cy="63288"/>
          </a:xfrm>
          <a:prstGeom prst="ellipse">
            <a:avLst/>
          </a:prstGeom>
          <a:noFill/>
          <a:ln w="1270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icon-network"/>
          <p:cNvSpPr/>
          <p:nvPr/>
        </p:nvSpPr>
        <p:spPr>
          <a:xfrm>
            <a:off x="6795135" y="4801222"/>
            <a:ext cx="63288" cy="63288"/>
          </a:xfrm>
          <a:prstGeom prst="ellipse">
            <a:avLst/>
          </a:prstGeom>
          <a:noFill/>
          <a:ln w="1270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hex-n-03"/>
          <p:cNvSpPr txBox="1"/>
          <p:nvPr/>
        </p:nvSpPr>
        <p:spPr>
          <a:xfrm>
            <a:off x="6628194" y="4999141"/>
            <a:ext cx="27546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25">
                <a:solidFill>
                  <a:srgbClr val="FFFFFF">
                    <a:alpha val="72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47" name="icon-megaphone"/>
          <p:cNvSpPr/>
          <p:nvPr/>
        </p:nvSpPr>
        <p:spPr>
          <a:xfrm>
            <a:off x="5345748" y="4691698"/>
            <a:ext cx="158242" cy="150876"/>
          </a:xfrm>
          <a:custGeom>
            <a:avLst/>
            <a:gdLst/>
            <a:ahLst/>
            <a:cxnLst/>
            <a:rect l="0" t="0" r="r" b="b"/>
            <a:pathLst>
              <a:path w="158242" h="150876">
                <a:moveTo>
                  <a:pt x="0" y="46228"/>
                </a:moveTo>
                <a:lnTo>
                  <a:pt x="0" y="104648"/>
                </a:lnTo>
                <a:lnTo>
                  <a:pt x="36512" y="104648"/>
                </a:lnTo>
                <a:lnTo>
                  <a:pt x="124142" y="150876"/>
                </a:lnTo>
                <a:lnTo>
                  <a:pt x="124142" y="0"/>
                </a:lnTo>
                <a:lnTo>
                  <a:pt x="36512" y="46228"/>
                </a:lnTo>
                <a:close/>
                <a:moveTo>
                  <a:pt x="158242" y="51117"/>
                </a:moveTo>
                <a:lnTo>
                  <a:pt x="158242" y="99758"/>
                </a:lnTo>
              </a:path>
            </a:pathLst>
          </a:custGeom>
          <a:noFill/>
          <a:ln w="1270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hex-n-04"/>
          <p:cNvSpPr txBox="1"/>
          <p:nvPr/>
        </p:nvSpPr>
        <p:spPr>
          <a:xfrm>
            <a:off x="5288344" y="4999141"/>
            <a:ext cx="27546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25">
                <a:solidFill>
                  <a:srgbClr val="FFFFFF">
                    <a:alpha val="72000"/>
                  </a:srgbClr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49" name="icon-truck"/>
          <p:cNvSpPr/>
          <p:nvPr/>
        </p:nvSpPr>
        <p:spPr>
          <a:xfrm>
            <a:off x="4653915" y="3541078"/>
            <a:ext cx="192278" cy="119253"/>
          </a:xfrm>
          <a:custGeom>
            <a:avLst/>
            <a:gdLst/>
            <a:ahLst/>
            <a:cxnLst/>
            <a:rect l="0" t="0" r="r" b="b"/>
            <a:pathLst>
              <a:path w="192278" h="119253">
                <a:moveTo>
                  <a:pt x="0" y="0"/>
                </a:moveTo>
                <a:lnTo>
                  <a:pt x="116840" y="0"/>
                </a:lnTo>
                <a:lnTo>
                  <a:pt x="116840" y="119253"/>
                </a:lnTo>
                <a:lnTo>
                  <a:pt x="0" y="119253"/>
                </a:lnTo>
                <a:close/>
                <a:moveTo>
                  <a:pt x="116840" y="43815"/>
                </a:moveTo>
                <a:lnTo>
                  <a:pt x="158242" y="43815"/>
                </a:lnTo>
                <a:lnTo>
                  <a:pt x="192278" y="80327"/>
                </a:lnTo>
                <a:lnTo>
                  <a:pt x="192278" y="119253"/>
                </a:lnTo>
                <a:lnTo>
                  <a:pt x="116840" y="119253"/>
                </a:lnTo>
                <a:close/>
              </a:path>
            </a:pathLst>
          </a:custGeom>
          <a:noFill/>
          <a:ln w="1270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hex-n-05"/>
          <p:cNvSpPr txBox="1"/>
          <p:nvPr/>
        </p:nvSpPr>
        <p:spPr>
          <a:xfrm>
            <a:off x="4618418" y="3838797"/>
            <a:ext cx="27546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25">
                <a:solidFill>
                  <a:srgbClr val="FFFFFF">
                    <a:alpha val="72000"/>
                  </a:srgbClr>
                </a:solidFill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51" name="icon-people"/>
          <p:cNvSpPr/>
          <p:nvPr/>
        </p:nvSpPr>
        <p:spPr>
          <a:xfrm>
            <a:off x="5323840" y="2478088"/>
            <a:ext cx="206883" cy="58420"/>
          </a:xfrm>
          <a:custGeom>
            <a:avLst/>
            <a:gdLst/>
            <a:ahLst/>
            <a:cxnLst/>
            <a:rect l="0" t="0" r="r" b="b"/>
            <a:pathLst>
              <a:path w="206883" h="58420">
                <a:moveTo>
                  <a:pt x="0" y="58420"/>
                </a:moveTo>
                <a:cubicBezTo>
                  <a:pt x="0" y="21907"/>
                  <a:pt x="30417" y="0"/>
                  <a:pt x="65723" y="0"/>
                </a:cubicBezTo>
                <a:cubicBezTo>
                  <a:pt x="101028" y="0"/>
                  <a:pt x="131445" y="21907"/>
                  <a:pt x="131445" y="58420"/>
                </a:cubicBezTo>
                <a:moveTo>
                  <a:pt x="155765" y="4889"/>
                </a:moveTo>
                <a:cubicBezTo>
                  <a:pt x="187452" y="8509"/>
                  <a:pt x="206883" y="30417"/>
                  <a:pt x="206883" y="58420"/>
                </a:cubicBezTo>
              </a:path>
            </a:pathLst>
          </a:custGeom>
          <a:noFill/>
          <a:ln w="1270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icon-people"/>
          <p:cNvSpPr/>
          <p:nvPr/>
        </p:nvSpPr>
        <p:spPr>
          <a:xfrm>
            <a:off x="5350616" y="2373431"/>
            <a:ext cx="77893" cy="77893"/>
          </a:xfrm>
          <a:prstGeom prst="ellipse">
            <a:avLst/>
          </a:prstGeom>
          <a:noFill/>
          <a:ln w="1270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icon-people"/>
          <p:cNvSpPr/>
          <p:nvPr/>
        </p:nvSpPr>
        <p:spPr>
          <a:xfrm>
            <a:off x="5455285" y="2373431"/>
            <a:ext cx="63288" cy="63288"/>
          </a:xfrm>
          <a:prstGeom prst="ellipse">
            <a:avLst/>
          </a:prstGeom>
          <a:noFill/>
          <a:ln w="1270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hex-n-06"/>
          <p:cNvSpPr txBox="1"/>
          <p:nvPr/>
        </p:nvSpPr>
        <p:spPr>
          <a:xfrm>
            <a:off x="5288344" y="2678453"/>
            <a:ext cx="27546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25">
                <a:solidFill>
                  <a:srgbClr val="FFFFFF">
                    <a:alpha val="72000"/>
                  </a:srgbClr>
                </a:solidFill>
                <a:latin typeface="Arial"/>
                <a:ea typeface="Arial"/>
                <a:cs typeface="Arial"/>
              </a:rPr>
              <a:t>06</a:t>
            </a:r>
          </a:p>
        </p:txBody>
      </p:sp>
      <p:sp>
        <p:nvSpPr>
          <p:cNvPr id="55" name="lead-01"/>
          <p:cNvSpPr/>
          <p:nvPr/>
        </p:nvSpPr>
        <p:spPr>
          <a:xfrm>
            <a:off x="7614730" y="2548064"/>
            <a:ext cx="830770" cy="3175"/>
          </a:xfrm>
          <a:custGeom>
            <a:avLst/>
            <a:gdLst/>
            <a:ahLst/>
            <a:cxnLst/>
            <a:rect l="0" t="0" r="r" b="b"/>
            <a:pathLst>
              <a:path w="830770" h="3175">
                <a:moveTo>
                  <a:pt x="0" y="0"/>
                </a:moveTo>
                <a:lnTo>
                  <a:pt x="415417" y="0"/>
                </a:lnTo>
                <a:quadBezTo>
                  <a:pt x="415417" y="0"/>
                  <a:pt x="415417" y="0"/>
                </a:quadBezTo>
                <a:lnTo>
                  <a:pt x="830770" y="0"/>
                </a:lnTo>
              </a:path>
            </a:pathLst>
          </a:custGeom>
          <a:noFill/>
          <a:ln w="762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dot-01"/>
          <p:cNvSpPr/>
          <p:nvPr/>
        </p:nvSpPr>
        <p:spPr>
          <a:xfrm>
            <a:off x="8413750" y="2516306"/>
            <a:ext cx="63500" cy="635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dotr-01"/>
          <p:cNvSpPr/>
          <p:nvPr/>
        </p:nvSpPr>
        <p:spPr>
          <a:xfrm>
            <a:off x="8385175" y="2487731"/>
            <a:ext cx="120650" cy="120650"/>
          </a:xfrm>
          <a:prstGeom prst="ellipse">
            <a:avLst/>
          </a:prstGeom>
          <a:noFill/>
          <a:ln w="7620" cap="rnd">
            <a:solidFill>
              <a:srgbClr val="0B3E8F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h-01"/>
          <p:cNvSpPr txBox="1"/>
          <p:nvPr/>
        </p:nvSpPr>
        <p:spPr>
          <a:xfrm>
            <a:off x="8693150" y="2313900"/>
            <a:ext cx="80835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产品研发</a:t>
            </a:r>
          </a:p>
        </p:txBody>
      </p:sp>
      <p:sp>
        <p:nvSpPr>
          <p:cNvPr id="59" name="rule-01"/>
          <p:cNvSpPr/>
          <p:nvPr/>
        </p:nvSpPr>
        <p:spPr>
          <a:xfrm>
            <a:off x="8712200" y="2630606"/>
            <a:ext cx="1511300" cy="7620"/>
          </a:xfrm>
          <a:prstGeom prst="roundRect">
            <a:avLst>
              <a:gd name="adj" fmla="val 50000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p-01-1"/>
          <p:cNvSpPr txBox="1"/>
          <p:nvPr/>
        </p:nvSpPr>
        <p:spPr>
          <a:xfrm>
            <a:off x="8698865" y="2677516"/>
            <a:ext cx="17002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自研核心技术栈，季度迭代上线</a:t>
            </a:r>
          </a:p>
        </p:txBody>
      </p:sp>
      <p:sp>
        <p:nvSpPr>
          <p:cNvPr id="61" name="p-01-2"/>
          <p:cNvSpPr txBox="1"/>
          <p:nvPr/>
        </p:nvSpPr>
        <p:spPr>
          <a:xfrm>
            <a:off x="8698865" y="2848966"/>
            <a:ext cx="15046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近三年累计申请专利 86 项</a:t>
            </a:r>
          </a:p>
        </p:txBody>
      </p:sp>
      <p:sp>
        <p:nvSpPr>
          <p:cNvPr id="62" name="mark-01"/>
          <p:cNvSpPr txBox="1"/>
          <p:nvPr/>
        </p:nvSpPr>
        <p:spPr>
          <a:xfrm>
            <a:off x="10333228" y="2210490"/>
            <a:ext cx="743712" cy="6223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800" b="1" spc="100">
                <a:solidFill>
                  <a:srgbClr val="0B3E8F">
                    <a:alpha val="13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63" name="lead-02"/>
          <p:cNvSpPr/>
          <p:nvPr/>
        </p:nvSpPr>
        <p:spPr>
          <a:xfrm>
            <a:off x="8284654" y="3708400"/>
            <a:ext cx="160845" cy="3175"/>
          </a:xfrm>
          <a:custGeom>
            <a:avLst/>
            <a:gdLst/>
            <a:ahLst/>
            <a:cxnLst/>
            <a:rect l="0" t="0" r="r" b="b"/>
            <a:pathLst>
              <a:path w="160845" h="3175">
                <a:moveTo>
                  <a:pt x="0" y="0"/>
                </a:moveTo>
                <a:lnTo>
                  <a:pt x="80454" y="0"/>
                </a:lnTo>
                <a:quadBezTo>
                  <a:pt x="80454" y="0"/>
                  <a:pt x="80454" y="0"/>
                </a:quadBezTo>
                <a:lnTo>
                  <a:pt x="160845" y="0"/>
                </a:lnTo>
              </a:path>
            </a:pathLst>
          </a:custGeom>
          <a:noFill/>
          <a:ln w="762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dot-02"/>
          <p:cNvSpPr/>
          <p:nvPr/>
        </p:nvSpPr>
        <p:spPr>
          <a:xfrm>
            <a:off x="8413750" y="3676650"/>
            <a:ext cx="63500" cy="635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dotr-02"/>
          <p:cNvSpPr/>
          <p:nvPr/>
        </p:nvSpPr>
        <p:spPr>
          <a:xfrm>
            <a:off x="8385175" y="3648075"/>
            <a:ext cx="120650" cy="120650"/>
          </a:xfrm>
          <a:prstGeom prst="ellipse">
            <a:avLst/>
          </a:prstGeom>
          <a:noFill/>
          <a:ln w="7620" cap="rnd">
            <a:solidFill>
              <a:srgbClr val="134C9C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h-02"/>
          <p:cNvSpPr txBox="1"/>
          <p:nvPr/>
        </p:nvSpPr>
        <p:spPr>
          <a:xfrm>
            <a:off x="8693150" y="3474244"/>
            <a:ext cx="80835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智能制造</a:t>
            </a:r>
          </a:p>
        </p:txBody>
      </p:sp>
      <p:sp>
        <p:nvSpPr>
          <p:cNvPr id="67" name="rule-02"/>
          <p:cNvSpPr/>
          <p:nvPr/>
        </p:nvSpPr>
        <p:spPr>
          <a:xfrm>
            <a:off x="8712200" y="3790950"/>
            <a:ext cx="1511300" cy="7620"/>
          </a:xfrm>
          <a:prstGeom prst="roundRect">
            <a:avLst>
              <a:gd name="adj" fmla="val 50000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p-02-1"/>
          <p:cNvSpPr txBox="1"/>
          <p:nvPr/>
        </p:nvSpPr>
        <p:spPr>
          <a:xfrm>
            <a:off x="8698865" y="3837861"/>
            <a:ext cx="13573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柔性产线支持小批量定制</a:t>
            </a:r>
          </a:p>
        </p:txBody>
      </p:sp>
      <p:sp>
        <p:nvSpPr>
          <p:cNvPr id="69" name="p-02-2"/>
          <p:cNvSpPr txBox="1"/>
          <p:nvPr/>
        </p:nvSpPr>
        <p:spPr>
          <a:xfrm>
            <a:off x="8698865" y="4009311"/>
            <a:ext cx="13573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订单按需生产、按期交付</a:t>
            </a:r>
          </a:p>
        </p:txBody>
      </p:sp>
      <p:sp>
        <p:nvSpPr>
          <p:cNvPr id="70" name="mark-02"/>
          <p:cNvSpPr txBox="1"/>
          <p:nvPr/>
        </p:nvSpPr>
        <p:spPr>
          <a:xfrm>
            <a:off x="10333228" y="3370834"/>
            <a:ext cx="743712" cy="6223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800" b="1" spc="100">
                <a:solidFill>
                  <a:srgbClr val="134C9C">
                    <a:alpha val="13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71" name="lead-03"/>
          <p:cNvSpPr/>
          <p:nvPr/>
        </p:nvSpPr>
        <p:spPr>
          <a:xfrm>
            <a:off x="7614730" y="4868736"/>
            <a:ext cx="830770" cy="3175"/>
          </a:xfrm>
          <a:custGeom>
            <a:avLst/>
            <a:gdLst/>
            <a:ahLst/>
            <a:cxnLst/>
            <a:rect l="0" t="0" r="r" b="b"/>
            <a:pathLst>
              <a:path w="830770" h="3175">
                <a:moveTo>
                  <a:pt x="0" y="0"/>
                </a:moveTo>
                <a:lnTo>
                  <a:pt x="415417" y="0"/>
                </a:lnTo>
                <a:quadBezTo>
                  <a:pt x="415417" y="0"/>
                  <a:pt x="415417" y="0"/>
                </a:quadBezTo>
                <a:lnTo>
                  <a:pt x="830770" y="0"/>
                </a:lnTo>
              </a:path>
            </a:pathLst>
          </a:custGeom>
          <a:noFill/>
          <a:ln w="762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dot-03"/>
          <p:cNvSpPr/>
          <p:nvPr/>
        </p:nvSpPr>
        <p:spPr>
          <a:xfrm>
            <a:off x="8413750" y="4836994"/>
            <a:ext cx="63500" cy="63500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dotr-03"/>
          <p:cNvSpPr/>
          <p:nvPr/>
        </p:nvSpPr>
        <p:spPr>
          <a:xfrm>
            <a:off x="8385175" y="4808419"/>
            <a:ext cx="120650" cy="120650"/>
          </a:xfrm>
          <a:prstGeom prst="ellipse">
            <a:avLst/>
          </a:prstGeom>
          <a:noFill/>
          <a:ln w="7620" cap="rnd">
            <a:solidFill>
              <a:srgbClr val="2468B6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h-03"/>
          <p:cNvSpPr txBox="1"/>
          <p:nvPr/>
        </p:nvSpPr>
        <p:spPr>
          <a:xfrm>
            <a:off x="8693150" y="4634588"/>
            <a:ext cx="80835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渠道网络</a:t>
            </a:r>
          </a:p>
        </p:txBody>
      </p:sp>
      <p:sp>
        <p:nvSpPr>
          <p:cNvPr id="75" name="rule-03"/>
          <p:cNvSpPr/>
          <p:nvPr/>
        </p:nvSpPr>
        <p:spPr>
          <a:xfrm>
            <a:off x="8712200" y="4951294"/>
            <a:ext cx="1511300" cy="7620"/>
          </a:xfrm>
          <a:prstGeom prst="roundRect">
            <a:avLst>
              <a:gd name="adj" fmla="val 50000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p-03-1"/>
          <p:cNvSpPr txBox="1"/>
          <p:nvPr/>
        </p:nvSpPr>
        <p:spPr>
          <a:xfrm>
            <a:off x="8698865" y="4998205"/>
            <a:ext cx="17338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覆盖 28 省，门店超 1,200 家</a:t>
            </a:r>
          </a:p>
        </p:txBody>
      </p:sp>
      <p:sp>
        <p:nvSpPr>
          <p:cNvPr id="77" name="p-03-2"/>
          <p:cNvSpPr txBox="1"/>
          <p:nvPr/>
        </p:nvSpPr>
        <p:spPr>
          <a:xfrm>
            <a:off x="8698865" y="5169655"/>
            <a:ext cx="11287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线上线下一体化运营</a:t>
            </a:r>
          </a:p>
        </p:txBody>
      </p:sp>
      <p:sp>
        <p:nvSpPr>
          <p:cNvPr id="78" name="mark-03"/>
          <p:cNvSpPr txBox="1"/>
          <p:nvPr/>
        </p:nvSpPr>
        <p:spPr>
          <a:xfrm>
            <a:off x="10333228" y="4531178"/>
            <a:ext cx="743712" cy="6223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800" b="1" spc="100">
                <a:solidFill>
                  <a:srgbClr val="2468B6">
                    <a:alpha val="13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79" name="lead-06"/>
          <p:cNvSpPr/>
          <p:nvPr/>
        </p:nvSpPr>
        <p:spPr>
          <a:xfrm>
            <a:off x="3746500" y="2548064"/>
            <a:ext cx="830771" cy="3175"/>
          </a:xfrm>
          <a:custGeom>
            <a:avLst/>
            <a:gdLst/>
            <a:ahLst/>
            <a:cxnLst/>
            <a:rect l="0" t="0" r="r" b="b"/>
            <a:pathLst>
              <a:path w="830771" h="3175">
                <a:moveTo>
                  <a:pt x="830771" y="0"/>
                </a:moveTo>
                <a:lnTo>
                  <a:pt x="415353" y="0"/>
                </a:lnTo>
                <a:quadBezTo>
                  <a:pt x="415353" y="0"/>
                  <a:pt x="415353" y="0"/>
                </a:quadBezTo>
                <a:lnTo>
                  <a:pt x="0" y="0"/>
                </a:lnTo>
              </a:path>
            </a:pathLst>
          </a:custGeom>
          <a:noFill/>
          <a:ln w="762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dot-06"/>
          <p:cNvSpPr/>
          <p:nvPr/>
        </p:nvSpPr>
        <p:spPr>
          <a:xfrm>
            <a:off x="3714750" y="2516306"/>
            <a:ext cx="63500" cy="63500"/>
          </a:xfrm>
          <a:prstGeom prst="ellipse">
            <a:avLst/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dotr-06"/>
          <p:cNvSpPr/>
          <p:nvPr/>
        </p:nvSpPr>
        <p:spPr>
          <a:xfrm>
            <a:off x="3686175" y="2487731"/>
            <a:ext cx="120650" cy="120650"/>
          </a:xfrm>
          <a:prstGeom prst="ellipse">
            <a:avLst/>
          </a:prstGeom>
          <a:noFill/>
          <a:ln w="7620" cap="rnd">
            <a:solidFill>
              <a:srgbClr val="54A2DF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h-06"/>
          <p:cNvSpPr txBox="1"/>
          <p:nvPr/>
        </p:nvSpPr>
        <p:spPr>
          <a:xfrm>
            <a:off x="2690495" y="2313900"/>
            <a:ext cx="80835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组织人才</a:t>
            </a:r>
          </a:p>
        </p:txBody>
      </p:sp>
      <p:sp>
        <p:nvSpPr>
          <p:cNvPr id="83" name="rule-06"/>
          <p:cNvSpPr/>
          <p:nvPr/>
        </p:nvSpPr>
        <p:spPr>
          <a:xfrm>
            <a:off x="1968500" y="2630606"/>
            <a:ext cx="1511300" cy="7620"/>
          </a:xfrm>
          <a:prstGeom prst="roundRect">
            <a:avLst>
              <a:gd name="adj" fmla="val 50000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p-06-1"/>
          <p:cNvSpPr txBox="1"/>
          <p:nvPr/>
        </p:nvSpPr>
        <p:spPr>
          <a:xfrm>
            <a:off x="2135822" y="2677516"/>
            <a:ext cx="13573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专家梯队与内部培养体系</a:t>
            </a:r>
          </a:p>
        </p:txBody>
      </p:sp>
      <p:sp>
        <p:nvSpPr>
          <p:cNvPr id="85" name="p-06-2"/>
          <p:cNvSpPr txBox="1"/>
          <p:nvPr/>
        </p:nvSpPr>
        <p:spPr>
          <a:xfrm>
            <a:off x="2037397" y="2848966"/>
            <a:ext cx="145573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核心团队平均司龄 6.2 年</a:t>
            </a:r>
          </a:p>
        </p:txBody>
      </p:sp>
      <p:sp>
        <p:nvSpPr>
          <p:cNvPr id="86" name="mark-06"/>
          <p:cNvSpPr txBox="1"/>
          <p:nvPr/>
        </p:nvSpPr>
        <p:spPr>
          <a:xfrm>
            <a:off x="1115060" y="2210490"/>
            <a:ext cx="743712" cy="6223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800" b="1" spc="100">
                <a:solidFill>
                  <a:srgbClr val="54A2DF">
                    <a:alpha val="13000"/>
                  </a:srgbClr>
                </a:solidFill>
                <a:latin typeface="Arial"/>
                <a:ea typeface="Arial"/>
                <a:cs typeface="Arial"/>
              </a:rPr>
              <a:t>06</a:t>
            </a:r>
          </a:p>
        </p:txBody>
      </p:sp>
      <p:sp>
        <p:nvSpPr>
          <p:cNvPr id="87" name="lead-05"/>
          <p:cNvSpPr/>
          <p:nvPr/>
        </p:nvSpPr>
        <p:spPr>
          <a:xfrm>
            <a:off x="3746500" y="3708400"/>
            <a:ext cx="160846" cy="3175"/>
          </a:xfrm>
          <a:custGeom>
            <a:avLst/>
            <a:gdLst/>
            <a:ahLst/>
            <a:cxnLst/>
            <a:rect l="0" t="0" r="r" b="b"/>
            <a:pathLst>
              <a:path w="160846" h="3175">
                <a:moveTo>
                  <a:pt x="160846" y="0"/>
                </a:moveTo>
                <a:lnTo>
                  <a:pt x="80391" y="0"/>
                </a:lnTo>
                <a:quadBezTo>
                  <a:pt x="80391" y="0"/>
                  <a:pt x="80391" y="0"/>
                </a:quadBezTo>
                <a:lnTo>
                  <a:pt x="0" y="0"/>
                </a:lnTo>
              </a:path>
            </a:pathLst>
          </a:custGeom>
          <a:noFill/>
          <a:ln w="762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dot-05"/>
          <p:cNvSpPr/>
          <p:nvPr/>
        </p:nvSpPr>
        <p:spPr>
          <a:xfrm>
            <a:off x="3714750" y="3676650"/>
            <a:ext cx="63500" cy="63500"/>
          </a:xfrm>
          <a:prstGeom prst="ellipse">
            <a:avLst/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dotr-05"/>
          <p:cNvSpPr/>
          <p:nvPr/>
        </p:nvSpPr>
        <p:spPr>
          <a:xfrm>
            <a:off x="3686175" y="3648075"/>
            <a:ext cx="120650" cy="120650"/>
          </a:xfrm>
          <a:prstGeom prst="ellipse">
            <a:avLst/>
          </a:prstGeom>
          <a:noFill/>
          <a:ln w="7620" cap="rnd">
            <a:solidFill>
              <a:srgbClr val="4694D7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h-05"/>
          <p:cNvSpPr txBox="1"/>
          <p:nvPr/>
        </p:nvSpPr>
        <p:spPr>
          <a:xfrm>
            <a:off x="2690495" y="3474244"/>
            <a:ext cx="80835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供应保障</a:t>
            </a:r>
          </a:p>
        </p:txBody>
      </p:sp>
      <p:sp>
        <p:nvSpPr>
          <p:cNvPr id="91" name="rule-05"/>
          <p:cNvSpPr/>
          <p:nvPr/>
        </p:nvSpPr>
        <p:spPr>
          <a:xfrm>
            <a:off x="1968500" y="3790950"/>
            <a:ext cx="1511300" cy="7620"/>
          </a:xfrm>
          <a:prstGeom prst="roundRect">
            <a:avLst>
              <a:gd name="adj" fmla="val 50000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p-05-1"/>
          <p:cNvSpPr txBox="1"/>
          <p:nvPr/>
        </p:nvSpPr>
        <p:spPr>
          <a:xfrm>
            <a:off x="2478722" y="3837861"/>
            <a:ext cx="10144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南北双仓协同调拨</a:t>
            </a:r>
          </a:p>
        </p:txBody>
      </p:sp>
      <p:sp>
        <p:nvSpPr>
          <p:cNvPr id="93" name="p-05-2"/>
          <p:cNvSpPr txBox="1"/>
          <p:nvPr/>
        </p:nvSpPr>
        <p:spPr>
          <a:xfrm>
            <a:off x="2217102" y="4009311"/>
            <a:ext cx="127603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平均履约时效 48 小时</a:t>
            </a:r>
          </a:p>
        </p:txBody>
      </p:sp>
      <p:sp>
        <p:nvSpPr>
          <p:cNvPr id="94" name="mark-05"/>
          <p:cNvSpPr txBox="1"/>
          <p:nvPr/>
        </p:nvSpPr>
        <p:spPr>
          <a:xfrm>
            <a:off x="1115060" y="3370834"/>
            <a:ext cx="743712" cy="6223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800" b="1" spc="100">
                <a:solidFill>
                  <a:srgbClr val="4694D7">
                    <a:alpha val="13000"/>
                  </a:srgbClr>
                </a:solidFill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95" name="lead-04"/>
          <p:cNvSpPr/>
          <p:nvPr/>
        </p:nvSpPr>
        <p:spPr>
          <a:xfrm>
            <a:off x="3746500" y="4868736"/>
            <a:ext cx="830771" cy="3175"/>
          </a:xfrm>
          <a:custGeom>
            <a:avLst/>
            <a:gdLst/>
            <a:ahLst/>
            <a:cxnLst/>
            <a:rect l="0" t="0" r="r" b="b"/>
            <a:pathLst>
              <a:path w="830771" h="3175">
                <a:moveTo>
                  <a:pt x="830771" y="0"/>
                </a:moveTo>
                <a:lnTo>
                  <a:pt x="415353" y="0"/>
                </a:lnTo>
                <a:quadBezTo>
                  <a:pt x="415353" y="0"/>
                  <a:pt x="415353" y="0"/>
                </a:quadBezTo>
                <a:lnTo>
                  <a:pt x="0" y="0"/>
                </a:lnTo>
              </a:path>
            </a:pathLst>
          </a:custGeom>
          <a:noFill/>
          <a:ln w="762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dot-04"/>
          <p:cNvSpPr/>
          <p:nvPr/>
        </p:nvSpPr>
        <p:spPr>
          <a:xfrm>
            <a:off x="3714750" y="4836994"/>
            <a:ext cx="63500" cy="635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dotr-04"/>
          <p:cNvSpPr/>
          <p:nvPr/>
        </p:nvSpPr>
        <p:spPr>
          <a:xfrm>
            <a:off x="3686175" y="4808419"/>
            <a:ext cx="120650" cy="120650"/>
          </a:xfrm>
          <a:prstGeom prst="ellipse">
            <a:avLst/>
          </a:prstGeom>
          <a:noFill/>
          <a:ln w="7620" cap="rnd">
            <a:solidFill>
              <a:srgbClr val="2E77C2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h-04"/>
          <p:cNvSpPr txBox="1"/>
          <p:nvPr/>
        </p:nvSpPr>
        <p:spPr>
          <a:xfrm>
            <a:off x="2690495" y="4634588"/>
            <a:ext cx="80835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品牌营销</a:t>
            </a:r>
          </a:p>
        </p:txBody>
      </p:sp>
      <p:sp>
        <p:nvSpPr>
          <p:cNvPr id="99" name="rule-04"/>
          <p:cNvSpPr/>
          <p:nvPr/>
        </p:nvSpPr>
        <p:spPr>
          <a:xfrm>
            <a:off x="1968500" y="4951294"/>
            <a:ext cx="1511300" cy="7620"/>
          </a:xfrm>
          <a:prstGeom prst="roundRect">
            <a:avLst>
              <a:gd name="adj" fmla="val 50000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p-04-1"/>
          <p:cNvSpPr txBox="1"/>
          <p:nvPr/>
        </p:nvSpPr>
        <p:spPr>
          <a:xfrm>
            <a:off x="2135822" y="4998205"/>
            <a:ext cx="13573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全域内容运营与私域沉淀</a:t>
            </a:r>
          </a:p>
        </p:txBody>
      </p:sp>
      <p:sp>
        <p:nvSpPr>
          <p:cNvPr id="101" name="p-04-2"/>
          <p:cNvSpPr txBox="1"/>
          <p:nvPr/>
        </p:nvSpPr>
        <p:spPr>
          <a:xfrm>
            <a:off x="1906587" y="5169655"/>
            <a:ext cx="158654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年触达用户规模超 3,000 万</a:t>
            </a:r>
          </a:p>
        </p:txBody>
      </p:sp>
      <p:sp>
        <p:nvSpPr>
          <p:cNvPr id="102" name="mark-04"/>
          <p:cNvSpPr txBox="1"/>
          <p:nvPr/>
        </p:nvSpPr>
        <p:spPr>
          <a:xfrm>
            <a:off x="1115060" y="4531178"/>
            <a:ext cx="743712" cy="6223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800" b="1" spc="100">
                <a:solidFill>
                  <a:srgbClr val="2E77C2">
                    <a:alpha val="13000"/>
                  </a:srgbClr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cxnSp>
        <p:nvCxnSpPr>
          <p:cNvPr id="103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4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核心能力 · 六大板块</a:t>
            </a:r>
          </a:p>
        </p:txBody>
      </p:sp>
      <p:sp>
        <p:nvSpPr>
          <p:cNvPr id="105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业务组合矩阵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235648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BUSINESS PORTFOLIO MATRIX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780399" y="673132"/>
            <a:ext cx="2840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按增长潜力与市场份额划分四类业务，匹配差异化策略</a:t>
            </a:r>
          </a:p>
        </p:txBody>
      </p:sp>
      <p:cxnSp>
        <p:nvCxnSpPr>
          <p:cNvPr id="10" name="axis-v"/>
          <p:cNvCxnSpPr/>
          <p:nvPr/>
        </p:nvCxnSpPr>
        <p:spPr>
          <a:xfrm>
            <a:off x="6159500" y="1282700"/>
            <a:ext cx="0" cy="4699000"/>
          </a:xfrm>
          <a:prstGeom prst="line">
            <a:avLst/>
          </a:prstGeom>
          <a:ln w="7620" cap="rnd">
            <a:solidFill>
              <a:srgbClr val="0B2545">
                <a:alpha val="1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axis-h"/>
          <p:cNvCxnSpPr/>
          <p:nvPr/>
        </p:nvCxnSpPr>
        <p:spPr>
          <a:xfrm>
            <a:off x="2895600" y="3638550"/>
            <a:ext cx="6527800" cy="0"/>
          </a:xfrm>
          <a:prstGeom prst="line">
            <a:avLst/>
          </a:prstGeom>
          <a:ln w="7620" cap="rnd">
            <a:solidFill>
              <a:srgbClr val="0B2545">
                <a:alpha val="1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" name="arr-v"/>
          <p:cNvSpPr/>
          <p:nvPr/>
        </p:nvSpPr>
        <p:spPr>
          <a:xfrm>
            <a:off x="6115050" y="1257300"/>
            <a:ext cx="88900" cy="101600"/>
          </a:xfrm>
          <a:custGeom>
            <a:avLst/>
            <a:gdLst/>
            <a:ahLst/>
            <a:cxnLst/>
            <a:rect l="0" t="0" r="r" b="b"/>
            <a:pathLst>
              <a:path w="88900" h="101600">
                <a:moveTo>
                  <a:pt x="0" y="101600"/>
                </a:moveTo>
                <a:lnTo>
                  <a:pt x="44450" y="0"/>
                </a:lnTo>
                <a:lnTo>
                  <a:pt x="88900" y="101600"/>
                </a:lnTo>
              </a:path>
            </a:pathLst>
          </a:custGeom>
          <a:noFill/>
          <a:ln w="9525" cap="rnd">
            <a:solidFill>
              <a:srgbClr val="0B2545">
                <a:alpha val="4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arr-h"/>
          <p:cNvSpPr/>
          <p:nvPr/>
        </p:nvSpPr>
        <p:spPr>
          <a:xfrm>
            <a:off x="9347200" y="3594100"/>
            <a:ext cx="101600" cy="88900"/>
          </a:xfrm>
          <a:custGeom>
            <a:avLst/>
            <a:gdLst/>
            <a:ahLst/>
            <a:cxnLst/>
            <a:rect l="0" t="0" r="r" b="b"/>
            <a:pathLst>
              <a:path w="101600" h="88900">
                <a:moveTo>
                  <a:pt x="0" y="0"/>
                </a:moveTo>
                <a:lnTo>
                  <a:pt x="101600" y="44450"/>
                </a:lnTo>
                <a:lnTo>
                  <a:pt x="0" y="88900"/>
                </a:lnTo>
              </a:path>
            </a:pathLst>
          </a:custGeom>
          <a:noFill/>
          <a:ln w="9525" cap="rnd">
            <a:solidFill>
              <a:srgbClr val="0B2545">
                <a:alpha val="4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axis-t-top"/>
          <p:cNvSpPr txBox="1"/>
          <p:nvPr/>
        </p:nvSpPr>
        <p:spPr>
          <a:xfrm>
            <a:off x="5747258" y="1022382"/>
            <a:ext cx="824484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增长潜力  高</a:t>
            </a:r>
          </a:p>
        </p:txBody>
      </p:sp>
      <p:sp>
        <p:nvSpPr>
          <p:cNvPr id="15" name="axis-t-bot"/>
          <p:cNvSpPr txBox="1"/>
          <p:nvPr/>
        </p:nvSpPr>
        <p:spPr>
          <a:xfrm>
            <a:off x="5747258" y="6064282"/>
            <a:ext cx="824484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增长潜力  低</a:t>
            </a:r>
          </a:p>
        </p:txBody>
      </p:sp>
      <p:sp>
        <p:nvSpPr>
          <p:cNvPr id="16" name="axis-t-r"/>
          <p:cNvSpPr txBox="1"/>
          <p:nvPr/>
        </p:nvSpPr>
        <p:spPr>
          <a:xfrm>
            <a:off x="9219946" y="3403632"/>
            <a:ext cx="44958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份额高</a:t>
            </a:r>
          </a:p>
        </p:txBody>
      </p:sp>
      <p:sp>
        <p:nvSpPr>
          <p:cNvPr id="17" name="axis-t-l"/>
          <p:cNvSpPr txBox="1"/>
          <p:nvPr/>
        </p:nvSpPr>
        <p:spPr>
          <a:xfrm>
            <a:off x="2649474" y="3403632"/>
            <a:ext cx="44958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份额低</a:t>
            </a:r>
          </a:p>
        </p:txBody>
      </p:sp>
      <p:sp>
        <p:nvSpPr>
          <p:cNvPr id="18" name="axis-o"/>
          <p:cNvSpPr/>
          <p:nvPr/>
        </p:nvSpPr>
        <p:spPr>
          <a:xfrm>
            <a:off x="6102350" y="3581400"/>
            <a:ext cx="114300" cy="114300"/>
          </a:xfrm>
          <a:prstGeom prst="ellipse">
            <a:avLst/>
          </a:prstGeom>
          <a:solidFill>
            <a:srgbClr val="FFFFFF"/>
          </a:solidFill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quad-02"/>
          <p:cNvSpPr/>
          <p:nvPr/>
        </p:nvSpPr>
        <p:spPr>
          <a:xfrm>
            <a:off x="3175000" y="1549400"/>
            <a:ext cx="2857500" cy="1962150"/>
          </a:xfrm>
          <a:custGeom>
            <a:avLst/>
            <a:gdLst/>
            <a:ahLst/>
            <a:cxnLst/>
            <a:rect l="0" t="0" r="r" b="b"/>
            <a:pathLst>
              <a:path w="2857500" h="1962150">
                <a:moveTo>
                  <a:pt x="127000" y="0"/>
                </a:moveTo>
                <a:lnTo>
                  <a:pt x="2730500" y="0"/>
                </a:lnTo>
                <a:cubicBezTo>
                  <a:pt x="2800667" y="0"/>
                  <a:pt x="2857500" y="56832"/>
                  <a:pt x="2857500" y="127000"/>
                </a:cubicBezTo>
                <a:lnTo>
                  <a:pt x="2857500" y="1835150"/>
                </a:lnTo>
                <a:cubicBezTo>
                  <a:pt x="2857500" y="1905317"/>
                  <a:pt x="2800667" y="1962150"/>
                  <a:pt x="2730500" y="1962150"/>
                </a:cubicBezTo>
                <a:lnTo>
                  <a:pt x="127000" y="1962150"/>
                </a:lnTo>
                <a:cubicBezTo>
                  <a:pt x="56832" y="1962150"/>
                  <a:pt x="0" y="1905317"/>
                  <a:pt x="0" y="1835150"/>
                </a:cubicBezTo>
                <a:lnTo>
                  <a:pt x="0" y="127000"/>
                </a:lnTo>
                <a:cubicBezTo>
                  <a:pt x="0" y="56832"/>
                  <a:pt x="56832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4787C9"/>
              </a:gs>
              <a:gs pos="100000">
                <a:srgbClr val="2E77C2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q-num-02"/>
          <p:cNvSpPr txBox="1"/>
          <p:nvPr/>
        </p:nvSpPr>
        <p:spPr>
          <a:xfrm>
            <a:off x="3416046" y="1809782"/>
            <a:ext cx="2561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50">
                <a:solidFill>
                  <a:srgbClr val="FFFFFF">
                    <a:alpha val="55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21" name="q-cn-02"/>
          <p:cNvSpPr txBox="1"/>
          <p:nvPr/>
        </p:nvSpPr>
        <p:spPr>
          <a:xfrm>
            <a:off x="3404616" y="1984248"/>
            <a:ext cx="1071880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6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潜力业务</a:t>
            </a:r>
          </a:p>
        </p:txBody>
      </p:sp>
      <p:sp>
        <p:nvSpPr>
          <p:cNvPr id="22" name="q-en-02"/>
          <p:cNvSpPr txBox="1"/>
          <p:nvPr/>
        </p:nvSpPr>
        <p:spPr>
          <a:xfrm>
            <a:off x="3418332" y="2315908"/>
            <a:ext cx="728091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75">
                <a:solidFill>
                  <a:srgbClr val="FFFFFF">
                    <a:alpha val="60000"/>
                  </a:srgbClr>
                </a:solidFill>
                <a:latin typeface="Arial"/>
                <a:ea typeface="Arial"/>
                <a:cs typeface="Arial"/>
              </a:rPr>
              <a:t>POTENTIAL</a:t>
            </a:r>
          </a:p>
        </p:txBody>
      </p:sp>
      <p:sp>
        <p:nvSpPr>
          <p:cNvPr id="23" name="q-rule-02"/>
          <p:cNvSpPr/>
          <p:nvPr/>
        </p:nvSpPr>
        <p:spPr>
          <a:xfrm>
            <a:off x="3429000" y="2565400"/>
            <a:ext cx="342900" cy="12700"/>
          </a:xfrm>
          <a:prstGeom prst="roundRect">
            <a:avLst>
              <a:gd name="adj" fmla="val 50000"/>
            </a:avLst>
          </a:prstGeom>
          <a:solidFill>
            <a:srgbClr val="FFFFFF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q-dot-02-1"/>
          <p:cNvSpPr/>
          <p:nvPr/>
        </p:nvSpPr>
        <p:spPr>
          <a:xfrm>
            <a:off x="3446780" y="2773680"/>
            <a:ext cx="40640" cy="40640"/>
          </a:xfrm>
          <a:prstGeom prst="ellipse">
            <a:avLst/>
          </a:prstGeom>
          <a:solidFill>
            <a:srgbClr val="FFFFFF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q-p-02-1"/>
          <p:cNvSpPr txBox="1"/>
          <p:nvPr/>
        </p:nvSpPr>
        <p:spPr>
          <a:xfrm>
            <a:off x="3555365" y="2694861"/>
            <a:ext cx="12366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2000"/>
                  </a:srgbClr>
                </a:solidFill>
                <a:latin typeface="微软雅黑"/>
                <a:ea typeface="微软雅黑"/>
                <a:cs typeface="微软雅黑"/>
              </a:rPr>
              <a:t>市场增速快但份额尚低</a:t>
            </a:r>
          </a:p>
        </p:txBody>
      </p:sp>
      <p:sp>
        <p:nvSpPr>
          <p:cNvPr id="26" name="q-dot-02-2"/>
          <p:cNvSpPr/>
          <p:nvPr/>
        </p:nvSpPr>
        <p:spPr>
          <a:xfrm>
            <a:off x="3446780" y="2976880"/>
            <a:ext cx="40640" cy="40640"/>
          </a:xfrm>
          <a:prstGeom prst="ellipse">
            <a:avLst/>
          </a:prstGeom>
          <a:solidFill>
            <a:srgbClr val="FFFFFF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q-p-02-2"/>
          <p:cNvSpPr txBox="1"/>
          <p:nvPr/>
        </p:nvSpPr>
        <p:spPr>
          <a:xfrm>
            <a:off x="3555365" y="28980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2000"/>
                  </a:srgbClr>
                </a:solidFill>
                <a:latin typeface="微软雅黑"/>
                <a:ea typeface="微软雅黑"/>
                <a:cs typeface="微软雅黑"/>
              </a:rPr>
              <a:t>需加大资源投入抢占</a:t>
            </a:r>
          </a:p>
        </p:txBody>
      </p:sp>
      <p:sp>
        <p:nvSpPr>
          <p:cNvPr id="28" name="q-pct-02"/>
          <p:cNvSpPr txBox="1"/>
          <p:nvPr/>
        </p:nvSpPr>
        <p:spPr>
          <a:xfrm>
            <a:off x="5066284" y="1683956"/>
            <a:ext cx="772668" cy="5111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300" b="1" spc="50">
                <a:solidFill>
                  <a:srgbClr val="FFFFFF">
                    <a:alpha val="90000"/>
                  </a:srgbClr>
                </a:solidFill>
                <a:latin typeface="Arial"/>
                <a:ea typeface="Arial"/>
                <a:cs typeface="Arial"/>
              </a:rPr>
              <a:t>18%</a:t>
            </a:r>
          </a:p>
        </p:txBody>
      </p:sp>
      <p:sp>
        <p:nvSpPr>
          <p:cNvPr id="29" name="q-pl-02"/>
          <p:cNvSpPr txBox="1"/>
          <p:nvPr/>
        </p:nvSpPr>
        <p:spPr>
          <a:xfrm>
            <a:off x="5353558" y="2100008"/>
            <a:ext cx="4610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50">
                <a:solidFill>
                  <a:srgbClr val="FFFFFF">
                    <a:alpha val="62000"/>
                  </a:srgbClr>
                </a:solidFill>
                <a:latin typeface="微软雅黑"/>
                <a:ea typeface="微软雅黑"/>
                <a:cs typeface="微软雅黑"/>
              </a:rPr>
              <a:t>营收占比</a:t>
            </a:r>
          </a:p>
        </p:txBody>
      </p:sp>
      <p:sp>
        <p:nvSpPr>
          <p:cNvPr id="30" name="icon-rocket"/>
          <p:cNvSpPr/>
          <p:nvPr/>
        </p:nvSpPr>
        <p:spPr>
          <a:xfrm>
            <a:off x="5572442" y="3067494"/>
            <a:ext cx="132715" cy="166878"/>
          </a:xfrm>
          <a:custGeom>
            <a:avLst/>
            <a:gdLst/>
            <a:ahLst/>
            <a:cxnLst/>
            <a:rect l="0" t="0" r="r" b="b"/>
            <a:pathLst>
              <a:path w="132715" h="166878">
                <a:moveTo>
                  <a:pt x="66358" y="0"/>
                </a:moveTo>
                <a:cubicBezTo>
                  <a:pt x="96520" y="22098"/>
                  <a:pt x="112586" y="56261"/>
                  <a:pt x="112586" y="92456"/>
                </a:cubicBezTo>
                <a:lnTo>
                  <a:pt x="90488" y="128651"/>
                </a:lnTo>
                <a:lnTo>
                  <a:pt x="42228" y="128651"/>
                </a:lnTo>
                <a:lnTo>
                  <a:pt x="20130" y="92456"/>
                </a:lnTo>
                <a:cubicBezTo>
                  <a:pt x="20130" y="56261"/>
                  <a:pt x="36195" y="22098"/>
                  <a:pt x="66358" y="0"/>
                </a:cubicBezTo>
                <a:close/>
                <a:moveTo>
                  <a:pt x="20130" y="120650"/>
                </a:moveTo>
                <a:lnTo>
                  <a:pt x="0" y="166878"/>
                </a:lnTo>
                <a:lnTo>
                  <a:pt x="42228" y="150812"/>
                </a:lnTo>
                <a:moveTo>
                  <a:pt x="112586" y="120650"/>
                </a:moveTo>
                <a:lnTo>
                  <a:pt x="132715" y="166878"/>
                </a:lnTo>
                <a:lnTo>
                  <a:pt x="90488" y="150812"/>
                </a:lnTo>
              </a:path>
            </a:pathLst>
          </a:custGeom>
          <a:noFill/>
          <a:ln w="12065" cap="rnd">
            <a:solidFill>
              <a:srgbClr val="FFFFFF">
                <a:alpha val="3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quad-01"/>
          <p:cNvSpPr/>
          <p:nvPr/>
        </p:nvSpPr>
        <p:spPr>
          <a:xfrm>
            <a:off x="6286500" y="1549400"/>
            <a:ext cx="2857500" cy="1962150"/>
          </a:xfrm>
          <a:custGeom>
            <a:avLst/>
            <a:gdLst/>
            <a:ahLst/>
            <a:cxnLst/>
            <a:rect l="0" t="0" r="r" b="b"/>
            <a:pathLst>
              <a:path w="2857500" h="1962150">
                <a:moveTo>
                  <a:pt x="127000" y="0"/>
                </a:moveTo>
                <a:lnTo>
                  <a:pt x="2730500" y="0"/>
                </a:lnTo>
                <a:cubicBezTo>
                  <a:pt x="2800667" y="0"/>
                  <a:pt x="2857500" y="56832"/>
                  <a:pt x="2857500" y="127000"/>
                </a:cubicBezTo>
                <a:lnTo>
                  <a:pt x="2857500" y="1835150"/>
                </a:lnTo>
                <a:cubicBezTo>
                  <a:pt x="2857500" y="1905317"/>
                  <a:pt x="2800667" y="1962150"/>
                  <a:pt x="2730500" y="1962150"/>
                </a:cubicBezTo>
                <a:lnTo>
                  <a:pt x="127000" y="1962150"/>
                </a:lnTo>
                <a:cubicBezTo>
                  <a:pt x="56833" y="1962150"/>
                  <a:pt x="0" y="1905317"/>
                  <a:pt x="0" y="183515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q-num-01"/>
          <p:cNvSpPr txBox="1"/>
          <p:nvPr/>
        </p:nvSpPr>
        <p:spPr>
          <a:xfrm>
            <a:off x="6527546" y="1809782"/>
            <a:ext cx="2561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50">
                <a:solidFill>
                  <a:srgbClr val="FFFFFF">
                    <a:alpha val="55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33" name="q-cn-01"/>
          <p:cNvSpPr txBox="1"/>
          <p:nvPr/>
        </p:nvSpPr>
        <p:spPr>
          <a:xfrm>
            <a:off x="6516116" y="1984248"/>
            <a:ext cx="1071880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6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明星业务</a:t>
            </a:r>
          </a:p>
        </p:txBody>
      </p:sp>
      <p:sp>
        <p:nvSpPr>
          <p:cNvPr id="34" name="q-en-01"/>
          <p:cNvSpPr txBox="1"/>
          <p:nvPr/>
        </p:nvSpPr>
        <p:spPr>
          <a:xfrm>
            <a:off x="6529832" y="2315908"/>
            <a:ext cx="3680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75">
                <a:solidFill>
                  <a:srgbClr val="FFFFFF">
                    <a:alpha val="60000"/>
                  </a:srgbClr>
                </a:solidFill>
                <a:latin typeface="Arial"/>
                <a:ea typeface="Arial"/>
                <a:cs typeface="Arial"/>
              </a:rPr>
              <a:t>STAR</a:t>
            </a:r>
          </a:p>
        </p:txBody>
      </p:sp>
      <p:sp>
        <p:nvSpPr>
          <p:cNvPr id="35" name="q-rule-01"/>
          <p:cNvSpPr/>
          <p:nvPr/>
        </p:nvSpPr>
        <p:spPr>
          <a:xfrm>
            <a:off x="6540500" y="2565400"/>
            <a:ext cx="342900" cy="12700"/>
          </a:xfrm>
          <a:prstGeom prst="roundRect">
            <a:avLst>
              <a:gd name="adj" fmla="val 50000"/>
            </a:avLst>
          </a:prstGeom>
          <a:solidFill>
            <a:srgbClr val="FFFFFF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q-dot-01-1"/>
          <p:cNvSpPr/>
          <p:nvPr/>
        </p:nvSpPr>
        <p:spPr>
          <a:xfrm>
            <a:off x="6558280" y="2773680"/>
            <a:ext cx="40640" cy="40640"/>
          </a:xfrm>
          <a:prstGeom prst="ellipse">
            <a:avLst/>
          </a:prstGeom>
          <a:solidFill>
            <a:srgbClr val="FFFFFF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q-p-01-1"/>
          <p:cNvSpPr txBox="1"/>
          <p:nvPr/>
        </p:nvSpPr>
        <p:spPr>
          <a:xfrm>
            <a:off x="6666865" y="2694861"/>
            <a:ext cx="135032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2000"/>
                  </a:srgbClr>
                </a:solidFill>
                <a:latin typeface="微软雅黑"/>
                <a:ea typeface="微软雅黑"/>
                <a:cs typeface="微软雅黑"/>
              </a:rPr>
              <a:t>高增长且已建立领先优势</a:t>
            </a:r>
          </a:p>
        </p:txBody>
      </p:sp>
      <p:sp>
        <p:nvSpPr>
          <p:cNvPr id="38" name="q-dot-01-2"/>
          <p:cNvSpPr/>
          <p:nvPr/>
        </p:nvSpPr>
        <p:spPr>
          <a:xfrm>
            <a:off x="6558280" y="2976880"/>
            <a:ext cx="40640" cy="40640"/>
          </a:xfrm>
          <a:prstGeom prst="ellipse">
            <a:avLst/>
          </a:prstGeom>
          <a:solidFill>
            <a:srgbClr val="FFFFFF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q-p-01-2"/>
          <p:cNvSpPr txBox="1"/>
          <p:nvPr/>
        </p:nvSpPr>
        <p:spPr>
          <a:xfrm>
            <a:off x="6666865" y="28980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2000"/>
                  </a:srgbClr>
                </a:solidFill>
                <a:latin typeface="微软雅黑"/>
                <a:ea typeface="微软雅黑"/>
                <a:cs typeface="微软雅黑"/>
              </a:rPr>
              <a:t>持续加码巩固护城河</a:t>
            </a:r>
          </a:p>
        </p:txBody>
      </p:sp>
      <p:sp>
        <p:nvSpPr>
          <p:cNvPr id="40" name="q-pct-01"/>
          <p:cNvSpPr txBox="1"/>
          <p:nvPr/>
        </p:nvSpPr>
        <p:spPr>
          <a:xfrm>
            <a:off x="8177784" y="1683956"/>
            <a:ext cx="772668" cy="5111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300" b="1" spc="50">
                <a:solidFill>
                  <a:srgbClr val="FFFFFF">
                    <a:alpha val="90000"/>
                  </a:srgbClr>
                </a:solidFill>
                <a:latin typeface="Arial"/>
                <a:ea typeface="Arial"/>
                <a:cs typeface="Arial"/>
              </a:rPr>
              <a:t>34%</a:t>
            </a:r>
          </a:p>
        </p:txBody>
      </p:sp>
      <p:sp>
        <p:nvSpPr>
          <p:cNvPr id="41" name="q-pl-01"/>
          <p:cNvSpPr txBox="1"/>
          <p:nvPr/>
        </p:nvSpPr>
        <p:spPr>
          <a:xfrm>
            <a:off x="8465058" y="2100008"/>
            <a:ext cx="4610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50">
                <a:solidFill>
                  <a:srgbClr val="FFFFFF">
                    <a:alpha val="62000"/>
                  </a:srgbClr>
                </a:solidFill>
                <a:latin typeface="微软雅黑"/>
                <a:ea typeface="微软雅黑"/>
                <a:cs typeface="微软雅黑"/>
              </a:rPr>
              <a:t>营收占比</a:t>
            </a:r>
          </a:p>
        </p:txBody>
      </p:sp>
      <p:sp>
        <p:nvSpPr>
          <p:cNvPr id="42" name="icon-star"/>
          <p:cNvSpPr/>
          <p:nvPr/>
        </p:nvSpPr>
        <p:spPr>
          <a:xfrm>
            <a:off x="8664829" y="3071495"/>
            <a:ext cx="170942" cy="162878"/>
          </a:xfrm>
          <a:custGeom>
            <a:avLst/>
            <a:gdLst/>
            <a:ahLst/>
            <a:cxnLst/>
            <a:rect l="0" t="0" r="r" b="b"/>
            <a:pathLst>
              <a:path w="170942" h="162878">
                <a:moveTo>
                  <a:pt x="85471" y="0"/>
                </a:moveTo>
                <a:lnTo>
                  <a:pt x="111633" y="54293"/>
                </a:lnTo>
                <a:lnTo>
                  <a:pt x="170942" y="62357"/>
                </a:lnTo>
                <a:lnTo>
                  <a:pt x="127699" y="103569"/>
                </a:lnTo>
                <a:lnTo>
                  <a:pt x="138748" y="162878"/>
                </a:lnTo>
                <a:lnTo>
                  <a:pt x="85471" y="133731"/>
                </a:lnTo>
                <a:lnTo>
                  <a:pt x="32194" y="162878"/>
                </a:lnTo>
                <a:lnTo>
                  <a:pt x="43243" y="103569"/>
                </a:lnTo>
                <a:lnTo>
                  <a:pt x="0" y="62357"/>
                </a:lnTo>
                <a:lnTo>
                  <a:pt x="59309" y="54293"/>
                </a:lnTo>
                <a:close/>
              </a:path>
            </a:pathLst>
          </a:custGeom>
          <a:noFill/>
          <a:ln w="12065" cap="rnd">
            <a:solidFill>
              <a:srgbClr val="FFFFFF">
                <a:alpha val="3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quad-03"/>
          <p:cNvSpPr/>
          <p:nvPr/>
        </p:nvSpPr>
        <p:spPr>
          <a:xfrm>
            <a:off x="3175000" y="3765550"/>
            <a:ext cx="2857500" cy="1962150"/>
          </a:xfrm>
          <a:custGeom>
            <a:avLst/>
            <a:gdLst/>
            <a:ahLst/>
            <a:cxnLst/>
            <a:rect l="0" t="0" r="r" b="b"/>
            <a:pathLst>
              <a:path w="2857500" h="1962150">
                <a:moveTo>
                  <a:pt x="127000" y="0"/>
                </a:moveTo>
                <a:lnTo>
                  <a:pt x="2730500" y="0"/>
                </a:lnTo>
                <a:cubicBezTo>
                  <a:pt x="2800667" y="0"/>
                  <a:pt x="2857500" y="56833"/>
                  <a:pt x="2857500" y="127000"/>
                </a:cubicBezTo>
                <a:lnTo>
                  <a:pt x="2857500" y="1835150"/>
                </a:lnTo>
                <a:cubicBezTo>
                  <a:pt x="2857500" y="1905317"/>
                  <a:pt x="2800667" y="1962150"/>
                  <a:pt x="2730500" y="1962150"/>
                </a:cubicBezTo>
                <a:lnTo>
                  <a:pt x="127000" y="1962150"/>
                </a:lnTo>
                <a:cubicBezTo>
                  <a:pt x="56832" y="1962150"/>
                  <a:pt x="0" y="1905317"/>
                  <a:pt x="0" y="1835150"/>
                </a:cubicBezTo>
                <a:lnTo>
                  <a:pt x="0" y="127000"/>
                </a:lnTo>
                <a:cubicBezTo>
                  <a:pt x="0" y="56833"/>
                  <a:pt x="56832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5CA1DC"/>
              </a:gs>
              <a:gs pos="100000">
                <a:srgbClr val="4694D7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q-num-03"/>
          <p:cNvSpPr txBox="1"/>
          <p:nvPr/>
        </p:nvSpPr>
        <p:spPr>
          <a:xfrm>
            <a:off x="3416046" y="4025932"/>
            <a:ext cx="2561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50">
                <a:solidFill>
                  <a:srgbClr val="FFFFFF">
                    <a:alpha val="55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45" name="q-cn-03"/>
          <p:cNvSpPr txBox="1"/>
          <p:nvPr/>
        </p:nvSpPr>
        <p:spPr>
          <a:xfrm>
            <a:off x="3404616" y="4200398"/>
            <a:ext cx="1071880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6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观察业务</a:t>
            </a:r>
          </a:p>
        </p:txBody>
      </p:sp>
      <p:sp>
        <p:nvSpPr>
          <p:cNvPr id="46" name="q-en-03"/>
          <p:cNvSpPr txBox="1"/>
          <p:nvPr/>
        </p:nvSpPr>
        <p:spPr>
          <a:xfrm>
            <a:off x="3418332" y="4532058"/>
            <a:ext cx="44005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75">
                <a:solidFill>
                  <a:srgbClr val="FFFFFF">
                    <a:alpha val="60000"/>
                  </a:srgbClr>
                </a:solidFill>
                <a:latin typeface="Arial"/>
                <a:ea typeface="Arial"/>
                <a:cs typeface="Arial"/>
              </a:rPr>
              <a:t>WATCH</a:t>
            </a:r>
          </a:p>
        </p:txBody>
      </p:sp>
      <p:sp>
        <p:nvSpPr>
          <p:cNvPr id="47" name="q-rule-03"/>
          <p:cNvSpPr/>
          <p:nvPr/>
        </p:nvSpPr>
        <p:spPr>
          <a:xfrm>
            <a:off x="3429000" y="4781550"/>
            <a:ext cx="342900" cy="12700"/>
          </a:xfrm>
          <a:prstGeom prst="roundRect">
            <a:avLst>
              <a:gd name="adj" fmla="val 50000"/>
            </a:avLst>
          </a:prstGeom>
          <a:solidFill>
            <a:srgbClr val="FFFFFF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q-dot-03-1"/>
          <p:cNvSpPr/>
          <p:nvPr/>
        </p:nvSpPr>
        <p:spPr>
          <a:xfrm>
            <a:off x="3446780" y="4989830"/>
            <a:ext cx="40640" cy="40640"/>
          </a:xfrm>
          <a:prstGeom prst="ellipse">
            <a:avLst/>
          </a:prstGeom>
          <a:solidFill>
            <a:srgbClr val="FFFFFF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q-p-03-1"/>
          <p:cNvSpPr txBox="1"/>
          <p:nvPr/>
        </p:nvSpPr>
        <p:spPr>
          <a:xfrm>
            <a:off x="3555365" y="4911011"/>
            <a:ext cx="8956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2000"/>
                  </a:srgbClr>
                </a:solidFill>
                <a:latin typeface="微软雅黑"/>
                <a:ea typeface="微软雅黑"/>
                <a:cs typeface="微软雅黑"/>
              </a:rPr>
              <a:t>增速与份额双低</a:t>
            </a:r>
          </a:p>
        </p:txBody>
      </p:sp>
      <p:sp>
        <p:nvSpPr>
          <p:cNvPr id="50" name="q-dot-03-2"/>
          <p:cNvSpPr/>
          <p:nvPr/>
        </p:nvSpPr>
        <p:spPr>
          <a:xfrm>
            <a:off x="3446780" y="5193030"/>
            <a:ext cx="40640" cy="40640"/>
          </a:xfrm>
          <a:prstGeom prst="ellipse">
            <a:avLst/>
          </a:prstGeom>
          <a:solidFill>
            <a:srgbClr val="FFFFFF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q-p-03-2"/>
          <p:cNvSpPr txBox="1"/>
          <p:nvPr/>
        </p:nvSpPr>
        <p:spPr>
          <a:xfrm>
            <a:off x="3555365" y="511421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2000"/>
                  </a:srgbClr>
                </a:solidFill>
                <a:latin typeface="微软雅黑"/>
                <a:ea typeface="微软雅黑"/>
                <a:cs typeface="微软雅黑"/>
              </a:rPr>
              <a:t>控制投入、择机退出</a:t>
            </a:r>
          </a:p>
        </p:txBody>
      </p:sp>
      <p:sp>
        <p:nvSpPr>
          <p:cNvPr id="52" name="q-pct-03"/>
          <p:cNvSpPr txBox="1"/>
          <p:nvPr/>
        </p:nvSpPr>
        <p:spPr>
          <a:xfrm>
            <a:off x="5066284" y="3900107"/>
            <a:ext cx="772668" cy="5111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300" b="1" spc="50">
                <a:solidFill>
                  <a:srgbClr val="FFFFFF">
                    <a:alpha val="90000"/>
                  </a:srgbClr>
                </a:solidFill>
                <a:latin typeface="Arial"/>
                <a:ea typeface="Arial"/>
                <a:cs typeface="Arial"/>
              </a:rPr>
              <a:t>11%</a:t>
            </a:r>
          </a:p>
        </p:txBody>
      </p:sp>
      <p:sp>
        <p:nvSpPr>
          <p:cNvPr id="53" name="q-pl-03"/>
          <p:cNvSpPr txBox="1"/>
          <p:nvPr/>
        </p:nvSpPr>
        <p:spPr>
          <a:xfrm>
            <a:off x="5353558" y="4316158"/>
            <a:ext cx="4610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50">
                <a:solidFill>
                  <a:srgbClr val="FFFFFF">
                    <a:alpha val="62000"/>
                  </a:srgbClr>
                </a:solidFill>
                <a:latin typeface="微软雅黑"/>
                <a:ea typeface="微软雅黑"/>
                <a:cs typeface="微软雅黑"/>
              </a:rPr>
              <a:t>营收占比</a:t>
            </a:r>
          </a:p>
        </p:txBody>
      </p:sp>
      <p:sp>
        <p:nvSpPr>
          <p:cNvPr id="54" name="icon-search"/>
          <p:cNvSpPr/>
          <p:nvPr/>
        </p:nvSpPr>
        <p:spPr>
          <a:xfrm>
            <a:off x="5672963" y="5406263"/>
            <a:ext cx="40259" cy="40259"/>
          </a:xfrm>
          <a:custGeom>
            <a:avLst/>
            <a:gdLst/>
            <a:ahLst/>
            <a:cxnLst/>
            <a:rect l="0" t="0" r="r" b="b"/>
            <a:pathLst>
              <a:path w="40259" h="40259">
                <a:moveTo>
                  <a:pt x="40259" y="40259"/>
                </a:moveTo>
                <a:lnTo>
                  <a:pt x="0" y="0"/>
                </a:lnTo>
              </a:path>
            </a:pathLst>
          </a:custGeom>
          <a:noFill/>
          <a:ln w="12065" cap="rnd">
            <a:solidFill>
              <a:srgbClr val="FFFFFF">
                <a:alpha val="3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icon-search"/>
          <p:cNvSpPr/>
          <p:nvPr/>
        </p:nvSpPr>
        <p:spPr>
          <a:xfrm>
            <a:off x="5564399" y="5297699"/>
            <a:ext cx="128693" cy="128693"/>
          </a:xfrm>
          <a:prstGeom prst="ellipse">
            <a:avLst/>
          </a:prstGeom>
          <a:noFill/>
          <a:ln w="12065" cap="rnd">
            <a:solidFill>
              <a:srgbClr val="FFFFFF">
                <a:alpha val="3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quad-04"/>
          <p:cNvSpPr/>
          <p:nvPr/>
        </p:nvSpPr>
        <p:spPr>
          <a:xfrm>
            <a:off x="6286500" y="3765550"/>
            <a:ext cx="2857500" cy="1962150"/>
          </a:xfrm>
          <a:custGeom>
            <a:avLst/>
            <a:gdLst/>
            <a:ahLst/>
            <a:cxnLst/>
            <a:rect l="0" t="0" r="r" b="b"/>
            <a:pathLst>
              <a:path w="2857500" h="1962150">
                <a:moveTo>
                  <a:pt x="127000" y="0"/>
                </a:moveTo>
                <a:lnTo>
                  <a:pt x="2730500" y="0"/>
                </a:lnTo>
                <a:cubicBezTo>
                  <a:pt x="2800667" y="0"/>
                  <a:pt x="2857500" y="56833"/>
                  <a:pt x="2857500" y="127000"/>
                </a:cubicBezTo>
                <a:lnTo>
                  <a:pt x="2857500" y="1835150"/>
                </a:lnTo>
                <a:cubicBezTo>
                  <a:pt x="2857500" y="1905317"/>
                  <a:pt x="2800667" y="1962150"/>
                  <a:pt x="2730500" y="1962150"/>
                </a:cubicBezTo>
                <a:lnTo>
                  <a:pt x="127000" y="1962150"/>
                </a:lnTo>
                <a:cubicBezTo>
                  <a:pt x="56833" y="1962150"/>
                  <a:pt x="0" y="1905317"/>
                  <a:pt x="0" y="183515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366EB2"/>
              </a:gs>
              <a:gs pos="100000">
                <a:srgbClr val="1B5AA8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q-num-04"/>
          <p:cNvSpPr txBox="1"/>
          <p:nvPr/>
        </p:nvSpPr>
        <p:spPr>
          <a:xfrm>
            <a:off x="6527546" y="4025932"/>
            <a:ext cx="2561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50">
                <a:solidFill>
                  <a:srgbClr val="FFFFFF">
                    <a:alpha val="55000"/>
                  </a:srgbClr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58" name="q-cn-04"/>
          <p:cNvSpPr txBox="1"/>
          <p:nvPr/>
        </p:nvSpPr>
        <p:spPr>
          <a:xfrm>
            <a:off x="6516116" y="4200398"/>
            <a:ext cx="1071880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6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成熟业务</a:t>
            </a:r>
          </a:p>
        </p:txBody>
      </p:sp>
      <p:sp>
        <p:nvSpPr>
          <p:cNvPr id="59" name="q-en-04"/>
          <p:cNvSpPr txBox="1"/>
          <p:nvPr/>
        </p:nvSpPr>
        <p:spPr>
          <a:xfrm>
            <a:off x="6529832" y="4532058"/>
            <a:ext cx="6560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75">
                <a:solidFill>
                  <a:srgbClr val="FFFFFF">
                    <a:alpha val="60000"/>
                  </a:srgbClr>
                </a:solidFill>
                <a:latin typeface="Arial"/>
                <a:ea typeface="Arial"/>
                <a:cs typeface="Arial"/>
              </a:rPr>
              <a:t>CASH COW</a:t>
            </a:r>
          </a:p>
        </p:txBody>
      </p:sp>
      <p:sp>
        <p:nvSpPr>
          <p:cNvPr id="60" name="q-rule-04"/>
          <p:cNvSpPr/>
          <p:nvPr/>
        </p:nvSpPr>
        <p:spPr>
          <a:xfrm>
            <a:off x="6540500" y="4781550"/>
            <a:ext cx="342900" cy="12700"/>
          </a:xfrm>
          <a:prstGeom prst="roundRect">
            <a:avLst>
              <a:gd name="adj" fmla="val 50000"/>
            </a:avLst>
          </a:prstGeom>
          <a:solidFill>
            <a:srgbClr val="FFFFFF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q-dot-04-1"/>
          <p:cNvSpPr/>
          <p:nvPr/>
        </p:nvSpPr>
        <p:spPr>
          <a:xfrm>
            <a:off x="6558280" y="4989830"/>
            <a:ext cx="40640" cy="40640"/>
          </a:xfrm>
          <a:prstGeom prst="ellipse">
            <a:avLst/>
          </a:prstGeom>
          <a:solidFill>
            <a:srgbClr val="FFFFFF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q-p-04-1"/>
          <p:cNvSpPr txBox="1"/>
          <p:nvPr/>
        </p:nvSpPr>
        <p:spPr>
          <a:xfrm>
            <a:off x="6666865" y="491101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2000"/>
                  </a:srgbClr>
                </a:solidFill>
                <a:latin typeface="微软雅黑"/>
                <a:ea typeface="微软雅黑"/>
                <a:cs typeface="微软雅黑"/>
              </a:rPr>
              <a:t>份额稳固、增速放缓</a:t>
            </a:r>
          </a:p>
        </p:txBody>
      </p:sp>
      <p:sp>
        <p:nvSpPr>
          <p:cNvPr id="63" name="q-dot-04-2"/>
          <p:cNvSpPr/>
          <p:nvPr/>
        </p:nvSpPr>
        <p:spPr>
          <a:xfrm>
            <a:off x="6558280" y="5193030"/>
            <a:ext cx="40640" cy="40640"/>
          </a:xfrm>
          <a:prstGeom prst="ellipse">
            <a:avLst/>
          </a:prstGeom>
          <a:solidFill>
            <a:srgbClr val="FFFFFF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q-p-04-2"/>
          <p:cNvSpPr txBox="1"/>
          <p:nvPr/>
        </p:nvSpPr>
        <p:spPr>
          <a:xfrm>
            <a:off x="6666865" y="511421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2000"/>
                  </a:srgbClr>
                </a:solidFill>
                <a:latin typeface="微软雅黑"/>
                <a:ea typeface="微软雅黑"/>
                <a:cs typeface="微软雅黑"/>
              </a:rPr>
              <a:t>稳定现金流反哺创新</a:t>
            </a:r>
          </a:p>
        </p:txBody>
      </p:sp>
      <p:sp>
        <p:nvSpPr>
          <p:cNvPr id="65" name="q-pct-04"/>
          <p:cNvSpPr txBox="1"/>
          <p:nvPr/>
        </p:nvSpPr>
        <p:spPr>
          <a:xfrm>
            <a:off x="8177784" y="3900107"/>
            <a:ext cx="772668" cy="5111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300" b="1" spc="50">
                <a:solidFill>
                  <a:srgbClr val="FFFFFF">
                    <a:alpha val="90000"/>
                  </a:srgbClr>
                </a:solidFill>
                <a:latin typeface="Arial"/>
                <a:ea typeface="Arial"/>
                <a:cs typeface="Arial"/>
              </a:rPr>
              <a:t>37%</a:t>
            </a:r>
          </a:p>
        </p:txBody>
      </p:sp>
      <p:sp>
        <p:nvSpPr>
          <p:cNvPr id="66" name="q-pl-04"/>
          <p:cNvSpPr txBox="1"/>
          <p:nvPr/>
        </p:nvSpPr>
        <p:spPr>
          <a:xfrm>
            <a:off x="8465058" y="4316158"/>
            <a:ext cx="4610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50">
                <a:solidFill>
                  <a:srgbClr val="FFFFFF">
                    <a:alpha val="62000"/>
                  </a:srgbClr>
                </a:solidFill>
                <a:latin typeface="微软雅黑"/>
                <a:ea typeface="微软雅黑"/>
                <a:cs typeface="微软雅黑"/>
              </a:rPr>
              <a:t>营收占比</a:t>
            </a:r>
          </a:p>
        </p:txBody>
      </p:sp>
      <p:sp>
        <p:nvSpPr>
          <p:cNvPr id="67" name="icon-coin"/>
          <p:cNvSpPr/>
          <p:nvPr/>
        </p:nvSpPr>
        <p:spPr>
          <a:xfrm>
            <a:off x="8685974" y="5315776"/>
            <a:ext cx="128651" cy="112649"/>
          </a:xfrm>
          <a:custGeom>
            <a:avLst/>
            <a:gdLst/>
            <a:ahLst/>
            <a:cxnLst/>
            <a:rect l="0" t="0" r="r" b="b"/>
            <a:pathLst>
              <a:path w="128651" h="112649">
                <a:moveTo>
                  <a:pt x="64326" y="0"/>
                </a:moveTo>
                <a:cubicBezTo>
                  <a:pt x="28131" y="0"/>
                  <a:pt x="0" y="10097"/>
                  <a:pt x="0" y="24130"/>
                </a:cubicBezTo>
                <a:cubicBezTo>
                  <a:pt x="0" y="38227"/>
                  <a:pt x="28131" y="48260"/>
                  <a:pt x="64326" y="48260"/>
                </a:cubicBezTo>
                <a:cubicBezTo>
                  <a:pt x="100521" y="48260"/>
                  <a:pt x="128651" y="38227"/>
                  <a:pt x="128651" y="24130"/>
                </a:cubicBezTo>
                <a:cubicBezTo>
                  <a:pt x="128651" y="10097"/>
                  <a:pt x="100521" y="0"/>
                  <a:pt x="64326" y="0"/>
                </a:cubicBezTo>
                <a:close/>
                <a:moveTo>
                  <a:pt x="0" y="24130"/>
                </a:moveTo>
                <a:lnTo>
                  <a:pt x="0" y="88519"/>
                </a:lnTo>
                <a:cubicBezTo>
                  <a:pt x="0" y="102552"/>
                  <a:pt x="28131" y="112649"/>
                  <a:pt x="64326" y="112649"/>
                </a:cubicBezTo>
                <a:cubicBezTo>
                  <a:pt x="100521" y="112649"/>
                  <a:pt x="128651" y="102552"/>
                  <a:pt x="128651" y="88519"/>
                </a:cubicBezTo>
                <a:lnTo>
                  <a:pt x="128651" y="24130"/>
                </a:lnTo>
              </a:path>
            </a:pathLst>
          </a:custGeom>
          <a:noFill/>
          <a:ln w="12065" cap="rnd">
            <a:solidFill>
              <a:srgbClr val="FFFFFF">
                <a:alpha val="3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side-bar"/>
          <p:cNvSpPr/>
          <p:nvPr/>
        </p:nvSpPr>
        <p:spPr>
          <a:xfrm>
            <a:off x="952500" y="1905000"/>
            <a:ext cx="25400" cy="8382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side-h"/>
          <p:cNvSpPr txBox="1"/>
          <p:nvPr/>
        </p:nvSpPr>
        <p:spPr>
          <a:xfrm>
            <a:off x="1088898" y="1930813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如何使用</a:t>
            </a:r>
          </a:p>
        </p:txBody>
      </p:sp>
      <p:sp>
        <p:nvSpPr>
          <p:cNvPr id="70" name="side-p-1"/>
          <p:cNvSpPr txBox="1"/>
          <p:nvPr/>
        </p:nvSpPr>
        <p:spPr>
          <a:xfrm>
            <a:off x="1093089" y="2240645"/>
            <a:ext cx="997268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横轴为相对市场份额</a:t>
            </a:r>
          </a:p>
        </p:txBody>
      </p:sp>
      <p:sp>
        <p:nvSpPr>
          <p:cNvPr id="71" name="side-p-2"/>
          <p:cNvSpPr txBox="1"/>
          <p:nvPr/>
        </p:nvSpPr>
        <p:spPr>
          <a:xfrm>
            <a:off x="1093089" y="2418445"/>
            <a:ext cx="1199198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纵轴为所在细分市场增速</a:t>
            </a:r>
          </a:p>
        </p:txBody>
      </p:sp>
      <p:sp>
        <p:nvSpPr>
          <p:cNvPr id="72" name="side-p-3"/>
          <p:cNvSpPr txBox="1"/>
          <p:nvPr/>
        </p:nvSpPr>
        <p:spPr>
          <a:xfrm>
            <a:off x="1093089" y="2596245"/>
            <a:ext cx="109823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右上角数字为营收占比</a:t>
            </a:r>
          </a:p>
        </p:txBody>
      </p:sp>
      <p:sp>
        <p:nvSpPr>
          <p:cNvPr id="73" name="st-bar"/>
          <p:cNvSpPr/>
          <p:nvPr/>
        </p:nvSpPr>
        <p:spPr>
          <a:xfrm>
            <a:off x="9715500" y="1905000"/>
            <a:ext cx="25400" cy="8382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st-h"/>
          <p:cNvSpPr txBox="1"/>
          <p:nvPr/>
        </p:nvSpPr>
        <p:spPr>
          <a:xfrm>
            <a:off x="9851898" y="1930813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策略要点</a:t>
            </a:r>
          </a:p>
        </p:txBody>
      </p:sp>
      <p:sp>
        <p:nvSpPr>
          <p:cNvPr id="75" name="st-h-1"/>
          <p:cNvSpPr txBox="1"/>
          <p:nvPr/>
        </p:nvSpPr>
        <p:spPr>
          <a:xfrm>
            <a:off x="9854184" y="2309940"/>
            <a:ext cx="585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加大投入</a:t>
            </a:r>
          </a:p>
        </p:txBody>
      </p:sp>
      <p:sp>
        <p:nvSpPr>
          <p:cNvPr id="76" name="st-p-1"/>
          <p:cNvSpPr txBox="1"/>
          <p:nvPr/>
        </p:nvSpPr>
        <p:spPr>
          <a:xfrm>
            <a:off x="9856470" y="2511266"/>
            <a:ext cx="12515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潜力与明星业务优先给预算</a:t>
            </a:r>
          </a:p>
        </p:txBody>
      </p:sp>
      <p:sp>
        <p:nvSpPr>
          <p:cNvPr id="77" name="st-h-2"/>
          <p:cNvSpPr txBox="1"/>
          <p:nvPr/>
        </p:nvSpPr>
        <p:spPr>
          <a:xfrm>
            <a:off x="9854184" y="2919540"/>
            <a:ext cx="585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保持效率</a:t>
            </a:r>
          </a:p>
        </p:txBody>
      </p:sp>
      <p:sp>
        <p:nvSpPr>
          <p:cNvPr id="78" name="st-p-2"/>
          <p:cNvSpPr txBox="1"/>
          <p:nvPr/>
        </p:nvSpPr>
        <p:spPr>
          <a:xfrm>
            <a:off x="9856470" y="3120866"/>
            <a:ext cx="10572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成熟业务看利润与现金</a:t>
            </a:r>
          </a:p>
        </p:txBody>
      </p:sp>
      <p:sp>
        <p:nvSpPr>
          <p:cNvPr id="79" name="st-h-3"/>
          <p:cNvSpPr txBox="1"/>
          <p:nvPr/>
        </p:nvSpPr>
        <p:spPr>
          <a:xfrm>
            <a:off x="9854184" y="3529140"/>
            <a:ext cx="585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动态评估</a:t>
            </a:r>
          </a:p>
        </p:txBody>
      </p:sp>
      <p:sp>
        <p:nvSpPr>
          <p:cNvPr id="80" name="st-p-3"/>
          <p:cNvSpPr txBox="1"/>
          <p:nvPr/>
        </p:nvSpPr>
        <p:spPr>
          <a:xfrm>
            <a:off x="9856470" y="3730466"/>
            <a:ext cx="96012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每季度复盘一次组合</a:t>
            </a:r>
          </a:p>
        </p:txBody>
      </p:sp>
      <p:sp>
        <p:nvSpPr>
          <p:cNvPr id="81" name="sd-1"/>
          <p:cNvSpPr/>
          <p:nvPr/>
        </p:nvSpPr>
        <p:spPr>
          <a:xfrm>
            <a:off x="952500" y="3556000"/>
            <a:ext cx="1778000" cy="698500"/>
          </a:xfrm>
          <a:custGeom>
            <a:avLst/>
            <a:gdLst/>
            <a:ahLst/>
            <a:cxnLst/>
            <a:rect l="0" t="0" r="r" b="b"/>
            <a:pathLst>
              <a:path w="1778000" h="698500">
                <a:moveTo>
                  <a:pt x="101600" y="0"/>
                </a:moveTo>
                <a:lnTo>
                  <a:pt x="1676400" y="0"/>
                </a:lnTo>
                <a:cubicBezTo>
                  <a:pt x="1732534" y="0"/>
                  <a:pt x="1778000" y="45466"/>
                  <a:pt x="1778000" y="101600"/>
                </a:cubicBezTo>
                <a:lnTo>
                  <a:pt x="1778000" y="596900"/>
                </a:lnTo>
                <a:cubicBezTo>
                  <a:pt x="1778000" y="653034"/>
                  <a:pt x="1732534" y="698500"/>
                  <a:pt x="1676400" y="698500"/>
                </a:cubicBezTo>
                <a:lnTo>
                  <a:pt x="101600" y="698500"/>
                </a:lnTo>
                <a:cubicBezTo>
                  <a:pt x="45466" y="698500"/>
                  <a:pt x="0" y="653034"/>
                  <a:pt x="0" y="5969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sd-bar-1"/>
          <p:cNvSpPr/>
          <p:nvPr/>
        </p:nvSpPr>
        <p:spPr>
          <a:xfrm>
            <a:off x="952500" y="3556000"/>
            <a:ext cx="31750" cy="698500"/>
          </a:xfrm>
          <a:custGeom>
            <a:avLst/>
            <a:gdLst/>
            <a:ahLst/>
            <a:cxnLst/>
            <a:rect l="0" t="0" r="r" b="b"/>
            <a:pathLst>
              <a:path w="31750" h="6985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682625"/>
                </a:lnTo>
                <a:cubicBezTo>
                  <a:pt x="31750" y="691388"/>
                  <a:pt x="24638" y="698500"/>
                  <a:pt x="15875" y="698500"/>
                </a:cubicBezTo>
                <a:lnTo>
                  <a:pt x="15875" y="698500"/>
                </a:lnTo>
                <a:cubicBezTo>
                  <a:pt x="7112" y="698500"/>
                  <a:pt x="0" y="691388"/>
                  <a:pt x="0" y="6826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icon-layers"/>
          <p:cNvSpPr/>
          <p:nvPr/>
        </p:nvSpPr>
        <p:spPr>
          <a:xfrm>
            <a:off x="2421446" y="3753612"/>
            <a:ext cx="110109" cy="114173"/>
          </a:xfrm>
          <a:custGeom>
            <a:avLst/>
            <a:gdLst/>
            <a:ahLst/>
            <a:cxnLst/>
            <a:rect l="0" t="0" r="r" b="b"/>
            <a:pathLst>
              <a:path w="110109" h="114173">
                <a:moveTo>
                  <a:pt x="55055" y="0"/>
                </a:moveTo>
                <a:lnTo>
                  <a:pt x="110109" y="28892"/>
                </a:lnTo>
                <a:lnTo>
                  <a:pt x="55055" y="57785"/>
                </a:lnTo>
                <a:lnTo>
                  <a:pt x="0" y="28892"/>
                </a:lnTo>
                <a:close/>
                <a:moveTo>
                  <a:pt x="0" y="57785"/>
                </a:moveTo>
                <a:lnTo>
                  <a:pt x="55055" y="86677"/>
                </a:lnTo>
                <a:lnTo>
                  <a:pt x="110109" y="57785"/>
                </a:lnTo>
                <a:moveTo>
                  <a:pt x="0" y="85280"/>
                </a:moveTo>
                <a:lnTo>
                  <a:pt x="55055" y="114173"/>
                </a:lnTo>
                <a:lnTo>
                  <a:pt x="110109" y="85280"/>
                </a:lnTo>
              </a:path>
            </a:pathLst>
          </a:custGeom>
          <a:noFill/>
          <a:ln w="11430" cap="rnd">
            <a:solidFill>
              <a:srgbClr val="0B3E8F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sd-v-1"/>
          <p:cNvSpPr txBox="1"/>
          <p:nvPr/>
        </p:nvSpPr>
        <p:spPr>
          <a:xfrm>
            <a:off x="1126744" y="3626295"/>
            <a:ext cx="500126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900" b="1" spc="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24</a:t>
            </a:r>
          </a:p>
        </p:txBody>
      </p:sp>
      <p:sp>
        <p:nvSpPr>
          <p:cNvPr id="85" name="sd-l-1"/>
          <p:cNvSpPr txBox="1"/>
          <p:nvPr/>
        </p:nvSpPr>
        <p:spPr>
          <a:xfrm>
            <a:off x="1143889" y="3993245"/>
            <a:ext cx="69437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在营业务条线</a:t>
            </a:r>
          </a:p>
        </p:txBody>
      </p:sp>
      <p:sp>
        <p:nvSpPr>
          <p:cNvPr id="86" name="sd-2"/>
          <p:cNvSpPr/>
          <p:nvPr/>
        </p:nvSpPr>
        <p:spPr>
          <a:xfrm>
            <a:off x="952500" y="4432300"/>
            <a:ext cx="1778000" cy="698500"/>
          </a:xfrm>
          <a:custGeom>
            <a:avLst/>
            <a:gdLst/>
            <a:ahLst/>
            <a:cxnLst/>
            <a:rect l="0" t="0" r="r" b="b"/>
            <a:pathLst>
              <a:path w="1778000" h="698500">
                <a:moveTo>
                  <a:pt x="101600" y="0"/>
                </a:moveTo>
                <a:lnTo>
                  <a:pt x="1676400" y="0"/>
                </a:lnTo>
                <a:cubicBezTo>
                  <a:pt x="1732534" y="0"/>
                  <a:pt x="1778000" y="45466"/>
                  <a:pt x="1778000" y="101600"/>
                </a:cubicBezTo>
                <a:lnTo>
                  <a:pt x="1778000" y="596900"/>
                </a:lnTo>
                <a:cubicBezTo>
                  <a:pt x="1778000" y="653034"/>
                  <a:pt x="1732534" y="698500"/>
                  <a:pt x="1676400" y="698500"/>
                </a:cubicBezTo>
                <a:lnTo>
                  <a:pt x="101600" y="698500"/>
                </a:lnTo>
                <a:cubicBezTo>
                  <a:pt x="45466" y="698500"/>
                  <a:pt x="0" y="653034"/>
                  <a:pt x="0" y="5969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sd-bar-2"/>
          <p:cNvSpPr/>
          <p:nvPr/>
        </p:nvSpPr>
        <p:spPr>
          <a:xfrm>
            <a:off x="952500" y="4432300"/>
            <a:ext cx="31750" cy="698500"/>
          </a:xfrm>
          <a:custGeom>
            <a:avLst/>
            <a:gdLst/>
            <a:ahLst/>
            <a:cxnLst/>
            <a:rect l="0" t="0" r="r" b="b"/>
            <a:pathLst>
              <a:path w="31750" h="6985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682625"/>
                </a:lnTo>
                <a:cubicBezTo>
                  <a:pt x="31750" y="691388"/>
                  <a:pt x="24638" y="698500"/>
                  <a:pt x="15875" y="698500"/>
                </a:cubicBezTo>
                <a:lnTo>
                  <a:pt x="15875" y="698500"/>
                </a:lnTo>
                <a:cubicBezTo>
                  <a:pt x="7112" y="698500"/>
                  <a:pt x="0" y="691388"/>
                  <a:pt x="0" y="6826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icon-calendar"/>
          <p:cNvSpPr/>
          <p:nvPr/>
        </p:nvSpPr>
        <p:spPr>
          <a:xfrm>
            <a:off x="2425573" y="4628515"/>
            <a:ext cx="101854" cy="110046"/>
          </a:xfrm>
          <a:custGeom>
            <a:avLst/>
            <a:gdLst/>
            <a:ahLst/>
            <a:cxnLst/>
            <a:rect l="0" t="0" r="r" b="b"/>
            <a:pathLst>
              <a:path w="101854" h="110046">
                <a:moveTo>
                  <a:pt x="0" y="19240"/>
                </a:moveTo>
                <a:lnTo>
                  <a:pt x="101854" y="19240"/>
                </a:lnTo>
                <a:lnTo>
                  <a:pt x="101854" y="110046"/>
                </a:lnTo>
                <a:lnTo>
                  <a:pt x="0" y="110046"/>
                </a:lnTo>
                <a:close/>
                <a:moveTo>
                  <a:pt x="0" y="46800"/>
                </a:moveTo>
                <a:lnTo>
                  <a:pt x="101854" y="46800"/>
                </a:lnTo>
                <a:moveTo>
                  <a:pt x="27559" y="0"/>
                </a:moveTo>
                <a:lnTo>
                  <a:pt x="27559" y="27496"/>
                </a:lnTo>
                <a:moveTo>
                  <a:pt x="74295" y="0"/>
                </a:moveTo>
                <a:lnTo>
                  <a:pt x="74295" y="27496"/>
                </a:lnTo>
              </a:path>
            </a:pathLst>
          </a:custGeom>
          <a:noFill/>
          <a:ln w="11430" cap="rnd">
            <a:solidFill>
              <a:srgbClr val="54A2DF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sd-v-2"/>
          <p:cNvSpPr txBox="1"/>
          <p:nvPr/>
        </p:nvSpPr>
        <p:spPr>
          <a:xfrm>
            <a:off x="1126744" y="4502594"/>
            <a:ext cx="712470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900" b="1" spc="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季度</a:t>
            </a:r>
          </a:p>
        </p:txBody>
      </p:sp>
      <p:sp>
        <p:nvSpPr>
          <p:cNvPr id="90" name="sd-l-2"/>
          <p:cNvSpPr txBox="1"/>
          <p:nvPr/>
        </p:nvSpPr>
        <p:spPr>
          <a:xfrm>
            <a:off x="1143889" y="4869545"/>
            <a:ext cx="69437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组合复盘周期</a:t>
            </a:r>
          </a:p>
        </p:txBody>
      </p:sp>
      <p:cxnSp>
        <p:nvCxnSpPr>
          <p:cNvPr id="91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2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业务组合 · 四象限定位</a:t>
            </a:r>
          </a:p>
        </p:txBody>
      </p:sp>
      <p:sp>
        <p:nvSpPr>
          <p:cNvPr id="93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集团组织架构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208330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ORGANIZATION STRUCTURE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580499" y="673132"/>
            <a:ext cx="20402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决策、管理、执行三层贯通，权责清晰</a:t>
            </a:r>
          </a:p>
        </p:txBody>
      </p:sp>
      <p:sp>
        <p:nvSpPr>
          <p:cNvPr id="10" name="lv-bar-1"/>
          <p:cNvSpPr/>
          <p:nvPr/>
        </p:nvSpPr>
        <p:spPr>
          <a:xfrm>
            <a:off x="711200" y="1663700"/>
            <a:ext cx="31750" cy="6350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lv-1"/>
          <p:cNvSpPr txBox="1"/>
          <p:nvPr/>
        </p:nvSpPr>
        <p:spPr>
          <a:xfrm>
            <a:off x="872236" y="1707070"/>
            <a:ext cx="5829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决策层</a:t>
            </a:r>
          </a:p>
        </p:txBody>
      </p:sp>
      <p:sp>
        <p:nvSpPr>
          <p:cNvPr id="12" name="lv-en-1"/>
          <p:cNvSpPr txBox="1"/>
          <p:nvPr/>
        </p:nvSpPr>
        <p:spPr>
          <a:xfrm>
            <a:off x="878332" y="1934908"/>
            <a:ext cx="6306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7E93AE"/>
                </a:solidFill>
                <a:latin typeface="Arial"/>
                <a:ea typeface="Arial"/>
                <a:cs typeface="Arial"/>
              </a:rPr>
              <a:t>DECISION</a:t>
            </a:r>
          </a:p>
        </p:txBody>
      </p:sp>
      <p:sp>
        <p:nvSpPr>
          <p:cNvPr id="13" name="lv-bar-2"/>
          <p:cNvSpPr/>
          <p:nvPr/>
        </p:nvSpPr>
        <p:spPr>
          <a:xfrm>
            <a:off x="711200" y="2870200"/>
            <a:ext cx="31750" cy="685800"/>
          </a:xfrm>
          <a:prstGeom prst="roundRect">
            <a:avLst>
              <a:gd name="adj" fmla="val 50000"/>
            </a:avLst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lv-2"/>
          <p:cNvSpPr txBox="1"/>
          <p:nvPr/>
        </p:nvSpPr>
        <p:spPr>
          <a:xfrm>
            <a:off x="872236" y="2913570"/>
            <a:ext cx="5829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管理层</a:t>
            </a:r>
          </a:p>
        </p:txBody>
      </p:sp>
      <p:sp>
        <p:nvSpPr>
          <p:cNvPr id="15" name="lv-en-2"/>
          <p:cNvSpPr txBox="1"/>
          <p:nvPr/>
        </p:nvSpPr>
        <p:spPr>
          <a:xfrm>
            <a:off x="878332" y="3141408"/>
            <a:ext cx="76835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7E93AE"/>
                </a:solidFill>
                <a:latin typeface="Arial"/>
                <a:ea typeface="Arial"/>
                <a:cs typeface="Arial"/>
              </a:rPr>
              <a:t>MANAGEMENT</a:t>
            </a:r>
          </a:p>
        </p:txBody>
      </p:sp>
      <p:sp>
        <p:nvSpPr>
          <p:cNvPr id="16" name="lv-bar-3"/>
          <p:cNvSpPr/>
          <p:nvPr/>
        </p:nvSpPr>
        <p:spPr>
          <a:xfrm>
            <a:off x="711200" y="3771900"/>
            <a:ext cx="31750" cy="1104900"/>
          </a:xfrm>
          <a:prstGeom prst="roundRect">
            <a:avLst>
              <a:gd name="adj" fmla="val 50000"/>
            </a:avLst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lv-3"/>
          <p:cNvSpPr txBox="1"/>
          <p:nvPr/>
        </p:nvSpPr>
        <p:spPr>
          <a:xfrm>
            <a:off x="872236" y="3815271"/>
            <a:ext cx="5829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执行层</a:t>
            </a:r>
          </a:p>
        </p:txBody>
      </p:sp>
      <p:sp>
        <p:nvSpPr>
          <p:cNvPr id="18" name="lv-en-3"/>
          <p:cNvSpPr txBox="1"/>
          <p:nvPr/>
        </p:nvSpPr>
        <p:spPr>
          <a:xfrm>
            <a:off x="878332" y="4043108"/>
            <a:ext cx="69951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7E93AE"/>
                </a:solidFill>
                <a:latin typeface="Arial"/>
                <a:ea typeface="Arial"/>
                <a:cs typeface="Arial"/>
              </a:rPr>
              <a:t>EXECUTION</a:t>
            </a:r>
          </a:p>
        </p:txBody>
      </p:sp>
      <p:sp>
        <p:nvSpPr>
          <p:cNvPr id="19" name="side-1"/>
          <p:cNvSpPr/>
          <p:nvPr/>
        </p:nvSpPr>
        <p:spPr>
          <a:xfrm>
            <a:off x="2159000" y="1714500"/>
            <a:ext cx="1905000" cy="533400"/>
          </a:xfrm>
          <a:custGeom>
            <a:avLst/>
            <a:gdLst/>
            <a:ahLst/>
            <a:cxnLst/>
            <a:rect l="0" t="0" r="r" b="b"/>
            <a:pathLst>
              <a:path w="1905000" h="533400">
                <a:moveTo>
                  <a:pt x="88900" y="0"/>
                </a:moveTo>
                <a:lnTo>
                  <a:pt x="1816100" y="0"/>
                </a:lnTo>
                <a:cubicBezTo>
                  <a:pt x="1865186" y="0"/>
                  <a:pt x="1905000" y="39814"/>
                  <a:pt x="1905000" y="88900"/>
                </a:cubicBezTo>
                <a:lnTo>
                  <a:pt x="1905000" y="444500"/>
                </a:lnTo>
                <a:cubicBezTo>
                  <a:pt x="1905000" y="493586"/>
                  <a:pt x="1865186" y="533400"/>
                  <a:pt x="1816100" y="533400"/>
                </a:cubicBezTo>
                <a:lnTo>
                  <a:pt x="88900" y="533400"/>
                </a:lnTo>
                <a:cubicBezTo>
                  <a:pt x="39814" y="533400"/>
                  <a:pt x="0" y="493586"/>
                  <a:pt x="0" y="444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 w="7620" cap="rnd">
            <a:solidFill>
              <a:srgbClr val="1B5AA8">
                <a:alpha val="26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side-t-1"/>
          <p:cNvSpPr txBox="1"/>
          <p:nvPr/>
        </p:nvSpPr>
        <p:spPr>
          <a:xfrm>
            <a:off x="2295398" y="1778413"/>
            <a:ext cx="55816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董事会</a:t>
            </a:r>
          </a:p>
        </p:txBody>
      </p:sp>
      <p:sp>
        <p:nvSpPr>
          <p:cNvPr id="21" name="side-p-1"/>
          <p:cNvSpPr txBox="1"/>
          <p:nvPr/>
        </p:nvSpPr>
        <p:spPr>
          <a:xfrm>
            <a:off x="2300351" y="2007187"/>
            <a:ext cx="111664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战略决策与重大事项审议</a:t>
            </a:r>
          </a:p>
        </p:txBody>
      </p:sp>
      <p:cxnSp>
        <p:nvCxnSpPr>
          <p:cNvPr id="22" name="side-l-1"/>
          <p:cNvCxnSpPr/>
          <p:nvPr/>
        </p:nvCxnSpPr>
        <p:spPr>
          <a:xfrm>
            <a:off x="4064000" y="1981200"/>
            <a:ext cx="952500" cy="0"/>
          </a:xfrm>
          <a:prstGeom prst="line">
            <a:avLst/>
          </a:prstGeom>
          <a:ln w="7620" cap="rnd">
            <a:solidFill>
              <a:srgbClr val="1B5AA8">
                <a:alpha val="3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side-2"/>
          <p:cNvSpPr/>
          <p:nvPr/>
        </p:nvSpPr>
        <p:spPr>
          <a:xfrm>
            <a:off x="8496300" y="1714500"/>
            <a:ext cx="1905000" cy="533400"/>
          </a:xfrm>
          <a:custGeom>
            <a:avLst/>
            <a:gdLst/>
            <a:ahLst/>
            <a:cxnLst/>
            <a:rect l="0" t="0" r="r" b="b"/>
            <a:pathLst>
              <a:path w="1905000" h="533400">
                <a:moveTo>
                  <a:pt x="88900" y="0"/>
                </a:moveTo>
                <a:lnTo>
                  <a:pt x="1816100" y="0"/>
                </a:lnTo>
                <a:cubicBezTo>
                  <a:pt x="1865186" y="0"/>
                  <a:pt x="1905000" y="39814"/>
                  <a:pt x="1905000" y="88900"/>
                </a:cubicBezTo>
                <a:lnTo>
                  <a:pt x="1905000" y="444500"/>
                </a:lnTo>
                <a:cubicBezTo>
                  <a:pt x="1905000" y="493586"/>
                  <a:pt x="1865186" y="533400"/>
                  <a:pt x="1816100" y="533400"/>
                </a:cubicBezTo>
                <a:lnTo>
                  <a:pt x="88900" y="533400"/>
                </a:lnTo>
                <a:cubicBezTo>
                  <a:pt x="39814" y="533400"/>
                  <a:pt x="0" y="493586"/>
                  <a:pt x="0" y="444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 w="7620" cap="rnd">
            <a:solidFill>
              <a:srgbClr val="1B5AA8">
                <a:alpha val="26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side-t-2"/>
          <p:cNvSpPr txBox="1"/>
          <p:nvPr/>
        </p:nvSpPr>
        <p:spPr>
          <a:xfrm>
            <a:off x="8632698" y="1778413"/>
            <a:ext cx="55816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监事会</a:t>
            </a:r>
          </a:p>
        </p:txBody>
      </p:sp>
      <p:sp>
        <p:nvSpPr>
          <p:cNvPr id="25" name="side-p-2"/>
          <p:cNvSpPr txBox="1"/>
          <p:nvPr/>
        </p:nvSpPr>
        <p:spPr>
          <a:xfrm>
            <a:off x="8637651" y="2007187"/>
            <a:ext cx="9286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合规监督与风险审计</a:t>
            </a:r>
          </a:p>
        </p:txBody>
      </p:sp>
      <p:cxnSp>
        <p:nvCxnSpPr>
          <p:cNvPr id="26" name="side-l-2"/>
          <p:cNvCxnSpPr/>
          <p:nvPr/>
        </p:nvCxnSpPr>
        <p:spPr>
          <a:xfrm>
            <a:off x="7175500" y="1981200"/>
            <a:ext cx="1320800" cy="0"/>
          </a:xfrm>
          <a:prstGeom prst="line">
            <a:avLst/>
          </a:prstGeom>
          <a:ln w="7620" cap="rnd">
            <a:solidFill>
              <a:srgbClr val="1B5AA8">
                <a:alpha val="3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top"/>
          <p:cNvSpPr/>
          <p:nvPr/>
        </p:nvSpPr>
        <p:spPr>
          <a:xfrm>
            <a:off x="5016500" y="1663700"/>
            <a:ext cx="2159000" cy="635000"/>
          </a:xfrm>
          <a:custGeom>
            <a:avLst/>
            <a:gdLst/>
            <a:ahLst/>
            <a:cxnLst/>
            <a:rect l="0" t="0" r="r" b="b"/>
            <a:pathLst>
              <a:path w="2159000" h="635000">
                <a:moveTo>
                  <a:pt x="114300" y="0"/>
                </a:moveTo>
                <a:lnTo>
                  <a:pt x="2044700" y="0"/>
                </a:lnTo>
                <a:cubicBezTo>
                  <a:pt x="2107819" y="0"/>
                  <a:pt x="2159000" y="51181"/>
                  <a:pt x="2159000" y="114300"/>
                </a:cubicBezTo>
                <a:lnTo>
                  <a:pt x="2159000" y="520700"/>
                </a:lnTo>
                <a:cubicBezTo>
                  <a:pt x="2159000" y="583819"/>
                  <a:pt x="2107819" y="635000"/>
                  <a:pt x="2044700" y="635000"/>
                </a:cubicBezTo>
                <a:lnTo>
                  <a:pt x="114300" y="635000"/>
                </a:lnTo>
                <a:cubicBezTo>
                  <a:pt x="51181" y="635000"/>
                  <a:pt x="0" y="583819"/>
                  <a:pt x="0" y="520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top-cn"/>
          <p:cNvSpPr txBox="1"/>
          <p:nvPr/>
        </p:nvSpPr>
        <p:spPr>
          <a:xfrm>
            <a:off x="5542598" y="1782159"/>
            <a:ext cx="1106805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总裁办公室</a:t>
            </a:r>
          </a:p>
        </p:txBody>
      </p:sp>
      <p:sp>
        <p:nvSpPr>
          <p:cNvPr id="29" name="top-en"/>
          <p:cNvSpPr txBox="1"/>
          <p:nvPr/>
        </p:nvSpPr>
        <p:spPr>
          <a:xfrm>
            <a:off x="5505323" y="2049208"/>
            <a:ext cx="118135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0">
                <a:solidFill>
                  <a:srgbClr val="FFFFFF">
                    <a:alpha val="66000"/>
                  </a:srgbClr>
                </a:solidFill>
                <a:latin typeface="Arial"/>
                <a:ea typeface="Arial"/>
                <a:cs typeface="Arial"/>
              </a:rPr>
              <a:t>PRESIDENT OFFICE</a:t>
            </a:r>
          </a:p>
        </p:txBody>
      </p:sp>
      <p:sp>
        <p:nvSpPr>
          <p:cNvPr id="30" name="link-1"/>
          <p:cNvSpPr/>
          <p:nvPr/>
        </p:nvSpPr>
        <p:spPr>
          <a:xfrm>
            <a:off x="3206750" y="2298700"/>
            <a:ext cx="2889250" cy="571500"/>
          </a:xfrm>
          <a:custGeom>
            <a:avLst/>
            <a:gdLst/>
            <a:ahLst/>
            <a:cxnLst/>
            <a:rect l="0" t="0" r="r" b="b"/>
            <a:pathLst>
              <a:path w="2889250" h="571500">
                <a:moveTo>
                  <a:pt x="2889250" y="0"/>
                </a:moveTo>
                <a:lnTo>
                  <a:pt x="2889250" y="190500"/>
                </a:lnTo>
                <a:quadBezTo>
                  <a:pt x="2889250" y="292100"/>
                  <a:pt x="2787650" y="292100"/>
                </a:quadBezTo>
                <a:lnTo>
                  <a:pt x="101600" y="292100"/>
                </a:lnTo>
                <a:quadBezTo>
                  <a:pt x="0" y="292100"/>
                  <a:pt x="0" y="393700"/>
                </a:quadBezTo>
                <a:lnTo>
                  <a:pt x="0" y="571500"/>
                </a:lnTo>
              </a:path>
            </a:pathLst>
          </a:custGeom>
          <a:noFill/>
          <a:ln w="889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link-2"/>
          <p:cNvSpPr/>
          <p:nvPr/>
        </p:nvSpPr>
        <p:spPr>
          <a:xfrm>
            <a:off x="5619750" y="2298700"/>
            <a:ext cx="476250" cy="571500"/>
          </a:xfrm>
          <a:custGeom>
            <a:avLst/>
            <a:gdLst/>
            <a:ahLst/>
            <a:cxnLst/>
            <a:rect l="0" t="0" r="r" b="b"/>
            <a:pathLst>
              <a:path w="476250" h="571500">
                <a:moveTo>
                  <a:pt x="476250" y="0"/>
                </a:moveTo>
                <a:lnTo>
                  <a:pt x="476250" y="190500"/>
                </a:lnTo>
                <a:quadBezTo>
                  <a:pt x="476250" y="292100"/>
                  <a:pt x="374650" y="292100"/>
                </a:quadBezTo>
                <a:lnTo>
                  <a:pt x="101600" y="292100"/>
                </a:lnTo>
                <a:quadBezTo>
                  <a:pt x="0" y="292100"/>
                  <a:pt x="0" y="393700"/>
                </a:quadBezTo>
                <a:lnTo>
                  <a:pt x="0" y="571500"/>
                </a:lnTo>
              </a:path>
            </a:pathLst>
          </a:custGeom>
          <a:noFill/>
          <a:ln w="889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link-3"/>
          <p:cNvSpPr/>
          <p:nvPr/>
        </p:nvSpPr>
        <p:spPr>
          <a:xfrm>
            <a:off x="6096000" y="2298700"/>
            <a:ext cx="1936750" cy="571500"/>
          </a:xfrm>
          <a:custGeom>
            <a:avLst/>
            <a:gdLst/>
            <a:ahLst/>
            <a:cxnLst/>
            <a:rect l="0" t="0" r="r" b="b"/>
            <a:pathLst>
              <a:path w="1936750" h="571500">
                <a:moveTo>
                  <a:pt x="0" y="0"/>
                </a:moveTo>
                <a:lnTo>
                  <a:pt x="0" y="190500"/>
                </a:lnTo>
                <a:quadBezTo>
                  <a:pt x="0" y="292100"/>
                  <a:pt x="101600" y="292100"/>
                </a:quadBezTo>
                <a:lnTo>
                  <a:pt x="1835150" y="292100"/>
                </a:lnTo>
                <a:quadBezTo>
                  <a:pt x="1936750" y="292100"/>
                  <a:pt x="1936750" y="393700"/>
                </a:quadBezTo>
                <a:lnTo>
                  <a:pt x="1936750" y="571500"/>
                </a:lnTo>
              </a:path>
            </a:pathLst>
          </a:custGeom>
          <a:noFill/>
          <a:ln w="889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link-4"/>
          <p:cNvSpPr/>
          <p:nvPr/>
        </p:nvSpPr>
        <p:spPr>
          <a:xfrm>
            <a:off x="6096000" y="2298700"/>
            <a:ext cx="4349750" cy="571500"/>
          </a:xfrm>
          <a:custGeom>
            <a:avLst/>
            <a:gdLst/>
            <a:ahLst/>
            <a:cxnLst/>
            <a:rect l="0" t="0" r="r" b="b"/>
            <a:pathLst>
              <a:path w="4349750" h="571500">
                <a:moveTo>
                  <a:pt x="0" y="0"/>
                </a:moveTo>
                <a:lnTo>
                  <a:pt x="0" y="190500"/>
                </a:lnTo>
                <a:quadBezTo>
                  <a:pt x="0" y="292100"/>
                  <a:pt x="101600" y="292100"/>
                </a:quadBezTo>
                <a:lnTo>
                  <a:pt x="4248150" y="292100"/>
                </a:lnTo>
                <a:quadBezTo>
                  <a:pt x="4349750" y="292100"/>
                  <a:pt x="4349750" y="393700"/>
                </a:quadBezTo>
                <a:lnTo>
                  <a:pt x="4349750" y="571500"/>
                </a:lnTo>
              </a:path>
            </a:pathLst>
          </a:custGeom>
          <a:noFill/>
          <a:ln w="889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cen-1"/>
          <p:cNvSpPr/>
          <p:nvPr/>
        </p:nvSpPr>
        <p:spPr>
          <a:xfrm>
            <a:off x="2159000" y="2870200"/>
            <a:ext cx="2095500" cy="685800"/>
          </a:xfrm>
          <a:custGeom>
            <a:avLst/>
            <a:gdLst/>
            <a:ahLst/>
            <a:cxnLst/>
            <a:rect l="0" t="0" r="r" b="b"/>
            <a:pathLst>
              <a:path w="2095500" h="685800">
                <a:moveTo>
                  <a:pt x="101600" y="0"/>
                </a:moveTo>
                <a:lnTo>
                  <a:pt x="1993900" y="0"/>
                </a:lnTo>
                <a:cubicBezTo>
                  <a:pt x="2050034" y="0"/>
                  <a:pt x="2095500" y="45466"/>
                  <a:pt x="2095500" y="101600"/>
                </a:cubicBezTo>
                <a:lnTo>
                  <a:pt x="2095500" y="584200"/>
                </a:lnTo>
                <a:cubicBezTo>
                  <a:pt x="2095500" y="640334"/>
                  <a:pt x="2050034" y="685800"/>
                  <a:pt x="1993900" y="685800"/>
                </a:cubicBezTo>
                <a:lnTo>
                  <a:pt x="101600" y="685800"/>
                </a:lnTo>
                <a:cubicBezTo>
                  <a:pt x="45466" y="685800"/>
                  <a:pt x="0" y="640334"/>
                  <a:pt x="0" y="584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icon-code"/>
          <p:cNvSpPr/>
          <p:nvPr/>
        </p:nvSpPr>
        <p:spPr>
          <a:xfrm>
            <a:off x="2375726" y="3179254"/>
            <a:ext cx="125349" cy="67691"/>
          </a:xfrm>
          <a:custGeom>
            <a:avLst/>
            <a:gdLst/>
            <a:ahLst/>
            <a:cxnLst/>
            <a:rect l="0" t="0" r="r" b="b"/>
            <a:pathLst>
              <a:path w="125349" h="67691">
                <a:moveTo>
                  <a:pt x="37275" y="0"/>
                </a:moveTo>
                <a:lnTo>
                  <a:pt x="0" y="33845"/>
                </a:lnTo>
                <a:lnTo>
                  <a:pt x="37275" y="67691"/>
                </a:lnTo>
                <a:moveTo>
                  <a:pt x="88075" y="0"/>
                </a:moveTo>
                <a:lnTo>
                  <a:pt x="125349" y="33845"/>
                </a:lnTo>
                <a:lnTo>
                  <a:pt x="88075" y="67691"/>
                </a:lnTo>
              </a:path>
            </a:pathLst>
          </a:custGeom>
          <a:noFill/>
          <a:ln w="1206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cen-cn-1"/>
          <p:cNvSpPr txBox="1"/>
          <p:nvPr/>
        </p:nvSpPr>
        <p:spPr>
          <a:xfrm>
            <a:off x="2648712" y="2974086"/>
            <a:ext cx="7975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研发中心</a:t>
            </a:r>
          </a:p>
        </p:txBody>
      </p:sp>
      <p:sp>
        <p:nvSpPr>
          <p:cNvPr id="37" name="cen-en-1"/>
          <p:cNvSpPr txBox="1"/>
          <p:nvPr/>
        </p:nvSpPr>
        <p:spPr>
          <a:xfrm>
            <a:off x="2656332" y="3230308"/>
            <a:ext cx="73660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25">
                <a:solidFill>
                  <a:srgbClr val="FFFFFF">
                    <a:alpha val="62000"/>
                  </a:srgbClr>
                </a:solidFill>
                <a:latin typeface="Arial"/>
                <a:ea typeface="Arial"/>
                <a:cs typeface="Arial"/>
              </a:rPr>
              <a:t>R&amp;D CENTER</a:t>
            </a:r>
          </a:p>
        </p:txBody>
      </p:sp>
      <p:sp>
        <p:nvSpPr>
          <p:cNvPr id="38" name="cen-n-1"/>
          <p:cNvSpPr txBox="1"/>
          <p:nvPr/>
        </p:nvSpPr>
        <p:spPr>
          <a:xfrm>
            <a:off x="3613912" y="3013297"/>
            <a:ext cx="515366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25">
                <a:solidFill>
                  <a:srgbClr val="FFFFFF">
                    <a:alpha val="90000"/>
                  </a:srgbClr>
                </a:solidFill>
                <a:latin typeface="Arial"/>
                <a:ea typeface="Arial"/>
                <a:cs typeface="Arial"/>
              </a:rPr>
              <a:t>286 人</a:t>
            </a:r>
          </a:p>
        </p:txBody>
      </p:sp>
      <p:cxnSp>
        <p:nvCxnSpPr>
          <p:cNvPr id="39" name="cl-1"/>
          <p:cNvCxnSpPr/>
          <p:nvPr/>
        </p:nvCxnSpPr>
        <p:spPr>
          <a:xfrm>
            <a:off x="3206750" y="3556000"/>
            <a:ext cx="0" cy="177800"/>
          </a:xfrm>
          <a:prstGeom prst="line">
            <a:avLst/>
          </a:prstGeom>
          <a:ln w="8890" cap="rnd">
            <a:solidFill>
              <a:srgbClr val="A9BBD0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sub-1-1"/>
          <p:cNvSpPr/>
          <p:nvPr/>
        </p:nvSpPr>
        <p:spPr>
          <a:xfrm>
            <a:off x="2159000" y="3771900"/>
            <a:ext cx="2095500" cy="317500"/>
          </a:xfrm>
          <a:custGeom>
            <a:avLst/>
            <a:gdLst/>
            <a:ahLst/>
            <a:cxnLst/>
            <a:rect l="0" t="0" r="r" b="b"/>
            <a:pathLst>
              <a:path w="2095500" h="317500">
                <a:moveTo>
                  <a:pt x="76200" y="0"/>
                </a:moveTo>
                <a:lnTo>
                  <a:pt x="2019300" y="0"/>
                </a:lnTo>
                <a:cubicBezTo>
                  <a:pt x="2061400" y="0"/>
                  <a:pt x="2095500" y="34100"/>
                  <a:pt x="2095500" y="76200"/>
                </a:cubicBezTo>
                <a:lnTo>
                  <a:pt x="2095500" y="241300"/>
                </a:lnTo>
                <a:cubicBezTo>
                  <a:pt x="2095500" y="283400"/>
                  <a:pt x="2061400" y="317500"/>
                  <a:pt x="2019300" y="317500"/>
                </a:cubicBezTo>
                <a:lnTo>
                  <a:pt x="76200" y="317500"/>
                </a:lnTo>
                <a:cubicBezTo>
                  <a:pt x="34100" y="317500"/>
                  <a:pt x="0" y="283400"/>
                  <a:pt x="0" y="2413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0B3E8F">
                <a:alpha val="24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sub-bar-1-1"/>
          <p:cNvSpPr/>
          <p:nvPr/>
        </p:nvSpPr>
        <p:spPr>
          <a:xfrm>
            <a:off x="2159000" y="3848100"/>
            <a:ext cx="25400" cy="1651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sub-t-1-1"/>
          <p:cNvSpPr txBox="1"/>
          <p:nvPr/>
        </p:nvSpPr>
        <p:spPr>
          <a:xfrm>
            <a:off x="2298446" y="3841782"/>
            <a:ext cx="6623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产品设计部</a:t>
            </a:r>
          </a:p>
        </p:txBody>
      </p:sp>
      <p:sp>
        <p:nvSpPr>
          <p:cNvPr id="43" name="sub-d-1-1"/>
          <p:cNvSpPr/>
          <p:nvPr/>
        </p:nvSpPr>
        <p:spPr>
          <a:xfrm>
            <a:off x="4067810" y="3909060"/>
            <a:ext cx="43180" cy="43180"/>
          </a:xfrm>
          <a:prstGeom prst="ellipse">
            <a:avLst/>
          </a:prstGeom>
          <a:solidFill>
            <a:srgbClr val="0B3E8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sub-1-2"/>
          <p:cNvSpPr/>
          <p:nvPr/>
        </p:nvSpPr>
        <p:spPr>
          <a:xfrm>
            <a:off x="2159000" y="4165600"/>
            <a:ext cx="2095500" cy="317500"/>
          </a:xfrm>
          <a:custGeom>
            <a:avLst/>
            <a:gdLst/>
            <a:ahLst/>
            <a:cxnLst/>
            <a:rect l="0" t="0" r="r" b="b"/>
            <a:pathLst>
              <a:path w="2095500" h="317500">
                <a:moveTo>
                  <a:pt x="76200" y="0"/>
                </a:moveTo>
                <a:lnTo>
                  <a:pt x="2019300" y="0"/>
                </a:lnTo>
                <a:cubicBezTo>
                  <a:pt x="2061400" y="0"/>
                  <a:pt x="2095500" y="34100"/>
                  <a:pt x="2095500" y="76200"/>
                </a:cubicBezTo>
                <a:lnTo>
                  <a:pt x="2095500" y="241300"/>
                </a:lnTo>
                <a:cubicBezTo>
                  <a:pt x="2095500" y="283400"/>
                  <a:pt x="2061400" y="317500"/>
                  <a:pt x="2019300" y="317500"/>
                </a:cubicBezTo>
                <a:lnTo>
                  <a:pt x="76200" y="317500"/>
                </a:lnTo>
                <a:cubicBezTo>
                  <a:pt x="34100" y="317500"/>
                  <a:pt x="0" y="283400"/>
                  <a:pt x="0" y="2413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0B3E8F">
                <a:alpha val="24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sub-bar-1-2"/>
          <p:cNvSpPr/>
          <p:nvPr/>
        </p:nvSpPr>
        <p:spPr>
          <a:xfrm>
            <a:off x="2159000" y="4241800"/>
            <a:ext cx="25400" cy="1651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sub-t-1-2"/>
          <p:cNvSpPr txBox="1"/>
          <p:nvPr/>
        </p:nvSpPr>
        <p:spPr>
          <a:xfrm>
            <a:off x="2298446" y="4235482"/>
            <a:ext cx="6623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软件开发部</a:t>
            </a:r>
          </a:p>
        </p:txBody>
      </p:sp>
      <p:sp>
        <p:nvSpPr>
          <p:cNvPr id="47" name="sub-d-1-2"/>
          <p:cNvSpPr/>
          <p:nvPr/>
        </p:nvSpPr>
        <p:spPr>
          <a:xfrm>
            <a:off x="4067810" y="4302760"/>
            <a:ext cx="43180" cy="43180"/>
          </a:xfrm>
          <a:prstGeom prst="ellipse">
            <a:avLst/>
          </a:prstGeom>
          <a:solidFill>
            <a:srgbClr val="0B3E8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sub-1-3"/>
          <p:cNvSpPr/>
          <p:nvPr/>
        </p:nvSpPr>
        <p:spPr>
          <a:xfrm>
            <a:off x="2159000" y="4559300"/>
            <a:ext cx="2095500" cy="317500"/>
          </a:xfrm>
          <a:custGeom>
            <a:avLst/>
            <a:gdLst/>
            <a:ahLst/>
            <a:cxnLst/>
            <a:rect l="0" t="0" r="r" b="b"/>
            <a:pathLst>
              <a:path w="2095500" h="317500">
                <a:moveTo>
                  <a:pt x="76200" y="0"/>
                </a:moveTo>
                <a:lnTo>
                  <a:pt x="2019300" y="0"/>
                </a:lnTo>
                <a:cubicBezTo>
                  <a:pt x="2061400" y="0"/>
                  <a:pt x="2095500" y="34100"/>
                  <a:pt x="2095500" y="76200"/>
                </a:cubicBezTo>
                <a:lnTo>
                  <a:pt x="2095500" y="241300"/>
                </a:lnTo>
                <a:cubicBezTo>
                  <a:pt x="2095500" y="283400"/>
                  <a:pt x="2061400" y="317500"/>
                  <a:pt x="2019300" y="317500"/>
                </a:cubicBezTo>
                <a:lnTo>
                  <a:pt x="76200" y="317500"/>
                </a:lnTo>
                <a:cubicBezTo>
                  <a:pt x="34100" y="317500"/>
                  <a:pt x="0" y="283400"/>
                  <a:pt x="0" y="2413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0B3E8F">
                <a:alpha val="24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sub-bar-1-3"/>
          <p:cNvSpPr/>
          <p:nvPr/>
        </p:nvSpPr>
        <p:spPr>
          <a:xfrm>
            <a:off x="2159000" y="4635500"/>
            <a:ext cx="25400" cy="1651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sub-t-1-3"/>
          <p:cNvSpPr txBox="1"/>
          <p:nvPr/>
        </p:nvSpPr>
        <p:spPr>
          <a:xfrm>
            <a:off x="2298446" y="4629182"/>
            <a:ext cx="6623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测试保障部</a:t>
            </a:r>
          </a:p>
        </p:txBody>
      </p:sp>
      <p:sp>
        <p:nvSpPr>
          <p:cNvPr id="51" name="sub-d-1-3"/>
          <p:cNvSpPr/>
          <p:nvPr/>
        </p:nvSpPr>
        <p:spPr>
          <a:xfrm>
            <a:off x="4067810" y="4696460"/>
            <a:ext cx="43180" cy="43180"/>
          </a:xfrm>
          <a:prstGeom prst="ellipse">
            <a:avLst/>
          </a:prstGeom>
          <a:solidFill>
            <a:srgbClr val="0B3E8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cen-2"/>
          <p:cNvSpPr/>
          <p:nvPr/>
        </p:nvSpPr>
        <p:spPr>
          <a:xfrm>
            <a:off x="4572000" y="2870200"/>
            <a:ext cx="2095500" cy="685800"/>
          </a:xfrm>
          <a:custGeom>
            <a:avLst/>
            <a:gdLst/>
            <a:ahLst/>
            <a:cxnLst/>
            <a:rect l="0" t="0" r="r" b="b"/>
            <a:pathLst>
              <a:path w="2095500" h="685800">
                <a:moveTo>
                  <a:pt x="101600" y="0"/>
                </a:moveTo>
                <a:lnTo>
                  <a:pt x="1993900" y="0"/>
                </a:lnTo>
                <a:cubicBezTo>
                  <a:pt x="2050034" y="0"/>
                  <a:pt x="2095500" y="45466"/>
                  <a:pt x="2095500" y="101600"/>
                </a:cubicBezTo>
                <a:lnTo>
                  <a:pt x="2095500" y="584200"/>
                </a:lnTo>
                <a:cubicBezTo>
                  <a:pt x="2095500" y="640334"/>
                  <a:pt x="2050034" y="685800"/>
                  <a:pt x="1993900" y="685800"/>
                </a:cubicBezTo>
                <a:lnTo>
                  <a:pt x="101600" y="685800"/>
                </a:lnTo>
                <a:cubicBezTo>
                  <a:pt x="45466" y="685800"/>
                  <a:pt x="0" y="640334"/>
                  <a:pt x="0" y="584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366EB2"/>
              </a:gs>
              <a:gs pos="100000">
                <a:srgbClr val="1B5AA8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icon-factory"/>
          <p:cNvSpPr/>
          <p:nvPr/>
        </p:nvSpPr>
        <p:spPr>
          <a:xfrm>
            <a:off x="4778566" y="3180906"/>
            <a:ext cx="145669" cy="98234"/>
          </a:xfrm>
          <a:custGeom>
            <a:avLst/>
            <a:gdLst/>
            <a:ahLst/>
            <a:cxnLst/>
            <a:rect l="0" t="0" r="r" b="b"/>
            <a:pathLst>
              <a:path w="145669" h="98234">
                <a:moveTo>
                  <a:pt x="0" y="98234"/>
                </a:moveTo>
                <a:lnTo>
                  <a:pt x="0" y="23749"/>
                </a:lnTo>
                <a:lnTo>
                  <a:pt x="42355" y="49149"/>
                </a:lnTo>
                <a:lnTo>
                  <a:pt x="42355" y="23749"/>
                </a:lnTo>
                <a:lnTo>
                  <a:pt x="84709" y="49149"/>
                </a:lnTo>
                <a:lnTo>
                  <a:pt x="84709" y="0"/>
                </a:lnTo>
                <a:lnTo>
                  <a:pt x="127000" y="25400"/>
                </a:lnTo>
                <a:lnTo>
                  <a:pt x="127000" y="89789"/>
                </a:lnTo>
                <a:close/>
                <a:moveTo>
                  <a:pt x="0" y="98234"/>
                </a:moveTo>
                <a:lnTo>
                  <a:pt x="145669" y="98234"/>
                </a:lnTo>
              </a:path>
            </a:pathLst>
          </a:custGeom>
          <a:noFill/>
          <a:ln w="1206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cen-cn-2"/>
          <p:cNvSpPr txBox="1"/>
          <p:nvPr/>
        </p:nvSpPr>
        <p:spPr>
          <a:xfrm>
            <a:off x="5061712" y="2974086"/>
            <a:ext cx="7975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生产中心</a:t>
            </a:r>
          </a:p>
        </p:txBody>
      </p:sp>
      <p:sp>
        <p:nvSpPr>
          <p:cNvPr id="55" name="cen-en-2"/>
          <p:cNvSpPr txBox="1"/>
          <p:nvPr/>
        </p:nvSpPr>
        <p:spPr>
          <a:xfrm>
            <a:off x="5069332" y="3230308"/>
            <a:ext cx="9335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25">
                <a:solidFill>
                  <a:srgbClr val="FFFFFF">
                    <a:alpha val="62000"/>
                  </a:srgbClr>
                </a:solidFill>
                <a:latin typeface="Arial"/>
                <a:ea typeface="Arial"/>
                <a:cs typeface="Arial"/>
              </a:rPr>
              <a:t>MANUFACTURING</a:t>
            </a:r>
          </a:p>
        </p:txBody>
      </p:sp>
      <p:sp>
        <p:nvSpPr>
          <p:cNvPr id="56" name="cen-n-2"/>
          <p:cNvSpPr txBox="1"/>
          <p:nvPr/>
        </p:nvSpPr>
        <p:spPr>
          <a:xfrm>
            <a:off x="6026912" y="3013297"/>
            <a:ext cx="515366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25">
                <a:solidFill>
                  <a:srgbClr val="FFFFFF">
                    <a:alpha val="90000"/>
                  </a:srgbClr>
                </a:solidFill>
                <a:latin typeface="Arial"/>
                <a:ea typeface="Arial"/>
                <a:cs typeface="Arial"/>
              </a:rPr>
              <a:t>512 人</a:t>
            </a:r>
          </a:p>
        </p:txBody>
      </p:sp>
      <p:cxnSp>
        <p:nvCxnSpPr>
          <p:cNvPr id="57" name="cl-2"/>
          <p:cNvCxnSpPr/>
          <p:nvPr/>
        </p:nvCxnSpPr>
        <p:spPr>
          <a:xfrm>
            <a:off x="5619750" y="3556000"/>
            <a:ext cx="0" cy="177800"/>
          </a:xfrm>
          <a:prstGeom prst="line">
            <a:avLst/>
          </a:prstGeom>
          <a:ln w="8890" cap="rnd">
            <a:solidFill>
              <a:srgbClr val="A9BBD0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sub-2-1"/>
          <p:cNvSpPr/>
          <p:nvPr/>
        </p:nvSpPr>
        <p:spPr>
          <a:xfrm>
            <a:off x="4572000" y="3771900"/>
            <a:ext cx="2095500" cy="317500"/>
          </a:xfrm>
          <a:custGeom>
            <a:avLst/>
            <a:gdLst/>
            <a:ahLst/>
            <a:cxnLst/>
            <a:rect l="0" t="0" r="r" b="b"/>
            <a:pathLst>
              <a:path w="2095500" h="317500">
                <a:moveTo>
                  <a:pt x="76200" y="0"/>
                </a:moveTo>
                <a:lnTo>
                  <a:pt x="2019300" y="0"/>
                </a:lnTo>
                <a:cubicBezTo>
                  <a:pt x="2061401" y="0"/>
                  <a:pt x="2095500" y="34100"/>
                  <a:pt x="2095500" y="76200"/>
                </a:cubicBezTo>
                <a:lnTo>
                  <a:pt x="2095500" y="241300"/>
                </a:lnTo>
                <a:cubicBezTo>
                  <a:pt x="2095500" y="283400"/>
                  <a:pt x="2061401" y="317500"/>
                  <a:pt x="2019300" y="317500"/>
                </a:cubicBezTo>
                <a:lnTo>
                  <a:pt x="76200" y="317500"/>
                </a:lnTo>
                <a:cubicBezTo>
                  <a:pt x="34100" y="317500"/>
                  <a:pt x="0" y="283400"/>
                  <a:pt x="0" y="2413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1B5AA8">
                <a:alpha val="24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sub-bar-2-1"/>
          <p:cNvSpPr/>
          <p:nvPr/>
        </p:nvSpPr>
        <p:spPr>
          <a:xfrm>
            <a:off x="4572000" y="3848100"/>
            <a:ext cx="25400" cy="165100"/>
          </a:xfrm>
          <a:prstGeom prst="roundRect">
            <a:avLst>
              <a:gd name="adj" fmla="val 50000"/>
            </a:avLst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sub-t-2-1"/>
          <p:cNvSpPr txBox="1"/>
          <p:nvPr/>
        </p:nvSpPr>
        <p:spPr>
          <a:xfrm>
            <a:off x="4711446" y="3841782"/>
            <a:ext cx="6623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生产计划部</a:t>
            </a:r>
          </a:p>
        </p:txBody>
      </p:sp>
      <p:sp>
        <p:nvSpPr>
          <p:cNvPr id="61" name="sub-d-2-1"/>
          <p:cNvSpPr/>
          <p:nvPr/>
        </p:nvSpPr>
        <p:spPr>
          <a:xfrm>
            <a:off x="6480810" y="3909060"/>
            <a:ext cx="43180" cy="43180"/>
          </a:xfrm>
          <a:prstGeom prst="ellipse">
            <a:avLst/>
          </a:prstGeom>
          <a:solidFill>
            <a:srgbClr val="1B5AA8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sub-2-2"/>
          <p:cNvSpPr/>
          <p:nvPr/>
        </p:nvSpPr>
        <p:spPr>
          <a:xfrm>
            <a:off x="4572000" y="4165600"/>
            <a:ext cx="2095500" cy="317500"/>
          </a:xfrm>
          <a:custGeom>
            <a:avLst/>
            <a:gdLst/>
            <a:ahLst/>
            <a:cxnLst/>
            <a:rect l="0" t="0" r="r" b="b"/>
            <a:pathLst>
              <a:path w="2095500" h="317500">
                <a:moveTo>
                  <a:pt x="76200" y="0"/>
                </a:moveTo>
                <a:lnTo>
                  <a:pt x="2019300" y="0"/>
                </a:lnTo>
                <a:cubicBezTo>
                  <a:pt x="2061401" y="0"/>
                  <a:pt x="2095500" y="34100"/>
                  <a:pt x="2095500" y="76200"/>
                </a:cubicBezTo>
                <a:lnTo>
                  <a:pt x="2095500" y="241300"/>
                </a:lnTo>
                <a:cubicBezTo>
                  <a:pt x="2095500" y="283400"/>
                  <a:pt x="2061401" y="317500"/>
                  <a:pt x="2019300" y="317500"/>
                </a:cubicBezTo>
                <a:lnTo>
                  <a:pt x="76200" y="317500"/>
                </a:lnTo>
                <a:cubicBezTo>
                  <a:pt x="34100" y="317500"/>
                  <a:pt x="0" y="283400"/>
                  <a:pt x="0" y="2413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1B5AA8">
                <a:alpha val="24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sub-bar-2-2"/>
          <p:cNvSpPr/>
          <p:nvPr/>
        </p:nvSpPr>
        <p:spPr>
          <a:xfrm>
            <a:off x="4572000" y="4241800"/>
            <a:ext cx="25400" cy="165100"/>
          </a:xfrm>
          <a:prstGeom prst="roundRect">
            <a:avLst>
              <a:gd name="adj" fmla="val 50000"/>
            </a:avLst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sub-t-2-2"/>
          <p:cNvSpPr txBox="1"/>
          <p:nvPr/>
        </p:nvSpPr>
        <p:spPr>
          <a:xfrm>
            <a:off x="4711446" y="4235482"/>
            <a:ext cx="54927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制造一部</a:t>
            </a:r>
          </a:p>
        </p:txBody>
      </p:sp>
      <p:sp>
        <p:nvSpPr>
          <p:cNvPr id="65" name="sub-d-2-2"/>
          <p:cNvSpPr/>
          <p:nvPr/>
        </p:nvSpPr>
        <p:spPr>
          <a:xfrm>
            <a:off x="6480810" y="4302760"/>
            <a:ext cx="43180" cy="43180"/>
          </a:xfrm>
          <a:prstGeom prst="ellipse">
            <a:avLst/>
          </a:prstGeom>
          <a:solidFill>
            <a:srgbClr val="1B5AA8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sub-2-3"/>
          <p:cNvSpPr/>
          <p:nvPr/>
        </p:nvSpPr>
        <p:spPr>
          <a:xfrm>
            <a:off x="4572000" y="4559300"/>
            <a:ext cx="2095500" cy="317500"/>
          </a:xfrm>
          <a:custGeom>
            <a:avLst/>
            <a:gdLst/>
            <a:ahLst/>
            <a:cxnLst/>
            <a:rect l="0" t="0" r="r" b="b"/>
            <a:pathLst>
              <a:path w="2095500" h="317500">
                <a:moveTo>
                  <a:pt x="76200" y="0"/>
                </a:moveTo>
                <a:lnTo>
                  <a:pt x="2019300" y="0"/>
                </a:lnTo>
                <a:cubicBezTo>
                  <a:pt x="2061401" y="0"/>
                  <a:pt x="2095500" y="34100"/>
                  <a:pt x="2095500" y="76200"/>
                </a:cubicBezTo>
                <a:lnTo>
                  <a:pt x="2095500" y="241300"/>
                </a:lnTo>
                <a:cubicBezTo>
                  <a:pt x="2095500" y="283400"/>
                  <a:pt x="2061401" y="317500"/>
                  <a:pt x="2019300" y="317500"/>
                </a:cubicBezTo>
                <a:lnTo>
                  <a:pt x="76200" y="317500"/>
                </a:lnTo>
                <a:cubicBezTo>
                  <a:pt x="34100" y="317500"/>
                  <a:pt x="0" y="283400"/>
                  <a:pt x="0" y="2413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1B5AA8">
                <a:alpha val="24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sub-bar-2-3"/>
          <p:cNvSpPr/>
          <p:nvPr/>
        </p:nvSpPr>
        <p:spPr>
          <a:xfrm>
            <a:off x="4572000" y="4635500"/>
            <a:ext cx="25400" cy="165100"/>
          </a:xfrm>
          <a:prstGeom prst="roundRect">
            <a:avLst>
              <a:gd name="adj" fmla="val 50000"/>
            </a:avLst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sub-t-2-3"/>
          <p:cNvSpPr txBox="1"/>
          <p:nvPr/>
        </p:nvSpPr>
        <p:spPr>
          <a:xfrm>
            <a:off x="4711446" y="4629182"/>
            <a:ext cx="6623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质量管理部</a:t>
            </a:r>
          </a:p>
        </p:txBody>
      </p:sp>
      <p:sp>
        <p:nvSpPr>
          <p:cNvPr id="69" name="sub-d-2-3"/>
          <p:cNvSpPr/>
          <p:nvPr/>
        </p:nvSpPr>
        <p:spPr>
          <a:xfrm>
            <a:off x="6480810" y="4696460"/>
            <a:ext cx="43180" cy="43180"/>
          </a:xfrm>
          <a:prstGeom prst="ellipse">
            <a:avLst/>
          </a:prstGeom>
          <a:solidFill>
            <a:srgbClr val="1B5AA8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cen-3"/>
          <p:cNvSpPr/>
          <p:nvPr/>
        </p:nvSpPr>
        <p:spPr>
          <a:xfrm>
            <a:off x="6985000" y="2870200"/>
            <a:ext cx="2095500" cy="685800"/>
          </a:xfrm>
          <a:custGeom>
            <a:avLst/>
            <a:gdLst/>
            <a:ahLst/>
            <a:cxnLst/>
            <a:rect l="0" t="0" r="r" b="b"/>
            <a:pathLst>
              <a:path w="2095500" h="685800">
                <a:moveTo>
                  <a:pt x="101600" y="0"/>
                </a:moveTo>
                <a:lnTo>
                  <a:pt x="1993900" y="0"/>
                </a:lnTo>
                <a:cubicBezTo>
                  <a:pt x="2050034" y="0"/>
                  <a:pt x="2095500" y="45466"/>
                  <a:pt x="2095500" y="101600"/>
                </a:cubicBezTo>
                <a:lnTo>
                  <a:pt x="2095500" y="584200"/>
                </a:lnTo>
                <a:cubicBezTo>
                  <a:pt x="2095500" y="640334"/>
                  <a:pt x="2050034" y="685800"/>
                  <a:pt x="1993900" y="685800"/>
                </a:cubicBezTo>
                <a:lnTo>
                  <a:pt x="101600" y="685800"/>
                </a:lnTo>
                <a:cubicBezTo>
                  <a:pt x="45466" y="685800"/>
                  <a:pt x="0" y="640334"/>
                  <a:pt x="0" y="584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5194D3"/>
              </a:gs>
              <a:gs pos="100000">
                <a:srgbClr val="3985CD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icon-megaphone"/>
          <p:cNvSpPr/>
          <p:nvPr/>
        </p:nvSpPr>
        <p:spPr>
          <a:xfrm>
            <a:off x="7208520" y="3160586"/>
            <a:ext cx="110045" cy="105029"/>
          </a:xfrm>
          <a:custGeom>
            <a:avLst/>
            <a:gdLst/>
            <a:ahLst/>
            <a:cxnLst/>
            <a:rect l="0" t="0" r="r" b="b"/>
            <a:pathLst>
              <a:path w="110045" h="105029">
                <a:moveTo>
                  <a:pt x="0" y="32194"/>
                </a:moveTo>
                <a:lnTo>
                  <a:pt x="0" y="72834"/>
                </a:lnTo>
                <a:lnTo>
                  <a:pt x="25400" y="72834"/>
                </a:lnTo>
                <a:lnTo>
                  <a:pt x="86360" y="105029"/>
                </a:lnTo>
                <a:lnTo>
                  <a:pt x="86360" y="0"/>
                </a:lnTo>
                <a:lnTo>
                  <a:pt x="25400" y="32194"/>
                </a:lnTo>
                <a:close/>
                <a:moveTo>
                  <a:pt x="110045" y="35560"/>
                </a:moveTo>
                <a:lnTo>
                  <a:pt x="110045" y="69469"/>
                </a:lnTo>
              </a:path>
            </a:pathLst>
          </a:custGeom>
          <a:noFill/>
          <a:ln w="1206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cen-cn-3"/>
          <p:cNvSpPr txBox="1"/>
          <p:nvPr/>
        </p:nvSpPr>
        <p:spPr>
          <a:xfrm>
            <a:off x="7474712" y="2974086"/>
            <a:ext cx="7975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营销中心</a:t>
            </a:r>
          </a:p>
        </p:txBody>
      </p:sp>
      <p:sp>
        <p:nvSpPr>
          <p:cNvPr id="73" name="cen-en-3"/>
          <p:cNvSpPr txBox="1"/>
          <p:nvPr/>
        </p:nvSpPr>
        <p:spPr>
          <a:xfrm>
            <a:off x="7482332" y="3230308"/>
            <a:ext cx="670941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25">
                <a:solidFill>
                  <a:srgbClr val="FFFFFF">
                    <a:alpha val="62000"/>
                  </a:srgbClr>
                </a:solidFill>
                <a:latin typeface="Arial"/>
                <a:ea typeface="Arial"/>
                <a:cs typeface="Arial"/>
              </a:rPr>
              <a:t>MARKETING</a:t>
            </a:r>
          </a:p>
        </p:txBody>
      </p:sp>
      <p:sp>
        <p:nvSpPr>
          <p:cNvPr id="74" name="cen-n-3"/>
          <p:cNvSpPr txBox="1"/>
          <p:nvPr/>
        </p:nvSpPr>
        <p:spPr>
          <a:xfrm>
            <a:off x="8439912" y="3013297"/>
            <a:ext cx="515366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25">
                <a:solidFill>
                  <a:srgbClr val="FFFFFF">
                    <a:alpha val="90000"/>
                  </a:srgbClr>
                </a:solidFill>
                <a:latin typeface="Arial"/>
                <a:ea typeface="Arial"/>
                <a:cs typeface="Arial"/>
              </a:rPr>
              <a:t>324 人</a:t>
            </a:r>
          </a:p>
        </p:txBody>
      </p:sp>
      <p:cxnSp>
        <p:nvCxnSpPr>
          <p:cNvPr id="75" name="cl-3"/>
          <p:cNvCxnSpPr/>
          <p:nvPr/>
        </p:nvCxnSpPr>
        <p:spPr>
          <a:xfrm>
            <a:off x="8032750" y="3556000"/>
            <a:ext cx="0" cy="177800"/>
          </a:xfrm>
          <a:prstGeom prst="line">
            <a:avLst/>
          </a:prstGeom>
          <a:ln w="8890" cap="rnd">
            <a:solidFill>
              <a:srgbClr val="A9BBD0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sub-3-1"/>
          <p:cNvSpPr/>
          <p:nvPr/>
        </p:nvSpPr>
        <p:spPr>
          <a:xfrm>
            <a:off x="6985000" y="3771900"/>
            <a:ext cx="2095500" cy="317500"/>
          </a:xfrm>
          <a:custGeom>
            <a:avLst/>
            <a:gdLst/>
            <a:ahLst/>
            <a:cxnLst/>
            <a:rect l="0" t="0" r="r" b="b"/>
            <a:pathLst>
              <a:path w="2095500" h="317500">
                <a:moveTo>
                  <a:pt x="76200" y="0"/>
                </a:moveTo>
                <a:lnTo>
                  <a:pt x="2019300" y="0"/>
                </a:lnTo>
                <a:cubicBezTo>
                  <a:pt x="2061401" y="0"/>
                  <a:pt x="2095500" y="34100"/>
                  <a:pt x="2095500" y="76200"/>
                </a:cubicBezTo>
                <a:lnTo>
                  <a:pt x="2095500" y="241300"/>
                </a:lnTo>
                <a:cubicBezTo>
                  <a:pt x="2095500" y="283400"/>
                  <a:pt x="2061401" y="317500"/>
                  <a:pt x="2019300" y="317500"/>
                </a:cubicBezTo>
                <a:lnTo>
                  <a:pt x="76200" y="317500"/>
                </a:lnTo>
                <a:cubicBezTo>
                  <a:pt x="34099" y="317500"/>
                  <a:pt x="0" y="283400"/>
                  <a:pt x="0" y="2413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3985CD">
                <a:alpha val="24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sub-bar-3-1"/>
          <p:cNvSpPr/>
          <p:nvPr/>
        </p:nvSpPr>
        <p:spPr>
          <a:xfrm>
            <a:off x="6985000" y="3848100"/>
            <a:ext cx="25400" cy="165100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sub-t-3-1"/>
          <p:cNvSpPr txBox="1"/>
          <p:nvPr/>
        </p:nvSpPr>
        <p:spPr>
          <a:xfrm>
            <a:off x="7124446" y="3841782"/>
            <a:ext cx="6623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品牌推广部</a:t>
            </a:r>
          </a:p>
        </p:txBody>
      </p:sp>
      <p:sp>
        <p:nvSpPr>
          <p:cNvPr id="79" name="sub-d-3-1"/>
          <p:cNvSpPr/>
          <p:nvPr/>
        </p:nvSpPr>
        <p:spPr>
          <a:xfrm>
            <a:off x="8893810" y="3909060"/>
            <a:ext cx="43180" cy="43180"/>
          </a:xfrm>
          <a:prstGeom prst="ellipse">
            <a:avLst/>
          </a:prstGeom>
          <a:solidFill>
            <a:srgbClr val="3985CD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sub-3-2"/>
          <p:cNvSpPr/>
          <p:nvPr/>
        </p:nvSpPr>
        <p:spPr>
          <a:xfrm>
            <a:off x="6985000" y="4165600"/>
            <a:ext cx="2095500" cy="317500"/>
          </a:xfrm>
          <a:custGeom>
            <a:avLst/>
            <a:gdLst/>
            <a:ahLst/>
            <a:cxnLst/>
            <a:rect l="0" t="0" r="r" b="b"/>
            <a:pathLst>
              <a:path w="2095500" h="317500">
                <a:moveTo>
                  <a:pt x="76200" y="0"/>
                </a:moveTo>
                <a:lnTo>
                  <a:pt x="2019300" y="0"/>
                </a:lnTo>
                <a:cubicBezTo>
                  <a:pt x="2061401" y="0"/>
                  <a:pt x="2095500" y="34100"/>
                  <a:pt x="2095500" y="76200"/>
                </a:cubicBezTo>
                <a:lnTo>
                  <a:pt x="2095500" y="241300"/>
                </a:lnTo>
                <a:cubicBezTo>
                  <a:pt x="2095500" y="283400"/>
                  <a:pt x="2061401" y="317500"/>
                  <a:pt x="2019300" y="317500"/>
                </a:cubicBezTo>
                <a:lnTo>
                  <a:pt x="76200" y="317500"/>
                </a:lnTo>
                <a:cubicBezTo>
                  <a:pt x="34099" y="317500"/>
                  <a:pt x="0" y="283400"/>
                  <a:pt x="0" y="2413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3985CD">
                <a:alpha val="24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sub-bar-3-2"/>
          <p:cNvSpPr/>
          <p:nvPr/>
        </p:nvSpPr>
        <p:spPr>
          <a:xfrm>
            <a:off x="6985000" y="4241800"/>
            <a:ext cx="25400" cy="165100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sub-t-3-2"/>
          <p:cNvSpPr txBox="1"/>
          <p:nvPr/>
        </p:nvSpPr>
        <p:spPr>
          <a:xfrm>
            <a:off x="7124446" y="4235482"/>
            <a:ext cx="6623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区域销售部</a:t>
            </a:r>
          </a:p>
        </p:txBody>
      </p:sp>
      <p:sp>
        <p:nvSpPr>
          <p:cNvPr id="83" name="sub-d-3-2"/>
          <p:cNvSpPr/>
          <p:nvPr/>
        </p:nvSpPr>
        <p:spPr>
          <a:xfrm>
            <a:off x="8893810" y="4302760"/>
            <a:ext cx="43180" cy="43180"/>
          </a:xfrm>
          <a:prstGeom prst="ellipse">
            <a:avLst/>
          </a:prstGeom>
          <a:solidFill>
            <a:srgbClr val="3985CD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sub-3-3"/>
          <p:cNvSpPr/>
          <p:nvPr/>
        </p:nvSpPr>
        <p:spPr>
          <a:xfrm>
            <a:off x="6985000" y="4559300"/>
            <a:ext cx="2095500" cy="317500"/>
          </a:xfrm>
          <a:custGeom>
            <a:avLst/>
            <a:gdLst/>
            <a:ahLst/>
            <a:cxnLst/>
            <a:rect l="0" t="0" r="r" b="b"/>
            <a:pathLst>
              <a:path w="2095500" h="317500">
                <a:moveTo>
                  <a:pt x="76200" y="0"/>
                </a:moveTo>
                <a:lnTo>
                  <a:pt x="2019300" y="0"/>
                </a:lnTo>
                <a:cubicBezTo>
                  <a:pt x="2061401" y="0"/>
                  <a:pt x="2095500" y="34100"/>
                  <a:pt x="2095500" y="76200"/>
                </a:cubicBezTo>
                <a:lnTo>
                  <a:pt x="2095500" y="241300"/>
                </a:lnTo>
                <a:cubicBezTo>
                  <a:pt x="2095500" y="283400"/>
                  <a:pt x="2061401" y="317500"/>
                  <a:pt x="2019300" y="317500"/>
                </a:cubicBezTo>
                <a:lnTo>
                  <a:pt x="76200" y="317500"/>
                </a:lnTo>
                <a:cubicBezTo>
                  <a:pt x="34099" y="317500"/>
                  <a:pt x="0" y="283400"/>
                  <a:pt x="0" y="2413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3985CD">
                <a:alpha val="24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sub-bar-3-3"/>
          <p:cNvSpPr/>
          <p:nvPr/>
        </p:nvSpPr>
        <p:spPr>
          <a:xfrm>
            <a:off x="6985000" y="4635500"/>
            <a:ext cx="25400" cy="165100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sub-t-3-3"/>
          <p:cNvSpPr txBox="1"/>
          <p:nvPr/>
        </p:nvSpPr>
        <p:spPr>
          <a:xfrm>
            <a:off x="7124446" y="4629182"/>
            <a:ext cx="6623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渠道运营部</a:t>
            </a:r>
          </a:p>
        </p:txBody>
      </p:sp>
      <p:sp>
        <p:nvSpPr>
          <p:cNvPr id="87" name="sub-d-3-3"/>
          <p:cNvSpPr/>
          <p:nvPr/>
        </p:nvSpPr>
        <p:spPr>
          <a:xfrm>
            <a:off x="8893810" y="4696460"/>
            <a:ext cx="43180" cy="43180"/>
          </a:xfrm>
          <a:prstGeom prst="ellipse">
            <a:avLst/>
          </a:prstGeom>
          <a:solidFill>
            <a:srgbClr val="3985CD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cen-4"/>
          <p:cNvSpPr/>
          <p:nvPr/>
        </p:nvSpPr>
        <p:spPr>
          <a:xfrm>
            <a:off x="9398000" y="2870200"/>
            <a:ext cx="2095500" cy="685800"/>
          </a:xfrm>
          <a:custGeom>
            <a:avLst/>
            <a:gdLst/>
            <a:ahLst/>
            <a:cxnLst/>
            <a:rect l="0" t="0" r="r" b="b"/>
            <a:pathLst>
              <a:path w="2095500" h="685800">
                <a:moveTo>
                  <a:pt x="101600" y="0"/>
                </a:moveTo>
                <a:lnTo>
                  <a:pt x="1993900" y="0"/>
                </a:lnTo>
                <a:cubicBezTo>
                  <a:pt x="2050034" y="0"/>
                  <a:pt x="2095500" y="45466"/>
                  <a:pt x="2095500" y="101600"/>
                </a:cubicBezTo>
                <a:lnTo>
                  <a:pt x="2095500" y="584200"/>
                </a:lnTo>
                <a:cubicBezTo>
                  <a:pt x="2095500" y="640334"/>
                  <a:pt x="2050034" y="685800"/>
                  <a:pt x="1993900" y="685800"/>
                </a:cubicBezTo>
                <a:lnTo>
                  <a:pt x="101600" y="685800"/>
                </a:lnTo>
                <a:cubicBezTo>
                  <a:pt x="45466" y="685800"/>
                  <a:pt x="0" y="640334"/>
                  <a:pt x="0" y="584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69ADE3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icon-gear"/>
          <p:cNvSpPr/>
          <p:nvPr/>
        </p:nvSpPr>
        <p:spPr>
          <a:xfrm>
            <a:off x="9613900" y="3135186"/>
            <a:ext cx="127000" cy="155829"/>
          </a:xfrm>
          <a:custGeom>
            <a:avLst/>
            <a:gdLst/>
            <a:ahLst/>
            <a:cxnLst/>
            <a:rect l="0" t="0" r="r" b="b"/>
            <a:pathLst>
              <a:path w="127000" h="155829">
                <a:moveTo>
                  <a:pt x="63500" y="49149"/>
                </a:moveTo>
                <a:cubicBezTo>
                  <a:pt x="53213" y="49149"/>
                  <a:pt x="43688" y="54610"/>
                  <a:pt x="38544" y="63500"/>
                </a:cubicBezTo>
                <a:cubicBezTo>
                  <a:pt x="33401" y="72453"/>
                  <a:pt x="33401" y="83375"/>
                  <a:pt x="38544" y="92329"/>
                </a:cubicBezTo>
                <a:cubicBezTo>
                  <a:pt x="43688" y="101219"/>
                  <a:pt x="53213" y="106680"/>
                  <a:pt x="63500" y="106680"/>
                </a:cubicBezTo>
                <a:cubicBezTo>
                  <a:pt x="79375" y="106680"/>
                  <a:pt x="92265" y="93789"/>
                  <a:pt x="92265" y="77914"/>
                </a:cubicBezTo>
                <a:cubicBezTo>
                  <a:pt x="92265" y="62039"/>
                  <a:pt x="79375" y="49149"/>
                  <a:pt x="63500" y="49149"/>
                </a:cubicBezTo>
                <a:close/>
                <a:moveTo>
                  <a:pt x="63500" y="0"/>
                </a:moveTo>
                <a:lnTo>
                  <a:pt x="72835" y="22034"/>
                </a:lnTo>
                <a:lnTo>
                  <a:pt x="96520" y="16954"/>
                </a:lnTo>
                <a:lnTo>
                  <a:pt x="104965" y="39814"/>
                </a:lnTo>
                <a:lnTo>
                  <a:pt x="127000" y="49149"/>
                </a:lnTo>
                <a:lnTo>
                  <a:pt x="116840" y="71120"/>
                </a:lnTo>
                <a:lnTo>
                  <a:pt x="127000" y="93154"/>
                </a:lnTo>
                <a:lnTo>
                  <a:pt x="104965" y="102489"/>
                </a:lnTo>
                <a:lnTo>
                  <a:pt x="96520" y="125349"/>
                </a:lnTo>
                <a:lnTo>
                  <a:pt x="72835" y="120269"/>
                </a:lnTo>
                <a:lnTo>
                  <a:pt x="63500" y="155829"/>
                </a:lnTo>
                <a:lnTo>
                  <a:pt x="54165" y="133794"/>
                </a:lnTo>
                <a:lnTo>
                  <a:pt x="30480" y="138875"/>
                </a:lnTo>
                <a:lnTo>
                  <a:pt x="22035" y="116014"/>
                </a:lnTo>
                <a:lnTo>
                  <a:pt x="0" y="106680"/>
                </a:lnTo>
                <a:lnTo>
                  <a:pt x="10160" y="77914"/>
                </a:lnTo>
                <a:lnTo>
                  <a:pt x="0" y="55880"/>
                </a:lnTo>
                <a:lnTo>
                  <a:pt x="22035" y="46609"/>
                </a:lnTo>
                <a:lnTo>
                  <a:pt x="30480" y="23749"/>
                </a:lnTo>
                <a:lnTo>
                  <a:pt x="54165" y="28829"/>
                </a:lnTo>
                <a:close/>
              </a:path>
            </a:pathLst>
          </a:custGeom>
          <a:noFill/>
          <a:ln w="1206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cen-cn-4"/>
          <p:cNvSpPr txBox="1"/>
          <p:nvPr/>
        </p:nvSpPr>
        <p:spPr>
          <a:xfrm>
            <a:off x="9887712" y="2974086"/>
            <a:ext cx="7975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职能中心</a:t>
            </a:r>
          </a:p>
        </p:txBody>
      </p:sp>
      <p:sp>
        <p:nvSpPr>
          <p:cNvPr id="91" name="cen-en-4"/>
          <p:cNvSpPr txBox="1"/>
          <p:nvPr/>
        </p:nvSpPr>
        <p:spPr>
          <a:xfrm>
            <a:off x="9895332" y="3230308"/>
            <a:ext cx="670941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25">
                <a:solidFill>
                  <a:srgbClr val="FFFFFF">
                    <a:alpha val="62000"/>
                  </a:srgbClr>
                </a:solidFill>
                <a:latin typeface="Arial"/>
                <a:ea typeface="Arial"/>
                <a:cs typeface="Arial"/>
              </a:rPr>
              <a:t>FUNCTIONS</a:t>
            </a:r>
          </a:p>
        </p:txBody>
      </p:sp>
      <p:sp>
        <p:nvSpPr>
          <p:cNvPr id="92" name="cen-n-4"/>
          <p:cNvSpPr txBox="1"/>
          <p:nvPr/>
        </p:nvSpPr>
        <p:spPr>
          <a:xfrm>
            <a:off x="10852912" y="3013297"/>
            <a:ext cx="515366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25">
                <a:solidFill>
                  <a:srgbClr val="FFFFFF">
                    <a:alpha val="90000"/>
                  </a:srgbClr>
                </a:solidFill>
                <a:latin typeface="Arial"/>
                <a:ea typeface="Arial"/>
                <a:cs typeface="Arial"/>
              </a:rPr>
              <a:t>164 人</a:t>
            </a:r>
          </a:p>
        </p:txBody>
      </p:sp>
      <p:cxnSp>
        <p:nvCxnSpPr>
          <p:cNvPr id="93" name="cl-4"/>
          <p:cNvCxnSpPr/>
          <p:nvPr/>
        </p:nvCxnSpPr>
        <p:spPr>
          <a:xfrm>
            <a:off x="10445750" y="3556000"/>
            <a:ext cx="0" cy="177800"/>
          </a:xfrm>
          <a:prstGeom prst="line">
            <a:avLst/>
          </a:prstGeom>
          <a:ln w="8890" cap="rnd">
            <a:solidFill>
              <a:srgbClr val="A9BBD0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4" name="sub-4-1"/>
          <p:cNvSpPr/>
          <p:nvPr/>
        </p:nvSpPr>
        <p:spPr>
          <a:xfrm>
            <a:off x="9398000" y="3771900"/>
            <a:ext cx="2095500" cy="317500"/>
          </a:xfrm>
          <a:custGeom>
            <a:avLst/>
            <a:gdLst/>
            <a:ahLst/>
            <a:cxnLst/>
            <a:rect l="0" t="0" r="r" b="b"/>
            <a:pathLst>
              <a:path w="2095500" h="317500">
                <a:moveTo>
                  <a:pt x="76200" y="0"/>
                </a:moveTo>
                <a:lnTo>
                  <a:pt x="2019300" y="0"/>
                </a:lnTo>
                <a:cubicBezTo>
                  <a:pt x="2061401" y="0"/>
                  <a:pt x="2095500" y="34100"/>
                  <a:pt x="2095500" y="76200"/>
                </a:cubicBezTo>
                <a:lnTo>
                  <a:pt x="2095500" y="241300"/>
                </a:lnTo>
                <a:cubicBezTo>
                  <a:pt x="2095500" y="283400"/>
                  <a:pt x="2061401" y="317500"/>
                  <a:pt x="2019300" y="317500"/>
                </a:cubicBezTo>
                <a:lnTo>
                  <a:pt x="76200" y="317500"/>
                </a:lnTo>
                <a:cubicBezTo>
                  <a:pt x="34099" y="317500"/>
                  <a:pt x="0" y="283400"/>
                  <a:pt x="0" y="2413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54A2DF">
                <a:alpha val="24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sub-bar-4-1"/>
          <p:cNvSpPr/>
          <p:nvPr/>
        </p:nvSpPr>
        <p:spPr>
          <a:xfrm>
            <a:off x="9398000" y="3848100"/>
            <a:ext cx="25400" cy="165100"/>
          </a:xfrm>
          <a:prstGeom prst="roundRect">
            <a:avLst>
              <a:gd name="adj" fmla="val 50000"/>
            </a:avLst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sub-t-4-1"/>
          <p:cNvSpPr txBox="1"/>
          <p:nvPr/>
        </p:nvSpPr>
        <p:spPr>
          <a:xfrm>
            <a:off x="9537446" y="3841782"/>
            <a:ext cx="6623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财务管理部</a:t>
            </a:r>
          </a:p>
        </p:txBody>
      </p:sp>
      <p:sp>
        <p:nvSpPr>
          <p:cNvPr id="97" name="sub-d-4-1"/>
          <p:cNvSpPr/>
          <p:nvPr/>
        </p:nvSpPr>
        <p:spPr>
          <a:xfrm>
            <a:off x="11306810" y="3909060"/>
            <a:ext cx="43180" cy="43180"/>
          </a:xfrm>
          <a:prstGeom prst="ellipse">
            <a:avLst/>
          </a:prstGeom>
          <a:solidFill>
            <a:srgbClr val="54A2D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sub-4-2"/>
          <p:cNvSpPr/>
          <p:nvPr/>
        </p:nvSpPr>
        <p:spPr>
          <a:xfrm>
            <a:off x="9398000" y="4165600"/>
            <a:ext cx="2095500" cy="317500"/>
          </a:xfrm>
          <a:custGeom>
            <a:avLst/>
            <a:gdLst/>
            <a:ahLst/>
            <a:cxnLst/>
            <a:rect l="0" t="0" r="r" b="b"/>
            <a:pathLst>
              <a:path w="2095500" h="317500">
                <a:moveTo>
                  <a:pt x="76200" y="0"/>
                </a:moveTo>
                <a:lnTo>
                  <a:pt x="2019300" y="0"/>
                </a:lnTo>
                <a:cubicBezTo>
                  <a:pt x="2061401" y="0"/>
                  <a:pt x="2095500" y="34100"/>
                  <a:pt x="2095500" y="76200"/>
                </a:cubicBezTo>
                <a:lnTo>
                  <a:pt x="2095500" y="241300"/>
                </a:lnTo>
                <a:cubicBezTo>
                  <a:pt x="2095500" y="283400"/>
                  <a:pt x="2061401" y="317500"/>
                  <a:pt x="2019300" y="317500"/>
                </a:cubicBezTo>
                <a:lnTo>
                  <a:pt x="76200" y="317500"/>
                </a:lnTo>
                <a:cubicBezTo>
                  <a:pt x="34099" y="317500"/>
                  <a:pt x="0" y="283400"/>
                  <a:pt x="0" y="2413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54A2DF">
                <a:alpha val="24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9" name="sub-bar-4-2"/>
          <p:cNvSpPr/>
          <p:nvPr/>
        </p:nvSpPr>
        <p:spPr>
          <a:xfrm>
            <a:off x="9398000" y="4241800"/>
            <a:ext cx="25400" cy="165100"/>
          </a:xfrm>
          <a:prstGeom prst="roundRect">
            <a:avLst>
              <a:gd name="adj" fmla="val 50000"/>
            </a:avLst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sub-t-4-2"/>
          <p:cNvSpPr txBox="1"/>
          <p:nvPr/>
        </p:nvSpPr>
        <p:spPr>
          <a:xfrm>
            <a:off x="9537446" y="4235482"/>
            <a:ext cx="6623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人力资源部</a:t>
            </a:r>
          </a:p>
        </p:txBody>
      </p:sp>
      <p:sp>
        <p:nvSpPr>
          <p:cNvPr id="101" name="sub-d-4-2"/>
          <p:cNvSpPr/>
          <p:nvPr/>
        </p:nvSpPr>
        <p:spPr>
          <a:xfrm>
            <a:off x="11306810" y="4302760"/>
            <a:ext cx="43180" cy="43180"/>
          </a:xfrm>
          <a:prstGeom prst="ellipse">
            <a:avLst/>
          </a:prstGeom>
          <a:solidFill>
            <a:srgbClr val="54A2D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2" name="sub-4-3"/>
          <p:cNvSpPr/>
          <p:nvPr/>
        </p:nvSpPr>
        <p:spPr>
          <a:xfrm>
            <a:off x="9398000" y="4559300"/>
            <a:ext cx="2095500" cy="317500"/>
          </a:xfrm>
          <a:custGeom>
            <a:avLst/>
            <a:gdLst/>
            <a:ahLst/>
            <a:cxnLst/>
            <a:rect l="0" t="0" r="r" b="b"/>
            <a:pathLst>
              <a:path w="2095500" h="317500">
                <a:moveTo>
                  <a:pt x="76200" y="0"/>
                </a:moveTo>
                <a:lnTo>
                  <a:pt x="2019300" y="0"/>
                </a:lnTo>
                <a:cubicBezTo>
                  <a:pt x="2061401" y="0"/>
                  <a:pt x="2095500" y="34100"/>
                  <a:pt x="2095500" y="76200"/>
                </a:cubicBezTo>
                <a:lnTo>
                  <a:pt x="2095500" y="241300"/>
                </a:lnTo>
                <a:cubicBezTo>
                  <a:pt x="2095500" y="283400"/>
                  <a:pt x="2061401" y="317500"/>
                  <a:pt x="2019300" y="317500"/>
                </a:cubicBezTo>
                <a:lnTo>
                  <a:pt x="76200" y="317500"/>
                </a:lnTo>
                <a:cubicBezTo>
                  <a:pt x="34099" y="317500"/>
                  <a:pt x="0" y="283400"/>
                  <a:pt x="0" y="2413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54A2DF">
                <a:alpha val="24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sub-bar-4-3"/>
          <p:cNvSpPr/>
          <p:nvPr/>
        </p:nvSpPr>
        <p:spPr>
          <a:xfrm>
            <a:off x="9398000" y="4635500"/>
            <a:ext cx="25400" cy="165100"/>
          </a:xfrm>
          <a:prstGeom prst="roundRect">
            <a:avLst>
              <a:gd name="adj" fmla="val 50000"/>
            </a:avLst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4" name="sub-t-4-3"/>
          <p:cNvSpPr txBox="1"/>
          <p:nvPr/>
        </p:nvSpPr>
        <p:spPr>
          <a:xfrm>
            <a:off x="9537446" y="4629182"/>
            <a:ext cx="6623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行政法务部</a:t>
            </a:r>
          </a:p>
        </p:txBody>
      </p:sp>
      <p:sp>
        <p:nvSpPr>
          <p:cNvPr id="105" name="sub-d-4-3"/>
          <p:cNvSpPr/>
          <p:nvPr/>
        </p:nvSpPr>
        <p:spPr>
          <a:xfrm>
            <a:off x="11306810" y="4696460"/>
            <a:ext cx="43180" cy="43180"/>
          </a:xfrm>
          <a:prstGeom prst="ellipse">
            <a:avLst/>
          </a:prstGeom>
          <a:solidFill>
            <a:srgbClr val="54A2D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6" name="stat-panel"/>
          <p:cNvSpPr/>
          <p:nvPr/>
        </p:nvSpPr>
        <p:spPr>
          <a:xfrm>
            <a:off x="711200" y="5092700"/>
            <a:ext cx="10795000" cy="660400"/>
          </a:xfrm>
          <a:custGeom>
            <a:avLst/>
            <a:gdLst/>
            <a:ahLst/>
            <a:cxnLst/>
            <a:rect l="0" t="0" r="r" b="b"/>
            <a:pathLst>
              <a:path w="10795000" h="660400">
                <a:moveTo>
                  <a:pt x="114300" y="0"/>
                </a:moveTo>
                <a:lnTo>
                  <a:pt x="10680700" y="0"/>
                </a:lnTo>
                <a:cubicBezTo>
                  <a:pt x="10743819" y="0"/>
                  <a:pt x="10795000" y="51181"/>
                  <a:pt x="10795000" y="114300"/>
                </a:cubicBezTo>
                <a:lnTo>
                  <a:pt x="10795000" y="546100"/>
                </a:lnTo>
                <a:cubicBezTo>
                  <a:pt x="10795000" y="609219"/>
                  <a:pt x="10743819" y="660400"/>
                  <a:pt x="10680700" y="660400"/>
                </a:cubicBezTo>
                <a:lnTo>
                  <a:pt x="114300" y="660400"/>
                </a:lnTo>
                <a:cubicBezTo>
                  <a:pt x="51181" y="660400"/>
                  <a:pt x="0" y="609219"/>
                  <a:pt x="0" y="5461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7" name="st-v-1"/>
          <p:cNvSpPr txBox="1"/>
          <p:nvPr/>
        </p:nvSpPr>
        <p:spPr>
          <a:xfrm>
            <a:off x="1087120" y="5147310"/>
            <a:ext cx="97155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 spc="50">
                <a:solidFill>
                  <a:srgbClr val="0B3E8F"/>
                </a:solidFill>
                <a:latin typeface="Arial"/>
                <a:ea typeface="Arial"/>
                <a:cs typeface="Arial"/>
              </a:rPr>
              <a:t>1,286</a:t>
            </a:r>
          </a:p>
        </p:txBody>
      </p:sp>
      <p:sp>
        <p:nvSpPr>
          <p:cNvPr id="108" name="st-u-1"/>
          <p:cNvSpPr txBox="1"/>
          <p:nvPr/>
        </p:nvSpPr>
        <p:spPr>
          <a:xfrm>
            <a:off x="1949196" y="5327682"/>
            <a:ext cx="205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人</a:t>
            </a:r>
          </a:p>
        </p:txBody>
      </p:sp>
      <p:sp>
        <p:nvSpPr>
          <p:cNvPr id="109" name="st-l-1"/>
          <p:cNvSpPr txBox="1"/>
          <p:nvPr/>
        </p:nvSpPr>
        <p:spPr>
          <a:xfrm>
            <a:off x="1105408" y="5513324"/>
            <a:ext cx="8204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集团在编总人数</a:t>
            </a:r>
          </a:p>
        </p:txBody>
      </p:sp>
      <p:cxnSp>
        <p:nvCxnSpPr>
          <p:cNvPr id="110" name="st-d-1"/>
          <p:cNvCxnSpPr/>
          <p:nvPr/>
        </p:nvCxnSpPr>
        <p:spPr>
          <a:xfrm>
            <a:off x="3441700" y="5257800"/>
            <a:ext cx="0" cy="3302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1" name="st-v-2"/>
          <p:cNvSpPr txBox="1"/>
          <p:nvPr/>
        </p:nvSpPr>
        <p:spPr>
          <a:xfrm>
            <a:off x="3766820" y="5147310"/>
            <a:ext cx="37719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 spc="50">
                <a:solidFill>
                  <a:srgbClr val="0B3E8F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112" name="st-u-2"/>
          <p:cNvSpPr txBox="1"/>
          <p:nvPr/>
        </p:nvSpPr>
        <p:spPr>
          <a:xfrm>
            <a:off x="3993896" y="5327682"/>
            <a:ext cx="205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个</a:t>
            </a:r>
          </a:p>
        </p:txBody>
      </p:sp>
      <p:sp>
        <p:nvSpPr>
          <p:cNvPr id="113" name="st-l-2"/>
          <p:cNvSpPr txBox="1"/>
          <p:nvPr/>
        </p:nvSpPr>
        <p:spPr>
          <a:xfrm>
            <a:off x="3785108" y="5513324"/>
            <a:ext cx="5080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业务中心</a:t>
            </a:r>
          </a:p>
        </p:txBody>
      </p:sp>
      <p:cxnSp>
        <p:nvCxnSpPr>
          <p:cNvPr id="114" name="st-d-2"/>
          <p:cNvCxnSpPr/>
          <p:nvPr/>
        </p:nvCxnSpPr>
        <p:spPr>
          <a:xfrm>
            <a:off x="6121400" y="5257800"/>
            <a:ext cx="0" cy="3302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5" name="st-v-3"/>
          <p:cNvSpPr txBox="1"/>
          <p:nvPr/>
        </p:nvSpPr>
        <p:spPr>
          <a:xfrm>
            <a:off x="6446520" y="5147310"/>
            <a:ext cx="52578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 spc="50">
                <a:solidFill>
                  <a:srgbClr val="0B3E8F"/>
                </a:solidFill>
                <a:latin typeface="Arial"/>
                <a:ea typeface="Arial"/>
                <a:cs typeface="Arial"/>
              </a:rPr>
              <a:t>12</a:t>
            </a:r>
          </a:p>
        </p:txBody>
      </p:sp>
      <p:sp>
        <p:nvSpPr>
          <p:cNvPr id="116" name="st-u-3"/>
          <p:cNvSpPr txBox="1"/>
          <p:nvPr/>
        </p:nvSpPr>
        <p:spPr>
          <a:xfrm>
            <a:off x="6832346" y="5327682"/>
            <a:ext cx="205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个</a:t>
            </a:r>
          </a:p>
        </p:txBody>
      </p:sp>
      <p:sp>
        <p:nvSpPr>
          <p:cNvPr id="117" name="st-l-3"/>
          <p:cNvSpPr txBox="1"/>
          <p:nvPr/>
        </p:nvSpPr>
        <p:spPr>
          <a:xfrm>
            <a:off x="6464808" y="5513324"/>
            <a:ext cx="5080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职能部门</a:t>
            </a:r>
          </a:p>
        </p:txBody>
      </p:sp>
      <p:cxnSp>
        <p:nvCxnSpPr>
          <p:cNvPr id="118" name="st-d-3"/>
          <p:cNvCxnSpPr/>
          <p:nvPr/>
        </p:nvCxnSpPr>
        <p:spPr>
          <a:xfrm>
            <a:off x="8801100" y="5257800"/>
            <a:ext cx="0" cy="3302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9" name="st-v-4"/>
          <p:cNvSpPr txBox="1"/>
          <p:nvPr/>
        </p:nvSpPr>
        <p:spPr>
          <a:xfrm>
            <a:off x="9126220" y="5147310"/>
            <a:ext cx="67437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 spc="50">
                <a:solidFill>
                  <a:srgbClr val="0B3E8F"/>
                </a:solidFill>
                <a:latin typeface="Arial"/>
                <a:ea typeface="Arial"/>
                <a:cs typeface="Arial"/>
              </a:rPr>
              <a:t>4.8</a:t>
            </a:r>
          </a:p>
        </p:txBody>
      </p:sp>
      <p:sp>
        <p:nvSpPr>
          <p:cNvPr id="120" name="st-u-4"/>
          <p:cNvSpPr txBox="1"/>
          <p:nvPr/>
        </p:nvSpPr>
        <p:spPr>
          <a:xfrm>
            <a:off x="9670796" y="5327682"/>
            <a:ext cx="205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年</a:t>
            </a:r>
          </a:p>
        </p:txBody>
      </p:sp>
      <p:sp>
        <p:nvSpPr>
          <p:cNvPr id="121" name="st-l-4"/>
          <p:cNvSpPr txBox="1"/>
          <p:nvPr/>
        </p:nvSpPr>
        <p:spPr>
          <a:xfrm>
            <a:off x="9144508" y="5513324"/>
            <a:ext cx="92456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核心团队平均司龄</a:t>
            </a:r>
          </a:p>
        </p:txBody>
      </p:sp>
      <p:cxnSp>
        <p:nvCxnSpPr>
          <p:cNvPr id="122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3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组织架构 · 三层贯通</a:t>
            </a:r>
          </a:p>
        </p:txBody>
      </p:sp>
      <p:sp>
        <p:nvSpPr>
          <p:cNvPr id="124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产业生态布局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71907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INDUSTRY ECOSYSTEM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237599" y="673132"/>
            <a:ext cx="23831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由内向外四个圈层，构成完整的产业协同网络</a:t>
            </a:r>
          </a:p>
        </p:txBody>
      </p:sp>
      <p:sp>
        <p:nvSpPr>
          <p:cNvPr id="10" name="guide"/>
          <p:cNvSpPr/>
          <p:nvPr/>
        </p:nvSpPr>
        <p:spPr>
          <a:xfrm>
            <a:off x="1384300" y="1003300"/>
            <a:ext cx="5359400" cy="5359400"/>
          </a:xfrm>
          <a:prstGeom prst="ellipse">
            <a:avLst/>
          </a:prstGeom>
          <a:noFill/>
          <a:ln w="6350" cap="rnd">
            <a:solidFill>
              <a:srgbClr val="0B2545">
                <a:alpha val="1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ring-4"/>
          <p:cNvSpPr/>
          <p:nvPr/>
        </p:nvSpPr>
        <p:spPr>
          <a:xfrm>
            <a:off x="1549400" y="1168400"/>
            <a:ext cx="5029200" cy="5029200"/>
          </a:xfrm>
          <a:prstGeom prst="ellipse">
            <a:avLst/>
          </a:prstGeom>
          <a:solidFill>
            <a:srgbClr val="F0F5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ring-line-4"/>
          <p:cNvSpPr/>
          <p:nvPr/>
        </p:nvSpPr>
        <p:spPr>
          <a:xfrm>
            <a:off x="1549400" y="1168400"/>
            <a:ext cx="5029200" cy="5029200"/>
          </a:xfrm>
          <a:prstGeom prst="ellipse">
            <a:avLst/>
          </a:prstGeom>
          <a:noFill/>
          <a:ln w="7620" cap="rnd">
            <a:solidFill>
              <a:srgbClr val="54A2DF">
                <a:alpha val="34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ring-3"/>
          <p:cNvSpPr/>
          <p:nvPr/>
        </p:nvSpPr>
        <p:spPr>
          <a:xfrm>
            <a:off x="2019300" y="1638300"/>
            <a:ext cx="4089400" cy="4089400"/>
          </a:xfrm>
          <a:prstGeom prst="ellipse">
            <a:avLst/>
          </a:prstGeom>
          <a:solidFill>
            <a:srgbClr val="E4ED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ring-line-3"/>
          <p:cNvSpPr/>
          <p:nvPr/>
        </p:nvSpPr>
        <p:spPr>
          <a:xfrm>
            <a:off x="2019300" y="1638300"/>
            <a:ext cx="4089400" cy="4089400"/>
          </a:xfrm>
          <a:prstGeom prst="ellipse">
            <a:avLst/>
          </a:prstGeom>
          <a:noFill/>
          <a:ln w="7620" cap="rnd">
            <a:solidFill>
              <a:srgbClr val="3985CD">
                <a:alpha val="34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ring-2"/>
          <p:cNvSpPr/>
          <p:nvPr/>
        </p:nvSpPr>
        <p:spPr>
          <a:xfrm>
            <a:off x="2501900" y="2120900"/>
            <a:ext cx="3124200" cy="3124200"/>
          </a:xfrm>
          <a:prstGeom prst="ellipse">
            <a:avLst/>
          </a:prstGeom>
          <a:solidFill>
            <a:srgbClr val="D6E3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ring-line-2"/>
          <p:cNvSpPr/>
          <p:nvPr/>
        </p:nvSpPr>
        <p:spPr>
          <a:xfrm>
            <a:off x="2501900" y="2120900"/>
            <a:ext cx="3124200" cy="3124200"/>
          </a:xfrm>
          <a:prstGeom prst="ellipse">
            <a:avLst/>
          </a:prstGeom>
          <a:noFill/>
          <a:ln w="7620" cap="rnd">
            <a:solidFill>
              <a:srgbClr val="2468B6">
                <a:alpha val="34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ring-1"/>
          <p:cNvSpPr/>
          <p:nvPr/>
        </p:nvSpPr>
        <p:spPr>
          <a:xfrm>
            <a:off x="3009900" y="2628900"/>
            <a:ext cx="2108200" cy="2108200"/>
          </a:xfrm>
          <a:prstGeom prst="ellipse">
            <a:avLst/>
          </a:prstGeom>
          <a:solidFill>
            <a:srgbClr val="C6D9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ring-line-1"/>
          <p:cNvSpPr/>
          <p:nvPr/>
        </p:nvSpPr>
        <p:spPr>
          <a:xfrm>
            <a:off x="3009900" y="2628900"/>
            <a:ext cx="2108200" cy="2108200"/>
          </a:xfrm>
          <a:prstGeom prst="ellipse">
            <a:avLst/>
          </a:prstGeom>
          <a:noFill/>
          <a:ln w="7620" cap="rnd">
            <a:solidFill>
              <a:srgbClr val="134C9C">
                <a:alpha val="34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core"/>
          <p:cNvSpPr/>
          <p:nvPr/>
        </p:nvSpPr>
        <p:spPr>
          <a:xfrm>
            <a:off x="3581400" y="3200400"/>
            <a:ext cx="965200" cy="965200"/>
          </a:xfrm>
          <a:prstGeom prst="ellipse">
            <a:avLst/>
          </a:prstGeom>
          <a:gradFill rotWithShape="1">
            <a:gsLst>
              <a:gs pos="0">
                <a:srgbClr val="1E62B0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core-1"/>
          <p:cNvSpPr txBox="1"/>
          <p:nvPr/>
        </p:nvSpPr>
        <p:spPr>
          <a:xfrm>
            <a:off x="3823970" y="3456686"/>
            <a:ext cx="4800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生态</a:t>
            </a:r>
          </a:p>
        </p:txBody>
      </p:sp>
      <p:sp>
        <p:nvSpPr>
          <p:cNvPr id="21" name="core-2"/>
          <p:cNvSpPr txBox="1"/>
          <p:nvPr/>
        </p:nvSpPr>
        <p:spPr>
          <a:xfrm>
            <a:off x="3823970" y="3659886"/>
            <a:ext cx="4800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中枢</a:t>
            </a:r>
          </a:p>
        </p:txBody>
      </p:sp>
      <p:sp>
        <p:nvSpPr>
          <p:cNvPr id="22" name="tag-1-智能硬件"/>
          <p:cNvSpPr/>
          <p:nvPr/>
        </p:nvSpPr>
        <p:spPr>
          <a:xfrm>
            <a:off x="3001454" y="3923728"/>
            <a:ext cx="558800" cy="215900"/>
          </a:xfrm>
          <a:custGeom>
            <a:avLst/>
            <a:gdLst/>
            <a:ahLst/>
            <a:cxnLst/>
            <a:rect l="0" t="0" r="r" b="b"/>
            <a:pathLst>
              <a:path w="558800" h="215900">
                <a:moveTo>
                  <a:pt x="107950" y="0"/>
                </a:moveTo>
                <a:lnTo>
                  <a:pt x="450850" y="0"/>
                </a:lnTo>
                <a:cubicBezTo>
                  <a:pt x="510476" y="0"/>
                  <a:pt x="558800" y="48324"/>
                  <a:pt x="558800" y="107950"/>
                </a:cubicBezTo>
                <a:lnTo>
                  <a:pt x="558800" y="107950"/>
                </a:lnTo>
                <a:cubicBezTo>
                  <a:pt x="558800" y="167576"/>
                  <a:pt x="510476" y="215900"/>
                  <a:pt x="4508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134C9C">
                <a:alpha val="34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tagt-1-智能硬件"/>
          <p:cNvSpPr txBox="1"/>
          <p:nvPr/>
        </p:nvSpPr>
        <p:spPr>
          <a:xfrm>
            <a:off x="3042421" y="3952141"/>
            <a:ext cx="4768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智能硬件</a:t>
            </a:r>
          </a:p>
        </p:txBody>
      </p:sp>
      <p:sp>
        <p:nvSpPr>
          <p:cNvPr id="24" name="tag-1-云服务"/>
          <p:cNvSpPr/>
          <p:nvPr/>
        </p:nvSpPr>
        <p:spPr>
          <a:xfrm>
            <a:off x="3105214" y="3120771"/>
            <a:ext cx="463550" cy="215900"/>
          </a:xfrm>
          <a:custGeom>
            <a:avLst/>
            <a:gdLst/>
            <a:ahLst/>
            <a:cxnLst/>
            <a:rect l="0" t="0" r="r" b="b"/>
            <a:pathLst>
              <a:path w="463550" h="215900">
                <a:moveTo>
                  <a:pt x="107950" y="0"/>
                </a:moveTo>
                <a:lnTo>
                  <a:pt x="355600" y="0"/>
                </a:lnTo>
                <a:cubicBezTo>
                  <a:pt x="415226" y="0"/>
                  <a:pt x="463550" y="48324"/>
                  <a:pt x="463550" y="107950"/>
                </a:cubicBezTo>
                <a:lnTo>
                  <a:pt x="463550" y="107950"/>
                </a:lnTo>
                <a:cubicBezTo>
                  <a:pt x="463550" y="167577"/>
                  <a:pt x="415226" y="215900"/>
                  <a:pt x="355600" y="215900"/>
                </a:cubicBezTo>
                <a:lnTo>
                  <a:pt x="107950" y="215900"/>
                </a:lnTo>
                <a:cubicBezTo>
                  <a:pt x="48324" y="215900"/>
                  <a:pt x="0" y="167577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134C9C">
                <a:alpha val="34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tagt-1-云服务"/>
          <p:cNvSpPr txBox="1"/>
          <p:nvPr/>
        </p:nvSpPr>
        <p:spPr>
          <a:xfrm>
            <a:off x="3147463" y="3149193"/>
            <a:ext cx="3790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云服务</a:t>
            </a:r>
          </a:p>
        </p:txBody>
      </p:sp>
      <p:sp>
        <p:nvSpPr>
          <p:cNvPr id="26" name="tag-2-芯片厂商"/>
          <p:cNvSpPr/>
          <p:nvPr/>
        </p:nvSpPr>
        <p:spPr>
          <a:xfrm>
            <a:off x="3211195" y="4750752"/>
            <a:ext cx="558800" cy="215900"/>
          </a:xfrm>
          <a:custGeom>
            <a:avLst/>
            <a:gdLst/>
            <a:ahLst/>
            <a:cxnLst/>
            <a:rect l="0" t="0" r="r" b="b"/>
            <a:pathLst>
              <a:path w="558800" h="215900">
                <a:moveTo>
                  <a:pt x="107950" y="0"/>
                </a:moveTo>
                <a:lnTo>
                  <a:pt x="450850" y="0"/>
                </a:lnTo>
                <a:cubicBezTo>
                  <a:pt x="510413" y="0"/>
                  <a:pt x="558800" y="48324"/>
                  <a:pt x="558800" y="107950"/>
                </a:cubicBezTo>
                <a:lnTo>
                  <a:pt x="558800" y="107950"/>
                </a:lnTo>
                <a:cubicBezTo>
                  <a:pt x="558800" y="167576"/>
                  <a:pt x="510413" y="215900"/>
                  <a:pt x="4508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2468B6">
                <a:alpha val="34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tagt-2-芯片厂商"/>
          <p:cNvSpPr txBox="1"/>
          <p:nvPr/>
        </p:nvSpPr>
        <p:spPr>
          <a:xfrm>
            <a:off x="3252124" y="4779179"/>
            <a:ext cx="4768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芯片厂商</a:t>
            </a:r>
          </a:p>
        </p:txBody>
      </p:sp>
      <p:sp>
        <p:nvSpPr>
          <p:cNvPr id="28" name="tag-2-系统集成"/>
          <p:cNvSpPr/>
          <p:nvPr/>
        </p:nvSpPr>
        <p:spPr>
          <a:xfrm>
            <a:off x="2479675" y="3666300"/>
            <a:ext cx="558800" cy="215900"/>
          </a:xfrm>
          <a:custGeom>
            <a:avLst/>
            <a:gdLst/>
            <a:ahLst/>
            <a:cxnLst/>
            <a:rect l="0" t="0" r="r" b="b"/>
            <a:pathLst>
              <a:path w="558800" h="215900">
                <a:moveTo>
                  <a:pt x="107950" y="0"/>
                </a:moveTo>
                <a:lnTo>
                  <a:pt x="450850" y="0"/>
                </a:lnTo>
                <a:cubicBezTo>
                  <a:pt x="510476" y="0"/>
                  <a:pt x="558800" y="48324"/>
                  <a:pt x="558800" y="107950"/>
                </a:cubicBezTo>
                <a:lnTo>
                  <a:pt x="558800" y="107950"/>
                </a:lnTo>
                <a:cubicBezTo>
                  <a:pt x="558800" y="167576"/>
                  <a:pt x="510476" y="215900"/>
                  <a:pt x="450850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2468B6">
                <a:alpha val="34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tagt-2-系统集成"/>
          <p:cNvSpPr txBox="1"/>
          <p:nvPr/>
        </p:nvSpPr>
        <p:spPr>
          <a:xfrm>
            <a:off x="2520644" y="3694715"/>
            <a:ext cx="4768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系统集成</a:t>
            </a:r>
          </a:p>
        </p:txBody>
      </p:sp>
      <p:sp>
        <p:nvSpPr>
          <p:cNvPr id="30" name="tag-2-行业方案"/>
          <p:cNvSpPr/>
          <p:nvPr/>
        </p:nvSpPr>
        <p:spPr>
          <a:xfrm>
            <a:off x="3053144" y="2490597"/>
            <a:ext cx="558800" cy="215900"/>
          </a:xfrm>
          <a:custGeom>
            <a:avLst/>
            <a:gdLst/>
            <a:ahLst/>
            <a:cxnLst/>
            <a:rect l="0" t="0" r="r" b="b"/>
            <a:pathLst>
              <a:path w="558800" h="215900">
                <a:moveTo>
                  <a:pt x="107950" y="0"/>
                </a:moveTo>
                <a:lnTo>
                  <a:pt x="450850" y="0"/>
                </a:lnTo>
                <a:cubicBezTo>
                  <a:pt x="510477" y="0"/>
                  <a:pt x="558800" y="48323"/>
                  <a:pt x="558800" y="107950"/>
                </a:cubicBezTo>
                <a:lnTo>
                  <a:pt x="558800" y="107950"/>
                </a:lnTo>
                <a:cubicBezTo>
                  <a:pt x="558800" y="167576"/>
                  <a:pt x="510477" y="215900"/>
                  <a:pt x="450850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3"/>
                  <a:pt x="48324" y="0"/>
                  <a:pt x="10795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2468B6">
                <a:alpha val="34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tagt-2-行业方案"/>
          <p:cNvSpPr txBox="1"/>
          <p:nvPr/>
        </p:nvSpPr>
        <p:spPr>
          <a:xfrm>
            <a:off x="3094077" y="2519002"/>
            <a:ext cx="4768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行业方案</a:t>
            </a:r>
          </a:p>
        </p:txBody>
      </p:sp>
      <p:sp>
        <p:nvSpPr>
          <p:cNvPr id="32" name="tag-3-独立开发者"/>
          <p:cNvSpPr/>
          <p:nvPr/>
        </p:nvSpPr>
        <p:spPr>
          <a:xfrm>
            <a:off x="3423793" y="5351082"/>
            <a:ext cx="654050" cy="215900"/>
          </a:xfrm>
          <a:custGeom>
            <a:avLst/>
            <a:gdLst/>
            <a:ahLst/>
            <a:cxnLst/>
            <a:rect l="0" t="0" r="r" b="b"/>
            <a:pathLst>
              <a:path w="654050" h="215900">
                <a:moveTo>
                  <a:pt x="107950" y="0"/>
                </a:moveTo>
                <a:lnTo>
                  <a:pt x="546100" y="0"/>
                </a:lnTo>
                <a:cubicBezTo>
                  <a:pt x="605727" y="0"/>
                  <a:pt x="654050" y="48323"/>
                  <a:pt x="654050" y="107950"/>
                </a:cubicBezTo>
                <a:lnTo>
                  <a:pt x="654050" y="107950"/>
                </a:lnTo>
                <a:cubicBezTo>
                  <a:pt x="654050" y="167513"/>
                  <a:pt x="605727" y="215900"/>
                  <a:pt x="546100" y="215900"/>
                </a:cubicBezTo>
                <a:lnTo>
                  <a:pt x="107950" y="215900"/>
                </a:lnTo>
                <a:cubicBezTo>
                  <a:pt x="48324" y="215900"/>
                  <a:pt x="0" y="167513"/>
                  <a:pt x="0" y="107950"/>
                </a:cubicBezTo>
                <a:lnTo>
                  <a:pt x="0" y="107950"/>
                </a:lnTo>
                <a:cubicBezTo>
                  <a:pt x="0" y="48323"/>
                  <a:pt x="48324" y="0"/>
                  <a:pt x="10795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3985CD">
                <a:alpha val="34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tagt-3-独立开发者"/>
          <p:cNvSpPr txBox="1"/>
          <p:nvPr/>
        </p:nvSpPr>
        <p:spPr>
          <a:xfrm>
            <a:off x="3463505" y="5379469"/>
            <a:ext cx="5746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独立开发者</a:t>
            </a:r>
          </a:p>
        </p:txBody>
      </p:sp>
      <p:sp>
        <p:nvSpPr>
          <p:cNvPr id="34" name="tag-3-ISV 服务商"/>
          <p:cNvSpPr/>
          <p:nvPr/>
        </p:nvSpPr>
        <p:spPr>
          <a:xfrm>
            <a:off x="2146618" y="4583494"/>
            <a:ext cx="844550" cy="215900"/>
          </a:xfrm>
          <a:custGeom>
            <a:avLst/>
            <a:gdLst/>
            <a:ahLst/>
            <a:cxnLst/>
            <a:rect l="0" t="0" r="r" b="b"/>
            <a:pathLst>
              <a:path w="844550" h="215900">
                <a:moveTo>
                  <a:pt x="107950" y="0"/>
                </a:moveTo>
                <a:lnTo>
                  <a:pt x="736600" y="0"/>
                </a:lnTo>
                <a:cubicBezTo>
                  <a:pt x="796226" y="0"/>
                  <a:pt x="844550" y="48324"/>
                  <a:pt x="844550" y="107950"/>
                </a:cubicBezTo>
                <a:lnTo>
                  <a:pt x="844550" y="107950"/>
                </a:lnTo>
                <a:cubicBezTo>
                  <a:pt x="844550" y="167577"/>
                  <a:pt x="796226" y="215900"/>
                  <a:pt x="736600" y="215900"/>
                </a:cubicBezTo>
                <a:lnTo>
                  <a:pt x="107950" y="215900"/>
                </a:lnTo>
                <a:cubicBezTo>
                  <a:pt x="48324" y="215900"/>
                  <a:pt x="0" y="167577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3985CD">
                <a:alpha val="34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tagt-3-ISV 服务商"/>
          <p:cNvSpPr txBox="1"/>
          <p:nvPr/>
        </p:nvSpPr>
        <p:spPr>
          <a:xfrm>
            <a:off x="2267606" y="4611915"/>
            <a:ext cx="6026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ISV 服务商</a:t>
            </a:r>
          </a:p>
        </p:txBody>
      </p:sp>
      <p:sp>
        <p:nvSpPr>
          <p:cNvPr id="36" name="tag-3-认证顾问"/>
          <p:cNvSpPr/>
          <p:nvPr/>
        </p:nvSpPr>
        <p:spPr>
          <a:xfrm>
            <a:off x="2444432" y="2368360"/>
            <a:ext cx="558800" cy="215900"/>
          </a:xfrm>
          <a:custGeom>
            <a:avLst/>
            <a:gdLst/>
            <a:ahLst/>
            <a:cxnLst/>
            <a:rect l="0" t="0" r="r" b="b"/>
            <a:pathLst>
              <a:path w="558800" h="215900">
                <a:moveTo>
                  <a:pt x="107950" y="0"/>
                </a:moveTo>
                <a:lnTo>
                  <a:pt x="450850" y="0"/>
                </a:lnTo>
                <a:cubicBezTo>
                  <a:pt x="510476" y="0"/>
                  <a:pt x="558800" y="48323"/>
                  <a:pt x="558800" y="107950"/>
                </a:cubicBezTo>
                <a:lnTo>
                  <a:pt x="558800" y="107950"/>
                </a:lnTo>
                <a:cubicBezTo>
                  <a:pt x="558800" y="167576"/>
                  <a:pt x="510476" y="215900"/>
                  <a:pt x="450850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3"/>
                  <a:pt x="48324" y="0"/>
                  <a:pt x="10795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3985CD">
                <a:alpha val="34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tagt-3-认证顾问"/>
          <p:cNvSpPr txBox="1"/>
          <p:nvPr/>
        </p:nvSpPr>
        <p:spPr>
          <a:xfrm>
            <a:off x="2485370" y="2396756"/>
            <a:ext cx="4768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认证顾问</a:t>
            </a:r>
          </a:p>
        </p:txBody>
      </p:sp>
      <p:sp>
        <p:nvSpPr>
          <p:cNvPr id="38" name="tag-4-企业客户"/>
          <p:cNvSpPr/>
          <p:nvPr/>
        </p:nvSpPr>
        <p:spPr>
          <a:xfrm>
            <a:off x="2381123" y="5371465"/>
            <a:ext cx="558800" cy="215900"/>
          </a:xfrm>
          <a:custGeom>
            <a:avLst/>
            <a:gdLst/>
            <a:ahLst/>
            <a:cxnLst/>
            <a:rect l="0" t="0" r="r" b="b"/>
            <a:pathLst>
              <a:path w="558800" h="215900">
                <a:moveTo>
                  <a:pt x="107950" y="0"/>
                </a:moveTo>
                <a:lnTo>
                  <a:pt x="450850" y="0"/>
                </a:lnTo>
                <a:cubicBezTo>
                  <a:pt x="510476" y="0"/>
                  <a:pt x="558800" y="48324"/>
                  <a:pt x="558800" y="107950"/>
                </a:cubicBezTo>
                <a:lnTo>
                  <a:pt x="558800" y="107950"/>
                </a:lnTo>
                <a:cubicBezTo>
                  <a:pt x="558800" y="167513"/>
                  <a:pt x="510476" y="215900"/>
                  <a:pt x="450850" y="215900"/>
                </a:cubicBezTo>
                <a:lnTo>
                  <a:pt x="107950" y="215900"/>
                </a:lnTo>
                <a:cubicBezTo>
                  <a:pt x="48323" y="215900"/>
                  <a:pt x="0" y="167513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54A2DF">
                <a:alpha val="34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tagt-4-企业客户"/>
          <p:cNvSpPr txBox="1"/>
          <p:nvPr/>
        </p:nvSpPr>
        <p:spPr>
          <a:xfrm>
            <a:off x="2422065" y="5399855"/>
            <a:ext cx="4768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企业客户</a:t>
            </a:r>
          </a:p>
        </p:txBody>
      </p:sp>
      <p:sp>
        <p:nvSpPr>
          <p:cNvPr id="40" name="tag-4-高校实验室"/>
          <p:cNvSpPr/>
          <p:nvPr/>
        </p:nvSpPr>
        <p:spPr>
          <a:xfrm>
            <a:off x="1525016" y="3023552"/>
            <a:ext cx="654050" cy="215900"/>
          </a:xfrm>
          <a:custGeom>
            <a:avLst/>
            <a:gdLst/>
            <a:ahLst/>
            <a:cxnLst/>
            <a:rect l="0" t="0" r="r" b="b"/>
            <a:pathLst>
              <a:path w="654050" h="215900">
                <a:moveTo>
                  <a:pt x="107950" y="0"/>
                </a:moveTo>
                <a:lnTo>
                  <a:pt x="546100" y="0"/>
                </a:lnTo>
                <a:cubicBezTo>
                  <a:pt x="605727" y="0"/>
                  <a:pt x="654050" y="48324"/>
                  <a:pt x="654050" y="107950"/>
                </a:cubicBezTo>
                <a:lnTo>
                  <a:pt x="654050" y="107950"/>
                </a:lnTo>
                <a:cubicBezTo>
                  <a:pt x="654050" y="167577"/>
                  <a:pt x="605727" y="215900"/>
                  <a:pt x="546100" y="215900"/>
                </a:cubicBezTo>
                <a:lnTo>
                  <a:pt x="107950" y="215900"/>
                </a:lnTo>
                <a:cubicBezTo>
                  <a:pt x="48324" y="215900"/>
                  <a:pt x="0" y="167577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54A2DF">
                <a:alpha val="34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tagt-4-高校实验室"/>
          <p:cNvSpPr txBox="1"/>
          <p:nvPr/>
        </p:nvSpPr>
        <p:spPr>
          <a:xfrm>
            <a:off x="1564728" y="3051969"/>
            <a:ext cx="5746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高校实验室</a:t>
            </a:r>
          </a:p>
        </p:txBody>
      </p:sp>
      <p:sp>
        <p:nvSpPr>
          <p:cNvPr id="42" name="tag-4-开发者论坛"/>
          <p:cNvSpPr/>
          <p:nvPr/>
        </p:nvSpPr>
        <p:spPr>
          <a:xfrm>
            <a:off x="3108642" y="1383728"/>
            <a:ext cx="654050" cy="215900"/>
          </a:xfrm>
          <a:custGeom>
            <a:avLst/>
            <a:gdLst/>
            <a:ahLst/>
            <a:cxnLst/>
            <a:rect l="0" t="0" r="r" b="b"/>
            <a:pathLst>
              <a:path w="654050" h="215900">
                <a:moveTo>
                  <a:pt x="107950" y="0"/>
                </a:moveTo>
                <a:lnTo>
                  <a:pt x="546100" y="0"/>
                </a:lnTo>
                <a:cubicBezTo>
                  <a:pt x="605727" y="0"/>
                  <a:pt x="654050" y="48324"/>
                  <a:pt x="654050" y="107950"/>
                </a:cubicBezTo>
                <a:lnTo>
                  <a:pt x="654050" y="107950"/>
                </a:lnTo>
                <a:cubicBezTo>
                  <a:pt x="654050" y="167577"/>
                  <a:pt x="605727" y="215900"/>
                  <a:pt x="546100" y="215900"/>
                </a:cubicBezTo>
                <a:lnTo>
                  <a:pt x="107950" y="215900"/>
                </a:lnTo>
                <a:cubicBezTo>
                  <a:pt x="48324" y="215900"/>
                  <a:pt x="0" y="167577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54A2DF">
                <a:alpha val="34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tagt-4-开发者论坛"/>
          <p:cNvSpPr txBox="1"/>
          <p:nvPr/>
        </p:nvSpPr>
        <p:spPr>
          <a:xfrm>
            <a:off x="3148306" y="1412126"/>
            <a:ext cx="5746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开发者论坛</a:t>
            </a:r>
          </a:p>
        </p:txBody>
      </p:sp>
      <p:sp>
        <p:nvSpPr>
          <p:cNvPr id="44" name="anchor-1"/>
          <p:cNvSpPr/>
          <p:nvPr/>
        </p:nvSpPr>
        <p:spPr>
          <a:xfrm>
            <a:off x="4705973" y="3468712"/>
            <a:ext cx="241300" cy="241300"/>
          </a:xfrm>
          <a:prstGeom prst="ellipse">
            <a:avLst/>
          </a:prstGeom>
          <a:solidFill>
            <a:srgbClr val="FFFFFF"/>
          </a:solidFill>
          <a:ln w="10795" cap="rnd">
            <a:solidFill>
              <a:srgbClr val="114184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anchor-t-1"/>
          <p:cNvSpPr txBox="1"/>
          <p:nvPr/>
        </p:nvSpPr>
        <p:spPr>
          <a:xfrm>
            <a:off x="4731754" y="3517670"/>
            <a:ext cx="18973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40">
                <a:solidFill>
                  <a:srgbClr val="114184"/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46" name="anchor-2"/>
          <p:cNvSpPr/>
          <p:nvPr/>
        </p:nvSpPr>
        <p:spPr>
          <a:xfrm>
            <a:off x="5241700" y="3402933"/>
            <a:ext cx="241300" cy="241300"/>
          </a:xfrm>
          <a:prstGeom prst="ellipse">
            <a:avLst/>
          </a:prstGeom>
          <a:solidFill>
            <a:srgbClr val="FFFFFF"/>
          </a:solidFill>
          <a:ln w="10795" cap="rnd">
            <a:solidFill>
              <a:srgbClr val="1D559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anchor-t-2"/>
          <p:cNvSpPr txBox="1"/>
          <p:nvPr/>
        </p:nvSpPr>
        <p:spPr>
          <a:xfrm>
            <a:off x="5267481" y="3451891"/>
            <a:ext cx="18973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40">
                <a:solidFill>
                  <a:srgbClr val="1D5596"/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48" name="anchor-3"/>
          <p:cNvSpPr/>
          <p:nvPr/>
        </p:nvSpPr>
        <p:spPr>
          <a:xfrm>
            <a:off x="5733308" y="3342571"/>
            <a:ext cx="241300" cy="241300"/>
          </a:xfrm>
          <a:prstGeom prst="ellipse">
            <a:avLst/>
          </a:prstGeom>
          <a:solidFill>
            <a:srgbClr val="FFFFFF"/>
          </a:solidFill>
          <a:ln w="10795" cap="rnd">
            <a:solidFill>
              <a:srgbClr val="2C6AA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anchor-t-3"/>
          <p:cNvSpPr txBox="1"/>
          <p:nvPr/>
        </p:nvSpPr>
        <p:spPr>
          <a:xfrm>
            <a:off x="5759089" y="3391529"/>
            <a:ext cx="18973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40">
                <a:solidFill>
                  <a:srgbClr val="2C6AA7"/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50" name="anchor-4"/>
          <p:cNvSpPr/>
          <p:nvPr/>
        </p:nvSpPr>
        <p:spPr>
          <a:xfrm>
            <a:off x="6206008" y="3284531"/>
            <a:ext cx="241300" cy="241300"/>
          </a:xfrm>
          <a:prstGeom prst="ellipse">
            <a:avLst/>
          </a:prstGeom>
          <a:solidFill>
            <a:srgbClr val="FFFFFF"/>
          </a:solidFill>
          <a:ln w="10795" cap="rnd">
            <a:solidFill>
              <a:srgbClr val="407FB4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anchor-t-4"/>
          <p:cNvSpPr txBox="1"/>
          <p:nvPr/>
        </p:nvSpPr>
        <p:spPr>
          <a:xfrm>
            <a:off x="6231789" y="3333489"/>
            <a:ext cx="18973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40">
                <a:solidFill>
                  <a:srgbClr val="407FB4"/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52" name="card-1"/>
          <p:cNvSpPr/>
          <p:nvPr/>
        </p:nvSpPr>
        <p:spPr>
          <a:xfrm>
            <a:off x="7162800" y="1765300"/>
            <a:ext cx="4445000" cy="749300"/>
          </a:xfrm>
          <a:custGeom>
            <a:avLst/>
            <a:gdLst/>
            <a:ahLst/>
            <a:cxnLst/>
            <a:rect l="0" t="0" r="r" b="b"/>
            <a:pathLst>
              <a:path w="4445000" h="749300">
                <a:moveTo>
                  <a:pt x="101600" y="0"/>
                </a:moveTo>
                <a:lnTo>
                  <a:pt x="4343400" y="0"/>
                </a:lnTo>
                <a:cubicBezTo>
                  <a:pt x="4399534" y="0"/>
                  <a:pt x="4445000" y="45466"/>
                  <a:pt x="4445000" y="101600"/>
                </a:cubicBezTo>
                <a:lnTo>
                  <a:pt x="4445000" y="647700"/>
                </a:lnTo>
                <a:cubicBezTo>
                  <a:pt x="4445000" y="703834"/>
                  <a:pt x="4399534" y="749300"/>
                  <a:pt x="4343400" y="749300"/>
                </a:cubicBezTo>
                <a:lnTo>
                  <a:pt x="101600" y="749300"/>
                </a:lnTo>
                <a:cubicBezTo>
                  <a:pt x="45466" y="749300"/>
                  <a:pt x="0" y="703834"/>
                  <a:pt x="0" y="6477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card-bar-1"/>
          <p:cNvSpPr/>
          <p:nvPr/>
        </p:nvSpPr>
        <p:spPr>
          <a:xfrm>
            <a:off x="7162800" y="1765300"/>
            <a:ext cx="31750" cy="749300"/>
          </a:xfrm>
          <a:custGeom>
            <a:avLst/>
            <a:gdLst/>
            <a:ahLst/>
            <a:cxnLst/>
            <a:rect l="0" t="0" r="r" b="b"/>
            <a:pathLst>
              <a:path w="31750" h="7493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33425"/>
                </a:lnTo>
                <a:cubicBezTo>
                  <a:pt x="31750" y="742188"/>
                  <a:pt x="24638" y="749300"/>
                  <a:pt x="15875" y="749300"/>
                </a:cubicBezTo>
                <a:lnTo>
                  <a:pt x="15875" y="749300"/>
                </a:lnTo>
                <a:cubicBezTo>
                  <a:pt x="7112" y="749300"/>
                  <a:pt x="0" y="742188"/>
                  <a:pt x="0" y="7334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mini-1-4"/>
          <p:cNvSpPr/>
          <p:nvPr/>
        </p:nvSpPr>
        <p:spPr>
          <a:xfrm>
            <a:off x="7364730" y="1935480"/>
            <a:ext cx="408940" cy="408940"/>
          </a:xfrm>
          <a:prstGeom prst="ellipse">
            <a:avLst/>
          </a:prstGeom>
          <a:solidFill>
            <a:srgbClr val="E2EA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mini-1-3"/>
          <p:cNvSpPr/>
          <p:nvPr/>
        </p:nvSpPr>
        <p:spPr>
          <a:xfrm>
            <a:off x="7405370" y="1976120"/>
            <a:ext cx="327660" cy="327660"/>
          </a:xfrm>
          <a:prstGeom prst="ellipse">
            <a:avLst/>
          </a:prstGeom>
          <a:solidFill>
            <a:srgbClr val="E2EA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mini-1-2"/>
          <p:cNvSpPr/>
          <p:nvPr/>
        </p:nvSpPr>
        <p:spPr>
          <a:xfrm>
            <a:off x="7446010" y="2016760"/>
            <a:ext cx="246380" cy="246380"/>
          </a:xfrm>
          <a:prstGeom prst="ellipse">
            <a:avLst/>
          </a:prstGeom>
          <a:solidFill>
            <a:srgbClr val="E2EA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mini-1-1"/>
          <p:cNvSpPr/>
          <p:nvPr/>
        </p:nvSpPr>
        <p:spPr>
          <a:xfrm>
            <a:off x="7486650" y="2057400"/>
            <a:ext cx="165100" cy="1651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mini-core-1"/>
          <p:cNvSpPr/>
          <p:nvPr/>
        </p:nvSpPr>
        <p:spPr>
          <a:xfrm>
            <a:off x="7518400" y="2089150"/>
            <a:ext cx="101600" cy="1016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card-cn-1"/>
          <p:cNvSpPr txBox="1"/>
          <p:nvPr/>
        </p:nvSpPr>
        <p:spPr>
          <a:xfrm>
            <a:off x="7880350" y="1874044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自有业务</a:t>
            </a:r>
          </a:p>
        </p:txBody>
      </p:sp>
      <p:sp>
        <p:nvSpPr>
          <p:cNvPr id="60" name="card-note-1"/>
          <p:cNvSpPr txBox="1"/>
          <p:nvPr/>
        </p:nvSpPr>
        <p:spPr>
          <a:xfrm>
            <a:off x="7886065" y="2161461"/>
            <a:ext cx="157765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自主研发与运营的核心产品线</a:t>
            </a:r>
          </a:p>
        </p:txBody>
      </p:sp>
      <p:sp>
        <p:nvSpPr>
          <p:cNvPr id="61" name="card-cnt-1"/>
          <p:cNvSpPr txBox="1"/>
          <p:nvPr/>
        </p:nvSpPr>
        <p:spPr>
          <a:xfrm>
            <a:off x="10805795" y="1869948"/>
            <a:ext cx="623189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6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6 条</a:t>
            </a:r>
          </a:p>
        </p:txBody>
      </p:sp>
      <p:sp>
        <p:nvSpPr>
          <p:cNvPr id="62" name="card-en-1"/>
          <p:cNvSpPr txBox="1"/>
          <p:nvPr/>
        </p:nvSpPr>
        <p:spPr>
          <a:xfrm>
            <a:off x="10547350" y="2188908"/>
            <a:ext cx="86791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125">
                <a:solidFill>
                  <a:srgbClr val="7E93AE"/>
                </a:solidFill>
                <a:latin typeface="Arial"/>
                <a:ea typeface="Arial"/>
                <a:cs typeface="Arial"/>
              </a:rPr>
              <a:t>OWN BUSINESS</a:t>
            </a:r>
          </a:p>
        </p:txBody>
      </p:sp>
      <p:sp>
        <p:nvSpPr>
          <p:cNvPr id="63" name="card-2"/>
          <p:cNvSpPr/>
          <p:nvPr/>
        </p:nvSpPr>
        <p:spPr>
          <a:xfrm>
            <a:off x="7162800" y="2730500"/>
            <a:ext cx="4445000" cy="749300"/>
          </a:xfrm>
          <a:custGeom>
            <a:avLst/>
            <a:gdLst/>
            <a:ahLst/>
            <a:cxnLst/>
            <a:rect l="0" t="0" r="r" b="b"/>
            <a:pathLst>
              <a:path w="4445000" h="749300">
                <a:moveTo>
                  <a:pt x="101600" y="0"/>
                </a:moveTo>
                <a:lnTo>
                  <a:pt x="4343400" y="0"/>
                </a:lnTo>
                <a:cubicBezTo>
                  <a:pt x="4399534" y="0"/>
                  <a:pt x="4445000" y="45466"/>
                  <a:pt x="4445000" y="101600"/>
                </a:cubicBezTo>
                <a:lnTo>
                  <a:pt x="4445000" y="647700"/>
                </a:lnTo>
                <a:cubicBezTo>
                  <a:pt x="4445000" y="703834"/>
                  <a:pt x="4399534" y="749300"/>
                  <a:pt x="4343400" y="749300"/>
                </a:cubicBezTo>
                <a:lnTo>
                  <a:pt x="101600" y="749300"/>
                </a:lnTo>
                <a:cubicBezTo>
                  <a:pt x="45466" y="749300"/>
                  <a:pt x="0" y="703834"/>
                  <a:pt x="0" y="6477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card-bar-2"/>
          <p:cNvSpPr/>
          <p:nvPr/>
        </p:nvSpPr>
        <p:spPr>
          <a:xfrm>
            <a:off x="7162800" y="2730500"/>
            <a:ext cx="31750" cy="749300"/>
          </a:xfrm>
          <a:custGeom>
            <a:avLst/>
            <a:gdLst/>
            <a:ahLst/>
            <a:cxnLst/>
            <a:rect l="0" t="0" r="r" b="b"/>
            <a:pathLst>
              <a:path w="31750" h="7493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33425"/>
                </a:lnTo>
                <a:cubicBezTo>
                  <a:pt x="31750" y="742188"/>
                  <a:pt x="24638" y="749300"/>
                  <a:pt x="15875" y="749300"/>
                </a:cubicBezTo>
                <a:lnTo>
                  <a:pt x="15875" y="749300"/>
                </a:lnTo>
                <a:cubicBezTo>
                  <a:pt x="7112" y="749300"/>
                  <a:pt x="0" y="742188"/>
                  <a:pt x="0" y="7334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mini-2-4"/>
          <p:cNvSpPr/>
          <p:nvPr/>
        </p:nvSpPr>
        <p:spPr>
          <a:xfrm>
            <a:off x="7364730" y="2900680"/>
            <a:ext cx="408940" cy="408940"/>
          </a:xfrm>
          <a:prstGeom prst="ellipse">
            <a:avLst/>
          </a:prstGeom>
          <a:solidFill>
            <a:srgbClr val="E2EA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mini-2-3"/>
          <p:cNvSpPr/>
          <p:nvPr/>
        </p:nvSpPr>
        <p:spPr>
          <a:xfrm>
            <a:off x="7405370" y="2941320"/>
            <a:ext cx="327660" cy="327660"/>
          </a:xfrm>
          <a:prstGeom prst="ellipse">
            <a:avLst/>
          </a:prstGeom>
          <a:solidFill>
            <a:srgbClr val="E2EA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mini-2-2"/>
          <p:cNvSpPr/>
          <p:nvPr/>
        </p:nvSpPr>
        <p:spPr>
          <a:xfrm>
            <a:off x="7446010" y="2981960"/>
            <a:ext cx="246380" cy="246380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mini-2-1"/>
          <p:cNvSpPr/>
          <p:nvPr/>
        </p:nvSpPr>
        <p:spPr>
          <a:xfrm>
            <a:off x="7486650" y="3022600"/>
            <a:ext cx="165100" cy="165100"/>
          </a:xfrm>
          <a:prstGeom prst="ellipse">
            <a:avLst/>
          </a:prstGeom>
          <a:solidFill>
            <a:srgbClr val="E2EA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mini-core-2"/>
          <p:cNvSpPr/>
          <p:nvPr/>
        </p:nvSpPr>
        <p:spPr>
          <a:xfrm>
            <a:off x="7518400" y="3054350"/>
            <a:ext cx="101600" cy="1016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card-cn-2"/>
          <p:cNvSpPr txBox="1"/>
          <p:nvPr/>
        </p:nvSpPr>
        <p:spPr>
          <a:xfrm>
            <a:off x="7880350" y="2839244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战略伙伴</a:t>
            </a:r>
          </a:p>
        </p:txBody>
      </p:sp>
      <p:sp>
        <p:nvSpPr>
          <p:cNvPr id="71" name="card-note-2"/>
          <p:cNvSpPr txBox="1"/>
          <p:nvPr/>
        </p:nvSpPr>
        <p:spPr>
          <a:xfrm>
            <a:off x="7886065" y="3126661"/>
            <a:ext cx="146399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深度绑定的技术与渠道伙伴</a:t>
            </a:r>
          </a:p>
        </p:txBody>
      </p:sp>
      <p:sp>
        <p:nvSpPr>
          <p:cNvPr id="72" name="card-cnt-2"/>
          <p:cNvSpPr txBox="1"/>
          <p:nvPr/>
        </p:nvSpPr>
        <p:spPr>
          <a:xfrm>
            <a:off x="10688828" y="2835148"/>
            <a:ext cx="740156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6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28 家</a:t>
            </a:r>
          </a:p>
        </p:txBody>
      </p:sp>
      <p:sp>
        <p:nvSpPr>
          <p:cNvPr id="73" name="card-en-2"/>
          <p:cNvSpPr txBox="1"/>
          <p:nvPr/>
        </p:nvSpPr>
        <p:spPr>
          <a:xfrm>
            <a:off x="10809986" y="3154108"/>
            <a:ext cx="6052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125">
                <a:solidFill>
                  <a:srgbClr val="7E93AE"/>
                </a:solidFill>
                <a:latin typeface="Arial"/>
                <a:ea typeface="Arial"/>
                <a:cs typeface="Arial"/>
              </a:rPr>
              <a:t>PARTNERS</a:t>
            </a:r>
          </a:p>
        </p:txBody>
      </p:sp>
      <p:sp>
        <p:nvSpPr>
          <p:cNvPr id="74" name="card-3"/>
          <p:cNvSpPr/>
          <p:nvPr/>
        </p:nvSpPr>
        <p:spPr>
          <a:xfrm>
            <a:off x="7162800" y="3695700"/>
            <a:ext cx="4445000" cy="749300"/>
          </a:xfrm>
          <a:custGeom>
            <a:avLst/>
            <a:gdLst/>
            <a:ahLst/>
            <a:cxnLst/>
            <a:rect l="0" t="0" r="r" b="b"/>
            <a:pathLst>
              <a:path w="4445000" h="749300">
                <a:moveTo>
                  <a:pt x="101600" y="0"/>
                </a:moveTo>
                <a:lnTo>
                  <a:pt x="4343400" y="0"/>
                </a:lnTo>
                <a:cubicBezTo>
                  <a:pt x="4399534" y="0"/>
                  <a:pt x="4445000" y="45466"/>
                  <a:pt x="4445000" y="101600"/>
                </a:cubicBezTo>
                <a:lnTo>
                  <a:pt x="4445000" y="647700"/>
                </a:lnTo>
                <a:cubicBezTo>
                  <a:pt x="4445000" y="703834"/>
                  <a:pt x="4399534" y="749300"/>
                  <a:pt x="4343400" y="749300"/>
                </a:cubicBezTo>
                <a:lnTo>
                  <a:pt x="101600" y="749300"/>
                </a:lnTo>
                <a:cubicBezTo>
                  <a:pt x="45466" y="749300"/>
                  <a:pt x="0" y="703834"/>
                  <a:pt x="0" y="6477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card-bar-3"/>
          <p:cNvSpPr/>
          <p:nvPr/>
        </p:nvSpPr>
        <p:spPr>
          <a:xfrm>
            <a:off x="7162800" y="3695700"/>
            <a:ext cx="31750" cy="749300"/>
          </a:xfrm>
          <a:custGeom>
            <a:avLst/>
            <a:gdLst/>
            <a:ahLst/>
            <a:cxnLst/>
            <a:rect l="0" t="0" r="r" b="b"/>
            <a:pathLst>
              <a:path w="31750" h="7493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33425"/>
                </a:lnTo>
                <a:cubicBezTo>
                  <a:pt x="31750" y="742188"/>
                  <a:pt x="24638" y="749300"/>
                  <a:pt x="15875" y="749300"/>
                </a:cubicBezTo>
                <a:lnTo>
                  <a:pt x="15875" y="749300"/>
                </a:lnTo>
                <a:cubicBezTo>
                  <a:pt x="7112" y="749300"/>
                  <a:pt x="0" y="742188"/>
                  <a:pt x="0" y="7334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mini-3-4"/>
          <p:cNvSpPr/>
          <p:nvPr/>
        </p:nvSpPr>
        <p:spPr>
          <a:xfrm>
            <a:off x="7364730" y="3865880"/>
            <a:ext cx="408940" cy="408940"/>
          </a:xfrm>
          <a:prstGeom prst="ellipse">
            <a:avLst/>
          </a:prstGeom>
          <a:solidFill>
            <a:srgbClr val="E2EA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mini-3-3"/>
          <p:cNvSpPr/>
          <p:nvPr/>
        </p:nvSpPr>
        <p:spPr>
          <a:xfrm>
            <a:off x="7405370" y="3906520"/>
            <a:ext cx="327660" cy="327660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mini-3-2"/>
          <p:cNvSpPr/>
          <p:nvPr/>
        </p:nvSpPr>
        <p:spPr>
          <a:xfrm>
            <a:off x="7446010" y="3947160"/>
            <a:ext cx="246380" cy="246380"/>
          </a:xfrm>
          <a:prstGeom prst="ellipse">
            <a:avLst/>
          </a:prstGeom>
          <a:solidFill>
            <a:srgbClr val="E2EA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mini-3-1"/>
          <p:cNvSpPr/>
          <p:nvPr/>
        </p:nvSpPr>
        <p:spPr>
          <a:xfrm>
            <a:off x="7486650" y="3987800"/>
            <a:ext cx="165100" cy="165100"/>
          </a:xfrm>
          <a:prstGeom prst="ellipse">
            <a:avLst/>
          </a:prstGeom>
          <a:solidFill>
            <a:srgbClr val="E2EA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mini-core-3"/>
          <p:cNvSpPr/>
          <p:nvPr/>
        </p:nvSpPr>
        <p:spPr>
          <a:xfrm>
            <a:off x="7518400" y="4019550"/>
            <a:ext cx="101600" cy="1016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card-cn-3"/>
          <p:cNvSpPr txBox="1"/>
          <p:nvPr/>
        </p:nvSpPr>
        <p:spPr>
          <a:xfrm>
            <a:off x="7880350" y="3804444"/>
            <a:ext cx="1320800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开发者与服务商</a:t>
            </a:r>
          </a:p>
        </p:txBody>
      </p:sp>
      <p:sp>
        <p:nvSpPr>
          <p:cNvPr id="82" name="card-note-3"/>
          <p:cNvSpPr txBox="1"/>
          <p:nvPr/>
        </p:nvSpPr>
        <p:spPr>
          <a:xfrm>
            <a:off x="7886065" y="4091861"/>
            <a:ext cx="146399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基于开放平台的第三方生态</a:t>
            </a:r>
          </a:p>
        </p:txBody>
      </p:sp>
      <p:sp>
        <p:nvSpPr>
          <p:cNvPr id="83" name="card-cnt-3"/>
          <p:cNvSpPr txBox="1"/>
          <p:nvPr/>
        </p:nvSpPr>
        <p:spPr>
          <a:xfrm>
            <a:off x="10778236" y="3800348"/>
            <a:ext cx="650748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6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460+</a:t>
            </a:r>
          </a:p>
        </p:txBody>
      </p:sp>
      <p:sp>
        <p:nvSpPr>
          <p:cNvPr id="84" name="card-en-3"/>
          <p:cNvSpPr txBox="1"/>
          <p:nvPr/>
        </p:nvSpPr>
        <p:spPr>
          <a:xfrm>
            <a:off x="10678668" y="4119308"/>
            <a:ext cx="73660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125">
                <a:solidFill>
                  <a:srgbClr val="7E93AE"/>
                </a:solidFill>
                <a:latin typeface="Arial"/>
                <a:ea typeface="Arial"/>
                <a:cs typeface="Arial"/>
              </a:rPr>
              <a:t>DEVELOPERS</a:t>
            </a:r>
          </a:p>
        </p:txBody>
      </p:sp>
      <p:sp>
        <p:nvSpPr>
          <p:cNvPr id="85" name="card-4"/>
          <p:cNvSpPr/>
          <p:nvPr/>
        </p:nvSpPr>
        <p:spPr>
          <a:xfrm>
            <a:off x="7162800" y="4660900"/>
            <a:ext cx="4445000" cy="749300"/>
          </a:xfrm>
          <a:custGeom>
            <a:avLst/>
            <a:gdLst/>
            <a:ahLst/>
            <a:cxnLst/>
            <a:rect l="0" t="0" r="r" b="b"/>
            <a:pathLst>
              <a:path w="4445000" h="749300">
                <a:moveTo>
                  <a:pt x="101600" y="0"/>
                </a:moveTo>
                <a:lnTo>
                  <a:pt x="4343400" y="0"/>
                </a:lnTo>
                <a:cubicBezTo>
                  <a:pt x="4399534" y="0"/>
                  <a:pt x="4445000" y="45466"/>
                  <a:pt x="4445000" y="101600"/>
                </a:cubicBezTo>
                <a:lnTo>
                  <a:pt x="4445000" y="647700"/>
                </a:lnTo>
                <a:cubicBezTo>
                  <a:pt x="4445000" y="703834"/>
                  <a:pt x="4399534" y="749300"/>
                  <a:pt x="4343400" y="749300"/>
                </a:cubicBezTo>
                <a:lnTo>
                  <a:pt x="101600" y="749300"/>
                </a:lnTo>
                <a:cubicBezTo>
                  <a:pt x="45466" y="749300"/>
                  <a:pt x="0" y="703834"/>
                  <a:pt x="0" y="6477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card-bar-4"/>
          <p:cNvSpPr/>
          <p:nvPr/>
        </p:nvSpPr>
        <p:spPr>
          <a:xfrm>
            <a:off x="7162800" y="4660900"/>
            <a:ext cx="31750" cy="749300"/>
          </a:xfrm>
          <a:custGeom>
            <a:avLst/>
            <a:gdLst/>
            <a:ahLst/>
            <a:cxnLst/>
            <a:rect l="0" t="0" r="r" b="b"/>
            <a:pathLst>
              <a:path w="31750" h="7493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33425"/>
                </a:lnTo>
                <a:cubicBezTo>
                  <a:pt x="31750" y="742188"/>
                  <a:pt x="24638" y="749300"/>
                  <a:pt x="15875" y="749300"/>
                </a:cubicBezTo>
                <a:lnTo>
                  <a:pt x="15875" y="749300"/>
                </a:lnTo>
                <a:cubicBezTo>
                  <a:pt x="7112" y="749300"/>
                  <a:pt x="0" y="742188"/>
                  <a:pt x="0" y="7334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mini-4-4"/>
          <p:cNvSpPr/>
          <p:nvPr/>
        </p:nvSpPr>
        <p:spPr>
          <a:xfrm>
            <a:off x="7364730" y="4831080"/>
            <a:ext cx="408940" cy="408940"/>
          </a:xfrm>
          <a:prstGeom prst="ellipse">
            <a:avLst/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mini-4-3"/>
          <p:cNvSpPr/>
          <p:nvPr/>
        </p:nvSpPr>
        <p:spPr>
          <a:xfrm>
            <a:off x="7405370" y="4871720"/>
            <a:ext cx="327660" cy="327660"/>
          </a:xfrm>
          <a:prstGeom prst="ellipse">
            <a:avLst/>
          </a:prstGeom>
          <a:solidFill>
            <a:srgbClr val="E2EA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mini-4-2"/>
          <p:cNvSpPr/>
          <p:nvPr/>
        </p:nvSpPr>
        <p:spPr>
          <a:xfrm>
            <a:off x="7446010" y="4912360"/>
            <a:ext cx="246380" cy="246380"/>
          </a:xfrm>
          <a:prstGeom prst="ellipse">
            <a:avLst/>
          </a:prstGeom>
          <a:solidFill>
            <a:srgbClr val="E2EA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mini-4-1"/>
          <p:cNvSpPr/>
          <p:nvPr/>
        </p:nvSpPr>
        <p:spPr>
          <a:xfrm>
            <a:off x="7486650" y="4953000"/>
            <a:ext cx="165100" cy="165100"/>
          </a:xfrm>
          <a:prstGeom prst="ellipse">
            <a:avLst/>
          </a:prstGeom>
          <a:solidFill>
            <a:srgbClr val="E2EA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mini-core-4"/>
          <p:cNvSpPr/>
          <p:nvPr/>
        </p:nvSpPr>
        <p:spPr>
          <a:xfrm>
            <a:off x="7518400" y="4984750"/>
            <a:ext cx="101600" cy="1016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card-cn-4"/>
          <p:cNvSpPr txBox="1"/>
          <p:nvPr/>
        </p:nvSpPr>
        <p:spPr>
          <a:xfrm>
            <a:off x="7880350" y="4769644"/>
            <a:ext cx="1320800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终端用户与社区</a:t>
            </a:r>
          </a:p>
        </p:txBody>
      </p:sp>
      <p:sp>
        <p:nvSpPr>
          <p:cNvPr id="93" name="card-note-4"/>
          <p:cNvSpPr txBox="1"/>
          <p:nvPr/>
        </p:nvSpPr>
        <p:spPr>
          <a:xfrm>
            <a:off x="7886065" y="5057061"/>
            <a:ext cx="157765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使用、反馈并共创的终端群体</a:t>
            </a:r>
          </a:p>
        </p:txBody>
      </p:sp>
      <p:sp>
        <p:nvSpPr>
          <p:cNvPr id="94" name="card-cnt-4"/>
          <p:cNvSpPr txBox="1"/>
          <p:nvPr/>
        </p:nvSpPr>
        <p:spPr>
          <a:xfrm>
            <a:off x="10688828" y="4765548"/>
            <a:ext cx="740156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6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12 万</a:t>
            </a:r>
          </a:p>
        </p:txBody>
      </p:sp>
      <p:sp>
        <p:nvSpPr>
          <p:cNvPr id="95" name="card-en-4"/>
          <p:cNvSpPr txBox="1"/>
          <p:nvPr/>
        </p:nvSpPr>
        <p:spPr>
          <a:xfrm>
            <a:off x="10744327" y="5084508"/>
            <a:ext cx="670941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125">
                <a:solidFill>
                  <a:srgbClr val="7E93AE"/>
                </a:solidFill>
                <a:latin typeface="Arial"/>
                <a:ea typeface="Arial"/>
                <a:cs typeface="Arial"/>
              </a:rPr>
              <a:t>COMMUNITY</a:t>
            </a:r>
          </a:p>
        </p:txBody>
      </p:sp>
      <p:cxnSp>
        <p:nvCxnSpPr>
          <p:cNvPr id="96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7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产业生态 · 四层圈层</a:t>
            </a:r>
          </a:p>
        </p:txBody>
      </p:sp>
      <p:sp>
        <p:nvSpPr>
          <p:cNvPr id="98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人才梯队结构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35483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TALENT PYRAMID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351899" y="673132"/>
            <a:ext cx="22688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五级梯队层层支撑，形成可持续的人才供给</a:t>
            </a:r>
          </a:p>
        </p:txBody>
      </p:sp>
      <p:sp>
        <p:nvSpPr>
          <p:cNvPr id="10" name="lvl-1"/>
          <p:cNvSpPr/>
          <p:nvPr/>
        </p:nvSpPr>
        <p:spPr>
          <a:xfrm>
            <a:off x="4173351" y="1422400"/>
            <a:ext cx="1965699" cy="795020"/>
          </a:xfrm>
          <a:custGeom>
            <a:avLst/>
            <a:gdLst/>
            <a:ahLst/>
            <a:cxnLst/>
            <a:rect l="0" t="0" r="r" b="b"/>
            <a:pathLst>
              <a:path w="1965699" h="795020">
                <a:moveTo>
                  <a:pt x="281365" y="92900"/>
                </a:moveTo>
                <a:quadBezTo>
                  <a:pt x="322449" y="0"/>
                  <a:pt x="424049" y="0"/>
                </a:quadBezTo>
                <a:lnTo>
                  <a:pt x="1541649" y="0"/>
                </a:lnTo>
                <a:quadBezTo>
                  <a:pt x="1643249" y="0"/>
                  <a:pt x="1684334" y="92900"/>
                </a:quadBezTo>
                <a:lnTo>
                  <a:pt x="1953955" y="702120"/>
                </a:lnTo>
                <a:quadBezTo>
                  <a:pt x="1995039" y="795020"/>
                  <a:pt x="1893439" y="795020"/>
                </a:quadBezTo>
                <a:lnTo>
                  <a:pt x="72259" y="795020"/>
                </a:lnTo>
                <a:quadBezTo>
                  <a:pt x="-29341" y="795020"/>
                  <a:pt x="11744" y="702120"/>
                </a:quadBezTo>
                <a:close/>
              </a:path>
            </a:pathLst>
          </a:custGeom>
          <a:gradFill rotWithShape="1">
            <a:gsLst>
              <a:gs pos="0">
                <a:srgbClr val="2D599F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cn-1"/>
          <p:cNvSpPr txBox="1"/>
          <p:nvPr/>
        </p:nvSpPr>
        <p:spPr>
          <a:xfrm>
            <a:off x="4889500" y="1637665"/>
            <a:ext cx="5334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战略决</a:t>
            </a:r>
          </a:p>
        </p:txBody>
      </p:sp>
      <p:sp>
        <p:nvSpPr>
          <p:cNvPr id="12" name="sub-1"/>
          <p:cNvSpPr txBox="1"/>
          <p:nvPr/>
        </p:nvSpPr>
        <p:spPr>
          <a:xfrm>
            <a:off x="4979352" y="1854676"/>
            <a:ext cx="3536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25">
                <a:solidFill>
                  <a:srgbClr val="FFFFFF">
                    <a:alpha val="80000"/>
                  </a:srgbClr>
                </a:solidFill>
                <a:latin typeface="微软雅黑"/>
                <a:ea typeface="微软雅黑"/>
                <a:cs typeface="微软雅黑"/>
              </a:rPr>
              <a:t>12 人</a:t>
            </a:r>
          </a:p>
        </p:txBody>
      </p:sp>
      <p:sp>
        <p:nvSpPr>
          <p:cNvPr id="13" name="ln-1"/>
          <p:cNvSpPr txBox="1"/>
          <p:nvPr/>
        </p:nvSpPr>
        <p:spPr>
          <a:xfrm>
            <a:off x="1409700" y="1582420"/>
            <a:ext cx="52578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000" b="1" spc="50">
                <a:solidFill>
                  <a:srgbClr val="0B3E8F">
                    <a:alpha val="85000"/>
                  </a:srgbClr>
                </a:solidFill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14" name="bg-1"/>
          <p:cNvSpPr/>
          <p:nvPr/>
        </p:nvSpPr>
        <p:spPr>
          <a:xfrm>
            <a:off x="2095500" y="1781810"/>
            <a:ext cx="9525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bar-1"/>
          <p:cNvSpPr/>
          <p:nvPr/>
        </p:nvSpPr>
        <p:spPr>
          <a:xfrm>
            <a:off x="2095500" y="1781810"/>
            <a:ext cx="50800" cy="635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bl-1"/>
          <p:cNvSpPr txBox="1"/>
          <p:nvPr/>
        </p:nvSpPr>
        <p:spPr>
          <a:xfrm>
            <a:off x="2084451" y="1909397"/>
            <a:ext cx="43440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占比 1%</a:t>
            </a:r>
          </a:p>
        </p:txBody>
      </p:sp>
      <p:cxnSp>
        <p:nvCxnSpPr>
          <p:cNvPr id="17" name="lead-1"/>
          <p:cNvCxnSpPr/>
          <p:nvPr/>
        </p:nvCxnSpPr>
        <p:spPr>
          <a:xfrm>
            <a:off x="6257290" y="1819910"/>
            <a:ext cx="1629410" cy="0"/>
          </a:xfrm>
          <a:prstGeom prst="line">
            <a:avLst/>
          </a:prstGeom>
          <a:ln w="7620" cap="rnd">
            <a:solidFill>
              <a:srgbClr val="0B3E8F">
                <a:alpha val="4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dot-1"/>
          <p:cNvSpPr/>
          <p:nvPr/>
        </p:nvSpPr>
        <p:spPr>
          <a:xfrm>
            <a:off x="7854950" y="1788160"/>
            <a:ext cx="63500" cy="635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icon-brain"/>
          <p:cNvSpPr/>
          <p:nvPr/>
        </p:nvSpPr>
        <p:spPr>
          <a:xfrm>
            <a:off x="8088230" y="1756854"/>
            <a:ext cx="104940" cy="99250"/>
          </a:xfrm>
          <a:custGeom>
            <a:avLst/>
            <a:gdLst/>
            <a:ahLst/>
            <a:cxnLst/>
            <a:rect l="0" t="0" r="r" b="b"/>
            <a:pathLst>
              <a:path w="104940" h="99250">
                <a:moveTo>
                  <a:pt x="52470" y="0"/>
                </a:moveTo>
                <a:lnTo>
                  <a:pt x="52470" y="99250"/>
                </a:lnTo>
                <a:moveTo>
                  <a:pt x="33229" y="0"/>
                </a:moveTo>
                <a:cubicBezTo>
                  <a:pt x="25990" y="-191"/>
                  <a:pt x="19196" y="3365"/>
                  <a:pt x="15322" y="9398"/>
                </a:cubicBezTo>
                <a:cubicBezTo>
                  <a:pt x="11385" y="15431"/>
                  <a:pt x="10877" y="23114"/>
                  <a:pt x="13925" y="29591"/>
                </a:cubicBezTo>
                <a:cubicBezTo>
                  <a:pt x="6432" y="32194"/>
                  <a:pt x="1098" y="38862"/>
                  <a:pt x="146" y="46736"/>
                </a:cubicBezTo>
                <a:cubicBezTo>
                  <a:pt x="-807" y="54610"/>
                  <a:pt x="2813" y="62357"/>
                  <a:pt x="9480" y="66675"/>
                </a:cubicBezTo>
                <a:cubicBezTo>
                  <a:pt x="4654" y="73977"/>
                  <a:pt x="5035" y="83629"/>
                  <a:pt x="10369" y="90614"/>
                </a:cubicBezTo>
                <a:cubicBezTo>
                  <a:pt x="15703" y="97600"/>
                  <a:pt x="24847" y="100457"/>
                  <a:pt x="33229" y="97790"/>
                </a:cubicBezTo>
                <a:moveTo>
                  <a:pt x="71710" y="0"/>
                </a:moveTo>
                <a:cubicBezTo>
                  <a:pt x="78949" y="-191"/>
                  <a:pt x="85744" y="3365"/>
                  <a:pt x="89617" y="9398"/>
                </a:cubicBezTo>
                <a:cubicBezTo>
                  <a:pt x="93554" y="15431"/>
                  <a:pt x="94062" y="23114"/>
                  <a:pt x="91014" y="29591"/>
                </a:cubicBezTo>
                <a:cubicBezTo>
                  <a:pt x="98507" y="32194"/>
                  <a:pt x="103841" y="38862"/>
                  <a:pt x="104794" y="46736"/>
                </a:cubicBezTo>
                <a:cubicBezTo>
                  <a:pt x="105746" y="54610"/>
                  <a:pt x="102127" y="62357"/>
                  <a:pt x="95459" y="66675"/>
                </a:cubicBezTo>
                <a:cubicBezTo>
                  <a:pt x="100285" y="73977"/>
                  <a:pt x="99904" y="83629"/>
                  <a:pt x="94570" y="90614"/>
                </a:cubicBezTo>
                <a:cubicBezTo>
                  <a:pt x="89236" y="97600"/>
                  <a:pt x="80092" y="100457"/>
                  <a:pt x="71710" y="97790"/>
                </a:cubicBezTo>
              </a:path>
            </a:pathLst>
          </a:custGeom>
          <a:noFill/>
          <a:ln w="1143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rn-1"/>
          <p:cNvSpPr txBox="1"/>
          <p:nvPr/>
        </p:nvSpPr>
        <p:spPr>
          <a:xfrm>
            <a:off x="8312150" y="1598454"/>
            <a:ext cx="9747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战略决策层</a:t>
            </a:r>
          </a:p>
        </p:txBody>
      </p:sp>
      <p:sp>
        <p:nvSpPr>
          <p:cNvPr id="21" name="rp-1"/>
          <p:cNvSpPr txBox="1"/>
          <p:nvPr/>
        </p:nvSpPr>
        <p:spPr>
          <a:xfrm>
            <a:off x="8317865" y="1847771"/>
            <a:ext cx="135032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把握方向，决策重大事项</a:t>
            </a:r>
          </a:p>
        </p:txBody>
      </p:sp>
      <p:sp>
        <p:nvSpPr>
          <p:cNvPr id="22" name="rc-1"/>
          <p:cNvSpPr txBox="1"/>
          <p:nvPr/>
        </p:nvSpPr>
        <p:spPr>
          <a:xfrm>
            <a:off x="11239500" y="1622742"/>
            <a:ext cx="39116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5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12</a:t>
            </a:r>
          </a:p>
        </p:txBody>
      </p:sp>
      <p:sp>
        <p:nvSpPr>
          <p:cNvPr id="23" name="lvl-2"/>
          <p:cNvSpPr/>
          <p:nvPr/>
        </p:nvSpPr>
        <p:spPr>
          <a:xfrm>
            <a:off x="3778827" y="2280920"/>
            <a:ext cx="2754747" cy="795020"/>
          </a:xfrm>
          <a:custGeom>
            <a:avLst/>
            <a:gdLst/>
            <a:ahLst/>
            <a:cxnLst/>
            <a:rect l="0" t="0" r="r" b="b"/>
            <a:pathLst>
              <a:path w="2754747" h="795020">
                <a:moveTo>
                  <a:pt x="307716" y="58039"/>
                </a:moveTo>
                <a:quadBezTo>
                  <a:pt x="333433" y="0"/>
                  <a:pt x="396933" y="0"/>
                </a:quadBezTo>
                <a:lnTo>
                  <a:pt x="2357813" y="0"/>
                </a:lnTo>
                <a:quadBezTo>
                  <a:pt x="2421313" y="0"/>
                  <a:pt x="2447031" y="58039"/>
                </a:quadBezTo>
                <a:lnTo>
                  <a:pt x="2747386" y="736981"/>
                </a:lnTo>
                <a:quadBezTo>
                  <a:pt x="2773103" y="795020"/>
                  <a:pt x="2709603" y="795020"/>
                </a:quadBezTo>
                <a:lnTo>
                  <a:pt x="45143" y="795020"/>
                </a:lnTo>
                <a:quadBezTo>
                  <a:pt x="-18357" y="795020"/>
                  <a:pt x="7361" y="736981"/>
                </a:quadBezTo>
                <a:close/>
              </a:path>
            </a:pathLst>
          </a:custGeom>
          <a:gradFill rotWithShape="1">
            <a:gsLst>
              <a:gs pos="0">
                <a:srgbClr val="3B71B4"/>
              </a:gs>
              <a:gs pos="100000">
                <a:srgbClr val="1B5AA8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cn-2"/>
          <p:cNvSpPr txBox="1"/>
          <p:nvPr/>
        </p:nvSpPr>
        <p:spPr>
          <a:xfrm>
            <a:off x="4685665" y="2459958"/>
            <a:ext cx="941070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5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中层管理者</a:t>
            </a:r>
          </a:p>
        </p:txBody>
      </p:sp>
      <p:sp>
        <p:nvSpPr>
          <p:cNvPr id="25" name="sub-2"/>
          <p:cNvSpPr txBox="1"/>
          <p:nvPr/>
        </p:nvSpPr>
        <p:spPr>
          <a:xfrm>
            <a:off x="4693380" y="2721975"/>
            <a:ext cx="925639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0" spc="30">
                <a:solidFill>
                  <a:srgbClr val="FFFFFF">
                    <a:alpha val="78000"/>
                  </a:srgbClr>
                </a:solidFill>
                <a:latin typeface="微软雅黑"/>
                <a:ea typeface="微软雅黑"/>
                <a:cs typeface="微软雅黑"/>
              </a:rPr>
              <a:t>86 人 · 占比 7%</a:t>
            </a:r>
          </a:p>
        </p:txBody>
      </p:sp>
      <p:sp>
        <p:nvSpPr>
          <p:cNvPr id="26" name="ln-2"/>
          <p:cNvSpPr txBox="1"/>
          <p:nvPr/>
        </p:nvSpPr>
        <p:spPr>
          <a:xfrm>
            <a:off x="1409700" y="2440940"/>
            <a:ext cx="52578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000" b="1" spc="50">
                <a:solidFill>
                  <a:srgbClr val="1B5AA8">
                    <a:alpha val="85000"/>
                  </a:srgbClr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27" name="bg-2"/>
          <p:cNvSpPr/>
          <p:nvPr/>
        </p:nvSpPr>
        <p:spPr>
          <a:xfrm>
            <a:off x="2095500" y="2640330"/>
            <a:ext cx="9525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bar-2"/>
          <p:cNvSpPr/>
          <p:nvPr/>
        </p:nvSpPr>
        <p:spPr>
          <a:xfrm>
            <a:off x="2095500" y="2640330"/>
            <a:ext cx="155058" cy="63500"/>
          </a:xfrm>
          <a:prstGeom prst="roundRect">
            <a:avLst>
              <a:gd name="adj" fmla="val 50000"/>
            </a:avLst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bl-2"/>
          <p:cNvSpPr txBox="1"/>
          <p:nvPr/>
        </p:nvSpPr>
        <p:spPr>
          <a:xfrm>
            <a:off x="2084451" y="2767917"/>
            <a:ext cx="43440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占比 7%</a:t>
            </a:r>
          </a:p>
        </p:txBody>
      </p:sp>
      <p:cxnSp>
        <p:nvCxnSpPr>
          <p:cNvPr id="30" name="lead-2"/>
          <p:cNvCxnSpPr/>
          <p:nvPr/>
        </p:nvCxnSpPr>
        <p:spPr>
          <a:xfrm>
            <a:off x="6640830" y="2678430"/>
            <a:ext cx="1245870" cy="0"/>
          </a:xfrm>
          <a:prstGeom prst="line">
            <a:avLst/>
          </a:prstGeom>
          <a:ln w="7620" cap="rnd">
            <a:solidFill>
              <a:srgbClr val="1B5AA8">
                <a:alpha val="4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dot-2"/>
          <p:cNvSpPr/>
          <p:nvPr/>
        </p:nvSpPr>
        <p:spPr>
          <a:xfrm>
            <a:off x="7854950" y="2646680"/>
            <a:ext cx="63500" cy="6350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icon-target"/>
          <p:cNvSpPr/>
          <p:nvPr/>
        </p:nvSpPr>
        <p:spPr>
          <a:xfrm>
            <a:off x="8140700" y="2602040"/>
            <a:ext cx="48895" cy="63691"/>
          </a:xfrm>
          <a:custGeom>
            <a:avLst/>
            <a:gdLst/>
            <a:ahLst/>
            <a:cxnLst/>
            <a:rect l="0" t="0" r="r" b="b"/>
            <a:pathLst>
              <a:path w="48895" h="63691">
                <a:moveTo>
                  <a:pt x="0" y="37021"/>
                </a:moveTo>
                <a:lnTo>
                  <a:pt x="0" y="0"/>
                </a:lnTo>
                <a:moveTo>
                  <a:pt x="0" y="63691"/>
                </a:moveTo>
                <a:lnTo>
                  <a:pt x="48895" y="14796"/>
                </a:lnTo>
              </a:path>
            </a:pathLst>
          </a:custGeom>
          <a:noFill/>
          <a:ln w="1143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icon-target"/>
          <p:cNvSpPr/>
          <p:nvPr/>
        </p:nvSpPr>
        <p:spPr>
          <a:xfrm>
            <a:off x="8076988" y="2602018"/>
            <a:ext cx="127423" cy="127423"/>
          </a:xfrm>
          <a:prstGeom prst="ellipse">
            <a:avLst/>
          </a:prstGeom>
          <a:noFill/>
          <a:ln w="1143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icon-target"/>
          <p:cNvSpPr/>
          <p:nvPr/>
        </p:nvSpPr>
        <p:spPr>
          <a:xfrm>
            <a:off x="8108103" y="2633133"/>
            <a:ext cx="65193" cy="65193"/>
          </a:xfrm>
          <a:prstGeom prst="ellipse">
            <a:avLst/>
          </a:prstGeom>
          <a:noFill/>
          <a:ln w="1143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rn-2"/>
          <p:cNvSpPr txBox="1"/>
          <p:nvPr/>
        </p:nvSpPr>
        <p:spPr>
          <a:xfrm>
            <a:off x="8312150" y="2456974"/>
            <a:ext cx="9747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中层管理者</a:t>
            </a:r>
          </a:p>
        </p:txBody>
      </p:sp>
      <p:sp>
        <p:nvSpPr>
          <p:cNvPr id="36" name="rp-2"/>
          <p:cNvSpPr txBox="1"/>
          <p:nvPr/>
        </p:nvSpPr>
        <p:spPr>
          <a:xfrm>
            <a:off x="8317865" y="2706291"/>
            <a:ext cx="135032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承接目标，带队达成结果</a:t>
            </a:r>
          </a:p>
        </p:txBody>
      </p:sp>
      <p:sp>
        <p:nvSpPr>
          <p:cNvPr id="37" name="rc-2"/>
          <p:cNvSpPr txBox="1"/>
          <p:nvPr/>
        </p:nvSpPr>
        <p:spPr>
          <a:xfrm>
            <a:off x="11239500" y="2481262"/>
            <a:ext cx="39116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500" b="1" spc="25">
                <a:solidFill>
                  <a:srgbClr val="1B5AA8"/>
                </a:solidFill>
                <a:latin typeface="Arial"/>
                <a:ea typeface="Arial"/>
                <a:cs typeface="Arial"/>
              </a:rPr>
              <a:t>86</a:t>
            </a:r>
          </a:p>
        </p:txBody>
      </p:sp>
      <p:sp>
        <p:nvSpPr>
          <p:cNvPr id="38" name="lvl-3"/>
          <p:cNvSpPr/>
          <p:nvPr/>
        </p:nvSpPr>
        <p:spPr>
          <a:xfrm>
            <a:off x="3395287" y="3139440"/>
            <a:ext cx="3521827" cy="795020"/>
          </a:xfrm>
          <a:custGeom>
            <a:avLst/>
            <a:gdLst/>
            <a:ahLst/>
            <a:cxnLst/>
            <a:rect l="0" t="0" r="r" b="b"/>
            <a:pathLst>
              <a:path w="3521827" h="795020">
                <a:moveTo>
                  <a:pt x="307716" y="58039"/>
                </a:moveTo>
                <a:quadBezTo>
                  <a:pt x="333433" y="0"/>
                  <a:pt x="396933" y="0"/>
                </a:quadBezTo>
                <a:lnTo>
                  <a:pt x="3124893" y="0"/>
                </a:lnTo>
                <a:quadBezTo>
                  <a:pt x="3188393" y="0"/>
                  <a:pt x="3214111" y="58039"/>
                </a:quadBezTo>
                <a:lnTo>
                  <a:pt x="3514466" y="736981"/>
                </a:lnTo>
                <a:quadBezTo>
                  <a:pt x="3540183" y="795020"/>
                  <a:pt x="3476683" y="795020"/>
                </a:quadBezTo>
                <a:lnTo>
                  <a:pt x="45143" y="795020"/>
                </a:lnTo>
                <a:quadBezTo>
                  <a:pt x="-18357" y="795020"/>
                  <a:pt x="7361" y="736981"/>
                </a:quadBezTo>
                <a:close/>
              </a:path>
            </a:pathLst>
          </a:custGeom>
          <a:gradFill rotWithShape="1">
            <a:gsLst>
              <a:gs pos="0">
                <a:srgbClr val="4B8ACB"/>
              </a:gs>
              <a:gs pos="100000">
                <a:srgbClr val="2E77C2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cn-3"/>
          <p:cNvSpPr txBox="1"/>
          <p:nvPr/>
        </p:nvSpPr>
        <p:spPr>
          <a:xfrm>
            <a:off x="4751070" y="3310636"/>
            <a:ext cx="8102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资深专家</a:t>
            </a:r>
          </a:p>
        </p:txBody>
      </p:sp>
      <p:sp>
        <p:nvSpPr>
          <p:cNvPr id="40" name="sub-3"/>
          <p:cNvSpPr txBox="1"/>
          <p:nvPr/>
        </p:nvSpPr>
        <p:spPr>
          <a:xfrm>
            <a:off x="4634452" y="3580495"/>
            <a:ext cx="1043495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0" spc="30">
                <a:solidFill>
                  <a:srgbClr val="FFFFFF">
                    <a:alpha val="78000"/>
                  </a:srgbClr>
                </a:solidFill>
                <a:latin typeface="微软雅黑"/>
                <a:ea typeface="微软雅黑"/>
                <a:cs typeface="微软雅黑"/>
              </a:rPr>
              <a:t>164 人 · 占比 13%</a:t>
            </a:r>
          </a:p>
        </p:txBody>
      </p:sp>
      <p:sp>
        <p:nvSpPr>
          <p:cNvPr id="41" name="ln-3"/>
          <p:cNvSpPr txBox="1"/>
          <p:nvPr/>
        </p:nvSpPr>
        <p:spPr>
          <a:xfrm>
            <a:off x="1409700" y="3299460"/>
            <a:ext cx="52578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000" b="1" spc="50">
                <a:solidFill>
                  <a:srgbClr val="2E77C2">
                    <a:alpha val="85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42" name="bg-3"/>
          <p:cNvSpPr/>
          <p:nvPr/>
        </p:nvSpPr>
        <p:spPr>
          <a:xfrm>
            <a:off x="2095500" y="3498850"/>
            <a:ext cx="9525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bar-3"/>
          <p:cNvSpPr/>
          <p:nvPr/>
        </p:nvSpPr>
        <p:spPr>
          <a:xfrm>
            <a:off x="2095500" y="3498850"/>
            <a:ext cx="287965" cy="63500"/>
          </a:xfrm>
          <a:prstGeom prst="roundRect">
            <a:avLst>
              <a:gd name="adj" fmla="val 50000"/>
            </a:avLst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bl-3"/>
          <p:cNvSpPr txBox="1"/>
          <p:nvPr/>
        </p:nvSpPr>
        <p:spPr>
          <a:xfrm>
            <a:off x="2084451" y="3626437"/>
            <a:ext cx="488505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占比 13%</a:t>
            </a:r>
          </a:p>
        </p:txBody>
      </p:sp>
      <p:cxnSp>
        <p:nvCxnSpPr>
          <p:cNvPr id="45" name="lead-3"/>
          <p:cNvCxnSpPr/>
          <p:nvPr/>
        </p:nvCxnSpPr>
        <p:spPr>
          <a:xfrm>
            <a:off x="7024370" y="3536950"/>
            <a:ext cx="862330" cy="0"/>
          </a:xfrm>
          <a:prstGeom prst="line">
            <a:avLst/>
          </a:prstGeom>
          <a:ln w="7620" cap="rnd">
            <a:solidFill>
              <a:srgbClr val="2E77C2">
                <a:alpha val="4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dot-3"/>
          <p:cNvSpPr/>
          <p:nvPr/>
        </p:nvSpPr>
        <p:spPr>
          <a:xfrm>
            <a:off x="7854950" y="3505200"/>
            <a:ext cx="63500" cy="635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icon-award"/>
          <p:cNvSpPr/>
          <p:nvPr/>
        </p:nvSpPr>
        <p:spPr>
          <a:xfrm>
            <a:off x="8109585" y="3543490"/>
            <a:ext cx="62230" cy="42989"/>
          </a:xfrm>
          <a:custGeom>
            <a:avLst/>
            <a:gdLst/>
            <a:ahLst/>
            <a:cxnLst/>
            <a:rect l="0" t="0" r="r" b="b"/>
            <a:pathLst>
              <a:path w="62230" h="42989">
                <a:moveTo>
                  <a:pt x="11875" y="0"/>
                </a:moveTo>
                <a:lnTo>
                  <a:pt x="0" y="42989"/>
                </a:lnTo>
                <a:lnTo>
                  <a:pt x="31115" y="26670"/>
                </a:lnTo>
                <a:lnTo>
                  <a:pt x="62230" y="42989"/>
                </a:lnTo>
                <a:lnTo>
                  <a:pt x="50356" y="0"/>
                </a:lnTo>
              </a:path>
            </a:pathLst>
          </a:custGeom>
          <a:noFill/>
          <a:ln w="1143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icon-award"/>
          <p:cNvSpPr/>
          <p:nvPr/>
        </p:nvSpPr>
        <p:spPr>
          <a:xfrm>
            <a:off x="8099213" y="3463502"/>
            <a:ext cx="82973" cy="82973"/>
          </a:xfrm>
          <a:prstGeom prst="ellipse">
            <a:avLst/>
          </a:prstGeom>
          <a:noFill/>
          <a:ln w="1143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rn-3"/>
          <p:cNvSpPr txBox="1"/>
          <p:nvPr/>
        </p:nvSpPr>
        <p:spPr>
          <a:xfrm>
            <a:off x="8312150" y="3315494"/>
            <a:ext cx="80835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资深专家</a:t>
            </a:r>
          </a:p>
        </p:txBody>
      </p:sp>
      <p:sp>
        <p:nvSpPr>
          <p:cNvPr id="50" name="rp-3"/>
          <p:cNvSpPr txBox="1"/>
          <p:nvPr/>
        </p:nvSpPr>
        <p:spPr>
          <a:xfrm>
            <a:off x="8317865" y="3564811"/>
            <a:ext cx="135032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攻坚技术难题与标准建设</a:t>
            </a:r>
          </a:p>
        </p:txBody>
      </p:sp>
      <p:sp>
        <p:nvSpPr>
          <p:cNvPr id="51" name="rc-3"/>
          <p:cNvSpPr txBox="1"/>
          <p:nvPr/>
        </p:nvSpPr>
        <p:spPr>
          <a:xfrm>
            <a:off x="11129645" y="3339783"/>
            <a:ext cx="501015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500" b="1" spc="25">
                <a:solidFill>
                  <a:srgbClr val="2E77C2"/>
                </a:solidFill>
                <a:latin typeface="Arial"/>
                <a:ea typeface="Arial"/>
                <a:cs typeface="Arial"/>
              </a:rPr>
              <a:t>164</a:t>
            </a:r>
          </a:p>
        </p:txBody>
      </p:sp>
      <p:sp>
        <p:nvSpPr>
          <p:cNvPr id="52" name="lvl-4"/>
          <p:cNvSpPr/>
          <p:nvPr/>
        </p:nvSpPr>
        <p:spPr>
          <a:xfrm>
            <a:off x="3011747" y="3997960"/>
            <a:ext cx="4288907" cy="795020"/>
          </a:xfrm>
          <a:custGeom>
            <a:avLst/>
            <a:gdLst/>
            <a:ahLst/>
            <a:cxnLst/>
            <a:rect l="0" t="0" r="r" b="b"/>
            <a:pathLst>
              <a:path w="4288907" h="795020">
                <a:moveTo>
                  <a:pt x="307716" y="58039"/>
                </a:moveTo>
                <a:quadBezTo>
                  <a:pt x="333433" y="0"/>
                  <a:pt x="396933" y="0"/>
                </a:quadBezTo>
                <a:lnTo>
                  <a:pt x="3891973" y="0"/>
                </a:lnTo>
                <a:quadBezTo>
                  <a:pt x="3955473" y="0"/>
                  <a:pt x="3981191" y="58039"/>
                </a:quadBezTo>
                <a:lnTo>
                  <a:pt x="4281546" y="736981"/>
                </a:lnTo>
                <a:quadBezTo>
                  <a:pt x="4307263" y="795020"/>
                  <a:pt x="4243763" y="795020"/>
                </a:quadBezTo>
                <a:lnTo>
                  <a:pt x="45143" y="795020"/>
                </a:lnTo>
                <a:quadBezTo>
                  <a:pt x="-18357" y="795020"/>
                  <a:pt x="7361" y="736981"/>
                </a:quadBezTo>
                <a:close/>
              </a:path>
            </a:pathLst>
          </a:custGeom>
          <a:gradFill rotWithShape="1">
            <a:gsLst>
              <a:gs pos="0">
                <a:srgbClr val="5596D4"/>
              </a:gs>
              <a:gs pos="100000">
                <a:srgbClr val="3985CD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cn-4"/>
          <p:cNvSpPr txBox="1"/>
          <p:nvPr/>
        </p:nvSpPr>
        <p:spPr>
          <a:xfrm>
            <a:off x="4735512" y="4161314"/>
            <a:ext cx="8413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骨干员工</a:t>
            </a:r>
          </a:p>
        </p:txBody>
      </p:sp>
      <p:sp>
        <p:nvSpPr>
          <p:cNvPr id="54" name="sub-4"/>
          <p:cNvSpPr txBox="1"/>
          <p:nvPr/>
        </p:nvSpPr>
        <p:spPr>
          <a:xfrm>
            <a:off x="4634452" y="4439015"/>
            <a:ext cx="1043495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0" spc="30">
                <a:solidFill>
                  <a:srgbClr val="FFFFFF">
                    <a:alpha val="78000"/>
                  </a:srgbClr>
                </a:solidFill>
                <a:latin typeface="微软雅黑"/>
                <a:ea typeface="微软雅黑"/>
                <a:cs typeface="微软雅黑"/>
              </a:rPr>
              <a:t>462 人 · 占比 36%</a:t>
            </a:r>
          </a:p>
        </p:txBody>
      </p:sp>
      <p:sp>
        <p:nvSpPr>
          <p:cNvPr id="55" name="ln-4"/>
          <p:cNvSpPr txBox="1"/>
          <p:nvPr/>
        </p:nvSpPr>
        <p:spPr>
          <a:xfrm>
            <a:off x="1409700" y="4157980"/>
            <a:ext cx="52578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000" b="1" spc="50">
                <a:solidFill>
                  <a:srgbClr val="3985CD">
                    <a:alpha val="85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56" name="bg-4"/>
          <p:cNvSpPr/>
          <p:nvPr/>
        </p:nvSpPr>
        <p:spPr>
          <a:xfrm>
            <a:off x="2095500" y="4357370"/>
            <a:ext cx="9525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bar-4"/>
          <p:cNvSpPr/>
          <p:nvPr/>
        </p:nvSpPr>
        <p:spPr>
          <a:xfrm>
            <a:off x="2095500" y="4357370"/>
            <a:ext cx="797442" cy="63500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bl-4"/>
          <p:cNvSpPr txBox="1"/>
          <p:nvPr/>
        </p:nvSpPr>
        <p:spPr>
          <a:xfrm>
            <a:off x="2084451" y="4484957"/>
            <a:ext cx="488505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占比 36%</a:t>
            </a:r>
          </a:p>
        </p:txBody>
      </p:sp>
      <p:cxnSp>
        <p:nvCxnSpPr>
          <p:cNvPr id="59" name="lead-4"/>
          <p:cNvCxnSpPr/>
          <p:nvPr/>
        </p:nvCxnSpPr>
        <p:spPr>
          <a:xfrm>
            <a:off x="7407910" y="4395470"/>
            <a:ext cx="478790" cy="0"/>
          </a:xfrm>
          <a:prstGeom prst="line">
            <a:avLst/>
          </a:prstGeom>
          <a:ln w="7620" cap="rnd">
            <a:solidFill>
              <a:srgbClr val="3985CD">
                <a:alpha val="4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dot-4"/>
          <p:cNvSpPr/>
          <p:nvPr/>
        </p:nvSpPr>
        <p:spPr>
          <a:xfrm>
            <a:off x="7854950" y="4363720"/>
            <a:ext cx="63500" cy="63500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icon-tools"/>
          <p:cNvSpPr/>
          <p:nvPr/>
        </p:nvSpPr>
        <p:spPr>
          <a:xfrm>
            <a:off x="8084447" y="4322987"/>
            <a:ext cx="105148" cy="104233"/>
          </a:xfrm>
          <a:custGeom>
            <a:avLst/>
            <a:gdLst/>
            <a:ahLst/>
            <a:cxnLst/>
            <a:rect l="0" t="0" r="r" b="b"/>
            <a:pathLst>
              <a:path w="105148" h="104233">
                <a:moveTo>
                  <a:pt x="19233" y="3458"/>
                </a:moveTo>
                <a:lnTo>
                  <a:pt x="41458" y="25683"/>
                </a:lnTo>
                <a:lnTo>
                  <a:pt x="25138" y="42003"/>
                </a:lnTo>
                <a:lnTo>
                  <a:pt x="2913" y="19778"/>
                </a:lnTo>
                <a:cubicBezTo>
                  <a:pt x="-2421" y="30954"/>
                  <a:pt x="-325" y="44225"/>
                  <a:pt x="8311" y="53179"/>
                </a:cubicBezTo>
                <a:cubicBezTo>
                  <a:pt x="16883" y="62069"/>
                  <a:pt x="30091" y="64736"/>
                  <a:pt x="41458" y="59783"/>
                </a:cubicBezTo>
                <a:lnTo>
                  <a:pt x="85908" y="104233"/>
                </a:lnTo>
                <a:lnTo>
                  <a:pt x="105148" y="84992"/>
                </a:lnTo>
                <a:lnTo>
                  <a:pt x="60698" y="40542"/>
                </a:lnTo>
                <a:cubicBezTo>
                  <a:pt x="65270" y="28985"/>
                  <a:pt x="62159" y="15777"/>
                  <a:pt x="52888" y="7522"/>
                </a:cubicBezTo>
                <a:cubicBezTo>
                  <a:pt x="43617" y="-733"/>
                  <a:pt x="30155" y="-2384"/>
                  <a:pt x="19233" y="3458"/>
                </a:cubicBezTo>
                <a:close/>
              </a:path>
            </a:pathLst>
          </a:custGeom>
          <a:noFill/>
          <a:ln w="1143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rn-4"/>
          <p:cNvSpPr txBox="1"/>
          <p:nvPr/>
        </p:nvSpPr>
        <p:spPr>
          <a:xfrm>
            <a:off x="8312150" y="4174014"/>
            <a:ext cx="80835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骨干员工</a:t>
            </a:r>
          </a:p>
        </p:txBody>
      </p:sp>
      <p:sp>
        <p:nvSpPr>
          <p:cNvPr id="63" name="rp-4"/>
          <p:cNvSpPr txBox="1"/>
          <p:nvPr/>
        </p:nvSpPr>
        <p:spPr>
          <a:xfrm>
            <a:off x="8317865" y="4423331"/>
            <a:ext cx="135032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独立负责模块与项目交付</a:t>
            </a:r>
          </a:p>
        </p:txBody>
      </p:sp>
      <p:sp>
        <p:nvSpPr>
          <p:cNvPr id="64" name="rc-4"/>
          <p:cNvSpPr txBox="1"/>
          <p:nvPr/>
        </p:nvSpPr>
        <p:spPr>
          <a:xfrm>
            <a:off x="11129645" y="4198302"/>
            <a:ext cx="501015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500" b="1" spc="25">
                <a:solidFill>
                  <a:srgbClr val="3985CD"/>
                </a:solidFill>
                <a:latin typeface="Arial"/>
                <a:ea typeface="Arial"/>
                <a:cs typeface="Arial"/>
              </a:rPr>
              <a:t>462</a:t>
            </a:r>
          </a:p>
        </p:txBody>
      </p:sp>
      <p:sp>
        <p:nvSpPr>
          <p:cNvPr id="65" name="lvl-5"/>
          <p:cNvSpPr/>
          <p:nvPr/>
        </p:nvSpPr>
        <p:spPr>
          <a:xfrm>
            <a:off x="2628207" y="4856480"/>
            <a:ext cx="5055987" cy="795020"/>
          </a:xfrm>
          <a:custGeom>
            <a:avLst/>
            <a:gdLst/>
            <a:ahLst/>
            <a:cxnLst/>
            <a:rect l="0" t="0" r="r" b="b"/>
            <a:pathLst>
              <a:path w="5055987" h="795020">
                <a:moveTo>
                  <a:pt x="307716" y="58039"/>
                </a:moveTo>
                <a:quadBezTo>
                  <a:pt x="333433" y="0"/>
                  <a:pt x="396933" y="0"/>
                </a:quadBezTo>
                <a:lnTo>
                  <a:pt x="4659053" y="0"/>
                </a:lnTo>
                <a:quadBezTo>
                  <a:pt x="4722553" y="0"/>
                  <a:pt x="4748271" y="58039"/>
                </a:quadBezTo>
                <a:lnTo>
                  <a:pt x="5048626" y="736981"/>
                </a:lnTo>
                <a:quadBezTo>
                  <a:pt x="5074343" y="795020"/>
                  <a:pt x="5010843" y="795020"/>
                </a:quadBezTo>
                <a:lnTo>
                  <a:pt x="45143" y="795020"/>
                </a:lnTo>
                <a:quadBezTo>
                  <a:pt x="-18357" y="795020"/>
                  <a:pt x="7361" y="736981"/>
                </a:quadBezTo>
                <a:close/>
              </a:path>
            </a:pathLst>
          </a:custGeom>
          <a:gradFill rotWithShape="1">
            <a:gsLst>
              <a:gs pos="0">
                <a:srgbClr val="6CAFE3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cn-5"/>
          <p:cNvSpPr txBox="1"/>
          <p:nvPr/>
        </p:nvSpPr>
        <p:spPr>
          <a:xfrm>
            <a:off x="4719955" y="5011992"/>
            <a:ext cx="8724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基础岗位</a:t>
            </a:r>
          </a:p>
        </p:txBody>
      </p:sp>
      <p:sp>
        <p:nvSpPr>
          <p:cNvPr id="67" name="sub-5"/>
          <p:cNvSpPr txBox="1"/>
          <p:nvPr/>
        </p:nvSpPr>
        <p:spPr>
          <a:xfrm>
            <a:off x="4634452" y="5297535"/>
            <a:ext cx="1043495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0" spc="30">
                <a:solidFill>
                  <a:srgbClr val="FFFFFF">
                    <a:alpha val="78000"/>
                  </a:srgbClr>
                </a:solidFill>
                <a:latin typeface="微软雅黑"/>
                <a:ea typeface="微软雅黑"/>
                <a:cs typeface="微软雅黑"/>
              </a:rPr>
              <a:t>562 人 · 占比 43%</a:t>
            </a:r>
          </a:p>
        </p:txBody>
      </p:sp>
      <p:sp>
        <p:nvSpPr>
          <p:cNvPr id="68" name="ln-5"/>
          <p:cNvSpPr txBox="1"/>
          <p:nvPr/>
        </p:nvSpPr>
        <p:spPr>
          <a:xfrm>
            <a:off x="1409700" y="5016500"/>
            <a:ext cx="52578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000" b="1" spc="50">
                <a:solidFill>
                  <a:srgbClr val="54A2DF">
                    <a:alpha val="85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69" name="bg-5"/>
          <p:cNvSpPr/>
          <p:nvPr/>
        </p:nvSpPr>
        <p:spPr>
          <a:xfrm>
            <a:off x="2095500" y="5215890"/>
            <a:ext cx="9525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bar-5"/>
          <p:cNvSpPr/>
          <p:nvPr/>
        </p:nvSpPr>
        <p:spPr>
          <a:xfrm>
            <a:off x="2095500" y="5215890"/>
            <a:ext cx="952500" cy="63500"/>
          </a:xfrm>
          <a:prstGeom prst="roundRect">
            <a:avLst>
              <a:gd name="adj" fmla="val 50000"/>
            </a:avLst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bl-5"/>
          <p:cNvSpPr txBox="1"/>
          <p:nvPr/>
        </p:nvSpPr>
        <p:spPr>
          <a:xfrm>
            <a:off x="2084451" y="5343477"/>
            <a:ext cx="488505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占比 43%</a:t>
            </a:r>
          </a:p>
        </p:txBody>
      </p:sp>
      <p:cxnSp>
        <p:nvCxnSpPr>
          <p:cNvPr id="72" name="lead-5"/>
          <p:cNvCxnSpPr/>
          <p:nvPr/>
        </p:nvCxnSpPr>
        <p:spPr>
          <a:xfrm>
            <a:off x="7791450" y="5253990"/>
            <a:ext cx="95250" cy="0"/>
          </a:xfrm>
          <a:prstGeom prst="line">
            <a:avLst/>
          </a:prstGeom>
          <a:ln w="7620" cap="rnd">
            <a:solidFill>
              <a:srgbClr val="54A2DF">
                <a:alpha val="4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dot-5"/>
          <p:cNvSpPr/>
          <p:nvPr/>
        </p:nvSpPr>
        <p:spPr>
          <a:xfrm>
            <a:off x="7854950" y="5222240"/>
            <a:ext cx="63500" cy="63500"/>
          </a:xfrm>
          <a:prstGeom prst="ellipse">
            <a:avLst/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icon-people"/>
          <p:cNvSpPr/>
          <p:nvPr/>
        </p:nvSpPr>
        <p:spPr>
          <a:xfrm>
            <a:off x="8078470" y="5260530"/>
            <a:ext cx="125920" cy="35560"/>
          </a:xfrm>
          <a:custGeom>
            <a:avLst/>
            <a:gdLst/>
            <a:ahLst/>
            <a:cxnLst/>
            <a:rect l="0" t="0" r="r" b="b"/>
            <a:pathLst>
              <a:path w="125920" h="35560">
                <a:moveTo>
                  <a:pt x="0" y="35560"/>
                </a:moveTo>
                <a:cubicBezTo>
                  <a:pt x="0" y="13335"/>
                  <a:pt x="18542" y="0"/>
                  <a:pt x="40005" y="0"/>
                </a:cubicBezTo>
                <a:cubicBezTo>
                  <a:pt x="61468" y="0"/>
                  <a:pt x="80010" y="13335"/>
                  <a:pt x="80010" y="35560"/>
                </a:cubicBezTo>
                <a:moveTo>
                  <a:pt x="94806" y="2985"/>
                </a:moveTo>
                <a:cubicBezTo>
                  <a:pt x="114110" y="5207"/>
                  <a:pt x="125920" y="18542"/>
                  <a:pt x="125920" y="35560"/>
                </a:cubicBezTo>
              </a:path>
            </a:pathLst>
          </a:custGeom>
          <a:noFill/>
          <a:ln w="1143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icon-people"/>
          <p:cNvSpPr/>
          <p:nvPr/>
        </p:nvSpPr>
        <p:spPr>
          <a:xfrm>
            <a:off x="8094768" y="5196840"/>
            <a:ext cx="47413" cy="47413"/>
          </a:xfrm>
          <a:prstGeom prst="ellipse">
            <a:avLst/>
          </a:prstGeom>
          <a:noFill/>
          <a:ln w="1143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icon-people"/>
          <p:cNvSpPr/>
          <p:nvPr/>
        </p:nvSpPr>
        <p:spPr>
          <a:xfrm>
            <a:off x="8158480" y="5196840"/>
            <a:ext cx="38523" cy="38523"/>
          </a:xfrm>
          <a:prstGeom prst="ellipse">
            <a:avLst/>
          </a:prstGeom>
          <a:noFill/>
          <a:ln w="1143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rn-5"/>
          <p:cNvSpPr txBox="1"/>
          <p:nvPr/>
        </p:nvSpPr>
        <p:spPr>
          <a:xfrm>
            <a:off x="8312150" y="5032534"/>
            <a:ext cx="80835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基础岗位</a:t>
            </a:r>
          </a:p>
        </p:txBody>
      </p:sp>
      <p:sp>
        <p:nvSpPr>
          <p:cNvPr id="78" name="rp-5"/>
          <p:cNvSpPr txBox="1"/>
          <p:nvPr/>
        </p:nvSpPr>
        <p:spPr>
          <a:xfrm>
            <a:off x="8317865" y="5281851"/>
            <a:ext cx="135032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承担执行工作并持续成长</a:t>
            </a:r>
          </a:p>
        </p:txBody>
      </p:sp>
      <p:sp>
        <p:nvSpPr>
          <p:cNvPr id="79" name="rc-5"/>
          <p:cNvSpPr txBox="1"/>
          <p:nvPr/>
        </p:nvSpPr>
        <p:spPr>
          <a:xfrm>
            <a:off x="11129645" y="5056822"/>
            <a:ext cx="501015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500" b="1" spc="25">
                <a:solidFill>
                  <a:srgbClr val="54A2DF"/>
                </a:solidFill>
                <a:latin typeface="Arial"/>
                <a:ea typeface="Arial"/>
                <a:cs typeface="Arial"/>
              </a:rPr>
              <a:t>562</a:t>
            </a:r>
          </a:p>
        </p:txBody>
      </p:sp>
      <p:sp>
        <p:nvSpPr>
          <p:cNvPr id="80" name="base"/>
          <p:cNvSpPr/>
          <p:nvPr/>
        </p:nvSpPr>
        <p:spPr>
          <a:xfrm>
            <a:off x="2362200" y="5765800"/>
            <a:ext cx="5588000" cy="101600"/>
          </a:xfrm>
          <a:custGeom>
            <a:avLst/>
            <a:gdLst/>
            <a:ahLst/>
            <a:cxnLst/>
            <a:rect l="0" t="0" r="r" b="b"/>
            <a:pathLst>
              <a:path w="5588000" h="101600">
                <a:moveTo>
                  <a:pt x="50800" y="0"/>
                </a:moveTo>
                <a:lnTo>
                  <a:pt x="5537200" y="0"/>
                </a:lnTo>
                <a:cubicBezTo>
                  <a:pt x="5565267" y="0"/>
                  <a:pt x="5588000" y="22733"/>
                  <a:pt x="5588000" y="50800"/>
                </a:cubicBezTo>
                <a:lnTo>
                  <a:pt x="5588000" y="50800"/>
                </a:lnTo>
                <a:cubicBezTo>
                  <a:pt x="5588000" y="78867"/>
                  <a:pt x="5565267" y="101600"/>
                  <a:pt x="55372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0B2545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base-t"/>
          <p:cNvSpPr txBox="1"/>
          <p:nvPr/>
        </p:nvSpPr>
        <p:spPr>
          <a:xfrm>
            <a:off x="4125658" y="5975382"/>
            <a:ext cx="206108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合计 1,286 人 · 核心骨干占比 56%</a:t>
            </a:r>
          </a:p>
        </p:txBody>
      </p:sp>
      <p:cxnSp>
        <p:nvCxnSpPr>
          <p:cNvPr id="82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3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人才梯队 · 五级结构</a:t>
            </a:r>
          </a:p>
        </p:txBody>
      </p:sp>
      <p:sp>
        <p:nvSpPr>
          <p:cNvPr id="84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区域协同网络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99224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COLLABORATION NETWORK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780399" y="673132"/>
            <a:ext cx="2840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一个中枢、五大区域中心、十六个服务网点的三级网络</a:t>
            </a:r>
          </a:p>
        </p:txBody>
      </p:sp>
      <p:sp>
        <p:nvSpPr>
          <p:cNvPr id="10" name="halo-372"/>
          <p:cNvSpPr/>
          <p:nvPr/>
        </p:nvSpPr>
        <p:spPr>
          <a:xfrm>
            <a:off x="1828800" y="1193800"/>
            <a:ext cx="4724400" cy="4724400"/>
          </a:xfrm>
          <a:prstGeom prst="ellipse">
            <a:avLst/>
          </a:prstGeom>
          <a:solidFill>
            <a:srgbClr val="1B5AA8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halo-286"/>
          <p:cNvSpPr/>
          <p:nvPr/>
        </p:nvSpPr>
        <p:spPr>
          <a:xfrm>
            <a:off x="2374900" y="1739900"/>
            <a:ext cx="3632200" cy="3632200"/>
          </a:xfrm>
          <a:prstGeom prst="ellipse">
            <a:avLst/>
          </a:prstGeom>
          <a:solidFill>
            <a:srgbClr val="1B5AA8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halo-186"/>
          <p:cNvSpPr/>
          <p:nvPr/>
        </p:nvSpPr>
        <p:spPr>
          <a:xfrm>
            <a:off x="3009900" y="2374900"/>
            <a:ext cx="2362200" cy="2362200"/>
          </a:xfrm>
          <a:prstGeom prst="ellipse">
            <a:avLst/>
          </a:prstGeom>
          <a:solidFill>
            <a:srgbClr val="1B5AA8">
              <a:alpha val="9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guide"/>
          <p:cNvSpPr/>
          <p:nvPr/>
        </p:nvSpPr>
        <p:spPr>
          <a:xfrm>
            <a:off x="1828800" y="1193800"/>
            <a:ext cx="4724400" cy="4724400"/>
          </a:xfrm>
          <a:prstGeom prst="ellipse">
            <a:avLst/>
          </a:prstGeom>
          <a:noFill/>
          <a:ln w="6350" cap="rnd">
            <a:solidFill>
              <a:srgbClr val="0B2545">
                <a:alpha val="1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link-1"/>
          <p:cNvSpPr/>
          <p:nvPr/>
        </p:nvSpPr>
        <p:spPr>
          <a:xfrm>
            <a:off x="4031615" y="2040255"/>
            <a:ext cx="160474" cy="1515745"/>
          </a:xfrm>
          <a:custGeom>
            <a:avLst/>
            <a:gdLst/>
            <a:ahLst/>
            <a:cxnLst/>
            <a:rect l="0" t="0" r="r" b="b"/>
            <a:pathLst>
              <a:path w="160474" h="1515745">
                <a:moveTo>
                  <a:pt x="159385" y="1515745"/>
                </a:moveTo>
                <a:quadBezTo>
                  <a:pt x="173990" y="662305"/>
                  <a:pt x="0" y="0"/>
                </a:quadBezTo>
              </a:path>
            </a:pathLst>
          </a:custGeom>
          <a:noFill/>
          <a:ln w="15240" cap="rnd">
            <a:solidFill>
              <a:srgbClr val="0B3E8F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link-2"/>
          <p:cNvSpPr/>
          <p:nvPr/>
        </p:nvSpPr>
        <p:spPr>
          <a:xfrm>
            <a:off x="4191000" y="2854325"/>
            <a:ext cx="1438275" cy="701675"/>
          </a:xfrm>
          <a:custGeom>
            <a:avLst/>
            <a:gdLst/>
            <a:ahLst/>
            <a:cxnLst/>
            <a:rect l="0" t="0" r="r" b="b"/>
            <a:pathLst>
              <a:path w="1438275" h="701675">
                <a:moveTo>
                  <a:pt x="0" y="701675"/>
                </a:moveTo>
                <a:quadBezTo>
                  <a:pt x="847090" y="410210"/>
                  <a:pt x="1438275" y="0"/>
                </a:quadBezTo>
              </a:path>
            </a:pathLst>
          </a:custGeom>
          <a:noFill/>
          <a:ln w="15240" cap="rnd">
            <a:solidFill>
              <a:srgbClr val="1B5AA8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link-3"/>
          <p:cNvSpPr/>
          <p:nvPr/>
        </p:nvSpPr>
        <p:spPr>
          <a:xfrm>
            <a:off x="4191000" y="3556000"/>
            <a:ext cx="1123950" cy="1085215"/>
          </a:xfrm>
          <a:custGeom>
            <a:avLst/>
            <a:gdLst/>
            <a:ahLst/>
            <a:cxnLst/>
            <a:rect l="0" t="0" r="r" b="b"/>
            <a:pathLst>
              <a:path w="1123950" h="1085215">
                <a:moveTo>
                  <a:pt x="0" y="0"/>
                </a:moveTo>
                <a:quadBezTo>
                  <a:pt x="550545" y="680085"/>
                  <a:pt x="1123950" y="1085215"/>
                </a:quadBezTo>
              </a:path>
            </a:pathLst>
          </a:custGeom>
          <a:noFill/>
          <a:ln w="15240" cap="rnd">
            <a:solidFill>
              <a:srgbClr val="2E77C2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link-4"/>
          <p:cNvSpPr/>
          <p:nvPr/>
        </p:nvSpPr>
        <p:spPr>
          <a:xfrm>
            <a:off x="3343275" y="3556000"/>
            <a:ext cx="847725" cy="1356995"/>
          </a:xfrm>
          <a:custGeom>
            <a:avLst/>
            <a:gdLst/>
            <a:ahLst/>
            <a:cxnLst/>
            <a:rect l="0" t="0" r="r" b="b"/>
            <a:pathLst>
              <a:path w="847725" h="1356995">
                <a:moveTo>
                  <a:pt x="847725" y="0"/>
                </a:moveTo>
                <a:quadBezTo>
                  <a:pt x="283845" y="696595"/>
                  <a:pt x="0" y="1356995"/>
                </a:quadBezTo>
              </a:path>
            </a:pathLst>
          </a:custGeom>
          <a:noFill/>
          <a:ln w="15240" cap="rnd">
            <a:solidFill>
              <a:srgbClr val="3985CD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link-5"/>
          <p:cNvSpPr/>
          <p:nvPr/>
        </p:nvSpPr>
        <p:spPr>
          <a:xfrm>
            <a:off x="2726055" y="3135630"/>
            <a:ext cx="1464945" cy="420370"/>
          </a:xfrm>
          <a:custGeom>
            <a:avLst/>
            <a:gdLst/>
            <a:ahLst/>
            <a:cxnLst/>
            <a:rect l="0" t="0" r="r" b="b"/>
            <a:pathLst>
              <a:path w="1464945" h="420370">
                <a:moveTo>
                  <a:pt x="1464945" y="420370"/>
                </a:moveTo>
                <a:quadBezTo>
                  <a:pt x="679450" y="86995"/>
                  <a:pt x="0" y="0"/>
                </a:quadBezTo>
              </a:path>
            </a:pathLst>
          </a:custGeom>
          <a:noFill/>
          <a:ln w="15240" cap="rnd">
            <a:solidFill>
              <a:srgbClr val="54A2DF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l2-1-1"/>
          <p:cNvSpPr/>
          <p:nvPr/>
        </p:nvSpPr>
        <p:spPr>
          <a:xfrm>
            <a:off x="2776220" y="1711960"/>
            <a:ext cx="1255395" cy="328295"/>
          </a:xfrm>
          <a:custGeom>
            <a:avLst/>
            <a:gdLst/>
            <a:ahLst/>
            <a:cxnLst/>
            <a:rect l="0" t="0" r="r" b="b"/>
            <a:pathLst>
              <a:path w="1255395" h="328295">
                <a:moveTo>
                  <a:pt x="1255395" y="328295"/>
                </a:moveTo>
                <a:quadBezTo>
                  <a:pt x="542925" y="53975"/>
                  <a:pt x="0" y="0"/>
                </a:quadBezTo>
              </a:path>
            </a:pathLst>
          </a:custGeom>
          <a:noFill/>
          <a:ln w="8255" cap="rnd">
            <a:solidFill>
              <a:srgbClr val="0B3E8F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n2-1-1"/>
          <p:cNvSpPr/>
          <p:nvPr/>
        </p:nvSpPr>
        <p:spPr>
          <a:xfrm>
            <a:off x="2617428" y="1553418"/>
            <a:ext cx="317500" cy="317500"/>
          </a:xfrm>
          <a:prstGeom prst="ellipse">
            <a:avLst/>
          </a:prstGeom>
          <a:solidFill>
            <a:srgbClr val="FFFFFF"/>
          </a:solidFill>
          <a:ln w="8890" cap="rnd">
            <a:solidFill>
              <a:srgbClr val="0B3E8F">
                <a:alpha val="5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n2t-1-1"/>
          <p:cNvSpPr txBox="1"/>
          <p:nvPr/>
        </p:nvSpPr>
        <p:spPr>
          <a:xfrm>
            <a:off x="2645368" y="1640476"/>
            <a:ext cx="26162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南京</a:t>
            </a:r>
          </a:p>
        </p:txBody>
      </p:sp>
      <p:sp>
        <p:nvSpPr>
          <p:cNvPr id="22" name="l2-1-2"/>
          <p:cNvSpPr/>
          <p:nvPr/>
        </p:nvSpPr>
        <p:spPr>
          <a:xfrm>
            <a:off x="3531235" y="1327785"/>
            <a:ext cx="500380" cy="712470"/>
          </a:xfrm>
          <a:custGeom>
            <a:avLst/>
            <a:gdLst/>
            <a:ahLst/>
            <a:cxnLst/>
            <a:rect l="0" t="0" r="r" b="b"/>
            <a:pathLst>
              <a:path w="500380" h="712470">
                <a:moveTo>
                  <a:pt x="500380" y="712470"/>
                </a:moveTo>
                <a:quadBezTo>
                  <a:pt x="210185" y="222250"/>
                  <a:pt x="0" y="0"/>
                </a:quadBezTo>
              </a:path>
            </a:pathLst>
          </a:custGeom>
          <a:noFill/>
          <a:ln w="8255" cap="rnd">
            <a:solidFill>
              <a:srgbClr val="0B3E8F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n2-1-2"/>
          <p:cNvSpPr/>
          <p:nvPr/>
        </p:nvSpPr>
        <p:spPr>
          <a:xfrm>
            <a:off x="3372170" y="1168857"/>
            <a:ext cx="317500" cy="317500"/>
          </a:xfrm>
          <a:prstGeom prst="ellipse">
            <a:avLst/>
          </a:prstGeom>
          <a:solidFill>
            <a:srgbClr val="FFFFFF"/>
          </a:solidFill>
          <a:ln w="8890" cap="rnd">
            <a:solidFill>
              <a:srgbClr val="0B3E8F">
                <a:alpha val="5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n2t-1-2"/>
          <p:cNvSpPr txBox="1"/>
          <p:nvPr/>
        </p:nvSpPr>
        <p:spPr>
          <a:xfrm>
            <a:off x="3400110" y="1255916"/>
            <a:ext cx="26162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杭州</a:t>
            </a:r>
          </a:p>
        </p:txBody>
      </p:sp>
      <p:sp>
        <p:nvSpPr>
          <p:cNvPr id="25" name="l2-1-3"/>
          <p:cNvSpPr/>
          <p:nvPr/>
        </p:nvSpPr>
        <p:spPr>
          <a:xfrm>
            <a:off x="4031615" y="1238885"/>
            <a:ext cx="341630" cy="801370"/>
          </a:xfrm>
          <a:custGeom>
            <a:avLst/>
            <a:gdLst/>
            <a:ahLst/>
            <a:cxnLst/>
            <a:rect l="0" t="0" r="r" b="b"/>
            <a:pathLst>
              <a:path w="341630" h="801370">
                <a:moveTo>
                  <a:pt x="0" y="801370"/>
                </a:moveTo>
                <a:quadBezTo>
                  <a:pt x="181610" y="261620"/>
                  <a:pt x="341630" y="0"/>
                </a:quadBezTo>
              </a:path>
            </a:pathLst>
          </a:custGeom>
          <a:noFill/>
          <a:ln w="8255" cap="rnd">
            <a:solidFill>
              <a:srgbClr val="0B3E8F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n2-1-3"/>
          <p:cNvSpPr/>
          <p:nvPr/>
        </p:nvSpPr>
        <p:spPr>
          <a:xfrm>
            <a:off x="4214597" y="1080314"/>
            <a:ext cx="317500" cy="317500"/>
          </a:xfrm>
          <a:prstGeom prst="ellipse">
            <a:avLst/>
          </a:prstGeom>
          <a:solidFill>
            <a:srgbClr val="FFFFFF"/>
          </a:solidFill>
          <a:ln w="8890" cap="rnd">
            <a:solidFill>
              <a:srgbClr val="0B3E8F">
                <a:alpha val="5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n2t-1-3"/>
          <p:cNvSpPr txBox="1"/>
          <p:nvPr/>
        </p:nvSpPr>
        <p:spPr>
          <a:xfrm>
            <a:off x="4242537" y="1167373"/>
            <a:ext cx="26162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合肥</a:t>
            </a:r>
          </a:p>
        </p:txBody>
      </p:sp>
      <p:sp>
        <p:nvSpPr>
          <p:cNvPr id="28" name="l2-1-4"/>
          <p:cNvSpPr/>
          <p:nvPr/>
        </p:nvSpPr>
        <p:spPr>
          <a:xfrm>
            <a:off x="4031615" y="1458595"/>
            <a:ext cx="1160145" cy="581660"/>
          </a:xfrm>
          <a:custGeom>
            <a:avLst/>
            <a:gdLst/>
            <a:ahLst/>
            <a:cxnLst/>
            <a:rect l="0" t="0" r="r" b="b"/>
            <a:pathLst>
              <a:path w="1160145" h="581660">
                <a:moveTo>
                  <a:pt x="0" y="581660"/>
                </a:moveTo>
                <a:quadBezTo>
                  <a:pt x="640080" y="165100"/>
                  <a:pt x="1160145" y="0"/>
                </a:quadBezTo>
              </a:path>
            </a:pathLst>
          </a:custGeom>
          <a:noFill/>
          <a:ln w="8255" cap="rnd">
            <a:solidFill>
              <a:srgbClr val="0B3E8F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n2-1-4"/>
          <p:cNvSpPr/>
          <p:nvPr/>
        </p:nvSpPr>
        <p:spPr>
          <a:xfrm>
            <a:off x="5032801" y="1299552"/>
            <a:ext cx="317500" cy="317500"/>
          </a:xfrm>
          <a:prstGeom prst="ellipse">
            <a:avLst/>
          </a:prstGeom>
          <a:solidFill>
            <a:srgbClr val="FFFFFF"/>
          </a:solidFill>
          <a:ln w="8890" cap="rnd">
            <a:solidFill>
              <a:srgbClr val="0B3E8F">
                <a:alpha val="5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n2t-1-4"/>
          <p:cNvSpPr txBox="1"/>
          <p:nvPr/>
        </p:nvSpPr>
        <p:spPr>
          <a:xfrm>
            <a:off x="5060741" y="1386610"/>
            <a:ext cx="26162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青岛</a:t>
            </a:r>
          </a:p>
        </p:txBody>
      </p:sp>
      <p:sp>
        <p:nvSpPr>
          <p:cNvPr id="31" name="l2-2-1"/>
          <p:cNvSpPr/>
          <p:nvPr/>
        </p:nvSpPr>
        <p:spPr>
          <a:xfrm>
            <a:off x="5629275" y="1690370"/>
            <a:ext cx="88786" cy="1163955"/>
          </a:xfrm>
          <a:custGeom>
            <a:avLst/>
            <a:gdLst/>
            <a:ahLst/>
            <a:cxnLst/>
            <a:rect l="0" t="0" r="r" b="b"/>
            <a:pathLst>
              <a:path w="88786" h="1163955">
                <a:moveTo>
                  <a:pt x="0" y="1163955"/>
                </a:moveTo>
                <a:quadBezTo>
                  <a:pt x="127000" y="470535"/>
                  <a:pt x="72390" y="0"/>
                </a:quadBezTo>
              </a:path>
            </a:pathLst>
          </a:custGeom>
          <a:noFill/>
          <a:ln w="8255" cap="rnd">
            <a:solidFill>
              <a:srgbClr val="1B5AA8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n2-2-1"/>
          <p:cNvSpPr/>
          <p:nvPr/>
        </p:nvSpPr>
        <p:spPr>
          <a:xfrm>
            <a:off x="5542808" y="1531867"/>
            <a:ext cx="317500" cy="317500"/>
          </a:xfrm>
          <a:prstGeom prst="ellipse">
            <a:avLst/>
          </a:prstGeom>
          <a:solidFill>
            <a:srgbClr val="FFFFFF"/>
          </a:solidFill>
          <a:ln w="8890" cap="rnd">
            <a:solidFill>
              <a:srgbClr val="1B5AA8">
                <a:alpha val="5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n2t-2-1"/>
          <p:cNvSpPr txBox="1"/>
          <p:nvPr/>
        </p:nvSpPr>
        <p:spPr>
          <a:xfrm>
            <a:off x="5570748" y="1618925"/>
            <a:ext cx="26162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广州</a:t>
            </a:r>
          </a:p>
        </p:txBody>
      </p:sp>
      <p:sp>
        <p:nvSpPr>
          <p:cNvPr id="34" name="l2-2-2"/>
          <p:cNvSpPr/>
          <p:nvPr/>
        </p:nvSpPr>
        <p:spPr>
          <a:xfrm>
            <a:off x="5629275" y="2503805"/>
            <a:ext cx="718820" cy="350520"/>
          </a:xfrm>
          <a:custGeom>
            <a:avLst/>
            <a:gdLst/>
            <a:ahLst/>
            <a:cxnLst/>
            <a:rect l="0" t="0" r="r" b="b"/>
            <a:pathLst>
              <a:path w="718820" h="350520">
                <a:moveTo>
                  <a:pt x="0" y="350520"/>
                </a:moveTo>
                <a:quadBezTo>
                  <a:pt x="488950" y="112395"/>
                  <a:pt x="718820" y="0"/>
                </a:quadBezTo>
              </a:path>
            </a:pathLst>
          </a:custGeom>
          <a:noFill/>
          <a:ln w="8255" cap="rnd">
            <a:solidFill>
              <a:srgbClr val="1B5AA8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n2-2-2"/>
          <p:cNvSpPr/>
          <p:nvPr/>
        </p:nvSpPr>
        <p:spPr>
          <a:xfrm>
            <a:off x="6189625" y="2345028"/>
            <a:ext cx="317500" cy="317500"/>
          </a:xfrm>
          <a:prstGeom prst="ellipse">
            <a:avLst/>
          </a:prstGeom>
          <a:solidFill>
            <a:srgbClr val="FFFFFF"/>
          </a:solidFill>
          <a:ln w="8890" cap="rnd">
            <a:solidFill>
              <a:srgbClr val="1B5AA8">
                <a:alpha val="5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n2t-2-2"/>
          <p:cNvSpPr txBox="1"/>
          <p:nvPr/>
        </p:nvSpPr>
        <p:spPr>
          <a:xfrm>
            <a:off x="6217565" y="2432086"/>
            <a:ext cx="26162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深圳</a:t>
            </a:r>
          </a:p>
        </p:txBody>
      </p:sp>
      <p:sp>
        <p:nvSpPr>
          <p:cNvPr id="37" name="l2-2-3"/>
          <p:cNvSpPr/>
          <p:nvPr/>
        </p:nvSpPr>
        <p:spPr>
          <a:xfrm>
            <a:off x="5629275" y="2854325"/>
            <a:ext cx="961390" cy="659765"/>
          </a:xfrm>
          <a:custGeom>
            <a:avLst/>
            <a:gdLst/>
            <a:ahLst/>
            <a:cxnLst/>
            <a:rect l="0" t="0" r="r" b="b"/>
            <a:pathLst>
              <a:path w="961390" h="659765">
                <a:moveTo>
                  <a:pt x="0" y="0"/>
                </a:moveTo>
                <a:quadBezTo>
                  <a:pt x="624840" y="327660"/>
                  <a:pt x="961390" y="659765"/>
                </a:quadBezTo>
              </a:path>
            </a:pathLst>
          </a:custGeom>
          <a:noFill/>
          <a:ln w="8255" cap="rnd">
            <a:solidFill>
              <a:srgbClr val="1B5AA8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n2-2-3"/>
          <p:cNvSpPr/>
          <p:nvPr/>
        </p:nvSpPr>
        <p:spPr>
          <a:xfrm>
            <a:off x="6432184" y="3355359"/>
            <a:ext cx="317500" cy="317500"/>
          </a:xfrm>
          <a:prstGeom prst="ellipse">
            <a:avLst/>
          </a:prstGeom>
          <a:solidFill>
            <a:srgbClr val="FFFFFF"/>
          </a:solidFill>
          <a:ln w="8890" cap="rnd">
            <a:solidFill>
              <a:srgbClr val="1B5AA8">
                <a:alpha val="5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n2t-2-3"/>
          <p:cNvSpPr txBox="1"/>
          <p:nvPr/>
        </p:nvSpPr>
        <p:spPr>
          <a:xfrm>
            <a:off x="6460124" y="3442417"/>
            <a:ext cx="26162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厦门</a:t>
            </a:r>
          </a:p>
        </p:txBody>
      </p:sp>
      <p:sp>
        <p:nvSpPr>
          <p:cNvPr id="40" name="l2-3-1"/>
          <p:cNvSpPr/>
          <p:nvPr/>
        </p:nvSpPr>
        <p:spPr>
          <a:xfrm>
            <a:off x="5314950" y="4324985"/>
            <a:ext cx="1109345" cy="316230"/>
          </a:xfrm>
          <a:custGeom>
            <a:avLst/>
            <a:gdLst/>
            <a:ahLst/>
            <a:cxnLst/>
            <a:rect l="0" t="0" r="r" b="b"/>
            <a:pathLst>
              <a:path w="1109345" h="316230">
                <a:moveTo>
                  <a:pt x="0" y="316230"/>
                </a:moveTo>
                <a:quadBezTo>
                  <a:pt x="688340" y="204470"/>
                  <a:pt x="1109345" y="0"/>
                </a:quadBezTo>
              </a:path>
            </a:pathLst>
          </a:custGeom>
          <a:noFill/>
          <a:ln w="8255" cap="rnd">
            <a:solidFill>
              <a:srgbClr val="2E77C2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n2-3-1"/>
          <p:cNvSpPr/>
          <p:nvPr/>
        </p:nvSpPr>
        <p:spPr>
          <a:xfrm>
            <a:off x="6265754" y="4166307"/>
            <a:ext cx="317500" cy="317500"/>
          </a:xfrm>
          <a:prstGeom prst="ellipse">
            <a:avLst/>
          </a:prstGeom>
          <a:solidFill>
            <a:srgbClr val="FFFFFF"/>
          </a:solidFill>
          <a:ln w="8890" cap="rnd">
            <a:solidFill>
              <a:srgbClr val="2E77C2">
                <a:alpha val="5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n2t-3-1"/>
          <p:cNvSpPr txBox="1"/>
          <p:nvPr/>
        </p:nvSpPr>
        <p:spPr>
          <a:xfrm>
            <a:off x="6293694" y="4253366"/>
            <a:ext cx="26162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成都</a:t>
            </a:r>
          </a:p>
        </p:txBody>
      </p:sp>
      <p:sp>
        <p:nvSpPr>
          <p:cNvPr id="43" name="l2-3-2"/>
          <p:cNvSpPr/>
          <p:nvPr/>
        </p:nvSpPr>
        <p:spPr>
          <a:xfrm>
            <a:off x="5314950" y="4641215"/>
            <a:ext cx="575310" cy="555625"/>
          </a:xfrm>
          <a:custGeom>
            <a:avLst/>
            <a:gdLst/>
            <a:ahLst/>
            <a:cxnLst/>
            <a:rect l="0" t="0" r="r" b="b"/>
            <a:pathLst>
              <a:path w="575310" h="555625">
                <a:moveTo>
                  <a:pt x="0" y="0"/>
                </a:moveTo>
                <a:quadBezTo>
                  <a:pt x="389255" y="376555"/>
                  <a:pt x="575310" y="555625"/>
                </a:quadBezTo>
              </a:path>
            </a:pathLst>
          </a:custGeom>
          <a:noFill/>
          <a:ln w="8255" cap="rnd">
            <a:solidFill>
              <a:srgbClr val="2E77C2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n2-3-2"/>
          <p:cNvSpPr/>
          <p:nvPr/>
        </p:nvSpPr>
        <p:spPr>
          <a:xfrm>
            <a:off x="5731474" y="5038172"/>
            <a:ext cx="317500" cy="317500"/>
          </a:xfrm>
          <a:prstGeom prst="ellipse">
            <a:avLst/>
          </a:prstGeom>
          <a:solidFill>
            <a:srgbClr val="FFFFFF"/>
          </a:solidFill>
          <a:ln w="8890" cap="rnd">
            <a:solidFill>
              <a:srgbClr val="2E77C2">
                <a:alpha val="5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n2t-3-2"/>
          <p:cNvSpPr txBox="1"/>
          <p:nvPr/>
        </p:nvSpPr>
        <p:spPr>
          <a:xfrm>
            <a:off x="5759414" y="5125231"/>
            <a:ext cx="26162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重庆</a:t>
            </a:r>
          </a:p>
        </p:txBody>
      </p:sp>
      <p:sp>
        <p:nvSpPr>
          <p:cNvPr id="46" name="l2-3-3"/>
          <p:cNvSpPr/>
          <p:nvPr/>
        </p:nvSpPr>
        <p:spPr>
          <a:xfrm>
            <a:off x="5037455" y="4641215"/>
            <a:ext cx="277495" cy="1120140"/>
          </a:xfrm>
          <a:custGeom>
            <a:avLst/>
            <a:gdLst/>
            <a:ahLst/>
            <a:cxnLst/>
            <a:rect l="0" t="0" r="r" b="b"/>
            <a:pathLst>
              <a:path w="277495" h="1120140">
                <a:moveTo>
                  <a:pt x="277495" y="0"/>
                </a:moveTo>
                <a:quadBezTo>
                  <a:pt x="189230" y="692150"/>
                  <a:pt x="0" y="1120140"/>
                </a:quadBezTo>
              </a:path>
            </a:pathLst>
          </a:custGeom>
          <a:noFill/>
          <a:ln w="8255" cap="rnd">
            <a:solidFill>
              <a:srgbClr val="2E77C2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n2-3-3"/>
          <p:cNvSpPr/>
          <p:nvPr/>
        </p:nvSpPr>
        <p:spPr>
          <a:xfrm>
            <a:off x="4878787" y="5602554"/>
            <a:ext cx="317500" cy="317500"/>
          </a:xfrm>
          <a:prstGeom prst="ellipse">
            <a:avLst/>
          </a:prstGeom>
          <a:solidFill>
            <a:srgbClr val="FFFFFF"/>
          </a:solidFill>
          <a:ln w="8890" cap="rnd">
            <a:solidFill>
              <a:srgbClr val="2E77C2">
                <a:alpha val="5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n2t-3-3"/>
          <p:cNvSpPr txBox="1"/>
          <p:nvPr/>
        </p:nvSpPr>
        <p:spPr>
          <a:xfrm>
            <a:off x="4906727" y="5689612"/>
            <a:ext cx="26162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昆明</a:t>
            </a:r>
          </a:p>
        </p:txBody>
      </p:sp>
      <p:sp>
        <p:nvSpPr>
          <p:cNvPr id="49" name="l2-4-1"/>
          <p:cNvSpPr/>
          <p:nvPr/>
        </p:nvSpPr>
        <p:spPr>
          <a:xfrm>
            <a:off x="3343275" y="4912995"/>
            <a:ext cx="554990" cy="1025525"/>
          </a:xfrm>
          <a:custGeom>
            <a:avLst/>
            <a:gdLst/>
            <a:ahLst/>
            <a:cxnLst/>
            <a:rect l="0" t="0" r="r" b="b"/>
            <a:pathLst>
              <a:path w="554990" h="1025525">
                <a:moveTo>
                  <a:pt x="0" y="0"/>
                </a:moveTo>
                <a:quadBezTo>
                  <a:pt x="259715" y="655955"/>
                  <a:pt x="554990" y="1025525"/>
                </a:quadBezTo>
              </a:path>
            </a:pathLst>
          </a:custGeom>
          <a:noFill/>
          <a:ln w="8255" cap="rnd">
            <a:solidFill>
              <a:srgbClr val="3985CD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n2-4-1"/>
          <p:cNvSpPr/>
          <p:nvPr/>
        </p:nvSpPr>
        <p:spPr>
          <a:xfrm>
            <a:off x="3739727" y="5779659"/>
            <a:ext cx="317500" cy="317500"/>
          </a:xfrm>
          <a:prstGeom prst="ellipse">
            <a:avLst/>
          </a:prstGeom>
          <a:solidFill>
            <a:srgbClr val="FFFFFF"/>
          </a:solidFill>
          <a:ln w="8890" cap="rnd">
            <a:solidFill>
              <a:srgbClr val="3985CD">
                <a:alpha val="5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n2t-4-1"/>
          <p:cNvSpPr txBox="1"/>
          <p:nvPr/>
        </p:nvSpPr>
        <p:spPr>
          <a:xfrm>
            <a:off x="3767667" y="5866717"/>
            <a:ext cx="26162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武汉</a:t>
            </a:r>
          </a:p>
        </p:txBody>
      </p:sp>
      <p:sp>
        <p:nvSpPr>
          <p:cNvPr id="52" name="l2-4-2"/>
          <p:cNvSpPr/>
          <p:nvPr/>
        </p:nvSpPr>
        <p:spPr>
          <a:xfrm>
            <a:off x="2919095" y="4912995"/>
            <a:ext cx="424180" cy="678815"/>
          </a:xfrm>
          <a:custGeom>
            <a:avLst/>
            <a:gdLst/>
            <a:ahLst/>
            <a:cxnLst/>
            <a:rect l="0" t="0" r="r" b="b"/>
            <a:pathLst>
              <a:path w="424180" h="678815">
                <a:moveTo>
                  <a:pt x="424180" y="0"/>
                </a:moveTo>
                <a:quadBezTo>
                  <a:pt x="135890" y="461645"/>
                  <a:pt x="0" y="678815"/>
                </a:quadBezTo>
              </a:path>
            </a:pathLst>
          </a:custGeom>
          <a:noFill/>
          <a:ln w="8255" cap="rnd">
            <a:solidFill>
              <a:srgbClr val="3985CD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n2-4-2"/>
          <p:cNvSpPr/>
          <p:nvPr/>
        </p:nvSpPr>
        <p:spPr>
          <a:xfrm>
            <a:off x="2760285" y="5432820"/>
            <a:ext cx="317500" cy="317500"/>
          </a:xfrm>
          <a:prstGeom prst="ellipse">
            <a:avLst/>
          </a:prstGeom>
          <a:solidFill>
            <a:srgbClr val="FFFFFF"/>
          </a:solidFill>
          <a:ln w="8890" cap="rnd">
            <a:solidFill>
              <a:srgbClr val="3985CD">
                <a:alpha val="5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n2t-4-2"/>
          <p:cNvSpPr txBox="1"/>
          <p:nvPr/>
        </p:nvSpPr>
        <p:spPr>
          <a:xfrm>
            <a:off x="2788225" y="5519878"/>
            <a:ext cx="26162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长沙</a:t>
            </a:r>
          </a:p>
        </p:txBody>
      </p:sp>
      <p:sp>
        <p:nvSpPr>
          <p:cNvPr id="55" name="l2-4-3"/>
          <p:cNvSpPr/>
          <p:nvPr/>
        </p:nvSpPr>
        <p:spPr>
          <a:xfrm>
            <a:off x="2178050" y="4863465"/>
            <a:ext cx="1165225" cy="67613"/>
          </a:xfrm>
          <a:custGeom>
            <a:avLst/>
            <a:gdLst/>
            <a:ahLst/>
            <a:cxnLst/>
            <a:rect l="0" t="0" r="r" b="b"/>
            <a:pathLst>
              <a:path w="1165225" h="67613">
                <a:moveTo>
                  <a:pt x="1165225" y="49530"/>
                </a:moveTo>
                <a:quadBezTo>
                  <a:pt x="461645" y="102870"/>
                  <a:pt x="0" y="0"/>
                </a:quadBezTo>
              </a:path>
            </a:pathLst>
          </a:custGeom>
          <a:noFill/>
          <a:ln w="8255" cap="rnd">
            <a:solidFill>
              <a:srgbClr val="3985CD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n2-4-3"/>
          <p:cNvSpPr/>
          <p:nvPr/>
        </p:nvSpPr>
        <p:spPr>
          <a:xfrm>
            <a:off x="2019189" y="4704547"/>
            <a:ext cx="317500" cy="317500"/>
          </a:xfrm>
          <a:prstGeom prst="ellipse">
            <a:avLst/>
          </a:prstGeom>
          <a:solidFill>
            <a:srgbClr val="FFFFFF"/>
          </a:solidFill>
          <a:ln w="8890" cap="rnd">
            <a:solidFill>
              <a:srgbClr val="3985CD">
                <a:alpha val="5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n2t-4-3"/>
          <p:cNvSpPr txBox="1"/>
          <p:nvPr/>
        </p:nvSpPr>
        <p:spPr>
          <a:xfrm>
            <a:off x="2047129" y="4791606"/>
            <a:ext cx="26162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郑州</a:t>
            </a:r>
          </a:p>
        </p:txBody>
      </p:sp>
      <p:sp>
        <p:nvSpPr>
          <p:cNvPr id="58" name="l2-5-1"/>
          <p:cNvSpPr/>
          <p:nvPr/>
        </p:nvSpPr>
        <p:spPr>
          <a:xfrm>
            <a:off x="1895475" y="3135630"/>
            <a:ext cx="830580" cy="784225"/>
          </a:xfrm>
          <a:custGeom>
            <a:avLst/>
            <a:gdLst/>
            <a:ahLst/>
            <a:cxnLst/>
            <a:rect l="0" t="0" r="r" b="b"/>
            <a:pathLst>
              <a:path w="830580" h="784225">
                <a:moveTo>
                  <a:pt x="830580" y="0"/>
                </a:moveTo>
                <a:quadBezTo>
                  <a:pt x="277495" y="414020"/>
                  <a:pt x="0" y="784225"/>
                </a:quadBezTo>
              </a:path>
            </a:pathLst>
          </a:custGeom>
          <a:noFill/>
          <a:ln w="8255" cap="rnd">
            <a:solidFill>
              <a:srgbClr val="54A2DF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n2-5-1"/>
          <p:cNvSpPr/>
          <p:nvPr/>
        </p:nvSpPr>
        <p:spPr>
          <a:xfrm>
            <a:off x="1736764" y="3760819"/>
            <a:ext cx="317500" cy="317500"/>
          </a:xfrm>
          <a:prstGeom prst="ellipse">
            <a:avLst/>
          </a:prstGeom>
          <a:solidFill>
            <a:srgbClr val="FFFFFF"/>
          </a:solidFill>
          <a:ln w="8890" cap="rnd">
            <a:solidFill>
              <a:srgbClr val="54A2DF">
                <a:alpha val="5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n2t-5-1"/>
          <p:cNvSpPr txBox="1"/>
          <p:nvPr/>
        </p:nvSpPr>
        <p:spPr>
          <a:xfrm>
            <a:off x="1764704" y="3847878"/>
            <a:ext cx="26162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北京</a:t>
            </a:r>
          </a:p>
        </p:txBody>
      </p:sp>
      <p:sp>
        <p:nvSpPr>
          <p:cNvPr id="61" name="l2-5-2"/>
          <p:cNvSpPr/>
          <p:nvPr/>
        </p:nvSpPr>
        <p:spPr>
          <a:xfrm>
            <a:off x="1957070" y="2915285"/>
            <a:ext cx="768985" cy="220345"/>
          </a:xfrm>
          <a:custGeom>
            <a:avLst/>
            <a:gdLst/>
            <a:ahLst/>
            <a:cxnLst/>
            <a:rect l="0" t="0" r="r" b="b"/>
            <a:pathLst>
              <a:path w="768985" h="220345">
                <a:moveTo>
                  <a:pt x="768985" y="220345"/>
                </a:moveTo>
                <a:quadBezTo>
                  <a:pt x="250190" y="71755"/>
                  <a:pt x="0" y="0"/>
                </a:quadBezTo>
              </a:path>
            </a:pathLst>
          </a:custGeom>
          <a:noFill/>
          <a:ln w="8255" cap="rnd">
            <a:solidFill>
              <a:srgbClr val="54A2DF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n2-5-2"/>
          <p:cNvSpPr/>
          <p:nvPr/>
        </p:nvSpPr>
        <p:spPr>
          <a:xfrm>
            <a:off x="1798182" y="2756641"/>
            <a:ext cx="317500" cy="317500"/>
          </a:xfrm>
          <a:prstGeom prst="ellipse">
            <a:avLst/>
          </a:prstGeom>
          <a:solidFill>
            <a:srgbClr val="FFFFFF"/>
          </a:solidFill>
          <a:ln w="8890" cap="rnd">
            <a:solidFill>
              <a:srgbClr val="54A2DF">
                <a:alpha val="5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n2t-5-2"/>
          <p:cNvSpPr txBox="1"/>
          <p:nvPr/>
        </p:nvSpPr>
        <p:spPr>
          <a:xfrm>
            <a:off x="1826122" y="2843700"/>
            <a:ext cx="26162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天津</a:t>
            </a:r>
          </a:p>
        </p:txBody>
      </p:sp>
      <p:sp>
        <p:nvSpPr>
          <p:cNvPr id="64" name="l2-5-3"/>
          <p:cNvSpPr/>
          <p:nvPr/>
        </p:nvSpPr>
        <p:spPr>
          <a:xfrm>
            <a:off x="2437130" y="2031365"/>
            <a:ext cx="288925" cy="1104265"/>
          </a:xfrm>
          <a:custGeom>
            <a:avLst/>
            <a:gdLst/>
            <a:ahLst/>
            <a:cxnLst/>
            <a:rect l="0" t="0" r="r" b="b"/>
            <a:pathLst>
              <a:path w="288925" h="1104265">
                <a:moveTo>
                  <a:pt x="288925" y="1104265"/>
                </a:moveTo>
                <a:quadBezTo>
                  <a:pt x="39370" y="461010"/>
                  <a:pt x="0" y="0"/>
                </a:quadBezTo>
              </a:path>
            </a:pathLst>
          </a:custGeom>
          <a:noFill/>
          <a:ln w="8255" cap="rnd">
            <a:solidFill>
              <a:srgbClr val="54A2DF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n2-5-3"/>
          <p:cNvSpPr/>
          <p:nvPr/>
        </p:nvSpPr>
        <p:spPr>
          <a:xfrm>
            <a:off x="2278229" y="1872503"/>
            <a:ext cx="317500" cy="317500"/>
          </a:xfrm>
          <a:prstGeom prst="ellipse">
            <a:avLst/>
          </a:prstGeom>
          <a:solidFill>
            <a:srgbClr val="FFFFFF"/>
          </a:solidFill>
          <a:ln w="8890" cap="rnd">
            <a:solidFill>
              <a:srgbClr val="54A2DF">
                <a:alpha val="5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n2t-5-3"/>
          <p:cNvSpPr txBox="1"/>
          <p:nvPr/>
        </p:nvSpPr>
        <p:spPr>
          <a:xfrm>
            <a:off x="2306169" y="1959562"/>
            <a:ext cx="26162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西安</a:t>
            </a:r>
          </a:p>
        </p:txBody>
      </p:sp>
      <p:sp>
        <p:nvSpPr>
          <p:cNvPr id="67" name="n1-1"/>
          <p:cNvSpPr/>
          <p:nvPr/>
        </p:nvSpPr>
        <p:spPr>
          <a:xfrm>
            <a:off x="3701499" y="1710149"/>
            <a:ext cx="660400" cy="660400"/>
          </a:xfrm>
          <a:prstGeom prst="ellipse">
            <a:avLst/>
          </a:prstGeom>
          <a:gradFill rotWithShape="1">
            <a:gsLst>
              <a:gs pos="0">
                <a:srgbClr val="2D599F"/>
              </a:gs>
              <a:gs pos="100000">
                <a:srgbClr val="0B3E8F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n1t-1"/>
          <p:cNvSpPr txBox="1"/>
          <p:nvPr/>
        </p:nvSpPr>
        <p:spPr>
          <a:xfrm>
            <a:off x="3828816" y="1862961"/>
            <a:ext cx="40576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7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华东</a:t>
            </a:r>
          </a:p>
        </p:txBody>
      </p:sp>
      <p:sp>
        <p:nvSpPr>
          <p:cNvPr id="69" name="n1s-1"/>
          <p:cNvSpPr txBox="1"/>
          <p:nvPr/>
        </p:nvSpPr>
        <p:spPr>
          <a:xfrm>
            <a:off x="3847930" y="2082957"/>
            <a:ext cx="36753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FFFFFF">
                    <a:alpha val="75000"/>
                  </a:srgbClr>
                </a:solidFill>
                <a:latin typeface="微软雅黑"/>
                <a:ea typeface="微软雅黑"/>
                <a:cs typeface="微软雅黑"/>
              </a:rPr>
              <a:t>4 网点</a:t>
            </a:r>
          </a:p>
        </p:txBody>
      </p:sp>
      <p:sp>
        <p:nvSpPr>
          <p:cNvPr id="70" name="n1-2"/>
          <p:cNvSpPr/>
          <p:nvPr/>
        </p:nvSpPr>
        <p:spPr>
          <a:xfrm>
            <a:off x="5299050" y="2524318"/>
            <a:ext cx="660400" cy="660400"/>
          </a:xfrm>
          <a:prstGeom prst="ellipse">
            <a:avLst/>
          </a:prstGeom>
          <a:gradFill rotWithShape="1">
            <a:gsLst>
              <a:gs pos="0">
                <a:srgbClr val="3B71B4"/>
              </a:gs>
              <a:gs pos="100000">
                <a:srgbClr val="1B5AA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n1t-2"/>
          <p:cNvSpPr txBox="1"/>
          <p:nvPr/>
        </p:nvSpPr>
        <p:spPr>
          <a:xfrm>
            <a:off x="5426368" y="2677131"/>
            <a:ext cx="40576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7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华南</a:t>
            </a:r>
          </a:p>
        </p:txBody>
      </p:sp>
      <p:sp>
        <p:nvSpPr>
          <p:cNvPr id="72" name="n1s-2"/>
          <p:cNvSpPr txBox="1"/>
          <p:nvPr/>
        </p:nvSpPr>
        <p:spPr>
          <a:xfrm>
            <a:off x="5445481" y="2897127"/>
            <a:ext cx="36753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FFFFFF">
                    <a:alpha val="75000"/>
                  </a:srgbClr>
                </a:solidFill>
                <a:latin typeface="微软雅黑"/>
                <a:ea typeface="微软雅黑"/>
                <a:cs typeface="微软雅黑"/>
              </a:rPr>
              <a:t>3 网点</a:t>
            </a:r>
          </a:p>
        </p:txBody>
      </p:sp>
      <p:sp>
        <p:nvSpPr>
          <p:cNvPr id="73" name="n1-3"/>
          <p:cNvSpPr/>
          <p:nvPr/>
        </p:nvSpPr>
        <p:spPr>
          <a:xfrm>
            <a:off x="4984481" y="4310926"/>
            <a:ext cx="660400" cy="660400"/>
          </a:xfrm>
          <a:prstGeom prst="ellipse">
            <a:avLst/>
          </a:prstGeom>
          <a:gradFill rotWithShape="1">
            <a:gsLst>
              <a:gs pos="0">
                <a:srgbClr val="4B8ACB"/>
              </a:gs>
              <a:gs pos="100000">
                <a:srgbClr val="2E77C2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n1t-3"/>
          <p:cNvSpPr txBox="1"/>
          <p:nvPr/>
        </p:nvSpPr>
        <p:spPr>
          <a:xfrm>
            <a:off x="5111798" y="4463739"/>
            <a:ext cx="40576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7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西南</a:t>
            </a:r>
          </a:p>
        </p:txBody>
      </p:sp>
      <p:sp>
        <p:nvSpPr>
          <p:cNvPr id="75" name="n1s-3"/>
          <p:cNvSpPr txBox="1"/>
          <p:nvPr/>
        </p:nvSpPr>
        <p:spPr>
          <a:xfrm>
            <a:off x="5130912" y="4683734"/>
            <a:ext cx="36753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FFFFFF">
                    <a:alpha val="75000"/>
                  </a:srgbClr>
                </a:solidFill>
                <a:latin typeface="微软雅黑"/>
                <a:ea typeface="微软雅黑"/>
                <a:cs typeface="微软雅黑"/>
              </a:rPr>
              <a:t>3 网点</a:t>
            </a:r>
          </a:p>
        </p:txBody>
      </p:sp>
      <p:sp>
        <p:nvSpPr>
          <p:cNvPr id="76" name="n1-4"/>
          <p:cNvSpPr/>
          <p:nvPr/>
        </p:nvSpPr>
        <p:spPr>
          <a:xfrm>
            <a:off x="3012823" y="4582847"/>
            <a:ext cx="660400" cy="660400"/>
          </a:xfrm>
          <a:prstGeom prst="ellipse">
            <a:avLst/>
          </a:prstGeom>
          <a:gradFill rotWithShape="1">
            <a:gsLst>
              <a:gs pos="0">
                <a:srgbClr val="5596D4"/>
              </a:gs>
              <a:gs pos="100000">
                <a:srgbClr val="3985CD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n1t-4"/>
          <p:cNvSpPr txBox="1"/>
          <p:nvPr/>
        </p:nvSpPr>
        <p:spPr>
          <a:xfrm>
            <a:off x="3140141" y="4735659"/>
            <a:ext cx="40576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7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华中</a:t>
            </a:r>
          </a:p>
        </p:txBody>
      </p:sp>
      <p:sp>
        <p:nvSpPr>
          <p:cNvPr id="78" name="n1s-4"/>
          <p:cNvSpPr txBox="1"/>
          <p:nvPr/>
        </p:nvSpPr>
        <p:spPr>
          <a:xfrm>
            <a:off x="3159254" y="4955655"/>
            <a:ext cx="36753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FFFFFF">
                    <a:alpha val="75000"/>
                  </a:srgbClr>
                </a:solidFill>
                <a:latin typeface="微软雅黑"/>
                <a:ea typeface="微软雅黑"/>
                <a:cs typeface="微软雅黑"/>
              </a:rPr>
              <a:t>3 网点</a:t>
            </a:r>
          </a:p>
        </p:txBody>
      </p:sp>
      <p:sp>
        <p:nvSpPr>
          <p:cNvPr id="79" name="n1-5"/>
          <p:cNvSpPr/>
          <p:nvPr/>
        </p:nvSpPr>
        <p:spPr>
          <a:xfrm>
            <a:off x="2395837" y="2805729"/>
            <a:ext cx="660400" cy="660400"/>
          </a:xfrm>
          <a:prstGeom prst="ellipse">
            <a:avLst/>
          </a:prstGeom>
          <a:gradFill rotWithShape="1">
            <a:gsLst>
              <a:gs pos="0">
                <a:srgbClr val="6CAFE3"/>
              </a:gs>
              <a:gs pos="100000">
                <a:srgbClr val="54A2DF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n1t-5"/>
          <p:cNvSpPr txBox="1"/>
          <p:nvPr/>
        </p:nvSpPr>
        <p:spPr>
          <a:xfrm>
            <a:off x="2523155" y="2958541"/>
            <a:ext cx="40576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7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华北</a:t>
            </a:r>
          </a:p>
        </p:txBody>
      </p:sp>
      <p:sp>
        <p:nvSpPr>
          <p:cNvPr id="81" name="n1s-5"/>
          <p:cNvSpPr txBox="1"/>
          <p:nvPr/>
        </p:nvSpPr>
        <p:spPr>
          <a:xfrm>
            <a:off x="2542268" y="3178537"/>
            <a:ext cx="36753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FFFFFF">
                    <a:alpha val="75000"/>
                  </a:srgbClr>
                </a:solidFill>
                <a:latin typeface="微软雅黑"/>
                <a:ea typeface="微软雅黑"/>
                <a:cs typeface="微软雅黑"/>
              </a:rPr>
              <a:t>3 网点</a:t>
            </a:r>
          </a:p>
        </p:txBody>
      </p:sp>
      <p:sp>
        <p:nvSpPr>
          <p:cNvPr id="82" name="hub-halo"/>
          <p:cNvSpPr/>
          <p:nvPr/>
        </p:nvSpPr>
        <p:spPr>
          <a:xfrm>
            <a:off x="3581400" y="2946400"/>
            <a:ext cx="1219200" cy="1219200"/>
          </a:xfrm>
          <a:prstGeom prst="ellipse">
            <a:avLst/>
          </a:prstGeom>
          <a:solidFill>
            <a:srgbClr val="0B3E8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hub"/>
          <p:cNvSpPr/>
          <p:nvPr/>
        </p:nvSpPr>
        <p:spPr>
          <a:xfrm>
            <a:off x="3695700" y="3060700"/>
            <a:ext cx="990600" cy="990600"/>
          </a:xfrm>
          <a:prstGeom prst="ellipse">
            <a:avLst/>
          </a:prstGeom>
          <a:gradFill rotWithShape="1">
            <a:gsLst>
              <a:gs pos="0">
                <a:srgbClr val="1E62B0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icon-globe"/>
          <p:cNvSpPr/>
          <p:nvPr/>
        </p:nvSpPr>
        <p:spPr>
          <a:xfrm>
            <a:off x="4122738" y="3373438"/>
            <a:ext cx="136525" cy="136525"/>
          </a:xfrm>
          <a:custGeom>
            <a:avLst/>
            <a:gdLst/>
            <a:ahLst/>
            <a:cxnLst/>
            <a:rect l="0" t="0" r="r" b="b"/>
            <a:pathLst>
              <a:path w="136525" h="136525">
                <a:moveTo>
                  <a:pt x="0" y="68262"/>
                </a:moveTo>
                <a:lnTo>
                  <a:pt x="136525" y="68262"/>
                </a:lnTo>
                <a:moveTo>
                  <a:pt x="68262" y="0"/>
                </a:moveTo>
                <a:cubicBezTo>
                  <a:pt x="87312" y="19875"/>
                  <a:pt x="96838" y="42862"/>
                  <a:pt x="96838" y="68262"/>
                </a:cubicBezTo>
                <a:cubicBezTo>
                  <a:pt x="96838" y="93662"/>
                  <a:pt x="87312" y="116650"/>
                  <a:pt x="68262" y="136525"/>
                </a:cubicBezTo>
                <a:cubicBezTo>
                  <a:pt x="49212" y="116650"/>
                  <a:pt x="39688" y="93662"/>
                  <a:pt x="39688" y="68262"/>
                </a:cubicBezTo>
                <a:cubicBezTo>
                  <a:pt x="39688" y="42862"/>
                  <a:pt x="49212" y="19875"/>
                  <a:pt x="68262" y="0"/>
                </a:cubicBezTo>
                <a:close/>
              </a:path>
            </a:pathLst>
          </a:custGeom>
          <a:noFill/>
          <a:ln w="12065" cap="rnd">
            <a:solidFill>
              <a:srgbClr val="FFFFFF">
                <a:alpha val="9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icon-globe"/>
          <p:cNvSpPr/>
          <p:nvPr/>
        </p:nvSpPr>
        <p:spPr>
          <a:xfrm>
            <a:off x="4122738" y="3373438"/>
            <a:ext cx="136525" cy="136525"/>
          </a:xfrm>
          <a:prstGeom prst="ellipse">
            <a:avLst/>
          </a:prstGeom>
          <a:noFill/>
          <a:ln w="12065" cap="rnd">
            <a:solidFill>
              <a:srgbClr val="FFFFFF">
                <a:alpha val="9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hub-t"/>
          <p:cNvSpPr txBox="1"/>
          <p:nvPr/>
        </p:nvSpPr>
        <p:spPr>
          <a:xfrm>
            <a:off x="3975735" y="3523171"/>
            <a:ext cx="4305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上海</a:t>
            </a:r>
          </a:p>
        </p:txBody>
      </p:sp>
      <p:sp>
        <p:nvSpPr>
          <p:cNvPr id="87" name="hub-s"/>
          <p:cNvSpPr txBox="1"/>
          <p:nvPr/>
        </p:nvSpPr>
        <p:spPr>
          <a:xfrm>
            <a:off x="3954145" y="3738308"/>
            <a:ext cx="4737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75">
                <a:solidFill>
                  <a:srgbClr val="FFFFFF">
                    <a:alpha val="72000"/>
                  </a:srgbClr>
                </a:solidFill>
                <a:latin typeface="微软雅黑"/>
                <a:ea typeface="微软雅黑"/>
                <a:cs typeface="微软雅黑"/>
              </a:rPr>
              <a:t>调度中枢</a:t>
            </a:r>
          </a:p>
        </p:txBody>
      </p:sp>
      <p:sp>
        <p:nvSpPr>
          <p:cNvPr id="88" name="side-bar"/>
          <p:cNvSpPr/>
          <p:nvPr/>
        </p:nvSpPr>
        <p:spPr>
          <a:xfrm>
            <a:off x="8026400" y="1828800"/>
            <a:ext cx="31750" cy="6858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side-h"/>
          <p:cNvSpPr txBox="1"/>
          <p:nvPr/>
        </p:nvSpPr>
        <p:spPr>
          <a:xfrm>
            <a:off x="8210550" y="1848644"/>
            <a:ext cx="11715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三级网络架构</a:t>
            </a:r>
          </a:p>
        </p:txBody>
      </p:sp>
      <p:sp>
        <p:nvSpPr>
          <p:cNvPr id="90" name="side-p1"/>
          <p:cNvSpPr txBox="1"/>
          <p:nvPr/>
        </p:nvSpPr>
        <p:spPr>
          <a:xfrm>
            <a:off x="8216265" y="2148761"/>
            <a:ext cx="180498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中枢统一调度，区域中心就近响应</a:t>
            </a:r>
          </a:p>
        </p:txBody>
      </p:sp>
      <p:sp>
        <p:nvSpPr>
          <p:cNvPr id="91" name="side-p2"/>
          <p:cNvSpPr txBox="1"/>
          <p:nvPr/>
        </p:nvSpPr>
        <p:spPr>
          <a:xfrm>
            <a:off x="8216265" y="2313861"/>
            <a:ext cx="157765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网点负责末端交付与现场服务</a:t>
            </a:r>
          </a:p>
        </p:txBody>
      </p:sp>
      <p:sp>
        <p:nvSpPr>
          <p:cNvPr id="92" name="lg-1"/>
          <p:cNvSpPr/>
          <p:nvPr/>
        </p:nvSpPr>
        <p:spPr>
          <a:xfrm>
            <a:off x="8070850" y="2749550"/>
            <a:ext cx="165100" cy="1651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lg-t-1"/>
          <p:cNvSpPr txBox="1"/>
          <p:nvPr/>
        </p:nvSpPr>
        <p:spPr>
          <a:xfrm>
            <a:off x="8342122" y="2721197"/>
            <a:ext cx="62166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华东中心</a:t>
            </a:r>
          </a:p>
        </p:txBody>
      </p:sp>
      <p:sp>
        <p:nvSpPr>
          <p:cNvPr id="94" name="lg-s-1"/>
          <p:cNvSpPr txBox="1"/>
          <p:nvPr/>
        </p:nvSpPr>
        <p:spPr>
          <a:xfrm>
            <a:off x="9322689" y="2748645"/>
            <a:ext cx="1404430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南京 · 杭州 · 合肥 · 青岛</a:t>
            </a:r>
          </a:p>
        </p:txBody>
      </p:sp>
      <p:cxnSp>
        <p:nvCxnSpPr>
          <p:cNvPr id="95" name="lg-d-1"/>
          <p:cNvCxnSpPr/>
          <p:nvPr/>
        </p:nvCxnSpPr>
        <p:spPr>
          <a:xfrm>
            <a:off x="8153400" y="3048000"/>
            <a:ext cx="33528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lg-2"/>
          <p:cNvSpPr/>
          <p:nvPr/>
        </p:nvSpPr>
        <p:spPr>
          <a:xfrm>
            <a:off x="8070850" y="3244850"/>
            <a:ext cx="165100" cy="16510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lg-t-2"/>
          <p:cNvSpPr txBox="1"/>
          <p:nvPr/>
        </p:nvSpPr>
        <p:spPr>
          <a:xfrm>
            <a:off x="8342122" y="3216497"/>
            <a:ext cx="62166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华南中心</a:t>
            </a:r>
          </a:p>
        </p:txBody>
      </p:sp>
      <p:sp>
        <p:nvSpPr>
          <p:cNvPr id="98" name="lg-s-2"/>
          <p:cNvSpPr txBox="1"/>
          <p:nvPr/>
        </p:nvSpPr>
        <p:spPr>
          <a:xfrm>
            <a:off x="9322689" y="3243945"/>
            <a:ext cx="1032700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广州 · 深圳 · 厦门</a:t>
            </a:r>
          </a:p>
        </p:txBody>
      </p:sp>
      <p:cxnSp>
        <p:nvCxnSpPr>
          <p:cNvPr id="99" name="lg-d-2"/>
          <p:cNvCxnSpPr/>
          <p:nvPr/>
        </p:nvCxnSpPr>
        <p:spPr>
          <a:xfrm>
            <a:off x="8153400" y="3543300"/>
            <a:ext cx="33528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0" name="lg-3"/>
          <p:cNvSpPr/>
          <p:nvPr/>
        </p:nvSpPr>
        <p:spPr>
          <a:xfrm>
            <a:off x="8070850" y="3740150"/>
            <a:ext cx="165100" cy="1651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lg-t-3"/>
          <p:cNvSpPr txBox="1"/>
          <p:nvPr/>
        </p:nvSpPr>
        <p:spPr>
          <a:xfrm>
            <a:off x="8342122" y="3711797"/>
            <a:ext cx="62166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西南中心</a:t>
            </a:r>
          </a:p>
        </p:txBody>
      </p:sp>
      <p:sp>
        <p:nvSpPr>
          <p:cNvPr id="102" name="lg-s-3"/>
          <p:cNvSpPr txBox="1"/>
          <p:nvPr/>
        </p:nvSpPr>
        <p:spPr>
          <a:xfrm>
            <a:off x="9322689" y="3739245"/>
            <a:ext cx="1032700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成都 · 重庆 · 昆明</a:t>
            </a:r>
          </a:p>
        </p:txBody>
      </p:sp>
      <p:cxnSp>
        <p:nvCxnSpPr>
          <p:cNvPr id="103" name="lg-d-3"/>
          <p:cNvCxnSpPr/>
          <p:nvPr/>
        </p:nvCxnSpPr>
        <p:spPr>
          <a:xfrm>
            <a:off x="8153400" y="4038600"/>
            <a:ext cx="33528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4" name="lg-4"/>
          <p:cNvSpPr/>
          <p:nvPr/>
        </p:nvSpPr>
        <p:spPr>
          <a:xfrm>
            <a:off x="8070850" y="4235450"/>
            <a:ext cx="165100" cy="165100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lg-t-4"/>
          <p:cNvSpPr txBox="1"/>
          <p:nvPr/>
        </p:nvSpPr>
        <p:spPr>
          <a:xfrm>
            <a:off x="8342122" y="4207097"/>
            <a:ext cx="62166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华中中心</a:t>
            </a:r>
          </a:p>
        </p:txBody>
      </p:sp>
      <p:sp>
        <p:nvSpPr>
          <p:cNvPr id="106" name="lg-s-4"/>
          <p:cNvSpPr txBox="1"/>
          <p:nvPr/>
        </p:nvSpPr>
        <p:spPr>
          <a:xfrm>
            <a:off x="9322689" y="4234545"/>
            <a:ext cx="1032700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武汉 · 长沙 · 郑州</a:t>
            </a:r>
          </a:p>
        </p:txBody>
      </p:sp>
      <p:cxnSp>
        <p:nvCxnSpPr>
          <p:cNvPr id="107" name="lg-d-4"/>
          <p:cNvCxnSpPr/>
          <p:nvPr/>
        </p:nvCxnSpPr>
        <p:spPr>
          <a:xfrm>
            <a:off x="8153400" y="4533900"/>
            <a:ext cx="33528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8" name="lg-5"/>
          <p:cNvSpPr/>
          <p:nvPr/>
        </p:nvSpPr>
        <p:spPr>
          <a:xfrm>
            <a:off x="8070850" y="4730750"/>
            <a:ext cx="165100" cy="165100"/>
          </a:xfrm>
          <a:prstGeom prst="ellipse">
            <a:avLst/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lg-t-5"/>
          <p:cNvSpPr txBox="1"/>
          <p:nvPr/>
        </p:nvSpPr>
        <p:spPr>
          <a:xfrm>
            <a:off x="8342122" y="4702397"/>
            <a:ext cx="62166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华北中心</a:t>
            </a:r>
          </a:p>
        </p:txBody>
      </p:sp>
      <p:sp>
        <p:nvSpPr>
          <p:cNvPr id="110" name="lg-s-5"/>
          <p:cNvSpPr txBox="1"/>
          <p:nvPr/>
        </p:nvSpPr>
        <p:spPr>
          <a:xfrm>
            <a:off x="9322689" y="4729845"/>
            <a:ext cx="1032700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北京 · 天津 · 西安</a:t>
            </a:r>
          </a:p>
        </p:txBody>
      </p:sp>
      <p:sp>
        <p:nvSpPr>
          <p:cNvPr id="111" name="st-panel"/>
          <p:cNvSpPr/>
          <p:nvPr/>
        </p:nvSpPr>
        <p:spPr>
          <a:xfrm>
            <a:off x="8026400" y="5473700"/>
            <a:ext cx="3479800" cy="660400"/>
          </a:xfrm>
          <a:custGeom>
            <a:avLst/>
            <a:gdLst/>
            <a:ahLst/>
            <a:cxnLst/>
            <a:rect l="0" t="0" r="r" b="b"/>
            <a:pathLst>
              <a:path w="3479800" h="660400">
                <a:moveTo>
                  <a:pt x="101600" y="0"/>
                </a:moveTo>
                <a:lnTo>
                  <a:pt x="3378200" y="0"/>
                </a:lnTo>
                <a:cubicBezTo>
                  <a:pt x="3434334" y="0"/>
                  <a:pt x="3479800" y="45466"/>
                  <a:pt x="3479800" y="101600"/>
                </a:cubicBezTo>
                <a:lnTo>
                  <a:pt x="3479800" y="558800"/>
                </a:lnTo>
                <a:cubicBezTo>
                  <a:pt x="3479800" y="614934"/>
                  <a:pt x="3434334" y="660400"/>
                  <a:pt x="3378200" y="660400"/>
                </a:cubicBezTo>
                <a:lnTo>
                  <a:pt x="101600" y="660400"/>
                </a:lnTo>
                <a:cubicBezTo>
                  <a:pt x="45466" y="660400"/>
                  <a:pt x="0" y="614934"/>
                  <a:pt x="0" y="558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2" name="st-v-1"/>
          <p:cNvSpPr txBox="1"/>
          <p:nvPr/>
        </p:nvSpPr>
        <p:spPr>
          <a:xfrm>
            <a:off x="8170990" y="5574602"/>
            <a:ext cx="244221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  <p:sp>
        <p:nvSpPr>
          <p:cNvPr id="113" name="st-l-1"/>
          <p:cNvSpPr txBox="1"/>
          <p:nvPr/>
        </p:nvSpPr>
        <p:spPr>
          <a:xfrm>
            <a:off x="8026082" y="5846508"/>
            <a:ext cx="53403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大区域中心</a:t>
            </a:r>
          </a:p>
        </p:txBody>
      </p:sp>
      <p:cxnSp>
        <p:nvCxnSpPr>
          <p:cNvPr id="114" name="st-d-1"/>
          <p:cNvCxnSpPr/>
          <p:nvPr/>
        </p:nvCxnSpPr>
        <p:spPr>
          <a:xfrm>
            <a:off x="8718550" y="5638800"/>
            <a:ext cx="0" cy="3048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5" name="st-v-2"/>
          <p:cNvSpPr txBox="1"/>
          <p:nvPr/>
        </p:nvSpPr>
        <p:spPr>
          <a:xfrm>
            <a:off x="8974074" y="5574602"/>
            <a:ext cx="339852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16</a:t>
            </a:r>
          </a:p>
        </p:txBody>
      </p:sp>
      <p:sp>
        <p:nvSpPr>
          <p:cNvPr id="116" name="st-l-2"/>
          <p:cNvSpPr txBox="1"/>
          <p:nvPr/>
        </p:nvSpPr>
        <p:spPr>
          <a:xfrm>
            <a:off x="8876982" y="5846508"/>
            <a:ext cx="53403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个服务网点</a:t>
            </a:r>
          </a:p>
        </p:txBody>
      </p:sp>
      <p:cxnSp>
        <p:nvCxnSpPr>
          <p:cNvPr id="117" name="st-d-2"/>
          <p:cNvCxnSpPr/>
          <p:nvPr/>
        </p:nvCxnSpPr>
        <p:spPr>
          <a:xfrm>
            <a:off x="9569450" y="5638800"/>
            <a:ext cx="0" cy="3048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8" name="st-v-3"/>
          <p:cNvSpPr txBox="1"/>
          <p:nvPr/>
        </p:nvSpPr>
        <p:spPr>
          <a:xfrm>
            <a:off x="9777158" y="5574602"/>
            <a:ext cx="435483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48h</a:t>
            </a:r>
          </a:p>
        </p:txBody>
      </p:sp>
      <p:sp>
        <p:nvSpPr>
          <p:cNvPr id="119" name="st-l-3"/>
          <p:cNvSpPr txBox="1"/>
          <p:nvPr/>
        </p:nvSpPr>
        <p:spPr>
          <a:xfrm>
            <a:off x="9682480" y="5846508"/>
            <a:ext cx="6248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全国履约时效</a:t>
            </a:r>
          </a:p>
        </p:txBody>
      </p:sp>
      <p:cxnSp>
        <p:nvCxnSpPr>
          <p:cNvPr id="120" name="st-d-3"/>
          <p:cNvCxnSpPr/>
          <p:nvPr/>
        </p:nvCxnSpPr>
        <p:spPr>
          <a:xfrm>
            <a:off x="10420350" y="5638800"/>
            <a:ext cx="0" cy="3048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1" name="st-v-4"/>
          <p:cNvSpPr txBox="1"/>
          <p:nvPr/>
        </p:nvSpPr>
        <p:spPr>
          <a:xfrm>
            <a:off x="10532428" y="5574602"/>
            <a:ext cx="626745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98.6%</a:t>
            </a:r>
          </a:p>
        </p:txBody>
      </p:sp>
      <p:sp>
        <p:nvSpPr>
          <p:cNvPr id="122" name="st-l-4"/>
          <p:cNvSpPr txBox="1"/>
          <p:nvPr/>
        </p:nvSpPr>
        <p:spPr>
          <a:xfrm>
            <a:off x="10578782" y="5846508"/>
            <a:ext cx="53403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准时交付率</a:t>
            </a:r>
          </a:p>
        </p:txBody>
      </p:sp>
      <p:cxnSp>
        <p:nvCxnSpPr>
          <p:cNvPr id="123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4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协同网络 · 三级拓扑</a:t>
            </a:r>
          </a:p>
        </p:txBody>
      </p:sp>
      <p:sp>
        <p:nvSpPr>
          <p:cNvPr id="125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核心竞争力构成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53695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COMPETITIVE EDGE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894699" y="673132"/>
            <a:ext cx="27260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技术、场景、服务三者交汇处，形成不可替代的优势</a:t>
            </a:r>
          </a:p>
        </p:txBody>
      </p:sp>
      <p:sp>
        <p:nvSpPr>
          <p:cNvPr id="10" name="circle-1"/>
          <p:cNvSpPr/>
          <p:nvPr/>
        </p:nvSpPr>
        <p:spPr>
          <a:xfrm>
            <a:off x="2857500" y="1638300"/>
            <a:ext cx="2667000" cy="2667000"/>
          </a:xfrm>
          <a:prstGeom prst="ellipse">
            <a:avLst/>
          </a:prstGeom>
          <a:solidFill>
            <a:srgbClr val="0B3E8F">
              <a:alpha val="4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c-line-1"/>
          <p:cNvSpPr/>
          <p:nvPr/>
        </p:nvSpPr>
        <p:spPr>
          <a:xfrm>
            <a:off x="2857500" y="1638300"/>
            <a:ext cx="2667000" cy="2667000"/>
          </a:xfrm>
          <a:prstGeom prst="ellipse">
            <a:avLst/>
          </a:prstGeom>
          <a:noFill/>
          <a:ln w="10160" cap="rnd">
            <a:solidFill>
              <a:srgbClr val="0B3E8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circle-2"/>
          <p:cNvSpPr/>
          <p:nvPr/>
        </p:nvSpPr>
        <p:spPr>
          <a:xfrm>
            <a:off x="3539408" y="2819400"/>
            <a:ext cx="2667000" cy="2667000"/>
          </a:xfrm>
          <a:prstGeom prst="ellipse">
            <a:avLst/>
          </a:prstGeom>
          <a:solidFill>
            <a:srgbClr val="2468B6">
              <a:alpha val="4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c-line-2"/>
          <p:cNvSpPr/>
          <p:nvPr/>
        </p:nvSpPr>
        <p:spPr>
          <a:xfrm>
            <a:off x="3539408" y="2819400"/>
            <a:ext cx="2667000" cy="2667000"/>
          </a:xfrm>
          <a:prstGeom prst="ellipse">
            <a:avLst/>
          </a:prstGeom>
          <a:noFill/>
          <a:ln w="10160" cap="rnd">
            <a:solidFill>
              <a:srgbClr val="2468B6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circle-3"/>
          <p:cNvSpPr/>
          <p:nvPr/>
        </p:nvSpPr>
        <p:spPr>
          <a:xfrm>
            <a:off x="2175592" y="2819400"/>
            <a:ext cx="2667000" cy="2667000"/>
          </a:xfrm>
          <a:prstGeom prst="ellipse">
            <a:avLst/>
          </a:prstGeom>
          <a:solidFill>
            <a:srgbClr val="3985CD">
              <a:alpha val="4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c-line-3"/>
          <p:cNvSpPr/>
          <p:nvPr/>
        </p:nvSpPr>
        <p:spPr>
          <a:xfrm>
            <a:off x="2175592" y="2819400"/>
            <a:ext cx="2667000" cy="2667000"/>
          </a:xfrm>
          <a:prstGeom prst="ellipse">
            <a:avLst/>
          </a:prstGeom>
          <a:noFill/>
          <a:ln w="10160" cap="rnd">
            <a:solidFill>
              <a:srgbClr val="3985CD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lens-12"/>
          <p:cNvSpPr/>
          <p:nvPr/>
        </p:nvSpPr>
        <p:spPr>
          <a:xfrm>
            <a:off x="3539554" y="2819471"/>
            <a:ext cx="1984819" cy="1485759"/>
          </a:xfrm>
          <a:custGeom>
            <a:avLst/>
            <a:gdLst/>
            <a:ahLst/>
            <a:cxnLst/>
            <a:rect l="0" t="0" r="r" b="b"/>
            <a:pathLst>
              <a:path w="1984819" h="1485759">
                <a:moveTo>
                  <a:pt x="0" y="1315840"/>
                </a:moveTo>
                <a:cubicBezTo>
                  <a:pt x="6216" y="845758"/>
                  <a:pt x="259500" y="413681"/>
                  <a:pt x="666640" y="178622"/>
                </a:cubicBezTo>
                <a:cubicBezTo>
                  <a:pt x="1073780" y="-56437"/>
                  <a:pt x="1574612" y="-59744"/>
                  <a:pt x="1984819" y="169919"/>
                </a:cubicBezTo>
                <a:cubicBezTo>
                  <a:pt x="1978604" y="640001"/>
                  <a:pt x="1725319" y="1072077"/>
                  <a:pt x="1318179" y="1307137"/>
                </a:cubicBezTo>
                <a:cubicBezTo>
                  <a:pt x="911040" y="1542196"/>
                  <a:pt x="410208" y="1545502"/>
                  <a:pt x="0" y="1315840"/>
                </a:cubicBezTo>
                <a:close/>
              </a:path>
            </a:pathLst>
          </a:custGeom>
          <a:solidFill>
            <a:srgbClr val="0D3684">
              <a:alpha val="6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lens-23"/>
          <p:cNvSpPr/>
          <p:nvPr/>
        </p:nvSpPr>
        <p:spPr>
          <a:xfrm>
            <a:off x="3539366" y="3006916"/>
            <a:ext cx="1303267" cy="2291969"/>
          </a:xfrm>
          <a:custGeom>
            <a:avLst/>
            <a:gdLst/>
            <a:ahLst/>
            <a:cxnLst/>
            <a:rect l="0" t="0" r="r" b="b"/>
            <a:pathLst>
              <a:path w="1303267" h="2291969">
                <a:moveTo>
                  <a:pt x="651634" y="0"/>
                </a:moveTo>
                <a:cubicBezTo>
                  <a:pt x="1055679" y="240409"/>
                  <a:pt x="1303267" y="675825"/>
                  <a:pt x="1303267" y="1145985"/>
                </a:cubicBezTo>
                <a:cubicBezTo>
                  <a:pt x="1303267" y="1616144"/>
                  <a:pt x="1055679" y="2051560"/>
                  <a:pt x="651634" y="2291969"/>
                </a:cubicBezTo>
                <a:cubicBezTo>
                  <a:pt x="247588" y="2051560"/>
                  <a:pt x="0" y="1616144"/>
                  <a:pt x="0" y="1145985"/>
                </a:cubicBezTo>
                <a:cubicBezTo>
                  <a:pt x="0" y="675825"/>
                  <a:pt x="247588" y="240409"/>
                  <a:pt x="651634" y="0"/>
                </a:cubicBezTo>
                <a:close/>
              </a:path>
            </a:pathLst>
          </a:custGeom>
          <a:solidFill>
            <a:srgbClr val="1B56AA">
              <a:alpha val="6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lens-13"/>
          <p:cNvSpPr/>
          <p:nvPr/>
        </p:nvSpPr>
        <p:spPr>
          <a:xfrm>
            <a:off x="2857627" y="2819471"/>
            <a:ext cx="1984820" cy="1485759"/>
          </a:xfrm>
          <a:custGeom>
            <a:avLst/>
            <a:gdLst/>
            <a:ahLst/>
            <a:cxnLst/>
            <a:rect l="0" t="0" r="r" b="b"/>
            <a:pathLst>
              <a:path w="1984820" h="1485759">
                <a:moveTo>
                  <a:pt x="0" y="169919"/>
                </a:moveTo>
                <a:cubicBezTo>
                  <a:pt x="410208" y="-59744"/>
                  <a:pt x="911040" y="-56437"/>
                  <a:pt x="1318179" y="178622"/>
                </a:cubicBezTo>
                <a:cubicBezTo>
                  <a:pt x="1725319" y="413681"/>
                  <a:pt x="1978604" y="845758"/>
                  <a:pt x="1984820" y="1315840"/>
                </a:cubicBezTo>
                <a:cubicBezTo>
                  <a:pt x="1574612" y="1545502"/>
                  <a:pt x="1073780" y="1542196"/>
                  <a:pt x="666640" y="1307137"/>
                </a:cubicBezTo>
                <a:cubicBezTo>
                  <a:pt x="259500" y="1072077"/>
                  <a:pt x="6216" y="640001"/>
                  <a:pt x="0" y="169919"/>
                </a:cubicBezTo>
                <a:close/>
              </a:path>
            </a:pathLst>
          </a:custGeom>
          <a:solidFill>
            <a:srgbClr val="124190">
              <a:alpha val="6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core-tri"/>
          <p:cNvSpPr/>
          <p:nvPr/>
        </p:nvSpPr>
        <p:spPr>
          <a:xfrm>
            <a:off x="3539554" y="3006916"/>
            <a:ext cx="1302893" cy="1128395"/>
          </a:xfrm>
          <a:custGeom>
            <a:avLst/>
            <a:gdLst/>
            <a:ahLst/>
            <a:cxnLst/>
            <a:rect l="0" t="0" r="r" b="b"/>
            <a:pathLst>
              <a:path w="1302893" h="1128395">
                <a:moveTo>
                  <a:pt x="651446" y="0"/>
                </a:moveTo>
                <a:cubicBezTo>
                  <a:pt x="657550" y="463837"/>
                  <a:pt x="904261" y="891173"/>
                  <a:pt x="1302893" y="1128395"/>
                </a:cubicBezTo>
                <a:cubicBezTo>
                  <a:pt x="898154" y="901790"/>
                  <a:pt x="404739" y="901790"/>
                  <a:pt x="0" y="1128395"/>
                </a:cubicBezTo>
                <a:cubicBezTo>
                  <a:pt x="398632" y="891173"/>
                  <a:pt x="645343" y="463837"/>
                  <a:pt x="651446" y="0"/>
                </a:cubicBezTo>
                <a:close/>
              </a:path>
            </a:pathLst>
          </a:custGeom>
          <a:solidFill>
            <a:srgbClr val="0A3A88">
              <a:alpha val="9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core-1"/>
          <p:cNvSpPr txBox="1"/>
          <p:nvPr/>
        </p:nvSpPr>
        <p:spPr>
          <a:xfrm>
            <a:off x="3866039" y="3642503"/>
            <a:ext cx="649922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19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不可替代的</a:t>
            </a:r>
          </a:p>
        </p:txBody>
      </p:sp>
      <p:sp>
        <p:nvSpPr>
          <p:cNvPr id="21" name="core-2"/>
          <p:cNvSpPr txBox="1"/>
          <p:nvPr/>
        </p:nvSpPr>
        <p:spPr>
          <a:xfrm>
            <a:off x="3866039" y="3807603"/>
            <a:ext cx="649922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19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综合竞争力</a:t>
            </a:r>
          </a:p>
        </p:txBody>
      </p:sp>
      <p:sp>
        <p:nvSpPr>
          <p:cNvPr id="22" name="icon-code"/>
          <p:cNvSpPr/>
          <p:nvPr/>
        </p:nvSpPr>
        <p:spPr>
          <a:xfrm>
            <a:off x="4128326" y="1807654"/>
            <a:ext cx="125349" cy="67691"/>
          </a:xfrm>
          <a:custGeom>
            <a:avLst/>
            <a:gdLst/>
            <a:ahLst/>
            <a:cxnLst/>
            <a:rect l="0" t="0" r="r" b="b"/>
            <a:pathLst>
              <a:path w="125349" h="67691">
                <a:moveTo>
                  <a:pt x="37275" y="0"/>
                </a:moveTo>
                <a:lnTo>
                  <a:pt x="0" y="33845"/>
                </a:lnTo>
                <a:lnTo>
                  <a:pt x="37275" y="67691"/>
                </a:lnTo>
                <a:moveTo>
                  <a:pt x="88075" y="0"/>
                </a:moveTo>
                <a:lnTo>
                  <a:pt x="125349" y="33845"/>
                </a:lnTo>
                <a:lnTo>
                  <a:pt x="88075" y="67691"/>
                </a:lnTo>
              </a:path>
            </a:pathLst>
          </a:custGeom>
          <a:noFill/>
          <a:ln w="1270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cn-1"/>
          <p:cNvSpPr txBox="1"/>
          <p:nvPr/>
        </p:nvSpPr>
        <p:spPr>
          <a:xfrm>
            <a:off x="3792220" y="1894586"/>
            <a:ext cx="7975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技术能力</a:t>
            </a:r>
          </a:p>
        </p:txBody>
      </p:sp>
      <p:sp>
        <p:nvSpPr>
          <p:cNvPr id="24" name="en-1"/>
          <p:cNvSpPr txBox="1"/>
          <p:nvPr/>
        </p:nvSpPr>
        <p:spPr>
          <a:xfrm>
            <a:off x="3822700" y="2125408"/>
            <a:ext cx="73660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25">
                <a:solidFill>
                  <a:srgbClr val="FFFFFF">
                    <a:alpha val="70000"/>
                  </a:srgbClr>
                </a:solidFill>
                <a:latin typeface="Arial"/>
                <a:ea typeface="Arial"/>
                <a:cs typeface="Arial"/>
              </a:rPr>
              <a:t>TECHNOLOGY</a:t>
            </a:r>
          </a:p>
        </p:txBody>
      </p:sp>
      <p:sp>
        <p:nvSpPr>
          <p:cNvPr id="25" name="icon-brain"/>
          <p:cNvSpPr/>
          <p:nvPr/>
        </p:nvSpPr>
        <p:spPr>
          <a:xfrm>
            <a:off x="5626825" y="4374706"/>
            <a:ext cx="119959" cy="113475"/>
          </a:xfrm>
          <a:custGeom>
            <a:avLst/>
            <a:gdLst/>
            <a:ahLst/>
            <a:cxnLst/>
            <a:rect l="0" t="0" r="r" b="b"/>
            <a:pathLst>
              <a:path w="119959" h="113475">
                <a:moveTo>
                  <a:pt x="59981" y="0"/>
                </a:moveTo>
                <a:lnTo>
                  <a:pt x="59981" y="113475"/>
                </a:lnTo>
                <a:moveTo>
                  <a:pt x="37946" y="0"/>
                </a:moveTo>
                <a:cubicBezTo>
                  <a:pt x="29755" y="-190"/>
                  <a:pt x="21944" y="3874"/>
                  <a:pt x="17499" y="10795"/>
                </a:cubicBezTo>
                <a:cubicBezTo>
                  <a:pt x="12991" y="17717"/>
                  <a:pt x="12419" y="26416"/>
                  <a:pt x="15975" y="33909"/>
                </a:cubicBezTo>
                <a:cubicBezTo>
                  <a:pt x="7403" y="36830"/>
                  <a:pt x="1243" y="44450"/>
                  <a:pt x="164" y="53467"/>
                </a:cubicBezTo>
                <a:cubicBezTo>
                  <a:pt x="-916" y="62484"/>
                  <a:pt x="3212" y="71311"/>
                  <a:pt x="10895" y="76200"/>
                </a:cubicBezTo>
                <a:cubicBezTo>
                  <a:pt x="5371" y="84646"/>
                  <a:pt x="5752" y="95568"/>
                  <a:pt x="11848" y="103569"/>
                </a:cubicBezTo>
                <a:cubicBezTo>
                  <a:pt x="17944" y="111570"/>
                  <a:pt x="28421" y="114872"/>
                  <a:pt x="37946" y="111760"/>
                </a:cubicBezTo>
                <a:moveTo>
                  <a:pt x="82015" y="0"/>
                </a:moveTo>
                <a:cubicBezTo>
                  <a:pt x="90207" y="-190"/>
                  <a:pt x="97954" y="3874"/>
                  <a:pt x="102462" y="10795"/>
                </a:cubicBezTo>
                <a:cubicBezTo>
                  <a:pt x="106971" y="17717"/>
                  <a:pt x="107542" y="26416"/>
                  <a:pt x="103986" y="33909"/>
                </a:cubicBezTo>
                <a:cubicBezTo>
                  <a:pt x="112559" y="36830"/>
                  <a:pt x="118718" y="44450"/>
                  <a:pt x="119798" y="53467"/>
                </a:cubicBezTo>
                <a:cubicBezTo>
                  <a:pt x="120877" y="62484"/>
                  <a:pt x="116686" y="71311"/>
                  <a:pt x="109066" y="76200"/>
                </a:cubicBezTo>
                <a:cubicBezTo>
                  <a:pt x="114591" y="84646"/>
                  <a:pt x="114210" y="95568"/>
                  <a:pt x="108114" y="103569"/>
                </a:cubicBezTo>
                <a:cubicBezTo>
                  <a:pt x="102018" y="111570"/>
                  <a:pt x="91540" y="114872"/>
                  <a:pt x="82015" y="111760"/>
                </a:cubicBezTo>
              </a:path>
            </a:pathLst>
          </a:custGeom>
          <a:noFill/>
          <a:ln w="1270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cn-2"/>
          <p:cNvSpPr txBox="1"/>
          <p:nvPr/>
        </p:nvSpPr>
        <p:spPr>
          <a:xfrm>
            <a:off x="5288019" y="4485386"/>
            <a:ext cx="7975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场景理解</a:t>
            </a:r>
          </a:p>
        </p:txBody>
      </p:sp>
      <p:sp>
        <p:nvSpPr>
          <p:cNvPr id="27" name="en-2"/>
          <p:cNvSpPr txBox="1"/>
          <p:nvPr/>
        </p:nvSpPr>
        <p:spPr>
          <a:xfrm>
            <a:off x="5384158" y="4716208"/>
            <a:ext cx="6052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25">
                <a:solidFill>
                  <a:srgbClr val="FFFFFF">
                    <a:alpha val="70000"/>
                  </a:srgbClr>
                </a:solidFill>
                <a:latin typeface="Arial"/>
                <a:ea typeface="Arial"/>
                <a:cs typeface="Arial"/>
              </a:rPr>
              <a:t>SCENARIO</a:t>
            </a:r>
          </a:p>
        </p:txBody>
      </p:sp>
      <p:sp>
        <p:nvSpPr>
          <p:cNvPr id="28" name="icon-hand"/>
          <p:cNvSpPr/>
          <p:nvPr/>
        </p:nvSpPr>
        <p:spPr>
          <a:xfrm>
            <a:off x="2631186" y="4359466"/>
            <a:ext cx="114808" cy="145669"/>
          </a:xfrm>
          <a:custGeom>
            <a:avLst/>
            <a:gdLst/>
            <a:ahLst/>
            <a:cxnLst/>
            <a:rect l="0" t="0" r="r" b="b"/>
            <a:pathLst>
              <a:path w="114808" h="145669">
                <a:moveTo>
                  <a:pt x="33528" y="77914"/>
                </a:moveTo>
                <a:lnTo>
                  <a:pt x="33528" y="23749"/>
                </a:lnTo>
                <a:cubicBezTo>
                  <a:pt x="33528" y="16256"/>
                  <a:pt x="39624" y="10160"/>
                  <a:pt x="47053" y="10160"/>
                </a:cubicBezTo>
                <a:cubicBezTo>
                  <a:pt x="54546" y="10160"/>
                  <a:pt x="60642" y="16256"/>
                  <a:pt x="60642" y="23749"/>
                </a:cubicBezTo>
                <a:lnTo>
                  <a:pt x="60642" y="66040"/>
                </a:lnTo>
                <a:moveTo>
                  <a:pt x="60642" y="66040"/>
                </a:moveTo>
                <a:lnTo>
                  <a:pt x="60642" y="13589"/>
                </a:lnTo>
                <a:cubicBezTo>
                  <a:pt x="60642" y="6096"/>
                  <a:pt x="66675" y="0"/>
                  <a:pt x="74168" y="0"/>
                </a:cubicBezTo>
                <a:cubicBezTo>
                  <a:pt x="81661" y="0"/>
                  <a:pt x="87693" y="6096"/>
                  <a:pt x="87693" y="13589"/>
                </a:cubicBezTo>
                <a:lnTo>
                  <a:pt x="87693" y="66040"/>
                </a:lnTo>
                <a:moveTo>
                  <a:pt x="87693" y="69469"/>
                </a:moveTo>
                <a:lnTo>
                  <a:pt x="87693" y="33909"/>
                </a:lnTo>
                <a:cubicBezTo>
                  <a:pt x="87693" y="26416"/>
                  <a:pt x="93789" y="20320"/>
                  <a:pt x="101282" y="20320"/>
                </a:cubicBezTo>
                <a:cubicBezTo>
                  <a:pt x="108775" y="20320"/>
                  <a:pt x="114808" y="26416"/>
                  <a:pt x="114808" y="33909"/>
                </a:cubicBezTo>
                <a:lnTo>
                  <a:pt x="114808" y="96520"/>
                </a:lnTo>
                <a:cubicBezTo>
                  <a:pt x="114808" y="123635"/>
                  <a:pt x="94488" y="145669"/>
                  <a:pt x="67373" y="145669"/>
                </a:cubicBezTo>
                <a:cubicBezTo>
                  <a:pt x="45402" y="145669"/>
                  <a:pt x="33528" y="135509"/>
                  <a:pt x="21653" y="118555"/>
                </a:cubicBezTo>
                <a:lnTo>
                  <a:pt x="1333" y="88075"/>
                </a:lnTo>
                <a:cubicBezTo>
                  <a:pt x="-1524" y="82042"/>
                  <a:pt x="317" y="74803"/>
                  <a:pt x="5842" y="70993"/>
                </a:cubicBezTo>
                <a:cubicBezTo>
                  <a:pt x="11303" y="67247"/>
                  <a:pt x="18796" y="68009"/>
                  <a:pt x="23368" y="72835"/>
                </a:cubicBezTo>
                <a:close/>
              </a:path>
            </a:pathLst>
          </a:custGeom>
          <a:noFill/>
          <a:ln w="1270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cn-3"/>
          <p:cNvSpPr txBox="1"/>
          <p:nvPr/>
        </p:nvSpPr>
        <p:spPr>
          <a:xfrm>
            <a:off x="2296421" y="4485386"/>
            <a:ext cx="7975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服务交付</a:t>
            </a:r>
          </a:p>
        </p:txBody>
      </p:sp>
      <p:sp>
        <p:nvSpPr>
          <p:cNvPr id="30" name="en-3"/>
          <p:cNvSpPr txBox="1"/>
          <p:nvPr/>
        </p:nvSpPr>
        <p:spPr>
          <a:xfrm>
            <a:off x="2425389" y="4716208"/>
            <a:ext cx="53962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25">
                <a:solidFill>
                  <a:srgbClr val="FFFFFF">
                    <a:alpha val="70000"/>
                  </a:srgbClr>
                </a:solidFill>
                <a:latin typeface="Arial"/>
                <a:ea typeface="Arial"/>
                <a:cs typeface="Arial"/>
              </a:rPr>
              <a:t>SERVICE</a:t>
            </a:r>
          </a:p>
        </p:txBody>
      </p:sp>
      <p:sp>
        <p:nvSpPr>
          <p:cNvPr id="31" name="side-bar"/>
          <p:cNvSpPr/>
          <p:nvPr/>
        </p:nvSpPr>
        <p:spPr>
          <a:xfrm>
            <a:off x="8026400" y="1663700"/>
            <a:ext cx="31750" cy="660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side-h"/>
          <p:cNvSpPr txBox="1"/>
          <p:nvPr/>
        </p:nvSpPr>
        <p:spPr>
          <a:xfrm>
            <a:off x="8210550" y="1683544"/>
            <a:ext cx="11715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三者缺一不可</a:t>
            </a:r>
          </a:p>
        </p:txBody>
      </p:sp>
      <p:sp>
        <p:nvSpPr>
          <p:cNvPr id="33" name="side-p1"/>
          <p:cNvSpPr txBox="1"/>
          <p:nvPr/>
        </p:nvSpPr>
        <p:spPr>
          <a:xfrm>
            <a:off x="8216265" y="1983661"/>
            <a:ext cx="157765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任意两项交汇产生阶段性优势</a:t>
            </a:r>
          </a:p>
        </p:txBody>
      </p:sp>
      <p:sp>
        <p:nvSpPr>
          <p:cNvPr id="34" name="side-p2"/>
          <p:cNvSpPr txBox="1"/>
          <p:nvPr/>
        </p:nvSpPr>
        <p:spPr>
          <a:xfrm>
            <a:off x="8216265" y="2148761"/>
            <a:ext cx="146399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三项同时具备才形成护城河</a:t>
            </a:r>
          </a:p>
        </p:txBody>
      </p:sp>
      <p:sp>
        <p:nvSpPr>
          <p:cNvPr id="35" name="lg-1"/>
          <p:cNvSpPr/>
          <p:nvPr/>
        </p:nvSpPr>
        <p:spPr>
          <a:xfrm>
            <a:off x="8070850" y="2571750"/>
            <a:ext cx="165100" cy="165100"/>
          </a:xfrm>
          <a:prstGeom prst="ellipse">
            <a:avLst/>
          </a:prstGeom>
          <a:solidFill>
            <a:srgbClr val="0B3E8F">
              <a:alpha val="7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lgt-1"/>
          <p:cNvSpPr txBox="1"/>
          <p:nvPr/>
        </p:nvSpPr>
        <p:spPr>
          <a:xfrm>
            <a:off x="8342122" y="2543397"/>
            <a:ext cx="62166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技术能力</a:t>
            </a:r>
          </a:p>
        </p:txBody>
      </p:sp>
      <p:sp>
        <p:nvSpPr>
          <p:cNvPr id="37" name="lgs-1"/>
          <p:cNvSpPr txBox="1"/>
          <p:nvPr/>
        </p:nvSpPr>
        <p:spPr>
          <a:xfrm>
            <a:off x="9208389" y="2570845"/>
            <a:ext cx="99155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自研算法与平台底座</a:t>
            </a:r>
          </a:p>
        </p:txBody>
      </p:sp>
      <p:sp>
        <p:nvSpPr>
          <p:cNvPr id="38" name="lg-2"/>
          <p:cNvSpPr/>
          <p:nvPr/>
        </p:nvSpPr>
        <p:spPr>
          <a:xfrm>
            <a:off x="8070850" y="3041650"/>
            <a:ext cx="165100" cy="165100"/>
          </a:xfrm>
          <a:prstGeom prst="ellipse">
            <a:avLst/>
          </a:prstGeom>
          <a:solidFill>
            <a:srgbClr val="2468B6">
              <a:alpha val="7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lgt-2"/>
          <p:cNvSpPr txBox="1"/>
          <p:nvPr/>
        </p:nvSpPr>
        <p:spPr>
          <a:xfrm>
            <a:off x="8342122" y="3013297"/>
            <a:ext cx="62166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场景理解</a:t>
            </a:r>
          </a:p>
        </p:txBody>
      </p:sp>
      <p:sp>
        <p:nvSpPr>
          <p:cNvPr id="40" name="lgs-2"/>
          <p:cNvSpPr txBox="1"/>
          <p:nvPr/>
        </p:nvSpPr>
        <p:spPr>
          <a:xfrm>
            <a:off x="9208389" y="3040745"/>
            <a:ext cx="1247077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深耕行业的业务know-how</a:t>
            </a:r>
          </a:p>
        </p:txBody>
      </p:sp>
      <p:sp>
        <p:nvSpPr>
          <p:cNvPr id="41" name="lg-3"/>
          <p:cNvSpPr/>
          <p:nvPr/>
        </p:nvSpPr>
        <p:spPr>
          <a:xfrm>
            <a:off x="8070850" y="3511550"/>
            <a:ext cx="165100" cy="165100"/>
          </a:xfrm>
          <a:prstGeom prst="ellipse">
            <a:avLst/>
          </a:prstGeom>
          <a:solidFill>
            <a:srgbClr val="3985CD">
              <a:alpha val="7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lgt-3"/>
          <p:cNvSpPr txBox="1"/>
          <p:nvPr/>
        </p:nvSpPr>
        <p:spPr>
          <a:xfrm>
            <a:off x="8342122" y="3483197"/>
            <a:ext cx="62166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服务交付</a:t>
            </a:r>
          </a:p>
        </p:txBody>
      </p:sp>
      <p:sp>
        <p:nvSpPr>
          <p:cNvPr id="43" name="lgs-3"/>
          <p:cNvSpPr txBox="1"/>
          <p:nvPr/>
        </p:nvSpPr>
        <p:spPr>
          <a:xfrm>
            <a:off x="9208389" y="3510645"/>
            <a:ext cx="99155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全国网点与响应体系</a:t>
            </a:r>
          </a:p>
        </p:txBody>
      </p:sp>
      <p:cxnSp>
        <p:nvCxnSpPr>
          <p:cNvPr id="44" name="div"/>
          <p:cNvCxnSpPr/>
          <p:nvPr/>
        </p:nvCxnSpPr>
        <p:spPr>
          <a:xfrm>
            <a:off x="8026400" y="4241800"/>
            <a:ext cx="34798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mid-h"/>
          <p:cNvSpPr txBox="1"/>
          <p:nvPr/>
        </p:nvSpPr>
        <p:spPr>
          <a:xfrm>
            <a:off x="8011922" y="4372197"/>
            <a:ext cx="9086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交汇处的能力</a:t>
            </a:r>
          </a:p>
        </p:txBody>
      </p:sp>
      <p:sp>
        <p:nvSpPr>
          <p:cNvPr id="46" name="pair-tag-1"/>
          <p:cNvSpPr/>
          <p:nvPr/>
        </p:nvSpPr>
        <p:spPr>
          <a:xfrm>
            <a:off x="8026400" y="4673600"/>
            <a:ext cx="952500" cy="254000"/>
          </a:xfrm>
          <a:custGeom>
            <a:avLst/>
            <a:gdLst/>
            <a:ahLst/>
            <a:cxnLst/>
            <a:rect l="0" t="0" r="r" b="b"/>
            <a:pathLst>
              <a:path w="952500" h="254000">
                <a:moveTo>
                  <a:pt x="127000" y="0"/>
                </a:moveTo>
                <a:lnTo>
                  <a:pt x="825500" y="0"/>
                </a:lnTo>
                <a:cubicBezTo>
                  <a:pt x="895667" y="0"/>
                  <a:pt x="952500" y="56833"/>
                  <a:pt x="952500" y="127000"/>
                </a:cubicBezTo>
                <a:lnTo>
                  <a:pt x="952500" y="127000"/>
                </a:lnTo>
                <a:cubicBezTo>
                  <a:pt x="952500" y="197167"/>
                  <a:pt x="895667" y="254000"/>
                  <a:pt x="825500" y="254000"/>
                </a:cubicBezTo>
                <a:lnTo>
                  <a:pt x="127000" y="254000"/>
                </a:lnTo>
                <a:cubicBezTo>
                  <a:pt x="56833" y="254000"/>
                  <a:pt x="0" y="197167"/>
                  <a:pt x="0" y="127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0D3684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pair-t-1"/>
          <p:cNvSpPr txBox="1"/>
          <p:nvPr/>
        </p:nvSpPr>
        <p:spPr>
          <a:xfrm>
            <a:off x="8190230" y="4719574"/>
            <a:ext cx="6248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4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产品化能力</a:t>
            </a:r>
          </a:p>
        </p:txBody>
      </p:sp>
      <p:sp>
        <p:nvSpPr>
          <p:cNvPr id="48" name="pair-p-1"/>
          <p:cNvSpPr txBox="1"/>
          <p:nvPr/>
        </p:nvSpPr>
        <p:spPr>
          <a:xfrm>
            <a:off x="9094089" y="4723495"/>
            <a:ext cx="1392873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把技术翻译成行业可用的产品</a:t>
            </a:r>
          </a:p>
        </p:txBody>
      </p:sp>
      <p:sp>
        <p:nvSpPr>
          <p:cNvPr id="49" name="pair-tag-2"/>
          <p:cNvSpPr/>
          <p:nvPr/>
        </p:nvSpPr>
        <p:spPr>
          <a:xfrm>
            <a:off x="8026400" y="5156200"/>
            <a:ext cx="952500" cy="254000"/>
          </a:xfrm>
          <a:custGeom>
            <a:avLst/>
            <a:gdLst/>
            <a:ahLst/>
            <a:cxnLst/>
            <a:rect l="0" t="0" r="r" b="b"/>
            <a:pathLst>
              <a:path w="952500" h="254000">
                <a:moveTo>
                  <a:pt x="127000" y="0"/>
                </a:moveTo>
                <a:lnTo>
                  <a:pt x="825500" y="0"/>
                </a:lnTo>
                <a:cubicBezTo>
                  <a:pt x="895667" y="0"/>
                  <a:pt x="952500" y="56833"/>
                  <a:pt x="952500" y="127000"/>
                </a:cubicBezTo>
                <a:lnTo>
                  <a:pt x="952500" y="127000"/>
                </a:lnTo>
                <a:cubicBezTo>
                  <a:pt x="952500" y="197167"/>
                  <a:pt x="895667" y="254000"/>
                  <a:pt x="825500" y="254000"/>
                </a:cubicBezTo>
                <a:lnTo>
                  <a:pt x="127000" y="254000"/>
                </a:lnTo>
                <a:cubicBezTo>
                  <a:pt x="56833" y="254000"/>
                  <a:pt x="0" y="197167"/>
                  <a:pt x="0" y="127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1B56A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pair-t-2"/>
          <p:cNvSpPr txBox="1"/>
          <p:nvPr/>
        </p:nvSpPr>
        <p:spPr>
          <a:xfrm>
            <a:off x="8243570" y="5202174"/>
            <a:ext cx="51816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4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落地能力</a:t>
            </a:r>
          </a:p>
        </p:txBody>
      </p:sp>
      <p:sp>
        <p:nvSpPr>
          <p:cNvPr id="51" name="pair-p-2"/>
          <p:cNvSpPr txBox="1"/>
          <p:nvPr/>
        </p:nvSpPr>
        <p:spPr>
          <a:xfrm>
            <a:off x="9094089" y="5206095"/>
            <a:ext cx="1392873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方案能在客户现场跑通并见效</a:t>
            </a:r>
          </a:p>
        </p:txBody>
      </p:sp>
      <p:sp>
        <p:nvSpPr>
          <p:cNvPr id="52" name="pair-tag-3"/>
          <p:cNvSpPr/>
          <p:nvPr/>
        </p:nvSpPr>
        <p:spPr>
          <a:xfrm>
            <a:off x="8026400" y="5638800"/>
            <a:ext cx="952500" cy="254000"/>
          </a:xfrm>
          <a:custGeom>
            <a:avLst/>
            <a:gdLst/>
            <a:ahLst/>
            <a:cxnLst/>
            <a:rect l="0" t="0" r="r" b="b"/>
            <a:pathLst>
              <a:path w="952500" h="254000">
                <a:moveTo>
                  <a:pt x="127000" y="0"/>
                </a:moveTo>
                <a:lnTo>
                  <a:pt x="825500" y="0"/>
                </a:lnTo>
                <a:cubicBezTo>
                  <a:pt x="895667" y="0"/>
                  <a:pt x="952500" y="56833"/>
                  <a:pt x="952500" y="127000"/>
                </a:cubicBezTo>
                <a:lnTo>
                  <a:pt x="952500" y="127000"/>
                </a:lnTo>
                <a:cubicBezTo>
                  <a:pt x="952500" y="197167"/>
                  <a:pt x="895667" y="254000"/>
                  <a:pt x="825500" y="254000"/>
                </a:cubicBezTo>
                <a:lnTo>
                  <a:pt x="127000" y="254000"/>
                </a:lnTo>
                <a:cubicBezTo>
                  <a:pt x="56833" y="254000"/>
                  <a:pt x="0" y="197167"/>
                  <a:pt x="0" y="127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124190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pair-t-3"/>
          <p:cNvSpPr txBox="1"/>
          <p:nvPr/>
        </p:nvSpPr>
        <p:spPr>
          <a:xfrm>
            <a:off x="8190230" y="5684774"/>
            <a:ext cx="6248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4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规模化能力</a:t>
            </a:r>
          </a:p>
        </p:txBody>
      </p:sp>
      <p:sp>
        <p:nvSpPr>
          <p:cNvPr id="54" name="pair-p-3"/>
          <p:cNvSpPr txBox="1"/>
          <p:nvPr/>
        </p:nvSpPr>
        <p:spPr>
          <a:xfrm>
            <a:off x="9094089" y="5688695"/>
            <a:ext cx="129254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标准交付可快速复制到全国</a:t>
            </a:r>
          </a:p>
        </p:txBody>
      </p:sp>
      <p:cxnSp>
        <p:nvCxnSpPr>
          <p:cNvPr id="55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6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核心竞争力 · 三维交汇</a:t>
            </a:r>
          </a:p>
        </p:txBody>
      </p:sp>
      <p:sp>
        <p:nvSpPr>
          <p:cNvPr id="57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数字化能力矩阵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62801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CAPABILITY MATRIX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151493" y="673132"/>
            <a:ext cx="246926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三个层级 × 三大领域，共九项能力的建设现状</a:t>
            </a:r>
          </a:p>
        </p:txBody>
      </p:sp>
      <p:sp>
        <p:nvSpPr>
          <p:cNvPr id="10" name="col-1"/>
          <p:cNvSpPr txBox="1"/>
          <p:nvPr/>
        </p:nvSpPr>
        <p:spPr>
          <a:xfrm>
            <a:off x="3614738" y="1544955"/>
            <a:ext cx="54292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技术域</a:t>
            </a:r>
          </a:p>
        </p:txBody>
      </p:sp>
      <p:sp>
        <p:nvSpPr>
          <p:cNvPr id="11" name="col-l-1"/>
          <p:cNvSpPr/>
          <p:nvPr/>
        </p:nvSpPr>
        <p:spPr>
          <a:xfrm>
            <a:off x="3721100" y="1778000"/>
            <a:ext cx="330200" cy="1905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col-2"/>
          <p:cNvSpPr txBox="1"/>
          <p:nvPr/>
        </p:nvSpPr>
        <p:spPr>
          <a:xfrm>
            <a:off x="6065838" y="1544955"/>
            <a:ext cx="54292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运营域</a:t>
            </a:r>
          </a:p>
        </p:txBody>
      </p:sp>
      <p:sp>
        <p:nvSpPr>
          <p:cNvPr id="13" name="col-l-2"/>
          <p:cNvSpPr/>
          <p:nvPr/>
        </p:nvSpPr>
        <p:spPr>
          <a:xfrm>
            <a:off x="6172200" y="1778000"/>
            <a:ext cx="330200" cy="19050"/>
          </a:xfrm>
          <a:prstGeom prst="roundRect">
            <a:avLst>
              <a:gd name="adj" fmla="val 50000"/>
            </a:avLst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col-3"/>
          <p:cNvSpPr txBox="1"/>
          <p:nvPr/>
        </p:nvSpPr>
        <p:spPr>
          <a:xfrm>
            <a:off x="8516938" y="1544955"/>
            <a:ext cx="54292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生态域</a:t>
            </a:r>
          </a:p>
        </p:txBody>
      </p:sp>
      <p:sp>
        <p:nvSpPr>
          <p:cNvPr id="15" name="col-l-3"/>
          <p:cNvSpPr/>
          <p:nvPr/>
        </p:nvSpPr>
        <p:spPr>
          <a:xfrm>
            <a:off x="8623300" y="1778000"/>
            <a:ext cx="330200" cy="19050"/>
          </a:xfrm>
          <a:prstGeom prst="roundRect">
            <a:avLst>
              <a:gd name="adj" fmla="val 50000"/>
            </a:avLst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row-1"/>
          <p:cNvSpPr/>
          <p:nvPr/>
        </p:nvSpPr>
        <p:spPr>
          <a:xfrm>
            <a:off x="952500" y="1879600"/>
            <a:ext cx="1574800" cy="1219200"/>
          </a:xfrm>
          <a:custGeom>
            <a:avLst/>
            <a:gdLst/>
            <a:ahLst/>
            <a:cxnLst/>
            <a:rect l="0" t="0" r="r" b="b"/>
            <a:pathLst>
              <a:path w="1574800" h="1219200">
                <a:moveTo>
                  <a:pt x="101600" y="0"/>
                </a:moveTo>
                <a:lnTo>
                  <a:pt x="1473200" y="0"/>
                </a:lnTo>
                <a:cubicBezTo>
                  <a:pt x="1529334" y="0"/>
                  <a:pt x="1574800" y="45466"/>
                  <a:pt x="1574800" y="101600"/>
                </a:cubicBezTo>
                <a:lnTo>
                  <a:pt x="1574800" y="1117600"/>
                </a:lnTo>
                <a:cubicBezTo>
                  <a:pt x="1574800" y="1173734"/>
                  <a:pt x="1529334" y="1219200"/>
                  <a:pt x="1473200" y="1219200"/>
                </a:cubicBezTo>
                <a:lnTo>
                  <a:pt x="101600" y="1219200"/>
                </a:lnTo>
                <a:cubicBezTo>
                  <a:pt x="45466" y="1219200"/>
                  <a:pt x="0" y="1173734"/>
                  <a:pt x="0" y="1117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row-bar-1"/>
          <p:cNvSpPr/>
          <p:nvPr/>
        </p:nvSpPr>
        <p:spPr>
          <a:xfrm>
            <a:off x="952500" y="1879600"/>
            <a:ext cx="31750" cy="1219200"/>
          </a:xfrm>
          <a:custGeom>
            <a:avLst/>
            <a:gdLst/>
            <a:ahLst/>
            <a:cxnLst/>
            <a:rect l="0" t="0" r="r" b="b"/>
            <a:pathLst>
              <a:path w="31750" h="1219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1203325"/>
                </a:lnTo>
                <a:cubicBezTo>
                  <a:pt x="31750" y="1212088"/>
                  <a:pt x="24638" y="1219200"/>
                  <a:pt x="15875" y="1219200"/>
                </a:cubicBezTo>
                <a:lnTo>
                  <a:pt x="15875" y="1219200"/>
                </a:lnTo>
                <a:cubicBezTo>
                  <a:pt x="7112" y="1219200"/>
                  <a:pt x="0" y="1212088"/>
                  <a:pt x="0" y="1203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row-cn-1"/>
          <p:cNvSpPr txBox="1"/>
          <p:nvPr/>
        </p:nvSpPr>
        <p:spPr>
          <a:xfrm>
            <a:off x="1137412" y="2110486"/>
            <a:ext cx="641985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领先层</a:t>
            </a:r>
          </a:p>
        </p:txBody>
      </p:sp>
      <p:sp>
        <p:nvSpPr>
          <p:cNvPr id="19" name="row-en-1"/>
          <p:cNvSpPr txBox="1"/>
          <p:nvPr/>
        </p:nvSpPr>
        <p:spPr>
          <a:xfrm>
            <a:off x="1145032" y="2354008"/>
            <a:ext cx="56184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7E93AE"/>
                </a:solidFill>
                <a:latin typeface="Arial"/>
                <a:ea typeface="Arial"/>
                <a:cs typeface="Arial"/>
              </a:rPr>
              <a:t>LEADING</a:t>
            </a:r>
          </a:p>
        </p:txBody>
      </p:sp>
      <p:sp>
        <p:nvSpPr>
          <p:cNvPr id="20" name="row-p-1"/>
          <p:cNvSpPr txBox="1"/>
          <p:nvPr/>
        </p:nvSpPr>
        <p:spPr>
          <a:xfrm>
            <a:off x="1144651" y="2591387"/>
            <a:ext cx="74072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已形成行业标杆</a:t>
            </a:r>
          </a:p>
        </p:txBody>
      </p:sp>
      <p:sp>
        <p:nvSpPr>
          <p:cNvPr id="21" name="cell-1-1"/>
          <p:cNvSpPr/>
          <p:nvPr/>
        </p:nvSpPr>
        <p:spPr>
          <a:xfrm>
            <a:off x="2730500" y="1879600"/>
            <a:ext cx="2311400" cy="1219200"/>
          </a:xfrm>
          <a:custGeom>
            <a:avLst/>
            <a:gdLst/>
            <a:ahLst/>
            <a:cxnLst/>
            <a:rect l="0" t="0" r="r" b="b"/>
            <a:pathLst>
              <a:path w="2311400" h="1219200">
                <a:moveTo>
                  <a:pt x="101600" y="0"/>
                </a:moveTo>
                <a:lnTo>
                  <a:pt x="2209800" y="0"/>
                </a:lnTo>
                <a:cubicBezTo>
                  <a:pt x="2265934" y="0"/>
                  <a:pt x="2311400" y="45466"/>
                  <a:pt x="2311400" y="101600"/>
                </a:cubicBezTo>
                <a:lnTo>
                  <a:pt x="2311400" y="1117600"/>
                </a:lnTo>
                <a:cubicBezTo>
                  <a:pt x="2311400" y="1173734"/>
                  <a:pt x="2265934" y="1219200"/>
                  <a:pt x="2209800" y="1219200"/>
                </a:cubicBezTo>
                <a:lnTo>
                  <a:pt x="101600" y="1219200"/>
                </a:lnTo>
                <a:cubicBezTo>
                  <a:pt x="45466" y="1219200"/>
                  <a:pt x="0" y="1173734"/>
                  <a:pt x="0" y="1117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23519A"/>
              </a:gs>
              <a:gs pos="100000">
                <a:srgbClr val="0B3E8F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icon-brain"/>
          <p:cNvSpPr/>
          <p:nvPr/>
        </p:nvSpPr>
        <p:spPr>
          <a:xfrm>
            <a:off x="2966375" y="2155825"/>
            <a:ext cx="112451" cy="106362"/>
          </a:xfrm>
          <a:custGeom>
            <a:avLst/>
            <a:gdLst/>
            <a:ahLst/>
            <a:cxnLst/>
            <a:rect l="0" t="0" r="r" b="b"/>
            <a:pathLst>
              <a:path w="112451" h="106362">
                <a:moveTo>
                  <a:pt x="56225" y="0"/>
                </a:moveTo>
                <a:lnTo>
                  <a:pt x="56225" y="106362"/>
                </a:lnTo>
                <a:moveTo>
                  <a:pt x="35588" y="0"/>
                </a:moveTo>
                <a:cubicBezTo>
                  <a:pt x="27841" y="-190"/>
                  <a:pt x="20602" y="3619"/>
                  <a:pt x="16411" y="10096"/>
                </a:cubicBezTo>
                <a:cubicBezTo>
                  <a:pt x="12156" y="16574"/>
                  <a:pt x="11648" y="24765"/>
                  <a:pt x="14950" y="31750"/>
                </a:cubicBezTo>
                <a:cubicBezTo>
                  <a:pt x="6886" y="34544"/>
                  <a:pt x="1171" y="41656"/>
                  <a:pt x="155" y="50101"/>
                </a:cubicBezTo>
                <a:cubicBezTo>
                  <a:pt x="-861" y="58547"/>
                  <a:pt x="3012" y="66802"/>
                  <a:pt x="10188" y="71438"/>
                </a:cubicBezTo>
                <a:cubicBezTo>
                  <a:pt x="5044" y="79312"/>
                  <a:pt x="5362" y="89599"/>
                  <a:pt x="11077" y="97092"/>
                </a:cubicBezTo>
                <a:cubicBezTo>
                  <a:pt x="16792" y="104585"/>
                  <a:pt x="26634" y="107632"/>
                  <a:pt x="35588" y="104775"/>
                </a:cubicBezTo>
                <a:moveTo>
                  <a:pt x="76863" y="0"/>
                </a:moveTo>
                <a:cubicBezTo>
                  <a:pt x="84610" y="-190"/>
                  <a:pt x="91849" y="3619"/>
                  <a:pt x="96040" y="10096"/>
                </a:cubicBezTo>
                <a:cubicBezTo>
                  <a:pt x="100294" y="16574"/>
                  <a:pt x="100802" y="24765"/>
                  <a:pt x="97500" y="31750"/>
                </a:cubicBezTo>
                <a:cubicBezTo>
                  <a:pt x="105565" y="34544"/>
                  <a:pt x="111280" y="41656"/>
                  <a:pt x="112296" y="50101"/>
                </a:cubicBezTo>
                <a:cubicBezTo>
                  <a:pt x="113312" y="58547"/>
                  <a:pt x="109438" y="66802"/>
                  <a:pt x="102263" y="71438"/>
                </a:cubicBezTo>
                <a:cubicBezTo>
                  <a:pt x="107406" y="79312"/>
                  <a:pt x="107089" y="89599"/>
                  <a:pt x="101374" y="97092"/>
                </a:cubicBezTo>
                <a:cubicBezTo>
                  <a:pt x="95659" y="104585"/>
                  <a:pt x="85816" y="107632"/>
                  <a:pt x="76863" y="104775"/>
                </a:cubicBezTo>
              </a:path>
            </a:pathLst>
          </a:custGeom>
          <a:noFill/>
          <a:ln w="1206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cell-cn-1-1"/>
          <p:cNvSpPr txBox="1"/>
          <p:nvPr/>
        </p:nvSpPr>
        <p:spPr>
          <a:xfrm>
            <a:off x="3246374" y="2080228"/>
            <a:ext cx="76136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9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智能决策</a:t>
            </a:r>
          </a:p>
        </p:txBody>
      </p:sp>
      <p:sp>
        <p:nvSpPr>
          <p:cNvPr id="24" name="cell-rule-1-1"/>
          <p:cNvSpPr/>
          <p:nvPr/>
        </p:nvSpPr>
        <p:spPr>
          <a:xfrm>
            <a:off x="3022600" y="2413000"/>
            <a:ext cx="254000" cy="1524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cell-p-1-1"/>
          <p:cNvSpPr txBox="1"/>
          <p:nvPr/>
        </p:nvSpPr>
        <p:spPr>
          <a:xfrm>
            <a:off x="3009265" y="25170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算法驱动的经营预测</a:t>
            </a:r>
          </a:p>
        </p:txBody>
      </p:sp>
      <p:sp>
        <p:nvSpPr>
          <p:cNvPr id="26" name="lv-1-1-1"/>
          <p:cNvSpPr/>
          <p:nvPr/>
        </p:nvSpPr>
        <p:spPr>
          <a:xfrm>
            <a:off x="3028950" y="28638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lv-1-1-2"/>
          <p:cNvSpPr/>
          <p:nvPr/>
        </p:nvSpPr>
        <p:spPr>
          <a:xfrm>
            <a:off x="3155950" y="28638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lv-1-1-3"/>
          <p:cNvSpPr/>
          <p:nvPr/>
        </p:nvSpPr>
        <p:spPr>
          <a:xfrm>
            <a:off x="3282950" y="28638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lv-1-1-4"/>
          <p:cNvSpPr/>
          <p:nvPr/>
        </p:nvSpPr>
        <p:spPr>
          <a:xfrm>
            <a:off x="3409950" y="28638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lv-1-1-5"/>
          <p:cNvSpPr/>
          <p:nvPr/>
        </p:nvSpPr>
        <p:spPr>
          <a:xfrm>
            <a:off x="3536950" y="28638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lvt-1-1"/>
          <p:cNvSpPr txBox="1"/>
          <p:nvPr/>
        </p:nvSpPr>
        <p:spPr>
          <a:xfrm>
            <a:off x="4612196" y="2819987"/>
            <a:ext cx="23755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>
                <a:solidFill>
                  <a:srgbClr val="FFFFFF">
                    <a:alpha val="80000"/>
                  </a:srgbClr>
                </a:solidFill>
                <a:latin typeface="Arial"/>
                <a:ea typeface="Arial"/>
                <a:cs typeface="Arial"/>
              </a:rPr>
              <a:t>5/5</a:t>
            </a:r>
          </a:p>
        </p:txBody>
      </p:sp>
      <p:sp>
        <p:nvSpPr>
          <p:cNvPr id="32" name="cell-1-2"/>
          <p:cNvSpPr/>
          <p:nvPr/>
        </p:nvSpPr>
        <p:spPr>
          <a:xfrm>
            <a:off x="5181600" y="1879600"/>
            <a:ext cx="2311400" cy="1219200"/>
          </a:xfrm>
          <a:custGeom>
            <a:avLst/>
            <a:gdLst/>
            <a:ahLst/>
            <a:cxnLst/>
            <a:rect l="0" t="0" r="r" b="b"/>
            <a:pathLst>
              <a:path w="2311400" h="1219200">
                <a:moveTo>
                  <a:pt x="101600" y="0"/>
                </a:moveTo>
                <a:lnTo>
                  <a:pt x="2209800" y="0"/>
                </a:lnTo>
                <a:cubicBezTo>
                  <a:pt x="2265934" y="0"/>
                  <a:pt x="2311400" y="45466"/>
                  <a:pt x="2311400" y="101600"/>
                </a:cubicBezTo>
                <a:lnTo>
                  <a:pt x="2311400" y="1117600"/>
                </a:lnTo>
                <a:cubicBezTo>
                  <a:pt x="2311400" y="1173734"/>
                  <a:pt x="2265934" y="1219200"/>
                  <a:pt x="2209800" y="1219200"/>
                </a:cubicBezTo>
                <a:lnTo>
                  <a:pt x="101600" y="1219200"/>
                </a:lnTo>
                <a:cubicBezTo>
                  <a:pt x="45466" y="1219200"/>
                  <a:pt x="0" y="1173734"/>
                  <a:pt x="0" y="1117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23519A"/>
              </a:gs>
              <a:gs pos="100000">
                <a:srgbClr val="0B3E8F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icon-globe"/>
          <p:cNvSpPr/>
          <p:nvPr/>
        </p:nvSpPr>
        <p:spPr>
          <a:xfrm>
            <a:off x="5405438" y="2141538"/>
            <a:ext cx="136525" cy="136525"/>
          </a:xfrm>
          <a:custGeom>
            <a:avLst/>
            <a:gdLst/>
            <a:ahLst/>
            <a:cxnLst/>
            <a:rect l="0" t="0" r="r" b="b"/>
            <a:pathLst>
              <a:path w="136525" h="136525">
                <a:moveTo>
                  <a:pt x="0" y="68262"/>
                </a:moveTo>
                <a:lnTo>
                  <a:pt x="136525" y="68262"/>
                </a:lnTo>
                <a:moveTo>
                  <a:pt x="68262" y="0"/>
                </a:moveTo>
                <a:cubicBezTo>
                  <a:pt x="87312" y="19875"/>
                  <a:pt x="96838" y="42862"/>
                  <a:pt x="96838" y="68262"/>
                </a:cubicBezTo>
                <a:cubicBezTo>
                  <a:pt x="96838" y="93662"/>
                  <a:pt x="87312" y="116650"/>
                  <a:pt x="68262" y="136525"/>
                </a:cubicBezTo>
                <a:cubicBezTo>
                  <a:pt x="49212" y="116650"/>
                  <a:pt x="39688" y="93662"/>
                  <a:pt x="39688" y="68262"/>
                </a:cubicBezTo>
                <a:cubicBezTo>
                  <a:pt x="39688" y="42862"/>
                  <a:pt x="49212" y="19875"/>
                  <a:pt x="68262" y="0"/>
                </a:cubicBezTo>
                <a:close/>
              </a:path>
            </a:pathLst>
          </a:custGeom>
          <a:noFill/>
          <a:ln w="1206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icon-globe"/>
          <p:cNvSpPr/>
          <p:nvPr/>
        </p:nvSpPr>
        <p:spPr>
          <a:xfrm>
            <a:off x="5405438" y="2141538"/>
            <a:ext cx="136525" cy="136525"/>
          </a:xfrm>
          <a:prstGeom prst="ellipse">
            <a:avLst/>
          </a:prstGeom>
          <a:noFill/>
          <a:ln w="1206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cell-cn-1-2"/>
          <p:cNvSpPr txBox="1"/>
          <p:nvPr/>
        </p:nvSpPr>
        <p:spPr>
          <a:xfrm>
            <a:off x="5697474" y="2080228"/>
            <a:ext cx="76136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9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全域运营</a:t>
            </a:r>
          </a:p>
        </p:txBody>
      </p:sp>
      <p:sp>
        <p:nvSpPr>
          <p:cNvPr id="36" name="cell-rule-1-2"/>
          <p:cNvSpPr/>
          <p:nvPr/>
        </p:nvSpPr>
        <p:spPr>
          <a:xfrm>
            <a:off x="5473700" y="2413000"/>
            <a:ext cx="254000" cy="1524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cell-p-1-2"/>
          <p:cNvSpPr txBox="1"/>
          <p:nvPr/>
        </p:nvSpPr>
        <p:spPr>
          <a:xfrm>
            <a:off x="5460365" y="25170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线上线下一体化调度</a:t>
            </a:r>
          </a:p>
        </p:txBody>
      </p:sp>
      <p:sp>
        <p:nvSpPr>
          <p:cNvPr id="38" name="lv-1-2-1"/>
          <p:cNvSpPr/>
          <p:nvPr/>
        </p:nvSpPr>
        <p:spPr>
          <a:xfrm>
            <a:off x="5480050" y="28638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lv-1-2-2"/>
          <p:cNvSpPr/>
          <p:nvPr/>
        </p:nvSpPr>
        <p:spPr>
          <a:xfrm>
            <a:off x="5607050" y="28638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lv-1-2-3"/>
          <p:cNvSpPr/>
          <p:nvPr/>
        </p:nvSpPr>
        <p:spPr>
          <a:xfrm>
            <a:off x="5734050" y="28638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lv-1-2-4"/>
          <p:cNvSpPr/>
          <p:nvPr/>
        </p:nvSpPr>
        <p:spPr>
          <a:xfrm>
            <a:off x="5861050" y="28638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lv-1-2-5"/>
          <p:cNvSpPr/>
          <p:nvPr/>
        </p:nvSpPr>
        <p:spPr>
          <a:xfrm>
            <a:off x="5988050" y="2863850"/>
            <a:ext cx="63500" cy="63500"/>
          </a:xfrm>
          <a:prstGeom prst="ellipse">
            <a:avLst/>
          </a:prstGeom>
          <a:solidFill>
            <a:srgbClr val="FFFFFF">
              <a:alpha val="3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lvt-1-2"/>
          <p:cNvSpPr txBox="1"/>
          <p:nvPr/>
        </p:nvSpPr>
        <p:spPr>
          <a:xfrm>
            <a:off x="7063296" y="2819987"/>
            <a:ext cx="23755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>
                <a:solidFill>
                  <a:srgbClr val="FFFFFF">
                    <a:alpha val="80000"/>
                  </a:srgbClr>
                </a:solidFill>
                <a:latin typeface="Arial"/>
                <a:ea typeface="Arial"/>
                <a:cs typeface="Arial"/>
              </a:rPr>
              <a:t>4/5</a:t>
            </a:r>
          </a:p>
        </p:txBody>
      </p:sp>
      <p:sp>
        <p:nvSpPr>
          <p:cNvPr id="44" name="cell-1-3"/>
          <p:cNvSpPr/>
          <p:nvPr/>
        </p:nvSpPr>
        <p:spPr>
          <a:xfrm>
            <a:off x="7632700" y="1879600"/>
            <a:ext cx="2311400" cy="1219200"/>
          </a:xfrm>
          <a:custGeom>
            <a:avLst/>
            <a:gdLst/>
            <a:ahLst/>
            <a:cxnLst/>
            <a:rect l="0" t="0" r="r" b="b"/>
            <a:pathLst>
              <a:path w="2311400" h="1219200">
                <a:moveTo>
                  <a:pt x="101600" y="0"/>
                </a:moveTo>
                <a:lnTo>
                  <a:pt x="2209800" y="0"/>
                </a:lnTo>
                <a:cubicBezTo>
                  <a:pt x="2265934" y="0"/>
                  <a:pt x="2311400" y="45466"/>
                  <a:pt x="2311400" y="101600"/>
                </a:cubicBezTo>
                <a:lnTo>
                  <a:pt x="2311400" y="1117600"/>
                </a:lnTo>
                <a:cubicBezTo>
                  <a:pt x="2311400" y="1173734"/>
                  <a:pt x="2265934" y="1219200"/>
                  <a:pt x="2209800" y="1219200"/>
                </a:cubicBezTo>
                <a:lnTo>
                  <a:pt x="101600" y="1219200"/>
                </a:lnTo>
                <a:cubicBezTo>
                  <a:pt x="45466" y="1219200"/>
                  <a:pt x="0" y="1173734"/>
                  <a:pt x="0" y="1117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23519A"/>
              </a:gs>
              <a:gs pos="100000">
                <a:srgbClr val="0B3E8F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icon-network"/>
          <p:cNvSpPr/>
          <p:nvPr/>
        </p:nvSpPr>
        <p:spPr>
          <a:xfrm>
            <a:off x="7900988" y="2181225"/>
            <a:ext cx="47625" cy="55562"/>
          </a:xfrm>
          <a:custGeom>
            <a:avLst/>
            <a:gdLst/>
            <a:ahLst/>
            <a:cxnLst/>
            <a:rect l="0" t="0" r="r" b="b"/>
            <a:pathLst>
              <a:path w="47625" h="55562">
                <a:moveTo>
                  <a:pt x="23812" y="0"/>
                </a:moveTo>
                <a:lnTo>
                  <a:pt x="23812" y="25400"/>
                </a:lnTo>
                <a:moveTo>
                  <a:pt x="0" y="55562"/>
                </a:moveTo>
                <a:lnTo>
                  <a:pt x="17462" y="34925"/>
                </a:lnTo>
                <a:moveTo>
                  <a:pt x="47625" y="55562"/>
                </a:moveTo>
                <a:lnTo>
                  <a:pt x="30162" y="34925"/>
                </a:lnTo>
              </a:path>
            </a:pathLst>
          </a:custGeom>
          <a:noFill/>
          <a:ln w="1206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icon-network"/>
          <p:cNvSpPr/>
          <p:nvPr/>
        </p:nvSpPr>
        <p:spPr>
          <a:xfrm>
            <a:off x="7904162" y="2141538"/>
            <a:ext cx="41275" cy="41275"/>
          </a:xfrm>
          <a:prstGeom prst="ellipse">
            <a:avLst/>
          </a:prstGeom>
          <a:noFill/>
          <a:ln w="1206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icon-network"/>
          <p:cNvSpPr/>
          <p:nvPr/>
        </p:nvSpPr>
        <p:spPr>
          <a:xfrm>
            <a:off x="7864475" y="2232025"/>
            <a:ext cx="41275" cy="41275"/>
          </a:xfrm>
          <a:prstGeom prst="ellipse">
            <a:avLst/>
          </a:prstGeom>
          <a:noFill/>
          <a:ln w="1206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icon-network"/>
          <p:cNvSpPr/>
          <p:nvPr/>
        </p:nvSpPr>
        <p:spPr>
          <a:xfrm>
            <a:off x="7943850" y="2232025"/>
            <a:ext cx="41275" cy="41275"/>
          </a:xfrm>
          <a:prstGeom prst="ellipse">
            <a:avLst/>
          </a:prstGeom>
          <a:noFill/>
          <a:ln w="1206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cell-cn-1-3"/>
          <p:cNvSpPr txBox="1"/>
          <p:nvPr/>
        </p:nvSpPr>
        <p:spPr>
          <a:xfrm>
            <a:off x="8148574" y="2080228"/>
            <a:ext cx="76136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9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开放平台</a:t>
            </a:r>
          </a:p>
        </p:txBody>
      </p:sp>
      <p:sp>
        <p:nvSpPr>
          <p:cNvPr id="50" name="cell-rule-1-3"/>
          <p:cNvSpPr/>
          <p:nvPr/>
        </p:nvSpPr>
        <p:spPr>
          <a:xfrm>
            <a:off x="7924800" y="2413000"/>
            <a:ext cx="254000" cy="1524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cell-p-1-3"/>
          <p:cNvSpPr txBox="1"/>
          <p:nvPr/>
        </p:nvSpPr>
        <p:spPr>
          <a:xfrm>
            <a:off x="7911465" y="25170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伙伴可自助接入共建</a:t>
            </a:r>
          </a:p>
        </p:txBody>
      </p:sp>
      <p:sp>
        <p:nvSpPr>
          <p:cNvPr id="52" name="lv-1-3-1"/>
          <p:cNvSpPr/>
          <p:nvPr/>
        </p:nvSpPr>
        <p:spPr>
          <a:xfrm>
            <a:off x="7931150" y="28638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lv-1-3-2"/>
          <p:cNvSpPr/>
          <p:nvPr/>
        </p:nvSpPr>
        <p:spPr>
          <a:xfrm>
            <a:off x="8058150" y="28638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lv-1-3-3"/>
          <p:cNvSpPr/>
          <p:nvPr/>
        </p:nvSpPr>
        <p:spPr>
          <a:xfrm>
            <a:off x="8185150" y="28638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lv-1-3-4"/>
          <p:cNvSpPr/>
          <p:nvPr/>
        </p:nvSpPr>
        <p:spPr>
          <a:xfrm>
            <a:off x="8312150" y="28638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lv-1-3-5"/>
          <p:cNvSpPr/>
          <p:nvPr/>
        </p:nvSpPr>
        <p:spPr>
          <a:xfrm>
            <a:off x="8439150" y="2863850"/>
            <a:ext cx="63500" cy="63500"/>
          </a:xfrm>
          <a:prstGeom prst="ellipse">
            <a:avLst/>
          </a:prstGeom>
          <a:solidFill>
            <a:srgbClr val="FFFFFF">
              <a:alpha val="3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lvt-1-3"/>
          <p:cNvSpPr txBox="1"/>
          <p:nvPr/>
        </p:nvSpPr>
        <p:spPr>
          <a:xfrm>
            <a:off x="9514396" y="2819987"/>
            <a:ext cx="23755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>
                <a:solidFill>
                  <a:srgbClr val="FFFFFF">
                    <a:alpha val="80000"/>
                  </a:srgbClr>
                </a:solidFill>
                <a:latin typeface="Arial"/>
                <a:ea typeface="Arial"/>
                <a:cs typeface="Arial"/>
              </a:rPr>
              <a:t>4/5</a:t>
            </a:r>
          </a:p>
        </p:txBody>
      </p:sp>
      <p:sp>
        <p:nvSpPr>
          <p:cNvPr id="58" name="row-2"/>
          <p:cNvSpPr/>
          <p:nvPr/>
        </p:nvSpPr>
        <p:spPr>
          <a:xfrm>
            <a:off x="952500" y="3238500"/>
            <a:ext cx="1574800" cy="1219200"/>
          </a:xfrm>
          <a:custGeom>
            <a:avLst/>
            <a:gdLst/>
            <a:ahLst/>
            <a:cxnLst/>
            <a:rect l="0" t="0" r="r" b="b"/>
            <a:pathLst>
              <a:path w="1574800" h="1219200">
                <a:moveTo>
                  <a:pt x="101600" y="0"/>
                </a:moveTo>
                <a:lnTo>
                  <a:pt x="1473200" y="0"/>
                </a:lnTo>
                <a:cubicBezTo>
                  <a:pt x="1529334" y="0"/>
                  <a:pt x="1574800" y="45466"/>
                  <a:pt x="1574800" y="101600"/>
                </a:cubicBezTo>
                <a:lnTo>
                  <a:pt x="1574800" y="1117600"/>
                </a:lnTo>
                <a:cubicBezTo>
                  <a:pt x="1574800" y="1173734"/>
                  <a:pt x="1529334" y="1219200"/>
                  <a:pt x="1473200" y="1219200"/>
                </a:cubicBezTo>
                <a:lnTo>
                  <a:pt x="101600" y="1219200"/>
                </a:lnTo>
                <a:cubicBezTo>
                  <a:pt x="45466" y="1219200"/>
                  <a:pt x="0" y="1173734"/>
                  <a:pt x="0" y="1117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row-bar-2"/>
          <p:cNvSpPr/>
          <p:nvPr/>
        </p:nvSpPr>
        <p:spPr>
          <a:xfrm>
            <a:off x="952500" y="3238500"/>
            <a:ext cx="31750" cy="1219200"/>
          </a:xfrm>
          <a:custGeom>
            <a:avLst/>
            <a:gdLst/>
            <a:ahLst/>
            <a:cxnLst/>
            <a:rect l="0" t="0" r="r" b="b"/>
            <a:pathLst>
              <a:path w="31750" h="1219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1203325"/>
                </a:lnTo>
                <a:cubicBezTo>
                  <a:pt x="31750" y="1212088"/>
                  <a:pt x="24638" y="1219200"/>
                  <a:pt x="15875" y="1219200"/>
                </a:cubicBezTo>
                <a:lnTo>
                  <a:pt x="15875" y="1219200"/>
                </a:lnTo>
                <a:cubicBezTo>
                  <a:pt x="7112" y="1219200"/>
                  <a:pt x="0" y="1212088"/>
                  <a:pt x="0" y="1203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row-cn-2"/>
          <p:cNvSpPr txBox="1"/>
          <p:nvPr/>
        </p:nvSpPr>
        <p:spPr>
          <a:xfrm>
            <a:off x="1137412" y="3469386"/>
            <a:ext cx="641985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进阶层</a:t>
            </a:r>
          </a:p>
        </p:txBody>
      </p:sp>
      <p:sp>
        <p:nvSpPr>
          <p:cNvPr id="61" name="row-en-2"/>
          <p:cNvSpPr txBox="1"/>
          <p:nvPr/>
        </p:nvSpPr>
        <p:spPr>
          <a:xfrm>
            <a:off x="1145032" y="3712908"/>
            <a:ext cx="6306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7E93AE"/>
                </a:solidFill>
                <a:latin typeface="Arial"/>
                <a:ea typeface="Arial"/>
                <a:cs typeface="Arial"/>
              </a:rPr>
              <a:t>ADVANCED</a:t>
            </a:r>
          </a:p>
        </p:txBody>
      </p:sp>
      <p:sp>
        <p:nvSpPr>
          <p:cNvPr id="62" name="row-p-2"/>
          <p:cNvSpPr txBox="1"/>
          <p:nvPr/>
        </p:nvSpPr>
        <p:spPr>
          <a:xfrm>
            <a:off x="1144651" y="3950287"/>
            <a:ext cx="9286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具备完整能力并持续</a:t>
            </a:r>
          </a:p>
        </p:txBody>
      </p:sp>
      <p:sp>
        <p:nvSpPr>
          <p:cNvPr id="63" name="cell-2-1"/>
          <p:cNvSpPr/>
          <p:nvPr/>
        </p:nvSpPr>
        <p:spPr>
          <a:xfrm>
            <a:off x="2730500" y="3238500"/>
            <a:ext cx="2311400" cy="1219200"/>
          </a:xfrm>
          <a:custGeom>
            <a:avLst/>
            <a:gdLst/>
            <a:ahLst/>
            <a:cxnLst/>
            <a:rect l="0" t="0" r="r" b="b"/>
            <a:pathLst>
              <a:path w="2311400" h="1219200">
                <a:moveTo>
                  <a:pt x="101600" y="0"/>
                </a:moveTo>
                <a:lnTo>
                  <a:pt x="2209800" y="0"/>
                </a:lnTo>
                <a:cubicBezTo>
                  <a:pt x="2265934" y="0"/>
                  <a:pt x="2311400" y="45466"/>
                  <a:pt x="2311400" y="101600"/>
                </a:cubicBezTo>
                <a:lnTo>
                  <a:pt x="2311400" y="1117600"/>
                </a:lnTo>
                <a:cubicBezTo>
                  <a:pt x="2311400" y="1173734"/>
                  <a:pt x="2265934" y="1219200"/>
                  <a:pt x="2209800" y="1219200"/>
                </a:cubicBezTo>
                <a:lnTo>
                  <a:pt x="101600" y="1219200"/>
                </a:lnTo>
                <a:cubicBezTo>
                  <a:pt x="45466" y="1219200"/>
                  <a:pt x="0" y="1173734"/>
                  <a:pt x="0" y="1117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3A77BD"/>
              </a:gs>
              <a:gs pos="100000">
                <a:srgbClr val="2468B6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icon-db"/>
          <p:cNvSpPr/>
          <p:nvPr/>
        </p:nvSpPr>
        <p:spPr>
          <a:xfrm>
            <a:off x="2963862" y="3497262"/>
            <a:ext cx="117475" cy="142875"/>
          </a:xfrm>
          <a:custGeom>
            <a:avLst/>
            <a:gdLst/>
            <a:ahLst/>
            <a:cxnLst/>
            <a:rect l="0" t="0" r="r" b="b"/>
            <a:pathLst>
              <a:path w="117475" h="142875">
                <a:moveTo>
                  <a:pt x="58738" y="34925"/>
                </a:moveTo>
                <a:cubicBezTo>
                  <a:pt x="91250" y="34925"/>
                  <a:pt x="117475" y="26988"/>
                  <a:pt x="117475" y="17462"/>
                </a:cubicBezTo>
                <a:cubicBezTo>
                  <a:pt x="117475" y="7938"/>
                  <a:pt x="91250" y="0"/>
                  <a:pt x="58738" y="0"/>
                </a:cubicBezTo>
                <a:cubicBezTo>
                  <a:pt x="26225" y="0"/>
                  <a:pt x="0" y="7938"/>
                  <a:pt x="0" y="17462"/>
                </a:cubicBezTo>
                <a:cubicBezTo>
                  <a:pt x="0" y="26988"/>
                  <a:pt x="26225" y="34925"/>
                  <a:pt x="58738" y="34925"/>
                </a:cubicBezTo>
                <a:close/>
                <a:moveTo>
                  <a:pt x="0" y="17462"/>
                </a:moveTo>
                <a:lnTo>
                  <a:pt x="0" y="125412"/>
                </a:lnTo>
                <a:cubicBezTo>
                  <a:pt x="0" y="134938"/>
                  <a:pt x="26225" y="142875"/>
                  <a:pt x="58738" y="142875"/>
                </a:cubicBezTo>
                <a:cubicBezTo>
                  <a:pt x="91250" y="142875"/>
                  <a:pt x="117475" y="134938"/>
                  <a:pt x="117475" y="125412"/>
                </a:cubicBezTo>
                <a:lnTo>
                  <a:pt x="117475" y="17462"/>
                </a:lnTo>
                <a:moveTo>
                  <a:pt x="0" y="71438"/>
                </a:moveTo>
                <a:cubicBezTo>
                  <a:pt x="0" y="80962"/>
                  <a:pt x="26225" y="88900"/>
                  <a:pt x="58738" y="88900"/>
                </a:cubicBezTo>
                <a:cubicBezTo>
                  <a:pt x="91250" y="88900"/>
                  <a:pt x="117475" y="80962"/>
                  <a:pt x="117475" y="71438"/>
                </a:cubicBezTo>
              </a:path>
            </a:pathLst>
          </a:custGeom>
          <a:noFill/>
          <a:ln w="1206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cell-cn-2-1"/>
          <p:cNvSpPr txBox="1"/>
          <p:nvPr/>
        </p:nvSpPr>
        <p:spPr>
          <a:xfrm>
            <a:off x="3246374" y="3439128"/>
            <a:ext cx="76136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9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数据中台</a:t>
            </a:r>
          </a:p>
        </p:txBody>
      </p:sp>
      <p:sp>
        <p:nvSpPr>
          <p:cNvPr id="66" name="cell-rule-2-1"/>
          <p:cNvSpPr/>
          <p:nvPr/>
        </p:nvSpPr>
        <p:spPr>
          <a:xfrm>
            <a:off x="3022600" y="3771900"/>
            <a:ext cx="254000" cy="1524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cell-p-2-1"/>
          <p:cNvSpPr txBox="1"/>
          <p:nvPr/>
        </p:nvSpPr>
        <p:spPr>
          <a:xfrm>
            <a:off x="3009265" y="38759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统一口径与实时计算</a:t>
            </a:r>
          </a:p>
        </p:txBody>
      </p:sp>
      <p:sp>
        <p:nvSpPr>
          <p:cNvPr id="68" name="lv-2-1-1"/>
          <p:cNvSpPr/>
          <p:nvPr/>
        </p:nvSpPr>
        <p:spPr>
          <a:xfrm>
            <a:off x="3028950" y="42227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lv-2-1-2"/>
          <p:cNvSpPr/>
          <p:nvPr/>
        </p:nvSpPr>
        <p:spPr>
          <a:xfrm>
            <a:off x="3155950" y="42227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lv-2-1-3"/>
          <p:cNvSpPr/>
          <p:nvPr/>
        </p:nvSpPr>
        <p:spPr>
          <a:xfrm>
            <a:off x="3282950" y="42227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lv-2-1-4"/>
          <p:cNvSpPr/>
          <p:nvPr/>
        </p:nvSpPr>
        <p:spPr>
          <a:xfrm>
            <a:off x="3409950" y="42227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lv-2-1-5"/>
          <p:cNvSpPr/>
          <p:nvPr/>
        </p:nvSpPr>
        <p:spPr>
          <a:xfrm>
            <a:off x="3536950" y="4222750"/>
            <a:ext cx="63500" cy="63500"/>
          </a:xfrm>
          <a:prstGeom prst="ellipse">
            <a:avLst/>
          </a:prstGeom>
          <a:solidFill>
            <a:srgbClr val="FFFFFF">
              <a:alpha val="3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lvt-2-1"/>
          <p:cNvSpPr txBox="1"/>
          <p:nvPr/>
        </p:nvSpPr>
        <p:spPr>
          <a:xfrm>
            <a:off x="4612196" y="4178887"/>
            <a:ext cx="23755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>
                <a:solidFill>
                  <a:srgbClr val="FFFFFF">
                    <a:alpha val="80000"/>
                  </a:srgbClr>
                </a:solidFill>
                <a:latin typeface="Arial"/>
                <a:ea typeface="Arial"/>
                <a:cs typeface="Arial"/>
              </a:rPr>
              <a:t>4/5</a:t>
            </a:r>
          </a:p>
        </p:txBody>
      </p:sp>
      <p:sp>
        <p:nvSpPr>
          <p:cNvPr id="74" name="cell-2-2"/>
          <p:cNvSpPr/>
          <p:nvPr/>
        </p:nvSpPr>
        <p:spPr>
          <a:xfrm>
            <a:off x="5181600" y="3238500"/>
            <a:ext cx="2311400" cy="1219200"/>
          </a:xfrm>
          <a:custGeom>
            <a:avLst/>
            <a:gdLst/>
            <a:ahLst/>
            <a:cxnLst/>
            <a:rect l="0" t="0" r="r" b="b"/>
            <a:pathLst>
              <a:path w="2311400" h="1219200">
                <a:moveTo>
                  <a:pt x="101600" y="0"/>
                </a:moveTo>
                <a:lnTo>
                  <a:pt x="2209800" y="0"/>
                </a:lnTo>
                <a:cubicBezTo>
                  <a:pt x="2265934" y="0"/>
                  <a:pt x="2311400" y="45466"/>
                  <a:pt x="2311400" y="101600"/>
                </a:cubicBezTo>
                <a:lnTo>
                  <a:pt x="2311400" y="1117600"/>
                </a:lnTo>
                <a:cubicBezTo>
                  <a:pt x="2311400" y="1173734"/>
                  <a:pt x="2265934" y="1219200"/>
                  <a:pt x="2209800" y="1219200"/>
                </a:cubicBezTo>
                <a:lnTo>
                  <a:pt x="101600" y="1219200"/>
                </a:lnTo>
                <a:cubicBezTo>
                  <a:pt x="45466" y="1219200"/>
                  <a:pt x="0" y="1173734"/>
                  <a:pt x="0" y="1117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3A77BD"/>
              </a:gs>
              <a:gs pos="100000">
                <a:srgbClr val="2468B6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icon-process"/>
          <p:cNvSpPr/>
          <p:nvPr/>
        </p:nvSpPr>
        <p:spPr>
          <a:xfrm>
            <a:off x="5414962" y="3536950"/>
            <a:ext cx="117475" cy="63500"/>
          </a:xfrm>
          <a:custGeom>
            <a:avLst/>
            <a:gdLst/>
            <a:ahLst/>
            <a:cxnLst/>
            <a:rect l="0" t="0" r="r" b="b"/>
            <a:pathLst>
              <a:path w="117475" h="63500">
                <a:moveTo>
                  <a:pt x="0" y="0"/>
                </a:moveTo>
                <a:lnTo>
                  <a:pt x="41275" y="0"/>
                </a:lnTo>
                <a:lnTo>
                  <a:pt x="41275" y="41275"/>
                </a:lnTo>
                <a:lnTo>
                  <a:pt x="0" y="41275"/>
                </a:lnTo>
                <a:close/>
                <a:moveTo>
                  <a:pt x="76200" y="22225"/>
                </a:moveTo>
                <a:lnTo>
                  <a:pt x="117475" y="22225"/>
                </a:lnTo>
                <a:lnTo>
                  <a:pt x="117475" y="63500"/>
                </a:lnTo>
                <a:lnTo>
                  <a:pt x="76200" y="63500"/>
                </a:lnTo>
                <a:close/>
                <a:moveTo>
                  <a:pt x="41275" y="20638"/>
                </a:moveTo>
                <a:lnTo>
                  <a:pt x="76200" y="20638"/>
                </a:lnTo>
              </a:path>
            </a:pathLst>
          </a:custGeom>
          <a:noFill/>
          <a:ln w="1206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cell-cn-2-2"/>
          <p:cNvSpPr txBox="1"/>
          <p:nvPr/>
        </p:nvSpPr>
        <p:spPr>
          <a:xfrm>
            <a:off x="5697474" y="3439128"/>
            <a:ext cx="76136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9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流程自动</a:t>
            </a:r>
          </a:p>
        </p:txBody>
      </p:sp>
      <p:sp>
        <p:nvSpPr>
          <p:cNvPr id="77" name="cell-rule-2-2"/>
          <p:cNvSpPr/>
          <p:nvPr/>
        </p:nvSpPr>
        <p:spPr>
          <a:xfrm>
            <a:off x="5473700" y="3771900"/>
            <a:ext cx="254000" cy="1524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cell-p-2-2"/>
          <p:cNvSpPr txBox="1"/>
          <p:nvPr/>
        </p:nvSpPr>
        <p:spPr>
          <a:xfrm>
            <a:off x="5460365" y="38759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跨部门审批全线上化</a:t>
            </a:r>
          </a:p>
        </p:txBody>
      </p:sp>
      <p:sp>
        <p:nvSpPr>
          <p:cNvPr id="79" name="lv-2-2-1"/>
          <p:cNvSpPr/>
          <p:nvPr/>
        </p:nvSpPr>
        <p:spPr>
          <a:xfrm>
            <a:off x="5480050" y="42227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lv-2-2-2"/>
          <p:cNvSpPr/>
          <p:nvPr/>
        </p:nvSpPr>
        <p:spPr>
          <a:xfrm>
            <a:off x="5607050" y="42227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lv-2-2-3"/>
          <p:cNvSpPr/>
          <p:nvPr/>
        </p:nvSpPr>
        <p:spPr>
          <a:xfrm>
            <a:off x="5734050" y="42227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lv-2-2-4"/>
          <p:cNvSpPr/>
          <p:nvPr/>
        </p:nvSpPr>
        <p:spPr>
          <a:xfrm>
            <a:off x="5861050" y="42227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lv-2-2-5"/>
          <p:cNvSpPr/>
          <p:nvPr/>
        </p:nvSpPr>
        <p:spPr>
          <a:xfrm>
            <a:off x="5988050" y="4222750"/>
            <a:ext cx="63500" cy="63500"/>
          </a:xfrm>
          <a:prstGeom prst="ellipse">
            <a:avLst/>
          </a:prstGeom>
          <a:solidFill>
            <a:srgbClr val="FFFFFF">
              <a:alpha val="3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lvt-2-2"/>
          <p:cNvSpPr txBox="1"/>
          <p:nvPr/>
        </p:nvSpPr>
        <p:spPr>
          <a:xfrm>
            <a:off x="7063296" y="4178887"/>
            <a:ext cx="23755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>
                <a:solidFill>
                  <a:srgbClr val="FFFFFF">
                    <a:alpha val="80000"/>
                  </a:srgbClr>
                </a:solidFill>
                <a:latin typeface="Arial"/>
                <a:ea typeface="Arial"/>
                <a:cs typeface="Arial"/>
              </a:rPr>
              <a:t>4/5</a:t>
            </a:r>
          </a:p>
        </p:txBody>
      </p:sp>
      <p:sp>
        <p:nvSpPr>
          <p:cNvPr id="85" name="cell-2-3"/>
          <p:cNvSpPr/>
          <p:nvPr/>
        </p:nvSpPr>
        <p:spPr>
          <a:xfrm>
            <a:off x="7632700" y="3238500"/>
            <a:ext cx="2311400" cy="1219200"/>
          </a:xfrm>
          <a:custGeom>
            <a:avLst/>
            <a:gdLst/>
            <a:ahLst/>
            <a:cxnLst/>
            <a:rect l="0" t="0" r="r" b="b"/>
            <a:pathLst>
              <a:path w="2311400" h="1219200">
                <a:moveTo>
                  <a:pt x="101600" y="0"/>
                </a:moveTo>
                <a:lnTo>
                  <a:pt x="2209800" y="0"/>
                </a:lnTo>
                <a:cubicBezTo>
                  <a:pt x="2265934" y="0"/>
                  <a:pt x="2311400" y="45466"/>
                  <a:pt x="2311400" y="101600"/>
                </a:cubicBezTo>
                <a:lnTo>
                  <a:pt x="2311400" y="1117600"/>
                </a:lnTo>
                <a:cubicBezTo>
                  <a:pt x="2311400" y="1173734"/>
                  <a:pt x="2265934" y="1219200"/>
                  <a:pt x="2209800" y="1219200"/>
                </a:cubicBezTo>
                <a:lnTo>
                  <a:pt x="101600" y="1219200"/>
                </a:lnTo>
                <a:cubicBezTo>
                  <a:pt x="45466" y="1219200"/>
                  <a:pt x="0" y="1173734"/>
                  <a:pt x="0" y="1117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3A77BD"/>
              </a:gs>
              <a:gs pos="100000">
                <a:srgbClr val="2468B6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icon-people"/>
          <p:cNvSpPr/>
          <p:nvPr/>
        </p:nvSpPr>
        <p:spPr>
          <a:xfrm>
            <a:off x="7858125" y="3589338"/>
            <a:ext cx="134938" cy="38100"/>
          </a:xfrm>
          <a:custGeom>
            <a:avLst/>
            <a:gdLst/>
            <a:ahLst/>
            <a:cxnLst/>
            <a:rect l="0" t="0" r="r" b="b"/>
            <a:pathLst>
              <a:path w="134938" h="38100">
                <a:moveTo>
                  <a:pt x="0" y="38100"/>
                </a:moveTo>
                <a:cubicBezTo>
                  <a:pt x="0" y="14288"/>
                  <a:pt x="19812" y="0"/>
                  <a:pt x="42862" y="0"/>
                </a:cubicBezTo>
                <a:cubicBezTo>
                  <a:pt x="65913" y="0"/>
                  <a:pt x="85725" y="14288"/>
                  <a:pt x="85725" y="38100"/>
                </a:cubicBezTo>
                <a:moveTo>
                  <a:pt x="101600" y="3175"/>
                </a:moveTo>
                <a:cubicBezTo>
                  <a:pt x="122238" y="5525"/>
                  <a:pt x="134938" y="19875"/>
                  <a:pt x="134938" y="38100"/>
                </a:cubicBezTo>
              </a:path>
            </a:pathLst>
          </a:custGeom>
          <a:noFill/>
          <a:ln w="1206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icon-people"/>
          <p:cNvSpPr/>
          <p:nvPr/>
        </p:nvSpPr>
        <p:spPr>
          <a:xfrm>
            <a:off x="7875588" y="3521075"/>
            <a:ext cx="50800" cy="50800"/>
          </a:xfrm>
          <a:prstGeom prst="ellipse">
            <a:avLst/>
          </a:prstGeom>
          <a:noFill/>
          <a:ln w="1206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icon-people"/>
          <p:cNvSpPr/>
          <p:nvPr/>
        </p:nvSpPr>
        <p:spPr>
          <a:xfrm>
            <a:off x="7943850" y="3521075"/>
            <a:ext cx="41275" cy="41275"/>
          </a:xfrm>
          <a:prstGeom prst="ellipse">
            <a:avLst/>
          </a:prstGeom>
          <a:noFill/>
          <a:ln w="1206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cell-cn-2-3"/>
          <p:cNvSpPr txBox="1"/>
          <p:nvPr/>
        </p:nvSpPr>
        <p:spPr>
          <a:xfrm>
            <a:off x="8148574" y="3439128"/>
            <a:ext cx="76136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9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伙伴体系</a:t>
            </a:r>
          </a:p>
        </p:txBody>
      </p:sp>
      <p:sp>
        <p:nvSpPr>
          <p:cNvPr id="90" name="cell-rule-2-3"/>
          <p:cNvSpPr/>
          <p:nvPr/>
        </p:nvSpPr>
        <p:spPr>
          <a:xfrm>
            <a:off x="7924800" y="3771900"/>
            <a:ext cx="254000" cy="1524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cell-p-2-3"/>
          <p:cNvSpPr txBox="1"/>
          <p:nvPr/>
        </p:nvSpPr>
        <p:spPr>
          <a:xfrm>
            <a:off x="7911465" y="38759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分级认证与激励机制</a:t>
            </a:r>
          </a:p>
        </p:txBody>
      </p:sp>
      <p:sp>
        <p:nvSpPr>
          <p:cNvPr id="92" name="lv-2-3-1"/>
          <p:cNvSpPr/>
          <p:nvPr/>
        </p:nvSpPr>
        <p:spPr>
          <a:xfrm>
            <a:off x="7931150" y="42227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lv-2-3-2"/>
          <p:cNvSpPr/>
          <p:nvPr/>
        </p:nvSpPr>
        <p:spPr>
          <a:xfrm>
            <a:off x="8058150" y="42227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lv-2-3-3"/>
          <p:cNvSpPr/>
          <p:nvPr/>
        </p:nvSpPr>
        <p:spPr>
          <a:xfrm>
            <a:off x="8185150" y="42227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lv-2-3-4"/>
          <p:cNvSpPr/>
          <p:nvPr/>
        </p:nvSpPr>
        <p:spPr>
          <a:xfrm>
            <a:off x="8312150" y="4222750"/>
            <a:ext cx="63500" cy="63500"/>
          </a:xfrm>
          <a:prstGeom prst="ellipse">
            <a:avLst/>
          </a:prstGeom>
          <a:solidFill>
            <a:srgbClr val="FFFFFF">
              <a:alpha val="3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lv-2-3-5"/>
          <p:cNvSpPr/>
          <p:nvPr/>
        </p:nvSpPr>
        <p:spPr>
          <a:xfrm>
            <a:off x="8439150" y="4222750"/>
            <a:ext cx="63500" cy="63500"/>
          </a:xfrm>
          <a:prstGeom prst="ellipse">
            <a:avLst/>
          </a:prstGeom>
          <a:solidFill>
            <a:srgbClr val="FFFFFF">
              <a:alpha val="3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lvt-2-3"/>
          <p:cNvSpPr txBox="1"/>
          <p:nvPr/>
        </p:nvSpPr>
        <p:spPr>
          <a:xfrm>
            <a:off x="9514396" y="4178887"/>
            <a:ext cx="23755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>
                <a:solidFill>
                  <a:srgbClr val="FFFFFF">
                    <a:alpha val="80000"/>
                  </a:srgbClr>
                </a:solidFill>
                <a:latin typeface="Arial"/>
                <a:ea typeface="Arial"/>
                <a:cs typeface="Arial"/>
              </a:rPr>
              <a:t>3/5</a:t>
            </a:r>
          </a:p>
        </p:txBody>
      </p:sp>
      <p:sp>
        <p:nvSpPr>
          <p:cNvPr id="98" name="row-3"/>
          <p:cNvSpPr/>
          <p:nvPr/>
        </p:nvSpPr>
        <p:spPr>
          <a:xfrm>
            <a:off x="952500" y="4597400"/>
            <a:ext cx="1574800" cy="1219200"/>
          </a:xfrm>
          <a:custGeom>
            <a:avLst/>
            <a:gdLst/>
            <a:ahLst/>
            <a:cxnLst/>
            <a:rect l="0" t="0" r="r" b="b"/>
            <a:pathLst>
              <a:path w="1574800" h="1219200">
                <a:moveTo>
                  <a:pt x="101600" y="0"/>
                </a:moveTo>
                <a:lnTo>
                  <a:pt x="1473200" y="0"/>
                </a:lnTo>
                <a:cubicBezTo>
                  <a:pt x="1529334" y="0"/>
                  <a:pt x="1574800" y="45466"/>
                  <a:pt x="1574800" y="101600"/>
                </a:cubicBezTo>
                <a:lnTo>
                  <a:pt x="1574800" y="1117600"/>
                </a:lnTo>
                <a:cubicBezTo>
                  <a:pt x="1574800" y="1173734"/>
                  <a:pt x="1529334" y="1219200"/>
                  <a:pt x="1473200" y="1219200"/>
                </a:cubicBezTo>
                <a:lnTo>
                  <a:pt x="101600" y="1219200"/>
                </a:lnTo>
                <a:cubicBezTo>
                  <a:pt x="45466" y="1219200"/>
                  <a:pt x="0" y="1173734"/>
                  <a:pt x="0" y="1117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9" name="row-bar-3"/>
          <p:cNvSpPr/>
          <p:nvPr/>
        </p:nvSpPr>
        <p:spPr>
          <a:xfrm>
            <a:off x="952500" y="4597400"/>
            <a:ext cx="31750" cy="1219200"/>
          </a:xfrm>
          <a:custGeom>
            <a:avLst/>
            <a:gdLst/>
            <a:ahLst/>
            <a:cxnLst/>
            <a:rect l="0" t="0" r="r" b="b"/>
            <a:pathLst>
              <a:path w="31750" h="1219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1203325"/>
                </a:lnTo>
                <a:cubicBezTo>
                  <a:pt x="31750" y="1212088"/>
                  <a:pt x="24638" y="1219200"/>
                  <a:pt x="15875" y="1219200"/>
                </a:cubicBezTo>
                <a:lnTo>
                  <a:pt x="15875" y="1219200"/>
                </a:lnTo>
                <a:cubicBezTo>
                  <a:pt x="7112" y="1219200"/>
                  <a:pt x="0" y="1212088"/>
                  <a:pt x="0" y="1203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row-cn-3"/>
          <p:cNvSpPr txBox="1"/>
          <p:nvPr/>
        </p:nvSpPr>
        <p:spPr>
          <a:xfrm>
            <a:off x="1137412" y="4828286"/>
            <a:ext cx="641985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基础层</a:t>
            </a:r>
          </a:p>
        </p:txBody>
      </p:sp>
      <p:sp>
        <p:nvSpPr>
          <p:cNvPr id="101" name="row-en-3"/>
          <p:cNvSpPr txBox="1"/>
          <p:nvPr/>
        </p:nvSpPr>
        <p:spPr>
          <a:xfrm>
            <a:off x="1145032" y="5071808"/>
            <a:ext cx="76835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7E93AE"/>
                </a:solidFill>
                <a:latin typeface="Arial"/>
                <a:ea typeface="Arial"/>
                <a:cs typeface="Arial"/>
              </a:rPr>
              <a:t>FOUNDATION</a:t>
            </a:r>
          </a:p>
        </p:txBody>
      </p:sp>
      <p:sp>
        <p:nvSpPr>
          <p:cNvPr id="102" name="row-p-3"/>
          <p:cNvSpPr txBox="1"/>
          <p:nvPr/>
        </p:nvSpPr>
        <p:spPr>
          <a:xfrm>
            <a:off x="1144651" y="5309187"/>
            <a:ext cx="9286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满足日常运转的底线</a:t>
            </a:r>
          </a:p>
        </p:txBody>
      </p:sp>
      <p:sp>
        <p:nvSpPr>
          <p:cNvPr id="103" name="cell-3-1"/>
          <p:cNvSpPr/>
          <p:nvPr/>
        </p:nvSpPr>
        <p:spPr>
          <a:xfrm>
            <a:off x="2730500" y="4597400"/>
            <a:ext cx="2311400" cy="1219200"/>
          </a:xfrm>
          <a:custGeom>
            <a:avLst/>
            <a:gdLst/>
            <a:ahLst/>
            <a:cxnLst/>
            <a:rect l="0" t="0" r="r" b="b"/>
            <a:pathLst>
              <a:path w="2311400" h="1219200">
                <a:moveTo>
                  <a:pt x="101600" y="0"/>
                </a:moveTo>
                <a:lnTo>
                  <a:pt x="2209800" y="0"/>
                </a:lnTo>
                <a:cubicBezTo>
                  <a:pt x="2265934" y="0"/>
                  <a:pt x="2311400" y="45466"/>
                  <a:pt x="2311400" y="101600"/>
                </a:cubicBezTo>
                <a:lnTo>
                  <a:pt x="2311400" y="1117600"/>
                </a:lnTo>
                <a:cubicBezTo>
                  <a:pt x="2311400" y="1173734"/>
                  <a:pt x="2265934" y="1219200"/>
                  <a:pt x="2209800" y="1219200"/>
                </a:cubicBezTo>
                <a:lnTo>
                  <a:pt x="101600" y="1219200"/>
                </a:lnTo>
                <a:cubicBezTo>
                  <a:pt x="45466" y="1219200"/>
                  <a:pt x="0" y="1173734"/>
                  <a:pt x="0" y="1117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589FDB"/>
              </a:gs>
              <a:gs pos="100000">
                <a:srgbClr val="4694D7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4" name="icon-cloud"/>
          <p:cNvSpPr/>
          <p:nvPr/>
        </p:nvSpPr>
        <p:spPr>
          <a:xfrm>
            <a:off x="2949575" y="4874571"/>
            <a:ext cx="150812" cy="103829"/>
          </a:xfrm>
          <a:custGeom>
            <a:avLst/>
            <a:gdLst/>
            <a:ahLst/>
            <a:cxnLst/>
            <a:rect l="0" t="0" r="r" b="b"/>
            <a:pathLst>
              <a:path w="150812" h="103829">
                <a:moveTo>
                  <a:pt x="34925" y="103829"/>
                </a:moveTo>
                <a:cubicBezTo>
                  <a:pt x="16510" y="104718"/>
                  <a:pt x="889" y="90494"/>
                  <a:pt x="0" y="72079"/>
                </a:cubicBezTo>
                <a:cubicBezTo>
                  <a:pt x="-889" y="53664"/>
                  <a:pt x="13335" y="38043"/>
                  <a:pt x="31750" y="37154"/>
                </a:cubicBezTo>
                <a:cubicBezTo>
                  <a:pt x="34354" y="17723"/>
                  <a:pt x="49848" y="2547"/>
                  <a:pt x="69342" y="261"/>
                </a:cubicBezTo>
                <a:cubicBezTo>
                  <a:pt x="88837" y="-1962"/>
                  <a:pt x="107315" y="9278"/>
                  <a:pt x="114300" y="27629"/>
                </a:cubicBezTo>
                <a:cubicBezTo>
                  <a:pt x="135318" y="28518"/>
                  <a:pt x="151701" y="46298"/>
                  <a:pt x="150812" y="67317"/>
                </a:cubicBezTo>
                <a:cubicBezTo>
                  <a:pt x="149924" y="88335"/>
                  <a:pt x="132144" y="104718"/>
                  <a:pt x="111125" y="103829"/>
                </a:cubicBezTo>
                <a:close/>
              </a:path>
            </a:pathLst>
          </a:custGeom>
          <a:noFill/>
          <a:ln w="1206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cell-cn-3-1"/>
          <p:cNvSpPr txBox="1"/>
          <p:nvPr/>
        </p:nvSpPr>
        <p:spPr>
          <a:xfrm>
            <a:off x="3246374" y="4798028"/>
            <a:ext cx="9188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9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云基础设施</a:t>
            </a:r>
          </a:p>
        </p:txBody>
      </p:sp>
      <p:sp>
        <p:nvSpPr>
          <p:cNvPr id="106" name="cell-rule-3-1"/>
          <p:cNvSpPr/>
          <p:nvPr/>
        </p:nvSpPr>
        <p:spPr>
          <a:xfrm>
            <a:off x="3022600" y="5130800"/>
            <a:ext cx="254000" cy="1524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7" name="cell-p-3-1"/>
          <p:cNvSpPr txBox="1"/>
          <p:nvPr/>
        </p:nvSpPr>
        <p:spPr>
          <a:xfrm>
            <a:off x="3009265" y="52348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弹性算力与容灾备份</a:t>
            </a:r>
          </a:p>
        </p:txBody>
      </p:sp>
      <p:sp>
        <p:nvSpPr>
          <p:cNvPr id="108" name="lv-3-1-1"/>
          <p:cNvSpPr/>
          <p:nvPr/>
        </p:nvSpPr>
        <p:spPr>
          <a:xfrm>
            <a:off x="3028950" y="55816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lv-3-1-2"/>
          <p:cNvSpPr/>
          <p:nvPr/>
        </p:nvSpPr>
        <p:spPr>
          <a:xfrm>
            <a:off x="3155950" y="55816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0" name="lv-3-1-3"/>
          <p:cNvSpPr/>
          <p:nvPr/>
        </p:nvSpPr>
        <p:spPr>
          <a:xfrm>
            <a:off x="3282950" y="55816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1" name="lv-3-1-4"/>
          <p:cNvSpPr/>
          <p:nvPr/>
        </p:nvSpPr>
        <p:spPr>
          <a:xfrm>
            <a:off x="3409950" y="55816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2" name="lv-3-1-5"/>
          <p:cNvSpPr/>
          <p:nvPr/>
        </p:nvSpPr>
        <p:spPr>
          <a:xfrm>
            <a:off x="3536950" y="55816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3" name="lvt-3-1"/>
          <p:cNvSpPr txBox="1"/>
          <p:nvPr/>
        </p:nvSpPr>
        <p:spPr>
          <a:xfrm>
            <a:off x="4612196" y="5537787"/>
            <a:ext cx="23755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>
                <a:solidFill>
                  <a:srgbClr val="FFFFFF">
                    <a:alpha val="80000"/>
                  </a:srgbClr>
                </a:solidFill>
                <a:latin typeface="Arial"/>
                <a:ea typeface="Arial"/>
                <a:cs typeface="Arial"/>
              </a:rPr>
              <a:t>5/5</a:t>
            </a:r>
          </a:p>
        </p:txBody>
      </p:sp>
      <p:sp>
        <p:nvSpPr>
          <p:cNvPr id="114" name="cell-3-2"/>
          <p:cNvSpPr/>
          <p:nvPr/>
        </p:nvSpPr>
        <p:spPr>
          <a:xfrm>
            <a:off x="5181600" y="4597400"/>
            <a:ext cx="2311400" cy="1219200"/>
          </a:xfrm>
          <a:custGeom>
            <a:avLst/>
            <a:gdLst/>
            <a:ahLst/>
            <a:cxnLst/>
            <a:rect l="0" t="0" r="r" b="b"/>
            <a:pathLst>
              <a:path w="2311400" h="1219200">
                <a:moveTo>
                  <a:pt x="101600" y="0"/>
                </a:moveTo>
                <a:lnTo>
                  <a:pt x="2209800" y="0"/>
                </a:lnTo>
                <a:cubicBezTo>
                  <a:pt x="2265934" y="0"/>
                  <a:pt x="2311400" y="45466"/>
                  <a:pt x="2311400" y="101600"/>
                </a:cubicBezTo>
                <a:lnTo>
                  <a:pt x="2311400" y="1117600"/>
                </a:lnTo>
                <a:cubicBezTo>
                  <a:pt x="2311400" y="1173734"/>
                  <a:pt x="2265934" y="1219200"/>
                  <a:pt x="2209800" y="1219200"/>
                </a:cubicBezTo>
                <a:lnTo>
                  <a:pt x="101600" y="1219200"/>
                </a:lnTo>
                <a:cubicBezTo>
                  <a:pt x="45466" y="1219200"/>
                  <a:pt x="0" y="1173734"/>
                  <a:pt x="0" y="1117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589FDB"/>
              </a:gs>
              <a:gs pos="100000">
                <a:srgbClr val="4694D7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5" name="icon-phone"/>
          <p:cNvSpPr/>
          <p:nvPr/>
        </p:nvSpPr>
        <p:spPr>
          <a:xfrm>
            <a:off x="5429250" y="4859338"/>
            <a:ext cx="88900" cy="136525"/>
          </a:xfrm>
          <a:custGeom>
            <a:avLst/>
            <a:gdLst/>
            <a:ahLst/>
            <a:cxnLst/>
            <a:rect l="0" t="0" r="r" b="b"/>
            <a:pathLst>
              <a:path w="88900" h="136525">
                <a:moveTo>
                  <a:pt x="12700" y="0"/>
                </a:moveTo>
                <a:lnTo>
                  <a:pt x="76200" y="0"/>
                </a:lnTo>
                <a:cubicBezTo>
                  <a:pt x="79565" y="0"/>
                  <a:pt x="82804" y="1334"/>
                  <a:pt x="85153" y="3747"/>
                </a:cubicBezTo>
                <a:cubicBezTo>
                  <a:pt x="87566" y="6096"/>
                  <a:pt x="88900" y="9335"/>
                  <a:pt x="88900" y="12700"/>
                </a:cubicBezTo>
                <a:lnTo>
                  <a:pt x="88900" y="123825"/>
                </a:lnTo>
                <a:cubicBezTo>
                  <a:pt x="88900" y="127190"/>
                  <a:pt x="87566" y="130429"/>
                  <a:pt x="85153" y="132778"/>
                </a:cubicBezTo>
                <a:cubicBezTo>
                  <a:pt x="82804" y="135191"/>
                  <a:pt x="79565" y="136525"/>
                  <a:pt x="76200" y="136525"/>
                </a:cubicBezTo>
                <a:lnTo>
                  <a:pt x="12700" y="136525"/>
                </a:lnTo>
                <a:cubicBezTo>
                  <a:pt x="9335" y="136525"/>
                  <a:pt x="6096" y="135191"/>
                  <a:pt x="3747" y="132778"/>
                </a:cubicBezTo>
                <a:cubicBezTo>
                  <a:pt x="1334" y="130429"/>
                  <a:pt x="0" y="127190"/>
                  <a:pt x="0" y="123825"/>
                </a:cubicBezTo>
                <a:lnTo>
                  <a:pt x="0" y="12700"/>
                </a:lnTo>
                <a:cubicBezTo>
                  <a:pt x="0" y="5715"/>
                  <a:pt x="5715" y="0"/>
                  <a:pt x="12700" y="0"/>
                </a:cubicBezTo>
                <a:close/>
                <a:moveTo>
                  <a:pt x="31750" y="112712"/>
                </a:moveTo>
                <a:lnTo>
                  <a:pt x="57150" y="112712"/>
                </a:lnTo>
              </a:path>
            </a:pathLst>
          </a:custGeom>
          <a:noFill/>
          <a:ln w="1206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6" name="cell-cn-3-2"/>
          <p:cNvSpPr txBox="1"/>
          <p:nvPr/>
        </p:nvSpPr>
        <p:spPr>
          <a:xfrm>
            <a:off x="5697474" y="4798028"/>
            <a:ext cx="76136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9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基础办公</a:t>
            </a:r>
          </a:p>
        </p:txBody>
      </p:sp>
      <p:sp>
        <p:nvSpPr>
          <p:cNvPr id="117" name="cell-rule-3-2"/>
          <p:cNvSpPr/>
          <p:nvPr/>
        </p:nvSpPr>
        <p:spPr>
          <a:xfrm>
            <a:off x="5473700" y="5130800"/>
            <a:ext cx="254000" cy="1524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8" name="cell-p-3-2"/>
          <p:cNvSpPr txBox="1"/>
          <p:nvPr/>
        </p:nvSpPr>
        <p:spPr>
          <a:xfrm>
            <a:off x="5460365" y="52348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协同工具全员覆盖</a:t>
            </a:r>
          </a:p>
        </p:txBody>
      </p:sp>
      <p:sp>
        <p:nvSpPr>
          <p:cNvPr id="119" name="lv-3-2-1"/>
          <p:cNvSpPr/>
          <p:nvPr/>
        </p:nvSpPr>
        <p:spPr>
          <a:xfrm>
            <a:off x="5480050" y="55816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0" name="lv-3-2-2"/>
          <p:cNvSpPr/>
          <p:nvPr/>
        </p:nvSpPr>
        <p:spPr>
          <a:xfrm>
            <a:off x="5607050" y="55816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1" name="lv-3-2-3"/>
          <p:cNvSpPr/>
          <p:nvPr/>
        </p:nvSpPr>
        <p:spPr>
          <a:xfrm>
            <a:off x="5734050" y="55816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2" name="lv-3-2-4"/>
          <p:cNvSpPr/>
          <p:nvPr/>
        </p:nvSpPr>
        <p:spPr>
          <a:xfrm>
            <a:off x="5861050" y="55816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3" name="lv-3-2-5"/>
          <p:cNvSpPr/>
          <p:nvPr/>
        </p:nvSpPr>
        <p:spPr>
          <a:xfrm>
            <a:off x="5988050" y="55816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4" name="lvt-3-2"/>
          <p:cNvSpPr txBox="1"/>
          <p:nvPr/>
        </p:nvSpPr>
        <p:spPr>
          <a:xfrm>
            <a:off x="7063296" y="5537787"/>
            <a:ext cx="23755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>
                <a:solidFill>
                  <a:srgbClr val="FFFFFF">
                    <a:alpha val="80000"/>
                  </a:srgbClr>
                </a:solidFill>
                <a:latin typeface="Arial"/>
                <a:ea typeface="Arial"/>
                <a:cs typeface="Arial"/>
              </a:rPr>
              <a:t>5/5</a:t>
            </a:r>
          </a:p>
        </p:txBody>
      </p:sp>
      <p:sp>
        <p:nvSpPr>
          <p:cNvPr id="125" name="cell-3-3"/>
          <p:cNvSpPr/>
          <p:nvPr/>
        </p:nvSpPr>
        <p:spPr>
          <a:xfrm>
            <a:off x="7632700" y="4597400"/>
            <a:ext cx="2311400" cy="1219200"/>
          </a:xfrm>
          <a:custGeom>
            <a:avLst/>
            <a:gdLst/>
            <a:ahLst/>
            <a:cxnLst/>
            <a:rect l="0" t="0" r="r" b="b"/>
            <a:pathLst>
              <a:path w="2311400" h="1219200">
                <a:moveTo>
                  <a:pt x="101600" y="0"/>
                </a:moveTo>
                <a:lnTo>
                  <a:pt x="2209800" y="0"/>
                </a:lnTo>
                <a:cubicBezTo>
                  <a:pt x="2265934" y="0"/>
                  <a:pt x="2311400" y="45466"/>
                  <a:pt x="2311400" y="101600"/>
                </a:cubicBezTo>
                <a:lnTo>
                  <a:pt x="2311400" y="1117600"/>
                </a:lnTo>
                <a:cubicBezTo>
                  <a:pt x="2311400" y="1173734"/>
                  <a:pt x="2265934" y="1219200"/>
                  <a:pt x="2209800" y="1219200"/>
                </a:cubicBezTo>
                <a:lnTo>
                  <a:pt x="101600" y="1219200"/>
                </a:lnTo>
                <a:cubicBezTo>
                  <a:pt x="45466" y="1219200"/>
                  <a:pt x="0" y="1173734"/>
                  <a:pt x="0" y="1117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589FDB"/>
              </a:gs>
              <a:gs pos="100000">
                <a:srgbClr val="4694D7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6" name="icon-share"/>
          <p:cNvSpPr/>
          <p:nvPr/>
        </p:nvSpPr>
        <p:spPr>
          <a:xfrm>
            <a:off x="7894638" y="4888738"/>
            <a:ext cx="56324" cy="77724"/>
          </a:xfrm>
          <a:custGeom>
            <a:avLst/>
            <a:gdLst/>
            <a:ahLst/>
            <a:cxnLst/>
            <a:rect l="0" t="0" r="r" b="b"/>
            <a:pathLst>
              <a:path w="56324" h="77724">
                <a:moveTo>
                  <a:pt x="0" y="30925"/>
                </a:moveTo>
                <a:lnTo>
                  <a:pt x="56324" y="0"/>
                </a:lnTo>
                <a:moveTo>
                  <a:pt x="0" y="46800"/>
                </a:moveTo>
                <a:lnTo>
                  <a:pt x="56324" y="77724"/>
                </a:lnTo>
              </a:path>
            </a:pathLst>
          </a:custGeom>
          <a:noFill/>
          <a:ln w="1206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7" name="icon-share"/>
          <p:cNvSpPr/>
          <p:nvPr/>
        </p:nvSpPr>
        <p:spPr>
          <a:xfrm>
            <a:off x="7860506" y="4909344"/>
            <a:ext cx="36512" cy="36512"/>
          </a:xfrm>
          <a:prstGeom prst="ellipse">
            <a:avLst/>
          </a:prstGeom>
          <a:noFill/>
          <a:ln w="1206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8" name="icon-share"/>
          <p:cNvSpPr/>
          <p:nvPr/>
        </p:nvSpPr>
        <p:spPr>
          <a:xfrm>
            <a:off x="7949406" y="4863306"/>
            <a:ext cx="36512" cy="36512"/>
          </a:xfrm>
          <a:prstGeom prst="ellipse">
            <a:avLst/>
          </a:prstGeom>
          <a:noFill/>
          <a:ln w="1206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9" name="icon-share"/>
          <p:cNvSpPr/>
          <p:nvPr/>
        </p:nvSpPr>
        <p:spPr>
          <a:xfrm>
            <a:off x="7949406" y="4955381"/>
            <a:ext cx="36512" cy="36512"/>
          </a:xfrm>
          <a:prstGeom prst="ellipse">
            <a:avLst/>
          </a:prstGeom>
          <a:noFill/>
          <a:ln w="1206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0" name="cell-cn-3-3"/>
          <p:cNvSpPr txBox="1"/>
          <p:nvPr/>
        </p:nvSpPr>
        <p:spPr>
          <a:xfrm>
            <a:off x="8148574" y="4798028"/>
            <a:ext cx="76136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9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渠道管理</a:t>
            </a:r>
          </a:p>
        </p:txBody>
      </p:sp>
      <p:sp>
        <p:nvSpPr>
          <p:cNvPr id="131" name="cell-rule-3-3"/>
          <p:cNvSpPr/>
          <p:nvPr/>
        </p:nvSpPr>
        <p:spPr>
          <a:xfrm>
            <a:off x="7924800" y="5130800"/>
            <a:ext cx="254000" cy="1524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2" name="cell-p-3-3"/>
          <p:cNvSpPr txBox="1"/>
          <p:nvPr/>
        </p:nvSpPr>
        <p:spPr>
          <a:xfrm>
            <a:off x="7911465" y="52348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经销商信息统一归集</a:t>
            </a:r>
          </a:p>
        </p:txBody>
      </p:sp>
      <p:sp>
        <p:nvSpPr>
          <p:cNvPr id="133" name="lv-3-3-1"/>
          <p:cNvSpPr/>
          <p:nvPr/>
        </p:nvSpPr>
        <p:spPr>
          <a:xfrm>
            <a:off x="7931150" y="55816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4" name="lv-3-3-2"/>
          <p:cNvSpPr/>
          <p:nvPr/>
        </p:nvSpPr>
        <p:spPr>
          <a:xfrm>
            <a:off x="8058150" y="55816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5" name="lv-3-3-3"/>
          <p:cNvSpPr/>
          <p:nvPr/>
        </p:nvSpPr>
        <p:spPr>
          <a:xfrm>
            <a:off x="8185150" y="5581650"/>
            <a:ext cx="63500" cy="63500"/>
          </a:xfrm>
          <a:prstGeom prst="ellipse">
            <a:avLst/>
          </a:prstGeom>
          <a:solidFill>
            <a:srgbClr val="FFFFFF">
              <a:alpha val="9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6" name="lv-3-3-4"/>
          <p:cNvSpPr/>
          <p:nvPr/>
        </p:nvSpPr>
        <p:spPr>
          <a:xfrm>
            <a:off x="8312150" y="5581650"/>
            <a:ext cx="63500" cy="63500"/>
          </a:xfrm>
          <a:prstGeom prst="ellipse">
            <a:avLst/>
          </a:prstGeom>
          <a:solidFill>
            <a:srgbClr val="FFFFFF">
              <a:alpha val="3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7" name="lv-3-3-5"/>
          <p:cNvSpPr/>
          <p:nvPr/>
        </p:nvSpPr>
        <p:spPr>
          <a:xfrm>
            <a:off x="8439150" y="5581650"/>
            <a:ext cx="63500" cy="63500"/>
          </a:xfrm>
          <a:prstGeom prst="ellipse">
            <a:avLst/>
          </a:prstGeom>
          <a:solidFill>
            <a:srgbClr val="FFFFFF">
              <a:alpha val="3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8" name="lvt-3-3"/>
          <p:cNvSpPr txBox="1"/>
          <p:nvPr/>
        </p:nvSpPr>
        <p:spPr>
          <a:xfrm>
            <a:off x="9514396" y="5537787"/>
            <a:ext cx="23755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>
                <a:solidFill>
                  <a:srgbClr val="FFFFFF">
                    <a:alpha val="80000"/>
                  </a:srgbClr>
                </a:solidFill>
                <a:latin typeface="Arial"/>
                <a:ea typeface="Arial"/>
                <a:cs typeface="Arial"/>
              </a:rPr>
              <a:t>3/5</a:t>
            </a:r>
          </a:p>
        </p:txBody>
      </p:sp>
      <p:sp>
        <p:nvSpPr>
          <p:cNvPr id="139" name="side-bar"/>
          <p:cNvSpPr/>
          <p:nvPr/>
        </p:nvSpPr>
        <p:spPr>
          <a:xfrm>
            <a:off x="10325100" y="1879600"/>
            <a:ext cx="31750" cy="660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0" name="side-h"/>
          <p:cNvSpPr txBox="1"/>
          <p:nvPr/>
        </p:nvSpPr>
        <p:spPr>
          <a:xfrm>
            <a:off x="10500360" y="1938655"/>
            <a:ext cx="6731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评估口径</a:t>
            </a:r>
          </a:p>
        </p:txBody>
      </p:sp>
      <p:sp>
        <p:nvSpPr>
          <p:cNvPr id="141" name="side-p-1"/>
          <p:cNvSpPr txBox="1"/>
          <p:nvPr/>
        </p:nvSpPr>
        <p:spPr>
          <a:xfrm>
            <a:off x="10504170" y="2206466"/>
            <a:ext cx="96012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点阵表示能力成熟度</a:t>
            </a:r>
          </a:p>
        </p:txBody>
      </p:sp>
      <p:sp>
        <p:nvSpPr>
          <p:cNvPr id="142" name="side-p-2"/>
          <p:cNvSpPr txBox="1"/>
          <p:nvPr/>
        </p:nvSpPr>
        <p:spPr>
          <a:xfrm>
            <a:off x="10504170" y="2384266"/>
            <a:ext cx="98679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5/5 为行业领先水平</a:t>
            </a:r>
          </a:p>
        </p:txBody>
      </p:sp>
      <p:sp>
        <p:nvSpPr>
          <p:cNvPr id="143" name="side-p-3"/>
          <p:cNvSpPr txBox="1"/>
          <p:nvPr/>
        </p:nvSpPr>
        <p:spPr>
          <a:xfrm>
            <a:off x="10504170" y="2562066"/>
            <a:ext cx="76581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每半年复评一次</a:t>
            </a:r>
          </a:p>
        </p:txBody>
      </p:sp>
      <p:sp>
        <p:nvSpPr>
          <p:cNvPr id="144" name="sd-1"/>
          <p:cNvSpPr/>
          <p:nvPr/>
        </p:nvSpPr>
        <p:spPr>
          <a:xfrm>
            <a:off x="10325100" y="3124200"/>
            <a:ext cx="1181100" cy="609600"/>
          </a:xfrm>
          <a:custGeom>
            <a:avLst/>
            <a:gdLst/>
            <a:ahLst/>
            <a:cxnLst/>
            <a:rect l="0" t="0" r="r" b="b"/>
            <a:pathLst>
              <a:path w="1181100" h="609600">
                <a:moveTo>
                  <a:pt x="88900" y="0"/>
                </a:moveTo>
                <a:lnTo>
                  <a:pt x="1092200" y="0"/>
                </a:lnTo>
                <a:cubicBezTo>
                  <a:pt x="1141286" y="0"/>
                  <a:pt x="1181100" y="39814"/>
                  <a:pt x="1181100" y="88900"/>
                </a:cubicBezTo>
                <a:lnTo>
                  <a:pt x="1181100" y="520700"/>
                </a:lnTo>
                <a:cubicBezTo>
                  <a:pt x="1181100" y="569786"/>
                  <a:pt x="1141286" y="609600"/>
                  <a:pt x="1092200" y="609600"/>
                </a:cubicBezTo>
                <a:lnTo>
                  <a:pt x="88900" y="609600"/>
                </a:lnTo>
                <a:cubicBezTo>
                  <a:pt x="39814" y="609600"/>
                  <a:pt x="0" y="569786"/>
                  <a:pt x="0" y="5207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5" name="sd-v-1"/>
          <p:cNvSpPr txBox="1"/>
          <p:nvPr/>
        </p:nvSpPr>
        <p:spPr>
          <a:xfrm>
            <a:off x="10453116" y="3203448"/>
            <a:ext cx="299847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6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9</a:t>
            </a:r>
          </a:p>
        </p:txBody>
      </p:sp>
      <p:sp>
        <p:nvSpPr>
          <p:cNvPr id="146" name="sd-l-1"/>
          <p:cNvSpPr txBox="1"/>
          <p:nvPr/>
        </p:nvSpPr>
        <p:spPr>
          <a:xfrm>
            <a:off x="10466451" y="3505787"/>
            <a:ext cx="36480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项能力</a:t>
            </a:r>
          </a:p>
        </p:txBody>
      </p:sp>
      <p:sp>
        <p:nvSpPr>
          <p:cNvPr id="147" name="sd-2"/>
          <p:cNvSpPr/>
          <p:nvPr/>
        </p:nvSpPr>
        <p:spPr>
          <a:xfrm>
            <a:off x="10325100" y="3873500"/>
            <a:ext cx="1181100" cy="609600"/>
          </a:xfrm>
          <a:custGeom>
            <a:avLst/>
            <a:gdLst/>
            <a:ahLst/>
            <a:cxnLst/>
            <a:rect l="0" t="0" r="r" b="b"/>
            <a:pathLst>
              <a:path w="1181100" h="609600">
                <a:moveTo>
                  <a:pt x="88900" y="0"/>
                </a:moveTo>
                <a:lnTo>
                  <a:pt x="1092200" y="0"/>
                </a:lnTo>
                <a:cubicBezTo>
                  <a:pt x="1141286" y="0"/>
                  <a:pt x="1181100" y="39814"/>
                  <a:pt x="1181100" y="88900"/>
                </a:cubicBezTo>
                <a:lnTo>
                  <a:pt x="1181100" y="520700"/>
                </a:lnTo>
                <a:cubicBezTo>
                  <a:pt x="1181100" y="569786"/>
                  <a:pt x="1141286" y="609600"/>
                  <a:pt x="1092200" y="609600"/>
                </a:cubicBezTo>
                <a:lnTo>
                  <a:pt x="88900" y="609600"/>
                </a:lnTo>
                <a:cubicBezTo>
                  <a:pt x="39814" y="609600"/>
                  <a:pt x="0" y="569786"/>
                  <a:pt x="0" y="5207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8" name="sd-v-2"/>
          <p:cNvSpPr txBox="1"/>
          <p:nvPr/>
        </p:nvSpPr>
        <p:spPr>
          <a:xfrm>
            <a:off x="10453116" y="3952748"/>
            <a:ext cx="533781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6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4.1</a:t>
            </a:r>
          </a:p>
        </p:txBody>
      </p:sp>
      <p:sp>
        <p:nvSpPr>
          <p:cNvPr id="149" name="sd-l-2"/>
          <p:cNvSpPr txBox="1"/>
          <p:nvPr/>
        </p:nvSpPr>
        <p:spPr>
          <a:xfrm>
            <a:off x="10466451" y="4255087"/>
            <a:ext cx="55276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平均成熟度</a:t>
            </a:r>
          </a:p>
        </p:txBody>
      </p:sp>
      <p:sp>
        <p:nvSpPr>
          <p:cNvPr id="150" name="sd-3"/>
          <p:cNvSpPr/>
          <p:nvPr/>
        </p:nvSpPr>
        <p:spPr>
          <a:xfrm>
            <a:off x="10325100" y="4622800"/>
            <a:ext cx="1181100" cy="609600"/>
          </a:xfrm>
          <a:custGeom>
            <a:avLst/>
            <a:gdLst/>
            <a:ahLst/>
            <a:cxnLst/>
            <a:rect l="0" t="0" r="r" b="b"/>
            <a:pathLst>
              <a:path w="1181100" h="609600">
                <a:moveTo>
                  <a:pt x="88900" y="0"/>
                </a:moveTo>
                <a:lnTo>
                  <a:pt x="1092200" y="0"/>
                </a:lnTo>
                <a:cubicBezTo>
                  <a:pt x="1141286" y="0"/>
                  <a:pt x="1181100" y="39814"/>
                  <a:pt x="1181100" y="88900"/>
                </a:cubicBezTo>
                <a:lnTo>
                  <a:pt x="1181100" y="520700"/>
                </a:lnTo>
                <a:cubicBezTo>
                  <a:pt x="1181100" y="569786"/>
                  <a:pt x="1141286" y="609600"/>
                  <a:pt x="1092200" y="609600"/>
                </a:cubicBezTo>
                <a:lnTo>
                  <a:pt x="88900" y="609600"/>
                </a:lnTo>
                <a:cubicBezTo>
                  <a:pt x="39814" y="609600"/>
                  <a:pt x="0" y="569786"/>
                  <a:pt x="0" y="5207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1" name="sd-v-3"/>
          <p:cNvSpPr txBox="1"/>
          <p:nvPr/>
        </p:nvSpPr>
        <p:spPr>
          <a:xfrm>
            <a:off x="10453116" y="4702048"/>
            <a:ext cx="299847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6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152" name="sd-l-3"/>
          <p:cNvSpPr txBox="1"/>
          <p:nvPr/>
        </p:nvSpPr>
        <p:spPr>
          <a:xfrm>
            <a:off x="10466451" y="5004387"/>
            <a:ext cx="458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项待补强</a:t>
            </a:r>
          </a:p>
        </p:txBody>
      </p:sp>
      <p:cxnSp>
        <p:nvCxnSpPr>
          <p:cNvPr id="153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4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能力矩阵 · 九项能力</a:t>
            </a:r>
          </a:p>
        </p:txBody>
      </p:sp>
      <p:sp>
        <p:nvSpPr>
          <p:cNvPr id="155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交付延期成因分析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62801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FISHBONE ANALYSIS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008999" y="673132"/>
            <a:ext cx="2611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从六个维度拆解根因，定位可优先改善的关键环节</a:t>
            </a:r>
          </a:p>
        </p:txBody>
      </p:sp>
      <p:sp>
        <p:nvSpPr>
          <p:cNvPr id="10" name="spine"/>
          <p:cNvSpPr/>
          <p:nvPr/>
        </p:nvSpPr>
        <p:spPr>
          <a:xfrm>
            <a:off x="2044700" y="3752850"/>
            <a:ext cx="7340600" cy="63500"/>
          </a:xfrm>
          <a:custGeom>
            <a:avLst/>
            <a:gdLst/>
            <a:ahLst/>
            <a:cxnLst/>
            <a:rect l="0" t="0" r="r" b="b"/>
            <a:pathLst>
              <a:path w="7340600" h="63500">
                <a:moveTo>
                  <a:pt x="31750" y="0"/>
                </a:moveTo>
                <a:lnTo>
                  <a:pt x="7308850" y="0"/>
                </a:lnTo>
                <a:cubicBezTo>
                  <a:pt x="7326376" y="0"/>
                  <a:pt x="7340600" y="14224"/>
                  <a:pt x="7340600" y="31750"/>
                </a:cubicBezTo>
                <a:lnTo>
                  <a:pt x="7340600" y="31750"/>
                </a:lnTo>
                <a:cubicBezTo>
                  <a:pt x="7340600" y="49276"/>
                  <a:pt x="7326376" y="63500"/>
                  <a:pt x="7308850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gradFill rotWithShape="1">
            <a:gsLst>
              <a:gs pos="0">
                <a:srgbClr val="8FB3DA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spine-head"/>
          <p:cNvSpPr/>
          <p:nvPr/>
        </p:nvSpPr>
        <p:spPr>
          <a:xfrm>
            <a:off x="9359900" y="3619500"/>
            <a:ext cx="241300" cy="330200"/>
          </a:xfrm>
          <a:custGeom>
            <a:avLst/>
            <a:gdLst/>
            <a:ahLst/>
            <a:cxnLst/>
            <a:rect l="0" t="0" r="r" b="b"/>
            <a:pathLst>
              <a:path w="241300" h="330200">
                <a:moveTo>
                  <a:pt x="0" y="0"/>
                </a:moveTo>
                <a:lnTo>
                  <a:pt x="241300" y="165100"/>
                </a:lnTo>
                <a:lnTo>
                  <a:pt x="0" y="330200"/>
                </a:ln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head"/>
          <p:cNvSpPr/>
          <p:nvPr/>
        </p:nvSpPr>
        <p:spPr>
          <a:xfrm>
            <a:off x="762000" y="3390900"/>
            <a:ext cx="1206500" cy="787400"/>
          </a:xfrm>
          <a:custGeom>
            <a:avLst/>
            <a:gdLst/>
            <a:ahLst/>
            <a:cxnLst/>
            <a:rect l="0" t="0" r="r" b="b"/>
            <a:pathLst>
              <a:path w="1206500" h="787400">
                <a:moveTo>
                  <a:pt x="114300" y="0"/>
                </a:moveTo>
                <a:lnTo>
                  <a:pt x="1092200" y="0"/>
                </a:lnTo>
                <a:cubicBezTo>
                  <a:pt x="1155319" y="0"/>
                  <a:pt x="1206500" y="51181"/>
                  <a:pt x="1206500" y="114300"/>
                </a:cubicBezTo>
                <a:lnTo>
                  <a:pt x="1206500" y="673100"/>
                </a:lnTo>
                <a:cubicBezTo>
                  <a:pt x="1206500" y="736219"/>
                  <a:pt x="1155319" y="787400"/>
                  <a:pt x="1092200" y="787400"/>
                </a:cubicBezTo>
                <a:lnTo>
                  <a:pt x="114300" y="787400"/>
                </a:lnTo>
                <a:cubicBezTo>
                  <a:pt x="51181" y="787400"/>
                  <a:pt x="0" y="736219"/>
                  <a:pt x="0" y="6731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 w="10160" cap="rnd">
            <a:solidFill>
              <a:srgbClr val="1B5AA8">
                <a:alpha val="35000"/>
              </a:srgbClr>
            </a:solidFill>
            <a:round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icon-search"/>
          <p:cNvSpPr/>
          <p:nvPr/>
        </p:nvSpPr>
        <p:spPr>
          <a:xfrm>
            <a:off x="1392238" y="3671888"/>
            <a:ext cx="31750" cy="31750"/>
          </a:xfrm>
          <a:custGeom>
            <a:avLst/>
            <a:gdLst/>
            <a:ahLst/>
            <a:cxnLst/>
            <a:rect l="0" t="0" r="r" b="b"/>
            <a:pathLst>
              <a:path w="31750" h="31750">
                <a:moveTo>
                  <a:pt x="31750" y="31750"/>
                </a:moveTo>
                <a:lnTo>
                  <a:pt x="0" y="0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icon-search"/>
          <p:cNvSpPr/>
          <p:nvPr/>
        </p:nvSpPr>
        <p:spPr>
          <a:xfrm>
            <a:off x="1306512" y="3586162"/>
            <a:ext cx="101600" cy="101600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head-t"/>
          <p:cNvSpPr txBox="1"/>
          <p:nvPr/>
        </p:nvSpPr>
        <p:spPr>
          <a:xfrm>
            <a:off x="1019493" y="37723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问题现象</a:t>
            </a:r>
          </a:p>
        </p:txBody>
      </p:sp>
      <p:sp>
        <p:nvSpPr>
          <p:cNvPr id="16" name="head-p"/>
          <p:cNvSpPr txBox="1"/>
          <p:nvPr/>
        </p:nvSpPr>
        <p:spPr>
          <a:xfrm>
            <a:off x="981932" y="3988387"/>
            <a:ext cx="766635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月度延期 37 单</a:t>
            </a:r>
          </a:p>
        </p:txBody>
      </p:sp>
      <p:cxnSp>
        <p:nvCxnSpPr>
          <p:cNvPr id="17" name="bone-1"/>
          <p:cNvCxnSpPr/>
          <p:nvPr/>
        </p:nvCxnSpPr>
        <p:spPr>
          <a:xfrm flipH="1" flipV="1">
            <a:off x="2768600" y="2311400"/>
            <a:ext cx="787400" cy="1473200"/>
          </a:xfrm>
          <a:prstGeom prst="line">
            <a:avLst/>
          </a:prstGeom>
          <a:ln w="15240" cap="rnd">
            <a:solidFill>
              <a:srgbClr val="0B3E8F">
                <a:alpha val="5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joint-1"/>
          <p:cNvSpPr/>
          <p:nvPr/>
        </p:nvSpPr>
        <p:spPr>
          <a:xfrm>
            <a:off x="3511550" y="3740150"/>
            <a:ext cx="88900" cy="889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blabel-1"/>
          <p:cNvSpPr/>
          <p:nvPr/>
        </p:nvSpPr>
        <p:spPr>
          <a:xfrm>
            <a:off x="2032000" y="1835150"/>
            <a:ext cx="1473200" cy="419100"/>
          </a:xfrm>
          <a:custGeom>
            <a:avLst/>
            <a:gdLst/>
            <a:ahLst/>
            <a:cxnLst/>
            <a:rect l="0" t="0" r="r" b="b"/>
            <a:pathLst>
              <a:path w="1473200" h="419100">
                <a:moveTo>
                  <a:pt x="101600" y="0"/>
                </a:moveTo>
                <a:lnTo>
                  <a:pt x="1371600" y="0"/>
                </a:lnTo>
                <a:cubicBezTo>
                  <a:pt x="1427734" y="0"/>
                  <a:pt x="1473200" y="45466"/>
                  <a:pt x="1473200" y="101600"/>
                </a:cubicBezTo>
                <a:lnTo>
                  <a:pt x="1473200" y="317500"/>
                </a:lnTo>
                <a:cubicBezTo>
                  <a:pt x="1473200" y="373634"/>
                  <a:pt x="1427734" y="419100"/>
                  <a:pt x="1371600" y="419100"/>
                </a:cubicBezTo>
                <a:lnTo>
                  <a:pt x="101600" y="419100"/>
                </a:lnTo>
                <a:cubicBezTo>
                  <a:pt x="45466" y="419100"/>
                  <a:pt x="0" y="373634"/>
                  <a:pt x="0" y="3175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icon-people"/>
          <p:cNvSpPr/>
          <p:nvPr/>
        </p:nvSpPr>
        <p:spPr>
          <a:xfrm>
            <a:off x="2190115" y="2062607"/>
            <a:ext cx="116967" cy="33020"/>
          </a:xfrm>
          <a:custGeom>
            <a:avLst/>
            <a:gdLst/>
            <a:ahLst/>
            <a:cxnLst/>
            <a:rect l="0" t="0" r="r" b="b"/>
            <a:pathLst>
              <a:path w="116967" h="33020">
                <a:moveTo>
                  <a:pt x="0" y="33020"/>
                </a:moveTo>
                <a:cubicBezTo>
                  <a:pt x="0" y="12382"/>
                  <a:pt x="17209" y="0"/>
                  <a:pt x="37148" y="0"/>
                </a:cubicBezTo>
                <a:cubicBezTo>
                  <a:pt x="57087" y="0"/>
                  <a:pt x="74295" y="12382"/>
                  <a:pt x="74295" y="33020"/>
                </a:cubicBezTo>
                <a:moveTo>
                  <a:pt x="88075" y="2731"/>
                </a:moveTo>
                <a:cubicBezTo>
                  <a:pt x="105918" y="4762"/>
                  <a:pt x="116967" y="17145"/>
                  <a:pt x="116967" y="33020"/>
                </a:cubicBezTo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icon-people"/>
          <p:cNvSpPr/>
          <p:nvPr/>
        </p:nvSpPr>
        <p:spPr>
          <a:xfrm>
            <a:off x="2205249" y="2003425"/>
            <a:ext cx="44027" cy="44027"/>
          </a:xfrm>
          <a:prstGeom prst="ellipse">
            <a:avLst/>
          </a:pr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icon-people"/>
          <p:cNvSpPr/>
          <p:nvPr/>
        </p:nvSpPr>
        <p:spPr>
          <a:xfrm>
            <a:off x="2264410" y="2003425"/>
            <a:ext cx="35772" cy="35772"/>
          </a:xfrm>
          <a:prstGeom prst="ellipse">
            <a:avLst/>
          </a:pr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bname-1"/>
          <p:cNvSpPr txBox="1"/>
          <p:nvPr/>
        </p:nvSpPr>
        <p:spPr>
          <a:xfrm>
            <a:off x="2407412" y="1913636"/>
            <a:ext cx="4800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人员</a:t>
            </a:r>
          </a:p>
        </p:txBody>
      </p:sp>
      <p:sp>
        <p:nvSpPr>
          <p:cNvPr id="24" name="bno-1"/>
          <p:cNvSpPr txBox="1"/>
          <p:nvPr/>
        </p:nvSpPr>
        <p:spPr>
          <a:xfrm>
            <a:off x="3136900" y="1938655"/>
            <a:ext cx="2565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00" b="1">
                <a:solidFill>
                  <a:srgbClr val="FFFFFF">
                    <a:alpha val="45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cxnSp>
        <p:nvCxnSpPr>
          <p:cNvPr id="25" name="sub-1-1"/>
          <p:cNvCxnSpPr/>
          <p:nvPr/>
        </p:nvCxnSpPr>
        <p:spPr>
          <a:xfrm>
            <a:off x="3288284" y="3283712"/>
            <a:ext cx="101600" cy="0"/>
          </a:xfrm>
          <a:prstGeom prst="line">
            <a:avLst/>
          </a:prstGeom>
          <a:ln w="10160" cap="rnd">
            <a:solidFill>
              <a:srgbClr val="0B3E8F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subd-1-1"/>
          <p:cNvSpPr/>
          <p:nvPr/>
        </p:nvSpPr>
        <p:spPr>
          <a:xfrm>
            <a:off x="3265424" y="3260852"/>
            <a:ext cx="45720" cy="4572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subt-1-1"/>
          <p:cNvSpPr txBox="1"/>
          <p:nvPr/>
        </p:nvSpPr>
        <p:spPr>
          <a:xfrm>
            <a:off x="3440049" y="3184573"/>
            <a:ext cx="10042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排产人员经验不足</a:t>
            </a:r>
          </a:p>
        </p:txBody>
      </p:sp>
      <p:cxnSp>
        <p:nvCxnSpPr>
          <p:cNvPr id="28" name="sub-1-2"/>
          <p:cNvCxnSpPr/>
          <p:nvPr/>
        </p:nvCxnSpPr>
        <p:spPr>
          <a:xfrm>
            <a:off x="3044190" y="2827020"/>
            <a:ext cx="101600" cy="0"/>
          </a:xfrm>
          <a:prstGeom prst="line">
            <a:avLst/>
          </a:prstGeom>
          <a:ln w="10160" cap="rnd">
            <a:solidFill>
              <a:srgbClr val="0B3E8F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subd-1-2"/>
          <p:cNvSpPr/>
          <p:nvPr/>
        </p:nvSpPr>
        <p:spPr>
          <a:xfrm>
            <a:off x="3021330" y="2804160"/>
            <a:ext cx="45720" cy="4572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subt-1-2"/>
          <p:cNvSpPr txBox="1"/>
          <p:nvPr/>
        </p:nvSpPr>
        <p:spPr>
          <a:xfrm>
            <a:off x="3195955" y="2727881"/>
            <a:ext cx="89122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跨部门责任不清</a:t>
            </a:r>
          </a:p>
        </p:txBody>
      </p:sp>
      <p:cxnSp>
        <p:nvCxnSpPr>
          <p:cNvPr id="31" name="bone-2"/>
          <p:cNvCxnSpPr/>
          <p:nvPr/>
        </p:nvCxnSpPr>
        <p:spPr>
          <a:xfrm flipH="1" flipV="1">
            <a:off x="4800600" y="2311400"/>
            <a:ext cx="787400" cy="1473200"/>
          </a:xfrm>
          <a:prstGeom prst="line">
            <a:avLst/>
          </a:prstGeom>
          <a:ln w="15240" cap="rnd">
            <a:solidFill>
              <a:srgbClr val="134C9C">
                <a:alpha val="5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joint-2"/>
          <p:cNvSpPr/>
          <p:nvPr/>
        </p:nvSpPr>
        <p:spPr>
          <a:xfrm>
            <a:off x="5543550" y="3740150"/>
            <a:ext cx="88900" cy="889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blabel-2"/>
          <p:cNvSpPr/>
          <p:nvPr/>
        </p:nvSpPr>
        <p:spPr>
          <a:xfrm>
            <a:off x="4064000" y="1835150"/>
            <a:ext cx="1473200" cy="419100"/>
          </a:xfrm>
          <a:custGeom>
            <a:avLst/>
            <a:gdLst/>
            <a:ahLst/>
            <a:cxnLst/>
            <a:rect l="0" t="0" r="r" b="b"/>
            <a:pathLst>
              <a:path w="1473200" h="419100">
                <a:moveTo>
                  <a:pt x="101600" y="0"/>
                </a:moveTo>
                <a:lnTo>
                  <a:pt x="1371600" y="0"/>
                </a:lnTo>
                <a:cubicBezTo>
                  <a:pt x="1427734" y="0"/>
                  <a:pt x="1473200" y="45466"/>
                  <a:pt x="1473200" y="101600"/>
                </a:cubicBezTo>
                <a:lnTo>
                  <a:pt x="1473200" y="317500"/>
                </a:lnTo>
                <a:cubicBezTo>
                  <a:pt x="1473200" y="373634"/>
                  <a:pt x="1427734" y="419100"/>
                  <a:pt x="1371600" y="419100"/>
                </a:cubicBezTo>
                <a:lnTo>
                  <a:pt x="101600" y="419100"/>
                </a:lnTo>
                <a:cubicBezTo>
                  <a:pt x="45466" y="419100"/>
                  <a:pt x="0" y="373634"/>
                  <a:pt x="0" y="3175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2F61A8"/>
              </a:gs>
              <a:gs pos="100000">
                <a:srgbClr val="134C9C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icon-gear"/>
          <p:cNvSpPr/>
          <p:nvPr/>
        </p:nvSpPr>
        <p:spPr>
          <a:xfrm>
            <a:off x="4228338" y="1981390"/>
            <a:ext cx="103124" cy="126619"/>
          </a:xfrm>
          <a:custGeom>
            <a:avLst/>
            <a:gdLst/>
            <a:ahLst/>
            <a:cxnLst/>
            <a:rect l="0" t="0" r="r" b="b"/>
            <a:pathLst>
              <a:path w="103124" h="126619">
                <a:moveTo>
                  <a:pt x="51562" y="39942"/>
                </a:moveTo>
                <a:cubicBezTo>
                  <a:pt x="43180" y="39942"/>
                  <a:pt x="35497" y="44387"/>
                  <a:pt x="31305" y="51626"/>
                </a:cubicBezTo>
                <a:cubicBezTo>
                  <a:pt x="27114" y="58865"/>
                  <a:pt x="27114" y="67755"/>
                  <a:pt x="31305" y="74994"/>
                </a:cubicBezTo>
                <a:cubicBezTo>
                  <a:pt x="35497" y="82233"/>
                  <a:pt x="43180" y="86678"/>
                  <a:pt x="51562" y="86678"/>
                </a:cubicBezTo>
                <a:cubicBezTo>
                  <a:pt x="64452" y="86678"/>
                  <a:pt x="74930" y="76200"/>
                  <a:pt x="74930" y="63310"/>
                </a:cubicBezTo>
                <a:cubicBezTo>
                  <a:pt x="74930" y="50419"/>
                  <a:pt x="64452" y="39942"/>
                  <a:pt x="51562" y="39942"/>
                </a:cubicBezTo>
                <a:close/>
                <a:moveTo>
                  <a:pt x="51562" y="0"/>
                </a:moveTo>
                <a:lnTo>
                  <a:pt x="59119" y="17907"/>
                </a:lnTo>
                <a:lnTo>
                  <a:pt x="78423" y="13780"/>
                </a:lnTo>
                <a:lnTo>
                  <a:pt x="85280" y="32322"/>
                </a:lnTo>
                <a:lnTo>
                  <a:pt x="103124" y="39942"/>
                </a:lnTo>
                <a:lnTo>
                  <a:pt x="94933" y="57785"/>
                </a:lnTo>
                <a:lnTo>
                  <a:pt x="103124" y="75692"/>
                </a:lnTo>
                <a:lnTo>
                  <a:pt x="85280" y="83249"/>
                </a:lnTo>
                <a:lnTo>
                  <a:pt x="78423" y="101854"/>
                </a:lnTo>
                <a:lnTo>
                  <a:pt x="59119" y="97727"/>
                </a:lnTo>
                <a:lnTo>
                  <a:pt x="51562" y="126619"/>
                </a:lnTo>
                <a:lnTo>
                  <a:pt x="44005" y="108712"/>
                </a:lnTo>
                <a:lnTo>
                  <a:pt x="24701" y="112840"/>
                </a:lnTo>
                <a:lnTo>
                  <a:pt x="17844" y="94298"/>
                </a:lnTo>
                <a:lnTo>
                  <a:pt x="0" y="86678"/>
                </a:lnTo>
                <a:lnTo>
                  <a:pt x="8191" y="63310"/>
                </a:lnTo>
                <a:lnTo>
                  <a:pt x="0" y="45403"/>
                </a:lnTo>
                <a:lnTo>
                  <a:pt x="17844" y="37846"/>
                </a:lnTo>
                <a:lnTo>
                  <a:pt x="24701" y="19304"/>
                </a:lnTo>
                <a:lnTo>
                  <a:pt x="44005" y="23432"/>
                </a:lnTo>
                <a:close/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bname-2"/>
          <p:cNvSpPr txBox="1"/>
          <p:nvPr/>
        </p:nvSpPr>
        <p:spPr>
          <a:xfrm>
            <a:off x="4439412" y="1913636"/>
            <a:ext cx="4800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设备</a:t>
            </a:r>
          </a:p>
        </p:txBody>
      </p:sp>
      <p:sp>
        <p:nvSpPr>
          <p:cNvPr id="36" name="bno-2"/>
          <p:cNvSpPr txBox="1"/>
          <p:nvPr/>
        </p:nvSpPr>
        <p:spPr>
          <a:xfrm>
            <a:off x="5168900" y="1938655"/>
            <a:ext cx="2565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00" b="1">
                <a:solidFill>
                  <a:srgbClr val="FFFFFF">
                    <a:alpha val="45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cxnSp>
        <p:nvCxnSpPr>
          <p:cNvPr id="37" name="sub-2-1"/>
          <p:cNvCxnSpPr/>
          <p:nvPr/>
        </p:nvCxnSpPr>
        <p:spPr>
          <a:xfrm>
            <a:off x="5320284" y="3283712"/>
            <a:ext cx="101600" cy="0"/>
          </a:xfrm>
          <a:prstGeom prst="line">
            <a:avLst/>
          </a:prstGeom>
          <a:ln w="10160" cap="rnd">
            <a:solidFill>
              <a:srgbClr val="134C9C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subd-2-1"/>
          <p:cNvSpPr/>
          <p:nvPr/>
        </p:nvSpPr>
        <p:spPr>
          <a:xfrm>
            <a:off x="5297424" y="3260852"/>
            <a:ext cx="45720" cy="4572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subt-2-1"/>
          <p:cNvSpPr txBox="1"/>
          <p:nvPr/>
        </p:nvSpPr>
        <p:spPr>
          <a:xfrm>
            <a:off x="5472049" y="3184573"/>
            <a:ext cx="10042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关键机台可用率低</a:t>
            </a:r>
          </a:p>
        </p:txBody>
      </p:sp>
      <p:cxnSp>
        <p:nvCxnSpPr>
          <p:cNvPr id="40" name="sub-2-2"/>
          <p:cNvCxnSpPr/>
          <p:nvPr/>
        </p:nvCxnSpPr>
        <p:spPr>
          <a:xfrm>
            <a:off x="5076190" y="2827020"/>
            <a:ext cx="101600" cy="0"/>
          </a:xfrm>
          <a:prstGeom prst="line">
            <a:avLst/>
          </a:prstGeom>
          <a:ln w="10160" cap="rnd">
            <a:solidFill>
              <a:srgbClr val="134C9C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subd-2-2"/>
          <p:cNvSpPr/>
          <p:nvPr/>
        </p:nvSpPr>
        <p:spPr>
          <a:xfrm>
            <a:off x="5053330" y="2804160"/>
            <a:ext cx="45720" cy="4572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subt-2-2"/>
          <p:cNvSpPr txBox="1"/>
          <p:nvPr/>
        </p:nvSpPr>
        <p:spPr>
          <a:xfrm>
            <a:off x="5227955" y="2727881"/>
            <a:ext cx="89122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故障停机响应慢</a:t>
            </a:r>
          </a:p>
        </p:txBody>
      </p:sp>
      <p:cxnSp>
        <p:nvCxnSpPr>
          <p:cNvPr id="43" name="bone-3"/>
          <p:cNvCxnSpPr/>
          <p:nvPr/>
        </p:nvCxnSpPr>
        <p:spPr>
          <a:xfrm flipH="1" flipV="1">
            <a:off x="6832600" y="2311400"/>
            <a:ext cx="787400" cy="1473200"/>
          </a:xfrm>
          <a:prstGeom prst="line">
            <a:avLst/>
          </a:prstGeom>
          <a:ln w="15240" cap="rnd">
            <a:solidFill>
              <a:srgbClr val="2468B6">
                <a:alpha val="5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joint-3"/>
          <p:cNvSpPr/>
          <p:nvPr/>
        </p:nvSpPr>
        <p:spPr>
          <a:xfrm>
            <a:off x="7575550" y="3740150"/>
            <a:ext cx="88900" cy="889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blabel-3"/>
          <p:cNvSpPr/>
          <p:nvPr/>
        </p:nvSpPr>
        <p:spPr>
          <a:xfrm>
            <a:off x="6096000" y="1835150"/>
            <a:ext cx="1473200" cy="419100"/>
          </a:xfrm>
          <a:custGeom>
            <a:avLst/>
            <a:gdLst/>
            <a:ahLst/>
            <a:cxnLst/>
            <a:rect l="0" t="0" r="r" b="b"/>
            <a:pathLst>
              <a:path w="1473200" h="419100">
                <a:moveTo>
                  <a:pt x="101600" y="0"/>
                </a:moveTo>
                <a:lnTo>
                  <a:pt x="1371600" y="0"/>
                </a:lnTo>
                <a:cubicBezTo>
                  <a:pt x="1427734" y="0"/>
                  <a:pt x="1473200" y="45466"/>
                  <a:pt x="1473200" y="101600"/>
                </a:cubicBezTo>
                <a:lnTo>
                  <a:pt x="1473200" y="317500"/>
                </a:lnTo>
                <a:cubicBezTo>
                  <a:pt x="1473200" y="373634"/>
                  <a:pt x="1427734" y="419100"/>
                  <a:pt x="1371600" y="419100"/>
                </a:cubicBezTo>
                <a:lnTo>
                  <a:pt x="101600" y="419100"/>
                </a:lnTo>
                <a:cubicBezTo>
                  <a:pt x="45466" y="419100"/>
                  <a:pt x="0" y="373634"/>
                  <a:pt x="0" y="3175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3E7ABF"/>
              </a:gs>
              <a:gs pos="100000">
                <a:srgbClr val="2468B6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icon-cart"/>
          <p:cNvSpPr/>
          <p:nvPr/>
        </p:nvSpPr>
        <p:spPr>
          <a:xfrm>
            <a:off x="6251384" y="1993773"/>
            <a:ext cx="109347" cy="64706"/>
          </a:xfrm>
          <a:custGeom>
            <a:avLst/>
            <a:gdLst/>
            <a:ahLst/>
            <a:cxnLst/>
            <a:rect l="0" t="0" r="r" b="b"/>
            <a:pathLst>
              <a:path w="109347" h="64706">
                <a:moveTo>
                  <a:pt x="0" y="0"/>
                </a:moveTo>
                <a:lnTo>
                  <a:pt x="15812" y="0"/>
                </a:lnTo>
                <a:lnTo>
                  <a:pt x="31623" y="64706"/>
                </a:lnTo>
                <a:lnTo>
                  <a:pt x="96266" y="64706"/>
                </a:lnTo>
                <a:lnTo>
                  <a:pt x="109347" y="19304"/>
                </a:lnTo>
                <a:lnTo>
                  <a:pt x="20638" y="19304"/>
                </a:lnTo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icon-cart"/>
          <p:cNvSpPr/>
          <p:nvPr/>
        </p:nvSpPr>
        <p:spPr>
          <a:xfrm>
            <a:off x="6284383" y="2079096"/>
            <a:ext cx="19262" cy="19262"/>
          </a:xfrm>
          <a:prstGeom prst="ellipse">
            <a:avLst/>
          </a:pr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icon-cart"/>
          <p:cNvSpPr/>
          <p:nvPr/>
        </p:nvSpPr>
        <p:spPr>
          <a:xfrm>
            <a:off x="6333913" y="2079096"/>
            <a:ext cx="19262" cy="19262"/>
          </a:xfrm>
          <a:prstGeom prst="ellipse">
            <a:avLst/>
          </a:pr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bname-3"/>
          <p:cNvSpPr txBox="1"/>
          <p:nvPr/>
        </p:nvSpPr>
        <p:spPr>
          <a:xfrm>
            <a:off x="6471412" y="1913636"/>
            <a:ext cx="4800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物料</a:t>
            </a:r>
          </a:p>
        </p:txBody>
      </p:sp>
      <p:sp>
        <p:nvSpPr>
          <p:cNvPr id="50" name="bno-3"/>
          <p:cNvSpPr txBox="1"/>
          <p:nvPr/>
        </p:nvSpPr>
        <p:spPr>
          <a:xfrm>
            <a:off x="7200900" y="1938655"/>
            <a:ext cx="2565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00" b="1">
                <a:solidFill>
                  <a:srgbClr val="FFFFFF">
                    <a:alpha val="45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cxnSp>
        <p:nvCxnSpPr>
          <p:cNvPr id="51" name="sub-3-1"/>
          <p:cNvCxnSpPr/>
          <p:nvPr/>
        </p:nvCxnSpPr>
        <p:spPr>
          <a:xfrm>
            <a:off x="7352284" y="3283712"/>
            <a:ext cx="101600" cy="0"/>
          </a:xfrm>
          <a:prstGeom prst="line">
            <a:avLst/>
          </a:prstGeom>
          <a:ln w="10160" cap="rnd">
            <a:solidFill>
              <a:srgbClr val="2468B6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subd-3-1"/>
          <p:cNvSpPr/>
          <p:nvPr/>
        </p:nvSpPr>
        <p:spPr>
          <a:xfrm>
            <a:off x="7329424" y="3260852"/>
            <a:ext cx="45720" cy="45720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subt-3-1"/>
          <p:cNvSpPr txBox="1"/>
          <p:nvPr/>
        </p:nvSpPr>
        <p:spPr>
          <a:xfrm>
            <a:off x="7504049" y="3184573"/>
            <a:ext cx="10042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长周期件备货不足</a:t>
            </a:r>
          </a:p>
        </p:txBody>
      </p:sp>
      <p:cxnSp>
        <p:nvCxnSpPr>
          <p:cNvPr id="54" name="sub-3-2"/>
          <p:cNvCxnSpPr/>
          <p:nvPr/>
        </p:nvCxnSpPr>
        <p:spPr>
          <a:xfrm>
            <a:off x="7108190" y="2827020"/>
            <a:ext cx="101600" cy="0"/>
          </a:xfrm>
          <a:prstGeom prst="line">
            <a:avLst/>
          </a:prstGeom>
          <a:ln w="10160" cap="rnd">
            <a:solidFill>
              <a:srgbClr val="2468B6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subd-3-2"/>
          <p:cNvSpPr/>
          <p:nvPr/>
        </p:nvSpPr>
        <p:spPr>
          <a:xfrm>
            <a:off x="7085330" y="2804160"/>
            <a:ext cx="45720" cy="45720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subt-3-2"/>
          <p:cNvSpPr txBox="1"/>
          <p:nvPr/>
        </p:nvSpPr>
        <p:spPr>
          <a:xfrm>
            <a:off x="7259955" y="2727881"/>
            <a:ext cx="89122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供应商交期波动</a:t>
            </a:r>
          </a:p>
        </p:txBody>
      </p:sp>
      <p:cxnSp>
        <p:nvCxnSpPr>
          <p:cNvPr id="57" name="bone-4"/>
          <p:cNvCxnSpPr/>
          <p:nvPr/>
        </p:nvCxnSpPr>
        <p:spPr>
          <a:xfrm flipH="1">
            <a:off x="2768600" y="3784600"/>
            <a:ext cx="787400" cy="1473200"/>
          </a:xfrm>
          <a:prstGeom prst="line">
            <a:avLst/>
          </a:prstGeom>
          <a:ln w="15240" cap="rnd">
            <a:solidFill>
              <a:srgbClr val="2E77C2">
                <a:alpha val="5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joint-4"/>
          <p:cNvSpPr/>
          <p:nvPr/>
        </p:nvSpPr>
        <p:spPr>
          <a:xfrm>
            <a:off x="3511550" y="3740150"/>
            <a:ext cx="88900" cy="889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blabel-4"/>
          <p:cNvSpPr/>
          <p:nvPr/>
        </p:nvSpPr>
        <p:spPr>
          <a:xfrm>
            <a:off x="2032000" y="5314950"/>
            <a:ext cx="1473200" cy="419100"/>
          </a:xfrm>
          <a:custGeom>
            <a:avLst/>
            <a:gdLst/>
            <a:ahLst/>
            <a:cxnLst/>
            <a:rect l="0" t="0" r="r" b="b"/>
            <a:pathLst>
              <a:path w="1473200" h="419100">
                <a:moveTo>
                  <a:pt x="101600" y="0"/>
                </a:moveTo>
                <a:lnTo>
                  <a:pt x="1371600" y="0"/>
                </a:lnTo>
                <a:cubicBezTo>
                  <a:pt x="1427734" y="0"/>
                  <a:pt x="1473200" y="45466"/>
                  <a:pt x="1473200" y="101600"/>
                </a:cubicBezTo>
                <a:lnTo>
                  <a:pt x="1473200" y="317500"/>
                </a:lnTo>
                <a:cubicBezTo>
                  <a:pt x="1473200" y="373634"/>
                  <a:pt x="1427734" y="419100"/>
                  <a:pt x="1371600" y="419100"/>
                </a:cubicBezTo>
                <a:lnTo>
                  <a:pt x="101600" y="419100"/>
                </a:lnTo>
                <a:cubicBezTo>
                  <a:pt x="45466" y="419100"/>
                  <a:pt x="0" y="373634"/>
                  <a:pt x="0" y="3175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4787C9"/>
              </a:gs>
              <a:gs pos="100000">
                <a:srgbClr val="2E77C2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icon-process"/>
          <p:cNvSpPr/>
          <p:nvPr/>
        </p:nvSpPr>
        <p:spPr>
          <a:xfrm>
            <a:off x="2196973" y="5497004"/>
            <a:ext cx="101854" cy="54991"/>
          </a:xfrm>
          <a:custGeom>
            <a:avLst/>
            <a:gdLst/>
            <a:ahLst/>
            <a:cxnLst/>
            <a:rect l="0" t="0" r="r" b="b"/>
            <a:pathLst>
              <a:path w="101854" h="54991">
                <a:moveTo>
                  <a:pt x="0" y="0"/>
                </a:moveTo>
                <a:lnTo>
                  <a:pt x="35814" y="0"/>
                </a:lnTo>
                <a:lnTo>
                  <a:pt x="35814" y="35750"/>
                </a:lnTo>
                <a:lnTo>
                  <a:pt x="0" y="35750"/>
                </a:lnTo>
                <a:close/>
                <a:moveTo>
                  <a:pt x="66040" y="19241"/>
                </a:moveTo>
                <a:lnTo>
                  <a:pt x="101854" y="19241"/>
                </a:lnTo>
                <a:lnTo>
                  <a:pt x="101854" y="54991"/>
                </a:lnTo>
                <a:lnTo>
                  <a:pt x="66040" y="54991"/>
                </a:lnTo>
                <a:close/>
                <a:moveTo>
                  <a:pt x="35814" y="17844"/>
                </a:moveTo>
                <a:lnTo>
                  <a:pt x="66040" y="17844"/>
                </a:lnTo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bname-4"/>
          <p:cNvSpPr txBox="1"/>
          <p:nvPr/>
        </p:nvSpPr>
        <p:spPr>
          <a:xfrm>
            <a:off x="2407412" y="5393436"/>
            <a:ext cx="4800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方法</a:t>
            </a:r>
          </a:p>
        </p:txBody>
      </p:sp>
      <p:sp>
        <p:nvSpPr>
          <p:cNvPr id="62" name="bno-4"/>
          <p:cNvSpPr txBox="1"/>
          <p:nvPr/>
        </p:nvSpPr>
        <p:spPr>
          <a:xfrm>
            <a:off x="3136900" y="5418455"/>
            <a:ext cx="2565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00" b="1">
                <a:solidFill>
                  <a:srgbClr val="FFFFFF">
                    <a:alpha val="45000"/>
                  </a:srgbClr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cxnSp>
        <p:nvCxnSpPr>
          <p:cNvPr id="63" name="sub-4-1"/>
          <p:cNvCxnSpPr/>
          <p:nvPr/>
        </p:nvCxnSpPr>
        <p:spPr>
          <a:xfrm>
            <a:off x="3288284" y="4285488"/>
            <a:ext cx="101600" cy="0"/>
          </a:xfrm>
          <a:prstGeom prst="line">
            <a:avLst/>
          </a:prstGeom>
          <a:ln w="10160" cap="rnd">
            <a:solidFill>
              <a:srgbClr val="2E77C2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subd-4-1"/>
          <p:cNvSpPr/>
          <p:nvPr/>
        </p:nvSpPr>
        <p:spPr>
          <a:xfrm>
            <a:off x="3265424" y="4262628"/>
            <a:ext cx="45720" cy="4572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subt-4-1"/>
          <p:cNvSpPr txBox="1"/>
          <p:nvPr/>
        </p:nvSpPr>
        <p:spPr>
          <a:xfrm>
            <a:off x="3440049" y="4186349"/>
            <a:ext cx="10042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排程规则依赖人工</a:t>
            </a:r>
          </a:p>
        </p:txBody>
      </p:sp>
      <p:cxnSp>
        <p:nvCxnSpPr>
          <p:cNvPr id="66" name="sub-4-2"/>
          <p:cNvCxnSpPr/>
          <p:nvPr/>
        </p:nvCxnSpPr>
        <p:spPr>
          <a:xfrm>
            <a:off x="3044190" y="4742180"/>
            <a:ext cx="101600" cy="0"/>
          </a:xfrm>
          <a:prstGeom prst="line">
            <a:avLst/>
          </a:prstGeom>
          <a:ln w="10160" cap="rnd">
            <a:solidFill>
              <a:srgbClr val="2E77C2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7" name="subd-4-2"/>
          <p:cNvSpPr/>
          <p:nvPr/>
        </p:nvSpPr>
        <p:spPr>
          <a:xfrm>
            <a:off x="3021330" y="4719320"/>
            <a:ext cx="45720" cy="4572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subt-4-2"/>
          <p:cNvSpPr txBox="1"/>
          <p:nvPr/>
        </p:nvSpPr>
        <p:spPr>
          <a:xfrm>
            <a:off x="3195955" y="4643041"/>
            <a:ext cx="10042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变更缺少评审机制</a:t>
            </a:r>
          </a:p>
        </p:txBody>
      </p:sp>
      <p:cxnSp>
        <p:nvCxnSpPr>
          <p:cNvPr id="69" name="bone-5"/>
          <p:cNvCxnSpPr/>
          <p:nvPr/>
        </p:nvCxnSpPr>
        <p:spPr>
          <a:xfrm flipH="1">
            <a:off x="4800600" y="3784600"/>
            <a:ext cx="787400" cy="1473200"/>
          </a:xfrm>
          <a:prstGeom prst="line">
            <a:avLst/>
          </a:prstGeom>
          <a:ln w="15240" cap="rnd">
            <a:solidFill>
              <a:srgbClr val="4694D7">
                <a:alpha val="5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joint-5"/>
          <p:cNvSpPr/>
          <p:nvPr/>
        </p:nvSpPr>
        <p:spPr>
          <a:xfrm>
            <a:off x="5543550" y="3740150"/>
            <a:ext cx="88900" cy="889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blabel-5"/>
          <p:cNvSpPr/>
          <p:nvPr/>
        </p:nvSpPr>
        <p:spPr>
          <a:xfrm>
            <a:off x="4064000" y="5314950"/>
            <a:ext cx="1473200" cy="419100"/>
          </a:xfrm>
          <a:custGeom>
            <a:avLst/>
            <a:gdLst/>
            <a:ahLst/>
            <a:cxnLst/>
            <a:rect l="0" t="0" r="r" b="b"/>
            <a:pathLst>
              <a:path w="1473200" h="419100">
                <a:moveTo>
                  <a:pt x="101600" y="0"/>
                </a:moveTo>
                <a:lnTo>
                  <a:pt x="1371600" y="0"/>
                </a:lnTo>
                <a:cubicBezTo>
                  <a:pt x="1427734" y="0"/>
                  <a:pt x="1473200" y="45466"/>
                  <a:pt x="1473200" y="101600"/>
                </a:cubicBezTo>
                <a:lnTo>
                  <a:pt x="1473200" y="317500"/>
                </a:lnTo>
                <a:cubicBezTo>
                  <a:pt x="1473200" y="373634"/>
                  <a:pt x="1427734" y="419100"/>
                  <a:pt x="1371600" y="419100"/>
                </a:cubicBezTo>
                <a:lnTo>
                  <a:pt x="101600" y="419100"/>
                </a:lnTo>
                <a:cubicBezTo>
                  <a:pt x="45466" y="419100"/>
                  <a:pt x="0" y="373634"/>
                  <a:pt x="0" y="3175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5CA1DC"/>
              </a:gs>
              <a:gs pos="100000">
                <a:srgbClr val="4694D7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icon-globe"/>
          <p:cNvSpPr/>
          <p:nvPr/>
        </p:nvSpPr>
        <p:spPr>
          <a:xfrm>
            <a:off x="4220718" y="5465318"/>
            <a:ext cx="118364" cy="118364"/>
          </a:xfrm>
          <a:custGeom>
            <a:avLst/>
            <a:gdLst/>
            <a:ahLst/>
            <a:cxnLst/>
            <a:rect l="0" t="0" r="r" b="b"/>
            <a:pathLst>
              <a:path w="118364" h="118364">
                <a:moveTo>
                  <a:pt x="0" y="59182"/>
                </a:moveTo>
                <a:lnTo>
                  <a:pt x="118364" y="59182"/>
                </a:lnTo>
                <a:moveTo>
                  <a:pt x="59182" y="0"/>
                </a:moveTo>
                <a:cubicBezTo>
                  <a:pt x="75692" y="17209"/>
                  <a:pt x="83947" y="37148"/>
                  <a:pt x="83947" y="59182"/>
                </a:cubicBezTo>
                <a:cubicBezTo>
                  <a:pt x="83947" y="81217"/>
                  <a:pt x="75692" y="101156"/>
                  <a:pt x="59182" y="118364"/>
                </a:cubicBezTo>
                <a:cubicBezTo>
                  <a:pt x="42672" y="101156"/>
                  <a:pt x="34417" y="81217"/>
                  <a:pt x="34417" y="59182"/>
                </a:cubicBezTo>
                <a:cubicBezTo>
                  <a:pt x="34417" y="37148"/>
                  <a:pt x="42672" y="17209"/>
                  <a:pt x="59182" y="0"/>
                </a:cubicBezTo>
                <a:close/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icon-globe"/>
          <p:cNvSpPr/>
          <p:nvPr/>
        </p:nvSpPr>
        <p:spPr>
          <a:xfrm>
            <a:off x="4220739" y="5465339"/>
            <a:ext cx="118322" cy="118322"/>
          </a:xfrm>
          <a:prstGeom prst="ellipse">
            <a:avLst/>
          </a:pr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bname-5"/>
          <p:cNvSpPr txBox="1"/>
          <p:nvPr/>
        </p:nvSpPr>
        <p:spPr>
          <a:xfrm>
            <a:off x="4439412" y="5393436"/>
            <a:ext cx="4800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环境</a:t>
            </a:r>
          </a:p>
        </p:txBody>
      </p:sp>
      <p:sp>
        <p:nvSpPr>
          <p:cNvPr id="75" name="bno-5"/>
          <p:cNvSpPr txBox="1"/>
          <p:nvPr/>
        </p:nvSpPr>
        <p:spPr>
          <a:xfrm>
            <a:off x="5168900" y="5418455"/>
            <a:ext cx="2565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00" b="1">
                <a:solidFill>
                  <a:srgbClr val="FFFFFF">
                    <a:alpha val="45000"/>
                  </a:srgbClr>
                </a:solidFill>
                <a:latin typeface="Arial"/>
                <a:ea typeface="Arial"/>
                <a:cs typeface="Arial"/>
              </a:rPr>
              <a:t>05</a:t>
            </a:r>
          </a:p>
        </p:txBody>
      </p:sp>
      <p:cxnSp>
        <p:nvCxnSpPr>
          <p:cNvPr id="76" name="sub-5-1"/>
          <p:cNvCxnSpPr/>
          <p:nvPr/>
        </p:nvCxnSpPr>
        <p:spPr>
          <a:xfrm>
            <a:off x="5320284" y="4285488"/>
            <a:ext cx="101600" cy="0"/>
          </a:xfrm>
          <a:prstGeom prst="line">
            <a:avLst/>
          </a:prstGeom>
          <a:ln w="10160" cap="rnd">
            <a:solidFill>
              <a:srgbClr val="4694D7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7" name="subd-5-1"/>
          <p:cNvSpPr/>
          <p:nvPr/>
        </p:nvSpPr>
        <p:spPr>
          <a:xfrm>
            <a:off x="5297424" y="4262628"/>
            <a:ext cx="45720" cy="45720"/>
          </a:xfrm>
          <a:prstGeom prst="ellipse">
            <a:avLst/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subt-5-1"/>
          <p:cNvSpPr txBox="1"/>
          <p:nvPr/>
        </p:nvSpPr>
        <p:spPr>
          <a:xfrm>
            <a:off x="5472049" y="4186349"/>
            <a:ext cx="10042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旺季订单集中到货</a:t>
            </a:r>
          </a:p>
        </p:txBody>
      </p:sp>
      <p:cxnSp>
        <p:nvCxnSpPr>
          <p:cNvPr id="79" name="sub-5-2"/>
          <p:cNvCxnSpPr/>
          <p:nvPr/>
        </p:nvCxnSpPr>
        <p:spPr>
          <a:xfrm>
            <a:off x="5076190" y="4742180"/>
            <a:ext cx="101600" cy="0"/>
          </a:xfrm>
          <a:prstGeom prst="line">
            <a:avLst/>
          </a:prstGeom>
          <a:ln w="10160" cap="rnd">
            <a:solidFill>
              <a:srgbClr val="4694D7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0" name="subd-5-2"/>
          <p:cNvSpPr/>
          <p:nvPr/>
        </p:nvSpPr>
        <p:spPr>
          <a:xfrm>
            <a:off x="5053330" y="4719320"/>
            <a:ext cx="45720" cy="45720"/>
          </a:xfrm>
          <a:prstGeom prst="ellipse">
            <a:avLst/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subt-5-2"/>
          <p:cNvSpPr txBox="1"/>
          <p:nvPr/>
        </p:nvSpPr>
        <p:spPr>
          <a:xfrm>
            <a:off x="5227955" y="4643041"/>
            <a:ext cx="10042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场地周转空间紧张</a:t>
            </a:r>
          </a:p>
        </p:txBody>
      </p:sp>
      <p:cxnSp>
        <p:nvCxnSpPr>
          <p:cNvPr id="82" name="bone-6"/>
          <p:cNvCxnSpPr/>
          <p:nvPr/>
        </p:nvCxnSpPr>
        <p:spPr>
          <a:xfrm flipH="1">
            <a:off x="6832600" y="3784600"/>
            <a:ext cx="787400" cy="1473200"/>
          </a:xfrm>
          <a:prstGeom prst="line">
            <a:avLst/>
          </a:prstGeom>
          <a:ln w="15240" cap="rnd">
            <a:solidFill>
              <a:srgbClr val="54A2DF">
                <a:alpha val="5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3" name="joint-6"/>
          <p:cNvSpPr/>
          <p:nvPr/>
        </p:nvSpPr>
        <p:spPr>
          <a:xfrm>
            <a:off x="7575550" y="3740150"/>
            <a:ext cx="88900" cy="889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blabel-6"/>
          <p:cNvSpPr/>
          <p:nvPr/>
        </p:nvSpPr>
        <p:spPr>
          <a:xfrm>
            <a:off x="6096000" y="5314950"/>
            <a:ext cx="1473200" cy="419100"/>
          </a:xfrm>
          <a:custGeom>
            <a:avLst/>
            <a:gdLst/>
            <a:ahLst/>
            <a:cxnLst/>
            <a:rect l="0" t="0" r="r" b="b"/>
            <a:pathLst>
              <a:path w="1473200" h="419100">
                <a:moveTo>
                  <a:pt x="101600" y="0"/>
                </a:moveTo>
                <a:lnTo>
                  <a:pt x="1371600" y="0"/>
                </a:lnTo>
                <a:cubicBezTo>
                  <a:pt x="1427734" y="0"/>
                  <a:pt x="1473200" y="45466"/>
                  <a:pt x="1473200" y="101600"/>
                </a:cubicBezTo>
                <a:lnTo>
                  <a:pt x="1473200" y="317500"/>
                </a:lnTo>
                <a:cubicBezTo>
                  <a:pt x="1473200" y="373634"/>
                  <a:pt x="1427734" y="419100"/>
                  <a:pt x="1371600" y="419100"/>
                </a:cubicBezTo>
                <a:lnTo>
                  <a:pt x="101600" y="419100"/>
                </a:lnTo>
                <a:cubicBezTo>
                  <a:pt x="45466" y="419100"/>
                  <a:pt x="0" y="373634"/>
                  <a:pt x="0" y="3175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69ADE3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icon-chart"/>
          <p:cNvSpPr/>
          <p:nvPr/>
        </p:nvSpPr>
        <p:spPr>
          <a:xfrm>
            <a:off x="6254115" y="5503862"/>
            <a:ext cx="115570" cy="75692"/>
          </a:xfrm>
          <a:custGeom>
            <a:avLst/>
            <a:gdLst/>
            <a:ahLst/>
            <a:cxnLst/>
            <a:rect l="0" t="0" r="r" b="b"/>
            <a:pathLst>
              <a:path w="115570" h="75692">
                <a:moveTo>
                  <a:pt x="0" y="75692"/>
                </a:moveTo>
                <a:lnTo>
                  <a:pt x="115570" y="75692"/>
                </a:lnTo>
                <a:moveTo>
                  <a:pt x="26162" y="75692"/>
                </a:moveTo>
                <a:lnTo>
                  <a:pt x="26162" y="31623"/>
                </a:lnTo>
                <a:moveTo>
                  <a:pt x="57785" y="75692"/>
                </a:moveTo>
                <a:lnTo>
                  <a:pt x="57785" y="0"/>
                </a:lnTo>
                <a:moveTo>
                  <a:pt x="89408" y="75692"/>
                </a:moveTo>
                <a:lnTo>
                  <a:pt x="89408" y="46800"/>
                </a:lnTo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bname-6"/>
          <p:cNvSpPr txBox="1"/>
          <p:nvPr/>
        </p:nvSpPr>
        <p:spPr>
          <a:xfrm>
            <a:off x="6471412" y="5393436"/>
            <a:ext cx="4800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测量</a:t>
            </a:r>
          </a:p>
        </p:txBody>
      </p:sp>
      <p:sp>
        <p:nvSpPr>
          <p:cNvPr id="87" name="bno-6"/>
          <p:cNvSpPr txBox="1"/>
          <p:nvPr/>
        </p:nvSpPr>
        <p:spPr>
          <a:xfrm>
            <a:off x="7200900" y="5418455"/>
            <a:ext cx="2565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00" b="1">
                <a:solidFill>
                  <a:srgbClr val="FFFFFF">
                    <a:alpha val="45000"/>
                  </a:srgbClr>
                </a:solidFill>
                <a:latin typeface="Arial"/>
                <a:ea typeface="Arial"/>
                <a:cs typeface="Arial"/>
              </a:rPr>
              <a:t>06</a:t>
            </a:r>
          </a:p>
        </p:txBody>
      </p:sp>
      <p:cxnSp>
        <p:nvCxnSpPr>
          <p:cNvPr id="88" name="sub-6-1"/>
          <p:cNvCxnSpPr/>
          <p:nvPr/>
        </p:nvCxnSpPr>
        <p:spPr>
          <a:xfrm>
            <a:off x="7352284" y="4285488"/>
            <a:ext cx="101600" cy="0"/>
          </a:xfrm>
          <a:prstGeom prst="line">
            <a:avLst/>
          </a:prstGeom>
          <a:ln w="10160" cap="rnd">
            <a:solidFill>
              <a:srgbClr val="54A2DF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9" name="subd-6-1"/>
          <p:cNvSpPr/>
          <p:nvPr/>
        </p:nvSpPr>
        <p:spPr>
          <a:xfrm>
            <a:off x="7329424" y="4262628"/>
            <a:ext cx="45720" cy="45720"/>
          </a:xfrm>
          <a:prstGeom prst="ellipse">
            <a:avLst/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subt-6-1"/>
          <p:cNvSpPr txBox="1"/>
          <p:nvPr/>
        </p:nvSpPr>
        <p:spPr>
          <a:xfrm>
            <a:off x="7504049" y="4186349"/>
            <a:ext cx="10042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工序节拍未被记录</a:t>
            </a:r>
          </a:p>
        </p:txBody>
      </p:sp>
      <p:cxnSp>
        <p:nvCxnSpPr>
          <p:cNvPr id="91" name="sub-6-2"/>
          <p:cNvCxnSpPr/>
          <p:nvPr/>
        </p:nvCxnSpPr>
        <p:spPr>
          <a:xfrm>
            <a:off x="7108190" y="4742180"/>
            <a:ext cx="101600" cy="0"/>
          </a:xfrm>
          <a:prstGeom prst="line">
            <a:avLst/>
          </a:prstGeom>
          <a:ln w="10160" cap="rnd">
            <a:solidFill>
              <a:srgbClr val="54A2DF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2" name="subd-6-2"/>
          <p:cNvSpPr/>
          <p:nvPr/>
        </p:nvSpPr>
        <p:spPr>
          <a:xfrm>
            <a:off x="7085330" y="4719320"/>
            <a:ext cx="45720" cy="45720"/>
          </a:xfrm>
          <a:prstGeom prst="ellipse">
            <a:avLst/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subt-6-2"/>
          <p:cNvSpPr txBox="1"/>
          <p:nvPr/>
        </p:nvSpPr>
        <p:spPr>
          <a:xfrm>
            <a:off x="7259955" y="4643041"/>
            <a:ext cx="89122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延期原因未归类</a:t>
            </a:r>
          </a:p>
        </p:txBody>
      </p:sp>
      <p:sp>
        <p:nvSpPr>
          <p:cNvPr id="94" name="result"/>
          <p:cNvSpPr/>
          <p:nvPr/>
        </p:nvSpPr>
        <p:spPr>
          <a:xfrm>
            <a:off x="9601200" y="3238500"/>
            <a:ext cx="1905000" cy="1092200"/>
          </a:xfrm>
          <a:custGeom>
            <a:avLst/>
            <a:gdLst/>
            <a:ahLst/>
            <a:cxnLst/>
            <a:rect l="0" t="0" r="r" b="b"/>
            <a:pathLst>
              <a:path w="1905000" h="1092200">
                <a:moveTo>
                  <a:pt x="127000" y="0"/>
                </a:moveTo>
                <a:lnTo>
                  <a:pt x="1778000" y="0"/>
                </a:lnTo>
                <a:cubicBezTo>
                  <a:pt x="1848167" y="0"/>
                  <a:pt x="1905000" y="56833"/>
                  <a:pt x="1905000" y="127000"/>
                </a:cubicBezTo>
                <a:lnTo>
                  <a:pt x="1905000" y="965200"/>
                </a:lnTo>
                <a:cubicBezTo>
                  <a:pt x="1905000" y="1035367"/>
                  <a:pt x="1848167" y="1092200"/>
                  <a:pt x="1778000" y="1092200"/>
                </a:cubicBezTo>
                <a:lnTo>
                  <a:pt x="127000" y="1092200"/>
                </a:lnTo>
                <a:cubicBezTo>
                  <a:pt x="56833" y="1092200"/>
                  <a:pt x="0" y="1035367"/>
                  <a:pt x="0" y="9652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0A3A88"/>
              </a:gs>
            </a:gsLst>
            <a:lin ang="7440000" scaled="0"/>
          </a:gra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res-l"/>
          <p:cNvSpPr txBox="1"/>
          <p:nvPr/>
        </p:nvSpPr>
        <p:spPr>
          <a:xfrm>
            <a:off x="10282238" y="3374866"/>
            <a:ext cx="5429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50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改善目标</a:t>
            </a:r>
          </a:p>
        </p:txBody>
      </p:sp>
      <p:sp>
        <p:nvSpPr>
          <p:cNvPr id="96" name="res-v"/>
          <p:cNvSpPr txBox="1"/>
          <p:nvPr/>
        </p:nvSpPr>
        <p:spPr>
          <a:xfrm>
            <a:off x="9770745" y="3547110"/>
            <a:ext cx="156591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000" b="1" spc="50">
                <a:solidFill>
                  <a:srgbClr val="FFFFFF"/>
                </a:solidFill>
                <a:latin typeface="Arial"/>
                <a:ea typeface="Arial"/>
                <a:cs typeface="Arial"/>
              </a:rPr>
              <a:t>92% → 98%</a:t>
            </a:r>
          </a:p>
        </p:txBody>
      </p:sp>
      <p:sp>
        <p:nvSpPr>
          <p:cNvPr id="97" name="res-rule"/>
          <p:cNvSpPr/>
          <p:nvPr/>
        </p:nvSpPr>
        <p:spPr>
          <a:xfrm>
            <a:off x="10337800" y="3962400"/>
            <a:ext cx="431800" cy="19050"/>
          </a:xfrm>
          <a:prstGeom prst="roundRect">
            <a:avLst>
              <a:gd name="adj" fmla="val 50000"/>
            </a:avLst>
          </a:prstGeom>
          <a:solidFill>
            <a:srgbClr val="FFFFFF">
              <a:alpha val="4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res-p"/>
          <p:cNvSpPr txBox="1"/>
          <p:nvPr/>
        </p:nvSpPr>
        <p:spPr>
          <a:xfrm>
            <a:off x="10210006" y="4041061"/>
            <a:ext cx="68738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50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交付准时率</a:t>
            </a:r>
          </a:p>
        </p:txBody>
      </p:sp>
      <p:sp>
        <p:nvSpPr>
          <p:cNvPr id="99" name="hint"/>
          <p:cNvSpPr/>
          <p:nvPr/>
        </p:nvSpPr>
        <p:spPr>
          <a:xfrm>
            <a:off x="762000" y="5816600"/>
            <a:ext cx="10668000" cy="482600"/>
          </a:xfrm>
          <a:custGeom>
            <a:avLst/>
            <a:gdLst/>
            <a:ahLst/>
            <a:cxnLst/>
            <a:rect l="0" t="0" r="r" b="b"/>
            <a:pathLst>
              <a:path w="10668000" h="482600">
                <a:moveTo>
                  <a:pt x="101600" y="0"/>
                </a:moveTo>
                <a:lnTo>
                  <a:pt x="10566400" y="0"/>
                </a:lnTo>
                <a:cubicBezTo>
                  <a:pt x="10622534" y="0"/>
                  <a:pt x="10668000" y="45466"/>
                  <a:pt x="10668000" y="101600"/>
                </a:cubicBezTo>
                <a:lnTo>
                  <a:pt x="10668000" y="381000"/>
                </a:lnTo>
                <a:cubicBezTo>
                  <a:pt x="10668000" y="437134"/>
                  <a:pt x="10622534" y="482600"/>
                  <a:pt x="105664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hint-bar"/>
          <p:cNvSpPr/>
          <p:nvPr/>
        </p:nvSpPr>
        <p:spPr>
          <a:xfrm>
            <a:off x="762000" y="5816600"/>
            <a:ext cx="31750" cy="4826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hint-h"/>
          <p:cNvSpPr txBox="1"/>
          <p:nvPr/>
        </p:nvSpPr>
        <p:spPr>
          <a:xfrm>
            <a:off x="976122" y="59596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优先改善</a:t>
            </a:r>
          </a:p>
        </p:txBody>
      </p:sp>
      <p:sp>
        <p:nvSpPr>
          <p:cNvPr id="102" name="hd-1"/>
          <p:cNvSpPr/>
          <p:nvPr/>
        </p:nvSpPr>
        <p:spPr>
          <a:xfrm>
            <a:off x="1873250" y="6032500"/>
            <a:ext cx="63500" cy="635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hl-1"/>
          <p:cNvSpPr txBox="1"/>
          <p:nvPr/>
        </p:nvSpPr>
        <p:spPr>
          <a:xfrm>
            <a:off x="2005965" y="597146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物料备货</a:t>
            </a:r>
          </a:p>
        </p:txBody>
      </p:sp>
      <p:sp>
        <p:nvSpPr>
          <p:cNvPr id="104" name="hv-1"/>
          <p:cNvSpPr txBox="1"/>
          <p:nvPr/>
        </p:nvSpPr>
        <p:spPr>
          <a:xfrm>
            <a:off x="2831465" y="5971461"/>
            <a:ext cx="5826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影响 42%</a:t>
            </a:r>
          </a:p>
        </p:txBody>
      </p:sp>
      <p:sp>
        <p:nvSpPr>
          <p:cNvPr id="105" name="hd-2"/>
          <p:cNvSpPr/>
          <p:nvPr/>
        </p:nvSpPr>
        <p:spPr>
          <a:xfrm>
            <a:off x="4235450" y="6032500"/>
            <a:ext cx="63500" cy="6350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6" name="hl-2"/>
          <p:cNvSpPr txBox="1"/>
          <p:nvPr/>
        </p:nvSpPr>
        <p:spPr>
          <a:xfrm>
            <a:off x="4368165" y="5971461"/>
            <a:ext cx="67468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设备可用率</a:t>
            </a:r>
          </a:p>
        </p:txBody>
      </p:sp>
      <p:sp>
        <p:nvSpPr>
          <p:cNvPr id="107" name="hv-2"/>
          <p:cNvSpPr txBox="1"/>
          <p:nvPr/>
        </p:nvSpPr>
        <p:spPr>
          <a:xfrm>
            <a:off x="5193665" y="5971461"/>
            <a:ext cx="5826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影响 26%</a:t>
            </a:r>
          </a:p>
        </p:txBody>
      </p:sp>
      <p:sp>
        <p:nvSpPr>
          <p:cNvPr id="108" name="hd-3"/>
          <p:cNvSpPr/>
          <p:nvPr/>
        </p:nvSpPr>
        <p:spPr>
          <a:xfrm>
            <a:off x="6597650" y="6032500"/>
            <a:ext cx="63500" cy="635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hl-3"/>
          <p:cNvSpPr txBox="1"/>
          <p:nvPr/>
        </p:nvSpPr>
        <p:spPr>
          <a:xfrm>
            <a:off x="6730365" y="597146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排程方法</a:t>
            </a:r>
          </a:p>
        </p:txBody>
      </p:sp>
      <p:sp>
        <p:nvSpPr>
          <p:cNvPr id="110" name="hv-3"/>
          <p:cNvSpPr txBox="1"/>
          <p:nvPr/>
        </p:nvSpPr>
        <p:spPr>
          <a:xfrm>
            <a:off x="7555865" y="5971461"/>
            <a:ext cx="5826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影响 18%</a:t>
            </a:r>
          </a:p>
        </p:txBody>
      </p:sp>
      <p:sp>
        <p:nvSpPr>
          <p:cNvPr id="111" name="hd-4"/>
          <p:cNvSpPr/>
          <p:nvPr/>
        </p:nvSpPr>
        <p:spPr>
          <a:xfrm>
            <a:off x="8959850" y="6032500"/>
            <a:ext cx="63500" cy="63500"/>
          </a:xfrm>
          <a:prstGeom prst="ellipse">
            <a:avLst/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2" name="hl-4"/>
          <p:cNvSpPr txBox="1"/>
          <p:nvPr/>
        </p:nvSpPr>
        <p:spPr>
          <a:xfrm>
            <a:off x="9092565" y="5971461"/>
            <a:ext cx="32988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其他</a:t>
            </a:r>
          </a:p>
        </p:txBody>
      </p:sp>
      <p:sp>
        <p:nvSpPr>
          <p:cNvPr id="113" name="hv-4"/>
          <p:cNvSpPr txBox="1"/>
          <p:nvPr/>
        </p:nvSpPr>
        <p:spPr>
          <a:xfrm>
            <a:off x="9918065" y="5971461"/>
            <a:ext cx="5826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影响 14%</a:t>
            </a:r>
          </a:p>
        </p:txBody>
      </p:sp>
      <p:cxnSp>
        <p:nvCxnSpPr>
          <p:cNvPr id="114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5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鱼骨分析 · 六大成因</a:t>
            </a:r>
          </a:p>
        </p:txBody>
      </p:sp>
      <p:sp>
        <p:nvSpPr>
          <p:cNvPr id="116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六大核心能力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99224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CORE CAPABILITY MODEL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666099" y="673132"/>
            <a:ext cx="29546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围绕客户价值中枢展开的六项能力，互为支撑、循环增强</a:t>
            </a:r>
          </a:p>
        </p:txBody>
      </p:sp>
      <p:sp>
        <p:nvSpPr>
          <p:cNvPr id="10" name="guide"/>
          <p:cNvSpPr/>
          <p:nvPr/>
        </p:nvSpPr>
        <p:spPr>
          <a:xfrm>
            <a:off x="3937000" y="1549400"/>
            <a:ext cx="4318000" cy="4318000"/>
          </a:xfrm>
          <a:prstGeom prst="ellipse">
            <a:avLst/>
          </a:prstGeom>
          <a:noFill/>
          <a:ln w="6350" cap="rnd">
            <a:solidFill>
              <a:srgbClr val="0B2545">
                <a:alpha val="9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petal-1"/>
          <p:cNvSpPr/>
          <p:nvPr/>
        </p:nvSpPr>
        <p:spPr>
          <a:xfrm>
            <a:off x="5488514" y="1833531"/>
            <a:ext cx="1214971" cy="1060164"/>
          </a:xfrm>
          <a:custGeom>
            <a:avLst/>
            <a:gdLst/>
            <a:ahLst/>
            <a:cxnLst/>
            <a:rect l="0" t="0" r="r" b="b"/>
            <a:pathLst>
              <a:path w="1214971" h="1060164">
                <a:moveTo>
                  <a:pt x="192386" y="1060164"/>
                </a:moveTo>
                <a:cubicBezTo>
                  <a:pt x="-346284" y="810038"/>
                  <a:pt x="415525" y="30131"/>
                  <a:pt x="415525" y="30131"/>
                </a:cubicBezTo>
                <a:quadBezTo>
                  <a:pt x="607486" y="-30131"/>
                  <a:pt x="799446" y="30131"/>
                </a:quadBezTo>
                <a:cubicBezTo>
                  <a:pt x="799446" y="30131"/>
                  <a:pt x="1561256" y="810038"/>
                  <a:pt x="1022585" y="1060164"/>
                </a:cubicBezTo>
                <a:quadBezTo>
                  <a:pt x="607486" y="1015333"/>
                  <a:pt x="192386" y="1060164"/>
                </a:quadBezTo>
                <a:close/>
              </a:path>
            </a:pathLst>
          </a:custGeom>
          <a:gradFill rotWithShape="1">
            <a:gsLst>
              <a:gs pos="0">
                <a:srgbClr val="3761A3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icon-rocket"/>
          <p:cNvSpPr/>
          <p:nvPr/>
        </p:nvSpPr>
        <p:spPr>
          <a:xfrm>
            <a:off x="6026150" y="2205546"/>
            <a:ext cx="139700" cy="175705"/>
          </a:xfrm>
          <a:custGeom>
            <a:avLst/>
            <a:gdLst/>
            <a:ahLst/>
            <a:cxnLst/>
            <a:rect l="0" t="0" r="r" b="b"/>
            <a:pathLst>
              <a:path w="139700" h="175705">
                <a:moveTo>
                  <a:pt x="69850" y="0"/>
                </a:moveTo>
                <a:cubicBezTo>
                  <a:pt x="101600" y="23305"/>
                  <a:pt x="118554" y="59309"/>
                  <a:pt x="118554" y="97409"/>
                </a:cubicBezTo>
                <a:lnTo>
                  <a:pt x="95250" y="135509"/>
                </a:lnTo>
                <a:lnTo>
                  <a:pt x="44450" y="135509"/>
                </a:lnTo>
                <a:lnTo>
                  <a:pt x="21146" y="97409"/>
                </a:lnTo>
                <a:cubicBezTo>
                  <a:pt x="21146" y="59309"/>
                  <a:pt x="38100" y="23305"/>
                  <a:pt x="69850" y="0"/>
                </a:cubicBezTo>
                <a:close/>
                <a:moveTo>
                  <a:pt x="21146" y="127000"/>
                </a:moveTo>
                <a:lnTo>
                  <a:pt x="0" y="175705"/>
                </a:lnTo>
                <a:lnTo>
                  <a:pt x="44450" y="158750"/>
                </a:lnTo>
                <a:moveTo>
                  <a:pt x="118554" y="127000"/>
                </a:moveTo>
                <a:lnTo>
                  <a:pt x="139700" y="175705"/>
                </a:lnTo>
                <a:lnTo>
                  <a:pt x="95250" y="158750"/>
                </a:lnTo>
              </a:path>
            </a:pathLst>
          </a:custGeom>
          <a:noFill/>
          <a:ln w="1397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pno-1"/>
          <p:cNvSpPr txBox="1"/>
          <p:nvPr/>
        </p:nvSpPr>
        <p:spPr>
          <a:xfrm>
            <a:off x="5954903" y="1961070"/>
            <a:ext cx="282194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>
                    <a:alpha val="55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cxnSp>
        <p:nvCxnSpPr>
          <p:cNvPr id="14" name="lead-1"/>
          <p:cNvCxnSpPr/>
          <p:nvPr/>
        </p:nvCxnSpPr>
        <p:spPr>
          <a:xfrm flipV="1">
            <a:off x="6096000" y="1536700"/>
            <a:ext cx="0" cy="215900"/>
          </a:xfrm>
          <a:prstGeom prst="line">
            <a:avLst/>
          </a:prstGeom>
          <a:ln w="11430" cap="rnd">
            <a:solidFill>
              <a:srgbClr val="0B3E8F">
                <a:alpha val="5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leadd-1"/>
          <p:cNvSpPr/>
          <p:nvPr/>
        </p:nvSpPr>
        <p:spPr>
          <a:xfrm>
            <a:off x="6067425" y="1508125"/>
            <a:ext cx="57150" cy="5715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pname-1"/>
          <p:cNvSpPr txBox="1"/>
          <p:nvPr/>
        </p:nvSpPr>
        <p:spPr>
          <a:xfrm>
            <a:off x="5659755" y="1104202"/>
            <a:ext cx="8724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战略咨询</a:t>
            </a:r>
          </a:p>
        </p:txBody>
      </p:sp>
      <p:sp>
        <p:nvSpPr>
          <p:cNvPr id="17" name="pnote-1"/>
          <p:cNvSpPr txBox="1"/>
          <p:nvPr/>
        </p:nvSpPr>
        <p:spPr>
          <a:xfrm>
            <a:off x="5534501" y="13486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行业洞察与路径规划</a:t>
            </a:r>
          </a:p>
        </p:txBody>
      </p:sp>
      <p:sp>
        <p:nvSpPr>
          <p:cNvPr id="18" name="petal-2"/>
          <p:cNvSpPr/>
          <p:nvPr/>
        </p:nvSpPr>
        <p:spPr>
          <a:xfrm>
            <a:off x="6594030" y="2558852"/>
            <a:ext cx="1195514" cy="1169266"/>
          </a:xfrm>
          <a:custGeom>
            <a:avLst/>
            <a:gdLst/>
            <a:ahLst/>
            <a:cxnLst/>
            <a:rect l="0" t="0" r="r" b="b"/>
            <a:pathLst>
              <a:path w="1195514" h="1169266">
                <a:moveTo>
                  <a:pt x="0" y="382659"/>
                </a:moveTo>
                <a:cubicBezTo>
                  <a:pt x="-52705" y="-208844"/>
                  <a:pt x="1003617" y="60968"/>
                  <a:pt x="1003617" y="60968"/>
                </a:cubicBezTo>
                <a:quadBezTo>
                  <a:pt x="1151763" y="197048"/>
                  <a:pt x="1195514" y="393390"/>
                </a:quadBezTo>
                <a:cubicBezTo>
                  <a:pt x="1195514" y="393390"/>
                  <a:pt x="901001" y="1443109"/>
                  <a:pt x="415099" y="1101669"/>
                </a:cubicBezTo>
                <a:quadBezTo>
                  <a:pt x="246380" y="719780"/>
                  <a:pt x="0" y="382659"/>
                </a:quadBezTo>
                <a:close/>
              </a:path>
            </a:pathLst>
          </a:custGeom>
          <a:gradFill rotWithShape="1">
            <a:gsLst>
              <a:gs pos="0">
                <a:srgbClr val="3D6CAE"/>
              </a:gs>
              <a:gs pos="100000">
                <a:srgbClr val="134C9C"/>
              </a:gs>
            </a:gsLst>
            <a:lin ang="36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icon-code"/>
          <p:cNvSpPr/>
          <p:nvPr/>
        </p:nvSpPr>
        <p:spPr>
          <a:xfrm>
            <a:off x="7238492" y="2961196"/>
            <a:ext cx="156654" cy="84709"/>
          </a:xfrm>
          <a:custGeom>
            <a:avLst/>
            <a:gdLst/>
            <a:ahLst/>
            <a:cxnLst/>
            <a:rect l="0" t="0" r="r" b="b"/>
            <a:pathLst>
              <a:path w="156654" h="84709">
                <a:moveTo>
                  <a:pt x="46609" y="0"/>
                </a:moveTo>
                <a:lnTo>
                  <a:pt x="0" y="42355"/>
                </a:lnTo>
                <a:lnTo>
                  <a:pt x="46609" y="84709"/>
                </a:lnTo>
                <a:moveTo>
                  <a:pt x="110109" y="0"/>
                </a:moveTo>
                <a:lnTo>
                  <a:pt x="156654" y="42355"/>
                </a:lnTo>
                <a:lnTo>
                  <a:pt x="110109" y="84709"/>
                </a:lnTo>
              </a:path>
            </a:pathLst>
          </a:custGeom>
          <a:noFill/>
          <a:ln w="1397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pno-2"/>
          <p:cNvSpPr txBox="1"/>
          <p:nvPr/>
        </p:nvSpPr>
        <p:spPr>
          <a:xfrm>
            <a:off x="7362714" y="2773870"/>
            <a:ext cx="282194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>
                    <a:alpha val="55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cxnSp>
        <p:nvCxnSpPr>
          <p:cNvPr id="21" name="lead-2"/>
          <p:cNvCxnSpPr/>
          <p:nvPr/>
        </p:nvCxnSpPr>
        <p:spPr>
          <a:xfrm flipV="1">
            <a:off x="7789772" y="2622550"/>
            <a:ext cx="186975" cy="107950"/>
          </a:xfrm>
          <a:prstGeom prst="line">
            <a:avLst/>
          </a:prstGeom>
          <a:ln w="11430" cap="rnd">
            <a:solidFill>
              <a:srgbClr val="134C9C">
                <a:alpha val="5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leadd-2"/>
          <p:cNvSpPr/>
          <p:nvPr/>
        </p:nvSpPr>
        <p:spPr>
          <a:xfrm>
            <a:off x="7948172" y="2593975"/>
            <a:ext cx="57150" cy="5715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pname-2"/>
          <p:cNvSpPr txBox="1"/>
          <p:nvPr/>
        </p:nvSpPr>
        <p:spPr>
          <a:xfrm>
            <a:off x="8122825" y="2361502"/>
            <a:ext cx="8724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产品研发</a:t>
            </a:r>
          </a:p>
        </p:txBody>
      </p:sp>
      <p:sp>
        <p:nvSpPr>
          <p:cNvPr id="24" name="pnote-2"/>
          <p:cNvSpPr txBox="1"/>
          <p:nvPr/>
        </p:nvSpPr>
        <p:spPr>
          <a:xfrm>
            <a:off x="8129302" y="26186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自研引擎与快速迭代</a:t>
            </a:r>
          </a:p>
        </p:txBody>
      </p:sp>
      <p:sp>
        <p:nvSpPr>
          <p:cNvPr id="25" name="petal-3"/>
          <p:cNvSpPr/>
          <p:nvPr/>
        </p:nvSpPr>
        <p:spPr>
          <a:xfrm>
            <a:off x="6594030" y="3688682"/>
            <a:ext cx="1195514" cy="1169266"/>
          </a:xfrm>
          <a:custGeom>
            <a:avLst/>
            <a:gdLst/>
            <a:ahLst/>
            <a:cxnLst/>
            <a:rect l="0" t="0" r="r" b="b"/>
            <a:pathLst>
              <a:path w="1195514" h="1169266">
                <a:moveTo>
                  <a:pt x="415099" y="67597"/>
                </a:moveTo>
                <a:cubicBezTo>
                  <a:pt x="901001" y="-273843"/>
                  <a:pt x="1195514" y="775876"/>
                  <a:pt x="1195514" y="775876"/>
                </a:cubicBezTo>
                <a:quadBezTo>
                  <a:pt x="1151763" y="972218"/>
                  <a:pt x="1003617" y="1108298"/>
                </a:quadBezTo>
                <a:cubicBezTo>
                  <a:pt x="1003617" y="1108298"/>
                  <a:pt x="-52705" y="1378110"/>
                  <a:pt x="0" y="786607"/>
                </a:cubicBezTo>
                <a:quadBezTo>
                  <a:pt x="246380" y="449486"/>
                  <a:pt x="415099" y="67597"/>
                </a:quadBezTo>
                <a:close/>
              </a:path>
            </a:pathLst>
          </a:custGeom>
          <a:gradFill rotWithShape="1">
            <a:gsLst>
              <a:gs pos="0">
                <a:srgbClr val="4B83C3"/>
              </a:gs>
              <a:gs pos="100000">
                <a:srgbClr val="2468B6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icon-process"/>
          <p:cNvSpPr/>
          <p:nvPr/>
        </p:nvSpPr>
        <p:spPr>
          <a:xfrm>
            <a:off x="7238492" y="4370896"/>
            <a:ext cx="156654" cy="84709"/>
          </a:xfrm>
          <a:custGeom>
            <a:avLst/>
            <a:gdLst/>
            <a:ahLst/>
            <a:cxnLst/>
            <a:rect l="0" t="0" r="r" b="b"/>
            <a:pathLst>
              <a:path w="156654" h="84709">
                <a:moveTo>
                  <a:pt x="0" y="0"/>
                </a:moveTo>
                <a:lnTo>
                  <a:pt x="55054" y="0"/>
                </a:lnTo>
                <a:lnTo>
                  <a:pt x="55054" y="55054"/>
                </a:lnTo>
                <a:lnTo>
                  <a:pt x="0" y="55054"/>
                </a:lnTo>
                <a:close/>
                <a:moveTo>
                  <a:pt x="101600" y="29654"/>
                </a:moveTo>
                <a:lnTo>
                  <a:pt x="156654" y="29654"/>
                </a:lnTo>
                <a:lnTo>
                  <a:pt x="156654" y="84709"/>
                </a:lnTo>
                <a:lnTo>
                  <a:pt x="101600" y="84709"/>
                </a:lnTo>
                <a:close/>
                <a:moveTo>
                  <a:pt x="55054" y="27559"/>
                </a:moveTo>
                <a:lnTo>
                  <a:pt x="101600" y="27559"/>
                </a:lnTo>
              </a:path>
            </a:pathLst>
          </a:custGeom>
          <a:noFill/>
          <a:ln w="1397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pno-3"/>
          <p:cNvSpPr txBox="1"/>
          <p:nvPr/>
        </p:nvSpPr>
        <p:spPr>
          <a:xfrm>
            <a:off x="7362714" y="4399470"/>
            <a:ext cx="282194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>
                    <a:alpha val="55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cxnSp>
        <p:nvCxnSpPr>
          <p:cNvPr id="28" name="lead-3"/>
          <p:cNvCxnSpPr/>
          <p:nvPr/>
        </p:nvCxnSpPr>
        <p:spPr>
          <a:xfrm>
            <a:off x="7789772" y="4686300"/>
            <a:ext cx="186975" cy="107950"/>
          </a:xfrm>
          <a:prstGeom prst="line">
            <a:avLst/>
          </a:prstGeom>
          <a:ln w="11430" cap="rnd">
            <a:solidFill>
              <a:srgbClr val="2468B6">
                <a:alpha val="5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leadd-3"/>
          <p:cNvSpPr/>
          <p:nvPr/>
        </p:nvSpPr>
        <p:spPr>
          <a:xfrm>
            <a:off x="7948172" y="4765675"/>
            <a:ext cx="57150" cy="57150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pname-3"/>
          <p:cNvSpPr txBox="1"/>
          <p:nvPr/>
        </p:nvSpPr>
        <p:spPr>
          <a:xfrm>
            <a:off x="8122825" y="4622102"/>
            <a:ext cx="8724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交付实施</a:t>
            </a:r>
          </a:p>
        </p:txBody>
      </p:sp>
      <p:sp>
        <p:nvSpPr>
          <p:cNvPr id="31" name="pnote-3"/>
          <p:cNvSpPr txBox="1"/>
          <p:nvPr/>
        </p:nvSpPr>
        <p:spPr>
          <a:xfrm>
            <a:off x="8129302" y="48792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标准化实施方法论</a:t>
            </a:r>
          </a:p>
        </p:txBody>
      </p:sp>
      <p:sp>
        <p:nvSpPr>
          <p:cNvPr id="32" name="petal-4"/>
          <p:cNvSpPr/>
          <p:nvPr/>
        </p:nvSpPr>
        <p:spPr>
          <a:xfrm>
            <a:off x="5488514" y="4523105"/>
            <a:ext cx="1214971" cy="1060164"/>
          </a:xfrm>
          <a:custGeom>
            <a:avLst/>
            <a:gdLst/>
            <a:ahLst/>
            <a:cxnLst/>
            <a:rect l="0" t="0" r="r" b="b"/>
            <a:pathLst>
              <a:path w="1214971" h="1060164">
                <a:moveTo>
                  <a:pt x="1022585" y="0"/>
                </a:moveTo>
                <a:cubicBezTo>
                  <a:pt x="1561256" y="250127"/>
                  <a:pt x="799446" y="1030034"/>
                  <a:pt x="799446" y="1030034"/>
                </a:cubicBezTo>
                <a:quadBezTo>
                  <a:pt x="607486" y="1090295"/>
                  <a:pt x="415525" y="1030034"/>
                </a:quadBezTo>
                <a:cubicBezTo>
                  <a:pt x="415525" y="1030034"/>
                  <a:pt x="-346284" y="250127"/>
                  <a:pt x="192386" y="0"/>
                </a:cubicBezTo>
                <a:quadBezTo>
                  <a:pt x="607486" y="44831"/>
                  <a:pt x="1022585" y="0"/>
                </a:quadBezTo>
                <a:close/>
              </a:path>
            </a:pathLst>
          </a:custGeom>
          <a:gradFill rotWithShape="1">
            <a:gsLst>
              <a:gs pos="0">
                <a:srgbClr val="548FCD"/>
              </a:gs>
              <a:gs pos="100000">
                <a:srgbClr val="2E77C2"/>
              </a:gs>
            </a:gsLst>
            <a:lin ang="108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icon-hand"/>
          <p:cNvSpPr/>
          <p:nvPr/>
        </p:nvSpPr>
        <p:spPr>
          <a:xfrm>
            <a:off x="6015987" y="5027104"/>
            <a:ext cx="143513" cy="181991"/>
          </a:xfrm>
          <a:custGeom>
            <a:avLst/>
            <a:gdLst/>
            <a:ahLst/>
            <a:cxnLst/>
            <a:rect l="0" t="0" r="r" b="b"/>
            <a:pathLst>
              <a:path w="143513" h="181991">
                <a:moveTo>
                  <a:pt x="41913" y="97346"/>
                </a:moveTo>
                <a:lnTo>
                  <a:pt x="41913" y="29591"/>
                </a:lnTo>
                <a:cubicBezTo>
                  <a:pt x="41913" y="20257"/>
                  <a:pt x="49469" y="12700"/>
                  <a:pt x="58867" y="12700"/>
                </a:cubicBezTo>
                <a:cubicBezTo>
                  <a:pt x="68202" y="12700"/>
                  <a:pt x="75758" y="20257"/>
                  <a:pt x="75758" y="29591"/>
                </a:cubicBezTo>
                <a:lnTo>
                  <a:pt x="75758" y="82550"/>
                </a:lnTo>
                <a:moveTo>
                  <a:pt x="75758" y="82550"/>
                </a:moveTo>
                <a:lnTo>
                  <a:pt x="75758" y="16891"/>
                </a:lnTo>
                <a:cubicBezTo>
                  <a:pt x="75758" y="7557"/>
                  <a:pt x="83378" y="0"/>
                  <a:pt x="92713" y="0"/>
                </a:cubicBezTo>
                <a:cubicBezTo>
                  <a:pt x="102047" y="0"/>
                  <a:pt x="109667" y="7557"/>
                  <a:pt x="109667" y="16891"/>
                </a:cubicBezTo>
                <a:lnTo>
                  <a:pt x="109667" y="82550"/>
                </a:lnTo>
                <a:moveTo>
                  <a:pt x="109667" y="86741"/>
                </a:moveTo>
                <a:lnTo>
                  <a:pt x="109667" y="42291"/>
                </a:lnTo>
                <a:cubicBezTo>
                  <a:pt x="109667" y="32957"/>
                  <a:pt x="117224" y="25400"/>
                  <a:pt x="126558" y="25400"/>
                </a:cubicBezTo>
                <a:cubicBezTo>
                  <a:pt x="135956" y="25400"/>
                  <a:pt x="143513" y="32957"/>
                  <a:pt x="143513" y="42291"/>
                </a:cubicBezTo>
                <a:lnTo>
                  <a:pt x="143513" y="120650"/>
                </a:lnTo>
                <a:cubicBezTo>
                  <a:pt x="143513" y="154496"/>
                  <a:pt x="118113" y="181991"/>
                  <a:pt x="84267" y="181991"/>
                </a:cubicBezTo>
                <a:cubicBezTo>
                  <a:pt x="56708" y="181991"/>
                  <a:pt x="41913" y="169291"/>
                  <a:pt x="27117" y="148146"/>
                </a:cubicBezTo>
                <a:lnTo>
                  <a:pt x="1717" y="110046"/>
                </a:lnTo>
                <a:cubicBezTo>
                  <a:pt x="-1966" y="102553"/>
                  <a:pt x="447" y="93472"/>
                  <a:pt x="7305" y="88710"/>
                </a:cubicBezTo>
                <a:cubicBezTo>
                  <a:pt x="14163" y="83947"/>
                  <a:pt x="23434" y="84963"/>
                  <a:pt x="29213" y="90996"/>
                </a:cubicBezTo>
                <a:close/>
              </a:path>
            </a:pathLst>
          </a:custGeom>
          <a:noFill/>
          <a:ln w="1397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pno-4"/>
          <p:cNvSpPr txBox="1"/>
          <p:nvPr/>
        </p:nvSpPr>
        <p:spPr>
          <a:xfrm>
            <a:off x="5954903" y="5212270"/>
            <a:ext cx="282194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>
                    <a:alpha val="55000"/>
                  </a:srgbClr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cxnSp>
        <p:nvCxnSpPr>
          <p:cNvPr id="35" name="lead-4"/>
          <p:cNvCxnSpPr/>
          <p:nvPr/>
        </p:nvCxnSpPr>
        <p:spPr>
          <a:xfrm>
            <a:off x="6096000" y="5664200"/>
            <a:ext cx="0" cy="215900"/>
          </a:xfrm>
          <a:prstGeom prst="line">
            <a:avLst/>
          </a:prstGeom>
          <a:ln w="11430" cap="rnd">
            <a:solidFill>
              <a:srgbClr val="2E77C2">
                <a:alpha val="5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leadd-4"/>
          <p:cNvSpPr/>
          <p:nvPr/>
        </p:nvSpPr>
        <p:spPr>
          <a:xfrm>
            <a:off x="6067425" y="5851525"/>
            <a:ext cx="57150" cy="5715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pname-4"/>
          <p:cNvSpPr txBox="1"/>
          <p:nvPr/>
        </p:nvSpPr>
        <p:spPr>
          <a:xfrm>
            <a:off x="5659755" y="5942902"/>
            <a:ext cx="8724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运营服务</a:t>
            </a:r>
          </a:p>
        </p:txBody>
      </p:sp>
      <p:sp>
        <p:nvSpPr>
          <p:cNvPr id="38" name="pnote-4"/>
          <p:cNvSpPr txBox="1"/>
          <p:nvPr/>
        </p:nvSpPr>
        <p:spPr>
          <a:xfrm>
            <a:off x="5591334" y="61873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全周期陪跑与优化</a:t>
            </a:r>
          </a:p>
        </p:txBody>
      </p:sp>
      <p:sp>
        <p:nvSpPr>
          <p:cNvPr id="39" name="petal-5"/>
          <p:cNvSpPr/>
          <p:nvPr/>
        </p:nvSpPr>
        <p:spPr>
          <a:xfrm>
            <a:off x="4402455" y="3688682"/>
            <a:ext cx="1195515" cy="1169266"/>
          </a:xfrm>
          <a:custGeom>
            <a:avLst/>
            <a:gdLst/>
            <a:ahLst/>
            <a:cxnLst/>
            <a:rect l="0" t="0" r="r" b="b"/>
            <a:pathLst>
              <a:path w="1195515" h="1169266">
                <a:moveTo>
                  <a:pt x="1195515" y="786607"/>
                </a:moveTo>
                <a:cubicBezTo>
                  <a:pt x="1248220" y="1378110"/>
                  <a:pt x="191897" y="1108298"/>
                  <a:pt x="191897" y="1108298"/>
                </a:cubicBezTo>
                <a:quadBezTo>
                  <a:pt x="43752" y="972218"/>
                  <a:pt x="0" y="775876"/>
                </a:quadBezTo>
                <a:cubicBezTo>
                  <a:pt x="0" y="775876"/>
                  <a:pt x="294513" y="-273843"/>
                  <a:pt x="780415" y="67597"/>
                </a:cubicBezTo>
                <a:quadBezTo>
                  <a:pt x="949135" y="449486"/>
                  <a:pt x="1195515" y="786607"/>
                </a:quadBezTo>
                <a:close/>
              </a:path>
            </a:pathLst>
          </a:custGeom>
          <a:gradFill rotWithShape="1">
            <a:gsLst>
              <a:gs pos="0">
                <a:srgbClr val="67A7DE"/>
              </a:gs>
              <a:gs pos="100000">
                <a:srgbClr val="4694D7"/>
              </a:gs>
            </a:gsLst>
            <a:lin ang="144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icon-network"/>
          <p:cNvSpPr/>
          <p:nvPr/>
        </p:nvSpPr>
        <p:spPr>
          <a:xfrm>
            <a:off x="4843399" y="4375150"/>
            <a:ext cx="63500" cy="74104"/>
          </a:xfrm>
          <a:custGeom>
            <a:avLst/>
            <a:gdLst/>
            <a:ahLst/>
            <a:cxnLst/>
            <a:rect l="0" t="0" r="r" b="b"/>
            <a:pathLst>
              <a:path w="63500" h="74104">
                <a:moveTo>
                  <a:pt x="31750" y="0"/>
                </a:moveTo>
                <a:lnTo>
                  <a:pt x="31750" y="33846"/>
                </a:lnTo>
                <a:moveTo>
                  <a:pt x="0" y="74104"/>
                </a:moveTo>
                <a:lnTo>
                  <a:pt x="23304" y="46546"/>
                </a:lnTo>
                <a:moveTo>
                  <a:pt x="63500" y="74104"/>
                </a:moveTo>
                <a:lnTo>
                  <a:pt x="40259" y="46546"/>
                </a:lnTo>
              </a:path>
            </a:pathLst>
          </a:custGeom>
          <a:noFill/>
          <a:ln w="1397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icon-network"/>
          <p:cNvSpPr/>
          <p:nvPr/>
        </p:nvSpPr>
        <p:spPr>
          <a:xfrm>
            <a:off x="4847647" y="4322233"/>
            <a:ext cx="55033" cy="55033"/>
          </a:xfrm>
          <a:prstGeom prst="ellipse">
            <a:avLst/>
          </a:prstGeom>
          <a:noFill/>
          <a:ln w="1397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icon-network"/>
          <p:cNvSpPr/>
          <p:nvPr/>
        </p:nvSpPr>
        <p:spPr>
          <a:xfrm>
            <a:off x="4794731" y="4442883"/>
            <a:ext cx="55033" cy="55033"/>
          </a:xfrm>
          <a:prstGeom prst="ellipse">
            <a:avLst/>
          </a:prstGeom>
          <a:noFill/>
          <a:ln w="1397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icon-network"/>
          <p:cNvSpPr/>
          <p:nvPr/>
        </p:nvSpPr>
        <p:spPr>
          <a:xfrm>
            <a:off x="4900564" y="4442883"/>
            <a:ext cx="55033" cy="55033"/>
          </a:xfrm>
          <a:prstGeom prst="ellipse">
            <a:avLst/>
          </a:prstGeom>
          <a:noFill/>
          <a:ln w="1397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pno-5"/>
          <p:cNvSpPr txBox="1"/>
          <p:nvPr/>
        </p:nvSpPr>
        <p:spPr>
          <a:xfrm>
            <a:off x="4547092" y="4399470"/>
            <a:ext cx="282194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>
                    <a:alpha val="55000"/>
                  </a:srgbClr>
                </a:solidFill>
                <a:latin typeface="Arial"/>
                <a:ea typeface="Arial"/>
                <a:cs typeface="Arial"/>
              </a:rPr>
              <a:t>05</a:t>
            </a:r>
          </a:p>
        </p:txBody>
      </p:sp>
      <p:cxnSp>
        <p:nvCxnSpPr>
          <p:cNvPr id="45" name="lead-5"/>
          <p:cNvCxnSpPr/>
          <p:nvPr/>
        </p:nvCxnSpPr>
        <p:spPr>
          <a:xfrm flipH="1">
            <a:off x="4215253" y="4686300"/>
            <a:ext cx="186975" cy="107950"/>
          </a:xfrm>
          <a:prstGeom prst="line">
            <a:avLst/>
          </a:prstGeom>
          <a:ln w="11430" cap="rnd">
            <a:solidFill>
              <a:srgbClr val="4694D7">
                <a:alpha val="5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leadd-5"/>
          <p:cNvSpPr/>
          <p:nvPr/>
        </p:nvSpPr>
        <p:spPr>
          <a:xfrm>
            <a:off x="4186678" y="4765675"/>
            <a:ext cx="57150" cy="57150"/>
          </a:xfrm>
          <a:prstGeom prst="ellipse">
            <a:avLst/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pname-5"/>
          <p:cNvSpPr txBox="1"/>
          <p:nvPr/>
        </p:nvSpPr>
        <p:spPr>
          <a:xfrm>
            <a:off x="3196685" y="4622102"/>
            <a:ext cx="8724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30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生态协同</a:t>
            </a:r>
          </a:p>
        </p:txBody>
      </p:sp>
      <p:sp>
        <p:nvSpPr>
          <p:cNvPr id="48" name="pnote-5"/>
          <p:cNvSpPr txBox="1"/>
          <p:nvPr/>
        </p:nvSpPr>
        <p:spPr>
          <a:xfrm>
            <a:off x="3053365" y="48792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伙伴共建行业方案</a:t>
            </a:r>
          </a:p>
        </p:txBody>
      </p:sp>
      <p:sp>
        <p:nvSpPr>
          <p:cNvPr id="49" name="petal-6"/>
          <p:cNvSpPr/>
          <p:nvPr/>
        </p:nvSpPr>
        <p:spPr>
          <a:xfrm>
            <a:off x="4402455" y="2558852"/>
            <a:ext cx="1195515" cy="1169266"/>
          </a:xfrm>
          <a:custGeom>
            <a:avLst/>
            <a:gdLst/>
            <a:ahLst/>
            <a:cxnLst/>
            <a:rect l="0" t="0" r="r" b="b"/>
            <a:pathLst>
              <a:path w="1195515" h="1169266">
                <a:moveTo>
                  <a:pt x="780415" y="1101669"/>
                </a:moveTo>
                <a:cubicBezTo>
                  <a:pt x="294513" y="1443109"/>
                  <a:pt x="0" y="393390"/>
                  <a:pt x="0" y="393390"/>
                </a:cubicBezTo>
                <a:quadBezTo>
                  <a:pt x="43752" y="197048"/>
                  <a:pt x="191897" y="60968"/>
                </a:quadBezTo>
                <a:cubicBezTo>
                  <a:pt x="191897" y="60968"/>
                  <a:pt x="1248220" y="-208844"/>
                  <a:pt x="1195515" y="382659"/>
                </a:cubicBezTo>
                <a:quadBezTo>
                  <a:pt x="949135" y="719780"/>
                  <a:pt x="780415" y="1101669"/>
                </a:quadBezTo>
                <a:close/>
              </a:path>
            </a:pathLst>
          </a:custGeom>
          <a:gradFill rotWithShape="1">
            <a:gsLst>
              <a:gs pos="0">
                <a:srgbClr val="73B3E5"/>
              </a:gs>
              <a:gs pos="100000">
                <a:srgbClr val="54A2DF"/>
              </a:gs>
            </a:gsLst>
            <a:lin ang="180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icon-db"/>
          <p:cNvSpPr/>
          <p:nvPr/>
        </p:nvSpPr>
        <p:spPr>
          <a:xfrm>
            <a:off x="4796854" y="2908300"/>
            <a:ext cx="156655" cy="190500"/>
          </a:xfrm>
          <a:custGeom>
            <a:avLst/>
            <a:gdLst/>
            <a:ahLst/>
            <a:cxnLst/>
            <a:rect l="0" t="0" r="r" b="b"/>
            <a:pathLst>
              <a:path w="156655" h="190500">
                <a:moveTo>
                  <a:pt x="78296" y="46545"/>
                </a:moveTo>
                <a:cubicBezTo>
                  <a:pt x="121730" y="46545"/>
                  <a:pt x="156655" y="36005"/>
                  <a:pt x="156655" y="23305"/>
                </a:cubicBezTo>
                <a:cubicBezTo>
                  <a:pt x="156655" y="10605"/>
                  <a:pt x="121730" y="0"/>
                  <a:pt x="78296" y="0"/>
                </a:cubicBezTo>
                <a:cubicBezTo>
                  <a:pt x="34925" y="0"/>
                  <a:pt x="0" y="10605"/>
                  <a:pt x="0" y="23305"/>
                </a:cubicBezTo>
                <a:cubicBezTo>
                  <a:pt x="0" y="36005"/>
                  <a:pt x="34925" y="46545"/>
                  <a:pt x="78296" y="46545"/>
                </a:cubicBezTo>
                <a:close/>
                <a:moveTo>
                  <a:pt x="0" y="23305"/>
                </a:moveTo>
                <a:lnTo>
                  <a:pt x="0" y="167195"/>
                </a:lnTo>
                <a:cubicBezTo>
                  <a:pt x="0" y="179895"/>
                  <a:pt x="34925" y="190500"/>
                  <a:pt x="78296" y="190500"/>
                </a:cubicBezTo>
                <a:cubicBezTo>
                  <a:pt x="121730" y="190500"/>
                  <a:pt x="156655" y="179895"/>
                  <a:pt x="156655" y="167195"/>
                </a:cubicBezTo>
                <a:lnTo>
                  <a:pt x="156655" y="23305"/>
                </a:lnTo>
                <a:moveTo>
                  <a:pt x="0" y="95250"/>
                </a:moveTo>
                <a:cubicBezTo>
                  <a:pt x="0" y="107950"/>
                  <a:pt x="34925" y="118555"/>
                  <a:pt x="78296" y="118555"/>
                </a:cubicBezTo>
                <a:cubicBezTo>
                  <a:pt x="121730" y="118555"/>
                  <a:pt x="156655" y="107950"/>
                  <a:pt x="156655" y="95250"/>
                </a:cubicBezTo>
              </a:path>
            </a:pathLst>
          </a:custGeom>
          <a:noFill/>
          <a:ln w="1397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pno-6"/>
          <p:cNvSpPr txBox="1"/>
          <p:nvPr/>
        </p:nvSpPr>
        <p:spPr>
          <a:xfrm>
            <a:off x="4547092" y="2773870"/>
            <a:ext cx="282194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>
                    <a:alpha val="55000"/>
                  </a:srgbClr>
                </a:solidFill>
                <a:latin typeface="Arial"/>
                <a:ea typeface="Arial"/>
                <a:cs typeface="Arial"/>
              </a:rPr>
              <a:t>06</a:t>
            </a:r>
          </a:p>
        </p:txBody>
      </p:sp>
      <p:cxnSp>
        <p:nvCxnSpPr>
          <p:cNvPr id="52" name="lead-6"/>
          <p:cNvCxnSpPr/>
          <p:nvPr/>
        </p:nvCxnSpPr>
        <p:spPr>
          <a:xfrm flipH="1" flipV="1">
            <a:off x="4215253" y="2622550"/>
            <a:ext cx="186975" cy="107950"/>
          </a:xfrm>
          <a:prstGeom prst="line">
            <a:avLst/>
          </a:prstGeom>
          <a:ln w="11430" cap="rnd">
            <a:solidFill>
              <a:srgbClr val="54A2DF">
                <a:alpha val="5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leadd-6"/>
          <p:cNvSpPr/>
          <p:nvPr/>
        </p:nvSpPr>
        <p:spPr>
          <a:xfrm>
            <a:off x="4186678" y="2593975"/>
            <a:ext cx="57150" cy="57150"/>
          </a:xfrm>
          <a:prstGeom prst="ellipse">
            <a:avLst/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pname-6"/>
          <p:cNvSpPr txBox="1"/>
          <p:nvPr/>
        </p:nvSpPr>
        <p:spPr>
          <a:xfrm>
            <a:off x="3196685" y="2361502"/>
            <a:ext cx="8724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30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数据资产</a:t>
            </a:r>
          </a:p>
        </p:txBody>
      </p:sp>
      <p:sp>
        <p:nvSpPr>
          <p:cNvPr id="55" name="pnote-6"/>
          <p:cNvSpPr txBox="1"/>
          <p:nvPr/>
        </p:nvSpPr>
        <p:spPr>
          <a:xfrm>
            <a:off x="2826035" y="2618661"/>
            <a:ext cx="12366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沉淀可复用的数据能力</a:t>
            </a:r>
          </a:p>
        </p:txBody>
      </p:sp>
      <p:sp>
        <p:nvSpPr>
          <p:cNvPr id="56" name="core"/>
          <p:cNvSpPr/>
          <p:nvPr/>
        </p:nvSpPr>
        <p:spPr>
          <a:xfrm>
            <a:off x="5168900" y="2781300"/>
            <a:ext cx="1854200" cy="1854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core-ring"/>
          <p:cNvSpPr/>
          <p:nvPr/>
        </p:nvSpPr>
        <p:spPr>
          <a:xfrm>
            <a:off x="5257800" y="2870200"/>
            <a:ext cx="1676400" cy="1676400"/>
          </a:xfrm>
          <a:prstGeom prst="ellipse">
            <a:avLst/>
          </a:prstGeom>
          <a:noFill/>
          <a:ln w="6350" cap="rnd">
            <a:solidFill>
              <a:srgbClr val="0B3E8F">
                <a:alpha val="1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icon-target"/>
          <p:cNvSpPr/>
          <p:nvPr/>
        </p:nvSpPr>
        <p:spPr>
          <a:xfrm>
            <a:off x="6096000" y="3333433"/>
            <a:ext cx="73342" cy="95567"/>
          </a:xfrm>
          <a:custGeom>
            <a:avLst/>
            <a:gdLst/>
            <a:ahLst/>
            <a:cxnLst/>
            <a:rect l="0" t="0" r="r" b="b"/>
            <a:pathLst>
              <a:path w="73342" h="95567">
                <a:moveTo>
                  <a:pt x="0" y="55562"/>
                </a:moveTo>
                <a:lnTo>
                  <a:pt x="0" y="0"/>
                </a:lnTo>
                <a:moveTo>
                  <a:pt x="0" y="95567"/>
                </a:moveTo>
                <a:lnTo>
                  <a:pt x="73342" y="22225"/>
                </a:lnTo>
              </a:path>
            </a:pathLst>
          </a:custGeom>
          <a:noFill/>
          <a:ln w="1333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icon-target"/>
          <p:cNvSpPr/>
          <p:nvPr/>
        </p:nvSpPr>
        <p:spPr>
          <a:xfrm>
            <a:off x="6000432" y="3333433"/>
            <a:ext cx="191135" cy="191135"/>
          </a:xfrm>
          <a:prstGeom prst="ellipse">
            <a:avLst/>
          </a:prstGeom>
          <a:noFill/>
          <a:ln w="1333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icon-target"/>
          <p:cNvSpPr/>
          <p:nvPr/>
        </p:nvSpPr>
        <p:spPr>
          <a:xfrm>
            <a:off x="6047105" y="3380105"/>
            <a:ext cx="97790" cy="97790"/>
          </a:xfrm>
          <a:prstGeom prst="ellipse">
            <a:avLst/>
          </a:prstGeom>
          <a:noFill/>
          <a:ln w="1333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core-cn"/>
          <p:cNvSpPr txBox="1"/>
          <p:nvPr/>
        </p:nvSpPr>
        <p:spPr>
          <a:xfrm>
            <a:off x="5591175" y="3587433"/>
            <a:ext cx="100965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客户价值</a:t>
            </a:r>
          </a:p>
        </p:txBody>
      </p:sp>
      <p:sp>
        <p:nvSpPr>
          <p:cNvPr id="62" name="core-en"/>
          <p:cNvSpPr txBox="1"/>
          <p:nvPr/>
        </p:nvSpPr>
        <p:spPr>
          <a:xfrm>
            <a:off x="5574157" y="3890708"/>
            <a:ext cx="104368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0">
                <a:solidFill>
                  <a:srgbClr val="7E93AE"/>
                </a:solidFill>
                <a:latin typeface="Arial"/>
                <a:ea typeface="Arial"/>
                <a:cs typeface="Arial"/>
              </a:rPr>
              <a:t>CUSTOMER VALUE</a:t>
            </a:r>
          </a:p>
        </p:txBody>
      </p:sp>
      <p:sp>
        <p:nvSpPr>
          <p:cNvPr id="63" name="core-p"/>
          <p:cNvSpPr txBox="1"/>
          <p:nvPr/>
        </p:nvSpPr>
        <p:spPr>
          <a:xfrm>
            <a:off x="5656898" y="4111466"/>
            <a:ext cx="8782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一切能力的出发点</a:t>
            </a:r>
          </a:p>
        </p:txBody>
      </p:sp>
      <p:sp>
        <p:nvSpPr>
          <p:cNvPr id="64" name="info-1"/>
          <p:cNvSpPr/>
          <p:nvPr/>
        </p:nvSpPr>
        <p:spPr>
          <a:xfrm>
            <a:off x="952500" y="1600200"/>
            <a:ext cx="2070100" cy="660400"/>
          </a:xfrm>
          <a:custGeom>
            <a:avLst/>
            <a:gdLst/>
            <a:ahLst/>
            <a:cxnLst/>
            <a:rect l="0" t="0" r="r" b="b"/>
            <a:pathLst>
              <a:path w="2070100" h="660400">
                <a:moveTo>
                  <a:pt x="114300" y="0"/>
                </a:moveTo>
                <a:lnTo>
                  <a:pt x="1955800" y="0"/>
                </a:lnTo>
                <a:cubicBezTo>
                  <a:pt x="2018919" y="0"/>
                  <a:pt x="2070100" y="51181"/>
                  <a:pt x="2070100" y="114300"/>
                </a:cubicBezTo>
                <a:lnTo>
                  <a:pt x="2070100" y="546100"/>
                </a:lnTo>
                <a:cubicBezTo>
                  <a:pt x="2070100" y="609219"/>
                  <a:pt x="2018919" y="660400"/>
                  <a:pt x="1955800" y="660400"/>
                </a:cubicBezTo>
                <a:lnTo>
                  <a:pt x="114300" y="660400"/>
                </a:lnTo>
                <a:cubicBezTo>
                  <a:pt x="51181" y="660400"/>
                  <a:pt x="0" y="609219"/>
                  <a:pt x="0" y="5461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infob-1"/>
          <p:cNvSpPr/>
          <p:nvPr/>
        </p:nvSpPr>
        <p:spPr>
          <a:xfrm>
            <a:off x="952500" y="1600200"/>
            <a:ext cx="38100" cy="660400"/>
          </a:xfrm>
          <a:custGeom>
            <a:avLst/>
            <a:gdLst/>
            <a:ahLst/>
            <a:cxnLst/>
            <a:rect l="0" t="0" r="r" b="b"/>
            <a:pathLst>
              <a:path w="38100" h="6604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41350"/>
                </a:lnTo>
                <a:cubicBezTo>
                  <a:pt x="38100" y="651891"/>
                  <a:pt x="29591" y="660400"/>
                  <a:pt x="19050" y="660400"/>
                </a:cubicBezTo>
                <a:lnTo>
                  <a:pt x="19050" y="660400"/>
                </a:lnTo>
                <a:cubicBezTo>
                  <a:pt x="8509" y="660400"/>
                  <a:pt x="0" y="651891"/>
                  <a:pt x="0" y="6413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infov-1"/>
          <p:cNvSpPr txBox="1"/>
          <p:nvPr/>
        </p:nvSpPr>
        <p:spPr>
          <a:xfrm>
            <a:off x="1128268" y="1635379"/>
            <a:ext cx="838708" cy="4000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800" b="1" spc="40">
                <a:solidFill>
                  <a:srgbClr val="0B3E8F"/>
                </a:solidFill>
                <a:latin typeface="Arial"/>
                <a:ea typeface="Arial"/>
                <a:cs typeface="Arial"/>
              </a:rPr>
              <a:t>12 年</a:t>
            </a:r>
          </a:p>
        </p:txBody>
      </p:sp>
      <p:sp>
        <p:nvSpPr>
          <p:cNvPr id="67" name="infol-1"/>
          <p:cNvSpPr txBox="1"/>
          <p:nvPr/>
        </p:nvSpPr>
        <p:spPr>
          <a:xfrm>
            <a:off x="1142365" y="198366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行业深耕</a:t>
            </a:r>
          </a:p>
        </p:txBody>
      </p:sp>
      <p:sp>
        <p:nvSpPr>
          <p:cNvPr id="68" name="icon-clock"/>
          <p:cNvSpPr/>
          <p:nvPr/>
        </p:nvSpPr>
        <p:spPr>
          <a:xfrm>
            <a:off x="2781300" y="1897380"/>
            <a:ext cx="22035" cy="46101"/>
          </a:xfrm>
          <a:custGeom>
            <a:avLst/>
            <a:gdLst/>
            <a:ahLst/>
            <a:cxnLst/>
            <a:rect l="0" t="0" r="r" b="b"/>
            <a:pathLst>
              <a:path w="22035" h="46101">
                <a:moveTo>
                  <a:pt x="0" y="0"/>
                </a:moveTo>
                <a:lnTo>
                  <a:pt x="0" y="33020"/>
                </a:lnTo>
                <a:lnTo>
                  <a:pt x="22035" y="46101"/>
                </a:lnTo>
              </a:path>
            </a:pathLst>
          </a:custGeom>
          <a:noFill/>
          <a:ln w="12065" cap="rnd">
            <a:solidFill>
              <a:srgbClr val="0B3E8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icon-clock"/>
          <p:cNvSpPr/>
          <p:nvPr/>
        </p:nvSpPr>
        <p:spPr>
          <a:xfrm>
            <a:off x="2722139" y="1871239"/>
            <a:ext cx="118322" cy="118322"/>
          </a:xfrm>
          <a:prstGeom prst="ellipse">
            <a:avLst/>
          </a:prstGeom>
          <a:noFill/>
          <a:ln w="12065" cap="rnd">
            <a:solidFill>
              <a:srgbClr val="0B3E8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info-2"/>
          <p:cNvSpPr/>
          <p:nvPr/>
        </p:nvSpPr>
        <p:spPr>
          <a:xfrm>
            <a:off x="9169400" y="1600200"/>
            <a:ext cx="2070100" cy="660400"/>
          </a:xfrm>
          <a:custGeom>
            <a:avLst/>
            <a:gdLst/>
            <a:ahLst/>
            <a:cxnLst/>
            <a:rect l="0" t="0" r="r" b="b"/>
            <a:pathLst>
              <a:path w="2070100" h="660400">
                <a:moveTo>
                  <a:pt x="114300" y="0"/>
                </a:moveTo>
                <a:lnTo>
                  <a:pt x="1955800" y="0"/>
                </a:lnTo>
                <a:cubicBezTo>
                  <a:pt x="2018919" y="0"/>
                  <a:pt x="2070100" y="51181"/>
                  <a:pt x="2070100" y="114300"/>
                </a:cubicBezTo>
                <a:lnTo>
                  <a:pt x="2070100" y="546100"/>
                </a:lnTo>
                <a:cubicBezTo>
                  <a:pt x="2070100" y="609219"/>
                  <a:pt x="2018919" y="660400"/>
                  <a:pt x="1955800" y="660400"/>
                </a:cubicBezTo>
                <a:lnTo>
                  <a:pt x="114300" y="660400"/>
                </a:lnTo>
                <a:cubicBezTo>
                  <a:pt x="51181" y="660400"/>
                  <a:pt x="0" y="609219"/>
                  <a:pt x="0" y="5461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infob-2"/>
          <p:cNvSpPr/>
          <p:nvPr/>
        </p:nvSpPr>
        <p:spPr>
          <a:xfrm>
            <a:off x="9169400" y="1600200"/>
            <a:ext cx="38100" cy="660400"/>
          </a:xfrm>
          <a:custGeom>
            <a:avLst/>
            <a:gdLst/>
            <a:ahLst/>
            <a:cxnLst/>
            <a:rect l="0" t="0" r="r" b="b"/>
            <a:pathLst>
              <a:path w="38100" h="6604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41350"/>
                </a:lnTo>
                <a:cubicBezTo>
                  <a:pt x="38100" y="651891"/>
                  <a:pt x="29591" y="660400"/>
                  <a:pt x="19050" y="660400"/>
                </a:cubicBezTo>
                <a:lnTo>
                  <a:pt x="19050" y="660400"/>
                </a:lnTo>
                <a:cubicBezTo>
                  <a:pt x="8509" y="660400"/>
                  <a:pt x="0" y="651891"/>
                  <a:pt x="0" y="6413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infov-2"/>
          <p:cNvSpPr txBox="1"/>
          <p:nvPr/>
        </p:nvSpPr>
        <p:spPr>
          <a:xfrm>
            <a:off x="9345168" y="1635379"/>
            <a:ext cx="1004316" cy="4000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800" b="1" spc="40">
                <a:solidFill>
                  <a:srgbClr val="0B3E8F"/>
                </a:solidFill>
                <a:latin typeface="Arial"/>
                <a:ea typeface="Arial"/>
                <a:cs typeface="Arial"/>
              </a:rPr>
              <a:t>1,860+</a:t>
            </a:r>
          </a:p>
        </p:txBody>
      </p:sp>
      <p:sp>
        <p:nvSpPr>
          <p:cNvPr id="73" name="infol-2"/>
          <p:cNvSpPr txBox="1"/>
          <p:nvPr/>
        </p:nvSpPr>
        <p:spPr>
          <a:xfrm>
            <a:off x="9359265" y="198366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交付项目</a:t>
            </a:r>
          </a:p>
        </p:txBody>
      </p:sp>
      <p:sp>
        <p:nvSpPr>
          <p:cNvPr id="74" name="icon-check"/>
          <p:cNvSpPr/>
          <p:nvPr/>
        </p:nvSpPr>
        <p:spPr>
          <a:xfrm>
            <a:off x="10954194" y="1900110"/>
            <a:ext cx="88011" cy="61912"/>
          </a:xfrm>
          <a:custGeom>
            <a:avLst/>
            <a:gdLst/>
            <a:ahLst/>
            <a:cxnLst/>
            <a:rect l="0" t="0" r="r" b="b"/>
            <a:pathLst>
              <a:path w="88011" h="61912">
                <a:moveTo>
                  <a:pt x="0" y="33020"/>
                </a:moveTo>
                <a:lnTo>
                  <a:pt x="28892" y="61912"/>
                </a:lnTo>
                <a:lnTo>
                  <a:pt x="88011" y="0"/>
                </a:lnTo>
              </a:path>
            </a:pathLst>
          </a:custGeom>
          <a:noFill/>
          <a:ln w="12065" cap="rnd">
            <a:solidFill>
              <a:srgbClr val="1B5AA8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info-3"/>
          <p:cNvSpPr/>
          <p:nvPr/>
        </p:nvSpPr>
        <p:spPr>
          <a:xfrm>
            <a:off x="952500" y="5562600"/>
            <a:ext cx="2070100" cy="660400"/>
          </a:xfrm>
          <a:custGeom>
            <a:avLst/>
            <a:gdLst/>
            <a:ahLst/>
            <a:cxnLst/>
            <a:rect l="0" t="0" r="r" b="b"/>
            <a:pathLst>
              <a:path w="2070100" h="660400">
                <a:moveTo>
                  <a:pt x="114300" y="0"/>
                </a:moveTo>
                <a:lnTo>
                  <a:pt x="1955800" y="0"/>
                </a:lnTo>
                <a:cubicBezTo>
                  <a:pt x="2018919" y="0"/>
                  <a:pt x="2070100" y="51181"/>
                  <a:pt x="2070100" y="114300"/>
                </a:cubicBezTo>
                <a:lnTo>
                  <a:pt x="2070100" y="546100"/>
                </a:lnTo>
                <a:cubicBezTo>
                  <a:pt x="2070100" y="609219"/>
                  <a:pt x="2018919" y="660400"/>
                  <a:pt x="1955800" y="660400"/>
                </a:cubicBezTo>
                <a:lnTo>
                  <a:pt x="114300" y="660400"/>
                </a:lnTo>
                <a:cubicBezTo>
                  <a:pt x="51181" y="660400"/>
                  <a:pt x="0" y="609219"/>
                  <a:pt x="0" y="5461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infob-3"/>
          <p:cNvSpPr/>
          <p:nvPr/>
        </p:nvSpPr>
        <p:spPr>
          <a:xfrm>
            <a:off x="952500" y="5562600"/>
            <a:ext cx="38100" cy="660400"/>
          </a:xfrm>
          <a:custGeom>
            <a:avLst/>
            <a:gdLst/>
            <a:ahLst/>
            <a:cxnLst/>
            <a:rect l="0" t="0" r="r" b="b"/>
            <a:pathLst>
              <a:path w="38100" h="6604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41350"/>
                </a:lnTo>
                <a:cubicBezTo>
                  <a:pt x="38100" y="651891"/>
                  <a:pt x="29591" y="660400"/>
                  <a:pt x="19050" y="660400"/>
                </a:cubicBezTo>
                <a:lnTo>
                  <a:pt x="19050" y="660400"/>
                </a:lnTo>
                <a:cubicBezTo>
                  <a:pt x="8509" y="660400"/>
                  <a:pt x="0" y="651891"/>
                  <a:pt x="0" y="6413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infov-3"/>
          <p:cNvSpPr txBox="1"/>
          <p:nvPr/>
        </p:nvSpPr>
        <p:spPr>
          <a:xfrm>
            <a:off x="1128268" y="5597779"/>
            <a:ext cx="838708" cy="4000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800" b="1" spc="40">
                <a:solidFill>
                  <a:srgbClr val="0B3E8F"/>
                </a:solidFill>
                <a:latin typeface="Arial"/>
                <a:ea typeface="Arial"/>
                <a:cs typeface="Arial"/>
              </a:rPr>
              <a:t>36 项</a:t>
            </a:r>
          </a:p>
        </p:txBody>
      </p:sp>
      <p:sp>
        <p:nvSpPr>
          <p:cNvPr id="78" name="infol-3"/>
          <p:cNvSpPr txBox="1"/>
          <p:nvPr/>
        </p:nvSpPr>
        <p:spPr>
          <a:xfrm>
            <a:off x="1142365" y="5946061"/>
            <a:ext cx="78962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自主知识产权</a:t>
            </a:r>
          </a:p>
        </p:txBody>
      </p:sp>
      <p:sp>
        <p:nvSpPr>
          <p:cNvPr id="79" name="icon-award"/>
          <p:cNvSpPr/>
          <p:nvPr/>
        </p:nvSpPr>
        <p:spPr>
          <a:xfrm>
            <a:off x="2752408" y="5910707"/>
            <a:ext cx="57785" cy="39878"/>
          </a:xfrm>
          <a:custGeom>
            <a:avLst/>
            <a:gdLst/>
            <a:ahLst/>
            <a:cxnLst/>
            <a:rect l="0" t="0" r="r" b="b"/>
            <a:pathLst>
              <a:path w="57785" h="39878">
                <a:moveTo>
                  <a:pt x="10986" y="0"/>
                </a:moveTo>
                <a:lnTo>
                  <a:pt x="0" y="39878"/>
                </a:lnTo>
                <a:lnTo>
                  <a:pt x="28893" y="24765"/>
                </a:lnTo>
                <a:lnTo>
                  <a:pt x="57785" y="39878"/>
                </a:lnTo>
                <a:lnTo>
                  <a:pt x="46800" y="0"/>
                </a:lnTo>
              </a:path>
            </a:pathLst>
          </a:custGeom>
          <a:noFill/>
          <a:ln w="12065" cap="rnd">
            <a:solidFill>
              <a:srgbClr val="2E77C2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icon-award"/>
          <p:cNvSpPr/>
          <p:nvPr/>
        </p:nvSpPr>
        <p:spPr>
          <a:xfrm>
            <a:off x="2742777" y="5836391"/>
            <a:ext cx="77047" cy="77047"/>
          </a:xfrm>
          <a:prstGeom prst="ellipse">
            <a:avLst/>
          </a:prstGeom>
          <a:noFill/>
          <a:ln w="12065" cap="rnd">
            <a:solidFill>
              <a:srgbClr val="2E77C2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info-4"/>
          <p:cNvSpPr/>
          <p:nvPr/>
        </p:nvSpPr>
        <p:spPr>
          <a:xfrm>
            <a:off x="9169400" y="5562600"/>
            <a:ext cx="2070100" cy="660400"/>
          </a:xfrm>
          <a:custGeom>
            <a:avLst/>
            <a:gdLst/>
            <a:ahLst/>
            <a:cxnLst/>
            <a:rect l="0" t="0" r="r" b="b"/>
            <a:pathLst>
              <a:path w="2070100" h="660400">
                <a:moveTo>
                  <a:pt x="114300" y="0"/>
                </a:moveTo>
                <a:lnTo>
                  <a:pt x="1955800" y="0"/>
                </a:lnTo>
                <a:cubicBezTo>
                  <a:pt x="2018919" y="0"/>
                  <a:pt x="2070100" y="51181"/>
                  <a:pt x="2070100" y="114300"/>
                </a:cubicBezTo>
                <a:lnTo>
                  <a:pt x="2070100" y="546100"/>
                </a:lnTo>
                <a:cubicBezTo>
                  <a:pt x="2070100" y="609219"/>
                  <a:pt x="2018919" y="660400"/>
                  <a:pt x="1955800" y="660400"/>
                </a:cubicBezTo>
                <a:lnTo>
                  <a:pt x="114300" y="660400"/>
                </a:lnTo>
                <a:cubicBezTo>
                  <a:pt x="51181" y="660400"/>
                  <a:pt x="0" y="609219"/>
                  <a:pt x="0" y="5461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infob-4"/>
          <p:cNvSpPr/>
          <p:nvPr/>
        </p:nvSpPr>
        <p:spPr>
          <a:xfrm>
            <a:off x="9169400" y="5562600"/>
            <a:ext cx="38100" cy="660400"/>
          </a:xfrm>
          <a:custGeom>
            <a:avLst/>
            <a:gdLst/>
            <a:ahLst/>
            <a:cxnLst/>
            <a:rect l="0" t="0" r="r" b="b"/>
            <a:pathLst>
              <a:path w="38100" h="6604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41350"/>
                </a:lnTo>
                <a:cubicBezTo>
                  <a:pt x="38100" y="651891"/>
                  <a:pt x="29591" y="660400"/>
                  <a:pt x="19050" y="660400"/>
                </a:cubicBezTo>
                <a:lnTo>
                  <a:pt x="19050" y="660400"/>
                </a:lnTo>
                <a:cubicBezTo>
                  <a:pt x="8509" y="660400"/>
                  <a:pt x="0" y="651891"/>
                  <a:pt x="0" y="6413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infov-4"/>
          <p:cNvSpPr txBox="1"/>
          <p:nvPr/>
        </p:nvSpPr>
        <p:spPr>
          <a:xfrm>
            <a:off x="9345168" y="5597779"/>
            <a:ext cx="871220" cy="4000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800" b="1" spc="40">
                <a:solidFill>
                  <a:srgbClr val="0B3E8F"/>
                </a:solidFill>
                <a:latin typeface="Arial"/>
                <a:ea typeface="Arial"/>
                <a:cs typeface="Arial"/>
              </a:rPr>
              <a:t>96.4%</a:t>
            </a:r>
          </a:p>
        </p:txBody>
      </p:sp>
      <p:sp>
        <p:nvSpPr>
          <p:cNvPr id="84" name="infol-4"/>
          <p:cNvSpPr txBox="1"/>
          <p:nvPr/>
        </p:nvSpPr>
        <p:spPr>
          <a:xfrm>
            <a:off x="9359265" y="5946061"/>
            <a:ext cx="67468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客户续约率</a:t>
            </a:r>
          </a:p>
        </p:txBody>
      </p:sp>
      <p:sp>
        <p:nvSpPr>
          <p:cNvPr id="85" name="icon-people"/>
          <p:cNvSpPr/>
          <p:nvPr/>
        </p:nvSpPr>
        <p:spPr>
          <a:xfrm>
            <a:off x="10940415" y="5910707"/>
            <a:ext cx="116967" cy="33020"/>
          </a:xfrm>
          <a:custGeom>
            <a:avLst/>
            <a:gdLst/>
            <a:ahLst/>
            <a:cxnLst/>
            <a:rect l="0" t="0" r="r" b="b"/>
            <a:pathLst>
              <a:path w="116967" h="33020">
                <a:moveTo>
                  <a:pt x="0" y="33020"/>
                </a:moveTo>
                <a:cubicBezTo>
                  <a:pt x="0" y="12382"/>
                  <a:pt x="17208" y="0"/>
                  <a:pt x="37147" y="0"/>
                </a:cubicBezTo>
                <a:cubicBezTo>
                  <a:pt x="57087" y="0"/>
                  <a:pt x="74295" y="12382"/>
                  <a:pt x="74295" y="33020"/>
                </a:cubicBezTo>
                <a:moveTo>
                  <a:pt x="88074" y="2730"/>
                </a:moveTo>
                <a:cubicBezTo>
                  <a:pt x="105918" y="4826"/>
                  <a:pt x="116967" y="17145"/>
                  <a:pt x="116967" y="33020"/>
                </a:cubicBezTo>
              </a:path>
            </a:pathLst>
          </a:custGeom>
          <a:noFill/>
          <a:ln w="12065" cap="rnd">
            <a:solidFill>
              <a:srgbClr val="4694D7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icon-people"/>
          <p:cNvSpPr/>
          <p:nvPr/>
        </p:nvSpPr>
        <p:spPr>
          <a:xfrm>
            <a:off x="10955549" y="5851525"/>
            <a:ext cx="44027" cy="44027"/>
          </a:xfrm>
          <a:prstGeom prst="ellipse">
            <a:avLst/>
          </a:prstGeom>
          <a:noFill/>
          <a:ln w="12065" cap="rnd">
            <a:solidFill>
              <a:srgbClr val="4694D7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icon-people"/>
          <p:cNvSpPr/>
          <p:nvPr/>
        </p:nvSpPr>
        <p:spPr>
          <a:xfrm>
            <a:off x="11014710" y="5851525"/>
            <a:ext cx="35772" cy="35772"/>
          </a:xfrm>
          <a:prstGeom prst="ellipse">
            <a:avLst/>
          </a:prstGeom>
          <a:noFill/>
          <a:ln w="12065" cap="rnd">
            <a:solidFill>
              <a:srgbClr val="4694D7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88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9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能力模型 · 六大核心</a:t>
            </a:r>
          </a:p>
        </p:txBody>
      </p:sp>
      <p:sp>
        <p:nvSpPr>
          <p:cNvPr id="90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企业价值链分解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08165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VALUE CHAIN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123299" y="673132"/>
            <a:ext cx="24974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五项主活动创造价值，三项支持活动贯穿全链条</a:t>
            </a:r>
          </a:p>
        </p:txBody>
      </p:sp>
      <p:sp>
        <p:nvSpPr>
          <p:cNvPr id="10" name="sup-h"/>
          <p:cNvSpPr txBox="1"/>
          <p:nvPr/>
        </p:nvSpPr>
        <p:spPr>
          <a:xfrm>
            <a:off x="941070" y="1317466"/>
            <a:ext cx="198374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支持活动 · SUPPORT ACTIVITIES</a:t>
            </a:r>
          </a:p>
        </p:txBody>
      </p:sp>
      <p:sp>
        <p:nvSpPr>
          <p:cNvPr id="11" name="sup-1"/>
          <p:cNvSpPr/>
          <p:nvPr/>
        </p:nvSpPr>
        <p:spPr>
          <a:xfrm>
            <a:off x="952500" y="1587500"/>
            <a:ext cx="8877300" cy="609600"/>
          </a:xfrm>
          <a:custGeom>
            <a:avLst/>
            <a:gdLst/>
            <a:ahLst/>
            <a:cxnLst/>
            <a:rect l="0" t="0" r="r" b="b"/>
            <a:pathLst>
              <a:path w="8877300" h="609600">
                <a:moveTo>
                  <a:pt x="101600" y="0"/>
                </a:moveTo>
                <a:lnTo>
                  <a:pt x="8775700" y="0"/>
                </a:lnTo>
                <a:cubicBezTo>
                  <a:pt x="8831834" y="0"/>
                  <a:pt x="8877300" y="45466"/>
                  <a:pt x="8877300" y="101600"/>
                </a:cubicBezTo>
                <a:lnTo>
                  <a:pt x="8877300" y="508000"/>
                </a:lnTo>
                <a:cubicBezTo>
                  <a:pt x="8877300" y="564134"/>
                  <a:pt x="8831834" y="609600"/>
                  <a:pt x="8775700" y="609600"/>
                </a:cubicBezTo>
                <a:lnTo>
                  <a:pt x="101600" y="609600"/>
                </a:lnTo>
                <a:cubicBezTo>
                  <a:pt x="45466" y="609600"/>
                  <a:pt x="0" y="564134"/>
                  <a:pt x="0" y="508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supb-1"/>
          <p:cNvSpPr/>
          <p:nvPr/>
        </p:nvSpPr>
        <p:spPr>
          <a:xfrm>
            <a:off x="952500" y="1587500"/>
            <a:ext cx="38100" cy="609600"/>
          </a:xfrm>
          <a:custGeom>
            <a:avLst/>
            <a:gdLst/>
            <a:ahLst/>
            <a:cxnLst/>
            <a:rect l="0" t="0" r="r" b="b"/>
            <a:pathLst>
              <a:path w="38100" h="6096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590550"/>
                </a:lnTo>
                <a:cubicBezTo>
                  <a:pt x="38100" y="601091"/>
                  <a:pt x="29591" y="609600"/>
                  <a:pt x="19050" y="609600"/>
                </a:cubicBezTo>
                <a:lnTo>
                  <a:pt x="19050" y="609600"/>
                </a:lnTo>
                <a:cubicBezTo>
                  <a:pt x="8509" y="609600"/>
                  <a:pt x="0" y="601091"/>
                  <a:pt x="0" y="5905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icon-people"/>
          <p:cNvSpPr/>
          <p:nvPr/>
        </p:nvSpPr>
        <p:spPr>
          <a:xfrm>
            <a:off x="1241425" y="1912938"/>
            <a:ext cx="134938" cy="38100"/>
          </a:xfrm>
          <a:custGeom>
            <a:avLst/>
            <a:gdLst/>
            <a:ahLst/>
            <a:cxnLst/>
            <a:rect l="0" t="0" r="r" b="b"/>
            <a:pathLst>
              <a:path w="134938" h="38100">
                <a:moveTo>
                  <a:pt x="0" y="38100"/>
                </a:moveTo>
                <a:cubicBezTo>
                  <a:pt x="0" y="14288"/>
                  <a:pt x="19812" y="0"/>
                  <a:pt x="42862" y="0"/>
                </a:cubicBezTo>
                <a:cubicBezTo>
                  <a:pt x="65913" y="0"/>
                  <a:pt x="85725" y="14288"/>
                  <a:pt x="85725" y="38100"/>
                </a:cubicBezTo>
                <a:moveTo>
                  <a:pt x="101600" y="3175"/>
                </a:moveTo>
                <a:cubicBezTo>
                  <a:pt x="122238" y="5525"/>
                  <a:pt x="134938" y="19875"/>
                  <a:pt x="134938" y="38100"/>
                </a:cubicBez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icon-people"/>
          <p:cNvSpPr/>
          <p:nvPr/>
        </p:nvSpPr>
        <p:spPr>
          <a:xfrm>
            <a:off x="1258888" y="1844675"/>
            <a:ext cx="50800" cy="50800"/>
          </a:xfrm>
          <a:prstGeom prst="ellipse">
            <a:avLst/>
          </a:pr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icon-people"/>
          <p:cNvSpPr/>
          <p:nvPr/>
        </p:nvSpPr>
        <p:spPr>
          <a:xfrm>
            <a:off x="1327150" y="1844675"/>
            <a:ext cx="41275" cy="41275"/>
          </a:xfrm>
          <a:prstGeom prst="ellipse">
            <a:avLst/>
          </a:pr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supn-1"/>
          <p:cNvSpPr txBox="1"/>
          <p:nvPr/>
        </p:nvSpPr>
        <p:spPr>
          <a:xfrm>
            <a:off x="1593850" y="1753394"/>
            <a:ext cx="10001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组织与人才</a:t>
            </a:r>
          </a:p>
        </p:txBody>
      </p:sp>
      <p:sp>
        <p:nvSpPr>
          <p:cNvPr id="17" name="supp-1"/>
          <p:cNvSpPr txBox="1"/>
          <p:nvPr/>
        </p:nvSpPr>
        <p:spPr>
          <a:xfrm>
            <a:off x="3034665" y="18058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选育用留与梯队建设</a:t>
            </a:r>
          </a:p>
        </p:txBody>
      </p:sp>
      <p:sp>
        <p:nvSpPr>
          <p:cNvPr id="18" name="supk-1"/>
          <p:cNvSpPr/>
          <p:nvPr/>
        </p:nvSpPr>
        <p:spPr>
          <a:xfrm>
            <a:off x="7975600" y="1752600"/>
            <a:ext cx="1676400" cy="279400"/>
          </a:xfrm>
          <a:custGeom>
            <a:avLst/>
            <a:gdLst/>
            <a:ahLst/>
            <a:cxnLst/>
            <a:rect l="0" t="0" r="r" b="b"/>
            <a:pathLst>
              <a:path w="1676400" h="279400">
                <a:moveTo>
                  <a:pt x="76200" y="0"/>
                </a:moveTo>
                <a:lnTo>
                  <a:pt x="1600200" y="0"/>
                </a:lnTo>
                <a:cubicBezTo>
                  <a:pt x="1642301" y="0"/>
                  <a:pt x="1676400" y="34100"/>
                  <a:pt x="1676400" y="76200"/>
                </a:cubicBezTo>
                <a:lnTo>
                  <a:pt x="1676400" y="203200"/>
                </a:lnTo>
                <a:cubicBezTo>
                  <a:pt x="1676400" y="245300"/>
                  <a:pt x="1642301" y="279400"/>
                  <a:pt x="1600200" y="279400"/>
                </a:cubicBezTo>
                <a:lnTo>
                  <a:pt x="76200" y="279400"/>
                </a:lnTo>
                <a:cubicBezTo>
                  <a:pt x="34099" y="279400"/>
                  <a:pt x="0" y="245300"/>
                  <a:pt x="0" y="2032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0B3E8F">
              <a:alpha val="9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supkt-1"/>
          <p:cNvSpPr txBox="1"/>
          <p:nvPr/>
        </p:nvSpPr>
        <p:spPr>
          <a:xfrm>
            <a:off x="8329644" y="1815195"/>
            <a:ext cx="96831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覆盖 6 大职能序列</a:t>
            </a:r>
          </a:p>
        </p:txBody>
      </p:sp>
      <p:sp>
        <p:nvSpPr>
          <p:cNvPr id="20" name="sup-2"/>
          <p:cNvSpPr/>
          <p:nvPr/>
        </p:nvSpPr>
        <p:spPr>
          <a:xfrm>
            <a:off x="952500" y="2311400"/>
            <a:ext cx="8877300" cy="609600"/>
          </a:xfrm>
          <a:custGeom>
            <a:avLst/>
            <a:gdLst/>
            <a:ahLst/>
            <a:cxnLst/>
            <a:rect l="0" t="0" r="r" b="b"/>
            <a:pathLst>
              <a:path w="8877300" h="609600">
                <a:moveTo>
                  <a:pt x="101600" y="0"/>
                </a:moveTo>
                <a:lnTo>
                  <a:pt x="8775700" y="0"/>
                </a:lnTo>
                <a:cubicBezTo>
                  <a:pt x="8831834" y="0"/>
                  <a:pt x="8877300" y="45466"/>
                  <a:pt x="8877300" y="101600"/>
                </a:cubicBezTo>
                <a:lnTo>
                  <a:pt x="8877300" y="508000"/>
                </a:lnTo>
                <a:cubicBezTo>
                  <a:pt x="8877300" y="564134"/>
                  <a:pt x="8831834" y="609600"/>
                  <a:pt x="8775700" y="609600"/>
                </a:cubicBezTo>
                <a:lnTo>
                  <a:pt x="101600" y="609600"/>
                </a:lnTo>
                <a:cubicBezTo>
                  <a:pt x="45466" y="609600"/>
                  <a:pt x="0" y="564134"/>
                  <a:pt x="0" y="508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supb-2"/>
          <p:cNvSpPr/>
          <p:nvPr/>
        </p:nvSpPr>
        <p:spPr>
          <a:xfrm>
            <a:off x="952500" y="2311400"/>
            <a:ext cx="38100" cy="609600"/>
          </a:xfrm>
          <a:custGeom>
            <a:avLst/>
            <a:gdLst/>
            <a:ahLst/>
            <a:cxnLst/>
            <a:rect l="0" t="0" r="r" b="b"/>
            <a:pathLst>
              <a:path w="38100" h="6096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590550"/>
                </a:lnTo>
                <a:cubicBezTo>
                  <a:pt x="38100" y="601091"/>
                  <a:pt x="29591" y="609600"/>
                  <a:pt x="19050" y="609600"/>
                </a:cubicBezTo>
                <a:lnTo>
                  <a:pt x="19050" y="609600"/>
                </a:lnTo>
                <a:cubicBezTo>
                  <a:pt x="8509" y="609600"/>
                  <a:pt x="0" y="601091"/>
                  <a:pt x="0" y="5905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icon-code"/>
          <p:cNvSpPr/>
          <p:nvPr/>
        </p:nvSpPr>
        <p:spPr>
          <a:xfrm>
            <a:off x="1249362" y="2584450"/>
            <a:ext cx="117475" cy="63500"/>
          </a:xfrm>
          <a:custGeom>
            <a:avLst/>
            <a:gdLst/>
            <a:ahLst/>
            <a:cxnLst/>
            <a:rect l="0" t="0" r="r" b="b"/>
            <a:pathLst>
              <a:path w="117475" h="63500">
                <a:moveTo>
                  <a:pt x="34925" y="0"/>
                </a:moveTo>
                <a:lnTo>
                  <a:pt x="0" y="31750"/>
                </a:lnTo>
                <a:lnTo>
                  <a:pt x="34925" y="63500"/>
                </a:lnTo>
                <a:moveTo>
                  <a:pt x="82550" y="0"/>
                </a:moveTo>
                <a:lnTo>
                  <a:pt x="117475" y="31750"/>
                </a:lnTo>
                <a:lnTo>
                  <a:pt x="82550" y="63500"/>
                </a:lnTo>
              </a:path>
            </a:pathLst>
          </a:cu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supn-2"/>
          <p:cNvSpPr txBox="1"/>
          <p:nvPr/>
        </p:nvSpPr>
        <p:spPr>
          <a:xfrm>
            <a:off x="1593850" y="2477294"/>
            <a:ext cx="10001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技术与研发</a:t>
            </a:r>
          </a:p>
        </p:txBody>
      </p:sp>
      <p:sp>
        <p:nvSpPr>
          <p:cNvPr id="24" name="supp-2"/>
          <p:cNvSpPr txBox="1"/>
          <p:nvPr/>
        </p:nvSpPr>
        <p:spPr>
          <a:xfrm>
            <a:off x="3034665" y="2529761"/>
            <a:ext cx="12366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平台化研发与知识沉淀</a:t>
            </a:r>
          </a:p>
        </p:txBody>
      </p:sp>
      <p:sp>
        <p:nvSpPr>
          <p:cNvPr id="25" name="supk-2"/>
          <p:cNvSpPr/>
          <p:nvPr/>
        </p:nvSpPr>
        <p:spPr>
          <a:xfrm>
            <a:off x="7975600" y="2476500"/>
            <a:ext cx="1676400" cy="279400"/>
          </a:xfrm>
          <a:custGeom>
            <a:avLst/>
            <a:gdLst/>
            <a:ahLst/>
            <a:cxnLst/>
            <a:rect l="0" t="0" r="r" b="b"/>
            <a:pathLst>
              <a:path w="1676400" h="279400">
                <a:moveTo>
                  <a:pt x="76200" y="0"/>
                </a:moveTo>
                <a:lnTo>
                  <a:pt x="1600200" y="0"/>
                </a:lnTo>
                <a:cubicBezTo>
                  <a:pt x="1642301" y="0"/>
                  <a:pt x="1676400" y="34100"/>
                  <a:pt x="1676400" y="76200"/>
                </a:cubicBezTo>
                <a:lnTo>
                  <a:pt x="1676400" y="203200"/>
                </a:lnTo>
                <a:cubicBezTo>
                  <a:pt x="1676400" y="245300"/>
                  <a:pt x="1642301" y="279400"/>
                  <a:pt x="1600200" y="279400"/>
                </a:cubicBezTo>
                <a:lnTo>
                  <a:pt x="76200" y="279400"/>
                </a:lnTo>
                <a:cubicBezTo>
                  <a:pt x="34099" y="279400"/>
                  <a:pt x="0" y="245300"/>
                  <a:pt x="0" y="2032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134C9C">
              <a:alpha val="9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supkt-2"/>
          <p:cNvSpPr txBox="1"/>
          <p:nvPr/>
        </p:nvSpPr>
        <p:spPr>
          <a:xfrm>
            <a:off x="8293640" y="2539095"/>
            <a:ext cx="1040321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1" spc="20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研发投入占比 11.4%</a:t>
            </a:r>
          </a:p>
        </p:txBody>
      </p:sp>
      <p:sp>
        <p:nvSpPr>
          <p:cNvPr id="27" name="sup-3"/>
          <p:cNvSpPr/>
          <p:nvPr/>
        </p:nvSpPr>
        <p:spPr>
          <a:xfrm>
            <a:off x="952500" y="3035300"/>
            <a:ext cx="8877300" cy="609600"/>
          </a:xfrm>
          <a:custGeom>
            <a:avLst/>
            <a:gdLst/>
            <a:ahLst/>
            <a:cxnLst/>
            <a:rect l="0" t="0" r="r" b="b"/>
            <a:pathLst>
              <a:path w="8877300" h="609600">
                <a:moveTo>
                  <a:pt x="101600" y="0"/>
                </a:moveTo>
                <a:lnTo>
                  <a:pt x="8775700" y="0"/>
                </a:lnTo>
                <a:cubicBezTo>
                  <a:pt x="8831834" y="0"/>
                  <a:pt x="8877300" y="45466"/>
                  <a:pt x="8877300" y="101600"/>
                </a:cubicBezTo>
                <a:lnTo>
                  <a:pt x="8877300" y="508000"/>
                </a:lnTo>
                <a:cubicBezTo>
                  <a:pt x="8877300" y="564134"/>
                  <a:pt x="8831834" y="609600"/>
                  <a:pt x="8775700" y="609600"/>
                </a:cubicBezTo>
                <a:lnTo>
                  <a:pt x="101600" y="609600"/>
                </a:lnTo>
                <a:cubicBezTo>
                  <a:pt x="45466" y="609600"/>
                  <a:pt x="0" y="564134"/>
                  <a:pt x="0" y="508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supb-3"/>
          <p:cNvSpPr/>
          <p:nvPr/>
        </p:nvSpPr>
        <p:spPr>
          <a:xfrm>
            <a:off x="952500" y="3035300"/>
            <a:ext cx="38100" cy="609600"/>
          </a:xfrm>
          <a:custGeom>
            <a:avLst/>
            <a:gdLst/>
            <a:ahLst/>
            <a:cxnLst/>
            <a:rect l="0" t="0" r="r" b="b"/>
            <a:pathLst>
              <a:path w="38100" h="6096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590550"/>
                </a:lnTo>
                <a:cubicBezTo>
                  <a:pt x="38100" y="601091"/>
                  <a:pt x="29591" y="609600"/>
                  <a:pt x="19050" y="609600"/>
                </a:cubicBezTo>
                <a:lnTo>
                  <a:pt x="19050" y="609600"/>
                </a:lnTo>
                <a:cubicBezTo>
                  <a:pt x="8509" y="609600"/>
                  <a:pt x="0" y="601091"/>
                  <a:pt x="0" y="5905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icon-cart"/>
          <p:cNvSpPr/>
          <p:nvPr/>
        </p:nvSpPr>
        <p:spPr>
          <a:xfrm>
            <a:off x="1238250" y="3281362"/>
            <a:ext cx="126238" cy="74612"/>
          </a:xfrm>
          <a:custGeom>
            <a:avLst/>
            <a:gdLst/>
            <a:ahLst/>
            <a:cxnLst/>
            <a:rect l="0" t="0" r="r" b="b"/>
            <a:pathLst>
              <a:path w="126238" h="74612">
                <a:moveTo>
                  <a:pt x="0" y="0"/>
                </a:moveTo>
                <a:lnTo>
                  <a:pt x="18288" y="0"/>
                </a:lnTo>
                <a:lnTo>
                  <a:pt x="36512" y="74612"/>
                </a:lnTo>
                <a:lnTo>
                  <a:pt x="111125" y="74612"/>
                </a:lnTo>
                <a:lnTo>
                  <a:pt x="126238" y="22225"/>
                </a:lnTo>
                <a:lnTo>
                  <a:pt x="23812" y="22225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icon-cart"/>
          <p:cNvSpPr/>
          <p:nvPr/>
        </p:nvSpPr>
        <p:spPr>
          <a:xfrm>
            <a:off x="1276350" y="3379788"/>
            <a:ext cx="22225" cy="22225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icon-cart"/>
          <p:cNvSpPr/>
          <p:nvPr/>
        </p:nvSpPr>
        <p:spPr>
          <a:xfrm>
            <a:off x="1333500" y="3379788"/>
            <a:ext cx="22225" cy="22225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supn-3"/>
          <p:cNvSpPr txBox="1"/>
          <p:nvPr/>
        </p:nvSpPr>
        <p:spPr>
          <a:xfrm>
            <a:off x="1593850" y="3201194"/>
            <a:ext cx="10001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采购与供应</a:t>
            </a:r>
          </a:p>
        </p:txBody>
      </p:sp>
      <p:sp>
        <p:nvSpPr>
          <p:cNvPr id="33" name="supp-3"/>
          <p:cNvSpPr txBox="1"/>
          <p:nvPr/>
        </p:nvSpPr>
        <p:spPr>
          <a:xfrm>
            <a:off x="3034665" y="3253661"/>
            <a:ext cx="12366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集中采购与供应商分级</a:t>
            </a:r>
          </a:p>
        </p:txBody>
      </p:sp>
      <p:sp>
        <p:nvSpPr>
          <p:cNvPr id="34" name="supk-3"/>
          <p:cNvSpPr/>
          <p:nvPr/>
        </p:nvSpPr>
        <p:spPr>
          <a:xfrm>
            <a:off x="7975600" y="3200400"/>
            <a:ext cx="1676400" cy="279400"/>
          </a:xfrm>
          <a:custGeom>
            <a:avLst/>
            <a:gdLst/>
            <a:ahLst/>
            <a:cxnLst/>
            <a:rect l="0" t="0" r="r" b="b"/>
            <a:pathLst>
              <a:path w="1676400" h="279400">
                <a:moveTo>
                  <a:pt x="76200" y="0"/>
                </a:moveTo>
                <a:lnTo>
                  <a:pt x="1600200" y="0"/>
                </a:lnTo>
                <a:cubicBezTo>
                  <a:pt x="1642301" y="0"/>
                  <a:pt x="1676400" y="34100"/>
                  <a:pt x="1676400" y="76200"/>
                </a:cubicBezTo>
                <a:lnTo>
                  <a:pt x="1676400" y="203200"/>
                </a:lnTo>
                <a:cubicBezTo>
                  <a:pt x="1676400" y="245300"/>
                  <a:pt x="1642301" y="279400"/>
                  <a:pt x="1600200" y="279400"/>
                </a:cubicBezTo>
                <a:lnTo>
                  <a:pt x="76200" y="279400"/>
                </a:lnTo>
                <a:cubicBezTo>
                  <a:pt x="34099" y="279400"/>
                  <a:pt x="0" y="245300"/>
                  <a:pt x="0" y="2032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1B5AA8">
              <a:alpha val="9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supkt-3"/>
          <p:cNvSpPr txBox="1"/>
          <p:nvPr/>
        </p:nvSpPr>
        <p:spPr>
          <a:xfrm>
            <a:off x="8365649" y="3262995"/>
            <a:ext cx="89630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1" spc="20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核心物料双源供应</a:t>
            </a:r>
          </a:p>
        </p:txBody>
      </p:sp>
      <p:sp>
        <p:nvSpPr>
          <p:cNvPr id="36" name="main-h"/>
          <p:cNvSpPr txBox="1"/>
          <p:nvPr/>
        </p:nvSpPr>
        <p:spPr>
          <a:xfrm>
            <a:off x="941070" y="3679666"/>
            <a:ext cx="18726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主活动 · PRIMARY ACTIVITIES</a:t>
            </a:r>
          </a:p>
        </p:txBody>
      </p:sp>
      <p:sp>
        <p:nvSpPr>
          <p:cNvPr id="37" name="main-1"/>
          <p:cNvSpPr/>
          <p:nvPr/>
        </p:nvSpPr>
        <p:spPr>
          <a:xfrm>
            <a:off x="952500" y="3962400"/>
            <a:ext cx="1882775" cy="1473200"/>
          </a:xfrm>
          <a:custGeom>
            <a:avLst/>
            <a:gdLst/>
            <a:ahLst/>
            <a:cxnLst/>
            <a:rect l="0" t="0" r="r" b="b"/>
            <a:pathLst>
              <a:path w="1882775" h="1473200">
                <a:moveTo>
                  <a:pt x="88900" y="0"/>
                </a:moveTo>
                <a:lnTo>
                  <a:pt x="1653540" y="0"/>
                </a:lnTo>
                <a:quadBezTo>
                  <a:pt x="1715770" y="0"/>
                  <a:pt x="1742440" y="117856"/>
                </a:quadBezTo>
                <a:lnTo>
                  <a:pt x="1860550" y="705485"/>
                </a:lnTo>
                <a:quadBezTo>
                  <a:pt x="1905000" y="736600"/>
                  <a:pt x="1860550" y="767715"/>
                </a:quadBezTo>
                <a:lnTo>
                  <a:pt x="1742440" y="1355344"/>
                </a:lnTo>
                <a:quadBezTo>
                  <a:pt x="1715770" y="1473200"/>
                  <a:pt x="1653540" y="1473200"/>
                </a:quadBezTo>
                <a:lnTo>
                  <a:pt x="88900" y="1473200"/>
                </a:lnTo>
                <a:cubicBezTo>
                  <a:pt x="39815" y="1473200"/>
                  <a:pt x="0" y="1433386"/>
                  <a:pt x="0" y="13843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3465AA"/>
              </a:gs>
              <a:gs pos="100000">
                <a:srgbClr val="134C9C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icon-truck"/>
          <p:cNvSpPr/>
          <p:nvPr/>
        </p:nvSpPr>
        <p:spPr>
          <a:xfrm>
            <a:off x="1934845" y="4327208"/>
            <a:ext cx="158877" cy="98552"/>
          </a:xfrm>
          <a:custGeom>
            <a:avLst/>
            <a:gdLst/>
            <a:ahLst/>
            <a:cxnLst/>
            <a:rect l="0" t="0" r="r" b="b"/>
            <a:pathLst>
              <a:path w="158877" h="98552">
                <a:moveTo>
                  <a:pt x="0" y="0"/>
                </a:moveTo>
                <a:lnTo>
                  <a:pt x="96520" y="0"/>
                </a:lnTo>
                <a:lnTo>
                  <a:pt x="96520" y="98552"/>
                </a:lnTo>
                <a:lnTo>
                  <a:pt x="0" y="98552"/>
                </a:lnTo>
                <a:close/>
                <a:moveTo>
                  <a:pt x="96520" y="36195"/>
                </a:moveTo>
                <a:lnTo>
                  <a:pt x="130683" y="36195"/>
                </a:lnTo>
                <a:lnTo>
                  <a:pt x="158877" y="66357"/>
                </a:lnTo>
                <a:lnTo>
                  <a:pt x="158877" y="98552"/>
                </a:lnTo>
                <a:lnTo>
                  <a:pt x="96520" y="98552"/>
                </a:lnTo>
                <a:close/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mainn-1"/>
          <p:cNvSpPr txBox="1"/>
          <p:nvPr/>
        </p:nvSpPr>
        <p:spPr>
          <a:xfrm>
            <a:off x="1598612" y="4604544"/>
            <a:ext cx="8413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进货物流</a:t>
            </a:r>
          </a:p>
        </p:txBody>
      </p:sp>
      <p:sp>
        <p:nvSpPr>
          <p:cNvPr id="40" name="mainr-1"/>
          <p:cNvSpPr/>
          <p:nvPr/>
        </p:nvSpPr>
        <p:spPr>
          <a:xfrm>
            <a:off x="1854200" y="4914900"/>
            <a:ext cx="330200" cy="1651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mainp-1"/>
          <p:cNvSpPr txBox="1"/>
          <p:nvPr/>
        </p:nvSpPr>
        <p:spPr>
          <a:xfrm>
            <a:off x="1514634" y="50316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FFFFFF">
                    <a:alpha val="92000"/>
                  </a:srgbClr>
                </a:solidFill>
                <a:latin typeface="微软雅黑"/>
                <a:ea typeface="微软雅黑"/>
                <a:cs typeface="微软雅黑"/>
              </a:rPr>
              <a:t>入库、仓储与齐套</a:t>
            </a:r>
          </a:p>
        </p:txBody>
      </p:sp>
      <p:sp>
        <p:nvSpPr>
          <p:cNvPr id="42" name="mainno-1"/>
          <p:cNvSpPr txBox="1"/>
          <p:nvPr/>
        </p:nvSpPr>
        <p:spPr>
          <a:xfrm>
            <a:off x="1269746" y="40322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FFFFFF">
                    <a:alpha val="50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43" name="main-2"/>
          <p:cNvSpPr/>
          <p:nvPr/>
        </p:nvSpPr>
        <p:spPr>
          <a:xfrm>
            <a:off x="2815183" y="3962400"/>
            <a:ext cx="1810792" cy="1473200"/>
          </a:xfrm>
          <a:custGeom>
            <a:avLst/>
            <a:gdLst/>
            <a:ahLst/>
            <a:cxnLst/>
            <a:rect l="0" t="0" r="r" b="b"/>
            <a:pathLst>
              <a:path w="1810792" h="1473200">
                <a:moveTo>
                  <a:pt x="16917" y="0"/>
                </a:moveTo>
                <a:lnTo>
                  <a:pt x="1581557" y="0"/>
                </a:lnTo>
                <a:quadBezTo>
                  <a:pt x="1643787" y="0"/>
                  <a:pt x="1670457" y="117856"/>
                </a:quadBezTo>
                <a:lnTo>
                  <a:pt x="1788567" y="705485"/>
                </a:lnTo>
                <a:quadBezTo>
                  <a:pt x="1833017" y="736600"/>
                  <a:pt x="1788567" y="767715"/>
                </a:quadBezTo>
                <a:lnTo>
                  <a:pt x="1670457" y="1355344"/>
                </a:lnTo>
                <a:quadBezTo>
                  <a:pt x="1643787" y="1473200"/>
                  <a:pt x="1581557" y="1473200"/>
                </a:quadBezTo>
                <a:lnTo>
                  <a:pt x="16917" y="1473200"/>
                </a:lnTo>
                <a:quadBezTo>
                  <a:pt x="-8483" y="1473200"/>
                  <a:pt x="4217" y="1355344"/>
                </a:quadBezTo>
                <a:lnTo>
                  <a:pt x="99467" y="767715"/>
                </a:lnTo>
                <a:quadBezTo>
                  <a:pt x="143917" y="736600"/>
                  <a:pt x="99467" y="705485"/>
                </a:quadBezTo>
                <a:lnTo>
                  <a:pt x="4217" y="117856"/>
                </a:lnTo>
                <a:quadBezTo>
                  <a:pt x="-8483" y="0"/>
                  <a:pt x="16917" y="0"/>
                </a:quadBezTo>
                <a:close/>
              </a:path>
            </a:pathLst>
          </a:custGeom>
          <a:gradFill rotWithShape="1">
            <a:gsLst>
              <a:gs pos="0">
                <a:srgbClr val="3B71B4"/>
              </a:gs>
              <a:gs pos="100000">
                <a:srgbClr val="1B5AA8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icon-factory"/>
          <p:cNvSpPr/>
          <p:nvPr/>
        </p:nvSpPr>
        <p:spPr>
          <a:xfrm>
            <a:off x="3723513" y="4343273"/>
            <a:ext cx="172974" cy="116650"/>
          </a:xfrm>
          <a:custGeom>
            <a:avLst/>
            <a:gdLst/>
            <a:ahLst/>
            <a:cxnLst/>
            <a:rect l="0" t="0" r="r" b="b"/>
            <a:pathLst>
              <a:path w="172974" h="116650">
                <a:moveTo>
                  <a:pt x="0" y="116650"/>
                </a:moveTo>
                <a:lnTo>
                  <a:pt x="0" y="28194"/>
                </a:lnTo>
                <a:lnTo>
                  <a:pt x="50292" y="58356"/>
                </a:lnTo>
                <a:lnTo>
                  <a:pt x="50292" y="28194"/>
                </a:lnTo>
                <a:lnTo>
                  <a:pt x="100584" y="58356"/>
                </a:lnTo>
                <a:lnTo>
                  <a:pt x="100584" y="0"/>
                </a:lnTo>
                <a:lnTo>
                  <a:pt x="150812" y="30162"/>
                </a:lnTo>
                <a:lnTo>
                  <a:pt x="150812" y="106616"/>
                </a:lnTo>
                <a:close/>
                <a:moveTo>
                  <a:pt x="0" y="116650"/>
                </a:moveTo>
                <a:lnTo>
                  <a:pt x="172974" y="116650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mainn-2"/>
          <p:cNvSpPr txBox="1"/>
          <p:nvPr/>
        </p:nvSpPr>
        <p:spPr>
          <a:xfrm>
            <a:off x="3389312" y="4604544"/>
            <a:ext cx="8413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生产制造</a:t>
            </a:r>
          </a:p>
        </p:txBody>
      </p:sp>
      <p:sp>
        <p:nvSpPr>
          <p:cNvPr id="46" name="mainr-2"/>
          <p:cNvSpPr/>
          <p:nvPr/>
        </p:nvSpPr>
        <p:spPr>
          <a:xfrm>
            <a:off x="3644900" y="4914900"/>
            <a:ext cx="330200" cy="1651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mainp-2"/>
          <p:cNvSpPr txBox="1"/>
          <p:nvPr/>
        </p:nvSpPr>
        <p:spPr>
          <a:xfrm>
            <a:off x="3305334" y="50316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FFFFFF">
                    <a:alpha val="92000"/>
                  </a:srgbClr>
                </a:solidFill>
                <a:latin typeface="微软雅黑"/>
                <a:ea typeface="微软雅黑"/>
                <a:cs typeface="微软雅黑"/>
              </a:rPr>
              <a:t>排产、加工与质检</a:t>
            </a:r>
          </a:p>
        </p:txBody>
      </p:sp>
      <p:sp>
        <p:nvSpPr>
          <p:cNvPr id="48" name="mainno-2"/>
          <p:cNvSpPr txBox="1"/>
          <p:nvPr/>
        </p:nvSpPr>
        <p:spPr>
          <a:xfrm>
            <a:off x="3060446" y="40322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FFFFFF">
                    <a:alpha val="50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49" name="main-3"/>
          <p:cNvSpPr/>
          <p:nvPr/>
        </p:nvSpPr>
        <p:spPr>
          <a:xfrm>
            <a:off x="4605883" y="3962400"/>
            <a:ext cx="1810792" cy="1473200"/>
          </a:xfrm>
          <a:custGeom>
            <a:avLst/>
            <a:gdLst/>
            <a:ahLst/>
            <a:cxnLst/>
            <a:rect l="0" t="0" r="r" b="b"/>
            <a:pathLst>
              <a:path w="1810792" h="1473200">
                <a:moveTo>
                  <a:pt x="16917" y="0"/>
                </a:moveTo>
                <a:lnTo>
                  <a:pt x="1581557" y="0"/>
                </a:lnTo>
                <a:quadBezTo>
                  <a:pt x="1643787" y="0"/>
                  <a:pt x="1670457" y="117856"/>
                </a:quadBezTo>
                <a:lnTo>
                  <a:pt x="1788567" y="705485"/>
                </a:lnTo>
                <a:quadBezTo>
                  <a:pt x="1833017" y="736600"/>
                  <a:pt x="1788567" y="767715"/>
                </a:quadBezTo>
                <a:lnTo>
                  <a:pt x="1670457" y="1355344"/>
                </a:lnTo>
                <a:quadBezTo>
                  <a:pt x="1643787" y="1473200"/>
                  <a:pt x="1581557" y="1473200"/>
                </a:quadBezTo>
                <a:lnTo>
                  <a:pt x="16917" y="1473200"/>
                </a:lnTo>
                <a:quadBezTo>
                  <a:pt x="-8483" y="1473200"/>
                  <a:pt x="4217" y="1355344"/>
                </a:quadBezTo>
                <a:lnTo>
                  <a:pt x="99467" y="767715"/>
                </a:lnTo>
                <a:quadBezTo>
                  <a:pt x="143917" y="736600"/>
                  <a:pt x="99467" y="705485"/>
                </a:quadBezTo>
                <a:lnTo>
                  <a:pt x="4217" y="117856"/>
                </a:lnTo>
                <a:quadBezTo>
                  <a:pt x="-8483" y="0"/>
                  <a:pt x="16917" y="0"/>
                </a:quadBezTo>
                <a:close/>
              </a:path>
            </a:pathLst>
          </a:custGeom>
          <a:gradFill rotWithShape="1">
            <a:gsLst>
              <a:gs pos="0">
                <a:srgbClr val="437DC0"/>
              </a:gs>
              <a:gs pos="100000">
                <a:srgbClr val="2468B6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icon-process"/>
          <p:cNvSpPr/>
          <p:nvPr/>
        </p:nvSpPr>
        <p:spPr>
          <a:xfrm>
            <a:off x="5526278" y="4341304"/>
            <a:ext cx="148844" cy="80391"/>
          </a:xfrm>
          <a:custGeom>
            <a:avLst/>
            <a:gdLst/>
            <a:ahLst/>
            <a:cxnLst/>
            <a:rect l="0" t="0" r="r" b="b"/>
            <a:pathLst>
              <a:path w="148844" h="80391">
                <a:moveTo>
                  <a:pt x="0" y="0"/>
                </a:moveTo>
                <a:lnTo>
                  <a:pt x="52324" y="0"/>
                </a:lnTo>
                <a:lnTo>
                  <a:pt x="52324" y="52261"/>
                </a:lnTo>
                <a:lnTo>
                  <a:pt x="0" y="52261"/>
                </a:lnTo>
                <a:close/>
                <a:moveTo>
                  <a:pt x="96520" y="28131"/>
                </a:moveTo>
                <a:lnTo>
                  <a:pt x="148844" y="28131"/>
                </a:lnTo>
                <a:lnTo>
                  <a:pt x="148844" y="80391"/>
                </a:lnTo>
                <a:lnTo>
                  <a:pt x="96520" y="80391"/>
                </a:lnTo>
                <a:close/>
                <a:moveTo>
                  <a:pt x="52324" y="26099"/>
                </a:moveTo>
                <a:lnTo>
                  <a:pt x="96520" y="26099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mainn-3"/>
          <p:cNvSpPr txBox="1"/>
          <p:nvPr/>
        </p:nvSpPr>
        <p:spPr>
          <a:xfrm>
            <a:off x="5180012" y="4604544"/>
            <a:ext cx="8413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发货物流</a:t>
            </a:r>
          </a:p>
        </p:txBody>
      </p:sp>
      <p:sp>
        <p:nvSpPr>
          <p:cNvPr id="52" name="mainr-3"/>
          <p:cNvSpPr/>
          <p:nvPr/>
        </p:nvSpPr>
        <p:spPr>
          <a:xfrm>
            <a:off x="5435600" y="4914900"/>
            <a:ext cx="330200" cy="1651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mainp-3"/>
          <p:cNvSpPr txBox="1"/>
          <p:nvPr/>
        </p:nvSpPr>
        <p:spPr>
          <a:xfrm>
            <a:off x="5096034" y="50316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FFFFFF">
                    <a:alpha val="92000"/>
                  </a:srgbClr>
                </a:solidFill>
                <a:latin typeface="微软雅黑"/>
                <a:ea typeface="微软雅黑"/>
                <a:cs typeface="微软雅黑"/>
              </a:rPr>
              <a:t>分拣、配载与运输</a:t>
            </a:r>
          </a:p>
        </p:txBody>
      </p:sp>
      <p:sp>
        <p:nvSpPr>
          <p:cNvPr id="54" name="mainno-3"/>
          <p:cNvSpPr txBox="1"/>
          <p:nvPr/>
        </p:nvSpPr>
        <p:spPr>
          <a:xfrm>
            <a:off x="4851146" y="40322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FFFFFF">
                    <a:alpha val="50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55" name="main-4"/>
          <p:cNvSpPr/>
          <p:nvPr/>
        </p:nvSpPr>
        <p:spPr>
          <a:xfrm>
            <a:off x="6396583" y="3962400"/>
            <a:ext cx="1810792" cy="1473200"/>
          </a:xfrm>
          <a:custGeom>
            <a:avLst/>
            <a:gdLst/>
            <a:ahLst/>
            <a:cxnLst/>
            <a:rect l="0" t="0" r="r" b="b"/>
            <a:pathLst>
              <a:path w="1810792" h="1473200">
                <a:moveTo>
                  <a:pt x="16917" y="0"/>
                </a:moveTo>
                <a:lnTo>
                  <a:pt x="1581557" y="0"/>
                </a:lnTo>
                <a:quadBezTo>
                  <a:pt x="1643787" y="0"/>
                  <a:pt x="1670457" y="117856"/>
                </a:quadBezTo>
                <a:lnTo>
                  <a:pt x="1788567" y="705485"/>
                </a:lnTo>
                <a:quadBezTo>
                  <a:pt x="1833017" y="736600"/>
                  <a:pt x="1788567" y="767715"/>
                </a:quadBezTo>
                <a:lnTo>
                  <a:pt x="1670457" y="1355344"/>
                </a:lnTo>
                <a:quadBezTo>
                  <a:pt x="1643787" y="1473200"/>
                  <a:pt x="1581557" y="1473200"/>
                </a:quadBezTo>
                <a:lnTo>
                  <a:pt x="16917" y="1473200"/>
                </a:lnTo>
                <a:quadBezTo>
                  <a:pt x="-8483" y="1473200"/>
                  <a:pt x="4217" y="1355344"/>
                </a:quadBezTo>
                <a:lnTo>
                  <a:pt x="99467" y="767715"/>
                </a:lnTo>
                <a:quadBezTo>
                  <a:pt x="143917" y="736600"/>
                  <a:pt x="99467" y="705485"/>
                </a:quadBezTo>
                <a:lnTo>
                  <a:pt x="4217" y="117856"/>
                </a:lnTo>
                <a:quadBezTo>
                  <a:pt x="-8483" y="0"/>
                  <a:pt x="16917" y="0"/>
                </a:quadBezTo>
                <a:close/>
              </a:path>
            </a:pathLst>
          </a:custGeom>
          <a:gradFill rotWithShape="1">
            <a:gsLst>
              <a:gs pos="0">
                <a:srgbClr val="4B8ACB"/>
              </a:gs>
              <a:gs pos="100000">
                <a:srgbClr val="2E77C2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icon-megaphone"/>
          <p:cNvSpPr/>
          <p:nvPr/>
        </p:nvSpPr>
        <p:spPr>
          <a:xfrm>
            <a:off x="7325042" y="4319143"/>
            <a:ext cx="130683" cy="124714"/>
          </a:xfrm>
          <a:custGeom>
            <a:avLst/>
            <a:gdLst/>
            <a:ahLst/>
            <a:cxnLst/>
            <a:rect l="0" t="0" r="r" b="b"/>
            <a:pathLst>
              <a:path w="130683" h="124714">
                <a:moveTo>
                  <a:pt x="0" y="38227"/>
                </a:moveTo>
                <a:lnTo>
                  <a:pt x="0" y="86487"/>
                </a:lnTo>
                <a:lnTo>
                  <a:pt x="30162" y="86487"/>
                </a:lnTo>
                <a:lnTo>
                  <a:pt x="102553" y="124714"/>
                </a:lnTo>
                <a:lnTo>
                  <a:pt x="102553" y="0"/>
                </a:lnTo>
                <a:lnTo>
                  <a:pt x="30162" y="38227"/>
                </a:lnTo>
                <a:close/>
                <a:moveTo>
                  <a:pt x="130683" y="42228"/>
                </a:moveTo>
                <a:lnTo>
                  <a:pt x="130683" y="82487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mainn-4"/>
          <p:cNvSpPr txBox="1"/>
          <p:nvPr/>
        </p:nvSpPr>
        <p:spPr>
          <a:xfrm>
            <a:off x="6970712" y="4604544"/>
            <a:ext cx="8413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市场营销</a:t>
            </a:r>
          </a:p>
        </p:txBody>
      </p:sp>
      <p:sp>
        <p:nvSpPr>
          <p:cNvPr id="58" name="mainr-4"/>
          <p:cNvSpPr/>
          <p:nvPr/>
        </p:nvSpPr>
        <p:spPr>
          <a:xfrm>
            <a:off x="7226300" y="4914900"/>
            <a:ext cx="330200" cy="1651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mainp-4"/>
          <p:cNvSpPr txBox="1"/>
          <p:nvPr/>
        </p:nvSpPr>
        <p:spPr>
          <a:xfrm>
            <a:off x="6886734" y="50316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FFFFFF">
                    <a:alpha val="92000"/>
                  </a:srgbClr>
                </a:solidFill>
                <a:latin typeface="微软雅黑"/>
                <a:ea typeface="微软雅黑"/>
                <a:cs typeface="微软雅黑"/>
              </a:rPr>
              <a:t>获客、品牌与投标</a:t>
            </a:r>
          </a:p>
        </p:txBody>
      </p:sp>
      <p:sp>
        <p:nvSpPr>
          <p:cNvPr id="60" name="mainno-4"/>
          <p:cNvSpPr txBox="1"/>
          <p:nvPr/>
        </p:nvSpPr>
        <p:spPr>
          <a:xfrm>
            <a:off x="6641846" y="40322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FFFFFF">
                    <a:alpha val="50000"/>
                  </a:srgbClr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61" name="main-5"/>
          <p:cNvSpPr/>
          <p:nvPr/>
        </p:nvSpPr>
        <p:spPr>
          <a:xfrm>
            <a:off x="8187283" y="3962400"/>
            <a:ext cx="1810792" cy="1473200"/>
          </a:xfrm>
          <a:custGeom>
            <a:avLst/>
            <a:gdLst/>
            <a:ahLst/>
            <a:cxnLst/>
            <a:rect l="0" t="0" r="r" b="b"/>
            <a:pathLst>
              <a:path w="1810792" h="1473200">
                <a:moveTo>
                  <a:pt x="16917" y="0"/>
                </a:moveTo>
                <a:lnTo>
                  <a:pt x="1581557" y="0"/>
                </a:lnTo>
                <a:quadBezTo>
                  <a:pt x="1643787" y="0"/>
                  <a:pt x="1670457" y="117856"/>
                </a:quadBezTo>
                <a:lnTo>
                  <a:pt x="1788567" y="705485"/>
                </a:lnTo>
                <a:quadBezTo>
                  <a:pt x="1833017" y="736600"/>
                  <a:pt x="1788567" y="767715"/>
                </a:quadBezTo>
                <a:lnTo>
                  <a:pt x="1670457" y="1355344"/>
                </a:lnTo>
                <a:quadBezTo>
                  <a:pt x="1643787" y="1473200"/>
                  <a:pt x="1581557" y="1473200"/>
                </a:quadBezTo>
                <a:lnTo>
                  <a:pt x="16917" y="1473200"/>
                </a:lnTo>
                <a:quadBezTo>
                  <a:pt x="-8483" y="1473200"/>
                  <a:pt x="4217" y="1355344"/>
                </a:quadBezTo>
                <a:lnTo>
                  <a:pt x="99467" y="767715"/>
                </a:lnTo>
                <a:quadBezTo>
                  <a:pt x="143917" y="736600"/>
                  <a:pt x="99467" y="705485"/>
                </a:quadBezTo>
                <a:lnTo>
                  <a:pt x="4217" y="117856"/>
                </a:lnTo>
                <a:quadBezTo>
                  <a:pt x="-8483" y="0"/>
                  <a:pt x="16917" y="0"/>
                </a:quadBezTo>
                <a:close/>
              </a:path>
            </a:pathLst>
          </a:custGeom>
          <a:gradFill rotWithShape="1">
            <a:gsLst>
              <a:gs pos="0">
                <a:srgbClr val="5596D4"/>
              </a:gs>
              <a:gs pos="100000">
                <a:srgbClr val="3985CD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icon-hand"/>
          <p:cNvSpPr/>
          <p:nvPr/>
        </p:nvSpPr>
        <p:spPr>
          <a:xfrm>
            <a:off x="9106078" y="4295013"/>
            <a:ext cx="136347" cy="172974"/>
          </a:xfrm>
          <a:custGeom>
            <a:avLst/>
            <a:gdLst/>
            <a:ahLst/>
            <a:cxnLst/>
            <a:rect l="0" t="0" r="r" b="b"/>
            <a:pathLst>
              <a:path w="136347" h="172974">
                <a:moveTo>
                  <a:pt x="39827" y="92520"/>
                </a:moveTo>
                <a:lnTo>
                  <a:pt x="39827" y="28194"/>
                </a:lnTo>
                <a:cubicBezTo>
                  <a:pt x="39827" y="19304"/>
                  <a:pt x="47002" y="12065"/>
                  <a:pt x="55892" y="12065"/>
                </a:cubicBezTo>
                <a:cubicBezTo>
                  <a:pt x="64782" y="12065"/>
                  <a:pt x="72021" y="19304"/>
                  <a:pt x="72021" y="28194"/>
                </a:cubicBezTo>
                <a:lnTo>
                  <a:pt x="72021" y="78423"/>
                </a:lnTo>
                <a:moveTo>
                  <a:pt x="72021" y="78423"/>
                </a:moveTo>
                <a:lnTo>
                  <a:pt x="72021" y="16129"/>
                </a:lnTo>
                <a:cubicBezTo>
                  <a:pt x="72021" y="7239"/>
                  <a:pt x="79197" y="0"/>
                  <a:pt x="88087" y="0"/>
                </a:cubicBezTo>
                <a:cubicBezTo>
                  <a:pt x="96977" y="0"/>
                  <a:pt x="104152" y="7239"/>
                  <a:pt x="104152" y="16129"/>
                </a:cubicBezTo>
                <a:lnTo>
                  <a:pt x="104152" y="78423"/>
                </a:lnTo>
                <a:moveTo>
                  <a:pt x="104152" y="82487"/>
                </a:moveTo>
                <a:lnTo>
                  <a:pt x="104152" y="40259"/>
                </a:lnTo>
                <a:cubicBezTo>
                  <a:pt x="104152" y="31369"/>
                  <a:pt x="111391" y="24130"/>
                  <a:pt x="120281" y="24130"/>
                </a:cubicBezTo>
                <a:cubicBezTo>
                  <a:pt x="129171" y="24130"/>
                  <a:pt x="136347" y="31369"/>
                  <a:pt x="136347" y="40259"/>
                </a:cubicBezTo>
                <a:lnTo>
                  <a:pt x="136347" y="114617"/>
                </a:lnTo>
                <a:cubicBezTo>
                  <a:pt x="136347" y="146812"/>
                  <a:pt x="112217" y="172974"/>
                  <a:pt x="80022" y="172974"/>
                </a:cubicBezTo>
                <a:cubicBezTo>
                  <a:pt x="53924" y="172974"/>
                  <a:pt x="39827" y="160909"/>
                  <a:pt x="25730" y="140779"/>
                </a:cubicBezTo>
                <a:lnTo>
                  <a:pt x="1600" y="104585"/>
                </a:lnTo>
                <a:cubicBezTo>
                  <a:pt x="-1829" y="97473"/>
                  <a:pt x="393" y="88837"/>
                  <a:pt x="6934" y="84328"/>
                </a:cubicBezTo>
                <a:cubicBezTo>
                  <a:pt x="13474" y="79820"/>
                  <a:pt x="22301" y="80709"/>
                  <a:pt x="27762" y="86487"/>
                </a:cubicBezTo>
                <a:close/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mainn-5"/>
          <p:cNvSpPr txBox="1"/>
          <p:nvPr/>
        </p:nvSpPr>
        <p:spPr>
          <a:xfrm>
            <a:off x="8761412" y="4604544"/>
            <a:ext cx="8413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售后服务</a:t>
            </a:r>
          </a:p>
        </p:txBody>
      </p:sp>
      <p:sp>
        <p:nvSpPr>
          <p:cNvPr id="64" name="mainr-5"/>
          <p:cNvSpPr/>
          <p:nvPr/>
        </p:nvSpPr>
        <p:spPr>
          <a:xfrm>
            <a:off x="9017000" y="4914900"/>
            <a:ext cx="330200" cy="1651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mainp-5"/>
          <p:cNvSpPr txBox="1"/>
          <p:nvPr/>
        </p:nvSpPr>
        <p:spPr>
          <a:xfrm>
            <a:off x="8677434" y="50316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FFFFFF">
                    <a:alpha val="92000"/>
                  </a:srgbClr>
                </a:solidFill>
                <a:latin typeface="微软雅黑"/>
                <a:ea typeface="微软雅黑"/>
                <a:cs typeface="微软雅黑"/>
              </a:rPr>
              <a:t>安装、维保与回访</a:t>
            </a:r>
          </a:p>
        </p:txBody>
      </p:sp>
      <p:sp>
        <p:nvSpPr>
          <p:cNvPr id="66" name="mainno-5"/>
          <p:cNvSpPr txBox="1"/>
          <p:nvPr/>
        </p:nvSpPr>
        <p:spPr>
          <a:xfrm>
            <a:off x="8432546" y="40322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FFFFFF">
                    <a:alpha val="50000"/>
                  </a:srgbClr>
                </a:solidFill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67" name="margin"/>
          <p:cNvSpPr/>
          <p:nvPr/>
        </p:nvSpPr>
        <p:spPr>
          <a:xfrm>
            <a:off x="10007600" y="1587500"/>
            <a:ext cx="1549400" cy="3848100"/>
          </a:xfrm>
          <a:custGeom>
            <a:avLst/>
            <a:gdLst/>
            <a:ahLst/>
            <a:cxnLst/>
            <a:rect l="0" t="0" r="r" b="b"/>
            <a:pathLst>
              <a:path w="1549400" h="3848100">
                <a:moveTo>
                  <a:pt x="139700" y="0"/>
                </a:moveTo>
                <a:lnTo>
                  <a:pt x="1409700" y="0"/>
                </a:lnTo>
                <a:cubicBezTo>
                  <a:pt x="1486853" y="0"/>
                  <a:pt x="1549400" y="62548"/>
                  <a:pt x="1549400" y="139700"/>
                </a:cubicBezTo>
                <a:lnTo>
                  <a:pt x="1549400" y="3708400"/>
                </a:lnTo>
                <a:cubicBezTo>
                  <a:pt x="1549400" y="3785552"/>
                  <a:pt x="1486853" y="3848100"/>
                  <a:pt x="1409700" y="3848100"/>
                </a:cubicBezTo>
                <a:lnTo>
                  <a:pt x="139700" y="3848100"/>
                </a:lnTo>
                <a:cubicBezTo>
                  <a:pt x="62547" y="3848100"/>
                  <a:pt x="0" y="3785552"/>
                  <a:pt x="0" y="37084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icon-grow"/>
          <p:cNvSpPr/>
          <p:nvPr/>
        </p:nvSpPr>
        <p:spPr>
          <a:xfrm>
            <a:off x="10684510" y="2127440"/>
            <a:ext cx="174625" cy="109474"/>
          </a:xfrm>
          <a:custGeom>
            <a:avLst/>
            <a:gdLst/>
            <a:ahLst/>
            <a:cxnLst/>
            <a:rect l="0" t="0" r="r" b="b"/>
            <a:pathLst>
              <a:path w="174625" h="109474">
                <a:moveTo>
                  <a:pt x="0" y="109474"/>
                </a:moveTo>
                <a:lnTo>
                  <a:pt x="58230" y="46609"/>
                </a:lnTo>
                <a:lnTo>
                  <a:pt x="100139" y="81534"/>
                </a:lnTo>
                <a:lnTo>
                  <a:pt x="169989" y="0"/>
                </a:lnTo>
                <a:moveTo>
                  <a:pt x="142050" y="0"/>
                </a:moveTo>
                <a:lnTo>
                  <a:pt x="174625" y="0"/>
                </a:lnTo>
                <a:lnTo>
                  <a:pt x="174625" y="32639"/>
                </a:lnTo>
              </a:path>
            </a:pathLst>
          </a:custGeom>
          <a:noFill/>
          <a:ln w="1397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mg-cn"/>
          <p:cNvSpPr txBox="1"/>
          <p:nvPr/>
        </p:nvSpPr>
        <p:spPr>
          <a:xfrm>
            <a:off x="10264775" y="2533332"/>
            <a:ext cx="103505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利润空间</a:t>
            </a:r>
          </a:p>
        </p:txBody>
      </p:sp>
      <p:sp>
        <p:nvSpPr>
          <p:cNvPr id="70" name="mg-en"/>
          <p:cNvSpPr txBox="1"/>
          <p:nvPr/>
        </p:nvSpPr>
        <p:spPr>
          <a:xfrm>
            <a:off x="10311384" y="2849308"/>
            <a:ext cx="94183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30">
                <a:solidFill>
                  <a:srgbClr val="BFD6F0"/>
                </a:solidFill>
                <a:latin typeface="Arial"/>
                <a:ea typeface="Arial"/>
                <a:cs typeface="Arial"/>
              </a:rPr>
              <a:t>PROFIT MARGIN</a:t>
            </a:r>
          </a:p>
        </p:txBody>
      </p:sp>
      <p:sp>
        <p:nvSpPr>
          <p:cNvPr id="71" name="mg-rule"/>
          <p:cNvSpPr/>
          <p:nvPr/>
        </p:nvSpPr>
        <p:spPr>
          <a:xfrm>
            <a:off x="10566400" y="3111500"/>
            <a:ext cx="431800" cy="19050"/>
          </a:xfrm>
          <a:prstGeom prst="roundRect">
            <a:avLst>
              <a:gd name="adj" fmla="val 50000"/>
            </a:avLst>
          </a:prstGeom>
          <a:solidFill>
            <a:srgbClr val="FFFFFF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mg-l"/>
          <p:cNvSpPr txBox="1"/>
          <p:nvPr/>
        </p:nvSpPr>
        <p:spPr>
          <a:xfrm>
            <a:off x="10582275" y="3374866"/>
            <a:ext cx="40005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75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毛利率</a:t>
            </a:r>
          </a:p>
        </p:txBody>
      </p:sp>
      <p:sp>
        <p:nvSpPr>
          <p:cNvPr id="73" name="mg-v"/>
          <p:cNvSpPr txBox="1"/>
          <p:nvPr/>
        </p:nvSpPr>
        <p:spPr>
          <a:xfrm>
            <a:off x="10296525" y="3534410"/>
            <a:ext cx="97155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000" b="1" spc="50">
                <a:solidFill>
                  <a:srgbClr val="FFFFFF"/>
                </a:solidFill>
                <a:latin typeface="Arial"/>
                <a:ea typeface="Arial"/>
                <a:cs typeface="Arial"/>
              </a:rPr>
              <a:t>38.6%</a:t>
            </a:r>
          </a:p>
        </p:txBody>
      </p:sp>
      <p:sp>
        <p:nvSpPr>
          <p:cNvPr id="74" name="mg-chip"/>
          <p:cNvSpPr/>
          <p:nvPr/>
        </p:nvSpPr>
        <p:spPr>
          <a:xfrm>
            <a:off x="10375900" y="4038600"/>
            <a:ext cx="812800" cy="215900"/>
          </a:xfrm>
          <a:custGeom>
            <a:avLst/>
            <a:gdLst/>
            <a:ahLst/>
            <a:cxnLst/>
            <a:rect l="0" t="0" r="r" b="b"/>
            <a:pathLst>
              <a:path w="812800" h="215900">
                <a:moveTo>
                  <a:pt x="107950" y="0"/>
                </a:moveTo>
                <a:lnTo>
                  <a:pt x="704850" y="0"/>
                </a:lnTo>
                <a:cubicBezTo>
                  <a:pt x="764477" y="0"/>
                  <a:pt x="812800" y="48324"/>
                  <a:pt x="812800" y="107950"/>
                </a:cubicBezTo>
                <a:lnTo>
                  <a:pt x="812800" y="107950"/>
                </a:lnTo>
                <a:cubicBezTo>
                  <a:pt x="812800" y="167576"/>
                  <a:pt x="764477" y="215900"/>
                  <a:pt x="7048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FFFFF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mg-d"/>
          <p:cNvSpPr txBox="1"/>
          <p:nvPr/>
        </p:nvSpPr>
        <p:spPr>
          <a:xfrm>
            <a:off x="10440352" y="4067016"/>
            <a:ext cx="6838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同比 +2.4pt</a:t>
            </a:r>
          </a:p>
        </p:txBody>
      </p:sp>
      <p:sp>
        <p:nvSpPr>
          <p:cNvPr id="76" name="mg-p1"/>
          <p:cNvSpPr txBox="1"/>
          <p:nvPr/>
        </p:nvSpPr>
        <p:spPr>
          <a:xfrm>
            <a:off x="10394950" y="4492466"/>
            <a:ext cx="77470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25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价值链每一环的</a:t>
            </a:r>
          </a:p>
        </p:txBody>
      </p:sp>
      <p:sp>
        <p:nvSpPr>
          <p:cNvPr id="77" name="mg-p2"/>
          <p:cNvSpPr txBox="1"/>
          <p:nvPr/>
        </p:nvSpPr>
        <p:spPr>
          <a:xfrm>
            <a:off x="10444162" y="4657566"/>
            <a:ext cx="6762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25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效率改善都会</a:t>
            </a:r>
          </a:p>
        </p:txBody>
      </p:sp>
      <p:sp>
        <p:nvSpPr>
          <p:cNvPr id="78" name="mg-p3"/>
          <p:cNvSpPr txBox="1"/>
          <p:nvPr/>
        </p:nvSpPr>
        <p:spPr>
          <a:xfrm>
            <a:off x="10493375" y="4822666"/>
            <a:ext cx="57785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25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沉淀到这里</a:t>
            </a:r>
          </a:p>
        </p:txBody>
      </p:sp>
      <p:sp>
        <p:nvSpPr>
          <p:cNvPr id="79" name="note-bar"/>
          <p:cNvSpPr/>
          <p:nvPr/>
        </p:nvSpPr>
        <p:spPr>
          <a:xfrm>
            <a:off x="952500" y="5753100"/>
            <a:ext cx="2540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note-h"/>
          <p:cNvSpPr txBox="1"/>
          <p:nvPr/>
        </p:nvSpPr>
        <p:spPr>
          <a:xfrm>
            <a:off x="1103122" y="58072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链条逻辑</a:t>
            </a:r>
          </a:p>
        </p:txBody>
      </p:sp>
      <p:sp>
        <p:nvSpPr>
          <p:cNvPr id="81" name="note-p"/>
          <p:cNvSpPr txBox="1"/>
          <p:nvPr/>
        </p:nvSpPr>
        <p:spPr>
          <a:xfrm>
            <a:off x="1104265" y="6034961"/>
            <a:ext cx="476027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支持活动贯穿全链，决定主活动的效率上限；五项主活动逐环节增值，最终沉淀为利润空间。</a:t>
            </a:r>
          </a:p>
        </p:txBody>
      </p:sp>
      <p:cxnSp>
        <p:nvCxnSpPr>
          <p:cNvPr id="82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3" name="foot-l"/>
          <p:cNvSpPr txBox="1"/>
          <p:nvPr/>
        </p:nvSpPr>
        <p:spPr>
          <a:xfrm>
            <a:off x="573532" y="6532308"/>
            <a:ext cx="9469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价值链 · 五主三支</a:t>
            </a:r>
          </a:p>
        </p:txBody>
      </p:sp>
      <p:sp>
        <p:nvSpPr>
          <p:cNvPr id="84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9946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数字化转型议题拆解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8084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MIND MAP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780399" y="673132"/>
            <a:ext cx="2840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一个中心议题、六条主干、十八个落点，一页看清全貌</a:t>
            </a:r>
          </a:p>
        </p:txBody>
      </p:sp>
      <p:sp>
        <p:nvSpPr>
          <p:cNvPr id="10" name="core"/>
          <p:cNvSpPr/>
          <p:nvPr/>
        </p:nvSpPr>
        <p:spPr>
          <a:xfrm>
            <a:off x="5346700" y="3035300"/>
            <a:ext cx="1498600" cy="1498600"/>
          </a:xfrm>
          <a:prstGeom prst="ellipse">
            <a:avLst/>
          </a:prstGeom>
          <a:gradFill rotWithShape="1">
            <a:gsLst>
              <a:gs pos="0">
                <a:srgbClr val="1B5AA8"/>
              </a:gs>
              <a:gs pos="100000">
                <a:srgbClr val="0A3A88"/>
              </a:gs>
            </a:gsLst>
            <a:lin ang="7440000" scaled="0"/>
          </a:gra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core-ring"/>
          <p:cNvSpPr/>
          <p:nvPr/>
        </p:nvSpPr>
        <p:spPr>
          <a:xfrm>
            <a:off x="5257800" y="2946400"/>
            <a:ext cx="1676400" cy="1676400"/>
          </a:xfrm>
          <a:prstGeom prst="ellipse">
            <a:avLst/>
          </a:prstGeom>
          <a:noFill/>
          <a:ln w="10160" cap="rnd">
            <a:solidFill>
              <a:srgbClr val="1B5AA8">
                <a:alpha val="22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icon-brain"/>
          <p:cNvSpPr/>
          <p:nvPr/>
        </p:nvSpPr>
        <p:spPr>
          <a:xfrm>
            <a:off x="6021042" y="3458654"/>
            <a:ext cx="149917" cy="141796"/>
          </a:xfrm>
          <a:custGeom>
            <a:avLst/>
            <a:gdLst/>
            <a:ahLst/>
            <a:cxnLst/>
            <a:rect l="0" t="0" r="r" b="b"/>
            <a:pathLst>
              <a:path w="149917" h="141796">
                <a:moveTo>
                  <a:pt x="74958" y="0"/>
                </a:moveTo>
                <a:lnTo>
                  <a:pt x="74958" y="141796"/>
                </a:lnTo>
                <a:moveTo>
                  <a:pt x="47463" y="0"/>
                </a:moveTo>
                <a:cubicBezTo>
                  <a:pt x="37176" y="-254"/>
                  <a:pt x="27460" y="4826"/>
                  <a:pt x="21872" y="13462"/>
                </a:cubicBezTo>
                <a:cubicBezTo>
                  <a:pt x="16221" y="22098"/>
                  <a:pt x="15522" y="33020"/>
                  <a:pt x="19904" y="42291"/>
                </a:cubicBezTo>
                <a:cubicBezTo>
                  <a:pt x="9236" y="46038"/>
                  <a:pt x="1552" y="55499"/>
                  <a:pt x="219" y="66802"/>
                </a:cubicBezTo>
                <a:cubicBezTo>
                  <a:pt x="-1178" y="78042"/>
                  <a:pt x="4029" y="89091"/>
                  <a:pt x="13554" y="95250"/>
                </a:cubicBezTo>
                <a:cubicBezTo>
                  <a:pt x="6696" y="105728"/>
                  <a:pt x="7204" y="119444"/>
                  <a:pt x="14760" y="129413"/>
                </a:cubicBezTo>
                <a:cubicBezTo>
                  <a:pt x="22380" y="139446"/>
                  <a:pt x="35461" y="143510"/>
                  <a:pt x="47463" y="139700"/>
                </a:cubicBezTo>
                <a:moveTo>
                  <a:pt x="102454" y="0"/>
                </a:moveTo>
                <a:cubicBezTo>
                  <a:pt x="112741" y="-254"/>
                  <a:pt x="122456" y="4826"/>
                  <a:pt x="128044" y="13462"/>
                </a:cubicBezTo>
                <a:cubicBezTo>
                  <a:pt x="133696" y="22098"/>
                  <a:pt x="134394" y="33020"/>
                  <a:pt x="130013" y="42291"/>
                </a:cubicBezTo>
                <a:cubicBezTo>
                  <a:pt x="140681" y="46038"/>
                  <a:pt x="148364" y="55499"/>
                  <a:pt x="149698" y="66802"/>
                </a:cubicBezTo>
                <a:cubicBezTo>
                  <a:pt x="151095" y="78042"/>
                  <a:pt x="145888" y="89091"/>
                  <a:pt x="136363" y="95250"/>
                </a:cubicBezTo>
                <a:cubicBezTo>
                  <a:pt x="143221" y="105728"/>
                  <a:pt x="142713" y="119444"/>
                  <a:pt x="135156" y="129413"/>
                </a:cubicBezTo>
                <a:cubicBezTo>
                  <a:pt x="127536" y="139446"/>
                  <a:pt x="114455" y="143510"/>
                  <a:pt x="102454" y="139700"/>
                </a:cubicBezTo>
              </a:path>
            </a:pathLst>
          </a:custGeom>
          <a:noFill/>
          <a:ln w="1397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core-cn"/>
          <p:cNvSpPr txBox="1"/>
          <p:nvPr/>
        </p:nvSpPr>
        <p:spPr>
          <a:xfrm>
            <a:off x="5531802" y="3679317"/>
            <a:ext cx="1128395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数字化转型</a:t>
            </a:r>
          </a:p>
        </p:txBody>
      </p:sp>
      <p:sp>
        <p:nvSpPr>
          <p:cNvPr id="14" name="core-en"/>
          <p:cNvSpPr txBox="1"/>
          <p:nvPr/>
        </p:nvSpPr>
        <p:spPr>
          <a:xfrm>
            <a:off x="5763387" y="3979608"/>
            <a:ext cx="66522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20">
                <a:solidFill>
                  <a:srgbClr val="BFD6F0"/>
                </a:solidFill>
                <a:latin typeface="Arial"/>
                <a:ea typeface="Arial"/>
                <a:cs typeface="Arial"/>
              </a:rPr>
              <a:t>2026—2028</a:t>
            </a:r>
          </a:p>
        </p:txBody>
      </p:sp>
      <p:sp>
        <p:nvSpPr>
          <p:cNvPr id="15" name="m-link-1a"/>
          <p:cNvSpPr/>
          <p:nvPr/>
        </p:nvSpPr>
        <p:spPr>
          <a:xfrm>
            <a:off x="4775200" y="2197100"/>
            <a:ext cx="571500" cy="1587500"/>
          </a:xfrm>
          <a:custGeom>
            <a:avLst/>
            <a:gdLst/>
            <a:ahLst/>
            <a:cxnLst/>
            <a:rect l="0" t="0" r="r" b="b"/>
            <a:pathLst>
              <a:path w="571500" h="1587500">
                <a:moveTo>
                  <a:pt x="571500" y="1587500"/>
                </a:moveTo>
                <a:lnTo>
                  <a:pt x="139700" y="1587500"/>
                </a:lnTo>
                <a:quadBezTo>
                  <a:pt x="0" y="1587500"/>
                  <a:pt x="0" y="1447800"/>
                </a:quadBezTo>
                <a:lnTo>
                  <a:pt x="0" y="0"/>
                </a:lnTo>
              </a:path>
            </a:pathLst>
          </a:custGeom>
          <a:noFill/>
          <a:ln w="13970" cap="rnd">
            <a:solidFill>
              <a:srgbClr val="0B3E8F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6" name="m-link-1b"/>
          <p:cNvCxnSpPr/>
          <p:nvPr/>
        </p:nvCxnSpPr>
        <p:spPr>
          <a:xfrm flipH="1">
            <a:off x="4318000" y="2197100"/>
            <a:ext cx="457200" cy="0"/>
          </a:xfrm>
          <a:prstGeom prst="line">
            <a:avLst/>
          </a:prstGeom>
          <a:ln w="13970" cap="rnd">
            <a:solidFill>
              <a:srgbClr val="0B3E8F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branch-1"/>
          <p:cNvSpPr/>
          <p:nvPr/>
        </p:nvSpPr>
        <p:spPr>
          <a:xfrm>
            <a:off x="2959100" y="1905000"/>
            <a:ext cx="1358900" cy="584200"/>
          </a:xfrm>
          <a:custGeom>
            <a:avLst/>
            <a:gdLst/>
            <a:ahLst/>
            <a:cxnLst/>
            <a:rect l="0" t="0" r="r" b="b"/>
            <a:pathLst>
              <a:path w="1358900" h="584200">
                <a:moveTo>
                  <a:pt x="114300" y="0"/>
                </a:moveTo>
                <a:lnTo>
                  <a:pt x="1244600" y="0"/>
                </a:lnTo>
                <a:cubicBezTo>
                  <a:pt x="1307719" y="0"/>
                  <a:pt x="1358900" y="51181"/>
                  <a:pt x="1358900" y="114300"/>
                </a:cubicBezTo>
                <a:lnTo>
                  <a:pt x="1358900" y="469900"/>
                </a:lnTo>
                <a:cubicBezTo>
                  <a:pt x="1358900" y="533019"/>
                  <a:pt x="1307719" y="584200"/>
                  <a:pt x="1244600" y="584200"/>
                </a:cubicBezTo>
                <a:lnTo>
                  <a:pt x="114300" y="584200"/>
                </a:lnTo>
                <a:cubicBezTo>
                  <a:pt x="51181" y="584200"/>
                  <a:pt x="0" y="533019"/>
                  <a:pt x="0" y="469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2D599F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icon-process"/>
          <p:cNvSpPr/>
          <p:nvPr/>
        </p:nvSpPr>
        <p:spPr>
          <a:xfrm>
            <a:off x="3179762" y="2165350"/>
            <a:ext cx="117475" cy="63500"/>
          </a:xfrm>
          <a:custGeom>
            <a:avLst/>
            <a:gdLst/>
            <a:ahLst/>
            <a:cxnLst/>
            <a:rect l="0" t="0" r="r" b="b"/>
            <a:pathLst>
              <a:path w="117475" h="63500">
                <a:moveTo>
                  <a:pt x="0" y="0"/>
                </a:moveTo>
                <a:lnTo>
                  <a:pt x="41275" y="0"/>
                </a:lnTo>
                <a:lnTo>
                  <a:pt x="41275" y="41275"/>
                </a:lnTo>
                <a:lnTo>
                  <a:pt x="0" y="41275"/>
                </a:lnTo>
                <a:close/>
                <a:moveTo>
                  <a:pt x="76200" y="22225"/>
                </a:moveTo>
                <a:lnTo>
                  <a:pt x="117475" y="22225"/>
                </a:lnTo>
                <a:lnTo>
                  <a:pt x="117475" y="63500"/>
                </a:lnTo>
                <a:lnTo>
                  <a:pt x="76200" y="63500"/>
                </a:lnTo>
                <a:close/>
                <a:moveTo>
                  <a:pt x="41275" y="20638"/>
                </a:moveTo>
                <a:lnTo>
                  <a:pt x="76200" y="20638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bname-1"/>
          <p:cNvSpPr txBox="1"/>
          <p:nvPr/>
        </p:nvSpPr>
        <p:spPr>
          <a:xfrm>
            <a:off x="3423412" y="2066036"/>
            <a:ext cx="8102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业务重构</a:t>
            </a:r>
          </a:p>
        </p:txBody>
      </p:sp>
      <p:sp>
        <p:nvSpPr>
          <p:cNvPr id="20" name="bno-1"/>
          <p:cNvSpPr txBox="1"/>
          <p:nvPr/>
        </p:nvSpPr>
        <p:spPr>
          <a:xfrm>
            <a:off x="4023360" y="19446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FFFFFF">
                    <a:alpha val="50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21" name="leaf-1-1"/>
          <p:cNvSpPr/>
          <p:nvPr/>
        </p:nvSpPr>
        <p:spPr>
          <a:xfrm>
            <a:off x="952500" y="1778000"/>
            <a:ext cx="1841500" cy="342900"/>
          </a:xfrm>
          <a:custGeom>
            <a:avLst/>
            <a:gdLst/>
            <a:ahLst/>
            <a:cxnLst/>
            <a:rect l="0" t="0" r="r" b="b"/>
            <a:pathLst>
              <a:path w="1841500" h="342900">
                <a:moveTo>
                  <a:pt x="88900" y="0"/>
                </a:moveTo>
                <a:lnTo>
                  <a:pt x="1752600" y="0"/>
                </a:lnTo>
                <a:cubicBezTo>
                  <a:pt x="1801686" y="0"/>
                  <a:pt x="1841500" y="39814"/>
                  <a:pt x="1841500" y="88900"/>
                </a:cubicBezTo>
                <a:lnTo>
                  <a:pt x="1841500" y="254000"/>
                </a:lnTo>
                <a:cubicBezTo>
                  <a:pt x="1841500" y="303086"/>
                  <a:pt x="1801686" y="342900"/>
                  <a:pt x="1752600" y="342900"/>
                </a:cubicBezTo>
                <a:lnTo>
                  <a:pt x="88900" y="342900"/>
                </a:lnTo>
                <a:cubicBezTo>
                  <a:pt x="39815" y="342900"/>
                  <a:pt x="0" y="303086"/>
                  <a:pt x="0" y="2540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leafb-1-1"/>
          <p:cNvSpPr/>
          <p:nvPr/>
        </p:nvSpPr>
        <p:spPr>
          <a:xfrm>
            <a:off x="952500" y="1778000"/>
            <a:ext cx="31750" cy="342900"/>
          </a:xfrm>
          <a:custGeom>
            <a:avLst/>
            <a:gdLst/>
            <a:ahLst/>
            <a:cxnLst/>
            <a:rect l="0" t="0" r="r" b="b"/>
            <a:pathLst>
              <a:path w="31750" h="342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327025"/>
                </a:lnTo>
                <a:cubicBezTo>
                  <a:pt x="31750" y="335788"/>
                  <a:pt x="24638" y="342900"/>
                  <a:pt x="15875" y="342900"/>
                </a:cubicBezTo>
                <a:lnTo>
                  <a:pt x="15875" y="342900"/>
                </a:lnTo>
                <a:cubicBezTo>
                  <a:pt x="7112" y="342900"/>
                  <a:pt x="0" y="335788"/>
                  <a:pt x="0" y="327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leaft-1-1"/>
          <p:cNvSpPr txBox="1"/>
          <p:nvPr/>
        </p:nvSpPr>
        <p:spPr>
          <a:xfrm>
            <a:off x="1658302" y="18566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订单全流程线上化</a:t>
            </a:r>
          </a:p>
        </p:txBody>
      </p:sp>
      <p:sp>
        <p:nvSpPr>
          <p:cNvPr id="24" name="llead-1-1"/>
          <p:cNvSpPr/>
          <p:nvPr/>
        </p:nvSpPr>
        <p:spPr>
          <a:xfrm>
            <a:off x="2794000" y="1949450"/>
            <a:ext cx="227460" cy="247650"/>
          </a:xfrm>
          <a:custGeom>
            <a:avLst/>
            <a:gdLst/>
            <a:ahLst/>
            <a:cxnLst/>
            <a:rect l="0" t="0" r="r" b="b"/>
            <a:pathLst>
              <a:path w="227460" h="247650">
                <a:moveTo>
                  <a:pt x="165100" y="247650"/>
                </a:moveTo>
                <a:lnTo>
                  <a:pt x="190500" y="247650"/>
                </a:lnTo>
                <a:quadBezTo>
                  <a:pt x="254000" y="247650"/>
                  <a:pt x="208534" y="203327"/>
                </a:quadBezTo>
                <a:lnTo>
                  <a:pt x="0" y="0"/>
                </a:lnTo>
              </a:path>
            </a:pathLst>
          </a:custGeom>
          <a:noFill/>
          <a:ln w="8890" cap="rnd">
            <a:solidFill>
              <a:srgbClr val="0B3E8F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ldot-1-1"/>
          <p:cNvSpPr/>
          <p:nvPr/>
        </p:nvSpPr>
        <p:spPr>
          <a:xfrm>
            <a:off x="2772410" y="1927860"/>
            <a:ext cx="43180" cy="43180"/>
          </a:xfrm>
          <a:prstGeom prst="ellipse">
            <a:avLst/>
          </a:prstGeom>
          <a:solidFill>
            <a:srgbClr val="0B3E8F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leaf-1-2"/>
          <p:cNvSpPr/>
          <p:nvPr/>
        </p:nvSpPr>
        <p:spPr>
          <a:xfrm>
            <a:off x="952500" y="2197100"/>
            <a:ext cx="1841500" cy="342900"/>
          </a:xfrm>
          <a:custGeom>
            <a:avLst/>
            <a:gdLst/>
            <a:ahLst/>
            <a:cxnLst/>
            <a:rect l="0" t="0" r="r" b="b"/>
            <a:pathLst>
              <a:path w="1841500" h="342900">
                <a:moveTo>
                  <a:pt x="88900" y="0"/>
                </a:moveTo>
                <a:lnTo>
                  <a:pt x="1752600" y="0"/>
                </a:lnTo>
                <a:cubicBezTo>
                  <a:pt x="1801686" y="0"/>
                  <a:pt x="1841500" y="39814"/>
                  <a:pt x="1841500" y="88900"/>
                </a:cubicBezTo>
                <a:lnTo>
                  <a:pt x="1841500" y="254000"/>
                </a:lnTo>
                <a:cubicBezTo>
                  <a:pt x="1841500" y="303086"/>
                  <a:pt x="1801686" y="342900"/>
                  <a:pt x="1752600" y="342900"/>
                </a:cubicBezTo>
                <a:lnTo>
                  <a:pt x="88900" y="342900"/>
                </a:lnTo>
                <a:cubicBezTo>
                  <a:pt x="39815" y="342900"/>
                  <a:pt x="0" y="303086"/>
                  <a:pt x="0" y="2540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leafb-1-2"/>
          <p:cNvSpPr/>
          <p:nvPr/>
        </p:nvSpPr>
        <p:spPr>
          <a:xfrm>
            <a:off x="952500" y="2197100"/>
            <a:ext cx="31750" cy="342900"/>
          </a:xfrm>
          <a:custGeom>
            <a:avLst/>
            <a:gdLst/>
            <a:ahLst/>
            <a:cxnLst/>
            <a:rect l="0" t="0" r="r" b="b"/>
            <a:pathLst>
              <a:path w="31750" h="342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327025"/>
                </a:lnTo>
                <a:cubicBezTo>
                  <a:pt x="31750" y="335788"/>
                  <a:pt x="24638" y="342900"/>
                  <a:pt x="15875" y="342900"/>
                </a:cubicBezTo>
                <a:lnTo>
                  <a:pt x="15875" y="342900"/>
                </a:lnTo>
                <a:cubicBezTo>
                  <a:pt x="7112" y="342900"/>
                  <a:pt x="0" y="335788"/>
                  <a:pt x="0" y="327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leaft-1-2"/>
          <p:cNvSpPr txBox="1"/>
          <p:nvPr/>
        </p:nvSpPr>
        <p:spPr>
          <a:xfrm>
            <a:off x="1771968" y="2275761"/>
            <a:ext cx="8956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跨部门协同规则</a:t>
            </a:r>
          </a:p>
        </p:txBody>
      </p:sp>
      <p:sp>
        <p:nvSpPr>
          <p:cNvPr id="29" name="llead-1-2"/>
          <p:cNvSpPr/>
          <p:nvPr/>
        </p:nvSpPr>
        <p:spPr>
          <a:xfrm>
            <a:off x="2794000" y="2197100"/>
            <a:ext cx="225190" cy="171450"/>
          </a:xfrm>
          <a:custGeom>
            <a:avLst/>
            <a:gdLst/>
            <a:ahLst/>
            <a:cxnLst/>
            <a:rect l="0" t="0" r="r" b="b"/>
            <a:pathLst>
              <a:path w="225190" h="171450">
                <a:moveTo>
                  <a:pt x="165100" y="0"/>
                </a:moveTo>
                <a:lnTo>
                  <a:pt x="190500" y="0"/>
                </a:lnTo>
                <a:quadBezTo>
                  <a:pt x="254000" y="0"/>
                  <a:pt x="201358" y="35496"/>
                </a:quadBezTo>
                <a:lnTo>
                  <a:pt x="0" y="171450"/>
                </a:lnTo>
              </a:path>
            </a:pathLst>
          </a:custGeom>
          <a:noFill/>
          <a:ln w="8890" cap="rnd">
            <a:solidFill>
              <a:srgbClr val="0B3E8F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ldot-1-2"/>
          <p:cNvSpPr/>
          <p:nvPr/>
        </p:nvSpPr>
        <p:spPr>
          <a:xfrm>
            <a:off x="2772410" y="2346960"/>
            <a:ext cx="43180" cy="43180"/>
          </a:xfrm>
          <a:prstGeom prst="ellipse">
            <a:avLst/>
          </a:prstGeom>
          <a:solidFill>
            <a:srgbClr val="0B3E8F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leaf-1-3"/>
          <p:cNvSpPr/>
          <p:nvPr/>
        </p:nvSpPr>
        <p:spPr>
          <a:xfrm>
            <a:off x="952500" y="2616200"/>
            <a:ext cx="1841500" cy="342900"/>
          </a:xfrm>
          <a:custGeom>
            <a:avLst/>
            <a:gdLst/>
            <a:ahLst/>
            <a:cxnLst/>
            <a:rect l="0" t="0" r="r" b="b"/>
            <a:pathLst>
              <a:path w="1841500" h="342900">
                <a:moveTo>
                  <a:pt x="88900" y="0"/>
                </a:moveTo>
                <a:lnTo>
                  <a:pt x="1752600" y="0"/>
                </a:lnTo>
                <a:cubicBezTo>
                  <a:pt x="1801686" y="0"/>
                  <a:pt x="1841500" y="39814"/>
                  <a:pt x="1841500" y="88900"/>
                </a:cubicBezTo>
                <a:lnTo>
                  <a:pt x="1841500" y="254000"/>
                </a:lnTo>
                <a:cubicBezTo>
                  <a:pt x="1841500" y="303086"/>
                  <a:pt x="1801686" y="342900"/>
                  <a:pt x="1752600" y="342900"/>
                </a:cubicBezTo>
                <a:lnTo>
                  <a:pt x="88900" y="342900"/>
                </a:lnTo>
                <a:cubicBezTo>
                  <a:pt x="39815" y="342900"/>
                  <a:pt x="0" y="303086"/>
                  <a:pt x="0" y="2540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leafb-1-3"/>
          <p:cNvSpPr/>
          <p:nvPr/>
        </p:nvSpPr>
        <p:spPr>
          <a:xfrm>
            <a:off x="952500" y="2616200"/>
            <a:ext cx="31750" cy="342900"/>
          </a:xfrm>
          <a:custGeom>
            <a:avLst/>
            <a:gdLst/>
            <a:ahLst/>
            <a:cxnLst/>
            <a:rect l="0" t="0" r="r" b="b"/>
            <a:pathLst>
              <a:path w="31750" h="342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327025"/>
                </a:lnTo>
                <a:cubicBezTo>
                  <a:pt x="31750" y="335788"/>
                  <a:pt x="24638" y="342900"/>
                  <a:pt x="15875" y="342900"/>
                </a:cubicBezTo>
                <a:lnTo>
                  <a:pt x="15875" y="342900"/>
                </a:lnTo>
                <a:cubicBezTo>
                  <a:pt x="7112" y="342900"/>
                  <a:pt x="0" y="335788"/>
                  <a:pt x="0" y="327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leaft-1-3"/>
          <p:cNvSpPr txBox="1"/>
          <p:nvPr/>
        </p:nvSpPr>
        <p:spPr>
          <a:xfrm>
            <a:off x="1771968" y="2694861"/>
            <a:ext cx="8956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服务标准再定义</a:t>
            </a:r>
          </a:p>
        </p:txBody>
      </p:sp>
      <p:sp>
        <p:nvSpPr>
          <p:cNvPr id="34" name="llead-1-3"/>
          <p:cNvSpPr/>
          <p:nvPr/>
        </p:nvSpPr>
        <p:spPr>
          <a:xfrm>
            <a:off x="2794000" y="2197100"/>
            <a:ext cx="235943" cy="590550"/>
          </a:xfrm>
          <a:custGeom>
            <a:avLst/>
            <a:gdLst/>
            <a:ahLst/>
            <a:cxnLst/>
            <a:rect l="0" t="0" r="r" b="b"/>
            <a:pathLst>
              <a:path w="235943" h="590550">
                <a:moveTo>
                  <a:pt x="165100" y="0"/>
                </a:moveTo>
                <a:lnTo>
                  <a:pt x="190500" y="0"/>
                </a:lnTo>
                <a:quadBezTo>
                  <a:pt x="254000" y="0"/>
                  <a:pt x="228918" y="58356"/>
                </a:quadBezTo>
                <a:lnTo>
                  <a:pt x="0" y="590550"/>
                </a:lnTo>
              </a:path>
            </a:pathLst>
          </a:custGeom>
          <a:noFill/>
          <a:ln w="8890" cap="rnd">
            <a:solidFill>
              <a:srgbClr val="0B3E8F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ldot-1-3"/>
          <p:cNvSpPr/>
          <p:nvPr/>
        </p:nvSpPr>
        <p:spPr>
          <a:xfrm>
            <a:off x="2772410" y="2766060"/>
            <a:ext cx="43180" cy="43180"/>
          </a:xfrm>
          <a:prstGeom prst="ellipse">
            <a:avLst/>
          </a:prstGeom>
          <a:solidFill>
            <a:srgbClr val="0B3E8F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m-link-2a"/>
          <p:cNvSpPr/>
          <p:nvPr/>
        </p:nvSpPr>
        <p:spPr>
          <a:xfrm>
            <a:off x="4775200" y="3784600"/>
            <a:ext cx="571500" cy="177800"/>
          </a:xfrm>
          <a:custGeom>
            <a:avLst/>
            <a:gdLst/>
            <a:ahLst/>
            <a:cxnLst/>
            <a:rect l="0" t="0" r="r" b="b"/>
            <a:pathLst>
              <a:path w="571500" h="177800">
                <a:moveTo>
                  <a:pt x="571500" y="0"/>
                </a:moveTo>
                <a:lnTo>
                  <a:pt x="139700" y="0"/>
                </a:lnTo>
                <a:quadBezTo>
                  <a:pt x="0" y="0"/>
                  <a:pt x="0" y="139700"/>
                </a:quadBezTo>
                <a:lnTo>
                  <a:pt x="0" y="177800"/>
                </a:lnTo>
              </a:path>
            </a:pathLst>
          </a:custGeom>
          <a:noFill/>
          <a:ln w="13970" cap="rnd">
            <a:solidFill>
              <a:srgbClr val="134C9C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37" name="m-link-2b"/>
          <p:cNvCxnSpPr/>
          <p:nvPr/>
        </p:nvCxnSpPr>
        <p:spPr>
          <a:xfrm flipH="1">
            <a:off x="4318000" y="3962400"/>
            <a:ext cx="457200" cy="0"/>
          </a:xfrm>
          <a:prstGeom prst="line">
            <a:avLst/>
          </a:prstGeom>
          <a:ln w="13970" cap="rnd">
            <a:solidFill>
              <a:srgbClr val="134C9C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branch-2"/>
          <p:cNvSpPr/>
          <p:nvPr/>
        </p:nvSpPr>
        <p:spPr>
          <a:xfrm>
            <a:off x="2959100" y="3670300"/>
            <a:ext cx="1358900" cy="584200"/>
          </a:xfrm>
          <a:custGeom>
            <a:avLst/>
            <a:gdLst/>
            <a:ahLst/>
            <a:cxnLst/>
            <a:rect l="0" t="0" r="r" b="b"/>
            <a:pathLst>
              <a:path w="1358900" h="584200">
                <a:moveTo>
                  <a:pt x="114300" y="0"/>
                </a:moveTo>
                <a:lnTo>
                  <a:pt x="1244600" y="0"/>
                </a:lnTo>
                <a:cubicBezTo>
                  <a:pt x="1307719" y="0"/>
                  <a:pt x="1358900" y="51181"/>
                  <a:pt x="1358900" y="114300"/>
                </a:cubicBezTo>
                <a:lnTo>
                  <a:pt x="1358900" y="469900"/>
                </a:lnTo>
                <a:cubicBezTo>
                  <a:pt x="1358900" y="533019"/>
                  <a:pt x="1307719" y="584200"/>
                  <a:pt x="1244600" y="584200"/>
                </a:cubicBezTo>
                <a:lnTo>
                  <a:pt x="114300" y="584200"/>
                </a:lnTo>
                <a:cubicBezTo>
                  <a:pt x="51181" y="584200"/>
                  <a:pt x="0" y="533019"/>
                  <a:pt x="0" y="469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3465AA"/>
              </a:gs>
              <a:gs pos="100000">
                <a:srgbClr val="134C9C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icon-db"/>
          <p:cNvSpPr/>
          <p:nvPr/>
        </p:nvSpPr>
        <p:spPr>
          <a:xfrm>
            <a:off x="3179762" y="3890962"/>
            <a:ext cx="117475" cy="142875"/>
          </a:xfrm>
          <a:custGeom>
            <a:avLst/>
            <a:gdLst/>
            <a:ahLst/>
            <a:cxnLst/>
            <a:rect l="0" t="0" r="r" b="b"/>
            <a:pathLst>
              <a:path w="117475" h="142875">
                <a:moveTo>
                  <a:pt x="58738" y="34925"/>
                </a:moveTo>
                <a:cubicBezTo>
                  <a:pt x="91250" y="34925"/>
                  <a:pt x="117475" y="26988"/>
                  <a:pt x="117475" y="17462"/>
                </a:cubicBezTo>
                <a:cubicBezTo>
                  <a:pt x="117475" y="7938"/>
                  <a:pt x="91250" y="0"/>
                  <a:pt x="58738" y="0"/>
                </a:cubicBezTo>
                <a:cubicBezTo>
                  <a:pt x="26225" y="0"/>
                  <a:pt x="0" y="7938"/>
                  <a:pt x="0" y="17462"/>
                </a:cubicBezTo>
                <a:cubicBezTo>
                  <a:pt x="0" y="26988"/>
                  <a:pt x="26225" y="34925"/>
                  <a:pt x="58738" y="34925"/>
                </a:cubicBezTo>
                <a:close/>
                <a:moveTo>
                  <a:pt x="0" y="17462"/>
                </a:moveTo>
                <a:lnTo>
                  <a:pt x="0" y="125412"/>
                </a:lnTo>
                <a:cubicBezTo>
                  <a:pt x="0" y="134938"/>
                  <a:pt x="26225" y="142875"/>
                  <a:pt x="58738" y="142875"/>
                </a:cubicBezTo>
                <a:cubicBezTo>
                  <a:pt x="91250" y="142875"/>
                  <a:pt x="117475" y="134938"/>
                  <a:pt x="117475" y="125412"/>
                </a:cubicBezTo>
                <a:lnTo>
                  <a:pt x="117475" y="17462"/>
                </a:lnTo>
                <a:moveTo>
                  <a:pt x="0" y="71438"/>
                </a:moveTo>
                <a:cubicBezTo>
                  <a:pt x="0" y="80962"/>
                  <a:pt x="26225" y="88900"/>
                  <a:pt x="58738" y="88900"/>
                </a:cubicBezTo>
                <a:cubicBezTo>
                  <a:pt x="91250" y="88900"/>
                  <a:pt x="117475" y="80962"/>
                  <a:pt x="117475" y="71438"/>
                </a:cubicBez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bname-2"/>
          <p:cNvSpPr txBox="1"/>
          <p:nvPr/>
        </p:nvSpPr>
        <p:spPr>
          <a:xfrm>
            <a:off x="3423412" y="3831336"/>
            <a:ext cx="8102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数据治理</a:t>
            </a:r>
          </a:p>
        </p:txBody>
      </p:sp>
      <p:sp>
        <p:nvSpPr>
          <p:cNvPr id="41" name="bno-2"/>
          <p:cNvSpPr txBox="1"/>
          <p:nvPr/>
        </p:nvSpPr>
        <p:spPr>
          <a:xfrm>
            <a:off x="4023360" y="37099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FFFFFF">
                    <a:alpha val="50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42" name="leaf-2-1"/>
          <p:cNvSpPr/>
          <p:nvPr/>
        </p:nvSpPr>
        <p:spPr>
          <a:xfrm>
            <a:off x="952500" y="3543300"/>
            <a:ext cx="1841500" cy="342900"/>
          </a:xfrm>
          <a:custGeom>
            <a:avLst/>
            <a:gdLst/>
            <a:ahLst/>
            <a:cxnLst/>
            <a:rect l="0" t="0" r="r" b="b"/>
            <a:pathLst>
              <a:path w="1841500" h="342900">
                <a:moveTo>
                  <a:pt x="88900" y="0"/>
                </a:moveTo>
                <a:lnTo>
                  <a:pt x="1752600" y="0"/>
                </a:lnTo>
                <a:cubicBezTo>
                  <a:pt x="1801686" y="0"/>
                  <a:pt x="1841500" y="39814"/>
                  <a:pt x="1841500" y="88900"/>
                </a:cubicBezTo>
                <a:lnTo>
                  <a:pt x="1841500" y="254000"/>
                </a:lnTo>
                <a:cubicBezTo>
                  <a:pt x="1841500" y="303086"/>
                  <a:pt x="1801686" y="342900"/>
                  <a:pt x="1752600" y="342900"/>
                </a:cubicBezTo>
                <a:lnTo>
                  <a:pt x="88900" y="342900"/>
                </a:lnTo>
                <a:cubicBezTo>
                  <a:pt x="39815" y="342900"/>
                  <a:pt x="0" y="303086"/>
                  <a:pt x="0" y="2540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leafb-2-1"/>
          <p:cNvSpPr/>
          <p:nvPr/>
        </p:nvSpPr>
        <p:spPr>
          <a:xfrm>
            <a:off x="952500" y="3543300"/>
            <a:ext cx="31750" cy="342900"/>
          </a:xfrm>
          <a:custGeom>
            <a:avLst/>
            <a:gdLst/>
            <a:ahLst/>
            <a:cxnLst/>
            <a:rect l="0" t="0" r="r" b="b"/>
            <a:pathLst>
              <a:path w="31750" h="342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327025"/>
                </a:lnTo>
                <a:cubicBezTo>
                  <a:pt x="31750" y="335788"/>
                  <a:pt x="24638" y="342900"/>
                  <a:pt x="15875" y="342900"/>
                </a:cubicBezTo>
                <a:lnTo>
                  <a:pt x="15875" y="342900"/>
                </a:lnTo>
                <a:cubicBezTo>
                  <a:pt x="7112" y="342900"/>
                  <a:pt x="0" y="335788"/>
                  <a:pt x="0" y="327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leaft-2-1"/>
          <p:cNvSpPr txBox="1"/>
          <p:nvPr/>
        </p:nvSpPr>
        <p:spPr>
          <a:xfrm>
            <a:off x="1771968" y="3621961"/>
            <a:ext cx="8956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主数据统一口径</a:t>
            </a:r>
          </a:p>
        </p:txBody>
      </p:sp>
      <p:sp>
        <p:nvSpPr>
          <p:cNvPr id="45" name="llead-2-1"/>
          <p:cNvSpPr/>
          <p:nvPr/>
        </p:nvSpPr>
        <p:spPr>
          <a:xfrm>
            <a:off x="2794000" y="3714750"/>
            <a:ext cx="227460" cy="247650"/>
          </a:xfrm>
          <a:custGeom>
            <a:avLst/>
            <a:gdLst/>
            <a:ahLst/>
            <a:cxnLst/>
            <a:rect l="0" t="0" r="r" b="b"/>
            <a:pathLst>
              <a:path w="227460" h="247650">
                <a:moveTo>
                  <a:pt x="165100" y="247650"/>
                </a:moveTo>
                <a:lnTo>
                  <a:pt x="190500" y="247650"/>
                </a:lnTo>
                <a:quadBezTo>
                  <a:pt x="254000" y="247650"/>
                  <a:pt x="208534" y="203327"/>
                </a:quadBezTo>
                <a:lnTo>
                  <a:pt x="0" y="0"/>
                </a:lnTo>
              </a:path>
            </a:pathLst>
          </a:custGeom>
          <a:noFill/>
          <a:ln w="8890" cap="rnd">
            <a:solidFill>
              <a:srgbClr val="134C9C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ldot-2-1"/>
          <p:cNvSpPr/>
          <p:nvPr/>
        </p:nvSpPr>
        <p:spPr>
          <a:xfrm>
            <a:off x="2772410" y="3693160"/>
            <a:ext cx="43180" cy="43180"/>
          </a:xfrm>
          <a:prstGeom prst="ellipse">
            <a:avLst/>
          </a:prstGeom>
          <a:solidFill>
            <a:srgbClr val="134C9C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leaf-2-2"/>
          <p:cNvSpPr/>
          <p:nvPr/>
        </p:nvSpPr>
        <p:spPr>
          <a:xfrm>
            <a:off x="952500" y="3962400"/>
            <a:ext cx="1841500" cy="342900"/>
          </a:xfrm>
          <a:custGeom>
            <a:avLst/>
            <a:gdLst/>
            <a:ahLst/>
            <a:cxnLst/>
            <a:rect l="0" t="0" r="r" b="b"/>
            <a:pathLst>
              <a:path w="1841500" h="342900">
                <a:moveTo>
                  <a:pt x="88900" y="0"/>
                </a:moveTo>
                <a:lnTo>
                  <a:pt x="1752600" y="0"/>
                </a:lnTo>
                <a:cubicBezTo>
                  <a:pt x="1801686" y="0"/>
                  <a:pt x="1841500" y="39814"/>
                  <a:pt x="1841500" y="88900"/>
                </a:cubicBezTo>
                <a:lnTo>
                  <a:pt x="1841500" y="254000"/>
                </a:lnTo>
                <a:cubicBezTo>
                  <a:pt x="1841500" y="303086"/>
                  <a:pt x="1801686" y="342900"/>
                  <a:pt x="1752600" y="342900"/>
                </a:cubicBezTo>
                <a:lnTo>
                  <a:pt x="88900" y="342900"/>
                </a:lnTo>
                <a:cubicBezTo>
                  <a:pt x="39815" y="342900"/>
                  <a:pt x="0" y="303086"/>
                  <a:pt x="0" y="2540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leafb-2-2"/>
          <p:cNvSpPr/>
          <p:nvPr/>
        </p:nvSpPr>
        <p:spPr>
          <a:xfrm>
            <a:off x="952500" y="3962400"/>
            <a:ext cx="31750" cy="342900"/>
          </a:xfrm>
          <a:custGeom>
            <a:avLst/>
            <a:gdLst/>
            <a:ahLst/>
            <a:cxnLst/>
            <a:rect l="0" t="0" r="r" b="b"/>
            <a:pathLst>
              <a:path w="31750" h="342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327025"/>
                </a:lnTo>
                <a:cubicBezTo>
                  <a:pt x="31750" y="335788"/>
                  <a:pt x="24638" y="342900"/>
                  <a:pt x="15875" y="342900"/>
                </a:cubicBezTo>
                <a:lnTo>
                  <a:pt x="15875" y="342900"/>
                </a:lnTo>
                <a:cubicBezTo>
                  <a:pt x="7112" y="342900"/>
                  <a:pt x="0" y="335788"/>
                  <a:pt x="0" y="327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leaft-2-2"/>
          <p:cNvSpPr txBox="1"/>
          <p:nvPr/>
        </p:nvSpPr>
        <p:spPr>
          <a:xfrm>
            <a:off x="1885633" y="4041061"/>
            <a:ext cx="7820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指标体系分级</a:t>
            </a:r>
          </a:p>
        </p:txBody>
      </p:sp>
      <p:sp>
        <p:nvSpPr>
          <p:cNvPr id="50" name="llead-2-2"/>
          <p:cNvSpPr/>
          <p:nvPr/>
        </p:nvSpPr>
        <p:spPr>
          <a:xfrm>
            <a:off x="2794000" y="3962400"/>
            <a:ext cx="225190" cy="171450"/>
          </a:xfrm>
          <a:custGeom>
            <a:avLst/>
            <a:gdLst/>
            <a:ahLst/>
            <a:cxnLst/>
            <a:rect l="0" t="0" r="r" b="b"/>
            <a:pathLst>
              <a:path w="225190" h="171450">
                <a:moveTo>
                  <a:pt x="165100" y="0"/>
                </a:moveTo>
                <a:lnTo>
                  <a:pt x="190500" y="0"/>
                </a:lnTo>
                <a:quadBezTo>
                  <a:pt x="254000" y="0"/>
                  <a:pt x="201358" y="35497"/>
                </a:quadBezTo>
                <a:lnTo>
                  <a:pt x="0" y="171450"/>
                </a:lnTo>
              </a:path>
            </a:pathLst>
          </a:custGeom>
          <a:noFill/>
          <a:ln w="8890" cap="rnd">
            <a:solidFill>
              <a:srgbClr val="134C9C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ldot-2-2"/>
          <p:cNvSpPr/>
          <p:nvPr/>
        </p:nvSpPr>
        <p:spPr>
          <a:xfrm>
            <a:off x="2772410" y="4112260"/>
            <a:ext cx="43180" cy="43180"/>
          </a:xfrm>
          <a:prstGeom prst="ellipse">
            <a:avLst/>
          </a:prstGeom>
          <a:solidFill>
            <a:srgbClr val="134C9C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leaf-2-3"/>
          <p:cNvSpPr/>
          <p:nvPr/>
        </p:nvSpPr>
        <p:spPr>
          <a:xfrm>
            <a:off x="952500" y="4381500"/>
            <a:ext cx="1841500" cy="342900"/>
          </a:xfrm>
          <a:custGeom>
            <a:avLst/>
            <a:gdLst/>
            <a:ahLst/>
            <a:cxnLst/>
            <a:rect l="0" t="0" r="r" b="b"/>
            <a:pathLst>
              <a:path w="1841500" h="342900">
                <a:moveTo>
                  <a:pt x="88900" y="0"/>
                </a:moveTo>
                <a:lnTo>
                  <a:pt x="1752600" y="0"/>
                </a:lnTo>
                <a:cubicBezTo>
                  <a:pt x="1801686" y="0"/>
                  <a:pt x="1841500" y="39814"/>
                  <a:pt x="1841500" y="88900"/>
                </a:cubicBezTo>
                <a:lnTo>
                  <a:pt x="1841500" y="254000"/>
                </a:lnTo>
                <a:cubicBezTo>
                  <a:pt x="1841500" y="303086"/>
                  <a:pt x="1801686" y="342900"/>
                  <a:pt x="1752600" y="342900"/>
                </a:cubicBezTo>
                <a:lnTo>
                  <a:pt x="88900" y="342900"/>
                </a:lnTo>
                <a:cubicBezTo>
                  <a:pt x="39815" y="342900"/>
                  <a:pt x="0" y="303086"/>
                  <a:pt x="0" y="2540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leafb-2-3"/>
          <p:cNvSpPr/>
          <p:nvPr/>
        </p:nvSpPr>
        <p:spPr>
          <a:xfrm>
            <a:off x="952500" y="4381500"/>
            <a:ext cx="31750" cy="342900"/>
          </a:xfrm>
          <a:custGeom>
            <a:avLst/>
            <a:gdLst/>
            <a:ahLst/>
            <a:cxnLst/>
            <a:rect l="0" t="0" r="r" b="b"/>
            <a:pathLst>
              <a:path w="31750" h="342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327025"/>
                </a:lnTo>
                <a:cubicBezTo>
                  <a:pt x="31750" y="335788"/>
                  <a:pt x="24638" y="342900"/>
                  <a:pt x="15875" y="342900"/>
                </a:cubicBezTo>
                <a:lnTo>
                  <a:pt x="15875" y="342900"/>
                </a:lnTo>
                <a:cubicBezTo>
                  <a:pt x="7112" y="342900"/>
                  <a:pt x="0" y="335788"/>
                  <a:pt x="0" y="327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leaft-2-3"/>
          <p:cNvSpPr txBox="1"/>
          <p:nvPr/>
        </p:nvSpPr>
        <p:spPr>
          <a:xfrm>
            <a:off x="1885633" y="4460161"/>
            <a:ext cx="7820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数据质量稽核</a:t>
            </a:r>
          </a:p>
        </p:txBody>
      </p:sp>
      <p:sp>
        <p:nvSpPr>
          <p:cNvPr id="55" name="llead-2-3"/>
          <p:cNvSpPr/>
          <p:nvPr/>
        </p:nvSpPr>
        <p:spPr>
          <a:xfrm>
            <a:off x="2794000" y="3962400"/>
            <a:ext cx="235943" cy="590550"/>
          </a:xfrm>
          <a:custGeom>
            <a:avLst/>
            <a:gdLst/>
            <a:ahLst/>
            <a:cxnLst/>
            <a:rect l="0" t="0" r="r" b="b"/>
            <a:pathLst>
              <a:path w="235943" h="590550">
                <a:moveTo>
                  <a:pt x="165100" y="0"/>
                </a:moveTo>
                <a:lnTo>
                  <a:pt x="190500" y="0"/>
                </a:lnTo>
                <a:quadBezTo>
                  <a:pt x="254000" y="0"/>
                  <a:pt x="228918" y="58357"/>
                </a:quadBezTo>
                <a:lnTo>
                  <a:pt x="0" y="590550"/>
                </a:lnTo>
              </a:path>
            </a:pathLst>
          </a:custGeom>
          <a:noFill/>
          <a:ln w="8890" cap="rnd">
            <a:solidFill>
              <a:srgbClr val="134C9C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ldot-2-3"/>
          <p:cNvSpPr/>
          <p:nvPr/>
        </p:nvSpPr>
        <p:spPr>
          <a:xfrm>
            <a:off x="2772410" y="4531360"/>
            <a:ext cx="43180" cy="43180"/>
          </a:xfrm>
          <a:prstGeom prst="ellipse">
            <a:avLst/>
          </a:prstGeom>
          <a:solidFill>
            <a:srgbClr val="134C9C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m-link-3a"/>
          <p:cNvSpPr/>
          <p:nvPr/>
        </p:nvSpPr>
        <p:spPr>
          <a:xfrm>
            <a:off x="4775200" y="3784600"/>
            <a:ext cx="571500" cy="1943100"/>
          </a:xfrm>
          <a:custGeom>
            <a:avLst/>
            <a:gdLst/>
            <a:ahLst/>
            <a:cxnLst/>
            <a:rect l="0" t="0" r="r" b="b"/>
            <a:pathLst>
              <a:path w="571500" h="1943100">
                <a:moveTo>
                  <a:pt x="571500" y="0"/>
                </a:moveTo>
                <a:lnTo>
                  <a:pt x="139700" y="0"/>
                </a:lnTo>
                <a:quadBezTo>
                  <a:pt x="0" y="0"/>
                  <a:pt x="0" y="139700"/>
                </a:quadBezTo>
                <a:lnTo>
                  <a:pt x="0" y="1943100"/>
                </a:lnTo>
              </a:path>
            </a:pathLst>
          </a:custGeom>
          <a:noFill/>
          <a:ln w="13970" cap="rnd">
            <a:solidFill>
              <a:srgbClr val="2468B6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58" name="m-link-3b"/>
          <p:cNvCxnSpPr/>
          <p:nvPr/>
        </p:nvCxnSpPr>
        <p:spPr>
          <a:xfrm flipH="1">
            <a:off x="4318000" y="5727700"/>
            <a:ext cx="457200" cy="0"/>
          </a:xfrm>
          <a:prstGeom prst="line">
            <a:avLst/>
          </a:prstGeom>
          <a:ln w="13970" cap="rnd">
            <a:solidFill>
              <a:srgbClr val="2468B6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branch-3"/>
          <p:cNvSpPr/>
          <p:nvPr/>
        </p:nvSpPr>
        <p:spPr>
          <a:xfrm>
            <a:off x="2959100" y="5435600"/>
            <a:ext cx="1358900" cy="584200"/>
          </a:xfrm>
          <a:custGeom>
            <a:avLst/>
            <a:gdLst/>
            <a:ahLst/>
            <a:cxnLst/>
            <a:rect l="0" t="0" r="r" b="b"/>
            <a:pathLst>
              <a:path w="1358900" h="584200">
                <a:moveTo>
                  <a:pt x="114300" y="0"/>
                </a:moveTo>
                <a:lnTo>
                  <a:pt x="1244600" y="0"/>
                </a:lnTo>
                <a:cubicBezTo>
                  <a:pt x="1307719" y="0"/>
                  <a:pt x="1358900" y="51181"/>
                  <a:pt x="1358900" y="114300"/>
                </a:cubicBezTo>
                <a:lnTo>
                  <a:pt x="1358900" y="469900"/>
                </a:lnTo>
                <a:cubicBezTo>
                  <a:pt x="1358900" y="533019"/>
                  <a:pt x="1307719" y="584200"/>
                  <a:pt x="1244600" y="584200"/>
                </a:cubicBezTo>
                <a:lnTo>
                  <a:pt x="114300" y="584200"/>
                </a:lnTo>
                <a:cubicBezTo>
                  <a:pt x="51181" y="584200"/>
                  <a:pt x="0" y="533019"/>
                  <a:pt x="0" y="469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437DC0"/>
              </a:gs>
              <a:gs pos="100000">
                <a:srgbClr val="2468B6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icon-people"/>
          <p:cNvSpPr/>
          <p:nvPr/>
        </p:nvSpPr>
        <p:spPr>
          <a:xfrm>
            <a:off x="3171825" y="5748338"/>
            <a:ext cx="134938" cy="38100"/>
          </a:xfrm>
          <a:custGeom>
            <a:avLst/>
            <a:gdLst/>
            <a:ahLst/>
            <a:cxnLst/>
            <a:rect l="0" t="0" r="r" b="b"/>
            <a:pathLst>
              <a:path w="134938" h="38100">
                <a:moveTo>
                  <a:pt x="0" y="38100"/>
                </a:moveTo>
                <a:cubicBezTo>
                  <a:pt x="0" y="14288"/>
                  <a:pt x="19812" y="0"/>
                  <a:pt x="42862" y="0"/>
                </a:cubicBezTo>
                <a:cubicBezTo>
                  <a:pt x="65913" y="0"/>
                  <a:pt x="85725" y="14288"/>
                  <a:pt x="85725" y="38100"/>
                </a:cubicBezTo>
                <a:moveTo>
                  <a:pt x="101600" y="3175"/>
                </a:moveTo>
                <a:cubicBezTo>
                  <a:pt x="122238" y="5525"/>
                  <a:pt x="134938" y="19875"/>
                  <a:pt x="134938" y="38100"/>
                </a:cubicBez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icon-people"/>
          <p:cNvSpPr/>
          <p:nvPr/>
        </p:nvSpPr>
        <p:spPr>
          <a:xfrm>
            <a:off x="3189288" y="5680075"/>
            <a:ext cx="50800" cy="50800"/>
          </a:xfrm>
          <a:prstGeom prst="ellipse">
            <a:avLst/>
          </a:pr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icon-people"/>
          <p:cNvSpPr/>
          <p:nvPr/>
        </p:nvSpPr>
        <p:spPr>
          <a:xfrm>
            <a:off x="3257550" y="5680075"/>
            <a:ext cx="41275" cy="41275"/>
          </a:xfrm>
          <a:prstGeom prst="ellipse">
            <a:avLst/>
          </a:pr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bname-3"/>
          <p:cNvSpPr txBox="1"/>
          <p:nvPr/>
        </p:nvSpPr>
        <p:spPr>
          <a:xfrm>
            <a:off x="3423412" y="5596636"/>
            <a:ext cx="8102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组织能力</a:t>
            </a:r>
          </a:p>
        </p:txBody>
      </p:sp>
      <p:sp>
        <p:nvSpPr>
          <p:cNvPr id="64" name="bno-3"/>
          <p:cNvSpPr txBox="1"/>
          <p:nvPr/>
        </p:nvSpPr>
        <p:spPr>
          <a:xfrm>
            <a:off x="4023360" y="54752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FFFFFF">
                    <a:alpha val="50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65" name="leaf-3-1"/>
          <p:cNvSpPr/>
          <p:nvPr/>
        </p:nvSpPr>
        <p:spPr>
          <a:xfrm>
            <a:off x="952500" y="5308600"/>
            <a:ext cx="1841500" cy="342900"/>
          </a:xfrm>
          <a:custGeom>
            <a:avLst/>
            <a:gdLst/>
            <a:ahLst/>
            <a:cxnLst/>
            <a:rect l="0" t="0" r="r" b="b"/>
            <a:pathLst>
              <a:path w="1841500" h="342900">
                <a:moveTo>
                  <a:pt x="88900" y="0"/>
                </a:moveTo>
                <a:lnTo>
                  <a:pt x="1752600" y="0"/>
                </a:lnTo>
                <a:cubicBezTo>
                  <a:pt x="1801686" y="0"/>
                  <a:pt x="1841500" y="39814"/>
                  <a:pt x="1841500" y="88900"/>
                </a:cubicBezTo>
                <a:lnTo>
                  <a:pt x="1841500" y="254000"/>
                </a:lnTo>
                <a:cubicBezTo>
                  <a:pt x="1841500" y="303086"/>
                  <a:pt x="1801686" y="342900"/>
                  <a:pt x="1752600" y="342900"/>
                </a:cubicBezTo>
                <a:lnTo>
                  <a:pt x="88900" y="342900"/>
                </a:lnTo>
                <a:cubicBezTo>
                  <a:pt x="39815" y="342900"/>
                  <a:pt x="0" y="303086"/>
                  <a:pt x="0" y="2540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leafb-3-1"/>
          <p:cNvSpPr/>
          <p:nvPr/>
        </p:nvSpPr>
        <p:spPr>
          <a:xfrm>
            <a:off x="952500" y="5308600"/>
            <a:ext cx="31750" cy="342900"/>
          </a:xfrm>
          <a:custGeom>
            <a:avLst/>
            <a:gdLst/>
            <a:ahLst/>
            <a:cxnLst/>
            <a:rect l="0" t="0" r="r" b="b"/>
            <a:pathLst>
              <a:path w="31750" h="342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327025"/>
                </a:lnTo>
                <a:cubicBezTo>
                  <a:pt x="31750" y="335788"/>
                  <a:pt x="24638" y="342900"/>
                  <a:pt x="15875" y="342900"/>
                </a:cubicBezTo>
                <a:lnTo>
                  <a:pt x="15875" y="342900"/>
                </a:lnTo>
                <a:cubicBezTo>
                  <a:pt x="7112" y="342900"/>
                  <a:pt x="0" y="335788"/>
                  <a:pt x="0" y="327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leaft-3-1"/>
          <p:cNvSpPr txBox="1"/>
          <p:nvPr/>
        </p:nvSpPr>
        <p:spPr>
          <a:xfrm>
            <a:off x="1771968" y="5387261"/>
            <a:ext cx="8956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数字化人才梯队</a:t>
            </a:r>
          </a:p>
        </p:txBody>
      </p:sp>
      <p:sp>
        <p:nvSpPr>
          <p:cNvPr id="68" name="llead-3-1"/>
          <p:cNvSpPr/>
          <p:nvPr/>
        </p:nvSpPr>
        <p:spPr>
          <a:xfrm>
            <a:off x="2794000" y="5480050"/>
            <a:ext cx="227460" cy="247650"/>
          </a:xfrm>
          <a:custGeom>
            <a:avLst/>
            <a:gdLst/>
            <a:ahLst/>
            <a:cxnLst/>
            <a:rect l="0" t="0" r="r" b="b"/>
            <a:pathLst>
              <a:path w="227460" h="247650">
                <a:moveTo>
                  <a:pt x="165100" y="247650"/>
                </a:moveTo>
                <a:lnTo>
                  <a:pt x="190500" y="247650"/>
                </a:lnTo>
                <a:quadBezTo>
                  <a:pt x="254000" y="247650"/>
                  <a:pt x="208534" y="203327"/>
                </a:quadBezTo>
                <a:lnTo>
                  <a:pt x="0" y="0"/>
                </a:lnTo>
              </a:path>
            </a:pathLst>
          </a:custGeom>
          <a:noFill/>
          <a:ln w="8890" cap="rnd">
            <a:solidFill>
              <a:srgbClr val="2468B6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ldot-3-1"/>
          <p:cNvSpPr/>
          <p:nvPr/>
        </p:nvSpPr>
        <p:spPr>
          <a:xfrm>
            <a:off x="2772410" y="5458460"/>
            <a:ext cx="43180" cy="43180"/>
          </a:xfrm>
          <a:prstGeom prst="ellipse">
            <a:avLst/>
          </a:prstGeom>
          <a:solidFill>
            <a:srgbClr val="2468B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leaf-3-2"/>
          <p:cNvSpPr/>
          <p:nvPr/>
        </p:nvSpPr>
        <p:spPr>
          <a:xfrm>
            <a:off x="952500" y="5727700"/>
            <a:ext cx="1841500" cy="342900"/>
          </a:xfrm>
          <a:custGeom>
            <a:avLst/>
            <a:gdLst/>
            <a:ahLst/>
            <a:cxnLst/>
            <a:rect l="0" t="0" r="r" b="b"/>
            <a:pathLst>
              <a:path w="1841500" h="342900">
                <a:moveTo>
                  <a:pt x="88900" y="0"/>
                </a:moveTo>
                <a:lnTo>
                  <a:pt x="1752600" y="0"/>
                </a:lnTo>
                <a:cubicBezTo>
                  <a:pt x="1801686" y="0"/>
                  <a:pt x="1841500" y="39814"/>
                  <a:pt x="1841500" y="88900"/>
                </a:cubicBezTo>
                <a:lnTo>
                  <a:pt x="1841500" y="254000"/>
                </a:lnTo>
                <a:cubicBezTo>
                  <a:pt x="1841500" y="303086"/>
                  <a:pt x="1801686" y="342900"/>
                  <a:pt x="1752600" y="342900"/>
                </a:cubicBezTo>
                <a:lnTo>
                  <a:pt x="88900" y="342900"/>
                </a:lnTo>
                <a:cubicBezTo>
                  <a:pt x="39815" y="342900"/>
                  <a:pt x="0" y="303086"/>
                  <a:pt x="0" y="2540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leafb-3-2"/>
          <p:cNvSpPr/>
          <p:nvPr/>
        </p:nvSpPr>
        <p:spPr>
          <a:xfrm>
            <a:off x="952500" y="5727700"/>
            <a:ext cx="31750" cy="342900"/>
          </a:xfrm>
          <a:custGeom>
            <a:avLst/>
            <a:gdLst/>
            <a:ahLst/>
            <a:cxnLst/>
            <a:rect l="0" t="0" r="r" b="b"/>
            <a:pathLst>
              <a:path w="31750" h="342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327025"/>
                </a:lnTo>
                <a:cubicBezTo>
                  <a:pt x="31750" y="335788"/>
                  <a:pt x="24638" y="342900"/>
                  <a:pt x="15875" y="342900"/>
                </a:cubicBezTo>
                <a:lnTo>
                  <a:pt x="15875" y="342900"/>
                </a:lnTo>
                <a:cubicBezTo>
                  <a:pt x="7112" y="342900"/>
                  <a:pt x="0" y="335788"/>
                  <a:pt x="0" y="327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leaft-3-2"/>
          <p:cNvSpPr txBox="1"/>
          <p:nvPr/>
        </p:nvSpPr>
        <p:spPr>
          <a:xfrm>
            <a:off x="1771968" y="5806361"/>
            <a:ext cx="8956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一线赋能与培训</a:t>
            </a:r>
          </a:p>
        </p:txBody>
      </p:sp>
      <p:sp>
        <p:nvSpPr>
          <p:cNvPr id="73" name="llead-3-2"/>
          <p:cNvSpPr/>
          <p:nvPr/>
        </p:nvSpPr>
        <p:spPr>
          <a:xfrm>
            <a:off x="2794000" y="5727700"/>
            <a:ext cx="225190" cy="171450"/>
          </a:xfrm>
          <a:custGeom>
            <a:avLst/>
            <a:gdLst/>
            <a:ahLst/>
            <a:cxnLst/>
            <a:rect l="0" t="0" r="r" b="b"/>
            <a:pathLst>
              <a:path w="225190" h="171450">
                <a:moveTo>
                  <a:pt x="165100" y="0"/>
                </a:moveTo>
                <a:lnTo>
                  <a:pt x="190500" y="0"/>
                </a:lnTo>
                <a:quadBezTo>
                  <a:pt x="254000" y="0"/>
                  <a:pt x="201358" y="35497"/>
                </a:quadBezTo>
                <a:lnTo>
                  <a:pt x="0" y="171450"/>
                </a:lnTo>
              </a:path>
            </a:pathLst>
          </a:custGeom>
          <a:noFill/>
          <a:ln w="8890" cap="rnd">
            <a:solidFill>
              <a:srgbClr val="2468B6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ldot-3-2"/>
          <p:cNvSpPr/>
          <p:nvPr/>
        </p:nvSpPr>
        <p:spPr>
          <a:xfrm>
            <a:off x="2772410" y="5877560"/>
            <a:ext cx="43180" cy="43180"/>
          </a:xfrm>
          <a:prstGeom prst="ellipse">
            <a:avLst/>
          </a:prstGeom>
          <a:solidFill>
            <a:srgbClr val="2468B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leaf-3-3"/>
          <p:cNvSpPr/>
          <p:nvPr/>
        </p:nvSpPr>
        <p:spPr>
          <a:xfrm>
            <a:off x="952500" y="6146800"/>
            <a:ext cx="1841500" cy="342900"/>
          </a:xfrm>
          <a:custGeom>
            <a:avLst/>
            <a:gdLst/>
            <a:ahLst/>
            <a:cxnLst/>
            <a:rect l="0" t="0" r="r" b="b"/>
            <a:pathLst>
              <a:path w="1841500" h="342900">
                <a:moveTo>
                  <a:pt x="88900" y="0"/>
                </a:moveTo>
                <a:lnTo>
                  <a:pt x="1752600" y="0"/>
                </a:lnTo>
                <a:cubicBezTo>
                  <a:pt x="1801686" y="0"/>
                  <a:pt x="1841500" y="39814"/>
                  <a:pt x="1841500" y="88900"/>
                </a:cubicBezTo>
                <a:lnTo>
                  <a:pt x="1841500" y="254000"/>
                </a:lnTo>
                <a:cubicBezTo>
                  <a:pt x="1841500" y="303086"/>
                  <a:pt x="1801686" y="342900"/>
                  <a:pt x="1752600" y="342900"/>
                </a:cubicBezTo>
                <a:lnTo>
                  <a:pt x="88900" y="342900"/>
                </a:lnTo>
                <a:cubicBezTo>
                  <a:pt x="39815" y="342900"/>
                  <a:pt x="0" y="303086"/>
                  <a:pt x="0" y="2540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leafb-3-3"/>
          <p:cNvSpPr/>
          <p:nvPr/>
        </p:nvSpPr>
        <p:spPr>
          <a:xfrm>
            <a:off x="952500" y="6146800"/>
            <a:ext cx="31750" cy="342900"/>
          </a:xfrm>
          <a:custGeom>
            <a:avLst/>
            <a:gdLst/>
            <a:ahLst/>
            <a:cxnLst/>
            <a:rect l="0" t="0" r="r" b="b"/>
            <a:pathLst>
              <a:path w="31750" h="342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327025"/>
                </a:lnTo>
                <a:cubicBezTo>
                  <a:pt x="31750" y="335788"/>
                  <a:pt x="24638" y="342900"/>
                  <a:pt x="15875" y="342900"/>
                </a:cubicBezTo>
                <a:lnTo>
                  <a:pt x="15875" y="342900"/>
                </a:lnTo>
                <a:cubicBezTo>
                  <a:pt x="7112" y="342900"/>
                  <a:pt x="0" y="335788"/>
                  <a:pt x="0" y="327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leaft-3-3"/>
          <p:cNvSpPr txBox="1"/>
          <p:nvPr/>
        </p:nvSpPr>
        <p:spPr>
          <a:xfrm>
            <a:off x="1771968" y="6225461"/>
            <a:ext cx="8956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考核与激励挂钩</a:t>
            </a:r>
          </a:p>
        </p:txBody>
      </p:sp>
      <p:sp>
        <p:nvSpPr>
          <p:cNvPr id="78" name="llead-3-3"/>
          <p:cNvSpPr/>
          <p:nvPr/>
        </p:nvSpPr>
        <p:spPr>
          <a:xfrm>
            <a:off x="2794000" y="5727700"/>
            <a:ext cx="235943" cy="590550"/>
          </a:xfrm>
          <a:custGeom>
            <a:avLst/>
            <a:gdLst/>
            <a:ahLst/>
            <a:cxnLst/>
            <a:rect l="0" t="0" r="r" b="b"/>
            <a:pathLst>
              <a:path w="235943" h="590550">
                <a:moveTo>
                  <a:pt x="165100" y="0"/>
                </a:moveTo>
                <a:lnTo>
                  <a:pt x="190500" y="0"/>
                </a:lnTo>
                <a:quadBezTo>
                  <a:pt x="254000" y="0"/>
                  <a:pt x="228918" y="58357"/>
                </a:quadBezTo>
                <a:lnTo>
                  <a:pt x="0" y="590550"/>
                </a:lnTo>
              </a:path>
            </a:pathLst>
          </a:custGeom>
          <a:noFill/>
          <a:ln w="8890" cap="rnd">
            <a:solidFill>
              <a:srgbClr val="2468B6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ldot-3-3"/>
          <p:cNvSpPr/>
          <p:nvPr/>
        </p:nvSpPr>
        <p:spPr>
          <a:xfrm>
            <a:off x="2772410" y="6296660"/>
            <a:ext cx="43180" cy="43180"/>
          </a:xfrm>
          <a:prstGeom prst="ellipse">
            <a:avLst/>
          </a:prstGeom>
          <a:solidFill>
            <a:srgbClr val="2468B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m-link-4a"/>
          <p:cNvSpPr/>
          <p:nvPr/>
        </p:nvSpPr>
        <p:spPr>
          <a:xfrm>
            <a:off x="6845300" y="2197100"/>
            <a:ext cx="571500" cy="1587500"/>
          </a:xfrm>
          <a:custGeom>
            <a:avLst/>
            <a:gdLst/>
            <a:ahLst/>
            <a:cxnLst/>
            <a:rect l="0" t="0" r="r" b="b"/>
            <a:pathLst>
              <a:path w="571500" h="1587500">
                <a:moveTo>
                  <a:pt x="0" y="1587500"/>
                </a:moveTo>
                <a:lnTo>
                  <a:pt x="431800" y="1587500"/>
                </a:lnTo>
                <a:quadBezTo>
                  <a:pt x="571500" y="1587500"/>
                  <a:pt x="571500" y="1447800"/>
                </a:quadBezTo>
                <a:lnTo>
                  <a:pt x="571500" y="0"/>
                </a:lnTo>
              </a:path>
            </a:pathLst>
          </a:custGeom>
          <a:noFill/>
          <a:ln w="13970" cap="rnd">
            <a:solidFill>
              <a:srgbClr val="2E77C2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81" name="m-link-4b"/>
          <p:cNvCxnSpPr/>
          <p:nvPr/>
        </p:nvCxnSpPr>
        <p:spPr>
          <a:xfrm>
            <a:off x="7416800" y="2197100"/>
            <a:ext cx="457200" cy="0"/>
          </a:xfrm>
          <a:prstGeom prst="line">
            <a:avLst/>
          </a:prstGeom>
          <a:ln w="13970" cap="rnd">
            <a:solidFill>
              <a:srgbClr val="2E77C2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branch-4"/>
          <p:cNvSpPr/>
          <p:nvPr/>
        </p:nvSpPr>
        <p:spPr>
          <a:xfrm>
            <a:off x="7874000" y="1905000"/>
            <a:ext cx="1358900" cy="584200"/>
          </a:xfrm>
          <a:custGeom>
            <a:avLst/>
            <a:gdLst/>
            <a:ahLst/>
            <a:cxnLst/>
            <a:rect l="0" t="0" r="r" b="b"/>
            <a:pathLst>
              <a:path w="1358900" h="584200">
                <a:moveTo>
                  <a:pt x="114300" y="0"/>
                </a:moveTo>
                <a:lnTo>
                  <a:pt x="1244600" y="0"/>
                </a:lnTo>
                <a:cubicBezTo>
                  <a:pt x="1307719" y="0"/>
                  <a:pt x="1358900" y="51181"/>
                  <a:pt x="1358900" y="114300"/>
                </a:cubicBezTo>
                <a:lnTo>
                  <a:pt x="1358900" y="469900"/>
                </a:lnTo>
                <a:cubicBezTo>
                  <a:pt x="1358900" y="533019"/>
                  <a:pt x="1307719" y="584200"/>
                  <a:pt x="1244600" y="584200"/>
                </a:cubicBezTo>
                <a:lnTo>
                  <a:pt x="114300" y="584200"/>
                </a:lnTo>
                <a:cubicBezTo>
                  <a:pt x="51181" y="584200"/>
                  <a:pt x="0" y="533019"/>
                  <a:pt x="0" y="469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4B8ACB"/>
              </a:gs>
              <a:gs pos="100000">
                <a:srgbClr val="2E77C2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icon-cloud"/>
          <p:cNvSpPr/>
          <p:nvPr/>
        </p:nvSpPr>
        <p:spPr>
          <a:xfrm>
            <a:off x="8080375" y="2144071"/>
            <a:ext cx="150812" cy="103829"/>
          </a:xfrm>
          <a:custGeom>
            <a:avLst/>
            <a:gdLst/>
            <a:ahLst/>
            <a:cxnLst/>
            <a:rect l="0" t="0" r="r" b="b"/>
            <a:pathLst>
              <a:path w="150812" h="103829">
                <a:moveTo>
                  <a:pt x="34925" y="103829"/>
                </a:moveTo>
                <a:cubicBezTo>
                  <a:pt x="16510" y="104718"/>
                  <a:pt x="889" y="90494"/>
                  <a:pt x="0" y="72079"/>
                </a:cubicBezTo>
                <a:cubicBezTo>
                  <a:pt x="-889" y="53664"/>
                  <a:pt x="13335" y="38043"/>
                  <a:pt x="31750" y="37154"/>
                </a:cubicBezTo>
                <a:cubicBezTo>
                  <a:pt x="34354" y="17723"/>
                  <a:pt x="49847" y="2547"/>
                  <a:pt x="69342" y="261"/>
                </a:cubicBezTo>
                <a:cubicBezTo>
                  <a:pt x="88837" y="-1962"/>
                  <a:pt x="107315" y="9278"/>
                  <a:pt x="114300" y="27629"/>
                </a:cubicBezTo>
                <a:cubicBezTo>
                  <a:pt x="135318" y="28518"/>
                  <a:pt x="151702" y="46298"/>
                  <a:pt x="150812" y="67317"/>
                </a:cubicBezTo>
                <a:cubicBezTo>
                  <a:pt x="149923" y="88335"/>
                  <a:pt x="132143" y="104718"/>
                  <a:pt x="111125" y="103829"/>
                </a:cubicBezTo>
                <a:close/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bname-4"/>
          <p:cNvSpPr txBox="1"/>
          <p:nvPr/>
        </p:nvSpPr>
        <p:spPr>
          <a:xfrm>
            <a:off x="8338312" y="2066036"/>
            <a:ext cx="8102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技术底座</a:t>
            </a:r>
          </a:p>
        </p:txBody>
      </p:sp>
      <p:sp>
        <p:nvSpPr>
          <p:cNvPr id="85" name="bno-4"/>
          <p:cNvSpPr txBox="1"/>
          <p:nvPr/>
        </p:nvSpPr>
        <p:spPr>
          <a:xfrm>
            <a:off x="8938260" y="19446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FFFFFF">
                    <a:alpha val="50000"/>
                  </a:srgbClr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86" name="leaf-4-1"/>
          <p:cNvSpPr/>
          <p:nvPr/>
        </p:nvSpPr>
        <p:spPr>
          <a:xfrm>
            <a:off x="9398000" y="1778000"/>
            <a:ext cx="1841500" cy="342900"/>
          </a:xfrm>
          <a:custGeom>
            <a:avLst/>
            <a:gdLst/>
            <a:ahLst/>
            <a:cxnLst/>
            <a:rect l="0" t="0" r="r" b="b"/>
            <a:pathLst>
              <a:path w="1841500" h="342900">
                <a:moveTo>
                  <a:pt x="88900" y="0"/>
                </a:moveTo>
                <a:lnTo>
                  <a:pt x="1752600" y="0"/>
                </a:lnTo>
                <a:cubicBezTo>
                  <a:pt x="1801686" y="0"/>
                  <a:pt x="1841500" y="39814"/>
                  <a:pt x="1841500" y="88900"/>
                </a:cubicBezTo>
                <a:lnTo>
                  <a:pt x="1841500" y="254000"/>
                </a:lnTo>
                <a:cubicBezTo>
                  <a:pt x="1841500" y="303086"/>
                  <a:pt x="1801686" y="342900"/>
                  <a:pt x="1752600" y="342900"/>
                </a:cubicBezTo>
                <a:lnTo>
                  <a:pt x="88900" y="342900"/>
                </a:lnTo>
                <a:cubicBezTo>
                  <a:pt x="39814" y="342900"/>
                  <a:pt x="0" y="303086"/>
                  <a:pt x="0" y="2540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leafb-4-1"/>
          <p:cNvSpPr/>
          <p:nvPr/>
        </p:nvSpPr>
        <p:spPr>
          <a:xfrm>
            <a:off x="11207750" y="1778000"/>
            <a:ext cx="31750" cy="342900"/>
          </a:xfrm>
          <a:custGeom>
            <a:avLst/>
            <a:gdLst/>
            <a:ahLst/>
            <a:cxnLst/>
            <a:rect l="0" t="0" r="r" b="b"/>
            <a:pathLst>
              <a:path w="31750" h="342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327025"/>
                </a:lnTo>
                <a:cubicBezTo>
                  <a:pt x="31750" y="335788"/>
                  <a:pt x="24638" y="342900"/>
                  <a:pt x="15875" y="342900"/>
                </a:cubicBezTo>
                <a:lnTo>
                  <a:pt x="15875" y="342900"/>
                </a:lnTo>
                <a:cubicBezTo>
                  <a:pt x="7112" y="342900"/>
                  <a:pt x="0" y="335788"/>
                  <a:pt x="0" y="327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leaft-4-1"/>
          <p:cNvSpPr txBox="1"/>
          <p:nvPr/>
        </p:nvSpPr>
        <p:spPr>
          <a:xfrm>
            <a:off x="9524365" y="1856661"/>
            <a:ext cx="8956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云原生平台迁移</a:t>
            </a:r>
          </a:p>
        </p:txBody>
      </p:sp>
      <p:sp>
        <p:nvSpPr>
          <p:cNvPr id="89" name="llead-4-1"/>
          <p:cNvSpPr/>
          <p:nvPr/>
        </p:nvSpPr>
        <p:spPr>
          <a:xfrm>
            <a:off x="9170540" y="1949450"/>
            <a:ext cx="227460" cy="247650"/>
          </a:xfrm>
          <a:custGeom>
            <a:avLst/>
            <a:gdLst/>
            <a:ahLst/>
            <a:cxnLst/>
            <a:rect l="0" t="0" r="r" b="b"/>
            <a:pathLst>
              <a:path w="227460" h="247650">
                <a:moveTo>
                  <a:pt x="62360" y="247650"/>
                </a:moveTo>
                <a:lnTo>
                  <a:pt x="36960" y="247650"/>
                </a:lnTo>
                <a:quadBezTo>
                  <a:pt x="-26540" y="247650"/>
                  <a:pt x="18926" y="203327"/>
                </a:quadBezTo>
                <a:lnTo>
                  <a:pt x="227460" y="0"/>
                </a:lnTo>
              </a:path>
            </a:pathLst>
          </a:custGeom>
          <a:noFill/>
          <a:ln w="8890" cap="rnd">
            <a:solidFill>
              <a:srgbClr val="2E77C2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ldot-4-1"/>
          <p:cNvSpPr/>
          <p:nvPr/>
        </p:nvSpPr>
        <p:spPr>
          <a:xfrm>
            <a:off x="9376410" y="1927860"/>
            <a:ext cx="43180" cy="43180"/>
          </a:xfrm>
          <a:prstGeom prst="ellipse">
            <a:avLst/>
          </a:prstGeom>
          <a:solidFill>
            <a:srgbClr val="2E77C2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leaf-4-2"/>
          <p:cNvSpPr/>
          <p:nvPr/>
        </p:nvSpPr>
        <p:spPr>
          <a:xfrm>
            <a:off x="9398000" y="2197100"/>
            <a:ext cx="1841500" cy="342900"/>
          </a:xfrm>
          <a:custGeom>
            <a:avLst/>
            <a:gdLst/>
            <a:ahLst/>
            <a:cxnLst/>
            <a:rect l="0" t="0" r="r" b="b"/>
            <a:pathLst>
              <a:path w="1841500" h="342900">
                <a:moveTo>
                  <a:pt x="88900" y="0"/>
                </a:moveTo>
                <a:lnTo>
                  <a:pt x="1752600" y="0"/>
                </a:lnTo>
                <a:cubicBezTo>
                  <a:pt x="1801686" y="0"/>
                  <a:pt x="1841500" y="39814"/>
                  <a:pt x="1841500" y="88900"/>
                </a:cubicBezTo>
                <a:lnTo>
                  <a:pt x="1841500" y="254000"/>
                </a:lnTo>
                <a:cubicBezTo>
                  <a:pt x="1841500" y="303086"/>
                  <a:pt x="1801686" y="342900"/>
                  <a:pt x="1752600" y="342900"/>
                </a:cubicBezTo>
                <a:lnTo>
                  <a:pt x="88900" y="342900"/>
                </a:lnTo>
                <a:cubicBezTo>
                  <a:pt x="39814" y="342900"/>
                  <a:pt x="0" y="303086"/>
                  <a:pt x="0" y="2540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leafb-4-2"/>
          <p:cNvSpPr/>
          <p:nvPr/>
        </p:nvSpPr>
        <p:spPr>
          <a:xfrm>
            <a:off x="11207750" y="2197100"/>
            <a:ext cx="31750" cy="342900"/>
          </a:xfrm>
          <a:custGeom>
            <a:avLst/>
            <a:gdLst/>
            <a:ahLst/>
            <a:cxnLst/>
            <a:rect l="0" t="0" r="r" b="b"/>
            <a:pathLst>
              <a:path w="31750" h="342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327025"/>
                </a:lnTo>
                <a:cubicBezTo>
                  <a:pt x="31750" y="335788"/>
                  <a:pt x="24638" y="342900"/>
                  <a:pt x="15875" y="342900"/>
                </a:cubicBezTo>
                <a:lnTo>
                  <a:pt x="15875" y="342900"/>
                </a:lnTo>
                <a:cubicBezTo>
                  <a:pt x="7112" y="342900"/>
                  <a:pt x="0" y="335788"/>
                  <a:pt x="0" y="327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leaft-4-2"/>
          <p:cNvSpPr txBox="1"/>
          <p:nvPr/>
        </p:nvSpPr>
        <p:spPr>
          <a:xfrm>
            <a:off x="9524365" y="2275761"/>
            <a:ext cx="7820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微服务与中台</a:t>
            </a:r>
          </a:p>
        </p:txBody>
      </p:sp>
      <p:sp>
        <p:nvSpPr>
          <p:cNvPr id="94" name="llead-4-2"/>
          <p:cNvSpPr/>
          <p:nvPr/>
        </p:nvSpPr>
        <p:spPr>
          <a:xfrm>
            <a:off x="9172810" y="2197100"/>
            <a:ext cx="225190" cy="171450"/>
          </a:xfrm>
          <a:custGeom>
            <a:avLst/>
            <a:gdLst/>
            <a:ahLst/>
            <a:cxnLst/>
            <a:rect l="0" t="0" r="r" b="b"/>
            <a:pathLst>
              <a:path w="225190" h="171450">
                <a:moveTo>
                  <a:pt x="60090" y="0"/>
                </a:moveTo>
                <a:lnTo>
                  <a:pt x="34690" y="0"/>
                </a:lnTo>
                <a:quadBezTo>
                  <a:pt x="-28810" y="0"/>
                  <a:pt x="23831" y="35496"/>
                </a:quadBezTo>
                <a:lnTo>
                  <a:pt x="225190" y="171450"/>
                </a:lnTo>
              </a:path>
            </a:pathLst>
          </a:custGeom>
          <a:noFill/>
          <a:ln w="8890" cap="rnd">
            <a:solidFill>
              <a:srgbClr val="2E77C2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ldot-4-2"/>
          <p:cNvSpPr/>
          <p:nvPr/>
        </p:nvSpPr>
        <p:spPr>
          <a:xfrm>
            <a:off x="9376410" y="2346960"/>
            <a:ext cx="43180" cy="43180"/>
          </a:xfrm>
          <a:prstGeom prst="ellipse">
            <a:avLst/>
          </a:prstGeom>
          <a:solidFill>
            <a:srgbClr val="2E77C2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leaf-4-3"/>
          <p:cNvSpPr/>
          <p:nvPr/>
        </p:nvSpPr>
        <p:spPr>
          <a:xfrm>
            <a:off x="9398000" y="2616200"/>
            <a:ext cx="1841500" cy="342900"/>
          </a:xfrm>
          <a:custGeom>
            <a:avLst/>
            <a:gdLst/>
            <a:ahLst/>
            <a:cxnLst/>
            <a:rect l="0" t="0" r="r" b="b"/>
            <a:pathLst>
              <a:path w="1841500" h="342900">
                <a:moveTo>
                  <a:pt x="88900" y="0"/>
                </a:moveTo>
                <a:lnTo>
                  <a:pt x="1752600" y="0"/>
                </a:lnTo>
                <a:cubicBezTo>
                  <a:pt x="1801686" y="0"/>
                  <a:pt x="1841500" y="39814"/>
                  <a:pt x="1841500" y="88900"/>
                </a:cubicBezTo>
                <a:lnTo>
                  <a:pt x="1841500" y="254000"/>
                </a:lnTo>
                <a:cubicBezTo>
                  <a:pt x="1841500" y="303086"/>
                  <a:pt x="1801686" y="342900"/>
                  <a:pt x="1752600" y="342900"/>
                </a:cubicBezTo>
                <a:lnTo>
                  <a:pt x="88900" y="342900"/>
                </a:lnTo>
                <a:cubicBezTo>
                  <a:pt x="39814" y="342900"/>
                  <a:pt x="0" y="303086"/>
                  <a:pt x="0" y="2540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leafb-4-3"/>
          <p:cNvSpPr/>
          <p:nvPr/>
        </p:nvSpPr>
        <p:spPr>
          <a:xfrm>
            <a:off x="11207750" y="2616200"/>
            <a:ext cx="31750" cy="342900"/>
          </a:xfrm>
          <a:custGeom>
            <a:avLst/>
            <a:gdLst/>
            <a:ahLst/>
            <a:cxnLst/>
            <a:rect l="0" t="0" r="r" b="b"/>
            <a:pathLst>
              <a:path w="31750" h="342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327025"/>
                </a:lnTo>
                <a:cubicBezTo>
                  <a:pt x="31750" y="335788"/>
                  <a:pt x="24638" y="342900"/>
                  <a:pt x="15875" y="342900"/>
                </a:cubicBezTo>
                <a:lnTo>
                  <a:pt x="15875" y="342900"/>
                </a:lnTo>
                <a:cubicBezTo>
                  <a:pt x="7112" y="342900"/>
                  <a:pt x="0" y="335788"/>
                  <a:pt x="0" y="327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leaft-4-3"/>
          <p:cNvSpPr txBox="1"/>
          <p:nvPr/>
        </p:nvSpPr>
        <p:spPr>
          <a:xfrm>
            <a:off x="9524365" y="2694861"/>
            <a:ext cx="7820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安全合规基线</a:t>
            </a:r>
          </a:p>
        </p:txBody>
      </p:sp>
      <p:sp>
        <p:nvSpPr>
          <p:cNvPr id="99" name="llead-4-3"/>
          <p:cNvSpPr/>
          <p:nvPr/>
        </p:nvSpPr>
        <p:spPr>
          <a:xfrm>
            <a:off x="9162057" y="2197100"/>
            <a:ext cx="235943" cy="590550"/>
          </a:xfrm>
          <a:custGeom>
            <a:avLst/>
            <a:gdLst/>
            <a:ahLst/>
            <a:cxnLst/>
            <a:rect l="0" t="0" r="r" b="b"/>
            <a:pathLst>
              <a:path w="235943" h="590550">
                <a:moveTo>
                  <a:pt x="70843" y="0"/>
                </a:moveTo>
                <a:lnTo>
                  <a:pt x="45443" y="0"/>
                </a:lnTo>
                <a:quadBezTo>
                  <a:pt x="-18057" y="0"/>
                  <a:pt x="7026" y="58356"/>
                </a:quadBezTo>
                <a:lnTo>
                  <a:pt x="235943" y="590550"/>
                </a:lnTo>
              </a:path>
            </a:pathLst>
          </a:custGeom>
          <a:noFill/>
          <a:ln w="8890" cap="rnd">
            <a:solidFill>
              <a:srgbClr val="2E77C2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ldot-4-3"/>
          <p:cNvSpPr/>
          <p:nvPr/>
        </p:nvSpPr>
        <p:spPr>
          <a:xfrm>
            <a:off x="9376410" y="2766060"/>
            <a:ext cx="43180" cy="43180"/>
          </a:xfrm>
          <a:prstGeom prst="ellipse">
            <a:avLst/>
          </a:prstGeom>
          <a:solidFill>
            <a:srgbClr val="2E77C2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m-link-5a"/>
          <p:cNvSpPr/>
          <p:nvPr/>
        </p:nvSpPr>
        <p:spPr>
          <a:xfrm>
            <a:off x="6845300" y="3784600"/>
            <a:ext cx="571500" cy="177800"/>
          </a:xfrm>
          <a:custGeom>
            <a:avLst/>
            <a:gdLst/>
            <a:ahLst/>
            <a:cxnLst/>
            <a:rect l="0" t="0" r="r" b="b"/>
            <a:pathLst>
              <a:path w="571500" h="177800">
                <a:moveTo>
                  <a:pt x="0" y="0"/>
                </a:moveTo>
                <a:lnTo>
                  <a:pt x="431800" y="0"/>
                </a:lnTo>
                <a:quadBezTo>
                  <a:pt x="571500" y="0"/>
                  <a:pt x="571500" y="139700"/>
                </a:quadBezTo>
                <a:lnTo>
                  <a:pt x="571500" y="177800"/>
                </a:lnTo>
              </a:path>
            </a:pathLst>
          </a:custGeom>
          <a:noFill/>
          <a:ln w="13970" cap="rnd">
            <a:solidFill>
              <a:srgbClr val="4694D7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02" name="m-link-5b"/>
          <p:cNvCxnSpPr/>
          <p:nvPr/>
        </p:nvCxnSpPr>
        <p:spPr>
          <a:xfrm>
            <a:off x="7416800" y="3962400"/>
            <a:ext cx="457200" cy="0"/>
          </a:xfrm>
          <a:prstGeom prst="line">
            <a:avLst/>
          </a:prstGeom>
          <a:ln w="13970" cap="rnd">
            <a:solidFill>
              <a:srgbClr val="4694D7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3" name="branch-5"/>
          <p:cNvSpPr/>
          <p:nvPr/>
        </p:nvSpPr>
        <p:spPr>
          <a:xfrm>
            <a:off x="7874000" y="3670300"/>
            <a:ext cx="1358900" cy="584200"/>
          </a:xfrm>
          <a:custGeom>
            <a:avLst/>
            <a:gdLst/>
            <a:ahLst/>
            <a:cxnLst/>
            <a:rect l="0" t="0" r="r" b="b"/>
            <a:pathLst>
              <a:path w="1358900" h="584200">
                <a:moveTo>
                  <a:pt x="114300" y="0"/>
                </a:moveTo>
                <a:lnTo>
                  <a:pt x="1244600" y="0"/>
                </a:lnTo>
                <a:cubicBezTo>
                  <a:pt x="1307719" y="0"/>
                  <a:pt x="1358900" y="51181"/>
                  <a:pt x="1358900" y="114300"/>
                </a:cubicBezTo>
                <a:lnTo>
                  <a:pt x="1358900" y="469900"/>
                </a:lnTo>
                <a:cubicBezTo>
                  <a:pt x="1358900" y="533019"/>
                  <a:pt x="1307719" y="584200"/>
                  <a:pt x="1244600" y="584200"/>
                </a:cubicBezTo>
                <a:lnTo>
                  <a:pt x="114300" y="584200"/>
                </a:lnTo>
                <a:cubicBezTo>
                  <a:pt x="51181" y="584200"/>
                  <a:pt x="0" y="533019"/>
                  <a:pt x="0" y="469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60A3DD"/>
              </a:gs>
              <a:gs pos="100000">
                <a:srgbClr val="4694D7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4" name="icon-hand"/>
          <p:cNvSpPr/>
          <p:nvPr/>
        </p:nvSpPr>
        <p:spPr>
          <a:xfrm>
            <a:off x="8093389" y="3894138"/>
            <a:ext cx="107636" cy="136525"/>
          </a:xfrm>
          <a:custGeom>
            <a:avLst/>
            <a:gdLst/>
            <a:ahLst/>
            <a:cxnLst/>
            <a:rect l="0" t="0" r="r" b="b"/>
            <a:pathLst>
              <a:path w="107636" h="136525">
                <a:moveTo>
                  <a:pt x="31436" y="73025"/>
                </a:moveTo>
                <a:lnTo>
                  <a:pt x="31436" y="22225"/>
                </a:lnTo>
                <a:cubicBezTo>
                  <a:pt x="31436" y="15240"/>
                  <a:pt x="37151" y="9525"/>
                  <a:pt x="44136" y="9525"/>
                </a:cubicBezTo>
                <a:cubicBezTo>
                  <a:pt x="51121" y="9525"/>
                  <a:pt x="56836" y="15240"/>
                  <a:pt x="56836" y="22225"/>
                </a:cubicBezTo>
                <a:lnTo>
                  <a:pt x="56836" y="61912"/>
                </a:lnTo>
                <a:moveTo>
                  <a:pt x="56836" y="61912"/>
                </a:moveTo>
                <a:lnTo>
                  <a:pt x="56836" y="12700"/>
                </a:lnTo>
                <a:cubicBezTo>
                  <a:pt x="56836" y="5715"/>
                  <a:pt x="62551" y="0"/>
                  <a:pt x="69536" y="0"/>
                </a:cubicBezTo>
                <a:cubicBezTo>
                  <a:pt x="76521" y="0"/>
                  <a:pt x="82236" y="5715"/>
                  <a:pt x="82236" y="12700"/>
                </a:cubicBezTo>
                <a:lnTo>
                  <a:pt x="82236" y="61912"/>
                </a:lnTo>
                <a:moveTo>
                  <a:pt x="82236" y="65088"/>
                </a:moveTo>
                <a:lnTo>
                  <a:pt x="82236" y="31750"/>
                </a:lnTo>
                <a:cubicBezTo>
                  <a:pt x="82236" y="24765"/>
                  <a:pt x="87951" y="19050"/>
                  <a:pt x="94936" y="19050"/>
                </a:cubicBezTo>
                <a:cubicBezTo>
                  <a:pt x="101921" y="19050"/>
                  <a:pt x="107636" y="24765"/>
                  <a:pt x="107636" y="31750"/>
                </a:cubicBezTo>
                <a:lnTo>
                  <a:pt x="107636" y="90488"/>
                </a:lnTo>
                <a:cubicBezTo>
                  <a:pt x="107636" y="115888"/>
                  <a:pt x="88586" y="136525"/>
                  <a:pt x="63186" y="136525"/>
                </a:cubicBezTo>
                <a:cubicBezTo>
                  <a:pt x="42549" y="136525"/>
                  <a:pt x="31436" y="127000"/>
                  <a:pt x="20324" y="111125"/>
                </a:cubicBezTo>
                <a:lnTo>
                  <a:pt x="1274" y="82550"/>
                </a:lnTo>
                <a:cubicBezTo>
                  <a:pt x="-1457" y="76899"/>
                  <a:pt x="321" y="70104"/>
                  <a:pt x="5465" y="66548"/>
                </a:cubicBezTo>
                <a:cubicBezTo>
                  <a:pt x="10608" y="62992"/>
                  <a:pt x="17593" y="63690"/>
                  <a:pt x="21911" y="68262"/>
                </a:cubicBezTo>
                <a:close/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bname-5"/>
          <p:cNvSpPr txBox="1"/>
          <p:nvPr/>
        </p:nvSpPr>
        <p:spPr>
          <a:xfrm>
            <a:off x="8338312" y="3831336"/>
            <a:ext cx="8102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客户体验</a:t>
            </a:r>
          </a:p>
        </p:txBody>
      </p:sp>
      <p:sp>
        <p:nvSpPr>
          <p:cNvPr id="106" name="bno-5"/>
          <p:cNvSpPr txBox="1"/>
          <p:nvPr/>
        </p:nvSpPr>
        <p:spPr>
          <a:xfrm>
            <a:off x="8938260" y="37099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FFFFFF">
                    <a:alpha val="50000"/>
                  </a:srgbClr>
                </a:solidFill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107" name="leaf-5-1"/>
          <p:cNvSpPr/>
          <p:nvPr/>
        </p:nvSpPr>
        <p:spPr>
          <a:xfrm>
            <a:off x="9398000" y="3543300"/>
            <a:ext cx="1841500" cy="342900"/>
          </a:xfrm>
          <a:custGeom>
            <a:avLst/>
            <a:gdLst/>
            <a:ahLst/>
            <a:cxnLst/>
            <a:rect l="0" t="0" r="r" b="b"/>
            <a:pathLst>
              <a:path w="1841500" h="342900">
                <a:moveTo>
                  <a:pt x="88900" y="0"/>
                </a:moveTo>
                <a:lnTo>
                  <a:pt x="1752600" y="0"/>
                </a:lnTo>
                <a:cubicBezTo>
                  <a:pt x="1801686" y="0"/>
                  <a:pt x="1841500" y="39814"/>
                  <a:pt x="1841500" y="88900"/>
                </a:cubicBezTo>
                <a:lnTo>
                  <a:pt x="1841500" y="254000"/>
                </a:lnTo>
                <a:cubicBezTo>
                  <a:pt x="1841500" y="303086"/>
                  <a:pt x="1801686" y="342900"/>
                  <a:pt x="1752600" y="342900"/>
                </a:cubicBezTo>
                <a:lnTo>
                  <a:pt x="88900" y="342900"/>
                </a:lnTo>
                <a:cubicBezTo>
                  <a:pt x="39814" y="342900"/>
                  <a:pt x="0" y="303086"/>
                  <a:pt x="0" y="2540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8" name="leafb-5-1"/>
          <p:cNvSpPr/>
          <p:nvPr/>
        </p:nvSpPr>
        <p:spPr>
          <a:xfrm>
            <a:off x="11207750" y="3543300"/>
            <a:ext cx="31750" cy="342900"/>
          </a:xfrm>
          <a:custGeom>
            <a:avLst/>
            <a:gdLst/>
            <a:ahLst/>
            <a:cxnLst/>
            <a:rect l="0" t="0" r="r" b="b"/>
            <a:pathLst>
              <a:path w="31750" h="342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327025"/>
                </a:lnTo>
                <a:cubicBezTo>
                  <a:pt x="31750" y="335788"/>
                  <a:pt x="24638" y="342900"/>
                  <a:pt x="15875" y="342900"/>
                </a:cubicBezTo>
                <a:lnTo>
                  <a:pt x="15875" y="342900"/>
                </a:lnTo>
                <a:cubicBezTo>
                  <a:pt x="7112" y="342900"/>
                  <a:pt x="0" y="335788"/>
                  <a:pt x="0" y="327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leaft-5-1"/>
          <p:cNvSpPr txBox="1"/>
          <p:nvPr/>
        </p:nvSpPr>
        <p:spPr>
          <a:xfrm>
            <a:off x="9524365" y="3621961"/>
            <a:ext cx="8956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全渠道触点打通</a:t>
            </a:r>
          </a:p>
        </p:txBody>
      </p:sp>
      <p:sp>
        <p:nvSpPr>
          <p:cNvPr id="110" name="llead-5-1"/>
          <p:cNvSpPr/>
          <p:nvPr/>
        </p:nvSpPr>
        <p:spPr>
          <a:xfrm>
            <a:off x="9170540" y="3714750"/>
            <a:ext cx="227460" cy="247650"/>
          </a:xfrm>
          <a:custGeom>
            <a:avLst/>
            <a:gdLst/>
            <a:ahLst/>
            <a:cxnLst/>
            <a:rect l="0" t="0" r="r" b="b"/>
            <a:pathLst>
              <a:path w="227460" h="247650">
                <a:moveTo>
                  <a:pt x="62360" y="247650"/>
                </a:moveTo>
                <a:lnTo>
                  <a:pt x="36960" y="247650"/>
                </a:lnTo>
                <a:quadBezTo>
                  <a:pt x="-26540" y="247650"/>
                  <a:pt x="18926" y="203327"/>
                </a:quadBezTo>
                <a:lnTo>
                  <a:pt x="227460" y="0"/>
                </a:lnTo>
              </a:path>
            </a:pathLst>
          </a:custGeom>
          <a:noFill/>
          <a:ln w="8890" cap="rnd">
            <a:solidFill>
              <a:srgbClr val="4694D7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1" name="ldot-5-1"/>
          <p:cNvSpPr/>
          <p:nvPr/>
        </p:nvSpPr>
        <p:spPr>
          <a:xfrm>
            <a:off x="9376410" y="3693160"/>
            <a:ext cx="43180" cy="43180"/>
          </a:xfrm>
          <a:prstGeom prst="ellipse">
            <a:avLst/>
          </a:prstGeom>
          <a:solidFill>
            <a:srgbClr val="4694D7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2" name="leaf-5-2"/>
          <p:cNvSpPr/>
          <p:nvPr/>
        </p:nvSpPr>
        <p:spPr>
          <a:xfrm>
            <a:off x="9398000" y="3962400"/>
            <a:ext cx="1841500" cy="342900"/>
          </a:xfrm>
          <a:custGeom>
            <a:avLst/>
            <a:gdLst/>
            <a:ahLst/>
            <a:cxnLst/>
            <a:rect l="0" t="0" r="r" b="b"/>
            <a:pathLst>
              <a:path w="1841500" h="342900">
                <a:moveTo>
                  <a:pt x="88900" y="0"/>
                </a:moveTo>
                <a:lnTo>
                  <a:pt x="1752600" y="0"/>
                </a:lnTo>
                <a:cubicBezTo>
                  <a:pt x="1801686" y="0"/>
                  <a:pt x="1841500" y="39814"/>
                  <a:pt x="1841500" y="88900"/>
                </a:cubicBezTo>
                <a:lnTo>
                  <a:pt x="1841500" y="254000"/>
                </a:lnTo>
                <a:cubicBezTo>
                  <a:pt x="1841500" y="303086"/>
                  <a:pt x="1801686" y="342900"/>
                  <a:pt x="1752600" y="342900"/>
                </a:cubicBezTo>
                <a:lnTo>
                  <a:pt x="88900" y="342900"/>
                </a:lnTo>
                <a:cubicBezTo>
                  <a:pt x="39814" y="342900"/>
                  <a:pt x="0" y="303086"/>
                  <a:pt x="0" y="2540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3" name="leafb-5-2"/>
          <p:cNvSpPr/>
          <p:nvPr/>
        </p:nvSpPr>
        <p:spPr>
          <a:xfrm>
            <a:off x="11207750" y="3962400"/>
            <a:ext cx="31750" cy="342900"/>
          </a:xfrm>
          <a:custGeom>
            <a:avLst/>
            <a:gdLst/>
            <a:ahLst/>
            <a:cxnLst/>
            <a:rect l="0" t="0" r="r" b="b"/>
            <a:pathLst>
              <a:path w="31750" h="342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327025"/>
                </a:lnTo>
                <a:cubicBezTo>
                  <a:pt x="31750" y="335788"/>
                  <a:pt x="24638" y="342900"/>
                  <a:pt x="15875" y="342900"/>
                </a:cubicBezTo>
                <a:lnTo>
                  <a:pt x="15875" y="342900"/>
                </a:lnTo>
                <a:cubicBezTo>
                  <a:pt x="7112" y="342900"/>
                  <a:pt x="0" y="335788"/>
                  <a:pt x="0" y="327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4" name="leaft-5-2"/>
          <p:cNvSpPr txBox="1"/>
          <p:nvPr/>
        </p:nvSpPr>
        <p:spPr>
          <a:xfrm>
            <a:off x="9524365" y="4041061"/>
            <a:ext cx="7820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自助服务门户</a:t>
            </a:r>
          </a:p>
        </p:txBody>
      </p:sp>
      <p:sp>
        <p:nvSpPr>
          <p:cNvPr id="115" name="llead-5-2"/>
          <p:cNvSpPr/>
          <p:nvPr/>
        </p:nvSpPr>
        <p:spPr>
          <a:xfrm>
            <a:off x="9172810" y="3962400"/>
            <a:ext cx="225190" cy="171450"/>
          </a:xfrm>
          <a:custGeom>
            <a:avLst/>
            <a:gdLst/>
            <a:ahLst/>
            <a:cxnLst/>
            <a:rect l="0" t="0" r="r" b="b"/>
            <a:pathLst>
              <a:path w="225190" h="171450">
                <a:moveTo>
                  <a:pt x="60090" y="0"/>
                </a:moveTo>
                <a:lnTo>
                  <a:pt x="34690" y="0"/>
                </a:lnTo>
                <a:quadBezTo>
                  <a:pt x="-28810" y="0"/>
                  <a:pt x="23831" y="35497"/>
                </a:quadBezTo>
                <a:lnTo>
                  <a:pt x="225190" y="171450"/>
                </a:lnTo>
              </a:path>
            </a:pathLst>
          </a:custGeom>
          <a:noFill/>
          <a:ln w="8890" cap="rnd">
            <a:solidFill>
              <a:srgbClr val="4694D7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6" name="ldot-5-2"/>
          <p:cNvSpPr/>
          <p:nvPr/>
        </p:nvSpPr>
        <p:spPr>
          <a:xfrm>
            <a:off x="9376410" y="4112260"/>
            <a:ext cx="43180" cy="43180"/>
          </a:xfrm>
          <a:prstGeom prst="ellipse">
            <a:avLst/>
          </a:prstGeom>
          <a:solidFill>
            <a:srgbClr val="4694D7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7" name="leaf-5-3"/>
          <p:cNvSpPr/>
          <p:nvPr/>
        </p:nvSpPr>
        <p:spPr>
          <a:xfrm>
            <a:off x="9398000" y="4381500"/>
            <a:ext cx="1841500" cy="342900"/>
          </a:xfrm>
          <a:custGeom>
            <a:avLst/>
            <a:gdLst/>
            <a:ahLst/>
            <a:cxnLst/>
            <a:rect l="0" t="0" r="r" b="b"/>
            <a:pathLst>
              <a:path w="1841500" h="342900">
                <a:moveTo>
                  <a:pt x="88900" y="0"/>
                </a:moveTo>
                <a:lnTo>
                  <a:pt x="1752600" y="0"/>
                </a:lnTo>
                <a:cubicBezTo>
                  <a:pt x="1801686" y="0"/>
                  <a:pt x="1841500" y="39814"/>
                  <a:pt x="1841500" y="88900"/>
                </a:cubicBezTo>
                <a:lnTo>
                  <a:pt x="1841500" y="254000"/>
                </a:lnTo>
                <a:cubicBezTo>
                  <a:pt x="1841500" y="303086"/>
                  <a:pt x="1801686" y="342900"/>
                  <a:pt x="1752600" y="342900"/>
                </a:cubicBezTo>
                <a:lnTo>
                  <a:pt x="88900" y="342900"/>
                </a:lnTo>
                <a:cubicBezTo>
                  <a:pt x="39814" y="342900"/>
                  <a:pt x="0" y="303086"/>
                  <a:pt x="0" y="2540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8" name="leafb-5-3"/>
          <p:cNvSpPr/>
          <p:nvPr/>
        </p:nvSpPr>
        <p:spPr>
          <a:xfrm>
            <a:off x="11207750" y="4381500"/>
            <a:ext cx="31750" cy="342900"/>
          </a:xfrm>
          <a:custGeom>
            <a:avLst/>
            <a:gdLst/>
            <a:ahLst/>
            <a:cxnLst/>
            <a:rect l="0" t="0" r="r" b="b"/>
            <a:pathLst>
              <a:path w="31750" h="342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327025"/>
                </a:lnTo>
                <a:cubicBezTo>
                  <a:pt x="31750" y="335788"/>
                  <a:pt x="24638" y="342900"/>
                  <a:pt x="15875" y="342900"/>
                </a:cubicBezTo>
                <a:lnTo>
                  <a:pt x="15875" y="342900"/>
                </a:lnTo>
                <a:cubicBezTo>
                  <a:pt x="7112" y="342900"/>
                  <a:pt x="0" y="335788"/>
                  <a:pt x="0" y="327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9" name="leaft-5-3"/>
          <p:cNvSpPr txBox="1"/>
          <p:nvPr/>
        </p:nvSpPr>
        <p:spPr>
          <a:xfrm>
            <a:off x="9524365" y="4460161"/>
            <a:ext cx="7820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响应时效提升</a:t>
            </a:r>
          </a:p>
        </p:txBody>
      </p:sp>
      <p:sp>
        <p:nvSpPr>
          <p:cNvPr id="120" name="llead-5-3"/>
          <p:cNvSpPr/>
          <p:nvPr/>
        </p:nvSpPr>
        <p:spPr>
          <a:xfrm>
            <a:off x="9162057" y="3962400"/>
            <a:ext cx="235943" cy="590550"/>
          </a:xfrm>
          <a:custGeom>
            <a:avLst/>
            <a:gdLst/>
            <a:ahLst/>
            <a:cxnLst/>
            <a:rect l="0" t="0" r="r" b="b"/>
            <a:pathLst>
              <a:path w="235943" h="590550">
                <a:moveTo>
                  <a:pt x="70843" y="0"/>
                </a:moveTo>
                <a:lnTo>
                  <a:pt x="45443" y="0"/>
                </a:lnTo>
                <a:quadBezTo>
                  <a:pt x="-18057" y="0"/>
                  <a:pt x="7026" y="58357"/>
                </a:quadBezTo>
                <a:lnTo>
                  <a:pt x="235943" y="590550"/>
                </a:lnTo>
              </a:path>
            </a:pathLst>
          </a:custGeom>
          <a:noFill/>
          <a:ln w="8890" cap="rnd">
            <a:solidFill>
              <a:srgbClr val="4694D7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1" name="ldot-5-3"/>
          <p:cNvSpPr/>
          <p:nvPr/>
        </p:nvSpPr>
        <p:spPr>
          <a:xfrm>
            <a:off x="9376410" y="4531360"/>
            <a:ext cx="43180" cy="43180"/>
          </a:xfrm>
          <a:prstGeom prst="ellipse">
            <a:avLst/>
          </a:prstGeom>
          <a:solidFill>
            <a:srgbClr val="4694D7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2" name="m-link-6a"/>
          <p:cNvSpPr/>
          <p:nvPr/>
        </p:nvSpPr>
        <p:spPr>
          <a:xfrm>
            <a:off x="6845300" y="3784600"/>
            <a:ext cx="571500" cy="1943100"/>
          </a:xfrm>
          <a:custGeom>
            <a:avLst/>
            <a:gdLst/>
            <a:ahLst/>
            <a:cxnLst/>
            <a:rect l="0" t="0" r="r" b="b"/>
            <a:pathLst>
              <a:path w="571500" h="1943100">
                <a:moveTo>
                  <a:pt x="0" y="0"/>
                </a:moveTo>
                <a:lnTo>
                  <a:pt x="431800" y="0"/>
                </a:lnTo>
                <a:quadBezTo>
                  <a:pt x="571500" y="0"/>
                  <a:pt x="571500" y="139700"/>
                </a:quadBezTo>
                <a:lnTo>
                  <a:pt x="571500" y="1943100"/>
                </a:lnTo>
              </a:path>
            </a:pathLst>
          </a:custGeom>
          <a:noFill/>
          <a:ln w="13970" cap="rnd">
            <a:solidFill>
              <a:srgbClr val="54A2DF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23" name="m-link-6b"/>
          <p:cNvCxnSpPr/>
          <p:nvPr/>
        </p:nvCxnSpPr>
        <p:spPr>
          <a:xfrm>
            <a:off x="7416800" y="5727700"/>
            <a:ext cx="457200" cy="0"/>
          </a:xfrm>
          <a:prstGeom prst="line">
            <a:avLst/>
          </a:prstGeom>
          <a:ln w="13970" cap="rnd">
            <a:solidFill>
              <a:srgbClr val="54A2DF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4" name="branch-6"/>
          <p:cNvSpPr/>
          <p:nvPr/>
        </p:nvSpPr>
        <p:spPr>
          <a:xfrm>
            <a:off x="7874000" y="5435600"/>
            <a:ext cx="1358900" cy="584200"/>
          </a:xfrm>
          <a:custGeom>
            <a:avLst/>
            <a:gdLst/>
            <a:ahLst/>
            <a:cxnLst/>
            <a:rect l="0" t="0" r="r" b="b"/>
            <a:pathLst>
              <a:path w="1358900" h="584200">
                <a:moveTo>
                  <a:pt x="114300" y="0"/>
                </a:moveTo>
                <a:lnTo>
                  <a:pt x="1244600" y="0"/>
                </a:lnTo>
                <a:cubicBezTo>
                  <a:pt x="1307719" y="0"/>
                  <a:pt x="1358900" y="51181"/>
                  <a:pt x="1358900" y="114300"/>
                </a:cubicBezTo>
                <a:lnTo>
                  <a:pt x="1358900" y="469900"/>
                </a:lnTo>
                <a:cubicBezTo>
                  <a:pt x="1358900" y="533019"/>
                  <a:pt x="1307719" y="584200"/>
                  <a:pt x="1244600" y="584200"/>
                </a:cubicBezTo>
                <a:lnTo>
                  <a:pt x="114300" y="584200"/>
                </a:lnTo>
                <a:cubicBezTo>
                  <a:pt x="51181" y="584200"/>
                  <a:pt x="0" y="533019"/>
                  <a:pt x="0" y="469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6CAFE3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5" name="icon-grow"/>
          <p:cNvSpPr/>
          <p:nvPr/>
        </p:nvSpPr>
        <p:spPr>
          <a:xfrm>
            <a:off x="8086725" y="5697538"/>
            <a:ext cx="119062" cy="74612"/>
          </a:xfrm>
          <a:custGeom>
            <a:avLst/>
            <a:gdLst/>
            <a:ahLst/>
            <a:cxnLst/>
            <a:rect l="0" t="0" r="r" b="b"/>
            <a:pathLst>
              <a:path w="119062" h="74612">
                <a:moveTo>
                  <a:pt x="0" y="74612"/>
                </a:moveTo>
                <a:lnTo>
                  <a:pt x="39688" y="31750"/>
                </a:lnTo>
                <a:lnTo>
                  <a:pt x="68262" y="55562"/>
                </a:lnTo>
                <a:lnTo>
                  <a:pt x="115888" y="0"/>
                </a:lnTo>
                <a:moveTo>
                  <a:pt x="96838" y="0"/>
                </a:moveTo>
                <a:lnTo>
                  <a:pt x="119062" y="0"/>
                </a:lnTo>
                <a:lnTo>
                  <a:pt x="119062" y="22225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6" name="bname-6"/>
          <p:cNvSpPr txBox="1"/>
          <p:nvPr/>
        </p:nvSpPr>
        <p:spPr>
          <a:xfrm>
            <a:off x="8338312" y="5596636"/>
            <a:ext cx="8102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价值闭环</a:t>
            </a:r>
          </a:p>
        </p:txBody>
      </p:sp>
      <p:sp>
        <p:nvSpPr>
          <p:cNvPr id="127" name="bno-6"/>
          <p:cNvSpPr txBox="1"/>
          <p:nvPr/>
        </p:nvSpPr>
        <p:spPr>
          <a:xfrm>
            <a:off x="8938260" y="54752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FFFFFF">
                    <a:alpha val="50000"/>
                  </a:srgbClr>
                </a:solidFill>
                <a:latin typeface="Arial"/>
                <a:ea typeface="Arial"/>
                <a:cs typeface="Arial"/>
              </a:rPr>
              <a:t>06</a:t>
            </a:r>
          </a:p>
        </p:txBody>
      </p:sp>
      <p:sp>
        <p:nvSpPr>
          <p:cNvPr id="128" name="leaf-6-1"/>
          <p:cNvSpPr/>
          <p:nvPr/>
        </p:nvSpPr>
        <p:spPr>
          <a:xfrm>
            <a:off x="9398000" y="5308600"/>
            <a:ext cx="1841500" cy="342900"/>
          </a:xfrm>
          <a:custGeom>
            <a:avLst/>
            <a:gdLst/>
            <a:ahLst/>
            <a:cxnLst/>
            <a:rect l="0" t="0" r="r" b="b"/>
            <a:pathLst>
              <a:path w="1841500" h="342900">
                <a:moveTo>
                  <a:pt x="88900" y="0"/>
                </a:moveTo>
                <a:lnTo>
                  <a:pt x="1752600" y="0"/>
                </a:lnTo>
                <a:cubicBezTo>
                  <a:pt x="1801686" y="0"/>
                  <a:pt x="1841500" y="39814"/>
                  <a:pt x="1841500" y="88900"/>
                </a:cubicBezTo>
                <a:lnTo>
                  <a:pt x="1841500" y="254000"/>
                </a:lnTo>
                <a:cubicBezTo>
                  <a:pt x="1841500" y="303086"/>
                  <a:pt x="1801686" y="342900"/>
                  <a:pt x="1752600" y="342900"/>
                </a:cubicBezTo>
                <a:lnTo>
                  <a:pt x="88900" y="342900"/>
                </a:lnTo>
                <a:cubicBezTo>
                  <a:pt x="39814" y="342900"/>
                  <a:pt x="0" y="303086"/>
                  <a:pt x="0" y="2540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9" name="leafb-6-1"/>
          <p:cNvSpPr/>
          <p:nvPr/>
        </p:nvSpPr>
        <p:spPr>
          <a:xfrm>
            <a:off x="11207750" y="5308600"/>
            <a:ext cx="31750" cy="342900"/>
          </a:xfrm>
          <a:custGeom>
            <a:avLst/>
            <a:gdLst/>
            <a:ahLst/>
            <a:cxnLst/>
            <a:rect l="0" t="0" r="r" b="b"/>
            <a:pathLst>
              <a:path w="31750" h="342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327025"/>
                </a:lnTo>
                <a:cubicBezTo>
                  <a:pt x="31750" y="335788"/>
                  <a:pt x="24638" y="342900"/>
                  <a:pt x="15875" y="342900"/>
                </a:cubicBezTo>
                <a:lnTo>
                  <a:pt x="15875" y="342900"/>
                </a:lnTo>
                <a:cubicBezTo>
                  <a:pt x="7112" y="342900"/>
                  <a:pt x="0" y="335788"/>
                  <a:pt x="0" y="327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0" name="leaft-6-1"/>
          <p:cNvSpPr txBox="1"/>
          <p:nvPr/>
        </p:nvSpPr>
        <p:spPr>
          <a:xfrm>
            <a:off x="9524365" y="5387261"/>
            <a:ext cx="8956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投入产出可度量</a:t>
            </a:r>
          </a:p>
        </p:txBody>
      </p:sp>
      <p:sp>
        <p:nvSpPr>
          <p:cNvPr id="131" name="llead-6-1"/>
          <p:cNvSpPr/>
          <p:nvPr/>
        </p:nvSpPr>
        <p:spPr>
          <a:xfrm>
            <a:off x="9170540" y="5480050"/>
            <a:ext cx="227460" cy="247650"/>
          </a:xfrm>
          <a:custGeom>
            <a:avLst/>
            <a:gdLst/>
            <a:ahLst/>
            <a:cxnLst/>
            <a:rect l="0" t="0" r="r" b="b"/>
            <a:pathLst>
              <a:path w="227460" h="247650">
                <a:moveTo>
                  <a:pt x="62360" y="247650"/>
                </a:moveTo>
                <a:lnTo>
                  <a:pt x="36960" y="247650"/>
                </a:lnTo>
                <a:quadBezTo>
                  <a:pt x="-26540" y="247650"/>
                  <a:pt x="18926" y="203327"/>
                </a:quadBezTo>
                <a:lnTo>
                  <a:pt x="227460" y="0"/>
                </a:lnTo>
              </a:path>
            </a:pathLst>
          </a:custGeom>
          <a:noFill/>
          <a:ln w="8890" cap="rnd">
            <a:solidFill>
              <a:srgbClr val="54A2DF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2" name="ldot-6-1"/>
          <p:cNvSpPr/>
          <p:nvPr/>
        </p:nvSpPr>
        <p:spPr>
          <a:xfrm>
            <a:off x="9376410" y="5458460"/>
            <a:ext cx="43180" cy="43180"/>
          </a:xfrm>
          <a:prstGeom prst="ellipse">
            <a:avLst/>
          </a:prstGeom>
          <a:solidFill>
            <a:srgbClr val="54A2DF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3" name="leaf-6-2"/>
          <p:cNvSpPr/>
          <p:nvPr/>
        </p:nvSpPr>
        <p:spPr>
          <a:xfrm>
            <a:off x="9398000" y="5727700"/>
            <a:ext cx="1841500" cy="342900"/>
          </a:xfrm>
          <a:custGeom>
            <a:avLst/>
            <a:gdLst/>
            <a:ahLst/>
            <a:cxnLst/>
            <a:rect l="0" t="0" r="r" b="b"/>
            <a:pathLst>
              <a:path w="1841500" h="342900">
                <a:moveTo>
                  <a:pt x="88900" y="0"/>
                </a:moveTo>
                <a:lnTo>
                  <a:pt x="1752600" y="0"/>
                </a:lnTo>
                <a:cubicBezTo>
                  <a:pt x="1801686" y="0"/>
                  <a:pt x="1841500" y="39814"/>
                  <a:pt x="1841500" y="88900"/>
                </a:cubicBezTo>
                <a:lnTo>
                  <a:pt x="1841500" y="254000"/>
                </a:lnTo>
                <a:cubicBezTo>
                  <a:pt x="1841500" y="303086"/>
                  <a:pt x="1801686" y="342900"/>
                  <a:pt x="1752600" y="342900"/>
                </a:cubicBezTo>
                <a:lnTo>
                  <a:pt x="88900" y="342900"/>
                </a:lnTo>
                <a:cubicBezTo>
                  <a:pt x="39814" y="342900"/>
                  <a:pt x="0" y="303086"/>
                  <a:pt x="0" y="2540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4" name="leafb-6-2"/>
          <p:cNvSpPr/>
          <p:nvPr/>
        </p:nvSpPr>
        <p:spPr>
          <a:xfrm>
            <a:off x="11207750" y="5727700"/>
            <a:ext cx="31750" cy="342900"/>
          </a:xfrm>
          <a:custGeom>
            <a:avLst/>
            <a:gdLst/>
            <a:ahLst/>
            <a:cxnLst/>
            <a:rect l="0" t="0" r="r" b="b"/>
            <a:pathLst>
              <a:path w="31750" h="342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327025"/>
                </a:lnTo>
                <a:cubicBezTo>
                  <a:pt x="31750" y="335788"/>
                  <a:pt x="24638" y="342900"/>
                  <a:pt x="15875" y="342900"/>
                </a:cubicBezTo>
                <a:lnTo>
                  <a:pt x="15875" y="342900"/>
                </a:lnTo>
                <a:cubicBezTo>
                  <a:pt x="7112" y="342900"/>
                  <a:pt x="0" y="335788"/>
                  <a:pt x="0" y="327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5" name="leaft-6-2"/>
          <p:cNvSpPr txBox="1"/>
          <p:nvPr/>
        </p:nvSpPr>
        <p:spPr>
          <a:xfrm>
            <a:off x="9524365" y="5806361"/>
            <a:ext cx="7820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季度复盘机制</a:t>
            </a:r>
          </a:p>
        </p:txBody>
      </p:sp>
      <p:sp>
        <p:nvSpPr>
          <p:cNvPr id="136" name="llead-6-2"/>
          <p:cNvSpPr/>
          <p:nvPr/>
        </p:nvSpPr>
        <p:spPr>
          <a:xfrm>
            <a:off x="9172810" y="5727700"/>
            <a:ext cx="225190" cy="171450"/>
          </a:xfrm>
          <a:custGeom>
            <a:avLst/>
            <a:gdLst/>
            <a:ahLst/>
            <a:cxnLst/>
            <a:rect l="0" t="0" r="r" b="b"/>
            <a:pathLst>
              <a:path w="225190" h="171450">
                <a:moveTo>
                  <a:pt x="60090" y="0"/>
                </a:moveTo>
                <a:lnTo>
                  <a:pt x="34690" y="0"/>
                </a:lnTo>
                <a:quadBezTo>
                  <a:pt x="-28810" y="0"/>
                  <a:pt x="23831" y="35497"/>
                </a:quadBezTo>
                <a:lnTo>
                  <a:pt x="225190" y="171450"/>
                </a:lnTo>
              </a:path>
            </a:pathLst>
          </a:custGeom>
          <a:noFill/>
          <a:ln w="8890" cap="rnd">
            <a:solidFill>
              <a:srgbClr val="54A2DF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7" name="ldot-6-2"/>
          <p:cNvSpPr/>
          <p:nvPr/>
        </p:nvSpPr>
        <p:spPr>
          <a:xfrm>
            <a:off x="9376410" y="5877560"/>
            <a:ext cx="43180" cy="43180"/>
          </a:xfrm>
          <a:prstGeom prst="ellipse">
            <a:avLst/>
          </a:prstGeom>
          <a:solidFill>
            <a:srgbClr val="54A2DF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8" name="leaf-6-3"/>
          <p:cNvSpPr/>
          <p:nvPr/>
        </p:nvSpPr>
        <p:spPr>
          <a:xfrm>
            <a:off x="9398000" y="6146800"/>
            <a:ext cx="1841500" cy="342900"/>
          </a:xfrm>
          <a:custGeom>
            <a:avLst/>
            <a:gdLst/>
            <a:ahLst/>
            <a:cxnLst/>
            <a:rect l="0" t="0" r="r" b="b"/>
            <a:pathLst>
              <a:path w="1841500" h="342900">
                <a:moveTo>
                  <a:pt x="88900" y="0"/>
                </a:moveTo>
                <a:lnTo>
                  <a:pt x="1752600" y="0"/>
                </a:lnTo>
                <a:cubicBezTo>
                  <a:pt x="1801686" y="0"/>
                  <a:pt x="1841500" y="39814"/>
                  <a:pt x="1841500" y="88900"/>
                </a:cubicBezTo>
                <a:lnTo>
                  <a:pt x="1841500" y="254000"/>
                </a:lnTo>
                <a:cubicBezTo>
                  <a:pt x="1841500" y="303086"/>
                  <a:pt x="1801686" y="342900"/>
                  <a:pt x="1752600" y="342900"/>
                </a:cubicBezTo>
                <a:lnTo>
                  <a:pt x="88900" y="342900"/>
                </a:lnTo>
                <a:cubicBezTo>
                  <a:pt x="39814" y="342900"/>
                  <a:pt x="0" y="303086"/>
                  <a:pt x="0" y="2540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9" name="leafb-6-3"/>
          <p:cNvSpPr/>
          <p:nvPr/>
        </p:nvSpPr>
        <p:spPr>
          <a:xfrm>
            <a:off x="11207750" y="6146800"/>
            <a:ext cx="31750" cy="342900"/>
          </a:xfrm>
          <a:custGeom>
            <a:avLst/>
            <a:gdLst/>
            <a:ahLst/>
            <a:cxnLst/>
            <a:rect l="0" t="0" r="r" b="b"/>
            <a:pathLst>
              <a:path w="31750" h="342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327025"/>
                </a:lnTo>
                <a:cubicBezTo>
                  <a:pt x="31750" y="335788"/>
                  <a:pt x="24638" y="342900"/>
                  <a:pt x="15875" y="342900"/>
                </a:cubicBezTo>
                <a:lnTo>
                  <a:pt x="15875" y="342900"/>
                </a:lnTo>
                <a:cubicBezTo>
                  <a:pt x="7112" y="342900"/>
                  <a:pt x="0" y="335788"/>
                  <a:pt x="0" y="327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0" name="leaft-6-3"/>
          <p:cNvSpPr txBox="1"/>
          <p:nvPr/>
        </p:nvSpPr>
        <p:spPr>
          <a:xfrm>
            <a:off x="9524365" y="6225461"/>
            <a:ext cx="7820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标杆场景复制</a:t>
            </a:r>
          </a:p>
        </p:txBody>
      </p:sp>
      <p:sp>
        <p:nvSpPr>
          <p:cNvPr id="141" name="llead-6-3"/>
          <p:cNvSpPr/>
          <p:nvPr/>
        </p:nvSpPr>
        <p:spPr>
          <a:xfrm>
            <a:off x="9162057" y="5727700"/>
            <a:ext cx="235943" cy="590550"/>
          </a:xfrm>
          <a:custGeom>
            <a:avLst/>
            <a:gdLst/>
            <a:ahLst/>
            <a:cxnLst/>
            <a:rect l="0" t="0" r="r" b="b"/>
            <a:pathLst>
              <a:path w="235943" h="590550">
                <a:moveTo>
                  <a:pt x="70843" y="0"/>
                </a:moveTo>
                <a:lnTo>
                  <a:pt x="45443" y="0"/>
                </a:lnTo>
                <a:quadBezTo>
                  <a:pt x="-18057" y="0"/>
                  <a:pt x="7026" y="58357"/>
                </a:quadBezTo>
                <a:lnTo>
                  <a:pt x="235943" y="590550"/>
                </a:lnTo>
              </a:path>
            </a:pathLst>
          </a:custGeom>
          <a:noFill/>
          <a:ln w="8890" cap="rnd">
            <a:solidFill>
              <a:srgbClr val="54A2DF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2" name="ldot-6-3"/>
          <p:cNvSpPr/>
          <p:nvPr/>
        </p:nvSpPr>
        <p:spPr>
          <a:xfrm>
            <a:off x="9376410" y="6296660"/>
            <a:ext cx="43180" cy="43180"/>
          </a:xfrm>
          <a:prstGeom prst="ellipse">
            <a:avLst/>
          </a:prstGeom>
          <a:solidFill>
            <a:srgbClr val="54A2DF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43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4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思维导图 · 六大主干</a:t>
            </a:r>
          </a:p>
        </p:txBody>
      </p:sp>
      <p:sp>
        <p:nvSpPr>
          <p:cNvPr id="145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三大体系联动机制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08165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GEAR SYSTEM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437499" y="673132"/>
            <a:ext cx="31832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战略、运营与技术三套齿轮咬合，任何一环停转都会拖慢整体</a:t>
            </a:r>
          </a:p>
        </p:txBody>
      </p:sp>
      <p:sp>
        <p:nvSpPr>
          <p:cNvPr id="10" name="gear-战略牵引"/>
          <p:cNvSpPr/>
          <p:nvPr/>
        </p:nvSpPr>
        <p:spPr>
          <a:xfrm>
            <a:off x="2433066" y="2187560"/>
            <a:ext cx="2753868" cy="2736880"/>
          </a:xfrm>
          <a:custGeom>
            <a:avLst/>
            <a:gdLst/>
            <a:ahLst/>
            <a:cxnLst/>
            <a:rect l="0" t="0" r="r" b="b"/>
            <a:pathLst>
              <a:path w="2753868" h="2736880">
                <a:moveTo>
                  <a:pt x="2603944" y="1175971"/>
                </a:moveTo>
                <a:quadBezTo>
                  <a:pt x="2610993" y="1206896"/>
                  <a:pt x="2642489" y="1211087"/>
                </a:quadBezTo>
                <a:lnTo>
                  <a:pt x="2722372" y="1221628"/>
                </a:lnTo>
                <a:quadBezTo>
                  <a:pt x="2753868" y="1225819"/>
                  <a:pt x="2753868" y="1257569"/>
                </a:quadBezTo>
                <a:lnTo>
                  <a:pt x="2753868" y="1479311"/>
                </a:lnTo>
                <a:quadBezTo>
                  <a:pt x="2753868" y="1511061"/>
                  <a:pt x="2722372" y="1515252"/>
                </a:quadBezTo>
                <a:lnTo>
                  <a:pt x="2642489" y="1525793"/>
                </a:lnTo>
                <a:quadBezTo>
                  <a:pt x="2610993" y="1529984"/>
                  <a:pt x="2603944" y="1560908"/>
                </a:quadBezTo>
                <a:lnTo>
                  <a:pt x="2565972" y="1727405"/>
                </a:lnTo>
                <a:quadBezTo>
                  <a:pt x="2558860" y="1758330"/>
                  <a:pt x="2585402" y="1775729"/>
                </a:quadBezTo>
                <a:lnTo>
                  <a:pt x="2652839" y="1819925"/>
                </a:lnTo>
                <a:quadBezTo>
                  <a:pt x="2679382" y="1837324"/>
                  <a:pt x="2665603" y="1865962"/>
                </a:quadBezTo>
                <a:lnTo>
                  <a:pt x="2569400" y="2065797"/>
                </a:lnTo>
                <a:quadBezTo>
                  <a:pt x="2555621" y="2094372"/>
                  <a:pt x="2525458" y="2084466"/>
                </a:quadBezTo>
                <a:lnTo>
                  <a:pt x="2448877" y="2059320"/>
                </a:lnTo>
                <a:quadBezTo>
                  <a:pt x="2418715" y="2049414"/>
                  <a:pt x="2398903" y="2074242"/>
                </a:quadBezTo>
                <a:lnTo>
                  <a:pt x="2292477" y="2207719"/>
                </a:lnTo>
                <a:quadBezTo>
                  <a:pt x="2272665" y="2232548"/>
                  <a:pt x="2289048" y="2259789"/>
                </a:quadBezTo>
                <a:lnTo>
                  <a:pt x="2330577" y="2328814"/>
                </a:lnTo>
                <a:quadBezTo>
                  <a:pt x="2346960" y="2356055"/>
                  <a:pt x="2322132" y="2375804"/>
                </a:quadBezTo>
                <a:lnTo>
                  <a:pt x="2148713" y="2514107"/>
                </a:lnTo>
                <a:quadBezTo>
                  <a:pt x="2123948" y="2533919"/>
                  <a:pt x="2101024" y="2511884"/>
                </a:quadBezTo>
                <a:lnTo>
                  <a:pt x="2042985" y="2456004"/>
                </a:lnTo>
                <a:quadBezTo>
                  <a:pt x="2020062" y="2433970"/>
                  <a:pt x="1991487" y="2447749"/>
                </a:quadBezTo>
                <a:lnTo>
                  <a:pt x="1837626" y="2521854"/>
                </a:lnTo>
                <a:quadBezTo>
                  <a:pt x="1809051" y="2535633"/>
                  <a:pt x="1811972" y="2567256"/>
                </a:quadBezTo>
                <a:lnTo>
                  <a:pt x="1819466" y="2647520"/>
                </a:lnTo>
                <a:quadBezTo>
                  <a:pt x="1822386" y="2679080"/>
                  <a:pt x="1791462" y="2686192"/>
                </a:quadBezTo>
                <a:lnTo>
                  <a:pt x="1575244" y="2735531"/>
                </a:lnTo>
                <a:quadBezTo>
                  <a:pt x="1544256" y="2742580"/>
                  <a:pt x="1533208" y="2712798"/>
                </a:quadBezTo>
                <a:lnTo>
                  <a:pt x="1505141" y="2637297"/>
                </a:lnTo>
                <a:quadBezTo>
                  <a:pt x="1494092" y="2607515"/>
                  <a:pt x="1462342" y="2607515"/>
                </a:quadBezTo>
                <a:lnTo>
                  <a:pt x="1291526" y="2607515"/>
                </a:lnTo>
                <a:quadBezTo>
                  <a:pt x="1259776" y="2607515"/>
                  <a:pt x="1248727" y="2637297"/>
                </a:quadBezTo>
                <a:lnTo>
                  <a:pt x="1220660" y="2712798"/>
                </a:lnTo>
                <a:quadBezTo>
                  <a:pt x="1209611" y="2742580"/>
                  <a:pt x="1178623" y="2735531"/>
                </a:quadBezTo>
                <a:lnTo>
                  <a:pt x="962406" y="2686192"/>
                </a:lnTo>
                <a:quadBezTo>
                  <a:pt x="931482" y="2679080"/>
                  <a:pt x="934402" y="2647520"/>
                </a:quadBezTo>
                <a:lnTo>
                  <a:pt x="941895" y="2567256"/>
                </a:lnTo>
                <a:quadBezTo>
                  <a:pt x="944817" y="2535633"/>
                  <a:pt x="916242" y="2521854"/>
                </a:quadBezTo>
                <a:lnTo>
                  <a:pt x="762381" y="2447749"/>
                </a:lnTo>
                <a:quadBezTo>
                  <a:pt x="733806" y="2433970"/>
                  <a:pt x="710882" y="2456004"/>
                </a:quadBezTo>
                <a:lnTo>
                  <a:pt x="652844" y="2511884"/>
                </a:lnTo>
                <a:quadBezTo>
                  <a:pt x="629920" y="2533919"/>
                  <a:pt x="605155" y="2514107"/>
                </a:quadBezTo>
                <a:lnTo>
                  <a:pt x="431736" y="2375804"/>
                </a:lnTo>
                <a:quadBezTo>
                  <a:pt x="406908" y="2356055"/>
                  <a:pt x="423291" y="2328814"/>
                </a:quadBezTo>
                <a:lnTo>
                  <a:pt x="464820" y="2259789"/>
                </a:lnTo>
                <a:quadBezTo>
                  <a:pt x="481203" y="2232548"/>
                  <a:pt x="461391" y="2207719"/>
                </a:quadBezTo>
                <a:lnTo>
                  <a:pt x="354965" y="2074242"/>
                </a:lnTo>
                <a:quadBezTo>
                  <a:pt x="335153" y="2049414"/>
                  <a:pt x="304990" y="2059320"/>
                </a:quadBezTo>
                <a:lnTo>
                  <a:pt x="228409" y="2084466"/>
                </a:lnTo>
                <a:quadBezTo>
                  <a:pt x="198247" y="2094372"/>
                  <a:pt x="184467" y="2065797"/>
                </a:quadBezTo>
                <a:lnTo>
                  <a:pt x="88265" y="1865962"/>
                </a:lnTo>
                <a:quadBezTo>
                  <a:pt x="74485" y="1837324"/>
                  <a:pt x="101028" y="1819925"/>
                </a:quadBezTo>
                <a:lnTo>
                  <a:pt x="168465" y="1775729"/>
                </a:lnTo>
                <a:quadBezTo>
                  <a:pt x="195008" y="1758330"/>
                  <a:pt x="187896" y="1727405"/>
                </a:quadBezTo>
                <a:lnTo>
                  <a:pt x="149923" y="1560908"/>
                </a:lnTo>
                <a:quadBezTo>
                  <a:pt x="142875" y="1529984"/>
                  <a:pt x="111379" y="1525793"/>
                </a:quadBezTo>
                <a:lnTo>
                  <a:pt x="31496" y="1515252"/>
                </a:lnTo>
                <a:quadBezTo>
                  <a:pt x="0" y="1511061"/>
                  <a:pt x="0" y="1479311"/>
                </a:quadBezTo>
                <a:lnTo>
                  <a:pt x="0" y="1257569"/>
                </a:lnTo>
                <a:quadBezTo>
                  <a:pt x="0" y="1225819"/>
                  <a:pt x="31496" y="1221628"/>
                </a:quadBezTo>
                <a:lnTo>
                  <a:pt x="111379" y="1211087"/>
                </a:lnTo>
                <a:quadBezTo>
                  <a:pt x="142875" y="1206896"/>
                  <a:pt x="149923" y="1175971"/>
                </a:quadBezTo>
                <a:lnTo>
                  <a:pt x="187896" y="1009474"/>
                </a:lnTo>
                <a:quadBezTo>
                  <a:pt x="195008" y="978550"/>
                  <a:pt x="168465" y="961151"/>
                </a:quadBezTo>
                <a:lnTo>
                  <a:pt x="101028" y="916955"/>
                </a:lnTo>
                <a:quadBezTo>
                  <a:pt x="74485" y="899556"/>
                  <a:pt x="88265" y="870917"/>
                </a:quadBezTo>
                <a:lnTo>
                  <a:pt x="184467" y="671083"/>
                </a:lnTo>
                <a:quadBezTo>
                  <a:pt x="198247" y="642508"/>
                  <a:pt x="228409" y="652414"/>
                </a:quadBezTo>
                <a:lnTo>
                  <a:pt x="304990" y="677560"/>
                </a:lnTo>
                <a:quadBezTo>
                  <a:pt x="335153" y="687466"/>
                  <a:pt x="354965" y="662637"/>
                </a:quadBezTo>
                <a:lnTo>
                  <a:pt x="461391" y="529160"/>
                </a:lnTo>
                <a:quadBezTo>
                  <a:pt x="481203" y="504332"/>
                  <a:pt x="464820" y="477090"/>
                </a:quadBezTo>
                <a:lnTo>
                  <a:pt x="423291" y="408066"/>
                </a:lnTo>
                <a:quadBezTo>
                  <a:pt x="406908" y="380824"/>
                  <a:pt x="431736" y="361076"/>
                </a:quadBezTo>
                <a:lnTo>
                  <a:pt x="605155" y="222773"/>
                </a:lnTo>
                <a:quadBezTo>
                  <a:pt x="629920" y="202961"/>
                  <a:pt x="652844" y="224995"/>
                </a:quadBezTo>
                <a:lnTo>
                  <a:pt x="710882" y="280875"/>
                </a:lnTo>
                <a:quadBezTo>
                  <a:pt x="733806" y="302910"/>
                  <a:pt x="762381" y="289130"/>
                </a:quadBezTo>
                <a:lnTo>
                  <a:pt x="916242" y="215026"/>
                </a:lnTo>
                <a:quadBezTo>
                  <a:pt x="944817" y="201246"/>
                  <a:pt x="941895" y="169623"/>
                </a:quadBezTo>
                <a:lnTo>
                  <a:pt x="934402" y="89359"/>
                </a:lnTo>
                <a:quadBezTo>
                  <a:pt x="931482" y="57800"/>
                  <a:pt x="962406" y="50688"/>
                </a:quadBezTo>
                <a:lnTo>
                  <a:pt x="1178623" y="1348"/>
                </a:lnTo>
                <a:quadBezTo>
                  <a:pt x="1209611" y="-5700"/>
                  <a:pt x="1220660" y="24081"/>
                </a:quadBezTo>
                <a:lnTo>
                  <a:pt x="1248727" y="99583"/>
                </a:lnTo>
                <a:quadBezTo>
                  <a:pt x="1259776" y="129364"/>
                  <a:pt x="1291526" y="129364"/>
                </a:quadBezTo>
                <a:lnTo>
                  <a:pt x="1462342" y="129364"/>
                </a:lnTo>
                <a:quadBezTo>
                  <a:pt x="1494092" y="129364"/>
                  <a:pt x="1505141" y="99583"/>
                </a:quadBezTo>
                <a:lnTo>
                  <a:pt x="1533208" y="24081"/>
                </a:lnTo>
                <a:quadBezTo>
                  <a:pt x="1544256" y="-5700"/>
                  <a:pt x="1575244" y="1348"/>
                </a:quadBezTo>
                <a:lnTo>
                  <a:pt x="1791462" y="50688"/>
                </a:lnTo>
                <a:quadBezTo>
                  <a:pt x="1822386" y="57800"/>
                  <a:pt x="1819466" y="89359"/>
                </a:quadBezTo>
                <a:lnTo>
                  <a:pt x="1811972" y="169623"/>
                </a:lnTo>
                <a:quadBezTo>
                  <a:pt x="1809051" y="201246"/>
                  <a:pt x="1837626" y="215026"/>
                </a:quadBezTo>
                <a:lnTo>
                  <a:pt x="1991487" y="289130"/>
                </a:lnTo>
                <a:quadBezTo>
                  <a:pt x="2020062" y="302910"/>
                  <a:pt x="2042985" y="280875"/>
                </a:quadBezTo>
                <a:lnTo>
                  <a:pt x="2101024" y="224995"/>
                </a:lnTo>
                <a:quadBezTo>
                  <a:pt x="2123948" y="202961"/>
                  <a:pt x="2148713" y="222773"/>
                </a:quadBezTo>
                <a:lnTo>
                  <a:pt x="2322132" y="361076"/>
                </a:lnTo>
                <a:quadBezTo>
                  <a:pt x="2346960" y="380824"/>
                  <a:pt x="2330577" y="408066"/>
                </a:quadBezTo>
                <a:lnTo>
                  <a:pt x="2289048" y="477090"/>
                </a:lnTo>
                <a:quadBezTo>
                  <a:pt x="2272665" y="504332"/>
                  <a:pt x="2292477" y="529160"/>
                </a:quadBezTo>
                <a:lnTo>
                  <a:pt x="2398903" y="662637"/>
                </a:lnTo>
                <a:quadBezTo>
                  <a:pt x="2418715" y="687466"/>
                  <a:pt x="2448877" y="677560"/>
                </a:quadBezTo>
                <a:lnTo>
                  <a:pt x="2525458" y="652414"/>
                </a:lnTo>
                <a:quadBezTo>
                  <a:pt x="2555621" y="642508"/>
                  <a:pt x="2569400" y="671083"/>
                </a:quadBezTo>
                <a:lnTo>
                  <a:pt x="2665603" y="870917"/>
                </a:lnTo>
                <a:quadBezTo>
                  <a:pt x="2679382" y="899556"/>
                  <a:pt x="2652839" y="916955"/>
                </a:quadBezTo>
                <a:lnTo>
                  <a:pt x="2585402" y="961151"/>
                </a:lnTo>
                <a:quadBezTo>
                  <a:pt x="2558860" y="978550"/>
                  <a:pt x="2565972" y="1009474"/>
                </a:quadBezTo>
                <a:close/>
              </a:path>
            </a:pathLst>
          </a:custGeom>
          <a:gradFill rotWithShape="1">
            <a:gsLst>
              <a:gs pos="0">
                <a:srgbClr val="325DA1"/>
              </a:gs>
              <a:gs pos="100000">
                <a:srgbClr val="0B3E8F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gear-in-战略牵引"/>
          <p:cNvSpPr/>
          <p:nvPr/>
        </p:nvSpPr>
        <p:spPr>
          <a:xfrm>
            <a:off x="2938780" y="2684780"/>
            <a:ext cx="1742440" cy="1742440"/>
          </a:xfrm>
          <a:prstGeom prst="ellipse">
            <a:avLst/>
          </a:prstGeom>
          <a:solidFill>
            <a:srgbClr val="FFFFF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gear-ring-战略牵引"/>
          <p:cNvSpPr/>
          <p:nvPr/>
        </p:nvSpPr>
        <p:spPr>
          <a:xfrm>
            <a:off x="2938780" y="2684780"/>
            <a:ext cx="1742440" cy="1742440"/>
          </a:xfrm>
          <a:prstGeom prst="ellipse">
            <a:avLst/>
          </a:prstGeom>
          <a:noFill/>
          <a:ln w="10160" cap="rnd">
            <a:solidFill>
              <a:srgbClr val="FFFFFF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icon-target"/>
          <p:cNvSpPr/>
          <p:nvPr/>
        </p:nvSpPr>
        <p:spPr>
          <a:xfrm>
            <a:off x="3810000" y="3098610"/>
            <a:ext cx="102679" cy="133794"/>
          </a:xfrm>
          <a:custGeom>
            <a:avLst/>
            <a:gdLst/>
            <a:ahLst/>
            <a:cxnLst/>
            <a:rect l="0" t="0" r="r" b="b"/>
            <a:pathLst>
              <a:path w="102679" h="133794">
                <a:moveTo>
                  <a:pt x="0" y="77788"/>
                </a:moveTo>
                <a:lnTo>
                  <a:pt x="0" y="0"/>
                </a:lnTo>
                <a:moveTo>
                  <a:pt x="0" y="133794"/>
                </a:moveTo>
                <a:lnTo>
                  <a:pt x="102679" y="31115"/>
                </a:lnTo>
              </a:path>
            </a:pathLst>
          </a:custGeom>
          <a:noFill/>
          <a:ln w="1397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icon-target"/>
          <p:cNvSpPr/>
          <p:nvPr/>
        </p:nvSpPr>
        <p:spPr>
          <a:xfrm>
            <a:off x="3676205" y="3098610"/>
            <a:ext cx="267589" cy="267589"/>
          </a:xfrm>
          <a:prstGeom prst="ellipse">
            <a:avLst/>
          </a:prstGeom>
          <a:noFill/>
          <a:ln w="1397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icon-target"/>
          <p:cNvSpPr/>
          <p:nvPr/>
        </p:nvSpPr>
        <p:spPr>
          <a:xfrm>
            <a:off x="3741547" y="3163951"/>
            <a:ext cx="136906" cy="136906"/>
          </a:xfrm>
          <a:prstGeom prst="ellipse">
            <a:avLst/>
          </a:prstGeom>
          <a:noFill/>
          <a:ln w="1397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gname-战略牵引"/>
          <p:cNvSpPr txBox="1"/>
          <p:nvPr/>
        </p:nvSpPr>
        <p:spPr>
          <a:xfrm>
            <a:off x="3373755" y="3476562"/>
            <a:ext cx="8724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战略牵引</a:t>
            </a:r>
          </a:p>
        </p:txBody>
      </p:sp>
      <p:sp>
        <p:nvSpPr>
          <p:cNvPr id="17" name="gen-战略牵引"/>
          <p:cNvSpPr txBox="1"/>
          <p:nvPr/>
        </p:nvSpPr>
        <p:spPr>
          <a:xfrm>
            <a:off x="3504819" y="3769805"/>
            <a:ext cx="610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30">
                <a:solidFill>
                  <a:srgbClr val="D6E6F8"/>
                </a:solidFill>
                <a:latin typeface="Arial"/>
                <a:ea typeface="Arial"/>
                <a:cs typeface="Arial"/>
              </a:rPr>
              <a:t>STRATEGY</a:t>
            </a:r>
          </a:p>
        </p:txBody>
      </p:sp>
      <p:sp>
        <p:nvSpPr>
          <p:cNvPr id="18" name="gear-运营支撑"/>
          <p:cNvSpPr/>
          <p:nvPr/>
        </p:nvSpPr>
        <p:spPr>
          <a:xfrm>
            <a:off x="5138801" y="2459101"/>
            <a:ext cx="2193798" cy="2193798"/>
          </a:xfrm>
          <a:custGeom>
            <a:avLst/>
            <a:gdLst/>
            <a:ahLst/>
            <a:cxnLst/>
            <a:rect l="0" t="0" r="r" b="b"/>
            <a:pathLst>
              <a:path w="2193798" h="2193798">
                <a:moveTo>
                  <a:pt x="2042795" y="920242"/>
                </a:moveTo>
                <a:quadBezTo>
                  <a:pt x="2050986" y="950912"/>
                  <a:pt x="2082610" y="953834"/>
                </a:quadBezTo>
                <a:lnTo>
                  <a:pt x="2162175" y="961200"/>
                </a:lnTo>
                <a:quadBezTo>
                  <a:pt x="2193798" y="964184"/>
                  <a:pt x="2193798" y="995934"/>
                </a:quadBezTo>
                <a:lnTo>
                  <a:pt x="2193798" y="1197864"/>
                </a:lnTo>
                <a:quadBezTo>
                  <a:pt x="2193798" y="1229614"/>
                  <a:pt x="2162175" y="1232598"/>
                </a:quadBezTo>
                <a:lnTo>
                  <a:pt x="2082610" y="1239964"/>
                </a:lnTo>
                <a:quadBezTo>
                  <a:pt x="2050986" y="1242886"/>
                  <a:pt x="2042795" y="1273556"/>
                </a:quadBezTo>
                <a:lnTo>
                  <a:pt x="2004378" y="1416812"/>
                </a:lnTo>
                <a:quadBezTo>
                  <a:pt x="1996186" y="1447483"/>
                  <a:pt x="2022094" y="1465834"/>
                </a:quadBezTo>
                <a:lnTo>
                  <a:pt x="2087309" y="1512062"/>
                </a:lnTo>
                <a:quadBezTo>
                  <a:pt x="2113216" y="1530414"/>
                  <a:pt x="2097342" y="1557909"/>
                </a:quadBezTo>
                <a:lnTo>
                  <a:pt x="1996377" y="1732788"/>
                </a:lnTo>
                <a:quadBezTo>
                  <a:pt x="1980502" y="1760284"/>
                  <a:pt x="1951609" y="1747012"/>
                </a:quadBezTo>
                <a:lnTo>
                  <a:pt x="1879029" y="1713674"/>
                </a:lnTo>
                <a:quadBezTo>
                  <a:pt x="1850200" y="1700403"/>
                  <a:pt x="1827720" y="1722819"/>
                </a:quadBezTo>
                <a:lnTo>
                  <a:pt x="1722818" y="1827721"/>
                </a:lnTo>
                <a:quadBezTo>
                  <a:pt x="1700403" y="1850200"/>
                  <a:pt x="1713675" y="1879028"/>
                </a:quadBezTo>
                <a:lnTo>
                  <a:pt x="1747012" y="1951609"/>
                </a:lnTo>
                <a:quadBezTo>
                  <a:pt x="1760284" y="1980502"/>
                  <a:pt x="1732788" y="1996376"/>
                </a:quadBezTo>
                <a:lnTo>
                  <a:pt x="1557909" y="2097342"/>
                </a:lnTo>
                <a:quadBezTo>
                  <a:pt x="1530414" y="2113216"/>
                  <a:pt x="1512062" y="2087309"/>
                </a:quadBezTo>
                <a:lnTo>
                  <a:pt x="1465834" y="2022094"/>
                </a:lnTo>
                <a:quadBezTo>
                  <a:pt x="1447483" y="1996186"/>
                  <a:pt x="1416812" y="2004377"/>
                </a:quadBezTo>
                <a:lnTo>
                  <a:pt x="1273556" y="2042795"/>
                </a:lnTo>
                <a:quadBezTo>
                  <a:pt x="1242886" y="2050986"/>
                  <a:pt x="1239964" y="2082610"/>
                </a:quadBezTo>
                <a:lnTo>
                  <a:pt x="1232598" y="2162175"/>
                </a:lnTo>
                <a:quadBezTo>
                  <a:pt x="1229614" y="2193798"/>
                  <a:pt x="1197864" y="2193798"/>
                </a:quadBezTo>
                <a:lnTo>
                  <a:pt x="995934" y="2193798"/>
                </a:lnTo>
                <a:quadBezTo>
                  <a:pt x="964184" y="2193798"/>
                  <a:pt x="961200" y="2162175"/>
                </a:quadBezTo>
                <a:lnTo>
                  <a:pt x="953834" y="2082610"/>
                </a:lnTo>
                <a:quadBezTo>
                  <a:pt x="950912" y="2050986"/>
                  <a:pt x="920242" y="2042795"/>
                </a:quadBezTo>
                <a:lnTo>
                  <a:pt x="776986" y="2004377"/>
                </a:lnTo>
                <a:quadBezTo>
                  <a:pt x="746315" y="1996186"/>
                  <a:pt x="727964" y="2022094"/>
                </a:quadBezTo>
                <a:lnTo>
                  <a:pt x="681736" y="2087309"/>
                </a:lnTo>
                <a:quadBezTo>
                  <a:pt x="663385" y="2113216"/>
                  <a:pt x="635889" y="2097342"/>
                </a:quadBezTo>
                <a:lnTo>
                  <a:pt x="461010" y="1996376"/>
                </a:lnTo>
                <a:quadBezTo>
                  <a:pt x="433514" y="1980502"/>
                  <a:pt x="446786" y="1951609"/>
                </a:quadBezTo>
                <a:lnTo>
                  <a:pt x="480124" y="1879028"/>
                </a:lnTo>
                <a:quadBezTo>
                  <a:pt x="493395" y="1850200"/>
                  <a:pt x="470979" y="1827721"/>
                </a:quadBezTo>
                <a:lnTo>
                  <a:pt x="366077" y="1722819"/>
                </a:lnTo>
                <a:quadBezTo>
                  <a:pt x="343599" y="1700403"/>
                  <a:pt x="314770" y="1713674"/>
                </a:quadBezTo>
                <a:lnTo>
                  <a:pt x="242189" y="1747012"/>
                </a:lnTo>
                <a:quadBezTo>
                  <a:pt x="213297" y="1760284"/>
                  <a:pt x="197422" y="1732788"/>
                </a:quadBezTo>
                <a:lnTo>
                  <a:pt x="96457" y="1557909"/>
                </a:lnTo>
                <a:quadBezTo>
                  <a:pt x="80582" y="1530414"/>
                  <a:pt x="106489" y="1512062"/>
                </a:quadBezTo>
                <a:lnTo>
                  <a:pt x="171704" y="1465834"/>
                </a:lnTo>
                <a:quadBezTo>
                  <a:pt x="197612" y="1447483"/>
                  <a:pt x="189421" y="1416812"/>
                </a:quadBezTo>
                <a:lnTo>
                  <a:pt x="151003" y="1273556"/>
                </a:lnTo>
                <a:quadBezTo>
                  <a:pt x="142812" y="1242886"/>
                  <a:pt x="111188" y="1239964"/>
                </a:quadBezTo>
                <a:lnTo>
                  <a:pt x="31623" y="1232598"/>
                </a:lnTo>
                <a:quadBezTo>
                  <a:pt x="0" y="1229614"/>
                  <a:pt x="0" y="1197864"/>
                </a:quadBezTo>
                <a:lnTo>
                  <a:pt x="0" y="995934"/>
                </a:lnTo>
                <a:quadBezTo>
                  <a:pt x="0" y="964184"/>
                  <a:pt x="31623" y="961200"/>
                </a:quadBezTo>
                <a:lnTo>
                  <a:pt x="111188" y="953834"/>
                </a:lnTo>
                <a:quadBezTo>
                  <a:pt x="142812" y="950912"/>
                  <a:pt x="151003" y="920242"/>
                </a:quadBezTo>
                <a:lnTo>
                  <a:pt x="189421" y="776986"/>
                </a:lnTo>
                <a:quadBezTo>
                  <a:pt x="197612" y="746316"/>
                  <a:pt x="171704" y="727964"/>
                </a:quadBezTo>
                <a:lnTo>
                  <a:pt x="106489" y="681736"/>
                </a:lnTo>
                <a:quadBezTo>
                  <a:pt x="80582" y="663385"/>
                  <a:pt x="96457" y="635889"/>
                </a:quadBezTo>
                <a:lnTo>
                  <a:pt x="197422" y="461010"/>
                </a:lnTo>
                <a:quadBezTo>
                  <a:pt x="213297" y="433514"/>
                  <a:pt x="242189" y="446786"/>
                </a:quadBezTo>
                <a:lnTo>
                  <a:pt x="314770" y="480124"/>
                </a:lnTo>
                <a:quadBezTo>
                  <a:pt x="343599" y="493395"/>
                  <a:pt x="366077" y="470980"/>
                </a:quadBezTo>
                <a:lnTo>
                  <a:pt x="470979" y="366078"/>
                </a:lnTo>
                <a:quadBezTo>
                  <a:pt x="493395" y="343599"/>
                  <a:pt x="480124" y="314769"/>
                </a:quadBezTo>
                <a:lnTo>
                  <a:pt x="446786" y="242189"/>
                </a:lnTo>
                <a:quadBezTo>
                  <a:pt x="433514" y="213297"/>
                  <a:pt x="461010" y="197422"/>
                </a:quadBezTo>
                <a:lnTo>
                  <a:pt x="635889" y="96456"/>
                </a:lnTo>
                <a:quadBezTo>
                  <a:pt x="663385" y="80581"/>
                  <a:pt x="681736" y="106489"/>
                </a:quadBezTo>
                <a:lnTo>
                  <a:pt x="727964" y="171704"/>
                </a:lnTo>
                <a:quadBezTo>
                  <a:pt x="746315" y="197612"/>
                  <a:pt x="776986" y="189420"/>
                </a:quadBezTo>
                <a:lnTo>
                  <a:pt x="920242" y="151003"/>
                </a:lnTo>
                <a:quadBezTo>
                  <a:pt x="950912" y="142812"/>
                  <a:pt x="953834" y="111188"/>
                </a:quadBezTo>
                <a:lnTo>
                  <a:pt x="961200" y="31623"/>
                </a:lnTo>
                <a:quadBezTo>
                  <a:pt x="964184" y="0"/>
                  <a:pt x="995934" y="0"/>
                </a:quadBezTo>
                <a:lnTo>
                  <a:pt x="1197864" y="0"/>
                </a:lnTo>
                <a:quadBezTo>
                  <a:pt x="1229614" y="0"/>
                  <a:pt x="1232598" y="31623"/>
                </a:quadBezTo>
                <a:lnTo>
                  <a:pt x="1239964" y="111188"/>
                </a:lnTo>
                <a:quadBezTo>
                  <a:pt x="1242886" y="142812"/>
                  <a:pt x="1273556" y="151003"/>
                </a:quadBezTo>
                <a:lnTo>
                  <a:pt x="1416812" y="189420"/>
                </a:lnTo>
                <a:quadBezTo>
                  <a:pt x="1447483" y="197612"/>
                  <a:pt x="1465834" y="171704"/>
                </a:quadBezTo>
                <a:lnTo>
                  <a:pt x="1512062" y="106489"/>
                </a:lnTo>
                <a:quadBezTo>
                  <a:pt x="1530414" y="80581"/>
                  <a:pt x="1557909" y="96456"/>
                </a:quadBezTo>
                <a:lnTo>
                  <a:pt x="1732788" y="197422"/>
                </a:lnTo>
                <a:quadBezTo>
                  <a:pt x="1760284" y="213297"/>
                  <a:pt x="1747012" y="242189"/>
                </a:quadBezTo>
                <a:lnTo>
                  <a:pt x="1713675" y="314769"/>
                </a:lnTo>
                <a:quadBezTo>
                  <a:pt x="1700403" y="343599"/>
                  <a:pt x="1722818" y="366078"/>
                </a:quadBezTo>
                <a:lnTo>
                  <a:pt x="1827720" y="470980"/>
                </a:lnTo>
                <a:quadBezTo>
                  <a:pt x="1850200" y="493395"/>
                  <a:pt x="1879029" y="480124"/>
                </a:quadBezTo>
                <a:lnTo>
                  <a:pt x="1951609" y="446786"/>
                </a:lnTo>
                <a:quadBezTo>
                  <a:pt x="1980502" y="433514"/>
                  <a:pt x="1996377" y="461010"/>
                </a:quadBezTo>
                <a:lnTo>
                  <a:pt x="2097342" y="635889"/>
                </a:lnTo>
                <a:quadBezTo>
                  <a:pt x="2113216" y="663385"/>
                  <a:pt x="2087309" y="681736"/>
                </a:quadBezTo>
                <a:lnTo>
                  <a:pt x="2022094" y="727964"/>
                </a:lnTo>
                <a:quadBezTo>
                  <a:pt x="1996186" y="746316"/>
                  <a:pt x="2004378" y="776986"/>
                </a:quadBezTo>
                <a:close/>
              </a:path>
            </a:pathLst>
          </a:custGeom>
          <a:gradFill rotWithShape="1">
            <a:gsLst>
              <a:gs pos="0">
                <a:srgbClr val="4780C2"/>
              </a:gs>
              <a:gs pos="100000">
                <a:srgbClr val="2468B6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gear-in-运营支撑"/>
          <p:cNvSpPr/>
          <p:nvPr/>
        </p:nvSpPr>
        <p:spPr>
          <a:xfrm>
            <a:off x="5560060" y="2880360"/>
            <a:ext cx="1351280" cy="1351280"/>
          </a:xfrm>
          <a:prstGeom prst="ellipse">
            <a:avLst/>
          </a:prstGeom>
          <a:solidFill>
            <a:srgbClr val="FFFFF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gear-ring-运营支撑"/>
          <p:cNvSpPr/>
          <p:nvPr/>
        </p:nvSpPr>
        <p:spPr>
          <a:xfrm>
            <a:off x="5560060" y="2880360"/>
            <a:ext cx="1351280" cy="1351280"/>
          </a:xfrm>
          <a:prstGeom prst="ellipse">
            <a:avLst/>
          </a:prstGeom>
          <a:noFill/>
          <a:ln w="10160" cap="rnd">
            <a:solidFill>
              <a:srgbClr val="FFFFFF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icon-gear"/>
          <p:cNvSpPr/>
          <p:nvPr/>
        </p:nvSpPr>
        <p:spPr>
          <a:xfrm>
            <a:off x="6145212" y="3194050"/>
            <a:ext cx="180975" cy="221996"/>
          </a:xfrm>
          <a:custGeom>
            <a:avLst/>
            <a:gdLst/>
            <a:ahLst/>
            <a:cxnLst/>
            <a:rect l="0" t="0" r="r" b="b"/>
            <a:pathLst>
              <a:path w="180975" h="221996">
                <a:moveTo>
                  <a:pt x="90488" y="69977"/>
                </a:moveTo>
                <a:cubicBezTo>
                  <a:pt x="75819" y="69977"/>
                  <a:pt x="62293" y="77788"/>
                  <a:pt x="54991" y="90488"/>
                </a:cubicBezTo>
                <a:cubicBezTo>
                  <a:pt x="47625" y="103188"/>
                  <a:pt x="47625" y="118809"/>
                  <a:pt x="54991" y="131509"/>
                </a:cubicBezTo>
                <a:cubicBezTo>
                  <a:pt x="62293" y="144209"/>
                  <a:pt x="75819" y="152019"/>
                  <a:pt x="90488" y="152019"/>
                </a:cubicBezTo>
                <a:cubicBezTo>
                  <a:pt x="113157" y="152019"/>
                  <a:pt x="131509" y="133667"/>
                  <a:pt x="131509" y="110998"/>
                </a:cubicBezTo>
                <a:cubicBezTo>
                  <a:pt x="131509" y="88328"/>
                  <a:pt x="113157" y="69977"/>
                  <a:pt x="90488" y="69977"/>
                </a:cubicBezTo>
                <a:close/>
                <a:moveTo>
                  <a:pt x="90488" y="0"/>
                </a:moveTo>
                <a:lnTo>
                  <a:pt x="103759" y="31369"/>
                </a:lnTo>
                <a:lnTo>
                  <a:pt x="137541" y="24130"/>
                </a:lnTo>
                <a:lnTo>
                  <a:pt x="149606" y="56706"/>
                </a:lnTo>
                <a:lnTo>
                  <a:pt x="180975" y="69977"/>
                </a:lnTo>
                <a:lnTo>
                  <a:pt x="166497" y="101346"/>
                </a:lnTo>
                <a:lnTo>
                  <a:pt x="180975" y="132715"/>
                </a:lnTo>
                <a:lnTo>
                  <a:pt x="149606" y="145987"/>
                </a:lnTo>
                <a:lnTo>
                  <a:pt x="137541" y="178562"/>
                </a:lnTo>
                <a:lnTo>
                  <a:pt x="103759" y="171323"/>
                </a:lnTo>
                <a:lnTo>
                  <a:pt x="90488" y="221996"/>
                </a:lnTo>
                <a:lnTo>
                  <a:pt x="77216" y="190627"/>
                </a:lnTo>
                <a:lnTo>
                  <a:pt x="43434" y="197866"/>
                </a:lnTo>
                <a:lnTo>
                  <a:pt x="31369" y="165290"/>
                </a:lnTo>
                <a:lnTo>
                  <a:pt x="0" y="152019"/>
                </a:lnTo>
                <a:lnTo>
                  <a:pt x="14478" y="110998"/>
                </a:lnTo>
                <a:lnTo>
                  <a:pt x="0" y="79629"/>
                </a:lnTo>
                <a:lnTo>
                  <a:pt x="31369" y="66358"/>
                </a:lnTo>
                <a:lnTo>
                  <a:pt x="43434" y="33782"/>
                </a:lnTo>
                <a:lnTo>
                  <a:pt x="77216" y="41021"/>
                </a:lnTo>
                <a:close/>
              </a:path>
            </a:pathLst>
          </a:custGeom>
          <a:noFill/>
          <a:ln w="1397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gname-运营支撑"/>
          <p:cNvSpPr txBox="1"/>
          <p:nvPr/>
        </p:nvSpPr>
        <p:spPr>
          <a:xfrm>
            <a:off x="5861685" y="3479991"/>
            <a:ext cx="7480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运营支撑</a:t>
            </a:r>
          </a:p>
        </p:txBody>
      </p:sp>
      <p:sp>
        <p:nvSpPr>
          <p:cNvPr id="23" name="gen-运营支撑"/>
          <p:cNvSpPr txBox="1"/>
          <p:nvPr/>
        </p:nvSpPr>
        <p:spPr>
          <a:xfrm>
            <a:off x="5897372" y="3697160"/>
            <a:ext cx="67665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30">
                <a:solidFill>
                  <a:srgbClr val="D6E6F8"/>
                </a:solidFill>
                <a:latin typeface="Arial"/>
                <a:ea typeface="Arial"/>
                <a:cs typeface="Arial"/>
              </a:rPr>
              <a:t>OPERATION</a:t>
            </a:r>
          </a:p>
        </p:txBody>
      </p:sp>
      <p:sp>
        <p:nvSpPr>
          <p:cNvPr id="24" name="gear-技术驱动"/>
          <p:cNvSpPr/>
          <p:nvPr/>
        </p:nvSpPr>
        <p:spPr>
          <a:xfrm>
            <a:off x="7274052" y="2649577"/>
            <a:ext cx="1834896" cy="1812846"/>
          </a:xfrm>
          <a:custGeom>
            <a:avLst/>
            <a:gdLst/>
            <a:ahLst/>
            <a:cxnLst/>
            <a:rect l="0" t="0" r="r" b="b"/>
            <a:pathLst>
              <a:path w="1834896" h="1812846">
                <a:moveTo>
                  <a:pt x="1681988" y="733576"/>
                </a:moveTo>
                <a:quadBezTo>
                  <a:pt x="1691831" y="763738"/>
                  <a:pt x="1723517" y="765770"/>
                </a:quadBezTo>
                <a:lnTo>
                  <a:pt x="1803210" y="770850"/>
                </a:lnTo>
                <a:quadBezTo>
                  <a:pt x="1834896" y="772882"/>
                  <a:pt x="1834896" y="804632"/>
                </a:quadBezTo>
                <a:lnTo>
                  <a:pt x="1834896" y="1008213"/>
                </a:lnTo>
                <a:quadBezTo>
                  <a:pt x="1834896" y="1039963"/>
                  <a:pt x="1803210" y="1041995"/>
                </a:quadBezTo>
                <a:lnTo>
                  <a:pt x="1723517" y="1047075"/>
                </a:lnTo>
                <a:quadBezTo>
                  <a:pt x="1691831" y="1049107"/>
                  <a:pt x="1681988" y="1079270"/>
                </a:quadBezTo>
                <a:lnTo>
                  <a:pt x="1637602" y="1215985"/>
                </a:lnTo>
                <a:quadBezTo>
                  <a:pt x="1627759" y="1246148"/>
                  <a:pt x="1652207" y="1266404"/>
                </a:quadBezTo>
                <a:lnTo>
                  <a:pt x="1713675" y="1317395"/>
                </a:lnTo>
                <a:quadBezTo>
                  <a:pt x="1738122" y="1337651"/>
                  <a:pt x="1719453" y="1363369"/>
                </a:quadBezTo>
                <a:lnTo>
                  <a:pt x="1599883" y="1528024"/>
                </a:lnTo>
                <a:quadBezTo>
                  <a:pt x="1581214" y="1553678"/>
                  <a:pt x="1554353" y="1536724"/>
                </a:quadBezTo>
                <a:lnTo>
                  <a:pt x="1486853" y="1493988"/>
                </a:lnTo>
                <a:quadBezTo>
                  <a:pt x="1460056" y="1477034"/>
                  <a:pt x="1434402" y="1495703"/>
                </a:quadBezTo>
                <a:lnTo>
                  <a:pt x="1318133" y="1580158"/>
                </a:lnTo>
                <a:quadBezTo>
                  <a:pt x="1292415" y="1598827"/>
                  <a:pt x="1300290" y="1629561"/>
                </a:quadBezTo>
                <a:lnTo>
                  <a:pt x="1320038" y="1706967"/>
                </a:lnTo>
                <a:quadBezTo>
                  <a:pt x="1327912" y="1737701"/>
                  <a:pt x="1297750" y="1747480"/>
                </a:quadBezTo>
                <a:lnTo>
                  <a:pt x="1104138" y="1810409"/>
                </a:lnTo>
                <a:quadBezTo>
                  <a:pt x="1073976" y="1820188"/>
                  <a:pt x="1062228" y="1790724"/>
                </a:quadBezTo>
                <a:lnTo>
                  <a:pt x="1032764" y="1716492"/>
                </a:lnTo>
                <a:quadBezTo>
                  <a:pt x="1021016" y="1686965"/>
                  <a:pt x="989266" y="1686965"/>
                </a:quadBezTo>
                <a:lnTo>
                  <a:pt x="845630" y="1686965"/>
                </a:lnTo>
                <a:quadBezTo>
                  <a:pt x="813880" y="1686965"/>
                  <a:pt x="802132" y="1716492"/>
                </a:quadBezTo>
                <a:lnTo>
                  <a:pt x="772668" y="1790724"/>
                </a:lnTo>
                <a:quadBezTo>
                  <a:pt x="760920" y="1820188"/>
                  <a:pt x="730758" y="1810409"/>
                </a:quadBezTo>
                <a:lnTo>
                  <a:pt x="537146" y="1747480"/>
                </a:lnTo>
                <a:quadBezTo>
                  <a:pt x="506984" y="1737701"/>
                  <a:pt x="514858" y="1706967"/>
                </a:quadBezTo>
                <a:lnTo>
                  <a:pt x="534607" y="1629561"/>
                </a:lnTo>
                <a:quadBezTo>
                  <a:pt x="542481" y="1598827"/>
                  <a:pt x="516763" y="1580158"/>
                </a:quadBezTo>
                <a:lnTo>
                  <a:pt x="400494" y="1495703"/>
                </a:lnTo>
                <a:quadBezTo>
                  <a:pt x="374840" y="1477034"/>
                  <a:pt x="348043" y="1493988"/>
                </a:quadBezTo>
                <a:lnTo>
                  <a:pt x="280543" y="1536724"/>
                </a:lnTo>
                <a:quadBezTo>
                  <a:pt x="253683" y="1553678"/>
                  <a:pt x="235013" y="1528024"/>
                </a:quadBezTo>
                <a:lnTo>
                  <a:pt x="115443" y="1363369"/>
                </a:lnTo>
                <a:quadBezTo>
                  <a:pt x="96774" y="1337651"/>
                  <a:pt x="121221" y="1317395"/>
                </a:quadBezTo>
                <a:lnTo>
                  <a:pt x="182689" y="1266404"/>
                </a:lnTo>
                <a:quadBezTo>
                  <a:pt x="207137" y="1246148"/>
                  <a:pt x="197294" y="1215985"/>
                </a:quadBezTo>
                <a:lnTo>
                  <a:pt x="152908" y="1079270"/>
                </a:lnTo>
                <a:quadBezTo>
                  <a:pt x="143065" y="1049107"/>
                  <a:pt x="111379" y="1047075"/>
                </a:quadBezTo>
                <a:lnTo>
                  <a:pt x="31687" y="1041995"/>
                </a:lnTo>
                <a:quadBezTo>
                  <a:pt x="0" y="1039963"/>
                  <a:pt x="0" y="1008213"/>
                </a:quadBezTo>
                <a:lnTo>
                  <a:pt x="0" y="804632"/>
                </a:lnTo>
                <a:quadBezTo>
                  <a:pt x="0" y="772882"/>
                  <a:pt x="31687" y="770850"/>
                </a:quadBezTo>
                <a:lnTo>
                  <a:pt x="111379" y="765770"/>
                </a:lnTo>
                <a:quadBezTo>
                  <a:pt x="143065" y="763738"/>
                  <a:pt x="152908" y="733576"/>
                </a:quadBezTo>
                <a:lnTo>
                  <a:pt x="197294" y="596860"/>
                </a:lnTo>
                <a:quadBezTo>
                  <a:pt x="207137" y="566698"/>
                  <a:pt x="182689" y="546441"/>
                </a:quadBezTo>
                <a:lnTo>
                  <a:pt x="121221" y="495451"/>
                </a:lnTo>
                <a:quadBezTo>
                  <a:pt x="96774" y="475194"/>
                  <a:pt x="115443" y="449477"/>
                </a:quadBezTo>
                <a:lnTo>
                  <a:pt x="235013" y="284821"/>
                </a:lnTo>
                <a:quadBezTo>
                  <a:pt x="253683" y="259167"/>
                  <a:pt x="280543" y="276122"/>
                </a:quadBezTo>
                <a:lnTo>
                  <a:pt x="348043" y="318857"/>
                </a:lnTo>
                <a:quadBezTo>
                  <a:pt x="374840" y="335812"/>
                  <a:pt x="400494" y="317143"/>
                </a:quadBezTo>
                <a:lnTo>
                  <a:pt x="516763" y="232688"/>
                </a:lnTo>
                <a:quadBezTo>
                  <a:pt x="542481" y="214019"/>
                  <a:pt x="534607" y="183285"/>
                </a:quadBezTo>
                <a:lnTo>
                  <a:pt x="514858" y="105878"/>
                </a:lnTo>
                <a:quadBezTo>
                  <a:pt x="506984" y="75144"/>
                  <a:pt x="537146" y="65365"/>
                </a:quadBezTo>
                <a:lnTo>
                  <a:pt x="730758" y="2437"/>
                </a:lnTo>
                <a:quadBezTo>
                  <a:pt x="760920" y="-7342"/>
                  <a:pt x="772668" y="22122"/>
                </a:quadBezTo>
                <a:lnTo>
                  <a:pt x="802132" y="96353"/>
                </a:lnTo>
                <a:quadBezTo>
                  <a:pt x="813880" y="125881"/>
                  <a:pt x="845630" y="125881"/>
                </a:quadBezTo>
                <a:lnTo>
                  <a:pt x="989266" y="125881"/>
                </a:lnTo>
                <a:quadBezTo>
                  <a:pt x="1021016" y="125881"/>
                  <a:pt x="1032764" y="96353"/>
                </a:quadBezTo>
                <a:lnTo>
                  <a:pt x="1062228" y="22122"/>
                </a:lnTo>
                <a:quadBezTo>
                  <a:pt x="1073976" y="-7342"/>
                  <a:pt x="1104138" y="2437"/>
                </a:quadBezTo>
                <a:lnTo>
                  <a:pt x="1297750" y="65365"/>
                </a:lnTo>
                <a:quadBezTo>
                  <a:pt x="1327912" y="75144"/>
                  <a:pt x="1320038" y="105878"/>
                </a:quadBezTo>
                <a:lnTo>
                  <a:pt x="1300290" y="183285"/>
                </a:lnTo>
                <a:quadBezTo>
                  <a:pt x="1292415" y="214019"/>
                  <a:pt x="1318133" y="232688"/>
                </a:quadBezTo>
                <a:lnTo>
                  <a:pt x="1434402" y="317143"/>
                </a:lnTo>
                <a:quadBezTo>
                  <a:pt x="1460056" y="335812"/>
                  <a:pt x="1486853" y="318857"/>
                </a:quadBezTo>
                <a:lnTo>
                  <a:pt x="1554353" y="276122"/>
                </a:lnTo>
                <a:quadBezTo>
                  <a:pt x="1581214" y="259167"/>
                  <a:pt x="1599883" y="284821"/>
                </a:quadBezTo>
                <a:lnTo>
                  <a:pt x="1719453" y="449477"/>
                </a:lnTo>
                <a:quadBezTo>
                  <a:pt x="1738122" y="475194"/>
                  <a:pt x="1713675" y="495451"/>
                </a:quadBezTo>
                <a:lnTo>
                  <a:pt x="1652207" y="546441"/>
                </a:lnTo>
                <a:quadBezTo>
                  <a:pt x="1627759" y="566698"/>
                  <a:pt x="1637602" y="596860"/>
                </a:quadBezTo>
                <a:close/>
              </a:path>
            </a:pathLst>
          </a:custGeom>
          <a:gradFill rotWithShape="1">
            <a:gsLst>
              <a:gs pos="0">
                <a:srgbClr val="64A5DD"/>
              </a:gs>
              <a:gs pos="100000">
                <a:srgbClr val="4694D7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gear-in-技术驱动"/>
          <p:cNvSpPr/>
          <p:nvPr/>
        </p:nvSpPr>
        <p:spPr>
          <a:xfrm>
            <a:off x="7640320" y="3004820"/>
            <a:ext cx="1102360" cy="1102360"/>
          </a:xfrm>
          <a:prstGeom prst="ellipse">
            <a:avLst/>
          </a:prstGeom>
          <a:solidFill>
            <a:srgbClr val="FFFFF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gear-ring-技术驱动"/>
          <p:cNvSpPr/>
          <p:nvPr/>
        </p:nvSpPr>
        <p:spPr>
          <a:xfrm>
            <a:off x="7640320" y="3004820"/>
            <a:ext cx="1102360" cy="1102360"/>
          </a:xfrm>
          <a:prstGeom prst="ellipse">
            <a:avLst/>
          </a:prstGeom>
          <a:noFill/>
          <a:ln w="10160" cap="rnd">
            <a:solidFill>
              <a:srgbClr val="FFFFFF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icon-code"/>
          <p:cNvSpPr/>
          <p:nvPr/>
        </p:nvSpPr>
        <p:spPr>
          <a:xfrm>
            <a:off x="8118666" y="3311906"/>
            <a:ext cx="145669" cy="78740"/>
          </a:xfrm>
          <a:custGeom>
            <a:avLst/>
            <a:gdLst/>
            <a:ahLst/>
            <a:cxnLst/>
            <a:rect l="0" t="0" r="r" b="b"/>
            <a:pathLst>
              <a:path w="145669" h="78740">
                <a:moveTo>
                  <a:pt x="43307" y="0"/>
                </a:moveTo>
                <a:lnTo>
                  <a:pt x="0" y="39370"/>
                </a:lnTo>
                <a:lnTo>
                  <a:pt x="43307" y="78740"/>
                </a:lnTo>
                <a:moveTo>
                  <a:pt x="102362" y="0"/>
                </a:moveTo>
                <a:lnTo>
                  <a:pt x="145669" y="39370"/>
                </a:lnTo>
                <a:lnTo>
                  <a:pt x="102362" y="78740"/>
                </a:lnTo>
              </a:path>
            </a:pathLst>
          </a:custGeom>
          <a:noFill/>
          <a:ln w="1397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gname-技术驱动"/>
          <p:cNvSpPr txBox="1"/>
          <p:nvPr/>
        </p:nvSpPr>
        <p:spPr>
          <a:xfrm>
            <a:off x="7817485" y="3462210"/>
            <a:ext cx="7480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技术驱动</a:t>
            </a:r>
          </a:p>
        </p:txBody>
      </p:sp>
      <p:sp>
        <p:nvSpPr>
          <p:cNvPr id="29" name="gen-技术驱动"/>
          <p:cNvSpPr txBox="1"/>
          <p:nvPr/>
        </p:nvSpPr>
        <p:spPr>
          <a:xfrm>
            <a:off x="7820025" y="3650933"/>
            <a:ext cx="74295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30">
                <a:solidFill>
                  <a:srgbClr val="D6E6F8"/>
                </a:solidFill>
                <a:latin typeface="Arial"/>
                <a:ea typeface="Arial"/>
                <a:cs typeface="Arial"/>
              </a:rPr>
              <a:t>TECHNOLOGY</a:t>
            </a:r>
          </a:p>
        </p:txBody>
      </p:sp>
      <p:sp>
        <p:nvSpPr>
          <p:cNvPr id="30" name="rot-1"/>
          <p:cNvSpPr/>
          <p:nvPr/>
        </p:nvSpPr>
        <p:spPr>
          <a:xfrm>
            <a:off x="2906776" y="2020245"/>
            <a:ext cx="1717548" cy="292552"/>
          </a:xfrm>
          <a:custGeom>
            <a:avLst/>
            <a:gdLst/>
            <a:ahLst/>
            <a:cxnLst/>
            <a:rect l="0" t="0" r="r" b="b"/>
            <a:pathLst>
              <a:path w="1717548" h="292552">
                <a:moveTo>
                  <a:pt x="0" y="292552"/>
                </a:moveTo>
                <a:cubicBezTo>
                  <a:pt x="506774" y="-75645"/>
                  <a:pt x="1186313" y="-99387"/>
                  <a:pt x="1717548" y="232545"/>
                </a:cubicBezTo>
              </a:path>
            </a:pathLst>
          </a:custGeom>
          <a:noFill/>
          <a:ln w="12700" cap="rnd">
            <a:solidFill>
              <a:srgbClr val="1B5AA8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rot-h-1"/>
          <p:cNvSpPr/>
          <p:nvPr/>
        </p:nvSpPr>
        <p:spPr>
          <a:xfrm>
            <a:off x="4396740" y="2094865"/>
            <a:ext cx="227330" cy="158115"/>
          </a:xfrm>
          <a:custGeom>
            <a:avLst/>
            <a:gdLst/>
            <a:ahLst/>
            <a:cxnLst/>
            <a:rect l="0" t="0" r="r" b="b"/>
            <a:pathLst>
              <a:path w="227330" h="158115">
                <a:moveTo>
                  <a:pt x="38100" y="0"/>
                </a:moveTo>
                <a:lnTo>
                  <a:pt x="227330" y="158115"/>
                </a:lnTo>
                <a:lnTo>
                  <a:pt x="0" y="107950"/>
                </a:lnTo>
              </a:path>
            </a:pathLst>
          </a:custGeom>
          <a:noFill/>
          <a:ln w="12700" cap="rnd">
            <a:solidFill>
              <a:srgbClr val="1B5AA8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rot-2"/>
          <p:cNvSpPr/>
          <p:nvPr/>
        </p:nvSpPr>
        <p:spPr>
          <a:xfrm>
            <a:off x="5496687" y="4573206"/>
            <a:ext cx="1405255" cy="239319"/>
          </a:xfrm>
          <a:custGeom>
            <a:avLst/>
            <a:gdLst/>
            <a:ahLst/>
            <a:cxnLst/>
            <a:rect l="0" t="0" r="r" b="b"/>
            <a:pathLst>
              <a:path w="1405255" h="239319">
                <a:moveTo>
                  <a:pt x="1405255" y="49022"/>
                </a:moveTo>
                <a:cubicBezTo>
                  <a:pt x="970626" y="320619"/>
                  <a:pt x="414646" y="301224"/>
                  <a:pt x="0" y="0"/>
                </a:cubicBezTo>
              </a:path>
            </a:pathLst>
          </a:custGeom>
          <a:noFill/>
          <a:ln w="12700" cap="rnd">
            <a:solidFill>
              <a:srgbClr val="1B5AA8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rot-h-2"/>
          <p:cNvSpPr/>
          <p:nvPr/>
        </p:nvSpPr>
        <p:spPr>
          <a:xfrm>
            <a:off x="5496560" y="4573270"/>
            <a:ext cx="148590" cy="143510"/>
          </a:xfrm>
          <a:custGeom>
            <a:avLst/>
            <a:gdLst/>
            <a:ahLst/>
            <a:cxnLst/>
            <a:rect l="0" t="0" r="r" b="b"/>
            <a:pathLst>
              <a:path w="148590" h="143510">
                <a:moveTo>
                  <a:pt x="148590" y="35560"/>
                </a:moveTo>
                <a:lnTo>
                  <a:pt x="0" y="0"/>
                </a:lnTo>
                <a:lnTo>
                  <a:pt x="110490" y="143510"/>
                </a:lnTo>
              </a:path>
            </a:pathLst>
          </a:custGeom>
          <a:noFill/>
          <a:ln w="12700" cap="rnd">
            <a:solidFill>
              <a:srgbClr val="1B5AA8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rot-3"/>
          <p:cNvSpPr/>
          <p:nvPr/>
        </p:nvSpPr>
        <p:spPr>
          <a:xfrm>
            <a:off x="7557008" y="2477160"/>
            <a:ext cx="1206564" cy="205524"/>
          </a:xfrm>
          <a:custGeom>
            <a:avLst/>
            <a:gdLst/>
            <a:ahLst/>
            <a:cxnLst/>
            <a:rect l="0" t="0" r="r" b="b"/>
            <a:pathLst>
              <a:path w="1206564" h="205524">
                <a:moveTo>
                  <a:pt x="0" y="205524"/>
                </a:moveTo>
                <a:cubicBezTo>
                  <a:pt x="356001" y="-53140"/>
                  <a:pt x="833375" y="-69822"/>
                  <a:pt x="1206564" y="163360"/>
                </a:cubicBezTo>
              </a:path>
            </a:pathLst>
          </a:custGeom>
          <a:noFill/>
          <a:ln w="12700" cap="rnd">
            <a:solidFill>
              <a:srgbClr val="1B5AA8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rot-h-3"/>
          <p:cNvSpPr/>
          <p:nvPr/>
        </p:nvSpPr>
        <p:spPr>
          <a:xfrm>
            <a:off x="8592185" y="2512695"/>
            <a:ext cx="171450" cy="127635"/>
          </a:xfrm>
          <a:custGeom>
            <a:avLst/>
            <a:gdLst/>
            <a:ahLst/>
            <a:cxnLst/>
            <a:rect l="0" t="0" r="r" b="b"/>
            <a:pathLst>
              <a:path w="171450" h="127635">
                <a:moveTo>
                  <a:pt x="38100" y="0"/>
                </a:moveTo>
                <a:lnTo>
                  <a:pt x="171450" y="127635"/>
                </a:lnTo>
                <a:lnTo>
                  <a:pt x="0" y="107950"/>
                </a:lnTo>
              </a:path>
            </a:pathLst>
          </a:custGeom>
          <a:noFill/>
          <a:ln w="12700" cap="rnd">
            <a:solidFill>
              <a:srgbClr val="1B5AA8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lead-bar"/>
          <p:cNvSpPr/>
          <p:nvPr/>
        </p:nvSpPr>
        <p:spPr>
          <a:xfrm>
            <a:off x="952500" y="1562100"/>
            <a:ext cx="25400" cy="7493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lead-h"/>
          <p:cNvSpPr txBox="1"/>
          <p:nvPr/>
        </p:nvSpPr>
        <p:spPr>
          <a:xfrm>
            <a:off x="1100836" y="1618170"/>
            <a:ext cx="7480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咬合关系</a:t>
            </a:r>
          </a:p>
        </p:txBody>
      </p:sp>
      <p:sp>
        <p:nvSpPr>
          <p:cNvPr id="38" name="lead-p1"/>
          <p:cNvSpPr txBox="1"/>
          <p:nvPr/>
        </p:nvSpPr>
        <p:spPr>
          <a:xfrm>
            <a:off x="1104265" y="18820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战略齿轮每转一圈，</a:t>
            </a:r>
          </a:p>
        </p:txBody>
      </p:sp>
      <p:sp>
        <p:nvSpPr>
          <p:cNvPr id="39" name="lead-p2"/>
          <p:cNvSpPr txBox="1"/>
          <p:nvPr/>
        </p:nvSpPr>
        <p:spPr>
          <a:xfrm>
            <a:off x="1104265" y="2059861"/>
            <a:ext cx="17706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运营转 1.6 圈、技术转 2.2 圈</a:t>
            </a:r>
          </a:p>
        </p:txBody>
      </p:sp>
      <p:sp>
        <p:nvSpPr>
          <p:cNvPr id="40" name="note-1"/>
          <p:cNvSpPr/>
          <p:nvPr/>
        </p:nvSpPr>
        <p:spPr>
          <a:xfrm>
            <a:off x="9436100" y="1663700"/>
            <a:ext cx="1803400" cy="939800"/>
          </a:xfrm>
          <a:custGeom>
            <a:avLst/>
            <a:gdLst/>
            <a:ahLst/>
            <a:cxnLst/>
            <a:rect l="0" t="0" r="r" b="b"/>
            <a:pathLst>
              <a:path w="1803400" h="939800">
                <a:moveTo>
                  <a:pt x="114300" y="0"/>
                </a:moveTo>
                <a:lnTo>
                  <a:pt x="1689100" y="0"/>
                </a:lnTo>
                <a:cubicBezTo>
                  <a:pt x="1752219" y="0"/>
                  <a:pt x="1803400" y="51181"/>
                  <a:pt x="1803400" y="114300"/>
                </a:cubicBezTo>
                <a:lnTo>
                  <a:pt x="1803400" y="825500"/>
                </a:lnTo>
                <a:cubicBezTo>
                  <a:pt x="1803400" y="888619"/>
                  <a:pt x="1752219" y="939800"/>
                  <a:pt x="1689100" y="939800"/>
                </a:cubicBezTo>
                <a:lnTo>
                  <a:pt x="114300" y="939800"/>
                </a:lnTo>
                <a:cubicBezTo>
                  <a:pt x="51181" y="939800"/>
                  <a:pt x="0" y="888619"/>
                  <a:pt x="0" y="825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notecap-1"/>
          <p:cNvSpPr/>
          <p:nvPr/>
        </p:nvSpPr>
        <p:spPr>
          <a:xfrm>
            <a:off x="9436100" y="1663700"/>
            <a:ext cx="1803400" cy="38100"/>
          </a:xfrm>
          <a:custGeom>
            <a:avLst/>
            <a:gdLst/>
            <a:ahLst/>
            <a:cxnLst/>
            <a:rect l="0" t="0" r="r" b="b"/>
            <a:pathLst>
              <a:path w="1803400" h="38100">
                <a:moveTo>
                  <a:pt x="19050" y="0"/>
                </a:moveTo>
                <a:lnTo>
                  <a:pt x="1784350" y="0"/>
                </a:lnTo>
                <a:cubicBezTo>
                  <a:pt x="1794891" y="0"/>
                  <a:pt x="1803400" y="8509"/>
                  <a:pt x="1803400" y="19050"/>
                </a:cubicBezTo>
                <a:lnTo>
                  <a:pt x="1803400" y="19050"/>
                </a:lnTo>
                <a:cubicBezTo>
                  <a:pt x="1803400" y="29591"/>
                  <a:pt x="1794891" y="38100"/>
                  <a:pt x="17843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noteno-1"/>
          <p:cNvSpPr/>
          <p:nvPr/>
        </p:nvSpPr>
        <p:spPr>
          <a:xfrm>
            <a:off x="9588500" y="1879600"/>
            <a:ext cx="228600" cy="228600"/>
          </a:xfrm>
          <a:prstGeom prst="ellipse">
            <a:avLst/>
          </a:pr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notenot-1"/>
          <p:cNvSpPr txBox="1"/>
          <p:nvPr/>
        </p:nvSpPr>
        <p:spPr>
          <a:xfrm>
            <a:off x="9623996" y="1898682"/>
            <a:ext cx="15760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44" name="noten-1"/>
          <p:cNvSpPr txBox="1"/>
          <p:nvPr/>
        </p:nvSpPr>
        <p:spPr>
          <a:xfrm>
            <a:off x="9877298" y="1880013"/>
            <a:ext cx="69405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8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战略牵引</a:t>
            </a:r>
          </a:p>
        </p:txBody>
      </p:sp>
      <p:sp>
        <p:nvSpPr>
          <p:cNvPr id="45" name="noted-1-1"/>
          <p:cNvSpPr/>
          <p:nvPr/>
        </p:nvSpPr>
        <p:spPr>
          <a:xfrm>
            <a:off x="9606280" y="2195830"/>
            <a:ext cx="40640" cy="40640"/>
          </a:xfrm>
          <a:prstGeom prst="ellipse">
            <a:avLst/>
          </a:prstGeom>
          <a:solidFill>
            <a:srgbClr val="0B3E8F">
              <a:alpha val="7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notep-1-1"/>
          <p:cNvSpPr txBox="1"/>
          <p:nvPr/>
        </p:nvSpPr>
        <p:spPr>
          <a:xfrm>
            <a:off x="9716770" y="2130266"/>
            <a:ext cx="8629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年度目标逐层拆解</a:t>
            </a:r>
          </a:p>
        </p:txBody>
      </p:sp>
      <p:sp>
        <p:nvSpPr>
          <p:cNvPr id="47" name="noted-1-2"/>
          <p:cNvSpPr/>
          <p:nvPr/>
        </p:nvSpPr>
        <p:spPr>
          <a:xfrm>
            <a:off x="9606280" y="2373630"/>
            <a:ext cx="40640" cy="40640"/>
          </a:xfrm>
          <a:prstGeom prst="ellipse">
            <a:avLst/>
          </a:prstGeom>
          <a:solidFill>
            <a:srgbClr val="0B3E8F">
              <a:alpha val="7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notep-1-2"/>
          <p:cNvSpPr txBox="1"/>
          <p:nvPr/>
        </p:nvSpPr>
        <p:spPr>
          <a:xfrm>
            <a:off x="9716770" y="2308066"/>
            <a:ext cx="8629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季度复盘动态校准</a:t>
            </a:r>
          </a:p>
        </p:txBody>
      </p:sp>
      <p:sp>
        <p:nvSpPr>
          <p:cNvPr id="49" name="note-2"/>
          <p:cNvSpPr/>
          <p:nvPr/>
        </p:nvSpPr>
        <p:spPr>
          <a:xfrm>
            <a:off x="9436100" y="2781300"/>
            <a:ext cx="1803400" cy="939800"/>
          </a:xfrm>
          <a:custGeom>
            <a:avLst/>
            <a:gdLst/>
            <a:ahLst/>
            <a:cxnLst/>
            <a:rect l="0" t="0" r="r" b="b"/>
            <a:pathLst>
              <a:path w="1803400" h="939800">
                <a:moveTo>
                  <a:pt x="114300" y="0"/>
                </a:moveTo>
                <a:lnTo>
                  <a:pt x="1689100" y="0"/>
                </a:lnTo>
                <a:cubicBezTo>
                  <a:pt x="1752219" y="0"/>
                  <a:pt x="1803400" y="51181"/>
                  <a:pt x="1803400" y="114300"/>
                </a:cubicBezTo>
                <a:lnTo>
                  <a:pt x="1803400" y="825500"/>
                </a:lnTo>
                <a:cubicBezTo>
                  <a:pt x="1803400" y="888619"/>
                  <a:pt x="1752219" y="939800"/>
                  <a:pt x="1689100" y="939800"/>
                </a:cubicBezTo>
                <a:lnTo>
                  <a:pt x="114300" y="939800"/>
                </a:lnTo>
                <a:cubicBezTo>
                  <a:pt x="51181" y="939800"/>
                  <a:pt x="0" y="888619"/>
                  <a:pt x="0" y="825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notecap-2"/>
          <p:cNvSpPr/>
          <p:nvPr/>
        </p:nvSpPr>
        <p:spPr>
          <a:xfrm>
            <a:off x="9436100" y="2781300"/>
            <a:ext cx="1803400" cy="38100"/>
          </a:xfrm>
          <a:custGeom>
            <a:avLst/>
            <a:gdLst/>
            <a:ahLst/>
            <a:cxnLst/>
            <a:rect l="0" t="0" r="r" b="b"/>
            <a:pathLst>
              <a:path w="1803400" h="38100">
                <a:moveTo>
                  <a:pt x="19050" y="0"/>
                </a:moveTo>
                <a:lnTo>
                  <a:pt x="1784350" y="0"/>
                </a:lnTo>
                <a:cubicBezTo>
                  <a:pt x="1794891" y="0"/>
                  <a:pt x="1803400" y="8509"/>
                  <a:pt x="1803400" y="19050"/>
                </a:cubicBezTo>
                <a:lnTo>
                  <a:pt x="1803400" y="19050"/>
                </a:lnTo>
                <a:cubicBezTo>
                  <a:pt x="1803400" y="29591"/>
                  <a:pt x="1794891" y="38100"/>
                  <a:pt x="17843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noteno-2"/>
          <p:cNvSpPr/>
          <p:nvPr/>
        </p:nvSpPr>
        <p:spPr>
          <a:xfrm>
            <a:off x="9588500" y="2997200"/>
            <a:ext cx="228600" cy="228600"/>
          </a:xfrm>
          <a:prstGeom prst="ellipse">
            <a:avLst/>
          </a:prstGeom>
          <a:solidFill>
            <a:srgbClr val="2468B6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notenot-2"/>
          <p:cNvSpPr txBox="1"/>
          <p:nvPr/>
        </p:nvSpPr>
        <p:spPr>
          <a:xfrm>
            <a:off x="9623996" y="3016282"/>
            <a:ext cx="15760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53" name="noten-2"/>
          <p:cNvSpPr txBox="1"/>
          <p:nvPr/>
        </p:nvSpPr>
        <p:spPr>
          <a:xfrm>
            <a:off x="9877298" y="2997613"/>
            <a:ext cx="69405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8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运营支撑</a:t>
            </a:r>
          </a:p>
        </p:txBody>
      </p:sp>
      <p:sp>
        <p:nvSpPr>
          <p:cNvPr id="54" name="noted-2-1"/>
          <p:cNvSpPr/>
          <p:nvPr/>
        </p:nvSpPr>
        <p:spPr>
          <a:xfrm>
            <a:off x="9606280" y="3313430"/>
            <a:ext cx="40640" cy="40640"/>
          </a:xfrm>
          <a:prstGeom prst="ellipse">
            <a:avLst/>
          </a:prstGeom>
          <a:solidFill>
            <a:srgbClr val="2468B6">
              <a:alpha val="7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notep-2-1"/>
          <p:cNvSpPr txBox="1"/>
          <p:nvPr/>
        </p:nvSpPr>
        <p:spPr>
          <a:xfrm>
            <a:off x="9716770" y="3247866"/>
            <a:ext cx="96012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流程标准与责任到岗</a:t>
            </a:r>
          </a:p>
        </p:txBody>
      </p:sp>
      <p:sp>
        <p:nvSpPr>
          <p:cNvPr id="56" name="noted-2-2"/>
          <p:cNvSpPr/>
          <p:nvPr/>
        </p:nvSpPr>
        <p:spPr>
          <a:xfrm>
            <a:off x="9606280" y="3491230"/>
            <a:ext cx="40640" cy="40640"/>
          </a:xfrm>
          <a:prstGeom prst="ellipse">
            <a:avLst/>
          </a:prstGeom>
          <a:solidFill>
            <a:srgbClr val="2468B6">
              <a:alpha val="7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notep-2-2"/>
          <p:cNvSpPr txBox="1"/>
          <p:nvPr/>
        </p:nvSpPr>
        <p:spPr>
          <a:xfrm>
            <a:off x="9716770" y="3425666"/>
            <a:ext cx="8629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资源按优先级配置</a:t>
            </a:r>
          </a:p>
        </p:txBody>
      </p:sp>
      <p:sp>
        <p:nvSpPr>
          <p:cNvPr id="58" name="note-3"/>
          <p:cNvSpPr/>
          <p:nvPr/>
        </p:nvSpPr>
        <p:spPr>
          <a:xfrm>
            <a:off x="9436100" y="3898900"/>
            <a:ext cx="1803400" cy="939800"/>
          </a:xfrm>
          <a:custGeom>
            <a:avLst/>
            <a:gdLst/>
            <a:ahLst/>
            <a:cxnLst/>
            <a:rect l="0" t="0" r="r" b="b"/>
            <a:pathLst>
              <a:path w="1803400" h="939800">
                <a:moveTo>
                  <a:pt x="114300" y="0"/>
                </a:moveTo>
                <a:lnTo>
                  <a:pt x="1689100" y="0"/>
                </a:lnTo>
                <a:cubicBezTo>
                  <a:pt x="1752219" y="0"/>
                  <a:pt x="1803400" y="51181"/>
                  <a:pt x="1803400" y="114300"/>
                </a:cubicBezTo>
                <a:lnTo>
                  <a:pt x="1803400" y="825500"/>
                </a:lnTo>
                <a:cubicBezTo>
                  <a:pt x="1803400" y="888619"/>
                  <a:pt x="1752219" y="939800"/>
                  <a:pt x="1689100" y="939800"/>
                </a:cubicBezTo>
                <a:lnTo>
                  <a:pt x="114300" y="939800"/>
                </a:lnTo>
                <a:cubicBezTo>
                  <a:pt x="51181" y="939800"/>
                  <a:pt x="0" y="888619"/>
                  <a:pt x="0" y="825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notecap-3"/>
          <p:cNvSpPr/>
          <p:nvPr/>
        </p:nvSpPr>
        <p:spPr>
          <a:xfrm>
            <a:off x="9436100" y="3898900"/>
            <a:ext cx="1803400" cy="38100"/>
          </a:xfrm>
          <a:custGeom>
            <a:avLst/>
            <a:gdLst/>
            <a:ahLst/>
            <a:cxnLst/>
            <a:rect l="0" t="0" r="r" b="b"/>
            <a:pathLst>
              <a:path w="1803400" h="38100">
                <a:moveTo>
                  <a:pt x="19050" y="0"/>
                </a:moveTo>
                <a:lnTo>
                  <a:pt x="1784350" y="0"/>
                </a:lnTo>
                <a:cubicBezTo>
                  <a:pt x="1794891" y="0"/>
                  <a:pt x="1803400" y="8509"/>
                  <a:pt x="1803400" y="19050"/>
                </a:cubicBezTo>
                <a:lnTo>
                  <a:pt x="1803400" y="19050"/>
                </a:lnTo>
                <a:cubicBezTo>
                  <a:pt x="1803400" y="29591"/>
                  <a:pt x="1794891" y="38100"/>
                  <a:pt x="17843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noteno-3"/>
          <p:cNvSpPr/>
          <p:nvPr/>
        </p:nvSpPr>
        <p:spPr>
          <a:xfrm>
            <a:off x="9588500" y="4114800"/>
            <a:ext cx="228600" cy="228600"/>
          </a:xfrm>
          <a:prstGeom prst="ellipse">
            <a:avLst/>
          </a:prstGeom>
          <a:solidFill>
            <a:srgbClr val="4694D7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notenot-3"/>
          <p:cNvSpPr txBox="1"/>
          <p:nvPr/>
        </p:nvSpPr>
        <p:spPr>
          <a:xfrm>
            <a:off x="9623996" y="4133882"/>
            <a:ext cx="15760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4694D7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62" name="noten-3"/>
          <p:cNvSpPr txBox="1"/>
          <p:nvPr/>
        </p:nvSpPr>
        <p:spPr>
          <a:xfrm>
            <a:off x="9877298" y="4115213"/>
            <a:ext cx="69405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8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技术驱动</a:t>
            </a:r>
          </a:p>
        </p:txBody>
      </p:sp>
      <p:sp>
        <p:nvSpPr>
          <p:cNvPr id="63" name="noted-3-1"/>
          <p:cNvSpPr/>
          <p:nvPr/>
        </p:nvSpPr>
        <p:spPr>
          <a:xfrm>
            <a:off x="9606280" y="4431030"/>
            <a:ext cx="40640" cy="40640"/>
          </a:xfrm>
          <a:prstGeom prst="ellipse">
            <a:avLst/>
          </a:prstGeom>
          <a:solidFill>
            <a:srgbClr val="4694D7">
              <a:alpha val="7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notep-3-1"/>
          <p:cNvSpPr txBox="1"/>
          <p:nvPr/>
        </p:nvSpPr>
        <p:spPr>
          <a:xfrm>
            <a:off x="9716770" y="4365466"/>
            <a:ext cx="8629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平台能力持续迭代</a:t>
            </a:r>
          </a:p>
        </p:txBody>
      </p:sp>
      <p:sp>
        <p:nvSpPr>
          <p:cNvPr id="65" name="noted-3-2"/>
          <p:cNvSpPr/>
          <p:nvPr/>
        </p:nvSpPr>
        <p:spPr>
          <a:xfrm>
            <a:off x="9606280" y="4608830"/>
            <a:ext cx="40640" cy="40640"/>
          </a:xfrm>
          <a:prstGeom prst="ellipse">
            <a:avLst/>
          </a:prstGeom>
          <a:solidFill>
            <a:srgbClr val="4694D7">
              <a:alpha val="7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notep-3-2"/>
          <p:cNvSpPr txBox="1"/>
          <p:nvPr/>
        </p:nvSpPr>
        <p:spPr>
          <a:xfrm>
            <a:off x="9716770" y="4543266"/>
            <a:ext cx="8629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数据反哺经营决策</a:t>
            </a:r>
          </a:p>
        </p:txBody>
      </p:sp>
      <p:sp>
        <p:nvSpPr>
          <p:cNvPr id="67" name="sum"/>
          <p:cNvSpPr/>
          <p:nvPr/>
        </p:nvSpPr>
        <p:spPr>
          <a:xfrm>
            <a:off x="952500" y="5435600"/>
            <a:ext cx="10287000" cy="584200"/>
          </a:xfrm>
          <a:custGeom>
            <a:avLst/>
            <a:gdLst/>
            <a:ahLst/>
            <a:cxnLst/>
            <a:rect l="0" t="0" r="r" b="b"/>
            <a:pathLst>
              <a:path w="10287000" h="5842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82600"/>
                </a:lnTo>
                <a:cubicBezTo>
                  <a:pt x="10287000" y="538734"/>
                  <a:pt x="10241534" y="584200"/>
                  <a:pt x="10185400" y="584200"/>
                </a:cubicBezTo>
                <a:lnTo>
                  <a:pt x="101600" y="584200"/>
                </a:lnTo>
                <a:cubicBezTo>
                  <a:pt x="45466" y="584200"/>
                  <a:pt x="0" y="538734"/>
                  <a:pt x="0" y="482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sum-bar"/>
          <p:cNvSpPr/>
          <p:nvPr/>
        </p:nvSpPr>
        <p:spPr>
          <a:xfrm>
            <a:off x="952500" y="5435600"/>
            <a:ext cx="31750" cy="5842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sum-h"/>
          <p:cNvSpPr txBox="1"/>
          <p:nvPr/>
        </p:nvSpPr>
        <p:spPr>
          <a:xfrm>
            <a:off x="1141222" y="55405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联动要点</a:t>
            </a:r>
          </a:p>
        </p:txBody>
      </p:sp>
      <p:sp>
        <p:nvSpPr>
          <p:cNvPr id="70" name="sum-p"/>
          <p:cNvSpPr txBox="1"/>
          <p:nvPr/>
        </p:nvSpPr>
        <p:spPr>
          <a:xfrm>
            <a:off x="1142365" y="5755561"/>
            <a:ext cx="46466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三套体系共用同一套目标与数据口径，任一体系滞后都会在下一季度的经营结果中被放大。</a:t>
            </a:r>
          </a:p>
        </p:txBody>
      </p:sp>
      <p:sp>
        <p:nvSpPr>
          <p:cNvPr id="71" name="sv-1"/>
          <p:cNvSpPr txBox="1"/>
          <p:nvPr/>
        </p:nvSpPr>
        <p:spPr>
          <a:xfrm>
            <a:off x="6964490" y="5555170"/>
            <a:ext cx="1184021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1 : 1.6 : 2.2</a:t>
            </a:r>
          </a:p>
        </p:txBody>
      </p:sp>
      <p:sp>
        <p:nvSpPr>
          <p:cNvPr id="72" name="sl-1"/>
          <p:cNvSpPr txBox="1"/>
          <p:nvPr/>
        </p:nvSpPr>
        <p:spPr>
          <a:xfrm>
            <a:off x="7379335" y="5795708"/>
            <a:ext cx="3543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传动比</a:t>
            </a:r>
          </a:p>
        </p:txBody>
      </p:sp>
      <p:sp>
        <p:nvSpPr>
          <p:cNvPr id="73" name="sv-2"/>
          <p:cNvSpPr txBox="1"/>
          <p:nvPr/>
        </p:nvSpPr>
        <p:spPr>
          <a:xfrm>
            <a:off x="8620760" y="5555170"/>
            <a:ext cx="41148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季度</a:t>
            </a:r>
          </a:p>
        </p:txBody>
      </p:sp>
      <p:sp>
        <p:nvSpPr>
          <p:cNvPr id="74" name="sl-2"/>
          <p:cNvSpPr txBox="1"/>
          <p:nvPr/>
        </p:nvSpPr>
        <p:spPr>
          <a:xfrm>
            <a:off x="8603615" y="5795708"/>
            <a:ext cx="4457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校准周期</a:t>
            </a:r>
          </a:p>
        </p:txBody>
      </p:sp>
      <p:sp>
        <p:nvSpPr>
          <p:cNvPr id="75" name="sv-3"/>
          <p:cNvSpPr txBox="1"/>
          <p:nvPr/>
        </p:nvSpPr>
        <p:spPr>
          <a:xfrm>
            <a:off x="9992932" y="5555170"/>
            <a:ext cx="207137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76" name="sl-3"/>
          <p:cNvSpPr txBox="1"/>
          <p:nvPr/>
        </p:nvSpPr>
        <p:spPr>
          <a:xfrm>
            <a:off x="9873615" y="5795708"/>
            <a:ext cx="4457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体系数量</a:t>
            </a:r>
          </a:p>
        </p:txBody>
      </p:sp>
      <p:cxnSp>
        <p:nvCxnSpPr>
          <p:cNvPr id="77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8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齿轮联动 · 三大体系</a:t>
            </a:r>
          </a:p>
        </p:txBody>
      </p:sp>
      <p:sp>
        <p:nvSpPr>
          <p:cNvPr id="79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战略三大支柱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2637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THREE PILLARS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437499" y="673132"/>
            <a:ext cx="31832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一个顶层目标由三根支柱承托，共同立在同一套基础能力之上</a:t>
            </a:r>
          </a:p>
        </p:txBody>
      </p:sp>
      <p:sp>
        <p:nvSpPr>
          <p:cNvPr id="10" name="roof"/>
          <p:cNvSpPr/>
          <p:nvPr/>
        </p:nvSpPr>
        <p:spPr>
          <a:xfrm>
            <a:off x="1130300" y="1409700"/>
            <a:ext cx="9829800" cy="800100"/>
          </a:xfrm>
          <a:custGeom>
            <a:avLst/>
            <a:gdLst/>
            <a:ahLst/>
            <a:cxnLst/>
            <a:rect l="0" t="0" r="r" b="b"/>
            <a:pathLst>
              <a:path w="9829800" h="800100">
                <a:moveTo>
                  <a:pt x="127000" y="0"/>
                </a:moveTo>
                <a:lnTo>
                  <a:pt x="9702800" y="0"/>
                </a:lnTo>
                <a:cubicBezTo>
                  <a:pt x="9772968" y="0"/>
                  <a:pt x="9829800" y="56832"/>
                  <a:pt x="9829800" y="127000"/>
                </a:cubicBezTo>
                <a:lnTo>
                  <a:pt x="9829800" y="673100"/>
                </a:lnTo>
                <a:cubicBezTo>
                  <a:pt x="9829800" y="743268"/>
                  <a:pt x="9772968" y="800100"/>
                  <a:pt x="9702800" y="800100"/>
                </a:cubicBezTo>
                <a:lnTo>
                  <a:pt x="127000" y="800100"/>
                </a:lnTo>
                <a:cubicBezTo>
                  <a:pt x="56832" y="800100"/>
                  <a:pt x="0" y="743268"/>
                  <a:pt x="0" y="673100"/>
                </a:cubicBezTo>
                <a:lnTo>
                  <a:pt x="0" y="127000"/>
                </a:lnTo>
                <a:cubicBezTo>
                  <a:pt x="0" y="56832"/>
                  <a:pt x="56832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0A3A88"/>
              </a:gs>
            </a:gsLst>
            <a:lin ang="0" scaled="0"/>
          </a:gra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icon-award"/>
          <p:cNvSpPr/>
          <p:nvPr/>
        </p:nvSpPr>
        <p:spPr>
          <a:xfrm>
            <a:off x="1466850" y="1837246"/>
            <a:ext cx="88900" cy="61405"/>
          </a:xfrm>
          <a:custGeom>
            <a:avLst/>
            <a:gdLst/>
            <a:ahLst/>
            <a:cxnLst/>
            <a:rect l="0" t="0" r="r" b="b"/>
            <a:pathLst>
              <a:path w="88900" h="61405">
                <a:moveTo>
                  <a:pt x="16954" y="0"/>
                </a:moveTo>
                <a:lnTo>
                  <a:pt x="0" y="61405"/>
                </a:lnTo>
                <a:lnTo>
                  <a:pt x="44450" y="38100"/>
                </a:lnTo>
                <a:lnTo>
                  <a:pt x="88900" y="61405"/>
                </a:lnTo>
                <a:lnTo>
                  <a:pt x="71946" y="0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icon-award"/>
          <p:cNvSpPr/>
          <p:nvPr/>
        </p:nvSpPr>
        <p:spPr>
          <a:xfrm>
            <a:off x="1452033" y="1722967"/>
            <a:ext cx="118533" cy="118533"/>
          </a:xfrm>
          <a:prstGeom prst="ellipse">
            <a:avLst/>
          </a:pr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roof-t"/>
          <p:cNvSpPr txBox="1"/>
          <p:nvPr/>
        </p:nvSpPr>
        <p:spPr>
          <a:xfrm>
            <a:off x="1767840" y="1530032"/>
            <a:ext cx="268605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2028 年成为行业首选伙伴</a:t>
            </a:r>
          </a:p>
        </p:txBody>
      </p:sp>
      <p:sp>
        <p:nvSpPr>
          <p:cNvPr id="14" name="roof-p"/>
          <p:cNvSpPr txBox="1"/>
          <p:nvPr/>
        </p:nvSpPr>
        <p:spPr>
          <a:xfrm>
            <a:off x="1790065" y="1856661"/>
            <a:ext cx="214344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4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营收 30 亿 · 市占率 12% · NPS 75</a:t>
            </a:r>
          </a:p>
        </p:txBody>
      </p:sp>
      <p:sp>
        <p:nvSpPr>
          <p:cNvPr id="15" name="roof-chip"/>
          <p:cNvSpPr/>
          <p:nvPr/>
        </p:nvSpPr>
        <p:spPr>
          <a:xfrm>
            <a:off x="9601200" y="1651000"/>
            <a:ext cx="1003300" cy="317500"/>
          </a:xfrm>
          <a:custGeom>
            <a:avLst/>
            <a:gdLst/>
            <a:ahLst/>
            <a:cxnLst/>
            <a:rect l="0" t="0" r="r" b="b"/>
            <a:pathLst>
              <a:path w="1003300" h="317500">
                <a:moveTo>
                  <a:pt x="158750" y="0"/>
                </a:moveTo>
                <a:lnTo>
                  <a:pt x="844550" y="0"/>
                </a:lnTo>
                <a:cubicBezTo>
                  <a:pt x="932243" y="0"/>
                  <a:pt x="1003300" y="71056"/>
                  <a:pt x="1003300" y="158750"/>
                </a:cubicBezTo>
                <a:lnTo>
                  <a:pt x="1003300" y="158750"/>
                </a:lnTo>
                <a:cubicBezTo>
                  <a:pt x="1003300" y="246444"/>
                  <a:pt x="932243" y="317500"/>
                  <a:pt x="844550" y="317500"/>
                </a:cubicBezTo>
                <a:lnTo>
                  <a:pt x="158750" y="317500"/>
                </a:lnTo>
                <a:cubicBezTo>
                  <a:pt x="71057" y="317500"/>
                  <a:pt x="0" y="246444"/>
                  <a:pt x="0" y="158750"/>
                </a:cubicBezTo>
                <a:lnTo>
                  <a:pt x="0" y="158750"/>
                </a:lnTo>
                <a:cubicBezTo>
                  <a:pt x="0" y="71056"/>
                  <a:pt x="71057" y="0"/>
                  <a:pt x="158750" y="0"/>
                </a:cubicBezTo>
                <a:close/>
              </a:path>
            </a:pathLst>
          </a:custGeom>
          <a:solidFill>
            <a:srgbClr val="FFFFF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roof-chipt"/>
          <p:cNvSpPr txBox="1"/>
          <p:nvPr/>
        </p:nvSpPr>
        <p:spPr>
          <a:xfrm>
            <a:off x="9812972" y="17208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总体目标</a:t>
            </a:r>
          </a:p>
        </p:txBody>
      </p:sp>
      <p:sp>
        <p:nvSpPr>
          <p:cNvPr id="17" name="pillar-1"/>
          <p:cNvSpPr/>
          <p:nvPr/>
        </p:nvSpPr>
        <p:spPr>
          <a:xfrm>
            <a:off x="1358900" y="2362200"/>
            <a:ext cx="2971800" cy="2514600"/>
          </a:xfrm>
          <a:custGeom>
            <a:avLst/>
            <a:gdLst/>
            <a:ahLst/>
            <a:cxnLst/>
            <a:rect l="0" t="0" r="r" b="b"/>
            <a:pathLst>
              <a:path w="2971800" h="2514600">
                <a:moveTo>
                  <a:pt x="114300" y="0"/>
                </a:moveTo>
                <a:lnTo>
                  <a:pt x="2857500" y="0"/>
                </a:lnTo>
                <a:cubicBezTo>
                  <a:pt x="2920619" y="0"/>
                  <a:pt x="2971800" y="51181"/>
                  <a:pt x="2971800" y="114300"/>
                </a:cubicBezTo>
                <a:lnTo>
                  <a:pt x="2971800" y="2400300"/>
                </a:lnTo>
                <a:cubicBezTo>
                  <a:pt x="2971800" y="2463419"/>
                  <a:pt x="2920619" y="2514600"/>
                  <a:pt x="2857500" y="2514600"/>
                </a:cubicBezTo>
                <a:lnTo>
                  <a:pt x="114300" y="2514600"/>
                </a:lnTo>
                <a:cubicBezTo>
                  <a:pt x="51181" y="2514600"/>
                  <a:pt x="0" y="2463419"/>
                  <a:pt x="0" y="2400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pcap-1"/>
          <p:cNvSpPr/>
          <p:nvPr/>
        </p:nvSpPr>
        <p:spPr>
          <a:xfrm>
            <a:off x="1358900" y="2362200"/>
            <a:ext cx="2971800" cy="50800"/>
          </a:xfrm>
          <a:custGeom>
            <a:avLst/>
            <a:gdLst/>
            <a:ahLst/>
            <a:cxnLst/>
            <a:rect l="0" t="0" r="r" b="b"/>
            <a:pathLst>
              <a:path w="2971800" h="50800">
                <a:moveTo>
                  <a:pt x="25400" y="0"/>
                </a:moveTo>
                <a:lnTo>
                  <a:pt x="2946400" y="0"/>
                </a:lnTo>
                <a:cubicBezTo>
                  <a:pt x="2960434" y="0"/>
                  <a:pt x="2971800" y="11367"/>
                  <a:pt x="2971800" y="25400"/>
                </a:cubicBezTo>
                <a:lnTo>
                  <a:pt x="2971800" y="25400"/>
                </a:lnTo>
                <a:cubicBezTo>
                  <a:pt x="2971800" y="39433"/>
                  <a:pt x="2960434" y="50800"/>
                  <a:pt x="2946400" y="50800"/>
                </a:cubicBezTo>
                <a:lnTo>
                  <a:pt x="25400" y="50800"/>
                </a:lnTo>
                <a:cubicBezTo>
                  <a:pt x="11366" y="50800"/>
                  <a:pt x="0" y="39433"/>
                  <a:pt x="0" y="25400"/>
                </a:cubicBezTo>
                <a:lnTo>
                  <a:pt x="0" y="25400"/>
                </a:lnTo>
                <a:cubicBezTo>
                  <a:pt x="0" y="11367"/>
                  <a:pt x="11366" y="0"/>
                  <a:pt x="2540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phead-1"/>
          <p:cNvSpPr/>
          <p:nvPr/>
        </p:nvSpPr>
        <p:spPr>
          <a:xfrm>
            <a:off x="1524000" y="2578100"/>
            <a:ext cx="2641600" cy="584200"/>
          </a:xfrm>
          <a:custGeom>
            <a:avLst/>
            <a:gdLst/>
            <a:ahLst/>
            <a:cxnLst/>
            <a:rect l="0" t="0" r="r" b="b"/>
            <a:pathLst>
              <a:path w="2641600" h="584200">
                <a:moveTo>
                  <a:pt x="88900" y="0"/>
                </a:moveTo>
                <a:lnTo>
                  <a:pt x="2552700" y="0"/>
                </a:lnTo>
                <a:cubicBezTo>
                  <a:pt x="2601786" y="0"/>
                  <a:pt x="2641600" y="39814"/>
                  <a:pt x="2641600" y="88900"/>
                </a:cubicBezTo>
                <a:lnTo>
                  <a:pt x="2641600" y="495300"/>
                </a:lnTo>
                <a:cubicBezTo>
                  <a:pt x="2641600" y="544386"/>
                  <a:pt x="2601786" y="584200"/>
                  <a:pt x="2552700" y="584200"/>
                </a:cubicBezTo>
                <a:lnTo>
                  <a:pt x="88900" y="584200"/>
                </a:lnTo>
                <a:cubicBezTo>
                  <a:pt x="39815" y="584200"/>
                  <a:pt x="0" y="544386"/>
                  <a:pt x="0" y="4953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134C9C">
              <a:alpha val="9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icon-rocket"/>
          <p:cNvSpPr/>
          <p:nvPr/>
        </p:nvSpPr>
        <p:spPr>
          <a:xfrm>
            <a:off x="1778635" y="2786380"/>
            <a:ext cx="125730" cy="158115"/>
          </a:xfrm>
          <a:custGeom>
            <a:avLst/>
            <a:gdLst/>
            <a:ahLst/>
            <a:cxnLst/>
            <a:rect l="0" t="0" r="r" b="b"/>
            <a:pathLst>
              <a:path w="125730" h="158115">
                <a:moveTo>
                  <a:pt x="62865" y="0"/>
                </a:moveTo>
                <a:cubicBezTo>
                  <a:pt x="91440" y="20955"/>
                  <a:pt x="106680" y="53340"/>
                  <a:pt x="106680" y="87630"/>
                </a:cubicBezTo>
                <a:lnTo>
                  <a:pt x="85725" y="121920"/>
                </a:lnTo>
                <a:lnTo>
                  <a:pt x="40005" y="121920"/>
                </a:lnTo>
                <a:lnTo>
                  <a:pt x="19050" y="87630"/>
                </a:lnTo>
                <a:cubicBezTo>
                  <a:pt x="19050" y="53340"/>
                  <a:pt x="34290" y="20955"/>
                  <a:pt x="62865" y="0"/>
                </a:cubicBezTo>
                <a:close/>
                <a:moveTo>
                  <a:pt x="19050" y="114300"/>
                </a:moveTo>
                <a:lnTo>
                  <a:pt x="0" y="158115"/>
                </a:lnTo>
                <a:lnTo>
                  <a:pt x="40005" y="142875"/>
                </a:lnTo>
                <a:moveTo>
                  <a:pt x="106680" y="114300"/>
                </a:moveTo>
                <a:lnTo>
                  <a:pt x="125730" y="158115"/>
                </a:lnTo>
                <a:lnTo>
                  <a:pt x="85725" y="142875"/>
                </a:lnTo>
              </a:path>
            </a:pathLst>
          </a:custGeom>
          <a:noFill/>
          <a:ln w="1333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pname-1"/>
          <p:cNvSpPr txBox="1"/>
          <p:nvPr/>
        </p:nvSpPr>
        <p:spPr>
          <a:xfrm>
            <a:off x="2087626" y="2633059"/>
            <a:ext cx="903605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5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产品领先</a:t>
            </a:r>
          </a:p>
        </p:txBody>
      </p:sp>
      <p:sp>
        <p:nvSpPr>
          <p:cNvPr id="22" name="pen-1"/>
          <p:cNvSpPr txBox="1"/>
          <p:nvPr/>
        </p:nvSpPr>
        <p:spPr>
          <a:xfrm>
            <a:off x="2110232" y="2925508"/>
            <a:ext cx="56184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7E93AE"/>
                </a:solidFill>
                <a:latin typeface="Arial"/>
                <a:ea typeface="Arial"/>
                <a:cs typeface="Arial"/>
              </a:rPr>
              <a:t>PRODUCT</a:t>
            </a:r>
          </a:p>
        </p:txBody>
      </p:sp>
      <p:sp>
        <p:nvSpPr>
          <p:cNvPr id="23" name="pno-1"/>
          <p:cNvSpPr txBox="1"/>
          <p:nvPr/>
        </p:nvSpPr>
        <p:spPr>
          <a:xfrm>
            <a:off x="3583940" y="2550541"/>
            <a:ext cx="564388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200" b="1">
                <a:solidFill>
                  <a:srgbClr val="134C9C">
                    <a:alpha val="14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24" name="pit-1-1"/>
          <p:cNvSpPr/>
          <p:nvPr/>
        </p:nvSpPr>
        <p:spPr>
          <a:xfrm>
            <a:off x="1524000" y="3454400"/>
            <a:ext cx="2641600" cy="330200"/>
          </a:xfrm>
          <a:custGeom>
            <a:avLst/>
            <a:gdLst/>
            <a:ahLst/>
            <a:cxnLst/>
            <a:rect l="0" t="0" r="r" b="b"/>
            <a:pathLst>
              <a:path w="2641600" h="330200">
                <a:moveTo>
                  <a:pt x="76200" y="0"/>
                </a:moveTo>
                <a:lnTo>
                  <a:pt x="2565400" y="0"/>
                </a:lnTo>
                <a:cubicBezTo>
                  <a:pt x="2607500" y="0"/>
                  <a:pt x="2641600" y="34100"/>
                  <a:pt x="2641600" y="76200"/>
                </a:cubicBezTo>
                <a:lnTo>
                  <a:pt x="2641600" y="254000"/>
                </a:lnTo>
                <a:cubicBezTo>
                  <a:pt x="2641600" y="296100"/>
                  <a:pt x="2607500" y="330200"/>
                  <a:pt x="2565400" y="330200"/>
                </a:cubicBezTo>
                <a:lnTo>
                  <a:pt x="76200" y="330200"/>
                </a:lnTo>
                <a:cubicBezTo>
                  <a:pt x="34100" y="330200"/>
                  <a:pt x="0" y="296100"/>
                  <a:pt x="0" y="2540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pd-1-1"/>
          <p:cNvSpPr/>
          <p:nvPr/>
        </p:nvSpPr>
        <p:spPr>
          <a:xfrm>
            <a:off x="1663700" y="3594100"/>
            <a:ext cx="50800" cy="508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pt-1-1"/>
          <p:cNvSpPr txBox="1"/>
          <p:nvPr/>
        </p:nvSpPr>
        <p:spPr>
          <a:xfrm>
            <a:off x="1790065" y="3526711"/>
            <a:ext cx="108997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每年 2 个旗舰新品</a:t>
            </a:r>
          </a:p>
        </p:txBody>
      </p:sp>
      <p:sp>
        <p:nvSpPr>
          <p:cNvPr id="27" name="pit-1-2"/>
          <p:cNvSpPr/>
          <p:nvPr/>
        </p:nvSpPr>
        <p:spPr>
          <a:xfrm>
            <a:off x="1524000" y="3873500"/>
            <a:ext cx="2641600" cy="330200"/>
          </a:xfrm>
          <a:custGeom>
            <a:avLst/>
            <a:gdLst/>
            <a:ahLst/>
            <a:cxnLst/>
            <a:rect l="0" t="0" r="r" b="b"/>
            <a:pathLst>
              <a:path w="2641600" h="330200">
                <a:moveTo>
                  <a:pt x="76200" y="0"/>
                </a:moveTo>
                <a:lnTo>
                  <a:pt x="2565400" y="0"/>
                </a:lnTo>
                <a:cubicBezTo>
                  <a:pt x="2607500" y="0"/>
                  <a:pt x="2641600" y="34100"/>
                  <a:pt x="2641600" y="76200"/>
                </a:cubicBezTo>
                <a:lnTo>
                  <a:pt x="2641600" y="254000"/>
                </a:lnTo>
                <a:cubicBezTo>
                  <a:pt x="2641600" y="296100"/>
                  <a:pt x="2607500" y="330200"/>
                  <a:pt x="2565400" y="330200"/>
                </a:cubicBezTo>
                <a:lnTo>
                  <a:pt x="76200" y="330200"/>
                </a:lnTo>
                <a:cubicBezTo>
                  <a:pt x="34100" y="330200"/>
                  <a:pt x="0" y="296100"/>
                  <a:pt x="0" y="2540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pd-1-2"/>
          <p:cNvSpPr/>
          <p:nvPr/>
        </p:nvSpPr>
        <p:spPr>
          <a:xfrm>
            <a:off x="1663700" y="4013200"/>
            <a:ext cx="50800" cy="508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pt-1-2"/>
          <p:cNvSpPr txBox="1"/>
          <p:nvPr/>
        </p:nvSpPr>
        <p:spPr>
          <a:xfrm>
            <a:off x="1790065" y="3945811"/>
            <a:ext cx="115474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研发投入不低于 11%</a:t>
            </a:r>
          </a:p>
        </p:txBody>
      </p:sp>
      <p:sp>
        <p:nvSpPr>
          <p:cNvPr id="30" name="pit-1-3"/>
          <p:cNvSpPr/>
          <p:nvPr/>
        </p:nvSpPr>
        <p:spPr>
          <a:xfrm>
            <a:off x="1524000" y="4292600"/>
            <a:ext cx="2641600" cy="330200"/>
          </a:xfrm>
          <a:custGeom>
            <a:avLst/>
            <a:gdLst/>
            <a:ahLst/>
            <a:cxnLst/>
            <a:rect l="0" t="0" r="r" b="b"/>
            <a:pathLst>
              <a:path w="2641600" h="330200">
                <a:moveTo>
                  <a:pt x="76200" y="0"/>
                </a:moveTo>
                <a:lnTo>
                  <a:pt x="2565400" y="0"/>
                </a:lnTo>
                <a:cubicBezTo>
                  <a:pt x="2607500" y="0"/>
                  <a:pt x="2641600" y="34100"/>
                  <a:pt x="2641600" y="76200"/>
                </a:cubicBezTo>
                <a:lnTo>
                  <a:pt x="2641600" y="254000"/>
                </a:lnTo>
                <a:cubicBezTo>
                  <a:pt x="2641600" y="296100"/>
                  <a:pt x="2607500" y="330200"/>
                  <a:pt x="2565400" y="330200"/>
                </a:cubicBezTo>
                <a:lnTo>
                  <a:pt x="76200" y="330200"/>
                </a:lnTo>
                <a:cubicBezTo>
                  <a:pt x="34100" y="330200"/>
                  <a:pt x="0" y="296100"/>
                  <a:pt x="0" y="2540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pd-1-3"/>
          <p:cNvSpPr/>
          <p:nvPr/>
        </p:nvSpPr>
        <p:spPr>
          <a:xfrm>
            <a:off x="1663700" y="4432300"/>
            <a:ext cx="50800" cy="508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pt-1-3"/>
          <p:cNvSpPr txBox="1"/>
          <p:nvPr/>
        </p:nvSpPr>
        <p:spPr>
          <a:xfrm>
            <a:off x="1790065" y="4364911"/>
            <a:ext cx="92741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核心专利 60 项</a:t>
            </a:r>
          </a:p>
        </p:txBody>
      </p:sp>
      <p:sp>
        <p:nvSpPr>
          <p:cNvPr id="33" name="pfoot-1"/>
          <p:cNvSpPr/>
          <p:nvPr/>
        </p:nvSpPr>
        <p:spPr>
          <a:xfrm>
            <a:off x="1282700" y="4940300"/>
            <a:ext cx="3124200" cy="88900"/>
          </a:xfrm>
          <a:custGeom>
            <a:avLst/>
            <a:gdLst/>
            <a:ahLst/>
            <a:cxnLst/>
            <a:rect l="0" t="0" r="r" b="b"/>
            <a:pathLst>
              <a:path w="3124200" h="88900">
                <a:moveTo>
                  <a:pt x="44450" y="0"/>
                </a:moveTo>
                <a:lnTo>
                  <a:pt x="3079750" y="0"/>
                </a:lnTo>
                <a:cubicBezTo>
                  <a:pt x="3104324" y="0"/>
                  <a:pt x="3124200" y="19875"/>
                  <a:pt x="3124200" y="44450"/>
                </a:cubicBezTo>
                <a:lnTo>
                  <a:pt x="3124200" y="44450"/>
                </a:lnTo>
                <a:cubicBezTo>
                  <a:pt x="3124200" y="69025"/>
                  <a:pt x="3104324" y="88900"/>
                  <a:pt x="3079750" y="88900"/>
                </a:cubicBezTo>
                <a:lnTo>
                  <a:pt x="44450" y="88900"/>
                </a:lnTo>
                <a:cubicBezTo>
                  <a:pt x="19875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134C9C">
              <a:alpha val="3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pillar-2"/>
          <p:cNvSpPr/>
          <p:nvPr/>
        </p:nvSpPr>
        <p:spPr>
          <a:xfrm>
            <a:off x="4559300" y="2362200"/>
            <a:ext cx="2971800" cy="2514600"/>
          </a:xfrm>
          <a:custGeom>
            <a:avLst/>
            <a:gdLst/>
            <a:ahLst/>
            <a:cxnLst/>
            <a:rect l="0" t="0" r="r" b="b"/>
            <a:pathLst>
              <a:path w="2971800" h="2514600">
                <a:moveTo>
                  <a:pt x="114300" y="0"/>
                </a:moveTo>
                <a:lnTo>
                  <a:pt x="2857500" y="0"/>
                </a:lnTo>
                <a:cubicBezTo>
                  <a:pt x="2920619" y="0"/>
                  <a:pt x="2971800" y="51181"/>
                  <a:pt x="2971800" y="114300"/>
                </a:cubicBezTo>
                <a:lnTo>
                  <a:pt x="2971800" y="2400300"/>
                </a:lnTo>
                <a:cubicBezTo>
                  <a:pt x="2971800" y="2463419"/>
                  <a:pt x="2920619" y="2514600"/>
                  <a:pt x="2857500" y="2514600"/>
                </a:cubicBezTo>
                <a:lnTo>
                  <a:pt x="114300" y="2514600"/>
                </a:lnTo>
                <a:cubicBezTo>
                  <a:pt x="51181" y="2514600"/>
                  <a:pt x="0" y="2463419"/>
                  <a:pt x="0" y="2400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pcap-2"/>
          <p:cNvSpPr/>
          <p:nvPr/>
        </p:nvSpPr>
        <p:spPr>
          <a:xfrm>
            <a:off x="4559300" y="2362200"/>
            <a:ext cx="2971800" cy="50800"/>
          </a:xfrm>
          <a:custGeom>
            <a:avLst/>
            <a:gdLst/>
            <a:ahLst/>
            <a:cxnLst/>
            <a:rect l="0" t="0" r="r" b="b"/>
            <a:pathLst>
              <a:path w="2971800" h="50800">
                <a:moveTo>
                  <a:pt x="25400" y="0"/>
                </a:moveTo>
                <a:lnTo>
                  <a:pt x="2946400" y="0"/>
                </a:lnTo>
                <a:cubicBezTo>
                  <a:pt x="2960434" y="0"/>
                  <a:pt x="2971800" y="11367"/>
                  <a:pt x="2971800" y="25400"/>
                </a:cubicBezTo>
                <a:lnTo>
                  <a:pt x="2971800" y="25400"/>
                </a:lnTo>
                <a:cubicBezTo>
                  <a:pt x="2971800" y="39433"/>
                  <a:pt x="2960434" y="50800"/>
                  <a:pt x="2946400" y="50800"/>
                </a:cubicBezTo>
                <a:lnTo>
                  <a:pt x="25400" y="50800"/>
                </a:lnTo>
                <a:cubicBezTo>
                  <a:pt x="11366" y="50800"/>
                  <a:pt x="0" y="39433"/>
                  <a:pt x="0" y="25400"/>
                </a:cubicBezTo>
                <a:lnTo>
                  <a:pt x="0" y="25400"/>
                </a:lnTo>
                <a:cubicBezTo>
                  <a:pt x="0" y="11367"/>
                  <a:pt x="11366" y="0"/>
                  <a:pt x="25400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phead-2"/>
          <p:cNvSpPr/>
          <p:nvPr/>
        </p:nvSpPr>
        <p:spPr>
          <a:xfrm>
            <a:off x="4724400" y="2578100"/>
            <a:ext cx="2641600" cy="584200"/>
          </a:xfrm>
          <a:custGeom>
            <a:avLst/>
            <a:gdLst/>
            <a:ahLst/>
            <a:cxnLst/>
            <a:rect l="0" t="0" r="r" b="b"/>
            <a:pathLst>
              <a:path w="2641600" h="584200">
                <a:moveTo>
                  <a:pt x="88900" y="0"/>
                </a:moveTo>
                <a:lnTo>
                  <a:pt x="2552700" y="0"/>
                </a:lnTo>
                <a:cubicBezTo>
                  <a:pt x="2601786" y="0"/>
                  <a:pt x="2641600" y="39814"/>
                  <a:pt x="2641600" y="88900"/>
                </a:cubicBezTo>
                <a:lnTo>
                  <a:pt x="2641600" y="495300"/>
                </a:lnTo>
                <a:cubicBezTo>
                  <a:pt x="2641600" y="544386"/>
                  <a:pt x="2601786" y="584200"/>
                  <a:pt x="2552700" y="584200"/>
                </a:cubicBezTo>
                <a:lnTo>
                  <a:pt x="88900" y="584200"/>
                </a:lnTo>
                <a:cubicBezTo>
                  <a:pt x="39814" y="584200"/>
                  <a:pt x="0" y="544386"/>
                  <a:pt x="0" y="4953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2468B6">
              <a:alpha val="9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icon-hand"/>
          <p:cNvSpPr/>
          <p:nvPr/>
        </p:nvSpPr>
        <p:spPr>
          <a:xfrm>
            <a:off x="4969875" y="2788285"/>
            <a:ext cx="129175" cy="163830"/>
          </a:xfrm>
          <a:custGeom>
            <a:avLst/>
            <a:gdLst/>
            <a:ahLst/>
            <a:cxnLst/>
            <a:rect l="0" t="0" r="r" b="b"/>
            <a:pathLst>
              <a:path w="129175" h="163830">
                <a:moveTo>
                  <a:pt x="37735" y="87630"/>
                </a:moveTo>
                <a:lnTo>
                  <a:pt x="37735" y="26670"/>
                </a:lnTo>
                <a:cubicBezTo>
                  <a:pt x="37735" y="18225"/>
                  <a:pt x="44530" y="11430"/>
                  <a:pt x="52975" y="11430"/>
                </a:cubicBezTo>
                <a:cubicBezTo>
                  <a:pt x="61421" y="11430"/>
                  <a:pt x="68215" y="18225"/>
                  <a:pt x="68215" y="26670"/>
                </a:cubicBezTo>
                <a:lnTo>
                  <a:pt x="68215" y="74295"/>
                </a:lnTo>
                <a:moveTo>
                  <a:pt x="68215" y="74295"/>
                </a:moveTo>
                <a:lnTo>
                  <a:pt x="68215" y="15240"/>
                </a:lnTo>
                <a:cubicBezTo>
                  <a:pt x="68215" y="6794"/>
                  <a:pt x="75010" y="0"/>
                  <a:pt x="83455" y="0"/>
                </a:cubicBezTo>
                <a:cubicBezTo>
                  <a:pt x="91901" y="0"/>
                  <a:pt x="98695" y="6794"/>
                  <a:pt x="98695" y="15240"/>
                </a:cubicBezTo>
                <a:lnTo>
                  <a:pt x="98695" y="74295"/>
                </a:lnTo>
                <a:moveTo>
                  <a:pt x="98695" y="78105"/>
                </a:moveTo>
                <a:lnTo>
                  <a:pt x="98695" y="38100"/>
                </a:lnTo>
                <a:cubicBezTo>
                  <a:pt x="98695" y="29654"/>
                  <a:pt x="105490" y="22860"/>
                  <a:pt x="113935" y="22860"/>
                </a:cubicBezTo>
                <a:cubicBezTo>
                  <a:pt x="122381" y="22860"/>
                  <a:pt x="129175" y="29654"/>
                  <a:pt x="129175" y="38100"/>
                </a:cubicBezTo>
                <a:lnTo>
                  <a:pt x="129175" y="108585"/>
                </a:lnTo>
                <a:cubicBezTo>
                  <a:pt x="129175" y="139065"/>
                  <a:pt x="106315" y="163830"/>
                  <a:pt x="75835" y="163830"/>
                </a:cubicBezTo>
                <a:cubicBezTo>
                  <a:pt x="51070" y="163830"/>
                  <a:pt x="37735" y="152400"/>
                  <a:pt x="24400" y="133350"/>
                </a:cubicBezTo>
                <a:lnTo>
                  <a:pt x="1540" y="99060"/>
                </a:lnTo>
                <a:cubicBezTo>
                  <a:pt x="-1762" y="92329"/>
                  <a:pt x="397" y="84138"/>
                  <a:pt x="6557" y="79883"/>
                </a:cubicBezTo>
                <a:cubicBezTo>
                  <a:pt x="12780" y="75628"/>
                  <a:pt x="21162" y="76454"/>
                  <a:pt x="26305" y="81915"/>
                </a:cubicBezTo>
                <a:close/>
              </a:path>
            </a:pathLst>
          </a:custGeom>
          <a:noFill/>
          <a:ln w="13335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pname-2"/>
          <p:cNvSpPr txBox="1"/>
          <p:nvPr/>
        </p:nvSpPr>
        <p:spPr>
          <a:xfrm>
            <a:off x="5288026" y="2633059"/>
            <a:ext cx="903605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5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服务口碑</a:t>
            </a:r>
          </a:p>
        </p:txBody>
      </p:sp>
      <p:sp>
        <p:nvSpPr>
          <p:cNvPr id="39" name="pen-2"/>
          <p:cNvSpPr txBox="1"/>
          <p:nvPr/>
        </p:nvSpPr>
        <p:spPr>
          <a:xfrm>
            <a:off x="5310632" y="2925508"/>
            <a:ext cx="56184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7E93AE"/>
                </a:solidFill>
                <a:latin typeface="Arial"/>
                <a:ea typeface="Arial"/>
                <a:cs typeface="Arial"/>
              </a:rPr>
              <a:t>SERVICE</a:t>
            </a:r>
          </a:p>
        </p:txBody>
      </p:sp>
      <p:sp>
        <p:nvSpPr>
          <p:cNvPr id="40" name="pno-2"/>
          <p:cNvSpPr txBox="1"/>
          <p:nvPr/>
        </p:nvSpPr>
        <p:spPr>
          <a:xfrm>
            <a:off x="6784340" y="2550541"/>
            <a:ext cx="564388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200" b="1">
                <a:solidFill>
                  <a:srgbClr val="2468B6">
                    <a:alpha val="14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41" name="pit-2-1"/>
          <p:cNvSpPr/>
          <p:nvPr/>
        </p:nvSpPr>
        <p:spPr>
          <a:xfrm>
            <a:off x="4724400" y="3454400"/>
            <a:ext cx="2641600" cy="330200"/>
          </a:xfrm>
          <a:custGeom>
            <a:avLst/>
            <a:gdLst/>
            <a:ahLst/>
            <a:cxnLst/>
            <a:rect l="0" t="0" r="r" b="b"/>
            <a:pathLst>
              <a:path w="2641600" h="330200">
                <a:moveTo>
                  <a:pt x="76200" y="0"/>
                </a:moveTo>
                <a:lnTo>
                  <a:pt x="2565400" y="0"/>
                </a:lnTo>
                <a:cubicBezTo>
                  <a:pt x="2607501" y="0"/>
                  <a:pt x="2641600" y="34100"/>
                  <a:pt x="2641600" y="76200"/>
                </a:cubicBezTo>
                <a:lnTo>
                  <a:pt x="2641600" y="254000"/>
                </a:lnTo>
                <a:cubicBezTo>
                  <a:pt x="2641600" y="296100"/>
                  <a:pt x="2607501" y="330200"/>
                  <a:pt x="2565400" y="330200"/>
                </a:cubicBezTo>
                <a:lnTo>
                  <a:pt x="76200" y="330200"/>
                </a:lnTo>
                <a:cubicBezTo>
                  <a:pt x="34100" y="330200"/>
                  <a:pt x="0" y="296100"/>
                  <a:pt x="0" y="2540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pd-2-1"/>
          <p:cNvSpPr/>
          <p:nvPr/>
        </p:nvSpPr>
        <p:spPr>
          <a:xfrm>
            <a:off x="4864100" y="3594100"/>
            <a:ext cx="50800" cy="50800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pt-2-1"/>
          <p:cNvSpPr txBox="1"/>
          <p:nvPr/>
        </p:nvSpPr>
        <p:spPr>
          <a:xfrm>
            <a:off x="4990465" y="3526711"/>
            <a:ext cx="97631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48 小时响应承诺</a:t>
            </a:r>
          </a:p>
        </p:txBody>
      </p:sp>
      <p:sp>
        <p:nvSpPr>
          <p:cNvPr id="44" name="pit-2-2"/>
          <p:cNvSpPr/>
          <p:nvPr/>
        </p:nvSpPr>
        <p:spPr>
          <a:xfrm>
            <a:off x="4724400" y="3873500"/>
            <a:ext cx="2641600" cy="330200"/>
          </a:xfrm>
          <a:custGeom>
            <a:avLst/>
            <a:gdLst/>
            <a:ahLst/>
            <a:cxnLst/>
            <a:rect l="0" t="0" r="r" b="b"/>
            <a:pathLst>
              <a:path w="2641600" h="330200">
                <a:moveTo>
                  <a:pt x="76200" y="0"/>
                </a:moveTo>
                <a:lnTo>
                  <a:pt x="2565400" y="0"/>
                </a:lnTo>
                <a:cubicBezTo>
                  <a:pt x="2607501" y="0"/>
                  <a:pt x="2641600" y="34100"/>
                  <a:pt x="2641600" y="76200"/>
                </a:cubicBezTo>
                <a:lnTo>
                  <a:pt x="2641600" y="254000"/>
                </a:lnTo>
                <a:cubicBezTo>
                  <a:pt x="2641600" y="296100"/>
                  <a:pt x="2607501" y="330200"/>
                  <a:pt x="2565400" y="330200"/>
                </a:cubicBezTo>
                <a:lnTo>
                  <a:pt x="76200" y="330200"/>
                </a:lnTo>
                <a:cubicBezTo>
                  <a:pt x="34100" y="330200"/>
                  <a:pt x="0" y="296100"/>
                  <a:pt x="0" y="2540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pd-2-2"/>
          <p:cNvSpPr/>
          <p:nvPr/>
        </p:nvSpPr>
        <p:spPr>
          <a:xfrm>
            <a:off x="4864100" y="4013200"/>
            <a:ext cx="50800" cy="50800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pt-2-2"/>
          <p:cNvSpPr txBox="1"/>
          <p:nvPr/>
        </p:nvSpPr>
        <p:spPr>
          <a:xfrm>
            <a:off x="4990465" y="394581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客户成功团队扩编</a:t>
            </a:r>
          </a:p>
        </p:txBody>
      </p:sp>
      <p:sp>
        <p:nvSpPr>
          <p:cNvPr id="47" name="pit-2-3"/>
          <p:cNvSpPr/>
          <p:nvPr/>
        </p:nvSpPr>
        <p:spPr>
          <a:xfrm>
            <a:off x="4724400" y="4292600"/>
            <a:ext cx="2641600" cy="330200"/>
          </a:xfrm>
          <a:custGeom>
            <a:avLst/>
            <a:gdLst/>
            <a:ahLst/>
            <a:cxnLst/>
            <a:rect l="0" t="0" r="r" b="b"/>
            <a:pathLst>
              <a:path w="2641600" h="330200">
                <a:moveTo>
                  <a:pt x="76200" y="0"/>
                </a:moveTo>
                <a:lnTo>
                  <a:pt x="2565400" y="0"/>
                </a:lnTo>
                <a:cubicBezTo>
                  <a:pt x="2607501" y="0"/>
                  <a:pt x="2641600" y="34100"/>
                  <a:pt x="2641600" y="76200"/>
                </a:cubicBezTo>
                <a:lnTo>
                  <a:pt x="2641600" y="254000"/>
                </a:lnTo>
                <a:cubicBezTo>
                  <a:pt x="2641600" y="296100"/>
                  <a:pt x="2607501" y="330200"/>
                  <a:pt x="2565400" y="330200"/>
                </a:cubicBezTo>
                <a:lnTo>
                  <a:pt x="76200" y="330200"/>
                </a:lnTo>
                <a:cubicBezTo>
                  <a:pt x="34100" y="330200"/>
                  <a:pt x="0" y="296100"/>
                  <a:pt x="0" y="2540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pd-2-3"/>
          <p:cNvSpPr/>
          <p:nvPr/>
        </p:nvSpPr>
        <p:spPr>
          <a:xfrm>
            <a:off x="4864100" y="4432300"/>
            <a:ext cx="50800" cy="50800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pt-2-3"/>
          <p:cNvSpPr txBox="1"/>
          <p:nvPr/>
        </p:nvSpPr>
        <p:spPr>
          <a:xfrm>
            <a:off x="4990465" y="4364911"/>
            <a:ext cx="99218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续约率保持 96%+</a:t>
            </a:r>
          </a:p>
        </p:txBody>
      </p:sp>
      <p:sp>
        <p:nvSpPr>
          <p:cNvPr id="50" name="pfoot-2"/>
          <p:cNvSpPr/>
          <p:nvPr/>
        </p:nvSpPr>
        <p:spPr>
          <a:xfrm>
            <a:off x="4483100" y="4940300"/>
            <a:ext cx="3124200" cy="88900"/>
          </a:xfrm>
          <a:custGeom>
            <a:avLst/>
            <a:gdLst/>
            <a:ahLst/>
            <a:cxnLst/>
            <a:rect l="0" t="0" r="r" b="b"/>
            <a:pathLst>
              <a:path w="3124200" h="88900">
                <a:moveTo>
                  <a:pt x="44450" y="0"/>
                </a:moveTo>
                <a:lnTo>
                  <a:pt x="3079750" y="0"/>
                </a:lnTo>
                <a:cubicBezTo>
                  <a:pt x="3104324" y="0"/>
                  <a:pt x="3124200" y="19875"/>
                  <a:pt x="3124200" y="44450"/>
                </a:cubicBezTo>
                <a:lnTo>
                  <a:pt x="3124200" y="44450"/>
                </a:lnTo>
                <a:cubicBezTo>
                  <a:pt x="3124200" y="69025"/>
                  <a:pt x="3104324" y="88900"/>
                  <a:pt x="3079750" y="88900"/>
                </a:cubicBezTo>
                <a:lnTo>
                  <a:pt x="44450" y="88900"/>
                </a:lnTo>
                <a:cubicBezTo>
                  <a:pt x="19875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2468B6">
              <a:alpha val="3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pillar-3"/>
          <p:cNvSpPr/>
          <p:nvPr/>
        </p:nvSpPr>
        <p:spPr>
          <a:xfrm>
            <a:off x="7759700" y="2362200"/>
            <a:ext cx="2971800" cy="2514600"/>
          </a:xfrm>
          <a:custGeom>
            <a:avLst/>
            <a:gdLst/>
            <a:ahLst/>
            <a:cxnLst/>
            <a:rect l="0" t="0" r="r" b="b"/>
            <a:pathLst>
              <a:path w="2971800" h="2514600">
                <a:moveTo>
                  <a:pt x="114300" y="0"/>
                </a:moveTo>
                <a:lnTo>
                  <a:pt x="2857500" y="0"/>
                </a:lnTo>
                <a:cubicBezTo>
                  <a:pt x="2920619" y="0"/>
                  <a:pt x="2971800" y="51181"/>
                  <a:pt x="2971800" y="114300"/>
                </a:cubicBezTo>
                <a:lnTo>
                  <a:pt x="2971800" y="2400300"/>
                </a:lnTo>
                <a:cubicBezTo>
                  <a:pt x="2971800" y="2463419"/>
                  <a:pt x="2920619" y="2514600"/>
                  <a:pt x="2857500" y="2514600"/>
                </a:cubicBezTo>
                <a:lnTo>
                  <a:pt x="114300" y="2514600"/>
                </a:lnTo>
                <a:cubicBezTo>
                  <a:pt x="51181" y="2514600"/>
                  <a:pt x="0" y="2463419"/>
                  <a:pt x="0" y="2400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pcap-3"/>
          <p:cNvSpPr/>
          <p:nvPr/>
        </p:nvSpPr>
        <p:spPr>
          <a:xfrm>
            <a:off x="7759700" y="2362200"/>
            <a:ext cx="2971800" cy="50800"/>
          </a:xfrm>
          <a:custGeom>
            <a:avLst/>
            <a:gdLst/>
            <a:ahLst/>
            <a:cxnLst/>
            <a:rect l="0" t="0" r="r" b="b"/>
            <a:pathLst>
              <a:path w="2971800" h="50800">
                <a:moveTo>
                  <a:pt x="25400" y="0"/>
                </a:moveTo>
                <a:lnTo>
                  <a:pt x="2946400" y="0"/>
                </a:lnTo>
                <a:cubicBezTo>
                  <a:pt x="2960434" y="0"/>
                  <a:pt x="2971800" y="11367"/>
                  <a:pt x="2971800" y="25400"/>
                </a:cubicBezTo>
                <a:lnTo>
                  <a:pt x="2971800" y="25400"/>
                </a:lnTo>
                <a:cubicBezTo>
                  <a:pt x="2971800" y="39433"/>
                  <a:pt x="2960434" y="50800"/>
                  <a:pt x="2946400" y="50800"/>
                </a:cubicBezTo>
                <a:lnTo>
                  <a:pt x="25400" y="50800"/>
                </a:lnTo>
                <a:cubicBezTo>
                  <a:pt x="11366" y="50800"/>
                  <a:pt x="0" y="39433"/>
                  <a:pt x="0" y="25400"/>
                </a:cubicBezTo>
                <a:lnTo>
                  <a:pt x="0" y="25400"/>
                </a:lnTo>
                <a:cubicBezTo>
                  <a:pt x="0" y="11367"/>
                  <a:pt x="11366" y="0"/>
                  <a:pt x="2540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phead-3"/>
          <p:cNvSpPr/>
          <p:nvPr/>
        </p:nvSpPr>
        <p:spPr>
          <a:xfrm>
            <a:off x="7924800" y="2578100"/>
            <a:ext cx="2641600" cy="584200"/>
          </a:xfrm>
          <a:custGeom>
            <a:avLst/>
            <a:gdLst/>
            <a:ahLst/>
            <a:cxnLst/>
            <a:rect l="0" t="0" r="r" b="b"/>
            <a:pathLst>
              <a:path w="2641600" h="584200">
                <a:moveTo>
                  <a:pt x="88900" y="0"/>
                </a:moveTo>
                <a:lnTo>
                  <a:pt x="2552700" y="0"/>
                </a:lnTo>
                <a:cubicBezTo>
                  <a:pt x="2601786" y="0"/>
                  <a:pt x="2641600" y="39814"/>
                  <a:pt x="2641600" y="88900"/>
                </a:cubicBezTo>
                <a:lnTo>
                  <a:pt x="2641600" y="495300"/>
                </a:lnTo>
                <a:cubicBezTo>
                  <a:pt x="2641600" y="544386"/>
                  <a:pt x="2601786" y="584200"/>
                  <a:pt x="2552700" y="584200"/>
                </a:cubicBezTo>
                <a:lnTo>
                  <a:pt x="88900" y="584200"/>
                </a:lnTo>
                <a:cubicBezTo>
                  <a:pt x="39814" y="584200"/>
                  <a:pt x="0" y="544386"/>
                  <a:pt x="0" y="4953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3985CD">
              <a:alpha val="9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icon-network"/>
          <p:cNvSpPr/>
          <p:nvPr/>
        </p:nvSpPr>
        <p:spPr>
          <a:xfrm>
            <a:off x="8213725" y="2835910"/>
            <a:ext cx="57150" cy="66675"/>
          </a:xfrm>
          <a:custGeom>
            <a:avLst/>
            <a:gdLst/>
            <a:ahLst/>
            <a:cxnLst/>
            <a:rect l="0" t="0" r="r" b="b"/>
            <a:pathLst>
              <a:path w="57150" h="66675">
                <a:moveTo>
                  <a:pt x="28575" y="0"/>
                </a:moveTo>
                <a:lnTo>
                  <a:pt x="28575" y="30480"/>
                </a:lnTo>
                <a:moveTo>
                  <a:pt x="0" y="66675"/>
                </a:moveTo>
                <a:lnTo>
                  <a:pt x="20955" y="41910"/>
                </a:lnTo>
                <a:moveTo>
                  <a:pt x="57150" y="66675"/>
                </a:moveTo>
                <a:lnTo>
                  <a:pt x="36195" y="41910"/>
                </a:lnTo>
              </a:path>
            </a:pathLst>
          </a:custGeom>
          <a:noFill/>
          <a:ln w="13335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icon-network"/>
          <p:cNvSpPr/>
          <p:nvPr/>
        </p:nvSpPr>
        <p:spPr>
          <a:xfrm>
            <a:off x="8217535" y="2788285"/>
            <a:ext cx="49530" cy="49530"/>
          </a:xfrm>
          <a:prstGeom prst="ellipse">
            <a:avLst/>
          </a:prstGeom>
          <a:noFill/>
          <a:ln w="13335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icon-network"/>
          <p:cNvSpPr/>
          <p:nvPr/>
        </p:nvSpPr>
        <p:spPr>
          <a:xfrm>
            <a:off x="8169910" y="2896870"/>
            <a:ext cx="49530" cy="49530"/>
          </a:xfrm>
          <a:prstGeom prst="ellipse">
            <a:avLst/>
          </a:prstGeom>
          <a:noFill/>
          <a:ln w="13335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icon-network"/>
          <p:cNvSpPr/>
          <p:nvPr/>
        </p:nvSpPr>
        <p:spPr>
          <a:xfrm>
            <a:off x="8265160" y="2896870"/>
            <a:ext cx="49530" cy="49530"/>
          </a:xfrm>
          <a:prstGeom prst="ellipse">
            <a:avLst/>
          </a:prstGeom>
          <a:noFill/>
          <a:ln w="13335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pname-3"/>
          <p:cNvSpPr txBox="1"/>
          <p:nvPr/>
        </p:nvSpPr>
        <p:spPr>
          <a:xfrm>
            <a:off x="8488426" y="2633059"/>
            <a:ext cx="903605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5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渠道网络</a:t>
            </a:r>
          </a:p>
        </p:txBody>
      </p:sp>
      <p:sp>
        <p:nvSpPr>
          <p:cNvPr id="59" name="pen-3"/>
          <p:cNvSpPr txBox="1"/>
          <p:nvPr/>
        </p:nvSpPr>
        <p:spPr>
          <a:xfrm>
            <a:off x="8511032" y="2925508"/>
            <a:ext cx="56184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7E93AE"/>
                </a:solidFill>
                <a:latin typeface="Arial"/>
                <a:ea typeface="Arial"/>
                <a:cs typeface="Arial"/>
              </a:rPr>
              <a:t>CHANNEL</a:t>
            </a:r>
          </a:p>
        </p:txBody>
      </p:sp>
      <p:sp>
        <p:nvSpPr>
          <p:cNvPr id="60" name="pno-3"/>
          <p:cNvSpPr txBox="1"/>
          <p:nvPr/>
        </p:nvSpPr>
        <p:spPr>
          <a:xfrm>
            <a:off x="9984740" y="2550541"/>
            <a:ext cx="564388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200" b="1">
                <a:solidFill>
                  <a:srgbClr val="3985CD">
                    <a:alpha val="14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61" name="pit-3-1"/>
          <p:cNvSpPr/>
          <p:nvPr/>
        </p:nvSpPr>
        <p:spPr>
          <a:xfrm>
            <a:off x="7924800" y="3454400"/>
            <a:ext cx="2641600" cy="330200"/>
          </a:xfrm>
          <a:custGeom>
            <a:avLst/>
            <a:gdLst/>
            <a:ahLst/>
            <a:cxnLst/>
            <a:rect l="0" t="0" r="r" b="b"/>
            <a:pathLst>
              <a:path w="2641600" h="330200">
                <a:moveTo>
                  <a:pt x="76200" y="0"/>
                </a:moveTo>
                <a:lnTo>
                  <a:pt x="2565400" y="0"/>
                </a:lnTo>
                <a:cubicBezTo>
                  <a:pt x="2607501" y="0"/>
                  <a:pt x="2641600" y="34100"/>
                  <a:pt x="2641600" y="76200"/>
                </a:cubicBezTo>
                <a:lnTo>
                  <a:pt x="2641600" y="254000"/>
                </a:lnTo>
                <a:cubicBezTo>
                  <a:pt x="2641600" y="296100"/>
                  <a:pt x="2607501" y="330200"/>
                  <a:pt x="2565400" y="330200"/>
                </a:cubicBezTo>
                <a:lnTo>
                  <a:pt x="76200" y="330200"/>
                </a:lnTo>
                <a:cubicBezTo>
                  <a:pt x="34099" y="330200"/>
                  <a:pt x="0" y="296100"/>
                  <a:pt x="0" y="2540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pd-3-1"/>
          <p:cNvSpPr/>
          <p:nvPr/>
        </p:nvSpPr>
        <p:spPr>
          <a:xfrm>
            <a:off x="8064500" y="3594100"/>
            <a:ext cx="50800" cy="50800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pt-3-1"/>
          <p:cNvSpPr txBox="1"/>
          <p:nvPr/>
        </p:nvSpPr>
        <p:spPr>
          <a:xfrm>
            <a:off x="8190865" y="3526711"/>
            <a:ext cx="115474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覆盖 28 个省级市场</a:t>
            </a:r>
          </a:p>
        </p:txBody>
      </p:sp>
      <p:sp>
        <p:nvSpPr>
          <p:cNvPr id="64" name="pit-3-2"/>
          <p:cNvSpPr/>
          <p:nvPr/>
        </p:nvSpPr>
        <p:spPr>
          <a:xfrm>
            <a:off x="7924800" y="3873500"/>
            <a:ext cx="2641600" cy="330200"/>
          </a:xfrm>
          <a:custGeom>
            <a:avLst/>
            <a:gdLst/>
            <a:ahLst/>
            <a:cxnLst/>
            <a:rect l="0" t="0" r="r" b="b"/>
            <a:pathLst>
              <a:path w="2641600" h="330200">
                <a:moveTo>
                  <a:pt x="76200" y="0"/>
                </a:moveTo>
                <a:lnTo>
                  <a:pt x="2565400" y="0"/>
                </a:lnTo>
                <a:cubicBezTo>
                  <a:pt x="2607501" y="0"/>
                  <a:pt x="2641600" y="34100"/>
                  <a:pt x="2641600" y="76200"/>
                </a:cubicBezTo>
                <a:lnTo>
                  <a:pt x="2641600" y="254000"/>
                </a:lnTo>
                <a:cubicBezTo>
                  <a:pt x="2641600" y="296100"/>
                  <a:pt x="2607501" y="330200"/>
                  <a:pt x="2565400" y="330200"/>
                </a:cubicBezTo>
                <a:lnTo>
                  <a:pt x="76200" y="330200"/>
                </a:lnTo>
                <a:cubicBezTo>
                  <a:pt x="34099" y="330200"/>
                  <a:pt x="0" y="296100"/>
                  <a:pt x="0" y="2540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pd-3-2"/>
          <p:cNvSpPr/>
          <p:nvPr/>
        </p:nvSpPr>
        <p:spPr>
          <a:xfrm>
            <a:off x="8064500" y="4013200"/>
            <a:ext cx="50800" cy="50800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pt-3-2"/>
          <p:cNvSpPr txBox="1"/>
          <p:nvPr/>
        </p:nvSpPr>
        <p:spPr>
          <a:xfrm>
            <a:off x="8190865" y="3945811"/>
            <a:ext cx="110585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生态伙伴超 600 家</a:t>
            </a:r>
          </a:p>
        </p:txBody>
      </p:sp>
      <p:sp>
        <p:nvSpPr>
          <p:cNvPr id="67" name="pit-3-3"/>
          <p:cNvSpPr/>
          <p:nvPr/>
        </p:nvSpPr>
        <p:spPr>
          <a:xfrm>
            <a:off x="7924800" y="4292600"/>
            <a:ext cx="2641600" cy="330200"/>
          </a:xfrm>
          <a:custGeom>
            <a:avLst/>
            <a:gdLst/>
            <a:ahLst/>
            <a:cxnLst/>
            <a:rect l="0" t="0" r="r" b="b"/>
            <a:pathLst>
              <a:path w="2641600" h="330200">
                <a:moveTo>
                  <a:pt x="76200" y="0"/>
                </a:moveTo>
                <a:lnTo>
                  <a:pt x="2565400" y="0"/>
                </a:lnTo>
                <a:cubicBezTo>
                  <a:pt x="2607501" y="0"/>
                  <a:pt x="2641600" y="34100"/>
                  <a:pt x="2641600" y="76200"/>
                </a:cubicBezTo>
                <a:lnTo>
                  <a:pt x="2641600" y="254000"/>
                </a:lnTo>
                <a:cubicBezTo>
                  <a:pt x="2641600" y="296100"/>
                  <a:pt x="2607501" y="330200"/>
                  <a:pt x="2565400" y="330200"/>
                </a:cubicBezTo>
                <a:lnTo>
                  <a:pt x="76200" y="330200"/>
                </a:lnTo>
                <a:cubicBezTo>
                  <a:pt x="34099" y="330200"/>
                  <a:pt x="0" y="296100"/>
                  <a:pt x="0" y="2540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pd-3-3"/>
          <p:cNvSpPr/>
          <p:nvPr/>
        </p:nvSpPr>
        <p:spPr>
          <a:xfrm>
            <a:off x="8064500" y="4432300"/>
            <a:ext cx="50800" cy="50800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pt-3-3"/>
          <p:cNvSpPr txBox="1"/>
          <p:nvPr/>
        </p:nvSpPr>
        <p:spPr>
          <a:xfrm>
            <a:off x="8190865" y="436491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渠道贡献过半营收</a:t>
            </a:r>
          </a:p>
        </p:txBody>
      </p:sp>
      <p:sp>
        <p:nvSpPr>
          <p:cNvPr id="70" name="pfoot-3"/>
          <p:cNvSpPr/>
          <p:nvPr/>
        </p:nvSpPr>
        <p:spPr>
          <a:xfrm>
            <a:off x="7683500" y="4940300"/>
            <a:ext cx="3124200" cy="88900"/>
          </a:xfrm>
          <a:custGeom>
            <a:avLst/>
            <a:gdLst/>
            <a:ahLst/>
            <a:cxnLst/>
            <a:rect l="0" t="0" r="r" b="b"/>
            <a:pathLst>
              <a:path w="3124200" h="88900">
                <a:moveTo>
                  <a:pt x="44450" y="0"/>
                </a:moveTo>
                <a:lnTo>
                  <a:pt x="3079750" y="0"/>
                </a:lnTo>
                <a:cubicBezTo>
                  <a:pt x="3104324" y="0"/>
                  <a:pt x="3124200" y="19875"/>
                  <a:pt x="3124200" y="44450"/>
                </a:cubicBezTo>
                <a:lnTo>
                  <a:pt x="3124200" y="44450"/>
                </a:lnTo>
                <a:cubicBezTo>
                  <a:pt x="3124200" y="69025"/>
                  <a:pt x="3104324" y="88900"/>
                  <a:pt x="3079750" y="88900"/>
                </a:cubicBezTo>
                <a:lnTo>
                  <a:pt x="44450" y="88900"/>
                </a:lnTo>
                <a:cubicBezTo>
                  <a:pt x="19876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3985CD">
              <a:alpha val="3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base"/>
          <p:cNvSpPr/>
          <p:nvPr/>
        </p:nvSpPr>
        <p:spPr>
          <a:xfrm>
            <a:off x="1130300" y="5118100"/>
            <a:ext cx="9829800" cy="685800"/>
          </a:xfrm>
          <a:custGeom>
            <a:avLst/>
            <a:gdLst/>
            <a:ahLst/>
            <a:cxnLst/>
            <a:rect l="0" t="0" r="r" b="b"/>
            <a:pathLst>
              <a:path w="9829800" h="685800">
                <a:moveTo>
                  <a:pt x="114300" y="0"/>
                </a:moveTo>
                <a:lnTo>
                  <a:pt x="9715500" y="0"/>
                </a:lnTo>
                <a:cubicBezTo>
                  <a:pt x="9778619" y="0"/>
                  <a:pt x="9829800" y="51181"/>
                  <a:pt x="9829800" y="114300"/>
                </a:cubicBezTo>
                <a:lnTo>
                  <a:pt x="9829800" y="571500"/>
                </a:lnTo>
                <a:cubicBezTo>
                  <a:pt x="9829800" y="634619"/>
                  <a:pt x="9778619" y="685800"/>
                  <a:pt x="9715500" y="685800"/>
                </a:cubicBezTo>
                <a:lnTo>
                  <a:pt x="114300" y="685800"/>
                </a:lnTo>
                <a:cubicBezTo>
                  <a:pt x="51181" y="685800"/>
                  <a:pt x="0" y="634619"/>
                  <a:pt x="0" y="571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DCE7F6"/>
              </a:gs>
              <a:gs pos="100000">
                <a:srgbClr val="C9DAF0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base-h"/>
          <p:cNvSpPr txBox="1"/>
          <p:nvPr/>
        </p:nvSpPr>
        <p:spPr>
          <a:xfrm>
            <a:off x="1355598" y="5245513"/>
            <a:ext cx="101536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基础能力底座</a:t>
            </a:r>
          </a:p>
        </p:txBody>
      </p:sp>
      <p:sp>
        <p:nvSpPr>
          <p:cNvPr id="73" name="base-p"/>
          <p:cNvSpPr txBox="1"/>
          <p:nvPr/>
        </p:nvSpPr>
        <p:spPr>
          <a:xfrm>
            <a:off x="1360170" y="5495766"/>
            <a:ext cx="13569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三根支柱共享同一套底层能力</a:t>
            </a:r>
          </a:p>
        </p:txBody>
      </p:sp>
      <p:sp>
        <p:nvSpPr>
          <p:cNvPr id="74" name="basec-1"/>
          <p:cNvSpPr/>
          <p:nvPr/>
        </p:nvSpPr>
        <p:spPr>
          <a:xfrm>
            <a:off x="3797300" y="5270500"/>
            <a:ext cx="2095500" cy="381000"/>
          </a:xfrm>
          <a:custGeom>
            <a:avLst/>
            <a:gdLst/>
            <a:ahLst/>
            <a:cxnLst/>
            <a:rect l="0" t="0" r="r" b="b"/>
            <a:pathLst>
              <a:path w="2095500" h="381000">
                <a:moveTo>
                  <a:pt x="88900" y="0"/>
                </a:moveTo>
                <a:lnTo>
                  <a:pt x="2006600" y="0"/>
                </a:lnTo>
                <a:cubicBezTo>
                  <a:pt x="2055686" y="0"/>
                  <a:pt x="2095500" y="39814"/>
                  <a:pt x="2095500" y="88900"/>
                </a:cubicBezTo>
                <a:lnTo>
                  <a:pt x="2095500" y="292100"/>
                </a:lnTo>
                <a:cubicBezTo>
                  <a:pt x="2095500" y="341186"/>
                  <a:pt x="2055686" y="381000"/>
                  <a:pt x="2006600" y="381000"/>
                </a:cubicBezTo>
                <a:lnTo>
                  <a:pt x="88900" y="381000"/>
                </a:lnTo>
                <a:cubicBezTo>
                  <a:pt x="39814" y="381000"/>
                  <a:pt x="0" y="341186"/>
                  <a:pt x="0" y="2921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icon-people"/>
          <p:cNvSpPr/>
          <p:nvPr/>
        </p:nvSpPr>
        <p:spPr>
          <a:xfrm>
            <a:off x="4001770" y="5480240"/>
            <a:ext cx="125920" cy="35560"/>
          </a:xfrm>
          <a:custGeom>
            <a:avLst/>
            <a:gdLst/>
            <a:ahLst/>
            <a:cxnLst/>
            <a:rect l="0" t="0" r="r" b="b"/>
            <a:pathLst>
              <a:path w="125920" h="35560">
                <a:moveTo>
                  <a:pt x="0" y="35560"/>
                </a:moveTo>
                <a:cubicBezTo>
                  <a:pt x="0" y="13335"/>
                  <a:pt x="18542" y="0"/>
                  <a:pt x="40005" y="0"/>
                </a:cubicBezTo>
                <a:cubicBezTo>
                  <a:pt x="61468" y="0"/>
                  <a:pt x="80010" y="13335"/>
                  <a:pt x="80010" y="35560"/>
                </a:cubicBezTo>
                <a:moveTo>
                  <a:pt x="94805" y="2985"/>
                </a:moveTo>
                <a:cubicBezTo>
                  <a:pt x="114109" y="5207"/>
                  <a:pt x="125920" y="18542"/>
                  <a:pt x="125920" y="35560"/>
                </a:cubicBez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icon-people"/>
          <p:cNvSpPr/>
          <p:nvPr/>
        </p:nvSpPr>
        <p:spPr>
          <a:xfrm>
            <a:off x="4018068" y="5416550"/>
            <a:ext cx="47413" cy="47413"/>
          </a:xfrm>
          <a:prstGeom prst="ellipse">
            <a:avLst/>
          </a:pr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icon-people"/>
          <p:cNvSpPr/>
          <p:nvPr/>
        </p:nvSpPr>
        <p:spPr>
          <a:xfrm>
            <a:off x="4081780" y="5416550"/>
            <a:ext cx="38523" cy="38523"/>
          </a:xfrm>
          <a:prstGeom prst="ellipse">
            <a:avLst/>
          </a:pr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basen-1"/>
          <p:cNvSpPr txBox="1"/>
          <p:nvPr/>
        </p:nvSpPr>
        <p:spPr>
          <a:xfrm>
            <a:off x="4264660" y="5354955"/>
            <a:ext cx="80645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9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组织与人才</a:t>
            </a:r>
          </a:p>
        </p:txBody>
      </p:sp>
      <p:sp>
        <p:nvSpPr>
          <p:cNvPr id="79" name="basec-2"/>
          <p:cNvSpPr/>
          <p:nvPr/>
        </p:nvSpPr>
        <p:spPr>
          <a:xfrm>
            <a:off x="6172200" y="5270500"/>
            <a:ext cx="2095500" cy="381000"/>
          </a:xfrm>
          <a:custGeom>
            <a:avLst/>
            <a:gdLst/>
            <a:ahLst/>
            <a:cxnLst/>
            <a:rect l="0" t="0" r="r" b="b"/>
            <a:pathLst>
              <a:path w="2095500" h="381000">
                <a:moveTo>
                  <a:pt x="88900" y="0"/>
                </a:moveTo>
                <a:lnTo>
                  <a:pt x="2006600" y="0"/>
                </a:lnTo>
                <a:cubicBezTo>
                  <a:pt x="2055686" y="0"/>
                  <a:pt x="2095500" y="39814"/>
                  <a:pt x="2095500" y="88900"/>
                </a:cubicBezTo>
                <a:lnTo>
                  <a:pt x="2095500" y="292100"/>
                </a:lnTo>
                <a:cubicBezTo>
                  <a:pt x="2095500" y="341186"/>
                  <a:pt x="2055686" y="381000"/>
                  <a:pt x="2006600" y="381000"/>
                </a:cubicBezTo>
                <a:lnTo>
                  <a:pt x="88900" y="381000"/>
                </a:lnTo>
                <a:cubicBezTo>
                  <a:pt x="39814" y="381000"/>
                  <a:pt x="0" y="341186"/>
                  <a:pt x="0" y="2921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icon-db"/>
          <p:cNvSpPr/>
          <p:nvPr/>
        </p:nvSpPr>
        <p:spPr>
          <a:xfrm>
            <a:off x="6384100" y="5394325"/>
            <a:ext cx="109601" cy="133350"/>
          </a:xfrm>
          <a:custGeom>
            <a:avLst/>
            <a:gdLst/>
            <a:ahLst/>
            <a:cxnLst/>
            <a:rect l="0" t="0" r="r" b="b"/>
            <a:pathLst>
              <a:path w="109601" h="133350">
                <a:moveTo>
                  <a:pt x="54800" y="32575"/>
                </a:moveTo>
                <a:cubicBezTo>
                  <a:pt x="85153" y="32575"/>
                  <a:pt x="109601" y="25210"/>
                  <a:pt x="109601" y="16320"/>
                </a:cubicBezTo>
                <a:cubicBezTo>
                  <a:pt x="109601" y="7429"/>
                  <a:pt x="85153" y="0"/>
                  <a:pt x="54800" y="0"/>
                </a:cubicBezTo>
                <a:cubicBezTo>
                  <a:pt x="24448" y="0"/>
                  <a:pt x="0" y="7429"/>
                  <a:pt x="0" y="16320"/>
                </a:cubicBezTo>
                <a:cubicBezTo>
                  <a:pt x="0" y="25210"/>
                  <a:pt x="24448" y="32575"/>
                  <a:pt x="54800" y="32575"/>
                </a:cubicBezTo>
                <a:close/>
                <a:moveTo>
                  <a:pt x="0" y="16320"/>
                </a:moveTo>
                <a:lnTo>
                  <a:pt x="0" y="117030"/>
                </a:lnTo>
                <a:cubicBezTo>
                  <a:pt x="0" y="125921"/>
                  <a:pt x="24448" y="133350"/>
                  <a:pt x="54800" y="133350"/>
                </a:cubicBezTo>
                <a:cubicBezTo>
                  <a:pt x="85153" y="133350"/>
                  <a:pt x="109601" y="125921"/>
                  <a:pt x="109601" y="117030"/>
                </a:cubicBezTo>
                <a:lnTo>
                  <a:pt x="109601" y="16320"/>
                </a:lnTo>
                <a:moveTo>
                  <a:pt x="0" y="66675"/>
                </a:moveTo>
                <a:cubicBezTo>
                  <a:pt x="0" y="75565"/>
                  <a:pt x="24448" y="82995"/>
                  <a:pt x="54800" y="82995"/>
                </a:cubicBezTo>
                <a:cubicBezTo>
                  <a:pt x="85153" y="82995"/>
                  <a:pt x="109601" y="75565"/>
                  <a:pt x="109601" y="66675"/>
                </a:cubicBezTo>
              </a:path>
            </a:pathLst>
          </a:cu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basen-2"/>
          <p:cNvSpPr txBox="1"/>
          <p:nvPr/>
        </p:nvSpPr>
        <p:spPr>
          <a:xfrm>
            <a:off x="6639560" y="5354955"/>
            <a:ext cx="80645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9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数据与平台</a:t>
            </a:r>
          </a:p>
        </p:txBody>
      </p:sp>
      <p:sp>
        <p:nvSpPr>
          <p:cNvPr id="82" name="basec-3"/>
          <p:cNvSpPr/>
          <p:nvPr/>
        </p:nvSpPr>
        <p:spPr>
          <a:xfrm>
            <a:off x="8547100" y="5270500"/>
            <a:ext cx="2095500" cy="381000"/>
          </a:xfrm>
          <a:custGeom>
            <a:avLst/>
            <a:gdLst/>
            <a:ahLst/>
            <a:cxnLst/>
            <a:rect l="0" t="0" r="r" b="b"/>
            <a:pathLst>
              <a:path w="2095500" h="381000">
                <a:moveTo>
                  <a:pt x="88900" y="0"/>
                </a:moveTo>
                <a:lnTo>
                  <a:pt x="2006600" y="0"/>
                </a:lnTo>
                <a:cubicBezTo>
                  <a:pt x="2055686" y="0"/>
                  <a:pt x="2095500" y="39814"/>
                  <a:pt x="2095500" y="88900"/>
                </a:cubicBezTo>
                <a:lnTo>
                  <a:pt x="2095500" y="292100"/>
                </a:lnTo>
                <a:cubicBezTo>
                  <a:pt x="2095500" y="341186"/>
                  <a:pt x="2055686" y="381000"/>
                  <a:pt x="2006600" y="381000"/>
                </a:cubicBezTo>
                <a:lnTo>
                  <a:pt x="88900" y="381000"/>
                </a:lnTo>
                <a:cubicBezTo>
                  <a:pt x="39814" y="381000"/>
                  <a:pt x="0" y="341186"/>
                  <a:pt x="0" y="2921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icon-shield"/>
          <p:cNvSpPr/>
          <p:nvPr/>
        </p:nvSpPr>
        <p:spPr>
          <a:xfrm>
            <a:off x="8760460" y="5397310"/>
            <a:ext cx="106680" cy="127381"/>
          </a:xfrm>
          <a:custGeom>
            <a:avLst/>
            <a:gdLst/>
            <a:ahLst/>
            <a:cxnLst/>
            <a:rect l="0" t="0" r="r" b="b"/>
            <a:pathLst>
              <a:path w="106680" h="127381">
                <a:moveTo>
                  <a:pt x="53340" y="0"/>
                </a:moveTo>
                <a:lnTo>
                  <a:pt x="106680" y="20701"/>
                </a:lnTo>
                <a:lnTo>
                  <a:pt x="106680" y="62230"/>
                </a:lnTo>
                <a:cubicBezTo>
                  <a:pt x="106680" y="93345"/>
                  <a:pt x="84455" y="117030"/>
                  <a:pt x="53340" y="127381"/>
                </a:cubicBezTo>
                <a:cubicBezTo>
                  <a:pt x="22225" y="117030"/>
                  <a:pt x="0" y="93345"/>
                  <a:pt x="0" y="62230"/>
                </a:cubicBezTo>
                <a:lnTo>
                  <a:pt x="0" y="20701"/>
                </a:lnTo>
                <a:close/>
                <a:moveTo>
                  <a:pt x="31115" y="63690"/>
                </a:moveTo>
                <a:lnTo>
                  <a:pt x="47435" y="80010"/>
                </a:lnTo>
                <a:lnTo>
                  <a:pt x="78550" y="48895"/>
                </a:lnTo>
              </a:path>
            </a:pathLst>
          </a:cu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basen-3"/>
          <p:cNvSpPr txBox="1"/>
          <p:nvPr/>
        </p:nvSpPr>
        <p:spPr>
          <a:xfrm>
            <a:off x="9014460" y="5354955"/>
            <a:ext cx="80645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9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资金与治理</a:t>
            </a:r>
          </a:p>
        </p:txBody>
      </p:sp>
      <p:cxnSp>
        <p:nvCxnSpPr>
          <p:cNvPr id="85" name="conn-1"/>
          <p:cNvCxnSpPr/>
          <p:nvPr/>
        </p:nvCxnSpPr>
        <p:spPr>
          <a:xfrm>
            <a:off x="2844800" y="2209800"/>
            <a:ext cx="0" cy="152400"/>
          </a:xfrm>
          <a:prstGeom prst="line">
            <a:avLst/>
          </a:prstGeom>
          <a:ln w="10160" cap="rnd">
            <a:solidFill>
              <a:srgbClr val="134C9C">
                <a:alpha val="3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n-2"/>
          <p:cNvCxnSpPr/>
          <p:nvPr/>
        </p:nvCxnSpPr>
        <p:spPr>
          <a:xfrm>
            <a:off x="6045200" y="2209800"/>
            <a:ext cx="0" cy="152400"/>
          </a:xfrm>
          <a:prstGeom prst="line">
            <a:avLst/>
          </a:prstGeom>
          <a:ln w="10160" cap="rnd">
            <a:solidFill>
              <a:srgbClr val="2468B6">
                <a:alpha val="3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n-3"/>
          <p:cNvCxnSpPr/>
          <p:nvPr/>
        </p:nvCxnSpPr>
        <p:spPr>
          <a:xfrm>
            <a:off x="9245600" y="2209800"/>
            <a:ext cx="0" cy="152400"/>
          </a:xfrm>
          <a:prstGeom prst="line">
            <a:avLst/>
          </a:prstGeom>
          <a:ln w="10160" cap="rnd">
            <a:solidFill>
              <a:srgbClr val="3985CD">
                <a:alpha val="3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9" name="foot-l"/>
          <p:cNvSpPr txBox="1"/>
          <p:nvPr/>
        </p:nvSpPr>
        <p:spPr>
          <a:xfrm>
            <a:off x="573532" y="6532308"/>
            <a:ext cx="13406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三大支柱 · 一梁三柱一基座</a:t>
            </a:r>
          </a:p>
        </p:txBody>
      </p:sp>
      <p:sp>
        <p:nvSpPr>
          <p:cNvPr id="90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主业与卫星业务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08165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ORBIT MODEL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237599" y="673132"/>
            <a:ext cx="23831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一个主业内核，两条轨道上运行五项卫星业务</a:t>
            </a:r>
          </a:p>
        </p:txBody>
      </p:sp>
      <p:sp>
        <p:nvSpPr>
          <p:cNvPr id="10" name="orbit-1"/>
          <p:cNvSpPr/>
          <p:nvPr/>
        </p:nvSpPr>
        <p:spPr>
          <a:xfrm>
            <a:off x="3073400" y="2723896"/>
            <a:ext cx="2946400" cy="2121408"/>
          </a:xfrm>
          <a:prstGeom prst="ellipse">
            <a:avLst/>
          </a:prstGeom>
          <a:noFill/>
          <a:ln w="10160" cap="rnd">
            <a:solidFill>
              <a:srgbClr val="1B5AA8">
                <a:alpha val="26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orbit-2"/>
          <p:cNvSpPr/>
          <p:nvPr/>
        </p:nvSpPr>
        <p:spPr>
          <a:xfrm>
            <a:off x="2489200" y="2303272"/>
            <a:ext cx="4114800" cy="2962656"/>
          </a:xfrm>
          <a:prstGeom prst="ellipse">
            <a:avLst/>
          </a:prstGeom>
          <a:noFill/>
          <a:ln w="10160" cap="rnd">
            <a:solidFill>
              <a:srgbClr val="1B5AA8">
                <a:alpha val="18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core"/>
          <p:cNvSpPr/>
          <p:nvPr/>
        </p:nvSpPr>
        <p:spPr>
          <a:xfrm>
            <a:off x="3733800" y="2971800"/>
            <a:ext cx="1625600" cy="1625600"/>
          </a:xfrm>
          <a:prstGeom prst="ellipse">
            <a:avLst/>
          </a:prstGeom>
          <a:gradFill rotWithShape="1">
            <a:gsLst>
              <a:gs pos="0">
                <a:srgbClr val="1B5AA8"/>
              </a:gs>
              <a:gs pos="100000">
                <a:srgbClr val="0A3A88"/>
              </a:gs>
            </a:gsLst>
            <a:lin ang="7440000" scaled="0"/>
          </a:gra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core-ring"/>
          <p:cNvSpPr/>
          <p:nvPr/>
        </p:nvSpPr>
        <p:spPr>
          <a:xfrm>
            <a:off x="3644900" y="2882900"/>
            <a:ext cx="1803400" cy="1803400"/>
          </a:xfrm>
          <a:prstGeom prst="ellipse">
            <a:avLst/>
          </a:prstGeom>
          <a:noFill/>
          <a:ln w="8890" cap="rnd">
            <a:solidFill>
              <a:srgbClr val="1B5AA8">
                <a:alpha val="2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icon-target"/>
          <p:cNvSpPr/>
          <p:nvPr/>
        </p:nvSpPr>
        <p:spPr>
          <a:xfrm>
            <a:off x="4546600" y="3444113"/>
            <a:ext cx="66358" cy="86487"/>
          </a:xfrm>
          <a:custGeom>
            <a:avLst/>
            <a:gdLst/>
            <a:ahLst/>
            <a:cxnLst/>
            <a:rect l="0" t="0" r="r" b="b"/>
            <a:pathLst>
              <a:path w="66358" h="86487">
                <a:moveTo>
                  <a:pt x="0" y="50292"/>
                </a:moveTo>
                <a:lnTo>
                  <a:pt x="0" y="0"/>
                </a:lnTo>
                <a:moveTo>
                  <a:pt x="0" y="86487"/>
                </a:moveTo>
                <a:lnTo>
                  <a:pt x="66358" y="20129"/>
                </a:lnTo>
              </a:path>
            </a:pathLst>
          </a:custGeom>
          <a:noFill/>
          <a:ln w="1397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icon-target"/>
          <p:cNvSpPr/>
          <p:nvPr/>
        </p:nvSpPr>
        <p:spPr>
          <a:xfrm>
            <a:off x="4460134" y="3444134"/>
            <a:ext cx="172932" cy="172932"/>
          </a:xfrm>
          <a:prstGeom prst="ellipse">
            <a:avLst/>
          </a:prstGeom>
          <a:noFill/>
          <a:ln w="1397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icon-target"/>
          <p:cNvSpPr/>
          <p:nvPr/>
        </p:nvSpPr>
        <p:spPr>
          <a:xfrm>
            <a:off x="4502362" y="3486362"/>
            <a:ext cx="88477" cy="88477"/>
          </a:xfrm>
          <a:prstGeom prst="ellipse">
            <a:avLst/>
          </a:prstGeom>
          <a:noFill/>
          <a:ln w="1397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core-cn"/>
          <p:cNvSpPr txBox="1"/>
          <p:nvPr/>
        </p:nvSpPr>
        <p:spPr>
          <a:xfrm>
            <a:off x="4094798" y="3674459"/>
            <a:ext cx="903605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核心主业</a:t>
            </a:r>
          </a:p>
        </p:txBody>
      </p:sp>
      <p:sp>
        <p:nvSpPr>
          <p:cNvPr id="18" name="core-en"/>
          <p:cNvSpPr txBox="1"/>
          <p:nvPr/>
        </p:nvSpPr>
        <p:spPr>
          <a:xfrm>
            <a:off x="4075684" y="3966908"/>
            <a:ext cx="94183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30">
                <a:solidFill>
                  <a:srgbClr val="BFD6F0"/>
                </a:solidFill>
                <a:latin typeface="Arial"/>
                <a:ea typeface="Arial"/>
                <a:cs typeface="Arial"/>
              </a:rPr>
              <a:t>CORE BUSINESS</a:t>
            </a:r>
          </a:p>
        </p:txBody>
      </p:sp>
      <p:cxnSp>
        <p:nvCxnSpPr>
          <p:cNvPr id="19" name="spoke-1"/>
          <p:cNvCxnSpPr/>
          <p:nvPr/>
        </p:nvCxnSpPr>
        <p:spPr>
          <a:xfrm flipH="1" flipV="1">
            <a:off x="3418063" y="3102793"/>
            <a:ext cx="1128537" cy="681807"/>
          </a:xfrm>
          <a:prstGeom prst="line">
            <a:avLst/>
          </a:prstGeom>
          <a:ln w="8890" cap="rnd">
            <a:solidFill>
              <a:srgbClr val="0B3E8F">
                <a:alpha val="2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halo-1"/>
          <p:cNvSpPr/>
          <p:nvPr/>
        </p:nvSpPr>
        <p:spPr>
          <a:xfrm>
            <a:off x="2967213" y="2651943"/>
            <a:ext cx="901700" cy="901700"/>
          </a:xfrm>
          <a:prstGeom prst="ellipse">
            <a:avLst/>
          </a:pr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sat-1"/>
          <p:cNvSpPr/>
          <p:nvPr/>
        </p:nvSpPr>
        <p:spPr>
          <a:xfrm>
            <a:off x="3024363" y="2709093"/>
            <a:ext cx="787400" cy="787400"/>
          </a:xfrm>
          <a:prstGeom prst="ellipse">
            <a:avLst/>
          </a:prstGeom>
          <a:gradFill rotWithShape="1">
            <a:gsLst>
              <a:gs pos="0">
                <a:srgbClr val="3761A3"/>
              </a:gs>
              <a:gs pos="100000">
                <a:srgbClr val="0B3E8F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icon-factory"/>
          <p:cNvSpPr/>
          <p:nvPr/>
        </p:nvSpPr>
        <p:spPr>
          <a:xfrm>
            <a:off x="3349816" y="2996438"/>
            <a:ext cx="136525" cy="92075"/>
          </a:xfrm>
          <a:custGeom>
            <a:avLst/>
            <a:gdLst/>
            <a:ahLst/>
            <a:cxnLst/>
            <a:rect l="0" t="0" r="r" b="b"/>
            <a:pathLst>
              <a:path w="136525" h="92075">
                <a:moveTo>
                  <a:pt x="0" y="92075"/>
                </a:moveTo>
                <a:lnTo>
                  <a:pt x="0" y="22225"/>
                </a:lnTo>
                <a:lnTo>
                  <a:pt x="39688" y="46038"/>
                </a:lnTo>
                <a:lnTo>
                  <a:pt x="39688" y="22225"/>
                </a:lnTo>
                <a:lnTo>
                  <a:pt x="79375" y="46038"/>
                </a:lnTo>
                <a:lnTo>
                  <a:pt x="79375" y="0"/>
                </a:lnTo>
                <a:lnTo>
                  <a:pt x="119062" y="23812"/>
                </a:lnTo>
                <a:lnTo>
                  <a:pt x="119062" y="84138"/>
                </a:lnTo>
                <a:close/>
                <a:moveTo>
                  <a:pt x="0" y="92075"/>
                </a:moveTo>
                <a:lnTo>
                  <a:pt x="136525" y="92075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satno-1"/>
          <p:cNvSpPr txBox="1"/>
          <p:nvPr/>
        </p:nvSpPr>
        <p:spPr>
          <a:xfrm>
            <a:off x="3321861" y="3150259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>
                    <a:alpha val="62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24" name="satn-1"/>
          <p:cNvSpPr txBox="1"/>
          <p:nvPr/>
        </p:nvSpPr>
        <p:spPr>
          <a:xfrm>
            <a:off x="2219310" y="2912705"/>
            <a:ext cx="69405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8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智能装备</a:t>
            </a:r>
          </a:p>
        </p:txBody>
      </p:sp>
      <p:sp>
        <p:nvSpPr>
          <p:cNvPr id="25" name="satp-1"/>
          <p:cNvSpPr txBox="1"/>
          <p:nvPr/>
        </p:nvSpPr>
        <p:spPr>
          <a:xfrm>
            <a:off x="2210611" y="3117953"/>
            <a:ext cx="70008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占营收 52%</a:t>
            </a:r>
          </a:p>
        </p:txBody>
      </p:sp>
      <p:cxnSp>
        <p:nvCxnSpPr>
          <p:cNvPr id="26" name="spoke-2"/>
          <p:cNvCxnSpPr/>
          <p:nvPr/>
        </p:nvCxnSpPr>
        <p:spPr>
          <a:xfrm flipV="1">
            <a:off x="4546600" y="3421818"/>
            <a:ext cx="1384355" cy="362782"/>
          </a:xfrm>
          <a:prstGeom prst="line">
            <a:avLst/>
          </a:prstGeom>
          <a:ln w="8890" cap="rnd">
            <a:solidFill>
              <a:srgbClr val="1B5AA8">
                <a:alpha val="2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halo-2"/>
          <p:cNvSpPr/>
          <p:nvPr/>
        </p:nvSpPr>
        <p:spPr>
          <a:xfrm>
            <a:off x="5480105" y="2970968"/>
            <a:ext cx="901700" cy="901700"/>
          </a:xfrm>
          <a:prstGeom prst="ellipse">
            <a:avLst/>
          </a:pr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sat-2"/>
          <p:cNvSpPr/>
          <p:nvPr/>
        </p:nvSpPr>
        <p:spPr>
          <a:xfrm>
            <a:off x="5537255" y="3028118"/>
            <a:ext cx="787400" cy="787400"/>
          </a:xfrm>
          <a:prstGeom prst="ellipse">
            <a:avLst/>
          </a:prstGeom>
          <a:gradFill rotWithShape="1">
            <a:gsLst>
              <a:gs pos="0">
                <a:srgbClr val="4478B8"/>
              </a:gs>
              <a:gs pos="100000">
                <a:srgbClr val="1B5AA8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icon-cloud"/>
          <p:cNvSpPr/>
          <p:nvPr/>
        </p:nvSpPr>
        <p:spPr>
          <a:xfrm>
            <a:off x="5857938" y="3292595"/>
            <a:ext cx="150812" cy="103829"/>
          </a:xfrm>
          <a:custGeom>
            <a:avLst/>
            <a:gdLst/>
            <a:ahLst/>
            <a:cxnLst/>
            <a:rect l="0" t="0" r="r" b="b"/>
            <a:pathLst>
              <a:path w="150812" h="103829">
                <a:moveTo>
                  <a:pt x="34925" y="103829"/>
                </a:moveTo>
                <a:cubicBezTo>
                  <a:pt x="16510" y="104718"/>
                  <a:pt x="889" y="90494"/>
                  <a:pt x="0" y="72079"/>
                </a:cubicBezTo>
                <a:cubicBezTo>
                  <a:pt x="-889" y="53664"/>
                  <a:pt x="13335" y="38043"/>
                  <a:pt x="31750" y="37154"/>
                </a:cubicBezTo>
                <a:cubicBezTo>
                  <a:pt x="34353" y="17723"/>
                  <a:pt x="49848" y="2483"/>
                  <a:pt x="69342" y="261"/>
                </a:cubicBezTo>
                <a:cubicBezTo>
                  <a:pt x="88773" y="-1962"/>
                  <a:pt x="107315" y="9278"/>
                  <a:pt x="114300" y="27629"/>
                </a:cubicBezTo>
                <a:cubicBezTo>
                  <a:pt x="135319" y="28518"/>
                  <a:pt x="151701" y="46298"/>
                  <a:pt x="150812" y="67317"/>
                </a:cubicBezTo>
                <a:cubicBezTo>
                  <a:pt x="149924" y="88335"/>
                  <a:pt x="132144" y="104718"/>
                  <a:pt x="111125" y="103829"/>
                </a:cubicBezTo>
                <a:close/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satno-2"/>
          <p:cNvSpPr txBox="1"/>
          <p:nvPr/>
        </p:nvSpPr>
        <p:spPr>
          <a:xfrm>
            <a:off x="5834753" y="3469284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>
                    <a:alpha val="62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31" name="satn-2"/>
          <p:cNvSpPr txBox="1"/>
          <p:nvPr/>
        </p:nvSpPr>
        <p:spPr>
          <a:xfrm>
            <a:off x="6435653" y="3231731"/>
            <a:ext cx="69405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8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软件平台</a:t>
            </a:r>
          </a:p>
        </p:txBody>
      </p:sp>
      <p:sp>
        <p:nvSpPr>
          <p:cNvPr id="32" name="satp-2"/>
          <p:cNvSpPr txBox="1"/>
          <p:nvPr/>
        </p:nvSpPr>
        <p:spPr>
          <a:xfrm>
            <a:off x="6438320" y="3436978"/>
            <a:ext cx="70008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占营收 21%</a:t>
            </a:r>
          </a:p>
        </p:txBody>
      </p:sp>
      <p:cxnSp>
        <p:nvCxnSpPr>
          <p:cNvPr id="33" name="spoke-3"/>
          <p:cNvCxnSpPr/>
          <p:nvPr/>
        </p:nvCxnSpPr>
        <p:spPr>
          <a:xfrm flipH="1" flipV="1">
            <a:off x="4331543" y="2311387"/>
            <a:ext cx="215057" cy="1473213"/>
          </a:xfrm>
          <a:prstGeom prst="line">
            <a:avLst/>
          </a:prstGeom>
          <a:ln w="8890" cap="rnd">
            <a:solidFill>
              <a:srgbClr val="2E77C2">
                <a:alpha val="2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halo-3"/>
          <p:cNvSpPr/>
          <p:nvPr/>
        </p:nvSpPr>
        <p:spPr>
          <a:xfrm>
            <a:off x="3918793" y="1898637"/>
            <a:ext cx="825500" cy="825500"/>
          </a:xfrm>
          <a:prstGeom prst="ellipse">
            <a:avLst/>
          </a:pr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sat-3"/>
          <p:cNvSpPr/>
          <p:nvPr/>
        </p:nvSpPr>
        <p:spPr>
          <a:xfrm>
            <a:off x="3975943" y="1955787"/>
            <a:ext cx="711200" cy="711200"/>
          </a:xfrm>
          <a:prstGeom prst="ellipse">
            <a:avLst/>
          </a:prstGeom>
          <a:gradFill rotWithShape="1">
            <a:gsLst>
              <a:gs pos="0">
                <a:srgbClr val="548FCD"/>
              </a:gs>
              <a:gs pos="100000">
                <a:srgbClr val="2E77C2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icon-hand"/>
          <p:cNvSpPr/>
          <p:nvPr/>
        </p:nvSpPr>
        <p:spPr>
          <a:xfrm>
            <a:off x="4271514" y="2166938"/>
            <a:ext cx="107636" cy="136525"/>
          </a:xfrm>
          <a:custGeom>
            <a:avLst/>
            <a:gdLst/>
            <a:ahLst/>
            <a:cxnLst/>
            <a:rect l="0" t="0" r="r" b="b"/>
            <a:pathLst>
              <a:path w="107636" h="136525">
                <a:moveTo>
                  <a:pt x="31436" y="73025"/>
                </a:moveTo>
                <a:lnTo>
                  <a:pt x="31436" y="22225"/>
                </a:lnTo>
                <a:cubicBezTo>
                  <a:pt x="31436" y="15176"/>
                  <a:pt x="37151" y="9525"/>
                  <a:pt x="44136" y="9525"/>
                </a:cubicBezTo>
                <a:cubicBezTo>
                  <a:pt x="51185" y="9525"/>
                  <a:pt x="56836" y="15176"/>
                  <a:pt x="56836" y="22225"/>
                </a:cubicBezTo>
                <a:lnTo>
                  <a:pt x="56836" y="61912"/>
                </a:lnTo>
                <a:moveTo>
                  <a:pt x="56836" y="61912"/>
                </a:moveTo>
                <a:lnTo>
                  <a:pt x="56836" y="12700"/>
                </a:lnTo>
                <a:cubicBezTo>
                  <a:pt x="56836" y="5651"/>
                  <a:pt x="62551" y="0"/>
                  <a:pt x="69536" y="0"/>
                </a:cubicBezTo>
                <a:cubicBezTo>
                  <a:pt x="76585" y="0"/>
                  <a:pt x="82236" y="5651"/>
                  <a:pt x="82236" y="12700"/>
                </a:cubicBezTo>
                <a:lnTo>
                  <a:pt x="82236" y="61912"/>
                </a:lnTo>
                <a:moveTo>
                  <a:pt x="82236" y="65088"/>
                </a:moveTo>
                <a:lnTo>
                  <a:pt x="82236" y="31750"/>
                </a:lnTo>
                <a:cubicBezTo>
                  <a:pt x="82236" y="24701"/>
                  <a:pt x="87951" y="19050"/>
                  <a:pt x="94936" y="19050"/>
                </a:cubicBezTo>
                <a:cubicBezTo>
                  <a:pt x="101985" y="19050"/>
                  <a:pt x="107636" y="24701"/>
                  <a:pt x="107636" y="31750"/>
                </a:cubicBezTo>
                <a:lnTo>
                  <a:pt x="107636" y="90488"/>
                </a:lnTo>
                <a:cubicBezTo>
                  <a:pt x="107636" y="115888"/>
                  <a:pt x="88586" y="136525"/>
                  <a:pt x="63186" y="136525"/>
                </a:cubicBezTo>
                <a:cubicBezTo>
                  <a:pt x="42549" y="136525"/>
                  <a:pt x="31436" y="127000"/>
                  <a:pt x="20324" y="111125"/>
                </a:cubicBezTo>
                <a:lnTo>
                  <a:pt x="1274" y="82550"/>
                </a:lnTo>
                <a:cubicBezTo>
                  <a:pt x="-1457" y="76899"/>
                  <a:pt x="321" y="70104"/>
                  <a:pt x="5465" y="66548"/>
                </a:cubicBezTo>
                <a:cubicBezTo>
                  <a:pt x="10608" y="62992"/>
                  <a:pt x="17593" y="63690"/>
                  <a:pt x="21911" y="68262"/>
                </a:cubicBezTo>
                <a:close/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satno-3"/>
          <p:cNvSpPr txBox="1"/>
          <p:nvPr/>
        </p:nvSpPr>
        <p:spPr>
          <a:xfrm>
            <a:off x="4235341" y="2358853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>
                    <a:alpha val="62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38" name="satn-3"/>
          <p:cNvSpPr txBox="1"/>
          <p:nvPr/>
        </p:nvSpPr>
        <p:spPr>
          <a:xfrm>
            <a:off x="3170890" y="2121300"/>
            <a:ext cx="69405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8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运维服务</a:t>
            </a:r>
          </a:p>
        </p:txBody>
      </p:sp>
      <p:sp>
        <p:nvSpPr>
          <p:cNvPr id="39" name="satp-3"/>
          <p:cNvSpPr txBox="1"/>
          <p:nvPr/>
        </p:nvSpPr>
        <p:spPr>
          <a:xfrm>
            <a:off x="3162191" y="2326547"/>
            <a:ext cx="70008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占营收 14%</a:t>
            </a:r>
          </a:p>
        </p:txBody>
      </p:sp>
      <p:cxnSp>
        <p:nvCxnSpPr>
          <p:cNvPr id="40" name="spoke-4"/>
          <p:cNvCxnSpPr/>
          <p:nvPr/>
        </p:nvCxnSpPr>
        <p:spPr>
          <a:xfrm>
            <a:off x="4546600" y="3784600"/>
            <a:ext cx="1907588" cy="554915"/>
          </a:xfrm>
          <a:prstGeom prst="line">
            <a:avLst/>
          </a:prstGeom>
          <a:ln w="8890" cap="rnd">
            <a:solidFill>
              <a:srgbClr val="3985CD">
                <a:alpha val="2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halo-4"/>
          <p:cNvSpPr/>
          <p:nvPr/>
        </p:nvSpPr>
        <p:spPr>
          <a:xfrm>
            <a:off x="6041438" y="3926765"/>
            <a:ext cx="825500" cy="825500"/>
          </a:xfrm>
          <a:prstGeom prst="ellipse">
            <a:avLst/>
          </a:prstGeom>
          <a:solidFill>
            <a:srgbClr val="3985CD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sat-4"/>
          <p:cNvSpPr/>
          <p:nvPr/>
        </p:nvSpPr>
        <p:spPr>
          <a:xfrm>
            <a:off x="6098588" y="3983915"/>
            <a:ext cx="711200" cy="711200"/>
          </a:xfrm>
          <a:prstGeom prst="ellipse">
            <a:avLst/>
          </a:prstGeom>
          <a:gradFill rotWithShape="1">
            <a:gsLst>
              <a:gs pos="0">
                <a:srgbClr val="5D9BD6"/>
              </a:gs>
              <a:gs pos="100000">
                <a:srgbClr val="3985CD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icon-coin"/>
          <p:cNvSpPr/>
          <p:nvPr/>
        </p:nvSpPr>
        <p:spPr>
          <a:xfrm>
            <a:off x="6403404" y="4218876"/>
            <a:ext cx="101600" cy="88900"/>
          </a:xfrm>
          <a:custGeom>
            <a:avLst/>
            <a:gdLst/>
            <a:ahLst/>
            <a:cxnLst/>
            <a:rect l="0" t="0" r="r" b="b"/>
            <a:pathLst>
              <a:path w="101600" h="88900">
                <a:moveTo>
                  <a:pt x="50800" y="0"/>
                </a:moveTo>
                <a:cubicBezTo>
                  <a:pt x="22225" y="0"/>
                  <a:pt x="0" y="7938"/>
                  <a:pt x="0" y="19050"/>
                </a:cubicBezTo>
                <a:cubicBezTo>
                  <a:pt x="0" y="30162"/>
                  <a:pt x="22225" y="38100"/>
                  <a:pt x="50800" y="38100"/>
                </a:cubicBezTo>
                <a:cubicBezTo>
                  <a:pt x="79375" y="38100"/>
                  <a:pt x="101600" y="30162"/>
                  <a:pt x="101600" y="19050"/>
                </a:cubicBezTo>
                <a:cubicBezTo>
                  <a:pt x="101600" y="7938"/>
                  <a:pt x="79375" y="0"/>
                  <a:pt x="50800" y="0"/>
                </a:cubicBezTo>
                <a:close/>
                <a:moveTo>
                  <a:pt x="0" y="19050"/>
                </a:moveTo>
                <a:lnTo>
                  <a:pt x="0" y="69850"/>
                </a:lnTo>
                <a:cubicBezTo>
                  <a:pt x="0" y="80962"/>
                  <a:pt x="22225" y="88900"/>
                  <a:pt x="50800" y="88900"/>
                </a:cubicBezTo>
                <a:cubicBezTo>
                  <a:pt x="79375" y="88900"/>
                  <a:pt x="101600" y="80962"/>
                  <a:pt x="101600" y="69850"/>
                </a:cubicBezTo>
                <a:lnTo>
                  <a:pt x="101600" y="19050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satno-4"/>
          <p:cNvSpPr txBox="1"/>
          <p:nvPr/>
        </p:nvSpPr>
        <p:spPr>
          <a:xfrm>
            <a:off x="6357986" y="4386981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>
                    <a:alpha val="62000"/>
                  </a:srgbClr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45" name="satn-4"/>
          <p:cNvSpPr txBox="1"/>
          <p:nvPr/>
        </p:nvSpPr>
        <p:spPr>
          <a:xfrm>
            <a:off x="6920786" y="4149428"/>
            <a:ext cx="83756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8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供应链金融</a:t>
            </a:r>
          </a:p>
        </p:txBody>
      </p:sp>
      <p:sp>
        <p:nvSpPr>
          <p:cNvPr id="46" name="satp-4"/>
          <p:cNvSpPr txBox="1"/>
          <p:nvPr/>
        </p:nvSpPr>
        <p:spPr>
          <a:xfrm>
            <a:off x="6923453" y="4354676"/>
            <a:ext cx="63531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占营收 8%</a:t>
            </a:r>
          </a:p>
        </p:txBody>
      </p:sp>
      <p:cxnSp>
        <p:nvCxnSpPr>
          <p:cNvPr id="47" name="spoke-5"/>
          <p:cNvCxnSpPr/>
          <p:nvPr/>
        </p:nvCxnSpPr>
        <p:spPr>
          <a:xfrm flipH="1">
            <a:off x="3279938" y="3784600"/>
            <a:ext cx="1266662" cy="1167302"/>
          </a:xfrm>
          <a:prstGeom prst="line">
            <a:avLst/>
          </a:prstGeom>
          <a:ln w="8890" cap="rnd">
            <a:solidFill>
              <a:srgbClr val="54A2DF">
                <a:alpha val="2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halo-5"/>
          <p:cNvSpPr/>
          <p:nvPr/>
        </p:nvSpPr>
        <p:spPr>
          <a:xfrm>
            <a:off x="2867188" y="4539152"/>
            <a:ext cx="825500" cy="825500"/>
          </a:xfrm>
          <a:prstGeom prst="ellipse">
            <a:avLst/>
          </a:prstGeom>
          <a:solidFill>
            <a:srgbClr val="54A2D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sat-5"/>
          <p:cNvSpPr/>
          <p:nvPr/>
        </p:nvSpPr>
        <p:spPr>
          <a:xfrm>
            <a:off x="2924338" y="4596302"/>
            <a:ext cx="711200" cy="711200"/>
          </a:xfrm>
          <a:prstGeom prst="ellipse">
            <a:avLst/>
          </a:prstGeom>
          <a:gradFill rotWithShape="1">
            <a:gsLst>
              <a:gs pos="0">
                <a:srgbClr val="73B3E5"/>
              </a:gs>
              <a:gs pos="100000">
                <a:srgbClr val="54A2DF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icon-book"/>
          <p:cNvSpPr/>
          <p:nvPr/>
        </p:nvSpPr>
        <p:spPr>
          <a:xfrm>
            <a:off x="3219640" y="4821746"/>
            <a:ext cx="120650" cy="112712"/>
          </a:xfrm>
          <a:custGeom>
            <a:avLst/>
            <a:gdLst/>
            <a:ahLst/>
            <a:cxnLst/>
            <a:rect l="0" t="0" r="r" b="b"/>
            <a:pathLst>
              <a:path w="120650" h="112712">
                <a:moveTo>
                  <a:pt x="0" y="0"/>
                </a:moveTo>
                <a:lnTo>
                  <a:pt x="42862" y="0"/>
                </a:lnTo>
                <a:cubicBezTo>
                  <a:pt x="52388" y="0"/>
                  <a:pt x="60325" y="7938"/>
                  <a:pt x="60325" y="17462"/>
                </a:cubicBezTo>
                <a:lnTo>
                  <a:pt x="60325" y="112712"/>
                </a:lnTo>
                <a:cubicBezTo>
                  <a:pt x="60325" y="104775"/>
                  <a:pt x="53150" y="98425"/>
                  <a:pt x="44450" y="98425"/>
                </a:cubicBezTo>
                <a:lnTo>
                  <a:pt x="0" y="98425"/>
                </a:lnTo>
                <a:close/>
                <a:moveTo>
                  <a:pt x="120650" y="0"/>
                </a:moveTo>
                <a:lnTo>
                  <a:pt x="77788" y="0"/>
                </a:lnTo>
                <a:cubicBezTo>
                  <a:pt x="68262" y="0"/>
                  <a:pt x="60325" y="7938"/>
                  <a:pt x="60325" y="17462"/>
                </a:cubicBezTo>
                <a:lnTo>
                  <a:pt x="60325" y="112712"/>
                </a:lnTo>
                <a:cubicBezTo>
                  <a:pt x="60325" y="104775"/>
                  <a:pt x="67437" y="98425"/>
                  <a:pt x="76200" y="98425"/>
                </a:cubicBezTo>
                <a:lnTo>
                  <a:pt x="120650" y="98425"/>
                </a:lnTo>
                <a:close/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satno-5"/>
          <p:cNvSpPr txBox="1"/>
          <p:nvPr/>
        </p:nvSpPr>
        <p:spPr>
          <a:xfrm>
            <a:off x="3183736" y="4999369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>
                    <a:alpha val="62000"/>
                  </a:srgbClr>
                </a:solidFill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52" name="satn-5"/>
          <p:cNvSpPr txBox="1"/>
          <p:nvPr/>
        </p:nvSpPr>
        <p:spPr>
          <a:xfrm>
            <a:off x="2119285" y="4761815"/>
            <a:ext cx="69405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8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培训认证</a:t>
            </a:r>
          </a:p>
        </p:txBody>
      </p:sp>
      <p:sp>
        <p:nvSpPr>
          <p:cNvPr id="53" name="satp-5"/>
          <p:cNvSpPr txBox="1"/>
          <p:nvPr/>
        </p:nvSpPr>
        <p:spPr>
          <a:xfrm>
            <a:off x="2175356" y="4967063"/>
            <a:ext cx="63531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占营收 5%</a:t>
            </a:r>
          </a:p>
        </p:txBody>
      </p:sp>
      <p:sp>
        <p:nvSpPr>
          <p:cNvPr id="54" name="lg-1"/>
          <p:cNvSpPr txBox="1"/>
          <p:nvPr/>
        </p:nvSpPr>
        <p:spPr>
          <a:xfrm>
            <a:off x="1449070" y="1546066"/>
            <a:ext cx="9086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80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内轨 · 支柱业务</a:t>
            </a:r>
          </a:p>
        </p:txBody>
      </p:sp>
      <p:sp>
        <p:nvSpPr>
          <p:cNvPr id="55" name="lg-2"/>
          <p:cNvSpPr txBox="1"/>
          <p:nvPr/>
        </p:nvSpPr>
        <p:spPr>
          <a:xfrm>
            <a:off x="1449070" y="1723866"/>
            <a:ext cx="9086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8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外轨 · 孵化业务</a:t>
            </a:r>
          </a:p>
        </p:txBody>
      </p:sp>
      <p:sp>
        <p:nvSpPr>
          <p:cNvPr id="56" name="side-bar"/>
          <p:cNvSpPr/>
          <p:nvPr/>
        </p:nvSpPr>
        <p:spPr>
          <a:xfrm>
            <a:off x="8077200" y="15621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side-h"/>
          <p:cNvSpPr txBox="1"/>
          <p:nvPr/>
        </p:nvSpPr>
        <p:spPr>
          <a:xfrm>
            <a:off x="8235950" y="15692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业务结构</a:t>
            </a:r>
          </a:p>
        </p:txBody>
      </p:sp>
      <p:sp>
        <p:nvSpPr>
          <p:cNvPr id="58" name="side-p"/>
          <p:cNvSpPr txBox="1"/>
          <p:nvPr/>
        </p:nvSpPr>
        <p:spPr>
          <a:xfrm>
            <a:off x="8241665" y="1843961"/>
            <a:ext cx="135032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按营收占比与成熟度分层</a:t>
            </a:r>
          </a:p>
        </p:txBody>
      </p:sp>
      <p:sp>
        <p:nvSpPr>
          <p:cNvPr id="59" name="r-1"/>
          <p:cNvSpPr/>
          <p:nvPr/>
        </p:nvSpPr>
        <p:spPr>
          <a:xfrm>
            <a:off x="8077200" y="2311400"/>
            <a:ext cx="3162300" cy="495300"/>
          </a:xfrm>
          <a:custGeom>
            <a:avLst/>
            <a:gdLst/>
            <a:ahLst/>
            <a:cxnLst/>
            <a:rect l="0" t="0" r="r" b="b"/>
            <a:pathLst>
              <a:path w="3162300" h="495300">
                <a:moveTo>
                  <a:pt x="101600" y="0"/>
                </a:moveTo>
                <a:lnTo>
                  <a:pt x="3060700" y="0"/>
                </a:lnTo>
                <a:cubicBezTo>
                  <a:pt x="3116834" y="0"/>
                  <a:pt x="3162300" y="45466"/>
                  <a:pt x="3162300" y="101600"/>
                </a:cubicBezTo>
                <a:lnTo>
                  <a:pt x="3162300" y="393700"/>
                </a:lnTo>
                <a:cubicBezTo>
                  <a:pt x="3162300" y="449834"/>
                  <a:pt x="3116834" y="495300"/>
                  <a:pt x="3060700" y="495300"/>
                </a:cubicBezTo>
                <a:lnTo>
                  <a:pt x="101600" y="495300"/>
                </a:lnTo>
                <a:cubicBezTo>
                  <a:pt x="45466" y="495300"/>
                  <a:pt x="0" y="449834"/>
                  <a:pt x="0" y="3937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rb-1"/>
          <p:cNvSpPr/>
          <p:nvPr/>
        </p:nvSpPr>
        <p:spPr>
          <a:xfrm>
            <a:off x="8077200" y="2311400"/>
            <a:ext cx="31750" cy="495300"/>
          </a:xfrm>
          <a:custGeom>
            <a:avLst/>
            <a:gdLst/>
            <a:ahLst/>
            <a:cxnLst/>
            <a:rect l="0" t="0" r="r" b="b"/>
            <a:pathLst>
              <a:path w="31750" h="4953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79425"/>
                </a:lnTo>
                <a:cubicBezTo>
                  <a:pt x="31750" y="488188"/>
                  <a:pt x="24638" y="495300"/>
                  <a:pt x="15875" y="495300"/>
                </a:cubicBezTo>
                <a:lnTo>
                  <a:pt x="15875" y="495300"/>
                </a:lnTo>
                <a:cubicBezTo>
                  <a:pt x="7112" y="495300"/>
                  <a:pt x="0" y="488188"/>
                  <a:pt x="0" y="4794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rn-1"/>
          <p:cNvSpPr txBox="1"/>
          <p:nvPr/>
        </p:nvSpPr>
        <p:spPr>
          <a:xfrm>
            <a:off x="8252460" y="237045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智能装备</a:t>
            </a:r>
          </a:p>
        </p:txBody>
      </p:sp>
      <p:sp>
        <p:nvSpPr>
          <p:cNvPr id="62" name="rs-1"/>
          <p:cNvSpPr txBox="1"/>
          <p:nvPr/>
        </p:nvSpPr>
        <p:spPr>
          <a:xfrm>
            <a:off x="8257032" y="2582608"/>
            <a:ext cx="35623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成熟期</a:t>
            </a:r>
          </a:p>
        </p:txBody>
      </p:sp>
      <p:sp>
        <p:nvSpPr>
          <p:cNvPr id="63" name="rbg-1"/>
          <p:cNvSpPr/>
          <p:nvPr/>
        </p:nvSpPr>
        <p:spPr>
          <a:xfrm>
            <a:off x="9283700" y="2527300"/>
            <a:ext cx="1358900" cy="762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rbar-1"/>
          <p:cNvSpPr/>
          <p:nvPr/>
        </p:nvSpPr>
        <p:spPr>
          <a:xfrm>
            <a:off x="9283700" y="2527300"/>
            <a:ext cx="1358900" cy="762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rp-1"/>
          <p:cNvSpPr txBox="1"/>
          <p:nvPr/>
        </p:nvSpPr>
        <p:spPr>
          <a:xfrm>
            <a:off x="10697718" y="2443670"/>
            <a:ext cx="368046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20">
                <a:solidFill>
                  <a:srgbClr val="0B3E8F"/>
                </a:solidFill>
                <a:latin typeface="Arial"/>
                <a:ea typeface="Arial"/>
                <a:cs typeface="Arial"/>
              </a:rPr>
              <a:t>52%</a:t>
            </a:r>
          </a:p>
        </p:txBody>
      </p:sp>
      <p:sp>
        <p:nvSpPr>
          <p:cNvPr id="66" name="r-2"/>
          <p:cNvSpPr/>
          <p:nvPr/>
        </p:nvSpPr>
        <p:spPr>
          <a:xfrm>
            <a:off x="8077200" y="2921000"/>
            <a:ext cx="3162300" cy="495300"/>
          </a:xfrm>
          <a:custGeom>
            <a:avLst/>
            <a:gdLst/>
            <a:ahLst/>
            <a:cxnLst/>
            <a:rect l="0" t="0" r="r" b="b"/>
            <a:pathLst>
              <a:path w="3162300" h="495300">
                <a:moveTo>
                  <a:pt x="101600" y="0"/>
                </a:moveTo>
                <a:lnTo>
                  <a:pt x="3060700" y="0"/>
                </a:lnTo>
                <a:cubicBezTo>
                  <a:pt x="3116834" y="0"/>
                  <a:pt x="3162300" y="45466"/>
                  <a:pt x="3162300" y="101600"/>
                </a:cubicBezTo>
                <a:lnTo>
                  <a:pt x="3162300" y="393700"/>
                </a:lnTo>
                <a:cubicBezTo>
                  <a:pt x="3162300" y="449834"/>
                  <a:pt x="3116834" y="495300"/>
                  <a:pt x="3060700" y="495300"/>
                </a:cubicBezTo>
                <a:lnTo>
                  <a:pt x="101600" y="495300"/>
                </a:lnTo>
                <a:cubicBezTo>
                  <a:pt x="45466" y="495300"/>
                  <a:pt x="0" y="449834"/>
                  <a:pt x="0" y="3937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rb-2"/>
          <p:cNvSpPr/>
          <p:nvPr/>
        </p:nvSpPr>
        <p:spPr>
          <a:xfrm>
            <a:off x="8077200" y="2921000"/>
            <a:ext cx="31750" cy="495300"/>
          </a:xfrm>
          <a:custGeom>
            <a:avLst/>
            <a:gdLst/>
            <a:ahLst/>
            <a:cxnLst/>
            <a:rect l="0" t="0" r="r" b="b"/>
            <a:pathLst>
              <a:path w="31750" h="4953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79425"/>
                </a:lnTo>
                <a:cubicBezTo>
                  <a:pt x="31750" y="488188"/>
                  <a:pt x="24638" y="495300"/>
                  <a:pt x="15875" y="495300"/>
                </a:cubicBezTo>
                <a:lnTo>
                  <a:pt x="15875" y="495300"/>
                </a:lnTo>
                <a:cubicBezTo>
                  <a:pt x="7112" y="495300"/>
                  <a:pt x="0" y="488188"/>
                  <a:pt x="0" y="4794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rn-2"/>
          <p:cNvSpPr txBox="1"/>
          <p:nvPr/>
        </p:nvSpPr>
        <p:spPr>
          <a:xfrm>
            <a:off x="8252460" y="298005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软件平台</a:t>
            </a:r>
          </a:p>
        </p:txBody>
      </p:sp>
      <p:sp>
        <p:nvSpPr>
          <p:cNvPr id="69" name="rs-2"/>
          <p:cNvSpPr txBox="1"/>
          <p:nvPr/>
        </p:nvSpPr>
        <p:spPr>
          <a:xfrm>
            <a:off x="8257032" y="3192208"/>
            <a:ext cx="35623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成长期</a:t>
            </a:r>
          </a:p>
        </p:txBody>
      </p:sp>
      <p:sp>
        <p:nvSpPr>
          <p:cNvPr id="70" name="rbg-2"/>
          <p:cNvSpPr/>
          <p:nvPr/>
        </p:nvSpPr>
        <p:spPr>
          <a:xfrm>
            <a:off x="9283700" y="3136900"/>
            <a:ext cx="1358900" cy="762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rbar-2"/>
          <p:cNvSpPr/>
          <p:nvPr/>
        </p:nvSpPr>
        <p:spPr>
          <a:xfrm>
            <a:off x="9283700" y="3136900"/>
            <a:ext cx="548787" cy="76200"/>
          </a:xfrm>
          <a:prstGeom prst="roundRect">
            <a:avLst>
              <a:gd name="adj" fmla="val 50000"/>
            </a:avLst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rp-2"/>
          <p:cNvSpPr txBox="1"/>
          <p:nvPr/>
        </p:nvSpPr>
        <p:spPr>
          <a:xfrm>
            <a:off x="10697718" y="3053270"/>
            <a:ext cx="368046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20">
                <a:solidFill>
                  <a:srgbClr val="1B5AA8"/>
                </a:solidFill>
                <a:latin typeface="Arial"/>
                <a:ea typeface="Arial"/>
                <a:cs typeface="Arial"/>
              </a:rPr>
              <a:t>21%</a:t>
            </a:r>
          </a:p>
        </p:txBody>
      </p:sp>
      <p:sp>
        <p:nvSpPr>
          <p:cNvPr id="73" name="r-3"/>
          <p:cNvSpPr/>
          <p:nvPr/>
        </p:nvSpPr>
        <p:spPr>
          <a:xfrm>
            <a:off x="8077200" y="3530600"/>
            <a:ext cx="3162300" cy="495300"/>
          </a:xfrm>
          <a:custGeom>
            <a:avLst/>
            <a:gdLst/>
            <a:ahLst/>
            <a:cxnLst/>
            <a:rect l="0" t="0" r="r" b="b"/>
            <a:pathLst>
              <a:path w="3162300" h="495300">
                <a:moveTo>
                  <a:pt x="101600" y="0"/>
                </a:moveTo>
                <a:lnTo>
                  <a:pt x="3060700" y="0"/>
                </a:lnTo>
                <a:cubicBezTo>
                  <a:pt x="3116834" y="0"/>
                  <a:pt x="3162300" y="45466"/>
                  <a:pt x="3162300" y="101600"/>
                </a:cubicBezTo>
                <a:lnTo>
                  <a:pt x="3162300" y="393700"/>
                </a:lnTo>
                <a:cubicBezTo>
                  <a:pt x="3162300" y="449834"/>
                  <a:pt x="3116834" y="495300"/>
                  <a:pt x="3060700" y="495300"/>
                </a:cubicBezTo>
                <a:lnTo>
                  <a:pt x="101600" y="495300"/>
                </a:lnTo>
                <a:cubicBezTo>
                  <a:pt x="45466" y="495300"/>
                  <a:pt x="0" y="449834"/>
                  <a:pt x="0" y="3937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rb-3"/>
          <p:cNvSpPr/>
          <p:nvPr/>
        </p:nvSpPr>
        <p:spPr>
          <a:xfrm>
            <a:off x="8077200" y="3530600"/>
            <a:ext cx="31750" cy="495300"/>
          </a:xfrm>
          <a:custGeom>
            <a:avLst/>
            <a:gdLst/>
            <a:ahLst/>
            <a:cxnLst/>
            <a:rect l="0" t="0" r="r" b="b"/>
            <a:pathLst>
              <a:path w="31750" h="4953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79425"/>
                </a:lnTo>
                <a:cubicBezTo>
                  <a:pt x="31750" y="488188"/>
                  <a:pt x="24638" y="495300"/>
                  <a:pt x="15875" y="495300"/>
                </a:cubicBezTo>
                <a:lnTo>
                  <a:pt x="15875" y="495300"/>
                </a:lnTo>
                <a:cubicBezTo>
                  <a:pt x="7112" y="495300"/>
                  <a:pt x="0" y="488188"/>
                  <a:pt x="0" y="4794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rn-3"/>
          <p:cNvSpPr txBox="1"/>
          <p:nvPr/>
        </p:nvSpPr>
        <p:spPr>
          <a:xfrm>
            <a:off x="8252460" y="358965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运维服务</a:t>
            </a:r>
          </a:p>
        </p:txBody>
      </p:sp>
      <p:sp>
        <p:nvSpPr>
          <p:cNvPr id="76" name="rs-3"/>
          <p:cNvSpPr txBox="1"/>
          <p:nvPr/>
        </p:nvSpPr>
        <p:spPr>
          <a:xfrm>
            <a:off x="8257032" y="3801808"/>
            <a:ext cx="35623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成长期</a:t>
            </a:r>
          </a:p>
        </p:txBody>
      </p:sp>
      <p:sp>
        <p:nvSpPr>
          <p:cNvPr id="77" name="rbg-3"/>
          <p:cNvSpPr/>
          <p:nvPr/>
        </p:nvSpPr>
        <p:spPr>
          <a:xfrm>
            <a:off x="9283700" y="3746500"/>
            <a:ext cx="1358900" cy="762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rbar-3"/>
          <p:cNvSpPr/>
          <p:nvPr/>
        </p:nvSpPr>
        <p:spPr>
          <a:xfrm>
            <a:off x="9283700" y="3746500"/>
            <a:ext cx="365858" cy="76200"/>
          </a:xfrm>
          <a:prstGeom prst="roundRect">
            <a:avLst>
              <a:gd name="adj" fmla="val 50000"/>
            </a:avLst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rp-3"/>
          <p:cNvSpPr txBox="1"/>
          <p:nvPr/>
        </p:nvSpPr>
        <p:spPr>
          <a:xfrm>
            <a:off x="10697718" y="3662871"/>
            <a:ext cx="368046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20">
                <a:solidFill>
                  <a:srgbClr val="2E77C2"/>
                </a:solidFill>
                <a:latin typeface="Arial"/>
                <a:ea typeface="Arial"/>
                <a:cs typeface="Arial"/>
              </a:rPr>
              <a:t>14%</a:t>
            </a:r>
          </a:p>
        </p:txBody>
      </p:sp>
      <p:sp>
        <p:nvSpPr>
          <p:cNvPr id="80" name="r-4"/>
          <p:cNvSpPr/>
          <p:nvPr/>
        </p:nvSpPr>
        <p:spPr>
          <a:xfrm>
            <a:off x="8077200" y="4140200"/>
            <a:ext cx="3162300" cy="495300"/>
          </a:xfrm>
          <a:custGeom>
            <a:avLst/>
            <a:gdLst/>
            <a:ahLst/>
            <a:cxnLst/>
            <a:rect l="0" t="0" r="r" b="b"/>
            <a:pathLst>
              <a:path w="3162300" h="495300">
                <a:moveTo>
                  <a:pt x="101600" y="0"/>
                </a:moveTo>
                <a:lnTo>
                  <a:pt x="3060700" y="0"/>
                </a:lnTo>
                <a:cubicBezTo>
                  <a:pt x="3116834" y="0"/>
                  <a:pt x="3162300" y="45466"/>
                  <a:pt x="3162300" y="101600"/>
                </a:cubicBezTo>
                <a:lnTo>
                  <a:pt x="3162300" y="393700"/>
                </a:lnTo>
                <a:cubicBezTo>
                  <a:pt x="3162300" y="449834"/>
                  <a:pt x="3116834" y="495300"/>
                  <a:pt x="3060700" y="495300"/>
                </a:cubicBezTo>
                <a:lnTo>
                  <a:pt x="101600" y="495300"/>
                </a:lnTo>
                <a:cubicBezTo>
                  <a:pt x="45466" y="495300"/>
                  <a:pt x="0" y="449834"/>
                  <a:pt x="0" y="3937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rb-4"/>
          <p:cNvSpPr/>
          <p:nvPr/>
        </p:nvSpPr>
        <p:spPr>
          <a:xfrm>
            <a:off x="8077200" y="4140200"/>
            <a:ext cx="31750" cy="495300"/>
          </a:xfrm>
          <a:custGeom>
            <a:avLst/>
            <a:gdLst/>
            <a:ahLst/>
            <a:cxnLst/>
            <a:rect l="0" t="0" r="r" b="b"/>
            <a:pathLst>
              <a:path w="31750" h="4953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79425"/>
                </a:lnTo>
                <a:cubicBezTo>
                  <a:pt x="31750" y="488188"/>
                  <a:pt x="24638" y="495300"/>
                  <a:pt x="15875" y="495300"/>
                </a:cubicBezTo>
                <a:lnTo>
                  <a:pt x="15875" y="495300"/>
                </a:lnTo>
                <a:cubicBezTo>
                  <a:pt x="7112" y="495300"/>
                  <a:pt x="0" y="488188"/>
                  <a:pt x="0" y="4794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rn-4"/>
          <p:cNvSpPr txBox="1"/>
          <p:nvPr/>
        </p:nvSpPr>
        <p:spPr>
          <a:xfrm>
            <a:off x="8252460" y="4199255"/>
            <a:ext cx="7874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供应链金融</a:t>
            </a:r>
          </a:p>
        </p:txBody>
      </p:sp>
      <p:sp>
        <p:nvSpPr>
          <p:cNvPr id="83" name="rs-4"/>
          <p:cNvSpPr txBox="1"/>
          <p:nvPr/>
        </p:nvSpPr>
        <p:spPr>
          <a:xfrm>
            <a:off x="8257032" y="4411408"/>
            <a:ext cx="35623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孵化期</a:t>
            </a:r>
          </a:p>
        </p:txBody>
      </p:sp>
      <p:sp>
        <p:nvSpPr>
          <p:cNvPr id="84" name="rbg-4"/>
          <p:cNvSpPr/>
          <p:nvPr/>
        </p:nvSpPr>
        <p:spPr>
          <a:xfrm>
            <a:off x="9283700" y="4356100"/>
            <a:ext cx="1358900" cy="762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rbar-4"/>
          <p:cNvSpPr/>
          <p:nvPr/>
        </p:nvSpPr>
        <p:spPr>
          <a:xfrm>
            <a:off x="9283700" y="4356100"/>
            <a:ext cx="209062" cy="76200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rp-4"/>
          <p:cNvSpPr txBox="1"/>
          <p:nvPr/>
        </p:nvSpPr>
        <p:spPr>
          <a:xfrm>
            <a:off x="10778490" y="4272470"/>
            <a:ext cx="287274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20">
                <a:solidFill>
                  <a:srgbClr val="3985CD"/>
                </a:solidFill>
                <a:latin typeface="Arial"/>
                <a:ea typeface="Arial"/>
                <a:cs typeface="Arial"/>
              </a:rPr>
              <a:t>8%</a:t>
            </a:r>
          </a:p>
        </p:txBody>
      </p:sp>
      <p:sp>
        <p:nvSpPr>
          <p:cNvPr id="87" name="r-5"/>
          <p:cNvSpPr/>
          <p:nvPr/>
        </p:nvSpPr>
        <p:spPr>
          <a:xfrm>
            <a:off x="8077200" y="4749800"/>
            <a:ext cx="3162300" cy="495300"/>
          </a:xfrm>
          <a:custGeom>
            <a:avLst/>
            <a:gdLst/>
            <a:ahLst/>
            <a:cxnLst/>
            <a:rect l="0" t="0" r="r" b="b"/>
            <a:pathLst>
              <a:path w="3162300" h="495300">
                <a:moveTo>
                  <a:pt x="101600" y="0"/>
                </a:moveTo>
                <a:lnTo>
                  <a:pt x="3060700" y="0"/>
                </a:lnTo>
                <a:cubicBezTo>
                  <a:pt x="3116834" y="0"/>
                  <a:pt x="3162300" y="45466"/>
                  <a:pt x="3162300" y="101600"/>
                </a:cubicBezTo>
                <a:lnTo>
                  <a:pt x="3162300" y="393700"/>
                </a:lnTo>
                <a:cubicBezTo>
                  <a:pt x="3162300" y="449834"/>
                  <a:pt x="3116834" y="495300"/>
                  <a:pt x="3060700" y="495300"/>
                </a:cubicBezTo>
                <a:lnTo>
                  <a:pt x="101600" y="495300"/>
                </a:lnTo>
                <a:cubicBezTo>
                  <a:pt x="45466" y="495300"/>
                  <a:pt x="0" y="449834"/>
                  <a:pt x="0" y="3937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rb-5"/>
          <p:cNvSpPr/>
          <p:nvPr/>
        </p:nvSpPr>
        <p:spPr>
          <a:xfrm>
            <a:off x="8077200" y="4749800"/>
            <a:ext cx="31750" cy="495300"/>
          </a:xfrm>
          <a:custGeom>
            <a:avLst/>
            <a:gdLst/>
            <a:ahLst/>
            <a:cxnLst/>
            <a:rect l="0" t="0" r="r" b="b"/>
            <a:pathLst>
              <a:path w="31750" h="4953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79425"/>
                </a:lnTo>
                <a:cubicBezTo>
                  <a:pt x="31750" y="488188"/>
                  <a:pt x="24638" y="495300"/>
                  <a:pt x="15875" y="495300"/>
                </a:cubicBezTo>
                <a:lnTo>
                  <a:pt x="15875" y="495300"/>
                </a:lnTo>
                <a:cubicBezTo>
                  <a:pt x="7112" y="495300"/>
                  <a:pt x="0" y="488188"/>
                  <a:pt x="0" y="4794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rn-5"/>
          <p:cNvSpPr txBox="1"/>
          <p:nvPr/>
        </p:nvSpPr>
        <p:spPr>
          <a:xfrm>
            <a:off x="8252460" y="480885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培训认证</a:t>
            </a:r>
          </a:p>
        </p:txBody>
      </p:sp>
      <p:sp>
        <p:nvSpPr>
          <p:cNvPr id="90" name="rs-5"/>
          <p:cNvSpPr txBox="1"/>
          <p:nvPr/>
        </p:nvSpPr>
        <p:spPr>
          <a:xfrm>
            <a:off x="8257032" y="5021008"/>
            <a:ext cx="35623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孵化期</a:t>
            </a:r>
          </a:p>
        </p:txBody>
      </p:sp>
      <p:sp>
        <p:nvSpPr>
          <p:cNvPr id="91" name="rbg-5"/>
          <p:cNvSpPr/>
          <p:nvPr/>
        </p:nvSpPr>
        <p:spPr>
          <a:xfrm>
            <a:off x="9283700" y="4965700"/>
            <a:ext cx="1358900" cy="762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rbar-5"/>
          <p:cNvSpPr/>
          <p:nvPr/>
        </p:nvSpPr>
        <p:spPr>
          <a:xfrm>
            <a:off x="9283700" y="4965700"/>
            <a:ext cx="130663" cy="76200"/>
          </a:xfrm>
          <a:prstGeom prst="roundRect">
            <a:avLst>
              <a:gd name="adj" fmla="val 50000"/>
            </a:avLst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rp-5"/>
          <p:cNvSpPr txBox="1"/>
          <p:nvPr/>
        </p:nvSpPr>
        <p:spPr>
          <a:xfrm>
            <a:off x="10778490" y="4882070"/>
            <a:ext cx="287274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20">
                <a:solidFill>
                  <a:srgbClr val="54A2DF"/>
                </a:solidFill>
                <a:latin typeface="Arial"/>
                <a:ea typeface="Arial"/>
                <a:cs typeface="Arial"/>
              </a:rPr>
              <a:t>5%</a:t>
            </a:r>
          </a:p>
        </p:txBody>
      </p:sp>
      <p:sp>
        <p:nvSpPr>
          <p:cNvPr id="94" name="sum"/>
          <p:cNvSpPr/>
          <p:nvPr/>
        </p:nvSpPr>
        <p:spPr>
          <a:xfrm>
            <a:off x="952500" y="5575300"/>
            <a:ext cx="10287000" cy="533400"/>
          </a:xfrm>
          <a:custGeom>
            <a:avLst/>
            <a:gdLst/>
            <a:ahLst/>
            <a:cxnLst/>
            <a:rect l="0" t="0" r="r" b="b"/>
            <a:pathLst>
              <a:path w="10287000" h="5334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31800"/>
                </a:lnTo>
                <a:cubicBezTo>
                  <a:pt x="10287000" y="487934"/>
                  <a:pt x="10241534" y="533400"/>
                  <a:pt x="10185400" y="533400"/>
                </a:cubicBezTo>
                <a:lnTo>
                  <a:pt x="101600" y="533400"/>
                </a:lnTo>
                <a:cubicBezTo>
                  <a:pt x="45466" y="533400"/>
                  <a:pt x="0" y="487934"/>
                  <a:pt x="0" y="431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sum-bar"/>
          <p:cNvSpPr/>
          <p:nvPr/>
        </p:nvSpPr>
        <p:spPr>
          <a:xfrm>
            <a:off x="952500" y="55753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sum-h"/>
          <p:cNvSpPr txBox="1"/>
          <p:nvPr/>
        </p:nvSpPr>
        <p:spPr>
          <a:xfrm>
            <a:off x="1141222" y="56802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结构判断</a:t>
            </a:r>
          </a:p>
        </p:txBody>
      </p:sp>
      <p:sp>
        <p:nvSpPr>
          <p:cNvPr id="97" name="sum-p"/>
          <p:cNvSpPr txBox="1"/>
          <p:nvPr/>
        </p:nvSpPr>
        <p:spPr>
          <a:xfrm>
            <a:off x="1142365" y="5895261"/>
            <a:ext cx="466121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内轨两项贡献 73% 营收，是现金牛；外轨三项合计 27%，承担第二增长曲线的试验任务。</a:t>
            </a:r>
          </a:p>
        </p:txBody>
      </p:sp>
      <p:cxnSp>
        <p:nvCxnSpPr>
          <p:cNvPr id="98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轨道模型 · 一核五星</a:t>
            </a:r>
          </a:p>
        </p:txBody>
      </p:sp>
      <p:sp>
        <p:nvSpPr>
          <p:cNvPr id="100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产品能力全景图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99060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MODULE MAP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437499" y="673132"/>
            <a:ext cx="31832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四大能力域、十八个功能模块，深色为已上线，浅色为规划中</a:t>
            </a:r>
          </a:p>
        </p:txBody>
      </p:sp>
      <p:sp>
        <p:nvSpPr>
          <p:cNvPr id="10" name="dom-1"/>
          <p:cNvSpPr/>
          <p:nvPr/>
        </p:nvSpPr>
        <p:spPr>
          <a:xfrm>
            <a:off x="952500" y="1587500"/>
            <a:ext cx="2476500" cy="3848100"/>
          </a:xfrm>
          <a:custGeom>
            <a:avLst/>
            <a:gdLst/>
            <a:ahLst/>
            <a:cxnLst/>
            <a:rect l="0" t="0" r="r" b="b"/>
            <a:pathLst>
              <a:path w="2476500" h="3848100">
                <a:moveTo>
                  <a:pt x="127000" y="0"/>
                </a:moveTo>
                <a:lnTo>
                  <a:pt x="2349500" y="0"/>
                </a:lnTo>
                <a:cubicBezTo>
                  <a:pt x="2419667" y="0"/>
                  <a:pt x="2476500" y="56832"/>
                  <a:pt x="2476500" y="127000"/>
                </a:cubicBezTo>
                <a:lnTo>
                  <a:pt x="2476500" y="3721100"/>
                </a:lnTo>
                <a:cubicBezTo>
                  <a:pt x="2476500" y="3791267"/>
                  <a:pt x="2419667" y="3848100"/>
                  <a:pt x="2349500" y="3848100"/>
                </a:cubicBezTo>
                <a:lnTo>
                  <a:pt x="127000" y="3848100"/>
                </a:lnTo>
                <a:cubicBezTo>
                  <a:pt x="56832" y="3848100"/>
                  <a:pt x="0" y="3791267"/>
                  <a:pt x="0" y="3721100"/>
                </a:cubicBezTo>
                <a:lnTo>
                  <a:pt x="0" y="127000"/>
                </a:lnTo>
                <a:cubicBezTo>
                  <a:pt x="0" y="56832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>
              <a:alpha val="8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domhd-1"/>
          <p:cNvSpPr/>
          <p:nvPr/>
        </p:nvSpPr>
        <p:spPr>
          <a:xfrm>
            <a:off x="952500" y="1587500"/>
            <a:ext cx="2476500" cy="685800"/>
          </a:xfrm>
          <a:custGeom>
            <a:avLst/>
            <a:gdLst/>
            <a:ahLst/>
            <a:cxnLst/>
            <a:rect l="0" t="0" r="r" b="b"/>
            <a:pathLst>
              <a:path w="2476500" h="685800">
                <a:moveTo>
                  <a:pt x="127000" y="0"/>
                </a:moveTo>
                <a:lnTo>
                  <a:pt x="2349500" y="0"/>
                </a:lnTo>
                <a:cubicBezTo>
                  <a:pt x="2419667" y="0"/>
                  <a:pt x="2476500" y="56832"/>
                  <a:pt x="2476500" y="127000"/>
                </a:cubicBezTo>
                <a:lnTo>
                  <a:pt x="2476500" y="558800"/>
                </a:lnTo>
                <a:cubicBezTo>
                  <a:pt x="2476500" y="628968"/>
                  <a:pt x="2419667" y="685800"/>
                  <a:pt x="2349500" y="685800"/>
                </a:cubicBezTo>
                <a:lnTo>
                  <a:pt x="127000" y="685800"/>
                </a:lnTo>
                <a:cubicBezTo>
                  <a:pt x="56832" y="685800"/>
                  <a:pt x="0" y="628968"/>
                  <a:pt x="0" y="558800"/>
                </a:cubicBezTo>
                <a:lnTo>
                  <a:pt x="0" y="127000"/>
                </a:lnTo>
                <a:cubicBezTo>
                  <a:pt x="0" y="56832"/>
                  <a:pt x="56832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2D599F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icon-layers"/>
          <p:cNvSpPr/>
          <p:nvPr/>
        </p:nvSpPr>
        <p:spPr>
          <a:xfrm>
            <a:off x="1214946" y="1860994"/>
            <a:ext cx="135509" cy="140525"/>
          </a:xfrm>
          <a:custGeom>
            <a:avLst/>
            <a:gdLst/>
            <a:ahLst/>
            <a:cxnLst/>
            <a:rect l="0" t="0" r="r" b="b"/>
            <a:pathLst>
              <a:path w="135509" h="140525">
                <a:moveTo>
                  <a:pt x="67754" y="0"/>
                </a:moveTo>
                <a:lnTo>
                  <a:pt x="135509" y="35560"/>
                </a:lnTo>
                <a:lnTo>
                  <a:pt x="67754" y="71120"/>
                </a:lnTo>
                <a:lnTo>
                  <a:pt x="0" y="35560"/>
                </a:lnTo>
                <a:close/>
                <a:moveTo>
                  <a:pt x="0" y="71120"/>
                </a:moveTo>
                <a:lnTo>
                  <a:pt x="67754" y="106680"/>
                </a:lnTo>
                <a:lnTo>
                  <a:pt x="135509" y="71120"/>
                </a:lnTo>
                <a:moveTo>
                  <a:pt x="0" y="104966"/>
                </a:moveTo>
                <a:lnTo>
                  <a:pt x="67754" y="140525"/>
                </a:lnTo>
                <a:lnTo>
                  <a:pt x="135509" y="104966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domn-1"/>
          <p:cNvSpPr txBox="1"/>
          <p:nvPr/>
        </p:nvSpPr>
        <p:spPr>
          <a:xfrm>
            <a:off x="1504950" y="1708944"/>
            <a:ext cx="8413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业务中台</a:t>
            </a:r>
          </a:p>
        </p:txBody>
      </p:sp>
      <p:sp>
        <p:nvSpPr>
          <p:cNvPr id="14" name="domen-1"/>
          <p:cNvSpPr txBox="1"/>
          <p:nvPr/>
        </p:nvSpPr>
        <p:spPr>
          <a:xfrm>
            <a:off x="1526032" y="1973008"/>
            <a:ext cx="610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30">
                <a:solidFill>
                  <a:srgbClr val="CFE0F4"/>
                </a:solidFill>
                <a:latin typeface="Arial"/>
                <a:ea typeface="Arial"/>
                <a:cs typeface="Arial"/>
              </a:rPr>
              <a:t>BUSINESS</a:t>
            </a:r>
          </a:p>
        </p:txBody>
      </p:sp>
      <p:sp>
        <p:nvSpPr>
          <p:cNvPr id="15" name="domc-1"/>
          <p:cNvSpPr txBox="1"/>
          <p:nvPr/>
        </p:nvSpPr>
        <p:spPr>
          <a:xfrm>
            <a:off x="2928239" y="1816513"/>
            <a:ext cx="351663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20">
                <a:solidFill>
                  <a:srgbClr val="FFFFFF">
                    <a:alpha val="80000"/>
                  </a:srgbClr>
                </a:solidFill>
                <a:latin typeface="Arial"/>
                <a:ea typeface="Arial"/>
                <a:cs typeface="Arial"/>
              </a:rPr>
              <a:t>4/5</a:t>
            </a:r>
          </a:p>
        </p:txBody>
      </p:sp>
      <p:sp>
        <p:nvSpPr>
          <p:cNvPr id="16" name="mod-1-1"/>
          <p:cNvSpPr/>
          <p:nvPr/>
        </p:nvSpPr>
        <p:spPr>
          <a:xfrm>
            <a:off x="1079500" y="2425700"/>
            <a:ext cx="2222500" cy="469900"/>
          </a:xfrm>
          <a:custGeom>
            <a:avLst/>
            <a:gdLst/>
            <a:ahLst/>
            <a:cxnLst/>
            <a:rect l="0" t="0" r="r" b="b"/>
            <a:pathLst>
              <a:path w="2222500" h="469900">
                <a:moveTo>
                  <a:pt x="88900" y="0"/>
                </a:moveTo>
                <a:lnTo>
                  <a:pt x="2133600" y="0"/>
                </a:lnTo>
                <a:cubicBezTo>
                  <a:pt x="2182686" y="0"/>
                  <a:pt x="2222500" y="39814"/>
                  <a:pt x="2222500" y="88900"/>
                </a:cubicBezTo>
                <a:lnTo>
                  <a:pt x="2222500" y="381000"/>
                </a:lnTo>
                <a:cubicBezTo>
                  <a:pt x="2222500" y="430086"/>
                  <a:pt x="2182686" y="469900"/>
                  <a:pt x="2133600" y="469900"/>
                </a:cubicBezTo>
                <a:lnTo>
                  <a:pt x="88900" y="469900"/>
                </a:lnTo>
                <a:cubicBezTo>
                  <a:pt x="39815" y="469900"/>
                  <a:pt x="0" y="430086"/>
                  <a:pt x="0" y="3810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modb-1-1"/>
          <p:cNvSpPr/>
          <p:nvPr/>
        </p:nvSpPr>
        <p:spPr>
          <a:xfrm>
            <a:off x="1079500" y="2425700"/>
            <a:ext cx="31750" cy="469900"/>
          </a:xfrm>
          <a:custGeom>
            <a:avLst/>
            <a:gdLst/>
            <a:ahLst/>
            <a:cxnLst/>
            <a:rect l="0" t="0" r="r" b="b"/>
            <a:pathLst>
              <a:path w="31750" h="469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54025"/>
                </a:lnTo>
                <a:cubicBezTo>
                  <a:pt x="31750" y="462788"/>
                  <a:pt x="24638" y="469900"/>
                  <a:pt x="15875" y="469900"/>
                </a:cubicBezTo>
                <a:lnTo>
                  <a:pt x="15875" y="469900"/>
                </a:lnTo>
                <a:cubicBezTo>
                  <a:pt x="7112" y="469900"/>
                  <a:pt x="0" y="462788"/>
                  <a:pt x="0" y="454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modc-1-1"/>
          <p:cNvSpPr/>
          <p:nvPr/>
        </p:nvSpPr>
        <p:spPr>
          <a:xfrm>
            <a:off x="1250950" y="2578100"/>
            <a:ext cx="165100" cy="165100"/>
          </a:xfrm>
          <a:prstGeom prst="ellipse">
            <a:avLst/>
          </a:prstGeom>
          <a:solidFill>
            <a:srgbClr val="0B3E8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icon-check"/>
          <p:cNvSpPr/>
          <p:nvPr/>
        </p:nvSpPr>
        <p:spPr>
          <a:xfrm>
            <a:off x="1306386" y="2642044"/>
            <a:ext cx="54229" cy="38100"/>
          </a:xfrm>
          <a:custGeom>
            <a:avLst/>
            <a:gdLst/>
            <a:ahLst/>
            <a:cxnLst/>
            <a:rect l="0" t="0" r="r" b="b"/>
            <a:pathLst>
              <a:path w="54229" h="38100">
                <a:moveTo>
                  <a:pt x="0" y="20320"/>
                </a:moveTo>
                <a:lnTo>
                  <a:pt x="17780" y="38100"/>
                </a:lnTo>
                <a:lnTo>
                  <a:pt x="54229" y="0"/>
                </a:lnTo>
              </a:path>
            </a:pathLst>
          </a:custGeom>
          <a:noFill/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modn-1-1"/>
          <p:cNvSpPr txBox="1"/>
          <p:nvPr/>
        </p:nvSpPr>
        <p:spPr>
          <a:xfrm>
            <a:off x="1496060" y="255460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订单中心</a:t>
            </a:r>
          </a:p>
        </p:txBody>
      </p:sp>
      <p:sp>
        <p:nvSpPr>
          <p:cNvPr id="21" name="mods-1-1"/>
          <p:cNvSpPr txBox="1"/>
          <p:nvPr/>
        </p:nvSpPr>
        <p:spPr>
          <a:xfrm>
            <a:off x="2827528" y="2588958"/>
            <a:ext cx="3581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已上线</a:t>
            </a:r>
          </a:p>
        </p:txBody>
      </p:sp>
      <p:sp>
        <p:nvSpPr>
          <p:cNvPr id="22" name="mod-1-2"/>
          <p:cNvSpPr/>
          <p:nvPr/>
        </p:nvSpPr>
        <p:spPr>
          <a:xfrm>
            <a:off x="1079500" y="2984500"/>
            <a:ext cx="2222500" cy="469900"/>
          </a:xfrm>
          <a:custGeom>
            <a:avLst/>
            <a:gdLst/>
            <a:ahLst/>
            <a:cxnLst/>
            <a:rect l="0" t="0" r="r" b="b"/>
            <a:pathLst>
              <a:path w="2222500" h="469900">
                <a:moveTo>
                  <a:pt x="88900" y="0"/>
                </a:moveTo>
                <a:lnTo>
                  <a:pt x="2133600" y="0"/>
                </a:lnTo>
                <a:cubicBezTo>
                  <a:pt x="2182686" y="0"/>
                  <a:pt x="2222500" y="39814"/>
                  <a:pt x="2222500" y="88900"/>
                </a:cubicBezTo>
                <a:lnTo>
                  <a:pt x="2222500" y="381000"/>
                </a:lnTo>
                <a:cubicBezTo>
                  <a:pt x="2222500" y="430086"/>
                  <a:pt x="2182686" y="469900"/>
                  <a:pt x="2133600" y="469900"/>
                </a:cubicBezTo>
                <a:lnTo>
                  <a:pt x="88900" y="469900"/>
                </a:lnTo>
                <a:cubicBezTo>
                  <a:pt x="39815" y="469900"/>
                  <a:pt x="0" y="430086"/>
                  <a:pt x="0" y="3810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modb-1-2"/>
          <p:cNvSpPr/>
          <p:nvPr/>
        </p:nvSpPr>
        <p:spPr>
          <a:xfrm>
            <a:off x="1079500" y="2984500"/>
            <a:ext cx="31750" cy="469900"/>
          </a:xfrm>
          <a:custGeom>
            <a:avLst/>
            <a:gdLst/>
            <a:ahLst/>
            <a:cxnLst/>
            <a:rect l="0" t="0" r="r" b="b"/>
            <a:pathLst>
              <a:path w="31750" h="469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54025"/>
                </a:lnTo>
                <a:cubicBezTo>
                  <a:pt x="31750" y="462788"/>
                  <a:pt x="24638" y="469900"/>
                  <a:pt x="15875" y="469900"/>
                </a:cubicBezTo>
                <a:lnTo>
                  <a:pt x="15875" y="469900"/>
                </a:lnTo>
                <a:cubicBezTo>
                  <a:pt x="7112" y="469900"/>
                  <a:pt x="0" y="462788"/>
                  <a:pt x="0" y="454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modc-1-2"/>
          <p:cNvSpPr/>
          <p:nvPr/>
        </p:nvSpPr>
        <p:spPr>
          <a:xfrm>
            <a:off x="1250950" y="3136900"/>
            <a:ext cx="165100" cy="165100"/>
          </a:xfrm>
          <a:prstGeom prst="ellipse">
            <a:avLst/>
          </a:prstGeom>
          <a:solidFill>
            <a:srgbClr val="0B3E8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icon-check"/>
          <p:cNvSpPr/>
          <p:nvPr/>
        </p:nvSpPr>
        <p:spPr>
          <a:xfrm>
            <a:off x="1306386" y="3200844"/>
            <a:ext cx="54229" cy="38100"/>
          </a:xfrm>
          <a:custGeom>
            <a:avLst/>
            <a:gdLst/>
            <a:ahLst/>
            <a:cxnLst/>
            <a:rect l="0" t="0" r="r" b="b"/>
            <a:pathLst>
              <a:path w="54229" h="38100">
                <a:moveTo>
                  <a:pt x="0" y="20320"/>
                </a:moveTo>
                <a:lnTo>
                  <a:pt x="17780" y="38100"/>
                </a:lnTo>
                <a:lnTo>
                  <a:pt x="54229" y="0"/>
                </a:lnTo>
              </a:path>
            </a:pathLst>
          </a:custGeom>
          <a:noFill/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modn-1-2"/>
          <p:cNvSpPr txBox="1"/>
          <p:nvPr/>
        </p:nvSpPr>
        <p:spPr>
          <a:xfrm>
            <a:off x="1496060" y="311340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合同管理</a:t>
            </a:r>
          </a:p>
        </p:txBody>
      </p:sp>
      <p:sp>
        <p:nvSpPr>
          <p:cNvPr id="27" name="mods-1-2"/>
          <p:cNvSpPr txBox="1"/>
          <p:nvPr/>
        </p:nvSpPr>
        <p:spPr>
          <a:xfrm>
            <a:off x="2827528" y="3147758"/>
            <a:ext cx="3581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已上线</a:t>
            </a:r>
          </a:p>
        </p:txBody>
      </p:sp>
      <p:sp>
        <p:nvSpPr>
          <p:cNvPr id="28" name="mod-1-3"/>
          <p:cNvSpPr/>
          <p:nvPr/>
        </p:nvSpPr>
        <p:spPr>
          <a:xfrm>
            <a:off x="1079500" y="3543300"/>
            <a:ext cx="2222500" cy="469900"/>
          </a:xfrm>
          <a:custGeom>
            <a:avLst/>
            <a:gdLst/>
            <a:ahLst/>
            <a:cxnLst/>
            <a:rect l="0" t="0" r="r" b="b"/>
            <a:pathLst>
              <a:path w="2222500" h="469900">
                <a:moveTo>
                  <a:pt x="88900" y="0"/>
                </a:moveTo>
                <a:lnTo>
                  <a:pt x="2133600" y="0"/>
                </a:lnTo>
                <a:cubicBezTo>
                  <a:pt x="2182686" y="0"/>
                  <a:pt x="2222500" y="39814"/>
                  <a:pt x="2222500" y="88900"/>
                </a:cubicBezTo>
                <a:lnTo>
                  <a:pt x="2222500" y="381000"/>
                </a:lnTo>
                <a:cubicBezTo>
                  <a:pt x="2222500" y="430086"/>
                  <a:pt x="2182686" y="469900"/>
                  <a:pt x="2133600" y="469900"/>
                </a:cubicBezTo>
                <a:lnTo>
                  <a:pt x="88900" y="469900"/>
                </a:lnTo>
                <a:cubicBezTo>
                  <a:pt x="39815" y="469900"/>
                  <a:pt x="0" y="430086"/>
                  <a:pt x="0" y="3810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modb-1-3"/>
          <p:cNvSpPr/>
          <p:nvPr/>
        </p:nvSpPr>
        <p:spPr>
          <a:xfrm>
            <a:off x="1079500" y="3543300"/>
            <a:ext cx="31750" cy="469900"/>
          </a:xfrm>
          <a:custGeom>
            <a:avLst/>
            <a:gdLst/>
            <a:ahLst/>
            <a:cxnLst/>
            <a:rect l="0" t="0" r="r" b="b"/>
            <a:pathLst>
              <a:path w="31750" h="469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54025"/>
                </a:lnTo>
                <a:cubicBezTo>
                  <a:pt x="31750" y="462788"/>
                  <a:pt x="24638" y="469900"/>
                  <a:pt x="15875" y="469900"/>
                </a:cubicBezTo>
                <a:lnTo>
                  <a:pt x="15875" y="469900"/>
                </a:lnTo>
                <a:cubicBezTo>
                  <a:pt x="7112" y="469900"/>
                  <a:pt x="0" y="462788"/>
                  <a:pt x="0" y="454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modc-1-3"/>
          <p:cNvSpPr/>
          <p:nvPr/>
        </p:nvSpPr>
        <p:spPr>
          <a:xfrm>
            <a:off x="1250950" y="3695700"/>
            <a:ext cx="165100" cy="165100"/>
          </a:xfrm>
          <a:prstGeom prst="ellipse">
            <a:avLst/>
          </a:prstGeom>
          <a:solidFill>
            <a:srgbClr val="0B3E8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icon-check"/>
          <p:cNvSpPr/>
          <p:nvPr/>
        </p:nvSpPr>
        <p:spPr>
          <a:xfrm>
            <a:off x="1306386" y="3759645"/>
            <a:ext cx="54229" cy="38100"/>
          </a:xfrm>
          <a:custGeom>
            <a:avLst/>
            <a:gdLst/>
            <a:ahLst/>
            <a:cxnLst/>
            <a:rect l="0" t="0" r="r" b="b"/>
            <a:pathLst>
              <a:path w="54229" h="38100">
                <a:moveTo>
                  <a:pt x="0" y="20320"/>
                </a:moveTo>
                <a:lnTo>
                  <a:pt x="17780" y="38100"/>
                </a:lnTo>
                <a:lnTo>
                  <a:pt x="54229" y="0"/>
                </a:lnTo>
              </a:path>
            </a:pathLst>
          </a:custGeom>
          <a:noFill/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modn-1-3"/>
          <p:cNvSpPr txBox="1"/>
          <p:nvPr/>
        </p:nvSpPr>
        <p:spPr>
          <a:xfrm>
            <a:off x="1496060" y="3672205"/>
            <a:ext cx="7874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客户主数据</a:t>
            </a:r>
          </a:p>
        </p:txBody>
      </p:sp>
      <p:sp>
        <p:nvSpPr>
          <p:cNvPr id="33" name="mods-1-3"/>
          <p:cNvSpPr txBox="1"/>
          <p:nvPr/>
        </p:nvSpPr>
        <p:spPr>
          <a:xfrm>
            <a:off x="2827528" y="3706558"/>
            <a:ext cx="3581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已上线</a:t>
            </a:r>
          </a:p>
        </p:txBody>
      </p:sp>
      <p:sp>
        <p:nvSpPr>
          <p:cNvPr id="34" name="mod-1-4"/>
          <p:cNvSpPr/>
          <p:nvPr/>
        </p:nvSpPr>
        <p:spPr>
          <a:xfrm>
            <a:off x="1079500" y="4102100"/>
            <a:ext cx="2222500" cy="469900"/>
          </a:xfrm>
          <a:custGeom>
            <a:avLst/>
            <a:gdLst/>
            <a:ahLst/>
            <a:cxnLst/>
            <a:rect l="0" t="0" r="r" b="b"/>
            <a:pathLst>
              <a:path w="2222500" h="469900">
                <a:moveTo>
                  <a:pt x="88900" y="0"/>
                </a:moveTo>
                <a:lnTo>
                  <a:pt x="2133600" y="0"/>
                </a:lnTo>
                <a:cubicBezTo>
                  <a:pt x="2182686" y="0"/>
                  <a:pt x="2222500" y="39814"/>
                  <a:pt x="2222500" y="88900"/>
                </a:cubicBezTo>
                <a:lnTo>
                  <a:pt x="2222500" y="381000"/>
                </a:lnTo>
                <a:cubicBezTo>
                  <a:pt x="2222500" y="430086"/>
                  <a:pt x="2182686" y="469900"/>
                  <a:pt x="2133600" y="469900"/>
                </a:cubicBezTo>
                <a:lnTo>
                  <a:pt x="88900" y="469900"/>
                </a:lnTo>
                <a:cubicBezTo>
                  <a:pt x="39815" y="469900"/>
                  <a:pt x="0" y="430086"/>
                  <a:pt x="0" y="3810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modb-1-4"/>
          <p:cNvSpPr/>
          <p:nvPr/>
        </p:nvSpPr>
        <p:spPr>
          <a:xfrm>
            <a:off x="1079500" y="4102100"/>
            <a:ext cx="31750" cy="469900"/>
          </a:xfrm>
          <a:custGeom>
            <a:avLst/>
            <a:gdLst/>
            <a:ahLst/>
            <a:cxnLst/>
            <a:rect l="0" t="0" r="r" b="b"/>
            <a:pathLst>
              <a:path w="31750" h="469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54025"/>
                </a:lnTo>
                <a:cubicBezTo>
                  <a:pt x="31750" y="462788"/>
                  <a:pt x="24638" y="469900"/>
                  <a:pt x="15875" y="469900"/>
                </a:cubicBezTo>
                <a:lnTo>
                  <a:pt x="15875" y="469900"/>
                </a:lnTo>
                <a:cubicBezTo>
                  <a:pt x="7112" y="469900"/>
                  <a:pt x="0" y="462788"/>
                  <a:pt x="0" y="454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modc-1-4"/>
          <p:cNvSpPr/>
          <p:nvPr/>
        </p:nvSpPr>
        <p:spPr>
          <a:xfrm>
            <a:off x="1250950" y="4254500"/>
            <a:ext cx="165100" cy="165100"/>
          </a:xfrm>
          <a:prstGeom prst="ellipse">
            <a:avLst/>
          </a:prstGeom>
          <a:solidFill>
            <a:srgbClr val="0B3E8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icon-check"/>
          <p:cNvSpPr/>
          <p:nvPr/>
        </p:nvSpPr>
        <p:spPr>
          <a:xfrm>
            <a:off x="1306386" y="4318444"/>
            <a:ext cx="54229" cy="38100"/>
          </a:xfrm>
          <a:custGeom>
            <a:avLst/>
            <a:gdLst/>
            <a:ahLst/>
            <a:cxnLst/>
            <a:rect l="0" t="0" r="r" b="b"/>
            <a:pathLst>
              <a:path w="54229" h="38100">
                <a:moveTo>
                  <a:pt x="0" y="20320"/>
                </a:moveTo>
                <a:lnTo>
                  <a:pt x="17780" y="38100"/>
                </a:lnTo>
                <a:lnTo>
                  <a:pt x="54229" y="0"/>
                </a:lnTo>
              </a:path>
            </a:pathLst>
          </a:custGeom>
          <a:noFill/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modn-1-4"/>
          <p:cNvSpPr txBox="1"/>
          <p:nvPr/>
        </p:nvSpPr>
        <p:spPr>
          <a:xfrm>
            <a:off x="1496060" y="423100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计价引擎</a:t>
            </a:r>
          </a:p>
        </p:txBody>
      </p:sp>
      <p:sp>
        <p:nvSpPr>
          <p:cNvPr id="39" name="mods-1-4"/>
          <p:cNvSpPr txBox="1"/>
          <p:nvPr/>
        </p:nvSpPr>
        <p:spPr>
          <a:xfrm>
            <a:off x="2827528" y="4265358"/>
            <a:ext cx="3581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已上线</a:t>
            </a:r>
          </a:p>
        </p:txBody>
      </p:sp>
      <p:sp>
        <p:nvSpPr>
          <p:cNvPr id="40" name="mod-1-5"/>
          <p:cNvSpPr/>
          <p:nvPr/>
        </p:nvSpPr>
        <p:spPr>
          <a:xfrm>
            <a:off x="1079500" y="4660900"/>
            <a:ext cx="2222500" cy="469900"/>
          </a:xfrm>
          <a:custGeom>
            <a:avLst/>
            <a:gdLst/>
            <a:ahLst/>
            <a:cxnLst/>
            <a:rect l="0" t="0" r="r" b="b"/>
            <a:pathLst>
              <a:path w="2222500" h="469900">
                <a:moveTo>
                  <a:pt x="88900" y="0"/>
                </a:moveTo>
                <a:lnTo>
                  <a:pt x="2133600" y="0"/>
                </a:lnTo>
                <a:cubicBezTo>
                  <a:pt x="2182686" y="0"/>
                  <a:pt x="2222500" y="39814"/>
                  <a:pt x="2222500" y="88900"/>
                </a:cubicBezTo>
                <a:lnTo>
                  <a:pt x="2222500" y="381000"/>
                </a:lnTo>
                <a:cubicBezTo>
                  <a:pt x="2222500" y="430086"/>
                  <a:pt x="2182686" y="469900"/>
                  <a:pt x="2133600" y="469900"/>
                </a:cubicBezTo>
                <a:lnTo>
                  <a:pt x="88900" y="469900"/>
                </a:lnTo>
                <a:cubicBezTo>
                  <a:pt x="39815" y="469900"/>
                  <a:pt x="0" y="430086"/>
                  <a:pt x="0" y="3810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DF2F9"/>
          </a:solidFill>
          <a:ln w="7620" cap="rnd">
            <a:solidFill>
              <a:srgbClr val="1B5AA8">
                <a:alpha val="22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modc-1-5"/>
          <p:cNvSpPr/>
          <p:nvPr/>
        </p:nvSpPr>
        <p:spPr>
          <a:xfrm>
            <a:off x="1250950" y="4813300"/>
            <a:ext cx="165100" cy="165100"/>
          </a:xfrm>
          <a:prstGeom prst="ellipse">
            <a:avLst/>
          </a:pr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modd-1-5"/>
          <p:cNvSpPr txBox="1"/>
          <p:nvPr/>
        </p:nvSpPr>
        <p:spPr>
          <a:xfrm>
            <a:off x="1250061" y="479279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…</a:t>
            </a:r>
          </a:p>
        </p:txBody>
      </p:sp>
      <p:sp>
        <p:nvSpPr>
          <p:cNvPr id="43" name="modn-1-5"/>
          <p:cNvSpPr txBox="1"/>
          <p:nvPr/>
        </p:nvSpPr>
        <p:spPr>
          <a:xfrm>
            <a:off x="1496060" y="478980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0" spc="6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履约跟踪</a:t>
            </a:r>
          </a:p>
        </p:txBody>
      </p:sp>
      <p:sp>
        <p:nvSpPr>
          <p:cNvPr id="44" name="mods-1-5"/>
          <p:cNvSpPr txBox="1"/>
          <p:nvPr/>
        </p:nvSpPr>
        <p:spPr>
          <a:xfrm>
            <a:off x="2827528" y="4824158"/>
            <a:ext cx="3581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规划中</a:t>
            </a:r>
          </a:p>
        </p:txBody>
      </p:sp>
      <p:sp>
        <p:nvSpPr>
          <p:cNvPr id="45" name="dom-2"/>
          <p:cNvSpPr/>
          <p:nvPr/>
        </p:nvSpPr>
        <p:spPr>
          <a:xfrm>
            <a:off x="3556000" y="1587500"/>
            <a:ext cx="2476500" cy="3289300"/>
          </a:xfrm>
          <a:custGeom>
            <a:avLst/>
            <a:gdLst/>
            <a:ahLst/>
            <a:cxnLst/>
            <a:rect l="0" t="0" r="r" b="b"/>
            <a:pathLst>
              <a:path w="2476500" h="3289300">
                <a:moveTo>
                  <a:pt x="127000" y="0"/>
                </a:moveTo>
                <a:lnTo>
                  <a:pt x="2349500" y="0"/>
                </a:lnTo>
                <a:cubicBezTo>
                  <a:pt x="2419667" y="0"/>
                  <a:pt x="2476500" y="56832"/>
                  <a:pt x="2476500" y="127000"/>
                </a:cubicBezTo>
                <a:lnTo>
                  <a:pt x="2476500" y="3162300"/>
                </a:lnTo>
                <a:cubicBezTo>
                  <a:pt x="2476500" y="3232467"/>
                  <a:pt x="2419667" y="3289300"/>
                  <a:pt x="2349500" y="3289300"/>
                </a:cubicBezTo>
                <a:lnTo>
                  <a:pt x="127000" y="3289300"/>
                </a:lnTo>
                <a:cubicBezTo>
                  <a:pt x="56833" y="3289300"/>
                  <a:pt x="0" y="3232467"/>
                  <a:pt x="0" y="31623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>
              <a:alpha val="8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domhd-2"/>
          <p:cNvSpPr/>
          <p:nvPr/>
        </p:nvSpPr>
        <p:spPr>
          <a:xfrm>
            <a:off x="3556000" y="1587500"/>
            <a:ext cx="2476500" cy="685800"/>
          </a:xfrm>
          <a:custGeom>
            <a:avLst/>
            <a:gdLst/>
            <a:ahLst/>
            <a:cxnLst/>
            <a:rect l="0" t="0" r="r" b="b"/>
            <a:pathLst>
              <a:path w="2476500" h="685800">
                <a:moveTo>
                  <a:pt x="127000" y="0"/>
                </a:moveTo>
                <a:lnTo>
                  <a:pt x="2349500" y="0"/>
                </a:lnTo>
                <a:cubicBezTo>
                  <a:pt x="2419667" y="0"/>
                  <a:pt x="2476500" y="56832"/>
                  <a:pt x="2476500" y="127000"/>
                </a:cubicBezTo>
                <a:lnTo>
                  <a:pt x="2476500" y="558800"/>
                </a:lnTo>
                <a:cubicBezTo>
                  <a:pt x="2476500" y="628968"/>
                  <a:pt x="2419667" y="685800"/>
                  <a:pt x="2349500" y="685800"/>
                </a:cubicBezTo>
                <a:lnTo>
                  <a:pt x="127000" y="685800"/>
                </a:lnTo>
                <a:cubicBezTo>
                  <a:pt x="56833" y="685800"/>
                  <a:pt x="0" y="628968"/>
                  <a:pt x="0" y="5588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3B71B4"/>
              </a:gs>
              <a:gs pos="100000">
                <a:srgbClr val="1B5AA8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icon-factory"/>
          <p:cNvSpPr/>
          <p:nvPr/>
        </p:nvSpPr>
        <p:spPr>
          <a:xfrm>
            <a:off x="3813366" y="1898206"/>
            <a:ext cx="145669" cy="98234"/>
          </a:xfrm>
          <a:custGeom>
            <a:avLst/>
            <a:gdLst/>
            <a:ahLst/>
            <a:cxnLst/>
            <a:rect l="0" t="0" r="r" b="b"/>
            <a:pathLst>
              <a:path w="145669" h="98234">
                <a:moveTo>
                  <a:pt x="0" y="98234"/>
                </a:moveTo>
                <a:lnTo>
                  <a:pt x="0" y="23749"/>
                </a:lnTo>
                <a:lnTo>
                  <a:pt x="42355" y="49149"/>
                </a:lnTo>
                <a:lnTo>
                  <a:pt x="42355" y="23749"/>
                </a:lnTo>
                <a:lnTo>
                  <a:pt x="84709" y="49149"/>
                </a:lnTo>
                <a:lnTo>
                  <a:pt x="84709" y="0"/>
                </a:lnTo>
                <a:lnTo>
                  <a:pt x="127000" y="25400"/>
                </a:lnTo>
                <a:lnTo>
                  <a:pt x="127000" y="89789"/>
                </a:lnTo>
                <a:close/>
                <a:moveTo>
                  <a:pt x="0" y="98234"/>
                </a:moveTo>
                <a:lnTo>
                  <a:pt x="145669" y="98234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domn-2"/>
          <p:cNvSpPr txBox="1"/>
          <p:nvPr/>
        </p:nvSpPr>
        <p:spPr>
          <a:xfrm>
            <a:off x="4108450" y="1708944"/>
            <a:ext cx="8413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生产制造</a:t>
            </a:r>
          </a:p>
        </p:txBody>
      </p:sp>
      <p:sp>
        <p:nvSpPr>
          <p:cNvPr id="49" name="domen-2"/>
          <p:cNvSpPr txBox="1"/>
          <p:nvPr/>
        </p:nvSpPr>
        <p:spPr>
          <a:xfrm>
            <a:off x="4129532" y="1973008"/>
            <a:ext cx="94183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30">
                <a:solidFill>
                  <a:srgbClr val="CFE0F4"/>
                </a:solidFill>
                <a:latin typeface="Arial"/>
                <a:ea typeface="Arial"/>
                <a:cs typeface="Arial"/>
              </a:rPr>
              <a:t>MANUFACTURING</a:t>
            </a:r>
          </a:p>
        </p:txBody>
      </p:sp>
      <p:sp>
        <p:nvSpPr>
          <p:cNvPr id="50" name="domc-2"/>
          <p:cNvSpPr txBox="1"/>
          <p:nvPr/>
        </p:nvSpPr>
        <p:spPr>
          <a:xfrm>
            <a:off x="5531739" y="1816513"/>
            <a:ext cx="351663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20">
                <a:solidFill>
                  <a:srgbClr val="FFFFFF">
                    <a:alpha val="80000"/>
                  </a:srgbClr>
                </a:solidFill>
                <a:latin typeface="Arial"/>
                <a:ea typeface="Arial"/>
                <a:cs typeface="Arial"/>
              </a:rPr>
              <a:t>3/4</a:t>
            </a:r>
          </a:p>
        </p:txBody>
      </p:sp>
      <p:sp>
        <p:nvSpPr>
          <p:cNvPr id="51" name="mod-2-1"/>
          <p:cNvSpPr/>
          <p:nvPr/>
        </p:nvSpPr>
        <p:spPr>
          <a:xfrm>
            <a:off x="3683000" y="2425700"/>
            <a:ext cx="2222500" cy="469900"/>
          </a:xfrm>
          <a:custGeom>
            <a:avLst/>
            <a:gdLst/>
            <a:ahLst/>
            <a:cxnLst/>
            <a:rect l="0" t="0" r="r" b="b"/>
            <a:pathLst>
              <a:path w="2222500" h="469900">
                <a:moveTo>
                  <a:pt x="88900" y="0"/>
                </a:moveTo>
                <a:lnTo>
                  <a:pt x="2133600" y="0"/>
                </a:lnTo>
                <a:cubicBezTo>
                  <a:pt x="2182686" y="0"/>
                  <a:pt x="2222500" y="39814"/>
                  <a:pt x="2222500" y="88900"/>
                </a:cubicBezTo>
                <a:lnTo>
                  <a:pt x="2222500" y="381000"/>
                </a:lnTo>
                <a:cubicBezTo>
                  <a:pt x="2222500" y="430086"/>
                  <a:pt x="2182686" y="469900"/>
                  <a:pt x="2133600" y="469900"/>
                </a:cubicBezTo>
                <a:lnTo>
                  <a:pt x="88900" y="469900"/>
                </a:lnTo>
                <a:cubicBezTo>
                  <a:pt x="39814" y="469900"/>
                  <a:pt x="0" y="430086"/>
                  <a:pt x="0" y="3810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modb-2-1"/>
          <p:cNvSpPr/>
          <p:nvPr/>
        </p:nvSpPr>
        <p:spPr>
          <a:xfrm>
            <a:off x="3683000" y="2425700"/>
            <a:ext cx="31750" cy="469900"/>
          </a:xfrm>
          <a:custGeom>
            <a:avLst/>
            <a:gdLst/>
            <a:ahLst/>
            <a:cxnLst/>
            <a:rect l="0" t="0" r="r" b="b"/>
            <a:pathLst>
              <a:path w="31750" h="469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54025"/>
                </a:lnTo>
                <a:cubicBezTo>
                  <a:pt x="31750" y="462788"/>
                  <a:pt x="24638" y="469900"/>
                  <a:pt x="15875" y="469900"/>
                </a:cubicBezTo>
                <a:lnTo>
                  <a:pt x="15875" y="469900"/>
                </a:lnTo>
                <a:cubicBezTo>
                  <a:pt x="7112" y="469900"/>
                  <a:pt x="0" y="462788"/>
                  <a:pt x="0" y="454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modc-2-1"/>
          <p:cNvSpPr/>
          <p:nvPr/>
        </p:nvSpPr>
        <p:spPr>
          <a:xfrm>
            <a:off x="3854450" y="2578100"/>
            <a:ext cx="165100" cy="165100"/>
          </a:xfrm>
          <a:prstGeom prst="ellipse">
            <a:avLst/>
          </a:prstGeom>
          <a:solidFill>
            <a:srgbClr val="1B5AA8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icon-check"/>
          <p:cNvSpPr/>
          <p:nvPr/>
        </p:nvSpPr>
        <p:spPr>
          <a:xfrm>
            <a:off x="3909886" y="2642044"/>
            <a:ext cx="54229" cy="38100"/>
          </a:xfrm>
          <a:custGeom>
            <a:avLst/>
            <a:gdLst/>
            <a:ahLst/>
            <a:cxnLst/>
            <a:rect l="0" t="0" r="r" b="b"/>
            <a:pathLst>
              <a:path w="54229" h="38100">
                <a:moveTo>
                  <a:pt x="0" y="20320"/>
                </a:moveTo>
                <a:lnTo>
                  <a:pt x="17780" y="38100"/>
                </a:lnTo>
                <a:lnTo>
                  <a:pt x="54229" y="0"/>
                </a:lnTo>
              </a:path>
            </a:pathLst>
          </a:custGeom>
          <a:noFill/>
          <a:ln w="1651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modn-2-1"/>
          <p:cNvSpPr txBox="1"/>
          <p:nvPr/>
        </p:nvSpPr>
        <p:spPr>
          <a:xfrm>
            <a:off x="4099560" y="255460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排产调度</a:t>
            </a:r>
          </a:p>
        </p:txBody>
      </p:sp>
      <p:sp>
        <p:nvSpPr>
          <p:cNvPr id="56" name="mods-2-1"/>
          <p:cNvSpPr txBox="1"/>
          <p:nvPr/>
        </p:nvSpPr>
        <p:spPr>
          <a:xfrm>
            <a:off x="5431028" y="2588958"/>
            <a:ext cx="3581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已上线</a:t>
            </a:r>
          </a:p>
        </p:txBody>
      </p:sp>
      <p:sp>
        <p:nvSpPr>
          <p:cNvPr id="57" name="mod-2-2"/>
          <p:cNvSpPr/>
          <p:nvPr/>
        </p:nvSpPr>
        <p:spPr>
          <a:xfrm>
            <a:off x="3683000" y="2984500"/>
            <a:ext cx="2222500" cy="469900"/>
          </a:xfrm>
          <a:custGeom>
            <a:avLst/>
            <a:gdLst/>
            <a:ahLst/>
            <a:cxnLst/>
            <a:rect l="0" t="0" r="r" b="b"/>
            <a:pathLst>
              <a:path w="2222500" h="469900">
                <a:moveTo>
                  <a:pt x="88900" y="0"/>
                </a:moveTo>
                <a:lnTo>
                  <a:pt x="2133600" y="0"/>
                </a:lnTo>
                <a:cubicBezTo>
                  <a:pt x="2182686" y="0"/>
                  <a:pt x="2222500" y="39814"/>
                  <a:pt x="2222500" y="88900"/>
                </a:cubicBezTo>
                <a:lnTo>
                  <a:pt x="2222500" y="381000"/>
                </a:lnTo>
                <a:cubicBezTo>
                  <a:pt x="2222500" y="430086"/>
                  <a:pt x="2182686" y="469900"/>
                  <a:pt x="2133600" y="469900"/>
                </a:cubicBezTo>
                <a:lnTo>
                  <a:pt x="88900" y="469900"/>
                </a:lnTo>
                <a:cubicBezTo>
                  <a:pt x="39814" y="469900"/>
                  <a:pt x="0" y="430086"/>
                  <a:pt x="0" y="3810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modb-2-2"/>
          <p:cNvSpPr/>
          <p:nvPr/>
        </p:nvSpPr>
        <p:spPr>
          <a:xfrm>
            <a:off x="3683000" y="2984500"/>
            <a:ext cx="31750" cy="469900"/>
          </a:xfrm>
          <a:custGeom>
            <a:avLst/>
            <a:gdLst/>
            <a:ahLst/>
            <a:cxnLst/>
            <a:rect l="0" t="0" r="r" b="b"/>
            <a:pathLst>
              <a:path w="31750" h="469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54025"/>
                </a:lnTo>
                <a:cubicBezTo>
                  <a:pt x="31750" y="462788"/>
                  <a:pt x="24638" y="469900"/>
                  <a:pt x="15875" y="469900"/>
                </a:cubicBezTo>
                <a:lnTo>
                  <a:pt x="15875" y="469900"/>
                </a:lnTo>
                <a:cubicBezTo>
                  <a:pt x="7112" y="469900"/>
                  <a:pt x="0" y="462788"/>
                  <a:pt x="0" y="454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modc-2-2"/>
          <p:cNvSpPr/>
          <p:nvPr/>
        </p:nvSpPr>
        <p:spPr>
          <a:xfrm>
            <a:off x="3854450" y="3136900"/>
            <a:ext cx="165100" cy="165100"/>
          </a:xfrm>
          <a:prstGeom prst="ellipse">
            <a:avLst/>
          </a:prstGeom>
          <a:solidFill>
            <a:srgbClr val="1B5AA8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icon-check"/>
          <p:cNvSpPr/>
          <p:nvPr/>
        </p:nvSpPr>
        <p:spPr>
          <a:xfrm>
            <a:off x="3909886" y="3200844"/>
            <a:ext cx="54229" cy="38100"/>
          </a:xfrm>
          <a:custGeom>
            <a:avLst/>
            <a:gdLst/>
            <a:ahLst/>
            <a:cxnLst/>
            <a:rect l="0" t="0" r="r" b="b"/>
            <a:pathLst>
              <a:path w="54229" h="38100">
                <a:moveTo>
                  <a:pt x="0" y="20320"/>
                </a:moveTo>
                <a:lnTo>
                  <a:pt x="17780" y="38100"/>
                </a:lnTo>
                <a:lnTo>
                  <a:pt x="54229" y="0"/>
                </a:lnTo>
              </a:path>
            </a:pathLst>
          </a:custGeom>
          <a:noFill/>
          <a:ln w="1651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modn-2-2"/>
          <p:cNvSpPr txBox="1"/>
          <p:nvPr/>
        </p:nvSpPr>
        <p:spPr>
          <a:xfrm>
            <a:off x="4099560" y="311340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工艺管理</a:t>
            </a:r>
          </a:p>
        </p:txBody>
      </p:sp>
      <p:sp>
        <p:nvSpPr>
          <p:cNvPr id="62" name="mods-2-2"/>
          <p:cNvSpPr txBox="1"/>
          <p:nvPr/>
        </p:nvSpPr>
        <p:spPr>
          <a:xfrm>
            <a:off x="5431028" y="3147758"/>
            <a:ext cx="3581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已上线</a:t>
            </a:r>
          </a:p>
        </p:txBody>
      </p:sp>
      <p:sp>
        <p:nvSpPr>
          <p:cNvPr id="63" name="mod-2-3"/>
          <p:cNvSpPr/>
          <p:nvPr/>
        </p:nvSpPr>
        <p:spPr>
          <a:xfrm>
            <a:off x="3683000" y="3543300"/>
            <a:ext cx="2222500" cy="469900"/>
          </a:xfrm>
          <a:custGeom>
            <a:avLst/>
            <a:gdLst/>
            <a:ahLst/>
            <a:cxnLst/>
            <a:rect l="0" t="0" r="r" b="b"/>
            <a:pathLst>
              <a:path w="2222500" h="469900">
                <a:moveTo>
                  <a:pt x="88900" y="0"/>
                </a:moveTo>
                <a:lnTo>
                  <a:pt x="2133600" y="0"/>
                </a:lnTo>
                <a:cubicBezTo>
                  <a:pt x="2182686" y="0"/>
                  <a:pt x="2222500" y="39814"/>
                  <a:pt x="2222500" y="88900"/>
                </a:cubicBezTo>
                <a:lnTo>
                  <a:pt x="2222500" y="381000"/>
                </a:lnTo>
                <a:cubicBezTo>
                  <a:pt x="2222500" y="430086"/>
                  <a:pt x="2182686" y="469900"/>
                  <a:pt x="2133600" y="469900"/>
                </a:cubicBezTo>
                <a:lnTo>
                  <a:pt x="88900" y="469900"/>
                </a:lnTo>
                <a:cubicBezTo>
                  <a:pt x="39814" y="469900"/>
                  <a:pt x="0" y="430086"/>
                  <a:pt x="0" y="3810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modb-2-3"/>
          <p:cNvSpPr/>
          <p:nvPr/>
        </p:nvSpPr>
        <p:spPr>
          <a:xfrm>
            <a:off x="3683000" y="3543300"/>
            <a:ext cx="31750" cy="469900"/>
          </a:xfrm>
          <a:custGeom>
            <a:avLst/>
            <a:gdLst/>
            <a:ahLst/>
            <a:cxnLst/>
            <a:rect l="0" t="0" r="r" b="b"/>
            <a:pathLst>
              <a:path w="31750" h="469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54025"/>
                </a:lnTo>
                <a:cubicBezTo>
                  <a:pt x="31750" y="462788"/>
                  <a:pt x="24638" y="469900"/>
                  <a:pt x="15875" y="469900"/>
                </a:cubicBezTo>
                <a:lnTo>
                  <a:pt x="15875" y="469900"/>
                </a:lnTo>
                <a:cubicBezTo>
                  <a:pt x="7112" y="469900"/>
                  <a:pt x="0" y="462788"/>
                  <a:pt x="0" y="454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modc-2-3"/>
          <p:cNvSpPr/>
          <p:nvPr/>
        </p:nvSpPr>
        <p:spPr>
          <a:xfrm>
            <a:off x="3854450" y="3695700"/>
            <a:ext cx="165100" cy="165100"/>
          </a:xfrm>
          <a:prstGeom prst="ellipse">
            <a:avLst/>
          </a:prstGeom>
          <a:solidFill>
            <a:srgbClr val="1B5AA8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icon-check"/>
          <p:cNvSpPr/>
          <p:nvPr/>
        </p:nvSpPr>
        <p:spPr>
          <a:xfrm>
            <a:off x="3909886" y="3759645"/>
            <a:ext cx="54229" cy="38100"/>
          </a:xfrm>
          <a:custGeom>
            <a:avLst/>
            <a:gdLst/>
            <a:ahLst/>
            <a:cxnLst/>
            <a:rect l="0" t="0" r="r" b="b"/>
            <a:pathLst>
              <a:path w="54229" h="38100">
                <a:moveTo>
                  <a:pt x="0" y="20320"/>
                </a:moveTo>
                <a:lnTo>
                  <a:pt x="17780" y="38100"/>
                </a:lnTo>
                <a:lnTo>
                  <a:pt x="54229" y="0"/>
                </a:lnTo>
              </a:path>
            </a:pathLst>
          </a:custGeom>
          <a:noFill/>
          <a:ln w="1651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modn-2-3"/>
          <p:cNvSpPr txBox="1"/>
          <p:nvPr/>
        </p:nvSpPr>
        <p:spPr>
          <a:xfrm>
            <a:off x="4099560" y="367220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质量追溯</a:t>
            </a:r>
          </a:p>
        </p:txBody>
      </p:sp>
      <p:sp>
        <p:nvSpPr>
          <p:cNvPr id="68" name="mods-2-3"/>
          <p:cNvSpPr txBox="1"/>
          <p:nvPr/>
        </p:nvSpPr>
        <p:spPr>
          <a:xfrm>
            <a:off x="5431028" y="3706558"/>
            <a:ext cx="3581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已上线</a:t>
            </a:r>
          </a:p>
        </p:txBody>
      </p:sp>
      <p:sp>
        <p:nvSpPr>
          <p:cNvPr id="69" name="mod-2-4"/>
          <p:cNvSpPr/>
          <p:nvPr/>
        </p:nvSpPr>
        <p:spPr>
          <a:xfrm>
            <a:off x="3683000" y="4102100"/>
            <a:ext cx="2222500" cy="469900"/>
          </a:xfrm>
          <a:custGeom>
            <a:avLst/>
            <a:gdLst/>
            <a:ahLst/>
            <a:cxnLst/>
            <a:rect l="0" t="0" r="r" b="b"/>
            <a:pathLst>
              <a:path w="2222500" h="469900">
                <a:moveTo>
                  <a:pt x="88900" y="0"/>
                </a:moveTo>
                <a:lnTo>
                  <a:pt x="2133600" y="0"/>
                </a:lnTo>
                <a:cubicBezTo>
                  <a:pt x="2182686" y="0"/>
                  <a:pt x="2222500" y="39814"/>
                  <a:pt x="2222500" y="88900"/>
                </a:cubicBezTo>
                <a:lnTo>
                  <a:pt x="2222500" y="381000"/>
                </a:lnTo>
                <a:cubicBezTo>
                  <a:pt x="2222500" y="430086"/>
                  <a:pt x="2182686" y="469900"/>
                  <a:pt x="2133600" y="469900"/>
                </a:cubicBezTo>
                <a:lnTo>
                  <a:pt x="88900" y="469900"/>
                </a:lnTo>
                <a:cubicBezTo>
                  <a:pt x="39814" y="469900"/>
                  <a:pt x="0" y="430086"/>
                  <a:pt x="0" y="3810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EDF2F9"/>
          </a:solidFill>
          <a:ln w="7620" cap="rnd">
            <a:solidFill>
              <a:srgbClr val="1B5AA8">
                <a:alpha val="22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modc-2-4"/>
          <p:cNvSpPr/>
          <p:nvPr/>
        </p:nvSpPr>
        <p:spPr>
          <a:xfrm>
            <a:off x="3854450" y="4254500"/>
            <a:ext cx="165100" cy="165100"/>
          </a:xfrm>
          <a:prstGeom prst="ellipse">
            <a:avLst/>
          </a:pr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modd-2-4"/>
          <p:cNvSpPr txBox="1"/>
          <p:nvPr/>
        </p:nvSpPr>
        <p:spPr>
          <a:xfrm>
            <a:off x="3853561" y="423399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…</a:t>
            </a:r>
          </a:p>
        </p:txBody>
      </p:sp>
      <p:sp>
        <p:nvSpPr>
          <p:cNvPr id="72" name="modn-2-4"/>
          <p:cNvSpPr txBox="1"/>
          <p:nvPr/>
        </p:nvSpPr>
        <p:spPr>
          <a:xfrm>
            <a:off x="4099560" y="423100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0" spc="6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设备物联</a:t>
            </a:r>
          </a:p>
        </p:txBody>
      </p:sp>
      <p:sp>
        <p:nvSpPr>
          <p:cNvPr id="73" name="mods-2-4"/>
          <p:cNvSpPr txBox="1"/>
          <p:nvPr/>
        </p:nvSpPr>
        <p:spPr>
          <a:xfrm>
            <a:off x="5431028" y="4265358"/>
            <a:ext cx="3581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规划中</a:t>
            </a:r>
          </a:p>
        </p:txBody>
      </p:sp>
      <p:sp>
        <p:nvSpPr>
          <p:cNvPr id="74" name="dom-3"/>
          <p:cNvSpPr/>
          <p:nvPr/>
        </p:nvSpPr>
        <p:spPr>
          <a:xfrm>
            <a:off x="6159500" y="1587500"/>
            <a:ext cx="2476500" cy="3289300"/>
          </a:xfrm>
          <a:custGeom>
            <a:avLst/>
            <a:gdLst/>
            <a:ahLst/>
            <a:cxnLst/>
            <a:rect l="0" t="0" r="r" b="b"/>
            <a:pathLst>
              <a:path w="2476500" h="3289300">
                <a:moveTo>
                  <a:pt x="127000" y="0"/>
                </a:moveTo>
                <a:lnTo>
                  <a:pt x="2349500" y="0"/>
                </a:lnTo>
                <a:cubicBezTo>
                  <a:pt x="2419667" y="0"/>
                  <a:pt x="2476500" y="56832"/>
                  <a:pt x="2476500" y="127000"/>
                </a:cubicBezTo>
                <a:lnTo>
                  <a:pt x="2476500" y="3162300"/>
                </a:lnTo>
                <a:cubicBezTo>
                  <a:pt x="2476500" y="3232467"/>
                  <a:pt x="2419667" y="3289300"/>
                  <a:pt x="2349500" y="3289300"/>
                </a:cubicBezTo>
                <a:lnTo>
                  <a:pt x="127000" y="3289300"/>
                </a:lnTo>
                <a:cubicBezTo>
                  <a:pt x="56833" y="3289300"/>
                  <a:pt x="0" y="3232467"/>
                  <a:pt x="0" y="31623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>
              <a:alpha val="8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domhd-3"/>
          <p:cNvSpPr/>
          <p:nvPr/>
        </p:nvSpPr>
        <p:spPr>
          <a:xfrm>
            <a:off x="6159500" y="1587500"/>
            <a:ext cx="2476500" cy="685800"/>
          </a:xfrm>
          <a:custGeom>
            <a:avLst/>
            <a:gdLst/>
            <a:ahLst/>
            <a:cxnLst/>
            <a:rect l="0" t="0" r="r" b="b"/>
            <a:pathLst>
              <a:path w="2476500" h="685800">
                <a:moveTo>
                  <a:pt x="127000" y="0"/>
                </a:moveTo>
                <a:lnTo>
                  <a:pt x="2349500" y="0"/>
                </a:lnTo>
                <a:cubicBezTo>
                  <a:pt x="2419667" y="0"/>
                  <a:pt x="2476500" y="56832"/>
                  <a:pt x="2476500" y="127000"/>
                </a:cubicBezTo>
                <a:lnTo>
                  <a:pt x="2476500" y="558800"/>
                </a:lnTo>
                <a:cubicBezTo>
                  <a:pt x="2476500" y="628968"/>
                  <a:pt x="2419667" y="685800"/>
                  <a:pt x="2349500" y="685800"/>
                </a:cubicBezTo>
                <a:lnTo>
                  <a:pt x="127000" y="685800"/>
                </a:lnTo>
                <a:cubicBezTo>
                  <a:pt x="56833" y="685800"/>
                  <a:pt x="0" y="628968"/>
                  <a:pt x="0" y="5588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4B8ACB"/>
              </a:gs>
              <a:gs pos="100000">
                <a:srgbClr val="2E77C2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icon-truck"/>
          <p:cNvSpPr/>
          <p:nvPr/>
        </p:nvSpPr>
        <p:spPr>
          <a:xfrm>
            <a:off x="6418580" y="1884680"/>
            <a:ext cx="133794" cy="82994"/>
          </a:xfrm>
          <a:custGeom>
            <a:avLst/>
            <a:gdLst/>
            <a:ahLst/>
            <a:cxnLst/>
            <a:rect l="0" t="0" r="r" b="b"/>
            <a:pathLst>
              <a:path w="133794" h="82994">
                <a:moveTo>
                  <a:pt x="0" y="0"/>
                </a:moveTo>
                <a:lnTo>
                  <a:pt x="81280" y="0"/>
                </a:lnTo>
                <a:lnTo>
                  <a:pt x="81280" y="82994"/>
                </a:lnTo>
                <a:lnTo>
                  <a:pt x="0" y="82994"/>
                </a:lnTo>
                <a:close/>
                <a:moveTo>
                  <a:pt x="81280" y="30480"/>
                </a:moveTo>
                <a:lnTo>
                  <a:pt x="110046" y="30480"/>
                </a:lnTo>
                <a:lnTo>
                  <a:pt x="133794" y="55880"/>
                </a:lnTo>
                <a:lnTo>
                  <a:pt x="133794" y="82994"/>
                </a:lnTo>
                <a:lnTo>
                  <a:pt x="81280" y="82994"/>
                </a:lnTo>
                <a:close/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domn-3"/>
          <p:cNvSpPr txBox="1"/>
          <p:nvPr/>
        </p:nvSpPr>
        <p:spPr>
          <a:xfrm>
            <a:off x="6711950" y="1708944"/>
            <a:ext cx="666750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供应链</a:t>
            </a:r>
          </a:p>
        </p:txBody>
      </p:sp>
      <p:sp>
        <p:nvSpPr>
          <p:cNvPr id="78" name="domen-3"/>
          <p:cNvSpPr txBox="1"/>
          <p:nvPr/>
        </p:nvSpPr>
        <p:spPr>
          <a:xfrm>
            <a:off x="6733032" y="1973008"/>
            <a:ext cx="87553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30">
                <a:solidFill>
                  <a:srgbClr val="CFE0F4"/>
                </a:solidFill>
                <a:latin typeface="Arial"/>
                <a:ea typeface="Arial"/>
                <a:cs typeface="Arial"/>
              </a:rPr>
              <a:t>SUPPLY CHAIN</a:t>
            </a:r>
          </a:p>
        </p:txBody>
      </p:sp>
      <p:sp>
        <p:nvSpPr>
          <p:cNvPr id="79" name="domc-3"/>
          <p:cNvSpPr txBox="1"/>
          <p:nvPr/>
        </p:nvSpPr>
        <p:spPr>
          <a:xfrm>
            <a:off x="8135239" y="1816513"/>
            <a:ext cx="351663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20">
                <a:solidFill>
                  <a:srgbClr val="FFFFFF">
                    <a:alpha val="80000"/>
                  </a:srgbClr>
                </a:solidFill>
                <a:latin typeface="Arial"/>
                <a:ea typeface="Arial"/>
                <a:cs typeface="Arial"/>
              </a:rPr>
              <a:t>3/4</a:t>
            </a:r>
          </a:p>
        </p:txBody>
      </p:sp>
      <p:sp>
        <p:nvSpPr>
          <p:cNvPr id="80" name="mod-3-1"/>
          <p:cNvSpPr/>
          <p:nvPr/>
        </p:nvSpPr>
        <p:spPr>
          <a:xfrm>
            <a:off x="6286500" y="2425700"/>
            <a:ext cx="2222500" cy="469900"/>
          </a:xfrm>
          <a:custGeom>
            <a:avLst/>
            <a:gdLst/>
            <a:ahLst/>
            <a:cxnLst/>
            <a:rect l="0" t="0" r="r" b="b"/>
            <a:pathLst>
              <a:path w="2222500" h="469900">
                <a:moveTo>
                  <a:pt x="88900" y="0"/>
                </a:moveTo>
                <a:lnTo>
                  <a:pt x="2133600" y="0"/>
                </a:lnTo>
                <a:cubicBezTo>
                  <a:pt x="2182686" y="0"/>
                  <a:pt x="2222500" y="39814"/>
                  <a:pt x="2222500" y="88900"/>
                </a:cubicBezTo>
                <a:lnTo>
                  <a:pt x="2222500" y="381000"/>
                </a:lnTo>
                <a:cubicBezTo>
                  <a:pt x="2222500" y="430086"/>
                  <a:pt x="2182686" y="469900"/>
                  <a:pt x="2133600" y="469900"/>
                </a:cubicBezTo>
                <a:lnTo>
                  <a:pt x="88900" y="469900"/>
                </a:lnTo>
                <a:cubicBezTo>
                  <a:pt x="39814" y="469900"/>
                  <a:pt x="0" y="430086"/>
                  <a:pt x="0" y="3810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modb-3-1"/>
          <p:cNvSpPr/>
          <p:nvPr/>
        </p:nvSpPr>
        <p:spPr>
          <a:xfrm>
            <a:off x="6286500" y="2425700"/>
            <a:ext cx="31750" cy="469900"/>
          </a:xfrm>
          <a:custGeom>
            <a:avLst/>
            <a:gdLst/>
            <a:ahLst/>
            <a:cxnLst/>
            <a:rect l="0" t="0" r="r" b="b"/>
            <a:pathLst>
              <a:path w="31750" h="469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54025"/>
                </a:lnTo>
                <a:cubicBezTo>
                  <a:pt x="31750" y="462788"/>
                  <a:pt x="24638" y="469900"/>
                  <a:pt x="15875" y="469900"/>
                </a:cubicBezTo>
                <a:lnTo>
                  <a:pt x="15875" y="469900"/>
                </a:lnTo>
                <a:cubicBezTo>
                  <a:pt x="7112" y="469900"/>
                  <a:pt x="0" y="462788"/>
                  <a:pt x="0" y="454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modc-3-1"/>
          <p:cNvSpPr/>
          <p:nvPr/>
        </p:nvSpPr>
        <p:spPr>
          <a:xfrm>
            <a:off x="6457950" y="2578100"/>
            <a:ext cx="165100" cy="165100"/>
          </a:xfrm>
          <a:prstGeom prst="ellipse">
            <a:avLst/>
          </a:prstGeom>
          <a:solidFill>
            <a:srgbClr val="2E77C2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icon-check"/>
          <p:cNvSpPr/>
          <p:nvPr/>
        </p:nvSpPr>
        <p:spPr>
          <a:xfrm>
            <a:off x="6513386" y="2642044"/>
            <a:ext cx="54229" cy="38100"/>
          </a:xfrm>
          <a:custGeom>
            <a:avLst/>
            <a:gdLst/>
            <a:ahLst/>
            <a:cxnLst/>
            <a:rect l="0" t="0" r="r" b="b"/>
            <a:pathLst>
              <a:path w="54229" h="38100">
                <a:moveTo>
                  <a:pt x="0" y="20320"/>
                </a:moveTo>
                <a:lnTo>
                  <a:pt x="17780" y="38100"/>
                </a:lnTo>
                <a:lnTo>
                  <a:pt x="54229" y="0"/>
                </a:lnTo>
              </a:path>
            </a:pathLst>
          </a:custGeom>
          <a:noFill/>
          <a:ln w="1651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modn-3-1"/>
          <p:cNvSpPr txBox="1"/>
          <p:nvPr/>
        </p:nvSpPr>
        <p:spPr>
          <a:xfrm>
            <a:off x="6703060" y="255460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采购协同</a:t>
            </a:r>
          </a:p>
        </p:txBody>
      </p:sp>
      <p:sp>
        <p:nvSpPr>
          <p:cNvPr id="85" name="mods-3-1"/>
          <p:cNvSpPr txBox="1"/>
          <p:nvPr/>
        </p:nvSpPr>
        <p:spPr>
          <a:xfrm>
            <a:off x="8034528" y="2588958"/>
            <a:ext cx="3581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已上线</a:t>
            </a:r>
          </a:p>
        </p:txBody>
      </p:sp>
      <p:sp>
        <p:nvSpPr>
          <p:cNvPr id="86" name="mod-3-2"/>
          <p:cNvSpPr/>
          <p:nvPr/>
        </p:nvSpPr>
        <p:spPr>
          <a:xfrm>
            <a:off x="6286500" y="2984500"/>
            <a:ext cx="2222500" cy="469900"/>
          </a:xfrm>
          <a:custGeom>
            <a:avLst/>
            <a:gdLst/>
            <a:ahLst/>
            <a:cxnLst/>
            <a:rect l="0" t="0" r="r" b="b"/>
            <a:pathLst>
              <a:path w="2222500" h="469900">
                <a:moveTo>
                  <a:pt x="88900" y="0"/>
                </a:moveTo>
                <a:lnTo>
                  <a:pt x="2133600" y="0"/>
                </a:lnTo>
                <a:cubicBezTo>
                  <a:pt x="2182686" y="0"/>
                  <a:pt x="2222500" y="39814"/>
                  <a:pt x="2222500" y="88900"/>
                </a:cubicBezTo>
                <a:lnTo>
                  <a:pt x="2222500" y="381000"/>
                </a:lnTo>
                <a:cubicBezTo>
                  <a:pt x="2222500" y="430086"/>
                  <a:pt x="2182686" y="469900"/>
                  <a:pt x="2133600" y="469900"/>
                </a:cubicBezTo>
                <a:lnTo>
                  <a:pt x="88900" y="469900"/>
                </a:lnTo>
                <a:cubicBezTo>
                  <a:pt x="39814" y="469900"/>
                  <a:pt x="0" y="430086"/>
                  <a:pt x="0" y="3810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modb-3-2"/>
          <p:cNvSpPr/>
          <p:nvPr/>
        </p:nvSpPr>
        <p:spPr>
          <a:xfrm>
            <a:off x="6286500" y="2984500"/>
            <a:ext cx="31750" cy="469900"/>
          </a:xfrm>
          <a:custGeom>
            <a:avLst/>
            <a:gdLst/>
            <a:ahLst/>
            <a:cxnLst/>
            <a:rect l="0" t="0" r="r" b="b"/>
            <a:pathLst>
              <a:path w="31750" h="469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54025"/>
                </a:lnTo>
                <a:cubicBezTo>
                  <a:pt x="31750" y="462788"/>
                  <a:pt x="24638" y="469900"/>
                  <a:pt x="15875" y="469900"/>
                </a:cubicBezTo>
                <a:lnTo>
                  <a:pt x="15875" y="469900"/>
                </a:lnTo>
                <a:cubicBezTo>
                  <a:pt x="7112" y="469900"/>
                  <a:pt x="0" y="462788"/>
                  <a:pt x="0" y="454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modc-3-2"/>
          <p:cNvSpPr/>
          <p:nvPr/>
        </p:nvSpPr>
        <p:spPr>
          <a:xfrm>
            <a:off x="6457950" y="3136900"/>
            <a:ext cx="165100" cy="165100"/>
          </a:xfrm>
          <a:prstGeom prst="ellipse">
            <a:avLst/>
          </a:prstGeom>
          <a:solidFill>
            <a:srgbClr val="2E77C2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icon-check"/>
          <p:cNvSpPr/>
          <p:nvPr/>
        </p:nvSpPr>
        <p:spPr>
          <a:xfrm>
            <a:off x="6513386" y="3200844"/>
            <a:ext cx="54229" cy="38100"/>
          </a:xfrm>
          <a:custGeom>
            <a:avLst/>
            <a:gdLst/>
            <a:ahLst/>
            <a:cxnLst/>
            <a:rect l="0" t="0" r="r" b="b"/>
            <a:pathLst>
              <a:path w="54229" h="38100">
                <a:moveTo>
                  <a:pt x="0" y="20320"/>
                </a:moveTo>
                <a:lnTo>
                  <a:pt x="17780" y="38100"/>
                </a:lnTo>
                <a:lnTo>
                  <a:pt x="54229" y="0"/>
                </a:lnTo>
              </a:path>
            </a:pathLst>
          </a:custGeom>
          <a:noFill/>
          <a:ln w="1651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modn-3-2"/>
          <p:cNvSpPr txBox="1"/>
          <p:nvPr/>
        </p:nvSpPr>
        <p:spPr>
          <a:xfrm>
            <a:off x="6703060" y="311340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库存优化</a:t>
            </a:r>
          </a:p>
        </p:txBody>
      </p:sp>
      <p:sp>
        <p:nvSpPr>
          <p:cNvPr id="91" name="mods-3-2"/>
          <p:cNvSpPr txBox="1"/>
          <p:nvPr/>
        </p:nvSpPr>
        <p:spPr>
          <a:xfrm>
            <a:off x="8034528" y="3147758"/>
            <a:ext cx="3581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已上线</a:t>
            </a:r>
          </a:p>
        </p:txBody>
      </p:sp>
      <p:sp>
        <p:nvSpPr>
          <p:cNvPr id="92" name="mod-3-3"/>
          <p:cNvSpPr/>
          <p:nvPr/>
        </p:nvSpPr>
        <p:spPr>
          <a:xfrm>
            <a:off x="6286500" y="3543300"/>
            <a:ext cx="2222500" cy="469900"/>
          </a:xfrm>
          <a:custGeom>
            <a:avLst/>
            <a:gdLst/>
            <a:ahLst/>
            <a:cxnLst/>
            <a:rect l="0" t="0" r="r" b="b"/>
            <a:pathLst>
              <a:path w="2222500" h="469900">
                <a:moveTo>
                  <a:pt x="88900" y="0"/>
                </a:moveTo>
                <a:lnTo>
                  <a:pt x="2133600" y="0"/>
                </a:lnTo>
                <a:cubicBezTo>
                  <a:pt x="2182686" y="0"/>
                  <a:pt x="2222500" y="39814"/>
                  <a:pt x="2222500" y="88900"/>
                </a:cubicBezTo>
                <a:lnTo>
                  <a:pt x="2222500" y="381000"/>
                </a:lnTo>
                <a:cubicBezTo>
                  <a:pt x="2222500" y="430086"/>
                  <a:pt x="2182686" y="469900"/>
                  <a:pt x="2133600" y="469900"/>
                </a:cubicBezTo>
                <a:lnTo>
                  <a:pt x="88900" y="469900"/>
                </a:lnTo>
                <a:cubicBezTo>
                  <a:pt x="39814" y="469900"/>
                  <a:pt x="0" y="430086"/>
                  <a:pt x="0" y="3810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modb-3-3"/>
          <p:cNvSpPr/>
          <p:nvPr/>
        </p:nvSpPr>
        <p:spPr>
          <a:xfrm>
            <a:off x="6286500" y="3543300"/>
            <a:ext cx="31750" cy="469900"/>
          </a:xfrm>
          <a:custGeom>
            <a:avLst/>
            <a:gdLst/>
            <a:ahLst/>
            <a:cxnLst/>
            <a:rect l="0" t="0" r="r" b="b"/>
            <a:pathLst>
              <a:path w="31750" h="469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54025"/>
                </a:lnTo>
                <a:cubicBezTo>
                  <a:pt x="31750" y="462788"/>
                  <a:pt x="24638" y="469900"/>
                  <a:pt x="15875" y="469900"/>
                </a:cubicBezTo>
                <a:lnTo>
                  <a:pt x="15875" y="469900"/>
                </a:lnTo>
                <a:cubicBezTo>
                  <a:pt x="7112" y="469900"/>
                  <a:pt x="0" y="462788"/>
                  <a:pt x="0" y="454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modc-3-3"/>
          <p:cNvSpPr/>
          <p:nvPr/>
        </p:nvSpPr>
        <p:spPr>
          <a:xfrm>
            <a:off x="6457950" y="3695700"/>
            <a:ext cx="165100" cy="165100"/>
          </a:xfrm>
          <a:prstGeom prst="ellipse">
            <a:avLst/>
          </a:prstGeom>
          <a:solidFill>
            <a:srgbClr val="2E77C2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icon-check"/>
          <p:cNvSpPr/>
          <p:nvPr/>
        </p:nvSpPr>
        <p:spPr>
          <a:xfrm>
            <a:off x="6513386" y="3759645"/>
            <a:ext cx="54229" cy="38100"/>
          </a:xfrm>
          <a:custGeom>
            <a:avLst/>
            <a:gdLst/>
            <a:ahLst/>
            <a:cxnLst/>
            <a:rect l="0" t="0" r="r" b="b"/>
            <a:pathLst>
              <a:path w="54229" h="38100">
                <a:moveTo>
                  <a:pt x="0" y="20320"/>
                </a:moveTo>
                <a:lnTo>
                  <a:pt x="17780" y="38100"/>
                </a:lnTo>
                <a:lnTo>
                  <a:pt x="54229" y="0"/>
                </a:lnTo>
              </a:path>
            </a:pathLst>
          </a:custGeom>
          <a:noFill/>
          <a:ln w="1651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modn-3-3"/>
          <p:cNvSpPr txBox="1"/>
          <p:nvPr/>
        </p:nvSpPr>
        <p:spPr>
          <a:xfrm>
            <a:off x="6703060" y="367220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物流跟踪</a:t>
            </a:r>
          </a:p>
        </p:txBody>
      </p:sp>
      <p:sp>
        <p:nvSpPr>
          <p:cNvPr id="97" name="mods-3-3"/>
          <p:cNvSpPr txBox="1"/>
          <p:nvPr/>
        </p:nvSpPr>
        <p:spPr>
          <a:xfrm>
            <a:off x="8034528" y="3706558"/>
            <a:ext cx="3581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已上线</a:t>
            </a:r>
          </a:p>
        </p:txBody>
      </p:sp>
      <p:sp>
        <p:nvSpPr>
          <p:cNvPr id="98" name="mod-3-4"/>
          <p:cNvSpPr/>
          <p:nvPr/>
        </p:nvSpPr>
        <p:spPr>
          <a:xfrm>
            <a:off x="6286500" y="4102100"/>
            <a:ext cx="2222500" cy="469900"/>
          </a:xfrm>
          <a:custGeom>
            <a:avLst/>
            <a:gdLst/>
            <a:ahLst/>
            <a:cxnLst/>
            <a:rect l="0" t="0" r="r" b="b"/>
            <a:pathLst>
              <a:path w="2222500" h="469900">
                <a:moveTo>
                  <a:pt x="88900" y="0"/>
                </a:moveTo>
                <a:lnTo>
                  <a:pt x="2133600" y="0"/>
                </a:lnTo>
                <a:cubicBezTo>
                  <a:pt x="2182686" y="0"/>
                  <a:pt x="2222500" y="39814"/>
                  <a:pt x="2222500" y="88900"/>
                </a:cubicBezTo>
                <a:lnTo>
                  <a:pt x="2222500" y="381000"/>
                </a:lnTo>
                <a:cubicBezTo>
                  <a:pt x="2222500" y="430086"/>
                  <a:pt x="2182686" y="469900"/>
                  <a:pt x="2133600" y="469900"/>
                </a:cubicBezTo>
                <a:lnTo>
                  <a:pt x="88900" y="469900"/>
                </a:lnTo>
                <a:cubicBezTo>
                  <a:pt x="39814" y="469900"/>
                  <a:pt x="0" y="430086"/>
                  <a:pt x="0" y="3810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EDF2F9"/>
          </a:solidFill>
          <a:ln w="7620" cap="rnd">
            <a:solidFill>
              <a:srgbClr val="1B5AA8">
                <a:alpha val="22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9" name="modc-3-4"/>
          <p:cNvSpPr/>
          <p:nvPr/>
        </p:nvSpPr>
        <p:spPr>
          <a:xfrm>
            <a:off x="6457950" y="4254500"/>
            <a:ext cx="165100" cy="165100"/>
          </a:xfrm>
          <a:prstGeom prst="ellipse">
            <a:avLst/>
          </a:pr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modd-3-4"/>
          <p:cNvSpPr txBox="1"/>
          <p:nvPr/>
        </p:nvSpPr>
        <p:spPr>
          <a:xfrm>
            <a:off x="6457061" y="423399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…</a:t>
            </a:r>
          </a:p>
        </p:txBody>
      </p:sp>
      <p:sp>
        <p:nvSpPr>
          <p:cNvPr id="101" name="modn-3-4"/>
          <p:cNvSpPr txBox="1"/>
          <p:nvPr/>
        </p:nvSpPr>
        <p:spPr>
          <a:xfrm>
            <a:off x="6703060" y="4231005"/>
            <a:ext cx="7874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0" spc="6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供应商门户</a:t>
            </a:r>
          </a:p>
        </p:txBody>
      </p:sp>
      <p:sp>
        <p:nvSpPr>
          <p:cNvPr id="102" name="mods-3-4"/>
          <p:cNvSpPr txBox="1"/>
          <p:nvPr/>
        </p:nvSpPr>
        <p:spPr>
          <a:xfrm>
            <a:off x="8034528" y="4265358"/>
            <a:ext cx="3581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规划中</a:t>
            </a:r>
          </a:p>
        </p:txBody>
      </p:sp>
      <p:sp>
        <p:nvSpPr>
          <p:cNvPr id="103" name="dom-4"/>
          <p:cNvSpPr/>
          <p:nvPr/>
        </p:nvSpPr>
        <p:spPr>
          <a:xfrm>
            <a:off x="8763000" y="1587500"/>
            <a:ext cx="2476500" cy="3848100"/>
          </a:xfrm>
          <a:custGeom>
            <a:avLst/>
            <a:gdLst/>
            <a:ahLst/>
            <a:cxnLst/>
            <a:rect l="0" t="0" r="r" b="b"/>
            <a:pathLst>
              <a:path w="2476500" h="3848100">
                <a:moveTo>
                  <a:pt x="127000" y="0"/>
                </a:moveTo>
                <a:lnTo>
                  <a:pt x="2349500" y="0"/>
                </a:lnTo>
                <a:cubicBezTo>
                  <a:pt x="2419667" y="0"/>
                  <a:pt x="2476500" y="56832"/>
                  <a:pt x="2476500" y="127000"/>
                </a:cubicBezTo>
                <a:lnTo>
                  <a:pt x="2476500" y="3721100"/>
                </a:lnTo>
                <a:cubicBezTo>
                  <a:pt x="2476500" y="3791267"/>
                  <a:pt x="2419667" y="3848100"/>
                  <a:pt x="2349500" y="3848100"/>
                </a:cubicBezTo>
                <a:lnTo>
                  <a:pt x="127000" y="3848100"/>
                </a:lnTo>
                <a:cubicBezTo>
                  <a:pt x="56833" y="3848100"/>
                  <a:pt x="0" y="3791267"/>
                  <a:pt x="0" y="37211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>
              <a:alpha val="8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4" name="domhd-4"/>
          <p:cNvSpPr/>
          <p:nvPr/>
        </p:nvSpPr>
        <p:spPr>
          <a:xfrm>
            <a:off x="8763000" y="1587500"/>
            <a:ext cx="2476500" cy="685800"/>
          </a:xfrm>
          <a:custGeom>
            <a:avLst/>
            <a:gdLst/>
            <a:ahLst/>
            <a:cxnLst/>
            <a:rect l="0" t="0" r="r" b="b"/>
            <a:pathLst>
              <a:path w="2476500" h="685800">
                <a:moveTo>
                  <a:pt x="127000" y="0"/>
                </a:moveTo>
                <a:lnTo>
                  <a:pt x="2349500" y="0"/>
                </a:lnTo>
                <a:cubicBezTo>
                  <a:pt x="2419667" y="0"/>
                  <a:pt x="2476500" y="56832"/>
                  <a:pt x="2476500" y="127000"/>
                </a:cubicBezTo>
                <a:lnTo>
                  <a:pt x="2476500" y="558800"/>
                </a:lnTo>
                <a:cubicBezTo>
                  <a:pt x="2476500" y="628968"/>
                  <a:pt x="2419667" y="685800"/>
                  <a:pt x="2349500" y="685800"/>
                </a:cubicBezTo>
                <a:lnTo>
                  <a:pt x="127000" y="685800"/>
                </a:lnTo>
                <a:cubicBezTo>
                  <a:pt x="56833" y="685800"/>
                  <a:pt x="0" y="628968"/>
                  <a:pt x="0" y="5588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60A3DD"/>
              </a:gs>
              <a:gs pos="100000">
                <a:srgbClr val="4694D7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icon-brain"/>
          <p:cNvSpPr/>
          <p:nvPr/>
        </p:nvSpPr>
        <p:spPr>
          <a:xfrm>
            <a:off x="9033222" y="1872806"/>
            <a:ext cx="119957" cy="113475"/>
          </a:xfrm>
          <a:custGeom>
            <a:avLst/>
            <a:gdLst/>
            <a:ahLst/>
            <a:cxnLst/>
            <a:rect l="0" t="0" r="r" b="b"/>
            <a:pathLst>
              <a:path w="119957" h="113475">
                <a:moveTo>
                  <a:pt x="59978" y="0"/>
                </a:moveTo>
                <a:lnTo>
                  <a:pt x="59978" y="113475"/>
                </a:lnTo>
                <a:moveTo>
                  <a:pt x="37944" y="0"/>
                </a:moveTo>
                <a:cubicBezTo>
                  <a:pt x="29752" y="-191"/>
                  <a:pt x="22005" y="3874"/>
                  <a:pt x="17497" y="10795"/>
                </a:cubicBezTo>
                <a:cubicBezTo>
                  <a:pt x="12988" y="17717"/>
                  <a:pt x="12417" y="26416"/>
                  <a:pt x="15973" y="33909"/>
                </a:cubicBezTo>
                <a:cubicBezTo>
                  <a:pt x="7400" y="36830"/>
                  <a:pt x="1241" y="44450"/>
                  <a:pt x="161" y="53467"/>
                </a:cubicBezTo>
                <a:cubicBezTo>
                  <a:pt x="-918" y="62484"/>
                  <a:pt x="3273" y="71311"/>
                  <a:pt x="10893" y="76200"/>
                </a:cubicBezTo>
                <a:cubicBezTo>
                  <a:pt x="5368" y="84645"/>
                  <a:pt x="5749" y="95568"/>
                  <a:pt x="11845" y="103569"/>
                </a:cubicBezTo>
                <a:cubicBezTo>
                  <a:pt x="17941" y="111569"/>
                  <a:pt x="28419" y="114871"/>
                  <a:pt x="37944" y="111760"/>
                </a:cubicBezTo>
                <a:moveTo>
                  <a:pt x="82013" y="0"/>
                </a:moveTo>
                <a:cubicBezTo>
                  <a:pt x="90204" y="-191"/>
                  <a:pt x="97951" y="3874"/>
                  <a:pt x="102460" y="10795"/>
                </a:cubicBezTo>
                <a:cubicBezTo>
                  <a:pt x="106968" y="17717"/>
                  <a:pt x="107540" y="26416"/>
                  <a:pt x="103984" y="33909"/>
                </a:cubicBezTo>
                <a:cubicBezTo>
                  <a:pt x="112556" y="36830"/>
                  <a:pt x="118716" y="44450"/>
                  <a:pt x="119795" y="53467"/>
                </a:cubicBezTo>
                <a:cubicBezTo>
                  <a:pt x="120875" y="62484"/>
                  <a:pt x="116684" y="71311"/>
                  <a:pt x="109064" y="76200"/>
                </a:cubicBezTo>
                <a:cubicBezTo>
                  <a:pt x="114588" y="84645"/>
                  <a:pt x="114207" y="95568"/>
                  <a:pt x="108111" y="103569"/>
                </a:cubicBezTo>
                <a:cubicBezTo>
                  <a:pt x="102015" y="111569"/>
                  <a:pt x="91538" y="114871"/>
                  <a:pt x="82013" y="111760"/>
                </a:cubicBez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6" name="domn-4"/>
          <p:cNvSpPr txBox="1"/>
          <p:nvPr/>
        </p:nvSpPr>
        <p:spPr>
          <a:xfrm>
            <a:off x="9315450" y="1708944"/>
            <a:ext cx="8413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数据智能</a:t>
            </a:r>
          </a:p>
        </p:txBody>
      </p:sp>
      <p:sp>
        <p:nvSpPr>
          <p:cNvPr id="107" name="domen-4"/>
          <p:cNvSpPr txBox="1"/>
          <p:nvPr/>
        </p:nvSpPr>
        <p:spPr>
          <a:xfrm>
            <a:off x="9336532" y="1973008"/>
            <a:ext cx="67665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30">
                <a:solidFill>
                  <a:srgbClr val="CFE0F4"/>
                </a:solidFill>
                <a:latin typeface="Arial"/>
                <a:ea typeface="Arial"/>
                <a:cs typeface="Arial"/>
              </a:rPr>
              <a:t>DATA &amp; AI</a:t>
            </a:r>
          </a:p>
        </p:txBody>
      </p:sp>
      <p:sp>
        <p:nvSpPr>
          <p:cNvPr id="108" name="domc-4"/>
          <p:cNvSpPr txBox="1"/>
          <p:nvPr/>
        </p:nvSpPr>
        <p:spPr>
          <a:xfrm>
            <a:off x="10738739" y="1816513"/>
            <a:ext cx="351663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20">
                <a:solidFill>
                  <a:srgbClr val="FFFFFF">
                    <a:alpha val="80000"/>
                  </a:srgbClr>
                </a:solidFill>
                <a:latin typeface="Arial"/>
                <a:ea typeface="Arial"/>
                <a:cs typeface="Arial"/>
              </a:rPr>
              <a:t>2/5</a:t>
            </a:r>
          </a:p>
        </p:txBody>
      </p:sp>
      <p:sp>
        <p:nvSpPr>
          <p:cNvPr id="109" name="mod-4-1"/>
          <p:cNvSpPr/>
          <p:nvPr/>
        </p:nvSpPr>
        <p:spPr>
          <a:xfrm>
            <a:off x="8890000" y="2425700"/>
            <a:ext cx="2222500" cy="469900"/>
          </a:xfrm>
          <a:custGeom>
            <a:avLst/>
            <a:gdLst/>
            <a:ahLst/>
            <a:cxnLst/>
            <a:rect l="0" t="0" r="r" b="b"/>
            <a:pathLst>
              <a:path w="2222500" h="469900">
                <a:moveTo>
                  <a:pt x="88900" y="0"/>
                </a:moveTo>
                <a:lnTo>
                  <a:pt x="2133600" y="0"/>
                </a:lnTo>
                <a:cubicBezTo>
                  <a:pt x="2182686" y="0"/>
                  <a:pt x="2222500" y="39814"/>
                  <a:pt x="2222500" y="88900"/>
                </a:cubicBezTo>
                <a:lnTo>
                  <a:pt x="2222500" y="381000"/>
                </a:lnTo>
                <a:cubicBezTo>
                  <a:pt x="2222500" y="430086"/>
                  <a:pt x="2182686" y="469900"/>
                  <a:pt x="2133600" y="469900"/>
                </a:cubicBezTo>
                <a:lnTo>
                  <a:pt x="88900" y="469900"/>
                </a:lnTo>
                <a:cubicBezTo>
                  <a:pt x="39814" y="469900"/>
                  <a:pt x="0" y="430086"/>
                  <a:pt x="0" y="3810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0" name="modb-4-1"/>
          <p:cNvSpPr/>
          <p:nvPr/>
        </p:nvSpPr>
        <p:spPr>
          <a:xfrm>
            <a:off x="8890000" y="2425700"/>
            <a:ext cx="31750" cy="469900"/>
          </a:xfrm>
          <a:custGeom>
            <a:avLst/>
            <a:gdLst/>
            <a:ahLst/>
            <a:cxnLst/>
            <a:rect l="0" t="0" r="r" b="b"/>
            <a:pathLst>
              <a:path w="31750" h="469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54025"/>
                </a:lnTo>
                <a:cubicBezTo>
                  <a:pt x="31750" y="462788"/>
                  <a:pt x="24638" y="469900"/>
                  <a:pt x="15875" y="469900"/>
                </a:cubicBezTo>
                <a:lnTo>
                  <a:pt x="15875" y="469900"/>
                </a:lnTo>
                <a:cubicBezTo>
                  <a:pt x="7112" y="469900"/>
                  <a:pt x="0" y="462788"/>
                  <a:pt x="0" y="454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1" name="modc-4-1"/>
          <p:cNvSpPr/>
          <p:nvPr/>
        </p:nvSpPr>
        <p:spPr>
          <a:xfrm>
            <a:off x="9061450" y="2578100"/>
            <a:ext cx="165100" cy="165100"/>
          </a:xfrm>
          <a:prstGeom prst="ellipse">
            <a:avLst/>
          </a:prstGeom>
          <a:solidFill>
            <a:srgbClr val="4694D7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2" name="icon-check"/>
          <p:cNvSpPr/>
          <p:nvPr/>
        </p:nvSpPr>
        <p:spPr>
          <a:xfrm>
            <a:off x="9116886" y="2642044"/>
            <a:ext cx="54229" cy="38100"/>
          </a:xfrm>
          <a:custGeom>
            <a:avLst/>
            <a:gdLst/>
            <a:ahLst/>
            <a:cxnLst/>
            <a:rect l="0" t="0" r="r" b="b"/>
            <a:pathLst>
              <a:path w="54229" h="38100">
                <a:moveTo>
                  <a:pt x="0" y="20320"/>
                </a:moveTo>
                <a:lnTo>
                  <a:pt x="17780" y="38100"/>
                </a:lnTo>
                <a:lnTo>
                  <a:pt x="54229" y="0"/>
                </a:lnTo>
              </a:path>
            </a:pathLst>
          </a:custGeom>
          <a:noFill/>
          <a:ln w="1651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3" name="modn-4-1"/>
          <p:cNvSpPr txBox="1"/>
          <p:nvPr/>
        </p:nvSpPr>
        <p:spPr>
          <a:xfrm>
            <a:off x="9306560" y="255460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经营看板</a:t>
            </a:r>
          </a:p>
        </p:txBody>
      </p:sp>
      <p:sp>
        <p:nvSpPr>
          <p:cNvPr id="114" name="mods-4-1"/>
          <p:cNvSpPr txBox="1"/>
          <p:nvPr/>
        </p:nvSpPr>
        <p:spPr>
          <a:xfrm>
            <a:off x="10638028" y="2588958"/>
            <a:ext cx="3581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已上线</a:t>
            </a:r>
          </a:p>
        </p:txBody>
      </p:sp>
      <p:sp>
        <p:nvSpPr>
          <p:cNvPr id="115" name="mod-4-2"/>
          <p:cNvSpPr/>
          <p:nvPr/>
        </p:nvSpPr>
        <p:spPr>
          <a:xfrm>
            <a:off x="8890000" y="2984500"/>
            <a:ext cx="2222500" cy="469900"/>
          </a:xfrm>
          <a:custGeom>
            <a:avLst/>
            <a:gdLst/>
            <a:ahLst/>
            <a:cxnLst/>
            <a:rect l="0" t="0" r="r" b="b"/>
            <a:pathLst>
              <a:path w="2222500" h="469900">
                <a:moveTo>
                  <a:pt x="88900" y="0"/>
                </a:moveTo>
                <a:lnTo>
                  <a:pt x="2133600" y="0"/>
                </a:lnTo>
                <a:cubicBezTo>
                  <a:pt x="2182686" y="0"/>
                  <a:pt x="2222500" y="39814"/>
                  <a:pt x="2222500" y="88900"/>
                </a:cubicBezTo>
                <a:lnTo>
                  <a:pt x="2222500" y="381000"/>
                </a:lnTo>
                <a:cubicBezTo>
                  <a:pt x="2222500" y="430086"/>
                  <a:pt x="2182686" y="469900"/>
                  <a:pt x="2133600" y="469900"/>
                </a:cubicBezTo>
                <a:lnTo>
                  <a:pt x="88900" y="469900"/>
                </a:lnTo>
                <a:cubicBezTo>
                  <a:pt x="39814" y="469900"/>
                  <a:pt x="0" y="430086"/>
                  <a:pt x="0" y="3810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6" name="modb-4-2"/>
          <p:cNvSpPr/>
          <p:nvPr/>
        </p:nvSpPr>
        <p:spPr>
          <a:xfrm>
            <a:off x="8890000" y="2984500"/>
            <a:ext cx="31750" cy="469900"/>
          </a:xfrm>
          <a:custGeom>
            <a:avLst/>
            <a:gdLst/>
            <a:ahLst/>
            <a:cxnLst/>
            <a:rect l="0" t="0" r="r" b="b"/>
            <a:pathLst>
              <a:path w="31750" h="469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54025"/>
                </a:lnTo>
                <a:cubicBezTo>
                  <a:pt x="31750" y="462788"/>
                  <a:pt x="24638" y="469900"/>
                  <a:pt x="15875" y="469900"/>
                </a:cubicBezTo>
                <a:lnTo>
                  <a:pt x="15875" y="469900"/>
                </a:lnTo>
                <a:cubicBezTo>
                  <a:pt x="7112" y="469900"/>
                  <a:pt x="0" y="462788"/>
                  <a:pt x="0" y="454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7" name="modc-4-2"/>
          <p:cNvSpPr/>
          <p:nvPr/>
        </p:nvSpPr>
        <p:spPr>
          <a:xfrm>
            <a:off x="9061450" y="3136900"/>
            <a:ext cx="165100" cy="165100"/>
          </a:xfrm>
          <a:prstGeom prst="ellipse">
            <a:avLst/>
          </a:prstGeom>
          <a:solidFill>
            <a:srgbClr val="4694D7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8" name="icon-check"/>
          <p:cNvSpPr/>
          <p:nvPr/>
        </p:nvSpPr>
        <p:spPr>
          <a:xfrm>
            <a:off x="9116886" y="3200844"/>
            <a:ext cx="54229" cy="38100"/>
          </a:xfrm>
          <a:custGeom>
            <a:avLst/>
            <a:gdLst/>
            <a:ahLst/>
            <a:cxnLst/>
            <a:rect l="0" t="0" r="r" b="b"/>
            <a:pathLst>
              <a:path w="54229" h="38100">
                <a:moveTo>
                  <a:pt x="0" y="20320"/>
                </a:moveTo>
                <a:lnTo>
                  <a:pt x="17780" y="38100"/>
                </a:lnTo>
                <a:lnTo>
                  <a:pt x="54229" y="0"/>
                </a:lnTo>
              </a:path>
            </a:pathLst>
          </a:custGeom>
          <a:noFill/>
          <a:ln w="1651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9" name="modn-4-2"/>
          <p:cNvSpPr txBox="1"/>
          <p:nvPr/>
        </p:nvSpPr>
        <p:spPr>
          <a:xfrm>
            <a:off x="9306560" y="311340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预测模型</a:t>
            </a:r>
          </a:p>
        </p:txBody>
      </p:sp>
      <p:sp>
        <p:nvSpPr>
          <p:cNvPr id="120" name="mods-4-2"/>
          <p:cNvSpPr txBox="1"/>
          <p:nvPr/>
        </p:nvSpPr>
        <p:spPr>
          <a:xfrm>
            <a:off x="10638028" y="3147758"/>
            <a:ext cx="3581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已上线</a:t>
            </a:r>
          </a:p>
        </p:txBody>
      </p:sp>
      <p:sp>
        <p:nvSpPr>
          <p:cNvPr id="121" name="mod-4-3"/>
          <p:cNvSpPr/>
          <p:nvPr/>
        </p:nvSpPr>
        <p:spPr>
          <a:xfrm>
            <a:off x="8890000" y="3543300"/>
            <a:ext cx="2222500" cy="469900"/>
          </a:xfrm>
          <a:custGeom>
            <a:avLst/>
            <a:gdLst/>
            <a:ahLst/>
            <a:cxnLst/>
            <a:rect l="0" t="0" r="r" b="b"/>
            <a:pathLst>
              <a:path w="2222500" h="469900">
                <a:moveTo>
                  <a:pt x="88900" y="0"/>
                </a:moveTo>
                <a:lnTo>
                  <a:pt x="2133600" y="0"/>
                </a:lnTo>
                <a:cubicBezTo>
                  <a:pt x="2182686" y="0"/>
                  <a:pt x="2222500" y="39814"/>
                  <a:pt x="2222500" y="88900"/>
                </a:cubicBezTo>
                <a:lnTo>
                  <a:pt x="2222500" y="381000"/>
                </a:lnTo>
                <a:cubicBezTo>
                  <a:pt x="2222500" y="430086"/>
                  <a:pt x="2182686" y="469900"/>
                  <a:pt x="2133600" y="469900"/>
                </a:cubicBezTo>
                <a:lnTo>
                  <a:pt x="88900" y="469900"/>
                </a:lnTo>
                <a:cubicBezTo>
                  <a:pt x="39814" y="469900"/>
                  <a:pt x="0" y="430086"/>
                  <a:pt x="0" y="3810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EDF2F9"/>
          </a:solidFill>
          <a:ln w="7620" cap="rnd">
            <a:solidFill>
              <a:srgbClr val="1B5AA8">
                <a:alpha val="22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2" name="modc-4-3"/>
          <p:cNvSpPr/>
          <p:nvPr/>
        </p:nvSpPr>
        <p:spPr>
          <a:xfrm>
            <a:off x="9061450" y="3695700"/>
            <a:ext cx="165100" cy="165100"/>
          </a:xfrm>
          <a:prstGeom prst="ellipse">
            <a:avLst/>
          </a:pr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3" name="modd-4-3"/>
          <p:cNvSpPr txBox="1"/>
          <p:nvPr/>
        </p:nvSpPr>
        <p:spPr>
          <a:xfrm>
            <a:off x="9060561" y="367519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…</a:t>
            </a:r>
          </a:p>
        </p:txBody>
      </p:sp>
      <p:sp>
        <p:nvSpPr>
          <p:cNvPr id="124" name="modn-4-3"/>
          <p:cNvSpPr txBox="1"/>
          <p:nvPr/>
        </p:nvSpPr>
        <p:spPr>
          <a:xfrm>
            <a:off x="9306560" y="367220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0" spc="6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异常预警</a:t>
            </a:r>
          </a:p>
        </p:txBody>
      </p:sp>
      <p:sp>
        <p:nvSpPr>
          <p:cNvPr id="125" name="mods-4-3"/>
          <p:cNvSpPr txBox="1"/>
          <p:nvPr/>
        </p:nvSpPr>
        <p:spPr>
          <a:xfrm>
            <a:off x="10638028" y="3706558"/>
            <a:ext cx="3581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规划中</a:t>
            </a:r>
          </a:p>
        </p:txBody>
      </p:sp>
      <p:sp>
        <p:nvSpPr>
          <p:cNvPr id="126" name="mod-4-4"/>
          <p:cNvSpPr/>
          <p:nvPr/>
        </p:nvSpPr>
        <p:spPr>
          <a:xfrm>
            <a:off x="8890000" y="4102100"/>
            <a:ext cx="2222500" cy="469900"/>
          </a:xfrm>
          <a:custGeom>
            <a:avLst/>
            <a:gdLst/>
            <a:ahLst/>
            <a:cxnLst/>
            <a:rect l="0" t="0" r="r" b="b"/>
            <a:pathLst>
              <a:path w="2222500" h="469900">
                <a:moveTo>
                  <a:pt x="88900" y="0"/>
                </a:moveTo>
                <a:lnTo>
                  <a:pt x="2133600" y="0"/>
                </a:lnTo>
                <a:cubicBezTo>
                  <a:pt x="2182686" y="0"/>
                  <a:pt x="2222500" y="39814"/>
                  <a:pt x="2222500" y="88900"/>
                </a:cubicBezTo>
                <a:lnTo>
                  <a:pt x="2222500" y="381000"/>
                </a:lnTo>
                <a:cubicBezTo>
                  <a:pt x="2222500" y="430086"/>
                  <a:pt x="2182686" y="469900"/>
                  <a:pt x="2133600" y="469900"/>
                </a:cubicBezTo>
                <a:lnTo>
                  <a:pt x="88900" y="469900"/>
                </a:lnTo>
                <a:cubicBezTo>
                  <a:pt x="39814" y="469900"/>
                  <a:pt x="0" y="430086"/>
                  <a:pt x="0" y="3810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EDF2F9"/>
          </a:solidFill>
          <a:ln w="7620" cap="rnd">
            <a:solidFill>
              <a:srgbClr val="1B5AA8">
                <a:alpha val="22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7" name="modc-4-4"/>
          <p:cNvSpPr/>
          <p:nvPr/>
        </p:nvSpPr>
        <p:spPr>
          <a:xfrm>
            <a:off x="9061450" y="4254500"/>
            <a:ext cx="165100" cy="165100"/>
          </a:xfrm>
          <a:prstGeom prst="ellipse">
            <a:avLst/>
          </a:pr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8" name="modd-4-4"/>
          <p:cNvSpPr txBox="1"/>
          <p:nvPr/>
        </p:nvSpPr>
        <p:spPr>
          <a:xfrm>
            <a:off x="9060561" y="423399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…</a:t>
            </a:r>
          </a:p>
        </p:txBody>
      </p:sp>
      <p:sp>
        <p:nvSpPr>
          <p:cNvPr id="129" name="modn-4-4"/>
          <p:cNvSpPr txBox="1"/>
          <p:nvPr/>
        </p:nvSpPr>
        <p:spPr>
          <a:xfrm>
            <a:off x="9306560" y="423100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0" spc="6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知识问答</a:t>
            </a:r>
          </a:p>
        </p:txBody>
      </p:sp>
      <p:sp>
        <p:nvSpPr>
          <p:cNvPr id="130" name="mods-4-4"/>
          <p:cNvSpPr txBox="1"/>
          <p:nvPr/>
        </p:nvSpPr>
        <p:spPr>
          <a:xfrm>
            <a:off x="10638028" y="4265358"/>
            <a:ext cx="3581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规划中</a:t>
            </a:r>
          </a:p>
        </p:txBody>
      </p:sp>
      <p:sp>
        <p:nvSpPr>
          <p:cNvPr id="131" name="mod-4-5"/>
          <p:cNvSpPr/>
          <p:nvPr/>
        </p:nvSpPr>
        <p:spPr>
          <a:xfrm>
            <a:off x="8890000" y="4660900"/>
            <a:ext cx="2222500" cy="469900"/>
          </a:xfrm>
          <a:custGeom>
            <a:avLst/>
            <a:gdLst/>
            <a:ahLst/>
            <a:cxnLst/>
            <a:rect l="0" t="0" r="r" b="b"/>
            <a:pathLst>
              <a:path w="2222500" h="469900">
                <a:moveTo>
                  <a:pt x="88900" y="0"/>
                </a:moveTo>
                <a:lnTo>
                  <a:pt x="2133600" y="0"/>
                </a:lnTo>
                <a:cubicBezTo>
                  <a:pt x="2182686" y="0"/>
                  <a:pt x="2222500" y="39814"/>
                  <a:pt x="2222500" y="88900"/>
                </a:cubicBezTo>
                <a:lnTo>
                  <a:pt x="2222500" y="381000"/>
                </a:lnTo>
                <a:cubicBezTo>
                  <a:pt x="2222500" y="430086"/>
                  <a:pt x="2182686" y="469900"/>
                  <a:pt x="2133600" y="469900"/>
                </a:cubicBezTo>
                <a:lnTo>
                  <a:pt x="88900" y="469900"/>
                </a:lnTo>
                <a:cubicBezTo>
                  <a:pt x="39814" y="469900"/>
                  <a:pt x="0" y="430086"/>
                  <a:pt x="0" y="3810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EDF2F9"/>
          </a:solidFill>
          <a:ln w="7620" cap="rnd">
            <a:solidFill>
              <a:srgbClr val="1B5AA8">
                <a:alpha val="22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2" name="modc-4-5"/>
          <p:cNvSpPr/>
          <p:nvPr/>
        </p:nvSpPr>
        <p:spPr>
          <a:xfrm>
            <a:off x="9061450" y="4813300"/>
            <a:ext cx="165100" cy="165100"/>
          </a:xfrm>
          <a:prstGeom prst="ellipse">
            <a:avLst/>
          </a:pr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3" name="modd-4-5"/>
          <p:cNvSpPr txBox="1"/>
          <p:nvPr/>
        </p:nvSpPr>
        <p:spPr>
          <a:xfrm>
            <a:off x="9060561" y="479279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…</a:t>
            </a:r>
          </a:p>
        </p:txBody>
      </p:sp>
      <p:sp>
        <p:nvSpPr>
          <p:cNvPr id="134" name="modn-4-5"/>
          <p:cNvSpPr txBox="1"/>
          <p:nvPr/>
        </p:nvSpPr>
        <p:spPr>
          <a:xfrm>
            <a:off x="9306560" y="478980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0" spc="6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智能报告</a:t>
            </a:r>
          </a:p>
        </p:txBody>
      </p:sp>
      <p:sp>
        <p:nvSpPr>
          <p:cNvPr id="135" name="mods-4-5"/>
          <p:cNvSpPr txBox="1"/>
          <p:nvPr/>
        </p:nvSpPr>
        <p:spPr>
          <a:xfrm>
            <a:off x="10638028" y="4824158"/>
            <a:ext cx="3581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规划中</a:t>
            </a:r>
          </a:p>
        </p:txBody>
      </p:sp>
      <p:sp>
        <p:nvSpPr>
          <p:cNvPr id="136" name="lg"/>
          <p:cNvSpPr/>
          <p:nvPr/>
        </p:nvSpPr>
        <p:spPr>
          <a:xfrm>
            <a:off x="952500" y="5727700"/>
            <a:ext cx="10287000" cy="558800"/>
          </a:xfrm>
          <a:custGeom>
            <a:avLst/>
            <a:gdLst/>
            <a:ahLst/>
            <a:cxnLst/>
            <a:rect l="0" t="0" r="r" b="b"/>
            <a:pathLst>
              <a:path w="10287000" h="5588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57200"/>
                </a:lnTo>
                <a:cubicBezTo>
                  <a:pt x="10287000" y="513334"/>
                  <a:pt x="10241534" y="558800"/>
                  <a:pt x="10185400" y="558800"/>
                </a:cubicBezTo>
                <a:lnTo>
                  <a:pt x="101600" y="558800"/>
                </a:lnTo>
                <a:cubicBezTo>
                  <a:pt x="45466" y="558800"/>
                  <a:pt x="0" y="513334"/>
                  <a:pt x="0" y="457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7" name="lg-bar"/>
          <p:cNvSpPr/>
          <p:nvPr/>
        </p:nvSpPr>
        <p:spPr>
          <a:xfrm>
            <a:off x="952500" y="5727700"/>
            <a:ext cx="31750" cy="5588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8" name="lg-h"/>
          <p:cNvSpPr txBox="1"/>
          <p:nvPr/>
        </p:nvSpPr>
        <p:spPr>
          <a:xfrm>
            <a:off x="1141222" y="581999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图例</a:t>
            </a:r>
          </a:p>
        </p:txBody>
      </p:sp>
      <p:sp>
        <p:nvSpPr>
          <p:cNvPr id="139" name="lg-on"/>
          <p:cNvSpPr/>
          <p:nvPr/>
        </p:nvSpPr>
        <p:spPr>
          <a:xfrm>
            <a:off x="1155700" y="6070600"/>
            <a:ext cx="139700" cy="139700"/>
          </a:xfrm>
          <a:custGeom>
            <a:avLst/>
            <a:gdLst/>
            <a:ahLst/>
            <a:cxnLst/>
            <a:rect l="0" t="0" r="r" b="b"/>
            <a:pathLst>
              <a:path w="139700" h="139700">
                <a:moveTo>
                  <a:pt x="38100" y="0"/>
                </a:moveTo>
                <a:lnTo>
                  <a:pt x="101600" y="0"/>
                </a:lnTo>
                <a:cubicBezTo>
                  <a:pt x="122619" y="0"/>
                  <a:pt x="139700" y="17082"/>
                  <a:pt x="139700" y="38100"/>
                </a:cubicBezTo>
                <a:lnTo>
                  <a:pt x="139700" y="101600"/>
                </a:lnTo>
                <a:cubicBezTo>
                  <a:pt x="139700" y="122618"/>
                  <a:pt x="122619" y="139700"/>
                  <a:pt x="101600" y="139700"/>
                </a:cubicBezTo>
                <a:lnTo>
                  <a:pt x="38100" y="139700"/>
                </a:lnTo>
                <a:cubicBezTo>
                  <a:pt x="17081" y="139700"/>
                  <a:pt x="0" y="122618"/>
                  <a:pt x="0" y="1016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0" name="lg-ont"/>
          <p:cNvSpPr txBox="1"/>
          <p:nvPr/>
        </p:nvSpPr>
        <p:spPr>
          <a:xfrm>
            <a:off x="1347470" y="6067266"/>
            <a:ext cx="5746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已上线模块</a:t>
            </a:r>
          </a:p>
        </p:txBody>
      </p:sp>
      <p:sp>
        <p:nvSpPr>
          <p:cNvPr id="141" name="lg-off"/>
          <p:cNvSpPr/>
          <p:nvPr/>
        </p:nvSpPr>
        <p:spPr>
          <a:xfrm>
            <a:off x="2159000" y="6070600"/>
            <a:ext cx="139700" cy="139700"/>
          </a:xfrm>
          <a:custGeom>
            <a:avLst/>
            <a:gdLst/>
            <a:ahLst/>
            <a:cxnLst/>
            <a:rect l="0" t="0" r="r" b="b"/>
            <a:pathLst>
              <a:path w="139700" h="139700">
                <a:moveTo>
                  <a:pt x="38100" y="0"/>
                </a:moveTo>
                <a:lnTo>
                  <a:pt x="101600" y="0"/>
                </a:lnTo>
                <a:cubicBezTo>
                  <a:pt x="122619" y="0"/>
                  <a:pt x="139700" y="17082"/>
                  <a:pt x="139700" y="38100"/>
                </a:cubicBezTo>
                <a:lnTo>
                  <a:pt x="139700" y="101600"/>
                </a:lnTo>
                <a:cubicBezTo>
                  <a:pt x="139700" y="122618"/>
                  <a:pt x="122619" y="139700"/>
                  <a:pt x="101600" y="139700"/>
                </a:cubicBezTo>
                <a:lnTo>
                  <a:pt x="38100" y="139700"/>
                </a:lnTo>
                <a:cubicBezTo>
                  <a:pt x="17081" y="139700"/>
                  <a:pt x="0" y="122618"/>
                  <a:pt x="0" y="1016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EDF2F9"/>
          </a:solidFill>
          <a:ln w="7620" cap="rnd">
            <a:solidFill>
              <a:srgbClr val="1B5AA8">
                <a:alpha val="3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2" name="lg-offt"/>
          <p:cNvSpPr txBox="1"/>
          <p:nvPr/>
        </p:nvSpPr>
        <p:spPr>
          <a:xfrm>
            <a:off x="2350770" y="6067266"/>
            <a:ext cx="5746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规划中模块</a:t>
            </a:r>
          </a:p>
        </p:txBody>
      </p:sp>
      <p:sp>
        <p:nvSpPr>
          <p:cNvPr id="143" name="sv-1"/>
          <p:cNvSpPr txBox="1"/>
          <p:nvPr/>
        </p:nvSpPr>
        <p:spPr>
          <a:xfrm>
            <a:off x="3788664" y="5812917"/>
            <a:ext cx="365506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18</a:t>
            </a:r>
          </a:p>
        </p:txBody>
      </p:sp>
      <p:sp>
        <p:nvSpPr>
          <p:cNvPr id="144" name="sl-1"/>
          <p:cNvSpPr txBox="1"/>
          <p:nvPr/>
        </p:nvSpPr>
        <p:spPr>
          <a:xfrm>
            <a:off x="3798951" y="6096587"/>
            <a:ext cx="46132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模块总数</a:t>
            </a:r>
          </a:p>
        </p:txBody>
      </p:sp>
      <p:cxnSp>
        <p:nvCxnSpPr>
          <p:cNvPr id="145" name="ssep-1"/>
          <p:cNvCxnSpPr/>
          <p:nvPr/>
        </p:nvCxnSpPr>
        <p:spPr>
          <a:xfrm>
            <a:off x="5397500" y="5880100"/>
            <a:ext cx="0" cy="2667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6" name="sv-2"/>
          <p:cNvSpPr txBox="1"/>
          <p:nvPr/>
        </p:nvSpPr>
        <p:spPr>
          <a:xfrm>
            <a:off x="5642864" y="5812917"/>
            <a:ext cx="365506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13</a:t>
            </a:r>
          </a:p>
        </p:txBody>
      </p:sp>
      <p:sp>
        <p:nvSpPr>
          <p:cNvPr id="147" name="sl-2"/>
          <p:cNvSpPr txBox="1"/>
          <p:nvPr/>
        </p:nvSpPr>
        <p:spPr>
          <a:xfrm>
            <a:off x="5653151" y="6096587"/>
            <a:ext cx="36671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已上线</a:t>
            </a:r>
          </a:p>
        </p:txBody>
      </p:sp>
      <p:cxnSp>
        <p:nvCxnSpPr>
          <p:cNvPr id="148" name="ssep-2"/>
          <p:cNvCxnSpPr/>
          <p:nvPr/>
        </p:nvCxnSpPr>
        <p:spPr>
          <a:xfrm>
            <a:off x="7251700" y="5880100"/>
            <a:ext cx="0" cy="2667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9" name="sv-3"/>
          <p:cNvSpPr txBox="1"/>
          <p:nvPr/>
        </p:nvSpPr>
        <p:spPr>
          <a:xfrm>
            <a:off x="7497064" y="5812917"/>
            <a:ext cx="468249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72%</a:t>
            </a:r>
          </a:p>
        </p:txBody>
      </p:sp>
      <p:sp>
        <p:nvSpPr>
          <p:cNvPr id="150" name="sl-3"/>
          <p:cNvSpPr txBox="1"/>
          <p:nvPr/>
        </p:nvSpPr>
        <p:spPr>
          <a:xfrm>
            <a:off x="7507351" y="6096587"/>
            <a:ext cx="36671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覆盖率</a:t>
            </a:r>
          </a:p>
        </p:txBody>
      </p:sp>
      <p:cxnSp>
        <p:nvCxnSpPr>
          <p:cNvPr id="151" name="ssep-3"/>
          <p:cNvCxnSpPr/>
          <p:nvPr/>
        </p:nvCxnSpPr>
        <p:spPr>
          <a:xfrm>
            <a:off x="9105900" y="5880100"/>
            <a:ext cx="0" cy="2667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" name="sv-4"/>
          <p:cNvSpPr txBox="1"/>
          <p:nvPr/>
        </p:nvSpPr>
        <p:spPr>
          <a:xfrm>
            <a:off x="9351264" y="5812917"/>
            <a:ext cx="365506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Q2</a:t>
            </a:r>
          </a:p>
        </p:txBody>
      </p:sp>
      <p:sp>
        <p:nvSpPr>
          <p:cNvPr id="153" name="sl-4"/>
          <p:cNvSpPr txBox="1"/>
          <p:nvPr/>
        </p:nvSpPr>
        <p:spPr>
          <a:xfrm>
            <a:off x="9361551" y="6096587"/>
            <a:ext cx="65055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全量上线目标</a:t>
            </a:r>
          </a:p>
        </p:txBody>
      </p:sp>
      <p:cxnSp>
        <p:nvCxnSpPr>
          <p:cNvPr id="154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5" name="foot-l"/>
          <p:cNvSpPr txBox="1"/>
          <p:nvPr/>
        </p:nvSpPr>
        <p:spPr>
          <a:xfrm>
            <a:off x="573532" y="6532308"/>
            <a:ext cx="124218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模块地图 · 四域十八模块</a:t>
            </a:r>
          </a:p>
        </p:txBody>
      </p:sp>
      <p:sp>
        <p:nvSpPr>
          <p:cNvPr id="156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资金流向分配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44589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FLOW ALLOCATION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894699" y="673132"/>
            <a:ext cx="27260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一笔总预算如何分到四个方向，再落到八个具体用途</a:t>
            </a:r>
          </a:p>
        </p:txBody>
      </p:sp>
      <p:sp>
        <p:nvSpPr>
          <p:cNvPr id="10" name="flow-l-1"/>
          <p:cNvSpPr/>
          <p:nvPr/>
        </p:nvSpPr>
        <p:spPr>
          <a:xfrm>
            <a:off x="2070100" y="1663700"/>
            <a:ext cx="1993900" cy="1273810"/>
          </a:xfrm>
          <a:custGeom>
            <a:avLst/>
            <a:gdLst/>
            <a:ahLst/>
            <a:cxnLst/>
            <a:rect l="0" t="0" r="r" b="b"/>
            <a:pathLst>
              <a:path w="1993900" h="1273810">
                <a:moveTo>
                  <a:pt x="0" y="0"/>
                </a:moveTo>
                <a:cubicBezTo>
                  <a:pt x="1096645" y="0"/>
                  <a:pt x="897255" y="0"/>
                  <a:pt x="1993900" y="0"/>
                </a:cubicBezTo>
                <a:lnTo>
                  <a:pt x="1993900" y="1105535"/>
                </a:lnTo>
                <a:cubicBezTo>
                  <a:pt x="897255" y="1105535"/>
                  <a:pt x="1096645" y="1273810"/>
                  <a:pt x="0" y="1273810"/>
                </a:cubicBezTo>
                <a:close/>
              </a:path>
            </a:pathLst>
          </a:custGeom>
          <a:solidFill>
            <a:srgbClr val="0B3E8F">
              <a:alpha val="2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flow-l-2"/>
          <p:cNvSpPr/>
          <p:nvPr/>
        </p:nvSpPr>
        <p:spPr>
          <a:xfrm>
            <a:off x="2070100" y="2934335"/>
            <a:ext cx="1993900" cy="1052195"/>
          </a:xfrm>
          <a:custGeom>
            <a:avLst/>
            <a:gdLst/>
            <a:ahLst/>
            <a:cxnLst/>
            <a:rect l="0" t="0" r="r" b="b"/>
            <a:pathLst>
              <a:path w="1993900" h="1052195">
                <a:moveTo>
                  <a:pt x="0" y="3175"/>
                </a:moveTo>
                <a:cubicBezTo>
                  <a:pt x="1096645" y="3175"/>
                  <a:pt x="897255" y="0"/>
                  <a:pt x="1993900" y="0"/>
                </a:cubicBezTo>
                <a:lnTo>
                  <a:pt x="1993900" y="909955"/>
                </a:lnTo>
                <a:cubicBezTo>
                  <a:pt x="897255" y="909955"/>
                  <a:pt x="1096645" y="1052195"/>
                  <a:pt x="0" y="1052195"/>
                </a:cubicBezTo>
                <a:close/>
              </a:path>
            </a:pathLst>
          </a:custGeom>
          <a:solidFill>
            <a:srgbClr val="1B5AA8">
              <a:alpha val="2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flow-l-3"/>
          <p:cNvSpPr/>
          <p:nvPr/>
        </p:nvSpPr>
        <p:spPr>
          <a:xfrm>
            <a:off x="2070100" y="3986530"/>
            <a:ext cx="1993900" cy="824230"/>
          </a:xfrm>
          <a:custGeom>
            <a:avLst/>
            <a:gdLst/>
            <a:ahLst/>
            <a:cxnLst/>
            <a:rect l="0" t="0" r="r" b="b"/>
            <a:pathLst>
              <a:path w="1993900" h="824230">
                <a:moveTo>
                  <a:pt x="0" y="0"/>
                </a:moveTo>
                <a:cubicBezTo>
                  <a:pt x="1096645" y="0"/>
                  <a:pt x="897255" y="22860"/>
                  <a:pt x="1993900" y="22860"/>
                </a:cubicBezTo>
                <a:lnTo>
                  <a:pt x="1993900" y="738505"/>
                </a:lnTo>
                <a:cubicBezTo>
                  <a:pt x="897255" y="738505"/>
                  <a:pt x="1096645" y="824230"/>
                  <a:pt x="0" y="824230"/>
                </a:cubicBezTo>
                <a:close/>
              </a:path>
            </a:pathLst>
          </a:custGeom>
          <a:solidFill>
            <a:srgbClr val="3985CD">
              <a:alpha val="2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flow-l-4"/>
          <p:cNvSpPr/>
          <p:nvPr/>
        </p:nvSpPr>
        <p:spPr>
          <a:xfrm>
            <a:off x="2070100" y="4810760"/>
            <a:ext cx="1993900" cy="599440"/>
          </a:xfrm>
          <a:custGeom>
            <a:avLst/>
            <a:gdLst/>
            <a:ahLst/>
            <a:cxnLst/>
            <a:rect l="0" t="0" r="r" b="b"/>
            <a:pathLst>
              <a:path w="1993900" h="599440">
                <a:moveTo>
                  <a:pt x="0" y="0"/>
                </a:moveTo>
                <a:cubicBezTo>
                  <a:pt x="1096645" y="0"/>
                  <a:pt x="897255" y="79375"/>
                  <a:pt x="1993900" y="79375"/>
                </a:cubicBezTo>
                <a:lnTo>
                  <a:pt x="1993900" y="599440"/>
                </a:lnTo>
                <a:cubicBezTo>
                  <a:pt x="897255" y="599440"/>
                  <a:pt x="1096645" y="599440"/>
                  <a:pt x="0" y="599440"/>
                </a:cubicBezTo>
                <a:close/>
              </a:path>
            </a:pathLst>
          </a:custGeom>
          <a:solidFill>
            <a:srgbClr val="54A2DF">
              <a:alpha val="2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flow-r-1"/>
          <p:cNvSpPr/>
          <p:nvPr/>
        </p:nvSpPr>
        <p:spPr>
          <a:xfrm>
            <a:off x="5651500" y="1663700"/>
            <a:ext cx="2540000" cy="650240"/>
          </a:xfrm>
          <a:custGeom>
            <a:avLst/>
            <a:gdLst/>
            <a:ahLst/>
            <a:cxnLst/>
            <a:rect l="0" t="0" r="r" b="b"/>
            <a:pathLst>
              <a:path w="2540000" h="650240">
                <a:moveTo>
                  <a:pt x="0" y="0"/>
                </a:moveTo>
                <a:cubicBezTo>
                  <a:pt x="1397000" y="0"/>
                  <a:pt x="1143000" y="0"/>
                  <a:pt x="2540000" y="0"/>
                </a:cubicBezTo>
                <a:lnTo>
                  <a:pt x="2540000" y="607060"/>
                </a:lnTo>
                <a:cubicBezTo>
                  <a:pt x="1143000" y="607060"/>
                  <a:pt x="1397000" y="650240"/>
                  <a:pt x="0" y="650240"/>
                </a:cubicBezTo>
                <a:close/>
              </a:path>
            </a:pathLst>
          </a:custGeom>
          <a:solidFill>
            <a:srgbClr val="0B3E8F">
              <a:alpha val="2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flow-r-2"/>
          <p:cNvSpPr/>
          <p:nvPr/>
        </p:nvSpPr>
        <p:spPr>
          <a:xfrm>
            <a:off x="5651500" y="2313940"/>
            <a:ext cx="2540000" cy="483235"/>
          </a:xfrm>
          <a:custGeom>
            <a:avLst/>
            <a:gdLst/>
            <a:ahLst/>
            <a:cxnLst/>
            <a:rect l="0" t="0" r="r" b="b"/>
            <a:pathLst>
              <a:path w="2540000" h="483235">
                <a:moveTo>
                  <a:pt x="0" y="0"/>
                </a:moveTo>
                <a:cubicBezTo>
                  <a:pt x="1397000" y="0"/>
                  <a:pt x="1143000" y="58420"/>
                  <a:pt x="2540000" y="58420"/>
                </a:cubicBezTo>
                <a:lnTo>
                  <a:pt x="2540000" y="483235"/>
                </a:lnTo>
                <a:cubicBezTo>
                  <a:pt x="1143000" y="483235"/>
                  <a:pt x="1397000" y="455295"/>
                  <a:pt x="0" y="455295"/>
                </a:cubicBezTo>
                <a:close/>
              </a:path>
            </a:pathLst>
          </a:custGeom>
          <a:solidFill>
            <a:srgbClr val="0B3E8F">
              <a:alpha val="2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flow-r-3"/>
          <p:cNvSpPr/>
          <p:nvPr/>
        </p:nvSpPr>
        <p:spPr>
          <a:xfrm>
            <a:off x="5651500" y="2898775"/>
            <a:ext cx="2540000" cy="588010"/>
          </a:xfrm>
          <a:custGeom>
            <a:avLst/>
            <a:gdLst/>
            <a:ahLst/>
            <a:cxnLst/>
            <a:rect l="0" t="0" r="r" b="b"/>
            <a:pathLst>
              <a:path w="2540000" h="588010">
                <a:moveTo>
                  <a:pt x="0" y="35560"/>
                </a:moveTo>
                <a:cubicBezTo>
                  <a:pt x="1397000" y="35560"/>
                  <a:pt x="1143000" y="0"/>
                  <a:pt x="2540000" y="0"/>
                </a:cubicBezTo>
                <a:lnTo>
                  <a:pt x="2540000" y="516255"/>
                </a:lnTo>
                <a:cubicBezTo>
                  <a:pt x="1143000" y="516255"/>
                  <a:pt x="1397000" y="588010"/>
                  <a:pt x="0" y="588010"/>
                </a:cubicBezTo>
                <a:close/>
              </a:path>
            </a:pathLst>
          </a:custGeom>
          <a:solidFill>
            <a:srgbClr val="1B5AA8">
              <a:alpha val="2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flow-r-4"/>
          <p:cNvSpPr/>
          <p:nvPr/>
        </p:nvSpPr>
        <p:spPr>
          <a:xfrm>
            <a:off x="5651500" y="3486785"/>
            <a:ext cx="2540000" cy="363855"/>
          </a:xfrm>
          <a:custGeom>
            <a:avLst/>
            <a:gdLst/>
            <a:ahLst/>
            <a:cxnLst/>
            <a:rect l="0" t="0" r="r" b="b"/>
            <a:pathLst>
              <a:path w="2540000" h="363855">
                <a:moveTo>
                  <a:pt x="0" y="0"/>
                </a:moveTo>
                <a:cubicBezTo>
                  <a:pt x="1397000" y="0"/>
                  <a:pt x="1143000" y="29845"/>
                  <a:pt x="2540000" y="29845"/>
                </a:cubicBezTo>
                <a:lnTo>
                  <a:pt x="2540000" y="363855"/>
                </a:lnTo>
                <a:cubicBezTo>
                  <a:pt x="1143000" y="363855"/>
                  <a:pt x="1397000" y="357505"/>
                  <a:pt x="0" y="357505"/>
                </a:cubicBezTo>
                <a:close/>
              </a:path>
            </a:pathLst>
          </a:custGeom>
          <a:solidFill>
            <a:srgbClr val="1B5AA8">
              <a:alpha val="2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flow-r-5"/>
          <p:cNvSpPr/>
          <p:nvPr/>
        </p:nvSpPr>
        <p:spPr>
          <a:xfrm>
            <a:off x="5651500" y="3952240"/>
            <a:ext cx="2540000" cy="480060"/>
          </a:xfrm>
          <a:custGeom>
            <a:avLst/>
            <a:gdLst/>
            <a:ahLst/>
            <a:cxnLst/>
            <a:rect l="0" t="0" r="r" b="b"/>
            <a:pathLst>
              <a:path w="2540000" h="480060">
                <a:moveTo>
                  <a:pt x="0" y="57150"/>
                </a:moveTo>
                <a:cubicBezTo>
                  <a:pt x="1397000" y="57150"/>
                  <a:pt x="1143000" y="0"/>
                  <a:pt x="2540000" y="0"/>
                </a:cubicBezTo>
                <a:lnTo>
                  <a:pt x="2540000" y="394335"/>
                </a:lnTo>
                <a:cubicBezTo>
                  <a:pt x="1143000" y="394335"/>
                  <a:pt x="1397000" y="480060"/>
                  <a:pt x="0" y="480060"/>
                </a:cubicBezTo>
                <a:close/>
              </a:path>
            </a:pathLst>
          </a:custGeom>
          <a:solidFill>
            <a:srgbClr val="3985CD">
              <a:alpha val="2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flow-r-6"/>
          <p:cNvSpPr/>
          <p:nvPr/>
        </p:nvSpPr>
        <p:spPr>
          <a:xfrm>
            <a:off x="5651500" y="4432300"/>
            <a:ext cx="2540000" cy="292735"/>
          </a:xfrm>
          <a:custGeom>
            <a:avLst/>
            <a:gdLst/>
            <a:ahLst/>
            <a:cxnLst/>
            <a:rect l="0" t="0" r="r" b="b"/>
            <a:pathLst>
              <a:path w="2540000" h="292735">
                <a:moveTo>
                  <a:pt x="0" y="0"/>
                </a:moveTo>
                <a:cubicBezTo>
                  <a:pt x="1397000" y="0"/>
                  <a:pt x="1143000" y="15875"/>
                  <a:pt x="2540000" y="15875"/>
                </a:cubicBezTo>
                <a:lnTo>
                  <a:pt x="2540000" y="288925"/>
                </a:lnTo>
                <a:cubicBezTo>
                  <a:pt x="1143000" y="288925"/>
                  <a:pt x="1397000" y="292735"/>
                  <a:pt x="0" y="292735"/>
                </a:cubicBezTo>
                <a:close/>
              </a:path>
            </a:pathLst>
          </a:custGeom>
          <a:solidFill>
            <a:srgbClr val="3985CD">
              <a:alpha val="2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flow-r-7"/>
          <p:cNvSpPr/>
          <p:nvPr/>
        </p:nvSpPr>
        <p:spPr>
          <a:xfrm>
            <a:off x="5651500" y="4822825"/>
            <a:ext cx="2540000" cy="392430"/>
          </a:xfrm>
          <a:custGeom>
            <a:avLst/>
            <a:gdLst/>
            <a:ahLst/>
            <a:cxnLst/>
            <a:rect l="0" t="0" r="r" b="b"/>
            <a:pathLst>
              <a:path w="2540000" h="392430">
                <a:moveTo>
                  <a:pt x="0" y="67310"/>
                </a:moveTo>
                <a:cubicBezTo>
                  <a:pt x="1397000" y="67310"/>
                  <a:pt x="1143000" y="0"/>
                  <a:pt x="2540000" y="0"/>
                </a:cubicBezTo>
                <a:lnTo>
                  <a:pt x="2540000" y="303530"/>
                </a:lnTo>
                <a:cubicBezTo>
                  <a:pt x="1143000" y="303530"/>
                  <a:pt x="1397000" y="392430"/>
                  <a:pt x="0" y="392430"/>
                </a:cubicBezTo>
                <a:close/>
              </a:path>
            </a:pathLst>
          </a:custGeom>
          <a:solidFill>
            <a:srgbClr val="54A2DF">
              <a:alpha val="2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flow-r-8"/>
          <p:cNvSpPr/>
          <p:nvPr/>
        </p:nvSpPr>
        <p:spPr>
          <a:xfrm>
            <a:off x="5651500" y="5215255"/>
            <a:ext cx="2540000" cy="194945"/>
          </a:xfrm>
          <a:custGeom>
            <a:avLst/>
            <a:gdLst/>
            <a:ahLst/>
            <a:cxnLst/>
            <a:rect l="0" t="0" r="r" b="b"/>
            <a:pathLst>
              <a:path w="2540000" h="194945">
                <a:moveTo>
                  <a:pt x="0" y="0"/>
                </a:moveTo>
                <a:cubicBezTo>
                  <a:pt x="1397000" y="0"/>
                  <a:pt x="1143000" y="12700"/>
                  <a:pt x="2540000" y="12700"/>
                </a:cubicBezTo>
                <a:lnTo>
                  <a:pt x="2540000" y="194945"/>
                </a:lnTo>
                <a:cubicBezTo>
                  <a:pt x="1143000" y="194945"/>
                  <a:pt x="1397000" y="194945"/>
                  <a:pt x="0" y="194945"/>
                </a:cubicBezTo>
                <a:close/>
              </a:path>
            </a:pathLst>
          </a:custGeom>
          <a:solidFill>
            <a:srgbClr val="54A2DF">
              <a:alpha val="2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total"/>
          <p:cNvSpPr/>
          <p:nvPr/>
        </p:nvSpPr>
        <p:spPr>
          <a:xfrm>
            <a:off x="952500" y="1663700"/>
            <a:ext cx="1117600" cy="3746500"/>
          </a:xfrm>
          <a:custGeom>
            <a:avLst/>
            <a:gdLst/>
            <a:ahLst/>
            <a:cxnLst/>
            <a:rect l="0" t="0" r="r" b="b"/>
            <a:pathLst>
              <a:path w="1117600" h="3746500">
                <a:moveTo>
                  <a:pt x="114300" y="0"/>
                </a:moveTo>
                <a:lnTo>
                  <a:pt x="1003300" y="0"/>
                </a:lnTo>
                <a:cubicBezTo>
                  <a:pt x="1066419" y="0"/>
                  <a:pt x="1117600" y="51181"/>
                  <a:pt x="1117600" y="114300"/>
                </a:cubicBezTo>
                <a:lnTo>
                  <a:pt x="1117600" y="3632200"/>
                </a:lnTo>
                <a:cubicBezTo>
                  <a:pt x="1117600" y="3695319"/>
                  <a:pt x="1066419" y="3746500"/>
                  <a:pt x="1003300" y="3746500"/>
                </a:cubicBezTo>
                <a:lnTo>
                  <a:pt x="114300" y="3746500"/>
                </a:lnTo>
                <a:cubicBezTo>
                  <a:pt x="51181" y="3746500"/>
                  <a:pt x="0" y="3695319"/>
                  <a:pt x="0" y="36322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0A3A88"/>
              </a:gs>
            </a:gsLst>
            <a:lin ang="7440000" scaled="0"/>
          </a:gra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icon-coin"/>
          <p:cNvSpPr/>
          <p:nvPr/>
        </p:nvSpPr>
        <p:spPr>
          <a:xfrm>
            <a:off x="1443546" y="2214054"/>
            <a:ext cx="135509" cy="118491"/>
          </a:xfrm>
          <a:custGeom>
            <a:avLst/>
            <a:gdLst/>
            <a:ahLst/>
            <a:cxnLst/>
            <a:rect l="0" t="0" r="r" b="b"/>
            <a:pathLst>
              <a:path w="135509" h="118491">
                <a:moveTo>
                  <a:pt x="67754" y="0"/>
                </a:moveTo>
                <a:cubicBezTo>
                  <a:pt x="29654" y="0"/>
                  <a:pt x="0" y="10541"/>
                  <a:pt x="0" y="25400"/>
                </a:cubicBezTo>
                <a:cubicBezTo>
                  <a:pt x="0" y="40195"/>
                  <a:pt x="29654" y="50800"/>
                  <a:pt x="67754" y="50800"/>
                </a:cubicBezTo>
                <a:cubicBezTo>
                  <a:pt x="105854" y="50800"/>
                  <a:pt x="135509" y="40195"/>
                  <a:pt x="135509" y="25400"/>
                </a:cubicBezTo>
                <a:cubicBezTo>
                  <a:pt x="135509" y="10541"/>
                  <a:pt x="105854" y="0"/>
                  <a:pt x="67754" y="0"/>
                </a:cubicBezTo>
                <a:close/>
                <a:moveTo>
                  <a:pt x="0" y="25400"/>
                </a:moveTo>
                <a:lnTo>
                  <a:pt x="0" y="93091"/>
                </a:lnTo>
                <a:cubicBezTo>
                  <a:pt x="0" y="107950"/>
                  <a:pt x="29654" y="118491"/>
                  <a:pt x="67754" y="118491"/>
                </a:cubicBezTo>
                <a:cubicBezTo>
                  <a:pt x="105854" y="118491"/>
                  <a:pt x="135509" y="107950"/>
                  <a:pt x="135509" y="93091"/>
                </a:cubicBezTo>
                <a:lnTo>
                  <a:pt x="135509" y="25400"/>
                </a:lnTo>
              </a:path>
            </a:pathLst>
          </a:custGeom>
          <a:noFill/>
          <a:ln w="1397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tot-v"/>
          <p:cNvSpPr txBox="1"/>
          <p:nvPr/>
        </p:nvSpPr>
        <p:spPr>
          <a:xfrm>
            <a:off x="980186" y="2500503"/>
            <a:ext cx="1062228" cy="5778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600" b="1" spc="50">
                <a:solidFill>
                  <a:srgbClr val="FFFFFF"/>
                </a:solidFill>
                <a:latin typeface="Arial"/>
                <a:ea typeface="Arial"/>
                <a:cs typeface="Arial"/>
              </a:rPr>
              <a:t>12.6</a:t>
            </a:r>
          </a:p>
        </p:txBody>
      </p:sp>
      <p:sp>
        <p:nvSpPr>
          <p:cNvPr id="25" name="tot-u"/>
          <p:cNvSpPr txBox="1"/>
          <p:nvPr/>
        </p:nvSpPr>
        <p:spPr>
          <a:xfrm>
            <a:off x="1330008" y="2987897"/>
            <a:ext cx="362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5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亿元</a:t>
            </a:r>
          </a:p>
        </p:txBody>
      </p:sp>
      <p:sp>
        <p:nvSpPr>
          <p:cNvPr id="26" name="tot-rule"/>
          <p:cNvSpPr/>
          <p:nvPr/>
        </p:nvSpPr>
        <p:spPr>
          <a:xfrm>
            <a:off x="1333500" y="3276600"/>
            <a:ext cx="355600" cy="19050"/>
          </a:xfrm>
          <a:prstGeom prst="roundRect">
            <a:avLst>
              <a:gd name="adj" fmla="val 50000"/>
            </a:avLst>
          </a:prstGeom>
          <a:solidFill>
            <a:srgbClr val="FFFFFF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tot-l"/>
          <p:cNvSpPr txBox="1"/>
          <p:nvPr/>
        </p:nvSpPr>
        <p:spPr>
          <a:xfrm>
            <a:off x="1167606" y="3431461"/>
            <a:ext cx="68738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50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年度总预算</a:t>
            </a:r>
          </a:p>
        </p:txBody>
      </p:sp>
      <p:sp>
        <p:nvSpPr>
          <p:cNvPr id="28" name="tot-pct"/>
          <p:cNvSpPr txBox="1"/>
          <p:nvPr/>
        </p:nvSpPr>
        <p:spPr>
          <a:xfrm>
            <a:off x="1291971" y="5047170"/>
            <a:ext cx="438658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>
                    <a:alpha val="55000"/>
                  </a:srgbClr>
                </a:solidFill>
                <a:latin typeface="Arial"/>
                <a:ea typeface="Arial"/>
                <a:cs typeface="Arial"/>
              </a:rPr>
              <a:t>100%</a:t>
            </a:r>
          </a:p>
        </p:txBody>
      </p:sp>
      <p:sp>
        <p:nvSpPr>
          <p:cNvPr id="29" name="mid-1"/>
          <p:cNvSpPr/>
          <p:nvPr/>
        </p:nvSpPr>
        <p:spPr>
          <a:xfrm>
            <a:off x="4064000" y="1663700"/>
            <a:ext cx="1587500" cy="1105408"/>
          </a:xfrm>
          <a:custGeom>
            <a:avLst/>
            <a:gdLst/>
            <a:ahLst/>
            <a:cxnLst/>
            <a:rect l="0" t="0" r="r" b="b"/>
            <a:pathLst>
              <a:path w="1587500" h="1105408">
                <a:moveTo>
                  <a:pt x="101600" y="0"/>
                </a:moveTo>
                <a:lnTo>
                  <a:pt x="1485900" y="0"/>
                </a:lnTo>
                <a:cubicBezTo>
                  <a:pt x="1542034" y="0"/>
                  <a:pt x="1587500" y="45466"/>
                  <a:pt x="1587500" y="101600"/>
                </a:cubicBezTo>
                <a:lnTo>
                  <a:pt x="1587500" y="1003808"/>
                </a:lnTo>
                <a:cubicBezTo>
                  <a:pt x="1587500" y="1059942"/>
                  <a:pt x="1542034" y="1105408"/>
                  <a:pt x="1485900" y="1105408"/>
                </a:cubicBezTo>
                <a:lnTo>
                  <a:pt x="101600" y="1105408"/>
                </a:lnTo>
                <a:cubicBezTo>
                  <a:pt x="45466" y="1105408"/>
                  <a:pt x="0" y="1059942"/>
                  <a:pt x="0" y="1003808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2D599F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icon-code"/>
          <p:cNvSpPr/>
          <p:nvPr/>
        </p:nvSpPr>
        <p:spPr>
          <a:xfrm>
            <a:off x="4301300" y="2110550"/>
            <a:ext cx="109601" cy="59309"/>
          </a:xfrm>
          <a:custGeom>
            <a:avLst/>
            <a:gdLst/>
            <a:ahLst/>
            <a:cxnLst/>
            <a:rect l="0" t="0" r="r" b="b"/>
            <a:pathLst>
              <a:path w="109601" h="59309">
                <a:moveTo>
                  <a:pt x="32575" y="0"/>
                </a:moveTo>
                <a:lnTo>
                  <a:pt x="0" y="29655"/>
                </a:lnTo>
                <a:lnTo>
                  <a:pt x="32575" y="59309"/>
                </a:lnTo>
                <a:moveTo>
                  <a:pt x="77025" y="0"/>
                </a:moveTo>
                <a:lnTo>
                  <a:pt x="109601" y="29655"/>
                </a:lnTo>
                <a:lnTo>
                  <a:pt x="77025" y="59309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midn-1"/>
          <p:cNvSpPr txBox="1"/>
          <p:nvPr/>
        </p:nvSpPr>
        <p:spPr>
          <a:xfrm>
            <a:off x="4567936" y="2018474"/>
            <a:ext cx="7353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研发投入</a:t>
            </a:r>
          </a:p>
        </p:txBody>
      </p:sp>
      <p:sp>
        <p:nvSpPr>
          <p:cNvPr id="32" name="midp-1"/>
          <p:cNvSpPr txBox="1"/>
          <p:nvPr/>
        </p:nvSpPr>
        <p:spPr>
          <a:xfrm>
            <a:off x="4572508" y="2268728"/>
            <a:ext cx="85699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25">
                <a:solidFill>
                  <a:srgbClr val="FFFFFF">
                    <a:alpha val="82000"/>
                  </a:srgbClr>
                </a:solidFill>
                <a:latin typeface="微软雅黑"/>
                <a:ea typeface="微软雅黑"/>
                <a:cs typeface="微软雅黑"/>
              </a:rPr>
              <a:t>34% · 4.28 亿</a:t>
            </a:r>
          </a:p>
        </p:txBody>
      </p:sp>
      <p:sp>
        <p:nvSpPr>
          <p:cNvPr id="33" name="mid-2"/>
          <p:cNvSpPr/>
          <p:nvPr/>
        </p:nvSpPr>
        <p:spPr>
          <a:xfrm>
            <a:off x="4064000" y="2934208"/>
            <a:ext cx="1587500" cy="910336"/>
          </a:xfrm>
          <a:custGeom>
            <a:avLst/>
            <a:gdLst/>
            <a:ahLst/>
            <a:cxnLst/>
            <a:rect l="0" t="0" r="r" b="b"/>
            <a:pathLst>
              <a:path w="1587500" h="910336">
                <a:moveTo>
                  <a:pt x="101600" y="0"/>
                </a:moveTo>
                <a:lnTo>
                  <a:pt x="1485900" y="0"/>
                </a:lnTo>
                <a:cubicBezTo>
                  <a:pt x="1542034" y="0"/>
                  <a:pt x="1587500" y="45466"/>
                  <a:pt x="1587500" y="101600"/>
                </a:cubicBezTo>
                <a:lnTo>
                  <a:pt x="1587500" y="808736"/>
                </a:lnTo>
                <a:cubicBezTo>
                  <a:pt x="1587500" y="864870"/>
                  <a:pt x="1542034" y="910336"/>
                  <a:pt x="1485900" y="910336"/>
                </a:cubicBezTo>
                <a:lnTo>
                  <a:pt x="101600" y="910336"/>
                </a:lnTo>
                <a:cubicBezTo>
                  <a:pt x="45466" y="910336"/>
                  <a:pt x="0" y="864870"/>
                  <a:pt x="0" y="808736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3B71B4"/>
              </a:gs>
              <a:gs pos="100000">
                <a:srgbClr val="1B5AA8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icon-factory"/>
          <p:cNvSpPr/>
          <p:nvPr/>
        </p:nvSpPr>
        <p:spPr>
          <a:xfrm>
            <a:off x="4292410" y="3285046"/>
            <a:ext cx="127381" cy="85915"/>
          </a:xfrm>
          <a:custGeom>
            <a:avLst/>
            <a:gdLst/>
            <a:ahLst/>
            <a:cxnLst/>
            <a:rect l="0" t="0" r="r" b="b"/>
            <a:pathLst>
              <a:path w="127381" h="85915">
                <a:moveTo>
                  <a:pt x="0" y="85915"/>
                </a:moveTo>
                <a:lnTo>
                  <a:pt x="0" y="20701"/>
                </a:lnTo>
                <a:lnTo>
                  <a:pt x="37020" y="42926"/>
                </a:lnTo>
                <a:lnTo>
                  <a:pt x="37020" y="20701"/>
                </a:lnTo>
                <a:lnTo>
                  <a:pt x="74041" y="42926"/>
                </a:lnTo>
                <a:lnTo>
                  <a:pt x="74041" y="0"/>
                </a:lnTo>
                <a:lnTo>
                  <a:pt x="111125" y="22225"/>
                </a:lnTo>
                <a:lnTo>
                  <a:pt x="111125" y="78486"/>
                </a:lnTo>
                <a:close/>
                <a:moveTo>
                  <a:pt x="0" y="85915"/>
                </a:moveTo>
                <a:lnTo>
                  <a:pt x="127381" y="85915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midn-2"/>
          <p:cNvSpPr txBox="1"/>
          <p:nvPr/>
        </p:nvSpPr>
        <p:spPr>
          <a:xfrm>
            <a:off x="4567936" y="3191446"/>
            <a:ext cx="7353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产能建设</a:t>
            </a:r>
          </a:p>
        </p:txBody>
      </p:sp>
      <p:sp>
        <p:nvSpPr>
          <p:cNvPr id="36" name="midp-2"/>
          <p:cNvSpPr txBox="1"/>
          <p:nvPr/>
        </p:nvSpPr>
        <p:spPr>
          <a:xfrm>
            <a:off x="4572508" y="3441700"/>
            <a:ext cx="85699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25">
                <a:solidFill>
                  <a:srgbClr val="FFFFFF">
                    <a:alpha val="82000"/>
                  </a:srgbClr>
                </a:solidFill>
                <a:latin typeface="微软雅黑"/>
                <a:ea typeface="微软雅黑"/>
                <a:cs typeface="微软雅黑"/>
              </a:rPr>
              <a:t>28% · 3.53 亿</a:t>
            </a:r>
          </a:p>
        </p:txBody>
      </p:sp>
      <p:sp>
        <p:nvSpPr>
          <p:cNvPr id="37" name="mid-3"/>
          <p:cNvSpPr/>
          <p:nvPr/>
        </p:nvSpPr>
        <p:spPr>
          <a:xfrm>
            <a:off x="4064000" y="4009644"/>
            <a:ext cx="1587500" cy="715264"/>
          </a:xfrm>
          <a:custGeom>
            <a:avLst/>
            <a:gdLst/>
            <a:ahLst/>
            <a:cxnLst/>
            <a:rect l="0" t="0" r="r" b="b"/>
            <a:pathLst>
              <a:path w="1587500" h="715264">
                <a:moveTo>
                  <a:pt x="101600" y="0"/>
                </a:moveTo>
                <a:lnTo>
                  <a:pt x="1485900" y="0"/>
                </a:lnTo>
                <a:cubicBezTo>
                  <a:pt x="1542034" y="0"/>
                  <a:pt x="1587500" y="45466"/>
                  <a:pt x="1587500" y="101600"/>
                </a:cubicBezTo>
                <a:lnTo>
                  <a:pt x="1587500" y="613664"/>
                </a:lnTo>
                <a:cubicBezTo>
                  <a:pt x="1587500" y="669798"/>
                  <a:pt x="1542034" y="715264"/>
                  <a:pt x="1485900" y="715264"/>
                </a:cubicBezTo>
                <a:lnTo>
                  <a:pt x="101600" y="715264"/>
                </a:lnTo>
                <a:cubicBezTo>
                  <a:pt x="45466" y="715264"/>
                  <a:pt x="0" y="669798"/>
                  <a:pt x="0" y="613664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5596D4"/>
              </a:gs>
              <a:gs pos="100000">
                <a:srgbClr val="3985CD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icon-megaphone"/>
          <p:cNvSpPr/>
          <p:nvPr/>
        </p:nvSpPr>
        <p:spPr>
          <a:xfrm>
            <a:off x="4307205" y="4245166"/>
            <a:ext cx="96330" cy="91821"/>
          </a:xfrm>
          <a:custGeom>
            <a:avLst/>
            <a:gdLst/>
            <a:ahLst/>
            <a:cxnLst/>
            <a:rect l="0" t="0" r="r" b="b"/>
            <a:pathLst>
              <a:path w="96330" h="91821">
                <a:moveTo>
                  <a:pt x="0" y="28131"/>
                </a:moveTo>
                <a:lnTo>
                  <a:pt x="0" y="63690"/>
                </a:lnTo>
                <a:lnTo>
                  <a:pt x="22225" y="63690"/>
                </a:lnTo>
                <a:lnTo>
                  <a:pt x="75565" y="91821"/>
                </a:lnTo>
                <a:lnTo>
                  <a:pt x="75565" y="0"/>
                </a:lnTo>
                <a:lnTo>
                  <a:pt x="22225" y="28131"/>
                </a:lnTo>
                <a:close/>
                <a:moveTo>
                  <a:pt x="96330" y="31115"/>
                </a:moveTo>
                <a:lnTo>
                  <a:pt x="96330" y="60706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midn-3"/>
          <p:cNvSpPr txBox="1"/>
          <p:nvPr/>
        </p:nvSpPr>
        <p:spPr>
          <a:xfrm>
            <a:off x="4567936" y="4169347"/>
            <a:ext cx="7353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市场拓展</a:t>
            </a:r>
          </a:p>
        </p:txBody>
      </p:sp>
      <p:sp>
        <p:nvSpPr>
          <p:cNvPr id="40" name="midp-3"/>
          <p:cNvSpPr txBox="1"/>
          <p:nvPr/>
        </p:nvSpPr>
        <p:spPr>
          <a:xfrm>
            <a:off x="4572508" y="4419600"/>
            <a:ext cx="85699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25">
                <a:solidFill>
                  <a:srgbClr val="FFFFFF">
                    <a:alpha val="82000"/>
                  </a:srgbClr>
                </a:solidFill>
                <a:latin typeface="微软雅黑"/>
                <a:ea typeface="微软雅黑"/>
                <a:cs typeface="微软雅黑"/>
              </a:rPr>
              <a:t>22% · 2.77 亿</a:t>
            </a:r>
          </a:p>
        </p:txBody>
      </p:sp>
      <p:sp>
        <p:nvSpPr>
          <p:cNvPr id="41" name="mid-4"/>
          <p:cNvSpPr/>
          <p:nvPr/>
        </p:nvSpPr>
        <p:spPr>
          <a:xfrm>
            <a:off x="4064000" y="4890008"/>
            <a:ext cx="1587500" cy="520192"/>
          </a:xfrm>
          <a:custGeom>
            <a:avLst/>
            <a:gdLst/>
            <a:ahLst/>
            <a:cxnLst/>
            <a:rect l="0" t="0" r="r" b="b"/>
            <a:pathLst>
              <a:path w="1587500" h="520192">
                <a:moveTo>
                  <a:pt x="101600" y="0"/>
                </a:moveTo>
                <a:lnTo>
                  <a:pt x="1485900" y="0"/>
                </a:lnTo>
                <a:cubicBezTo>
                  <a:pt x="1542034" y="0"/>
                  <a:pt x="1587500" y="45466"/>
                  <a:pt x="1587500" y="101600"/>
                </a:cubicBezTo>
                <a:lnTo>
                  <a:pt x="1587500" y="418592"/>
                </a:lnTo>
                <a:cubicBezTo>
                  <a:pt x="1587500" y="474726"/>
                  <a:pt x="1542034" y="520192"/>
                  <a:pt x="1485900" y="520192"/>
                </a:cubicBezTo>
                <a:lnTo>
                  <a:pt x="101600" y="520192"/>
                </a:lnTo>
                <a:cubicBezTo>
                  <a:pt x="45466" y="520192"/>
                  <a:pt x="0" y="474726"/>
                  <a:pt x="0" y="418592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6CAFE3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icon-people"/>
          <p:cNvSpPr/>
          <p:nvPr/>
        </p:nvSpPr>
        <p:spPr>
          <a:xfrm>
            <a:off x="4293870" y="5093144"/>
            <a:ext cx="125920" cy="35560"/>
          </a:xfrm>
          <a:custGeom>
            <a:avLst/>
            <a:gdLst/>
            <a:ahLst/>
            <a:cxnLst/>
            <a:rect l="0" t="0" r="r" b="b"/>
            <a:pathLst>
              <a:path w="125920" h="35560">
                <a:moveTo>
                  <a:pt x="0" y="35560"/>
                </a:moveTo>
                <a:cubicBezTo>
                  <a:pt x="0" y="13335"/>
                  <a:pt x="18542" y="0"/>
                  <a:pt x="40005" y="0"/>
                </a:cubicBezTo>
                <a:cubicBezTo>
                  <a:pt x="61468" y="0"/>
                  <a:pt x="80010" y="13335"/>
                  <a:pt x="80010" y="35560"/>
                </a:cubicBezTo>
                <a:moveTo>
                  <a:pt x="94805" y="2984"/>
                </a:moveTo>
                <a:cubicBezTo>
                  <a:pt x="114109" y="5207"/>
                  <a:pt x="125920" y="18542"/>
                  <a:pt x="125920" y="35560"/>
                </a:cubicBez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icon-people"/>
          <p:cNvSpPr/>
          <p:nvPr/>
        </p:nvSpPr>
        <p:spPr>
          <a:xfrm>
            <a:off x="4310168" y="5029454"/>
            <a:ext cx="47413" cy="47413"/>
          </a:xfrm>
          <a:prstGeom prst="ellipse">
            <a:avLst/>
          </a:pr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icon-people"/>
          <p:cNvSpPr/>
          <p:nvPr/>
        </p:nvSpPr>
        <p:spPr>
          <a:xfrm>
            <a:off x="4373880" y="5029454"/>
            <a:ext cx="38523" cy="38523"/>
          </a:xfrm>
          <a:prstGeom prst="ellipse">
            <a:avLst/>
          </a:pr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midn-4"/>
          <p:cNvSpPr txBox="1"/>
          <p:nvPr/>
        </p:nvSpPr>
        <p:spPr>
          <a:xfrm>
            <a:off x="4567936" y="4952175"/>
            <a:ext cx="8877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组织与管理</a:t>
            </a:r>
          </a:p>
        </p:txBody>
      </p:sp>
      <p:sp>
        <p:nvSpPr>
          <p:cNvPr id="46" name="midp-4"/>
          <p:cNvSpPr txBox="1"/>
          <p:nvPr/>
        </p:nvSpPr>
        <p:spPr>
          <a:xfrm>
            <a:off x="4572508" y="5202428"/>
            <a:ext cx="85699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25">
                <a:solidFill>
                  <a:srgbClr val="FFFFFF">
                    <a:alpha val="82000"/>
                  </a:srgbClr>
                </a:solidFill>
                <a:latin typeface="微软雅黑"/>
                <a:ea typeface="微软雅黑"/>
                <a:cs typeface="微软雅黑"/>
              </a:rPr>
              <a:t>16% · 2.02 亿</a:t>
            </a:r>
          </a:p>
        </p:txBody>
      </p:sp>
      <p:sp>
        <p:nvSpPr>
          <p:cNvPr id="47" name="rt-1"/>
          <p:cNvSpPr/>
          <p:nvPr/>
        </p:nvSpPr>
        <p:spPr>
          <a:xfrm>
            <a:off x="8191500" y="1663700"/>
            <a:ext cx="2095500" cy="607060"/>
          </a:xfrm>
          <a:custGeom>
            <a:avLst/>
            <a:gdLst/>
            <a:ahLst/>
            <a:cxnLst/>
            <a:rect l="0" t="0" r="r" b="b"/>
            <a:pathLst>
              <a:path w="2095500" h="607060">
                <a:moveTo>
                  <a:pt x="88900" y="0"/>
                </a:moveTo>
                <a:lnTo>
                  <a:pt x="2006600" y="0"/>
                </a:lnTo>
                <a:cubicBezTo>
                  <a:pt x="2055686" y="0"/>
                  <a:pt x="2095500" y="39814"/>
                  <a:pt x="2095500" y="88900"/>
                </a:cubicBezTo>
                <a:lnTo>
                  <a:pt x="2095500" y="518160"/>
                </a:lnTo>
                <a:cubicBezTo>
                  <a:pt x="2095500" y="567245"/>
                  <a:pt x="2055686" y="607060"/>
                  <a:pt x="2006600" y="607060"/>
                </a:cubicBezTo>
                <a:lnTo>
                  <a:pt x="88900" y="607060"/>
                </a:lnTo>
                <a:cubicBezTo>
                  <a:pt x="39814" y="607060"/>
                  <a:pt x="0" y="567245"/>
                  <a:pt x="0" y="51816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rtb-1"/>
          <p:cNvSpPr/>
          <p:nvPr/>
        </p:nvSpPr>
        <p:spPr>
          <a:xfrm>
            <a:off x="8191500" y="1663700"/>
            <a:ext cx="31750" cy="607060"/>
          </a:xfrm>
          <a:custGeom>
            <a:avLst/>
            <a:gdLst/>
            <a:ahLst/>
            <a:cxnLst/>
            <a:rect l="0" t="0" r="r" b="b"/>
            <a:pathLst>
              <a:path w="31750" h="60706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591185"/>
                </a:lnTo>
                <a:cubicBezTo>
                  <a:pt x="31750" y="599948"/>
                  <a:pt x="24638" y="607060"/>
                  <a:pt x="15875" y="607060"/>
                </a:cubicBezTo>
                <a:lnTo>
                  <a:pt x="15875" y="607060"/>
                </a:lnTo>
                <a:cubicBezTo>
                  <a:pt x="7112" y="607060"/>
                  <a:pt x="0" y="599948"/>
                  <a:pt x="0" y="59118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rtn-1"/>
          <p:cNvSpPr txBox="1"/>
          <p:nvPr/>
        </p:nvSpPr>
        <p:spPr>
          <a:xfrm>
            <a:off x="8342122" y="1862677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平台研发</a:t>
            </a:r>
          </a:p>
        </p:txBody>
      </p:sp>
      <p:sp>
        <p:nvSpPr>
          <p:cNvPr id="50" name="rtp-1"/>
          <p:cNvSpPr txBox="1"/>
          <p:nvPr/>
        </p:nvSpPr>
        <p:spPr>
          <a:xfrm>
            <a:off x="9398381" y="1869027"/>
            <a:ext cx="31889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20">
                <a:solidFill>
                  <a:srgbClr val="0B3E8F"/>
                </a:solidFill>
                <a:latin typeface="Arial"/>
                <a:ea typeface="Arial"/>
                <a:cs typeface="Arial"/>
              </a:rPr>
              <a:t>20%</a:t>
            </a:r>
          </a:p>
        </p:txBody>
      </p:sp>
      <p:sp>
        <p:nvSpPr>
          <p:cNvPr id="51" name="rtv-1"/>
          <p:cNvSpPr txBox="1"/>
          <p:nvPr/>
        </p:nvSpPr>
        <p:spPr>
          <a:xfrm>
            <a:off x="9741408" y="1901888"/>
            <a:ext cx="4292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2.52 亿</a:t>
            </a:r>
          </a:p>
        </p:txBody>
      </p:sp>
      <p:sp>
        <p:nvSpPr>
          <p:cNvPr id="52" name="rt-2"/>
          <p:cNvSpPr/>
          <p:nvPr/>
        </p:nvSpPr>
        <p:spPr>
          <a:xfrm>
            <a:off x="8191500" y="2372360"/>
            <a:ext cx="2095500" cy="424942"/>
          </a:xfrm>
          <a:custGeom>
            <a:avLst/>
            <a:gdLst/>
            <a:ahLst/>
            <a:cxnLst/>
            <a:rect l="0" t="0" r="r" b="b"/>
            <a:pathLst>
              <a:path w="2095500" h="424942">
                <a:moveTo>
                  <a:pt x="88900" y="0"/>
                </a:moveTo>
                <a:lnTo>
                  <a:pt x="2006600" y="0"/>
                </a:lnTo>
                <a:cubicBezTo>
                  <a:pt x="2055686" y="0"/>
                  <a:pt x="2095500" y="39814"/>
                  <a:pt x="2095500" y="88900"/>
                </a:cubicBezTo>
                <a:lnTo>
                  <a:pt x="2095500" y="336042"/>
                </a:lnTo>
                <a:cubicBezTo>
                  <a:pt x="2095500" y="385127"/>
                  <a:pt x="2055686" y="424942"/>
                  <a:pt x="2006600" y="424942"/>
                </a:cubicBezTo>
                <a:lnTo>
                  <a:pt x="88900" y="424942"/>
                </a:lnTo>
                <a:cubicBezTo>
                  <a:pt x="39814" y="424942"/>
                  <a:pt x="0" y="385127"/>
                  <a:pt x="0" y="336042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rtb-2"/>
          <p:cNvSpPr/>
          <p:nvPr/>
        </p:nvSpPr>
        <p:spPr>
          <a:xfrm>
            <a:off x="8191500" y="2372360"/>
            <a:ext cx="31750" cy="424942"/>
          </a:xfrm>
          <a:custGeom>
            <a:avLst/>
            <a:gdLst/>
            <a:ahLst/>
            <a:cxnLst/>
            <a:rect l="0" t="0" r="r" b="b"/>
            <a:pathLst>
              <a:path w="31750" h="424942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09067"/>
                </a:lnTo>
                <a:cubicBezTo>
                  <a:pt x="31750" y="417830"/>
                  <a:pt x="24638" y="424942"/>
                  <a:pt x="15875" y="424942"/>
                </a:cubicBezTo>
                <a:lnTo>
                  <a:pt x="15875" y="424942"/>
                </a:lnTo>
                <a:cubicBezTo>
                  <a:pt x="7112" y="424942"/>
                  <a:pt x="0" y="417830"/>
                  <a:pt x="0" y="409067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rtn-2"/>
          <p:cNvSpPr txBox="1"/>
          <p:nvPr/>
        </p:nvSpPr>
        <p:spPr>
          <a:xfrm>
            <a:off x="8342122" y="2480278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新品试制</a:t>
            </a:r>
          </a:p>
        </p:txBody>
      </p:sp>
      <p:sp>
        <p:nvSpPr>
          <p:cNvPr id="55" name="rtp-2"/>
          <p:cNvSpPr txBox="1"/>
          <p:nvPr/>
        </p:nvSpPr>
        <p:spPr>
          <a:xfrm>
            <a:off x="9398381" y="2486628"/>
            <a:ext cx="31889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20">
                <a:solidFill>
                  <a:srgbClr val="0B3E8F"/>
                </a:solidFill>
                <a:latin typeface="Arial"/>
                <a:ea typeface="Arial"/>
                <a:cs typeface="Arial"/>
              </a:rPr>
              <a:t>14%</a:t>
            </a:r>
          </a:p>
        </p:txBody>
      </p:sp>
      <p:sp>
        <p:nvSpPr>
          <p:cNvPr id="56" name="rtv-2"/>
          <p:cNvSpPr txBox="1"/>
          <p:nvPr/>
        </p:nvSpPr>
        <p:spPr>
          <a:xfrm>
            <a:off x="9741408" y="2519490"/>
            <a:ext cx="4292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1.76 亿</a:t>
            </a:r>
          </a:p>
        </p:txBody>
      </p:sp>
      <p:sp>
        <p:nvSpPr>
          <p:cNvPr id="57" name="rt-3"/>
          <p:cNvSpPr/>
          <p:nvPr/>
        </p:nvSpPr>
        <p:spPr>
          <a:xfrm>
            <a:off x="8191500" y="2898902"/>
            <a:ext cx="2095500" cy="516001"/>
          </a:xfrm>
          <a:custGeom>
            <a:avLst/>
            <a:gdLst/>
            <a:ahLst/>
            <a:cxnLst/>
            <a:rect l="0" t="0" r="r" b="b"/>
            <a:pathLst>
              <a:path w="2095500" h="516001">
                <a:moveTo>
                  <a:pt x="88900" y="0"/>
                </a:moveTo>
                <a:lnTo>
                  <a:pt x="2006600" y="0"/>
                </a:lnTo>
                <a:cubicBezTo>
                  <a:pt x="2055686" y="0"/>
                  <a:pt x="2095500" y="39815"/>
                  <a:pt x="2095500" y="88900"/>
                </a:cubicBezTo>
                <a:lnTo>
                  <a:pt x="2095500" y="427101"/>
                </a:lnTo>
                <a:cubicBezTo>
                  <a:pt x="2095500" y="476187"/>
                  <a:pt x="2055686" y="516001"/>
                  <a:pt x="2006600" y="516001"/>
                </a:cubicBezTo>
                <a:lnTo>
                  <a:pt x="88900" y="516001"/>
                </a:lnTo>
                <a:cubicBezTo>
                  <a:pt x="39814" y="516001"/>
                  <a:pt x="0" y="476187"/>
                  <a:pt x="0" y="427101"/>
                </a:cubicBezTo>
                <a:lnTo>
                  <a:pt x="0" y="88900"/>
                </a:lnTo>
                <a:cubicBezTo>
                  <a:pt x="0" y="39815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rtb-3"/>
          <p:cNvSpPr/>
          <p:nvPr/>
        </p:nvSpPr>
        <p:spPr>
          <a:xfrm>
            <a:off x="8191500" y="2898902"/>
            <a:ext cx="31750" cy="516001"/>
          </a:xfrm>
          <a:custGeom>
            <a:avLst/>
            <a:gdLst/>
            <a:ahLst/>
            <a:cxnLst/>
            <a:rect l="0" t="0" r="r" b="b"/>
            <a:pathLst>
              <a:path w="31750" h="516001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500126"/>
                </a:lnTo>
                <a:cubicBezTo>
                  <a:pt x="31750" y="508889"/>
                  <a:pt x="24638" y="516001"/>
                  <a:pt x="15875" y="516001"/>
                </a:cubicBezTo>
                <a:lnTo>
                  <a:pt x="15875" y="516001"/>
                </a:lnTo>
                <a:cubicBezTo>
                  <a:pt x="7112" y="516001"/>
                  <a:pt x="0" y="508889"/>
                  <a:pt x="0" y="500126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rtn-3"/>
          <p:cNvSpPr txBox="1"/>
          <p:nvPr/>
        </p:nvSpPr>
        <p:spPr>
          <a:xfrm>
            <a:off x="8342122" y="3052350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产线扩建</a:t>
            </a:r>
          </a:p>
        </p:txBody>
      </p:sp>
      <p:sp>
        <p:nvSpPr>
          <p:cNvPr id="60" name="rtp-3"/>
          <p:cNvSpPr txBox="1"/>
          <p:nvPr/>
        </p:nvSpPr>
        <p:spPr>
          <a:xfrm>
            <a:off x="9398381" y="3058700"/>
            <a:ext cx="31889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20">
                <a:solidFill>
                  <a:srgbClr val="1B5AA8"/>
                </a:solidFill>
                <a:latin typeface="Arial"/>
                <a:ea typeface="Arial"/>
                <a:cs typeface="Arial"/>
              </a:rPr>
              <a:t>17%</a:t>
            </a:r>
          </a:p>
        </p:txBody>
      </p:sp>
      <p:sp>
        <p:nvSpPr>
          <p:cNvPr id="61" name="rtv-3"/>
          <p:cNvSpPr txBox="1"/>
          <p:nvPr/>
        </p:nvSpPr>
        <p:spPr>
          <a:xfrm>
            <a:off x="9741408" y="3091561"/>
            <a:ext cx="4292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2.14 亿</a:t>
            </a:r>
          </a:p>
        </p:txBody>
      </p:sp>
      <p:sp>
        <p:nvSpPr>
          <p:cNvPr id="62" name="rt-4"/>
          <p:cNvSpPr/>
          <p:nvPr/>
        </p:nvSpPr>
        <p:spPr>
          <a:xfrm>
            <a:off x="8191500" y="3516503"/>
            <a:ext cx="2095500" cy="333883"/>
          </a:xfrm>
          <a:custGeom>
            <a:avLst/>
            <a:gdLst/>
            <a:ahLst/>
            <a:cxnLst/>
            <a:rect l="0" t="0" r="r" b="b"/>
            <a:pathLst>
              <a:path w="2095500" h="333883">
                <a:moveTo>
                  <a:pt x="88900" y="0"/>
                </a:moveTo>
                <a:lnTo>
                  <a:pt x="2006600" y="0"/>
                </a:lnTo>
                <a:cubicBezTo>
                  <a:pt x="2055686" y="0"/>
                  <a:pt x="2095500" y="39814"/>
                  <a:pt x="2095500" y="88900"/>
                </a:cubicBezTo>
                <a:lnTo>
                  <a:pt x="2095500" y="244983"/>
                </a:lnTo>
                <a:cubicBezTo>
                  <a:pt x="2095500" y="294069"/>
                  <a:pt x="2055686" y="333883"/>
                  <a:pt x="2006600" y="333883"/>
                </a:cubicBezTo>
                <a:lnTo>
                  <a:pt x="88900" y="333883"/>
                </a:lnTo>
                <a:cubicBezTo>
                  <a:pt x="39814" y="333883"/>
                  <a:pt x="0" y="294069"/>
                  <a:pt x="0" y="244983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rtb-4"/>
          <p:cNvSpPr/>
          <p:nvPr/>
        </p:nvSpPr>
        <p:spPr>
          <a:xfrm>
            <a:off x="8191500" y="3516503"/>
            <a:ext cx="31750" cy="333883"/>
          </a:xfrm>
          <a:custGeom>
            <a:avLst/>
            <a:gdLst/>
            <a:ahLst/>
            <a:cxnLst/>
            <a:rect l="0" t="0" r="r" b="b"/>
            <a:pathLst>
              <a:path w="31750" h="333883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318008"/>
                </a:lnTo>
                <a:cubicBezTo>
                  <a:pt x="31750" y="326771"/>
                  <a:pt x="24638" y="333883"/>
                  <a:pt x="15875" y="333883"/>
                </a:cubicBezTo>
                <a:lnTo>
                  <a:pt x="15875" y="333883"/>
                </a:lnTo>
                <a:cubicBezTo>
                  <a:pt x="7112" y="333883"/>
                  <a:pt x="0" y="326771"/>
                  <a:pt x="0" y="318008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rtn-4"/>
          <p:cNvSpPr txBox="1"/>
          <p:nvPr/>
        </p:nvSpPr>
        <p:spPr>
          <a:xfrm>
            <a:off x="8342122" y="3578892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设备更新</a:t>
            </a:r>
          </a:p>
        </p:txBody>
      </p:sp>
      <p:sp>
        <p:nvSpPr>
          <p:cNvPr id="65" name="rtp-4"/>
          <p:cNvSpPr txBox="1"/>
          <p:nvPr/>
        </p:nvSpPr>
        <p:spPr>
          <a:xfrm>
            <a:off x="9398381" y="3585242"/>
            <a:ext cx="31889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20">
                <a:solidFill>
                  <a:srgbClr val="1B5AA8"/>
                </a:solidFill>
                <a:latin typeface="Arial"/>
                <a:ea typeface="Arial"/>
                <a:cs typeface="Arial"/>
              </a:rPr>
              <a:t>11%</a:t>
            </a:r>
          </a:p>
        </p:txBody>
      </p:sp>
      <p:sp>
        <p:nvSpPr>
          <p:cNvPr id="66" name="rtv-4"/>
          <p:cNvSpPr txBox="1"/>
          <p:nvPr/>
        </p:nvSpPr>
        <p:spPr>
          <a:xfrm>
            <a:off x="9741408" y="3618103"/>
            <a:ext cx="4292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1.39 亿</a:t>
            </a:r>
          </a:p>
        </p:txBody>
      </p:sp>
      <p:sp>
        <p:nvSpPr>
          <p:cNvPr id="67" name="rt-5"/>
          <p:cNvSpPr/>
          <p:nvPr/>
        </p:nvSpPr>
        <p:spPr>
          <a:xfrm>
            <a:off x="8191500" y="3951986"/>
            <a:ext cx="2095500" cy="394589"/>
          </a:xfrm>
          <a:custGeom>
            <a:avLst/>
            <a:gdLst/>
            <a:ahLst/>
            <a:cxnLst/>
            <a:rect l="0" t="0" r="r" b="b"/>
            <a:pathLst>
              <a:path w="2095500" h="394589">
                <a:moveTo>
                  <a:pt x="88900" y="0"/>
                </a:moveTo>
                <a:lnTo>
                  <a:pt x="2006600" y="0"/>
                </a:lnTo>
                <a:cubicBezTo>
                  <a:pt x="2055686" y="0"/>
                  <a:pt x="2095500" y="39814"/>
                  <a:pt x="2095500" y="88900"/>
                </a:cubicBezTo>
                <a:lnTo>
                  <a:pt x="2095500" y="305689"/>
                </a:lnTo>
                <a:cubicBezTo>
                  <a:pt x="2095500" y="354774"/>
                  <a:pt x="2055686" y="394589"/>
                  <a:pt x="2006600" y="394589"/>
                </a:cubicBezTo>
                <a:lnTo>
                  <a:pt x="88900" y="394589"/>
                </a:lnTo>
                <a:cubicBezTo>
                  <a:pt x="39814" y="394589"/>
                  <a:pt x="0" y="354774"/>
                  <a:pt x="0" y="305689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rtb-5"/>
          <p:cNvSpPr/>
          <p:nvPr/>
        </p:nvSpPr>
        <p:spPr>
          <a:xfrm>
            <a:off x="8191500" y="3951986"/>
            <a:ext cx="31750" cy="394589"/>
          </a:xfrm>
          <a:custGeom>
            <a:avLst/>
            <a:gdLst/>
            <a:ahLst/>
            <a:cxnLst/>
            <a:rect l="0" t="0" r="r" b="b"/>
            <a:pathLst>
              <a:path w="31750" h="394589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378714"/>
                </a:lnTo>
                <a:cubicBezTo>
                  <a:pt x="31750" y="387477"/>
                  <a:pt x="24638" y="394589"/>
                  <a:pt x="15875" y="394589"/>
                </a:cubicBezTo>
                <a:lnTo>
                  <a:pt x="15875" y="394589"/>
                </a:lnTo>
                <a:cubicBezTo>
                  <a:pt x="7112" y="394589"/>
                  <a:pt x="0" y="387477"/>
                  <a:pt x="0" y="378714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rtn-5"/>
          <p:cNvSpPr txBox="1"/>
          <p:nvPr/>
        </p:nvSpPr>
        <p:spPr>
          <a:xfrm>
            <a:off x="8342122" y="4044728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渠道建设</a:t>
            </a:r>
          </a:p>
        </p:txBody>
      </p:sp>
      <p:sp>
        <p:nvSpPr>
          <p:cNvPr id="70" name="rtp-5"/>
          <p:cNvSpPr txBox="1"/>
          <p:nvPr/>
        </p:nvSpPr>
        <p:spPr>
          <a:xfrm>
            <a:off x="9398381" y="4051078"/>
            <a:ext cx="31889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20">
                <a:solidFill>
                  <a:srgbClr val="3985CD"/>
                </a:solidFill>
                <a:latin typeface="Arial"/>
                <a:ea typeface="Arial"/>
                <a:cs typeface="Arial"/>
              </a:rPr>
              <a:t>13%</a:t>
            </a:r>
          </a:p>
        </p:txBody>
      </p:sp>
      <p:sp>
        <p:nvSpPr>
          <p:cNvPr id="71" name="rtv-5"/>
          <p:cNvSpPr txBox="1"/>
          <p:nvPr/>
        </p:nvSpPr>
        <p:spPr>
          <a:xfrm>
            <a:off x="9741408" y="4083939"/>
            <a:ext cx="4292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1.64 亿</a:t>
            </a:r>
          </a:p>
        </p:txBody>
      </p:sp>
      <p:sp>
        <p:nvSpPr>
          <p:cNvPr id="72" name="rt-6"/>
          <p:cNvSpPr/>
          <p:nvPr/>
        </p:nvSpPr>
        <p:spPr>
          <a:xfrm>
            <a:off x="8191500" y="4448175"/>
            <a:ext cx="2095500" cy="273177"/>
          </a:xfrm>
          <a:custGeom>
            <a:avLst/>
            <a:gdLst/>
            <a:ahLst/>
            <a:cxnLst/>
            <a:rect l="0" t="0" r="r" b="b"/>
            <a:pathLst>
              <a:path w="2095500" h="273177">
                <a:moveTo>
                  <a:pt x="88900" y="0"/>
                </a:moveTo>
                <a:lnTo>
                  <a:pt x="2006600" y="0"/>
                </a:lnTo>
                <a:cubicBezTo>
                  <a:pt x="2055686" y="0"/>
                  <a:pt x="2095500" y="39814"/>
                  <a:pt x="2095500" y="88900"/>
                </a:cubicBezTo>
                <a:lnTo>
                  <a:pt x="2095500" y="184277"/>
                </a:lnTo>
                <a:cubicBezTo>
                  <a:pt x="2095500" y="233362"/>
                  <a:pt x="2055686" y="273177"/>
                  <a:pt x="2006600" y="273177"/>
                </a:cubicBezTo>
                <a:lnTo>
                  <a:pt x="88900" y="273177"/>
                </a:lnTo>
                <a:cubicBezTo>
                  <a:pt x="39814" y="273177"/>
                  <a:pt x="0" y="233362"/>
                  <a:pt x="0" y="184277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rtb-6"/>
          <p:cNvSpPr/>
          <p:nvPr/>
        </p:nvSpPr>
        <p:spPr>
          <a:xfrm>
            <a:off x="8191500" y="4448175"/>
            <a:ext cx="31750" cy="273177"/>
          </a:xfrm>
          <a:custGeom>
            <a:avLst/>
            <a:gdLst/>
            <a:ahLst/>
            <a:cxnLst/>
            <a:rect l="0" t="0" r="r" b="b"/>
            <a:pathLst>
              <a:path w="31750" h="273177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257302"/>
                </a:lnTo>
                <a:cubicBezTo>
                  <a:pt x="31750" y="266065"/>
                  <a:pt x="24638" y="273177"/>
                  <a:pt x="15875" y="273177"/>
                </a:cubicBezTo>
                <a:lnTo>
                  <a:pt x="15875" y="273177"/>
                </a:lnTo>
                <a:cubicBezTo>
                  <a:pt x="7112" y="273177"/>
                  <a:pt x="0" y="266065"/>
                  <a:pt x="0" y="257302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rtn-6"/>
          <p:cNvSpPr txBox="1"/>
          <p:nvPr/>
        </p:nvSpPr>
        <p:spPr>
          <a:xfrm>
            <a:off x="8342122" y="4480211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品牌投放</a:t>
            </a:r>
          </a:p>
        </p:txBody>
      </p:sp>
      <p:sp>
        <p:nvSpPr>
          <p:cNvPr id="75" name="rtp-6"/>
          <p:cNvSpPr txBox="1"/>
          <p:nvPr/>
        </p:nvSpPr>
        <p:spPr>
          <a:xfrm>
            <a:off x="9468485" y="4486561"/>
            <a:ext cx="24879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20">
                <a:solidFill>
                  <a:srgbClr val="3985CD"/>
                </a:solidFill>
                <a:latin typeface="Arial"/>
                <a:ea typeface="Arial"/>
                <a:cs typeface="Arial"/>
              </a:rPr>
              <a:t>9%</a:t>
            </a:r>
          </a:p>
        </p:txBody>
      </p:sp>
      <p:sp>
        <p:nvSpPr>
          <p:cNvPr id="76" name="rtv-6"/>
          <p:cNvSpPr txBox="1"/>
          <p:nvPr/>
        </p:nvSpPr>
        <p:spPr>
          <a:xfrm>
            <a:off x="9741408" y="4519422"/>
            <a:ext cx="4292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1.13 亿</a:t>
            </a:r>
          </a:p>
        </p:txBody>
      </p:sp>
      <p:sp>
        <p:nvSpPr>
          <p:cNvPr id="77" name="rt-7"/>
          <p:cNvSpPr/>
          <p:nvPr/>
        </p:nvSpPr>
        <p:spPr>
          <a:xfrm>
            <a:off x="8191500" y="4822952"/>
            <a:ext cx="2095500" cy="303530"/>
          </a:xfrm>
          <a:custGeom>
            <a:avLst/>
            <a:gdLst/>
            <a:ahLst/>
            <a:cxnLst/>
            <a:rect l="0" t="0" r="r" b="b"/>
            <a:pathLst>
              <a:path w="2095500" h="303530">
                <a:moveTo>
                  <a:pt x="88900" y="0"/>
                </a:moveTo>
                <a:lnTo>
                  <a:pt x="2006600" y="0"/>
                </a:lnTo>
                <a:cubicBezTo>
                  <a:pt x="2055686" y="0"/>
                  <a:pt x="2095500" y="39814"/>
                  <a:pt x="2095500" y="88900"/>
                </a:cubicBezTo>
                <a:lnTo>
                  <a:pt x="2095500" y="214630"/>
                </a:lnTo>
                <a:cubicBezTo>
                  <a:pt x="2095500" y="263715"/>
                  <a:pt x="2055686" y="303530"/>
                  <a:pt x="2006600" y="303530"/>
                </a:cubicBezTo>
                <a:lnTo>
                  <a:pt x="88900" y="303530"/>
                </a:lnTo>
                <a:cubicBezTo>
                  <a:pt x="39814" y="303530"/>
                  <a:pt x="0" y="263715"/>
                  <a:pt x="0" y="21463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rtb-7"/>
          <p:cNvSpPr/>
          <p:nvPr/>
        </p:nvSpPr>
        <p:spPr>
          <a:xfrm>
            <a:off x="8191500" y="4822952"/>
            <a:ext cx="31750" cy="303530"/>
          </a:xfrm>
          <a:custGeom>
            <a:avLst/>
            <a:gdLst/>
            <a:ahLst/>
            <a:cxnLst/>
            <a:rect l="0" t="0" r="r" b="b"/>
            <a:pathLst>
              <a:path w="31750" h="30353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287655"/>
                </a:lnTo>
                <a:cubicBezTo>
                  <a:pt x="31750" y="296418"/>
                  <a:pt x="24638" y="303530"/>
                  <a:pt x="15875" y="303530"/>
                </a:cubicBezTo>
                <a:lnTo>
                  <a:pt x="15875" y="303530"/>
                </a:lnTo>
                <a:cubicBezTo>
                  <a:pt x="7112" y="303530"/>
                  <a:pt x="0" y="296418"/>
                  <a:pt x="0" y="28765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rtn-7"/>
          <p:cNvSpPr txBox="1"/>
          <p:nvPr/>
        </p:nvSpPr>
        <p:spPr>
          <a:xfrm>
            <a:off x="8342122" y="4870164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人才引进</a:t>
            </a:r>
          </a:p>
        </p:txBody>
      </p:sp>
      <p:sp>
        <p:nvSpPr>
          <p:cNvPr id="80" name="rtp-7"/>
          <p:cNvSpPr txBox="1"/>
          <p:nvPr/>
        </p:nvSpPr>
        <p:spPr>
          <a:xfrm>
            <a:off x="9398381" y="4876514"/>
            <a:ext cx="31889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20">
                <a:solidFill>
                  <a:srgbClr val="54A2DF"/>
                </a:solidFill>
                <a:latin typeface="Arial"/>
                <a:ea typeface="Arial"/>
                <a:cs typeface="Arial"/>
              </a:rPr>
              <a:t>10%</a:t>
            </a:r>
          </a:p>
        </p:txBody>
      </p:sp>
      <p:sp>
        <p:nvSpPr>
          <p:cNvPr id="81" name="rtv-7"/>
          <p:cNvSpPr txBox="1"/>
          <p:nvPr/>
        </p:nvSpPr>
        <p:spPr>
          <a:xfrm>
            <a:off x="9741408" y="4909376"/>
            <a:ext cx="4292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1.26 亿</a:t>
            </a:r>
          </a:p>
        </p:txBody>
      </p:sp>
      <p:sp>
        <p:nvSpPr>
          <p:cNvPr id="82" name="rt-8"/>
          <p:cNvSpPr/>
          <p:nvPr/>
        </p:nvSpPr>
        <p:spPr>
          <a:xfrm>
            <a:off x="8191500" y="5228082"/>
            <a:ext cx="2095500" cy="182118"/>
          </a:xfrm>
          <a:custGeom>
            <a:avLst/>
            <a:gdLst/>
            <a:ahLst/>
            <a:cxnLst/>
            <a:rect l="0" t="0" r="r" b="b"/>
            <a:pathLst>
              <a:path w="2095500" h="182118">
                <a:moveTo>
                  <a:pt x="88900" y="0"/>
                </a:moveTo>
                <a:lnTo>
                  <a:pt x="2006600" y="0"/>
                </a:lnTo>
                <a:cubicBezTo>
                  <a:pt x="2055686" y="0"/>
                  <a:pt x="2095500" y="39814"/>
                  <a:pt x="2095500" y="88900"/>
                </a:cubicBezTo>
                <a:lnTo>
                  <a:pt x="2095500" y="93218"/>
                </a:lnTo>
                <a:cubicBezTo>
                  <a:pt x="2095500" y="142303"/>
                  <a:pt x="2055686" y="182118"/>
                  <a:pt x="2006600" y="182118"/>
                </a:cubicBezTo>
                <a:lnTo>
                  <a:pt x="88900" y="182118"/>
                </a:lnTo>
                <a:cubicBezTo>
                  <a:pt x="39814" y="182118"/>
                  <a:pt x="0" y="142303"/>
                  <a:pt x="0" y="93218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rtb-8"/>
          <p:cNvSpPr/>
          <p:nvPr/>
        </p:nvSpPr>
        <p:spPr>
          <a:xfrm>
            <a:off x="8191500" y="5228082"/>
            <a:ext cx="31750" cy="182118"/>
          </a:xfrm>
          <a:custGeom>
            <a:avLst/>
            <a:gdLst/>
            <a:ahLst/>
            <a:cxnLst/>
            <a:rect l="0" t="0" r="r" b="b"/>
            <a:pathLst>
              <a:path w="31750" h="182118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166243"/>
                </a:lnTo>
                <a:cubicBezTo>
                  <a:pt x="31750" y="175006"/>
                  <a:pt x="24638" y="182118"/>
                  <a:pt x="15875" y="182118"/>
                </a:cubicBezTo>
                <a:lnTo>
                  <a:pt x="15875" y="182118"/>
                </a:lnTo>
                <a:cubicBezTo>
                  <a:pt x="7112" y="182118"/>
                  <a:pt x="0" y="175006"/>
                  <a:pt x="0" y="166243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rtn-8"/>
          <p:cNvSpPr txBox="1"/>
          <p:nvPr/>
        </p:nvSpPr>
        <p:spPr>
          <a:xfrm>
            <a:off x="8342122" y="5214588"/>
            <a:ext cx="743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数字化办公</a:t>
            </a:r>
          </a:p>
        </p:txBody>
      </p:sp>
      <p:sp>
        <p:nvSpPr>
          <p:cNvPr id="85" name="rtp-8"/>
          <p:cNvSpPr txBox="1"/>
          <p:nvPr/>
        </p:nvSpPr>
        <p:spPr>
          <a:xfrm>
            <a:off x="9468485" y="5220938"/>
            <a:ext cx="24879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20">
                <a:solidFill>
                  <a:srgbClr val="54A2DF"/>
                </a:solidFill>
                <a:latin typeface="Arial"/>
                <a:ea typeface="Arial"/>
                <a:cs typeface="Arial"/>
              </a:rPr>
              <a:t>6%</a:t>
            </a:r>
          </a:p>
        </p:txBody>
      </p:sp>
      <p:sp>
        <p:nvSpPr>
          <p:cNvPr id="86" name="rtv-8"/>
          <p:cNvSpPr txBox="1"/>
          <p:nvPr/>
        </p:nvSpPr>
        <p:spPr>
          <a:xfrm>
            <a:off x="9741408" y="5253800"/>
            <a:ext cx="4292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0.76 亿</a:t>
            </a:r>
          </a:p>
        </p:txBody>
      </p:sp>
      <p:sp>
        <p:nvSpPr>
          <p:cNvPr id="87" name="colh-总预算"/>
          <p:cNvSpPr txBox="1"/>
          <p:nvPr/>
        </p:nvSpPr>
        <p:spPr>
          <a:xfrm>
            <a:off x="941070" y="1406366"/>
            <a:ext cx="4095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总预算</a:t>
            </a:r>
          </a:p>
        </p:txBody>
      </p:sp>
      <p:sp>
        <p:nvSpPr>
          <p:cNvPr id="88" name="colh-一级方向"/>
          <p:cNvSpPr txBox="1"/>
          <p:nvPr/>
        </p:nvSpPr>
        <p:spPr>
          <a:xfrm>
            <a:off x="4052570" y="1406366"/>
            <a:ext cx="5175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一级方向</a:t>
            </a:r>
          </a:p>
        </p:txBody>
      </p:sp>
      <p:sp>
        <p:nvSpPr>
          <p:cNvPr id="89" name="colh-二级用途"/>
          <p:cNvSpPr txBox="1"/>
          <p:nvPr/>
        </p:nvSpPr>
        <p:spPr>
          <a:xfrm>
            <a:off x="8180070" y="1406366"/>
            <a:ext cx="5175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二级用途</a:t>
            </a:r>
          </a:p>
        </p:txBody>
      </p:sp>
      <p:sp>
        <p:nvSpPr>
          <p:cNvPr id="90" name="note-bar"/>
          <p:cNvSpPr/>
          <p:nvPr/>
        </p:nvSpPr>
        <p:spPr>
          <a:xfrm>
            <a:off x="952500" y="5676900"/>
            <a:ext cx="25400" cy="5207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note-h"/>
          <p:cNvSpPr txBox="1"/>
          <p:nvPr/>
        </p:nvSpPr>
        <p:spPr>
          <a:xfrm>
            <a:off x="1103122" y="57310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分配原则</a:t>
            </a:r>
          </a:p>
        </p:txBody>
      </p:sp>
      <p:sp>
        <p:nvSpPr>
          <p:cNvPr id="92" name="note-p"/>
          <p:cNvSpPr txBox="1"/>
          <p:nvPr/>
        </p:nvSpPr>
        <p:spPr>
          <a:xfrm>
            <a:off x="1104265" y="5946061"/>
            <a:ext cx="53921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研发与产能合计 62%，确保产品与交付能力同步扩张；市场与组织按季度滚动调整，预留 8% 机动额度。</a:t>
            </a:r>
          </a:p>
        </p:txBody>
      </p:sp>
      <p:cxnSp>
        <p:nvCxnSpPr>
          <p:cNvPr id="93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4" name="foot-l"/>
          <p:cNvSpPr txBox="1"/>
          <p:nvPr/>
        </p:nvSpPr>
        <p:spPr>
          <a:xfrm>
            <a:off x="573532" y="6532308"/>
            <a:ext cx="124218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资金流向 · 一分四再分八</a:t>
            </a:r>
          </a:p>
        </p:txBody>
      </p:sp>
      <p:sp>
        <p:nvSpPr>
          <p:cNvPr id="95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组织能力冰山模型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2637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ICEBERG MODEL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666099" y="673132"/>
            <a:ext cx="29546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水面之上是可见成果，水面之下才是真正决定上限的部分</a:t>
            </a:r>
          </a:p>
        </p:txBody>
      </p:sp>
      <p:sp>
        <p:nvSpPr>
          <p:cNvPr id="10" name="water"/>
          <p:cNvSpPr/>
          <p:nvPr/>
        </p:nvSpPr>
        <p:spPr>
          <a:xfrm>
            <a:off x="952500" y="2984500"/>
            <a:ext cx="6413500" cy="2908300"/>
          </a:xfrm>
          <a:custGeom>
            <a:avLst/>
            <a:gdLst/>
            <a:ahLst/>
            <a:cxnLst/>
            <a:rect l="0" t="0" r="r" b="b"/>
            <a:pathLst>
              <a:path w="6413500" h="2908300">
                <a:moveTo>
                  <a:pt x="127000" y="0"/>
                </a:moveTo>
                <a:lnTo>
                  <a:pt x="6286500" y="0"/>
                </a:lnTo>
                <a:cubicBezTo>
                  <a:pt x="6356668" y="0"/>
                  <a:pt x="6413500" y="56832"/>
                  <a:pt x="6413500" y="127000"/>
                </a:cubicBezTo>
                <a:lnTo>
                  <a:pt x="6413500" y="2781300"/>
                </a:lnTo>
                <a:cubicBezTo>
                  <a:pt x="6413500" y="2851467"/>
                  <a:pt x="6356668" y="2908300"/>
                  <a:pt x="6286500" y="2908300"/>
                </a:cubicBezTo>
                <a:lnTo>
                  <a:pt x="127000" y="2908300"/>
                </a:lnTo>
                <a:cubicBezTo>
                  <a:pt x="56832" y="2908300"/>
                  <a:pt x="0" y="2851467"/>
                  <a:pt x="0" y="2781300"/>
                </a:cubicBezTo>
                <a:lnTo>
                  <a:pt x="0" y="127000"/>
                </a:lnTo>
                <a:cubicBezTo>
                  <a:pt x="0" y="56832"/>
                  <a:pt x="56832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D8E6F6">
                  <a:alpha val="55000"/>
                </a:srgbClr>
              </a:gs>
              <a:gs pos="100000">
                <a:srgbClr val="C2D7EF">
                  <a:alpha val="5500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berg-top"/>
          <p:cNvSpPr/>
          <p:nvPr/>
        </p:nvSpPr>
        <p:spPr>
          <a:xfrm>
            <a:off x="3136900" y="1498600"/>
            <a:ext cx="2616200" cy="1485900"/>
          </a:xfrm>
          <a:custGeom>
            <a:avLst/>
            <a:gdLst/>
            <a:ahLst/>
            <a:cxnLst/>
            <a:rect l="0" t="0" r="r" b="b"/>
            <a:pathLst>
              <a:path w="2616200" h="1485900">
                <a:moveTo>
                  <a:pt x="1308100" y="0"/>
                </a:moveTo>
                <a:lnTo>
                  <a:pt x="2616200" y="1485900"/>
                </a:lnTo>
                <a:lnTo>
                  <a:pt x="0" y="1485900"/>
                </a:lnTo>
                <a:close/>
              </a:path>
            </a:pathLst>
          </a:custGeom>
          <a:gradFill rotWithShape="1">
            <a:gsLst>
              <a:gs pos="0">
                <a:srgbClr val="BFD6F0"/>
              </a:gs>
              <a:gs pos="100000">
                <a:srgbClr val="8FB6DE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berg-bottom"/>
          <p:cNvSpPr/>
          <p:nvPr/>
        </p:nvSpPr>
        <p:spPr>
          <a:xfrm>
            <a:off x="2082800" y="2984500"/>
            <a:ext cx="4724400" cy="2628900"/>
          </a:xfrm>
          <a:custGeom>
            <a:avLst/>
            <a:gdLst/>
            <a:ahLst/>
            <a:cxnLst/>
            <a:rect l="0" t="0" r="r" b="b"/>
            <a:pathLst>
              <a:path w="4724400" h="2628900">
                <a:moveTo>
                  <a:pt x="1054100" y="0"/>
                </a:moveTo>
                <a:lnTo>
                  <a:pt x="3670300" y="0"/>
                </a:lnTo>
                <a:lnTo>
                  <a:pt x="4724400" y="2628900"/>
                </a:lnTo>
                <a:lnTo>
                  <a:pt x="0" y="2628900"/>
                </a:lnTo>
                <a:close/>
              </a:path>
            </a:pathLst>
          </a:custGeom>
          <a:gradFill rotWithShape="1">
            <a:gsLst>
              <a:gs pos="0">
                <a:srgbClr val="3E82C6"/>
              </a:gs>
              <a:gs pos="100000">
                <a:srgbClr val="0B3E8F"/>
              </a:gs>
            </a:gsLst>
            <a:lin ang="7200000" scaled="0"/>
          </a:gra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3" name="water-line"/>
          <p:cNvCxnSpPr/>
          <p:nvPr/>
        </p:nvCxnSpPr>
        <p:spPr>
          <a:xfrm>
            <a:off x="952500" y="2984500"/>
            <a:ext cx="6413500" cy="0"/>
          </a:xfrm>
          <a:prstGeom prst="line">
            <a:avLst/>
          </a:prstGeom>
          <a:ln w="15240" cap="rnd">
            <a:solidFill>
              <a:srgbClr val="0B3E8F">
                <a:alpha val="4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water-tag"/>
          <p:cNvSpPr/>
          <p:nvPr/>
        </p:nvSpPr>
        <p:spPr>
          <a:xfrm>
            <a:off x="952500" y="2857500"/>
            <a:ext cx="800100" cy="254000"/>
          </a:xfrm>
          <a:custGeom>
            <a:avLst/>
            <a:gdLst/>
            <a:ahLst/>
            <a:cxnLst/>
            <a:rect l="0" t="0" r="r" b="b"/>
            <a:pathLst>
              <a:path w="800100" h="254000">
                <a:moveTo>
                  <a:pt x="127000" y="0"/>
                </a:moveTo>
                <a:lnTo>
                  <a:pt x="673100" y="0"/>
                </a:lnTo>
                <a:cubicBezTo>
                  <a:pt x="743268" y="0"/>
                  <a:pt x="800100" y="56832"/>
                  <a:pt x="800100" y="127000"/>
                </a:cubicBezTo>
                <a:lnTo>
                  <a:pt x="800100" y="127000"/>
                </a:lnTo>
                <a:cubicBezTo>
                  <a:pt x="800100" y="197168"/>
                  <a:pt x="743268" y="254000"/>
                  <a:pt x="673100" y="254000"/>
                </a:cubicBezTo>
                <a:lnTo>
                  <a:pt x="127000" y="254000"/>
                </a:lnTo>
                <a:cubicBezTo>
                  <a:pt x="56832" y="254000"/>
                  <a:pt x="0" y="197168"/>
                  <a:pt x="0" y="127000"/>
                </a:cubicBezTo>
                <a:lnTo>
                  <a:pt x="0" y="127000"/>
                </a:lnTo>
                <a:cubicBezTo>
                  <a:pt x="0" y="56832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water-t"/>
          <p:cNvSpPr txBox="1"/>
          <p:nvPr/>
        </p:nvSpPr>
        <p:spPr>
          <a:xfrm>
            <a:off x="1157288" y="2911316"/>
            <a:ext cx="3905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水平面</a:t>
            </a:r>
          </a:p>
        </p:txBody>
      </p:sp>
      <p:sp>
        <p:nvSpPr>
          <p:cNvPr id="16" name="top-h"/>
          <p:cNvSpPr txBox="1"/>
          <p:nvPr/>
        </p:nvSpPr>
        <p:spPr>
          <a:xfrm>
            <a:off x="4186555" y="1904302"/>
            <a:ext cx="5168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 spc="1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显性</a:t>
            </a:r>
          </a:p>
        </p:txBody>
      </p:sp>
      <p:sp>
        <p:nvSpPr>
          <p:cNvPr id="17" name="top-p"/>
          <p:cNvSpPr txBox="1"/>
          <p:nvPr/>
        </p:nvSpPr>
        <p:spPr>
          <a:xfrm>
            <a:off x="4279836" y="2149697"/>
            <a:ext cx="33032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50">
                <a:solidFill>
                  <a:srgbClr val="1B5AA8"/>
                </a:solidFill>
                <a:latin typeface="Arial"/>
                <a:ea typeface="Arial"/>
                <a:cs typeface="Arial"/>
              </a:rPr>
              <a:t>10%</a:t>
            </a:r>
          </a:p>
        </p:txBody>
      </p:sp>
      <p:sp>
        <p:nvSpPr>
          <p:cNvPr id="18" name="bot-h"/>
          <p:cNvSpPr txBox="1"/>
          <p:nvPr/>
        </p:nvSpPr>
        <p:spPr>
          <a:xfrm>
            <a:off x="4106545" y="3213164"/>
            <a:ext cx="676910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70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隐性</a:t>
            </a:r>
          </a:p>
        </p:txBody>
      </p:sp>
      <p:sp>
        <p:nvSpPr>
          <p:cNvPr id="19" name="bot-rule"/>
          <p:cNvSpPr/>
          <p:nvPr/>
        </p:nvSpPr>
        <p:spPr>
          <a:xfrm>
            <a:off x="4229100" y="3594100"/>
            <a:ext cx="431800" cy="1905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bot-p"/>
          <p:cNvSpPr txBox="1"/>
          <p:nvPr/>
        </p:nvSpPr>
        <p:spPr>
          <a:xfrm>
            <a:off x="4201350" y="3641217"/>
            <a:ext cx="487299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75">
                <a:solidFill>
                  <a:srgbClr val="FFFFFF"/>
                </a:solidFill>
                <a:latin typeface="Arial"/>
                <a:ea typeface="Arial"/>
                <a:cs typeface="Arial"/>
              </a:rPr>
              <a:t>90%</a:t>
            </a:r>
          </a:p>
        </p:txBody>
      </p:sp>
      <p:sp>
        <p:nvSpPr>
          <p:cNvPr id="21" name="bot-note"/>
          <p:cNvSpPr txBox="1"/>
          <p:nvPr/>
        </p:nvSpPr>
        <p:spPr>
          <a:xfrm>
            <a:off x="5119751" y="3747087"/>
            <a:ext cx="65817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30">
                <a:solidFill>
                  <a:srgbClr val="D7E6F7"/>
                </a:solidFill>
                <a:latin typeface="微软雅黑"/>
                <a:ea typeface="微软雅黑"/>
                <a:cs typeface="微软雅黑"/>
              </a:rPr>
              <a:t>决定能力上限</a:t>
            </a:r>
          </a:p>
        </p:txBody>
      </p:sp>
      <p:cxnSp>
        <p:nvCxnSpPr>
          <p:cNvPr id="22" name="a-lead-1"/>
          <p:cNvCxnSpPr/>
          <p:nvPr/>
        </p:nvCxnSpPr>
        <p:spPr>
          <a:xfrm>
            <a:off x="5207000" y="1739900"/>
            <a:ext cx="622300" cy="0"/>
          </a:xfrm>
          <a:prstGeom prst="line">
            <a:avLst/>
          </a:prstGeom>
          <a:ln w="10160" cap="rnd">
            <a:solidFill>
              <a:srgbClr val="1B5AA8">
                <a:alpha val="4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a-dot-1"/>
          <p:cNvSpPr/>
          <p:nvPr/>
        </p:nvSpPr>
        <p:spPr>
          <a:xfrm>
            <a:off x="5803900" y="1714500"/>
            <a:ext cx="50800" cy="5080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icon-award"/>
          <p:cNvSpPr/>
          <p:nvPr/>
        </p:nvSpPr>
        <p:spPr>
          <a:xfrm>
            <a:off x="5990908" y="1745107"/>
            <a:ext cx="57785" cy="39878"/>
          </a:xfrm>
          <a:custGeom>
            <a:avLst/>
            <a:gdLst/>
            <a:ahLst/>
            <a:cxnLst/>
            <a:rect l="0" t="0" r="r" b="b"/>
            <a:pathLst>
              <a:path w="57785" h="39878">
                <a:moveTo>
                  <a:pt x="10985" y="0"/>
                </a:moveTo>
                <a:lnTo>
                  <a:pt x="0" y="39878"/>
                </a:lnTo>
                <a:lnTo>
                  <a:pt x="28892" y="24765"/>
                </a:lnTo>
                <a:lnTo>
                  <a:pt x="57785" y="39878"/>
                </a:lnTo>
                <a:lnTo>
                  <a:pt x="46800" y="0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icon-award"/>
          <p:cNvSpPr/>
          <p:nvPr/>
        </p:nvSpPr>
        <p:spPr>
          <a:xfrm>
            <a:off x="5981277" y="1670791"/>
            <a:ext cx="77047" cy="77047"/>
          </a:xfrm>
          <a:prstGeom prst="ellipse">
            <a:avLst/>
          </a:pr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a-n-1"/>
          <p:cNvSpPr txBox="1"/>
          <p:nvPr/>
        </p:nvSpPr>
        <p:spPr>
          <a:xfrm>
            <a:off x="6194298" y="15498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交付成果</a:t>
            </a:r>
          </a:p>
        </p:txBody>
      </p:sp>
      <p:sp>
        <p:nvSpPr>
          <p:cNvPr id="27" name="a-p-1"/>
          <p:cNvSpPr txBox="1"/>
          <p:nvPr/>
        </p:nvSpPr>
        <p:spPr>
          <a:xfrm>
            <a:off x="6196965" y="17550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可量化的业绩与产出</a:t>
            </a:r>
          </a:p>
        </p:txBody>
      </p:sp>
      <p:cxnSp>
        <p:nvCxnSpPr>
          <p:cNvPr id="28" name="a-lead-2"/>
          <p:cNvCxnSpPr/>
          <p:nvPr/>
        </p:nvCxnSpPr>
        <p:spPr>
          <a:xfrm>
            <a:off x="4826000" y="2349500"/>
            <a:ext cx="1003300" cy="0"/>
          </a:xfrm>
          <a:prstGeom prst="line">
            <a:avLst/>
          </a:prstGeom>
          <a:ln w="10160" cap="rnd">
            <a:solidFill>
              <a:srgbClr val="1B5AA8">
                <a:alpha val="4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a-dot-2"/>
          <p:cNvSpPr/>
          <p:nvPr/>
        </p:nvSpPr>
        <p:spPr>
          <a:xfrm>
            <a:off x="5803900" y="2324100"/>
            <a:ext cx="50800" cy="5080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icon-doc"/>
          <p:cNvSpPr/>
          <p:nvPr/>
        </p:nvSpPr>
        <p:spPr>
          <a:xfrm>
            <a:off x="5982652" y="2279015"/>
            <a:ext cx="77025" cy="115570"/>
          </a:xfrm>
          <a:custGeom>
            <a:avLst/>
            <a:gdLst/>
            <a:ahLst/>
            <a:cxnLst/>
            <a:rect l="0" t="0" r="r" b="b"/>
            <a:pathLst>
              <a:path w="77025" h="115570">
                <a:moveTo>
                  <a:pt x="0" y="0"/>
                </a:moveTo>
                <a:lnTo>
                  <a:pt x="49530" y="0"/>
                </a:lnTo>
                <a:lnTo>
                  <a:pt x="77025" y="27496"/>
                </a:lnTo>
                <a:lnTo>
                  <a:pt x="77025" y="115570"/>
                </a:lnTo>
                <a:lnTo>
                  <a:pt x="0" y="115570"/>
                </a:lnTo>
                <a:close/>
                <a:moveTo>
                  <a:pt x="49530" y="0"/>
                </a:moveTo>
                <a:lnTo>
                  <a:pt x="49530" y="27496"/>
                </a:lnTo>
                <a:lnTo>
                  <a:pt x="77025" y="27496"/>
                </a:lnTo>
                <a:moveTo>
                  <a:pt x="17907" y="60516"/>
                </a:moveTo>
                <a:lnTo>
                  <a:pt x="59182" y="60516"/>
                </a:lnTo>
                <a:moveTo>
                  <a:pt x="17907" y="83947"/>
                </a:moveTo>
                <a:lnTo>
                  <a:pt x="59182" y="83947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a-n-2"/>
          <p:cNvSpPr txBox="1"/>
          <p:nvPr/>
        </p:nvSpPr>
        <p:spPr>
          <a:xfrm>
            <a:off x="6194298" y="21594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流程制度</a:t>
            </a:r>
          </a:p>
        </p:txBody>
      </p:sp>
      <p:sp>
        <p:nvSpPr>
          <p:cNvPr id="32" name="a-p-2"/>
          <p:cNvSpPr txBox="1"/>
          <p:nvPr/>
        </p:nvSpPr>
        <p:spPr>
          <a:xfrm>
            <a:off x="6196965" y="23646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写在文件里的规则</a:t>
            </a:r>
          </a:p>
        </p:txBody>
      </p:sp>
      <p:sp>
        <p:nvSpPr>
          <p:cNvPr id="33" name="b-card-1"/>
          <p:cNvSpPr/>
          <p:nvPr/>
        </p:nvSpPr>
        <p:spPr>
          <a:xfrm>
            <a:off x="3263900" y="3975100"/>
            <a:ext cx="2362200" cy="342900"/>
          </a:xfrm>
          <a:custGeom>
            <a:avLst/>
            <a:gdLst/>
            <a:ahLst/>
            <a:cxnLst/>
            <a:rect l="0" t="0" r="r" b="b"/>
            <a:pathLst>
              <a:path w="2362200" h="342900">
                <a:moveTo>
                  <a:pt x="88900" y="0"/>
                </a:moveTo>
                <a:lnTo>
                  <a:pt x="2273300" y="0"/>
                </a:lnTo>
                <a:cubicBezTo>
                  <a:pt x="2322386" y="0"/>
                  <a:pt x="2362200" y="39814"/>
                  <a:pt x="2362200" y="88900"/>
                </a:cubicBezTo>
                <a:lnTo>
                  <a:pt x="2362200" y="254000"/>
                </a:lnTo>
                <a:cubicBezTo>
                  <a:pt x="2362200" y="303086"/>
                  <a:pt x="2322386" y="342900"/>
                  <a:pt x="2273300" y="342900"/>
                </a:cubicBezTo>
                <a:lnTo>
                  <a:pt x="88900" y="342900"/>
                </a:lnTo>
                <a:cubicBezTo>
                  <a:pt x="39814" y="342900"/>
                  <a:pt x="0" y="303086"/>
                  <a:pt x="0" y="2540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15000"/>
            </a:srgbClr>
          </a:solidFill>
          <a:ln w="6350" cap="rnd">
            <a:solidFill>
              <a:srgbClr val="FFFFFF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icon-people"/>
          <p:cNvSpPr/>
          <p:nvPr/>
        </p:nvSpPr>
        <p:spPr>
          <a:xfrm>
            <a:off x="3401060" y="4163060"/>
            <a:ext cx="107950" cy="30480"/>
          </a:xfrm>
          <a:custGeom>
            <a:avLst/>
            <a:gdLst/>
            <a:ahLst/>
            <a:cxnLst/>
            <a:rect l="0" t="0" r="r" b="b"/>
            <a:pathLst>
              <a:path w="107950" h="30480">
                <a:moveTo>
                  <a:pt x="0" y="30480"/>
                </a:moveTo>
                <a:cubicBezTo>
                  <a:pt x="0" y="11430"/>
                  <a:pt x="15875" y="0"/>
                  <a:pt x="34290" y="0"/>
                </a:cubicBezTo>
                <a:cubicBezTo>
                  <a:pt x="52705" y="0"/>
                  <a:pt x="68580" y="11430"/>
                  <a:pt x="68580" y="30480"/>
                </a:cubicBezTo>
                <a:moveTo>
                  <a:pt x="81280" y="2540"/>
                </a:moveTo>
                <a:cubicBezTo>
                  <a:pt x="97790" y="4445"/>
                  <a:pt x="107950" y="15875"/>
                  <a:pt x="107950" y="30480"/>
                </a:cubicBezTo>
              </a:path>
            </a:pathLst>
          </a:custGeom>
          <a:noFill/>
          <a:ln w="1270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icon-people"/>
          <p:cNvSpPr/>
          <p:nvPr/>
        </p:nvSpPr>
        <p:spPr>
          <a:xfrm>
            <a:off x="3415030" y="4108450"/>
            <a:ext cx="40640" cy="40640"/>
          </a:xfrm>
          <a:prstGeom prst="ellipse">
            <a:avLst/>
          </a:prstGeom>
          <a:noFill/>
          <a:ln w="1270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icon-people"/>
          <p:cNvSpPr/>
          <p:nvPr/>
        </p:nvSpPr>
        <p:spPr>
          <a:xfrm>
            <a:off x="3469640" y="4108450"/>
            <a:ext cx="33020" cy="33020"/>
          </a:xfrm>
          <a:prstGeom prst="ellipse">
            <a:avLst/>
          </a:prstGeom>
          <a:noFill/>
          <a:ln w="1270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b-n-1"/>
          <p:cNvSpPr txBox="1"/>
          <p:nvPr/>
        </p:nvSpPr>
        <p:spPr>
          <a:xfrm>
            <a:off x="3605022" y="4035647"/>
            <a:ext cx="62166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协作习惯</a:t>
            </a:r>
          </a:p>
        </p:txBody>
      </p:sp>
      <p:sp>
        <p:nvSpPr>
          <p:cNvPr id="38" name="b-p-1"/>
          <p:cNvSpPr txBox="1"/>
          <p:nvPr/>
        </p:nvSpPr>
        <p:spPr>
          <a:xfrm>
            <a:off x="4521708" y="4068508"/>
            <a:ext cx="9880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跨部门默认的做事方式</a:t>
            </a:r>
          </a:p>
        </p:txBody>
      </p:sp>
      <p:sp>
        <p:nvSpPr>
          <p:cNvPr id="39" name="b-card-2"/>
          <p:cNvSpPr/>
          <p:nvPr/>
        </p:nvSpPr>
        <p:spPr>
          <a:xfrm>
            <a:off x="3263900" y="4406900"/>
            <a:ext cx="2362200" cy="342900"/>
          </a:xfrm>
          <a:custGeom>
            <a:avLst/>
            <a:gdLst/>
            <a:ahLst/>
            <a:cxnLst/>
            <a:rect l="0" t="0" r="r" b="b"/>
            <a:pathLst>
              <a:path w="2362200" h="342900">
                <a:moveTo>
                  <a:pt x="88900" y="0"/>
                </a:moveTo>
                <a:lnTo>
                  <a:pt x="2273300" y="0"/>
                </a:lnTo>
                <a:cubicBezTo>
                  <a:pt x="2322386" y="0"/>
                  <a:pt x="2362200" y="39814"/>
                  <a:pt x="2362200" y="88900"/>
                </a:cubicBezTo>
                <a:lnTo>
                  <a:pt x="2362200" y="254000"/>
                </a:lnTo>
                <a:cubicBezTo>
                  <a:pt x="2362200" y="303086"/>
                  <a:pt x="2322386" y="342900"/>
                  <a:pt x="2273300" y="342900"/>
                </a:cubicBezTo>
                <a:lnTo>
                  <a:pt x="88900" y="342900"/>
                </a:lnTo>
                <a:cubicBezTo>
                  <a:pt x="39814" y="342900"/>
                  <a:pt x="0" y="303086"/>
                  <a:pt x="0" y="2540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15000"/>
            </a:srgbClr>
          </a:solidFill>
          <a:ln w="6350" cap="rnd">
            <a:solidFill>
              <a:srgbClr val="FFFFFF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icon-book"/>
          <p:cNvSpPr/>
          <p:nvPr/>
        </p:nvSpPr>
        <p:spPr>
          <a:xfrm>
            <a:off x="3406140" y="4535170"/>
            <a:ext cx="96520" cy="90170"/>
          </a:xfrm>
          <a:custGeom>
            <a:avLst/>
            <a:gdLst/>
            <a:ahLst/>
            <a:cxnLst/>
            <a:rect l="0" t="0" r="r" b="b"/>
            <a:pathLst>
              <a:path w="96520" h="90170">
                <a:moveTo>
                  <a:pt x="0" y="0"/>
                </a:moveTo>
                <a:lnTo>
                  <a:pt x="34290" y="0"/>
                </a:lnTo>
                <a:cubicBezTo>
                  <a:pt x="41910" y="0"/>
                  <a:pt x="48260" y="6350"/>
                  <a:pt x="48260" y="13970"/>
                </a:cubicBezTo>
                <a:lnTo>
                  <a:pt x="48260" y="90170"/>
                </a:lnTo>
                <a:cubicBezTo>
                  <a:pt x="48260" y="83820"/>
                  <a:pt x="42545" y="78740"/>
                  <a:pt x="35560" y="78740"/>
                </a:cubicBezTo>
                <a:lnTo>
                  <a:pt x="0" y="78740"/>
                </a:lnTo>
                <a:close/>
                <a:moveTo>
                  <a:pt x="96520" y="0"/>
                </a:moveTo>
                <a:lnTo>
                  <a:pt x="62230" y="0"/>
                </a:lnTo>
                <a:cubicBezTo>
                  <a:pt x="54610" y="0"/>
                  <a:pt x="48260" y="6350"/>
                  <a:pt x="48260" y="13970"/>
                </a:cubicBezTo>
                <a:lnTo>
                  <a:pt x="48260" y="90170"/>
                </a:lnTo>
                <a:cubicBezTo>
                  <a:pt x="48260" y="83820"/>
                  <a:pt x="53975" y="78740"/>
                  <a:pt x="60960" y="78740"/>
                </a:cubicBezTo>
                <a:lnTo>
                  <a:pt x="96520" y="78740"/>
                </a:lnTo>
                <a:close/>
              </a:path>
            </a:pathLst>
          </a:custGeom>
          <a:noFill/>
          <a:ln w="1270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b-n-2"/>
          <p:cNvSpPr txBox="1"/>
          <p:nvPr/>
        </p:nvSpPr>
        <p:spPr>
          <a:xfrm>
            <a:off x="3605022" y="4467447"/>
            <a:ext cx="62166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知识沉淀</a:t>
            </a:r>
          </a:p>
        </p:txBody>
      </p:sp>
      <p:sp>
        <p:nvSpPr>
          <p:cNvPr id="42" name="b-p-2"/>
          <p:cNvSpPr txBox="1"/>
          <p:nvPr/>
        </p:nvSpPr>
        <p:spPr>
          <a:xfrm>
            <a:off x="4612513" y="4500308"/>
            <a:ext cx="89725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可复用的经验与模板</a:t>
            </a:r>
          </a:p>
        </p:txBody>
      </p:sp>
      <p:sp>
        <p:nvSpPr>
          <p:cNvPr id="43" name="b-card-3"/>
          <p:cNvSpPr/>
          <p:nvPr/>
        </p:nvSpPr>
        <p:spPr>
          <a:xfrm>
            <a:off x="3263900" y="4838700"/>
            <a:ext cx="2362200" cy="342900"/>
          </a:xfrm>
          <a:custGeom>
            <a:avLst/>
            <a:gdLst/>
            <a:ahLst/>
            <a:cxnLst/>
            <a:rect l="0" t="0" r="r" b="b"/>
            <a:pathLst>
              <a:path w="2362200" h="342900">
                <a:moveTo>
                  <a:pt x="88900" y="0"/>
                </a:moveTo>
                <a:lnTo>
                  <a:pt x="2273300" y="0"/>
                </a:lnTo>
                <a:cubicBezTo>
                  <a:pt x="2322386" y="0"/>
                  <a:pt x="2362200" y="39814"/>
                  <a:pt x="2362200" y="88900"/>
                </a:cubicBezTo>
                <a:lnTo>
                  <a:pt x="2362200" y="254000"/>
                </a:lnTo>
                <a:cubicBezTo>
                  <a:pt x="2362200" y="303086"/>
                  <a:pt x="2322386" y="342900"/>
                  <a:pt x="2273300" y="342900"/>
                </a:cubicBezTo>
                <a:lnTo>
                  <a:pt x="88900" y="342900"/>
                </a:lnTo>
                <a:cubicBezTo>
                  <a:pt x="39814" y="342900"/>
                  <a:pt x="0" y="303086"/>
                  <a:pt x="0" y="2540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15000"/>
            </a:srgbClr>
          </a:solidFill>
          <a:ln w="6350" cap="rnd">
            <a:solidFill>
              <a:srgbClr val="FFFFFF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icon-gear"/>
          <p:cNvSpPr/>
          <p:nvPr/>
        </p:nvSpPr>
        <p:spPr>
          <a:xfrm>
            <a:off x="3406775" y="4951730"/>
            <a:ext cx="95250" cy="116840"/>
          </a:xfrm>
          <a:custGeom>
            <a:avLst/>
            <a:gdLst/>
            <a:ahLst/>
            <a:cxnLst/>
            <a:rect l="0" t="0" r="r" b="b"/>
            <a:pathLst>
              <a:path w="95250" h="116840">
                <a:moveTo>
                  <a:pt x="47625" y="36830"/>
                </a:moveTo>
                <a:cubicBezTo>
                  <a:pt x="39941" y="36830"/>
                  <a:pt x="32766" y="40958"/>
                  <a:pt x="28956" y="47625"/>
                </a:cubicBezTo>
                <a:cubicBezTo>
                  <a:pt x="25083" y="54293"/>
                  <a:pt x="25083" y="62548"/>
                  <a:pt x="28956" y="69215"/>
                </a:cubicBezTo>
                <a:cubicBezTo>
                  <a:pt x="32766" y="75883"/>
                  <a:pt x="39941" y="80010"/>
                  <a:pt x="47625" y="80010"/>
                </a:cubicBezTo>
                <a:cubicBezTo>
                  <a:pt x="59563" y="80010"/>
                  <a:pt x="69215" y="70358"/>
                  <a:pt x="69215" y="58420"/>
                </a:cubicBezTo>
                <a:cubicBezTo>
                  <a:pt x="69215" y="46482"/>
                  <a:pt x="59563" y="36830"/>
                  <a:pt x="47625" y="36830"/>
                </a:cubicBezTo>
                <a:close/>
                <a:moveTo>
                  <a:pt x="47625" y="0"/>
                </a:moveTo>
                <a:lnTo>
                  <a:pt x="54610" y="16510"/>
                </a:lnTo>
                <a:lnTo>
                  <a:pt x="72390" y="12700"/>
                </a:lnTo>
                <a:lnTo>
                  <a:pt x="78740" y="29845"/>
                </a:lnTo>
                <a:lnTo>
                  <a:pt x="95250" y="36830"/>
                </a:lnTo>
                <a:lnTo>
                  <a:pt x="87630" y="53340"/>
                </a:lnTo>
                <a:lnTo>
                  <a:pt x="95250" y="69850"/>
                </a:lnTo>
                <a:lnTo>
                  <a:pt x="78740" y="76835"/>
                </a:lnTo>
                <a:lnTo>
                  <a:pt x="72390" y="93980"/>
                </a:lnTo>
                <a:lnTo>
                  <a:pt x="54610" y="90170"/>
                </a:lnTo>
                <a:lnTo>
                  <a:pt x="47625" y="116840"/>
                </a:lnTo>
                <a:lnTo>
                  <a:pt x="40640" y="100330"/>
                </a:lnTo>
                <a:lnTo>
                  <a:pt x="22860" y="104140"/>
                </a:lnTo>
                <a:lnTo>
                  <a:pt x="16510" y="86995"/>
                </a:lnTo>
                <a:lnTo>
                  <a:pt x="0" y="80010"/>
                </a:lnTo>
                <a:lnTo>
                  <a:pt x="7620" y="58420"/>
                </a:lnTo>
                <a:lnTo>
                  <a:pt x="0" y="41910"/>
                </a:lnTo>
                <a:lnTo>
                  <a:pt x="16510" y="34925"/>
                </a:lnTo>
                <a:lnTo>
                  <a:pt x="22860" y="17780"/>
                </a:lnTo>
                <a:lnTo>
                  <a:pt x="40640" y="21590"/>
                </a:lnTo>
                <a:close/>
              </a:path>
            </a:pathLst>
          </a:custGeom>
          <a:noFill/>
          <a:ln w="1270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b-n-3"/>
          <p:cNvSpPr txBox="1"/>
          <p:nvPr/>
        </p:nvSpPr>
        <p:spPr>
          <a:xfrm>
            <a:off x="3605022" y="4899247"/>
            <a:ext cx="62166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决策机制</a:t>
            </a:r>
          </a:p>
        </p:txBody>
      </p:sp>
      <p:sp>
        <p:nvSpPr>
          <p:cNvPr id="46" name="b-p-3"/>
          <p:cNvSpPr txBox="1"/>
          <p:nvPr/>
        </p:nvSpPr>
        <p:spPr>
          <a:xfrm>
            <a:off x="4612513" y="4932108"/>
            <a:ext cx="89725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谁拍板、按什么标准</a:t>
            </a:r>
          </a:p>
        </p:txBody>
      </p:sp>
      <p:sp>
        <p:nvSpPr>
          <p:cNvPr id="47" name="b-card-4"/>
          <p:cNvSpPr/>
          <p:nvPr/>
        </p:nvSpPr>
        <p:spPr>
          <a:xfrm>
            <a:off x="3263900" y="5270500"/>
            <a:ext cx="2362200" cy="342900"/>
          </a:xfrm>
          <a:custGeom>
            <a:avLst/>
            <a:gdLst/>
            <a:ahLst/>
            <a:cxnLst/>
            <a:rect l="0" t="0" r="r" b="b"/>
            <a:pathLst>
              <a:path w="2362200" h="342900">
                <a:moveTo>
                  <a:pt x="88900" y="0"/>
                </a:moveTo>
                <a:lnTo>
                  <a:pt x="2273300" y="0"/>
                </a:lnTo>
                <a:cubicBezTo>
                  <a:pt x="2322386" y="0"/>
                  <a:pt x="2362200" y="39814"/>
                  <a:pt x="2362200" y="88900"/>
                </a:cubicBezTo>
                <a:lnTo>
                  <a:pt x="2362200" y="254000"/>
                </a:lnTo>
                <a:cubicBezTo>
                  <a:pt x="2362200" y="303086"/>
                  <a:pt x="2322386" y="342900"/>
                  <a:pt x="2273300" y="342900"/>
                </a:cubicBezTo>
                <a:lnTo>
                  <a:pt x="88900" y="342900"/>
                </a:lnTo>
                <a:cubicBezTo>
                  <a:pt x="39814" y="342900"/>
                  <a:pt x="0" y="303086"/>
                  <a:pt x="0" y="2540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15000"/>
            </a:srgbClr>
          </a:solidFill>
          <a:ln w="6350" cap="rnd">
            <a:solidFill>
              <a:srgbClr val="FFFFFF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icon-star"/>
          <p:cNvSpPr/>
          <p:nvPr/>
        </p:nvSpPr>
        <p:spPr>
          <a:xfrm>
            <a:off x="3400425" y="5388610"/>
            <a:ext cx="107950" cy="102870"/>
          </a:xfrm>
          <a:custGeom>
            <a:avLst/>
            <a:gdLst/>
            <a:ahLst/>
            <a:cxnLst/>
            <a:rect l="0" t="0" r="r" b="b"/>
            <a:pathLst>
              <a:path w="107950" h="102870">
                <a:moveTo>
                  <a:pt x="53975" y="0"/>
                </a:moveTo>
                <a:lnTo>
                  <a:pt x="70485" y="34290"/>
                </a:lnTo>
                <a:lnTo>
                  <a:pt x="107950" y="39370"/>
                </a:lnTo>
                <a:lnTo>
                  <a:pt x="80645" y="65405"/>
                </a:lnTo>
                <a:lnTo>
                  <a:pt x="87630" y="102870"/>
                </a:lnTo>
                <a:lnTo>
                  <a:pt x="53975" y="84455"/>
                </a:lnTo>
                <a:lnTo>
                  <a:pt x="20320" y="102870"/>
                </a:lnTo>
                <a:lnTo>
                  <a:pt x="27305" y="65405"/>
                </a:lnTo>
                <a:lnTo>
                  <a:pt x="0" y="39370"/>
                </a:lnTo>
                <a:lnTo>
                  <a:pt x="37465" y="34290"/>
                </a:lnTo>
                <a:close/>
              </a:path>
            </a:pathLst>
          </a:custGeom>
          <a:noFill/>
          <a:ln w="1270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b-n-4"/>
          <p:cNvSpPr txBox="1"/>
          <p:nvPr/>
        </p:nvSpPr>
        <p:spPr>
          <a:xfrm>
            <a:off x="3605022" y="5331047"/>
            <a:ext cx="87820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文化与价值观</a:t>
            </a:r>
          </a:p>
        </p:txBody>
      </p:sp>
      <p:sp>
        <p:nvSpPr>
          <p:cNvPr id="50" name="b-p-4"/>
          <p:cNvSpPr txBox="1"/>
          <p:nvPr/>
        </p:nvSpPr>
        <p:spPr>
          <a:xfrm>
            <a:off x="4703318" y="5363908"/>
            <a:ext cx="80645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无人监督时的选择</a:t>
            </a:r>
          </a:p>
        </p:txBody>
      </p:sp>
      <p:sp>
        <p:nvSpPr>
          <p:cNvPr id="51" name="side-bar"/>
          <p:cNvSpPr/>
          <p:nvPr/>
        </p:nvSpPr>
        <p:spPr>
          <a:xfrm>
            <a:off x="8064500" y="15621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side-h"/>
          <p:cNvSpPr txBox="1"/>
          <p:nvPr/>
        </p:nvSpPr>
        <p:spPr>
          <a:xfrm>
            <a:off x="8223250" y="1569244"/>
            <a:ext cx="13430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为什么要看水下</a:t>
            </a:r>
          </a:p>
        </p:txBody>
      </p:sp>
      <p:sp>
        <p:nvSpPr>
          <p:cNvPr id="53" name="side-p"/>
          <p:cNvSpPr txBox="1"/>
          <p:nvPr/>
        </p:nvSpPr>
        <p:spPr>
          <a:xfrm>
            <a:off x="8228965" y="18439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三个真实发生的例子</a:t>
            </a:r>
          </a:p>
        </p:txBody>
      </p:sp>
      <p:sp>
        <p:nvSpPr>
          <p:cNvPr id="54" name="case-1"/>
          <p:cNvSpPr/>
          <p:nvPr/>
        </p:nvSpPr>
        <p:spPr>
          <a:xfrm>
            <a:off x="8064500" y="2311400"/>
            <a:ext cx="3175000" cy="965200"/>
          </a:xfrm>
          <a:custGeom>
            <a:avLst/>
            <a:gdLst/>
            <a:ahLst/>
            <a:cxnLst/>
            <a:rect l="0" t="0" r="r" b="b"/>
            <a:pathLst>
              <a:path w="3175000" h="965200">
                <a:moveTo>
                  <a:pt x="114300" y="0"/>
                </a:moveTo>
                <a:lnTo>
                  <a:pt x="3060700" y="0"/>
                </a:lnTo>
                <a:cubicBezTo>
                  <a:pt x="3123819" y="0"/>
                  <a:pt x="3175000" y="51181"/>
                  <a:pt x="3175000" y="114300"/>
                </a:cubicBezTo>
                <a:lnTo>
                  <a:pt x="3175000" y="850900"/>
                </a:lnTo>
                <a:cubicBezTo>
                  <a:pt x="3175000" y="914019"/>
                  <a:pt x="3123819" y="965200"/>
                  <a:pt x="3060700" y="965200"/>
                </a:cubicBezTo>
                <a:lnTo>
                  <a:pt x="114300" y="965200"/>
                </a:lnTo>
                <a:cubicBezTo>
                  <a:pt x="51181" y="965200"/>
                  <a:pt x="0" y="914019"/>
                  <a:pt x="0" y="850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caseb-1"/>
          <p:cNvSpPr/>
          <p:nvPr/>
        </p:nvSpPr>
        <p:spPr>
          <a:xfrm>
            <a:off x="8064500" y="2311400"/>
            <a:ext cx="31750" cy="965200"/>
          </a:xfrm>
          <a:custGeom>
            <a:avLst/>
            <a:gdLst/>
            <a:ahLst/>
            <a:cxnLst/>
            <a:rect l="0" t="0" r="r" b="b"/>
            <a:pathLst>
              <a:path w="31750" h="965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949325"/>
                </a:lnTo>
                <a:cubicBezTo>
                  <a:pt x="31750" y="958088"/>
                  <a:pt x="24638" y="965200"/>
                  <a:pt x="15875" y="965200"/>
                </a:cubicBezTo>
                <a:lnTo>
                  <a:pt x="15875" y="965200"/>
                </a:lnTo>
                <a:cubicBezTo>
                  <a:pt x="7112" y="965200"/>
                  <a:pt x="0" y="958088"/>
                  <a:pt x="0" y="949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icon-process"/>
          <p:cNvSpPr/>
          <p:nvPr/>
        </p:nvSpPr>
        <p:spPr>
          <a:xfrm>
            <a:off x="8289099" y="2586546"/>
            <a:ext cx="109601" cy="59309"/>
          </a:xfrm>
          <a:custGeom>
            <a:avLst/>
            <a:gdLst/>
            <a:ahLst/>
            <a:cxnLst/>
            <a:rect l="0" t="0" r="r" b="b"/>
            <a:pathLst>
              <a:path w="109601" h="59309">
                <a:moveTo>
                  <a:pt x="0" y="0"/>
                </a:moveTo>
                <a:lnTo>
                  <a:pt x="38481" y="0"/>
                </a:lnTo>
                <a:lnTo>
                  <a:pt x="38481" y="38544"/>
                </a:lnTo>
                <a:lnTo>
                  <a:pt x="0" y="38544"/>
                </a:lnTo>
                <a:close/>
                <a:moveTo>
                  <a:pt x="71120" y="20765"/>
                </a:moveTo>
                <a:lnTo>
                  <a:pt x="109601" y="20765"/>
                </a:lnTo>
                <a:lnTo>
                  <a:pt x="109601" y="59309"/>
                </a:lnTo>
                <a:lnTo>
                  <a:pt x="71120" y="59309"/>
                </a:lnTo>
                <a:close/>
                <a:moveTo>
                  <a:pt x="38481" y="19304"/>
                </a:moveTo>
                <a:lnTo>
                  <a:pt x="71120" y="19304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caseh-1"/>
          <p:cNvSpPr txBox="1"/>
          <p:nvPr/>
        </p:nvSpPr>
        <p:spPr>
          <a:xfrm>
            <a:off x="8556498" y="2502313"/>
            <a:ext cx="138874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流程改了，效率没变</a:t>
            </a:r>
          </a:p>
        </p:txBody>
      </p:sp>
      <p:sp>
        <p:nvSpPr>
          <p:cNvPr id="58" name="casep-1"/>
          <p:cNvSpPr txBox="1"/>
          <p:nvPr/>
        </p:nvSpPr>
        <p:spPr>
          <a:xfrm>
            <a:off x="8243189" y="2799445"/>
            <a:ext cx="1675067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文件更新到 v6，一线仍按老习惯走</a:t>
            </a:r>
          </a:p>
        </p:txBody>
      </p:sp>
      <p:sp>
        <p:nvSpPr>
          <p:cNvPr id="59" name="casec-1"/>
          <p:cNvSpPr/>
          <p:nvPr/>
        </p:nvSpPr>
        <p:spPr>
          <a:xfrm>
            <a:off x="8255000" y="3009900"/>
            <a:ext cx="1092200" cy="190500"/>
          </a:xfrm>
          <a:custGeom>
            <a:avLst/>
            <a:gdLst/>
            <a:ahLst/>
            <a:cxnLst/>
            <a:rect l="0" t="0" r="r" b="b"/>
            <a:pathLst>
              <a:path w="1092200" h="190500">
                <a:moveTo>
                  <a:pt x="95250" y="0"/>
                </a:moveTo>
                <a:lnTo>
                  <a:pt x="996950" y="0"/>
                </a:lnTo>
                <a:cubicBezTo>
                  <a:pt x="1049528" y="0"/>
                  <a:pt x="1092200" y="42672"/>
                  <a:pt x="1092200" y="95250"/>
                </a:cubicBezTo>
                <a:lnTo>
                  <a:pt x="1092200" y="95250"/>
                </a:lnTo>
                <a:cubicBezTo>
                  <a:pt x="1092200" y="147828"/>
                  <a:pt x="1049528" y="190500"/>
                  <a:pt x="9969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caset-1"/>
          <p:cNvSpPr txBox="1"/>
          <p:nvPr/>
        </p:nvSpPr>
        <p:spPr>
          <a:xfrm>
            <a:off x="8482965" y="3027108"/>
            <a:ext cx="6362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3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协作习惯没动</a:t>
            </a:r>
          </a:p>
        </p:txBody>
      </p:sp>
      <p:sp>
        <p:nvSpPr>
          <p:cNvPr id="61" name="case-2"/>
          <p:cNvSpPr/>
          <p:nvPr/>
        </p:nvSpPr>
        <p:spPr>
          <a:xfrm>
            <a:off x="8064500" y="3429000"/>
            <a:ext cx="3175000" cy="965200"/>
          </a:xfrm>
          <a:custGeom>
            <a:avLst/>
            <a:gdLst/>
            <a:ahLst/>
            <a:cxnLst/>
            <a:rect l="0" t="0" r="r" b="b"/>
            <a:pathLst>
              <a:path w="3175000" h="965200">
                <a:moveTo>
                  <a:pt x="114300" y="0"/>
                </a:moveTo>
                <a:lnTo>
                  <a:pt x="3060700" y="0"/>
                </a:lnTo>
                <a:cubicBezTo>
                  <a:pt x="3123819" y="0"/>
                  <a:pt x="3175000" y="51181"/>
                  <a:pt x="3175000" y="114300"/>
                </a:cubicBezTo>
                <a:lnTo>
                  <a:pt x="3175000" y="850900"/>
                </a:lnTo>
                <a:cubicBezTo>
                  <a:pt x="3175000" y="914019"/>
                  <a:pt x="3123819" y="965200"/>
                  <a:pt x="3060700" y="965200"/>
                </a:cubicBezTo>
                <a:lnTo>
                  <a:pt x="114300" y="965200"/>
                </a:lnTo>
                <a:cubicBezTo>
                  <a:pt x="51181" y="965200"/>
                  <a:pt x="0" y="914019"/>
                  <a:pt x="0" y="850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caseb-2"/>
          <p:cNvSpPr/>
          <p:nvPr/>
        </p:nvSpPr>
        <p:spPr>
          <a:xfrm>
            <a:off x="8064500" y="3429000"/>
            <a:ext cx="31750" cy="965200"/>
          </a:xfrm>
          <a:custGeom>
            <a:avLst/>
            <a:gdLst/>
            <a:ahLst/>
            <a:cxnLst/>
            <a:rect l="0" t="0" r="r" b="b"/>
            <a:pathLst>
              <a:path w="31750" h="965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949325"/>
                </a:lnTo>
                <a:cubicBezTo>
                  <a:pt x="31750" y="958088"/>
                  <a:pt x="24638" y="965200"/>
                  <a:pt x="15875" y="965200"/>
                </a:cubicBezTo>
                <a:lnTo>
                  <a:pt x="15875" y="965200"/>
                </a:lnTo>
                <a:cubicBezTo>
                  <a:pt x="7112" y="965200"/>
                  <a:pt x="0" y="958088"/>
                  <a:pt x="0" y="949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icon-book"/>
          <p:cNvSpPr/>
          <p:nvPr/>
        </p:nvSpPr>
        <p:spPr>
          <a:xfrm>
            <a:off x="8287576" y="3683445"/>
            <a:ext cx="112649" cy="105156"/>
          </a:xfrm>
          <a:custGeom>
            <a:avLst/>
            <a:gdLst/>
            <a:ahLst/>
            <a:cxnLst/>
            <a:rect l="0" t="0" r="r" b="b"/>
            <a:pathLst>
              <a:path w="112649" h="105156">
                <a:moveTo>
                  <a:pt x="0" y="0"/>
                </a:moveTo>
                <a:lnTo>
                  <a:pt x="40005" y="0"/>
                </a:lnTo>
                <a:cubicBezTo>
                  <a:pt x="48895" y="0"/>
                  <a:pt x="56324" y="7366"/>
                  <a:pt x="56324" y="16256"/>
                </a:cubicBezTo>
                <a:lnTo>
                  <a:pt x="56324" y="105156"/>
                </a:lnTo>
                <a:cubicBezTo>
                  <a:pt x="56324" y="97790"/>
                  <a:pt x="49657" y="91821"/>
                  <a:pt x="41529" y="91821"/>
                </a:cubicBezTo>
                <a:lnTo>
                  <a:pt x="0" y="91821"/>
                </a:lnTo>
                <a:close/>
                <a:moveTo>
                  <a:pt x="112649" y="0"/>
                </a:moveTo>
                <a:lnTo>
                  <a:pt x="72644" y="0"/>
                </a:lnTo>
                <a:cubicBezTo>
                  <a:pt x="63754" y="0"/>
                  <a:pt x="56324" y="7366"/>
                  <a:pt x="56324" y="16256"/>
                </a:cubicBezTo>
                <a:lnTo>
                  <a:pt x="56324" y="105156"/>
                </a:lnTo>
                <a:cubicBezTo>
                  <a:pt x="56324" y="97790"/>
                  <a:pt x="62992" y="91821"/>
                  <a:pt x="71120" y="91821"/>
                </a:cubicBezTo>
                <a:lnTo>
                  <a:pt x="112649" y="91821"/>
                </a:lnTo>
                <a:close/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caseh-2"/>
          <p:cNvSpPr txBox="1"/>
          <p:nvPr/>
        </p:nvSpPr>
        <p:spPr>
          <a:xfrm>
            <a:off x="8556498" y="3619913"/>
            <a:ext cx="124777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人走了，能力归零</a:t>
            </a:r>
          </a:p>
        </p:txBody>
      </p:sp>
      <p:sp>
        <p:nvSpPr>
          <p:cNvPr id="65" name="casep-2"/>
          <p:cNvSpPr txBox="1"/>
          <p:nvPr/>
        </p:nvSpPr>
        <p:spPr>
          <a:xfrm>
            <a:off x="8243189" y="3917045"/>
            <a:ext cx="1502093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关键经验只存在个别员工脑子里</a:t>
            </a:r>
          </a:p>
        </p:txBody>
      </p:sp>
      <p:sp>
        <p:nvSpPr>
          <p:cNvPr id="66" name="casec-2"/>
          <p:cNvSpPr/>
          <p:nvPr/>
        </p:nvSpPr>
        <p:spPr>
          <a:xfrm>
            <a:off x="8255000" y="4127500"/>
            <a:ext cx="1092200" cy="190500"/>
          </a:xfrm>
          <a:custGeom>
            <a:avLst/>
            <a:gdLst/>
            <a:ahLst/>
            <a:cxnLst/>
            <a:rect l="0" t="0" r="r" b="b"/>
            <a:pathLst>
              <a:path w="1092200" h="190500">
                <a:moveTo>
                  <a:pt x="95250" y="0"/>
                </a:moveTo>
                <a:lnTo>
                  <a:pt x="996950" y="0"/>
                </a:lnTo>
                <a:cubicBezTo>
                  <a:pt x="1049528" y="0"/>
                  <a:pt x="1092200" y="42672"/>
                  <a:pt x="1092200" y="95250"/>
                </a:cubicBezTo>
                <a:lnTo>
                  <a:pt x="1092200" y="95250"/>
                </a:lnTo>
                <a:cubicBezTo>
                  <a:pt x="1092200" y="147828"/>
                  <a:pt x="1049528" y="190500"/>
                  <a:pt x="9969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caset-2"/>
          <p:cNvSpPr txBox="1"/>
          <p:nvPr/>
        </p:nvSpPr>
        <p:spPr>
          <a:xfrm>
            <a:off x="8482965" y="4144708"/>
            <a:ext cx="6362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30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知识没有沉淀</a:t>
            </a:r>
          </a:p>
        </p:txBody>
      </p:sp>
      <p:sp>
        <p:nvSpPr>
          <p:cNvPr id="68" name="case-3"/>
          <p:cNvSpPr/>
          <p:nvPr/>
        </p:nvSpPr>
        <p:spPr>
          <a:xfrm>
            <a:off x="8064500" y="4546600"/>
            <a:ext cx="3175000" cy="965200"/>
          </a:xfrm>
          <a:custGeom>
            <a:avLst/>
            <a:gdLst/>
            <a:ahLst/>
            <a:cxnLst/>
            <a:rect l="0" t="0" r="r" b="b"/>
            <a:pathLst>
              <a:path w="3175000" h="965200">
                <a:moveTo>
                  <a:pt x="114300" y="0"/>
                </a:moveTo>
                <a:lnTo>
                  <a:pt x="3060700" y="0"/>
                </a:lnTo>
                <a:cubicBezTo>
                  <a:pt x="3123819" y="0"/>
                  <a:pt x="3175000" y="51181"/>
                  <a:pt x="3175000" y="114300"/>
                </a:cubicBezTo>
                <a:lnTo>
                  <a:pt x="3175000" y="850900"/>
                </a:lnTo>
                <a:cubicBezTo>
                  <a:pt x="3175000" y="914019"/>
                  <a:pt x="3123819" y="965200"/>
                  <a:pt x="3060700" y="965200"/>
                </a:cubicBezTo>
                <a:lnTo>
                  <a:pt x="114300" y="965200"/>
                </a:lnTo>
                <a:cubicBezTo>
                  <a:pt x="51181" y="965200"/>
                  <a:pt x="0" y="914019"/>
                  <a:pt x="0" y="850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caseb-3"/>
          <p:cNvSpPr/>
          <p:nvPr/>
        </p:nvSpPr>
        <p:spPr>
          <a:xfrm>
            <a:off x="8064500" y="4546600"/>
            <a:ext cx="31750" cy="965200"/>
          </a:xfrm>
          <a:custGeom>
            <a:avLst/>
            <a:gdLst/>
            <a:ahLst/>
            <a:cxnLst/>
            <a:rect l="0" t="0" r="r" b="b"/>
            <a:pathLst>
              <a:path w="31750" h="965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949325"/>
                </a:lnTo>
                <a:cubicBezTo>
                  <a:pt x="31750" y="958088"/>
                  <a:pt x="24638" y="965200"/>
                  <a:pt x="15875" y="965200"/>
                </a:cubicBezTo>
                <a:lnTo>
                  <a:pt x="15875" y="965200"/>
                </a:lnTo>
                <a:cubicBezTo>
                  <a:pt x="7112" y="965200"/>
                  <a:pt x="0" y="958088"/>
                  <a:pt x="0" y="949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icon-gear"/>
          <p:cNvSpPr/>
          <p:nvPr/>
        </p:nvSpPr>
        <p:spPr>
          <a:xfrm>
            <a:off x="8288338" y="4783264"/>
            <a:ext cx="111125" cy="136271"/>
          </a:xfrm>
          <a:custGeom>
            <a:avLst/>
            <a:gdLst/>
            <a:ahLst/>
            <a:cxnLst/>
            <a:rect l="0" t="0" r="r" b="b"/>
            <a:pathLst>
              <a:path w="111125" h="136271">
                <a:moveTo>
                  <a:pt x="55562" y="42926"/>
                </a:moveTo>
                <a:cubicBezTo>
                  <a:pt x="46545" y="42926"/>
                  <a:pt x="38227" y="47752"/>
                  <a:pt x="33718" y="55562"/>
                </a:cubicBezTo>
                <a:cubicBezTo>
                  <a:pt x="29273" y="63310"/>
                  <a:pt x="29273" y="72962"/>
                  <a:pt x="33718" y="80709"/>
                </a:cubicBezTo>
                <a:cubicBezTo>
                  <a:pt x="38227" y="88519"/>
                  <a:pt x="46545" y="93345"/>
                  <a:pt x="55562" y="93345"/>
                </a:cubicBezTo>
                <a:cubicBezTo>
                  <a:pt x="69469" y="93345"/>
                  <a:pt x="80772" y="82042"/>
                  <a:pt x="80772" y="68136"/>
                </a:cubicBezTo>
                <a:cubicBezTo>
                  <a:pt x="80772" y="54229"/>
                  <a:pt x="69469" y="42926"/>
                  <a:pt x="55562" y="42926"/>
                </a:cubicBezTo>
                <a:close/>
                <a:moveTo>
                  <a:pt x="55562" y="0"/>
                </a:moveTo>
                <a:lnTo>
                  <a:pt x="63690" y="19240"/>
                </a:lnTo>
                <a:lnTo>
                  <a:pt x="84455" y="14796"/>
                </a:lnTo>
                <a:lnTo>
                  <a:pt x="91885" y="34798"/>
                </a:lnTo>
                <a:lnTo>
                  <a:pt x="111125" y="42926"/>
                </a:lnTo>
                <a:lnTo>
                  <a:pt x="102235" y="62230"/>
                </a:lnTo>
                <a:lnTo>
                  <a:pt x="111125" y="81471"/>
                </a:lnTo>
                <a:lnTo>
                  <a:pt x="91885" y="89599"/>
                </a:lnTo>
                <a:lnTo>
                  <a:pt x="84455" y="109601"/>
                </a:lnTo>
                <a:lnTo>
                  <a:pt x="63690" y="105156"/>
                </a:lnTo>
                <a:lnTo>
                  <a:pt x="55562" y="136271"/>
                </a:lnTo>
                <a:lnTo>
                  <a:pt x="47435" y="117031"/>
                </a:lnTo>
                <a:lnTo>
                  <a:pt x="26670" y="121475"/>
                </a:lnTo>
                <a:lnTo>
                  <a:pt x="19240" y="101473"/>
                </a:lnTo>
                <a:lnTo>
                  <a:pt x="0" y="93345"/>
                </a:lnTo>
                <a:lnTo>
                  <a:pt x="8890" y="68136"/>
                </a:lnTo>
                <a:lnTo>
                  <a:pt x="0" y="48895"/>
                </a:lnTo>
                <a:lnTo>
                  <a:pt x="19240" y="40703"/>
                </a:lnTo>
                <a:lnTo>
                  <a:pt x="26670" y="20701"/>
                </a:lnTo>
                <a:lnTo>
                  <a:pt x="47435" y="25146"/>
                </a:lnTo>
                <a:close/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caseh-3"/>
          <p:cNvSpPr txBox="1"/>
          <p:nvPr/>
        </p:nvSpPr>
        <p:spPr>
          <a:xfrm>
            <a:off x="8556498" y="4737513"/>
            <a:ext cx="138874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决策反复，执行打折</a:t>
            </a:r>
          </a:p>
        </p:txBody>
      </p:sp>
      <p:sp>
        <p:nvSpPr>
          <p:cNvPr id="72" name="casep-3"/>
          <p:cNvSpPr txBox="1"/>
          <p:nvPr/>
        </p:nvSpPr>
        <p:spPr>
          <a:xfrm>
            <a:off x="8243189" y="5034645"/>
            <a:ext cx="1502093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同一件事三个月内改了两次口径</a:t>
            </a:r>
          </a:p>
        </p:txBody>
      </p:sp>
      <p:sp>
        <p:nvSpPr>
          <p:cNvPr id="73" name="casec-3"/>
          <p:cNvSpPr/>
          <p:nvPr/>
        </p:nvSpPr>
        <p:spPr>
          <a:xfrm>
            <a:off x="8255000" y="5245100"/>
            <a:ext cx="1092200" cy="190500"/>
          </a:xfrm>
          <a:custGeom>
            <a:avLst/>
            <a:gdLst/>
            <a:ahLst/>
            <a:cxnLst/>
            <a:rect l="0" t="0" r="r" b="b"/>
            <a:pathLst>
              <a:path w="1092200" h="190500">
                <a:moveTo>
                  <a:pt x="95250" y="0"/>
                </a:moveTo>
                <a:lnTo>
                  <a:pt x="996950" y="0"/>
                </a:lnTo>
                <a:cubicBezTo>
                  <a:pt x="1049528" y="0"/>
                  <a:pt x="1092200" y="42672"/>
                  <a:pt x="1092200" y="95250"/>
                </a:cubicBezTo>
                <a:lnTo>
                  <a:pt x="1092200" y="95250"/>
                </a:lnTo>
                <a:cubicBezTo>
                  <a:pt x="1092200" y="147828"/>
                  <a:pt x="1049528" y="190500"/>
                  <a:pt x="9969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caset-3"/>
          <p:cNvSpPr txBox="1"/>
          <p:nvPr/>
        </p:nvSpPr>
        <p:spPr>
          <a:xfrm>
            <a:off x="8482965" y="5262308"/>
            <a:ext cx="6362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30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决策机制不清</a:t>
            </a:r>
          </a:p>
        </p:txBody>
      </p:sp>
      <p:sp>
        <p:nvSpPr>
          <p:cNvPr id="75" name="sum"/>
          <p:cNvSpPr/>
          <p:nvPr/>
        </p:nvSpPr>
        <p:spPr>
          <a:xfrm>
            <a:off x="952500" y="5930900"/>
            <a:ext cx="10287000" cy="393700"/>
          </a:xfrm>
          <a:custGeom>
            <a:avLst/>
            <a:gdLst/>
            <a:ahLst/>
            <a:cxnLst/>
            <a:rect l="0" t="0" r="r" b="b"/>
            <a:pathLst>
              <a:path w="10287000" h="3937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04800"/>
                </a:lnTo>
                <a:cubicBezTo>
                  <a:pt x="10287000" y="353886"/>
                  <a:pt x="10247186" y="393700"/>
                  <a:pt x="10198100" y="393700"/>
                </a:cubicBezTo>
                <a:lnTo>
                  <a:pt x="88900" y="393700"/>
                </a:lnTo>
                <a:cubicBezTo>
                  <a:pt x="39815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sum-bar"/>
          <p:cNvSpPr/>
          <p:nvPr/>
        </p:nvSpPr>
        <p:spPr>
          <a:xfrm>
            <a:off x="952500" y="5930900"/>
            <a:ext cx="31750" cy="3937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sum-h"/>
          <p:cNvSpPr txBox="1"/>
          <p:nvPr/>
        </p:nvSpPr>
        <p:spPr>
          <a:xfrm>
            <a:off x="1142746" y="60388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改善顺序</a:t>
            </a:r>
          </a:p>
        </p:txBody>
      </p:sp>
      <p:sp>
        <p:nvSpPr>
          <p:cNvPr id="78" name="sum-p"/>
          <p:cNvSpPr txBox="1"/>
          <p:nvPr/>
        </p:nvSpPr>
        <p:spPr>
          <a:xfrm>
            <a:off x="1891665" y="6034961"/>
            <a:ext cx="407828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先补水下四项，再优化水上流程；只改流程不改习惯，三个月后一定回到原样。</a:t>
            </a:r>
          </a:p>
        </p:txBody>
      </p:sp>
      <p:cxnSp>
        <p:nvCxnSpPr>
          <p:cNvPr id="79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0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冰山模型 · 显性与隐性</a:t>
            </a:r>
          </a:p>
        </p:txBody>
      </p:sp>
      <p:sp>
        <p:nvSpPr>
          <p:cNvPr id="81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客户成功保障体系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71907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UMBRELLA FRAMEWORK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008999" y="673132"/>
            <a:ext cx="2611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一个总纲之下，五项保障共同撑起客户全生命周期</a:t>
            </a:r>
          </a:p>
        </p:txBody>
      </p:sp>
      <p:sp>
        <p:nvSpPr>
          <p:cNvPr id="10" name="dome"/>
          <p:cNvSpPr/>
          <p:nvPr/>
        </p:nvSpPr>
        <p:spPr>
          <a:xfrm>
            <a:off x="2032000" y="1358900"/>
            <a:ext cx="7112000" cy="1466850"/>
          </a:xfrm>
          <a:custGeom>
            <a:avLst/>
            <a:gdLst/>
            <a:ahLst/>
            <a:cxnLst/>
            <a:rect l="0" t="0" r="r" b="b"/>
            <a:pathLst>
              <a:path w="7112000" h="1466850">
                <a:moveTo>
                  <a:pt x="0" y="1371600"/>
                </a:moveTo>
                <a:lnTo>
                  <a:pt x="5080" y="1299845"/>
                </a:lnTo>
                <a:lnTo>
                  <a:pt x="19685" y="1228090"/>
                </a:lnTo>
                <a:lnTo>
                  <a:pt x="43815" y="1156970"/>
                </a:lnTo>
                <a:lnTo>
                  <a:pt x="77470" y="1086485"/>
                </a:lnTo>
                <a:lnTo>
                  <a:pt x="121285" y="1016635"/>
                </a:lnTo>
                <a:lnTo>
                  <a:pt x="173990" y="948055"/>
                </a:lnTo>
                <a:lnTo>
                  <a:pt x="236220" y="880110"/>
                </a:lnTo>
                <a:lnTo>
                  <a:pt x="307340" y="813435"/>
                </a:lnTo>
                <a:lnTo>
                  <a:pt x="387350" y="748665"/>
                </a:lnTo>
                <a:lnTo>
                  <a:pt x="476250" y="685800"/>
                </a:lnTo>
                <a:lnTo>
                  <a:pt x="573405" y="624840"/>
                </a:lnTo>
                <a:lnTo>
                  <a:pt x="679450" y="565150"/>
                </a:lnTo>
                <a:lnTo>
                  <a:pt x="792480" y="508635"/>
                </a:lnTo>
                <a:lnTo>
                  <a:pt x="913130" y="454025"/>
                </a:lnTo>
                <a:lnTo>
                  <a:pt x="1041400" y="401955"/>
                </a:lnTo>
                <a:lnTo>
                  <a:pt x="1176655" y="352425"/>
                </a:lnTo>
                <a:lnTo>
                  <a:pt x="1318260" y="305435"/>
                </a:lnTo>
                <a:lnTo>
                  <a:pt x="1465580" y="262255"/>
                </a:lnTo>
                <a:lnTo>
                  <a:pt x="1619250" y="220980"/>
                </a:lnTo>
                <a:lnTo>
                  <a:pt x="1778000" y="183515"/>
                </a:lnTo>
                <a:lnTo>
                  <a:pt x="1941830" y="149225"/>
                </a:lnTo>
                <a:lnTo>
                  <a:pt x="2109470" y="118745"/>
                </a:lnTo>
                <a:lnTo>
                  <a:pt x="2281555" y="90805"/>
                </a:lnTo>
                <a:lnTo>
                  <a:pt x="2457450" y="67310"/>
                </a:lnTo>
                <a:lnTo>
                  <a:pt x="2635885" y="46990"/>
                </a:lnTo>
                <a:lnTo>
                  <a:pt x="2816860" y="29845"/>
                </a:lnTo>
                <a:lnTo>
                  <a:pt x="2999740" y="17145"/>
                </a:lnTo>
                <a:lnTo>
                  <a:pt x="3184525" y="7620"/>
                </a:lnTo>
                <a:lnTo>
                  <a:pt x="3369945" y="1905"/>
                </a:lnTo>
                <a:lnTo>
                  <a:pt x="3556000" y="0"/>
                </a:lnTo>
                <a:lnTo>
                  <a:pt x="3742055" y="1905"/>
                </a:lnTo>
                <a:lnTo>
                  <a:pt x="3927475" y="7620"/>
                </a:lnTo>
                <a:lnTo>
                  <a:pt x="4112260" y="17145"/>
                </a:lnTo>
                <a:lnTo>
                  <a:pt x="4295140" y="29845"/>
                </a:lnTo>
                <a:lnTo>
                  <a:pt x="4476115" y="46990"/>
                </a:lnTo>
                <a:lnTo>
                  <a:pt x="4654550" y="67310"/>
                </a:lnTo>
                <a:lnTo>
                  <a:pt x="4830445" y="90805"/>
                </a:lnTo>
                <a:lnTo>
                  <a:pt x="5002530" y="118745"/>
                </a:lnTo>
                <a:lnTo>
                  <a:pt x="5170170" y="149225"/>
                </a:lnTo>
                <a:lnTo>
                  <a:pt x="5334000" y="183515"/>
                </a:lnTo>
                <a:lnTo>
                  <a:pt x="5492750" y="220980"/>
                </a:lnTo>
                <a:lnTo>
                  <a:pt x="5646420" y="262255"/>
                </a:lnTo>
                <a:lnTo>
                  <a:pt x="5793740" y="305435"/>
                </a:lnTo>
                <a:lnTo>
                  <a:pt x="5935345" y="352425"/>
                </a:lnTo>
                <a:lnTo>
                  <a:pt x="6070600" y="401955"/>
                </a:lnTo>
                <a:lnTo>
                  <a:pt x="6198870" y="454025"/>
                </a:lnTo>
                <a:lnTo>
                  <a:pt x="6319520" y="508635"/>
                </a:lnTo>
                <a:lnTo>
                  <a:pt x="6432550" y="565150"/>
                </a:lnTo>
                <a:lnTo>
                  <a:pt x="6538595" y="624840"/>
                </a:lnTo>
                <a:lnTo>
                  <a:pt x="6635750" y="685800"/>
                </a:lnTo>
                <a:lnTo>
                  <a:pt x="6724650" y="748665"/>
                </a:lnTo>
                <a:lnTo>
                  <a:pt x="6804660" y="813435"/>
                </a:lnTo>
                <a:lnTo>
                  <a:pt x="6875780" y="880110"/>
                </a:lnTo>
                <a:lnTo>
                  <a:pt x="6938010" y="948055"/>
                </a:lnTo>
                <a:lnTo>
                  <a:pt x="6990715" y="1016635"/>
                </a:lnTo>
                <a:lnTo>
                  <a:pt x="7034530" y="1086485"/>
                </a:lnTo>
                <a:lnTo>
                  <a:pt x="7068185" y="1156970"/>
                </a:lnTo>
                <a:lnTo>
                  <a:pt x="7092315" y="1228090"/>
                </a:lnTo>
                <a:lnTo>
                  <a:pt x="7106920" y="1299845"/>
                </a:lnTo>
                <a:lnTo>
                  <a:pt x="7112000" y="1371600"/>
                </a:lnTo>
                <a:quadBezTo>
                  <a:pt x="6519545" y="1562100"/>
                  <a:pt x="5926455" y="1371600"/>
                </a:quadBezTo>
                <a:quadBezTo>
                  <a:pt x="5334000" y="1562100"/>
                  <a:pt x="4741545" y="1371600"/>
                </a:quadBezTo>
                <a:quadBezTo>
                  <a:pt x="4148455" y="1562100"/>
                  <a:pt x="3556000" y="1371600"/>
                </a:quadBezTo>
                <a:quadBezTo>
                  <a:pt x="2963545" y="1562100"/>
                  <a:pt x="2370455" y="1371600"/>
                </a:quadBezTo>
                <a:quadBezTo>
                  <a:pt x="1778000" y="1562100"/>
                  <a:pt x="1185545" y="1371600"/>
                </a:quadBezTo>
                <a:quadBezTo>
                  <a:pt x="592455" y="1562100"/>
                  <a:pt x="0" y="1371600"/>
                </a:quadBezTo>
                <a:close/>
              </a:path>
            </a:pathLst>
          </a:custGeom>
          <a:gradFill rotWithShape="1">
            <a:gsLst>
              <a:gs pos="0">
                <a:srgbClr val="2E77C2"/>
              </a:gs>
              <a:gs pos="100000">
                <a:srgbClr val="0B3E8F"/>
              </a:gs>
            </a:gsLst>
            <a:lin ang="6000000" scaled="0"/>
          </a:gra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1" name="rib-1"/>
          <p:cNvCxnSpPr/>
          <p:nvPr/>
        </p:nvCxnSpPr>
        <p:spPr>
          <a:xfrm flipH="1" flipV="1">
            <a:off x="2508414" y="2044700"/>
            <a:ext cx="3079586" cy="762000"/>
          </a:xfrm>
          <a:prstGeom prst="line">
            <a:avLst/>
          </a:prstGeom>
          <a:ln w="8890" cap="rnd">
            <a:solidFill>
              <a:srgbClr val="FFFFFF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rib-2"/>
          <p:cNvCxnSpPr/>
          <p:nvPr/>
        </p:nvCxnSpPr>
        <p:spPr>
          <a:xfrm flipH="1" flipV="1">
            <a:off x="3810000" y="1542660"/>
            <a:ext cx="1778000" cy="1264040"/>
          </a:xfrm>
          <a:prstGeom prst="line">
            <a:avLst/>
          </a:prstGeom>
          <a:ln w="8890" cap="rnd">
            <a:solidFill>
              <a:srgbClr val="FFFFFF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rib-3"/>
          <p:cNvCxnSpPr/>
          <p:nvPr/>
        </p:nvCxnSpPr>
        <p:spPr>
          <a:xfrm flipV="1">
            <a:off x="5588000" y="1358900"/>
            <a:ext cx="0" cy="1447800"/>
          </a:xfrm>
          <a:prstGeom prst="line">
            <a:avLst/>
          </a:prstGeom>
          <a:ln w="8890" cap="rnd">
            <a:solidFill>
              <a:srgbClr val="FFFFFF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rib-4"/>
          <p:cNvCxnSpPr/>
          <p:nvPr/>
        </p:nvCxnSpPr>
        <p:spPr>
          <a:xfrm flipV="1">
            <a:off x="5588000" y="1542660"/>
            <a:ext cx="1778000" cy="1264040"/>
          </a:xfrm>
          <a:prstGeom prst="line">
            <a:avLst/>
          </a:prstGeom>
          <a:ln w="8890" cap="rnd">
            <a:solidFill>
              <a:srgbClr val="FFFFFF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rib-5"/>
          <p:cNvCxnSpPr/>
          <p:nvPr/>
        </p:nvCxnSpPr>
        <p:spPr>
          <a:xfrm flipV="1">
            <a:off x="5588000" y="2044700"/>
            <a:ext cx="3079586" cy="762000"/>
          </a:xfrm>
          <a:prstGeom prst="line">
            <a:avLst/>
          </a:prstGeom>
          <a:ln w="8890" cap="rnd">
            <a:solidFill>
              <a:srgbClr val="FFFFFF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dome-tip"/>
          <p:cNvSpPr/>
          <p:nvPr/>
        </p:nvSpPr>
        <p:spPr>
          <a:xfrm>
            <a:off x="5518150" y="1238250"/>
            <a:ext cx="139700" cy="1397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7" name="dome-stick"/>
          <p:cNvCxnSpPr/>
          <p:nvPr/>
        </p:nvCxnSpPr>
        <p:spPr>
          <a:xfrm>
            <a:off x="5588000" y="1308100"/>
            <a:ext cx="0" cy="114300"/>
          </a:xfrm>
          <a:prstGeom prst="line">
            <a:avLst/>
          </a:prstGeom>
          <a:ln w="25400" cap="rnd">
            <a:solidFill>
              <a:srgbClr val="0B3E8F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icon-shield"/>
          <p:cNvSpPr/>
          <p:nvPr/>
        </p:nvSpPr>
        <p:spPr>
          <a:xfrm>
            <a:off x="5507990" y="1822132"/>
            <a:ext cx="160020" cy="191135"/>
          </a:xfrm>
          <a:custGeom>
            <a:avLst/>
            <a:gdLst/>
            <a:ahLst/>
            <a:cxnLst/>
            <a:rect l="0" t="0" r="r" b="b"/>
            <a:pathLst>
              <a:path w="160020" h="191135">
                <a:moveTo>
                  <a:pt x="80010" y="0"/>
                </a:moveTo>
                <a:lnTo>
                  <a:pt x="160020" y="31115"/>
                </a:lnTo>
                <a:lnTo>
                  <a:pt x="160020" y="93345"/>
                </a:lnTo>
                <a:cubicBezTo>
                  <a:pt x="160020" y="140018"/>
                  <a:pt x="126683" y="175578"/>
                  <a:pt x="80010" y="191135"/>
                </a:cubicBezTo>
                <a:cubicBezTo>
                  <a:pt x="33338" y="175578"/>
                  <a:pt x="0" y="140018"/>
                  <a:pt x="0" y="93345"/>
                </a:cubicBezTo>
                <a:lnTo>
                  <a:pt x="0" y="31115"/>
                </a:lnTo>
                <a:close/>
                <a:moveTo>
                  <a:pt x="46673" y="95568"/>
                </a:moveTo>
                <a:lnTo>
                  <a:pt x="71120" y="120015"/>
                </a:lnTo>
                <a:lnTo>
                  <a:pt x="117793" y="73343"/>
                </a:lnTo>
              </a:path>
            </a:pathLst>
          </a:custGeom>
          <a:noFill/>
          <a:ln w="1397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dome-cn"/>
          <p:cNvSpPr txBox="1"/>
          <p:nvPr/>
        </p:nvSpPr>
        <p:spPr>
          <a:xfrm>
            <a:off x="4766945" y="2082864"/>
            <a:ext cx="1642110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70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客户成功保障</a:t>
            </a:r>
          </a:p>
        </p:txBody>
      </p:sp>
      <p:sp>
        <p:nvSpPr>
          <p:cNvPr id="20" name="dome-en"/>
          <p:cNvSpPr txBox="1"/>
          <p:nvPr/>
        </p:nvSpPr>
        <p:spPr>
          <a:xfrm>
            <a:off x="4653153" y="2442908"/>
            <a:ext cx="1869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0">
                <a:solidFill>
                  <a:srgbClr val="BFD6F0"/>
                </a:solidFill>
                <a:latin typeface="Arial"/>
                <a:ea typeface="Arial"/>
                <a:cs typeface="Arial"/>
              </a:rPr>
              <a:t>CUSTOMER SUCCESS ASSURANCE</a:t>
            </a:r>
          </a:p>
        </p:txBody>
      </p:sp>
      <p:sp>
        <p:nvSpPr>
          <p:cNvPr id="21" name="p-1"/>
          <p:cNvSpPr/>
          <p:nvPr/>
        </p:nvSpPr>
        <p:spPr>
          <a:xfrm>
            <a:off x="2032000" y="3225800"/>
            <a:ext cx="1310640" cy="1905000"/>
          </a:xfrm>
          <a:custGeom>
            <a:avLst/>
            <a:gdLst/>
            <a:ahLst/>
            <a:cxnLst/>
            <a:rect l="0" t="0" r="r" b="b"/>
            <a:pathLst>
              <a:path w="1310640" h="1905000">
                <a:moveTo>
                  <a:pt x="114300" y="0"/>
                </a:moveTo>
                <a:lnTo>
                  <a:pt x="1196340" y="0"/>
                </a:lnTo>
                <a:cubicBezTo>
                  <a:pt x="1259459" y="0"/>
                  <a:pt x="1310640" y="51181"/>
                  <a:pt x="1310640" y="114300"/>
                </a:cubicBezTo>
                <a:lnTo>
                  <a:pt x="1310640" y="1790700"/>
                </a:lnTo>
                <a:cubicBezTo>
                  <a:pt x="1310640" y="1853819"/>
                  <a:pt x="1259459" y="1905000"/>
                  <a:pt x="1196340" y="1905000"/>
                </a:cubicBezTo>
                <a:lnTo>
                  <a:pt x="114300" y="1905000"/>
                </a:lnTo>
                <a:cubicBezTo>
                  <a:pt x="51181" y="1905000"/>
                  <a:pt x="0" y="1853819"/>
                  <a:pt x="0" y="1790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pcap-1"/>
          <p:cNvSpPr/>
          <p:nvPr/>
        </p:nvSpPr>
        <p:spPr>
          <a:xfrm>
            <a:off x="2032000" y="3225800"/>
            <a:ext cx="1310640" cy="44450"/>
          </a:xfrm>
          <a:custGeom>
            <a:avLst/>
            <a:gdLst/>
            <a:ahLst/>
            <a:cxnLst/>
            <a:rect l="0" t="0" r="r" b="b"/>
            <a:pathLst>
              <a:path w="1310640" h="44450">
                <a:moveTo>
                  <a:pt x="22225" y="0"/>
                </a:moveTo>
                <a:lnTo>
                  <a:pt x="1288415" y="0"/>
                </a:lnTo>
                <a:cubicBezTo>
                  <a:pt x="1300671" y="0"/>
                  <a:pt x="1310640" y="9969"/>
                  <a:pt x="1310640" y="22225"/>
                </a:cubicBezTo>
                <a:lnTo>
                  <a:pt x="1310640" y="22225"/>
                </a:lnTo>
                <a:cubicBezTo>
                  <a:pt x="1310640" y="34480"/>
                  <a:pt x="1300671" y="44450"/>
                  <a:pt x="1288415" y="44450"/>
                </a:cubicBezTo>
                <a:lnTo>
                  <a:pt x="22225" y="44450"/>
                </a:lnTo>
                <a:cubicBezTo>
                  <a:pt x="9969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69"/>
                  <a:pt x="9969" y="0"/>
                  <a:pt x="2222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pchip-1"/>
          <p:cNvSpPr/>
          <p:nvPr/>
        </p:nvSpPr>
        <p:spPr>
          <a:xfrm>
            <a:off x="2496820" y="3441700"/>
            <a:ext cx="381000" cy="381000"/>
          </a:xfrm>
          <a:prstGeom prst="ellipse">
            <a:avLst/>
          </a:pr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icon-search"/>
          <p:cNvSpPr/>
          <p:nvPr/>
        </p:nvSpPr>
        <p:spPr>
          <a:xfrm>
            <a:off x="2716086" y="3660966"/>
            <a:ext cx="33909" cy="33909"/>
          </a:xfrm>
          <a:custGeom>
            <a:avLst/>
            <a:gdLst/>
            <a:ahLst/>
            <a:cxnLst/>
            <a:rect l="0" t="0" r="r" b="b"/>
            <a:pathLst>
              <a:path w="33909" h="33909">
                <a:moveTo>
                  <a:pt x="33909" y="33909"/>
                </a:moveTo>
                <a:lnTo>
                  <a:pt x="0" y="0"/>
                </a:lnTo>
              </a:path>
            </a:pathLst>
          </a:custGeom>
          <a:noFill/>
          <a:ln w="1333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icon-search"/>
          <p:cNvSpPr/>
          <p:nvPr/>
        </p:nvSpPr>
        <p:spPr>
          <a:xfrm>
            <a:off x="2624667" y="3569547"/>
            <a:ext cx="108373" cy="108373"/>
          </a:xfrm>
          <a:prstGeom prst="ellipse">
            <a:avLst/>
          </a:prstGeom>
          <a:noFill/>
          <a:ln w="1333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pn-1"/>
          <p:cNvSpPr txBox="1"/>
          <p:nvPr/>
        </p:nvSpPr>
        <p:spPr>
          <a:xfrm>
            <a:off x="2304098" y="3934428"/>
            <a:ext cx="7664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售前咨询</a:t>
            </a:r>
          </a:p>
        </p:txBody>
      </p:sp>
      <p:sp>
        <p:nvSpPr>
          <p:cNvPr id="27" name="pr-1"/>
          <p:cNvSpPr/>
          <p:nvPr/>
        </p:nvSpPr>
        <p:spPr>
          <a:xfrm>
            <a:off x="2547620" y="4229100"/>
            <a:ext cx="279400" cy="16510"/>
          </a:xfrm>
          <a:prstGeom prst="roundRect">
            <a:avLst>
              <a:gd name="adj" fmla="val 50000"/>
            </a:avLst>
          </a:prstGeom>
          <a:solidFill>
            <a:srgbClr val="0B3E8F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pp-1-1"/>
          <p:cNvSpPr txBox="1"/>
          <p:nvPr/>
        </p:nvSpPr>
        <p:spPr>
          <a:xfrm>
            <a:off x="2207260" y="4352766"/>
            <a:ext cx="96012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需求诊断与方案匹配</a:t>
            </a:r>
          </a:p>
        </p:txBody>
      </p:sp>
      <p:sp>
        <p:nvSpPr>
          <p:cNvPr id="29" name="pno-1"/>
          <p:cNvSpPr txBox="1"/>
          <p:nvPr/>
        </p:nvSpPr>
        <p:spPr>
          <a:xfrm>
            <a:off x="2559050" y="4821555"/>
            <a:ext cx="2565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0B3E8F">
                    <a:alpha val="28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cxnSp>
        <p:nvCxnSpPr>
          <p:cNvPr id="30" name="pl-1"/>
          <p:cNvCxnSpPr/>
          <p:nvPr/>
        </p:nvCxnSpPr>
        <p:spPr>
          <a:xfrm>
            <a:off x="2687320" y="2946400"/>
            <a:ext cx="0" cy="228600"/>
          </a:xfrm>
          <a:prstGeom prst="line">
            <a:avLst/>
          </a:prstGeom>
          <a:ln w="8890" cap="rnd">
            <a:solidFill>
              <a:srgbClr val="0B3E8F">
                <a:alpha val="3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p-2"/>
          <p:cNvSpPr/>
          <p:nvPr/>
        </p:nvSpPr>
        <p:spPr>
          <a:xfrm>
            <a:off x="3482340" y="3225800"/>
            <a:ext cx="1310640" cy="1905000"/>
          </a:xfrm>
          <a:custGeom>
            <a:avLst/>
            <a:gdLst/>
            <a:ahLst/>
            <a:cxnLst/>
            <a:rect l="0" t="0" r="r" b="b"/>
            <a:pathLst>
              <a:path w="1310640" h="1905000">
                <a:moveTo>
                  <a:pt x="114300" y="0"/>
                </a:moveTo>
                <a:lnTo>
                  <a:pt x="1196340" y="0"/>
                </a:lnTo>
                <a:cubicBezTo>
                  <a:pt x="1259459" y="0"/>
                  <a:pt x="1310640" y="51181"/>
                  <a:pt x="1310640" y="114300"/>
                </a:cubicBezTo>
                <a:lnTo>
                  <a:pt x="1310640" y="1790700"/>
                </a:lnTo>
                <a:cubicBezTo>
                  <a:pt x="1310640" y="1853819"/>
                  <a:pt x="1259459" y="1905000"/>
                  <a:pt x="1196340" y="1905000"/>
                </a:cubicBezTo>
                <a:lnTo>
                  <a:pt x="114300" y="1905000"/>
                </a:lnTo>
                <a:cubicBezTo>
                  <a:pt x="51181" y="1905000"/>
                  <a:pt x="0" y="1853819"/>
                  <a:pt x="0" y="1790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pcap-2"/>
          <p:cNvSpPr/>
          <p:nvPr/>
        </p:nvSpPr>
        <p:spPr>
          <a:xfrm>
            <a:off x="3482340" y="3225800"/>
            <a:ext cx="1310640" cy="44450"/>
          </a:xfrm>
          <a:custGeom>
            <a:avLst/>
            <a:gdLst/>
            <a:ahLst/>
            <a:cxnLst/>
            <a:rect l="0" t="0" r="r" b="b"/>
            <a:pathLst>
              <a:path w="1310640" h="44450">
                <a:moveTo>
                  <a:pt x="22225" y="0"/>
                </a:moveTo>
                <a:lnTo>
                  <a:pt x="1288415" y="0"/>
                </a:lnTo>
                <a:cubicBezTo>
                  <a:pt x="1300671" y="0"/>
                  <a:pt x="1310640" y="9969"/>
                  <a:pt x="1310640" y="22225"/>
                </a:cubicBezTo>
                <a:lnTo>
                  <a:pt x="1310640" y="22225"/>
                </a:lnTo>
                <a:cubicBezTo>
                  <a:pt x="1310640" y="34480"/>
                  <a:pt x="1300671" y="44450"/>
                  <a:pt x="1288415" y="44450"/>
                </a:cubicBezTo>
                <a:lnTo>
                  <a:pt x="22225" y="44450"/>
                </a:lnTo>
                <a:cubicBezTo>
                  <a:pt x="9970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69"/>
                  <a:pt x="9970" y="0"/>
                  <a:pt x="2222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pchip-2"/>
          <p:cNvSpPr/>
          <p:nvPr/>
        </p:nvSpPr>
        <p:spPr>
          <a:xfrm>
            <a:off x="3947160" y="3441700"/>
            <a:ext cx="381000" cy="381000"/>
          </a:xfrm>
          <a:prstGeom prst="ellipse">
            <a:avLst/>
          </a:prstGeom>
          <a:solidFill>
            <a:srgbClr val="1B5AA8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icon-process"/>
          <p:cNvSpPr/>
          <p:nvPr/>
        </p:nvSpPr>
        <p:spPr>
          <a:xfrm>
            <a:off x="4074986" y="3598354"/>
            <a:ext cx="125349" cy="67691"/>
          </a:xfrm>
          <a:custGeom>
            <a:avLst/>
            <a:gdLst/>
            <a:ahLst/>
            <a:cxnLst/>
            <a:rect l="0" t="0" r="r" b="b"/>
            <a:pathLst>
              <a:path w="125349" h="67691">
                <a:moveTo>
                  <a:pt x="0" y="0"/>
                </a:moveTo>
                <a:lnTo>
                  <a:pt x="44069" y="0"/>
                </a:lnTo>
                <a:lnTo>
                  <a:pt x="44069" y="44006"/>
                </a:lnTo>
                <a:lnTo>
                  <a:pt x="0" y="44006"/>
                </a:lnTo>
                <a:close/>
                <a:moveTo>
                  <a:pt x="81280" y="23686"/>
                </a:moveTo>
                <a:lnTo>
                  <a:pt x="125349" y="23686"/>
                </a:lnTo>
                <a:lnTo>
                  <a:pt x="125349" y="67691"/>
                </a:lnTo>
                <a:lnTo>
                  <a:pt x="81280" y="67691"/>
                </a:lnTo>
                <a:close/>
                <a:moveTo>
                  <a:pt x="44069" y="21971"/>
                </a:moveTo>
                <a:lnTo>
                  <a:pt x="81280" y="21971"/>
                </a:lnTo>
              </a:path>
            </a:pathLst>
          </a:custGeom>
          <a:noFill/>
          <a:ln w="1333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pn-2"/>
          <p:cNvSpPr txBox="1"/>
          <p:nvPr/>
        </p:nvSpPr>
        <p:spPr>
          <a:xfrm>
            <a:off x="3754438" y="3934428"/>
            <a:ext cx="7664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实施交付</a:t>
            </a:r>
          </a:p>
        </p:txBody>
      </p:sp>
      <p:sp>
        <p:nvSpPr>
          <p:cNvPr id="36" name="pr-2"/>
          <p:cNvSpPr/>
          <p:nvPr/>
        </p:nvSpPr>
        <p:spPr>
          <a:xfrm>
            <a:off x="3997960" y="4229100"/>
            <a:ext cx="279400" cy="16510"/>
          </a:xfrm>
          <a:prstGeom prst="roundRect">
            <a:avLst>
              <a:gd name="adj" fmla="val 50000"/>
            </a:avLst>
          </a:prstGeom>
          <a:solidFill>
            <a:srgbClr val="1B5AA8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pp-2-1"/>
          <p:cNvSpPr txBox="1"/>
          <p:nvPr/>
        </p:nvSpPr>
        <p:spPr>
          <a:xfrm>
            <a:off x="3706178" y="4352766"/>
            <a:ext cx="8629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标准化上线方法论</a:t>
            </a:r>
          </a:p>
        </p:txBody>
      </p:sp>
      <p:sp>
        <p:nvSpPr>
          <p:cNvPr id="38" name="pno-2"/>
          <p:cNvSpPr txBox="1"/>
          <p:nvPr/>
        </p:nvSpPr>
        <p:spPr>
          <a:xfrm>
            <a:off x="4009390" y="4821555"/>
            <a:ext cx="2565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1B5AA8">
                    <a:alpha val="28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cxnSp>
        <p:nvCxnSpPr>
          <p:cNvPr id="39" name="pl-2"/>
          <p:cNvCxnSpPr/>
          <p:nvPr/>
        </p:nvCxnSpPr>
        <p:spPr>
          <a:xfrm>
            <a:off x="4137660" y="2946400"/>
            <a:ext cx="0" cy="228600"/>
          </a:xfrm>
          <a:prstGeom prst="line">
            <a:avLst/>
          </a:prstGeom>
          <a:ln w="8890" cap="rnd">
            <a:solidFill>
              <a:srgbClr val="1B5AA8">
                <a:alpha val="3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p-3"/>
          <p:cNvSpPr/>
          <p:nvPr/>
        </p:nvSpPr>
        <p:spPr>
          <a:xfrm>
            <a:off x="4932680" y="3225800"/>
            <a:ext cx="1310640" cy="1905000"/>
          </a:xfrm>
          <a:custGeom>
            <a:avLst/>
            <a:gdLst/>
            <a:ahLst/>
            <a:cxnLst/>
            <a:rect l="0" t="0" r="r" b="b"/>
            <a:pathLst>
              <a:path w="1310640" h="1905000">
                <a:moveTo>
                  <a:pt x="114300" y="0"/>
                </a:moveTo>
                <a:lnTo>
                  <a:pt x="1196340" y="0"/>
                </a:lnTo>
                <a:cubicBezTo>
                  <a:pt x="1259459" y="0"/>
                  <a:pt x="1310640" y="51181"/>
                  <a:pt x="1310640" y="114300"/>
                </a:cubicBezTo>
                <a:lnTo>
                  <a:pt x="1310640" y="1790700"/>
                </a:lnTo>
                <a:cubicBezTo>
                  <a:pt x="1310640" y="1853819"/>
                  <a:pt x="1259459" y="1905000"/>
                  <a:pt x="1196340" y="1905000"/>
                </a:cubicBezTo>
                <a:lnTo>
                  <a:pt x="114300" y="1905000"/>
                </a:lnTo>
                <a:cubicBezTo>
                  <a:pt x="51181" y="1905000"/>
                  <a:pt x="0" y="1853819"/>
                  <a:pt x="0" y="1790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pcap-3"/>
          <p:cNvSpPr/>
          <p:nvPr/>
        </p:nvSpPr>
        <p:spPr>
          <a:xfrm>
            <a:off x="4932680" y="3225800"/>
            <a:ext cx="1310640" cy="44450"/>
          </a:xfrm>
          <a:custGeom>
            <a:avLst/>
            <a:gdLst/>
            <a:ahLst/>
            <a:cxnLst/>
            <a:rect l="0" t="0" r="r" b="b"/>
            <a:pathLst>
              <a:path w="1310640" h="44450">
                <a:moveTo>
                  <a:pt x="22225" y="0"/>
                </a:moveTo>
                <a:lnTo>
                  <a:pt x="1288415" y="0"/>
                </a:lnTo>
                <a:cubicBezTo>
                  <a:pt x="1300671" y="0"/>
                  <a:pt x="1310640" y="9969"/>
                  <a:pt x="1310640" y="22225"/>
                </a:cubicBezTo>
                <a:lnTo>
                  <a:pt x="1310640" y="22225"/>
                </a:lnTo>
                <a:cubicBezTo>
                  <a:pt x="1310640" y="34480"/>
                  <a:pt x="1300671" y="44450"/>
                  <a:pt x="1288415" y="44450"/>
                </a:cubicBezTo>
                <a:lnTo>
                  <a:pt x="22225" y="44450"/>
                </a:lnTo>
                <a:cubicBezTo>
                  <a:pt x="9970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69"/>
                  <a:pt x="9970" y="0"/>
                  <a:pt x="22225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pchip-3"/>
          <p:cNvSpPr/>
          <p:nvPr/>
        </p:nvSpPr>
        <p:spPr>
          <a:xfrm>
            <a:off x="5397500" y="3441700"/>
            <a:ext cx="381000" cy="381000"/>
          </a:xfrm>
          <a:prstGeom prst="ellipse">
            <a:avLst/>
          </a:prstGeom>
          <a:solidFill>
            <a:srgbClr val="2E77C2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icon-shield"/>
          <p:cNvSpPr/>
          <p:nvPr/>
        </p:nvSpPr>
        <p:spPr>
          <a:xfrm>
            <a:off x="5527040" y="3559366"/>
            <a:ext cx="121920" cy="145669"/>
          </a:xfrm>
          <a:custGeom>
            <a:avLst/>
            <a:gdLst/>
            <a:ahLst/>
            <a:cxnLst/>
            <a:rect l="0" t="0" r="r" b="b"/>
            <a:pathLst>
              <a:path w="121920" h="145669">
                <a:moveTo>
                  <a:pt x="60960" y="0"/>
                </a:moveTo>
                <a:lnTo>
                  <a:pt x="121920" y="23749"/>
                </a:lnTo>
                <a:lnTo>
                  <a:pt x="121920" y="71120"/>
                </a:lnTo>
                <a:cubicBezTo>
                  <a:pt x="121920" y="106680"/>
                  <a:pt x="96520" y="133795"/>
                  <a:pt x="60960" y="145669"/>
                </a:cubicBezTo>
                <a:cubicBezTo>
                  <a:pt x="25400" y="133795"/>
                  <a:pt x="0" y="106680"/>
                  <a:pt x="0" y="71120"/>
                </a:cubicBezTo>
                <a:lnTo>
                  <a:pt x="0" y="23749"/>
                </a:lnTo>
                <a:close/>
                <a:moveTo>
                  <a:pt x="35560" y="72835"/>
                </a:moveTo>
                <a:lnTo>
                  <a:pt x="54165" y="91440"/>
                </a:lnTo>
                <a:lnTo>
                  <a:pt x="89725" y="55880"/>
                </a:lnTo>
              </a:path>
            </a:pathLst>
          </a:custGeom>
          <a:noFill/>
          <a:ln w="13335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pn-3"/>
          <p:cNvSpPr txBox="1"/>
          <p:nvPr/>
        </p:nvSpPr>
        <p:spPr>
          <a:xfrm>
            <a:off x="5204778" y="3934428"/>
            <a:ext cx="7664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运维保障</a:t>
            </a:r>
          </a:p>
        </p:txBody>
      </p:sp>
      <p:sp>
        <p:nvSpPr>
          <p:cNvPr id="45" name="pr-3"/>
          <p:cNvSpPr/>
          <p:nvPr/>
        </p:nvSpPr>
        <p:spPr>
          <a:xfrm>
            <a:off x="5448300" y="4229100"/>
            <a:ext cx="279400" cy="16510"/>
          </a:xfrm>
          <a:prstGeom prst="roundRect">
            <a:avLst>
              <a:gd name="adj" fmla="val 50000"/>
            </a:avLst>
          </a:prstGeom>
          <a:solidFill>
            <a:srgbClr val="2E77C2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pp-3-1"/>
          <p:cNvSpPr txBox="1"/>
          <p:nvPr/>
        </p:nvSpPr>
        <p:spPr>
          <a:xfrm>
            <a:off x="5164138" y="4352766"/>
            <a:ext cx="8477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7×24 响应与巡检</a:t>
            </a:r>
          </a:p>
        </p:txBody>
      </p:sp>
      <p:sp>
        <p:nvSpPr>
          <p:cNvPr id="47" name="pno-3"/>
          <p:cNvSpPr txBox="1"/>
          <p:nvPr/>
        </p:nvSpPr>
        <p:spPr>
          <a:xfrm>
            <a:off x="5459730" y="4821555"/>
            <a:ext cx="2565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2E77C2">
                    <a:alpha val="28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cxnSp>
        <p:nvCxnSpPr>
          <p:cNvPr id="48" name="pl-3"/>
          <p:cNvCxnSpPr/>
          <p:nvPr/>
        </p:nvCxnSpPr>
        <p:spPr>
          <a:xfrm>
            <a:off x="5588000" y="2946400"/>
            <a:ext cx="0" cy="228600"/>
          </a:xfrm>
          <a:prstGeom prst="line">
            <a:avLst/>
          </a:prstGeom>
          <a:ln w="8890" cap="rnd">
            <a:solidFill>
              <a:srgbClr val="2E77C2">
                <a:alpha val="3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p-4"/>
          <p:cNvSpPr/>
          <p:nvPr/>
        </p:nvSpPr>
        <p:spPr>
          <a:xfrm>
            <a:off x="6383020" y="3225800"/>
            <a:ext cx="1310640" cy="1905000"/>
          </a:xfrm>
          <a:custGeom>
            <a:avLst/>
            <a:gdLst/>
            <a:ahLst/>
            <a:cxnLst/>
            <a:rect l="0" t="0" r="r" b="b"/>
            <a:pathLst>
              <a:path w="1310640" h="1905000">
                <a:moveTo>
                  <a:pt x="114300" y="0"/>
                </a:moveTo>
                <a:lnTo>
                  <a:pt x="1196340" y="0"/>
                </a:lnTo>
                <a:cubicBezTo>
                  <a:pt x="1259459" y="0"/>
                  <a:pt x="1310640" y="51181"/>
                  <a:pt x="1310640" y="114300"/>
                </a:cubicBezTo>
                <a:lnTo>
                  <a:pt x="1310640" y="1790700"/>
                </a:lnTo>
                <a:cubicBezTo>
                  <a:pt x="1310640" y="1853819"/>
                  <a:pt x="1259459" y="1905000"/>
                  <a:pt x="1196340" y="1905000"/>
                </a:cubicBezTo>
                <a:lnTo>
                  <a:pt x="114300" y="1905000"/>
                </a:lnTo>
                <a:cubicBezTo>
                  <a:pt x="51181" y="1905000"/>
                  <a:pt x="0" y="1853819"/>
                  <a:pt x="0" y="1790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pcap-4"/>
          <p:cNvSpPr/>
          <p:nvPr/>
        </p:nvSpPr>
        <p:spPr>
          <a:xfrm>
            <a:off x="6383020" y="3225800"/>
            <a:ext cx="1310640" cy="44450"/>
          </a:xfrm>
          <a:custGeom>
            <a:avLst/>
            <a:gdLst/>
            <a:ahLst/>
            <a:cxnLst/>
            <a:rect l="0" t="0" r="r" b="b"/>
            <a:pathLst>
              <a:path w="1310640" h="44450">
                <a:moveTo>
                  <a:pt x="22225" y="0"/>
                </a:moveTo>
                <a:lnTo>
                  <a:pt x="1288415" y="0"/>
                </a:lnTo>
                <a:cubicBezTo>
                  <a:pt x="1300670" y="0"/>
                  <a:pt x="1310640" y="9969"/>
                  <a:pt x="1310640" y="22225"/>
                </a:cubicBezTo>
                <a:lnTo>
                  <a:pt x="1310640" y="22225"/>
                </a:lnTo>
                <a:cubicBezTo>
                  <a:pt x="1310640" y="34480"/>
                  <a:pt x="1300670" y="44450"/>
                  <a:pt x="1288415" y="44450"/>
                </a:cubicBezTo>
                <a:lnTo>
                  <a:pt x="22225" y="44450"/>
                </a:lnTo>
                <a:cubicBezTo>
                  <a:pt x="9969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69"/>
                  <a:pt x="9969" y="0"/>
                  <a:pt x="22225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pchip-4"/>
          <p:cNvSpPr/>
          <p:nvPr/>
        </p:nvSpPr>
        <p:spPr>
          <a:xfrm>
            <a:off x="6847840" y="3441700"/>
            <a:ext cx="381000" cy="381000"/>
          </a:xfrm>
          <a:prstGeom prst="ellipse">
            <a:avLst/>
          </a:prstGeom>
          <a:solidFill>
            <a:srgbClr val="3985CD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icon-grow"/>
          <p:cNvSpPr/>
          <p:nvPr/>
        </p:nvSpPr>
        <p:spPr>
          <a:xfrm>
            <a:off x="6967220" y="3600005"/>
            <a:ext cx="127000" cy="79629"/>
          </a:xfrm>
          <a:custGeom>
            <a:avLst/>
            <a:gdLst/>
            <a:ahLst/>
            <a:cxnLst/>
            <a:rect l="0" t="0" r="r" b="b"/>
            <a:pathLst>
              <a:path w="127000" h="79629">
                <a:moveTo>
                  <a:pt x="0" y="79629"/>
                </a:moveTo>
                <a:lnTo>
                  <a:pt x="42354" y="33909"/>
                </a:lnTo>
                <a:lnTo>
                  <a:pt x="72835" y="59309"/>
                </a:lnTo>
                <a:lnTo>
                  <a:pt x="123635" y="0"/>
                </a:lnTo>
                <a:moveTo>
                  <a:pt x="103314" y="0"/>
                </a:moveTo>
                <a:lnTo>
                  <a:pt x="127000" y="0"/>
                </a:lnTo>
                <a:lnTo>
                  <a:pt x="127000" y="23749"/>
                </a:lnTo>
              </a:path>
            </a:pathLst>
          </a:custGeom>
          <a:noFill/>
          <a:ln w="13335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pn-4"/>
          <p:cNvSpPr txBox="1"/>
          <p:nvPr/>
        </p:nvSpPr>
        <p:spPr>
          <a:xfrm>
            <a:off x="6655118" y="3934428"/>
            <a:ext cx="7664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持续优化</a:t>
            </a:r>
          </a:p>
        </p:txBody>
      </p:sp>
      <p:sp>
        <p:nvSpPr>
          <p:cNvPr id="54" name="pr-4"/>
          <p:cNvSpPr/>
          <p:nvPr/>
        </p:nvSpPr>
        <p:spPr>
          <a:xfrm>
            <a:off x="6898640" y="4229100"/>
            <a:ext cx="279400" cy="16510"/>
          </a:xfrm>
          <a:prstGeom prst="roundRect">
            <a:avLst>
              <a:gd name="adj" fmla="val 50000"/>
            </a:avLst>
          </a:prstGeom>
          <a:solidFill>
            <a:srgbClr val="3985CD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pp-4-1"/>
          <p:cNvSpPr txBox="1"/>
          <p:nvPr/>
        </p:nvSpPr>
        <p:spPr>
          <a:xfrm>
            <a:off x="6655435" y="4352766"/>
            <a:ext cx="76581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季度复盘与调优</a:t>
            </a:r>
          </a:p>
        </p:txBody>
      </p:sp>
      <p:sp>
        <p:nvSpPr>
          <p:cNvPr id="56" name="pno-4"/>
          <p:cNvSpPr txBox="1"/>
          <p:nvPr/>
        </p:nvSpPr>
        <p:spPr>
          <a:xfrm>
            <a:off x="6910070" y="4821555"/>
            <a:ext cx="2565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3985CD">
                    <a:alpha val="28000"/>
                  </a:srgbClr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cxnSp>
        <p:nvCxnSpPr>
          <p:cNvPr id="57" name="pl-4"/>
          <p:cNvCxnSpPr/>
          <p:nvPr/>
        </p:nvCxnSpPr>
        <p:spPr>
          <a:xfrm>
            <a:off x="7038340" y="2946400"/>
            <a:ext cx="0" cy="228600"/>
          </a:xfrm>
          <a:prstGeom prst="line">
            <a:avLst/>
          </a:prstGeom>
          <a:ln w="8890" cap="rnd">
            <a:solidFill>
              <a:srgbClr val="3985CD">
                <a:alpha val="3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p-5"/>
          <p:cNvSpPr/>
          <p:nvPr/>
        </p:nvSpPr>
        <p:spPr>
          <a:xfrm>
            <a:off x="7833360" y="3225800"/>
            <a:ext cx="1310640" cy="1905000"/>
          </a:xfrm>
          <a:custGeom>
            <a:avLst/>
            <a:gdLst/>
            <a:ahLst/>
            <a:cxnLst/>
            <a:rect l="0" t="0" r="r" b="b"/>
            <a:pathLst>
              <a:path w="1310640" h="1905000">
                <a:moveTo>
                  <a:pt x="114300" y="0"/>
                </a:moveTo>
                <a:lnTo>
                  <a:pt x="1196340" y="0"/>
                </a:lnTo>
                <a:cubicBezTo>
                  <a:pt x="1259459" y="0"/>
                  <a:pt x="1310640" y="51181"/>
                  <a:pt x="1310640" y="114300"/>
                </a:cubicBezTo>
                <a:lnTo>
                  <a:pt x="1310640" y="1790700"/>
                </a:lnTo>
                <a:cubicBezTo>
                  <a:pt x="1310640" y="1853819"/>
                  <a:pt x="1259459" y="1905000"/>
                  <a:pt x="1196340" y="1905000"/>
                </a:cubicBezTo>
                <a:lnTo>
                  <a:pt x="114300" y="1905000"/>
                </a:lnTo>
                <a:cubicBezTo>
                  <a:pt x="51181" y="1905000"/>
                  <a:pt x="0" y="1853819"/>
                  <a:pt x="0" y="1790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pcap-5"/>
          <p:cNvSpPr/>
          <p:nvPr/>
        </p:nvSpPr>
        <p:spPr>
          <a:xfrm>
            <a:off x="7833360" y="3225800"/>
            <a:ext cx="1310640" cy="44450"/>
          </a:xfrm>
          <a:custGeom>
            <a:avLst/>
            <a:gdLst/>
            <a:ahLst/>
            <a:cxnLst/>
            <a:rect l="0" t="0" r="r" b="b"/>
            <a:pathLst>
              <a:path w="1310640" h="44450">
                <a:moveTo>
                  <a:pt x="22225" y="0"/>
                </a:moveTo>
                <a:lnTo>
                  <a:pt x="1288415" y="0"/>
                </a:lnTo>
                <a:cubicBezTo>
                  <a:pt x="1300671" y="0"/>
                  <a:pt x="1310640" y="9969"/>
                  <a:pt x="1310640" y="22225"/>
                </a:cubicBezTo>
                <a:lnTo>
                  <a:pt x="1310640" y="22225"/>
                </a:lnTo>
                <a:cubicBezTo>
                  <a:pt x="1310640" y="34480"/>
                  <a:pt x="1300671" y="44450"/>
                  <a:pt x="1288415" y="44450"/>
                </a:cubicBezTo>
                <a:lnTo>
                  <a:pt x="22225" y="44450"/>
                </a:lnTo>
                <a:cubicBezTo>
                  <a:pt x="9970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69"/>
                  <a:pt x="9970" y="0"/>
                  <a:pt x="22225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pchip-5"/>
          <p:cNvSpPr/>
          <p:nvPr/>
        </p:nvSpPr>
        <p:spPr>
          <a:xfrm>
            <a:off x="8298180" y="3441700"/>
            <a:ext cx="381000" cy="381000"/>
          </a:xfrm>
          <a:prstGeom prst="ellipse">
            <a:avLst/>
          </a:prstGeom>
          <a:solidFill>
            <a:srgbClr val="54A2D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icon-chart"/>
          <p:cNvSpPr/>
          <p:nvPr/>
        </p:nvSpPr>
        <p:spPr>
          <a:xfrm>
            <a:off x="8417560" y="3606800"/>
            <a:ext cx="142240" cy="93154"/>
          </a:xfrm>
          <a:custGeom>
            <a:avLst/>
            <a:gdLst/>
            <a:ahLst/>
            <a:cxnLst/>
            <a:rect l="0" t="0" r="r" b="b"/>
            <a:pathLst>
              <a:path w="142240" h="93154">
                <a:moveTo>
                  <a:pt x="0" y="93154"/>
                </a:moveTo>
                <a:lnTo>
                  <a:pt x="142240" y="93154"/>
                </a:lnTo>
                <a:moveTo>
                  <a:pt x="32195" y="93154"/>
                </a:moveTo>
                <a:lnTo>
                  <a:pt x="32195" y="38925"/>
                </a:lnTo>
                <a:moveTo>
                  <a:pt x="71120" y="93154"/>
                </a:moveTo>
                <a:lnTo>
                  <a:pt x="71120" y="0"/>
                </a:lnTo>
                <a:moveTo>
                  <a:pt x="110046" y="93154"/>
                </a:moveTo>
                <a:lnTo>
                  <a:pt x="110046" y="57595"/>
                </a:lnTo>
              </a:path>
            </a:pathLst>
          </a:custGeom>
          <a:noFill/>
          <a:ln w="13335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pn-5"/>
          <p:cNvSpPr txBox="1"/>
          <p:nvPr/>
        </p:nvSpPr>
        <p:spPr>
          <a:xfrm>
            <a:off x="8105458" y="3934428"/>
            <a:ext cx="7664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价值复盘</a:t>
            </a:r>
          </a:p>
        </p:txBody>
      </p:sp>
      <p:sp>
        <p:nvSpPr>
          <p:cNvPr id="63" name="pr-5"/>
          <p:cNvSpPr/>
          <p:nvPr/>
        </p:nvSpPr>
        <p:spPr>
          <a:xfrm>
            <a:off x="8348980" y="4229100"/>
            <a:ext cx="279400" cy="16510"/>
          </a:xfrm>
          <a:prstGeom prst="roundRect">
            <a:avLst>
              <a:gd name="adj" fmla="val 50000"/>
            </a:avLst>
          </a:prstGeom>
          <a:solidFill>
            <a:srgbClr val="54A2DF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pp-5-1"/>
          <p:cNvSpPr txBox="1"/>
          <p:nvPr/>
        </p:nvSpPr>
        <p:spPr>
          <a:xfrm>
            <a:off x="8092440" y="4352766"/>
            <a:ext cx="79248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ROI 量化与续约</a:t>
            </a:r>
          </a:p>
        </p:txBody>
      </p:sp>
      <p:sp>
        <p:nvSpPr>
          <p:cNvPr id="65" name="pno-5"/>
          <p:cNvSpPr txBox="1"/>
          <p:nvPr/>
        </p:nvSpPr>
        <p:spPr>
          <a:xfrm>
            <a:off x="8360410" y="4821555"/>
            <a:ext cx="2565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54A2DF">
                    <a:alpha val="28000"/>
                  </a:srgbClr>
                </a:solidFill>
                <a:latin typeface="Arial"/>
                <a:ea typeface="Arial"/>
                <a:cs typeface="Arial"/>
              </a:rPr>
              <a:t>05</a:t>
            </a:r>
          </a:p>
        </p:txBody>
      </p:sp>
      <p:cxnSp>
        <p:nvCxnSpPr>
          <p:cNvPr id="66" name="pl-5"/>
          <p:cNvCxnSpPr/>
          <p:nvPr/>
        </p:nvCxnSpPr>
        <p:spPr>
          <a:xfrm>
            <a:off x="8488680" y="2946400"/>
            <a:ext cx="0" cy="228600"/>
          </a:xfrm>
          <a:prstGeom prst="line">
            <a:avLst/>
          </a:prstGeom>
          <a:ln w="8890" cap="rnd">
            <a:solidFill>
              <a:srgbClr val="54A2DF">
                <a:alpha val="3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7" name="side-bar"/>
          <p:cNvSpPr/>
          <p:nvPr/>
        </p:nvSpPr>
        <p:spPr>
          <a:xfrm>
            <a:off x="9334500" y="15621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side-h"/>
          <p:cNvSpPr txBox="1"/>
          <p:nvPr/>
        </p:nvSpPr>
        <p:spPr>
          <a:xfrm>
            <a:off x="9493250" y="15692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服务承诺</a:t>
            </a:r>
          </a:p>
        </p:txBody>
      </p:sp>
      <p:sp>
        <p:nvSpPr>
          <p:cNvPr id="69" name="side-p"/>
          <p:cNvSpPr txBox="1"/>
          <p:nvPr/>
        </p:nvSpPr>
        <p:spPr>
          <a:xfrm>
            <a:off x="9498965" y="18439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写进合同的硬指标</a:t>
            </a:r>
          </a:p>
        </p:txBody>
      </p:sp>
      <p:sp>
        <p:nvSpPr>
          <p:cNvPr id="70" name="sla-1"/>
          <p:cNvSpPr/>
          <p:nvPr/>
        </p:nvSpPr>
        <p:spPr>
          <a:xfrm>
            <a:off x="9334500" y="2298700"/>
            <a:ext cx="1905000" cy="571500"/>
          </a:xfrm>
          <a:custGeom>
            <a:avLst/>
            <a:gdLst/>
            <a:ahLst/>
            <a:cxnLst/>
            <a:rect l="0" t="0" r="r" b="b"/>
            <a:pathLst>
              <a:path w="1905000" h="571500">
                <a:moveTo>
                  <a:pt x="101600" y="0"/>
                </a:moveTo>
                <a:lnTo>
                  <a:pt x="1803400" y="0"/>
                </a:lnTo>
                <a:cubicBezTo>
                  <a:pt x="1859534" y="0"/>
                  <a:pt x="1905000" y="45466"/>
                  <a:pt x="1905000" y="101600"/>
                </a:cubicBezTo>
                <a:lnTo>
                  <a:pt x="1905000" y="469900"/>
                </a:lnTo>
                <a:cubicBezTo>
                  <a:pt x="1905000" y="526034"/>
                  <a:pt x="1859534" y="571500"/>
                  <a:pt x="1803400" y="571500"/>
                </a:cubicBezTo>
                <a:lnTo>
                  <a:pt x="101600" y="571500"/>
                </a:lnTo>
                <a:cubicBezTo>
                  <a:pt x="45466" y="571500"/>
                  <a:pt x="0" y="526034"/>
                  <a:pt x="0" y="4699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slab-1"/>
          <p:cNvSpPr/>
          <p:nvPr/>
        </p:nvSpPr>
        <p:spPr>
          <a:xfrm>
            <a:off x="9334500" y="2298700"/>
            <a:ext cx="31750" cy="571500"/>
          </a:xfrm>
          <a:custGeom>
            <a:avLst/>
            <a:gdLst/>
            <a:ahLst/>
            <a:cxnLst/>
            <a:rect l="0" t="0" r="r" b="b"/>
            <a:pathLst>
              <a:path w="31750" h="5715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555625"/>
                </a:lnTo>
                <a:cubicBezTo>
                  <a:pt x="31750" y="564388"/>
                  <a:pt x="24638" y="571500"/>
                  <a:pt x="15875" y="571500"/>
                </a:cubicBezTo>
                <a:lnTo>
                  <a:pt x="15875" y="571500"/>
                </a:lnTo>
                <a:cubicBezTo>
                  <a:pt x="7112" y="571500"/>
                  <a:pt x="0" y="564388"/>
                  <a:pt x="0" y="5556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slav-1"/>
          <p:cNvSpPr txBox="1"/>
          <p:nvPr/>
        </p:nvSpPr>
        <p:spPr>
          <a:xfrm>
            <a:off x="9504426" y="2366359"/>
            <a:ext cx="704469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50" b="1" spc="3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2 小时</a:t>
            </a:r>
          </a:p>
        </p:txBody>
      </p:sp>
      <p:sp>
        <p:nvSpPr>
          <p:cNvPr id="73" name="slal-1"/>
          <p:cNvSpPr txBox="1"/>
          <p:nvPr/>
        </p:nvSpPr>
        <p:spPr>
          <a:xfrm>
            <a:off x="9513570" y="2638266"/>
            <a:ext cx="4768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首次响应</a:t>
            </a:r>
          </a:p>
        </p:txBody>
      </p:sp>
      <p:sp>
        <p:nvSpPr>
          <p:cNvPr id="74" name="sla-2"/>
          <p:cNvSpPr/>
          <p:nvPr/>
        </p:nvSpPr>
        <p:spPr>
          <a:xfrm>
            <a:off x="9334500" y="2984500"/>
            <a:ext cx="1905000" cy="571500"/>
          </a:xfrm>
          <a:custGeom>
            <a:avLst/>
            <a:gdLst/>
            <a:ahLst/>
            <a:cxnLst/>
            <a:rect l="0" t="0" r="r" b="b"/>
            <a:pathLst>
              <a:path w="1905000" h="571500">
                <a:moveTo>
                  <a:pt x="101600" y="0"/>
                </a:moveTo>
                <a:lnTo>
                  <a:pt x="1803400" y="0"/>
                </a:lnTo>
                <a:cubicBezTo>
                  <a:pt x="1859534" y="0"/>
                  <a:pt x="1905000" y="45466"/>
                  <a:pt x="1905000" y="101600"/>
                </a:cubicBezTo>
                <a:lnTo>
                  <a:pt x="1905000" y="469900"/>
                </a:lnTo>
                <a:cubicBezTo>
                  <a:pt x="1905000" y="526034"/>
                  <a:pt x="1859534" y="571500"/>
                  <a:pt x="1803400" y="571500"/>
                </a:cubicBezTo>
                <a:lnTo>
                  <a:pt x="101600" y="571500"/>
                </a:lnTo>
                <a:cubicBezTo>
                  <a:pt x="45466" y="571500"/>
                  <a:pt x="0" y="526034"/>
                  <a:pt x="0" y="4699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slab-2"/>
          <p:cNvSpPr/>
          <p:nvPr/>
        </p:nvSpPr>
        <p:spPr>
          <a:xfrm>
            <a:off x="9334500" y="2984500"/>
            <a:ext cx="31750" cy="571500"/>
          </a:xfrm>
          <a:custGeom>
            <a:avLst/>
            <a:gdLst/>
            <a:ahLst/>
            <a:cxnLst/>
            <a:rect l="0" t="0" r="r" b="b"/>
            <a:pathLst>
              <a:path w="31750" h="5715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555625"/>
                </a:lnTo>
                <a:cubicBezTo>
                  <a:pt x="31750" y="564388"/>
                  <a:pt x="24638" y="571500"/>
                  <a:pt x="15875" y="571500"/>
                </a:cubicBezTo>
                <a:lnTo>
                  <a:pt x="15875" y="571500"/>
                </a:lnTo>
                <a:cubicBezTo>
                  <a:pt x="7112" y="571500"/>
                  <a:pt x="0" y="564388"/>
                  <a:pt x="0" y="5556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slav-2"/>
          <p:cNvSpPr txBox="1"/>
          <p:nvPr/>
        </p:nvSpPr>
        <p:spPr>
          <a:xfrm>
            <a:off x="9504426" y="3052159"/>
            <a:ext cx="804291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50" b="1" spc="3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24 小时</a:t>
            </a:r>
          </a:p>
        </p:txBody>
      </p:sp>
      <p:sp>
        <p:nvSpPr>
          <p:cNvPr id="77" name="slal-2"/>
          <p:cNvSpPr txBox="1"/>
          <p:nvPr/>
        </p:nvSpPr>
        <p:spPr>
          <a:xfrm>
            <a:off x="9513570" y="3324066"/>
            <a:ext cx="4768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现场到达</a:t>
            </a:r>
          </a:p>
        </p:txBody>
      </p:sp>
      <p:sp>
        <p:nvSpPr>
          <p:cNvPr id="78" name="sla-3"/>
          <p:cNvSpPr/>
          <p:nvPr/>
        </p:nvSpPr>
        <p:spPr>
          <a:xfrm>
            <a:off x="9334500" y="3670300"/>
            <a:ext cx="1905000" cy="571500"/>
          </a:xfrm>
          <a:custGeom>
            <a:avLst/>
            <a:gdLst/>
            <a:ahLst/>
            <a:cxnLst/>
            <a:rect l="0" t="0" r="r" b="b"/>
            <a:pathLst>
              <a:path w="1905000" h="571500">
                <a:moveTo>
                  <a:pt x="101600" y="0"/>
                </a:moveTo>
                <a:lnTo>
                  <a:pt x="1803400" y="0"/>
                </a:lnTo>
                <a:cubicBezTo>
                  <a:pt x="1859534" y="0"/>
                  <a:pt x="1905000" y="45466"/>
                  <a:pt x="1905000" y="101600"/>
                </a:cubicBezTo>
                <a:lnTo>
                  <a:pt x="1905000" y="469900"/>
                </a:lnTo>
                <a:cubicBezTo>
                  <a:pt x="1905000" y="526034"/>
                  <a:pt x="1859534" y="571500"/>
                  <a:pt x="1803400" y="571500"/>
                </a:cubicBezTo>
                <a:lnTo>
                  <a:pt x="101600" y="571500"/>
                </a:lnTo>
                <a:cubicBezTo>
                  <a:pt x="45466" y="571500"/>
                  <a:pt x="0" y="526034"/>
                  <a:pt x="0" y="4699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slab-3"/>
          <p:cNvSpPr/>
          <p:nvPr/>
        </p:nvSpPr>
        <p:spPr>
          <a:xfrm>
            <a:off x="9334500" y="3670300"/>
            <a:ext cx="31750" cy="571500"/>
          </a:xfrm>
          <a:custGeom>
            <a:avLst/>
            <a:gdLst/>
            <a:ahLst/>
            <a:cxnLst/>
            <a:rect l="0" t="0" r="r" b="b"/>
            <a:pathLst>
              <a:path w="31750" h="5715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555625"/>
                </a:lnTo>
                <a:cubicBezTo>
                  <a:pt x="31750" y="564388"/>
                  <a:pt x="24638" y="571500"/>
                  <a:pt x="15875" y="571500"/>
                </a:cubicBezTo>
                <a:lnTo>
                  <a:pt x="15875" y="571500"/>
                </a:lnTo>
                <a:cubicBezTo>
                  <a:pt x="7112" y="571500"/>
                  <a:pt x="0" y="564388"/>
                  <a:pt x="0" y="5556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slav-3"/>
          <p:cNvSpPr txBox="1"/>
          <p:nvPr/>
        </p:nvSpPr>
        <p:spPr>
          <a:xfrm>
            <a:off x="9504426" y="3737959"/>
            <a:ext cx="653415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50" b="1" spc="3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99.9%</a:t>
            </a:r>
          </a:p>
        </p:txBody>
      </p:sp>
      <p:sp>
        <p:nvSpPr>
          <p:cNvPr id="81" name="slal-3"/>
          <p:cNvSpPr txBox="1"/>
          <p:nvPr/>
        </p:nvSpPr>
        <p:spPr>
          <a:xfrm>
            <a:off x="9513570" y="4009866"/>
            <a:ext cx="5746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系统可用率</a:t>
            </a:r>
          </a:p>
        </p:txBody>
      </p:sp>
      <p:sp>
        <p:nvSpPr>
          <p:cNvPr id="82" name="sla-4"/>
          <p:cNvSpPr/>
          <p:nvPr/>
        </p:nvSpPr>
        <p:spPr>
          <a:xfrm>
            <a:off x="9334500" y="4356100"/>
            <a:ext cx="1905000" cy="571500"/>
          </a:xfrm>
          <a:custGeom>
            <a:avLst/>
            <a:gdLst/>
            <a:ahLst/>
            <a:cxnLst/>
            <a:rect l="0" t="0" r="r" b="b"/>
            <a:pathLst>
              <a:path w="1905000" h="571500">
                <a:moveTo>
                  <a:pt x="101600" y="0"/>
                </a:moveTo>
                <a:lnTo>
                  <a:pt x="1803400" y="0"/>
                </a:lnTo>
                <a:cubicBezTo>
                  <a:pt x="1859534" y="0"/>
                  <a:pt x="1905000" y="45466"/>
                  <a:pt x="1905000" y="101600"/>
                </a:cubicBezTo>
                <a:lnTo>
                  <a:pt x="1905000" y="469900"/>
                </a:lnTo>
                <a:cubicBezTo>
                  <a:pt x="1905000" y="526034"/>
                  <a:pt x="1859534" y="571500"/>
                  <a:pt x="1803400" y="571500"/>
                </a:cubicBezTo>
                <a:lnTo>
                  <a:pt x="101600" y="571500"/>
                </a:lnTo>
                <a:cubicBezTo>
                  <a:pt x="45466" y="571500"/>
                  <a:pt x="0" y="526034"/>
                  <a:pt x="0" y="4699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slab-4"/>
          <p:cNvSpPr/>
          <p:nvPr/>
        </p:nvSpPr>
        <p:spPr>
          <a:xfrm>
            <a:off x="9334500" y="4356100"/>
            <a:ext cx="31750" cy="571500"/>
          </a:xfrm>
          <a:custGeom>
            <a:avLst/>
            <a:gdLst/>
            <a:ahLst/>
            <a:cxnLst/>
            <a:rect l="0" t="0" r="r" b="b"/>
            <a:pathLst>
              <a:path w="31750" h="5715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555625"/>
                </a:lnTo>
                <a:cubicBezTo>
                  <a:pt x="31750" y="564388"/>
                  <a:pt x="24638" y="571500"/>
                  <a:pt x="15875" y="571500"/>
                </a:cubicBezTo>
                <a:lnTo>
                  <a:pt x="15875" y="571500"/>
                </a:lnTo>
                <a:cubicBezTo>
                  <a:pt x="7112" y="571500"/>
                  <a:pt x="0" y="564388"/>
                  <a:pt x="0" y="5556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slav-4"/>
          <p:cNvSpPr txBox="1"/>
          <p:nvPr/>
        </p:nvSpPr>
        <p:spPr>
          <a:xfrm>
            <a:off x="9504426" y="4423759"/>
            <a:ext cx="504825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50" b="1" spc="3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季度</a:t>
            </a:r>
          </a:p>
        </p:txBody>
      </p:sp>
      <p:sp>
        <p:nvSpPr>
          <p:cNvPr id="85" name="slal-4"/>
          <p:cNvSpPr txBox="1"/>
          <p:nvPr/>
        </p:nvSpPr>
        <p:spPr>
          <a:xfrm>
            <a:off x="9513570" y="4695666"/>
            <a:ext cx="4768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复盘频次</a:t>
            </a:r>
          </a:p>
        </p:txBody>
      </p:sp>
      <p:sp>
        <p:nvSpPr>
          <p:cNvPr id="86" name="sum"/>
          <p:cNvSpPr/>
          <p:nvPr/>
        </p:nvSpPr>
        <p:spPr>
          <a:xfrm>
            <a:off x="952500" y="5435600"/>
            <a:ext cx="10287000" cy="533400"/>
          </a:xfrm>
          <a:custGeom>
            <a:avLst/>
            <a:gdLst/>
            <a:ahLst/>
            <a:cxnLst/>
            <a:rect l="0" t="0" r="r" b="b"/>
            <a:pathLst>
              <a:path w="10287000" h="5334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31800"/>
                </a:lnTo>
                <a:cubicBezTo>
                  <a:pt x="10287000" y="487934"/>
                  <a:pt x="10241534" y="533400"/>
                  <a:pt x="10185400" y="533400"/>
                </a:cubicBezTo>
                <a:lnTo>
                  <a:pt x="101600" y="533400"/>
                </a:lnTo>
                <a:cubicBezTo>
                  <a:pt x="45466" y="533400"/>
                  <a:pt x="0" y="487934"/>
                  <a:pt x="0" y="431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sum-bar"/>
          <p:cNvSpPr/>
          <p:nvPr/>
        </p:nvSpPr>
        <p:spPr>
          <a:xfrm>
            <a:off x="952500" y="54356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sum-h"/>
          <p:cNvSpPr txBox="1"/>
          <p:nvPr/>
        </p:nvSpPr>
        <p:spPr>
          <a:xfrm>
            <a:off x="1141222" y="55405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体系逻辑</a:t>
            </a:r>
          </a:p>
        </p:txBody>
      </p:sp>
      <p:sp>
        <p:nvSpPr>
          <p:cNvPr id="89" name="sum-p"/>
          <p:cNvSpPr txBox="1"/>
          <p:nvPr/>
        </p:nvSpPr>
        <p:spPr>
          <a:xfrm>
            <a:off x="1142365" y="5755561"/>
            <a:ext cx="545814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五项保障覆盖客户从签约到续约的完整周期，任何一项缺位，整把伞都会漏雨——这也是续约率的真实来源。</a:t>
            </a:r>
          </a:p>
        </p:txBody>
      </p:sp>
      <p:cxnSp>
        <p:nvCxnSpPr>
          <p:cNvPr id="90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伞形体系 · 一纲五保障</a:t>
            </a:r>
          </a:p>
        </p:txBody>
      </p:sp>
      <p:sp>
        <p:nvSpPr>
          <p:cNvPr id="92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32994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四块拼图拼出完整方案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17271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PUZZLE MODEL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780399" y="673132"/>
            <a:ext cx="2840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单独一块都不构成方案，四块咬合才是客户要买的东西</a:t>
            </a:r>
          </a:p>
        </p:txBody>
      </p:sp>
      <p:sp>
        <p:nvSpPr>
          <p:cNvPr id="10" name="piece-1"/>
          <p:cNvSpPr/>
          <p:nvPr/>
        </p:nvSpPr>
        <p:spPr>
          <a:xfrm>
            <a:off x="1333500" y="1701800"/>
            <a:ext cx="2911475" cy="1905000"/>
          </a:xfrm>
          <a:custGeom>
            <a:avLst/>
            <a:gdLst/>
            <a:ahLst/>
            <a:cxnLst/>
            <a:rect l="0" t="0" r="r" b="b"/>
            <a:pathLst>
              <a:path w="2911475" h="1905000">
                <a:moveTo>
                  <a:pt x="0" y="0"/>
                </a:moveTo>
                <a:lnTo>
                  <a:pt x="2540000" y="0"/>
                </a:lnTo>
                <a:lnTo>
                  <a:pt x="2540000" y="800100"/>
                </a:lnTo>
                <a:cubicBezTo>
                  <a:pt x="3035300" y="704850"/>
                  <a:pt x="3035300" y="1200150"/>
                  <a:pt x="2540000" y="1104900"/>
                </a:cubicBezTo>
                <a:lnTo>
                  <a:pt x="2540000" y="1905000"/>
                </a:lnTo>
                <a:lnTo>
                  <a:pt x="1473200" y="1905000"/>
                </a:lnTo>
                <a:cubicBezTo>
                  <a:pt x="1600200" y="1244600"/>
                  <a:pt x="939800" y="1244600"/>
                  <a:pt x="1066800" y="1905000"/>
                </a:cubicBezTo>
                <a:lnTo>
                  <a:pt x="0" y="1905000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325DA1"/>
              </a:gs>
              <a:gs pos="100000">
                <a:srgbClr val="0B3E8F"/>
              </a:gs>
            </a:gsLst>
            <a:lin ang="7440000" scaled="0"/>
          </a:gradFill>
          <a:ln w="19050" cap="rnd">
            <a:solidFill>
              <a:srgbClr val="FFFFFF"/>
            </a:solidFill>
            <a:round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icon-factory"/>
          <p:cNvSpPr/>
          <p:nvPr/>
        </p:nvSpPr>
        <p:spPr>
          <a:xfrm>
            <a:off x="2512504" y="2245804"/>
            <a:ext cx="181991" cy="122745"/>
          </a:xfrm>
          <a:custGeom>
            <a:avLst/>
            <a:gdLst/>
            <a:ahLst/>
            <a:cxnLst/>
            <a:rect l="0" t="0" r="r" b="b"/>
            <a:pathLst>
              <a:path w="181991" h="122745">
                <a:moveTo>
                  <a:pt x="0" y="122745"/>
                </a:moveTo>
                <a:lnTo>
                  <a:pt x="0" y="29591"/>
                </a:lnTo>
                <a:lnTo>
                  <a:pt x="52895" y="61341"/>
                </a:lnTo>
                <a:lnTo>
                  <a:pt x="52895" y="29591"/>
                </a:lnTo>
                <a:lnTo>
                  <a:pt x="105791" y="61341"/>
                </a:lnTo>
                <a:lnTo>
                  <a:pt x="105791" y="0"/>
                </a:lnTo>
                <a:lnTo>
                  <a:pt x="158750" y="31750"/>
                </a:lnTo>
                <a:lnTo>
                  <a:pt x="158750" y="112141"/>
                </a:lnTo>
                <a:close/>
                <a:moveTo>
                  <a:pt x="0" y="122745"/>
                </a:moveTo>
                <a:lnTo>
                  <a:pt x="181991" y="122745"/>
                </a:lnTo>
              </a:path>
            </a:pathLst>
          </a:custGeom>
          <a:noFill/>
          <a:ln w="1397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pn-1"/>
          <p:cNvSpPr txBox="1"/>
          <p:nvPr/>
        </p:nvSpPr>
        <p:spPr>
          <a:xfrm>
            <a:off x="2129790" y="2510917"/>
            <a:ext cx="9474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硬件设备</a:t>
            </a:r>
          </a:p>
        </p:txBody>
      </p:sp>
      <p:sp>
        <p:nvSpPr>
          <p:cNvPr id="13" name="pe-1"/>
          <p:cNvSpPr txBox="1"/>
          <p:nvPr/>
        </p:nvSpPr>
        <p:spPr>
          <a:xfrm>
            <a:off x="2293239" y="2798508"/>
            <a:ext cx="62052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40">
                <a:solidFill>
                  <a:srgbClr val="CFE0F4"/>
                </a:solidFill>
                <a:latin typeface="Arial"/>
                <a:ea typeface="Arial"/>
                <a:cs typeface="Arial"/>
              </a:rPr>
              <a:t>HARDWARE</a:t>
            </a:r>
          </a:p>
        </p:txBody>
      </p:sp>
      <p:sp>
        <p:nvSpPr>
          <p:cNvPr id="14" name="pr-1"/>
          <p:cNvSpPr/>
          <p:nvPr/>
        </p:nvSpPr>
        <p:spPr>
          <a:xfrm>
            <a:off x="2438400" y="3009900"/>
            <a:ext cx="330200" cy="1651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pno-1"/>
          <p:cNvSpPr txBox="1"/>
          <p:nvPr/>
        </p:nvSpPr>
        <p:spPr>
          <a:xfrm>
            <a:off x="1472946" y="1835182"/>
            <a:ext cx="2307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FFFFFF">
                    <a:alpha val="50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16" name="piece-2"/>
          <p:cNvSpPr/>
          <p:nvPr/>
        </p:nvSpPr>
        <p:spPr>
          <a:xfrm>
            <a:off x="3873500" y="1701800"/>
            <a:ext cx="2540000" cy="2400300"/>
          </a:xfrm>
          <a:custGeom>
            <a:avLst/>
            <a:gdLst/>
            <a:ahLst/>
            <a:cxnLst/>
            <a:rect l="0" t="0" r="r" b="b"/>
            <a:pathLst>
              <a:path w="2540000" h="2400300">
                <a:moveTo>
                  <a:pt x="0" y="0"/>
                </a:moveTo>
                <a:lnTo>
                  <a:pt x="2540000" y="0"/>
                </a:lnTo>
                <a:lnTo>
                  <a:pt x="2540000" y="1905000"/>
                </a:lnTo>
                <a:lnTo>
                  <a:pt x="1473200" y="1905000"/>
                </a:lnTo>
                <a:cubicBezTo>
                  <a:pt x="1600200" y="2565400"/>
                  <a:pt x="939800" y="2565400"/>
                  <a:pt x="1066800" y="1905000"/>
                </a:cubicBezTo>
                <a:lnTo>
                  <a:pt x="0" y="1905000"/>
                </a:lnTo>
                <a:lnTo>
                  <a:pt x="0" y="1104900"/>
                </a:lnTo>
                <a:cubicBezTo>
                  <a:pt x="495300" y="1200150"/>
                  <a:pt x="495300" y="704850"/>
                  <a:pt x="0" y="800100"/>
                </a:cubicBez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3F74B6"/>
              </a:gs>
              <a:gs pos="100000">
                <a:srgbClr val="1B5AA8"/>
              </a:gs>
            </a:gsLst>
            <a:lin ang="7440000" scaled="0"/>
          </a:gradFill>
          <a:ln w="19050" cap="rnd">
            <a:solidFill>
              <a:srgbClr val="FFFFFF"/>
            </a:solidFill>
            <a:round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icon-cloud"/>
          <p:cNvSpPr/>
          <p:nvPr/>
        </p:nvSpPr>
        <p:spPr>
          <a:xfrm>
            <a:off x="5046154" y="2215292"/>
            <a:ext cx="201041" cy="138463"/>
          </a:xfrm>
          <a:custGeom>
            <a:avLst/>
            <a:gdLst/>
            <a:ahLst/>
            <a:cxnLst/>
            <a:rect l="0" t="0" r="r" b="b"/>
            <a:pathLst>
              <a:path w="201041" h="138463">
                <a:moveTo>
                  <a:pt x="46546" y="138463"/>
                </a:moveTo>
                <a:cubicBezTo>
                  <a:pt x="21971" y="139606"/>
                  <a:pt x="1143" y="120683"/>
                  <a:pt x="0" y="96108"/>
                </a:cubicBezTo>
                <a:cubicBezTo>
                  <a:pt x="-1206" y="71534"/>
                  <a:pt x="17780" y="50706"/>
                  <a:pt x="42291" y="49563"/>
                </a:cubicBezTo>
                <a:cubicBezTo>
                  <a:pt x="45784" y="23591"/>
                  <a:pt x="66421" y="3335"/>
                  <a:pt x="92393" y="350"/>
                </a:cubicBezTo>
                <a:cubicBezTo>
                  <a:pt x="118364" y="-2634"/>
                  <a:pt x="143066" y="12415"/>
                  <a:pt x="152400" y="36863"/>
                </a:cubicBezTo>
                <a:cubicBezTo>
                  <a:pt x="180404" y="38006"/>
                  <a:pt x="202248" y="61691"/>
                  <a:pt x="201041" y="89758"/>
                </a:cubicBezTo>
                <a:cubicBezTo>
                  <a:pt x="199898" y="117825"/>
                  <a:pt x="176212" y="139606"/>
                  <a:pt x="148146" y="138463"/>
                </a:cubicBezTo>
                <a:close/>
              </a:path>
            </a:pathLst>
          </a:custGeom>
          <a:noFill/>
          <a:ln w="1397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pn-2"/>
          <p:cNvSpPr txBox="1"/>
          <p:nvPr/>
        </p:nvSpPr>
        <p:spPr>
          <a:xfrm>
            <a:off x="4669790" y="2510917"/>
            <a:ext cx="9474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软件平台</a:t>
            </a:r>
          </a:p>
        </p:txBody>
      </p:sp>
      <p:sp>
        <p:nvSpPr>
          <p:cNvPr id="19" name="pe-2"/>
          <p:cNvSpPr txBox="1"/>
          <p:nvPr/>
        </p:nvSpPr>
        <p:spPr>
          <a:xfrm>
            <a:off x="4833239" y="2798508"/>
            <a:ext cx="62052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40">
                <a:solidFill>
                  <a:srgbClr val="CFE0F4"/>
                </a:solidFill>
                <a:latin typeface="Arial"/>
                <a:ea typeface="Arial"/>
                <a:cs typeface="Arial"/>
              </a:rPr>
              <a:t>SOFTWARE</a:t>
            </a:r>
          </a:p>
        </p:txBody>
      </p:sp>
      <p:sp>
        <p:nvSpPr>
          <p:cNvPr id="20" name="pr-2"/>
          <p:cNvSpPr/>
          <p:nvPr/>
        </p:nvSpPr>
        <p:spPr>
          <a:xfrm>
            <a:off x="4978400" y="3009900"/>
            <a:ext cx="330200" cy="1651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pno-2"/>
          <p:cNvSpPr txBox="1"/>
          <p:nvPr/>
        </p:nvSpPr>
        <p:spPr>
          <a:xfrm>
            <a:off x="4012946" y="1835182"/>
            <a:ext cx="2307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FFFFFF">
                    <a:alpha val="50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22" name="piece-3"/>
          <p:cNvSpPr/>
          <p:nvPr/>
        </p:nvSpPr>
        <p:spPr>
          <a:xfrm>
            <a:off x="1333500" y="3111500"/>
            <a:ext cx="2911475" cy="2400300"/>
          </a:xfrm>
          <a:custGeom>
            <a:avLst/>
            <a:gdLst/>
            <a:ahLst/>
            <a:cxnLst/>
            <a:rect l="0" t="0" r="r" b="b"/>
            <a:pathLst>
              <a:path w="2911475" h="2400300">
                <a:moveTo>
                  <a:pt x="0" y="495300"/>
                </a:moveTo>
                <a:lnTo>
                  <a:pt x="1066800" y="495300"/>
                </a:lnTo>
                <a:cubicBezTo>
                  <a:pt x="939800" y="-165100"/>
                  <a:pt x="1600200" y="-165100"/>
                  <a:pt x="1473200" y="495300"/>
                </a:cubicBezTo>
                <a:lnTo>
                  <a:pt x="2540000" y="495300"/>
                </a:lnTo>
                <a:lnTo>
                  <a:pt x="2540000" y="1295400"/>
                </a:lnTo>
                <a:cubicBezTo>
                  <a:pt x="3035300" y="1200150"/>
                  <a:pt x="3035300" y="1695450"/>
                  <a:pt x="2540000" y="1600200"/>
                </a:cubicBezTo>
                <a:lnTo>
                  <a:pt x="2540000" y="2400300"/>
                </a:lnTo>
                <a:lnTo>
                  <a:pt x="0" y="2400300"/>
                </a:lnTo>
                <a:lnTo>
                  <a:pt x="0" y="495300"/>
                </a:lnTo>
                <a:close/>
              </a:path>
            </a:pathLst>
          </a:custGeom>
          <a:gradFill rotWithShape="1">
            <a:gsLst>
              <a:gs pos="0">
                <a:srgbClr val="4F8DCC"/>
              </a:gs>
              <a:gs pos="100000">
                <a:srgbClr val="2E77C2"/>
              </a:gs>
            </a:gsLst>
            <a:lin ang="7440000" scaled="0"/>
          </a:gradFill>
          <a:ln w="19050" cap="rnd">
            <a:solidFill>
              <a:srgbClr val="FFFFFF"/>
            </a:solidFill>
            <a:round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icon-tools"/>
          <p:cNvSpPr/>
          <p:nvPr/>
        </p:nvSpPr>
        <p:spPr>
          <a:xfrm>
            <a:off x="2523123" y="4105607"/>
            <a:ext cx="150227" cy="148893"/>
          </a:xfrm>
          <a:custGeom>
            <a:avLst/>
            <a:gdLst/>
            <a:ahLst/>
            <a:cxnLst/>
            <a:rect l="0" t="0" r="r" b="b"/>
            <a:pathLst>
              <a:path w="150227" h="148893">
                <a:moveTo>
                  <a:pt x="27481" y="4938"/>
                </a:moveTo>
                <a:lnTo>
                  <a:pt x="59231" y="36688"/>
                </a:lnTo>
                <a:lnTo>
                  <a:pt x="35927" y="59993"/>
                </a:lnTo>
                <a:lnTo>
                  <a:pt x="4177" y="28243"/>
                </a:lnTo>
                <a:cubicBezTo>
                  <a:pt x="-3507" y="44181"/>
                  <a:pt x="-395" y="63168"/>
                  <a:pt x="11860" y="75931"/>
                </a:cubicBezTo>
                <a:cubicBezTo>
                  <a:pt x="24116" y="88695"/>
                  <a:pt x="42975" y="92441"/>
                  <a:pt x="59231" y="85393"/>
                </a:cubicBezTo>
                <a:lnTo>
                  <a:pt x="122731" y="148893"/>
                </a:lnTo>
                <a:lnTo>
                  <a:pt x="150227" y="121397"/>
                </a:lnTo>
                <a:lnTo>
                  <a:pt x="86727" y="57897"/>
                </a:lnTo>
                <a:cubicBezTo>
                  <a:pt x="93267" y="41387"/>
                  <a:pt x="88759" y="22591"/>
                  <a:pt x="75551" y="10780"/>
                </a:cubicBezTo>
                <a:cubicBezTo>
                  <a:pt x="62343" y="-1094"/>
                  <a:pt x="43102" y="-3380"/>
                  <a:pt x="27481" y="4938"/>
                </a:cubicBezTo>
                <a:close/>
              </a:path>
            </a:pathLst>
          </a:custGeom>
          <a:noFill/>
          <a:ln w="1397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pn-3"/>
          <p:cNvSpPr txBox="1"/>
          <p:nvPr/>
        </p:nvSpPr>
        <p:spPr>
          <a:xfrm>
            <a:off x="2129790" y="4415917"/>
            <a:ext cx="9474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实施服务</a:t>
            </a:r>
          </a:p>
        </p:txBody>
      </p:sp>
      <p:sp>
        <p:nvSpPr>
          <p:cNvPr id="25" name="pe-3"/>
          <p:cNvSpPr txBox="1"/>
          <p:nvPr/>
        </p:nvSpPr>
        <p:spPr>
          <a:xfrm>
            <a:off x="2327021" y="4703508"/>
            <a:ext cx="55295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40">
                <a:solidFill>
                  <a:srgbClr val="CFE0F4"/>
                </a:solidFill>
                <a:latin typeface="Arial"/>
                <a:ea typeface="Arial"/>
                <a:cs typeface="Arial"/>
              </a:rPr>
              <a:t>SERVICE</a:t>
            </a:r>
          </a:p>
        </p:txBody>
      </p:sp>
      <p:sp>
        <p:nvSpPr>
          <p:cNvPr id="26" name="pr-3"/>
          <p:cNvSpPr/>
          <p:nvPr/>
        </p:nvSpPr>
        <p:spPr>
          <a:xfrm>
            <a:off x="2438400" y="4914900"/>
            <a:ext cx="330200" cy="1651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pno-3"/>
          <p:cNvSpPr txBox="1"/>
          <p:nvPr/>
        </p:nvSpPr>
        <p:spPr>
          <a:xfrm>
            <a:off x="1472946" y="3740182"/>
            <a:ext cx="2307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FFFFFF">
                    <a:alpha val="50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28" name="piece-4"/>
          <p:cNvSpPr/>
          <p:nvPr/>
        </p:nvSpPr>
        <p:spPr>
          <a:xfrm>
            <a:off x="3873500" y="3606800"/>
            <a:ext cx="2540000" cy="1905000"/>
          </a:xfrm>
          <a:custGeom>
            <a:avLst/>
            <a:gdLst/>
            <a:ahLst/>
            <a:cxnLst/>
            <a:rect l="0" t="0" r="r" b="b"/>
            <a:pathLst>
              <a:path w="2540000" h="1905000">
                <a:moveTo>
                  <a:pt x="0" y="0"/>
                </a:moveTo>
                <a:lnTo>
                  <a:pt x="1066800" y="0"/>
                </a:lnTo>
                <a:cubicBezTo>
                  <a:pt x="939800" y="660400"/>
                  <a:pt x="1600200" y="660400"/>
                  <a:pt x="1473200" y="0"/>
                </a:cubicBezTo>
                <a:lnTo>
                  <a:pt x="2540000" y="0"/>
                </a:lnTo>
                <a:lnTo>
                  <a:pt x="2540000" y="1905000"/>
                </a:lnTo>
                <a:lnTo>
                  <a:pt x="0" y="1905000"/>
                </a:lnTo>
                <a:lnTo>
                  <a:pt x="0" y="1104900"/>
                </a:lnTo>
                <a:cubicBezTo>
                  <a:pt x="495300" y="1200150"/>
                  <a:pt x="495300" y="704850"/>
                  <a:pt x="0" y="800100"/>
                </a:cubicBez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64A5DD"/>
              </a:gs>
              <a:gs pos="100000">
                <a:srgbClr val="4694D7"/>
              </a:gs>
            </a:gsLst>
            <a:lin ang="7440000" scaled="0"/>
          </a:gradFill>
          <a:ln w="19050" cap="rnd">
            <a:solidFill>
              <a:srgbClr val="FFFFFF"/>
            </a:solidFill>
            <a:round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icon-grow"/>
          <p:cNvSpPr/>
          <p:nvPr/>
        </p:nvSpPr>
        <p:spPr>
          <a:xfrm>
            <a:off x="5054600" y="4150804"/>
            <a:ext cx="158750" cy="99441"/>
          </a:xfrm>
          <a:custGeom>
            <a:avLst/>
            <a:gdLst/>
            <a:ahLst/>
            <a:cxnLst/>
            <a:rect l="0" t="0" r="r" b="b"/>
            <a:pathLst>
              <a:path w="158750" h="99441">
                <a:moveTo>
                  <a:pt x="0" y="99441"/>
                </a:moveTo>
                <a:lnTo>
                  <a:pt x="52896" y="42291"/>
                </a:lnTo>
                <a:lnTo>
                  <a:pt x="90996" y="74041"/>
                </a:lnTo>
                <a:lnTo>
                  <a:pt x="154496" y="0"/>
                </a:lnTo>
                <a:moveTo>
                  <a:pt x="129096" y="0"/>
                </a:moveTo>
                <a:lnTo>
                  <a:pt x="158750" y="0"/>
                </a:lnTo>
                <a:lnTo>
                  <a:pt x="158750" y="29591"/>
                </a:lnTo>
              </a:path>
            </a:pathLst>
          </a:custGeom>
          <a:noFill/>
          <a:ln w="1397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pn-4"/>
          <p:cNvSpPr txBox="1"/>
          <p:nvPr/>
        </p:nvSpPr>
        <p:spPr>
          <a:xfrm>
            <a:off x="4669790" y="4415917"/>
            <a:ext cx="9474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持续运营</a:t>
            </a:r>
          </a:p>
        </p:txBody>
      </p:sp>
      <p:sp>
        <p:nvSpPr>
          <p:cNvPr id="31" name="pe-4"/>
          <p:cNvSpPr txBox="1"/>
          <p:nvPr/>
        </p:nvSpPr>
        <p:spPr>
          <a:xfrm>
            <a:off x="4799457" y="4703508"/>
            <a:ext cx="68808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40">
                <a:solidFill>
                  <a:srgbClr val="CFE0F4"/>
                </a:solidFill>
                <a:latin typeface="Arial"/>
                <a:ea typeface="Arial"/>
                <a:cs typeface="Arial"/>
              </a:rPr>
              <a:t>OPERATION</a:t>
            </a:r>
          </a:p>
        </p:txBody>
      </p:sp>
      <p:sp>
        <p:nvSpPr>
          <p:cNvPr id="32" name="pr-4"/>
          <p:cNvSpPr/>
          <p:nvPr/>
        </p:nvSpPr>
        <p:spPr>
          <a:xfrm>
            <a:off x="4978400" y="4914900"/>
            <a:ext cx="330200" cy="1651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pno-4"/>
          <p:cNvSpPr txBox="1"/>
          <p:nvPr/>
        </p:nvSpPr>
        <p:spPr>
          <a:xfrm>
            <a:off x="4012946" y="3740182"/>
            <a:ext cx="2307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FFFFFF">
                    <a:alpha val="50000"/>
                  </a:srgbClr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34" name="side-bar"/>
          <p:cNvSpPr/>
          <p:nvPr/>
        </p:nvSpPr>
        <p:spPr>
          <a:xfrm>
            <a:off x="7112000" y="15875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side-h"/>
          <p:cNvSpPr txBox="1"/>
          <p:nvPr/>
        </p:nvSpPr>
        <p:spPr>
          <a:xfrm>
            <a:off x="7270750" y="1594644"/>
            <a:ext cx="1514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每块拼图交付什么</a:t>
            </a:r>
          </a:p>
        </p:txBody>
      </p:sp>
      <p:sp>
        <p:nvSpPr>
          <p:cNvPr id="36" name="side-p"/>
          <p:cNvSpPr txBox="1"/>
          <p:nvPr/>
        </p:nvSpPr>
        <p:spPr>
          <a:xfrm>
            <a:off x="7276465" y="18693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四项能力的具体承诺</a:t>
            </a:r>
          </a:p>
        </p:txBody>
      </p:sp>
      <p:sp>
        <p:nvSpPr>
          <p:cNvPr id="37" name="sc-1"/>
          <p:cNvSpPr/>
          <p:nvPr/>
        </p:nvSpPr>
        <p:spPr>
          <a:xfrm>
            <a:off x="7112000" y="2286000"/>
            <a:ext cx="4127500" cy="736600"/>
          </a:xfrm>
          <a:custGeom>
            <a:avLst/>
            <a:gdLst/>
            <a:ahLst/>
            <a:cxnLst/>
            <a:rect l="0" t="0" r="r" b="b"/>
            <a:pathLst>
              <a:path w="4127500" h="736600">
                <a:moveTo>
                  <a:pt x="114300" y="0"/>
                </a:moveTo>
                <a:lnTo>
                  <a:pt x="4013200" y="0"/>
                </a:lnTo>
                <a:cubicBezTo>
                  <a:pt x="4076319" y="0"/>
                  <a:pt x="4127500" y="51181"/>
                  <a:pt x="4127500" y="114300"/>
                </a:cubicBezTo>
                <a:lnTo>
                  <a:pt x="4127500" y="622300"/>
                </a:lnTo>
                <a:cubicBezTo>
                  <a:pt x="4127500" y="685419"/>
                  <a:pt x="4076319" y="736600"/>
                  <a:pt x="4013200" y="736600"/>
                </a:cubicBezTo>
                <a:lnTo>
                  <a:pt x="114300" y="736600"/>
                </a:lnTo>
                <a:cubicBezTo>
                  <a:pt x="51181" y="736600"/>
                  <a:pt x="0" y="685419"/>
                  <a:pt x="0" y="622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scb-1"/>
          <p:cNvSpPr/>
          <p:nvPr/>
        </p:nvSpPr>
        <p:spPr>
          <a:xfrm>
            <a:off x="7112000" y="2286000"/>
            <a:ext cx="31750" cy="736600"/>
          </a:xfrm>
          <a:custGeom>
            <a:avLst/>
            <a:gdLst/>
            <a:ahLst/>
            <a:cxnLst/>
            <a:rect l="0" t="0" r="r" b="b"/>
            <a:pathLst>
              <a:path w="31750" h="7366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20725"/>
                </a:lnTo>
                <a:cubicBezTo>
                  <a:pt x="31750" y="729488"/>
                  <a:pt x="24638" y="736600"/>
                  <a:pt x="15875" y="736600"/>
                </a:cubicBezTo>
                <a:lnTo>
                  <a:pt x="15875" y="736600"/>
                </a:lnTo>
                <a:cubicBezTo>
                  <a:pt x="7112" y="736600"/>
                  <a:pt x="0" y="729488"/>
                  <a:pt x="0" y="7207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icon-factory"/>
          <p:cNvSpPr/>
          <p:nvPr/>
        </p:nvSpPr>
        <p:spPr>
          <a:xfrm>
            <a:off x="7332218" y="2513838"/>
            <a:ext cx="118364" cy="79819"/>
          </a:xfrm>
          <a:custGeom>
            <a:avLst/>
            <a:gdLst/>
            <a:ahLst/>
            <a:cxnLst/>
            <a:rect l="0" t="0" r="r" b="b"/>
            <a:pathLst>
              <a:path w="118364" h="79819">
                <a:moveTo>
                  <a:pt x="0" y="79819"/>
                </a:moveTo>
                <a:lnTo>
                  <a:pt x="0" y="19304"/>
                </a:lnTo>
                <a:lnTo>
                  <a:pt x="34417" y="39942"/>
                </a:lnTo>
                <a:lnTo>
                  <a:pt x="34417" y="19304"/>
                </a:lnTo>
                <a:lnTo>
                  <a:pt x="68834" y="39942"/>
                </a:lnTo>
                <a:lnTo>
                  <a:pt x="68834" y="0"/>
                </a:lnTo>
                <a:lnTo>
                  <a:pt x="103188" y="20638"/>
                </a:lnTo>
                <a:lnTo>
                  <a:pt x="103188" y="72962"/>
                </a:lnTo>
                <a:close/>
                <a:moveTo>
                  <a:pt x="0" y="79819"/>
                </a:moveTo>
                <a:lnTo>
                  <a:pt x="118364" y="79819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scn-1"/>
          <p:cNvSpPr txBox="1"/>
          <p:nvPr/>
        </p:nvSpPr>
        <p:spPr>
          <a:xfrm>
            <a:off x="7591298" y="24261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硬件设备</a:t>
            </a:r>
          </a:p>
        </p:txBody>
      </p:sp>
      <p:sp>
        <p:nvSpPr>
          <p:cNvPr id="41" name="scd-1-1"/>
          <p:cNvSpPr/>
          <p:nvPr/>
        </p:nvSpPr>
        <p:spPr>
          <a:xfrm>
            <a:off x="8995410" y="2461260"/>
            <a:ext cx="43180" cy="43180"/>
          </a:xfrm>
          <a:prstGeom prst="ellipse">
            <a:avLst/>
          </a:prstGeom>
          <a:solidFill>
            <a:srgbClr val="0B3E8F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scp-1-1"/>
          <p:cNvSpPr txBox="1"/>
          <p:nvPr/>
        </p:nvSpPr>
        <p:spPr>
          <a:xfrm>
            <a:off x="9119489" y="2393045"/>
            <a:ext cx="109188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自研控制器与传感模组</a:t>
            </a:r>
          </a:p>
        </p:txBody>
      </p:sp>
      <p:sp>
        <p:nvSpPr>
          <p:cNvPr id="43" name="scd-1-2"/>
          <p:cNvSpPr/>
          <p:nvPr/>
        </p:nvSpPr>
        <p:spPr>
          <a:xfrm>
            <a:off x="8995410" y="2715260"/>
            <a:ext cx="43180" cy="43180"/>
          </a:xfrm>
          <a:prstGeom prst="ellipse">
            <a:avLst/>
          </a:prstGeom>
          <a:solidFill>
            <a:srgbClr val="0B3E8F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scp-1-2"/>
          <p:cNvSpPr txBox="1"/>
          <p:nvPr/>
        </p:nvSpPr>
        <p:spPr>
          <a:xfrm>
            <a:off x="9119489" y="2647045"/>
            <a:ext cx="99155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三年质保与备件网络</a:t>
            </a:r>
          </a:p>
        </p:txBody>
      </p:sp>
      <p:sp>
        <p:nvSpPr>
          <p:cNvPr id="45" name="sc-2"/>
          <p:cNvSpPr/>
          <p:nvPr/>
        </p:nvSpPr>
        <p:spPr>
          <a:xfrm>
            <a:off x="7112000" y="3136900"/>
            <a:ext cx="4127500" cy="736600"/>
          </a:xfrm>
          <a:custGeom>
            <a:avLst/>
            <a:gdLst/>
            <a:ahLst/>
            <a:cxnLst/>
            <a:rect l="0" t="0" r="r" b="b"/>
            <a:pathLst>
              <a:path w="4127500" h="736600">
                <a:moveTo>
                  <a:pt x="114300" y="0"/>
                </a:moveTo>
                <a:lnTo>
                  <a:pt x="4013200" y="0"/>
                </a:lnTo>
                <a:cubicBezTo>
                  <a:pt x="4076319" y="0"/>
                  <a:pt x="4127500" y="51181"/>
                  <a:pt x="4127500" y="114300"/>
                </a:cubicBezTo>
                <a:lnTo>
                  <a:pt x="4127500" y="622300"/>
                </a:lnTo>
                <a:cubicBezTo>
                  <a:pt x="4127500" y="685419"/>
                  <a:pt x="4076319" y="736600"/>
                  <a:pt x="4013200" y="736600"/>
                </a:cubicBezTo>
                <a:lnTo>
                  <a:pt x="114300" y="736600"/>
                </a:lnTo>
                <a:cubicBezTo>
                  <a:pt x="51181" y="736600"/>
                  <a:pt x="0" y="685419"/>
                  <a:pt x="0" y="622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scb-2"/>
          <p:cNvSpPr/>
          <p:nvPr/>
        </p:nvSpPr>
        <p:spPr>
          <a:xfrm>
            <a:off x="7112000" y="3136900"/>
            <a:ext cx="31750" cy="736600"/>
          </a:xfrm>
          <a:custGeom>
            <a:avLst/>
            <a:gdLst/>
            <a:ahLst/>
            <a:cxnLst/>
            <a:rect l="0" t="0" r="r" b="b"/>
            <a:pathLst>
              <a:path w="31750" h="7366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20725"/>
                </a:lnTo>
                <a:cubicBezTo>
                  <a:pt x="31750" y="729488"/>
                  <a:pt x="24638" y="736600"/>
                  <a:pt x="15875" y="736600"/>
                </a:cubicBezTo>
                <a:lnTo>
                  <a:pt x="15875" y="736600"/>
                </a:lnTo>
                <a:cubicBezTo>
                  <a:pt x="7112" y="736600"/>
                  <a:pt x="0" y="729488"/>
                  <a:pt x="0" y="7207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icon-cloud"/>
          <p:cNvSpPr/>
          <p:nvPr/>
        </p:nvSpPr>
        <p:spPr>
          <a:xfrm>
            <a:off x="7328090" y="3344947"/>
            <a:ext cx="130746" cy="89958"/>
          </a:xfrm>
          <a:custGeom>
            <a:avLst/>
            <a:gdLst/>
            <a:ahLst/>
            <a:cxnLst/>
            <a:rect l="0" t="0" r="r" b="b"/>
            <a:pathLst>
              <a:path w="130746" h="89958">
                <a:moveTo>
                  <a:pt x="30289" y="89958"/>
                </a:moveTo>
                <a:cubicBezTo>
                  <a:pt x="14351" y="90720"/>
                  <a:pt x="762" y="78401"/>
                  <a:pt x="0" y="62463"/>
                </a:cubicBezTo>
                <a:cubicBezTo>
                  <a:pt x="-762" y="46524"/>
                  <a:pt x="11557" y="32935"/>
                  <a:pt x="27559" y="32173"/>
                </a:cubicBezTo>
                <a:cubicBezTo>
                  <a:pt x="29782" y="15346"/>
                  <a:pt x="43180" y="2201"/>
                  <a:pt x="60071" y="233"/>
                </a:cubicBezTo>
                <a:cubicBezTo>
                  <a:pt x="76962" y="-1736"/>
                  <a:pt x="93028" y="8043"/>
                  <a:pt x="99060" y="23918"/>
                </a:cubicBezTo>
                <a:cubicBezTo>
                  <a:pt x="117348" y="24680"/>
                  <a:pt x="131509" y="40111"/>
                  <a:pt x="130746" y="58335"/>
                </a:cubicBezTo>
                <a:cubicBezTo>
                  <a:pt x="129985" y="76560"/>
                  <a:pt x="114554" y="90720"/>
                  <a:pt x="96330" y="89958"/>
                </a:cubicBezTo>
                <a:close/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scn-2"/>
          <p:cNvSpPr txBox="1"/>
          <p:nvPr/>
        </p:nvSpPr>
        <p:spPr>
          <a:xfrm>
            <a:off x="7591298" y="32770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软件平台</a:t>
            </a:r>
          </a:p>
        </p:txBody>
      </p:sp>
      <p:sp>
        <p:nvSpPr>
          <p:cNvPr id="49" name="scd-2-1"/>
          <p:cNvSpPr/>
          <p:nvPr/>
        </p:nvSpPr>
        <p:spPr>
          <a:xfrm>
            <a:off x="8995410" y="3312160"/>
            <a:ext cx="43180" cy="43180"/>
          </a:xfrm>
          <a:prstGeom prst="ellipse">
            <a:avLst/>
          </a:prstGeom>
          <a:solidFill>
            <a:srgbClr val="1B5AA8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scp-2-1"/>
          <p:cNvSpPr txBox="1"/>
          <p:nvPr/>
        </p:nvSpPr>
        <p:spPr>
          <a:xfrm>
            <a:off x="9119489" y="3243945"/>
            <a:ext cx="109188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排产、追溯与看板一体</a:t>
            </a:r>
          </a:p>
        </p:txBody>
      </p:sp>
      <p:sp>
        <p:nvSpPr>
          <p:cNvPr id="51" name="scd-2-2"/>
          <p:cNvSpPr/>
          <p:nvPr/>
        </p:nvSpPr>
        <p:spPr>
          <a:xfrm>
            <a:off x="8995410" y="3566160"/>
            <a:ext cx="43180" cy="43180"/>
          </a:xfrm>
          <a:prstGeom prst="ellipse">
            <a:avLst/>
          </a:prstGeom>
          <a:solidFill>
            <a:srgbClr val="1B5AA8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scp-2-2"/>
          <p:cNvSpPr txBox="1"/>
          <p:nvPr/>
        </p:nvSpPr>
        <p:spPr>
          <a:xfrm>
            <a:off x="9119489" y="3497945"/>
            <a:ext cx="79089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支持私有化部署</a:t>
            </a:r>
          </a:p>
        </p:txBody>
      </p:sp>
      <p:sp>
        <p:nvSpPr>
          <p:cNvPr id="53" name="sc-3"/>
          <p:cNvSpPr/>
          <p:nvPr/>
        </p:nvSpPr>
        <p:spPr>
          <a:xfrm>
            <a:off x="7112000" y="3987800"/>
            <a:ext cx="4127500" cy="736600"/>
          </a:xfrm>
          <a:custGeom>
            <a:avLst/>
            <a:gdLst/>
            <a:ahLst/>
            <a:cxnLst/>
            <a:rect l="0" t="0" r="r" b="b"/>
            <a:pathLst>
              <a:path w="4127500" h="736600">
                <a:moveTo>
                  <a:pt x="114300" y="0"/>
                </a:moveTo>
                <a:lnTo>
                  <a:pt x="4013200" y="0"/>
                </a:lnTo>
                <a:cubicBezTo>
                  <a:pt x="4076319" y="0"/>
                  <a:pt x="4127500" y="51181"/>
                  <a:pt x="4127500" y="114300"/>
                </a:cubicBezTo>
                <a:lnTo>
                  <a:pt x="4127500" y="622300"/>
                </a:lnTo>
                <a:cubicBezTo>
                  <a:pt x="4127500" y="685419"/>
                  <a:pt x="4076319" y="736600"/>
                  <a:pt x="4013200" y="736600"/>
                </a:cubicBezTo>
                <a:lnTo>
                  <a:pt x="114300" y="736600"/>
                </a:lnTo>
                <a:cubicBezTo>
                  <a:pt x="51181" y="736600"/>
                  <a:pt x="0" y="685419"/>
                  <a:pt x="0" y="622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scb-3"/>
          <p:cNvSpPr/>
          <p:nvPr/>
        </p:nvSpPr>
        <p:spPr>
          <a:xfrm>
            <a:off x="7112000" y="3987800"/>
            <a:ext cx="31750" cy="736600"/>
          </a:xfrm>
          <a:custGeom>
            <a:avLst/>
            <a:gdLst/>
            <a:ahLst/>
            <a:cxnLst/>
            <a:rect l="0" t="0" r="r" b="b"/>
            <a:pathLst>
              <a:path w="31750" h="7366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20725"/>
                </a:lnTo>
                <a:cubicBezTo>
                  <a:pt x="31750" y="729488"/>
                  <a:pt x="24638" y="736600"/>
                  <a:pt x="15875" y="736600"/>
                </a:cubicBezTo>
                <a:lnTo>
                  <a:pt x="15875" y="736600"/>
                </a:lnTo>
                <a:cubicBezTo>
                  <a:pt x="7112" y="736600"/>
                  <a:pt x="0" y="729488"/>
                  <a:pt x="0" y="7207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icon-tools"/>
          <p:cNvSpPr/>
          <p:nvPr/>
        </p:nvSpPr>
        <p:spPr>
          <a:xfrm>
            <a:off x="7339168" y="4186299"/>
            <a:ext cx="97635" cy="96776"/>
          </a:xfrm>
          <a:custGeom>
            <a:avLst/>
            <a:gdLst/>
            <a:ahLst/>
            <a:cxnLst/>
            <a:rect l="0" t="0" r="r" b="b"/>
            <a:pathLst>
              <a:path w="97635" h="96776">
                <a:moveTo>
                  <a:pt x="17815" y="3240"/>
                </a:moveTo>
                <a:lnTo>
                  <a:pt x="38453" y="23878"/>
                </a:lnTo>
                <a:lnTo>
                  <a:pt x="23340" y="38991"/>
                </a:lnTo>
                <a:lnTo>
                  <a:pt x="2702" y="18353"/>
                </a:lnTo>
                <a:cubicBezTo>
                  <a:pt x="-2251" y="28704"/>
                  <a:pt x="-282" y="41086"/>
                  <a:pt x="7655" y="49341"/>
                </a:cubicBezTo>
                <a:cubicBezTo>
                  <a:pt x="15656" y="57660"/>
                  <a:pt x="27912" y="60073"/>
                  <a:pt x="38453" y="55501"/>
                </a:cubicBezTo>
                <a:lnTo>
                  <a:pt x="79728" y="96776"/>
                </a:lnTo>
                <a:lnTo>
                  <a:pt x="97635" y="78869"/>
                </a:lnTo>
                <a:lnTo>
                  <a:pt x="56360" y="37594"/>
                </a:lnTo>
                <a:cubicBezTo>
                  <a:pt x="60614" y="26862"/>
                  <a:pt x="57693" y="14670"/>
                  <a:pt x="49121" y="6987"/>
                </a:cubicBezTo>
                <a:cubicBezTo>
                  <a:pt x="40485" y="-697"/>
                  <a:pt x="28039" y="-2221"/>
                  <a:pt x="17815" y="3240"/>
                </a:cubicBezTo>
                <a:close/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scn-3"/>
          <p:cNvSpPr txBox="1"/>
          <p:nvPr/>
        </p:nvSpPr>
        <p:spPr>
          <a:xfrm>
            <a:off x="7591298" y="41279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实施服务</a:t>
            </a:r>
          </a:p>
        </p:txBody>
      </p:sp>
      <p:sp>
        <p:nvSpPr>
          <p:cNvPr id="57" name="scd-3-1"/>
          <p:cNvSpPr/>
          <p:nvPr/>
        </p:nvSpPr>
        <p:spPr>
          <a:xfrm>
            <a:off x="8995410" y="4163060"/>
            <a:ext cx="43180" cy="43180"/>
          </a:xfrm>
          <a:prstGeom prst="ellipse">
            <a:avLst/>
          </a:prstGeom>
          <a:solidFill>
            <a:srgbClr val="2E77C2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scp-3-1"/>
          <p:cNvSpPr txBox="1"/>
          <p:nvPr/>
        </p:nvSpPr>
        <p:spPr>
          <a:xfrm>
            <a:off x="9119489" y="4094845"/>
            <a:ext cx="89122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标准化实施方法论</a:t>
            </a:r>
          </a:p>
        </p:txBody>
      </p:sp>
      <p:sp>
        <p:nvSpPr>
          <p:cNvPr id="59" name="scd-3-2"/>
          <p:cNvSpPr/>
          <p:nvPr/>
        </p:nvSpPr>
        <p:spPr>
          <a:xfrm>
            <a:off x="8995410" y="4417060"/>
            <a:ext cx="43180" cy="43180"/>
          </a:xfrm>
          <a:prstGeom prst="ellipse">
            <a:avLst/>
          </a:prstGeom>
          <a:solidFill>
            <a:srgbClr val="2E77C2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scp-3-2"/>
          <p:cNvSpPr txBox="1"/>
          <p:nvPr/>
        </p:nvSpPr>
        <p:spPr>
          <a:xfrm>
            <a:off x="9119489" y="4348845"/>
            <a:ext cx="1018984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平均 18 天完成上线</a:t>
            </a:r>
          </a:p>
        </p:txBody>
      </p:sp>
      <p:sp>
        <p:nvSpPr>
          <p:cNvPr id="61" name="sc-4"/>
          <p:cNvSpPr/>
          <p:nvPr/>
        </p:nvSpPr>
        <p:spPr>
          <a:xfrm>
            <a:off x="7112000" y="4838700"/>
            <a:ext cx="4127500" cy="736600"/>
          </a:xfrm>
          <a:custGeom>
            <a:avLst/>
            <a:gdLst/>
            <a:ahLst/>
            <a:cxnLst/>
            <a:rect l="0" t="0" r="r" b="b"/>
            <a:pathLst>
              <a:path w="4127500" h="736600">
                <a:moveTo>
                  <a:pt x="114300" y="0"/>
                </a:moveTo>
                <a:lnTo>
                  <a:pt x="4013200" y="0"/>
                </a:lnTo>
                <a:cubicBezTo>
                  <a:pt x="4076319" y="0"/>
                  <a:pt x="4127500" y="51181"/>
                  <a:pt x="4127500" y="114300"/>
                </a:cubicBezTo>
                <a:lnTo>
                  <a:pt x="4127500" y="622300"/>
                </a:lnTo>
                <a:cubicBezTo>
                  <a:pt x="4127500" y="685419"/>
                  <a:pt x="4076319" y="736600"/>
                  <a:pt x="4013200" y="736600"/>
                </a:cubicBezTo>
                <a:lnTo>
                  <a:pt x="114300" y="736600"/>
                </a:lnTo>
                <a:cubicBezTo>
                  <a:pt x="51181" y="736600"/>
                  <a:pt x="0" y="685419"/>
                  <a:pt x="0" y="622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scb-4"/>
          <p:cNvSpPr/>
          <p:nvPr/>
        </p:nvSpPr>
        <p:spPr>
          <a:xfrm>
            <a:off x="7112000" y="4838700"/>
            <a:ext cx="31750" cy="736600"/>
          </a:xfrm>
          <a:custGeom>
            <a:avLst/>
            <a:gdLst/>
            <a:ahLst/>
            <a:cxnLst/>
            <a:rect l="0" t="0" r="r" b="b"/>
            <a:pathLst>
              <a:path w="31750" h="7366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20725"/>
                </a:lnTo>
                <a:cubicBezTo>
                  <a:pt x="31750" y="729488"/>
                  <a:pt x="24638" y="736600"/>
                  <a:pt x="15875" y="736600"/>
                </a:cubicBezTo>
                <a:lnTo>
                  <a:pt x="15875" y="736600"/>
                </a:lnTo>
                <a:cubicBezTo>
                  <a:pt x="7112" y="736600"/>
                  <a:pt x="0" y="729488"/>
                  <a:pt x="0" y="7207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icon-grow"/>
          <p:cNvSpPr/>
          <p:nvPr/>
        </p:nvSpPr>
        <p:spPr>
          <a:xfrm>
            <a:off x="7333615" y="5066538"/>
            <a:ext cx="103188" cy="64707"/>
          </a:xfrm>
          <a:custGeom>
            <a:avLst/>
            <a:gdLst/>
            <a:ahLst/>
            <a:cxnLst/>
            <a:rect l="0" t="0" r="r" b="b"/>
            <a:pathLst>
              <a:path w="103188" h="64707">
                <a:moveTo>
                  <a:pt x="0" y="64707"/>
                </a:moveTo>
                <a:lnTo>
                  <a:pt x="34417" y="27559"/>
                </a:lnTo>
                <a:lnTo>
                  <a:pt x="59182" y="48197"/>
                </a:lnTo>
                <a:lnTo>
                  <a:pt x="100457" y="0"/>
                </a:lnTo>
                <a:moveTo>
                  <a:pt x="83947" y="0"/>
                </a:moveTo>
                <a:lnTo>
                  <a:pt x="103188" y="0"/>
                </a:lnTo>
                <a:lnTo>
                  <a:pt x="103188" y="19304"/>
                </a:lnTo>
              </a:path>
            </a:pathLst>
          </a:cu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scn-4"/>
          <p:cNvSpPr txBox="1"/>
          <p:nvPr/>
        </p:nvSpPr>
        <p:spPr>
          <a:xfrm>
            <a:off x="7591298" y="49788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持续运营</a:t>
            </a:r>
          </a:p>
        </p:txBody>
      </p:sp>
      <p:sp>
        <p:nvSpPr>
          <p:cNvPr id="65" name="scd-4-1"/>
          <p:cNvSpPr/>
          <p:nvPr/>
        </p:nvSpPr>
        <p:spPr>
          <a:xfrm>
            <a:off x="8995410" y="5013960"/>
            <a:ext cx="43180" cy="43180"/>
          </a:xfrm>
          <a:prstGeom prst="ellipse">
            <a:avLst/>
          </a:prstGeom>
          <a:solidFill>
            <a:srgbClr val="4694D7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scp-4-1"/>
          <p:cNvSpPr txBox="1"/>
          <p:nvPr/>
        </p:nvSpPr>
        <p:spPr>
          <a:xfrm>
            <a:off x="9119489" y="4945745"/>
            <a:ext cx="79089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季度调优与陪跑</a:t>
            </a:r>
          </a:p>
        </p:txBody>
      </p:sp>
      <p:sp>
        <p:nvSpPr>
          <p:cNvPr id="67" name="scd-4-2"/>
          <p:cNvSpPr/>
          <p:nvPr/>
        </p:nvSpPr>
        <p:spPr>
          <a:xfrm>
            <a:off x="8995410" y="5267960"/>
            <a:ext cx="43180" cy="43180"/>
          </a:xfrm>
          <a:prstGeom prst="ellipse">
            <a:avLst/>
          </a:prstGeom>
          <a:solidFill>
            <a:srgbClr val="4694D7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scp-4-2"/>
          <p:cNvSpPr txBox="1"/>
          <p:nvPr/>
        </p:nvSpPr>
        <p:spPr>
          <a:xfrm>
            <a:off x="9119489" y="5199745"/>
            <a:ext cx="89122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数据反哺工艺改进</a:t>
            </a:r>
          </a:p>
        </p:txBody>
      </p:sp>
      <p:sp>
        <p:nvSpPr>
          <p:cNvPr id="69" name="sum"/>
          <p:cNvSpPr/>
          <p:nvPr/>
        </p:nvSpPr>
        <p:spPr>
          <a:xfrm>
            <a:off x="952500" y="5829300"/>
            <a:ext cx="10287000" cy="495300"/>
          </a:xfrm>
          <a:custGeom>
            <a:avLst/>
            <a:gdLst/>
            <a:ahLst/>
            <a:cxnLst/>
            <a:rect l="0" t="0" r="r" b="b"/>
            <a:pathLst>
              <a:path w="10287000" h="4953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393700"/>
                </a:lnTo>
                <a:cubicBezTo>
                  <a:pt x="10287000" y="449834"/>
                  <a:pt x="10241534" y="495300"/>
                  <a:pt x="10185400" y="495300"/>
                </a:cubicBezTo>
                <a:lnTo>
                  <a:pt x="101600" y="495300"/>
                </a:lnTo>
                <a:cubicBezTo>
                  <a:pt x="45466" y="495300"/>
                  <a:pt x="0" y="449834"/>
                  <a:pt x="0" y="3937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sum-bar"/>
          <p:cNvSpPr/>
          <p:nvPr/>
        </p:nvSpPr>
        <p:spPr>
          <a:xfrm>
            <a:off x="952500" y="58293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sum-h"/>
          <p:cNvSpPr txBox="1"/>
          <p:nvPr/>
        </p:nvSpPr>
        <p:spPr>
          <a:xfrm>
            <a:off x="1141222" y="59723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整体价值</a:t>
            </a:r>
          </a:p>
        </p:txBody>
      </p:sp>
      <p:sp>
        <p:nvSpPr>
          <p:cNvPr id="72" name="sum-p"/>
          <p:cNvSpPr txBox="1"/>
          <p:nvPr/>
        </p:nvSpPr>
        <p:spPr>
          <a:xfrm>
            <a:off x="2082165" y="5984161"/>
            <a:ext cx="555466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拆开卖只是四个供应商，拼起来才是一套可验收的产线方案——这也是我们比单点厂商多拿 30% 报价的底气。</a:t>
            </a:r>
          </a:p>
        </p:txBody>
      </p:sp>
      <p:cxnSp>
        <p:nvCxnSpPr>
          <p:cNvPr id="73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拼图模型 · 四块咬合</a:t>
            </a:r>
          </a:p>
        </p:txBody>
      </p:sp>
      <p:sp>
        <p:nvSpPr>
          <p:cNvPr id="75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从现状到目标的桥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17271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BRIDGE MODEL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351899" y="673132"/>
            <a:ext cx="22688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四根桥墩撑起这座桥，缺任何一根都过不去</a:t>
            </a:r>
          </a:p>
        </p:txBody>
      </p:sp>
      <p:sp>
        <p:nvSpPr>
          <p:cNvPr id="10" name="bank-1"/>
          <p:cNvSpPr/>
          <p:nvPr/>
        </p:nvSpPr>
        <p:spPr>
          <a:xfrm>
            <a:off x="952500" y="1905000"/>
            <a:ext cx="1968500" cy="2984500"/>
          </a:xfrm>
          <a:custGeom>
            <a:avLst/>
            <a:gdLst/>
            <a:ahLst/>
            <a:cxnLst/>
            <a:rect l="0" t="0" r="r" b="b"/>
            <a:pathLst>
              <a:path w="1968500" h="2984500">
                <a:moveTo>
                  <a:pt x="139700" y="0"/>
                </a:moveTo>
                <a:lnTo>
                  <a:pt x="1828800" y="0"/>
                </a:lnTo>
                <a:cubicBezTo>
                  <a:pt x="1905952" y="0"/>
                  <a:pt x="1968500" y="62548"/>
                  <a:pt x="1968500" y="139700"/>
                </a:cubicBezTo>
                <a:lnTo>
                  <a:pt x="1968500" y="2844800"/>
                </a:lnTo>
                <a:cubicBezTo>
                  <a:pt x="1968500" y="2921952"/>
                  <a:pt x="1905952" y="2984500"/>
                  <a:pt x="1828800" y="2984500"/>
                </a:cubicBezTo>
                <a:lnTo>
                  <a:pt x="139700" y="2984500"/>
                </a:lnTo>
                <a:cubicBezTo>
                  <a:pt x="62547" y="2984500"/>
                  <a:pt x="0" y="2921952"/>
                  <a:pt x="0" y="28448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 w="9525" cap="rnd">
            <a:solidFill>
              <a:srgbClr val="1B5AA8">
                <a:alpha val="25000"/>
              </a:srgbClr>
            </a:solidFill>
            <a:round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icon-pin"/>
          <p:cNvSpPr/>
          <p:nvPr/>
        </p:nvSpPr>
        <p:spPr>
          <a:xfrm>
            <a:off x="1206500" y="2201354"/>
            <a:ext cx="101600" cy="135445"/>
          </a:xfrm>
          <a:custGeom>
            <a:avLst/>
            <a:gdLst/>
            <a:ahLst/>
            <a:cxnLst/>
            <a:rect l="0" t="0" r="r" b="b"/>
            <a:pathLst>
              <a:path w="101600" h="135445">
                <a:moveTo>
                  <a:pt x="50800" y="135445"/>
                </a:moveTo>
                <a:cubicBezTo>
                  <a:pt x="81280" y="98171"/>
                  <a:pt x="101600" y="73660"/>
                  <a:pt x="101600" y="50800"/>
                </a:cubicBezTo>
                <a:cubicBezTo>
                  <a:pt x="101600" y="22733"/>
                  <a:pt x="78867" y="0"/>
                  <a:pt x="50800" y="0"/>
                </a:cubicBezTo>
                <a:cubicBezTo>
                  <a:pt x="22733" y="0"/>
                  <a:pt x="0" y="22733"/>
                  <a:pt x="0" y="50800"/>
                </a:cubicBezTo>
                <a:cubicBezTo>
                  <a:pt x="0" y="73660"/>
                  <a:pt x="20320" y="98171"/>
                  <a:pt x="50800" y="135445"/>
                </a:cubicBezTo>
                <a:close/>
              </a:path>
            </a:pathLst>
          </a:custGeom>
          <a:noFill/>
          <a:ln w="1333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icon-pin"/>
          <p:cNvSpPr/>
          <p:nvPr/>
        </p:nvSpPr>
        <p:spPr>
          <a:xfrm>
            <a:off x="1236980" y="2231813"/>
            <a:ext cx="40640" cy="40640"/>
          </a:xfrm>
          <a:prstGeom prst="ellipse">
            <a:avLst/>
          </a:prstGeom>
          <a:noFill/>
          <a:ln w="1333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bn-1"/>
          <p:cNvSpPr txBox="1"/>
          <p:nvPr/>
        </p:nvSpPr>
        <p:spPr>
          <a:xfrm>
            <a:off x="1463040" y="2088832"/>
            <a:ext cx="59055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现状</a:t>
            </a:r>
          </a:p>
        </p:txBody>
      </p:sp>
      <p:sp>
        <p:nvSpPr>
          <p:cNvPr id="14" name="bp-1"/>
          <p:cNvSpPr txBox="1"/>
          <p:nvPr/>
        </p:nvSpPr>
        <p:spPr>
          <a:xfrm>
            <a:off x="1129665" y="2555161"/>
            <a:ext cx="12366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订单靠人工排、数据散</a:t>
            </a:r>
          </a:p>
        </p:txBody>
      </p:sp>
      <p:sp>
        <p:nvSpPr>
          <p:cNvPr id="15" name="bp2-1"/>
          <p:cNvSpPr txBox="1"/>
          <p:nvPr/>
        </p:nvSpPr>
        <p:spPr>
          <a:xfrm>
            <a:off x="1129665" y="2732961"/>
            <a:ext cx="55467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在各系统</a:t>
            </a:r>
          </a:p>
        </p:txBody>
      </p:sp>
      <p:cxnSp>
        <p:nvCxnSpPr>
          <p:cNvPr id="16" name="bl-1"/>
          <p:cNvCxnSpPr/>
          <p:nvPr/>
        </p:nvCxnSpPr>
        <p:spPr>
          <a:xfrm>
            <a:off x="1143000" y="3086100"/>
            <a:ext cx="15875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bd-1-1"/>
          <p:cNvSpPr/>
          <p:nvPr/>
        </p:nvSpPr>
        <p:spPr>
          <a:xfrm>
            <a:off x="1206500" y="3327400"/>
            <a:ext cx="50800" cy="50800"/>
          </a:xfrm>
          <a:prstGeom prst="ellipse">
            <a:avLst/>
          </a:prstGeom>
          <a:solidFill>
            <a:srgbClr val="1B5AA8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bk-1-1"/>
          <p:cNvSpPr txBox="1"/>
          <p:nvPr/>
        </p:nvSpPr>
        <p:spPr>
          <a:xfrm>
            <a:off x="1332865" y="3253661"/>
            <a:ext cx="105695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交付准时率 92.1%</a:t>
            </a:r>
          </a:p>
        </p:txBody>
      </p:sp>
      <p:sp>
        <p:nvSpPr>
          <p:cNvPr id="19" name="bd-1-2"/>
          <p:cNvSpPr/>
          <p:nvPr/>
        </p:nvSpPr>
        <p:spPr>
          <a:xfrm>
            <a:off x="1206500" y="3797300"/>
            <a:ext cx="50800" cy="50800"/>
          </a:xfrm>
          <a:prstGeom prst="ellipse">
            <a:avLst/>
          </a:prstGeom>
          <a:solidFill>
            <a:srgbClr val="1B5AA8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bk-1-2"/>
          <p:cNvSpPr txBox="1"/>
          <p:nvPr/>
        </p:nvSpPr>
        <p:spPr>
          <a:xfrm>
            <a:off x="1332865" y="3723561"/>
            <a:ext cx="105695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人均产值 86.5 万</a:t>
            </a:r>
          </a:p>
        </p:txBody>
      </p:sp>
      <p:sp>
        <p:nvSpPr>
          <p:cNvPr id="21" name="be-1"/>
          <p:cNvSpPr txBox="1"/>
          <p:nvPr/>
        </p:nvSpPr>
        <p:spPr>
          <a:xfrm>
            <a:off x="1132332" y="4563808"/>
            <a:ext cx="42418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7E93AE"/>
                </a:solidFill>
                <a:latin typeface="Arial"/>
                <a:ea typeface="Arial"/>
                <a:cs typeface="Arial"/>
              </a:rPr>
              <a:t>AS-IS</a:t>
            </a:r>
          </a:p>
        </p:txBody>
      </p:sp>
      <p:sp>
        <p:nvSpPr>
          <p:cNvPr id="22" name="bank-2"/>
          <p:cNvSpPr/>
          <p:nvPr/>
        </p:nvSpPr>
        <p:spPr>
          <a:xfrm>
            <a:off x="9271000" y="1905000"/>
            <a:ext cx="1968500" cy="2984500"/>
          </a:xfrm>
          <a:custGeom>
            <a:avLst/>
            <a:gdLst/>
            <a:ahLst/>
            <a:cxnLst/>
            <a:rect l="0" t="0" r="r" b="b"/>
            <a:pathLst>
              <a:path w="1968500" h="2984500">
                <a:moveTo>
                  <a:pt x="139700" y="0"/>
                </a:moveTo>
                <a:lnTo>
                  <a:pt x="1828800" y="0"/>
                </a:lnTo>
                <a:cubicBezTo>
                  <a:pt x="1905953" y="0"/>
                  <a:pt x="1968500" y="62548"/>
                  <a:pt x="1968500" y="139700"/>
                </a:cubicBezTo>
                <a:lnTo>
                  <a:pt x="1968500" y="2844800"/>
                </a:lnTo>
                <a:cubicBezTo>
                  <a:pt x="1968500" y="2921952"/>
                  <a:pt x="1905953" y="2984500"/>
                  <a:pt x="1828800" y="2984500"/>
                </a:cubicBezTo>
                <a:lnTo>
                  <a:pt x="139700" y="2984500"/>
                </a:lnTo>
                <a:cubicBezTo>
                  <a:pt x="62547" y="2984500"/>
                  <a:pt x="0" y="2921952"/>
                  <a:pt x="0" y="28448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0A3A88"/>
              </a:gs>
            </a:gsLst>
            <a:lin ang="7440000" scaled="0"/>
          </a:gra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icon-flag"/>
          <p:cNvSpPr/>
          <p:nvPr/>
        </p:nvSpPr>
        <p:spPr>
          <a:xfrm>
            <a:off x="9525000" y="2194560"/>
            <a:ext cx="81280" cy="138875"/>
          </a:xfrm>
          <a:custGeom>
            <a:avLst/>
            <a:gdLst/>
            <a:ahLst/>
            <a:cxnLst/>
            <a:rect l="0" t="0" r="r" b="b"/>
            <a:pathLst>
              <a:path w="81280" h="138875">
                <a:moveTo>
                  <a:pt x="0" y="138875"/>
                </a:moveTo>
                <a:lnTo>
                  <a:pt x="0" y="0"/>
                </a:lnTo>
                <a:moveTo>
                  <a:pt x="0" y="6794"/>
                </a:moveTo>
                <a:lnTo>
                  <a:pt x="81280" y="6794"/>
                </a:lnTo>
                <a:lnTo>
                  <a:pt x="67755" y="33845"/>
                </a:lnTo>
                <a:lnTo>
                  <a:pt x="81280" y="60960"/>
                </a:lnTo>
                <a:lnTo>
                  <a:pt x="0" y="60960"/>
                </a:lnTo>
              </a:path>
            </a:pathLst>
          </a:custGeom>
          <a:noFill/>
          <a:ln w="1333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bn-2"/>
          <p:cNvSpPr txBox="1"/>
          <p:nvPr/>
        </p:nvSpPr>
        <p:spPr>
          <a:xfrm>
            <a:off x="9781540" y="2088832"/>
            <a:ext cx="59055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目标</a:t>
            </a:r>
          </a:p>
        </p:txBody>
      </p:sp>
      <p:sp>
        <p:nvSpPr>
          <p:cNvPr id="25" name="bp-2"/>
          <p:cNvSpPr txBox="1"/>
          <p:nvPr/>
        </p:nvSpPr>
        <p:spPr>
          <a:xfrm>
            <a:off x="9448165" y="2555161"/>
            <a:ext cx="12366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全流程线上化、数据一</a:t>
            </a:r>
          </a:p>
        </p:txBody>
      </p:sp>
      <p:sp>
        <p:nvSpPr>
          <p:cNvPr id="26" name="bp2-2"/>
          <p:cNvSpPr txBox="1"/>
          <p:nvPr/>
        </p:nvSpPr>
        <p:spPr>
          <a:xfrm>
            <a:off x="9448165" y="2732961"/>
            <a:ext cx="44100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套口径</a:t>
            </a:r>
          </a:p>
        </p:txBody>
      </p:sp>
      <p:cxnSp>
        <p:nvCxnSpPr>
          <p:cNvPr id="27" name="bl-2"/>
          <p:cNvCxnSpPr/>
          <p:nvPr/>
        </p:nvCxnSpPr>
        <p:spPr>
          <a:xfrm>
            <a:off x="9461500" y="3086100"/>
            <a:ext cx="1587500" cy="0"/>
          </a:xfrm>
          <a:prstGeom prst="line">
            <a:avLst/>
          </a:prstGeom>
          <a:ln w="6350" cap="rnd">
            <a:solidFill>
              <a:srgbClr val="FFFFFF">
                <a:alpha val="3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bd-2-1"/>
          <p:cNvSpPr/>
          <p:nvPr/>
        </p:nvSpPr>
        <p:spPr>
          <a:xfrm>
            <a:off x="9525000" y="3327400"/>
            <a:ext cx="50800" cy="50800"/>
          </a:xfrm>
          <a:prstGeom prst="ellipse">
            <a:avLst/>
          </a:prstGeom>
          <a:solidFill>
            <a:srgbClr val="FFFFFF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bk-2-1"/>
          <p:cNvSpPr txBox="1"/>
          <p:nvPr/>
        </p:nvSpPr>
        <p:spPr>
          <a:xfrm>
            <a:off x="9651365" y="3253661"/>
            <a:ext cx="92741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交付准时率 98%</a:t>
            </a:r>
          </a:p>
        </p:txBody>
      </p:sp>
      <p:sp>
        <p:nvSpPr>
          <p:cNvPr id="30" name="bd-2-2"/>
          <p:cNvSpPr/>
          <p:nvPr/>
        </p:nvSpPr>
        <p:spPr>
          <a:xfrm>
            <a:off x="9525000" y="3797300"/>
            <a:ext cx="50800" cy="50800"/>
          </a:xfrm>
          <a:prstGeom prst="ellipse">
            <a:avLst/>
          </a:prstGeom>
          <a:solidFill>
            <a:srgbClr val="FFFFFF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bk-2-2"/>
          <p:cNvSpPr txBox="1"/>
          <p:nvPr/>
        </p:nvSpPr>
        <p:spPr>
          <a:xfrm>
            <a:off x="9651365" y="3723561"/>
            <a:ext cx="99218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人均产值 110 万</a:t>
            </a:r>
          </a:p>
        </p:txBody>
      </p:sp>
      <p:sp>
        <p:nvSpPr>
          <p:cNvPr id="32" name="be-2"/>
          <p:cNvSpPr txBox="1"/>
          <p:nvPr/>
        </p:nvSpPr>
        <p:spPr>
          <a:xfrm>
            <a:off x="9450832" y="4563808"/>
            <a:ext cx="42418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9FC0E2"/>
                </a:solidFill>
                <a:latin typeface="Arial"/>
                <a:ea typeface="Arial"/>
                <a:cs typeface="Arial"/>
              </a:rPr>
              <a:t>TO-BE</a:t>
            </a:r>
          </a:p>
        </p:txBody>
      </p:sp>
      <p:sp>
        <p:nvSpPr>
          <p:cNvPr id="33" name="deck"/>
          <p:cNvSpPr/>
          <p:nvPr/>
        </p:nvSpPr>
        <p:spPr>
          <a:xfrm>
            <a:off x="3022600" y="2819400"/>
            <a:ext cx="6121400" cy="330200"/>
          </a:xfrm>
          <a:custGeom>
            <a:avLst/>
            <a:gdLst/>
            <a:ahLst/>
            <a:cxnLst/>
            <a:rect l="0" t="0" r="r" b="b"/>
            <a:pathLst>
              <a:path w="6121400" h="330200">
                <a:moveTo>
                  <a:pt x="0" y="165100"/>
                </a:moveTo>
                <a:cubicBezTo>
                  <a:pt x="20383" y="163386"/>
                  <a:pt x="112205" y="155575"/>
                  <a:pt x="153035" y="152146"/>
                </a:cubicBezTo>
                <a:cubicBezTo>
                  <a:pt x="193865" y="148717"/>
                  <a:pt x="265239" y="142685"/>
                  <a:pt x="306070" y="139256"/>
                </a:cubicBezTo>
                <a:cubicBezTo>
                  <a:pt x="346900" y="135890"/>
                  <a:pt x="418274" y="129921"/>
                  <a:pt x="459105" y="126556"/>
                </a:cubicBezTo>
                <a:cubicBezTo>
                  <a:pt x="499936" y="123190"/>
                  <a:pt x="571310" y="117348"/>
                  <a:pt x="612140" y="114110"/>
                </a:cubicBezTo>
                <a:cubicBezTo>
                  <a:pt x="652971" y="110807"/>
                  <a:pt x="724345" y="105093"/>
                  <a:pt x="765175" y="101918"/>
                </a:cubicBezTo>
                <a:cubicBezTo>
                  <a:pt x="806005" y="98743"/>
                  <a:pt x="877379" y="93218"/>
                  <a:pt x="918210" y="90170"/>
                </a:cubicBezTo>
                <a:cubicBezTo>
                  <a:pt x="959040" y="87058"/>
                  <a:pt x="1030414" y="81788"/>
                  <a:pt x="1071245" y="78867"/>
                </a:cubicBezTo>
                <a:cubicBezTo>
                  <a:pt x="1112076" y="75882"/>
                  <a:pt x="1183450" y="70866"/>
                  <a:pt x="1224280" y="68072"/>
                </a:cubicBezTo>
                <a:cubicBezTo>
                  <a:pt x="1265110" y="65278"/>
                  <a:pt x="1336485" y="60515"/>
                  <a:pt x="1377315" y="57849"/>
                </a:cubicBezTo>
                <a:cubicBezTo>
                  <a:pt x="1418146" y="55245"/>
                  <a:pt x="1489520" y="50800"/>
                  <a:pt x="1530350" y="48387"/>
                </a:cubicBezTo>
                <a:cubicBezTo>
                  <a:pt x="1571180" y="45911"/>
                  <a:pt x="1642554" y="41783"/>
                  <a:pt x="1683385" y="39561"/>
                </a:cubicBezTo>
                <a:cubicBezTo>
                  <a:pt x="1724215" y="37338"/>
                  <a:pt x="1795590" y="33592"/>
                  <a:pt x="1836420" y="31560"/>
                </a:cubicBezTo>
                <a:cubicBezTo>
                  <a:pt x="1877250" y="29527"/>
                  <a:pt x="1948624" y="26162"/>
                  <a:pt x="1989455" y="24320"/>
                </a:cubicBezTo>
                <a:cubicBezTo>
                  <a:pt x="2030286" y="22543"/>
                  <a:pt x="2101660" y="19558"/>
                  <a:pt x="2142490" y="17970"/>
                </a:cubicBezTo>
                <a:cubicBezTo>
                  <a:pt x="2183321" y="16446"/>
                  <a:pt x="2254695" y="13906"/>
                  <a:pt x="2295525" y="12573"/>
                </a:cubicBezTo>
                <a:cubicBezTo>
                  <a:pt x="2336355" y="11239"/>
                  <a:pt x="2407729" y="9144"/>
                  <a:pt x="2448560" y="8064"/>
                </a:cubicBezTo>
                <a:cubicBezTo>
                  <a:pt x="2489390" y="6985"/>
                  <a:pt x="2560764" y="5398"/>
                  <a:pt x="2601595" y="4572"/>
                </a:cubicBezTo>
                <a:cubicBezTo>
                  <a:pt x="2642426" y="3746"/>
                  <a:pt x="2713800" y="2604"/>
                  <a:pt x="2754630" y="2032"/>
                </a:cubicBezTo>
                <a:cubicBezTo>
                  <a:pt x="2795460" y="1524"/>
                  <a:pt x="2866834" y="762"/>
                  <a:pt x="2907665" y="508"/>
                </a:cubicBezTo>
                <a:cubicBezTo>
                  <a:pt x="2948496" y="254"/>
                  <a:pt x="3019870" y="0"/>
                  <a:pt x="3060700" y="0"/>
                </a:cubicBezTo>
                <a:cubicBezTo>
                  <a:pt x="3101530" y="0"/>
                  <a:pt x="3172904" y="254"/>
                  <a:pt x="3213735" y="508"/>
                </a:cubicBezTo>
                <a:cubicBezTo>
                  <a:pt x="3254566" y="762"/>
                  <a:pt x="3325940" y="1524"/>
                  <a:pt x="3366770" y="2032"/>
                </a:cubicBezTo>
                <a:cubicBezTo>
                  <a:pt x="3407600" y="2604"/>
                  <a:pt x="3478974" y="3746"/>
                  <a:pt x="3519805" y="4572"/>
                </a:cubicBezTo>
                <a:cubicBezTo>
                  <a:pt x="3560636" y="5398"/>
                  <a:pt x="3632010" y="6985"/>
                  <a:pt x="3672840" y="8064"/>
                </a:cubicBezTo>
                <a:cubicBezTo>
                  <a:pt x="3713670" y="9144"/>
                  <a:pt x="3785044" y="11239"/>
                  <a:pt x="3825875" y="12573"/>
                </a:cubicBezTo>
                <a:cubicBezTo>
                  <a:pt x="3866706" y="13906"/>
                  <a:pt x="3938080" y="16446"/>
                  <a:pt x="3978910" y="17970"/>
                </a:cubicBezTo>
                <a:cubicBezTo>
                  <a:pt x="4019740" y="19558"/>
                  <a:pt x="4091114" y="22543"/>
                  <a:pt x="4131945" y="24320"/>
                </a:cubicBezTo>
                <a:cubicBezTo>
                  <a:pt x="4172776" y="26162"/>
                  <a:pt x="4244149" y="29527"/>
                  <a:pt x="4284980" y="31560"/>
                </a:cubicBezTo>
                <a:cubicBezTo>
                  <a:pt x="4325810" y="33592"/>
                  <a:pt x="4397184" y="37338"/>
                  <a:pt x="4438015" y="39561"/>
                </a:cubicBezTo>
                <a:cubicBezTo>
                  <a:pt x="4478846" y="41783"/>
                  <a:pt x="4550220" y="45911"/>
                  <a:pt x="4591050" y="48387"/>
                </a:cubicBezTo>
                <a:cubicBezTo>
                  <a:pt x="4631880" y="50800"/>
                  <a:pt x="4703254" y="55245"/>
                  <a:pt x="4744085" y="57849"/>
                </a:cubicBezTo>
                <a:cubicBezTo>
                  <a:pt x="4784916" y="60515"/>
                  <a:pt x="4856290" y="65278"/>
                  <a:pt x="4897120" y="68072"/>
                </a:cubicBezTo>
                <a:cubicBezTo>
                  <a:pt x="4937951" y="70866"/>
                  <a:pt x="5009324" y="75882"/>
                  <a:pt x="5050155" y="78867"/>
                </a:cubicBezTo>
                <a:cubicBezTo>
                  <a:pt x="5090986" y="81788"/>
                  <a:pt x="5162360" y="87058"/>
                  <a:pt x="5203190" y="90170"/>
                </a:cubicBezTo>
                <a:cubicBezTo>
                  <a:pt x="5244020" y="93218"/>
                  <a:pt x="5315394" y="98743"/>
                  <a:pt x="5356225" y="101918"/>
                </a:cubicBezTo>
                <a:cubicBezTo>
                  <a:pt x="5397056" y="105093"/>
                  <a:pt x="5468430" y="110807"/>
                  <a:pt x="5509260" y="114110"/>
                </a:cubicBezTo>
                <a:cubicBezTo>
                  <a:pt x="5550090" y="117348"/>
                  <a:pt x="5621464" y="123190"/>
                  <a:pt x="5662295" y="126556"/>
                </a:cubicBezTo>
                <a:cubicBezTo>
                  <a:pt x="5703126" y="129921"/>
                  <a:pt x="5774499" y="135890"/>
                  <a:pt x="5815330" y="139256"/>
                </a:cubicBezTo>
                <a:cubicBezTo>
                  <a:pt x="5856160" y="142685"/>
                  <a:pt x="5927534" y="148717"/>
                  <a:pt x="5968365" y="152146"/>
                </a:cubicBezTo>
                <a:cubicBezTo>
                  <a:pt x="6009196" y="155575"/>
                  <a:pt x="6101016" y="163386"/>
                  <a:pt x="6121400" y="165100"/>
                </a:cubicBezTo>
                <a:lnTo>
                  <a:pt x="6121400" y="330200"/>
                </a:lnTo>
                <a:cubicBezTo>
                  <a:pt x="6101016" y="328486"/>
                  <a:pt x="6009196" y="320675"/>
                  <a:pt x="5968365" y="317246"/>
                </a:cubicBezTo>
                <a:cubicBezTo>
                  <a:pt x="5927534" y="313817"/>
                  <a:pt x="5856160" y="307785"/>
                  <a:pt x="5815330" y="304356"/>
                </a:cubicBezTo>
                <a:cubicBezTo>
                  <a:pt x="5774499" y="300990"/>
                  <a:pt x="5703126" y="295021"/>
                  <a:pt x="5662295" y="291656"/>
                </a:cubicBezTo>
                <a:cubicBezTo>
                  <a:pt x="5621464" y="288290"/>
                  <a:pt x="5550090" y="282448"/>
                  <a:pt x="5509260" y="279210"/>
                </a:cubicBezTo>
                <a:cubicBezTo>
                  <a:pt x="5468430" y="275907"/>
                  <a:pt x="5397056" y="270193"/>
                  <a:pt x="5356225" y="267018"/>
                </a:cubicBezTo>
                <a:cubicBezTo>
                  <a:pt x="5315394" y="263843"/>
                  <a:pt x="5244020" y="258318"/>
                  <a:pt x="5203190" y="255270"/>
                </a:cubicBezTo>
                <a:cubicBezTo>
                  <a:pt x="5162360" y="252158"/>
                  <a:pt x="5090986" y="246888"/>
                  <a:pt x="5050155" y="243967"/>
                </a:cubicBezTo>
                <a:cubicBezTo>
                  <a:pt x="5009324" y="240982"/>
                  <a:pt x="4937951" y="235966"/>
                  <a:pt x="4897120" y="233172"/>
                </a:cubicBezTo>
                <a:cubicBezTo>
                  <a:pt x="4856290" y="230378"/>
                  <a:pt x="4784916" y="225615"/>
                  <a:pt x="4744085" y="222949"/>
                </a:cubicBezTo>
                <a:cubicBezTo>
                  <a:pt x="4703254" y="220345"/>
                  <a:pt x="4631880" y="215900"/>
                  <a:pt x="4591050" y="213487"/>
                </a:cubicBezTo>
                <a:cubicBezTo>
                  <a:pt x="4550220" y="211011"/>
                  <a:pt x="4478846" y="206883"/>
                  <a:pt x="4438015" y="204661"/>
                </a:cubicBezTo>
                <a:cubicBezTo>
                  <a:pt x="4397184" y="202438"/>
                  <a:pt x="4325810" y="198692"/>
                  <a:pt x="4284980" y="196660"/>
                </a:cubicBezTo>
                <a:cubicBezTo>
                  <a:pt x="4244149" y="194627"/>
                  <a:pt x="4172776" y="191262"/>
                  <a:pt x="4131945" y="189420"/>
                </a:cubicBezTo>
                <a:cubicBezTo>
                  <a:pt x="4091114" y="187643"/>
                  <a:pt x="4019740" y="184658"/>
                  <a:pt x="3978910" y="183070"/>
                </a:cubicBezTo>
                <a:cubicBezTo>
                  <a:pt x="3938080" y="181546"/>
                  <a:pt x="3866706" y="179006"/>
                  <a:pt x="3825875" y="177673"/>
                </a:cubicBezTo>
                <a:cubicBezTo>
                  <a:pt x="3785044" y="176339"/>
                  <a:pt x="3713670" y="174244"/>
                  <a:pt x="3672840" y="173164"/>
                </a:cubicBezTo>
                <a:cubicBezTo>
                  <a:pt x="3632010" y="172085"/>
                  <a:pt x="3560636" y="170498"/>
                  <a:pt x="3519805" y="169672"/>
                </a:cubicBezTo>
                <a:cubicBezTo>
                  <a:pt x="3478974" y="168846"/>
                  <a:pt x="3407600" y="167704"/>
                  <a:pt x="3366770" y="167132"/>
                </a:cubicBezTo>
                <a:cubicBezTo>
                  <a:pt x="3325940" y="166624"/>
                  <a:pt x="3254566" y="165862"/>
                  <a:pt x="3213735" y="165608"/>
                </a:cubicBezTo>
                <a:cubicBezTo>
                  <a:pt x="3172904" y="165354"/>
                  <a:pt x="3101530" y="165100"/>
                  <a:pt x="3060700" y="165100"/>
                </a:cubicBezTo>
                <a:cubicBezTo>
                  <a:pt x="3019870" y="165100"/>
                  <a:pt x="2948496" y="165354"/>
                  <a:pt x="2907665" y="165608"/>
                </a:cubicBezTo>
                <a:cubicBezTo>
                  <a:pt x="2866834" y="165862"/>
                  <a:pt x="2795460" y="166624"/>
                  <a:pt x="2754630" y="167132"/>
                </a:cubicBezTo>
                <a:cubicBezTo>
                  <a:pt x="2713800" y="167704"/>
                  <a:pt x="2642426" y="168846"/>
                  <a:pt x="2601595" y="169672"/>
                </a:cubicBezTo>
                <a:cubicBezTo>
                  <a:pt x="2560764" y="170498"/>
                  <a:pt x="2489390" y="172085"/>
                  <a:pt x="2448560" y="173164"/>
                </a:cubicBezTo>
                <a:cubicBezTo>
                  <a:pt x="2407729" y="174244"/>
                  <a:pt x="2336355" y="176339"/>
                  <a:pt x="2295525" y="177673"/>
                </a:cubicBezTo>
                <a:cubicBezTo>
                  <a:pt x="2254695" y="179006"/>
                  <a:pt x="2183321" y="181546"/>
                  <a:pt x="2142490" y="183070"/>
                </a:cubicBezTo>
                <a:cubicBezTo>
                  <a:pt x="2101660" y="184658"/>
                  <a:pt x="2030286" y="187643"/>
                  <a:pt x="1989455" y="189420"/>
                </a:cubicBezTo>
                <a:cubicBezTo>
                  <a:pt x="1948624" y="191262"/>
                  <a:pt x="1877250" y="194627"/>
                  <a:pt x="1836420" y="196660"/>
                </a:cubicBezTo>
                <a:cubicBezTo>
                  <a:pt x="1795590" y="198692"/>
                  <a:pt x="1724215" y="202438"/>
                  <a:pt x="1683385" y="204661"/>
                </a:cubicBezTo>
                <a:cubicBezTo>
                  <a:pt x="1642554" y="206883"/>
                  <a:pt x="1571180" y="211011"/>
                  <a:pt x="1530350" y="213487"/>
                </a:cubicBezTo>
                <a:cubicBezTo>
                  <a:pt x="1489520" y="215900"/>
                  <a:pt x="1418146" y="220345"/>
                  <a:pt x="1377315" y="222949"/>
                </a:cubicBezTo>
                <a:cubicBezTo>
                  <a:pt x="1336485" y="225615"/>
                  <a:pt x="1265110" y="230378"/>
                  <a:pt x="1224280" y="233172"/>
                </a:cubicBezTo>
                <a:cubicBezTo>
                  <a:pt x="1183450" y="235966"/>
                  <a:pt x="1112076" y="240982"/>
                  <a:pt x="1071245" y="243967"/>
                </a:cubicBezTo>
                <a:cubicBezTo>
                  <a:pt x="1030414" y="246888"/>
                  <a:pt x="959040" y="252158"/>
                  <a:pt x="918210" y="255270"/>
                </a:cubicBezTo>
                <a:cubicBezTo>
                  <a:pt x="877379" y="258318"/>
                  <a:pt x="806005" y="263843"/>
                  <a:pt x="765175" y="267018"/>
                </a:cubicBezTo>
                <a:cubicBezTo>
                  <a:pt x="724345" y="270193"/>
                  <a:pt x="652971" y="275907"/>
                  <a:pt x="612140" y="279210"/>
                </a:cubicBezTo>
                <a:cubicBezTo>
                  <a:pt x="571310" y="282448"/>
                  <a:pt x="499936" y="288290"/>
                  <a:pt x="459105" y="291656"/>
                </a:cubicBezTo>
                <a:cubicBezTo>
                  <a:pt x="418274" y="295021"/>
                  <a:pt x="346900" y="300990"/>
                  <a:pt x="306070" y="304356"/>
                </a:cubicBezTo>
                <a:cubicBezTo>
                  <a:pt x="265239" y="307785"/>
                  <a:pt x="193865" y="313817"/>
                  <a:pt x="153035" y="317246"/>
                </a:cubicBezTo>
                <a:cubicBezTo>
                  <a:pt x="112205" y="320675"/>
                  <a:pt x="20383" y="328486"/>
                  <a:pt x="0" y="330200"/>
                </a:cubicBezTo>
                <a:close/>
              </a:path>
            </a:pathLst>
          </a:custGeom>
          <a:gradFill rotWithShape="1">
            <a:gsLst>
              <a:gs pos="0">
                <a:srgbClr val="2E77C2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deck-tag"/>
          <p:cNvSpPr/>
          <p:nvPr/>
        </p:nvSpPr>
        <p:spPr>
          <a:xfrm>
            <a:off x="5143500" y="2374900"/>
            <a:ext cx="1879600" cy="292100"/>
          </a:xfrm>
          <a:custGeom>
            <a:avLst/>
            <a:gdLst/>
            <a:ahLst/>
            <a:cxnLst/>
            <a:rect l="0" t="0" r="r" b="b"/>
            <a:pathLst>
              <a:path w="1879600" h="292100">
                <a:moveTo>
                  <a:pt x="146050" y="0"/>
                </a:moveTo>
                <a:lnTo>
                  <a:pt x="1733550" y="0"/>
                </a:lnTo>
                <a:cubicBezTo>
                  <a:pt x="1814195" y="0"/>
                  <a:pt x="1879600" y="65405"/>
                  <a:pt x="1879600" y="146050"/>
                </a:cubicBezTo>
                <a:lnTo>
                  <a:pt x="1879600" y="146050"/>
                </a:lnTo>
                <a:cubicBezTo>
                  <a:pt x="1879600" y="226695"/>
                  <a:pt x="1814195" y="292100"/>
                  <a:pt x="1733550" y="292100"/>
                </a:cubicBezTo>
                <a:lnTo>
                  <a:pt x="146050" y="292100"/>
                </a:lnTo>
                <a:cubicBezTo>
                  <a:pt x="65405" y="292100"/>
                  <a:pt x="0" y="226695"/>
                  <a:pt x="0" y="146050"/>
                </a:cubicBezTo>
                <a:lnTo>
                  <a:pt x="0" y="146050"/>
                </a:lnTo>
                <a:cubicBezTo>
                  <a:pt x="0" y="65405"/>
                  <a:pt x="65405" y="0"/>
                  <a:pt x="14605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deck-t"/>
          <p:cNvSpPr txBox="1"/>
          <p:nvPr/>
        </p:nvSpPr>
        <p:spPr>
          <a:xfrm>
            <a:off x="5522849" y="2429097"/>
            <a:ext cx="1120902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7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18 个月转型路径</a:t>
            </a:r>
          </a:p>
        </p:txBody>
      </p:sp>
      <p:sp>
        <p:nvSpPr>
          <p:cNvPr id="36" name="deck-arrow"/>
          <p:cNvSpPr/>
          <p:nvPr/>
        </p:nvSpPr>
        <p:spPr>
          <a:xfrm>
            <a:off x="9131300" y="2952750"/>
            <a:ext cx="215900" cy="215900"/>
          </a:xfrm>
          <a:custGeom>
            <a:avLst/>
            <a:gdLst/>
            <a:ahLst/>
            <a:cxnLst/>
            <a:rect l="0" t="0" r="r" b="b"/>
            <a:pathLst>
              <a:path w="215900" h="215900">
                <a:moveTo>
                  <a:pt x="0" y="0"/>
                </a:moveTo>
                <a:lnTo>
                  <a:pt x="215900" y="107950"/>
                </a:lnTo>
                <a:lnTo>
                  <a:pt x="0" y="215900"/>
                </a:ln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37" name="cable-1--1"/>
          <p:cNvCxnSpPr/>
          <p:nvPr/>
        </p:nvCxnSpPr>
        <p:spPr>
          <a:xfrm flipH="1" flipV="1">
            <a:off x="3241675" y="3124200"/>
            <a:ext cx="546100" cy="101600"/>
          </a:xfrm>
          <a:prstGeom prst="line">
            <a:avLst/>
          </a:prstGeom>
          <a:ln w="8890" cap="rnd">
            <a:solidFill>
              <a:srgbClr val="0B3E8F">
                <a:alpha val="2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able-1-1"/>
          <p:cNvCxnSpPr/>
          <p:nvPr/>
        </p:nvCxnSpPr>
        <p:spPr>
          <a:xfrm flipV="1">
            <a:off x="3787775" y="3124200"/>
            <a:ext cx="546100" cy="101600"/>
          </a:xfrm>
          <a:prstGeom prst="line">
            <a:avLst/>
          </a:prstGeom>
          <a:ln w="8890" cap="rnd">
            <a:solidFill>
              <a:srgbClr val="0B3E8F">
                <a:alpha val="2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pier-1"/>
          <p:cNvSpPr/>
          <p:nvPr/>
        </p:nvSpPr>
        <p:spPr>
          <a:xfrm>
            <a:off x="3419475" y="3251200"/>
            <a:ext cx="736600" cy="1778000"/>
          </a:xfrm>
          <a:custGeom>
            <a:avLst/>
            <a:gdLst/>
            <a:ahLst/>
            <a:cxnLst/>
            <a:rect l="0" t="0" r="r" b="b"/>
            <a:pathLst>
              <a:path w="736600" h="1778000">
                <a:moveTo>
                  <a:pt x="88900" y="0"/>
                </a:moveTo>
                <a:lnTo>
                  <a:pt x="647700" y="0"/>
                </a:lnTo>
                <a:cubicBezTo>
                  <a:pt x="696786" y="0"/>
                  <a:pt x="736600" y="39814"/>
                  <a:pt x="736600" y="88900"/>
                </a:cubicBezTo>
                <a:lnTo>
                  <a:pt x="736600" y="1689100"/>
                </a:lnTo>
                <a:cubicBezTo>
                  <a:pt x="736600" y="1738186"/>
                  <a:pt x="696786" y="1778000"/>
                  <a:pt x="647700" y="1778000"/>
                </a:cubicBezTo>
                <a:lnTo>
                  <a:pt x="88900" y="1778000"/>
                </a:lnTo>
                <a:cubicBezTo>
                  <a:pt x="39814" y="1778000"/>
                  <a:pt x="0" y="1738186"/>
                  <a:pt x="0" y="16891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3761A3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icon-db"/>
          <p:cNvSpPr/>
          <p:nvPr/>
        </p:nvSpPr>
        <p:spPr>
          <a:xfrm>
            <a:off x="3725100" y="3505200"/>
            <a:ext cx="125349" cy="152400"/>
          </a:xfrm>
          <a:custGeom>
            <a:avLst/>
            <a:gdLst/>
            <a:ahLst/>
            <a:cxnLst/>
            <a:rect l="0" t="0" r="r" b="b"/>
            <a:pathLst>
              <a:path w="125349" h="152400">
                <a:moveTo>
                  <a:pt x="62675" y="37275"/>
                </a:moveTo>
                <a:cubicBezTo>
                  <a:pt x="97409" y="37275"/>
                  <a:pt x="125349" y="28765"/>
                  <a:pt x="125349" y="18605"/>
                </a:cubicBezTo>
                <a:cubicBezTo>
                  <a:pt x="125349" y="8446"/>
                  <a:pt x="97409" y="0"/>
                  <a:pt x="62675" y="0"/>
                </a:cubicBezTo>
                <a:cubicBezTo>
                  <a:pt x="27940" y="0"/>
                  <a:pt x="0" y="8446"/>
                  <a:pt x="0" y="18605"/>
                </a:cubicBezTo>
                <a:cubicBezTo>
                  <a:pt x="0" y="28765"/>
                  <a:pt x="27940" y="37275"/>
                  <a:pt x="62675" y="37275"/>
                </a:cubicBezTo>
                <a:close/>
                <a:moveTo>
                  <a:pt x="0" y="18605"/>
                </a:moveTo>
                <a:lnTo>
                  <a:pt x="0" y="133795"/>
                </a:lnTo>
                <a:cubicBezTo>
                  <a:pt x="0" y="143954"/>
                  <a:pt x="27940" y="152400"/>
                  <a:pt x="62675" y="152400"/>
                </a:cubicBezTo>
                <a:cubicBezTo>
                  <a:pt x="97409" y="152400"/>
                  <a:pt x="125349" y="143954"/>
                  <a:pt x="125349" y="133795"/>
                </a:cubicBezTo>
                <a:lnTo>
                  <a:pt x="125349" y="18605"/>
                </a:lnTo>
                <a:moveTo>
                  <a:pt x="0" y="76200"/>
                </a:moveTo>
                <a:cubicBezTo>
                  <a:pt x="0" y="86360"/>
                  <a:pt x="27940" y="94805"/>
                  <a:pt x="62675" y="94805"/>
                </a:cubicBezTo>
                <a:cubicBezTo>
                  <a:pt x="97409" y="94805"/>
                  <a:pt x="125349" y="86360"/>
                  <a:pt x="125349" y="76200"/>
                </a:cubicBez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pno-1"/>
          <p:cNvSpPr txBox="1"/>
          <p:nvPr/>
        </p:nvSpPr>
        <p:spPr>
          <a:xfrm>
            <a:off x="3678746" y="37274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>
                    <a:alpha val="55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42" name="base-1"/>
          <p:cNvSpPr/>
          <p:nvPr/>
        </p:nvSpPr>
        <p:spPr>
          <a:xfrm>
            <a:off x="3254375" y="5029200"/>
            <a:ext cx="1066800" cy="114300"/>
          </a:xfrm>
          <a:custGeom>
            <a:avLst/>
            <a:gdLst/>
            <a:ahLst/>
            <a:cxnLst/>
            <a:rect l="0" t="0" r="r" b="b"/>
            <a:pathLst>
              <a:path w="1066800" h="114300">
                <a:moveTo>
                  <a:pt x="57150" y="0"/>
                </a:moveTo>
                <a:lnTo>
                  <a:pt x="1009650" y="0"/>
                </a:lnTo>
                <a:cubicBezTo>
                  <a:pt x="1041210" y="0"/>
                  <a:pt x="1066800" y="25590"/>
                  <a:pt x="1066800" y="57150"/>
                </a:cubicBezTo>
                <a:lnTo>
                  <a:pt x="1066800" y="57150"/>
                </a:lnTo>
                <a:cubicBezTo>
                  <a:pt x="1066800" y="88710"/>
                  <a:pt x="1041210" y="114300"/>
                  <a:pt x="1009650" y="114300"/>
                </a:cubicBezTo>
                <a:lnTo>
                  <a:pt x="57150" y="114300"/>
                </a:lnTo>
                <a:cubicBezTo>
                  <a:pt x="25590" y="114300"/>
                  <a:pt x="0" y="88710"/>
                  <a:pt x="0" y="57150"/>
                </a:cubicBezTo>
                <a:lnTo>
                  <a:pt x="0" y="57150"/>
                </a:lnTo>
                <a:cubicBezTo>
                  <a:pt x="0" y="25590"/>
                  <a:pt x="25590" y="0"/>
                  <a:pt x="57150" y="0"/>
                </a:cubicBezTo>
                <a:close/>
              </a:path>
            </a:pathLst>
          </a:custGeom>
          <a:solidFill>
            <a:srgbClr val="0B3E8F">
              <a:alpha val="2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pc-1"/>
          <p:cNvSpPr/>
          <p:nvPr/>
        </p:nvSpPr>
        <p:spPr>
          <a:xfrm>
            <a:off x="3101975" y="5308600"/>
            <a:ext cx="1371600" cy="711200"/>
          </a:xfrm>
          <a:custGeom>
            <a:avLst/>
            <a:gdLst/>
            <a:ahLst/>
            <a:cxnLst/>
            <a:rect l="0" t="0" r="r" b="b"/>
            <a:pathLst>
              <a:path w="1371600" h="711200">
                <a:moveTo>
                  <a:pt x="101600" y="0"/>
                </a:moveTo>
                <a:lnTo>
                  <a:pt x="1270000" y="0"/>
                </a:lnTo>
                <a:cubicBezTo>
                  <a:pt x="1326134" y="0"/>
                  <a:pt x="1371600" y="45466"/>
                  <a:pt x="1371600" y="101600"/>
                </a:cubicBezTo>
                <a:lnTo>
                  <a:pt x="1371600" y="609600"/>
                </a:lnTo>
                <a:cubicBezTo>
                  <a:pt x="1371600" y="665734"/>
                  <a:pt x="1326134" y="711200"/>
                  <a:pt x="1270000" y="711200"/>
                </a:cubicBezTo>
                <a:lnTo>
                  <a:pt x="101600" y="711200"/>
                </a:lnTo>
                <a:cubicBezTo>
                  <a:pt x="45466" y="711200"/>
                  <a:pt x="0" y="665734"/>
                  <a:pt x="0" y="609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pcc-1"/>
          <p:cNvSpPr/>
          <p:nvPr/>
        </p:nvSpPr>
        <p:spPr>
          <a:xfrm>
            <a:off x="3101975" y="5308600"/>
            <a:ext cx="1371600" cy="38100"/>
          </a:xfrm>
          <a:custGeom>
            <a:avLst/>
            <a:gdLst/>
            <a:ahLst/>
            <a:cxnLst/>
            <a:rect l="0" t="0" r="r" b="b"/>
            <a:pathLst>
              <a:path w="1371600" h="38100">
                <a:moveTo>
                  <a:pt x="19050" y="0"/>
                </a:moveTo>
                <a:lnTo>
                  <a:pt x="1352550" y="0"/>
                </a:lnTo>
                <a:cubicBezTo>
                  <a:pt x="1363091" y="0"/>
                  <a:pt x="1371600" y="8509"/>
                  <a:pt x="1371600" y="19050"/>
                </a:cubicBezTo>
                <a:lnTo>
                  <a:pt x="1371600" y="19050"/>
                </a:lnTo>
                <a:cubicBezTo>
                  <a:pt x="1371600" y="29591"/>
                  <a:pt x="1363091" y="38100"/>
                  <a:pt x="13525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pcn-1"/>
          <p:cNvSpPr txBox="1"/>
          <p:nvPr/>
        </p:nvSpPr>
        <p:spPr>
          <a:xfrm>
            <a:off x="3348672" y="5451697"/>
            <a:ext cx="87820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统一数据底座</a:t>
            </a:r>
          </a:p>
        </p:txBody>
      </p:sp>
      <p:sp>
        <p:nvSpPr>
          <p:cNvPr id="46" name="pcp-1-1"/>
          <p:cNvSpPr txBox="1"/>
          <p:nvPr/>
        </p:nvSpPr>
        <p:spPr>
          <a:xfrm>
            <a:off x="3293745" y="5681408"/>
            <a:ext cx="9880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主数据与指标口径统一</a:t>
            </a:r>
          </a:p>
        </p:txBody>
      </p:sp>
      <p:cxnSp>
        <p:nvCxnSpPr>
          <p:cNvPr id="47" name="cable-2--1"/>
          <p:cNvCxnSpPr/>
          <p:nvPr/>
        </p:nvCxnSpPr>
        <p:spPr>
          <a:xfrm flipH="1" flipV="1">
            <a:off x="4772025" y="3124200"/>
            <a:ext cx="546100" cy="101600"/>
          </a:xfrm>
          <a:prstGeom prst="line">
            <a:avLst/>
          </a:prstGeom>
          <a:ln w="8890" cap="rnd">
            <a:solidFill>
              <a:srgbClr val="1B5AA8">
                <a:alpha val="2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able-2-1"/>
          <p:cNvCxnSpPr/>
          <p:nvPr/>
        </p:nvCxnSpPr>
        <p:spPr>
          <a:xfrm flipV="1">
            <a:off x="5318125" y="3124200"/>
            <a:ext cx="546100" cy="101600"/>
          </a:xfrm>
          <a:prstGeom prst="line">
            <a:avLst/>
          </a:prstGeom>
          <a:ln w="8890" cap="rnd">
            <a:solidFill>
              <a:srgbClr val="1B5AA8">
                <a:alpha val="2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pier-2"/>
          <p:cNvSpPr/>
          <p:nvPr/>
        </p:nvSpPr>
        <p:spPr>
          <a:xfrm>
            <a:off x="4949825" y="3251200"/>
            <a:ext cx="736600" cy="1778000"/>
          </a:xfrm>
          <a:custGeom>
            <a:avLst/>
            <a:gdLst/>
            <a:ahLst/>
            <a:cxnLst/>
            <a:rect l="0" t="0" r="r" b="b"/>
            <a:pathLst>
              <a:path w="736600" h="1778000">
                <a:moveTo>
                  <a:pt x="88900" y="0"/>
                </a:moveTo>
                <a:lnTo>
                  <a:pt x="647700" y="0"/>
                </a:lnTo>
                <a:cubicBezTo>
                  <a:pt x="696786" y="0"/>
                  <a:pt x="736600" y="39814"/>
                  <a:pt x="736600" y="88900"/>
                </a:cubicBezTo>
                <a:lnTo>
                  <a:pt x="736600" y="1689100"/>
                </a:lnTo>
                <a:cubicBezTo>
                  <a:pt x="736600" y="1738186"/>
                  <a:pt x="696786" y="1778000"/>
                  <a:pt x="647700" y="1778000"/>
                </a:cubicBezTo>
                <a:lnTo>
                  <a:pt x="88900" y="1778000"/>
                </a:lnTo>
                <a:cubicBezTo>
                  <a:pt x="39814" y="1778000"/>
                  <a:pt x="0" y="1738186"/>
                  <a:pt x="0" y="16891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4478B8"/>
              </a:gs>
              <a:gs pos="100000">
                <a:srgbClr val="1B5AA8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icon-process"/>
          <p:cNvSpPr/>
          <p:nvPr/>
        </p:nvSpPr>
        <p:spPr>
          <a:xfrm>
            <a:off x="5255450" y="3547554"/>
            <a:ext cx="125349" cy="67691"/>
          </a:xfrm>
          <a:custGeom>
            <a:avLst/>
            <a:gdLst/>
            <a:ahLst/>
            <a:cxnLst/>
            <a:rect l="0" t="0" r="r" b="b"/>
            <a:pathLst>
              <a:path w="125349" h="67691">
                <a:moveTo>
                  <a:pt x="0" y="0"/>
                </a:moveTo>
                <a:lnTo>
                  <a:pt x="44069" y="0"/>
                </a:lnTo>
                <a:lnTo>
                  <a:pt x="44069" y="44006"/>
                </a:lnTo>
                <a:lnTo>
                  <a:pt x="0" y="44006"/>
                </a:lnTo>
                <a:close/>
                <a:moveTo>
                  <a:pt x="81280" y="23686"/>
                </a:moveTo>
                <a:lnTo>
                  <a:pt x="125349" y="23686"/>
                </a:lnTo>
                <a:lnTo>
                  <a:pt x="125349" y="67691"/>
                </a:lnTo>
                <a:lnTo>
                  <a:pt x="81280" y="67691"/>
                </a:lnTo>
                <a:close/>
                <a:moveTo>
                  <a:pt x="44069" y="21971"/>
                </a:moveTo>
                <a:lnTo>
                  <a:pt x="81280" y="21971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pno-2"/>
          <p:cNvSpPr txBox="1"/>
          <p:nvPr/>
        </p:nvSpPr>
        <p:spPr>
          <a:xfrm>
            <a:off x="5209096" y="37274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>
                    <a:alpha val="55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52" name="base-2"/>
          <p:cNvSpPr/>
          <p:nvPr/>
        </p:nvSpPr>
        <p:spPr>
          <a:xfrm>
            <a:off x="4784725" y="5029200"/>
            <a:ext cx="1066800" cy="114300"/>
          </a:xfrm>
          <a:custGeom>
            <a:avLst/>
            <a:gdLst/>
            <a:ahLst/>
            <a:cxnLst/>
            <a:rect l="0" t="0" r="r" b="b"/>
            <a:pathLst>
              <a:path w="1066800" h="114300">
                <a:moveTo>
                  <a:pt x="57150" y="0"/>
                </a:moveTo>
                <a:lnTo>
                  <a:pt x="1009650" y="0"/>
                </a:lnTo>
                <a:cubicBezTo>
                  <a:pt x="1041210" y="0"/>
                  <a:pt x="1066800" y="25590"/>
                  <a:pt x="1066800" y="57150"/>
                </a:cubicBezTo>
                <a:lnTo>
                  <a:pt x="1066800" y="57150"/>
                </a:lnTo>
                <a:cubicBezTo>
                  <a:pt x="1066800" y="88710"/>
                  <a:pt x="1041210" y="114300"/>
                  <a:pt x="1009650" y="114300"/>
                </a:cubicBezTo>
                <a:lnTo>
                  <a:pt x="57150" y="114300"/>
                </a:lnTo>
                <a:cubicBezTo>
                  <a:pt x="25590" y="114300"/>
                  <a:pt x="0" y="88710"/>
                  <a:pt x="0" y="57150"/>
                </a:cubicBezTo>
                <a:lnTo>
                  <a:pt x="0" y="57150"/>
                </a:lnTo>
                <a:cubicBezTo>
                  <a:pt x="0" y="25590"/>
                  <a:pt x="25590" y="0"/>
                  <a:pt x="57150" y="0"/>
                </a:cubicBezTo>
                <a:close/>
              </a:path>
            </a:pathLst>
          </a:custGeom>
          <a:solidFill>
            <a:srgbClr val="1B5AA8">
              <a:alpha val="2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pc-2"/>
          <p:cNvSpPr/>
          <p:nvPr/>
        </p:nvSpPr>
        <p:spPr>
          <a:xfrm>
            <a:off x="4632325" y="5308600"/>
            <a:ext cx="1371600" cy="711200"/>
          </a:xfrm>
          <a:custGeom>
            <a:avLst/>
            <a:gdLst/>
            <a:ahLst/>
            <a:cxnLst/>
            <a:rect l="0" t="0" r="r" b="b"/>
            <a:pathLst>
              <a:path w="1371600" h="711200">
                <a:moveTo>
                  <a:pt x="101600" y="0"/>
                </a:moveTo>
                <a:lnTo>
                  <a:pt x="1270000" y="0"/>
                </a:lnTo>
                <a:cubicBezTo>
                  <a:pt x="1326134" y="0"/>
                  <a:pt x="1371600" y="45466"/>
                  <a:pt x="1371600" y="101600"/>
                </a:cubicBezTo>
                <a:lnTo>
                  <a:pt x="1371600" y="609600"/>
                </a:lnTo>
                <a:cubicBezTo>
                  <a:pt x="1371600" y="665734"/>
                  <a:pt x="1326134" y="711200"/>
                  <a:pt x="1270000" y="711200"/>
                </a:cubicBezTo>
                <a:lnTo>
                  <a:pt x="101600" y="711200"/>
                </a:lnTo>
                <a:cubicBezTo>
                  <a:pt x="45466" y="711200"/>
                  <a:pt x="0" y="665734"/>
                  <a:pt x="0" y="609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pcc-2"/>
          <p:cNvSpPr/>
          <p:nvPr/>
        </p:nvSpPr>
        <p:spPr>
          <a:xfrm>
            <a:off x="4632325" y="5308600"/>
            <a:ext cx="1371600" cy="38100"/>
          </a:xfrm>
          <a:custGeom>
            <a:avLst/>
            <a:gdLst/>
            <a:ahLst/>
            <a:cxnLst/>
            <a:rect l="0" t="0" r="r" b="b"/>
            <a:pathLst>
              <a:path w="1371600" h="38100">
                <a:moveTo>
                  <a:pt x="19050" y="0"/>
                </a:moveTo>
                <a:lnTo>
                  <a:pt x="1352550" y="0"/>
                </a:lnTo>
                <a:cubicBezTo>
                  <a:pt x="1363091" y="0"/>
                  <a:pt x="1371600" y="8509"/>
                  <a:pt x="1371600" y="19050"/>
                </a:cubicBezTo>
                <a:lnTo>
                  <a:pt x="1371600" y="19050"/>
                </a:lnTo>
                <a:cubicBezTo>
                  <a:pt x="1371600" y="29591"/>
                  <a:pt x="1363091" y="38100"/>
                  <a:pt x="13525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pcn-2"/>
          <p:cNvSpPr txBox="1"/>
          <p:nvPr/>
        </p:nvSpPr>
        <p:spPr>
          <a:xfrm>
            <a:off x="4943158" y="5451697"/>
            <a:ext cx="7499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流程线上化</a:t>
            </a:r>
          </a:p>
        </p:txBody>
      </p:sp>
      <p:sp>
        <p:nvSpPr>
          <p:cNvPr id="56" name="pcp-2-1"/>
          <p:cNvSpPr txBox="1"/>
          <p:nvPr/>
        </p:nvSpPr>
        <p:spPr>
          <a:xfrm>
            <a:off x="4914900" y="5681408"/>
            <a:ext cx="80645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排产到验收全线上</a:t>
            </a:r>
          </a:p>
        </p:txBody>
      </p:sp>
      <p:cxnSp>
        <p:nvCxnSpPr>
          <p:cNvPr id="57" name="cable-3--1"/>
          <p:cNvCxnSpPr/>
          <p:nvPr/>
        </p:nvCxnSpPr>
        <p:spPr>
          <a:xfrm flipH="1" flipV="1">
            <a:off x="6302375" y="3124200"/>
            <a:ext cx="546100" cy="101600"/>
          </a:xfrm>
          <a:prstGeom prst="line">
            <a:avLst/>
          </a:prstGeom>
          <a:ln w="8890" cap="rnd">
            <a:solidFill>
              <a:srgbClr val="3985CD">
                <a:alpha val="2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able-3-1"/>
          <p:cNvCxnSpPr/>
          <p:nvPr/>
        </p:nvCxnSpPr>
        <p:spPr>
          <a:xfrm flipV="1">
            <a:off x="6848475" y="3124200"/>
            <a:ext cx="546100" cy="101600"/>
          </a:xfrm>
          <a:prstGeom prst="line">
            <a:avLst/>
          </a:prstGeom>
          <a:ln w="8890" cap="rnd">
            <a:solidFill>
              <a:srgbClr val="3985CD">
                <a:alpha val="2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pier-3"/>
          <p:cNvSpPr/>
          <p:nvPr/>
        </p:nvSpPr>
        <p:spPr>
          <a:xfrm>
            <a:off x="6480175" y="3251200"/>
            <a:ext cx="736600" cy="1778000"/>
          </a:xfrm>
          <a:custGeom>
            <a:avLst/>
            <a:gdLst/>
            <a:ahLst/>
            <a:cxnLst/>
            <a:rect l="0" t="0" r="r" b="b"/>
            <a:pathLst>
              <a:path w="736600" h="1778000">
                <a:moveTo>
                  <a:pt x="88900" y="0"/>
                </a:moveTo>
                <a:lnTo>
                  <a:pt x="647700" y="0"/>
                </a:lnTo>
                <a:cubicBezTo>
                  <a:pt x="696786" y="0"/>
                  <a:pt x="736600" y="39814"/>
                  <a:pt x="736600" y="88900"/>
                </a:cubicBezTo>
                <a:lnTo>
                  <a:pt x="736600" y="1689100"/>
                </a:lnTo>
                <a:cubicBezTo>
                  <a:pt x="736600" y="1738186"/>
                  <a:pt x="696786" y="1778000"/>
                  <a:pt x="647700" y="1778000"/>
                </a:cubicBezTo>
                <a:lnTo>
                  <a:pt x="88900" y="1778000"/>
                </a:lnTo>
                <a:cubicBezTo>
                  <a:pt x="39814" y="1778000"/>
                  <a:pt x="0" y="1738186"/>
                  <a:pt x="0" y="16891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5D9BD6"/>
              </a:gs>
              <a:gs pos="100000">
                <a:srgbClr val="3985CD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icon-people"/>
          <p:cNvSpPr/>
          <p:nvPr/>
        </p:nvSpPr>
        <p:spPr>
          <a:xfrm>
            <a:off x="6777355" y="3603434"/>
            <a:ext cx="143955" cy="40640"/>
          </a:xfrm>
          <a:custGeom>
            <a:avLst/>
            <a:gdLst/>
            <a:ahLst/>
            <a:cxnLst/>
            <a:rect l="0" t="0" r="r" b="b"/>
            <a:pathLst>
              <a:path w="143955" h="40640">
                <a:moveTo>
                  <a:pt x="0" y="40640"/>
                </a:moveTo>
                <a:cubicBezTo>
                  <a:pt x="0" y="15240"/>
                  <a:pt x="21146" y="0"/>
                  <a:pt x="45720" y="0"/>
                </a:cubicBezTo>
                <a:cubicBezTo>
                  <a:pt x="70294" y="0"/>
                  <a:pt x="91440" y="15240"/>
                  <a:pt x="91440" y="40640"/>
                </a:cubicBezTo>
                <a:moveTo>
                  <a:pt x="108394" y="3365"/>
                </a:moveTo>
                <a:cubicBezTo>
                  <a:pt x="130365" y="5905"/>
                  <a:pt x="143955" y="21145"/>
                  <a:pt x="143955" y="40640"/>
                </a:cubicBez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icon-people"/>
          <p:cNvSpPr/>
          <p:nvPr/>
        </p:nvSpPr>
        <p:spPr>
          <a:xfrm>
            <a:off x="6795982" y="3530600"/>
            <a:ext cx="54187" cy="54187"/>
          </a:xfrm>
          <a:prstGeom prst="ellipse">
            <a:avLst/>
          </a:pr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icon-people"/>
          <p:cNvSpPr/>
          <p:nvPr/>
        </p:nvSpPr>
        <p:spPr>
          <a:xfrm>
            <a:off x="6868795" y="3530600"/>
            <a:ext cx="44027" cy="44027"/>
          </a:xfrm>
          <a:prstGeom prst="ellipse">
            <a:avLst/>
          </a:pr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pno-3"/>
          <p:cNvSpPr txBox="1"/>
          <p:nvPr/>
        </p:nvSpPr>
        <p:spPr>
          <a:xfrm>
            <a:off x="6739446" y="37274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>
                    <a:alpha val="55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64" name="base-3"/>
          <p:cNvSpPr/>
          <p:nvPr/>
        </p:nvSpPr>
        <p:spPr>
          <a:xfrm>
            <a:off x="6315075" y="5029200"/>
            <a:ext cx="1066800" cy="114300"/>
          </a:xfrm>
          <a:custGeom>
            <a:avLst/>
            <a:gdLst/>
            <a:ahLst/>
            <a:cxnLst/>
            <a:rect l="0" t="0" r="r" b="b"/>
            <a:pathLst>
              <a:path w="1066800" h="114300">
                <a:moveTo>
                  <a:pt x="57150" y="0"/>
                </a:moveTo>
                <a:lnTo>
                  <a:pt x="1009650" y="0"/>
                </a:lnTo>
                <a:cubicBezTo>
                  <a:pt x="1041210" y="0"/>
                  <a:pt x="1066800" y="25590"/>
                  <a:pt x="1066800" y="57150"/>
                </a:cubicBezTo>
                <a:lnTo>
                  <a:pt x="1066800" y="57150"/>
                </a:lnTo>
                <a:cubicBezTo>
                  <a:pt x="1066800" y="88710"/>
                  <a:pt x="1041210" y="114300"/>
                  <a:pt x="1009650" y="114300"/>
                </a:cubicBezTo>
                <a:lnTo>
                  <a:pt x="57150" y="114300"/>
                </a:lnTo>
                <a:cubicBezTo>
                  <a:pt x="25590" y="114300"/>
                  <a:pt x="0" y="88710"/>
                  <a:pt x="0" y="57150"/>
                </a:cubicBezTo>
                <a:lnTo>
                  <a:pt x="0" y="57150"/>
                </a:lnTo>
                <a:cubicBezTo>
                  <a:pt x="0" y="25590"/>
                  <a:pt x="25590" y="0"/>
                  <a:pt x="57150" y="0"/>
                </a:cubicBezTo>
                <a:close/>
              </a:path>
            </a:pathLst>
          </a:custGeom>
          <a:solidFill>
            <a:srgbClr val="3985CD">
              <a:alpha val="2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pc-3"/>
          <p:cNvSpPr/>
          <p:nvPr/>
        </p:nvSpPr>
        <p:spPr>
          <a:xfrm>
            <a:off x="6162675" y="5308600"/>
            <a:ext cx="1371600" cy="711200"/>
          </a:xfrm>
          <a:custGeom>
            <a:avLst/>
            <a:gdLst/>
            <a:ahLst/>
            <a:cxnLst/>
            <a:rect l="0" t="0" r="r" b="b"/>
            <a:pathLst>
              <a:path w="1371600" h="711200">
                <a:moveTo>
                  <a:pt x="101600" y="0"/>
                </a:moveTo>
                <a:lnTo>
                  <a:pt x="1270000" y="0"/>
                </a:lnTo>
                <a:cubicBezTo>
                  <a:pt x="1326134" y="0"/>
                  <a:pt x="1371600" y="45466"/>
                  <a:pt x="1371600" y="101600"/>
                </a:cubicBezTo>
                <a:lnTo>
                  <a:pt x="1371600" y="609600"/>
                </a:lnTo>
                <a:cubicBezTo>
                  <a:pt x="1371600" y="665734"/>
                  <a:pt x="1326134" y="711200"/>
                  <a:pt x="1270000" y="711200"/>
                </a:cubicBezTo>
                <a:lnTo>
                  <a:pt x="101600" y="711200"/>
                </a:lnTo>
                <a:cubicBezTo>
                  <a:pt x="45466" y="711200"/>
                  <a:pt x="0" y="665734"/>
                  <a:pt x="0" y="609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pcc-3"/>
          <p:cNvSpPr/>
          <p:nvPr/>
        </p:nvSpPr>
        <p:spPr>
          <a:xfrm>
            <a:off x="6162675" y="5308600"/>
            <a:ext cx="1371600" cy="38100"/>
          </a:xfrm>
          <a:custGeom>
            <a:avLst/>
            <a:gdLst/>
            <a:ahLst/>
            <a:cxnLst/>
            <a:rect l="0" t="0" r="r" b="b"/>
            <a:pathLst>
              <a:path w="1371600" h="38100">
                <a:moveTo>
                  <a:pt x="19050" y="0"/>
                </a:moveTo>
                <a:lnTo>
                  <a:pt x="1352550" y="0"/>
                </a:lnTo>
                <a:cubicBezTo>
                  <a:pt x="1363091" y="0"/>
                  <a:pt x="1371600" y="8509"/>
                  <a:pt x="1371600" y="19050"/>
                </a:cubicBezTo>
                <a:lnTo>
                  <a:pt x="1371600" y="19050"/>
                </a:lnTo>
                <a:cubicBezTo>
                  <a:pt x="1371600" y="29591"/>
                  <a:pt x="1363091" y="38100"/>
                  <a:pt x="13525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pcn-3"/>
          <p:cNvSpPr txBox="1"/>
          <p:nvPr/>
        </p:nvSpPr>
        <p:spPr>
          <a:xfrm>
            <a:off x="6473508" y="5451697"/>
            <a:ext cx="7499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组织与考核</a:t>
            </a:r>
          </a:p>
        </p:txBody>
      </p:sp>
      <p:sp>
        <p:nvSpPr>
          <p:cNvPr id="68" name="pcp-3-1"/>
          <p:cNvSpPr txBox="1"/>
          <p:nvPr/>
        </p:nvSpPr>
        <p:spPr>
          <a:xfrm>
            <a:off x="6399848" y="5681408"/>
            <a:ext cx="89725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责任到岗、考核挂钩</a:t>
            </a:r>
          </a:p>
        </p:txBody>
      </p:sp>
      <p:cxnSp>
        <p:nvCxnSpPr>
          <p:cNvPr id="69" name="cable-4--1"/>
          <p:cNvCxnSpPr/>
          <p:nvPr/>
        </p:nvCxnSpPr>
        <p:spPr>
          <a:xfrm flipH="1" flipV="1">
            <a:off x="7832725" y="3124200"/>
            <a:ext cx="546100" cy="101600"/>
          </a:xfrm>
          <a:prstGeom prst="line">
            <a:avLst/>
          </a:prstGeom>
          <a:ln w="8890" cap="rnd">
            <a:solidFill>
              <a:srgbClr val="54A2DF">
                <a:alpha val="2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able-4-1"/>
          <p:cNvCxnSpPr/>
          <p:nvPr/>
        </p:nvCxnSpPr>
        <p:spPr>
          <a:xfrm flipV="1">
            <a:off x="8378825" y="3124200"/>
            <a:ext cx="546100" cy="101600"/>
          </a:xfrm>
          <a:prstGeom prst="line">
            <a:avLst/>
          </a:prstGeom>
          <a:ln w="8890" cap="rnd">
            <a:solidFill>
              <a:srgbClr val="54A2DF">
                <a:alpha val="2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pier-4"/>
          <p:cNvSpPr/>
          <p:nvPr/>
        </p:nvSpPr>
        <p:spPr>
          <a:xfrm>
            <a:off x="8010525" y="3251200"/>
            <a:ext cx="736600" cy="1778000"/>
          </a:xfrm>
          <a:custGeom>
            <a:avLst/>
            <a:gdLst/>
            <a:ahLst/>
            <a:cxnLst/>
            <a:rect l="0" t="0" r="r" b="b"/>
            <a:pathLst>
              <a:path w="736600" h="1778000">
                <a:moveTo>
                  <a:pt x="88900" y="0"/>
                </a:moveTo>
                <a:lnTo>
                  <a:pt x="647700" y="0"/>
                </a:lnTo>
                <a:cubicBezTo>
                  <a:pt x="696786" y="0"/>
                  <a:pt x="736600" y="39814"/>
                  <a:pt x="736600" y="88900"/>
                </a:cubicBezTo>
                <a:lnTo>
                  <a:pt x="736600" y="1689100"/>
                </a:lnTo>
                <a:cubicBezTo>
                  <a:pt x="736600" y="1738186"/>
                  <a:pt x="696786" y="1778000"/>
                  <a:pt x="647700" y="1778000"/>
                </a:cubicBezTo>
                <a:lnTo>
                  <a:pt x="88900" y="1778000"/>
                </a:lnTo>
                <a:cubicBezTo>
                  <a:pt x="39814" y="1778000"/>
                  <a:pt x="0" y="1738186"/>
                  <a:pt x="0" y="16891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73B3E5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icon-grow"/>
          <p:cNvSpPr/>
          <p:nvPr/>
        </p:nvSpPr>
        <p:spPr>
          <a:xfrm>
            <a:off x="8307705" y="3549205"/>
            <a:ext cx="127000" cy="79629"/>
          </a:xfrm>
          <a:custGeom>
            <a:avLst/>
            <a:gdLst/>
            <a:ahLst/>
            <a:cxnLst/>
            <a:rect l="0" t="0" r="r" b="b"/>
            <a:pathLst>
              <a:path w="127000" h="79629">
                <a:moveTo>
                  <a:pt x="0" y="79629"/>
                </a:moveTo>
                <a:lnTo>
                  <a:pt x="42355" y="33909"/>
                </a:lnTo>
                <a:lnTo>
                  <a:pt x="72835" y="59309"/>
                </a:lnTo>
                <a:lnTo>
                  <a:pt x="123635" y="0"/>
                </a:lnTo>
                <a:moveTo>
                  <a:pt x="103314" y="0"/>
                </a:moveTo>
                <a:lnTo>
                  <a:pt x="127000" y="0"/>
                </a:lnTo>
                <a:lnTo>
                  <a:pt x="127000" y="23749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pno-4"/>
          <p:cNvSpPr txBox="1"/>
          <p:nvPr/>
        </p:nvSpPr>
        <p:spPr>
          <a:xfrm>
            <a:off x="8269796" y="37274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>
                    <a:alpha val="55000"/>
                  </a:srgbClr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74" name="base-4"/>
          <p:cNvSpPr/>
          <p:nvPr/>
        </p:nvSpPr>
        <p:spPr>
          <a:xfrm>
            <a:off x="7845425" y="5029200"/>
            <a:ext cx="1066800" cy="114300"/>
          </a:xfrm>
          <a:custGeom>
            <a:avLst/>
            <a:gdLst/>
            <a:ahLst/>
            <a:cxnLst/>
            <a:rect l="0" t="0" r="r" b="b"/>
            <a:pathLst>
              <a:path w="1066800" h="114300">
                <a:moveTo>
                  <a:pt x="57150" y="0"/>
                </a:moveTo>
                <a:lnTo>
                  <a:pt x="1009650" y="0"/>
                </a:lnTo>
                <a:cubicBezTo>
                  <a:pt x="1041210" y="0"/>
                  <a:pt x="1066800" y="25590"/>
                  <a:pt x="1066800" y="57150"/>
                </a:cubicBezTo>
                <a:lnTo>
                  <a:pt x="1066800" y="57150"/>
                </a:lnTo>
                <a:cubicBezTo>
                  <a:pt x="1066800" y="88710"/>
                  <a:pt x="1041210" y="114300"/>
                  <a:pt x="1009650" y="114300"/>
                </a:cubicBezTo>
                <a:lnTo>
                  <a:pt x="57150" y="114300"/>
                </a:lnTo>
                <a:cubicBezTo>
                  <a:pt x="25590" y="114300"/>
                  <a:pt x="0" y="88710"/>
                  <a:pt x="0" y="57150"/>
                </a:cubicBezTo>
                <a:lnTo>
                  <a:pt x="0" y="57150"/>
                </a:lnTo>
                <a:cubicBezTo>
                  <a:pt x="0" y="25590"/>
                  <a:pt x="25590" y="0"/>
                  <a:pt x="57150" y="0"/>
                </a:cubicBezTo>
                <a:close/>
              </a:path>
            </a:pathLst>
          </a:custGeom>
          <a:solidFill>
            <a:srgbClr val="54A2DF">
              <a:alpha val="2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pc-4"/>
          <p:cNvSpPr/>
          <p:nvPr/>
        </p:nvSpPr>
        <p:spPr>
          <a:xfrm>
            <a:off x="7693025" y="5308600"/>
            <a:ext cx="1371600" cy="711200"/>
          </a:xfrm>
          <a:custGeom>
            <a:avLst/>
            <a:gdLst/>
            <a:ahLst/>
            <a:cxnLst/>
            <a:rect l="0" t="0" r="r" b="b"/>
            <a:pathLst>
              <a:path w="1371600" h="711200">
                <a:moveTo>
                  <a:pt x="101600" y="0"/>
                </a:moveTo>
                <a:lnTo>
                  <a:pt x="1270000" y="0"/>
                </a:lnTo>
                <a:cubicBezTo>
                  <a:pt x="1326134" y="0"/>
                  <a:pt x="1371600" y="45466"/>
                  <a:pt x="1371600" y="101600"/>
                </a:cubicBezTo>
                <a:lnTo>
                  <a:pt x="1371600" y="609600"/>
                </a:lnTo>
                <a:cubicBezTo>
                  <a:pt x="1371600" y="665734"/>
                  <a:pt x="1326134" y="711200"/>
                  <a:pt x="1270000" y="711200"/>
                </a:cubicBezTo>
                <a:lnTo>
                  <a:pt x="101600" y="711200"/>
                </a:lnTo>
                <a:cubicBezTo>
                  <a:pt x="45466" y="711200"/>
                  <a:pt x="0" y="665734"/>
                  <a:pt x="0" y="609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pcc-4"/>
          <p:cNvSpPr/>
          <p:nvPr/>
        </p:nvSpPr>
        <p:spPr>
          <a:xfrm>
            <a:off x="7693025" y="5308600"/>
            <a:ext cx="1371600" cy="38100"/>
          </a:xfrm>
          <a:custGeom>
            <a:avLst/>
            <a:gdLst/>
            <a:ahLst/>
            <a:cxnLst/>
            <a:rect l="0" t="0" r="r" b="b"/>
            <a:pathLst>
              <a:path w="1371600" h="38100">
                <a:moveTo>
                  <a:pt x="19050" y="0"/>
                </a:moveTo>
                <a:lnTo>
                  <a:pt x="1352550" y="0"/>
                </a:lnTo>
                <a:cubicBezTo>
                  <a:pt x="1363091" y="0"/>
                  <a:pt x="1371600" y="8509"/>
                  <a:pt x="1371600" y="19050"/>
                </a:cubicBezTo>
                <a:lnTo>
                  <a:pt x="1371600" y="19050"/>
                </a:lnTo>
                <a:cubicBezTo>
                  <a:pt x="1371600" y="29591"/>
                  <a:pt x="1363091" y="38100"/>
                  <a:pt x="13525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pcn-4"/>
          <p:cNvSpPr txBox="1"/>
          <p:nvPr/>
        </p:nvSpPr>
        <p:spPr>
          <a:xfrm>
            <a:off x="7939722" y="5451697"/>
            <a:ext cx="87820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持续运营机制</a:t>
            </a:r>
          </a:p>
        </p:txBody>
      </p:sp>
      <p:sp>
        <p:nvSpPr>
          <p:cNvPr id="78" name="pcp-4-1"/>
          <p:cNvSpPr txBox="1"/>
          <p:nvPr/>
        </p:nvSpPr>
        <p:spPr>
          <a:xfrm>
            <a:off x="8021003" y="5681408"/>
            <a:ext cx="71564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季度复盘与迭代</a:t>
            </a:r>
          </a:p>
        </p:txBody>
      </p:sp>
      <p:sp>
        <p:nvSpPr>
          <p:cNvPr id="79" name="note-bar"/>
          <p:cNvSpPr/>
          <p:nvPr/>
        </p:nvSpPr>
        <p:spPr>
          <a:xfrm>
            <a:off x="952500" y="6007100"/>
            <a:ext cx="25400" cy="3302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note-h"/>
          <p:cNvSpPr txBox="1"/>
          <p:nvPr/>
        </p:nvSpPr>
        <p:spPr>
          <a:xfrm>
            <a:off x="1104646" y="6064282"/>
            <a:ext cx="3384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提醒</a:t>
            </a:r>
          </a:p>
        </p:txBody>
      </p:sp>
      <p:sp>
        <p:nvSpPr>
          <p:cNvPr id="81" name="note-p"/>
          <p:cNvSpPr txBox="1"/>
          <p:nvPr/>
        </p:nvSpPr>
        <p:spPr>
          <a:xfrm>
            <a:off x="1586865" y="6060361"/>
            <a:ext cx="511714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四根桥墩要同时施工：只上系统不改考核，半年后数据照样是空的——这是过去两次转型失败的原因。</a:t>
            </a:r>
          </a:p>
        </p:txBody>
      </p:sp>
      <p:cxnSp>
        <p:nvCxnSpPr>
          <p:cNvPr id="82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3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桥梁模型 · 四根支撑</a:t>
            </a:r>
          </a:p>
        </p:txBody>
      </p:sp>
      <p:sp>
        <p:nvSpPr>
          <p:cNvPr id="84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9946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产品生命周期与策略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71742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S-CURVE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894699" y="673132"/>
            <a:ext cx="27260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同一条曲线上的四个阶段，对应四套完全不同的打法</a:t>
            </a:r>
          </a:p>
        </p:txBody>
      </p:sp>
      <p:cxnSp>
        <p:nvCxnSpPr>
          <p:cNvPr id="10" name="axis-x"/>
          <p:cNvCxnSpPr/>
          <p:nvPr/>
        </p:nvCxnSpPr>
        <p:spPr>
          <a:xfrm>
            <a:off x="1206500" y="4445000"/>
            <a:ext cx="9779000" cy="0"/>
          </a:xfrm>
          <a:prstGeom prst="line">
            <a:avLst/>
          </a:prstGeom>
          <a:ln w="1016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axis-y"/>
          <p:cNvCxnSpPr/>
          <p:nvPr/>
        </p:nvCxnSpPr>
        <p:spPr>
          <a:xfrm>
            <a:off x="1206500" y="1663700"/>
            <a:ext cx="0" cy="2781300"/>
          </a:xfrm>
          <a:prstGeom prst="line">
            <a:avLst/>
          </a:prstGeom>
          <a:ln w="1016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" name="axis-yt"/>
          <p:cNvSpPr txBox="1"/>
          <p:nvPr/>
        </p:nvSpPr>
        <p:spPr>
          <a:xfrm>
            <a:off x="1106551" y="1486487"/>
            <a:ext cx="63252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营收 / 规模</a:t>
            </a:r>
          </a:p>
        </p:txBody>
      </p:sp>
      <p:sp>
        <p:nvSpPr>
          <p:cNvPr id="13" name="axis-xt"/>
          <p:cNvSpPr txBox="1"/>
          <p:nvPr/>
        </p:nvSpPr>
        <p:spPr>
          <a:xfrm>
            <a:off x="11037951" y="4369387"/>
            <a:ext cx="27463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时间</a:t>
            </a:r>
          </a:p>
        </p:txBody>
      </p:sp>
      <p:sp>
        <p:nvSpPr>
          <p:cNvPr id="14" name="zone-1"/>
          <p:cNvSpPr/>
          <p:nvPr/>
        </p:nvSpPr>
        <p:spPr>
          <a:xfrm>
            <a:off x="1422400" y="1714500"/>
            <a:ext cx="2298700" cy="2730500"/>
          </a:xfrm>
          <a:custGeom>
            <a:avLst/>
            <a:gdLst/>
            <a:ahLst/>
            <a:cxnLst/>
            <a:rect l="0" t="0" r="r" b="b"/>
            <a:pathLst>
              <a:path w="2298700" h="2730500">
                <a:moveTo>
                  <a:pt x="88900" y="0"/>
                </a:moveTo>
                <a:lnTo>
                  <a:pt x="2209800" y="0"/>
                </a:lnTo>
                <a:cubicBezTo>
                  <a:pt x="2258886" y="0"/>
                  <a:pt x="2298700" y="39814"/>
                  <a:pt x="2298700" y="88900"/>
                </a:cubicBezTo>
                <a:lnTo>
                  <a:pt x="2298700" y="2641600"/>
                </a:lnTo>
                <a:cubicBezTo>
                  <a:pt x="2298700" y="2690686"/>
                  <a:pt x="2258886" y="2730500"/>
                  <a:pt x="2209800" y="2730500"/>
                </a:cubicBezTo>
                <a:lnTo>
                  <a:pt x="88900" y="2730500"/>
                </a:lnTo>
                <a:cubicBezTo>
                  <a:pt x="39815" y="2730500"/>
                  <a:pt x="0" y="2690686"/>
                  <a:pt x="0" y="26416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0B3E8F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5" name="zsep-1"/>
          <p:cNvCxnSpPr/>
          <p:nvPr/>
        </p:nvCxnSpPr>
        <p:spPr>
          <a:xfrm>
            <a:off x="1397000" y="1714500"/>
            <a:ext cx="0" cy="273050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zone-2"/>
          <p:cNvSpPr/>
          <p:nvPr/>
        </p:nvSpPr>
        <p:spPr>
          <a:xfrm>
            <a:off x="3771900" y="1714500"/>
            <a:ext cx="2298700" cy="2730500"/>
          </a:xfrm>
          <a:custGeom>
            <a:avLst/>
            <a:gdLst/>
            <a:ahLst/>
            <a:cxnLst/>
            <a:rect l="0" t="0" r="r" b="b"/>
            <a:pathLst>
              <a:path w="2298700" h="2730500">
                <a:moveTo>
                  <a:pt x="88900" y="0"/>
                </a:moveTo>
                <a:lnTo>
                  <a:pt x="2209800" y="0"/>
                </a:lnTo>
                <a:cubicBezTo>
                  <a:pt x="2258886" y="0"/>
                  <a:pt x="2298700" y="39814"/>
                  <a:pt x="2298700" y="88900"/>
                </a:cubicBezTo>
                <a:lnTo>
                  <a:pt x="2298700" y="2641600"/>
                </a:lnTo>
                <a:cubicBezTo>
                  <a:pt x="2298700" y="2690686"/>
                  <a:pt x="2258886" y="2730500"/>
                  <a:pt x="2209800" y="2730500"/>
                </a:cubicBezTo>
                <a:lnTo>
                  <a:pt x="88900" y="2730500"/>
                </a:lnTo>
                <a:cubicBezTo>
                  <a:pt x="39814" y="2730500"/>
                  <a:pt x="0" y="2690686"/>
                  <a:pt x="0" y="26416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1B5AA8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7" name="zsep-2"/>
          <p:cNvCxnSpPr/>
          <p:nvPr/>
        </p:nvCxnSpPr>
        <p:spPr>
          <a:xfrm>
            <a:off x="3746500" y="1714500"/>
            <a:ext cx="0" cy="273050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zone-3"/>
          <p:cNvSpPr/>
          <p:nvPr/>
        </p:nvSpPr>
        <p:spPr>
          <a:xfrm>
            <a:off x="6121400" y="1714500"/>
            <a:ext cx="2298700" cy="2730500"/>
          </a:xfrm>
          <a:custGeom>
            <a:avLst/>
            <a:gdLst/>
            <a:ahLst/>
            <a:cxnLst/>
            <a:rect l="0" t="0" r="r" b="b"/>
            <a:pathLst>
              <a:path w="2298700" h="2730500">
                <a:moveTo>
                  <a:pt x="88900" y="0"/>
                </a:moveTo>
                <a:lnTo>
                  <a:pt x="2209800" y="0"/>
                </a:lnTo>
                <a:cubicBezTo>
                  <a:pt x="2258886" y="0"/>
                  <a:pt x="2298700" y="39814"/>
                  <a:pt x="2298700" y="88900"/>
                </a:cubicBezTo>
                <a:lnTo>
                  <a:pt x="2298700" y="2641600"/>
                </a:lnTo>
                <a:cubicBezTo>
                  <a:pt x="2298700" y="2690686"/>
                  <a:pt x="2258886" y="2730500"/>
                  <a:pt x="2209800" y="2730500"/>
                </a:cubicBezTo>
                <a:lnTo>
                  <a:pt x="88900" y="2730500"/>
                </a:lnTo>
                <a:cubicBezTo>
                  <a:pt x="39814" y="2730500"/>
                  <a:pt x="0" y="2690686"/>
                  <a:pt x="0" y="26416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3985CD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9" name="zsep-3"/>
          <p:cNvCxnSpPr/>
          <p:nvPr/>
        </p:nvCxnSpPr>
        <p:spPr>
          <a:xfrm>
            <a:off x="6096000" y="1714500"/>
            <a:ext cx="0" cy="273050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zone-4"/>
          <p:cNvSpPr/>
          <p:nvPr/>
        </p:nvSpPr>
        <p:spPr>
          <a:xfrm>
            <a:off x="8470900" y="1714500"/>
            <a:ext cx="2298700" cy="2730500"/>
          </a:xfrm>
          <a:custGeom>
            <a:avLst/>
            <a:gdLst/>
            <a:ahLst/>
            <a:cxnLst/>
            <a:rect l="0" t="0" r="r" b="b"/>
            <a:pathLst>
              <a:path w="2298700" h="2730500">
                <a:moveTo>
                  <a:pt x="88900" y="0"/>
                </a:moveTo>
                <a:lnTo>
                  <a:pt x="2209800" y="0"/>
                </a:lnTo>
                <a:cubicBezTo>
                  <a:pt x="2258886" y="0"/>
                  <a:pt x="2298700" y="39814"/>
                  <a:pt x="2298700" y="88900"/>
                </a:cubicBezTo>
                <a:lnTo>
                  <a:pt x="2298700" y="2641600"/>
                </a:lnTo>
                <a:cubicBezTo>
                  <a:pt x="2298700" y="2690686"/>
                  <a:pt x="2258886" y="2730500"/>
                  <a:pt x="2209800" y="2730500"/>
                </a:cubicBezTo>
                <a:lnTo>
                  <a:pt x="88900" y="2730500"/>
                </a:lnTo>
                <a:cubicBezTo>
                  <a:pt x="39814" y="2730500"/>
                  <a:pt x="0" y="2690686"/>
                  <a:pt x="0" y="26416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54A2DF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21" name="zsep-4"/>
          <p:cNvCxnSpPr/>
          <p:nvPr/>
        </p:nvCxnSpPr>
        <p:spPr>
          <a:xfrm>
            <a:off x="8445500" y="1714500"/>
            <a:ext cx="0" cy="273050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curve-fill"/>
          <p:cNvSpPr/>
          <p:nvPr/>
        </p:nvSpPr>
        <p:spPr>
          <a:xfrm>
            <a:off x="1397000" y="1909191"/>
            <a:ext cx="9398000" cy="2535809"/>
          </a:xfrm>
          <a:custGeom>
            <a:avLst/>
            <a:gdLst/>
            <a:ahLst/>
            <a:cxnLst/>
            <a:rect l="0" t="0" r="r" b="b"/>
            <a:pathLst>
              <a:path w="9398000" h="2535809">
                <a:moveTo>
                  <a:pt x="0" y="2484501"/>
                </a:moveTo>
                <a:cubicBezTo>
                  <a:pt x="13081" y="2484501"/>
                  <a:pt x="52197" y="2484501"/>
                  <a:pt x="78296" y="2484501"/>
                </a:cubicBezTo>
                <a:cubicBezTo>
                  <a:pt x="104394" y="2484501"/>
                  <a:pt x="130556" y="2484501"/>
                  <a:pt x="156654" y="2484501"/>
                </a:cubicBezTo>
                <a:cubicBezTo>
                  <a:pt x="182753" y="2484501"/>
                  <a:pt x="208851" y="2484501"/>
                  <a:pt x="234950" y="2484501"/>
                </a:cubicBezTo>
                <a:cubicBezTo>
                  <a:pt x="261049" y="2484501"/>
                  <a:pt x="287147" y="2484501"/>
                  <a:pt x="313245" y="2484501"/>
                </a:cubicBezTo>
                <a:cubicBezTo>
                  <a:pt x="339344" y="2484501"/>
                  <a:pt x="365506" y="2484501"/>
                  <a:pt x="391605" y="2484501"/>
                </a:cubicBezTo>
                <a:cubicBezTo>
                  <a:pt x="417703" y="2484501"/>
                  <a:pt x="443801" y="2484501"/>
                  <a:pt x="469900" y="2484501"/>
                </a:cubicBezTo>
                <a:cubicBezTo>
                  <a:pt x="495999" y="2484501"/>
                  <a:pt x="522097" y="2484501"/>
                  <a:pt x="548195" y="2484501"/>
                </a:cubicBezTo>
                <a:cubicBezTo>
                  <a:pt x="574294" y="2484501"/>
                  <a:pt x="600456" y="2484501"/>
                  <a:pt x="626555" y="2484501"/>
                </a:cubicBezTo>
                <a:cubicBezTo>
                  <a:pt x="652653" y="2484501"/>
                  <a:pt x="678751" y="2484501"/>
                  <a:pt x="704850" y="2484501"/>
                </a:cubicBezTo>
                <a:cubicBezTo>
                  <a:pt x="730949" y="2484501"/>
                  <a:pt x="757047" y="2484501"/>
                  <a:pt x="783145" y="2484501"/>
                </a:cubicBezTo>
                <a:cubicBezTo>
                  <a:pt x="809244" y="2484501"/>
                  <a:pt x="835406" y="2484501"/>
                  <a:pt x="861505" y="2484501"/>
                </a:cubicBezTo>
                <a:cubicBezTo>
                  <a:pt x="887603" y="2484501"/>
                  <a:pt x="913701" y="2484501"/>
                  <a:pt x="939800" y="2484501"/>
                </a:cubicBezTo>
                <a:cubicBezTo>
                  <a:pt x="965899" y="2484501"/>
                  <a:pt x="991997" y="2484501"/>
                  <a:pt x="1018095" y="2484501"/>
                </a:cubicBezTo>
                <a:cubicBezTo>
                  <a:pt x="1044194" y="2484501"/>
                  <a:pt x="1070356" y="2484501"/>
                  <a:pt x="1096454" y="2484501"/>
                </a:cubicBezTo>
                <a:cubicBezTo>
                  <a:pt x="1122553" y="2484501"/>
                  <a:pt x="1148652" y="2484501"/>
                  <a:pt x="1174750" y="2484501"/>
                </a:cubicBezTo>
                <a:cubicBezTo>
                  <a:pt x="1200848" y="2484501"/>
                  <a:pt x="1226947" y="2484501"/>
                  <a:pt x="1253046" y="2484501"/>
                </a:cubicBezTo>
                <a:cubicBezTo>
                  <a:pt x="1279144" y="2484501"/>
                  <a:pt x="1305306" y="2484501"/>
                  <a:pt x="1331404" y="2484501"/>
                </a:cubicBezTo>
                <a:cubicBezTo>
                  <a:pt x="1357503" y="2484501"/>
                  <a:pt x="1383602" y="2484501"/>
                  <a:pt x="1409700" y="2484501"/>
                </a:cubicBezTo>
                <a:cubicBezTo>
                  <a:pt x="1435798" y="2484501"/>
                  <a:pt x="1461897" y="2485200"/>
                  <a:pt x="1487996" y="2484501"/>
                </a:cubicBezTo>
                <a:cubicBezTo>
                  <a:pt x="1514094" y="2483803"/>
                  <a:pt x="1540256" y="2482088"/>
                  <a:pt x="1566354" y="2480374"/>
                </a:cubicBezTo>
                <a:cubicBezTo>
                  <a:pt x="1592453" y="2478659"/>
                  <a:pt x="1618552" y="2476373"/>
                  <a:pt x="1644650" y="2474214"/>
                </a:cubicBezTo>
                <a:cubicBezTo>
                  <a:pt x="1670748" y="2472055"/>
                  <a:pt x="1696847" y="2469769"/>
                  <a:pt x="1722946" y="2467356"/>
                </a:cubicBezTo>
                <a:cubicBezTo>
                  <a:pt x="1749044" y="2464943"/>
                  <a:pt x="1775206" y="2462403"/>
                  <a:pt x="1801304" y="2459736"/>
                </a:cubicBezTo>
                <a:cubicBezTo>
                  <a:pt x="1827403" y="2457069"/>
                  <a:pt x="1853502" y="2454275"/>
                  <a:pt x="1879600" y="2451354"/>
                </a:cubicBezTo>
                <a:cubicBezTo>
                  <a:pt x="1905698" y="2448370"/>
                  <a:pt x="1931797" y="2445322"/>
                  <a:pt x="1957896" y="2442020"/>
                </a:cubicBezTo>
                <a:cubicBezTo>
                  <a:pt x="1983994" y="2438781"/>
                  <a:pt x="2010156" y="2435352"/>
                  <a:pt x="2036254" y="2431733"/>
                </a:cubicBezTo>
                <a:cubicBezTo>
                  <a:pt x="2062353" y="2428113"/>
                  <a:pt x="2088452" y="2424367"/>
                  <a:pt x="2114550" y="2420366"/>
                </a:cubicBezTo>
                <a:cubicBezTo>
                  <a:pt x="2140648" y="2416366"/>
                  <a:pt x="2166747" y="2412238"/>
                  <a:pt x="2192846" y="2407793"/>
                </a:cubicBezTo>
                <a:cubicBezTo>
                  <a:pt x="2218944" y="2403412"/>
                  <a:pt x="2245106" y="2398840"/>
                  <a:pt x="2271204" y="2393950"/>
                </a:cubicBezTo>
                <a:cubicBezTo>
                  <a:pt x="2297303" y="2389124"/>
                  <a:pt x="2323402" y="2384044"/>
                  <a:pt x="2349500" y="2378710"/>
                </a:cubicBezTo>
                <a:cubicBezTo>
                  <a:pt x="2375598" y="2373440"/>
                  <a:pt x="2401697" y="2367852"/>
                  <a:pt x="2427796" y="2362010"/>
                </a:cubicBezTo>
                <a:cubicBezTo>
                  <a:pt x="2453894" y="2356104"/>
                  <a:pt x="2480056" y="2350008"/>
                  <a:pt x="2506154" y="2343595"/>
                </a:cubicBezTo>
                <a:cubicBezTo>
                  <a:pt x="2532253" y="2337181"/>
                  <a:pt x="2558352" y="2330450"/>
                  <a:pt x="2584450" y="2323402"/>
                </a:cubicBezTo>
                <a:cubicBezTo>
                  <a:pt x="2610548" y="2316353"/>
                  <a:pt x="2636647" y="2309051"/>
                  <a:pt x="2662746" y="2301304"/>
                </a:cubicBezTo>
                <a:cubicBezTo>
                  <a:pt x="2688844" y="2293620"/>
                  <a:pt x="2715006" y="2285619"/>
                  <a:pt x="2741104" y="2277237"/>
                </a:cubicBezTo>
                <a:cubicBezTo>
                  <a:pt x="2767203" y="2268792"/>
                  <a:pt x="2793302" y="2260029"/>
                  <a:pt x="2819400" y="2250885"/>
                </a:cubicBezTo>
                <a:cubicBezTo>
                  <a:pt x="2845498" y="2241741"/>
                  <a:pt x="2871597" y="2232216"/>
                  <a:pt x="2897696" y="2222310"/>
                </a:cubicBezTo>
                <a:cubicBezTo>
                  <a:pt x="2923794" y="2212340"/>
                  <a:pt x="2949956" y="2201990"/>
                  <a:pt x="2976054" y="2191258"/>
                </a:cubicBezTo>
                <a:cubicBezTo>
                  <a:pt x="3002153" y="2180463"/>
                  <a:pt x="3028252" y="2169287"/>
                  <a:pt x="3054350" y="2157603"/>
                </a:cubicBezTo>
                <a:cubicBezTo>
                  <a:pt x="3080448" y="2145983"/>
                  <a:pt x="3106547" y="2133918"/>
                  <a:pt x="3132646" y="2121345"/>
                </a:cubicBezTo>
                <a:cubicBezTo>
                  <a:pt x="3158744" y="2108772"/>
                  <a:pt x="3184906" y="2095818"/>
                  <a:pt x="3211004" y="2082292"/>
                </a:cubicBezTo>
                <a:cubicBezTo>
                  <a:pt x="3237103" y="2068830"/>
                  <a:pt x="3263202" y="2054860"/>
                  <a:pt x="3289300" y="2040446"/>
                </a:cubicBezTo>
                <a:cubicBezTo>
                  <a:pt x="3315398" y="2025968"/>
                  <a:pt x="3341497" y="2011109"/>
                  <a:pt x="3367596" y="1995678"/>
                </a:cubicBezTo>
                <a:cubicBezTo>
                  <a:pt x="3393694" y="1980311"/>
                  <a:pt x="3419856" y="1964436"/>
                  <a:pt x="3445954" y="1948053"/>
                </a:cubicBezTo>
                <a:cubicBezTo>
                  <a:pt x="3472053" y="1931670"/>
                  <a:pt x="3498152" y="1914843"/>
                  <a:pt x="3524250" y="1897507"/>
                </a:cubicBezTo>
                <a:cubicBezTo>
                  <a:pt x="3550348" y="1880235"/>
                  <a:pt x="3576447" y="1862392"/>
                  <a:pt x="3602546" y="1844167"/>
                </a:cubicBezTo>
                <a:cubicBezTo>
                  <a:pt x="3628644" y="1825943"/>
                  <a:pt x="3654806" y="1807210"/>
                  <a:pt x="3680904" y="1788097"/>
                </a:cubicBezTo>
                <a:cubicBezTo>
                  <a:pt x="3707003" y="1768983"/>
                  <a:pt x="3733102" y="1749425"/>
                  <a:pt x="3759200" y="1729423"/>
                </a:cubicBezTo>
                <a:cubicBezTo>
                  <a:pt x="3785298" y="1709484"/>
                  <a:pt x="3811397" y="1689100"/>
                  <a:pt x="3837496" y="1668399"/>
                </a:cubicBezTo>
                <a:cubicBezTo>
                  <a:pt x="3863594" y="1647698"/>
                  <a:pt x="3889756" y="1626553"/>
                  <a:pt x="3915854" y="1605153"/>
                </a:cubicBezTo>
                <a:cubicBezTo>
                  <a:pt x="3941953" y="1583754"/>
                  <a:pt x="3968052" y="1561973"/>
                  <a:pt x="3994150" y="1540002"/>
                </a:cubicBezTo>
                <a:cubicBezTo>
                  <a:pt x="4020248" y="1518031"/>
                  <a:pt x="4046347" y="1495679"/>
                  <a:pt x="4072446" y="1473264"/>
                </a:cubicBezTo>
                <a:cubicBezTo>
                  <a:pt x="4098544" y="1450785"/>
                  <a:pt x="4124706" y="1428052"/>
                  <a:pt x="4150804" y="1405255"/>
                </a:cubicBezTo>
                <a:cubicBezTo>
                  <a:pt x="4176903" y="1382459"/>
                  <a:pt x="4203002" y="1359408"/>
                  <a:pt x="4229100" y="1336358"/>
                </a:cubicBezTo>
                <a:cubicBezTo>
                  <a:pt x="4255198" y="1313307"/>
                  <a:pt x="4281297" y="1290130"/>
                  <a:pt x="4307396" y="1267016"/>
                </a:cubicBezTo>
                <a:cubicBezTo>
                  <a:pt x="4333494" y="1243902"/>
                  <a:pt x="4359656" y="1220661"/>
                  <a:pt x="4385754" y="1197547"/>
                </a:cubicBezTo>
                <a:cubicBezTo>
                  <a:pt x="4411853" y="1174496"/>
                  <a:pt x="4437952" y="1151382"/>
                  <a:pt x="4464050" y="1128459"/>
                </a:cubicBezTo>
                <a:cubicBezTo>
                  <a:pt x="4490148" y="1105535"/>
                  <a:pt x="4516247" y="1082675"/>
                  <a:pt x="4542346" y="1060069"/>
                </a:cubicBezTo>
                <a:cubicBezTo>
                  <a:pt x="4568444" y="1037400"/>
                  <a:pt x="4594606" y="1014921"/>
                  <a:pt x="4620704" y="992759"/>
                </a:cubicBezTo>
                <a:cubicBezTo>
                  <a:pt x="4646803" y="970598"/>
                  <a:pt x="4672902" y="948563"/>
                  <a:pt x="4699000" y="926910"/>
                </a:cubicBezTo>
                <a:cubicBezTo>
                  <a:pt x="4725098" y="905256"/>
                  <a:pt x="4751197" y="883857"/>
                  <a:pt x="4777296" y="862902"/>
                </a:cubicBezTo>
                <a:cubicBezTo>
                  <a:pt x="4803394" y="841883"/>
                  <a:pt x="4829556" y="821182"/>
                  <a:pt x="4855654" y="800926"/>
                </a:cubicBezTo>
                <a:cubicBezTo>
                  <a:pt x="4881753" y="780669"/>
                  <a:pt x="4907852" y="760730"/>
                  <a:pt x="4933950" y="741299"/>
                </a:cubicBezTo>
                <a:cubicBezTo>
                  <a:pt x="4960048" y="721805"/>
                  <a:pt x="4986147" y="702755"/>
                  <a:pt x="5012246" y="684149"/>
                </a:cubicBezTo>
                <a:cubicBezTo>
                  <a:pt x="5038344" y="665544"/>
                  <a:pt x="5064506" y="647383"/>
                  <a:pt x="5090604" y="629666"/>
                </a:cubicBezTo>
                <a:cubicBezTo>
                  <a:pt x="5116703" y="612013"/>
                  <a:pt x="5142802" y="594805"/>
                  <a:pt x="5168900" y="578041"/>
                </a:cubicBezTo>
                <a:cubicBezTo>
                  <a:pt x="5194998" y="561277"/>
                  <a:pt x="5221097" y="545021"/>
                  <a:pt x="5247196" y="529209"/>
                </a:cubicBezTo>
                <a:cubicBezTo>
                  <a:pt x="5273294" y="513461"/>
                  <a:pt x="5299456" y="498158"/>
                  <a:pt x="5325554" y="483362"/>
                </a:cubicBezTo>
                <a:cubicBezTo>
                  <a:pt x="5351653" y="468503"/>
                  <a:pt x="5377752" y="454152"/>
                  <a:pt x="5403850" y="440309"/>
                </a:cubicBezTo>
                <a:cubicBezTo>
                  <a:pt x="5429948" y="426466"/>
                  <a:pt x="5456047" y="413068"/>
                  <a:pt x="5482146" y="400177"/>
                </a:cubicBezTo>
                <a:cubicBezTo>
                  <a:pt x="5508244" y="387223"/>
                  <a:pt x="5534406" y="374777"/>
                  <a:pt x="5560504" y="362776"/>
                </a:cubicBezTo>
                <a:cubicBezTo>
                  <a:pt x="5586603" y="350774"/>
                  <a:pt x="5612702" y="339217"/>
                  <a:pt x="5638800" y="328105"/>
                </a:cubicBezTo>
                <a:cubicBezTo>
                  <a:pt x="5664898" y="316992"/>
                  <a:pt x="5690997" y="306324"/>
                  <a:pt x="5717096" y="296037"/>
                </a:cubicBezTo>
                <a:cubicBezTo>
                  <a:pt x="5743194" y="285750"/>
                  <a:pt x="5769356" y="275908"/>
                  <a:pt x="5795454" y="266446"/>
                </a:cubicBezTo>
                <a:cubicBezTo>
                  <a:pt x="5821553" y="256985"/>
                  <a:pt x="5847652" y="247968"/>
                  <a:pt x="5873750" y="239268"/>
                </a:cubicBezTo>
                <a:cubicBezTo>
                  <a:pt x="5899848" y="230569"/>
                  <a:pt x="5925947" y="222250"/>
                  <a:pt x="5952046" y="214313"/>
                </a:cubicBezTo>
                <a:cubicBezTo>
                  <a:pt x="5978144" y="206312"/>
                  <a:pt x="6004306" y="198692"/>
                  <a:pt x="6030404" y="191389"/>
                </a:cubicBezTo>
                <a:cubicBezTo>
                  <a:pt x="6056503" y="184087"/>
                  <a:pt x="6082602" y="177165"/>
                  <a:pt x="6108700" y="170498"/>
                </a:cubicBezTo>
                <a:cubicBezTo>
                  <a:pt x="6134798" y="163830"/>
                  <a:pt x="6160897" y="157480"/>
                  <a:pt x="6186996" y="151384"/>
                </a:cubicBezTo>
                <a:cubicBezTo>
                  <a:pt x="6213094" y="145288"/>
                  <a:pt x="6239256" y="139510"/>
                  <a:pt x="6265354" y="133985"/>
                </a:cubicBezTo>
                <a:cubicBezTo>
                  <a:pt x="6291453" y="128461"/>
                  <a:pt x="6317552" y="123190"/>
                  <a:pt x="6343650" y="118174"/>
                </a:cubicBezTo>
                <a:cubicBezTo>
                  <a:pt x="6369748" y="113157"/>
                  <a:pt x="6395847" y="108331"/>
                  <a:pt x="6421946" y="103759"/>
                </a:cubicBezTo>
                <a:cubicBezTo>
                  <a:pt x="6448044" y="99187"/>
                  <a:pt x="6474206" y="94869"/>
                  <a:pt x="6500304" y="90742"/>
                </a:cubicBezTo>
                <a:cubicBezTo>
                  <a:pt x="6526403" y="86614"/>
                  <a:pt x="6552502" y="82677"/>
                  <a:pt x="6578600" y="78931"/>
                </a:cubicBezTo>
                <a:cubicBezTo>
                  <a:pt x="6604698" y="75121"/>
                  <a:pt x="6630797" y="71565"/>
                  <a:pt x="6656896" y="68199"/>
                </a:cubicBezTo>
                <a:cubicBezTo>
                  <a:pt x="6682994" y="64770"/>
                  <a:pt x="6709156" y="61595"/>
                  <a:pt x="6735254" y="58484"/>
                </a:cubicBezTo>
                <a:cubicBezTo>
                  <a:pt x="6761353" y="55436"/>
                  <a:pt x="6787452" y="52515"/>
                  <a:pt x="6813550" y="49721"/>
                </a:cubicBezTo>
                <a:cubicBezTo>
                  <a:pt x="6839648" y="46927"/>
                  <a:pt x="6865747" y="44323"/>
                  <a:pt x="6891846" y="41783"/>
                </a:cubicBezTo>
                <a:cubicBezTo>
                  <a:pt x="6917944" y="39307"/>
                  <a:pt x="6944106" y="36957"/>
                  <a:pt x="6970204" y="34671"/>
                </a:cubicBezTo>
                <a:cubicBezTo>
                  <a:pt x="6996303" y="32385"/>
                  <a:pt x="7022402" y="30290"/>
                  <a:pt x="7048500" y="28194"/>
                </a:cubicBezTo>
                <a:cubicBezTo>
                  <a:pt x="7074598" y="26162"/>
                  <a:pt x="7100697" y="24257"/>
                  <a:pt x="7126796" y="22416"/>
                </a:cubicBezTo>
                <a:cubicBezTo>
                  <a:pt x="7152894" y="20574"/>
                  <a:pt x="7179056" y="18796"/>
                  <a:pt x="7205154" y="17145"/>
                </a:cubicBezTo>
                <a:cubicBezTo>
                  <a:pt x="7231253" y="15494"/>
                  <a:pt x="7257352" y="13907"/>
                  <a:pt x="7283450" y="12446"/>
                </a:cubicBezTo>
                <a:cubicBezTo>
                  <a:pt x="7309548" y="10922"/>
                  <a:pt x="7335647" y="9525"/>
                  <a:pt x="7361746" y="8192"/>
                </a:cubicBezTo>
                <a:cubicBezTo>
                  <a:pt x="7387844" y="6858"/>
                  <a:pt x="7414006" y="5588"/>
                  <a:pt x="7440104" y="4382"/>
                </a:cubicBezTo>
                <a:cubicBezTo>
                  <a:pt x="7466203" y="3175"/>
                  <a:pt x="7492302" y="-2095"/>
                  <a:pt x="7518400" y="889"/>
                </a:cubicBezTo>
                <a:cubicBezTo>
                  <a:pt x="7544498" y="3937"/>
                  <a:pt x="7570597" y="15177"/>
                  <a:pt x="7596696" y="22416"/>
                </a:cubicBezTo>
                <a:cubicBezTo>
                  <a:pt x="7622794" y="29591"/>
                  <a:pt x="7648956" y="36894"/>
                  <a:pt x="7675054" y="44196"/>
                </a:cubicBezTo>
                <a:cubicBezTo>
                  <a:pt x="7701153" y="51499"/>
                  <a:pt x="7727252" y="58865"/>
                  <a:pt x="7753350" y="66294"/>
                </a:cubicBezTo>
                <a:cubicBezTo>
                  <a:pt x="7779448" y="73660"/>
                  <a:pt x="7805547" y="81153"/>
                  <a:pt x="7831646" y="88583"/>
                </a:cubicBezTo>
                <a:cubicBezTo>
                  <a:pt x="7857744" y="96076"/>
                  <a:pt x="7883906" y="103632"/>
                  <a:pt x="7910004" y="111189"/>
                </a:cubicBezTo>
                <a:cubicBezTo>
                  <a:pt x="7936103" y="118745"/>
                  <a:pt x="7962202" y="126302"/>
                  <a:pt x="7988300" y="133922"/>
                </a:cubicBezTo>
                <a:cubicBezTo>
                  <a:pt x="8014398" y="141542"/>
                  <a:pt x="8040497" y="149225"/>
                  <a:pt x="8066596" y="156909"/>
                </a:cubicBezTo>
                <a:cubicBezTo>
                  <a:pt x="8092694" y="164592"/>
                  <a:pt x="8118856" y="172276"/>
                  <a:pt x="8144954" y="180023"/>
                </a:cubicBezTo>
                <a:cubicBezTo>
                  <a:pt x="8171053" y="187706"/>
                  <a:pt x="8197152" y="195517"/>
                  <a:pt x="8223250" y="203264"/>
                </a:cubicBezTo>
                <a:cubicBezTo>
                  <a:pt x="8249348" y="211074"/>
                  <a:pt x="8275447" y="218821"/>
                  <a:pt x="8301546" y="226695"/>
                </a:cubicBezTo>
                <a:cubicBezTo>
                  <a:pt x="8327644" y="234506"/>
                  <a:pt x="8353806" y="242316"/>
                  <a:pt x="8379904" y="250190"/>
                </a:cubicBezTo>
                <a:cubicBezTo>
                  <a:pt x="8406003" y="258064"/>
                  <a:pt x="8432102" y="265938"/>
                  <a:pt x="8458200" y="273812"/>
                </a:cubicBezTo>
                <a:cubicBezTo>
                  <a:pt x="8484298" y="281686"/>
                  <a:pt x="8510397" y="289624"/>
                  <a:pt x="8536496" y="297561"/>
                </a:cubicBezTo>
                <a:cubicBezTo>
                  <a:pt x="8562594" y="305435"/>
                  <a:pt x="8588756" y="313436"/>
                  <a:pt x="8614854" y="321374"/>
                </a:cubicBezTo>
                <a:cubicBezTo>
                  <a:pt x="8640953" y="329311"/>
                  <a:pt x="8667052" y="337249"/>
                  <a:pt x="8693150" y="345250"/>
                </a:cubicBezTo>
                <a:cubicBezTo>
                  <a:pt x="8719248" y="353251"/>
                  <a:pt x="8745347" y="361188"/>
                  <a:pt x="8771446" y="369189"/>
                </a:cubicBezTo>
                <a:cubicBezTo>
                  <a:pt x="8797544" y="377190"/>
                  <a:pt x="8823706" y="385191"/>
                  <a:pt x="8849804" y="393256"/>
                </a:cubicBezTo>
                <a:cubicBezTo>
                  <a:pt x="8875903" y="401257"/>
                  <a:pt x="8902002" y="409258"/>
                  <a:pt x="8928100" y="417322"/>
                </a:cubicBezTo>
                <a:cubicBezTo>
                  <a:pt x="8954198" y="425387"/>
                  <a:pt x="8980297" y="433388"/>
                  <a:pt x="9006396" y="441452"/>
                </a:cubicBezTo>
                <a:cubicBezTo>
                  <a:pt x="9032494" y="449517"/>
                  <a:pt x="9058656" y="457581"/>
                  <a:pt x="9084754" y="465646"/>
                </a:cubicBezTo>
                <a:cubicBezTo>
                  <a:pt x="9110853" y="473710"/>
                  <a:pt x="9136952" y="481775"/>
                  <a:pt x="9163050" y="489839"/>
                </a:cubicBezTo>
                <a:cubicBezTo>
                  <a:pt x="9189148" y="497967"/>
                  <a:pt x="9215247" y="506032"/>
                  <a:pt x="9241346" y="514096"/>
                </a:cubicBezTo>
                <a:cubicBezTo>
                  <a:pt x="9267444" y="522224"/>
                  <a:pt x="9293606" y="530289"/>
                  <a:pt x="9319704" y="538417"/>
                </a:cubicBezTo>
                <a:cubicBezTo>
                  <a:pt x="9345803" y="546545"/>
                  <a:pt x="9384919" y="558673"/>
                  <a:pt x="9398000" y="562737"/>
                </a:cubicBezTo>
                <a:lnTo>
                  <a:pt x="9398000" y="2535809"/>
                </a:lnTo>
                <a:lnTo>
                  <a:pt x="0" y="2535809"/>
                </a:lnTo>
                <a:close/>
              </a:path>
            </a:pathLst>
          </a:custGeom>
          <a:gradFill rotWithShape="1">
            <a:gsLst>
              <a:gs pos="0">
                <a:srgbClr val="2E77C2">
                  <a:alpha val="30000"/>
                </a:srgbClr>
              </a:gs>
              <a:gs pos="100000">
                <a:srgbClr val="2E77C2">
                  <a:alpha val="400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curve"/>
          <p:cNvSpPr/>
          <p:nvPr/>
        </p:nvSpPr>
        <p:spPr>
          <a:xfrm>
            <a:off x="1397000" y="1909191"/>
            <a:ext cx="9398000" cy="2484811"/>
          </a:xfrm>
          <a:custGeom>
            <a:avLst/>
            <a:gdLst/>
            <a:ahLst/>
            <a:cxnLst/>
            <a:rect l="0" t="0" r="r" b="b"/>
            <a:pathLst>
              <a:path w="9398000" h="2484811">
                <a:moveTo>
                  <a:pt x="0" y="2484501"/>
                </a:moveTo>
                <a:cubicBezTo>
                  <a:pt x="13081" y="2484501"/>
                  <a:pt x="52197" y="2484501"/>
                  <a:pt x="78296" y="2484501"/>
                </a:cubicBezTo>
                <a:cubicBezTo>
                  <a:pt x="104394" y="2484501"/>
                  <a:pt x="130556" y="2484501"/>
                  <a:pt x="156654" y="2484501"/>
                </a:cubicBezTo>
                <a:cubicBezTo>
                  <a:pt x="182753" y="2484501"/>
                  <a:pt x="208851" y="2484501"/>
                  <a:pt x="234950" y="2484501"/>
                </a:cubicBezTo>
                <a:cubicBezTo>
                  <a:pt x="261049" y="2484501"/>
                  <a:pt x="287147" y="2484501"/>
                  <a:pt x="313245" y="2484501"/>
                </a:cubicBezTo>
                <a:cubicBezTo>
                  <a:pt x="339344" y="2484501"/>
                  <a:pt x="365506" y="2484501"/>
                  <a:pt x="391605" y="2484501"/>
                </a:cubicBezTo>
                <a:cubicBezTo>
                  <a:pt x="417703" y="2484501"/>
                  <a:pt x="443801" y="2484501"/>
                  <a:pt x="469900" y="2484501"/>
                </a:cubicBezTo>
                <a:cubicBezTo>
                  <a:pt x="495999" y="2484501"/>
                  <a:pt x="522097" y="2484501"/>
                  <a:pt x="548195" y="2484501"/>
                </a:cubicBezTo>
                <a:cubicBezTo>
                  <a:pt x="574294" y="2484501"/>
                  <a:pt x="600456" y="2484501"/>
                  <a:pt x="626555" y="2484501"/>
                </a:cubicBezTo>
                <a:cubicBezTo>
                  <a:pt x="652653" y="2484501"/>
                  <a:pt x="678751" y="2484501"/>
                  <a:pt x="704850" y="2484501"/>
                </a:cubicBezTo>
                <a:cubicBezTo>
                  <a:pt x="730949" y="2484501"/>
                  <a:pt x="757047" y="2484501"/>
                  <a:pt x="783145" y="2484501"/>
                </a:cubicBezTo>
                <a:cubicBezTo>
                  <a:pt x="809244" y="2484501"/>
                  <a:pt x="835406" y="2484501"/>
                  <a:pt x="861505" y="2484501"/>
                </a:cubicBezTo>
                <a:cubicBezTo>
                  <a:pt x="887603" y="2484501"/>
                  <a:pt x="913701" y="2484501"/>
                  <a:pt x="939800" y="2484501"/>
                </a:cubicBezTo>
                <a:cubicBezTo>
                  <a:pt x="965899" y="2484501"/>
                  <a:pt x="991997" y="2484501"/>
                  <a:pt x="1018095" y="2484501"/>
                </a:cubicBezTo>
                <a:cubicBezTo>
                  <a:pt x="1044194" y="2484501"/>
                  <a:pt x="1070356" y="2484501"/>
                  <a:pt x="1096454" y="2484501"/>
                </a:cubicBezTo>
                <a:cubicBezTo>
                  <a:pt x="1122553" y="2484501"/>
                  <a:pt x="1148652" y="2484501"/>
                  <a:pt x="1174750" y="2484501"/>
                </a:cubicBezTo>
                <a:cubicBezTo>
                  <a:pt x="1200848" y="2484501"/>
                  <a:pt x="1226947" y="2484501"/>
                  <a:pt x="1253046" y="2484501"/>
                </a:cubicBezTo>
                <a:cubicBezTo>
                  <a:pt x="1279144" y="2484501"/>
                  <a:pt x="1305306" y="2484501"/>
                  <a:pt x="1331404" y="2484501"/>
                </a:cubicBezTo>
                <a:cubicBezTo>
                  <a:pt x="1357503" y="2484501"/>
                  <a:pt x="1383602" y="2484501"/>
                  <a:pt x="1409700" y="2484501"/>
                </a:cubicBezTo>
                <a:cubicBezTo>
                  <a:pt x="1435798" y="2484501"/>
                  <a:pt x="1461897" y="2485200"/>
                  <a:pt x="1487996" y="2484501"/>
                </a:cubicBezTo>
                <a:cubicBezTo>
                  <a:pt x="1514094" y="2483803"/>
                  <a:pt x="1540256" y="2482088"/>
                  <a:pt x="1566354" y="2480374"/>
                </a:cubicBezTo>
                <a:cubicBezTo>
                  <a:pt x="1592453" y="2478659"/>
                  <a:pt x="1618552" y="2476373"/>
                  <a:pt x="1644650" y="2474214"/>
                </a:cubicBezTo>
                <a:cubicBezTo>
                  <a:pt x="1670748" y="2472055"/>
                  <a:pt x="1696847" y="2469769"/>
                  <a:pt x="1722946" y="2467356"/>
                </a:cubicBezTo>
                <a:cubicBezTo>
                  <a:pt x="1749044" y="2464943"/>
                  <a:pt x="1775206" y="2462403"/>
                  <a:pt x="1801304" y="2459736"/>
                </a:cubicBezTo>
                <a:cubicBezTo>
                  <a:pt x="1827403" y="2457069"/>
                  <a:pt x="1853502" y="2454275"/>
                  <a:pt x="1879600" y="2451354"/>
                </a:cubicBezTo>
                <a:cubicBezTo>
                  <a:pt x="1905698" y="2448370"/>
                  <a:pt x="1931797" y="2445322"/>
                  <a:pt x="1957896" y="2442020"/>
                </a:cubicBezTo>
                <a:cubicBezTo>
                  <a:pt x="1983994" y="2438781"/>
                  <a:pt x="2010156" y="2435352"/>
                  <a:pt x="2036254" y="2431733"/>
                </a:cubicBezTo>
                <a:cubicBezTo>
                  <a:pt x="2062353" y="2428113"/>
                  <a:pt x="2088452" y="2424367"/>
                  <a:pt x="2114550" y="2420366"/>
                </a:cubicBezTo>
                <a:cubicBezTo>
                  <a:pt x="2140648" y="2416366"/>
                  <a:pt x="2166747" y="2412238"/>
                  <a:pt x="2192846" y="2407793"/>
                </a:cubicBezTo>
                <a:cubicBezTo>
                  <a:pt x="2218944" y="2403412"/>
                  <a:pt x="2245106" y="2398840"/>
                  <a:pt x="2271204" y="2393950"/>
                </a:cubicBezTo>
                <a:cubicBezTo>
                  <a:pt x="2297303" y="2389124"/>
                  <a:pt x="2323402" y="2384044"/>
                  <a:pt x="2349500" y="2378710"/>
                </a:cubicBezTo>
                <a:cubicBezTo>
                  <a:pt x="2375598" y="2373440"/>
                  <a:pt x="2401697" y="2367852"/>
                  <a:pt x="2427796" y="2362010"/>
                </a:cubicBezTo>
                <a:cubicBezTo>
                  <a:pt x="2453894" y="2356104"/>
                  <a:pt x="2480056" y="2350008"/>
                  <a:pt x="2506154" y="2343595"/>
                </a:cubicBezTo>
                <a:cubicBezTo>
                  <a:pt x="2532253" y="2337181"/>
                  <a:pt x="2558352" y="2330450"/>
                  <a:pt x="2584450" y="2323402"/>
                </a:cubicBezTo>
                <a:cubicBezTo>
                  <a:pt x="2610548" y="2316353"/>
                  <a:pt x="2636647" y="2309051"/>
                  <a:pt x="2662746" y="2301304"/>
                </a:cubicBezTo>
                <a:cubicBezTo>
                  <a:pt x="2688844" y="2293620"/>
                  <a:pt x="2715006" y="2285619"/>
                  <a:pt x="2741104" y="2277237"/>
                </a:cubicBezTo>
                <a:cubicBezTo>
                  <a:pt x="2767203" y="2268792"/>
                  <a:pt x="2793302" y="2260029"/>
                  <a:pt x="2819400" y="2250885"/>
                </a:cubicBezTo>
                <a:cubicBezTo>
                  <a:pt x="2845498" y="2241741"/>
                  <a:pt x="2871597" y="2232216"/>
                  <a:pt x="2897696" y="2222310"/>
                </a:cubicBezTo>
                <a:cubicBezTo>
                  <a:pt x="2923794" y="2212340"/>
                  <a:pt x="2949956" y="2201990"/>
                  <a:pt x="2976054" y="2191258"/>
                </a:cubicBezTo>
                <a:cubicBezTo>
                  <a:pt x="3002153" y="2180463"/>
                  <a:pt x="3028252" y="2169287"/>
                  <a:pt x="3054350" y="2157603"/>
                </a:cubicBezTo>
                <a:cubicBezTo>
                  <a:pt x="3080448" y="2145983"/>
                  <a:pt x="3106547" y="2133918"/>
                  <a:pt x="3132646" y="2121345"/>
                </a:cubicBezTo>
                <a:cubicBezTo>
                  <a:pt x="3158744" y="2108772"/>
                  <a:pt x="3184906" y="2095818"/>
                  <a:pt x="3211004" y="2082292"/>
                </a:cubicBezTo>
                <a:cubicBezTo>
                  <a:pt x="3237103" y="2068830"/>
                  <a:pt x="3263202" y="2054860"/>
                  <a:pt x="3289300" y="2040446"/>
                </a:cubicBezTo>
                <a:cubicBezTo>
                  <a:pt x="3315398" y="2025968"/>
                  <a:pt x="3341497" y="2011109"/>
                  <a:pt x="3367596" y="1995678"/>
                </a:cubicBezTo>
                <a:cubicBezTo>
                  <a:pt x="3393694" y="1980311"/>
                  <a:pt x="3419856" y="1964436"/>
                  <a:pt x="3445954" y="1948053"/>
                </a:cubicBezTo>
                <a:cubicBezTo>
                  <a:pt x="3472053" y="1931670"/>
                  <a:pt x="3498152" y="1914843"/>
                  <a:pt x="3524250" y="1897507"/>
                </a:cubicBezTo>
                <a:cubicBezTo>
                  <a:pt x="3550348" y="1880235"/>
                  <a:pt x="3576447" y="1862392"/>
                  <a:pt x="3602546" y="1844167"/>
                </a:cubicBezTo>
                <a:cubicBezTo>
                  <a:pt x="3628644" y="1825943"/>
                  <a:pt x="3654806" y="1807210"/>
                  <a:pt x="3680904" y="1788097"/>
                </a:cubicBezTo>
                <a:cubicBezTo>
                  <a:pt x="3707003" y="1768983"/>
                  <a:pt x="3733102" y="1749425"/>
                  <a:pt x="3759200" y="1729423"/>
                </a:cubicBezTo>
                <a:cubicBezTo>
                  <a:pt x="3785298" y="1709484"/>
                  <a:pt x="3811397" y="1689100"/>
                  <a:pt x="3837496" y="1668399"/>
                </a:cubicBezTo>
                <a:cubicBezTo>
                  <a:pt x="3863594" y="1647698"/>
                  <a:pt x="3889756" y="1626553"/>
                  <a:pt x="3915854" y="1605153"/>
                </a:cubicBezTo>
                <a:cubicBezTo>
                  <a:pt x="3941953" y="1583754"/>
                  <a:pt x="3968052" y="1561973"/>
                  <a:pt x="3994150" y="1540002"/>
                </a:cubicBezTo>
                <a:cubicBezTo>
                  <a:pt x="4020248" y="1518031"/>
                  <a:pt x="4046347" y="1495679"/>
                  <a:pt x="4072446" y="1473264"/>
                </a:cubicBezTo>
                <a:cubicBezTo>
                  <a:pt x="4098544" y="1450785"/>
                  <a:pt x="4124706" y="1428052"/>
                  <a:pt x="4150804" y="1405255"/>
                </a:cubicBezTo>
                <a:cubicBezTo>
                  <a:pt x="4176903" y="1382459"/>
                  <a:pt x="4203002" y="1359408"/>
                  <a:pt x="4229100" y="1336358"/>
                </a:cubicBezTo>
                <a:cubicBezTo>
                  <a:pt x="4255198" y="1313307"/>
                  <a:pt x="4281297" y="1290130"/>
                  <a:pt x="4307396" y="1267016"/>
                </a:cubicBezTo>
                <a:cubicBezTo>
                  <a:pt x="4333494" y="1243902"/>
                  <a:pt x="4359656" y="1220661"/>
                  <a:pt x="4385754" y="1197547"/>
                </a:cubicBezTo>
                <a:cubicBezTo>
                  <a:pt x="4411853" y="1174496"/>
                  <a:pt x="4437952" y="1151382"/>
                  <a:pt x="4464050" y="1128459"/>
                </a:cubicBezTo>
                <a:cubicBezTo>
                  <a:pt x="4490148" y="1105535"/>
                  <a:pt x="4516247" y="1082675"/>
                  <a:pt x="4542346" y="1060069"/>
                </a:cubicBezTo>
                <a:cubicBezTo>
                  <a:pt x="4568444" y="1037400"/>
                  <a:pt x="4594606" y="1014921"/>
                  <a:pt x="4620704" y="992759"/>
                </a:cubicBezTo>
                <a:cubicBezTo>
                  <a:pt x="4646803" y="970598"/>
                  <a:pt x="4672902" y="948563"/>
                  <a:pt x="4699000" y="926910"/>
                </a:cubicBezTo>
                <a:cubicBezTo>
                  <a:pt x="4725098" y="905256"/>
                  <a:pt x="4751197" y="883857"/>
                  <a:pt x="4777296" y="862902"/>
                </a:cubicBezTo>
                <a:cubicBezTo>
                  <a:pt x="4803394" y="841883"/>
                  <a:pt x="4829556" y="821182"/>
                  <a:pt x="4855654" y="800926"/>
                </a:cubicBezTo>
                <a:cubicBezTo>
                  <a:pt x="4881753" y="780669"/>
                  <a:pt x="4907852" y="760730"/>
                  <a:pt x="4933950" y="741299"/>
                </a:cubicBezTo>
                <a:cubicBezTo>
                  <a:pt x="4960048" y="721805"/>
                  <a:pt x="4986147" y="702755"/>
                  <a:pt x="5012246" y="684149"/>
                </a:cubicBezTo>
                <a:cubicBezTo>
                  <a:pt x="5038344" y="665544"/>
                  <a:pt x="5064506" y="647383"/>
                  <a:pt x="5090604" y="629666"/>
                </a:cubicBezTo>
                <a:cubicBezTo>
                  <a:pt x="5116703" y="612013"/>
                  <a:pt x="5142802" y="594805"/>
                  <a:pt x="5168900" y="578041"/>
                </a:cubicBezTo>
                <a:cubicBezTo>
                  <a:pt x="5194998" y="561277"/>
                  <a:pt x="5221097" y="545021"/>
                  <a:pt x="5247196" y="529209"/>
                </a:cubicBezTo>
                <a:cubicBezTo>
                  <a:pt x="5273294" y="513461"/>
                  <a:pt x="5299456" y="498158"/>
                  <a:pt x="5325554" y="483362"/>
                </a:cubicBezTo>
                <a:cubicBezTo>
                  <a:pt x="5351653" y="468503"/>
                  <a:pt x="5377752" y="454152"/>
                  <a:pt x="5403850" y="440309"/>
                </a:cubicBezTo>
                <a:cubicBezTo>
                  <a:pt x="5429948" y="426466"/>
                  <a:pt x="5456047" y="413068"/>
                  <a:pt x="5482146" y="400177"/>
                </a:cubicBezTo>
                <a:cubicBezTo>
                  <a:pt x="5508244" y="387223"/>
                  <a:pt x="5534406" y="374777"/>
                  <a:pt x="5560504" y="362776"/>
                </a:cubicBezTo>
                <a:cubicBezTo>
                  <a:pt x="5586603" y="350774"/>
                  <a:pt x="5612702" y="339217"/>
                  <a:pt x="5638800" y="328105"/>
                </a:cubicBezTo>
                <a:cubicBezTo>
                  <a:pt x="5664898" y="316992"/>
                  <a:pt x="5690997" y="306324"/>
                  <a:pt x="5717096" y="296037"/>
                </a:cubicBezTo>
                <a:cubicBezTo>
                  <a:pt x="5743194" y="285750"/>
                  <a:pt x="5769356" y="275908"/>
                  <a:pt x="5795454" y="266446"/>
                </a:cubicBezTo>
                <a:cubicBezTo>
                  <a:pt x="5821553" y="256985"/>
                  <a:pt x="5847652" y="247968"/>
                  <a:pt x="5873750" y="239268"/>
                </a:cubicBezTo>
                <a:cubicBezTo>
                  <a:pt x="5899848" y="230569"/>
                  <a:pt x="5925947" y="222250"/>
                  <a:pt x="5952046" y="214313"/>
                </a:cubicBezTo>
                <a:cubicBezTo>
                  <a:pt x="5978144" y="206312"/>
                  <a:pt x="6004306" y="198692"/>
                  <a:pt x="6030404" y="191389"/>
                </a:cubicBezTo>
                <a:cubicBezTo>
                  <a:pt x="6056503" y="184087"/>
                  <a:pt x="6082602" y="177165"/>
                  <a:pt x="6108700" y="170498"/>
                </a:cubicBezTo>
                <a:cubicBezTo>
                  <a:pt x="6134798" y="163830"/>
                  <a:pt x="6160897" y="157480"/>
                  <a:pt x="6186996" y="151384"/>
                </a:cubicBezTo>
                <a:cubicBezTo>
                  <a:pt x="6213094" y="145288"/>
                  <a:pt x="6239256" y="139510"/>
                  <a:pt x="6265354" y="133985"/>
                </a:cubicBezTo>
                <a:cubicBezTo>
                  <a:pt x="6291453" y="128461"/>
                  <a:pt x="6317552" y="123190"/>
                  <a:pt x="6343650" y="118174"/>
                </a:cubicBezTo>
                <a:cubicBezTo>
                  <a:pt x="6369748" y="113157"/>
                  <a:pt x="6395847" y="108331"/>
                  <a:pt x="6421946" y="103759"/>
                </a:cubicBezTo>
                <a:cubicBezTo>
                  <a:pt x="6448044" y="99187"/>
                  <a:pt x="6474206" y="94869"/>
                  <a:pt x="6500304" y="90742"/>
                </a:cubicBezTo>
                <a:cubicBezTo>
                  <a:pt x="6526403" y="86614"/>
                  <a:pt x="6552502" y="82677"/>
                  <a:pt x="6578600" y="78931"/>
                </a:cubicBezTo>
                <a:cubicBezTo>
                  <a:pt x="6604698" y="75121"/>
                  <a:pt x="6630797" y="71565"/>
                  <a:pt x="6656896" y="68199"/>
                </a:cubicBezTo>
                <a:cubicBezTo>
                  <a:pt x="6682994" y="64770"/>
                  <a:pt x="6709156" y="61595"/>
                  <a:pt x="6735254" y="58484"/>
                </a:cubicBezTo>
                <a:cubicBezTo>
                  <a:pt x="6761353" y="55436"/>
                  <a:pt x="6787452" y="52515"/>
                  <a:pt x="6813550" y="49721"/>
                </a:cubicBezTo>
                <a:cubicBezTo>
                  <a:pt x="6839648" y="46927"/>
                  <a:pt x="6865747" y="44323"/>
                  <a:pt x="6891846" y="41783"/>
                </a:cubicBezTo>
                <a:cubicBezTo>
                  <a:pt x="6917944" y="39307"/>
                  <a:pt x="6944106" y="36957"/>
                  <a:pt x="6970204" y="34671"/>
                </a:cubicBezTo>
                <a:cubicBezTo>
                  <a:pt x="6996303" y="32385"/>
                  <a:pt x="7022402" y="30290"/>
                  <a:pt x="7048500" y="28194"/>
                </a:cubicBezTo>
                <a:cubicBezTo>
                  <a:pt x="7074598" y="26162"/>
                  <a:pt x="7100697" y="24257"/>
                  <a:pt x="7126796" y="22416"/>
                </a:cubicBezTo>
                <a:cubicBezTo>
                  <a:pt x="7152894" y="20574"/>
                  <a:pt x="7179056" y="18796"/>
                  <a:pt x="7205154" y="17145"/>
                </a:cubicBezTo>
                <a:cubicBezTo>
                  <a:pt x="7231253" y="15494"/>
                  <a:pt x="7257352" y="13907"/>
                  <a:pt x="7283450" y="12446"/>
                </a:cubicBezTo>
                <a:cubicBezTo>
                  <a:pt x="7309548" y="10922"/>
                  <a:pt x="7335647" y="9525"/>
                  <a:pt x="7361746" y="8192"/>
                </a:cubicBezTo>
                <a:cubicBezTo>
                  <a:pt x="7387844" y="6858"/>
                  <a:pt x="7414006" y="5588"/>
                  <a:pt x="7440104" y="4382"/>
                </a:cubicBezTo>
                <a:cubicBezTo>
                  <a:pt x="7466203" y="3175"/>
                  <a:pt x="7492302" y="-2095"/>
                  <a:pt x="7518400" y="889"/>
                </a:cubicBezTo>
                <a:cubicBezTo>
                  <a:pt x="7544498" y="3937"/>
                  <a:pt x="7570597" y="15177"/>
                  <a:pt x="7596696" y="22416"/>
                </a:cubicBezTo>
                <a:cubicBezTo>
                  <a:pt x="7622794" y="29591"/>
                  <a:pt x="7648956" y="36894"/>
                  <a:pt x="7675054" y="44196"/>
                </a:cubicBezTo>
                <a:cubicBezTo>
                  <a:pt x="7701153" y="51499"/>
                  <a:pt x="7727252" y="58865"/>
                  <a:pt x="7753350" y="66294"/>
                </a:cubicBezTo>
                <a:cubicBezTo>
                  <a:pt x="7779448" y="73660"/>
                  <a:pt x="7805547" y="81153"/>
                  <a:pt x="7831646" y="88583"/>
                </a:cubicBezTo>
                <a:cubicBezTo>
                  <a:pt x="7857744" y="96076"/>
                  <a:pt x="7883906" y="103632"/>
                  <a:pt x="7910004" y="111189"/>
                </a:cubicBezTo>
                <a:cubicBezTo>
                  <a:pt x="7936103" y="118745"/>
                  <a:pt x="7962202" y="126302"/>
                  <a:pt x="7988300" y="133922"/>
                </a:cubicBezTo>
                <a:cubicBezTo>
                  <a:pt x="8014398" y="141542"/>
                  <a:pt x="8040497" y="149225"/>
                  <a:pt x="8066596" y="156909"/>
                </a:cubicBezTo>
                <a:cubicBezTo>
                  <a:pt x="8092694" y="164592"/>
                  <a:pt x="8118856" y="172276"/>
                  <a:pt x="8144954" y="180023"/>
                </a:cubicBezTo>
                <a:cubicBezTo>
                  <a:pt x="8171053" y="187706"/>
                  <a:pt x="8197152" y="195517"/>
                  <a:pt x="8223250" y="203264"/>
                </a:cubicBezTo>
                <a:cubicBezTo>
                  <a:pt x="8249348" y="211074"/>
                  <a:pt x="8275447" y="218821"/>
                  <a:pt x="8301546" y="226695"/>
                </a:cubicBezTo>
                <a:cubicBezTo>
                  <a:pt x="8327644" y="234506"/>
                  <a:pt x="8353806" y="242316"/>
                  <a:pt x="8379904" y="250190"/>
                </a:cubicBezTo>
                <a:cubicBezTo>
                  <a:pt x="8406003" y="258064"/>
                  <a:pt x="8432102" y="265938"/>
                  <a:pt x="8458200" y="273812"/>
                </a:cubicBezTo>
                <a:cubicBezTo>
                  <a:pt x="8484298" y="281686"/>
                  <a:pt x="8510397" y="289624"/>
                  <a:pt x="8536496" y="297561"/>
                </a:cubicBezTo>
                <a:cubicBezTo>
                  <a:pt x="8562594" y="305435"/>
                  <a:pt x="8588756" y="313436"/>
                  <a:pt x="8614854" y="321374"/>
                </a:cubicBezTo>
                <a:cubicBezTo>
                  <a:pt x="8640953" y="329311"/>
                  <a:pt x="8667052" y="337249"/>
                  <a:pt x="8693150" y="345250"/>
                </a:cubicBezTo>
                <a:cubicBezTo>
                  <a:pt x="8719248" y="353251"/>
                  <a:pt x="8745347" y="361188"/>
                  <a:pt x="8771446" y="369189"/>
                </a:cubicBezTo>
                <a:cubicBezTo>
                  <a:pt x="8797544" y="377190"/>
                  <a:pt x="8823706" y="385191"/>
                  <a:pt x="8849804" y="393256"/>
                </a:cubicBezTo>
                <a:cubicBezTo>
                  <a:pt x="8875903" y="401257"/>
                  <a:pt x="8902002" y="409258"/>
                  <a:pt x="8928100" y="417322"/>
                </a:cubicBezTo>
                <a:cubicBezTo>
                  <a:pt x="8954198" y="425387"/>
                  <a:pt x="8980297" y="433388"/>
                  <a:pt x="9006396" y="441452"/>
                </a:cubicBezTo>
                <a:cubicBezTo>
                  <a:pt x="9032494" y="449517"/>
                  <a:pt x="9058656" y="457581"/>
                  <a:pt x="9084754" y="465646"/>
                </a:cubicBezTo>
                <a:cubicBezTo>
                  <a:pt x="9110853" y="473710"/>
                  <a:pt x="9136952" y="481775"/>
                  <a:pt x="9163050" y="489839"/>
                </a:cubicBezTo>
                <a:cubicBezTo>
                  <a:pt x="9189148" y="497967"/>
                  <a:pt x="9215247" y="506032"/>
                  <a:pt x="9241346" y="514096"/>
                </a:cubicBezTo>
                <a:cubicBezTo>
                  <a:pt x="9267444" y="522224"/>
                  <a:pt x="9293606" y="530289"/>
                  <a:pt x="9319704" y="538417"/>
                </a:cubicBezTo>
                <a:cubicBezTo>
                  <a:pt x="9345803" y="546545"/>
                  <a:pt x="9384919" y="558673"/>
                  <a:pt x="9398000" y="562737"/>
                </a:cubicBezTo>
              </a:path>
            </a:pathLst>
          </a:custGeom>
          <a:noFill/>
          <a:ln w="254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dot-1"/>
          <p:cNvSpPr/>
          <p:nvPr/>
        </p:nvSpPr>
        <p:spPr>
          <a:xfrm>
            <a:off x="2489200" y="4311142"/>
            <a:ext cx="165100" cy="165100"/>
          </a:xfrm>
          <a:prstGeom prst="ellipse">
            <a:avLst/>
          </a:prstGeom>
          <a:solidFill>
            <a:srgbClr val="FFFFFF"/>
          </a:solidFill>
          <a:ln w="21590" cap="rnd">
            <a:solidFill>
              <a:srgbClr val="0B3E8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25" name="lead-1"/>
          <p:cNvCxnSpPr/>
          <p:nvPr/>
        </p:nvCxnSpPr>
        <p:spPr>
          <a:xfrm flipV="1">
            <a:off x="2571750" y="4012692"/>
            <a:ext cx="0" cy="279400"/>
          </a:xfrm>
          <a:prstGeom prst="line">
            <a:avLst/>
          </a:prstGeom>
          <a:ln w="8890" cap="rnd">
            <a:solidFill>
              <a:srgbClr val="0B3E8F">
                <a:alpha val="4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lab-1"/>
          <p:cNvSpPr/>
          <p:nvPr/>
        </p:nvSpPr>
        <p:spPr>
          <a:xfrm>
            <a:off x="1987550" y="3707892"/>
            <a:ext cx="1168400" cy="304800"/>
          </a:xfrm>
          <a:custGeom>
            <a:avLst/>
            <a:gdLst/>
            <a:ahLst/>
            <a:cxnLst/>
            <a:rect l="0" t="0" r="r" b="b"/>
            <a:pathLst>
              <a:path w="1168400" h="304800">
                <a:moveTo>
                  <a:pt x="152400" y="0"/>
                </a:moveTo>
                <a:lnTo>
                  <a:pt x="1016000" y="0"/>
                </a:lnTo>
                <a:cubicBezTo>
                  <a:pt x="1100201" y="0"/>
                  <a:pt x="1168400" y="68199"/>
                  <a:pt x="1168400" y="152400"/>
                </a:cubicBezTo>
                <a:lnTo>
                  <a:pt x="1168400" y="152400"/>
                </a:lnTo>
                <a:cubicBezTo>
                  <a:pt x="1168400" y="236601"/>
                  <a:pt x="1100201" y="304800"/>
                  <a:pt x="1016000" y="304800"/>
                </a:cubicBezTo>
                <a:lnTo>
                  <a:pt x="152400" y="304800"/>
                </a:lnTo>
                <a:cubicBezTo>
                  <a:pt x="68199" y="304800"/>
                  <a:pt x="0" y="236601"/>
                  <a:pt x="0" y="1524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labn-1"/>
          <p:cNvSpPr txBox="1"/>
          <p:nvPr/>
        </p:nvSpPr>
        <p:spPr>
          <a:xfrm>
            <a:off x="2294572" y="3746405"/>
            <a:ext cx="55435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9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导入期</a:t>
            </a:r>
          </a:p>
        </p:txBody>
      </p:sp>
      <p:sp>
        <p:nvSpPr>
          <p:cNvPr id="28" name="labe-1"/>
          <p:cNvSpPr txBox="1"/>
          <p:nvPr/>
        </p:nvSpPr>
        <p:spPr>
          <a:xfrm>
            <a:off x="2133981" y="4563808"/>
            <a:ext cx="87553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30">
                <a:solidFill>
                  <a:srgbClr val="7E93AE"/>
                </a:solidFill>
                <a:latin typeface="Arial"/>
                <a:ea typeface="Arial"/>
                <a:cs typeface="Arial"/>
              </a:rPr>
              <a:t>INTRODUCTION</a:t>
            </a:r>
          </a:p>
        </p:txBody>
      </p:sp>
      <p:sp>
        <p:nvSpPr>
          <p:cNvPr id="29" name="card-1"/>
          <p:cNvSpPr/>
          <p:nvPr/>
        </p:nvSpPr>
        <p:spPr>
          <a:xfrm>
            <a:off x="1473200" y="4699000"/>
            <a:ext cx="2197100" cy="1270000"/>
          </a:xfrm>
          <a:custGeom>
            <a:avLst/>
            <a:gdLst/>
            <a:ahLst/>
            <a:cxnLst/>
            <a:rect l="0" t="0" r="r" b="b"/>
            <a:pathLst>
              <a:path w="2197100" h="1270000">
                <a:moveTo>
                  <a:pt x="114300" y="0"/>
                </a:moveTo>
                <a:lnTo>
                  <a:pt x="2082800" y="0"/>
                </a:lnTo>
                <a:cubicBezTo>
                  <a:pt x="2145919" y="0"/>
                  <a:pt x="2197100" y="51181"/>
                  <a:pt x="2197100" y="114300"/>
                </a:cubicBezTo>
                <a:lnTo>
                  <a:pt x="2197100" y="1155700"/>
                </a:lnTo>
                <a:cubicBezTo>
                  <a:pt x="2197100" y="1218819"/>
                  <a:pt x="2145919" y="1270000"/>
                  <a:pt x="2082800" y="1270000"/>
                </a:cubicBezTo>
                <a:lnTo>
                  <a:pt x="114300" y="1270000"/>
                </a:lnTo>
                <a:cubicBezTo>
                  <a:pt x="51181" y="1270000"/>
                  <a:pt x="0" y="1218819"/>
                  <a:pt x="0" y="1155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cap-1"/>
          <p:cNvSpPr/>
          <p:nvPr/>
        </p:nvSpPr>
        <p:spPr>
          <a:xfrm>
            <a:off x="1473200" y="4699000"/>
            <a:ext cx="2197100" cy="44450"/>
          </a:xfrm>
          <a:custGeom>
            <a:avLst/>
            <a:gdLst/>
            <a:ahLst/>
            <a:cxnLst/>
            <a:rect l="0" t="0" r="r" b="b"/>
            <a:pathLst>
              <a:path w="2197100" h="44450">
                <a:moveTo>
                  <a:pt x="22225" y="0"/>
                </a:moveTo>
                <a:lnTo>
                  <a:pt x="2174875" y="0"/>
                </a:lnTo>
                <a:cubicBezTo>
                  <a:pt x="2187130" y="0"/>
                  <a:pt x="2197100" y="9970"/>
                  <a:pt x="2197100" y="22225"/>
                </a:cubicBezTo>
                <a:lnTo>
                  <a:pt x="2197100" y="22225"/>
                </a:lnTo>
                <a:cubicBezTo>
                  <a:pt x="2197100" y="34480"/>
                  <a:pt x="2187130" y="44450"/>
                  <a:pt x="2174875" y="44450"/>
                </a:cubicBezTo>
                <a:lnTo>
                  <a:pt x="22225" y="44450"/>
                </a:lnTo>
                <a:cubicBezTo>
                  <a:pt x="9969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70"/>
                  <a:pt x="9969" y="0"/>
                  <a:pt x="2222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icon-rocket"/>
          <p:cNvSpPr/>
          <p:nvPr/>
        </p:nvSpPr>
        <p:spPr>
          <a:xfrm>
            <a:off x="1703705" y="4938586"/>
            <a:ext cx="97790" cy="123000"/>
          </a:xfrm>
          <a:custGeom>
            <a:avLst/>
            <a:gdLst/>
            <a:ahLst/>
            <a:cxnLst/>
            <a:rect l="0" t="0" r="r" b="b"/>
            <a:pathLst>
              <a:path w="97790" h="123000">
                <a:moveTo>
                  <a:pt x="48895" y="0"/>
                </a:moveTo>
                <a:cubicBezTo>
                  <a:pt x="71120" y="16319"/>
                  <a:pt x="82994" y="41529"/>
                  <a:pt x="82994" y="68199"/>
                </a:cubicBezTo>
                <a:lnTo>
                  <a:pt x="66675" y="94869"/>
                </a:lnTo>
                <a:lnTo>
                  <a:pt x="31115" y="94869"/>
                </a:lnTo>
                <a:lnTo>
                  <a:pt x="14795" y="68199"/>
                </a:lnTo>
                <a:cubicBezTo>
                  <a:pt x="14795" y="41529"/>
                  <a:pt x="26670" y="16319"/>
                  <a:pt x="48895" y="0"/>
                </a:cubicBezTo>
                <a:close/>
                <a:moveTo>
                  <a:pt x="14795" y="88900"/>
                </a:moveTo>
                <a:lnTo>
                  <a:pt x="0" y="123000"/>
                </a:lnTo>
                <a:lnTo>
                  <a:pt x="31115" y="111125"/>
                </a:lnTo>
                <a:moveTo>
                  <a:pt x="82994" y="88900"/>
                </a:moveTo>
                <a:lnTo>
                  <a:pt x="97790" y="123000"/>
                </a:lnTo>
                <a:lnTo>
                  <a:pt x="66675" y="111125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ct-1"/>
          <p:cNvSpPr txBox="1"/>
          <p:nvPr/>
        </p:nvSpPr>
        <p:spPr>
          <a:xfrm>
            <a:off x="1952498" y="4889913"/>
            <a:ext cx="1120140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打样本、找场景</a:t>
            </a:r>
          </a:p>
        </p:txBody>
      </p:sp>
      <p:sp>
        <p:nvSpPr>
          <p:cNvPr id="33" name="cd-1-1"/>
          <p:cNvSpPr/>
          <p:nvPr/>
        </p:nvSpPr>
        <p:spPr>
          <a:xfrm>
            <a:off x="1667510" y="5255260"/>
            <a:ext cx="43180" cy="43180"/>
          </a:xfrm>
          <a:prstGeom prst="ellipse">
            <a:avLst/>
          </a:prstGeom>
          <a:solidFill>
            <a:srgbClr val="0B3E8F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ca-1-1"/>
          <p:cNvSpPr txBox="1"/>
          <p:nvPr/>
        </p:nvSpPr>
        <p:spPr>
          <a:xfrm>
            <a:off x="1791589" y="5187045"/>
            <a:ext cx="961961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聚焦 3 个标杆客户</a:t>
            </a:r>
          </a:p>
        </p:txBody>
      </p:sp>
      <p:sp>
        <p:nvSpPr>
          <p:cNvPr id="35" name="cd-1-2"/>
          <p:cNvSpPr/>
          <p:nvPr/>
        </p:nvSpPr>
        <p:spPr>
          <a:xfrm>
            <a:off x="1667510" y="5509260"/>
            <a:ext cx="43180" cy="43180"/>
          </a:xfrm>
          <a:prstGeom prst="ellipse">
            <a:avLst/>
          </a:prstGeom>
          <a:solidFill>
            <a:srgbClr val="0B3E8F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ca-1-2"/>
          <p:cNvSpPr txBox="1"/>
          <p:nvPr/>
        </p:nvSpPr>
        <p:spPr>
          <a:xfrm>
            <a:off x="1791589" y="5441045"/>
            <a:ext cx="69056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容忍毛利偏低</a:t>
            </a:r>
          </a:p>
        </p:txBody>
      </p:sp>
      <p:sp>
        <p:nvSpPr>
          <p:cNvPr id="37" name="cno-1"/>
          <p:cNvSpPr txBox="1"/>
          <p:nvPr/>
        </p:nvSpPr>
        <p:spPr>
          <a:xfrm>
            <a:off x="3155950" y="4793932"/>
            <a:ext cx="38481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500" b="1">
                <a:solidFill>
                  <a:srgbClr val="0B3E8F">
                    <a:alpha val="14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38" name="dot-2"/>
          <p:cNvSpPr/>
          <p:nvPr/>
        </p:nvSpPr>
        <p:spPr>
          <a:xfrm>
            <a:off x="4838700" y="3724168"/>
            <a:ext cx="165100" cy="165100"/>
          </a:xfrm>
          <a:prstGeom prst="ellipse">
            <a:avLst/>
          </a:prstGeom>
          <a:solidFill>
            <a:srgbClr val="FFFFFF"/>
          </a:solidFill>
          <a:ln w="21590" cap="rnd">
            <a:solidFill>
              <a:srgbClr val="1B5AA8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39" name="lead-2"/>
          <p:cNvCxnSpPr/>
          <p:nvPr/>
        </p:nvCxnSpPr>
        <p:spPr>
          <a:xfrm flipV="1">
            <a:off x="4921250" y="3425718"/>
            <a:ext cx="0" cy="279400"/>
          </a:xfrm>
          <a:prstGeom prst="line">
            <a:avLst/>
          </a:prstGeom>
          <a:ln w="8890" cap="rnd">
            <a:solidFill>
              <a:srgbClr val="1B5AA8">
                <a:alpha val="4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lab-2"/>
          <p:cNvSpPr/>
          <p:nvPr/>
        </p:nvSpPr>
        <p:spPr>
          <a:xfrm>
            <a:off x="4337050" y="3120898"/>
            <a:ext cx="1168400" cy="304800"/>
          </a:xfrm>
          <a:custGeom>
            <a:avLst/>
            <a:gdLst/>
            <a:ahLst/>
            <a:cxnLst/>
            <a:rect l="0" t="0" r="r" b="b"/>
            <a:pathLst>
              <a:path w="1168400" h="304800">
                <a:moveTo>
                  <a:pt x="152400" y="0"/>
                </a:moveTo>
                <a:lnTo>
                  <a:pt x="1016000" y="0"/>
                </a:lnTo>
                <a:cubicBezTo>
                  <a:pt x="1100201" y="0"/>
                  <a:pt x="1168400" y="68262"/>
                  <a:pt x="1168400" y="152400"/>
                </a:cubicBezTo>
                <a:lnTo>
                  <a:pt x="1168400" y="152400"/>
                </a:lnTo>
                <a:cubicBezTo>
                  <a:pt x="1168400" y="236601"/>
                  <a:pt x="1100201" y="304800"/>
                  <a:pt x="1016000" y="304800"/>
                </a:cubicBezTo>
                <a:lnTo>
                  <a:pt x="152400" y="304800"/>
                </a:lnTo>
                <a:cubicBezTo>
                  <a:pt x="68199" y="304800"/>
                  <a:pt x="0" y="236601"/>
                  <a:pt x="0" y="152400"/>
                </a:cubicBezTo>
                <a:lnTo>
                  <a:pt x="0" y="152400"/>
                </a:lnTo>
                <a:cubicBezTo>
                  <a:pt x="0" y="68262"/>
                  <a:pt x="68199" y="0"/>
                  <a:pt x="1524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labn-2"/>
          <p:cNvSpPr txBox="1"/>
          <p:nvPr/>
        </p:nvSpPr>
        <p:spPr>
          <a:xfrm>
            <a:off x="4644072" y="3159430"/>
            <a:ext cx="55435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90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成长期</a:t>
            </a:r>
          </a:p>
        </p:txBody>
      </p:sp>
      <p:sp>
        <p:nvSpPr>
          <p:cNvPr id="42" name="labe-2"/>
          <p:cNvSpPr txBox="1"/>
          <p:nvPr/>
        </p:nvSpPr>
        <p:spPr>
          <a:xfrm>
            <a:off x="4682363" y="4563808"/>
            <a:ext cx="47777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30">
                <a:solidFill>
                  <a:srgbClr val="7E93AE"/>
                </a:solidFill>
                <a:latin typeface="Arial"/>
                <a:ea typeface="Arial"/>
                <a:cs typeface="Arial"/>
              </a:rPr>
              <a:t>GROWTH</a:t>
            </a:r>
          </a:p>
        </p:txBody>
      </p:sp>
      <p:sp>
        <p:nvSpPr>
          <p:cNvPr id="43" name="card-2"/>
          <p:cNvSpPr/>
          <p:nvPr/>
        </p:nvSpPr>
        <p:spPr>
          <a:xfrm>
            <a:off x="3822700" y="4699000"/>
            <a:ext cx="2197100" cy="1270000"/>
          </a:xfrm>
          <a:custGeom>
            <a:avLst/>
            <a:gdLst/>
            <a:ahLst/>
            <a:cxnLst/>
            <a:rect l="0" t="0" r="r" b="b"/>
            <a:pathLst>
              <a:path w="2197100" h="1270000">
                <a:moveTo>
                  <a:pt x="114300" y="0"/>
                </a:moveTo>
                <a:lnTo>
                  <a:pt x="2082800" y="0"/>
                </a:lnTo>
                <a:cubicBezTo>
                  <a:pt x="2145919" y="0"/>
                  <a:pt x="2197100" y="51181"/>
                  <a:pt x="2197100" y="114300"/>
                </a:cubicBezTo>
                <a:lnTo>
                  <a:pt x="2197100" y="1155700"/>
                </a:lnTo>
                <a:cubicBezTo>
                  <a:pt x="2197100" y="1218819"/>
                  <a:pt x="2145919" y="1270000"/>
                  <a:pt x="2082800" y="1270000"/>
                </a:cubicBezTo>
                <a:lnTo>
                  <a:pt x="114300" y="1270000"/>
                </a:lnTo>
                <a:cubicBezTo>
                  <a:pt x="51181" y="1270000"/>
                  <a:pt x="0" y="1218819"/>
                  <a:pt x="0" y="1155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cap-2"/>
          <p:cNvSpPr/>
          <p:nvPr/>
        </p:nvSpPr>
        <p:spPr>
          <a:xfrm>
            <a:off x="3822700" y="4699000"/>
            <a:ext cx="2197100" cy="44450"/>
          </a:xfrm>
          <a:custGeom>
            <a:avLst/>
            <a:gdLst/>
            <a:ahLst/>
            <a:cxnLst/>
            <a:rect l="0" t="0" r="r" b="b"/>
            <a:pathLst>
              <a:path w="2197100" h="44450">
                <a:moveTo>
                  <a:pt x="22225" y="0"/>
                </a:moveTo>
                <a:lnTo>
                  <a:pt x="2174875" y="0"/>
                </a:lnTo>
                <a:cubicBezTo>
                  <a:pt x="2187130" y="0"/>
                  <a:pt x="2197100" y="9970"/>
                  <a:pt x="2197100" y="22225"/>
                </a:cubicBezTo>
                <a:lnTo>
                  <a:pt x="2197100" y="22225"/>
                </a:lnTo>
                <a:cubicBezTo>
                  <a:pt x="2197100" y="34480"/>
                  <a:pt x="2187130" y="44450"/>
                  <a:pt x="2174875" y="44450"/>
                </a:cubicBezTo>
                <a:lnTo>
                  <a:pt x="22225" y="44450"/>
                </a:lnTo>
                <a:cubicBezTo>
                  <a:pt x="9970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70"/>
                  <a:pt x="9970" y="0"/>
                  <a:pt x="2222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icon-grow"/>
          <p:cNvSpPr/>
          <p:nvPr/>
        </p:nvSpPr>
        <p:spPr>
          <a:xfrm>
            <a:off x="4039870" y="4975670"/>
            <a:ext cx="111125" cy="69596"/>
          </a:xfrm>
          <a:custGeom>
            <a:avLst/>
            <a:gdLst/>
            <a:ahLst/>
            <a:cxnLst/>
            <a:rect l="0" t="0" r="r" b="b"/>
            <a:pathLst>
              <a:path w="111125" h="69596">
                <a:moveTo>
                  <a:pt x="0" y="69596"/>
                </a:moveTo>
                <a:lnTo>
                  <a:pt x="37020" y="29591"/>
                </a:lnTo>
                <a:lnTo>
                  <a:pt x="63690" y="51816"/>
                </a:lnTo>
                <a:lnTo>
                  <a:pt x="108140" y="0"/>
                </a:lnTo>
                <a:moveTo>
                  <a:pt x="90360" y="0"/>
                </a:moveTo>
                <a:lnTo>
                  <a:pt x="111125" y="0"/>
                </a:lnTo>
                <a:lnTo>
                  <a:pt x="111125" y="20701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ct-2"/>
          <p:cNvSpPr txBox="1"/>
          <p:nvPr/>
        </p:nvSpPr>
        <p:spPr>
          <a:xfrm>
            <a:off x="4301998" y="4889913"/>
            <a:ext cx="1120140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抢份额、上产能</a:t>
            </a:r>
          </a:p>
        </p:txBody>
      </p:sp>
      <p:sp>
        <p:nvSpPr>
          <p:cNvPr id="47" name="cd-2-1"/>
          <p:cNvSpPr/>
          <p:nvPr/>
        </p:nvSpPr>
        <p:spPr>
          <a:xfrm>
            <a:off x="4017010" y="5255260"/>
            <a:ext cx="43180" cy="43180"/>
          </a:xfrm>
          <a:prstGeom prst="ellipse">
            <a:avLst/>
          </a:prstGeom>
          <a:solidFill>
            <a:srgbClr val="1B5AA8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ca-2-1"/>
          <p:cNvSpPr txBox="1"/>
          <p:nvPr/>
        </p:nvSpPr>
        <p:spPr>
          <a:xfrm>
            <a:off x="4141089" y="5187045"/>
            <a:ext cx="69056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渠道快速扩张</a:t>
            </a:r>
          </a:p>
        </p:txBody>
      </p:sp>
      <p:sp>
        <p:nvSpPr>
          <p:cNvPr id="49" name="cd-2-2"/>
          <p:cNvSpPr/>
          <p:nvPr/>
        </p:nvSpPr>
        <p:spPr>
          <a:xfrm>
            <a:off x="4017010" y="5509260"/>
            <a:ext cx="43180" cy="43180"/>
          </a:xfrm>
          <a:prstGeom prst="ellipse">
            <a:avLst/>
          </a:prstGeom>
          <a:solidFill>
            <a:srgbClr val="1B5AA8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ca-2-2"/>
          <p:cNvSpPr txBox="1"/>
          <p:nvPr/>
        </p:nvSpPr>
        <p:spPr>
          <a:xfrm>
            <a:off x="4141089" y="5441045"/>
            <a:ext cx="89122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产能提前半年布局</a:t>
            </a:r>
          </a:p>
        </p:txBody>
      </p:sp>
      <p:sp>
        <p:nvSpPr>
          <p:cNvPr id="51" name="cno-2"/>
          <p:cNvSpPr txBox="1"/>
          <p:nvPr/>
        </p:nvSpPr>
        <p:spPr>
          <a:xfrm>
            <a:off x="5505450" y="4793932"/>
            <a:ext cx="38481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500" b="1">
                <a:solidFill>
                  <a:srgbClr val="1B5AA8">
                    <a:alpha val="14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52" name="dot-3"/>
          <p:cNvSpPr/>
          <p:nvPr/>
        </p:nvSpPr>
        <p:spPr>
          <a:xfrm>
            <a:off x="7188200" y="2065902"/>
            <a:ext cx="165100" cy="165100"/>
          </a:xfrm>
          <a:prstGeom prst="ellipse">
            <a:avLst/>
          </a:prstGeom>
          <a:solidFill>
            <a:srgbClr val="FFFFFF"/>
          </a:solidFill>
          <a:ln w="21590" cap="rnd">
            <a:solidFill>
              <a:srgbClr val="3985CD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53" name="lead-3"/>
          <p:cNvCxnSpPr/>
          <p:nvPr/>
        </p:nvCxnSpPr>
        <p:spPr>
          <a:xfrm flipV="1">
            <a:off x="7270750" y="1917700"/>
            <a:ext cx="0" cy="129152"/>
          </a:xfrm>
          <a:prstGeom prst="line">
            <a:avLst/>
          </a:prstGeom>
          <a:ln w="8890" cap="rnd">
            <a:solidFill>
              <a:srgbClr val="3985CD">
                <a:alpha val="4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lab-3"/>
          <p:cNvSpPr/>
          <p:nvPr/>
        </p:nvSpPr>
        <p:spPr>
          <a:xfrm>
            <a:off x="6686550" y="1612900"/>
            <a:ext cx="1168400" cy="304800"/>
          </a:xfrm>
          <a:custGeom>
            <a:avLst/>
            <a:gdLst/>
            <a:ahLst/>
            <a:cxnLst/>
            <a:rect l="0" t="0" r="r" b="b"/>
            <a:pathLst>
              <a:path w="1168400" h="304800">
                <a:moveTo>
                  <a:pt x="152400" y="0"/>
                </a:moveTo>
                <a:lnTo>
                  <a:pt x="1016000" y="0"/>
                </a:lnTo>
                <a:cubicBezTo>
                  <a:pt x="1100201" y="0"/>
                  <a:pt x="1168400" y="68199"/>
                  <a:pt x="1168400" y="152400"/>
                </a:cubicBezTo>
                <a:lnTo>
                  <a:pt x="1168400" y="152400"/>
                </a:lnTo>
                <a:cubicBezTo>
                  <a:pt x="1168400" y="236601"/>
                  <a:pt x="1100201" y="304800"/>
                  <a:pt x="1016000" y="304800"/>
                </a:cubicBezTo>
                <a:lnTo>
                  <a:pt x="152400" y="304800"/>
                </a:lnTo>
                <a:cubicBezTo>
                  <a:pt x="68199" y="304800"/>
                  <a:pt x="0" y="236601"/>
                  <a:pt x="0" y="1524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labn-3"/>
          <p:cNvSpPr txBox="1"/>
          <p:nvPr/>
        </p:nvSpPr>
        <p:spPr>
          <a:xfrm>
            <a:off x="6993572" y="1651413"/>
            <a:ext cx="55435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90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成熟期</a:t>
            </a:r>
          </a:p>
        </p:txBody>
      </p:sp>
      <p:sp>
        <p:nvSpPr>
          <p:cNvPr id="56" name="labe-3"/>
          <p:cNvSpPr txBox="1"/>
          <p:nvPr/>
        </p:nvSpPr>
        <p:spPr>
          <a:xfrm>
            <a:off x="6965569" y="4563808"/>
            <a:ext cx="610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30">
                <a:solidFill>
                  <a:srgbClr val="7E93AE"/>
                </a:solidFill>
                <a:latin typeface="Arial"/>
                <a:ea typeface="Arial"/>
                <a:cs typeface="Arial"/>
              </a:rPr>
              <a:t>MATURITY</a:t>
            </a:r>
          </a:p>
        </p:txBody>
      </p:sp>
      <p:sp>
        <p:nvSpPr>
          <p:cNvPr id="57" name="card-3"/>
          <p:cNvSpPr/>
          <p:nvPr/>
        </p:nvSpPr>
        <p:spPr>
          <a:xfrm>
            <a:off x="6172200" y="4699000"/>
            <a:ext cx="2197100" cy="1270000"/>
          </a:xfrm>
          <a:custGeom>
            <a:avLst/>
            <a:gdLst/>
            <a:ahLst/>
            <a:cxnLst/>
            <a:rect l="0" t="0" r="r" b="b"/>
            <a:pathLst>
              <a:path w="2197100" h="1270000">
                <a:moveTo>
                  <a:pt x="114300" y="0"/>
                </a:moveTo>
                <a:lnTo>
                  <a:pt x="2082800" y="0"/>
                </a:lnTo>
                <a:cubicBezTo>
                  <a:pt x="2145919" y="0"/>
                  <a:pt x="2197100" y="51181"/>
                  <a:pt x="2197100" y="114300"/>
                </a:cubicBezTo>
                <a:lnTo>
                  <a:pt x="2197100" y="1155700"/>
                </a:lnTo>
                <a:cubicBezTo>
                  <a:pt x="2197100" y="1218819"/>
                  <a:pt x="2145919" y="1270000"/>
                  <a:pt x="2082800" y="1270000"/>
                </a:cubicBezTo>
                <a:lnTo>
                  <a:pt x="114300" y="1270000"/>
                </a:lnTo>
                <a:cubicBezTo>
                  <a:pt x="51181" y="1270000"/>
                  <a:pt x="0" y="1218819"/>
                  <a:pt x="0" y="1155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cap-3"/>
          <p:cNvSpPr/>
          <p:nvPr/>
        </p:nvSpPr>
        <p:spPr>
          <a:xfrm>
            <a:off x="6172200" y="4699000"/>
            <a:ext cx="2197100" cy="44450"/>
          </a:xfrm>
          <a:custGeom>
            <a:avLst/>
            <a:gdLst/>
            <a:ahLst/>
            <a:cxnLst/>
            <a:rect l="0" t="0" r="r" b="b"/>
            <a:pathLst>
              <a:path w="2197100" h="44450">
                <a:moveTo>
                  <a:pt x="22225" y="0"/>
                </a:moveTo>
                <a:lnTo>
                  <a:pt x="2174875" y="0"/>
                </a:lnTo>
                <a:cubicBezTo>
                  <a:pt x="2187131" y="0"/>
                  <a:pt x="2197100" y="9970"/>
                  <a:pt x="2197100" y="22225"/>
                </a:cubicBezTo>
                <a:lnTo>
                  <a:pt x="2197100" y="22225"/>
                </a:lnTo>
                <a:cubicBezTo>
                  <a:pt x="2197100" y="34480"/>
                  <a:pt x="2187131" y="44450"/>
                  <a:pt x="2174875" y="44450"/>
                </a:cubicBezTo>
                <a:lnTo>
                  <a:pt x="22225" y="44450"/>
                </a:lnTo>
                <a:cubicBezTo>
                  <a:pt x="9970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70"/>
                  <a:pt x="9970" y="0"/>
                  <a:pt x="22225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icon-gear"/>
          <p:cNvSpPr/>
          <p:nvPr/>
        </p:nvSpPr>
        <p:spPr>
          <a:xfrm>
            <a:off x="6396038" y="4935664"/>
            <a:ext cx="111125" cy="136271"/>
          </a:xfrm>
          <a:custGeom>
            <a:avLst/>
            <a:gdLst/>
            <a:ahLst/>
            <a:cxnLst/>
            <a:rect l="0" t="0" r="r" b="b"/>
            <a:pathLst>
              <a:path w="111125" h="136271">
                <a:moveTo>
                  <a:pt x="55562" y="42926"/>
                </a:moveTo>
                <a:cubicBezTo>
                  <a:pt x="46546" y="42926"/>
                  <a:pt x="38227" y="47752"/>
                  <a:pt x="33718" y="55562"/>
                </a:cubicBezTo>
                <a:cubicBezTo>
                  <a:pt x="29274" y="63310"/>
                  <a:pt x="29274" y="72962"/>
                  <a:pt x="33718" y="80709"/>
                </a:cubicBezTo>
                <a:cubicBezTo>
                  <a:pt x="38227" y="88519"/>
                  <a:pt x="46546" y="93345"/>
                  <a:pt x="55562" y="93345"/>
                </a:cubicBezTo>
                <a:cubicBezTo>
                  <a:pt x="69469" y="93345"/>
                  <a:pt x="80772" y="82042"/>
                  <a:pt x="80772" y="68136"/>
                </a:cubicBezTo>
                <a:cubicBezTo>
                  <a:pt x="80772" y="54229"/>
                  <a:pt x="69469" y="42926"/>
                  <a:pt x="55562" y="42926"/>
                </a:cubicBezTo>
                <a:close/>
                <a:moveTo>
                  <a:pt x="55562" y="0"/>
                </a:moveTo>
                <a:lnTo>
                  <a:pt x="63690" y="19240"/>
                </a:lnTo>
                <a:lnTo>
                  <a:pt x="84455" y="14796"/>
                </a:lnTo>
                <a:lnTo>
                  <a:pt x="91885" y="34798"/>
                </a:lnTo>
                <a:lnTo>
                  <a:pt x="111125" y="42926"/>
                </a:lnTo>
                <a:lnTo>
                  <a:pt x="102235" y="62230"/>
                </a:lnTo>
                <a:lnTo>
                  <a:pt x="111125" y="81471"/>
                </a:lnTo>
                <a:lnTo>
                  <a:pt x="91885" y="89599"/>
                </a:lnTo>
                <a:lnTo>
                  <a:pt x="84455" y="109601"/>
                </a:lnTo>
                <a:lnTo>
                  <a:pt x="63690" y="105156"/>
                </a:lnTo>
                <a:lnTo>
                  <a:pt x="55562" y="136271"/>
                </a:lnTo>
                <a:lnTo>
                  <a:pt x="47435" y="117031"/>
                </a:lnTo>
                <a:lnTo>
                  <a:pt x="26670" y="121475"/>
                </a:lnTo>
                <a:lnTo>
                  <a:pt x="19240" y="101473"/>
                </a:lnTo>
                <a:lnTo>
                  <a:pt x="0" y="93345"/>
                </a:lnTo>
                <a:lnTo>
                  <a:pt x="8890" y="68136"/>
                </a:lnTo>
                <a:lnTo>
                  <a:pt x="0" y="48895"/>
                </a:lnTo>
                <a:lnTo>
                  <a:pt x="19240" y="40703"/>
                </a:lnTo>
                <a:lnTo>
                  <a:pt x="26670" y="20701"/>
                </a:lnTo>
                <a:lnTo>
                  <a:pt x="47435" y="25146"/>
                </a:lnTo>
                <a:close/>
              </a:path>
            </a:pathLst>
          </a:custGeom>
          <a:noFill/>
          <a:ln w="1270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ct-3"/>
          <p:cNvSpPr txBox="1"/>
          <p:nvPr/>
        </p:nvSpPr>
        <p:spPr>
          <a:xfrm>
            <a:off x="6651498" y="4889913"/>
            <a:ext cx="1120140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提效率、稳毛利</a:t>
            </a:r>
          </a:p>
        </p:txBody>
      </p:sp>
      <p:sp>
        <p:nvSpPr>
          <p:cNvPr id="61" name="cd-3-1"/>
          <p:cNvSpPr/>
          <p:nvPr/>
        </p:nvSpPr>
        <p:spPr>
          <a:xfrm>
            <a:off x="6366510" y="5255260"/>
            <a:ext cx="43180" cy="43180"/>
          </a:xfrm>
          <a:prstGeom prst="ellipse">
            <a:avLst/>
          </a:prstGeom>
          <a:solidFill>
            <a:srgbClr val="3985CD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ca-3-1"/>
          <p:cNvSpPr txBox="1"/>
          <p:nvPr/>
        </p:nvSpPr>
        <p:spPr>
          <a:xfrm>
            <a:off x="6490589" y="5187045"/>
            <a:ext cx="79089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成本与良率攻坚</a:t>
            </a:r>
          </a:p>
        </p:txBody>
      </p:sp>
      <p:sp>
        <p:nvSpPr>
          <p:cNvPr id="63" name="cd-3-2"/>
          <p:cNvSpPr/>
          <p:nvPr/>
        </p:nvSpPr>
        <p:spPr>
          <a:xfrm>
            <a:off x="6366510" y="5509260"/>
            <a:ext cx="43180" cy="43180"/>
          </a:xfrm>
          <a:prstGeom prst="ellipse">
            <a:avLst/>
          </a:prstGeom>
          <a:solidFill>
            <a:srgbClr val="3985CD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ca-3-2"/>
          <p:cNvSpPr txBox="1"/>
          <p:nvPr/>
        </p:nvSpPr>
        <p:spPr>
          <a:xfrm>
            <a:off x="6490589" y="5441045"/>
            <a:ext cx="69056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存量客户增购</a:t>
            </a:r>
          </a:p>
        </p:txBody>
      </p:sp>
      <p:sp>
        <p:nvSpPr>
          <p:cNvPr id="65" name="cno-3"/>
          <p:cNvSpPr txBox="1"/>
          <p:nvPr/>
        </p:nvSpPr>
        <p:spPr>
          <a:xfrm>
            <a:off x="7854950" y="4793932"/>
            <a:ext cx="38481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500" b="1">
                <a:solidFill>
                  <a:srgbClr val="3985CD">
                    <a:alpha val="14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66" name="dot-4"/>
          <p:cNvSpPr/>
          <p:nvPr/>
        </p:nvSpPr>
        <p:spPr>
          <a:xfrm>
            <a:off x="9537700" y="2029908"/>
            <a:ext cx="165100" cy="165100"/>
          </a:xfrm>
          <a:prstGeom prst="ellipse">
            <a:avLst/>
          </a:prstGeom>
          <a:solidFill>
            <a:srgbClr val="FFFFFF"/>
          </a:solidFill>
          <a:ln w="21590" cap="rnd">
            <a:solidFill>
              <a:srgbClr val="54A2D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67" name="lead-4"/>
          <p:cNvCxnSpPr/>
          <p:nvPr/>
        </p:nvCxnSpPr>
        <p:spPr>
          <a:xfrm flipV="1">
            <a:off x="9620250" y="1917700"/>
            <a:ext cx="0" cy="93158"/>
          </a:xfrm>
          <a:prstGeom prst="line">
            <a:avLst/>
          </a:prstGeom>
          <a:ln w="8890" cap="rnd">
            <a:solidFill>
              <a:srgbClr val="54A2DF">
                <a:alpha val="4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8" name="lab-4"/>
          <p:cNvSpPr/>
          <p:nvPr/>
        </p:nvSpPr>
        <p:spPr>
          <a:xfrm>
            <a:off x="9036050" y="1612900"/>
            <a:ext cx="1168400" cy="304800"/>
          </a:xfrm>
          <a:custGeom>
            <a:avLst/>
            <a:gdLst/>
            <a:ahLst/>
            <a:cxnLst/>
            <a:rect l="0" t="0" r="r" b="b"/>
            <a:pathLst>
              <a:path w="1168400" h="304800">
                <a:moveTo>
                  <a:pt x="152400" y="0"/>
                </a:moveTo>
                <a:lnTo>
                  <a:pt x="1016000" y="0"/>
                </a:lnTo>
                <a:cubicBezTo>
                  <a:pt x="1100201" y="0"/>
                  <a:pt x="1168400" y="68199"/>
                  <a:pt x="1168400" y="152400"/>
                </a:cubicBezTo>
                <a:lnTo>
                  <a:pt x="1168400" y="152400"/>
                </a:lnTo>
                <a:cubicBezTo>
                  <a:pt x="1168400" y="236601"/>
                  <a:pt x="1100201" y="304800"/>
                  <a:pt x="1016000" y="304800"/>
                </a:cubicBezTo>
                <a:lnTo>
                  <a:pt x="152400" y="304800"/>
                </a:lnTo>
                <a:cubicBezTo>
                  <a:pt x="68199" y="304800"/>
                  <a:pt x="0" y="236601"/>
                  <a:pt x="0" y="1524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labn-4"/>
          <p:cNvSpPr txBox="1"/>
          <p:nvPr/>
        </p:nvSpPr>
        <p:spPr>
          <a:xfrm>
            <a:off x="9343072" y="1651413"/>
            <a:ext cx="55435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90">
                <a:solidFill>
                  <a:srgbClr val="54A2DF"/>
                </a:solidFill>
                <a:latin typeface="微软雅黑"/>
                <a:ea typeface="微软雅黑"/>
                <a:cs typeface="微软雅黑"/>
              </a:rPr>
              <a:t>衰退期</a:t>
            </a:r>
          </a:p>
        </p:txBody>
      </p:sp>
      <p:sp>
        <p:nvSpPr>
          <p:cNvPr id="70" name="labe-4"/>
          <p:cNvSpPr txBox="1"/>
          <p:nvPr/>
        </p:nvSpPr>
        <p:spPr>
          <a:xfrm>
            <a:off x="9348216" y="4563808"/>
            <a:ext cx="54406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30">
                <a:solidFill>
                  <a:srgbClr val="7E93AE"/>
                </a:solidFill>
                <a:latin typeface="Arial"/>
                <a:ea typeface="Arial"/>
                <a:cs typeface="Arial"/>
              </a:rPr>
              <a:t>DECLINE</a:t>
            </a:r>
          </a:p>
        </p:txBody>
      </p:sp>
      <p:sp>
        <p:nvSpPr>
          <p:cNvPr id="71" name="card-4"/>
          <p:cNvSpPr/>
          <p:nvPr/>
        </p:nvSpPr>
        <p:spPr>
          <a:xfrm>
            <a:off x="8521700" y="4699000"/>
            <a:ext cx="2197100" cy="1270000"/>
          </a:xfrm>
          <a:custGeom>
            <a:avLst/>
            <a:gdLst/>
            <a:ahLst/>
            <a:cxnLst/>
            <a:rect l="0" t="0" r="r" b="b"/>
            <a:pathLst>
              <a:path w="2197100" h="1270000">
                <a:moveTo>
                  <a:pt x="114300" y="0"/>
                </a:moveTo>
                <a:lnTo>
                  <a:pt x="2082800" y="0"/>
                </a:lnTo>
                <a:cubicBezTo>
                  <a:pt x="2145919" y="0"/>
                  <a:pt x="2197100" y="51181"/>
                  <a:pt x="2197100" y="114300"/>
                </a:cubicBezTo>
                <a:lnTo>
                  <a:pt x="2197100" y="1155700"/>
                </a:lnTo>
                <a:cubicBezTo>
                  <a:pt x="2197100" y="1218819"/>
                  <a:pt x="2145919" y="1270000"/>
                  <a:pt x="2082800" y="1270000"/>
                </a:cubicBezTo>
                <a:lnTo>
                  <a:pt x="114300" y="1270000"/>
                </a:lnTo>
                <a:cubicBezTo>
                  <a:pt x="51181" y="1270000"/>
                  <a:pt x="0" y="1218819"/>
                  <a:pt x="0" y="1155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cap-4"/>
          <p:cNvSpPr/>
          <p:nvPr/>
        </p:nvSpPr>
        <p:spPr>
          <a:xfrm>
            <a:off x="8521700" y="4699000"/>
            <a:ext cx="2197100" cy="44450"/>
          </a:xfrm>
          <a:custGeom>
            <a:avLst/>
            <a:gdLst/>
            <a:ahLst/>
            <a:cxnLst/>
            <a:rect l="0" t="0" r="r" b="b"/>
            <a:pathLst>
              <a:path w="2197100" h="44450">
                <a:moveTo>
                  <a:pt x="22225" y="0"/>
                </a:moveTo>
                <a:lnTo>
                  <a:pt x="2174875" y="0"/>
                </a:lnTo>
                <a:cubicBezTo>
                  <a:pt x="2187131" y="0"/>
                  <a:pt x="2197100" y="9970"/>
                  <a:pt x="2197100" y="22225"/>
                </a:cubicBezTo>
                <a:lnTo>
                  <a:pt x="2197100" y="22225"/>
                </a:lnTo>
                <a:cubicBezTo>
                  <a:pt x="2197100" y="34480"/>
                  <a:pt x="2187131" y="44450"/>
                  <a:pt x="2174875" y="44450"/>
                </a:cubicBezTo>
                <a:lnTo>
                  <a:pt x="22225" y="44450"/>
                </a:lnTo>
                <a:cubicBezTo>
                  <a:pt x="9969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70"/>
                  <a:pt x="9969" y="0"/>
                  <a:pt x="22225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icon-chart"/>
          <p:cNvSpPr/>
          <p:nvPr/>
        </p:nvSpPr>
        <p:spPr>
          <a:xfrm>
            <a:off x="8738870" y="4981575"/>
            <a:ext cx="124460" cy="81471"/>
          </a:xfrm>
          <a:custGeom>
            <a:avLst/>
            <a:gdLst/>
            <a:ahLst/>
            <a:cxnLst/>
            <a:rect l="0" t="0" r="r" b="b"/>
            <a:pathLst>
              <a:path w="124460" h="81471">
                <a:moveTo>
                  <a:pt x="0" y="81471"/>
                </a:moveTo>
                <a:lnTo>
                  <a:pt x="124460" y="81471"/>
                </a:lnTo>
                <a:moveTo>
                  <a:pt x="28131" y="81471"/>
                </a:moveTo>
                <a:lnTo>
                  <a:pt x="28131" y="34100"/>
                </a:lnTo>
                <a:moveTo>
                  <a:pt x="62230" y="81471"/>
                </a:moveTo>
                <a:lnTo>
                  <a:pt x="62230" y="0"/>
                </a:lnTo>
                <a:moveTo>
                  <a:pt x="96329" y="81471"/>
                </a:moveTo>
                <a:lnTo>
                  <a:pt x="96329" y="50355"/>
                </a:lnTo>
              </a:path>
            </a:pathLst>
          </a:custGeom>
          <a:noFill/>
          <a:ln w="1270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ct-4"/>
          <p:cNvSpPr txBox="1"/>
          <p:nvPr/>
        </p:nvSpPr>
        <p:spPr>
          <a:xfrm>
            <a:off x="9000998" y="4889913"/>
            <a:ext cx="1120140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收现金、找接力</a:t>
            </a:r>
          </a:p>
        </p:txBody>
      </p:sp>
      <p:sp>
        <p:nvSpPr>
          <p:cNvPr id="75" name="cd-4-1"/>
          <p:cNvSpPr/>
          <p:nvPr/>
        </p:nvSpPr>
        <p:spPr>
          <a:xfrm>
            <a:off x="8716010" y="5255260"/>
            <a:ext cx="43180" cy="43180"/>
          </a:xfrm>
          <a:prstGeom prst="ellipse">
            <a:avLst/>
          </a:prstGeom>
          <a:solidFill>
            <a:srgbClr val="54A2DF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ca-4-1"/>
          <p:cNvSpPr txBox="1"/>
          <p:nvPr/>
        </p:nvSpPr>
        <p:spPr>
          <a:xfrm>
            <a:off x="8840089" y="5187045"/>
            <a:ext cx="79089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控制投入与库存</a:t>
            </a:r>
          </a:p>
        </p:txBody>
      </p:sp>
      <p:sp>
        <p:nvSpPr>
          <p:cNvPr id="77" name="cd-4-2"/>
          <p:cNvSpPr/>
          <p:nvPr/>
        </p:nvSpPr>
        <p:spPr>
          <a:xfrm>
            <a:off x="8716010" y="5509260"/>
            <a:ext cx="43180" cy="43180"/>
          </a:xfrm>
          <a:prstGeom prst="ellipse">
            <a:avLst/>
          </a:prstGeom>
          <a:solidFill>
            <a:srgbClr val="54A2DF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ca-4-2"/>
          <p:cNvSpPr txBox="1"/>
          <p:nvPr/>
        </p:nvSpPr>
        <p:spPr>
          <a:xfrm>
            <a:off x="8840089" y="5441045"/>
            <a:ext cx="99155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把资源转向第二曲线</a:t>
            </a:r>
          </a:p>
        </p:txBody>
      </p:sp>
      <p:sp>
        <p:nvSpPr>
          <p:cNvPr id="79" name="cno-4"/>
          <p:cNvSpPr txBox="1"/>
          <p:nvPr/>
        </p:nvSpPr>
        <p:spPr>
          <a:xfrm>
            <a:off x="10204450" y="4793932"/>
            <a:ext cx="38481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500" b="1">
                <a:solidFill>
                  <a:srgbClr val="54A2DF">
                    <a:alpha val="14000"/>
                  </a:srgbClr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80" name="curve2"/>
          <p:cNvSpPr/>
          <p:nvPr/>
        </p:nvSpPr>
        <p:spPr>
          <a:xfrm>
            <a:off x="8680450" y="3197860"/>
            <a:ext cx="2336800" cy="1056640"/>
          </a:xfrm>
          <a:custGeom>
            <a:avLst/>
            <a:gdLst/>
            <a:ahLst/>
            <a:cxnLst/>
            <a:rect l="0" t="0" r="r" b="b"/>
            <a:pathLst>
              <a:path w="2336800" h="1056640">
                <a:moveTo>
                  <a:pt x="0" y="1056640"/>
                </a:moveTo>
                <a:cubicBezTo>
                  <a:pt x="48705" y="1053910"/>
                  <a:pt x="194755" y="1051115"/>
                  <a:pt x="292100" y="1040130"/>
                </a:cubicBezTo>
                <a:cubicBezTo>
                  <a:pt x="389445" y="1029144"/>
                  <a:pt x="486855" y="1012635"/>
                  <a:pt x="584200" y="990600"/>
                </a:cubicBezTo>
                <a:cubicBezTo>
                  <a:pt x="681545" y="968565"/>
                  <a:pt x="778955" y="941070"/>
                  <a:pt x="876300" y="908050"/>
                </a:cubicBezTo>
                <a:cubicBezTo>
                  <a:pt x="973645" y="875030"/>
                  <a:pt x="1071055" y="836486"/>
                  <a:pt x="1168400" y="792480"/>
                </a:cubicBezTo>
                <a:cubicBezTo>
                  <a:pt x="1265745" y="748474"/>
                  <a:pt x="1363155" y="698944"/>
                  <a:pt x="1460500" y="643890"/>
                </a:cubicBezTo>
                <a:cubicBezTo>
                  <a:pt x="1557845" y="588836"/>
                  <a:pt x="1655255" y="528320"/>
                  <a:pt x="1752600" y="462280"/>
                </a:cubicBezTo>
                <a:cubicBezTo>
                  <a:pt x="1849945" y="396240"/>
                  <a:pt x="1947355" y="324676"/>
                  <a:pt x="2044700" y="247650"/>
                </a:cubicBezTo>
                <a:cubicBezTo>
                  <a:pt x="2142045" y="170625"/>
                  <a:pt x="2288095" y="41275"/>
                  <a:pt x="2336800" y="0"/>
                </a:cubicBezTo>
              </a:path>
            </a:pathLst>
          </a:custGeom>
          <a:noFill/>
          <a:ln w="19050" cap="rnd">
            <a:solidFill>
              <a:srgbClr val="E0703A">
                <a:alpha val="75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curve2-t"/>
          <p:cNvSpPr txBox="1"/>
          <p:nvPr/>
        </p:nvSpPr>
        <p:spPr>
          <a:xfrm>
            <a:off x="10134219" y="2838482"/>
            <a:ext cx="55943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6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第二曲线</a:t>
            </a:r>
          </a:p>
        </p:txBody>
      </p:sp>
      <p:cxnSp>
        <p:nvCxnSpPr>
          <p:cNvPr id="82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3" name="foot-l"/>
          <p:cNvSpPr txBox="1"/>
          <p:nvPr/>
        </p:nvSpPr>
        <p:spPr>
          <a:xfrm>
            <a:off x="573532" y="6532308"/>
            <a:ext cx="9469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生命周期 · 四阶段</a:t>
            </a:r>
          </a:p>
        </p:txBody>
      </p:sp>
      <p:sp>
        <p:nvSpPr>
          <p:cNvPr id="84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矩阵式组织架构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810131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MATRIX ORGANIZATION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323199" y="673132"/>
            <a:ext cx="32975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纵向业务线实线汇报，横向职能线虚线汇报，交叉点是项目团队</a:t>
            </a:r>
          </a:p>
        </p:txBody>
      </p:sp>
      <p:sp>
        <p:nvSpPr>
          <p:cNvPr id="10" name="biz-1"/>
          <p:cNvSpPr/>
          <p:nvPr/>
        </p:nvSpPr>
        <p:spPr>
          <a:xfrm>
            <a:off x="3340100" y="1473200"/>
            <a:ext cx="1625600" cy="609600"/>
          </a:xfrm>
          <a:custGeom>
            <a:avLst/>
            <a:gdLst/>
            <a:ahLst/>
            <a:cxnLst/>
            <a:rect l="0" t="0" r="r" b="b"/>
            <a:pathLst>
              <a:path w="1625600" h="609600">
                <a:moveTo>
                  <a:pt x="101600" y="0"/>
                </a:moveTo>
                <a:lnTo>
                  <a:pt x="1524000" y="0"/>
                </a:lnTo>
                <a:cubicBezTo>
                  <a:pt x="1580134" y="0"/>
                  <a:pt x="1625600" y="45466"/>
                  <a:pt x="1625600" y="101600"/>
                </a:cubicBezTo>
                <a:lnTo>
                  <a:pt x="1625600" y="508000"/>
                </a:lnTo>
                <a:cubicBezTo>
                  <a:pt x="1625600" y="564134"/>
                  <a:pt x="1580134" y="609600"/>
                  <a:pt x="1524000" y="609600"/>
                </a:cubicBezTo>
                <a:lnTo>
                  <a:pt x="101600" y="609600"/>
                </a:lnTo>
                <a:cubicBezTo>
                  <a:pt x="45466" y="609600"/>
                  <a:pt x="0" y="564134"/>
                  <a:pt x="0" y="508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2D599F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icon-factory"/>
          <p:cNvSpPr/>
          <p:nvPr/>
        </p:nvSpPr>
        <p:spPr>
          <a:xfrm>
            <a:off x="3530410" y="1749870"/>
            <a:ext cx="127381" cy="85916"/>
          </a:xfrm>
          <a:custGeom>
            <a:avLst/>
            <a:gdLst/>
            <a:ahLst/>
            <a:cxnLst/>
            <a:rect l="0" t="0" r="r" b="b"/>
            <a:pathLst>
              <a:path w="127381" h="85916">
                <a:moveTo>
                  <a:pt x="0" y="85916"/>
                </a:moveTo>
                <a:lnTo>
                  <a:pt x="0" y="20701"/>
                </a:lnTo>
                <a:lnTo>
                  <a:pt x="37020" y="42926"/>
                </a:lnTo>
                <a:lnTo>
                  <a:pt x="37020" y="20701"/>
                </a:lnTo>
                <a:lnTo>
                  <a:pt x="74041" y="42926"/>
                </a:lnTo>
                <a:lnTo>
                  <a:pt x="74041" y="0"/>
                </a:lnTo>
                <a:lnTo>
                  <a:pt x="111125" y="22225"/>
                </a:lnTo>
                <a:lnTo>
                  <a:pt x="111125" y="78486"/>
                </a:lnTo>
                <a:close/>
                <a:moveTo>
                  <a:pt x="0" y="85916"/>
                </a:moveTo>
                <a:lnTo>
                  <a:pt x="127381" y="85916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bizn-1"/>
          <p:cNvSpPr txBox="1"/>
          <p:nvPr/>
        </p:nvSpPr>
        <p:spPr>
          <a:xfrm>
            <a:off x="3780536" y="1656270"/>
            <a:ext cx="7353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智能装备</a:t>
            </a:r>
          </a:p>
        </p:txBody>
      </p:sp>
      <p:sp>
        <p:nvSpPr>
          <p:cNvPr id="13" name="bizc-1"/>
          <p:cNvSpPr txBox="1"/>
          <p:nvPr/>
        </p:nvSpPr>
        <p:spPr>
          <a:xfrm>
            <a:off x="3786632" y="1884108"/>
            <a:ext cx="4853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1,240 人</a:t>
            </a:r>
          </a:p>
        </p:txBody>
      </p:sp>
      <p:cxnSp>
        <p:nvCxnSpPr>
          <p:cNvPr id="14" name="bizline-1"/>
          <p:cNvCxnSpPr/>
          <p:nvPr/>
        </p:nvCxnSpPr>
        <p:spPr>
          <a:xfrm>
            <a:off x="4152900" y="2082800"/>
            <a:ext cx="0" cy="3416300"/>
          </a:xfrm>
          <a:prstGeom prst="line">
            <a:avLst/>
          </a:prstGeom>
          <a:ln w="12700" cap="rnd">
            <a:solidFill>
              <a:srgbClr val="0B3E8F">
                <a:alpha val="2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biz-2"/>
          <p:cNvSpPr/>
          <p:nvPr/>
        </p:nvSpPr>
        <p:spPr>
          <a:xfrm>
            <a:off x="5041900" y="1473200"/>
            <a:ext cx="1625600" cy="609600"/>
          </a:xfrm>
          <a:custGeom>
            <a:avLst/>
            <a:gdLst/>
            <a:ahLst/>
            <a:cxnLst/>
            <a:rect l="0" t="0" r="r" b="b"/>
            <a:pathLst>
              <a:path w="1625600" h="609600">
                <a:moveTo>
                  <a:pt x="101600" y="0"/>
                </a:moveTo>
                <a:lnTo>
                  <a:pt x="1524000" y="0"/>
                </a:lnTo>
                <a:cubicBezTo>
                  <a:pt x="1580134" y="0"/>
                  <a:pt x="1625600" y="45466"/>
                  <a:pt x="1625600" y="101600"/>
                </a:cubicBezTo>
                <a:lnTo>
                  <a:pt x="1625600" y="508000"/>
                </a:lnTo>
                <a:cubicBezTo>
                  <a:pt x="1625600" y="564134"/>
                  <a:pt x="1580134" y="609600"/>
                  <a:pt x="1524000" y="609600"/>
                </a:cubicBezTo>
                <a:lnTo>
                  <a:pt x="101600" y="609600"/>
                </a:lnTo>
                <a:cubicBezTo>
                  <a:pt x="45466" y="609600"/>
                  <a:pt x="0" y="564134"/>
                  <a:pt x="0" y="508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3B71B4"/>
              </a:gs>
              <a:gs pos="100000">
                <a:srgbClr val="1B5AA8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icon-cloud"/>
          <p:cNvSpPr/>
          <p:nvPr/>
        </p:nvSpPr>
        <p:spPr>
          <a:xfrm>
            <a:off x="5227764" y="1728540"/>
            <a:ext cx="140716" cy="96894"/>
          </a:xfrm>
          <a:custGeom>
            <a:avLst/>
            <a:gdLst/>
            <a:ahLst/>
            <a:cxnLst/>
            <a:rect l="0" t="0" r="r" b="b"/>
            <a:pathLst>
              <a:path w="140716" h="96894">
                <a:moveTo>
                  <a:pt x="32575" y="96894"/>
                </a:moveTo>
                <a:cubicBezTo>
                  <a:pt x="15367" y="97720"/>
                  <a:pt x="825" y="84448"/>
                  <a:pt x="0" y="67240"/>
                </a:cubicBezTo>
                <a:cubicBezTo>
                  <a:pt x="-825" y="50031"/>
                  <a:pt x="12446" y="35490"/>
                  <a:pt x="29591" y="34664"/>
                </a:cubicBezTo>
                <a:cubicBezTo>
                  <a:pt x="32068" y="16503"/>
                  <a:pt x="46482" y="2343"/>
                  <a:pt x="64707" y="247"/>
                </a:cubicBezTo>
                <a:cubicBezTo>
                  <a:pt x="82868" y="-1848"/>
                  <a:pt x="100139" y="8629"/>
                  <a:pt x="106680" y="25774"/>
                </a:cubicBezTo>
                <a:cubicBezTo>
                  <a:pt x="126301" y="26600"/>
                  <a:pt x="141541" y="43173"/>
                  <a:pt x="140716" y="62795"/>
                </a:cubicBezTo>
                <a:cubicBezTo>
                  <a:pt x="139890" y="82416"/>
                  <a:pt x="123317" y="97720"/>
                  <a:pt x="103696" y="96894"/>
                </a:cubicBezTo>
                <a:close/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bizn-2"/>
          <p:cNvSpPr txBox="1"/>
          <p:nvPr/>
        </p:nvSpPr>
        <p:spPr>
          <a:xfrm>
            <a:off x="5482336" y="1656270"/>
            <a:ext cx="7353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软件平台</a:t>
            </a:r>
          </a:p>
        </p:txBody>
      </p:sp>
      <p:sp>
        <p:nvSpPr>
          <p:cNvPr id="18" name="bizc-2"/>
          <p:cNvSpPr txBox="1"/>
          <p:nvPr/>
        </p:nvSpPr>
        <p:spPr>
          <a:xfrm>
            <a:off x="5488432" y="1884108"/>
            <a:ext cx="3807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386 人</a:t>
            </a:r>
          </a:p>
        </p:txBody>
      </p:sp>
      <p:cxnSp>
        <p:nvCxnSpPr>
          <p:cNvPr id="19" name="bizline-2"/>
          <p:cNvCxnSpPr/>
          <p:nvPr/>
        </p:nvCxnSpPr>
        <p:spPr>
          <a:xfrm>
            <a:off x="5854700" y="2082800"/>
            <a:ext cx="0" cy="3416300"/>
          </a:xfrm>
          <a:prstGeom prst="line">
            <a:avLst/>
          </a:prstGeom>
          <a:ln w="12700" cap="rnd">
            <a:solidFill>
              <a:srgbClr val="1B5AA8">
                <a:alpha val="2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biz-3"/>
          <p:cNvSpPr/>
          <p:nvPr/>
        </p:nvSpPr>
        <p:spPr>
          <a:xfrm>
            <a:off x="6743700" y="1473200"/>
            <a:ext cx="1625600" cy="609600"/>
          </a:xfrm>
          <a:custGeom>
            <a:avLst/>
            <a:gdLst/>
            <a:ahLst/>
            <a:cxnLst/>
            <a:rect l="0" t="0" r="r" b="b"/>
            <a:pathLst>
              <a:path w="1625600" h="609600">
                <a:moveTo>
                  <a:pt x="101600" y="0"/>
                </a:moveTo>
                <a:lnTo>
                  <a:pt x="1524000" y="0"/>
                </a:lnTo>
                <a:cubicBezTo>
                  <a:pt x="1580134" y="0"/>
                  <a:pt x="1625600" y="45466"/>
                  <a:pt x="1625600" y="101600"/>
                </a:cubicBezTo>
                <a:lnTo>
                  <a:pt x="1625600" y="508000"/>
                </a:lnTo>
                <a:cubicBezTo>
                  <a:pt x="1625600" y="564134"/>
                  <a:pt x="1580134" y="609600"/>
                  <a:pt x="1524000" y="609600"/>
                </a:cubicBezTo>
                <a:lnTo>
                  <a:pt x="101600" y="609600"/>
                </a:lnTo>
                <a:cubicBezTo>
                  <a:pt x="45466" y="609600"/>
                  <a:pt x="0" y="564134"/>
                  <a:pt x="0" y="508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5596D4"/>
              </a:gs>
              <a:gs pos="100000">
                <a:srgbClr val="3985CD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icon-hand"/>
          <p:cNvSpPr/>
          <p:nvPr/>
        </p:nvSpPr>
        <p:spPr>
          <a:xfrm>
            <a:off x="6941685" y="1714310"/>
            <a:ext cx="100465" cy="127381"/>
          </a:xfrm>
          <a:custGeom>
            <a:avLst/>
            <a:gdLst/>
            <a:ahLst/>
            <a:cxnLst/>
            <a:rect l="0" t="0" r="r" b="b"/>
            <a:pathLst>
              <a:path w="100465" h="127381">
                <a:moveTo>
                  <a:pt x="29345" y="68135"/>
                </a:moveTo>
                <a:lnTo>
                  <a:pt x="29345" y="20701"/>
                </a:lnTo>
                <a:cubicBezTo>
                  <a:pt x="29345" y="14160"/>
                  <a:pt x="34679" y="8890"/>
                  <a:pt x="41219" y="8890"/>
                </a:cubicBezTo>
                <a:cubicBezTo>
                  <a:pt x="47760" y="8890"/>
                  <a:pt x="53030" y="14160"/>
                  <a:pt x="53030" y="20701"/>
                </a:cubicBezTo>
                <a:lnTo>
                  <a:pt x="53030" y="57785"/>
                </a:lnTo>
                <a:moveTo>
                  <a:pt x="53030" y="57785"/>
                </a:moveTo>
                <a:lnTo>
                  <a:pt x="53030" y="11811"/>
                </a:lnTo>
                <a:cubicBezTo>
                  <a:pt x="53030" y="5270"/>
                  <a:pt x="58364" y="0"/>
                  <a:pt x="64905" y="0"/>
                </a:cubicBezTo>
                <a:cubicBezTo>
                  <a:pt x="71445" y="0"/>
                  <a:pt x="76779" y="5270"/>
                  <a:pt x="76779" y="11811"/>
                </a:cubicBezTo>
                <a:lnTo>
                  <a:pt x="76779" y="57785"/>
                </a:lnTo>
                <a:moveTo>
                  <a:pt x="76779" y="60706"/>
                </a:moveTo>
                <a:lnTo>
                  <a:pt x="76779" y="29591"/>
                </a:lnTo>
                <a:cubicBezTo>
                  <a:pt x="76779" y="23050"/>
                  <a:pt x="82050" y="17780"/>
                  <a:pt x="88590" y="17780"/>
                </a:cubicBezTo>
                <a:cubicBezTo>
                  <a:pt x="95131" y="17780"/>
                  <a:pt x="100465" y="23050"/>
                  <a:pt x="100465" y="29591"/>
                </a:cubicBezTo>
                <a:lnTo>
                  <a:pt x="100465" y="84455"/>
                </a:lnTo>
                <a:cubicBezTo>
                  <a:pt x="100465" y="108140"/>
                  <a:pt x="82685" y="127381"/>
                  <a:pt x="58999" y="127381"/>
                </a:cubicBezTo>
                <a:cubicBezTo>
                  <a:pt x="39695" y="127381"/>
                  <a:pt x="29345" y="118491"/>
                  <a:pt x="18994" y="103695"/>
                </a:cubicBezTo>
                <a:lnTo>
                  <a:pt x="1214" y="77025"/>
                </a:lnTo>
                <a:cubicBezTo>
                  <a:pt x="-1389" y="71755"/>
                  <a:pt x="325" y="65405"/>
                  <a:pt x="5088" y="62103"/>
                </a:cubicBezTo>
                <a:cubicBezTo>
                  <a:pt x="9914" y="58801"/>
                  <a:pt x="16454" y="59436"/>
                  <a:pt x="20455" y="63690"/>
                </a:cubicBezTo>
                <a:close/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bizn-3"/>
          <p:cNvSpPr txBox="1"/>
          <p:nvPr/>
        </p:nvSpPr>
        <p:spPr>
          <a:xfrm>
            <a:off x="7184136" y="1656270"/>
            <a:ext cx="7353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服务运营</a:t>
            </a:r>
          </a:p>
        </p:txBody>
      </p:sp>
      <p:sp>
        <p:nvSpPr>
          <p:cNvPr id="23" name="bizc-3"/>
          <p:cNvSpPr txBox="1"/>
          <p:nvPr/>
        </p:nvSpPr>
        <p:spPr>
          <a:xfrm>
            <a:off x="7190232" y="1884108"/>
            <a:ext cx="3807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268 人</a:t>
            </a:r>
          </a:p>
        </p:txBody>
      </p:sp>
      <p:cxnSp>
        <p:nvCxnSpPr>
          <p:cNvPr id="24" name="bizline-3"/>
          <p:cNvCxnSpPr/>
          <p:nvPr/>
        </p:nvCxnSpPr>
        <p:spPr>
          <a:xfrm>
            <a:off x="7556500" y="2082800"/>
            <a:ext cx="0" cy="3416300"/>
          </a:xfrm>
          <a:prstGeom prst="line">
            <a:avLst/>
          </a:prstGeom>
          <a:ln w="12700" cap="rnd">
            <a:solidFill>
              <a:srgbClr val="3985CD">
                <a:alpha val="2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biz-4"/>
          <p:cNvSpPr/>
          <p:nvPr/>
        </p:nvSpPr>
        <p:spPr>
          <a:xfrm>
            <a:off x="8445500" y="1473200"/>
            <a:ext cx="1625600" cy="609600"/>
          </a:xfrm>
          <a:custGeom>
            <a:avLst/>
            <a:gdLst/>
            <a:ahLst/>
            <a:cxnLst/>
            <a:rect l="0" t="0" r="r" b="b"/>
            <a:pathLst>
              <a:path w="1625600" h="609600">
                <a:moveTo>
                  <a:pt x="101600" y="0"/>
                </a:moveTo>
                <a:lnTo>
                  <a:pt x="1524000" y="0"/>
                </a:lnTo>
                <a:cubicBezTo>
                  <a:pt x="1580134" y="0"/>
                  <a:pt x="1625600" y="45466"/>
                  <a:pt x="1625600" y="101600"/>
                </a:cubicBezTo>
                <a:lnTo>
                  <a:pt x="1625600" y="508000"/>
                </a:lnTo>
                <a:cubicBezTo>
                  <a:pt x="1625600" y="564134"/>
                  <a:pt x="1580134" y="609600"/>
                  <a:pt x="1524000" y="609600"/>
                </a:cubicBezTo>
                <a:lnTo>
                  <a:pt x="101600" y="609600"/>
                </a:lnTo>
                <a:cubicBezTo>
                  <a:pt x="45466" y="609600"/>
                  <a:pt x="0" y="564134"/>
                  <a:pt x="0" y="508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6CAFE3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icon-globe"/>
          <p:cNvSpPr/>
          <p:nvPr/>
        </p:nvSpPr>
        <p:spPr>
          <a:xfrm>
            <a:off x="8635810" y="1714310"/>
            <a:ext cx="127381" cy="127381"/>
          </a:xfrm>
          <a:custGeom>
            <a:avLst/>
            <a:gdLst/>
            <a:ahLst/>
            <a:cxnLst/>
            <a:rect l="0" t="0" r="r" b="b"/>
            <a:pathLst>
              <a:path w="127381" h="127381">
                <a:moveTo>
                  <a:pt x="0" y="63690"/>
                </a:moveTo>
                <a:lnTo>
                  <a:pt x="127381" y="63690"/>
                </a:lnTo>
                <a:moveTo>
                  <a:pt x="63690" y="0"/>
                </a:moveTo>
                <a:cubicBezTo>
                  <a:pt x="81470" y="18478"/>
                  <a:pt x="90361" y="40005"/>
                  <a:pt x="90361" y="63690"/>
                </a:cubicBezTo>
                <a:cubicBezTo>
                  <a:pt x="90361" y="87376"/>
                  <a:pt x="81470" y="108902"/>
                  <a:pt x="63690" y="127381"/>
                </a:cubicBezTo>
                <a:cubicBezTo>
                  <a:pt x="45911" y="108902"/>
                  <a:pt x="37020" y="87376"/>
                  <a:pt x="37020" y="63690"/>
                </a:cubicBezTo>
                <a:cubicBezTo>
                  <a:pt x="37020" y="40005"/>
                  <a:pt x="45911" y="18478"/>
                  <a:pt x="63690" y="0"/>
                </a:cubicBezTo>
                <a:close/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icon-globe"/>
          <p:cNvSpPr/>
          <p:nvPr/>
        </p:nvSpPr>
        <p:spPr>
          <a:xfrm>
            <a:off x="8635788" y="1714288"/>
            <a:ext cx="127423" cy="127423"/>
          </a:xfrm>
          <a:prstGeom prst="ellipse">
            <a:avLst/>
          </a:pr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bizn-4"/>
          <p:cNvSpPr txBox="1"/>
          <p:nvPr/>
        </p:nvSpPr>
        <p:spPr>
          <a:xfrm>
            <a:off x="8885936" y="1656270"/>
            <a:ext cx="7353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海外业务</a:t>
            </a:r>
          </a:p>
        </p:txBody>
      </p:sp>
      <p:sp>
        <p:nvSpPr>
          <p:cNvPr id="29" name="bizc-4"/>
          <p:cNvSpPr txBox="1"/>
          <p:nvPr/>
        </p:nvSpPr>
        <p:spPr>
          <a:xfrm>
            <a:off x="8892032" y="1884108"/>
            <a:ext cx="32842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96 人</a:t>
            </a:r>
          </a:p>
        </p:txBody>
      </p:sp>
      <p:cxnSp>
        <p:nvCxnSpPr>
          <p:cNvPr id="30" name="bizline-4"/>
          <p:cNvCxnSpPr/>
          <p:nvPr/>
        </p:nvCxnSpPr>
        <p:spPr>
          <a:xfrm>
            <a:off x="9258300" y="2082800"/>
            <a:ext cx="0" cy="3416300"/>
          </a:xfrm>
          <a:prstGeom prst="line">
            <a:avLst/>
          </a:prstGeom>
          <a:ln w="12700" cap="rnd">
            <a:solidFill>
              <a:srgbClr val="54A2DF">
                <a:alpha val="2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fn-1"/>
          <p:cNvSpPr/>
          <p:nvPr/>
        </p:nvSpPr>
        <p:spPr>
          <a:xfrm>
            <a:off x="952500" y="2247900"/>
            <a:ext cx="2095500" cy="685800"/>
          </a:xfrm>
          <a:custGeom>
            <a:avLst/>
            <a:gdLst/>
            <a:ahLst/>
            <a:cxnLst/>
            <a:rect l="0" t="0" r="r" b="b"/>
            <a:pathLst>
              <a:path w="2095500" h="685800">
                <a:moveTo>
                  <a:pt x="101600" y="0"/>
                </a:moveTo>
                <a:lnTo>
                  <a:pt x="1993900" y="0"/>
                </a:lnTo>
                <a:cubicBezTo>
                  <a:pt x="2050034" y="0"/>
                  <a:pt x="2095500" y="45466"/>
                  <a:pt x="2095500" y="101600"/>
                </a:cubicBezTo>
                <a:lnTo>
                  <a:pt x="2095500" y="584200"/>
                </a:lnTo>
                <a:cubicBezTo>
                  <a:pt x="2095500" y="640334"/>
                  <a:pt x="2050034" y="685800"/>
                  <a:pt x="1993900" y="685800"/>
                </a:cubicBezTo>
                <a:lnTo>
                  <a:pt x="101600" y="685800"/>
                </a:lnTo>
                <a:cubicBezTo>
                  <a:pt x="45466" y="685800"/>
                  <a:pt x="0" y="640334"/>
                  <a:pt x="0" y="584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fnb-1"/>
          <p:cNvSpPr/>
          <p:nvPr/>
        </p:nvSpPr>
        <p:spPr>
          <a:xfrm>
            <a:off x="952500" y="2247900"/>
            <a:ext cx="31750" cy="685800"/>
          </a:xfrm>
          <a:custGeom>
            <a:avLst/>
            <a:gdLst/>
            <a:ahLst/>
            <a:cxnLst/>
            <a:rect l="0" t="0" r="r" b="b"/>
            <a:pathLst>
              <a:path w="31750" h="6858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669925"/>
                </a:lnTo>
                <a:cubicBezTo>
                  <a:pt x="31750" y="678688"/>
                  <a:pt x="24638" y="685800"/>
                  <a:pt x="15875" y="685800"/>
                </a:cubicBezTo>
                <a:lnTo>
                  <a:pt x="15875" y="685800"/>
                </a:lnTo>
                <a:cubicBezTo>
                  <a:pt x="7112" y="685800"/>
                  <a:pt x="0" y="678688"/>
                  <a:pt x="0" y="6699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icon-code"/>
          <p:cNvSpPr/>
          <p:nvPr/>
        </p:nvSpPr>
        <p:spPr>
          <a:xfrm>
            <a:off x="1189800" y="2561146"/>
            <a:ext cx="109601" cy="59309"/>
          </a:xfrm>
          <a:custGeom>
            <a:avLst/>
            <a:gdLst/>
            <a:ahLst/>
            <a:cxnLst/>
            <a:rect l="0" t="0" r="r" b="b"/>
            <a:pathLst>
              <a:path w="109601" h="59309">
                <a:moveTo>
                  <a:pt x="32575" y="0"/>
                </a:moveTo>
                <a:lnTo>
                  <a:pt x="0" y="29655"/>
                </a:lnTo>
                <a:lnTo>
                  <a:pt x="32575" y="59309"/>
                </a:lnTo>
                <a:moveTo>
                  <a:pt x="77025" y="0"/>
                </a:moveTo>
                <a:lnTo>
                  <a:pt x="109601" y="29655"/>
                </a:lnTo>
                <a:lnTo>
                  <a:pt x="77025" y="59309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fnn-1"/>
          <p:cNvSpPr txBox="1"/>
          <p:nvPr/>
        </p:nvSpPr>
        <p:spPr>
          <a:xfrm>
            <a:off x="1456436" y="2469070"/>
            <a:ext cx="7353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研发中心</a:t>
            </a:r>
          </a:p>
        </p:txBody>
      </p:sp>
      <p:sp>
        <p:nvSpPr>
          <p:cNvPr id="35" name="fnc-1"/>
          <p:cNvSpPr txBox="1"/>
          <p:nvPr/>
        </p:nvSpPr>
        <p:spPr>
          <a:xfrm>
            <a:off x="2499995" y="2517616"/>
            <a:ext cx="4070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502 人</a:t>
            </a:r>
          </a:p>
        </p:txBody>
      </p:sp>
      <p:cxnSp>
        <p:nvCxnSpPr>
          <p:cNvPr id="36" name="fnline-1"/>
          <p:cNvCxnSpPr/>
          <p:nvPr/>
        </p:nvCxnSpPr>
        <p:spPr>
          <a:xfrm>
            <a:off x="3086100" y="2590800"/>
            <a:ext cx="6985000" cy="0"/>
          </a:xfrm>
          <a:prstGeom prst="line">
            <a:avLst/>
          </a:prstGeom>
          <a:ln w="11430" cap="rnd">
            <a:solidFill>
              <a:srgbClr val="0B3E8F">
                <a:alpha val="2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fn-2"/>
          <p:cNvSpPr/>
          <p:nvPr/>
        </p:nvSpPr>
        <p:spPr>
          <a:xfrm>
            <a:off x="952500" y="3060700"/>
            <a:ext cx="2095500" cy="685800"/>
          </a:xfrm>
          <a:custGeom>
            <a:avLst/>
            <a:gdLst/>
            <a:ahLst/>
            <a:cxnLst/>
            <a:rect l="0" t="0" r="r" b="b"/>
            <a:pathLst>
              <a:path w="2095500" h="685800">
                <a:moveTo>
                  <a:pt x="101600" y="0"/>
                </a:moveTo>
                <a:lnTo>
                  <a:pt x="1993900" y="0"/>
                </a:lnTo>
                <a:cubicBezTo>
                  <a:pt x="2050034" y="0"/>
                  <a:pt x="2095500" y="45466"/>
                  <a:pt x="2095500" y="101600"/>
                </a:cubicBezTo>
                <a:lnTo>
                  <a:pt x="2095500" y="584200"/>
                </a:lnTo>
                <a:cubicBezTo>
                  <a:pt x="2095500" y="640334"/>
                  <a:pt x="2050034" y="685800"/>
                  <a:pt x="1993900" y="685800"/>
                </a:cubicBezTo>
                <a:lnTo>
                  <a:pt x="101600" y="685800"/>
                </a:lnTo>
                <a:cubicBezTo>
                  <a:pt x="45466" y="685800"/>
                  <a:pt x="0" y="640334"/>
                  <a:pt x="0" y="584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fnb-2"/>
          <p:cNvSpPr/>
          <p:nvPr/>
        </p:nvSpPr>
        <p:spPr>
          <a:xfrm>
            <a:off x="952500" y="3060700"/>
            <a:ext cx="31750" cy="685800"/>
          </a:xfrm>
          <a:custGeom>
            <a:avLst/>
            <a:gdLst/>
            <a:ahLst/>
            <a:cxnLst/>
            <a:rect l="0" t="0" r="r" b="b"/>
            <a:pathLst>
              <a:path w="31750" h="6858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669925"/>
                </a:lnTo>
                <a:cubicBezTo>
                  <a:pt x="31750" y="678688"/>
                  <a:pt x="24638" y="685800"/>
                  <a:pt x="15875" y="685800"/>
                </a:cubicBezTo>
                <a:lnTo>
                  <a:pt x="15875" y="685800"/>
                </a:lnTo>
                <a:cubicBezTo>
                  <a:pt x="7112" y="685800"/>
                  <a:pt x="0" y="678688"/>
                  <a:pt x="0" y="6699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icon-truck"/>
          <p:cNvSpPr/>
          <p:nvPr/>
        </p:nvSpPr>
        <p:spPr>
          <a:xfrm>
            <a:off x="1182370" y="3363595"/>
            <a:ext cx="117031" cy="72580"/>
          </a:xfrm>
          <a:custGeom>
            <a:avLst/>
            <a:gdLst/>
            <a:ahLst/>
            <a:cxnLst/>
            <a:rect l="0" t="0" r="r" b="b"/>
            <a:pathLst>
              <a:path w="117031" h="72580">
                <a:moveTo>
                  <a:pt x="0" y="0"/>
                </a:moveTo>
                <a:lnTo>
                  <a:pt x="71120" y="0"/>
                </a:lnTo>
                <a:lnTo>
                  <a:pt x="71120" y="72580"/>
                </a:lnTo>
                <a:lnTo>
                  <a:pt x="0" y="72580"/>
                </a:lnTo>
                <a:close/>
                <a:moveTo>
                  <a:pt x="71120" y="26670"/>
                </a:moveTo>
                <a:lnTo>
                  <a:pt x="96330" y="26670"/>
                </a:lnTo>
                <a:lnTo>
                  <a:pt x="117031" y="48895"/>
                </a:lnTo>
                <a:lnTo>
                  <a:pt x="117031" y="72580"/>
                </a:lnTo>
                <a:lnTo>
                  <a:pt x="71120" y="72580"/>
                </a:lnTo>
                <a:close/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fnn-2"/>
          <p:cNvSpPr txBox="1"/>
          <p:nvPr/>
        </p:nvSpPr>
        <p:spPr>
          <a:xfrm>
            <a:off x="1456436" y="3281871"/>
            <a:ext cx="5829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供应链</a:t>
            </a:r>
          </a:p>
        </p:txBody>
      </p:sp>
      <p:sp>
        <p:nvSpPr>
          <p:cNvPr id="41" name="fnc-2"/>
          <p:cNvSpPr txBox="1"/>
          <p:nvPr/>
        </p:nvSpPr>
        <p:spPr>
          <a:xfrm>
            <a:off x="2499995" y="3330416"/>
            <a:ext cx="4070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338 人</a:t>
            </a:r>
          </a:p>
        </p:txBody>
      </p:sp>
      <p:cxnSp>
        <p:nvCxnSpPr>
          <p:cNvPr id="42" name="fnline-2"/>
          <p:cNvCxnSpPr/>
          <p:nvPr/>
        </p:nvCxnSpPr>
        <p:spPr>
          <a:xfrm>
            <a:off x="3086100" y="3403600"/>
            <a:ext cx="6985000" cy="0"/>
          </a:xfrm>
          <a:prstGeom prst="line">
            <a:avLst/>
          </a:prstGeom>
          <a:ln w="11430" cap="rnd">
            <a:solidFill>
              <a:srgbClr val="0B3E8F">
                <a:alpha val="2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fn-3"/>
          <p:cNvSpPr/>
          <p:nvPr/>
        </p:nvSpPr>
        <p:spPr>
          <a:xfrm>
            <a:off x="952500" y="3873500"/>
            <a:ext cx="2095500" cy="685800"/>
          </a:xfrm>
          <a:custGeom>
            <a:avLst/>
            <a:gdLst/>
            <a:ahLst/>
            <a:cxnLst/>
            <a:rect l="0" t="0" r="r" b="b"/>
            <a:pathLst>
              <a:path w="2095500" h="685800">
                <a:moveTo>
                  <a:pt x="101600" y="0"/>
                </a:moveTo>
                <a:lnTo>
                  <a:pt x="1993900" y="0"/>
                </a:lnTo>
                <a:cubicBezTo>
                  <a:pt x="2050034" y="0"/>
                  <a:pt x="2095500" y="45466"/>
                  <a:pt x="2095500" y="101600"/>
                </a:cubicBezTo>
                <a:lnTo>
                  <a:pt x="2095500" y="584200"/>
                </a:lnTo>
                <a:cubicBezTo>
                  <a:pt x="2095500" y="640334"/>
                  <a:pt x="2050034" y="685800"/>
                  <a:pt x="1993900" y="685800"/>
                </a:cubicBezTo>
                <a:lnTo>
                  <a:pt x="101600" y="685800"/>
                </a:lnTo>
                <a:cubicBezTo>
                  <a:pt x="45466" y="685800"/>
                  <a:pt x="0" y="640334"/>
                  <a:pt x="0" y="584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fnb-3"/>
          <p:cNvSpPr/>
          <p:nvPr/>
        </p:nvSpPr>
        <p:spPr>
          <a:xfrm>
            <a:off x="952500" y="3873500"/>
            <a:ext cx="31750" cy="685800"/>
          </a:xfrm>
          <a:custGeom>
            <a:avLst/>
            <a:gdLst/>
            <a:ahLst/>
            <a:cxnLst/>
            <a:rect l="0" t="0" r="r" b="b"/>
            <a:pathLst>
              <a:path w="31750" h="6858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669925"/>
                </a:lnTo>
                <a:cubicBezTo>
                  <a:pt x="31750" y="678688"/>
                  <a:pt x="24638" y="685800"/>
                  <a:pt x="15875" y="685800"/>
                </a:cubicBezTo>
                <a:lnTo>
                  <a:pt x="15875" y="685800"/>
                </a:lnTo>
                <a:cubicBezTo>
                  <a:pt x="7112" y="685800"/>
                  <a:pt x="0" y="678688"/>
                  <a:pt x="0" y="6699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icon-megaphone"/>
          <p:cNvSpPr/>
          <p:nvPr/>
        </p:nvSpPr>
        <p:spPr>
          <a:xfrm>
            <a:off x="1195705" y="4170490"/>
            <a:ext cx="96329" cy="91821"/>
          </a:xfrm>
          <a:custGeom>
            <a:avLst/>
            <a:gdLst/>
            <a:ahLst/>
            <a:cxnLst/>
            <a:rect l="0" t="0" r="r" b="b"/>
            <a:pathLst>
              <a:path w="96329" h="91821">
                <a:moveTo>
                  <a:pt x="0" y="28131"/>
                </a:moveTo>
                <a:lnTo>
                  <a:pt x="0" y="63690"/>
                </a:lnTo>
                <a:lnTo>
                  <a:pt x="22225" y="63690"/>
                </a:lnTo>
                <a:lnTo>
                  <a:pt x="75565" y="91821"/>
                </a:lnTo>
                <a:lnTo>
                  <a:pt x="75565" y="0"/>
                </a:lnTo>
                <a:lnTo>
                  <a:pt x="22225" y="28131"/>
                </a:lnTo>
                <a:close/>
                <a:moveTo>
                  <a:pt x="96329" y="31115"/>
                </a:moveTo>
                <a:lnTo>
                  <a:pt x="96329" y="60706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fnn-3"/>
          <p:cNvSpPr txBox="1"/>
          <p:nvPr/>
        </p:nvSpPr>
        <p:spPr>
          <a:xfrm>
            <a:off x="1456436" y="4094671"/>
            <a:ext cx="7353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市场销售</a:t>
            </a:r>
          </a:p>
        </p:txBody>
      </p:sp>
      <p:sp>
        <p:nvSpPr>
          <p:cNvPr id="47" name="fnc-3"/>
          <p:cNvSpPr txBox="1"/>
          <p:nvPr/>
        </p:nvSpPr>
        <p:spPr>
          <a:xfrm>
            <a:off x="2499995" y="4143216"/>
            <a:ext cx="4070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370 人</a:t>
            </a:r>
          </a:p>
        </p:txBody>
      </p:sp>
      <p:cxnSp>
        <p:nvCxnSpPr>
          <p:cNvPr id="48" name="fnline-3"/>
          <p:cNvCxnSpPr/>
          <p:nvPr/>
        </p:nvCxnSpPr>
        <p:spPr>
          <a:xfrm>
            <a:off x="3086100" y="4216400"/>
            <a:ext cx="6985000" cy="0"/>
          </a:xfrm>
          <a:prstGeom prst="line">
            <a:avLst/>
          </a:prstGeom>
          <a:ln w="11430" cap="rnd">
            <a:solidFill>
              <a:srgbClr val="0B3E8F">
                <a:alpha val="2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fn-4"/>
          <p:cNvSpPr/>
          <p:nvPr/>
        </p:nvSpPr>
        <p:spPr>
          <a:xfrm>
            <a:off x="952500" y="4686300"/>
            <a:ext cx="2095500" cy="685800"/>
          </a:xfrm>
          <a:custGeom>
            <a:avLst/>
            <a:gdLst/>
            <a:ahLst/>
            <a:cxnLst/>
            <a:rect l="0" t="0" r="r" b="b"/>
            <a:pathLst>
              <a:path w="2095500" h="685800">
                <a:moveTo>
                  <a:pt x="101600" y="0"/>
                </a:moveTo>
                <a:lnTo>
                  <a:pt x="1993900" y="0"/>
                </a:lnTo>
                <a:cubicBezTo>
                  <a:pt x="2050034" y="0"/>
                  <a:pt x="2095500" y="45466"/>
                  <a:pt x="2095500" y="101600"/>
                </a:cubicBezTo>
                <a:lnTo>
                  <a:pt x="2095500" y="584200"/>
                </a:lnTo>
                <a:cubicBezTo>
                  <a:pt x="2095500" y="640334"/>
                  <a:pt x="2050034" y="685800"/>
                  <a:pt x="1993900" y="685800"/>
                </a:cubicBezTo>
                <a:lnTo>
                  <a:pt x="101600" y="685800"/>
                </a:lnTo>
                <a:cubicBezTo>
                  <a:pt x="45466" y="685800"/>
                  <a:pt x="0" y="640334"/>
                  <a:pt x="0" y="584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fnb-4"/>
          <p:cNvSpPr/>
          <p:nvPr/>
        </p:nvSpPr>
        <p:spPr>
          <a:xfrm>
            <a:off x="952500" y="4686300"/>
            <a:ext cx="31750" cy="685800"/>
          </a:xfrm>
          <a:custGeom>
            <a:avLst/>
            <a:gdLst/>
            <a:ahLst/>
            <a:cxnLst/>
            <a:rect l="0" t="0" r="r" b="b"/>
            <a:pathLst>
              <a:path w="31750" h="6858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669925"/>
                </a:lnTo>
                <a:cubicBezTo>
                  <a:pt x="31750" y="678688"/>
                  <a:pt x="24638" y="685800"/>
                  <a:pt x="15875" y="685800"/>
                </a:cubicBezTo>
                <a:lnTo>
                  <a:pt x="15875" y="685800"/>
                </a:lnTo>
                <a:cubicBezTo>
                  <a:pt x="7112" y="685800"/>
                  <a:pt x="0" y="678688"/>
                  <a:pt x="0" y="6699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icon-people"/>
          <p:cNvSpPr/>
          <p:nvPr/>
        </p:nvSpPr>
        <p:spPr>
          <a:xfrm>
            <a:off x="1182370" y="5048440"/>
            <a:ext cx="125921" cy="35560"/>
          </a:xfrm>
          <a:custGeom>
            <a:avLst/>
            <a:gdLst/>
            <a:ahLst/>
            <a:cxnLst/>
            <a:rect l="0" t="0" r="r" b="b"/>
            <a:pathLst>
              <a:path w="125921" h="35560">
                <a:moveTo>
                  <a:pt x="0" y="35560"/>
                </a:moveTo>
                <a:cubicBezTo>
                  <a:pt x="0" y="13335"/>
                  <a:pt x="18542" y="0"/>
                  <a:pt x="40005" y="0"/>
                </a:cubicBezTo>
                <a:cubicBezTo>
                  <a:pt x="61468" y="0"/>
                  <a:pt x="80010" y="13335"/>
                  <a:pt x="80010" y="35560"/>
                </a:cubicBezTo>
                <a:moveTo>
                  <a:pt x="94806" y="2985"/>
                </a:moveTo>
                <a:cubicBezTo>
                  <a:pt x="114110" y="5207"/>
                  <a:pt x="125921" y="18542"/>
                  <a:pt x="125921" y="35560"/>
                </a:cubicBez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icon-people"/>
          <p:cNvSpPr/>
          <p:nvPr/>
        </p:nvSpPr>
        <p:spPr>
          <a:xfrm>
            <a:off x="1198668" y="4984750"/>
            <a:ext cx="47413" cy="47413"/>
          </a:xfrm>
          <a:prstGeom prst="ellipse">
            <a:avLst/>
          </a:pr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icon-people"/>
          <p:cNvSpPr/>
          <p:nvPr/>
        </p:nvSpPr>
        <p:spPr>
          <a:xfrm>
            <a:off x="1262380" y="4984750"/>
            <a:ext cx="38523" cy="38523"/>
          </a:xfrm>
          <a:prstGeom prst="ellipse">
            <a:avLst/>
          </a:pr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fnn-4"/>
          <p:cNvSpPr txBox="1"/>
          <p:nvPr/>
        </p:nvSpPr>
        <p:spPr>
          <a:xfrm>
            <a:off x="1456436" y="4907470"/>
            <a:ext cx="7353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职能后台</a:t>
            </a:r>
          </a:p>
        </p:txBody>
      </p:sp>
      <p:sp>
        <p:nvSpPr>
          <p:cNvPr id="55" name="fnc-4"/>
          <p:cNvSpPr txBox="1"/>
          <p:nvPr/>
        </p:nvSpPr>
        <p:spPr>
          <a:xfrm>
            <a:off x="2499995" y="4956016"/>
            <a:ext cx="4070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188 人</a:t>
            </a:r>
          </a:p>
        </p:txBody>
      </p:sp>
      <p:cxnSp>
        <p:nvCxnSpPr>
          <p:cNvPr id="56" name="fnline-4"/>
          <p:cNvCxnSpPr/>
          <p:nvPr/>
        </p:nvCxnSpPr>
        <p:spPr>
          <a:xfrm>
            <a:off x="3086100" y="5029200"/>
            <a:ext cx="6985000" cy="0"/>
          </a:xfrm>
          <a:prstGeom prst="line">
            <a:avLst/>
          </a:prstGeom>
          <a:ln w="11430" cap="rnd">
            <a:solidFill>
              <a:srgbClr val="0B3E8F">
                <a:alpha val="2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7" name="halo-1-1"/>
          <p:cNvSpPr/>
          <p:nvPr/>
        </p:nvSpPr>
        <p:spPr>
          <a:xfrm>
            <a:off x="3778250" y="2216150"/>
            <a:ext cx="749300" cy="749300"/>
          </a:xfrm>
          <a:prstGeom prst="ellipse">
            <a:avLst/>
          </a:pr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cell-1-1"/>
          <p:cNvSpPr/>
          <p:nvPr/>
        </p:nvSpPr>
        <p:spPr>
          <a:xfrm>
            <a:off x="3822700" y="2260600"/>
            <a:ext cx="660400" cy="660400"/>
          </a:xfrm>
          <a:prstGeom prst="ellipse">
            <a:avLst/>
          </a:prstGeom>
          <a:gradFill rotWithShape="1">
            <a:gsLst>
              <a:gs pos="0">
                <a:srgbClr val="3C65A5"/>
              </a:gs>
              <a:gs pos="100000">
                <a:srgbClr val="0B3E8F"/>
              </a:gs>
            </a:gsLst>
            <a:lin ang="744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cellv-1-1"/>
          <p:cNvSpPr txBox="1"/>
          <p:nvPr/>
        </p:nvSpPr>
        <p:spPr>
          <a:xfrm>
            <a:off x="3978021" y="2476913"/>
            <a:ext cx="349758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286</a:t>
            </a:r>
          </a:p>
        </p:txBody>
      </p:sp>
      <p:sp>
        <p:nvSpPr>
          <p:cNvPr id="60" name="halo-1-2"/>
          <p:cNvSpPr/>
          <p:nvPr/>
        </p:nvSpPr>
        <p:spPr>
          <a:xfrm>
            <a:off x="5532261" y="2268361"/>
            <a:ext cx="644878" cy="644878"/>
          </a:xfrm>
          <a:prstGeom prst="ellipse">
            <a:avLst/>
          </a:prstGeom>
          <a:solidFill>
            <a:srgbClr val="1B5AA8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cell-1-2"/>
          <p:cNvSpPr/>
          <p:nvPr/>
        </p:nvSpPr>
        <p:spPr>
          <a:xfrm>
            <a:off x="5576711" y="2312811"/>
            <a:ext cx="555978" cy="555978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1B5AA8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cellv-1-2"/>
          <p:cNvSpPr txBox="1"/>
          <p:nvPr/>
        </p:nvSpPr>
        <p:spPr>
          <a:xfrm>
            <a:off x="5679821" y="2476913"/>
            <a:ext cx="349758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15">
                <a:solidFill>
                  <a:srgbClr val="1B5AA8"/>
                </a:solidFill>
                <a:latin typeface="Arial"/>
                <a:ea typeface="Arial"/>
                <a:cs typeface="Arial"/>
              </a:rPr>
              <a:t>142</a:t>
            </a:r>
          </a:p>
        </p:txBody>
      </p:sp>
      <p:sp>
        <p:nvSpPr>
          <p:cNvPr id="63" name="halo-1-3"/>
          <p:cNvSpPr/>
          <p:nvPr/>
        </p:nvSpPr>
        <p:spPr>
          <a:xfrm>
            <a:off x="7301794" y="2336094"/>
            <a:ext cx="509411" cy="509411"/>
          </a:xfrm>
          <a:prstGeom prst="ellipse">
            <a:avLst/>
          </a:prstGeom>
          <a:solidFill>
            <a:srgbClr val="3985CD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cell-1-3"/>
          <p:cNvSpPr/>
          <p:nvPr/>
        </p:nvSpPr>
        <p:spPr>
          <a:xfrm>
            <a:off x="7346244" y="2380544"/>
            <a:ext cx="420511" cy="420511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3985CD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cellv-1-3"/>
          <p:cNvSpPr txBox="1"/>
          <p:nvPr/>
        </p:nvSpPr>
        <p:spPr>
          <a:xfrm>
            <a:off x="7419912" y="2476913"/>
            <a:ext cx="273177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15">
                <a:solidFill>
                  <a:srgbClr val="3985CD"/>
                </a:solidFill>
                <a:latin typeface="Arial"/>
                <a:ea typeface="Arial"/>
                <a:cs typeface="Arial"/>
              </a:rPr>
              <a:t>46</a:t>
            </a:r>
          </a:p>
        </p:txBody>
      </p:sp>
      <p:sp>
        <p:nvSpPr>
          <p:cNvPr id="66" name="halo-1-4"/>
          <p:cNvSpPr/>
          <p:nvPr/>
        </p:nvSpPr>
        <p:spPr>
          <a:xfrm>
            <a:off x="9016294" y="2348794"/>
            <a:ext cx="484011" cy="484011"/>
          </a:xfrm>
          <a:prstGeom prst="ellipse">
            <a:avLst/>
          </a:prstGeom>
          <a:solidFill>
            <a:srgbClr val="54A2D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cell-1-4"/>
          <p:cNvSpPr/>
          <p:nvPr/>
        </p:nvSpPr>
        <p:spPr>
          <a:xfrm>
            <a:off x="9060744" y="2393244"/>
            <a:ext cx="395111" cy="395111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54A2D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cellv-1-4"/>
          <p:cNvSpPr txBox="1"/>
          <p:nvPr/>
        </p:nvSpPr>
        <p:spPr>
          <a:xfrm>
            <a:off x="9121712" y="2476913"/>
            <a:ext cx="273177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15">
                <a:solidFill>
                  <a:srgbClr val="54A2DF"/>
                </a:solidFill>
                <a:latin typeface="Arial"/>
                <a:ea typeface="Arial"/>
                <a:cs typeface="Arial"/>
              </a:rPr>
              <a:t>28</a:t>
            </a:r>
          </a:p>
        </p:txBody>
      </p:sp>
      <p:sp>
        <p:nvSpPr>
          <p:cNvPr id="69" name="halo-2-1"/>
          <p:cNvSpPr/>
          <p:nvPr/>
        </p:nvSpPr>
        <p:spPr>
          <a:xfrm>
            <a:off x="3778250" y="3028950"/>
            <a:ext cx="749300" cy="749300"/>
          </a:xfrm>
          <a:prstGeom prst="ellipse">
            <a:avLst/>
          </a:pr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cell-2-1"/>
          <p:cNvSpPr/>
          <p:nvPr/>
        </p:nvSpPr>
        <p:spPr>
          <a:xfrm>
            <a:off x="3822700" y="3073400"/>
            <a:ext cx="660400" cy="660400"/>
          </a:xfrm>
          <a:prstGeom prst="ellipse">
            <a:avLst/>
          </a:prstGeom>
          <a:gradFill rotWithShape="1">
            <a:gsLst>
              <a:gs pos="0">
                <a:srgbClr val="3C65A5"/>
              </a:gs>
              <a:gs pos="100000">
                <a:srgbClr val="0B3E8F"/>
              </a:gs>
            </a:gsLst>
            <a:lin ang="744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cellv-2-1"/>
          <p:cNvSpPr txBox="1"/>
          <p:nvPr/>
        </p:nvSpPr>
        <p:spPr>
          <a:xfrm>
            <a:off x="3978021" y="3289713"/>
            <a:ext cx="349758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218</a:t>
            </a:r>
          </a:p>
        </p:txBody>
      </p:sp>
      <p:sp>
        <p:nvSpPr>
          <p:cNvPr id="72" name="halo-2-2"/>
          <p:cNvSpPr/>
          <p:nvPr/>
        </p:nvSpPr>
        <p:spPr>
          <a:xfrm>
            <a:off x="5607050" y="3155950"/>
            <a:ext cx="495300" cy="495300"/>
          </a:xfrm>
          <a:prstGeom prst="ellipse">
            <a:avLst/>
          </a:prstGeom>
          <a:solidFill>
            <a:srgbClr val="1B5AA8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cell-2-2"/>
          <p:cNvSpPr/>
          <p:nvPr/>
        </p:nvSpPr>
        <p:spPr>
          <a:xfrm>
            <a:off x="5651500" y="3200400"/>
            <a:ext cx="406400" cy="4064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1B5AA8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cellv-2-2"/>
          <p:cNvSpPr txBox="1"/>
          <p:nvPr/>
        </p:nvSpPr>
        <p:spPr>
          <a:xfrm>
            <a:off x="5718112" y="3289713"/>
            <a:ext cx="273177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15">
                <a:solidFill>
                  <a:srgbClr val="1B5AA8"/>
                </a:solidFill>
                <a:latin typeface="Arial"/>
                <a:ea typeface="Arial"/>
                <a:cs typeface="Arial"/>
              </a:rPr>
              <a:t>36</a:t>
            </a:r>
          </a:p>
        </p:txBody>
      </p:sp>
      <p:sp>
        <p:nvSpPr>
          <p:cNvPr id="75" name="halo-2-3"/>
          <p:cNvSpPr/>
          <p:nvPr/>
        </p:nvSpPr>
        <p:spPr>
          <a:xfrm>
            <a:off x="7290506" y="3137606"/>
            <a:ext cx="531989" cy="531989"/>
          </a:xfrm>
          <a:prstGeom prst="ellipse">
            <a:avLst/>
          </a:prstGeom>
          <a:solidFill>
            <a:srgbClr val="3985CD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cell-2-3"/>
          <p:cNvSpPr/>
          <p:nvPr/>
        </p:nvSpPr>
        <p:spPr>
          <a:xfrm>
            <a:off x="7334956" y="3182056"/>
            <a:ext cx="443089" cy="443089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3985CD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cellv-2-3"/>
          <p:cNvSpPr txBox="1"/>
          <p:nvPr/>
        </p:nvSpPr>
        <p:spPr>
          <a:xfrm>
            <a:off x="7419912" y="3289713"/>
            <a:ext cx="273177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15">
                <a:solidFill>
                  <a:srgbClr val="3985CD"/>
                </a:solidFill>
                <a:latin typeface="Arial"/>
                <a:ea typeface="Arial"/>
                <a:cs typeface="Arial"/>
              </a:rPr>
              <a:t>62</a:t>
            </a:r>
          </a:p>
        </p:txBody>
      </p:sp>
      <p:sp>
        <p:nvSpPr>
          <p:cNvPr id="78" name="halo-2-4"/>
          <p:cNvSpPr/>
          <p:nvPr/>
        </p:nvSpPr>
        <p:spPr>
          <a:xfrm>
            <a:off x="9020528" y="3165828"/>
            <a:ext cx="475544" cy="475544"/>
          </a:xfrm>
          <a:prstGeom prst="ellipse">
            <a:avLst/>
          </a:prstGeom>
          <a:solidFill>
            <a:srgbClr val="54A2D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cell-2-4"/>
          <p:cNvSpPr/>
          <p:nvPr/>
        </p:nvSpPr>
        <p:spPr>
          <a:xfrm>
            <a:off x="9064978" y="3210278"/>
            <a:ext cx="386644" cy="386644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54A2D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cellv-2-4"/>
          <p:cNvSpPr txBox="1"/>
          <p:nvPr/>
        </p:nvSpPr>
        <p:spPr>
          <a:xfrm>
            <a:off x="9121712" y="3289713"/>
            <a:ext cx="273177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15">
                <a:solidFill>
                  <a:srgbClr val="54A2DF"/>
                </a:solidFill>
                <a:latin typeface="Arial"/>
                <a:ea typeface="Arial"/>
                <a:cs typeface="Arial"/>
              </a:rPr>
              <a:t>22</a:t>
            </a:r>
          </a:p>
        </p:txBody>
      </p:sp>
      <p:sp>
        <p:nvSpPr>
          <p:cNvPr id="81" name="halo-3-1"/>
          <p:cNvSpPr/>
          <p:nvPr/>
        </p:nvSpPr>
        <p:spPr>
          <a:xfrm>
            <a:off x="3814939" y="3878439"/>
            <a:ext cx="675922" cy="675922"/>
          </a:xfrm>
          <a:prstGeom prst="ellipse">
            <a:avLst/>
          </a:pr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cell-3-1"/>
          <p:cNvSpPr/>
          <p:nvPr/>
        </p:nvSpPr>
        <p:spPr>
          <a:xfrm>
            <a:off x="3859389" y="3922889"/>
            <a:ext cx="587022" cy="587022"/>
          </a:xfrm>
          <a:prstGeom prst="ellipse">
            <a:avLst/>
          </a:prstGeom>
          <a:gradFill rotWithShape="1">
            <a:gsLst>
              <a:gs pos="0">
                <a:srgbClr val="3C65A5"/>
              </a:gs>
              <a:gs pos="100000">
                <a:srgbClr val="0B3E8F"/>
              </a:gs>
            </a:gsLst>
            <a:lin ang="744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cellv-3-1"/>
          <p:cNvSpPr txBox="1"/>
          <p:nvPr/>
        </p:nvSpPr>
        <p:spPr>
          <a:xfrm>
            <a:off x="3978021" y="4102513"/>
            <a:ext cx="349758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164</a:t>
            </a:r>
          </a:p>
        </p:txBody>
      </p:sp>
      <p:sp>
        <p:nvSpPr>
          <p:cNvPr id="84" name="halo-3-2"/>
          <p:cNvSpPr/>
          <p:nvPr/>
        </p:nvSpPr>
        <p:spPr>
          <a:xfrm>
            <a:off x="5563306" y="3925006"/>
            <a:ext cx="582789" cy="582789"/>
          </a:xfrm>
          <a:prstGeom prst="ellipse">
            <a:avLst/>
          </a:prstGeom>
          <a:solidFill>
            <a:srgbClr val="1B5AA8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cell-3-2"/>
          <p:cNvSpPr/>
          <p:nvPr/>
        </p:nvSpPr>
        <p:spPr>
          <a:xfrm>
            <a:off x="5607756" y="3969456"/>
            <a:ext cx="493889" cy="493889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1B5AA8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cellv-3-2"/>
          <p:cNvSpPr txBox="1"/>
          <p:nvPr/>
        </p:nvSpPr>
        <p:spPr>
          <a:xfrm>
            <a:off x="5718112" y="4102513"/>
            <a:ext cx="273177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15">
                <a:solidFill>
                  <a:srgbClr val="1B5AA8"/>
                </a:solidFill>
                <a:latin typeface="Arial"/>
                <a:ea typeface="Arial"/>
                <a:cs typeface="Arial"/>
              </a:rPr>
              <a:t>98</a:t>
            </a:r>
          </a:p>
        </p:txBody>
      </p:sp>
      <p:sp>
        <p:nvSpPr>
          <p:cNvPr id="87" name="halo-3-3"/>
          <p:cNvSpPr/>
          <p:nvPr/>
        </p:nvSpPr>
        <p:spPr>
          <a:xfrm>
            <a:off x="7282039" y="3941939"/>
            <a:ext cx="548922" cy="548922"/>
          </a:xfrm>
          <a:prstGeom prst="ellipse">
            <a:avLst/>
          </a:prstGeom>
          <a:solidFill>
            <a:srgbClr val="3985CD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cell-3-3"/>
          <p:cNvSpPr/>
          <p:nvPr/>
        </p:nvSpPr>
        <p:spPr>
          <a:xfrm>
            <a:off x="7326489" y="3986389"/>
            <a:ext cx="460022" cy="460022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3985CD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cellv-3-3"/>
          <p:cNvSpPr txBox="1"/>
          <p:nvPr/>
        </p:nvSpPr>
        <p:spPr>
          <a:xfrm>
            <a:off x="7419912" y="4102513"/>
            <a:ext cx="273177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15">
                <a:solidFill>
                  <a:srgbClr val="3985CD"/>
                </a:solidFill>
                <a:latin typeface="Arial"/>
                <a:ea typeface="Arial"/>
                <a:cs typeface="Arial"/>
              </a:rPr>
              <a:t>74</a:t>
            </a:r>
          </a:p>
        </p:txBody>
      </p:sp>
      <p:sp>
        <p:nvSpPr>
          <p:cNvPr id="90" name="halo-3-4"/>
          <p:cNvSpPr/>
          <p:nvPr/>
        </p:nvSpPr>
        <p:spPr>
          <a:xfrm>
            <a:off x="9012061" y="3970161"/>
            <a:ext cx="492478" cy="492478"/>
          </a:xfrm>
          <a:prstGeom prst="ellipse">
            <a:avLst/>
          </a:prstGeom>
          <a:solidFill>
            <a:srgbClr val="54A2D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cell-3-4"/>
          <p:cNvSpPr/>
          <p:nvPr/>
        </p:nvSpPr>
        <p:spPr>
          <a:xfrm>
            <a:off x="9056511" y="4014611"/>
            <a:ext cx="403578" cy="403578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54A2D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cellv-3-4"/>
          <p:cNvSpPr txBox="1"/>
          <p:nvPr/>
        </p:nvSpPr>
        <p:spPr>
          <a:xfrm>
            <a:off x="9121712" y="4102513"/>
            <a:ext cx="273177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15">
                <a:solidFill>
                  <a:srgbClr val="54A2DF"/>
                </a:solidFill>
                <a:latin typeface="Arial"/>
                <a:ea typeface="Arial"/>
                <a:cs typeface="Arial"/>
              </a:rPr>
              <a:t>34</a:t>
            </a:r>
          </a:p>
        </p:txBody>
      </p:sp>
      <p:sp>
        <p:nvSpPr>
          <p:cNvPr id="93" name="halo-4-1"/>
          <p:cNvSpPr/>
          <p:nvPr/>
        </p:nvSpPr>
        <p:spPr>
          <a:xfrm>
            <a:off x="3862917" y="4739217"/>
            <a:ext cx="579967" cy="579967"/>
          </a:xfrm>
          <a:prstGeom prst="ellipse">
            <a:avLst/>
          </a:pr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cell-4-1"/>
          <p:cNvSpPr/>
          <p:nvPr/>
        </p:nvSpPr>
        <p:spPr>
          <a:xfrm>
            <a:off x="3907367" y="4783667"/>
            <a:ext cx="491067" cy="491067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0B3E8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cellv-4-1"/>
          <p:cNvSpPr txBox="1"/>
          <p:nvPr/>
        </p:nvSpPr>
        <p:spPr>
          <a:xfrm>
            <a:off x="4016312" y="4915313"/>
            <a:ext cx="273177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96</a:t>
            </a:r>
          </a:p>
        </p:txBody>
      </p:sp>
      <p:sp>
        <p:nvSpPr>
          <p:cNvPr id="96" name="halo-4-2"/>
          <p:cNvSpPr/>
          <p:nvPr/>
        </p:nvSpPr>
        <p:spPr>
          <a:xfrm>
            <a:off x="5602817" y="4777317"/>
            <a:ext cx="503767" cy="503767"/>
          </a:xfrm>
          <a:prstGeom prst="ellipse">
            <a:avLst/>
          </a:prstGeom>
          <a:solidFill>
            <a:srgbClr val="1B5AA8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cell-4-2"/>
          <p:cNvSpPr/>
          <p:nvPr/>
        </p:nvSpPr>
        <p:spPr>
          <a:xfrm>
            <a:off x="5647267" y="4821767"/>
            <a:ext cx="414867" cy="414867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1B5AA8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cellv-4-2"/>
          <p:cNvSpPr txBox="1"/>
          <p:nvPr/>
        </p:nvSpPr>
        <p:spPr>
          <a:xfrm>
            <a:off x="5718112" y="4915313"/>
            <a:ext cx="273177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15">
                <a:solidFill>
                  <a:srgbClr val="1B5AA8"/>
                </a:solidFill>
                <a:latin typeface="Arial"/>
                <a:ea typeface="Arial"/>
                <a:cs typeface="Arial"/>
              </a:rPr>
              <a:t>42</a:t>
            </a:r>
          </a:p>
        </p:txBody>
      </p:sp>
      <p:sp>
        <p:nvSpPr>
          <p:cNvPr id="99" name="halo-4-3"/>
          <p:cNvSpPr/>
          <p:nvPr/>
        </p:nvSpPr>
        <p:spPr>
          <a:xfrm>
            <a:off x="7307439" y="4780139"/>
            <a:ext cx="498122" cy="498122"/>
          </a:xfrm>
          <a:prstGeom prst="ellipse">
            <a:avLst/>
          </a:prstGeom>
          <a:solidFill>
            <a:srgbClr val="3985CD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cell-4-3"/>
          <p:cNvSpPr/>
          <p:nvPr/>
        </p:nvSpPr>
        <p:spPr>
          <a:xfrm>
            <a:off x="7351889" y="4824589"/>
            <a:ext cx="409222" cy="409222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3985CD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cellv-4-3"/>
          <p:cNvSpPr txBox="1"/>
          <p:nvPr/>
        </p:nvSpPr>
        <p:spPr>
          <a:xfrm>
            <a:off x="7419912" y="4915313"/>
            <a:ext cx="273177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15">
                <a:solidFill>
                  <a:srgbClr val="3985CD"/>
                </a:solidFill>
                <a:latin typeface="Arial"/>
                <a:ea typeface="Arial"/>
                <a:cs typeface="Arial"/>
              </a:rPr>
              <a:t>38</a:t>
            </a:r>
          </a:p>
        </p:txBody>
      </p:sp>
      <p:sp>
        <p:nvSpPr>
          <p:cNvPr id="102" name="halo-4-4"/>
          <p:cNvSpPr/>
          <p:nvPr/>
        </p:nvSpPr>
        <p:spPr>
          <a:xfrm>
            <a:off x="9027583" y="4798483"/>
            <a:ext cx="461433" cy="461433"/>
          </a:xfrm>
          <a:prstGeom prst="ellipse">
            <a:avLst/>
          </a:prstGeom>
          <a:solidFill>
            <a:srgbClr val="54A2D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cell-4-4"/>
          <p:cNvSpPr/>
          <p:nvPr/>
        </p:nvSpPr>
        <p:spPr>
          <a:xfrm>
            <a:off x="9072033" y="4842933"/>
            <a:ext cx="372533" cy="372533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54A2D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4" name="cellv-4-4"/>
          <p:cNvSpPr txBox="1"/>
          <p:nvPr/>
        </p:nvSpPr>
        <p:spPr>
          <a:xfrm>
            <a:off x="9121712" y="4915313"/>
            <a:ext cx="273177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15">
                <a:solidFill>
                  <a:srgbClr val="54A2DF"/>
                </a:solidFill>
                <a:latin typeface="Arial"/>
                <a:ea typeface="Arial"/>
                <a:cs typeface="Arial"/>
              </a:rPr>
              <a:t>12</a:t>
            </a:r>
          </a:p>
        </p:txBody>
      </p:sp>
      <p:cxnSp>
        <p:nvCxnSpPr>
          <p:cNvPr id="105" name="lg-solid"/>
          <p:cNvCxnSpPr/>
          <p:nvPr/>
        </p:nvCxnSpPr>
        <p:spPr>
          <a:xfrm>
            <a:off x="1016000" y="5613400"/>
            <a:ext cx="317500" cy="0"/>
          </a:xfrm>
          <a:prstGeom prst="line">
            <a:avLst/>
          </a:prstGeom>
          <a:ln w="15240" cap="rnd">
            <a:solidFill>
              <a:srgbClr val="134C9C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6" name="lg-solidt"/>
          <p:cNvSpPr txBox="1"/>
          <p:nvPr/>
        </p:nvSpPr>
        <p:spPr>
          <a:xfrm>
            <a:off x="1410970" y="5533866"/>
            <a:ext cx="77025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业务线实线汇报</a:t>
            </a:r>
          </a:p>
        </p:txBody>
      </p:sp>
      <p:cxnSp>
        <p:nvCxnSpPr>
          <p:cNvPr id="107" name="lg-dash"/>
          <p:cNvCxnSpPr/>
          <p:nvPr/>
        </p:nvCxnSpPr>
        <p:spPr>
          <a:xfrm>
            <a:off x="2603500" y="5613400"/>
            <a:ext cx="317500" cy="0"/>
          </a:xfrm>
          <a:prstGeom prst="line">
            <a:avLst/>
          </a:prstGeom>
          <a:ln w="12700" cap="rnd">
            <a:solidFill>
              <a:srgbClr val="0B3E8F">
                <a:alpha val="4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8" name="lg-dasht"/>
          <p:cNvSpPr txBox="1"/>
          <p:nvPr/>
        </p:nvSpPr>
        <p:spPr>
          <a:xfrm>
            <a:off x="2998470" y="5533866"/>
            <a:ext cx="77025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职能线虚线汇报</a:t>
            </a:r>
          </a:p>
        </p:txBody>
      </p:sp>
      <p:sp>
        <p:nvSpPr>
          <p:cNvPr id="109" name="lg-dot"/>
          <p:cNvSpPr/>
          <p:nvPr/>
        </p:nvSpPr>
        <p:spPr>
          <a:xfrm>
            <a:off x="4248150" y="5518150"/>
            <a:ext cx="139700" cy="1397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0" name="lg-dott"/>
          <p:cNvSpPr txBox="1"/>
          <p:nvPr/>
        </p:nvSpPr>
        <p:spPr>
          <a:xfrm>
            <a:off x="4433570" y="5533866"/>
            <a:ext cx="12312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圆圈大小 = 该交叉点人数</a:t>
            </a:r>
          </a:p>
        </p:txBody>
      </p:sp>
      <p:sp>
        <p:nvSpPr>
          <p:cNvPr id="111" name="sum"/>
          <p:cNvSpPr/>
          <p:nvPr/>
        </p:nvSpPr>
        <p:spPr>
          <a:xfrm>
            <a:off x="952500" y="5765800"/>
            <a:ext cx="10287000" cy="533400"/>
          </a:xfrm>
          <a:custGeom>
            <a:avLst/>
            <a:gdLst/>
            <a:ahLst/>
            <a:cxnLst/>
            <a:rect l="0" t="0" r="r" b="b"/>
            <a:pathLst>
              <a:path w="10287000" h="5334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31800"/>
                </a:lnTo>
                <a:cubicBezTo>
                  <a:pt x="10287000" y="487934"/>
                  <a:pt x="10241534" y="533400"/>
                  <a:pt x="10185400" y="533400"/>
                </a:cubicBezTo>
                <a:lnTo>
                  <a:pt x="101600" y="533400"/>
                </a:lnTo>
                <a:cubicBezTo>
                  <a:pt x="45466" y="533400"/>
                  <a:pt x="0" y="487934"/>
                  <a:pt x="0" y="431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2" name="sum-bar"/>
          <p:cNvSpPr/>
          <p:nvPr/>
        </p:nvSpPr>
        <p:spPr>
          <a:xfrm>
            <a:off x="952500" y="57658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3" name="sum-h"/>
          <p:cNvSpPr txBox="1"/>
          <p:nvPr/>
        </p:nvSpPr>
        <p:spPr>
          <a:xfrm>
            <a:off x="1141222" y="58580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汇报规则</a:t>
            </a:r>
          </a:p>
        </p:txBody>
      </p:sp>
      <p:sp>
        <p:nvSpPr>
          <p:cNvPr id="114" name="sum-p"/>
          <p:cNvSpPr txBox="1"/>
          <p:nvPr/>
        </p:nvSpPr>
        <p:spPr>
          <a:xfrm>
            <a:off x="1142365" y="6073061"/>
            <a:ext cx="59763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绩效由业务线主评（70%）、职能线复评（30%）；资源冲突由双线负责人当周协商，超过 48 小时自动上交经营会。</a:t>
            </a:r>
          </a:p>
        </p:txBody>
      </p:sp>
      <p:cxnSp>
        <p:nvCxnSpPr>
          <p:cNvPr id="115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6" name="foot-l"/>
          <p:cNvSpPr txBox="1"/>
          <p:nvPr/>
        </p:nvSpPr>
        <p:spPr>
          <a:xfrm>
            <a:off x="573532" y="6532308"/>
            <a:ext cx="124218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矩阵组织 · 四业务四职能</a:t>
            </a:r>
          </a:p>
        </p:txBody>
      </p:sp>
      <p:sp>
        <p:nvSpPr>
          <p:cNvPr id="117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交付链条五环相扣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08165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CHAIN MODEL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894699" y="673132"/>
            <a:ext cx="27260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五个环节首尾相扣，任何一环断裂，整条链都传不动</a:t>
            </a:r>
          </a:p>
        </p:txBody>
      </p:sp>
      <p:sp>
        <p:nvSpPr>
          <p:cNvPr id="10" name="link-1"/>
          <p:cNvSpPr/>
          <p:nvPr/>
        </p:nvSpPr>
        <p:spPr>
          <a:xfrm>
            <a:off x="1587500" y="2171700"/>
            <a:ext cx="1905000" cy="1117600"/>
          </a:xfrm>
          <a:prstGeom prst="ellipse">
            <a:avLst/>
          </a:prstGeom>
          <a:noFill/>
          <a:ln w="165100" cap="rnd">
            <a:solidFill>
              <a:srgbClr val="0B3E8F"/>
            </a:solidFill>
            <a:round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linkin-1"/>
          <p:cNvSpPr/>
          <p:nvPr/>
        </p:nvSpPr>
        <p:spPr>
          <a:xfrm>
            <a:off x="1670050" y="2254250"/>
            <a:ext cx="1739900" cy="952500"/>
          </a:xfrm>
          <a:prstGeom prst="ellipse">
            <a:avLst/>
          </a:prstGeom>
          <a:noFill/>
          <a:ln w="12700" cap="rnd">
            <a:solidFill>
              <a:srgbClr val="FFFFFF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chip-1"/>
          <p:cNvSpPr/>
          <p:nvPr/>
        </p:nvSpPr>
        <p:spPr>
          <a:xfrm>
            <a:off x="2349500" y="2400300"/>
            <a:ext cx="381000" cy="381000"/>
          </a:xfrm>
          <a:prstGeom prst="ellipse">
            <a:avLst/>
          </a:pr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icon-search"/>
          <p:cNvSpPr/>
          <p:nvPr/>
        </p:nvSpPr>
        <p:spPr>
          <a:xfrm>
            <a:off x="2566988" y="2617788"/>
            <a:ext cx="31750" cy="31750"/>
          </a:xfrm>
          <a:custGeom>
            <a:avLst/>
            <a:gdLst/>
            <a:ahLst/>
            <a:cxnLst/>
            <a:rect l="0" t="0" r="r" b="b"/>
            <a:pathLst>
              <a:path w="31750" h="31750">
                <a:moveTo>
                  <a:pt x="31750" y="31750"/>
                </a:moveTo>
                <a:lnTo>
                  <a:pt x="0" y="0"/>
                </a:lnTo>
              </a:path>
            </a:pathLst>
          </a:custGeom>
          <a:noFill/>
          <a:ln w="1333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icon-search"/>
          <p:cNvSpPr/>
          <p:nvPr/>
        </p:nvSpPr>
        <p:spPr>
          <a:xfrm>
            <a:off x="2481262" y="2532062"/>
            <a:ext cx="101600" cy="101600"/>
          </a:xfrm>
          <a:prstGeom prst="ellipse">
            <a:avLst/>
          </a:prstGeom>
          <a:noFill/>
          <a:ln w="1333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nm-1"/>
          <p:cNvSpPr txBox="1"/>
          <p:nvPr/>
        </p:nvSpPr>
        <p:spPr>
          <a:xfrm>
            <a:off x="2272348" y="2683859"/>
            <a:ext cx="535305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需求</a:t>
            </a:r>
          </a:p>
        </p:txBody>
      </p:sp>
      <p:sp>
        <p:nvSpPr>
          <p:cNvPr id="16" name="no-1"/>
          <p:cNvSpPr txBox="1"/>
          <p:nvPr/>
        </p:nvSpPr>
        <p:spPr>
          <a:xfrm>
            <a:off x="2437448" y="2955766"/>
            <a:ext cx="2051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50">
                <a:solidFill>
                  <a:srgbClr val="0B3E8F"/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17" name="link-2"/>
          <p:cNvSpPr/>
          <p:nvPr/>
        </p:nvSpPr>
        <p:spPr>
          <a:xfrm>
            <a:off x="3098800" y="2387600"/>
            <a:ext cx="1905000" cy="1117600"/>
          </a:xfrm>
          <a:prstGeom prst="ellipse">
            <a:avLst/>
          </a:prstGeom>
          <a:noFill/>
          <a:ln w="165100" cap="rnd">
            <a:solidFill>
              <a:srgbClr val="1B5AA8"/>
            </a:solidFill>
            <a:round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linkin-2"/>
          <p:cNvSpPr/>
          <p:nvPr/>
        </p:nvSpPr>
        <p:spPr>
          <a:xfrm>
            <a:off x="3181350" y="2470150"/>
            <a:ext cx="1739900" cy="952500"/>
          </a:xfrm>
          <a:prstGeom prst="ellipse">
            <a:avLst/>
          </a:prstGeom>
          <a:noFill/>
          <a:ln w="12700" cap="rnd">
            <a:solidFill>
              <a:srgbClr val="FFFFFF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chip-2"/>
          <p:cNvSpPr/>
          <p:nvPr/>
        </p:nvSpPr>
        <p:spPr>
          <a:xfrm>
            <a:off x="3860800" y="2616200"/>
            <a:ext cx="381000" cy="381000"/>
          </a:xfrm>
          <a:prstGeom prst="ellipse">
            <a:avLst/>
          </a:pr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icon-bulb"/>
          <p:cNvSpPr/>
          <p:nvPr/>
        </p:nvSpPr>
        <p:spPr>
          <a:xfrm>
            <a:off x="4006301" y="2738438"/>
            <a:ext cx="89997" cy="133350"/>
          </a:xfrm>
          <a:custGeom>
            <a:avLst/>
            <a:gdLst/>
            <a:ahLst/>
            <a:cxnLst/>
            <a:rect l="0" t="0" r="r" b="b"/>
            <a:pathLst>
              <a:path w="89997" h="133350">
                <a:moveTo>
                  <a:pt x="25949" y="111125"/>
                </a:moveTo>
                <a:lnTo>
                  <a:pt x="64049" y="111125"/>
                </a:lnTo>
                <a:moveTo>
                  <a:pt x="30711" y="133350"/>
                </a:moveTo>
                <a:lnTo>
                  <a:pt x="59286" y="133350"/>
                </a:lnTo>
                <a:moveTo>
                  <a:pt x="44999" y="0"/>
                </a:moveTo>
                <a:cubicBezTo>
                  <a:pt x="64303" y="-254"/>
                  <a:pt x="81511" y="12001"/>
                  <a:pt x="87671" y="30289"/>
                </a:cubicBezTo>
                <a:cubicBezTo>
                  <a:pt x="93830" y="48514"/>
                  <a:pt x="87480" y="68707"/>
                  <a:pt x="71986" y="80200"/>
                </a:cubicBezTo>
                <a:cubicBezTo>
                  <a:pt x="66462" y="84900"/>
                  <a:pt x="64049" y="89725"/>
                  <a:pt x="64049" y="96838"/>
                </a:cubicBezTo>
                <a:lnTo>
                  <a:pt x="25949" y="96838"/>
                </a:lnTo>
                <a:cubicBezTo>
                  <a:pt x="25949" y="89725"/>
                  <a:pt x="23536" y="84900"/>
                  <a:pt x="18011" y="80200"/>
                </a:cubicBezTo>
                <a:cubicBezTo>
                  <a:pt x="2517" y="68707"/>
                  <a:pt x="-3833" y="48514"/>
                  <a:pt x="2327" y="30289"/>
                </a:cubicBezTo>
                <a:cubicBezTo>
                  <a:pt x="8486" y="12001"/>
                  <a:pt x="25695" y="-254"/>
                  <a:pt x="44999" y="0"/>
                </a:cubicBezTo>
                <a:close/>
              </a:path>
            </a:pathLst>
          </a:custGeom>
          <a:noFill/>
          <a:ln w="1333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nm-2"/>
          <p:cNvSpPr txBox="1"/>
          <p:nvPr/>
        </p:nvSpPr>
        <p:spPr>
          <a:xfrm>
            <a:off x="3783648" y="2899759"/>
            <a:ext cx="535305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方案</a:t>
            </a:r>
          </a:p>
        </p:txBody>
      </p:sp>
      <p:sp>
        <p:nvSpPr>
          <p:cNvPr id="22" name="no-2"/>
          <p:cNvSpPr txBox="1"/>
          <p:nvPr/>
        </p:nvSpPr>
        <p:spPr>
          <a:xfrm>
            <a:off x="3948748" y="3171666"/>
            <a:ext cx="2051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50">
                <a:solidFill>
                  <a:srgbClr val="1B5AA8"/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23" name="link-3"/>
          <p:cNvSpPr/>
          <p:nvPr/>
        </p:nvSpPr>
        <p:spPr>
          <a:xfrm>
            <a:off x="4610100" y="2171700"/>
            <a:ext cx="1905000" cy="1117600"/>
          </a:xfrm>
          <a:prstGeom prst="ellipse">
            <a:avLst/>
          </a:prstGeom>
          <a:noFill/>
          <a:ln w="165100" cap="rnd">
            <a:solidFill>
              <a:srgbClr val="2E77C2"/>
            </a:solidFill>
            <a:round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linkin-3"/>
          <p:cNvSpPr/>
          <p:nvPr/>
        </p:nvSpPr>
        <p:spPr>
          <a:xfrm>
            <a:off x="4692650" y="2254250"/>
            <a:ext cx="1739900" cy="952500"/>
          </a:xfrm>
          <a:prstGeom prst="ellipse">
            <a:avLst/>
          </a:prstGeom>
          <a:noFill/>
          <a:ln w="12700" cap="rnd">
            <a:solidFill>
              <a:srgbClr val="FFFFFF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chip-3"/>
          <p:cNvSpPr/>
          <p:nvPr/>
        </p:nvSpPr>
        <p:spPr>
          <a:xfrm>
            <a:off x="5372100" y="2400300"/>
            <a:ext cx="381000" cy="381000"/>
          </a:xfrm>
          <a:prstGeom prst="ellipse">
            <a:avLst/>
          </a:pr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icon-factory"/>
          <p:cNvSpPr/>
          <p:nvPr/>
        </p:nvSpPr>
        <p:spPr>
          <a:xfrm>
            <a:off x="5494338" y="2560638"/>
            <a:ext cx="136525" cy="92075"/>
          </a:xfrm>
          <a:custGeom>
            <a:avLst/>
            <a:gdLst/>
            <a:ahLst/>
            <a:cxnLst/>
            <a:rect l="0" t="0" r="r" b="b"/>
            <a:pathLst>
              <a:path w="136525" h="92075">
                <a:moveTo>
                  <a:pt x="0" y="92075"/>
                </a:moveTo>
                <a:lnTo>
                  <a:pt x="0" y="22225"/>
                </a:lnTo>
                <a:lnTo>
                  <a:pt x="39688" y="46038"/>
                </a:lnTo>
                <a:lnTo>
                  <a:pt x="39688" y="22225"/>
                </a:lnTo>
                <a:lnTo>
                  <a:pt x="79375" y="46038"/>
                </a:lnTo>
                <a:lnTo>
                  <a:pt x="79375" y="0"/>
                </a:lnTo>
                <a:lnTo>
                  <a:pt x="119062" y="23812"/>
                </a:lnTo>
                <a:lnTo>
                  <a:pt x="119062" y="84138"/>
                </a:lnTo>
                <a:close/>
                <a:moveTo>
                  <a:pt x="0" y="92075"/>
                </a:moveTo>
                <a:lnTo>
                  <a:pt x="136525" y="92075"/>
                </a:lnTo>
              </a:path>
            </a:pathLst>
          </a:custGeom>
          <a:noFill/>
          <a:ln w="13335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nm-3"/>
          <p:cNvSpPr txBox="1"/>
          <p:nvPr/>
        </p:nvSpPr>
        <p:spPr>
          <a:xfrm>
            <a:off x="5294948" y="2683859"/>
            <a:ext cx="535305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生产</a:t>
            </a:r>
          </a:p>
        </p:txBody>
      </p:sp>
      <p:sp>
        <p:nvSpPr>
          <p:cNvPr id="28" name="no-3"/>
          <p:cNvSpPr txBox="1"/>
          <p:nvPr/>
        </p:nvSpPr>
        <p:spPr>
          <a:xfrm>
            <a:off x="5460048" y="2955766"/>
            <a:ext cx="2051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50">
                <a:solidFill>
                  <a:srgbClr val="2E77C2"/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29" name="link-4"/>
          <p:cNvSpPr/>
          <p:nvPr/>
        </p:nvSpPr>
        <p:spPr>
          <a:xfrm>
            <a:off x="6121400" y="2387600"/>
            <a:ext cx="1905000" cy="1117600"/>
          </a:xfrm>
          <a:prstGeom prst="ellipse">
            <a:avLst/>
          </a:prstGeom>
          <a:noFill/>
          <a:ln w="165100" cap="rnd">
            <a:solidFill>
              <a:srgbClr val="3985CD"/>
            </a:solidFill>
            <a:round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linkin-4"/>
          <p:cNvSpPr/>
          <p:nvPr/>
        </p:nvSpPr>
        <p:spPr>
          <a:xfrm>
            <a:off x="6203950" y="2470150"/>
            <a:ext cx="1739900" cy="952500"/>
          </a:xfrm>
          <a:prstGeom prst="ellipse">
            <a:avLst/>
          </a:prstGeom>
          <a:noFill/>
          <a:ln w="12700" cap="rnd">
            <a:solidFill>
              <a:srgbClr val="FFFFFF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chip-4"/>
          <p:cNvSpPr/>
          <p:nvPr/>
        </p:nvSpPr>
        <p:spPr>
          <a:xfrm>
            <a:off x="6883400" y="2616200"/>
            <a:ext cx="381000" cy="381000"/>
          </a:xfrm>
          <a:prstGeom prst="ellipse">
            <a:avLst/>
          </a:prstGeom>
          <a:solidFill>
            <a:srgbClr val="3985CD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icon-truck"/>
          <p:cNvSpPr/>
          <p:nvPr/>
        </p:nvSpPr>
        <p:spPr>
          <a:xfrm>
            <a:off x="7007225" y="2763838"/>
            <a:ext cx="125412" cy="77788"/>
          </a:xfrm>
          <a:custGeom>
            <a:avLst/>
            <a:gdLst/>
            <a:ahLst/>
            <a:cxnLst/>
            <a:rect l="0" t="0" r="r" b="b"/>
            <a:pathLst>
              <a:path w="125412" h="77788">
                <a:moveTo>
                  <a:pt x="0" y="0"/>
                </a:moveTo>
                <a:lnTo>
                  <a:pt x="76200" y="0"/>
                </a:lnTo>
                <a:lnTo>
                  <a:pt x="76200" y="77788"/>
                </a:lnTo>
                <a:lnTo>
                  <a:pt x="0" y="77788"/>
                </a:lnTo>
                <a:close/>
                <a:moveTo>
                  <a:pt x="76200" y="28575"/>
                </a:moveTo>
                <a:lnTo>
                  <a:pt x="103188" y="28575"/>
                </a:lnTo>
                <a:lnTo>
                  <a:pt x="125412" y="52388"/>
                </a:lnTo>
                <a:lnTo>
                  <a:pt x="125412" y="77788"/>
                </a:lnTo>
                <a:lnTo>
                  <a:pt x="76200" y="77788"/>
                </a:lnTo>
                <a:close/>
              </a:path>
            </a:pathLst>
          </a:custGeom>
          <a:noFill/>
          <a:ln w="13335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nm-4"/>
          <p:cNvSpPr txBox="1"/>
          <p:nvPr/>
        </p:nvSpPr>
        <p:spPr>
          <a:xfrm>
            <a:off x="6806247" y="2899759"/>
            <a:ext cx="535305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交付</a:t>
            </a:r>
          </a:p>
        </p:txBody>
      </p:sp>
      <p:sp>
        <p:nvSpPr>
          <p:cNvPr id="34" name="no-4"/>
          <p:cNvSpPr txBox="1"/>
          <p:nvPr/>
        </p:nvSpPr>
        <p:spPr>
          <a:xfrm>
            <a:off x="6971347" y="3171666"/>
            <a:ext cx="2051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50">
                <a:solidFill>
                  <a:srgbClr val="3985CD"/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35" name="link-5"/>
          <p:cNvSpPr/>
          <p:nvPr/>
        </p:nvSpPr>
        <p:spPr>
          <a:xfrm>
            <a:off x="7632700" y="2171700"/>
            <a:ext cx="1905000" cy="1117600"/>
          </a:xfrm>
          <a:prstGeom prst="ellipse">
            <a:avLst/>
          </a:prstGeom>
          <a:noFill/>
          <a:ln w="165100" cap="rnd">
            <a:solidFill>
              <a:srgbClr val="54A2DF"/>
            </a:solidFill>
            <a:round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linkin-5"/>
          <p:cNvSpPr/>
          <p:nvPr/>
        </p:nvSpPr>
        <p:spPr>
          <a:xfrm>
            <a:off x="7715250" y="2254250"/>
            <a:ext cx="1739900" cy="952500"/>
          </a:xfrm>
          <a:prstGeom prst="ellipse">
            <a:avLst/>
          </a:prstGeom>
          <a:noFill/>
          <a:ln w="12700" cap="rnd">
            <a:solidFill>
              <a:srgbClr val="FFFFFF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chip-5"/>
          <p:cNvSpPr/>
          <p:nvPr/>
        </p:nvSpPr>
        <p:spPr>
          <a:xfrm>
            <a:off x="8394700" y="2400300"/>
            <a:ext cx="381000" cy="381000"/>
          </a:xfrm>
          <a:prstGeom prst="ellipse">
            <a:avLst/>
          </a:prstGeom>
          <a:solidFill>
            <a:srgbClr val="54A2D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icon-coin"/>
          <p:cNvSpPr/>
          <p:nvPr/>
        </p:nvSpPr>
        <p:spPr>
          <a:xfrm>
            <a:off x="8534400" y="2546350"/>
            <a:ext cx="101600" cy="88900"/>
          </a:xfrm>
          <a:custGeom>
            <a:avLst/>
            <a:gdLst/>
            <a:ahLst/>
            <a:cxnLst/>
            <a:rect l="0" t="0" r="r" b="b"/>
            <a:pathLst>
              <a:path w="101600" h="88900">
                <a:moveTo>
                  <a:pt x="50800" y="0"/>
                </a:moveTo>
                <a:cubicBezTo>
                  <a:pt x="22225" y="0"/>
                  <a:pt x="0" y="7938"/>
                  <a:pt x="0" y="19050"/>
                </a:cubicBezTo>
                <a:cubicBezTo>
                  <a:pt x="0" y="30162"/>
                  <a:pt x="22225" y="38100"/>
                  <a:pt x="50800" y="38100"/>
                </a:cubicBezTo>
                <a:cubicBezTo>
                  <a:pt x="79375" y="38100"/>
                  <a:pt x="101600" y="30162"/>
                  <a:pt x="101600" y="19050"/>
                </a:cubicBezTo>
                <a:cubicBezTo>
                  <a:pt x="101600" y="7938"/>
                  <a:pt x="79375" y="0"/>
                  <a:pt x="50800" y="0"/>
                </a:cubicBezTo>
                <a:close/>
                <a:moveTo>
                  <a:pt x="0" y="19050"/>
                </a:moveTo>
                <a:lnTo>
                  <a:pt x="0" y="69850"/>
                </a:lnTo>
                <a:cubicBezTo>
                  <a:pt x="0" y="80962"/>
                  <a:pt x="22225" y="88900"/>
                  <a:pt x="50800" y="88900"/>
                </a:cubicBezTo>
                <a:cubicBezTo>
                  <a:pt x="79375" y="88900"/>
                  <a:pt x="101600" y="80962"/>
                  <a:pt x="101600" y="69850"/>
                </a:cubicBezTo>
                <a:lnTo>
                  <a:pt x="101600" y="19050"/>
                </a:lnTo>
              </a:path>
            </a:pathLst>
          </a:custGeom>
          <a:noFill/>
          <a:ln w="13335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nm-5"/>
          <p:cNvSpPr txBox="1"/>
          <p:nvPr/>
        </p:nvSpPr>
        <p:spPr>
          <a:xfrm>
            <a:off x="8317547" y="2683859"/>
            <a:ext cx="535305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回款</a:t>
            </a:r>
          </a:p>
        </p:txBody>
      </p:sp>
      <p:sp>
        <p:nvSpPr>
          <p:cNvPr id="40" name="no-5"/>
          <p:cNvSpPr txBox="1"/>
          <p:nvPr/>
        </p:nvSpPr>
        <p:spPr>
          <a:xfrm>
            <a:off x="8482648" y="2955766"/>
            <a:ext cx="2051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50">
                <a:solidFill>
                  <a:srgbClr val="54A2DF"/>
                </a:solidFill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41" name="warn"/>
          <p:cNvSpPr/>
          <p:nvPr/>
        </p:nvSpPr>
        <p:spPr>
          <a:xfrm>
            <a:off x="6235700" y="3860800"/>
            <a:ext cx="1676400" cy="279400"/>
          </a:xfrm>
          <a:custGeom>
            <a:avLst/>
            <a:gdLst/>
            <a:ahLst/>
            <a:cxnLst/>
            <a:rect l="0" t="0" r="r" b="b"/>
            <a:pathLst>
              <a:path w="1676400" h="279400">
                <a:moveTo>
                  <a:pt x="139700" y="0"/>
                </a:moveTo>
                <a:lnTo>
                  <a:pt x="1536700" y="0"/>
                </a:lnTo>
                <a:cubicBezTo>
                  <a:pt x="1613853" y="0"/>
                  <a:pt x="1676400" y="62548"/>
                  <a:pt x="1676400" y="139700"/>
                </a:cubicBezTo>
                <a:lnTo>
                  <a:pt x="1676400" y="139700"/>
                </a:lnTo>
                <a:cubicBezTo>
                  <a:pt x="1676400" y="216852"/>
                  <a:pt x="1613853" y="279400"/>
                  <a:pt x="1536700" y="279400"/>
                </a:cubicBezTo>
                <a:lnTo>
                  <a:pt x="139700" y="279400"/>
                </a:lnTo>
                <a:cubicBezTo>
                  <a:pt x="62548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solidFill>
            <a:srgbClr val="E0703A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warn-t"/>
          <p:cNvSpPr txBox="1"/>
          <p:nvPr/>
        </p:nvSpPr>
        <p:spPr>
          <a:xfrm>
            <a:off x="6561836" y="3919474"/>
            <a:ext cx="1024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4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任一环断 = 整链停</a:t>
            </a:r>
          </a:p>
        </p:txBody>
      </p:sp>
      <p:sp>
        <p:nvSpPr>
          <p:cNvPr id="43" name="card-1"/>
          <p:cNvSpPr/>
          <p:nvPr/>
        </p:nvSpPr>
        <p:spPr>
          <a:xfrm>
            <a:off x="952500" y="4445000"/>
            <a:ext cx="1981200" cy="1333500"/>
          </a:xfrm>
          <a:custGeom>
            <a:avLst/>
            <a:gdLst/>
            <a:ahLst/>
            <a:cxnLst/>
            <a:rect l="0" t="0" r="r" b="b"/>
            <a:pathLst>
              <a:path w="1981200" h="1333500">
                <a:moveTo>
                  <a:pt x="114300" y="0"/>
                </a:moveTo>
                <a:lnTo>
                  <a:pt x="1866900" y="0"/>
                </a:lnTo>
                <a:cubicBezTo>
                  <a:pt x="1930019" y="0"/>
                  <a:pt x="1981200" y="51181"/>
                  <a:pt x="1981200" y="114300"/>
                </a:cubicBezTo>
                <a:lnTo>
                  <a:pt x="1981200" y="1219200"/>
                </a:lnTo>
                <a:cubicBezTo>
                  <a:pt x="1981200" y="1282319"/>
                  <a:pt x="1930019" y="1333500"/>
                  <a:pt x="1866900" y="1333500"/>
                </a:cubicBezTo>
                <a:lnTo>
                  <a:pt x="114300" y="1333500"/>
                </a:lnTo>
                <a:cubicBezTo>
                  <a:pt x="51181" y="1333500"/>
                  <a:pt x="0" y="1282319"/>
                  <a:pt x="0" y="12192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cap-1"/>
          <p:cNvSpPr/>
          <p:nvPr/>
        </p:nvSpPr>
        <p:spPr>
          <a:xfrm>
            <a:off x="952500" y="4445000"/>
            <a:ext cx="1981200" cy="44450"/>
          </a:xfrm>
          <a:custGeom>
            <a:avLst/>
            <a:gdLst/>
            <a:ahLst/>
            <a:cxnLst/>
            <a:rect l="0" t="0" r="r" b="b"/>
            <a:pathLst>
              <a:path w="1981200" h="44450">
                <a:moveTo>
                  <a:pt x="22225" y="0"/>
                </a:moveTo>
                <a:lnTo>
                  <a:pt x="1958975" y="0"/>
                </a:lnTo>
                <a:cubicBezTo>
                  <a:pt x="1971230" y="0"/>
                  <a:pt x="1981200" y="9970"/>
                  <a:pt x="1981200" y="22225"/>
                </a:cubicBezTo>
                <a:lnTo>
                  <a:pt x="1981200" y="22225"/>
                </a:lnTo>
                <a:cubicBezTo>
                  <a:pt x="1981200" y="34480"/>
                  <a:pt x="1971230" y="44450"/>
                  <a:pt x="1958975" y="44450"/>
                </a:cubicBezTo>
                <a:lnTo>
                  <a:pt x="22225" y="44450"/>
                </a:lnTo>
                <a:cubicBezTo>
                  <a:pt x="9969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70"/>
                  <a:pt x="9969" y="0"/>
                  <a:pt x="2222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cn-1"/>
          <p:cNvSpPr txBox="1"/>
          <p:nvPr/>
        </p:nvSpPr>
        <p:spPr>
          <a:xfrm>
            <a:off x="1715452" y="4582128"/>
            <a:ext cx="45529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5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需求</a:t>
            </a:r>
          </a:p>
        </p:txBody>
      </p:sp>
      <p:sp>
        <p:nvSpPr>
          <p:cNvPr id="46" name="cp-1-1"/>
          <p:cNvSpPr txBox="1"/>
          <p:nvPr/>
        </p:nvSpPr>
        <p:spPr>
          <a:xfrm>
            <a:off x="1384776" y="4864687"/>
            <a:ext cx="111664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把客户要的翻译成可执行</a:t>
            </a:r>
          </a:p>
        </p:txBody>
      </p:sp>
      <p:sp>
        <p:nvSpPr>
          <p:cNvPr id="47" name="kp-1-1"/>
          <p:cNvSpPr/>
          <p:nvPr/>
        </p:nvSpPr>
        <p:spPr>
          <a:xfrm>
            <a:off x="1117600" y="5232400"/>
            <a:ext cx="1651000" cy="190500"/>
          </a:xfrm>
          <a:custGeom>
            <a:avLst/>
            <a:gdLst/>
            <a:ahLst/>
            <a:cxnLst/>
            <a:rect l="0" t="0" r="r" b="b"/>
            <a:pathLst>
              <a:path w="1651000" h="190500">
                <a:moveTo>
                  <a:pt x="95250" y="0"/>
                </a:moveTo>
                <a:lnTo>
                  <a:pt x="1555750" y="0"/>
                </a:lnTo>
                <a:cubicBezTo>
                  <a:pt x="1608328" y="0"/>
                  <a:pt x="1651000" y="42672"/>
                  <a:pt x="1651000" y="95250"/>
                </a:cubicBezTo>
                <a:lnTo>
                  <a:pt x="1651000" y="95250"/>
                </a:lnTo>
                <a:cubicBezTo>
                  <a:pt x="1651000" y="147828"/>
                  <a:pt x="1608328" y="190500"/>
                  <a:pt x="15557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0B3E8F">
              <a:alpha val="9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kpt-1-1"/>
          <p:cNvSpPr txBox="1"/>
          <p:nvPr/>
        </p:nvSpPr>
        <p:spPr>
          <a:xfrm>
            <a:off x="1478407" y="5262308"/>
            <a:ext cx="92938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需求评审通过率 92%</a:t>
            </a:r>
          </a:p>
        </p:txBody>
      </p:sp>
      <p:sp>
        <p:nvSpPr>
          <p:cNvPr id="49" name="kp-1-2"/>
          <p:cNvSpPr/>
          <p:nvPr/>
        </p:nvSpPr>
        <p:spPr>
          <a:xfrm>
            <a:off x="1117600" y="5448300"/>
            <a:ext cx="1651000" cy="190500"/>
          </a:xfrm>
          <a:custGeom>
            <a:avLst/>
            <a:gdLst/>
            <a:ahLst/>
            <a:cxnLst/>
            <a:rect l="0" t="0" r="r" b="b"/>
            <a:pathLst>
              <a:path w="1651000" h="190500">
                <a:moveTo>
                  <a:pt x="95250" y="0"/>
                </a:moveTo>
                <a:lnTo>
                  <a:pt x="1555750" y="0"/>
                </a:lnTo>
                <a:cubicBezTo>
                  <a:pt x="1608328" y="0"/>
                  <a:pt x="1651000" y="42672"/>
                  <a:pt x="1651000" y="95250"/>
                </a:cubicBezTo>
                <a:lnTo>
                  <a:pt x="1651000" y="95250"/>
                </a:lnTo>
                <a:cubicBezTo>
                  <a:pt x="1651000" y="147828"/>
                  <a:pt x="1608328" y="190500"/>
                  <a:pt x="15557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0B3E8F">
              <a:alpha val="9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kpt-1-2"/>
          <p:cNvSpPr txBox="1"/>
          <p:nvPr/>
        </p:nvSpPr>
        <p:spPr>
          <a:xfrm>
            <a:off x="1583055" y="5478208"/>
            <a:ext cx="7200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变更走书面流程</a:t>
            </a:r>
          </a:p>
        </p:txBody>
      </p:sp>
      <p:sp>
        <p:nvSpPr>
          <p:cNvPr id="51" name="card-2"/>
          <p:cNvSpPr/>
          <p:nvPr/>
        </p:nvSpPr>
        <p:spPr>
          <a:xfrm>
            <a:off x="3028950" y="4445000"/>
            <a:ext cx="1981200" cy="1333500"/>
          </a:xfrm>
          <a:custGeom>
            <a:avLst/>
            <a:gdLst/>
            <a:ahLst/>
            <a:cxnLst/>
            <a:rect l="0" t="0" r="r" b="b"/>
            <a:pathLst>
              <a:path w="1981200" h="1333500">
                <a:moveTo>
                  <a:pt x="114300" y="0"/>
                </a:moveTo>
                <a:lnTo>
                  <a:pt x="1866900" y="0"/>
                </a:lnTo>
                <a:cubicBezTo>
                  <a:pt x="1930019" y="0"/>
                  <a:pt x="1981200" y="51181"/>
                  <a:pt x="1981200" y="114300"/>
                </a:cubicBezTo>
                <a:lnTo>
                  <a:pt x="1981200" y="1219200"/>
                </a:lnTo>
                <a:cubicBezTo>
                  <a:pt x="1981200" y="1282319"/>
                  <a:pt x="1930019" y="1333500"/>
                  <a:pt x="1866900" y="1333500"/>
                </a:cubicBezTo>
                <a:lnTo>
                  <a:pt x="114300" y="1333500"/>
                </a:lnTo>
                <a:cubicBezTo>
                  <a:pt x="51181" y="1333500"/>
                  <a:pt x="0" y="1282319"/>
                  <a:pt x="0" y="12192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cap-2"/>
          <p:cNvSpPr/>
          <p:nvPr/>
        </p:nvSpPr>
        <p:spPr>
          <a:xfrm>
            <a:off x="3028950" y="4445000"/>
            <a:ext cx="1981200" cy="44450"/>
          </a:xfrm>
          <a:custGeom>
            <a:avLst/>
            <a:gdLst/>
            <a:ahLst/>
            <a:cxnLst/>
            <a:rect l="0" t="0" r="r" b="b"/>
            <a:pathLst>
              <a:path w="1981200" h="44450">
                <a:moveTo>
                  <a:pt x="22225" y="0"/>
                </a:moveTo>
                <a:lnTo>
                  <a:pt x="1958975" y="0"/>
                </a:lnTo>
                <a:cubicBezTo>
                  <a:pt x="1971230" y="0"/>
                  <a:pt x="1981200" y="9970"/>
                  <a:pt x="1981200" y="22225"/>
                </a:cubicBezTo>
                <a:lnTo>
                  <a:pt x="1981200" y="22225"/>
                </a:lnTo>
                <a:cubicBezTo>
                  <a:pt x="1981200" y="34480"/>
                  <a:pt x="1971230" y="44450"/>
                  <a:pt x="1958975" y="44450"/>
                </a:cubicBezTo>
                <a:lnTo>
                  <a:pt x="22225" y="44450"/>
                </a:lnTo>
                <a:cubicBezTo>
                  <a:pt x="9969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70"/>
                  <a:pt x="9969" y="0"/>
                  <a:pt x="2222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cn-2"/>
          <p:cNvSpPr txBox="1"/>
          <p:nvPr/>
        </p:nvSpPr>
        <p:spPr>
          <a:xfrm>
            <a:off x="3791902" y="4582128"/>
            <a:ext cx="45529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5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方案</a:t>
            </a:r>
          </a:p>
        </p:txBody>
      </p:sp>
      <p:sp>
        <p:nvSpPr>
          <p:cNvPr id="54" name="cp-2-1"/>
          <p:cNvSpPr txBox="1"/>
          <p:nvPr/>
        </p:nvSpPr>
        <p:spPr>
          <a:xfrm>
            <a:off x="3555206" y="4864687"/>
            <a:ext cx="9286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技术与成本同时可行</a:t>
            </a:r>
          </a:p>
        </p:txBody>
      </p:sp>
      <p:sp>
        <p:nvSpPr>
          <p:cNvPr id="55" name="kp-2-1"/>
          <p:cNvSpPr/>
          <p:nvPr/>
        </p:nvSpPr>
        <p:spPr>
          <a:xfrm>
            <a:off x="3194050" y="5232400"/>
            <a:ext cx="1651000" cy="190500"/>
          </a:xfrm>
          <a:custGeom>
            <a:avLst/>
            <a:gdLst/>
            <a:ahLst/>
            <a:cxnLst/>
            <a:rect l="0" t="0" r="r" b="b"/>
            <a:pathLst>
              <a:path w="1651000" h="190500">
                <a:moveTo>
                  <a:pt x="95250" y="0"/>
                </a:moveTo>
                <a:lnTo>
                  <a:pt x="1555750" y="0"/>
                </a:lnTo>
                <a:cubicBezTo>
                  <a:pt x="1608328" y="0"/>
                  <a:pt x="1651000" y="42672"/>
                  <a:pt x="1651000" y="95250"/>
                </a:cubicBezTo>
                <a:lnTo>
                  <a:pt x="1651000" y="95250"/>
                </a:lnTo>
                <a:cubicBezTo>
                  <a:pt x="1651000" y="147828"/>
                  <a:pt x="1608328" y="190500"/>
                  <a:pt x="15557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1B5AA8">
              <a:alpha val="9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kpt-2-1"/>
          <p:cNvSpPr txBox="1"/>
          <p:nvPr/>
        </p:nvSpPr>
        <p:spPr>
          <a:xfrm>
            <a:off x="3554857" y="5262308"/>
            <a:ext cx="92938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方案一次通过率 78%</a:t>
            </a:r>
          </a:p>
        </p:txBody>
      </p:sp>
      <p:sp>
        <p:nvSpPr>
          <p:cNvPr id="57" name="kp-2-2"/>
          <p:cNvSpPr/>
          <p:nvPr/>
        </p:nvSpPr>
        <p:spPr>
          <a:xfrm>
            <a:off x="3194050" y="5448300"/>
            <a:ext cx="1651000" cy="190500"/>
          </a:xfrm>
          <a:custGeom>
            <a:avLst/>
            <a:gdLst/>
            <a:ahLst/>
            <a:cxnLst/>
            <a:rect l="0" t="0" r="r" b="b"/>
            <a:pathLst>
              <a:path w="1651000" h="190500">
                <a:moveTo>
                  <a:pt x="95250" y="0"/>
                </a:moveTo>
                <a:lnTo>
                  <a:pt x="1555750" y="0"/>
                </a:lnTo>
                <a:cubicBezTo>
                  <a:pt x="1608328" y="0"/>
                  <a:pt x="1651000" y="42672"/>
                  <a:pt x="1651000" y="95250"/>
                </a:cubicBezTo>
                <a:lnTo>
                  <a:pt x="1651000" y="95250"/>
                </a:lnTo>
                <a:cubicBezTo>
                  <a:pt x="1651000" y="147828"/>
                  <a:pt x="1608328" y="190500"/>
                  <a:pt x="15557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1B5AA8">
              <a:alpha val="9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kpt-2-2"/>
          <p:cNvSpPr txBox="1"/>
          <p:nvPr/>
        </p:nvSpPr>
        <p:spPr>
          <a:xfrm>
            <a:off x="3600577" y="5478208"/>
            <a:ext cx="8379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成本预估偏差 &lt;5%</a:t>
            </a:r>
          </a:p>
        </p:txBody>
      </p:sp>
      <p:sp>
        <p:nvSpPr>
          <p:cNvPr id="59" name="card-3"/>
          <p:cNvSpPr/>
          <p:nvPr/>
        </p:nvSpPr>
        <p:spPr>
          <a:xfrm>
            <a:off x="5105400" y="4445000"/>
            <a:ext cx="1981200" cy="1333500"/>
          </a:xfrm>
          <a:custGeom>
            <a:avLst/>
            <a:gdLst/>
            <a:ahLst/>
            <a:cxnLst/>
            <a:rect l="0" t="0" r="r" b="b"/>
            <a:pathLst>
              <a:path w="1981200" h="1333500">
                <a:moveTo>
                  <a:pt x="114300" y="0"/>
                </a:moveTo>
                <a:lnTo>
                  <a:pt x="1866900" y="0"/>
                </a:lnTo>
                <a:cubicBezTo>
                  <a:pt x="1930019" y="0"/>
                  <a:pt x="1981200" y="51181"/>
                  <a:pt x="1981200" y="114300"/>
                </a:cubicBezTo>
                <a:lnTo>
                  <a:pt x="1981200" y="1219200"/>
                </a:lnTo>
                <a:cubicBezTo>
                  <a:pt x="1981200" y="1282319"/>
                  <a:pt x="1930019" y="1333500"/>
                  <a:pt x="1866900" y="1333500"/>
                </a:cubicBezTo>
                <a:lnTo>
                  <a:pt x="114300" y="1333500"/>
                </a:lnTo>
                <a:cubicBezTo>
                  <a:pt x="51181" y="1333500"/>
                  <a:pt x="0" y="1282319"/>
                  <a:pt x="0" y="12192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cap-3"/>
          <p:cNvSpPr/>
          <p:nvPr/>
        </p:nvSpPr>
        <p:spPr>
          <a:xfrm>
            <a:off x="5105400" y="4445000"/>
            <a:ext cx="1981200" cy="44450"/>
          </a:xfrm>
          <a:custGeom>
            <a:avLst/>
            <a:gdLst/>
            <a:ahLst/>
            <a:cxnLst/>
            <a:rect l="0" t="0" r="r" b="b"/>
            <a:pathLst>
              <a:path w="1981200" h="44450">
                <a:moveTo>
                  <a:pt x="22225" y="0"/>
                </a:moveTo>
                <a:lnTo>
                  <a:pt x="1958975" y="0"/>
                </a:lnTo>
                <a:cubicBezTo>
                  <a:pt x="1971231" y="0"/>
                  <a:pt x="1981200" y="9970"/>
                  <a:pt x="1981200" y="22225"/>
                </a:cubicBezTo>
                <a:lnTo>
                  <a:pt x="1981200" y="22225"/>
                </a:lnTo>
                <a:cubicBezTo>
                  <a:pt x="1981200" y="34480"/>
                  <a:pt x="1971231" y="44450"/>
                  <a:pt x="1958975" y="44450"/>
                </a:cubicBezTo>
                <a:lnTo>
                  <a:pt x="22225" y="44450"/>
                </a:lnTo>
                <a:cubicBezTo>
                  <a:pt x="9970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70"/>
                  <a:pt x="9970" y="0"/>
                  <a:pt x="22225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cn-3"/>
          <p:cNvSpPr txBox="1"/>
          <p:nvPr/>
        </p:nvSpPr>
        <p:spPr>
          <a:xfrm>
            <a:off x="5868352" y="4582128"/>
            <a:ext cx="45529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5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生产</a:t>
            </a:r>
          </a:p>
        </p:txBody>
      </p:sp>
      <p:sp>
        <p:nvSpPr>
          <p:cNvPr id="62" name="cp-3-1"/>
          <p:cNvSpPr txBox="1"/>
          <p:nvPr/>
        </p:nvSpPr>
        <p:spPr>
          <a:xfrm>
            <a:off x="5725636" y="4864687"/>
            <a:ext cx="74072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按节拍稳定产出</a:t>
            </a:r>
          </a:p>
        </p:txBody>
      </p:sp>
      <p:sp>
        <p:nvSpPr>
          <p:cNvPr id="63" name="kp-3-1"/>
          <p:cNvSpPr/>
          <p:nvPr/>
        </p:nvSpPr>
        <p:spPr>
          <a:xfrm>
            <a:off x="5270500" y="5232400"/>
            <a:ext cx="1651000" cy="190500"/>
          </a:xfrm>
          <a:custGeom>
            <a:avLst/>
            <a:gdLst/>
            <a:ahLst/>
            <a:cxnLst/>
            <a:rect l="0" t="0" r="r" b="b"/>
            <a:pathLst>
              <a:path w="1651000" h="190500">
                <a:moveTo>
                  <a:pt x="95250" y="0"/>
                </a:moveTo>
                <a:lnTo>
                  <a:pt x="1555750" y="0"/>
                </a:lnTo>
                <a:cubicBezTo>
                  <a:pt x="1608328" y="0"/>
                  <a:pt x="1651000" y="42672"/>
                  <a:pt x="1651000" y="95250"/>
                </a:cubicBezTo>
                <a:lnTo>
                  <a:pt x="1651000" y="95250"/>
                </a:lnTo>
                <a:cubicBezTo>
                  <a:pt x="1651000" y="147828"/>
                  <a:pt x="1608328" y="190500"/>
                  <a:pt x="15557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2E77C2">
              <a:alpha val="9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kpt-3-1"/>
          <p:cNvSpPr txBox="1"/>
          <p:nvPr/>
        </p:nvSpPr>
        <p:spPr>
          <a:xfrm>
            <a:off x="5761863" y="5262308"/>
            <a:ext cx="66827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直通率 96.4%</a:t>
            </a:r>
          </a:p>
        </p:txBody>
      </p:sp>
      <p:sp>
        <p:nvSpPr>
          <p:cNvPr id="65" name="kp-3-2"/>
          <p:cNvSpPr/>
          <p:nvPr/>
        </p:nvSpPr>
        <p:spPr>
          <a:xfrm>
            <a:off x="5270500" y="5448300"/>
            <a:ext cx="1651000" cy="190500"/>
          </a:xfrm>
          <a:custGeom>
            <a:avLst/>
            <a:gdLst/>
            <a:ahLst/>
            <a:cxnLst/>
            <a:rect l="0" t="0" r="r" b="b"/>
            <a:pathLst>
              <a:path w="1651000" h="190500">
                <a:moveTo>
                  <a:pt x="95250" y="0"/>
                </a:moveTo>
                <a:lnTo>
                  <a:pt x="1555750" y="0"/>
                </a:lnTo>
                <a:cubicBezTo>
                  <a:pt x="1608328" y="0"/>
                  <a:pt x="1651000" y="42672"/>
                  <a:pt x="1651000" y="95250"/>
                </a:cubicBezTo>
                <a:lnTo>
                  <a:pt x="1651000" y="95250"/>
                </a:lnTo>
                <a:cubicBezTo>
                  <a:pt x="1651000" y="147828"/>
                  <a:pt x="1608328" y="190500"/>
                  <a:pt x="15557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2E77C2">
              <a:alpha val="9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kpt-3-2"/>
          <p:cNvSpPr txBox="1"/>
          <p:nvPr/>
        </p:nvSpPr>
        <p:spPr>
          <a:xfrm>
            <a:off x="5722747" y="5478208"/>
            <a:ext cx="7465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计划达成率 94%</a:t>
            </a:r>
          </a:p>
        </p:txBody>
      </p:sp>
      <p:sp>
        <p:nvSpPr>
          <p:cNvPr id="67" name="card-4"/>
          <p:cNvSpPr/>
          <p:nvPr/>
        </p:nvSpPr>
        <p:spPr>
          <a:xfrm>
            <a:off x="7181850" y="4445000"/>
            <a:ext cx="1981200" cy="1333500"/>
          </a:xfrm>
          <a:custGeom>
            <a:avLst/>
            <a:gdLst/>
            <a:ahLst/>
            <a:cxnLst/>
            <a:rect l="0" t="0" r="r" b="b"/>
            <a:pathLst>
              <a:path w="1981200" h="1333500">
                <a:moveTo>
                  <a:pt x="114300" y="0"/>
                </a:moveTo>
                <a:lnTo>
                  <a:pt x="1866900" y="0"/>
                </a:lnTo>
                <a:cubicBezTo>
                  <a:pt x="1930019" y="0"/>
                  <a:pt x="1981200" y="51181"/>
                  <a:pt x="1981200" y="114300"/>
                </a:cubicBezTo>
                <a:lnTo>
                  <a:pt x="1981200" y="1219200"/>
                </a:lnTo>
                <a:cubicBezTo>
                  <a:pt x="1981200" y="1282319"/>
                  <a:pt x="1930019" y="1333500"/>
                  <a:pt x="1866900" y="1333500"/>
                </a:cubicBezTo>
                <a:lnTo>
                  <a:pt x="114300" y="1333500"/>
                </a:lnTo>
                <a:cubicBezTo>
                  <a:pt x="51181" y="1333500"/>
                  <a:pt x="0" y="1282319"/>
                  <a:pt x="0" y="12192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cap-4"/>
          <p:cNvSpPr/>
          <p:nvPr/>
        </p:nvSpPr>
        <p:spPr>
          <a:xfrm>
            <a:off x="7181850" y="4445000"/>
            <a:ext cx="1981200" cy="44450"/>
          </a:xfrm>
          <a:custGeom>
            <a:avLst/>
            <a:gdLst/>
            <a:ahLst/>
            <a:cxnLst/>
            <a:rect l="0" t="0" r="r" b="b"/>
            <a:pathLst>
              <a:path w="1981200" h="44450">
                <a:moveTo>
                  <a:pt x="22225" y="0"/>
                </a:moveTo>
                <a:lnTo>
                  <a:pt x="1958975" y="0"/>
                </a:lnTo>
                <a:cubicBezTo>
                  <a:pt x="1971231" y="0"/>
                  <a:pt x="1981200" y="9970"/>
                  <a:pt x="1981200" y="22225"/>
                </a:cubicBezTo>
                <a:lnTo>
                  <a:pt x="1981200" y="22225"/>
                </a:lnTo>
                <a:cubicBezTo>
                  <a:pt x="1981200" y="34480"/>
                  <a:pt x="1971231" y="44450"/>
                  <a:pt x="1958975" y="44450"/>
                </a:cubicBezTo>
                <a:lnTo>
                  <a:pt x="22225" y="44450"/>
                </a:lnTo>
                <a:cubicBezTo>
                  <a:pt x="9969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70"/>
                  <a:pt x="9969" y="0"/>
                  <a:pt x="22225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cn-4"/>
          <p:cNvSpPr txBox="1"/>
          <p:nvPr/>
        </p:nvSpPr>
        <p:spPr>
          <a:xfrm>
            <a:off x="7944803" y="4582128"/>
            <a:ext cx="45529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5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交付</a:t>
            </a:r>
          </a:p>
        </p:txBody>
      </p:sp>
      <p:sp>
        <p:nvSpPr>
          <p:cNvPr id="70" name="cp-4-1"/>
          <p:cNvSpPr txBox="1"/>
          <p:nvPr/>
        </p:nvSpPr>
        <p:spPr>
          <a:xfrm>
            <a:off x="7802086" y="4864687"/>
            <a:ext cx="74072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按期送到并装好</a:t>
            </a:r>
          </a:p>
        </p:txBody>
      </p:sp>
      <p:sp>
        <p:nvSpPr>
          <p:cNvPr id="71" name="kp-4-1"/>
          <p:cNvSpPr/>
          <p:nvPr/>
        </p:nvSpPr>
        <p:spPr>
          <a:xfrm>
            <a:off x="7346950" y="5232400"/>
            <a:ext cx="1651000" cy="190500"/>
          </a:xfrm>
          <a:custGeom>
            <a:avLst/>
            <a:gdLst/>
            <a:ahLst/>
            <a:cxnLst/>
            <a:rect l="0" t="0" r="r" b="b"/>
            <a:pathLst>
              <a:path w="1651000" h="190500">
                <a:moveTo>
                  <a:pt x="95250" y="0"/>
                </a:moveTo>
                <a:lnTo>
                  <a:pt x="1555750" y="0"/>
                </a:lnTo>
                <a:cubicBezTo>
                  <a:pt x="1608328" y="0"/>
                  <a:pt x="1651000" y="42672"/>
                  <a:pt x="1651000" y="95250"/>
                </a:cubicBezTo>
                <a:lnTo>
                  <a:pt x="1651000" y="95250"/>
                </a:lnTo>
                <a:cubicBezTo>
                  <a:pt x="1651000" y="147828"/>
                  <a:pt x="1608328" y="190500"/>
                  <a:pt x="15557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3985CD">
              <a:alpha val="9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kpt-4-1"/>
          <p:cNvSpPr txBox="1"/>
          <p:nvPr/>
        </p:nvSpPr>
        <p:spPr>
          <a:xfrm>
            <a:off x="7838313" y="5262308"/>
            <a:ext cx="66827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准时率 92.1%</a:t>
            </a:r>
          </a:p>
        </p:txBody>
      </p:sp>
      <p:sp>
        <p:nvSpPr>
          <p:cNvPr id="73" name="kp-4-2"/>
          <p:cNvSpPr/>
          <p:nvPr/>
        </p:nvSpPr>
        <p:spPr>
          <a:xfrm>
            <a:off x="7346950" y="5448300"/>
            <a:ext cx="1651000" cy="190500"/>
          </a:xfrm>
          <a:custGeom>
            <a:avLst/>
            <a:gdLst/>
            <a:ahLst/>
            <a:cxnLst/>
            <a:rect l="0" t="0" r="r" b="b"/>
            <a:pathLst>
              <a:path w="1651000" h="190500">
                <a:moveTo>
                  <a:pt x="95250" y="0"/>
                </a:moveTo>
                <a:lnTo>
                  <a:pt x="1555750" y="0"/>
                </a:lnTo>
                <a:cubicBezTo>
                  <a:pt x="1608328" y="0"/>
                  <a:pt x="1651000" y="42672"/>
                  <a:pt x="1651000" y="95250"/>
                </a:cubicBezTo>
                <a:lnTo>
                  <a:pt x="1651000" y="95250"/>
                </a:lnTo>
                <a:cubicBezTo>
                  <a:pt x="1651000" y="147828"/>
                  <a:pt x="1608328" y="190500"/>
                  <a:pt x="15557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3985CD">
              <a:alpha val="9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kpt-4-2"/>
          <p:cNvSpPr txBox="1"/>
          <p:nvPr/>
        </p:nvSpPr>
        <p:spPr>
          <a:xfrm>
            <a:off x="7753477" y="5478208"/>
            <a:ext cx="8379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安装一次验收 89%</a:t>
            </a:r>
          </a:p>
        </p:txBody>
      </p:sp>
      <p:sp>
        <p:nvSpPr>
          <p:cNvPr id="75" name="card-5"/>
          <p:cNvSpPr/>
          <p:nvPr/>
        </p:nvSpPr>
        <p:spPr>
          <a:xfrm>
            <a:off x="9258300" y="4445000"/>
            <a:ext cx="1981200" cy="1333500"/>
          </a:xfrm>
          <a:custGeom>
            <a:avLst/>
            <a:gdLst/>
            <a:ahLst/>
            <a:cxnLst/>
            <a:rect l="0" t="0" r="r" b="b"/>
            <a:pathLst>
              <a:path w="1981200" h="1333500">
                <a:moveTo>
                  <a:pt x="114300" y="0"/>
                </a:moveTo>
                <a:lnTo>
                  <a:pt x="1866900" y="0"/>
                </a:lnTo>
                <a:cubicBezTo>
                  <a:pt x="1930019" y="0"/>
                  <a:pt x="1981200" y="51181"/>
                  <a:pt x="1981200" y="114300"/>
                </a:cubicBezTo>
                <a:lnTo>
                  <a:pt x="1981200" y="1219200"/>
                </a:lnTo>
                <a:cubicBezTo>
                  <a:pt x="1981200" y="1282319"/>
                  <a:pt x="1930019" y="1333500"/>
                  <a:pt x="1866900" y="1333500"/>
                </a:cubicBezTo>
                <a:lnTo>
                  <a:pt x="114300" y="1333500"/>
                </a:lnTo>
                <a:cubicBezTo>
                  <a:pt x="51181" y="1333500"/>
                  <a:pt x="0" y="1282319"/>
                  <a:pt x="0" y="12192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cap-5"/>
          <p:cNvSpPr/>
          <p:nvPr/>
        </p:nvSpPr>
        <p:spPr>
          <a:xfrm>
            <a:off x="9258300" y="4445000"/>
            <a:ext cx="1981200" cy="44450"/>
          </a:xfrm>
          <a:custGeom>
            <a:avLst/>
            <a:gdLst/>
            <a:ahLst/>
            <a:cxnLst/>
            <a:rect l="0" t="0" r="r" b="b"/>
            <a:pathLst>
              <a:path w="1981200" h="44450">
                <a:moveTo>
                  <a:pt x="22225" y="0"/>
                </a:moveTo>
                <a:lnTo>
                  <a:pt x="1958975" y="0"/>
                </a:lnTo>
                <a:cubicBezTo>
                  <a:pt x="1971231" y="0"/>
                  <a:pt x="1981200" y="9970"/>
                  <a:pt x="1981200" y="22225"/>
                </a:cubicBezTo>
                <a:lnTo>
                  <a:pt x="1981200" y="22225"/>
                </a:lnTo>
                <a:cubicBezTo>
                  <a:pt x="1981200" y="34480"/>
                  <a:pt x="1971231" y="44450"/>
                  <a:pt x="1958975" y="44450"/>
                </a:cubicBezTo>
                <a:lnTo>
                  <a:pt x="22225" y="44450"/>
                </a:lnTo>
                <a:cubicBezTo>
                  <a:pt x="9969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70"/>
                  <a:pt x="9969" y="0"/>
                  <a:pt x="22225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cn-5"/>
          <p:cNvSpPr txBox="1"/>
          <p:nvPr/>
        </p:nvSpPr>
        <p:spPr>
          <a:xfrm>
            <a:off x="10021252" y="4582128"/>
            <a:ext cx="45529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5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回款</a:t>
            </a:r>
          </a:p>
        </p:txBody>
      </p:sp>
      <p:sp>
        <p:nvSpPr>
          <p:cNvPr id="78" name="cp-5-1"/>
          <p:cNvSpPr txBox="1"/>
          <p:nvPr/>
        </p:nvSpPr>
        <p:spPr>
          <a:xfrm>
            <a:off x="9925526" y="4864687"/>
            <a:ext cx="64674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钱真正收回来</a:t>
            </a:r>
          </a:p>
        </p:txBody>
      </p:sp>
      <p:sp>
        <p:nvSpPr>
          <p:cNvPr id="79" name="kp-5-1"/>
          <p:cNvSpPr/>
          <p:nvPr/>
        </p:nvSpPr>
        <p:spPr>
          <a:xfrm>
            <a:off x="9423400" y="5232400"/>
            <a:ext cx="1651000" cy="190500"/>
          </a:xfrm>
          <a:custGeom>
            <a:avLst/>
            <a:gdLst/>
            <a:ahLst/>
            <a:cxnLst/>
            <a:rect l="0" t="0" r="r" b="b"/>
            <a:pathLst>
              <a:path w="1651000" h="190500">
                <a:moveTo>
                  <a:pt x="95250" y="0"/>
                </a:moveTo>
                <a:lnTo>
                  <a:pt x="1555750" y="0"/>
                </a:lnTo>
                <a:cubicBezTo>
                  <a:pt x="1608328" y="0"/>
                  <a:pt x="1651000" y="42672"/>
                  <a:pt x="1651000" y="95250"/>
                </a:cubicBezTo>
                <a:lnTo>
                  <a:pt x="1651000" y="95250"/>
                </a:lnTo>
                <a:cubicBezTo>
                  <a:pt x="1651000" y="147828"/>
                  <a:pt x="1608328" y="190500"/>
                  <a:pt x="15557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54A2DF">
              <a:alpha val="9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kpt-5-1"/>
          <p:cNvSpPr txBox="1"/>
          <p:nvPr/>
        </p:nvSpPr>
        <p:spPr>
          <a:xfrm>
            <a:off x="9967087" y="5262308"/>
            <a:ext cx="56362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54A2DF"/>
                </a:solidFill>
                <a:latin typeface="微软雅黑"/>
                <a:ea typeface="微软雅黑"/>
                <a:cs typeface="微软雅黑"/>
              </a:rPr>
              <a:t>账期 62 天</a:t>
            </a:r>
          </a:p>
        </p:txBody>
      </p:sp>
      <p:sp>
        <p:nvSpPr>
          <p:cNvPr id="81" name="kp-5-2"/>
          <p:cNvSpPr/>
          <p:nvPr/>
        </p:nvSpPr>
        <p:spPr>
          <a:xfrm>
            <a:off x="9423400" y="5448300"/>
            <a:ext cx="1651000" cy="190500"/>
          </a:xfrm>
          <a:custGeom>
            <a:avLst/>
            <a:gdLst/>
            <a:ahLst/>
            <a:cxnLst/>
            <a:rect l="0" t="0" r="r" b="b"/>
            <a:pathLst>
              <a:path w="1651000" h="190500">
                <a:moveTo>
                  <a:pt x="95250" y="0"/>
                </a:moveTo>
                <a:lnTo>
                  <a:pt x="1555750" y="0"/>
                </a:lnTo>
                <a:cubicBezTo>
                  <a:pt x="1608328" y="0"/>
                  <a:pt x="1651000" y="42672"/>
                  <a:pt x="1651000" y="95250"/>
                </a:cubicBezTo>
                <a:lnTo>
                  <a:pt x="1651000" y="95250"/>
                </a:lnTo>
                <a:cubicBezTo>
                  <a:pt x="1651000" y="147828"/>
                  <a:pt x="1608328" y="190500"/>
                  <a:pt x="15557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54A2DF">
              <a:alpha val="9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kpt-5-2"/>
          <p:cNvSpPr txBox="1"/>
          <p:nvPr/>
        </p:nvSpPr>
        <p:spPr>
          <a:xfrm>
            <a:off x="9940925" y="5478208"/>
            <a:ext cx="61595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54A2DF"/>
                </a:solidFill>
                <a:latin typeface="微软雅黑"/>
                <a:ea typeface="微软雅黑"/>
                <a:cs typeface="微软雅黑"/>
              </a:rPr>
              <a:t>逾期率 3.2%</a:t>
            </a:r>
          </a:p>
        </p:txBody>
      </p:sp>
      <p:sp>
        <p:nvSpPr>
          <p:cNvPr id="83" name="note-bar"/>
          <p:cNvSpPr/>
          <p:nvPr/>
        </p:nvSpPr>
        <p:spPr>
          <a:xfrm>
            <a:off x="952500" y="6007100"/>
            <a:ext cx="25400" cy="3302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note-h"/>
          <p:cNvSpPr txBox="1"/>
          <p:nvPr/>
        </p:nvSpPr>
        <p:spPr>
          <a:xfrm>
            <a:off x="1104646" y="60642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链条判断</a:t>
            </a:r>
          </a:p>
        </p:txBody>
      </p:sp>
      <p:sp>
        <p:nvSpPr>
          <p:cNvPr id="85" name="note-p"/>
          <p:cNvSpPr txBox="1"/>
          <p:nvPr/>
        </p:nvSpPr>
        <p:spPr>
          <a:xfrm>
            <a:off x="1840865" y="6060361"/>
            <a:ext cx="618775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当前最弱的一环是交付（准时率 92.1%），它同时拖累回款账期——改善顺序应从这里开始，而不是从最容易改的需求端。</a:t>
            </a:r>
          </a:p>
        </p:txBody>
      </p:sp>
      <p:cxnSp>
        <p:nvCxnSpPr>
          <p:cNvPr id="86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链条模型 · 五环相扣</a:t>
            </a:r>
          </a:p>
        </p:txBody>
      </p:sp>
      <p:sp>
        <p:nvSpPr>
          <p:cNvPr id="88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年度目标层层分解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2637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GOAL BULLSEYE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780399" y="673132"/>
            <a:ext cx="2840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从北极星指标向外展开，每一圈都是上一圈的落地方式</a:t>
            </a:r>
          </a:p>
        </p:txBody>
      </p:sp>
      <p:sp>
        <p:nvSpPr>
          <p:cNvPr id="10" name="halo"/>
          <p:cNvSpPr/>
          <p:nvPr/>
        </p:nvSpPr>
        <p:spPr>
          <a:xfrm>
            <a:off x="3759200" y="1295400"/>
            <a:ext cx="4673600" cy="4673600"/>
          </a:xfrm>
          <a:prstGeom prst="ellipse">
            <a:avLst/>
          </a:prstGeom>
          <a:solidFill>
            <a:srgbClr val="DCE7F6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ring-1"/>
          <p:cNvSpPr/>
          <p:nvPr/>
        </p:nvSpPr>
        <p:spPr>
          <a:xfrm>
            <a:off x="4051300" y="1587500"/>
            <a:ext cx="4089400" cy="4089400"/>
          </a:xfrm>
          <a:prstGeom prst="ellipse">
            <a:avLst/>
          </a:prstGeom>
          <a:gradFill rotWithShape="1">
            <a:gsLst>
              <a:gs pos="0">
                <a:srgbClr val="E4EEF9"/>
              </a:gs>
              <a:gs pos="100000">
                <a:srgbClr val="C9DBF0"/>
              </a:gs>
            </a:gsLst>
            <a:lin ang="7200000" scaled="0"/>
          </a:gradFill>
          <a:ln w="31750" cap="rnd">
            <a:solidFill>
              <a:srgbClr val="FFFFFF"/>
            </a:solidFill>
            <a:round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ring-2"/>
          <p:cNvSpPr/>
          <p:nvPr/>
        </p:nvSpPr>
        <p:spPr>
          <a:xfrm>
            <a:off x="4559300" y="2095500"/>
            <a:ext cx="3073400" cy="3073400"/>
          </a:xfrm>
          <a:prstGeom prst="ellipse">
            <a:avLst/>
          </a:prstGeom>
          <a:gradFill rotWithShape="1">
            <a:gsLst>
              <a:gs pos="0">
                <a:srgbClr val="6FA6DE"/>
              </a:gs>
              <a:gs pos="100000">
                <a:srgbClr val="3F86CE"/>
              </a:gs>
            </a:gsLst>
            <a:lin ang="7200000" scaled="0"/>
          </a:gradFill>
          <a:ln w="317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ring-3"/>
          <p:cNvSpPr/>
          <p:nvPr/>
        </p:nvSpPr>
        <p:spPr>
          <a:xfrm>
            <a:off x="5067300" y="2603500"/>
            <a:ext cx="2057400" cy="2057400"/>
          </a:xfrm>
          <a:prstGeom prst="ellipse">
            <a:avLst/>
          </a:prstGeom>
          <a:gradFill rotWithShape="1">
            <a:gsLst>
              <a:gs pos="0">
                <a:srgbClr val="2A6FBE"/>
              </a:gs>
              <a:gs pos="100000">
                <a:srgbClr val="1A56A6"/>
              </a:gs>
            </a:gsLst>
            <a:lin ang="7200000" scaled="0"/>
          </a:gradFill>
          <a:ln w="317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ring-4"/>
          <p:cNvSpPr/>
          <p:nvPr/>
        </p:nvSpPr>
        <p:spPr>
          <a:xfrm>
            <a:off x="5537200" y="3073400"/>
            <a:ext cx="1117600" cy="1117600"/>
          </a:xfrm>
          <a:prstGeom prst="ellipse">
            <a:avLst/>
          </a:prstGeom>
          <a:gradFill rotWithShape="1">
            <a:gsLst>
              <a:gs pos="0">
                <a:srgbClr val="154C9C"/>
              </a:gs>
              <a:gs pos="100000">
                <a:srgbClr val="0A3A88"/>
              </a:gs>
            </a:gsLst>
            <a:lin ang="7200000" scaled="0"/>
          </a:gradFill>
          <a:ln w="317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rn-1"/>
          <p:cNvSpPr txBox="1"/>
          <p:nvPr/>
        </p:nvSpPr>
        <p:spPr>
          <a:xfrm>
            <a:off x="5777865" y="1744790"/>
            <a:ext cx="6362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月度动作</a:t>
            </a:r>
          </a:p>
        </p:txBody>
      </p:sp>
      <p:sp>
        <p:nvSpPr>
          <p:cNvPr id="16" name="rn-2"/>
          <p:cNvSpPr txBox="1"/>
          <p:nvPr/>
        </p:nvSpPr>
        <p:spPr>
          <a:xfrm>
            <a:off x="5777865" y="2252790"/>
            <a:ext cx="6362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季度重点</a:t>
            </a:r>
          </a:p>
        </p:txBody>
      </p:sp>
      <p:sp>
        <p:nvSpPr>
          <p:cNvPr id="17" name="rn-3"/>
          <p:cNvSpPr txBox="1"/>
          <p:nvPr/>
        </p:nvSpPr>
        <p:spPr>
          <a:xfrm>
            <a:off x="5777865" y="2741740"/>
            <a:ext cx="6362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年度目标</a:t>
            </a:r>
          </a:p>
        </p:txBody>
      </p:sp>
      <p:sp>
        <p:nvSpPr>
          <p:cNvPr id="18" name="icon-star"/>
          <p:cNvSpPr/>
          <p:nvPr/>
        </p:nvSpPr>
        <p:spPr>
          <a:xfrm>
            <a:off x="6037516" y="3320415"/>
            <a:ext cx="116967" cy="111443"/>
          </a:xfrm>
          <a:custGeom>
            <a:avLst/>
            <a:gdLst/>
            <a:ahLst/>
            <a:cxnLst/>
            <a:rect l="0" t="0" r="r" b="b"/>
            <a:pathLst>
              <a:path w="116967" h="111443">
                <a:moveTo>
                  <a:pt x="58484" y="0"/>
                </a:moveTo>
                <a:lnTo>
                  <a:pt x="76391" y="37148"/>
                </a:lnTo>
                <a:lnTo>
                  <a:pt x="116967" y="42672"/>
                </a:lnTo>
                <a:lnTo>
                  <a:pt x="87376" y="70866"/>
                </a:lnTo>
                <a:lnTo>
                  <a:pt x="94933" y="111443"/>
                </a:lnTo>
                <a:lnTo>
                  <a:pt x="58484" y="91503"/>
                </a:lnTo>
                <a:lnTo>
                  <a:pt x="22035" y="111443"/>
                </a:lnTo>
                <a:lnTo>
                  <a:pt x="29591" y="70866"/>
                </a:lnTo>
                <a:lnTo>
                  <a:pt x="0" y="42672"/>
                </a:lnTo>
                <a:lnTo>
                  <a:pt x="40576" y="37148"/>
                </a:lnTo>
                <a:close/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core-v"/>
          <p:cNvSpPr txBox="1"/>
          <p:nvPr/>
        </p:nvSpPr>
        <p:spPr>
          <a:xfrm>
            <a:off x="5703189" y="3467164"/>
            <a:ext cx="785622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700" b="1" spc="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12 亿</a:t>
            </a:r>
          </a:p>
        </p:txBody>
      </p:sp>
      <p:sp>
        <p:nvSpPr>
          <p:cNvPr id="20" name="core-l"/>
          <p:cNvSpPr txBox="1"/>
          <p:nvPr/>
        </p:nvSpPr>
        <p:spPr>
          <a:xfrm>
            <a:off x="5859145" y="3814508"/>
            <a:ext cx="4737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7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年度营收</a:t>
            </a:r>
          </a:p>
        </p:txBody>
      </p:sp>
      <p:sp>
        <p:nvSpPr>
          <p:cNvPr id="21" name="lead-1"/>
          <p:cNvSpPr/>
          <p:nvPr/>
        </p:nvSpPr>
        <p:spPr>
          <a:xfrm>
            <a:off x="952500" y="2019300"/>
            <a:ext cx="4863465" cy="1437894"/>
          </a:xfrm>
          <a:custGeom>
            <a:avLst/>
            <a:gdLst/>
            <a:ahLst/>
            <a:cxnLst/>
            <a:rect l="0" t="0" r="r" b="b"/>
            <a:pathLst>
              <a:path w="4863465" h="1437894">
                <a:moveTo>
                  <a:pt x="4863465" y="1437894"/>
                </a:moveTo>
                <a:lnTo>
                  <a:pt x="3488436" y="62865"/>
                </a:lnTo>
                <a:quadBezTo>
                  <a:pt x="3425571" y="0"/>
                  <a:pt x="3336671" y="0"/>
                </a:quadBezTo>
                <a:lnTo>
                  <a:pt x="0" y="0"/>
                </a:lnTo>
              </a:path>
            </a:pathLst>
          </a:custGeom>
          <a:noFill/>
          <a:ln w="12700" cap="rnd">
            <a:solidFill>
              <a:srgbClr val="0B3E8F">
                <a:alpha val="7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anc-1"/>
          <p:cNvSpPr/>
          <p:nvPr/>
        </p:nvSpPr>
        <p:spPr>
          <a:xfrm>
            <a:off x="5758825" y="3400071"/>
            <a:ext cx="114300" cy="1143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0B3E8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end-1"/>
          <p:cNvSpPr/>
          <p:nvPr/>
        </p:nvSpPr>
        <p:spPr>
          <a:xfrm>
            <a:off x="920750" y="1987550"/>
            <a:ext cx="63500" cy="635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bn-1"/>
          <p:cNvSpPr txBox="1"/>
          <p:nvPr/>
        </p:nvSpPr>
        <p:spPr>
          <a:xfrm>
            <a:off x="933450" y="1708944"/>
            <a:ext cx="10001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北极星指标</a:t>
            </a:r>
          </a:p>
        </p:txBody>
      </p:sp>
      <p:sp>
        <p:nvSpPr>
          <p:cNvPr id="25" name="bv-1"/>
          <p:cNvSpPr txBox="1"/>
          <p:nvPr/>
        </p:nvSpPr>
        <p:spPr>
          <a:xfrm>
            <a:off x="2840228" y="1666748"/>
            <a:ext cx="740156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6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12 亿</a:t>
            </a:r>
          </a:p>
        </p:txBody>
      </p:sp>
      <p:sp>
        <p:nvSpPr>
          <p:cNvPr id="26" name="bd1-1"/>
          <p:cNvSpPr txBox="1"/>
          <p:nvPr/>
        </p:nvSpPr>
        <p:spPr>
          <a:xfrm>
            <a:off x="939165" y="2174161"/>
            <a:ext cx="160940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全年营收目标，同比增长 24%</a:t>
            </a:r>
          </a:p>
        </p:txBody>
      </p:sp>
      <p:sp>
        <p:nvSpPr>
          <p:cNvPr id="27" name="bd2-1"/>
          <p:cNvSpPr txBox="1"/>
          <p:nvPr/>
        </p:nvSpPr>
        <p:spPr>
          <a:xfrm>
            <a:off x="939165" y="2364661"/>
            <a:ext cx="135032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所有目标最终都向它对齐</a:t>
            </a:r>
          </a:p>
        </p:txBody>
      </p:sp>
      <p:sp>
        <p:nvSpPr>
          <p:cNvPr id="28" name="bt-1"/>
          <p:cNvSpPr/>
          <p:nvPr/>
        </p:nvSpPr>
        <p:spPr>
          <a:xfrm>
            <a:off x="952500" y="2641600"/>
            <a:ext cx="546100" cy="190500"/>
          </a:xfrm>
          <a:custGeom>
            <a:avLst/>
            <a:gdLst/>
            <a:ahLst/>
            <a:cxnLst/>
            <a:rect l="0" t="0" r="r" b="b"/>
            <a:pathLst>
              <a:path w="546100" h="190500">
                <a:moveTo>
                  <a:pt x="95250" y="0"/>
                </a:moveTo>
                <a:lnTo>
                  <a:pt x="450850" y="0"/>
                </a:lnTo>
                <a:cubicBezTo>
                  <a:pt x="503428" y="0"/>
                  <a:pt x="546100" y="42672"/>
                  <a:pt x="546100" y="95250"/>
                </a:cubicBezTo>
                <a:lnTo>
                  <a:pt x="546100" y="95250"/>
                </a:lnTo>
                <a:cubicBezTo>
                  <a:pt x="546100" y="147828"/>
                  <a:pt x="503428" y="190500"/>
                  <a:pt x="4508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btt-1"/>
          <p:cNvSpPr txBox="1"/>
          <p:nvPr/>
        </p:nvSpPr>
        <p:spPr>
          <a:xfrm>
            <a:off x="1090295" y="2665158"/>
            <a:ext cx="2705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核心</a:t>
            </a:r>
          </a:p>
        </p:txBody>
      </p:sp>
      <p:sp>
        <p:nvSpPr>
          <p:cNvPr id="30" name="lead-2"/>
          <p:cNvSpPr/>
          <p:nvPr/>
        </p:nvSpPr>
        <p:spPr>
          <a:xfrm>
            <a:off x="952500" y="4070922"/>
            <a:ext cx="3938143" cy="120078"/>
          </a:xfrm>
          <a:custGeom>
            <a:avLst/>
            <a:gdLst/>
            <a:ahLst/>
            <a:cxnLst/>
            <a:rect l="0" t="0" r="r" b="b"/>
            <a:pathLst>
              <a:path w="3938143" h="120078">
                <a:moveTo>
                  <a:pt x="3938143" y="0"/>
                </a:moveTo>
                <a:lnTo>
                  <a:pt x="3880929" y="57213"/>
                </a:lnTo>
                <a:quadBezTo>
                  <a:pt x="3818064" y="120078"/>
                  <a:pt x="3729164" y="120078"/>
                </a:quadBezTo>
                <a:lnTo>
                  <a:pt x="0" y="120078"/>
                </a:lnTo>
              </a:path>
            </a:pathLst>
          </a:custGeom>
          <a:noFill/>
          <a:ln w="12700" cap="rnd">
            <a:solidFill>
              <a:srgbClr val="2E77C2">
                <a:alpha val="7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anc-2"/>
          <p:cNvSpPr/>
          <p:nvPr/>
        </p:nvSpPr>
        <p:spPr>
          <a:xfrm>
            <a:off x="4833506" y="4013759"/>
            <a:ext cx="114300" cy="1143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2E77C2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end-2"/>
          <p:cNvSpPr/>
          <p:nvPr/>
        </p:nvSpPr>
        <p:spPr>
          <a:xfrm>
            <a:off x="920750" y="4159250"/>
            <a:ext cx="63500" cy="635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bn-2"/>
          <p:cNvSpPr txBox="1"/>
          <p:nvPr/>
        </p:nvSpPr>
        <p:spPr>
          <a:xfrm>
            <a:off x="933450" y="38806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季度重点</a:t>
            </a:r>
          </a:p>
        </p:txBody>
      </p:sp>
      <p:sp>
        <p:nvSpPr>
          <p:cNvPr id="34" name="bv-2"/>
          <p:cNvSpPr txBox="1"/>
          <p:nvPr/>
        </p:nvSpPr>
        <p:spPr>
          <a:xfrm>
            <a:off x="2840228" y="3838448"/>
            <a:ext cx="740156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600" b="1" spc="25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12 项</a:t>
            </a:r>
          </a:p>
        </p:txBody>
      </p:sp>
      <p:sp>
        <p:nvSpPr>
          <p:cNvPr id="35" name="bd1-2"/>
          <p:cNvSpPr txBox="1"/>
          <p:nvPr/>
        </p:nvSpPr>
        <p:spPr>
          <a:xfrm>
            <a:off x="939165" y="43458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按季度拆出关键战役</a:t>
            </a:r>
          </a:p>
        </p:txBody>
      </p:sp>
      <p:sp>
        <p:nvSpPr>
          <p:cNvPr id="36" name="bd2-2"/>
          <p:cNvSpPr txBox="1"/>
          <p:nvPr/>
        </p:nvSpPr>
        <p:spPr>
          <a:xfrm>
            <a:off x="939165" y="4536361"/>
            <a:ext cx="12366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每季末复盘、滚动调整</a:t>
            </a:r>
          </a:p>
        </p:txBody>
      </p:sp>
      <p:sp>
        <p:nvSpPr>
          <p:cNvPr id="37" name="bt-2"/>
          <p:cNvSpPr/>
          <p:nvPr/>
        </p:nvSpPr>
        <p:spPr>
          <a:xfrm>
            <a:off x="952500" y="4813300"/>
            <a:ext cx="546100" cy="190500"/>
          </a:xfrm>
          <a:custGeom>
            <a:avLst/>
            <a:gdLst/>
            <a:ahLst/>
            <a:cxnLst/>
            <a:rect l="0" t="0" r="r" b="b"/>
            <a:pathLst>
              <a:path w="546100" h="190500">
                <a:moveTo>
                  <a:pt x="95250" y="0"/>
                </a:moveTo>
                <a:lnTo>
                  <a:pt x="450850" y="0"/>
                </a:lnTo>
                <a:cubicBezTo>
                  <a:pt x="503428" y="0"/>
                  <a:pt x="546100" y="42672"/>
                  <a:pt x="546100" y="95250"/>
                </a:cubicBezTo>
                <a:lnTo>
                  <a:pt x="546100" y="95250"/>
                </a:lnTo>
                <a:cubicBezTo>
                  <a:pt x="546100" y="147828"/>
                  <a:pt x="503428" y="190500"/>
                  <a:pt x="4508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btt-2"/>
          <p:cNvSpPr txBox="1"/>
          <p:nvPr/>
        </p:nvSpPr>
        <p:spPr>
          <a:xfrm>
            <a:off x="1042670" y="4836858"/>
            <a:ext cx="3657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50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第二圈</a:t>
            </a:r>
          </a:p>
        </p:txBody>
      </p:sp>
      <p:sp>
        <p:nvSpPr>
          <p:cNvPr id="39" name="lead-3"/>
          <p:cNvSpPr/>
          <p:nvPr/>
        </p:nvSpPr>
        <p:spPr>
          <a:xfrm>
            <a:off x="6704076" y="2019300"/>
            <a:ext cx="4535424" cy="1102677"/>
          </a:xfrm>
          <a:custGeom>
            <a:avLst/>
            <a:gdLst/>
            <a:ahLst/>
            <a:cxnLst/>
            <a:rect l="0" t="0" r="r" b="b"/>
            <a:pathLst>
              <a:path w="4535424" h="1102677">
                <a:moveTo>
                  <a:pt x="0" y="1102677"/>
                </a:moveTo>
                <a:lnTo>
                  <a:pt x="1039812" y="62865"/>
                </a:lnTo>
                <a:quadBezTo>
                  <a:pt x="1102678" y="0"/>
                  <a:pt x="1191578" y="0"/>
                </a:quadBezTo>
                <a:lnTo>
                  <a:pt x="4535424" y="0"/>
                </a:lnTo>
              </a:path>
            </a:pathLst>
          </a:custGeom>
          <a:noFill/>
          <a:ln w="12700" cap="rnd">
            <a:solidFill>
              <a:srgbClr val="1B5AA8">
                <a:alpha val="7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anc-3"/>
          <p:cNvSpPr/>
          <p:nvPr/>
        </p:nvSpPr>
        <p:spPr>
          <a:xfrm>
            <a:off x="6646898" y="3064837"/>
            <a:ext cx="114300" cy="1143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1B5AA8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end-3"/>
          <p:cNvSpPr/>
          <p:nvPr/>
        </p:nvSpPr>
        <p:spPr>
          <a:xfrm>
            <a:off x="11207750" y="1987550"/>
            <a:ext cx="63500" cy="6350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bn-3"/>
          <p:cNvSpPr txBox="1"/>
          <p:nvPr/>
        </p:nvSpPr>
        <p:spPr>
          <a:xfrm>
            <a:off x="8616950" y="17089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年度目标</a:t>
            </a:r>
          </a:p>
        </p:txBody>
      </p:sp>
      <p:sp>
        <p:nvSpPr>
          <p:cNvPr id="43" name="bv-3"/>
          <p:cNvSpPr txBox="1"/>
          <p:nvPr/>
        </p:nvSpPr>
        <p:spPr>
          <a:xfrm>
            <a:off x="10640695" y="1666748"/>
            <a:ext cx="623189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600" b="1" spc="25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4 项</a:t>
            </a:r>
          </a:p>
        </p:txBody>
      </p:sp>
      <p:sp>
        <p:nvSpPr>
          <p:cNvPr id="44" name="bd1-3"/>
          <p:cNvSpPr txBox="1"/>
          <p:nvPr/>
        </p:nvSpPr>
        <p:spPr>
          <a:xfrm>
            <a:off x="8622665" y="2174161"/>
            <a:ext cx="146399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新客、复购、客单价、毛利</a:t>
            </a:r>
          </a:p>
        </p:txBody>
      </p:sp>
      <p:sp>
        <p:nvSpPr>
          <p:cNvPr id="45" name="bd2-3"/>
          <p:cNvSpPr txBox="1"/>
          <p:nvPr/>
        </p:nvSpPr>
        <p:spPr>
          <a:xfrm>
            <a:off x="8622665" y="2364661"/>
            <a:ext cx="12366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每项对应一位高管负责</a:t>
            </a:r>
          </a:p>
        </p:txBody>
      </p:sp>
      <p:sp>
        <p:nvSpPr>
          <p:cNvPr id="46" name="bt-3"/>
          <p:cNvSpPr/>
          <p:nvPr/>
        </p:nvSpPr>
        <p:spPr>
          <a:xfrm>
            <a:off x="8636000" y="2641600"/>
            <a:ext cx="546100" cy="190500"/>
          </a:xfrm>
          <a:custGeom>
            <a:avLst/>
            <a:gdLst/>
            <a:ahLst/>
            <a:cxnLst/>
            <a:rect l="0" t="0" r="r" b="b"/>
            <a:pathLst>
              <a:path w="546100" h="190500">
                <a:moveTo>
                  <a:pt x="95250" y="0"/>
                </a:moveTo>
                <a:lnTo>
                  <a:pt x="450850" y="0"/>
                </a:lnTo>
                <a:cubicBezTo>
                  <a:pt x="503428" y="0"/>
                  <a:pt x="546100" y="42672"/>
                  <a:pt x="546100" y="95250"/>
                </a:cubicBezTo>
                <a:lnTo>
                  <a:pt x="546100" y="95250"/>
                </a:lnTo>
                <a:cubicBezTo>
                  <a:pt x="546100" y="147828"/>
                  <a:pt x="503428" y="190500"/>
                  <a:pt x="4508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btt-3"/>
          <p:cNvSpPr txBox="1"/>
          <p:nvPr/>
        </p:nvSpPr>
        <p:spPr>
          <a:xfrm>
            <a:off x="8726170" y="2665158"/>
            <a:ext cx="3657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50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第一圈</a:t>
            </a:r>
          </a:p>
        </p:txBody>
      </p:sp>
      <p:sp>
        <p:nvSpPr>
          <p:cNvPr id="48" name="lead-4"/>
          <p:cNvSpPr/>
          <p:nvPr/>
        </p:nvSpPr>
        <p:spPr>
          <a:xfrm>
            <a:off x="7769479" y="4191000"/>
            <a:ext cx="3470021" cy="62865"/>
          </a:xfrm>
          <a:custGeom>
            <a:avLst/>
            <a:gdLst/>
            <a:ahLst/>
            <a:cxnLst/>
            <a:rect l="0" t="0" r="r" b="b"/>
            <a:pathLst>
              <a:path w="3470021" h="62865">
                <a:moveTo>
                  <a:pt x="9208" y="53658"/>
                </a:moveTo>
                <a:lnTo>
                  <a:pt x="0" y="62865"/>
                </a:lnTo>
                <a:quadBezTo>
                  <a:pt x="62865" y="0"/>
                  <a:pt x="151765" y="0"/>
                </a:quadBezTo>
                <a:lnTo>
                  <a:pt x="3470021" y="0"/>
                </a:lnTo>
              </a:path>
            </a:pathLst>
          </a:custGeom>
          <a:noFill/>
          <a:ln w="12700" cap="rnd">
            <a:solidFill>
              <a:srgbClr val="4694D7">
                <a:alpha val="7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anc-4"/>
          <p:cNvSpPr/>
          <p:nvPr/>
        </p:nvSpPr>
        <p:spPr>
          <a:xfrm>
            <a:off x="7721558" y="4187505"/>
            <a:ext cx="114300" cy="1143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4694D7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end-4"/>
          <p:cNvSpPr/>
          <p:nvPr/>
        </p:nvSpPr>
        <p:spPr>
          <a:xfrm>
            <a:off x="11207750" y="4159250"/>
            <a:ext cx="63500" cy="63500"/>
          </a:xfrm>
          <a:prstGeom prst="ellipse">
            <a:avLst/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bn-4"/>
          <p:cNvSpPr txBox="1"/>
          <p:nvPr/>
        </p:nvSpPr>
        <p:spPr>
          <a:xfrm>
            <a:off x="8616950" y="38806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月度动作</a:t>
            </a:r>
          </a:p>
        </p:txBody>
      </p:sp>
      <p:sp>
        <p:nvSpPr>
          <p:cNvPr id="52" name="bv-4"/>
          <p:cNvSpPr txBox="1"/>
          <p:nvPr/>
        </p:nvSpPr>
        <p:spPr>
          <a:xfrm>
            <a:off x="10523728" y="3838448"/>
            <a:ext cx="740156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600" b="1" spc="25">
                <a:solidFill>
                  <a:srgbClr val="4694D7"/>
                </a:solidFill>
                <a:latin typeface="微软雅黑"/>
                <a:ea typeface="微软雅黑"/>
                <a:cs typeface="微软雅黑"/>
              </a:rPr>
              <a:t>48 项</a:t>
            </a:r>
          </a:p>
        </p:txBody>
      </p:sp>
      <p:sp>
        <p:nvSpPr>
          <p:cNvPr id="53" name="bd1-4"/>
          <p:cNvSpPr txBox="1"/>
          <p:nvPr/>
        </p:nvSpPr>
        <p:spPr>
          <a:xfrm>
            <a:off x="8622665" y="43458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落到部门的具体动作</a:t>
            </a:r>
          </a:p>
        </p:txBody>
      </p:sp>
      <p:sp>
        <p:nvSpPr>
          <p:cNvPr id="54" name="bd2-4"/>
          <p:cNvSpPr txBox="1"/>
          <p:nvPr/>
        </p:nvSpPr>
        <p:spPr>
          <a:xfrm>
            <a:off x="8622665" y="4536361"/>
            <a:ext cx="135032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周会跟进，红黄绿灯管理</a:t>
            </a:r>
          </a:p>
        </p:txBody>
      </p:sp>
      <p:sp>
        <p:nvSpPr>
          <p:cNvPr id="55" name="bt-4"/>
          <p:cNvSpPr/>
          <p:nvPr/>
        </p:nvSpPr>
        <p:spPr>
          <a:xfrm>
            <a:off x="8636000" y="4813300"/>
            <a:ext cx="546100" cy="190500"/>
          </a:xfrm>
          <a:custGeom>
            <a:avLst/>
            <a:gdLst/>
            <a:ahLst/>
            <a:cxnLst/>
            <a:rect l="0" t="0" r="r" b="b"/>
            <a:pathLst>
              <a:path w="546100" h="190500">
                <a:moveTo>
                  <a:pt x="95250" y="0"/>
                </a:moveTo>
                <a:lnTo>
                  <a:pt x="450850" y="0"/>
                </a:lnTo>
                <a:cubicBezTo>
                  <a:pt x="503428" y="0"/>
                  <a:pt x="546100" y="42672"/>
                  <a:pt x="546100" y="95250"/>
                </a:cubicBezTo>
                <a:lnTo>
                  <a:pt x="546100" y="95250"/>
                </a:lnTo>
                <a:cubicBezTo>
                  <a:pt x="546100" y="147828"/>
                  <a:pt x="503428" y="190500"/>
                  <a:pt x="4508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4694D7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btt-4"/>
          <p:cNvSpPr txBox="1"/>
          <p:nvPr/>
        </p:nvSpPr>
        <p:spPr>
          <a:xfrm>
            <a:off x="8726170" y="4836858"/>
            <a:ext cx="3657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50">
                <a:solidFill>
                  <a:srgbClr val="4694D7"/>
                </a:solidFill>
                <a:latin typeface="微软雅黑"/>
                <a:ea typeface="微软雅黑"/>
                <a:cs typeface="微软雅黑"/>
              </a:rPr>
              <a:t>最外圈</a:t>
            </a:r>
          </a:p>
        </p:txBody>
      </p:sp>
      <p:sp>
        <p:nvSpPr>
          <p:cNvPr id="57" name="sum"/>
          <p:cNvSpPr/>
          <p:nvPr/>
        </p:nvSpPr>
        <p:spPr>
          <a:xfrm>
            <a:off x="952500" y="5905500"/>
            <a:ext cx="10287000" cy="419100"/>
          </a:xfrm>
          <a:custGeom>
            <a:avLst/>
            <a:gdLst/>
            <a:ahLst/>
            <a:cxnLst/>
            <a:rect l="0" t="0" r="r" b="b"/>
            <a:pathLst>
              <a:path w="10287000" h="4191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30200"/>
                </a:lnTo>
                <a:cubicBezTo>
                  <a:pt x="10287000" y="379286"/>
                  <a:pt x="10247186" y="419100"/>
                  <a:pt x="10198100" y="419100"/>
                </a:cubicBezTo>
                <a:lnTo>
                  <a:pt x="88900" y="419100"/>
                </a:lnTo>
                <a:cubicBezTo>
                  <a:pt x="39815" y="419100"/>
                  <a:pt x="0" y="379286"/>
                  <a:pt x="0" y="3302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sum-bar"/>
          <p:cNvSpPr/>
          <p:nvPr/>
        </p:nvSpPr>
        <p:spPr>
          <a:xfrm>
            <a:off x="952500" y="5905500"/>
            <a:ext cx="31750" cy="4191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sum-h"/>
          <p:cNvSpPr txBox="1"/>
          <p:nvPr/>
        </p:nvSpPr>
        <p:spPr>
          <a:xfrm>
            <a:off x="1142746" y="60388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对齐原则</a:t>
            </a:r>
          </a:p>
        </p:txBody>
      </p:sp>
      <p:sp>
        <p:nvSpPr>
          <p:cNvPr id="60" name="sum-p"/>
          <p:cNvSpPr txBox="1"/>
          <p:nvPr/>
        </p:nvSpPr>
        <p:spPr>
          <a:xfrm>
            <a:off x="1891665" y="6034961"/>
            <a:ext cx="443515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每一项月度动作都要能向上追溯到季度重点与年度目标——追溯不到的动作，不进排期。</a:t>
            </a:r>
          </a:p>
        </p:txBody>
      </p:sp>
      <p:cxnSp>
        <p:nvCxnSpPr>
          <p:cNvPr id="61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目标靶心 · 四层分解</a:t>
            </a:r>
          </a:p>
        </p:txBody>
      </p:sp>
      <p:sp>
        <p:nvSpPr>
          <p:cNvPr id="63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14706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能力之树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44589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CAPABILITY TREE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780399" y="673132"/>
            <a:ext cx="2840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地面以上是看得见的成果，地面以下是决定上限的能力</a:t>
            </a:r>
          </a:p>
        </p:txBody>
      </p:sp>
      <p:sp>
        <p:nvSpPr>
          <p:cNvPr id="10" name="canopy"/>
          <p:cNvSpPr/>
          <p:nvPr/>
        </p:nvSpPr>
        <p:spPr>
          <a:xfrm>
            <a:off x="2540000" y="1143000"/>
            <a:ext cx="7112000" cy="3175000"/>
          </a:xfrm>
          <a:prstGeom prst="ellipse">
            <a:avLst/>
          </a:prstGeom>
          <a:solidFill>
            <a:srgbClr val="DCE7F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canopy"/>
          <p:cNvSpPr/>
          <p:nvPr/>
        </p:nvSpPr>
        <p:spPr>
          <a:xfrm>
            <a:off x="2921000" y="1270000"/>
            <a:ext cx="3810000" cy="2540000"/>
          </a:xfrm>
          <a:prstGeom prst="ellipse">
            <a:avLst/>
          </a:prstGeom>
          <a:solidFill>
            <a:srgbClr val="DCE7F6">
              <a:alpha val="3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canopy"/>
          <p:cNvSpPr/>
          <p:nvPr/>
        </p:nvSpPr>
        <p:spPr>
          <a:xfrm>
            <a:off x="5461000" y="1270000"/>
            <a:ext cx="3810000" cy="2540000"/>
          </a:xfrm>
          <a:prstGeom prst="ellipse">
            <a:avLst/>
          </a:prstGeom>
          <a:solidFill>
            <a:srgbClr val="DCE7F6">
              <a:alpha val="3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canopy"/>
          <p:cNvSpPr/>
          <p:nvPr/>
        </p:nvSpPr>
        <p:spPr>
          <a:xfrm>
            <a:off x="4064000" y="952500"/>
            <a:ext cx="4064000" cy="1905000"/>
          </a:xfrm>
          <a:prstGeom prst="ellipse">
            <a:avLst/>
          </a:prstGeom>
          <a:solidFill>
            <a:srgbClr val="DCE7F6">
              <a:alpha val="3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soil"/>
          <p:cNvSpPr/>
          <p:nvPr/>
        </p:nvSpPr>
        <p:spPr>
          <a:xfrm>
            <a:off x="952500" y="4546600"/>
            <a:ext cx="10287000" cy="1244600"/>
          </a:xfrm>
          <a:prstGeom prst="rect">
            <a:avLst/>
          </a:prstGeom>
          <a:gradFill rotWithShape="1">
            <a:gsLst>
              <a:gs pos="0">
                <a:srgbClr val="DCE7F5">
                  <a:alpha val="90000"/>
                </a:srgbClr>
              </a:gs>
              <a:gs pos="100000">
                <a:srgbClr val="DCE7F5">
                  <a:alpha val="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5" name="ground"/>
          <p:cNvCxnSpPr/>
          <p:nvPr/>
        </p:nvCxnSpPr>
        <p:spPr>
          <a:xfrm>
            <a:off x="952500" y="4546600"/>
            <a:ext cx="10287000" cy="0"/>
          </a:xfrm>
          <a:prstGeom prst="line">
            <a:avLst/>
          </a:prstGeom>
          <a:ln w="12700" cap="rnd">
            <a:solidFill>
              <a:srgbClr val="0B3E8F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g-up"/>
          <p:cNvSpPr txBox="1"/>
          <p:nvPr/>
        </p:nvSpPr>
        <p:spPr>
          <a:xfrm>
            <a:off x="940308" y="4319524"/>
            <a:ext cx="3327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150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成果</a:t>
            </a:r>
          </a:p>
        </p:txBody>
      </p:sp>
      <p:sp>
        <p:nvSpPr>
          <p:cNvPr id="17" name="icon-grow"/>
          <p:cNvSpPr/>
          <p:nvPr/>
        </p:nvSpPr>
        <p:spPr>
          <a:xfrm>
            <a:off x="1306195" y="4388802"/>
            <a:ext cx="71438" cy="44768"/>
          </a:xfrm>
          <a:custGeom>
            <a:avLst/>
            <a:gdLst/>
            <a:ahLst/>
            <a:cxnLst/>
            <a:rect l="0" t="0" r="r" b="b"/>
            <a:pathLst>
              <a:path w="71438" h="44768">
                <a:moveTo>
                  <a:pt x="0" y="44768"/>
                </a:moveTo>
                <a:lnTo>
                  <a:pt x="23812" y="19050"/>
                </a:lnTo>
                <a:lnTo>
                  <a:pt x="40958" y="33338"/>
                </a:lnTo>
                <a:lnTo>
                  <a:pt x="69533" y="0"/>
                </a:lnTo>
                <a:moveTo>
                  <a:pt x="58103" y="0"/>
                </a:moveTo>
                <a:lnTo>
                  <a:pt x="71438" y="0"/>
                </a:lnTo>
                <a:lnTo>
                  <a:pt x="71438" y="13335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g-dn"/>
          <p:cNvSpPr txBox="1"/>
          <p:nvPr/>
        </p:nvSpPr>
        <p:spPr>
          <a:xfrm>
            <a:off x="940308" y="4637024"/>
            <a:ext cx="3327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1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能力</a:t>
            </a:r>
          </a:p>
        </p:txBody>
      </p:sp>
      <p:sp>
        <p:nvSpPr>
          <p:cNvPr id="19" name="root-1"/>
          <p:cNvSpPr/>
          <p:nvPr/>
        </p:nvSpPr>
        <p:spPr>
          <a:xfrm>
            <a:off x="2984500" y="4521200"/>
            <a:ext cx="2959100" cy="571500"/>
          </a:xfrm>
          <a:custGeom>
            <a:avLst/>
            <a:gdLst/>
            <a:ahLst/>
            <a:cxnLst/>
            <a:rect l="0" t="0" r="r" b="b"/>
            <a:pathLst>
              <a:path w="2959100" h="571500">
                <a:moveTo>
                  <a:pt x="2959100" y="0"/>
                </a:moveTo>
                <a:cubicBezTo>
                  <a:pt x="2959100" y="469900"/>
                  <a:pt x="0" y="215900"/>
                  <a:pt x="0" y="571500"/>
                </a:cubicBezTo>
              </a:path>
            </a:pathLst>
          </a:custGeom>
          <a:noFill/>
          <a:ln w="38100" cap="rnd">
            <a:solidFill>
              <a:srgbClr val="0B3E8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root-2"/>
          <p:cNvSpPr/>
          <p:nvPr/>
        </p:nvSpPr>
        <p:spPr>
          <a:xfrm>
            <a:off x="5080000" y="4521200"/>
            <a:ext cx="965200" cy="571500"/>
          </a:xfrm>
          <a:custGeom>
            <a:avLst/>
            <a:gdLst/>
            <a:ahLst/>
            <a:cxnLst/>
            <a:rect l="0" t="0" r="r" b="b"/>
            <a:pathLst>
              <a:path w="965200" h="571500">
                <a:moveTo>
                  <a:pt x="965200" y="0"/>
                </a:moveTo>
                <a:cubicBezTo>
                  <a:pt x="965200" y="469900"/>
                  <a:pt x="0" y="215900"/>
                  <a:pt x="0" y="571500"/>
                </a:cubicBezTo>
              </a:path>
            </a:pathLst>
          </a:custGeom>
          <a:noFill/>
          <a:ln w="38100" cap="rnd">
            <a:solidFill>
              <a:srgbClr val="1B5AA8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root-3"/>
          <p:cNvSpPr/>
          <p:nvPr/>
        </p:nvSpPr>
        <p:spPr>
          <a:xfrm>
            <a:off x="6146800" y="4521200"/>
            <a:ext cx="965200" cy="571500"/>
          </a:xfrm>
          <a:custGeom>
            <a:avLst/>
            <a:gdLst/>
            <a:ahLst/>
            <a:cxnLst/>
            <a:rect l="0" t="0" r="r" b="b"/>
            <a:pathLst>
              <a:path w="965200" h="571500">
                <a:moveTo>
                  <a:pt x="0" y="0"/>
                </a:moveTo>
                <a:cubicBezTo>
                  <a:pt x="0" y="469900"/>
                  <a:pt x="965200" y="215900"/>
                  <a:pt x="965200" y="571500"/>
                </a:cubicBezTo>
              </a:path>
            </a:pathLst>
          </a:custGeom>
          <a:noFill/>
          <a:ln w="38100" cap="rnd">
            <a:solidFill>
              <a:srgbClr val="2E77C2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root-4"/>
          <p:cNvSpPr/>
          <p:nvPr/>
        </p:nvSpPr>
        <p:spPr>
          <a:xfrm>
            <a:off x="6248400" y="4521200"/>
            <a:ext cx="2959100" cy="571500"/>
          </a:xfrm>
          <a:custGeom>
            <a:avLst/>
            <a:gdLst/>
            <a:ahLst/>
            <a:cxnLst/>
            <a:rect l="0" t="0" r="r" b="b"/>
            <a:pathLst>
              <a:path w="2959100" h="571500">
                <a:moveTo>
                  <a:pt x="0" y="0"/>
                </a:moveTo>
                <a:cubicBezTo>
                  <a:pt x="0" y="469900"/>
                  <a:pt x="2959100" y="215900"/>
                  <a:pt x="2959100" y="571500"/>
                </a:cubicBezTo>
              </a:path>
            </a:pathLst>
          </a:custGeom>
          <a:noFill/>
          <a:ln w="38100" cap="rnd">
            <a:solidFill>
              <a:srgbClr val="4694D7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branch-1"/>
          <p:cNvSpPr/>
          <p:nvPr/>
        </p:nvSpPr>
        <p:spPr>
          <a:xfrm>
            <a:off x="4991100" y="1701800"/>
            <a:ext cx="1104900" cy="1257300"/>
          </a:xfrm>
          <a:custGeom>
            <a:avLst/>
            <a:gdLst/>
            <a:ahLst/>
            <a:cxnLst/>
            <a:rect l="0" t="0" r="r" b="b"/>
            <a:pathLst>
              <a:path w="1104900" h="1257300">
                <a:moveTo>
                  <a:pt x="1104900" y="1257300"/>
                </a:moveTo>
                <a:cubicBezTo>
                  <a:pt x="533400" y="1066800"/>
                  <a:pt x="406400" y="215900"/>
                  <a:pt x="0" y="0"/>
                </a:cubicBezTo>
              </a:path>
            </a:pathLst>
          </a:custGeom>
          <a:noFill/>
          <a:ln w="57150" cap="rnd">
            <a:solidFill>
              <a:srgbClr val="134C9C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branch-2"/>
          <p:cNvSpPr/>
          <p:nvPr/>
        </p:nvSpPr>
        <p:spPr>
          <a:xfrm>
            <a:off x="3911600" y="2768600"/>
            <a:ext cx="2184400" cy="444500"/>
          </a:xfrm>
          <a:custGeom>
            <a:avLst/>
            <a:gdLst/>
            <a:ahLst/>
            <a:cxnLst/>
            <a:rect l="0" t="0" r="r" b="b"/>
            <a:pathLst>
              <a:path w="2184400" h="444500">
                <a:moveTo>
                  <a:pt x="2184400" y="444500"/>
                </a:moveTo>
                <a:cubicBezTo>
                  <a:pt x="1612900" y="254000"/>
                  <a:pt x="406400" y="215900"/>
                  <a:pt x="0" y="0"/>
                </a:cubicBezTo>
              </a:path>
            </a:pathLst>
          </a:custGeom>
          <a:noFill/>
          <a:ln w="57150" cap="rnd">
            <a:solidFill>
              <a:srgbClr val="2468B6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branch-3"/>
          <p:cNvSpPr/>
          <p:nvPr/>
        </p:nvSpPr>
        <p:spPr>
          <a:xfrm>
            <a:off x="4229100" y="3437086"/>
            <a:ext cx="1866900" cy="436662"/>
          </a:xfrm>
          <a:custGeom>
            <a:avLst/>
            <a:gdLst/>
            <a:ahLst/>
            <a:cxnLst/>
            <a:rect l="0" t="0" r="r" b="b"/>
            <a:pathLst>
              <a:path w="1866900" h="436662">
                <a:moveTo>
                  <a:pt x="1866900" y="30014"/>
                </a:moveTo>
                <a:cubicBezTo>
                  <a:pt x="1295400" y="-160486"/>
                  <a:pt x="406400" y="614214"/>
                  <a:pt x="0" y="398314"/>
                </a:cubicBezTo>
              </a:path>
            </a:pathLst>
          </a:custGeom>
          <a:noFill/>
          <a:ln w="57150" cap="rnd">
            <a:solidFill>
              <a:srgbClr val="3985CD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branch-4"/>
          <p:cNvSpPr/>
          <p:nvPr/>
        </p:nvSpPr>
        <p:spPr>
          <a:xfrm>
            <a:off x="6096000" y="1701800"/>
            <a:ext cx="1104900" cy="1257300"/>
          </a:xfrm>
          <a:custGeom>
            <a:avLst/>
            <a:gdLst/>
            <a:ahLst/>
            <a:cxnLst/>
            <a:rect l="0" t="0" r="r" b="b"/>
            <a:pathLst>
              <a:path w="1104900" h="1257300">
                <a:moveTo>
                  <a:pt x="0" y="1257300"/>
                </a:moveTo>
                <a:cubicBezTo>
                  <a:pt x="571500" y="1066800"/>
                  <a:pt x="698500" y="215900"/>
                  <a:pt x="1104900" y="0"/>
                </a:cubicBezTo>
              </a:path>
            </a:pathLst>
          </a:custGeom>
          <a:noFill/>
          <a:ln w="57150" cap="rnd">
            <a:solidFill>
              <a:srgbClr val="134C9C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branch-5"/>
          <p:cNvSpPr/>
          <p:nvPr/>
        </p:nvSpPr>
        <p:spPr>
          <a:xfrm>
            <a:off x="6096000" y="2768600"/>
            <a:ext cx="2184400" cy="444500"/>
          </a:xfrm>
          <a:custGeom>
            <a:avLst/>
            <a:gdLst/>
            <a:ahLst/>
            <a:cxnLst/>
            <a:rect l="0" t="0" r="r" b="b"/>
            <a:pathLst>
              <a:path w="2184400" h="444500">
                <a:moveTo>
                  <a:pt x="0" y="444500"/>
                </a:moveTo>
                <a:cubicBezTo>
                  <a:pt x="571500" y="254000"/>
                  <a:pt x="1778000" y="215900"/>
                  <a:pt x="2184400" y="0"/>
                </a:cubicBezTo>
              </a:path>
            </a:pathLst>
          </a:custGeom>
          <a:noFill/>
          <a:ln w="57150" cap="rnd">
            <a:solidFill>
              <a:srgbClr val="2468B6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branch-6"/>
          <p:cNvSpPr/>
          <p:nvPr/>
        </p:nvSpPr>
        <p:spPr>
          <a:xfrm>
            <a:off x="6096000" y="3437086"/>
            <a:ext cx="1866900" cy="436662"/>
          </a:xfrm>
          <a:custGeom>
            <a:avLst/>
            <a:gdLst/>
            <a:ahLst/>
            <a:cxnLst/>
            <a:rect l="0" t="0" r="r" b="b"/>
            <a:pathLst>
              <a:path w="1866900" h="436662">
                <a:moveTo>
                  <a:pt x="0" y="30014"/>
                </a:moveTo>
                <a:cubicBezTo>
                  <a:pt x="571500" y="-160486"/>
                  <a:pt x="1460500" y="614214"/>
                  <a:pt x="1866900" y="398314"/>
                </a:cubicBezTo>
              </a:path>
            </a:pathLst>
          </a:custGeom>
          <a:noFill/>
          <a:ln w="57150" cap="rnd">
            <a:solidFill>
              <a:srgbClr val="3985CD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leaf-1"/>
          <p:cNvSpPr/>
          <p:nvPr/>
        </p:nvSpPr>
        <p:spPr>
          <a:xfrm>
            <a:off x="4267200" y="1295400"/>
            <a:ext cx="736600" cy="736600"/>
          </a:xfrm>
          <a:prstGeom prst="ellipse">
            <a:avLst/>
          </a:prstGeom>
          <a:gradFill rotWithShape="1">
            <a:gsLst>
              <a:gs pos="0">
                <a:srgbClr val="305BA0"/>
              </a:gs>
              <a:gs pos="100000">
                <a:srgbClr val="0B3E8F"/>
              </a:gs>
            </a:gsLst>
            <a:lin ang="7200000" scaled="0"/>
          </a:gradFill>
          <a:ln w="25400" cap="rnd">
            <a:solidFill>
              <a:srgbClr val="FFFFFF"/>
            </a:solidFill>
            <a:round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icon-megaphone"/>
          <p:cNvSpPr/>
          <p:nvPr/>
        </p:nvSpPr>
        <p:spPr>
          <a:xfrm>
            <a:off x="4565650" y="1598104"/>
            <a:ext cx="137604" cy="131191"/>
          </a:xfrm>
          <a:custGeom>
            <a:avLst/>
            <a:gdLst/>
            <a:ahLst/>
            <a:cxnLst/>
            <a:rect l="0" t="0" r="r" b="b"/>
            <a:pathLst>
              <a:path w="137604" h="131191">
                <a:moveTo>
                  <a:pt x="0" y="40196"/>
                </a:moveTo>
                <a:lnTo>
                  <a:pt x="0" y="90996"/>
                </a:lnTo>
                <a:lnTo>
                  <a:pt x="31750" y="90996"/>
                </a:lnTo>
                <a:lnTo>
                  <a:pt x="107950" y="131191"/>
                </a:lnTo>
                <a:lnTo>
                  <a:pt x="107950" y="0"/>
                </a:lnTo>
                <a:lnTo>
                  <a:pt x="31750" y="40196"/>
                </a:lnTo>
                <a:close/>
                <a:moveTo>
                  <a:pt x="137604" y="44450"/>
                </a:moveTo>
                <a:lnTo>
                  <a:pt x="137604" y="86741"/>
                </a:ln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ln-1"/>
          <p:cNvSpPr txBox="1"/>
          <p:nvPr/>
        </p:nvSpPr>
        <p:spPr>
          <a:xfrm>
            <a:off x="3317875" y="14422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品牌影响</a:t>
            </a:r>
          </a:p>
        </p:txBody>
      </p:sp>
      <p:sp>
        <p:nvSpPr>
          <p:cNvPr id="35" name="ld-1"/>
          <p:cNvSpPr txBox="1"/>
          <p:nvPr/>
        </p:nvSpPr>
        <p:spPr>
          <a:xfrm>
            <a:off x="3017838" y="17169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行业认知度第一梯队</a:t>
            </a:r>
          </a:p>
        </p:txBody>
      </p:sp>
      <p:sp>
        <p:nvSpPr>
          <p:cNvPr id="36" name="leaf-2"/>
          <p:cNvSpPr/>
          <p:nvPr/>
        </p:nvSpPr>
        <p:spPr>
          <a:xfrm>
            <a:off x="3187700" y="2362200"/>
            <a:ext cx="736600" cy="736600"/>
          </a:xfrm>
          <a:prstGeom prst="ellipse">
            <a:avLst/>
          </a:prstGeom>
          <a:gradFill rotWithShape="1">
            <a:gsLst>
              <a:gs pos="0">
                <a:srgbClr val="3D73B5"/>
              </a:gs>
              <a:gs pos="100000">
                <a:srgbClr val="1B5AA8"/>
              </a:gs>
            </a:gsLst>
            <a:lin ang="7200000" scaled="0"/>
          </a:gradFill>
          <a:ln w="25400" cap="rnd">
            <a:solidFill>
              <a:srgbClr val="FFFFFF"/>
            </a:solidFill>
            <a:round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icon-star"/>
          <p:cNvSpPr/>
          <p:nvPr/>
        </p:nvSpPr>
        <p:spPr>
          <a:xfrm>
            <a:off x="3466021" y="2641600"/>
            <a:ext cx="179959" cy="171450"/>
          </a:xfrm>
          <a:custGeom>
            <a:avLst/>
            <a:gdLst/>
            <a:ahLst/>
            <a:cxnLst/>
            <a:rect l="0" t="0" r="r" b="b"/>
            <a:pathLst>
              <a:path w="179959" h="171450">
                <a:moveTo>
                  <a:pt x="89979" y="0"/>
                </a:moveTo>
                <a:lnTo>
                  <a:pt x="117475" y="57150"/>
                </a:lnTo>
                <a:lnTo>
                  <a:pt x="179959" y="65595"/>
                </a:lnTo>
                <a:lnTo>
                  <a:pt x="134429" y="109030"/>
                </a:lnTo>
                <a:lnTo>
                  <a:pt x="146050" y="171450"/>
                </a:lnTo>
                <a:lnTo>
                  <a:pt x="89979" y="140780"/>
                </a:lnTo>
                <a:lnTo>
                  <a:pt x="33909" y="171450"/>
                </a:lnTo>
                <a:lnTo>
                  <a:pt x="45529" y="109030"/>
                </a:lnTo>
                <a:lnTo>
                  <a:pt x="0" y="65595"/>
                </a:lnTo>
                <a:lnTo>
                  <a:pt x="62484" y="57150"/>
                </a:lnTo>
                <a:close/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ln-2"/>
          <p:cNvSpPr txBox="1"/>
          <p:nvPr/>
        </p:nvSpPr>
        <p:spPr>
          <a:xfrm>
            <a:off x="2238375" y="25090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客户口碑</a:t>
            </a:r>
          </a:p>
        </p:txBody>
      </p:sp>
      <p:sp>
        <p:nvSpPr>
          <p:cNvPr id="39" name="ld-2"/>
          <p:cNvSpPr txBox="1"/>
          <p:nvPr/>
        </p:nvSpPr>
        <p:spPr>
          <a:xfrm>
            <a:off x="1794192" y="2783761"/>
            <a:ext cx="126714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NPS 从 32 提升到 46</a:t>
            </a:r>
          </a:p>
        </p:txBody>
      </p:sp>
      <p:sp>
        <p:nvSpPr>
          <p:cNvPr id="40" name="leaf-3"/>
          <p:cNvSpPr/>
          <p:nvPr/>
        </p:nvSpPr>
        <p:spPr>
          <a:xfrm>
            <a:off x="3505200" y="3429000"/>
            <a:ext cx="736600" cy="736600"/>
          </a:xfrm>
          <a:prstGeom prst="ellipse">
            <a:avLst/>
          </a:prstGeom>
          <a:gradFill rotWithShape="1">
            <a:gsLst>
              <a:gs pos="0">
                <a:srgbClr val="4D8BCB"/>
              </a:gs>
              <a:gs pos="100000">
                <a:srgbClr val="2E77C2"/>
              </a:gs>
            </a:gsLst>
            <a:lin ang="7200000" scaled="0"/>
          </a:gradFill>
          <a:ln w="25400" cap="rnd">
            <a:solidFill>
              <a:srgbClr val="FFFFFF"/>
            </a:solidFill>
            <a:round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icon-grow"/>
          <p:cNvSpPr/>
          <p:nvPr/>
        </p:nvSpPr>
        <p:spPr>
          <a:xfrm>
            <a:off x="3784600" y="3757104"/>
            <a:ext cx="158750" cy="99441"/>
          </a:xfrm>
          <a:custGeom>
            <a:avLst/>
            <a:gdLst/>
            <a:ahLst/>
            <a:cxnLst/>
            <a:rect l="0" t="0" r="r" b="b"/>
            <a:pathLst>
              <a:path w="158750" h="99441">
                <a:moveTo>
                  <a:pt x="0" y="99441"/>
                </a:moveTo>
                <a:lnTo>
                  <a:pt x="52896" y="42291"/>
                </a:lnTo>
                <a:lnTo>
                  <a:pt x="90996" y="74041"/>
                </a:lnTo>
                <a:lnTo>
                  <a:pt x="154496" y="0"/>
                </a:lnTo>
                <a:moveTo>
                  <a:pt x="129096" y="0"/>
                </a:moveTo>
                <a:lnTo>
                  <a:pt x="158750" y="0"/>
                </a:lnTo>
                <a:lnTo>
                  <a:pt x="158750" y="29591"/>
                </a:ln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ln-3"/>
          <p:cNvSpPr txBox="1"/>
          <p:nvPr/>
        </p:nvSpPr>
        <p:spPr>
          <a:xfrm>
            <a:off x="2555875" y="35758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营收增长</a:t>
            </a:r>
          </a:p>
        </p:txBody>
      </p:sp>
      <p:sp>
        <p:nvSpPr>
          <p:cNvPr id="43" name="ld-3"/>
          <p:cNvSpPr txBox="1"/>
          <p:nvPr/>
        </p:nvSpPr>
        <p:spPr>
          <a:xfrm>
            <a:off x="2337752" y="3850561"/>
            <a:ext cx="104108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三年复合增长 22%</a:t>
            </a:r>
          </a:p>
        </p:txBody>
      </p:sp>
      <p:sp>
        <p:nvSpPr>
          <p:cNvPr id="44" name="leaf-4"/>
          <p:cNvSpPr/>
          <p:nvPr/>
        </p:nvSpPr>
        <p:spPr>
          <a:xfrm>
            <a:off x="7188200" y="1295400"/>
            <a:ext cx="736600" cy="736600"/>
          </a:xfrm>
          <a:prstGeom prst="ellipse">
            <a:avLst/>
          </a:prstGeom>
          <a:gradFill rotWithShape="1">
            <a:gsLst>
              <a:gs pos="0">
                <a:srgbClr val="305BA0"/>
              </a:gs>
              <a:gs pos="100000">
                <a:srgbClr val="0B3E8F"/>
              </a:gs>
            </a:gsLst>
            <a:lin ang="7200000" scaled="0"/>
          </a:gradFill>
          <a:ln w="25400" cap="rnd">
            <a:solidFill>
              <a:srgbClr val="FFFFFF"/>
            </a:solidFill>
            <a:round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icon-rocket"/>
          <p:cNvSpPr/>
          <p:nvPr/>
        </p:nvSpPr>
        <p:spPr>
          <a:xfrm>
            <a:off x="7486650" y="1570546"/>
            <a:ext cx="139700" cy="175704"/>
          </a:xfrm>
          <a:custGeom>
            <a:avLst/>
            <a:gdLst/>
            <a:ahLst/>
            <a:cxnLst/>
            <a:rect l="0" t="0" r="r" b="b"/>
            <a:pathLst>
              <a:path w="139700" h="175704">
                <a:moveTo>
                  <a:pt x="69850" y="0"/>
                </a:moveTo>
                <a:cubicBezTo>
                  <a:pt x="101600" y="23304"/>
                  <a:pt x="118555" y="59309"/>
                  <a:pt x="118555" y="97409"/>
                </a:cubicBezTo>
                <a:lnTo>
                  <a:pt x="95250" y="135509"/>
                </a:lnTo>
                <a:lnTo>
                  <a:pt x="44450" y="135509"/>
                </a:lnTo>
                <a:lnTo>
                  <a:pt x="21145" y="97409"/>
                </a:lnTo>
                <a:cubicBezTo>
                  <a:pt x="21145" y="59309"/>
                  <a:pt x="38100" y="23304"/>
                  <a:pt x="69850" y="0"/>
                </a:cubicBezTo>
                <a:close/>
                <a:moveTo>
                  <a:pt x="21145" y="127000"/>
                </a:moveTo>
                <a:lnTo>
                  <a:pt x="0" y="175704"/>
                </a:lnTo>
                <a:lnTo>
                  <a:pt x="44450" y="158750"/>
                </a:lnTo>
                <a:moveTo>
                  <a:pt x="118555" y="127000"/>
                </a:moveTo>
                <a:lnTo>
                  <a:pt x="139700" y="175704"/>
                </a:lnTo>
                <a:lnTo>
                  <a:pt x="95250" y="158750"/>
                </a:ln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ln-4"/>
          <p:cNvSpPr txBox="1"/>
          <p:nvPr/>
        </p:nvSpPr>
        <p:spPr>
          <a:xfrm>
            <a:off x="8045450" y="14422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新品上市</a:t>
            </a:r>
          </a:p>
        </p:txBody>
      </p:sp>
      <p:sp>
        <p:nvSpPr>
          <p:cNvPr id="47" name="ld-4"/>
          <p:cNvSpPr txBox="1"/>
          <p:nvPr/>
        </p:nvSpPr>
        <p:spPr>
          <a:xfrm>
            <a:off x="8051165" y="1716961"/>
            <a:ext cx="108997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每年 2 条新产品线</a:t>
            </a:r>
          </a:p>
        </p:txBody>
      </p:sp>
      <p:sp>
        <p:nvSpPr>
          <p:cNvPr id="48" name="leaf-5"/>
          <p:cNvSpPr/>
          <p:nvPr/>
        </p:nvSpPr>
        <p:spPr>
          <a:xfrm>
            <a:off x="8267700" y="2362200"/>
            <a:ext cx="736600" cy="736600"/>
          </a:xfrm>
          <a:prstGeom prst="ellipse">
            <a:avLst/>
          </a:prstGeom>
          <a:gradFill rotWithShape="1">
            <a:gsLst>
              <a:gs pos="0">
                <a:srgbClr val="3D73B5"/>
              </a:gs>
              <a:gs pos="100000">
                <a:srgbClr val="1B5AA8"/>
              </a:gs>
            </a:gsLst>
            <a:lin ang="7200000" scaled="0"/>
          </a:gradFill>
          <a:ln w="25400" cap="rnd">
            <a:solidFill>
              <a:srgbClr val="FFFFFF"/>
            </a:solidFill>
            <a:round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icon-globe"/>
          <p:cNvSpPr/>
          <p:nvPr/>
        </p:nvSpPr>
        <p:spPr>
          <a:xfrm>
            <a:off x="8545004" y="2639504"/>
            <a:ext cx="181991" cy="181991"/>
          </a:xfrm>
          <a:custGeom>
            <a:avLst/>
            <a:gdLst/>
            <a:ahLst/>
            <a:cxnLst/>
            <a:rect l="0" t="0" r="r" b="b"/>
            <a:pathLst>
              <a:path w="181991" h="181991">
                <a:moveTo>
                  <a:pt x="0" y="90995"/>
                </a:moveTo>
                <a:lnTo>
                  <a:pt x="181991" y="90995"/>
                </a:lnTo>
                <a:moveTo>
                  <a:pt x="90995" y="0"/>
                </a:moveTo>
                <a:cubicBezTo>
                  <a:pt x="116395" y="26416"/>
                  <a:pt x="129095" y="57150"/>
                  <a:pt x="129095" y="90995"/>
                </a:cubicBezTo>
                <a:cubicBezTo>
                  <a:pt x="129095" y="124841"/>
                  <a:pt x="116395" y="155575"/>
                  <a:pt x="90995" y="181991"/>
                </a:cubicBezTo>
                <a:cubicBezTo>
                  <a:pt x="65595" y="155575"/>
                  <a:pt x="52895" y="124841"/>
                  <a:pt x="52895" y="90995"/>
                </a:cubicBezTo>
                <a:cubicBezTo>
                  <a:pt x="52895" y="57150"/>
                  <a:pt x="65595" y="26416"/>
                  <a:pt x="90995" y="0"/>
                </a:cubicBezTo>
                <a:close/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icon-globe"/>
          <p:cNvSpPr/>
          <p:nvPr/>
        </p:nvSpPr>
        <p:spPr>
          <a:xfrm>
            <a:off x="8544983" y="2639483"/>
            <a:ext cx="182033" cy="182033"/>
          </a:xfrm>
          <a:prstGeom prst="ellipse">
            <a:avLst/>
          </a:pr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ln-5"/>
          <p:cNvSpPr txBox="1"/>
          <p:nvPr/>
        </p:nvSpPr>
        <p:spPr>
          <a:xfrm>
            <a:off x="9124950" y="25090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海外拓展</a:t>
            </a:r>
          </a:p>
        </p:txBody>
      </p:sp>
      <p:sp>
        <p:nvSpPr>
          <p:cNvPr id="52" name="ld-5"/>
          <p:cNvSpPr txBox="1"/>
          <p:nvPr/>
        </p:nvSpPr>
        <p:spPr>
          <a:xfrm>
            <a:off x="9130665" y="2783761"/>
            <a:ext cx="97631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进入 6 个新市场</a:t>
            </a:r>
          </a:p>
        </p:txBody>
      </p:sp>
      <p:sp>
        <p:nvSpPr>
          <p:cNvPr id="53" name="leaf-6"/>
          <p:cNvSpPr/>
          <p:nvPr/>
        </p:nvSpPr>
        <p:spPr>
          <a:xfrm>
            <a:off x="7950200" y="3429000"/>
            <a:ext cx="736600" cy="736600"/>
          </a:xfrm>
          <a:prstGeom prst="ellipse">
            <a:avLst/>
          </a:prstGeom>
          <a:gradFill rotWithShape="1">
            <a:gsLst>
              <a:gs pos="0">
                <a:srgbClr val="4D8BCB"/>
              </a:gs>
              <a:gs pos="100000">
                <a:srgbClr val="2E77C2"/>
              </a:gs>
            </a:gsLst>
            <a:lin ang="7200000" scaled="0"/>
          </a:gradFill>
          <a:ln w="25400" cap="rnd">
            <a:solidFill>
              <a:srgbClr val="FFFFFF"/>
            </a:solidFill>
            <a:round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icon-award"/>
          <p:cNvSpPr/>
          <p:nvPr/>
        </p:nvSpPr>
        <p:spPr>
          <a:xfrm>
            <a:off x="8274050" y="3824796"/>
            <a:ext cx="88900" cy="61404"/>
          </a:xfrm>
          <a:custGeom>
            <a:avLst/>
            <a:gdLst/>
            <a:ahLst/>
            <a:cxnLst/>
            <a:rect l="0" t="0" r="r" b="b"/>
            <a:pathLst>
              <a:path w="88900" h="61404">
                <a:moveTo>
                  <a:pt x="16955" y="0"/>
                </a:moveTo>
                <a:lnTo>
                  <a:pt x="0" y="61404"/>
                </a:lnTo>
                <a:lnTo>
                  <a:pt x="44450" y="38100"/>
                </a:lnTo>
                <a:lnTo>
                  <a:pt x="88900" y="61404"/>
                </a:lnTo>
                <a:lnTo>
                  <a:pt x="71945" y="0"/>
                </a:ln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icon-award"/>
          <p:cNvSpPr/>
          <p:nvPr/>
        </p:nvSpPr>
        <p:spPr>
          <a:xfrm>
            <a:off x="8259233" y="3710517"/>
            <a:ext cx="118533" cy="118533"/>
          </a:xfrm>
          <a:prstGeom prst="ellipse">
            <a:avLst/>
          </a:pr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ln-6"/>
          <p:cNvSpPr txBox="1"/>
          <p:nvPr/>
        </p:nvSpPr>
        <p:spPr>
          <a:xfrm>
            <a:off x="8807450" y="35758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利润改善</a:t>
            </a:r>
          </a:p>
        </p:txBody>
      </p:sp>
      <p:sp>
        <p:nvSpPr>
          <p:cNvPr id="57" name="ld-6"/>
          <p:cNvSpPr txBox="1"/>
          <p:nvPr/>
        </p:nvSpPr>
        <p:spPr>
          <a:xfrm>
            <a:off x="8813165" y="3850561"/>
            <a:ext cx="108997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毛利率提升 5 个点</a:t>
            </a:r>
          </a:p>
        </p:txBody>
      </p:sp>
      <p:sp>
        <p:nvSpPr>
          <p:cNvPr id="58" name="chip"/>
          <p:cNvSpPr/>
          <p:nvPr/>
        </p:nvSpPr>
        <p:spPr>
          <a:xfrm>
            <a:off x="2755900" y="5080000"/>
            <a:ext cx="457200" cy="457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chip-ring"/>
          <p:cNvSpPr/>
          <p:nvPr/>
        </p:nvSpPr>
        <p:spPr>
          <a:xfrm>
            <a:off x="2755900" y="5080000"/>
            <a:ext cx="457200" cy="457200"/>
          </a:xfrm>
          <a:prstGeom prst="ellipse">
            <a:avLst/>
          </a:prstGeom>
          <a:noFill/>
          <a:ln w="6350" cap="rnd">
            <a:solidFill>
              <a:srgbClr val="0B3E8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icon-code"/>
          <p:cNvSpPr/>
          <p:nvPr/>
        </p:nvSpPr>
        <p:spPr>
          <a:xfrm>
            <a:off x="2925762" y="5276850"/>
            <a:ext cx="117475" cy="63500"/>
          </a:xfrm>
          <a:custGeom>
            <a:avLst/>
            <a:gdLst/>
            <a:ahLst/>
            <a:cxnLst/>
            <a:rect l="0" t="0" r="r" b="b"/>
            <a:pathLst>
              <a:path w="117475" h="63500">
                <a:moveTo>
                  <a:pt x="34925" y="0"/>
                </a:moveTo>
                <a:lnTo>
                  <a:pt x="0" y="31750"/>
                </a:lnTo>
                <a:lnTo>
                  <a:pt x="34925" y="63500"/>
                </a:lnTo>
                <a:moveTo>
                  <a:pt x="82550" y="0"/>
                </a:moveTo>
                <a:lnTo>
                  <a:pt x="117475" y="31750"/>
                </a:lnTo>
                <a:lnTo>
                  <a:pt x="82550" y="63500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rn-1"/>
          <p:cNvSpPr txBox="1"/>
          <p:nvPr/>
        </p:nvSpPr>
        <p:spPr>
          <a:xfrm>
            <a:off x="2632392" y="5639213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研发体系</a:t>
            </a:r>
          </a:p>
        </p:txBody>
      </p:sp>
      <p:sp>
        <p:nvSpPr>
          <p:cNvPr id="62" name="rd-1"/>
          <p:cNvSpPr txBox="1"/>
          <p:nvPr/>
        </p:nvSpPr>
        <p:spPr>
          <a:xfrm>
            <a:off x="2507488" y="5868924"/>
            <a:ext cx="9540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IPD 流程全面落地</a:t>
            </a:r>
          </a:p>
        </p:txBody>
      </p:sp>
      <p:sp>
        <p:nvSpPr>
          <p:cNvPr id="63" name="chip"/>
          <p:cNvSpPr/>
          <p:nvPr/>
        </p:nvSpPr>
        <p:spPr>
          <a:xfrm>
            <a:off x="4851400" y="5080000"/>
            <a:ext cx="457200" cy="457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chip-ring"/>
          <p:cNvSpPr/>
          <p:nvPr/>
        </p:nvSpPr>
        <p:spPr>
          <a:xfrm>
            <a:off x="4851400" y="5080000"/>
            <a:ext cx="457200" cy="457200"/>
          </a:xfrm>
          <a:prstGeom prst="ellipse">
            <a:avLst/>
          </a:prstGeom>
          <a:noFill/>
          <a:ln w="6350" cap="rnd">
            <a:solidFill>
              <a:srgbClr val="1B5AA8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icon-people"/>
          <p:cNvSpPr/>
          <p:nvPr/>
        </p:nvSpPr>
        <p:spPr>
          <a:xfrm>
            <a:off x="5013325" y="5329238"/>
            <a:ext cx="134938" cy="38100"/>
          </a:xfrm>
          <a:custGeom>
            <a:avLst/>
            <a:gdLst/>
            <a:ahLst/>
            <a:cxnLst/>
            <a:rect l="0" t="0" r="r" b="b"/>
            <a:pathLst>
              <a:path w="134938" h="38100">
                <a:moveTo>
                  <a:pt x="0" y="38100"/>
                </a:moveTo>
                <a:cubicBezTo>
                  <a:pt x="0" y="14288"/>
                  <a:pt x="19812" y="0"/>
                  <a:pt x="42862" y="0"/>
                </a:cubicBezTo>
                <a:cubicBezTo>
                  <a:pt x="65913" y="0"/>
                  <a:pt x="85725" y="14288"/>
                  <a:pt x="85725" y="38100"/>
                </a:cubicBezTo>
                <a:moveTo>
                  <a:pt x="101600" y="3175"/>
                </a:moveTo>
                <a:cubicBezTo>
                  <a:pt x="122238" y="5525"/>
                  <a:pt x="134938" y="19875"/>
                  <a:pt x="134938" y="38100"/>
                </a:cubicBez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icon-people"/>
          <p:cNvSpPr/>
          <p:nvPr/>
        </p:nvSpPr>
        <p:spPr>
          <a:xfrm>
            <a:off x="5030788" y="5260975"/>
            <a:ext cx="50800" cy="50800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icon-people"/>
          <p:cNvSpPr/>
          <p:nvPr/>
        </p:nvSpPr>
        <p:spPr>
          <a:xfrm>
            <a:off x="5099050" y="5260975"/>
            <a:ext cx="41275" cy="41275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rn-2"/>
          <p:cNvSpPr txBox="1"/>
          <p:nvPr/>
        </p:nvSpPr>
        <p:spPr>
          <a:xfrm>
            <a:off x="4727892" y="5639213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人才梯队</a:t>
            </a:r>
          </a:p>
        </p:txBody>
      </p:sp>
      <p:sp>
        <p:nvSpPr>
          <p:cNvPr id="69" name="rd-2"/>
          <p:cNvSpPr txBox="1"/>
          <p:nvPr/>
        </p:nvSpPr>
        <p:spPr>
          <a:xfrm>
            <a:off x="4617720" y="5868924"/>
            <a:ext cx="92456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关键岗位双人备份</a:t>
            </a:r>
          </a:p>
        </p:txBody>
      </p:sp>
      <p:sp>
        <p:nvSpPr>
          <p:cNvPr id="70" name="chip"/>
          <p:cNvSpPr/>
          <p:nvPr/>
        </p:nvSpPr>
        <p:spPr>
          <a:xfrm>
            <a:off x="6883400" y="5080000"/>
            <a:ext cx="457200" cy="457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chip-ring"/>
          <p:cNvSpPr/>
          <p:nvPr/>
        </p:nvSpPr>
        <p:spPr>
          <a:xfrm>
            <a:off x="6883400" y="5080000"/>
            <a:ext cx="457200" cy="457200"/>
          </a:xfrm>
          <a:prstGeom prst="ellipse">
            <a:avLst/>
          </a:prstGeom>
          <a:noFill/>
          <a:ln w="6350" cap="rnd">
            <a:solidFill>
              <a:srgbClr val="2E77C2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icon-db"/>
          <p:cNvSpPr/>
          <p:nvPr/>
        </p:nvSpPr>
        <p:spPr>
          <a:xfrm>
            <a:off x="7053262" y="5237162"/>
            <a:ext cx="117475" cy="142875"/>
          </a:xfrm>
          <a:custGeom>
            <a:avLst/>
            <a:gdLst/>
            <a:ahLst/>
            <a:cxnLst/>
            <a:rect l="0" t="0" r="r" b="b"/>
            <a:pathLst>
              <a:path w="117475" h="142875">
                <a:moveTo>
                  <a:pt x="58738" y="34925"/>
                </a:moveTo>
                <a:cubicBezTo>
                  <a:pt x="91249" y="34925"/>
                  <a:pt x="117475" y="26988"/>
                  <a:pt x="117475" y="17462"/>
                </a:cubicBezTo>
                <a:cubicBezTo>
                  <a:pt x="117475" y="7938"/>
                  <a:pt x="91249" y="0"/>
                  <a:pt x="58738" y="0"/>
                </a:cubicBezTo>
                <a:cubicBezTo>
                  <a:pt x="26226" y="0"/>
                  <a:pt x="0" y="7938"/>
                  <a:pt x="0" y="17462"/>
                </a:cubicBezTo>
                <a:cubicBezTo>
                  <a:pt x="0" y="26988"/>
                  <a:pt x="26226" y="34925"/>
                  <a:pt x="58738" y="34925"/>
                </a:cubicBezTo>
                <a:close/>
                <a:moveTo>
                  <a:pt x="0" y="17462"/>
                </a:moveTo>
                <a:lnTo>
                  <a:pt x="0" y="125412"/>
                </a:lnTo>
                <a:cubicBezTo>
                  <a:pt x="0" y="134938"/>
                  <a:pt x="26226" y="142875"/>
                  <a:pt x="58738" y="142875"/>
                </a:cubicBezTo>
                <a:cubicBezTo>
                  <a:pt x="91249" y="142875"/>
                  <a:pt x="117475" y="134938"/>
                  <a:pt x="117475" y="125412"/>
                </a:cubicBezTo>
                <a:lnTo>
                  <a:pt x="117475" y="17462"/>
                </a:lnTo>
                <a:moveTo>
                  <a:pt x="0" y="71438"/>
                </a:moveTo>
                <a:cubicBezTo>
                  <a:pt x="0" y="80962"/>
                  <a:pt x="26226" y="88900"/>
                  <a:pt x="58738" y="88900"/>
                </a:cubicBezTo>
                <a:cubicBezTo>
                  <a:pt x="91249" y="88900"/>
                  <a:pt x="117475" y="80962"/>
                  <a:pt x="117475" y="71438"/>
                </a:cubicBezTo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rn-3"/>
          <p:cNvSpPr txBox="1"/>
          <p:nvPr/>
        </p:nvSpPr>
        <p:spPr>
          <a:xfrm>
            <a:off x="6759892" y="5639213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数据平台</a:t>
            </a:r>
          </a:p>
        </p:txBody>
      </p:sp>
      <p:sp>
        <p:nvSpPr>
          <p:cNvPr id="74" name="rd-3"/>
          <p:cNvSpPr txBox="1"/>
          <p:nvPr/>
        </p:nvSpPr>
        <p:spPr>
          <a:xfrm>
            <a:off x="6649720" y="5868924"/>
            <a:ext cx="92456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经营数据日级可见</a:t>
            </a:r>
          </a:p>
        </p:txBody>
      </p:sp>
      <p:sp>
        <p:nvSpPr>
          <p:cNvPr id="75" name="chip"/>
          <p:cNvSpPr/>
          <p:nvPr/>
        </p:nvSpPr>
        <p:spPr>
          <a:xfrm>
            <a:off x="8978900" y="5080000"/>
            <a:ext cx="457200" cy="457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chip-ring"/>
          <p:cNvSpPr/>
          <p:nvPr/>
        </p:nvSpPr>
        <p:spPr>
          <a:xfrm>
            <a:off x="8978900" y="5080000"/>
            <a:ext cx="457200" cy="457200"/>
          </a:xfrm>
          <a:prstGeom prst="ellipse">
            <a:avLst/>
          </a:prstGeom>
          <a:noFill/>
          <a:ln w="6350" cap="rnd">
            <a:solidFill>
              <a:srgbClr val="4694D7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icon-flag"/>
          <p:cNvSpPr/>
          <p:nvPr/>
        </p:nvSpPr>
        <p:spPr>
          <a:xfrm>
            <a:off x="9159875" y="5246688"/>
            <a:ext cx="76200" cy="130175"/>
          </a:xfrm>
          <a:custGeom>
            <a:avLst/>
            <a:gdLst/>
            <a:ahLst/>
            <a:cxnLst/>
            <a:rect l="0" t="0" r="r" b="b"/>
            <a:pathLst>
              <a:path w="76200" h="130175">
                <a:moveTo>
                  <a:pt x="0" y="130175"/>
                </a:moveTo>
                <a:lnTo>
                  <a:pt x="0" y="0"/>
                </a:lnTo>
                <a:moveTo>
                  <a:pt x="0" y="6350"/>
                </a:moveTo>
                <a:lnTo>
                  <a:pt x="76200" y="6350"/>
                </a:lnTo>
                <a:lnTo>
                  <a:pt x="63500" y="31750"/>
                </a:lnTo>
                <a:lnTo>
                  <a:pt x="76200" y="57150"/>
                </a:lnTo>
                <a:lnTo>
                  <a:pt x="0" y="57150"/>
                </a:lnTo>
              </a:path>
            </a:pathLst>
          </a:cu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rn-4"/>
          <p:cNvSpPr txBox="1"/>
          <p:nvPr/>
        </p:nvSpPr>
        <p:spPr>
          <a:xfrm>
            <a:off x="8855392" y="5639213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组织文化</a:t>
            </a:r>
          </a:p>
        </p:txBody>
      </p:sp>
      <p:sp>
        <p:nvSpPr>
          <p:cNvPr id="79" name="rd-4"/>
          <p:cNvSpPr txBox="1"/>
          <p:nvPr/>
        </p:nvSpPr>
        <p:spPr>
          <a:xfrm>
            <a:off x="8693150" y="5868924"/>
            <a:ext cx="10287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客户导向、结果说话</a:t>
            </a:r>
          </a:p>
        </p:txBody>
      </p:sp>
      <p:cxnSp>
        <p:nvCxnSpPr>
          <p:cNvPr id="80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foot-l"/>
          <p:cNvSpPr txBox="1"/>
          <p:nvPr/>
        </p:nvSpPr>
        <p:spPr>
          <a:xfrm>
            <a:off x="573532" y="6532308"/>
            <a:ext cx="165735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能力之树 · 6 项成果 · 4 条根系</a:t>
            </a:r>
          </a:p>
        </p:txBody>
      </p:sp>
      <p:sp>
        <p:nvSpPr>
          <p:cNvPr id="82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23" name="trunk"/>
          <p:cNvSpPr/>
          <p:nvPr/>
        </p:nvSpPr>
        <p:spPr>
          <a:xfrm>
            <a:off x="5816600" y="2901950"/>
            <a:ext cx="558800" cy="1657350"/>
          </a:xfrm>
          <a:custGeom>
            <a:avLst/>
            <a:gdLst/>
            <a:ahLst/>
            <a:cxnLst/>
            <a:rect l="0" t="0" r="r" b="b"/>
            <a:pathLst>
              <a:path w="558800" h="1657350">
                <a:moveTo>
                  <a:pt x="0" y="1657350"/>
                </a:moveTo>
                <a:cubicBezTo>
                  <a:pt x="88900" y="1136650"/>
                  <a:pt x="177800" y="628650"/>
                  <a:pt x="177800" y="57150"/>
                </a:cubicBezTo>
                <a:quadBezTo>
                  <a:pt x="279400" y="-57150"/>
                  <a:pt x="381000" y="57150"/>
                </a:quadBezTo>
                <a:cubicBezTo>
                  <a:pt x="381000" y="628650"/>
                  <a:pt x="469900" y="1136650"/>
                  <a:pt x="558800" y="1657350"/>
                </a:cubic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0A3A88"/>
              </a:gs>
            </a:gsLst>
            <a:lin ang="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trunk-tag"/>
          <p:cNvSpPr/>
          <p:nvPr/>
        </p:nvSpPr>
        <p:spPr>
          <a:xfrm>
            <a:off x="5562600" y="3797300"/>
            <a:ext cx="1066800" cy="254000"/>
          </a:xfrm>
          <a:custGeom>
            <a:avLst/>
            <a:gdLst/>
            <a:ahLst/>
            <a:cxnLst/>
            <a:rect l="0" t="0" r="r" b="b"/>
            <a:pathLst>
              <a:path w="1066800" h="254000">
                <a:moveTo>
                  <a:pt x="127000" y="0"/>
                </a:moveTo>
                <a:lnTo>
                  <a:pt x="939800" y="0"/>
                </a:lnTo>
                <a:cubicBezTo>
                  <a:pt x="1009967" y="0"/>
                  <a:pt x="1066800" y="56833"/>
                  <a:pt x="1066800" y="127000"/>
                </a:cubicBezTo>
                <a:lnTo>
                  <a:pt x="1066800" y="127000"/>
                </a:lnTo>
                <a:cubicBezTo>
                  <a:pt x="1066800" y="197167"/>
                  <a:pt x="1009967" y="254000"/>
                  <a:pt x="939800" y="254000"/>
                </a:cubicBezTo>
                <a:lnTo>
                  <a:pt x="127000" y="254000"/>
                </a:lnTo>
                <a:cubicBezTo>
                  <a:pt x="56833" y="254000"/>
                  <a:pt x="0" y="197167"/>
                  <a:pt x="0" y="127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trunk-t"/>
          <p:cNvSpPr txBox="1"/>
          <p:nvPr/>
        </p:nvSpPr>
        <p:spPr>
          <a:xfrm>
            <a:off x="5753735" y="3835432"/>
            <a:ext cx="68453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7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核心产品力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五层技术架构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53695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ISOMETRIC LAYERS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008999" y="673132"/>
            <a:ext cx="2611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自下而上逐层支撑，每一层只依赖它下面的那一层</a:t>
            </a:r>
          </a:p>
        </p:txBody>
      </p:sp>
      <p:sp>
        <p:nvSpPr>
          <p:cNvPr id="10" name="side-l-5"/>
          <p:cNvSpPr/>
          <p:nvPr/>
        </p:nvSpPr>
        <p:spPr>
          <a:xfrm>
            <a:off x="4191000" y="4902200"/>
            <a:ext cx="1905000" cy="774700"/>
          </a:xfrm>
          <a:custGeom>
            <a:avLst/>
            <a:gdLst/>
            <a:ahLst/>
            <a:cxnLst/>
            <a:rect l="0" t="0" r="r" b="b"/>
            <a:pathLst>
              <a:path w="1905000" h="774700">
                <a:moveTo>
                  <a:pt x="0" y="0"/>
                </a:moveTo>
                <a:lnTo>
                  <a:pt x="1905000" y="609600"/>
                </a:lnTo>
                <a:lnTo>
                  <a:pt x="1905000" y="774700"/>
                </a:lnTo>
                <a:lnTo>
                  <a:pt x="0" y="165100"/>
                </a:lnTo>
                <a:close/>
              </a:path>
            </a:pathLst>
          </a:custGeom>
          <a:solidFill>
            <a:srgbClr val="0A3477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side-r-5"/>
          <p:cNvSpPr/>
          <p:nvPr/>
        </p:nvSpPr>
        <p:spPr>
          <a:xfrm>
            <a:off x="6096000" y="4902200"/>
            <a:ext cx="1905000" cy="774700"/>
          </a:xfrm>
          <a:custGeom>
            <a:avLst/>
            <a:gdLst/>
            <a:ahLst/>
            <a:cxnLst/>
            <a:rect l="0" t="0" r="r" b="b"/>
            <a:pathLst>
              <a:path w="1905000" h="774700">
                <a:moveTo>
                  <a:pt x="0" y="609600"/>
                </a:moveTo>
                <a:lnTo>
                  <a:pt x="1905000" y="0"/>
                </a:lnTo>
                <a:lnTo>
                  <a:pt x="1905000" y="165100"/>
                </a:lnTo>
                <a:lnTo>
                  <a:pt x="0" y="774700"/>
                </a:lnTo>
                <a:close/>
              </a:path>
            </a:pathLst>
          </a:custGeom>
          <a:solidFill>
            <a:srgbClr val="0A388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top-5"/>
          <p:cNvSpPr/>
          <p:nvPr/>
        </p:nvSpPr>
        <p:spPr>
          <a:xfrm>
            <a:off x="4191000" y="4292600"/>
            <a:ext cx="3810000" cy="1219200"/>
          </a:xfrm>
          <a:custGeom>
            <a:avLst/>
            <a:gdLst/>
            <a:ahLst/>
            <a:cxnLst/>
            <a:rect l="0" t="0" r="r" b="b"/>
            <a:pathLst>
              <a:path w="3810000" h="1219200">
                <a:moveTo>
                  <a:pt x="1905000" y="0"/>
                </a:moveTo>
                <a:lnTo>
                  <a:pt x="3810000" y="609600"/>
                </a:lnTo>
                <a:lnTo>
                  <a:pt x="1905000" y="1219200"/>
                </a:lnTo>
                <a:lnTo>
                  <a:pt x="0" y="609600"/>
                </a:lnTo>
                <a:close/>
              </a:path>
            </a:pathLst>
          </a:custGeom>
          <a:gradFill rotWithShape="1">
            <a:gsLst>
              <a:gs pos="0">
                <a:srgbClr val="4168A8"/>
              </a:gs>
              <a:gs pos="100000">
                <a:srgbClr val="0B3E8F"/>
              </a:gs>
            </a:gsLst>
            <a:lin ang="6000000" scaled="0"/>
          </a:gradFill>
          <a:ln w="9525" cap="rnd">
            <a:solidFill>
              <a:srgbClr val="FFFFF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icon-cloud"/>
          <p:cNvSpPr/>
          <p:nvPr/>
        </p:nvSpPr>
        <p:spPr>
          <a:xfrm>
            <a:off x="5429440" y="5097547"/>
            <a:ext cx="130747" cy="89958"/>
          </a:xfrm>
          <a:custGeom>
            <a:avLst/>
            <a:gdLst/>
            <a:ahLst/>
            <a:cxnLst/>
            <a:rect l="0" t="0" r="r" b="b"/>
            <a:pathLst>
              <a:path w="130747" h="89958">
                <a:moveTo>
                  <a:pt x="30289" y="89958"/>
                </a:moveTo>
                <a:cubicBezTo>
                  <a:pt x="14351" y="90720"/>
                  <a:pt x="762" y="78401"/>
                  <a:pt x="0" y="62463"/>
                </a:cubicBezTo>
                <a:cubicBezTo>
                  <a:pt x="-762" y="46524"/>
                  <a:pt x="11557" y="32935"/>
                  <a:pt x="27559" y="32173"/>
                </a:cubicBezTo>
                <a:cubicBezTo>
                  <a:pt x="29782" y="15346"/>
                  <a:pt x="43180" y="2201"/>
                  <a:pt x="60071" y="233"/>
                </a:cubicBezTo>
                <a:cubicBezTo>
                  <a:pt x="76962" y="-1736"/>
                  <a:pt x="93027" y="8043"/>
                  <a:pt x="99060" y="23918"/>
                </a:cubicBezTo>
                <a:cubicBezTo>
                  <a:pt x="117348" y="24680"/>
                  <a:pt x="131509" y="40111"/>
                  <a:pt x="130747" y="58335"/>
                </a:cubicBezTo>
                <a:cubicBezTo>
                  <a:pt x="129985" y="76560"/>
                  <a:pt x="114554" y="90720"/>
                  <a:pt x="96330" y="89958"/>
                </a:cubicBezTo>
                <a:close/>
              </a:path>
            </a:pathLst>
          </a:custGeom>
          <a:noFill/>
          <a:ln w="1333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tn-5"/>
          <p:cNvSpPr txBox="1"/>
          <p:nvPr/>
        </p:nvSpPr>
        <p:spPr>
          <a:xfrm>
            <a:off x="5579110" y="5021770"/>
            <a:ext cx="91948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基础设施层</a:t>
            </a:r>
          </a:p>
        </p:txBody>
      </p:sp>
      <p:cxnSp>
        <p:nvCxnSpPr>
          <p:cNvPr id="15" name="ll-5"/>
          <p:cNvCxnSpPr/>
          <p:nvPr/>
        </p:nvCxnSpPr>
        <p:spPr>
          <a:xfrm flipH="1">
            <a:off x="3746500" y="5156200"/>
            <a:ext cx="381000" cy="0"/>
          </a:xfrm>
          <a:prstGeom prst="line">
            <a:avLst/>
          </a:prstGeom>
          <a:ln w="11430" cap="rnd">
            <a:solidFill>
              <a:srgbClr val="0B3E8F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lld-5"/>
          <p:cNvSpPr/>
          <p:nvPr/>
        </p:nvSpPr>
        <p:spPr>
          <a:xfrm>
            <a:off x="4095750" y="5124450"/>
            <a:ext cx="63500" cy="635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no-5"/>
          <p:cNvSpPr txBox="1"/>
          <p:nvPr/>
        </p:nvSpPr>
        <p:spPr>
          <a:xfrm>
            <a:off x="922020" y="4944110"/>
            <a:ext cx="51308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>
                <a:solidFill>
                  <a:srgbClr val="0B3E8F">
                    <a:alpha val="35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18" name="ln-5"/>
          <p:cNvSpPr txBox="1"/>
          <p:nvPr/>
        </p:nvSpPr>
        <p:spPr>
          <a:xfrm>
            <a:off x="1454150" y="4934744"/>
            <a:ext cx="10001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基础设施层</a:t>
            </a:r>
          </a:p>
        </p:txBody>
      </p:sp>
      <p:sp>
        <p:nvSpPr>
          <p:cNvPr id="19" name="ld-5"/>
          <p:cNvSpPr txBox="1"/>
          <p:nvPr/>
        </p:nvSpPr>
        <p:spPr>
          <a:xfrm>
            <a:off x="1461389" y="5199745"/>
            <a:ext cx="1199198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安全、稳定、弹性的资源</a:t>
            </a:r>
          </a:p>
        </p:txBody>
      </p:sp>
      <p:cxnSp>
        <p:nvCxnSpPr>
          <p:cNvPr id="20" name="rl-5"/>
          <p:cNvCxnSpPr/>
          <p:nvPr/>
        </p:nvCxnSpPr>
        <p:spPr>
          <a:xfrm>
            <a:off x="8064500" y="5156200"/>
            <a:ext cx="381000" cy="0"/>
          </a:xfrm>
          <a:prstGeom prst="line">
            <a:avLst/>
          </a:prstGeom>
          <a:ln w="11430" cap="rnd">
            <a:solidFill>
              <a:srgbClr val="0B3E8F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rld-5"/>
          <p:cNvSpPr/>
          <p:nvPr/>
        </p:nvSpPr>
        <p:spPr>
          <a:xfrm>
            <a:off x="8032750" y="5124450"/>
            <a:ext cx="63500" cy="635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cp-5-1"/>
          <p:cNvSpPr/>
          <p:nvPr/>
        </p:nvSpPr>
        <p:spPr>
          <a:xfrm>
            <a:off x="8509000" y="5016500"/>
            <a:ext cx="838200" cy="279400"/>
          </a:xfrm>
          <a:custGeom>
            <a:avLst/>
            <a:gdLst/>
            <a:ahLst/>
            <a:cxnLst/>
            <a:rect l="0" t="0" r="r" b="b"/>
            <a:pathLst>
              <a:path w="838200" h="279400">
                <a:moveTo>
                  <a:pt x="139700" y="0"/>
                </a:moveTo>
                <a:lnTo>
                  <a:pt x="698500" y="0"/>
                </a:lnTo>
                <a:cubicBezTo>
                  <a:pt x="775653" y="0"/>
                  <a:pt x="838200" y="62548"/>
                  <a:pt x="838200" y="139700"/>
                </a:cubicBezTo>
                <a:lnTo>
                  <a:pt x="838200" y="139700"/>
                </a:lnTo>
                <a:cubicBezTo>
                  <a:pt x="838200" y="216852"/>
                  <a:pt x="775653" y="279400"/>
                  <a:pt x="698500" y="279400"/>
                </a:cubicBezTo>
                <a:lnTo>
                  <a:pt x="139700" y="279400"/>
                </a:lnTo>
                <a:cubicBezTo>
                  <a:pt x="62547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 w="7620" cap="rnd">
            <a:solidFill>
              <a:srgbClr val="0B3E8F">
                <a:alpha val="35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cpt-5-1"/>
          <p:cNvSpPr txBox="1"/>
          <p:nvPr/>
        </p:nvSpPr>
        <p:spPr>
          <a:xfrm>
            <a:off x="8726170" y="5068824"/>
            <a:ext cx="40386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混合云</a:t>
            </a:r>
          </a:p>
        </p:txBody>
      </p:sp>
      <p:sp>
        <p:nvSpPr>
          <p:cNvPr id="24" name="cp-5-2"/>
          <p:cNvSpPr/>
          <p:nvPr/>
        </p:nvSpPr>
        <p:spPr>
          <a:xfrm>
            <a:off x="9423400" y="5016500"/>
            <a:ext cx="838200" cy="279400"/>
          </a:xfrm>
          <a:custGeom>
            <a:avLst/>
            <a:gdLst/>
            <a:ahLst/>
            <a:cxnLst/>
            <a:rect l="0" t="0" r="r" b="b"/>
            <a:pathLst>
              <a:path w="838200" h="279400">
                <a:moveTo>
                  <a:pt x="139700" y="0"/>
                </a:moveTo>
                <a:lnTo>
                  <a:pt x="698500" y="0"/>
                </a:lnTo>
                <a:cubicBezTo>
                  <a:pt x="775653" y="0"/>
                  <a:pt x="838200" y="62548"/>
                  <a:pt x="838200" y="139700"/>
                </a:cubicBezTo>
                <a:lnTo>
                  <a:pt x="838200" y="139700"/>
                </a:lnTo>
                <a:cubicBezTo>
                  <a:pt x="838200" y="216852"/>
                  <a:pt x="775653" y="279400"/>
                  <a:pt x="698500" y="279400"/>
                </a:cubicBezTo>
                <a:lnTo>
                  <a:pt x="139700" y="279400"/>
                </a:lnTo>
                <a:cubicBezTo>
                  <a:pt x="62547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 w="7620" cap="rnd">
            <a:solidFill>
              <a:srgbClr val="0B3E8F">
                <a:alpha val="35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cpt-5-2"/>
          <p:cNvSpPr txBox="1"/>
          <p:nvPr/>
        </p:nvSpPr>
        <p:spPr>
          <a:xfrm>
            <a:off x="9588500" y="5068824"/>
            <a:ext cx="5080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网络安全</a:t>
            </a:r>
          </a:p>
        </p:txBody>
      </p:sp>
      <p:sp>
        <p:nvSpPr>
          <p:cNvPr id="26" name="cp-5-3"/>
          <p:cNvSpPr/>
          <p:nvPr/>
        </p:nvSpPr>
        <p:spPr>
          <a:xfrm>
            <a:off x="10337800" y="5016500"/>
            <a:ext cx="838200" cy="279400"/>
          </a:xfrm>
          <a:custGeom>
            <a:avLst/>
            <a:gdLst/>
            <a:ahLst/>
            <a:cxnLst/>
            <a:rect l="0" t="0" r="r" b="b"/>
            <a:pathLst>
              <a:path w="838200" h="279400">
                <a:moveTo>
                  <a:pt x="139700" y="0"/>
                </a:moveTo>
                <a:lnTo>
                  <a:pt x="698500" y="0"/>
                </a:lnTo>
                <a:cubicBezTo>
                  <a:pt x="775653" y="0"/>
                  <a:pt x="838200" y="62548"/>
                  <a:pt x="838200" y="139700"/>
                </a:cubicBezTo>
                <a:lnTo>
                  <a:pt x="838200" y="139700"/>
                </a:lnTo>
                <a:cubicBezTo>
                  <a:pt x="838200" y="216852"/>
                  <a:pt x="775653" y="279400"/>
                  <a:pt x="698500" y="279400"/>
                </a:cubicBezTo>
                <a:lnTo>
                  <a:pt x="139700" y="279400"/>
                </a:lnTo>
                <a:cubicBezTo>
                  <a:pt x="62547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 w="7620" cap="rnd">
            <a:solidFill>
              <a:srgbClr val="0B3E8F">
                <a:alpha val="35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cpt-5-3"/>
          <p:cNvSpPr txBox="1"/>
          <p:nvPr/>
        </p:nvSpPr>
        <p:spPr>
          <a:xfrm>
            <a:off x="10502900" y="5068824"/>
            <a:ext cx="5080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灾备中心</a:t>
            </a:r>
          </a:p>
        </p:txBody>
      </p:sp>
      <p:sp>
        <p:nvSpPr>
          <p:cNvPr id="28" name="side-l-4"/>
          <p:cNvSpPr/>
          <p:nvPr/>
        </p:nvSpPr>
        <p:spPr>
          <a:xfrm>
            <a:off x="4191000" y="4140200"/>
            <a:ext cx="1905000" cy="774700"/>
          </a:xfrm>
          <a:custGeom>
            <a:avLst/>
            <a:gdLst/>
            <a:ahLst/>
            <a:cxnLst/>
            <a:rect l="0" t="0" r="r" b="b"/>
            <a:pathLst>
              <a:path w="1905000" h="774700">
                <a:moveTo>
                  <a:pt x="0" y="0"/>
                </a:moveTo>
                <a:lnTo>
                  <a:pt x="1905000" y="609600"/>
                </a:lnTo>
                <a:lnTo>
                  <a:pt x="1905000" y="774700"/>
                </a:lnTo>
                <a:lnTo>
                  <a:pt x="0" y="165100"/>
                </a:lnTo>
                <a:close/>
              </a:path>
            </a:pathLst>
          </a:custGeom>
          <a:solidFill>
            <a:srgbClr val="0F3C7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side-r-4"/>
          <p:cNvSpPr/>
          <p:nvPr/>
        </p:nvSpPr>
        <p:spPr>
          <a:xfrm>
            <a:off x="6096000" y="4140200"/>
            <a:ext cx="1905000" cy="774700"/>
          </a:xfrm>
          <a:custGeom>
            <a:avLst/>
            <a:gdLst/>
            <a:ahLst/>
            <a:cxnLst/>
            <a:rect l="0" t="0" r="r" b="b"/>
            <a:pathLst>
              <a:path w="1905000" h="774700">
                <a:moveTo>
                  <a:pt x="0" y="609600"/>
                </a:moveTo>
                <a:lnTo>
                  <a:pt x="1905000" y="0"/>
                </a:lnTo>
                <a:lnTo>
                  <a:pt x="1905000" y="165100"/>
                </a:lnTo>
                <a:lnTo>
                  <a:pt x="0" y="774700"/>
                </a:lnTo>
                <a:close/>
              </a:path>
            </a:pathLst>
          </a:custGeom>
          <a:solidFill>
            <a:srgbClr val="11438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top-4"/>
          <p:cNvSpPr/>
          <p:nvPr/>
        </p:nvSpPr>
        <p:spPr>
          <a:xfrm>
            <a:off x="4191000" y="3530600"/>
            <a:ext cx="3810000" cy="1219200"/>
          </a:xfrm>
          <a:custGeom>
            <a:avLst/>
            <a:gdLst/>
            <a:ahLst/>
            <a:cxnLst/>
            <a:rect l="0" t="0" r="r" b="b"/>
            <a:pathLst>
              <a:path w="3810000" h="1219200">
                <a:moveTo>
                  <a:pt x="1905000" y="0"/>
                </a:moveTo>
                <a:lnTo>
                  <a:pt x="3810000" y="609600"/>
                </a:lnTo>
                <a:lnTo>
                  <a:pt x="1905000" y="1219200"/>
                </a:lnTo>
                <a:lnTo>
                  <a:pt x="0" y="609600"/>
                </a:lnTo>
                <a:close/>
              </a:path>
            </a:pathLst>
          </a:custGeom>
          <a:gradFill rotWithShape="1">
            <a:gsLst>
              <a:gs pos="0">
                <a:srgbClr val="4773B2"/>
              </a:gs>
              <a:gs pos="100000">
                <a:srgbClr val="134C9C"/>
              </a:gs>
            </a:gsLst>
            <a:lin ang="6000000" scaled="0"/>
          </a:gradFill>
          <a:ln w="9525" cap="rnd">
            <a:solidFill>
              <a:srgbClr val="FFFFF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icon-layers"/>
          <p:cNvSpPr/>
          <p:nvPr/>
        </p:nvSpPr>
        <p:spPr>
          <a:xfrm>
            <a:off x="5501196" y="4325112"/>
            <a:ext cx="110109" cy="114173"/>
          </a:xfrm>
          <a:custGeom>
            <a:avLst/>
            <a:gdLst/>
            <a:ahLst/>
            <a:cxnLst/>
            <a:rect l="0" t="0" r="r" b="b"/>
            <a:pathLst>
              <a:path w="110109" h="114173">
                <a:moveTo>
                  <a:pt x="55054" y="0"/>
                </a:moveTo>
                <a:lnTo>
                  <a:pt x="110109" y="28892"/>
                </a:lnTo>
                <a:lnTo>
                  <a:pt x="55054" y="57785"/>
                </a:lnTo>
                <a:lnTo>
                  <a:pt x="0" y="28892"/>
                </a:lnTo>
                <a:close/>
                <a:moveTo>
                  <a:pt x="0" y="57785"/>
                </a:moveTo>
                <a:lnTo>
                  <a:pt x="55054" y="86677"/>
                </a:lnTo>
                <a:lnTo>
                  <a:pt x="110109" y="57785"/>
                </a:lnTo>
                <a:moveTo>
                  <a:pt x="0" y="85280"/>
                </a:moveTo>
                <a:lnTo>
                  <a:pt x="55054" y="114173"/>
                </a:lnTo>
                <a:lnTo>
                  <a:pt x="110109" y="85280"/>
                </a:lnTo>
              </a:path>
            </a:pathLst>
          </a:custGeom>
          <a:noFill/>
          <a:ln w="1333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tn-4"/>
          <p:cNvSpPr txBox="1"/>
          <p:nvPr/>
        </p:nvSpPr>
        <p:spPr>
          <a:xfrm>
            <a:off x="5801360" y="4259770"/>
            <a:ext cx="60198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平台层</a:t>
            </a:r>
          </a:p>
        </p:txBody>
      </p:sp>
      <p:cxnSp>
        <p:nvCxnSpPr>
          <p:cNvPr id="33" name="ll-4"/>
          <p:cNvCxnSpPr/>
          <p:nvPr/>
        </p:nvCxnSpPr>
        <p:spPr>
          <a:xfrm flipH="1">
            <a:off x="3746500" y="4394200"/>
            <a:ext cx="381000" cy="0"/>
          </a:xfrm>
          <a:prstGeom prst="line">
            <a:avLst/>
          </a:prstGeom>
          <a:ln w="11430" cap="rnd">
            <a:solidFill>
              <a:srgbClr val="134C9C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lld-4"/>
          <p:cNvSpPr/>
          <p:nvPr/>
        </p:nvSpPr>
        <p:spPr>
          <a:xfrm>
            <a:off x="4095750" y="4362450"/>
            <a:ext cx="63500" cy="635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no-4"/>
          <p:cNvSpPr txBox="1"/>
          <p:nvPr/>
        </p:nvSpPr>
        <p:spPr>
          <a:xfrm>
            <a:off x="922020" y="4182110"/>
            <a:ext cx="51308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>
                <a:solidFill>
                  <a:srgbClr val="134C9C">
                    <a:alpha val="35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36" name="ln-4"/>
          <p:cNvSpPr txBox="1"/>
          <p:nvPr/>
        </p:nvSpPr>
        <p:spPr>
          <a:xfrm>
            <a:off x="1454150" y="4172744"/>
            <a:ext cx="6572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平台层</a:t>
            </a:r>
          </a:p>
        </p:txBody>
      </p:sp>
      <p:sp>
        <p:nvSpPr>
          <p:cNvPr id="37" name="ld-4"/>
          <p:cNvSpPr txBox="1"/>
          <p:nvPr/>
        </p:nvSpPr>
        <p:spPr>
          <a:xfrm>
            <a:off x="1461389" y="4437745"/>
            <a:ext cx="109823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研发与运行的公共底座</a:t>
            </a:r>
          </a:p>
        </p:txBody>
      </p:sp>
      <p:cxnSp>
        <p:nvCxnSpPr>
          <p:cNvPr id="38" name="rl-4"/>
          <p:cNvCxnSpPr/>
          <p:nvPr/>
        </p:nvCxnSpPr>
        <p:spPr>
          <a:xfrm>
            <a:off x="8064500" y="4394200"/>
            <a:ext cx="381000" cy="0"/>
          </a:xfrm>
          <a:prstGeom prst="line">
            <a:avLst/>
          </a:prstGeom>
          <a:ln w="11430" cap="rnd">
            <a:solidFill>
              <a:srgbClr val="134C9C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rld-4"/>
          <p:cNvSpPr/>
          <p:nvPr/>
        </p:nvSpPr>
        <p:spPr>
          <a:xfrm>
            <a:off x="8032750" y="4362450"/>
            <a:ext cx="63500" cy="635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cp-4-1"/>
          <p:cNvSpPr/>
          <p:nvPr/>
        </p:nvSpPr>
        <p:spPr>
          <a:xfrm>
            <a:off x="8509000" y="4254500"/>
            <a:ext cx="838200" cy="279400"/>
          </a:xfrm>
          <a:custGeom>
            <a:avLst/>
            <a:gdLst/>
            <a:ahLst/>
            <a:cxnLst/>
            <a:rect l="0" t="0" r="r" b="b"/>
            <a:pathLst>
              <a:path w="838200" h="279400">
                <a:moveTo>
                  <a:pt x="139700" y="0"/>
                </a:moveTo>
                <a:lnTo>
                  <a:pt x="698500" y="0"/>
                </a:lnTo>
                <a:cubicBezTo>
                  <a:pt x="775653" y="0"/>
                  <a:pt x="838200" y="62548"/>
                  <a:pt x="838200" y="139700"/>
                </a:cubicBezTo>
                <a:lnTo>
                  <a:pt x="838200" y="139700"/>
                </a:lnTo>
                <a:cubicBezTo>
                  <a:pt x="838200" y="216852"/>
                  <a:pt x="775653" y="279400"/>
                  <a:pt x="698500" y="279400"/>
                </a:cubicBezTo>
                <a:lnTo>
                  <a:pt x="139700" y="279400"/>
                </a:lnTo>
                <a:cubicBezTo>
                  <a:pt x="62547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 w="7620" cap="rnd">
            <a:solidFill>
              <a:srgbClr val="134C9C">
                <a:alpha val="35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cpt-4-1"/>
          <p:cNvSpPr txBox="1"/>
          <p:nvPr/>
        </p:nvSpPr>
        <p:spPr>
          <a:xfrm>
            <a:off x="8674100" y="4306824"/>
            <a:ext cx="5080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容器平台</a:t>
            </a:r>
          </a:p>
        </p:txBody>
      </p:sp>
      <p:sp>
        <p:nvSpPr>
          <p:cNvPr id="42" name="cp-4-2"/>
          <p:cNvSpPr/>
          <p:nvPr/>
        </p:nvSpPr>
        <p:spPr>
          <a:xfrm>
            <a:off x="9423400" y="4254500"/>
            <a:ext cx="838200" cy="279400"/>
          </a:xfrm>
          <a:custGeom>
            <a:avLst/>
            <a:gdLst/>
            <a:ahLst/>
            <a:cxnLst/>
            <a:rect l="0" t="0" r="r" b="b"/>
            <a:pathLst>
              <a:path w="838200" h="279400">
                <a:moveTo>
                  <a:pt x="139700" y="0"/>
                </a:moveTo>
                <a:lnTo>
                  <a:pt x="698500" y="0"/>
                </a:lnTo>
                <a:cubicBezTo>
                  <a:pt x="775653" y="0"/>
                  <a:pt x="838200" y="62548"/>
                  <a:pt x="838200" y="139700"/>
                </a:cubicBezTo>
                <a:lnTo>
                  <a:pt x="838200" y="139700"/>
                </a:lnTo>
                <a:cubicBezTo>
                  <a:pt x="838200" y="216852"/>
                  <a:pt x="775653" y="279400"/>
                  <a:pt x="698500" y="279400"/>
                </a:cubicBezTo>
                <a:lnTo>
                  <a:pt x="139700" y="279400"/>
                </a:lnTo>
                <a:cubicBezTo>
                  <a:pt x="62547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 w="7620" cap="rnd">
            <a:solidFill>
              <a:srgbClr val="134C9C">
                <a:alpha val="35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cpt-4-2"/>
          <p:cNvSpPr txBox="1"/>
          <p:nvPr/>
        </p:nvSpPr>
        <p:spPr>
          <a:xfrm>
            <a:off x="9573768" y="4306824"/>
            <a:ext cx="53746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API 网关</a:t>
            </a:r>
          </a:p>
        </p:txBody>
      </p:sp>
      <p:sp>
        <p:nvSpPr>
          <p:cNvPr id="44" name="cp-4-3"/>
          <p:cNvSpPr/>
          <p:nvPr/>
        </p:nvSpPr>
        <p:spPr>
          <a:xfrm>
            <a:off x="10337800" y="4254500"/>
            <a:ext cx="838200" cy="279400"/>
          </a:xfrm>
          <a:custGeom>
            <a:avLst/>
            <a:gdLst/>
            <a:ahLst/>
            <a:cxnLst/>
            <a:rect l="0" t="0" r="r" b="b"/>
            <a:pathLst>
              <a:path w="838200" h="279400">
                <a:moveTo>
                  <a:pt x="139700" y="0"/>
                </a:moveTo>
                <a:lnTo>
                  <a:pt x="698500" y="0"/>
                </a:lnTo>
                <a:cubicBezTo>
                  <a:pt x="775653" y="0"/>
                  <a:pt x="838200" y="62548"/>
                  <a:pt x="838200" y="139700"/>
                </a:cubicBezTo>
                <a:lnTo>
                  <a:pt x="838200" y="139700"/>
                </a:lnTo>
                <a:cubicBezTo>
                  <a:pt x="838200" y="216852"/>
                  <a:pt x="775653" y="279400"/>
                  <a:pt x="698500" y="279400"/>
                </a:cubicBezTo>
                <a:lnTo>
                  <a:pt x="139700" y="279400"/>
                </a:lnTo>
                <a:cubicBezTo>
                  <a:pt x="62547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 w="7620" cap="rnd">
            <a:solidFill>
              <a:srgbClr val="134C9C">
                <a:alpha val="35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cpt-4-3"/>
          <p:cNvSpPr txBox="1"/>
          <p:nvPr/>
        </p:nvSpPr>
        <p:spPr>
          <a:xfrm>
            <a:off x="10532872" y="4306824"/>
            <a:ext cx="44805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DevOps</a:t>
            </a:r>
          </a:p>
        </p:txBody>
      </p:sp>
      <p:sp>
        <p:nvSpPr>
          <p:cNvPr id="46" name="side-l-3"/>
          <p:cNvSpPr/>
          <p:nvPr/>
        </p:nvSpPr>
        <p:spPr>
          <a:xfrm>
            <a:off x="4191000" y="3378200"/>
            <a:ext cx="1905000" cy="774700"/>
          </a:xfrm>
          <a:custGeom>
            <a:avLst/>
            <a:gdLst/>
            <a:ahLst/>
            <a:cxnLst/>
            <a:rect l="0" t="0" r="r" b="b"/>
            <a:pathLst>
              <a:path w="1905000" h="774700">
                <a:moveTo>
                  <a:pt x="0" y="0"/>
                </a:moveTo>
                <a:lnTo>
                  <a:pt x="1905000" y="609600"/>
                </a:lnTo>
                <a:lnTo>
                  <a:pt x="1905000" y="774700"/>
                </a:lnTo>
                <a:lnTo>
                  <a:pt x="0" y="165100"/>
                </a:lnTo>
                <a:close/>
              </a:path>
            </a:pathLst>
          </a:custGeom>
          <a:solidFill>
            <a:srgbClr val="194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side-r-3"/>
          <p:cNvSpPr/>
          <p:nvPr/>
        </p:nvSpPr>
        <p:spPr>
          <a:xfrm>
            <a:off x="6096000" y="3378200"/>
            <a:ext cx="1905000" cy="774700"/>
          </a:xfrm>
          <a:custGeom>
            <a:avLst/>
            <a:gdLst/>
            <a:ahLst/>
            <a:cxnLst/>
            <a:rect l="0" t="0" r="r" b="b"/>
            <a:pathLst>
              <a:path w="1905000" h="774700">
                <a:moveTo>
                  <a:pt x="0" y="609600"/>
                </a:moveTo>
                <a:lnTo>
                  <a:pt x="1905000" y="0"/>
                </a:lnTo>
                <a:lnTo>
                  <a:pt x="1905000" y="165100"/>
                </a:lnTo>
                <a:lnTo>
                  <a:pt x="0" y="774700"/>
                </a:lnTo>
                <a:close/>
              </a:path>
            </a:pathLst>
          </a:custGeom>
          <a:solidFill>
            <a:srgbClr val="1E599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top-3"/>
          <p:cNvSpPr/>
          <p:nvPr/>
        </p:nvSpPr>
        <p:spPr>
          <a:xfrm>
            <a:off x="4191000" y="2768600"/>
            <a:ext cx="3810000" cy="1219200"/>
          </a:xfrm>
          <a:custGeom>
            <a:avLst/>
            <a:gdLst/>
            <a:ahLst/>
            <a:cxnLst/>
            <a:rect l="0" t="0" r="r" b="b"/>
            <a:pathLst>
              <a:path w="3810000" h="1219200">
                <a:moveTo>
                  <a:pt x="1905000" y="0"/>
                </a:moveTo>
                <a:lnTo>
                  <a:pt x="3810000" y="609600"/>
                </a:lnTo>
                <a:lnTo>
                  <a:pt x="1905000" y="1219200"/>
                </a:lnTo>
                <a:lnTo>
                  <a:pt x="0" y="609600"/>
                </a:lnTo>
                <a:close/>
              </a:path>
            </a:pathLst>
          </a:custGeom>
          <a:gradFill rotWithShape="1">
            <a:gsLst>
              <a:gs pos="0">
                <a:srgbClr val="5489C6"/>
              </a:gs>
              <a:gs pos="100000">
                <a:srgbClr val="2468B6"/>
              </a:gs>
            </a:gsLst>
            <a:lin ang="6000000" scaled="0"/>
          </a:gradFill>
          <a:ln w="9525" cap="rnd">
            <a:solidFill>
              <a:srgbClr val="FFFFF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icon-db"/>
          <p:cNvSpPr/>
          <p:nvPr/>
        </p:nvSpPr>
        <p:spPr>
          <a:xfrm>
            <a:off x="5505323" y="3557588"/>
            <a:ext cx="101854" cy="123825"/>
          </a:xfrm>
          <a:custGeom>
            <a:avLst/>
            <a:gdLst/>
            <a:ahLst/>
            <a:cxnLst/>
            <a:rect l="0" t="0" r="r" b="b"/>
            <a:pathLst>
              <a:path w="101854" h="123825">
                <a:moveTo>
                  <a:pt x="50927" y="30289"/>
                </a:moveTo>
                <a:cubicBezTo>
                  <a:pt x="79121" y="30289"/>
                  <a:pt x="101854" y="23368"/>
                  <a:pt x="101854" y="15113"/>
                </a:cubicBezTo>
                <a:cubicBezTo>
                  <a:pt x="101854" y="6858"/>
                  <a:pt x="79121" y="0"/>
                  <a:pt x="50927" y="0"/>
                </a:cubicBezTo>
                <a:cubicBezTo>
                  <a:pt x="22733" y="0"/>
                  <a:pt x="0" y="6858"/>
                  <a:pt x="0" y="15113"/>
                </a:cubicBezTo>
                <a:cubicBezTo>
                  <a:pt x="0" y="23368"/>
                  <a:pt x="22733" y="30289"/>
                  <a:pt x="50927" y="30289"/>
                </a:cubicBezTo>
                <a:close/>
                <a:moveTo>
                  <a:pt x="0" y="15113"/>
                </a:moveTo>
                <a:lnTo>
                  <a:pt x="0" y="108712"/>
                </a:lnTo>
                <a:cubicBezTo>
                  <a:pt x="0" y="116967"/>
                  <a:pt x="22733" y="123825"/>
                  <a:pt x="50927" y="123825"/>
                </a:cubicBezTo>
                <a:cubicBezTo>
                  <a:pt x="79121" y="123825"/>
                  <a:pt x="101854" y="116967"/>
                  <a:pt x="101854" y="108712"/>
                </a:cubicBezTo>
                <a:lnTo>
                  <a:pt x="101854" y="15113"/>
                </a:lnTo>
                <a:moveTo>
                  <a:pt x="0" y="61912"/>
                </a:moveTo>
                <a:cubicBezTo>
                  <a:pt x="0" y="70167"/>
                  <a:pt x="22733" y="77025"/>
                  <a:pt x="50927" y="77025"/>
                </a:cubicBezTo>
                <a:cubicBezTo>
                  <a:pt x="79121" y="77025"/>
                  <a:pt x="101854" y="70167"/>
                  <a:pt x="101854" y="61912"/>
                </a:cubicBezTo>
              </a:path>
            </a:pathLst>
          </a:custGeom>
          <a:noFill/>
          <a:ln w="1333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tn-3"/>
          <p:cNvSpPr txBox="1"/>
          <p:nvPr/>
        </p:nvSpPr>
        <p:spPr>
          <a:xfrm>
            <a:off x="5801360" y="3497771"/>
            <a:ext cx="60198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数据层</a:t>
            </a:r>
          </a:p>
        </p:txBody>
      </p:sp>
      <p:cxnSp>
        <p:nvCxnSpPr>
          <p:cNvPr id="51" name="ll-3"/>
          <p:cNvCxnSpPr/>
          <p:nvPr/>
        </p:nvCxnSpPr>
        <p:spPr>
          <a:xfrm flipH="1">
            <a:off x="3746500" y="3632200"/>
            <a:ext cx="381000" cy="0"/>
          </a:xfrm>
          <a:prstGeom prst="line">
            <a:avLst/>
          </a:prstGeom>
          <a:ln w="11430" cap="rnd">
            <a:solidFill>
              <a:srgbClr val="2468B6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lld-3"/>
          <p:cNvSpPr/>
          <p:nvPr/>
        </p:nvSpPr>
        <p:spPr>
          <a:xfrm>
            <a:off x="4095750" y="3600450"/>
            <a:ext cx="63500" cy="63500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no-3"/>
          <p:cNvSpPr txBox="1"/>
          <p:nvPr/>
        </p:nvSpPr>
        <p:spPr>
          <a:xfrm>
            <a:off x="922020" y="3420110"/>
            <a:ext cx="51308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>
                <a:solidFill>
                  <a:srgbClr val="2468B6">
                    <a:alpha val="35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54" name="ln-3"/>
          <p:cNvSpPr txBox="1"/>
          <p:nvPr/>
        </p:nvSpPr>
        <p:spPr>
          <a:xfrm>
            <a:off x="1454150" y="3410744"/>
            <a:ext cx="6572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数据层</a:t>
            </a:r>
          </a:p>
        </p:txBody>
      </p:sp>
      <p:sp>
        <p:nvSpPr>
          <p:cNvPr id="55" name="ld-3"/>
          <p:cNvSpPr txBox="1"/>
          <p:nvPr/>
        </p:nvSpPr>
        <p:spPr>
          <a:xfrm>
            <a:off x="1461389" y="3675745"/>
            <a:ext cx="997268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统一口径的数据资产</a:t>
            </a:r>
          </a:p>
        </p:txBody>
      </p:sp>
      <p:cxnSp>
        <p:nvCxnSpPr>
          <p:cNvPr id="56" name="rl-3"/>
          <p:cNvCxnSpPr/>
          <p:nvPr/>
        </p:nvCxnSpPr>
        <p:spPr>
          <a:xfrm>
            <a:off x="8064500" y="3632200"/>
            <a:ext cx="381000" cy="0"/>
          </a:xfrm>
          <a:prstGeom prst="line">
            <a:avLst/>
          </a:prstGeom>
          <a:ln w="11430" cap="rnd">
            <a:solidFill>
              <a:srgbClr val="2468B6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7" name="rld-3"/>
          <p:cNvSpPr/>
          <p:nvPr/>
        </p:nvSpPr>
        <p:spPr>
          <a:xfrm>
            <a:off x="8032750" y="3600450"/>
            <a:ext cx="63500" cy="63500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cp-3-1"/>
          <p:cNvSpPr/>
          <p:nvPr/>
        </p:nvSpPr>
        <p:spPr>
          <a:xfrm>
            <a:off x="8509000" y="3492500"/>
            <a:ext cx="838200" cy="279400"/>
          </a:xfrm>
          <a:custGeom>
            <a:avLst/>
            <a:gdLst/>
            <a:ahLst/>
            <a:cxnLst/>
            <a:rect l="0" t="0" r="r" b="b"/>
            <a:pathLst>
              <a:path w="838200" h="279400">
                <a:moveTo>
                  <a:pt x="139700" y="0"/>
                </a:moveTo>
                <a:lnTo>
                  <a:pt x="698500" y="0"/>
                </a:lnTo>
                <a:cubicBezTo>
                  <a:pt x="775653" y="0"/>
                  <a:pt x="838200" y="62548"/>
                  <a:pt x="838200" y="139700"/>
                </a:cubicBezTo>
                <a:lnTo>
                  <a:pt x="838200" y="139700"/>
                </a:lnTo>
                <a:cubicBezTo>
                  <a:pt x="838200" y="216852"/>
                  <a:pt x="775653" y="279400"/>
                  <a:pt x="698500" y="279400"/>
                </a:cubicBezTo>
                <a:lnTo>
                  <a:pt x="139700" y="279400"/>
                </a:lnTo>
                <a:cubicBezTo>
                  <a:pt x="62547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 w="7620" cap="rnd">
            <a:solidFill>
              <a:srgbClr val="2468B6">
                <a:alpha val="35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cpt-3-1"/>
          <p:cNvSpPr txBox="1"/>
          <p:nvPr/>
        </p:nvSpPr>
        <p:spPr>
          <a:xfrm>
            <a:off x="8674100" y="3544824"/>
            <a:ext cx="5080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数据仓库</a:t>
            </a:r>
          </a:p>
        </p:txBody>
      </p:sp>
      <p:sp>
        <p:nvSpPr>
          <p:cNvPr id="60" name="cp-3-2"/>
          <p:cNvSpPr/>
          <p:nvPr/>
        </p:nvSpPr>
        <p:spPr>
          <a:xfrm>
            <a:off x="9423400" y="3492500"/>
            <a:ext cx="838200" cy="279400"/>
          </a:xfrm>
          <a:custGeom>
            <a:avLst/>
            <a:gdLst/>
            <a:ahLst/>
            <a:cxnLst/>
            <a:rect l="0" t="0" r="r" b="b"/>
            <a:pathLst>
              <a:path w="838200" h="279400">
                <a:moveTo>
                  <a:pt x="139700" y="0"/>
                </a:moveTo>
                <a:lnTo>
                  <a:pt x="698500" y="0"/>
                </a:lnTo>
                <a:cubicBezTo>
                  <a:pt x="775653" y="0"/>
                  <a:pt x="838200" y="62548"/>
                  <a:pt x="838200" y="139700"/>
                </a:cubicBezTo>
                <a:lnTo>
                  <a:pt x="838200" y="139700"/>
                </a:lnTo>
                <a:cubicBezTo>
                  <a:pt x="838200" y="216852"/>
                  <a:pt x="775653" y="279400"/>
                  <a:pt x="698500" y="279400"/>
                </a:cubicBezTo>
                <a:lnTo>
                  <a:pt x="139700" y="279400"/>
                </a:lnTo>
                <a:cubicBezTo>
                  <a:pt x="62547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 w="7620" cap="rnd">
            <a:solidFill>
              <a:srgbClr val="2468B6">
                <a:alpha val="35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cpt-3-2"/>
          <p:cNvSpPr txBox="1"/>
          <p:nvPr/>
        </p:nvSpPr>
        <p:spPr>
          <a:xfrm>
            <a:off x="9588500" y="3544824"/>
            <a:ext cx="5080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指标平台</a:t>
            </a:r>
          </a:p>
        </p:txBody>
      </p:sp>
      <p:sp>
        <p:nvSpPr>
          <p:cNvPr id="62" name="cp-3-3"/>
          <p:cNvSpPr/>
          <p:nvPr/>
        </p:nvSpPr>
        <p:spPr>
          <a:xfrm>
            <a:off x="10337800" y="3492500"/>
            <a:ext cx="838200" cy="279400"/>
          </a:xfrm>
          <a:custGeom>
            <a:avLst/>
            <a:gdLst/>
            <a:ahLst/>
            <a:cxnLst/>
            <a:rect l="0" t="0" r="r" b="b"/>
            <a:pathLst>
              <a:path w="838200" h="279400">
                <a:moveTo>
                  <a:pt x="139700" y="0"/>
                </a:moveTo>
                <a:lnTo>
                  <a:pt x="698500" y="0"/>
                </a:lnTo>
                <a:cubicBezTo>
                  <a:pt x="775653" y="0"/>
                  <a:pt x="838200" y="62548"/>
                  <a:pt x="838200" y="139700"/>
                </a:cubicBezTo>
                <a:lnTo>
                  <a:pt x="838200" y="139700"/>
                </a:lnTo>
                <a:cubicBezTo>
                  <a:pt x="838200" y="216852"/>
                  <a:pt x="775653" y="279400"/>
                  <a:pt x="698500" y="279400"/>
                </a:cubicBezTo>
                <a:lnTo>
                  <a:pt x="139700" y="279400"/>
                </a:lnTo>
                <a:cubicBezTo>
                  <a:pt x="62547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 w="7620" cap="rnd">
            <a:solidFill>
              <a:srgbClr val="2468B6">
                <a:alpha val="35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cpt-3-3"/>
          <p:cNvSpPr txBox="1"/>
          <p:nvPr/>
        </p:nvSpPr>
        <p:spPr>
          <a:xfrm>
            <a:off x="10502900" y="3544824"/>
            <a:ext cx="5080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标签体系</a:t>
            </a:r>
          </a:p>
        </p:txBody>
      </p:sp>
      <p:sp>
        <p:nvSpPr>
          <p:cNvPr id="64" name="side-l-2"/>
          <p:cNvSpPr/>
          <p:nvPr/>
        </p:nvSpPr>
        <p:spPr>
          <a:xfrm>
            <a:off x="4191000" y="2616200"/>
            <a:ext cx="1905000" cy="774700"/>
          </a:xfrm>
          <a:custGeom>
            <a:avLst/>
            <a:gdLst/>
            <a:ahLst/>
            <a:cxnLst/>
            <a:rect l="0" t="0" r="r" b="b"/>
            <a:pathLst>
              <a:path w="1905000" h="774700">
                <a:moveTo>
                  <a:pt x="0" y="0"/>
                </a:moveTo>
                <a:lnTo>
                  <a:pt x="1905000" y="609600"/>
                </a:lnTo>
                <a:lnTo>
                  <a:pt x="1905000" y="774700"/>
                </a:lnTo>
                <a:lnTo>
                  <a:pt x="0" y="165100"/>
                </a:lnTo>
                <a:close/>
              </a:path>
            </a:pathLst>
          </a:custGeom>
          <a:solidFill>
            <a:srgbClr val="26609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side-r-2"/>
          <p:cNvSpPr/>
          <p:nvPr/>
        </p:nvSpPr>
        <p:spPr>
          <a:xfrm>
            <a:off x="6096000" y="2616200"/>
            <a:ext cx="1905000" cy="774700"/>
          </a:xfrm>
          <a:custGeom>
            <a:avLst/>
            <a:gdLst/>
            <a:ahLst/>
            <a:cxnLst/>
            <a:rect l="0" t="0" r="r" b="b"/>
            <a:pathLst>
              <a:path w="1905000" h="774700">
                <a:moveTo>
                  <a:pt x="0" y="609600"/>
                </a:moveTo>
                <a:lnTo>
                  <a:pt x="1905000" y="0"/>
                </a:lnTo>
                <a:lnTo>
                  <a:pt x="1905000" y="165100"/>
                </a:lnTo>
                <a:lnTo>
                  <a:pt x="0" y="774700"/>
                </a:lnTo>
                <a:close/>
              </a:path>
            </a:pathLst>
          </a:custGeom>
          <a:solidFill>
            <a:srgbClr val="2E6FB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top-2"/>
          <p:cNvSpPr/>
          <p:nvPr/>
        </p:nvSpPr>
        <p:spPr>
          <a:xfrm>
            <a:off x="4191000" y="2006600"/>
            <a:ext cx="3810000" cy="1219200"/>
          </a:xfrm>
          <a:custGeom>
            <a:avLst/>
            <a:gdLst/>
            <a:ahLst/>
            <a:cxnLst/>
            <a:rect l="0" t="0" r="r" b="b"/>
            <a:pathLst>
              <a:path w="3810000" h="1219200">
                <a:moveTo>
                  <a:pt x="1905000" y="0"/>
                </a:moveTo>
                <a:lnTo>
                  <a:pt x="3810000" y="609600"/>
                </a:lnTo>
                <a:lnTo>
                  <a:pt x="1905000" y="1219200"/>
                </a:lnTo>
                <a:lnTo>
                  <a:pt x="0" y="609600"/>
                </a:lnTo>
                <a:close/>
              </a:path>
            </a:pathLst>
          </a:custGeom>
          <a:gradFill rotWithShape="1">
            <a:gsLst>
              <a:gs pos="0">
                <a:srgbClr val="65A0D8"/>
              </a:gs>
              <a:gs pos="100000">
                <a:srgbClr val="3985CD"/>
              </a:gs>
            </a:gsLst>
            <a:lin ang="6000000" scaled="0"/>
          </a:gradFill>
          <a:ln w="9525" cap="rnd">
            <a:solidFill>
              <a:srgbClr val="FFFFF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icon-gear"/>
          <p:cNvSpPr/>
          <p:nvPr/>
        </p:nvSpPr>
        <p:spPr>
          <a:xfrm>
            <a:off x="5504688" y="2794190"/>
            <a:ext cx="103124" cy="126619"/>
          </a:xfrm>
          <a:custGeom>
            <a:avLst/>
            <a:gdLst/>
            <a:ahLst/>
            <a:cxnLst/>
            <a:rect l="0" t="0" r="r" b="b"/>
            <a:pathLst>
              <a:path w="103124" h="126619">
                <a:moveTo>
                  <a:pt x="51562" y="39942"/>
                </a:moveTo>
                <a:cubicBezTo>
                  <a:pt x="43180" y="39942"/>
                  <a:pt x="35497" y="44387"/>
                  <a:pt x="31305" y="51626"/>
                </a:cubicBezTo>
                <a:cubicBezTo>
                  <a:pt x="27114" y="58865"/>
                  <a:pt x="27114" y="67755"/>
                  <a:pt x="31305" y="74994"/>
                </a:cubicBezTo>
                <a:cubicBezTo>
                  <a:pt x="35497" y="82233"/>
                  <a:pt x="43180" y="86678"/>
                  <a:pt x="51562" y="86678"/>
                </a:cubicBezTo>
                <a:cubicBezTo>
                  <a:pt x="64452" y="86678"/>
                  <a:pt x="74930" y="76200"/>
                  <a:pt x="74930" y="63310"/>
                </a:cubicBezTo>
                <a:cubicBezTo>
                  <a:pt x="74930" y="50419"/>
                  <a:pt x="64452" y="39942"/>
                  <a:pt x="51562" y="39942"/>
                </a:cubicBezTo>
                <a:close/>
                <a:moveTo>
                  <a:pt x="51562" y="0"/>
                </a:moveTo>
                <a:lnTo>
                  <a:pt x="59119" y="17907"/>
                </a:lnTo>
                <a:lnTo>
                  <a:pt x="78423" y="13780"/>
                </a:lnTo>
                <a:lnTo>
                  <a:pt x="85280" y="32322"/>
                </a:lnTo>
                <a:lnTo>
                  <a:pt x="103124" y="39942"/>
                </a:lnTo>
                <a:lnTo>
                  <a:pt x="94933" y="57785"/>
                </a:lnTo>
                <a:lnTo>
                  <a:pt x="103124" y="75692"/>
                </a:lnTo>
                <a:lnTo>
                  <a:pt x="85280" y="83249"/>
                </a:lnTo>
                <a:lnTo>
                  <a:pt x="78423" y="101854"/>
                </a:lnTo>
                <a:lnTo>
                  <a:pt x="59119" y="97727"/>
                </a:lnTo>
                <a:lnTo>
                  <a:pt x="51562" y="126619"/>
                </a:lnTo>
                <a:lnTo>
                  <a:pt x="44005" y="108712"/>
                </a:lnTo>
                <a:lnTo>
                  <a:pt x="24701" y="112840"/>
                </a:lnTo>
                <a:lnTo>
                  <a:pt x="17844" y="94298"/>
                </a:lnTo>
                <a:lnTo>
                  <a:pt x="0" y="86678"/>
                </a:lnTo>
                <a:lnTo>
                  <a:pt x="8191" y="63310"/>
                </a:lnTo>
                <a:lnTo>
                  <a:pt x="0" y="45403"/>
                </a:lnTo>
                <a:lnTo>
                  <a:pt x="17844" y="37846"/>
                </a:lnTo>
                <a:lnTo>
                  <a:pt x="24701" y="19304"/>
                </a:lnTo>
                <a:lnTo>
                  <a:pt x="44005" y="23432"/>
                </a:lnTo>
                <a:close/>
              </a:path>
            </a:pathLst>
          </a:custGeom>
          <a:noFill/>
          <a:ln w="1333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tn-2"/>
          <p:cNvSpPr txBox="1"/>
          <p:nvPr/>
        </p:nvSpPr>
        <p:spPr>
          <a:xfrm>
            <a:off x="5801360" y="2735770"/>
            <a:ext cx="60198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服务层</a:t>
            </a:r>
          </a:p>
        </p:txBody>
      </p:sp>
      <p:cxnSp>
        <p:nvCxnSpPr>
          <p:cNvPr id="69" name="ll-2"/>
          <p:cNvCxnSpPr/>
          <p:nvPr/>
        </p:nvCxnSpPr>
        <p:spPr>
          <a:xfrm flipH="1">
            <a:off x="3746500" y="2870200"/>
            <a:ext cx="381000" cy="0"/>
          </a:xfrm>
          <a:prstGeom prst="line">
            <a:avLst/>
          </a:prstGeom>
          <a:ln w="11430" cap="rnd">
            <a:solidFill>
              <a:srgbClr val="3985CD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lld-2"/>
          <p:cNvSpPr/>
          <p:nvPr/>
        </p:nvSpPr>
        <p:spPr>
          <a:xfrm>
            <a:off x="4095750" y="2838450"/>
            <a:ext cx="63500" cy="63500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no-2"/>
          <p:cNvSpPr txBox="1"/>
          <p:nvPr/>
        </p:nvSpPr>
        <p:spPr>
          <a:xfrm>
            <a:off x="922020" y="2658110"/>
            <a:ext cx="51308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>
                <a:solidFill>
                  <a:srgbClr val="3985CD">
                    <a:alpha val="35000"/>
                  </a:srgbClr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72" name="ln-2"/>
          <p:cNvSpPr txBox="1"/>
          <p:nvPr/>
        </p:nvSpPr>
        <p:spPr>
          <a:xfrm>
            <a:off x="1454150" y="2648744"/>
            <a:ext cx="6572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服务层</a:t>
            </a:r>
          </a:p>
        </p:txBody>
      </p:sp>
      <p:sp>
        <p:nvSpPr>
          <p:cNvPr id="73" name="ld-2"/>
          <p:cNvSpPr txBox="1"/>
          <p:nvPr/>
        </p:nvSpPr>
        <p:spPr>
          <a:xfrm>
            <a:off x="1461389" y="2913745"/>
            <a:ext cx="109823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可复用的业务能力中心</a:t>
            </a:r>
          </a:p>
        </p:txBody>
      </p:sp>
      <p:cxnSp>
        <p:nvCxnSpPr>
          <p:cNvPr id="74" name="rl-2"/>
          <p:cNvCxnSpPr/>
          <p:nvPr/>
        </p:nvCxnSpPr>
        <p:spPr>
          <a:xfrm>
            <a:off x="8064500" y="2870200"/>
            <a:ext cx="381000" cy="0"/>
          </a:xfrm>
          <a:prstGeom prst="line">
            <a:avLst/>
          </a:prstGeom>
          <a:ln w="11430" cap="rnd">
            <a:solidFill>
              <a:srgbClr val="3985CD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5" name="rld-2"/>
          <p:cNvSpPr/>
          <p:nvPr/>
        </p:nvSpPr>
        <p:spPr>
          <a:xfrm>
            <a:off x="8032750" y="2838450"/>
            <a:ext cx="63500" cy="63500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cp-2-1"/>
          <p:cNvSpPr/>
          <p:nvPr/>
        </p:nvSpPr>
        <p:spPr>
          <a:xfrm>
            <a:off x="8509000" y="2730500"/>
            <a:ext cx="838200" cy="279400"/>
          </a:xfrm>
          <a:custGeom>
            <a:avLst/>
            <a:gdLst/>
            <a:ahLst/>
            <a:cxnLst/>
            <a:rect l="0" t="0" r="r" b="b"/>
            <a:pathLst>
              <a:path w="838200" h="279400">
                <a:moveTo>
                  <a:pt x="139700" y="0"/>
                </a:moveTo>
                <a:lnTo>
                  <a:pt x="698500" y="0"/>
                </a:lnTo>
                <a:cubicBezTo>
                  <a:pt x="775653" y="0"/>
                  <a:pt x="838200" y="62548"/>
                  <a:pt x="838200" y="139700"/>
                </a:cubicBezTo>
                <a:lnTo>
                  <a:pt x="838200" y="139700"/>
                </a:lnTo>
                <a:cubicBezTo>
                  <a:pt x="838200" y="216852"/>
                  <a:pt x="775653" y="279400"/>
                  <a:pt x="698500" y="279400"/>
                </a:cubicBezTo>
                <a:lnTo>
                  <a:pt x="139700" y="279400"/>
                </a:lnTo>
                <a:cubicBezTo>
                  <a:pt x="62547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 w="7620" cap="rnd">
            <a:solidFill>
              <a:srgbClr val="3985CD">
                <a:alpha val="35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cpt-2-1"/>
          <p:cNvSpPr txBox="1"/>
          <p:nvPr/>
        </p:nvSpPr>
        <p:spPr>
          <a:xfrm>
            <a:off x="8674100" y="2782824"/>
            <a:ext cx="5080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订单中心</a:t>
            </a:r>
          </a:p>
        </p:txBody>
      </p:sp>
      <p:sp>
        <p:nvSpPr>
          <p:cNvPr id="78" name="cp-2-2"/>
          <p:cNvSpPr/>
          <p:nvPr/>
        </p:nvSpPr>
        <p:spPr>
          <a:xfrm>
            <a:off x="9423400" y="2730500"/>
            <a:ext cx="838200" cy="279400"/>
          </a:xfrm>
          <a:custGeom>
            <a:avLst/>
            <a:gdLst/>
            <a:ahLst/>
            <a:cxnLst/>
            <a:rect l="0" t="0" r="r" b="b"/>
            <a:pathLst>
              <a:path w="838200" h="279400">
                <a:moveTo>
                  <a:pt x="139700" y="0"/>
                </a:moveTo>
                <a:lnTo>
                  <a:pt x="698500" y="0"/>
                </a:lnTo>
                <a:cubicBezTo>
                  <a:pt x="775653" y="0"/>
                  <a:pt x="838200" y="62548"/>
                  <a:pt x="838200" y="139700"/>
                </a:cubicBezTo>
                <a:lnTo>
                  <a:pt x="838200" y="139700"/>
                </a:lnTo>
                <a:cubicBezTo>
                  <a:pt x="838200" y="216852"/>
                  <a:pt x="775653" y="279400"/>
                  <a:pt x="698500" y="279400"/>
                </a:cubicBezTo>
                <a:lnTo>
                  <a:pt x="139700" y="279400"/>
                </a:lnTo>
                <a:cubicBezTo>
                  <a:pt x="62547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 w="7620" cap="rnd">
            <a:solidFill>
              <a:srgbClr val="3985CD">
                <a:alpha val="35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cpt-2-2"/>
          <p:cNvSpPr txBox="1"/>
          <p:nvPr/>
        </p:nvSpPr>
        <p:spPr>
          <a:xfrm>
            <a:off x="9588500" y="2782824"/>
            <a:ext cx="5080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会员中心</a:t>
            </a:r>
          </a:p>
        </p:txBody>
      </p:sp>
      <p:sp>
        <p:nvSpPr>
          <p:cNvPr id="80" name="cp-2-3"/>
          <p:cNvSpPr/>
          <p:nvPr/>
        </p:nvSpPr>
        <p:spPr>
          <a:xfrm>
            <a:off x="10337800" y="2730500"/>
            <a:ext cx="838200" cy="279400"/>
          </a:xfrm>
          <a:custGeom>
            <a:avLst/>
            <a:gdLst/>
            <a:ahLst/>
            <a:cxnLst/>
            <a:rect l="0" t="0" r="r" b="b"/>
            <a:pathLst>
              <a:path w="838200" h="279400">
                <a:moveTo>
                  <a:pt x="139700" y="0"/>
                </a:moveTo>
                <a:lnTo>
                  <a:pt x="698500" y="0"/>
                </a:lnTo>
                <a:cubicBezTo>
                  <a:pt x="775653" y="0"/>
                  <a:pt x="838200" y="62548"/>
                  <a:pt x="838200" y="139700"/>
                </a:cubicBezTo>
                <a:lnTo>
                  <a:pt x="838200" y="139700"/>
                </a:lnTo>
                <a:cubicBezTo>
                  <a:pt x="838200" y="216852"/>
                  <a:pt x="775653" y="279400"/>
                  <a:pt x="698500" y="279400"/>
                </a:cubicBezTo>
                <a:lnTo>
                  <a:pt x="139700" y="279400"/>
                </a:lnTo>
                <a:cubicBezTo>
                  <a:pt x="62547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 w="7620" cap="rnd">
            <a:solidFill>
              <a:srgbClr val="3985CD">
                <a:alpha val="35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cpt-2-3"/>
          <p:cNvSpPr txBox="1"/>
          <p:nvPr/>
        </p:nvSpPr>
        <p:spPr>
          <a:xfrm>
            <a:off x="10502900" y="2782824"/>
            <a:ext cx="5080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支付中心</a:t>
            </a:r>
          </a:p>
        </p:txBody>
      </p:sp>
      <p:sp>
        <p:nvSpPr>
          <p:cNvPr id="82" name="side-l-1"/>
          <p:cNvSpPr/>
          <p:nvPr/>
        </p:nvSpPr>
        <p:spPr>
          <a:xfrm>
            <a:off x="4191000" y="1854200"/>
            <a:ext cx="1905000" cy="774700"/>
          </a:xfrm>
          <a:custGeom>
            <a:avLst/>
            <a:gdLst/>
            <a:ahLst/>
            <a:cxnLst/>
            <a:rect l="0" t="0" r="r" b="b"/>
            <a:pathLst>
              <a:path w="1905000" h="774700">
                <a:moveTo>
                  <a:pt x="0" y="0"/>
                </a:moveTo>
                <a:lnTo>
                  <a:pt x="1905000" y="609600"/>
                </a:lnTo>
                <a:lnTo>
                  <a:pt x="1905000" y="774700"/>
                </a:lnTo>
                <a:lnTo>
                  <a:pt x="0" y="165100"/>
                </a:lnTo>
                <a:close/>
              </a:path>
            </a:pathLst>
          </a:custGeom>
          <a:solidFill>
            <a:srgbClr val="3772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side-r-1"/>
          <p:cNvSpPr/>
          <p:nvPr/>
        </p:nvSpPr>
        <p:spPr>
          <a:xfrm>
            <a:off x="6096000" y="1854200"/>
            <a:ext cx="1905000" cy="774700"/>
          </a:xfrm>
          <a:custGeom>
            <a:avLst/>
            <a:gdLst/>
            <a:ahLst/>
            <a:cxnLst/>
            <a:rect l="0" t="0" r="r" b="b"/>
            <a:pathLst>
              <a:path w="1905000" h="774700">
                <a:moveTo>
                  <a:pt x="0" y="609600"/>
                </a:moveTo>
                <a:lnTo>
                  <a:pt x="1905000" y="0"/>
                </a:lnTo>
                <a:lnTo>
                  <a:pt x="1905000" y="165100"/>
                </a:lnTo>
                <a:lnTo>
                  <a:pt x="0" y="774700"/>
                </a:lnTo>
                <a:close/>
              </a:path>
            </a:pathLst>
          </a:custGeom>
          <a:solidFill>
            <a:srgbClr val="4386B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top-1"/>
          <p:cNvSpPr/>
          <p:nvPr/>
        </p:nvSpPr>
        <p:spPr>
          <a:xfrm>
            <a:off x="4191000" y="1244600"/>
            <a:ext cx="3810000" cy="1219200"/>
          </a:xfrm>
          <a:custGeom>
            <a:avLst/>
            <a:gdLst/>
            <a:ahLst/>
            <a:cxnLst/>
            <a:rect l="0" t="0" r="r" b="b"/>
            <a:pathLst>
              <a:path w="3810000" h="1219200">
                <a:moveTo>
                  <a:pt x="1905000" y="0"/>
                </a:moveTo>
                <a:lnTo>
                  <a:pt x="3810000" y="609600"/>
                </a:lnTo>
                <a:lnTo>
                  <a:pt x="1905000" y="1219200"/>
                </a:lnTo>
                <a:lnTo>
                  <a:pt x="0" y="609600"/>
                </a:lnTo>
                <a:close/>
              </a:path>
            </a:pathLst>
          </a:custGeom>
          <a:gradFill rotWithShape="1">
            <a:gsLst>
              <a:gs pos="0">
                <a:srgbClr val="7AB6E6"/>
              </a:gs>
              <a:gs pos="100000">
                <a:srgbClr val="54A2DF"/>
              </a:gs>
            </a:gsLst>
            <a:lin ang="6000000" scaled="0"/>
          </a:gradFill>
          <a:ln w="9525" cap="rnd">
            <a:solidFill>
              <a:srgbClr val="FFFFF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icon-phone"/>
          <p:cNvSpPr/>
          <p:nvPr/>
        </p:nvSpPr>
        <p:spPr>
          <a:xfrm>
            <a:off x="5517706" y="1807718"/>
            <a:ext cx="77089" cy="118364"/>
          </a:xfrm>
          <a:custGeom>
            <a:avLst/>
            <a:gdLst/>
            <a:ahLst/>
            <a:cxnLst/>
            <a:rect l="0" t="0" r="r" b="b"/>
            <a:pathLst>
              <a:path w="77089" h="118364">
                <a:moveTo>
                  <a:pt x="11049" y="0"/>
                </a:moveTo>
                <a:lnTo>
                  <a:pt x="66040" y="0"/>
                </a:lnTo>
                <a:cubicBezTo>
                  <a:pt x="68961" y="0"/>
                  <a:pt x="71755" y="1206"/>
                  <a:pt x="73850" y="3238"/>
                </a:cubicBezTo>
                <a:cubicBezTo>
                  <a:pt x="75883" y="5334"/>
                  <a:pt x="77089" y="8128"/>
                  <a:pt x="77089" y="11049"/>
                </a:cubicBezTo>
                <a:lnTo>
                  <a:pt x="77089" y="107315"/>
                </a:lnTo>
                <a:cubicBezTo>
                  <a:pt x="77089" y="110236"/>
                  <a:pt x="75883" y="113030"/>
                  <a:pt x="73850" y="115125"/>
                </a:cubicBezTo>
                <a:cubicBezTo>
                  <a:pt x="71755" y="117157"/>
                  <a:pt x="68961" y="118364"/>
                  <a:pt x="66040" y="118364"/>
                </a:cubicBezTo>
                <a:lnTo>
                  <a:pt x="11049" y="118364"/>
                </a:lnTo>
                <a:cubicBezTo>
                  <a:pt x="8128" y="118364"/>
                  <a:pt x="5334" y="117157"/>
                  <a:pt x="3239" y="115125"/>
                </a:cubicBezTo>
                <a:cubicBezTo>
                  <a:pt x="1207" y="113030"/>
                  <a:pt x="0" y="110236"/>
                  <a:pt x="0" y="107315"/>
                </a:cubicBezTo>
                <a:lnTo>
                  <a:pt x="0" y="11049"/>
                </a:lnTo>
                <a:cubicBezTo>
                  <a:pt x="0" y="4953"/>
                  <a:pt x="4953" y="0"/>
                  <a:pt x="11049" y="0"/>
                </a:cubicBezTo>
                <a:close/>
                <a:moveTo>
                  <a:pt x="27559" y="97726"/>
                </a:moveTo>
                <a:lnTo>
                  <a:pt x="49530" y="97726"/>
                </a:lnTo>
              </a:path>
            </a:pathLst>
          </a:custGeom>
          <a:noFill/>
          <a:ln w="1333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tn-1"/>
          <p:cNvSpPr txBox="1"/>
          <p:nvPr/>
        </p:nvSpPr>
        <p:spPr>
          <a:xfrm>
            <a:off x="5801360" y="1745170"/>
            <a:ext cx="60198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应用层</a:t>
            </a:r>
          </a:p>
        </p:txBody>
      </p:sp>
      <p:cxnSp>
        <p:nvCxnSpPr>
          <p:cNvPr id="87" name="ll-1"/>
          <p:cNvCxnSpPr/>
          <p:nvPr/>
        </p:nvCxnSpPr>
        <p:spPr>
          <a:xfrm flipH="1">
            <a:off x="3746500" y="1854200"/>
            <a:ext cx="381000" cy="0"/>
          </a:xfrm>
          <a:prstGeom prst="line">
            <a:avLst/>
          </a:prstGeom>
          <a:ln w="11430" cap="rnd">
            <a:solidFill>
              <a:srgbClr val="54A2DF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lld-1"/>
          <p:cNvSpPr/>
          <p:nvPr/>
        </p:nvSpPr>
        <p:spPr>
          <a:xfrm>
            <a:off x="4095750" y="1822450"/>
            <a:ext cx="63500" cy="63500"/>
          </a:xfrm>
          <a:prstGeom prst="ellipse">
            <a:avLst/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no-1"/>
          <p:cNvSpPr txBox="1"/>
          <p:nvPr/>
        </p:nvSpPr>
        <p:spPr>
          <a:xfrm>
            <a:off x="922020" y="1642110"/>
            <a:ext cx="51308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>
                <a:solidFill>
                  <a:srgbClr val="54A2DF">
                    <a:alpha val="35000"/>
                  </a:srgbClr>
                </a:solidFill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90" name="ln-1"/>
          <p:cNvSpPr txBox="1"/>
          <p:nvPr/>
        </p:nvSpPr>
        <p:spPr>
          <a:xfrm>
            <a:off x="1454150" y="1632744"/>
            <a:ext cx="6572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应用层</a:t>
            </a:r>
          </a:p>
        </p:txBody>
      </p:sp>
      <p:sp>
        <p:nvSpPr>
          <p:cNvPr id="91" name="ld-1"/>
          <p:cNvSpPr txBox="1"/>
          <p:nvPr/>
        </p:nvSpPr>
        <p:spPr>
          <a:xfrm>
            <a:off x="1461389" y="1897745"/>
            <a:ext cx="1300163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面向客户与员工的前台应用</a:t>
            </a:r>
          </a:p>
        </p:txBody>
      </p:sp>
      <p:cxnSp>
        <p:nvCxnSpPr>
          <p:cNvPr id="92" name="rl-1"/>
          <p:cNvCxnSpPr/>
          <p:nvPr/>
        </p:nvCxnSpPr>
        <p:spPr>
          <a:xfrm>
            <a:off x="8064500" y="1854200"/>
            <a:ext cx="381000" cy="0"/>
          </a:xfrm>
          <a:prstGeom prst="line">
            <a:avLst/>
          </a:prstGeom>
          <a:ln w="11430" cap="rnd">
            <a:solidFill>
              <a:srgbClr val="54A2DF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3" name="rld-1"/>
          <p:cNvSpPr/>
          <p:nvPr/>
        </p:nvSpPr>
        <p:spPr>
          <a:xfrm>
            <a:off x="8032750" y="1822450"/>
            <a:ext cx="63500" cy="63500"/>
          </a:xfrm>
          <a:prstGeom prst="ellipse">
            <a:avLst/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cp-1-1"/>
          <p:cNvSpPr/>
          <p:nvPr/>
        </p:nvSpPr>
        <p:spPr>
          <a:xfrm>
            <a:off x="8509000" y="1714500"/>
            <a:ext cx="838200" cy="279400"/>
          </a:xfrm>
          <a:custGeom>
            <a:avLst/>
            <a:gdLst/>
            <a:ahLst/>
            <a:cxnLst/>
            <a:rect l="0" t="0" r="r" b="b"/>
            <a:pathLst>
              <a:path w="838200" h="279400">
                <a:moveTo>
                  <a:pt x="139700" y="0"/>
                </a:moveTo>
                <a:lnTo>
                  <a:pt x="698500" y="0"/>
                </a:lnTo>
                <a:cubicBezTo>
                  <a:pt x="775653" y="0"/>
                  <a:pt x="838200" y="62548"/>
                  <a:pt x="838200" y="139700"/>
                </a:cubicBezTo>
                <a:lnTo>
                  <a:pt x="838200" y="139700"/>
                </a:lnTo>
                <a:cubicBezTo>
                  <a:pt x="838200" y="216852"/>
                  <a:pt x="775653" y="279400"/>
                  <a:pt x="698500" y="279400"/>
                </a:cubicBezTo>
                <a:lnTo>
                  <a:pt x="139700" y="279400"/>
                </a:lnTo>
                <a:cubicBezTo>
                  <a:pt x="62547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 w="7620" cap="rnd">
            <a:solidFill>
              <a:srgbClr val="54A2DF">
                <a:alpha val="35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cpt-1-1"/>
          <p:cNvSpPr txBox="1"/>
          <p:nvPr/>
        </p:nvSpPr>
        <p:spPr>
          <a:xfrm>
            <a:off x="8674100" y="1766824"/>
            <a:ext cx="5080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客户门户</a:t>
            </a:r>
          </a:p>
        </p:txBody>
      </p:sp>
      <p:sp>
        <p:nvSpPr>
          <p:cNvPr id="96" name="cp-1-2"/>
          <p:cNvSpPr/>
          <p:nvPr/>
        </p:nvSpPr>
        <p:spPr>
          <a:xfrm>
            <a:off x="9423400" y="1714500"/>
            <a:ext cx="838200" cy="279400"/>
          </a:xfrm>
          <a:custGeom>
            <a:avLst/>
            <a:gdLst/>
            <a:ahLst/>
            <a:cxnLst/>
            <a:rect l="0" t="0" r="r" b="b"/>
            <a:pathLst>
              <a:path w="838200" h="279400">
                <a:moveTo>
                  <a:pt x="139700" y="0"/>
                </a:moveTo>
                <a:lnTo>
                  <a:pt x="698500" y="0"/>
                </a:lnTo>
                <a:cubicBezTo>
                  <a:pt x="775653" y="0"/>
                  <a:pt x="838200" y="62548"/>
                  <a:pt x="838200" y="139700"/>
                </a:cubicBezTo>
                <a:lnTo>
                  <a:pt x="838200" y="139700"/>
                </a:lnTo>
                <a:cubicBezTo>
                  <a:pt x="838200" y="216852"/>
                  <a:pt x="775653" y="279400"/>
                  <a:pt x="698500" y="279400"/>
                </a:cubicBezTo>
                <a:lnTo>
                  <a:pt x="139700" y="279400"/>
                </a:lnTo>
                <a:cubicBezTo>
                  <a:pt x="62547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 w="7620" cap="rnd">
            <a:solidFill>
              <a:srgbClr val="54A2DF">
                <a:alpha val="35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cpt-1-2"/>
          <p:cNvSpPr txBox="1"/>
          <p:nvPr/>
        </p:nvSpPr>
        <p:spPr>
          <a:xfrm>
            <a:off x="9573768" y="1766824"/>
            <a:ext cx="53746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移动 App</a:t>
            </a:r>
          </a:p>
        </p:txBody>
      </p:sp>
      <p:sp>
        <p:nvSpPr>
          <p:cNvPr id="98" name="cp-1-3"/>
          <p:cNvSpPr/>
          <p:nvPr/>
        </p:nvSpPr>
        <p:spPr>
          <a:xfrm>
            <a:off x="10337800" y="1714500"/>
            <a:ext cx="838200" cy="279400"/>
          </a:xfrm>
          <a:custGeom>
            <a:avLst/>
            <a:gdLst/>
            <a:ahLst/>
            <a:cxnLst/>
            <a:rect l="0" t="0" r="r" b="b"/>
            <a:pathLst>
              <a:path w="838200" h="279400">
                <a:moveTo>
                  <a:pt x="139700" y="0"/>
                </a:moveTo>
                <a:lnTo>
                  <a:pt x="698500" y="0"/>
                </a:lnTo>
                <a:cubicBezTo>
                  <a:pt x="775653" y="0"/>
                  <a:pt x="838200" y="62548"/>
                  <a:pt x="838200" y="139700"/>
                </a:cubicBezTo>
                <a:lnTo>
                  <a:pt x="838200" y="139700"/>
                </a:lnTo>
                <a:cubicBezTo>
                  <a:pt x="838200" y="216852"/>
                  <a:pt x="775653" y="279400"/>
                  <a:pt x="698500" y="279400"/>
                </a:cubicBezTo>
                <a:lnTo>
                  <a:pt x="139700" y="279400"/>
                </a:lnTo>
                <a:cubicBezTo>
                  <a:pt x="62547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 w="7620" cap="rnd">
            <a:solidFill>
              <a:srgbClr val="54A2DF">
                <a:alpha val="35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9" name="cpt-1-3"/>
          <p:cNvSpPr txBox="1"/>
          <p:nvPr/>
        </p:nvSpPr>
        <p:spPr>
          <a:xfrm>
            <a:off x="10517886" y="1766824"/>
            <a:ext cx="4780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BI 看板</a:t>
            </a:r>
          </a:p>
        </p:txBody>
      </p:sp>
      <p:sp>
        <p:nvSpPr>
          <p:cNvPr id="100" name="sum"/>
          <p:cNvSpPr/>
          <p:nvPr/>
        </p:nvSpPr>
        <p:spPr>
          <a:xfrm>
            <a:off x="952500" y="5905500"/>
            <a:ext cx="10287000" cy="419100"/>
          </a:xfrm>
          <a:custGeom>
            <a:avLst/>
            <a:gdLst/>
            <a:ahLst/>
            <a:cxnLst/>
            <a:rect l="0" t="0" r="r" b="b"/>
            <a:pathLst>
              <a:path w="10287000" h="4191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30200"/>
                </a:lnTo>
                <a:cubicBezTo>
                  <a:pt x="10287000" y="379286"/>
                  <a:pt x="10247186" y="419100"/>
                  <a:pt x="10198100" y="419100"/>
                </a:cubicBezTo>
                <a:lnTo>
                  <a:pt x="88900" y="419100"/>
                </a:lnTo>
                <a:cubicBezTo>
                  <a:pt x="39815" y="419100"/>
                  <a:pt x="0" y="379286"/>
                  <a:pt x="0" y="3302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sum-bar"/>
          <p:cNvSpPr/>
          <p:nvPr/>
        </p:nvSpPr>
        <p:spPr>
          <a:xfrm>
            <a:off x="952500" y="5905500"/>
            <a:ext cx="31750" cy="4191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2" name="sum-h"/>
          <p:cNvSpPr txBox="1"/>
          <p:nvPr/>
        </p:nvSpPr>
        <p:spPr>
          <a:xfrm>
            <a:off x="1142746" y="60388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架构原则</a:t>
            </a:r>
          </a:p>
        </p:txBody>
      </p:sp>
      <p:sp>
        <p:nvSpPr>
          <p:cNvPr id="103" name="sum-p"/>
          <p:cNvSpPr txBox="1"/>
          <p:nvPr/>
        </p:nvSpPr>
        <p:spPr>
          <a:xfrm>
            <a:off x="1891665" y="6034961"/>
            <a:ext cx="398049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上层只调用下层开放的接口，禁止跨层直连——任何一层都可以独立升级替换。</a:t>
            </a:r>
          </a:p>
        </p:txBody>
      </p:sp>
      <p:cxnSp>
        <p:nvCxnSpPr>
          <p:cNvPr id="104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等轴分层 · 五层架构</a:t>
            </a:r>
          </a:p>
        </p:txBody>
      </p:sp>
      <p:sp>
        <p:nvSpPr>
          <p:cNvPr id="106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257044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人 · 货 · 场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35483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TRIANGLE MODEL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780399" y="673132"/>
            <a:ext cx="2840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新零售的三个支点，两两之间的连接才是真正的竞争力</a:t>
            </a:r>
          </a:p>
        </p:txBody>
      </p:sp>
      <p:sp>
        <p:nvSpPr>
          <p:cNvPr id="10" name="tri"/>
          <p:cNvSpPr/>
          <p:nvPr/>
        </p:nvSpPr>
        <p:spPr>
          <a:xfrm>
            <a:off x="3879726" y="1824609"/>
            <a:ext cx="4432548" cy="3547491"/>
          </a:xfrm>
          <a:custGeom>
            <a:avLst/>
            <a:gdLst/>
            <a:ahLst/>
            <a:cxnLst/>
            <a:rect l="0" t="0" r="r" b="b"/>
            <a:pathLst>
              <a:path w="4432548" h="3547491">
                <a:moveTo>
                  <a:pt x="2012376" y="160909"/>
                </a:moveTo>
                <a:quadBezTo>
                  <a:pt x="2216274" y="-160909"/>
                  <a:pt x="2420173" y="160909"/>
                </a:quadBezTo>
                <a:lnTo>
                  <a:pt x="4361876" y="3225673"/>
                </a:lnTo>
                <a:quadBezTo>
                  <a:pt x="4565774" y="3547491"/>
                  <a:pt x="4184774" y="3547491"/>
                </a:quadBezTo>
                <a:lnTo>
                  <a:pt x="247774" y="3547491"/>
                </a:lnTo>
                <a:quadBezTo>
                  <a:pt x="-133226" y="3547491"/>
                  <a:pt x="70673" y="3225673"/>
                </a:quadBezTo>
                <a:close/>
              </a:path>
            </a:pathLst>
          </a:custGeom>
          <a:gradFill rotWithShape="1">
            <a:gsLst>
              <a:gs pos="0">
                <a:srgbClr val="E4EEF9"/>
              </a:gs>
              <a:gs pos="100000">
                <a:srgbClr val="C9DBF0"/>
              </a:gs>
            </a:gsLst>
            <a:lin ang="54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tri-in"/>
          <p:cNvSpPr/>
          <p:nvPr/>
        </p:nvSpPr>
        <p:spPr>
          <a:xfrm>
            <a:off x="4719256" y="2699734"/>
            <a:ext cx="2753489" cy="2202656"/>
          </a:xfrm>
          <a:custGeom>
            <a:avLst/>
            <a:gdLst/>
            <a:ahLst/>
            <a:cxnLst/>
            <a:rect l="0" t="0" r="r" b="b"/>
            <a:pathLst>
              <a:path w="2753489" h="2202656">
                <a:moveTo>
                  <a:pt x="1254380" y="96552"/>
                </a:moveTo>
                <a:quadBezTo>
                  <a:pt x="1376744" y="-96552"/>
                  <a:pt x="1499109" y="96552"/>
                </a:quadBezTo>
                <a:lnTo>
                  <a:pt x="2711070" y="2009553"/>
                </a:lnTo>
                <a:quadBezTo>
                  <a:pt x="2833434" y="2202656"/>
                  <a:pt x="2604834" y="2202656"/>
                </a:quadBezTo>
                <a:lnTo>
                  <a:pt x="148654" y="2202656"/>
                </a:lnTo>
                <a:quadBezTo>
                  <a:pt x="-79946" y="2202656"/>
                  <a:pt x="42419" y="2009553"/>
                </a:quadBezTo>
                <a:close/>
              </a:path>
            </a:pathLst>
          </a:custGeom>
          <a:noFill/>
          <a:ln w="10160" cap="rnd">
            <a:solidFill>
              <a:srgbClr val="1B5AA8">
                <a:alpha val="3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core"/>
          <p:cNvSpPr/>
          <p:nvPr/>
        </p:nvSpPr>
        <p:spPr>
          <a:xfrm>
            <a:off x="5486400" y="3526367"/>
            <a:ext cx="1219200" cy="1219200"/>
          </a:xfrm>
          <a:prstGeom prst="ellipse">
            <a:avLst/>
          </a:pr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 w="31750" cap="rnd">
            <a:solidFill>
              <a:srgbClr val="FFFFFF"/>
            </a:solidFill>
            <a:round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core-t1"/>
          <p:cNvSpPr txBox="1"/>
          <p:nvPr/>
        </p:nvSpPr>
        <p:spPr>
          <a:xfrm>
            <a:off x="5770245" y="3884253"/>
            <a:ext cx="65151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以用户</a:t>
            </a:r>
          </a:p>
        </p:txBody>
      </p:sp>
      <p:sp>
        <p:nvSpPr>
          <p:cNvPr id="14" name="core-t2"/>
          <p:cNvSpPr txBox="1"/>
          <p:nvPr/>
        </p:nvSpPr>
        <p:spPr>
          <a:xfrm>
            <a:off x="5770245" y="4112853"/>
            <a:ext cx="65151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为中心</a:t>
            </a:r>
          </a:p>
        </p:txBody>
      </p:sp>
      <p:sp>
        <p:nvSpPr>
          <p:cNvPr id="15" name="edge-1"/>
          <p:cNvSpPr/>
          <p:nvPr/>
        </p:nvSpPr>
        <p:spPr>
          <a:xfrm>
            <a:off x="4445000" y="3378200"/>
            <a:ext cx="952500" cy="279400"/>
          </a:xfrm>
          <a:custGeom>
            <a:avLst/>
            <a:gdLst/>
            <a:ahLst/>
            <a:cxnLst/>
            <a:rect l="0" t="0" r="r" b="b"/>
            <a:pathLst>
              <a:path w="952500" h="279400">
                <a:moveTo>
                  <a:pt x="139700" y="0"/>
                </a:moveTo>
                <a:lnTo>
                  <a:pt x="812800" y="0"/>
                </a:lnTo>
                <a:cubicBezTo>
                  <a:pt x="889952" y="0"/>
                  <a:pt x="952500" y="62548"/>
                  <a:pt x="952500" y="139700"/>
                </a:cubicBezTo>
                <a:lnTo>
                  <a:pt x="952500" y="139700"/>
                </a:lnTo>
                <a:cubicBezTo>
                  <a:pt x="952500" y="216852"/>
                  <a:pt x="889952" y="279400"/>
                  <a:pt x="812800" y="279400"/>
                </a:cubicBezTo>
                <a:lnTo>
                  <a:pt x="139700" y="279400"/>
                </a:lnTo>
                <a:cubicBezTo>
                  <a:pt x="62548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 w="9525" cap="rnd">
            <a:solidFill>
              <a:srgbClr val="E0703A">
                <a:alpha val="5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edget-1"/>
          <p:cNvSpPr txBox="1"/>
          <p:nvPr/>
        </p:nvSpPr>
        <p:spPr>
          <a:xfrm>
            <a:off x="4615815" y="3421190"/>
            <a:ext cx="6108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0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精准选品</a:t>
            </a:r>
          </a:p>
        </p:txBody>
      </p:sp>
      <p:sp>
        <p:nvSpPr>
          <p:cNvPr id="17" name="edge-2"/>
          <p:cNvSpPr/>
          <p:nvPr/>
        </p:nvSpPr>
        <p:spPr>
          <a:xfrm>
            <a:off x="5619750" y="5232400"/>
            <a:ext cx="952500" cy="279400"/>
          </a:xfrm>
          <a:custGeom>
            <a:avLst/>
            <a:gdLst/>
            <a:ahLst/>
            <a:cxnLst/>
            <a:rect l="0" t="0" r="r" b="b"/>
            <a:pathLst>
              <a:path w="952500" h="279400">
                <a:moveTo>
                  <a:pt x="139700" y="0"/>
                </a:moveTo>
                <a:lnTo>
                  <a:pt x="812800" y="0"/>
                </a:lnTo>
                <a:cubicBezTo>
                  <a:pt x="889953" y="0"/>
                  <a:pt x="952500" y="62548"/>
                  <a:pt x="952500" y="139700"/>
                </a:cubicBezTo>
                <a:lnTo>
                  <a:pt x="952500" y="139700"/>
                </a:lnTo>
                <a:cubicBezTo>
                  <a:pt x="952500" y="216852"/>
                  <a:pt x="889953" y="279400"/>
                  <a:pt x="812800" y="279400"/>
                </a:cubicBezTo>
                <a:lnTo>
                  <a:pt x="139700" y="279400"/>
                </a:lnTo>
                <a:cubicBezTo>
                  <a:pt x="62548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 w="9525" cap="rnd">
            <a:solidFill>
              <a:srgbClr val="E0703A">
                <a:alpha val="5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edget-2"/>
          <p:cNvSpPr txBox="1"/>
          <p:nvPr/>
        </p:nvSpPr>
        <p:spPr>
          <a:xfrm>
            <a:off x="5790565" y="5275390"/>
            <a:ext cx="6108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0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高效流通</a:t>
            </a:r>
          </a:p>
        </p:txBody>
      </p:sp>
      <p:sp>
        <p:nvSpPr>
          <p:cNvPr id="19" name="edge-3"/>
          <p:cNvSpPr/>
          <p:nvPr/>
        </p:nvSpPr>
        <p:spPr>
          <a:xfrm>
            <a:off x="6794500" y="3378200"/>
            <a:ext cx="952500" cy="279400"/>
          </a:xfrm>
          <a:custGeom>
            <a:avLst/>
            <a:gdLst/>
            <a:ahLst/>
            <a:cxnLst/>
            <a:rect l="0" t="0" r="r" b="b"/>
            <a:pathLst>
              <a:path w="952500" h="279400">
                <a:moveTo>
                  <a:pt x="139700" y="0"/>
                </a:moveTo>
                <a:lnTo>
                  <a:pt x="812800" y="0"/>
                </a:lnTo>
                <a:cubicBezTo>
                  <a:pt x="889953" y="0"/>
                  <a:pt x="952500" y="62548"/>
                  <a:pt x="952500" y="139700"/>
                </a:cubicBezTo>
                <a:lnTo>
                  <a:pt x="952500" y="139700"/>
                </a:lnTo>
                <a:cubicBezTo>
                  <a:pt x="952500" y="216852"/>
                  <a:pt x="889953" y="279400"/>
                  <a:pt x="812800" y="279400"/>
                </a:cubicBezTo>
                <a:lnTo>
                  <a:pt x="139700" y="279400"/>
                </a:lnTo>
                <a:cubicBezTo>
                  <a:pt x="62547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 w="9525" cap="rnd">
            <a:solidFill>
              <a:srgbClr val="E0703A">
                <a:alpha val="5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edget-3"/>
          <p:cNvSpPr txBox="1"/>
          <p:nvPr/>
        </p:nvSpPr>
        <p:spPr>
          <a:xfrm>
            <a:off x="6965315" y="3421190"/>
            <a:ext cx="6108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0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沉浸体验</a:t>
            </a:r>
          </a:p>
        </p:txBody>
      </p:sp>
      <p:sp>
        <p:nvSpPr>
          <p:cNvPr id="21" name="nd-1"/>
          <p:cNvSpPr/>
          <p:nvPr/>
        </p:nvSpPr>
        <p:spPr>
          <a:xfrm>
            <a:off x="5562600" y="1130300"/>
            <a:ext cx="1066800" cy="1066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ndi-1"/>
          <p:cNvSpPr/>
          <p:nvPr/>
        </p:nvSpPr>
        <p:spPr>
          <a:xfrm>
            <a:off x="5651500" y="1219200"/>
            <a:ext cx="889000" cy="889000"/>
          </a:xfrm>
          <a:prstGeom prst="ellipse">
            <a:avLst/>
          </a:prstGeom>
          <a:gradFill rotWithShape="1">
            <a:gsLst>
              <a:gs pos="0">
                <a:srgbClr val="305BA0"/>
              </a:gs>
              <a:gs pos="100000">
                <a:srgbClr val="0B3E8F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ndc-1"/>
          <p:cNvSpPr txBox="1"/>
          <p:nvPr/>
        </p:nvSpPr>
        <p:spPr>
          <a:xfrm>
            <a:off x="5746115" y="1335850"/>
            <a:ext cx="699770" cy="6445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9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人</a:t>
            </a:r>
          </a:p>
        </p:txBody>
      </p:sp>
      <p:sp>
        <p:nvSpPr>
          <p:cNvPr id="24" name="nd-2"/>
          <p:cNvSpPr/>
          <p:nvPr/>
        </p:nvSpPr>
        <p:spPr>
          <a:xfrm>
            <a:off x="3213100" y="4838700"/>
            <a:ext cx="1066800" cy="1066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ndi-2"/>
          <p:cNvSpPr/>
          <p:nvPr/>
        </p:nvSpPr>
        <p:spPr>
          <a:xfrm>
            <a:off x="3302000" y="4927600"/>
            <a:ext cx="889000" cy="889000"/>
          </a:xfrm>
          <a:prstGeom prst="ellipse">
            <a:avLst/>
          </a:prstGeom>
          <a:gradFill rotWithShape="1">
            <a:gsLst>
              <a:gs pos="0">
                <a:srgbClr val="457FC1"/>
              </a:gs>
              <a:gs pos="100000">
                <a:srgbClr val="2468B6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ndc-2"/>
          <p:cNvSpPr txBox="1"/>
          <p:nvPr/>
        </p:nvSpPr>
        <p:spPr>
          <a:xfrm>
            <a:off x="3396615" y="5044250"/>
            <a:ext cx="699770" cy="6445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9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货</a:t>
            </a:r>
          </a:p>
        </p:txBody>
      </p:sp>
      <p:sp>
        <p:nvSpPr>
          <p:cNvPr id="27" name="nd-3"/>
          <p:cNvSpPr/>
          <p:nvPr/>
        </p:nvSpPr>
        <p:spPr>
          <a:xfrm>
            <a:off x="7912100" y="4838700"/>
            <a:ext cx="1066800" cy="1066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ndi-3"/>
          <p:cNvSpPr/>
          <p:nvPr/>
        </p:nvSpPr>
        <p:spPr>
          <a:xfrm>
            <a:off x="8001000" y="4927600"/>
            <a:ext cx="889000" cy="889000"/>
          </a:xfrm>
          <a:prstGeom prst="ellipse">
            <a:avLst/>
          </a:prstGeom>
          <a:gradFill rotWithShape="1">
            <a:gsLst>
              <a:gs pos="0">
                <a:srgbClr val="62A4DD"/>
              </a:gs>
              <a:gs pos="100000">
                <a:srgbClr val="4694D7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ndc-3"/>
          <p:cNvSpPr txBox="1"/>
          <p:nvPr/>
        </p:nvSpPr>
        <p:spPr>
          <a:xfrm>
            <a:off x="8095615" y="5044250"/>
            <a:ext cx="699770" cy="6445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9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场</a:t>
            </a:r>
          </a:p>
        </p:txBody>
      </p:sp>
      <p:cxnSp>
        <p:nvCxnSpPr>
          <p:cNvPr id="30" name="lead-1"/>
          <p:cNvCxnSpPr/>
          <p:nvPr/>
        </p:nvCxnSpPr>
        <p:spPr>
          <a:xfrm>
            <a:off x="6680200" y="1663700"/>
            <a:ext cx="1854200" cy="0"/>
          </a:xfrm>
          <a:prstGeom prst="line">
            <a:avLst/>
          </a:prstGeom>
          <a:ln w="12700" cap="rnd">
            <a:solidFill>
              <a:srgbClr val="0B3E8F">
                <a:alpha val="6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leadd-1"/>
          <p:cNvSpPr/>
          <p:nvPr/>
        </p:nvSpPr>
        <p:spPr>
          <a:xfrm>
            <a:off x="8502650" y="1631950"/>
            <a:ext cx="63500" cy="635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chip"/>
          <p:cNvSpPr/>
          <p:nvPr/>
        </p:nvSpPr>
        <p:spPr>
          <a:xfrm>
            <a:off x="8648700" y="1460500"/>
            <a:ext cx="355600" cy="3556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chip-ring"/>
          <p:cNvSpPr/>
          <p:nvPr/>
        </p:nvSpPr>
        <p:spPr>
          <a:xfrm>
            <a:off x="8648700" y="1460500"/>
            <a:ext cx="355600" cy="355600"/>
          </a:xfrm>
          <a:prstGeom prst="ellipse">
            <a:avLst/>
          </a:prstGeom>
          <a:noFill/>
          <a:ln w="6350" cap="rnd">
            <a:solidFill>
              <a:srgbClr val="0B3E8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icon-people"/>
          <p:cNvSpPr/>
          <p:nvPr/>
        </p:nvSpPr>
        <p:spPr>
          <a:xfrm>
            <a:off x="8768715" y="1656207"/>
            <a:ext cx="116967" cy="33020"/>
          </a:xfrm>
          <a:custGeom>
            <a:avLst/>
            <a:gdLst/>
            <a:ahLst/>
            <a:cxnLst/>
            <a:rect l="0" t="0" r="r" b="b"/>
            <a:pathLst>
              <a:path w="116967" h="33020">
                <a:moveTo>
                  <a:pt x="0" y="33020"/>
                </a:moveTo>
                <a:cubicBezTo>
                  <a:pt x="0" y="12382"/>
                  <a:pt x="17208" y="0"/>
                  <a:pt x="37147" y="0"/>
                </a:cubicBezTo>
                <a:cubicBezTo>
                  <a:pt x="57087" y="0"/>
                  <a:pt x="74295" y="12382"/>
                  <a:pt x="74295" y="33020"/>
                </a:cubicBezTo>
                <a:moveTo>
                  <a:pt x="88074" y="2731"/>
                </a:moveTo>
                <a:cubicBezTo>
                  <a:pt x="105918" y="4762"/>
                  <a:pt x="116967" y="17145"/>
                  <a:pt x="116967" y="33020"/>
                </a:cubicBez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icon-people"/>
          <p:cNvSpPr/>
          <p:nvPr/>
        </p:nvSpPr>
        <p:spPr>
          <a:xfrm>
            <a:off x="8783849" y="1597025"/>
            <a:ext cx="44027" cy="44027"/>
          </a:xfrm>
          <a:prstGeom prst="ellipse">
            <a:avLst/>
          </a:pr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icon-people"/>
          <p:cNvSpPr/>
          <p:nvPr/>
        </p:nvSpPr>
        <p:spPr>
          <a:xfrm>
            <a:off x="8843010" y="1597025"/>
            <a:ext cx="35772" cy="35772"/>
          </a:xfrm>
          <a:prstGeom prst="ellipse">
            <a:avLst/>
          </a:pr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bn-1"/>
          <p:cNvSpPr txBox="1"/>
          <p:nvPr/>
        </p:nvSpPr>
        <p:spPr>
          <a:xfrm>
            <a:off x="9086850" y="14041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用户</a:t>
            </a:r>
          </a:p>
        </p:txBody>
      </p:sp>
      <p:sp>
        <p:nvSpPr>
          <p:cNvPr id="38" name="be-1"/>
          <p:cNvSpPr txBox="1"/>
          <p:nvPr/>
        </p:nvSpPr>
        <p:spPr>
          <a:xfrm>
            <a:off x="9107932" y="1655508"/>
            <a:ext cx="53111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200">
                <a:solidFill>
                  <a:srgbClr val="7E93AE"/>
                </a:solidFill>
                <a:latin typeface="Arial"/>
                <a:ea typeface="Arial"/>
                <a:cs typeface="Arial"/>
              </a:rPr>
              <a:t>PEOPLE</a:t>
            </a:r>
          </a:p>
        </p:txBody>
      </p:sp>
      <p:sp>
        <p:nvSpPr>
          <p:cNvPr id="39" name="bd1-1"/>
          <p:cNvSpPr txBox="1"/>
          <p:nvPr/>
        </p:nvSpPr>
        <p:spPr>
          <a:xfrm>
            <a:off x="8622665" y="1932861"/>
            <a:ext cx="160813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会员 1,280 万，复购率 46%</a:t>
            </a:r>
          </a:p>
        </p:txBody>
      </p:sp>
      <p:sp>
        <p:nvSpPr>
          <p:cNvPr id="40" name="bd2-1"/>
          <p:cNvSpPr txBox="1"/>
          <p:nvPr/>
        </p:nvSpPr>
        <p:spPr>
          <a:xfrm>
            <a:off x="8622665" y="2136061"/>
            <a:ext cx="146399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用标签体系读懂每一位用户</a:t>
            </a:r>
          </a:p>
        </p:txBody>
      </p:sp>
      <p:cxnSp>
        <p:nvCxnSpPr>
          <p:cNvPr id="41" name="lead-2"/>
          <p:cNvCxnSpPr/>
          <p:nvPr/>
        </p:nvCxnSpPr>
        <p:spPr>
          <a:xfrm flipH="1">
            <a:off x="2984500" y="5372100"/>
            <a:ext cx="177800" cy="0"/>
          </a:xfrm>
          <a:prstGeom prst="line">
            <a:avLst/>
          </a:prstGeom>
          <a:ln w="12700" cap="rnd">
            <a:solidFill>
              <a:srgbClr val="2468B6">
                <a:alpha val="6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leadd-2"/>
          <p:cNvSpPr/>
          <p:nvPr/>
        </p:nvSpPr>
        <p:spPr>
          <a:xfrm>
            <a:off x="2952750" y="5340350"/>
            <a:ext cx="63500" cy="63500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chip"/>
          <p:cNvSpPr/>
          <p:nvPr/>
        </p:nvSpPr>
        <p:spPr>
          <a:xfrm>
            <a:off x="965200" y="4978400"/>
            <a:ext cx="355600" cy="3556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chip-ring"/>
          <p:cNvSpPr/>
          <p:nvPr/>
        </p:nvSpPr>
        <p:spPr>
          <a:xfrm>
            <a:off x="965200" y="4978400"/>
            <a:ext cx="355600" cy="355600"/>
          </a:xfrm>
          <a:prstGeom prst="ellipse">
            <a:avLst/>
          </a:prstGeom>
          <a:noFill/>
          <a:ln w="6350" cap="rnd">
            <a:solidFill>
              <a:srgbClr val="2468B6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icon-cart"/>
          <p:cNvSpPr/>
          <p:nvPr/>
        </p:nvSpPr>
        <p:spPr>
          <a:xfrm>
            <a:off x="1082484" y="5105273"/>
            <a:ext cx="109347" cy="64706"/>
          </a:xfrm>
          <a:custGeom>
            <a:avLst/>
            <a:gdLst/>
            <a:ahLst/>
            <a:cxnLst/>
            <a:rect l="0" t="0" r="r" b="b"/>
            <a:pathLst>
              <a:path w="109347" h="64706">
                <a:moveTo>
                  <a:pt x="0" y="0"/>
                </a:moveTo>
                <a:lnTo>
                  <a:pt x="15812" y="0"/>
                </a:lnTo>
                <a:lnTo>
                  <a:pt x="31623" y="64706"/>
                </a:lnTo>
                <a:lnTo>
                  <a:pt x="96266" y="64706"/>
                </a:lnTo>
                <a:lnTo>
                  <a:pt x="109347" y="19304"/>
                </a:lnTo>
                <a:lnTo>
                  <a:pt x="20638" y="19304"/>
                </a:lnTo>
              </a:path>
            </a:pathLst>
          </a:cu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icon-cart"/>
          <p:cNvSpPr/>
          <p:nvPr/>
        </p:nvSpPr>
        <p:spPr>
          <a:xfrm>
            <a:off x="1115483" y="5190596"/>
            <a:ext cx="19262" cy="19262"/>
          </a:xfrm>
          <a:prstGeom prst="ellipse">
            <a:avLst/>
          </a:pr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icon-cart"/>
          <p:cNvSpPr/>
          <p:nvPr/>
        </p:nvSpPr>
        <p:spPr>
          <a:xfrm>
            <a:off x="1165013" y="5190596"/>
            <a:ext cx="19262" cy="19262"/>
          </a:xfrm>
          <a:prstGeom prst="ellipse">
            <a:avLst/>
          </a:pr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bn-2"/>
          <p:cNvSpPr txBox="1"/>
          <p:nvPr/>
        </p:nvSpPr>
        <p:spPr>
          <a:xfrm>
            <a:off x="1403350" y="49220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商品</a:t>
            </a:r>
          </a:p>
        </p:txBody>
      </p:sp>
      <p:sp>
        <p:nvSpPr>
          <p:cNvPr id="49" name="be-2"/>
          <p:cNvSpPr txBox="1"/>
          <p:nvPr/>
        </p:nvSpPr>
        <p:spPr>
          <a:xfrm>
            <a:off x="1424432" y="5173408"/>
            <a:ext cx="60629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200">
                <a:solidFill>
                  <a:srgbClr val="7E93AE"/>
                </a:solidFill>
                <a:latin typeface="Arial"/>
                <a:ea typeface="Arial"/>
                <a:cs typeface="Arial"/>
              </a:rPr>
              <a:t>PRODUCT</a:t>
            </a:r>
          </a:p>
        </p:txBody>
      </p:sp>
      <p:sp>
        <p:nvSpPr>
          <p:cNvPr id="50" name="bd1-2"/>
          <p:cNvSpPr txBox="1"/>
          <p:nvPr/>
        </p:nvSpPr>
        <p:spPr>
          <a:xfrm>
            <a:off x="939165" y="5450761"/>
            <a:ext cx="155924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20">
                <a:solidFill>
                  <a:srgbClr val="2468B6"/>
                </a:solidFill>
                <a:latin typeface="微软雅黑"/>
                <a:ea typeface="微软雅黑"/>
                <a:cs typeface="微软雅黑"/>
              </a:rPr>
              <a:t>SKU 3.2 万，爆品贡献 38%</a:t>
            </a:r>
          </a:p>
        </p:txBody>
      </p:sp>
      <p:sp>
        <p:nvSpPr>
          <p:cNvPr id="51" name="bd2-2"/>
          <p:cNvSpPr txBox="1"/>
          <p:nvPr/>
        </p:nvSpPr>
        <p:spPr>
          <a:xfrm>
            <a:off x="939165" y="5653961"/>
            <a:ext cx="135032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数据驱动选品与动态定价</a:t>
            </a:r>
          </a:p>
        </p:txBody>
      </p:sp>
      <p:cxnSp>
        <p:nvCxnSpPr>
          <p:cNvPr id="52" name="lead-3"/>
          <p:cNvCxnSpPr/>
          <p:nvPr/>
        </p:nvCxnSpPr>
        <p:spPr>
          <a:xfrm>
            <a:off x="9029700" y="5372100"/>
            <a:ext cx="139700" cy="0"/>
          </a:xfrm>
          <a:prstGeom prst="line">
            <a:avLst/>
          </a:prstGeom>
          <a:ln w="12700" cap="rnd">
            <a:solidFill>
              <a:srgbClr val="4694D7">
                <a:alpha val="6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leadd-3"/>
          <p:cNvSpPr/>
          <p:nvPr/>
        </p:nvSpPr>
        <p:spPr>
          <a:xfrm>
            <a:off x="9137650" y="5340350"/>
            <a:ext cx="63500" cy="63500"/>
          </a:xfrm>
          <a:prstGeom prst="ellipse">
            <a:avLst/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chip"/>
          <p:cNvSpPr/>
          <p:nvPr/>
        </p:nvSpPr>
        <p:spPr>
          <a:xfrm>
            <a:off x="9283700" y="4978400"/>
            <a:ext cx="355600" cy="3556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chip-ring"/>
          <p:cNvSpPr/>
          <p:nvPr/>
        </p:nvSpPr>
        <p:spPr>
          <a:xfrm>
            <a:off x="9283700" y="4978400"/>
            <a:ext cx="355600" cy="355600"/>
          </a:xfrm>
          <a:prstGeom prst="ellipse">
            <a:avLst/>
          </a:prstGeom>
          <a:noFill/>
          <a:ln w="6350" cap="rnd">
            <a:solidFill>
              <a:srgbClr val="4694D7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icon-pin"/>
          <p:cNvSpPr/>
          <p:nvPr/>
        </p:nvSpPr>
        <p:spPr>
          <a:xfrm>
            <a:off x="9420225" y="5108067"/>
            <a:ext cx="82550" cy="110046"/>
          </a:xfrm>
          <a:custGeom>
            <a:avLst/>
            <a:gdLst/>
            <a:ahLst/>
            <a:cxnLst/>
            <a:rect l="0" t="0" r="r" b="b"/>
            <a:pathLst>
              <a:path w="82550" h="110046">
                <a:moveTo>
                  <a:pt x="41275" y="110046"/>
                </a:moveTo>
                <a:cubicBezTo>
                  <a:pt x="66040" y="79756"/>
                  <a:pt x="82550" y="59817"/>
                  <a:pt x="82550" y="41275"/>
                </a:cubicBezTo>
                <a:cubicBezTo>
                  <a:pt x="82550" y="18479"/>
                  <a:pt x="64071" y="0"/>
                  <a:pt x="41275" y="0"/>
                </a:cubicBezTo>
                <a:cubicBezTo>
                  <a:pt x="18479" y="0"/>
                  <a:pt x="0" y="18479"/>
                  <a:pt x="0" y="41275"/>
                </a:cubicBezTo>
                <a:cubicBezTo>
                  <a:pt x="0" y="59817"/>
                  <a:pt x="16510" y="79756"/>
                  <a:pt x="41275" y="110046"/>
                </a:cubicBezTo>
                <a:close/>
              </a:path>
            </a:pathLst>
          </a:cu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icon-pin"/>
          <p:cNvSpPr/>
          <p:nvPr/>
        </p:nvSpPr>
        <p:spPr>
          <a:xfrm>
            <a:off x="9444990" y="5132811"/>
            <a:ext cx="33020" cy="33020"/>
          </a:xfrm>
          <a:prstGeom prst="ellipse">
            <a:avLst/>
          </a:pr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bn-3"/>
          <p:cNvSpPr txBox="1"/>
          <p:nvPr/>
        </p:nvSpPr>
        <p:spPr>
          <a:xfrm>
            <a:off x="9721850" y="49220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场景</a:t>
            </a:r>
          </a:p>
        </p:txBody>
      </p:sp>
      <p:sp>
        <p:nvSpPr>
          <p:cNvPr id="59" name="be-3"/>
          <p:cNvSpPr txBox="1"/>
          <p:nvPr/>
        </p:nvSpPr>
        <p:spPr>
          <a:xfrm>
            <a:off x="9742932" y="5173408"/>
            <a:ext cx="455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200">
                <a:solidFill>
                  <a:srgbClr val="7E93AE"/>
                </a:solidFill>
                <a:latin typeface="Arial"/>
                <a:ea typeface="Arial"/>
                <a:cs typeface="Arial"/>
              </a:rPr>
              <a:t>PLACE</a:t>
            </a:r>
          </a:p>
        </p:txBody>
      </p:sp>
      <p:sp>
        <p:nvSpPr>
          <p:cNvPr id="60" name="bd1-3"/>
          <p:cNvSpPr txBox="1"/>
          <p:nvPr/>
        </p:nvSpPr>
        <p:spPr>
          <a:xfrm>
            <a:off x="9257665" y="5450761"/>
            <a:ext cx="160813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20">
                <a:solidFill>
                  <a:srgbClr val="4694D7"/>
                </a:solidFill>
                <a:latin typeface="微软雅黑"/>
                <a:ea typeface="微软雅黑"/>
                <a:cs typeface="微软雅黑"/>
              </a:rPr>
              <a:t>门店 620 家 · 线上 6 渠道</a:t>
            </a:r>
          </a:p>
        </p:txBody>
      </p:sp>
      <p:sp>
        <p:nvSpPr>
          <p:cNvPr id="61" name="bd2-3"/>
          <p:cNvSpPr txBox="1"/>
          <p:nvPr/>
        </p:nvSpPr>
        <p:spPr>
          <a:xfrm>
            <a:off x="9257665" y="5653961"/>
            <a:ext cx="135032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全渠道一盘货、一个会员</a:t>
            </a:r>
          </a:p>
        </p:txBody>
      </p:sp>
      <p:sp>
        <p:nvSpPr>
          <p:cNvPr id="62" name="note"/>
          <p:cNvSpPr/>
          <p:nvPr/>
        </p:nvSpPr>
        <p:spPr>
          <a:xfrm>
            <a:off x="952500" y="1460500"/>
            <a:ext cx="2667000" cy="1587500"/>
          </a:xfrm>
          <a:custGeom>
            <a:avLst/>
            <a:gdLst/>
            <a:ahLst/>
            <a:cxnLst/>
            <a:rect l="0" t="0" r="r" b="b"/>
            <a:pathLst>
              <a:path w="2667000" h="1587500">
                <a:moveTo>
                  <a:pt x="139700" y="0"/>
                </a:moveTo>
                <a:lnTo>
                  <a:pt x="2527300" y="0"/>
                </a:lnTo>
                <a:cubicBezTo>
                  <a:pt x="2604452" y="0"/>
                  <a:pt x="2667000" y="62547"/>
                  <a:pt x="2667000" y="139700"/>
                </a:cubicBezTo>
                <a:lnTo>
                  <a:pt x="2667000" y="1447800"/>
                </a:lnTo>
                <a:cubicBezTo>
                  <a:pt x="2667000" y="1524952"/>
                  <a:pt x="2604452" y="1587500"/>
                  <a:pt x="2527300" y="1587500"/>
                </a:cubicBezTo>
                <a:lnTo>
                  <a:pt x="139700" y="1587500"/>
                </a:lnTo>
                <a:cubicBezTo>
                  <a:pt x="62547" y="1587500"/>
                  <a:pt x="0" y="1524952"/>
                  <a:pt x="0" y="1447800"/>
                </a:cubicBezTo>
                <a:lnTo>
                  <a:pt x="0" y="139700"/>
                </a:lnTo>
                <a:cubicBezTo>
                  <a:pt x="0" y="62547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note-bar"/>
          <p:cNvSpPr/>
          <p:nvPr/>
        </p:nvSpPr>
        <p:spPr>
          <a:xfrm>
            <a:off x="952500" y="1460500"/>
            <a:ext cx="38100" cy="1587500"/>
          </a:xfrm>
          <a:custGeom>
            <a:avLst/>
            <a:gdLst/>
            <a:ahLst/>
            <a:cxnLst/>
            <a:rect l="0" t="0" r="r" b="b"/>
            <a:pathLst>
              <a:path w="38100" h="15875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568450"/>
                </a:lnTo>
                <a:cubicBezTo>
                  <a:pt x="38100" y="1578991"/>
                  <a:pt x="29591" y="1587500"/>
                  <a:pt x="19050" y="1587500"/>
                </a:cubicBezTo>
                <a:lnTo>
                  <a:pt x="19050" y="1587500"/>
                </a:lnTo>
                <a:cubicBezTo>
                  <a:pt x="8509" y="1587500"/>
                  <a:pt x="0" y="1578991"/>
                  <a:pt x="0" y="15684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note-h"/>
          <p:cNvSpPr txBox="1"/>
          <p:nvPr/>
        </p:nvSpPr>
        <p:spPr>
          <a:xfrm>
            <a:off x="1165098" y="1626013"/>
            <a:ext cx="9963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怎么读这张图</a:t>
            </a:r>
          </a:p>
        </p:txBody>
      </p:sp>
      <p:sp>
        <p:nvSpPr>
          <p:cNvPr id="65" name="note-1"/>
          <p:cNvSpPr txBox="1"/>
          <p:nvPr/>
        </p:nvSpPr>
        <p:spPr>
          <a:xfrm>
            <a:off x="1167765" y="1958261"/>
            <a:ext cx="157765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三个顶点是经营的三个对象，</a:t>
            </a:r>
          </a:p>
        </p:txBody>
      </p:sp>
      <p:sp>
        <p:nvSpPr>
          <p:cNvPr id="66" name="note-2"/>
          <p:cNvSpPr txBox="1"/>
          <p:nvPr/>
        </p:nvSpPr>
        <p:spPr>
          <a:xfrm>
            <a:off x="1167765" y="2174161"/>
            <a:ext cx="169132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三条边是它们之间的连接能力：</a:t>
            </a:r>
          </a:p>
        </p:txBody>
      </p:sp>
      <p:sp>
        <p:nvSpPr>
          <p:cNvPr id="67" name="note-3"/>
          <p:cNvSpPr txBox="1"/>
          <p:nvPr/>
        </p:nvSpPr>
        <p:spPr>
          <a:xfrm>
            <a:off x="1167765" y="23900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边越强，三角越稳；</a:t>
            </a:r>
          </a:p>
        </p:txBody>
      </p:sp>
      <p:sp>
        <p:nvSpPr>
          <p:cNvPr id="68" name="note-4"/>
          <p:cNvSpPr txBox="1"/>
          <p:nvPr/>
        </p:nvSpPr>
        <p:spPr>
          <a:xfrm>
            <a:off x="1167765" y="2605961"/>
            <a:ext cx="180498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任何一条边断了，增长都会失速。</a:t>
            </a:r>
          </a:p>
        </p:txBody>
      </p:sp>
      <p:sp>
        <p:nvSpPr>
          <p:cNvPr id="69" name="kpi"/>
          <p:cNvSpPr/>
          <p:nvPr/>
        </p:nvSpPr>
        <p:spPr>
          <a:xfrm>
            <a:off x="8636000" y="2794000"/>
            <a:ext cx="2603500" cy="1587500"/>
          </a:xfrm>
          <a:custGeom>
            <a:avLst/>
            <a:gdLst/>
            <a:ahLst/>
            <a:cxnLst/>
            <a:rect l="0" t="0" r="r" b="b"/>
            <a:pathLst>
              <a:path w="2603500" h="1587500">
                <a:moveTo>
                  <a:pt x="139700" y="0"/>
                </a:moveTo>
                <a:lnTo>
                  <a:pt x="2463800" y="0"/>
                </a:lnTo>
                <a:cubicBezTo>
                  <a:pt x="2540953" y="0"/>
                  <a:pt x="2603500" y="62548"/>
                  <a:pt x="2603500" y="139700"/>
                </a:cubicBezTo>
                <a:lnTo>
                  <a:pt x="2603500" y="1447800"/>
                </a:lnTo>
                <a:cubicBezTo>
                  <a:pt x="2603500" y="1524952"/>
                  <a:pt x="2540953" y="1587500"/>
                  <a:pt x="2463800" y="1587500"/>
                </a:cubicBezTo>
                <a:lnTo>
                  <a:pt x="139700" y="1587500"/>
                </a:lnTo>
                <a:cubicBezTo>
                  <a:pt x="62547" y="1587500"/>
                  <a:pt x="0" y="1524952"/>
                  <a:pt x="0" y="14478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kpi-bar"/>
          <p:cNvSpPr/>
          <p:nvPr/>
        </p:nvSpPr>
        <p:spPr>
          <a:xfrm>
            <a:off x="8636000" y="2794000"/>
            <a:ext cx="38100" cy="1587500"/>
          </a:xfrm>
          <a:custGeom>
            <a:avLst/>
            <a:gdLst/>
            <a:ahLst/>
            <a:cxnLst/>
            <a:rect l="0" t="0" r="r" b="b"/>
            <a:pathLst>
              <a:path w="38100" h="15875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568450"/>
                </a:lnTo>
                <a:cubicBezTo>
                  <a:pt x="38100" y="1578991"/>
                  <a:pt x="29591" y="1587500"/>
                  <a:pt x="19050" y="1587500"/>
                </a:cubicBezTo>
                <a:lnTo>
                  <a:pt x="19050" y="1587500"/>
                </a:lnTo>
                <a:cubicBezTo>
                  <a:pt x="8509" y="1587500"/>
                  <a:pt x="0" y="1578991"/>
                  <a:pt x="0" y="15684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kpi-h"/>
          <p:cNvSpPr txBox="1"/>
          <p:nvPr/>
        </p:nvSpPr>
        <p:spPr>
          <a:xfrm>
            <a:off x="8848598" y="2959513"/>
            <a:ext cx="114236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三条边怎么衡量</a:t>
            </a:r>
          </a:p>
        </p:txBody>
      </p:sp>
      <p:sp>
        <p:nvSpPr>
          <p:cNvPr id="72" name="kpi-t-1"/>
          <p:cNvSpPr/>
          <p:nvPr/>
        </p:nvSpPr>
        <p:spPr>
          <a:xfrm>
            <a:off x="8864600" y="3302000"/>
            <a:ext cx="609600" cy="190500"/>
          </a:xfrm>
          <a:custGeom>
            <a:avLst/>
            <a:gdLst/>
            <a:ahLst/>
            <a:cxnLst/>
            <a:rect l="0" t="0" r="r" b="b"/>
            <a:pathLst>
              <a:path w="609600" h="190500">
                <a:moveTo>
                  <a:pt x="95250" y="0"/>
                </a:moveTo>
                <a:lnTo>
                  <a:pt x="514350" y="0"/>
                </a:lnTo>
                <a:cubicBezTo>
                  <a:pt x="566928" y="0"/>
                  <a:pt x="609600" y="42672"/>
                  <a:pt x="609600" y="95250"/>
                </a:cubicBezTo>
                <a:lnTo>
                  <a:pt x="609600" y="95250"/>
                </a:lnTo>
                <a:cubicBezTo>
                  <a:pt x="609600" y="147828"/>
                  <a:pt x="566928" y="190500"/>
                  <a:pt x="5143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kpi-e-1"/>
          <p:cNvSpPr txBox="1"/>
          <p:nvPr/>
        </p:nvSpPr>
        <p:spPr>
          <a:xfrm>
            <a:off x="8936196" y="3321637"/>
            <a:ext cx="46640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3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精准选品</a:t>
            </a:r>
          </a:p>
        </p:txBody>
      </p:sp>
      <p:sp>
        <p:nvSpPr>
          <p:cNvPr id="74" name="kpi-m-1"/>
          <p:cNvSpPr txBox="1"/>
          <p:nvPr/>
        </p:nvSpPr>
        <p:spPr>
          <a:xfrm>
            <a:off x="9562465" y="3304461"/>
            <a:ext cx="66833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新品成功率</a:t>
            </a:r>
          </a:p>
        </p:txBody>
      </p:sp>
      <p:sp>
        <p:nvSpPr>
          <p:cNvPr id="75" name="kpi-v-1"/>
          <p:cNvSpPr txBox="1"/>
          <p:nvPr/>
        </p:nvSpPr>
        <p:spPr>
          <a:xfrm>
            <a:off x="10699623" y="3281871"/>
            <a:ext cx="366141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62%</a:t>
            </a:r>
          </a:p>
        </p:txBody>
      </p:sp>
      <p:sp>
        <p:nvSpPr>
          <p:cNvPr id="76" name="kpi-t-2"/>
          <p:cNvSpPr/>
          <p:nvPr/>
        </p:nvSpPr>
        <p:spPr>
          <a:xfrm>
            <a:off x="8864600" y="3619500"/>
            <a:ext cx="609600" cy="190500"/>
          </a:xfrm>
          <a:custGeom>
            <a:avLst/>
            <a:gdLst/>
            <a:ahLst/>
            <a:cxnLst/>
            <a:rect l="0" t="0" r="r" b="b"/>
            <a:pathLst>
              <a:path w="609600" h="190500">
                <a:moveTo>
                  <a:pt x="95250" y="0"/>
                </a:moveTo>
                <a:lnTo>
                  <a:pt x="514350" y="0"/>
                </a:lnTo>
                <a:cubicBezTo>
                  <a:pt x="566928" y="0"/>
                  <a:pt x="609600" y="42672"/>
                  <a:pt x="609600" y="95250"/>
                </a:cubicBezTo>
                <a:lnTo>
                  <a:pt x="609600" y="95250"/>
                </a:lnTo>
                <a:cubicBezTo>
                  <a:pt x="609600" y="147828"/>
                  <a:pt x="566928" y="190500"/>
                  <a:pt x="5143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kpi-e-2"/>
          <p:cNvSpPr txBox="1"/>
          <p:nvPr/>
        </p:nvSpPr>
        <p:spPr>
          <a:xfrm>
            <a:off x="8936196" y="3639137"/>
            <a:ext cx="46640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3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高效流通</a:t>
            </a:r>
          </a:p>
        </p:txBody>
      </p:sp>
      <p:sp>
        <p:nvSpPr>
          <p:cNvPr id="78" name="kpi-m-2"/>
          <p:cNvSpPr txBox="1"/>
          <p:nvPr/>
        </p:nvSpPr>
        <p:spPr>
          <a:xfrm>
            <a:off x="9562465" y="3621961"/>
            <a:ext cx="55467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库存周转</a:t>
            </a:r>
          </a:p>
        </p:txBody>
      </p:sp>
      <p:sp>
        <p:nvSpPr>
          <p:cNvPr id="79" name="kpi-v-2"/>
          <p:cNvSpPr txBox="1"/>
          <p:nvPr/>
        </p:nvSpPr>
        <p:spPr>
          <a:xfrm>
            <a:off x="10558018" y="3599371"/>
            <a:ext cx="507746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38 天</a:t>
            </a:r>
          </a:p>
        </p:txBody>
      </p:sp>
      <p:sp>
        <p:nvSpPr>
          <p:cNvPr id="80" name="kpi-t-3"/>
          <p:cNvSpPr/>
          <p:nvPr/>
        </p:nvSpPr>
        <p:spPr>
          <a:xfrm>
            <a:off x="8864600" y="3937000"/>
            <a:ext cx="609600" cy="190500"/>
          </a:xfrm>
          <a:custGeom>
            <a:avLst/>
            <a:gdLst/>
            <a:ahLst/>
            <a:cxnLst/>
            <a:rect l="0" t="0" r="r" b="b"/>
            <a:pathLst>
              <a:path w="609600" h="190500">
                <a:moveTo>
                  <a:pt x="95250" y="0"/>
                </a:moveTo>
                <a:lnTo>
                  <a:pt x="514350" y="0"/>
                </a:lnTo>
                <a:cubicBezTo>
                  <a:pt x="566928" y="0"/>
                  <a:pt x="609600" y="42672"/>
                  <a:pt x="609600" y="95250"/>
                </a:cubicBezTo>
                <a:lnTo>
                  <a:pt x="609600" y="95250"/>
                </a:lnTo>
                <a:cubicBezTo>
                  <a:pt x="609600" y="147828"/>
                  <a:pt x="566928" y="190500"/>
                  <a:pt x="5143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kpi-e-3"/>
          <p:cNvSpPr txBox="1"/>
          <p:nvPr/>
        </p:nvSpPr>
        <p:spPr>
          <a:xfrm>
            <a:off x="8936196" y="3956637"/>
            <a:ext cx="46640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3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沉浸体验</a:t>
            </a:r>
          </a:p>
        </p:txBody>
      </p:sp>
      <p:sp>
        <p:nvSpPr>
          <p:cNvPr id="82" name="kpi-m-3"/>
          <p:cNvSpPr txBox="1"/>
          <p:nvPr/>
        </p:nvSpPr>
        <p:spPr>
          <a:xfrm>
            <a:off x="9562465" y="3939461"/>
            <a:ext cx="66833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到店转化率</a:t>
            </a:r>
          </a:p>
        </p:txBody>
      </p:sp>
      <p:sp>
        <p:nvSpPr>
          <p:cNvPr id="83" name="kpi-v-3"/>
          <p:cNvSpPr txBox="1"/>
          <p:nvPr/>
        </p:nvSpPr>
        <p:spPr>
          <a:xfrm>
            <a:off x="10699623" y="3916871"/>
            <a:ext cx="366141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27%</a:t>
            </a:r>
          </a:p>
        </p:txBody>
      </p:sp>
      <p:cxnSp>
        <p:nvCxnSpPr>
          <p:cNvPr id="84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foot-l"/>
          <p:cNvSpPr txBox="1"/>
          <p:nvPr/>
        </p:nvSpPr>
        <p:spPr>
          <a:xfrm>
            <a:off x="573532" y="6532308"/>
            <a:ext cx="9469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三角模型 · 人货场</a:t>
            </a:r>
          </a:p>
        </p:txBody>
      </p:sp>
      <p:sp>
        <p:nvSpPr>
          <p:cNvPr id="86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企业生态圈层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62801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SEMICIRCLE LAYERS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237599" y="673132"/>
            <a:ext cx="23831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从核心团队向外，每一圈都是下一圈的放大器</a:t>
            </a:r>
          </a:p>
        </p:txBody>
      </p:sp>
      <p:sp>
        <p:nvSpPr>
          <p:cNvPr id="10" name="ring-1"/>
          <p:cNvSpPr/>
          <p:nvPr/>
        </p:nvSpPr>
        <p:spPr>
          <a:xfrm>
            <a:off x="2032000" y="1447800"/>
            <a:ext cx="8128000" cy="4064000"/>
          </a:xfrm>
          <a:custGeom>
            <a:avLst/>
            <a:gdLst/>
            <a:ahLst/>
            <a:cxnLst/>
            <a:rect l="0" t="0" r="r" b="b"/>
            <a:pathLst>
              <a:path w="8128000" h="4064000">
                <a:moveTo>
                  <a:pt x="0" y="4064000"/>
                </a:moveTo>
                <a:cubicBezTo>
                  <a:pt x="0" y="1819453"/>
                  <a:pt x="1819453" y="0"/>
                  <a:pt x="4064000" y="0"/>
                </a:cubicBezTo>
                <a:cubicBezTo>
                  <a:pt x="6308547" y="0"/>
                  <a:pt x="8128000" y="1819453"/>
                  <a:pt x="8128000" y="4064000"/>
                </a:cubicBezTo>
                <a:lnTo>
                  <a:pt x="7239000" y="4064000"/>
                </a:lnTo>
                <a:cubicBezTo>
                  <a:pt x="7239000" y="2310447"/>
                  <a:pt x="5817553" y="889000"/>
                  <a:pt x="4064000" y="889000"/>
                </a:cubicBezTo>
                <a:cubicBezTo>
                  <a:pt x="2310447" y="889000"/>
                  <a:pt x="889000" y="2310447"/>
                  <a:pt x="889000" y="4064000"/>
                </a:cubicBezTo>
                <a:close/>
              </a:path>
            </a:pathLst>
          </a:custGeom>
          <a:gradFill rotWithShape="1">
            <a:gsLst>
              <a:gs pos="0">
                <a:srgbClr val="E6EEF9"/>
              </a:gs>
              <a:gs pos="100000">
                <a:srgbClr val="D3E2F4"/>
              </a:gs>
            </a:gsLst>
            <a:lin ang="5400000" scaled="0"/>
          </a:gradFill>
          <a:ln w="31750" cap="rnd">
            <a:solidFill>
              <a:srgbClr val="FFFFFF"/>
            </a:solidFill>
            <a:round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ring-2"/>
          <p:cNvSpPr/>
          <p:nvPr/>
        </p:nvSpPr>
        <p:spPr>
          <a:xfrm>
            <a:off x="2921000" y="2336800"/>
            <a:ext cx="6350000" cy="3175000"/>
          </a:xfrm>
          <a:custGeom>
            <a:avLst/>
            <a:gdLst/>
            <a:ahLst/>
            <a:cxnLst/>
            <a:rect l="0" t="0" r="r" b="b"/>
            <a:pathLst>
              <a:path w="6350000" h="3175000">
                <a:moveTo>
                  <a:pt x="0" y="3175000"/>
                </a:moveTo>
                <a:cubicBezTo>
                  <a:pt x="0" y="1421447"/>
                  <a:pt x="1421447" y="0"/>
                  <a:pt x="3175000" y="0"/>
                </a:cubicBezTo>
                <a:cubicBezTo>
                  <a:pt x="4928553" y="0"/>
                  <a:pt x="6350000" y="1421447"/>
                  <a:pt x="6350000" y="3175000"/>
                </a:cubicBezTo>
                <a:lnTo>
                  <a:pt x="5461000" y="3175000"/>
                </a:lnTo>
                <a:cubicBezTo>
                  <a:pt x="5461000" y="1912442"/>
                  <a:pt x="4437558" y="889000"/>
                  <a:pt x="3175000" y="889000"/>
                </a:cubicBezTo>
                <a:cubicBezTo>
                  <a:pt x="1912442" y="889000"/>
                  <a:pt x="889000" y="1912442"/>
                  <a:pt x="889000" y="3175000"/>
                </a:cubicBezTo>
                <a:close/>
              </a:path>
            </a:pathLst>
          </a:custGeom>
          <a:gradFill rotWithShape="1">
            <a:gsLst>
              <a:gs pos="0">
                <a:srgbClr val="9CC3EA"/>
              </a:gs>
              <a:gs pos="100000">
                <a:srgbClr val="78ABE0"/>
              </a:gs>
            </a:gsLst>
            <a:lin ang="5400000" scaled="0"/>
          </a:gradFill>
          <a:ln w="317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ring-3"/>
          <p:cNvSpPr/>
          <p:nvPr/>
        </p:nvSpPr>
        <p:spPr>
          <a:xfrm>
            <a:off x="3810000" y="3225800"/>
            <a:ext cx="4572000" cy="2286000"/>
          </a:xfrm>
          <a:custGeom>
            <a:avLst/>
            <a:gdLst/>
            <a:ahLst/>
            <a:cxnLst/>
            <a:rect l="0" t="0" r="r" b="b"/>
            <a:pathLst>
              <a:path w="4572000" h="2286000">
                <a:moveTo>
                  <a:pt x="0" y="2286000"/>
                </a:moveTo>
                <a:cubicBezTo>
                  <a:pt x="0" y="1023442"/>
                  <a:pt x="1023442" y="0"/>
                  <a:pt x="2286000" y="0"/>
                </a:cubicBezTo>
                <a:cubicBezTo>
                  <a:pt x="3548558" y="0"/>
                  <a:pt x="4572000" y="1023442"/>
                  <a:pt x="4572000" y="2286000"/>
                </a:cubicBezTo>
                <a:lnTo>
                  <a:pt x="3683000" y="2286000"/>
                </a:lnTo>
                <a:cubicBezTo>
                  <a:pt x="3683000" y="1514437"/>
                  <a:pt x="3057563" y="889000"/>
                  <a:pt x="2286000" y="889000"/>
                </a:cubicBezTo>
                <a:cubicBezTo>
                  <a:pt x="1514437" y="889000"/>
                  <a:pt x="889000" y="1514437"/>
                  <a:pt x="889000" y="2286000"/>
                </a:cubicBezTo>
                <a:close/>
              </a:path>
            </a:pathLst>
          </a:custGeom>
          <a:gradFill rotWithShape="1">
            <a:gsLst>
              <a:gs pos="0">
                <a:srgbClr val="3F86CE"/>
              </a:gs>
              <a:gs pos="100000">
                <a:srgbClr val="2A6FBE"/>
              </a:gs>
            </a:gsLst>
            <a:lin ang="5400000" scaled="0"/>
          </a:gradFill>
          <a:ln w="317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ring-4"/>
          <p:cNvSpPr/>
          <p:nvPr/>
        </p:nvSpPr>
        <p:spPr>
          <a:xfrm>
            <a:off x="4699000" y="4114800"/>
            <a:ext cx="2794000" cy="1397000"/>
          </a:xfrm>
          <a:custGeom>
            <a:avLst/>
            <a:gdLst/>
            <a:ahLst/>
            <a:cxnLst/>
            <a:rect l="0" t="0" r="r" b="b"/>
            <a:pathLst>
              <a:path w="2794000" h="1397000">
                <a:moveTo>
                  <a:pt x="0" y="1397000"/>
                </a:moveTo>
                <a:cubicBezTo>
                  <a:pt x="0" y="625437"/>
                  <a:pt x="625437" y="0"/>
                  <a:pt x="1397000" y="0"/>
                </a:cubicBezTo>
                <a:cubicBezTo>
                  <a:pt x="2168563" y="0"/>
                  <a:pt x="2794000" y="625437"/>
                  <a:pt x="2794000" y="1397000"/>
                </a:cubicBezTo>
                <a:close/>
              </a:path>
            </a:pathLst>
          </a:custGeom>
          <a:gradFill rotWithShape="1">
            <a:gsLst>
              <a:gs pos="0">
                <a:srgbClr val="154C9C"/>
              </a:gs>
              <a:gs pos="100000">
                <a:srgbClr val="0A3A88"/>
              </a:gs>
            </a:gsLst>
            <a:lin ang="5400000" scaled="0"/>
          </a:gradFill>
          <a:ln w="317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rn-1"/>
          <p:cNvSpPr txBox="1"/>
          <p:nvPr/>
        </p:nvSpPr>
        <p:spPr>
          <a:xfrm>
            <a:off x="5671820" y="1754886"/>
            <a:ext cx="8483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20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行业生态</a:t>
            </a:r>
          </a:p>
        </p:txBody>
      </p:sp>
      <p:sp>
        <p:nvSpPr>
          <p:cNvPr id="15" name="chip-1-1"/>
          <p:cNvSpPr/>
          <p:nvPr/>
        </p:nvSpPr>
        <p:spPr>
          <a:xfrm>
            <a:off x="2815908" y="3373501"/>
            <a:ext cx="558800" cy="228600"/>
          </a:xfrm>
          <a:custGeom>
            <a:avLst/>
            <a:gdLst/>
            <a:ahLst/>
            <a:cxnLst/>
            <a:rect l="0" t="0" r="r" b="b"/>
            <a:pathLst>
              <a:path w="558800" h="228600">
                <a:moveTo>
                  <a:pt x="114300" y="0"/>
                </a:moveTo>
                <a:lnTo>
                  <a:pt x="444500" y="0"/>
                </a:lnTo>
                <a:cubicBezTo>
                  <a:pt x="507619" y="0"/>
                  <a:pt x="558800" y="51181"/>
                  <a:pt x="558800" y="114300"/>
                </a:cubicBezTo>
                <a:lnTo>
                  <a:pt x="558800" y="114300"/>
                </a:lnTo>
                <a:cubicBezTo>
                  <a:pt x="558800" y="177419"/>
                  <a:pt x="507619" y="228600"/>
                  <a:pt x="4445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chipt-1-1"/>
          <p:cNvSpPr txBox="1"/>
          <p:nvPr/>
        </p:nvSpPr>
        <p:spPr>
          <a:xfrm>
            <a:off x="2849077" y="3404346"/>
            <a:ext cx="49244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行业协会</a:t>
            </a:r>
          </a:p>
        </p:txBody>
      </p:sp>
      <p:sp>
        <p:nvSpPr>
          <p:cNvPr id="17" name="chip-1-2"/>
          <p:cNvSpPr/>
          <p:nvPr/>
        </p:nvSpPr>
        <p:spPr>
          <a:xfrm>
            <a:off x="8817292" y="3373501"/>
            <a:ext cx="558800" cy="228600"/>
          </a:xfrm>
          <a:custGeom>
            <a:avLst/>
            <a:gdLst/>
            <a:ahLst/>
            <a:cxnLst/>
            <a:rect l="0" t="0" r="r" b="b"/>
            <a:pathLst>
              <a:path w="558800" h="228600">
                <a:moveTo>
                  <a:pt x="114300" y="0"/>
                </a:moveTo>
                <a:lnTo>
                  <a:pt x="444500" y="0"/>
                </a:lnTo>
                <a:cubicBezTo>
                  <a:pt x="507619" y="0"/>
                  <a:pt x="558800" y="51181"/>
                  <a:pt x="558800" y="114300"/>
                </a:cubicBezTo>
                <a:lnTo>
                  <a:pt x="558800" y="114300"/>
                </a:lnTo>
                <a:cubicBezTo>
                  <a:pt x="558800" y="177419"/>
                  <a:pt x="507619" y="228600"/>
                  <a:pt x="4445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chipt-1-2"/>
          <p:cNvSpPr txBox="1"/>
          <p:nvPr/>
        </p:nvSpPr>
        <p:spPr>
          <a:xfrm>
            <a:off x="8850480" y="3404346"/>
            <a:ext cx="49244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研究机构</a:t>
            </a:r>
          </a:p>
        </p:txBody>
      </p:sp>
      <p:sp>
        <p:nvSpPr>
          <p:cNvPr id="19" name="rn-2"/>
          <p:cNvSpPr txBox="1"/>
          <p:nvPr/>
        </p:nvSpPr>
        <p:spPr>
          <a:xfrm>
            <a:off x="5849620" y="2643886"/>
            <a:ext cx="4927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客户</a:t>
            </a:r>
          </a:p>
        </p:txBody>
      </p:sp>
      <p:sp>
        <p:nvSpPr>
          <p:cNvPr id="20" name="chip-2-1"/>
          <p:cNvSpPr/>
          <p:nvPr/>
        </p:nvSpPr>
        <p:spPr>
          <a:xfrm>
            <a:off x="3349688" y="3870642"/>
            <a:ext cx="965200" cy="228600"/>
          </a:xfrm>
          <a:custGeom>
            <a:avLst/>
            <a:gdLst/>
            <a:ahLst/>
            <a:cxnLst/>
            <a:rect l="0" t="0" r="r" b="b"/>
            <a:pathLst>
              <a:path w="965200" h="228600">
                <a:moveTo>
                  <a:pt x="114300" y="0"/>
                </a:moveTo>
                <a:lnTo>
                  <a:pt x="850900" y="0"/>
                </a:lnTo>
                <a:cubicBezTo>
                  <a:pt x="914083" y="0"/>
                  <a:pt x="965200" y="51181"/>
                  <a:pt x="965200" y="114300"/>
                </a:cubicBezTo>
                <a:lnTo>
                  <a:pt x="965200" y="114300"/>
                </a:lnTo>
                <a:cubicBezTo>
                  <a:pt x="965200" y="177419"/>
                  <a:pt x="914083" y="228600"/>
                  <a:pt x="8509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>
              <a:alpha val="92000"/>
            </a:srgbClr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chipt-2-1"/>
          <p:cNvSpPr txBox="1"/>
          <p:nvPr/>
        </p:nvSpPr>
        <p:spPr>
          <a:xfrm>
            <a:off x="3470776" y="3901469"/>
            <a:ext cx="723075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大客户 86 家</a:t>
            </a:r>
          </a:p>
        </p:txBody>
      </p:sp>
      <p:sp>
        <p:nvSpPr>
          <p:cNvPr id="22" name="chip-2-2"/>
          <p:cNvSpPr/>
          <p:nvPr/>
        </p:nvSpPr>
        <p:spPr>
          <a:xfrm>
            <a:off x="7673912" y="3870642"/>
            <a:ext cx="1371600" cy="228600"/>
          </a:xfrm>
          <a:custGeom>
            <a:avLst/>
            <a:gdLst/>
            <a:ahLst/>
            <a:cxnLst/>
            <a:rect l="0" t="0" r="r" b="b"/>
            <a:pathLst>
              <a:path w="1371600" h="228600">
                <a:moveTo>
                  <a:pt x="114300" y="0"/>
                </a:moveTo>
                <a:lnTo>
                  <a:pt x="1257300" y="0"/>
                </a:lnTo>
                <a:cubicBezTo>
                  <a:pt x="1320419" y="0"/>
                  <a:pt x="1371600" y="51181"/>
                  <a:pt x="1371600" y="114300"/>
                </a:cubicBezTo>
                <a:lnTo>
                  <a:pt x="1371600" y="114300"/>
                </a:lnTo>
                <a:cubicBezTo>
                  <a:pt x="1371600" y="177419"/>
                  <a:pt x="1320419" y="228600"/>
                  <a:pt x="1257300" y="228600"/>
                </a:cubicBezTo>
                <a:lnTo>
                  <a:pt x="114300" y="228600"/>
                </a:lnTo>
                <a:cubicBezTo>
                  <a:pt x="51117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17" y="0"/>
                  <a:pt x="114300" y="0"/>
                </a:cubicBezTo>
                <a:close/>
              </a:path>
            </a:pathLst>
          </a:custGeom>
          <a:solidFill>
            <a:srgbClr val="FFFFFF">
              <a:alpha val="92000"/>
            </a:srgbClr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chipt-2-2"/>
          <p:cNvSpPr txBox="1"/>
          <p:nvPr/>
        </p:nvSpPr>
        <p:spPr>
          <a:xfrm>
            <a:off x="7861180" y="3901469"/>
            <a:ext cx="997014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中小客户 1,240 家</a:t>
            </a:r>
          </a:p>
        </p:txBody>
      </p:sp>
      <p:sp>
        <p:nvSpPr>
          <p:cNvPr id="24" name="rn-3"/>
          <p:cNvSpPr txBox="1"/>
          <p:nvPr/>
        </p:nvSpPr>
        <p:spPr>
          <a:xfrm>
            <a:off x="5671820" y="3532886"/>
            <a:ext cx="8483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合作伙伴</a:t>
            </a:r>
          </a:p>
        </p:txBody>
      </p:sp>
      <p:sp>
        <p:nvSpPr>
          <p:cNvPr id="25" name="chip-3-1"/>
          <p:cNvSpPr/>
          <p:nvPr/>
        </p:nvSpPr>
        <p:spPr>
          <a:xfrm>
            <a:off x="4188333" y="4367720"/>
            <a:ext cx="762000" cy="228600"/>
          </a:xfrm>
          <a:custGeom>
            <a:avLst/>
            <a:gdLst/>
            <a:ahLst/>
            <a:cxnLst/>
            <a:rect l="0" t="0" r="r" b="b"/>
            <a:pathLst>
              <a:path w="762000" h="228600">
                <a:moveTo>
                  <a:pt x="114300" y="0"/>
                </a:moveTo>
                <a:lnTo>
                  <a:pt x="647700" y="0"/>
                </a:lnTo>
                <a:cubicBezTo>
                  <a:pt x="710819" y="0"/>
                  <a:pt x="762000" y="51181"/>
                  <a:pt x="762000" y="114300"/>
                </a:cubicBezTo>
                <a:lnTo>
                  <a:pt x="762000" y="114300"/>
                </a:lnTo>
                <a:cubicBezTo>
                  <a:pt x="762000" y="177482"/>
                  <a:pt x="710819" y="228600"/>
                  <a:pt x="647700" y="228600"/>
                </a:cubicBezTo>
                <a:lnTo>
                  <a:pt x="114300" y="228600"/>
                </a:lnTo>
                <a:cubicBezTo>
                  <a:pt x="51181" y="228600"/>
                  <a:pt x="0" y="177482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>
              <a:alpha val="92000"/>
            </a:srgbClr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chipt-3-1"/>
          <p:cNvSpPr txBox="1"/>
          <p:nvPr/>
        </p:nvSpPr>
        <p:spPr>
          <a:xfrm>
            <a:off x="4287102" y="4398591"/>
            <a:ext cx="56445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渠道商 62</a:t>
            </a:r>
          </a:p>
        </p:txBody>
      </p:sp>
      <p:sp>
        <p:nvSpPr>
          <p:cNvPr id="27" name="chip-3-2"/>
          <p:cNvSpPr/>
          <p:nvPr/>
        </p:nvSpPr>
        <p:spPr>
          <a:xfrm>
            <a:off x="7241667" y="4367720"/>
            <a:ext cx="762000" cy="228600"/>
          </a:xfrm>
          <a:custGeom>
            <a:avLst/>
            <a:gdLst/>
            <a:ahLst/>
            <a:cxnLst/>
            <a:rect l="0" t="0" r="r" b="b"/>
            <a:pathLst>
              <a:path w="762000" h="228600">
                <a:moveTo>
                  <a:pt x="114300" y="0"/>
                </a:moveTo>
                <a:lnTo>
                  <a:pt x="647700" y="0"/>
                </a:lnTo>
                <a:cubicBezTo>
                  <a:pt x="710819" y="0"/>
                  <a:pt x="762000" y="51181"/>
                  <a:pt x="762000" y="114300"/>
                </a:cubicBezTo>
                <a:lnTo>
                  <a:pt x="762000" y="114300"/>
                </a:lnTo>
                <a:cubicBezTo>
                  <a:pt x="762000" y="177482"/>
                  <a:pt x="710819" y="228600"/>
                  <a:pt x="647700" y="228600"/>
                </a:cubicBezTo>
                <a:lnTo>
                  <a:pt x="114300" y="228600"/>
                </a:lnTo>
                <a:cubicBezTo>
                  <a:pt x="51181" y="228600"/>
                  <a:pt x="0" y="177482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>
              <a:alpha val="92000"/>
            </a:srgbClr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chipt-3-2"/>
          <p:cNvSpPr txBox="1"/>
          <p:nvPr/>
        </p:nvSpPr>
        <p:spPr>
          <a:xfrm>
            <a:off x="7405407" y="4398591"/>
            <a:ext cx="434530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ISV 24</a:t>
            </a:r>
          </a:p>
        </p:txBody>
      </p:sp>
      <p:sp>
        <p:nvSpPr>
          <p:cNvPr id="29" name="icon-people"/>
          <p:cNvSpPr/>
          <p:nvPr/>
        </p:nvSpPr>
        <p:spPr>
          <a:xfrm>
            <a:off x="6020435" y="4582668"/>
            <a:ext cx="152908" cy="43180"/>
          </a:xfrm>
          <a:custGeom>
            <a:avLst/>
            <a:gdLst/>
            <a:ahLst/>
            <a:cxnLst/>
            <a:rect l="0" t="0" r="r" b="b"/>
            <a:pathLst>
              <a:path w="152908" h="43180">
                <a:moveTo>
                  <a:pt x="0" y="43180"/>
                </a:moveTo>
                <a:cubicBezTo>
                  <a:pt x="0" y="16193"/>
                  <a:pt x="22479" y="0"/>
                  <a:pt x="48577" y="0"/>
                </a:cubicBezTo>
                <a:cubicBezTo>
                  <a:pt x="74676" y="0"/>
                  <a:pt x="97155" y="16193"/>
                  <a:pt x="97155" y="43180"/>
                </a:cubicBezTo>
                <a:moveTo>
                  <a:pt x="115125" y="3620"/>
                </a:moveTo>
                <a:cubicBezTo>
                  <a:pt x="138557" y="6287"/>
                  <a:pt x="152908" y="22543"/>
                  <a:pt x="152908" y="43180"/>
                </a:cubicBez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icon-people"/>
          <p:cNvSpPr/>
          <p:nvPr/>
        </p:nvSpPr>
        <p:spPr>
          <a:xfrm>
            <a:off x="6040226" y="4505325"/>
            <a:ext cx="57573" cy="57573"/>
          </a:xfrm>
          <a:prstGeom prst="ellipse">
            <a:avLst/>
          </a:pr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icon-people"/>
          <p:cNvSpPr/>
          <p:nvPr/>
        </p:nvSpPr>
        <p:spPr>
          <a:xfrm>
            <a:off x="6117590" y="4505325"/>
            <a:ext cx="46778" cy="46778"/>
          </a:xfrm>
          <a:prstGeom prst="ellipse">
            <a:avLst/>
          </a:pr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core-n"/>
          <p:cNvSpPr txBox="1"/>
          <p:nvPr/>
        </p:nvSpPr>
        <p:spPr>
          <a:xfrm>
            <a:off x="5640705" y="4723702"/>
            <a:ext cx="9105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核心团队</a:t>
            </a:r>
          </a:p>
        </p:txBody>
      </p:sp>
      <p:sp>
        <p:nvSpPr>
          <p:cNvPr id="33" name="core-v"/>
          <p:cNvSpPr txBox="1"/>
          <p:nvPr/>
        </p:nvSpPr>
        <p:spPr>
          <a:xfrm>
            <a:off x="5641150" y="4991164"/>
            <a:ext cx="909701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700" b="1" spc="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320 人</a:t>
            </a:r>
          </a:p>
        </p:txBody>
      </p:sp>
      <p:cxnSp>
        <p:nvCxnSpPr>
          <p:cNvPr id="34" name="base"/>
          <p:cNvCxnSpPr/>
          <p:nvPr/>
        </p:nvCxnSpPr>
        <p:spPr>
          <a:xfrm>
            <a:off x="1778000" y="5511800"/>
            <a:ext cx="8636000" cy="0"/>
          </a:xfrm>
          <a:prstGeom prst="line">
            <a:avLst/>
          </a:prstGeom>
          <a:ln w="889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bc-1"/>
          <p:cNvSpPr txBox="1"/>
          <p:nvPr/>
        </p:nvSpPr>
        <p:spPr>
          <a:xfrm>
            <a:off x="2134172" y="5591397"/>
            <a:ext cx="68465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5">
                <a:solidFill>
                  <a:srgbClr val="4694D7"/>
                </a:solidFill>
                <a:latin typeface="微软雅黑"/>
                <a:ea typeface="微软雅黑"/>
                <a:cs typeface="微软雅黑"/>
              </a:rPr>
              <a:t>12 个组织</a:t>
            </a:r>
          </a:p>
        </p:txBody>
      </p:sp>
      <p:sp>
        <p:nvSpPr>
          <p:cNvPr id="36" name="bcn-1"/>
          <p:cNvSpPr txBox="1"/>
          <p:nvPr/>
        </p:nvSpPr>
        <p:spPr>
          <a:xfrm>
            <a:off x="2245995" y="5795708"/>
            <a:ext cx="4610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行业生态</a:t>
            </a:r>
          </a:p>
        </p:txBody>
      </p:sp>
      <p:sp>
        <p:nvSpPr>
          <p:cNvPr id="37" name="bg-1"/>
          <p:cNvSpPr txBox="1"/>
          <p:nvPr/>
        </p:nvSpPr>
        <p:spPr>
          <a:xfrm>
            <a:off x="9495726" y="5591397"/>
            <a:ext cx="43954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+3 个</a:t>
            </a:r>
          </a:p>
        </p:txBody>
      </p:sp>
      <p:sp>
        <p:nvSpPr>
          <p:cNvPr id="38" name="bgn-1"/>
          <p:cNvSpPr txBox="1"/>
          <p:nvPr/>
        </p:nvSpPr>
        <p:spPr>
          <a:xfrm>
            <a:off x="9580245" y="5795708"/>
            <a:ext cx="2705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同比</a:t>
            </a:r>
          </a:p>
        </p:txBody>
      </p:sp>
      <p:sp>
        <p:nvSpPr>
          <p:cNvPr id="39" name="bc-2"/>
          <p:cNvSpPr txBox="1"/>
          <p:nvPr/>
        </p:nvSpPr>
        <p:spPr>
          <a:xfrm>
            <a:off x="3041523" y="5591397"/>
            <a:ext cx="647954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5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1,326 家</a:t>
            </a:r>
          </a:p>
        </p:txBody>
      </p:sp>
      <p:sp>
        <p:nvSpPr>
          <p:cNvPr id="40" name="bcn-2"/>
          <p:cNvSpPr txBox="1"/>
          <p:nvPr/>
        </p:nvSpPr>
        <p:spPr>
          <a:xfrm>
            <a:off x="3230245" y="5795708"/>
            <a:ext cx="2705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客户</a:t>
            </a:r>
          </a:p>
        </p:txBody>
      </p:sp>
      <p:sp>
        <p:nvSpPr>
          <p:cNvPr id="41" name="bg-2"/>
          <p:cNvSpPr txBox="1"/>
          <p:nvPr/>
        </p:nvSpPr>
        <p:spPr>
          <a:xfrm>
            <a:off x="8633270" y="5591397"/>
            <a:ext cx="386461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+24%</a:t>
            </a:r>
          </a:p>
        </p:txBody>
      </p:sp>
      <p:sp>
        <p:nvSpPr>
          <p:cNvPr id="42" name="bgn-2"/>
          <p:cNvSpPr txBox="1"/>
          <p:nvPr/>
        </p:nvSpPr>
        <p:spPr>
          <a:xfrm>
            <a:off x="8691245" y="5795708"/>
            <a:ext cx="2705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同比</a:t>
            </a:r>
          </a:p>
        </p:txBody>
      </p:sp>
      <p:sp>
        <p:nvSpPr>
          <p:cNvPr id="43" name="bc-3"/>
          <p:cNvSpPr txBox="1"/>
          <p:nvPr/>
        </p:nvSpPr>
        <p:spPr>
          <a:xfrm>
            <a:off x="4034726" y="5591397"/>
            <a:ext cx="43954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5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86 家</a:t>
            </a:r>
          </a:p>
        </p:txBody>
      </p:sp>
      <p:sp>
        <p:nvSpPr>
          <p:cNvPr id="44" name="bcn-3"/>
          <p:cNvSpPr txBox="1"/>
          <p:nvPr/>
        </p:nvSpPr>
        <p:spPr>
          <a:xfrm>
            <a:off x="4023995" y="5795708"/>
            <a:ext cx="4610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合作伙伴</a:t>
            </a:r>
          </a:p>
        </p:txBody>
      </p:sp>
      <p:sp>
        <p:nvSpPr>
          <p:cNvPr id="45" name="bg-3"/>
          <p:cNvSpPr txBox="1"/>
          <p:nvPr/>
        </p:nvSpPr>
        <p:spPr>
          <a:xfrm>
            <a:off x="7744270" y="5591397"/>
            <a:ext cx="386461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+15%</a:t>
            </a:r>
          </a:p>
        </p:txBody>
      </p:sp>
      <p:sp>
        <p:nvSpPr>
          <p:cNvPr id="46" name="bgn-3"/>
          <p:cNvSpPr txBox="1"/>
          <p:nvPr/>
        </p:nvSpPr>
        <p:spPr>
          <a:xfrm>
            <a:off x="7802245" y="5795708"/>
            <a:ext cx="2705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同比</a:t>
            </a:r>
          </a:p>
        </p:txBody>
      </p:sp>
      <p:sp>
        <p:nvSpPr>
          <p:cNvPr id="47" name="bc-core"/>
          <p:cNvSpPr txBox="1"/>
          <p:nvPr/>
        </p:nvSpPr>
        <p:spPr>
          <a:xfrm>
            <a:off x="5779452" y="5607082"/>
            <a:ext cx="63309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2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同比 +14%</a:t>
            </a:r>
          </a:p>
        </p:txBody>
      </p:sp>
      <p:sp>
        <p:nvSpPr>
          <p:cNvPr id="48" name="lt-bar"/>
          <p:cNvSpPr/>
          <p:nvPr/>
        </p:nvSpPr>
        <p:spPr>
          <a:xfrm>
            <a:off x="952500" y="1460500"/>
            <a:ext cx="31750" cy="406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lt-h"/>
          <p:cNvSpPr txBox="1"/>
          <p:nvPr/>
        </p:nvSpPr>
        <p:spPr>
          <a:xfrm>
            <a:off x="1098550" y="14549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由内而外</a:t>
            </a:r>
          </a:p>
        </p:txBody>
      </p:sp>
      <p:sp>
        <p:nvSpPr>
          <p:cNvPr id="50" name="lt-p"/>
          <p:cNvSpPr txBox="1"/>
          <p:nvPr/>
        </p:nvSpPr>
        <p:spPr>
          <a:xfrm>
            <a:off x="1104265" y="1716961"/>
            <a:ext cx="15922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团队 → 伙伴 → 客户 → 行业</a:t>
            </a:r>
          </a:p>
        </p:txBody>
      </p:sp>
      <p:sp>
        <p:nvSpPr>
          <p:cNvPr id="51" name="lt-d1"/>
          <p:cNvSpPr txBox="1"/>
          <p:nvPr/>
        </p:nvSpPr>
        <p:spPr>
          <a:xfrm>
            <a:off x="940308" y="2135124"/>
            <a:ext cx="13335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每一圈只对相邻的圈负责：</a:t>
            </a:r>
          </a:p>
        </p:txBody>
      </p:sp>
      <p:sp>
        <p:nvSpPr>
          <p:cNvPr id="52" name="lt-d2"/>
          <p:cNvSpPr txBox="1"/>
          <p:nvPr/>
        </p:nvSpPr>
        <p:spPr>
          <a:xfrm>
            <a:off x="940308" y="2338324"/>
            <a:ext cx="17475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团队服务伙伴，伙伴放大客户覆盖，</a:t>
            </a:r>
          </a:p>
        </p:txBody>
      </p:sp>
      <p:sp>
        <p:nvSpPr>
          <p:cNvPr id="53" name="lt-d3"/>
          <p:cNvSpPr txBox="1"/>
          <p:nvPr/>
        </p:nvSpPr>
        <p:spPr>
          <a:xfrm>
            <a:off x="940308" y="2541524"/>
            <a:ext cx="13335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客户口碑带来行业影响力。</a:t>
            </a:r>
          </a:p>
        </p:txBody>
      </p:sp>
      <p:sp>
        <p:nvSpPr>
          <p:cNvPr id="54" name="rt"/>
          <p:cNvSpPr/>
          <p:nvPr/>
        </p:nvSpPr>
        <p:spPr>
          <a:xfrm>
            <a:off x="9017000" y="1460500"/>
            <a:ext cx="2222500" cy="1143000"/>
          </a:xfrm>
          <a:custGeom>
            <a:avLst/>
            <a:gdLst/>
            <a:ahLst/>
            <a:cxnLst/>
            <a:rect l="0" t="0" r="r" b="b"/>
            <a:pathLst>
              <a:path w="2222500" h="1143000">
                <a:moveTo>
                  <a:pt x="127000" y="0"/>
                </a:moveTo>
                <a:lnTo>
                  <a:pt x="2095500" y="0"/>
                </a:lnTo>
                <a:cubicBezTo>
                  <a:pt x="2165667" y="0"/>
                  <a:pt x="2222500" y="56832"/>
                  <a:pt x="2222500" y="127000"/>
                </a:cubicBezTo>
                <a:lnTo>
                  <a:pt x="2222500" y="1016000"/>
                </a:lnTo>
                <a:cubicBezTo>
                  <a:pt x="2222500" y="1086168"/>
                  <a:pt x="2165667" y="1143000"/>
                  <a:pt x="2095500" y="1143000"/>
                </a:cubicBezTo>
                <a:lnTo>
                  <a:pt x="127000" y="1143000"/>
                </a:lnTo>
                <a:cubicBezTo>
                  <a:pt x="56833" y="1143000"/>
                  <a:pt x="0" y="1086168"/>
                  <a:pt x="0" y="1016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rt-bar"/>
          <p:cNvSpPr/>
          <p:nvPr/>
        </p:nvSpPr>
        <p:spPr>
          <a:xfrm>
            <a:off x="9017000" y="1460500"/>
            <a:ext cx="38100" cy="1143000"/>
          </a:xfrm>
          <a:custGeom>
            <a:avLst/>
            <a:gdLst/>
            <a:ahLst/>
            <a:cxnLst/>
            <a:rect l="0" t="0" r="r" b="b"/>
            <a:pathLst>
              <a:path w="38100" h="1143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123950"/>
                </a:lnTo>
                <a:cubicBezTo>
                  <a:pt x="38100" y="1134491"/>
                  <a:pt x="29591" y="1143000"/>
                  <a:pt x="19050" y="1143000"/>
                </a:cubicBezTo>
                <a:lnTo>
                  <a:pt x="19050" y="1143000"/>
                </a:lnTo>
                <a:cubicBezTo>
                  <a:pt x="8509" y="1143000"/>
                  <a:pt x="0" y="1134491"/>
                  <a:pt x="0" y="1123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rt-h"/>
          <p:cNvSpPr txBox="1"/>
          <p:nvPr/>
        </p:nvSpPr>
        <p:spPr>
          <a:xfrm>
            <a:off x="9205722" y="1603597"/>
            <a:ext cx="629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杠杆倍数</a:t>
            </a:r>
          </a:p>
        </p:txBody>
      </p:sp>
      <p:sp>
        <p:nvSpPr>
          <p:cNvPr id="57" name="rt-v"/>
          <p:cNvSpPr txBox="1"/>
          <p:nvPr/>
        </p:nvSpPr>
        <p:spPr>
          <a:xfrm>
            <a:off x="9183624" y="1820672"/>
            <a:ext cx="1127760" cy="533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4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1 : 4</a:t>
            </a:r>
          </a:p>
        </p:txBody>
      </p:sp>
      <p:sp>
        <p:nvSpPr>
          <p:cNvPr id="58" name="rt-p"/>
          <p:cNvSpPr txBox="1"/>
          <p:nvPr/>
        </p:nvSpPr>
        <p:spPr>
          <a:xfrm>
            <a:off x="9208389" y="2329545"/>
            <a:ext cx="126295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每位员工对应约 4 家客户</a:t>
            </a:r>
          </a:p>
        </p:txBody>
      </p:sp>
      <p:cxnSp>
        <p:nvCxnSpPr>
          <p:cNvPr id="59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半圆圈层 · 生态四层</a:t>
            </a:r>
          </a:p>
        </p:txBody>
      </p:sp>
      <p:sp>
        <p:nvSpPr>
          <p:cNvPr id="61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净利润驱动树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44589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KPI DRIVER TREE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7865999" y="673132"/>
            <a:ext cx="3754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把利润拆到可以落实到人的六个驱动因子，看清增长从哪来、被什么吃掉</a:t>
            </a:r>
          </a:p>
        </p:txBody>
      </p:sp>
      <p:sp>
        <p:nvSpPr>
          <p:cNvPr id="10" name="th-结果指标"/>
          <p:cNvSpPr txBox="1"/>
          <p:nvPr/>
        </p:nvSpPr>
        <p:spPr>
          <a:xfrm>
            <a:off x="941070" y="1457166"/>
            <a:ext cx="5175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结果指标</a:t>
            </a:r>
          </a:p>
        </p:txBody>
      </p:sp>
      <p:sp>
        <p:nvSpPr>
          <p:cNvPr id="11" name="th-一级拆解"/>
          <p:cNvSpPr txBox="1"/>
          <p:nvPr/>
        </p:nvSpPr>
        <p:spPr>
          <a:xfrm>
            <a:off x="3036570" y="1457166"/>
            <a:ext cx="5175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一级拆解</a:t>
            </a:r>
          </a:p>
        </p:txBody>
      </p:sp>
      <p:sp>
        <p:nvSpPr>
          <p:cNvPr id="12" name="th-驱动因子"/>
          <p:cNvSpPr txBox="1"/>
          <p:nvPr/>
        </p:nvSpPr>
        <p:spPr>
          <a:xfrm>
            <a:off x="5195570" y="1457166"/>
            <a:ext cx="5175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驱动因子</a:t>
            </a:r>
          </a:p>
        </p:txBody>
      </p:sp>
      <p:sp>
        <p:nvSpPr>
          <p:cNvPr id="13" name="th-对利润的影响（百万元）"/>
          <p:cNvSpPr txBox="1"/>
          <p:nvPr/>
        </p:nvSpPr>
        <p:spPr>
          <a:xfrm>
            <a:off x="7354570" y="1457166"/>
            <a:ext cx="12731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对利润的影响（百万元）</a:t>
            </a:r>
          </a:p>
        </p:txBody>
      </p:sp>
      <p:sp>
        <p:nvSpPr>
          <p:cNvPr id="14" name="th-负责人"/>
          <p:cNvSpPr txBox="1"/>
          <p:nvPr/>
        </p:nvSpPr>
        <p:spPr>
          <a:xfrm>
            <a:off x="10402570" y="1457166"/>
            <a:ext cx="4095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负责人</a:t>
            </a:r>
          </a:p>
        </p:txBody>
      </p:sp>
      <p:sp>
        <p:nvSpPr>
          <p:cNvPr id="15" name="fx"/>
          <p:cNvSpPr/>
          <p:nvPr/>
        </p:nvSpPr>
        <p:spPr>
          <a:xfrm>
            <a:off x="952500" y="1778000"/>
            <a:ext cx="3683000" cy="482600"/>
          </a:xfrm>
          <a:custGeom>
            <a:avLst/>
            <a:gdLst/>
            <a:ahLst/>
            <a:cxnLst/>
            <a:rect l="0" t="0" r="r" b="b"/>
            <a:pathLst>
              <a:path w="3683000" h="482600">
                <a:moveTo>
                  <a:pt x="101600" y="0"/>
                </a:moveTo>
                <a:lnTo>
                  <a:pt x="3581400" y="0"/>
                </a:lnTo>
                <a:cubicBezTo>
                  <a:pt x="3637534" y="0"/>
                  <a:pt x="3683000" y="45466"/>
                  <a:pt x="3683000" y="101600"/>
                </a:cubicBezTo>
                <a:lnTo>
                  <a:pt x="3683000" y="381000"/>
                </a:lnTo>
                <a:cubicBezTo>
                  <a:pt x="3683000" y="437134"/>
                  <a:pt x="3637534" y="482600"/>
                  <a:pt x="35814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>
              <a:alpha val="70000"/>
            </a:srgbClr>
          </a:solidFill>
          <a:ln w="6350" cap="rnd">
            <a:solidFill>
              <a:srgbClr val="1B5AA8">
                <a:alpha val="2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fx-1"/>
          <p:cNvSpPr txBox="1"/>
          <p:nvPr/>
        </p:nvSpPr>
        <p:spPr>
          <a:xfrm>
            <a:off x="1092708" y="1855724"/>
            <a:ext cx="1604391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净利润 = 营业收入 − 经营成本</a:t>
            </a:r>
          </a:p>
        </p:txBody>
      </p:sp>
      <p:sp>
        <p:nvSpPr>
          <p:cNvPr id="17" name="fx-2"/>
          <p:cNvSpPr txBox="1"/>
          <p:nvPr/>
        </p:nvSpPr>
        <p:spPr>
          <a:xfrm>
            <a:off x="1093470" y="2041366"/>
            <a:ext cx="21951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营业收入 ≈ 客户数 × 客单价 × (1 + 复购率)</a:t>
            </a:r>
          </a:p>
        </p:txBody>
      </p:sp>
      <p:sp>
        <p:nvSpPr>
          <p:cNvPr id="18" name="c1-1"/>
          <p:cNvSpPr/>
          <p:nvPr/>
        </p:nvSpPr>
        <p:spPr>
          <a:xfrm>
            <a:off x="2540000" y="2692400"/>
            <a:ext cx="508000" cy="990600"/>
          </a:xfrm>
          <a:custGeom>
            <a:avLst/>
            <a:gdLst/>
            <a:ahLst/>
            <a:cxnLst/>
            <a:rect l="0" t="0" r="r" b="b"/>
            <a:pathLst>
              <a:path w="508000" h="990600">
                <a:moveTo>
                  <a:pt x="0" y="990600"/>
                </a:moveTo>
                <a:lnTo>
                  <a:pt x="152400" y="990600"/>
                </a:lnTo>
                <a:quadBezTo>
                  <a:pt x="254000" y="990600"/>
                  <a:pt x="254000" y="889000"/>
                </a:quadBezTo>
                <a:lnTo>
                  <a:pt x="254000" y="101600"/>
                </a:lnTo>
                <a:quadBezTo>
                  <a:pt x="254000" y="0"/>
                  <a:pt x="355600" y="0"/>
                </a:quadBezTo>
                <a:lnTo>
                  <a:pt x="508000" y="0"/>
                </a:lnTo>
              </a:path>
            </a:pathLst>
          </a:custGeom>
          <a:noFill/>
          <a:ln w="15240" cap="rnd">
            <a:solidFill>
              <a:srgbClr val="1B5AA8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c1-2"/>
          <p:cNvSpPr/>
          <p:nvPr/>
        </p:nvSpPr>
        <p:spPr>
          <a:xfrm>
            <a:off x="2540000" y="3683000"/>
            <a:ext cx="508000" cy="990600"/>
          </a:xfrm>
          <a:custGeom>
            <a:avLst/>
            <a:gdLst/>
            <a:ahLst/>
            <a:cxnLst/>
            <a:rect l="0" t="0" r="r" b="b"/>
            <a:pathLst>
              <a:path w="508000" h="990600">
                <a:moveTo>
                  <a:pt x="0" y="0"/>
                </a:moveTo>
                <a:lnTo>
                  <a:pt x="152400" y="0"/>
                </a:lnTo>
                <a:quadBezTo>
                  <a:pt x="254000" y="0"/>
                  <a:pt x="254000" y="101600"/>
                </a:quadBezTo>
                <a:lnTo>
                  <a:pt x="254000" y="889000"/>
                </a:lnTo>
                <a:quadBezTo>
                  <a:pt x="254000" y="990600"/>
                  <a:pt x="355600" y="990600"/>
                </a:quadBezTo>
                <a:lnTo>
                  <a:pt x="508000" y="990600"/>
                </a:lnTo>
              </a:path>
            </a:pathLst>
          </a:custGeom>
          <a:noFill/>
          <a:ln w="15240" cap="rnd">
            <a:solidFill>
              <a:srgbClr val="1B5AA8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c2-1"/>
          <p:cNvSpPr/>
          <p:nvPr/>
        </p:nvSpPr>
        <p:spPr>
          <a:xfrm>
            <a:off x="4635500" y="2032000"/>
            <a:ext cx="571500" cy="660400"/>
          </a:xfrm>
          <a:custGeom>
            <a:avLst/>
            <a:gdLst/>
            <a:ahLst/>
            <a:cxnLst/>
            <a:rect l="0" t="0" r="r" b="b"/>
            <a:pathLst>
              <a:path w="571500" h="660400">
                <a:moveTo>
                  <a:pt x="0" y="660400"/>
                </a:moveTo>
                <a:lnTo>
                  <a:pt x="184150" y="660400"/>
                </a:lnTo>
                <a:quadBezTo>
                  <a:pt x="285750" y="660400"/>
                  <a:pt x="285750" y="558800"/>
                </a:quadBezTo>
                <a:lnTo>
                  <a:pt x="285750" y="101600"/>
                </a:lnTo>
                <a:quadBezTo>
                  <a:pt x="285750" y="0"/>
                  <a:pt x="387350" y="0"/>
                </a:quadBezTo>
                <a:lnTo>
                  <a:pt x="571500" y="0"/>
                </a:lnTo>
              </a:path>
            </a:pathLst>
          </a:custGeom>
          <a:noFill/>
          <a:ln w="12700" cap="rnd">
            <a:solidFill>
              <a:srgbClr val="1B5AA8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c2-2"/>
          <p:cNvSpPr/>
          <p:nvPr/>
        </p:nvSpPr>
        <p:spPr>
          <a:xfrm>
            <a:off x="4635500" y="2692400"/>
            <a:ext cx="571500" cy="3175"/>
          </a:xfrm>
          <a:custGeom>
            <a:avLst/>
            <a:gdLst/>
            <a:ahLst/>
            <a:cxnLst/>
            <a:rect l="0" t="0" r="r" b="b"/>
            <a:pathLst>
              <a:path w="571500" h="3175">
                <a:moveTo>
                  <a:pt x="0" y="0"/>
                </a:moveTo>
                <a:lnTo>
                  <a:pt x="571500" y="0"/>
                </a:lnTo>
              </a:path>
            </a:pathLst>
          </a:custGeom>
          <a:noFill/>
          <a:ln w="12700" cap="rnd">
            <a:solidFill>
              <a:srgbClr val="1B5AA8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c2-3"/>
          <p:cNvSpPr/>
          <p:nvPr/>
        </p:nvSpPr>
        <p:spPr>
          <a:xfrm>
            <a:off x="4635500" y="2692400"/>
            <a:ext cx="571500" cy="660400"/>
          </a:xfrm>
          <a:custGeom>
            <a:avLst/>
            <a:gdLst/>
            <a:ahLst/>
            <a:cxnLst/>
            <a:rect l="0" t="0" r="r" b="b"/>
            <a:pathLst>
              <a:path w="571500" h="660400">
                <a:moveTo>
                  <a:pt x="0" y="0"/>
                </a:moveTo>
                <a:lnTo>
                  <a:pt x="184150" y="0"/>
                </a:lnTo>
                <a:quadBezTo>
                  <a:pt x="285750" y="0"/>
                  <a:pt x="285750" y="101600"/>
                </a:quadBezTo>
                <a:lnTo>
                  <a:pt x="285750" y="558800"/>
                </a:lnTo>
                <a:quadBezTo>
                  <a:pt x="285750" y="660400"/>
                  <a:pt x="387350" y="660400"/>
                </a:quadBezTo>
                <a:lnTo>
                  <a:pt x="571500" y="660400"/>
                </a:lnTo>
              </a:path>
            </a:pathLst>
          </a:custGeom>
          <a:noFill/>
          <a:ln w="12700" cap="rnd">
            <a:solidFill>
              <a:srgbClr val="1B5AA8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c2-4"/>
          <p:cNvSpPr/>
          <p:nvPr/>
        </p:nvSpPr>
        <p:spPr>
          <a:xfrm>
            <a:off x="4635500" y="4013200"/>
            <a:ext cx="571500" cy="660400"/>
          </a:xfrm>
          <a:custGeom>
            <a:avLst/>
            <a:gdLst/>
            <a:ahLst/>
            <a:cxnLst/>
            <a:rect l="0" t="0" r="r" b="b"/>
            <a:pathLst>
              <a:path w="571500" h="660400">
                <a:moveTo>
                  <a:pt x="0" y="660400"/>
                </a:moveTo>
                <a:lnTo>
                  <a:pt x="184150" y="660400"/>
                </a:lnTo>
                <a:quadBezTo>
                  <a:pt x="285750" y="660400"/>
                  <a:pt x="285750" y="558800"/>
                </a:quadBezTo>
                <a:lnTo>
                  <a:pt x="285750" y="101600"/>
                </a:lnTo>
                <a:quadBezTo>
                  <a:pt x="285750" y="0"/>
                  <a:pt x="387350" y="0"/>
                </a:quadBezTo>
                <a:lnTo>
                  <a:pt x="571500" y="0"/>
                </a:lnTo>
              </a:path>
            </a:pathLst>
          </a:custGeom>
          <a:noFill/>
          <a:ln w="12700" cap="rnd">
            <a:solidFill>
              <a:srgbClr val="3985CD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c2-5"/>
          <p:cNvSpPr/>
          <p:nvPr/>
        </p:nvSpPr>
        <p:spPr>
          <a:xfrm>
            <a:off x="4635500" y="4673600"/>
            <a:ext cx="571500" cy="3175"/>
          </a:xfrm>
          <a:custGeom>
            <a:avLst/>
            <a:gdLst/>
            <a:ahLst/>
            <a:cxnLst/>
            <a:rect l="0" t="0" r="r" b="b"/>
            <a:pathLst>
              <a:path w="571500" h="3175">
                <a:moveTo>
                  <a:pt x="0" y="0"/>
                </a:moveTo>
                <a:lnTo>
                  <a:pt x="571500" y="0"/>
                </a:lnTo>
              </a:path>
            </a:pathLst>
          </a:custGeom>
          <a:noFill/>
          <a:ln w="12700" cap="rnd">
            <a:solidFill>
              <a:srgbClr val="3985CD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c2-6"/>
          <p:cNvSpPr/>
          <p:nvPr/>
        </p:nvSpPr>
        <p:spPr>
          <a:xfrm>
            <a:off x="4635500" y="4673600"/>
            <a:ext cx="571500" cy="660400"/>
          </a:xfrm>
          <a:custGeom>
            <a:avLst/>
            <a:gdLst/>
            <a:ahLst/>
            <a:cxnLst/>
            <a:rect l="0" t="0" r="r" b="b"/>
            <a:pathLst>
              <a:path w="571500" h="660400">
                <a:moveTo>
                  <a:pt x="0" y="0"/>
                </a:moveTo>
                <a:lnTo>
                  <a:pt x="184150" y="0"/>
                </a:lnTo>
                <a:quadBezTo>
                  <a:pt x="285750" y="0"/>
                  <a:pt x="285750" y="101600"/>
                </a:quadBezTo>
                <a:lnTo>
                  <a:pt x="285750" y="558800"/>
                </a:lnTo>
                <a:quadBezTo>
                  <a:pt x="285750" y="660400"/>
                  <a:pt x="387350" y="660400"/>
                </a:quadBezTo>
                <a:lnTo>
                  <a:pt x="571500" y="660400"/>
                </a:lnTo>
              </a:path>
            </a:pathLst>
          </a:custGeom>
          <a:noFill/>
          <a:ln w="12700" cap="rnd">
            <a:solidFill>
              <a:srgbClr val="3985CD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root"/>
          <p:cNvSpPr/>
          <p:nvPr/>
        </p:nvSpPr>
        <p:spPr>
          <a:xfrm>
            <a:off x="952500" y="3270250"/>
            <a:ext cx="1587500" cy="825500"/>
          </a:xfrm>
          <a:custGeom>
            <a:avLst/>
            <a:gdLst/>
            <a:ahLst/>
            <a:cxnLst/>
            <a:rect l="0" t="0" r="r" b="b"/>
            <a:pathLst>
              <a:path w="1587500" h="825500">
                <a:moveTo>
                  <a:pt x="114300" y="0"/>
                </a:moveTo>
                <a:lnTo>
                  <a:pt x="1473200" y="0"/>
                </a:lnTo>
                <a:cubicBezTo>
                  <a:pt x="1536319" y="0"/>
                  <a:pt x="1587500" y="51181"/>
                  <a:pt x="1587500" y="114300"/>
                </a:cubicBezTo>
                <a:lnTo>
                  <a:pt x="1587500" y="711200"/>
                </a:lnTo>
                <a:cubicBezTo>
                  <a:pt x="1587500" y="774319"/>
                  <a:pt x="1536319" y="825500"/>
                  <a:pt x="1473200" y="825500"/>
                </a:cubicBezTo>
                <a:lnTo>
                  <a:pt x="114300" y="825500"/>
                </a:lnTo>
                <a:cubicBezTo>
                  <a:pt x="51181" y="825500"/>
                  <a:pt x="0" y="774319"/>
                  <a:pt x="0" y="7112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root-n"/>
          <p:cNvSpPr txBox="1"/>
          <p:nvPr/>
        </p:nvSpPr>
        <p:spPr>
          <a:xfrm>
            <a:off x="1115822" y="3470497"/>
            <a:ext cx="499110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净利润</a:t>
            </a:r>
          </a:p>
        </p:txBody>
      </p:sp>
      <p:sp>
        <p:nvSpPr>
          <p:cNvPr id="28" name="root-v"/>
          <p:cNvSpPr txBox="1"/>
          <p:nvPr/>
        </p:nvSpPr>
        <p:spPr>
          <a:xfrm>
            <a:off x="1110488" y="3644202"/>
            <a:ext cx="78740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1.20 亿</a:t>
            </a:r>
          </a:p>
        </p:txBody>
      </p:sp>
      <p:sp>
        <p:nvSpPr>
          <p:cNvPr id="29" name="root-g"/>
          <p:cNvSpPr txBox="1"/>
          <p:nvPr/>
        </p:nvSpPr>
        <p:spPr>
          <a:xfrm>
            <a:off x="2085848" y="3709924"/>
            <a:ext cx="32664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+15%</a:t>
            </a:r>
          </a:p>
        </p:txBody>
      </p:sp>
      <p:sp>
        <p:nvSpPr>
          <p:cNvPr id="30" name="l2-1"/>
          <p:cNvSpPr/>
          <p:nvPr/>
        </p:nvSpPr>
        <p:spPr>
          <a:xfrm>
            <a:off x="3048000" y="2343150"/>
            <a:ext cx="1587500" cy="698500"/>
          </a:xfrm>
          <a:custGeom>
            <a:avLst/>
            <a:gdLst/>
            <a:ahLst/>
            <a:cxnLst/>
            <a:rect l="0" t="0" r="r" b="b"/>
            <a:pathLst>
              <a:path w="1587500" h="698500">
                <a:moveTo>
                  <a:pt x="114300" y="0"/>
                </a:moveTo>
                <a:lnTo>
                  <a:pt x="1473200" y="0"/>
                </a:lnTo>
                <a:cubicBezTo>
                  <a:pt x="1536319" y="0"/>
                  <a:pt x="1587500" y="51181"/>
                  <a:pt x="1587500" y="114300"/>
                </a:cubicBezTo>
                <a:lnTo>
                  <a:pt x="1587500" y="584200"/>
                </a:lnTo>
                <a:cubicBezTo>
                  <a:pt x="1587500" y="647319"/>
                  <a:pt x="1536319" y="698500"/>
                  <a:pt x="1473200" y="698500"/>
                </a:cubicBezTo>
                <a:lnTo>
                  <a:pt x="114300" y="698500"/>
                </a:lnTo>
                <a:cubicBezTo>
                  <a:pt x="51181" y="698500"/>
                  <a:pt x="0" y="647319"/>
                  <a:pt x="0" y="5842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366EB2"/>
              </a:gs>
              <a:gs pos="100000">
                <a:srgbClr val="1B5AA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l2-1-n"/>
          <p:cNvSpPr txBox="1"/>
          <p:nvPr/>
        </p:nvSpPr>
        <p:spPr>
          <a:xfrm>
            <a:off x="3211322" y="2479897"/>
            <a:ext cx="629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营业收入</a:t>
            </a:r>
          </a:p>
        </p:txBody>
      </p:sp>
      <p:sp>
        <p:nvSpPr>
          <p:cNvPr id="32" name="l2-1-v"/>
          <p:cNvSpPr txBox="1"/>
          <p:nvPr/>
        </p:nvSpPr>
        <p:spPr>
          <a:xfrm>
            <a:off x="3205988" y="2653602"/>
            <a:ext cx="78740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4.30 亿</a:t>
            </a:r>
          </a:p>
        </p:txBody>
      </p:sp>
      <p:sp>
        <p:nvSpPr>
          <p:cNvPr id="33" name="l2-1-g"/>
          <p:cNvSpPr txBox="1"/>
          <p:nvPr/>
        </p:nvSpPr>
        <p:spPr>
          <a:xfrm>
            <a:off x="4181348" y="2719324"/>
            <a:ext cx="32664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+16%</a:t>
            </a:r>
          </a:p>
        </p:txBody>
      </p:sp>
      <p:sp>
        <p:nvSpPr>
          <p:cNvPr id="34" name="l2-2"/>
          <p:cNvSpPr/>
          <p:nvPr/>
        </p:nvSpPr>
        <p:spPr>
          <a:xfrm>
            <a:off x="3048000" y="4324350"/>
            <a:ext cx="1587500" cy="698500"/>
          </a:xfrm>
          <a:custGeom>
            <a:avLst/>
            <a:gdLst/>
            <a:ahLst/>
            <a:cxnLst/>
            <a:rect l="0" t="0" r="r" b="b"/>
            <a:pathLst>
              <a:path w="1587500" h="698500">
                <a:moveTo>
                  <a:pt x="114300" y="0"/>
                </a:moveTo>
                <a:lnTo>
                  <a:pt x="1473200" y="0"/>
                </a:lnTo>
                <a:cubicBezTo>
                  <a:pt x="1536319" y="0"/>
                  <a:pt x="1587500" y="51181"/>
                  <a:pt x="1587500" y="114300"/>
                </a:cubicBezTo>
                <a:lnTo>
                  <a:pt x="1587500" y="584200"/>
                </a:lnTo>
                <a:cubicBezTo>
                  <a:pt x="1587500" y="647319"/>
                  <a:pt x="1536319" y="698500"/>
                  <a:pt x="1473200" y="698500"/>
                </a:cubicBezTo>
                <a:lnTo>
                  <a:pt x="114300" y="698500"/>
                </a:lnTo>
                <a:cubicBezTo>
                  <a:pt x="51181" y="698500"/>
                  <a:pt x="0" y="647319"/>
                  <a:pt x="0" y="5842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5194D3"/>
              </a:gs>
              <a:gs pos="100000">
                <a:srgbClr val="3985CD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l2-2-n"/>
          <p:cNvSpPr txBox="1"/>
          <p:nvPr/>
        </p:nvSpPr>
        <p:spPr>
          <a:xfrm>
            <a:off x="3211322" y="4461097"/>
            <a:ext cx="629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经营成本</a:t>
            </a:r>
          </a:p>
        </p:txBody>
      </p:sp>
      <p:sp>
        <p:nvSpPr>
          <p:cNvPr id="36" name="l2-2-v"/>
          <p:cNvSpPr txBox="1"/>
          <p:nvPr/>
        </p:nvSpPr>
        <p:spPr>
          <a:xfrm>
            <a:off x="3205988" y="4634802"/>
            <a:ext cx="78740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3.10 亿</a:t>
            </a:r>
          </a:p>
        </p:txBody>
      </p:sp>
      <p:sp>
        <p:nvSpPr>
          <p:cNvPr id="37" name="l2-2-g"/>
          <p:cNvSpPr txBox="1"/>
          <p:nvPr/>
        </p:nvSpPr>
        <p:spPr>
          <a:xfrm>
            <a:off x="4181348" y="4700524"/>
            <a:ext cx="32664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+17%</a:t>
            </a:r>
          </a:p>
        </p:txBody>
      </p:sp>
      <p:cxnSp>
        <p:nvCxnSpPr>
          <p:cNvPr id="38" name="im-axis"/>
          <p:cNvCxnSpPr/>
          <p:nvPr/>
        </p:nvCxnSpPr>
        <p:spPr>
          <a:xfrm>
            <a:off x="8572500" y="1676400"/>
            <a:ext cx="0" cy="3987800"/>
          </a:xfrm>
          <a:prstGeom prst="line">
            <a:avLst/>
          </a:prstGeom>
          <a:ln w="889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l3-1"/>
          <p:cNvSpPr/>
          <p:nvPr/>
        </p:nvSpPr>
        <p:spPr>
          <a:xfrm>
            <a:off x="5207000" y="1765300"/>
            <a:ext cx="1587500" cy="533400"/>
          </a:xfrm>
          <a:custGeom>
            <a:avLst/>
            <a:gdLst/>
            <a:ahLst/>
            <a:cxnLst/>
            <a:rect l="0" t="0" r="r" b="b"/>
            <a:pathLst>
              <a:path w="1587500" h="533400">
                <a:moveTo>
                  <a:pt x="114300" y="0"/>
                </a:moveTo>
                <a:lnTo>
                  <a:pt x="1473200" y="0"/>
                </a:lnTo>
                <a:cubicBezTo>
                  <a:pt x="1536319" y="0"/>
                  <a:pt x="1587500" y="51181"/>
                  <a:pt x="1587500" y="114300"/>
                </a:cubicBezTo>
                <a:lnTo>
                  <a:pt x="1587500" y="419100"/>
                </a:lnTo>
                <a:cubicBezTo>
                  <a:pt x="1587500" y="482219"/>
                  <a:pt x="1536319" y="533400"/>
                  <a:pt x="1473200" y="533400"/>
                </a:cubicBezTo>
                <a:lnTo>
                  <a:pt x="114300" y="533400"/>
                </a:lnTo>
                <a:cubicBezTo>
                  <a:pt x="51181" y="533400"/>
                  <a:pt x="0" y="482219"/>
                  <a:pt x="0" y="4191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l3-1-b"/>
          <p:cNvSpPr/>
          <p:nvPr/>
        </p:nvSpPr>
        <p:spPr>
          <a:xfrm>
            <a:off x="5207000" y="1765300"/>
            <a:ext cx="38100" cy="533400"/>
          </a:xfrm>
          <a:custGeom>
            <a:avLst/>
            <a:gdLst/>
            <a:ahLst/>
            <a:cxnLst/>
            <a:rect l="0" t="0" r="r" b="b"/>
            <a:pathLst>
              <a:path w="38100" h="5334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514350"/>
                </a:lnTo>
                <a:cubicBezTo>
                  <a:pt x="38100" y="524891"/>
                  <a:pt x="29591" y="533400"/>
                  <a:pt x="19050" y="533400"/>
                </a:cubicBezTo>
                <a:lnTo>
                  <a:pt x="19050" y="533400"/>
                </a:lnTo>
                <a:cubicBezTo>
                  <a:pt x="8509" y="533400"/>
                  <a:pt x="0" y="524891"/>
                  <a:pt x="0" y="5143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l3-1-n"/>
          <p:cNvSpPr txBox="1"/>
          <p:nvPr/>
        </p:nvSpPr>
        <p:spPr>
          <a:xfrm>
            <a:off x="5370322" y="1819497"/>
            <a:ext cx="499110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客户数</a:t>
            </a:r>
          </a:p>
        </p:txBody>
      </p:sp>
      <p:sp>
        <p:nvSpPr>
          <p:cNvPr id="42" name="l3-1-v"/>
          <p:cNvSpPr txBox="1"/>
          <p:nvPr/>
        </p:nvSpPr>
        <p:spPr>
          <a:xfrm>
            <a:off x="5364988" y="1993202"/>
            <a:ext cx="881761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1,326 家</a:t>
            </a:r>
          </a:p>
        </p:txBody>
      </p:sp>
      <p:sp>
        <p:nvSpPr>
          <p:cNvPr id="43" name="l3-1-g"/>
          <p:cNvSpPr txBox="1"/>
          <p:nvPr/>
        </p:nvSpPr>
        <p:spPr>
          <a:xfrm>
            <a:off x="6340348" y="2058924"/>
            <a:ext cx="32664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15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+24%</a:t>
            </a:r>
          </a:p>
        </p:txBody>
      </p:sp>
      <p:sp>
        <p:nvSpPr>
          <p:cNvPr id="44" name="im-1"/>
          <p:cNvSpPr/>
          <p:nvPr/>
        </p:nvSpPr>
        <p:spPr>
          <a:xfrm>
            <a:off x="8572500" y="1943100"/>
            <a:ext cx="1061720" cy="177800"/>
          </a:xfrm>
          <a:custGeom>
            <a:avLst/>
            <a:gdLst/>
            <a:ahLst/>
            <a:cxnLst/>
            <a:rect l="0" t="0" r="r" b="b"/>
            <a:pathLst>
              <a:path w="1061720" h="177800">
                <a:moveTo>
                  <a:pt x="50800" y="0"/>
                </a:moveTo>
                <a:lnTo>
                  <a:pt x="1010920" y="0"/>
                </a:lnTo>
                <a:cubicBezTo>
                  <a:pt x="1038987" y="0"/>
                  <a:pt x="1061720" y="22733"/>
                  <a:pt x="1061720" y="50800"/>
                </a:cubicBezTo>
                <a:lnTo>
                  <a:pt x="1061720" y="127000"/>
                </a:lnTo>
                <a:cubicBezTo>
                  <a:pt x="1061720" y="155067"/>
                  <a:pt x="1038987" y="177800"/>
                  <a:pt x="1010920" y="177800"/>
                </a:cubicBezTo>
                <a:lnTo>
                  <a:pt x="50800" y="177800"/>
                </a:lnTo>
                <a:cubicBezTo>
                  <a:pt x="22733" y="177800"/>
                  <a:pt x="0" y="155067"/>
                  <a:pt x="0" y="1270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4E79B5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imv-1"/>
          <p:cNvSpPr txBox="1"/>
          <p:nvPr/>
        </p:nvSpPr>
        <p:spPr>
          <a:xfrm>
            <a:off x="9696704" y="1935290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+38</a:t>
            </a:r>
          </a:p>
        </p:txBody>
      </p:sp>
      <p:sp>
        <p:nvSpPr>
          <p:cNvPr id="46" name="ow-1"/>
          <p:cNvSpPr/>
          <p:nvPr/>
        </p:nvSpPr>
        <p:spPr>
          <a:xfrm>
            <a:off x="10388600" y="1917700"/>
            <a:ext cx="228600" cy="228600"/>
          </a:xfrm>
          <a:prstGeom prst="ellipse">
            <a:avLst/>
          </a:prstGeom>
          <a:solidFill>
            <a:srgbClr val="2E77C2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icon-people"/>
          <p:cNvSpPr/>
          <p:nvPr/>
        </p:nvSpPr>
        <p:spPr>
          <a:xfrm>
            <a:off x="10462895" y="2044382"/>
            <a:ext cx="80962" cy="22860"/>
          </a:xfrm>
          <a:custGeom>
            <a:avLst/>
            <a:gdLst/>
            <a:ahLst/>
            <a:cxnLst/>
            <a:rect l="0" t="0" r="r" b="b"/>
            <a:pathLst>
              <a:path w="80962" h="22860">
                <a:moveTo>
                  <a:pt x="0" y="22860"/>
                </a:moveTo>
                <a:cubicBezTo>
                  <a:pt x="0" y="8573"/>
                  <a:pt x="11938" y="0"/>
                  <a:pt x="25717" y="0"/>
                </a:cubicBezTo>
                <a:cubicBezTo>
                  <a:pt x="39497" y="0"/>
                  <a:pt x="51435" y="8573"/>
                  <a:pt x="51435" y="22860"/>
                </a:cubicBezTo>
                <a:moveTo>
                  <a:pt x="60960" y="1905"/>
                </a:moveTo>
                <a:cubicBezTo>
                  <a:pt x="73342" y="3366"/>
                  <a:pt x="80962" y="11875"/>
                  <a:pt x="80962" y="22860"/>
                </a:cubicBezTo>
              </a:path>
            </a:pathLst>
          </a:custGeom>
          <a:noFill/>
          <a:ln w="1143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icon-people"/>
          <p:cNvSpPr/>
          <p:nvPr/>
        </p:nvSpPr>
        <p:spPr>
          <a:xfrm>
            <a:off x="10473372" y="2003425"/>
            <a:ext cx="30480" cy="30480"/>
          </a:xfrm>
          <a:prstGeom prst="ellipse">
            <a:avLst/>
          </a:prstGeom>
          <a:noFill/>
          <a:ln w="1143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icon-people"/>
          <p:cNvSpPr/>
          <p:nvPr/>
        </p:nvSpPr>
        <p:spPr>
          <a:xfrm>
            <a:off x="10514330" y="2003425"/>
            <a:ext cx="24765" cy="24765"/>
          </a:xfrm>
          <a:prstGeom prst="ellipse">
            <a:avLst/>
          </a:prstGeom>
          <a:noFill/>
          <a:ln w="1143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owt-1"/>
          <p:cNvSpPr txBox="1"/>
          <p:nvPr/>
        </p:nvSpPr>
        <p:spPr>
          <a:xfrm>
            <a:off x="10668508" y="1944624"/>
            <a:ext cx="5080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销售副总</a:t>
            </a:r>
          </a:p>
        </p:txBody>
      </p:sp>
      <p:cxnSp>
        <p:nvCxnSpPr>
          <p:cNvPr id="51" name="sep-1"/>
          <p:cNvCxnSpPr/>
          <p:nvPr/>
        </p:nvCxnSpPr>
        <p:spPr>
          <a:xfrm>
            <a:off x="7366000" y="2362200"/>
            <a:ext cx="3873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l3-2"/>
          <p:cNvSpPr/>
          <p:nvPr/>
        </p:nvSpPr>
        <p:spPr>
          <a:xfrm>
            <a:off x="5207000" y="2425700"/>
            <a:ext cx="1587500" cy="533400"/>
          </a:xfrm>
          <a:custGeom>
            <a:avLst/>
            <a:gdLst/>
            <a:ahLst/>
            <a:cxnLst/>
            <a:rect l="0" t="0" r="r" b="b"/>
            <a:pathLst>
              <a:path w="1587500" h="533400">
                <a:moveTo>
                  <a:pt x="114300" y="0"/>
                </a:moveTo>
                <a:lnTo>
                  <a:pt x="1473200" y="0"/>
                </a:lnTo>
                <a:cubicBezTo>
                  <a:pt x="1536319" y="0"/>
                  <a:pt x="1587500" y="51181"/>
                  <a:pt x="1587500" y="114300"/>
                </a:cubicBezTo>
                <a:lnTo>
                  <a:pt x="1587500" y="419100"/>
                </a:lnTo>
                <a:cubicBezTo>
                  <a:pt x="1587500" y="482219"/>
                  <a:pt x="1536319" y="533400"/>
                  <a:pt x="1473200" y="533400"/>
                </a:cubicBezTo>
                <a:lnTo>
                  <a:pt x="114300" y="533400"/>
                </a:lnTo>
                <a:cubicBezTo>
                  <a:pt x="51181" y="533400"/>
                  <a:pt x="0" y="482219"/>
                  <a:pt x="0" y="4191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l3-2-b"/>
          <p:cNvSpPr/>
          <p:nvPr/>
        </p:nvSpPr>
        <p:spPr>
          <a:xfrm>
            <a:off x="5207000" y="2425700"/>
            <a:ext cx="38100" cy="533400"/>
          </a:xfrm>
          <a:custGeom>
            <a:avLst/>
            <a:gdLst/>
            <a:ahLst/>
            <a:cxnLst/>
            <a:rect l="0" t="0" r="r" b="b"/>
            <a:pathLst>
              <a:path w="38100" h="5334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514350"/>
                </a:lnTo>
                <a:cubicBezTo>
                  <a:pt x="38100" y="524891"/>
                  <a:pt x="29591" y="533400"/>
                  <a:pt x="19050" y="533400"/>
                </a:cubicBezTo>
                <a:lnTo>
                  <a:pt x="19050" y="533400"/>
                </a:lnTo>
                <a:cubicBezTo>
                  <a:pt x="8509" y="533400"/>
                  <a:pt x="0" y="524891"/>
                  <a:pt x="0" y="5143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l3-2-n"/>
          <p:cNvSpPr txBox="1"/>
          <p:nvPr/>
        </p:nvSpPr>
        <p:spPr>
          <a:xfrm>
            <a:off x="5370322" y="2479897"/>
            <a:ext cx="499110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客单价</a:t>
            </a:r>
          </a:p>
        </p:txBody>
      </p:sp>
      <p:sp>
        <p:nvSpPr>
          <p:cNvPr id="55" name="l3-2-v"/>
          <p:cNvSpPr txBox="1"/>
          <p:nvPr/>
        </p:nvSpPr>
        <p:spPr>
          <a:xfrm>
            <a:off x="5364988" y="2653602"/>
            <a:ext cx="78740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33.5 万</a:t>
            </a:r>
          </a:p>
        </p:txBody>
      </p:sp>
      <p:sp>
        <p:nvSpPr>
          <p:cNvPr id="56" name="l3-2-g"/>
          <p:cNvSpPr txBox="1"/>
          <p:nvPr/>
        </p:nvSpPr>
        <p:spPr>
          <a:xfrm>
            <a:off x="6399149" y="271932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-5%</a:t>
            </a:r>
          </a:p>
        </p:txBody>
      </p:sp>
      <p:sp>
        <p:nvSpPr>
          <p:cNvPr id="57" name="im-2"/>
          <p:cNvSpPr/>
          <p:nvPr/>
        </p:nvSpPr>
        <p:spPr>
          <a:xfrm>
            <a:off x="8237220" y="2603500"/>
            <a:ext cx="335280" cy="177800"/>
          </a:xfrm>
          <a:custGeom>
            <a:avLst/>
            <a:gdLst/>
            <a:ahLst/>
            <a:cxnLst/>
            <a:rect l="0" t="0" r="r" b="b"/>
            <a:pathLst>
              <a:path w="335280" h="177800">
                <a:moveTo>
                  <a:pt x="50800" y="0"/>
                </a:moveTo>
                <a:lnTo>
                  <a:pt x="284480" y="0"/>
                </a:lnTo>
                <a:cubicBezTo>
                  <a:pt x="312547" y="0"/>
                  <a:pt x="335280" y="22733"/>
                  <a:pt x="335280" y="50800"/>
                </a:cubicBezTo>
                <a:lnTo>
                  <a:pt x="335280" y="127000"/>
                </a:lnTo>
                <a:cubicBezTo>
                  <a:pt x="335280" y="155067"/>
                  <a:pt x="312547" y="177800"/>
                  <a:pt x="284480" y="177800"/>
                </a:cubicBezTo>
                <a:lnTo>
                  <a:pt x="50800" y="177800"/>
                </a:lnTo>
                <a:cubicBezTo>
                  <a:pt x="22733" y="177800"/>
                  <a:pt x="0" y="155067"/>
                  <a:pt x="0" y="1270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E8946B"/>
              </a:gs>
              <a:gs pos="100000">
                <a:srgbClr val="E0703A"/>
              </a:gs>
            </a:gsLst>
            <a:lin ang="108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imv-2"/>
          <p:cNvSpPr txBox="1"/>
          <p:nvPr/>
        </p:nvSpPr>
        <p:spPr>
          <a:xfrm>
            <a:off x="7879842" y="2595690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-12</a:t>
            </a:r>
          </a:p>
        </p:txBody>
      </p:sp>
      <p:sp>
        <p:nvSpPr>
          <p:cNvPr id="59" name="ow-2"/>
          <p:cNvSpPr/>
          <p:nvPr/>
        </p:nvSpPr>
        <p:spPr>
          <a:xfrm>
            <a:off x="10388600" y="2578100"/>
            <a:ext cx="228600" cy="228600"/>
          </a:xfrm>
          <a:prstGeom prst="ellipse">
            <a:avLst/>
          </a:prstGeom>
          <a:solidFill>
            <a:srgbClr val="2E77C2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icon-people"/>
          <p:cNvSpPr/>
          <p:nvPr/>
        </p:nvSpPr>
        <p:spPr>
          <a:xfrm>
            <a:off x="10462895" y="2704782"/>
            <a:ext cx="80962" cy="22860"/>
          </a:xfrm>
          <a:custGeom>
            <a:avLst/>
            <a:gdLst/>
            <a:ahLst/>
            <a:cxnLst/>
            <a:rect l="0" t="0" r="r" b="b"/>
            <a:pathLst>
              <a:path w="80962" h="22860">
                <a:moveTo>
                  <a:pt x="0" y="22860"/>
                </a:moveTo>
                <a:cubicBezTo>
                  <a:pt x="0" y="8573"/>
                  <a:pt x="11938" y="0"/>
                  <a:pt x="25717" y="0"/>
                </a:cubicBezTo>
                <a:cubicBezTo>
                  <a:pt x="39497" y="0"/>
                  <a:pt x="51435" y="8573"/>
                  <a:pt x="51435" y="22860"/>
                </a:cubicBezTo>
                <a:moveTo>
                  <a:pt x="60960" y="1905"/>
                </a:moveTo>
                <a:cubicBezTo>
                  <a:pt x="73342" y="3366"/>
                  <a:pt x="80962" y="11875"/>
                  <a:pt x="80962" y="22860"/>
                </a:cubicBezTo>
              </a:path>
            </a:pathLst>
          </a:custGeom>
          <a:noFill/>
          <a:ln w="1143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icon-people"/>
          <p:cNvSpPr/>
          <p:nvPr/>
        </p:nvSpPr>
        <p:spPr>
          <a:xfrm>
            <a:off x="10473372" y="2663825"/>
            <a:ext cx="30480" cy="30480"/>
          </a:xfrm>
          <a:prstGeom prst="ellipse">
            <a:avLst/>
          </a:prstGeom>
          <a:noFill/>
          <a:ln w="1143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icon-people"/>
          <p:cNvSpPr/>
          <p:nvPr/>
        </p:nvSpPr>
        <p:spPr>
          <a:xfrm>
            <a:off x="10514330" y="2663825"/>
            <a:ext cx="24765" cy="24765"/>
          </a:xfrm>
          <a:prstGeom prst="ellipse">
            <a:avLst/>
          </a:prstGeom>
          <a:noFill/>
          <a:ln w="1143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owt-2"/>
          <p:cNvSpPr txBox="1"/>
          <p:nvPr/>
        </p:nvSpPr>
        <p:spPr>
          <a:xfrm>
            <a:off x="10668508" y="2605024"/>
            <a:ext cx="5080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产品总监</a:t>
            </a:r>
          </a:p>
        </p:txBody>
      </p:sp>
      <p:cxnSp>
        <p:nvCxnSpPr>
          <p:cNvPr id="64" name="sep-2"/>
          <p:cNvCxnSpPr/>
          <p:nvPr/>
        </p:nvCxnSpPr>
        <p:spPr>
          <a:xfrm>
            <a:off x="7366000" y="3022600"/>
            <a:ext cx="3873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" name="l3-3"/>
          <p:cNvSpPr/>
          <p:nvPr/>
        </p:nvSpPr>
        <p:spPr>
          <a:xfrm>
            <a:off x="5207000" y="3086100"/>
            <a:ext cx="1587500" cy="533400"/>
          </a:xfrm>
          <a:custGeom>
            <a:avLst/>
            <a:gdLst/>
            <a:ahLst/>
            <a:cxnLst/>
            <a:rect l="0" t="0" r="r" b="b"/>
            <a:pathLst>
              <a:path w="1587500" h="533400">
                <a:moveTo>
                  <a:pt x="114300" y="0"/>
                </a:moveTo>
                <a:lnTo>
                  <a:pt x="1473200" y="0"/>
                </a:lnTo>
                <a:cubicBezTo>
                  <a:pt x="1536319" y="0"/>
                  <a:pt x="1587500" y="51181"/>
                  <a:pt x="1587500" y="114300"/>
                </a:cubicBezTo>
                <a:lnTo>
                  <a:pt x="1587500" y="419100"/>
                </a:lnTo>
                <a:cubicBezTo>
                  <a:pt x="1587500" y="482219"/>
                  <a:pt x="1536319" y="533400"/>
                  <a:pt x="1473200" y="533400"/>
                </a:cubicBezTo>
                <a:lnTo>
                  <a:pt x="114300" y="533400"/>
                </a:lnTo>
                <a:cubicBezTo>
                  <a:pt x="51181" y="533400"/>
                  <a:pt x="0" y="482219"/>
                  <a:pt x="0" y="4191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l3-3-b"/>
          <p:cNvSpPr/>
          <p:nvPr/>
        </p:nvSpPr>
        <p:spPr>
          <a:xfrm>
            <a:off x="5207000" y="3086100"/>
            <a:ext cx="38100" cy="533400"/>
          </a:xfrm>
          <a:custGeom>
            <a:avLst/>
            <a:gdLst/>
            <a:ahLst/>
            <a:cxnLst/>
            <a:rect l="0" t="0" r="r" b="b"/>
            <a:pathLst>
              <a:path w="38100" h="5334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514350"/>
                </a:lnTo>
                <a:cubicBezTo>
                  <a:pt x="38100" y="524891"/>
                  <a:pt x="29591" y="533400"/>
                  <a:pt x="19050" y="533400"/>
                </a:cubicBezTo>
                <a:lnTo>
                  <a:pt x="19050" y="533400"/>
                </a:lnTo>
                <a:cubicBezTo>
                  <a:pt x="8509" y="533400"/>
                  <a:pt x="0" y="524891"/>
                  <a:pt x="0" y="5143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l3-3-n"/>
          <p:cNvSpPr txBox="1"/>
          <p:nvPr/>
        </p:nvSpPr>
        <p:spPr>
          <a:xfrm>
            <a:off x="5370322" y="3140297"/>
            <a:ext cx="499110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复购率</a:t>
            </a:r>
          </a:p>
        </p:txBody>
      </p:sp>
      <p:sp>
        <p:nvSpPr>
          <p:cNvPr id="68" name="l3-3-v"/>
          <p:cNvSpPr txBox="1"/>
          <p:nvPr/>
        </p:nvSpPr>
        <p:spPr>
          <a:xfrm>
            <a:off x="5364988" y="3314002"/>
            <a:ext cx="431673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46%</a:t>
            </a:r>
          </a:p>
        </p:txBody>
      </p:sp>
      <p:sp>
        <p:nvSpPr>
          <p:cNvPr id="69" name="l3-3-g"/>
          <p:cNvSpPr txBox="1"/>
          <p:nvPr/>
        </p:nvSpPr>
        <p:spPr>
          <a:xfrm>
            <a:off x="6340348" y="3379724"/>
            <a:ext cx="32664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15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+6pt</a:t>
            </a:r>
          </a:p>
        </p:txBody>
      </p:sp>
      <p:sp>
        <p:nvSpPr>
          <p:cNvPr id="70" name="im-3"/>
          <p:cNvSpPr/>
          <p:nvPr/>
        </p:nvSpPr>
        <p:spPr>
          <a:xfrm>
            <a:off x="8572500" y="3263900"/>
            <a:ext cx="419100" cy="177800"/>
          </a:xfrm>
          <a:custGeom>
            <a:avLst/>
            <a:gdLst/>
            <a:ahLst/>
            <a:cxnLst/>
            <a:rect l="0" t="0" r="r" b="b"/>
            <a:pathLst>
              <a:path w="419100" h="177800">
                <a:moveTo>
                  <a:pt x="50800" y="0"/>
                </a:moveTo>
                <a:lnTo>
                  <a:pt x="368300" y="0"/>
                </a:lnTo>
                <a:cubicBezTo>
                  <a:pt x="396367" y="0"/>
                  <a:pt x="419100" y="22733"/>
                  <a:pt x="419100" y="50800"/>
                </a:cubicBezTo>
                <a:lnTo>
                  <a:pt x="419100" y="127000"/>
                </a:lnTo>
                <a:cubicBezTo>
                  <a:pt x="419100" y="155067"/>
                  <a:pt x="396367" y="177800"/>
                  <a:pt x="368300" y="177800"/>
                </a:cubicBezTo>
                <a:lnTo>
                  <a:pt x="50800" y="177800"/>
                </a:lnTo>
                <a:cubicBezTo>
                  <a:pt x="22733" y="177800"/>
                  <a:pt x="0" y="155067"/>
                  <a:pt x="0" y="1270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4E79B5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imv-3"/>
          <p:cNvSpPr txBox="1"/>
          <p:nvPr/>
        </p:nvSpPr>
        <p:spPr>
          <a:xfrm>
            <a:off x="9054084" y="3256090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+15</a:t>
            </a:r>
          </a:p>
        </p:txBody>
      </p:sp>
      <p:sp>
        <p:nvSpPr>
          <p:cNvPr id="72" name="ow-3"/>
          <p:cNvSpPr/>
          <p:nvPr/>
        </p:nvSpPr>
        <p:spPr>
          <a:xfrm>
            <a:off x="10388600" y="3238500"/>
            <a:ext cx="228600" cy="228600"/>
          </a:xfrm>
          <a:prstGeom prst="ellipse">
            <a:avLst/>
          </a:prstGeom>
          <a:solidFill>
            <a:srgbClr val="2E77C2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icon-people"/>
          <p:cNvSpPr/>
          <p:nvPr/>
        </p:nvSpPr>
        <p:spPr>
          <a:xfrm>
            <a:off x="10462895" y="3365183"/>
            <a:ext cx="80962" cy="22860"/>
          </a:xfrm>
          <a:custGeom>
            <a:avLst/>
            <a:gdLst/>
            <a:ahLst/>
            <a:cxnLst/>
            <a:rect l="0" t="0" r="r" b="b"/>
            <a:pathLst>
              <a:path w="80962" h="22860">
                <a:moveTo>
                  <a:pt x="0" y="22860"/>
                </a:moveTo>
                <a:cubicBezTo>
                  <a:pt x="0" y="8572"/>
                  <a:pt x="11938" y="0"/>
                  <a:pt x="25717" y="0"/>
                </a:cubicBezTo>
                <a:cubicBezTo>
                  <a:pt x="39497" y="0"/>
                  <a:pt x="51435" y="8572"/>
                  <a:pt x="51435" y="22860"/>
                </a:cubicBezTo>
                <a:moveTo>
                  <a:pt x="60960" y="1905"/>
                </a:moveTo>
                <a:cubicBezTo>
                  <a:pt x="73342" y="3365"/>
                  <a:pt x="80962" y="11938"/>
                  <a:pt x="80962" y="22860"/>
                </a:cubicBezTo>
              </a:path>
            </a:pathLst>
          </a:custGeom>
          <a:noFill/>
          <a:ln w="1143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icon-people"/>
          <p:cNvSpPr/>
          <p:nvPr/>
        </p:nvSpPr>
        <p:spPr>
          <a:xfrm>
            <a:off x="10473372" y="3324225"/>
            <a:ext cx="30480" cy="30480"/>
          </a:xfrm>
          <a:prstGeom prst="ellipse">
            <a:avLst/>
          </a:prstGeom>
          <a:noFill/>
          <a:ln w="1143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icon-people"/>
          <p:cNvSpPr/>
          <p:nvPr/>
        </p:nvSpPr>
        <p:spPr>
          <a:xfrm>
            <a:off x="10514330" y="3324225"/>
            <a:ext cx="24765" cy="24765"/>
          </a:xfrm>
          <a:prstGeom prst="ellipse">
            <a:avLst/>
          </a:prstGeom>
          <a:noFill/>
          <a:ln w="1143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owt-3"/>
          <p:cNvSpPr txBox="1"/>
          <p:nvPr/>
        </p:nvSpPr>
        <p:spPr>
          <a:xfrm>
            <a:off x="10668508" y="3265424"/>
            <a:ext cx="5080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客户成功</a:t>
            </a:r>
          </a:p>
        </p:txBody>
      </p:sp>
      <p:cxnSp>
        <p:nvCxnSpPr>
          <p:cNvPr id="77" name="sep-3"/>
          <p:cNvCxnSpPr/>
          <p:nvPr/>
        </p:nvCxnSpPr>
        <p:spPr>
          <a:xfrm>
            <a:off x="7366000" y="3683000"/>
            <a:ext cx="3873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8" name="l3-4"/>
          <p:cNvSpPr/>
          <p:nvPr/>
        </p:nvSpPr>
        <p:spPr>
          <a:xfrm>
            <a:off x="5207000" y="3746500"/>
            <a:ext cx="1587500" cy="533400"/>
          </a:xfrm>
          <a:custGeom>
            <a:avLst/>
            <a:gdLst/>
            <a:ahLst/>
            <a:cxnLst/>
            <a:rect l="0" t="0" r="r" b="b"/>
            <a:pathLst>
              <a:path w="1587500" h="533400">
                <a:moveTo>
                  <a:pt x="114300" y="0"/>
                </a:moveTo>
                <a:lnTo>
                  <a:pt x="1473200" y="0"/>
                </a:lnTo>
                <a:cubicBezTo>
                  <a:pt x="1536319" y="0"/>
                  <a:pt x="1587500" y="51181"/>
                  <a:pt x="1587500" y="114300"/>
                </a:cubicBezTo>
                <a:lnTo>
                  <a:pt x="1587500" y="419100"/>
                </a:lnTo>
                <a:cubicBezTo>
                  <a:pt x="1587500" y="482219"/>
                  <a:pt x="1536319" y="533400"/>
                  <a:pt x="1473200" y="533400"/>
                </a:cubicBezTo>
                <a:lnTo>
                  <a:pt x="114300" y="533400"/>
                </a:lnTo>
                <a:cubicBezTo>
                  <a:pt x="51181" y="533400"/>
                  <a:pt x="0" y="482219"/>
                  <a:pt x="0" y="4191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l3-4-b"/>
          <p:cNvSpPr/>
          <p:nvPr/>
        </p:nvSpPr>
        <p:spPr>
          <a:xfrm>
            <a:off x="5207000" y="3746500"/>
            <a:ext cx="38100" cy="533400"/>
          </a:xfrm>
          <a:custGeom>
            <a:avLst/>
            <a:gdLst/>
            <a:ahLst/>
            <a:cxnLst/>
            <a:rect l="0" t="0" r="r" b="b"/>
            <a:pathLst>
              <a:path w="38100" h="5334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514350"/>
                </a:lnTo>
                <a:cubicBezTo>
                  <a:pt x="38100" y="524891"/>
                  <a:pt x="29591" y="533400"/>
                  <a:pt x="19050" y="533400"/>
                </a:cubicBezTo>
                <a:lnTo>
                  <a:pt x="19050" y="533400"/>
                </a:lnTo>
                <a:cubicBezTo>
                  <a:pt x="8509" y="533400"/>
                  <a:pt x="0" y="524891"/>
                  <a:pt x="0" y="5143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l3-4-n"/>
          <p:cNvSpPr txBox="1"/>
          <p:nvPr/>
        </p:nvSpPr>
        <p:spPr>
          <a:xfrm>
            <a:off x="5370322" y="3800697"/>
            <a:ext cx="629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人力成本</a:t>
            </a:r>
          </a:p>
        </p:txBody>
      </p:sp>
      <p:sp>
        <p:nvSpPr>
          <p:cNvPr id="81" name="l3-4-v"/>
          <p:cNvSpPr txBox="1"/>
          <p:nvPr/>
        </p:nvSpPr>
        <p:spPr>
          <a:xfrm>
            <a:off x="5364988" y="3974402"/>
            <a:ext cx="78740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1.90 亿</a:t>
            </a:r>
          </a:p>
        </p:txBody>
      </p:sp>
      <p:sp>
        <p:nvSpPr>
          <p:cNvPr id="82" name="l3-4-g"/>
          <p:cNvSpPr txBox="1"/>
          <p:nvPr/>
        </p:nvSpPr>
        <p:spPr>
          <a:xfrm>
            <a:off x="6399149" y="404012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+8%</a:t>
            </a:r>
          </a:p>
        </p:txBody>
      </p:sp>
      <p:sp>
        <p:nvSpPr>
          <p:cNvPr id="83" name="im-4"/>
          <p:cNvSpPr/>
          <p:nvPr/>
        </p:nvSpPr>
        <p:spPr>
          <a:xfrm>
            <a:off x="8181340" y="3924300"/>
            <a:ext cx="391160" cy="177800"/>
          </a:xfrm>
          <a:custGeom>
            <a:avLst/>
            <a:gdLst/>
            <a:ahLst/>
            <a:cxnLst/>
            <a:rect l="0" t="0" r="r" b="b"/>
            <a:pathLst>
              <a:path w="391160" h="177800">
                <a:moveTo>
                  <a:pt x="50800" y="0"/>
                </a:moveTo>
                <a:lnTo>
                  <a:pt x="340360" y="0"/>
                </a:lnTo>
                <a:cubicBezTo>
                  <a:pt x="368427" y="0"/>
                  <a:pt x="391160" y="22733"/>
                  <a:pt x="391160" y="50800"/>
                </a:cubicBezTo>
                <a:lnTo>
                  <a:pt x="391160" y="127000"/>
                </a:lnTo>
                <a:cubicBezTo>
                  <a:pt x="391160" y="155067"/>
                  <a:pt x="368427" y="177800"/>
                  <a:pt x="340360" y="177800"/>
                </a:cubicBezTo>
                <a:lnTo>
                  <a:pt x="50800" y="177800"/>
                </a:lnTo>
                <a:cubicBezTo>
                  <a:pt x="22733" y="177800"/>
                  <a:pt x="0" y="155067"/>
                  <a:pt x="0" y="1270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E8946B"/>
              </a:gs>
              <a:gs pos="100000">
                <a:srgbClr val="E0703A"/>
              </a:gs>
            </a:gsLst>
            <a:lin ang="108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imv-4"/>
          <p:cNvSpPr txBox="1"/>
          <p:nvPr/>
        </p:nvSpPr>
        <p:spPr>
          <a:xfrm>
            <a:off x="7823962" y="3916490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-14</a:t>
            </a:r>
          </a:p>
        </p:txBody>
      </p:sp>
      <p:sp>
        <p:nvSpPr>
          <p:cNvPr id="85" name="ow-4"/>
          <p:cNvSpPr/>
          <p:nvPr/>
        </p:nvSpPr>
        <p:spPr>
          <a:xfrm>
            <a:off x="10388600" y="3898900"/>
            <a:ext cx="228600" cy="228600"/>
          </a:xfrm>
          <a:prstGeom prst="ellipse">
            <a:avLst/>
          </a:prstGeom>
          <a:solidFill>
            <a:srgbClr val="2E77C2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icon-people"/>
          <p:cNvSpPr/>
          <p:nvPr/>
        </p:nvSpPr>
        <p:spPr>
          <a:xfrm>
            <a:off x="10462895" y="4025583"/>
            <a:ext cx="80962" cy="22860"/>
          </a:xfrm>
          <a:custGeom>
            <a:avLst/>
            <a:gdLst/>
            <a:ahLst/>
            <a:cxnLst/>
            <a:rect l="0" t="0" r="r" b="b"/>
            <a:pathLst>
              <a:path w="80962" h="22860">
                <a:moveTo>
                  <a:pt x="0" y="22860"/>
                </a:moveTo>
                <a:cubicBezTo>
                  <a:pt x="0" y="8572"/>
                  <a:pt x="11938" y="0"/>
                  <a:pt x="25717" y="0"/>
                </a:cubicBezTo>
                <a:cubicBezTo>
                  <a:pt x="39497" y="0"/>
                  <a:pt x="51435" y="8572"/>
                  <a:pt x="51435" y="22860"/>
                </a:cubicBezTo>
                <a:moveTo>
                  <a:pt x="60960" y="1905"/>
                </a:moveTo>
                <a:cubicBezTo>
                  <a:pt x="73342" y="3365"/>
                  <a:pt x="80962" y="11938"/>
                  <a:pt x="80962" y="22860"/>
                </a:cubicBezTo>
              </a:path>
            </a:pathLst>
          </a:custGeom>
          <a:noFill/>
          <a:ln w="1143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icon-people"/>
          <p:cNvSpPr/>
          <p:nvPr/>
        </p:nvSpPr>
        <p:spPr>
          <a:xfrm>
            <a:off x="10473372" y="3984625"/>
            <a:ext cx="30480" cy="30480"/>
          </a:xfrm>
          <a:prstGeom prst="ellipse">
            <a:avLst/>
          </a:prstGeom>
          <a:noFill/>
          <a:ln w="1143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icon-people"/>
          <p:cNvSpPr/>
          <p:nvPr/>
        </p:nvSpPr>
        <p:spPr>
          <a:xfrm>
            <a:off x="10514330" y="3984625"/>
            <a:ext cx="24765" cy="24765"/>
          </a:xfrm>
          <a:prstGeom prst="ellipse">
            <a:avLst/>
          </a:prstGeom>
          <a:noFill/>
          <a:ln w="1143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owt-4"/>
          <p:cNvSpPr txBox="1"/>
          <p:nvPr/>
        </p:nvSpPr>
        <p:spPr>
          <a:xfrm>
            <a:off x="10668508" y="3925824"/>
            <a:ext cx="5080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人力总监</a:t>
            </a:r>
          </a:p>
        </p:txBody>
      </p:sp>
      <p:cxnSp>
        <p:nvCxnSpPr>
          <p:cNvPr id="90" name="sep-4"/>
          <p:cNvCxnSpPr/>
          <p:nvPr/>
        </p:nvCxnSpPr>
        <p:spPr>
          <a:xfrm>
            <a:off x="7366000" y="4343400"/>
            <a:ext cx="3873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l3-5"/>
          <p:cNvSpPr/>
          <p:nvPr/>
        </p:nvSpPr>
        <p:spPr>
          <a:xfrm>
            <a:off x="5207000" y="4406900"/>
            <a:ext cx="1587500" cy="533400"/>
          </a:xfrm>
          <a:custGeom>
            <a:avLst/>
            <a:gdLst/>
            <a:ahLst/>
            <a:cxnLst/>
            <a:rect l="0" t="0" r="r" b="b"/>
            <a:pathLst>
              <a:path w="1587500" h="533400">
                <a:moveTo>
                  <a:pt x="114300" y="0"/>
                </a:moveTo>
                <a:lnTo>
                  <a:pt x="1473200" y="0"/>
                </a:lnTo>
                <a:cubicBezTo>
                  <a:pt x="1536319" y="0"/>
                  <a:pt x="1587500" y="51181"/>
                  <a:pt x="1587500" y="114300"/>
                </a:cubicBezTo>
                <a:lnTo>
                  <a:pt x="1587500" y="419100"/>
                </a:lnTo>
                <a:cubicBezTo>
                  <a:pt x="1587500" y="482219"/>
                  <a:pt x="1536319" y="533400"/>
                  <a:pt x="1473200" y="533400"/>
                </a:cubicBezTo>
                <a:lnTo>
                  <a:pt x="114300" y="533400"/>
                </a:lnTo>
                <a:cubicBezTo>
                  <a:pt x="51181" y="533400"/>
                  <a:pt x="0" y="482219"/>
                  <a:pt x="0" y="4191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l3-5-b"/>
          <p:cNvSpPr/>
          <p:nvPr/>
        </p:nvSpPr>
        <p:spPr>
          <a:xfrm>
            <a:off x="5207000" y="4406900"/>
            <a:ext cx="38100" cy="533400"/>
          </a:xfrm>
          <a:custGeom>
            <a:avLst/>
            <a:gdLst/>
            <a:ahLst/>
            <a:cxnLst/>
            <a:rect l="0" t="0" r="r" b="b"/>
            <a:pathLst>
              <a:path w="38100" h="5334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514350"/>
                </a:lnTo>
                <a:cubicBezTo>
                  <a:pt x="38100" y="524891"/>
                  <a:pt x="29591" y="533400"/>
                  <a:pt x="19050" y="533400"/>
                </a:cubicBezTo>
                <a:lnTo>
                  <a:pt x="19050" y="533400"/>
                </a:lnTo>
                <a:cubicBezTo>
                  <a:pt x="8509" y="533400"/>
                  <a:pt x="0" y="524891"/>
                  <a:pt x="0" y="5143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l3-5-n"/>
          <p:cNvSpPr txBox="1"/>
          <p:nvPr/>
        </p:nvSpPr>
        <p:spPr>
          <a:xfrm>
            <a:off x="5370322" y="4461097"/>
            <a:ext cx="629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营销费用</a:t>
            </a:r>
          </a:p>
        </p:txBody>
      </p:sp>
      <p:sp>
        <p:nvSpPr>
          <p:cNvPr id="94" name="l3-5-v"/>
          <p:cNvSpPr txBox="1"/>
          <p:nvPr/>
        </p:nvSpPr>
        <p:spPr>
          <a:xfrm>
            <a:off x="5364988" y="4634802"/>
            <a:ext cx="78740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0.80 亿</a:t>
            </a:r>
          </a:p>
        </p:txBody>
      </p:sp>
      <p:sp>
        <p:nvSpPr>
          <p:cNvPr id="95" name="l3-5-g"/>
          <p:cNvSpPr txBox="1"/>
          <p:nvPr/>
        </p:nvSpPr>
        <p:spPr>
          <a:xfrm>
            <a:off x="6340348" y="4700524"/>
            <a:ext cx="32664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+22%</a:t>
            </a:r>
          </a:p>
        </p:txBody>
      </p:sp>
      <p:sp>
        <p:nvSpPr>
          <p:cNvPr id="96" name="im-5"/>
          <p:cNvSpPr/>
          <p:nvPr/>
        </p:nvSpPr>
        <p:spPr>
          <a:xfrm>
            <a:off x="8181340" y="4584700"/>
            <a:ext cx="391160" cy="177800"/>
          </a:xfrm>
          <a:custGeom>
            <a:avLst/>
            <a:gdLst/>
            <a:ahLst/>
            <a:cxnLst/>
            <a:rect l="0" t="0" r="r" b="b"/>
            <a:pathLst>
              <a:path w="391160" h="177800">
                <a:moveTo>
                  <a:pt x="50800" y="0"/>
                </a:moveTo>
                <a:lnTo>
                  <a:pt x="340360" y="0"/>
                </a:lnTo>
                <a:cubicBezTo>
                  <a:pt x="368427" y="0"/>
                  <a:pt x="391160" y="22733"/>
                  <a:pt x="391160" y="50800"/>
                </a:cubicBezTo>
                <a:lnTo>
                  <a:pt x="391160" y="127000"/>
                </a:lnTo>
                <a:cubicBezTo>
                  <a:pt x="391160" y="155067"/>
                  <a:pt x="368427" y="177800"/>
                  <a:pt x="340360" y="177800"/>
                </a:cubicBezTo>
                <a:lnTo>
                  <a:pt x="50800" y="177800"/>
                </a:lnTo>
                <a:cubicBezTo>
                  <a:pt x="22733" y="177800"/>
                  <a:pt x="0" y="155067"/>
                  <a:pt x="0" y="1270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E8946B"/>
              </a:gs>
              <a:gs pos="100000">
                <a:srgbClr val="E0703A"/>
              </a:gs>
            </a:gsLst>
            <a:lin ang="108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imv-5"/>
          <p:cNvSpPr txBox="1"/>
          <p:nvPr/>
        </p:nvSpPr>
        <p:spPr>
          <a:xfrm>
            <a:off x="7823962" y="4576890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-14</a:t>
            </a:r>
          </a:p>
        </p:txBody>
      </p:sp>
      <p:sp>
        <p:nvSpPr>
          <p:cNvPr id="98" name="ow-5"/>
          <p:cNvSpPr/>
          <p:nvPr/>
        </p:nvSpPr>
        <p:spPr>
          <a:xfrm>
            <a:off x="10388600" y="4559300"/>
            <a:ext cx="228600" cy="228600"/>
          </a:xfrm>
          <a:prstGeom prst="ellipse">
            <a:avLst/>
          </a:prstGeom>
          <a:solidFill>
            <a:srgbClr val="2E77C2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9" name="icon-people"/>
          <p:cNvSpPr/>
          <p:nvPr/>
        </p:nvSpPr>
        <p:spPr>
          <a:xfrm>
            <a:off x="10462895" y="4685982"/>
            <a:ext cx="80962" cy="22860"/>
          </a:xfrm>
          <a:custGeom>
            <a:avLst/>
            <a:gdLst/>
            <a:ahLst/>
            <a:cxnLst/>
            <a:rect l="0" t="0" r="r" b="b"/>
            <a:pathLst>
              <a:path w="80962" h="22860">
                <a:moveTo>
                  <a:pt x="0" y="22860"/>
                </a:moveTo>
                <a:cubicBezTo>
                  <a:pt x="0" y="8572"/>
                  <a:pt x="11938" y="0"/>
                  <a:pt x="25717" y="0"/>
                </a:cubicBezTo>
                <a:cubicBezTo>
                  <a:pt x="39497" y="0"/>
                  <a:pt x="51435" y="8572"/>
                  <a:pt x="51435" y="22860"/>
                </a:cubicBezTo>
                <a:moveTo>
                  <a:pt x="60960" y="1905"/>
                </a:moveTo>
                <a:cubicBezTo>
                  <a:pt x="73342" y="3365"/>
                  <a:pt x="80962" y="11938"/>
                  <a:pt x="80962" y="22860"/>
                </a:cubicBezTo>
              </a:path>
            </a:pathLst>
          </a:custGeom>
          <a:noFill/>
          <a:ln w="1143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icon-people"/>
          <p:cNvSpPr/>
          <p:nvPr/>
        </p:nvSpPr>
        <p:spPr>
          <a:xfrm>
            <a:off x="10473372" y="4645025"/>
            <a:ext cx="30480" cy="30480"/>
          </a:xfrm>
          <a:prstGeom prst="ellipse">
            <a:avLst/>
          </a:prstGeom>
          <a:noFill/>
          <a:ln w="1143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icon-people"/>
          <p:cNvSpPr/>
          <p:nvPr/>
        </p:nvSpPr>
        <p:spPr>
          <a:xfrm>
            <a:off x="10514330" y="4645025"/>
            <a:ext cx="24765" cy="24765"/>
          </a:xfrm>
          <a:prstGeom prst="ellipse">
            <a:avLst/>
          </a:prstGeom>
          <a:noFill/>
          <a:ln w="1143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2" name="owt-5"/>
          <p:cNvSpPr txBox="1"/>
          <p:nvPr/>
        </p:nvSpPr>
        <p:spPr>
          <a:xfrm>
            <a:off x="10668508" y="4586224"/>
            <a:ext cx="5080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市场总监</a:t>
            </a:r>
          </a:p>
        </p:txBody>
      </p:sp>
      <p:cxnSp>
        <p:nvCxnSpPr>
          <p:cNvPr id="103" name="sep-5"/>
          <p:cNvCxnSpPr/>
          <p:nvPr/>
        </p:nvCxnSpPr>
        <p:spPr>
          <a:xfrm>
            <a:off x="7366000" y="5003800"/>
            <a:ext cx="3873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4" name="l3-6"/>
          <p:cNvSpPr/>
          <p:nvPr/>
        </p:nvSpPr>
        <p:spPr>
          <a:xfrm>
            <a:off x="5207000" y="5067300"/>
            <a:ext cx="1587500" cy="533400"/>
          </a:xfrm>
          <a:custGeom>
            <a:avLst/>
            <a:gdLst/>
            <a:ahLst/>
            <a:cxnLst/>
            <a:rect l="0" t="0" r="r" b="b"/>
            <a:pathLst>
              <a:path w="1587500" h="533400">
                <a:moveTo>
                  <a:pt x="114300" y="0"/>
                </a:moveTo>
                <a:lnTo>
                  <a:pt x="1473200" y="0"/>
                </a:lnTo>
                <a:cubicBezTo>
                  <a:pt x="1536319" y="0"/>
                  <a:pt x="1587500" y="51181"/>
                  <a:pt x="1587500" y="114300"/>
                </a:cubicBezTo>
                <a:lnTo>
                  <a:pt x="1587500" y="419100"/>
                </a:lnTo>
                <a:cubicBezTo>
                  <a:pt x="1587500" y="482219"/>
                  <a:pt x="1536319" y="533400"/>
                  <a:pt x="1473200" y="533400"/>
                </a:cubicBezTo>
                <a:lnTo>
                  <a:pt x="114300" y="533400"/>
                </a:lnTo>
                <a:cubicBezTo>
                  <a:pt x="51181" y="533400"/>
                  <a:pt x="0" y="482219"/>
                  <a:pt x="0" y="4191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l3-6-b"/>
          <p:cNvSpPr/>
          <p:nvPr/>
        </p:nvSpPr>
        <p:spPr>
          <a:xfrm>
            <a:off x="5207000" y="5067300"/>
            <a:ext cx="38100" cy="533400"/>
          </a:xfrm>
          <a:custGeom>
            <a:avLst/>
            <a:gdLst/>
            <a:ahLst/>
            <a:cxnLst/>
            <a:rect l="0" t="0" r="r" b="b"/>
            <a:pathLst>
              <a:path w="38100" h="5334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514350"/>
                </a:lnTo>
                <a:cubicBezTo>
                  <a:pt x="38100" y="524891"/>
                  <a:pt x="29591" y="533400"/>
                  <a:pt x="19050" y="533400"/>
                </a:cubicBezTo>
                <a:lnTo>
                  <a:pt x="19050" y="533400"/>
                </a:lnTo>
                <a:cubicBezTo>
                  <a:pt x="8509" y="533400"/>
                  <a:pt x="0" y="524891"/>
                  <a:pt x="0" y="5143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6" name="l3-6-n"/>
          <p:cNvSpPr txBox="1"/>
          <p:nvPr/>
        </p:nvSpPr>
        <p:spPr>
          <a:xfrm>
            <a:off x="5370322" y="5121497"/>
            <a:ext cx="629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运营成本</a:t>
            </a:r>
          </a:p>
        </p:txBody>
      </p:sp>
      <p:sp>
        <p:nvSpPr>
          <p:cNvPr id="107" name="l3-6-v"/>
          <p:cNvSpPr txBox="1"/>
          <p:nvPr/>
        </p:nvSpPr>
        <p:spPr>
          <a:xfrm>
            <a:off x="5364988" y="5295202"/>
            <a:ext cx="78740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0.60 亿</a:t>
            </a:r>
          </a:p>
        </p:txBody>
      </p:sp>
      <p:sp>
        <p:nvSpPr>
          <p:cNvPr id="108" name="l3-6-g"/>
          <p:cNvSpPr txBox="1"/>
          <p:nvPr/>
        </p:nvSpPr>
        <p:spPr>
          <a:xfrm>
            <a:off x="6399149" y="536092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15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-4%</a:t>
            </a:r>
          </a:p>
        </p:txBody>
      </p:sp>
      <p:sp>
        <p:nvSpPr>
          <p:cNvPr id="109" name="im-6"/>
          <p:cNvSpPr/>
          <p:nvPr/>
        </p:nvSpPr>
        <p:spPr>
          <a:xfrm>
            <a:off x="8572500" y="5245100"/>
            <a:ext cx="83820" cy="177800"/>
          </a:xfrm>
          <a:custGeom>
            <a:avLst/>
            <a:gdLst/>
            <a:ahLst/>
            <a:cxnLst/>
            <a:rect l="0" t="0" r="r" b="b"/>
            <a:pathLst>
              <a:path w="83820" h="177800">
                <a:moveTo>
                  <a:pt x="41910" y="0"/>
                </a:moveTo>
                <a:lnTo>
                  <a:pt x="41910" y="0"/>
                </a:lnTo>
                <a:cubicBezTo>
                  <a:pt x="65088" y="0"/>
                  <a:pt x="83820" y="18733"/>
                  <a:pt x="83820" y="41910"/>
                </a:cubicBezTo>
                <a:lnTo>
                  <a:pt x="83820" y="135890"/>
                </a:lnTo>
                <a:cubicBezTo>
                  <a:pt x="83820" y="159067"/>
                  <a:pt x="65088" y="177800"/>
                  <a:pt x="41910" y="177800"/>
                </a:cubicBezTo>
                <a:lnTo>
                  <a:pt x="41910" y="177800"/>
                </a:lnTo>
                <a:cubicBezTo>
                  <a:pt x="18733" y="177800"/>
                  <a:pt x="0" y="159067"/>
                  <a:pt x="0" y="135890"/>
                </a:cubicBezTo>
                <a:lnTo>
                  <a:pt x="0" y="41910"/>
                </a:lnTo>
                <a:cubicBezTo>
                  <a:pt x="0" y="18733"/>
                  <a:pt x="18733" y="0"/>
                  <a:pt x="41910" y="0"/>
                </a:cubicBezTo>
                <a:close/>
              </a:path>
            </a:pathLst>
          </a:custGeom>
          <a:gradFill rotWithShape="1">
            <a:gsLst>
              <a:gs pos="0">
                <a:srgbClr val="4E79B5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0" name="imv-6"/>
          <p:cNvSpPr txBox="1"/>
          <p:nvPr/>
        </p:nvSpPr>
        <p:spPr>
          <a:xfrm>
            <a:off x="8718804" y="523729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+3</a:t>
            </a:r>
          </a:p>
        </p:txBody>
      </p:sp>
      <p:sp>
        <p:nvSpPr>
          <p:cNvPr id="111" name="ow-6"/>
          <p:cNvSpPr/>
          <p:nvPr/>
        </p:nvSpPr>
        <p:spPr>
          <a:xfrm>
            <a:off x="10388600" y="5219700"/>
            <a:ext cx="228600" cy="228600"/>
          </a:xfrm>
          <a:prstGeom prst="ellipse">
            <a:avLst/>
          </a:prstGeom>
          <a:solidFill>
            <a:srgbClr val="2E77C2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2" name="icon-people"/>
          <p:cNvSpPr/>
          <p:nvPr/>
        </p:nvSpPr>
        <p:spPr>
          <a:xfrm>
            <a:off x="10462895" y="5346382"/>
            <a:ext cx="80962" cy="22860"/>
          </a:xfrm>
          <a:custGeom>
            <a:avLst/>
            <a:gdLst/>
            <a:ahLst/>
            <a:cxnLst/>
            <a:rect l="0" t="0" r="r" b="b"/>
            <a:pathLst>
              <a:path w="80962" h="22860">
                <a:moveTo>
                  <a:pt x="0" y="22860"/>
                </a:moveTo>
                <a:cubicBezTo>
                  <a:pt x="0" y="8572"/>
                  <a:pt x="11938" y="0"/>
                  <a:pt x="25717" y="0"/>
                </a:cubicBezTo>
                <a:cubicBezTo>
                  <a:pt x="39497" y="0"/>
                  <a:pt x="51435" y="8572"/>
                  <a:pt x="51435" y="22860"/>
                </a:cubicBezTo>
                <a:moveTo>
                  <a:pt x="60960" y="1905"/>
                </a:moveTo>
                <a:cubicBezTo>
                  <a:pt x="73342" y="3365"/>
                  <a:pt x="80962" y="11938"/>
                  <a:pt x="80962" y="22860"/>
                </a:cubicBezTo>
              </a:path>
            </a:pathLst>
          </a:custGeom>
          <a:noFill/>
          <a:ln w="1143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3" name="icon-people"/>
          <p:cNvSpPr/>
          <p:nvPr/>
        </p:nvSpPr>
        <p:spPr>
          <a:xfrm>
            <a:off x="10473372" y="5305425"/>
            <a:ext cx="30480" cy="30480"/>
          </a:xfrm>
          <a:prstGeom prst="ellipse">
            <a:avLst/>
          </a:prstGeom>
          <a:noFill/>
          <a:ln w="1143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4" name="icon-people"/>
          <p:cNvSpPr/>
          <p:nvPr/>
        </p:nvSpPr>
        <p:spPr>
          <a:xfrm>
            <a:off x="10514330" y="5305425"/>
            <a:ext cx="24765" cy="24765"/>
          </a:xfrm>
          <a:prstGeom prst="ellipse">
            <a:avLst/>
          </a:prstGeom>
          <a:noFill/>
          <a:ln w="1143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5" name="owt-6"/>
          <p:cNvSpPr txBox="1"/>
          <p:nvPr/>
        </p:nvSpPr>
        <p:spPr>
          <a:xfrm>
            <a:off x="10668508" y="5246624"/>
            <a:ext cx="5080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运营总监</a:t>
            </a:r>
          </a:p>
        </p:txBody>
      </p:sp>
      <p:sp>
        <p:nvSpPr>
          <p:cNvPr id="116" name="sum"/>
          <p:cNvSpPr/>
          <p:nvPr/>
        </p:nvSpPr>
        <p:spPr>
          <a:xfrm>
            <a:off x="952500" y="5816600"/>
            <a:ext cx="10287000" cy="457200"/>
          </a:xfrm>
          <a:custGeom>
            <a:avLst/>
            <a:gdLst/>
            <a:ahLst/>
            <a:cxnLst/>
            <a:rect l="0" t="0" r="r" b="b"/>
            <a:pathLst>
              <a:path w="10287000" h="4572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68300"/>
                </a:lnTo>
                <a:cubicBezTo>
                  <a:pt x="10287000" y="417386"/>
                  <a:pt x="10247186" y="457200"/>
                  <a:pt x="10198100" y="457200"/>
                </a:cubicBezTo>
                <a:lnTo>
                  <a:pt x="88900" y="457200"/>
                </a:lnTo>
                <a:cubicBezTo>
                  <a:pt x="39815" y="457200"/>
                  <a:pt x="0" y="417386"/>
                  <a:pt x="0" y="3683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7" name="sum-bar"/>
          <p:cNvSpPr/>
          <p:nvPr/>
        </p:nvSpPr>
        <p:spPr>
          <a:xfrm>
            <a:off x="952500" y="5816600"/>
            <a:ext cx="31750" cy="4572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8" name="sum-h"/>
          <p:cNvSpPr txBox="1"/>
          <p:nvPr/>
        </p:nvSpPr>
        <p:spPr>
          <a:xfrm>
            <a:off x="1142746" y="59753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拆解结论</a:t>
            </a:r>
          </a:p>
        </p:txBody>
      </p:sp>
      <p:sp>
        <p:nvSpPr>
          <p:cNvPr id="119" name="sum-p"/>
          <p:cNvSpPr txBox="1"/>
          <p:nvPr/>
        </p:nvSpPr>
        <p:spPr>
          <a:xfrm>
            <a:off x="1891665" y="5971461"/>
            <a:ext cx="537368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利润增量 1,600 万主要来自客户数；营销费用与人力成本各吃掉 1,400 万——下一步重点看投放 ROI。</a:t>
            </a:r>
          </a:p>
        </p:txBody>
      </p:sp>
      <p:cxnSp>
        <p:nvCxnSpPr>
          <p:cNvPr id="120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1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指标驱动树 · 六个因子</a:t>
            </a:r>
          </a:p>
        </p:txBody>
      </p:sp>
      <p:sp>
        <p:nvSpPr>
          <p:cNvPr id="122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三年登顶路线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35483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SUMMIT ROADMAP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437499" y="673132"/>
            <a:ext cx="31832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把「行业第一」拆成四个营地，每到一个营地先补给、再出发</a:t>
            </a:r>
          </a:p>
        </p:txBody>
      </p:sp>
      <p:sp>
        <p:nvSpPr>
          <p:cNvPr id="10" name="far"/>
          <p:cNvSpPr/>
          <p:nvPr/>
        </p:nvSpPr>
        <p:spPr>
          <a:xfrm>
            <a:off x="952500" y="2984063"/>
            <a:ext cx="10287000" cy="3111937"/>
          </a:xfrm>
          <a:custGeom>
            <a:avLst/>
            <a:gdLst/>
            <a:ahLst/>
            <a:cxnLst/>
            <a:rect l="0" t="0" r="r" b="b"/>
            <a:pathLst>
              <a:path w="10287000" h="3111937">
                <a:moveTo>
                  <a:pt x="0" y="2222937"/>
                </a:moveTo>
                <a:cubicBezTo>
                  <a:pt x="152400" y="2121337"/>
                  <a:pt x="829755" y="1613337"/>
                  <a:pt x="1143000" y="1460937"/>
                </a:cubicBezTo>
                <a:cubicBezTo>
                  <a:pt x="1456246" y="1308537"/>
                  <a:pt x="2036254" y="1088383"/>
                  <a:pt x="2349500" y="1079937"/>
                </a:cubicBezTo>
                <a:cubicBezTo>
                  <a:pt x="2662746" y="1071492"/>
                  <a:pt x="3204654" y="1431283"/>
                  <a:pt x="3492500" y="1397437"/>
                </a:cubicBezTo>
                <a:cubicBezTo>
                  <a:pt x="3780346" y="1363592"/>
                  <a:pt x="4254500" y="969892"/>
                  <a:pt x="4508500" y="825937"/>
                </a:cubicBezTo>
                <a:cubicBezTo>
                  <a:pt x="4762500" y="681983"/>
                  <a:pt x="5126546" y="427983"/>
                  <a:pt x="5397500" y="317937"/>
                </a:cubicBezTo>
                <a:cubicBezTo>
                  <a:pt x="5668454" y="207892"/>
                  <a:pt x="6218746" y="-16517"/>
                  <a:pt x="6540500" y="437"/>
                </a:cubicBezTo>
                <a:cubicBezTo>
                  <a:pt x="6862254" y="17392"/>
                  <a:pt x="7488746" y="444937"/>
                  <a:pt x="7810500" y="444937"/>
                </a:cubicBezTo>
                <a:cubicBezTo>
                  <a:pt x="8132254" y="444937"/>
                  <a:pt x="8682546" y="17392"/>
                  <a:pt x="8953500" y="437"/>
                </a:cubicBezTo>
                <a:cubicBezTo>
                  <a:pt x="9224454" y="-16517"/>
                  <a:pt x="9664700" y="241737"/>
                  <a:pt x="9842500" y="317937"/>
                </a:cubicBezTo>
                <a:cubicBezTo>
                  <a:pt x="10020300" y="394137"/>
                  <a:pt x="10227754" y="538092"/>
                  <a:pt x="10287000" y="571937"/>
                </a:cubicBezTo>
                <a:lnTo>
                  <a:pt x="10287000" y="3111937"/>
                </a:lnTo>
                <a:lnTo>
                  <a:pt x="0" y="3111937"/>
                </a:lnTo>
                <a:close/>
              </a:path>
            </a:pathLst>
          </a:custGeom>
          <a:gradFill rotWithShape="1">
            <a:gsLst>
              <a:gs pos="0">
                <a:srgbClr val="DCE7F5"/>
              </a:gs>
              <a:gs pos="100000">
                <a:srgbClr val="EEF3FA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peak"/>
          <p:cNvSpPr/>
          <p:nvPr/>
        </p:nvSpPr>
        <p:spPr>
          <a:xfrm>
            <a:off x="1651000" y="1587500"/>
            <a:ext cx="9588500" cy="4508500"/>
          </a:xfrm>
          <a:custGeom>
            <a:avLst/>
            <a:gdLst/>
            <a:ahLst/>
            <a:cxnLst/>
            <a:rect l="0" t="0" r="r" b="b"/>
            <a:pathLst>
              <a:path w="9588500" h="4508500">
                <a:moveTo>
                  <a:pt x="0" y="4508500"/>
                </a:moveTo>
                <a:cubicBezTo>
                  <a:pt x="155575" y="4404804"/>
                  <a:pt x="1037145" y="3819525"/>
                  <a:pt x="1333500" y="3619500"/>
                </a:cubicBezTo>
                <a:cubicBezTo>
                  <a:pt x="1629854" y="3419475"/>
                  <a:pt x="2265871" y="2986596"/>
                  <a:pt x="2540000" y="2794000"/>
                </a:cubicBezTo>
                <a:cubicBezTo>
                  <a:pt x="2814129" y="2601404"/>
                  <a:pt x="3438525" y="2146300"/>
                  <a:pt x="3683000" y="1968500"/>
                </a:cubicBezTo>
                <a:cubicBezTo>
                  <a:pt x="3927475" y="1790700"/>
                  <a:pt x="4442904" y="1425575"/>
                  <a:pt x="4635500" y="1270000"/>
                </a:cubicBezTo>
                <a:cubicBezTo>
                  <a:pt x="4828096" y="1114425"/>
                  <a:pt x="5185854" y="783145"/>
                  <a:pt x="5334000" y="635000"/>
                </a:cubicBezTo>
                <a:cubicBezTo>
                  <a:pt x="5482146" y="486855"/>
                  <a:pt x="5764720" y="14796"/>
                  <a:pt x="5905500" y="0"/>
                </a:cubicBezTo>
                <a:cubicBezTo>
                  <a:pt x="6046280" y="-14796"/>
                  <a:pt x="6370130" y="374650"/>
                  <a:pt x="6540500" y="508000"/>
                </a:cubicBezTo>
                <a:cubicBezTo>
                  <a:pt x="6710870" y="641350"/>
                  <a:pt x="7165975" y="972630"/>
                  <a:pt x="7366000" y="1143000"/>
                </a:cubicBezTo>
                <a:cubicBezTo>
                  <a:pt x="7566025" y="1313370"/>
                  <a:pt x="8054975" y="1768475"/>
                  <a:pt x="8255000" y="1968500"/>
                </a:cubicBezTo>
                <a:cubicBezTo>
                  <a:pt x="8455025" y="2168525"/>
                  <a:pt x="8924925" y="2694496"/>
                  <a:pt x="9080500" y="2857500"/>
                </a:cubicBezTo>
                <a:cubicBezTo>
                  <a:pt x="9236075" y="3020504"/>
                  <a:pt x="9529254" y="3306254"/>
                  <a:pt x="9588500" y="3365500"/>
                </a:cubicBezTo>
                <a:lnTo>
                  <a:pt x="9588500" y="4508500"/>
                </a:lnTo>
                <a:lnTo>
                  <a:pt x="0" y="4508500"/>
                </a:lnTo>
                <a:close/>
              </a:path>
            </a:pathLst>
          </a:custGeom>
          <a:gradFill rotWithShape="1">
            <a:gsLst>
              <a:gs pos="0">
                <a:srgbClr val="2E77C2"/>
              </a:gs>
              <a:gs pos="100000">
                <a:srgbClr val="0B3E8F"/>
              </a:gs>
            </a:gsLst>
            <a:lin ang="54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snow"/>
          <p:cNvSpPr/>
          <p:nvPr/>
        </p:nvSpPr>
        <p:spPr>
          <a:xfrm>
            <a:off x="6980372" y="1587500"/>
            <a:ext cx="1215112" cy="774854"/>
          </a:xfrm>
          <a:custGeom>
            <a:avLst/>
            <a:gdLst/>
            <a:ahLst/>
            <a:cxnLst/>
            <a:rect l="0" t="0" r="r" b="b"/>
            <a:pathLst>
              <a:path w="1215112" h="774854">
                <a:moveTo>
                  <a:pt x="4628" y="635000"/>
                </a:moveTo>
                <a:cubicBezTo>
                  <a:pt x="42728" y="571500"/>
                  <a:pt x="455478" y="12700"/>
                  <a:pt x="576128" y="0"/>
                </a:cubicBezTo>
                <a:cubicBezTo>
                  <a:pt x="696778" y="-12700"/>
                  <a:pt x="1173028" y="438150"/>
                  <a:pt x="1211128" y="508000"/>
                </a:cubicBezTo>
                <a:cubicBezTo>
                  <a:pt x="1249228" y="577850"/>
                  <a:pt x="1007928" y="695325"/>
                  <a:pt x="957128" y="698500"/>
                </a:cubicBezTo>
                <a:cubicBezTo>
                  <a:pt x="906328" y="701675"/>
                  <a:pt x="753928" y="532130"/>
                  <a:pt x="703128" y="539750"/>
                </a:cubicBezTo>
                <a:cubicBezTo>
                  <a:pt x="652328" y="547370"/>
                  <a:pt x="499928" y="765175"/>
                  <a:pt x="449128" y="774700"/>
                </a:cubicBezTo>
                <a:cubicBezTo>
                  <a:pt x="398328" y="784225"/>
                  <a:pt x="239578" y="648970"/>
                  <a:pt x="195128" y="635000"/>
                </a:cubicBezTo>
                <a:cubicBezTo>
                  <a:pt x="150678" y="621030"/>
                  <a:pt x="-33472" y="698500"/>
                  <a:pt x="4628" y="635000"/>
                </a:cubicBezTo>
                <a:close/>
              </a:path>
            </a:pathLst>
          </a:custGeom>
          <a:solidFill>
            <a:srgbClr val="FFFFFF">
              <a:alpha val="8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hill"/>
          <p:cNvSpPr/>
          <p:nvPr/>
        </p:nvSpPr>
        <p:spPr>
          <a:xfrm>
            <a:off x="952500" y="5585054"/>
            <a:ext cx="10287000" cy="510946"/>
          </a:xfrm>
          <a:custGeom>
            <a:avLst/>
            <a:gdLst/>
            <a:ahLst/>
            <a:cxnLst/>
            <a:rect l="0" t="0" r="r" b="b"/>
            <a:pathLst>
              <a:path w="10287000" h="510946">
                <a:moveTo>
                  <a:pt x="0" y="129946"/>
                </a:moveTo>
                <a:cubicBezTo>
                  <a:pt x="228600" y="112991"/>
                  <a:pt x="1248854" y="-22454"/>
                  <a:pt x="1714500" y="2946"/>
                </a:cubicBezTo>
                <a:cubicBezTo>
                  <a:pt x="2180146" y="28346"/>
                  <a:pt x="3018346" y="303491"/>
                  <a:pt x="3492500" y="320446"/>
                </a:cubicBezTo>
                <a:cubicBezTo>
                  <a:pt x="3966654" y="337400"/>
                  <a:pt x="4762500" y="121500"/>
                  <a:pt x="5270500" y="129946"/>
                </a:cubicBezTo>
                <a:cubicBezTo>
                  <a:pt x="5778500" y="138391"/>
                  <a:pt x="6811454" y="383946"/>
                  <a:pt x="7302500" y="383946"/>
                </a:cubicBezTo>
                <a:cubicBezTo>
                  <a:pt x="7793546" y="383946"/>
                  <a:pt x="8555546" y="146900"/>
                  <a:pt x="8953500" y="129946"/>
                </a:cubicBezTo>
                <a:cubicBezTo>
                  <a:pt x="9351454" y="112991"/>
                  <a:pt x="10109200" y="239991"/>
                  <a:pt x="10287000" y="256946"/>
                </a:cubicBezTo>
                <a:lnTo>
                  <a:pt x="10287000" y="510946"/>
                </a:lnTo>
                <a:lnTo>
                  <a:pt x="0" y="510946"/>
                </a:lnTo>
                <a:close/>
              </a:path>
            </a:pathLst>
          </a:custGeom>
          <a:gradFill rotWithShape="1">
            <a:gsLst>
              <a:gs pos="0">
                <a:srgbClr val="1B5AA8">
                  <a:alpha val="90000"/>
                </a:srgbClr>
              </a:gs>
              <a:gs pos="100000">
                <a:srgbClr val="0A3A88">
                  <a:alpha val="9000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route"/>
          <p:cNvSpPr/>
          <p:nvPr/>
        </p:nvSpPr>
        <p:spPr>
          <a:xfrm>
            <a:off x="3556000" y="1663700"/>
            <a:ext cx="4000500" cy="3924300"/>
          </a:xfrm>
          <a:custGeom>
            <a:avLst/>
            <a:gdLst/>
            <a:ahLst/>
            <a:cxnLst/>
            <a:rect l="0" t="0" r="r" b="b"/>
            <a:pathLst>
              <a:path w="4000500" h="3924300">
                <a:moveTo>
                  <a:pt x="0" y="3924300"/>
                </a:moveTo>
                <a:cubicBezTo>
                  <a:pt x="133350" y="3876675"/>
                  <a:pt x="679450" y="3724910"/>
                  <a:pt x="889000" y="3606800"/>
                </a:cubicBezTo>
                <a:cubicBezTo>
                  <a:pt x="1098550" y="3488690"/>
                  <a:pt x="1282700" y="3270250"/>
                  <a:pt x="1397000" y="3136900"/>
                </a:cubicBezTo>
                <a:cubicBezTo>
                  <a:pt x="1511300" y="3003550"/>
                  <a:pt x="1508125" y="2856865"/>
                  <a:pt x="1651000" y="2717800"/>
                </a:cubicBezTo>
                <a:cubicBezTo>
                  <a:pt x="1793875" y="2578735"/>
                  <a:pt x="2168525" y="2352675"/>
                  <a:pt x="2349500" y="2209800"/>
                </a:cubicBezTo>
                <a:cubicBezTo>
                  <a:pt x="2530475" y="2066925"/>
                  <a:pt x="2724150" y="1898650"/>
                  <a:pt x="2857500" y="1765300"/>
                </a:cubicBezTo>
                <a:cubicBezTo>
                  <a:pt x="2990850" y="1631950"/>
                  <a:pt x="3133725" y="1492250"/>
                  <a:pt x="3238500" y="1320800"/>
                </a:cubicBezTo>
                <a:cubicBezTo>
                  <a:pt x="3343275" y="1149350"/>
                  <a:pt x="3441700" y="820420"/>
                  <a:pt x="3556000" y="622300"/>
                </a:cubicBezTo>
                <a:cubicBezTo>
                  <a:pt x="3670300" y="424180"/>
                  <a:pt x="3933825" y="93345"/>
                  <a:pt x="4000500" y="0"/>
                </a:cubicBezTo>
              </a:path>
            </a:pathLst>
          </a:custGeom>
          <a:noFill/>
          <a:ln w="25400" cap="rnd">
            <a:solidFill>
              <a:srgbClr val="FFFFFF">
                <a:alpha val="9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camp-1"/>
          <p:cNvSpPr/>
          <p:nvPr/>
        </p:nvSpPr>
        <p:spPr>
          <a:xfrm>
            <a:off x="3448050" y="5480050"/>
            <a:ext cx="215900" cy="2159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0B3E8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campn-1"/>
          <p:cNvSpPr txBox="1"/>
          <p:nvPr/>
        </p:nvSpPr>
        <p:spPr>
          <a:xfrm>
            <a:off x="3486467" y="550846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★</a:t>
            </a:r>
          </a:p>
        </p:txBody>
      </p:sp>
      <p:sp>
        <p:nvSpPr>
          <p:cNvPr id="17" name="card-1"/>
          <p:cNvSpPr/>
          <p:nvPr/>
        </p:nvSpPr>
        <p:spPr>
          <a:xfrm>
            <a:off x="1549400" y="5257800"/>
            <a:ext cx="1778000" cy="660400"/>
          </a:xfrm>
          <a:custGeom>
            <a:avLst/>
            <a:gdLst/>
            <a:ahLst/>
            <a:cxnLst/>
            <a:rect l="0" t="0" r="r" b="b"/>
            <a:pathLst>
              <a:path w="1778000" h="660400">
                <a:moveTo>
                  <a:pt x="101600" y="0"/>
                </a:moveTo>
                <a:lnTo>
                  <a:pt x="1676400" y="0"/>
                </a:lnTo>
                <a:cubicBezTo>
                  <a:pt x="1732534" y="0"/>
                  <a:pt x="1778000" y="45466"/>
                  <a:pt x="1778000" y="101600"/>
                </a:cubicBezTo>
                <a:lnTo>
                  <a:pt x="1778000" y="558800"/>
                </a:lnTo>
                <a:cubicBezTo>
                  <a:pt x="1778000" y="614934"/>
                  <a:pt x="1732534" y="660400"/>
                  <a:pt x="1676400" y="660400"/>
                </a:cubicBezTo>
                <a:lnTo>
                  <a:pt x="101600" y="660400"/>
                </a:lnTo>
                <a:cubicBezTo>
                  <a:pt x="45466" y="660400"/>
                  <a:pt x="0" y="614934"/>
                  <a:pt x="0" y="558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cardb-1"/>
          <p:cNvSpPr/>
          <p:nvPr/>
        </p:nvSpPr>
        <p:spPr>
          <a:xfrm>
            <a:off x="1549400" y="5257800"/>
            <a:ext cx="38100" cy="660400"/>
          </a:xfrm>
          <a:custGeom>
            <a:avLst/>
            <a:gdLst/>
            <a:ahLst/>
            <a:cxnLst/>
            <a:rect l="0" t="0" r="r" b="b"/>
            <a:pathLst>
              <a:path w="38100" h="6604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41350"/>
                </a:lnTo>
                <a:cubicBezTo>
                  <a:pt x="38100" y="651891"/>
                  <a:pt x="29591" y="660400"/>
                  <a:pt x="19050" y="660400"/>
                </a:cubicBezTo>
                <a:lnTo>
                  <a:pt x="19050" y="660400"/>
                </a:lnTo>
                <a:cubicBezTo>
                  <a:pt x="8509" y="660400"/>
                  <a:pt x="0" y="651891"/>
                  <a:pt x="0" y="6413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ct-1"/>
          <p:cNvSpPr txBox="1"/>
          <p:nvPr/>
        </p:nvSpPr>
        <p:spPr>
          <a:xfrm>
            <a:off x="1703070" y="5356066"/>
            <a:ext cx="954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3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大本营 · 2026 Q1</a:t>
            </a:r>
          </a:p>
        </p:txBody>
      </p:sp>
      <p:sp>
        <p:nvSpPr>
          <p:cNvPr id="20" name="cg-1"/>
          <p:cNvSpPr txBox="1"/>
          <p:nvPr/>
        </p:nvSpPr>
        <p:spPr>
          <a:xfrm>
            <a:off x="1697736" y="5517070"/>
            <a:ext cx="100965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组建攻坚团队</a:t>
            </a:r>
          </a:p>
        </p:txBody>
      </p:sp>
      <p:sp>
        <p:nvSpPr>
          <p:cNvPr id="21" name="cd-1"/>
          <p:cNvSpPr txBox="1"/>
          <p:nvPr/>
        </p:nvSpPr>
        <p:spPr>
          <a:xfrm>
            <a:off x="1703451" y="5740987"/>
            <a:ext cx="1236536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抽调 60 人成立增长委员会</a:t>
            </a:r>
          </a:p>
        </p:txBody>
      </p:sp>
      <p:sp>
        <p:nvSpPr>
          <p:cNvPr id="22" name="camp-2"/>
          <p:cNvSpPr/>
          <p:nvPr/>
        </p:nvSpPr>
        <p:spPr>
          <a:xfrm>
            <a:off x="4845050" y="4692650"/>
            <a:ext cx="215900" cy="2159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0B3E8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campn-2"/>
          <p:cNvSpPr txBox="1"/>
          <p:nvPr/>
        </p:nvSpPr>
        <p:spPr>
          <a:xfrm>
            <a:off x="4883468" y="472106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24" name="card-2"/>
          <p:cNvSpPr/>
          <p:nvPr/>
        </p:nvSpPr>
        <p:spPr>
          <a:xfrm>
            <a:off x="5181600" y="4470400"/>
            <a:ext cx="1778000" cy="660400"/>
          </a:xfrm>
          <a:custGeom>
            <a:avLst/>
            <a:gdLst/>
            <a:ahLst/>
            <a:cxnLst/>
            <a:rect l="0" t="0" r="r" b="b"/>
            <a:pathLst>
              <a:path w="1778000" h="660400">
                <a:moveTo>
                  <a:pt x="101600" y="0"/>
                </a:moveTo>
                <a:lnTo>
                  <a:pt x="1676400" y="0"/>
                </a:lnTo>
                <a:cubicBezTo>
                  <a:pt x="1732534" y="0"/>
                  <a:pt x="1778000" y="45466"/>
                  <a:pt x="1778000" y="101600"/>
                </a:cubicBezTo>
                <a:lnTo>
                  <a:pt x="1778000" y="558800"/>
                </a:lnTo>
                <a:cubicBezTo>
                  <a:pt x="1778000" y="614934"/>
                  <a:pt x="1732534" y="660400"/>
                  <a:pt x="1676400" y="660400"/>
                </a:cubicBezTo>
                <a:lnTo>
                  <a:pt x="101600" y="660400"/>
                </a:lnTo>
                <a:cubicBezTo>
                  <a:pt x="45466" y="660400"/>
                  <a:pt x="0" y="614934"/>
                  <a:pt x="0" y="558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cardb-2"/>
          <p:cNvSpPr/>
          <p:nvPr/>
        </p:nvSpPr>
        <p:spPr>
          <a:xfrm>
            <a:off x="5181600" y="4470400"/>
            <a:ext cx="38100" cy="660400"/>
          </a:xfrm>
          <a:custGeom>
            <a:avLst/>
            <a:gdLst/>
            <a:ahLst/>
            <a:cxnLst/>
            <a:rect l="0" t="0" r="r" b="b"/>
            <a:pathLst>
              <a:path w="38100" h="6604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41350"/>
                </a:lnTo>
                <a:cubicBezTo>
                  <a:pt x="38100" y="651891"/>
                  <a:pt x="29591" y="660400"/>
                  <a:pt x="19050" y="660400"/>
                </a:cubicBezTo>
                <a:lnTo>
                  <a:pt x="19050" y="660400"/>
                </a:lnTo>
                <a:cubicBezTo>
                  <a:pt x="8509" y="660400"/>
                  <a:pt x="0" y="651891"/>
                  <a:pt x="0" y="6413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ct-2"/>
          <p:cNvSpPr txBox="1"/>
          <p:nvPr/>
        </p:nvSpPr>
        <p:spPr>
          <a:xfrm>
            <a:off x="5335270" y="4568666"/>
            <a:ext cx="10534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3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营地 1 · 2026 年底</a:t>
            </a:r>
          </a:p>
        </p:txBody>
      </p:sp>
      <p:sp>
        <p:nvSpPr>
          <p:cNvPr id="27" name="cg-2"/>
          <p:cNvSpPr txBox="1"/>
          <p:nvPr/>
        </p:nvSpPr>
        <p:spPr>
          <a:xfrm>
            <a:off x="5329936" y="4729670"/>
            <a:ext cx="1058418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营收破 15 亿</a:t>
            </a:r>
          </a:p>
        </p:txBody>
      </p:sp>
      <p:sp>
        <p:nvSpPr>
          <p:cNvPr id="28" name="cd-2"/>
          <p:cNvSpPr txBox="1"/>
          <p:nvPr/>
        </p:nvSpPr>
        <p:spPr>
          <a:xfrm>
            <a:off x="5335651" y="4953587"/>
            <a:ext cx="954596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国内大客户份额 25%</a:t>
            </a:r>
          </a:p>
        </p:txBody>
      </p:sp>
      <p:sp>
        <p:nvSpPr>
          <p:cNvPr id="29" name="camp-3"/>
          <p:cNvSpPr/>
          <p:nvPr/>
        </p:nvSpPr>
        <p:spPr>
          <a:xfrm>
            <a:off x="5797550" y="3765550"/>
            <a:ext cx="215900" cy="2159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0B3E8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campn-3"/>
          <p:cNvSpPr txBox="1"/>
          <p:nvPr/>
        </p:nvSpPr>
        <p:spPr>
          <a:xfrm>
            <a:off x="5835968" y="379396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31" name="card-3"/>
          <p:cNvSpPr/>
          <p:nvPr/>
        </p:nvSpPr>
        <p:spPr>
          <a:xfrm>
            <a:off x="3898900" y="3543300"/>
            <a:ext cx="1778000" cy="660400"/>
          </a:xfrm>
          <a:custGeom>
            <a:avLst/>
            <a:gdLst/>
            <a:ahLst/>
            <a:cxnLst/>
            <a:rect l="0" t="0" r="r" b="b"/>
            <a:pathLst>
              <a:path w="1778000" h="660400">
                <a:moveTo>
                  <a:pt x="101600" y="0"/>
                </a:moveTo>
                <a:lnTo>
                  <a:pt x="1676400" y="0"/>
                </a:lnTo>
                <a:cubicBezTo>
                  <a:pt x="1732534" y="0"/>
                  <a:pt x="1778000" y="45466"/>
                  <a:pt x="1778000" y="101600"/>
                </a:cubicBezTo>
                <a:lnTo>
                  <a:pt x="1778000" y="558800"/>
                </a:lnTo>
                <a:cubicBezTo>
                  <a:pt x="1778000" y="614934"/>
                  <a:pt x="1732534" y="660400"/>
                  <a:pt x="1676400" y="660400"/>
                </a:cubicBezTo>
                <a:lnTo>
                  <a:pt x="101600" y="660400"/>
                </a:lnTo>
                <a:cubicBezTo>
                  <a:pt x="45466" y="660400"/>
                  <a:pt x="0" y="614934"/>
                  <a:pt x="0" y="558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cardb-3"/>
          <p:cNvSpPr/>
          <p:nvPr/>
        </p:nvSpPr>
        <p:spPr>
          <a:xfrm>
            <a:off x="3898900" y="3543300"/>
            <a:ext cx="38100" cy="660400"/>
          </a:xfrm>
          <a:custGeom>
            <a:avLst/>
            <a:gdLst/>
            <a:ahLst/>
            <a:cxnLst/>
            <a:rect l="0" t="0" r="r" b="b"/>
            <a:pathLst>
              <a:path w="38100" h="6604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41350"/>
                </a:lnTo>
                <a:cubicBezTo>
                  <a:pt x="38100" y="651891"/>
                  <a:pt x="29591" y="660400"/>
                  <a:pt x="19050" y="660400"/>
                </a:cubicBezTo>
                <a:lnTo>
                  <a:pt x="19050" y="660400"/>
                </a:lnTo>
                <a:cubicBezTo>
                  <a:pt x="8509" y="660400"/>
                  <a:pt x="0" y="651891"/>
                  <a:pt x="0" y="6413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ct-3"/>
          <p:cNvSpPr txBox="1"/>
          <p:nvPr/>
        </p:nvSpPr>
        <p:spPr>
          <a:xfrm>
            <a:off x="4052570" y="3641566"/>
            <a:ext cx="10534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3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营地 2 · 2027 年中</a:t>
            </a:r>
          </a:p>
        </p:txBody>
      </p:sp>
      <p:sp>
        <p:nvSpPr>
          <p:cNvPr id="34" name="cg-3"/>
          <p:cNvSpPr txBox="1"/>
          <p:nvPr/>
        </p:nvSpPr>
        <p:spPr>
          <a:xfrm>
            <a:off x="4047236" y="3802571"/>
            <a:ext cx="1119886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海外 3 国落地</a:t>
            </a:r>
          </a:p>
        </p:txBody>
      </p:sp>
      <p:sp>
        <p:nvSpPr>
          <p:cNvPr id="35" name="cd-3"/>
          <p:cNvSpPr txBox="1"/>
          <p:nvPr/>
        </p:nvSpPr>
        <p:spPr>
          <a:xfrm>
            <a:off x="4052951" y="4026487"/>
            <a:ext cx="102266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新加坡、迪拜、雅加达</a:t>
            </a:r>
          </a:p>
        </p:txBody>
      </p:sp>
      <p:sp>
        <p:nvSpPr>
          <p:cNvPr id="36" name="camp-4"/>
          <p:cNvSpPr/>
          <p:nvPr/>
        </p:nvSpPr>
        <p:spPr>
          <a:xfrm>
            <a:off x="6686550" y="2876550"/>
            <a:ext cx="215900" cy="2159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0B3E8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campn-4"/>
          <p:cNvSpPr txBox="1"/>
          <p:nvPr/>
        </p:nvSpPr>
        <p:spPr>
          <a:xfrm>
            <a:off x="6724968" y="290496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38" name="card-4"/>
          <p:cNvSpPr/>
          <p:nvPr/>
        </p:nvSpPr>
        <p:spPr>
          <a:xfrm>
            <a:off x="7023100" y="2654300"/>
            <a:ext cx="1778000" cy="660400"/>
          </a:xfrm>
          <a:custGeom>
            <a:avLst/>
            <a:gdLst/>
            <a:ahLst/>
            <a:cxnLst/>
            <a:rect l="0" t="0" r="r" b="b"/>
            <a:pathLst>
              <a:path w="1778000" h="660400">
                <a:moveTo>
                  <a:pt x="101600" y="0"/>
                </a:moveTo>
                <a:lnTo>
                  <a:pt x="1676400" y="0"/>
                </a:lnTo>
                <a:cubicBezTo>
                  <a:pt x="1732534" y="0"/>
                  <a:pt x="1778000" y="45466"/>
                  <a:pt x="1778000" y="101600"/>
                </a:cubicBezTo>
                <a:lnTo>
                  <a:pt x="1778000" y="558800"/>
                </a:lnTo>
                <a:cubicBezTo>
                  <a:pt x="1778000" y="614934"/>
                  <a:pt x="1732534" y="660400"/>
                  <a:pt x="1676400" y="660400"/>
                </a:cubicBezTo>
                <a:lnTo>
                  <a:pt x="101600" y="660400"/>
                </a:lnTo>
                <a:cubicBezTo>
                  <a:pt x="45466" y="660400"/>
                  <a:pt x="0" y="614934"/>
                  <a:pt x="0" y="558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cardb-4"/>
          <p:cNvSpPr/>
          <p:nvPr/>
        </p:nvSpPr>
        <p:spPr>
          <a:xfrm>
            <a:off x="7023100" y="2654300"/>
            <a:ext cx="38100" cy="660400"/>
          </a:xfrm>
          <a:custGeom>
            <a:avLst/>
            <a:gdLst/>
            <a:ahLst/>
            <a:cxnLst/>
            <a:rect l="0" t="0" r="r" b="b"/>
            <a:pathLst>
              <a:path w="38100" h="6604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41350"/>
                </a:lnTo>
                <a:cubicBezTo>
                  <a:pt x="38100" y="651891"/>
                  <a:pt x="29591" y="660400"/>
                  <a:pt x="19050" y="660400"/>
                </a:cubicBezTo>
                <a:lnTo>
                  <a:pt x="19050" y="660400"/>
                </a:lnTo>
                <a:cubicBezTo>
                  <a:pt x="8509" y="660400"/>
                  <a:pt x="0" y="651891"/>
                  <a:pt x="0" y="6413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ct-4"/>
          <p:cNvSpPr txBox="1"/>
          <p:nvPr/>
        </p:nvSpPr>
        <p:spPr>
          <a:xfrm>
            <a:off x="7176770" y="2752566"/>
            <a:ext cx="10534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3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营地 3 · 2027 年底</a:t>
            </a:r>
          </a:p>
        </p:txBody>
      </p:sp>
      <p:sp>
        <p:nvSpPr>
          <p:cNvPr id="41" name="cg-4"/>
          <p:cNvSpPr txBox="1"/>
          <p:nvPr/>
        </p:nvSpPr>
        <p:spPr>
          <a:xfrm>
            <a:off x="7171436" y="2913570"/>
            <a:ext cx="100965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份额升至第二</a:t>
            </a:r>
          </a:p>
        </p:txBody>
      </p:sp>
      <p:sp>
        <p:nvSpPr>
          <p:cNvPr id="42" name="cd-4"/>
          <p:cNvSpPr txBox="1"/>
          <p:nvPr/>
        </p:nvSpPr>
        <p:spPr>
          <a:xfrm>
            <a:off x="7177151" y="3137487"/>
            <a:ext cx="565721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超过品牌 B</a:t>
            </a:r>
          </a:p>
        </p:txBody>
      </p:sp>
      <p:cxnSp>
        <p:nvCxnSpPr>
          <p:cNvPr id="43" name="flag-pole"/>
          <p:cNvCxnSpPr/>
          <p:nvPr/>
        </p:nvCxnSpPr>
        <p:spPr>
          <a:xfrm flipV="1">
            <a:off x="7556500" y="1219200"/>
            <a:ext cx="0" cy="444500"/>
          </a:xfrm>
          <a:prstGeom prst="line">
            <a:avLst/>
          </a:prstGeom>
          <a:ln w="19050" cap="rnd">
            <a:solidFill>
              <a:srgbClr val="0B2545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flag"/>
          <p:cNvSpPr/>
          <p:nvPr/>
        </p:nvSpPr>
        <p:spPr>
          <a:xfrm>
            <a:off x="7556500" y="1219200"/>
            <a:ext cx="292100" cy="165100"/>
          </a:xfrm>
          <a:custGeom>
            <a:avLst/>
            <a:gdLst/>
            <a:ahLst/>
            <a:cxnLst/>
            <a:rect l="0" t="0" r="r" b="b"/>
            <a:pathLst>
              <a:path w="292100" h="165100">
                <a:moveTo>
                  <a:pt x="0" y="0"/>
                </a:moveTo>
                <a:lnTo>
                  <a:pt x="292100" y="76200"/>
                </a:lnTo>
                <a:lnTo>
                  <a:pt x="0" y="165100"/>
                </a:ln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camp-5"/>
          <p:cNvSpPr/>
          <p:nvPr/>
        </p:nvSpPr>
        <p:spPr>
          <a:xfrm>
            <a:off x="7429500" y="1536700"/>
            <a:ext cx="254000" cy="2540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E0703A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campn-5"/>
          <p:cNvSpPr txBox="1"/>
          <p:nvPr/>
        </p:nvSpPr>
        <p:spPr>
          <a:xfrm>
            <a:off x="7486968" y="158416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47" name="card-5"/>
          <p:cNvSpPr/>
          <p:nvPr/>
        </p:nvSpPr>
        <p:spPr>
          <a:xfrm>
            <a:off x="8001000" y="1092200"/>
            <a:ext cx="1778000" cy="660400"/>
          </a:xfrm>
          <a:custGeom>
            <a:avLst/>
            <a:gdLst/>
            <a:ahLst/>
            <a:cxnLst/>
            <a:rect l="0" t="0" r="r" b="b"/>
            <a:pathLst>
              <a:path w="1778000" h="660400">
                <a:moveTo>
                  <a:pt x="101600" y="0"/>
                </a:moveTo>
                <a:lnTo>
                  <a:pt x="1676400" y="0"/>
                </a:lnTo>
                <a:cubicBezTo>
                  <a:pt x="1732534" y="0"/>
                  <a:pt x="1778000" y="45466"/>
                  <a:pt x="1778000" y="101600"/>
                </a:cubicBezTo>
                <a:lnTo>
                  <a:pt x="1778000" y="558800"/>
                </a:lnTo>
                <a:cubicBezTo>
                  <a:pt x="1778000" y="614934"/>
                  <a:pt x="1732534" y="660400"/>
                  <a:pt x="1676400" y="660400"/>
                </a:cubicBezTo>
                <a:lnTo>
                  <a:pt x="101600" y="660400"/>
                </a:lnTo>
                <a:cubicBezTo>
                  <a:pt x="45466" y="660400"/>
                  <a:pt x="0" y="614934"/>
                  <a:pt x="0" y="558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cardb-5"/>
          <p:cNvSpPr/>
          <p:nvPr/>
        </p:nvSpPr>
        <p:spPr>
          <a:xfrm>
            <a:off x="8001000" y="1092200"/>
            <a:ext cx="38100" cy="660400"/>
          </a:xfrm>
          <a:custGeom>
            <a:avLst/>
            <a:gdLst/>
            <a:ahLst/>
            <a:cxnLst/>
            <a:rect l="0" t="0" r="r" b="b"/>
            <a:pathLst>
              <a:path w="38100" h="6604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41350"/>
                </a:lnTo>
                <a:cubicBezTo>
                  <a:pt x="38100" y="651891"/>
                  <a:pt x="29591" y="660400"/>
                  <a:pt x="19050" y="660400"/>
                </a:cubicBezTo>
                <a:lnTo>
                  <a:pt x="19050" y="660400"/>
                </a:lnTo>
                <a:cubicBezTo>
                  <a:pt x="8509" y="660400"/>
                  <a:pt x="0" y="651891"/>
                  <a:pt x="0" y="6413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ct-5"/>
          <p:cNvSpPr txBox="1"/>
          <p:nvPr/>
        </p:nvSpPr>
        <p:spPr>
          <a:xfrm>
            <a:off x="8154670" y="1190466"/>
            <a:ext cx="6838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3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顶峰 · 2028</a:t>
            </a:r>
          </a:p>
        </p:txBody>
      </p:sp>
      <p:sp>
        <p:nvSpPr>
          <p:cNvPr id="50" name="cg-5"/>
          <p:cNvSpPr txBox="1"/>
          <p:nvPr/>
        </p:nvSpPr>
        <p:spPr>
          <a:xfrm>
            <a:off x="8149336" y="1351470"/>
            <a:ext cx="71501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行业第一</a:t>
            </a:r>
          </a:p>
        </p:txBody>
      </p:sp>
      <p:sp>
        <p:nvSpPr>
          <p:cNvPr id="51" name="cd-5"/>
          <p:cNvSpPr txBox="1"/>
          <p:nvPr/>
        </p:nvSpPr>
        <p:spPr>
          <a:xfrm>
            <a:off x="8155051" y="1575387"/>
            <a:ext cx="672656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市场份额 28%</a:t>
            </a:r>
          </a:p>
        </p:txBody>
      </p:sp>
      <p:sp>
        <p:nvSpPr>
          <p:cNvPr id="52" name="h-y0"/>
          <p:cNvSpPr txBox="1"/>
          <p:nvPr/>
        </p:nvSpPr>
        <p:spPr>
          <a:xfrm>
            <a:off x="917448" y="1302956"/>
            <a:ext cx="917194" cy="5111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3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2026</a:t>
            </a:r>
          </a:p>
        </p:txBody>
      </p:sp>
      <p:sp>
        <p:nvSpPr>
          <p:cNvPr id="53" name="h-ar"/>
          <p:cNvSpPr txBox="1"/>
          <p:nvPr/>
        </p:nvSpPr>
        <p:spPr>
          <a:xfrm>
            <a:off x="1777492" y="1358964"/>
            <a:ext cx="315214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→</a:t>
            </a:r>
          </a:p>
        </p:txBody>
      </p:sp>
      <p:sp>
        <p:nvSpPr>
          <p:cNvPr id="54" name="h-y1"/>
          <p:cNvSpPr txBox="1"/>
          <p:nvPr/>
        </p:nvSpPr>
        <p:spPr>
          <a:xfrm>
            <a:off x="2098548" y="1302956"/>
            <a:ext cx="917194" cy="5111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3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2028</a:t>
            </a:r>
          </a:p>
        </p:txBody>
      </p:sp>
      <p:sp>
        <p:nvSpPr>
          <p:cNvPr id="55" name="h-t"/>
          <p:cNvSpPr txBox="1"/>
          <p:nvPr/>
        </p:nvSpPr>
        <p:spPr>
          <a:xfrm>
            <a:off x="933450" y="1785144"/>
            <a:ext cx="18573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从行业第三到行业第一</a:t>
            </a:r>
          </a:p>
        </p:txBody>
      </p:sp>
      <p:sp>
        <p:nvSpPr>
          <p:cNvPr id="56" name="h-p1"/>
          <p:cNvSpPr txBox="1"/>
          <p:nvPr/>
        </p:nvSpPr>
        <p:spPr>
          <a:xfrm>
            <a:off x="939165" y="2123361"/>
            <a:ext cx="146399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每个营地都是一次复盘点：</a:t>
            </a:r>
          </a:p>
        </p:txBody>
      </p:sp>
      <p:sp>
        <p:nvSpPr>
          <p:cNvPr id="57" name="h-p2"/>
          <p:cNvSpPr txBox="1"/>
          <p:nvPr/>
        </p:nvSpPr>
        <p:spPr>
          <a:xfrm>
            <a:off x="939165" y="2326561"/>
            <a:ext cx="19186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目标没达成就先补给，不急着冲顶。</a:t>
            </a:r>
          </a:p>
        </p:txBody>
      </p:sp>
      <p:cxnSp>
        <p:nvCxnSpPr>
          <p:cNvPr id="58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登山路线 · 四个营地</a:t>
            </a:r>
          </a:p>
        </p:txBody>
      </p:sp>
      <p:sp>
        <p:nvSpPr>
          <p:cNvPr id="60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三档套餐怎么搭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44589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BUILDING BLOCKS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064881" y="673132"/>
            <a:ext cx="355587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同一套积木，按需叠加：基础版 2 块、专业版 4 块、旗舰版 6 块</a:t>
            </a:r>
          </a:p>
        </p:txBody>
      </p:sp>
      <p:sp>
        <p:nvSpPr>
          <p:cNvPr id="10" name="ground"/>
          <p:cNvSpPr/>
          <p:nvPr/>
        </p:nvSpPr>
        <p:spPr>
          <a:xfrm>
            <a:off x="1143000" y="5257800"/>
            <a:ext cx="6794500" cy="88900"/>
          </a:xfrm>
          <a:custGeom>
            <a:avLst/>
            <a:gdLst/>
            <a:ahLst/>
            <a:cxnLst/>
            <a:rect l="0" t="0" r="r" b="b"/>
            <a:pathLst>
              <a:path w="6794500" h="88900">
                <a:moveTo>
                  <a:pt x="44450" y="0"/>
                </a:moveTo>
                <a:lnTo>
                  <a:pt x="6750050" y="0"/>
                </a:lnTo>
                <a:cubicBezTo>
                  <a:pt x="6774624" y="0"/>
                  <a:pt x="6794500" y="19875"/>
                  <a:pt x="6794500" y="44450"/>
                </a:cubicBezTo>
                <a:lnTo>
                  <a:pt x="6794500" y="44450"/>
                </a:lnTo>
                <a:cubicBezTo>
                  <a:pt x="6794500" y="69025"/>
                  <a:pt x="6774624" y="88900"/>
                  <a:pt x="6750050" y="88900"/>
                </a:cubicBezTo>
                <a:lnTo>
                  <a:pt x="44450" y="88900"/>
                </a:lnTo>
                <a:cubicBezTo>
                  <a:pt x="19875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0B2545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b-1-1-stud1"/>
          <p:cNvSpPr/>
          <p:nvPr/>
        </p:nvSpPr>
        <p:spPr>
          <a:xfrm>
            <a:off x="1739900" y="47371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5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3761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b-1-1-stud2"/>
          <p:cNvSpPr/>
          <p:nvPr/>
        </p:nvSpPr>
        <p:spPr>
          <a:xfrm>
            <a:off x="2311400" y="47371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5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3761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b-1-1-stud3"/>
          <p:cNvSpPr/>
          <p:nvPr/>
        </p:nvSpPr>
        <p:spPr>
          <a:xfrm>
            <a:off x="2882900" y="47371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5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3761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b-1-1"/>
          <p:cNvSpPr/>
          <p:nvPr/>
        </p:nvSpPr>
        <p:spPr>
          <a:xfrm>
            <a:off x="1460500" y="4826000"/>
            <a:ext cx="1841500" cy="431800"/>
          </a:xfrm>
          <a:custGeom>
            <a:avLst/>
            <a:gdLst/>
            <a:ahLst/>
            <a:cxnLst/>
            <a:rect l="0" t="0" r="r" b="b"/>
            <a:pathLst>
              <a:path w="1841500" h="431800">
                <a:moveTo>
                  <a:pt x="76200" y="0"/>
                </a:moveTo>
                <a:lnTo>
                  <a:pt x="1765300" y="0"/>
                </a:lnTo>
                <a:cubicBezTo>
                  <a:pt x="1807400" y="0"/>
                  <a:pt x="1841500" y="34100"/>
                  <a:pt x="1841500" y="76200"/>
                </a:cubicBezTo>
                <a:lnTo>
                  <a:pt x="1841500" y="355600"/>
                </a:lnTo>
                <a:cubicBezTo>
                  <a:pt x="1841500" y="397700"/>
                  <a:pt x="1807400" y="431800"/>
                  <a:pt x="17653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325DA1"/>
              </a:gs>
              <a:gs pos="100000">
                <a:srgbClr val="0B3E8F"/>
              </a:gs>
            </a:gsLst>
            <a:lin ang="540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b-1-1-shade"/>
          <p:cNvSpPr/>
          <p:nvPr/>
        </p:nvSpPr>
        <p:spPr>
          <a:xfrm>
            <a:off x="1460500" y="5181600"/>
            <a:ext cx="1841500" cy="76200"/>
          </a:xfrm>
          <a:custGeom>
            <a:avLst/>
            <a:gdLst/>
            <a:ahLst/>
            <a:cxnLst/>
            <a:rect l="0" t="0" r="r" b="b"/>
            <a:pathLst>
              <a:path w="1841500" h="76200">
                <a:moveTo>
                  <a:pt x="38100" y="0"/>
                </a:moveTo>
                <a:lnTo>
                  <a:pt x="1803400" y="0"/>
                </a:lnTo>
                <a:cubicBezTo>
                  <a:pt x="1824418" y="0"/>
                  <a:pt x="1841500" y="17082"/>
                  <a:pt x="1841500" y="38100"/>
                </a:cubicBezTo>
                <a:lnTo>
                  <a:pt x="1841500" y="38100"/>
                </a:lnTo>
                <a:cubicBezTo>
                  <a:pt x="1841500" y="59118"/>
                  <a:pt x="1824418" y="76200"/>
                  <a:pt x="1803400" y="76200"/>
                </a:cubicBezTo>
                <a:lnTo>
                  <a:pt x="38100" y="76200"/>
                </a:lnTo>
                <a:cubicBezTo>
                  <a:pt x="17081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08234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b-1-1-t"/>
          <p:cNvSpPr txBox="1"/>
          <p:nvPr/>
        </p:nvSpPr>
        <p:spPr>
          <a:xfrm>
            <a:off x="2044700" y="4929505"/>
            <a:ext cx="6731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核心平台</a:t>
            </a:r>
          </a:p>
        </p:txBody>
      </p:sp>
      <p:sp>
        <p:nvSpPr>
          <p:cNvPr id="17" name="b-1-2-stud1"/>
          <p:cNvSpPr/>
          <p:nvPr/>
        </p:nvSpPr>
        <p:spPr>
          <a:xfrm>
            <a:off x="1739900" y="41529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5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4478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b-1-2-stud2"/>
          <p:cNvSpPr/>
          <p:nvPr/>
        </p:nvSpPr>
        <p:spPr>
          <a:xfrm>
            <a:off x="2311400" y="41529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5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4478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b-1-2-stud3"/>
          <p:cNvSpPr/>
          <p:nvPr/>
        </p:nvSpPr>
        <p:spPr>
          <a:xfrm>
            <a:off x="2882900" y="41529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5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4478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b-1-2"/>
          <p:cNvSpPr/>
          <p:nvPr/>
        </p:nvSpPr>
        <p:spPr>
          <a:xfrm>
            <a:off x="1460500" y="4241800"/>
            <a:ext cx="1841500" cy="431800"/>
          </a:xfrm>
          <a:custGeom>
            <a:avLst/>
            <a:gdLst/>
            <a:ahLst/>
            <a:cxnLst/>
            <a:rect l="0" t="0" r="r" b="b"/>
            <a:pathLst>
              <a:path w="1841500" h="431800">
                <a:moveTo>
                  <a:pt x="76200" y="0"/>
                </a:moveTo>
                <a:lnTo>
                  <a:pt x="1765300" y="0"/>
                </a:lnTo>
                <a:cubicBezTo>
                  <a:pt x="1807400" y="0"/>
                  <a:pt x="1841500" y="34100"/>
                  <a:pt x="1841500" y="76200"/>
                </a:cubicBezTo>
                <a:lnTo>
                  <a:pt x="1841500" y="355600"/>
                </a:lnTo>
                <a:cubicBezTo>
                  <a:pt x="1841500" y="397700"/>
                  <a:pt x="1807400" y="431800"/>
                  <a:pt x="17653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3F74B6"/>
              </a:gs>
              <a:gs pos="100000">
                <a:srgbClr val="1B5AA8"/>
              </a:gs>
            </a:gsLst>
            <a:lin ang="540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b-1-2-shade"/>
          <p:cNvSpPr/>
          <p:nvPr/>
        </p:nvSpPr>
        <p:spPr>
          <a:xfrm>
            <a:off x="1460500" y="4597400"/>
            <a:ext cx="1841500" cy="76200"/>
          </a:xfrm>
          <a:custGeom>
            <a:avLst/>
            <a:gdLst/>
            <a:ahLst/>
            <a:cxnLst/>
            <a:rect l="0" t="0" r="r" b="b"/>
            <a:pathLst>
              <a:path w="1841500" h="76200">
                <a:moveTo>
                  <a:pt x="38100" y="0"/>
                </a:moveTo>
                <a:lnTo>
                  <a:pt x="1803400" y="0"/>
                </a:lnTo>
                <a:cubicBezTo>
                  <a:pt x="1824418" y="0"/>
                  <a:pt x="1841500" y="17082"/>
                  <a:pt x="1841500" y="38100"/>
                </a:cubicBezTo>
                <a:lnTo>
                  <a:pt x="1841500" y="38100"/>
                </a:lnTo>
                <a:cubicBezTo>
                  <a:pt x="1841500" y="59118"/>
                  <a:pt x="1824418" y="76200"/>
                  <a:pt x="1803400" y="76200"/>
                </a:cubicBezTo>
                <a:lnTo>
                  <a:pt x="38100" y="76200"/>
                </a:lnTo>
                <a:cubicBezTo>
                  <a:pt x="17081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08234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b-1-2-t"/>
          <p:cNvSpPr txBox="1"/>
          <p:nvPr/>
        </p:nvSpPr>
        <p:spPr>
          <a:xfrm>
            <a:off x="2044700" y="4345305"/>
            <a:ext cx="6731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基础模板</a:t>
            </a:r>
          </a:p>
        </p:txBody>
      </p:sp>
      <p:sp>
        <p:nvSpPr>
          <p:cNvPr id="23" name="pn-1"/>
          <p:cNvSpPr txBox="1"/>
          <p:nvPr/>
        </p:nvSpPr>
        <p:spPr>
          <a:xfrm>
            <a:off x="2043112" y="5417344"/>
            <a:ext cx="6762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基础版</a:t>
            </a:r>
          </a:p>
        </p:txBody>
      </p:sp>
      <p:sp>
        <p:nvSpPr>
          <p:cNvPr id="24" name="pp-1"/>
          <p:cNvSpPr txBox="1"/>
          <p:nvPr/>
        </p:nvSpPr>
        <p:spPr>
          <a:xfrm>
            <a:off x="2042287" y="5664264"/>
            <a:ext cx="677926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7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¥1.2</a:t>
            </a:r>
          </a:p>
        </p:txBody>
      </p:sp>
      <p:sp>
        <p:nvSpPr>
          <p:cNvPr id="25" name="pw-1"/>
          <p:cNvSpPr txBox="1"/>
          <p:nvPr/>
        </p:nvSpPr>
        <p:spPr>
          <a:xfrm>
            <a:off x="1794605" y="5994987"/>
            <a:ext cx="117329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万元 / 年 · 小团队起步</a:t>
            </a:r>
          </a:p>
        </p:txBody>
      </p:sp>
      <p:sp>
        <p:nvSpPr>
          <p:cNvPr id="26" name="b-2-1-stud1"/>
          <p:cNvSpPr/>
          <p:nvPr/>
        </p:nvSpPr>
        <p:spPr>
          <a:xfrm>
            <a:off x="3898900" y="47371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5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3761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b-2-1-stud2"/>
          <p:cNvSpPr/>
          <p:nvPr/>
        </p:nvSpPr>
        <p:spPr>
          <a:xfrm>
            <a:off x="4470400" y="47371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5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3761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b-2-1-stud3"/>
          <p:cNvSpPr/>
          <p:nvPr/>
        </p:nvSpPr>
        <p:spPr>
          <a:xfrm>
            <a:off x="5041900" y="47371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5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3761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b-2-1"/>
          <p:cNvSpPr/>
          <p:nvPr/>
        </p:nvSpPr>
        <p:spPr>
          <a:xfrm>
            <a:off x="3619500" y="4826000"/>
            <a:ext cx="1841500" cy="431800"/>
          </a:xfrm>
          <a:custGeom>
            <a:avLst/>
            <a:gdLst/>
            <a:ahLst/>
            <a:cxnLst/>
            <a:rect l="0" t="0" r="r" b="b"/>
            <a:pathLst>
              <a:path w="1841500" h="431800">
                <a:moveTo>
                  <a:pt x="76200" y="0"/>
                </a:moveTo>
                <a:lnTo>
                  <a:pt x="1765300" y="0"/>
                </a:lnTo>
                <a:cubicBezTo>
                  <a:pt x="1807400" y="0"/>
                  <a:pt x="1841500" y="34100"/>
                  <a:pt x="1841500" y="76200"/>
                </a:cubicBezTo>
                <a:lnTo>
                  <a:pt x="1841500" y="355600"/>
                </a:lnTo>
                <a:cubicBezTo>
                  <a:pt x="1841500" y="397700"/>
                  <a:pt x="1807400" y="431800"/>
                  <a:pt x="17653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325DA1"/>
              </a:gs>
              <a:gs pos="100000">
                <a:srgbClr val="0B3E8F"/>
              </a:gs>
            </a:gsLst>
            <a:lin ang="540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b-2-1-shade"/>
          <p:cNvSpPr/>
          <p:nvPr/>
        </p:nvSpPr>
        <p:spPr>
          <a:xfrm>
            <a:off x="3619500" y="5181600"/>
            <a:ext cx="1841500" cy="76200"/>
          </a:xfrm>
          <a:custGeom>
            <a:avLst/>
            <a:gdLst/>
            <a:ahLst/>
            <a:cxnLst/>
            <a:rect l="0" t="0" r="r" b="b"/>
            <a:pathLst>
              <a:path w="1841500" h="76200">
                <a:moveTo>
                  <a:pt x="38100" y="0"/>
                </a:moveTo>
                <a:lnTo>
                  <a:pt x="1803400" y="0"/>
                </a:lnTo>
                <a:cubicBezTo>
                  <a:pt x="1824418" y="0"/>
                  <a:pt x="1841500" y="17082"/>
                  <a:pt x="1841500" y="38100"/>
                </a:cubicBezTo>
                <a:lnTo>
                  <a:pt x="1841500" y="38100"/>
                </a:lnTo>
                <a:cubicBezTo>
                  <a:pt x="1841500" y="59118"/>
                  <a:pt x="1824418" y="76200"/>
                  <a:pt x="1803400" y="76200"/>
                </a:cubicBezTo>
                <a:lnTo>
                  <a:pt x="38100" y="76200"/>
                </a:lnTo>
                <a:cubicBezTo>
                  <a:pt x="17082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08234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b-2-1-t"/>
          <p:cNvSpPr txBox="1"/>
          <p:nvPr/>
        </p:nvSpPr>
        <p:spPr>
          <a:xfrm>
            <a:off x="4203700" y="4929505"/>
            <a:ext cx="6731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核心平台</a:t>
            </a:r>
          </a:p>
        </p:txBody>
      </p:sp>
      <p:sp>
        <p:nvSpPr>
          <p:cNvPr id="32" name="b-2-2-stud1"/>
          <p:cNvSpPr/>
          <p:nvPr/>
        </p:nvSpPr>
        <p:spPr>
          <a:xfrm>
            <a:off x="3898900" y="41529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5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4478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b-2-2-stud2"/>
          <p:cNvSpPr/>
          <p:nvPr/>
        </p:nvSpPr>
        <p:spPr>
          <a:xfrm>
            <a:off x="4470400" y="41529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5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4478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b-2-2-stud3"/>
          <p:cNvSpPr/>
          <p:nvPr/>
        </p:nvSpPr>
        <p:spPr>
          <a:xfrm>
            <a:off x="5041900" y="41529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5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4478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b-2-2"/>
          <p:cNvSpPr/>
          <p:nvPr/>
        </p:nvSpPr>
        <p:spPr>
          <a:xfrm>
            <a:off x="3619500" y="4241800"/>
            <a:ext cx="1841500" cy="431800"/>
          </a:xfrm>
          <a:custGeom>
            <a:avLst/>
            <a:gdLst/>
            <a:ahLst/>
            <a:cxnLst/>
            <a:rect l="0" t="0" r="r" b="b"/>
            <a:pathLst>
              <a:path w="1841500" h="431800">
                <a:moveTo>
                  <a:pt x="76200" y="0"/>
                </a:moveTo>
                <a:lnTo>
                  <a:pt x="1765300" y="0"/>
                </a:lnTo>
                <a:cubicBezTo>
                  <a:pt x="1807400" y="0"/>
                  <a:pt x="1841500" y="34100"/>
                  <a:pt x="1841500" y="76200"/>
                </a:cubicBezTo>
                <a:lnTo>
                  <a:pt x="1841500" y="355600"/>
                </a:lnTo>
                <a:cubicBezTo>
                  <a:pt x="1841500" y="397700"/>
                  <a:pt x="1807400" y="431800"/>
                  <a:pt x="17653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3F74B6"/>
              </a:gs>
              <a:gs pos="100000">
                <a:srgbClr val="1B5AA8"/>
              </a:gs>
            </a:gsLst>
            <a:lin ang="540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b-2-2-shade"/>
          <p:cNvSpPr/>
          <p:nvPr/>
        </p:nvSpPr>
        <p:spPr>
          <a:xfrm>
            <a:off x="3619500" y="4597400"/>
            <a:ext cx="1841500" cy="76200"/>
          </a:xfrm>
          <a:custGeom>
            <a:avLst/>
            <a:gdLst/>
            <a:ahLst/>
            <a:cxnLst/>
            <a:rect l="0" t="0" r="r" b="b"/>
            <a:pathLst>
              <a:path w="1841500" h="76200">
                <a:moveTo>
                  <a:pt x="38100" y="0"/>
                </a:moveTo>
                <a:lnTo>
                  <a:pt x="1803400" y="0"/>
                </a:lnTo>
                <a:cubicBezTo>
                  <a:pt x="1824418" y="0"/>
                  <a:pt x="1841500" y="17082"/>
                  <a:pt x="1841500" y="38100"/>
                </a:cubicBezTo>
                <a:lnTo>
                  <a:pt x="1841500" y="38100"/>
                </a:lnTo>
                <a:cubicBezTo>
                  <a:pt x="1841500" y="59118"/>
                  <a:pt x="1824418" y="76200"/>
                  <a:pt x="1803400" y="76200"/>
                </a:cubicBezTo>
                <a:lnTo>
                  <a:pt x="38100" y="76200"/>
                </a:lnTo>
                <a:cubicBezTo>
                  <a:pt x="17082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08234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b-2-2-t"/>
          <p:cNvSpPr txBox="1"/>
          <p:nvPr/>
        </p:nvSpPr>
        <p:spPr>
          <a:xfrm>
            <a:off x="4203700" y="4345305"/>
            <a:ext cx="6731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基础模板</a:t>
            </a:r>
          </a:p>
        </p:txBody>
      </p:sp>
      <p:sp>
        <p:nvSpPr>
          <p:cNvPr id="38" name="b-2-3-stud1"/>
          <p:cNvSpPr/>
          <p:nvPr/>
        </p:nvSpPr>
        <p:spPr>
          <a:xfrm>
            <a:off x="3898900" y="35687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5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548F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b-2-3-stud2"/>
          <p:cNvSpPr/>
          <p:nvPr/>
        </p:nvSpPr>
        <p:spPr>
          <a:xfrm>
            <a:off x="4470400" y="35687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5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548F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b-2-3-stud3"/>
          <p:cNvSpPr/>
          <p:nvPr/>
        </p:nvSpPr>
        <p:spPr>
          <a:xfrm>
            <a:off x="5041900" y="35687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5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548F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b-2-3"/>
          <p:cNvSpPr/>
          <p:nvPr/>
        </p:nvSpPr>
        <p:spPr>
          <a:xfrm>
            <a:off x="3619500" y="3657600"/>
            <a:ext cx="1841500" cy="431800"/>
          </a:xfrm>
          <a:custGeom>
            <a:avLst/>
            <a:gdLst/>
            <a:ahLst/>
            <a:cxnLst/>
            <a:rect l="0" t="0" r="r" b="b"/>
            <a:pathLst>
              <a:path w="1841500" h="431800">
                <a:moveTo>
                  <a:pt x="76200" y="0"/>
                </a:moveTo>
                <a:lnTo>
                  <a:pt x="1765300" y="0"/>
                </a:lnTo>
                <a:cubicBezTo>
                  <a:pt x="1807400" y="0"/>
                  <a:pt x="1841500" y="34100"/>
                  <a:pt x="1841500" y="76200"/>
                </a:cubicBezTo>
                <a:lnTo>
                  <a:pt x="1841500" y="355600"/>
                </a:lnTo>
                <a:cubicBezTo>
                  <a:pt x="1841500" y="397700"/>
                  <a:pt x="1807400" y="431800"/>
                  <a:pt x="17653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4F8DCC"/>
              </a:gs>
              <a:gs pos="100000">
                <a:srgbClr val="2E77C2"/>
              </a:gs>
            </a:gsLst>
            <a:lin ang="540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b-2-3-shade"/>
          <p:cNvSpPr/>
          <p:nvPr/>
        </p:nvSpPr>
        <p:spPr>
          <a:xfrm>
            <a:off x="3619500" y="4013200"/>
            <a:ext cx="1841500" cy="76200"/>
          </a:xfrm>
          <a:custGeom>
            <a:avLst/>
            <a:gdLst/>
            <a:ahLst/>
            <a:cxnLst/>
            <a:rect l="0" t="0" r="r" b="b"/>
            <a:pathLst>
              <a:path w="1841500" h="76200">
                <a:moveTo>
                  <a:pt x="38100" y="0"/>
                </a:moveTo>
                <a:lnTo>
                  <a:pt x="1803400" y="0"/>
                </a:lnTo>
                <a:cubicBezTo>
                  <a:pt x="1824418" y="0"/>
                  <a:pt x="1841500" y="17082"/>
                  <a:pt x="1841500" y="38100"/>
                </a:cubicBezTo>
                <a:lnTo>
                  <a:pt x="1841500" y="38100"/>
                </a:lnTo>
                <a:cubicBezTo>
                  <a:pt x="1841500" y="59118"/>
                  <a:pt x="1824418" y="76200"/>
                  <a:pt x="1803400" y="76200"/>
                </a:cubicBezTo>
                <a:lnTo>
                  <a:pt x="38100" y="76200"/>
                </a:lnTo>
                <a:cubicBezTo>
                  <a:pt x="17082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08234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b-2-3-t"/>
          <p:cNvSpPr txBox="1"/>
          <p:nvPr/>
        </p:nvSpPr>
        <p:spPr>
          <a:xfrm>
            <a:off x="4203700" y="3761105"/>
            <a:ext cx="6731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数据分析</a:t>
            </a:r>
          </a:p>
        </p:txBody>
      </p:sp>
      <p:sp>
        <p:nvSpPr>
          <p:cNvPr id="44" name="b-2-4-stud1"/>
          <p:cNvSpPr/>
          <p:nvPr/>
        </p:nvSpPr>
        <p:spPr>
          <a:xfrm>
            <a:off x="3898900" y="29845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5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67A7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b-2-4-stud2"/>
          <p:cNvSpPr/>
          <p:nvPr/>
        </p:nvSpPr>
        <p:spPr>
          <a:xfrm>
            <a:off x="4470400" y="29845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5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67A7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b-2-4-stud3"/>
          <p:cNvSpPr/>
          <p:nvPr/>
        </p:nvSpPr>
        <p:spPr>
          <a:xfrm>
            <a:off x="5041900" y="29845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5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67A7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b-2-4"/>
          <p:cNvSpPr/>
          <p:nvPr/>
        </p:nvSpPr>
        <p:spPr>
          <a:xfrm>
            <a:off x="3619500" y="3073400"/>
            <a:ext cx="1841500" cy="431800"/>
          </a:xfrm>
          <a:custGeom>
            <a:avLst/>
            <a:gdLst/>
            <a:ahLst/>
            <a:cxnLst/>
            <a:rect l="0" t="0" r="r" b="b"/>
            <a:pathLst>
              <a:path w="1841500" h="431800">
                <a:moveTo>
                  <a:pt x="76200" y="0"/>
                </a:moveTo>
                <a:lnTo>
                  <a:pt x="1765300" y="0"/>
                </a:lnTo>
                <a:cubicBezTo>
                  <a:pt x="1807400" y="0"/>
                  <a:pt x="1841500" y="34100"/>
                  <a:pt x="1841500" y="76200"/>
                </a:cubicBezTo>
                <a:lnTo>
                  <a:pt x="1841500" y="355600"/>
                </a:lnTo>
                <a:cubicBezTo>
                  <a:pt x="1841500" y="397700"/>
                  <a:pt x="1807400" y="431800"/>
                  <a:pt x="17653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64A5DD"/>
              </a:gs>
              <a:gs pos="100000">
                <a:srgbClr val="4694D7"/>
              </a:gs>
            </a:gsLst>
            <a:lin ang="540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b-2-4-shade"/>
          <p:cNvSpPr/>
          <p:nvPr/>
        </p:nvSpPr>
        <p:spPr>
          <a:xfrm>
            <a:off x="3619500" y="3429000"/>
            <a:ext cx="1841500" cy="76200"/>
          </a:xfrm>
          <a:custGeom>
            <a:avLst/>
            <a:gdLst/>
            <a:ahLst/>
            <a:cxnLst/>
            <a:rect l="0" t="0" r="r" b="b"/>
            <a:pathLst>
              <a:path w="1841500" h="76200">
                <a:moveTo>
                  <a:pt x="38100" y="0"/>
                </a:moveTo>
                <a:lnTo>
                  <a:pt x="1803400" y="0"/>
                </a:lnTo>
                <a:cubicBezTo>
                  <a:pt x="1824418" y="0"/>
                  <a:pt x="1841500" y="17082"/>
                  <a:pt x="1841500" y="38100"/>
                </a:cubicBezTo>
                <a:lnTo>
                  <a:pt x="1841500" y="38100"/>
                </a:lnTo>
                <a:cubicBezTo>
                  <a:pt x="1841500" y="59118"/>
                  <a:pt x="1824418" y="76200"/>
                  <a:pt x="1803400" y="76200"/>
                </a:cubicBezTo>
                <a:lnTo>
                  <a:pt x="38100" y="76200"/>
                </a:lnTo>
                <a:cubicBezTo>
                  <a:pt x="17082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08234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b-2-4-t"/>
          <p:cNvSpPr txBox="1"/>
          <p:nvPr/>
        </p:nvSpPr>
        <p:spPr>
          <a:xfrm>
            <a:off x="4203700" y="3176905"/>
            <a:ext cx="6731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协同办公</a:t>
            </a:r>
          </a:p>
        </p:txBody>
      </p:sp>
      <p:sp>
        <p:nvSpPr>
          <p:cNvPr id="50" name="pn-2"/>
          <p:cNvSpPr txBox="1"/>
          <p:nvPr/>
        </p:nvSpPr>
        <p:spPr>
          <a:xfrm>
            <a:off x="4202112" y="5417344"/>
            <a:ext cx="6762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1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专业版</a:t>
            </a:r>
          </a:p>
        </p:txBody>
      </p:sp>
      <p:sp>
        <p:nvSpPr>
          <p:cNvPr id="51" name="pp-2"/>
          <p:cNvSpPr txBox="1"/>
          <p:nvPr/>
        </p:nvSpPr>
        <p:spPr>
          <a:xfrm>
            <a:off x="4201287" y="5664264"/>
            <a:ext cx="677926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7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¥3.8</a:t>
            </a:r>
          </a:p>
        </p:txBody>
      </p:sp>
      <p:sp>
        <p:nvSpPr>
          <p:cNvPr id="52" name="pw-2"/>
          <p:cNvSpPr txBox="1"/>
          <p:nvPr/>
        </p:nvSpPr>
        <p:spPr>
          <a:xfrm>
            <a:off x="3953605" y="5994987"/>
            <a:ext cx="117329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万元 / 年 · 成长型企业</a:t>
            </a:r>
          </a:p>
        </p:txBody>
      </p:sp>
      <p:sp>
        <p:nvSpPr>
          <p:cNvPr id="53" name="hot"/>
          <p:cNvSpPr/>
          <p:nvPr/>
        </p:nvSpPr>
        <p:spPr>
          <a:xfrm>
            <a:off x="4184650" y="2667000"/>
            <a:ext cx="711200" cy="203200"/>
          </a:xfrm>
          <a:custGeom>
            <a:avLst/>
            <a:gdLst/>
            <a:ahLst/>
            <a:cxnLst/>
            <a:rect l="0" t="0" r="r" b="b"/>
            <a:pathLst>
              <a:path w="711200" h="203200">
                <a:moveTo>
                  <a:pt x="101600" y="0"/>
                </a:moveTo>
                <a:lnTo>
                  <a:pt x="609600" y="0"/>
                </a:lnTo>
                <a:cubicBezTo>
                  <a:pt x="665734" y="0"/>
                  <a:pt x="711200" y="45466"/>
                  <a:pt x="711200" y="101600"/>
                </a:cubicBezTo>
                <a:lnTo>
                  <a:pt x="711200" y="101600"/>
                </a:lnTo>
                <a:cubicBezTo>
                  <a:pt x="711200" y="157734"/>
                  <a:pt x="665734" y="203200"/>
                  <a:pt x="6096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hot-t"/>
          <p:cNvSpPr txBox="1"/>
          <p:nvPr/>
        </p:nvSpPr>
        <p:spPr>
          <a:xfrm>
            <a:off x="4287838" y="2689066"/>
            <a:ext cx="5048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7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最多人选</a:t>
            </a:r>
          </a:p>
        </p:txBody>
      </p:sp>
      <p:sp>
        <p:nvSpPr>
          <p:cNvPr id="55" name="b-3-1-stud1"/>
          <p:cNvSpPr/>
          <p:nvPr/>
        </p:nvSpPr>
        <p:spPr>
          <a:xfrm>
            <a:off x="6057900" y="47371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5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3761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b-3-1-stud2"/>
          <p:cNvSpPr/>
          <p:nvPr/>
        </p:nvSpPr>
        <p:spPr>
          <a:xfrm>
            <a:off x="6629400" y="47371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6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3761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b-3-1-stud3"/>
          <p:cNvSpPr/>
          <p:nvPr/>
        </p:nvSpPr>
        <p:spPr>
          <a:xfrm>
            <a:off x="7200900" y="47371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6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3761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b-3-1"/>
          <p:cNvSpPr/>
          <p:nvPr/>
        </p:nvSpPr>
        <p:spPr>
          <a:xfrm>
            <a:off x="5778500" y="4826000"/>
            <a:ext cx="1841500" cy="431800"/>
          </a:xfrm>
          <a:custGeom>
            <a:avLst/>
            <a:gdLst/>
            <a:ahLst/>
            <a:cxnLst/>
            <a:rect l="0" t="0" r="r" b="b"/>
            <a:pathLst>
              <a:path w="1841500" h="431800">
                <a:moveTo>
                  <a:pt x="76200" y="0"/>
                </a:moveTo>
                <a:lnTo>
                  <a:pt x="1765300" y="0"/>
                </a:lnTo>
                <a:cubicBezTo>
                  <a:pt x="1807401" y="0"/>
                  <a:pt x="1841500" y="34100"/>
                  <a:pt x="1841500" y="76200"/>
                </a:cubicBezTo>
                <a:lnTo>
                  <a:pt x="1841500" y="355600"/>
                </a:lnTo>
                <a:cubicBezTo>
                  <a:pt x="1841500" y="397700"/>
                  <a:pt x="1807401" y="431800"/>
                  <a:pt x="17653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325DA1"/>
              </a:gs>
              <a:gs pos="100000">
                <a:srgbClr val="0B3E8F"/>
              </a:gs>
            </a:gsLst>
            <a:lin ang="540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b-3-1-shade"/>
          <p:cNvSpPr/>
          <p:nvPr/>
        </p:nvSpPr>
        <p:spPr>
          <a:xfrm>
            <a:off x="5778500" y="5181600"/>
            <a:ext cx="1841500" cy="76200"/>
          </a:xfrm>
          <a:custGeom>
            <a:avLst/>
            <a:gdLst/>
            <a:ahLst/>
            <a:cxnLst/>
            <a:rect l="0" t="0" r="r" b="b"/>
            <a:pathLst>
              <a:path w="1841500" h="76200">
                <a:moveTo>
                  <a:pt x="38100" y="0"/>
                </a:moveTo>
                <a:lnTo>
                  <a:pt x="1803400" y="0"/>
                </a:lnTo>
                <a:cubicBezTo>
                  <a:pt x="1824418" y="0"/>
                  <a:pt x="1841500" y="17082"/>
                  <a:pt x="1841500" y="38100"/>
                </a:cubicBezTo>
                <a:lnTo>
                  <a:pt x="1841500" y="38100"/>
                </a:lnTo>
                <a:cubicBezTo>
                  <a:pt x="1841500" y="59118"/>
                  <a:pt x="1824418" y="76200"/>
                  <a:pt x="1803400" y="76200"/>
                </a:cubicBezTo>
                <a:lnTo>
                  <a:pt x="38100" y="76200"/>
                </a:lnTo>
                <a:cubicBezTo>
                  <a:pt x="17082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08234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b-3-1-t"/>
          <p:cNvSpPr txBox="1"/>
          <p:nvPr/>
        </p:nvSpPr>
        <p:spPr>
          <a:xfrm>
            <a:off x="6362700" y="4929505"/>
            <a:ext cx="6731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核心平台</a:t>
            </a:r>
          </a:p>
        </p:txBody>
      </p:sp>
      <p:sp>
        <p:nvSpPr>
          <p:cNvPr id="61" name="b-3-2-stud1"/>
          <p:cNvSpPr/>
          <p:nvPr/>
        </p:nvSpPr>
        <p:spPr>
          <a:xfrm>
            <a:off x="6057900" y="41529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5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4478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b-3-2-stud2"/>
          <p:cNvSpPr/>
          <p:nvPr/>
        </p:nvSpPr>
        <p:spPr>
          <a:xfrm>
            <a:off x="6629400" y="41529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6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4478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b-3-2-stud3"/>
          <p:cNvSpPr/>
          <p:nvPr/>
        </p:nvSpPr>
        <p:spPr>
          <a:xfrm>
            <a:off x="7200900" y="41529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6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4478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b-3-2"/>
          <p:cNvSpPr/>
          <p:nvPr/>
        </p:nvSpPr>
        <p:spPr>
          <a:xfrm>
            <a:off x="5778500" y="4241800"/>
            <a:ext cx="1841500" cy="431800"/>
          </a:xfrm>
          <a:custGeom>
            <a:avLst/>
            <a:gdLst/>
            <a:ahLst/>
            <a:cxnLst/>
            <a:rect l="0" t="0" r="r" b="b"/>
            <a:pathLst>
              <a:path w="1841500" h="431800">
                <a:moveTo>
                  <a:pt x="76200" y="0"/>
                </a:moveTo>
                <a:lnTo>
                  <a:pt x="1765300" y="0"/>
                </a:lnTo>
                <a:cubicBezTo>
                  <a:pt x="1807401" y="0"/>
                  <a:pt x="1841500" y="34100"/>
                  <a:pt x="1841500" y="76200"/>
                </a:cubicBezTo>
                <a:lnTo>
                  <a:pt x="1841500" y="355600"/>
                </a:lnTo>
                <a:cubicBezTo>
                  <a:pt x="1841500" y="397700"/>
                  <a:pt x="1807401" y="431800"/>
                  <a:pt x="17653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3F74B6"/>
              </a:gs>
              <a:gs pos="100000">
                <a:srgbClr val="1B5AA8"/>
              </a:gs>
            </a:gsLst>
            <a:lin ang="540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b-3-2-shade"/>
          <p:cNvSpPr/>
          <p:nvPr/>
        </p:nvSpPr>
        <p:spPr>
          <a:xfrm>
            <a:off x="5778500" y="4597400"/>
            <a:ext cx="1841500" cy="76200"/>
          </a:xfrm>
          <a:custGeom>
            <a:avLst/>
            <a:gdLst/>
            <a:ahLst/>
            <a:cxnLst/>
            <a:rect l="0" t="0" r="r" b="b"/>
            <a:pathLst>
              <a:path w="1841500" h="76200">
                <a:moveTo>
                  <a:pt x="38100" y="0"/>
                </a:moveTo>
                <a:lnTo>
                  <a:pt x="1803400" y="0"/>
                </a:lnTo>
                <a:cubicBezTo>
                  <a:pt x="1824418" y="0"/>
                  <a:pt x="1841500" y="17082"/>
                  <a:pt x="1841500" y="38100"/>
                </a:cubicBezTo>
                <a:lnTo>
                  <a:pt x="1841500" y="38100"/>
                </a:lnTo>
                <a:cubicBezTo>
                  <a:pt x="1841500" y="59118"/>
                  <a:pt x="1824418" y="76200"/>
                  <a:pt x="1803400" y="76200"/>
                </a:cubicBezTo>
                <a:lnTo>
                  <a:pt x="38100" y="76200"/>
                </a:lnTo>
                <a:cubicBezTo>
                  <a:pt x="17082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08234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b-3-2-t"/>
          <p:cNvSpPr txBox="1"/>
          <p:nvPr/>
        </p:nvSpPr>
        <p:spPr>
          <a:xfrm>
            <a:off x="6362700" y="4345305"/>
            <a:ext cx="6731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基础模板</a:t>
            </a:r>
          </a:p>
        </p:txBody>
      </p:sp>
      <p:sp>
        <p:nvSpPr>
          <p:cNvPr id="67" name="b-3-3-stud1"/>
          <p:cNvSpPr/>
          <p:nvPr/>
        </p:nvSpPr>
        <p:spPr>
          <a:xfrm>
            <a:off x="6057900" y="35687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5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548F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b-3-3-stud2"/>
          <p:cNvSpPr/>
          <p:nvPr/>
        </p:nvSpPr>
        <p:spPr>
          <a:xfrm>
            <a:off x="6629400" y="35687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6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548F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b-3-3-stud3"/>
          <p:cNvSpPr/>
          <p:nvPr/>
        </p:nvSpPr>
        <p:spPr>
          <a:xfrm>
            <a:off x="7200900" y="35687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6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548F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b-3-3"/>
          <p:cNvSpPr/>
          <p:nvPr/>
        </p:nvSpPr>
        <p:spPr>
          <a:xfrm>
            <a:off x="5778500" y="3657600"/>
            <a:ext cx="1841500" cy="431800"/>
          </a:xfrm>
          <a:custGeom>
            <a:avLst/>
            <a:gdLst/>
            <a:ahLst/>
            <a:cxnLst/>
            <a:rect l="0" t="0" r="r" b="b"/>
            <a:pathLst>
              <a:path w="1841500" h="431800">
                <a:moveTo>
                  <a:pt x="76200" y="0"/>
                </a:moveTo>
                <a:lnTo>
                  <a:pt x="1765300" y="0"/>
                </a:lnTo>
                <a:cubicBezTo>
                  <a:pt x="1807401" y="0"/>
                  <a:pt x="1841500" y="34100"/>
                  <a:pt x="1841500" y="76200"/>
                </a:cubicBezTo>
                <a:lnTo>
                  <a:pt x="1841500" y="355600"/>
                </a:lnTo>
                <a:cubicBezTo>
                  <a:pt x="1841500" y="397700"/>
                  <a:pt x="1807401" y="431800"/>
                  <a:pt x="17653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4F8DCC"/>
              </a:gs>
              <a:gs pos="100000">
                <a:srgbClr val="2E77C2"/>
              </a:gs>
            </a:gsLst>
            <a:lin ang="540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b-3-3-shade"/>
          <p:cNvSpPr/>
          <p:nvPr/>
        </p:nvSpPr>
        <p:spPr>
          <a:xfrm>
            <a:off x="5778500" y="4013200"/>
            <a:ext cx="1841500" cy="76200"/>
          </a:xfrm>
          <a:custGeom>
            <a:avLst/>
            <a:gdLst/>
            <a:ahLst/>
            <a:cxnLst/>
            <a:rect l="0" t="0" r="r" b="b"/>
            <a:pathLst>
              <a:path w="1841500" h="76200">
                <a:moveTo>
                  <a:pt x="38100" y="0"/>
                </a:moveTo>
                <a:lnTo>
                  <a:pt x="1803400" y="0"/>
                </a:lnTo>
                <a:cubicBezTo>
                  <a:pt x="1824418" y="0"/>
                  <a:pt x="1841500" y="17082"/>
                  <a:pt x="1841500" y="38100"/>
                </a:cubicBezTo>
                <a:lnTo>
                  <a:pt x="1841500" y="38100"/>
                </a:lnTo>
                <a:cubicBezTo>
                  <a:pt x="1841500" y="59118"/>
                  <a:pt x="1824418" y="76200"/>
                  <a:pt x="1803400" y="76200"/>
                </a:cubicBezTo>
                <a:lnTo>
                  <a:pt x="38100" y="76200"/>
                </a:lnTo>
                <a:cubicBezTo>
                  <a:pt x="17082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08234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b-3-3-t"/>
          <p:cNvSpPr txBox="1"/>
          <p:nvPr/>
        </p:nvSpPr>
        <p:spPr>
          <a:xfrm>
            <a:off x="6362700" y="3761105"/>
            <a:ext cx="6731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数据分析</a:t>
            </a:r>
          </a:p>
        </p:txBody>
      </p:sp>
      <p:sp>
        <p:nvSpPr>
          <p:cNvPr id="73" name="b-3-4-stud1"/>
          <p:cNvSpPr/>
          <p:nvPr/>
        </p:nvSpPr>
        <p:spPr>
          <a:xfrm>
            <a:off x="6057900" y="29845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5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67A7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b-3-4-stud2"/>
          <p:cNvSpPr/>
          <p:nvPr/>
        </p:nvSpPr>
        <p:spPr>
          <a:xfrm>
            <a:off x="6629400" y="29845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6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67A7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b-3-4-stud3"/>
          <p:cNvSpPr/>
          <p:nvPr/>
        </p:nvSpPr>
        <p:spPr>
          <a:xfrm>
            <a:off x="7200900" y="29845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6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67A7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b-3-4"/>
          <p:cNvSpPr/>
          <p:nvPr/>
        </p:nvSpPr>
        <p:spPr>
          <a:xfrm>
            <a:off x="5778500" y="3073400"/>
            <a:ext cx="1841500" cy="431800"/>
          </a:xfrm>
          <a:custGeom>
            <a:avLst/>
            <a:gdLst/>
            <a:ahLst/>
            <a:cxnLst/>
            <a:rect l="0" t="0" r="r" b="b"/>
            <a:pathLst>
              <a:path w="1841500" h="431800">
                <a:moveTo>
                  <a:pt x="76200" y="0"/>
                </a:moveTo>
                <a:lnTo>
                  <a:pt x="1765300" y="0"/>
                </a:lnTo>
                <a:cubicBezTo>
                  <a:pt x="1807401" y="0"/>
                  <a:pt x="1841500" y="34100"/>
                  <a:pt x="1841500" y="76200"/>
                </a:cubicBezTo>
                <a:lnTo>
                  <a:pt x="1841500" y="355600"/>
                </a:lnTo>
                <a:cubicBezTo>
                  <a:pt x="1841500" y="397700"/>
                  <a:pt x="1807401" y="431800"/>
                  <a:pt x="17653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64A5DD"/>
              </a:gs>
              <a:gs pos="100000">
                <a:srgbClr val="4694D7"/>
              </a:gs>
            </a:gsLst>
            <a:lin ang="540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b-3-4-shade"/>
          <p:cNvSpPr/>
          <p:nvPr/>
        </p:nvSpPr>
        <p:spPr>
          <a:xfrm>
            <a:off x="5778500" y="3429000"/>
            <a:ext cx="1841500" cy="76200"/>
          </a:xfrm>
          <a:custGeom>
            <a:avLst/>
            <a:gdLst/>
            <a:ahLst/>
            <a:cxnLst/>
            <a:rect l="0" t="0" r="r" b="b"/>
            <a:pathLst>
              <a:path w="1841500" h="76200">
                <a:moveTo>
                  <a:pt x="38100" y="0"/>
                </a:moveTo>
                <a:lnTo>
                  <a:pt x="1803400" y="0"/>
                </a:lnTo>
                <a:cubicBezTo>
                  <a:pt x="1824418" y="0"/>
                  <a:pt x="1841500" y="17082"/>
                  <a:pt x="1841500" y="38100"/>
                </a:cubicBezTo>
                <a:lnTo>
                  <a:pt x="1841500" y="38100"/>
                </a:lnTo>
                <a:cubicBezTo>
                  <a:pt x="1841500" y="59118"/>
                  <a:pt x="1824418" y="76200"/>
                  <a:pt x="1803400" y="76200"/>
                </a:cubicBezTo>
                <a:lnTo>
                  <a:pt x="38100" y="76200"/>
                </a:lnTo>
                <a:cubicBezTo>
                  <a:pt x="17082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08234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b-3-4-t"/>
          <p:cNvSpPr txBox="1"/>
          <p:nvPr/>
        </p:nvSpPr>
        <p:spPr>
          <a:xfrm>
            <a:off x="6362700" y="3176905"/>
            <a:ext cx="6731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协同办公</a:t>
            </a:r>
          </a:p>
        </p:txBody>
      </p:sp>
      <p:sp>
        <p:nvSpPr>
          <p:cNvPr id="79" name="b-3-5-stud1"/>
          <p:cNvSpPr/>
          <p:nvPr/>
        </p:nvSpPr>
        <p:spPr>
          <a:xfrm>
            <a:off x="6057900" y="24003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5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89B6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b-3-5-stud2"/>
          <p:cNvSpPr/>
          <p:nvPr/>
        </p:nvSpPr>
        <p:spPr>
          <a:xfrm>
            <a:off x="6629400" y="24003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6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89B6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b-3-5-stud3"/>
          <p:cNvSpPr/>
          <p:nvPr/>
        </p:nvSpPr>
        <p:spPr>
          <a:xfrm>
            <a:off x="7200900" y="24003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6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89B6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b-3-5"/>
          <p:cNvSpPr/>
          <p:nvPr/>
        </p:nvSpPr>
        <p:spPr>
          <a:xfrm>
            <a:off x="5778500" y="2489200"/>
            <a:ext cx="1841500" cy="431800"/>
          </a:xfrm>
          <a:custGeom>
            <a:avLst/>
            <a:gdLst/>
            <a:ahLst/>
            <a:cxnLst/>
            <a:rect l="0" t="0" r="r" b="b"/>
            <a:pathLst>
              <a:path w="1841500" h="431800">
                <a:moveTo>
                  <a:pt x="76200" y="0"/>
                </a:moveTo>
                <a:lnTo>
                  <a:pt x="1765300" y="0"/>
                </a:lnTo>
                <a:cubicBezTo>
                  <a:pt x="1807401" y="0"/>
                  <a:pt x="1841500" y="34100"/>
                  <a:pt x="1841500" y="76200"/>
                </a:cubicBezTo>
                <a:lnTo>
                  <a:pt x="1841500" y="355600"/>
                </a:lnTo>
                <a:cubicBezTo>
                  <a:pt x="1841500" y="397700"/>
                  <a:pt x="1807401" y="431800"/>
                  <a:pt x="17653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86B4E3"/>
              </a:gs>
              <a:gs pos="100000">
                <a:srgbClr val="6FA6DE"/>
              </a:gs>
            </a:gsLst>
            <a:lin ang="540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b-3-5-shade"/>
          <p:cNvSpPr/>
          <p:nvPr/>
        </p:nvSpPr>
        <p:spPr>
          <a:xfrm>
            <a:off x="5778500" y="2844800"/>
            <a:ext cx="1841500" cy="76200"/>
          </a:xfrm>
          <a:custGeom>
            <a:avLst/>
            <a:gdLst/>
            <a:ahLst/>
            <a:cxnLst/>
            <a:rect l="0" t="0" r="r" b="b"/>
            <a:pathLst>
              <a:path w="1841500" h="76200">
                <a:moveTo>
                  <a:pt x="38100" y="0"/>
                </a:moveTo>
                <a:lnTo>
                  <a:pt x="1803400" y="0"/>
                </a:lnTo>
                <a:cubicBezTo>
                  <a:pt x="1824418" y="0"/>
                  <a:pt x="1841500" y="17081"/>
                  <a:pt x="1841500" y="38100"/>
                </a:cubicBezTo>
                <a:lnTo>
                  <a:pt x="1841500" y="38100"/>
                </a:lnTo>
                <a:cubicBezTo>
                  <a:pt x="1841500" y="59119"/>
                  <a:pt x="1824418" y="76200"/>
                  <a:pt x="1803400" y="76200"/>
                </a:cubicBezTo>
                <a:lnTo>
                  <a:pt x="38100" y="76200"/>
                </a:lnTo>
                <a:cubicBezTo>
                  <a:pt x="17082" y="76200"/>
                  <a:pt x="0" y="59119"/>
                  <a:pt x="0" y="381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8234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b-3-5-t"/>
          <p:cNvSpPr txBox="1"/>
          <p:nvPr/>
        </p:nvSpPr>
        <p:spPr>
          <a:xfrm>
            <a:off x="6376670" y="2592705"/>
            <a:ext cx="64516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AI 助手</a:t>
            </a:r>
          </a:p>
        </p:txBody>
      </p:sp>
      <p:sp>
        <p:nvSpPr>
          <p:cNvPr id="85" name="b-3-6-stud1"/>
          <p:cNvSpPr/>
          <p:nvPr/>
        </p:nvSpPr>
        <p:spPr>
          <a:xfrm>
            <a:off x="6057900" y="18161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5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E68A5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b-3-6-stud2"/>
          <p:cNvSpPr/>
          <p:nvPr/>
        </p:nvSpPr>
        <p:spPr>
          <a:xfrm>
            <a:off x="6629400" y="18161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6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E68A5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b-3-6-stud3"/>
          <p:cNvSpPr/>
          <p:nvPr/>
        </p:nvSpPr>
        <p:spPr>
          <a:xfrm>
            <a:off x="7200900" y="1816100"/>
            <a:ext cx="355600" cy="114300"/>
          </a:xfrm>
          <a:custGeom>
            <a:avLst/>
            <a:gdLst/>
            <a:ahLst/>
            <a:cxnLst/>
            <a:rect l="0" t="0" r="r" b="b"/>
            <a:pathLst>
              <a:path w="355600" h="114300">
                <a:moveTo>
                  <a:pt x="44450" y="0"/>
                </a:moveTo>
                <a:lnTo>
                  <a:pt x="311150" y="0"/>
                </a:lnTo>
                <a:cubicBezTo>
                  <a:pt x="335724" y="0"/>
                  <a:pt x="355600" y="19875"/>
                  <a:pt x="355600" y="44450"/>
                </a:cubicBezTo>
                <a:lnTo>
                  <a:pt x="355600" y="69850"/>
                </a:lnTo>
                <a:cubicBezTo>
                  <a:pt x="355600" y="94425"/>
                  <a:pt x="335724" y="114300"/>
                  <a:pt x="311150" y="114300"/>
                </a:cubicBezTo>
                <a:lnTo>
                  <a:pt x="44450" y="114300"/>
                </a:lnTo>
                <a:cubicBezTo>
                  <a:pt x="19876" y="114300"/>
                  <a:pt x="0" y="94425"/>
                  <a:pt x="0" y="698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E68A5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b-3-6"/>
          <p:cNvSpPr/>
          <p:nvPr/>
        </p:nvSpPr>
        <p:spPr>
          <a:xfrm>
            <a:off x="5778500" y="1905000"/>
            <a:ext cx="1841500" cy="431800"/>
          </a:xfrm>
          <a:custGeom>
            <a:avLst/>
            <a:gdLst/>
            <a:ahLst/>
            <a:cxnLst/>
            <a:rect l="0" t="0" r="r" b="b"/>
            <a:pathLst>
              <a:path w="1841500" h="431800">
                <a:moveTo>
                  <a:pt x="76200" y="0"/>
                </a:moveTo>
                <a:lnTo>
                  <a:pt x="1765300" y="0"/>
                </a:lnTo>
                <a:cubicBezTo>
                  <a:pt x="1807401" y="0"/>
                  <a:pt x="1841500" y="34100"/>
                  <a:pt x="1841500" y="76200"/>
                </a:cubicBezTo>
                <a:lnTo>
                  <a:pt x="1841500" y="355600"/>
                </a:lnTo>
                <a:cubicBezTo>
                  <a:pt x="1841500" y="397700"/>
                  <a:pt x="1807401" y="431800"/>
                  <a:pt x="17653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E5875A"/>
              </a:gs>
              <a:gs pos="100000">
                <a:srgbClr val="E0703A"/>
              </a:gs>
            </a:gsLst>
            <a:lin ang="540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b-3-6-shade"/>
          <p:cNvSpPr/>
          <p:nvPr/>
        </p:nvSpPr>
        <p:spPr>
          <a:xfrm>
            <a:off x="5778500" y="2260600"/>
            <a:ext cx="1841500" cy="76200"/>
          </a:xfrm>
          <a:custGeom>
            <a:avLst/>
            <a:gdLst/>
            <a:ahLst/>
            <a:cxnLst/>
            <a:rect l="0" t="0" r="r" b="b"/>
            <a:pathLst>
              <a:path w="1841500" h="76200">
                <a:moveTo>
                  <a:pt x="38100" y="0"/>
                </a:moveTo>
                <a:lnTo>
                  <a:pt x="1803400" y="0"/>
                </a:lnTo>
                <a:cubicBezTo>
                  <a:pt x="1824418" y="0"/>
                  <a:pt x="1841500" y="17081"/>
                  <a:pt x="1841500" y="38100"/>
                </a:cubicBezTo>
                <a:lnTo>
                  <a:pt x="1841500" y="38100"/>
                </a:lnTo>
                <a:cubicBezTo>
                  <a:pt x="1841500" y="59119"/>
                  <a:pt x="1824418" y="76200"/>
                  <a:pt x="1803400" y="76200"/>
                </a:cubicBezTo>
                <a:lnTo>
                  <a:pt x="38100" y="76200"/>
                </a:lnTo>
                <a:cubicBezTo>
                  <a:pt x="17082" y="76200"/>
                  <a:pt x="0" y="59119"/>
                  <a:pt x="0" y="381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8234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b-3-6-t"/>
          <p:cNvSpPr txBox="1"/>
          <p:nvPr/>
        </p:nvSpPr>
        <p:spPr>
          <a:xfrm>
            <a:off x="6362700" y="2008505"/>
            <a:ext cx="6731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私有部署</a:t>
            </a:r>
          </a:p>
        </p:txBody>
      </p:sp>
      <p:sp>
        <p:nvSpPr>
          <p:cNvPr id="91" name="pn-3"/>
          <p:cNvSpPr txBox="1"/>
          <p:nvPr/>
        </p:nvSpPr>
        <p:spPr>
          <a:xfrm>
            <a:off x="6361112" y="5417344"/>
            <a:ext cx="6762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旗舰版</a:t>
            </a:r>
          </a:p>
        </p:txBody>
      </p:sp>
      <p:sp>
        <p:nvSpPr>
          <p:cNvPr id="92" name="pp-3"/>
          <p:cNvSpPr txBox="1"/>
          <p:nvPr/>
        </p:nvSpPr>
        <p:spPr>
          <a:xfrm>
            <a:off x="6360287" y="5664264"/>
            <a:ext cx="677926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7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¥8.6</a:t>
            </a:r>
          </a:p>
        </p:txBody>
      </p:sp>
      <p:sp>
        <p:nvSpPr>
          <p:cNvPr id="93" name="pw-3"/>
          <p:cNvSpPr txBox="1"/>
          <p:nvPr/>
        </p:nvSpPr>
        <p:spPr>
          <a:xfrm>
            <a:off x="6064980" y="5994987"/>
            <a:ext cx="126854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万元 / 年 · 集团与大客户</a:t>
            </a:r>
          </a:p>
        </p:txBody>
      </p:sp>
      <p:sp>
        <p:nvSpPr>
          <p:cNvPr id="94" name="rule-h"/>
          <p:cNvSpPr txBox="1"/>
          <p:nvPr/>
        </p:nvSpPr>
        <p:spPr>
          <a:xfrm>
            <a:off x="933450" y="14676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拼装规则</a:t>
            </a:r>
          </a:p>
        </p:txBody>
      </p:sp>
      <p:sp>
        <p:nvSpPr>
          <p:cNvPr id="95" name="rule-n1"/>
          <p:cNvSpPr txBox="1"/>
          <p:nvPr/>
        </p:nvSpPr>
        <p:spPr>
          <a:xfrm>
            <a:off x="939546" y="18605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96" name="rule-t1"/>
          <p:cNvSpPr txBox="1"/>
          <p:nvPr/>
        </p:nvSpPr>
        <p:spPr>
          <a:xfrm>
            <a:off x="1167765" y="1856661"/>
            <a:ext cx="12366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底座两块所有套餐都有</a:t>
            </a:r>
          </a:p>
        </p:txBody>
      </p:sp>
      <p:sp>
        <p:nvSpPr>
          <p:cNvPr id="97" name="rule-n2"/>
          <p:cNvSpPr txBox="1"/>
          <p:nvPr/>
        </p:nvSpPr>
        <p:spPr>
          <a:xfrm>
            <a:off x="939546" y="21399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98" name="rule-t2"/>
          <p:cNvSpPr txBox="1"/>
          <p:nvPr/>
        </p:nvSpPr>
        <p:spPr>
          <a:xfrm>
            <a:off x="1167765" y="2136061"/>
            <a:ext cx="12366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中间模块按团队规模加</a:t>
            </a:r>
          </a:p>
        </p:txBody>
      </p:sp>
      <p:sp>
        <p:nvSpPr>
          <p:cNvPr id="99" name="rule-n3"/>
          <p:cNvSpPr txBox="1"/>
          <p:nvPr/>
        </p:nvSpPr>
        <p:spPr>
          <a:xfrm>
            <a:off x="939546" y="24193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100" name="rule-t3"/>
          <p:cNvSpPr txBox="1"/>
          <p:nvPr/>
        </p:nvSpPr>
        <p:spPr>
          <a:xfrm>
            <a:off x="1167765" y="2415461"/>
            <a:ext cx="12366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顶部模块按安全要求加</a:t>
            </a:r>
          </a:p>
        </p:txBody>
      </p:sp>
      <p:sp>
        <p:nvSpPr>
          <p:cNvPr id="101" name="rule-p"/>
          <p:cNvSpPr txBox="1"/>
          <p:nvPr/>
        </p:nvSpPr>
        <p:spPr>
          <a:xfrm>
            <a:off x="939165" y="2847261"/>
            <a:ext cx="180498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从专业版升级到旗舰版只需加两块</a:t>
            </a:r>
          </a:p>
        </p:txBody>
      </p:sp>
      <p:sp>
        <p:nvSpPr>
          <p:cNvPr id="102" name="side-bar"/>
          <p:cNvSpPr/>
          <p:nvPr/>
        </p:nvSpPr>
        <p:spPr>
          <a:xfrm>
            <a:off x="8382000" y="14986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side-h"/>
          <p:cNvSpPr txBox="1"/>
          <p:nvPr/>
        </p:nvSpPr>
        <p:spPr>
          <a:xfrm>
            <a:off x="8540750" y="15057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积木清单</a:t>
            </a:r>
          </a:p>
        </p:txBody>
      </p:sp>
      <p:sp>
        <p:nvSpPr>
          <p:cNvPr id="104" name="side-p"/>
          <p:cNvSpPr txBox="1"/>
          <p:nvPr/>
        </p:nvSpPr>
        <p:spPr>
          <a:xfrm>
            <a:off x="8546465" y="1780461"/>
            <a:ext cx="146399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自下而上叠加，可单独加购</a:t>
            </a:r>
          </a:p>
        </p:txBody>
      </p:sp>
      <p:sp>
        <p:nvSpPr>
          <p:cNvPr id="105" name="m-1"/>
          <p:cNvSpPr/>
          <p:nvPr/>
        </p:nvSpPr>
        <p:spPr>
          <a:xfrm>
            <a:off x="8382000" y="2133600"/>
            <a:ext cx="2857500" cy="495300"/>
          </a:xfrm>
          <a:custGeom>
            <a:avLst/>
            <a:gdLst/>
            <a:ahLst/>
            <a:cxnLst/>
            <a:rect l="0" t="0" r="r" b="b"/>
            <a:pathLst>
              <a:path w="2857500" h="495300">
                <a:moveTo>
                  <a:pt x="101600" y="0"/>
                </a:moveTo>
                <a:lnTo>
                  <a:pt x="2755900" y="0"/>
                </a:lnTo>
                <a:cubicBezTo>
                  <a:pt x="2812034" y="0"/>
                  <a:pt x="2857500" y="45466"/>
                  <a:pt x="2857500" y="101600"/>
                </a:cubicBezTo>
                <a:lnTo>
                  <a:pt x="2857500" y="393700"/>
                </a:lnTo>
                <a:cubicBezTo>
                  <a:pt x="2857500" y="449834"/>
                  <a:pt x="2812034" y="495300"/>
                  <a:pt x="2755900" y="495300"/>
                </a:cubicBezTo>
                <a:lnTo>
                  <a:pt x="101600" y="495300"/>
                </a:lnTo>
                <a:cubicBezTo>
                  <a:pt x="45466" y="495300"/>
                  <a:pt x="0" y="449834"/>
                  <a:pt x="0" y="3937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6" name="mc-1"/>
          <p:cNvSpPr/>
          <p:nvPr/>
        </p:nvSpPr>
        <p:spPr>
          <a:xfrm>
            <a:off x="8509000" y="2260600"/>
            <a:ext cx="241300" cy="241300"/>
          </a:xfrm>
          <a:custGeom>
            <a:avLst/>
            <a:gdLst/>
            <a:ahLst/>
            <a:cxnLst/>
            <a:rect l="0" t="0" r="r" b="b"/>
            <a:pathLst>
              <a:path w="241300" h="241300">
                <a:moveTo>
                  <a:pt x="63500" y="0"/>
                </a:moveTo>
                <a:lnTo>
                  <a:pt x="177800" y="0"/>
                </a:lnTo>
                <a:cubicBezTo>
                  <a:pt x="212852" y="0"/>
                  <a:pt x="241300" y="28448"/>
                  <a:pt x="241300" y="63500"/>
                </a:cubicBezTo>
                <a:lnTo>
                  <a:pt x="241300" y="177800"/>
                </a:lnTo>
                <a:cubicBezTo>
                  <a:pt x="241300" y="212852"/>
                  <a:pt x="212852" y="241300"/>
                  <a:pt x="177800" y="241300"/>
                </a:cubicBezTo>
                <a:lnTo>
                  <a:pt x="63500" y="241300"/>
                </a:lnTo>
                <a:cubicBezTo>
                  <a:pt x="28448" y="241300"/>
                  <a:pt x="0" y="212852"/>
                  <a:pt x="0" y="1778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7" name="mcn-1"/>
          <p:cNvSpPr txBox="1"/>
          <p:nvPr/>
        </p:nvSpPr>
        <p:spPr>
          <a:xfrm>
            <a:off x="8550846" y="2292382"/>
            <a:ext cx="15760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108" name="mn-1"/>
          <p:cNvSpPr txBox="1"/>
          <p:nvPr/>
        </p:nvSpPr>
        <p:spPr>
          <a:xfrm>
            <a:off x="8850122" y="2200497"/>
            <a:ext cx="62166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核心平台</a:t>
            </a:r>
          </a:p>
        </p:txBody>
      </p:sp>
      <p:sp>
        <p:nvSpPr>
          <p:cNvPr id="109" name="md-1"/>
          <p:cNvSpPr txBox="1"/>
          <p:nvPr/>
        </p:nvSpPr>
        <p:spPr>
          <a:xfrm>
            <a:off x="8853551" y="2400887"/>
            <a:ext cx="102266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账号、权限、流程引擎</a:t>
            </a:r>
          </a:p>
        </p:txBody>
      </p:sp>
      <p:sp>
        <p:nvSpPr>
          <p:cNvPr id="110" name="mp-1"/>
          <p:cNvSpPr txBox="1"/>
          <p:nvPr/>
        </p:nvSpPr>
        <p:spPr>
          <a:xfrm>
            <a:off x="10412222" y="2300224"/>
            <a:ext cx="71247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含在所有套餐</a:t>
            </a:r>
          </a:p>
        </p:txBody>
      </p:sp>
      <p:sp>
        <p:nvSpPr>
          <p:cNvPr id="111" name="m-2"/>
          <p:cNvSpPr/>
          <p:nvPr/>
        </p:nvSpPr>
        <p:spPr>
          <a:xfrm>
            <a:off x="8382000" y="2717800"/>
            <a:ext cx="2857500" cy="495300"/>
          </a:xfrm>
          <a:custGeom>
            <a:avLst/>
            <a:gdLst/>
            <a:ahLst/>
            <a:cxnLst/>
            <a:rect l="0" t="0" r="r" b="b"/>
            <a:pathLst>
              <a:path w="2857500" h="495300">
                <a:moveTo>
                  <a:pt x="101600" y="0"/>
                </a:moveTo>
                <a:lnTo>
                  <a:pt x="2755900" y="0"/>
                </a:lnTo>
                <a:cubicBezTo>
                  <a:pt x="2812034" y="0"/>
                  <a:pt x="2857500" y="45466"/>
                  <a:pt x="2857500" y="101600"/>
                </a:cubicBezTo>
                <a:lnTo>
                  <a:pt x="2857500" y="393700"/>
                </a:lnTo>
                <a:cubicBezTo>
                  <a:pt x="2857500" y="449834"/>
                  <a:pt x="2812034" y="495300"/>
                  <a:pt x="2755900" y="495300"/>
                </a:cubicBezTo>
                <a:lnTo>
                  <a:pt x="101600" y="495300"/>
                </a:lnTo>
                <a:cubicBezTo>
                  <a:pt x="45466" y="495300"/>
                  <a:pt x="0" y="449834"/>
                  <a:pt x="0" y="3937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2" name="mc-2"/>
          <p:cNvSpPr/>
          <p:nvPr/>
        </p:nvSpPr>
        <p:spPr>
          <a:xfrm>
            <a:off x="8509000" y="2844800"/>
            <a:ext cx="241300" cy="241300"/>
          </a:xfrm>
          <a:custGeom>
            <a:avLst/>
            <a:gdLst/>
            <a:ahLst/>
            <a:cxnLst/>
            <a:rect l="0" t="0" r="r" b="b"/>
            <a:pathLst>
              <a:path w="241300" h="241300">
                <a:moveTo>
                  <a:pt x="63500" y="0"/>
                </a:moveTo>
                <a:lnTo>
                  <a:pt x="177800" y="0"/>
                </a:lnTo>
                <a:cubicBezTo>
                  <a:pt x="212852" y="0"/>
                  <a:pt x="241300" y="28448"/>
                  <a:pt x="241300" y="63500"/>
                </a:cubicBezTo>
                <a:lnTo>
                  <a:pt x="241300" y="177800"/>
                </a:lnTo>
                <a:cubicBezTo>
                  <a:pt x="241300" y="212852"/>
                  <a:pt x="212852" y="241300"/>
                  <a:pt x="177800" y="241300"/>
                </a:cubicBezTo>
                <a:lnTo>
                  <a:pt x="63500" y="241300"/>
                </a:lnTo>
                <a:cubicBezTo>
                  <a:pt x="28448" y="241300"/>
                  <a:pt x="0" y="212852"/>
                  <a:pt x="0" y="1778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3" name="mcn-2"/>
          <p:cNvSpPr txBox="1"/>
          <p:nvPr/>
        </p:nvSpPr>
        <p:spPr>
          <a:xfrm>
            <a:off x="8550846" y="2876582"/>
            <a:ext cx="15760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114" name="mn-2"/>
          <p:cNvSpPr txBox="1"/>
          <p:nvPr/>
        </p:nvSpPr>
        <p:spPr>
          <a:xfrm>
            <a:off x="8850122" y="2784697"/>
            <a:ext cx="62166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基础模板</a:t>
            </a:r>
          </a:p>
        </p:txBody>
      </p:sp>
      <p:sp>
        <p:nvSpPr>
          <p:cNvPr id="115" name="md-2"/>
          <p:cNvSpPr txBox="1"/>
          <p:nvPr/>
        </p:nvSpPr>
        <p:spPr>
          <a:xfrm>
            <a:off x="8853551" y="2985087"/>
            <a:ext cx="72612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300+ 行业模板</a:t>
            </a:r>
          </a:p>
        </p:txBody>
      </p:sp>
      <p:sp>
        <p:nvSpPr>
          <p:cNvPr id="116" name="mp-2"/>
          <p:cNvSpPr txBox="1"/>
          <p:nvPr/>
        </p:nvSpPr>
        <p:spPr>
          <a:xfrm>
            <a:off x="10412222" y="2884424"/>
            <a:ext cx="71247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含在所有套餐</a:t>
            </a:r>
          </a:p>
        </p:txBody>
      </p:sp>
      <p:sp>
        <p:nvSpPr>
          <p:cNvPr id="117" name="m-3"/>
          <p:cNvSpPr/>
          <p:nvPr/>
        </p:nvSpPr>
        <p:spPr>
          <a:xfrm>
            <a:off x="8382000" y="3302000"/>
            <a:ext cx="2857500" cy="495300"/>
          </a:xfrm>
          <a:custGeom>
            <a:avLst/>
            <a:gdLst/>
            <a:ahLst/>
            <a:cxnLst/>
            <a:rect l="0" t="0" r="r" b="b"/>
            <a:pathLst>
              <a:path w="2857500" h="495300">
                <a:moveTo>
                  <a:pt x="101600" y="0"/>
                </a:moveTo>
                <a:lnTo>
                  <a:pt x="2755900" y="0"/>
                </a:lnTo>
                <a:cubicBezTo>
                  <a:pt x="2812034" y="0"/>
                  <a:pt x="2857500" y="45466"/>
                  <a:pt x="2857500" y="101600"/>
                </a:cubicBezTo>
                <a:lnTo>
                  <a:pt x="2857500" y="393700"/>
                </a:lnTo>
                <a:cubicBezTo>
                  <a:pt x="2857500" y="449834"/>
                  <a:pt x="2812034" y="495300"/>
                  <a:pt x="2755900" y="495300"/>
                </a:cubicBezTo>
                <a:lnTo>
                  <a:pt x="101600" y="495300"/>
                </a:lnTo>
                <a:cubicBezTo>
                  <a:pt x="45466" y="495300"/>
                  <a:pt x="0" y="449834"/>
                  <a:pt x="0" y="3937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8" name="mc-3"/>
          <p:cNvSpPr/>
          <p:nvPr/>
        </p:nvSpPr>
        <p:spPr>
          <a:xfrm>
            <a:off x="8509000" y="3429000"/>
            <a:ext cx="241300" cy="241300"/>
          </a:xfrm>
          <a:custGeom>
            <a:avLst/>
            <a:gdLst/>
            <a:ahLst/>
            <a:cxnLst/>
            <a:rect l="0" t="0" r="r" b="b"/>
            <a:pathLst>
              <a:path w="241300" h="241300">
                <a:moveTo>
                  <a:pt x="63500" y="0"/>
                </a:moveTo>
                <a:lnTo>
                  <a:pt x="177800" y="0"/>
                </a:lnTo>
                <a:cubicBezTo>
                  <a:pt x="212852" y="0"/>
                  <a:pt x="241300" y="28448"/>
                  <a:pt x="241300" y="63500"/>
                </a:cubicBezTo>
                <a:lnTo>
                  <a:pt x="241300" y="177800"/>
                </a:lnTo>
                <a:cubicBezTo>
                  <a:pt x="241300" y="212852"/>
                  <a:pt x="212852" y="241300"/>
                  <a:pt x="177800" y="241300"/>
                </a:cubicBezTo>
                <a:lnTo>
                  <a:pt x="63500" y="241300"/>
                </a:lnTo>
                <a:cubicBezTo>
                  <a:pt x="28448" y="241300"/>
                  <a:pt x="0" y="212852"/>
                  <a:pt x="0" y="1778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9" name="mcn-3"/>
          <p:cNvSpPr txBox="1"/>
          <p:nvPr/>
        </p:nvSpPr>
        <p:spPr>
          <a:xfrm>
            <a:off x="8550846" y="3460782"/>
            <a:ext cx="15760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120" name="mn-3"/>
          <p:cNvSpPr txBox="1"/>
          <p:nvPr/>
        </p:nvSpPr>
        <p:spPr>
          <a:xfrm>
            <a:off x="8850122" y="3368897"/>
            <a:ext cx="62166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数据分析</a:t>
            </a:r>
          </a:p>
        </p:txBody>
      </p:sp>
      <p:sp>
        <p:nvSpPr>
          <p:cNvPr id="121" name="md-3"/>
          <p:cNvSpPr txBox="1"/>
          <p:nvPr/>
        </p:nvSpPr>
        <p:spPr>
          <a:xfrm>
            <a:off x="8853551" y="3569287"/>
            <a:ext cx="74072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报表与经营看板</a:t>
            </a:r>
          </a:p>
        </p:txBody>
      </p:sp>
      <p:sp>
        <p:nvSpPr>
          <p:cNvPr id="122" name="mp-3"/>
          <p:cNvSpPr txBox="1"/>
          <p:nvPr/>
        </p:nvSpPr>
        <p:spPr>
          <a:xfrm>
            <a:off x="10355834" y="3468624"/>
            <a:ext cx="76885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+1.2 万 / 年</a:t>
            </a:r>
          </a:p>
        </p:txBody>
      </p:sp>
      <p:sp>
        <p:nvSpPr>
          <p:cNvPr id="123" name="m-4"/>
          <p:cNvSpPr/>
          <p:nvPr/>
        </p:nvSpPr>
        <p:spPr>
          <a:xfrm>
            <a:off x="8382000" y="3886200"/>
            <a:ext cx="2857500" cy="495300"/>
          </a:xfrm>
          <a:custGeom>
            <a:avLst/>
            <a:gdLst/>
            <a:ahLst/>
            <a:cxnLst/>
            <a:rect l="0" t="0" r="r" b="b"/>
            <a:pathLst>
              <a:path w="2857500" h="495300">
                <a:moveTo>
                  <a:pt x="101600" y="0"/>
                </a:moveTo>
                <a:lnTo>
                  <a:pt x="2755900" y="0"/>
                </a:lnTo>
                <a:cubicBezTo>
                  <a:pt x="2812034" y="0"/>
                  <a:pt x="2857500" y="45466"/>
                  <a:pt x="2857500" y="101600"/>
                </a:cubicBezTo>
                <a:lnTo>
                  <a:pt x="2857500" y="393700"/>
                </a:lnTo>
                <a:cubicBezTo>
                  <a:pt x="2857500" y="449834"/>
                  <a:pt x="2812034" y="495300"/>
                  <a:pt x="2755900" y="495300"/>
                </a:cubicBezTo>
                <a:lnTo>
                  <a:pt x="101600" y="495300"/>
                </a:lnTo>
                <a:cubicBezTo>
                  <a:pt x="45466" y="495300"/>
                  <a:pt x="0" y="449834"/>
                  <a:pt x="0" y="3937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4" name="mc-4"/>
          <p:cNvSpPr/>
          <p:nvPr/>
        </p:nvSpPr>
        <p:spPr>
          <a:xfrm>
            <a:off x="8509000" y="4013200"/>
            <a:ext cx="241300" cy="241300"/>
          </a:xfrm>
          <a:custGeom>
            <a:avLst/>
            <a:gdLst/>
            <a:ahLst/>
            <a:cxnLst/>
            <a:rect l="0" t="0" r="r" b="b"/>
            <a:pathLst>
              <a:path w="241300" h="241300">
                <a:moveTo>
                  <a:pt x="63500" y="0"/>
                </a:moveTo>
                <a:lnTo>
                  <a:pt x="177800" y="0"/>
                </a:lnTo>
                <a:cubicBezTo>
                  <a:pt x="212852" y="0"/>
                  <a:pt x="241300" y="28448"/>
                  <a:pt x="241300" y="63500"/>
                </a:cubicBezTo>
                <a:lnTo>
                  <a:pt x="241300" y="177800"/>
                </a:lnTo>
                <a:cubicBezTo>
                  <a:pt x="241300" y="212852"/>
                  <a:pt x="212852" y="241300"/>
                  <a:pt x="177800" y="241300"/>
                </a:cubicBezTo>
                <a:lnTo>
                  <a:pt x="63500" y="241300"/>
                </a:lnTo>
                <a:cubicBezTo>
                  <a:pt x="28448" y="241300"/>
                  <a:pt x="0" y="212852"/>
                  <a:pt x="0" y="1778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5" name="mcn-4"/>
          <p:cNvSpPr txBox="1"/>
          <p:nvPr/>
        </p:nvSpPr>
        <p:spPr>
          <a:xfrm>
            <a:off x="8550846" y="4044982"/>
            <a:ext cx="15760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126" name="mn-4"/>
          <p:cNvSpPr txBox="1"/>
          <p:nvPr/>
        </p:nvSpPr>
        <p:spPr>
          <a:xfrm>
            <a:off x="8850122" y="3953097"/>
            <a:ext cx="62166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协同办公</a:t>
            </a:r>
          </a:p>
        </p:txBody>
      </p:sp>
      <p:sp>
        <p:nvSpPr>
          <p:cNvPr id="127" name="md-4"/>
          <p:cNvSpPr txBox="1"/>
          <p:nvPr/>
        </p:nvSpPr>
        <p:spPr>
          <a:xfrm>
            <a:off x="8853551" y="4153487"/>
            <a:ext cx="64674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多人实时协作</a:t>
            </a:r>
          </a:p>
        </p:txBody>
      </p:sp>
      <p:sp>
        <p:nvSpPr>
          <p:cNvPr id="128" name="mp-4"/>
          <p:cNvSpPr txBox="1"/>
          <p:nvPr/>
        </p:nvSpPr>
        <p:spPr>
          <a:xfrm>
            <a:off x="10355834" y="4052824"/>
            <a:ext cx="76885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+1.4 万 / 年</a:t>
            </a:r>
          </a:p>
        </p:txBody>
      </p:sp>
      <p:sp>
        <p:nvSpPr>
          <p:cNvPr id="129" name="m-5"/>
          <p:cNvSpPr/>
          <p:nvPr/>
        </p:nvSpPr>
        <p:spPr>
          <a:xfrm>
            <a:off x="8382000" y="4470400"/>
            <a:ext cx="2857500" cy="495300"/>
          </a:xfrm>
          <a:custGeom>
            <a:avLst/>
            <a:gdLst/>
            <a:ahLst/>
            <a:cxnLst/>
            <a:rect l="0" t="0" r="r" b="b"/>
            <a:pathLst>
              <a:path w="2857500" h="495300">
                <a:moveTo>
                  <a:pt x="101600" y="0"/>
                </a:moveTo>
                <a:lnTo>
                  <a:pt x="2755900" y="0"/>
                </a:lnTo>
                <a:cubicBezTo>
                  <a:pt x="2812034" y="0"/>
                  <a:pt x="2857500" y="45466"/>
                  <a:pt x="2857500" y="101600"/>
                </a:cubicBezTo>
                <a:lnTo>
                  <a:pt x="2857500" y="393700"/>
                </a:lnTo>
                <a:cubicBezTo>
                  <a:pt x="2857500" y="449834"/>
                  <a:pt x="2812034" y="495300"/>
                  <a:pt x="2755900" y="495300"/>
                </a:cubicBezTo>
                <a:lnTo>
                  <a:pt x="101600" y="495300"/>
                </a:lnTo>
                <a:cubicBezTo>
                  <a:pt x="45466" y="495300"/>
                  <a:pt x="0" y="449834"/>
                  <a:pt x="0" y="3937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0" name="mc-5"/>
          <p:cNvSpPr/>
          <p:nvPr/>
        </p:nvSpPr>
        <p:spPr>
          <a:xfrm>
            <a:off x="8509000" y="4597400"/>
            <a:ext cx="241300" cy="241300"/>
          </a:xfrm>
          <a:custGeom>
            <a:avLst/>
            <a:gdLst/>
            <a:ahLst/>
            <a:cxnLst/>
            <a:rect l="0" t="0" r="r" b="b"/>
            <a:pathLst>
              <a:path w="241300" h="241300">
                <a:moveTo>
                  <a:pt x="63500" y="0"/>
                </a:moveTo>
                <a:lnTo>
                  <a:pt x="177800" y="0"/>
                </a:lnTo>
                <a:cubicBezTo>
                  <a:pt x="212852" y="0"/>
                  <a:pt x="241300" y="28448"/>
                  <a:pt x="241300" y="63500"/>
                </a:cubicBezTo>
                <a:lnTo>
                  <a:pt x="241300" y="177800"/>
                </a:lnTo>
                <a:cubicBezTo>
                  <a:pt x="241300" y="212852"/>
                  <a:pt x="212852" y="241300"/>
                  <a:pt x="177800" y="241300"/>
                </a:cubicBezTo>
                <a:lnTo>
                  <a:pt x="63500" y="241300"/>
                </a:lnTo>
                <a:cubicBezTo>
                  <a:pt x="28448" y="241300"/>
                  <a:pt x="0" y="212852"/>
                  <a:pt x="0" y="1778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6FA6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1" name="mcn-5"/>
          <p:cNvSpPr txBox="1"/>
          <p:nvPr/>
        </p:nvSpPr>
        <p:spPr>
          <a:xfrm>
            <a:off x="8550846" y="4629182"/>
            <a:ext cx="15760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  <p:sp>
        <p:nvSpPr>
          <p:cNvPr id="132" name="mn-5"/>
          <p:cNvSpPr txBox="1"/>
          <p:nvPr/>
        </p:nvSpPr>
        <p:spPr>
          <a:xfrm>
            <a:off x="8850122" y="4537297"/>
            <a:ext cx="59067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AI 助手</a:t>
            </a:r>
          </a:p>
        </p:txBody>
      </p:sp>
      <p:sp>
        <p:nvSpPr>
          <p:cNvPr id="133" name="md-5"/>
          <p:cNvSpPr txBox="1"/>
          <p:nvPr/>
        </p:nvSpPr>
        <p:spPr>
          <a:xfrm>
            <a:off x="8853551" y="4737687"/>
            <a:ext cx="9286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一键生成与智能推荐</a:t>
            </a:r>
          </a:p>
        </p:txBody>
      </p:sp>
      <p:sp>
        <p:nvSpPr>
          <p:cNvPr id="134" name="mp-5"/>
          <p:cNvSpPr txBox="1"/>
          <p:nvPr/>
        </p:nvSpPr>
        <p:spPr>
          <a:xfrm>
            <a:off x="10355834" y="4637024"/>
            <a:ext cx="76885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+2.8 万 / 年</a:t>
            </a:r>
          </a:p>
        </p:txBody>
      </p:sp>
      <p:sp>
        <p:nvSpPr>
          <p:cNvPr id="135" name="m-6"/>
          <p:cNvSpPr/>
          <p:nvPr/>
        </p:nvSpPr>
        <p:spPr>
          <a:xfrm>
            <a:off x="8382000" y="5054600"/>
            <a:ext cx="2857500" cy="495300"/>
          </a:xfrm>
          <a:custGeom>
            <a:avLst/>
            <a:gdLst/>
            <a:ahLst/>
            <a:cxnLst/>
            <a:rect l="0" t="0" r="r" b="b"/>
            <a:pathLst>
              <a:path w="2857500" h="495300">
                <a:moveTo>
                  <a:pt x="101600" y="0"/>
                </a:moveTo>
                <a:lnTo>
                  <a:pt x="2755900" y="0"/>
                </a:lnTo>
                <a:cubicBezTo>
                  <a:pt x="2812034" y="0"/>
                  <a:pt x="2857500" y="45466"/>
                  <a:pt x="2857500" y="101600"/>
                </a:cubicBezTo>
                <a:lnTo>
                  <a:pt x="2857500" y="393700"/>
                </a:lnTo>
                <a:cubicBezTo>
                  <a:pt x="2857500" y="449834"/>
                  <a:pt x="2812034" y="495300"/>
                  <a:pt x="2755900" y="495300"/>
                </a:cubicBezTo>
                <a:lnTo>
                  <a:pt x="101600" y="495300"/>
                </a:lnTo>
                <a:cubicBezTo>
                  <a:pt x="45466" y="495300"/>
                  <a:pt x="0" y="449834"/>
                  <a:pt x="0" y="3937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6" name="mc-6"/>
          <p:cNvSpPr/>
          <p:nvPr/>
        </p:nvSpPr>
        <p:spPr>
          <a:xfrm>
            <a:off x="8509000" y="5181600"/>
            <a:ext cx="241300" cy="241300"/>
          </a:xfrm>
          <a:custGeom>
            <a:avLst/>
            <a:gdLst/>
            <a:ahLst/>
            <a:cxnLst/>
            <a:rect l="0" t="0" r="r" b="b"/>
            <a:pathLst>
              <a:path w="241300" h="241300">
                <a:moveTo>
                  <a:pt x="63500" y="0"/>
                </a:moveTo>
                <a:lnTo>
                  <a:pt x="177800" y="0"/>
                </a:lnTo>
                <a:cubicBezTo>
                  <a:pt x="212852" y="0"/>
                  <a:pt x="241300" y="28448"/>
                  <a:pt x="241300" y="63500"/>
                </a:cubicBezTo>
                <a:lnTo>
                  <a:pt x="241300" y="177800"/>
                </a:lnTo>
                <a:cubicBezTo>
                  <a:pt x="241300" y="212852"/>
                  <a:pt x="212852" y="241300"/>
                  <a:pt x="177800" y="241300"/>
                </a:cubicBezTo>
                <a:lnTo>
                  <a:pt x="63500" y="241300"/>
                </a:lnTo>
                <a:cubicBezTo>
                  <a:pt x="28448" y="241300"/>
                  <a:pt x="0" y="212852"/>
                  <a:pt x="0" y="1778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7" name="mcn-6"/>
          <p:cNvSpPr txBox="1"/>
          <p:nvPr/>
        </p:nvSpPr>
        <p:spPr>
          <a:xfrm>
            <a:off x="8550846" y="5213382"/>
            <a:ext cx="15760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6</a:t>
            </a:r>
          </a:p>
        </p:txBody>
      </p:sp>
      <p:sp>
        <p:nvSpPr>
          <p:cNvPr id="138" name="mn-6"/>
          <p:cNvSpPr txBox="1"/>
          <p:nvPr/>
        </p:nvSpPr>
        <p:spPr>
          <a:xfrm>
            <a:off x="8850122" y="5121497"/>
            <a:ext cx="62166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私有部署</a:t>
            </a:r>
          </a:p>
        </p:txBody>
      </p:sp>
      <p:sp>
        <p:nvSpPr>
          <p:cNvPr id="139" name="md-6"/>
          <p:cNvSpPr txBox="1"/>
          <p:nvPr/>
        </p:nvSpPr>
        <p:spPr>
          <a:xfrm>
            <a:off x="8853551" y="5321887"/>
            <a:ext cx="83470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本地机房独立部署</a:t>
            </a:r>
          </a:p>
        </p:txBody>
      </p:sp>
      <p:sp>
        <p:nvSpPr>
          <p:cNvPr id="140" name="mp-6"/>
          <p:cNvSpPr txBox="1"/>
          <p:nvPr/>
        </p:nvSpPr>
        <p:spPr>
          <a:xfrm>
            <a:off x="10355834" y="5221224"/>
            <a:ext cx="76885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+2.0 万 / 年</a:t>
            </a:r>
          </a:p>
        </p:txBody>
      </p:sp>
      <p:cxnSp>
        <p:nvCxnSpPr>
          <p:cNvPr id="141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2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模块积木 · 三档套餐</a:t>
            </a:r>
          </a:p>
        </p:txBody>
      </p:sp>
      <p:sp>
        <p:nvSpPr>
          <p:cNvPr id="143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三维能力模型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44589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CAPABILITY CUBE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532495" y="673132"/>
            <a:ext cx="30882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战略、组织、技术是立方体的三个面——少一个面，立不起来</a:t>
            </a:r>
          </a:p>
        </p:txBody>
      </p:sp>
      <p:sp>
        <p:nvSpPr>
          <p:cNvPr id="10" name="shadow"/>
          <p:cNvSpPr/>
          <p:nvPr/>
        </p:nvSpPr>
        <p:spPr>
          <a:xfrm>
            <a:off x="3324225" y="4533900"/>
            <a:ext cx="3511550" cy="457200"/>
          </a:xfrm>
          <a:prstGeom prst="ellipse">
            <a:avLst/>
          </a:prstGeom>
          <a:solidFill>
            <a:srgbClr val="0B2545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face-left"/>
          <p:cNvSpPr/>
          <p:nvPr/>
        </p:nvSpPr>
        <p:spPr>
          <a:xfrm>
            <a:off x="3705225" y="2190750"/>
            <a:ext cx="1374775" cy="2381250"/>
          </a:xfrm>
          <a:custGeom>
            <a:avLst/>
            <a:gdLst/>
            <a:ahLst/>
            <a:cxnLst/>
            <a:rect l="0" t="0" r="r" b="b"/>
            <a:pathLst>
              <a:path w="1374775" h="2381250">
                <a:moveTo>
                  <a:pt x="0" y="0"/>
                </a:moveTo>
                <a:lnTo>
                  <a:pt x="1374775" y="793750"/>
                </a:lnTo>
                <a:lnTo>
                  <a:pt x="1374775" y="2381250"/>
                </a:lnTo>
                <a:lnTo>
                  <a:pt x="0" y="1587500"/>
                </a:ln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0B3E8F"/>
              </a:gs>
            </a:gsLst>
            <a:lin ang="5400000" scaled="0"/>
          </a:gradFill>
          <a:ln w="19050" cap="rnd">
            <a:solidFill>
              <a:srgbClr val="FFFFFF">
                <a:alpha val="9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face-right"/>
          <p:cNvSpPr/>
          <p:nvPr/>
        </p:nvSpPr>
        <p:spPr>
          <a:xfrm>
            <a:off x="5080000" y="2190750"/>
            <a:ext cx="1374775" cy="2381250"/>
          </a:xfrm>
          <a:custGeom>
            <a:avLst/>
            <a:gdLst/>
            <a:ahLst/>
            <a:cxnLst/>
            <a:rect l="0" t="0" r="r" b="b"/>
            <a:pathLst>
              <a:path w="1374775" h="2381250">
                <a:moveTo>
                  <a:pt x="0" y="793750"/>
                </a:moveTo>
                <a:lnTo>
                  <a:pt x="1374775" y="0"/>
                </a:lnTo>
                <a:lnTo>
                  <a:pt x="1374775" y="1587500"/>
                </a:lnTo>
                <a:lnTo>
                  <a:pt x="0" y="2381250"/>
                </a:lnTo>
                <a:close/>
              </a:path>
            </a:pathLst>
          </a:custGeom>
          <a:gradFill rotWithShape="1">
            <a:gsLst>
              <a:gs pos="0">
                <a:srgbClr val="2E77C2"/>
              </a:gs>
              <a:gs pos="100000">
                <a:srgbClr val="1B5AA8"/>
              </a:gs>
            </a:gsLst>
            <a:lin ang="5400000" scaled="0"/>
          </a:gradFill>
          <a:ln w="19050" cap="rnd">
            <a:solidFill>
              <a:srgbClr val="FFFFFF">
                <a:alpha val="9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face-top"/>
          <p:cNvSpPr/>
          <p:nvPr/>
        </p:nvSpPr>
        <p:spPr>
          <a:xfrm>
            <a:off x="3705225" y="1397000"/>
            <a:ext cx="2749550" cy="1587500"/>
          </a:xfrm>
          <a:custGeom>
            <a:avLst/>
            <a:gdLst/>
            <a:ahLst/>
            <a:cxnLst/>
            <a:rect l="0" t="0" r="r" b="b"/>
            <a:pathLst>
              <a:path w="2749550" h="1587500">
                <a:moveTo>
                  <a:pt x="1374775" y="1587500"/>
                </a:moveTo>
                <a:lnTo>
                  <a:pt x="2749550" y="793750"/>
                </a:lnTo>
                <a:lnTo>
                  <a:pt x="1374775" y="0"/>
                </a:lnTo>
                <a:lnTo>
                  <a:pt x="0" y="793750"/>
                </a:lnTo>
                <a:close/>
              </a:path>
            </a:pathLst>
          </a:custGeom>
          <a:gradFill rotWithShape="1">
            <a:gsLst>
              <a:gs pos="0">
                <a:srgbClr val="6FA6DE"/>
              </a:gs>
              <a:gs pos="100000">
                <a:srgbClr val="3985CD"/>
              </a:gs>
            </a:gsLst>
            <a:lin ang="5400000" scaled="0"/>
          </a:gradFill>
          <a:ln w="19050" cap="rnd">
            <a:solidFill>
              <a:srgbClr val="FFFFFF">
                <a:alpha val="9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icon-target"/>
          <p:cNvSpPr/>
          <p:nvPr/>
        </p:nvSpPr>
        <p:spPr>
          <a:xfrm>
            <a:off x="5080000" y="1859407"/>
            <a:ext cx="59373" cy="77343"/>
          </a:xfrm>
          <a:custGeom>
            <a:avLst/>
            <a:gdLst/>
            <a:ahLst/>
            <a:cxnLst/>
            <a:rect l="0" t="0" r="r" b="b"/>
            <a:pathLst>
              <a:path w="59373" h="77343">
                <a:moveTo>
                  <a:pt x="0" y="44958"/>
                </a:moveTo>
                <a:lnTo>
                  <a:pt x="0" y="0"/>
                </a:lnTo>
                <a:moveTo>
                  <a:pt x="0" y="77343"/>
                </a:moveTo>
                <a:lnTo>
                  <a:pt x="59373" y="17970"/>
                </a:ln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icon-target"/>
          <p:cNvSpPr/>
          <p:nvPr/>
        </p:nvSpPr>
        <p:spPr>
          <a:xfrm>
            <a:off x="5002636" y="1859386"/>
            <a:ext cx="154728" cy="154728"/>
          </a:xfrm>
          <a:prstGeom prst="ellipse">
            <a:avLst/>
          </a:pr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icon-target"/>
          <p:cNvSpPr/>
          <p:nvPr/>
        </p:nvSpPr>
        <p:spPr>
          <a:xfrm>
            <a:off x="5040418" y="1897168"/>
            <a:ext cx="79163" cy="79163"/>
          </a:xfrm>
          <a:prstGeom prst="ellipse">
            <a:avLst/>
          </a:pr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fn-top"/>
          <p:cNvSpPr txBox="1"/>
          <p:nvPr/>
        </p:nvSpPr>
        <p:spPr>
          <a:xfrm>
            <a:off x="4765675" y="2006282"/>
            <a:ext cx="62865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 spc="3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战略</a:t>
            </a:r>
          </a:p>
        </p:txBody>
      </p:sp>
      <p:sp>
        <p:nvSpPr>
          <p:cNvPr id="18" name="fs-top"/>
          <p:cNvSpPr txBox="1"/>
          <p:nvPr/>
        </p:nvSpPr>
        <p:spPr>
          <a:xfrm>
            <a:off x="4899787" y="2284920"/>
            <a:ext cx="360426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DCE9F8"/>
                </a:solidFill>
                <a:latin typeface="Arial"/>
                <a:ea typeface="Arial"/>
                <a:cs typeface="Arial"/>
              </a:rPr>
              <a:t>4.2</a:t>
            </a:r>
          </a:p>
        </p:txBody>
      </p:sp>
      <p:sp>
        <p:nvSpPr>
          <p:cNvPr id="19" name="icon-people"/>
          <p:cNvSpPr/>
          <p:nvPr/>
        </p:nvSpPr>
        <p:spPr>
          <a:xfrm>
            <a:off x="4317048" y="3150743"/>
            <a:ext cx="152908" cy="43180"/>
          </a:xfrm>
          <a:custGeom>
            <a:avLst/>
            <a:gdLst/>
            <a:ahLst/>
            <a:cxnLst/>
            <a:rect l="0" t="0" r="r" b="b"/>
            <a:pathLst>
              <a:path w="152908" h="43180">
                <a:moveTo>
                  <a:pt x="0" y="43180"/>
                </a:moveTo>
                <a:cubicBezTo>
                  <a:pt x="0" y="16193"/>
                  <a:pt x="22479" y="0"/>
                  <a:pt x="48577" y="0"/>
                </a:cubicBezTo>
                <a:cubicBezTo>
                  <a:pt x="74676" y="0"/>
                  <a:pt x="97155" y="16193"/>
                  <a:pt x="97155" y="43180"/>
                </a:cubicBezTo>
                <a:moveTo>
                  <a:pt x="115125" y="3619"/>
                </a:moveTo>
                <a:cubicBezTo>
                  <a:pt x="138557" y="6350"/>
                  <a:pt x="152908" y="22543"/>
                  <a:pt x="152908" y="43180"/>
                </a:cubicBez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icon-people"/>
          <p:cNvSpPr/>
          <p:nvPr/>
        </p:nvSpPr>
        <p:spPr>
          <a:xfrm>
            <a:off x="4336838" y="3073400"/>
            <a:ext cx="57573" cy="57573"/>
          </a:xfrm>
          <a:prstGeom prst="ellipse">
            <a:avLst/>
          </a:pr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icon-people"/>
          <p:cNvSpPr/>
          <p:nvPr/>
        </p:nvSpPr>
        <p:spPr>
          <a:xfrm>
            <a:off x="4414203" y="3073400"/>
            <a:ext cx="46778" cy="46778"/>
          </a:xfrm>
          <a:prstGeom prst="ellipse">
            <a:avLst/>
          </a:pr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fn-left"/>
          <p:cNvSpPr txBox="1"/>
          <p:nvPr/>
        </p:nvSpPr>
        <p:spPr>
          <a:xfrm>
            <a:off x="4078288" y="3196908"/>
            <a:ext cx="62865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 spc="3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组织</a:t>
            </a:r>
          </a:p>
        </p:txBody>
      </p:sp>
      <p:sp>
        <p:nvSpPr>
          <p:cNvPr id="23" name="fs-left"/>
          <p:cNvSpPr txBox="1"/>
          <p:nvPr/>
        </p:nvSpPr>
        <p:spPr>
          <a:xfrm>
            <a:off x="4212400" y="3475546"/>
            <a:ext cx="360426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DCE9F8"/>
                </a:solidFill>
                <a:latin typeface="Arial"/>
                <a:ea typeface="Arial"/>
                <a:cs typeface="Arial"/>
              </a:rPr>
              <a:t>3.4</a:t>
            </a:r>
          </a:p>
        </p:txBody>
      </p:sp>
      <p:sp>
        <p:nvSpPr>
          <p:cNvPr id="24" name="icon-layers"/>
          <p:cNvSpPr/>
          <p:nvPr/>
        </p:nvSpPr>
        <p:spPr>
          <a:xfrm>
            <a:off x="5695442" y="3053588"/>
            <a:ext cx="143891" cy="149352"/>
          </a:xfrm>
          <a:custGeom>
            <a:avLst/>
            <a:gdLst/>
            <a:ahLst/>
            <a:cxnLst/>
            <a:rect l="0" t="0" r="r" b="b"/>
            <a:pathLst>
              <a:path w="143891" h="149352">
                <a:moveTo>
                  <a:pt x="71946" y="0"/>
                </a:moveTo>
                <a:lnTo>
                  <a:pt x="143891" y="37782"/>
                </a:lnTo>
                <a:lnTo>
                  <a:pt x="71946" y="75565"/>
                </a:lnTo>
                <a:lnTo>
                  <a:pt x="0" y="37782"/>
                </a:lnTo>
                <a:close/>
                <a:moveTo>
                  <a:pt x="0" y="75565"/>
                </a:moveTo>
                <a:lnTo>
                  <a:pt x="71946" y="113348"/>
                </a:lnTo>
                <a:lnTo>
                  <a:pt x="143891" y="75565"/>
                </a:lnTo>
                <a:moveTo>
                  <a:pt x="0" y="111569"/>
                </a:moveTo>
                <a:lnTo>
                  <a:pt x="71946" y="149352"/>
                </a:lnTo>
                <a:lnTo>
                  <a:pt x="143891" y="111569"/>
                </a:ln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fn-right"/>
          <p:cNvSpPr txBox="1"/>
          <p:nvPr/>
        </p:nvSpPr>
        <p:spPr>
          <a:xfrm>
            <a:off x="5453062" y="3196908"/>
            <a:ext cx="62865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 spc="3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技术</a:t>
            </a:r>
          </a:p>
        </p:txBody>
      </p:sp>
      <p:sp>
        <p:nvSpPr>
          <p:cNvPr id="26" name="fs-right"/>
          <p:cNvSpPr txBox="1"/>
          <p:nvPr/>
        </p:nvSpPr>
        <p:spPr>
          <a:xfrm>
            <a:off x="5587174" y="3475546"/>
            <a:ext cx="360426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DCE9F8"/>
                </a:solidFill>
                <a:latin typeface="Arial"/>
                <a:ea typeface="Arial"/>
                <a:cs typeface="Arial"/>
              </a:rPr>
              <a:t>3.8</a:t>
            </a:r>
          </a:p>
        </p:txBody>
      </p:sp>
      <p:sp>
        <p:nvSpPr>
          <p:cNvPr id="27" name="ld-top"/>
          <p:cNvSpPr/>
          <p:nvPr/>
        </p:nvSpPr>
        <p:spPr>
          <a:xfrm>
            <a:off x="5334000" y="1651000"/>
            <a:ext cx="2540000" cy="101600"/>
          </a:xfrm>
          <a:custGeom>
            <a:avLst/>
            <a:gdLst/>
            <a:ahLst/>
            <a:cxnLst/>
            <a:rect l="0" t="0" r="r" b="b"/>
            <a:pathLst>
              <a:path w="2540000" h="101600">
                <a:moveTo>
                  <a:pt x="0" y="0"/>
                </a:moveTo>
                <a:lnTo>
                  <a:pt x="1270000" y="101600"/>
                </a:lnTo>
                <a:lnTo>
                  <a:pt x="2540000" y="101600"/>
                </a:lnTo>
              </a:path>
            </a:pathLst>
          </a:custGeom>
          <a:noFill/>
          <a:ln w="12700" cap="rnd">
            <a:solidFill>
              <a:srgbClr val="3985CD">
                <a:alpha val="6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lda-top"/>
          <p:cNvSpPr/>
          <p:nvPr/>
        </p:nvSpPr>
        <p:spPr>
          <a:xfrm>
            <a:off x="5289550" y="1606550"/>
            <a:ext cx="88900" cy="889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bk-top"/>
          <p:cNvSpPr/>
          <p:nvPr/>
        </p:nvSpPr>
        <p:spPr>
          <a:xfrm>
            <a:off x="7937500" y="1498600"/>
            <a:ext cx="3302000" cy="1498600"/>
          </a:xfrm>
          <a:custGeom>
            <a:avLst/>
            <a:gdLst/>
            <a:ahLst/>
            <a:cxnLst/>
            <a:rect l="0" t="0" r="r" b="b"/>
            <a:pathLst>
              <a:path w="3302000" h="1498600">
                <a:moveTo>
                  <a:pt x="127000" y="0"/>
                </a:moveTo>
                <a:lnTo>
                  <a:pt x="3175000" y="0"/>
                </a:lnTo>
                <a:cubicBezTo>
                  <a:pt x="3245167" y="0"/>
                  <a:pt x="3302000" y="56832"/>
                  <a:pt x="3302000" y="127000"/>
                </a:cubicBezTo>
                <a:lnTo>
                  <a:pt x="3302000" y="1371600"/>
                </a:lnTo>
                <a:cubicBezTo>
                  <a:pt x="3302000" y="1441768"/>
                  <a:pt x="3245167" y="1498600"/>
                  <a:pt x="3175000" y="1498600"/>
                </a:cubicBezTo>
                <a:lnTo>
                  <a:pt x="127000" y="1498600"/>
                </a:lnTo>
                <a:cubicBezTo>
                  <a:pt x="56833" y="1498600"/>
                  <a:pt x="0" y="1441768"/>
                  <a:pt x="0" y="13716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bkb-top"/>
          <p:cNvSpPr/>
          <p:nvPr/>
        </p:nvSpPr>
        <p:spPr>
          <a:xfrm>
            <a:off x="7937500" y="1498600"/>
            <a:ext cx="38100" cy="1498600"/>
          </a:xfrm>
          <a:custGeom>
            <a:avLst/>
            <a:gdLst/>
            <a:ahLst/>
            <a:cxnLst/>
            <a:rect l="0" t="0" r="r" b="b"/>
            <a:pathLst>
              <a:path w="38100" h="14986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479550"/>
                </a:lnTo>
                <a:cubicBezTo>
                  <a:pt x="38100" y="1490091"/>
                  <a:pt x="29591" y="1498600"/>
                  <a:pt x="19050" y="1498600"/>
                </a:cubicBezTo>
                <a:lnTo>
                  <a:pt x="19050" y="1498600"/>
                </a:lnTo>
                <a:cubicBezTo>
                  <a:pt x="8509" y="1498600"/>
                  <a:pt x="0" y="1490091"/>
                  <a:pt x="0" y="14795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bkn-top"/>
          <p:cNvSpPr txBox="1"/>
          <p:nvPr/>
        </p:nvSpPr>
        <p:spPr>
          <a:xfrm>
            <a:off x="8108950" y="16200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战略</a:t>
            </a:r>
          </a:p>
        </p:txBody>
      </p:sp>
      <p:sp>
        <p:nvSpPr>
          <p:cNvPr id="32" name="bke-top"/>
          <p:cNvSpPr txBox="1"/>
          <p:nvPr/>
        </p:nvSpPr>
        <p:spPr>
          <a:xfrm>
            <a:off x="8549132" y="1693608"/>
            <a:ext cx="6306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7E93AE"/>
                </a:solidFill>
                <a:latin typeface="Arial"/>
                <a:ea typeface="Arial"/>
                <a:cs typeface="Arial"/>
              </a:rPr>
              <a:t>STRATEGY</a:t>
            </a:r>
          </a:p>
        </p:txBody>
      </p:sp>
      <p:sp>
        <p:nvSpPr>
          <p:cNvPr id="33" name="bks-top"/>
          <p:cNvSpPr txBox="1"/>
          <p:nvPr/>
        </p:nvSpPr>
        <p:spPr>
          <a:xfrm>
            <a:off x="10561828" y="1577848"/>
            <a:ext cx="524256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6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4.2</a:t>
            </a:r>
          </a:p>
        </p:txBody>
      </p:sp>
      <p:sp>
        <p:nvSpPr>
          <p:cNvPr id="34" name="bi-top-1"/>
          <p:cNvSpPr txBox="1"/>
          <p:nvPr/>
        </p:nvSpPr>
        <p:spPr>
          <a:xfrm>
            <a:off x="8114665" y="2021761"/>
            <a:ext cx="55467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方向清晰</a:t>
            </a:r>
          </a:p>
        </p:txBody>
      </p:sp>
      <p:sp>
        <p:nvSpPr>
          <p:cNvPr id="35" name="bib-top-1"/>
          <p:cNvSpPr/>
          <p:nvPr/>
        </p:nvSpPr>
        <p:spPr>
          <a:xfrm>
            <a:off x="8826500" y="2082800"/>
            <a:ext cx="2032000" cy="76200"/>
          </a:xfrm>
          <a:custGeom>
            <a:avLst/>
            <a:gdLst/>
            <a:ahLst/>
            <a:cxnLst/>
            <a:rect l="0" t="0" r="r" b="b"/>
            <a:pathLst>
              <a:path w="2032000" h="76200">
                <a:moveTo>
                  <a:pt x="38100" y="0"/>
                </a:moveTo>
                <a:lnTo>
                  <a:pt x="1993900" y="0"/>
                </a:lnTo>
                <a:cubicBezTo>
                  <a:pt x="2014918" y="0"/>
                  <a:pt x="2032000" y="17081"/>
                  <a:pt x="2032000" y="38100"/>
                </a:cubicBezTo>
                <a:lnTo>
                  <a:pt x="2032000" y="38100"/>
                </a:lnTo>
                <a:cubicBezTo>
                  <a:pt x="2032000" y="59119"/>
                  <a:pt x="2014918" y="76200"/>
                  <a:pt x="1993900" y="76200"/>
                </a:cubicBezTo>
                <a:lnTo>
                  <a:pt x="38100" y="76200"/>
                </a:lnTo>
                <a:cubicBezTo>
                  <a:pt x="17082" y="76200"/>
                  <a:pt x="0" y="59119"/>
                  <a:pt x="0" y="381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bibv-top-1"/>
          <p:cNvSpPr/>
          <p:nvPr/>
        </p:nvSpPr>
        <p:spPr>
          <a:xfrm>
            <a:off x="8826500" y="2082800"/>
            <a:ext cx="1828800" cy="76200"/>
          </a:xfrm>
          <a:custGeom>
            <a:avLst/>
            <a:gdLst/>
            <a:ahLst/>
            <a:cxnLst/>
            <a:rect l="0" t="0" r="r" b="b"/>
            <a:pathLst>
              <a:path w="1828800" h="76200">
                <a:moveTo>
                  <a:pt x="38100" y="0"/>
                </a:moveTo>
                <a:lnTo>
                  <a:pt x="1790700" y="0"/>
                </a:lnTo>
                <a:cubicBezTo>
                  <a:pt x="1811718" y="0"/>
                  <a:pt x="1828800" y="17081"/>
                  <a:pt x="1828800" y="38100"/>
                </a:cubicBezTo>
                <a:lnTo>
                  <a:pt x="1828800" y="38100"/>
                </a:lnTo>
                <a:cubicBezTo>
                  <a:pt x="1828800" y="59119"/>
                  <a:pt x="1811718" y="76200"/>
                  <a:pt x="1790700" y="76200"/>
                </a:cubicBezTo>
                <a:lnTo>
                  <a:pt x="38100" y="76200"/>
                </a:lnTo>
                <a:cubicBezTo>
                  <a:pt x="17082" y="76200"/>
                  <a:pt x="0" y="59119"/>
                  <a:pt x="0" y="381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biv-top-1"/>
          <p:cNvSpPr txBox="1"/>
          <p:nvPr/>
        </p:nvSpPr>
        <p:spPr>
          <a:xfrm>
            <a:off x="10811764" y="20335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4.5</a:t>
            </a:r>
          </a:p>
        </p:txBody>
      </p:sp>
      <p:sp>
        <p:nvSpPr>
          <p:cNvPr id="38" name="bi-top-2"/>
          <p:cNvSpPr txBox="1"/>
          <p:nvPr/>
        </p:nvSpPr>
        <p:spPr>
          <a:xfrm>
            <a:off x="8114665" y="2301161"/>
            <a:ext cx="66833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目标可拆解</a:t>
            </a:r>
          </a:p>
        </p:txBody>
      </p:sp>
      <p:sp>
        <p:nvSpPr>
          <p:cNvPr id="39" name="bib-top-2"/>
          <p:cNvSpPr/>
          <p:nvPr/>
        </p:nvSpPr>
        <p:spPr>
          <a:xfrm>
            <a:off x="8826500" y="2362200"/>
            <a:ext cx="2032000" cy="76200"/>
          </a:xfrm>
          <a:custGeom>
            <a:avLst/>
            <a:gdLst/>
            <a:ahLst/>
            <a:cxnLst/>
            <a:rect l="0" t="0" r="r" b="b"/>
            <a:pathLst>
              <a:path w="2032000" h="76200">
                <a:moveTo>
                  <a:pt x="38100" y="0"/>
                </a:moveTo>
                <a:lnTo>
                  <a:pt x="1993900" y="0"/>
                </a:lnTo>
                <a:cubicBezTo>
                  <a:pt x="2014918" y="0"/>
                  <a:pt x="2032000" y="17081"/>
                  <a:pt x="2032000" y="38100"/>
                </a:cubicBezTo>
                <a:lnTo>
                  <a:pt x="2032000" y="38100"/>
                </a:lnTo>
                <a:cubicBezTo>
                  <a:pt x="2032000" y="59119"/>
                  <a:pt x="2014918" y="76200"/>
                  <a:pt x="1993900" y="76200"/>
                </a:cubicBezTo>
                <a:lnTo>
                  <a:pt x="38100" y="76200"/>
                </a:lnTo>
                <a:cubicBezTo>
                  <a:pt x="17082" y="76200"/>
                  <a:pt x="0" y="59119"/>
                  <a:pt x="0" y="381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bibv-top-2"/>
          <p:cNvSpPr/>
          <p:nvPr/>
        </p:nvSpPr>
        <p:spPr>
          <a:xfrm>
            <a:off x="8826500" y="2362200"/>
            <a:ext cx="1666240" cy="76200"/>
          </a:xfrm>
          <a:custGeom>
            <a:avLst/>
            <a:gdLst/>
            <a:ahLst/>
            <a:cxnLst/>
            <a:rect l="0" t="0" r="r" b="b"/>
            <a:pathLst>
              <a:path w="1666240" h="76200">
                <a:moveTo>
                  <a:pt x="38100" y="0"/>
                </a:moveTo>
                <a:lnTo>
                  <a:pt x="1628140" y="0"/>
                </a:lnTo>
                <a:cubicBezTo>
                  <a:pt x="1649159" y="0"/>
                  <a:pt x="1666240" y="17081"/>
                  <a:pt x="1666240" y="38100"/>
                </a:cubicBezTo>
                <a:lnTo>
                  <a:pt x="1666240" y="38100"/>
                </a:lnTo>
                <a:cubicBezTo>
                  <a:pt x="1666240" y="59119"/>
                  <a:pt x="1649159" y="76200"/>
                  <a:pt x="1628140" y="76200"/>
                </a:cubicBezTo>
                <a:lnTo>
                  <a:pt x="38100" y="76200"/>
                </a:lnTo>
                <a:cubicBezTo>
                  <a:pt x="17082" y="76200"/>
                  <a:pt x="0" y="59119"/>
                  <a:pt x="0" y="381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biv-top-2"/>
          <p:cNvSpPr txBox="1"/>
          <p:nvPr/>
        </p:nvSpPr>
        <p:spPr>
          <a:xfrm>
            <a:off x="10811764" y="23129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4.1</a:t>
            </a:r>
          </a:p>
        </p:txBody>
      </p:sp>
      <p:sp>
        <p:nvSpPr>
          <p:cNvPr id="42" name="bi-top-3"/>
          <p:cNvSpPr txBox="1"/>
          <p:nvPr/>
        </p:nvSpPr>
        <p:spPr>
          <a:xfrm>
            <a:off x="8114665" y="2580561"/>
            <a:ext cx="55467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资源匹配</a:t>
            </a:r>
          </a:p>
        </p:txBody>
      </p:sp>
      <p:sp>
        <p:nvSpPr>
          <p:cNvPr id="43" name="bib-top-3"/>
          <p:cNvSpPr/>
          <p:nvPr/>
        </p:nvSpPr>
        <p:spPr>
          <a:xfrm>
            <a:off x="8826500" y="2641600"/>
            <a:ext cx="2032000" cy="76200"/>
          </a:xfrm>
          <a:custGeom>
            <a:avLst/>
            <a:gdLst/>
            <a:ahLst/>
            <a:cxnLst/>
            <a:rect l="0" t="0" r="r" b="b"/>
            <a:pathLst>
              <a:path w="2032000" h="76200">
                <a:moveTo>
                  <a:pt x="38100" y="0"/>
                </a:moveTo>
                <a:lnTo>
                  <a:pt x="1993900" y="0"/>
                </a:lnTo>
                <a:cubicBezTo>
                  <a:pt x="2014918" y="0"/>
                  <a:pt x="2032000" y="17081"/>
                  <a:pt x="2032000" y="38100"/>
                </a:cubicBezTo>
                <a:lnTo>
                  <a:pt x="2032000" y="38100"/>
                </a:lnTo>
                <a:cubicBezTo>
                  <a:pt x="2032000" y="59119"/>
                  <a:pt x="2014918" y="76200"/>
                  <a:pt x="1993900" y="76200"/>
                </a:cubicBezTo>
                <a:lnTo>
                  <a:pt x="38100" y="76200"/>
                </a:lnTo>
                <a:cubicBezTo>
                  <a:pt x="17082" y="76200"/>
                  <a:pt x="0" y="59119"/>
                  <a:pt x="0" y="381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bibv-top-3"/>
          <p:cNvSpPr/>
          <p:nvPr/>
        </p:nvSpPr>
        <p:spPr>
          <a:xfrm>
            <a:off x="8826500" y="2641600"/>
            <a:ext cx="1584960" cy="76200"/>
          </a:xfrm>
          <a:custGeom>
            <a:avLst/>
            <a:gdLst/>
            <a:ahLst/>
            <a:cxnLst/>
            <a:rect l="0" t="0" r="r" b="b"/>
            <a:pathLst>
              <a:path w="1584960" h="76200">
                <a:moveTo>
                  <a:pt x="38100" y="0"/>
                </a:moveTo>
                <a:lnTo>
                  <a:pt x="1546860" y="0"/>
                </a:lnTo>
                <a:cubicBezTo>
                  <a:pt x="1567879" y="0"/>
                  <a:pt x="1584960" y="17081"/>
                  <a:pt x="1584960" y="38100"/>
                </a:cubicBezTo>
                <a:lnTo>
                  <a:pt x="1584960" y="38100"/>
                </a:lnTo>
                <a:cubicBezTo>
                  <a:pt x="1584960" y="59119"/>
                  <a:pt x="1567879" y="76200"/>
                  <a:pt x="1546860" y="76200"/>
                </a:cubicBezTo>
                <a:lnTo>
                  <a:pt x="38100" y="76200"/>
                </a:lnTo>
                <a:cubicBezTo>
                  <a:pt x="17082" y="76200"/>
                  <a:pt x="0" y="59119"/>
                  <a:pt x="0" y="381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biv-top-3"/>
          <p:cNvSpPr txBox="1"/>
          <p:nvPr/>
        </p:nvSpPr>
        <p:spPr>
          <a:xfrm>
            <a:off x="10811764" y="25923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3.9</a:t>
            </a:r>
          </a:p>
        </p:txBody>
      </p:sp>
      <p:sp>
        <p:nvSpPr>
          <p:cNvPr id="46" name="ld-left"/>
          <p:cNvSpPr/>
          <p:nvPr/>
        </p:nvSpPr>
        <p:spPr>
          <a:xfrm>
            <a:off x="3365500" y="3143250"/>
            <a:ext cx="276225" cy="539750"/>
          </a:xfrm>
          <a:custGeom>
            <a:avLst/>
            <a:gdLst/>
            <a:ahLst/>
            <a:cxnLst/>
            <a:rect l="0" t="0" r="r" b="b"/>
            <a:pathLst>
              <a:path w="276225" h="539750">
                <a:moveTo>
                  <a:pt x="276225" y="0"/>
                </a:moveTo>
                <a:lnTo>
                  <a:pt x="138112" y="539750"/>
                </a:lnTo>
                <a:lnTo>
                  <a:pt x="0" y="539750"/>
                </a:lnTo>
              </a:path>
            </a:pathLst>
          </a:custGeom>
          <a:noFill/>
          <a:ln w="12700" cap="rnd">
            <a:solidFill>
              <a:srgbClr val="0B3E8F">
                <a:alpha val="6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lda-left"/>
          <p:cNvSpPr/>
          <p:nvPr/>
        </p:nvSpPr>
        <p:spPr>
          <a:xfrm>
            <a:off x="3597275" y="3098800"/>
            <a:ext cx="88900" cy="889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bk-left"/>
          <p:cNvSpPr/>
          <p:nvPr/>
        </p:nvSpPr>
        <p:spPr>
          <a:xfrm>
            <a:off x="952500" y="3429000"/>
            <a:ext cx="2286000" cy="1498600"/>
          </a:xfrm>
          <a:custGeom>
            <a:avLst/>
            <a:gdLst/>
            <a:ahLst/>
            <a:cxnLst/>
            <a:rect l="0" t="0" r="r" b="b"/>
            <a:pathLst>
              <a:path w="2286000" h="1498600">
                <a:moveTo>
                  <a:pt x="127000" y="0"/>
                </a:moveTo>
                <a:lnTo>
                  <a:pt x="2159000" y="0"/>
                </a:lnTo>
                <a:cubicBezTo>
                  <a:pt x="2229168" y="0"/>
                  <a:pt x="2286000" y="56833"/>
                  <a:pt x="2286000" y="127000"/>
                </a:cubicBezTo>
                <a:lnTo>
                  <a:pt x="2286000" y="1371600"/>
                </a:lnTo>
                <a:cubicBezTo>
                  <a:pt x="2286000" y="1441767"/>
                  <a:pt x="2229168" y="1498600"/>
                  <a:pt x="2159000" y="1498600"/>
                </a:cubicBezTo>
                <a:lnTo>
                  <a:pt x="127000" y="1498600"/>
                </a:lnTo>
                <a:cubicBezTo>
                  <a:pt x="56832" y="1498600"/>
                  <a:pt x="0" y="1441767"/>
                  <a:pt x="0" y="1371600"/>
                </a:cubicBezTo>
                <a:lnTo>
                  <a:pt x="0" y="127000"/>
                </a:lnTo>
                <a:cubicBezTo>
                  <a:pt x="0" y="56833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bkb-left"/>
          <p:cNvSpPr/>
          <p:nvPr/>
        </p:nvSpPr>
        <p:spPr>
          <a:xfrm>
            <a:off x="952500" y="3429000"/>
            <a:ext cx="38100" cy="1498600"/>
          </a:xfrm>
          <a:custGeom>
            <a:avLst/>
            <a:gdLst/>
            <a:ahLst/>
            <a:cxnLst/>
            <a:rect l="0" t="0" r="r" b="b"/>
            <a:pathLst>
              <a:path w="38100" h="14986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479550"/>
                </a:lnTo>
                <a:cubicBezTo>
                  <a:pt x="38100" y="1490091"/>
                  <a:pt x="29591" y="1498600"/>
                  <a:pt x="19050" y="1498600"/>
                </a:cubicBezTo>
                <a:lnTo>
                  <a:pt x="19050" y="1498600"/>
                </a:lnTo>
                <a:cubicBezTo>
                  <a:pt x="8509" y="1498600"/>
                  <a:pt x="0" y="1490091"/>
                  <a:pt x="0" y="14795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bkn-left"/>
          <p:cNvSpPr txBox="1"/>
          <p:nvPr/>
        </p:nvSpPr>
        <p:spPr>
          <a:xfrm>
            <a:off x="1123950" y="35504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组织</a:t>
            </a:r>
          </a:p>
        </p:txBody>
      </p:sp>
      <p:sp>
        <p:nvSpPr>
          <p:cNvPr id="51" name="bke-left"/>
          <p:cNvSpPr txBox="1"/>
          <p:nvPr/>
        </p:nvSpPr>
        <p:spPr>
          <a:xfrm>
            <a:off x="1564132" y="3624008"/>
            <a:ext cx="49301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7E93AE"/>
                </a:solidFill>
                <a:latin typeface="Arial"/>
                <a:ea typeface="Arial"/>
                <a:cs typeface="Arial"/>
              </a:rPr>
              <a:t>PEOPLE</a:t>
            </a:r>
          </a:p>
        </p:txBody>
      </p:sp>
      <p:sp>
        <p:nvSpPr>
          <p:cNvPr id="52" name="bks-left"/>
          <p:cNvSpPr txBox="1"/>
          <p:nvPr/>
        </p:nvSpPr>
        <p:spPr>
          <a:xfrm>
            <a:off x="2560828" y="3508248"/>
            <a:ext cx="524256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6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3.4</a:t>
            </a:r>
          </a:p>
        </p:txBody>
      </p:sp>
      <p:sp>
        <p:nvSpPr>
          <p:cNvPr id="53" name="bi-left-1"/>
          <p:cNvSpPr txBox="1"/>
          <p:nvPr/>
        </p:nvSpPr>
        <p:spPr>
          <a:xfrm>
            <a:off x="1129665" y="3952161"/>
            <a:ext cx="55467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人才密度</a:t>
            </a:r>
          </a:p>
        </p:txBody>
      </p:sp>
      <p:sp>
        <p:nvSpPr>
          <p:cNvPr id="54" name="bib-left-1"/>
          <p:cNvSpPr/>
          <p:nvPr/>
        </p:nvSpPr>
        <p:spPr>
          <a:xfrm>
            <a:off x="1841500" y="4013200"/>
            <a:ext cx="1016000" cy="76200"/>
          </a:xfrm>
          <a:custGeom>
            <a:avLst/>
            <a:gdLst/>
            <a:ahLst/>
            <a:cxnLst/>
            <a:rect l="0" t="0" r="r" b="b"/>
            <a:pathLst>
              <a:path w="1016000" h="76200">
                <a:moveTo>
                  <a:pt x="38100" y="0"/>
                </a:moveTo>
                <a:lnTo>
                  <a:pt x="977900" y="0"/>
                </a:lnTo>
                <a:cubicBezTo>
                  <a:pt x="998918" y="0"/>
                  <a:pt x="1016000" y="17082"/>
                  <a:pt x="1016000" y="38100"/>
                </a:cubicBezTo>
                <a:lnTo>
                  <a:pt x="1016000" y="38100"/>
                </a:lnTo>
                <a:cubicBezTo>
                  <a:pt x="1016000" y="59118"/>
                  <a:pt x="998918" y="76200"/>
                  <a:pt x="977900" y="76200"/>
                </a:cubicBezTo>
                <a:lnTo>
                  <a:pt x="38100" y="76200"/>
                </a:lnTo>
                <a:cubicBezTo>
                  <a:pt x="17081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bibv-left-1"/>
          <p:cNvSpPr/>
          <p:nvPr/>
        </p:nvSpPr>
        <p:spPr>
          <a:xfrm>
            <a:off x="1841500" y="4013200"/>
            <a:ext cx="650240" cy="76200"/>
          </a:xfrm>
          <a:custGeom>
            <a:avLst/>
            <a:gdLst/>
            <a:ahLst/>
            <a:cxnLst/>
            <a:rect l="0" t="0" r="r" b="b"/>
            <a:pathLst>
              <a:path w="650240" h="76200">
                <a:moveTo>
                  <a:pt x="38100" y="0"/>
                </a:moveTo>
                <a:lnTo>
                  <a:pt x="612140" y="0"/>
                </a:lnTo>
                <a:cubicBezTo>
                  <a:pt x="633158" y="0"/>
                  <a:pt x="650240" y="17082"/>
                  <a:pt x="650240" y="38100"/>
                </a:cubicBezTo>
                <a:lnTo>
                  <a:pt x="650240" y="38100"/>
                </a:lnTo>
                <a:cubicBezTo>
                  <a:pt x="650240" y="59118"/>
                  <a:pt x="633158" y="76200"/>
                  <a:pt x="612140" y="76200"/>
                </a:cubicBezTo>
                <a:lnTo>
                  <a:pt x="38100" y="76200"/>
                </a:lnTo>
                <a:cubicBezTo>
                  <a:pt x="17081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biv-left-1"/>
          <p:cNvSpPr txBox="1"/>
          <p:nvPr/>
        </p:nvSpPr>
        <p:spPr>
          <a:xfrm>
            <a:off x="2810764" y="39639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3.2</a:t>
            </a:r>
          </a:p>
        </p:txBody>
      </p:sp>
      <p:sp>
        <p:nvSpPr>
          <p:cNvPr id="57" name="bi-left-2"/>
          <p:cNvSpPr txBox="1"/>
          <p:nvPr/>
        </p:nvSpPr>
        <p:spPr>
          <a:xfrm>
            <a:off x="1129665" y="4231561"/>
            <a:ext cx="55467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协作机制</a:t>
            </a:r>
          </a:p>
        </p:txBody>
      </p:sp>
      <p:sp>
        <p:nvSpPr>
          <p:cNvPr id="58" name="bib-left-2"/>
          <p:cNvSpPr/>
          <p:nvPr/>
        </p:nvSpPr>
        <p:spPr>
          <a:xfrm>
            <a:off x="1841500" y="4292600"/>
            <a:ext cx="1016000" cy="76200"/>
          </a:xfrm>
          <a:custGeom>
            <a:avLst/>
            <a:gdLst/>
            <a:ahLst/>
            <a:cxnLst/>
            <a:rect l="0" t="0" r="r" b="b"/>
            <a:pathLst>
              <a:path w="1016000" h="76200">
                <a:moveTo>
                  <a:pt x="38100" y="0"/>
                </a:moveTo>
                <a:lnTo>
                  <a:pt x="977900" y="0"/>
                </a:lnTo>
                <a:cubicBezTo>
                  <a:pt x="998918" y="0"/>
                  <a:pt x="1016000" y="17082"/>
                  <a:pt x="1016000" y="38100"/>
                </a:cubicBezTo>
                <a:lnTo>
                  <a:pt x="1016000" y="38100"/>
                </a:lnTo>
                <a:cubicBezTo>
                  <a:pt x="1016000" y="59118"/>
                  <a:pt x="998918" y="76200"/>
                  <a:pt x="977900" y="76200"/>
                </a:cubicBezTo>
                <a:lnTo>
                  <a:pt x="38100" y="76200"/>
                </a:lnTo>
                <a:cubicBezTo>
                  <a:pt x="17081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bibv-left-2"/>
          <p:cNvSpPr/>
          <p:nvPr/>
        </p:nvSpPr>
        <p:spPr>
          <a:xfrm>
            <a:off x="1841500" y="4292600"/>
            <a:ext cx="731520" cy="76200"/>
          </a:xfrm>
          <a:custGeom>
            <a:avLst/>
            <a:gdLst/>
            <a:ahLst/>
            <a:cxnLst/>
            <a:rect l="0" t="0" r="r" b="b"/>
            <a:pathLst>
              <a:path w="731520" h="76200">
                <a:moveTo>
                  <a:pt x="38100" y="0"/>
                </a:moveTo>
                <a:lnTo>
                  <a:pt x="693420" y="0"/>
                </a:lnTo>
                <a:cubicBezTo>
                  <a:pt x="714438" y="0"/>
                  <a:pt x="731520" y="17082"/>
                  <a:pt x="731520" y="38100"/>
                </a:cubicBezTo>
                <a:lnTo>
                  <a:pt x="731520" y="38100"/>
                </a:lnTo>
                <a:cubicBezTo>
                  <a:pt x="731520" y="59118"/>
                  <a:pt x="714438" y="76200"/>
                  <a:pt x="693420" y="76200"/>
                </a:cubicBezTo>
                <a:lnTo>
                  <a:pt x="38100" y="76200"/>
                </a:lnTo>
                <a:cubicBezTo>
                  <a:pt x="17081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biv-left-2"/>
          <p:cNvSpPr txBox="1"/>
          <p:nvPr/>
        </p:nvSpPr>
        <p:spPr>
          <a:xfrm>
            <a:off x="2810764" y="42433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3.6</a:t>
            </a:r>
          </a:p>
        </p:txBody>
      </p:sp>
      <p:sp>
        <p:nvSpPr>
          <p:cNvPr id="61" name="bi-left-3"/>
          <p:cNvSpPr txBox="1"/>
          <p:nvPr/>
        </p:nvSpPr>
        <p:spPr>
          <a:xfrm>
            <a:off x="1129665" y="4510961"/>
            <a:ext cx="55467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激励设计</a:t>
            </a:r>
          </a:p>
        </p:txBody>
      </p:sp>
      <p:sp>
        <p:nvSpPr>
          <p:cNvPr id="62" name="bib-left-3"/>
          <p:cNvSpPr/>
          <p:nvPr/>
        </p:nvSpPr>
        <p:spPr>
          <a:xfrm>
            <a:off x="1841500" y="4572000"/>
            <a:ext cx="1016000" cy="76200"/>
          </a:xfrm>
          <a:custGeom>
            <a:avLst/>
            <a:gdLst/>
            <a:ahLst/>
            <a:cxnLst/>
            <a:rect l="0" t="0" r="r" b="b"/>
            <a:pathLst>
              <a:path w="1016000" h="76200">
                <a:moveTo>
                  <a:pt x="38100" y="0"/>
                </a:moveTo>
                <a:lnTo>
                  <a:pt x="977900" y="0"/>
                </a:lnTo>
                <a:cubicBezTo>
                  <a:pt x="998918" y="0"/>
                  <a:pt x="1016000" y="17082"/>
                  <a:pt x="1016000" y="38100"/>
                </a:cubicBezTo>
                <a:lnTo>
                  <a:pt x="1016000" y="38100"/>
                </a:lnTo>
                <a:cubicBezTo>
                  <a:pt x="1016000" y="59118"/>
                  <a:pt x="998918" y="76200"/>
                  <a:pt x="977900" y="76200"/>
                </a:cubicBezTo>
                <a:lnTo>
                  <a:pt x="38100" y="76200"/>
                </a:lnTo>
                <a:cubicBezTo>
                  <a:pt x="17081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bibv-left-3"/>
          <p:cNvSpPr/>
          <p:nvPr/>
        </p:nvSpPr>
        <p:spPr>
          <a:xfrm>
            <a:off x="1841500" y="4572000"/>
            <a:ext cx="670560" cy="76200"/>
          </a:xfrm>
          <a:custGeom>
            <a:avLst/>
            <a:gdLst/>
            <a:ahLst/>
            <a:cxnLst/>
            <a:rect l="0" t="0" r="r" b="b"/>
            <a:pathLst>
              <a:path w="670560" h="76200">
                <a:moveTo>
                  <a:pt x="38100" y="0"/>
                </a:moveTo>
                <a:lnTo>
                  <a:pt x="632460" y="0"/>
                </a:lnTo>
                <a:cubicBezTo>
                  <a:pt x="653479" y="0"/>
                  <a:pt x="670560" y="17082"/>
                  <a:pt x="670560" y="38100"/>
                </a:cubicBezTo>
                <a:lnTo>
                  <a:pt x="670560" y="38100"/>
                </a:lnTo>
                <a:cubicBezTo>
                  <a:pt x="670560" y="59118"/>
                  <a:pt x="653479" y="76200"/>
                  <a:pt x="632460" y="76200"/>
                </a:cubicBezTo>
                <a:lnTo>
                  <a:pt x="38100" y="76200"/>
                </a:lnTo>
                <a:cubicBezTo>
                  <a:pt x="17081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biv-left-3"/>
          <p:cNvSpPr txBox="1"/>
          <p:nvPr/>
        </p:nvSpPr>
        <p:spPr>
          <a:xfrm>
            <a:off x="2810764" y="45227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3.3</a:t>
            </a:r>
          </a:p>
        </p:txBody>
      </p:sp>
      <p:sp>
        <p:nvSpPr>
          <p:cNvPr id="65" name="ld-right"/>
          <p:cNvSpPr/>
          <p:nvPr/>
        </p:nvSpPr>
        <p:spPr>
          <a:xfrm>
            <a:off x="6518275" y="3302000"/>
            <a:ext cx="1355725" cy="825500"/>
          </a:xfrm>
          <a:custGeom>
            <a:avLst/>
            <a:gdLst/>
            <a:ahLst/>
            <a:cxnLst/>
            <a:rect l="0" t="0" r="r" b="b"/>
            <a:pathLst>
              <a:path w="1355725" h="825500">
                <a:moveTo>
                  <a:pt x="0" y="0"/>
                </a:moveTo>
                <a:lnTo>
                  <a:pt x="677862" y="825500"/>
                </a:lnTo>
                <a:lnTo>
                  <a:pt x="1355725" y="825500"/>
                </a:lnTo>
              </a:path>
            </a:pathLst>
          </a:custGeom>
          <a:noFill/>
          <a:ln w="12700" cap="rnd">
            <a:solidFill>
              <a:srgbClr val="2468B6">
                <a:alpha val="6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lda-right"/>
          <p:cNvSpPr/>
          <p:nvPr/>
        </p:nvSpPr>
        <p:spPr>
          <a:xfrm>
            <a:off x="6473825" y="3257550"/>
            <a:ext cx="88900" cy="889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bk-right"/>
          <p:cNvSpPr/>
          <p:nvPr/>
        </p:nvSpPr>
        <p:spPr>
          <a:xfrm>
            <a:off x="7937500" y="3873500"/>
            <a:ext cx="3302000" cy="1498600"/>
          </a:xfrm>
          <a:custGeom>
            <a:avLst/>
            <a:gdLst/>
            <a:ahLst/>
            <a:cxnLst/>
            <a:rect l="0" t="0" r="r" b="b"/>
            <a:pathLst>
              <a:path w="3302000" h="1498600">
                <a:moveTo>
                  <a:pt x="127000" y="0"/>
                </a:moveTo>
                <a:lnTo>
                  <a:pt x="3175000" y="0"/>
                </a:lnTo>
                <a:cubicBezTo>
                  <a:pt x="3245167" y="0"/>
                  <a:pt x="3302000" y="56833"/>
                  <a:pt x="3302000" y="127000"/>
                </a:cubicBezTo>
                <a:lnTo>
                  <a:pt x="3302000" y="1371600"/>
                </a:lnTo>
                <a:cubicBezTo>
                  <a:pt x="3302000" y="1441767"/>
                  <a:pt x="3245167" y="1498600"/>
                  <a:pt x="3175000" y="1498600"/>
                </a:cubicBezTo>
                <a:lnTo>
                  <a:pt x="127000" y="1498600"/>
                </a:lnTo>
                <a:cubicBezTo>
                  <a:pt x="56833" y="1498600"/>
                  <a:pt x="0" y="1441767"/>
                  <a:pt x="0" y="13716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bkb-right"/>
          <p:cNvSpPr/>
          <p:nvPr/>
        </p:nvSpPr>
        <p:spPr>
          <a:xfrm>
            <a:off x="7937500" y="3873500"/>
            <a:ext cx="38100" cy="1498600"/>
          </a:xfrm>
          <a:custGeom>
            <a:avLst/>
            <a:gdLst/>
            <a:ahLst/>
            <a:cxnLst/>
            <a:rect l="0" t="0" r="r" b="b"/>
            <a:pathLst>
              <a:path w="38100" h="14986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479550"/>
                </a:lnTo>
                <a:cubicBezTo>
                  <a:pt x="38100" y="1490091"/>
                  <a:pt x="29591" y="1498600"/>
                  <a:pt x="19050" y="1498600"/>
                </a:cubicBezTo>
                <a:lnTo>
                  <a:pt x="19050" y="1498600"/>
                </a:lnTo>
                <a:cubicBezTo>
                  <a:pt x="8509" y="1498600"/>
                  <a:pt x="0" y="1490091"/>
                  <a:pt x="0" y="14795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bkn-right"/>
          <p:cNvSpPr txBox="1"/>
          <p:nvPr/>
        </p:nvSpPr>
        <p:spPr>
          <a:xfrm>
            <a:off x="8108950" y="39949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技术</a:t>
            </a:r>
          </a:p>
        </p:txBody>
      </p:sp>
      <p:sp>
        <p:nvSpPr>
          <p:cNvPr id="70" name="bke-right"/>
          <p:cNvSpPr txBox="1"/>
          <p:nvPr/>
        </p:nvSpPr>
        <p:spPr>
          <a:xfrm>
            <a:off x="8549132" y="4068508"/>
            <a:ext cx="76835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7E93AE"/>
                </a:solidFill>
                <a:latin typeface="Arial"/>
                <a:ea typeface="Arial"/>
                <a:cs typeface="Arial"/>
              </a:rPr>
              <a:t>TECHNOLOGY</a:t>
            </a:r>
          </a:p>
        </p:txBody>
      </p:sp>
      <p:sp>
        <p:nvSpPr>
          <p:cNvPr id="71" name="bks-right"/>
          <p:cNvSpPr txBox="1"/>
          <p:nvPr/>
        </p:nvSpPr>
        <p:spPr>
          <a:xfrm>
            <a:off x="10561828" y="3952748"/>
            <a:ext cx="524256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60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3.8</a:t>
            </a:r>
          </a:p>
        </p:txBody>
      </p:sp>
      <p:sp>
        <p:nvSpPr>
          <p:cNvPr id="72" name="bi-right-1"/>
          <p:cNvSpPr txBox="1"/>
          <p:nvPr/>
        </p:nvSpPr>
        <p:spPr>
          <a:xfrm>
            <a:off x="8114665" y="4396661"/>
            <a:ext cx="55467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系统集成</a:t>
            </a:r>
          </a:p>
        </p:txBody>
      </p:sp>
      <p:sp>
        <p:nvSpPr>
          <p:cNvPr id="73" name="bib-right-1"/>
          <p:cNvSpPr/>
          <p:nvPr/>
        </p:nvSpPr>
        <p:spPr>
          <a:xfrm>
            <a:off x="8826500" y="4457700"/>
            <a:ext cx="2032000" cy="76200"/>
          </a:xfrm>
          <a:custGeom>
            <a:avLst/>
            <a:gdLst/>
            <a:ahLst/>
            <a:cxnLst/>
            <a:rect l="0" t="0" r="r" b="b"/>
            <a:pathLst>
              <a:path w="2032000" h="76200">
                <a:moveTo>
                  <a:pt x="38100" y="0"/>
                </a:moveTo>
                <a:lnTo>
                  <a:pt x="1993900" y="0"/>
                </a:lnTo>
                <a:cubicBezTo>
                  <a:pt x="2014918" y="0"/>
                  <a:pt x="2032000" y="17082"/>
                  <a:pt x="2032000" y="38100"/>
                </a:cubicBezTo>
                <a:lnTo>
                  <a:pt x="2032000" y="38100"/>
                </a:lnTo>
                <a:cubicBezTo>
                  <a:pt x="2032000" y="59118"/>
                  <a:pt x="2014918" y="76200"/>
                  <a:pt x="1993900" y="76200"/>
                </a:cubicBezTo>
                <a:lnTo>
                  <a:pt x="38100" y="76200"/>
                </a:lnTo>
                <a:cubicBezTo>
                  <a:pt x="17082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bibv-right-1"/>
          <p:cNvSpPr/>
          <p:nvPr/>
        </p:nvSpPr>
        <p:spPr>
          <a:xfrm>
            <a:off x="8826500" y="4457700"/>
            <a:ext cx="1463040" cy="76200"/>
          </a:xfrm>
          <a:custGeom>
            <a:avLst/>
            <a:gdLst/>
            <a:ahLst/>
            <a:cxnLst/>
            <a:rect l="0" t="0" r="r" b="b"/>
            <a:pathLst>
              <a:path w="1463040" h="76200">
                <a:moveTo>
                  <a:pt x="38100" y="0"/>
                </a:moveTo>
                <a:lnTo>
                  <a:pt x="1424940" y="0"/>
                </a:lnTo>
                <a:cubicBezTo>
                  <a:pt x="1445959" y="0"/>
                  <a:pt x="1463040" y="17082"/>
                  <a:pt x="1463040" y="38100"/>
                </a:cubicBezTo>
                <a:lnTo>
                  <a:pt x="1463040" y="38100"/>
                </a:lnTo>
                <a:cubicBezTo>
                  <a:pt x="1463040" y="59118"/>
                  <a:pt x="1445959" y="76200"/>
                  <a:pt x="1424940" y="76200"/>
                </a:cubicBezTo>
                <a:lnTo>
                  <a:pt x="38100" y="76200"/>
                </a:lnTo>
                <a:cubicBezTo>
                  <a:pt x="17082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biv-right-1"/>
          <p:cNvSpPr txBox="1"/>
          <p:nvPr/>
        </p:nvSpPr>
        <p:spPr>
          <a:xfrm>
            <a:off x="10811764" y="44084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3.6</a:t>
            </a:r>
          </a:p>
        </p:txBody>
      </p:sp>
      <p:sp>
        <p:nvSpPr>
          <p:cNvPr id="76" name="bi-right-2"/>
          <p:cNvSpPr txBox="1"/>
          <p:nvPr/>
        </p:nvSpPr>
        <p:spPr>
          <a:xfrm>
            <a:off x="8114665" y="4676061"/>
            <a:ext cx="55467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数据能力</a:t>
            </a:r>
          </a:p>
        </p:txBody>
      </p:sp>
      <p:sp>
        <p:nvSpPr>
          <p:cNvPr id="77" name="bib-right-2"/>
          <p:cNvSpPr/>
          <p:nvPr/>
        </p:nvSpPr>
        <p:spPr>
          <a:xfrm>
            <a:off x="8826500" y="4737100"/>
            <a:ext cx="2032000" cy="76200"/>
          </a:xfrm>
          <a:custGeom>
            <a:avLst/>
            <a:gdLst/>
            <a:ahLst/>
            <a:cxnLst/>
            <a:rect l="0" t="0" r="r" b="b"/>
            <a:pathLst>
              <a:path w="2032000" h="76200">
                <a:moveTo>
                  <a:pt x="38100" y="0"/>
                </a:moveTo>
                <a:lnTo>
                  <a:pt x="1993900" y="0"/>
                </a:lnTo>
                <a:cubicBezTo>
                  <a:pt x="2014918" y="0"/>
                  <a:pt x="2032000" y="17082"/>
                  <a:pt x="2032000" y="38100"/>
                </a:cubicBezTo>
                <a:lnTo>
                  <a:pt x="2032000" y="38100"/>
                </a:lnTo>
                <a:cubicBezTo>
                  <a:pt x="2032000" y="59118"/>
                  <a:pt x="2014918" y="76200"/>
                  <a:pt x="1993900" y="76200"/>
                </a:cubicBezTo>
                <a:lnTo>
                  <a:pt x="38100" y="76200"/>
                </a:lnTo>
                <a:cubicBezTo>
                  <a:pt x="17082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bibv-right-2"/>
          <p:cNvSpPr/>
          <p:nvPr/>
        </p:nvSpPr>
        <p:spPr>
          <a:xfrm>
            <a:off x="8826500" y="4737100"/>
            <a:ext cx="1625600" cy="76200"/>
          </a:xfrm>
          <a:custGeom>
            <a:avLst/>
            <a:gdLst/>
            <a:ahLst/>
            <a:cxnLst/>
            <a:rect l="0" t="0" r="r" b="b"/>
            <a:pathLst>
              <a:path w="1625600" h="76200">
                <a:moveTo>
                  <a:pt x="38100" y="0"/>
                </a:moveTo>
                <a:lnTo>
                  <a:pt x="1587500" y="0"/>
                </a:lnTo>
                <a:cubicBezTo>
                  <a:pt x="1608518" y="0"/>
                  <a:pt x="1625600" y="17082"/>
                  <a:pt x="1625600" y="38100"/>
                </a:cubicBezTo>
                <a:lnTo>
                  <a:pt x="1625600" y="38100"/>
                </a:lnTo>
                <a:cubicBezTo>
                  <a:pt x="1625600" y="59118"/>
                  <a:pt x="1608518" y="76200"/>
                  <a:pt x="1587500" y="76200"/>
                </a:cubicBezTo>
                <a:lnTo>
                  <a:pt x="38100" y="76200"/>
                </a:lnTo>
                <a:cubicBezTo>
                  <a:pt x="17082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biv-right-2"/>
          <p:cNvSpPr txBox="1"/>
          <p:nvPr/>
        </p:nvSpPr>
        <p:spPr>
          <a:xfrm>
            <a:off x="10811764" y="46878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4.0</a:t>
            </a:r>
          </a:p>
        </p:txBody>
      </p:sp>
      <p:sp>
        <p:nvSpPr>
          <p:cNvPr id="80" name="bi-right-3"/>
          <p:cNvSpPr txBox="1"/>
          <p:nvPr/>
        </p:nvSpPr>
        <p:spPr>
          <a:xfrm>
            <a:off x="8114665" y="4955461"/>
            <a:ext cx="55467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安全合规</a:t>
            </a:r>
          </a:p>
        </p:txBody>
      </p:sp>
      <p:sp>
        <p:nvSpPr>
          <p:cNvPr id="81" name="bib-right-3"/>
          <p:cNvSpPr/>
          <p:nvPr/>
        </p:nvSpPr>
        <p:spPr>
          <a:xfrm>
            <a:off x="8826500" y="5016500"/>
            <a:ext cx="2032000" cy="76200"/>
          </a:xfrm>
          <a:custGeom>
            <a:avLst/>
            <a:gdLst/>
            <a:ahLst/>
            <a:cxnLst/>
            <a:rect l="0" t="0" r="r" b="b"/>
            <a:pathLst>
              <a:path w="2032000" h="76200">
                <a:moveTo>
                  <a:pt x="38100" y="0"/>
                </a:moveTo>
                <a:lnTo>
                  <a:pt x="1993900" y="0"/>
                </a:lnTo>
                <a:cubicBezTo>
                  <a:pt x="2014918" y="0"/>
                  <a:pt x="2032000" y="17082"/>
                  <a:pt x="2032000" y="38100"/>
                </a:cubicBezTo>
                <a:lnTo>
                  <a:pt x="2032000" y="38100"/>
                </a:lnTo>
                <a:cubicBezTo>
                  <a:pt x="2032000" y="59118"/>
                  <a:pt x="2014918" y="76200"/>
                  <a:pt x="1993900" y="76200"/>
                </a:cubicBezTo>
                <a:lnTo>
                  <a:pt x="38100" y="76200"/>
                </a:lnTo>
                <a:cubicBezTo>
                  <a:pt x="17082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bibv-right-3"/>
          <p:cNvSpPr/>
          <p:nvPr/>
        </p:nvSpPr>
        <p:spPr>
          <a:xfrm>
            <a:off x="8826500" y="5016500"/>
            <a:ext cx="1584960" cy="76200"/>
          </a:xfrm>
          <a:custGeom>
            <a:avLst/>
            <a:gdLst/>
            <a:ahLst/>
            <a:cxnLst/>
            <a:rect l="0" t="0" r="r" b="b"/>
            <a:pathLst>
              <a:path w="1584960" h="76200">
                <a:moveTo>
                  <a:pt x="38100" y="0"/>
                </a:moveTo>
                <a:lnTo>
                  <a:pt x="1546860" y="0"/>
                </a:lnTo>
                <a:cubicBezTo>
                  <a:pt x="1567879" y="0"/>
                  <a:pt x="1584960" y="17082"/>
                  <a:pt x="1584960" y="38100"/>
                </a:cubicBezTo>
                <a:lnTo>
                  <a:pt x="1584960" y="38100"/>
                </a:lnTo>
                <a:cubicBezTo>
                  <a:pt x="1584960" y="59118"/>
                  <a:pt x="1567879" y="76200"/>
                  <a:pt x="1546860" y="76200"/>
                </a:cubicBezTo>
                <a:lnTo>
                  <a:pt x="38100" y="76200"/>
                </a:lnTo>
                <a:cubicBezTo>
                  <a:pt x="17082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biv-right-3"/>
          <p:cNvSpPr txBox="1"/>
          <p:nvPr/>
        </p:nvSpPr>
        <p:spPr>
          <a:xfrm>
            <a:off x="10811764" y="49672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3.9</a:t>
            </a:r>
          </a:p>
        </p:txBody>
      </p:sp>
      <p:sp>
        <p:nvSpPr>
          <p:cNvPr id="84" name="lt-h"/>
          <p:cNvSpPr txBox="1"/>
          <p:nvPr/>
        </p:nvSpPr>
        <p:spPr>
          <a:xfrm>
            <a:off x="933450" y="1467644"/>
            <a:ext cx="10001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最短的一面</a:t>
            </a:r>
          </a:p>
        </p:txBody>
      </p:sp>
      <p:sp>
        <p:nvSpPr>
          <p:cNvPr id="85" name="lt-v"/>
          <p:cNvSpPr txBox="1"/>
          <p:nvPr/>
        </p:nvSpPr>
        <p:spPr>
          <a:xfrm>
            <a:off x="915924" y="1719072"/>
            <a:ext cx="1604772" cy="533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40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组织 3.4</a:t>
            </a:r>
          </a:p>
        </p:txBody>
      </p:sp>
      <p:sp>
        <p:nvSpPr>
          <p:cNvPr id="86" name="lt-p1"/>
          <p:cNvSpPr txBox="1"/>
          <p:nvPr/>
        </p:nvSpPr>
        <p:spPr>
          <a:xfrm>
            <a:off x="940308" y="2274824"/>
            <a:ext cx="162356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满分 5 分，由管理层与外部顾问</a:t>
            </a:r>
          </a:p>
        </p:txBody>
      </p:sp>
      <p:sp>
        <p:nvSpPr>
          <p:cNvPr id="87" name="lt-p2"/>
          <p:cNvSpPr txBox="1"/>
          <p:nvPr/>
        </p:nvSpPr>
        <p:spPr>
          <a:xfrm>
            <a:off x="940308" y="2465324"/>
            <a:ext cx="15494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共同评估；明年优先补组织面。</a:t>
            </a:r>
          </a:p>
        </p:txBody>
      </p:sp>
      <p:sp>
        <p:nvSpPr>
          <p:cNvPr id="88" name="sum"/>
          <p:cNvSpPr/>
          <p:nvPr/>
        </p:nvSpPr>
        <p:spPr>
          <a:xfrm>
            <a:off x="952500" y="5715000"/>
            <a:ext cx="10287000" cy="533400"/>
          </a:xfrm>
          <a:custGeom>
            <a:avLst/>
            <a:gdLst/>
            <a:ahLst/>
            <a:cxnLst/>
            <a:rect l="0" t="0" r="r" b="b"/>
            <a:pathLst>
              <a:path w="10287000" h="5334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31800"/>
                </a:lnTo>
                <a:cubicBezTo>
                  <a:pt x="10287000" y="487934"/>
                  <a:pt x="10241534" y="533400"/>
                  <a:pt x="10185400" y="533400"/>
                </a:cubicBezTo>
                <a:lnTo>
                  <a:pt x="101600" y="533400"/>
                </a:lnTo>
                <a:cubicBezTo>
                  <a:pt x="45466" y="533400"/>
                  <a:pt x="0" y="487934"/>
                  <a:pt x="0" y="431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sum-bar"/>
          <p:cNvSpPr/>
          <p:nvPr/>
        </p:nvSpPr>
        <p:spPr>
          <a:xfrm>
            <a:off x="952500" y="57150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sum-h"/>
          <p:cNvSpPr txBox="1"/>
          <p:nvPr/>
        </p:nvSpPr>
        <p:spPr>
          <a:xfrm>
            <a:off x="1141222" y="5883497"/>
            <a:ext cx="5086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补短板</a:t>
            </a:r>
          </a:p>
        </p:txBody>
      </p:sp>
      <p:sp>
        <p:nvSpPr>
          <p:cNvPr id="91" name="sum-p"/>
          <p:cNvSpPr txBox="1"/>
          <p:nvPr/>
        </p:nvSpPr>
        <p:spPr>
          <a:xfrm>
            <a:off x="1891665" y="5895261"/>
            <a:ext cx="469296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人才密度只有 3.2：明年关键岗位外部引进 40 人，并把 20% 的年终奖改为项目制激励。</a:t>
            </a:r>
          </a:p>
        </p:txBody>
      </p:sp>
      <p:cxnSp>
        <p:nvCxnSpPr>
          <p:cNvPr id="92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3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三维立方 · 能力模型</a:t>
            </a:r>
          </a:p>
        </p:txBody>
      </p:sp>
      <p:sp>
        <p:nvSpPr>
          <p:cNvPr id="94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四支箭，一个靶心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53695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ARROWS TO TARGET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418195" y="673132"/>
            <a:ext cx="32025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每个举措都要说清楚它为年度目标贡献多少——说不清的不立项</a:t>
            </a:r>
          </a:p>
        </p:txBody>
      </p:sp>
      <p:sp>
        <p:nvSpPr>
          <p:cNvPr id="10" name="ring-1"/>
          <p:cNvSpPr/>
          <p:nvPr/>
        </p:nvSpPr>
        <p:spPr>
          <a:xfrm>
            <a:off x="7112000" y="2349500"/>
            <a:ext cx="2667000" cy="2667000"/>
          </a:xfrm>
          <a:prstGeom prst="ellipse">
            <a:avLst/>
          </a:prstGeom>
          <a:solidFill>
            <a:srgbClr val="E4EEF9"/>
          </a:solidFill>
          <a:ln w="31750" cap="rnd">
            <a:solidFill>
              <a:srgbClr val="FFFFFF"/>
            </a:solidFill>
            <a:round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ring-2"/>
          <p:cNvSpPr/>
          <p:nvPr/>
        </p:nvSpPr>
        <p:spPr>
          <a:xfrm>
            <a:off x="7442200" y="2679700"/>
            <a:ext cx="2006600" cy="2006600"/>
          </a:xfrm>
          <a:prstGeom prst="ellipse">
            <a:avLst/>
          </a:prstGeom>
          <a:solidFill>
            <a:srgbClr val="9CC3EA"/>
          </a:solidFill>
          <a:ln w="317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ring-3"/>
          <p:cNvSpPr/>
          <p:nvPr/>
        </p:nvSpPr>
        <p:spPr>
          <a:xfrm>
            <a:off x="7772400" y="3009900"/>
            <a:ext cx="1346200" cy="1346200"/>
          </a:xfrm>
          <a:prstGeom prst="ellipse">
            <a:avLst/>
          </a:prstGeom>
          <a:solidFill>
            <a:srgbClr val="3F86CE"/>
          </a:solidFill>
          <a:ln w="317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ring-4"/>
          <p:cNvSpPr/>
          <p:nvPr/>
        </p:nvSpPr>
        <p:spPr>
          <a:xfrm>
            <a:off x="8102600" y="3340100"/>
            <a:ext cx="685800" cy="685800"/>
          </a:xfrm>
          <a:prstGeom prst="ellipse">
            <a:avLst/>
          </a:prstGeom>
          <a:solidFill>
            <a:srgbClr val="0B3E8F"/>
          </a:solidFill>
          <a:ln w="317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bull"/>
          <p:cNvSpPr/>
          <p:nvPr/>
        </p:nvSpPr>
        <p:spPr>
          <a:xfrm>
            <a:off x="8318500" y="3556000"/>
            <a:ext cx="254000" cy="2540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card-1"/>
          <p:cNvSpPr/>
          <p:nvPr/>
        </p:nvSpPr>
        <p:spPr>
          <a:xfrm>
            <a:off x="952500" y="1663700"/>
            <a:ext cx="2540000" cy="812800"/>
          </a:xfrm>
          <a:custGeom>
            <a:avLst/>
            <a:gdLst/>
            <a:ahLst/>
            <a:cxnLst/>
            <a:rect l="0" t="0" r="r" b="b"/>
            <a:pathLst>
              <a:path w="2540000" h="812800">
                <a:moveTo>
                  <a:pt x="127000" y="0"/>
                </a:moveTo>
                <a:lnTo>
                  <a:pt x="2413000" y="0"/>
                </a:lnTo>
                <a:cubicBezTo>
                  <a:pt x="2483167" y="0"/>
                  <a:pt x="2540000" y="56832"/>
                  <a:pt x="2540000" y="127000"/>
                </a:cubicBezTo>
                <a:lnTo>
                  <a:pt x="2540000" y="685800"/>
                </a:lnTo>
                <a:cubicBezTo>
                  <a:pt x="2540000" y="755968"/>
                  <a:pt x="2483167" y="812800"/>
                  <a:pt x="2413000" y="812800"/>
                </a:cubicBezTo>
                <a:lnTo>
                  <a:pt x="127000" y="812800"/>
                </a:lnTo>
                <a:cubicBezTo>
                  <a:pt x="56832" y="812800"/>
                  <a:pt x="0" y="755968"/>
                  <a:pt x="0" y="685800"/>
                </a:cubicBezTo>
                <a:lnTo>
                  <a:pt x="0" y="127000"/>
                </a:lnTo>
                <a:cubicBezTo>
                  <a:pt x="0" y="56832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cardb-1"/>
          <p:cNvSpPr/>
          <p:nvPr/>
        </p:nvSpPr>
        <p:spPr>
          <a:xfrm>
            <a:off x="952500" y="1663700"/>
            <a:ext cx="38100" cy="812800"/>
          </a:xfrm>
          <a:custGeom>
            <a:avLst/>
            <a:gdLst/>
            <a:ahLst/>
            <a:cxnLst/>
            <a:rect l="0" t="0" r="r" b="b"/>
            <a:pathLst>
              <a:path w="38100" h="8128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793750"/>
                </a:lnTo>
                <a:cubicBezTo>
                  <a:pt x="38100" y="804291"/>
                  <a:pt x="29591" y="812800"/>
                  <a:pt x="19050" y="812800"/>
                </a:cubicBezTo>
                <a:lnTo>
                  <a:pt x="19050" y="812800"/>
                </a:lnTo>
                <a:cubicBezTo>
                  <a:pt x="8509" y="812800"/>
                  <a:pt x="0" y="804291"/>
                  <a:pt x="0" y="7937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chip"/>
          <p:cNvSpPr/>
          <p:nvPr/>
        </p:nvSpPr>
        <p:spPr>
          <a:xfrm>
            <a:off x="1130300" y="1816100"/>
            <a:ext cx="330200" cy="330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chip-ring"/>
          <p:cNvSpPr/>
          <p:nvPr/>
        </p:nvSpPr>
        <p:spPr>
          <a:xfrm>
            <a:off x="1130300" y="1816100"/>
            <a:ext cx="330200" cy="330200"/>
          </a:xfrm>
          <a:prstGeom prst="ellipse">
            <a:avLst/>
          </a:prstGeom>
          <a:noFill/>
          <a:ln w="6350" cap="rnd">
            <a:solidFill>
              <a:srgbClr val="0B3E8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icon-target"/>
          <p:cNvSpPr/>
          <p:nvPr/>
        </p:nvSpPr>
        <p:spPr>
          <a:xfrm>
            <a:off x="1295400" y="1926590"/>
            <a:ext cx="41910" cy="54610"/>
          </a:xfrm>
          <a:custGeom>
            <a:avLst/>
            <a:gdLst/>
            <a:ahLst/>
            <a:cxnLst/>
            <a:rect l="0" t="0" r="r" b="b"/>
            <a:pathLst>
              <a:path w="41910" h="54610">
                <a:moveTo>
                  <a:pt x="0" y="31750"/>
                </a:moveTo>
                <a:lnTo>
                  <a:pt x="0" y="0"/>
                </a:lnTo>
                <a:moveTo>
                  <a:pt x="0" y="54610"/>
                </a:moveTo>
                <a:lnTo>
                  <a:pt x="41910" y="12700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icon-target"/>
          <p:cNvSpPr/>
          <p:nvPr/>
        </p:nvSpPr>
        <p:spPr>
          <a:xfrm>
            <a:off x="1240790" y="1926590"/>
            <a:ext cx="109220" cy="109220"/>
          </a:xfrm>
          <a:prstGeom prst="ellipse">
            <a:avLst/>
          </a:pr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icon-target"/>
          <p:cNvSpPr/>
          <p:nvPr/>
        </p:nvSpPr>
        <p:spPr>
          <a:xfrm>
            <a:off x="1267460" y="1953260"/>
            <a:ext cx="55880" cy="55880"/>
          </a:xfrm>
          <a:prstGeom prst="ellipse">
            <a:avLst/>
          </a:pr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cn-1"/>
          <p:cNvSpPr txBox="1"/>
          <p:nvPr/>
        </p:nvSpPr>
        <p:spPr>
          <a:xfrm>
            <a:off x="1544574" y="1838928"/>
            <a:ext cx="92519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大客户攻坚</a:t>
            </a:r>
          </a:p>
        </p:txBody>
      </p:sp>
      <p:sp>
        <p:nvSpPr>
          <p:cNvPr id="23" name="cd-1"/>
          <p:cNvSpPr txBox="1"/>
          <p:nvPr/>
        </p:nvSpPr>
        <p:spPr>
          <a:xfrm>
            <a:off x="1550289" y="2088245"/>
            <a:ext cx="1003110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聚焦 Top 200 客户</a:t>
            </a:r>
          </a:p>
        </p:txBody>
      </p:sp>
      <p:sp>
        <p:nvSpPr>
          <p:cNvPr id="24" name="co-1"/>
          <p:cNvSpPr txBox="1"/>
          <p:nvPr/>
        </p:nvSpPr>
        <p:spPr>
          <a:xfrm>
            <a:off x="1551432" y="2265108"/>
            <a:ext cx="7200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牵头：销售副总</a:t>
            </a:r>
          </a:p>
        </p:txBody>
      </p:sp>
      <p:cxnSp>
        <p:nvCxnSpPr>
          <p:cNvPr id="25" name="shaft-1"/>
          <p:cNvCxnSpPr/>
          <p:nvPr/>
        </p:nvCxnSpPr>
        <p:spPr>
          <a:xfrm>
            <a:off x="3683000" y="2070100"/>
            <a:ext cx="4613038" cy="1454110"/>
          </a:xfrm>
          <a:prstGeom prst="line">
            <a:avLst/>
          </a:prstGeom>
          <a:ln w="31750" cap="rnd">
            <a:solidFill>
              <a:srgbClr val="0B3E8F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fl-1-1"/>
          <p:cNvCxnSpPr/>
          <p:nvPr/>
        </p:nvCxnSpPr>
        <p:spPr>
          <a:xfrm flipH="1">
            <a:off x="3547261" y="2077736"/>
            <a:ext cx="159964" cy="42789"/>
          </a:xfrm>
          <a:prstGeom prst="line">
            <a:avLst/>
          </a:prstGeom>
          <a:ln w="25400" cap="rnd">
            <a:solidFill>
              <a:srgbClr val="0B3E8F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fl2-1-1"/>
          <p:cNvCxnSpPr/>
          <p:nvPr/>
        </p:nvCxnSpPr>
        <p:spPr>
          <a:xfrm flipH="1">
            <a:off x="3668386" y="2108281"/>
            <a:ext cx="135739" cy="50424"/>
          </a:xfrm>
          <a:prstGeom prst="line">
            <a:avLst/>
          </a:prstGeom>
          <a:ln w="25400" cap="rnd">
            <a:solidFill>
              <a:srgbClr val="0B3E8F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fl-1--1"/>
          <p:cNvCxnSpPr/>
          <p:nvPr/>
        </p:nvCxnSpPr>
        <p:spPr>
          <a:xfrm flipH="1" flipV="1">
            <a:off x="3600714" y="1950950"/>
            <a:ext cx="106511" cy="126786"/>
          </a:xfrm>
          <a:prstGeom prst="line">
            <a:avLst/>
          </a:prstGeom>
          <a:ln w="25400" cap="rnd">
            <a:solidFill>
              <a:srgbClr val="0B3E8F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fl2-1--1"/>
          <p:cNvCxnSpPr/>
          <p:nvPr/>
        </p:nvCxnSpPr>
        <p:spPr>
          <a:xfrm flipH="1" flipV="1">
            <a:off x="3721839" y="1989131"/>
            <a:ext cx="82286" cy="119150"/>
          </a:xfrm>
          <a:prstGeom prst="line">
            <a:avLst/>
          </a:prstGeom>
          <a:ln w="25400" cap="rnd">
            <a:solidFill>
              <a:srgbClr val="0B3E8F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head-1"/>
          <p:cNvSpPr/>
          <p:nvPr/>
        </p:nvSpPr>
        <p:spPr>
          <a:xfrm>
            <a:off x="8202363" y="3434683"/>
            <a:ext cx="190574" cy="133237"/>
          </a:xfrm>
          <a:custGeom>
            <a:avLst/>
            <a:gdLst/>
            <a:ahLst/>
            <a:cxnLst/>
            <a:rect l="0" t="0" r="r" b="b"/>
            <a:pathLst>
              <a:path w="190574" h="133237">
                <a:moveTo>
                  <a:pt x="190574" y="120072"/>
                </a:moveTo>
                <a:lnTo>
                  <a:pt x="0" y="133237"/>
                </a:lnTo>
                <a:lnTo>
                  <a:pt x="41999" y="0"/>
                </a:lnTo>
                <a:close/>
              </a:path>
            </a:pathLst>
          </a:custGeom>
          <a:solidFill>
            <a:srgbClr val="0B3E8F"/>
          </a:solidFill>
          <a:ln w="952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ct-1"/>
          <p:cNvSpPr/>
          <p:nvPr/>
        </p:nvSpPr>
        <p:spPr>
          <a:xfrm>
            <a:off x="5252212" y="2561844"/>
            <a:ext cx="787400" cy="254000"/>
          </a:xfrm>
          <a:custGeom>
            <a:avLst/>
            <a:gdLst/>
            <a:ahLst/>
            <a:cxnLst/>
            <a:rect l="0" t="0" r="r" b="b"/>
            <a:pathLst>
              <a:path w="787400" h="254000">
                <a:moveTo>
                  <a:pt x="127000" y="0"/>
                </a:moveTo>
                <a:lnTo>
                  <a:pt x="660400" y="0"/>
                </a:lnTo>
                <a:cubicBezTo>
                  <a:pt x="730567" y="0"/>
                  <a:pt x="787400" y="56832"/>
                  <a:pt x="787400" y="127000"/>
                </a:cubicBezTo>
                <a:lnTo>
                  <a:pt x="787400" y="127000"/>
                </a:lnTo>
                <a:cubicBezTo>
                  <a:pt x="787400" y="197168"/>
                  <a:pt x="730567" y="254000"/>
                  <a:pt x="660400" y="254000"/>
                </a:cubicBezTo>
                <a:lnTo>
                  <a:pt x="127000" y="254000"/>
                </a:lnTo>
                <a:cubicBezTo>
                  <a:pt x="56833" y="254000"/>
                  <a:pt x="0" y="197168"/>
                  <a:pt x="0" y="127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 w="9525" cap="rnd">
            <a:solidFill>
              <a:srgbClr val="0B3E8F">
                <a:alpha val="5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ctt-1"/>
          <p:cNvSpPr txBox="1"/>
          <p:nvPr/>
        </p:nvSpPr>
        <p:spPr>
          <a:xfrm>
            <a:off x="5386514" y="2599976"/>
            <a:ext cx="51879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+1.4 亿</a:t>
            </a:r>
          </a:p>
        </p:txBody>
      </p:sp>
      <p:sp>
        <p:nvSpPr>
          <p:cNvPr id="33" name="card-2"/>
          <p:cNvSpPr/>
          <p:nvPr/>
        </p:nvSpPr>
        <p:spPr>
          <a:xfrm>
            <a:off x="952500" y="2667000"/>
            <a:ext cx="2540000" cy="812800"/>
          </a:xfrm>
          <a:custGeom>
            <a:avLst/>
            <a:gdLst/>
            <a:ahLst/>
            <a:cxnLst/>
            <a:rect l="0" t="0" r="r" b="b"/>
            <a:pathLst>
              <a:path w="2540000" h="812800">
                <a:moveTo>
                  <a:pt x="127000" y="0"/>
                </a:moveTo>
                <a:lnTo>
                  <a:pt x="2413000" y="0"/>
                </a:lnTo>
                <a:cubicBezTo>
                  <a:pt x="2483167" y="0"/>
                  <a:pt x="2540000" y="56832"/>
                  <a:pt x="2540000" y="127000"/>
                </a:cubicBezTo>
                <a:lnTo>
                  <a:pt x="2540000" y="685800"/>
                </a:lnTo>
                <a:cubicBezTo>
                  <a:pt x="2540000" y="755967"/>
                  <a:pt x="2483167" y="812800"/>
                  <a:pt x="2413000" y="812800"/>
                </a:cubicBezTo>
                <a:lnTo>
                  <a:pt x="127000" y="812800"/>
                </a:lnTo>
                <a:cubicBezTo>
                  <a:pt x="56832" y="812800"/>
                  <a:pt x="0" y="755967"/>
                  <a:pt x="0" y="685800"/>
                </a:cubicBezTo>
                <a:lnTo>
                  <a:pt x="0" y="127000"/>
                </a:lnTo>
                <a:cubicBezTo>
                  <a:pt x="0" y="56832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cardb-2"/>
          <p:cNvSpPr/>
          <p:nvPr/>
        </p:nvSpPr>
        <p:spPr>
          <a:xfrm>
            <a:off x="952500" y="2667000"/>
            <a:ext cx="38100" cy="812800"/>
          </a:xfrm>
          <a:custGeom>
            <a:avLst/>
            <a:gdLst/>
            <a:ahLst/>
            <a:cxnLst/>
            <a:rect l="0" t="0" r="r" b="b"/>
            <a:pathLst>
              <a:path w="38100" h="8128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793750"/>
                </a:lnTo>
                <a:cubicBezTo>
                  <a:pt x="38100" y="804291"/>
                  <a:pt x="29591" y="812800"/>
                  <a:pt x="19050" y="812800"/>
                </a:cubicBezTo>
                <a:lnTo>
                  <a:pt x="19050" y="812800"/>
                </a:lnTo>
                <a:cubicBezTo>
                  <a:pt x="8509" y="812800"/>
                  <a:pt x="0" y="804291"/>
                  <a:pt x="0" y="7937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chip"/>
          <p:cNvSpPr/>
          <p:nvPr/>
        </p:nvSpPr>
        <p:spPr>
          <a:xfrm>
            <a:off x="1130300" y="2819400"/>
            <a:ext cx="330200" cy="330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chip-ring"/>
          <p:cNvSpPr/>
          <p:nvPr/>
        </p:nvSpPr>
        <p:spPr>
          <a:xfrm>
            <a:off x="1130300" y="2819400"/>
            <a:ext cx="330200" cy="330200"/>
          </a:xfrm>
          <a:prstGeom prst="ellipse">
            <a:avLst/>
          </a:prstGeom>
          <a:noFill/>
          <a:ln w="6350" cap="rnd">
            <a:solidFill>
              <a:srgbClr val="1B5AA8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icon-rocket"/>
          <p:cNvSpPr/>
          <p:nvPr/>
        </p:nvSpPr>
        <p:spPr>
          <a:xfrm>
            <a:off x="1253490" y="2928620"/>
            <a:ext cx="83820" cy="105410"/>
          </a:xfrm>
          <a:custGeom>
            <a:avLst/>
            <a:gdLst/>
            <a:ahLst/>
            <a:cxnLst/>
            <a:rect l="0" t="0" r="r" b="b"/>
            <a:pathLst>
              <a:path w="83820" h="105410">
                <a:moveTo>
                  <a:pt x="41910" y="0"/>
                </a:moveTo>
                <a:cubicBezTo>
                  <a:pt x="60960" y="13970"/>
                  <a:pt x="71120" y="35560"/>
                  <a:pt x="71120" y="58420"/>
                </a:cubicBezTo>
                <a:lnTo>
                  <a:pt x="57150" y="81280"/>
                </a:lnTo>
                <a:lnTo>
                  <a:pt x="26670" y="81280"/>
                </a:lnTo>
                <a:lnTo>
                  <a:pt x="12700" y="58420"/>
                </a:lnTo>
                <a:cubicBezTo>
                  <a:pt x="12700" y="35560"/>
                  <a:pt x="22860" y="13970"/>
                  <a:pt x="41910" y="0"/>
                </a:cubicBezTo>
                <a:close/>
                <a:moveTo>
                  <a:pt x="12700" y="76200"/>
                </a:moveTo>
                <a:lnTo>
                  <a:pt x="0" y="105410"/>
                </a:lnTo>
                <a:lnTo>
                  <a:pt x="26670" y="95250"/>
                </a:lnTo>
                <a:moveTo>
                  <a:pt x="71120" y="76200"/>
                </a:moveTo>
                <a:lnTo>
                  <a:pt x="83820" y="105410"/>
                </a:lnTo>
                <a:lnTo>
                  <a:pt x="57150" y="95250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cn-2"/>
          <p:cNvSpPr txBox="1"/>
          <p:nvPr/>
        </p:nvSpPr>
        <p:spPr>
          <a:xfrm>
            <a:off x="1544574" y="2842228"/>
            <a:ext cx="7664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新品上市</a:t>
            </a:r>
          </a:p>
        </p:txBody>
      </p:sp>
      <p:sp>
        <p:nvSpPr>
          <p:cNvPr id="39" name="cd-2"/>
          <p:cNvSpPr txBox="1"/>
          <p:nvPr/>
        </p:nvSpPr>
        <p:spPr>
          <a:xfrm>
            <a:off x="1550289" y="3091545"/>
            <a:ext cx="89122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两条新产品线量产</a:t>
            </a:r>
          </a:p>
        </p:txBody>
      </p:sp>
      <p:sp>
        <p:nvSpPr>
          <p:cNvPr id="40" name="co-2"/>
          <p:cNvSpPr txBox="1"/>
          <p:nvPr/>
        </p:nvSpPr>
        <p:spPr>
          <a:xfrm>
            <a:off x="1551432" y="3268408"/>
            <a:ext cx="7200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牵头：产品总监</a:t>
            </a:r>
          </a:p>
        </p:txBody>
      </p:sp>
      <p:cxnSp>
        <p:nvCxnSpPr>
          <p:cNvPr id="41" name="shaft-2"/>
          <p:cNvCxnSpPr/>
          <p:nvPr/>
        </p:nvCxnSpPr>
        <p:spPr>
          <a:xfrm>
            <a:off x="3683000" y="3073400"/>
            <a:ext cx="4534545" cy="651371"/>
          </a:xfrm>
          <a:prstGeom prst="line">
            <a:avLst/>
          </a:prstGeom>
          <a:ln w="31750" cap="rnd">
            <a:solidFill>
              <a:srgbClr val="1B5AA8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fl-2-1"/>
          <p:cNvCxnSpPr/>
          <p:nvPr/>
        </p:nvCxnSpPr>
        <p:spPr>
          <a:xfrm flipH="1">
            <a:off x="3557221" y="3077012"/>
            <a:ext cx="150921" cy="68133"/>
          </a:xfrm>
          <a:prstGeom prst="line">
            <a:avLst/>
          </a:prstGeom>
          <a:ln w="25400" cap="rnd">
            <a:solidFill>
              <a:srgbClr val="1B5AA8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fl2-2-1"/>
          <p:cNvCxnSpPr/>
          <p:nvPr/>
        </p:nvCxnSpPr>
        <p:spPr>
          <a:xfrm flipH="1">
            <a:off x="3682931" y="3091458"/>
            <a:ext cx="125779" cy="71745"/>
          </a:xfrm>
          <a:prstGeom prst="line">
            <a:avLst/>
          </a:prstGeom>
          <a:ln w="25400" cap="rnd">
            <a:solidFill>
              <a:srgbClr val="1B5AA8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fl-2--1"/>
          <p:cNvCxnSpPr/>
          <p:nvPr/>
        </p:nvCxnSpPr>
        <p:spPr>
          <a:xfrm flipH="1" flipV="1">
            <a:off x="3582502" y="2969151"/>
            <a:ext cx="125640" cy="107861"/>
          </a:xfrm>
          <a:prstGeom prst="line">
            <a:avLst/>
          </a:prstGeom>
          <a:ln w="25400" cap="rnd">
            <a:solidFill>
              <a:srgbClr val="1B5AA8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fl2-2--1"/>
          <p:cNvCxnSpPr/>
          <p:nvPr/>
        </p:nvCxnSpPr>
        <p:spPr>
          <a:xfrm flipH="1" flipV="1">
            <a:off x="3708211" y="2987209"/>
            <a:ext cx="100499" cy="104249"/>
          </a:xfrm>
          <a:prstGeom prst="line">
            <a:avLst/>
          </a:prstGeom>
          <a:ln w="25400" cap="rnd">
            <a:solidFill>
              <a:srgbClr val="1B5AA8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head-2"/>
          <p:cNvSpPr/>
          <p:nvPr/>
        </p:nvSpPr>
        <p:spPr>
          <a:xfrm>
            <a:off x="8132188" y="3644796"/>
            <a:ext cx="185925" cy="138281"/>
          </a:xfrm>
          <a:custGeom>
            <a:avLst/>
            <a:gdLst/>
            <a:ahLst/>
            <a:cxnLst/>
            <a:rect l="0" t="0" r="r" b="b"/>
            <a:pathLst>
              <a:path w="185925" h="138281">
                <a:moveTo>
                  <a:pt x="185925" y="94421"/>
                </a:moveTo>
                <a:lnTo>
                  <a:pt x="0" y="138281"/>
                </a:lnTo>
                <a:lnTo>
                  <a:pt x="19864" y="0"/>
                </a:lnTo>
                <a:close/>
              </a:path>
            </a:pathLst>
          </a:custGeom>
          <a:solidFill>
            <a:srgbClr val="1B5AA8"/>
          </a:solidFill>
          <a:ln w="952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ct-2"/>
          <p:cNvSpPr/>
          <p:nvPr/>
        </p:nvSpPr>
        <p:spPr>
          <a:xfrm>
            <a:off x="5220208" y="3223768"/>
            <a:ext cx="787400" cy="254000"/>
          </a:xfrm>
          <a:custGeom>
            <a:avLst/>
            <a:gdLst/>
            <a:ahLst/>
            <a:cxnLst/>
            <a:rect l="0" t="0" r="r" b="b"/>
            <a:pathLst>
              <a:path w="787400" h="254000">
                <a:moveTo>
                  <a:pt x="127000" y="0"/>
                </a:moveTo>
                <a:lnTo>
                  <a:pt x="660400" y="0"/>
                </a:lnTo>
                <a:cubicBezTo>
                  <a:pt x="730567" y="0"/>
                  <a:pt x="787400" y="56832"/>
                  <a:pt x="787400" y="127000"/>
                </a:cubicBezTo>
                <a:lnTo>
                  <a:pt x="787400" y="127000"/>
                </a:lnTo>
                <a:cubicBezTo>
                  <a:pt x="787400" y="197168"/>
                  <a:pt x="730567" y="254000"/>
                  <a:pt x="660400" y="254000"/>
                </a:cubicBezTo>
                <a:lnTo>
                  <a:pt x="127000" y="254000"/>
                </a:lnTo>
                <a:cubicBezTo>
                  <a:pt x="56832" y="254000"/>
                  <a:pt x="0" y="197168"/>
                  <a:pt x="0" y="127000"/>
                </a:cubicBezTo>
                <a:lnTo>
                  <a:pt x="0" y="127000"/>
                </a:lnTo>
                <a:cubicBezTo>
                  <a:pt x="0" y="56832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 w="9525" cap="rnd">
            <a:solidFill>
              <a:srgbClr val="1B5AA8">
                <a:alpha val="5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ctt-2"/>
          <p:cNvSpPr txBox="1"/>
          <p:nvPr/>
        </p:nvSpPr>
        <p:spPr>
          <a:xfrm>
            <a:off x="5354510" y="3261900"/>
            <a:ext cx="51879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+0.9 亿</a:t>
            </a:r>
          </a:p>
        </p:txBody>
      </p:sp>
      <p:sp>
        <p:nvSpPr>
          <p:cNvPr id="49" name="card-3"/>
          <p:cNvSpPr/>
          <p:nvPr/>
        </p:nvSpPr>
        <p:spPr>
          <a:xfrm>
            <a:off x="952500" y="3670300"/>
            <a:ext cx="2540000" cy="812800"/>
          </a:xfrm>
          <a:custGeom>
            <a:avLst/>
            <a:gdLst/>
            <a:ahLst/>
            <a:cxnLst/>
            <a:rect l="0" t="0" r="r" b="b"/>
            <a:pathLst>
              <a:path w="2540000" h="812800">
                <a:moveTo>
                  <a:pt x="127000" y="0"/>
                </a:moveTo>
                <a:lnTo>
                  <a:pt x="2413000" y="0"/>
                </a:lnTo>
                <a:cubicBezTo>
                  <a:pt x="2483167" y="0"/>
                  <a:pt x="2540000" y="56833"/>
                  <a:pt x="2540000" y="127000"/>
                </a:cubicBezTo>
                <a:lnTo>
                  <a:pt x="2540000" y="685800"/>
                </a:lnTo>
                <a:cubicBezTo>
                  <a:pt x="2540000" y="755967"/>
                  <a:pt x="2483167" y="812800"/>
                  <a:pt x="2413000" y="812800"/>
                </a:cubicBezTo>
                <a:lnTo>
                  <a:pt x="127000" y="812800"/>
                </a:lnTo>
                <a:cubicBezTo>
                  <a:pt x="56832" y="812800"/>
                  <a:pt x="0" y="755967"/>
                  <a:pt x="0" y="685800"/>
                </a:cubicBezTo>
                <a:lnTo>
                  <a:pt x="0" y="127000"/>
                </a:lnTo>
                <a:cubicBezTo>
                  <a:pt x="0" y="56833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cardb-3"/>
          <p:cNvSpPr/>
          <p:nvPr/>
        </p:nvSpPr>
        <p:spPr>
          <a:xfrm>
            <a:off x="952500" y="3670300"/>
            <a:ext cx="38100" cy="812800"/>
          </a:xfrm>
          <a:custGeom>
            <a:avLst/>
            <a:gdLst/>
            <a:ahLst/>
            <a:cxnLst/>
            <a:rect l="0" t="0" r="r" b="b"/>
            <a:pathLst>
              <a:path w="38100" h="8128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793750"/>
                </a:lnTo>
                <a:cubicBezTo>
                  <a:pt x="38100" y="804291"/>
                  <a:pt x="29591" y="812800"/>
                  <a:pt x="19050" y="812800"/>
                </a:cubicBezTo>
                <a:lnTo>
                  <a:pt x="19050" y="812800"/>
                </a:lnTo>
                <a:cubicBezTo>
                  <a:pt x="8509" y="812800"/>
                  <a:pt x="0" y="804291"/>
                  <a:pt x="0" y="7937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chip"/>
          <p:cNvSpPr/>
          <p:nvPr/>
        </p:nvSpPr>
        <p:spPr>
          <a:xfrm>
            <a:off x="1130300" y="3822700"/>
            <a:ext cx="330200" cy="330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chip-ring"/>
          <p:cNvSpPr/>
          <p:nvPr/>
        </p:nvSpPr>
        <p:spPr>
          <a:xfrm>
            <a:off x="1130300" y="3822700"/>
            <a:ext cx="330200" cy="330200"/>
          </a:xfrm>
          <a:prstGeom prst="ellipse">
            <a:avLst/>
          </a:prstGeom>
          <a:noFill/>
          <a:ln w="6350" cap="rnd">
            <a:solidFill>
              <a:srgbClr val="2E77C2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icon-globe"/>
          <p:cNvSpPr/>
          <p:nvPr/>
        </p:nvSpPr>
        <p:spPr>
          <a:xfrm>
            <a:off x="1240790" y="3933190"/>
            <a:ext cx="109220" cy="109220"/>
          </a:xfrm>
          <a:custGeom>
            <a:avLst/>
            <a:gdLst/>
            <a:ahLst/>
            <a:cxnLst/>
            <a:rect l="0" t="0" r="r" b="b"/>
            <a:pathLst>
              <a:path w="109220" h="109220">
                <a:moveTo>
                  <a:pt x="0" y="54610"/>
                </a:moveTo>
                <a:lnTo>
                  <a:pt x="109220" y="54610"/>
                </a:lnTo>
                <a:moveTo>
                  <a:pt x="54610" y="0"/>
                </a:moveTo>
                <a:cubicBezTo>
                  <a:pt x="69850" y="15875"/>
                  <a:pt x="77470" y="34290"/>
                  <a:pt x="77470" y="54610"/>
                </a:cubicBezTo>
                <a:cubicBezTo>
                  <a:pt x="77470" y="74930"/>
                  <a:pt x="69850" y="93345"/>
                  <a:pt x="54610" y="109220"/>
                </a:cubicBezTo>
                <a:cubicBezTo>
                  <a:pt x="39370" y="93345"/>
                  <a:pt x="31750" y="74930"/>
                  <a:pt x="31750" y="54610"/>
                </a:cubicBezTo>
                <a:cubicBezTo>
                  <a:pt x="31750" y="34290"/>
                  <a:pt x="39370" y="15875"/>
                  <a:pt x="54610" y="0"/>
                </a:cubicBezTo>
                <a:close/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icon-globe"/>
          <p:cNvSpPr/>
          <p:nvPr/>
        </p:nvSpPr>
        <p:spPr>
          <a:xfrm>
            <a:off x="1240790" y="3933190"/>
            <a:ext cx="109220" cy="109220"/>
          </a:xfrm>
          <a:prstGeom prst="ellipse">
            <a:avLst/>
          </a:pr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cn-3"/>
          <p:cNvSpPr txBox="1"/>
          <p:nvPr/>
        </p:nvSpPr>
        <p:spPr>
          <a:xfrm>
            <a:off x="1544574" y="3845528"/>
            <a:ext cx="7664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海外拓展</a:t>
            </a:r>
          </a:p>
        </p:txBody>
      </p:sp>
      <p:sp>
        <p:nvSpPr>
          <p:cNvPr id="56" name="cd-3"/>
          <p:cNvSpPr txBox="1"/>
          <p:nvPr/>
        </p:nvSpPr>
        <p:spPr>
          <a:xfrm>
            <a:off x="1550289" y="4094845"/>
            <a:ext cx="79089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东南亚三国落地</a:t>
            </a:r>
          </a:p>
        </p:txBody>
      </p:sp>
      <p:sp>
        <p:nvSpPr>
          <p:cNvPr id="57" name="co-3"/>
          <p:cNvSpPr txBox="1"/>
          <p:nvPr/>
        </p:nvSpPr>
        <p:spPr>
          <a:xfrm>
            <a:off x="1551432" y="4271708"/>
            <a:ext cx="8115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牵头：国际业务部</a:t>
            </a:r>
          </a:p>
        </p:txBody>
      </p:sp>
      <p:cxnSp>
        <p:nvCxnSpPr>
          <p:cNvPr id="58" name="shaft-3"/>
          <p:cNvCxnSpPr/>
          <p:nvPr/>
        </p:nvCxnSpPr>
        <p:spPr>
          <a:xfrm flipV="1">
            <a:off x="3683000" y="3838648"/>
            <a:ext cx="4648283" cy="238052"/>
          </a:xfrm>
          <a:prstGeom prst="line">
            <a:avLst/>
          </a:prstGeom>
          <a:ln w="31750" cap="rnd">
            <a:solidFill>
              <a:srgbClr val="2E77C2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fl-3-1"/>
          <p:cNvCxnSpPr/>
          <p:nvPr/>
        </p:nvCxnSpPr>
        <p:spPr>
          <a:xfrm flipH="1">
            <a:off x="3573396" y="4075401"/>
            <a:ext cx="134971" cy="95929"/>
          </a:xfrm>
          <a:prstGeom prst="line">
            <a:avLst/>
          </a:prstGeom>
          <a:ln w="25400" cap="rnd">
            <a:solidFill>
              <a:srgbClr val="2E77C2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fl2-3-1"/>
          <p:cNvCxnSpPr/>
          <p:nvPr/>
        </p:nvCxnSpPr>
        <p:spPr>
          <a:xfrm flipH="1">
            <a:off x="3700230" y="4070204"/>
            <a:ext cx="109604" cy="94630"/>
          </a:xfrm>
          <a:prstGeom prst="line">
            <a:avLst/>
          </a:prstGeom>
          <a:ln w="25400" cap="rnd">
            <a:solidFill>
              <a:srgbClr val="2E77C2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fl-3--1"/>
          <p:cNvCxnSpPr/>
          <p:nvPr/>
        </p:nvCxnSpPr>
        <p:spPr>
          <a:xfrm flipH="1" flipV="1">
            <a:off x="3564303" y="3993762"/>
            <a:ext cx="144064" cy="81639"/>
          </a:xfrm>
          <a:prstGeom prst="line">
            <a:avLst/>
          </a:prstGeom>
          <a:ln w="25400" cap="rnd">
            <a:solidFill>
              <a:srgbClr val="2E77C2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fl2-3--1"/>
          <p:cNvCxnSpPr/>
          <p:nvPr/>
        </p:nvCxnSpPr>
        <p:spPr>
          <a:xfrm flipH="1" flipV="1">
            <a:off x="3691137" y="3987267"/>
            <a:ext cx="118697" cy="82937"/>
          </a:xfrm>
          <a:prstGeom prst="line">
            <a:avLst/>
          </a:prstGeom>
          <a:ln w="25400" cap="rnd">
            <a:solidFill>
              <a:srgbClr val="2E77C2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head-3"/>
          <p:cNvSpPr/>
          <p:nvPr/>
        </p:nvSpPr>
        <p:spPr>
          <a:xfrm>
            <a:off x="8251610" y="3772787"/>
            <a:ext cx="181140" cy="139517"/>
          </a:xfrm>
          <a:custGeom>
            <a:avLst/>
            <a:gdLst/>
            <a:ahLst/>
            <a:cxnLst/>
            <a:rect l="0" t="0" r="r" b="b"/>
            <a:pathLst>
              <a:path w="181140" h="139517">
                <a:moveTo>
                  <a:pt x="181140" y="60665"/>
                </a:moveTo>
                <a:lnTo>
                  <a:pt x="7145" y="139517"/>
                </a:lnTo>
                <a:lnTo>
                  <a:pt x="0" y="0"/>
                </a:lnTo>
                <a:close/>
              </a:path>
            </a:pathLst>
          </a:custGeom>
          <a:solidFill>
            <a:srgbClr val="2E77C2"/>
          </a:solidFill>
          <a:ln w="952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ct-3"/>
          <p:cNvSpPr/>
          <p:nvPr/>
        </p:nvSpPr>
        <p:spPr>
          <a:xfrm>
            <a:off x="5268214" y="3848354"/>
            <a:ext cx="787400" cy="254000"/>
          </a:xfrm>
          <a:custGeom>
            <a:avLst/>
            <a:gdLst/>
            <a:ahLst/>
            <a:cxnLst/>
            <a:rect l="0" t="0" r="r" b="b"/>
            <a:pathLst>
              <a:path w="787400" h="254000">
                <a:moveTo>
                  <a:pt x="127000" y="0"/>
                </a:moveTo>
                <a:lnTo>
                  <a:pt x="660400" y="0"/>
                </a:lnTo>
                <a:cubicBezTo>
                  <a:pt x="730568" y="0"/>
                  <a:pt x="787400" y="56833"/>
                  <a:pt x="787400" y="127000"/>
                </a:cubicBezTo>
                <a:lnTo>
                  <a:pt x="787400" y="127000"/>
                </a:lnTo>
                <a:cubicBezTo>
                  <a:pt x="787400" y="197168"/>
                  <a:pt x="730568" y="254000"/>
                  <a:pt x="660400" y="254000"/>
                </a:cubicBezTo>
                <a:lnTo>
                  <a:pt x="127000" y="254000"/>
                </a:lnTo>
                <a:cubicBezTo>
                  <a:pt x="56833" y="254000"/>
                  <a:pt x="0" y="197168"/>
                  <a:pt x="0" y="127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 w="9525" cap="rnd">
            <a:solidFill>
              <a:srgbClr val="2E77C2">
                <a:alpha val="5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ctt-3"/>
          <p:cNvSpPr txBox="1"/>
          <p:nvPr/>
        </p:nvSpPr>
        <p:spPr>
          <a:xfrm>
            <a:off x="5402516" y="3886486"/>
            <a:ext cx="51879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+0.6 亿</a:t>
            </a:r>
          </a:p>
        </p:txBody>
      </p:sp>
      <p:sp>
        <p:nvSpPr>
          <p:cNvPr id="66" name="card-4"/>
          <p:cNvSpPr/>
          <p:nvPr/>
        </p:nvSpPr>
        <p:spPr>
          <a:xfrm>
            <a:off x="952500" y="4673600"/>
            <a:ext cx="2540000" cy="812800"/>
          </a:xfrm>
          <a:custGeom>
            <a:avLst/>
            <a:gdLst/>
            <a:ahLst/>
            <a:cxnLst/>
            <a:rect l="0" t="0" r="r" b="b"/>
            <a:pathLst>
              <a:path w="2540000" h="812800">
                <a:moveTo>
                  <a:pt x="127000" y="0"/>
                </a:moveTo>
                <a:lnTo>
                  <a:pt x="2413000" y="0"/>
                </a:lnTo>
                <a:cubicBezTo>
                  <a:pt x="2483167" y="0"/>
                  <a:pt x="2540000" y="56833"/>
                  <a:pt x="2540000" y="127000"/>
                </a:cubicBezTo>
                <a:lnTo>
                  <a:pt x="2540000" y="685800"/>
                </a:lnTo>
                <a:cubicBezTo>
                  <a:pt x="2540000" y="755967"/>
                  <a:pt x="2483167" y="812800"/>
                  <a:pt x="2413000" y="812800"/>
                </a:cubicBezTo>
                <a:lnTo>
                  <a:pt x="127000" y="812800"/>
                </a:lnTo>
                <a:cubicBezTo>
                  <a:pt x="56832" y="812800"/>
                  <a:pt x="0" y="755967"/>
                  <a:pt x="0" y="685800"/>
                </a:cubicBezTo>
                <a:lnTo>
                  <a:pt x="0" y="127000"/>
                </a:lnTo>
                <a:cubicBezTo>
                  <a:pt x="0" y="56833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cardb-4"/>
          <p:cNvSpPr/>
          <p:nvPr/>
        </p:nvSpPr>
        <p:spPr>
          <a:xfrm>
            <a:off x="952500" y="4673600"/>
            <a:ext cx="38100" cy="812800"/>
          </a:xfrm>
          <a:custGeom>
            <a:avLst/>
            <a:gdLst/>
            <a:ahLst/>
            <a:cxnLst/>
            <a:rect l="0" t="0" r="r" b="b"/>
            <a:pathLst>
              <a:path w="38100" h="8128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793750"/>
                </a:lnTo>
                <a:cubicBezTo>
                  <a:pt x="38100" y="804291"/>
                  <a:pt x="29591" y="812800"/>
                  <a:pt x="19050" y="812800"/>
                </a:cubicBezTo>
                <a:lnTo>
                  <a:pt x="19050" y="812800"/>
                </a:lnTo>
                <a:cubicBezTo>
                  <a:pt x="8509" y="812800"/>
                  <a:pt x="0" y="804291"/>
                  <a:pt x="0" y="7937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chip"/>
          <p:cNvSpPr/>
          <p:nvPr/>
        </p:nvSpPr>
        <p:spPr>
          <a:xfrm>
            <a:off x="1130300" y="4826000"/>
            <a:ext cx="330200" cy="330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chip-ring"/>
          <p:cNvSpPr/>
          <p:nvPr/>
        </p:nvSpPr>
        <p:spPr>
          <a:xfrm>
            <a:off x="1130300" y="4826000"/>
            <a:ext cx="330200" cy="330200"/>
          </a:xfrm>
          <a:prstGeom prst="ellipse">
            <a:avLst/>
          </a:prstGeom>
          <a:noFill/>
          <a:ln w="6350" cap="rnd">
            <a:solidFill>
              <a:srgbClr val="4694D7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icon-people"/>
          <p:cNvSpPr/>
          <p:nvPr/>
        </p:nvSpPr>
        <p:spPr>
          <a:xfrm>
            <a:off x="1242060" y="5007610"/>
            <a:ext cx="107950" cy="30480"/>
          </a:xfrm>
          <a:custGeom>
            <a:avLst/>
            <a:gdLst/>
            <a:ahLst/>
            <a:cxnLst/>
            <a:rect l="0" t="0" r="r" b="b"/>
            <a:pathLst>
              <a:path w="107950" h="30480">
                <a:moveTo>
                  <a:pt x="0" y="30480"/>
                </a:moveTo>
                <a:cubicBezTo>
                  <a:pt x="0" y="11430"/>
                  <a:pt x="15875" y="0"/>
                  <a:pt x="34290" y="0"/>
                </a:cubicBezTo>
                <a:cubicBezTo>
                  <a:pt x="52705" y="0"/>
                  <a:pt x="68580" y="11430"/>
                  <a:pt x="68580" y="30480"/>
                </a:cubicBezTo>
                <a:moveTo>
                  <a:pt x="81280" y="2540"/>
                </a:moveTo>
                <a:cubicBezTo>
                  <a:pt x="97790" y="4445"/>
                  <a:pt x="107950" y="15875"/>
                  <a:pt x="107950" y="30480"/>
                </a:cubicBezTo>
              </a:path>
            </a:pathLst>
          </a:cu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icon-people"/>
          <p:cNvSpPr/>
          <p:nvPr/>
        </p:nvSpPr>
        <p:spPr>
          <a:xfrm>
            <a:off x="1256030" y="4953000"/>
            <a:ext cx="40640" cy="40640"/>
          </a:xfrm>
          <a:prstGeom prst="ellipse">
            <a:avLst/>
          </a:pr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icon-people"/>
          <p:cNvSpPr/>
          <p:nvPr/>
        </p:nvSpPr>
        <p:spPr>
          <a:xfrm>
            <a:off x="1310640" y="4953000"/>
            <a:ext cx="33020" cy="33020"/>
          </a:xfrm>
          <a:prstGeom prst="ellipse">
            <a:avLst/>
          </a:pr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cn-4"/>
          <p:cNvSpPr txBox="1"/>
          <p:nvPr/>
        </p:nvSpPr>
        <p:spPr>
          <a:xfrm>
            <a:off x="1544574" y="4848828"/>
            <a:ext cx="92519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老客户增购</a:t>
            </a:r>
          </a:p>
        </p:txBody>
      </p:sp>
      <p:sp>
        <p:nvSpPr>
          <p:cNvPr id="74" name="cd-4"/>
          <p:cNvSpPr txBox="1"/>
          <p:nvPr/>
        </p:nvSpPr>
        <p:spPr>
          <a:xfrm>
            <a:off x="1550289" y="5098145"/>
            <a:ext cx="918654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复购率提升到 50%</a:t>
            </a:r>
          </a:p>
        </p:txBody>
      </p:sp>
      <p:sp>
        <p:nvSpPr>
          <p:cNvPr id="75" name="co-4"/>
          <p:cNvSpPr txBox="1"/>
          <p:nvPr/>
        </p:nvSpPr>
        <p:spPr>
          <a:xfrm>
            <a:off x="1551432" y="5275008"/>
            <a:ext cx="8115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牵头：客户成功部</a:t>
            </a:r>
          </a:p>
        </p:txBody>
      </p:sp>
      <p:cxnSp>
        <p:nvCxnSpPr>
          <p:cNvPr id="76" name="shaft-4"/>
          <p:cNvCxnSpPr/>
          <p:nvPr/>
        </p:nvCxnSpPr>
        <p:spPr>
          <a:xfrm flipV="1">
            <a:off x="3683000" y="3675552"/>
            <a:ext cx="4765091" cy="1404448"/>
          </a:xfrm>
          <a:prstGeom prst="line">
            <a:avLst/>
          </a:prstGeom>
          <a:ln w="31750" cap="rnd">
            <a:solidFill>
              <a:srgbClr val="4694D7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fl-4-1"/>
          <p:cNvCxnSpPr/>
          <p:nvPr/>
        </p:nvCxnSpPr>
        <p:spPr>
          <a:xfrm flipH="1">
            <a:off x="3598496" y="5072819"/>
            <a:ext cx="108868" cy="124768"/>
          </a:xfrm>
          <a:prstGeom prst="line">
            <a:avLst/>
          </a:prstGeom>
          <a:ln w="25400" cap="rnd">
            <a:solidFill>
              <a:srgbClr val="4694D7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fl2-4-1"/>
          <p:cNvCxnSpPr/>
          <p:nvPr/>
        </p:nvCxnSpPr>
        <p:spPr>
          <a:xfrm flipH="1">
            <a:off x="3720315" y="5044095"/>
            <a:ext cx="84504" cy="117588"/>
          </a:xfrm>
          <a:prstGeom prst="line">
            <a:avLst/>
          </a:prstGeom>
          <a:ln w="25400" cap="rnd">
            <a:solidFill>
              <a:srgbClr val="4694D7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fl-4--1"/>
          <p:cNvCxnSpPr/>
          <p:nvPr/>
        </p:nvCxnSpPr>
        <p:spPr>
          <a:xfrm flipH="1" flipV="1">
            <a:off x="3548230" y="5027041"/>
            <a:ext cx="159134" cy="45778"/>
          </a:xfrm>
          <a:prstGeom prst="line">
            <a:avLst/>
          </a:prstGeom>
          <a:ln w="25400" cap="rnd">
            <a:solidFill>
              <a:srgbClr val="4694D7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fl2-4--1"/>
          <p:cNvCxnSpPr/>
          <p:nvPr/>
        </p:nvCxnSpPr>
        <p:spPr>
          <a:xfrm flipH="1" flipV="1">
            <a:off x="3670049" y="4991136"/>
            <a:ext cx="134770" cy="52959"/>
          </a:xfrm>
          <a:prstGeom prst="line">
            <a:avLst/>
          </a:prstGeom>
          <a:ln w="25400" cap="rnd">
            <a:solidFill>
              <a:srgbClr val="4694D7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head-4"/>
          <p:cNvSpPr/>
          <p:nvPr/>
        </p:nvSpPr>
        <p:spPr>
          <a:xfrm>
            <a:off x="8355252" y="3630095"/>
            <a:ext cx="190294" cy="134001"/>
          </a:xfrm>
          <a:custGeom>
            <a:avLst/>
            <a:gdLst/>
            <a:ahLst/>
            <a:cxnLst/>
            <a:rect l="0" t="0" r="r" b="b"/>
            <a:pathLst>
              <a:path w="190294" h="134001">
                <a:moveTo>
                  <a:pt x="190294" y="16734"/>
                </a:moveTo>
                <a:lnTo>
                  <a:pt x="39495" y="134001"/>
                </a:lnTo>
                <a:lnTo>
                  <a:pt x="0" y="0"/>
                </a:lnTo>
                <a:close/>
              </a:path>
            </a:pathLst>
          </a:custGeom>
          <a:solidFill>
            <a:srgbClr val="4694D7"/>
          </a:solidFill>
          <a:ln w="952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ct-4"/>
          <p:cNvSpPr/>
          <p:nvPr/>
        </p:nvSpPr>
        <p:spPr>
          <a:xfrm>
            <a:off x="5316220" y="4355592"/>
            <a:ext cx="787400" cy="254000"/>
          </a:xfrm>
          <a:custGeom>
            <a:avLst/>
            <a:gdLst/>
            <a:ahLst/>
            <a:cxnLst/>
            <a:rect l="0" t="0" r="r" b="b"/>
            <a:pathLst>
              <a:path w="787400" h="254000">
                <a:moveTo>
                  <a:pt x="127000" y="0"/>
                </a:moveTo>
                <a:lnTo>
                  <a:pt x="660400" y="0"/>
                </a:lnTo>
                <a:cubicBezTo>
                  <a:pt x="730567" y="0"/>
                  <a:pt x="787400" y="56833"/>
                  <a:pt x="787400" y="127000"/>
                </a:cubicBezTo>
                <a:lnTo>
                  <a:pt x="787400" y="127000"/>
                </a:lnTo>
                <a:cubicBezTo>
                  <a:pt x="787400" y="197168"/>
                  <a:pt x="730567" y="254000"/>
                  <a:pt x="660400" y="254000"/>
                </a:cubicBezTo>
                <a:lnTo>
                  <a:pt x="127000" y="254000"/>
                </a:lnTo>
                <a:cubicBezTo>
                  <a:pt x="56832" y="254000"/>
                  <a:pt x="0" y="197168"/>
                  <a:pt x="0" y="127000"/>
                </a:cubicBezTo>
                <a:lnTo>
                  <a:pt x="0" y="127000"/>
                </a:lnTo>
                <a:cubicBezTo>
                  <a:pt x="0" y="56833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 w="9525" cap="rnd">
            <a:solidFill>
              <a:srgbClr val="4694D7">
                <a:alpha val="5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ctt-4"/>
          <p:cNvSpPr txBox="1"/>
          <p:nvPr/>
        </p:nvSpPr>
        <p:spPr>
          <a:xfrm>
            <a:off x="5450522" y="4393724"/>
            <a:ext cx="51879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4694D7"/>
                </a:solidFill>
                <a:latin typeface="微软雅黑"/>
                <a:ea typeface="微软雅黑"/>
                <a:cs typeface="微软雅黑"/>
              </a:rPr>
              <a:t>+0.5 亿</a:t>
            </a:r>
          </a:p>
        </p:txBody>
      </p:sp>
      <p:sp>
        <p:nvSpPr>
          <p:cNvPr id="84" name="goal"/>
          <p:cNvSpPr/>
          <p:nvPr/>
        </p:nvSpPr>
        <p:spPr>
          <a:xfrm>
            <a:off x="7493000" y="1511300"/>
            <a:ext cx="1905000" cy="584200"/>
          </a:xfrm>
          <a:custGeom>
            <a:avLst/>
            <a:gdLst/>
            <a:ahLst/>
            <a:cxnLst/>
            <a:rect l="0" t="0" r="r" b="b"/>
            <a:pathLst>
              <a:path w="1905000" h="584200">
                <a:moveTo>
                  <a:pt x="127000" y="0"/>
                </a:moveTo>
                <a:lnTo>
                  <a:pt x="1778000" y="0"/>
                </a:lnTo>
                <a:cubicBezTo>
                  <a:pt x="1848167" y="0"/>
                  <a:pt x="1905000" y="56832"/>
                  <a:pt x="1905000" y="127000"/>
                </a:cubicBezTo>
                <a:lnTo>
                  <a:pt x="1905000" y="457200"/>
                </a:lnTo>
                <a:cubicBezTo>
                  <a:pt x="1905000" y="527368"/>
                  <a:pt x="1848167" y="584200"/>
                  <a:pt x="1778000" y="584200"/>
                </a:cubicBezTo>
                <a:lnTo>
                  <a:pt x="127000" y="584200"/>
                </a:lnTo>
                <a:cubicBezTo>
                  <a:pt x="56833" y="584200"/>
                  <a:pt x="0" y="527368"/>
                  <a:pt x="0" y="4572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goal-h"/>
          <p:cNvSpPr txBox="1"/>
          <p:nvPr/>
        </p:nvSpPr>
        <p:spPr>
          <a:xfrm>
            <a:off x="8056880" y="1627124"/>
            <a:ext cx="7772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10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年度增量目标</a:t>
            </a:r>
          </a:p>
        </p:txBody>
      </p:sp>
      <p:sp>
        <p:nvSpPr>
          <p:cNvPr id="86" name="goal-v"/>
          <p:cNvSpPr txBox="1"/>
          <p:nvPr/>
        </p:nvSpPr>
        <p:spPr>
          <a:xfrm>
            <a:off x="7988300" y="1758632"/>
            <a:ext cx="91440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 spc="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+3.4 亿</a:t>
            </a:r>
          </a:p>
        </p:txBody>
      </p:sp>
      <p:cxnSp>
        <p:nvCxnSpPr>
          <p:cNvPr id="87" name="goal-l"/>
          <p:cNvCxnSpPr/>
          <p:nvPr/>
        </p:nvCxnSpPr>
        <p:spPr>
          <a:xfrm>
            <a:off x="8445500" y="2095500"/>
            <a:ext cx="0" cy="254000"/>
          </a:xfrm>
          <a:prstGeom prst="line">
            <a:avLst/>
          </a:prstGeom>
          <a:ln w="12700" cap="rnd">
            <a:solidFill>
              <a:srgbClr val="0B3E8F">
                <a:alpha val="4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sh-n1"/>
          <p:cNvSpPr txBox="1"/>
          <p:nvPr/>
        </p:nvSpPr>
        <p:spPr>
          <a:xfrm>
            <a:off x="10084308" y="2859024"/>
            <a:ext cx="63119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大客户攻坚</a:t>
            </a:r>
          </a:p>
        </p:txBody>
      </p:sp>
      <p:sp>
        <p:nvSpPr>
          <p:cNvPr id="89" name="sh-v1"/>
          <p:cNvSpPr txBox="1"/>
          <p:nvPr/>
        </p:nvSpPr>
        <p:spPr>
          <a:xfrm>
            <a:off x="10958322" y="2843340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41%</a:t>
            </a:r>
          </a:p>
        </p:txBody>
      </p:sp>
      <p:sp>
        <p:nvSpPr>
          <p:cNvPr id="90" name="sh-b1"/>
          <p:cNvSpPr/>
          <p:nvPr/>
        </p:nvSpPr>
        <p:spPr>
          <a:xfrm>
            <a:off x="10096500" y="3073400"/>
            <a:ext cx="1143000" cy="63500"/>
          </a:xfrm>
          <a:custGeom>
            <a:avLst/>
            <a:gdLst/>
            <a:ahLst/>
            <a:cxnLst/>
            <a:rect l="0" t="0" r="r" b="b"/>
            <a:pathLst>
              <a:path w="1143000" h="63500">
                <a:moveTo>
                  <a:pt x="31750" y="0"/>
                </a:moveTo>
                <a:lnTo>
                  <a:pt x="1111250" y="0"/>
                </a:lnTo>
                <a:cubicBezTo>
                  <a:pt x="1128776" y="0"/>
                  <a:pt x="1143000" y="14224"/>
                  <a:pt x="1143000" y="31750"/>
                </a:cubicBezTo>
                <a:lnTo>
                  <a:pt x="1143000" y="31750"/>
                </a:lnTo>
                <a:cubicBezTo>
                  <a:pt x="1143000" y="49276"/>
                  <a:pt x="1128776" y="63500"/>
                  <a:pt x="1111250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sh-f1"/>
          <p:cNvSpPr/>
          <p:nvPr/>
        </p:nvSpPr>
        <p:spPr>
          <a:xfrm>
            <a:off x="10096500" y="3073400"/>
            <a:ext cx="470662" cy="63500"/>
          </a:xfrm>
          <a:custGeom>
            <a:avLst/>
            <a:gdLst/>
            <a:ahLst/>
            <a:cxnLst/>
            <a:rect l="0" t="0" r="r" b="b"/>
            <a:pathLst>
              <a:path w="470662" h="63500">
                <a:moveTo>
                  <a:pt x="31750" y="0"/>
                </a:moveTo>
                <a:lnTo>
                  <a:pt x="438912" y="0"/>
                </a:lnTo>
                <a:cubicBezTo>
                  <a:pt x="456438" y="0"/>
                  <a:pt x="470662" y="14224"/>
                  <a:pt x="470662" y="31750"/>
                </a:cubicBezTo>
                <a:lnTo>
                  <a:pt x="470662" y="31750"/>
                </a:lnTo>
                <a:cubicBezTo>
                  <a:pt x="470662" y="49276"/>
                  <a:pt x="456438" y="63500"/>
                  <a:pt x="438912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sh-n2"/>
          <p:cNvSpPr txBox="1"/>
          <p:nvPr/>
        </p:nvSpPr>
        <p:spPr>
          <a:xfrm>
            <a:off x="10084308" y="3341624"/>
            <a:ext cx="5232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新品上市</a:t>
            </a:r>
          </a:p>
        </p:txBody>
      </p:sp>
      <p:sp>
        <p:nvSpPr>
          <p:cNvPr id="93" name="sh-v2"/>
          <p:cNvSpPr txBox="1"/>
          <p:nvPr/>
        </p:nvSpPr>
        <p:spPr>
          <a:xfrm>
            <a:off x="10958322" y="3325940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1B5AA8"/>
                </a:solidFill>
                <a:latin typeface="Arial"/>
                <a:ea typeface="Arial"/>
                <a:cs typeface="Arial"/>
              </a:rPr>
              <a:t>26%</a:t>
            </a:r>
          </a:p>
        </p:txBody>
      </p:sp>
      <p:sp>
        <p:nvSpPr>
          <p:cNvPr id="94" name="sh-b2"/>
          <p:cNvSpPr/>
          <p:nvPr/>
        </p:nvSpPr>
        <p:spPr>
          <a:xfrm>
            <a:off x="10096500" y="3556000"/>
            <a:ext cx="1143000" cy="63500"/>
          </a:xfrm>
          <a:custGeom>
            <a:avLst/>
            <a:gdLst/>
            <a:ahLst/>
            <a:cxnLst/>
            <a:rect l="0" t="0" r="r" b="b"/>
            <a:pathLst>
              <a:path w="1143000" h="63500">
                <a:moveTo>
                  <a:pt x="31750" y="0"/>
                </a:moveTo>
                <a:lnTo>
                  <a:pt x="1111250" y="0"/>
                </a:lnTo>
                <a:cubicBezTo>
                  <a:pt x="1128776" y="0"/>
                  <a:pt x="1143000" y="14224"/>
                  <a:pt x="1143000" y="31750"/>
                </a:cubicBezTo>
                <a:lnTo>
                  <a:pt x="1143000" y="31750"/>
                </a:lnTo>
                <a:cubicBezTo>
                  <a:pt x="1143000" y="49276"/>
                  <a:pt x="1128776" y="63500"/>
                  <a:pt x="1111250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sh-f2"/>
          <p:cNvSpPr/>
          <p:nvPr/>
        </p:nvSpPr>
        <p:spPr>
          <a:xfrm>
            <a:off x="10096500" y="3556000"/>
            <a:ext cx="302578" cy="63500"/>
          </a:xfrm>
          <a:custGeom>
            <a:avLst/>
            <a:gdLst/>
            <a:ahLst/>
            <a:cxnLst/>
            <a:rect l="0" t="0" r="r" b="b"/>
            <a:pathLst>
              <a:path w="302578" h="63500">
                <a:moveTo>
                  <a:pt x="31750" y="0"/>
                </a:moveTo>
                <a:lnTo>
                  <a:pt x="270828" y="0"/>
                </a:lnTo>
                <a:cubicBezTo>
                  <a:pt x="288354" y="0"/>
                  <a:pt x="302578" y="14224"/>
                  <a:pt x="302578" y="31750"/>
                </a:cubicBezTo>
                <a:lnTo>
                  <a:pt x="302578" y="31750"/>
                </a:lnTo>
                <a:cubicBezTo>
                  <a:pt x="302578" y="49276"/>
                  <a:pt x="288354" y="63500"/>
                  <a:pt x="270828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sh-n3"/>
          <p:cNvSpPr txBox="1"/>
          <p:nvPr/>
        </p:nvSpPr>
        <p:spPr>
          <a:xfrm>
            <a:off x="10084308" y="3824224"/>
            <a:ext cx="5232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海外拓展</a:t>
            </a:r>
          </a:p>
        </p:txBody>
      </p:sp>
      <p:sp>
        <p:nvSpPr>
          <p:cNvPr id="97" name="sh-v3"/>
          <p:cNvSpPr txBox="1"/>
          <p:nvPr/>
        </p:nvSpPr>
        <p:spPr>
          <a:xfrm>
            <a:off x="10958322" y="3808540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18%</a:t>
            </a:r>
          </a:p>
        </p:txBody>
      </p:sp>
      <p:sp>
        <p:nvSpPr>
          <p:cNvPr id="98" name="sh-b3"/>
          <p:cNvSpPr/>
          <p:nvPr/>
        </p:nvSpPr>
        <p:spPr>
          <a:xfrm>
            <a:off x="10096500" y="4038600"/>
            <a:ext cx="1143000" cy="63500"/>
          </a:xfrm>
          <a:custGeom>
            <a:avLst/>
            <a:gdLst/>
            <a:ahLst/>
            <a:cxnLst/>
            <a:rect l="0" t="0" r="r" b="b"/>
            <a:pathLst>
              <a:path w="1143000" h="63500">
                <a:moveTo>
                  <a:pt x="31750" y="0"/>
                </a:moveTo>
                <a:lnTo>
                  <a:pt x="1111250" y="0"/>
                </a:lnTo>
                <a:cubicBezTo>
                  <a:pt x="1128776" y="0"/>
                  <a:pt x="1143000" y="14224"/>
                  <a:pt x="1143000" y="31750"/>
                </a:cubicBezTo>
                <a:lnTo>
                  <a:pt x="1143000" y="31750"/>
                </a:lnTo>
                <a:cubicBezTo>
                  <a:pt x="1143000" y="49276"/>
                  <a:pt x="1128776" y="63500"/>
                  <a:pt x="1111250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9" name="sh-f3"/>
          <p:cNvSpPr/>
          <p:nvPr/>
        </p:nvSpPr>
        <p:spPr>
          <a:xfrm>
            <a:off x="10096500" y="4038600"/>
            <a:ext cx="201676" cy="63500"/>
          </a:xfrm>
          <a:custGeom>
            <a:avLst/>
            <a:gdLst/>
            <a:ahLst/>
            <a:cxnLst/>
            <a:rect l="0" t="0" r="r" b="b"/>
            <a:pathLst>
              <a:path w="201676" h="63500">
                <a:moveTo>
                  <a:pt x="31750" y="0"/>
                </a:moveTo>
                <a:lnTo>
                  <a:pt x="169926" y="0"/>
                </a:lnTo>
                <a:cubicBezTo>
                  <a:pt x="187515" y="0"/>
                  <a:pt x="201676" y="14224"/>
                  <a:pt x="201676" y="31750"/>
                </a:cubicBezTo>
                <a:lnTo>
                  <a:pt x="201676" y="31750"/>
                </a:lnTo>
                <a:cubicBezTo>
                  <a:pt x="201676" y="49276"/>
                  <a:pt x="187515" y="63500"/>
                  <a:pt x="169926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sh-n4"/>
          <p:cNvSpPr txBox="1"/>
          <p:nvPr/>
        </p:nvSpPr>
        <p:spPr>
          <a:xfrm>
            <a:off x="10084308" y="4306824"/>
            <a:ext cx="63119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老客户增购</a:t>
            </a:r>
          </a:p>
        </p:txBody>
      </p:sp>
      <p:sp>
        <p:nvSpPr>
          <p:cNvPr id="101" name="sh-v4"/>
          <p:cNvSpPr txBox="1"/>
          <p:nvPr/>
        </p:nvSpPr>
        <p:spPr>
          <a:xfrm>
            <a:off x="10958322" y="4291140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4694D7"/>
                </a:solidFill>
                <a:latin typeface="Arial"/>
                <a:ea typeface="Arial"/>
                <a:cs typeface="Arial"/>
              </a:rPr>
              <a:t>15%</a:t>
            </a:r>
          </a:p>
        </p:txBody>
      </p:sp>
      <p:sp>
        <p:nvSpPr>
          <p:cNvPr id="102" name="sh-b4"/>
          <p:cNvSpPr/>
          <p:nvPr/>
        </p:nvSpPr>
        <p:spPr>
          <a:xfrm>
            <a:off x="10096500" y="4521200"/>
            <a:ext cx="1143000" cy="63500"/>
          </a:xfrm>
          <a:custGeom>
            <a:avLst/>
            <a:gdLst/>
            <a:ahLst/>
            <a:cxnLst/>
            <a:rect l="0" t="0" r="r" b="b"/>
            <a:pathLst>
              <a:path w="1143000" h="63500">
                <a:moveTo>
                  <a:pt x="31750" y="0"/>
                </a:moveTo>
                <a:lnTo>
                  <a:pt x="1111250" y="0"/>
                </a:lnTo>
                <a:cubicBezTo>
                  <a:pt x="1128776" y="0"/>
                  <a:pt x="1143000" y="14224"/>
                  <a:pt x="1143000" y="31750"/>
                </a:cubicBezTo>
                <a:lnTo>
                  <a:pt x="1143000" y="31750"/>
                </a:lnTo>
                <a:cubicBezTo>
                  <a:pt x="1143000" y="49276"/>
                  <a:pt x="1128776" y="63500"/>
                  <a:pt x="1111250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sh-f4"/>
          <p:cNvSpPr/>
          <p:nvPr/>
        </p:nvSpPr>
        <p:spPr>
          <a:xfrm>
            <a:off x="10096500" y="4521200"/>
            <a:ext cx="168085" cy="63500"/>
          </a:xfrm>
          <a:custGeom>
            <a:avLst/>
            <a:gdLst/>
            <a:ahLst/>
            <a:cxnLst/>
            <a:rect l="0" t="0" r="r" b="b"/>
            <a:pathLst>
              <a:path w="168085" h="63500">
                <a:moveTo>
                  <a:pt x="31750" y="0"/>
                </a:moveTo>
                <a:lnTo>
                  <a:pt x="136335" y="0"/>
                </a:lnTo>
                <a:cubicBezTo>
                  <a:pt x="153861" y="0"/>
                  <a:pt x="168085" y="14224"/>
                  <a:pt x="168085" y="31750"/>
                </a:cubicBezTo>
                <a:lnTo>
                  <a:pt x="168085" y="31750"/>
                </a:lnTo>
                <a:cubicBezTo>
                  <a:pt x="168085" y="49276"/>
                  <a:pt x="153861" y="63500"/>
                  <a:pt x="136335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4" name="sh-h"/>
          <p:cNvSpPr txBox="1"/>
          <p:nvPr/>
        </p:nvSpPr>
        <p:spPr>
          <a:xfrm>
            <a:off x="10085070" y="2612866"/>
            <a:ext cx="5175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贡献占比</a:t>
            </a:r>
          </a:p>
        </p:txBody>
      </p:sp>
      <p:sp>
        <p:nvSpPr>
          <p:cNvPr id="105" name="sum"/>
          <p:cNvSpPr/>
          <p:nvPr/>
        </p:nvSpPr>
        <p:spPr>
          <a:xfrm>
            <a:off x="952500" y="5791200"/>
            <a:ext cx="10287000" cy="457200"/>
          </a:xfrm>
          <a:custGeom>
            <a:avLst/>
            <a:gdLst/>
            <a:ahLst/>
            <a:cxnLst/>
            <a:rect l="0" t="0" r="r" b="b"/>
            <a:pathLst>
              <a:path w="10287000" h="4572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68300"/>
                </a:lnTo>
                <a:cubicBezTo>
                  <a:pt x="10287000" y="417386"/>
                  <a:pt x="10247186" y="457200"/>
                  <a:pt x="10198100" y="457200"/>
                </a:cubicBezTo>
                <a:lnTo>
                  <a:pt x="88900" y="457200"/>
                </a:lnTo>
                <a:cubicBezTo>
                  <a:pt x="39815" y="457200"/>
                  <a:pt x="0" y="417386"/>
                  <a:pt x="0" y="3683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6" name="sum-bar"/>
          <p:cNvSpPr/>
          <p:nvPr/>
        </p:nvSpPr>
        <p:spPr>
          <a:xfrm>
            <a:off x="952500" y="5791200"/>
            <a:ext cx="31750" cy="4572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7" name="sum-h"/>
          <p:cNvSpPr txBox="1"/>
          <p:nvPr/>
        </p:nvSpPr>
        <p:spPr>
          <a:xfrm>
            <a:off x="1142746" y="59499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立项规则</a:t>
            </a:r>
          </a:p>
        </p:txBody>
      </p:sp>
      <p:sp>
        <p:nvSpPr>
          <p:cNvPr id="108" name="sum-p"/>
          <p:cNvSpPr txBox="1"/>
          <p:nvPr/>
        </p:nvSpPr>
        <p:spPr>
          <a:xfrm>
            <a:off x="1891665" y="5946061"/>
            <a:ext cx="438499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四个举措合计 3.4 亿，覆盖增量目标的 100%；大客户攻坚占四成，资源优先保障。</a:t>
            </a:r>
          </a:p>
        </p:txBody>
      </p:sp>
      <p:cxnSp>
        <p:nvCxnSpPr>
          <p:cNvPr id="109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0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众箭归靶 · 四个举措</a:t>
            </a:r>
          </a:p>
        </p:txBody>
      </p:sp>
      <p:sp>
        <p:nvSpPr>
          <p:cNvPr id="111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三级火箭增长模型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71907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THREE-STAGE ROCKET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7960995" y="673132"/>
            <a:ext cx="36597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一级点火获客，二级加速转化，三级入轨复购——每一级燃料都要算清楚</a:t>
            </a:r>
          </a:p>
        </p:txBody>
      </p:sp>
      <p:sp>
        <p:nvSpPr>
          <p:cNvPr id="10" name="flame"/>
          <p:cNvSpPr/>
          <p:nvPr/>
        </p:nvSpPr>
        <p:spPr>
          <a:xfrm>
            <a:off x="3527723" y="4991100"/>
            <a:ext cx="818555" cy="1104900"/>
          </a:xfrm>
          <a:custGeom>
            <a:avLst/>
            <a:gdLst/>
            <a:ahLst/>
            <a:cxnLst/>
            <a:rect l="0" t="0" r="r" b="b"/>
            <a:pathLst>
              <a:path w="818555" h="1104900">
                <a:moveTo>
                  <a:pt x="2877" y="0"/>
                </a:moveTo>
                <a:quadBezTo>
                  <a:pt x="-35223" y="596900"/>
                  <a:pt x="409277" y="1104900"/>
                </a:quadBezTo>
                <a:quadBezTo>
                  <a:pt x="853777" y="596900"/>
                  <a:pt x="815677" y="0"/>
                </a:quadBezTo>
                <a:close/>
              </a:path>
            </a:pathLst>
          </a:custGeom>
          <a:gradFill rotWithShape="1">
            <a:gsLst>
              <a:gs pos="0">
                <a:srgbClr val="E0703A"/>
              </a:gs>
              <a:gs pos="100000">
                <a:srgbClr val="F6C9A8">
                  <a:alpha val="2000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flame-in"/>
          <p:cNvSpPr/>
          <p:nvPr/>
        </p:nvSpPr>
        <p:spPr>
          <a:xfrm>
            <a:off x="3720455" y="4991100"/>
            <a:ext cx="433090" cy="755650"/>
          </a:xfrm>
          <a:custGeom>
            <a:avLst/>
            <a:gdLst/>
            <a:ahLst/>
            <a:cxnLst/>
            <a:rect l="0" t="0" r="r" b="b"/>
            <a:pathLst>
              <a:path w="433090" h="755650">
                <a:moveTo>
                  <a:pt x="645" y="0"/>
                </a:moveTo>
                <a:quadBezTo>
                  <a:pt x="-12055" y="406400"/>
                  <a:pt x="216545" y="755650"/>
                </a:quadBezTo>
                <a:quadBezTo>
                  <a:pt x="445145" y="406400"/>
                  <a:pt x="432445" y="0"/>
                </a:quadBezTo>
                <a:close/>
              </a:path>
            </a:pathLst>
          </a:custGeom>
          <a:gradFill rotWithShape="1">
            <a:gsLst>
              <a:gs pos="0">
                <a:srgbClr val="FFE7D2"/>
              </a:gs>
              <a:gs pos="100000">
                <a:srgbClr val="FFFFFF">
                  <a:alpha val="2000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fin-l"/>
          <p:cNvSpPr/>
          <p:nvPr/>
        </p:nvSpPr>
        <p:spPr>
          <a:xfrm>
            <a:off x="2895600" y="4381500"/>
            <a:ext cx="469900" cy="889000"/>
          </a:xfrm>
          <a:custGeom>
            <a:avLst/>
            <a:gdLst/>
            <a:ahLst/>
            <a:cxnLst/>
            <a:rect l="0" t="0" r="r" b="b"/>
            <a:pathLst>
              <a:path w="469900" h="889000">
                <a:moveTo>
                  <a:pt x="469900" y="0"/>
                </a:moveTo>
                <a:lnTo>
                  <a:pt x="0" y="698500"/>
                </a:lnTo>
                <a:lnTo>
                  <a:pt x="0" y="889000"/>
                </a:lnTo>
                <a:lnTo>
                  <a:pt x="469900" y="673100"/>
                </a:ln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fin-r"/>
          <p:cNvSpPr/>
          <p:nvPr/>
        </p:nvSpPr>
        <p:spPr>
          <a:xfrm>
            <a:off x="4508500" y="4381500"/>
            <a:ext cx="469900" cy="889000"/>
          </a:xfrm>
          <a:custGeom>
            <a:avLst/>
            <a:gdLst/>
            <a:ahLst/>
            <a:cxnLst/>
            <a:rect l="0" t="0" r="r" b="b"/>
            <a:pathLst>
              <a:path w="469900" h="889000">
                <a:moveTo>
                  <a:pt x="0" y="0"/>
                </a:moveTo>
                <a:lnTo>
                  <a:pt x="469900" y="698500"/>
                </a:lnTo>
                <a:lnTo>
                  <a:pt x="469900" y="889000"/>
                </a:lnTo>
                <a:lnTo>
                  <a:pt x="0" y="673100"/>
                </a:ln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nose"/>
          <p:cNvSpPr/>
          <p:nvPr/>
        </p:nvSpPr>
        <p:spPr>
          <a:xfrm>
            <a:off x="3365500" y="1358900"/>
            <a:ext cx="1143000" cy="736600"/>
          </a:xfrm>
          <a:custGeom>
            <a:avLst/>
            <a:gdLst/>
            <a:ahLst/>
            <a:cxnLst/>
            <a:rect l="0" t="0" r="r" b="b"/>
            <a:pathLst>
              <a:path w="1143000" h="736600">
                <a:moveTo>
                  <a:pt x="0" y="736600"/>
                </a:moveTo>
                <a:cubicBezTo>
                  <a:pt x="0" y="342900"/>
                  <a:pt x="317500" y="114300"/>
                  <a:pt x="571500" y="0"/>
                </a:cubicBezTo>
                <a:cubicBezTo>
                  <a:pt x="825500" y="114300"/>
                  <a:pt x="1143000" y="342900"/>
                  <a:pt x="1143000" y="736600"/>
                </a:cubicBezTo>
                <a:close/>
              </a:path>
            </a:pathLst>
          </a:custGeom>
          <a:gradFill rotWithShape="1">
            <a:gsLst>
              <a:gs pos="0">
                <a:srgbClr val="E0703A"/>
              </a:gs>
              <a:gs pos="100000">
                <a:srgbClr val="C85A28"/>
              </a:gs>
            </a:gsLst>
            <a:lin ang="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window"/>
          <p:cNvSpPr/>
          <p:nvPr/>
        </p:nvSpPr>
        <p:spPr>
          <a:xfrm>
            <a:off x="3810000" y="1714500"/>
            <a:ext cx="254000" cy="2540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stg-1"/>
          <p:cNvSpPr/>
          <p:nvPr/>
        </p:nvSpPr>
        <p:spPr>
          <a:xfrm>
            <a:off x="3365500" y="2095500"/>
            <a:ext cx="1143000" cy="889000"/>
          </a:xfrm>
          <a:custGeom>
            <a:avLst/>
            <a:gdLst/>
            <a:ahLst/>
            <a:cxnLst/>
            <a:rect l="0" t="0" r="r" b="b"/>
            <a:pathLst>
              <a:path w="1143000" h="889000">
                <a:moveTo>
                  <a:pt x="63500" y="0"/>
                </a:moveTo>
                <a:lnTo>
                  <a:pt x="1079500" y="0"/>
                </a:lnTo>
                <a:cubicBezTo>
                  <a:pt x="1114552" y="0"/>
                  <a:pt x="1143000" y="28448"/>
                  <a:pt x="1143000" y="63500"/>
                </a:cubicBezTo>
                <a:lnTo>
                  <a:pt x="1143000" y="825500"/>
                </a:lnTo>
                <a:cubicBezTo>
                  <a:pt x="1143000" y="860552"/>
                  <a:pt x="1114552" y="889000"/>
                  <a:pt x="1079500" y="889000"/>
                </a:cubicBezTo>
                <a:lnTo>
                  <a:pt x="63500" y="889000"/>
                </a:lnTo>
                <a:cubicBezTo>
                  <a:pt x="28448" y="889000"/>
                  <a:pt x="0" y="860552"/>
                  <a:pt x="0" y="825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619DD7"/>
              </a:gs>
              <a:gs pos="60000">
                <a:srgbClr val="3985CD"/>
              </a:gs>
              <a:gs pos="100000">
                <a:srgbClr val="3073B6"/>
              </a:gs>
            </a:gsLst>
            <a:lin ang="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stl-1"/>
          <p:cNvSpPr txBox="1"/>
          <p:nvPr/>
        </p:nvSpPr>
        <p:spPr>
          <a:xfrm>
            <a:off x="3770630" y="2376424"/>
            <a:ext cx="3327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150">
                <a:solidFill>
                  <a:srgbClr val="DCE9F8"/>
                </a:solidFill>
                <a:latin typeface="微软雅黑"/>
                <a:ea typeface="微软雅黑"/>
                <a:cs typeface="微软雅黑"/>
              </a:rPr>
              <a:t>三级</a:t>
            </a:r>
          </a:p>
        </p:txBody>
      </p:sp>
      <p:sp>
        <p:nvSpPr>
          <p:cNvPr id="18" name="stn-1"/>
          <p:cNvSpPr txBox="1"/>
          <p:nvPr/>
        </p:nvSpPr>
        <p:spPr>
          <a:xfrm>
            <a:off x="3641090" y="2498217"/>
            <a:ext cx="5918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3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复购</a:t>
            </a:r>
          </a:p>
        </p:txBody>
      </p:sp>
      <p:cxnSp>
        <p:nvCxnSpPr>
          <p:cNvPr id="19" name="ld-1"/>
          <p:cNvCxnSpPr/>
          <p:nvPr/>
        </p:nvCxnSpPr>
        <p:spPr>
          <a:xfrm>
            <a:off x="4572000" y="2540000"/>
            <a:ext cx="508000" cy="0"/>
          </a:xfrm>
          <a:prstGeom prst="line">
            <a:avLst/>
          </a:prstGeom>
          <a:ln w="12700" cap="rnd">
            <a:solidFill>
              <a:srgbClr val="3985CD">
                <a:alpha val="6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ldd-1"/>
          <p:cNvSpPr/>
          <p:nvPr/>
        </p:nvSpPr>
        <p:spPr>
          <a:xfrm>
            <a:off x="5048250" y="2508250"/>
            <a:ext cx="63500" cy="63500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card-1"/>
          <p:cNvSpPr/>
          <p:nvPr/>
        </p:nvSpPr>
        <p:spPr>
          <a:xfrm>
            <a:off x="5181600" y="2159000"/>
            <a:ext cx="3429000" cy="762000"/>
          </a:xfrm>
          <a:custGeom>
            <a:avLst/>
            <a:gdLst/>
            <a:ahLst/>
            <a:cxnLst/>
            <a:rect l="0" t="0" r="r" b="b"/>
            <a:pathLst>
              <a:path w="3429000" h="762000">
                <a:moveTo>
                  <a:pt x="127000" y="0"/>
                </a:moveTo>
                <a:lnTo>
                  <a:pt x="3302000" y="0"/>
                </a:lnTo>
                <a:cubicBezTo>
                  <a:pt x="3372167" y="0"/>
                  <a:pt x="3429000" y="56832"/>
                  <a:pt x="3429000" y="127000"/>
                </a:cubicBezTo>
                <a:lnTo>
                  <a:pt x="3429000" y="635000"/>
                </a:lnTo>
                <a:cubicBezTo>
                  <a:pt x="3429000" y="705168"/>
                  <a:pt x="3372167" y="762000"/>
                  <a:pt x="3302000" y="762000"/>
                </a:cubicBezTo>
                <a:lnTo>
                  <a:pt x="127000" y="762000"/>
                </a:lnTo>
                <a:cubicBezTo>
                  <a:pt x="56833" y="762000"/>
                  <a:pt x="0" y="705168"/>
                  <a:pt x="0" y="635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cardb-1"/>
          <p:cNvSpPr/>
          <p:nvPr/>
        </p:nvSpPr>
        <p:spPr>
          <a:xfrm>
            <a:off x="5181600" y="2159000"/>
            <a:ext cx="38100" cy="762000"/>
          </a:xfrm>
          <a:custGeom>
            <a:avLst/>
            <a:gdLst/>
            <a:ahLst/>
            <a:cxnLst/>
            <a:rect l="0" t="0" r="r" b="b"/>
            <a:pathLst>
              <a:path w="38100" h="762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742950"/>
                </a:lnTo>
                <a:cubicBezTo>
                  <a:pt x="38100" y="753491"/>
                  <a:pt x="29591" y="762000"/>
                  <a:pt x="19050" y="762000"/>
                </a:cubicBezTo>
                <a:lnTo>
                  <a:pt x="19050" y="762000"/>
                </a:lnTo>
                <a:cubicBezTo>
                  <a:pt x="8509" y="762000"/>
                  <a:pt x="0" y="753491"/>
                  <a:pt x="0" y="742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cn-1"/>
          <p:cNvSpPr txBox="1"/>
          <p:nvPr/>
        </p:nvSpPr>
        <p:spPr>
          <a:xfrm>
            <a:off x="5356098" y="2286413"/>
            <a:ext cx="791591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三级·复购</a:t>
            </a:r>
          </a:p>
        </p:txBody>
      </p:sp>
      <p:sp>
        <p:nvSpPr>
          <p:cNvPr id="24" name="cd-1"/>
          <p:cNvSpPr txBox="1"/>
          <p:nvPr/>
        </p:nvSpPr>
        <p:spPr>
          <a:xfrm>
            <a:off x="5360289" y="2558145"/>
            <a:ext cx="99155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客户留下来、买更多</a:t>
            </a:r>
          </a:p>
        </p:txBody>
      </p:sp>
      <p:sp>
        <p:nvSpPr>
          <p:cNvPr id="25" name="mv-1-1"/>
          <p:cNvSpPr txBox="1"/>
          <p:nvPr/>
        </p:nvSpPr>
        <p:spPr>
          <a:xfrm>
            <a:off x="6965188" y="2285302"/>
            <a:ext cx="431673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5">
                <a:solidFill>
                  <a:srgbClr val="3985CD"/>
                </a:solidFill>
                <a:latin typeface="Arial"/>
                <a:ea typeface="Arial"/>
                <a:cs typeface="Arial"/>
              </a:rPr>
              <a:t>46%</a:t>
            </a:r>
          </a:p>
        </p:txBody>
      </p:sp>
      <p:sp>
        <p:nvSpPr>
          <p:cNvPr id="26" name="mn-1-1"/>
          <p:cNvSpPr txBox="1"/>
          <p:nvPr/>
        </p:nvSpPr>
        <p:spPr>
          <a:xfrm>
            <a:off x="6974332" y="2569908"/>
            <a:ext cx="35242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复购率</a:t>
            </a:r>
          </a:p>
        </p:txBody>
      </p:sp>
      <p:sp>
        <p:nvSpPr>
          <p:cNvPr id="27" name="mv-1-2"/>
          <p:cNvSpPr txBox="1"/>
          <p:nvPr/>
        </p:nvSpPr>
        <p:spPr>
          <a:xfrm>
            <a:off x="7790688" y="2285302"/>
            <a:ext cx="526034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5">
                <a:solidFill>
                  <a:srgbClr val="3985CD"/>
                </a:solidFill>
                <a:latin typeface="Arial"/>
                <a:ea typeface="Arial"/>
                <a:cs typeface="Arial"/>
              </a:rPr>
              <a:t>118%</a:t>
            </a:r>
          </a:p>
        </p:txBody>
      </p:sp>
      <p:sp>
        <p:nvSpPr>
          <p:cNvPr id="28" name="mn-1-2"/>
          <p:cNvSpPr txBox="1"/>
          <p:nvPr/>
        </p:nvSpPr>
        <p:spPr>
          <a:xfrm>
            <a:off x="7799832" y="2569908"/>
            <a:ext cx="53403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净收入留存</a:t>
            </a:r>
          </a:p>
        </p:txBody>
      </p:sp>
      <p:sp>
        <p:nvSpPr>
          <p:cNvPr id="29" name="fu-n-1"/>
          <p:cNvSpPr txBox="1"/>
          <p:nvPr/>
        </p:nvSpPr>
        <p:spPr>
          <a:xfrm>
            <a:off x="940308" y="2351024"/>
            <a:ext cx="5359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三级燃料</a:t>
            </a:r>
          </a:p>
        </p:txBody>
      </p:sp>
      <p:sp>
        <p:nvSpPr>
          <p:cNvPr id="30" name="fu-v-1"/>
          <p:cNvSpPr txBox="1"/>
          <p:nvPr/>
        </p:nvSpPr>
        <p:spPr>
          <a:xfrm>
            <a:off x="2545080" y="2319655"/>
            <a:ext cx="32766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20%</a:t>
            </a:r>
          </a:p>
        </p:txBody>
      </p:sp>
      <p:sp>
        <p:nvSpPr>
          <p:cNvPr id="31" name="fu-b-1"/>
          <p:cNvSpPr/>
          <p:nvPr/>
        </p:nvSpPr>
        <p:spPr>
          <a:xfrm>
            <a:off x="952500" y="2578100"/>
            <a:ext cx="1905000" cy="88900"/>
          </a:xfrm>
          <a:custGeom>
            <a:avLst/>
            <a:gdLst/>
            <a:ahLst/>
            <a:cxnLst/>
            <a:rect l="0" t="0" r="r" b="b"/>
            <a:pathLst>
              <a:path w="1905000" h="88900">
                <a:moveTo>
                  <a:pt x="44450" y="0"/>
                </a:moveTo>
                <a:lnTo>
                  <a:pt x="1860550" y="0"/>
                </a:lnTo>
                <a:cubicBezTo>
                  <a:pt x="1885124" y="0"/>
                  <a:pt x="1905000" y="19875"/>
                  <a:pt x="1905000" y="44450"/>
                </a:cubicBezTo>
                <a:lnTo>
                  <a:pt x="1905000" y="44450"/>
                </a:lnTo>
                <a:cubicBezTo>
                  <a:pt x="1905000" y="69025"/>
                  <a:pt x="1885124" y="88900"/>
                  <a:pt x="1860550" y="88900"/>
                </a:cubicBezTo>
                <a:lnTo>
                  <a:pt x="44450" y="88900"/>
                </a:lnTo>
                <a:cubicBezTo>
                  <a:pt x="19875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fu-f-1"/>
          <p:cNvSpPr/>
          <p:nvPr/>
        </p:nvSpPr>
        <p:spPr>
          <a:xfrm>
            <a:off x="952500" y="2578100"/>
            <a:ext cx="846645" cy="88900"/>
          </a:xfrm>
          <a:custGeom>
            <a:avLst/>
            <a:gdLst/>
            <a:ahLst/>
            <a:cxnLst/>
            <a:rect l="0" t="0" r="r" b="b"/>
            <a:pathLst>
              <a:path w="846645" h="88900">
                <a:moveTo>
                  <a:pt x="44450" y="0"/>
                </a:moveTo>
                <a:lnTo>
                  <a:pt x="802195" y="0"/>
                </a:lnTo>
                <a:cubicBezTo>
                  <a:pt x="826770" y="0"/>
                  <a:pt x="846645" y="19875"/>
                  <a:pt x="846645" y="44450"/>
                </a:cubicBezTo>
                <a:lnTo>
                  <a:pt x="846645" y="44450"/>
                </a:lnTo>
                <a:cubicBezTo>
                  <a:pt x="846645" y="69025"/>
                  <a:pt x="826770" y="88900"/>
                  <a:pt x="802195" y="88900"/>
                </a:cubicBezTo>
                <a:lnTo>
                  <a:pt x="44450" y="88900"/>
                </a:lnTo>
                <a:cubicBezTo>
                  <a:pt x="19875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stg-2"/>
          <p:cNvSpPr/>
          <p:nvPr/>
        </p:nvSpPr>
        <p:spPr>
          <a:xfrm>
            <a:off x="3365500" y="3048000"/>
            <a:ext cx="1143000" cy="889000"/>
          </a:xfrm>
          <a:custGeom>
            <a:avLst/>
            <a:gdLst/>
            <a:ahLst/>
            <a:cxnLst/>
            <a:rect l="0" t="0" r="r" b="b"/>
            <a:pathLst>
              <a:path w="1143000" h="889000">
                <a:moveTo>
                  <a:pt x="63500" y="0"/>
                </a:moveTo>
                <a:lnTo>
                  <a:pt x="1079500" y="0"/>
                </a:lnTo>
                <a:cubicBezTo>
                  <a:pt x="1114552" y="0"/>
                  <a:pt x="1143000" y="28448"/>
                  <a:pt x="1143000" y="63500"/>
                </a:cubicBezTo>
                <a:lnTo>
                  <a:pt x="1143000" y="825500"/>
                </a:lnTo>
                <a:cubicBezTo>
                  <a:pt x="1143000" y="860552"/>
                  <a:pt x="1114552" y="889000"/>
                  <a:pt x="1079500" y="889000"/>
                </a:cubicBezTo>
                <a:lnTo>
                  <a:pt x="63500" y="889000"/>
                </a:lnTo>
                <a:cubicBezTo>
                  <a:pt x="28448" y="889000"/>
                  <a:pt x="0" y="860552"/>
                  <a:pt x="0" y="825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5086C5"/>
              </a:gs>
              <a:gs pos="60000">
                <a:srgbClr val="2468B6"/>
              </a:gs>
              <a:gs pos="100000">
                <a:srgbClr val="1F5CA3"/>
              </a:gs>
            </a:gsLst>
            <a:lin ang="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stl-2"/>
          <p:cNvSpPr txBox="1"/>
          <p:nvPr/>
        </p:nvSpPr>
        <p:spPr>
          <a:xfrm>
            <a:off x="3770630" y="3328924"/>
            <a:ext cx="3327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150">
                <a:solidFill>
                  <a:srgbClr val="DCE9F8"/>
                </a:solidFill>
                <a:latin typeface="微软雅黑"/>
                <a:ea typeface="微软雅黑"/>
                <a:cs typeface="微软雅黑"/>
              </a:rPr>
              <a:t>二级</a:t>
            </a:r>
          </a:p>
        </p:txBody>
      </p:sp>
      <p:sp>
        <p:nvSpPr>
          <p:cNvPr id="35" name="stn-2"/>
          <p:cNvSpPr txBox="1"/>
          <p:nvPr/>
        </p:nvSpPr>
        <p:spPr>
          <a:xfrm>
            <a:off x="3641090" y="3450717"/>
            <a:ext cx="5918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3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转化</a:t>
            </a:r>
          </a:p>
        </p:txBody>
      </p:sp>
      <p:cxnSp>
        <p:nvCxnSpPr>
          <p:cNvPr id="36" name="ld-2"/>
          <p:cNvCxnSpPr/>
          <p:nvPr/>
        </p:nvCxnSpPr>
        <p:spPr>
          <a:xfrm>
            <a:off x="4572000" y="3492500"/>
            <a:ext cx="508000" cy="0"/>
          </a:xfrm>
          <a:prstGeom prst="line">
            <a:avLst/>
          </a:prstGeom>
          <a:ln w="12700" cap="rnd">
            <a:solidFill>
              <a:srgbClr val="2468B6">
                <a:alpha val="6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ldd-2"/>
          <p:cNvSpPr/>
          <p:nvPr/>
        </p:nvSpPr>
        <p:spPr>
          <a:xfrm>
            <a:off x="5048250" y="3460750"/>
            <a:ext cx="63500" cy="63500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card-2"/>
          <p:cNvSpPr/>
          <p:nvPr/>
        </p:nvSpPr>
        <p:spPr>
          <a:xfrm>
            <a:off x="5181600" y="3111500"/>
            <a:ext cx="3429000" cy="762000"/>
          </a:xfrm>
          <a:custGeom>
            <a:avLst/>
            <a:gdLst/>
            <a:ahLst/>
            <a:cxnLst/>
            <a:rect l="0" t="0" r="r" b="b"/>
            <a:pathLst>
              <a:path w="3429000" h="762000">
                <a:moveTo>
                  <a:pt x="127000" y="0"/>
                </a:moveTo>
                <a:lnTo>
                  <a:pt x="3302000" y="0"/>
                </a:lnTo>
                <a:cubicBezTo>
                  <a:pt x="3372167" y="0"/>
                  <a:pt x="3429000" y="56832"/>
                  <a:pt x="3429000" y="127000"/>
                </a:cubicBezTo>
                <a:lnTo>
                  <a:pt x="3429000" y="635000"/>
                </a:lnTo>
                <a:cubicBezTo>
                  <a:pt x="3429000" y="705167"/>
                  <a:pt x="3372167" y="762000"/>
                  <a:pt x="3302000" y="762000"/>
                </a:cubicBezTo>
                <a:lnTo>
                  <a:pt x="127000" y="762000"/>
                </a:lnTo>
                <a:cubicBezTo>
                  <a:pt x="56833" y="762000"/>
                  <a:pt x="0" y="705167"/>
                  <a:pt x="0" y="635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cardb-2"/>
          <p:cNvSpPr/>
          <p:nvPr/>
        </p:nvSpPr>
        <p:spPr>
          <a:xfrm>
            <a:off x="5181600" y="3111500"/>
            <a:ext cx="38100" cy="762000"/>
          </a:xfrm>
          <a:custGeom>
            <a:avLst/>
            <a:gdLst/>
            <a:ahLst/>
            <a:cxnLst/>
            <a:rect l="0" t="0" r="r" b="b"/>
            <a:pathLst>
              <a:path w="38100" h="762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742950"/>
                </a:lnTo>
                <a:cubicBezTo>
                  <a:pt x="38100" y="753491"/>
                  <a:pt x="29591" y="762000"/>
                  <a:pt x="19050" y="762000"/>
                </a:cubicBezTo>
                <a:lnTo>
                  <a:pt x="19050" y="762000"/>
                </a:lnTo>
                <a:cubicBezTo>
                  <a:pt x="8509" y="762000"/>
                  <a:pt x="0" y="753491"/>
                  <a:pt x="0" y="742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cn-2"/>
          <p:cNvSpPr txBox="1"/>
          <p:nvPr/>
        </p:nvSpPr>
        <p:spPr>
          <a:xfrm>
            <a:off x="5356098" y="3238913"/>
            <a:ext cx="791591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二级·转化</a:t>
            </a:r>
          </a:p>
        </p:txBody>
      </p:sp>
      <p:sp>
        <p:nvSpPr>
          <p:cNvPr id="41" name="cd-2"/>
          <p:cNvSpPr txBox="1"/>
          <p:nvPr/>
        </p:nvSpPr>
        <p:spPr>
          <a:xfrm>
            <a:off x="5360289" y="3510645"/>
            <a:ext cx="79089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把线索变成合同</a:t>
            </a:r>
          </a:p>
        </p:txBody>
      </p:sp>
      <p:sp>
        <p:nvSpPr>
          <p:cNvPr id="42" name="mv-2-1"/>
          <p:cNvSpPr txBox="1"/>
          <p:nvPr/>
        </p:nvSpPr>
        <p:spPr>
          <a:xfrm>
            <a:off x="6965188" y="3237802"/>
            <a:ext cx="431673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5">
                <a:solidFill>
                  <a:srgbClr val="2468B6"/>
                </a:solidFill>
                <a:latin typeface="Arial"/>
                <a:ea typeface="Arial"/>
                <a:cs typeface="Arial"/>
              </a:rPr>
              <a:t>18%</a:t>
            </a:r>
          </a:p>
        </p:txBody>
      </p:sp>
      <p:sp>
        <p:nvSpPr>
          <p:cNvPr id="43" name="mn-2-1"/>
          <p:cNvSpPr txBox="1"/>
          <p:nvPr/>
        </p:nvSpPr>
        <p:spPr>
          <a:xfrm>
            <a:off x="6974332" y="3522408"/>
            <a:ext cx="53403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线索转化率</a:t>
            </a:r>
          </a:p>
        </p:txBody>
      </p:sp>
      <p:sp>
        <p:nvSpPr>
          <p:cNvPr id="44" name="mv-2-2"/>
          <p:cNvSpPr txBox="1"/>
          <p:nvPr/>
        </p:nvSpPr>
        <p:spPr>
          <a:xfrm>
            <a:off x="7790688" y="3237802"/>
            <a:ext cx="598678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5">
                <a:solidFill>
                  <a:srgbClr val="2468B6"/>
                </a:solidFill>
                <a:latin typeface="Arial"/>
                <a:ea typeface="Arial"/>
                <a:cs typeface="Arial"/>
              </a:rPr>
              <a:t>32 天</a:t>
            </a:r>
          </a:p>
        </p:txBody>
      </p:sp>
      <p:sp>
        <p:nvSpPr>
          <p:cNvPr id="45" name="mn-2-2"/>
          <p:cNvSpPr txBox="1"/>
          <p:nvPr/>
        </p:nvSpPr>
        <p:spPr>
          <a:xfrm>
            <a:off x="7799832" y="3522408"/>
            <a:ext cx="4432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成交周期</a:t>
            </a:r>
          </a:p>
        </p:txBody>
      </p:sp>
      <p:sp>
        <p:nvSpPr>
          <p:cNvPr id="46" name="fu-n-2"/>
          <p:cNvSpPr txBox="1"/>
          <p:nvPr/>
        </p:nvSpPr>
        <p:spPr>
          <a:xfrm>
            <a:off x="940308" y="3303524"/>
            <a:ext cx="5359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二级燃料</a:t>
            </a:r>
          </a:p>
        </p:txBody>
      </p:sp>
      <p:sp>
        <p:nvSpPr>
          <p:cNvPr id="47" name="fu-v-2"/>
          <p:cNvSpPr txBox="1"/>
          <p:nvPr/>
        </p:nvSpPr>
        <p:spPr>
          <a:xfrm>
            <a:off x="2545080" y="3272155"/>
            <a:ext cx="32766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0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35%</a:t>
            </a:r>
          </a:p>
        </p:txBody>
      </p:sp>
      <p:sp>
        <p:nvSpPr>
          <p:cNvPr id="48" name="fu-b-2"/>
          <p:cNvSpPr/>
          <p:nvPr/>
        </p:nvSpPr>
        <p:spPr>
          <a:xfrm>
            <a:off x="952500" y="3530600"/>
            <a:ext cx="1905000" cy="88900"/>
          </a:xfrm>
          <a:custGeom>
            <a:avLst/>
            <a:gdLst/>
            <a:ahLst/>
            <a:cxnLst/>
            <a:rect l="0" t="0" r="r" b="b"/>
            <a:pathLst>
              <a:path w="1905000" h="88900">
                <a:moveTo>
                  <a:pt x="44450" y="0"/>
                </a:moveTo>
                <a:lnTo>
                  <a:pt x="1860550" y="0"/>
                </a:lnTo>
                <a:cubicBezTo>
                  <a:pt x="1885124" y="0"/>
                  <a:pt x="1905000" y="19875"/>
                  <a:pt x="1905000" y="44450"/>
                </a:cubicBezTo>
                <a:lnTo>
                  <a:pt x="1905000" y="44450"/>
                </a:lnTo>
                <a:cubicBezTo>
                  <a:pt x="1905000" y="69025"/>
                  <a:pt x="1885124" y="88900"/>
                  <a:pt x="1860550" y="88900"/>
                </a:cubicBezTo>
                <a:lnTo>
                  <a:pt x="44450" y="88900"/>
                </a:lnTo>
                <a:cubicBezTo>
                  <a:pt x="19875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fu-f-2"/>
          <p:cNvSpPr/>
          <p:nvPr/>
        </p:nvSpPr>
        <p:spPr>
          <a:xfrm>
            <a:off x="952500" y="3530600"/>
            <a:ext cx="1481646" cy="88900"/>
          </a:xfrm>
          <a:custGeom>
            <a:avLst/>
            <a:gdLst/>
            <a:ahLst/>
            <a:cxnLst/>
            <a:rect l="0" t="0" r="r" b="b"/>
            <a:pathLst>
              <a:path w="1481646" h="88900">
                <a:moveTo>
                  <a:pt x="44450" y="0"/>
                </a:moveTo>
                <a:lnTo>
                  <a:pt x="1437196" y="0"/>
                </a:lnTo>
                <a:cubicBezTo>
                  <a:pt x="1461770" y="0"/>
                  <a:pt x="1481646" y="19875"/>
                  <a:pt x="1481646" y="44450"/>
                </a:cubicBezTo>
                <a:lnTo>
                  <a:pt x="1481646" y="44450"/>
                </a:lnTo>
                <a:cubicBezTo>
                  <a:pt x="1481646" y="69025"/>
                  <a:pt x="1461770" y="88900"/>
                  <a:pt x="1437196" y="88900"/>
                </a:cubicBezTo>
                <a:lnTo>
                  <a:pt x="44450" y="88900"/>
                </a:lnTo>
                <a:cubicBezTo>
                  <a:pt x="19875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stg-3"/>
          <p:cNvSpPr/>
          <p:nvPr/>
        </p:nvSpPr>
        <p:spPr>
          <a:xfrm>
            <a:off x="3365500" y="4000500"/>
            <a:ext cx="1143000" cy="889000"/>
          </a:xfrm>
          <a:custGeom>
            <a:avLst/>
            <a:gdLst/>
            <a:ahLst/>
            <a:cxnLst/>
            <a:rect l="0" t="0" r="r" b="b"/>
            <a:pathLst>
              <a:path w="1143000" h="889000">
                <a:moveTo>
                  <a:pt x="63500" y="0"/>
                </a:moveTo>
                <a:lnTo>
                  <a:pt x="1079500" y="0"/>
                </a:lnTo>
                <a:cubicBezTo>
                  <a:pt x="1114552" y="0"/>
                  <a:pt x="1143000" y="28448"/>
                  <a:pt x="1143000" y="63500"/>
                </a:cubicBezTo>
                <a:lnTo>
                  <a:pt x="1143000" y="825500"/>
                </a:lnTo>
                <a:cubicBezTo>
                  <a:pt x="1143000" y="860552"/>
                  <a:pt x="1114552" y="889000"/>
                  <a:pt x="1079500" y="889000"/>
                </a:cubicBezTo>
                <a:lnTo>
                  <a:pt x="63500" y="889000"/>
                </a:lnTo>
                <a:cubicBezTo>
                  <a:pt x="28448" y="889000"/>
                  <a:pt x="0" y="860552"/>
                  <a:pt x="0" y="825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3C65A5"/>
              </a:gs>
              <a:gs pos="60000">
                <a:srgbClr val="0B3E8F"/>
              </a:gs>
              <a:gs pos="100000">
                <a:srgbClr val="0A3983"/>
              </a:gs>
            </a:gsLst>
            <a:lin ang="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stl-3"/>
          <p:cNvSpPr txBox="1"/>
          <p:nvPr/>
        </p:nvSpPr>
        <p:spPr>
          <a:xfrm>
            <a:off x="3770630" y="4281424"/>
            <a:ext cx="3327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150">
                <a:solidFill>
                  <a:srgbClr val="DCE9F8"/>
                </a:solidFill>
                <a:latin typeface="微软雅黑"/>
                <a:ea typeface="微软雅黑"/>
                <a:cs typeface="微软雅黑"/>
              </a:rPr>
              <a:t>一级</a:t>
            </a:r>
          </a:p>
        </p:txBody>
      </p:sp>
      <p:sp>
        <p:nvSpPr>
          <p:cNvPr id="52" name="stn-3"/>
          <p:cNvSpPr txBox="1"/>
          <p:nvPr/>
        </p:nvSpPr>
        <p:spPr>
          <a:xfrm>
            <a:off x="3641090" y="4403217"/>
            <a:ext cx="5918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3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获客</a:t>
            </a:r>
          </a:p>
        </p:txBody>
      </p:sp>
      <p:cxnSp>
        <p:nvCxnSpPr>
          <p:cNvPr id="53" name="ld-3"/>
          <p:cNvCxnSpPr/>
          <p:nvPr/>
        </p:nvCxnSpPr>
        <p:spPr>
          <a:xfrm>
            <a:off x="4572000" y="4445000"/>
            <a:ext cx="508000" cy="0"/>
          </a:xfrm>
          <a:prstGeom prst="line">
            <a:avLst/>
          </a:prstGeom>
          <a:ln w="12700" cap="rnd">
            <a:solidFill>
              <a:srgbClr val="0B3E8F">
                <a:alpha val="6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ldd-3"/>
          <p:cNvSpPr/>
          <p:nvPr/>
        </p:nvSpPr>
        <p:spPr>
          <a:xfrm>
            <a:off x="5048250" y="4413250"/>
            <a:ext cx="63500" cy="635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card-3"/>
          <p:cNvSpPr/>
          <p:nvPr/>
        </p:nvSpPr>
        <p:spPr>
          <a:xfrm>
            <a:off x="5181600" y="4064000"/>
            <a:ext cx="3429000" cy="762000"/>
          </a:xfrm>
          <a:custGeom>
            <a:avLst/>
            <a:gdLst/>
            <a:ahLst/>
            <a:cxnLst/>
            <a:rect l="0" t="0" r="r" b="b"/>
            <a:pathLst>
              <a:path w="3429000" h="762000">
                <a:moveTo>
                  <a:pt x="127000" y="0"/>
                </a:moveTo>
                <a:lnTo>
                  <a:pt x="3302000" y="0"/>
                </a:lnTo>
                <a:cubicBezTo>
                  <a:pt x="3372167" y="0"/>
                  <a:pt x="3429000" y="56833"/>
                  <a:pt x="3429000" y="127000"/>
                </a:cubicBezTo>
                <a:lnTo>
                  <a:pt x="3429000" y="635000"/>
                </a:lnTo>
                <a:cubicBezTo>
                  <a:pt x="3429000" y="705167"/>
                  <a:pt x="3372167" y="762000"/>
                  <a:pt x="3302000" y="762000"/>
                </a:cubicBezTo>
                <a:lnTo>
                  <a:pt x="127000" y="762000"/>
                </a:lnTo>
                <a:cubicBezTo>
                  <a:pt x="56833" y="762000"/>
                  <a:pt x="0" y="705167"/>
                  <a:pt x="0" y="635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cardb-3"/>
          <p:cNvSpPr/>
          <p:nvPr/>
        </p:nvSpPr>
        <p:spPr>
          <a:xfrm>
            <a:off x="5181600" y="4064000"/>
            <a:ext cx="38100" cy="762000"/>
          </a:xfrm>
          <a:custGeom>
            <a:avLst/>
            <a:gdLst/>
            <a:ahLst/>
            <a:cxnLst/>
            <a:rect l="0" t="0" r="r" b="b"/>
            <a:pathLst>
              <a:path w="38100" h="762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742950"/>
                </a:lnTo>
                <a:cubicBezTo>
                  <a:pt x="38100" y="753491"/>
                  <a:pt x="29591" y="762000"/>
                  <a:pt x="19050" y="762000"/>
                </a:cubicBezTo>
                <a:lnTo>
                  <a:pt x="19050" y="762000"/>
                </a:lnTo>
                <a:cubicBezTo>
                  <a:pt x="8509" y="762000"/>
                  <a:pt x="0" y="753491"/>
                  <a:pt x="0" y="742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cn-3"/>
          <p:cNvSpPr txBox="1"/>
          <p:nvPr/>
        </p:nvSpPr>
        <p:spPr>
          <a:xfrm>
            <a:off x="5356098" y="4191413"/>
            <a:ext cx="791591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一级·获客</a:t>
            </a:r>
          </a:p>
        </p:txBody>
      </p:sp>
      <p:sp>
        <p:nvSpPr>
          <p:cNvPr id="58" name="cd-3"/>
          <p:cNvSpPr txBox="1"/>
          <p:nvPr/>
        </p:nvSpPr>
        <p:spPr>
          <a:xfrm>
            <a:off x="5360289" y="4463145"/>
            <a:ext cx="99155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让对的客户看见我们</a:t>
            </a:r>
          </a:p>
        </p:txBody>
      </p:sp>
      <p:sp>
        <p:nvSpPr>
          <p:cNvPr id="59" name="mv-3-1"/>
          <p:cNvSpPr txBox="1"/>
          <p:nvPr/>
        </p:nvSpPr>
        <p:spPr>
          <a:xfrm>
            <a:off x="6965188" y="4190302"/>
            <a:ext cx="620395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3,860</a:t>
            </a:r>
          </a:p>
        </p:txBody>
      </p:sp>
      <p:sp>
        <p:nvSpPr>
          <p:cNvPr id="60" name="mn-3-1"/>
          <p:cNvSpPr txBox="1"/>
          <p:nvPr/>
        </p:nvSpPr>
        <p:spPr>
          <a:xfrm>
            <a:off x="6974332" y="4474908"/>
            <a:ext cx="53403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月新增线索</a:t>
            </a:r>
          </a:p>
        </p:txBody>
      </p:sp>
      <p:sp>
        <p:nvSpPr>
          <p:cNvPr id="61" name="mv-3-2"/>
          <p:cNvSpPr txBox="1"/>
          <p:nvPr/>
        </p:nvSpPr>
        <p:spPr>
          <a:xfrm>
            <a:off x="7790688" y="4190302"/>
            <a:ext cx="526034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¥420</a:t>
            </a:r>
          </a:p>
        </p:txBody>
      </p:sp>
      <p:sp>
        <p:nvSpPr>
          <p:cNvPr id="62" name="mn-3-2"/>
          <p:cNvSpPr txBox="1"/>
          <p:nvPr/>
        </p:nvSpPr>
        <p:spPr>
          <a:xfrm>
            <a:off x="7799832" y="4474908"/>
            <a:ext cx="4432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获客成本</a:t>
            </a:r>
          </a:p>
        </p:txBody>
      </p:sp>
      <p:sp>
        <p:nvSpPr>
          <p:cNvPr id="63" name="fu-n-3"/>
          <p:cNvSpPr txBox="1"/>
          <p:nvPr/>
        </p:nvSpPr>
        <p:spPr>
          <a:xfrm>
            <a:off x="940308" y="4256024"/>
            <a:ext cx="5359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一级燃料</a:t>
            </a:r>
          </a:p>
        </p:txBody>
      </p:sp>
      <p:sp>
        <p:nvSpPr>
          <p:cNvPr id="64" name="fu-v-3"/>
          <p:cNvSpPr txBox="1"/>
          <p:nvPr/>
        </p:nvSpPr>
        <p:spPr>
          <a:xfrm>
            <a:off x="2545080" y="4224655"/>
            <a:ext cx="32766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45%</a:t>
            </a:r>
          </a:p>
        </p:txBody>
      </p:sp>
      <p:sp>
        <p:nvSpPr>
          <p:cNvPr id="65" name="fu-b-3"/>
          <p:cNvSpPr/>
          <p:nvPr/>
        </p:nvSpPr>
        <p:spPr>
          <a:xfrm>
            <a:off x="952500" y="4483100"/>
            <a:ext cx="1905000" cy="88900"/>
          </a:xfrm>
          <a:custGeom>
            <a:avLst/>
            <a:gdLst/>
            <a:ahLst/>
            <a:cxnLst/>
            <a:rect l="0" t="0" r="r" b="b"/>
            <a:pathLst>
              <a:path w="1905000" h="88900">
                <a:moveTo>
                  <a:pt x="44450" y="0"/>
                </a:moveTo>
                <a:lnTo>
                  <a:pt x="1860550" y="0"/>
                </a:lnTo>
                <a:cubicBezTo>
                  <a:pt x="1885124" y="0"/>
                  <a:pt x="1905000" y="19875"/>
                  <a:pt x="1905000" y="44450"/>
                </a:cubicBezTo>
                <a:lnTo>
                  <a:pt x="1905000" y="44450"/>
                </a:lnTo>
                <a:cubicBezTo>
                  <a:pt x="1905000" y="69025"/>
                  <a:pt x="1885124" y="88900"/>
                  <a:pt x="1860550" y="88900"/>
                </a:cubicBezTo>
                <a:lnTo>
                  <a:pt x="44450" y="88900"/>
                </a:lnTo>
                <a:cubicBezTo>
                  <a:pt x="19875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fu-f-3"/>
          <p:cNvSpPr/>
          <p:nvPr/>
        </p:nvSpPr>
        <p:spPr>
          <a:xfrm>
            <a:off x="952500" y="4483100"/>
            <a:ext cx="1905000" cy="88900"/>
          </a:xfrm>
          <a:custGeom>
            <a:avLst/>
            <a:gdLst/>
            <a:ahLst/>
            <a:cxnLst/>
            <a:rect l="0" t="0" r="r" b="b"/>
            <a:pathLst>
              <a:path w="1905000" h="88900">
                <a:moveTo>
                  <a:pt x="44450" y="0"/>
                </a:moveTo>
                <a:lnTo>
                  <a:pt x="1860550" y="0"/>
                </a:lnTo>
                <a:cubicBezTo>
                  <a:pt x="1885124" y="0"/>
                  <a:pt x="1905000" y="19875"/>
                  <a:pt x="1905000" y="44450"/>
                </a:cubicBezTo>
                <a:lnTo>
                  <a:pt x="1905000" y="44450"/>
                </a:lnTo>
                <a:cubicBezTo>
                  <a:pt x="1905000" y="69025"/>
                  <a:pt x="1885124" y="88900"/>
                  <a:pt x="1860550" y="88900"/>
                </a:cubicBezTo>
                <a:lnTo>
                  <a:pt x="44450" y="88900"/>
                </a:lnTo>
                <a:cubicBezTo>
                  <a:pt x="19875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fu-h"/>
          <p:cNvSpPr txBox="1"/>
          <p:nvPr/>
        </p:nvSpPr>
        <p:spPr>
          <a:xfrm>
            <a:off x="933450" y="17089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预算分配</a:t>
            </a:r>
          </a:p>
        </p:txBody>
      </p:sp>
      <p:sp>
        <p:nvSpPr>
          <p:cNvPr id="68" name="fu-p"/>
          <p:cNvSpPr txBox="1"/>
          <p:nvPr/>
        </p:nvSpPr>
        <p:spPr>
          <a:xfrm>
            <a:off x="941070" y="1977866"/>
            <a:ext cx="133350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年度市场与销售预算 1.6 亿</a:t>
            </a:r>
          </a:p>
        </p:txBody>
      </p:sp>
      <p:sp>
        <p:nvSpPr>
          <p:cNvPr id="69" name="goal"/>
          <p:cNvSpPr/>
          <p:nvPr/>
        </p:nvSpPr>
        <p:spPr>
          <a:xfrm>
            <a:off x="8890000" y="1587500"/>
            <a:ext cx="2349500" cy="1651000"/>
          </a:xfrm>
          <a:custGeom>
            <a:avLst/>
            <a:gdLst/>
            <a:ahLst/>
            <a:cxnLst/>
            <a:rect l="0" t="0" r="r" b="b"/>
            <a:pathLst>
              <a:path w="2349500" h="1651000">
                <a:moveTo>
                  <a:pt x="139700" y="0"/>
                </a:moveTo>
                <a:lnTo>
                  <a:pt x="2209800" y="0"/>
                </a:lnTo>
                <a:cubicBezTo>
                  <a:pt x="2286953" y="0"/>
                  <a:pt x="2349500" y="62548"/>
                  <a:pt x="2349500" y="139700"/>
                </a:cubicBezTo>
                <a:lnTo>
                  <a:pt x="2349500" y="1511300"/>
                </a:lnTo>
                <a:cubicBezTo>
                  <a:pt x="2349500" y="1588452"/>
                  <a:pt x="2286953" y="1651000"/>
                  <a:pt x="2209800" y="1651000"/>
                </a:cubicBezTo>
                <a:lnTo>
                  <a:pt x="139700" y="1651000"/>
                </a:lnTo>
                <a:cubicBezTo>
                  <a:pt x="62547" y="1651000"/>
                  <a:pt x="0" y="1588452"/>
                  <a:pt x="0" y="15113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goal-h"/>
          <p:cNvSpPr txBox="1"/>
          <p:nvPr/>
        </p:nvSpPr>
        <p:spPr>
          <a:xfrm>
            <a:off x="9066784" y="1751140"/>
            <a:ext cx="6108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10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目标轨道</a:t>
            </a:r>
          </a:p>
        </p:txBody>
      </p:sp>
      <p:sp>
        <p:nvSpPr>
          <p:cNvPr id="71" name="goal-v"/>
          <p:cNvSpPr txBox="1"/>
          <p:nvPr/>
        </p:nvSpPr>
        <p:spPr>
          <a:xfrm>
            <a:off x="9039352" y="1964118"/>
            <a:ext cx="1252982" cy="6000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7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12 亿</a:t>
            </a:r>
          </a:p>
        </p:txBody>
      </p:sp>
      <p:sp>
        <p:nvSpPr>
          <p:cNvPr id="72" name="goal-l"/>
          <p:cNvSpPr txBox="1"/>
          <p:nvPr/>
        </p:nvSpPr>
        <p:spPr>
          <a:xfrm>
            <a:off x="9068308" y="2528824"/>
            <a:ext cx="5232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年度营收</a:t>
            </a:r>
          </a:p>
        </p:txBody>
      </p:sp>
      <p:sp>
        <p:nvSpPr>
          <p:cNvPr id="73" name="goal-p"/>
          <p:cNvSpPr txBox="1"/>
          <p:nvPr/>
        </p:nvSpPr>
        <p:spPr>
          <a:xfrm>
            <a:off x="9069070" y="2866866"/>
            <a:ext cx="14458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三级接力，缺一级都到不了轨道</a:t>
            </a:r>
          </a:p>
        </p:txBody>
      </p:sp>
      <p:sp>
        <p:nvSpPr>
          <p:cNvPr id="74" name="note-1"/>
          <p:cNvSpPr txBox="1"/>
          <p:nvPr/>
        </p:nvSpPr>
        <p:spPr>
          <a:xfrm>
            <a:off x="8902446" y="3498882"/>
            <a:ext cx="130556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一级燃料最多：先有流量</a:t>
            </a:r>
          </a:p>
        </p:txBody>
      </p:sp>
      <p:sp>
        <p:nvSpPr>
          <p:cNvPr id="75" name="note-2"/>
          <p:cNvSpPr txBox="1"/>
          <p:nvPr/>
        </p:nvSpPr>
        <p:spPr>
          <a:xfrm>
            <a:off x="8902446" y="3752882"/>
            <a:ext cx="166484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二级决定效率：转化率每 +1 点</a:t>
            </a:r>
          </a:p>
        </p:txBody>
      </p:sp>
      <p:sp>
        <p:nvSpPr>
          <p:cNvPr id="76" name="note-3"/>
          <p:cNvSpPr txBox="1"/>
          <p:nvPr/>
        </p:nvSpPr>
        <p:spPr>
          <a:xfrm>
            <a:off x="8902446" y="4006882"/>
            <a:ext cx="105029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≈ 营收 +6,600 万</a:t>
            </a:r>
          </a:p>
        </p:txBody>
      </p:sp>
      <p:sp>
        <p:nvSpPr>
          <p:cNvPr id="77" name="note-4"/>
          <p:cNvSpPr txBox="1"/>
          <p:nvPr/>
        </p:nvSpPr>
        <p:spPr>
          <a:xfrm>
            <a:off x="8902446" y="4260882"/>
            <a:ext cx="148971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三级决定上限：NRR &gt; 100%</a:t>
            </a:r>
          </a:p>
        </p:txBody>
      </p:sp>
      <p:sp>
        <p:nvSpPr>
          <p:cNvPr id="78" name="fx"/>
          <p:cNvSpPr/>
          <p:nvPr/>
        </p:nvSpPr>
        <p:spPr>
          <a:xfrm>
            <a:off x="5181600" y="5270500"/>
            <a:ext cx="6057900" cy="698500"/>
          </a:xfrm>
          <a:custGeom>
            <a:avLst/>
            <a:gdLst/>
            <a:ahLst/>
            <a:cxnLst/>
            <a:rect l="0" t="0" r="r" b="b"/>
            <a:pathLst>
              <a:path w="6057900" h="698500">
                <a:moveTo>
                  <a:pt x="114300" y="0"/>
                </a:moveTo>
                <a:lnTo>
                  <a:pt x="5943600" y="0"/>
                </a:lnTo>
                <a:cubicBezTo>
                  <a:pt x="6006719" y="0"/>
                  <a:pt x="6057900" y="51181"/>
                  <a:pt x="6057900" y="114300"/>
                </a:cubicBezTo>
                <a:lnTo>
                  <a:pt x="6057900" y="584200"/>
                </a:lnTo>
                <a:cubicBezTo>
                  <a:pt x="6057900" y="647319"/>
                  <a:pt x="6006719" y="698500"/>
                  <a:pt x="5943600" y="698500"/>
                </a:cubicBezTo>
                <a:lnTo>
                  <a:pt x="114300" y="698500"/>
                </a:lnTo>
                <a:cubicBezTo>
                  <a:pt x="51181" y="698500"/>
                  <a:pt x="0" y="647319"/>
                  <a:pt x="0" y="5842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fx-bar"/>
          <p:cNvSpPr/>
          <p:nvPr/>
        </p:nvSpPr>
        <p:spPr>
          <a:xfrm>
            <a:off x="5181600" y="5270500"/>
            <a:ext cx="31750" cy="6985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fx-h"/>
          <p:cNvSpPr txBox="1"/>
          <p:nvPr/>
        </p:nvSpPr>
        <p:spPr>
          <a:xfrm>
            <a:off x="5358384" y="5396040"/>
            <a:ext cx="6108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增长公式</a:t>
            </a:r>
          </a:p>
        </p:txBody>
      </p:sp>
      <p:sp>
        <p:nvSpPr>
          <p:cNvPr id="81" name="fx-p"/>
          <p:cNvSpPr txBox="1"/>
          <p:nvPr/>
        </p:nvSpPr>
        <p:spPr>
          <a:xfrm>
            <a:off x="5354574" y="5610828"/>
            <a:ext cx="3475101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营收 = 线索数 × 转化率 × 客单价 × 复购系数</a:t>
            </a:r>
          </a:p>
        </p:txBody>
      </p:sp>
      <p:sp>
        <p:nvSpPr>
          <p:cNvPr id="82" name="fu-n1"/>
          <p:cNvSpPr txBox="1"/>
          <p:nvPr/>
        </p:nvSpPr>
        <p:spPr>
          <a:xfrm>
            <a:off x="940308" y="5145024"/>
            <a:ext cx="1644015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燃料按「一级多、三级少」分配，</a:t>
            </a:r>
          </a:p>
        </p:txBody>
      </p:sp>
      <p:sp>
        <p:nvSpPr>
          <p:cNvPr id="83" name="fu-n2"/>
          <p:cNvSpPr txBox="1"/>
          <p:nvPr/>
        </p:nvSpPr>
        <p:spPr>
          <a:xfrm>
            <a:off x="940308" y="5335524"/>
            <a:ext cx="112649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但三级的回报率最高。</a:t>
            </a:r>
          </a:p>
        </p:txBody>
      </p:sp>
      <p:cxnSp>
        <p:nvCxnSpPr>
          <p:cNvPr id="84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三级火箭 · 增长模型</a:t>
            </a:r>
          </a:p>
        </p:txBody>
      </p:sp>
      <p:sp>
        <p:nvSpPr>
          <p:cNvPr id="86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价值主张画布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226542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VALUE PROPOSITION CANVAS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7846695" y="673132"/>
            <a:ext cx="3774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左边是我们提供什么，右边是客户需要什么——两边一一对上才算真正匹配</a:t>
            </a:r>
          </a:p>
        </p:txBody>
      </p:sp>
      <p:sp>
        <p:nvSpPr>
          <p:cNvPr id="10" name="p-main"/>
          <p:cNvSpPr/>
          <p:nvPr/>
        </p:nvSpPr>
        <p:spPr>
          <a:xfrm>
            <a:off x="1079500" y="1587500"/>
            <a:ext cx="1752600" cy="3810000"/>
          </a:xfrm>
          <a:custGeom>
            <a:avLst/>
            <a:gdLst/>
            <a:ahLst/>
            <a:cxnLst/>
            <a:rect l="0" t="0" r="r" b="b"/>
            <a:pathLst>
              <a:path w="1752600" h="3810000">
                <a:moveTo>
                  <a:pt x="139700" y="0"/>
                </a:moveTo>
                <a:lnTo>
                  <a:pt x="1612900" y="0"/>
                </a:lnTo>
                <a:cubicBezTo>
                  <a:pt x="1690052" y="0"/>
                  <a:pt x="1752600" y="62548"/>
                  <a:pt x="1752600" y="139700"/>
                </a:cubicBezTo>
                <a:lnTo>
                  <a:pt x="1752600" y="3670300"/>
                </a:lnTo>
                <a:cubicBezTo>
                  <a:pt x="1752600" y="3747452"/>
                  <a:pt x="1690052" y="3810000"/>
                  <a:pt x="1612900" y="3810000"/>
                </a:cubicBezTo>
                <a:lnTo>
                  <a:pt x="139700" y="3810000"/>
                </a:lnTo>
                <a:cubicBezTo>
                  <a:pt x="62547" y="3810000"/>
                  <a:pt x="0" y="3747452"/>
                  <a:pt x="0" y="36703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p-gain"/>
          <p:cNvSpPr/>
          <p:nvPr/>
        </p:nvSpPr>
        <p:spPr>
          <a:xfrm>
            <a:off x="2908300" y="1587500"/>
            <a:ext cx="1981200" cy="1866900"/>
          </a:xfrm>
          <a:custGeom>
            <a:avLst/>
            <a:gdLst/>
            <a:ahLst/>
            <a:cxnLst/>
            <a:rect l="0" t="0" r="r" b="b"/>
            <a:pathLst>
              <a:path w="1981200" h="1866900">
                <a:moveTo>
                  <a:pt x="139700" y="0"/>
                </a:moveTo>
                <a:lnTo>
                  <a:pt x="1841500" y="0"/>
                </a:lnTo>
                <a:cubicBezTo>
                  <a:pt x="1918652" y="0"/>
                  <a:pt x="1981200" y="62548"/>
                  <a:pt x="1981200" y="139700"/>
                </a:cubicBezTo>
                <a:lnTo>
                  <a:pt x="1981200" y="1727200"/>
                </a:lnTo>
                <a:cubicBezTo>
                  <a:pt x="1981200" y="1804352"/>
                  <a:pt x="1918652" y="1866900"/>
                  <a:pt x="1841500" y="1866900"/>
                </a:cubicBezTo>
                <a:lnTo>
                  <a:pt x="139700" y="1866900"/>
                </a:lnTo>
                <a:cubicBezTo>
                  <a:pt x="62548" y="1866900"/>
                  <a:pt x="0" y="1804352"/>
                  <a:pt x="0" y="17272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p-pain"/>
          <p:cNvSpPr/>
          <p:nvPr/>
        </p:nvSpPr>
        <p:spPr>
          <a:xfrm>
            <a:off x="2908300" y="3530600"/>
            <a:ext cx="1981200" cy="1866900"/>
          </a:xfrm>
          <a:custGeom>
            <a:avLst/>
            <a:gdLst/>
            <a:ahLst/>
            <a:cxnLst/>
            <a:rect l="0" t="0" r="r" b="b"/>
            <a:pathLst>
              <a:path w="1981200" h="1866900">
                <a:moveTo>
                  <a:pt x="139700" y="0"/>
                </a:moveTo>
                <a:lnTo>
                  <a:pt x="1841500" y="0"/>
                </a:lnTo>
                <a:cubicBezTo>
                  <a:pt x="1918652" y="0"/>
                  <a:pt x="1981200" y="62548"/>
                  <a:pt x="1981200" y="139700"/>
                </a:cubicBezTo>
                <a:lnTo>
                  <a:pt x="1981200" y="1727200"/>
                </a:lnTo>
                <a:cubicBezTo>
                  <a:pt x="1981200" y="1804352"/>
                  <a:pt x="1918652" y="1866900"/>
                  <a:pt x="1841500" y="1866900"/>
                </a:cubicBezTo>
                <a:lnTo>
                  <a:pt x="139700" y="1866900"/>
                </a:lnTo>
                <a:cubicBezTo>
                  <a:pt x="62548" y="1866900"/>
                  <a:pt x="0" y="1804352"/>
                  <a:pt x="0" y="17272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p-gb"/>
          <p:cNvSpPr/>
          <p:nvPr/>
        </p:nvSpPr>
        <p:spPr>
          <a:xfrm>
            <a:off x="2908300" y="1587500"/>
            <a:ext cx="38100" cy="1866900"/>
          </a:xfrm>
          <a:custGeom>
            <a:avLst/>
            <a:gdLst/>
            <a:ahLst/>
            <a:cxnLst/>
            <a:rect l="0" t="0" r="r" b="b"/>
            <a:pathLst>
              <a:path w="38100" h="18669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847850"/>
                </a:lnTo>
                <a:cubicBezTo>
                  <a:pt x="38100" y="1858391"/>
                  <a:pt x="29591" y="1866900"/>
                  <a:pt x="19050" y="1866900"/>
                </a:cubicBezTo>
                <a:lnTo>
                  <a:pt x="19050" y="1866900"/>
                </a:lnTo>
                <a:cubicBezTo>
                  <a:pt x="8509" y="1866900"/>
                  <a:pt x="0" y="1858391"/>
                  <a:pt x="0" y="18478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p-pb"/>
          <p:cNvSpPr/>
          <p:nvPr/>
        </p:nvSpPr>
        <p:spPr>
          <a:xfrm>
            <a:off x="2908300" y="3530600"/>
            <a:ext cx="38100" cy="1866900"/>
          </a:xfrm>
          <a:custGeom>
            <a:avLst/>
            <a:gdLst/>
            <a:ahLst/>
            <a:cxnLst/>
            <a:rect l="0" t="0" r="r" b="b"/>
            <a:pathLst>
              <a:path w="38100" h="18669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847850"/>
                </a:lnTo>
                <a:cubicBezTo>
                  <a:pt x="38100" y="1858391"/>
                  <a:pt x="29591" y="1866900"/>
                  <a:pt x="19050" y="1866900"/>
                </a:cubicBezTo>
                <a:lnTo>
                  <a:pt x="19050" y="1866900"/>
                </a:lnTo>
                <a:cubicBezTo>
                  <a:pt x="8509" y="1866900"/>
                  <a:pt x="0" y="1858391"/>
                  <a:pt x="0" y="18478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icon-layers"/>
          <p:cNvSpPr/>
          <p:nvPr/>
        </p:nvSpPr>
        <p:spPr>
          <a:xfrm>
            <a:off x="1329246" y="1899094"/>
            <a:ext cx="135509" cy="140525"/>
          </a:xfrm>
          <a:custGeom>
            <a:avLst/>
            <a:gdLst/>
            <a:ahLst/>
            <a:cxnLst/>
            <a:rect l="0" t="0" r="r" b="b"/>
            <a:pathLst>
              <a:path w="135509" h="140525">
                <a:moveTo>
                  <a:pt x="67754" y="0"/>
                </a:moveTo>
                <a:lnTo>
                  <a:pt x="135509" y="35560"/>
                </a:lnTo>
                <a:lnTo>
                  <a:pt x="67754" y="71120"/>
                </a:lnTo>
                <a:lnTo>
                  <a:pt x="0" y="35560"/>
                </a:lnTo>
                <a:close/>
                <a:moveTo>
                  <a:pt x="0" y="71120"/>
                </a:moveTo>
                <a:lnTo>
                  <a:pt x="67754" y="106680"/>
                </a:lnTo>
                <a:lnTo>
                  <a:pt x="135509" y="71120"/>
                </a:lnTo>
                <a:moveTo>
                  <a:pt x="0" y="104966"/>
                </a:moveTo>
                <a:lnTo>
                  <a:pt x="67754" y="140525"/>
                </a:lnTo>
                <a:lnTo>
                  <a:pt x="135509" y="104966"/>
                </a:ln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p-main-h"/>
          <p:cNvSpPr txBox="1"/>
          <p:nvPr/>
        </p:nvSpPr>
        <p:spPr>
          <a:xfrm>
            <a:off x="1276350" y="2178844"/>
            <a:ext cx="10001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产品与服务</a:t>
            </a:r>
          </a:p>
        </p:txBody>
      </p:sp>
      <p:sp>
        <p:nvSpPr>
          <p:cNvPr id="17" name="p-it1"/>
          <p:cNvSpPr/>
          <p:nvPr/>
        </p:nvSpPr>
        <p:spPr>
          <a:xfrm>
            <a:off x="1270000" y="2654300"/>
            <a:ext cx="1371600" cy="317500"/>
          </a:xfrm>
          <a:custGeom>
            <a:avLst/>
            <a:gdLst/>
            <a:ahLst/>
            <a:cxnLst/>
            <a:rect l="0" t="0" r="r" b="b"/>
            <a:pathLst>
              <a:path w="1371600" h="317500">
                <a:moveTo>
                  <a:pt x="88900" y="0"/>
                </a:moveTo>
                <a:lnTo>
                  <a:pt x="1282700" y="0"/>
                </a:lnTo>
                <a:cubicBezTo>
                  <a:pt x="1331786" y="0"/>
                  <a:pt x="1371600" y="39814"/>
                  <a:pt x="1371600" y="88900"/>
                </a:cubicBezTo>
                <a:lnTo>
                  <a:pt x="1371600" y="228600"/>
                </a:lnTo>
                <a:cubicBezTo>
                  <a:pt x="1371600" y="277686"/>
                  <a:pt x="1331786" y="317500"/>
                  <a:pt x="1282700" y="317500"/>
                </a:cubicBezTo>
                <a:lnTo>
                  <a:pt x="88900" y="317500"/>
                </a:lnTo>
                <a:cubicBezTo>
                  <a:pt x="39815" y="317500"/>
                  <a:pt x="0" y="277686"/>
                  <a:pt x="0" y="2286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FFFF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p-itt1"/>
          <p:cNvSpPr txBox="1"/>
          <p:nvPr/>
        </p:nvSpPr>
        <p:spPr>
          <a:xfrm>
            <a:off x="1384046" y="2724182"/>
            <a:ext cx="76009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智能排产系统</a:t>
            </a:r>
          </a:p>
        </p:txBody>
      </p:sp>
      <p:sp>
        <p:nvSpPr>
          <p:cNvPr id="19" name="p-it2"/>
          <p:cNvSpPr/>
          <p:nvPr/>
        </p:nvSpPr>
        <p:spPr>
          <a:xfrm>
            <a:off x="1270000" y="3073400"/>
            <a:ext cx="1371600" cy="317500"/>
          </a:xfrm>
          <a:custGeom>
            <a:avLst/>
            <a:gdLst/>
            <a:ahLst/>
            <a:cxnLst/>
            <a:rect l="0" t="0" r="r" b="b"/>
            <a:pathLst>
              <a:path w="1371600" h="317500">
                <a:moveTo>
                  <a:pt x="88900" y="0"/>
                </a:moveTo>
                <a:lnTo>
                  <a:pt x="1282700" y="0"/>
                </a:lnTo>
                <a:cubicBezTo>
                  <a:pt x="1331786" y="0"/>
                  <a:pt x="1371600" y="39814"/>
                  <a:pt x="1371600" y="88900"/>
                </a:cubicBezTo>
                <a:lnTo>
                  <a:pt x="1371600" y="228600"/>
                </a:lnTo>
                <a:cubicBezTo>
                  <a:pt x="1371600" y="277686"/>
                  <a:pt x="1331786" y="317500"/>
                  <a:pt x="1282700" y="317500"/>
                </a:cubicBezTo>
                <a:lnTo>
                  <a:pt x="88900" y="317500"/>
                </a:lnTo>
                <a:cubicBezTo>
                  <a:pt x="39815" y="317500"/>
                  <a:pt x="0" y="277686"/>
                  <a:pt x="0" y="2286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FFFF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p-itt2"/>
          <p:cNvSpPr txBox="1"/>
          <p:nvPr/>
        </p:nvSpPr>
        <p:spPr>
          <a:xfrm>
            <a:off x="1384046" y="3143282"/>
            <a:ext cx="79108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移动报工 App</a:t>
            </a:r>
          </a:p>
        </p:txBody>
      </p:sp>
      <p:sp>
        <p:nvSpPr>
          <p:cNvPr id="21" name="p-it3"/>
          <p:cNvSpPr/>
          <p:nvPr/>
        </p:nvSpPr>
        <p:spPr>
          <a:xfrm>
            <a:off x="1270000" y="3492500"/>
            <a:ext cx="1371600" cy="317500"/>
          </a:xfrm>
          <a:custGeom>
            <a:avLst/>
            <a:gdLst/>
            <a:ahLst/>
            <a:cxnLst/>
            <a:rect l="0" t="0" r="r" b="b"/>
            <a:pathLst>
              <a:path w="1371600" h="317500">
                <a:moveTo>
                  <a:pt x="88900" y="0"/>
                </a:moveTo>
                <a:lnTo>
                  <a:pt x="1282700" y="0"/>
                </a:lnTo>
                <a:cubicBezTo>
                  <a:pt x="1331786" y="0"/>
                  <a:pt x="1371600" y="39814"/>
                  <a:pt x="1371600" y="88900"/>
                </a:cubicBezTo>
                <a:lnTo>
                  <a:pt x="1371600" y="228600"/>
                </a:lnTo>
                <a:cubicBezTo>
                  <a:pt x="1371600" y="277686"/>
                  <a:pt x="1331786" y="317500"/>
                  <a:pt x="1282700" y="317500"/>
                </a:cubicBezTo>
                <a:lnTo>
                  <a:pt x="88900" y="317500"/>
                </a:lnTo>
                <a:cubicBezTo>
                  <a:pt x="39815" y="317500"/>
                  <a:pt x="0" y="277686"/>
                  <a:pt x="0" y="2286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FFFF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p-itt3"/>
          <p:cNvSpPr txBox="1"/>
          <p:nvPr/>
        </p:nvSpPr>
        <p:spPr>
          <a:xfrm>
            <a:off x="1384046" y="3562382"/>
            <a:ext cx="87058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实施与培训服务</a:t>
            </a:r>
          </a:p>
        </p:txBody>
      </p:sp>
      <p:sp>
        <p:nvSpPr>
          <p:cNvPr id="23" name="icon-grow"/>
          <p:cNvSpPr/>
          <p:nvPr/>
        </p:nvSpPr>
        <p:spPr>
          <a:xfrm>
            <a:off x="3142615" y="1878838"/>
            <a:ext cx="103188" cy="64706"/>
          </a:xfrm>
          <a:custGeom>
            <a:avLst/>
            <a:gdLst/>
            <a:ahLst/>
            <a:cxnLst/>
            <a:rect l="0" t="0" r="r" b="b"/>
            <a:pathLst>
              <a:path w="103188" h="64706">
                <a:moveTo>
                  <a:pt x="0" y="64706"/>
                </a:moveTo>
                <a:lnTo>
                  <a:pt x="34417" y="27559"/>
                </a:lnTo>
                <a:lnTo>
                  <a:pt x="59182" y="48197"/>
                </a:lnTo>
                <a:lnTo>
                  <a:pt x="100457" y="0"/>
                </a:lnTo>
                <a:moveTo>
                  <a:pt x="83947" y="0"/>
                </a:moveTo>
                <a:lnTo>
                  <a:pt x="103188" y="0"/>
                </a:lnTo>
                <a:lnTo>
                  <a:pt x="103188" y="19304"/>
                </a:lnTo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p-h1"/>
          <p:cNvSpPr txBox="1"/>
          <p:nvPr/>
        </p:nvSpPr>
        <p:spPr>
          <a:xfrm>
            <a:off x="3362198" y="1791113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收益创造</a:t>
            </a:r>
          </a:p>
        </p:txBody>
      </p:sp>
      <p:sp>
        <p:nvSpPr>
          <p:cNvPr id="25" name="p-i1-d1"/>
          <p:cNvSpPr/>
          <p:nvPr/>
        </p:nvSpPr>
        <p:spPr>
          <a:xfrm>
            <a:off x="3133725" y="2270125"/>
            <a:ext cx="57150" cy="5715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p-i1-t1"/>
          <p:cNvSpPr txBox="1"/>
          <p:nvPr/>
        </p:nvSpPr>
        <p:spPr>
          <a:xfrm>
            <a:off x="3236722" y="2187797"/>
            <a:ext cx="1121791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交付周期缩短 30%</a:t>
            </a:r>
          </a:p>
        </p:txBody>
      </p:sp>
      <p:sp>
        <p:nvSpPr>
          <p:cNvPr id="27" name="p-i1-d2"/>
          <p:cNvSpPr/>
          <p:nvPr/>
        </p:nvSpPr>
        <p:spPr>
          <a:xfrm>
            <a:off x="3133725" y="2524125"/>
            <a:ext cx="57150" cy="5715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p-i1-t2"/>
          <p:cNvSpPr txBox="1"/>
          <p:nvPr/>
        </p:nvSpPr>
        <p:spPr>
          <a:xfrm>
            <a:off x="3236722" y="2441797"/>
            <a:ext cx="966470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管理层实时看板</a:t>
            </a:r>
          </a:p>
        </p:txBody>
      </p:sp>
      <p:cxnSp>
        <p:nvCxnSpPr>
          <p:cNvPr id="29" name="p-sep1"/>
          <p:cNvCxnSpPr/>
          <p:nvPr/>
        </p:nvCxnSpPr>
        <p:spPr>
          <a:xfrm>
            <a:off x="3124200" y="2933700"/>
            <a:ext cx="15494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p-mh1"/>
          <p:cNvSpPr txBox="1"/>
          <p:nvPr/>
        </p:nvSpPr>
        <p:spPr>
          <a:xfrm>
            <a:off x="3113532" y="3065208"/>
            <a:ext cx="4737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75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对应客户</a:t>
            </a:r>
          </a:p>
        </p:txBody>
      </p:sp>
      <p:sp>
        <p:nvSpPr>
          <p:cNvPr id="31" name="p-mt1"/>
          <p:cNvSpPr txBox="1"/>
          <p:nvPr/>
        </p:nvSpPr>
        <p:spPr>
          <a:xfrm>
            <a:off x="3608832" y="3065208"/>
            <a:ext cx="114312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准时率提升 · 随时看进度</a:t>
            </a:r>
          </a:p>
        </p:txBody>
      </p:sp>
      <p:sp>
        <p:nvSpPr>
          <p:cNvPr id="32" name="icon-shield"/>
          <p:cNvSpPr/>
          <p:nvPr/>
        </p:nvSpPr>
        <p:spPr>
          <a:xfrm>
            <a:off x="3150870" y="3788918"/>
            <a:ext cx="99060" cy="118364"/>
          </a:xfrm>
          <a:custGeom>
            <a:avLst/>
            <a:gdLst/>
            <a:ahLst/>
            <a:cxnLst/>
            <a:rect l="0" t="0" r="r" b="b"/>
            <a:pathLst>
              <a:path w="99060" h="118364">
                <a:moveTo>
                  <a:pt x="49530" y="0"/>
                </a:moveTo>
                <a:lnTo>
                  <a:pt x="99060" y="19304"/>
                </a:lnTo>
                <a:lnTo>
                  <a:pt x="99060" y="57785"/>
                </a:lnTo>
                <a:cubicBezTo>
                  <a:pt x="99060" y="86678"/>
                  <a:pt x="78423" y="108712"/>
                  <a:pt x="49530" y="118364"/>
                </a:cubicBezTo>
                <a:cubicBezTo>
                  <a:pt x="20638" y="108712"/>
                  <a:pt x="0" y="86678"/>
                  <a:pt x="0" y="57785"/>
                </a:cubicBezTo>
                <a:lnTo>
                  <a:pt x="0" y="19304"/>
                </a:lnTo>
                <a:close/>
                <a:moveTo>
                  <a:pt x="28893" y="59182"/>
                </a:moveTo>
                <a:lnTo>
                  <a:pt x="44006" y="74295"/>
                </a:lnTo>
                <a:lnTo>
                  <a:pt x="72898" y="45403"/>
                </a:lnTo>
              </a:path>
            </a:pathLst>
          </a:custGeom>
          <a:noFill/>
          <a:ln w="1270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p-h2"/>
          <p:cNvSpPr txBox="1"/>
          <p:nvPr/>
        </p:nvSpPr>
        <p:spPr>
          <a:xfrm>
            <a:off x="3362198" y="3734213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痛点缓解</a:t>
            </a:r>
          </a:p>
        </p:txBody>
      </p:sp>
      <p:sp>
        <p:nvSpPr>
          <p:cNvPr id="34" name="p-i2-d1"/>
          <p:cNvSpPr/>
          <p:nvPr/>
        </p:nvSpPr>
        <p:spPr>
          <a:xfrm>
            <a:off x="3133725" y="4213225"/>
            <a:ext cx="57150" cy="5715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p-i2-t1"/>
          <p:cNvSpPr txBox="1"/>
          <p:nvPr/>
        </p:nvSpPr>
        <p:spPr>
          <a:xfrm>
            <a:off x="3236722" y="4130897"/>
            <a:ext cx="1085088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告别 Excel 排产</a:t>
            </a:r>
          </a:p>
        </p:txBody>
      </p:sp>
      <p:sp>
        <p:nvSpPr>
          <p:cNvPr id="36" name="p-i2-d2"/>
          <p:cNvSpPr/>
          <p:nvPr/>
        </p:nvSpPr>
        <p:spPr>
          <a:xfrm>
            <a:off x="3133725" y="4467225"/>
            <a:ext cx="57150" cy="5715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p-i2-t2"/>
          <p:cNvSpPr txBox="1"/>
          <p:nvPr/>
        </p:nvSpPr>
        <p:spPr>
          <a:xfrm>
            <a:off x="3236722" y="4384897"/>
            <a:ext cx="108902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插单不再全线停工</a:t>
            </a:r>
          </a:p>
        </p:txBody>
      </p:sp>
      <p:cxnSp>
        <p:nvCxnSpPr>
          <p:cNvPr id="38" name="p-sep2"/>
          <p:cNvCxnSpPr/>
          <p:nvPr/>
        </p:nvCxnSpPr>
        <p:spPr>
          <a:xfrm>
            <a:off x="3124200" y="4876800"/>
            <a:ext cx="15494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p-mh2"/>
          <p:cNvSpPr txBox="1"/>
          <p:nvPr/>
        </p:nvSpPr>
        <p:spPr>
          <a:xfrm>
            <a:off x="3113532" y="5008308"/>
            <a:ext cx="4737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7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对应客户</a:t>
            </a:r>
          </a:p>
        </p:txBody>
      </p:sp>
      <p:sp>
        <p:nvSpPr>
          <p:cNvPr id="40" name="p-mt2"/>
          <p:cNvSpPr txBox="1"/>
          <p:nvPr/>
        </p:nvSpPr>
        <p:spPr>
          <a:xfrm>
            <a:off x="3608832" y="5008308"/>
            <a:ext cx="123393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排产靠经验 · 插单打乱计划</a:t>
            </a:r>
          </a:p>
        </p:txBody>
      </p:sp>
      <p:sp>
        <p:nvSpPr>
          <p:cNvPr id="41" name="p-st-v1"/>
          <p:cNvSpPr txBox="1"/>
          <p:nvPr/>
        </p:nvSpPr>
        <p:spPr>
          <a:xfrm>
            <a:off x="1269492" y="4178364"/>
            <a:ext cx="661543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2 周</a:t>
            </a:r>
          </a:p>
        </p:txBody>
      </p:sp>
      <p:sp>
        <p:nvSpPr>
          <p:cNvPr id="42" name="p-st-l1"/>
          <p:cNvSpPr txBox="1"/>
          <p:nvPr/>
        </p:nvSpPr>
        <p:spPr>
          <a:xfrm>
            <a:off x="1283970" y="4517866"/>
            <a:ext cx="4921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5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平均上线</a:t>
            </a:r>
          </a:p>
        </p:txBody>
      </p:sp>
      <p:sp>
        <p:nvSpPr>
          <p:cNvPr id="43" name="p-st-v2"/>
          <p:cNvSpPr txBox="1"/>
          <p:nvPr/>
        </p:nvSpPr>
        <p:spPr>
          <a:xfrm>
            <a:off x="1269492" y="4711764"/>
            <a:ext cx="909701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320 家</a:t>
            </a:r>
          </a:p>
        </p:txBody>
      </p:sp>
      <p:sp>
        <p:nvSpPr>
          <p:cNvPr id="44" name="p-st-l2"/>
          <p:cNvSpPr txBox="1"/>
          <p:nvPr/>
        </p:nvSpPr>
        <p:spPr>
          <a:xfrm>
            <a:off x="1283970" y="5051266"/>
            <a:ext cx="5937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5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已服务工厂</a:t>
            </a:r>
          </a:p>
        </p:txBody>
      </p:sp>
      <p:sp>
        <p:nvSpPr>
          <p:cNvPr id="45" name="p-cap"/>
          <p:cNvSpPr txBox="1"/>
          <p:nvPr/>
        </p:nvSpPr>
        <p:spPr>
          <a:xfrm>
            <a:off x="1065022" y="5527897"/>
            <a:ext cx="9467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我们提供什么</a:t>
            </a:r>
          </a:p>
        </p:txBody>
      </p:sp>
      <p:sp>
        <p:nvSpPr>
          <p:cNvPr id="46" name="c-1"/>
          <p:cNvSpPr/>
          <p:nvPr/>
        </p:nvSpPr>
        <p:spPr>
          <a:xfrm>
            <a:off x="8502650" y="1842706"/>
            <a:ext cx="1905000" cy="3299587"/>
          </a:xfrm>
          <a:custGeom>
            <a:avLst/>
            <a:gdLst/>
            <a:ahLst/>
            <a:cxnLst/>
            <a:rect l="0" t="0" r="r" b="b"/>
            <a:pathLst>
              <a:path w="1905000" h="3299587">
                <a:moveTo>
                  <a:pt x="0" y="1649794"/>
                </a:moveTo>
                <a:lnTo>
                  <a:pt x="952500" y="0"/>
                </a:lnTo>
                <a:cubicBezTo>
                  <a:pt x="1541907" y="340296"/>
                  <a:pt x="1905000" y="969200"/>
                  <a:pt x="1905000" y="1649794"/>
                </a:cubicBezTo>
                <a:cubicBezTo>
                  <a:pt x="1905000" y="2330386"/>
                  <a:pt x="1541907" y="2959290"/>
                  <a:pt x="952500" y="3299587"/>
                </a:cubicBezTo>
                <a:close/>
              </a:path>
            </a:pathLst>
          </a:custGeom>
          <a:gradFill rotWithShape="1">
            <a:gsLst>
              <a:gs pos="0">
                <a:srgbClr val="3667AB"/>
              </a:gs>
              <a:gs pos="100000">
                <a:srgbClr val="134C9C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icon-target"/>
          <p:cNvSpPr/>
          <p:nvPr/>
        </p:nvSpPr>
        <p:spPr>
          <a:xfrm>
            <a:off x="9512300" y="2984310"/>
            <a:ext cx="48895" cy="63690"/>
          </a:xfrm>
          <a:custGeom>
            <a:avLst/>
            <a:gdLst/>
            <a:ahLst/>
            <a:cxnLst/>
            <a:rect l="0" t="0" r="r" b="b"/>
            <a:pathLst>
              <a:path w="48895" h="63690">
                <a:moveTo>
                  <a:pt x="0" y="37020"/>
                </a:moveTo>
                <a:lnTo>
                  <a:pt x="0" y="0"/>
                </a:lnTo>
                <a:moveTo>
                  <a:pt x="0" y="63690"/>
                </a:moveTo>
                <a:lnTo>
                  <a:pt x="48895" y="14795"/>
                </a:lnTo>
              </a:path>
            </a:pathLst>
          </a:custGeom>
          <a:noFill/>
          <a:ln w="1333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icon-target"/>
          <p:cNvSpPr/>
          <p:nvPr/>
        </p:nvSpPr>
        <p:spPr>
          <a:xfrm>
            <a:off x="9448588" y="2984288"/>
            <a:ext cx="127423" cy="127423"/>
          </a:xfrm>
          <a:prstGeom prst="ellipse">
            <a:avLst/>
          </a:prstGeom>
          <a:noFill/>
          <a:ln w="1333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icon-target"/>
          <p:cNvSpPr/>
          <p:nvPr/>
        </p:nvSpPr>
        <p:spPr>
          <a:xfrm>
            <a:off x="9479703" y="3015403"/>
            <a:ext cx="65193" cy="65193"/>
          </a:xfrm>
          <a:prstGeom prst="ellipse">
            <a:avLst/>
          </a:prstGeom>
          <a:noFill/>
          <a:ln w="1333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c-h1"/>
          <p:cNvSpPr txBox="1"/>
          <p:nvPr/>
        </p:nvSpPr>
        <p:spPr>
          <a:xfrm>
            <a:off x="9160192" y="3175413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客户任务</a:t>
            </a:r>
          </a:p>
        </p:txBody>
      </p:sp>
      <p:sp>
        <p:nvSpPr>
          <p:cNvPr id="51" name="c-i1-t1"/>
          <p:cNvSpPr txBox="1"/>
          <p:nvPr/>
        </p:nvSpPr>
        <p:spPr>
          <a:xfrm>
            <a:off x="9156065" y="3443224"/>
            <a:ext cx="71247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按时交付订单</a:t>
            </a:r>
          </a:p>
        </p:txBody>
      </p:sp>
      <p:sp>
        <p:nvSpPr>
          <p:cNvPr id="52" name="c-i1-t2"/>
          <p:cNvSpPr txBox="1"/>
          <p:nvPr/>
        </p:nvSpPr>
        <p:spPr>
          <a:xfrm>
            <a:off x="9156065" y="3621024"/>
            <a:ext cx="71247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控制生产成本</a:t>
            </a:r>
          </a:p>
        </p:txBody>
      </p:sp>
      <p:sp>
        <p:nvSpPr>
          <p:cNvPr id="53" name="c-i1-t3"/>
          <p:cNvSpPr txBox="1"/>
          <p:nvPr/>
        </p:nvSpPr>
        <p:spPr>
          <a:xfrm>
            <a:off x="9156065" y="3798824"/>
            <a:ext cx="71247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应对临时插单</a:t>
            </a:r>
          </a:p>
        </p:txBody>
      </p:sp>
      <p:sp>
        <p:nvSpPr>
          <p:cNvPr id="54" name="c-2"/>
          <p:cNvSpPr/>
          <p:nvPr/>
        </p:nvSpPr>
        <p:spPr>
          <a:xfrm>
            <a:off x="6511925" y="1538018"/>
            <a:ext cx="2857500" cy="1905016"/>
          </a:xfrm>
          <a:custGeom>
            <a:avLst/>
            <a:gdLst/>
            <a:ahLst/>
            <a:cxnLst/>
            <a:rect l="0" t="0" r="r" b="b"/>
            <a:pathLst>
              <a:path w="2857500" h="1905016">
                <a:moveTo>
                  <a:pt x="1905000" y="1905016"/>
                </a:moveTo>
                <a:lnTo>
                  <a:pt x="0" y="1905016"/>
                </a:lnTo>
                <a:cubicBezTo>
                  <a:pt x="0" y="1224423"/>
                  <a:pt x="363093" y="595519"/>
                  <a:pt x="952500" y="255222"/>
                </a:cubicBezTo>
                <a:cubicBezTo>
                  <a:pt x="1541907" y="-85074"/>
                  <a:pt x="2268093" y="-85074"/>
                  <a:pt x="2857500" y="255222"/>
                </a:cubicBezTo>
                <a:close/>
              </a:path>
            </a:pathLst>
          </a:custGeom>
          <a:gradFill rotWithShape="1">
            <a:gsLst>
              <a:gs pos="0">
                <a:srgbClr val="4D8BCB"/>
              </a:gs>
              <a:gs pos="100000">
                <a:srgbClr val="2E77C2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icon-star"/>
          <p:cNvSpPr/>
          <p:nvPr/>
        </p:nvSpPr>
        <p:spPr>
          <a:xfrm>
            <a:off x="7849108" y="2061908"/>
            <a:ext cx="125984" cy="120015"/>
          </a:xfrm>
          <a:custGeom>
            <a:avLst/>
            <a:gdLst/>
            <a:ahLst/>
            <a:cxnLst/>
            <a:rect l="0" t="0" r="r" b="b"/>
            <a:pathLst>
              <a:path w="125984" h="120015">
                <a:moveTo>
                  <a:pt x="62992" y="0"/>
                </a:moveTo>
                <a:lnTo>
                  <a:pt x="82233" y="40005"/>
                </a:lnTo>
                <a:lnTo>
                  <a:pt x="125984" y="45911"/>
                </a:lnTo>
                <a:lnTo>
                  <a:pt x="94107" y="76264"/>
                </a:lnTo>
                <a:lnTo>
                  <a:pt x="102235" y="120015"/>
                </a:lnTo>
                <a:lnTo>
                  <a:pt x="62992" y="98489"/>
                </a:lnTo>
                <a:lnTo>
                  <a:pt x="23749" y="120015"/>
                </a:lnTo>
                <a:lnTo>
                  <a:pt x="31877" y="76264"/>
                </a:lnTo>
                <a:lnTo>
                  <a:pt x="0" y="45911"/>
                </a:lnTo>
                <a:lnTo>
                  <a:pt x="43752" y="40005"/>
                </a:lnTo>
                <a:close/>
              </a:path>
            </a:pathLst>
          </a:custGeom>
          <a:noFill/>
          <a:ln w="1333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c-h2"/>
          <p:cNvSpPr txBox="1"/>
          <p:nvPr/>
        </p:nvSpPr>
        <p:spPr>
          <a:xfrm>
            <a:off x="7559992" y="2251537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期望收益</a:t>
            </a:r>
          </a:p>
        </p:txBody>
      </p:sp>
      <p:sp>
        <p:nvSpPr>
          <p:cNvPr id="57" name="c-i2-t1"/>
          <p:cNvSpPr txBox="1"/>
          <p:nvPr/>
        </p:nvSpPr>
        <p:spPr>
          <a:xfrm>
            <a:off x="7607618" y="2519348"/>
            <a:ext cx="608965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准时率提升</a:t>
            </a:r>
          </a:p>
        </p:txBody>
      </p:sp>
      <p:sp>
        <p:nvSpPr>
          <p:cNvPr id="58" name="c-i2-t2"/>
          <p:cNvSpPr txBox="1"/>
          <p:nvPr/>
        </p:nvSpPr>
        <p:spPr>
          <a:xfrm>
            <a:off x="7555865" y="2697148"/>
            <a:ext cx="71247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随时看到进度</a:t>
            </a:r>
          </a:p>
        </p:txBody>
      </p:sp>
      <p:sp>
        <p:nvSpPr>
          <p:cNvPr id="59" name="c-3"/>
          <p:cNvSpPr/>
          <p:nvPr/>
        </p:nvSpPr>
        <p:spPr>
          <a:xfrm>
            <a:off x="6511925" y="3541966"/>
            <a:ext cx="2857500" cy="1905016"/>
          </a:xfrm>
          <a:custGeom>
            <a:avLst/>
            <a:gdLst/>
            <a:ahLst/>
            <a:cxnLst/>
            <a:rect l="0" t="0" r="r" b="b"/>
            <a:pathLst>
              <a:path w="2857500" h="1905016">
                <a:moveTo>
                  <a:pt x="1905000" y="0"/>
                </a:moveTo>
                <a:lnTo>
                  <a:pt x="2857500" y="1649794"/>
                </a:lnTo>
                <a:cubicBezTo>
                  <a:pt x="2268093" y="1990090"/>
                  <a:pt x="1541907" y="1990090"/>
                  <a:pt x="952500" y="1649794"/>
                </a:cubicBezTo>
                <a:cubicBezTo>
                  <a:pt x="363093" y="1309497"/>
                  <a:pt x="0" y="680593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E58558"/>
              </a:gs>
              <a:gs pos="100000">
                <a:srgbClr val="E0703A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icon-search"/>
          <p:cNvSpPr/>
          <p:nvPr/>
        </p:nvSpPr>
        <p:spPr>
          <a:xfrm>
            <a:off x="7937310" y="3997071"/>
            <a:ext cx="29591" cy="29654"/>
          </a:xfrm>
          <a:custGeom>
            <a:avLst/>
            <a:gdLst/>
            <a:ahLst/>
            <a:cxnLst/>
            <a:rect l="0" t="0" r="r" b="b"/>
            <a:pathLst>
              <a:path w="29591" h="29654">
                <a:moveTo>
                  <a:pt x="29591" y="29654"/>
                </a:moveTo>
                <a:lnTo>
                  <a:pt x="0" y="0"/>
                </a:lnTo>
              </a:path>
            </a:pathLst>
          </a:custGeom>
          <a:noFill/>
          <a:ln w="1333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icon-search"/>
          <p:cNvSpPr/>
          <p:nvPr/>
        </p:nvSpPr>
        <p:spPr>
          <a:xfrm>
            <a:off x="7857278" y="3917054"/>
            <a:ext cx="94827" cy="94827"/>
          </a:xfrm>
          <a:prstGeom prst="ellipse">
            <a:avLst/>
          </a:prstGeom>
          <a:noFill/>
          <a:ln w="1333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c-h3"/>
          <p:cNvSpPr txBox="1"/>
          <p:nvPr/>
        </p:nvSpPr>
        <p:spPr>
          <a:xfrm>
            <a:off x="7559992" y="4099289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主要痛点</a:t>
            </a:r>
          </a:p>
        </p:txBody>
      </p:sp>
      <p:sp>
        <p:nvSpPr>
          <p:cNvPr id="63" name="c-i3-t1"/>
          <p:cNvSpPr txBox="1"/>
          <p:nvPr/>
        </p:nvSpPr>
        <p:spPr>
          <a:xfrm>
            <a:off x="7555865" y="4367100"/>
            <a:ext cx="71247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排产全靠经验</a:t>
            </a:r>
          </a:p>
        </p:txBody>
      </p:sp>
      <p:sp>
        <p:nvSpPr>
          <p:cNvPr id="64" name="c-i3-t2"/>
          <p:cNvSpPr txBox="1"/>
          <p:nvPr/>
        </p:nvSpPr>
        <p:spPr>
          <a:xfrm>
            <a:off x="7555865" y="4544900"/>
            <a:ext cx="71247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插单打乱计划</a:t>
            </a:r>
          </a:p>
        </p:txBody>
      </p:sp>
      <p:sp>
        <p:nvSpPr>
          <p:cNvPr id="65" name="c-cap"/>
          <p:cNvSpPr txBox="1"/>
          <p:nvPr/>
        </p:nvSpPr>
        <p:spPr>
          <a:xfrm>
            <a:off x="7972108" y="5527897"/>
            <a:ext cx="9467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客户需要什么</a:t>
            </a:r>
          </a:p>
        </p:txBody>
      </p:sp>
      <p:sp>
        <p:nvSpPr>
          <p:cNvPr id="66" name="m-1"/>
          <p:cNvSpPr/>
          <p:nvPr/>
        </p:nvSpPr>
        <p:spPr>
          <a:xfrm>
            <a:off x="4991100" y="2540000"/>
            <a:ext cx="1866900" cy="3175"/>
          </a:xfrm>
          <a:custGeom>
            <a:avLst/>
            <a:gdLst/>
            <a:ahLst/>
            <a:cxnLst/>
            <a:rect l="0" t="0" r="r" b="b"/>
            <a:pathLst>
              <a:path w="1866900" h="3175">
                <a:moveTo>
                  <a:pt x="0" y="0"/>
                </a:moveTo>
                <a:cubicBezTo>
                  <a:pt x="933450" y="0"/>
                  <a:pt x="933450" y="0"/>
                  <a:pt x="1866900" y="0"/>
                </a:cubicBezTo>
              </a:path>
            </a:pathLst>
          </a:custGeom>
          <a:noFill/>
          <a:ln w="19050" cap="rnd">
            <a:solidFill>
              <a:srgbClr val="2E77C2"/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m-a1"/>
          <p:cNvSpPr/>
          <p:nvPr/>
        </p:nvSpPr>
        <p:spPr>
          <a:xfrm>
            <a:off x="4953000" y="2501900"/>
            <a:ext cx="76200" cy="762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m-b1"/>
          <p:cNvSpPr/>
          <p:nvPr/>
        </p:nvSpPr>
        <p:spPr>
          <a:xfrm>
            <a:off x="6819900" y="2501900"/>
            <a:ext cx="76200" cy="762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m-t1"/>
          <p:cNvSpPr/>
          <p:nvPr/>
        </p:nvSpPr>
        <p:spPr>
          <a:xfrm>
            <a:off x="5480050" y="2432050"/>
            <a:ext cx="889000" cy="215900"/>
          </a:xfrm>
          <a:custGeom>
            <a:avLst/>
            <a:gdLst/>
            <a:ahLst/>
            <a:cxnLst/>
            <a:rect l="0" t="0" r="r" b="b"/>
            <a:pathLst>
              <a:path w="889000" h="215900">
                <a:moveTo>
                  <a:pt x="107950" y="0"/>
                </a:moveTo>
                <a:lnTo>
                  <a:pt x="781050" y="0"/>
                </a:lnTo>
                <a:cubicBezTo>
                  <a:pt x="840676" y="0"/>
                  <a:pt x="889000" y="48324"/>
                  <a:pt x="889000" y="107950"/>
                </a:cubicBezTo>
                <a:lnTo>
                  <a:pt x="889000" y="107950"/>
                </a:lnTo>
                <a:cubicBezTo>
                  <a:pt x="889000" y="167576"/>
                  <a:pt x="840676" y="215900"/>
                  <a:pt x="781050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FFFFFF"/>
          </a:solidFill>
          <a:ln w="9525" cap="rnd">
            <a:solidFill>
              <a:srgbClr val="2E77C2">
                <a:alpha val="5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m-tt1"/>
          <p:cNvSpPr txBox="1"/>
          <p:nvPr/>
        </p:nvSpPr>
        <p:spPr>
          <a:xfrm>
            <a:off x="5597366" y="2464387"/>
            <a:ext cx="65436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25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对应期望收益</a:t>
            </a:r>
          </a:p>
        </p:txBody>
      </p:sp>
      <p:sp>
        <p:nvSpPr>
          <p:cNvPr id="71" name="m-2"/>
          <p:cNvSpPr/>
          <p:nvPr/>
        </p:nvSpPr>
        <p:spPr>
          <a:xfrm>
            <a:off x="4991100" y="4445000"/>
            <a:ext cx="1866900" cy="3175"/>
          </a:xfrm>
          <a:custGeom>
            <a:avLst/>
            <a:gdLst/>
            <a:ahLst/>
            <a:cxnLst/>
            <a:rect l="0" t="0" r="r" b="b"/>
            <a:pathLst>
              <a:path w="1866900" h="3175">
                <a:moveTo>
                  <a:pt x="0" y="0"/>
                </a:moveTo>
                <a:cubicBezTo>
                  <a:pt x="933450" y="0"/>
                  <a:pt x="933450" y="0"/>
                  <a:pt x="1866900" y="0"/>
                </a:cubicBezTo>
              </a:path>
            </a:pathLst>
          </a:custGeom>
          <a:noFill/>
          <a:ln w="19050" cap="rnd">
            <a:solidFill>
              <a:srgbClr val="E0703A"/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m-a2"/>
          <p:cNvSpPr/>
          <p:nvPr/>
        </p:nvSpPr>
        <p:spPr>
          <a:xfrm>
            <a:off x="4953000" y="4406900"/>
            <a:ext cx="76200" cy="762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m-b2"/>
          <p:cNvSpPr/>
          <p:nvPr/>
        </p:nvSpPr>
        <p:spPr>
          <a:xfrm>
            <a:off x="6819900" y="4406900"/>
            <a:ext cx="76200" cy="762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m-t2"/>
          <p:cNvSpPr/>
          <p:nvPr/>
        </p:nvSpPr>
        <p:spPr>
          <a:xfrm>
            <a:off x="5480050" y="4337050"/>
            <a:ext cx="889000" cy="215900"/>
          </a:xfrm>
          <a:custGeom>
            <a:avLst/>
            <a:gdLst/>
            <a:ahLst/>
            <a:cxnLst/>
            <a:rect l="0" t="0" r="r" b="b"/>
            <a:pathLst>
              <a:path w="889000" h="215900">
                <a:moveTo>
                  <a:pt x="107950" y="0"/>
                </a:moveTo>
                <a:lnTo>
                  <a:pt x="781050" y="0"/>
                </a:lnTo>
                <a:cubicBezTo>
                  <a:pt x="840676" y="0"/>
                  <a:pt x="889000" y="48324"/>
                  <a:pt x="889000" y="107950"/>
                </a:cubicBezTo>
                <a:lnTo>
                  <a:pt x="889000" y="107950"/>
                </a:lnTo>
                <a:cubicBezTo>
                  <a:pt x="889000" y="167576"/>
                  <a:pt x="840676" y="215900"/>
                  <a:pt x="781050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FFFFFF"/>
          </a:solidFill>
          <a:ln w="9525" cap="rnd">
            <a:solidFill>
              <a:srgbClr val="E0703A">
                <a:alpha val="5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m-tt2"/>
          <p:cNvSpPr txBox="1"/>
          <p:nvPr/>
        </p:nvSpPr>
        <p:spPr>
          <a:xfrm>
            <a:off x="5597366" y="4369387"/>
            <a:ext cx="65436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2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对应主要痛点</a:t>
            </a:r>
          </a:p>
        </p:txBody>
      </p:sp>
      <p:cxnSp>
        <p:nvCxnSpPr>
          <p:cNvPr id="76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7" name="foot-l"/>
          <p:cNvSpPr txBox="1"/>
          <p:nvPr/>
        </p:nvSpPr>
        <p:spPr>
          <a:xfrm>
            <a:off x="573532" y="6532308"/>
            <a:ext cx="142011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价值主张画布 · 产品 × 客户</a:t>
            </a:r>
          </a:p>
        </p:txBody>
      </p:sp>
      <p:sp>
        <p:nvSpPr>
          <p:cNvPr id="78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14706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增长飞轮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44589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GROWTH FLYWHEEL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7960995" y="673132"/>
            <a:ext cx="36597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五个环节首尾相接，每转一圈，下一圈就更轻松——关键是先让它转起来</a:t>
            </a:r>
          </a:p>
        </p:txBody>
      </p:sp>
      <p:sp>
        <p:nvSpPr>
          <p:cNvPr id="10" name="halo"/>
          <p:cNvSpPr/>
          <p:nvPr/>
        </p:nvSpPr>
        <p:spPr>
          <a:xfrm>
            <a:off x="2794000" y="1714500"/>
            <a:ext cx="4064000" cy="4064000"/>
          </a:xfrm>
          <a:prstGeom prst="ellipse">
            <a:avLst/>
          </a:prstGeom>
          <a:solidFill>
            <a:srgbClr val="DCE7F6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seg-1"/>
          <p:cNvSpPr/>
          <p:nvPr/>
        </p:nvSpPr>
        <p:spPr>
          <a:xfrm>
            <a:off x="4891965" y="1911167"/>
            <a:ext cx="1555539" cy="1282493"/>
          </a:xfrm>
          <a:custGeom>
            <a:avLst/>
            <a:gdLst/>
            <a:ahLst/>
            <a:cxnLst/>
            <a:rect l="0" t="0" r="r" b="b"/>
            <a:pathLst>
              <a:path w="1555539" h="1282493">
                <a:moveTo>
                  <a:pt x="87451" y="246"/>
                </a:moveTo>
                <a:cubicBezTo>
                  <a:pt x="666283" y="48638"/>
                  <a:pt x="1188354" y="367290"/>
                  <a:pt x="1496008" y="859973"/>
                </a:cubicBezTo>
                <a:lnTo>
                  <a:pt x="1539125" y="833049"/>
                </a:lnTo>
                <a:quadBezTo>
                  <a:pt x="1571446" y="812919"/>
                  <a:pt x="1540141" y="882388"/>
                </a:quadBezTo>
                <a:lnTo>
                  <a:pt x="1388122" y="1219700"/>
                </a:lnTo>
                <a:quadBezTo>
                  <a:pt x="1356816" y="1289169"/>
                  <a:pt x="1280934" y="1281867"/>
                </a:quadBezTo>
                <a:lnTo>
                  <a:pt x="957846" y="1250688"/>
                </a:lnTo>
                <a:quadBezTo>
                  <a:pt x="882027" y="1243386"/>
                  <a:pt x="914348" y="1223193"/>
                </a:quadBezTo>
                <a:lnTo>
                  <a:pt x="957401" y="1196332"/>
                </a:lnTo>
                <a:cubicBezTo>
                  <a:pt x="759519" y="879393"/>
                  <a:pt x="425960" y="672021"/>
                  <a:pt x="54177" y="634802"/>
                </a:cubicBezTo>
                <a:quadBezTo>
                  <a:pt x="-2846" y="630484"/>
                  <a:pt x="139" y="573397"/>
                </a:quadBezTo>
                <a:lnTo>
                  <a:pt x="27444" y="53459"/>
                </a:lnTo>
                <a:quadBezTo>
                  <a:pt x="30428" y="-3627"/>
                  <a:pt x="87451" y="246"/>
                </a:quadBezTo>
                <a:close/>
              </a:path>
            </a:pathLst>
          </a:custGeom>
          <a:gradFill rotWithShape="1">
            <a:gsLst>
              <a:gs pos="0">
                <a:srgbClr val="3667AB"/>
              </a:gs>
              <a:gs pos="100000">
                <a:srgbClr val="134C9C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icon-fin"/>
          <p:cNvSpPr/>
          <p:nvPr/>
        </p:nvSpPr>
        <p:spPr>
          <a:xfrm>
            <a:off x="5604256" y="2293556"/>
            <a:ext cx="60516" cy="93536"/>
          </a:xfrm>
          <a:custGeom>
            <a:avLst/>
            <a:gdLst/>
            <a:ahLst/>
            <a:cxnLst/>
            <a:rect l="0" t="0" r="r" b="b"/>
            <a:pathLst>
              <a:path w="60516" h="93536">
                <a:moveTo>
                  <a:pt x="30226" y="55055"/>
                </a:moveTo>
                <a:lnTo>
                  <a:pt x="30226" y="93536"/>
                </a:lnTo>
                <a:moveTo>
                  <a:pt x="6858" y="55055"/>
                </a:moveTo>
                <a:lnTo>
                  <a:pt x="53658" y="55055"/>
                </a:lnTo>
                <a:moveTo>
                  <a:pt x="6858" y="75692"/>
                </a:moveTo>
                <a:lnTo>
                  <a:pt x="53658" y="75692"/>
                </a:lnTo>
                <a:moveTo>
                  <a:pt x="0" y="0"/>
                </a:moveTo>
                <a:lnTo>
                  <a:pt x="30226" y="41275"/>
                </a:lnTo>
                <a:lnTo>
                  <a:pt x="60516" y="0"/>
                </a:lnTo>
              </a:path>
            </a:pathLst>
          </a:custGeom>
          <a:noFill/>
          <a:ln w="1333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sn-1"/>
          <p:cNvSpPr txBox="1"/>
          <p:nvPr/>
        </p:nvSpPr>
        <p:spPr>
          <a:xfrm>
            <a:off x="5319857" y="2432636"/>
            <a:ext cx="629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7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更低价格</a:t>
            </a:r>
          </a:p>
        </p:txBody>
      </p:sp>
      <p:sp>
        <p:nvSpPr>
          <p:cNvPr id="14" name="k-1"/>
          <p:cNvSpPr txBox="1"/>
          <p:nvPr/>
        </p:nvSpPr>
        <p:spPr>
          <a:xfrm>
            <a:off x="6021985" y="1610779"/>
            <a:ext cx="809625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5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单价 -12%</a:t>
            </a:r>
          </a:p>
        </p:txBody>
      </p:sp>
      <p:sp>
        <p:nvSpPr>
          <p:cNvPr id="15" name="d-1"/>
          <p:cNvSpPr txBox="1"/>
          <p:nvPr/>
        </p:nvSpPr>
        <p:spPr>
          <a:xfrm>
            <a:off x="6026938" y="1839553"/>
            <a:ext cx="89122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规模效应摊薄成本</a:t>
            </a:r>
          </a:p>
        </p:txBody>
      </p:sp>
      <p:sp>
        <p:nvSpPr>
          <p:cNvPr id="16" name="seg-2"/>
          <p:cNvSpPr/>
          <p:nvPr/>
        </p:nvSpPr>
        <p:spPr>
          <a:xfrm>
            <a:off x="5692440" y="3281585"/>
            <a:ext cx="975056" cy="1700002"/>
          </a:xfrm>
          <a:custGeom>
            <a:avLst/>
            <a:gdLst/>
            <a:ahLst/>
            <a:cxnLst/>
            <a:rect l="0" t="0" r="r" b="b"/>
            <a:pathLst>
              <a:path w="975056" h="1700002">
                <a:moveTo>
                  <a:pt x="926229" y="43719"/>
                </a:moveTo>
                <a:cubicBezTo>
                  <a:pt x="1059088" y="609195"/>
                  <a:pt x="917354" y="1204208"/>
                  <a:pt x="543832" y="1649063"/>
                </a:cubicBezTo>
                <a:lnTo>
                  <a:pt x="582757" y="1681702"/>
                </a:lnTo>
                <a:quadBezTo>
                  <a:pt x="611967" y="1706213"/>
                  <a:pt x="536212" y="1697894"/>
                </a:quadBezTo>
                <a:lnTo>
                  <a:pt x="168420" y="1657572"/>
                </a:lnTo>
                <a:quadBezTo>
                  <a:pt x="92664" y="1649317"/>
                  <a:pt x="76154" y="1574895"/>
                </a:quadBezTo>
                <a:lnTo>
                  <a:pt x="5923" y="1257966"/>
                </a:lnTo>
                <a:quadBezTo>
                  <a:pt x="-10523" y="1183544"/>
                  <a:pt x="18623" y="1208055"/>
                </a:quadBezTo>
                <a:lnTo>
                  <a:pt x="57549" y="1240758"/>
                </a:lnTo>
                <a:cubicBezTo>
                  <a:pt x="297820" y="954605"/>
                  <a:pt x="391951" y="573275"/>
                  <a:pt x="312438" y="208184"/>
                </a:cubicBezTo>
                <a:quadBezTo>
                  <a:pt x="298976" y="152622"/>
                  <a:pt x="354157" y="137890"/>
                </a:quadBezTo>
                <a:lnTo>
                  <a:pt x="857141" y="3079"/>
                </a:lnTo>
                <a:quadBezTo>
                  <a:pt x="912322" y="-11716"/>
                  <a:pt x="926229" y="43719"/>
                </a:quadBezTo>
                <a:close/>
              </a:path>
            </a:pathLst>
          </a:custGeom>
          <a:gradFill rotWithShape="1">
            <a:gsLst>
              <a:gs pos="0">
                <a:srgbClr val="3D73B5"/>
              </a:gs>
              <a:gs pos="100000">
                <a:srgbClr val="1B5AA8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icon-people"/>
          <p:cNvSpPr/>
          <p:nvPr/>
        </p:nvSpPr>
        <p:spPr>
          <a:xfrm>
            <a:off x="6246686" y="4019804"/>
            <a:ext cx="116967" cy="33020"/>
          </a:xfrm>
          <a:custGeom>
            <a:avLst/>
            <a:gdLst/>
            <a:ahLst/>
            <a:cxnLst/>
            <a:rect l="0" t="0" r="r" b="b"/>
            <a:pathLst>
              <a:path w="116967" h="33020">
                <a:moveTo>
                  <a:pt x="0" y="33020"/>
                </a:moveTo>
                <a:cubicBezTo>
                  <a:pt x="0" y="12383"/>
                  <a:pt x="17209" y="0"/>
                  <a:pt x="37148" y="0"/>
                </a:cubicBezTo>
                <a:cubicBezTo>
                  <a:pt x="57087" y="0"/>
                  <a:pt x="74295" y="12383"/>
                  <a:pt x="74295" y="33020"/>
                </a:cubicBezTo>
                <a:moveTo>
                  <a:pt x="88075" y="2731"/>
                </a:moveTo>
                <a:cubicBezTo>
                  <a:pt x="105918" y="4826"/>
                  <a:pt x="116967" y="17209"/>
                  <a:pt x="116967" y="33020"/>
                </a:cubicBezTo>
              </a:path>
            </a:pathLst>
          </a:custGeom>
          <a:noFill/>
          <a:ln w="1333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icon-people"/>
          <p:cNvSpPr/>
          <p:nvPr/>
        </p:nvSpPr>
        <p:spPr>
          <a:xfrm>
            <a:off x="6261822" y="3960646"/>
            <a:ext cx="44027" cy="44027"/>
          </a:xfrm>
          <a:prstGeom prst="ellipse">
            <a:avLst/>
          </a:prstGeom>
          <a:noFill/>
          <a:ln w="1333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icon-people"/>
          <p:cNvSpPr/>
          <p:nvPr/>
        </p:nvSpPr>
        <p:spPr>
          <a:xfrm>
            <a:off x="6320983" y="3960646"/>
            <a:ext cx="35772" cy="35772"/>
          </a:xfrm>
          <a:prstGeom prst="ellipse">
            <a:avLst/>
          </a:prstGeom>
          <a:noFill/>
          <a:ln w="1333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sn-2"/>
          <p:cNvSpPr txBox="1"/>
          <p:nvPr/>
        </p:nvSpPr>
        <p:spPr>
          <a:xfrm>
            <a:off x="5989830" y="4094218"/>
            <a:ext cx="629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7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更多客户</a:t>
            </a:r>
          </a:p>
        </p:txBody>
      </p:sp>
      <p:sp>
        <p:nvSpPr>
          <p:cNvPr id="21" name="k-2"/>
          <p:cNvSpPr txBox="1"/>
          <p:nvPr/>
        </p:nvSpPr>
        <p:spPr>
          <a:xfrm>
            <a:off x="7026945" y="4103152"/>
            <a:ext cx="809625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5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客户 +24%</a:t>
            </a:r>
          </a:p>
        </p:txBody>
      </p:sp>
      <p:sp>
        <p:nvSpPr>
          <p:cNvPr id="22" name="d-2"/>
          <p:cNvSpPr txBox="1"/>
          <p:nvPr/>
        </p:nvSpPr>
        <p:spPr>
          <a:xfrm>
            <a:off x="7031898" y="4331927"/>
            <a:ext cx="89122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价格优势带来新客</a:t>
            </a:r>
          </a:p>
        </p:txBody>
      </p:sp>
      <p:sp>
        <p:nvSpPr>
          <p:cNvPr id="23" name="seg-3"/>
          <p:cNvSpPr/>
          <p:nvPr/>
        </p:nvSpPr>
        <p:spPr>
          <a:xfrm>
            <a:off x="4008528" y="4776822"/>
            <a:ext cx="1801462" cy="810707"/>
          </a:xfrm>
          <a:custGeom>
            <a:avLst/>
            <a:gdLst/>
            <a:ahLst/>
            <a:cxnLst/>
            <a:rect l="0" t="0" r="r" b="b"/>
            <a:pathLst>
              <a:path w="1801462" h="810707">
                <a:moveTo>
                  <a:pt x="1772004" y="544478"/>
                </a:moveTo>
                <a:cubicBezTo>
                  <a:pt x="1275269" y="845564"/>
                  <a:pt x="665596" y="894637"/>
                  <a:pt x="127100" y="676875"/>
                </a:cubicBezTo>
                <a:lnTo>
                  <a:pt x="108050" y="723992"/>
                </a:lnTo>
                <a:quadBezTo>
                  <a:pt x="93762" y="759298"/>
                  <a:pt x="78268" y="684686"/>
                </a:quadBezTo>
                <a:lnTo>
                  <a:pt x="2957" y="322418"/>
                </a:lnTo>
                <a:quadBezTo>
                  <a:pt x="-12537" y="247806"/>
                  <a:pt x="53122" y="209134"/>
                </a:quadBezTo>
                <a:lnTo>
                  <a:pt x="332840" y="44415"/>
                </a:lnTo>
                <a:quadBezTo>
                  <a:pt x="398499" y="5744"/>
                  <a:pt x="384211" y="41113"/>
                </a:quadBezTo>
                <a:lnTo>
                  <a:pt x="365161" y="88167"/>
                </a:lnTo>
                <a:cubicBezTo>
                  <a:pt x="711543" y="228249"/>
                  <a:pt x="1103282" y="199944"/>
                  <a:pt x="1425929" y="11522"/>
                </a:cubicBezTo>
                <a:quadBezTo>
                  <a:pt x="1474570" y="-18450"/>
                  <a:pt x="1505685" y="29493"/>
                </a:quadBezTo>
                <a:lnTo>
                  <a:pt x="1789276" y="466182"/>
                </a:lnTo>
                <a:quadBezTo>
                  <a:pt x="1820454" y="514061"/>
                  <a:pt x="1772004" y="544478"/>
                </a:quadBezTo>
                <a:close/>
              </a:path>
            </a:pathLst>
          </a:custGeom>
          <a:gradFill rotWithShape="1">
            <a:gsLst>
              <a:gs pos="0">
                <a:srgbClr val="457FC1"/>
              </a:gs>
              <a:gs pos="100000">
                <a:srgbClr val="2468B6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icon-share"/>
          <p:cNvSpPr/>
          <p:nvPr/>
        </p:nvSpPr>
        <p:spPr>
          <a:xfrm>
            <a:off x="4905121" y="5118862"/>
            <a:ext cx="48831" cy="67437"/>
          </a:xfrm>
          <a:custGeom>
            <a:avLst/>
            <a:gdLst/>
            <a:ahLst/>
            <a:cxnLst/>
            <a:rect l="0" t="0" r="r" b="b"/>
            <a:pathLst>
              <a:path w="48831" h="67437">
                <a:moveTo>
                  <a:pt x="0" y="26797"/>
                </a:moveTo>
                <a:lnTo>
                  <a:pt x="48831" y="0"/>
                </a:lnTo>
                <a:moveTo>
                  <a:pt x="0" y="40576"/>
                </a:moveTo>
                <a:lnTo>
                  <a:pt x="48831" y="67437"/>
                </a:lnTo>
              </a:path>
            </a:pathLst>
          </a:custGeom>
          <a:noFill/>
          <a:ln w="1333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icon-share"/>
          <p:cNvSpPr/>
          <p:nvPr/>
        </p:nvSpPr>
        <p:spPr>
          <a:xfrm>
            <a:off x="4875526" y="5136739"/>
            <a:ext cx="31644" cy="31644"/>
          </a:xfrm>
          <a:prstGeom prst="ellipse">
            <a:avLst/>
          </a:prstGeom>
          <a:noFill/>
          <a:ln w="1333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icon-share"/>
          <p:cNvSpPr/>
          <p:nvPr/>
        </p:nvSpPr>
        <p:spPr>
          <a:xfrm>
            <a:off x="4952573" y="5096840"/>
            <a:ext cx="31644" cy="31644"/>
          </a:xfrm>
          <a:prstGeom prst="ellipse">
            <a:avLst/>
          </a:prstGeom>
          <a:noFill/>
          <a:ln w="1333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icon-share"/>
          <p:cNvSpPr/>
          <p:nvPr/>
        </p:nvSpPr>
        <p:spPr>
          <a:xfrm>
            <a:off x="4952573" y="5176639"/>
            <a:ext cx="31644" cy="31644"/>
          </a:xfrm>
          <a:prstGeom prst="ellipse">
            <a:avLst/>
          </a:prstGeom>
          <a:noFill/>
          <a:ln w="1333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sn-3"/>
          <p:cNvSpPr txBox="1"/>
          <p:nvPr/>
        </p:nvSpPr>
        <p:spPr>
          <a:xfrm>
            <a:off x="4616605" y="5244859"/>
            <a:ext cx="629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7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更多伙伴</a:t>
            </a:r>
          </a:p>
        </p:txBody>
      </p:sp>
      <p:sp>
        <p:nvSpPr>
          <p:cNvPr id="29" name="k-3"/>
          <p:cNvSpPr txBox="1"/>
          <p:nvPr/>
        </p:nvSpPr>
        <p:spPr>
          <a:xfrm>
            <a:off x="4967107" y="5829113"/>
            <a:ext cx="9512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5">
                <a:solidFill>
                  <a:srgbClr val="2468B6"/>
                </a:solidFill>
                <a:latin typeface="微软雅黑"/>
                <a:ea typeface="微软雅黑"/>
                <a:cs typeface="微软雅黑"/>
              </a:rPr>
              <a:t>伙伴 +38 家</a:t>
            </a:r>
          </a:p>
        </p:txBody>
      </p:sp>
      <p:sp>
        <p:nvSpPr>
          <p:cNvPr id="30" name="d-3"/>
          <p:cNvSpPr txBox="1"/>
          <p:nvPr/>
        </p:nvSpPr>
        <p:spPr>
          <a:xfrm>
            <a:off x="4972060" y="6057887"/>
            <a:ext cx="99155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客户多了伙伴愿意来</a:t>
            </a:r>
          </a:p>
        </p:txBody>
      </p:sp>
      <p:sp>
        <p:nvSpPr>
          <p:cNvPr id="31" name="seg-4"/>
          <p:cNvSpPr/>
          <p:nvPr/>
        </p:nvSpPr>
        <p:spPr>
          <a:xfrm>
            <a:off x="2924500" y="3373688"/>
            <a:ext cx="1122520" cy="1783823"/>
          </a:xfrm>
          <a:custGeom>
            <a:avLst/>
            <a:gdLst/>
            <a:ahLst/>
            <a:cxnLst/>
            <a:rect l="0" t="0" r="r" b="b"/>
            <a:pathLst>
              <a:path w="1122520" h="1783823">
                <a:moveTo>
                  <a:pt x="698746" y="1767272"/>
                </a:moveTo>
                <a:cubicBezTo>
                  <a:pt x="258887" y="1387892"/>
                  <a:pt x="23811" y="823219"/>
                  <a:pt x="64508" y="243780"/>
                </a:cubicBezTo>
                <a:lnTo>
                  <a:pt x="13835" y="240224"/>
                </a:lnTo>
                <a:quadBezTo>
                  <a:pt x="-24138" y="237557"/>
                  <a:pt x="42029" y="199711"/>
                </a:quadBezTo>
                <a:lnTo>
                  <a:pt x="363276" y="16196"/>
                </a:lnTo>
                <a:quadBezTo>
                  <a:pt x="429443" y="-21650"/>
                  <a:pt x="486466" y="28896"/>
                </a:quadBezTo>
                <a:lnTo>
                  <a:pt x="729607" y="243971"/>
                </a:lnTo>
                <a:quadBezTo>
                  <a:pt x="786630" y="294517"/>
                  <a:pt x="748657" y="291850"/>
                </a:quadBezTo>
                <a:lnTo>
                  <a:pt x="697984" y="288294"/>
                </a:lnTo>
                <a:cubicBezTo>
                  <a:pt x="671803" y="661001"/>
                  <a:pt x="819775" y="1024809"/>
                  <a:pt x="1098669" y="1273433"/>
                </a:cubicBezTo>
                <a:quadBezTo>
                  <a:pt x="1142230" y="1310453"/>
                  <a:pt x="1106289" y="1354840"/>
                </a:quadBezTo>
                <a:lnTo>
                  <a:pt x="778566" y="1759525"/>
                </a:lnTo>
                <a:quadBezTo>
                  <a:pt x="742625" y="1803912"/>
                  <a:pt x="698746" y="1767272"/>
                </a:quadBezTo>
                <a:close/>
              </a:path>
            </a:pathLst>
          </a:custGeom>
          <a:gradFill rotWithShape="1">
            <a:gsLst>
              <a:gs pos="0">
                <a:srgbClr val="4D8BCB"/>
              </a:gs>
              <a:gs pos="100000">
                <a:srgbClr val="2E77C2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icon-star"/>
          <p:cNvSpPr/>
          <p:nvPr/>
        </p:nvSpPr>
        <p:spPr>
          <a:xfrm>
            <a:off x="3354070" y="4144328"/>
            <a:ext cx="116967" cy="111443"/>
          </a:xfrm>
          <a:custGeom>
            <a:avLst/>
            <a:gdLst/>
            <a:ahLst/>
            <a:cxnLst/>
            <a:rect l="0" t="0" r="r" b="b"/>
            <a:pathLst>
              <a:path w="116967" h="111443">
                <a:moveTo>
                  <a:pt x="58483" y="0"/>
                </a:moveTo>
                <a:lnTo>
                  <a:pt x="76390" y="37148"/>
                </a:lnTo>
                <a:lnTo>
                  <a:pt x="116967" y="42672"/>
                </a:lnTo>
                <a:lnTo>
                  <a:pt x="87376" y="70866"/>
                </a:lnTo>
                <a:lnTo>
                  <a:pt x="94932" y="111443"/>
                </a:lnTo>
                <a:lnTo>
                  <a:pt x="58483" y="91503"/>
                </a:lnTo>
                <a:lnTo>
                  <a:pt x="22034" y="111443"/>
                </a:lnTo>
                <a:lnTo>
                  <a:pt x="29591" y="70866"/>
                </a:lnTo>
                <a:lnTo>
                  <a:pt x="0" y="42672"/>
                </a:lnTo>
                <a:lnTo>
                  <a:pt x="40640" y="37148"/>
                </a:lnTo>
                <a:close/>
              </a:path>
            </a:pathLst>
          </a:custGeom>
          <a:noFill/>
          <a:ln w="1333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sn-4"/>
          <p:cNvSpPr txBox="1"/>
          <p:nvPr/>
        </p:nvSpPr>
        <p:spPr>
          <a:xfrm>
            <a:off x="3097931" y="4294411"/>
            <a:ext cx="629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7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更好体验</a:t>
            </a:r>
          </a:p>
        </p:txBody>
      </p:sp>
      <p:sp>
        <p:nvSpPr>
          <p:cNvPr id="34" name="k-4"/>
          <p:cNvSpPr txBox="1"/>
          <p:nvPr/>
        </p:nvSpPr>
        <p:spPr>
          <a:xfrm>
            <a:off x="2116072" y="4403441"/>
            <a:ext cx="606552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15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NPS +9</a:t>
            </a:r>
          </a:p>
        </p:txBody>
      </p:sp>
      <p:sp>
        <p:nvSpPr>
          <p:cNvPr id="35" name="d-4"/>
          <p:cNvSpPr txBox="1"/>
          <p:nvPr/>
        </p:nvSpPr>
        <p:spPr>
          <a:xfrm>
            <a:off x="1826449" y="4632216"/>
            <a:ext cx="89122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伙伴补齐解决方案</a:t>
            </a:r>
          </a:p>
        </p:txBody>
      </p:sp>
      <p:sp>
        <p:nvSpPr>
          <p:cNvPr id="36" name="seg-5"/>
          <p:cNvSpPr/>
          <p:nvPr/>
        </p:nvSpPr>
        <p:spPr>
          <a:xfrm>
            <a:off x="3122095" y="1894815"/>
            <a:ext cx="1604338" cy="1404474"/>
          </a:xfrm>
          <a:custGeom>
            <a:avLst/>
            <a:gdLst/>
            <a:ahLst/>
            <a:cxnLst/>
            <a:rect l="0" t="0" r="r" b="b"/>
            <a:pathLst>
              <a:path w="1604338" h="1404474">
                <a:moveTo>
                  <a:pt x="6042" y="1138707"/>
                </a:moveTo>
                <a:cubicBezTo>
                  <a:pt x="230928" y="603148"/>
                  <a:pt x="695314" y="205086"/>
                  <a:pt x="1258961" y="64731"/>
                </a:cubicBezTo>
                <a:lnTo>
                  <a:pt x="1246705" y="15455"/>
                </a:lnTo>
                <a:quadBezTo>
                  <a:pt x="1237498" y="-21502"/>
                  <a:pt x="1293886" y="29743"/>
                </a:quadBezTo>
                <a:lnTo>
                  <a:pt x="1567761" y="278536"/>
                </a:lnTo>
                <a:quadBezTo>
                  <a:pt x="1624149" y="329780"/>
                  <a:pt x="1593733" y="399630"/>
                </a:quadBezTo>
                <a:lnTo>
                  <a:pt x="1464256" y="697318"/>
                </a:lnTo>
                <a:quadBezTo>
                  <a:pt x="1433903" y="767168"/>
                  <a:pt x="1424696" y="730211"/>
                </a:quadBezTo>
                <a:lnTo>
                  <a:pt x="1412377" y="680935"/>
                </a:lnTo>
                <a:cubicBezTo>
                  <a:pt x="1049806" y="771215"/>
                  <a:pt x="749523" y="1024386"/>
                  <a:pt x="599259" y="1366481"/>
                </a:cubicBezTo>
                <a:quadBezTo>
                  <a:pt x="577542" y="1419313"/>
                  <a:pt x="524202" y="1398803"/>
                </a:quadBezTo>
                <a:lnTo>
                  <a:pt x="38046" y="1212240"/>
                </a:lnTo>
                <a:quadBezTo>
                  <a:pt x="-15294" y="1191729"/>
                  <a:pt x="6042" y="1138707"/>
                </a:quadBezTo>
                <a:close/>
              </a:path>
            </a:pathLst>
          </a:custGeom>
          <a:gradFill rotWithShape="1">
            <a:gsLst>
              <a:gs pos="0">
                <a:srgbClr val="E58558"/>
              </a:gs>
              <a:gs pos="100000">
                <a:srgbClr val="E0703A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icon-grow"/>
          <p:cNvSpPr/>
          <p:nvPr/>
        </p:nvSpPr>
        <p:spPr>
          <a:xfrm>
            <a:off x="3789426" y="2437956"/>
            <a:ext cx="103188" cy="64643"/>
          </a:xfrm>
          <a:custGeom>
            <a:avLst/>
            <a:gdLst/>
            <a:ahLst/>
            <a:cxnLst/>
            <a:rect l="0" t="0" r="r" b="b"/>
            <a:pathLst>
              <a:path w="103188" h="64643">
                <a:moveTo>
                  <a:pt x="0" y="64643"/>
                </a:moveTo>
                <a:lnTo>
                  <a:pt x="34417" y="27495"/>
                </a:lnTo>
                <a:lnTo>
                  <a:pt x="59182" y="48133"/>
                </a:lnTo>
                <a:lnTo>
                  <a:pt x="100457" y="0"/>
                </a:lnTo>
                <a:moveTo>
                  <a:pt x="83947" y="0"/>
                </a:moveTo>
                <a:lnTo>
                  <a:pt x="103188" y="0"/>
                </a:lnTo>
                <a:lnTo>
                  <a:pt x="103188" y="19240"/>
                </a:lnTo>
              </a:path>
            </a:pathLst>
          </a:custGeom>
          <a:noFill/>
          <a:ln w="1333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sn-5"/>
          <p:cNvSpPr txBox="1"/>
          <p:nvPr/>
        </p:nvSpPr>
        <p:spPr>
          <a:xfrm>
            <a:off x="3532564" y="2556362"/>
            <a:ext cx="629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7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更大规模</a:t>
            </a:r>
          </a:p>
        </p:txBody>
      </p:sp>
      <p:sp>
        <p:nvSpPr>
          <p:cNvPr id="39" name="k-5"/>
          <p:cNvSpPr txBox="1"/>
          <p:nvPr/>
        </p:nvSpPr>
        <p:spPr>
          <a:xfrm>
            <a:off x="2564949" y="1796367"/>
            <a:ext cx="809625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营收 +20%</a:t>
            </a:r>
          </a:p>
        </p:txBody>
      </p:sp>
      <p:sp>
        <p:nvSpPr>
          <p:cNvPr id="40" name="d-5"/>
          <p:cNvSpPr txBox="1"/>
          <p:nvPr/>
        </p:nvSpPr>
        <p:spPr>
          <a:xfrm>
            <a:off x="2478399" y="2025142"/>
            <a:ext cx="89122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口碑推动持续增长</a:t>
            </a:r>
          </a:p>
        </p:txBody>
      </p:sp>
      <p:sp>
        <p:nvSpPr>
          <p:cNvPr id="41" name="core"/>
          <p:cNvSpPr/>
          <p:nvPr/>
        </p:nvSpPr>
        <p:spPr>
          <a:xfrm>
            <a:off x="3784600" y="2705100"/>
            <a:ext cx="2082800" cy="2082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core-t"/>
          <p:cNvSpPr txBox="1"/>
          <p:nvPr/>
        </p:nvSpPr>
        <p:spPr>
          <a:xfrm>
            <a:off x="4462145" y="3340164"/>
            <a:ext cx="727710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700" b="1" spc="40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飞轮</a:t>
            </a:r>
          </a:p>
        </p:txBody>
      </p:sp>
      <p:sp>
        <p:nvSpPr>
          <p:cNvPr id="43" name="core-l"/>
          <p:cNvSpPr txBox="1"/>
          <p:nvPr/>
        </p:nvSpPr>
        <p:spPr>
          <a:xfrm>
            <a:off x="4665980" y="3735324"/>
            <a:ext cx="3200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10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转速</a:t>
            </a:r>
          </a:p>
        </p:txBody>
      </p:sp>
      <p:sp>
        <p:nvSpPr>
          <p:cNvPr id="44" name="core-v"/>
          <p:cNvSpPr txBox="1"/>
          <p:nvPr/>
        </p:nvSpPr>
        <p:spPr>
          <a:xfrm>
            <a:off x="4467098" y="3857879"/>
            <a:ext cx="717804" cy="4000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8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×1.4</a:t>
            </a:r>
          </a:p>
        </p:txBody>
      </p:sp>
      <p:sp>
        <p:nvSpPr>
          <p:cNvPr id="45" name="side-bar"/>
          <p:cNvSpPr/>
          <p:nvPr/>
        </p:nvSpPr>
        <p:spPr>
          <a:xfrm>
            <a:off x="8509000" y="15875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side-h"/>
          <p:cNvSpPr txBox="1"/>
          <p:nvPr/>
        </p:nvSpPr>
        <p:spPr>
          <a:xfrm>
            <a:off x="8667750" y="1594644"/>
            <a:ext cx="13430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怎么让它转起来</a:t>
            </a:r>
          </a:p>
        </p:txBody>
      </p:sp>
      <p:sp>
        <p:nvSpPr>
          <p:cNvPr id="47" name="side-p"/>
          <p:cNvSpPr txBox="1"/>
          <p:nvPr/>
        </p:nvSpPr>
        <p:spPr>
          <a:xfrm>
            <a:off x="8673465" y="1869361"/>
            <a:ext cx="12366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从最容易推的一环下手</a:t>
            </a:r>
          </a:p>
        </p:txBody>
      </p:sp>
      <p:sp>
        <p:nvSpPr>
          <p:cNvPr id="48" name="tip-1"/>
          <p:cNvSpPr/>
          <p:nvPr/>
        </p:nvSpPr>
        <p:spPr>
          <a:xfrm>
            <a:off x="8509000" y="2286000"/>
            <a:ext cx="2730500" cy="825500"/>
          </a:xfrm>
          <a:custGeom>
            <a:avLst/>
            <a:gdLst/>
            <a:ahLst/>
            <a:cxnLst/>
            <a:rect l="0" t="0" r="r" b="b"/>
            <a:pathLst>
              <a:path w="2730500" h="825500">
                <a:moveTo>
                  <a:pt x="127000" y="0"/>
                </a:moveTo>
                <a:lnTo>
                  <a:pt x="2603500" y="0"/>
                </a:lnTo>
                <a:cubicBezTo>
                  <a:pt x="2673667" y="0"/>
                  <a:pt x="2730500" y="56832"/>
                  <a:pt x="2730500" y="127000"/>
                </a:cubicBezTo>
                <a:lnTo>
                  <a:pt x="2730500" y="698500"/>
                </a:lnTo>
                <a:cubicBezTo>
                  <a:pt x="2730500" y="768668"/>
                  <a:pt x="2673667" y="825500"/>
                  <a:pt x="2603500" y="825500"/>
                </a:cubicBezTo>
                <a:lnTo>
                  <a:pt x="127000" y="825500"/>
                </a:lnTo>
                <a:cubicBezTo>
                  <a:pt x="56833" y="825500"/>
                  <a:pt x="0" y="768668"/>
                  <a:pt x="0" y="6985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tipn-1"/>
          <p:cNvSpPr txBox="1"/>
          <p:nvPr/>
        </p:nvSpPr>
        <p:spPr>
          <a:xfrm>
            <a:off x="8656320" y="2353310"/>
            <a:ext cx="51308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>
                <a:solidFill>
                  <a:srgbClr val="0B3E8F">
                    <a:alpha val="30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50" name="tiph-1"/>
          <p:cNvSpPr txBox="1"/>
          <p:nvPr/>
        </p:nvSpPr>
        <p:spPr>
          <a:xfrm>
            <a:off x="9128760" y="2472055"/>
            <a:ext cx="104775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第一推力：价格</a:t>
            </a:r>
          </a:p>
        </p:txBody>
      </p:sp>
      <p:sp>
        <p:nvSpPr>
          <p:cNvPr id="51" name="tipd-1"/>
          <p:cNvSpPr txBox="1"/>
          <p:nvPr/>
        </p:nvSpPr>
        <p:spPr>
          <a:xfrm>
            <a:off x="9132189" y="2748645"/>
            <a:ext cx="129254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先用规模采购把成本降下来</a:t>
            </a:r>
          </a:p>
        </p:txBody>
      </p:sp>
      <p:sp>
        <p:nvSpPr>
          <p:cNvPr id="52" name="tip-2"/>
          <p:cNvSpPr/>
          <p:nvPr/>
        </p:nvSpPr>
        <p:spPr>
          <a:xfrm>
            <a:off x="8509000" y="3238500"/>
            <a:ext cx="2730500" cy="825500"/>
          </a:xfrm>
          <a:custGeom>
            <a:avLst/>
            <a:gdLst/>
            <a:ahLst/>
            <a:cxnLst/>
            <a:rect l="0" t="0" r="r" b="b"/>
            <a:pathLst>
              <a:path w="2730500" h="825500">
                <a:moveTo>
                  <a:pt x="127000" y="0"/>
                </a:moveTo>
                <a:lnTo>
                  <a:pt x="2603500" y="0"/>
                </a:lnTo>
                <a:cubicBezTo>
                  <a:pt x="2673667" y="0"/>
                  <a:pt x="2730500" y="56833"/>
                  <a:pt x="2730500" y="127000"/>
                </a:cubicBezTo>
                <a:lnTo>
                  <a:pt x="2730500" y="698500"/>
                </a:lnTo>
                <a:cubicBezTo>
                  <a:pt x="2730500" y="768667"/>
                  <a:pt x="2673667" y="825500"/>
                  <a:pt x="2603500" y="825500"/>
                </a:cubicBezTo>
                <a:lnTo>
                  <a:pt x="127000" y="825500"/>
                </a:lnTo>
                <a:cubicBezTo>
                  <a:pt x="56833" y="825500"/>
                  <a:pt x="0" y="768667"/>
                  <a:pt x="0" y="6985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tipn-2"/>
          <p:cNvSpPr txBox="1"/>
          <p:nvPr/>
        </p:nvSpPr>
        <p:spPr>
          <a:xfrm>
            <a:off x="8656320" y="3305810"/>
            <a:ext cx="51308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>
                <a:solidFill>
                  <a:srgbClr val="1B5AA8">
                    <a:alpha val="30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54" name="tiph-2"/>
          <p:cNvSpPr txBox="1"/>
          <p:nvPr/>
        </p:nvSpPr>
        <p:spPr>
          <a:xfrm>
            <a:off x="9128760" y="3424555"/>
            <a:ext cx="6477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不要跳环</a:t>
            </a:r>
          </a:p>
        </p:txBody>
      </p:sp>
      <p:sp>
        <p:nvSpPr>
          <p:cNvPr id="55" name="tipd-2"/>
          <p:cNvSpPr txBox="1"/>
          <p:nvPr/>
        </p:nvSpPr>
        <p:spPr>
          <a:xfrm>
            <a:off x="9132189" y="3701145"/>
            <a:ext cx="1593533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任何一环卡住，整个轮子都会减速</a:t>
            </a:r>
          </a:p>
        </p:txBody>
      </p:sp>
      <p:sp>
        <p:nvSpPr>
          <p:cNvPr id="56" name="tip-3"/>
          <p:cNvSpPr/>
          <p:nvPr/>
        </p:nvSpPr>
        <p:spPr>
          <a:xfrm>
            <a:off x="8509000" y="4191000"/>
            <a:ext cx="2730500" cy="825500"/>
          </a:xfrm>
          <a:custGeom>
            <a:avLst/>
            <a:gdLst/>
            <a:ahLst/>
            <a:cxnLst/>
            <a:rect l="0" t="0" r="r" b="b"/>
            <a:pathLst>
              <a:path w="2730500" h="825500">
                <a:moveTo>
                  <a:pt x="127000" y="0"/>
                </a:moveTo>
                <a:lnTo>
                  <a:pt x="2603500" y="0"/>
                </a:lnTo>
                <a:cubicBezTo>
                  <a:pt x="2673667" y="0"/>
                  <a:pt x="2730500" y="56833"/>
                  <a:pt x="2730500" y="127000"/>
                </a:cubicBezTo>
                <a:lnTo>
                  <a:pt x="2730500" y="698500"/>
                </a:lnTo>
                <a:cubicBezTo>
                  <a:pt x="2730500" y="768667"/>
                  <a:pt x="2673667" y="825500"/>
                  <a:pt x="2603500" y="825500"/>
                </a:cubicBezTo>
                <a:lnTo>
                  <a:pt x="127000" y="825500"/>
                </a:lnTo>
                <a:cubicBezTo>
                  <a:pt x="56833" y="825500"/>
                  <a:pt x="0" y="768667"/>
                  <a:pt x="0" y="6985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tipn-3"/>
          <p:cNvSpPr txBox="1"/>
          <p:nvPr/>
        </p:nvSpPr>
        <p:spPr>
          <a:xfrm>
            <a:off x="8656320" y="4258310"/>
            <a:ext cx="51308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>
                <a:solidFill>
                  <a:srgbClr val="2E77C2">
                    <a:alpha val="30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58" name="tiph-3"/>
          <p:cNvSpPr txBox="1"/>
          <p:nvPr/>
        </p:nvSpPr>
        <p:spPr>
          <a:xfrm>
            <a:off x="9128760" y="4377055"/>
            <a:ext cx="9144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每季度量一次</a:t>
            </a:r>
          </a:p>
        </p:txBody>
      </p:sp>
      <p:sp>
        <p:nvSpPr>
          <p:cNvPr id="59" name="tipd-3"/>
          <p:cNvSpPr txBox="1"/>
          <p:nvPr/>
        </p:nvSpPr>
        <p:spPr>
          <a:xfrm>
            <a:off x="9132189" y="4653645"/>
            <a:ext cx="1693863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五个指标同时看，找出最慢的那一环</a:t>
            </a:r>
          </a:p>
        </p:txBody>
      </p:sp>
      <p:cxnSp>
        <p:nvCxnSpPr>
          <p:cNvPr id="60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增长飞轮 · 五个环节</a:t>
            </a:r>
          </a:p>
        </p:txBody>
      </p:sp>
      <p:sp>
        <p:nvSpPr>
          <p:cNvPr id="62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双通道职业发展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2637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CAREER LADDER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7846695" y="673132"/>
            <a:ext cx="3774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管理与专业两条路并行，同一级别薪酬待遇相同——想做专家不必去当经理</a:t>
            </a:r>
          </a:p>
        </p:txBody>
      </p:sp>
      <p:sp>
        <p:nvSpPr>
          <p:cNvPr id="10" name="start"/>
          <p:cNvSpPr/>
          <p:nvPr/>
        </p:nvSpPr>
        <p:spPr>
          <a:xfrm>
            <a:off x="5016500" y="5461000"/>
            <a:ext cx="2159000" cy="406400"/>
          </a:xfrm>
          <a:custGeom>
            <a:avLst/>
            <a:gdLst/>
            <a:ahLst/>
            <a:cxnLst/>
            <a:rect l="0" t="0" r="r" b="b"/>
            <a:pathLst>
              <a:path w="2159000" h="406400">
                <a:moveTo>
                  <a:pt x="203200" y="0"/>
                </a:moveTo>
                <a:lnTo>
                  <a:pt x="1955800" y="0"/>
                </a:lnTo>
                <a:cubicBezTo>
                  <a:pt x="2068005" y="0"/>
                  <a:pt x="2159000" y="90996"/>
                  <a:pt x="2159000" y="203200"/>
                </a:cubicBezTo>
                <a:lnTo>
                  <a:pt x="2159000" y="203200"/>
                </a:lnTo>
                <a:cubicBezTo>
                  <a:pt x="2159000" y="315404"/>
                  <a:pt x="2068005" y="406400"/>
                  <a:pt x="1955800" y="406400"/>
                </a:cubicBezTo>
                <a:lnTo>
                  <a:pt x="203200" y="406400"/>
                </a:lnTo>
                <a:cubicBezTo>
                  <a:pt x="90996" y="406400"/>
                  <a:pt x="0" y="315404"/>
                  <a:pt x="0" y="203200"/>
                </a:cubicBezTo>
                <a:lnTo>
                  <a:pt x="0" y="203200"/>
                </a:lnTo>
                <a:cubicBezTo>
                  <a:pt x="0" y="90996"/>
                  <a:pt x="90996" y="0"/>
                  <a:pt x="2032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start-t"/>
          <p:cNvSpPr txBox="1"/>
          <p:nvPr/>
        </p:nvSpPr>
        <p:spPr>
          <a:xfrm>
            <a:off x="5401183" y="5573840"/>
            <a:ext cx="138963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L1–L2 · 新人与助理岗</a:t>
            </a:r>
          </a:p>
        </p:txBody>
      </p:sp>
      <p:sp>
        <p:nvSpPr>
          <p:cNvPr id="12" name="m-1"/>
          <p:cNvSpPr/>
          <p:nvPr/>
        </p:nvSpPr>
        <p:spPr>
          <a:xfrm>
            <a:off x="4064000" y="4775200"/>
            <a:ext cx="1587500" cy="596900"/>
          </a:xfrm>
          <a:custGeom>
            <a:avLst/>
            <a:gdLst/>
            <a:ahLst/>
            <a:cxnLst/>
            <a:rect l="0" t="0" r="r" b="b"/>
            <a:pathLst>
              <a:path w="1587500" h="596900">
                <a:moveTo>
                  <a:pt x="101600" y="0"/>
                </a:moveTo>
                <a:lnTo>
                  <a:pt x="1485900" y="0"/>
                </a:lnTo>
                <a:cubicBezTo>
                  <a:pt x="1542034" y="0"/>
                  <a:pt x="1587500" y="45466"/>
                  <a:pt x="1587500" y="101600"/>
                </a:cubicBezTo>
                <a:lnTo>
                  <a:pt x="1587500" y="495300"/>
                </a:lnTo>
                <a:cubicBezTo>
                  <a:pt x="1587500" y="551434"/>
                  <a:pt x="1542034" y="596900"/>
                  <a:pt x="1485900" y="596900"/>
                </a:cubicBezTo>
                <a:lnTo>
                  <a:pt x="101600" y="596900"/>
                </a:lnTo>
                <a:cubicBezTo>
                  <a:pt x="45466" y="596900"/>
                  <a:pt x="0" y="551434"/>
                  <a:pt x="0" y="495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5797D4"/>
              </a:gs>
              <a:gs pos="100000">
                <a:srgbClr val="3985CD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mt-1"/>
          <p:cNvSpPr txBox="1"/>
          <p:nvPr/>
        </p:nvSpPr>
        <p:spPr>
          <a:xfrm>
            <a:off x="4213098" y="4966113"/>
            <a:ext cx="4121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组长</a:t>
            </a:r>
          </a:p>
        </p:txBody>
      </p:sp>
      <p:sp>
        <p:nvSpPr>
          <p:cNvPr id="14" name="p-1"/>
          <p:cNvSpPr/>
          <p:nvPr/>
        </p:nvSpPr>
        <p:spPr>
          <a:xfrm>
            <a:off x="6540500" y="4775200"/>
            <a:ext cx="1587500" cy="596900"/>
          </a:xfrm>
          <a:custGeom>
            <a:avLst/>
            <a:gdLst/>
            <a:ahLst/>
            <a:cxnLst/>
            <a:rect l="0" t="0" r="r" b="b"/>
            <a:pathLst>
              <a:path w="1587500" h="596900">
                <a:moveTo>
                  <a:pt x="101600" y="0"/>
                </a:moveTo>
                <a:lnTo>
                  <a:pt x="1485900" y="0"/>
                </a:lnTo>
                <a:cubicBezTo>
                  <a:pt x="1542034" y="0"/>
                  <a:pt x="1587500" y="45466"/>
                  <a:pt x="1587500" y="101600"/>
                </a:cubicBezTo>
                <a:lnTo>
                  <a:pt x="1587500" y="495300"/>
                </a:lnTo>
                <a:cubicBezTo>
                  <a:pt x="1587500" y="551434"/>
                  <a:pt x="1542034" y="596900"/>
                  <a:pt x="1485900" y="596900"/>
                </a:cubicBezTo>
                <a:lnTo>
                  <a:pt x="101600" y="596900"/>
                </a:lnTo>
                <a:cubicBezTo>
                  <a:pt x="45466" y="596900"/>
                  <a:pt x="0" y="551434"/>
                  <a:pt x="0" y="495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F2BFA6"/>
              </a:gs>
              <a:gs pos="100000">
                <a:srgbClr val="F0B89C"/>
              </a:gs>
            </a:gsLst>
            <a:lin ang="1080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pt-1"/>
          <p:cNvSpPr txBox="1"/>
          <p:nvPr/>
        </p:nvSpPr>
        <p:spPr>
          <a:xfrm>
            <a:off x="7420737" y="4966113"/>
            <a:ext cx="55816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工程师</a:t>
            </a:r>
          </a:p>
        </p:txBody>
      </p:sp>
      <p:sp>
        <p:nvSpPr>
          <p:cNvPr id="16" name="lv-1"/>
          <p:cNvSpPr/>
          <p:nvPr/>
        </p:nvSpPr>
        <p:spPr>
          <a:xfrm>
            <a:off x="5905500" y="4883150"/>
            <a:ext cx="381000" cy="3810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0B3E8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lvt-1"/>
          <p:cNvSpPr txBox="1"/>
          <p:nvPr/>
        </p:nvSpPr>
        <p:spPr>
          <a:xfrm>
            <a:off x="5980557" y="497694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L3</a:t>
            </a:r>
          </a:p>
        </p:txBody>
      </p:sp>
      <p:sp>
        <p:nvSpPr>
          <p:cNvPr id="18" name="pay-1"/>
          <p:cNvSpPr txBox="1"/>
          <p:nvPr/>
        </p:nvSpPr>
        <p:spPr>
          <a:xfrm>
            <a:off x="3401441" y="5005324"/>
            <a:ext cx="547751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15–25 万</a:t>
            </a:r>
          </a:p>
        </p:txBody>
      </p:sp>
      <p:sp>
        <p:nvSpPr>
          <p:cNvPr id="19" name="m-2"/>
          <p:cNvSpPr/>
          <p:nvPr/>
        </p:nvSpPr>
        <p:spPr>
          <a:xfrm>
            <a:off x="3708400" y="4089400"/>
            <a:ext cx="1587500" cy="596900"/>
          </a:xfrm>
          <a:custGeom>
            <a:avLst/>
            <a:gdLst/>
            <a:ahLst/>
            <a:cxnLst/>
            <a:rect l="0" t="0" r="r" b="b"/>
            <a:pathLst>
              <a:path w="1587500" h="596900">
                <a:moveTo>
                  <a:pt x="101600" y="0"/>
                </a:moveTo>
                <a:lnTo>
                  <a:pt x="1485900" y="0"/>
                </a:lnTo>
                <a:cubicBezTo>
                  <a:pt x="1542034" y="0"/>
                  <a:pt x="1587500" y="45466"/>
                  <a:pt x="1587500" y="101600"/>
                </a:cubicBezTo>
                <a:lnTo>
                  <a:pt x="1587500" y="495300"/>
                </a:lnTo>
                <a:cubicBezTo>
                  <a:pt x="1587500" y="551434"/>
                  <a:pt x="1542034" y="596900"/>
                  <a:pt x="1485900" y="596900"/>
                </a:cubicBezTo>
                <a:lnTo>
                  <a:pt x="101600" y="596900"/>
                </a:lnTo>
                <a:cubicBezTo>
                  <a:pt x="45466" y="596900"/>
                  <a:pt x="0" y="551434"/>
                  <a:pt x="0" y="495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4D8BCB"/>
              </a:gs>
              <a:gs pos="100000">
                <a:srgbClr val="2E77C2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mt-2"/>
          <p:cNvSpPr txBox="1"/>
          <p:nvPr/>
        </p:nvSpPr>
        <p:spPr>
          <a:xfrm>
            <a:off x="3857498" y="4280313"/>
            <a:ext cx="4121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经理</a:t>
            </a:r>
          </a:p>
        </p:txBody>
      </p:sp>
      <p:sp>
        <p:nvSpPr>
          <p:cNvPr id="21" name="p-2"/>
          <p:cNvSpPr/>
          <p:nvPr/>
        </p:nvSpPr>
        <p:spPr>
          <a:xfrm>
            <a:off x="6896100" y="4089400"/>
            <a:ext cx="1587500" cy="596900"/>
          </a:xfrm>
          <a:custGeom>
            <a:avLst/>
            <a:gdLst/>
            <a:ahLst/>
            <a:cxnLst/>
            <a:rect l="0" t="0" r="r" b="b"/>
            <a:pathLst>
              <a:path w="1587500" h="596900">
                <a:moveTo>
                  <a:pt x="101600" y="0"/>
                </a:moveTo>
                <a:lnTo>
                  <a:pt x="1485900" y="0"/>
                </a:lnTo>
                <a:cubicBezTo>
                  <a:pt x="1542034" y="0"/>
                  <a:pt x="1587500" y="45466"/>
                  <a:pt x="1587500" y="101600"/>
                </a:cubicBezTo>
                <a:lnTo>
                  <a:pt x="1587500" y="495300"/>
                </a:lnTo>
                <a:cubicBezTo>
                  <a:pt x="1587500" y="551434"/>
                  <a:pt x="1542034" y="596900"/>
                  <a:pt x="1485900" y="596900"/>
                </a:cubicBezTo>
                <a:lnTo>
                  <a:pt x="101600" y="596900"/>
                </a:lnTo>
                <a:cubicBezTo>
                  <a:pt x="45466" y="596900"/>
                  <a:pt x="0" y="551434"/>
                  <a:pt x="0" y="495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EEB295"/>
              </a:gs>
              <a:gs pos="100000">
                <a:srgbClr val="ECA989"/>
              </a:gs>
            </a:gsLst>
            <a:lin ang="1080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pt-2"/>
          <p:cNvSpPr txBox="1"/>
          <p:nvPr/>
        </p:nvSpPr>
        <p:spPr>
          <a:xfrm>
            <a:off x="7484237" y="4280313"/>
            <a:ext cx="85026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高级工程师</a:t>
            </a:r>
          </a:p>
        </p:txBody>
      </p:sp>
      <p:sp>
        <p:nvSpPr>
          <p:cNvPr id="23" name="lv-2"/>
          <p:cNvSpPr/>
          <p:nvPr/>
        </p:nvSpPr>
        <p:spPr>
          <a:xfrm>
            <a:off x="5905500" y="4197350"/>
            <a:ext cx="381000" cy="3810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0B3E8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lvt-2"/>
          <p:cNvSpPr txBox="1"/>
          <p:nvPr/>
        </p:nvSpPr>
        <p:spPr>
          <a:xfrm>
            <a:off x="5980557" y="429114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L4</a:t>
            </a:r>
          </a:p>
        </p:txBody>
      </p:sp>
      <p:sp>
        <p:nvSpPr>
          <p:cNvPr id="25" name="pay-2"/>
          <p:cNvSpPr txBox="1"/>
          <p:nvPr/>
        </p:nvSpPr>
        <p:spPr>
          <a:xfrm>
            <a:off x="3045841" y="4319524"/>
            <a:ext cx="547751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25–40 万</a:t>
            </a:r>
          </a:p>
        </p:txBody>
      </p:sp>
      <p:sp>
        <p:nvSpPr>
          <p:cNvPr id="26" name="m-3"/>
          <p:cNvSpPr/>
          <p:nvPr/>
        </p:nvSpPr>
        <p:spPr>
          <a:xfrm>
            <a:off x="3352800" y="3403600"/>
            <a:ext cx="1587500" cy="596900"/>
          </a:xfrm>
          <a:custGeom>
            <a:avLst/>
            <a:gdLst/>
            <a:ahLst/>
            <a:cxnLst/>
            <a:rect l="0" t="0" r="r" b="b"/>
            <a:pathLst>
              <a:path w="1587500" h="596900">
                <a:moveTo>
                  <a:pt x="101600" y="0"/>
                </a:moveTo>
                <a:lnTo>
                  <a:pt x="1485900" y="0"/>
                </a:lnTo>
                <a:cubicBezTo>
                  <a:pt x="1542034" y="0"/>
                  <a:pt x="1587500" y="45466"/>
                  <a:pt x="1587500" y="101600"/>
                </a:cubicBezTo>
                <a:lnTo>
                  <a:pt x="1587500" y="495300"/>
                </a:lnTo>
                <a:cubicBezTo>
                  <a:pt x="1587500" y="551434"/>
                  <a:pt x="1542034" y="596900"/>
                  <a:pt x="1485900" y="596900"/>
                </a:cubicBezTo>
                <a:lnTo>
                  <a:pt x="101600" y="596900"/>
                </a:lnTo>
                <a:cubicBezTo>
                  <a:pt x="45466" y="596900"/>
                  <a:pt x="0" y="551434"/>
                  <a:pt x="0" y="495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457FC1"/>
              </a:gs>
              <a:gs pos="100000">
                <a:srgbClr val="2468B6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mt-3"/>
          <p:cNvSpPr txBox="1"/>
          <p:nvPr/>
        </p:nvSpPr>
        <p:spPr>
          <a:xfrm>
            <a:off x="3501898" y="3594513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高级经理</a:t>
            </a:r>
          </a:p>
        </p:txBody>
      </p:sp>
      <p:sp>
        <p:nvSpPr>
          <p:cNvPr id="28" name="p-3"/>
          <p:cNvSpPr/>
          <p:nvPr/>
        </p:nvSpPr>
        <p:spPr>
          <a:xfrm>
            <a:off x="7251700" y="3403600"/>
            <a:ext cx="1587500" cy="596900"/>
          </a:xfrm>
          <a:custGeom>
            <a:avLst/>
            <a:gdLst/>
            <a:ahLst/>
            <a:cxnLst/>
            <a:rect l="0" t="0" r="r" b="b"/>
            <a:pathLst>
              <a:path w="1587500" h="596900">
                <a:moveTo>
                  <a:pt x="101600" y="0"/>
                </a:moveTo>
                <a:lnTo>
                  <a:pt x="1485900" y="0"/>
                </a:lnTo>
                <a:cubicBezTo>
                  <a:pt x="1542034" y="0"/>
                  <a:pt x="1587500" y="45466"/>
                  <a:pt x="1587500" y="101600"/>
                </a:cubicBezTo>
                <a:lnTo>
                  <a:pt x="1587500" y="495300"/>
                </a:lnTo>
                <a:cubicBezTo>
                  <a:pt x="1587500" y="551434"/>
                  <a:pt x="1542034" y="596900"/>
                  <a:pt x="1485900" y="596900"/>
                </a:cubicBezTo>
                <a:lnTo>
                  <a:pt x="101600" y="596900"/>
                </a:lnTo>
                <a:cubicBezTo>
                  <a:pt x="45466" y="596900"/>
                  <a:pt x="0" y="551434"/>
                  <a:pt x="0" y="495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EBA583"/>
              </a:gs>
              <a:gs pos="100000">
                <a:srgbClr val="E99B75"/>
              </a:gs>
            </a:gsLst>
            <a:lin ang="1080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pt-3"/>
          <p:cNvSpPr txBox="1"/>
          <p:nvPr/>
        </p:nvSpPr>
        <p:spPr>
          <a:xfrm>
            <a:off x="7985887" y="3594513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资深专家</a:t>
            </a:r>
          </a:p>
        </p:txBody>
      </p:sp>
      <p:sp>
        <p:nvSpPr>
          <p:cNvPr id="30" name="lv-3"/>
          <p:cNvSpPr/>
          <p:nvPr/>
        </p:nvSpPr>
        <p:spPr>
          <a:xfrm>
            <a:off x="5905500" y="3511550"/>
            <a:ext cx="381000" cy="3810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0B3E8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lvt-3"/>
          <p:cNvSpPr txBox="1"/>
          <p:nvPr/>
        </p:nvSpPr>
        <p:spPr>
          <a:xfrm>
            <a:off x="5980557" y="360534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L5</a:t>
            </a:r>
          </a:p>
        </p:txBody>
      </p:sp>
      <p:sp>
        <p:nvSpPr>
          <p:cNvPr id="32" name="pay-3"/>
          <p:cNvSpPr txBox="1"/>
          <p:nvPr/>
        </p:nvSpPr>
        <p:spPr>
          <a:xfrm>
            <a:off x="2690241" y="3633724"/>
            <a:ext cx="547751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40–60 万</a:t>
            </a:r>
          </a:p>
        </p:txBody>
      </p:sp>
      <p:sp>
        <p:nvSpPr>
          <p:cNvPr id="33" name="m-4"/>
          <p:cNvSpPr/>
          <p:nvPr/>
        </p:nvSpPr>
        <p:spPr>
          <a:xfrm>
            <a:off x="2997200" y="2717800"/>
            <a:ext cx="1587500" cy="596900"/>
          </a:xfrm>
          <a:custGeom>
            <a:avLst/>
            <a:gdLst/>
            <a:ahLst/>
            <a:cxnLst/>
            <a:rect l="0" t="0" r="r" b="b"/>
            <a:pathLst>
              <a:path w="1587500" h="596900">
                <a:moveTo>
                  <a:pt x="101600" y="0"/>
                </a:moveTo>
                <a:lnTo>
                  <a:pt x="1485900" y="0"/>
                </a:lnTo>
                <a:cubicBezTo>
                  <a:pt x="1542034" y="0"/>
                  <a:pt x="1587500" y="45466"/>
                  <a:pt x="1587500" y="101600"/>
                </a:cubicBezTo>
                <a:lnTo>
                  <a:pt x="1587500" y="495300"/>
                </a:lnTo>
                <a:cubicBezTo>
                  <a:pt x="1587500" y="551434"/>
                  <a:pt x="1542034" y="596900"/>
                  <a:pt x="1485900" y="596900"/>
                </a:cubicBezTo>
                <a:lnTo>
                  <a:pt x="101600" y="596900"/>
                </a:lnTo>
                <a:cubicBezTo>
                  <a:pt x="45466" y="596900"/>
                  <a:pt x="0" y="551434"/>
                  <a:pt x="0" y="495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3D73B5"/>
              </a:gs>
              <a:gs pos="100000">
                <a:srgbClr val="1B5AA8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mt-4"/>
          <p:cNvSpPr txBox="1"/>
          <p:nvPr/>
        </p:nvSpPr>
        <p:spPr>
          <a:xfrm>
            <a:off x="3146298" y="2908713"/>
            <a:ext cx="4121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总监</a:t>
            </a:r>
          </a:p>
        </p:txBody>
      </p:sp>
      <p:sp>
        <p:nvSpPr>
          <p:cNvPr id="35" name="p-4"/>
          <p:cNvSpPr/>
          <p:nvPr/>
        </p:nvSpPr>
        <p:spPr>
          <a:xfrm>
            <a:off x="7607300" y="2717800"/>
            <a:ext cx="1587500" cy="596900"/>
          </a:xfrm>
          <a:custGeom>
            <a:avLst/>
            <a:gdLst/>
            <a:ahLst/>
            <a:cxnLst/>
            <a:rect l="0" t="0" r="r" b="b"/>
            <a:pathLst>
              <a:path w="1587500" h="596900">
                <a:moveTo>
                  <a:pt x="101600" y="0"/>
                </a:moveTo>
                <a:lnTo>
                  <a:pt x="1485900" y="0"/>
                </a:lnTo>
                <a:cubicBezTo>
                  <a:pt x="1542034" y="0"/>
                  <a:pt x="1587500" y="45466"/>
                  <a:pt x="1587500" y="101600"/>
                </a:cubicBezTo>
                <a:lnTo>
                  <a:pt x="1587500" y="495300"/>
                </a:lnTo>
                <a:cubicBezTo>
                  <a:pt x="1587500" y="551434"/>
                  <a:pt x="1542034" y="596900"/>
                  <a:pt x="1485900" y="596900"/>
                </a:cubicBezTo>
                <a:lnTo>
                  <a:pt x="101600" y="596900"/>
                </a:lnTo>
                <a:cubicBezTo>
                  <a:pt x="45466" y="596900"/>
                  <a:pt x="0" y="551434"/>
                  <a:pt x="0" y="495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E89871"/>
              </a:gs>
              <a:gs pos="100000">
                <a:srgbClr val="E68D61"/>
              </a:gs>
            </a:gsLst>
            <a:lin ang="1080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pt-4"/>
          <p:cNvSpPr txBox="1"/>
          <p:nvPr/>
        </p:nvSpPr>
        <p:spPr>
          <a:xfrm>
            <a:off x="8341487" y="2908713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首席专家</a:t>
            </a:r>
          </a:p>
        </p:txBody>
      </p:sp>
      <p:sp>
        <p:nvSpPr>
          <p:cNvPr id="37" name="lv-4"/>
          <p:cNvSpPr/>
          <p:nvPr/>
        </p:nvSpPr>
        <p:spPr>
          <a:xfrm>
            <a:off x="5905500" y="2825750"/>
            <a:ext cx="381000" cy="3810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0B3E8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lvt-4"/>
          <p:cNvSpPr txBox="1"/>
          <p:nvPr/>
        </p:nvSpPr>
        <p:spPr>
          <a:xfrm>
            <a:off x="5980557" y="291954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L6</a:t>
            </a:r>
          </a:p>
        </p:txBody>
      </p:sp>
      <p:sp>
        <p:nvSpPr>
          <p:cNvPr id="39" name="pay-4"/>
          <p:cNvSpPr txBox="1"/>
          <p:nvPr/>
        </p:nvSpPr>
        <p:spPr>
          <a:xfrm>
            <a:off x="2334641" y="2947924"/>
            <a:ext cx="547751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60–90 万</a:t>
            </a:r>
          </a:p>
        </p:txBody>
      </p:sp>
      <p:sp>
        <p:nvSpPr>
          <p:cNvPr id="40" name="m-5"/>
          <p:cNvSpPr/>
          <p:nvPr/>
        </p:nvSpPr>
        <p:spPr>
          <a:xfrm>
            <a:off x="2641600" y="2032000"/>
            <a:ext cx="1587500" cy="596900"/>
          </a:xfrm>
          <a:custGeom>
            <a:avLst/>
            <a:gdLst/>
            <a:ahLst/>
            <a:cxnLst/>
            <a:rect l="0" t="0" r="r" b="b"/>
            <a:pathLst>
              <a:path w="1587500" h="596900">
                <a:moveTo>
                  <a:pt x="101600" y="0"/>
                </a:moveTo>
                <a:lnTo>
                  <a:pt x="1485900" y="0"/>
                </a:lnTo>
                <a:cubicBezTo>
                  <a:pt x="1542034" y="0"/>
                  <a:pt x="1587500" y="45466"/>
                  <a:pt x="1587500" y="101600"/>
                </a:cubicBezTo>
                <a:lnTo>
                  <a:pt x="1587500" y="495300"/>
                </a:lnTo>
                <a:cubicBezTo>
                  <a:pt x="1587500" y="551434"/>
                  <a:pt x="1542034" y="596900"/>
                  <a:pt x="1485900" y="596900"/>
                </a:cubicBezTo>
                <a:lnTo>
                  <a:pt x="101600" y="596900"/>
                </a:lnTo>
                <a:cubicBezTo>
                  <a:pt x="45466" y="596900"/>
                  <a:pt x="0" y="551434"/>
                  <a:pt x="0" y="495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3667AB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mt-5"/>
          <p:cNvSpPr txBox="1"/>
          <p:nvPr/>
        </p:nvSpPr>
        <p:spPr>
          <a:xfrm>
            <a:off x="2790698" y="2222913"/>
            <a:ext cx="55816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副总裁</a:t>
            </a:r>
          </a:p>
        </p:txBody>
      </p:sp>
      <p:sp>
        <p:nvSpPr>
          <p:cNvPr id="42" name="p-5"/>
          <p:cNvSpPr/>
          <p:nvPr/>
        </p:nvSpPr>
        <p:spPr>
          <a:xfrm>
            <a:off x="7962900" y="2032000"/>
            <a:ext cx="1587500" cy="596900"/>
          </a:xfrm>
          <a:custGeom>
            <a:avLst/>
            <a:gdLst/>
            <a:ahLst/>
            <a:cxnLst/>
            <a:rect l="0" t="0" r="r" b="b"/>
            <a:pathLst>
              <a:path w="1587500" h="596900">
                <a:moveTo>
                  <a:pt x="101600" y="0"/>
                </a:moveTo>
                <a:lnTo>
                  <a:pt x="1485900" y="0"/>
                </a:lnTo>
                <a:cubicBezTo>
                  <a:pt x="1542034" y="0"/>
                  <a:pt x="1587500" y="45466"/>
                  <a:pt x="1587500" y="101600"/>
                </a:cubicBezTo>
                <a:lnTo>
                  <a:pt x="1587500" y="495300"/>
                </a:lnTo>
                <a:cubicBezTo>
                  <a:pt x="1587500" y="551434"/>
                  <a:pt x="1542034" y="596900"/>
                  <a:pt x="1485900" y="596900"/>
                </a:cubicBezTo>
                <a:lnTo>
                  <a:pt x="101600" y="596900"/>
                </a:lnTo>
                <a:cubicBezTo>
                  <a:pt x="45466" y="596900"/>
                  <a:pt x="0" y="551434"/>
                  <a:pt x="0" y="495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E68B60"/>
              </a:gs>
              <a:gs pos="100000">
                <a:srgbClr val="E37E4E"/>
              </a:gs>
            </a:gsLst>
            <a:lin ang="1080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pt-5"/>
          <p:cNvSpPr txBox="1"/>
          <p:nvPr/>
        </p:nvSpPr>
        <p:spPr>
          <a:xfrm>
            <a:off x="8843137" y="2222913"/>
            <a:ext cx="55816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科学家</a:t>
            </a:r>
          </a:p>
        </p:txBody>
      </p:sp>
      <p:sp>
        <p:nvSpPr>
          <p:cNvPr id="44" name="lv-5"/>
          <p:cNvSpPr/>
          <p:nvPr/>
        </p:nvSpPr>
        <p:spPr>
          <a:xfrm>
            <a:off x="5905500" y="2139950"/>
            <a:ext cx="381000" cy="3810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0B3E8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lvt-5"/>
          <p:cNvSpPr txBox="1"/>
          <p:nvPr/>
        </p:nvSpPr>
        <p:spPr>
          <a:xfrm>
            <a:off x="5980557" y="223374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L7</a:t>
            </a:r>
          </a:p>
        </p:txBody>
      </p:sp>
      <p:sp>
        <p:nvSpPr>
          <p:cNvPr id="46" name="pay-5"/>
          <p:cNvSpPr txBox="1"/>
          <p:nvPr/>
        </p:nvSpPr>
        <p:spPr>
          <a:xfrm>
            <a:off x="2096643" y="2262124"/>
            <a:ext cx="430149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90 万+</a:t>
            </a:r>
          </a:p>
        </p:txBody>
      </p:sp>
      <p:cxnSp>
        <p:nvCxnSpPr>
          <p:cNvPr id="47" name="axis"/>
          <p:cNvCxnSpPr/>
          <p:nvPr/>
        </p:nvCxnSpPr>
        <p:spPr>
          <a:xfrm>
            <a:off x="6096000" y="1968500"/>
            <a:ext cx="0" cy="3492500"/>
          </a:xfrm>
          <a:prstGeom prst="line">
            <a:avLst/>
          </a:prstGeom>
          <a:ln w="19050" cap="rnd">
            <a:solidFill>
              <a:srgbClr val="0B3E8F">
                <a:alpha val="2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ch-1"/>
          <p:cNvSpPr txBox="1"/>
          <p:nvPr/>
        </p:nvSpPr>
        <p:spPr>
          <a:xfrm>
            <a:off x="929640" y="1352232"/>
            <a:ext cx="103505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 spc="200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管理通道</a:t>
            </a:r>
          </a:p>
        </p:txBody>
      </p:sp>
      <p:sp>
        <p:nvSpPr>
          <p:cNvPr id="49" name="chs-1"/>
          <p:cNvSpPr txBox="1"/>
          <p:nvPr/>
        </p:nvSpPr>
        <p:spPr>
          <a:xfrm>
            <a:off x="939165" y="1678861"/>
            <a:ext cx="120364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带团队 · 对结果负责</a:t>
            </a:r>
          </a:p>
        </p:txBody>
      </p:sp>
      <p:sp>
        <p:nvSpPr>
          <p:cNvPr id="50" name="ch-2"/>
          <p:cNvSpPr txBox="1"/>
          <p:nvPr/>
        </p:nvSpPr>
        <p:spPr>
          <a:xfrm>
            <a:off x="10227310" y="1352232"/>
            <a:ext cx="103505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500" b="1" spc="20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专业通道</a:t>
            </a:r>
          </a:p>
        </p:txBody>
      </p:sp>
      <p:sp>
        <p:nvSpPr>
          <p:cNvPr id="51" name="chs-2"/>
          <p:cNvSpPr txBox="1"/>
          <p:nvPr/>
        </p:nvSpPr>
        <p:spPr>
          <a:xfrm>
            <a:off x="10049192" y="1678861"/>
            <a:ext cx="120364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做专家 · 对技术负责</a:t>
            </a:r>
          </a:p>
        </p:txBody>
      </p:sp>
      <p:sp>
        <p:nvSpPr>
          <p:cNvPr id="52" name="swap"/>
          <p:cNvSpPr/>
          <p:nvPr/>
        </p:nvSpPr>
        <p:spPr>
          <a:xfrm>
            <a:off x="5143500" y="1358900"/>
            <a:ext cx="1905000" cy="482600"/>
          </a:xfrm>
          <a:custGeom>
            <a:avLst/>
            <a:gdLst/>
            <a:ahLst/>
            <a:cxnLst/>
            <a:rect l="0" t="0" r="r" b="b"/>
            <a:pathLst>
              <a:path w="1905000" h="482600">
                <a:moveTo>
                  <a:pt x="127000" y="0"/>
                </a:moveTo>
                <a:lnTo>
                  <a:pt x="1778000" y="0"/>
                </a:lnTo>
                <a:cubicBezTo>
                  <a:pt x="1848167" y="0"/>
                  <a:pt x="1905000" y="56832"/>
                  <a:pt x="1905000" y="127000"/>
                </a:cubicBezTo>
                <a:lnTo>
                  <a:pt x="1905000" y="355600"/>
                </a:lnTo>
                <a:cubicBezTo>
                  <a:pt x="1905000" y="425768"/>
                  <a:pt x="1848167" y="482600"/>
                  <a:pt x="1778000" y="482600"/>
                </a:cubicBezTo>
                <a:lnTo>
                  <a:pt x="127000" y="482600"/>
                </a:lnTo>
                <a:cubicBezTo>
                  <a:pt x="56833" y="482600"/>
                  <a:pt x="0" y="425768"/>
                  <a:pt x="0" y="3556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swap-t"/>
          <p:cNvSpPr txBox="1"/>
          <p:nvPr/>
        </p:nvSpPr>
        <p:spPr>
          <a:xfrm>
            <a:off x="5655945" y="1405255"/>
            <a:ext cx="88011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⇄  双向转换</a:t>
            </a:r>
          </a:p>
        </p:txBody>
      </p:sp>
      <p:sp>
        <p:nvSpPr>
          <p:cNvPr id="54" name="swap-p"/>
          <p:cNvSpPr txBox="1"/>
          <p:nvPr/>
        </p:nvSpPr>
        <p:spPr>
          <a:xfrm>
            <a:off x="5551456" y="1626187"/>
            <a:ext cx="1089089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L5 起每年一次申请窗口</a:t>
            </a:r>
          </a:p>
        </p:txBody>
      </p:sp>
      <p:sp>
        <p:nvSpPr>
          <p:cNvPr id="55" name="req-1"/>
          <p:cNvSpPr/>
          <p:nvPr/>
        </p:nvSpPr>
        <p:spPr>
          <a:xfrm>
            <a:off x="952500" y="4445000"/>
            <a:ext cx="1905000" cy="1206500"/>
          </a:xfrm>
          <a:custGeom>
            <a:avLst/>
            <a:gdLst/>
            <a:ahLst/>
            <a:cxnLst/>
            <a:rect l="0" t="0" r="r" b="b"/>
            <a:pathLst>
              <a:path w="1905000" h="1206500">
                <a:moveTo>
                  <a:pt x="127000" y="0"/>
                </a:moveTo>
                <a:lnTo>
                  <a:pt x="1778000" y="0"/>
                </a:lnTo>
                <a:cubicBezTo>
                  <a:pt x="1848168" y="0"/>
                  <a:pt x="1905000" y="56833"/>
                  <a:pt x="1905000" y="127000"/>
                </a:cubicBezTo>
                <a:lnTo>
                  <a:pt x="1905000" y="1079500"/>
                </a:lnTo>
                <a:cubicBezTo>
                  <a:pt x="1905000" y="1149667"/>
                  <a:pt x="1848168" y="1206500"/>
                  <a:pt x="1778000" y="1206500"/>
                </a:cubicBezTo>
                <a:lnTo>
                  <a:pt x="127000" y="1206500"/>
                </a:lnTo>
                <a:cubicBezTo>
                  <a:pt x="56832" y="1206500"/>
                  <a:pt x="0" y="1149667"/>
                  <a:pt x="0" y="1079500"/>
                </a:cubicBezTo>
                <a:lnTo>
                  <a:pt x="0" y="127000"/>
                </a:lnTo>
                <a:cubicBezTo>
                  <a:pt x="0" y="56833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reqb-1"/>
          <p:cNvSpPr/>
          <p:nvPr/>
        </p:nvSpPr>
        <p:spPr>
          <a:xfrm>
            <a:off x="952500" y="4445000"/>
            <a:ext cx="38100" cy="1206500"/>
          </a:xfrm>
          <a:custGeom>
            <a:avLst/>
            <a:gdLst/>
            <a:ahLst/>
            <a:cxnLst/>
            <a:rect l="0" t="0" r="r" b="b"/>
            <a:pathLst>
              <a:path w="38100" h="12065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187450"/>
                </a:lnTo>
                <a:cubicBezTo>
                  <a:pt x="38100" y="1197991"/>
                  <a:pt x="29591" y="1206500"/>
                  <a:pt x="19050" y="1206500"/>
                </a:cubicBezTo>
                <a:lnTo>
                  <a:pt x="19050" y="1206500"/>
                </a:lnTo>
                <a:cubicBezTo>
                  <a:pt x="8509" y="1206500"/>
                  <a:pt x="0" y="1197991"/>
                  <a:pt x="0" y="11874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reqh-1"/>
          <p:cNvSpPr txBox="1"/>
          <p:nvPr/>
        </p:nvSpPr>
        <p:spPr>
          <a:xfrm>
            <a:off x="1128522" y="4575397"/>
            <a:ext cx="759460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晋升看什么</a:t>
            </a:r>
          </a:p>
        </p:txBody>
      </p:sp>
      <p:sp>
        <p:nvSpPr>
          <p:cNvPr id="58" name="reqd-1-0"/>
          <p:cNvSpPr/>
          <p:nvPr/>
        </p:nvSpPr>
        <p:spPr>
          <a:xfrm>
            <a:off x="1165225" y="4911725"/>
            <a:ext cx="57150" cy="5715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reqt-1-0"/>
          <p:cNvSpPr txBox="1"/>
          <p:nvPr/>
        </p:nvSpPr>
        <p:spPr>
          <a:xfrm>
            <a:off x="1282446" y="4845082"/>
            <a:ext cx="75628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团队业绩达成</a:t>
            </a:r>
          </a:p>
        </p:txBody>
      </p:sp>
      <p:sp>
        <p:nvSpPr>
          <p:cNvPr id="60" name="reqd-1-1"/>
          <p:cNvSpPr/>
          <p:nvPr/>
        </p:nvSpPr>
        <p:spPr>
          <a:xfrm>
            <a:off x="1165225" y="5140325"/>
            <a:ext cx="57150" cy="5715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reqt-1-1"/>
          <p:cNvSpPr txBox="1"/>
          <p:nvPr/>
        </p:nvSpPr>
        <p:spPr>
          <a:xfrm>
            <a:off x="1282446" y="5073682"/>
            <a:ext cx="75628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下属培养数量</a:t>
            </a:r>
          </a:p>
        </p:txBody>
      </p:sp>
      <p:sp>
        <p:nvSpPr>
          <p:cNvPr id="62" name="reqd-1-2"/>
          <p:cNvSpPr/>
          <p:nvPr/>
        </p:nvSpPr>
        <p:spPr>
          <a:xfrm>
            <a:off x="1165225" y="5368925"/>
            <a:ext cx="57150" cy="5715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reqt-1-2"/>
          <p:cNvSpPr txBox="1"/>
          <p:nvPr/>
        </p:nvSpPr>
        <p:spPr>
          <a:xfrm>
            <a:off x="1282446" y="5302282"/>
            <a:ext cx="86614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跨部门协作评价</a:t>
            </a:r>
          </a:p>
        </p:txBody>
      </p:sp>
      <p:sp>
        <p:nvSpPr>
          <p:cNvPr id="64" name="req-2"/>
          <p:cNvSpPr/>
          <p:nvPr/>
        </p:nvSpPr>
        <p:spPr>
          <a:xfrm>
            <a:off x="9334500" y="4445000"/>
            <a:ext cx="1905000" cy="1206500"/>
          </a:xfrm>
          <a:custGeom>
            <a:avLst/>
            <a:gdLst/>
            <a:ahLst/>
            <a:cxnLst/>
            <a:rect l="0" t="0" r="r" b="b"/>
            <a:pathLst>
              <a:path w="1905000" h="1206500">
                <a:moveTo>
                  <a:pt x="127000" y="0"/>
                </a:moveTo>
                <a:lnTo>
                  <a:pt x="1778000" y="0"/>
                </a:lnTo>
                <a:cubicBezTo>
                  <a:pt x="1848167" y="0"/>
                  <a:pt x="1905000" y="56833"/>
                  <a:pt x="1905000" y="127000"/>
                </a:cubicBezTo>
                <a:lnTo>
                  <a:pt x="1905000" y="1079500"/>
                </a:lnTo>
                <a:cubicBezTo>
                  <a:pt x="1905000" y="1149667"/>
                  <a:pt x="1848167" y="1206500"/>
                  <a:pt x="1778000" y="1206500"/>
                </a:cubicBezTo>
                <a:lnTo>
                  <a:pt x="127000" y="1206500"/>
                </a:lnTo>
                <a:cubicBezTo>
                  <a:pt x="56833" y="1206500"/>
                  <a:pt x="0" y="1149667"/>
                  <a:pt x="0" y="10795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reqb-2"/>
          <p:cNvSpPr/>
          <p:nvPr/>
        </p:nvSpPr>
        <p:spPr>
          <a:xfrm>
            <a:off x="9334500" y="4445000"/>
            <a:ext cx="38100" cy="1206500"/>
          </a:xfrm>
          <a:custGeom>
            <a:avLst/>
            <a:gdLst/>
            <a:ahLst/>
            <a:cxnLst/>
            <a:rect l="0" t="0" r="r" b="b"/>
            <a:pathLst>
              <a:path w="38100" h="12065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187450"/>
                </a:lnTo>
                <a:cubicBezTo>
                  <a:pt x="38100" y="1197991"/>
                  <a:pt x="29591" y="1206500"/>
                  <a:pt x="19050" y="1206500"/>
                </a:cubicBezTo>
                <a:lnTo>
                  <a:pt x="19050" y="1206500"/>
                </a:lnTo>
                <a:cubicBezTo>
                  <a:pt x="8509" y="1206500"/>
                  <a:pt x="0" y="1197991"/>
                  <a:pt x="0" y="11874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reqh-2"/>
          <p:cNvSpPr txBox="1"/>
          <p:nvPr/>
        </p:nvSpPr>
        <p:spPr>
          <a:xfrm>
            <a:off x="9510522" y="4575397"/>
            <a:ext cx="759460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晋升看什么</a:t>
            </a:r>
          </a:p>
        </p:txBody>
      </p:sp>
      <p:sp>
        <p:nvSpPr>
          <p:cNvPr id="67" name="reqd-2-0"/>
          <p:cNvSpPr/>
          <p:nvPr/>
        </p:nvSpPr>
        <p:spPr>
          <a:xfrm>
            <a:off x="9547225" y="4911725"/>
            <a:ext cx="57150" cy="5715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reqt-2-0"/>
          <p:cNvSpPr txBox="1"/>
          <p:nvPr/>
        </p:nvSpPr>
        <p:spPr>
          <a:xfrm>
            <a:off x="9664446" y="4845082"/>
            <a:ext cx="75628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技术难题攻关</a:t>
            </a:r>
          </a:p>
        </p:txBody>
      </p:sp>
      <p:sp>
        <p:nvSpPr>
          <p:cNvPr id="69" name="reqd-2-1"/>
          <p:cNvSpPr/>
          <p:nvPr/>
        </p:nvSpPr>
        <p:spPr>
          <a:xfrm>
            <a:off x="9547225" y="5140325"/>
            <a:ext cx="57150" cy="5715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reqt-2-1"/>
          <p:cNvSpPr txBox="1"/>
          <p:nvPr/>
        </p:nvSpPr>
        <p:spPr>
          <a:xfrm>
            <a:off x="9664446" y="5073682"/>
            <a:ext cx="86614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专利与标准贡献</a:t>
            </a:r>
          </a:p>
        </p:txBody>
      </p:sp>
      <p:sp>
        <p:nvSpPr>
          <p:cNvPr id="71" name="reqd-2-2"/>
          <p:cNvSpPr/>
          <p:nvPr/>
        </p:nvSpPr>
        <p:spPr>
          <a:xfrm>
            <a:off x="9547225" y="5368925"/>
            <a:ext cx="57150" cy="5715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reqt-2-2"/>
          <p:cNvSpPr txBox="1"/>
          <p:nvPr/>
        </p:nvSpPr>
        <p:spPr>
          <a:xfrm>
            <a:off x="9664446" y="5302282"/>
            <a:ext cx="86614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内部授课与带教</a:t>
            </a:r>
          </a:p>
        </p:txBody>
      </p:sp>
      <p:sp>
        <p:nvSpPr>
          <p:cNvPr id="73" name="note"/>
          <p:cNvSpPr txBox="1"/>
          <p:nvPr/>
        </p:nvSpPr>
        <p:spPr>
          <a:xfrm>
            <a:off x="10171303" y="5986208"/>
            <a:ext cx="107886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薪酬区间为年度总包示例</a:t>
            </a:r>
          </a:p>
        </p:txBody>
      </p:sp>
      <p:cxnSp>
        <p:nvCxnSpPr>
          <p:cNvPr id="74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5" name="foot-l"/>
          <p:cNvSpPr txBox="1"/>
          <p:nvPr/>
        </p:nvSpPr>
        <p:spPr>
          <a:xfrm>
            <a:off x="573532" y="6532308"/>
            <a:ext cx="9469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职业阶梯 · 双通道</a:t>
            </a:r>
          </a:p>
        </p:txBody>
      </p:sp>
      <p:sp>
        <p:nvSpPr>
          <p:cNvPr id="76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7518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2028 战略屋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35483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STRATEGY HOUSE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094599" y="673132"/>
            <a:ext cx="35261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屋顶是愿景，四根柱子是战略方向，地基是支撑所有方向的共同能力</a:t>
            </a:r>
          </a:p>
        </p:txBody>
      </p:sp>
      <p:sp>
        <p:nvSpPr>
          <p:cNvPr id="10" name="roof"/>
          <p:cNvSpPr/>
          <p:nvPr/>
        </p:nvSpPr>
        <p:spPr>
          <a:xfrm>
            <a:off x="1841500" y="1314450"/>
            <a:ext cx="8509000" cy="1225550"/>
          </a:xfrm>
          <a:custGeom>
            <a:avLst/>
            <a:gdLst/>
            <a:ahLst/>
            <a:cxnLst/>
            <a:rect l="0" t="0" r="r" b="b"/>
            <a:pathLst>
              <a:path w="8509000" h="1225550">
                <a:moveTo>
                  <a:pt x="0" y="1225550"/>
                </a:moveTo>
                <a:quadBezTo>
                  <a:pt x="0" y="1123950"/>
                  <a:pt x="127000" y="1060450"/>
                </a:quadBezTo>
                <a:lnTo>
                  <a:pt x="4064000" y="44450"/>
                </a:lnTo>
                <a:quadBezTo>
                  <a:pt x="4254500" y="-44450"/>
                  <a:pt x="4445000" y="44450"/>
                </a:quadBezTo>
                <a:lnTo>
                  <a:pt x="8382000" y="1060450"/>
                </a:lnTo>
                <a:quadBezTo>
                  <a:pt x="8509000" y="1123950"/>
                  <a:pt x="8509000" y="1225550"/>
                </a:quad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54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v-l"/>
          <p:cNvSpPr txBox="1"/>
          <p:nvPr/>
        </p:nvSpPr>
        <p:spPr>
          <a:xfrm>
            <a:off x="5910580" y="1779524"/>
            <a:ext cx="3708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300">
                <a:solidFill>
                  <a:srgbClr val="9CC6F0"/>
                </a:solidFill>
                <a:latin typeface="微软雅黑"/>
                <a:ea typeface="微软雅黑"/>
                <a:cs typeface="微软雅黑"/>
              </a:rPr>
              <a:t>愿景</a:t>
            </a:r>
          </a:p>
        </p:txBody>
      </p:sp>
      <p:sp>
        <p:nvSpPr>
          <p:cNvPr id="12" name="v-t"/>
          <p:cNvSpPr txBox="1"/>
          <p:nvPr/>
        </p:nvSpPr>
        <p:spPr>
          <a:xfrm>
            <a:off x="4714875" y="1936432"/>
            <a:ext cx="276225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成为制造业数字化首选伙伴</a:t>
            </a:r>
          </a:p>
        </p:txBody>
      </p:sp>
      <p:sp>
        <p:nvSpPr>
          <p:cNvPr id="13" name="v-p"/>
          <p:cNvSpPr txBox="1"/>
          <p:nvPr/>
        </p:nvSpPr>
        <p:spPr>
          <a:xfrm>
            <a:off x="4963668" y="2287524"/>
            <a:ext cx="226466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5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2028 年营收 30 亿 · 服务客户 5,000 家</a:t>
            </a:r>
          </a:p>
        </p:txBody>
      </p:sp>
      <p:sp>
        <p:nvSpPr>
          <p:cNvPr id="14" name="beam"/>
          <p:cNvSpPr/>
          <p:nvPr/>
        </p:nvSpPr>
        <p:spPr>
          <a:xfrm>
            <a:off x="2032000" y="2628900"/>
            <a:ext cx="8128000" cy="101600"/>
          </a:xfrm>
          <a:custGeom>
            <a:avLst/>
            <a:gdLst/>
            <a:ahLst/>
            <a:cxnLst/>
            <a:rect l="0" t="0" r="r" b="b"/>
            <a:pathLst>
              <a:path w="8128000" h="101600">
                <a:moveTo>
                  <a:pt x="50800" y="0"/>
                </a:moveTo>
                <a:lnTo>
                  <a:pt x="8077200" y="0"/>
                </a:lnTo>
                <a:cubicBezTo>
                  <a:pt x="8105267" y="0"/>
                  <a:pt x="8128000" y="22733"/>
                  <a:pt x="8128000" y="50800"/>
                </a:cubicBezTo>
                <a:lnTo>
                  <a:pt x="8128000" y="50800"/>
                </a:lnTo>
                <a:cubicBezTo>
                  <a:pt x="8128000" y="78867"/>
                  <a:pt x="8105267" y="101600"/>
                  <a:pt x="80772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p-1"/>
          <p:cNvSpPr/>
          <p:nvPr/>
        </p:nvSpPr>
        <p:spPr>
          <a:xfrm>
            <a:off x="2095500" y="2819400"/>
            <a:ext cx="1876425" cy="2133600"/>
          </a:xfrm>
          <a:custGeom>
            <a:avLst/>
            <a:gdLst/>
            <a:ahLst/>
            <a:cxnLst/>
            <a:rect l="0" t="0" r="r" b="b"/>
            <a:pathLst>
              <a:path w="1876425" h="2133600">
                <a:moveTo>
                  <a:pt x="101600" y="0"/>
                </a:moveTo>
                <a:lnTo>
                  <a:pt x="1774825" y="0"/>
                </a:lnTo>
                <a:cubicBezTo>
                  <a:pt x="1830959" y="0"/>
                  <a:pt x="1876425" y="45466"/>
                  <a:pt x="1876425" y="101600"/>
                </a:cubicBezTo>
                <a:lnTo>
                  <a:pt x="1876425" y="2032000"/>
                </a:lnTo>
                <a:cubicBezTo>
                  <a:pt x="1876425" y="2088134"/>
                  <a:pt x="1830959" y="2133600"/>
                  <a:pt x="1774825" y="2133600"/>
                </a:cubicBezTo>
                <a:lnTo>
                  <a:pt x="101600" y="2133600"/>
                </a:lnTo>
                <a:cubicBezTo>
                  <a:pt x="45466" y="2133600"/>
                  <a:pt x="0" y="2088134"/>
                  <a:pt x="0" y="2032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pc-1"/>
          <p:cNvSpPr/>
          <p:nvPr/>
        </p:nvSpPr>
        <p:spPr>
          <a:xfrm>
            <a:off x="2095500" y="2819400"/>
            <a:ext cx="1876425" cy="63500"/>
          </a:xfrm>
          <a:custGeom>
            <a:avLst/>
            <a:gdLst/>
            <a:ahLst/>
            <a:cxnLst/>
            <a:rect l="0" t="0" r="r" b="b"/>
            <a:pathLst>
              <a:path w="1876425" h="63500">
                <a:moveTo>
                  <a:pt x="31750" y="0"/>
                </a:moveTo>
                <a:lnTo>
                  <a:pt x="1844675" y="0"/>
                </a:lnTo>
                <a:cubicBezTo>
                  <a:pt x="1862201" y="0"/>
                  <a:pt x="1876425" y="14224"/>
                  <a:pt x="1876425" y="31750"/>
                </a:cubicBezTo>
                <a:lnTo>
                  <a:pt x="1876425" y="31750"/>
                </a:lnTo>
                <a:cubicBezTo>
                  <a:pt x="1876425" y="49276"/>
                  <a:pt x="1862201" y="63500"/>
                  <a:pt x="1844675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chip"/>
          <p:cNvSpPr/>
          <p:nvPr/>
        </p:nvSpPr>
        <p:spPr>
          <a:xfrm>
            <a:off x="2817812" y="3086100"/>
            <a:ext cx="431800" cy="431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chip-ring"/>
          <p:cNvSpPr/>
          <p:nvPr/>
        </p:nvSpPr>
        <p:spPr>
          <a:xfrm>
            <a:off x="2817812" y="3086100"/>
            <a:ext cx="431800" cy="431800"/>
          </a:xfrm>
          <a:prstGeom prst="ellipse">
            <a:avLst/>
          </a:prstGeom>
          <a:noFill/>
          <a:ln w="6350" cap="rnd">
            <a:solidFill>
              <a:srgbClr val="134C9C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icon-target"/>
          <p:cNvSpPr/>
          <p:nvPr/>
        </p:nvSpPr>
        <p:spPr>
          <a:xfrm>
            <a:off x="3033712" y="3229166"/>
            <a:ext cx="55880" cy="72835"/>
          </a:xfrm>
          <a:custGeom>
            <a:avLst/>
            <a:gdLst/>
            <a:ahLst/>
            <a:cxnLst/>
            <a:rect l="0" t="0" r="r" b="b"/>
            <a:pathLst>
              <a:path w="55880" h="72835">
                <a:moveTo>
                  <a:pt x="0" y="42355"/>
                </a:moveTo>
                <a:lnTo>
                  <a:pt x="0" y="0"/>
                </a:lnTo>
                <a:moveTo>
                  <a:pt x="0" y="72835"/>
                </a:moveTo>
                <a:lnTo>
                  <a:pt x="55880" y="16955"/>
                </a:lnTo>
              </a:path>
            </a:pathLst>
          </a:custGeom>
          <a:noFill/>
          <a:ln w="1333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icon-target"/>
          <p:cNvSpPr/>
          <p:nvPr/>
        </p:nvSpPr>
        <p:spPr>
          <a:xfrm>
            <a:off x="2960899" y="3229187"/>
            <a:ext cx="145627" cy="145627"/>
          </a:xfrm>
          <a:prstGeom prst="ellipse">
            <a:avLst/>
          </a:prstGeom>
          <a:noFill/>
          <a:ln w="1333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icon-target"/>
          <p:cNvSpPr/>
          <p:nvPr/>
        </p:nvSpPr>
        <p:spPr>
          <a:xfrm>
            <a:off x="2996459" y="3264747"/>
            <a:ext cx="74507" cy="74507"/>
          </a:xfrm>
          <a:prstGeom prst="ellipse">
            <a:avLst/>
          </a:prstGeom>
          <a:noFill/>
          <a:ln w="1333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pn-1"/>
          <p:cNvSpPr txBox="1"/>
          <p:nvPr/>
        </p:nvSpPr>
        <p:spPr>
          <a:xfrm>
            <a:off x="2578418" y="3606102"/>
            <a:ext cx="9105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产品领先</a:t>
            </a:r>
          </a:p>
        </p:txBody>
      </p:sp>
      <p:cxnSp>
        <p:nvCxnSpPr>
          <p:cNvPr id="23" name="ps-1"/>
          <p:cNvCxnSpPr/>
          <p:nvPr/>
        </p:nvCxnSpPr>
        <p:spPr>
          <a:xfrm>
            <a:off x="2349500" y="3987800"/>
            <a:ext cx="1368425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pi-1-0"/>
          <p:cNvSpPr/>
          <p:nvPr/>
        </p:nvSpPr>
        <p:spPr>
          <a:xfrm>
            <a:off x="2286000" y="4152900"/>
            <a:ext cx="1495425" cy="266700"/>
          </a:xfrm>
          <a:custGeom>
            <a:avLst/>
            <a:gdLst/>
            <a:ahLst/>
            <a:cxnLst/>
            <a:rect l="0" t="0" r="r" b="b"/>
            <a:pathLst>
              <a:path w="1495425" h="266700">
                <a:moveTo>
                  <a:pt x="76200" y="0"/>
                </a:moveTo>
                <a:lnTo>
                  <a:pt x="1419225" y="0"/>
                </a:lnTo>
                <a:cubicBezTo>
                  <a:pt x="1461326" y="0"/>
                  <a:pt x="1495425" y="34100"/>
                  <a:pt x="1495425" y="76200"/>
                </a:cubicBezTo>
                <a:lnTo>
                  <a:pt x="1495425" y="190500"/>
                </a:lnTo>
                <a:cubicBezTo>
                  <a:pt x="1495425" y="232600"/>
                  <a:pt x="1461326" y="266700"/>
                  <a:pt x="1419225" y="266700"/>
                </a:cubicBezTo>
                <a:lnTo>
                  <a:pt x="76200" y="266700"/>
                </a:lnTo>
                <a:cubicBezTo>
                  <a:pt x="34100" y="266700"/>
                  <a:pt x="0" y="232600"/>
                  <a:pt x="0" y="1905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134C9C">
              <a:alpha val="9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pit-1-0"/>
          <p:cNvSpPr txBox="1"/>
          <p:nvPr/>
        </p:nvSpPr>
        <p:spPr>
          <a:xfrm>
            <a:off x="2611882" y="4197382"/>
            <a:ext cx="84366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25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AI 原生产品线</a:t>
            </a:r>
          </a:p>
        </p:txBody>
      </p:sp>
      <p:sp>
        <p:nvSpPr>
          <p:cNvPr id="26" name="pi-1-1"/>
          <p:cNvSpPr/>
          <p:nvPr/>
        </p:nvSpPr>
        <p:spPr>
          <a:xfrm>
            <a:off x="2286000" y="4508500"/>
            <a:ext cx="1495425" cy="266700"/>
          </a:xfrm>
          <a:custGeom>
            <a:avLst/>
            <a:gdLst/>
            <a:ahLst/>
            <a:cxnLst/>
            <a:rect l="0" t="0" r="r" b="b"/>
            <a:pathLst>
              <a:path w="1495425" h="266700">
                <a:moveTo>
                  <a:pt x="76200" y="0"/>
                </a:moveTo>
                <a:lnTo>
                  <a:pt x="1419225" y="0"/>
                </a:lnTo>
                <a:cubicBezTo>
                  <a:pt x="1461326" y="0"/>
                  <a:pt x="1495425" y="34100"/>
                  <a:pt x="1495425" y="76200"/>
                </a:cubicBezTo>
                <a:lnTo>
                  <a:pt x="1495425" y="190500"/>
                </a:lnTo>
                <a:cubicBezTo>
                  <a:pt x="1495425" y="232600"/>
                  <a:pt x="1461326" y="266700"/>
                  <a:pt x="1419225" y="266700"/>
                </a:cubicBezTo>
                <a:lnTo>
                  <a:pt x="76200" y="266700"/>
                </a:lnTo>
                <a:cubicBezTo>
                  <a:pt x="34100" y="266700"/>
                  <a:pt x="0" y="232600"/>
                  <a:pt x="0" y="1905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134C9C">
              <a:alpha val="9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pit-1-1"/>
          <p:cNvSpPr txBox="1"/>
          <p:nvPr/>
        </p:nvSpPr>
        <p:spPr>
          <a:xfrm>
            <a:off x="2635631" y="4552982"/>
            <a:ext cx="79616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25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研发投入 12%</a:t>
            </a:r>
          </a:p>
        </p:txBody>
      </p:sp>
      <p:sp>
        <p:nvSpPr>
          <p:cNvPr id="28" name="p-2"/>
          <p:cNvSpPr/>
          <p:nvPr/>
        </p:nvSpPr>
        <p:spPr>
          <a:xfrm>
            <a:off x="4137025" y="2819400"/>
            <a:ext cx="1876425" cy="2133600"/>
          </a:xfrm>
          <a:custGeom>
            <a:avLst/>
            <a:gdLst/>
            <a:ahLst/>
            <a:cxnLst/>
            <a:rect l="0" t="0" r="r" b="b"/>
            <a:pathLst>
              <a:path w="1876425" h="2133600">
                <a:moveTo>
                  <a:pt x="101600" y="0"/>
                </a:moveTo>
                <a:lnTo>
                  <a:pt x="1774825" y="0"/>
                </a:lnTo>
                <a:cubicBezTo>
                  <a:pt x="1830959" y="0"/>
                  <a:pt x="1876425" y="45466"/>
                  <a:pt x="1876425" y="101600"/>
                </a:cubicBezTo>
                <a:lnTo>
                  <a:pt x="1876425" y="2032000"/>
                </a:lnTo>
                <a:cubicBezTo>
                  <a:pt x="1876425" y="2088134"/>
                  <a:pt x="1830959" y="2133600"/>
                  <a:pt x="1774825" y="2133600"/>
                </a:cubicBezTo>
                <a:lnTo>
                  <a:pt x="101600" y="2133600"/>
                </a:lnTo>
                <a:cubicBezTo>
                  <a:pt x="45466" y="2133600"/>
                  <a:pt x="0" y="2088134"/>
                  <a:pt x="0" y="2032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pc-2"/>
          <p:cNvSpPr/>
          <p:nvPr/>
        </p:nvSpPr>
        <p:spPr>
          <a:xfrm>
            <a:off x="4137025" y="2819400"/>
            <a:ext cx="1876425" cy="63500"/>
          </a:xfrm>
          <a:custGeom>
            <a:avLst/>
            <a:gdLst/>
            <a:ahLst/>
            <a:cxnLst/>
            <a:rect l="0" t="0" r="r" b="b"/>
            <a:pathLst>
              <a:path w="1876425" h="63500">
                <a:moveTo>
                  <a:pt x="31750" y="0"/>
                </a:moveTo>
                <a:lnTo>
                  <a:pt x="1844675" y="0"/>
                </a:lnTo>
                <a:cubicBezTo>
                  <a:pt x="1862201" y="0"/>
                  <a:pt x="1876425" y="14224"/>
                  <a:pt x="1876425" y="31750"/>
                </a:cubicBezTo>
                <a:lnTo>
                  <a:pt x="1876425" y="31750"/>
                </a:lnTo>
                <a:cubicBezTo>
                  <a:pt x="1876425" y="49276"/>
                  <a:pt x="1862201" y="63500"/>
                  <a:pt x="1844675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chip"/>
          <p:cNvSpPr/>
          <p:nvPr/>
        </p:nvSpPr>
        <p:spPr>
          <a:xfrm>
            <a:off x="4859338" y="3086100"/>
            <a:ext cx="431800" cy="431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chip-ring"/>
          <p:cNvSpPr/>
          <p:nvPr/>
        </p:nvSpPr>
        <p:spPr>
          <a:xfrm>
            <a:off x="4859338" y="3086100"/>
            <a:ext cx="431800" cy="431800"/>
          </a:xfrm>
          <a:prstGeom prst="ellipse">
            <a:avLst/>
          </a:prstGeom>
          <a:noFill/>
          <a:ln w="6350" cap="rnd">
            <a:solidFill>
              <a:srgbClr val="1B5AA8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icon-people"/>
          <p:cNvSpPr/>
          <p:nvPr/>
        </p:nvSpPr>
        <p:spPr>
          <a:xfrm>
            <a:off x="5004118" y="3324034"/>
            <a:ext cx="143955" cy="40640"/>
          </a:xfrm>
          <a:custGeom>
            <a:avLst/>
            <a:gdLst/>
            <a:ahLst/>
            <a:cxnLst/>
            <a:rect l="0" t="0" r="r" b="b"/>
            <a:pathLst>
              <a:path w="143955" h="40640">
                <a:moveTo>
                  <a:pt x="0" y="40640"/>
                </a:moveTo>
                <a:cubicBezTo>
                  <a:pt x="0" y="15240"/>
                  <a:pt x="21146" y="0"/>
                  <a:pt x="45720" y="0"/>
                </a:cubicBezTo>
                <a:cubicBezTo>
                  <a:pt x="70295" y="0"/>
                  <a:pt x="91440" y="15240"/>
                  <a:pt x="91440" y="40640"/>
                </a:cubicBezTo>
                <a:moveTo>
                  <a:pt x="108395" y="3365"/>
                </a:moveTo>
                <a:cubicBezTo>
                  <a:pt x="130366" y="5905"/>
                  <a:pt x="143955" y="21145"/>
                  <a:pt x="143955" y="40640"/>
                </a:cubicBezTo>
              </a:path>
            </a:pathLst>
          </a:custGeom>
          <a:noFill/>
          <a:ln w="1333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icon-people"/>
          <p:cNvSpPr/>
          <p:nvPr/>
        </p:nvSpPr>
        <p:spPr>
          <a:xfrm>
            <a:off x="5022744" y="3251200"/>
            <a:ext cx="54187" cy="54187"/>
          </a:xfrm>
          <a:prstGeom prst="ellipse">
            <a:avLst/>
          </a:prstGeom>
          <a:noFill/>
          <a:ln w="1333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icon-people"/>
          <p:cNvSpPr/>
          <p:nvPr/>
        </p:nvSpPr>
        <p:spPr>
          <a:xfrm>
            <a:off x="5095558" y="3251200"/>
            <a:ext cx="44027" cy="44027"/>
          </a:xfrm>
          <a:prstGeom prst="ellipse">
            <a:avLst/>
          </a:prstGeom>
          <a:noFill/>
          <a:ln w="1333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pn-2"/>
          <p:cNvSpPr txBox="1"/>
          <p:nvPr/>
        </p:nvSpPr>
        <p:spPr>
          <a:xfrm>
            <a:off x="4619942" y="3606102"/>
            <a:ext cx="9105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客户深耕</a:t>
            </a:r>
          </a:p>
        </p:txBody>
      </p:sp>
      <p:cxnSp>
        <p:nvCxnSpPr>
          <p:cNvPr id="36" name="ps-2"/>
          <p:cNvCxnSpPr/>
          <p:nvPr/>
        </p:nvCxnSpPr>
        <p:spPr>
          <a:xfrm>
            <a:off x="4391025" y="3987800"/>
            <a:ext cx="1368425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pi-2-0"/>
          <p:cNvSpPr/>
          <p:nvPr/>
        </p:nvSpPr>
        <p:spPr>
          <a:xfrm>
            <a:off x="4327525" y="4152900"/>
            <a:ext cx="1495425" cy="266700"/>
          </a:xfrm>
          <a:custGeom>
            <a:avLst/>
            <a:gdLst/>
            <a:ahLst/>
            <a:cxnLst/>
            <a:rect l="0" t="0" r="r" b="b"/>
            <a:pathLst>
              <a:path w="1495425" h="266700">
                <a:moveTo>
                  <a:pt x="76200" y="0"/>
                </a:moveTo>
                <a:lnTo>
                  <a:pt x="1419225" y="0"/>
                </a:lnTo>
                <a:cubicBezTo>
                  <a:pt x="1461326" y="0"/>
                  <a:pt x="1495425" y="34100"/>
                  <a:pt x="1495425" y="76200"/>
                </a:cubicBezTo>
                <a:lnTo>
                  <a:pt x="1495425" y="190500"/>
                </a:lnTo>
                <a:cubicBezTo>
                  <a:pt x="1495425" y="232600"/>
                  <a:pt x="1461326" y="266700"/>
                  <a:pt x="1419225" y="266700"/>
                </a:cubicBezTo>
                <a:lnTo>
                  <a:pt x="76200" y="266700"/>
                </a:lnTo>
                <a:cubicBezTo>
                  <a:pt x="34100" y="266700"/>
                  <a:pt x="0" y="232600"/>
                  <a:pt x="0" y="1905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1B5AA8">
              <a:alpha val="9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pit-2-0"/>
          <p:cNvSpPr txBox="1"/>
          <p:nvPr/>
        </p:nvSpPr>
        <p:spPr>
          <a:xfrm>
            <a:off x="4605464" y="4197382"/>
            <a:ext cx="93954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25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Top 200 大客户</a:t>
            </a:r>
          </a:p>
        </p:txBody>
      </p:sp>
      <p:sp>
        <p:nvSpPr>
          <p:cNvPr id="39" name="pi-2-1"/>
          <p:cNvSpPr/>
          <p:nvPr/>
        </p:nvSpPr>
        <p:spPr>
          <a:xfrm>
            <a:off x="4327525" y="4508500"/>
            <a:ext cx="1495425" cy="266700"/>
          </a:xfrm>
          <a:custGeom>
            <a:avLst/>
            <a:gdLst/>
            <a:ahLst/>
            <a:cxnLst/>
            <a:rect l="0" t="0" r="r" b="b"/>
            <a:pathLst>
              <a:path w="1495425" h="266700">
                <a:moveTo>
                  <a:pt x="76200" y="0"/>
                </a:moveTo>
                <a:lnTo>
                  <a:pt x="1419225" y="0"/>
                </a:lnTo>
                <a:cubicBezTo>
                  <a:pt x="1461326" y="0"/>
                  <a:pt x="1495425" y="34100"/>
                  <a:pt x="1495425" y="76200"/>
                </a:cubicBezTo>
                <a:lnTo>
                  <a:pt x="1495425" y="190500"/>
                </a:lnTo>
                <a:cubicBezTo>
                  <a:pt x="1495425" y="232600"/>
                  <a:pt x="1461326" y="266700"/>
                  <a:pt x="1419225" y="266700"/>
                </a:cubicBezTo>
                <a:lnTo>
                  <a:pt x="76200" y="266700"/>
                </a:lnTo>
                <a:cubicBezTo>
                  <a:pt x="34100" y="266700"/>
                  <a:pt x="0" y="232600"/>
                  <a:pt x="0" y="1905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1B5AA8">
              <a:alpha val="9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pit-2-1"/>
          <p:cNvSpPr txBox="1"/>
          <p:nvPr/>
        </p:nvSpPr>
        <p:spPr>
          <a:xfrm>
            <a:off x="4732718" y="4552982"/>
            <a:ext cx="685038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25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续约率 95%</a:t>
            </a:r>
          </a:p>
        </p:txBody>
      </p:sp>
      <p:sp>
        <p:nvSpPr>
          <p:cNvPr id="41" name="p-3"/>
          <p:cNvSpPr/>
          <p:nvPr/>
        </p:nvSpPr>
        <p:spPr>
          <a:xfrm>
            <a:off x="6178550" y="2819400"/>
            <a:ext cx="1876425" cy="2133600"/>
          </a:xfrm>
          <a:custGeom>
            <a:avLst/>
            <a:gdLst/>
            <a:ahLst/>
            <a:cxnLst/>
            <a:rect l="0" t="0" r="r" b="b"/>
            <a:pathLst>
              <a:path w="1876425" h="2133600">
                <a:moveTo>
                  <a:pt x="101600" y="0"/>
                </a:moveTo>
                <a:lnTo>
                  <a:pt x="1774825" y="0"/>
                </a:lnTo>
                <a:cubicBezTo>
                  <a:pt x="1830959" y="0"/>
                  <a:pt x="1876425" y="45466"/>
                  <a:pt x="1876425" y="101600"/>
                </a:cubicBezTo>
                <a:lnTo>
                  <a:pt x="1876425" y="2032000"/>
                </a:lnTo>
                <a:cubicBezTo>
                  <a:pt x="1876425" y="2088134"/>
                  <a:pt x="1830959" y="2133600"/>
                  <a:pt x="1774825" y="2133600"/>
                </a:cubicBezTo>
                <a:lnTo>
                  <a:pt x="101600" y="2133600"/>
                </a:lnTo>
                <a:cubicBezTo>
                  <a:pt x="45466" y="2133600"/>
                  <a:pt x="0" y="2088134"/>
                  <a:pt x="0" y="2032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pc-3"/>
          <p:cNvSpPr/>
          <p:nvPr/>
        </p:nvSpPr>
        <p:spPr>
          <a:xfrm>
            <a:off x="6178550" y="2819400"/>
            <a:ext cx="1876425" cy="63500"/>
          </a:xfrm>
          <a:custGeom>
            <a:avLst/>
            <a:gdLst/>
            <a:ahLst/>
            <a:cxnLst/>
            <a:rect l="0" t="0" r="r" b="b"/>
            <a:pathLst>
              <a:path w="1876425" h="63500">
                <a:moveTo>
                  <a:pt x="31750" y="0"/>
                </a:moveTo>
                <a:lnTo>
                  <a:pt x="1844675" y="0"/>
                </a:lnTo>
                <a:cubicBezTo>
                  <a:pt x="1862201" y="0"/>
                  <a:pt x="1876425" y="14224"/>
                  <a:pt x="1876425" y="31750"/>
                </a:cubicBezTo>
                <a:lnTo>
                  <a:pt x="1876425" y="31750"/>
                </a:lnTo>
                <a:cubicBezTo>
                  <a:pt x="1876425" y="49276"/>
                  <a:pt x="1862201" y="63500"/>
                  <a:pt x="1844675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chip"/>
          <p:cNvSpPr/>
          <p:nvPr/>
        </p:nvSpPr>
        <p:spPr>
          <a:xfrm>
            <a:off x="6900862" y="3086100"/>
            <a:ext cx="431800" cy="431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chip-ring"/>
          <p:cNvSpPr/>
          <p:nvPr/>
        </p:nvSpPr>
        <p:spPr>
          <a:xfrm>
            <a:off x="6900862" y="3086100"/>
            <a:ext cx="431800" cy="431800"/>
          </a:xfrm>
          <a:prstGeom prst="ellipse">
            <a:avLst/>
          </a:prstGeom>
          <a:noFill/>
          <a:ln w="6350" cap="rnd">
            <a:solidFill>
              <a:srgbClr val="2468B6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icon-share"/>
          <p:cNvSpPr/>
          <p:nvPr/>
        </p:nvSpPr>
        <p:spPr>
          <a:xfrm>
            <a:off x="7084568" y="3260534"/>
            <a:ext cx="60135" cy="82931"/>
          </a:xfrm>
          <a:custGeom>
            <a:avLst/>
            <a:gdLst/>
            <a:ahLst/>
            <a:cxnLst/>
            <a:rect l="0" t="0" r="r" b="b"/>
            <a:pathLst>
              <a:path w="60135" h="82931">
                <a:moveTo>
                  <a:pt x="0" y="33020"/>
                </a:moveTo>
                <a:lnTo>
                  <a:pt x="60135" y="0"/>
                </a:lnTo>
                <a:moveTo>
                  <a:pt x="0" y="49911"/>
                </a:moveTo>
                <a:lnTo>
                  <a:pt x="60135" y="82931"/>
                </a:lnTo>
              </a:path>
            </a:pathLst>
          </a:custGeom>
          <a:noFill/>
          <a:ln w="13335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icon-share"/>
          <p:cNvSpPr/>
          <p:nvPr/>
        </p:nvSpPr>
        <p:spPr>
          <a:xfrm>
            <a:off x="7048182" y="3282527"/>
            <a:ext cx="38947" cy="38947"/>
          </a:xfrm>
          <a:prstGeom prst="ellipse">
            <a:avLst/>
          </a:prstGeom>
          <a:noFill/>
          <a:ln w="13335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icon-share"/>
          <p:cNvSpPr/>
          <p:nvPr/>
        </p:nvSpPr>
        <p:spPr>
          <a:xfrm>
            <a:off x="7143009" y="3233420"/>
            <a:ext cx="38947" cy="38947"/>
          </a:xfrm>
          <a:prstGeom prst="ellipse">
            <a:avLst/>
          </a:prstGeom>
          <a:noFill/>
          <a:ln w="13335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icon-share"/>
          <p:cNvSpPr/>
          <p:nvPr/>
        </p:nvSpPr>
        <p:spPr>
          <a:xfrm>
            <a:off x="7143009" y="3331633"/>
            <a:ext cx="38947" cy="38947"/>
          </a:xfrm>
          <a:prstGeom prst="ellipse">
            <a:avLst/>
          </a:prstGeom>
          <a:noFill/>
          <a:ln w="13335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pn-3"/>
          <p:cNvSpPr txBox="1"/>
          <p:nvPr/>
        </p:nvSpPr>
        <p:spPr>
          <a:xfrm>
            <a:off x="6661468" y="3606102"/>
            <a:ext cx="9105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生态共赢</a:t>
            </a:r>
          </a:p>
        </p:txBody>
      </p:sp>
      <p:cxnSp>
        <p:nvCxnSpPr>
          <p:cNvPr id="50" name="ps-3"/>
          <p:cNvCxnSpPr/>
          <p:nvPr/>
        </p:nvCxnSpPr>
        <p:spPr>
          <a:xfrm>
            <a:off x="6432550" y="3987800"/>
            <a:ext cx="1368425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pi-3-0"/>
          <p:cNvSpPr/>
          <p:nvPr/>
        </p:nvSpPr>
        <p:spPr>
          <a:xfrm>
            <a:off x="6369050" y="4152900"/>
            <a:ext cx="1495425" cy="266700"/>
          </a:xfrm>
          <a:custGeom>
            <a:avLst/>
            <a:gdLst/>
            <a:ahLst/>
            <a:cxnLst/>
            <a:rect l="0" t="0" r="r" b="b"/>
            <a:pathLst>
              <a:path w="1495425" h="266700">
                <a:moveTo>
                  <a:pt x="76200" y="0"/>
                </a:moveTo>
                <a:lnTo>
                  <a:pt x="1419225" y="0"/>
                </a:lnTo>
                <a:cubicBezTo>
                  <a:pt x="1461326" y="0"/>
                  <a:pt x="1495425" y="34100"/>
                  <a:pt x="1495425" y="76200"/>
                </a:cubicBezTo>
                <a:lnTo>
                  <a:pt x="1495425" y="190500"/>
                </a:lnTo>
                <a:cubicBezTo>
                  <a:pt x="1495425" y="232600"/>
                  <a:pt x="1461326" y="266700"/>
                  <a:pt x="1419225" y="266700"/>
                </a:cubicBezTo>
                <a:lnTo>
                  <a:pt x="76200" y="266700"/>
                </a:lnTo>
                <a:cubicBezTo>
                  <a:pt x="34100" y="266700"/>
                  <a:pt x="0" y="232600"/>
                  <a:pt x="0" y="1905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2468B6">
              <a:alpha val="9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pit-3-0"/>
          <p:cNvSpPr txBox="1"/>
          <p:nvPr/>
        </p:nvSpPr>
        <p:spPr>
          <a:xfrm>
            <a:off x="6774244" y="4197382"/>
            <a:ext cx="685038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25">
                <a:solidFill>
                  <a:srgbClr val="2468B6"/>
                </a:solidFill>
                <a:latin typeface="微软雅黑"/>
                <a:ea typeface="微软雅黑"/>
                <a:cs typeface="微软雅黑"/>
              </a:rPr>
              <a:t>500 家伙伴</a:t>
            </a:r>
          </a:p>
        </p:txBody>
      </p:sp>
      <p:sp>
        <p:nvSpPr>
          <p:cNvPr id="53" name="pi-3-1"/>
          <p:cNvSpPr/>
          <p:nvPr/>
        </p:nvSpPr>
        <p:spPr>
          <a:xfrm>
            <a:off x="6369050" y="4508500"/>
            <a:ext cx="1495425" cy="266700"/>
          </a:xfrm>
          <a:custGeom>
            <a:avLst/>
            <a:gdLst/>
            <a:ahLst/>
            <a:cxnLst/>
            <a:rect l="0" t="0" r="r" b="b"/>
            <a:pathLst>
              <a:path w="1495425" h="266700">
                <a:moveTo>
                  <a:pt x="76200" y="0"/>
                </a:moveTo>
                <a:lnTo>
                  <a:pt x="1419225" y="0"/>
                </a:lnTo>
                <a:cubicBezTo>
                  <a:pt x="1461326" y="0"/>
                  <a:pt x="1495425" y="34100"/>
                  <a:pt x="1495425" y="76200"/>
                </a:cubicBezTo>
                <a:lnTo>
                  <a:pt x="1495425" y="190500"/>
                </a:lnTo>
                <a:cubicBezTo>
                  <a:pt x="1495425" y="232600"/>
                  <a:pt x="1461326" y="266700"/>
                  <a:pt x="1419225" y="266700"/>
                </a:cubicBezTo>
                <a:lnTo>
                  <a:pt x="76200" y="266700"/>
                </a:lnTo>
                <a:cubicBezTo>
                  <a:pt x="34100" y="266700"/>
                  <a:pt x="0" y="232600"/>
                  <a:pt x="0" y="1905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2468B6">
              <a:alpha val="9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pit-3-1"/>
          <p:cNvSpPr txBox="1"/>
          <p:nvPr/>
        </p:nvSpPr>
        <p:spPr>
          <a:xfrm>
            <a:off x="6663118" y="4552982"/>
            <a:ext cx="907288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25">
                <a:solidFill>
                  <a:srgbClr val="2468B6"/>
                </a:solidFill>
                <a:latin typeface="微软雅黑"/>
                <a:ea typeface="微软雅黑"/>
                <a:cs typeface="微软雅黑"/>
              </a:rPr>
              <a:t>伙伴收入占 30%</a:t>
            </a:r>
          </a:p>
        </p:txBody>
      </p:sp>
      <p:sp>
        <p:nvSpPr>
          <p:cNvPr id="55" name="p-4"/>
          <p:cNvSpPr/>
          <p:nvPr/>
        </p:nvSpPr>
        <p:spPr>
          <a:xfrm>
            <a:off x="8220075" y="2819400"/>
            <a:ext cx="1876425" cy="2133600"/>
          </a:xfrm>
          <a:custGeom>
            <a:avLst/>
            <a:gdLst/>
            <a:ahLst/>
            <a:cxnLst/>
            <a:rect l="0" t="0" r="r" b="b"/>
            <a:pathLst>
              <a:path w="1876425" h="2133600">
                <a:moveTo>
                  <a:pt x="101600" y="0"/>
                </a:moveTo>
                <a:lnTo>
                  <a:pt x="1774825" y="0"/>
                </a:lnTo>
                <a:cubicBezTo>
                  <a:pt x="1830959" y="0"/>
                  <a:pt x="1876425" y="45466"/>
                  <a:pt x="1876425" y="101600"/>
                </a:cubicBezTo>
                <a:lnTo>
                  <a:pt x="1876425" y="2032000"/>
                </a:lnTo>
                <a:cubicBezTo>
                  <a:pt x="1876425" y="2088134"/>
                  <a:pt x="1830959" y="2133600"/>
                  <a:pt x="1774825" y="2133600"/>
                </a:cubicBezTo>
                <a:lnTo>
                  <a:pt x="101600" y="2133600"/>
                </a:lnTo>
                <a:cubicBezTo>
                  <a:pt x="45466" y="2133600"/>
                  <a:pt x="0" y="2088134"/>
                  <a:pt x="0" y="2032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pc-4"/>
          <p:cNvSpPr/>
          <p:nvPr/>
        </p:nvSpPr>
        <p:spPr>
          <a:xfrm>
            <a:off x="8220075" y="2819400"/>
            <a:ext cx="1876425" cy="63500"/>
          </a:xfrm>
          <a:custGeom>
            <a:avLst/>
            <a:gdLst/>
            <a:ahLst/>
            <a:cxnLst/>
            <a:rect l="0" t="0" r="r" b="b"/>
            <a:pathLst>
              <a:path w="1876425" h="63500">
                <a:moveTo>
                  <a:pt x="31750" y="0"/>
                </a:moveTo>
                <a:lnTo>
                  <a:pt x="1844675" y="0"/>
                </a:lnTo>
                <a:cubicBezTo>
                  <a:pt x="1862201" y="0"/>
                  <a:pt x="1876425" y="14224"/>
                  <a:pt x="1876425" y="31750"/>
                </a:cubicBezTo>
                <a:lnTo>
                  <a:pt x="1876425" y="31750"/>
                </a:lnTo>
                <a:cubicBezTo>
                  <a:pt x="1876425" y="49276"/>
                  <a:pt x="1862201" y="63500"/>
                  <a:pt x="1844675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chip"/>
          <p:cNvSpPr/>
          <p:nvPr/>
        </p:nvSpPr>
        <p:spPr>
          <a:xfrm>
            <a:off x="8942388" y="3086100"/>
            <a:ext cx="431800" cy="431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chip-ring"/>
          <p:cNvSpPr/>
          <p:nvPr/>
        </p:nvSpPr>
        <p:spPr>
          <a:xfrm>
            <a:off x="8942388" y="3086100"/>
            <a:ext cx="431800" cy="431800"/>
          </a:xfrm>
          <a:prstGeom prst="ellipse">
            <a:avLst/>
          </a:prstGeom>
          <a:noFill/>
          <a:ln w="6350" cap="rnd">
            <a:solidFill>
              <a:srgbClr val="2E77C2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icon-globe"/>
          <p:cNvSpPr/>
          <p:nvPr/>
        </p:nvSpPr>
        <p:spPr>
          <a:xfrm>
            <a:off x="9085453" y="3229166"/>
            <a:ext cx="145669" cy="145669"/>
          </a:xfrm>
          <a:custGeom>
            <a:avLst/>
            <a:gdLst/>
            <a:ahLst/>
            <a:cxnLst/>
            <a:rect l="0" t="0" r="r" b="b"/>
            <a:pathLst>
              <a:path w="145669" h="145669">
                <a:moveTo>
                  <a:pt x="0" y="72835"/>
                </a:moveTo>
                <a:lnTo>
                  <a:pt x="145669" y="72835"/>
                </a:lnTo>
                <a:moveTo>
                  <a:pt x="72835" y="0"/>
                </a:moveTo>
                <a:cubicBezTo>
                  <a:pt x="93155" y="21209"/>
                  <a:pt x="103314" y="45720"/>
                  <a:pt x="103314" y="72835"/>
                </a:cubicBezTo>
                <a:cubicBezTo>
                  <a:pt x="103314" y="99949"/>
                  <a:pt x="93155" y="124460"/>
                  <a:pt x="72835" y="145669"/>
                </a:cubicBezTo>
                <a:cubicBezTo>
                  <a:pt x="52514" y="124460"/>
                  <a:pt x="42355" y="99949"/>
                  <a:pt x="42355" y="72835"/>
                </a:cubicBezTo>
                <a:cubicBezTo>
                  <a:pt x="42355" y="45720"/>
                  <a:pt x="52514" y="21209"/>
                  <a:pt x="72835" y="0"/>
                </a:cubicBezTo>
                <a:close/>
              </a:path>
            </a:pathLst>
          </a:custGeom>
          <a:noFill/>
          <a:ln w="13335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icon-globe"/>
          <p:cNvSpPr/>
          <p:nvPr/>
        </p:nvSpPr>
        <p:spPr>
          <a:xfrm>
            <a:off x="9085474" y="3229187"/>
            <a:ext cx="145627" cy="145627"/>
          </a:xfrm>
          <a:prstGeom prst="ellipse">
            <a:avLst/>
          </a:prstGeom>
          <a:noFill/>
          <a:ln w="13335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pn-4"/>
          <p:cNvSpPr txBox="1"/>
          <p:nvPr/>
        </p:nvSpPr>
        <p:spPr>
          <a:xfrm>
            <a:off x="8702992" y="3606102"/>
            <a:ext cx="9105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全球布局</a:t>
            </a:r>
          </a:p>
        </p:txBody>
      </p:sp>
      <p:cxnSp>
        <p:nvCxnSpPr>
          <p:cNvPr id="62" name="ps-4"/>
          <p:cNvCxnSpPr/>
          <p:nvPr/>
        </p:nvCxnSpPr>
        <p:spPr>
          <a:xfrm>
            <a:off x="8474075" y="3987800"/>
            <a:ext cx="1368425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pi-4-0"/>
          <p:cNvSpPr/>
          <p:nvPr/>
        </p:nvSpPr>
        <p:spPr>
          <a:xfrm>
            <a:off x="8410575" y="4152900"/>
            <a:ext cx="1495425" cy="266700"/>
          </a:xfrm>
          <a:custGeom>
            <a:avLst/>
            <a:gdLst/>
            <a:ahLst/>
            <a:cxnLst/>
            <a:rect l="0" t="0" r="r" b="b"/>
            <a:pathLst>
              <a:path w="1495425" h="266700">
                <a:moveTo>
                  <a:pt x="76200" y="0"/>
                </a:moveTo>
                <a:lnTo>
                  <a:pt x="1419225" y="0"/>
                </a:lnTo>
                <a:cubicBezTo>
                  <a:pt x="1461326" y="0"/>
                  <a:pt x="1495425" y="34100"/>
                  <a:pt x="1495425" y="76200"/>
                </a:cubicBezTo>
                <a:lnTo>
                  <a:pt x="1495425" y="190500"/>
                </a:lnTo>
                <a:cubicBezTo>
                  <a:pt x="1495425" y="232600"/>
                  <a:pt x="1461326" y="266700"/>
                  <a:pt x="1419225" y="266700"/>
                </a:cubicBezTo>
                <a:lnTo>
                  <a:pt x="76200" y="266700"/>
                </a:lnTo>
                <a:cubicBezTo>
                  <a:pt x="34099" y="266700"/>
                  <a:pt x="0" y="232600"/>
                  <a:pt x="0" y="1905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2E77C2">
              <a:alpha val="9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pit-4-0"/>
          <p:cNvSpPr txBox="1"/>
          <p:nvPr/>
        </p:nvSpPr>
        <p:spPr>
          <a:xfrm>
            <a:off x="8815768" y="4197382"/>
            <a:ext cx="685038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25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进入 10 国</a:t>
            </a:r>
          </a:p>
        </p:txBody>
      </p:sp>
      <p:sp>
        <p:nvSpPr>
          <p:cNvPr id="65" name="pi-4-1"/>
          <p:cNvSpPr/>
          <p:nvPr/>
        </p:nvSpPr>
        <p:spPr>
          <a:xfrm>
            <a:off x="8410575" y="4508500"/>
            <a:ext cx="1495425" cy="266700"/>
          </a:xfrm>
          <a:custGeom>
            <a:avLst/>
            <a:gdLst/>
            <a:ahLst/>
            <a:cxnLst/>
            <a:rect l="0" t="0" r="r" b="b"/>
            <a:pathLst>
              <a:path w="1495425" h="266700">
                <a:moveTo>
                  <a:pt x="76200" y="0"/>
                </a:moveTo>
                <a:lnTo>
                  <a:pt x="1419225" y="0"/>
                </a:lnTo>
                <a:cubicBezTo>
                  <a:pt x="1461326" y="0"/>
                  <a:pt x="1495425" y="34100"/>
                  <a:pt x="1495425" y="76200"/>
                </a:cubicBezTo>
                <a:lnTo>
                  <a:pt x="1495425" y="190500"/>
                </a:lnTo>
                <a:cubicBezTo>
                  <a:pt x="1495425" y="232600"/>
                  <a:pt x="1461326" y="266700"/>
                  <a:pt x="1419225" y="266700"/>
                </a:cubicBezTo>
                <a:lnTo>
                  <a:pt x="76200" y="266700"/>
                </a:lnTo>
                <a:cubicBezTo>
                  <a:pt x="34099" y="266700"/>
                  <a:pt x="0" y="232600"/>
                  <a:pt x="0" y="1905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2E77C2">
              <a:alpha val="9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pit-4-1"/>
          <p:cNvSpPr txBox="1"/>
          <p:nvPr/>
        </p:nvSpPr>
        <p:spPr>
          <a:xfrm>
            <a:off x="8760206" y="4552982"/>
            <a:ext cx="79616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25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海外收入 20%</a:t>
            </a:r>
          </a:p>
        </p:txBody>
      </p:sp>
      <p:sp>
        <p:nvSpPr>
          <p:cNvPr id="67" name="base"/>
          <p:cNvSpPr/>
          <p:nvPr/>
        </p:nvSpPr>
        <p:spPr>
          <a:xfrm>
            <a:off x="1841500" y="5080000"/>
            <a:ext cx="8509000" cy="952500"/>
          </a:xfrm>
          <a:custGeom>
            <a:avLst/>
            <a:gdLst/>
            <a:ahLst/>
            <a:cxnLst/>
            <a:rect l="0" t="0" r="r" b="b"/>
            <a:pathLst>
              <a:path w="8509000" h="952500">
                <a:moveTo>
                  <a:pt x="114300" y="0"/>
                </a:moveTo>
                <a:lnTo>
                  <a:pt x="8394700" y="0"/>
                </a:lnTo>
                <a:cubicBezTo>
                  <a:pt x="8457819" y="0"/>
                  <a:pt x="8509000" y="51181"/>
                  <a:pt x="8509000" y="114300"/>
                </a:cubicBezTo>
                <a:lnTo>
                  <a:pt x="8509000" y="838200"/>
                </a:lnTo>
                <a:cubicBezTo>
                  <a:pt x="8509000" y="901319"/>
                  <a:pt x="8457819" y="952500"/>
                  <a:pt x="8394700" y="952500"/>
                </a:cubicBezTo>
                <a:lnTo>
                  <a:pt x="114300" y="952500"/>
                </a:lnTo>
                <a:cubicBezTo>
                  <a:pt x="51181" y="952500"/>
                  <a:pt x="0" y="901319"/>
                  <a:pt x="0" y="8382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E4EEF9"/>
              </a:gs>
              <a:gs pos="100000">
                <a:srgbClr val="CBDCF0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base-t"/>
          <p:cNvSpPr txBox="1"/>
          <p:nvPr/>
        </p:nvSpPr>
        <p:spPr>
          <a:xfrm>
            <a:off x="2020570" y="5190966"/>
            <a:ext cx="9315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地基 · 共同能力</a:t>
            </a:r>
          </a:p>
        </p:txBody>
      </p:sp>
      <p:sp>
        <p:nvSpPr>
          <p:cNvPr id="69" name="b-1"/>
          <p:cNvSpPr/>
          <p:nvPr/>
        </p:nvSpPr>
        <p:spPr>
          <a:xfrm>
            <a:off x="2082800" y="5435600"/>
            <a:ext cx="1930400" cy="457200"/>
          </a:xfrm>
          <a:custGeom>
            <a:avLst/>
            <a:gdLst/>
            <a:ahLst/>
            <a:cxnLst/>
            <a:rect l="0" t="0" r="r" b="b"/>
            <a:pathLst>
              <a:path w="1930400" h="457200">
                <a:moveTo>
                  <a:pt x="88900" y="0"/>
                </a:moveTo>
                <a:lnTo>
                  <a:pt x="1841500" y="0"/>
                </a:lnTo>
                <a:cubicBezTo>
                  <a:pt x="1890586" y="0"/>
                  <a:pt x="1930400" y="39814"/>
                  <a:pt x="1930400" y="88900"/>
                </a:cubicBezTo>
                <a:lnTo>
                  <a:pt x="1930400" y="368300"/>
                </a:lnTo>
                <a:cubicBezTo>
                  <a:pt x="1930400" y="417386"/>
                  <a:pt x="1890586" y="457200"/>
                  <a:pt x="1841500" y="457200"/>
                </a:cubicBezTo>
                <a:lnTo>
                  <a:pt x="88900" y="457200"/>
                </a:lnTo>
                <a:cubicBezTo>
                  <a:pt x="39814" y="457200"/>
                  <a:pt x="0" y="417386"/>
                  <a:pt x="0" y="3683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icon-people"/>
          <p:cNvSpPr/>
          <p:nvPr/>
        </p:nvSpPr>
        <p:spPr>
          <a:xfrm>
            <a:off x="2296160" y="5680710"/>
            <a:ext cx="107950" cy="30480"/>
          </a:xfrm>
          <a:custGeom>
            <a:avLst/>
            <a:gdLst/>
            <a:ahLst/>
            <a:cxnLst/>
            <a:rect l="0" t="0" r="r" b="b"/>
            <a:pathLst>
              <a:path w="107950" h="30480">
                <a:moveTo>
                  <a:pt x="0" y="30480"/>
                </a:moveTo>
                <a:cubicBezTo>
                  <a:pt x="0" y="11430"/>
                  <a:pt x="15875" y="0"/>
                  <a:pt x="34290" y="0"/>
                </a:cubicBezTo>
                <a:cubicBezTo>
                  <a:pt x="52705" y="0"/>
                  <a:pt x="68580" y="11430"/>
                  <a:pt x="68580" y="30480"/>
                </a:cubicBezTo>
                <a:moveTo>
                  <a:pt x="81280" y="2540"/>
                </a:moveTo>
                <a:cubicBezTo>
                  <a:pt x="97790" y="4445"/>
                  <a:pt x="107950" y="15875"/>
                  <a:pt x="107950" y="30480"/>
                </a:cubicBez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icon-people"/>
          <p:cNvSpPr/>
          <p:nvPr/>
        </p:nvSpPr>
        <p:spPr>
          <a:xfrm>
            <a:off x="2310130" y="5626100"/>
            <a:ext cx="40640" cy="40640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icon-people"/>
          <p:cNvSpPr/>
          <p:nvPr/>
        </p:nvSpPr>
        <p:spPr>
          <a:xfrm>
            <a:off x="2364740" y="5626100"/>
            <a:ext cx="33020" cy="33020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bt-1"/>
          <p:cNvSpPr txBox="1"/>
          <p:nvPr/>
        </p:nvSpPr>
        <p:spPr>
          <a:xfrm>
            <a:off x="2525522" y="5559647"/>
            <a:ext cx="759460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组织与人才</a:t>
            </a:r>
          </a:p>
        </p:txBody>
      </p:sp>
      <p:sp>
        <p:nvSpPr>
          <p:cNvPr id="74" name="b-2"/>
          <p:cNvSpPr/>
          <p:nvPr/>
        </p:nvSpPr>
        <p:spPr>
          <a:xfrm>
            <a:off x="4114800" y="5435600"/>
            <a:ext cx="1930400" cy="457200"/>
          </a:xfrm>
          <a:custGeom>
            <a:avLst/>
            <a:gdLst/>
            <a:ahLst/>
            <a:cxnLst/>
            <a:rect l="0" t="0" r="r" b="b"/>
            <a:pathLst>
              <a:path w="1930400" h="457200">
                <a:moveTo>
                  <a:pt x="88900" y="0"/>
                </a:moveTo>
                <a:lnTo>
                  <a:pt x="1841500" y="0"/>
                </a:lnTo>
                <a:cubicBezTo>
                  <a:pt x="1890586" y="0"/>
                  <a:pt x="1930400" y="39814"/>
                  <a:pt x="1930400" y="88900"/>
                </a:cubicBezTo>
                <a:lnTo>
                  <a:pt x="1930400" y="368300"/>
                </a:lnTo>
                <a:cubicBezTo>
                  <a:pt x="1930400" y="417386"/>
                  <a:pt x="1890586" y="457200"/>
                  <a:pt x="1841500" y="457200"/>
                </a:cubicBezTo>
                <a:lnTo>
                  <a:pt x="88900" y="457200"/>
                </a:lnTo>
                <a:cubicBezTo>
                  <a:pt x="39814" y="457200"/>
                  <a:pt x="0" y="417386"/>
                  <a:pt x="0" y="3683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icon-db"/>
          <p:cNvSpPr/>
          <p:nvPr/>
        </p:nvSpPr>
        <p:spPr>
          <a:xfrm>
            <a:off x="4334510" y="5607050"/>
            <a:ext cx="93980" cy="114300"/>
          </a:xfrm>
          <a:custGeom>
            <a:avLst/>
            <a:gdLst/>
            <a:ahLst/>
            <a:cxnLst/>
            <a:rect l="0" t="0" r="r" b="b"/>
            <a:pathLst>
              <a:path w="93980" h="114300">
                <a:moveTo>
                  <a:pt x="46990" y="27940"/>
                </a:moveTo>
                <a:cubicBezTo>
                  <a:pt x="73025" y="27940"/>
                  <a:pt x="93980" y="21590"/>
                  <a:pt x="93980" y="13970"/>
                </a:cubicBezTo>
                <a:cubicBezTo>
                  <a:pt x="93980" y="6350"/>
                  <a:pt x="73025" y="0"/>
                  <a:pt x="46990" y="0"/>
                </a:cubicBezTo>
                <a:cubicBezTo>
                  <a:pt x="20955" y="0"/>
                  <a:pt x="0" y="6350"/>
                  <a:pt x="0" y="13970"/>
                </a:cubicBezTo>
                <a:cubicBezTo>
                  <a:pt x="0" y="21590"/>
                  <a:pt x="20955" y="27940"/>
                  <a:pt x="46990" y="27940"/>
                </a:cubicBezTo>
                <a:close/>
                <a:moveTo>
                  <a:pt x="0" y="13970"/>
                </a:moveTo>
                <a:lnTo>
                  <a:pt x="0" y="100330"/>
                </a:lnTo>
                <a:cubicBezTo>
                  <a:pt x="0" y="107950"/>
                  <a:pt x="20955" y="114300"/>
                  <a:pt x="46990" y="114300"/>
                </a:cubicBezTo>
                <a:cubicBezTo>
                  <a:pt x="73025" y="114300"/>
                  <a:pt x="93980" y="107950"/>
                  <a:pt x="93980" y="100330"/>
                </a:cubicBezTo>
                <a:lnTo>
                  <a:pt x="93980" y="13970"/>
                </a:lnTo>
                <a:moveTo>
                  <a:pt x="0" y="57150"/>
                </a:moveTo>
                <a:cubicBezTo>
                  <a:pt x="0" y="64770"/>
                  <a:pt x="20955" y="71120"/>
                  <a:pt x="46990" y="71120"/>
                </a:cubicBezTo>
                <a:cubicBezTo>
                  <a:pt x="73025" y="71120"/>
                  <a:pt x="93980" y="64770"/>
                  <a:pt x="93980" y="57150"/>
                </a:cubicBez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bt-2"/>
          <p:cNvSpPr txBox="1"/>
          <p:nvPr/>
        </p:nvSpPr>
        <p:spPr>
          <a:xfrm>
            <a:off x="4557522" y="5559647"/>
            <a:ext cx="759460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数据与技术</a:t>
            </a:r>
          </a:p>
        </p:txBody>
      </p:sp>
      <p:sp>
        <p:nvSpPr>
          <p:cNvPr id="77" name="b-3"/>
          <p:cNvSpPr/>
          <p:nvPr/>
        </p:nvSpPr>
        <p:spPr>
          <a:xfrm>
            <a:off x="6146800" y="5435600"/>
            <a:ext cx="1930400" cy="457200"/>
          </a:xfrm>
          <a:custGeom>
            <a:avLst/>
            <a:gdLst/>
            <a:ahLst/>
            <a:cxnLst/>
            <a:rect l="0" t="0" r="r" b="b"/>
            <a:pathLst>
              <a:path w="1930400" h="457200">
                <a:moveTo>
                  <a:pt x="88900" y="0"/>
                </a:moveTo>
                <a:lnTo>
                  <a:pt x="1841500" y="0"/>
                </a:lnTo>
                <a:cubicBezTo>
                  <a:pt x="1890586" y="0"/>
                  <a:pt x="1930400" y="39814"/>
                  <a:pt x="1930400" y="88900"/>
                </a:cubicBezTo>
                <a:lnTo>
                  <a:pt x="1930400" y="368300"/>
                </a:lnTo>
                <a:cubicBezTo>
                  <a:pt x="1930400" y="417386"/>
                  <a:pt x="1890586" y="457200"/>
                  <a:pt x="1841500" y="457200"/>
                </a:cubicBezTo>
                <a:lnTo>
                  <a:pt x="88900" y="457200"/>
                </a:lnTo>
                <a:cubicBezTo>
                  <a:pt x="39814" y="457200"/>
                  <a:pt x="0" y="417386"/>
                  <a:pt x="0" y="3683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icon-process"/>
          <p:cNvSpPr/>
          <p:nvPr/>
        </p:nvSpPr>
        <p:spPr>
          <a:xfrm>
            <a:off x="6366510" y="5638800"/>
            <a:ext cx="93980" cy="50800"/>
          </a:xfrm>
          <a:custGeom>
            <a:avLst/>
            <a:gdLst/>
            <a:ahLst/>
            <a:cxnLst/>
            <a:rect l="0" t="0" r="r" b="b"/>
            <a:pathLst>
              <a:path w="93980" h="50800">
                <a:moveTo>
                  <a:pt x="0" y="0"/>
                </a:moveTo>
                <a:lnTo>
                  <a:pt x="33020" y="0"/>
                </a:lnTo>
                <a:lnTo>
                  <a:pt x="33020" y="33020"/>
                </a:lnTo>
                <a:lnTo>
                  <a:pt x="0" y="33020"/>
                </a:lnTo>
                <a:close/>
                <a:moveTo>
                  <a:pt x="60960" y="17780"/>
                </a:moveTo>
                <a:lnTo>
                  <a:pt x="93980" y="17780"/>
                </a:lnTo>
                <a:lnTo>
                  <a:pt x="93980" y="50800"/>
                </a:lnTo>
                <a:lnTo>
                  <a:pt x="60960" y="50800"/>
                </a:lnTo>
                <a:close/>
                <a:moveTo>
                  <a:pt x="33020" y="16510"/>
                </a:moveTo>
                <a:lnTo>
                  <a:pt x="60960" y="16510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bt-3"/>
          <p:cNvSpPr txBox="1"/>
          <p:nvPr/>
        </p:nvSpPr>
        <p:spPr>
          <a:xfrm>
            <a:off x="6589522" y="5559647"/>
            <a:ext cx="759460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流程与治理</a:t>
            </a:r>
          </a:p>
        </p:txBody>
      </p:sp>
      <p:sp>
        <p:nvSpPr>
          <p:cNvPr id="80" name="b-4"/>
          <p:cNvSpPr/>
          <p:nvPr/>
        </p:nvSpPr>
        <p:spPr>
          <a:xfrm>
            <a:off x="8178800" y="5435600"/>
            <a:ext cx="1930400" cy="457200"/>
          </a:xfrm>
          <a:custGeom>
            <a:avLst/>
            <a:gdLst/>
            <a:ahLst/>
            <a:cxnLst/>
            <a:rect l="0" t="0" r="r" b="b"/>
            <a:pathLst>
              <a:path w="1930400" h="457200">
                <a:moveTo>
                  <a:pt x="88900" y="0"/>
                </a:moveTo>
                <a:lnTo>
                  <a:pt x="1841500" y="0"/>
                </a:lnTo>
                <a:cubicBezTo>
                  <a:pt x="1890586" y="0"/>
                  <a:pt x="1930400" y="39814"/>
                  <a:pt x="1930400" y="88900"/>
                </a:cubicBezTo>
                <a:lnTo>
                  <a:pt x="1930400" y="368300"/>
                </a:lnTo>
                <a:cubicBezTo>
                  <a:pt x="1930400" y="417386"/>
                  <a:pt x="1890586" y="457200"/>
                  <a:pt x="1841500" y="457200"/>
                </a:cubicBezTo>
                <a:lnTo>
                  <a:pt x="88900" y="457200"/>
                </a:lnTo>
                <a:cubicBezTo>
                  <a:pt x="39814" y="457200"/>
                  <a:pt x="0" y="417386"/>
                  <a:pt x="0" y="3683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icon-flag"/>
          <p:cNvSpPr/>
          <p:nvPr/>
        </p:nvSpPr>
        <p:spPr>
          <a:xfrm>
            <a:off x="8407400" y="5614670"/>
            <a:ext cx="60960" cy="104140"/>
          </a:xfrm>
          <a:custGeom>
            <a:avLst/>
            <a:gdLst/>
            <a:ahLst/>
            <a:cxnLst/>
            <a:rect l="0" t="0" r="r" b="b"/>
            <a:pathLst>
              <a:path w="60960" h="104140">
                <a:moveTo>
                  <a:pt x="0" y="104140"/>
                </a:moveTo>
                <a:lnTo>
                  <a:pt x="0" y="0"/>
                </a:lnTo>
                <a:moveTo>
                  <a:pt x="0" y="5080"/>
                </a:moveTo>
                <a:lnTo>
                  <a:pt x="60960" y="5080"/>
                </a:lnTo>
                <a:lnTo>
                  <a:pt x="50800" y="25400"/>
                </a:lnTo>
                <a:lnTo>
                  <a:pt x="60960" y="45720"/>
                </a:lnTo>
                <a:lnTo>
                  <a:pt x="0" y="45720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bt-4"/>
          <p:cNvSpPr txBox="1"/>
          <p:nvPr/>
        </p:nvSpPr>
        <p:spPr>
          <a:xfrm>
            <a:off x="8621522" y="5559647"/>
            <a:ext cx="8896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文化与价值观</a:t>
            </a:r>
          </a:p>
        </p:txBody>
      </p:sp>
      <p:cxnSp>
        <p:nvCxnSpPr>
          <p:cNvPr id="83" name="br-WHY"/>
          <p:cNvCxnSpPr/>
          <p:nvPr/>
        </p:nvCxnSpPr>
        <p:spPr>
          <a:xfrm>
            <a:off x="1333500" y="1397000"/>
            <a:ext cx="0" cy="1104900"/>
          </a:xfrm>
          <a:prstGeom prst="line">
            <a:avLst/>
          </a:prstGeom>
          <a:ln w="12700" cap="rnd">
            <a:solidFill>
              <a:srgbClr val="1B5AA8">
                <a:alpha val="3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brt-WHY"/>
          <p:cNvSpPr txBox="1"/>
          <p:nvPr/>
        </p:nvSpPr>
        <p:spPr>
          <a:xfrm>
            <a:off x="899414" y="1862074"/>
            <a:ext cx="31927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150">
                <a:solidFill>
                  <a:srgbClr val="1B5AA8"/>
                </a:solidFill>
                <a:latin typeface="Arial"/>
                <a:ea typeface="Arial"/>
                <a:cs typeface="Arial"/>
              </a:rPr>
              <a:t>WHY</a:t>
            </a:r>
          </a:p>
        </p:txBody>
      </p:sp>
      <p:cxnSp>
        <p:nvCxnSpPr>
          <p:cNvPr id="85" name="br-WHAT"/>
          <p:cNvCxnSpPr/>
          <p:nvPr/>
        </p:nvCxnSpPr>
        <p:spPr>
          <a:xfrm>
            <a:off x="1333500" y="2857500"/>
            <a:ext cx="0" cy="2057400"/>
          </a:xfrm>
          <a:prstGeom prst="line">
            <a:avLst/>
          </a:prstGeom>
          <a:ln w="12700" cap="rnd">
            <a:solidFill>
              <a:srgbClr val="1B5AA8">
                <a:alpha val="3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6" name="brt-WHAT"/>
          <p:cNvSpPr txBox="1"/>
          <p:nvPr/>
        </p:nvSpPr>
        <p:spPr>
          <a:xfrm>
            <a:off x="823468" y="3798824"/>
            <a:ext cx="3952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150">
                <a:solidFill>
                  <a:srgbClr val="1B5AA8"/>
                </a:solidFill>
                <a:latin typeface="Arial"/>
                <a:ea typeface="Arial"/>
                <a:cs typeface="Arial"/>
              </a:rPr>
              <a:t>WHAT</a:t>
            </a:r>
          </a:p>
        </p:txBody>
      </p:sp>
      <p:cxnSp>
        <p:nvCxnSpPr>
          <p:cNvPr id="87" name="br-HOW"/>
          <p:cNvCxnSpPr/>
          <p:nvPr/>
        </p:nvCxnSpPr>
        <p:spPr>
          <a:xfrm>
            <a:off x="1333500" y="5118100"/>
            <a:ext cx="0" cy="876300"/>
          </a:xfrm>
          <a:prstGeom prst="line">
            <a:avLst/>
          </a:prstGeom>
          <a:ln w="12700" cap="rnd">
            <a:solidFill>
              <a:srgbClr val="1B5AA8">
                <a:alpha val="3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brt-HOW"/>
          <p:cNvSpPr txBox="1"/>
          <p:nvPr/>
        </p:nvSpPr>
        <p:spPr>
          <a:xfrm>
            <a:off x="899414" y="5468874"/>
            <a:ext cx="31927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150">
                <a:solidFill>
                  <a:srgbClr val="1B5AA8"/>
                </a:solidFill>
                <a:latin typeface="Arial"/>
                <a:ea typeface="Arial"/>
                <a:cs typeface="Arial"/>
              </a:rPr>
              <a:t>HOW</a:t>
            </a:r>
          </a:p>
        </p:txBody>
      </p:sp>
      <p:sp>
        <p:nvSpPr>
          <p:cNvPr id="89" name="rt-307-a"/>
          <p:cNvSpPr txBox="1"/>
          <p:nvPr/>
        </p:nvSpPr>
        <p:spPr>
          <a:xfrm>
            <a:off x="10755948" y="1790732"/>
            <a:ext cx="459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0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为什么</a:t>
            </a:r>
          </a:p>
        </p:txBody>
      </p:sp>
      <p:sp>
        <p:nvSpPr>
          <p:cNvPr id="90" name="rt-307-b"/>
          <p:cNvSpPr txBox="1"/>
          <p:nvPr/>
        </p:nvSpPr>
        <p:spPr>
          <a:xfrm>
            <a:off x="10816272" y="1955832"/>
            <a:ext cx="3384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0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存在</a:t>
            </a:r>
          </a:p>
        </p:txBody>
      </p:sp>
      <p:sp>
        <p:nvSpPr>
          <p:cNvPr id="91" name="rt-612-a"/>
          <p:cNvSpPr txBox="1"/>
          <p:nvPr/>
        </p:nvSpPr>
        <p:spPr>
          <a:xfrm>
            <a:off x="10755948" y="3727482"/>
            <a:ext cx="459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0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做什么</a:t>
            </a:r>
          </a:p>
        </p:txBody>
      </p:sp>
      <p:sp>
        <p:nvSpPr>
          <p:cNvPr id="92" name="rt-612-b"/>
          <p:cNvSpPr txBox="1"/>
          <p:nvPr/>
        </p:nvSpPr>
        <p:spPr>
          <a:xfrm>
            <a:off x="10816272" y="3892582"/>
            <a:ext cx="3384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0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选择</a:t>
            </a:r>
          </a:p>
        </p:txBody>
      </p:sp>
      <p:sp>
        <p:nvSpPr>
          <p:cNvPr id="93" name="rt-875-a"/>
          <p:cNvSpPr txBox="1"/>
          <p:nvPr/>
        </p:nvSpPr>
        <p:spPr>
          <a:xfrm>
            <a:off x="10755948" y="5397532"/>
            <a:ext cx="459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0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靠什么</a:t>
            </a:r>
          </a:p>
        </p:txBody>
      </p:sp>
      <p:sp>
        <p:nvSpPr>
          <p:cNvPr id="94" name="rt-875-b"/>
          <p:cNvSpPr txBox="1"/>
          <p:nvPr/>
        </p:nvSpPr>
        <p:spPr>
          <a:xfrm>
            <a:off x="10816272" y="5562632"/>
            <a:ext cx="3384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0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支撑</a:t>
            </a:r>
          </a:p>
        </p:txBody>
      </p:sp>
      <p:cxnSp>
        <p:nvCxnSpPr>
          <p:cNvPr id="95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foot-l"/>
          <p:cNvSpPr txBox="1"/>
          <p:nvPr/>
        </p:nvSpPr>
        <p:spPr>
          <a:xfrm>
            <a:off x="573532" y="6532308"/>
            <a:ext cx="149961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战略屋 · 愿景 / 支柱 / 地基</a:t>
            </a:r>
          </a:p>
        </p:txBody>
      </p:sp>
      <p:sp>
        <p:nvSpPr>
          <p:cNvPr id="97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9946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一个中台，八个前台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08165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HUB &amp; SPOKE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7236587" y="673132"/>
            <a:ext cx="438416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前台应用按业务快速变化，中台沉淀可复用的能力，新业务上线从 6 个月缩到 6 周</a:t>
            </a:r>
          </a:p>
        </p:txBody>
      </p:sp>
      <p:sp>
        <p:nvSpPr>
          <p:cNvPr id="10" name="orbit"/>
          <p:cNvSpPr/>
          <p:nvPr/>
        </p:nvSpPr>
        <p:spPr>
          <a:xfrm>
            <a:off x="2603500" y="1143000"/>
            <a:ext cx="5207000" cy="5207000"/>
          </a:xfrm>
          <a:prstGeom prst="ellipse">
            <a:avLst/>
          </a:prstGeom>
          <a:noFill/>
          <a:ln w="9525" cap="rnd">
            <a:solidFill>
              <a:srgbClr val="1B5AA8">
                <a:alpha val="12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halo"/>
          <p:cNvSpPr/>
          <p:nvPr/>
        </p:nvSpPr>
        <p:spPr>
          <a:xfrm>
            <a:off x="3937000" y="2476500"/>
            <a:ext cx="2540000" cy="2540000"/>
          </a:xfrm>
          <a:prstGeom prst="ellipse">
            <a:avLst/>
          </a:prstGeom>
          <a:solidFill>
            <a:srgbClr val="DCE7F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2" name="sp-1"/>
          <p:cNvCxnSpPr/>
          <p:nvPr/>
        </p:nvCxnSpPr>
        <p:spPr>
          <a:xfrm flipV="1">
            <a:off x="5207000" y="1524000"/>
            <a:ext cx="0" cy="1104900"/>
          </a:xfrm>
          <a:prstGeom prst="line">
            <a:avLst/>
          </a:prstGeom>
          <a:ln w="19050" cap="rnd">
            <a:solidFill>
              <a:srgbClr val="2E77C2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spd-1"/>
          <p:cNvSpPr/>
          <p:nvPr/>
        </p:nvSpPr>
        <p:spPr>
          <a:xfrm>
            <a:off x="5175250" y="2044700"/>
            <a:ext cx="63500" cy="635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f-1"/>
          <p:cNvSpPr/>
          <p:nvPr/>
        </p:nvSpPr>
        <p:spPr>
          <a:xfrm>
            <a:off x="4800600" y="1117600"/>
            <a:ext cx="812800" cy="812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fr-1"/>
          <p:cNvSpPr/>
          <p:nvPr/>
        </p:nvSpPr>
        <p:spPr>
          <a:xfrm>
            <a:off x="4800600" y="1117600"/>
            <a:ext cx="812800" cy="812800"/>
          </a:xfrm>
          <a:prstGeom prst="ellipse">
            <a:avLst/>
          </a:prstGeom>
          <a:noFill/>
          <a:ln w="9525" cap="rnd">
            <a:solidFill>
              <a:srgbClr val="0B3E8F">
                <a:alpha val="3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icon-cart"/>
          <p:cNvSpPr/>
          <p:nvPr/>
        </p:nvSpPr>
        <p:spPr>
          <a:xfrm>
            <a:off x="5141786" y="1380300"/>
            <a:ext cx="117792" cy="69596"/>
          </a:xfrm>
          <a:custGeom>
            <a:avLst/>
            <a:gdLst/>
            <a:ahLst/>
            <a:cxnLst/>
            <a:rect l="0" t="0" r="r" b="b"/>
            <a:pathLst>
              <a:path w="117792" h="69596">
                <a:moveTo>
                  <a:pt x="0" y="0"/>
                </a:moveTo>
                <a:lnTo>
                  <a:pt x="17081" y="0"/>
                </a:lnTo>
                <a:lnTo>
                  <a:pt x="34100" y="69596"/>
                </a:lnTo>
                <a:lnTo>
                  <a:pt x="103759" y="69596"/>
                </a:lnTo>
                <a:lnTo>
                  <a:pt x="117792" y="20701"/>
                </a:lnTo>
                <a:lnTo>
                  <a:pt x="22225" y="20701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icon-cart"/>
          <p:cNvSpPr/>
          <p:nvPr/>
        </p:nvSpPr>
        <p:spPr>
          <a:xfrm>
            <a:off x="5177367" y="1472142"/>
            <a:ext cx="20743" cy="20743"/>
          </a:xfrm>
          <a:prstGeom prst="ellipse">
            <a:avLst/>
          </a:pr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icon-cart"/>
          <p:cNvSpPr/>
          <p:nvPr/>
        </p:nvSpPr>
        <p:spPr>
          <a:xfrm>
            <a:off x="5230707" y="1472142"/>
            <a:ext cx="20743" cy="20743"/>
          </a:xfrm>
          <a:prstGeom prst="ellipse">
            <a:avLst/>
          </a:pr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fn-1"/>
          <p:cNvSpPr txBox="1"/>
          <p:nvPr/>
        </p:nvSpPr>
        <p:spPr>
          <a:xfrm>
            <a:off x="4951730" y="1576324"/>
            <a:ext cx="5105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电商商城</a:t>
            </a:r>
          </a:p>
        </p:txBody>
      </p:sp>
      <p:cxnSp>
        <p:nvCxnSpPr>
          <p:cNvPr id="20" name="sp-2"/>
          <p:cNvCxnSpPr/>
          <p:nvPr/>
        </p:nvCxnSpPr>
        <p:spPr>
          <a:xfrm flipV="1">
            <a:off x="5997263" y="2174955"/>
            <a:ext cx="781282" cy="781282"/>
          </a:xfrm>
          <a:prstGeom prst="line">
            <a:avLst/>
          </a:prstGeom>
          <a:ln w="19050" cap="rnd">
            <a:solidFill>
              <a:srgbClr val="2E77C2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spd-2"/>
          <p:cNvSpPr/>
          <p:nvPr/>
        </p:nvSpPr>
        <p:spPr>
          <a:xfrm>
            <a:off x="6356154" y="2533846"/>
            <a:ext cx="63500" cy="635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f-2"/>
          <p:cNvSpPr/>
          <p:nvPr/>
        </p:nvSpPr>
        <p:spPr>
          <a:xfrm>
            <a:off x="6372145" y="1768555"/>
            <a:ext cx="812800" cy="812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fr-2"/>
          <p:cNvSpPr/>
          <p:nvPr/>
        </p:nvSpPr>
        <p:spPr>
          <a:xfrm>
            <a:off x="6372145" y="1768555"/>
            <a:ext cx="812800" cy="812800"/>
          </a:xfrm>
          <a:prstGeom prst="ellipse">
            <a:avLst/>
          </a:prstGeom>
          <a:noFill/>
          <a:ln w="9525" cap="rnd">
            <a:solidFill>
              <a:srgbClr val="1B5AA8">
                <a:alpha val="3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icon-coin"/>
          <p:cNvSpPr/>
          <p:nvPr/>
        </p:nvSpPr>
        <p:spPr>
          <a:xfrm>
            <a:off x="6731127" y="2044573"/>
            <a:ext cx="94806" cy="82994"/>
          </a:xfrm>
          <a:custGeom>
            <a:avLst/>
            <a:gdLst/>
            <a:ahLst/>
            <a:cxnLst/>
            <a:rect l="0" t="0" r="r" b="b"/>
            <a:pathLst>
              <a:path w="94806" h="82994">
                <a:moveTo>
                  <a:pt x="47435" y="0"/>
                </a:moveTo>
                <a:cubicBezTo>
                  <a:pt x="20764" y="0"/>
                  <a:pt x="0" y="7429"/>
                  <a:pt x="0" y="17780"/>
                </a:cubicBezTo>
                <a:cubicBezTo>
                  <a:pt x="0" y="28131"/>
                  <a:pt x="20764" y="35560"/>
                  <a:pt x="47435" y="35560"/>
                </a:cubicBezTo>
                <a:cubicBezTo>
                  <a:pt x="74105" y="35560"/>
                  <a:pt x="94806" y="28131"/>
                  <a:pt x="94806" y="17780"/>
                </a:cubicBezTo>
                <a:cubicBezTo>
                  <a:pt x="94806" y="7429"/>
                  <a:pt x="74105" y="0"/>
                  <a:pt x="47435" y="0"/>
                </a:cubicBezTo>
                <a:close/>
                <a:moveTo>
                  <a:pt x="0" y="17780"/>
                </a:moveTo>
                <a:lnTo>
                  <a:pt x="0" y="65214"/>
                </a:lnTo>
                <a:cubicBezTo>
                  <a:pt x="0" y="75565"/>
                  <a:pt x="20764" y="82994"/>
                  <a:pt x="47435" y="82994"/>
                </a:cubicBezTo>
                <a:cubicBezTo>
                  <a:pt x="74105" y="82994"/>
                  <a:pt x="94806" y="75565"/>
                  <a:pt x="94806" y="65214"/>
                </a:cubicBezTo>
                <a:lnTo>
                  <a:pt x="94806" y="17780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fn-2"/>
          <p:cNvSpPr txBox="1"/>
          <p:nvPr/>
        </p:nvSpPr>
        <p:spPr>
          <a:xfrm>
            <a:off x="6507908" y="2227279"/>
            <a:ext cx="54127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门店 POS</a:t>
            </a:r>
          </a:p>
        </p:txBody>
      </p:sp>
      <p:cxnSp>
        <p:nvCxnSpPr>
          <p:cNvPr id="26" name="sp-3"/>
          <p:cNvCxnSpPr/>
          <p:nvPr/>
        </p:nvCxnSpPr>
        <p:spPr>
          <a:xfrm>
            <a:off x="6324600" y="3746500"/>
            <a:ext cx="1104900" cy="0"/>
          </a:xfrm>
          <a:prstGeom prst="line">
            <a:avLst/>
          </a:prstGeom>
          <a:ln w="19050" cap="rnd">
            <a:solidFill>
              <a:srgbClr val="2E77C2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spd-3"/>
          <p:cNvSpPr/>
          <p:nvPr/>
        </p:nvSpPr>
        <p:spPr>
          <a:xfrm>
            <a:off x="6845300" y="3714750"/>
            <a:ext cx="63500" cy="635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f-3"/>
          <p:cNvSpPr/>
          <p:nvPr/>
        </p:nvSpPr>
        <p:spPr>
          <a:xfrm>
            <a:off x="7023100" y="3340100"/>
            <a:ext cx="812800" cy="812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fr-3"/>
          <p:cNvSpPr/>
          <p:nvPr/>
        </p:nvSpPr>
        <p:spPr>
          <a:xfrm>
            <a:off x="7023100" y="3340100"/>
            <a:ext cx="812800" cy="812800"/>
          </a:xfrm>
          <a:prstGeom prst="ellipse">
            <a:avLst/>
          </a:prstGeom>
          <a:noFill/>
          <a:ln w="9525" cap="rnd">
            <a:solidFill>
              <a:srgbClr val="2E77C2">
                <a:alpha val="3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icon-phone"/>
          <p:cNvSpPr/>
          <p:nvPr/>
        </p:nvSpPr>
        <p:spPr>
          <a:xfrm>
            <a:off x="7388034" y="3593910"/>
            <a:ext cx="82931" cy="127381"/>
          </a:xfrm>
          <a:custGeom>
            <a:avLst/>
            <a:gdLst/>
            <a:ahLst/>
            <a:cxnLst/>
            <a:rect l="0" t="0" r="r" b="b"/>
            <a:pathLst>
              <a:path w="82931" h="127381">
                <a:moveTo>
                  <a:pt x="11811" y="0"/>
                </a:moveTo>
                <a:lnTo>
                  <a:pt x="71120" y="0"/>
                </a:lnTo>
                <a:cubicBezTo>
                  <a:pt x="74232" y="0"/>
                  <a:pt x="77280" y="1206"/>
                  <a:pt x="79502" y="3429"/>
                </a:cubicBezTo>
                <a:cubicBezTo>
                  <a:pt x="81724" y="5651"/>
                  <a:pt x="82931" y="8700"/>
                  <a:pt x="82931" y="11811"/>
                </a:cubicBezTo>
                <a:lnTo>
                  <a:pt x="82931" y="115570"/>
                </a:lnTo>
                <a:cubicBezTo>
                  <a:pt x="82931" y="118681"/>
                  <a:pt x="81724" y="121729"/>
                  <a:pt x="79502" y="123952"/>
                </a:cubicBezTo>
                <a:cubicBezTo>
                  <a:pt x="77280" y="126175"/>
                  <a:pt x="74232" y="127381"/>
                  <a:pt x="71120" y="127381"/>
                </a:cubicBezTo>
                <a:lnTo>
                  <a:pt x="11811" y="127381"/>
                </a:lnTo>
                <a:cubicBezTo>
                  <a:pt x="8699" y="127381"/>
                  <a:pt x="5651" y="126175"/>
                  <a:pt x="3429" y="123952"/>
                </a:cubicBezTo>
                <a:cubicBezTo>
                  <a:pt x="1207" y="121729"/>
                  <a:pt x="0" y="118681"/>
                  <a:pt x="0" y="115570"/>
                </a:cubicBezTo>
                <a:lnTo>
                  <a:pt x="0" y="11811"/>
                </a:lnTo>
                <a:cubicBezTo>
                  <a:pt x="0" y="5270"/>
                  <a:pt x="5270" y="0"/>
                  <a:pt x="11811" y="0"/>
                </a:cubicBezTo>
                <a:close/>
                <a:moveTo>
                  <a:pt x="29591" y="105156"/>
                </a:moveTo>
                <a:lnTo>
                  <a:pt x="53340" y="105156"/>
                </a:lnTo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fn-3"/>
          <p:cNvSpPr txBox="1"/>
          <p:nvPr/>
        </p:nvSpPr>
        <p:spPr>
          <a:xfrm>
            <a:off x="7158863" y="3798824"/>
            <a:ext cx="54127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会员 App</a:t>
            </a:r>
          </a:p>
        </p:txBody>
      </p:sp>
      <p:cxnSp>
        <p:nvCxnSpPr>
          <p:cNvPr id="32" name="sp-4"/>
          <p:cNvCxnSpPr/>
          <p:nvPr/>
        </p:nvCxnSpPr>
        <p:spPr>
          <a:xfrm>
            <a:off x="5997263" y="4536763"/>
            <a:ext cx="781282" cy="781282"/>
          </a:xfrm>
          <a:prstGeom prst="line">
            <a:avLst/>
          </a:prstGeom>
          <a:ln w="19050" cap="rnd">
            <a:solidFill>
              <a:srgbClr val="2E77C2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spd-4"/>
          <p:cNvSpPr/>
          <p:nvPr/>
        </p:nvSpPr>
        <p:spPr>
          <a:xfrm>
            <a:off x="6356154" y="4895654"/>
            <a:ext cx="63500" cy="635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f-4"/>
          <p:cNvSpPr/>
          <p:nvPr/>
        </p:nvSpPr>
        <p:spPr>
          <a:xfrm>
            <a:off x="6372145" y="4911645"/>
            <a:ext cx="812800" cy="812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fr-4"/>
          <p:cNvSpPr/>
          <p:nvPr/>
        </p:nvSpPr>
        <p:spPr>
          <a:xfrm>
            <a:off x="6372145" y="4911645"/>
            <a:ext cx="812800" cy="812800"/>
          </a:xfrm>
          <a:prstGeom prst="ellipse">
            <a:avLst/>
          </a:prstGeom>
          <a:noFill/>
          <a:ln w="9525" cap="rnd">
            <a:solidFill>
              <a:srgbClr val="4694D7">
                <a:alpha val="3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icon-share"/>
          <p:cNvSpPr/>
          <p:nvPr/>
        </p:nvSpPr>
        <p:spPr>
          <a:xfrm>
            <a:off x="6750368" y="5192840"/>
            <a:ext cx="52641" cy="72581"/>
          </a:xfrm>
          <a:custGeom>
            <a:avLst/>
            <a:gdLst/>
            <a:ahLst/>
            <a:cxnLst/>
            <a:rect l="0" t="0" r="r" b="b"/>
            <a:pathLst>
              <a:path w="52641" h="72581">
                <a:moveTo>
                  <a:pt x="0" y="28893"/>
                </a:moveTo>
                <a:lnTo>
                  <a:pt x="52641" y="0"/>
                </a:lnTo>
                <a:moveTo>
                  <a:pt x="0" y="43688"/>
                </a:moveTo>
                <a:lnTo>
                  <a:pt x="52641" y="72581"/>
                </a:lnTo>
              </a:path>
            </a:pathLst>
          </a:cu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icon-share"/>
          <p:cNvSpPr/>
          <p:nvPr/>
        </p:nvSpPr>
        <p:spPr>
          <a:xfrm>
            <a:off x="6718537" y="5212106"/>
            <a:ext cx="34078" cy="34078"/>
          </a:xfrm>
          <a:prstGeom prst="ellipse">
            <a:avLst/>
          </a:pr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icon-share"/>
          <p:cNvSpPr/>
          <p:nvPr/>
        </p:nvSpPr>
        <p:spPr>
          <a:xfrm>
            <a:off x="6801511" y="5169137"/>
            <a:ext cx="34078" cy="34078"/>
          </a:xfrm>
          <a:prstGeom prst="ellipse">
            <a:avLst/>
          </a:pr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icon-share"/>
          <p:cNvSpPr/>
          <p:nvPr/>
        </p:nvSpPr>
        <p:spPr>
          <a:xfrm>
            <a:off x="6801511" y="5255074"/>
            <a:ext cx="34078" cy="34078"/>
          </a:xfrm>
          <a:prstGeom prst="ellipse">
            <a:avLst/>
          </a:pr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fn-4"/>
          <p:cNvSpPr txBox="1"/>
          <p:nvPr/>
        </p:nvSpPr>
        <p:spPr>
          <a:xfrm>
            <a:off x="6575662" y="5370369"/>
            <a:ext cx="405765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小程序</a:t>
            </a:r>
          </a:p>
        </p:txBody>
      </p:sp>
      <p:cxnSp>
        <p:nvCxnSpPr>
          <p:cNvPr id="41" name="sp-5"/>
          <p:cNvCxnSpPr/>
          <p:nvPr/>
        </p:nvCxnSpPr>
        <p:spPr>
          <a:xfrm>
            <a:off x="5207000" y="4864100"/>
            <a:ext cx="0" cy="1104900"/>
          </a:xfrm>
          <a:prstGeom prst="line">
            <a:avLst/>
          </a:prstGeom>
          <a:ln w="19050" cap="rnd">
            <a:solidFill>
              <a:srgbClr val="2E77C2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spd-5"/>
          <p:cNvSpPr/>
          <p:nvPr/>
        </p:nvSpPr>
        <p:spPr>
          <a:xfrm>
            <a:off x="5175250" y="5384800"/>
            <a:ext cx="63500" cy="635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f-5"/>
          <p:cNvSpPr/>
          <p:nvPr/>
        </p:nvSpPr>
        <p:spPr>
          <a:xfrm>
            <a:off x="4800600" y="5562600"/>
            <a:ext cx="812800" cy="812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fr-5"/>
          <p:cNvSpPr/>
          <p:nvPr/>
        </p:nvSpPr>
        <p:spPr>
          <a:xfrm>
            <a:off x="4800600" y="5562600"/>
            <a:ext cx="812800" cy="812800"/>
          </a:xfrm>
          <a:prstGeom prst="ellipse">
            <a:avLst/>
          </a:prstGeom>
          <a:noFill/>
          <a:ln w="9525" cap="rnd">
            <a:solidFill>
              <a:srgbClr val="0B3E8F">
                <a:alpha val="3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icon-network"/>
          <p:cNvSpPr/>
          <p:nvPr/>
        </p:nvSpPr>
        <p:spPr>
          <a:xfrm>
            <a:off x="5184775" y="5853430"/>
            <a:ext cx="44450" cy="51880"/>
          </a:xfrm>
          <a:custGeom>
            <a:avLst/>
            <a:gdLst/>
            <a:ahLst/>
            <a:cxnLst/>
            <a:rect l="0" t="0" r="r" b="b"/>
            <a:pathLst>
              <a:path w="44450" h="51880">
                <a:moveTo>
                  <a:pt x="22225" y="0"/>
                </a:moveTo>
                <a:lnTo>
                  <a:pt x="22225" y="23686"/>
                </a:lnTo>
                <a:moveTo>
                  <a:pt x="0" y="51880"/>
                </a:moveTo>
                <a:lnTo>
                  <a:pt x="16320" y="32575"/>
                </a:lnTo>
                <a:moveTo>
                  <a:pt x="44450" y="51880"/>
                </a:moveTo>
                <a:lnTo>
                  <a:pt x="28130" y="32575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icon-network"/>
          <p:cNvSpPr/>
          <p:nvPr/>
        </p:nvSpPr>
        <p:spPr>
          <a:xfrm>
            <a:off x="5187738" y="5816388"/>
            <a:ext cx="38523" cy="38523"/>
          </a:xfrm>
          <a:prstGeom prst="ellipse">
            <a:avLst/>
          </a:pr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icon-network"/>
          <p:cNvSpPr/>
          <p:nvPr/>
        </p:nvSpPr>
        <p:spPr>
          <a:xfrm>
            <a:off x="5150697" y="5900843"/>
            <a:ext cx="38523" cy="38523"/>
          </a:xfrm>
          <a:prstGeom prst="ellipse">
            <a:avLst/>
          </a:pr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icon-network"/>
          <p:cNvSpPr/>
          <p:nvPr/>
        </p:nvSpPr>
        <p:spPr>
          <a:xfrm>
            <a:off x="5224780" y="5900843"/>
            <a:ext cx="38523" cy="38523"/>
          </a:xfrm>
          <a:prstGeom prst="ellipse">
            <a:avLst/>
          </a:pr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fn-5"/>
          <p:cNvSpPr txBox="1"/>
          <p:nvPr/>
        </p:nvSpPr>
        <p:spPr>
          <a:xfrm>
            <a:off x="4899342" y="6021324"/>
            <a:ext cx="615315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经销商门户</a:t>
            </a:r>
          </a:p>
        </p:txBody>
      </p:sp>
      <p:cxnSp>
        <p:nvCxnSpPr>
          <p:cNvPr id="50" name="sp-6"/>
          <p:cNvCxnSpPr/>
          <p:nvPr/>
        </p:nvCxnSpPr>
        <p:spPr>
          <a:xfrm flipH="1">
            <a:off x="3635455" y="4536763"/>
            <a:ext cx="781282" cy="781282"/>
          </a:xfrm>
          <a:prstGeom prst="line">
            <a:avLst/>
          </a:prstGeom>
          <a:ln w="19050" cap="rnd">
            <a:solidFill>
              <a:srgbClr val="2E77C2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spd-6"/>
          <p:cNvSpPr/>
          <p:nvPr/>
        </p:nvSpPr>
        <p:spPr>
          <a:xfrm>
            <a:off x="3994346" y="4895654"/>
            <a:ext cx="63500" cy="635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f-6"/>
          <p:cNvSpPr/>
          <p:nvPr/>
        </p:nvSpPr>
        <p:spPr>
          <a:xfrm>
            <a:off x="3229055" y="4911645"/>
            <a:ext cx="812800" cy="812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fr-6"/>
          <p:cNvSpPr/>
          <p:nvPr/>
        </p:nvSpPr>
        <p:spPr>
          <a:xfrm>
            <a:off x="3229055" y="4911645"/>
            <a:ext cx="812800" cy="812800"/>
          </a:xfrm>
          <a:prstGeom prst="ellipse">
            <a:avLst/>
          </a:prstGeom>
          <a:noFill/>
          <a:ln w="9525" cap="rnd">
            <a:solidFill>
              <a:srgbClr val="1B5AA8">
                <a:alpha val="3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icon-mail"/>
          <p:cNvSpPr/>
          <p:nvPr/>
        </p:nvSpPr>
        <p:spPr>
          <a:xfrm>
            <a:off x="3576193" y="5187632"/>
            <a:ext cx="118555" cy="82994"/>
          </a:xfrm>
          <a:custGeom>
            <a:avLst/>
            <a:gdLst/>
            <a:ahLst/>
            <a:cxnLst/>
            <a:rect l="0" t="0" r="r" b="b"/>
            <a:pathLst>
              <a:path w="118555" h="82994">
                <a:moveTo>
                  <a:pt x="0" y="0"/>
                </a:moveTo>
                <a:lnTo>
                  <a:pt x="118555" y="0"/>
                </a:lnTo>
                <a:lnTo>
                  <a:pt x="118555" y="82994"/>
                </a:lnTo>
                <a:lnTo>
                  <a:pt x="0" y="82994"/>
                </a:lnTo>
                <a:close/>
                <a:moveTo>
                  <a:pt x="0" y="2984"/>
                </a:moveTo>
                <a:lnTo>
                  <a:pt x="59246" y="44450"/>
                </a:lnTo>
                <a:lnTo>
                  <a:pt x="118555" y="2984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fn-6"/>
          <p:cNvSpPr txBox="1"/>
          <p:nvPr/>
        </p:nvSpPr>
        <p:spPr>
          <a:xfrm>
            <a:off x="3380185" y="5370369"/>
            <a:ext cx="5105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客服系统</a:t>
            </a:r>
          </a:p>
        </p:txBody>
      </p:sp>
      <p:cxnSp>
        <p:nvCxnSpPr>
          <p:cNvPr id="56" name="sp-7"/>
          <p:cNvCxnSpPr/>
          <p:nvPr/>
        </p:nvCxnSpPr>
        <p:spPr>
          <a:xfrm flipH="1">
            <a:off x="2984500" y="3746500"/>
            <a:ext cx="1104900" cy="0"/>
          </a:xfrm>
          <a:prstGeom prst="line">
            <a:avLst/>
          </a:prstGeom>
          <a:ln w="19050" cap="rnd">
            <a:solidFill>
              <a:srgbClr val="2E77C2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7" name="spd-7"/>
          <p:cNvSpPr/>
          <p:nvPr/>
        </p:nvSpPr>
        <p:spPr>
          <a:xfrm>
            <a:off x="3505200" y="3714750"/>
            <a:ext cx="63500" cy="635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f-7"/>
          <p:cNvSpPr/>
          <p:nvPr/>
        </p:nvSpPr>
        <p:spPr>
          <a:xfrm>
            <a:off x="2578100" y="3340100"/>
            <a:ext cx="812800" cy="812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fr-7"/>
          <p:cNvSpPr/>
          <p:nvPr/>
        </p:nvSpPr>
        <p:spPr>
          <a:xfrm>
            <a:off x="2578100" y="3340100"/>
            <a:ext cx="812800" cy="812800"/>
          </a:xfrm>
          <a:prstGeom prst="ellipse">
            <a:avLst/>
          </a:prstGeom>
          <a:noFill/>
          <a:ln w="9525" cap="rnd">
            <a:solidFill>
              <a:srgbClr val="2E77C2">
                <a:alpha val="3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icon-chart"/>
          <p:cNvSpPr/>
          <p:nvPr/>
        </p:nvSpPr>
        <p:spPr>
          <a:xfrm>
            <a:off x="2922270" y="3635375"/>
            <a:ext cx="124460" cy="81471"/>
          </a:xfrm>
          <a:custGeom>
            <a:avLst/>
            <a:gdLst/>
            <a:ahLst/>
            <a:cxnLst/>
            <a:rect l="0" t="0" r="r" b="b"/>
            <a:pathLst>
              <a:path w="124460" h="81471">
                <a:moveTo>
                  <a:pt x="0" y="81471"/>
                </a:moveTo>
                <a:lnTo>
                  <a:pt x="124460" y="81471"/>
                </a:lnTo>
                <a:moveTo>
                  <a:pt x="28131" y="81471"/>
                </a:moveTo>
                <a:lnTo>
                  <a:pt x="28131" y="34100"/>
                </a:lnTo>
                <a:moveTo>
                  <a:pt x="62230" y="81471"/>
                </a:moveTo>
                <a:lnTo>
                  <a:pt x="62230" y="0"/>
                </a:lnTo>
                <a:moveTo>
                  <a:pt x="96330" y="81471"/>
                </a:moveTo>
                <a:lnTo>
                  <a:pt x="96330" y="50355"/>
                </a:lnTo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fn-7"/>
          <p:cNvSpPr txBox="1"/>
          <p:nvPr/>
        </p:nvSpPr>
        <p:spPr>
          <a:xfrm>
            <a:off x="2743898" y="3798824"/>
            <a:ext cx="48120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BI 看板</a:t>
            </a:r>
          </a:p>
        </p:txBody>
      </p:sp>
      <p:cxnSp>
        <p:nvCxnSpPr>
          <p:cNvPr id="62" name="sp-8"/>
          <p:cNvCxnSpPr/>
          <p:nvPr/>
        </p:nvCxnSpPr>
        <p:spPr>
          <a:xfrm flipH="1" flipV="1">
            <a:off x="3635455" y="2174955"/>
            <a:ext cx="781282" cy="781282"/>
          </a:xfrm>
          <a:prstGeom prst="line">
            <a:avLst/>
          </a:prstGeom>
          <a:ln w="19050" cap="rnd">
            <a:solidFill>
              <a:srgbClr val="2E77C2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spd-8"/>
          <p:cNvSpPr/>
          <p:nvPr/>
        </p:nvSpPr>
        <p:spPr>
          <a:xfrm>
            <a:off x="3994346" y="2533846"/>
            <a:ext cx="63500" cy="635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f-8"/>
          <p:cNvSpPr/>
          <p:nvPr/>
        </p:nvSpPr>
        <p:spPr>
          <a:xfrm>
            <a:off x="3229055" y="1768555"/>
            <a:ext cx="812800" cy="812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fr-8"/>
          <p:cNvSpPr/>
          <p:nvPr/>
        </p:nvSpPr>
        <p:spPr>
          <a:xfrm>
            <a:off x="3229055" y="1768555"/>
            <a:ext cx="812800" cy="812800"/>
          </a:xfrm>
          <a:prstGeom prst="ellipse">
            <a:avLst/>
          </a:prstGeom>
          <a:noFill/>
          <a:ln w="9525" cap="rnd">
            <a:solidFill>
              <a:srgbClr val="4694D7">
                <a:alpha val="3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icon-truck"/>
          <p:cNvSpPr/>
          <p:nvPr/>
        </p:nvSpPr>
        <p:spPr>
          <a:xfrm>
            <a:off x="3573208" y="2046033"/>
            <a:ext cx="117094" cy="72644"/>
          </a:xfrm>
          <a:custGeom>
            <a:avLst/>
            <a:gdLst/>
            <a:ahLst/>
            <a:cxnLst/>
            <a:rect l="0" t="0" r="r" b="b"/>
            <a:pathLst>
              <a:path w="117094" h="72644">
                <a:moveTo>
                  <a:pt x="0" y="0"/>
                </a:moveTo>
                <a:lnTo>
                  <a:pt x="71120" y="0"/>
                </a:lnTo>
                <a:lnTo>
                  <a:pt x="71120" y="72644"/>
                </a:lnTo>
                <a:lnTo>
                  <a:pt x="0" y="72644"/>
                </a:lnTo>
                <a:close/>
                <a:moveTo>
                  <a:pt x="71120" y="26670"/>
                </a:moveTo>
                <a:lnTo>
                  <a:pt x="96329" y="26670"/>
                </a:lnTo>
                <a:lnTo>
                  <a:pt x="117094" y="48895"/>
                </a:lnTo>
                <a:lnTo>
                  <a:pt x="117094" y="72644"/>
                </a:lnTo>
                <a:lnTo>
                  <a:pt x="71120" y="72644"/>
                </a:lnTo>
                <a:close/>
              </a:path>
            </a:pathLst>
          </a:cu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fn-8"/>
          <p:cNvSpPr txBox="1"/>
          <p:nvPr/>
        </p:nvSpPr>
        <p:spPr>
          <a:xfrm>
            <a:off x="3327798" y="2227279"/>
            <a:ext cx="615315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供应链协同</a:t>
            </a:r>
          </a:p>
        </p:txBody>
      </p:sp>
      <p:sp>
        <p:nvSpPr>
          <p:cNvPr id="68" name="hub"/>
          <p:cNvSpPr/>
          <p:nvPr/>
        </p:nvSpPr>
        <p:spPr>
          <a:xfrm>
            <a:off x="4272153" y="2705100"/>
            <a:ext cx="1869694" cy="2082800"/>
          </a:xfrm>
          <a:custGeom>
            <a:avLst/>
            <a:gdLst/>
            <a:ahLst/>
            <a:cxnLst/>
            <a:rect l="0" t="0" r="r" b="b"/>
            <a:pathLst>
              <a:path w="1869694" h="2082800">
                <a:moveTo>
                  <a:pt x="1869694" y="1428750"/>
                </a:moveTo>
                <a:quadBezTo>
                  <a:pt x="1869694" y="1581150"/>
                  <a:pt x="1737741" y="1657350"/>
                </a:quadBezTo>
                <a:lnTo>
                  <a:pt x="1066800" y="2044700"/>
                </a:lnTo>
                <a:quadBezTo>
                  <a:pt x="934847" y="2120900"/>
                  <a:pt x="802894" y="2044700"/>
                </a:quadBezTo>
                <a:lnTo>
                  <a:pt x="131953" y="1657350"/>
                </a:lnTo>
                <a:quadBezTo>
                  <a:pt x="0" y="1581150"/>
                  <a:pt x="0" y="1428750"/>
                </a:quadBezTo>
                <a:lnTo>
                  <a:pt x="0" y="654050"/>
                </a:lnTo>
                <a:quadBezTo>
                  <a:pt x="0" y="501650"/>
                  <a:pt x="131953" y="425450"/>
                </a:quadBezTo>
                <a:lnTo>
                  <a:pt x="802894" y="38100"/>
                </a:lnTo>
                <a:quadBezTo>
                  <a:pt x="934847" y="-38100"/>
                  <a:pt x="1066800" y="38100"/>
                </a:quadBezTo>
                <a:lnTo>
                  <a:pt x="1737741" y="425450"/>
                </a:lnTo>
                <a:quadBezTo>
                  <a:pt x="1869694" y="501650"/>
                  <a:pt x="1869694" y="654050"/>
                </a:quad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hub-t"/>
          <p:cNvSpPr txBox="1"/>
          <p:nvPr/>
        </p:nvSpPr>
        <p:spPr>
          <a:xfrm>
            <a:off x="4726305" y="2933002"/>
            <a:ext cx="9613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 spc="3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业务中台</a:t>
            </a:r>
          </a:p>
        </p:txBody>
      </p:sp>
      <p:sp>
        <p:nvSpPr>
          <p:cNvPr id="70" name="cap-1"/>
          <p:cNvSpPr/>
          <p:nvPr/>
        </p:nvSpPr>
        <p:spPr>
          <a:xfrm>
            <a:off x="4368800" y="3314700"/>
            <a:ext cx="787400" cy="241300"/>
          </a:xfrm>
          <a:custGeom>
            <a:avLst/>
            <a:gdLst/>
            <a:ahLst/>
            <a:cxnLst/>
            <a:rect l="0" t="0" r="r" b="b"/>
            <a:pathLst>
              <a:path w="787400" h="241300">
                <a:moveTo>
                  <a:pt x="76200" y="0"/>
                </a:moveTo>
                <a:lnTo>
                  <a:pt x="711200" y="0"/>
                </a:lnTo>
                <a:cubicBezTo>
                  <a:pt x="753300" y="0"/>
                  <a:pt x="787400" y="34100"/>
                  <a:pt x="787400" y="76200"/>
                </a:cubicBezTo>
                <a:lnTo>
                  <a:pt x="787400" y="165100"/>
                </a:lnTo>
                <a:cubicBezTo>
                  <a:pt x="787400" y="207200"/>
                  <a:pt x="753300" y="241300"/>
                  <a:pt x="711200" y="241300"/>
                </a:cubicBezTo>
                <a:lnTo>
                  <a:pt x="76200" y="241300"/>
                </a:lnTo>
                <a:cubicBezTo>
                  <a:pt x="34100" y="241300"/>
                  <a:pt x="0" y="207200"/>
                  <a:pt x="0" y="1651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FFFFFF">
              <a:alpha val="1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capt-1"/>
          <p:cNvSpPr txBox="1"/>
          <p:nvPr/>
        </p:nvSpPr>
        <p:spPr>
          <a:xfrm>
            <a:off x="4500880" y="3354324"/>
            <a:ext cx="5232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用户中心</a:t>
            </a:r>
          </a:p>
        </p:txBody>
      </p:sp>
      <p:sp>
        <p:nvSpPr>
          <p:cNvPr id="72" name="cap-2"/>
          <p:cNvSpPr/>
          <p:nvPr/>
        </p:nvSpPr>
        <p:spPr>
          <a:xfrm>
            <a:off x="5257800" y="3314700"/>
            <a:ext cx="787400" cy="241300"/>
          </a:xfrm>
          <a:custGeom>
            <a:avLst/>
            <a:gdLst/>
            <a:ahLst/>
            <a:cxnLst/>
            <a:rect l="0" t="0" r="r" b="b"/>
            <a:pathLst>
              <a:path w="787400" h="241300">
                <a:moveTo>
                  <a:pt x="76200" y="0"/>
                </a:moveTo>
                <a:lnTo>
                  <a:pt x="711200" y="0"/>
                </a:lnTo>
                <a:cubicBezTo>
                  <a:pt x="753300" y="0"/>
                  <a:pt x="787400" y="34100"/>
                  <a:pt x="787400" y="76200"/>
                </a:cubicBezTo>
                <a:lnTo>
                  <a:pt x="787400" y="165100"/>
                </a:lnTo>
                <a:cubicBezTo>
                  <a:pt x="787400" y="207200"/>
                  <a:pt x="753300" y="241300"/>
                  <a:pt x="711200" y="241300"/>
                </a:cubicBezTo>
                <a:lnTo>
                  <a:pt x="76200" y="241300"/>
                </a:lnTo>
                <a:cubicBezTo>
                  <a:pt x="34100" y="241300"/>
                  <a:pt x="0" y="207200"/>
                  <a:pt x="0" y="1651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FFFFFF">
              <a:alpha val="1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capt-2"/>
          <p:cNvSpPr txBox="1"/>
          <p:nvPr/>
        </p:nvSpPr>
        <p:spPr>
          <a:xfrm>
            <a:off x="5389880" y="3354324"/>
            <a:ext cx="5232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商品中心</a:t>
            </a:r>
          </a:p>
        </p:txBody>
      </p:sp>
      <p:sp>
        <p:nvSpPr>
          <p:cNvPr id="74" name="cap-3"/>
          <p:cNvSpPr/>
          <p:nvPr/>
        </p:nvSpPr>
        <p:spPr>
          <a:xfrm>
            <a:off x="4368800" y="3632200"/>
            <a:ext cx="787400" cy="241300"/>
          </a:xfrm>
          <a:custGeom>
            <a:avLst/>
            <a:gdLst/>
            <a:ahLst/>
            <a:cxnLst/>
            <a:rect l="0" t="0" r="r" b="b"/>
            <a:pathLst>
              <a:path w="787400" h="241300">
                <a:moveTo>
                  <a:pt x="76200" y="0"/>
                </a:moveTo>
                <a:lnTo>
                  <a:pt x="711200" y="0"/>
                </a:lnTo>
                <a:cubicBezTo>
                  <a:pt x="753300" y="0"/>
                  <a:pt x="787400" y="34100"/>
                  <a:pt x="787400" y="76200"/>
                </a:cubicBezTo>
                <a:lnTo>
                  <a:pt x="787400" y="165100"/>
                </a:lnTo>
                <a:cubicBezTo>
                  <a:pt x="787400" y="207200"/>
                  <a:pt x="753300" y="241300"/>
                  <a:pt x="711200" y="241300"/>
                </a:cubicBezTo>
                <a:lnTo>
                  <a:pt x="76200" y="241300"/>
                </a:lnTo>
                <a:cubicBezTo>
                  <a:pt x="34100" y="241300"/>
                  <a:pt x="0" y="207200"/>
                  <a:pt x="0" y="1651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FFFFFF">
              <a:alpha val="1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capt-3"/>
          <p:cNvSpPr txBox="1"/>
          <p:nvPr/>
        </p:nvSpPr>
        <p:spPr>
          <a:xfrm>
            <a:off x="4500880" y="3671824"/>
            <a:ext cx="5232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订单中心</a:t>
            </a:r>
          </a:p>
        </p:txBody>
      </p:sp>
      <p:sp>
        <p:nvSpPr>
          <p:cNvPr id="76" name="cap-4"/>
          <p:cNvSpPr/>
          <p:nvPr/>
        </p:nvSpPr>
        <p:spPr>
          <a:xfrm>
            <a:off x="5257800" y="3632200"/>
            <a:ext cx="787400" cy="241300"/>
          </a:xfrm>
          <a:custGeom>
            <a:avLst/>
            <a:gdLst/>
            <a:ahLst/>
            <a:cxnLst/>
            <a:rect l="0" t="0" r="r" b="b"/>
            <a:pathLst>
              <a:path w="787400" h="241300">
                <a:moveTo>
                  <a:pt x="76200" y="0"/>
                </a:moveTo>
                <a:lnTo>
                  <a:pt x="711200" y="0"/>
                </a:lnTo>
                <a:cubicBezTo>
                  <a:pt x="753300" y="0"/>
                  <a:pt x="787400" y="34100"/>
                  <a:pt x="787400" y="76200"/>
                </a:cubicBezTo>
                <a:lnTo>
                  <a:pt x="787400" y="165100"/>
                </a:lnTo>
                <a:cubicBezTo>
                  <a:pt x="787400" y="207200"/>
                  <a:pt x="753300" y="241300"/>
                  <a:pt x="711200" y="241300"/>
                </a:cubicBezTo>
                <a:lnTo>
                  <a:pt x="76200" y="241300"/>
                </a:lnTo>
                <a:cubicBezTo>
                  <a:pt x="34100" y="241300"/>
                  <a:pt x="0" y="207200"/>
                  <a:pt x="0" y="1651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FFFFFF">
              <a:alpha val="1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capt-4"/>
          <p:cNvSpPr txBox="1"/>
          <p:nvPr/>
        </p:nvSpPr>
        <p:spPr>
          <a:xfrm>
            <a:off x="5389880" y="3671824"/>
            <a:ext cx="5232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支付中心</a:t>
            </a:r>
          </a:p>
        </p:txBody>
      </p:sp>
      <p:sp>
        <p:nvSpPr>
          <p:cNvPr id="78" name="cap-5"/>
          <p:cNvSpPr/>
          <p:nvPr/>
        </p:nvSpPr>
        <p:spPr>
          <a:xfrm>
            <a:off x="4368800" y="3949700"/>
            <a:ext cx="787400" cy="241300"/>
          </a:xfrm>
          <a:custGeom>
            <a:avLst/>
            <a:gdLst/>
            <a:ahLst/>
            <a:cxnLst/>
            <a:rect l="0" t="0" r="r" b="b"/>
            <a:pathLst>
              <a:path w="787400" h="241300">
                <a:moveTo>
                  <a:pt x="76200" y="0"/>
                </a:moveTo>
                <a:lnTo>
                  <a:pt x="711200" y="0"/>
                </a:lnTo>
                <a:cubicBezTo>
                  <a:pt x="753300" y="0"/>
                  <a:pt x="787400" y="34100"/>
                  <a:pt x="787400" y="76200"/>
                </a:cubicBezTo>
                <a:lnTo>
                  <a:pt x="787400" y="165100"/>
                </a:lnTo>
                <a:cubicBezTo>
                  <a:pt x="787400" y="207200"/>
                  <a:pt x="753300" y="241300"/>
                  <a:pt x="711200" y="241300"/>
                </a:cubicBezTo>
                <a:lnTo>
                  <a:pt x="76200" y="241300"/>
                </a:lnTo>
                <a:cubicBezTo>
                  <a:pt x="34100" y="241300"/>
                  <a:pt x="0" y="207200"/>
                  <a:pt x="0" y="1651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FFFFFF">
              <a:alpha val="1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capt-5"/>
          <p:cNvSpPr txBox="1"/>
          <p:nvPr/>
        </p:nvSpPr>
        <p:spPr>
          <a:xfrm>
            <a:off x="4500880" y="3989324"/>
            <a:ext cx="5232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库存中心</a:t>
            </a:r>
          </a:p>
        </p:txBody>
      </p:sp>
      <p:sp>
        <p:nvSpPr>
          <p:cNvPr id="80" name="cap-6"/>
          <p:cNvSpPr/>
          <p:nvPr/>
        </p:nvSpPr>
        <p:spPr>
          <a:xfrm>
            <a:off x="5257800" y="3949700"/>
            <a:ext cx="787400" cy="241300"/>
          </a:xfrm>
          <a:custGeom>
            <a:avLst/>
            <a:gdLst/>
            <a:ahLst/>
            <a:cxnLst/>
            <a:rect l="0" t="0" r="r" b="b"/>
            <a:pathLst>
              <a:path w="787400" h="241300">
                <a:moveTo>
                  <a:pt x="76200" y="0"/>
                </a:moveTo>
                <a:lnTo>
                  <a:pt x="711200" y="0"/>
                </a:lnTo>
                <a:cubicBezTo>
                  <a:pt x="753300" y="0"/>
                  <a:pt x="787400" y="34100"/>
                  <a:pt x="787400" y="76200"/>
                </a:cubicBezTo>
                <a:lnTo>
                  <a:pt x="787400" y="165100"/>
                </a:lnTo>
                <a:cubicBezTo>
                  <a:pt x="787400" y="207200"/>
                  <a:pt x="753300" y="241300"/>
                  <a:pt x="711200" y="241300"/>
                </a:cubicBezTo>
                <a:lnTo>
                  <a:pt x="76200" y="241300"/>
                </a:lnTo>
                <a:cubicBezTo>
                  <a:pt x="34100" y="241300"/>
                  <a:pt x="0" y="207200"/>
                  <a:pt x="0" y="1651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FFFFFF">
              <a:alpha val="1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capt-6"/>
          <p:cNvSpPr txBox="1"/>
          <p:nvPr/>
        </p:nvSpPr>
        <p:spPr>
          <a:xfrm>
            <a:off x="5389880" y="3989324"/>
            <a:ext cx="5232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营销中心</a:t>
            </a:r>
          </a:p>
        </p:txBody>
      </p:sp>
      <p:sp>
        <p:nvSpPr>
          <p:cNvPr id="82" name="side-bar"/>
          <p:cNvSpPr/>
          <p:nvPr/>
        </p:nvSpPr>
        <p:spPr>
          <a:xfrm>
            <a:off x="8763000" y="15875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side-h"/>
          <p:cNvSpPr txBox="1"/>
          <p:nvPr/>
        </p:nvSpPr>
        <p:spPr>
          <a:xfrm>
            <a:off x="8921750" y="1594644"/>
            <a:ext cx="13430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中台带来的变化</a:t>
            </a:r>
          </a:p>
        </p:txBody>
      </p:sp>
      <p:sp>
        <p:nvSpPr>
          <p:cNvPr id="84" name="side-p"/>
          <p:cNvSpPr txBox="1"/>
          <p:nvPr/>
        </p:nvSpPr>
        <p:spPr>
          <a:xfrm>
            <a:off x="8927465" y="1869361"/>
            <a:ext cx="104108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上线 18 个月对比</a:t>
            </a:r>
          </a:p>
        </p:txBody>
      </p:sp>
      <p:sp>
        <p:nvSpPr>
          <p:cNvPr id="85" name="g-1"/>
          <p:cNvSpPr/>
          <p:nvPr/>
        </p:nvSpPr>
        <p:spPr>
          <a:xfrm>
            <a:off x="8763000" y="2260600"/>
            <a:ext cx="2476500" cy="711200"/>
          </a:xfrm>
          <a:custGeom>
            <a:avLst/>
            <a:gdLst/>
            <a:ahLst/>
            <a:cxnLst/>
            <a:rect l="0" t="0" r="r" b="b"/>
            <a:pathLst>
              <a:path w="2476500" h="711200">
                <a:moveTo>
                  <a:pt x="114300" y="0"/>
                </a:moveTo>
                <a:lnTo>
                  <a:pt x="2362200" y="0"/>
                </a:lnTo>
                <a:cubicBezTo>
                  <a:pt x="2425319" y="0"/>
                  <a:pt x="2476500" y="51181"/>
                  <a:pt x="2476500" y="114300"/>
                </a:cubicBezTo>
                <a:lnTo>
                  <a:pt x="2476500" y="596900"/>
                </a:lnTo>
                <a:cubicBezTo>
                  <a:pt x="2476500" y="660019"/>
                  <a:pt x="2425319" y="711200"/>
                  <a:pt x="2362200" y="711200"/>
                </a:cubicBezTo>
                <a:lnTo>
                  <a:pt x="114300" y="711200"/>
                </a:lnTo>
                <a:cubicBezTo>
                  <a:pt x="51181" y="711200"/>
                  <a:pt x="0" y="660019"/>
                  <a:pt x="0" y="596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gb-1"/>
          <p:cNvSpPr/>
          <p:nvPr/>
        </p:nvSpPr>
        <p:spPr>
          <a:xfrm>
            <a:off x="8763000" y="2260600"/>
            <a:ext cx="38100" cy="711200"/>
          </a:xfrm>
          <a:custGeom>
            <a:avLst/>
            <a:gdLst/>
            <a:ahLst/>
            <a:cxnLst/>
            <a:rect l="0" t="0" r="r" b="b"/>
            <a:pathLst>
              <a:path w="38100" h="7112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92150"/>
                </a:lnTo>
                <a:cubicBezTo>
                  <a:pt x="38100" y="702691"/>
                  <a:pt x="29591" y="711200"/>
                  <a:pt x="19050" y="711200"/>
                </a:cubicBezTo>
                <a:lnTo>
                  <a:pt x="19050" y="711200"/>
                </a:lnTo>
                <a:cubicBezTo>
                  <a:pt x="8509" y="711200"/>
                  <a:pt x="0" y="702691"/>
                  <a:pt x="0" y="6921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gl-1"/>
          <p:cNvSpPr txBox="1"/>
          <p:nvPr/>
        </p:nvSpPr>
        <p:spPr>
          <a:xfrm>
            <a:off x="8927846" y="2393982"/>
            <a:ext cx="6686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新业务上线</a:t>
            </a:r>
          </a:p>
        </p:txBody>
      </p:sp>
      <p:sp>
        <p:nvSpPr>
          <p:cNvPr id="88" name="ga-1"/>
          <p:cNvSpPr txBox="1"/>
          <p:nvPr/>
        </p:nvSpPr>
        <p:spPr>
          <a:xfrm>
            <a:off x="8925560" y="2662555"/>
            <a:ext cx="51816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6 个月</a:t>
            </a:r>
          </a:p>
        </p:txBody>
      </p:sp>
      <p:sp>
        <p:nvSpPr>
          <p:cNvPr id="89" name="gar-1"/>
          <p:cNvSpPr txBox="1"/>
          <p:nvPr/>
        </p:nvSpPr>
        <p:spPr>
          <a:xfrm>
            <a:off x="9813290" y="2649855"/>
            <a:ext cx="18542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→</a:t>
            </a:r>
          </a:p>
        </p:txBody>
      </p:sp>
      <p:sp>
        <p:nvSpPr>
          <p:cNvPr id="90" name="gv-1"/>
          <p:cNvSpPr txBox="1"/>
          <p:nvPr/>
        </p:nvSpPr>
        <p:spPr>
          <a:xfrm>
            <a:off x="10479405" y="2581148"/>
            <a:ext cx="619379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6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6 周</a:t>
            </a:r>
          </a:p>
        </p:txBody>
      </p:sp>
      <p:sp>
        <p:nvSpPr>
          <p:cNvPr id="91" name="g-2"/>
          <p:cNvSpPr/>
          <p:nvPr/>
        </p:nvSpPr>
        <p:spPr>
          <a:xfrm>
            <a:off x="8763000" y="3086100"/>
            <a:ext cx="2476500" cy="711200"/>
          </a:xfrm>
          <a:custGeom>
            <a:avLst/>
            <a:gdLst/>
            <a:ahLst/>
            <a:cxnLst/>
            <a:rect l="0" t="0" r="r" b="b"/>
            <a:pathLst>
              <a:path w="2476500" h="711200">
                <a:moveTo>
                  <a:pt x="114300" y="0"/>
                </a:moveTo>
                <a:lnTo>
                  <a:pt x="2362200" y="0"/>
                </a:lnTo>
                <a:cubicBezTo>
                  <a:pt x="2425319" y="0"/>
                  <a:pt x="2476500" y="51181"/>
                  <a:pt x="2476500" y="114300"/>
                </a:cubicBezTo>
                <a:lnTo>
                  <a:pt x="2476500" y="596900"/>
                </a:lnTo>
                <a:cubicBezTo>
                  <a:pt x="2476500" y="660019"/>
                  <a:pt x="2425319" y="711200"/>
                  <a:pt x="2362200" y="711200"/>
                </a:cubicBezTo>
                <a:lnTo>
                  <a:pt x="114300" y="711200"/>
                </a:lnTo>
                <a:cubicBezTo>
                  <a:pt x="51181" y="711200"/>
                  <a:pt x="0" y="660019"/>
                  <a:pt x="0" y="596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gb-2"/>
          <p:cNvSpPr/>
          <p:nvPr/>
        </p:nvSpPr>
        <p:spPr>
          <a:xfrm>
            <a:off x="8763000" y="3086100"/>
            <a:ext cx="38100" cy="711200"/>
          </a:xfrm>
          <a:custGeom>
            <a:avLst/>
            <a:gdLst/>
            <a:ahLst/>
            <a:cxnLst/>
            <a:rect l="0" t="0" r="r" b="b"/>
            <a:pathLst>
              <a:path w="38100" h="7112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92150"/>
                </a:lnTo>
                <a:cubicBezTo>
                  <a:pt x="38100" y="702691"/>
                  <a:pt x="29591" y="711200"/>
                  <a:pt x="19050" y="711200"/>
                </a:cubicBezTo>
                <a:lnTo>
                  <a:pt x="19050" y="711200"/>
                </a:lnTo>
                <a:cubicBezTo>
                  <a:pt x="8509" y="711200"/>
                  <a:pt x="0" y="702691"/>
                  <a:pt x="0" y="6921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gl-2"/>
          <p:cNvSpPr txBox="1"/>
          <p:nvPr/>
        </p:nvSpPr>
        <p:spPr>
          <a:xfrm>
            <a:off x="8927846" y="3219482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重复开发</a:t>
            </a:r>
          </a:p>
        </p:txBody>
      </p:sp>
      <p:sp>
        <p:nvSpPr>
          <p:cNvPr id="94" name="ga-2"/>
          <p:cNvSpPr txBox="1"/>
          <p:nvPr/>
        </p:nvSpPr>
        <p:spPr>
          <a:xfrm>
            <a:off x="8925560" y="3488055"/>
            <a:ext cx="33337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42%</a:t>
            </a:r>
          </a:p>
        </p:txBody>
      </p:sp>
      <p:sp>
        <p:nvSpPr>
          <p:cNvPr id="95" name="gar-2"/>
          <p:cNvSpPr txBox="1"/>
          <p:nvPr/>
        </p:nvSpPr>
        <p:spPr>
          <a:xfrm>
            <a:off x="9813290" y="3475355"/>
            <a:ext cx="18542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→</a:t>
            </a:r>
          </a:p>
        </p:txBody>
      </p:sp>
      <p:sp>
        <p:nvSpPr>
          <p:cNvPr id="96" name="gv-2"/>
          <p:cNvSpPr txBox="1"/>
          <p:nvPr/>
        </p:nvSpPr>
        <p:spPr>
          <a:xfrm>
            <a:off x="10684510" y="3406648"/>
            <a:ext cx="414274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6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9%</a:t>
            </a:r>
          </a:p>
        </p:txBody>
      </p:sp>
      <p:sp>
        <p:nvSpPr>
          <p:cNvPr id="97" name="g-3"/>
          <p:cNvSpPr/>
          <p:nvPr/>
        </p:nvSpPr>
        <p:spPr>
          <a:xfrm>
            <a:off x="8763000" y="3911600"/>
            <a:ext cx="2476500" cy="711200"/>
          </a:xfrm>
          <a:custGeom>
            <a:avLst/>
            <a:gdLst/>
            <a:ahLst/>
            <a:cxnLst/>
            <a:rect l="0" t="0" r="r" b="b"/>
            <a:pathLst>
              <a:path w="2476500" h="711200">
                <a:moveTo>
                  <a:pt x="114300" y="0"/>
                </a:moveTo>
                <a:lnTo>
                  <a:pt x="2362200" y="0"/>
                </a:lnTo>
                <a:cubicBezTo>
                  <a:pt x="2425319" y="0"/>
                  <a:pt x="2476500" y="51181"/>
                  <a:pt x="2476500" y="114300"/>
                </a:cubicBezTo>
                <a:lnTo>
                  <a:pt x="2476500" y="596900"/>
                </a:lnTo>
                <a:cubicBezTo>
                  <a:pt x="2476500" y="660019"/>
                  <a:pt x="2425319" y="711200"/>
                  <a:pt x="2362200" y="711200"/>
                </a:cubicBezTo>
                <a:lnTo>
                  <a:pt x="114300" y="711200"/>
                </a:lnTo>
                <a:cubicBezTo>
                  <a:pt x="51181" y="711200"/>
                  <a:pt x="0" y="660019"/>
                  <a:pt x="0" y="596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gb-3"/>
          <p:cNvSpPr/>
          <p:nvPr/>
        </p:nvSpPr>
        <p:spPr>
          <a:xfrm>
            <a:off x="8763000" y="3911600"/>
            <a:ext cx="38100" cy="711200"/>
          </a:xfrm>
          <a:custGeom>
            <a:avLst/>
            <a:gdLst/>
            <a:ahLst/>
            <a:cxnLst/>
            <a:rect l="0" t="0" r="r" b="b"/>
            <a:pathLst>
              <a:path w="38100" h="7112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92150"/>
                </a:lnTo>
                <a:cubicBezTo>
                  <a:pt x="38100" y="702691"/>
                  <a:pt x="29591" y="711200"/>
                  <a:pt x="19050" y="711200"/>
                </a:cubicBezTo>
                <a:lnTo>
                  <a:pt x="19050" y="711200"/>
                </a:lnTo>
                <a:cubicBezTo>
                  <a:pt x="8509" y="711200"/>
                  <a:pt x="0" y="702691"/>
                  <a:pt x="0" y="6921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9" name="gl-3"/>
          <p:cNvSpPr txBox="1"/>
          <p:nvPr/>
        </p:nvSpPr>
        <p:spPr>
          <a:xfrm>
            <a:off x="8927846" y="4044982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接口数量</a:t>
            </a:r>
          </a:p>
        </p:txBody>
      </p:sp>
      <p:sp>
        <p:nvSpPr>
          <p:cNvPr id="100" name="ga-3"/>
          <p:cNvSpPr txBox="1"/>
          <p:nvPr/>
        </p:nvSpPr>
        <p:spPr>
          <a:xfrm>
            <a:off x="8925560" y="4313555"/>
            <a:ext cx="53530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380 个</a:t>
            </a:r>
          </a:p>
        </p:txBody>
      </p:sp>
      <p:sp>
        <p:nvSpPr>
          <p:cNvPr id="101" name="gar-3"/>
          <p:cNvSpPr txBox="1"/>
          <p:nvPr/>
        </p:nvSpPr>
        <p:spPr>
          <a:xfrm>
            <a:off x="9813290" y="4300855"/>
            <a:ext cx="18542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→</a:t>
            </a:r>
          </a:p>
        </p:txBody>
      </p:sp>
      <p:sp>
        <p:nvSpPr>
          <p:cNvPr id="102" name="gv-3"/>
          <p:cNvSpPr txBox="1"/>
          <p:nvPr/>
        </p:nvSpPr>
        <p:spPr>
          <a:xfrm>
            <a:off x="10363708" y="4232148"/>
            <a:ext cx="735076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6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96 个</a:t>
            </a:r>
          </a:p>
        </p:txBody>
      </p:sp>
      <p:sp>
        <p:nvSpPr>
          <p:cNvPr id="103" name="g-4"/>
          <p:cNvSpPr/>
          <p:nvPr/>
        </p:nvSpPr>
        <p:spPr>
          <a:xfrm>
            <a:off x="8763000" y="4737100"/>
            <a:ext cx="2476500" cy="711200"/>
          </a:xfrm>
          <a:custGeom>
            <a:avLst/>
            <a:gdLst/>
            <a:ahLst/>
            <a:cxnLst/>
            <a:rect l="0" t="0" r="r" b="b"/>
            <a:pathLst>
              <a:path w="2476500" h="711200">
                <a:moveTo>
                  <a:pt x="114300" y="0"/>
                </a:moveTo>
                <a:lnTo>
                  <a:pt x="2362200" y="0"/>
                </a:lnTo>
                <a:cubicBezTo>
                  <a:pt x="2425319" y="0"/>
                  <a:pt x="2476500" y="51181"/>
                  <a:pt x="2476500" y="114300"/>
                </a:cubicBezTo>
                <a:lnTo>
                  <a:pt x="2476500" y="596900"/>
                </a:lnTo>
                <a:cubicBezTo>
                  <a:pt x="2476500" y="660019"/>
                  <a:pt x="2425319" y="711200"/>
                  <a:pt x="2362200" y="711200"/>
                </a:cubicBezTo>
                <a:lnTo>
                  <a:pt x="114300" y="711200"/>
                </a:lnTo>
                <a:cubicBezTo>
                  <a:pt x="51181" y="711200"/>
                  <a:pt x="0" y="660019"/>
                  <a:pt x="0" y="596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4" name="gb-4"/>
          <p:cNvSpPr/>
          <p:nvPr/>
        </p:nvSpPr>
        <p:spPr>
          <a:xfrm>
            <a:off x="8763000" y="4737100"/>
            <a:ext cx="38100" cy="711200"/>
          </a:xfrm>
          <a:custGeom>
            <a:avLst/>
            <a:gdLst/>
            <a:ahLst/>
            <a:cxnLst/>
            <a:rect l="0" t="0" r="r" b="b"/>
            <a:pathLst>
              <a:path w="38100" h="7112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92150"/>
                </a:lnTo>
                <a:cubicBezTo>
                  <a:pt x="38100" y="702691"/>
                  <a:pt x="29591" y="711200"/>
                  <a:pt x="19050" y="711200"/>
                </a:cubicBezTo>
                <a:lnTo>
                  <a:pt x="19050" y="711200"/>
                </a:lnTo>
                <a:cubicBezTo>
                  <a:pt x="8509" y="711200"/>
                  <a:pt x="0" y="702691"/>
                  <a:pt x="0" y="6921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gl-4"/>
          <p:cNvSpPr txBox="1"/>
          <p:nvPr/>
        </p:nvSpPr>
        <p:spPr>
          <a:xfrm>
            <a:off x="8927846" y="4870482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研发人效</a:t>
            </a:r>
          </a:p>
        </p:txBody>
      </p:sp>
      <p:sp>
        <p:nvSpPr>
          <p:cNvPr id="106" name="ga-4"/>
          <p:cNvSpPr txBox="1"/>
          <p:nvPr/>
        </p:nvSpPr>
        <p:spPr>
          <a:xfrm>
            <a:off x="8925560" y="5139055"/>
            <a:ext cx="4064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1.0×</a:t>
            </a:r>
          </a:p>
        </p:txBody>
      </p:sp>
      <p:sp>
        <p:nvSpPr>
          <p:cNvPr id="107" name="gar-4"/>
          <p:cNvSpPr txBox="1"/>
          <p:nvPr/>
        </p:nvSpPr>
        <p:spPr>
          <a:xfrm>
            <a:off x="9813290" y="5126355"/>
            <a:ext cx="18542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→</a:t>
            </a:r>
          </a:p>
        </p:txBody>
      </p:sp>
      <p:sp>
        <p:nvSpPr>
          <p:cNvPr id="108" name="gv-4"/>
          <p:cNvSpPr txBox="1"/>
          <p:nvPr/>
        </p:nvSpPr>
        <p:spPr>
          <a:xfrm>
            <a:off x="10453116" y="5057648"/>
            <a:ext cx="645668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6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1.8×</a:t>
            </a:r>
          </a:p>
        </p:txBody>
      </p:sp>
      <p:sp>
        <p:nvSpPr>
          <p:cNvPr id="109" name="lg-f"/>
          <p:cNvSpPr txBox="1"/>
          <p:nvPr/>
        </p:nvSpPr>
        <p:spPr>
          <a:xfrm>
            <a:off x="933450" y="14676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前台</a:t>
            </a:r>
          </a:p>
        </p:txBody>
      </p:sp>
      <p:sp>
        <p:nvSpPr>
          <p:cNvPr id="110" name="lg-fp"/>
          <p:cNvSpPr txBox="1"/>
          <p:nvPr/>
        </p:nvSpPr>
        <p:spPr>
          <a:xfrm>
            <a:off x="940308" y="1741424"/>
            <a:ext cx="10287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面向用户，快速试错</a:t>
            </a:r>
          </a:p>
        </p:txBody>
      </p:sp>
      <p:sp>
        <p:nvSpPr>
          <p:cNvPr id="111" name="lgk-1"/>
          <p:cNvSpPr/>
          <p:nvPr/>
        </p:nvSpPr>
        <p:spPr>
          <a:xfrm>
            <a:off x="965200" y="2324100"/>
            <a:ext cx="431800" cy="431800"/>
          </a:xfrm>
          <a:prstGeom prst="ellipse">
            <a:avLst/>
          </a:pr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2" name="lgkt-1"/>
          <p:cNvSpPr txBox="1"/>
          <p:nvPr/>
        </p:nvSpPr>
        <p:spPr>
          <a:xfrm>
            <a:off x="1000125" y="2380932"/>
            <a:ext cx="36195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快</a:t>
            </a:r>
          </a:p>
        </p:txBody>
      </p:sp>
      <p:sp>
        <p:nvSpPr>
          <p:cNvPr id="113" name="lgkd-1"/>
          <p:cNvSpPr txBox="1"/>
          <p:nvPr/>
        </p:nvSpPr>
        <p:spPr>
          <a:xfrm>
            <a:off x="940308" y="2859024"/>
            <a:ext cx="71628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前台按周迭代</a:t>
            </a:r>
          </a:p>
        </p:txBody>
      </p:sp>
      <p:sp>
        <p:nvSpPr>
          <p:cNvPr id="114" name="lgk-2"/>
          <p:cNvSpPr/>
          <p:nvPr/>
        </p:nvSpPr>
        <p:spPr>
          <a:xfrm>
            <a:off x="965200" y="3213100"/>
            <a:ext cx="431800" cy="431800"/>
          </a:xfrm>
          <a:prstGeom prst="ellipse">
            <a:avLst/>
          </a:pr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5" name="lgkt-2"/>
          <p:cNvSpPr txBox="1"/>
          <p:nvPr/>
        </p:nvSpPr>
        <p:spPr>
          <a:xfrm>
            <a:off x="1000125" y="3269933"/>
            <a:ext cx="36195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稳</a:t>
            </a:r>
          </a:p>
        </p:txBody>
      </p:sp>
      <p:sp>
        <p:nvSpPr>
          <p:cNvPr id="116" name="lgkd-2"/>
          <p:cNvSpPr txBox="1"/>
          <p:nvPr/>
        </p:nvSpPr>
        <p:spPr>
          <a:xfrm>
            <a:off x="940308" y="3748024"/>
            <a:ext cx="8204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中台按季度演进</a:t>
            </a:r>
          </a:p>
        </p:txBody>
      </p:sp>
      <p:sp>
        <p:nvSpPr>
          <p:cNvPr id="117" name="lgk-3"/>
          <p:cNvSpPr/>
          <p:nvPr/>
        </p:nvSpPr>
        <p:spPr>
          <a:xfrm>
            <a:off x="965200" y="4102100"/>
            <a:ext cx="431800" cy="431800"/>
          </a:xfrm>
          <a:prstGeom prst="ellipse">
            <a:avLst/>
          </a:pr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8" name="lgkt-3"/>
          <p:cNvSpPr txBox="1"/>
          <p:nvPr/>
        </p:nvSpPr>
        <p:spPr>
          <a:xfrm>
            <a:off x="1000125" y="4158933"/>
            <a:ext cx="36195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省</a:t>
            </a:r>
          </a:p>
        </p:txBody>
      </p:sp>
      <p:sp>
        <p:nvSpPr>
          <p:cNvPr id="119" name="lgkd-3"/>
          <p:cNvSpPr txBox="1"/>
          <p:nvPr/>
        </p:nvSpPr>
        <p:spPr>
          <a:xfrm>
            <a:off x="940308" y="4637024"/>
            <a:ext cx="71628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能力只建一次</a:t>
            </a:r>
          </a:p>
        </p:txBody>
      </p:sp>
      <p:sp>
        <p:nvSpPr>
          <p:cNvPr id="120" name="lg-m"/>
          <p:cNvSpPr txBox="1"/>
          <p:nvPr/>
        </p:nvSpPr>
        <p:spPr>
          <a:xfrm>
            <a:off x="933450" y="53919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中台</a:t>
            </a:r>
          </a:p>
        </p:txBody>
      </p:sp>
      <p:sp>
        <p:nvSpPr>
          <p:cNvPr id="121" name="lg-mp"/>
          <p:cNvSpPr txBox="1"/>
          <p:nvPr/>
        </p:nvSpPr>
        <p:spPr>
          <a:xfrm>
            <a:off x="940308" y="5665724"/>
            <a:ext cx="144526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沉淀能力，一次建设多处复用</a:t>
            </a:r>
          </a:p>
        </p:txBody>
      </p:sp>
      <p:cxnSp>
        <p:nvCxnSpPr>
          <p:cNvPr id="122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3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中台架构 · 八个前台</a:t>
            </a:r>
          </a:p>
        </p:txBody>
      </p:sp>
      <p:sp>
        <p:nvSpPr>
          <p:cNvPr id="124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从现状到目标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35483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BRIDGE THE GAP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303895" y="673132"/>
            <a:ext cx="33168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左岸是今天，右岸是三年后——桥墩就是必须完成的四个关键举措</a:t>
            </a:r>
          </a:p>
        </p:txBody>
      </p:sp>
      <p:sp>
        <p:nvSpPr>
          <p:cNvPr id="10" name="water"/>
          <p:cNvSpPr/>
          <p:nvPr/>
        </p:nvSpPr>
        <p:spPr>
          <a:xfrm>
            <a:off x="3175000" y="4789723"/>
            <a:ext cx="5842000" cy="1306277"/>
          </a:xfrm>
          <a:custGeom>
            <a:avLst/>
            <a:gdLst/>
            <a:ahLst/>
            <a:cxnLst/>
            <a:rect l="0" t="0" r="r" b="b"/>
            <a:pathLst>
              <a:path w="5842000" h="1306277">
                <a:moveTo>
                  <a:pt x="0" y="36277"/>
                </a:moveTo>
                <a:cubicBezTo>
                  <a:pt x="1397000" y="-90723"/>
                  <a:pt x="4445000" y="163277"/>
                  <a:pt x="5842000" y="36277"/>
                </a:cubicBezTo>
                <a:lnTo>
                  <a:pt x="5842000" y="1306277"/>
                </a:lnTo>
                <a:lnTo>
                  <a:pt x="0" y="1306277"/>
                </a:lnTo>
                <a:close/>
              </a:path>
            </a:pathLst>
          </a:custGeom>
          <a:gradFill rotWithShape="1">
            <a:gsLst>
              <a:gs pos="0">
                <a:srgbClr val="CFE0F4">
                  <a:alpha val="90000"/>
                </a:srgbClr>
              </a:gs>
              <a:gs pos="100000">
                <a:srgbClr val="EAF1FA">
                  <a:alpha val="4000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wave-0-0"/>
          <p:cNvSpPr/>
          <p:nvPr/>
        </p:nvSpPr>
        <p:spPr>
          <a:xfrm>
            <a:off x="3556000" y="5048250"/>
            <a:ext cx="1143000" cy="63500"/>
          </a:xfrm>
          <a:custGeom>
            <a:avLst/>
            <a:gdLst/>
            <a:ahLst/>
            <a:cxnLst/>
            <a:rect l="0" t="0" r="r" b="b"/>
            <a:pathLst>
              <a:path w="1143000" h="63500">
                <a:moveTo>
                  <a:pt x="0" y="31750"/>
                </a:moveTo>
                <a:quadBezTo>
                  <a:pt x="190500" y="-31750"/>
                  <a:pt x="381000" y="31750"/>
                </a:quadBezTo>
                <a:quadBezTo>
                  <a:pt x="571500" y="95250"/>
                  <a:pt x="762000" y="31750"/>
                </a:quadBezTo>
                <a:quadBezTo>
                  <a:pt x="952500" y="-31750"/>
                  <a:pt x="1143000" y="31750"/>
                </a:quadBezTo>
              </a:path>
            </a:pathLst>
          </a:custGeom>
          <a:noFill/>
          <a:ln w="12700" cap="rnd">
            <a:solidFill>
              <a:srgbClr val="FFFFFF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wave-0-1"/>
          <p:cNvSpPr/>
          <p:nvPr/>
        </p:nvSpPr>
        <p:spPr>
          <a:xfrm>
            <a:off x="7239000" y="5175250"/>
            <a:ext cx="1143000" cy="63500"/>
          </a:xfrm>
          <a:custGeom>
            <a:avLst/>
            <a:gdLst/>
            <a:ahLst/>
            <a:cxnLst/>
            <a:rect l="0" t="0" r="r" b="b"/>
            <a:pathLst>
              <a:path w="1143000" h="63500">
                <a:moveTo>
                  <a:pt x="0" y="31750"/>
                </a:moveTo>
                <a:quadBezTo>
                  <a:pt x="190500" y="-31750"/>
                  <a:pt x="381000" y="31750"/>
                </a:quadBezTo>
                <a:quadBezTo>
                  <a:pt x="571500" y="95250"/>
                  <a:pt x="762000" y="31750"/>
                </a:quadBezTo>
                <a:quadBezTo>
                  <a:pt x="952500" y="-31750"/>
                  <a:pt x="1143000" y="31750"/>
                </a:quadBezTo>
              </a:path>
            </a:pathLst>
          </a:custGeom>
          <a:noFill/>
          <a:ln w="12700" cap="rnd">
            <a:solidFill>
              <a:srgbClr val="FFFFFF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wave-1-0"/>
          <p:cNvSpPr/>
          <p:nvPr/>
        </p:nvSpPr>
        <p:spPr>
          <a:xfrm>
            <a:off x="3746500" y="5327650"/>
            <a:ext cx="1143000" cy="63500"/>
          </a:xfrm>
          <a:custGeom>
            <a:avLst/>
            <a:gdLst/>
            <a:ahLst/>
            <a:cxnLst/>
            <a:rect l="0" t="0" r="r" b="b"/>
            <a:pathLst>
              <a:path w="1143000" h="63500">
                <a:moveTo>
                  <a:pt x="0" y="31750"/>
                </a:moveTo>
                <a:quadBezTo>
                  <a:pt x="190500" y="-31750"/>
                  <a:pt x="381000" y="31750"/>
                </a:quadBezTo>
                <a:quadBezTo>
                  <a:pt x="571500" y="95250"/>
                  <a:pt x="762000" y="31750"/>
                </a:quadBezTo>
                <a:quadBezTo>
                  <a:pt x="952500" y="-31750"/>
                  <a:pt x="1143000" y="31750"/>
                </a:quadBezTo>
              </a:path>
            </a:pathLst>
          </a:custGeom>
          <a:noFill/>
          <a:ln w="12700" cap="rnd">
            <a:solidFill>
              <a:srgbClr val="FFFFFF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wave-1-1"/>
          <p:cNvSpPr/>
          <p:nvPr/>
        </p:nvSpPr>
        <p:spPr>
          <a:xfrm>
            <a:off x="6985000" y="5454650"/>
            <a:ext cx="1143000" cy="63500"/>
          </a:xfrm>
          <a:custGeom>
            <a:avLst/>
            <a:gdLst/>
            <a:ahLst/>
            <a:cxnLst/>
            <a:rect l="0" t="0" r="r" b="b"/>
            <a:pathLst>
              <a:path w="1143000" h="63500">
                <a:moveTo>
                  <a:pt x="0" y="31750"/>
                </a:moveTo>
                <a:quadBezTo>
                  <a:pt x="190500" y="-31750"/>
                  <a:pt x="381000" y="31750"/>
                </a:quadBezTo>
                <a:quadBezTo>
                  <a:pt x="571500" y="95250"/>
                  <a:pt x="762000" y="31750"/>
                </a:quadBezTo>
                <a:quadBezTo>
                  <a:pt x="952500" y="-31750"/>
                  <a:pt x="1143000" y="31750"/>
                </a:quadBezTo>
              </a:path>
            </a:pathLst>
          </a:custGeom>
          <a:noFill/>
          <a:ln w="12700" cap="rnd">
            <a:solidFill>
              <a:srgbClr val="FFFFFF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wave-2-0"/>
          <p:cNvSpPr/>
          <p:nvPr/>
        </p:nvSpPr>
        <p:spPr>
          <a:xfrm>
            <a:off x="3937000" y="5607050"/>
            <a:ext cx="1143000" cy="63500"/>
          </a:xfrm>
          <a:custGeom>
            <a:avLst/>
            <a:gdLst/>
            <a:ahLst/>
            <a:cxnLst/>
            <a:rect l="0" t="0" r="r" b="b"/>
            <a:pathLst>
              <a:path w="1143000" h="63500">
                <a:moveTo>
                  <a:pt x="0" y="31750"/>
                </a:moveTo>
                <a:quadBezTo>
                  <a:pt x="190500" y="-31750"/>
                  <a:pt x="381000" y="31750"/>
                </a:quadBezTo>
                <a:quadBezTo>
                  <a:pt x="571500" y="95250"/>
                  <a:pt x="762000" y="31750"/>
                </a:quadBezTo>
                <a:quadBezTo>
                  <a:pt x="952500" y="-31750"/>
                  <a:pt x="1143000" y="31750"/>
                </a:quadBezTo>
              </a:path>
            </a:pathLst>
          </a:custGeom>
          <a:noFill/>
          <a:ln w="12700" cap="rnd">
            <a:solidFill>
              <a:srgbClr val="FFFFFF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wave-2-1"/>
          <p:cNvSpPr/>
          <p:nvPr/>
        </p:nvSpPr>
        <p:spPr>
          <a:xfrm>
            <a:off x="6731000" y="5734050"/>
            <a:ext cx="1143000" cy="63500"/>
          </a:xfrm>
          <a:custGeom>
            <a:avLst/>
            <a:gdLst/>
            <a:ahLst/>
            <a:cxnLst/>
            <a:rect l="0" t="0" r="r" b="b"/>
            <a:pathLst>
              <a:path w="1143000" h="63500">
                <a:moveTo>
                  <a:pt x="0" y="31750"/>
                </a:moveTo>
                <a:quadBezTo>
                  <a:pt x="190500" y="-31750"/>
                  <a:pt x="381000" y="31750"/>
                </a:quadBezTo>
                <a:quadBezTo>
                  <a:pt x="571500" y="95250"/>
                  <a:pt x="762000" y="31750"/>
                </a:quadBezTo>
                <a:quadBezTo>
                  <a:pt x="952500" y="-31750"/>
                  <a:pt x="1143000" y="31750"/>
                </a:quadBezTo>
              </a:path>
            </a:pathLst>
          </a:custGeom>
          <a:noFill/>
          <a:ln w="12700" cap="rnd">
            <a:solidFill>
              <a:srgbClr val="FFFFFF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bank-L"/>
          <p:cNvSpPr/>
          <p:nvPr/>
        </p:nvSpPr>
        <p:spPr>
          <a:xfrm>
            <a:off x="952500" y="3238500"/>
            <a:ext cx="2349500" cy="2476500"/>
          </a:xfrm>
          <a:custGeom>
            <a:avLst/>
            <a:gdLst/>
            <a:ahLst/>
            <a:cxnLst/>
            <a:rect l="0" t="0" r="r" b="b"/>
            <a:pathLst>
              <a:path w="2349500" h="2476500">
                <a:moveTo>
                  <a:pt x="152400" y="0"/>
                </a:moveTo>
                <a:lnTo>
                  <a:pt x="2197100" y="0"/>
                </a:lnTo>
                <a:cubicBezTo>
                  <a:pt x="2281301" y="0"/>
                  <a:pt x="2349500" y="68199"/>
                  <a:pt x="2349500" y="152400"/>
                </a:cubicBezTo>
                <a:lnTo>
                  <a:pt x="2349500" y="2324100"/>
                </a:lnTo>
                <a:cubicBezTo>
                  <a:pt x="2349500" y="2408301"/>
                  <a:pt x="2281301" y="2476500"/>
                  <a:pt x="2197100" y="2476500"/>
                </a:cubicBezTo>
                <a:lnTo>
                  <a:pt x="152400" y="2476500"/>
                </a:lnTo>
                <a:cubicBezTo>
                  <a:pt x="68199" y="2476500"/>
                  <a:pt x="0" y="2408301"/>
                  <a:pt x="0" y="23241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gradFill rotWithShape="1">
            <a:gsLst>
              <a:gs pos="0">
                <a:srgbClr val="9AAFC8"/>
              </a:gs>
              <a:gs pos="100000">
                <a:srgbClr val="8FA6C2"/>
              </a:gs>
            </a:gsLst>
            <a:lin ang="54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bl-L"/>
          <p:cNvSpPr txBox="1"/>
          <p:nvPr/>
        </p:nvSpPr>
        <p:spPr>
          <a:xfrm>
            <a:off x="1126236" y="3383471"/>
            <a:ext cx="1067054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现状 · 2026</a:t>
            </a:r>
          </a:p>
        </p:txBody>
      </p:sp>
      <p:sp>
        <p:nvSpPr>
          <p:cNvPr id="19" name="bi-L-0"/>
          <p:cNvSpPr/>
          <p:nvPr/>
        </p:nvSpPr>
        <p:spPr>
          <a:xfrm>
            <a:off x="1104900" y="3784600"/>
            <a:ext cx="2044700" cy="393700"/>
          </a:xfrm>
          <a:custGeom>
            <a:avLst/>
            <a:gdLst/>
            <a:ahLst/>
            <a:cxnLst/>
            <a:rect l="0" t="0" r="r" b="b"/>
            <a:pathLst>
              <a:path w="2044700" h="393700">
                <a:moveTo>
                  <a:pt x="88900" y="0"/>
                </a:moveTo>
                <a:lnTo>
                  <a:pt x="1955800" y="0"/>
                </a:lnTo>
                <a:cubicBezTo>
                  <a:pt x="2004886" y="0"/>
                  <a:pt x="2044700" y="39814"/>
                  <a:pt x="2044700" y="88900"/>
                </a:cubicBezTo>
                <a:lnTo>
                  <a:pt x="2044700" y="304800"/>
                </a:lnTo>
                <a:cubicBezTo>
                  <a:pt x="2044700" y="353886"/>
                  <a:pt x="2004886" y="393700"/>
                  <a:pt x="1955800" y="393700"/>
                </a:cubicBezTo>
                <a:lnTo>
                  <a:pt x="88900" y="393700"/>
                </a:lnTo>
                <a:cubicBezTo>
                  <a:pt x="39815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FFFF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bn-L-0"/>
          <p:cNvSpPr txBox="1"/>
          <p:nvPr/>
        </p:nvSpPr>
        <p:spPr>
          <a:xfrm>
            <a:off x="1219708" y="3900424"/>
            <a:ext cx="3073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营收</a:t>
            </a:r>
          </a:p>
        </p:txBody>
      </p:sp>
      <p:sp>
        <p:nvSpPr>
          <p:cNvPr id="21" name="bv-L-0"/>
          <p:cNvSpPr txBox="1"/>
          <p:nvPr/>
        </p:nvSpPr>
        <p:spPr>
          <a:xfrm>
            <a:off x="2443734" y="3847402"/>
            <a:ext cx="598678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300" b="1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12 亿</a:t>
            </a:r>
          </a:p>
        </p:txBody>
      </p:sp>
      <p:sp>
        <p:nvSpPr>
          <p:cNvPr id="22" name="bi-L-1"/>
          <p:cNvSpPr/>
          <p:nvPr/>
        </p:nvSpPr>
        <p:spPr>
          <a:xfrm>
            <a:off x="1104900" y="4267200"/>
            <a:ext cx="2044700" cy="393700"/>
          </a:xfrm>
          <a:custGeom>
            <a:avLst/>
            <a:gdLst/>
            <a:ahLst/>
            <a:cxnLst/>
            <a:rect l="0" t="0" r="r" b="b"/>
            <a:pathLst>
              <a:path w="2044700" h="393700">
                <a:moveTo>
                  <a:pt x="88900" y="0"/>
                </a:moveTo>
                <a:lnTo>
                  <a:pt x="1955800" y="0"/>
                </a:lnTo>
                <a:cubicBezTo>
                  <a:pt x="2004886" y="0"/>
                  <a:pt x="2044700" y="39814"/>
                  <a:pt x="2044700" y="88900"/>
                </a:cubicBezTo>
                <a:lnTo>
                  <a:pt x="2044700" y="304800"/>
                </a:lnTo>
                <a:cubicBezTo>
                  <a:pt x="2044700" y="353886"/>
                  <a:pt x="2004886" y="393700"/>
                  <a:pt x="1955800" y="393700"/>
                </a:cubicBezTo>
                <a:lnTo>
                  <a:pt x="88900" y="393700"/>
                </a:lnTo>
                <a:cubicBezTo>
                  <a:pt x="39815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FFFF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bn-L-1"/>
          <p:cNvSpPr txBox="1"/>
          <p:nvPr/>
        </p:nvSpPr>
        <p:spPr>
          <a:xfrm>
            <a:off x="1219708" y="4383024"/>
            <a:ext cx="3073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客户</a:t>
            </a:r>
          </a:p>
        </p:txBody>
      </p:sp>
      <p:sp>
        <p:nvSpPr>
          <p:cNvPr id="24" name="bv-L-1"/>
          <p:cNvSpPr txBox="1"/>
          <p:nvPr/>
        </p:nvSpPr>
        <p:spPr>
          <a:xfrm>
            <a:off x="2160651" y="4330002"/>
            <a:ext cx="881761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300" b="1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1,326 家</a:t>
            </a:r>
          </a:p>
        </p:txBody>
      </p:sp>
      <p:sp>
        <p:nvSpPr>
          <p:cNvPr id="25" name="bi-L-2"/>
          <p:cNvSpPr/>
          <p:nvPr/>
        </p:nvSpPr>
        <p:spPr>
          <a:xfrm>
            <a:off x="1104900" y="4749800"/>
            <a:ext cx="2044700" cy="393700"/>
          </a:xfrm>
          <a:custGeom>
            <a:avLst/>
            <a:gdLst/>
            <a:ahLst/>
            <a:cxnLst/>
            <a:rect l="0" t="0" r="r" b="b"/>
            <a:pathLst>
              <a:path w="2044700" h="393700">
                <a:moveTo>
                  <a:pt x="88900" y="0"/>
                </a:moveTo>
                <a:lnTo>
                  <a:pt x="1955800" y="0"/>
                </a:lnTo>
                <a:cubicBezTo>
                  <a:pt x="2004886" y="0"/>
                  <a:pt x="2044700" y="39814"/>
                  <a:pt x="2044700" y="88900"/>
                </a:cubicBezTo>
                <a:lnTo>
                  <a:pt x="2044700" y="304800"/>
                </a:lnTo>
                <a:cubicBezTo>
                  <a:pt x="2044700" y="353886"/>
                  <a:pt x="2004886" y="393700"/>
                  <a:pt x="1955800" y="393700"/>
                </a:cubicBezTo>
                <a:lnTo>
                  <a:pt x="88900" y="393700"/>
                </a:lnTo>
                <a:cubicBezTo>
                  <a:pt x="39815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FFFF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bn-L-2"/>
          <p:cNvSpPr txBox="1"/>
          <p:nvPr/>
        </p:nvSpPr>
        <p:spPr>
          <a:xfrm>
            <a:off x="1219708" y="4865624"/>
            <a:ext cx="5232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海外占比</a:t>
            </a:r>
          </a:p>
        </p:txBody>
      </p:sp>
      <p:sp>
        <p:nvSpPr>
          <p:cNvPr id="27" name="bv-L-2"/>
          <p:cNvSpPr txBox="1"/>
          <p:nvPr/>
        </p:nvSpPr>
        <p:spPr>
          <a:xfrm>
            <a:off x="2705100" y="4812602"/>
            <a:ext cx="337312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300" b="1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4%</a:t>
            </a:r>
          </a:p>
        </p:txBody>
      </p:sp>
      <p:sp>
        <p:nvSpPr>
          <p:cNvPr id="28" name="bi-L-3"/>
          <p:cNvSpPr/>
          <p:nvPr/>
        </p:nvSpPr>
        <p:spPr>
          <a:xfrm>
            <a:off x="1104900" y="5232400"/>
            <a:ext cx="2044700" cy="393700"/>
          </a:xfrm>
          <a:custGeom>
            <a:avLst/>
            <a:gdLst/>
            <a:ahLst/>
            <a:cxnLst/>
            <a:rect l="0" t="0" r="r" b="b"/>
            <a:pathLst>
              <a:path w="2044700" h="393700">
                <a:moveTo>
                  <a:pt x="88900" y="0"/>
                </a:moveTo>
                <a:lnTo>
                  <a:pt x="1955800" y="0"/>
                </a:lnTo>
                <a:cubicBezTo>
                  <a:pt x="2004886" y="0"/>
                  <a:pt x="2044700" y="39814"/>
                  <a:pt x="2044700" y="88900"/>
                </a:cubicBezTo>
                <a:lnTo>
                  <a:pt x="2044700" y="304800"/>
                </a:lnTo>
                <a:cubicBezTo>
                  <a:pt x="2044700" y="353886"/>
                  <a:pt x="2004886" y="393700"/>
                  <a:pt x="1955800" y="393700"/>
                </a:cubicBezTo>
                <a:lnTo>
                  <a:pt x="88900" y="393700"/>
                </a:lnTo>
                <a:cubicBezTo>
                  <a:pt x="39815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FFFF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bn-L-3"/>
          <p:cNvSpPr txBox="1"/>
          <p:nvPr/>
        </p:nvSpPr>
        <p:spPr>
          <a:xfrm>
            <a:off x="1219708" y="5348224"/>
            <a:ext cx="3073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人效</a:t>
            </a:r>
          </a:p>
        </p:txBody>
      </p:sp>
      <p:sp>
        <p:nvSpPr>
          <p:cNvPr id="30" name="bv-L-3"/>
          <p:cNvSpPr txBox="1"/>
          <p:nvPr/>
        </p:nvSpPr>
        <p:spPr>
          <a:xfrm>
            <a:off x="2443734" y="5295202"/>
            <a:ext cx="598678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300" b="1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75 万</a:t>
            </a:r>
          </a:p>
        </p:txBody>
      </p:sp>
      <p:sp>
        <p:nvSpPr>
          <p:cNvPr id="31" name="bank-R"/>
          <p:cNvSpPr/>
          <p:nvPr/>
        </p:nvSpPr>
        <p:spPr>
          <a:xfrm>
            <a:off x="8890000" y="3238500"/>
            <a:ext cx="2349500" cy="2476500"/>
          </a:xfrm>
          <a:custGeom>
            <a:avLst/>
            <a:gdLst/>
            <a:ahLst/>
            <a:cxnLst/>
            <a:rect l="0" t="0" r="r" b="b"/>
            <a:pathLst>
              <a:path w="2349500" h="2476500">
                <a:moveTo>
                  <a:pt x="152400" y="0"/>
                </a:moveTo>
                <a:lnTo>
                  <a:pt x="2197100" y="0"/>
                </a:lnTo>
                <a:cubicBezTo>
                  <a:pt x="2281301" y="0"/>
                  <a:pt x="2349500" y="68199"/>
                  <a:pt x="2349500" y="152400"/>
                </a:cubicBezTo>
                <a:lnTo>
                  <a:pt x="2349500" y="2324100"/>
                </a:lnTo>
                <a:cubicBezTo>
                  <a:pt x="2349500" y="2408301"/>
                  <a:pt x="2281301" y="2476500"/>
                  <a:pt x="2197100" y="2476500"/>
                </a:cubicBezTo>
                <a:lnTo>
                  <a:pt x="152400" y="2476500"/>
                </a:lnTo>
                <a:cubicBezTo>
                  <a:pt x="68199" y="2476500"/>
                  <a:pt x="0" y="2408301"/>
                  <a:pt x="0" y="23241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gradFill rotWithShape="1">
            <a:gsLst>
              <a:gs pos="0">
                <a:srgbClr val="23519A"/>
              </a:gs>
              <a:gs pos="100000">
                <a:srgbClr val="0B3E8F"/>
              </a:gs>
            </a:gsLst>
            <a:lin ang="54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bl-R"/>
          <p:cNvSpPr txBox="1"/>
          <p:nvPr/>
        </p:nvSpPr>
        <p:spPr>
          <a:xfrm>
            <a:off x="9063736" y="3383471"/>
            <a:ext cx="1067054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目标 · 2029</a:t>
            </a:r>
          </a:p>
        </p:txBody>
      </p:sp>
      <p:sp>
        <p:nvSpPr>
          <p:cNvPr id="33" name="bi-R-0"/>
          <p:cNvSpPr/>
          <p:nvPr/>
        </p:nvSpPr>
        <p:spPr>
          <a:xfrm>
            <a:off x="9042400" y="3784600"/>
            <a:ext cx="2044700" cy="393700"/>
          </a:xfrm>
          <a:custGeom>
            <a:avLst/>
            <a:gdLst/>
            <a:ahLst/>
            <a:cxnLst/>
            <a:rect l="0" t="0" r="r" b="b"/>
            <a:pathLst>
              <a:path w="2044700" h="393700">
                <a:moveTo>
                  <a:pt x="88900" y="0"/>
                </a:moveTo>
                <a:lnTo>
                  <a:pt x="1955800" y="0"/>
                </a:lnTo>
                <a:cubicBezTo>
                  <a:pt x="2004886" y="0"/>
                  <a:pt x="2044700" y="39814"/>
                  <a:pt x="2044700" y="88900"/>
                </a:cubicBezTo>
                <a:lnTo>
                  <a:pt x="2044700" y="304800"/>
                </a:lnTo>
                <a:cubicBezTo>
                  <a:pt x="2044700" y="353886"/>
                  <a:pt x="2004886" y="393700"/>
                  <a:pt x="1955800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bn-R-0"/>
          <p:cNvSpPr txBox="1"/>
          <p:nvPr/>
        </p:nvSpPr>
        <p:spPr>
          <a:xfrm>
            <a:off x="9157208" y="3900424"/>
            <a:ext cx="3073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营收</a:t>
            </a:r>
          </a:p>
        </p:txBody>
      </p:sp>
      <p:sp>
        <p:nvSpPr>
          <p:cNvPr id="35" name="bv-R-0"/>
          <p:cNvSpPr txBox="1"/>
          <p:nvPr/>
        </p:nvSpPr>
        <p:spPr>
          <a:xfrm>
            <a:off x="10381234" y="3847402"/>
            <a:ext cx="598678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300" b="1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30 亿</a:t>
            </a:r>
          </a:p>
        </p:txBody>
      </p:sp>
      <p:sp>
        <p:nvSpPr>
          <p:cNvPr id="36" name="bi-R-1"/>
          <p:cNvSpPr/>
          <p:nvPr/>
        </p:nvSpPr>
        <p:spPr>
          <a:xfrm>
            <a:off x="9042400" y="4267200"/>
            <a:ext cx="2044700" cy="393700"/>
          </a:xfrm>
          <a:custGeom>
            <a:avLst/>
            <a:gdLst/>
            <a:ahLst/>
            <a:cxnLst/>
            <a:rect l="0" t="0" r="r" b="b"/>
            <a:pathLst>
              <a:path w="2044700" h="393700">
                <a:moveTo>
                  <a:pt x="88900" y="0"/>
                </a:moveTo>
                <a:lnTo>
                  <a:pt x="1955800" y="0"/>
                </a:lnTo>
                <a:cubicBezTo>
                  <a:pt x="2004886" y="0"/>
                  <a:pt x="2044700" y="39814"/>
                  <a:pt x="2044700" y="88900"/>
                </a:cubicBezTo>
                <a:lnTo>
                  <a:pt x="2044700" y="304800"/>
                </a:lnTo>
                <a:cubicBezTo>
                  <a:pt x="2044700" y="353886"/>
                  <a:pt x="2004886" y="393700"/>
                  <a:pt x="1955800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bn-R-1"/>
          <p:cNvSpPr txBox="1"/>
          <p:nvPr/>
        </p:nvSpPr>
        <p:spPr>
          <a:xfrm>
            <a:off x="9157208" y="4383024"/>
            <a:ext cx="3073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客户</a:t>
            </a:r>
          </a:p>
        </p:txBody>
      </p:sp>
      <p:sp>
        <p:nvSpPr>
          <p:cNvPr id="38" name="bv-R-1"/>
          <p:cNvSpPr txBox="1"/>
          <p:nvPr/>
        </p:nvSpPr>
        <p:spPr>
          <a:xfrm>
            <a:off x="10098151" y="4330002"/>
            <a:ext cx="881761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300" b="1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5,000 家</a:t>
            </a:r>
          </a:p>
        </p:txBody>
      </p:sp>
      <p:sp>
        <p:nvSpPr>
          <p:cNvPr id="39" name="bi-R-2"/>
          <p:cNvSpPr/>
          <p:nvPr/>
        </p:nvSpPr>
        <p:spPr>
          <a:xfrm>
            <a:off x="9042400" y="4749800"/>
            <a:ext cx="2044700" cy="393700"/>
          </a:xfrm>
          <a:custGeom>
            <a:avLst/>
            <a:gdLst/>
            <a:ahLst/>
            <a:cxnLst/>
            <a:rect l="0" t="0" r="r" b="b"/>
            <a:pathLst>
              <a:path w="2044700" h="393700">
                <a:moveTo>
                  <a:pt x="88900" y="0"/>
                </a:moveTo>
                <a:lnTo>
                  <a:pt x="1955800" y="0"/>
                </a:lnTo>
                <a:cubicBezTo>
                  <a:pt x="2004886" y="0"/>
                  <a:pt x="2044700" y="39814"/>
                  <a:pt x="2044700" y="88900"/>
                </a:cubicBezTo>
                <a:lnTo>
                  <a:pt x="2044700" y="304800"/>
                </a:lnTo>
                <a:cubicBezTo>
                  <a:pt x="2044700" y="353886"/>
                  <a:pt x="2004886" y="393700"/>
                  <a:pt x="1955800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bn-R-2"/>
          <p:cNvSpPr txBox="1"/>
          <p:nvPr/>
        </p:nvSpPr>
        <p:spPr>
          <a:xfrm>
            <a:off x="9157208" y="4865624"/>
            <a:ext cx="5232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海外占比</a:t>
            </a:r>
          </a:p>
        </p:txBody>
      </p:sp>
      <p:sp>
        <p:nvSpPr>
          <p:cNvPr id="41" name="bv-R-2"/>
          <p:cNvSpPr txBox="1"/>
          <p:nvPr/>
        </p:nvSpPr>
        <p:spPr>
          <a:xfrm>
            <a:off x="10548239" y="4812602"/>
            <a:ext cx="431673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300" b="1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20%</a:t>
            </a:r>
          </a:p>
        </p:txBody>
      </p:sp>
      <p:sp>
        <p:nvSpPr>
          <p:cNvPr id="42" name="bi-R-3"/>
          <p:cNvSpPr/>
          <p:nvPr/>
        </p:nvSpPr>
        <p:spPr>
          <a:xfrm>
            <a:off x="9042400" y="5232400"/>
            <a:ext cx="2044700" cy="393700"/>
          </a:xfrm>
          <a:custGeom>
            <a:avLst/>
            <a:gdLst/>
            <a:ahLst/>
            <a:cxnLst/>
            <a:rect l="0" t="0" r="r" b="b"/>
            <a:pathLst>
              <a:path w="2044700" h="393700">
                <a:moveTo>
                  <a:pt x="88900" y="0"/>
                </a:moveTo>
                <a:lnTo>
                  <a:pt x="1955800" y="0"/>
                </a:lnTo>
                <a:cubicBezTo>
                  <a:pt x="2004886" y="0"/>
                  <a:pt x="2044700" y="39814"/>
                  <a:pt x="2044700" y="88900"/>
                </a:cubicBezTo>
                <a:lnTo>
                  <a:pt x="2044700" y="304800"/>
                </a:lnTo>
                <a:cubicBezTo>
                  <a:pt x="2044700" y="353886"/>
                  <a:pt x="2004886" y="393700"/>
                  <a:pt x="1955800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bn-R-3"/>
          <p:cNvSpPr txBox="1"/>
          <p:nvPr/>
        </p:nvSpPr>
        <p:spPr>
          <a:xfrm>
            <a:off x="9157208" y="5348224"/>
            <a:ext cx="3073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人效</a:t>
            </a:r>
          </a:p>
        </p:txBody>
      </p:sp>
      <p:sp>
        <p:nvSpPr>
          <p:cNvPr id="44" name="bv-R-3"/>
          <p:cNvSpPr txBox="1"/>
          <p:nvPr/>
        </p:nvSpPr>
        <p:spPr>
          <a:xfrm>
            <a:off x="10286873" y="5295202"/>
            <a:ext cx="693039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300" b="1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120 万</a:t>
            </a:r>
          </a:p>
        </p:txBody>
      </p:sp>
      <p:sp>
        <p:nvSpPr>
          <p:cNvPr id="45" name="arch"/>
          <p:cNvSpPr/>
          <p:nvPr/>
        </p:nvSpPr>
        <p:spPr>
          <a:xfrm>
            <a:off x="3302000" y="2825750"/>
            <a:ext cx="5588000" cy="641350"/>
          </a:xfrm>
          <a:custGeom>
            <a:avLst/>
            <a:gdLst/>
            <a:ahLst/>
            <a:cxnLst/>
            <a:rect l="0" t="0" r="r" b="b"/>
            <a:pathLst>
              <a:path w="5588000" h="641350">
                <a:moveTo>
                  <a:pt x="0" y="476250"/>
                </a:moveTo>
                <a:quadBezTo>
                  <a:pt x="2794000" y="-476250"/>
                  <a:pt x="5588000" y="476250"/>
                </a:quadBezTo>
                <a:lnTo>
                  <a:pt x="5588000" y="641350"/>
                </a:lnTo>
                <a:quadBezTo>
                  <a:pt x="2794000" y="-311150"/>
                  <a:pt x="0" y="641350"/>
                </a:quadBezTo>
                <a:close/>
              </a:path>
            </a:pathLst>
          </a:custGeom>
          <a:solidFill>
            <a:srgbClr val="E0703A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deck"/>
          <p:cNvSpPr/>
          <p:nvPr/>
        </p:nvSpPr>
        <p:spPr>
          <a:xfrm>
            <a:off x="3302000" y="3251200"/>
            <a:ext cx="5588000" cy="139700"/>
          </a:xfrm>
          <a:custGeom>
            <a:avLst/>
            <a:gdLst/>
            <a:ahLst/>
            <a:cxnLst/>
            <a:rect l="0" t="0" r="r" b="b"/>
            <a:pathLst>
              <a:path w="5588000" h="139700">
                <a:moveTo>
                  <a:pt x="50800" y="0"/>
                </a:moveTo>
                <a:lnTo>
                  <a:pt x="5537200" y="0"/>
                </a:lnTo>
                <a:cubicBezTo>
                  <a:pt x="5565267" y="0"/>
                  <a:pt x="5588000" y="22733"/>
                  <a:pt x="5588000" y="50800"/>
                </a:cubicBezTo>
                <a:lnTo>
                  <a:pt x="5588000" y="88900"/>
                </a:lnTo>
                <a:cubicBezTo>
                  <a:pt x="5588000" y="116967"/>
                  <a:pt x="5565267" y="139700"/>
                  <a:pt x="5537200" y="139700"/>
                </a:cubicBezTo>
                <a:lnTo>
                  <a:pt x="50800" y="139700"/>
                </a:lnTo>
                <a:cubicBezTo>
                  <a:pt x="22733" y="139700"/>
                  <a:pt x="0" y="116967"/>
                  <a:pt x="0" y="889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47" name="cab-1"/>
          <p:cNvCxnSpPr/>
          <p:nvPr/>
        </p:nvCxnSpPr>
        <p:spPr>
          <a:xfrm>
            <a:off x="4419600" y="3060700"/>
            <a:ext cx="0" cy="190500"/>
          </a:xfrm>
          <a:prstGeom prst="line">
            <a:avLst/>
          </a:prstGeom>
          <a:ln w="12700" cap="rnd">
            <a:solidFill>
              <a:srgbClr val="E0703A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pier-1"/>
          <p:cNvSpPr/>
          <p:nvPr/>
        </p:nvSpPr>
        <p:spPr>
          <a:xfrm>
            <a:off x="4203700" y="3390900"/>
            <a:ext cx="431800" cy="1587500"/>
          </a:xfrm>
          <a:custGeom>
            <a:avLst/>
            <a:gdLst/>
            <a:ahLst/>
            <a:cxnLst/>
            <a:rect l="0" t="0" r="r" b="b"/>
            <a:pathLst>
              <a:path w="431800" h="1587500">
                <a:moveTo>
                  <a:pt x="63500" y="0"/>
                </a:moveTo>
                <a:lnTo>
                  <a:pt x="368300" y="0"/>
                </a:lnTo>
                <a:cubicBezTo>
                  <a:pt x="403352" y="0"/>
                  <a:pt x="431800" y="28448"/>
                  <a:pt x="431800" y="63500"/>
                </a:cubicBezTo>
                <a:lnTo>
                  <a:pt x="431800" y="1524000"/>
                </a:lnTo>
                <a:cubicBezTo>
                  <a:pt x="431800" y="1559052"/>
                  <a:pt x="403352" y="1587500"/>
                  <a:pt x="368300" y="1587500"/>
                </a:cubicBezTo>
                <a:lnTo>
                  <a:pt x="63500" y="1587500"/>
                </a:lnTo>
                <a:cubicBezTo>
                  <a:pt x="28448" y="1587500"/>
                  <a:pt x="0" y="1559052"/>
                  <a:pt x="0" y="15240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2468B6"/>
              </a:gs>
              <a:gs pos="100000">
                <a:srgbClr val="134C9C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pi-1"/>
          <p:cNvSpPr/>
          <p:nvPr/>
        </p:nvSpPr>
        <p:spPr>
          <a:xfrm>
            <a:off x="4254500" y="3644900"/>
            <a:ext cx="330200" cy="330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icon-target"/>
          <p:cNvSpPr/>
          <p:nvPr/>
        </p:nvSpPr>
        <p:spPr>
          <a:xfrm>
            <a:off x="4419600" y="3750818"/>
            <a:ext cx="45402" cy="59182"/>
          </a:xfrm>
          <a:custGeom>
            <a:avLst/>
            <a:gdLst/>
            <a:ahLst/>
            <a:cxnLst/>
            <a:rect l="0" t="0" r="r" b="b"/>
            <a:pathLst>
              <a:path w="45402" h="59182">
                <a:moveTo>
                  <a:pt x="0" y="34417"/>
                </a:moveTo>
                <a:lnTo>
                  <a:pt x="0" y="0"/>
                </a:lnTo>
                <a:moveTo>
                  <a:pt x="0" y="59182"/>
                </a:moveTo>
                <a:lnTo>
                  <a:pt x="45402" y="13780"/>
                </a:lnTo>
              </a:path>
            </a:pathLst>
          </a:cu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icon-target"/>
          <p:cNvSpPr/>
          <p:nvPr/>
        </p:nvSpPr>
        <p:spPr>
          <a:xfrm>
            <a:off x="4360439" y="3750839"/>
            <a:ext cx="118322" cy="118322"/>
          </a:xfrm>
          <a:prstGeom prst="ellipse">
            <a:avLst/>
          </a:pr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icon-target"/>
          <p:cNvSpPr/>
          <p:nvPr/>
        </p:nvSpPr>
        <p:spPr>
          <a:xfrm>
            <a:off x="4389332" y="3779732"/>
            <a:ext cx="60537" cy="60537"/>
          </a:xfrm>
          <a:prstGeom prst="ellipse">
            <a:avLst/>
          </a:pr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pl-1"/>
          <p:cNvSpPr/>
          <p:nvPr/>
        </p:nvSpPr>
        <p:spPr>
          <a:xfrm>
            <a:off x="3860800" y="1587500"/>
            <a:ext cx="1117600" cy="381000"/>
          </a:xfrm>
          <a:custGeom>
            <a:avLst/>
            <a:gdLst/>
            <a:ahLst/>
            <a:cxnLst/>
            <a:rect l="0" t="0" r="r" b="b"/>
            <a:pathLst>
              <a:path w="1117600" h="381000">
                <a:moveTo>
                  <a:pt x="101600" y="0"/>
                </a:moveTo>
                <a:lnTo>
                  <a:pt x="1016000" y="0"/>
                </a:lnTo>
                <a:cubicBezTo>
                  <a:pt x="1072134" y="0"/>
                  <a:pt x="1117600" y="45466"/>
                  <a:pt x="1117600" y="101600"/>
                </a:cubicBezTo>
                <a:lnTo>
                  <a:pt x="1117600" y="279400"/>
                </a:lnTo>
                <a:cubicBezTo>
                  <a:pt x="1117600" y="335534"/>
                  <a:pt x="1072134" y="381000"/>
                  <a:pt x="1016000" y="381000"/>
                </a:cubicBezTo>
                <a:lnTo>
                  <a:pt x="101600" y="381000"/>
                </a:lnTo>
                <a:cubicBezTo>
                  <a:pt x="45466" y="381000"/>
                  <a:pt x="0" y="335534"/>
                  <a:pt x="0" y="2794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pln-1"/>
          <p:cNvSpPr txBox="1"/>
          <p:nvPr/>
        </p:nvSpPr>
        <p:spPr>
          <a:xfrm>
            <a:off x="4085272" y="1619282"/>
            <a:ext cx="6686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产品平台化</a:t>
            </a:r>
          </a:p>
        </p:txBody>
      </p:sp>
      <p:sp>
        <p:nvSpPr>
          <p:cNvPr id="55" name="plo-1"/>
          <p:cNvSpPr txBox="1"/>
          <p:nvPr/>
        </p:nvSpPr>
        <p:spPr>
          <a:xfrm>
            <a:off x="4157345" y="1795208"/>
            <a:ext cx="5245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牵头：研发</a:t>
            </a:r>
          </a:p>
        </p:txBody>
      </p:sp>
      <p:cxnSp>
        <p:nvCxnSpPr>
          <p:cNvPr id="56" name="pll-1"/>
          <p:cNvCxnSpPr/>
          <p:nvPr/>
        </p:nvCxnSpPr>
        <p:spPr>
          <a:xfrm>
            <a:off x="4419600" y="1968500"/>
            <a:ext cx="0" cy="1054100"/>
          </a:xfrm>
          <a:prstGeom prst="line">
            <a:avLst/>
          </a:prstGeom>
          <a:ln w="8890" cap="rnd">
            <a:solidFill>
              <a:srgbClr val="0B2545">
                <a:alpha val="2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7" name="pn-1"/>
          <p:cNvSpPr txBox="1"/>
          <p:nvPr/>
        </p:nvSpPr>
        <p:spPr>
          <a:xfrm>
            <a:off x="4252849" y="4050602"/>
            <a:ext cx="333502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cxnSp>
        <p:nvCxnSpPr>
          <p:cNvPr id="58" name="cab-2"/>
          <p:cNvCxnSpPr/>
          <p:nvPr/>
        </p:nvCxnSpPr>
        <p:spPr>
          <a:xfrm>
            <a:off x="5537200" y="2908300"/>
            <a:ext cx="0" cy="342900"/>
          </a:xfrm>
          <a:prstGeom prst="line">
            <a:avLst/>
          </a:prstGeom>
          <a:ln w="12700" cap="rnd">
            <a:solidFill>
              <a:srgbClr val="E0703A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pier-2"/>
          <p:cNvSpPr/>
          <p:nvPr/>
        </p:nvSpPr>
        <p:spPr>
          <a:xfrm>
            <a:off x="5321300" y="3390900"/>
            <a:ext cx="431800" cy="1587500"/>
          </a:xfrm>
          <a:custGeom>
            <a:avLst/>
            <a:gdLst/>
            <a:ahLst/>
            <a:cxnLst/>
            <a:rect l="0" t="0" r="r" b="b"/>
            <a:pathLst>
              <a:path w="431800" h="1587500">
                <a:moveTo>
                  <a:pt x="63500" y="0"/>
                </a:moveTo>
                <a:lnTo>
                  <a:pt x="368300" y="0"/>
                </a:lnTo>
                <a:cubicBezTo>
                  <a:pt x="403352" y="0"/>
                  <a:pt x="431800" y="28448"/>
                  <a:pt x="431800" y="63500"/>
                </a:cubicBezTo>
                <a:lnTo>
                  <a:pt x="431800" y="1524000"/>
                </a:lnTo>
                <a:cubicBezTo>
                  <a:pt x="431800" y="1559052"/>
                  <a:pt x="403352" y="1587500"/>
                  <a:pt x="368300" y="1587500"/>
                </a:cubicBezTo>
                <a:lnTo>
                  <a:pt x="63500" y="1587500"/>
                </a:lnTo>
                <a:cubicBezTo>
                  <a:pt x="28448" y="1587500"/>
                  <a:pt x="0" y="1559052"/>
                  <a:pt x="0" y="15240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2468B6"/>
              </a:gs>
              <a:gs pos="100000">
                <a:srgbClr val="134C9C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pi-2"/>
          <p:cNvSpPr/>
          <p:nvPr/>
        </p:nvSpPr>
        <p:spPr>
          <a:xfrm>
            <a:off x="5372100" y="3644900"/>
            <a:ext cx="330200" cy="330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icon-share"/>
          <p:cNvSpPr/>
          <p:nvPr/>
        </p:nvSpPr>
        <p:spPr>
          <a:xfrm>
            <a:off x="5511038" y="3776282"/>
            <a:ext cx="48895" cy="67437"/>
          </a:xfrm>
          <a:custGeom>
            <a:avLst/>
            <a:gdLst/>
            <a:ahLst/>
            <a:cxnLst/>
            <a:rect l="0" t="0" r="r" b="b"/>
            <a:pathLst>
              <a:path w="48895" h="67437">
                <a:moveTo>
                  <a:pt x="0" y="26860"/>
                </a:moveTo>
                <a:lnTo>
                  <a:pt x="48895" y="0"/>
                </a:lnTo>
                <a:moveTo>
                  <a:pt x="0" y="40576"/>
                </a:moveTo>
                <a:lnTo>
                  <a:pt x="48895" y="67437"/>
                </a:lnTo>
              </a:path>
            </a:pathLst>
          </a:cu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icon-share"/>
          <p:cNvSpPr/>
          <p:nvPr/>
        </p:nvSpPr>
        <p:spPr>
          <a:xfrm>
            <a:off x="5481479" y="3794178"/>
            <a:ext cx="31644" cy="31644"/>
          </a:xfrm>
          <a:prstGeom prst="ellipse">
            <a:avLst/>
          </a:pr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icon-share"/>
          <p:cNvSpPr/>
          <p:nvPr/>
        </p:nvSpPr>
        <p:spPr>
          <a:xfrm>
            <a:off x="5558525" y="3754279"/>
            <a:ext cx="31644" cy="31644"/>
          </a:xfrm>
          <a:prstGeom prst="ellipse">
            <a:avLst/>
          </a:pr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icon-share"/>
          <p:cNvSpPr/>
          <p:nvPr/>
        </p:nvSpPr>
        <p:spPr>
          <a:xfrm>
            <a:off x="5558525" y="3834077"/>
            <a:ext cx="31644" cy="31644"/>
          </a:xfrm>
          <a:prstGeom prst="ellipse">
            <a:avLst/>
          </a:pr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pl-2"/>
          <p:cNvSpPr/>
          <p:nvPr/>
        </p:nvSpPr>
        <p:spPr>
          <a:xfrm>
            <a:off x="4978400" y="2032000"/>
            <a:ext cx="1117600" cy="381000"/>
          </a:xfrm>
          <a:custGeom>
            <a:avLst/>
            <a:gdLst/>
            <a:ahLst/>
            <a:cxnLst/>
            <a:rect l="0" t="0" r="r" b="b"/>
            <a:pathLst>
              <a:path w="1117600" h="381000">
                <a:moveTo>
                  <a:pt x="101600" y="0"/>
                </a:moveTo>
                <a:lnTo>
                  <a:pt x="1016000" y="0"/>
                </a:lnTo>
                <a:cubicBezTo>
                  <a:pt x="1072134" y="0"/>
                  <a:pt x="1117600" y="45466"/>
                  <a:pt x="1117600" y="101600"/>
                </a:cubicBezTo>
                <a:lnTo>
                  <a:pt x="1117600" y="279400"/>
                </a:lnTo>
                <a:cubicBezTo>
                  <a:pt x="1117600" y="335534"/>
                  <a:pt x="1072134" y="381000"/>
                  <a:pt x="1016000" y="381000"/>
                </a:cubicBezTo>
                <a:lnTo>
                  <a:pt x="101600" y="381000"/>
                </a:lnTo>
                <a:cubicBezTo>
                  <a:pt x="45466" y="381000"/>
                  <a:pt x="0" y="335534"/>
                  <a:pt x="0" y="2794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pln-2"/>
          <p:cNvSpPr txBox="1"/>
          <p:nvPr/>
        </p:nvSpPr>
        <p:spPr>
          <a:xfrm>
            <a:off x="5145722" y="2063782"/>
            <a:ext cx="7829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渠道伙伴计划</a:t>
            </a:r>
          </a:p>
        </p:txBody>
      </p:sp>
      <p:sp>
        <p:nvSpPr>
          <p:cNvPr id="67" name="plo-2"/>
          <p:cNvSpPr txBox="1"/>
          <p:nvPr/>
        </p:nvSpPr>
        <p:spPr>
          <a:xfrm>
            <a:off x="5274945" y="2239708"/>
            <a:ext cx="5245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牵头：市场</a:t>
            </a:r>
          </a:p>
        </p:txBody>
      </p:sp>
      <p:cxnSp>
        <p:nvCxnSpPr>
          <p:cNvPr id="68" name="pll-2"/>
          <p:cNvCxnSpPr/>
          <p:nvPr/>
        </p:nvCxnSpPr>
        <p:spPr>
          <a:xfrm>
            <a:off x="5537200" y="2413000"/>
            <a:ext cx="0" cy="457200"/>
          </a:xfrm>
          <a:prstGeom prst="line">
            <a:avLst/>
          </a:prstGeom>
          <a:ln w="8890" cap="rnd">
            <a:solidFill>
              <a:srgbClr val="0B2545">
                <a:alpha val="2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9" name="pn-2"/>
          <p:cNvSpPr txBox="1"/>
          <p:nvPr/>
        </p:nvSpPr>
        <p:spPr>
          <a:xfrm>
            <a:off x="5370449" y="4050602"/>
            <a:ext cx="333502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cxnSp>
        <p:nvCxnSpPr>
          <p:cNvPr id="70" name="cab-3"/>
          <p:cNvCxnSpPr/>
          <p:nvPr/>
        </p:nvCxnSpPr>
        <p:spPr>
          <a:xfrm>
            <a:off x="6654800" y="2908300"/>
            <a:ext cx="0" cy="342900"/>
          </a:xfrm>
          <a:prstGeom prst="line">
            <a:avLst/>
          </a:prstGeom>
          <a:ln w="12700" cap="rnd">
            <a:solidFill>
              <a:srgbClr val="E0703A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pier-3"/>
          <p:cNvSpPr/>
          <p:nvPr/>
        </p:nvSpPr>
        <p:spPr>
          <a:xfrm>
            <a:off x="6438900" y="3390900"/>
            <a:ext cx="431800" cy="1587500"/>
          </a:xfrm>
          <a:custGeom>
            <a:avLst/>
            <a:gdLst/>
            <a:ahLst/>
            <a:cxnLst/>
            <a:rect l="0" t="0" r="r" b="b"/>
            <a:pathLst>
              <a:path w="431800" h="1587500">
                <a:moveTo>
                  <a:pt x="63500" y="0"/>
                </a:moveTo>
                <a:lnTo>
                  <a:pt x="368300" y="0"/>
                </a:lnTo>
                <a:cubicBezTo>
                  <a:pt x="403352" y="0"/>
                  <a:pt x="431800" y="28448"/>
                  <a:pt x="431800" y="63500"/>
                </a:cubicBezTo>
                <a:lnTo>
                  <a:pt x="431800" y="1524000"/>
                </a:lnTo>
                <a:cubicBezTo>
                  <a:pt x="431800" y="1559052"/>
                  <a:pt x="403352" y="1587500"/>
                  <a:pt x="368300" y="1587500"/>
                </a:cubicBezTo>
                <a:lnTo>
                  <a:pt x="63500" y="1587500"/>
                </a:lnTo>
                <a:cubicBezTo>
                  <a:pt x="28448" y="1587500"/>
                  <a:pt x="0" y="1559052"/>
                  <a:pt x="0" y="15240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2468B6"/>
              </a:gs>
              <a:gs pos="100000">
                <a:srgbClr val="134C9C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pi-3"/>
          <p:cNvSpPr/>
          <p:nvPr/>
        </p:nvSpPr>
        <p:spPr>
          <a:xfrm>
            <a:off x="6489700" y="3644900"/>
            <a:ext cx="330200" cy="330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icon-globe"/>
          <p:cNvSpPr/>
          <p:nvPr/>
        </p:nvSpPr>
        <p:spPr>
          <a:xfrm>
            <a:off x="6595618" y="3750818"/>
            <a:ext cx="118364" cy="118364"/>
          </a:xfrm>
          <a:custGeom>
            <a:avLst/>
            <a:gdLst/>
            <a:ahLst/>
            <a:cxnLst/>
            <a:rect l="0" t="0" r="r" b="b"/>
            <a:pathLst>
              <a:path w="118364" h="118364">
                <a:moveTo>
                  <a:pt x="0" y="59182"/>
                </a:moveTo>
                <a:lnTo>
                  <a:pt x="118364" y="59182"/>
                </a:lnTo>
                <a:moveTo>
                  <a:pt x="59182" y="0"/>
                </a:moveTo>
                <a:cubicBezTo>
                  <a:pt x="75692" y="17209"/>
                  <a:pt x="83947" y="37148"/>
                  <a:pt x="83947" y="59182"/>
                </a:cubicBezTo>
                <a:cubicBezTo>
                  <a:pt x="83947" y="81217"/>
                  <a:pt x="75692" y="101156"/>
                  <a:pt x="59182" y="118364"/>
                </a:cubicBezTo>
                <a:cubicBezTo>
                  <a:pt x="42672" y="101156"/>
                  <a:pt x="34417" y="81217"/>
                  <a:pt x="34417" y="59182"/>
                </a:cubicBezTo>
                <a:cubicBezTo>
                  <a:pt x="34417" y="37148"/>
                  <a:pt x="42672" y="17209"/>
                  <a:pt x="59182" y="0"/>
                </a:cubicBezTo>
                <a:close/>
              </a:path>
            </a:pathLst>
          </a:cu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icon-globe"/>
          <p:cNvSpPr/>
          <p:nvPr/>
        </p:nvSpPr>
        <p:spPr>
          <a:xfrm>
            <a:off x="6595639" y="3750839"/>
            <a:ext cx="118322" cy="118322"/>
          </a:xfrm>
          <a:prstGeom prst="ellipse">
            <a:avLst/>
          </a:pr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pl-3"/>
          <p:cNvSpPr/>
          <p:nvPr/>
        </p:nvSpPr>
        <p:spPr>
          <a:xfrm>
            <a:off x="6096000" y="1587500"/>
            <a:ext cx="1117600" cy="381000"/>
          </a:xfrm>
          <a:custGeom>
            <a:avLst/>
            <a:gdLst/>
            <a:ahLst/>
            <a:cxnLst/>
            <a:rect l="0" t="0" r="r" b="b"/>
            <a:pathLst>
              <a:path w="1117600" h="381000">
                <a:moveTo>
                  <a:pt x="101600" y="0"/>
                </a:moveTo>
                <a:lnTo>
                  <a:pt x="1016000" y="0"/>
                </a:lnTo>
                <a:cubicBezTo>
                  <a:pt x="1072134" y="0"/>
                  <a:pt x="1117600" y="45466"/>
                  <a:pt x="1117600" y="101600"/>
                </a:cubicBezTo>
                <a:lnTo>
                  <a:pt x="1117600" y="279400"/>
                </a:lnTo>
                <a:cubicBezTo>
                  <a:pt x="1117600" y="335534"/>
                  <a:pt x="1072134" y="381000"/>
                  <a:pt x="1016000" y="381000"/>
                </a:cubicBezTo>
                <a:lnTo>
                  <a:pt x="101600" y="381000"/>
                </a:lnTo>
                <a:cubicBezTo>
                  <a:pt x="45466" y="381000"/>
                  <a:pt x="0" y="335534"/>
                  <a:pt x="0" y="2794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pln-3"/>
          <p:cNvSpPr txBox="1"/>
          <p:nvPr/>
        </p:nvSpPr>
        <p:spPr>
          <a:xfrm>
            <a:off x="6320472" y="1619282"/>
            <a:ext cx="6686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海外本地化</a:t>
            </a:r>
          </a:p>
        </p:txBody>
      </p:sp>
      <p:sp>
        <p:nvSpPr>
          <p:cNvPr id="77" name="plo-3"/>
          <p:cNvSpPr txBox="1"/>
          <p:nvPr/>
        </p:nvSpPr>
        <p:spPr>
          <a:xfrm>
            <a:off x="6392545" y="1795208"/>
            <a:ext cx="5245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牵头：国际</a:t>
            </a:r>
          </a:p>
        </p:txBody>
      </p:sp>
      <p:cxnSp>
        <p:nvCxnSpPr>
          <p:cNvPr id="78" name="pll-3"/>
          <p:cNvCxnSpPr/>
          <p:nvPr/>
        </p:nvCxnSpPr>
        <p:spPr>
          <a:xfrm>
            <a:off x="6654800" y="1968500"/>
            <a:ext cx="0" cy="901700"/>
          </a:xfrm>
          <a:prstGeom prst="line">
            <a:avLst/>
          </a:prstGeom>
          <a:ln w="8890" cap="rnd">
            <a:solidFill>
              <a:srgbClr val="0B2545">
                <a:alpha val="2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pn-3"/>
          <p:cNvSpPr txBox="1"/>
          <p:nvPr/>
        </p:nvSpPr>
        <p:spPr>
          <a:xfrm>
            <a:off x="6488049" y="4050602"/>
            <a:ext cx="333502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cxnSp>
        <p:nvCxnSpPr>
          <p:cNvPr id="80" name="cab-4"/>
          <p:cNvCxnSpPr/>
          <p:nvPr/>
        </p:nvCxnSpPr>
        <p:spPr>
          <a:xfrm>
            <a:off x="7772400" y="3060700"/>
            <a:ext cx="0" cy="190500"/>
          </a:xfrm>
          <a:prstGeom prst="line">
            <a:avLst/>
          </a:prstGeom>
          <a:ln w="12700" cap="rnd">
            <a:solidFill>
              <a:srgbClr val="E0703A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pier-4"/>
          <p:cNvSpPr/>
          <p:nvPr/>
        </p:nvSpPr>
        <p:spPr>
          <a:xfrm>
            <a:off x="7556500" y="3390900"/>
            <a:ext cx="431800" cy="1587500"/>
          </a:xfrm>
          <a:custGeom>
            <a:avLst/>
            <a:gdLst/>
            <a:ahLst/>
            <a:cxnLst/>
            <a:rect l="0" t="0" r="r" b="b"/>
            <a:pathLst>
              <a:path w="431800" h="1587500">
                <a:moveTo>
                  <a:pt x="63500" y="0"/>
                </a:moveTo>
                <a:lnTo>
                  <a:pt x="368300" y="0"/>
                </a:lnTo>
                <a:cubicBezTo>
                  <a:pt x="403352" y="0"/>
                  <a:pt x="431800" y="28448"/>
                  <a:pt x="431800" y="63500"/>
                </a:cubicBezTo>
                <a:lnTo>
                  <a:pt x="431800" y="1524000"/>
                </a:lnTo>
                <a:cubicBezTo>
                  <a:pt x="431800" y="1559052"/>
                  <a:pt x="403352" y="1587500"/>
                  <a:pt x="368300" y="1587500"/>
                </a:cubicBezTo>
                <a:lnTo>
                  <a:pt x="63500" y="1587500"/>
                </a:lnTo>
                <a:cubicBezTo>
                  <a:pt x="28448" y="1587500"/>
                  <a:pt x="0" y="1559052"/>
                  <a:pt x="0" y="15240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2468B6"/>
              </a:gs>
              <a:gs pos="100000">
                <a:srgbClr val="134C9C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pi-4"/>
          <p:cNvSpPr/>
          <p:nvPr/>
        </p:nvSpPr>
        <p:spPr>
          <a:xfrm>
            <a:off x="7607300" y="3644900"/>
            <a:ext cx="330200" cy="330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icon-people"/>
          <p:cNvSpPr/>
          <p:nvPr/>
        </p:nvSpPr>
        <p:spPr>
          <a:xfrm>
            <a:off x="7714615" y="3827907"/>
            <a:ext cx="116967" cy="33020"/>
          </a:xfrm>
          <a:custGeom>
            <a:avLst/>
            <a:gdLst/>
            <a:ahLst/>
            <a:cxnLst/>
            <a:rect l="0" t="0" r="r" b="b"/>
            <a:pathLst>
              <a:path w="116967" h="33020">
                <a:moveTo>
                  <a:pt x="0" y="33020"/>
                </a:moveTo>
                <a:cubicBezTo>
                  <a:pt x="0" y="12382"/>
                  <a:pt x="17208" y="0"/>
                  <a:pt x="37147" y="0"/>
                </a:cubicBezTo>
                <a:cubicBezTo>
                  <a:pt x="57087" y="0"/>
                  <a:pt x="74295" y="12382"/>
                  <a:pt x="74295" y="33020"/>
                </a:cubicBezTo>
                <a:moveTo>
                  <a:pt x="88074" y="2730"/>
                </a:moveTo>
                <a:cubicBezTo>
                  <a:pt x="105918" y="4826"/>
                  <a:pt x="116967" y="17145"/>
                  <a:pt x="116967" y="33020"/>
                </a:cubicBezTo>
              </a:path>
            </a:pathLst>
          </a:cu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icon-people"/>
          <p:cNvSpPr/>
          <p:nvPr/>
        </p:nvSpPr>
        <p:spPr>
          <a:xfrm>
            <a:off x="7729749" y="3768725"/>
            <a:ext cx="44027" cy="44027"/>
          </a:xfrm>
          <a:prstGeom prst="ellipse">
            <a:avLst/>
          </a:pr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icon-people"/>
          <p:cNvSpPr/>
          <p:nvPr/>
        </p:nvSpPr>
        <p:spPr>
          <a:xfrm>
            <a:off x="7788910" y="3768725"/>
            <a:ext cx="35772" cy="35772"/>
          </a:xfrm>
          <a:prstGeom prst="ellipse">
            <a:avLst/>
          </a:pr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pl-4"/>
          <p:cNvSpPr/>
          <p:nvPr/>
        </p:nvSpPr>
        <p:spPr>
          <a:xfrm>
            <a:off x="7213600" y="2032000"/>
            <a:ext cx="1117600" cy="381000"/>
          </a:xfrm>
          <a:custGeom>
            <a:avLst/>
            <a:gdLst/>
            <a:ahLst/>
            <a:cxnLst/>
            <a:rect l="0" t="0" r="r" b="b"/>
            <a:pathLst>
              <a:path w="1117600" h="381000">
                <a:moveTo>
                  <a:pt x="101600" y="0"/>
                </a:moveTo>
                <a:lnTo>
                  <a:pt x="1016000" y="0"/>
                </a:lnTo>
                <a:cubicBezTo>
                  <a:pt x="1072134" y="0"/>
                  <a:pt x="1117600" y="45466"/>
                  <a:pt x="1117600" y="101600"/>
                </a:cubicBezTo>
                <a:lnTo>
                  <a:pt x="1117600" y="279400"/>
                </a:lnTo>
                <a:cubicBezTo>
                  <a:pt x="1117600" y="335534"/>
                  <a:pt x="1072134" y="381000"/>
                  <a:pt x="1016000" y="381000"/>
                </a:cubicBezTo>
                <a:lnTo>
                  <a:pt x="101600" y="381000"/>
                </a:lnTo>
                <a:cubicBezTo>
                  <a:pt x="45466" y="381000"/>
                  <a:pt x="0" y="335534"/>
                  <a:pt x="0" y="2794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pln-4"/>
          <p:cNvSpPr txBox="1"/>
          <p:nvPr/>
        </p:nvSpPr>
        <p:spPr>
          <a:xfrm>
            <a:off x="7495222" y="2063782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组织升级</a:t>
            </a:r>
          </a:p>
        </p:txBody>
      </p:sp>
      <p:sp>
        <p:nvSpPr>
          <p:cNvPr id="88" name="plo-4"/>
          <p:cNvSpPr txBox="1"/>
          <p:nvPr/>
        </p:nvSpPr>
        <p:spPr>
          <a:xfrm>
            <a:off x="7510145" y="2239708"/>
            <a:ext cx="5245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牵头：人力</a:t>
            </a:r>
          </a:p>
        </p:txBody>
      </p:sp>
      <p:cxnSp>
        <p:nvCxnSpPr>
          <p:cNvPr id="89" name="pll-4"/>
          <p:cNvCxnSpPr/>
          <p:nvPr/>
        </p:nvCxnSpPr>
        <p:spPr>
          <a:xfrm>
            <a:off x="7772400" y="2413000"/>
            <a:ext cx="0" cy="609600"/>
          </a:xfrm>
          <a:prstGeom prst="line">
            <a:avLst/>
          </a:prstGeom>
          <a:ln w="8890" cap="rnd">
            <a:solidFill>
              <a:srgbClr val="0B2545">
                <a:alpha val="2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0" name="pn-4"/>
          <p:cNvSpPr txBox="1"/>
          <p:nvPr/>
        </p:nvSpPr>
        <p:spPr>
          <a:xfrm>
            <a:off x="7605649" y="4050602"/>
            <a:ext cx="333502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91" name="sum"/>
          <p:cNvSpPr/>
          <p:nvPr/>
        </p:nvSpPr>
        <p:spPr>
          <a:xfrm>
            <a:off x="952500" y="5892800"/>
            <a:ext cx="10287000" cy="393700"/>
          </a:xfrm>
          <a:custGeom>
            <a:avLst/>
            <a:gdLst/>
            <a:ahLst/>
            <a:cxnLst/>
            <a:rect l="0" t="0" r="r" b="b"/>
            <a:pathLst>
              <a:path w="10287000" h="3937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04800"/>
                </a:lnTo>
                <a:cubicBezTo>
                  <a:pt x="10287000" y="353886"/>
                  <a:pt x="10247186" y="393700"/>
                  <a:pt x="10198100" y="393700"/>
                </a:cubicBezTo>
                <a:lnTo>
                  <a:pt x="88900" y="393700"/>
                </a:lnTo>
                <a:cubicBezTo>
                  <a:pt x="39815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sum-bar"/>
          <p:cNvSpPr/>
          <p:nvPr/>
        </p:nvSpPr>
        <p:spPr>
          <a:xfrm>
            <a:off x="952500" y="5892800"/>
            <a:ext cx="31750" cy="3937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sum-h"/>
          <p:cNvSpPr txBox="1"/>
          <p:nvPr/>
        </p:nvSpPr>
        <p:spPr>
          <a:xfrm>
            <a:off x="1142746" y="6013482"/>
            <a:ext cx="3384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差距</a:t>
            </a:r>
          </a:p>
        </p:txBody>
      </p:sp>
      <p:sp>
        <p:nvSpPr>
          <p:cNvPr id="94" name="sum-p"/>
          <p:cNvSpPr txBox="1"/>
          <p:nvPr/>
        </p:nvSpPr>
        <p:spPr>
          <a:xfrm>
            <a:off x="1637665" y="6009561"/>
            <a:ext cx="436784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营收 ×2.5、客户 ×3.8、海外占比 ×5——任何一根桥墩没立住，这座桥都通不过去。</a:t>
            </a:r>
          </a:p>
        </p:txBody>
      </p:sp>
      <p:cxnSp>
        <p:nvCxnSpPr>
          <p:cNvPr id="95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foot-l"/>
          <p:cNvSpPr txBox="1"/>
          <p:nvPr/>
        </p:nvSpPr>
        <p:spPr>
          <a:xfrm>
            <a:off x="573532" y="6532308"/>
            <a:ext cx="124218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差距之桥 · 四个关键举措</a:t>
            </a:r>
          </a:p>
        </p:txBody>
      </p:sp>
      <p:sp>
        <p:nvSpPr>
          <p:cNvPr id="97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理想人才的三个圈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62801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THREE-CIRCLE VENN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446389" y="673132"/>
            <a:ext cx="317436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能力、意愿、文化三圈交集才是要抢的人——只占候选人的 8%</a:t>
            </a:r>
          </a:p>
        </p:txBody>
      </p:sp>
      <p:sp>
        <p:nvSpPr>
          <p:cNvPr id="10" name="c-SKILL"/>
          <p:cNvSpPr/>
          <p:nvPr/>
        </p:nvSpPr>
        <p:spPr>
          <a:xfrm>
            <a:off x="4114800" y="1612265"/>
            <a:ext cx="2819400" cy="2819400"/>
          </a:xfrm>
          <a:prstGeom prst="ellipse">
            <a:avLst/>
          </a:prstGeom>
          <a:solidFill>
            <a:srgbClr val="134C9C">
              <a:alpha val="22000"/>
            </a:srgbClr>
          </a:solidFill>
          <a:ln w="15875" cap="rnd">
            <a:solidFill>
              <a:srgbClr val="134C9C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c-WILL"/>
          <p:cNvSpPr/>
          <p:nvPr/>
        </p:nvSpPr>
        <p:spPr>
          <a:xfrm>
            <a:off x="3187700" y="2956560"/>
            <a:ext cx="2819400" cy="2819400"/>
          </a:xfrm>
          <a:prstGeom prst="ellipse">
            <a:avLst/>
          </a:prstGeom>
          <a:solidFill>
            <a:srgbClr val="3985CD">
              <a:alpha val="22000"/>
            </a:srgbClr>
          </a:solidFill>
          <a:ln w="15875" cap="rnd">
            <a:solidFill>
              <a:srgbClr val="3985CD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c-FIT"/>
          <p:cNvSpPr/>
          <p:nvPr/>
        </p:nvSpPr>
        <p:spPr>
          <a:xfrm>
            <a:off x="5041900" y="2956560"/>
            <a:ext cx="2819400" cy="2819400"/>
          </a:xfrm>
          <a:prstGeom prst="ellipse">
            <a:avLst/>
          </a:prstGeom>
          <a:solidFill>
            <a:srgbClr val="E0703A">
              <a:alpha val="22000"/>
            </a:srgbClr>
          </a:solidFill>
          <a:ln w="15875" cap="rnd">
            <a:solidFill>
              <a:srgbClr val="E0703A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cn-SKILL"/>
          <p:cNvSpPr txBox="1"/>
          <p:nvPr/>
        </p:nvSpPr>
        <p:spPr>
          <a:xfrm>
            <a:off x="5173345" y="2120328"/>
            <a:ext cx="702310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700" b="1" spc="300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能力</a:t>
            </a:r>
          </a:p>
        </p:txBody>
      </p:sp>
      <p:sp>
        <p:nvSpPr>
          <p:cNvPr id="14" name="ce-SKILL"/>
          <p:cNvSpPr txBox="1"/>
          <p:nvPr/>
        </p:nvSpPr>
        <p:spPr>
          <a:xfrm>
            <a:off x="5082159" y="2467673"/>
            <a:ext cx="8846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00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SKILL · 做得了</a:t>
            </a:r>
          </a:p>
        </p:txBody>
      </p:sp>
      <p:sp>
        <p:nvSpPr>
          <p:cNvPr id="15" name="cn-WILL"/>
          <p:cNvSpPr txBox="1"/>
          <p:nvPr/>
        </p:nvSpPr>
        <p:spPr>
          <a:xfrm>
            <a:off x="3801745" y="4417124"/>
            <a:ext cx="702310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700" b="1" spc="300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意愿</a:t>
            </a:r>
          </a:p>
        </p:txBody>
      </p:sp>
      <p:sp>
        <p:nvSpPr>
          <p:cNvPr id="16" name="ce-WILL"/>
          <p:cNvSpPr txBox="1"/>
          <p:nvPr/>
        </p:nvSpPr>
        <p:spPr>
          <a:xfrm>
            <a:off x="3741801" y="4764468"/>
            <a:ext cx="82219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00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WILL · 想要做</a:t>
            </a:r>
          </a:p>
        </p:txBody>
      </p:sp>
      <p:sp>
        <p:nvSpPr>
          <p:cNvPr id="17" name="cn-FIT"/>
          <p:cNvSpPr txBox="1"/>
          <p:nvPr/>
        </p:nvSpPr>
        <p:spPr>
          <a:xfrm>
            <a:off x="6544945" y="4417124"/>
            <a:ext cx="702310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700" b="1" spc="30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文化</a:t>
            </a:r>
          </a:p>
        </p:txBody>
      </p:sp>
      <p:sp>
        <p:nvSpPr>
          <p:cNvPr id="18" name="ce-FIT"/>
          <p:cNvSpPr txBox="1"/>
          <p:nvPr/>
        </p:nvSpPr>
        <p:spPr>
          <a:xfrm>
            <a:off x="6516243" y="4764468"/>
            <a:ext cx="75971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0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FIT · 合得来</a:t>
            </a:r>
          </a:p>
        </p:txBody>
      </p:sp>
      <p:sp>
        <p:nvSpPr>
          <p:cNvPr id="19" name="pair-能干想干"/>
          <p:cNvSpPr txBox="1"/>
          <p:nvPr/>
        </p:nvSpPr>
        <p:spPr>
          <a:xfrm>
            <a:off x="4579938" y="3336766"/>
            <a:ext cx="4667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能干想干</a:t>
            </a:r>
          </a:p>
        </p:txBody>
      </p:sp>
      <p:sp>
        <p:nvSpPr>
          <p:cNvPr id="20" name="pairb-能干想干"/>
          <p:cNvSpPr txBox="1"/>
          <p:nvPr/>
        </p:nvSpPr>
        <p:spPr>
          <a:xfrm>
            <a:off x="4595495" y="3484308"/>
            <a:ext cx="4356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文化不合</a:t>
            </a:r>
          </a:p>
        </p:txBody>
      </p:sp>
      <p:sp>
        <p:nvSpPr>
          <p:cNvPr id="21" name="pair-能干合拍"/>
          <p:cNvSpPr txBox="1"/>
          <p:nvPr/>
        </p:nvSpPr>
        <p:spPr>
          <a:xfrm>
            <a:off x="6002338" y="3336766"/>
            <a:ext cx="4667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能干合拍</a:t>
            </a:r>
          </a:p>
        </p:txBody>
      </p:sp>
      <p:sp>
        <p:nvSpPr>
          <p:cNvPr id="22" name="pairb-能干合拍"/>
          <p:cNvSpPr txBox="1"/>
          <p:nvPr/>
        </p:nvSpPr>
        <p:spPr>
          <a:xfrm>
            <a:off x="6017895" y="3484308"/>
            <a:ext cx="4356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意愿不足</a:t>
            </a:r>
          </a:p>
        </p:txBody>
      </p:sp>
      <p:sp>
        <p:nvSpPr>
          <p:cNvPr id="23" name="pair-想干合拍"/>
          <p:cNvSpPr txBox="1"/>
          <p:nvPr/>
        </p:nvSpPr>
        <p:spPr>
          <a:xfrm>
            <a:off x="5291138" y="4809966"/>
            <a:ext cx="4667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想干合拍</a:t>
            </a:r>
          </a:p>
        </p:txBody>
      </p:sp>
      <p:sp>
        <p:nvSpPr>
          <p:cNvPr id="24" name="pairb-想干合拍"/>
          <p:cNvSpPr txBox="1"/>
          <p:nvPr/>
        </p:nvSpPr>
        <p:spPr>
          <a:xfrm>
            <a:off x="5306695" y="4957508"/>
            <a:ext cx="4356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能力不足</a:t>
            </a:r>
          </a:p>
        </p:txBody>
      </p:sp>
      <p:sp>
        <p:nvSpPr>
          <p:cNvPr id="25" name="core"/>
          <p:cNvSpPr/>
          <p:nvPr/>
        </p:nvSpPr>
        <p:spPr>
          <a:xfrm>
            <a:off x="5130800" y="3543300"/>
            <a:ext cx="787400" cy="7874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core-v"/>
          <p:cNvSpPr txBox="1"/>
          <p:nvPr/>
        </p:nvSpPr>
        <p:spPr>
          <a:xfrm>
            <a:off x="5332095" y="3663633"/>
            <a:ext cx="38481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8%</a:t>
            </a:r>
          </a:p>
        </p:txBody>
      </p:sp>
      <p:sp>
        <p:nvSpPr>
          <p:cNvPr id="27" name="core-l"/>
          <p:cNvSpPr txBox="1"/>
          <p:nvPr/>
        </p:nvSpPr>
        <p:spPr>
          <a:xfrm>
            <a:off x="5306695" y="3966908"/>
            <a:ext cx="4356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理想人选</a:t>
            </a:r>
          </a:p>
        </p:txBody>
      </p:sp>
      <p:sp>
        <p:nvSpPr>
          <p:cNvPr id="28" name="lc-SKILL"/>
          <p:cNvSpPr/>
          <p:nvPr/>
        </p:nvSpPr>
        <p:spPr>
          <a:xfrm>
            <a:off x="952500" y="1663700"/>
            <a:ext cx="1905000" cy="1206500"/>
          </a:xfrm>
          <a:custGeom>
            <a:avLst/>
            <a:gdLst/>
            <a:ahLst/>
            <a:cxnLst/>
            <a:rect l="0" t="0" r="r" b="b"/>
            <a:pathLst>
              <a:path w="1905000" h="1206500">
                <a:moveTo>
                  <a:pt x="127000" y="0"/>
                </a:moveTo>
                <a:lnTo>
                  <a:pt x="1778000" y="0"/>
                </a:lnTo>
                <a:cubicBezTo>
                  <a:pt x="1848168" y="0"/>
                  <a:pt x="1905000" y="56832"/>
                  <a:pt x="1905000" y="127000"/>
                </a:cubicBezTo>
                <a:lnTo>
                  <a:pt x="1905000" y="1079500"/>
                </a:lnTo>
                <a:cubicBezTo>
                  <a:pt x="1905000" y="1149668"/>
                  <a:pt x="1848168" y="1206500"/>
                  <a:pt x="1778000" y="1206500"/>
                </a:cubicBezTo>
                <a:lnTo>
                  <a:pt x="127000" y="1206500"/>
                </a:lnTo>
                <a:cubicBezTo>
                  <a:pt x="56832" y="1206500"/>
                  <a:pt x="0" y="1149668"/>
                  <a:pt x="0" y="1079500"/>
                </a:cubicBezTo>
                <a:lnTo>
                  <a:pt x="0" y="127000"/>
                </a:lnTo>
                <a:cubicBezTo>
                  <a:pt x="0" y="56832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lcb-SKILL"/>
          <p:cNvSpPr/>
          <p:nvPr/>
        </p:nvSpPr>
        <p:spPr>
          <a:xfrm>
            <a:off x="952500" y="1663700"/>
            <a:ext cx="38100" cy="1206500"/>
          </a:xfrm>
          <a:custGeom>
            <a:avLst/>
            <a:gdLst/>
            <a:ahLst/>
            <a:cxnLst/>
            <a:rect l="0" t="0" r="r" b="b"/>
            <a:pathLst>
              <a:path w="38100" h="12065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187450"/>
                </a:lnTo>
                <a:cubicBezTo>
                  <a:pt x="38100" y="1197991"/>
                  <a:pt x="29591" y="1206500"/>
                  <a:pt x="19050" y="1206500"/>
                </a:cubicBezTo>
                <a:lnTo>
                  <a:pt x="19050" y="1206500"/>
                </a:lnTo>
                <a:cubicBezTo>
                  <a:pt x="8509" y="1206500"/>
                  <a:pt x="0" y="1197991"/>
                  <a:pt x="0" y="11874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lch-SKILL"/>
          <p:cNvSpPr txBox="1"/>
          <p:nvPr/>
        </p:nvSpPr>
        <p:spPr>
          <a:xfrm>
            <a:off x="1115060" y="1798955"/>
            <a:ext cx="93599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能力  怎么看</a:t>
            </a:r>
          </a:p>
        </p:txBody>
      </p:sp>
      <p:sp>
        <p:nvSpPr>
          <p:cNvPr id="31" name="lcd-SKILL-0"/>
          <p:cNvSpPr/>
          <p:nvPr/>
        </p:nvSpPr>
        <p:spPr>
          <a:xfrm>
            <a:off x="1149350" y="2165350"/>
            <a:ext cx="63500" cy="635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lct-SKILL-0"/>
          <p:cNvSpPr txBox="1"/>
          <p:nvPr/>
        </p:nvSpPr>
        <p:spPr>
          <a:xfrm>
            <a:off x="1269365" y="2097961"/>
            <a:ext cx="55467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专业深度</a:t>
            </a:r>
          </a:p>
        </p:txBody>
      </p:sp>
      <p:sp>
        <p:nvSpPr>
          <p:cNvPr id="33" name="lcd-SKILL-1"/>
          <p:cNvSpPr/>
          <p:nvPr/>
        </p:nvSpPr>
        <p:spPr>
          <a:xfrm>
            <a:off x="1149350" y="2444750"/>
            <a:ext cx="63500" cy="635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lct-SKILL-1"/>
          <p:cNvSpPr txBox="1"/>
          <p:nvPr/>
        </p:nvSpPr>
        <p:spPr>
          <a:xfrm>
            <a:off x="1269365" y="2377361"/>
            <a:ext cx="7820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解决复杂问题</a:t>
            </a:r>
          </a:p>
        </p:txBody>
      </p:sp>
      <p:sp>
        <p:nvSpPr>
          <p:cNvPr id="35" name="lc-WILL"/>
          <p:cNvSpPr/>
          <p:nvPr/>
        </p:nvSpPr>
        <p:spPr>
          <a:xfrm>
            <a:off x="952500" y="3060700"/>
            <a:ext cx="1905000" cy="1206500"/>
          </a:xfrm>
          <a:custGeom>
            <a:avLst/>
            <a:gdLst/>
            <a:ahLst/>
            <a:cxnLst/>
            <a:rect l="0" t="0" r="r" b="b"/>
            <a:pathLst>
              <a:path w="1905000" h="1206500">
                <a:moveTo>
                  <a:pt x="127000" y="0"/>
                </a:moveTo>
                <a:lnTo>
                  <a:pt x="1778000" y="0"/>
                </a:lnTo>
                <a:cubicBezTo>
                  <a:pt x="1848168" y="0"/>
                  <a:pt x="1905000" y="56832"/>
                  <a:pt x="1905000" y="127000"/>
                </a:cubicBezTo>
                <a:lnTo>
                  <a:pt x="1905000" y="1079500"/>
                </a:lnTo>
                <a:cubicBezTo>
                  <a:pt x="1905000" y="1149667"/>
                  <a:pt x="1848168" y="1206500"/>
                  <a:pt x="1778000" y="1206500"/>
                </a:cubicBezTo>
                <a:lnTo>
                  <a:pt x="127000" y="1206500"/>
                </a:lnTo>
                <a:cubicBezTo>
                  <a:pt x="56832" y="1206500"/>
                  <a:pt x="0" y="1149667"/>
                  <a:pt x="0" y="1079500"/>
                </a:cubicBezTo>
                <a:lnTo>
                  <a:pt x="0" y="127000"/>
                </a:lnTo>
                <a:cubicBezTo>
                  <a:pt x="0" y="56832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lcb-WILL"/>
          <p:cNvSpPr/>
          <p:nvPr/>
        </p:nvSpPr>
        <p:spPr>
          <a:xfrm>
            <a:off x="952500" y="3060700"/>
            <a:ext cx="38100" cy="1206500"/>
          </a:xfrm>
          <a:custGeom>
            <a:avLst/>
            <a:gdLst/>
            <a:ahLst/>
            <a:cxnLst/>
            <a:rect l="0" t="0" r="r" b="b"/>
            <a:pathLst>
              <a:path w="38100" h="12065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187450"/>
                </a:lnTo>
                <a:cubicBezTo>
                  <a:pt x="38100" y="1197991"/>
                  <a:pt x="29591" y="1206500"/>
                  <a:pt x="19050" y="1206500"/>
                </a:cubicBezTo>
                <a:lnTo>
                  <a:pt x="19050" y="1206500"/>
                </a:lnTo>
                <a:cubicBezTo>
                  <a:pt x="8509" y="1206500"/>
                  <a:pt x="0" y="1197991"/>
                  <a:pt x="0" y="11874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lch-WILL"/>
          <p:cNvSpPr txBox="1"/>
          <p:nvPr/>
        </p:nvSpPr>
        <p:spPr>
          <a:xfrm>
            <a:off x="1115060" y="3195955"/>
            <a:ext cx="93599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意愿  怎么看</a:t>
            </a:r>
          </a:p>
        </p:txBody>
      </p:sp>
      <p:sp>
        <p:nvSpPr>
          <p:cNvPr id="38" name="lcd-WILL-0"/>
          <p:cNvSpPr/>
          <p:nvPr/>
        </p:nvSpPr>
        <p:spPr>
          <a:xfrm>
            <a:off x="1149350" y="3562350"/>
            <a:ext cx="63500" cy="63500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lct-WILL-0"/>
          <p:cNvSpPr txBox="1"/>
          <p:nvPr/>
        </p:nvSpPr>
        <p:spPr>
          <a:xfrm>
            <a:off x="1269365" y="3494961"/>
            <a:ext cx="55467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主动承担</a:t>
            </a:r>
          </a:p>
        </p:txBody>
      </p:sp>
      <p:sp>
        <p:nvSpPr>
          <p:cNvPr id="40" name="lcd-WILL-1"/>
          <p:cNvSpPr/>
          <p:nvPr/>
        </p:nvSpPr>
        <p:spPr>
          <a:xfrm>
            <a:off x="1149350" y="3841750"/>
            <a:ext cx="63500" cy="63500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lct-WILL-1"/>
          <p:cNvSpPr txBox="1"/>
          <p:nvPr/>
        </p:nvSpPr>
        <p:spPr>
          <a:xfrm>
            <a:off x="1269365" y="3774361"/>
            <a:ext cx="55467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持续学习</a:t>
            </a:r>
          </a:p>
        </p:txBody>
      </p:sp>
      <p:sp>
        <p:nvSpPr>
          <p:cNvPr id="42" name="lc-FIT"/>
          <p:cNvSpPr/>
          <p:nvPr/>
        </p:nvSpPr>
        <p:spPr>
          <a:xfrm>
            <a:off x="952500" y="4457700"/>
            <a:ext cx="1905000" cy="1206500"/>
          </a:xfrm>
          <a:custGeom>
            <a:avLst/>
            <a:gdLst/>
            <a:ahLst/>
            <a:cxnLst/>
            <a:rect l="0" t="0" r="r" b="b"/>
            <a:pathLst>
              <a:path w="1905000" h="1206500">
                <a:moveTo>
                  <a:pt x="127000" y="0"/>
                </a:moveTo>
                <a:lnTo>
                  <a:pt x="1778000" y="0"/>
                </a:lnTo>
                <a:cubicBezTo>
                  <a:pt x="1848168" y="0"/>
                  <a:pt x="1905000" y="56833"/>
                  <a:pt x="1905000" y="127000"/>
                </a:cubicBezTo>
                <a:lnTo>
                  <a:pt x="1905000" y="1079500"/>
                </a:lnTo>
                <a:cubicBezTo>
                  <a:pt x="1905000" y="1149667"/>
                  <a:pt x="1848168" y="1206500"/>
                  <a:pt x="1778000" y="1206500"/>
                </a:cubicBezTo>
                <a:lnTo>
                  <a:pt x="127000" y="1206500"/>
                </a:lnTo>
                <a:cubicBezTo>
                  <a:pt x="56832" y="1206500"/>
                  <a:pt x="0" y="1149667"/>
                  <a:pt x="0" y="1079500"/>
                </a:cubicBezTo>
                <a:lnTo>
                  <a:pt x="0" y="127000"/>
                </a:lnTo>
                <a:cubicBezTo>
                  <a:pt x="0" y="56833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lcb-FIT"/>
          <p:cNvSpPr/>
          <p:nvPr/>
        </p:nvSpPr>
        <p:spPr>
          <a:xfrm>
            <a:off x="952500" y="4457700"/>
            <a:ext cx="38100" cy="1206500"/>
          </a:xfrm>
          <a:custGeom>
            <a:avLst/>
            <a:gdLst/>
            <a:ahLst/>
            <a:cxnLst/>
            <a:rect l="0" t="0" r="r" b="b"/>
            <a:pathLst>
              <a:path w="38100" h="12065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187450"/>
                </a:lnTo>
                <a:cubicBezTo>
                  <a:pt x="38100" y="1197991"/>
                  <a:pt x="29591" y="1206500"/>
                  <a:pt x="19050" y="1206500"/>
                </a:cubicBezTo>
                <a:lnTo>
                  <a:pt x="19050" y="1206500"/>
                </a:lnTo>
                <a:cubicBezTo>
                  <a:pt x="8509" y="1206500"/>
                  <a:pt x="0" y="1197991"/>
                  <a:pt x="0" y="11874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lch-FIT"/>
          <p:cNvSpPr txBox="1"/>
          <p:nvPr/>
        </p:nvSpPr>
        <p:spPr>
          <a:xfrm>
            <a:off x="1115060" y="4592955"/>
            <a:ext cx="93599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文化  怎么看</a:t>
            </a:r>
          </a:p>
        </p:txBody>
      </p:sp>
      <p:sp>
        <p:nvSpPr>
          <p:cNvPr id="45" name="lcd-FIT-0"/>
          <p:cNvSpPr/>
          <p:nvPr/>
        </p:nvSpPr>
        <p:spPr>
          <a:xfrm>
            <a:off x="1149350" y="4959350"/>
            <a:ext cx="63500" cy="635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lct-FIT-0"/>
          <p:cNvSpPr txBox="1"/>
          <p:nvPr/>
        </p:nvSpPr>
        <p:spPr>
          <a:xfrm>
            <a:off x="1269365" y="4891961"/>
            <a:ext cx="55467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客户导向</a:t>
            </a:r>
          </a:p>
        </p:txBody>
      </p:sp>
      <p:sp>
        <p:nvSpPr>
          <p:cNvPr id="47" name="lcd-FIT-1"/>
          <p:cNvSpPr/>
          <p:nvPr/>
        </p:nvSpPr>
        <p:spPr>
          <a:xfrm>
            <a:off x="1149350" y="5238750"/>
            <a:ext cx="63500" cy="635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lct-FIT-1"/>
          <p:cNvSpPr txBox="1"/>
          <p:nvPr/>
        </p:nvSpPr>
        <p:spPr>
          <a:xfrm>
            <a:off x="1269365" y="5171361"/>
            <a:ext cx="55467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坦诚协作</a:t>
            </a:r>
          </a:p>
        </p:txBody>
      </p:sp>
      <p:sp>
        <p:nvSpPr>
          <p:cNvPr id="49" name="side-bar"/>
          <p:cNvSpPr/>
          <p:nvPr/>
        </p:nvSpPr>
        <p:spPr>
          <a:xfrm>
            <a:off x="8255000" y="15875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side-h"/>
          <p:cNvSpPr txBox="1"/>
          <p:nvPr/>
        </p:nvSpPr>
        <p:spPr>
          <a:xfrm>
            <a:off x="8413750" y="15946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怎么处理</a:t>
            </a:r>
          </a:p>
        </p:txBody>
      </p:sp>
      <p:sp>
        <p:nvSpPr>
          <p:cNvPr id="51" name="side-p"/>
          <p:cNvSpPr txBox="1"/>
          <p:nvPr/>
        </p:nvSpPr>
        <p:spPr>
          <a:xfrm>
            <a:off x="8419465" y="1869361"/>
            <a:ext cx="135032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按落在哪个区域给出结论</a:t>
            </a:r>
          </a:p>
        </p:txBody>
      </p:sp>
      <p:sp>
        <p:nvSpPr>
          <p:cNvPr id="52" name="r-1"/>
          <p:cNvSpPr/>
          <p:nvPr/>
        </p:nvSpPr>
        <p:spPr>
          <a:xfrm>
            <a:off x="8255000" y="2260600"/>
            <a:ext cx="2984500" cy="635000"/>
          </a:xfrm>
          <a:custGeom>
            <a:avLst/>
            <a:gdLst/>
            <a:ahLst/>
            <a:cxnLst/>
            <a:rect l="0" t="0" r="r" b="b"/>
            <a:pathLst>
              <a:path w="2984500" h="635000">
                <a:moveTo>
                  <a:pt x="114300" y="0"/>
                </a:moveTo>
                <a:lnTo>
                  <a:pt x="2870200" y="0"/>
                </a:lnTo>
                <a:cubicBezTo>
                  <a:pt x="2933319" y="0"/>
                  <a:pt x="2984500" y="51181"/>
                  <a:pt x="2984500" y="114300"/>
                </a:cubicBezTo>
                <a:lnTo>
                  <a:pt x="2984500" y="520700"/>
                </a:lnTo>
                <a:cubicBezTo>
                  <a:pt x="2984500" y="583819"/>
                  <a:pt x="2933319" y="635000"/>
                  <a:pt x="2870200" y="635000"/>
                </a:cubicBezTo>
                <a:lnTo>
                  <a:pt x="114300" y="635000"/>
                </a:lnTo>
                <a:cubicBezTo>
                  <a:pt x="51181" y="635000"/>
                  <a:pt x="0" y="583819"/>
                  <a:pt x="0" y="520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rd-1"/>
          <p:cNvSpPr/>
          <p:nvPr/>
        </p:nvSpPr>
        <p:spPr>
          <a:xfrm>
            <a:off x="8432800" y="2476500"/>
            <a:ext cx="203200" cy="2032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ra-1"/>
          <p:cNvSpPr txBox="1"/>
          <p:nvPr/>
        </p:nvSpPr>
        <p:spPr>
          <a:xfrm>
            <a:off x="8748522" y="2378297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三圈交集</a:t>
            </a:r>
          </a:p>
        </p:txBody>
      </p:sp>
      <p:sp>
        <p:nvSpPr>
          <p:cNvPr id="55" name="rb-1"/>
          <p:cNvSpPr txBox="1"/>
          <p:nvPr/>
        </p:nvSpPr>
        <p:spPr>
          <a:xfrm>
            <a:off x="8750808" y="2617724"/>
            <a:ext cx="76047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当周发 Offer</a:t>
            </a:r>
          </a:p>
        </p:txBody>
      </p:sp>
      <p:sp>
        <p:nvSpPr>
          <p:cNvPr id="56" name="r-2"/>
          <p:cNvSpPr/>
          <p:nvPr/>
        </p:nvSpPr>
        <p:spPr>
          <a:xfrm>
            <a:off x="8255000" y="3009900"/>
            <a:ext cx="2984500" cy="635000"/>
          </a:xfrm>
          <a:custGeom>
            <a:avLst/>
            <a:gdLst/>
            <a:ahLst/>
            <a:cxnLst/>
            <a:rect l="0" t="0" r="r" b="b"/>
            <a:pathLst>
              <a:path w="2984500" h="635000">
                <a:moveTo>
                  <a:pt x="114300" y="0"/>
                </a:moveTo>
                <a:lnTo>
                  <a:pt x="2870200" y="0"/>
                </a:lnTo>
                <a:cubicBezTo>
                  <a:pt x="2933319" y="0"/>
                  <a:pt x="2984500" y="51181"/>
                  <a:pt x="2984500" y="114300"/>
                </a:cubicBezTo>
                <a:lnTo>
                  <a:pt x="2984500" y="520700"/>
                </a:lnTo>
                <a:cubicBezTo>
                  <a:pt x="2984500" y="583819"/>
                  <a:pt x="2933319" y="635000"/>
                  <a:pt x="2870200" y="635000"/>
                </a:cubicBezTo>
                <a:lnTo>
                  <a:pt x="114300" y="635000"/>
                </a:lnTo>
                <a:cubicBezTo>
                  <a:pt x="51181" y="635000"/>
                  <a:pt x="0" y="583819"/>
                  <a:pt x="0" y="520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rd-2"/>
          <p:cNvSpPr/>
          <p:nvPr/>
        </p:nvSpPr>
        <p:spPr>
          <a:xfrm>
            <a:off x="8432800" y="3225800"/>
            <a:ext cx="203200" cy="2032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ra-2"/>
          <p:cNvSpPr txBox="1"/>
          <p:nvPr/>
        </p:nvSpPr>
        <p:spPr>
          <a:xfrm>
            <a:off x="8748522" y="3127597"/>
            <a:ext cx="134632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想干合拍 · 能力不足</a:t>
            </a:r>
          </a:p>
        </p:txBody>
      </p:sp>
      <p:sp>
        <p:nvSpPr>
          <p:cNvPr id="59" name="rb-2"/>
          <p:cNvSpPr txBox="1"/>
          <p:nvPr/>
        </p:nvSpPr>
        <p:spPr>
          <a:xfrm>
            <a:off x="8750808" y="3367024"/>
            <a:ext cx="10287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培养型岗位可以考虑</a:t>
            </a:r>
          </a:p>
        </p:txBody>
      </p:sp>
      <p:sp>
        <p:nvSpPr>
          <p:cNvPr id="60" name="r-3"/>
          <p:cNvSpPr/>
          <p:nvPr/>
        </p:nvSpPr>
        <p:spPr>
          <a:xfrm>
            <a:off x="8255000" y="3759200"/>
            <a:ext cx="2984500" cy="635000"/>
          </a:xfrm>
          <a:custGeom>
            <a:avLst/>
            <a:gdLst/>
            <a:ahLst/>
            <a:cxnLst/>
            <a:rect l="0" t="0" r="r" b="b"/>
            <a:pathLst>
              <a:path w="2984500" h="635000">
                <a:moveTo>
                  <a:pt x="114300" y="0"/>
                </a:moveTo>
                <a:lnTo>
                  <a:pt x="2870200" y="0"/>
                </a:lnTo>
                <a:cubicBezTo>
                  <a:pt x="2933319" y="0"/>
                  <a:pt x="2984500" y="51181"/>
                  <a:pt x="2984500" y="114300"/>
                </a:cubicBezTo>
                <a:lnTo>
                  <a:pt x="2984500" y="520700"/>
                </a:lnTo>
                <a:cubicBezTo>
                  <a:pt x="2984500" y="583819"/>
                  <a:pt x="2933319" y="635000"/>
                  <a:pt x="2870200" y="635000"/>
                </a:cubicBezTo>
                <a:lnTo>
                  <a:pt x="114300" y="635000"/>
                </a:lnTo>
                <a:cubicBezTo>
                  <a:pt x="51181" y="635000"/>
                  <a:pt x="0" y="583819"/>
                  <a:pt x="0" y="520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rd-3"/>
          <p:cNvSpPr/>
          <p:nvPr/>
        </p:nvSpPr>
        <p:spPr>
          <a:xfrm>
            <a:off x="8432800" y="3975100"/>
            <a:ext cx="203200" cy="203200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ra-3"/>
          <p:cNvSpPr txBox="1"/>
          <p:nvPr/>
        </p:nvSpPr>
        <p:spPr>
          <a:xfrm>
            <a:off x="8748522" y="3876897"/>
            <a:ext cx="134632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能干想干 · 文化不合</a:t>
            </a:r>
          </a:p>
        </p:txBody>
      </p:sp>
      <p:sp>
        <p:nvSpPr>
          <p:cNvPr id="63" name="rb-3"/>
          <p:cNvSpPr txBox="1"/>
          <p:nvPr/>
        </p:nvSpPr>
        <p:spPr>
          <a:xfrm>
            <a:off x="8750808" y="4116324"/>
            <a:ext cx="10287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谨慎，除非是专家岗</a:t>
            </a:r>
          </a:p>
        </p:txBody>
      </p:sp>
      <p:sp>
        <p:nvSpPr>
          <p:cNvPr id="64" name="r-4"/>
          <p:cNvSpPr/>
          <p:nvPr/>
        </p:nvSpPr>
        <p:spPr>
          <a:xfrm>
            <a:off x="8255000" y="4508500"/>
            <a:ext cx="2984500" cy="635000"/>
          </a:xfrm>
          <a:custGeom>
            <a:avLst/>
            <a:gdLst/>
            <a:ahLst/>
            <a:cxnLst/>
            <a:rect l="0" t="0" r="r" b="b"/>
            <a:pathLst>
              <a:path w="2984500" h="635000">
                <a:moveTo>
                  <a:pt x="114300" y="0"/>
                </a:moveTo>
                <a:lnTo>
                  <a:pt x="2870200" y="0"/>
                </a:lnTo>
                <a:cubicBezTo>
                  <a:pt x="2933319" y="0"/>
                  <a:pt x="2984500" y="51181"/>
                  <a:pt x="2984500" y="114300"/>
                </a:cubicBezTo>
                <a:lnTo>
                  <a:pt x="2984500" y="520700"/>
                </a:lnTo>
                <a:cubicBezTo>
                  <a:pt x="2984500" y="583819"/>
                  <a:pt x="2933319" y="635000"/>
                  <a:pt x="2870200" y="635000"/>
                </a:cubicBezTo>
                <a:lnTo>
                  <a:pt x="114300" y="635000"/>
                </a:lnTo>
                <a:cubicBezTo>
                  <a:pt x="51181" y="635000"/>
                  <a:pt x="0" y="583819"/>
                  <a:pt x="0" y="520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rd-4"/>
          <p:cNvSpPr/>
          <p:nvPr/>
        </p:nvSpPr>
        <p:spPr>
          <a:xfrm>
            <a:off x="8432800" y="4724400"/>
            <a:ext cx="203200" cy="203200"/>
          </a:xfrm>
          <a:prstGeom prst="ellipse">
            <a:avLst/>
          </a:prstGeom>
          <a:solidFill>
            <a:srgbClr val="8FA6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ra-4"/>
          <p:cNvSpPr txBox="1"/>
          <p:nvPr/>
        </p:nvSpPr>
        <p:spPr>
          <a:xfrm>
            <a:off x="8748522" y="4626197"/>
            <a:ext cx="743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只占一个圈</a:t>
            </a:r>
          </a:p>
        </p:txBody>
      </p:sp>
      <p:sp>
        <p:nvSpPr>
          <p:cNvPr id="67" name="rb-4"/>
          <p:cNvSpPr txBox="1"/>
          <p:nvPr/>
        </p:nvSpPr>
        <p:spPr>
          <a:xfrm>
            <a:off x="8750808" y="4865624"/>
            <a:ext cx="71628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进人才库观察</a:t>
            </a:r>
          </a:p>
        </p:txBody>
      </p:sp>
      <p:sp>
        <p:nvSpPr>
          <p:cNvPr id="68" name="note"/>
          <p:cNvSpPr/>
          <p:nvPr/>
        </p:nvSpPr>
        <p:spPr>
          <a:xfrm>
            <a:off x="8255000" y="5270500"/>
            <a:ext cx="2984500" cy="508000"/>
          </a:xfrm>
          <a:custGeom>
            <a:avLst/>
            <a:gdLst/>
            <a:ahLst/>
            <a:cxnLst/>
            <a:rect l="0" t="0" r="r" b="b"/>
            <a:pathLst>
              <a:path w="2984500" h="508000">
                <a:moveTo>
                  <a:pt x="114300" y="0"/>
                </a:moveTo>
                <a:lnTo>
                  <a:pt x="2870200" y="0"/>
                </a:lnTo>
                <a:cubicBezTo>
                  <a:pt x="2933319" y="0"/>
                  <a:pt x="2984500" y="51181"/>
                  <a:pt x="2984500" y="114300"/>
                </a:cubicBezTo>
                <a:lnTo>
                  <a:pt x="2984500" y="393700"/>
                </a:lnTo>
                <a:cubicBezTo>
                  <a:pt x="2984500" y="456819"/>
                  <a:pt x="2933319" y="508000"/>
                  <a:pt x="2870200" y="508000"/>
                </a:cubicBezTo>
                <a:lnTo>
                  <a:pt x="114300" y="508000"/>
                </a:lnTo>
                <a:cubicBezTo>
                  <a:pt x="51181" y="508000"/>
                  <a:pt x="0" y="456819"/>
                  <a:pt x="0" y="393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note-a"/>
          <p:cNvSpPr txBox="1"/>
          <p:nvPr/>
        </p:nvSpPr>
        <p:spPr>
          <a:xfrm>
            <a:off x="8406892" y="5321364"/>
            <a:ext cx="557022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100</a:t>
            </a:r>
          </a:p>
        </p:txBody>
      </p:sp>
      <p:sp>
        <p:nvSpPr>
          <p:cNvPr id="70" name="note-b"/>
          <p:cNvSpPr txBox="1"/>
          <p:nvPr/>
        </p:nvSpPr>
        <p:spPr>
          <a:xfrm>
            <a:off x="8902065" y="5438061"/>
            <a:ext cx="17719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位面试者里，只有 8 位落在交集</a:t>
            </a:r>
          </a:p>
        </p:txBody>
      </p:sp>
      <p:cxnSp>
        <p:nvCxnSpPr>
          <p:cNvPr id="71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2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三圆交集 · 人才画像</a:t>
            </a:r>
          </a:p>
        </p:txBody>
      </p:sp>
      <p:sp>
        <p:nvSpPr>
          <p:cNvPr id="73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139188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T 型人才模型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44589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T-SHAPED TALENT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303895" y="673132"/>
            <a:ext cx="33168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横向懂六个领域能对话，纵向一门手艺做到专家——两样缺一不可</a:t>
            </a:r>
          </a:p>
        </p:txBody>
      </p:sp>
      <p:sp>
        <p:nvSpPr>
          <p:cNvPr id="10" name="bar-bg"/>
          <p:cNvSpPr/>
          <p:nvPr/>
        </p:nvSpPr>
        <p:spPr>
          <a:xfrm>
            <a:off x="2032000" y="1600200"/>
            <a:ext cx="8128000" cy="762000"/>
          </a:xfrm>
          <a:custGeom>
            <a:avLst/>
            <a:gdLst/>
            <a:ahLst/>
            <a:cxnLst/>
            <a:rect l="0" t="0" r="r" b="b"/>
            <a:pathLst>
              <a:path w="8128000" h="762000">
                <a:moveTo>
                  <a:pt x="190500" y="0"/>
                </a:moveTo>
                <a:lnTo>
                  <a:pt x="7937500" y="0"/>
                </a:lnTo>
                <a:cubicBezTo>
                  <a:pt x="8042720" y="0"/>
                  <a:pt x="8128000" y="85281"/>
                  <a:pt x="8128000" y="190500"/>
                </a:cubicBezTo>
                <a:lnTo>
                  <a:pt x="8128000" y="571500"/>
                </a:lnTo>
                <a:cubicBezTo>
                  <a:pt x="8128000" y="676720"/>
                  <a:pt x="8042720" y="762000"/>
                  <a:pt x="7937500" y="762000"/>
                </a:cubicBezTo>
                <a:lnTo>
                  <a:pt x="190500" y="762000"/>
                </a:lnTo>
                <a:cubicBezTo>
                  <a:pt x="85281" y="762000"/>
                  <a:pt x="0" y="676720"/>
                  <a:pt x="0" y="571500"/>
                </a:cubicBezTo>
                <a:lnTo>
                  <a:pt x="0" y="190500"/>
                </a:lnTo>
                <a:cubicBezTo>
                  <a:pt x="0" y="85281"/>
                  <a:pt x="85281" y="0"/>
                  <a:pt x="1905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b-1"/>
          <p:cNvSpPr/>
          <p:nvPr/>
        </p:nvSpPr>
        <p:spPr>
          <a:xfrm>
            <a:off x="2120900" y="1663700"/>
            <a:ext cx="1282700" cy="635000"/>
          </a:xfrm>
          <a:custGeom>
            <a:avLst/>
            <a:gdLst/>
            <a:ahLst/>
            <a:cxnLst/>
            <a:rect l="0" t="0" r="r" b="b"/>
            <a:pathLst>
              <a:path w="1282700" h="635000">
                <a:moveTo>
                  <a:pt x="139700" y="0"/>
                </a:moveTo>
                <a:lnTo>
                  <a:pt x="1143000" y="0"/>
                </a:lnTo>
                <a:cubicBezTo>
                  <a:pt x="1220152" y="0"/>
                  <a:pt x="1282700" y="62548"/>
                  <a:pt x="1282700" y="139700"/>
                </a:cubicBezTo>
                <a:lnTo>
                  <a:pt x="1282700" y="495300"/>
                </a:lnTo>
                <a:cubicBezTo>
                  <a:pt x="1282700" y="572452"/>
                  <a:pt x="1220152" y="635000"/>
                  <a:pt x="1143000" y="635000"/>
                </a:cubicBezTo>
                <a:lnTo>
                  <a:pt x="139700" y="635000"/>
                </a:lnTo>
                <a:cubicBezTo>
                  <a:pt x="62548" y="635000"/>
                  <a:pt x="0" y="572452"/>
                  <a:pt x="0" y="4953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5797D4"/>
              </a:gs>
              <a:gs pos="100000">
                <a:srgbClr val="3985CD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icon-grow"/>
          <p:cNvSpPr/>
          <p:nvPr/>
        </p:nvSpPr>
        <p:spPr>
          <a:xfrm>
            <a:off x="2346325" y="1951038"/>
            <a:ext cx="119062" cy="74612"/>
          </a:xfrm>
          <a:custGeom>
            <a:avLst/>
            <a:gdLst/>
            <a:ahLst/>
            <a:cxnLst/>
            <a:rect l="0" t="0" r="r" b="b"/>
            <a:pathLst>
              <a:path w="119062" h="74612">
                <a:moveTo>
                  <a:pt x="0" y="74612"/>
                </a:moveTo>
                <a:lnTo>
                  <a:pt x="39688" y="31750"/>
                </a:lnTo>
                <a:lnTo>
                  <a:pt x="68262" y="55562"/>
                </a:lnTo>
                <a:lnTo>
                  <a:pt x="115888" y="0"/>
                </a:lnTo>
                <a:moveTo>
                  <a:pt x="96838" y="0"/>
                </a:moveTo>
                <a:lnTo>
                  <a:pt x="119062" y="0"/>
                </a:lnTo>
                <a:lnTo>
                  <a:pt x="119062" y="22225"/>
                </a:lnTo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bn-1"/>
          <p:cNvSpPr txBox="1"/>
          <p:nvPr/>
        </p:nvSpPr>
        <p:spPr>
          <a:xfrm>
            <a:off x="2609850" y="18486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业务</a:t>
            </a:r>
          </a:p>
        </p:txBody>
      </p:sp>
      <p:sp>
        <p:nvSpPr>
          <p:cNvPr id="14" name="b-2"/>
          <p:cNvSpPr/>
          <p:nvPr/>
        </p:nvSpPr>
        <p:spPr>
          <a:xfrm>
            <a:off x="3454400" y="1663700"/>
            <a:ext cx="1282700" cy="635000"/>
          </a:xfrm>
          <a:custGeom>
            <a:avLst/>
            <a:gdLst/>
            <a:ahLst/>
            <a:cxnLst/>
            <a:rect l="0" t="0" r="r" b="b"/>
            <a:pathLst>
              <a:path w="1282700" h="635000">
                <a:moveTo>
                  <a:pt x="139700" y="0"/>
                </a:moveTo>
                <a:lnTo>
                  <a:pt x="1143000" y="0"/>
                </a:lnTo>
                <a:cubicBezTo>
                  <a:pt x="1220152" y="0"/>
                  <a:pt x="1282700" y="62548"/>
                  <a:pt x="1282700" y="139700"/>
                </a:cubicBezTo>
                <a:lnTo>
                  <a:pt x="1282700" y="495300"/>
                </a:lnTo>
                <a:cubicBezTo>
                  <a:pt x="1282700" y="572452"/>
                  <a:pt x="1220152" y="635000"/>
                  <a:pt x="1143000" y="635000"/>
                </a:cubicBezTo>
                <a:lnTo>
                  <a:pt x="139700" y="635000"/>
                </a:lnTo>
                <a:cubicBezTo>
                  <a:pt x="62548" y="635000"/>
                  <a:pt x="0" y="572452"/>
                  <a:pt x="0" y="4953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5797D4"/>
              </a:gs>
              <a:gs pos="100000">
                <a:srgbClr val="3985CD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icon-layers"/>
          <p:cNvSpPr/>
          <p:nvPr/>
        </p:nvSpPr>
        <p:spPr>
          <a:xfrm>
            <a:off x="3683000" y="1916112"/>
            <a:ext cx="127000" cy="131762"/>
          </a:xfrm>
          <a:custGeom>
            <a:avLst/>
            <a:gdLst/>
            <a:ahLst/>
            <a:cxnLst/>
            <a:rect l="0" t="0" r="r" b="b"/>
            <a:pathLst>
              <a:path w="127000" h="131762">
                <a:moveTo>
                  <a:pt x="63500" y="0"/>
                </a:moveTo>
                <a:lnTo>
                  <a:pt x="127000" y="33338"/>
                </a:lnTo>
                <a:lnTo>
                  <a:pt x="63500" y="66675"/>
                </a:lnTo>
                <a:lnTo>
                  <a:pt x="0" y="33338"/>
                </a:lnTo>
                <a:close/>
                <a:moveTo>
                  <a:pt x="0" y="66675"/>
                </a:moveTo>
                <a:lnTo>
                  <a:pt x="63500" y="100012"/>
                </a:lnTo>
                <a:lnTo>
                  <a:pt x="127000" y="66675"/>
                </a:lnTo>
                <a:moveTo>
                  <a:pt x="0" y="98425"/>
                </a:moveTo>
                <a:lnTo>
                  <a:pt x="63500" y="131762"/>
                </a:lnTo>
                <a:lnTo>
                  <a:pt x="127000" y="98425"/>
                </a:lnTo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bn-2"/>
          <p:cNvSpPr txBox="1"/>
          <p:nvPr/>
        </p:nvSpPr>
        <p:spPr>
          <a:xfrm>
            <a:off x="3943350" y="18486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产品</a:t>
            </a:r>
          </a:p>
        </p:txBody>
      </p:sp>
      <p:sp>
        <p:nvSpPr>
          <p:cNvPr id="17" name="b-3"/>
          <p:cNvSpPr/>
          <p:nvPr/>
        </p:nvSpPr>
        <p:spPr>
          <a:xfrm>
            <a:off x="4787900" y="1663700"/>
            <a:ext cx="1282700" cy="635000"/>
          </a:xfrm>
          <a:custGeom>
            <a:avLst/>
            <a:gdLst/>
            <a:ahLst/>
            <a:cxnLst/>
            <a:rect l="0" t="0" r="r" b="b"/>
            <a:pathLst>
              <a:path w="1282700" h="635000">
                <a:moveTo>
                  <a:pt x="139700" y="0"/>
                </a:moveTo>
                <a:lnTo>
                  <a:pt x="1143000" y="0"/>
                </a:lnTo>
                <a:cubicBezTo>
                  <a:pt x="1220152" y="0"/>
                  <a:pt x="1282700" y="62548"/>
                  <a:pt x="1282700" y="139700"/>
                </a:cubicBezTo>
                <a:lnTo>
                  <a:pt x="1282700" y="495300"/>
                </a:lnTo>
                <a:cubicBezTo>
                  <a:pt x="1282700" y="572452"/>
                  <a:pt x="1220152" y="635000"/>
                  <a:pt x="1143000" y="635000"/>
                </a:cubicBezTo>
                <a:lnTo>
                  <a:pt x="139700" y="635000"/>
                </a:lnTo>
                <a:cubicBezTo>
                  <a:pt x="62548" y="635000"/>
                  <a:pt x="0" y="572452"/>
                  <a:pt x="0" y="4953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3667AB"/>
              </a:gs>
              <a:gs pos="100000">
                <a:srgbClr val="134C9C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icon-code"/>
          <p:cNvSpPr/>
          <p:nvPr/>
        </p:nvSpPr>
        <p:spPr>
          <a:xfrm>
            <a:off x="5021262" y="1949450"/>
            <a:ext cx="117475" cy="63500"/>
          </a:xfrm>
          <a:custGeom>
            <a:avLst/>
            <a:gdLst/>
            <a:ahLst/>
            <a:cxnLst/>
            <a:rect l="0" t="0" r="r" b="b"/>
            <a:pathLst>
              <a:path w="117475" h="63500">
                <a:moveTo>
                  <a:pt x="34925" y="0"/>
                </a:moveTo>
                <a:lnTo>
                  <a:pt x="0" y="31750"/>
                </a:lnTo>
                <a:lnTo>
                  <a:pt x="34925" y="63500"/>
                </a:lnTo>
                <a:moveTo>
                  <a:pt x="82550" y="0"/>
                </a:moveTo>
                <a:lnTo>
                  <a:pt x="117475" y="31750"/>
                </a:lnTo>
                <a:lnTo>
                  <a:pt x="82550" y="63500"/>
                </a:lnTo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bn-3"/>
          <p:cNvSpPr txBox="1"/>
          <p:nvPr/>
        </p:nvSpPr>
        <p:spPr>
          <a:xfrm>
            <a:off x="5276850" y="18486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技术</a:t>
            </a:r>
          </a:p>
        </p:txBody>
      </p:sp>
      <p:sp>
        <p:nvSpPr>
          <p:cNvPr id="20" name="b-4"/>
          <p:cNvSpPr/>
          <p:nvPr/>
        </p:nvSpPr>
        <p:spPr>
          <a:xfrm>
            <a:off x="6121400" y="1663700"/>
            <a:ext cx="1282700" cy="635000"/>
          </a:xfrm>
          <a:custGeom>
            <a:avLst/>
            <a:gdLst/>
            <a:ahLst/>
            <a:cxnLst/>
            <a:rect l="0" t="0" r="r" b="b"/>
            <a:pathLst>
              <a:path w="1282700" h="635000">
                <a:moveTo>
                  <a:pt x="139700" y="0"/>
                </a:moveTo>
                <a:lnTo>
                  <a:pt x="1143000" y="0"/>
                </a:lnTo>
                <a:cubicBezTo>
                  <a:pt x="1220153" y="0"/>
                  <a:pt x="1282700" y="62548"/>
                  <a:pt x="1282700" y="139700"/>
                </a:cubicBezTo>
                <a:lnTo>
                  <a:pt x="1282700" y="495300"/>
                </a:lnTo>
                <a:cubicBezTo>
                  <a:pt x="1282700" y="572452"/>
                  <a:pt x="1220153" y="635000"/>
                  <a:pt x="1143000" y="635000"/>
                </a:cubicBezTo>
                <a:lnTo>
                  <a:pt x="139700" y="635000"/>
                </a:lnTo>
                <a:cubicBezTo>
                  <a:pt x="62548" y="635000"/>
                  <a:pt x="0" y="572452"/>
                  <a:pt x="0" y="4953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5797D4"/>
              </a:gs>
              <a:gs pos="100000">
                <a:srgbClr val="3985CD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icon-coin"/>
          <p:cNvSpPr/>
          <p:nvPr/>
        </p:nvSpPr>
        <p:spPr>
          <a:xfrm>
            <a:off x="6362700" y="1936750"/>
            <a:ext cx="101600" cy="88900"/>
          </a:xfrm>
          <a:custGeom>
            <a:avLst/>
            <a:gdLst/>
            <a:ahLst/>
            <a:cxnLst/>
            <a:rect l="0" t="0" r="r" b="b"/>
            <a:pathLst>
              <a:path w="101600" h="88900">
                <a:moveTo>
                  <a:pt x="50800" y="0"/>
                </a:moveTo>
                <a:cubicBezTo>
                  <a:pt x="22225" y="0"/>
                  <a:pt x="0" y="7938"/>
                  <a:pt x="0" y="19050"/>
                </a:cubicBezTo>
                <a:cubicBezTo>
                  <a:pt x="0" y="30162"/>
                  <a:pt x="22225" y="38100"/>
                  <a:pt x="50800" y="38100"/>
                </a:cubicBezTo>
                <a:cubicBezTo>
                  <a:pt x="79375" y="38100"/>
                  <a:pt x="101600" y="30162"/>
                  <a:pt x="101600" y="19050"/>
                </a:cubicBezTo>
                <a:cubicBezTo>
                  <a:pt x="101600" y="7938"/>
                  <a:pt x="79375" y="0"/>
                  <a:pt x="50800" y="0"/>
                </a:cubicBezTo>
                <a:close/>
                <a:moveTo>
                  <a:pt x="0" y="19050"/>
                </a:moveTo>
                <a:lnTo>
                  <a:pt x="0" y="69850"/>
                </a:lnTo>
                <a:cubicBezTo>
                  <a:pt x="0" y="80962"/>
                  <a:pt x="22225" y="88900"/>
                  <a:pt x="50800" y="88900"/>
                </a:cubicBezTo>
                <a:cubicBezTo>
                  <a:pt x="79375" y="88900"/>
                  <a:pt x="101600" y="80962"/>
                  <a:pt x="101600" y="69850"/>
                </a:cubicBezTo>
                <a:lnTo>
                  <a:pt x="101600" y="19050"/>
                </a:lnTo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bn-4"/>
          <p:cNvSpPr txBox="1"/>
          <p:nvPr/>
        </p:nvSpPr>
        <p:spPr>
          <a:xfrm>
            <a:off x="6610350" y="18486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财务</a:t>
            </a:r>
          </a:p>
        </p:txBody>
      </p:sp>
      <p:sp>
        <p:nvSpPr>
          <p:cNvPr id="23" name="b-5"/>
          <p:cNvSpPr/>
          <p:nvPr/>
        </p:nvSpPr>
        <p:spPr>
          <a:xfrm>
            <a:off x="7454900" y="1663700"/>
            <a:ext cx="1282700" cy="635000"/>
          </a:xfrm>
          <a:custGeom>
            <a:avLst/>
            <a:gdLst/>
            <a:ahLst/>
            <a:cxnLst/>
            <a:rect l="0" t="0" r="r" b="b"/>
            <a:pathLst>
              <a:path w="1282700" h="635000">
                <a:moveTo>
                  <a:pt x="139700" y="0"/>
                </a:moveTo>
                <a:lnTo>
                  <a:pt x="1143000" y="0"/>
                </a:lnTo>
                <a:cubicBezTo>
                  <a:pt x="1220153" y="0"/>
                  <a:pt x="1282700" y="62548"/>
                  <a:pt x="1282700" y="139700"/>
                </a:cubicBezTo>
                <a:lnTo>
                  <a:pt x="1282700" y="495300"/>
                </a:lnTo>
                <a:cubicBezTo>
                  <a:pt x="1282700" y="572452"/>
                  <a:pt x="1220153" y="635000"/>
                  <a:pt x="1143000" y="635000"/>
                </a:cubicBezTo>
                <a:lnTo>
                  <a:pt x="139700" y="635000"/>
                </a:lnTo>
                <a:cubicBezTo>
                  <a:pt x="62547" y="635000"/>
                  <a:pt x="0" y="572452"/>
                  <a:pt x="0" y="4953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5797D4"/>
              </a:gs>
              <a:gs pos="100000">
                <a:srgbClr val="3985CD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icon-people"/>
          <p:cNvSpPr/>
          <p:nvPr/>
        </p:nvSpPr>
        <p:spPr>
          <a:xfrm>
            <a:off x="7680325" y="2001838"/>
            <a:ext cx="134938" cy="38100"/>
          </a:xfrm>
          <a:custGeom>
            <a:avLst/>
            <a:gdLst/>
            <a:ahLst/>
            <a:cxnLst/>
            <a:rect l="0" t="0" r="r" b="b"/>
            <a:pathLst>
              <a:path w="134938" h="38100">
                <a:moveTo>
                  <a:pt x="0" y="38100"/>
                </a:moveTo>
                <a:cubicBezTo>
                  <a:pt x="0" y="14288"/>
                  <a:pt x="19812" y="0"/>
                  <a:pt x="42862" y="0"/>
                </a:cubicBezTo>
                <a:cubicBezTo>
                  <a:pt x="65913" y="0"/>
                  <a:pt x="85725" y="14288"/>
                  <a:pt x="85725" y="38100"/>
                </a:cubicBezTo>
                <a:moveTo>
                  <a:pt x="101600" y="3175"/>
                </a:moveTo>
                <a:cubicBezTo>
                  <a:pt x="122238" y="5525"/>
                  <a:pt x="134938" y="19875"/>
                  <a:pt x="134938" y="38100"/>
                </a:cubicBezTo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icon-people"/>
          <p:cNvSpPr/>
          <p:nvPr/>
        </p:nvSpPr>
        <p:spPr>
          <a:xfrm>
            <a:off x="7697788" y="1933575"/>
            <a:ext cx="50800" cy="50800"/>
          </a:xfrm>
          <a:prstGeom prst="ellipse">
            <a:avLst/>
          </a:pr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icon-people"/>
          <p:cNvSpPr/>
          <p:nvPr/>
        </p:nvSpPr>
        <p:spPr>
          <a:xfrm>
            <a:off x="7766050" y="1933575"/>
            <a:ext cx="41275" cy="41275"/>
          </a:xfrm>
          <a:prstGeom prst="ellipse">
            <a:avLst/>
          </a:pr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bn-5"/>
          <p:cNvSpPr txBox="1"/>
          <p:nvPr/>
        </p:nvSpPr>
        <p:spPr>
          <a:xfrm>
            <a:off x="7943850" y="18486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客户</a:t>
            </a:r>
          </a:p>
        </p:txBody>
      </p:sp>
      <p:sp>
        <p:nvSpPr>
          <p:cNvPr id="28" name="b-6"/>
          <p:cNvSpPr/>
          <p:nvPr/>
        </p:nvSpPr>
        <p:spPr>
          <a:xfrm>
            <a:off x="8788400" y="1663700"/>
            <a:ext cx="1282700" cy="635000"/>
          </a:xfrm>
          <a:custGeom>
            <a:avLst/>
            <a:gdLst/>
            <a:ahLst/>
            <a:cxnLst/>
            <a:rect l="0" t="0" r="r" b="b"/>
            <a:pathLst>
              <a:path w="1282700" h="635000">
                <a:moveTo>
                  <a:pt x="139700" y="0"/>
                </a:moveTo>
                <a:lnTo>
                  <a:pt x="1143000" y="0"/>
                </a:lnTo>
                <a:cubicBezTo>
                  <a:pt x="1220153" y="0"/>
                  <a:pt x="1282700" y="62548"/>
                  <a:pt x="1282700" y="139700"/>
                </a:cubicBezTo>
                <a:lnTo>
                  <a:pt x="1282700" y="495300"/>
                </a:lnTo>
                <a:cubicBezTo>
                  <a:pt x="1282700" y="572452"/>
                  <a:pt x="1220153" y="635000"/>
                  <a:pt x="1143000" y="635000"/>
                </a:cubicBezTo>
                <a:lnTo>
                  <a:pt x="139700" y="635000"/>
                </a:lnTo>
                <a:cubicBezTo>
                  <a:pt x="62547" y="635000"/>
                  <a:pt x="0" y="572452"/>
                  <a:pt x="0" y="4953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5797D4"/>
              </a:gs>
              <a:gs pos="100000">
                <a:srgbClr val="3985CD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icon-share"/>
          <p:cNvSpPr/>
          <p:nvPr/>
        </p:nvSpPr>
        <p:spPr>
          <a:xfrm>
            <a:off x="9050338" y="1942338"/>
            <a:ext cx="56324" cy="77724"/>
          </a:xfrm>
          <a:custGeom>
            <a:avLst/>
            <a:gdLst/>
            <a:ahLst/>
            <a:cxnLst/>
            <a:rect l="0" t="0" r="r" b="b"/>
            <a:pathLst>
              <a:path w="56324" h="77724">
                <a:moveTo>
                  <a:pt x="0" y="30925"/>
                </a:moveTo>
                <a:lnTo>
                  <a:pt x="56324" y="0"/>
                </a:lnTo>
                <a:moveTo>
                  <a:pt x="0" y="46800"/>
                </a:moveTo>
                <a:lnTo>
                  <a:pt x="56324" y="77724"/>
                </a:lnTo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icon-share"/>
          <p:cNvSpPr/>
          <p:nvPr/>
        </p:nvSpPr>
        <p:spPr>
          <a:xfrm>
            <a:off x="9016206" y="1962944"/>
            <a:ext cx="36512" cy="36512"/>
          </a:xfrm>
          <a:prstGeom prst="ellipse">
            <a:avLst/>
          </a:pr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icon-share"/>
          <p:cNvSpPr/>
          <p:nvPr/>
        </p:nvSpPr>
        <p:spPr>
          <a:xfrm>
            <a:off x="9105106" y="1916906"/>
            <a:ext cx="36512" cy="36512"/>
          </a:xfrm>
          <a:prstGeom prst="ellipse">
            <a:avLst/>
          </a:pr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icon-share"/>
          <p:cNvSpPr/>
          <p:nvPr/>
        </p:nvSpPr>
        <p:spPr>
          <a:xfrm>
            <a:off x="9105106" y="2008981"/>
            <a:ext cx="36512" cy="36512"/>
          </a:xfrm>
          <a:prstGeom prst="ellipse">
            <a:avLst/>
          </a:pr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bn-6"/>
          <p:cNvSpPr txBox="1"/>
          <p:nvPr/>
        </p:nvSpPr>
        <p:spPr>
          <a:xfrm>
            <a:off x="9277350" y="18486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协作</a:t>
            </a:r>
          </a:p>
        </p:txBody>
      </p:sp>
      <p:sp>
        <p:nvSpPr>
          <p:cNvPr id="34" name="bl"/>
          <p:cNvSpPr txBox="1"/>
          <p:nvPr/>
        </p:nvSpPr>
        <p:spPr>
          <a:xfrm>
            <a:off x="1425575" y="17470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广度</a:t>
            </a:r>
          </a:p>
        </p:txBody>
      </p:sp>
      <p:sp>
        <p:nvSpPr>
          <p:cNvPr id="35" name="bl2"/>
          <p:cNvSpPr txBox="1"/>
          <p:nvPr/>
        </p:nvSpPr>
        <p:spPr>
          <a:xfrm>
            <a:off x="1544955" y="2015966"/>
            <a:ext cx="3714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能对话</a:t>
            </a:r>
          </a:p>
        </p:txBody>
      </p:sp>
      <p:sp>
        <p:nvSpPr>
          <p:cNvPr id="36" name="br"/>
          <p:cNvSpPr txBox="1"/>
          <p:nvPr/>
        </p:nvSpPr>
        <p:spPr>
          <a:xfrm>
            <a:off x="10267950" y="17470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6 个</a:t>
            </a:r>
          </a:p>
        </p:txBody>
      </p:sp>
      <p:sp>
        <p:nvSpPr>
          <p:cNvPr id="37" name="br2"/>
          <p:cNvSpPr txBox="1"/>
          <p:nvPr/>
        </p:nvSpPr>
        <p:spPr>
          <a:xfrm>
            <a:off x="10275570" y="2015966"/>
            <a:ext cx="276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领域</a:t>
            </a:r>
          </a:p>
        </p:txBody>
      </p:sp>
      <p:sp>
        <p:nvSpPr>
          <p:cNvPr id="38" name="s-1"/>
          <p:cNvSpPr/>
          <p:nvPr/>
        </p:nvSpPr>
        <p:spPr>
          <a:xfrm>
            <a:off x="5397500" y="2451100"/>
            <a:ext cx="1397000" cy="660400"/>
          </a:xfrm>
          <a:custGeom>
            <a:avLst/>
            <a:gdLst/>
            <a:ahLst/>
            <a:cxnLst/>
            <a:rect l="0" t="0" r="r" b="b"/>
            <a:pathLst>
              <a:path w="1397000" h="660400">
                <a:moveTo>
                  <a:pt x="114300" y="0"/>
                </a:moveTo>
                <a:lnTo>
                  <a:pt x="1282700" y="0"/>
                </a:lnTo>
                <a:cubicBezTo>
                  <a:pt x="1345819" y="0"/>
                  <a:pt x="1397000" y="51181"/>
                  <a:pt x="1397000" y="114300"/>
                </a:cubicBezTo>
                <a:lnTo>
                  <a:pt x="1397000" y="546100"/>
                </a:lnTo>
                <a:cubicBezTo>
                  <a:pt x="1397000" y="609219"/>
                  <a:pt x="1345819" y="660400"/>
                  <a:pt x="1282700" y="660400"/>
                </a:cubicBezTo>
                <a:lnTo>
                  <a:pt x="114300" y="660400"/>
                </a:lnTo>
                <a:cubicBezTo>
                  <a:pt x="51181" y="660400"/>
                  <a:pt x="0" y="609219"/>
                  <a:pt x="0" y="5461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589FDB"/>
              </a:gs>
              <a:gs pos="100000">
                <a:srgbClr val="4694D7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sl-1"/>
          <p:cNvSpPr txBox="1"/>
          <p:nvPr/>
        </p:nvSpPr>
        <p:spPr>
          <a:xfrm>
            <a:off x="5903595" y="2533332"/>
            <a:ext cx="38481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L1</a:t>
            </a:r>
          </a:p>
        </p:txBody>
      </p:sp>
      <p:sp>
        <p:nvSpPr>
          <p:cNvPr id="40" name="sn-1"/>
          <p:cNvSpPr txBox="1"/>
          <p:nvPr/>
        </p:nvSpPr>
        <p:spPr>
          <a:xfrm>
            <a:off x="5904865" y="2843340"/>
            <a:ext cx="3822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入门</a:t>
            </a:r>
          </a:p>
        </p:txBody>
      </p:sp>
      <p:cxnSp>
        <p:nvCxnSpPr>
          <p:cNvPr id="41" name="sd-1"/>
          <p:cNvCxnSpPr/>
          <p:nvPr/>
        </p:nvCxnSpPr>
        <p:spPr>
          <a:xfrm>
            <a:off x="6858000" y="2781300"/>
            <a:ext cx="571500" cy="0"/>
          </a:xfrm>
          <a:prstGeom prst="line">
            <a:avLst/>
          </a:prstGeom>
          <a:ln w="12700" cap="rnd">
            <a:solidFill>
              <a:srgbClr val="4694D7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sdo-1"/>
          <p:cNvSpPr/>
          <p:nvPr/>
        </p:nvSpPr>
        <p:spPr>
          <a:xfrm>
            <a:off x="7429500" y="2743200"/>
            <a:ext cx="76200" cy="76200"/>
          </a:xfrm>
          <a:prstGeom prst="ellipse">
            <a:avLst/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sc-1"/>
          <p:cNvSpPr/>
          <p:nvPr/>
        </p:nvSpPr>
        <p:spPr>
          <a:xfrm>
            <a:off x="7620000" y="2489200"/>
            <a:ext cx="3619500" cy="584200"/>
          </a:xfrm>
          <a:custGeom>
            <a:avLst/>
            <a:gdLst/>
            <a:ahLst/>
            <a:cxnLst/>
            <a:rect l="0" t="0" r="r" b="b"/>
            <a:pathLst>
              <a:path w="3619500" h="584200">
                <a:moveTo>
                  <a:pt x="114300" y="0"/>
                </a:moveTo>
                <a:lnTo>
                  <a:pt x="3505200" y="0"/>
                </a:lnTo>
                <a:cubicBezTo>
                  <a:pt x="3568319" y="0"/>
                  <a:pt x="3619500" y="51181"/>
                  <a:pt x="3619500" y="114300"/>
                </a:cubicBezTo>
                <a:lnTo>
                  <a:pt x="3619500" y="469900"/>
                </a:lnTo>
                <a:cubicBezTo>
                  <a:pt x="3619500" y="533019"/>
                  <a:pt x="3568319" y="584200"/>
                  <a:pt x="3505200" y="584200"/>
                </a:cubicBezTo>
                <a:lnTo>
                  <a:pt x="114300" y="584200"/>
                </a:lnTo>
                <a:cubicBezTo>
                  <a:pt x="51181" y="584200"/>
                  <a:pt x="0" y="533019"/>
                  <a:pt x="0" y="469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sct-1"/>
          <p:cNvSpPr txBox="1"/>
          <p:nvPr/>
        </p:nvSpPr>
        <p:spPr>
          <a:xfrm>
            <a:off x="7783322" y="2606897"/>
            <a:ext cx="73215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L1 · 入门</a:t>
            </a:r>
          </a:p>
        </p:txBody>
      </p:sp>
      <p:sp>
        <p:nvSpPr>
          <p:cNvPr id="45" name="scd-1"/>
          <p:cNvSpPr txBox="1"/>
          <p:nvPr/>
        </p:nvSpPr>
        <p:spPr>
          <a:xfrm>
            <a:off x="7784846" y="2825782"/>
            <a:ext cx="86614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按指引完成任务</a:t>
            </a:r>
          </a:p>
        </p:txBody>
      </p:sp>
      <p:sp>
        <p:nvSpPr>
          <p:cNvPr id="46" name="s-2"/>
          <p:cNvSpPr/>
          <p:nvPr/>
        </p:nvSpPr>
        <p:spPr>
          <a:xfrm>
            <a:off x="5397500" y="3162300"/>
            <a:ext cx="1397000" cy="660400"/>
          </a:xfrm>
          <a:custGeom>
            <a:avLst/>
            <a:gdLst/>
            <a:ahLst/>
            <a:cxnLst/>
            <a:rect l="0" t="0" r="r" b="b"/>
            <a:pathLst>
              <a:path w="1397000" h="660400">
                <a:moveTo>
                  <a:pt x="114300" y="0"/>
                </a:moveTo>
                <a:lnTo>
                  <a:pt x="1282700" y="0"/>
                </a:lnTo>
                <a:cubicBezTo>
                  <a:pt x="1345819" y="0"/>
                  <a:pt x="1397000" y="51181"/>
                  <a:pt x="1397000" y="114300"/>
                </a:cubicBezTo>
                <a:lnTo>
                  <a:pt x="1397000" y="546100"/>
                </a:lnTo>
                <a:cubicBezTo>
                  <a:pt x="1397000" y="609219"/>
                  <a:pt x="1345819" y="660400"/>
                  <a:pt x="1282700" y="660400"/>
                </a:cubicBezTo>
                <a:lnTo>
                  <a:pt x="114300" y="660400"/>
                </a:lnTo>
                <a:cubicBezTo>
                  <a:pt x="51181" y="660400"/>
                  <a:pt x="0" y="609219"/>
                  <a:pt x="0" y="5461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4385C8"/>
              </a:gs>
              <a:gs pos="100000">
                <a:srgbClr val="2E77C2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sl-2"/>
          <p:cNvSpPr txBox="1"/>
          <p:nvPr/>
        </p:nvSpPr>
        <p:spPr>
          <a:xfrm>
            <a:off x="5903595" y="3244533"/>
            <a:ext cx="38481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L2</a:t>
            </a:r>
          </a:p>
        </p:txBody>
      </p:sp>
      <p:sp>
        <p:nvSpPr>
          <p:cNvPr id="48" name="sn-2"/>
          <p:cNvSpPr txBox="1"/>
          <p:nvPr/>
        </p:nvSpPr>
        <p:spPr>
          <a:xfrm>
            <a:off x="5904865" y="3554540"/>
            <a:ext cx="3822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熟练</a:t>
            </a:r>
          </a:p>
        </p:txBody>
      </p:sp>
      <p:cxnSp>
        <p:nvCxnSpPr>
          <p:cNvPr id="49" name="sd-2"/>
          <p:cNvCxnSpPr/>
          <p:nvPr/>
        </p:nvCxnSpPr>
        <p:spPr>
          <a:xfrm>
            <a:off x="6858000" y="3492500"/>
            <a:ext cx="571500" cy="0"/>
          </a:xfrm>
          <a:prstGeom prst="line">
            <a:avLst/>
          </a:prstGeom>
          <a:ln w="12700" cap="rnd">
            <a:solidFill>
              <a:srgbClr val="2E77C2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" name="sdo-2"/>
          <p:cNvSpPr/>
          <p:nvPr/>
        </p:nvSpPr>
        <p:spPr>
          <a:xfrm>
            <a:off x="7429500" y="3454400"/>
            <a:ext cx="76200" cy="762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sc-2"/>
          <p:cNvSpPr/>
          <p:nvPr/>
        </p:nvSpPr>
        <p:spPr>
          <a:xfrm>
            <a:off x="7620000" y="3200400"/>
            <a:ext cx="3619500" cy="584200"/>
          </a:xfrm>
          <a:custGeom>
            <a:avLst/>
            <a:gdLst/>
            <a:ahLst/>
            <a:cxnLst/>
            <a:rect l="0" t="0" r="r" b="b"/>
            <a:pathLst>
              <a:path w="3619500" h="584200">
                <a:moveTo>
                  <a:pt x="114300" y="0"/>
                </a:moveTo>
                <a:lnTo>
                  <a:pt x="3505200" y="0"/>
                </a:lnTo>
                <a:cubicBezTo>
                  <a:pt x="3568319" y="0"/>
                  <a:pt x="3619500" y="51181"/>
                  <a:pt x="3619500" y="114300"/>
                </a:cubicBezTo>
                <a:lnTo>
                  <a:pt x="3619500" y="469900"/>
                </a:lnTo>
                <a:cubicBezTo>
                  <a:pt x="3619500" y="533019"/>
                  <a:pt x="3568319" y="584200"/>
                  <a:pt x="3505200" y="584200"/>
                </a:cubicBezTo>
                <a:lnTo>
                  <a:pt x="114300" y="584200"/>
                </a:lnTo>
                <a:cubicBezTo>
                  <a:pt x="51181" y="584200"/>
                  <a:pt x="0" y="533019"/>
                  <a:pt x="0" y="469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sct-2"/>
          <p:cNvSpPr txBox="1"/>
          <p:nvPr/>
        </p:nvSpPr>
        <p:spPr>
          <a:xfrm>
            <a:off x="7783322" y="3318097"/>
            <a:ext cx="73215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L2 · 熟练</a:t>
            </a:r>
          </a:p>
        </p:txBody>
      </p:sp>
      <p:sp>
        <p:nvSpPr>
          <p:cNvPr id="53" name="scd-2"/>
          <p:cNvSpPr txBox="1"/>
          <p:nvPr/>
        </p:nvSpPr>
        <p:spPr>
          <a:xfrm>
            <a:off x="7784846" y="3536982"/>
            <a:ext cx="97599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独立交付一个模块</a:t>
            </a:r>
          </a:p>
        </p:txBody>
      </p:sp>
      <p:sp>
        <p:nvSpPr>
          <p:cNvPr id="54" name="s-3"/>
          <p:cNvSpPr/>
          <p:nvPr/>
        </p:nvSpPr>
        <p:spPr>
          <a:xfrm>
            <a:off x="5397500" y="3873500"/>
            <a:ext cx="1397000" cy="660400"/>
          </a:xfrm>
          <a:custGeom>
            <a:avLst/>
            <a:gdLst/>
            <a:ahLst/>
            <a:cxnLst/>
            <a:rect l="0" t="0" r="r" b="b"/>
            <a:pathLst>
              <a:path w="1397000" h="660400">
                <a:moveTo>
                  <a:pt x="114300" y="0"/>
                </a:moveTo>
                <a:lnTo>
                  <a:pt x="1282700" y="0"/>
                </a:lnTo>
                <a:cubicBezTo>
                  <a:pt x="1345819" y="0"/>
                  <a:pt x="1397000" y="51181"/>
                  <a:pt x="1397000" y="114300"/>
                </a:cubicBezTo>
                <a:lnTo>
                  <a:pt x="1397000" y="546100"/>
                </a:lnTo>
                <a:cubicBezTo>
                  <a:pt x="1397000" y="609219"/>
                  <a:pt x="1345819" y="660400"/>
                  <a:pt x="1282700" y="660400"/>
                </a:cubicBezTo>
                <a:lnTo>
                  <a:pt x="114300" y="660400"/>
                </a:lnTo>
                <a:cubicBezTo>
                  <a:pt x="51181" y="660400"/>
                  <a:pt x="0" y="609219"/>
                  <a:pt x="0" y="5461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326AB1"/>
              </a:gs>
              <a:gs pos="100000">
                <a:srgbClr val="1B5AA8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sl-3"/>
          <p:cNvSpPr txBox="1"/>
          <p:nvPr/>
        </p:nvSpPr>
        <p:spPr>
          <a:xfrm>
            <a:off x="5903595" y="3955733"/>
            <a:ext cx="38481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L3</a:t>
            </a:r>
          </a:p>
        </p:txBody>
      </p:sp>
      <p:sp>
        <p:nvSpPr>
          <p:cNvPr id="56" name="sn-3"/>
          <p:cNvSpPr txBox="1"/>
          <p:nvPr/>
        </p:nvSpPr>
        <p:spPr>
          <a:xfrm>
            <a:off x="5904865" y="4265740"/>
            <a:ext cx="3822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精通</a:t>
            </a:r>
          </a:p>
        </p:txBody>
      </p:sp>
      <p:cxnSp>
        <p:nvCxnSpPr>
          <p:cNvPr id="57" name="sd-3"/>
          <p:cNvCxnSpPr/>
          <p:nvPr/>
        </p:nvCxnSpPr>
        <p:spPr>
          <a:xfrm>
            <a:off x="6858000" y="4203700"/>
            <a:ext cx="571500" cy="0"/>
          </a:xfrm>
          <a:prstGeom prst="line">
            <a:avLst/>
          </a:prstGeom>
          <a:ln w="12700" cap="rnd">
            <a:solidFill>
              <a:srgbClr val="1B5AA8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sdo-3"/>
          <p:cNvSpPr/>
          <p:nvPr/>
        </p:nvSpPr>
        <p:spPr>
          <a:xfrm>
            <a:off x="7429500" y="4165600"/>
            <a:ext cx="76200" cy="7620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sc-3"/>
          <p:cNvSpPr/>
          <p:nvPr/>
        </p:nvSpPr>
        <p:spPr>
          <a:xfrm>
            <a:off x="7620000" y="3911600"/>
            <a:ext cx="3619500" cy="584200"/>
          </a:xfrm>
          <a:custGeom>
            <a:avLst/>
            <a:gdLst/>
            <a:ahLst/>
            <a:cxnLst/>
            <a:rect l="0" t="0" r="r" b="b"/>
            <a:pathLst>
              <a:path w="3619500" h="584200">
                <a:moveTo>
                  <a:pt x="114300" y="0"/>
                </a:moveTo>
                <a:lnTo>
                  <a:pt x="3505200" y="0"/>
                </a:lnTo>
                <a:cubicBezTo>
                  <a:pt x="3568319" y="0"/>
                  <a:pt x="3619500" y="51181"/>
                  <a:pt x="3619500" y="114300"/>
                </a:cubicBezTo>
                <a:lnTo>
                  <a:pt x="3619500" y="469900"/>
                </a:lnTo>
                <a:cubicBezTo>
                  <a:pt x="3619500" y="533019"/>
                  <a:pt x="3568319" y="584200"/>
                  <a:pt x="3505200" y="584200"/>
                </a:cubicBezTo>
                <a:lnTo>
                  <a:pt x="114300" y="584200"/>
                </a:lnTo>
                <a:cubicBezTo>
                  <a:pt x="51181" y="584200"/>
                  <a:pt x="0" y="533019"/>
                  <a:pt x="0" y="469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sct-3"/>
          <p:cNvSpPr txBox="1"/>
          <p:nvPr/>
        </p:nvSpPr>
        <p:spPr>
          <a:xfrm>
            <a:off x="7783322" y="4029297"/>
            <a:ext cx="73215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L3 · 精通</a:t>
            </a:r>
          </a:p>
        </p:txBody>
      </p:sp>
      <p:sp>
        <p:nvSpPr>
          <p:cNvPr id="61" name="scd-3"/>
          <p:cNvSpPr txBox="1"/>
          <p:nvPr/>
        </p:nvSpPr>
        <p:spPr>
          <a:xfrm>
            <a:off x="7784846" y="4248182"/>
            <a:ext cx="11957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解决复杂问题、带新人</a:t>
            </a:r>
          </a:p>
        </p:txBody>
      </p:sp>
      <p:sp>
        <p:nvSpPr>
          <p:cNvPr id="62" name="s-4"/>
          <p:cNvSpPr/>
          <p:nvPr/>
        </p:nvSpPr>
        <p:spPr>
          <a:xfrm>
            <a:off x="5397500" y="4584700"/>
            <a:ext cx="1397000" cy="660400"/>
          </a:xfrm>
          <a:custGeom>
            <a:avLst/>
            <a:gdLst/>
            <a:ahLst/>
            <a:cxnLst/>
            <a:rect l="0" t="0" r="r" b="b"/>
            <a:pathLst>
              <a:path w="1397000" h="660400">
                <a:moveTo>
                  <a:pt x="190500" y="0"/>
                </a:moveTo>
                <a:lnTo>
                  <a:pt x="1206500" y="0"/>
                </a:lnTo>
                <a:cubicBezTo>
                  <a:pt x="1311719" y="0"/>
                  <a:pt x="1397000" y="85280"/>
                  <a:pt x="1397000" y="190500"/>
                </a:cubicBezTo>
                <a:lnTo>
                  <a:pt x="1397000" y="469900"/>
                </a:lnTo>
                <a:cubicBezTo>
                  <a:pt x="1397000" y="575120"/>
                  <a:pt x="1311719" y="660400"/>
                  <a:pt x="1206500" y="660400"/>
                </a:cubicBezTo>
                <a:lnTo>
                  <a:pt x="190500" y="660400"/>
                </a:lnTo>
                <a:cubicBezTo>
                  <a:pt x="85280" y="660400"/>
                  <a:pt x="0" y="575120"/>
                  <a:pt x="0" y="469900"/>
                </a:cubicBezTo>
                <a:lnTo>
                  <a:pt x="0" y="190500"/>
                </a:lnTo>
                <a:cubicBezTo>
                  <a:pt x="0" y="85280"/>
                  <a:pt x="85280" y="0"/>
                  <a:pt x="190500" y="0"/>
                </a:cubicBezTo>
                <a:close/>
              </a:path>
            </a:pathLst>
          </a:custGeom>
          <a:gradFill rotWithShape="1">
            <a:gsLst>
              <a:gs pos="0">
                <a:srgbClr val="E37E4E"/>
              </a:gs>
              <a:gs pos="100000">
                <a:srgbClr val="E0703A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sl-4"/>
          <p:cNvSpPr txBox="1"/>
          <p:nvPr/>
        </p:nvSpPr>
        <p:spPr>
          <a:xfrm>
            <a:off x="5903595" y="4666932"/>
            <a:ext cx="38481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L4</a:t>
            </a:r>
          </a:p>
        </p:txBody>
      </p:sp>
      <p:sp>
        <p:nvSpPr>
          <p:cNvPr id="64" name="sn-4"/>
          <p:cNvSpPr txBox="1"/>
          <p:nvPr/>
        </p:nvSpPr>
        <p:spPr>
          <a:xfrm>
            <a:off x="5904865" y="4976940"/>
            <a:ext cx="3822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专家</a:t>
            </a:r>
          </a:p>
        </p:txBody>
      </p:sp>
      <p:cxnSp>
        <p:nvCxnSpPr>
          <p:cNvPr id="65" name="sd-4"/>
          <p:cNvCxnSpPr/>
          <p:nvPr/>
        </p:nvCxnSpPr>
        <p:spPr>
          <a:xfrm>
            <a:off x="6858000" y="4914900"/>
            <a:ext cx="571500" cy="0"/>
          </a:xfrm>
          <a:prstGeom prst="line">
            <a:avLst/>
          </a:prstGeom>
          <a:ln w="12700" cap="rnd">
            <a:solidFill>
              <a:srgbClr val="E0703A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" name="sdo-4"/>
          <p:cNvSpPr/>
          <p:nvPr/>
        </p:nvSpPr>
        <p:spPr>
          <a:xfrm>
            <a:off x="7429500" y="4876800"/>
            <a:ext cx="76200" cy="762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sc-4"/>
          <p:cNvSpPr/>
          <p:nvPr/>
        </p:nvSpPr>
        <p:spPr>
          <a:xfrm>
            <a:off x="7620000" y="4622800"/>
            <a:ext cx="3619500" cy="584200"/>
          </a:xfrm>
          <a:custGeom>
            <a:avLst/>
            <a:gdLst/>
            <a:ahLst/>
            <a:cxnLst/>
            <a:rect l="0" t="0" r="r" b="b"/>
            <a:pathLst>
              <a:path w="3619500" h="584200">
                <a:moveTo>
                  <a:pt x="114300" y="0"/>
                </a:moveTo>
                <a:lnTo>
                  <a:pt x="3505200" y="0"/>
                </a:lnTo>
                <a:cubicBezTo>
                  <a:pt x="3568319" y="0"/>
                  <a:pt x="3619500" y="51181"/>
                  <a:pt x="3619500" y="114300"/>
                </a:cubicBezTo>
                <a:lnTo>
                  <a:pt x="3619500" y="469900"/>
                </a:lnTo>
                <a:cubicBezTo>
                  <a:pt x="3619500" y="533019"/>
                  <a:pt x="3568319" y="584200"/>
                  <a:pt x="3505200" y="584200"/>
                </a:cubicBezTo>
                <a:lnTo>
                  <a:pt x="114300" y="584200"/>
                </a:lnTo>
                <a:cubicBezTo>
                  <a:pt x="51181" y="584200"/>
                  <a:pt x="0" y="533019"/>
                  <a:pt x="0" y="469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sct-4"/>
          <p:cNvSpPr txBox="1"/>
          <p:nvPr/>
        </p:nvSpPr>
        <p:spPr>
          <a:xfrm>
            <a:off x="7783322" y="4740497"/>
            <a:ext cx="73215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L4 · 专家</a:t>
            </a:r>
          </a:p>
        </p:txBody>
      </p:sp>
      <p:sp>
        <p:nvSpPr>
          <p:cNvPr id="69" name="scd-4"/>
          <p:cNvSpPr txBox="1"/>
          <p:nvPr/>
        </p:nvSpPr>
        <p:spPr>
          <a:xfrm>
            <a:off x="7784846" y="4959382"/>
            <a:ext cx="130556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定标准，行业里说得上话</a:t>
            </a:r>
          </a:p>
        </p:txBody>
      </p:sp>
      <p:sp>
        <p:nvSpPr>
          <p:cNvPr id="70" name="dl"/>
          <p:cNvSpPr txBox="1"/>
          <p:nvPr/>
        </p:nvSpPr>
        <p:spPr>
          <a:xfrm>
            <a:off x="5575744" y="5327682"/>
            <a:ext cx="1040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深度 · 数据分析</a:t>
            </a:r>
          </a:p>
        </p:txBody>
      </p:sp>
      <p:sp>
        <p:nvSpPr>
          <p:cNvPr id="71" name="side-bar"/>
          <p:cNvSpPr/>
          <p:nvPr/>
        </p:nvSpPr>
        <p:spPr>
          <a:xfrm>
            <a:off x="952500" y="25400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side-h"/>
          <p:cNvSpPr txBox="1"/>
          <p:nvPr/>
        </p:nvSpPr>
        <p:spPr>
          <a:xfrm>
            <a:off x="1111250" y="25471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团队现状</a:t>
            </a:r>
          </a:p>
        </p:txBody>
      </p:sp>
      <p:sp>
        <p:nvSpPr>
          <p:cNvPr id="73" name="side-p"/>
          <p:cNvSpPr txBox="1"/>
          <p:nvPr/>
        </p:nvSpPr>
        <p:spPr>
          <a:xfrm>
            <a:off x="1116965" y="2821861"/>
            <a:ext cx="108362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42 名分析师的画像</a:t>
            </a:r>
          </a:p>
        </p:txBody>
      </p:sp>
      <p:sp>
        <p:nvSpPr>
          <p:cNvPr id="74" name="t-1"/>
          <p:cNvSpPr/>
          <p:nvPr/>
        </p:nvSpPr>
        <p:spPr>
          <a:xfrm>
            <a:off x="952500" y="3213100"/>
            <a:ext cx="3937000" cy="609600"/>
          </a:xfrm>
          <a:custGeom>
            <a:avLst/>
            <a:gdLst/>
            <a:ahLst/>
            <a:cxnLst/>
            <a:rect l="0" t="0" r="r" b="b"/>
            <a:pathLst>
              <a:path w="3937000" h="609600">
                <a:moveTo>
                  <a:pt x="114300" y="0"/>
                </a:moveTo>
                <a:lnTo>
                  <a:pt x="3822700" y="0"/>
                </a:lnTo>
                <a:cubicBezTo>
                  <a:pt x="3885819" y="0"/>
                  <a:pt x="3937000" y="51181"/>
                  <a:pt x="3937000" y="114300"/>
                </a:cubicBezTo>
                <a:lnTo>
                  <a:pt x="3937000" y="495300"/>
                </a:lnTo>
                <a:cubicBezTo>
                  <a:pt x="3937000" y="558419"/>
                  <a:pt x="3885819" y="609600"/>
                  <a:pt x="3822700" y="609600"/>
                </a:cubicBezTo>
                <a:lnTo>
                  <a:pt x="114300" y="609600"/>
                </a:lnTo>
                <a:cubicBezTo>
                  <a:pt x="51181" y="609600"/>
                  <a:pt x="0" y="558419"/>
                  <a:pt x="0" y="495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tn-1"/>
          <p:cNvSpPr txBox="1"/>
          <p:nvPr/>
        </p:nvSpPr>
        <p:spPr>
          <a:xfrm>
            <a:off x="1115822" y="3343497"/>
            <a:ext cx="3834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T 型</a:t>
            </a:r>
          </a:p>
        </p:txBody>
      </p:sp>
      <p:sp>
        <p:nvSpPr>
          <p:cNvPr id="76" name="tb0-1"/>
          <p:cNvSpPr/>
          <p:nvPr/>
        </p:nvSpPr>
        <p:spPr>
          <a:xfrm>
            <a:off x="1130300" y="3619500"/>
            <a:ext cx="2413000" cy="76200"/>
          </a:xfrm>
          <a:custGeom>
            <a:avLst/>
            <a:gdLst/>
            <a:ahLst/>
            <a:cxnLst/>
            <a:rect l="0" t="0" r="r" b="b"/>
            <a:pathLst>
              <a:path w="2413000" h="76200">
                <a:moveTo>
                  <a:pt x="38100" y="0"/>
                </a:moveTo>
                <a:lnTo>
                  <a:pt x="2374900" y="0"/>
                </a:lnTo>
                <a:cubicBezTo>
                  <a:pt x="2395918" y="0"/>
                  <a:pt x="2413000" y="17082"/>
                  <a:pt x="2413000" y="38100"/>
                </a:cubicBezTo>
                <a:lnTo>
                  <a:pt x="2413000" y="38100"/>
                </a:lnTo>
                <a:cubicBezTo>
                  <a:pt x="2413000" y="59118"/>
                  <a:pt x="2395918" y="76200"/>
                  <a:pt x="2374900" y="76200"/>
                </a:cubicBezTo>
                <a:lnTo>
                  <a:pt x="38100" y="76200"/>
                </a:lnTo>
                <a:cubicBezTo>
                  <a:pt x="17081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E3EB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tb-1"/>
          <p:cNvSpPr/>
          <p:nvPr/>
        </p:nvSpPr>
        <p:spPr>
          <a:xfrm>
            <a:off x="1130300" y="3619500"/>
            <a:ext cx="861758" cy="76200"/>
          </a:xfrm>
          <a:custGeom>
            <a:avLst/>
            <a:gdLst/>
            <a:ahLst/>
            <a:cxnLst/>
            <a:rect l="0" t="0" r="r" b="b"/>
            <a:pathLst>
              <a:path w="861758" h="76200">
                <a:moveTo>
                  <a:pt x="38100" y="0"/>
                </a:moveTo>
                <a:lnTo>
                  <a:pt x="823658" y="0"/>
                </a:lnTo>
                <a:cubicBezTo>
                  <a:pt x="844740" y="0"/>
                  <a:pt x="861758" y="17082"/>
                  <a:pt x="861758" y="38100"/>
                </a:cubicBezTo>
                <a:lnTo>
                  <a:pt x="861758" y="38100"/>
                </a:lnTo>
                <a:cubicBezTo>
                  <a:pt x="861758" y="59118"/>
                  <a:pt x="844740" y="76200"/>
                  <a:pt x="823658" y="76200"/>
                </a:cubicBezTo>
                <a:lnTo>
                  <a:pt x="38100" y="76200"/>
                </a:lnTo>
                <a:cubicBezTo>
                  <a:pt x="17081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tv-1"/>
          <p:cNvSpPr txBox="1"/>
          <p:nvPr/>
        </p:nvSpPr>
        <p:spPr>
          <a:xfrm>
            <a:off x="4052570" y="3396933"/>
            <a:ext cx="68199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50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15 人</a:t>
            </a:r>
          </a:p>
        </p:txBody>
      </p:sp>
      <p:sp>
        <p:nvSpPr>
          <p:cNvPr id="79" name="t-2"/>
          <p:cNvSpPr/>
          <p:nvPr/>
        </p:nvSpPr>
        <p:spPr>
          <a:xfrm>
            <a:off x="952500" y="3924300"/>
            <a:ext cx="3937000" cy="609600"/>
          </a:xfrm>
          <a:custGeom>
            <a:avLst/>
            <a:gdLst/>
            <a:ahLst/>
            <a:cxnLst/>
            <a:rect l="0" t="0" r="r" b="b"/>
            <a:pathLst>
              <a:path w="3937000" h="609600">
                <a:moveTo>
                  <a:pt x="114300" y="0"/>
                </a:moveTo>
                <a:lnTo>
                  <a:pt x="3822700" y="0"/>
                </a:lnTo>
                <a:cubicBezTo>
                  <a:pt x="3885819" y="0"/>
                  <a:pt x="3937000" y="51181"/>
                  <a:pt x="3937000" y="114300"/>
                </a:cubicBezTo>
                <a:lnTo>
                  <a:pt x="3937000" y="495300"/>
                </a:lnTo>
                <a:cubicBezTo>
                  <a:pt x="3937000" y="558419"/>
                  <a:pt x="3885819" y="609600"/>
                  <a:pt x="3822700" y="609600"/>
                </a:cubicBezTo>
                <a:lnTo>
                  <a:pt x="114300" y="609600"/>
                </a:lnTo>
                <a:cubicBezTo>
                  <a:pt x="51181" y="609600"/>
                  <a:pt x="0" y="558419"/>
                  <a:pt x="0" y="495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tn-2"/>
          <p:cNvSpPr txBox="1"/>
          <p:nvPr/>
        </p:nvSpPr>
        <p:spPr>
          <a:xfrm>
            <a:off x="1115822" y="4054697"/>
            <a:ext cx="111315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只有深度 · I 型</a:t>
            </a:r>
          </a:p>
        </p:txBody>
      </p:sp>
      <p:sp>
        <p:nvSpPr>
          <p:cNvPr id="81" name="tb0-2"/>
          <p:cNvSpPr/>
          <p:nvPr/>
        </p:nvSpPr>
        <p:spPr>
          <a:xfrm>
            <a:off x="1130300" y="4330700"/>
            <a:ext cx="2413000" cy="76200"/>
          </a:xfrm>
          <a:custGeom>
            <a:avLst/>
            <a:gdLst/>
            <a:ahLst/>
            <a:cxnLst/>
            <a:rect l="0" t="0" r="r" b="b"/>
            <a:pathLst>
              <a:path w="2413000" h="76200">
                <a:moveTo>
                  <a:pt x="38100" y="0"/>
                </a:moveTo>
                <a:lnTo>
                  <a:pt x="2374900" y="0"/>
                </a:lnTo>
                <a:cubicBezTo>
                  <a:pt x="2395918" y="0"/>
                  <a:pt x="2413000" y="17082"/>
                  <a:pt x="2413000" y="38100"/>
                </a:cubicBezTo>
                <a:lnTo>
                  <a:pt x="2413000" y="38100"/>
                </a:lnTo>
                <a:cubicBezTo>
                  <a:pt x="2413000" y="59118"/>
                  <a:pt x="2395918" y="76200"/>
                  <a:pt x="2374900" y="76200"/>
                </a:cubicBezTo>
                <a:lnTo>
                  <a:pt x="38100" y="76200"/>
                </a:lnTo>
                <a:cubicBezTo>
                  <a:pt x="17081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E3EB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tb-2"/>
          <p:cNvSpPr/>
          <p:nvPr/>
        </p:nvSpPr>
        <p:spPr>
          <a:xfrm>
            <a:off x="1130300" y="4330700"/>
            <a:ext cx="1034161" cy="76200"/>
          </a:xfrm>
          <a:custGeom>
            <a:avLst/>
            <a:gdLst/>
            <a:ahLst/>
            <a:cxnLst/>
            <a:rect l="0" t="0" r="r" b="b"/>
            <a:pathLst>
              <a:path w="1034161" h="76200">
                <a:moveTo>
                  <a:pt x="38100" y="0"/>
                </a:moveTo>
                <a:lnTo>
                  <a:pt x="996061" y="0"/>
                </a:lnTo>
                <a:cubicBezTo>
                  <a:pt x="1017080" y="0"/>
                  <a:pt x="1034161" y="17082"/>
                  <a:pt x="1034161" y="38100"/>
                </a:cubicBezTo>
                <a:lnTo>
                  <a:pt x="1034161" y="38100"/>
                </a:lnTo>
                <a:cubicBezTo>
                  <a:pt x="1034161" y="59118"/>
                  <a:pt x="1017080" y="76200"/>
                  <a:pt x="996061" y="76200"/>
                </a:cubicBezTo>
                <a:lnTo>
                  <a:pt x="38100" y="76200"/>
                </a:lnTo>
                <a:cubicBezTo>
                  <a:pt x="17081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tv-2"/>
          <p:cNvSpPr txBox="1"/>
          <p:nvPr/>
        </p:nvSpPr>
        <p:spPr>
          <a:xfrm>
            <a:off x="4052570" y="4108133"/>
            <a:ext cx="68199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5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18 人</a:t>
            </a:r>
          </a:p>
        </p:txBody>
      </p:sp>
      <p:sp>
        <p:nvSpPr>
          <p:cNvPr id="84" name="t-3"/>
          <p:cNvSpPr/>
          <p:nvPr/>
        </p:nvSpPr>
        <p:spPr>
          <a:xfrm>
            <a:off x="952500" y="4635500"/>
            <a:ext cx="3937000" cy="609600"/>
          </a:xfrm>
          <a:custGeom>
            <a:avLst/>
            <a:gdLst/>
            <a:ahLst/>
            <a:cxnLst/>
            <a:rect l="0" t="0" r="r" b="b"/>
            <a:pathLst>
              <a:path w="3937000" h="609600">
                <a:moveTo>
                  <a:pt x="114300" y="0"/>
                </a:moveTo>
                <a:lnTo>
                  <a:pt x="3822700" y="0"/>
                </a:lnTo>
                <a:cubicBezTo>
                  <a:pt x="3885819" y="0"/>
                  <a:pt x="3937000" y="51181"/>
                  <a:pt x="3937000" y="114300"/>
                </a:cubicBezTo>
                <a:lnTo>
                  <a:pt x="3937000" y="495300"/>
                </a:lnTo>
                <a:cubicBezTo>
                  <a:pt x="3937000" y="558419"/>
                  <a:pt x="3885819" y="609600"/>
                  <a:pt x="3822700" y="609600"/>
                </a:cubicBezTo>
                <a:lnTo>
                  <a:pt x="114300" y="609600"/>
                </a:lnTo>
                <a:cubicBezTo>
                  <a:pt x="51181" y="609600"/>
                  <a:pt x="0" y="558419"/>
                  <a:pt x="0" y="495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tn-3"/>
          <p:cNvSpPr txBox="1"/>
          <p:nvPr/>
        </p:nvSpPr>
        <p:spPr>
          <a:xfrm>
            <a:off x="1115822" y="4765897"/>
            <a:ext cx="121932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只有广度 · 一字型</a:t>
            </a:r>
          </a:p>
        </p:txBody>
      </p:sp>
      <p:sp>
        <p:nvSpPr>
          <p:cNvPr id="86" name="tb0-3"/>
          <p:cNvSpPr/>
          <p:nvPr/>
        </p:nvSpPr>
        <p:spPr>
          <a:xfrm>
            <a:off x="1130300" y="5041900"/>
            <a:ext cx="2413000" cy="76200"/>
          </a:xfrm>
          <a:custGeom>
            <a:avLst/>
            <a:gdLst/>
            <a:ahLst/>
            <a:cxnLst/>
            <a:rect l="0" t="0" r="r" b="b"/>
            <a:pathLst>
              <a:path w="2413000" h="76200">
                <a:moveTo>
                  <a:pt x="38100" y="0"/>
                </a:moveTo>
                <a:lnTo>
                  <a:pt x="2374900" y="0"/>
                </a:lnTo>
                <a:cubicBezTo>
                  <a:pt x="2395918" y="0"/>
                  <a:pt x="2413000" y="17082"/>
                  <a:pt x="2413000" y="38100"/>
                </a:cubicBezTo>
                <a:lnTo>
                  <a:pt x="2413000" y="38100"/>
                </a:lnTo>
                <a:cubicBezTo>
                  <a:pt x="2413000" y="59118"/>
                  <a:pt x="2395918" y="76200"/>
                  <a:pt x="2374900" y="76200"/>
                </a:cubicBezTo>
                <a:lnTo>
                  <a:pt x="38100" y="76200"/>
                </a:lnTo>
                <a:cubicBezTo>
                  <a:pt x="17081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E3EB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tb-3"/>
          <p:cNvSpPr/>
          <p:nvPr/>
        </p:nvSpPr>
        <p:spPr>
          <a:xfrm>
            <a:off x="1130300" y="5041900"/>
            <a:ext cx="517081" cy="76200"/>
          </a:xfrm>
          <a:custGeom>
            <a:avLst/>
            <a:gdLst/>
            <a:ahLst/>
            <a:cxnLst/>
            <a:rect l="0" t="0" r="r" b="b"/>
            <a:pathLst>
              <a:path w="517081" h="76200">
                <a:moveTo>
                  <a:pt x="38100" y="0"/>
                </a:moveTo>
                <a:lnTo>
                  <a:pt x="478981" y="0"/>
                </a:lnTo>
                <a:cubicBezTo>
                  <a:pt x="499999" y="0"/>
                  <a:pt x="517081" y="17082"/>
                  <a:pt x="517081" y="38100"/>
                </a:cubicBezTo>
                <a:lnTo>
                  <a:pt x="517081" y="38100"/>
                </a:lnTo>
                <a:cubicBezTo>
                  <a:pt x="517081" y="59118"/>
                  <a:pt x="499999" y="76200"/>
                  <a:pt x="478981" y="76200"/>
                </a:cubicBezTo>
                <a:lnTo>
                  <a:pt x="38100" y="76200"/>
                </a:lnTo>
                <a:cubicBezTo>
                  <a:pt x="17081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8FA6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tv-3"/>
          <p:cNvSpPr txBox="1"/>
          <p:nvPr/>
        </p:nvSpPr>
        <p:spPr>
          <a:xfrm>
            <a:off x="4159250" y="4819332"/>
            <a:ext cx="57531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5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9 人</a:t>
            </a:r>
          </a:p>
        </p:txBody>
      </p:sp>
      <p:sp>
        <p:nvSpPr>
          <p:cNvPr id="89" name="sum"/>
          <p:cNvSpPr/>
          <p:nvPr/>
        </p:nvSpPr>
        <p:spPr>
          <a:xfrm>
            <a:off x="952500" y="5753100"/>
            <a:ext cx="10287000" cy="444500"/>
          </a:xfrm>
          <a:custGeom>
            <a:avLst/>
            <a:gdLst/>
            <a:ahLst/>
            <a:cxnLst/>
            <a:rect l="0" t="0" r="r" b="b"/>
            <a:pathLst>
              <a:path w="10287000" h="4445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55600"/>
                </a:lnTo>
                <a:cubicBezTo>
                  <a:pt x="10287000" y="404686"/>
                  <a:pt x="10247186" y="444500"/>
                  <a:pt x="10198100" y="444500"/>
                </a:cubicBezTo>
                <a:lnTo>
                  <a:pt x="88900" y="444500"/>
                </a:lnTo>
                <a:cubicBezTo>
                  <a:pt x="39815" y="444500"/>
                  <a:pt x="0" y="404686"/>
                  <a:pt x="0" y="3556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sum-bar"/>
          <p:cNvSpPr/>
          <p:nvPr/>
        </p:nvSpPr>
        <p:spPr>
          <a:xfrm>
            <a:off x="952500" y="5753100"/>
            <a:ext cx="31750" cy="4445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sum-h"/>
          <p:cNvSpPr txBox="1"/>
          <p:nvPr/>
        </p:nvSpPr>
        <p:spPr>
          <a:xfrm>
            <a:off x="1142746" y="590553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培养方向</a:t>
            </a:r>
          </a:p>
        </p:txBody>
      </p:sp>
      <p:sp>
        <p:nvSpPr>
          <p:cNvPr id="92" name="sum-p"/>
          <p:cNvSpPr txBox="1"/>
          <p:nvPr/>
        </p:nvSpPr>
        <p:spPr>
          <a:xfrm>
            <a:off x="1891665" y="5901611"/>
            <a:ext cx="433482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18 名 I 型分析师补业务和客户两块广度，一年内把 T 型占比从 36% 提到 60%。</a:t>
            </a:r>
          </a:p>
        </p:txBody>
      </p:sp>
      <p:cxnSp>
        <p:nvCxnSpPr>
          <p:cNvPr id="93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4" name="foot-l"/>
          <p:cNvSpPr txBox="1"/>
          <p:nvPr/>
        </p:nvSpPr>
        <p:spPr>
          <a:xfrm>
            <a:off x="573532" y="6532308"/>
            <a:ext cx="116395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T 型人才 · 广度与深度</a:t>
            </a:r>
          </a:p>
        </p:txBody>
      </p:sp>
      <p:sp>
        <p:nvSpPr>
          <p:cNvPr id="95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增长的三条腿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71907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THREE-LEGGED STOOL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532495" y="673132"/>
            <a:ext cx="30882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产品、渠道、服务撑起增长——最短的那条腿决定凳子稳不稳</a:t>
            </a:r>
          </a:p>
        </p:txBody>
      </p:sp>
      <p:sp>
        <p:nvSpPr>
          <p:cNvPr id="10" name="leg-1"/>
          <p:cNvSpPr/>
          <p:nvPr/>
        </p:nvSpPr>
        <p:spPr>
          <a:xfrm>
            <a:off x="4004549" y="2425700"/>
            <a:ext cx="993231" cy="2717800"/>
          </a:xfrm>
          <a:custGeom>
            <a:avLst/>
            <a:gdLst/>
            <a:ahLst/>
            <a:cxnLst/>
            <a:rect l="0" t="0" r="r" b="b"/>
            <a:pathLst>
              <a:path w="993231" h="2717800">
                <a:moveTo>
                  <a:pt x="610313" y="86487"/>
                </a:moveTo>
                <a:quadBezTo>
                  <a:pt x="630951" y="0"/>
                  <a:pt x="719851" y="0"/>
                </a:quadBezTo>
                <a:lnTo>
                  <a:pt x="923051" y="0"/>
                </a:lnTo>
                <a:quadBezTo>
                  <a:pt x="1011951" y="0"/>
                  <a:pt x="988329" y="85725"/>
                </a:quadBezTo>
                <a:lnTo>
                  <a:pt x="286273" y="2632075"/>
                </a:lnTo>
                <a:quadBezTo>
                  <a:pt x="262651" y="2717800"/>
                  <a:pt x="173751" y="2717800"/>
                </a:quadBezTo>
                <a:lnTo>
                  <a:pt x="72151" y="2717800"/>
                </a:lnTo>
                <a:quadBezTo>
                  <a:pt x="-16749" y="2717800"/>
                  <a:pt x="3888" y="2631313"/>
                </a:quadBezTo>
                <a:close/>
              </a:path>
            </a:pathLst>
          </a:custGeom>
          <a:gradFill rotWithShape="1">
            <a:gsLst>
              <a:gs pos="0">
                <a:srgbClr val="2B5EA6"/>
              </a:gs>
              <a:gs pos="100000">
                <a:srgbClr val="134C9C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lc-1"/>
          <p:cNvSpPr/>
          <p:nvPr/>
        </p:nvSpPr>
        <p:spPr>
          <a:xfrm>
            <a:off x="4286789" y="3111500"/>
            <a:ext cx="584200" cy="584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lv-1"/>
          <p:cNvSpPr txBox="1"/>
          <p:nvPr/>
        </p:nvSpPr>
        <p:spPr>
          <a:xfrm>
            <a:off x="4373657" y="3222498"/>
            <a:ext cx="410464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6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82</a:t>
            </a:r>
          </a:p>
        </p:txBody>
      </p:sp>
      <p:sp>
        <p:nvSpPr>
          <p:cNvPr id="13" name="ln-1"/>
          <p:cNvSpPr txBox="1"/>
          <p:nvPr/>
        </p:nvSpPr>
        <p:spPr>
          <a:xfrm>
            <a:off x="3814128" y="5229828"/>
            <a:ext cx="6267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产品力</a:t>
            </a:r>
          </a:p>
        </p:txBody>
      </p:sp>
      <p:sp>
        <p:nvSpPr>
          <p:cNvPr id="14" name="leg-2"/>
          <p:cNvSpPr/>
          <p:nvPr/>
        </p:nvSpPr>
        <p:spPr>
          <a:xfrm>
            <a:off x="5907151" y="2425700"/>
            <a:ext cx="377698" cy="2717800"/>
          </a:xfrm>
          <a:custGeom>
            <a:avLst/>
            <a:gdLst/>
            <a:ahLst/>
            <a:cxnLst/>
            <a:rect l="0" t="0" r="r" b="b"/>
            <a:pathLst>
              <a:path w="377698" h="2717800">
                <a:moveTo>
                  <a:pt x="0" y="88900"/>
                </a:moveTo>
                <a:quadBezTo>
                  <a:pt x="-1651" y="0"/>
                  <a:pt x="87249" y="0"/>
                </a:quadBezTo>
                <a:lnTo>
                  <a:pt x="290449" y="0"/>
                </a:lnTo>
                <a:quadBezTo>
                  <a:pt x="379349" y="0"/>
                  <a:pt x="377698" y="88900"/>
                </a:quadBezTo>
                <a:lnTo>
                  <a:pt x="330200" y="2628900"/>
                </a:lnTo>
                <a:quadBezTo>
                  <a:pt x="328549" y="2717800"/>
                  <a:pt x="239649" y="2717800"/>
                </a:quadBezTo>
                <a:lnTo>
                  <a:pt x="138049" y="2717800"/>
                </a:lnTo>
                <a:quadBezTo>
                  <a:pt x="49149" y="2717800"/>
                  <a:pt x="47498" y="2628900"/>
                </a:quadBezTo>
                <a:close/>
              </a:path>
            </a:pathLst>
          </a:custGeom>
          <a:gradFill rotWithShape="1">
            <a:gsLst>
              <a:gs pos="0">
                <a:srgbClr val="4385C8"/>
              </a:gs>
              <a:gs pos="100000">
                <a:srgbClr val="2E77C2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lc-2"/>
          <p:cNvSpPr/>
          <p:nvPr/>
        </p:nvSpPr>
        <p:spPr>
          <a:xfrm>
            <a:off x="5803900" y="3111500"/>
            <a:ext cx="584200" cy="584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lv-2"/>
          <p:cNvSpPr txBox="1"/>
          <p:nvPr/>
        </p:nvSpPr>
        <p:spPr>
          <a:xfrm>
            <a:off x="5890768" y="3222498"/>
            <a:ext cx="410464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60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80</a:t>
            </a:r>
          </a:p>
        </p:txBody>
      </p:sp>
      <p:sp>
        <p:nvSpPr>
          <p:cNvPr id="17" name="ln-2"/>
          <p:cNvSpPr txBox="1"/>
          <p:nvPr/>
        </p:nvSpPr>
        <p:spPr>
          <a:xfrm>
            <a:off x="5782628" y="5229828"/>
            <a:ext cx="6267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渠道力</a:t>
            </a:r>
          </a:p>
        </p:txBody>
      </p:sp>
      <p:sp>
        <p:nvSpPr>
          <p:cNvPr id="18" name="leg-3"/>
          <p:cNvSpPr/>
          <p:nvPr/>
        </p:nvSpPr>
        <p:spPr>
          <a:xfrm>
            <a:off x="7194471" y="2425700"/>
            <a:ext cx="836152" cy="2112010"/>
          </a:xfrm>
          <a:custGeom>
            <a:avLst/>
            <a:gdLst/>
            <a:ahLst/>
            <a:cxnLst/>
            <a:rect l="0" t="0" r="r" b="b"/>
            <a:pathLst>
              <a:path w="836152" h="2112010">
                <a:moveTo>
                  <a:pt x="5032" y="85598"/>
                </a:moveTo>
                <a:quadBezTo>
                  <a:pt x="-18971" y="0"/>
                  <a:pt x="69929" y="0"/>
                </a:quadBezTo>
                <a:lnTo>
                  <a:pt x="273129" y="0"/>
                </a:lnTo>
                <a:quadBezTo>
                  <a:pt x="362029" y="0"/>
                  <a:pt x="382158" y="86614"/>
                </a:quadBezTo>
                <a:lnTo>
                  <a:pt x="832437" y="2025396"/>
                </a:lnTo>
                <a:quadBezTo>
                  <a:pt x="852566" y="2112010"/>
                  <a:pt x="763666" y="2112010"/>
                </a:quadBezTo>
                <a:lnTo>
                  <a:pt x="662066" y="2112010"/>
                </a:lnTo>
                <a:quadBezTo>
                  <a:pt x="573166" y="2112010"/>
                  <a:pt x="549163" y="2026412"/>
                </a:quadBezTo>
                <a:close/>
              </a:path>
            </a:pathLst>
          </a:custGeom>
          <a:gradFill rotWithShape="1">
            <a:gsLst>
              <a:gs pos="0">
                <a:srgbClr val="E37E4E"/>
              </a:gs>
              <a:gs pos="100000">
                <a:srgbClr val="E0703A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lc-3"/>
          <p:cNvSpPr/>
          <p:nvPr/>
        </p:nvSpPr>
        <p:spPr>
          <a:xfrm>
            <a:off x="7321011" y="3111500"/>
            <a:ext cx="584200" cy="584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lv-3"/>
          <p:cNvSpPr txBox="1"/>
          <p:nvPr/>
        </p:nvSpPr>
        <p:spPr>
          <a:xfrm>
            <a:off x="7407879" y="3222498"/>
            <a:ext cx="410464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6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62</a:t>
            </a:r>
          </a:p>
        </p:txBody>
      </p:sp>
      <p:sp>
        <p:nvSpPr>
          <p:cNvPr id="21" name="gap"/>
          <p:cNvSpPr/>
          <p:nvPr/>
        </p:nvSpPr>
        <p:spPr>
          <a:xfrm>
            <a:off x="7778562" y="4588510"/>
            <a:ext cx="414714" cy="554990"/>
          </a:xfrm>
          <a:custGeom>
            <a:avLst/>
            <a:gdLst/>
            <a:ahLst/>
            <a:cxnLst/>
            <a:rect l="0" t="0" r="r" b="b"/>
            <a:pathLst>
              <a:path w="414714" h="554990">
                <a:moveTo>
                  <a:pt x="2919" y="48895"/>
                </a:moveTo>
                <a:quadBezTo>
                  <a:pt x="-10924" y="0"/>
                  <a:pt x="39876" y="0"/>
                </a:quadBezTo>
                <a:lnTo>
                  <a:pt x="217676" y="0"/>
                </a:lnTo>
                <a:quadBezTo>
                  <a:pt x="268476" y="0"/>
                  <a:pt x="282319" y="48895"/>
                </a:quadBezTo>
                <a:lnTo>
                  <a:pt x="411795" y="506095"/>
                </a:lnTo>
                <a:quadBezTo>
                  <a:pt x="425638" y="554990"/>
                  <a:pt x="374838" y="554990"/>
                </a:quadBezTo>
                <a:lnTo>
                  <a:pt x="197038" y="554990"/>
                </a:lnTo>
                <a:quadBezTo>
                  <a:pt x="146238" y="554990"/>
                  <a:pt x="132395" y="506095"/>
                </a:quadBezTo>
                <a:close/>
              </a:path>
            </a:pathLst>
          </a:custGeom>
          <a:noFill/>
          <a:ln w="12700" cap="rnd">
            <a:solidFill>
              <a:srgbClr val="E0703A"/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gap-t"/>
          <p:cNvSpPr txBox="1"/>
          <p:nvPr/>
        </p:nvSpPr>
        <p:spPr>
          <a:xfrm>
            <a:off x="8330184" y="4750244"/>
            <a:ext cx="58750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短 18 分</a:t>
            </a:r>
          </a:p>
        </p:txBody>
      </p:sp>
      <p:sp>
        <p:nvSpPr>
          <p:cNvPr id="23" name="ln-3"/>
          <p:cNvSpPr txBox="1"/>
          <p:nvPr/>
        </p:nvSpPr>
        <p:spPr>
          <a:xfrm>
            <a:off x="7751128" y="5229828"/>
            <a:ext cx="6267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服务力</a:t>
            </a:r>
          </a:p>
        </p:txBody>
      </p:sp>
      <p:sp>
        <p:nvSpPr>
          <p:cNvPr id="24" name="brace"/>
          <p:cNvSpPr/>
          <p:nvPr/>
        </p:nvSpPr>
        <p:spPr>
          <a:xfrm>
            <a:off x="4826000" y="4038600"/>
            <a:ext cx="2540000" cy="88900"/>
          </a:xfrm>
          <a:custGeom>
            <a:avLst/>
            <a:gdLst/>
            <a:ahLst/>
            <a:cxnLst/>
            <a:rect l="0" t="0" r="r" b="b"/>
            <a:pathLst>
              <a:path w="2540000" h="88900">
                <a:moveTo>
                  <a:pt x="44450" y="0"/>
                </a:moveTo>
                <a:lnTo>
                  <a:pt x="2495550" y="0"/>
                </a:lnTo>
                <a:cubicBezTo>
                  <a:pt x="2520124" y="0"/>
                  <a:pt x="2540000" y="19875"/>
                  <a:pt x="2540000" y="44450"/>
                </a:cubicBezTo>
                <a:lnTo>
                  <a:pt x="2540000" y="44450"/>
                </a:lnTo>
                <a:cubicBezTo>
                  <a:pt x="2540000" y="69025"/>
                  <a:pt x="2520124" y="88900"/>
                  <a:pt x="2495550" y="88900"/>
                </a:cubicBezTo>
                <a:lnTo>
                  <a:pt x="44450" y="88900"/>
                </a:lnTo>
                <a:cubicBezTo>
                  <a:pt x="19875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4694D7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seat"/>
          <p:cNvSpPr/>
          <p:nvPr/>
        </p:nvSpPr>
        <p:spPr>
          <a:xfrm>
            <a:off x="3873500" y="1968500"/>
            <a:ext cx="4445000" cy="482600"/>
          </a:xfrm>
          <a:custGeom>
            <a:avLst/>
            <a:gdLst/>
            <a:ahLst/>
            <a:cxnLst/>
            <a:rect l="0" t="0" r="r" b="b"/>
            <a:pathLst>
              <a:path w="4445000" h="482600">
                <a:moveTo>
                  <a:pt x="241300" y="0"/>
                </a:moveTo>
                <a:lnTo>
                  <a:pt x="4203700" y="0"/>
                </a:lnTo>
                <a:cubicBezTo>
                  <a:pt x="4336986" y="0"/>
                  <a:pt x="4445000" y="108013"/>
                  <a:pt x="4445000" y="241300"/>
                </a:cubicBezTo>
                <a:lnTo>
                  <a:pt x="4445000" y="241300"/>
                </a:lnTo>
                <a:cubicBezTo>
                  <a:pt x="4445000" y="374587"/>
                  <a:pt x="4336986" y="482600"/>
                  <a:pt x="4203700" y="482600"/>
                </a:cubicBezTo>
                <a:lnTo>
                  <a:pt x="241300" y="482600"/>
                </a:lnTo>
                <a:cubicBezTo>
                  <a:pt x="108013" y="482600"/>
                  <a:pt x="0" y="374587"/>
                  <a:pt x="0" y="241300"/>
                </a:cubicBezTo>
                <a:lnTo>
                  <a:pt x="0" y="241300"/>
                </a:lnTo>
                <a:cubicBezTo>
                  <a:pt x="0" y="108013"/>
                  <a:pt x="108013" y="0"/>
                  <a:pt x="2413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54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seat-t"/>
          <p:cNvSpPr txBox="1"/>
          <p:nvPr/>
        </p:nvSpPr>
        <p:spPr>
          <a:xfrm>
            <a:off x="4986909" y="2082102"/>
            <a:ext cx="2218182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持续增长 · 年复合 25%</a:t>
            </a:r>
          </a:p>
        </p:txBody>
      </p:sp>
      <p:sp>
        <p:nvSpPr>
          <p:cNvPr id="27" name="floor"/>
          <p:cNvSpPr/>
          <p:nvPr/>
        </p:nvSpPr>
        <p:spPr>
          <a:xfrm>
            <a:off x="3556000" y="5143500"/>
            <a:ext cx="5080000" cy="38100"/>
          </a:xfrm>
          <a:custGeom>
            <a:avLst/>
            <a:gdLst/>
            <a:ahLst/>
            <a:cxnLst/>
            <a:rect l="0" t="0" r="r" b="b"/>
            <a:pathLst>
              <a:path w="5080000" h="38100">
                <a:moveTo>
                  <a:pt x="19050" y="0"/>
                </a:moveTo>
                <a:lnTo>
                  <a:pt x="5060950" y="0"/>
                </a:lnTo>
                <a:cubicBezTo>
                  <a:pt x="5071491" y="0"/>
                  <a:pt x="5080000" y="8509"/>
                  <a:pt x="5080000" y="19050"/>
                </a:cubicBezTo>
                <a:lnTo>
                  <a:pt x="5080000" y="19050"/>
                </a:lnTo>
                <a:cubicBezTo>
                  <a:pt x="5080000" y="29591"/>
                  <a:pt x="5071491" y="38100"/>
                  <a:pt x="50609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2545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c-1"/>
          <p:cNvSpPr/>
          <p:nvPr/>
        </p:nvSpPr>
        <p:spPr>
          <a:xfrm>
            <a:off x="952500" y="1587500"/>
            <a:ext cx="2032000" cy="1778000"/>
          </a:xfrm>
          <a:custGeom>
            <a:avLst/>
            <a:gdLst/>
            <a:ahLst/>
            <a:cxnLst/>
            <a:rect l="0" t="0" r="r" b="b"/>
            <a:pathLst>
              <a:path w="2032000" h="1778000">
                <a:moveTo>
                  <a:pt x="139700" y="0"/>
                </a:moveTo>
                <a:lnTo>
                  <a:pt x="1892300" y="0"/>
                </a:lnTo>
                <a:cubicBezTo>
                  <a:pt x="1969452" y="0"/>
                  <a:pt x="2032000" y="62548"/>
                  <a:pt x="2032000" y="139700"/>
                </a:cubicBezTo>
                <a:lnTo>
                  <a:pt x="2032000" y="1638300"/>
                </a:lnTo>
                <a:cubicBezTo>
                  <a:pt x="2032000" y="1715452"/>
                  <a:pt x="1969452" y="1778000"/>
                  <a:pt x="1892300" y="1778000"/>
                </a:cubicBezTo>
                <a:lnTo>
                  <a:pt x="139700" y="1778000"/>
                </a:lnTo>
                <a:cubicBezTo>
                  <a:pt x="62547" y="1778000"/>
                  <a:pt x="0" y="1715452"/>
                  <a:pt x="0" y="16383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cb-1"/>
          <p:cNvSpPr/>
          <p:nvPr/>
        </p:nvSpPr>
        <p:spPr>
          <a:xfrm>
            <a:off x="952500" y="1587500"/>
            <a:ext cx="38100" cy="1778000"/>
          </a:xfrm>
          <a:custGeom>
            <a:avLst/>
            <a:gdLst/>
            <a:ahLst/>
            <a:cxnLst/>
            <a:rect l="0" t="0" r="r" b="b"/>
            <a:pathLst>
              <a:path w="38100" h="1778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758950"/>
                </a:lnTo>
                <a:cubicBezTo>
                  <a:pt x="38100" y="1769491"/>
                  <a:pt x="29591" y="1778000"/>
                  <a:pt x="19050" y="1778000"/>
                </a:cubicBezTo>
                <a:lnTo>
                  <a:pt x="19050" y="1778000"/>
                </a:lnTo>
                <a:cubicBezTo>
                  <a:pt x="8509" y="1778000"/>
                  <a:pt x="0" y="1769491"/>
                  <a:pt x="0" y="1758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chip"/>
          <p:cNvSpPr/>
          <p:nvPr/>
        </p:nvSpPr>
        <p:spPr>
          <a:xfrm>
            <a:off x="1130300" y="1790700"/>
            <a:ext cx="381000" cy="381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chip-ring"/>
          <p:cNvSpPr/>
          <p:nvPr/>
        </p:nvSpPr>
        <p:spPr>
          <a:xfrm>
            <a:off x="1130300" y="1790700"/>
            <a:ext cx="381000" cy="381000"/>
          </a:xfrm>
          <a:prstGeom prst="ellipse">
            <a:avLst/>
          </a:prstGeom>
          <a:noFill/>
          <a:ln w="6350" cap="rnd">
            <a:solidFill>
              <a:srgbClr val="134C9C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icon-target"/>
          <p:cNvSpPr/>
          <p:nvPr/>
        </p:nvSpPr>
        <p:spPr>
          <a:xfrm>
            <a:off x="1320800" y="1922018"/>
            <a:ext cx="45403" cy="59182"/>
          </a:xfrm>
          <a:custGeom>
            <a:avLst/>
            <a:gdLst/>
            <a:ahLst/>
            <a:cxnLst/>
            <a:rect l="0" t="0" r="r" b="b"/>
            <a:pathLst>
              <a:path w="45403" h="59182">
                <a:moveTo>
                  <a:pt x="0" y="34417"/>
                </a:moveTo>
                <a:lnTo>
                  <a:pt x="0" y="0"/>
                </a:lnTo>
                <a:moveTo>
                  <a:pt x="0" y="59182"/>
                </a:moveTo>
                <a:lnTo>
                  <a:pt x="45403" y="13780"/>
                </a:lnTo>
              </a:path>
            </a:pathLst>
          </a:cu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icon-target"/>
          <p:cNvSpPr/>
          <p:nvPr/>
        </p:nvSpPr>
        <p:spPr>
          <a:xfrm>
            <a:off x="1261639" y="1922039"/>
            <a:ext cx="118322" cy="118322"/>
          </a:xfrm>
          <a:prstGeom prst="ellipse">
            <a:avLst/>
          </a:pr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icon-target"/>
          <p:cNvSpPr/>
          <p:nvPr/>
        </p:nvSpPr>
        <p:spPr>
          <a:xfrm>
            <a:off x="1290532" y="1950932"/>
            <a:ext cx="60537" cy="60537"/>
          </a:xfrm>
          <a:prstGeom prst="ellipse">
            <a:avLst/>
          </a:pr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cn-1"/>
          <p:cNvSpPr txBox="1"/>
          <p:nvPr/>
        </p:nvSpPr>
        <p:spPr>
          <a:xfrm>
            <a:off x="1593850" y="1759744"/>
            <a:ext cx="6572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产品力</a:t>
            </a:r>
          </a:p>
        </p:txBody>
      </p:sp>
      <p:sp>
        <p:nvSpPr>
          <p:cNvPr id="36" name="cs-1"/>
          <p:cNvSpPr txBox="1"/>
          <p:nvPr/>
        </p:nvSpPr>
        <p:spPr>
          <a:xfrm>
            <a:off x="1601470" y="2015966"/>
            <a:ext cx="6610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82 分 / 100</a:t>
            </a:r>
          </a:p>
        </p:txBody>
      </p:sp>
      <p:sp>
        <p:nvSpPr>
          <p:cNvPr id="37" name="cd-1-0"/>
          <p:cNvSpPr/>
          <p:nvPr/>
        </p:nvSpPr>
        <p:spPr>
          <a:xfrm>
            <a:off x="1162050" y="2470150"/>
            <a:ext cx="63500" cy="635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ct-1-0"/>
          <p:cNvSpPr txBox="1"/>
          <p:nvPr/>
        </p:nvSpPr>
        <p:spPr>
          <a:xfrm>
            <a:off x="1282065" y="2402761"/>
            <a:ext cx="85756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迭代周期 2 周</a:t>
            </a:r>
          </a:p>
        </p:txBody>
      </p:sp>
      <p:sp>
        <p:nvSpPr>
          <p:cNvPr id="39" name="cd-1-1"/>
          <p:cNvSpPr/>
          <p:nvPr/>
        </p:nvSpPr>
        <p:spPr>
          <a:xfrm>
            <a:off x="1162050" y="2787650"/>
            <a:ext cx="63500" cy="635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ct-1-1"/>
          <p:cNvSpPr txBox="1"/>
          <p:nvPr/>
        </p:nvSpPr>
        <p:spPr>
          <a:xfrm>
            <a:off x="1282065" y="2720261"/>
            <a:ext cx="11477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核心功能满意度 4.5</a:t>
            </a:r>
          </a:p>
        </p:txBody>
      </p:sp>
      <p:sp>
        <p:nvSpPr>
          <p:cNvPr id="41" name="c-2"/>
          <p:cNvSpPr/>
          <p:nvPr/>
        </p:nvSpPr>
        <p:spPr>
          <a:xfrm>
            <a:off x="952500" y="3556000"/>
            <a:ext cx="2032000" cy="1778000"/>
          </a:xfrm>
          <a:custGeom>
            <a:avLst/>
            <a:gdLst/>
            <a:ahLst/>
            <a:cxnLst/>
            <a:rect l="0" t="0" r="r" b="b"/>
            <a:pathLst>
              <a:path w="2032000" h="1778000">
                <a:moveTo>
                  <a:pt x="139700" y="0"/>
                </a:moveTo>
                <a:lnTo>
                  <a:pt x="1892300" y="0"/>
                </a:lnTo>
                <a:cubicBezTo>
                  <a:pt x="1969452" y="0"/>
                  <a:pt x="2032000" y="62548"/>
                  <a:pt x="2032000" y="139700"/>
                </a:cubicBezTo>
                <a:lnTo>
                  <a:pt x="2032000" y="1638300"/>
                </a:lnTo>
                <a:cubicBezTo>
                  <a:pt x="2032000" y="1715452"/>
                  <a:pt x="1969452" y="1778000"/>
                  <a:pt x="1892300" y="1778000"/>
                </a:cubicBezTo>
                <a:lnTo>
                  <a:pt x="139700" y="1778000"/>
                </a:lnTo>
                <a:cubicBezTo>
                  <a:pt x="62547" y="1778000"/>
                  <a:pt x="0" y="1715452"/>
                  <a:pt x="0" y="16383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cb-2"/>
          <p:cNvSpPr/>
          <p:nvPr/>
        </p:nvSpPr>
        <p:spPr>
          <a:xfrm>
            <a:off x="952500" y="3556000"/>
            <a:ext cx="38100" cy="1778000"/>
          </a:xfrm>
          <a:custGeom>
            <a:avLst/>
            <a:gdLst/>
            <a:ahLst/>
            <a:cxnLst/>
            <a:rect l="0" t="0" r="r" b="b"/>
            <a:pathLst>
              <a:path w="38100" h="1778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758950"/>
                </a:lnTo>
                <a:cubicBezTo>
                  <a:pt x="38100" y="1769491"/>
                  <a:pt x="29591" y="1778000"/>
                  <a:pt x="19050" y="1778000"/>
                </a:cubicBezTo>
                <a:lnTo>
                  <a:pt x="19050" y="1778000"/>
                </a:lnTo>
                <a:cubicBezTo>
                  <a:pt x="8509" y="1778000"/>
                  <a:pt x="0" y="1769491"/>
                  <a:pt x="0" y="1758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chip"/>
          <p:cNvSpPr/>
          <p:nvPr/>
        </p:nvSpPr>
        <p:spPr>
          <a:xfrm>
            <a:off x="1130300" y="3759200"/>
            <a:ext cx="381000" cy="381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chip-ring"/>
          <p:cNvSpPr/>
          <p:nvPr/>
        </p:nvSpPr>
        <p:spPr>
          <a:xfrm>
            <a:off x="1130300" y="3759200"/>
            <a:ext cx="381000" cy="381000"/>
          </a:xfrm>
          <a:prstGeom prst="ellipse">
            <a:avLst/>
          </a:prstGeom>
          <a:noFill/>
          <a:ln w="6350" cap="rnd">
            <a:solidFill>
              <a:srgbClr val="2E77C2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icon-share"/>
          <p:cNvSpPr/>
          <p:nvPr/>
        </p:nvSpPr>
        <p:spPr>
          <a:xfrm>
            <a:off x="1294638" y="3915982"/>
            <a:ext cx="48831" cy="67437"/>
          </a:xfrm>
          <a:custGeom>
            <a:avLst/>
            <a:gdLst/>
            <a:ahLst/>
            <a:cxnLst/>
            <a:rect l="0" t="0" r="r" b="b"/>
            <a:pathLst>
              <a:path w="48831" h="67437">
                <a:moveTo>
                  <a:pt x="0" y="26860"/>
                </a:moveTo>
                <a:lnTo>
                  <a:pt x="48831" y="0"/>
                </a:lnTo>
                <a:moveTo>
                  <a:pt x="0" y="40576"/>
                </a:moveTo>
                <a:lnTo>
                  <a:pt x="48831" y="67437"/>
                </a:lnTo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icon-share"/>
          <p:cNvSpPr/>
          <p:nvPr/>
        </p:nvSpPr>
        <p:spPr>
          <a:xfrm>
            <a:off x="1265079" y="3933878"/>
            <a:ext cx="31644" cy="31644"/>
          </a:xfrm>
          <a:prstGeom prst="ellipse">
            <a:avLst/>
          </a:pr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icon-share"/>
          <p:cNvSpPr/>
          <p:nvPr/>
        </p:nvSpPr>
        <p:spPr>
          <a:xfrm>
            <a:off x="1342125" y="3893979"/>
            <a:ext cx="31644" cy="31644"/>
          </a:xfrm>
          <a:prstGeom prst="ellipse">
            <a:avLst/>
          </a:pr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icon-share"/>
          <p:cNvSpPr/>
          <p:nvPr/>
        </p:nvSpPr>
        <p:spPr>
          <a:xfrm>
            <a:off x="1342125" y="3973777"/>
            <a:ext cx="31644" cy="31644"/>
          </a:xfrm>
          <a:prstGeom prst="ellipse">
            <a:avLst/>
          </a:pr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cn-2"/>
          <p:cNvSpPr txBox="1"/>
          <p:nvPr/>
        </p:nvSpPr>
        <p:spPr>
          <a:xfrm>
            <a:off x="1593850" y="3728244"/>
            <a:ext cx="6572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渠道力</a:t>
            </a:r>
          </a:p>
        </p:txBody>
      </p:sp>
      <p:sp>
        <p:nvSpPr>
          <p:cNvPr id="50" name="cs-2"/>
          <p:cNvSpPr txBox="1"/>
          <p:nvPr/>
        </p:nvSpPr>
        <p:spPr>
          <a:xfrm>
            <a:off x="1601470" y="3984466"/>
            <a:ext cx="6610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80 分 / 100</a:t>
            </a:r>
          </a:p>
        </p:txBody>
      </p:sp>
      <p:sp>
        <p:nvSpPr>
          <p:cNvPr id="51" name="cd-2-0"/>
          <p:cNvSpPr/>
          <p:nvPr/>
        </p:nvSpPr>
        <p:spPr>
          <a:xfrm>
            <a:off x="1162050" y="4438650"/>
            <a:ext cx="63500" cy="635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ct-2-0"/>
          <p:cNvSpPr txBox="1"/>
          <p:nvPr/>
        </p:nvSpPr>
        <p:spPr>
          <a:xfrm>
            <a:off x="1282065" y="4371261"/>
            <a:ext cx="80867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覆盖 26 个省</a:t>
            </a:r>
          </a:p>
        </p:txBody>
      </p:sp>
      <p:sp>
        <p:nvSpPr>
          <p:cNvPr id="53" name="cd-2-1"/>
          <p:cNvSpPr/>
          <p:nvPr/>
        </p:nvSpPr>
        <p:spPr>
          <a:xfrm>
            <a:off x="1162050" y="4756150"/>
            <a:ext cx="63500" cy="635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ct-2-1"/>
          <p:cNvSpPr txBox="1"/>
          <p:nvPr/>
        </p:nvSpPr>
        <p:spPr>
          <a:xfrm>
            <a:off x="1282065" y="4688761"/>
            <a:ext cx="10988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伙伴贡献 38% 营收</a:t>
            </a:r>
          </a:p>
        </p:txBody>
      </p:sp>
      <p:sp>
        <p:nvSpPr>
          <p:cNvPr id="55" name="c-3"/>
          <p:cNvSpPr/>
          <p:nvPr/>
        </p:nvSpPr>
        <p:spPr>
          <a:xfrm>
            <a:off x="9207500" y="1587500"/>
            <a:ext cx="2032000" cy="1778000"/>
          </a:xfrm>
          <a:custGeom>
            <a:avLst/>
            <a:gdLst/>
            <a:ahLst/>
            <a:cxnLst/>
            <a:rect l="0" t="0" r="r" b="b"/>
            <a:pathLst>
              <a:path w="2032000" h="1778000">
                <a:moveTo>
                  <a:pt x="139700" y="0"/>
                </a:moveTo>
                <a:lnTo>
                  <a:pt x="1892300" y="0"/>
                </a:lnTo>
                <a:cubicBezTo>
                  <a:pt x="1969453" y="0"/>
                  <a:pt x="2032000" y="62548"/>
                  <a:pt x="2032000" y="139700"/>
                </a:cubicBezTo>
                <a:lnTo>
                  <a:pt x="2032000" y="1638300"/>
                </a:lnTo>
                <a:cubicBezTo>
                  <a:pt x="2032000" y="1715452"/>
                  <a:pt x="1969453" y="1778000"/>
                  <a:pt x="1892300" y="1778000"/>
                </a:cubicBezTo>
                <a:lnTo>
                  <a:pt x="139700" y="1778000"/>
                </a:lnTo>
                <a:cubicBezTo>
                  <a:pt x="62547" y="1778000"/>
                  <a:pt x="0" y="1715452"/>
                  <a:pt x="0" y="16383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cb-3"/>
          <p:cNvSpPr/>
          <p:nvPr/>
        </p:nvSpPr>
        <p:spPr>
          <a:xfrm>
            <a:off x="9207500" y="1587500"/>
            <a:ext cx="38100" cy="1778000"/>
          </a:xfrm>
          <a:custGeom>
            <a:avLst/>
            <a:gdLst/>
            <a:ahLst/>
            <a:cxnLst/>
            <a:rect l="0" t="0" r="r" b="b"/>
            <a:pathLst>
              <a:path w="38100" h="1778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758950"/>
                </a:lnTo>
                <a:cubicBezTo>
                  <a:pt x="38100" y="1769491"/>
                  <a:pt x="29591" y="1778000"/>
                  <a:pt x="19050" y="1778000"/>
                </a:cubicBezTo>
                <a:lnTo>
                  <a:pt x="19050" y="1778000"/>
                </a:lnTo>
                <a:cubicBezTo>
                  <a:pt x="8509" y="1778000"/>
                  <a:pt x="0" y="1769491"/>
                  <a:pt x="0" y="1758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chip"/>
          <p:cNvSpPr/>
          <p:nvPr/>
        </p:nvSpPr>
        <p:spPr>
          <a:xfrm>
            <a:off x="9385300" y="1790700"/>
            <a:ext cx="381000" cy="381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chip-ring"/>
          <p:cNvSpPr/>
          <p:nvPr/>
        </p:nvSpPr>
        <p:spPr>
          <a:xfrm>
            <a:off x="9385300" y="1790700"/>
            <a:ext cx="381000" cy="381000"/>
          </a:xfrm>
          <a:prstGeom prst="ellipse">
            <a:avLst/>
          </a:prstGeom>
          <a:noFill/>
          <a:ln w="6350" cap="rnd">
            <a:solidFill>
              <a:srgbClr val="E0703A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icon-hand"/>
          <p:cNvSpPr/>
          <p:nvPr/>
        </p:nvSpPr>
        <p:spPr>
          <a:xfrm>
            <a:off x="9523778" y="1922018"/>
            <a:ext cx="93297" cy="118364"/>
          </a:xfrm>
          <a:custGeom>
            <a:avLst/>
            <a:gdLst/>
            <a:ahLst/>
            <a:cxnLst/>
            <a:rect l="0" t="0" r="r" b="b"/>
            <a:pathLst>
              <a:path w="93297" h="118364">
                <a:moveTo>
                  <a:pt x="27257" y="63309"/>
                </a:moveTo>
                <a:lnTo>
                  <a:pt x="27257" y="19304"/>
                </a:lnTo>
                <a:cubicBezTo>
                  <a:pt x="27257" y="13208"/>
                  <a:pt x="32210" y="8255"/>
                  <a:pt x="38242" y="8255"/>
                </a:cubicBezTo>
                <a:cubicBezTo>
                  <a:pt x="44338" y="8255"/>
                  <a:pt x="49291" y="13208"/>
                  <a:pt x="49291" y="19304"/>
                </a:cubicBezTo>
                <a:lnTo>
                  <a:pt x="49291" y="53657"/>
                </a:lnTo>
                <a:moveTo>
                  <a:pt x="49291" y="53657"/>
                </a:moveTo>
                <a:lnTo>
                  <a:pt x="49291" y="11049"/>
                </a:lnTo>
                <a:cubicBezTo>
                  <a:pt x="49291" y="4953"/>
                  <a:pt x="54181" y="0"/>
                  <a:pt x="60277" y="0"/>
                </a:cubicBezTo>
                <a:cubicBezTo>
                  <a:pt x="66373" y="0"/>
                  <a:pt x="71262" y="4953"/>
                  <a:pt x="71262" y="11049"/>
                </a:cubicBezTo>
                <a:lnTo>
                  <a:pt x="71262" y="53657"/>
                </a:lnTo>
                <a:moveTo>
                  <a:pt x="71262" y="56451"/>
                </a:moveTo>
                <a:lnTo>
                  <a:pt x="71262" y="27559"/>
                </a:lnTo>
                <a:cubicBezTo>
                  <a:pt x="71262" y="21463"/>
                  <a:pt x="76215" y="16510"/>
                  <a:pt x="82311" y="16510"/>
                </a:cubicBezTo>
                <a:cubicBezTo>
                  <a:pt x="88344" y="16510"/>
                  <a:pt x="93297" y="21463"/>
                  <a:pt x="93297" y="27559"/>
                </a:cubicBezTo>
                <a:lnTo>
                  <a:pt x="93297" y="78422"/>
                </a:lnTo>
                <a:cubicBezTo>
                  <a:pt x="93297" y="100457"/>
                  <a:pt x="76787" y="118364"/>
                  <a:pt x="54752" y="118364"/>
                </a:cubicBezTo>
                <a:cubicBezTo>
                  <a:pt x="36909" y="118364"/>
                  <a:pt x="27257" y="110109"/>
                  <a:pt x="17605" y="96330"/>
                </a:cubicBezTo>
                <a:lnTo>
                  <a:pt x="1095" y="71564"/>
                </a:lnTo>
                <a:cubicBezTo>
                  <a:pt x="-1255" y="66675"/>
                  <a:pt x="269" y="60769"/>
                  <a:pt x="4778" y="57721"/>
                </a:cubicBezTo>
                <a:cubicBezTo>
                  <a:pt x="9223" y="54610"/>
                  <a:pt x="15255" y="55245"/>
                  <a:pt x="19002" y="59182"/>
                </a:cubicBezTo>
                <a:close/>
              </a:path>
            </a:pathLst>
          </a:custGeom>
          <a:noFill/>
          <a:ln w="1270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cn-3"/>
          <p:cNvSpPr txBox="1"/>
          <p:nvPr/>
        </p:nvSpPr>
        <p:spPr>
          <a:xfrm>
            <a:off x="9848850" y="1759744"/>
            <a:ext cx="6572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服务力</a:t>
            </a:r>
          </a:p>
        </p:txBody>
      </p:sp>
      <p:sp>
        <p:nvSpPr>
          <p:cNvPr id="61" name="cs-3"/>
          <p:cNvSpPr txBox="1"/>
          <p:nvPr/>
        </p:nvSpPr>
        <p:spPr>
          <a:xfrm>
            <a:off x="9856470" y="2015966"/>
            <a:ext cx="6610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62 分 / 100</a:t>
            </a:r>
          </a:p>
        </p:txBody>
      </p:sp>
      <p:sp>
        <p:nvSpPr>
          <p:cNvPr id="62" name="cd-3-0"/>
          <p:cNvSpPr/>
          <p:nvPr/>
        </p:nvSpPr>
        <p:spPr>
          <a:xfrm>
            <a:off x="9417050" y="2470150"/>
            <a:ext cx="63500" cy="635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ct-3-0"/>
          <p:cNvSpPr txBox="1"/>
          <p:nvPr/>
        </p:nvSpPr>
        <p:spPr>
          <a:xfrm>
            <a:off x="9537065" y="2402761"/>
            <a:ext cx="97059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首响时间 6 小时</a:t>
            </a:r>
          </a:p>
        </p:txBody>
      </p:sp>
      <p:sp>
        <p:nvSpPr>
          <p:cNvPr id="64" name="cd-3-1"/>
          <p:cNvSpPr/>
          <p:nvPr/>
        </p:nvSpPr>
        <p:spPr>
          <a:xfrm>
            <a:off x="9417050" y="2787650"/>
            <a:ext cx="63500" cy="635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ct-3-1"/>
          <p:cNvSpPr txBox="1"/>
          <p:nvPr/>
        </p:nvSpPr>
        <p:spPr>
          <a:xfrm>
            <a:off x="9537065" y="2720261"/>
            <a:ext cx="80867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续约率仅 71%</a:t>
            </a:r>
          </a:p>
        </p:txBody>
      </p:sp>
      <p:sp>
        <p:nvSpPr>
          <p:cNvPr id="66" name="act"/>
          <p:cNvSpPr/>
          <p:nvPr/>
        </p:nvSpPr>
        <p:spPr>
          <a:xfrm>
            <a:off x="9207500" y="3556000"/>
            <a:ext cx="2032000" cy="1778000"/>
          </a:xfrm>
          <a:custGeom>
            <a:avLst/>
            <a:gdLst/>
            <a:ahLst/>
            <a:cxnLst/>
            <a:rect l="0" t="0" r="r" b="b"/>
            <a:pathLst>
              <a:path w="2032000" h="1778000">
                <a:moveTo>
                  <a:pt x="139700" y="0"/>
                </a:moveTo>
                <a:lnTo>
                  <a:pt x="1892300" y="0"/>
                </a:lnTo>
                <a:cubicBezTo>
                  <a:pt x="1969453" y="0"/>
                  <a:pt x="2032000" y="62548"/>
                  <a:pt x="2032000" y="139700"/>
                </a:cubicBezTo>
                <a:lnTo>
                  <a:pt x="2032000" y="1638300"/>
                </a:lnTo>
                <a:cubicBezTo>
                  <a:pt x="2032000" y="1715452"/>
                  <a:pt x="1969453" y="1778000"/>
                  <a:pt x="1892300" y="1778000"/>
                </a:cubicBezTo>
                <a:lnTo>
                  <a:pt x="139700" y="1778000"/>
                </a:lnTo>
                <a:cubicBezTo>
                  <a:pt x="62547" y="1778000"/>
                  <a:pt x="0" y="1715452"/>
                  <a:pt x="0" y="16383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E8793F"/>
              </a:gs>
              <a:gs pos="100000">
                <a:srgbClr val="C95A22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act-h"/>
          <p:cNvSpPr txBox="1"/>
          <p:nvPr/>
        </p:nvSpPr>
        <p:spPr>
          <a:xfrm>
            <a:off x="9378950" y="36901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先补短腿</a:t>
            </a:r>
          </a:p>
        </p:txBody>
      </p:sp>
      <p:sp>
        <p:nvSpPr>
          <p:cNvPr id="68" name="an-0"/>
          <p:cNvSpPr txBox="1"/>
          <p:nvPr/>
        </p:nvSpPr>
        <p:spPr>
          <a:xfrm>
            <a:off x="9384284" y="412604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FFE3D2"/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69" name="at-0"/>
          <p:cNvSpPr txBox="1"/>
          <p:nvPr/>
        </p:nvSpPr>
        <p:spPr>
          <a:xfrm>
            <a:off x="9638665" y="4129961"/>
            <a:ext cx="97059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首响压到 2 小时</a:t>
            </a:r>
          </a:p>
        </p:txBody>
      </p:sp>
      <p:sp>
        <p:nvSpPr>
          <p:cNvPr id="70" name="an-1"/>
          <p:cNvSpPr txBox="1"/>
          <p:nvPr/>
        </p:nvSpPr>
        <p:spPr>
          <a:xfrm>
            <a:off x="9384284" y="444354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FFE3D2"/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71" name="at-1"/>
          <p:cNvSpPr txBox="1"/>
          <p:nvPr/>
        </p:nvSpPr>
        <p:spPr>
          <a:xfrm>
            <a:off x="9638665" y="4447461"/>
            <a:ext cx="89122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设客户成功经理</a:t>
            </a:r>
          </a:p>
        </p:txBody>
      </p:sp>
      <p:sp>
        <p:nvSpPr>
          <p:cNvPr id="72" name="an-2"/>
          <p:cNvSpPr txBox="1"/>
          <p:nvPr/>
        </p:nvSpPr>
        <p:spPr>
          <a:xfrm>
            <a:off x="9384284" y="476104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FFE3D2"/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73" name="at-2"/>
          <p:cNvSpPr txBox="1"/>
          <p:nvPr/>
        </p:nvSpPr>
        <p:spPr>
          <a:xfrm>
            <a:off x="9638665" y="4764961"/>
            <a:ext cx="9217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续约率目标 85%</a:t>
            </a:r>
          </a:p>
        </p:txBody>
      </p:sp>
      <p:sp>
        <p:nvSpPr>
          <p:cNvPr id="74" name="sum"/>
          <p:cNvSpPr/>
          <p:nvPr/>
        </p:nvSpPr>
        <p:spPr>
          <a:xfrm>
            <a:off x="952500" y="5778500"/>
            <a:ext cx="10287000" cy="419100"/>
          </a:xfrm>
          <a:custGeom>
            <a:avLst/>
            <a:gdLst/>
            <a:ahLst/>
            <a:cxnLst/>
            <a:rect l="0" t="0" r="r" b="b"/>
            <a:pathLst>
              <a:path w="10287000" h="4191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30200"/>
                </a:lnTo>
                <a:cubicBezTo>
                  <a:pt x="10287000" y="379286"/>
                  <a:pt x="10247186" y="419100"/>
                  <a:pt x="10198100" y="419100"/>
                </a:cubicBezTo>
                <a:lnTo>
                  <a:pt x="88900" y="419100"/>
                </a:lnTo>
                <a:cubicBezTo>
                  <a:pt x="39815" y="419100"/>
                  <a:pt x="0" y="379286"/>
                  <a:pt x="0" y="3302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sum-bar"/>
          <p:cNvSpPr/>
          <p:nvPr/>
        </p:nvSpPr>
        <p:spPr>
          <a:xfrm>
            <a:off x="952500" y="5778500"/>
            <a:ext cx="31750" cy="4191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sum-h"/>
          <p:cNvSpPr txBox="1"/>
          <p:nvPr/>
        </p:nvSpPr>
        <p:spPr>
          <a:xfrm>
            <a:off x="1142746" y="5911882"/>
            <a:ext cx="3384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判断</a:t>
            </a:r>
          </a:p>
        </p:txBody>
      </p:sp>
      <p:sp>
        <p:nvSpPr>
          <p:cNvPr id="77" name="sum-p"/>
          <p:cNvSpPr txBox="1"/>
          <p:nvPr/>
        </p:nvSpPr>
        <p:spPr>
          <a:xfrm>
            <a:off x="1637665" y="5907961"/>
            <a:ext cx="423957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服务力比另两条腿矮了近 20 分——不补服务，拉来再多新客也会在续约环节漏掉。</a:t>
            </a:r>
          </a:p>
        </p:txBody>
      </p:sp>
      <p:cxnSp>
        <p:nvCxnSpPr>
          <p:cNvPr id="78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foot-l"/>
          <p:cNvSpPr txBox="1"/>
          <p:nvPr/>
        </p:nvSpPr>
        <p:spPr>
          <a:xfrm>
            <a:off x="573532" y="6532308"/>
            <a:ext cx="9469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三脚凳 · 增长支撑</a:t>
            </a:r>
          </a:p>
        </p:txBody>
      </p:sp>
      <p:sp>
        <p:nvSpPr>
          <p:cNvPr id="80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把金字塔倒过来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53695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INVERTED PYRAMID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666099" y="673132"/>
            <a:ext cx="29546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客户在最上面，一线托着客户，管理层在最底下托着一线</a:t>
            </a:r>
          </a:p>
        </p:txBody>
      </p:sp>
      <p:sp>
        <p:nvSpPr>
          <p:cNvPr id="10" name="l-1"/>
          <p:cNvSpPr/>
          <p:nvPr/>
        </p:nvSpPr>
        <p:spPr>
          <a:xfrm>
            <a:off x="3596109" y="1524000"/>
            <a:ext cx="4999782" cy="946150"/>
          </a:xfrm>
          <a:custGeom>
            <a:avLst/>
            <a:gdLst/>
            <a:ahLst/>
            <a:cxnLst/>
            <a:rect l="0" t="0" r="r" b="b"/>
            <a:pathLst>
              <a:path w="4999782" h="946150">
                <a:moveTo>
                  <a:pt x="21422" y="96329"/>
                </a:moveTo>
                <a:quadBezTo>
                  <a:pt x="-40109" y="0"/>
                  <a:pt x="74191" y="0"/>
                </a:quadBezTo>
                <a:lnTo>
                  <a:pt x="4925591" y="0"/>
                </a:lnTo>
                <a:quadBezTo>
                  <a:pt x="5039891" y="0"/>
                  <a:pt x="4978359" y="96329"/>
                </a:quadBezTo>
                <a:lnTo>
                  <a:pt x="4496839" y="849820"/>
                </a:lnTo>
                <a:quadBezTo>
                  <a:pt x="4435307" y="946150"/>
                  <a:pt x="4321007" y="946150"/>
                </a:quadBezTo>
                <a:lnTo>
                  <a:pt x="678774" y="946150"/>
                </a:lnTo>
                <a:quadBezTo>
                  <a:pt x="564474" y="946150"/>
                  <a:pt x="502943" y="849820"/>
                </a:quadBezTo>
                <a:close/>
              </a:path>
            </a:pathLst>
          </a:custGeom>
          <a:gradFill rotWithShape="1">
            <a:gsLst>
              <a:gs pos="0">
                <a:srgbClr val="E48152"/>
              </a:gs>
              <a:gs pos="100000">
                <a:srgbClr val="E0703A"/>
              </a:gs>
            </a:gsLst>
            <a:lin ang="54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ln-1"/>
          <p:cNvSpPr txBox="1"/>
          <p:nvPr/>
        </p:nvSpPr>
        <p:spPr>
          <a:xfrm>
            <a:off x="5794375" y="1711515"/>
            <a:ext cx="60325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客户</a:t>
            </a:r>
          </a:p>
        </p:txBody>
      </p:sp>
      <p:sp>
        <p:nvSpPr>
          <p:cNvPr id="12" name="le-1"/>
          <p:cNvSpPr txBox="1"/>
          <p:nvPr/>
        </p:nvSpPr>
        <p:spPr>
          <a:xfrm>
            <a:off x="5780659" y="2027491"/>
            <a:ext cx="6306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0">
                <a:solidFill>
                  <a:srgbClr val="E3EDF9"/>
                </a:solidFill>
                <a:latin typeface="Arial"/>
                <a:ea typeface="Arial"/>
                <a:cs typeface="Arial"/>
              </a:rPr>
              <a:t>CUSTOMER</a:t>
            </a:r>
          </a:p>
        </p:txBody>
      </p:sp>
      <p:cxnSp>
        <p:nvCxnSpPr>
          <p:cNvPr id="13" name="dl-1"/>
          <p:cNvCxnSpPr/>
          <p:nvPr/>
        </p:nvCxnSpPr>
        <p:spPr>
          <a:xfrm>
            <a:off x="8422616" y="1997075"/>
            <a:ext cx="594384" cy="0"/>
          </a:xfrm>
          <a:prstGeom prst="line">
            <a:avLst/>
          </a:prstGeom>
          <a:ln w="12700" cap="rnd">
            <a:solidFill>
              <a:srgbClr val="E0703A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c-1"/>
          <p:cNvSpPr/>
          <p:nvPr/>
        </p:nvSpPr>
        <p:spPr>
          <a:xfrm>
            <a:off x="9080500" y="1628775"/>
            <a:ext cx="2159000" cy="736600"/>
          </a:xfrm>
          <a:custGeom>
            <a:avLst/>
            <a:gdLst/>
            <a:ahLst/>
            <a:cxnLst/>
            <a:rect l="0" t="0" r="r" b="b"/>
            <a:pathLst>
              <a:path w="2159000" h="736600">
                <a:moveTo>
                  <a:pt x="127000" y="0"/>
                </a:moveTo>
                <a:lnTo>
                  <a:pt x="2032000" y="0"/>
                </a:lnTo>
                <a:cubicBezTo>
                  <a:pt x="2102167" y="0"/>
                  <a:pt x="2159000" y="56832"/>
                  <a:pt x="2159000" y="127000"/>
                </a:cubicBezTo>
                <a:lnTo>
                  <a:pt x="2159000" y="609600"/>
                </a:lnTo>
                <a:cubicBezTo>
                  <a:pt x="2159000" y="679768"/>
                  <a:pt x="2102167" y="736600"/>
                  <a:pt x="2032000" y="736600"/>
                </a:cubicBezTo>
                <a:lnTo>
                  <a:pt x="127000" y="736600"/>
                </a:lnTo>
                <a:cubicBezTo>
                  <a:pt x="56833" y="736600"/>
                  <a:pt x="0" y="679768"/>
                  <a:pt x="0" y="6096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cb-1"/>
          <p:cNvSpPr/>
          <p:nvPr/>
        </p:nvSpPr>
        <p:spPr>
          <a:xfrm>
            <a:off x="9080500" y="1628775"/>
            <a:ext cx="38100" cy="736600"/>
          </a:xfrm>
          <a:custGeom>
            <a:avLst/>
            <a:gdLst/>
            <a:ahLst/>
            <a:cxnLst/>
            <a:rect l="0" t="0" r="r" b="b"/>
            <a:pathLst>
              <a:path w="38100" h="7366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717550"/>
                </a:lnTo>
                <a:cubicBezTo>
                  <a:pt x="38100" y="728091"/>
                  <a:pt x="29591" y="736600"/>
                  <a:pt x="19050" y="736600"/>
                </a:cubicBezTo>
                <a:lnTo>
                  <a:pt x="19050" y="736600"/>
                </a:lnTo>
                <a:cubicBezTo>
                  <a:pt x="8509" y="736600"/>
                  <a:pt x="0" y="728091"/>
                  <a:pt x="0" y="7175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icon-star"/>
          <p:cNvSpPr/>
          <p:nvPr/>
        </p:nvSpPr>
        <p:spPr>
          <a:xfrm>
            <a:off x="9339516" y="1850390"/>
            <a:ext cx="116967" cy="111443"/>
          </a:xfrm>
          <a:custGeom>
            <a:avLst/>
            <a:gdLst/>
            <a:ahLst/>
            <a:cxnLst/>
            <a:rect l="0" t="0" r="r" b="b"/>
            <a:pathLst>
              <a:path w="116967" h="111443">
                <a:moveTo>
                  <a:pt x="58484" y="0"/>
                </a:moveTo>
                <a:lnTo>
                  <a:pt x="76390" y="37148"/>
                </a:lnTo>
                <a:lnTo>
                  <a:pt x="116967" y="42672"/>
                </a:lnTo>
                <a:lnTo>
                  <a:pt x="87376" y="70866"/>
                </a:lnTo>
                <a:lnTo>
                  <a:pt x="94933" y="111443"/>
                </a:lnTo>
                <a:lnTo>
                  <a:pt x="58484" y="91504"/>
                </a:lnTo>
                <a:lnTo>
                  <a:pt x="22035" y="111443"/>
                </a:lnTo>
                <a:lnTo>
                  <a:pt x="29591" y="70866"/>
                </a:lnTo>
                <a:lnTo>
                  <a:pt x="0" y="42672"/>
                </a:lnTo>
                <a:lnTo>
                  <a:pt x="40577" y="37148"/>
                </a:lnTo>
                <a:close/>
              </a:path>
            </a:pathLst>
          </a:custGeom>
          <a:noFill/>
          <a:ln w="1270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ct-1"/>
          <p:cNvSpPr txBox="1"/>
          <p:nvPr/>
        </p:nvSpPr>
        <p:spPr>
          <a:xfrm>
            <a:off x="9560560" y="1802130"/>
            <a:ext cx="3937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</a:t>
            </a:r>
          </a:p>
        </p:txBody>
      </p:sp>
      <p:sp>
        <p:nvSpPr>
          <p:cNvPr id="18" name="cd-1"/>
          <p:cNvSpPr txBox="1"/>
          <p:nvPr/>
        </p:nvSpPr>
        <p:spPr>
          <a:xfrm>
            <a:off x="9246489" y="2078720"/>
            <a:ext cx="108553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提出需求，也评判我们</a:t>
            </a:r>
          </a:p>
        </p:txBody>
      </p:sp>
      <p:sp>
        <p:nvSpPr>
          <p:cNvPr id="19" name="l-2"/>
          <p:cNvSpPr/>
          <p:nvPr/>
        </p:nvSpPr>
        <p:spPr>
          <a:xfrm>
            <a:off x="4241269" y="2533650"/>
            <a:ext cx="3709462" cy="946150"/>
          </a:xfrm>
          <a:custGeom>
            <a:avLst/>
            <a:gdLst/>
            <a:ahLst/>
            <a:cxnLst/>
            <a:rect l="0" t="0" r="r" b="b"/>
            <a:pathLst>
              <a:path w="3709462" h="946150">
                <a:moveTo>
                  <a:pt x="21422" y="96330"/>
                </a:moveTo>
                <a:quadBezTo>
                  <a:pt x="-40109" y="0"/>
                  <a:pt x="74191" y="0"/>
                </a:quadBezTo>
                <a:lnTo>
                  <a:pt x="3635271" y="0"/>
                </a:lnTo>
                <a:quadBezTo>
                  <a:pt x="3749571" y="0"/>
                  <a:pt x="3688039" y="96330"/>
                </a:quadBezTo>
                <a:lnTo>
                  <a:pt x="3206582" y="849821"/>
                </a:lnTo>
                <a:quadBezTo>
                  <a:pt x="3144987" y="946150"/>
                  <a:pt x="3030687" y="946150"/>
                </a:quadBezTo>
                <a:lnTo>
                  <a:pt x="678774" y="946150"/>
                </a:lnTo>
                <a:quadBezTo>
                  <a:pt x="564474" y="946150"/>
                  <a:pt x="502879" y="849821"/>
                </a:quadBezTo>
                <a:close/>
              </a:path>
            </a:pathLst>
          </a:custGeom>
          <a:gradFill rotWithShape="1">
            <a:gsLst>
              <a:gs pos="0">
                <a:srgbClr val="366EB2"/>
              </a:gs>
              <a:gs pos="100000">
                <a:srgbClr val="1B5AA8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ln-2"/>
          <p:cNvSpPr txBox="1"/>
          <p:nvPr/>
        </p:nvSpPr>
        <p:spPr>
          <a:xfrm>
            <a:off x="5578475" y="2721166"/>
            <a:ext cx="103505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一线团队</a:t>
            </a:r>
          </a:p>
        </p:txBody>
      </p:sp>
      <p:sp>
        <p:nvSpPr>
          <p:cNvPr id="21" name="le-2"/>
          <p:cNvSpPr txBox="1"/>
          <p:nvPr/>
        </p:nvSpPr>
        <p:spPr>
          <a:xfrm>
            <a:off x="5746242" y="3037142"/>
            <a:ext cx="69951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0">
                <a:solidFill>
                  <a:srgbClr val="E3EDF9"/>
                </a:solidFill>
                <a:latin typeface="Arial"/>
                <a:ea typeface="Arial"/>
                <a:cs typeface="Arial"/>
              </a:rPr>
              <a:t>FRONTLINE</a:t>
            </a:r>
          </a:p>
        </p:txBody>
      </p:sp>
      <p:cxnSp>
        <p:nvCxnSpPr>
          <p:cNvPr id="22" name="dl-2"/>
          <p:cNvCxnSpPr/>
          <p:nvPr/>
        </p:nvCxnSpPr>
        <p:spPr>
          <a:xfrm>
            <a:off x="7777472" y="3006725"/>
            <a:ext cx="1239528" cy="0"/>
          </a:xfrm>
          <a:prstGeom prst="line">
            <a:avLst/>
          </a:prstGeom>
          <a:ln w="12700" cap="rnd">
            <a:solidFill>
              <a:srgbClr val="1B5AA8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c-2"/>
          <p:cNvSpPr/>
          <p:nvPr/>
        </p:nvSpPr>
        <p:spPr>
          <a:xfrm>
            <a:off x="9080500" y="2638425"/>
            <a:ext cx="2159000" cy="736600"/>
          </a:xfrm>
          <a:custGeom>
            <a:avLst/>
            <a:gdLst/>
            <a:ahLst/>
            <a:cxnLst/>
            <a:rect l="0" t="0" r="r" b="b"/>
            <a:pathLst>
              <a:path w="2159000" h="736600">
                <a:moveTo>
                  <a:pt x="127000" y="0"/>
                </a:moveTo>
                <a:lnTo>
                  <a:pt x="2032000" y="0"/>
                </a:lnTo>
                <a:cubicBezTo>
                  <a:pt x="2102167" y="0"/>
                  <a:pt x="2159000" y="56832"/>
                  <a:pt x="2159000" y="127000"/>
                </a:cubicBezTo>
                <a:lnTo>
                  <a:pt x="2159000" y="609600"/>
                </a:lnTo>
                <a:cubicBezTo>
                  <a:pt x="2159000" y="679767"/>
                  <a:pt x="2102167" y="736600"/>
                  <a:pt x="2032000" y="736600"/>
                </a:cubicBezTo>
                <a:lnTo>
                  <a:pt x="127000" y="736600"/>
                </a:lnTo>
                <a:cubicBezTo>
                  <a:pt x="56833" y="736600"/>
                  <a:pt x="0" y="679767"/>
                  <a:pt x="0" y="6096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cb-2"/>
          <p:cNvSpPr/>
          <p:nvPr/>
        </p:nvSpPr>
        <p:spPr>
          <a:xfrm>
            <a:off x="9080500" y="2638425"/>
            <a:ext cx="38100" cy="736600"/>
          </a:xfrm>
          <a:custGeom>
            <a:avLst/>
            <a:gdLst/>
            <a:ahLst/>
            <a:cxnLst/>
            <a:rect l="0" t="0" r="r" b="b"/>
            <a:pathLst>
              <a:path w="38100" h="7366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717550"/>
                </a:lnTo>
                <a:cubicBezTo>
                  <a:pt x="38100" y="728091"/>
                  <a:pt x="29591" y="736600"/>
                  <a:pt x="19050" y="736600"/>
                </a:cubicBezTo>
                <a:lnTo>
                  <a:pt x="19050" y="736600"/>
                </a:lnTo>
                <a:cubicBezTo>
                  <a:pt x="8509" y="736600"/>
                  <a:pt x="0" y="728091"/>
                  <a:pt x="0" y="7175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icon-people"/>
          <p:cNvSpPr/>
          <p:nvPr/>
        </p:nvSpPr>
        <p:spPr>
          <a:xfrm>
            <a:off x="9340215" y="2935732"/>
            <a:ext cx="116967" cy="33020"/>
          </a:xfrm>
          <a:custGeom>
            <a:avLst/>
            <a:gdLst/>
            <a:ahLst/>
            <a:cxnLst/>
            <a:rect l="0" t="0" r="r" b="b"/>
            <a:pathLst>
              <a:path w="116967" h="33020">
                <a:moveTo>
                  <a:pt x="0" y="33020"/>
                </a:moveTo>
                <a:cubicBezTo>
                  <a:pt x="0" y="12382"/>
                  <a:pt x="17208" y="0"/>
                  <a:pt x="37147" y="0"/>
                </a:cubicBezTo>
                <a:cubicBezTo>
                  <a:pt x="57087" y="0"/>
                  <a:pt x="74295" y="12382"/>
                  <a:pt x="74295" y="33020"/>
                </a:cubicBezTo>
                <a:moveTo>
                  <a:pt x="88074" y="2731"/>
                </a:moveTo>
                <a:cubicBezTo>
                  <a:pt x="105918" y="4762"/>
                  <a:pt x="116967" y="17145"/>
                  <a:pt x="116967" y="33020"/>
                </a:cubicBez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icon-people"/>
          <p:cNvSpPr/>
          <p:nvPr/>
        </p:nvSpPr>
        <p:spPr>
          <a:xfrm>
            <a:off x="9355349" y="2876550"/>
            <a:ext cx="44027" cy="44027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icon-people"/>
          <p:cNvSpPr/>
          <p:nvPr/>
        </p:nvSpPr>
        <p:spPr>
          <a:xfrm>
            <a:off x="9414510" y="2876550"/>
            <a:ext cx="35772" cy="35772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ct-2"/>
          <p:cNvSpPr txBox="1"/>
          <p:nvPr/>
        </p:nvSpPr>
        <p:spPr>
          <a:xfrm>
            <a:off x="9560560" y="2811780"/>
            <a:ext cx="6731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一线团队</a:t>
            </a:r>
          </a:p>
        </p:txBody>
      </p:sp>
      <p:sp>
        <p:nvSpPr>
          <p:cNvPr id="29" name="cd-2"/>
          <p:cNvSpPr txBox="1"/>
          <p:nvPr/>
        </p:nvSpPr>
        <p:spPr>
          <a:xfrm>
            <a:off x="9246489" y="3088370"/>
            <a:ext cx="1584007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销售、交付、客服，直接面对客户</a:t>
            </a:r>
          </a:p>
        </p:txBody>
      </p:sp>
      <p:sp>
        <p:nvSpPr>
          <p:cNvPr id="30" name="l-3"/>
          <p:cNvSpPr/>
          <p:nvPr/>
        </p:nvSpPr>
        <p:spPr>
          <a:xfrm>
            <a:off x="4886390" y="3543300"/>
            <a:ext cx="2419219" cy="946150"/>
          </a:xfrm>
          <a:custGeom>
            <a:avLst/>
            <a:gdLst/>
            <a:ahLst/>
            <a:cxnLst/>
            <a:rect l="0" t="0" r="r" b="b"/>
            <a:pathLst>
              <a:path w="2419219" h="946150">
                <a:moveTo>
                  <a:pt x="21461" y="96329"/>
                </a:moveTo>
                <a:quadBezTo>
                  <a:pt x="-40134" y="0"/>
                  <a:pt x="74166" y="0"/>
                </a:quadBezTo>
                <a:lnTo>
                  <a:pt x="2345053" y="0"/>
                </a:lnTo>
                <a:quadBezTo>
                  <a:pt x="2459353" y="0"/>
                  <a:pt x="2397758" y="96329"/>
                </a:quadBezTo>
                <a:lnTo>
                  <a:pt x="1916301" y="849821"/>
                </a:lnTo>
                <a:quadBezTo>
                  <a:pt x="1854770" y="946150"/>
                  <a:pt x="1740470" y="946150"/>
                </a:quadBezTo>
                <a:lnTo>
                  <a:pt x="678750" y="946150"/>
                </a:lnTo>
                <a:quadBezTo>
                  <a:pt x="564450" y="946150"/>
                  <a:pt x="502918" y="849821"/>
                </a:quadBezTo>
                <a:close/>
              </a:path>
            </a:pathLst>
          </a:custGeom>
          <a:gradFill rotWithShape="1">
            <a:gsLst>
              <a:gs pos="0">
                <a:srgbClr val="4787C9"/>
              </a:gs>
              <a:gs pos="100000">
                <a:srgbClr val="2E77C2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ln-3"/>
          <p:cNvSpPr txBox="1"/>
          <p:nvPr/>
        </p:nvSpPr>
        <p:spPr>
          <a:xfrm>
            <a:off x="5578475" y="3730816"/>
            <a:ext cx="103505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中层管理</a:t>
            </a:r>
          </a:p>
        </p:txBody>
      </p:sp>
      <p:sp>
        <p:nvSpPr>
          <p:cNvPr id="32" name="le-3"/>
          <p:cNvSpPr txBox="1"/>
          <p:nvPr/>
        </p:nvSpPr>
        <p:spPr>
          <a:xfrm>
            <a:off x="5780659" y="4046792"/>
            <a:ext cx="6306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0">
                <a:solidFill>
                  <a:srgbClr val="E3EDF9"/>
                </a:solidFill>
                <a:latin typeface="Arial"/>
                <a:ea typeface="Arial"/>
                <a:cs typeface="Arial"/>
              </a:rPr>
              <a:t>MANAGERS</a:t>
            </a:r>
          </a:p>
        </p:txBody>
      </p:sp>
      <p:cxnSp>
        <p:nvCxnSpPr>
          <p:cNvPr id="33" name="dl-3"/>
          <p:cNvCxnSpPr/>
          <p:nvPr/>
        </p:nvCxnSpPr>
        <p:spPr>
          <a:xfrm>
            <a:off x="7132328" y="4016375"/>
            <a:ext cx="1884672" cy="0"/>
          </a:xfrm>
          <a:prstGeom prst="line">
            <a:avLst/>
          </a:prstGeom>
          <a:ln w="12700" cap="rnd">
            <a:solidFill>
              <a:srgbClr val="2E77C2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c-3"/>
          <p:cNvSpPr/>
          <p:nvPr/>
        </p:nvSpPr>
        <p:spPr>
          <a:xfrm>
            <a:off x="9080500" y="3648075"/>
            <a:ext cx="2159000" cy="736600"/>
          </a:xfrm>
          <a:custGeom>
            <a:avLst/>
            <a:gdLst/>
            <a:ahLst/>
            <a:cxnLst/>
            <a:rect l="0" t="0" r="r" b="b"/>
            <a:pathLst>
              <a:path w="2159000" h="736600">
                <a:moveTo>
                  <a:pt x="127000" y="0"/>
                </a:moveTo>
                <a:lnTo>
                  <a:pt x="2032000" y="0"/>
                </a:lnTo>
                <a:cubicBezTo>
                  <a:pt x="2102167" y="0"/>
                  <a:pt x="2159000" y="56833"/>
                  <a:pt x="2159000" y="127000"/>
                </a:cubicBezTo>
                <a:lnTo>
                  <a:pt x="2159000" y="609600"/>
                </a:lnTo>
                <a:cubicBezTo>
                  <a:pt x="2159000" y="679767"/>
                  <a:pt x="2102167" y="736600"/>
                  <a:pt x="2032000" y="736600"/>
                </a:cubicBezTo>
                <a:lnTo>
                  <a:pt x="127000" y="736600"/>
                </a:lnTo>
                <a:cubicBezTo>
                  <a:pt x="56833" y="736600"/>
                  <a:pt x="0" y="679767"/>
                  <a:pt x="0" y="6096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cb-3"/>
          <p:cNvSpPr/>
          <p:nvPr/>
        </p:nvSpPr>
        <p:spPr>
          <a:xfrm>
            <a:off x="9080500" y="3648075"/>
            <a:ext cx="38100" cy="736600"/>
          </a:xfrm>
          <a:custGeom>
            <a:avLst/>
            <a:gdLst/>
            <a:ahLst/>
            <a:cxnLst/>
            <a:rect l="0" t="0" r="r" b="b"/>
            <a:pathLst>
              <a:path w="38100" h="7366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717550"/>
                </a:lnTo>
                <a:cubicBezTo>
                  <a:pt x="38100" y="728091"/>
                  <a:pt x="29591" y="736600"/>
                  <a:pt x="19050" y="736600"/>
                </a:cubicBezTo>
                <a:lnTo>
                  <a:pt x="19050" y="736600"/>
                </a:lnTo>
                <a:cubicBezTo>
                  <a:pt x="8509" y="736600"/>
                  <a:pt x="0" y="728091"/>
                  <a:pt x="0" y="7175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icon-tools"/>
          <p:cNvSpPr/>
          <p:nvPr/>
        </p:nvSpPr>
        <p:spPr>
          <a:xfrm>
            <a:off x="9345768" y="3871974"/>
            <a:ext cx="97635" cy="96776"/>
          </a:xfrm>
          <a:custGeom>
            <a:avLst/>
            <a:gdLst/>
            <a:ahLst/>
            <a:cxnLst/>
            <a:rect l="0" t="0" r="r" b="b"/>
            <a:pathLst>
              <a:path w="97635" h="96776">
                <a:moveTo>
                  <a:pt x="17815" y="3240"/>
                </a:moveTo>
                <a:lnTo>
                  <a:pt x="38453" y="23878"/>
                </a:lnTo>
                <a:lnTo>
                  <a:pt x="23340" y="38991"/>
                </a:lnTo>
                <a:lnTo>
                  <a:pt x="2702" y="18353"/>
                </a:lnTo>
                <a:cubicBezTo>
                  <a:pt x="-2251" y="28704"/>
                  <a:pt x="-282" y="41086"/>
                  <a:pt x="7655" y="49341"/>
                </a:cubicBezTo>
                <a:cubicBezTo>
                  <a:pt x="15656" y="57660"/>
                  <a:pt x="27912" y="60073"/>
                  <a:pt x="38453" y="55501"/>
                </a:cubicBezTo>
                <a:lnTo>
                  <a:pt x="79728" y="96776"/>
                </a:lnTo>
                <a:lnTo>
                  <a:pt x="97635" y="78869"/>
                </a:lnTo>
                <a:lnTo>
                  <a:pt x="56360" y="37594"/>
                </a:lnTo>
                <a:cubicBezTo>
                  <a:pt x="60614" y="26862"/>
                  <a:pt x="57693" y="14670"/>
                  <a:pt x="49121" y="6987"/>
                </a:cubicBezTo>
                <a:cubicBezTo>
                  <a:pt x="40485" y="-697"/>
                  <a:pt x="28039" y="-2221"/>
                  <a:pt x="17815" y="3240"/>
                </a:cubicBezTo>
                <a:close/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ct-3"/>
          <p:cNvSpPr txBox="1"/>
          <p:nvPr/>
        </p:nvSpPr>
        <p:spPr>
          <a:xfrm>
            <a:off x="9560560" y="3821430"/>
            <a:ext cx="6731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中层管理</a:t>
            </a:r>
          </a:p>
        </p:txBody>
      </p:sp>
      <p:sp>
        <p:nvSpPr>
          <p:cNvPr id="38" name="cd-3"/>
          <p:cNvSpPr txBox="1"/>
          <p:nvPr/>
        </p:nvSpPr>
        <p:spPr>
          <a:xfrm>
            <a:off x="9246489" y="4098020"/>
            <a:ext cx="108553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清障碍、给资源、带人</a:t>
            </a:r>
          </a:p>
        </p:txBody>
      </p:sp>
      <p:sp>
        <p:nvSpPr>
          <p:cNvPr id="39" name="l-4"/>
          <p:cNvSpPr/>
          <p:nvPr/>
        </p:nvSpPr>
        <p:spPr>
          <a:xfrm>
            <a:off x="5531526" y="4552950"/>
            <a:ext cx="1128949" cy="897985"/>
          </a:xfrm>
          <a:custGeom>
            <a:avLst/>
            <a:gdLst/>
            <a:ahLst/>
            <a:cxnLst/>
            <a:rect l="0" t="0" r="r" b="b"/>
            <a:pathLst>
              <a:path w="1128949" h="897985">
                <a:moveTo>
                  <a:pt x="21422" y="96329"/>
                </a:moveTo>
                <a:quadBezTo>
                  <a:pt x="-40109" y="0"/>
                  <a:pt x="74191" y="0"/>
                </a:quadBezTo>
                <a:lnTo>
                  <a:pt x="1054758" y="0"/>
                </a:lnTo>
                <a:quadBezTo>
                  <a:pt x="1169058" y="0"/>
                  <a:pt x="1107526" y="96329"/>
                </a:quadBezTo>
                <a:lnTo>
                  <a:pt x="626006" y="849821"/>
                </a:lnTo>
                <a:quadBezTo>
                  <a:pt x="564474" y="946150"/>
                  <a:pt x="502943" y="849821"/>
                </a:quadBezTo>
                <a:close/>
              </a:path>
            </a:pathLst>
          </a:custGeom>
          <a:gradFill rotWithShape="1">
            <a:gsLst>
              <a:gs pos="0">
                <a:srgbClr val="5CA1DC"/>
              </a:gs>
              <a:gs pos="100000">
                <a:srgbClr val="4694D7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ln-4"/>
          <p:cNvSpPr txBox="1"/>
          <p:nvPr/>
        </p:nvSpPr>
        <p:spPr>
          <a:xfrm>
            <a:off x="5849620" y="4711827"/>
            <a:ext cx="4927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高管</a:t>
            </a:r>
          </a:p>
        </p:txBody>
      </p:sp>
      <p:sp>
        <p:nvSpPr>
          <p:cNvPr id="41" name="le-4"/>
          <p:cNvSpPr txBox="1"/>
          <p:nvPr/>
        </p:nvSpPr>
        <p:spPr>
          <a:xfrm>
            <a:off x="5815076" y="4980750"/>
            <a:ext cx="56184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0">
                <a:solidFill>
                  <a:srgbClr val="E3EDF9"/>
                </a:solidFill>
                <a:latin typeface="Arial"/>
                <a:ea typeface="Arial"/>
                <a:cs typeface="Arial"/>
              </a:rPr>
              <a:t>LEADERS</a:t>
            </a:r>
          </a:p>
        </p:txBody>
      </p:sp>
      <p:cxnSp>
        <p:nvCxnSpPr>
          <p:cNvPr id="42" name="dl-4"/>
          <p:cNvCxnSpPr/>
          <p:nvPr/>
        </p:nvCxnSpPr>
        <p:spPr>
          <a:xfrm>
            <a:off x="6487184" y="5026025"/>
            <a:ext cx="2529816" cy="0"/>
          </a:xfrm>
          <a:prstGeom prst="line">
            <a:avLst/>
          </a:prstGeom>
          <a:ln w="12700" cap="rnd">
            <a:solidFill>
              <a:srgbClr val="4694D7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c-4"/>
          <p:cNvSpPr/>
          <p:nvPr/>
        </p:nvSpPr>
        <p:spPr>
          <a:xfrm>
            <a:off x="9080500" y="4657725"/>
            <a:ext cx="2159000" cy="736600"/>
          </a:xfrm>
          <a:custGeom>
            <a:avLst/>
            <a:gdLst/>
            <a:ahLst/>
            <a:cxnLst/>
            <a:rect l="0" t="0" r="r" b="b"/>
            <a:pathLst>
              <a:path w="2159000" h="736600">
                <a:moveTo>
                  <a:pt x="127000" y="0"/>
                </a:moveTo>
                <a:lnTo>
                  <a:pt x="2032000" y="0"/>
                </a:lnTo>
                <a:cubicBezTo>
                  <a:pt x="2102167" y="0"/>
                  <a:pt x="2159000" y="56833"/>
                  <a:pt x="2159000" y="127000"/>
                </a:cubicBezTo>
                <a:lnTo>
                  <a:pt x="2159000" y="609600"/>
                </a:lnTo>
                <a:cubicBezTo>
                  <a:pt x="2159000" y="679767"/>
                  <a:pt x="2102167" y="736600"/>
                  <a:pt x="2032000" y="736600"/>
                </a:cubicBezTo>
                <a:lnTo>
                  <a:pt x="127000" y="736600"/>
                </a:lnTo>
                <a:cubicBezTo>
                  <a:pt x="56833" y="736600"/>
                  <a:pt x="0" y="679767"/>
                  <a:pt x="0" y="6096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cb-4"/>
          <p:cNvSpPr/>
          <p:nvPr/>
        </p:nvSpPr>
        <p:spPr>
          <a:xfrm>
            <a:off x="9080500" y="4657725"/>
            <a:ext cx="38100" cy="736600"/>
          </a:xfrm>
          <a:custGeom>
            <a:avLst/>
            <a:gdLst/>
            <a:ahLst/>
            <a:cxnLst/>
            <a:rect l="0" t="0" r="r" b="b"/>
            <a:pathLst>
              <a:path w="38100" h="7366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717550"/>
                </a:lnTo>
                <a:cubicBezTo>
                  <a:pt x="38100" y="728091"/>
                  <a:pt x="29591" y="736600"/>
                  <a:pt x="19050" y="736600"/>
                </a:cubicBezTo>
                <a:lnTo>
                  <a:pt x="19050" y="736600"/>
                </a:lnTo>
                <a:cubicBezTo>
                  <a:pt x="8509" y="736600"/>
                  <a:pt x="0" y="728091"/>
                  <a:pt x="0" y="7175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icon-flag"/>
          <p:cNvSpPr/>
          <p:nvPr/>
        </p:nvSpPr>
        <p:spPr>
          <a:xfrm>
            <a:off x="9356725" y="4883468"/>
            <a:ext cx="66040" cy="112840"/>
          </a:xfrm>
          <a:custGeom>
            <a:avLst/>
            <a:gdLst/>
            <a:ahLst/>
            <a:cxnLst/>
            <a:rect l="0" t="0" r="r" b="b"/>
            <a:pathLst>
              <a:path w="66040" h="112840">
                <a:moveTo>
                  <a:pt x="0" y="112840"/>
                </a:moveTo>
                <a:lnTo>
                  <a:pt x="0" y="0"/>
                </a:lnTo>
                <a:moveTo>
                  <a:pt x="0" y="5525"/>
                </a:moveTo>
                <a:lnTo>
                  <a:pt x="66040" y="5525"/>
                </a:lnTo>
                <a:lnTo>
                  <a:pt x="55055" y="27496"/>
                </a:lnTo>
                <a:lnTo>
                  <a:pt x="66040" y="49530"/>
                </a:lnTo>
                <a:lnTo>
                  <a:pt x="0" y="49530"/>
                </a:lnTo>
              </a:path>
            </a:pathLst>
          </a:cu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ct-4"/>
          <p:cNvSpPr txBox="1"/>
          <p:nvPr/>
        </p:nvSpPr>
        <p:spPr>
          <a:xfrm>
            <a:off x="9560560" y="4831080"/>
            <a:ext cx="3937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高管</a:t>
            </a:r>
          </a:p>
        </p:txBody>
      </p:sp>
      <p:sp>
        <p:nvSpPr>
          <p:cNvPr id="47" name="cd-4"/>
          <p:cNvSpPr txBox="1"/>
          <p:nvPr/>
        </p:nvSpPr>
        <p:spPr>
          <a:xfrm>
            <a:off x="9246489" y="5107670"/>
            <a:ext cx="108553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定方向，做最难的取舍</a:t>
            </a:r>
          </a:p>
        </p:txBody>
      </p:sp>
      <p:sp>
        <p:nvSpPr>
          <p:cNvPr id="48" name="side-bar"/>
          <p:cNvSpPr/>
          <p:nvPr/>
        </p:nvSpPr>
        <p:spPr>
          <a:xfrm>
            <a:off x="952500" y="15875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side-h"/>
          <p:cNvSpPr txBox="1"/>
          <p:nvPr/>
        </p:nvSpPr>
        <p:spPr>
          <a:xfrm>
            <a:off x="1111250" y="1594644"/>
            <a:ext cx="4857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对照</a:t>
            </a:r>
          </a:p>
        </p:txBody>
      </p:sp>
      <p:sp>
        <p:nvSpPr>
          <p:cNvPr id="50" name="side-p"/>
          <p:cNvSpPr txBox="1"/>
          <p:nvPr/>
        </p:nvSpPr>
        <p:spPr>
          <a:xfrm>
            <a:off x="1116965" y="1869361"/>
            <a:ext cx="87788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传统结构是反的</a:t>
            </a:r>
          </a:p>
        </p:txBody>
      </p:sp>
      <p:sp>
        <p:nvSpPr>
          <p:cNvPr id="51" name="mini"/>
          <p:cNvSpPr/>
          <p:nvPr/>
        </p:nvSpPr>
        <p:spPr>
          <a:xfrm>
            <a:off x="1233388" y="2444972"/>
            <a:ext cx="1343223" cy="1047528"/>
          </a:xfrm>
          <a:custGeom>
            <a:avLst/>
            <a:gdLst/>
            <a:ahLst/>
            <a:cxnLst/>
            <a:rect l="0" t="0" r="r" b="b"/>
            <a:pathLst>
              <a:path w="1343223" h="1047528">
                <a:moveTo>
                  <a:pt x="630210" y="31972"/>
                </a:moveTo>
                <a:quadBezTo>
                  <a:pt x="671612" y="-31972"/>
                  <a:pt x="713014" y="31972"/>
                </a:quadBezTo>
                <a:lnTo>
                  <a:pt x="1328710" y="983583"/>
                </a:lnTo>
                <a:quadBezTo>
                  <a:pt x="1370112" y="1047528"/>
                  <a:pt x="1293912" y="1047528"/>
                </a:quadBezTo>
                <a:lnTo>
                  <a:pt x="49312" y="1047528"/>
                </a:lnTo>
                <a:quadBezTo>
                  <a:pt x="-26888" y="1047528"/>
                  <a:pt x="14514" y="983583"/>
                </a:quadBezTo>
                <a:close/>
              </a:path>
            </a:pathLst>
          </a:custGeom>
          <a:solidFill>
            <a:srgbClr val="C9D6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mini-a"/>
          <p:cNvSpPr txBox="1"/>
          <p:nvPr/>
        </p:nvSpPr>
        <p:spPr>
          <a:xfrm>
            <a:off x="1766888" y="2866866"/>
            <a:ext cx="276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高管</a:t>
            </a:r>
          </a:p>
        </p:txBody>
      </p:sp>
      <p:sp>
        <p:nvSpPr>
          <p:cNvPr id="53" name="mini-b"/>
          <p:cNvSpPr txBox="1"/>
          <p:nvPr/>
        </p:nvSpPr>
        <p:spPr>
          <a:xfrm>
            <a:off x="1766888" y="3247866"/>
            <a:ext cx="276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客户</a:t>
            </a:r>
          </a:p>
        </p:txBody>
      </p:sp>
      <p:sp>
        <p:nvSpPr>
          <p:cNvPr id="54" name="mini-t"/>
          <p:cNvSpPr txBox="1"/>
          <p:nvPr/>
        </p:nvSpPr>
        <p:spPr>
          <a:xfrm>
            <a:off x="1605280" y="3621024"/>
            <a:ext cx="5994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传统金字塔</a:t>
            </a:r>
          </a:p>
        </p:txBody>
      </p:sp>
      <p:sp>
        <p:nvSpPr>
          <p:cNvPr id="55" name="r-0"/>
          <p:cNvSpPr/>
          <p:nvPr/>
        </p:nvSpPr>
        <p:spPr>
          <a:xfrm>
            <a:off x="1016000" y="4038600"/>
            <a:ext cx="76200" cy="762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ra-0"/>
          <p:cNvSpPr txBox="1"/>
          <p:nvPr/>
        </p:nvSpPr>
        <p:spPr>
          <a:xfrm>
            <a:off x="1142746" y="3981482"/>
            <a:ext cx="6369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决策前先问</a:t>
            </a:r>
          </a:p>
        </p:txBody>
      </p:sp>
      <p:sp>
        <p:nvSpPr>
          <p:cNvPr id="57" name="rb-0"/>
          <p:cNvSpPr txBox="1"/>
          <p:nvPr/>
        </p:nvSpPr>
        <p:spPr>
          <a:xfrm>
            <a:off x="1144270" y="4174966"/>
            <a:ext cx="657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客户会怎么看</a:t>
            </a:r>
          </a:p>
        </p:txBody>
      </p:sp>
      <p:sp>
        <p:nvSpPr>
          <p:cNvPr id="58" name="r-1"/>
          <p:cNvSpPr/>
          <p:nvPr/>
        </p:nvSpPr>
        <p:spPr>
          <a:xfrm>
            <a:off x="1016000" y="4495800"/>
            <a:ext cx="76200" cy="762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ra-1"/>
          <p:cNvSpPr txBox="1"/>
          <p:nvPr/>
        </p:nvSpPr>
        <p:spPr>
          <a:xfrm>
            <a:off x="1142746" y="4438682"/>
            <a:ext cx="77076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管理层的 KPI</a:t>
            </a:r>
          </a:p>
        </p:txBody>
      </p:sp>
      <p:sp>
        <p:nvSpPr>
          <p:cNvPr id="60" name="rb-1"/>
          <p:cNvSpPr txBox="1"/>
          <p:nvPr/>
        </p:nvSpPr>
        <p:spPr>
          <a:xfrm>
            <a:off x="1144270" y="4632166"/>
            <a:ext cx="7524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挂钩一线满意度</a:t>
            </a:r>
          </a:p>
        </p:txBody>
      </p:sp>
      <p:sp>
        <p:nvSpPr>
          <p:cNvPr id="61" name="r-2"/>
          <p:cNvSpPr/>
          <p:nvPr/>
        </p:nvSpPr>
        <p:spPr>
          <a:xfrm>
            <a:off x="1016000" y="4953000"/>
            <a:ext cx="76200" cy="762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ra-2"/>
          <p:cNvSpPr txBox="1"/>
          <p:nvPr/>
        </p:nvSpPr>
        <p:spPr>
          <a:xfrm>
            <a:off x="1142746" y="4895882"/>
            <a:ext cx="5289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一线有权</a:t>
            </a:r>
          </a:p>
        </p:txBody>
      </p:sp>
      <p:sp>
        <p:nvSpPr>
          <p:cNvPr id="63" name="rb-2"/>
          <p:cNvSpPr txBox="1"/>
          <p:nvPr/>
        </p:nvSpPr>
        <p:spPr>
          <a:xfrm>
            <a:off x="1144270" y="5089366"/>
            <a:ext cx="9772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5,000 元内先赔后审</a:t>
            </a:r>
          </a:p>
        </p:txBody>
      </p:sp>
      <p:sp>
        <p:nvSpPr>
          <p:cNvPr id="64" name="sum"/>
          <p:cNvSpPr/>
          <p:nvPr/>
        </p:nvSpPr>
        <p:spPr>
          <a:xfrm>
            <a:off x="952500" y="5740400"/>
            <a:ext cx="10287000" cy="419100"/>
          </a:xfrm>
          <a:custGeom>
            <a:avLst/>
            <a:gdLst/>
            <a:ahLst/>
            <a:cxnLst/>
            <a:rect l="0" t="0" r="r" b="b"/>
            <a:pathLst>
              <a:path w="10287000" h="4191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30200"/>
                </a:lnTo>
                <a:cubicBezTo>
                  <a:pt x="10287000" y="379286"/>
                  <a:pt x="10247186" y="419100"/>
                  <a:pt x="10198100" y="419100"/>
                </a:cubicBezTo>
                <a:lnTo>
                  <a:pt x="88900" y="419100"/>
                </a:lnTo>
                <a:cubicBezTo>
                  <a:pt x="39815" y="419100"/>
                  <a:pt x="0" y="379286"/>
                  <a:pt x="0" y="3302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sum-bar"/>
          <p:cNvSpPr/>
          <p:nvPr/>
        </p:nvSpPr>
        <p:spPr>
          <a:xfrm>
            <a:off x="952500" y="5740400"/>
            <a:ext cx="31750" cy="4191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sum-h"/>
          <p:cNvSpPr txBox="1"/>
          <p:nvPr/>
        </p:nvSpPr>
        <p:spPr>
          <a:xfrm>
            <a:off x="1142746" y="5873782"/>
            <a:ext cx="459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一句话</a:t>
            </a:r>
          </a:p>
        </p:txBody>
      </p:sp>
      <p:sp>
        <p:nvSpPr>
          <p:cNvPr id="67" name="sum-p"/>
          <p:cNvSpPr txBox="1"/>
          <p:nvPr/>
        </p:nvSpPr>
        <p:spPr>
          <a:xfrm>
            <a:off x="1790065" y="5869861"/>
            <a:ext cx="352583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层级越高，服务的对象越多——管理者的工作是让一线把客户服务好。</a:t>
            </a:r>
          </a:p>
        </p:txBody>
      </p:sp>
      <p:cxnSp>
        <p:nvCxnSpPr>
          <p:cNvPr id="68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9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倒金字塔 · 服务型组织</a:t>
            </a:r>
          </a:p>
        </p:txBody>
      </p:sp>
      <p:sp>
        <p:nvSpPr>
          <p:cNvPr id="70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17754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四道护城河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35483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ECONOMIC MOATS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218295" y="673132"/>
            <a:ext cx="24024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从里到外四层壁垒——越往外，对手越难跨过来</a:t>
            </a:r>
          </a:p>
        </p:txBody>
      </p:sp>
      <p:sp>
        <p:nvSpPr>
          <p:cNvPr id="10" name="ring-4"/>
          <p:cNvSpPr/>
          <p:nvPr/>
        </p:nvSpPr>
        <p:spPr>
          <a:xfrm>
            <a:off x="1016000" y="1574800"/>
            <a:ext cx="6731000" cy="4343400"/>
          </a:xfrm>
          <a:custGeom>
            <a:avLst/>
            <a:gdLst/>
            <a:ahLst/>
            <a:cxnLst/>
            <a:rect l="0" t="0" r="r" b="b"/>
            <a:pathLst>
              <a:path w="6731000" h="4343400">
                <a:moveTo>
                  <a:pt x="1016000" y="0"/>
                </a:moveTo>
                <a:lnTo>
                  <a:pt x="5715000" y="0"/>
                </a:lnTo>
                <a:cubicBezTo>
                  <a:pt x="6276149" y="0"/>
                  <a:pt x="6731000" y="454850"/>
                  <a:pt x="6731000" y="1016000"/>
                </a:cubicBezTo>
                <a:lnTo>
                  <a:pt x="6731000" y="3327400"/>
                </a:lnTo>
                <a:cubicBezTo>
                  <a:pt x="6731000" y="3888550"/>
                  <a:pt x="6276149" y="4343400"/>
                  <a:pt x="5715000" y="4343400"/>
                </a:cubicBezTo>
                <a:lnTo>
                  <a:pt x="1016000" y="4343400"/>
                </a:lnTo>
                <a:cubicBezTo>
                  <a:pt x="454850" y="4343400"/>
                  <a:pt x="0" y="3888550"/>
                  <a:pt x="0" y="3327400"/>
                </a:cubicBezTo>
                <a:lnTo>
                  <a:pt x="0" y="1016000"/>
                </a:lnTo>
                <a:cubicBezTo>
                  <a:pt x="0" y="454850"/>
                  <a:pt x="454850" y="0"/>
                  <a:pt x="1016000" y="0"/>
                </a:cubicBezTo>
                <a:close/>
              </a:path>
            </a:pathLst>
          </a:custGeom>
          <a:gradFill rotWithShape="1">
            <a:gsLst>
              <a:gs pos="0">
                <a:srgbClr val="DCEBF7"/>
              </a:gs>
              <a:gs pos="100000">
                <a:srgbClr val="DBE8F5"/>
              </a:gs>
            </a:gsLst>
            <a:lin ang="5400000" scaled="0"/>
          </a:gradFill>
          <a:ln w="254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wave-4"/>
          <p:cNvSpPr/>
          <p:nvPr/>
        </p:nvSpPr>
        <p:spPr>
          <a:xfrm>
            <a:off x="4000500" y="5676900"/>
            <a:ext cx="762000" cy="50800"/>
          </a:xfrm>
          <a:custGeom>
            <a:avLst/>
            <a:gdLst/>
            <a:ahLst/>
            <a:cxnLst/>
            <a:rect l="0" t="0" r="r" b="b"/>
            <a:pathLst>
              <a:path w="762000" h="50800">
                <a:moveTo>
                  <a:pt x="0" y="25400"/>
                </a:moveTo>
                <a:quadBezTo>
                  <a:pt x="95250" y="-25400"/>
                  <a:pt x="190500" y="25400"/>
                </a:quadBezTo>
                <a:quadBezTo>
                  <a:pt x="285750" y="76200"/>
                  <a:pt x="381000" y="25400"/>
                </a:quadBezTo>
                <a:quadBezTo>
                  <a:pt x="476250" y="-25400"/>
                  <a:pt x="571500" y="25400"/>
                </a:quadBezTo>
                <a:quadBezTo>
                  <a:pt x="666750" y="76200"/>
                  <a:pt x="762000" y="25400"/>
                </a:quadBezTo>
              </a:path>
            </a:pathLst>
          </a:custGeom>
          <a:noFill/>
          <a:ln w="12700" cap="rnd">
            <a:solidFill>
              <a:srgbClr val="FFFFFF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tag-4"/>
          <p:cNvSpPr/>
          <p:nvPr/>
        </p:nvSpPr>
        <p:spPr>
          <a:xfrm>
            <a:off x="3848100" y="1663700"/>
            <a:ext cx="1066800" cy="228600"/>
          </a:xfrm>
          <a:custGeom>
            <a:avLst/>
            <a:gdLst/>
            <a:ahLst/>
            <a:cxnLst/>
            <a:rect l="0" t="0" r="r" b="b"/>
            <a:pathLst>
              <a:path w="1066800" h="228600">
                <a:moveTo>
                  <a:pt x="114300" y="0"/>
                </a:moveTo>
                <a:lnTo>
                  <a:pt x="952500" y="0"/>
                </a:lnTo>
                <a:cubicBezTo>
                  <a:pt x="1015619" y="0"/>
                  <a:pt x="1066800" y="51181"/>
                  <a:pt x="1066800" y="114300"/>
                </a:cubicBezTo>
                <a:lnTo>
                  <a:pt x="1066800" y="114300"/>
                </a:lnTo>
                <a:cubicBezTo>
                  <a:pt x="1066800" y="177419"/>
                  <a:pt x="1015619" y="228600"/>
                  <a:pt x="9525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 w="9525" cap="rnd">
            <a:solidFill>
              <a:srgbClr val="E0703A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tn-4"/>
          <p:cNvSpPr txBox="1"/>
          <p:nvPr/>
        </p:nvSpPr>
        <p:spPr>
          <a:xfrm>
            <a:off x="4014470" y="17048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14" name="tt-4"/>
          <p:cNvSpPr txBox="1"/>
          <p:nvPr/>
        </p:nvSpPr>
        <p:spPr>
          <a:xfrm>
            <a:off x="4203446" y="1689132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品牌认知</a:t>
            </a:r>
          </a:p>
        </p:txBody>
      </p:sp>
      <p:sp>
        <p:nvSpPr>
          <p:cNvPr id="15" name="ring-3"/>
          <p:cNvSpPr/>
          <p:nvPr/>
        </p:nvSpPr>
        <p:spPr>
          <a:xfrm>
            <a:off x="1651000" y="1981200"/>
            <a:ext cx="5461000" cy="3530600"/>
          </a:xfrm>
          <a:custGeom>
            <a:avLst/>
            <a:gdLst/>
            <a:ahLst/>
            <a:cxnLst/>
            <a:rect l="0" t="0" r="r" b="b"/>
            <a:pathLst>
              <a:path w="5461000" h="3530600">
                <a:moveTo>
                  <a:pt x="825500" y="0"/>
                </a:moveTo>
                <a:lnTo>
                  <a:pt x="4635500" y="0"/>
                </a:lnTo>
                <a:cubicBezTo>
                  <a:pt x="5091430" y="0"/>
                  <a:pt x="5461000" y="369570"/>
                  <a:pt x="5461000" y="825500"/>
                </a:cubicBezTo>
                <a:lnTo>
                  <a:pt x="5461000" y="2705100"/>
                </a:lnTo>
                <a:cubicBezTo>
                  <a:pt x="5461000" y="3161030"/>
                  <a:pt x="5091430" y="3530600"/>
                  <a:pt x="4635500" y="3530600"/>
                </a:cubicBezTo>
                <a:lnTo>
                  <a:pt x="825500" y="3530600"/>
                </a:lnTo>
                <a:cubicBezTo>
                  <a:pt x="369570" y="3530600"/>
                  <a:pt x="0" y="3161030"/>
                  <a:pt x="0" y="2705100"/>
                </a:cubicBezTo>
                <a:lnTo>
                  <a:pt x="0" y="825500"/>
                </a:lnTo>
                <a:cubicBezTo>
                  <a:pt x="0" y="369570"/>
                  <a:pt x="369570" y="0"/>
                  <a:pt x="825500" y="0"/>
                </a:cubicBezTo>
                <a:close/>
              </a:path>
            </a:pathLst>
          </a:custGeom>
          <a:gradFill rotWithShape="1">
            <a:gsLst>
              <a:gs pos="0">
                <a:srgbClr val="C2DCF2"/>
              </a:gs>
              <a:gs pos="100000">
                <a:srgbClr val="C2D8ED"/>
              </a:gs>
            </a:gsLst>
            <a:lin ang="5400000" scaled="0"/>
          </a:gradFill>
          <a:ln w="254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wave-3"/>
          <p:cNvSpPr/>
          <p:nvPr/>
        </p:nvSpPr>
        <p:spPr>
          <a:xfrm>
            <a:off x="4000500" y="5270500"/>
            <a:ext cx="762000" cy="50800"/>
          </a:xfrm>
          <a:custGeom>
            <a:avLst/>
            <a:gdLst/>
            <a:ahLst/>
            <a:cxnLst/>
            <a:rect l="0" t="0" r="r" b="b"/>
            <a:pathLst>
              <a:path w="762000" h="50800">
                <a:moveTo>
                  <a:pt x="0" y="25400"/>
                </a:moveTo>
                <a:quadBezTo>
                  <a:pt x="95250" y="-25400"/>
                  <a:pt x="190500" y="25400"/>
                </a:quadBezTo>
                <a:quadBezTo>
                  <a:pt x="285750" y="76200"/>
                  <a:pt x="381000" y="25400"/>
                </a:quadBezTo>
                <a:quadBezTo>
                  <a:pt x="476250" y="-25400"/>
                  <a:pt x="571500" y="25400"/>
                </a:quadBezTo>
                <a:quadBezTo>
                  <a:pt x="666750" y="76200"/>
                  <a:pt x="762000" y="25400"/>
                </a:quadBezTo>
              </a:path>
            </a:pathLst>
          </a:custGeom>
          <a:noFill/>
          <a:ln w="12700" cap="rnd">
            <a:solidFill>
              <a:srgbClr val="FFFFFF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tag-3"/>
          <p:cNvSpPr/>
          <p:nvPr/>
        </p:nvSpPr>
        <p:spPr>
          <a:xfrm>
            <a:off x="3848100" y="2070100"/>
            <a:ext cx="1066800" cy="228600"/>
          </a:xfrm>
          <a:custGeom>
            <a:avLst/>
            <a:gdLst/>
            <a:ahLst/>
            <a:cxnLst/>
            <a:rect l="0" t="0" r="r" b="b"/>
            <a:pathLst>
              <a:path w="1066800" h="228600">
                <a:moveTo>
                  <a:pt x="114300" y="0"/>
                </a:moveTo>
                <a:lnTo>
                  <a:pt x="952500" y="0"/>
                </a:lnTo>
                <a:cubicBezTo>
                  <a:pt x="1015619" y="0"/>
                  <a:pt x="1066800" y="51181"/>
                  <a:pt x="1066800" y="114300"/>
                </a:cubicBezTo>
                <a:lnTo>
                  <a:pt x="1066800" y="114300"/>
                </a:lnTo>
                <a:cubicBezTo>
                  <a:pt x="1066800" y="177419"/>
                  <a:pt x="1015619" y="228600"/>
                  <a:pt x="9525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tn-3"/>
          <p:cNvSpPr txBox="1"/>
          <p:nvPr/>
        </p:nvSpPr>
        <p:spPr>
          <a:xfrm>
            <a:off x="4014470" y="21112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1B5AA8"/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19" name="tt-3"/>
          <p:cNvSpPr txBox="1"/>
          <p:nvPr/>
        </p:nvSpPr>
        <p:spPr>
          <a:xfrm>
            <a:off x="4203446" y="2095532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网络效应</a:t>
            </a:r>
          </a:p>
        </p:txBody>
      </p:sp>
      <p:sp>
        <p:nvSpPr>
          <p:cNvPr id="20" name="ring-2"/>
          <p:cNvSpPr/>
          <p:nvPr/>
        </p:nvSpPr>
        <p:spPr>
          <a:xfrm>
            <a:off x="2286000" y="2387600"/>
            <a:ext cx="4191000" cy="2717800"/>
          </a:xfrm>
          <a:custGeom>
            <a:avLst/>
            <a:gdLst/>
            <a:ahLst/>
            <a:cxnLst/>
            <a:rect l="0" t="0" r="r" b="b"/>
            <a:pathLst>
              <a:path w="4191000" h="2717800">
                <a:moveTo>
                  <a:pt x="635000" y="0"/>
                </a:moveTo>
                <a:lnTo>
                  <a:pt x="3556000" y="0"/>
                </a:lnTo>
                <a:cubicBezTo>
                  <a:pt x="3906710" y="0"/>
                  <a:pt x="4191000" y="284289"/>
                  <a:pt x="4191000" y="635000"/>
                </a:cubicBezTo>
                <a:lnTo>
                  <a:pt x="4191000" y="2082800"/>
                </a:lnTo>
                <a:cubicBezTo>
                  <a:pt x="4191000" y="2433510"/>
                  <a:pt x="3906710" y="2717800"/>
                  <a:pt x="3556000" y="2717800"/>
                </a:cubicBezTo>
                <a:lnTo>
                  <a:pt x="635000" y="2717800"/>
                </a:lnTo>
                <a:cubicBezTo>
                  <a:pt x="284289" y="2717800"/>
                  <a:pt x="0" y="2433510"/>
                  <a:pt x="0" y="2082800"/>
                </a:cubicBezTo>
                <a:lnTo>
                  <a:pt x="0" y="635000"/>
                </a:lnTo>
                <a:cubicBezTo>
                  <a:pt x="0" y="284289"/>
                  <a:pt x="284289" y="0"/>
                  <a:pt x="635000" y="0"/>
                </a:cubicBezTo>
                <a:close/>
              </a:path>
            </a:pathLst>
          </a:custGeom>
          <a:gradFill rotWithShape="1">
            <a:gsLst>
              <a:gs pos="0">
                <a:srgbClr val="A8CDEC"/>
              </a:gs>
              <a:gs pos="100000">
                <a:srgbClr val="A9C7E6"/>
              </a:gs>
            </a:gsLst>
            <a:lin ang="5400000" scaled="0"/>
          </a:gradFill>
          <a:ln w="254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wave-2"/>
          <p:cNvSpPr/>
          <p:nvPr/>
        </p:nvSpPr>
        <p:spPr>
          <a:xfrm>
            <a:off x="4000500" y="4864100"/>
            <a:ext cx="762000" cy="50800"/>
          </a:xfrm>
          <a:custGeom>
            <a:avLst/>
            <a:gdLst/>
            <a:ahLst/>
            <a:cxnLst/>
            <a:rect l="0" t="0" r="r" b="b"/>
            <a:pathLst>
              <a:path w="762000" h="50800">
                <a:moveTo>
                  <a:pt x="0" y="25400"/>
                </a:moveTo>
                <a:quadBezTo>
                  <a:pt x="95250" y="-25400"/>
                  <a:pt x="190500" y="25400"/>
                </a:quadBezTo>
                <a:quadBezTo>
                  <a:pt x="285750" y="76200"/>
                  <a:pt x="381000" y="25400"/>
                </a:quadBezTo>
                <a:quadBezTo>
                  <a:pt x="476250" y="-25400"/>
                  <a:pt x="571500" y="25400"/>
                </a:quadBezTo>
                <a:quadBezTo>
                  <a:pt x="666750" y="76200"/>
                  <a:pt x="762000" y="25400"/>
                </a:quadBezTo>
              </a:path>
            </a:pathLst>
          </a:custGeom>
          <a:noFill/>
          <a:ln w="12700" cap="rnd">
            <a:solidFill>
              <a:srgbClr val="FFFFFF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tag-2"/>
          <p:cNvSpPr/>
          <p:nvPr/>
        </p:nvSpPr>
        <p:spPr>
          <a:xfrm>
            <a:off x="3848100" y="2476500"/>
            <a:ext cx="1066800" cy="228600"/>
          </a:xfrm>
          <a:custGeom>
            <a:avLst/>
            <a:gdLst/>
            <a:ahLst/>
            <a:cxnLst/>
            <a:rect l="0" t="0" r="r" b="b"/>
            <a:pathLst>
              <a:path w="1066800" h="228600">
                <a:moveTo>
                  <a:pt x="114300" y="0"/>
                </a:moveTo>
                <a:lnTo>
                  <a:pt x="952500" y="0"/>
                </a:lnTo>
                <a:cubicBezTo>
                  <a:pt x="1015619" y="0"/>
                  <a:pt x="1066800" y="51181"/>
                  <a:pt x="1066800" y="114300"/>
                </a:cubicBezTo>
                <a:lnTo>
                  <a:pt x="1066800" y="114300"/>
                </a:lnTo>
                <a:cubicBezTo>
                  <a:pt x="1066800" y="177419"/>
                  <a:pt x="1015619" y="228600"/>
                  <a:pt x="9525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tn-2"/>
          <p:cNvSpPr txBox="1"/>
          <p:nvPr/>
        </p:nvSpPr>
        <p:spPr>
          <a:xfrm>
            <a:off x="4014470" y="25176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1B5AA8"/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24" name="tt-2"/>
          <p:cNvSpPr txBox="1"/>
          <p:nvPr/>
        </p:nvSpPr>
        <p:spPr>
          <a:xfrm>
            <a:off x="4203446" y="2501932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转换成本</a:t>
            </a:r>
          </a:p>
        </p:txBody>
      </p:sp>
      <p:sp>
        <p:nvSpPr>
          <p:cNvPr id="25" name="ring-1"/>
          <p:cNvSpPr/>
          <p:nvPr/>
        </p:nvSpPr>
        <p:spPr>
          <a:xfrm>
            <a:off x="2921000" y="2794000"/>
            <a:ext cx="2921000" cy="1905000"/>
          </a:xfrm>
          <a:custGeom>
            <a:avLst/>
            <a:gdLst/>
            <a:ahLst/>
            <a:cxnLst/>
            <a:rect l="0" t="0" r="r" b="b"/>
            <a:pathLst>
              <a:path w="2921000" h="1905000">
                <a:moveTo>
                  <a:pt x="444500" y="0"/>
                </a:moveTo>
                <a:lnTo>
                  <a:pt x="2476500" y="0"/>
                </a:lnTo>
                <a:cubicBezTo>
                  <a:pt x="2721991" y="0"/>
                  <a:pt x="2921000" y="199009"/>
                  <a:pt x="2921000" y="444500"/>
                </a:cubicBezTo>
                <a:lnTo>
                  <a:pt x="2921000" y="1460500"/>
                </a:lnTo>
                <a:cubicBezTo>
                  <a:pt x="2921000" y="1705991"/>
                  <a:pt x="2721991" y="1905000"/>
                  <a:pt x="2476500" y="1905000"/>
                </a:cubicBezTo>
                <a:lnTo>
                  <a:pt x="444500" y="1905000"/>
                </a:lnTo>
                <a:cubicBezTo>
                  <a:pt x="199009" y="1905000"/>
                  <a:pt x="0" y="1705991"/>
                  <a:pt x="0" y="1460500"/>
                </a:cubicBezTo>
                <a:lnTo>
                  <a:pt x="0" y="444500"/>
                </a:lnTo>
                <a:cubicBezTo>
                  <a:pt x="0" y="199009"/>
                  <a:pt x="199009" y="0"/>
                  <a:pt x="444500" y="0"/>
                </a:cubicBezTo>
                <a:close/>
              </a:path>
            </a:pathLst>
          </a:custGeom>
          <a:gradFill rotWithShape="1">
            <a:gsLst>
              <a:gs pos="0">
                <a:srgbClr val="8EBEE7"/>
              </a:gs>
              <a:gs pos="100000">
                <a:srgbClr val="90B7DF"/>
              </a:gs>
            </a:gsLst>
            <a:lin ang="5400000" scaled="0"/>
          </a:gradFill>
          <a:ln w="254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wave-1"/>
          <p:cNvSpPr/>
          <p:nvPr/>
        </p:nvSpPr>
        <p:spPr>
          <a:xfrm>
            <a:off x="4000500" y="4457700"/>
            <a:ext cx="762000" cy="50800"/>
          </a:xfrm>
          <a:custGeom>
            <a:avLst/>
            <a:gdLst/>
            <a:ahLst/>
            <a:cxnLst/>
            <a:rect l="0" t="0" r="r" b="b"/>
            <a:pathLst>
              <a:path w="762000" h="50800">
                <a:moveTo>
                  <a:pt x="0" y="25400"/>
                </a:moveTo>
                <a:quadBezTo>
                  <a:pt x="95250" y="-25400"/>
                  <a:pt x="190500" y="25400"/>
                </a:quadBezTo>
                <a:quadBezTo>
                  <a:pt x="285750" y="76200"/>
                  <a:pt x="381000" y="25400"/>
                </a:quadBezTo>
                <a:quadBezTo>
                  <a:pt x="476250" y="-25400"/>
                  <a:pt x="571500" y="25400"/>
                </a:quadBezTo>
                <a:quadBezTo>
                  <a:pt x="666750" y="76200"/>
                  <a:pt x="762000" y="25400"/>
                </a:quadBezTo>
              </a:path>
            </a:pathLst>
          </a:custGeom>
          <a:noFill/>
          <a:ln w="12700" cap="rnd">
            <a:solidFill>
              <a:srgbClr val="FFFFFF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tag-1"/>
          <p:cNvSpPr/>
          <p:nvPr/>
        </p:nvSpPr>
        <p:spPr>
          <a:xfrm>
            <a:off x="3848100" y="2882900"/>
            <a:ext cx="1066800" cy="228600"/>
          </a:xfrm>
          <a:custGeom>
            <a:avLst/>
            <a:gdLst/>
            <a:ahLst/>
            <a:cxnLst/>
            <a:rect l="0" t="0" r="r" b="b"/>
            <a:pathLst>
              <a:path w="1066800" h="228600">
                <a:moveTo>
                  <a:pt x="114300" y="0"/>
                </a:moveTo>
                <a:lnTo>
                  <a:pt x="952500" y="0"/>
                </a:lnTo>
                <a:cubicBezTo>
                  <a:pt x="1015619" y="0"/>
                  <a:pt x="1066800" y="51181"/>
                  <a:pt x="1066800" y="114300"/>
                </a:cubicBezTo>
                <a:lnTo>
                  <a:pt x="1066800" y="114300"/>
                </a:lnTo>
                <a:cubicBezTo>
                  <a:pt x="1066800" y="177419"/>
                  <a:pt x="1015619" y="228600"/>
                  <a:pt x="9525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tn-1"/>
          <p:cNvSpPr txBox="1"/>
          <p:nvPr/>
        </p:nvSpPr>
        <p:spPr>
          <a:xfrm>
            <a:off x="4014470" y="29240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1B5AA8"/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29" name="tt-1"/>
          <p:cNvSpPr txBox="1"/>
          <p:nvPr/>
        </p:nvSpPr>
        <p:spPr>
          <a:xfrm>
            <a:off x="4203446" y="2908332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成本优势</a:t>
            </a:r>
          </a:p>
        </p:txBody>
      </p:sp>
      <p:sp>
        <p:nvSpPr>
          <p:cNvPr id="30" name="core"/>
          <p:cNvSpPr/>
          <p:nvPr/>
        </p:nvSpPr>
        <p:spPr>
          <a:xfrm>
            <a:off x="3556000" y="3200400"/>
            <a:ext cx="1651000" cy="1092200"/>
          </a:xfrm>
          <a:custGeom>
            <a:avLst/>
            <a:gdLst/>
            <a:ahLst/>
            <a:cxnLst/>
            <a:rect l="0" t="0" r="r" b="b"/>
            <a:pathLst>
              <a:path w="1651000" h="1092200">
                <a:moveTo>
                  <a:pt x="254000" y="0"/>
                </a:moveTo>
                <a:lnTo>
                  <a:pt x="1397000" y="0"/>
                </a:lnTo>
                <a:cubicBezTo>
                  <a:pt x="1537272" y="0"/>
                  <a:pt x="1651000" y="113728"/>
                  <a:pt x="1651000" y="254000"/>
                </a:cubicBezTo>
                <a:lnTo>
                  <a:pt x="1651000" y="838200"/>
                </a:lnTo>
                <a:cubicBezTo>
                  <a:pt x="1651000" y="978472"/>
                  <a:pt x="1537272" y="1092200"/>
                  <a:pt x="1397000" y="1092200"/>
                </a:cubicBezTo>
                <a:lnTo>
                  <a:pt x="254000" y="1092200"/>
                </a:lnTo>
                <a:cubicBezTo>
                  <a:pt x="113728" y="1092200"/>
                  <a:pt x="0" y="978472"/>
                  <a:pt x="0" y="838200"/>
                </a:cubicBezTo>
                <a:lnTo>
                  <a:pt x="0" y="254000"/>
                </a:lnTo>
                <a:cubicBezTo>
                  <a:pt x="0" y="113728"/>
                  <a:pt x="113728" y="0"/>
                  <a:pt x="2540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icon-shield"/>
          <p:cNvSpPr/>
          <p:nvPr/>
        </p:nvSpPr>
        <p:spPr>
          <a:xfrm>
            <a:off x="4305300" y="3503104"/>
            <a:ext cx="152400" cy="181991"/>
          </a:xfrm>
          <a:custGeom>
            <a:avLst/>
            <a:gdLst/>
            <a:ahLst/>
            <a:cxnLst/>
            <a:rect l="0" t="0" r="r" b="b"/>
            <a:pathLst>
              <a:path w="152400" h="181991">
                <a:moveTo>
                  <a:pt x="76200" y="0"/>
                </a:moveTo>
                <a:lnTo>
                  <a:pt x="152400" y="29591"/>
                </a:lnTo>
                <a:lnTo>
                  <a:pt x="152400" y="88900"/>
                </a:lnTo>
                <a:cubicBezTo>
                  <a:pt x="152400" y="133350"/>
                  <a:pt x="120650" y="167196"/>
                  <a:pt x="76200" y="181991"/>
                </a:cubicBezTo>
                <a:cubicBezTo>
                  <a:pt x="31750" y="167196"/>
                  <a:pt x="0" y="133350"/>
                  <a:pt x="0" y="88900"/>
                </a:cubicBezTo>
                <a:lnTo>
                  <a:pt x="0" y="29591"/>
                </a:lnTo>
                <a:close/>
                <a:moveTo>
                  <a:pt x="44450" y="90996"/>
                </a:moveTo>
                <a:lnTo>
                  <a:pt x="67754" y="114300"/>
                </a:lnTo>
                <a:lnTo>
                  <a:pt x="112204" y="69850"/>
                </a:ln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core-t"/>
          <p:cNvSpPr txBox="1"/>
          <p:nvPr/>
        </p:nvSpPr>
        <p:spPr>
          <a:xfrm>
            <a:off x="4001135" y="3802571"/>
            <a:ext cx="7607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核心业务</a:t>
            </a:r>
          </a:p>
        </p:txBody>
      </p:sp>
      <p:sp>
        <p:nvSpPr>
          <p:cNvPr id="33" name="side-bar"/>
          <p:cNvSpPr/>
          <p:nvPr/>
        </p:nvSpPr>
        <p:spPr>
          <a:xfrm>
            <a:off x="8001000" y="15875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side-h"/>
          <p:cNvSpPr txBox="1"/>
          <p:nvPr/>
        </p:nvSpPr>
        <p:spPr>
          <a:xfrm>
            <a:off x="8159750" y="15946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壁垒强度</a:t>
            </a:r>
          </a:p>
        </p:txBody>
      </p:sp>
      <p:sp>
        <p:nvSpPr>
          <p:cNvPr id="35" name="side-p"/>
          <p:cNvSpPr txBox="1"/>
          <p:nvPr/>
        </p:nvSpPr>
        <p:spPr>
          <a:xfrm>
            <a:off x="8166989" y="1885045"/>
            <a:ext cx="1501966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满分 5 分 · 对手复制所需年数</a:t>
            </a:r>
          </a:p>
        </p:txBody>
      </p:sp>
      <p:sp>
        <p:nvSpPr>
          <p:cNvPr id="36" name="c-0"/>
          <p:cNvSpPr/>
          <p:nvPr/>
        </p:nvSpPr>
        <p:spPr>
          <a:xfrm>
            <a:off x="8001000" y="2222500"/>
            <a:ext cx="3238500" cy="736600"/>
          </a:xfrm>
          <a:custGeom>
            <a:avLst/>
            <a:gdLst/>
            <a:ahLst/>
            <a:cxnLst/>
            <a:rect l="0" t="0" r="r" b="b"/>
            <a:pathLst>
              <a:path w="3238500" h="736600">
                <a:moveTo>
                  <a:pt x="127000" y="0"/>
                </a:moveTo>
                <a:lnTo>
                  <a:pt x="3111500" y="0"/>
                </a:lnTo>
                <a:cubicBezTo>
                  <a:pt x="3181667" y="0"/>
                  <a:pt x="3238500" y="56832"/>
                  <a:pt x="3238500" y="127000"/>
                </a:cubicBezTo>
                <a:lnTo>
                  <a:pt x="3238500" y="609600"/>
                </a:lnTo>
                <a:cubicBezTo>
                  <a:pt x="3238500" y="679768"/>
                  <a:pt x="3181667" y="736600"/>
                  <a:pt x="3111500" y="736600"/>
                </a:cubicBezTo>
                <a:lnTo>
                  <a:pt x="127000" y="736600"/>
                </a:lnTo>
                <a:cubicBezTo>
                  <a:pt x="56833" y="736600"/>
                  <a:pt x="0" y="679768"/>
                  <a:pt x="0" y="6096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cb-0"/>
          <p:cNvSpPr/>
          <p:nvPr/>
        </p:nvSpPr>
        <p:spPr>
          <a:xfrm>
            <a:off x="8001000" y="2222500"/>
            <a:ext cx="38100" cy="736600"/>
          </a:xfrm>
          <a:custGeom>
            <a:avLst/>
            <a:gdLst/>
            <a:ahLst/>
            <a:cxnLst/>
            <a:rect l="0" t="0" r="r" b="b"/>
            <a:pathLst>
              <a:path w="38100" h="7366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717550"/>
                </a:lnTo>
                <a:cubicBezTo>
                  <a:pt x="38100" y="728091"/>
                  <a:pt x="29591" y="736600"/>
                  <a:pt x="19050" y="736600"/>
                </a:cubicBezTo>
                <a:lnTo>
                  <a:pt x="19050" y="736600"/>
                </a:lnTo>
                <a:cubicBezTo>
                  <a:pt x="8509" y="736600"/>
                  <a:pt x="0" y="728091"/>
                  <a:pt x="0" y="7175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cn-0"/>
          <p:cNvSpPr txBox="1"/>
          <p:nvPr/>
        </p:nvSpPr>
        <p:spPr>
          <a:xfrm>
            <a:off x="8163560" y="2345055"/>
            <a:ext cx="9575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01  成本优势</a:t>
            </a:r>
          </a:p>
        </p:txBody>
      </p:sp>
      <p:sp>
        <p:nvSpPr>
          <p:cNvPr id="39" name="cd-0"/>
          <p:cNvSpPr txBox="1"/>
          <p:nvPr/>
        </p:nvSpPr>
        <p:spPr>
          <a:xfrm>
            <a:off x="8166989" y="2621645"/>
            <a:ext cx="1293304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规模采购，单位成本低 18%</a:t>
            </a:r>
          </a:p>
        </p:txBody>
      </p:sp>
      <p:sp>
        <p:nvSpPr>
          <p:cNvPr id="40" name="cs-0-0"/>
          <p:cNvSpPr/>
          <p:nvPr/>
        </p:nvSpPr>
        <p:spPr>
          <a:xfrm>
            <a:off x="9906000" y="241300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31750" y="0"/>
                </a:moveTo>
                <a:lnTo>
                  <a:pt x="69850" y="0"/>
                </a:lnTo>
                <a:cubicBezTo>
                  <a:pt x="87376" y="0"/>
                  <a:pt x="101600" y="14224"/>
                  <a:pt x="101600" y="31750"/>
                </a:cubicBezTo>
                <a:lnTo>
                  <a:pt x="101600" y="69850"/>
                </a:lnTo>
                <a:cubicBezTo>
                  <a:pt x="101600" y="87376"/>
                  <a:pt x="87376" y="101600"/>
                  <a:pt x="69850" y="101600"/>
                </a:cubicBezTo>
                <a:lnTo>
                  <a:pt x="31750" y="101600"/>
                </a:lnTo>
                <a:cubicBezTo>
                  <a:pt x="14224" y="101600"/>
                  <a:pt x="0" y="87376"/>
                  <a:pt x="0" y="698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cs-0-1"/>
          <p:cNvSpPr/>
          <p:nvPr/>
        </p:nvSpPr>
        <p:spPr>
          <a:xfrm>
            <a:off x="10045700" y="241300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31750" y="0"/>
                </a:moveTo>
                <a:lnTo>
                  <a:pt x="69850" y="0"/>
                </a:lnTo>
                <a:cubicBezTo>
                  <a:pt x="87376" y="0"/>
                  <a:pt x="101600" y="14224"/>
                  <a:pt x="101600" y="31750"/>
                </a:cubicBezTo>
                <a:lnTo>
                  <a:pt x="101600" y="69850"/>
                </a:lnTo>
                <a:cubicBezTo>
                  <a:pt x="101600" y="87376"/>
                  <a:pt x="87376" y="101600"/>
                  <a:pt x="69850" y="101600"/>
                </a:cubicBezTo>
                <a:lnTo>
                  <a:pt x="31750" y="101600"/>
                </a:lnTo>
                <a:cubicBezTo>
                  <a:pt x="14224" y="101600"/>
                  <a:pt x="0" y="87376"/>
                  <a:pt x="0" y="698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cs-0-2"/>
          <p:cNvSpPr/>
          <p:nvPr/>
        </p:nvSpPr>
        <p:spPr>
          <a:xfrm>
            <a:off x="10185400" y="241300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31750" y="0"/>
                </a:moveTo>
                <a:lnTo>
                  <a:pt x="69850" y="0"/>
                </a:lnTo>
                <a:cubicBezTo>
                  <a:pt x="87376" y="0"/>
                  <a:pt x="101600" y="14224"/>
                  <a:pt x="101600" y="31750"/>
                </a:cubicBezTo>
                <a:lnTo>
                  <a:pt x="101600" y="69850"/>
                </a:lnTo>
                <a:cubicBezTo>
                  <a:pt x="101600" y="87376"/>
                  <a:pt x="87376" y="101600"/>
                  <a:pt x="69850" y="101600"/>
                </a:cubicBezTo>
                <a:lnTo>
                  <a:pt x="31750" y="101600"/>
                </a:lnTo>
                <a:cubicBezTo>
                  <a:pt x="14224" y="101600"/>
                  <a:pt x="0" y="87376"/>
                  <a:pt x="0" y="698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E3EB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cs-0-3"/>
          <p:cNvSpPr/>
          <p:nvPr/>
        </p:nvSpPr>
        <p:spPr>
          <a:xfrm>
            <a:off x="10325100" y="241300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31750" y="0"/>
                </a:moveTo>
                <a:lnTo>
                  <a:pt x="69850" y="0"/>
                </a:lnTo>
                <a:cubicBezTo>
                  <a:pt x="87376" y="0"/>
                  <a:pt x="101600" y="14224"/>
                  <a:pt x="101600" y="31750"/>
                </a:cubicBezTo>
                <a:lnTo>
                  <a:pt x="101600" y="69850"/>
                </a:lnTo>
                <a:cubicBezTo>
                  <a:pt x="101600" y="87376"/>
                  <a:pt x="87376" y="101600"/>
                  <a:pt x="69850" y="101600"/>
                </a:cubicBezTo>
                <a:lnTo>
                  <a:pt x="31750" y="101600"/>
                </a:lnTo>
                <a:cubicBezTo>
                  <a:pt x="14224" y="101600"/>
                  <a:pt x="0" y="87376"/>
                  <a:pt x="0" y="698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E3EB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cs-0-4"/>
          <p:cNvSpPr/>
          <p:nvPr/>
        </p:nvSpPr>
        <p:spPr>
          <a:xfrm>
            <a:off x="10464800" y="241300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31750" y="0"/>
                </a:moveTo>
                <a:lnTo>
                  <a:pt x="69850" y="0"/>
                </a:lnTo>
                <a:cubicBezTo>
                  <a:pt x="87376" y="0"/>
                  <a:pt x="101600" y="14224"/>
                  <a:pt x="101600" y="31750"/>
                </a:cubicBezTo>
                <a:lnTo>
                  <a:pt x="101600" y="69850"/>
                </a:lnTo>
                <a:cubicBezTo>
                  <a:pt x="101600" y="87376"/>
                  <a:pt x="87376" y="101600"/>
                  <a:pt x="69850" y="101600"/>
                </a:cubicBezTo>
                <a:lnTo>
                  <a:pt x="31750" y="101600"/>
                </a:lnTo>
                <a:cubicBezTo>
                  <a:pt x="14224" y="101600"/>
                  <a:pt x="0" y="87376"/>
                  <a:pt x="0" y="698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E3EB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cy-0"/>
          <p:cNvSpPr txBox="1"/>
          <p:nvPr/>
        </p:nvSpPr>
        <p:spPr>
          <a:xfrm>
            <a:off x="10608310" y="2602802"/>
            <a:ext cx="498602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3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2 年</a:t>
            </a:r>
          </a:p>
        </p:txBody>
      </p:sp>
      <p:sp>
        <p:nvSpPr>
          <p:cNvPr id="46" name="cyl-0"/>
          <p:cNvSpPr txBox="1"/>
          <p:nvPr/>
        </p:nvSpPr>
        <p:spPr>
          <a:xfrm>
            <a:off x="10293858" y="2684208"/>
            <a:ext cx="2578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复制</a:t>
            </a:r>
          </a:p>
        </p:txBody>
      </p:sp>
      <p:sp>
        <p:nvSpPr>
          <p:cNvPr id="47" name="c-1"/>
          <p:cNvSpPr/>
          <p:nvPr/>
        </p:nvSpPr>
        <p:spPr>
          <a:xfrm>
            <a:off x="8001000" y="3060700"/>
            <a:ext cx="3238500" cy="736600"/>
          </a:xfrm>
          <a:custGeom>
            <a:avLst/>
            <a:gdLst/>
            <a:ahLst/>
            <a:cxnLst/>
            <a:rect l="0" t="0" r="r" b="b"/>
            <a:pathLst>
              <a:path w="3238500" h="736600">
                <a:moveTo>
                  <a:pt x="127000" y="0"/>
                </a:moveTo>
                <a:lnTo>
                  <a:pt x="3111500" y="0"/>
                </a:lnTo>
                <a:cubicBezTo>
                  <a:pt x="3181667" y="0"/>
                  <a:pt x="3238500" y="56832"/>
                  <a:pt x="3238500" y="127000"/>
                </a:cubicBezTo>
                <a:lnTo>
                  <a:pt x="3238500" y="609600"/>
                </a:lnTo>
                <a:cubicBezTo>
                  <a:pt x="3238500" y="679767"/>
                  <a:pt x="3181667" y="736600"/>
                  <a:pt x="3111500" y="736600"/>
                </a:cubicBezTo>
                <a:lnTo>
                  <a:pt x="127000" y="736600"/>
                </a:lnTo>
                <a:cubicBezTo>
                  <a:pt x="56833" y="736600"/>
                  <a:pt x="0" y="679767"/>
                  <a:pt x="0" y="6096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cb-1"/>
          <p:cNvSpPr/>
          <p:nvPr/>
        </p:nvSpPr>
        <p:spPr>
          <a:xfrm>
            <a:off x="8001000" y="3060700"/>
            <a:ext cx="38100" cy="736600"/>
          </a:xfrm>
          <a:custGeom>
            <a:avLst/>
            <a:gdLst/>
            <a:ahLst/>
            <a:cxnLst/>
            <a:rect l="0" t="0" r="r" b="b"/>
            <a:pathLst>
              <a:path w="38100" h="7366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717550"/>
                </a:lnTo>
                <a:cubicBezTo>
                  <a:pt x="38100" y="728091"/>
                  <a:pt x="29591" y="736600"/>
                  <a:pt x="19050" y="736600"/>
                </a:cubicBezTo>
                <a:lnTo>
                  <a:pt x="19050" y="736600"/>
                </a:lnTo>
                <a:cubicBezTo>
                  <a:pt x="8509" y="736600"/>
                  <a:pt x="0" y="728091"/>
                  <a:pt x="0" y="7175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cn-1"/>
          <p:cNvSpPr txBox="1"/>
          <p:nvPr/>
        </p:nvSpPr>
        <p:spPr>
          <a:xfrm>
            <a:off x="8163560" y="3183255"/>
            <a:ext cx="9575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02  转换成本</a:t>
            </a:r>
          </a:p>
        </p:txBody>
      </p:sp>
      <p:sp>
        <p:nvSpPr>
          <p:cNvPr id="50" name="cd-1"/>
          <p:cNvSpPr txBox="1"/>
          <p:nvPr/>
        </p:nvSpPr>
        <p:spPr>
          <a:xfrm>
            <a:off x="8166989" y="3459845"/>
            <a:ext cx="1171258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数据与流程深度嵌入客户</a:t>
            </a:r>
          </a:p>
        </p:txBody>
      </p:sp>
      <p:sp>
        <p:nvSpPr>
          <p:cNvPr id="51" name="cs-1-0"/>
          <p:cNvSpPr/>
          <p:nvPr/>
        </p:nvSpPr>
        <p:spPr>
          <a:xfrm>
            <a:off x="9906000" y="325120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31750" y="0"/>
                </a:moveTo>
                <a:lnTo>
                  <a:pt x="69850" y="0"/>
                </a:lnTo>
                <a:cubicBezTo>
                  <a:pt x="87376" y="0"/>
                  <a:pt x="101600" y="14224"/>
                  <a:pt x="101600" y="31750"/>
                </a:cubicBezTo>
                <a:lnTo>
                  <a:pt x="101600" y="69850"/>
                </a:lnTo>
                <a:cubicBezTo>
                  <a:pt x="101600" y="87376"/>
                  <a:pt x="87376" y="101600"/>
                  <a:pt x="69850" y="101600"/>
                </a:cubicBezTo>
                <a:lnTo>
                  <a:pt x="31750" y="101600"/>
                </a:lnTo>
                <a:cubicBezTo>
                  <a:pt x="14224" y="101600"/>
                  <a:pt x="0" y="87376"/>
                  <a:pt x="0" y="698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cs-1-1"/>
          <p:cNvSpPr/>
          <p:nvPr/>
        </p:nvSpPr>
        <p:spPr>
          <a:xfrm>
            <a:off x="10045700" y="325120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31750" y="0"/>
                </a:moveTo>
                <a:lnTo>
                  <a:pt x="69850" y="0"/>
                </a:lnTo>
                <a:cubicBezTo>
                  <a:pt x="87376" y="0"/>
                  <a:pt x="101600" y="14224"/>
                  <a:pt x="101600" y="31750"/>
                </a:cubicBezTo>
                <a:lnTo>
                  <a:pt x="101600" y="69850"/>
                </a:lnTo>
                <a:cubicBezTo>
                  <a:pt x="101600" y="87376"/>
                  <a:pt x="87376" y="101600"/>
                  <a:pt x="69850" y="101600"/>
                </a:cubicBezTo>
                <a:lnTo>
                  <a:pt x="31750" y="101600"/>
                </a:lnTo>
                <a:cubicBezTo>
                  <a:pt x="14224" y="101600"/>
                  <a:pt x="0" y="87376"/>
                  <a:pt x="0" y="698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cs-1-2"/>
          <p:cNvSpPr/>
          <p:nvPr/>
        </p:nvSpPr>
        <p:spPr>
          <a:xfrm>
            <a:off x="10185400" y="325120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31750" y="0"/>
                </a:moveTo>
                <a:lnTo>
                  <a:pt x="69850" y="0"/>
                </a:lnTo>
                <a:cubicBezTo>
                  <a:pt x="87376" y="0"/>
                  <a:pt x="101600" y="14224"/>
                  <a:pt x="101600" y="31750"/>
                </a:cubicBezTo>
                <a:lnTo>
                  <a:pt x="101600" y="69850"/>
                </a:lnTo>
                <a:cubicBezTo>
                  <a:pt x="101600" y="87376"/>
                  <a:pt x="87376" y="101600"/>
                  <a:pt x="69850" y="101600"/>
                </a:cubicBezTo>
                <a:lnTo>
                  <a:pt x="31750" y="101600"/>
                </a:lnTo>
                <a:cubicBezTo>
                  <a:pt x="14224" y="101600"/>
                  <a:pt x="0" y="87376"/>
                  <a:pt x="0" y="698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cs-1-3"/>
          <p:cNvSpPr/>
          <p:nvPr/>
        </p:nvSpPr>
        <p:spPr>
          <a:xfrm>
            <a:off x="10325100" y="325120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31750" y="0"/>
                </a:moveTo>
                <a:lnTo>
                  <a:pt x="69850" y="0"/>
                </a:lnTo>
                <a:cubicBezTo>
                  <a:pt x="87376" y="0"/>
                  <a:pt x="101600" y="14224"/>
                  <a:pt x="101600" y="31750"/>
                </a:cubicBezTo>
                <a:lnTo>
                  <a:pt x="101600" y="69850"/>
                </a:lnTo>
                <a:cubicBezTo>
                  <a:pt x="101600" y="87376"/>
                  <a:pt x="87376" y="101600"/>
                  <a:pt x="69850" y="101600"/>
                </a:cubicBezTo>
                <a:lnTo>
                  <a:pt x="31750" y="101600"/>
                </a:lnTo>
                <a:cubicBezTo>
                  <a:pt x="14224" y="101600"/>
                  <a:pt x="0" y="87376"/>
                  <a:pt x="0" y="698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cs-1-4"/>
          <p:cNvSpPr/>
          <p:nvPr/>
        </p:nvSpPr>
        <p:spPr>
          <a:xfrm>
            <a:off x="10464800" y="325120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31750" y="0"/>
                </a:moveTo>
                <a:lnTo>
                  <a:pt x="69850" y="0"/>
                </a:lnTo>
                <a:cubicBezTo>
                  <a:pt x="87376" y="0"/>
                  <a:pt x="101600" y="14224"/>
                  <a:pt x="101600" y="31750"/>
                </a:cubicBezTo>
                <a:lnTo>
                  <a:pt x="101600" y="69850"/>
                </a:lnTo>
                <a:cubicBezTo>
                  <a:pt x="101600" y="87376"/>
                  <a:pt x="87376" y="101600"/>
                  <a:pt x="69850" y="101600"/>
                </a:cubicBezTo>
                <a:lnTo>
                  <a:pt x="31750" y="101600"/>
                </a:lnTo>
                <a:cubicBezTo>
                  <a:pt x="14224" y="101600"/>
                  <a:pt x="0" y="87376"/>
                  <a:pt x="0" y="698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E3EB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cy-1"/>
          <p:cNvSpPr txBox="1"/>
          <p:nvPr/>
        </p:nvSpPr>
        <p:spPr>
          <a:xfrm>
            <a:off x="10608310" y="3441002"/>
            <a:ext cx="498602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3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3 年</a:t>
            </a:r>
          </a:p>
        </p:txBody>
      </p:sp>
      <p:sp>
        <p:nvSpPr>
          <p:cNvPr id="57" name="cyl-1"/>
          <p:cNvSpPr txBox="1"/>
          <p:nvPr/>
        </p:nvSpPr>
        <p:spPr>
          <a:xfrm>
            <a:off x="10293858" y="3522408"/>
            <a:ext cx="2578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复制</a:t>
            </a:r>
          </a:p>
        </p:txBody>
      </p:sp>
      <p:sp>
        <p:nvSpPr>
          <p:cNvPr id="58" name="c-2"/>
          <p:cNvSpPr/>
          <p:nvPr/>
        </p:nvSpPr>
        <p:spPr>
          <a:xfrm>
            <a:off x="8001000" y="3898900"/>
            <a:ext cx="3238500" cy="736600"/>
          </a:xfrm>
          <a:custGeom>
            <a:avLst/>
            <a:gdLst/>
            <a:ahLst/>
            <a:cxnLst/>
            <a:rect l="0" t="0" r="r" b="b"/>
            <a:pathLst>
              <a:path w="3238500" h="736600">
                <a:moveTo>
                  <a:pt x="127000" y="0"/>
                </a:moveTo>
                <a:lnTo>
                  <a:pt x="3111500" y="0"/>
                </a:lnTo>
                <a:cubicBezTo>
                  <a:pt x="3181667" y="0"/>
                  <a:pt x="3238500" y="56833"/>
                  <a:pt x="3238500" y="127000"/>
                </a:cubicBezTo>
                <a:lnTo>
                  <a:pt x="3238500" y="609600"/>
                </a:lnTo>
                <a:cubicBezTo>
                  <a:pt x="3238500" y="679767"/>
                  <a:pt x="3181667" y="736600"/>
                  <a:pt x="3111500" y="736600"/>
                </a:cubicBezTo>
                <a:lnTo>
                  <a:pt x="127000" y="736600"/>
                </a:lnTo>
                <a:cubicBezTo>
                  <a:pt x="56833" y="736600"/>
                  <a:pt x="0" y="679767"/>
                  <a:pt x="0" y="6096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cb-2"/>
          <p:cNvSpPr/>
          <p:nvPr/>
        </p:nvSpPr>
        <p:spPr>
          <a:xfrm>
            <a:off x="8001000" y="3898900"/>
            <a:ext cx="38100" cy="736600"/>
          </a:xfrm>
          <a:custGeom>
            <a:avLst/>
            <a:gdLst/>
            <a:ahLst/>
            <a:cxnLst/>
            <a:rect l="0" t="0" r="r" b="b"/>
            <a:pathLst>
              <a:path w="38100" h="7366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717550"/>
                </a:lnTo>
                <a:cubicBezTo>
                  <a:pt x="38100" y="728091"/>
                  <a:pt x="29591" y="736600"/>
                  <a:pt x="19050" y="736600"/>
                </a:cubicBezTo>
                <a:lnTo>
                  <a:pt x="19050" y="736600"/>
                </a:lnTo>
                <a:cubicBezTo>
                  <a:pt x="8509" y="736600"/>
                  <a:pt x="0" y="728091"/>
                  <a:pt x="0" y="7175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cn-2"/>
          <p:cNvSpPr txBox="1"/>
          <p:nvPr/>
        </p:nvSpPr>
        <p:spPr>
          <a:xfrm>
            <a:off x="8163560" y="4021455"/>
            <a:ext cx="9575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03  网络效应</a:t>
            </a:r>
          </a:p>
        </p:txBody>
      </p:sp>
      <p:sp>
        <p:nvSpPr>
          <p:cNvPr id="61" name="cd-2"/>
          <p:cNvSpPr txBox="1"/>
          <p:nvPr/>
        </p:nvSpPr>
        <p:spPr>
          <a:xfrm>
            <a:off x="8166989" y="4298045"/>
            <a:ext cx="1171258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伙伴越多，客户越离不开</a:t>
            </a:r>
          </a:p>
        </p:txBody>
      </p:sp>
      <p:sp>
        <p:nvSpPr>
          <p:cNvPr id="62" name="cs-2-0"/>
          <p:cNvSpPr/>
          <p:nvPr/>
        </p:nvSpPr>
        <p:spPr>
          <a:xfrm>
            <a:off x="9906000" y="408940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31750" y="0"/>
                </a:moveTo>
                <a:lnTo>
                  <a:pt x="69850" y="0"/>
                </a:lnTo>
                <a:cubicBezTo>
                  <a:pt x="87376" y="0"/>
                  <a:pt x="101600" y="14224"/>
                  <a:pt x="101600" y="31750"/>
                </a:cubicBezTo>
                <a:lnTo>
                  <a:pt x="101600" y="69850"/>
                </a:lnTo>
                <a:cubicBezTo>
                  <a:pt x="101600" y="87376"/>
                  <a:pt x="87376" y="101600"/>
                  <a:pt x="69850" y="101600"/>
                </a:cubicBezTo>
                <a:lnTo>
                  <a:pt x="31750" y="101600"/>
                </a:lnTo>
                <a:cubicBezTo>
                  <a:pt x="14224" y="101600"/>
                  <a:pt x="0" y="87376"/>
                  <a:pt x="0" y="698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cs-2-1"/>
          <p:cNvSpPr/>
          <p:nvPr/>
        </p:nvSpPr>
        <p:spPr>
          <a:xfrm>
            <a:off x="10045700" y="408940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31750" y="0"/>
                </a:moveTo>
                <a:lnTo>
                  <a:pt x="69850" y="0"/>
                </a:lnTo>
                <a:cubicBezTo>
                  <a:pt x="87376" y="0"/>
                  <a:pt x="101600" y="14224"/>
                  <a:pt x="101600" y="31750"/>
                </a:cubicBezTo>
                <a:lnTo>
                  <a:pt x="101600" y="69850"/>
                </a:lnTo>
                <a:cubicBezTo>
                  <a:pt x="101600" y="87376"/>
                  <a:pt x="87376" y="101600"/>
                  <a:pt x="69850" y="101600"/>
                </a:cubicBezTo>
                <a:lnTo>
                  <a:pt x="31750" y="101600"/>
                </a:lnTo>
                <a:cubicBezTo>
                  <a:pt x="14224" y="101600"/>
                  <a:pt x="0" y="87376"/>
                  <a:pt x="0" y="698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cs-2-2"/>
          <p:cNvSpPr/>
          <p:nvPr/>
        </p:nvSpPr>
        <p:spPr>
          <a:xfrm>
            <a:off x="10185400" y="408940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31750" y="0"/>
                </a:moveTo>
                <a:lnTo>
                  <a:pt x="69850" y="0"/>
                </a:lnTo>
                <a:cubicBezTo>
                  <a:pt x="87376" y="0"/>
                  <a:pt x="101600" y="14224"/>
                  <a:pt x="101600" y="31750"/>
                </a:cubicBezTo>
                <a:lnTo>
                  <a:pt x="101600" y="69850"/>
                </a:lnTo>
                <a:cubicBezTo>
                  <a:pt x="101600" y="87376"/>
                  <a:pt x="87376" y="101600"/>
                  <a:pt x="69850" y="101600"/>
                </a:cubicBezTo>
                <a:lnTo>
                  <a:pt x="31750" y="101600"/>
                </a:lnTo>
                <a:cubicBezTo>
                  <a:pt x="14224" y="101600"/>
                  <a:pt x="0" y="87376"/>
                  <a:pt x="0" y="698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cs-2-3"/>
          <p:cNvSpPr/>
          <p:nvPr/>
        </p:nvSpPr>
        <p:spPr>
          <a:xfrm>
            <a:off x="10325100" y="408940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31750" y="0"/>
                </a:moveTo>
                <a:lnTo>
                  <a:pt x="69850" y="0"/>
                </a:lnTo>
                <a:cubicBezTo>
                  <a:pt x="87376" y="0"/>
                  <a:pt x="101600" y="14224"/>
                  <a:pt x="101600" y="31750"/>
                </a:cubicBezTo>
                <a:lnTo>
                  <a:pt x="101600" y="69850"/>
                </a:lnTo>
                <a:cubicBezTo>
                  <a:pt x="101600" y="87376"/>
                  <a:pt x="87376" y="101600"/>
                  <a:pt x="69850" y="101600"/>
                </a:cubicBezTo>
                <a:lnTo>
                  <a:pt x="31750" y="101600"/>
                </a:lnTo>
                <a:cubicBezTo>
                  <a:pt x="14224" y="101600"/>
                  <a:pt x="0" y="87376"/>
                  <a:pt x="0" y="698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cs-2-4"/>
          <p:cNvSpPr/>
          <p:nvPr/>
        </p:nvSpPr>
        <p:spPr>
          <a:xfrm>
            <a:off x="10464800" y="408940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31750" y="0"/>
                </a:moveTo>
                <a:lnTo>
                  <a:pt x="69850" y="0"/>
                </a:lnTo>
                <a:cubicBezTo>
                  <a:pt x="87376" y="0"/>
                  <a:pt x="101600" y="14224"/>
                  <a:pt x="101600" y="31750"/>
                </a:cubicBezTo>
                <a:lnTo>
                  <a:pt x="101600" y="69850"/>
                </a:lnTo>
                <a:cubicBezTo>
                  <a:pt x="101600" y="87376"/>
                  <a:pt x="87376" y="101600"/>
                  <a:pt x="69850" y="101600"/>
                </a:cubicBezTo>
                <a:lnTo>
                  <a:pt x="31750" y="101600"/>
                </a:lnTo>
                <a:cubicBezTo>
                  <a:pt x="14224" y="101600"/>
                  <a:pt x="0" y="87376"/>
                  <a:pt x="0" y="698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E3EB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cy-2"/>
          <p:cNvSpPr txBox="1"/>
          <p:nvPr/>
        </p:nvSpPr>
        <p:spPr>
          <a:xfrm>
            <a:off x="10608310" y="4279202"/>
            <a:ext cx="498602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3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4 年</a:t>
            </a:r>
          </a:p>
        </p:txBody>
      </p:sp>
      <p:sp>
        <p:nvSpPr>
          <p:cNvPr id="68" name="cyl-2"/>
          <p:cNvSpPr txBox="1"/>
          <p:nvPr/>
        </p:nvSpPr>
        <p:spPr>
          <a:xfrm>
            <a:off x="10293858" y="4360608"/>
            <a:ext cx="2578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复制</a:t>
            </a:r>
          </a:p>
        </p:txBody>
      </p:sp>
      <p:sp>
        <p:nvSpPr>
          <p:cNvPr id="69" name="c-3"/>
          <p:cNvSpPr/>
          <p:nvPr/>
        </p:nvSpPr>
        <p:spPr>
          <a:xfrm>
            <a:off x="8001000" y="4737100"/>
            <a:ext cx="3238500" cy="736600"/>
          </a:xfrm>
          <a:custGeom>
            <a:avLst/>
            <a:gdLst/>
            <a:ahLst/>
            <a:cxnLst/>
            <a:rect l="0" t="0" r="r" b="b"/>
            <a:pathLst>
              <a:path w="3238500" h="736600">
                <a:moveTo>
                  <a:pt x="127000" y="0"/>
                </a:moveTo>
                <a:lnTo>
                  <a:pt x="3111500" y="0"/>
                </a:lnTo>
                <a:cubicBezTo>
                  <a:pt x="3181667" y="0"/>
                  <a:pt x="3238500" y="56833"/>
                  <a:pt x="3238500" y="127000"/>
                </a:cubicBezTo>
                <a:lnTo>
                  <a:pt x="3238500" y="609600"/>
                </a:lnTo>
                <a:cubicBezTo>
                  <a:pt x="3238500" y="679767"/>
                  <a:pt x="3181667" y="736600"/>
                  <a:pt x="3111500" y="736600"/>
                </a:cubicBezTo>
                <a:lnTo>
                  <a:pt x="127000" y="736600"/>
                </a:lnTo>
                <a:cubicBezTo>
                  <a:pt x="56833" y="736600"/>
                  <a:pt x="0" y="679767"/>
                  <a:pt x="0" y="6096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cb-3"/>
          <p:cNvSpPr/>
          <p:nvPr/>
        </p:nvSpPr>
        <p:spPr>
          <a:xfrm>
            <a:off x="8001000" y="4737100"/>
            <a:ext cx="38100" cy="736600"/>
          </a:xfrm>
          <a:custGeom>
            <a:avLst/>
            <a:gdLst/>
            <a:ahLst/>
            <a:cxnLst/>
            <a:rect l="0" t="0" r="r" b="b"/>
            <a:pathLst>
              <a:path w="38100" h="7366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717550"/>
                </a:lnTo>
                <a:cubicBezTo>
                  <a:pt x="38100" y="728091"/>
                  <a:pt x="29591" y="736600"/>
                  <a:pt x="19050" y="736600"/>
                </a:cubicBezTo>
                <a:lnTo>
                  <a:pt x="19050" y="736600"/>
                </a:lnTo>
                <a:cubicBezTo>
                  <a:pt x="8509" y="736600"/>
                  <a:pt x="0" y="728091"/>
                  <a:pt x="0" y="7175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cn-3"/>
          <p:cNvSpPr txBox="1"/>
          <p:nvPr/>
        </p:nvSpPr>
        <p:spPr>
          <a:xfrm>
            <a:off x="8163560" y="4859655"/>
            <a:ext cx="9575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04  品牌认知</a:t>
            </a:r>
          </a:p>
        </p:txBody>
      </p:sp>
      <p:sp>
        <p:nvSpPr>
          <p:cNvPr id="72" name="cd-3"/>
          <p:cNvSpPr txBox="1"/>
          <p:nvPr/>
        </p:nvSpPr>
        <p:spPr>
          <a:xfrm>
            <a:off x="8166989" y="5136245"/>
            <a:ext cx="1194880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行业首选率 41%，排第一</a:t>
            </a:r>
          </a:p>
        </p:txBody>
      </p:sp>
      <p:sp>
        <p:nvSpPr>
          <p:cNvPr id="73" name="cs-3-0"/>
          <p:cNvSpPr/>
          <p:nvPr/>
        </p:nvSpPr>
        <p:spPr>
          <a:xfrm>
            <a:off x="9906000" y="492760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31750" y="0"/>
                </a:moveTo>
                <a:lnTo>
                  <a:pt x="69850" y="0"/>
                </a:lnTo>
                <a:cubicBezTo>
                  <a:pt x="87376" y="0"/>
                  <a:pt x="101600" y="14224"/>
                  <a:pt x="101600" y="31750"/>
                </a:cubicBezTo>
                <a:lnTo>
                  <a:pt x="101600" y="69850"/>
                </a:lnTo>
                <a:cubicBezTo>
                  <a:pt x="101600" y="87376"/>
                  <a:pt x="87376" y="101600"/>
                  <a:pt x="69850" y="101600"/>
                </a:cubicBezTo>
                <a:lnTo>
                  <a:pt x="31750" y="101600"/>
                </a:lnTo>
                <a:cubicBezTo>
                  <a:pt x="14224" y="101600"/>
                  <a:pt x="0" y="87376"/>
                  <a:pt x="0" y="698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cs-3-1"/>
          <p:cNvSpPr/>
          <p:nvPr/>
        </p:nvSpPr>
        <p:spPr>
          <a:xfrm>
            <a:off x="10045700" y="492760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31750" y="0"/>
                </a:moveTo>
                <a:lnTo>
                  <a:pt x="69850" y="0"/>
                </a:lnTo>
                <a:cubicBezTo>
                  <a:pt x="87376" y="0"/>
                  <a:pt x="101600" y="14224"/>
                  <a:pt x="101600" y="31750"/>
                </a:cubicBezTo>
                <a:lnTo>
                  <a:pt x="101600" y="69850"/>
                </a:lnTo>
                <a:cubicBezTo>
                  <a:pt x="101600" y="87376"/>
                  <a:pt x="87376" y="101600"/>
                  <a:pt x="69850" y="101600"/>
                </a:cubicBezTo>
                <a:lnTo>
                  <a:pt x="31750" y="101600"/>
                </a:lnTo>
                <a:cubicBezTo>
                  <a:pt x="14224" y="101600"/>
                  <a:pt x="0" y="87376"/>
                  <a:pt x="0" y="698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cs-3-2"/>
          <p:cNvSpPr/>
          <p:nvPr/>
        </p:nvSpPr>
        <p:spPr>
          <a:xfrm>
            <a:off x="10185400" y="492760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31750" y="0"/>
                </a:moveTo>
                <a:lnTo>
                  <a:pt x="69850" y="0"/>
                </a:lnTo>
                <a:cubicBezTo>
                  <a:pt x="87376" y="0"/>
                  <a:pt x="101600" y="14224"/>
                  <a:pt x="101600" y="31750"/>
                </a:cubicBezTo>
                <a:lnTo>
                  <a:pt x="101600" y="69850"/>
                </a:lnTo>
                <a:cubicBezTo>
                  <a:pt x="101600" y="87376"/>
                  <a:pt x="87376" y="101600"/>
                  <a:pt x="69850" y="101600"/>
                </a:cubicBezTo>
                <a:lnTo>
                  <a:pt x="31750" y="101600"/>
                </a:lnTo>
                <a:cubicBezTo>
                  <a:pt x="14224" y="101600"/>
                  <a:pt x="0" y="87376"/>
                  <a:pt x="0" y="698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cs-3-3"/>
          <p:cNvSpPr/>
          <p:nvPr/>
        </p:nvSpPr>
        <p:spPr>
          <a:xfrm>
            <a:off x="10325100" y="492760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31750" y="0"/>
                </a:moveTo>
                <a:lnTo>
                  <a:pt x="69850" y="0"/>
                </a:lnTo>
                <a:cubicBezTo>
                  <a:pt x="87376" y="0"/>
                  <a:pt x="101600" y="14224"/>
                  <a:pt x="101600" y="31750"/>
                </a:cubicBezTo>
                <a:lnTo>
                  <a:pt x="101600" y="69850"/>
                </a:lnTo>
                <a:cubicBezTo>
                  <a:pt x="101600" y="87376"/>
                  <a:pt x="87376" y="101600"/>
                  <a:pt x="69850" y="101600"/>
                </a:cubicBezTo>
                <a:lnTo>
                  <a:pt x="31750" y="101600"/>
                </a:lnTo>
                <a:cubicBezTo>
                  <a:pt x="14224" y="101600"/>
                  <a:pt x="0" y="87376"/>
                  <a:pt x="0" y="698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cs-3-4"/>
          <p:cNvSpPr/>
          <p:nvPr/>
        </p:nvSpPr>
        <p:spPr>
          <a:xfrm>
            <a:off x="10464800" y="492760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31750" y="0"/>
                </a:moveTo>
                <a:lnTo>
                  <a:pt x="69850" y="0"/>
                </a:lnTo>
                <a:cubicBezTo>
                  <a:pt x="87376" y="0"/>
                  <a:pt x="101600" y="14224"/>
                  <a:pt x="101600" y="31750"/>
                </a:cubicBezTo>
                <a:lnTo>
                  <a:pt x="101600" y="69850"/>
                </a:lnTo>
                <a:cubicBezTo>
                  <a:pt x="101600" y="87376"/>
                  <a:pt x="87376" y="101600"/>
                  <a:pt x="69850" y="101600"/>
                </a:cubicBezTo>
                <a:lnTo>
                  <a:pt x="31750" y="101600"/>
                </a:lnTo>
                <a:cubicBezTo>
                  <a:pt x="14224" y="101600"/>
                  <a:pt x="0" y="87376"/>
                  <a:pt x="0" y="698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cy-3"/>
          <p:cNvSpPr txBox="1"/>
          <p:nvPr/>
        </p:nvSpPr>
        <p:spPr>
          <a:xfrm>
            <a:off x="10608310" y="5117402"/>
            <a:ext cx="498602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30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5 年</a:t>
            </a:r>
          </a:p>
        </p:txBody>
      </p:sp>
      <p:sp>
        <p:nvSpPr>
          <p:cNvPr id="79" name="cyl-3"/>
          <p:cNvSpPr txBox="1"/>
          <p:nvPr/>
        </p:nvSpPr>
        <p:spPr>
          <a:xfrm>
            <a:off x="10293858" y="5198808"/>
            <a:ext cx="2578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复制</a:t>
            </a:r>
          </a:p>
        </p:txBody>
      </p:sp>
      <p:cxnSp>
        <p:nvCxnSpPr>
          <p:cNvPr id="80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foot-l"/>
          <p:cNvSpPr txBox="1"/>
          <p:nvPr/>
        </p:nvSpPr>
        <p:spPr>
          <a:xfrm>
            <a:off x="573532" y="6532308"/>
            <a:ext cx="9469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护城河 · 竞争壁垒</a:t>
            </a:r>
          </a:p>
        </p:txBody>
      </p:sp>
      <p:sp>
        <p:nvSpPr>
          <p:cNvPr id="82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项目实施路径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208330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IMPLEMENTATION ROADMAP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466199" y="673132"/>
            <a:ext cx="21545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五个阶段闭环推进，每阶段交付明确成果</a:t>
            </a:r>
          </a:p>
        </p:txBody>
      </p:sp>
      <p:cxnSp>
        <p:nvCxnSpPr>
          <p:cNvPr id="10" name="axis"/>
          <p:cNvCxnSpPr/>
          <p:nvPr/>
        </p:nvCxnSpPr>
        <p:spPr>
          <a:xfrm>
            <a:off x="825500" y="1905000"/>
            <a:ext cx="10541000" cy="0"/>
          </a:xfrm>
          <a:prstGeom prst="line">
            <a:avLst/>
          </a:prstGeom>
          <a:ln w="635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axis-start"/>
          <p:cNvSpPr/>
          <p:nvPr/>
        </p:nvSpPr>
        <p:spPr>
          <a:xfrm>
            <a:off x="774700" y="1771650"/>
            <a:ext cx="685800" cy="266700"/>
          </a:xfrm>
          <a:custGeom>
            <a:avLst/>
            <a:gdLst/>
            <a:ahLst/>
            <a:cxnLst/>
            <a:rect l="0" t="0" r="r" b="b"/>
            <a:pathLst>
              <a:path w="685800" h="266700">
                <a:moveTo>
                  <a:pt x="133350" y="0"/>
                </a:moveTo>
                <a:lnTo>
                  <a:pt x="552450" y="0"/>
                </a:lnTo>
                <a:cubicBezTo>
                  <a:pt x="626110" y="0"/>
                  <a:pt x="685800" y="59690"/>
                  <a:pt x="685800" y="133350"/>
                </a:cubicBezTo>
                <a:lnTo>
                  <a:pt x="685800" y="133350"/>
                </a:lnTo>
                <a:cubicBezTo>
                  <a:pt x="685800" y="207010"/>
                  <a:pt x="626110" y="266700"/>
                  <a:pt x="552450" y="266700"/>
                </a:cubicBezTo>
                <a:lnTo>
                  <a:pt x="133350" y="266700"/>
                </a:lnTo>
                <a:cubicBezTo>
                  <a:pt x="59690" y="266700"/>
                  <a:pt x="0" y="207010"/>
                  <a:pt x="0" y="133350"/>
                </a:cubicBezTo>
                <a:lnTo>
                  <a:pt x="0" y="133350"/>
                </a:lnTo>
                <a:cubicBezTo>
                  <a:pt x="0" y="59690"/>
                  <a:pt x="59690" y="0"/>
                  <a:pt x="1333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axis-start-t"/>
          <p:cNvSpPr txBox="1"/>
          <p:nvPr/>
        </p:nvSpPr>
        <p:spPr>
          <a:xfrm>
            <a:off x="957580" y="1823974"/>
            <a:ext cx="3200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启动</a:t>
            </a:r>
          </a:p>
        </p:txBody>
      </p:sp>
      <p:sp>
        <p:nvSpPr>
          <p:cNvPr id="13" name="axis-end-t"/>
          <p:cNvSpPr txBox="1"/>
          <p:nvPr/>
        </p:nvSpPr>
        <p:spPr>
          <a:xfrm>
            <a:off x="10817352" y="1627124"/>
            <a:ext cx="5359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7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全面上线</a:t>
            </a:r>
          </a:p>
        </p:txBody>
      </p:sp>
      <p:sp>
        <p:nvSpPr>
          <p:cNvPr id="14" name="axis-arrow"/>
          <p:cNvSpPr/>
          <p:nvPr/>
        </p:nvSpPr>
        <p:spPr>
          <a:xfrm>
            <a:off x="11264900" y="1873250"/>
            <a:ext cx="101600" cy="63500"/>
          </a:xfrm>
          <a:custGeom>
            <a:avLst/>
            <a:gdLst/>
            <a:ahLst/>
            <a:cxnLst/>
            <a:rect l="0" t="0" r="r" b="b"/>
            <a:pathLst>
              <a:path w="101600" h="63500">
                <a:moveTo>
                  <a:pt x="0" y="0"/>
                </a:moveTo>
                <a:lnTo>
                  <a:pt x="101600" y="31750"/>
                </a:lnTo>
                <a:lnTo>
                  <a:pt x="0" y="63500"/>
                </a:lnTo>
              </a:path>
            </a:pathLst>
          </a:custGeom>
          <a:noFill/>
          <a:ln w="8890" cap="rnd">
            <a:solidFill>
              <a:srgbClr val="0B2545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tick-01"/>
          <p:cNvSpPr/>
          <p:nvPr/>
        </p:nvSpPr>
        <p:spPr>
          <a:xfrm>
            <a:off x="1809115" y="1870075"/>
            <a:ext cx="69850" cy="6985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tick-r-01"/>
          <p:cNvSpPr/>
          <p:nvPr/>
        </p:nvSpPr>
        <p:spPr>
          <a:xfrm>
            <a:off x="1780540" y="1841500"/>
            <a:ext cx="127000" cy="127000"/>
          </a:xfrm>
          <a:prstGeom prst="ellipse">
            <a:avLst/>
          </a:prstGeom>
          <a:noFill/>
          <a:ln w="7620" cap="rnd">
            <a:solidFill>
              <a:srgbClr val="0B3E8F">
                <a:alpha val="3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period-01"/>
          <p:cNvSpPr txBox="1"/>
          <p:nvPr/>
        </p:nvSpPr>
        <p:spPr>
          <a:xfrm>
            <a:off x="1541145" y="1639824"/>
            <a:ext cx="60579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第 1–2 周</a:t>
            </a:r>
          </a:p>
        </p:txBody>
      </p:sp>
      <p:cxnSp>
        <p:nvCxnSpPr>
          <p:cNvPr id="18" name="drop-01"/>
          <p:cNvCxnSpPr/>
          <p:nvPr/>
        </p:nvCxnSpPr>
        <p:spPr>
          <a:xfrm>
            <a:off x="1844040" y="1981200"/>
            <a:ext cx="0" cy="279400"/>
          </a:xfrm>
          <a:prstGeom prst="line">
            <a:avLst/>
          </a:prstGeom>
          <a:ln w="6350" cap="rnd">
            <a:solidFill>
              <a:srgbClr val="0B3E8F">
                <a:alpha val="2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chip"/>
          <p:cNvSpPr/>
          <p:nvPr/>
        </p:nvSpPr>
        <p:spPr>
          <a:xfrm>
            <a:off x="1653540" y="2273300"/>
            <a:ext cx="381000" cy="381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chip-ring"/>
          <p:cNvSpPr/>
          <p:nvPr/>
        </p:nvSpPr>
        <p:spPr>
          <a:xfrm>
            <a:off x="1653540" y="2273300"/>
            <a:ext cx="381000" cy="381000"/>
          </a:xfrm>
          <a:prstGeom prst="ellipse">
            <a:avLst/>
          </a:prstGeom>
          <a:noFill/>
          <a:ln w="6350" cap="rnd">
            <a:solidFill>
              <a:srgbClr val="0B3E8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icon-search"/>
          <p:cNvSpPr/>
          <p:nvPr/>
        </p:nvSpPr>
        <p:spPr>
          <a:xfrm>
            <a:off x="1871027" y="2490788"/>
            <a:ext cx="31750" cy="31750"/>
          </a:xfrm>
          <a:custGeom>
            <a:avLst/>
            <a:gdLst/>
            <a:ahLst/>
            <a:cxnLst/>
            <a:rect l="0" t="0" r="r" b="b"/>
            <a:pathLst>
              <a:path w="31750" h="31750">
                <a:moveTo>
                  <a:pt x="31750" y="31750"/>
                </a:moveTo>
                <a:lnTo>
                  <a:pt x="0" y="0"/>
                </a:lnTo>
              </a:path>
            </a:pathLst>
          </a:custGeom>
          <a:noFill/>
          <a:ln w="1143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icon-search"/>
          <p:cNvSpPr/>
          <p:nvPr/>
        </p:nvSpPr>
        <p:spPr>
          <a:xfrm>
            <a:off x="1785302" y="2405062"/>
            <a:ext cx="101600" cy="101600"/>
          </a:xfrm>
          <a:prstGeom prst="ellipse">
            <a:avLst/>
          </a:prstGeom>
          <a:noFill/>
          <a:ln w="1143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step-01"/>
          <p:cNvSpPr/>
          <p:nvPr/>
        </p:nvSpPr>
        <p:spPr>
          <a:xfrm>
            <a:off x="825500" y="2908300"/>
            <a:ext cx="2018030" cy="927100"/>
          </a:xfrm>
          <a:custGeom>
            <a:avLst/>
            <a:gdLst/>
            <a:ahLst/>
            <a:cxnLst/>
            <a:rect l="0" t="0" r="r" b="b"/>
            <a:pathLst>
              <a:path w="2018030" h="927100">
                <a:moveTo>
                  <a:pt x="76200" y="0"/>
                </a:moveTo>
                <a:lnTo>
                  <a:pt x="1816100" y="0"/>
                </a:lnTo>
                <a:quadBezTo>
                  <a:pt x="1869440" y="0"/>
                  <a:pt x="1892300" y="74168"/>
                </a:quadBezTo>
                <a:lnTo>
                  <a:pt x="1998980" y="436880"/>
                </a:lnTo>
                <a:quadBezTo>
                  <a:pt x="2037080" y="463550"/>
                  <a:pt x="1998980" y="490220"/>
                </a:quadBezTo>
                <a:lnTo>
                  <a:pt x="1892300" y="852932"/>
                </a:lnTo>
                <a:quadBezTo>
                  <a:pt x="1869440" y="927100"/>
                  <a:pt x="1816100" y="927100"/>
                </a:quadBezTo>
                <a:lnTo>
                  <a:pt x="76200" y="927100"/>
                </a:lnTo>
                <a:cubicBezTo>
                  <a:pt x="34100" y="927100"/>
                  <a:pt x="0" y="893000"/>
                  <a:pt x="0" y="8509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23519A"/>
              </a:gs>
              <a:gs pos="100000">
                <a:srgbClr val="0B3E8F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step-num-01"/>
          <p:cNvSpPr txBox="1"/>
          <p:nvPr/>
        </p:nvSpPr>
        <p:spPr>
          <a:xfrm>
            <a:off x="1015492" y="2997264"/>
            <a:ext cx="448818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50">
                <a:solidFill>
                  <a:srgbClr val="FFFFFF">
                    <a:alpha val="42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25" name="step-name-01"/>
          <p:cNvSpPr txBox="1"/>
          <p:nvPr/>
        </p:nvSpPr>
        <p:spPr>
          <a:xfrm>
            <a:off x="1021588" y="3390202"/>
            <a:ext cx="8597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调研诊断</a:t>
            </a:r>
          </a:p>
        </p:txBody>
      </p:sp>
      <p:sp>
        <p:nvSpPr>
          <p:cNvPr id="26" name="step-p-01-1"/>
          <p:cNvSpPr txBox="1"/>
          <p:nvPr/>
        </p:nvSpPr>
        <p:spPr>
          <a:xfrm>
            <a:off x="1282541" y="40537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梳理业务现状与痛点</a:t>
            </a:r>
          </a:p>
        </p:txBody>
      </p:sp>
      <p:sp>
        <p:nvSpPr>
          <p:cNvPr id="27" name="step-p-01-2"/>
          <p:cNvSpPr txBox="1"/>
          <p:nvPr/>
        </p:nvSpPr>
        <p:spPr>
          <a:xfrm>
            <a:off x="1453039" y="4237911"/>
            <a:ext cx="7820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输出诊断报告</a:t>
            </a:r>
          </a:p>
        </p:txBody>
      </p:sp>
      <p:sp>
        <p:nvSpPr>
          <p:cNvPr id="28" name="deliv-01"/>
          <p:cNvSpPr/>
          <p:nvPr/>
        </p:nvSpPr>
        <p:spPr>
          <a:xfrm>
            <a:off x="1278890" y="4648200"/>
            <a:ext cx="1130300" cy="279400"/>
          </a:xfrm>
          <a:custGeom>
            <a:avLst/>
            <a:gdLst/>
            <a:ahLst/>
            <a:cxnLst/>
            <a:rect l="0" t="0" r="r" b="b"/>
            <a:pathLst>
              <a:path w="1130300" h="279400">
                <a:moveTo>
                  <a:pt x="139700" y="0"/>
                </a:moveTo>
                <a:lnTo>
                  <a:pt x="990600" y="0"/>
                </a:lnTo>
                <a:cubicBezTo>
                  <a:pt x="1067752" y="0"/>
                  <a:pt x="1130300" y="62548"/>
                  <a:pt x="1130300" y="139700"/>
                </a:cubicBezTo>
                <a:lnTo>
                  <a:pt x="1130300" y="139700"/>
                </a:lnTo>
                <a:cubicBezTo>
                  <a:pt x="1130300" y="216852"/>
                  <a:pt x="1067752" y="279400"/>
                  <a:pt x="990600" y="279400"/>
                </a:cubicBezTo>
                <a:lnTo>
                  <a:pt x="139700" y="279400"/>
                </a:lnTo>
                <a:cubicBezTo>
                  <a:pt x="62547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0B3E8F">
                <a:alpha val="28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icon-check"/>
          <p:cNvSpPr/>
          <p:nvPr/>
        </p:nvSpPr>
        <p:spPr>
          <a:xfrm>
            <a:off x="1427924" y="4768088"/>
            <a:ext cx="57531" cy="40513"/>
          </a:xfrm>
          <a:custGeom>
            <a:avLst/>
            <a:gdLst/>
            <a:ahLst/>
            <a:cxnLst/>
            <a:rect l="0" t="0" r="r" b="b"/>
            <a:pathLst>
              <a:path w="57531" h="40513">
                <a:moveTo>
                  <a:pt x="0" y="21590"/>
                </a:moveTo>
                <a:lnTo>
                  <a:pt x="18859" y="40513"/>
                </a:lnTo>
                <a:lnTo>
                  <a:pt x="57531" y="0"/>
                </a:lnTo>
              </a:path>
            </a:pathLst>
          </a:custGeom>
          <a:noFill/>
          <a:ln w="1397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deliv-t-01"/>
          <p:cNvSpPr txBox="1"/>
          <p:nvPr/>
        </p:nvSpPr>
        <p:spPr>
          <a:xfrm>
            <a:off x="1520190" y="4700524"/>
            <a:ext cx="7239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业务诊断报告</a:t>
            </a:r>
          </a:p>
        </p:txBody>
      </p:sp>
      <p:sp>
        <p:nvSpPr>
          <p:cNvPr id="31" name="tick-02"/>
          <p:cNvSpPr/>
          <p:nvPr/>
        </p:nvSpPr>
        <p:spPr>
          <a:xfrm>
            <a:off x="3935095" y="1870075"/>
            <a:ext cx="69850" cy="6985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tick-r-02"/>
          <p:cNvSpPr/>
          <p:nvPr/>
        </p:nvSpPr>
        <p:spPr>
          <a:xfrm>
            <a:off x="3906520" y="1841500"/>
            <a:ext cx="127000" cy="127000"/>
          </a:xfrm>
          <a:prstGeom prst="ellipse">
            <a:avLst/>
          </a:prstGeom>
          <a:noFill/>
          <a:ln w="7620" cap="rnd">
            <a:solidFill>
              <a:srgbClr val="1B5AA8">
                <a:alpha val="3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period-02"/>
          <p:cNvSpPr txBox="1"/>
          <p:nvPr/>
        </p:nvSpPr>
        <p:spPr>
          <a:xfrm>
            <a:off x="3667125" y="1639824"/>
            <a:ext cx="60579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第 3–5 周</a:t>
            </a:r>
          </a:p>
        </p:txBody>
      </p:sp>
      <p:cxnSp>
        <p:nvCxnSpPr>
          <p:cNvPr id="34" name="drop-02"/>
          <p:cNvCxnSpPr/>
          <p:nvPr/>
        </p:nvCxnSpPr>
        <p:spPr>
          <a:xfrm>
            <a:off x="3970020" y="1981200"/>
            <a:ext cx="0" cy="279400"/>
          </a:xfrm>
          <a:prstGeom prst="line">
            <a:avLst/>
          </a:prstGeom>
          <a:ln w="6350" cap="rnd">
            <a:solidFill>
              <a:srgbClr val="1B5AA8">
                <a:alpha val="2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chip"/>
          <p:cNvSpPr/>
          <p:nvPr/>
        </p:nvSpPr>
        <p:spPr>
          <a:xfrm>
            <a:off x="3779520" y="2273300"/>
            <a:ext cx="381000" cy="381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chip-ring"/>
          <p:cNvSpPr/>
          <p:nvPr/>
        </p:nvSpPr>
        <p:spPr>
          <a:xfrm>
            <a:off x="3779520" y="2273300"/>
            <a:ext cx="381000" cy="381000"/>
          </a:xfrm>
          <a:prstGeom prst="ellipse">
            <a:avLst/>
          </a:prstGeom>
          <a:noFill/>
          <a:ln w="6350" cap="rnd">
            <a:solidFill>
              <a:srgbClr val="1B5AA8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icon-doc"/>
          <p:cNvSpPr/>
          <p:nvPr/>
        </p:nvSpPr>
        <p:spPr>
          <a:xfrm>
            <a:off x="3927158" y="2397125"/>
            <a:ext cx="88900" cy="133350"/>
          </a:xfrm>
          <a:custGeom>
            <a:avLst/>
            <a:gdLst/>
            <a:ahLst/>
            <a:cxnLst/>
            <a:rect l="0" t="0" r="r" b="b"/>
            <a:pathLst>
              <a:path w="88900" h="133350">
                <a:moveTo>
                  <a:pt x="0" y="0"/>
                </a:moveTo>
                <a:lnTo>
                  <a:pt x="57150" y="0"/>
                </a:lnTo>
                <a:lnTo>
                  <a:pt x="88900" y="31750"/>
                </a:lnTo>
                <a:lnTo>
                  <a:pt x="88900" y="133350"/>
                </a:lnTo>
                <a:lnTo>
                  <a:pt x="0" y="133350"/>
                </a:lnTo>
                <a:close/>
                <a:moveTo>
                  <a:pt x="57150" y="0"/>
                </a:moveTo>
                <a:lnTo>
                  <a:pt x="57150" y="31750"/>
                </a:lnTo>
                <a:lnTo>
                  <a:pt x="88900" y="31750"/>
                </a:lnTo>
                <a:moveTo>
                  <a:pt x="20638" y="69850"/>
                </a:moveTo>
                <a:lnTo>
                  <a:pt x="68262" y="69850"/>
                </a:lnTo>
                <a:moveTo>
                  <a:pt x="20638" y="96838"/>
                </a:moveTo>
                <a:lnTo>
                  <a:pt x="68262" y="96838"/>
                </a:lnTo>
              </a:path>
            </a:pathLst>
          </a:custGeom>
          <a:noFill/>
          <a:ln w="1143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step-02"/>
          <p:cNvSpPr/>
          <p:nvPr/>
        </p:nvSpPr>
        <p:spPr>
          <a:xfrm>
            <a:off x="3010763" y="2908300"/>
            <a:ext cx="1958747" cy="927100"/>
          </a:xfrm>
          <a:custGeom>
            <a:avLst/>
            <a:gdLst/>
            <a:ahLst/>
            <a:cxnLst/>
            <a:rect l="0" t="0" r="r" b="b"/>
            <a:pathLst>
              <a:path w="1958747" h="927100">
                <a:moveTo>
                  <a:pt x="16917" y="0"/>
                </a:moveTo>
                <a:lnTo>
                  <a:pt x="1756817" y="0"/>
                </a:lnTo>
                <a:quadBezTo>
                  <a:pt x="1810157" y="0"/>
                  <a:pt x="1833017" y="74168"/>
                </a:quadBezTo>
                <a:lnTo>
                  <a:pt x="1939697" y="436880"/>
                </a:lnTo>
                <a:quadBezTo>
                  <a:pt x="1977797" y="463550"/>
                  <a:pt x="1939697" y="490220"/>
                </a:quadBezTo>
                <a:lnTo>
                  <a:pt x="1833017" y="852932"/>
                </a:lnTo>
                <a:quadBezTo>
                  <a:pt x="1810157" y="927100"/>
                  <a:pt x="1756817" y="927100"/>
                </a:quadBezTo>
                <a:lnTo>
                  <a:pt x="16917" y="927100"/>
                </a:lnTo>
                <a:quadBezTo>
                  <a:pt x="-8483" y="927100"/>
                  <a:pt x="4217" y="852932"/>
                </a:quadBezTo>
                <a:lnTo>
                  <a:pt x="93117" y="490220"/>
                </a:lnTo>
                <a:quadBezTo>
                  <a:pt x="131217" y="463550"/>
                  <a:pt x="93117" y="436880"/>
                </a:quadBezTo>
                <a:lnTo>
                  <a:pt x="4217" y="74168"/>
                </a:lnTo>
                <a:quadBezTo>
                  <a:pt x="-8483" y="0"/>
                  <a:pt x="16917" y="0"/>
                </a:quadBezTo>
                <a:close/>
              </a:path>
            </a:pathLst>
          </a:custGeom>
          <a:gradFill rotWithShape="1">
            <a:gsLst>
              <a:gs pos="0">
                <a:srgbClr val="326AB1"/>
              </a:gs>
              <a:gs pos="100000">
                <a:srgbClr val="1B5AA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step-num-02"/>
          <p:cNvSpPr txBox="1"/>
          <p:nvPr/>
        </p:nvSpPr>
        <p:spPr>
          <a:xfrm>
            <a:off x="3217672" y="2997264"/>
            <a:ext cx="448818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50">
                <a:solidFill>
                  <a:srgbClr val="FFFFFF">
                    <a:alpha val="42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40" name="step-name-02"/>
          <p:cNvSpPr txBox="1"/>
          <p:nvPr/>
        </p:nvSpPr>
        <p:spPr>
          <a:xfrm>
            <a:off x="3223768" y="3390202"/>
            <a:ext cx="8597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方案设计</a:t>
            </a:r>
          </a:p>
        </p:txBody>
      </p:sp>
      <p:sp>
        <p:nvSpPr>
          <p:cNvPr id="41" name="step-p-02-1"/>
          <p:cNvSpPr txBox="1"/>
          <p:nvPr/>
        </p:nvSpPr>
        <p:spPr>
          <a:xfrm>
            <a:off x="3465354" y="40537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制定整体架构方案</a:t>
            </a:r>
          </a:p>
        </p:txBody>
      </p:sp>
      <p:sp>
        <p:nvSpPr>
          <p:cNvPr id="42" name="step-p-02-2"/>
          <p:cNvSpPr txBox="1"/>
          <p:nvPr/>
        </p:nvSpPr>
        <p:spPr>
          <a:xfrm>
            <a:off x="3579019" y="4237911"/>
            <a:ext cx="7820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确认实施边界</a:t>
            </a:r>
          </a:p>
        </p:txBody>
      </p:sp>
      <p:sp>
        <p:nvSpPr>
          <p:cNvPr id="43" name="deliv-02"/>
          <p:cNvSpPr/>
          <p:nvPr/>
        </p:nvSpPr>
        <p:spPr>
          <a:xfrm>
            <a:off x="3404870" y="4648200"/>
            <a:ext cx="1130300" cy="279400"/>
          </a:xfrm>
          <a:custGeom>
            <a:avLst/>
            <a:gdLst/>
            <a:ahLst/>
            <a:cxnLst/>
            <a:rect l="0" t="0" r="r" b="b"/>
            <a:pathLst>
              <a:path w="1130300" h="279400">
                <a:moveTo>
                  <a:pt x="139700" y="0"/>
                </a:moveTo>
                <a:lnTo>
                  <a:pt x="990600" y="0"/>
                </a:lnTo>
                <a:cubicBezTo>
                  <a:pt x="1067752" y="0"/>
                  <a:pt x="1130300" y="62548"/>
                  <a:pt x="1130300" y="139700"/>
                </a:cubicBezTo>
                <a:lnTo>
                  <a:pt x="1130300" y="139700"/>
                </a:lnTo>
                <a:cubicBezTo>
                  <a:pt x="1130300" y="216852"/>
                  <a:pt x="1067752" y="279400"/>
                  <a:pt x="990600" y="279400"/>
                </a:cubicBezTo>
                <a:lnTo>
                  <a:pt x="139700" y="279400"/>
                </a:lnTo>
                <a:cubicBezTo>
                  <a:pt x="62547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1B5AA8">
                <a:alpha val="28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icon-check"/>
          <p:cNvSpPr/>
          <p:nvPr/>
        </p:nvSpPr>
        <p:spPr>
          <a:xfrm>
            <a:off x="3553904" y="4768088"/>
            <a:ext cx="57531" cy="40513"/>
          </a:xfrm>
          <a:custGeom>
            <a:avLst/>
            <a:gdLst/>
            <a:ahLst/>
            <a:cxnLst/>
            <a:rect l="0" t="0" r="r" b="b"/>
            <a:pathLst>
              <a:path w="57531" h="40513">
                <a:moveTo>
                  <a:pt x="0" y="21590"/>
                </a:moveTo>
                <a:lnTo>
                  <a:pt x="18860" y="40513"/>
                </a:lnTo>
                <a:lnTo>
                  <a:pt x="57531" y="0"/>
                </a:lnTo>
              </a:path>
            </a:pathLst>
          </a:custGeom>
          <a:noFill/>
          <a:ln w="1397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deliv-t-02"/>
          <p:cNvSpPr txBox="1"/>
          <p:nvPr/>
        </p:nvSpPr>
        <p:spPr>
          <a:xfrm>
            <a:off x="3646170" y="4700524"/>
            <a:ext cx="7239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总体架构方案</a:t>
            </a:r>
          </a:p>
        </p:txBody>
      </p:sp>
      <p:sp>
        <p:nvSpPr>
          <p:cNvPr id="46" name="tick-03"/>
          <p:cNvSpPr/>
          <p:nvPr/>
        </p:nvSpPr>
        <p:spPr>
          <a:xfrm>
            <a:off x="6061075" y="1870075"/>
            <a:ext cx="69850" cy="6985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tick-r-03"/>
          <p:cNvSpPr/>
          <p:nvPr/>
        </p:nvSpPr>
        <p:spPr>
          <a:xfrm>
            <a:off x="6032500" y="1841500"/>
            <a:ext cx="127000" cy="127000"/>
          </a:xfrm>
          <a:prstGeom prst="ellipse">
            <a:avLst/>
          </a:prstGeom>
          <a:noFill/>
          <a:ln w="7620" cap="rnd">
            <a:solidFill>
              <a:srgbClr val="2E77C2">
                <a:alpha val="3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period-03"/>
          <p:cNvSpPr txBox="1"/>
          <p:nvPr/>
        </p:nvSpPr>
        <p:spPr>
          <a:xfrm>
            <a:off x="5762752" y="1639824"/>
            <a:ext cx="66649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第 6–12 周</a:t>
            </a:r>
          </a:p>
        </p:txBody>
      </p:sp>
      <p:cxnSp>
        <p:nvCxnSpPr>
          <p:cNvPr id="49" name="drop-03"/>
          <p:cNvCxnSpPr/>
          <p:nvPr/>
        </p:nvCxnSpPr>
        <p:spPr>
          <a:xfrm>
            <a:off x="6096000" y="1981200"/>
            <a:ext cx="0" cy="279400"/>
          </a:xfrm>
          <a:prstGeom prst="line">
            <a:avLst/>
          </a:prstGeom>
          <a:ln w="6350" cap="rnd">
            <a:solidFill>
              <a:srgbClr val="2E77C2">
                <a:alpha val="2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" name="chip"/>
          <p:cNvSpPr/>
          <p:nvPr/>
        </p:nvSpPr>
        <p:spPr>
          <a:xfrm>
            <a:off x="5905500" y="2273300"/>
            <a:ext cx="381000" cy="381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chip-ring"/>
          <p:cNvSpPr/>
          <p:nvPr/>
        </p:nvSpPr>
        <p:spPr>
          <a:xfrm>
            <a:off x="5905500" y="2273300"/>
            <a:ext cx="381000" cy="381000"/>
          </a:xfrm>
          <a:prstGeom prst="ellipse">
            <a:avLst/>
          </a:prstGeom>
          <a:noFill/>
          <a:ln w="6350" cap="rnd">
            <a:solidFill>
              <a:srgbClr val="2E77C2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icon-tools"/>
          <p:cNvSpPr/>
          <p:nvPr/>
        </p:nvSpPr>
        <p:spPr>
          <a:xfrm>
            <a:off x="6035739" y="2399779"/>
            <a:ext cx="112648" cy="111646"/>
          </a:xfrm>
          <a:custGeom>
            <a:avLst/>
            <a:gdLst/>
            <a:ahLst/>
            <a:cxnLst/>
            <a:rect l="0" t="0" r="r" b="b"/>
            <a:pathLst>
              <a:path w="112648" h="111646">
                <a:moveTo>
                  <a:pt x="20573" y="3696"/>
                </a:moveTo>
                <a:lnTo>
                  <a:pt x="44386" y="27508"/>
                </a:lnTo>
                <a:lnTo>
                  <a:pt x="26923" y="44971"/>
                </a:lnTo>
                <a:lnTo>
                  <a:pt x="3111" y="21158"/>
                </a:lnTo>
                <a:cubicBezTo>
                  <a:pt x="-2604" y="33096"/>
                  <a:pt x="-318" y="47384"/>
                  <a:pt x="8889" y="56909"/>
                </a:cubicBezTo>
                <a:cubicBezTo>
                  <a:pt x="18033" y="66497"/>
                  <a:pt x="32194" y="69291"/>
                  <a:pt x="44386" y="64021"/>
                </a:cubicBezTo>
                <a:lnTo>
                  <a:pt x="92011" y="111646"/>
                </a:lnTo>
                <a:lnTo>
                  <a:pt x="112648" y="91008"/>
                </a:lnTo>
                <a:lnTo>
                  <a:pt x="65023" y="43383"/>
                </a:lnTo>
                <a:cubicBezTo>
                  <a:pt x="69913" y="31001"/>
                  <a:pt x="66547" y="16904"/>
                  <a:pt x="56641" y="8014"/>
                </a:cubicBezTo>
                <a:cubicBezTo>
                  <a:pt x="46735" y="-813"/>
                  <a:pt x="32321" y="-2527"/>
                  <a:pt x="20573" y="3696"/>
                </a:cubicBezTo>
                <a:close/>
              </a:path>
            </a:pathLst>
          </a:custGeom>
          <a:noFill/>
          <a:ln w="1143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step-03"/>
          <p:cNvSpPr/>
          <p:nvPr/>
        </p:nvSpPr>
        <p:spPr>
          <a:xfrm>
            <a:off x="5136743" y="2908300"/>
            <a:ext cx="1958747" cy="927100"/>
          </a:xfrm>
          <a:custGeom>
            <a:avLst/>
            <a:gdLst/>
            <a:ahLst/>
            <a:cxnLst/>
            <a:rect l="0" t="0" r="r" b="b"/>
            <a:pathLst>
              <a:path w="1958747" h="927100">
                <a:moveTo>
                  <a:pt x="16917" y="0"/>
                </a:moveTo>
                <a:lnTo>
                  <a:pt x="1756817" y="0"/>
                </a:lnTo>
                <a:quadBezTo>
                  <a:pt x="1810157" y="0"/>
                  <a:pt x="1833017" y="74168"/>
                </a:quadBezTo>
                <a:lnTo>
                  <a:pt x="1939697" y="436880"/>
                </a:lnTo>
                <a:quadBezTo>
                  <a:pt x="1977797" y="463550"/>
                  <a:pt x="1939697" y="490220"/>
                </a:quadBezTo>
                <a:lnTo>
                  <a:pt x="1833017" y="852932"/>
                </a:lnTo>
                <a:quadBezTo>
                  <a:pt x="1810157" y="927100"/>
                  <a:pt x="1756817" y="927100"/>
                </a:quadBezTo>
                <a:lnTo>
                  <a:pt x="16917" y="927100"/>
                </a:lnTo>
                <a:quadBezTo>
                  <a:pt x="-8483" y="927100"/>
                  <a:pt x="4217" y="852932"/>
                </a:quadBezTo>
                <a:lnTo>
                  <a:pt x="93117" y="490220"/>
                </a:lnTo>
                <a:quadBezTo>
                  <a:pt x="131217" y="463550"/>
                  <a:pt x="93117" y="436880"/>
                </a:quadBezTo>
                <a:lnTo>
                  <a:pt x="4217" y="74168"/>
                </a:lnTo>
                <a:quadBezTo>
                  <a:pt x="-8483" y="0"/>
                  <a:pt x="16917" y="0"/>
                </a:quadBezTo>
                <a:close/>
              </a:path>
            </a:pathLst>
          </a:custGeom>
          <a:gradFill rotWithShape="1">
            <a:gsLst>
              <a:gs pos="0">
                <a:srgbClr val="4385C8"/>
              </a:gs>
              <a:gs pos="100000">
                <a:srgbClr val="2E77C2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step-num-03"/>
          <p:cNvSpPr txBox="1"/>
          <p:nvPr/>
        </p:nvSpPr>
        <p:spPr>
          <a:xfrm>
            <a:off x="5343652" y="2997264"/>
            <a:ext cx="448818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50">
                <a:solidFill>
                  <a:srgbClr val="FFFFFF">
                    <a:alpha val="42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55" name="step-name-03"/>
          <p:cNvSpPr txBox="1"/>
          <p:nvPr/>
        </p:nvSpPr>
        <p:spPr>
          <a:xfrm>
            <a:off x="5349748" y="3390202"/>
            <a:ext cx="8597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系统搭建</a:t>
            </a:r>
          </a:p>
        </p:txBody>
      </p:sp>
      <p:sp>
        <p:nvSpPr>
          <p:cNvPr id="56" name="step-p-03-1"/>
          <p:cNvSpPr txBox="1"/>
          <p:nvPr/>
        </p:nvSpPr>
        <p:spPr>
          <a:xfrm>
            <a:off x="5534501" y="40537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平台部署与数据迁移</a:t>
            </a:r>
          </a:p>
        </p:txBody>
      </p:sp>
      <p:sp>
        <p:nvSpPr>
          <p:cNvPr id="57" name="step-p-03-2"/>
          <p:cNvSpPr txBox="1"/>
          <p:nvPr/>
        </p:nvSpPr>
        <p:spPr>
          <a:xfrm>
            <a:off x="5704999" y="4237911"/>
            <a:ext cx="7820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完成功能配置</a:t>
            </a:r>
          </a:p>
        </p:txBody>
      </p:sp>
      <p:sp>
        <p:nvSpPr>
          <p:cNvPr id="58" name="deliv-03"/>
          <p:cNvSpPr/>
          <p:nvPr/>
        </p:nvSpPr>
        <p:spPr>
          <a:xfrm>
            <a:off x="5530850" y="4648200"/>
            <a:ext cx="1130300" cy="279400"/>
          </a:xfrm>
          <a:custGeom>
            <a:avLst/>
            <a:gdLst/>
            <a:ahLst/>
            <a:cxnLst/>
            <a:rect l="0" t="0" r="r" b="b"/>
            <a:pathLst>
              <a:path w="1130300" h="279400">
                <a:moveTo>
                  <a:pt x="139700" y="0"/>
                </a:moveTo>
                <a:lnTo>
                  <a:pt x="990600" y="0"/>
                </a:lnTo>
                <a:cubicBezTo>
                  <a:pt x="1067753" y="0"/>
                  <a:pt x="1130300" y="62548"/>
                  <a:pt x="1130300" y="139700"/>
                </a:cubicBezTo>
                <a:lnTo>
                  <a:pt x="1130300" y="139700"/>
                </a:lnTo>
                <a:cubicBezTo>
                  <a:pt x="1130300" y="216852"/>
                  <a:pt x="1067753" y="279400"/>
                  <a:pt x="990600" y="279400"/>
                </a:cubicBezTo>
                <a:lnTo>
                  <a:pt x="139700" y="279400"/>
                </a:lnTo>
                <a:cubicBezTo>
                  <a:pt x="62548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2E77C2">
                <a:alpha val="28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icon-check"/>
          <p:cNvSpPr/>
          <p:nvPr/>
        </p:nvSpPr>
        <p:spPr>
          <a:xfrm>
            <a:off x="5679884" y="4768088"/>
            <a:ext cx="57531" cy="40513"/>
          </a:xfrm>
          <a:custGeom>
            <a:avLst/>
            <a:gdLst/>
            <a:ahLst/>
            <a:cxnLst/>
            <a:rect l="0" t="0" r="r" b="b"/>
            <a:pathLst>
              <a:path w="57531" h="40513">
                <a:moveTo>
                  <a:pt x="0" y="21590"/>
                </a:moveTo>
                <a:lnTo>
                  <a:pt x="18860" y="40513"/>
                </a:lnTo>
                <a:lnTo>
                  <a:pt x="57531" y="0"/>
                </a:lnTo>
              </a:path>
            </a:pathLst>
          </a:custGeom>
          <a:noFill/>
          <a:ln w="1397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deliv-t-03"/>
          <p:cNvSpPr txBox="1"/>
          <p:nvPr/>
        </p:nvSpPr>
        <p:spPr>
          <a:xfrm>
            <a:off x="5772150" y="4700524"/>
            <a:ext cx="7239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可用系统环境</a:t>
            </a:r>
          </a:p>
        </p:txBody>
      </p:sp>
      <p:sp>
        <p:nvSpPr>
          <p:cNvPr id="61" name="tick-04"/>
          <p:cNvSpPr/>
          <p:nvPr/>
        </p:nvSpPr>
        <p:spPr>
          <a:xfrm>
            <a:off x="8187055" y="1870075"/>
            <a:ext cx="69850" cy="69850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tick-r-04"/>
          <p:cNvSpPr/>
          <p:nvPr/>
        </p:nvSpPr>
        <p:spPr>
          <a:xfrm>
            <a:off x="8158480" y="1841500"/>
            <a:ext cx="127000" cy="127000"/>
          </a:xfrm>
          <a:prstGeom prst="ellipse">
            <a:avLst/>
          </a:prstGeom>
          <a:noFill/>
          <a:ln w="7620" cap="rnd">
            <a:solidFill>
              <a:srgbClr val="3985CD">
                <a:alpha val="3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period-04"/>
          <p:cNvSpPr txBox="1"/>
          <p:nvPr/>
        </p:nvSpPr>
        <p:spPr>
          <a:xfrm>
            <a:off x="7858379" y="1639824"/>
            <a:ext cx="72720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第 13–16 周</a:t>
            </a:r>
          </a:p>
        </p:txBody>
      </p:sp>
      <p:cxnSp>
        <p:nvCxnSpPr>
          <p:cNvPr id="64" name="drop-04"/>
          <p:cNvCxnSpPr/>
          <p:nvPr/>
        </p:nvCxnSpPr>
        <p:spPr>
          <a:xfrm>
            <a:off x="8221980" y="1981200"/>
            <a:ext cx="0" cy="279400"/>
          </a:xfrm>
          <a:prstGeom prst="line">
            <a:avLst/>
          </a:prstGeom>
          <a:ln w="6350" cap="rnd">
            <a:solidFill>
              <a:srgbClr val="3985CD">
                <a:alpha val="2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" name="chip"/>
          <p:cNvSpPr/>
          <p:nvPr/>
        </p:nvSpPr>
        <p:spPr>
          <a:xfrm>
            <a:off x="8031480" y="2273300"/>
            <a:ext cx="381000" cy="381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chip-ring"/>
          <p:cNvSpPr/>
          <p:nvPr/>
        </p:nvSpPr>
        <p:spPr>
          <a:xfrm>
            <a:off x="8031480" y="2273300"/>
            <a:ext cx="381000" cy="381000"/>
          </a:xfrm>
          <a:prstGeom prst="ellipse">
            <a:avLst/>
          </a:prstGeom>
          <a:noFill/>
          <a:ln w="6350" cap="rnd">
            <a:solidFill>
              <a:srgbClr val="3985CD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icon-target"/>
          <p:cNvSpPr/>
          <p:nvPr/>
        </p:nvSpPr>
        <p:spPr>
          <a:xfrm>
            <a:off x="8221980" y="2395538"/>
            <a:ext cx="52388" cy="68262"/>
          </a:xfrm>
          <a:custGeom>
            <a:avLst/>
            <a:gdLst/>
            <a:ahLst/>
            <a:cxnLst/>
            <a:rect l="0" t="0" r="r" b="b"/>
            <a:pathLst>
              <a:path w="52388" h="68262">
                <a:moveTo>
                  <a:pt x="0" y="39688"/>
                </a:moveTo>
                <a:lnTo>
                  <a:pt x="0" y="0"/>
                </a:lnTo>
                <a:moveTo>
                  <a:pt x="0" y="68262"/>
                </a:moveTo>
                <a:lnTo>
                  <a:pt x="52388" y="15875"/>
                </a:lnTo>
              </a:path>
            </a:pathLst>
          </a:custGeom>
          <a:noFill/>
          <a:ln w="1143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icon-target"/>
          <p:cNvSpPr/>
          <p:nvPr/>
        </p:nvSpPr>
        <p:spPr>
          <a:xfrm>
            <a:off x="8153718" y="2395538"/>
            <a:ext cx="136525" cy="136525"/>
          </a:xfrm>
          <a:prstGeom prst="ellipse">
            <a:avLst/>
          </a:prstGeom>
          <a:noFill/>
          <a:ln w="1143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icon-target"/>
          <p:cNvSpPr/>
          <p:nvPr/>
        </p:nvSpPr>
        <p:spPr>
          <a:xfrm>
            <a:off x="8187055" y="2428875"/>
            <a:ext cx="69850" cy="69850"/>
          </a:xfrm>
          <a:prstGeom prst="ellipse">
            <a:avLst/>
          </a:prstGeom>
          <a:noFill/>
          <a:ln w="1143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step-04"/>
          <p:cNvSpPr/>
          <p:nvPr/>
        </p:nvSpPr>
        <p:spPr>
          <a:xfrm>
            <a:off x="7262723" y="2908300"/>
            <a:ext cx="1958747" cy="927100"/>
          </a:xfrm>
          <a:custGeom>
            <a:avLst/>
            <a:gdLst/>
            <a:ahLst/>
            <a:cxnLst/>
            <a:rect l="0" t="0" r="r" b="b"/>
            <a:pathLst>
              <a:path w="1958747" h="927100">
                <a:moveTo>
                  <a:pt x="16917" y="0"/>
                </a:moveTo>
                <a:lnTo>
                  <a:pt x="1756817" y="0"/>
                </a:lnTo>
                <a:quadBezTo>
                  <a:pt x="1810157" y="0"/>
                  <a:pt x="1833017" y="74168"/>
                </a:quadBezTo>
                <a:lnTo>
                  <a:pt x="1939697" y="436880"/>
                </a:lnTo>
                <a:quadBezTo>
                  <a:pt x="1977797" y="463550"/>
                  <a:pt x="1939697" y="490220"/>
                </a:quadBezTo>
                <a:lnTo>
                  <a:pt x="1833017" y="852932"/>
                </a:lnTo>
                <a:quadBezTo>
                  <a:pt x="1810157" y="927100"/>
                  <a:pt x="1756817" y="927100"/>
                </a:quadBezTo>
                <a:lnTo>
                  <a:pt x="16917" y="927100"/>
                </a:lnTo>
                <a:quadBezTo>
                  <a:pt x="-8483" y="927100"/>
                  <a:pt x="4217" y="852932"/>
                </a:quadBezTo>
                <a:lnTo>
                  <a:pt x="93117" y="490220"/>
                </a:lnTo>
                <a:quadBezTo>
                  <a:pt x="131217" y="463550"/>
                  <a:pt x="93117" y="436880"/>
                </a:quadBezTo>
                <a:lnTo>
                  <a:pt x="4217" y="74168"/>
                </a:lnTo>
                <a:quadBezTo>
                  <a:pt x="-8483" y="0"/>
                  <a:pt x="16917" y="0"/>
                </a:quadBezTo>
                <a:close/>
              </a:path>
            </a:pathLst>
          </a:custGeom>
          <a:gradFill rotWithShape="1">
            <a:gsLst>
              <a:gs pos="0">
                <a:srgbClr val="4D91D2"/>
              </a:gs>
              <a:gs pos="100000">
                <a:srgbClr val="3985CD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step-num-04"/>
          <p:cNvSpPr txBox="1"/>
          <p:nvPr/>
        </p:nvSpPr>
        <p:spPr>
          <a:xfrm>
            <a:off x="7469632" y="2997264"/>
            <a:ext cx="448818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50">
                <a:solidFill>
                  <a:srgbClr val="FFFFFF">
                    <a:alpha val="42000"/>
                  </a:srgbClr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72" name="step-name-04"/>
          <p:cNvSpPr txBox="1"/>
          <p:nvPr/>
        </p:nvSpPr>
        <p:spPr>
          <a:xfrm>
            <a:off x="7475728" y="3390202"/>
            <a:ext cx="8597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试点运行</a:t>
            </a:r>
          </a:p>
        </p:txBody>
      </p:sp>
      <p:sp>
        <p:nvSpPr>
          <p:cNvPr id="73" name="step-p-04-1"/>
          <p:cNvSpPr txBox="1"/>
          <p:nvPr/>
        </p:nvSpPr>
        <p:spPr>
          <a:xfrm>
            <a:off x="7717314" y="40537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选取试点部门验证</a:t>
            </a:r>
          </a:p>
        </p:txBody>
      </p:sp>
      <p:sp>
        <p:nvSpPr>
          <p:cNvPr id="74" name="step-p-04-2"/>
          <p:cNvSpPr txBox="1"/>
          <p:nvPr/>
        </p:nvSpPr>
        <p:spPr>
          <a:xfrm>
            <a:off x="7830979" y="4237911"/>
            <a:ext cx="7820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收集反馈迭代</a:t>
            </a:r>
          </a:p>
        </p:txBody>
      </p:sp>
      <p:sp>
        <p:nvSpPr>
          <p:cNvPr id="75" name="deliv-04"/>
          <p:cNvSpPr/>
          <p:nvPr/>
        </p:nvSpPr>
        <p:spPr>
          <a:xfrm>
            <a:off x="7656830" y="4648200"/>
            <a:ext cx="1130300" cy="279400"/>
          </a:xfrm>
          <a:custGeom>
            <a:avLst/>
            <a:gdLst/>
            <a:ahLst/>
            <a:cxnLst/>
            <a:rect l="0" t="0" r="r" b="b"/>
            <a:pathLst>
              <a:path w="1130300" h="279400">
                <a:moveTo>
                  <a:pt x="139700" y="0"/>
                </a:moveTo>
                <a:lnTo>
                  <a:pt x="990600" y="0"/>
                </a:lnTo>
                <a:cubicBezTo>
                  <a:pt x="1067753" y="0"/>
                  <a:pt x="1130300" y="62548"/>
                  <a:pt x="1130300" y="139700"/>
                </a:cubicBezTo>
                <a:lnTo>
                  <a:pt x="1130300" y="139700"/>
                </a:lnTo>
                <a:cubicBezTo>
                  <a:pt x="1130300" y="216852"/>
                  <a:pt x="1067753" y="279400"/>
                  <a:pt x="990600" y="279400"/>
                </a:cubicBezTo>
                <a:lnTo>
                  <a:pt x="139700" y="279400"/>
                </a:lnTo>
                <a:cubicBezTo>
                  <a:pt x="62548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3985CD">
                <a:alpha val="28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icon-check"/>
          <p:cNvSpPr/>
          <p:nvPr/>
        </p:nvSpPr>
        <p:spPr>
          <a:xfrm>
            <a:off x="7805864" y="4768088"/>
            <a:ext cx="57531" cy="40513"/>
          </a:xfrm>
          <a:custGeom>
            <a:avLst/>
            <a:gdLst/>
            <a:ahLst/>
            <a:cxnLst/>
            <a:rect l="0" t="0" r="r" b="b"/>
            <a:pathLst>
              <a:path w="57531" h="40513">
                <a:moveTo>
                  <a:pt x="0" y="21590"/>
                </a:moveTo>
                <a:lnTo>
                  <a:pt x="18860" y="40513"/>
                </a:lnTo>
                <a:lnTo>
                  <a:pt x="57531" y="0"/>
                </a:lnTo>
              </a:path>
            </a:pathLst>
          </a:custGeom>
          <a:noFill/>
          <a:ln w="1397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deliv-t-04"/>
          <p:cNvSpPr txBox="1"/>
          <p:nvPr/>
        </p:nvSpPr>
        <p:spPr>
          <a:xfrm>
            <a:off x="7898130" y="4700524"/>
            <a:ext cx="7239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试点验证报告</a:t>
            </a:r>
          </a:p>
        </p:txBody>
      </p:sp>
      <p:sp>
        <p:nvSpPr>
          <p:cNvPr id="78" name="tick-05"/>
          <p:cNvSpPr/>
          <p:nvPr/>
        </p:nvSpPr>
        <p:spPr>
          <a:xfrm>
            <a:off x="10313035" y="1870075"/>
            <a:ext cx="69850" cy="69850"/>
          </a:xfrm>
          <a:prstGeom prst="ellipse">
            <a:avLst/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tick-r-05"/>
          <p:cNvSpPr/>
          <p:nvPr/>
        </p:nvSpPr>
        <p:spPr>
          <a:xfrm>
            <a:off x="10284460" y="1841500"/>
            <a:ext cx="127000" cy="127000"/>
          </a:xfrm>
          <a:prstGeom prst="ellipse">
            <a:avLst/>
          </a:prstGeom>
          <a:noFill/>
          <a:ln w="7620" cap="rnd">
            <a:solidFill>
              <a:srgbClr val="54A2DF">
                <a:alpha val="3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period-05"/>
          <p:cNvSpPr txBox="1"/>
          <p:nvPr/>
        </p:nvSpPr>
        <p:spPr>
          <a:xfrm>
            <a:off x="9984359" y="1639824"/>
            <a:ext cx="72720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第 17–20 周</a:t>
            </a:r>
          </a:p>
        </p:txBody>
      </p:sp>
      <p:cxnSp>
        <p:nvCxnSpPr>
          <p:cNvPr id="81" name="drop-05"/>
          <p:cNvCxnSpPr/>
          <p:nvPr/>
        </p:nvCxnSpPr>
        <p:spPr>
          <a:xfrm>
            <a:off x="10347960" y="1981200"/>
            <a:ext cx="0" cy="279400"/>
          </a:xfrm>
          <a:prstGeom prst="line">
            <a:avLst/>
          </a:prstGeom>
          <a:ln w="6350" cap="rnd">
            <a:solidFill>
              <a:srgbClr val="54A2DF">
                <a:alpha val="2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chip"/>
          <p:cNvSpPr/>
          <p:nvPr/>
        </p:nvSpPr>
        <p:spPr>
          <a:xfrm>
            <a:off x="10157460" y="2273300"/>
            <a:ext cx="381000" cy="381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chip-ring"/>
          <p:cNvSpPr/>
          <p:nvPr/>
        </p:nvSpPr>
        <p:spPr>
          <a:xfrm>
            <a:off x="10157460" y="2273300"/>
            <a:ext cx="381000" cy="381000"/>
          </a:xfrm>
          <a:prstGeom prst="ellipse">
            <a:avLst/>
          </a:prstGeom>
          <a:noFill/>
          <a:ln w="6350" cap="rnd">
            <a:solidFill>
              <a:srgbClr val="54A2D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icon-rocket"/>
          <p:cNvSpPr/>
          <p:nvPr/>
        </p:nvSpPr>
        <p:spPr>
          <a:xfrm>
            <a:off x="10295572" y="2393950"/>
            <a:ext cx="104775" cy="131762"/>
          </a:xfrm>
          <a:custGeom>
            <a:avLst/>
            <a:gdLst/>
            <a:ahLst/>
            <a:cxnLst/>
            <a:rect l="0" t="0" r="r" b="b"/>
            <a:pathLst>
              <a:path w="104775" h="131762">
                <a:moveTo>
                  <a:pt x="52388" y="0"/>
                </a:moveTo>
                <a:cubicBezTo>
                  <a:pt x="76200" y="17462"/>
                  <a:pt x="88900" y="44450"/>
                  <a:pt x="88900" y="73025"/>
                </a:cubicBezTo>
                <a:lnTo>
                  <a:pt x="71438" y="101600"/>
                </a:lnTo>
                <a:lnTo>
                  <a:pt x="33338" y="101600"/>
                </a:lnTo>
                <a:lnTo>
                  <a:pt x="15875" y="73025"/>
                </a:lnTo>
                <a:cubicBezTo>
                  <a:pt x="15875" y="44450"/>
                  <a:pt x="28575" y="17462"/>
                  <a:pt x="52388" y="0"/>
                </a:cubicBezTo>
                <a:close/>
                <a:moveTo>
                  <a:pt x="15875" y="95250"/>
                </a:moveTo>
                <a:lnTo>
                  <a:pt x="0" y="131762"/>
                </a:lnTo>
                <a:lnTo>
                  <a:pt x="33338" y="119062"/>
                </a:lnTo>
                <a:moveTo>
                  <a:pt x="88900" y="95250"/>
                </a:moveTo>
                <a:lnTo>
                  <a:pt x="104775" y="131762"/>
                </a:lnTo>
                <a:lnTo>
                  <a:pt x="71438" y="119062"/>
                </a:lnTo>
              </a:path>
            </a:pathLst>
          </a:custGeom>
          <a:noFill/>
          <a:ln w="1143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step-05"/>
          <p:cNvSpPr/>
          <p:nvPr/>
        </p:nvSpPr>
        <p:spPr>
          <a:xfrm>
            <a:off x="9388703" y="2908300"/>
            <a:ext cx="1958747" cy="927100"/>
          </a:xfrm>
          <a:custGeom>
            <a:avLst/>
            <a:gdLst/>
            <a:ahLst/>
            <a:cxnLst/>
            <a:rect l="0" t="0" r="r" b="b"/>
            <a:pathLst>
              <a:path w="1958747" h="927100">
                <a:moveTo>
                  <a:pt x="16917" y="0"/>
                </a:moveTo>
                <a:lnTo>
                  <a:pt x="1756817" y="0"/>
                </a:lnTo>
                <a:quadBezTo>
                  <a:pt x="1810157" y="0"/>
                  <a:pt x="1833017" y="74168"/>
                </a:quadBezTo>
                <a:lnTo>
                  <a:pt x="1939697" y="436880"/>
                </a:lnTo>
                <a:quadBezTo>
                  <a:pt x="1977797" y="463550"/>
                  <a:pt x="1939697" y="490220"/>
                </a:quadBezTo>
                <a:lnTo>
                  <a:pt x="1833017" y="852932"/>
                </a:lnTo>
                <a:quadBezTo>
                  <a:pt x="1810157" y="927100"/>
                  <a:pt x="1756817" y="927100"/>
                </a:quadBezTo>
                <a:lnTo>
                  <a:pt x="16917" y="927100"/>
                </a:lnTo>
                <a:quadBezTo>
                  <a:pt x="-8483" y="927100"/>
                  <a:pt x="4217" y="852932"/>
                </a:quadBezTo>
                <a:lnTo>
                  <a:pt x="93117" y="490220"/>
                </a:lnTo>
                <a:quadBezTo>
                  <a:pt x="131217" y="463550"/>
                  <a:pt x="93117" y="436880"/>
                </a:quadBezTo>
                <a:lnTo>
                  <a:pt x="4217" y="74168"/>
                </a:lnTo>
                <a:quadBezTo>
                  <a:pt x="-8483" y="0"/>
                  <a:pt x="16917" y="0"/>
                </a:quadBezTo>
                <a:close/>
              </a:path>
            </a:pathLst>
          </a:custGeom>
          <a:gradFill rotWithShape="1">
            <a:gsLst>
              <a:gs pos="0">
                <a:srgbClr val="65ABE2"/>
              </a:gs>
              <a:gs pos="100000">
                <a:srgbClr val="54A2DF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step-num-05"/>
          <p:cNvSpPr txBox="1"/>
          <p:nvPr/>
        </p:nvSpPr>
        <p:spPr>
          <a:xfrm>
            <a:off x="9595612" y="2997264"/>
            <a:ext cx="448818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50">
                <a:solidFill>
                  <a:srgbClr val="FFFFFF">
                    <a:alpha val="42000"/>
                  </a:srgbClr>
                </a:solidFill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87" name="step-name-05"/>
          <p:cNvSpPr txBox="1"/>
          <p:nvPr/>
        </p:nvSpPr>
        <p:spPr>
          <a:xfrm>
            <a:off x="9601708" y="3390202"/>
            <a:ext cx="8597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全面推广</a:t>
            </a:r>
          </a:p>
        </p:txBody>
      </p:sp>
      <p:sp>
        <p:nvSpPr>
          <p:cNvPr id="88" name="step-p-05-1"/>
          <p:cNvSpPr txBox="1"/>
          <p:nvPr/>
        </p:nvSpPr>
        <p:spPr>
          <a:xfrm>
            <a:off x="9900126" y="4053761"/>
            <a:ext cx="8956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全员培训与上线</a:t>
            </a:r>
          </a:p>
        </p:txBody>
      </p:sp>
      <p:sp>
        <p:nvSpPr>
          <p:cNvPr id="89" name="step-p-05-2"/>
          <p:cNvSpPr txBox="1"/>
          <p:nvPr/>
        </p:nvSpPr>
        <p:spPr>
          <a:xfrm>
            <a:off x="9956959" y="4237911"/>
            <a:ext cx="7820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建立运维机制</a:t>
            </a:r>
          </a:p>
        </p:txBody>
      </p:sp>
      <p:sp>
        <p:nvSpPr>
          <p:cNvPr id="90" name="deliv-05"/>
          <p:cNvSpPr/>
          <p:nvPr/>
        </p:nvSpPr>
        <p:spPr>
          <a:xfrm>
            <a:off x="9782810" y="4648200"/>
            <a:ext cx="1130300" cy="279400"/>
          </a:xfrm>
          <a:custGeom>
            <a:avLst/>
            <a:gdLst/>
            <a:ahLst/>
            <a:cxnLst/>
            <a:rect l="0" t="0" r="r" b="b"/>
            <a:pathLst>
              <a:path w="1130300" h="279400">
                <a:moveTo>
                  <a:pt x="139700" y="0"/>
                </a:moveTo>
                <a:lnTo>
                  <a:pt x="990600" y="0"/>
                </a:lnTo>
                <a:cubicBezTo>
                  <a:pt x="1067753" y="0"/>
                  <a:pt x="1130300" y="62548"/>
                  <a:pt x="1130300" y="139700"/>
                </a:cubicBezTo>
                <a:lnTo>
                  <a:pt x="1130300" y="139700"/>
                </a:lnTo>
                <a:cubicBezTo>
                  <a:pt x="1130300" y="216852"/>
                  <a:pt x="1067753" y="279400"/>
                  <a:pt x="990600" y="279400"/>
                </a:cubicBezTo>
                <a:lnTo>
                  <a:pt x="139700" y="279400"/>
                </a:lnTo>
                <a:cubicBezTo>
                  <a:pt x="62548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54A2DF">
                <a:alpha val="28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icon-check"/>
          <p:cNvSpPr/>
          <p:nvPr/>
        </p:nvSpPr>
        <p:spPr>
          <a:xfrm>
            <a:off x="9931844" y="4768088"/>
            <a:ext cx="57531" cy="40513"/>
          </a:xfrm>
          <a:custGeom>
            <a:avLst/>
            <a:gdLst/>
            <a:ahLst/>
            <a:cxnLst/>
            <a:rect l="0" t="0" r="r" b="b"/>
            <a:pathLst>
              <a:path w="57531" h="40513">
                <a:moveTo>
                  <a:pt x="0" y="21590"/>
                </a:moveTo>
                <a:lnTo>
                  <a:pt x="18860" y="40513"/>
                </a:lnTo>
                <a:lnTo>
                  <a:pt x="57531" y="0"/>
                </a:lnTo>
              </a:path>
            </a:pathLst>
          </a:custGeom>
          <a:noFill/>
          <a:ln w="1397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deliv-t-05"/>
          <p:cNvSpPr txBox="1"/>
          <p:nvPr/>
        </p:nvSpPr>
        <p:spPr>
          <a:xfrm>
            <a:off x="10024110" y="4700524"/>
            <a:ext cx="7239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运维交接手册</a:t>
            </a:r>
          </a:p>
        </p:txBody>
      </p:sp>
      <p:sp>
        <p:nvSpPr>
          <p:cNvPr id="93" name="gain-panel"/>
          <p:cNvSpPr/>
          <p:nvPr/>
        </p:nvSpPr>
        <p:spPr>
          <a:xfrm>
            <a:off x="825500" y="5219700"/>
            <a:ext cx="10541000" cy="838200"/>
          </a:xfrm>
          <a:custGeom>
            <a:avLst/>
            <a:gdLst/>
            <a:ahLst/>
            <a:cxnLst/>
            <a:rect l="0" t="0" r="r" b="b"/>
            <a:pathLst>
              <a:path w="10541000" h="838200">
                <a:moveTo>
                  <a:pt x="127000" y="0"/>
                </a:moveTo>
                <a:lnTo>
                  <a:pt x="10414000" y="0"/>
                </a:lnTo>
                <a:cubicBezTo>
                  <a:pt x="10484168" y="0"/>
                  <a:pt x="10541000" y="56833"/>
                  <a:pt x="10541000" y="127000"/>
                </a:cubicBezTo>
                <a:lnTo>
                  <a:pt x="10541000" y="711200"/>
                </a:lnTo>
                <a:cubicBezTo>
                  <a:pt x="10541000" y="781367"/>
                  <a:pt x="10484168" y="838200"/>
                  <a:pt x="10414000" y="838200"/>
                </a:cubicBezTo>
                <a:lnTo>
                  <a:pt x="127000" y="838200"/>
                </a:lnTo>
                <a:cubicBezTo>
                  <a:pt x="56832" y="838200"/>
                  <a:pt x="0" y="781367"/>
                  <a:pt x="0" y="711200"/>
                </a:cubicBezTo>
                <a:lnTo>
                  <a:pt x="0" y="127000"/>
                </a:lnTo>
                <a:cubicBezTo>
                  <a:pt x="0" y="56833"/>
                  <a:pt x="56832" y="0"/>
                  <a:pt x="1270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gain-bar"/>
          <p:cNvSpPr/>
          <p:nvPr/>
        </p:nvSpPr>
        <p:spPr>
          <a:xfrm>
            <a:off x="825500" y="5219700"/>
            <a:ext cx="38100" cy="838200"/>
          </a:xfrm>
          <a:custGeom>
            <a:avLst/>
            <a:gdLst/>
            <a:ahLst/>
            <a:cxnLst/>
            <a:rect l="0" t="0" r="r" b="b"/>
            <a:pathLst>
              <a:path w="38100" h="8382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819150"/>
                </a:lnTo>
                <a:cubicBezTo>
                  <a:pt x="38100" y="829691"/>
                  <a:pt x="29591" y="838200"/>
                  <a:pt x="19050" y="838200"/>
                </a:cubicBezTo>
                <a:lnTo>
                  <a:pt x="19050" y="838200"/>
                </a:lnTo>
                <a:cubicBezTo>
                  <a:pt x="8509" y="838200"/>
                  <a:pt x="0" y="829691"/>
                  <a:pt x="0" y="8191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gain-title"/>
          <p:cNvSpPr txBox="1"/>
          <p:nvPr/>
        </p:nvSpPr>
        <p:spPr>
          <a:xfrm>
            <a:off x="1063498" y="5385213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阶段成果</a:t>
            </a:r>
          </a:p>
        </p:txBody>
      </p:sp>
      <p:sp>
        <p:nvSpPr>
          <p:cNvPr id="96" name="gain-title-en"/>
          <p:cNvSpPr txBox="1"/>
          <p:nvPr/>
        </p:nvSpPr>
        <p:spPr>
          <a:xfrm>
            <a:off x="1068832" y="5668708"/>
            <a:ext cx="108813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75">
                <a:solidFill>
                  <a:srgbClr val="7E93AE"/>
                </a:solidFill>
                <a:latin typeface="Arial"/>
                <a:ea typeface="Arial"/>
                <a:cs typeface="Arial"/>
              </a:rPr>
              <a:t>PHASED OUTCOME</a:t>
            </a:r>
          </a:p>
        </p:txBody>
      </p:sp>
      <p:sp>
        <p:nvSpPr>
          <p:cNvPr id="97" name="gain-v-1"/>
          <p:cNvSpPr txBox="1"/>
          <p:nvPr/>
        </p:nvSpPr>
        <p:spPr>
          <a:xfrm>
            <a:off x="2885948" y="5239956"/>
            <a:ext cx="602742" cy="5111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300" b="1" spc="50">
                <a:solidFill>
                  <a:srgbClr val="0B3E8F"/>
                </a:solidFill>
                <a:latin typeface="Arial"/>
                <a:ea typeface="Arial"/>
                <a:cs typeface="Arial"/>
              </a:rPr>
              <a:t>20</a:t>
            </a:r>
          </a:p>
        </p:txBody>
      </p:sp>
      <p:sp>
        <p:nvSpPr>
          <p:cNvPr id="98" name="gain-u-1"/>
          <p:cNvSpPr txBox="1"/>
          <p:nvPr/>
        </p:nvSpPr>
        <p:spPr>
          <a:xfrm>
            <a:off x="3312922" y="5451697"/>
            <a:ext cx="2292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周</a:t>
            </a:r>
          </a:p>
        </p:txBody>
      </p:sp>
      <p:sp>
        <p:nvSpPr>
          <p:cNvPr id="99" name="gain-l-1"/>
          <p:cNvSpPr txBox="1"/>
          <p:nvPr/>
        </p:nvSpPr>
        <p:spPr>
          <a:xfrm>
            <a:off x="2907665" y="5666661"/>
            <a:ext cx="7858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完成整体交付</a:t>
            </a:r>
          </a:p>
        </p:txBody>
      </p:sp>
      <p:cxnSp>
        <p:nvCxnSpPr>
          <p:cNvPr id="100" name="gain-div-1"/>
          <p:cNvCxnSpPr/>
          <p:nvPr/>
        </p:nvCxnSpPr>
        <p:spPr>
          <a:xfrm>
            <a:off x="5283200" y="5435600"/>
            <a:ext cx="0" cy="4064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1" name="gain-v-2"/>
          <p:cNvSpPr txBox="1"/>
          <p:nvPr/>
        </p:nvSpPr>
        <p:spPr>
          <a:xfrm>
            <a:off x="5616448" y="5239956"/>
            <a:ext cx="432816" cy="5111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300" b="1" spc="50">
                <a:solidFill>
                  <a:srgbClr val="0B3E8F"/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  <p:sp>
        <p:nvSpPr>
          <p:cNvPr id="102" name="gain-u-2"/>
          <p:cNvSpPr txBox="1"/>
          <p:nvPr/>
        </p:nvSpPr>
        <p:spPr>
          <a:xfrm>
            <a:off x="5871972" y="5451697"/>
            <a:ext cx="2292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个</a:t>
            </a:r>
          </a:p>
        </p:txBody>
      </p:sp>
      <p:sp>
        <p:nvSpPr>
          <p:cNvPr id="103" name="gain-l-2"/>
          <p:cNvSpPr txBox="1"/>
          <p:nvPr/>
        </p:nvSpPr>
        <p:spPr>
          <a:xfrm>
            <a:off x="5638165" y="5666661"/>
            <a:ext cx="6715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关键里程碑</a:t>
            </a:r>
          </a:p>
        </p:txBody>
      </p:sp>
      <p:cxnSp>
        <p:nvCxnSpPr>
          <p:cNvPr id="104" name="gain-div-2"/>
          <p:cNvCxnSpPr/>
          <p:nvPr/>
        </p:nvCxnSpPr>
        <p:spPr>
          <a:xfrm>
            <a:off x="8013700" y="5435600"/>
            <a:ext cx="0" cy="4064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" name="gain-v-3"/>
          <p:cNvSpPr txBox="1"/>
          <p:nvPr/>
        </p:nvSpPr>
        <p:spPr>
          <a:xfrm>
            <a:off x="8346948" y="5239956"/>
            <a:ext cx="772668" cy="5111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300" b="1" spc="50">
                <a:solidFill>
                  <a:srgbClr val="0B3E8F"/>
                </a:solidFill>
                <a:latin typeface="Arial"/>
                <a:ea typeface="Arial"/>
                <a:cs typeface="Arial"/>
              </a:rPr>
              <a:t>98%</a:t>
            </a:r>
          </a:p>
        </p:txBody>
      </p:sp>
      <p:sp>
        <p:nvSpPr>
          <p:cNvPr id="106" name="gain-l-3"/>
          <p:cNvSpPr txBox="1"/>
          <p:nvPr/>
        </p:nvSpPr>
        <p:spPr>
          <a:xfrm>
            <a:off x="8368665" y="5666661"/>
            <a:ext cx="9001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用户上线达标率</a:t>
            </a:r>
          </a:p>
        </p:txBody>
      </p:sp>
      <p:cxnSp>
        <p:nvCxnSpPr>
          <p:cNvPr id="107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8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实施路径 · 五阶段推进</a:t>
            </a:r>
          </a:p>
        </p:txBody>
      </p:sp>
      <p:sp>
        <p:nvSpPr>
          <p:cNvPr id="109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闭环运营机制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99224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CLOSED-LOOP OPERATION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237599" y="673132"/>
            <a:ext cx="23831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五个环节持续循环，形成自我优化的管理闭环</a:t>
            </a:r>
          </a:p>
        </p:txBody>
      </p:sp>
      <p:sp>
        <p:nvSpPr>
          <p:cNvPr id="10" name="band-01"/>
          <p:cNvSpPr/>
          <p:nvPr/>
        </p:nvSpPr>
        <p:spPr>
          <a:xfrm>
            <a:off x="5905500" y="2044700"/>
            <a:ext cx="381000" cy="330200"/>
          </a:xfrm>
          <a:custGeom>
            <a:avLst/>
            <a:gdLst/>
            <a:ahLst/>
            <a:cxnLst/>
            <a:rect l="0" t="0" r="r" b="b"/>
            <a:pathLst>
              <a:path w="381000" h="330200">
                <a:moveTo>
                  <a:pt x="311150" y="330200"/>
                </a:moveTo>
                <a:lnTo>
                  <a:pt x="381000" y="0"/>
                </a:lnTo>
                <a:lnTo>
                  <a:pt x="0" y="0"/>
                </a:lnTo>
                <a:lnTo>
                  <a:pt x="69850" y="330200"/>
                </a:lnTo>
                <a:close/>
              </a:path>
            </a:pathLst>
          </a:custGeom>
          <a:solidFill>
            <a:srgbClr val="0B3E8F">
              <a:alpha val="85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band-02"/>
          <p:cNvSpPr/>
          <p:nvPr/>
        </p:nvSpPr>
        <p:spPr>
          <a:xfrm>
            <a:off x="7447280" y="3112135"/>
            <a:ext cx="604520" cy="378460"/>
          </a:xfrm>
          <a:custGeom>
            <a:avLst/>
            <a:gdLst/>
            <a:ahLst/>
            <a:cxnLst/>
            <a:rect l="0" t="0" r="r" b="b"/>
            <a:pathLst>
              <a:path w="604520" h="378460">
                <a:moveTo>
                  <a:pt x="27305" y="374015"/>
                </a:moveTo>
                <a:lnTo>
                  <a:pt x="604520" y="378460"/>
                </a:lnTo>
                <a:lnTo>
                  <a:pt x="560705" y="0"/>
                </a:lnTo>
                <a:lnTo>
                  <a:pt x="0" y="134620"/>
                </a:lnTo>
                <a:close/>
              </a:path>
            </a:pathLst>
          </a:custGeom>
          <a:solidFill>
            <a:srgbClr val="1B5AA8">
              <a:alpha val="85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band-03"/>
          <p:cNvSpPr/>
          <p:nvPr/>
        </p:nvSpPr>
        <p:spPr>
          <a:xfrm>
            <a:off x="6874510" y="4869180"/>
            <a:ext cx="687070" cy="593725"/>
          </a:xfrm>
          <a:custGeom>
            <a:avLst/>
            <a:gdLst/>
            <a:ahLst/>
            <a:cxnLst/>
            <a:rect l="0" t="0" r="r" b="b"/>
            <a:pathLst>
              <a:path w="687070" h="593725">
                <a:moveTo>
                  <a:pt x="0" y="203835"/>
                </a:moveTo>
                <a:lnTo>
                  <a:pt x="481965" y="593725"/>
                </a:lnTo>
                <a:lnTo>
                  <a:pt x="687070" y="272415"/>
                </a:lnTo>
                <a:lnTo>
                  <a:pt x="130175" y="0"/>
                </a:lnTo>
                <a:close/>
              </a:path>
            </a:pathLst>
          </a:custGeom>
          <a:solidFill>
            <a:srgbClr val="2E77C2">
              <a:alpha val="85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band-04"/>
          <p:cNvSpPr/>
          <p:nvPr/>
        </p:nvSpPr>
        <p:spPr>
          <a:xfrm>
            <a:off x="4630420" y="4869180"/>
            <a:ext cx="687070" cy="593725"/>
          </a:xfrm>
          <a:custGeom>
            <a:avLst/>
            <a:gdLst/>
            <a:ahLst/>
            <a:cxnLst/>
            <a:rect l="0" t="0" r="r" b="b"/>
            <a:pathLst>
              <a:path w="687070" h="593725">
                <a:moveTo>
                  <a:pt x="556895" y="0"/>
                </a:moveTo>
                <a:lnTo>
                  <a:pt x="0" y="272415"/>
                </a:lnTo>
                <a:lnTo>
                  <a:pt x="205105" y="593725"/>
                </a:lnTo>
                <a:lnTo>
                  <a:pt x="687070" y="203835"/>
                </a:lnTo>
                <a:close/>
              </a:path>
            </a:pathLst>
          </a:custGeom>
          <a:solidFill>
            <a:srgbClr val="3985CD">
              <a:alpha val="85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band-05"/>
          <p:cNvSpPr/>
          <p:nvPr/>
        </p:nvSpPr>
        <p:spPr>
          <a:xfrm>
            <a:off x="4140200" y="3112135"/>
            <a:ext cx="604520" cy="378460"/>
          </a:xfrm>
          <a:custGeom>
            <a:avLst/>
            <a:gdLst/>
            <a:ahLst/>
            <a:cxnLst/>
            <a:rect l="0" t="0" r="r" b="b"/>
            <a:pathLst>
              <a:path w="604520" h="378460">
                <a:moveTo>
                  <a:pt x="604520" y="134620"/>
                </a:moveTo>
                <a:lnTo>
                  <a:pt x="43815" y="0"/>
                </a:lnTo>
                <a:lnTo>
                  <a:pt x="0" y="378460"/>
                </a:lnTo>
                <a:lnTo>
                  <a:pt x="577215" y="374015"/>
                </a:lnTo>
                <a:close/>
              </a:path>
            </a:pathLst>
          </a:custGeom>
          <a:solidFill>
            <a:srgbClr val="54A2DF">
              <a:alpha val="85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guide"/>
          <p:cNvSpPr/>
          <p:nvPr/>
        </p:nvSpPr>
        <p:spPr>
          <a:xfrm>
            <a:off x="4584700" y="2298700"/>
            <a:ext cx="3022600" cy="3022600"/>
          </a:xfrm>
          <a:prstGeom prst="ellipse">
            <a:avLst/>
          </a:prstGeom>
          <a:noFill/>
          <a:ln w="6350" cap="rnd">
            <a:solidFill>
              <a:srgbClr val="0B2545">
                <a:alpha val="1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arc-01"/>
          <p:cNvSpPr/>
          <p:nvPr/>
        </p:nvSpPr>
        <p:spPr>
          <a:xfrm>
            <a:off x="5395658" y="2489256"/>
            <a:ext cx="1391128" cy="620545"/>
          </a:xfrm>
          <a:custGeom>
            <a:avLst/>
            <a:gdLst/>
            <a:ahLst/>
            <a:cxnLst/>
            <a:rect l="0" t="0" r="r" b="b"/>
            <a:pathLst>
              <a:path w="1391128" h="620545">
                <a:moveTo>
                  <a:pt x="29592" y="182951"/>
                </a:moveTo>
                <a:cubicBezTo>
                  <a:pt x="437461" y="-57488"/>
                  <a:pt x="942827" y="-61219"/>
                  <a:pt x="1354202" y="173172"/>
                </a:cubicBezTo>
                <a:lnTo>
                  <a:pt x="1374649" y="137294"/>
                </a:lnTo>
                <a:quadBezTo>
                  <a:pt x="1391921" y="106941"/>
                  <a:pt x="1391095" y="176791"/>
                </a:quadBezTo>
                <a:lnTo>
                  <a:pt x="1388492" y="402089"/>
                </a:lnTo>
                <a:quadBezTo>
                  <a:pt x="1387666" y="471939"/>
                  <a:pt x="1326579" y="505785"/>
                </a:quadBezTo>
                <a:lnTo>
                  <a:pt x="1151256" y="602749"/>
                </a:lnTo>
                <a:quadBezTo>
                  <a:pt x="1090169" y="636595"/>
                  <a:pt x="1107441" y="606242"/>
                </a:quadBezTo>
                <a:lnTo>
                  <a:pt x="1127888" y="570364"/>
                </a:lnTo>
                <a:cubicBezTo>
                  <a:pt x="865026" y="420590"/>
                  <a:pt x="542956" y="419289"/>
                  <a:pt x="278893" y="566935"/>
                </a:cubicBezTo>
                <a:quadBezTo>
                  <a:pt x="229998" y="596463"/>
                  <a:pt x="198883" y="548520"/>
                </a:quadBezTo>
                <a:lnTo>
                  <a:pt x="12129" y="260929"/>
                </a:lnTo>
                <a:quadBezTo>
                  <a:pt x="-18986" y="213050"/>
                  <a:pt x="29592" y="182951"/>
                </a:quad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arc-02"/>
          <p:cNvSpPr/>
          <p:nvPr/>
        </p:nvSpPr>
        <p:spPr>
          <a:xfrm>
            <a:off x="6659133" y="2803724"/>
            <a:ext cx="782286" cy="1383189"/>
          </a:xfrm>
          <a:custGeom>
            <a:avLst/>
            <a:gdLst/>
            <a:ahLst/>
            <a:cxnLst/>
            <a:rect l="0" t="0" r="r" b="b"/>
            <a:pathLst>
              <a:path w="782286" h="1383189">
                <a:moveTo>
                  <a:pt x="311706" y="16756"/>
                </a:moveTo>
                <a:cubicBezTo>
                  <a:pt x="666416" y="330351"/>
                  <a:pt x="826141" y="809817"/>
                  <a:pt x="730362" y="1273484"/>
                </a:cubicBezTo>
                <a:lnTo>
                  <a:pt x="770748" y="1281866"/>
                </a:lnTo>
                <a:quadBezTo>
                  <a:pt x="804974" y="1288915"/>
                  <a:pt x="738299" y="1309743"/>
                </a:quadBezTo>
                <a:lnTo>
                  <a:pt x="523225" y="1376862"/>
                </a:lnTo>
                <a:quadBezTo>
                  <a:pt x="456550" y="1397690"/>
                  <a:pt x="405496" y="1350002"/>
                </a:quadBezTo>
                <a:lnTo>
                  <a:pt x="259065" y="1213286"/>
                </a:lnTo>
                <a:quadBezTo>
                  <a:pt x="208011" y="1165598"/>
                  <a:pt x="242174" y="1172646"/>
                </a:quadBezTo>
                <a:lnTo>
                  <a:pt x="282623" y="1181028"/>
                </a:lnTo>
                <a:cubicBezTo>
                  <a:pt x="343834" y="884758"/>
                  <a:pt x="245551" y="578058"/>
                  <a:pt x="23543" y="372546"/>
                </a:cubicBezTo>
                <a:quadBezTo>
                  <a:pt x="-19637" y="335145"/>
                  <a:pt x="16304" y="290695"/>
                </a:quadBezTo>
                <a:lnTo>
                  <a:pt x="232077" y="24249"/>
                </a:lnTo>
                <a:quadBezTo>
                  <a:pt x="268082" y="-20201"/>
                  <a:pt x="311706" y="16756"/>
                </a:quadBezTo>
                <a:close/>
              </a:path>
            </a:pathLst>
          </a:custGeom>
          <a:gradFill rotWithShape="1">
            <a:gsLst>
              <a:gs pos="0">
                <a:srgbClr val="366EB2"/>
              </a:gs>
              <a:gs pos="100000">
                <a:srgbClr val="1B5AA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arc-03"/>
          <p:cNvSpPr/>
          <p:nvPr/>
        </p:nvSpPr>
        <p:spPr>
          <a:xfrm>
            <a:off x="6055923" y="4134291"/>
            <a:ext cx="1257707" cy="1042622"/>
          </a:xfrm>
          <a:custGeom>
            <a:avLst/>
            <a:gdLst/>
            <a:ahLst/>
            <a:cxnLst/>
            <a:rect l="0" t="0" r="r" b="b"/>
            <a:pathLst>
              <a:path w="1257707" h="1042622">
                <a:moveTo>
                  <a:pt x="1251530" y="201934"/>
                </a:moveTo>
                <a:cubicBezTo>
                  <a:pt x="1062883" y="636206"/>
                  <a:pt x="656213" y="936278"/>
                  <a:pt x="185619" y="988445"/>
                </a:cubicBezTo>
                <a:lnTo>
                  <a:pt x="190191" y="1029466"/>
                </a:lnTo>
                <a:quadBezTo>
                  <a:pt x="194065" y="1064200"/>
                  <a:pt x="153615" y="1007241"/>
                </a:quadBezTo>
                <a:lnTo>
                  <a:pt x="23313" y="823408"/>
                </a:lnTo>
                <a:quadBezTo>
                  <a:pt x="-17073" y="766385"/>
                  <a:pt x="12455" y="703139"/>
                </a:quadBezTo>
                <a:lnTo>
                  <a:pt x="97291" y="521593"/>
                </a:lnTo>
                <a:quadBezTo>
                  <a:pt x="126882" y="458283"/>
                  <a:pt x="130692" y="493018"/>
                </a:quadBezTo>
                <a:lnTo>
                  <a:pt x="135264" y="534039"/>
                </a:lnTo>
                <a:cubicBezTo>
                  <a:pt x="435937" y="500709"/>
                  <a:pt x="697251" y="312480"/>
                  <a:pt x="824112" y="37850"/>
                </a:cubicBezTo>
                <a:quadBezTo>
                  <a:pt x="846337" y="-14792"/>
                  <a:pt x="899677" y="5655"/>
                </a:quadBezTo>
                <a:lnTo>
                  <a:pt x="1219780" y="128591"/>
                </a:lnTo>
                <a:quadBezTo>
                  <a:pt x="1273120" y="149038"/>
                  <a:pt x="1251530" y="201934"/>
                </a:quadBezTo>
                <a:close/>
              </a:path>
            </a:pathLst>
          </a:custGeom>
          <a:gradFill rotWithShape="1">
            <a:gsLst>
              <a:gs pos="0">
                <a:srgbClr val="4787C9"/>
              </a:gs>
              <a:gs pos="100000">
                <a:srgbClr val="2E77C2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arc-04"/>
          <p:cNvSpPr/>
          <p:nvPr/>
        </p:nvSpPr>
        <p:spPr>
          <a:xfrm>
            <a:off x="4841087" y="4100140"/>
            <a:ext cx="1206856" cy="1024912"/>
          </a:xfrm>
          <a:custGeom>
            <a:avLst/>
            <a:gdLst/>
            <a:ahLst/>
            <a:cxnLst/>
            <a:rect l="0" t="0" r="r" b="b"/>
            <a:pathLst>
              <a:path w="1206856" h="1024912">
                <a:moveTo>
                  <a:pt x="1128802" y="1024627"/>
                </a:moveTo>
                <a:cubicBezTo>
                  <a:pt x="657502" y="979423"/>
                  <a:pt x="246450" y="685409"/>
                  <a:pt x="51398" y="253991"/>
                </a:cubicBezTo>
                <a:lnTo>
                  <a:pt x="13806" y="270946"/>
                </a:lnTo>
                <a:quadBezTo>
                  <a:pt x="-18071" y="285360"/>
                  <a:pt x="23648" y="229290"/>
                </a:quadBezTo>
                <a:lnTo>
                  <a:pt x="158205" y="48569"/>
                </a:lnTo>
                <a:quadBezTo>
                  <a:pt x="199924" y="-7438"/>
                  <a:pt x="269266" y="1134"/>
                </a:quadBezTo>
                <a:lnTo>
                  <a:pt x="468085" y="25645"/>
                </a:lnTo>
                <a:quadBezTo>
                  <a:pt x="537427" y="34218"/>
                  <a:pt x="505613" y="48632"/>
                </a:quadBezTo>
                <a:lnTo>
                  <a:pt x="468021" y="65587"/>
                </a:lnTo>
                <a:cubicBezTo>
                  <a:pt x="592625" y="341264"/>
                  <a:pt x="852400" y="531638"/>
                  <a:pt x="1152805" y="567427"/>
                </a:cubicBezTo>
                <a:quadBezTo>
                  <a:pt x="1209701" y="572253"/>
                  <a:pt x="1206717" y="629340"/>
                </a:quadBezTo>
                <a:lnTo>
                  <a:pt x="1188810" y="971795"/>
                </a:lnTo>
                <a:quadBezTo>
                  <a:pt x="1185762" y="1028818"/>
                  <a:pt x="1128802" y="1024627"/>
                </a:quadBezTo>
                <a:close/>
              </a:path>
            </a:pathLst>
          </a:custGeom>
          <a:gradFill rotWithShape="1">
            <a:gsLst>
              <a:gs pos="0">
                <a:srgbClr val="5194D3"/>
              </a:gs>
              <a:gs pos="100000">
                <a:srgbClr val="3985CD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arc-05"/>
          <p:cNvSpPr/>
          <p:nvPr/>
        </p:nvSpPr>
        <p:spPr>
          <a:xfrm>
            <a:off x="4775431" y="2789192"/>
            <a:ext cx="781856" cy="1350910"/>
          </a:xfrm>
          <a:custGeom>
            <a:avLst/>
            <a:gdLst/>
            <a:ahLst/>
            <a:cxnLst/>
            <a:rect l="0" t="0" r="r" b="b"/>
            <a:pathLst>
              <a:path w="781856" h="1350910">
                <a:moveTo>
                  <a:pt x="31201" y="1307130"/>
                </a:moveTo>
                <a:cubicBezTo>
                  <a:pt x="-71450" y="844923"/>
                  <a:pt x="81153" y="363129"/>
                  <a:pt x="431188" y="44305"/>
                </a:cubicBezTo>
                <a:lnTo>
                  <a:pt x="403375" y="13825"/>
                </a:lnTo>
                <a:quadBezTo>
                  <a:pt x="379880" y="-12019"/>
                  <a:pt x="446047" y="10333"/>
                </a:quadBezTo>
                <a:lnTo>
                  <a:pt x="659534" y="82469"/>
                </a:lnTo>
                <a:quadBezTo>
                  <a:pt x="725701" y="104821"/>
                  <a:pt x="738972" y="173401"/>
                </a:quadBezTo>
                <a:lnTo>
                  <a:pt x="777072" y="370124"/>
                </a:lnTo>
                <a:quadBezTo>
                  <a:pt x="790344" y="438704"/>
                  <a:pt x="766849" y="412859"/>
                </a:quadBezTo>
                <a:lnTo>
                  <a:pt x="739036" y="382316"/>
                </a:lnTo>
                <a:cubicBezTo>
                  <a:pt x="515360" y="586029"/>
                  <a:pt x="414595" y="891936"/>
                  <a:pt x="473415" y="1188702"/>
                </a:cubicBezTo>
                <a:quadBezTo>
                  <a:pt x="486369" y="1244328"/>
                  <a:pt x="431188" y="1259124"/>
                </a:quadBezTo>
                <a:lnTo>
                  <a:pt x="99972" y="1347833"/>
                </a:lnTo>
                <a:quadBezTo>
                  <a:pt x="44790" y="1362629"/>
                  <a:pt x="31201" y="1307130"/>
                </a:quadBezTo>
                <a:close/>
              </a:path>
            </a:pathLst>
          </a:custGeom>
          <a:gradFill rotWithShape="1">
            <a:gsLst>
              <a:gs pos="0">
                <a:srgbClr val="69ADE3"/>
              </a:gs>
              <a:gs pos="100000">
                <a:srgbClr val="54A2DF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arc-num-01"/>
          <p:cNvSpPr txBox="1"/>
          <p:nvPr/>
        </p:nvSpPr>
        <p:spPr>
          <a:xfrm>
            <a:off x="5855953" y="2553048"/>
            <a:ext cx="40386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 spc="75">
                <a:solidFill>
                  <a:srgbClr val="FFFFFF">
                    <a:alpha val="90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22" name="arc-num-02"/>
          <p:cNvSpPr txBox="1"/>
          <p:nvPr/>
        </p:nvSpPr>
        <p:spPr>
          <a:xfrm>
            <a:off x="6920402" y="3271028"/>
            <a:ext cx="40386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 spc="75">
                <a:solidFill>
                  <a:srgbClr val="FFFFFF">
                    <a:alpha val="90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23" name="arc-num-03"/>
          <p:cNvSpPr txBox="1"/>
          <p:nvPr/>
        </p:nvSpPr>
        <p:spPr>
          <a:xfrm>
            <a:off x="6566495" y="4505248"/>
            <a:ext cx="40386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 spc="75">
                <a:solidFill>
                  <a:srgbClr val="FFFFFF">
                    <a:alpha val="90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24" name="arc-num-04"/>
          <p:cNvSpPr txBox="1"/>
          <p:nvPr/>
        </p:nvSpPr>
        <p:spPr>
          <a:xfrm>
            <a:off x="5283320" y="4550057"/>
            <a:ext cx="40386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 spc="75">
                <a:solidFill>
                  <a:srgbClr val="FFFFFF">
                    <a:alpha val="90000"/>
                  </a:srgbClr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25" name="arc-num-05"/>
          <p:cNvSpPr txBox="1"/>
          <p:nvPr/>
        </p:nvSpPr>
        <p:spPr>
          <a:xfrm>
            <a:off x="4844180" y="3343531"/>
            <a:ext cx="40386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 spc="75">
                <a:solidFill>
                  <a:srgbClr val="FFFFFF">
                    <a:alpha val="90000"/>
                  </a:srgbClr>
                </a:solidFill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26" name="core"/>
          <p:cNvSpPr/>
          <p:nvPr/>
        </p:nvSpPr>
        <p:spPr>
          <a:xfrm>
            <a:off x="5295900" y="3009900"/>
            <a:ext cx="1600200" cy="1600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core-ring"/>
          <p:cNvSpPr/>
          <p:nvPr/>
        </p:nvSpPr>
        <p:spPr>
          <a:xfrm>
            <a:off x="5359400" y="3073400"/>
            <a:ext cx="1473200" cy="1473200"/>
          </a:xfrm>
          <a:prstGeom prst="ellipse">
            <a:avLst/>
          </a:prstGeom>
          <a:noFill/>
          <a:ln w="6350" cap="rnd">
            <a:solidFill>
              <a:srgbClr val="0B3E8F">
                <a:alpha val="14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core-1"/>
          <p:cNvSpPr txBox="1"/>
          <p:nvPr/>
        </p:nvSpPr>
        <p:spPr>
          <a:xfrm>
            <a:off x="5778818" y="3490690"/>
            <a:ext cx="634365" cy="3444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50" b="1" spc="2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持续</a:t>
            </a:r>
          </a:p>
        </p:txBody>
      </p:sp>
      <p:sp>
        <p:nvSpPr>
          <p:cNvPr id="29" name="core-2"/>
          <p:cNvSpPr txBox="1"/>
          <p:nvPr/>
        </p:nvSpPr>
        <p:spPr>
          <a:xfrm>
            <a:off x="5778818" y="3731990"/>
            <a:ext cx="634365" cy="3444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50" b="1" spc="2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优化</a:t>
            </a:r>
          </a:p>
        </p:txBody>
      </p:sp>
      <p:sp>
        <p:nvSpPr>
          <p:cNvPr id="30" name="core-en"/>
          <p:cNvSpPr txBox="1"/>
          <p:nvPr/>
        </p:nvSpPr>
        <p:spPr>
          <a:xfrm>
            <a:off x="5515928" y="4068508"/>
            <a:ext cx="116014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75">
                <a:solidFill>
                  <a:srgbClr val="7E93AE"/>
                </a:solidFill>
                <a:latin typeface="Arial"/>
                <a:ea typeface="Arial"/>
                <a:cs typeface="Arial"/>
              </a:rPr>
              <a:t>CONTINUOUS LOOP</a:t>
            </a:r>
          </a:p>
        </p:txBody>
      </p:sp>
      <p:cxnSp>
        <p:nvCxnSpPr>
          <p:cNvPr id="31" name="lead-01"/>
          <p:cNvCxnSpPr/>
          <p:nvPr/>
        </p:nvCxnSpPr>
        <p:spPr>
          <a:xfrm flipV="1">
            <a:off x="6096000" y="2044700"/>
            <a:ext cx="0" cy="139700"/>
          </a:xfrm>
          <a:prstGeom prst="line">
            <a:avLst/>
          </a:prstGeom>
          <a:ln w="8890" cap="rnd">
            <a:solidFill>
              <a:srgbClr val="0B3E8F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chip"/>
          <p:cNvSpPr/>
          <p:nvPr/>
        </p:nvSpPr>
        <p:spPr>
          <a:xfrm>
            <a:off x="5911850" y="2190750"/>
            <a:ext cx="368300" cy="3683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chip-ring"/>
          <p:cNvSpPr/>
          <p:nvPr/>
        </p:nvSpPr>
        <p:spPr>
          <a:xfrm>
            <a:off x="5911850" y="2190750"/>
            <a:ext cx="368300" cy="368300"/>
          </a:xfrm>
          <a:prstGeom prst="ellipse">
            <a:avLst/>
          </a:prstGeom>
          <a:noFill/>
          <a:ln w="6350" cap="rnd">
            <a:solidFill>
              <a:srgbClr val="0B3E8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icon-target"/>
          <p:cNvSpPr/>
          <p:nvPr/>
        </p:nvSpPr>
        <p:spPr>
          <a:xfrm>
            <a:off x="6096000" y="2308924"/>
            <a:ext cx="50673" cy="65976"/>
          </a:xfrm>
          <a:custGeom>
            <a:avLst/>
            <a:gdLst/>
            <a:ahLst/>
            <a:cxnLst/>
            <a:rect l="0" t="0" r="r" b="b"/>
            <a:pathLst>
              <a:path w="50673" h="65976">
                <a:moveTo>
                  <a:pt x="0" y="38354"/>
                </a:moveTo>
                <a:lnTo>
                  <a:pt x="0" y="0"/>
                </a:lnTo>
                <a:moveTo>
                  <a:pt x="0" y="65976"/>
                </a:moveTo>
                <a:lnTo>
                  <a:pt x="50673" y="15303"/>
                </a:lnTo>
              </a:path>
            </a:pathLst>
          </a:custGeom>
          <a:noFill/>
          <a:ln w="1206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icon-target"/>
          <p:cNvSpPr/>
          <p:nvPr/>
        </p:nvSpPr>
        <p:spPr>
          <a:xfrm>
            <a:off x="6030013" y="2308913"/>
            <a:ext cx="131974" cy="131974"/>
          </a:xfrm>
          <a:prstGeom prst="ellipse">
            <a:avLst/>
          </a:prstGeom>
          <a:noFill/>
          <a:ln w="1206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icon-target"/>
          <p:cNvSpPr/>
          <p:nvPr/>
        </p:nvSpPr>
        <p:spPr>
          <a:xfrm>
            <a:off x="6062239" y="2341139"/>
            <a:ext cx="67522" cy="67522"/>
          </a:xfrm>
          <a:prstGeom prst="ellipse">
            <a:avLst/>
          </a:prstGeom>
          <a:noFill/>
          <a:ln w="1206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37" name="lead-02"/>
          <p:cNvCxnSpPr/>
          <p:nvPr/>
        </p:nvCxnSpPr>
        <p:spPr>
          <a:xfrm flipV="1">
            <a:off x="7650115" y="3301127"/>
            <a:ext cx="379774" cy="43650"/>
          </a:xfrm>
          <a:prstGeom prst="line">
            <a:avLst/>
          </a:prstGeom>
          <a:ln w="8890" cap="rnd">
            <a:solidFill>
              <a:srgbClr val="1B5AA8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chip"/>
          <p:cNvSpPr/>
          <p:nvPr/>
        </p:nvSpPr>
        <p:spPr>
          <a:xfrm>
            <a:off x="7276711" y="3182380"/>
            <a:ext cx="368300" cy="3683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chip-ring"/>
          <p:cNvSpPr/>
          <p:nvPr/>
        </p:nvSpPr>
        <p:spPr>
          <a:xfrm>
            <a:off x="7276711" y="3182380"/>
            <a:ext cx="368300" cy="368300"/>
          </a:xfrm>
          <a:prstGeom prst="ellipse">
            <a:avLst/>
          </a:prstGeom>
          <a:noFill/>
          <a:ln w="6350" cap="rnd">
            <a:solidFill>
              <a:srgbClr val="1B5AA8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icon-process"/>
          <p:cNvSpPr/>
          <p:nvPr/>
        </p:nvSpPr>
        <p:spPr>
          <a:xfrm>
            <a:off x="7404100" y="3335846"/>
            <a:ext cx="113538" cy="61404"/>
          </a:xfrm>
          <a:custGeom>
            <a:avLst/>
            <a:gdLst/>
            <a:ahLst/>
            <a:cxnLst/>
            <a:rect l="0" t="0" r="r" b="b"/>
            <a:pathLst>
              <a:path w="113538" h="61404">
                <a:moveTo>
                  <a:pt x="0" y="0"/>
                </a:moveTo>
                <a:lnTo>
                  <a:pt x="39878" y="0"/>
                </a:lnTo>
                <a:lnTo>
                  <a:pt x="39878" y="39878"/>
                </a:lnTo>
                <a:lnTo>
                  <a:pt x="0" y="39878"/>
                </a:lnTo>
                <a:close/>
                <a:moveTo>
                  <a:pt x="73660" y="21463"/>
                </a:moveTo>
                <a:lnTo>
                  <a:pt x="113538" y="21463"/>
                </a:lnTo>
                <a:lnTo>
                  <a:pt x="113538" y="61404"/>
                </a:lnTo>
                <a:lnTo>
                  <a:pt x="73660" y="61404"/>
                </a:lnTo>
                <a:close/>
                <a:moveTo>
                  <a:pt x="39878" y="19939"/>
                </a:moveTo>
                <a:lnTo>
                  <a:pt x="73660" y="19939"/>
                </a:lnTo>
              </a:path>
            </a:pathLst>
          </a:custGeom>
          <a:noFill/>
          <a:ln w="1206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41" name="lead-03"/>
          <p:cNvCxnSpPr/>
          <p:nvPr/>
        </p:nvCxnSpPr>
        <p:spPr>
          <a:xfrm>
            <a:off x="7100177" y="5073407"/>
            <a:ext cx="358818" cy="228688"/>
          </a:xfrm>
          <a:prstGeom prst="line">
            <a:avLst/>
          </a:prstGeom>
          <a:ln w="8890" cap="rnd">
            <a:solidFill>
              <a:srgbClr val="2E77C2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chip"/>
          <p:cNvSpPr/>
          <p:nvPr/>
        </p:nvSpPr>
        <p:spPr>
          <a:xfrm>
            <a:off x="6755381" y="4786870"/>
            <a:ext cx="368300" cy="3683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chip-ring"/>
          <p:cNvSpPr/>
          <p:nvPr/>
        </p:nvSpPr>
        <p:spPr>
          <a:xfrm>
            <a:off x="6755381" y="4786870"/>
            <a:ext cx="368300" cy="368300"/>
          </a:xfrm>
          <a:prstGeom prst="ellipse">
            <a:avLst/>
          </a:prstGeom>
          <a:noFill/>
          <a:ln w="6350" cap="rnd">
            <a:solidFill>
              <a:srgbClr val="2E77C2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icon-chart"/>
          <p:cNvSpPr/>
          <p:nvPr/>
        </p:nvSpPr>
        <p:spPr>
          <a:xfrm>
            <a:off x="6875082" y="4947984"/>
            <a:ext cx="128905" cy="84391"/>
          </a:xfrm>
          <a:custGeom>
            <a:avLst/>
            <a:gdLst/>
            <a:ahLst/>
            <a:cxnLst/>
            <a:rect l="0" t="0" r="r" b="b"/>
            <a:pathLst>
              <a:path w="128905" h="84391">
                <a:moveTo>
                  <a:pt x="0" y="84391"/>
                </a:moveTo>
                <a:lnTo>
                  <a:pt x="128905" y="84391"/>
                </a:lnTo>
                <a:moveTo>
                  <a:pt x="29146" y="84391"/>
                </a:moveTo>
                <a:lnTo>
                  <a:pt x="29146" y="35306"/>
                </a:lnTo>
                <a:moveTo>
                  <a:pt x="64452" y="84391"/>
                </a:moveTo>
                <a:lnTo>
                  <a:pt x="64452" y="0"/>
                </a:lnTo>
                <a:moveTo>
                  <a:pt x="99759" y="84391"/>
                </a:moveTo>
                <a:lnTo>
                  <a:pt x="99759" y="52197"/>
                </a:lnTo>
              </a:path>
            </a:pathLst>
          </a:custGeom>
          <a:noFill/>
          <a:ln w="12065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45" name="lead-04"/>
          <p:cNvCxnSpPr/>
          <p:nvPr/>
        </p:nvCxnSpPr>
        <p:spPr>
          <a:xfrm flipH="1">
            <a:off x="4733005" y="5073407"/>
            <a:ext cx="358818" cy="228688"/>
          </a:xfrm>
          <a:prstGeom prst="line">
            <a:avLst/>
          </a:prstGeom>
          <a:ln w="8890" cap="rnd">
            <a:solidFill>
              <a:srgbClr val="3985CD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chip"/>
          <p:cNvSpPr/>
          <p:nvPr/>
        </p:nvSpPr>
        <p:spPr>
          <a:xfrm>
            <a:off x="5068319" y="4786870"/>
            <a:ext cx="368300" cy="3683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chip-ring"/>
          <p:cNvSpPr/>
          <p:nvPr/>
        </p:nvSpPr>
        <p:spPr>
          <a:xfrm>
            <a:off x="5068319" y="4786870"/>
            <a:ext cx="368300" cy="368300"/>
          </a:xfrm>
          <a:prstGeom prst="ellipse">
            <a:avLst/>
          </a:prstGeom>
          <a:noFill/>
          <a:ln w="6350" cap="rnd">
            <a:solidFill>
              <a:srgbClr val="3985CD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icon-doc"/>
          <p:cNvSpPr/>
          <p:nvPr/>
        </p:nvSpPr>
        <p:spPr>
          <a:xfrm>
            <a:off x="5211064" y="4906582"/>
            <a:ext cx="85915" cy="128905"/>
          </a:xfrm>
          <a:custGeom>
            <a:avLst/>
            <a:gdLst/>
            <a:ahLst/>
            <a:cxnLst/>
            <a:rect l="0" t="0" r="r" b="b"/>
            <a:pathLst>
              <a:path w="85915" h="128905">
                <a:moveTo>
                  <a:pt x="0" y="0"/>
                </a:moveTo>
                <a:lnTo>
                  <a:pt x="55245" y="0"/>
                </a:lnTo>
                <a:lnTo>
                  <a:pt x="85915" y="30670"/>
                </a:lnTo>
                <a:lnTo>
                  <a:pt x="85915" y="128905"/>
                </a:lnTo>
                <a:lnTo>
                  <a:pt x="0" y="128905"/>
                </a:lnTo>
                <a:close/>
                <a:moveTo>
                  <a:pt x="55245" y="0"/>
                </a:moveTo>
                <a:lnTo>
                  <a:pt x="55245" y="30670"/>
                </a:lnTo>
                <a:lnTo>
                  <a:pt x="85915" y="30670"/>
                </a:lnTo>
                <a:moveTo>
                  <a:pt x="19939" y="67500"/>
                </a:moveTo>
                <a:lnTo>
                  <a:pt x="65976" y="67500"/>
                </a:lnTo>
                <a:moveTo>
                  <a:pt x="19939" y="93599"/>
                </a:moveTo>
                <a:lnTo>
                  <a:pt x="65976" y="93599"/>
                </a:lnTo>
              </a:path>
            </a:pathLst>
          </a:custGeom>
          <a:noFill/>
          <a:ln w="12065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49" name="lead-05"/>
          <p:cNvCxnSpPr/>
          <p:nvPr/>
        </p:nvCxnSpPr>
        <p:spPr>
          <a:xfrm flipH="1" flipV="1">
            <a:off x="4162111" y="3301127"/>
            <a:ext cx="379774" cy="43650"/>
          </a:xfrm>
          <a:prstGeom prst="line">
            <a:avLst/>
          </a:prstGeom>
          <a:ln w="8890" cap="rnd">
            <a:solidFill>
              <a:srgbClr val="54A2DF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" name="chip"/>
          <p:cNvSpPr/>
          <p:nvPr/>
        </p:nvSpPr>
        <p:spPr>
          <a:xfrm>
            <a:off x="4546989" y="3182380"/>
            <a:ext cx="368300" cy="3683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chip-ring"/>
          <p:cNvSpPr/>
          <p:nvPr/>
        </p:nvSpPr>
        <p:spPr>
          <a:xfrm>
            <a:off x="4546989" y="3182380"/>
            <a:ext cx="368300" cy="368300"/>
          </a:xfrm>
          <a:prstGeom prst="ellipse">
            <a:avLst/>
          </a:prstGeom>
          <a:noFill/>
          <a:ln w="6350" cap="rnd">
            <a:solidFill>
              <a:srgbClr val="54A2D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icon-grow"/>
          <p:cNvSpPr/>
          <p:nvPr/>
        </p:nvSpPr>
        <p:spPr>
          <a:xfrm>
            <a:off x="4666678" y="3337370"/>
            <a:ext cx="115125" cy="72136"/>
          </a:xfrm>
          <a:custGeom>
            <a:avLst/>
            <a:gdLst/>
            <a:ahLst/>
            <a:cxnLst/>
            <a:rect l="0" t="0" r="r" b="b"/>
            <a:pathLst>
              <a:path w="115125" h="72136">
                <a:moveTo>
                  <a:pt x="0" y="72136"/>
                </a:moveTo>
                <a:lnTo>
                  <a:pt x="38354" y="30670"/>
                </a:lnTo>
                <a:lnTo>
                  <a:pt x="65976" y="53721"/>
                </a:lnTo>
                <a:lnTo>
                  <a:pt x="112014" y="0"/>
                </a:lnTo>
                <a:moveTo>
                  <a:pt x="93599" y="0"/>
                </a:moveTo>
                <a:lnTo>
                  <a:pt x="115125" y="0"/>
                </a:lnTo>
                <a:lnTo>
                  <a:pt x="115125" y="21463"/>
                </a:lnTo>
              </a:path>
            </a:pathLst>
          </a:custGeom>
          <a:noFill/>
          <a:ln w="12065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card-01"/>
          <p:cNvSpPr/>
          <p:nvPr/>
        </p:nvSpPr>
        <p:spPr>
          <a:xfrm>
            <a:off x="4889500" y="1308100"/>
            <a:ext cx="2413000" cy="736600"/>
          </a:xfrm>
          <a:custGeom>
            <a:avLst/>
            <a:gdLst/>
            <a:ahLst/>
            <a:cxnLst/>
            <a:rect l="0" t="0" r="r" b="b"/>
            <a:pathLst>
              <a:path w="2413000" h="736600">
                <a:moveTo>
                  <a:pt x="114300" y="0"/>
                </a:moveTo>
                <a:lnTo>
                  <a:pt x="2298700" y="0"/>
                </a:lnTo>
                <a:cubicBezTo>
                  <a:pt x="2361819" y="0"/>
                  <a:pt x="2413000" y="51181"/>
                  <a:pt x="2413000" y="114300"/>
                </a:cubicBezTo>
                <a:lnTo>
                  <a:pt x="2413000" y="622300"/>
                </a:lnTo>
                <a:cubicBezTo>
                  <a:pt x="2413000" y="685419"/>
                  <a:pt x="2361819" y="736600"/>
                  <a:pt x="2298700" y="736600"/>
                </a:cubicBezTo>
                <a:lnTo>
                  <a:pt x="114300" y="736600"/>
                </a:lnTo>
                <a:cubicBezTo>
                  <a:pt x="51181" y="736600"/>
                  <a:pt x="0" y="685419"/>
                  <a:pt x="0" y="622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card-bar-01"/>
          <p:cNvSpPr/>
          <p:nvPr/>
        </p:nvSpPr>
        <p:spPr>
          <a:xfrm>
            <a:off x="4889500" y="1447800"/>
            <a:ext cx="31750" cy="457200"/>
          </a:xfrm>
          <a:custGeom>
            <a:avLst/>
            <a:gdLst/>
            <a:ahLst/>
            <a:cxnLst/>
            <a:rect l="0" t="0" r="r" b="b"/>
            <a:pathLst>
              <a:path w="31750" h="457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41325"/>
                </a:lnTo>
                <a:cubicBezTo>
                  <a:pt x="31750" y="450088"/>
                  <a:pt x="24638" y="457200"/>
                  <a:pt x="15875" y="457200"/>
                </a:cubicBezTo>
                <a:lnTo>
                  <a:pt x="15875" y="457200"/>
                </a:lnTo>
                <a:cubicBezTo>
                  <a:pt x="7112" y="457200"/>
                  <a:pt x="0" y="450088"/>
                  <a:pt x="0" y="441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card-h-01"/>
          <p:cNvSpPr txBox="1"/>
          <p:nvPr/>
        </p:nvSpPr>
        <p:spPr>
          <a:xfrm>
            <a:off x="5086350" y="1429544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目标设定</a:t>
            </a:r>
          </a:p>
        </p:txBody>
      </p:sp>
      <p:sp>
        <p:nvSpPr>
          <p:cNvPr id="56" name="card-p-01"/>
          <p:cNvSpPr txBox="1"/>
          <p:nvPr/>
        </p:nvSpPr>
        <p:spPr>
          <a:xfrm>
            <a:off x="5092065" y="1716961"/>
            <a:ext cx="10144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年度目标拆解到岗</a:t>
            </a:r>
          </a:p>
        </p:txBody>
      </p:sp>
      <p:sp>
        <p:nvSpPr>
          <p:cNvPr id="57" name="card-n-01"/>
          <p:cNvSpPr txBox="1"/>
          <p:nvPr/>
        </p:nvSpPr>
        <p:spPr>
          <a:xfrm>
            <a:off x="6520180" y="1223772"/>
            <a:ext cx="628396" cy="533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400" b="1" spc="50">
                <a:solidFill>
                  <a:srgbClr val="0B3E8F">
                    <a:alpha val="16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58" name="card-02"/>
          <p:cNvSpPr/>
          <p:nvPr/>
        </p:nvSpPr>
        <p:spPr>
          <a:xfrm>
            <a:off x="8029892" y="2794127"/>
            <a:ext cx="2413000" cy="736600"/>
          </a:xfrm>
          <a:custGeom>
            <a:avLst/>
            <a:gdLst/>
            <a:ahLst/>
            <a:cxnLst/>
            <a:rect l="0" t="0" r="r" b="b"/>
            <a:pathLst>
              <a:path w="2413000" h="736600">
                <a:moveTo>
                  <a:pt x="114300" y="0"/>
                </a:moveTo>
                <a:lnTo>
                  <a:pt x="2298700" y="0"/>
                </a:lnTo>
                <a:cubicBezTo>
                  <a:pt x="2361819" y="0"/>
                  <a:pt x="2413000" y="51181"/>
                  <a:pt x="2413000" y="114300"/>
                </a:cubicBezTo>
                <a:lnTo>
                  <a:pt x="2413000" y="622300"/>
                </a:lnTo>
                <a:cubicBezTo>
                  <a:pt x="2413000" y="685483"/>
                  <a:pt x="2361819" y="736600"/>
                  <a:pt x="2298700" y="736600"/>
                </a:cubicBezTo>
                <a:lnTo>
                  <a:pt x="114300" y="736600"/>
                </a:lnTo>
                <a:cubicBezTo>
                  <a:pt x="51181" y="736600"/>
                  <a:pt x="0" y="685483"/>
                  <a:pt x="0" y="622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card-bar-02"/>
          <p:cNvSpPr/>
          <p:nvPr/>
        </p:nvSpPr>
        <p:spPr>
          <a:xfrm>
            <a:off x="8029892" y="2933827"/>
            <a:ext cx="31750" cy="457200"/>
          </a:xfrm>
          <a:custGeom>
            <a:avLst/>
            <a:gdLst/>
            <a:ahLst/>
            <a:cxnLst/>
            <a:rect l="0" t="0" r="r" b="b"/>
            <a:pathLst>
              <a:path w="31750" h="457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41325"/>
                </a:lnTo>
                <a:cubicBezTo>
                  <a:pt x="31750" y="450151"/>
                  <a:pt x="24638" y="457200"/>
                  <a:pt x="15875" y="457200"/>
                </a:cubicBezTo>
                <a:lnTo>
                  <a:pt x="15875" y="457200"/>
                </a:lnTo>
                <a:cubicBezTo>
                  <a:pt x="7112" y="457200"/>
                  <a:pt x="0" y="450151"/>
                  <a:pt x="0" y="441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card-h-02"/>
          <p:cNvSpPr txBox="1"/>
          <p:nvPr/>
        </p:nvSpPr>
        <p:spPr>
          <a:xfrm>
            <a:off x="8226739" y="2915599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计划执行</a:t>
            </a:r>
          </a:p>
        </p:txBody>
      </p:sp>
      <p:sp>
        <p:nvSpPr>
          <p:cNvPr id="61" name="card-p-02"/>
          <p:cNvSpPr txBox="1"/>
          <p:nvPr/>
        </p:nvSpPr>
        <p:spPr>
          <a:xfrm>
            <a:off x="8232454" y="3203016"/>
            <a:ext cx="10144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行动计划资源对齐</a:t>
            </a:r>
          </a:p>
        </p:txBody>
      </p:sp>
      <p:sp>
        <p:nvSpPr>
          <p:cNvPr id="62" name="card-n-02"/>
          <p:cNvSpPr txBox="1"/>
          <p:nvPr/>
        </p:nvSpPr>
        <p:spPr>
          <a:xfrm>
            <a:off x="9660569" y="2709827"/>
            <a:ext cx="628396" cy="533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400" b="1" spc="50">
                <a:solidFill>
                  <a:srgbClr val="1B5AA8">
                    <a:alpha val="16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63" name="card-03"/>
          <p:cNvSpPr/>
          <p:nvPr/>
        </p:nvSpPr>
        <p:spPr>
          <a:xfrm>
            <a:off x="6830378" y="5302123"/>
            <a:ext cx="2413000" cy="736600"/>
          </a:xfrm>
          <a:custGeom>
            <a:avLst/>
            <a:gdLst/>
            <a:ahLst/>
            <a:cxnLst/>
            <a:rect l="0" t="0" r="r" b="b"/>
            <a:pathLst>
              <a:path w="2413000" h="736600">
                <a:moveTo>
                  <a:pt x="114300" y="0"/>
                </a:moveTo>
                <a:lnTo>
                  <a:pt x="2298700" y="0"/>
                </a:lnTo>
                <a:cubicBezTo>
                  <a:pt x="2361819" y="0"/>
                  <a:pt x="2413000" y="51117"/>
                  <a:pt x="2413000" y="114300"/>
                </a:cubicBezTo>
                <a:lnTo>
                  <a:pt x="2413000" y="622300"/>
                </a:lnTo>
                <a:cubicBezTo>
                  <a:pt x="2413000" y="685419"/>
                  <a:pt x="2361819" y="736600"/>
                  <a:pt x="2298700" y="736600"/>
                </a:cubicBezTo>
                <a:lnTo>
                  <a:pt x="114300" y="736600"/>
                </a:lnTo>
                <a:cubicBezTo>
                  <a:pt x="51181" y="736600"/>
                  <a:pt x="0" y="685419"/>
                  <a:pt x="0" y="622300"/>
                </a:cubicBezTo>
                <a:lnTo>
                  <a:pt x="0" y="114300"/>
                </a:lnTo>
                <a:cubicBezTo>
                  <a:pt x="0" y="51117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card-bar-03"/>
          <p:cNvSpPr/>
          <p:nvPr/>
        </p:nvSpPr>
        <p:spPr>
          <a:xfrm>
            <a:off x="6830378" y="5441823"/>
            <a:ext cx="31750" cy="457200"/>
          </a:xfrm>
          <a:custGeom>
            <a:avLst/>
            <a:gdLst/>
            <a:ahLst/>
            <a:cxnLst/>
            <a:rect l="0" t="0" r="r" b="b"/>
            <a:pathLst>
              <a:path w="31750" h="457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049"/>
                  <a:pt x="31750" y="15875"/>
                </a:cubicBezTo>
                <a:lnTo>
                  <a:pt x="31750" y="441325"/>
                </a:lnTo>
                <a:cubicBezTo>
                  <a:pt x="31750" y="450088"/>
                  <a:pt x="24638" y="457200"/>
                  <a:pt x="15875" y="457200"/>
                </a:cubicBezTo>
                <a:lnTo>
                  <a:pt x="15875" y="457200"/>
                </a:lnTo>
                <a:cubicBezTo>
                  <a:pt x="7112" y="457200"/>
                  <a:pt x="0" y="450088"/>
                  <a:pt x="0" y="441325"/>
                </a:cubicBezTo>
                <a:lnTo>
                  <a:pt x="0" y="15875"/>
                </a:lnTo>
                <a:cubicBezTo>
                  <a:pt x="0" y="7049"/>
                  <a:pt x="7112" y="0"/>
                  <a:pt x="15875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card-h-03"/>
          <p:cNvSpPr txBox="1"/>
          <p:nvPr/>
        </p:nvSpPr>
        <p:spPr>
          <a:xfrm>
            <a:off x="7027217" y="5423539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过程监控</a:t>
            </a:r>
          </a:p>
        </p:txBody>
      </p:sp>
      <p:sp>
        <p:nvSpPr>
          <p:cNvPr id="66" name="card-p-03"/>
          <p:cNvSpPr txBox="1"/>
          <p:nvPr/>
        </p:nvSpPr>
        <p:spPr>
          <a:xfrm>
            <a:off x="7032932" y="5710956"/>
            <a:ext cx="10144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关键指标实时预警</a:t>
            </a:r>
          </a:p>
        </p:txBody>
      </p:sp>
      <p:sp>
        <p:nvSpPr>
          <p:cNvPr id="67" name="card-n-03"/>
          <p:cNvSpPr txBox="1"/>
          <p:nvPr/>
        </p:nvSpPr>
        <p:spPr>
          <a:xfrm>
            <a:off x="8461047" y="5217767"/>
            <a:ext cx="628396" cy="533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400" b="1" spc="50">
                <a:solidFill>
                  <a:srgbClr val="2E77C2">
                    <a:alpha val="16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68" name="card-04"/>
          <p:cNvSpPr/>
          <p:nvPr/>
        </p:nvSpPr>
        <p:spPr>
          <a:xfrm>
            <a:off x="2948622" y="5302123"/>
            <a:ext cx="2413000" cy="736600"/>
          </a:xfrm>
          <a:custGeom>
            <a:avLst/>
            <a:gdLst/>
            <a:ahLst/>
            <a:cxnLst/>
            <a:rect l="0" t="0" r="r" b="b"/>
            <a:pathLst>
              <a:path w="2413000" h="736600">
                <a:moveTo>
                  <a:pt x="114300" y="0"/>
                </a:moveTo>
                <a:lnTo>
                  <a:pt x="2298700" y="0"/>
                </a:lnTo>
                <a:cubicBezTo>
                  <a:pt x="2361819" y="0"/>
                  <a:pt x="2413000" y="51117"/>
                  <a:pt x="2413000" y="114300"/>
                </a:cubicBezTo>
                <a:lnTo>
                  <a:pt x="2413000" y="622300"/>
                </a:lnTo>
                <a:cubicBezTo>
                  <a:pt x="2413000" y="685419"/>
                  <a:pt x="2361819" y="736600"/>
                  <a:pt x="2298700" y="736600"/>
                </a:cubicBezTo>
                <a:lnTo>
                  <a:pt x="114300" y="736600"/>
                </a:lnTo>
                <a:cubicBezTo>
                  <a:pt x="51181" y="736600"/>
                  <a:pt x="0" y="685419"/>
                  <a:pt x="0" y="622300"/>
                </a:cubicBezTo>
                <a:lnTo>
                  <a:pt x="0" y="114300"/>
                </a:lnTo>
                <a:cubicBezTo>
                  <a:pt x="0" y="51117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card-bar-04"/>
          <p:cNvSpPr/>
          <p:nvPr/>
        </p:nvSpPr>
        <p:spPr>
          <a:xfrm>
            <a:off x="2948622" y="5441823"/>
            <a:ext cx="31750" cy="457200"/>
          </a:xfrm>
          <a:custGeom>
            <a:avLst/>
            <a:gdLst/>
            <a:ahLst/>
            <a:cxnLst/>
            <a:rect l="0" t="0" r="r" b="b"/>
            <a:pathLst>
              <a:path w="31750" h="457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049"/>
                  <a:pt x="31750" y="15875"/>
                </a:cubicBezTo>
                <a:lnTo>
                  <a:pt x="31750" y="441325"/>
                </a:lnTo>
                <a:cubicBezTo>
                  <a:pt x="31750" y="450088"/>
                  <a:pt x="24638" y="457200"/>
                  <a:pt x="15875" y="457200"/>
                </a:cubicBezTo>
                <a:lnTo>
                  <a:pt x="15875" y="457200"/>
                </a:lnTo>
                <a:cubicBezTo>
                  <a:pt x="7112" y="457200"/>
                  <a:pt x="0" y="450088"/>
                  <a:pt x="0" y="441325"/>
                </a:cubicBezTo>
                <a:lnTo>
                  <a:pt x="0" y="15875"/>
                </a:lnTo>
                <a:cubicBezTo>
                  <a:pt x="0" y="7049"/>
                  <a:pt x="7112" y="0"/>
                  <a:pt x="15875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card-h-04"/>
          <p:cNvSpPr txBox="1"/>
          <p:nvPr/>
        </p:nvSpPr>
        <p:spPr>
          <a:xfrm>
            <a:off x="3145483" y="5423539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复盘评估</a:t>
            </a:r>
          </a:p>
        </p:txBody>
      </p:sp>
      <p:sp>
        <p:nvSpPr>
          <p:cNvPr id="71" name="card-p-04"/>
          <p:cNvSpPr txBox="1"/>
          <p:nvPr/>
        </p:nvSpPr>
        <p:spPr>
          <a:xfrm>
            <a:off x="3151198" y="5710956"/>
            <a:ext cx="10144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对照目标量化评估</a:t>
            </a:r>
          </a:p>
        </p:txBody>
      </p:sp>
      <p:sp>
        <p:nvSpPr>
          <p:cNvPr id="72" name="card-n-04"/>
          <p:cNvSpPr txBox="1"/>
          <p:nvPr/>
        </p:nvSpPr>
        <p:spPr>
          <a:xfrm>
            <a:off x="4579313" y="5217767"/>
            <a:ext cx="628396" cy="533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400" b="1" spc="50">
                <a:solidFill>
                  <a:srgbClr val="3985CD">
                    <a:alpha val="16000"/>
                  </a:srgbClr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73" name="card-05"/>
          <p:cNvSpPr/>
          <p:nvPr/>
        </p:nvSpPr>
        <p:spPr>
          <a:xfrm>
            <a:off x="1749108" y="2794127"/>
            <a:ext cx="2413000" cy="736600"/>
          </a:xfrm>
          <a:custGeom>
            <a:avLst/>
            <a:gdLst/>
            <a:ahLst/>
            <a:cxnLst/>
            <a:rect l="0" t="0" r="r" b="b"/>
            <a:pathLst>
              <a:path w="2413000" h="736600">
                <a:moveTo>
                  <a:pt x="114300" y="0"/>
                </a:moveTo>
                <a:lnTo>
                  <a:pt x="2298700" y="0"/>
                </a:lnTo>
                <a:cubicBezTo>
                  <a:pt x="2361819" y="0"/>
                  <a:pt x="2413000" y="51181"/>
                  <a:pt x="2413000" y="114300"/>
                </a:cubicBezTo>
                <a:lnTo>
                  <a:pt x="2413000" y="622300"/>
                </a:lnTo>
                <a:cubicBezTo>
                  <a:pt x="2413000" y="685483"/>
                  <a:pt x="2361819" y="736600"/>
                  <a:pt x="2298700" y="736600"/>
                </a:cubicBezTo>
                <a:lnTo>
                  <a:pt x="114300" y="736600"/>
                </a:lnTo>
                <a:cubicBezTo>
                  <a:pt x="51181" y="736600"/>
                  <a:pt x="0" y="685483"/>
                  <a:pt x="0" y="622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card-bar-05"/>
          <p:cNvSpPr/>
          <p:nvPr/>
        </p:nvSpPr>
        <p:spPr>
          <a:xfrm>
            <a:off x="1749108" y="2933827"/>
            <a:ext cx="31750" cy="457200"/>
          </a:xfrm>
          <a:custGeom>
            <a:avLst/>
            <a:gdLst/>
            <a:ahLst/>
            <a:cxnLst/>
            <a:rect l="0" t="0" r="r" b="b"/>
            <a:pathLst>
              <a:path w="31750" h="457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41325"/>
                </a:lnTo>
                <a:cubicBezTo>
                  <a:pt x="31750" y="450151"/>
                  <a:pt x="24638" y="457200"/>
                  <a:pt x="15875" y="457200"/>
                </a:cubicBezTo>
                <a:lnTo>
                  <a:pt x="15875" y="457200"/>
                </a:lnTo>
                <a:cubicBezTo>
                  <a:pt x="7112" y="457200"/>
                  <a:pt x="0" y="450151"/>
                  <a:pt x="0" y="441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card-h-05"/>
          <p:cNvSpPr txBox="1"/>
          <p:nvPr/>
        </p:nvSpPr>
        <p:spPr>
          <a:xfrm>
            <a:off x="1945961" y="2915599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迭代改进</a:t>
            </a:r>
          </a:p>
        </p:txBody>
      </p:sp>
      <p:sp>
        <p:nvSpPr>
          <p:cNvPr id="76" name="card-p-05"/>
          <p:cNvSpPr txBox="1"/>
          <p:nvPr/>
        </p:nvSpPr>
        <p:spPr>
          <a:xfrm>
            <a:off x="1951676" y="3203016"/>
            <a:ext cx="10144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改进措施闭环落地</a:t>
            </a:r>
          </a:p>
        </p:txBody>
      </p:sp>
      <p:sp>
        <p:nvSpPr>
          <p:cNvPr id="77" name="card-n-05"/>
          <p:cNvSpPr txBox="1"/>
          <p:nvPr/>
        </p:nvSpPr>
        <p:spPr>
          <a:xfrm>
            <a:off x="3379791" y="2709827"/>
            <a:ext cx="628396" cy="533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400" b="1" spc="50">
                <a:solidFill>
                  <a:srgbClr val="54A2DF">
                    <a:alpha val="16000"/>
                  </a:srgbClr>
                </a:solidFill>
                <a:latin typeface="Arial"/>
                <a:ea typeface="Arial"/>
                <a:cs typeface="Arial"/>
              </a:rPr>
              <a:t>05</a:t>
            </a:r>
          </a:p>
        </p:txBody>
      </p:sp>
      <p:cxnSp>
        <p:nvCxnSpPr>
          <p:cNvPr id="78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闭环机制 · 五环节循环</a:t>
            </a:r>
          </a:p>
        </p:txBody>
      </p:sp>
      <p:sp>
        <p:nvSpPr>
          <p:cNvPr id="80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全流程业务链路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71907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END-TO-END PROCESS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351899" y="673132"/>
            <a:ext cx="22688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从线索获取到复购运营，八个环节首尾相接</a:t>
            </a:r>
          </a:p>
        </p:txBody>
      </p:sp>
      <p:cxnSp>
        <p:nvCxnSpPr>
          <p:cNvPr id="10" name="link-1"/>
          <p:cNvCxnSpPr/>
          <p:nvPr/>
        </p:nvCxnSpPr>
        <p:spPr>
          <a:xfrm>
            <a:off x="3276600" y="2692400"/>
            <a:ext cx="313267" cy="0"/>
          </a:xfrm>
          <a:prstGeom prst="line">
            <a:avLst/>
          </a:prstGeom>
          <a:ln w="10160" cap="rnd">
            <a:solidFill>
              <a:srgbClr val="0B3E8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arr-1"/>
          <p:cNvSpPr/>
          <p:nvPr/>
        </p:nvSpPr>
        <p:spPr>
          <a:xfrm>
            <a:off x="3520017" y="2654300"/>
            <a:ext cx="69850" cy="76200"/>
          </a:xfrm>
          <a:custGeom>
            <a:avLst/>
            <a:gdLst/>
            <a:ahLst/>
            <a:cxnLst/>
            <a:rect l="0" t="0" r="r" b="b"/>
            <a:pathLst>
              <a:path w="69850" h="76200">
                <a:moveTo>
                  <a:pt x="0" y="0"/>
                </a:moveTo>
                <a:lnTo>
                  <a:pt x="69850" y="38100"/>
                </a:lnTo>
                <a:lnTo>
                  <a:pt x="0" y="76200"/>
                </a:lnTo>
              </a:path>
            </a:pathLst>
          </a:custGeom>
          <a:noFill/>
          <a:ln w="12065" cap="rnd">
            <a:solidFill>
              <a:srgbClr val="0B3E8F">
                <a:alpha val="6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2" name="link-2"/>
          <p:cNvCxnSpPr/>
          <p:nvPr/>
        </p:nvCxnSpPr>
        <p:spPr>
          <a:xfrm>
            <a:off x="6015567" y="2692400"/>
            <a:ext cx="313266" cy="0"/>
          </a:xfrm>
          <a:prstGeom prst="line">
            <a:avLst/>
          </a:prstGeom>
          <a:ln w="10160" cap="rnd">
            <a:solidFill>
              <a:srgbClr val="134C9C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arr-2"/>
          <p:cNvSpPr/>
          <p:nvPr/>
        </p:nvSpPr>
        <p:spPr>
          <a:xfrm>
            <a:off x="6258983" y="2654300"/>
            <a:ext cx="69850" cy="76200"/>
          </a:xfrm>
          <a:custGeom>
            <a:avLst/>
            <a:gdLst/>
            <a:ahLst/>
            <a:cxnLst/>
            <a:rect l="0" t="0" r="r" b="b"/>
            <a:pathLst>
              <a:path w="69850" h="76200">
                <a:moveTo>
                  <a:pt x="0" y="0"/>
                </a:moveTo>
                <a:lnTo>
                  <a:pt x="69850" y="38100"/>
                </a:lnTo>
                <a:lnTo>
                  <a:pt x="0" y="76200"/>
                </a:lnTo>
              </a:path>
            </a:pathLst>
          </a:custGeom>
          <a:noFill/>
          <a:ln w="12065" cap="rnd">
            <a:solidFill>
              <a:srgbClr val="134C9C">
                <a:alpha val="6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4" name="link-3"/>
          <p:cNvCxnSpPr/>
          <p:nvPr/>
        </p:nvCxnSpPr>
        <p:spPr>
          <a:xfrm>
            <a:off x="8754533" y="2692400"/>
            <a:ext cx="313267" cy="0"/>
          </a:xfrm>
          <a:prstGeom prst="line">
            <a:avLst/>
          </a:prstGeom>
          <a:ln w="10160" cap="rnd">
            <a:solidFill>
              <a:srgbClr val="1B5AA8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arr-3"/>
          <p:cNvSpPr/>
          <p:nvPr/>
        </p:nvSpPr>
        <p:spPr>
          <a:xfrm>
            <a:off x="8997950" y="2654300"/>
            <a:ext cx="69850" cy="76200"/>
          </a:xfrm>
          <a:custGeom>
            <a:avLst/>
            <a:gdLst/>
            <a:ahLst/>
            <a:cxnLst/>
            <a:rect l="0" t="0" r="r" b="b"/>
            <a:pathLst>
              <a:path w="69850" h="76200">
                <a:moveTo>
                  <a:pt x="0" y="0"/>
                </a:moveTo>
                <a:lnTo>
                  <a:pt x="69850" y="38100"/>
                </a:lnTo>
                <a:lnTo>
                  <a:pt x="0" y="76200"/>
                </a:lnTo>
              </a:path>
            </a:pathLst>
          </a:custGeom>
          <a:noFill/>
          <a:ln w="12065" cap="rnd">
            <a:solidFill>
              <a:srgbClr val="1B5AA8">
                <a:alpha val="6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6" name="link-4"/>
          <p:cNvCxnSpPr/>
          <p:nvPr/>
        </p:nvCxnSpPr>
        <p:spPr>
          <a:xfrm>
            <a:off x="10299700" y="3352800"/>
            <a:ext cx="0" cy="977900"/>
          </a:xfrm>
          <a:prstGeom prst="line">
            <a:avLst/>
          </a:prstGeom>
          <a:ln w="10160" cap="rnd">
            <a:solidFill>
              <a:srgbClr val="2468B6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arr-4"/>
          <p:cNvSpPr/>
          <p:nvPr/>
        </p:nvSpPr>
        <p:spPr>
          <a:xfrm>
            <a:off x="10261600" y="4260850"/>
            <a:ext cx="76200" cy="69850"/>
          </a:xfrm>
          <a:custGeom>
            <a:avLst/>
            <a:gdLst/>
            <a:ahLst/>
            <a:cxnLst/>
            <a:rect l="0" t="0" r="r" b="b"/>
            <a:pathLst>
              <a:path w="76200" h="69850">
                <a:moveTo>
                  <a:pt x="0" y="0"/>
                </a:moveTo>
                <a:lnTo>
                  <a:pt x="38100" y="69850"/>
                </a:lnTo>
                <a:lnTo>
                  <a:pt x="76200" y="0"/>
                </a:lnTo>
              </a:path>
            </a:pathLst>
          </a:custGeom>
          <a:noFill/>
          <a:ln w="12065" cap="rnd">
            <a:solidFill>
              <a:srgbClr val="2468B6">
                <a:alpha val="6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8" name="link-5"/>
          <p:cNvCxnSpPr/>
          <p:nvPr/>
        </p:nvCxnSpPr>
        <p:spPr>
          <a:xfrm flipH="1">
            <a:off x="8792633" y="5041900"/>
            <a:ext cx="313267" cy="0"/>
          </a:xfrm>
          <a:prstGeom prst="line">
            <a:avLst/>
          </a:prstGeom>
          <a:ln w="10160" cap="rnd">
            <a:solidFill>
              <a:srgbClr val="2E77C2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arr-5"/>
          <p:cNvSpPr/>
          <p:nvPr/>
        </p:nvSpPr>
        <p:spPr>
          <a:xfrm>
            <a:off x="8792633" y="5003800"/>
            <a:ext cx="69850" cy="76200"/>
          </a:xfrm>
          <a:custGeom>
            <a:avLst/>
            <a:gdLst/>
            <a:ahLst/>
            <a:cxnLst/>
            <a:rect l="0" t="0" r="r" b="b"/>
            <a:pathLst>
              <a:path w="69850" h="76200">
                <a:moveTo>
                  <a:pt x="69850" y="0"/>
                </a:moveTo>
                <a:lnTo>
                  <a:pt x="0" y="38100"/>
                </a:lnTo>
                <a:lnTo>
                  <a:pt x="69850" y="76200"/>
                </a:lnTo>
              </a:path>
            </a:pathLst>
          </a:custGeom>
          <a:noFill/>
          <a:ln w="12065" cap="rnd">
            <a:solidFill>
              <a:srgbClr val="2E77C2">
                <a:alpha val="6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20" name="link-6"/>
          <p:cNvCxnSpPr/>
          <p:nvPr/>
        </p:nvCxnSpPr>
        <p:spPr>
          <a:xfrm flipH="1">
            <a:off x="6053667" y="5041900"/>
            <a:ext cx="313266" cy="0"/>
          </a:xfrm>
          <a:prstGeom prst="line">
            <a:avLst/>
          </a:prstGeom>
          <a:ln w="10160" cap="rnd">
            <a:solidFill>
              <a:srgbClr val="3985CD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arr-6"/>
          <p:cNvSpPr/>
          <p:nvPr/>
        </p:nvSpPr>
        <p:spPr>
          <a:xfrm>
            <a:off x="6053667" y="5003800"/>
            <a:ext cx="69850" cy="76200"/>
          </a:xfrm>
          <a:custGeom>
            <a:avLst/>
            <a:gdLst/>
            <a:ahLst/>
            <a:cxnLst/>
            <a:rect l="0" t="0" r="r" b="b"/>
            <a:pathLst>
              <a:path w="69850" h="76200">
                <a:moveTo>
                  <a:pt x="69850" y="0"/>
                </a:moveTo>
                <a:lnTo>
                  <a:pt x="0" y="38100"/>
                </a:lnTo>
                <a:lnTo>
                  <a:pt x="69850" y="76200"/>
                </a:lnTo>
              </a:path>
            </a:pathLst>
          </a:custGeom>
          <a:noFill/>
          <a:ln w="12065" cap="rnd">
            <a:solidFill>
              <a:srgbClr val="3985CD">
                <a:alpha val="6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22" name="link-7"/>
          <p:cNvCxnSpPr/>
          <p:nvPr/>
        </p:nvCxnSpPr>
        <p:spPr>
          <a:xfrm flipH="1">
            <a:off x="3314700" y="5041900"/>
            <a:ext cx="313267" cy="0"/>
          </a:xfrm>
          <a:prstGeom prst="line">
            <a:avLst/>
          </a:prstGeom>
          <a:ln w="10160" cap="rnd">
            <a:solidFill>
              <a:srgbClr val="4694D7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arr-7"/>
          <p:cNvSpPr/>
          <p:nvPr/>
        </p:nvSpPr>
        <p:spPr>
          <a:xfrm>
            <a:off x="3314700" y="5003800"/>
            <a:ext cx="69850" cy="76200"/>
          </a:xfrm>
          <a:custGeom>
            <a:avLst/>
            <a:gdLst/>
            <a:ahLst/>
            <a:cxnLst/>
            <a:rect l="0" t="0" r="r" b="b"/>
            <a:pathLst>
              <a:path w="69850" h="76200">
                <a:moveTo>
                  <a:pt x="69850" y="0"/>
                </a:moveTo>
                <a:lnTo>
                  <a:pt x="0" y="38100"/>
                </a:lnTo>
                <a:lnTo>
                  <a:pt x="69850" y="76200"/>
                </a:lnTo>
              </a:path>
            </a:pathLst>
          </a:custGeom>
          <a:noFill/>
          <a:ln w="12065" cap="rnd">
            <a:solidFill>
              <a:srgbClr val="4694D7">
                <a:alpha val="6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loop"/>
          <p:cNvSpPr/>
          <p:nvPr/>
        </p:nvSpPr>
        <p:spPr>
          <a:xfrm>
            <a:off x="711200" y="2692400"/>
            <a:ext cx="177800" cy="2349500"/>
          </a:xfrm>
          <a:custGeom>
            <a:avLst/>
            <a:gdLst/>
            <a:ahLst/>
            <a:cxnLst/>
            <a:rect l="0" t="0" r="r" b="b"/>
            <a:pathLst>
              <a:path w="177800" h="2349500">
                <a:moveTo>
                  <a:pt x="177800" y="2349500"/>
                </a:moveTo>
                <a:lnTo>
                  <a:pt x="114300" y="2349500"/>
                </a:lnTo>
                <a:quadBezTo>
                  <a:pt x="0" y="2349500"/>
                  <a:pt x="0" y="2235200"/>
                </a:quadBezTo>
                <a:lnTo>
                  <a:pt x="0" y="114300"/>
                </a:lnTo>
                <a:quadBezTo>
                  <a:pt x="0" y="0"/>
                  <a:pt x="114300" y="0"/>
                </a:quadBezTo>
                <a:lnTo>
                  <a:pt x="127000" y="0"/>
                </a:lnTo>
              </a:path>
            </a:pathLst>
          </a:custGeom>
          <a:noFill/>
          <a:ln w="9525" cap="rnd">
            <a:solidFill>
              <a:srgbClr val="4694D7">
                <a:alpha val="55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loop-arr"/>
          <p:cNvSpPr/>
          <p:nvPr/>
        </p:nvSpPr>
        <p:spPr>
          <a:xfrm>
            <a:off x="768350" y="2654300"/>
            <a:ext cx="69850" cy="76200"/>
          </a:xfrm>
          <a:custGeom>
            <a:avLst/>
            <a:gdLst/>
            <a:ahLst/>
            <a:cxnLst/>
            <a:rect l="0" t="0" r="r" b="b"/>
            <a:pathLst>
              <a:path w="69850" h="76200">
                <a:moveTo>
                  <a:pt x="0" y="0"/>
                </a:moveTo>
                <a:lnTo>
                  <a:pt x="69850" y="38100"/>
                </a:lnTo>
                <a:lnTo>
                  <a:pt x="0" y="76200"/>
                </a:lnTo>
              </a:path>
            </a:pathLst>
          </a:custGeom>
          <a:noFill/>
          <a:ln w="12065" cap="rnd">
            <a:solidFill>
              <a:srgbClr val="4694D7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loop-t1"/>
          <p:cNvSpPr txBox="1"/>
          <p:nvPr/>
        </p:nvSpPr>
        <p:spPr>
          <a:xfrm>
            <a:off x="1104646" y="3676682"/>
            <a:ext cx="5670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75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服务闭环</a:t>
            </a:r>
          </a:p>
        </p:txBody>
      </p:sp>
      <p:sp>
        <p:nvSpPr>
          <p:cNvPr id="27" name="loop-t2"/>
          <p:cNvSpPr txBox="1"/>
          <p:nvPr/>
        </p:nvSpPr>
        <p:spPr>
          <a:xfrm>
            <a:off x="1106170" y="3870166"/>
            <a:ext cx="8680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数据回流至线索池</a:t>
            </a:r>
          </a:p>
        </p:txBody>
      </p:sp>
      <p:sp>
        <p:nvSpPr>
          <p:cNvPr id="28" name="card-01"/>
          <p:cNvSpPr/>
          <p:nvPr/>
        </p:nvSpPr>
        <p:spPr>
          <a:xfrm>
            <a:off x="952500" y="2095500"/>
            <a:ext cx="2260600" cy="1193800"/>
          </a:xfrm>
          <a:custGeom>
            <a:avLst/>
            <a:gdLst/>
            <a:ahLst/>
            <a:cxnLst/>
            <a:rect l="0" t="0" r="r" b="b"/>
            <a:pathLst>
              <a:path w="2260600" h="1193800">
                <a:moveTo>
                  <a:pt x="114300" y="0"/>
                </a:moveTo>
                <a:lnTo>
                  <a:pt x="2146300" y="0"/>
                </a:lnTo>
                <a:cubicBezTo>
                  <a:pt x="2209419" y="0"/>
                  <a:pt x="2260600" y="51181"/>
                  <a:pt x="2260600" y="114300"/>
                </a:cubicBezTo>
                <a:lnTo>
                  <a:pt x="2260600" y="1079500"/>
                </a:lnTo>
                <a:cubicBezTo>
                  <a:pt x="2260600" y="1142619"/>
                  <a:pt x="2209419" y="1193800"/>
                  <a:pt x="2146300" y="1193800"/>
                </a:cubicBezTo>
                <a:lnTo>
                  <a:pt x="114300" y="1193800"/>
                </a:lnTo>
                <a:cubicBezTo>
                  <a:pt x="51181" y="1193800"/>
                  <a:pt x="0" y="1142619"/>
                  <a:pt x="0" y="1079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cap-01"/>
          <p:cNvSpPr/>
          <p:nvPr/>
        </p:nvSpPr>
        <p:spPr>
          <a:xfrm>
            <a:off x="952500" y="2095500"/>
            <a:ext cx="2260600" cy="44450"/>
          </a:xfrm>
          <a:custGeom>
            <a:avLst/>
            <a:gdLst/>
            <a:ahLst/>
            <a:cxnLst/>
            <a:rect l="0" t="0" r="r" b="b"/>
            <a:pathLst>
              <a:path w="2260600" h="44450">
                <a:moveTo>
                  <a:pt x="22225" y="0"/>
                </a:moveTo>
                <a:lnTo>
                  <a:pt x="2238375" y="0"/>
                </a:lnTo>
                <a:cubicBezTo>
                  <a:pt x="2250630" y="0"/>
                  <a:pt x="2260600" y="9969"/>
                  <a:pt x="2260600" y="22225"/>
                </a:cubicBezTo>
                <a:lnTo>
                  <a:pt x="2260600" y="22225"/>
                </a:lnTo>
                <a:cubicBezTo>
                  <a:pt x="2260600" y="34481"/>
                  <a:pt x="2250630" y="44450"/>
                  <a:pt x="2238375" y="44450"/>
                </a:cubicBezTo>
                <a:lnTo>
                  <a:pt x="22225" y="44450"/>
                </a:lnTo>
                <a:cubicBezTo>
                  <a:pt x="9969" y="44450"/>
                  <a:pt x="0" y="34481"/>
                  <a:pt x="0" y="22225"/>
                </a:cubicBezTo>
                <a:lnTo>
                  <a:pt x="0" y="22225"/>
                </a:lnTo>
                <a:cubicBezTo>
                  <a:pt x="0" y="9969"/>
                  <a:pt x="9969" y="0"/>
                  <a:pt x="2222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n-01"/>
          <p:cNvSpPr txBox="1"/>
          <p:nvPr/>
        </p:nvSpPr>
        <p:spPr>
          <a:xfrm>
            <a:off x="1104900" y="2097088"/>
            <a:ext cx="654050" cy="5556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500" b="1" spc="50">
                <a:solidFill>
                  <a:srgbClr val="0B3E8F">
                    <a:alpha val="16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31" name="chip"/>
          <p:cNvSpPr/>
          <p:nvPr/>
        </p:nvSpPr>
        <p:spPr>
          <a:xfrm>
            <a:off x="2692400" y="2286000"/>
            <a:ext cx="355600" cy="3556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chip-ring"/>
          <p:cNvSpPr/>
          <p:nvPr/>
        </p:nvSpPr>
        <p:spPr>
          <a:xfrm>
            <a:off x="2692400" y="2286000"/>
            <a:ext cx="355600" cy="355600"/>
          </a:xfrm>
          <a:prstGeom prst="ellipse">
            <a:avLst/>
          </a:prstGeom>
          <a:noFill/>
          <a:ln w="6350" cap="rnd">
            <a:solidFill>
              <a:srgbClr val="0B3E8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icon-megaphone"/>
          <p:cNvSpPr/>
          <p:nvPr/>
        </p:nvSpPr>
        <p:spPr>
          <a:xfrm>
            <a:off x="2821305" y="2417890"/>
            <a:ext cx="96330" cy="91821"/>
          </a:xfrm>
          <a:custGeom>
            <a:avLst/>
            <a:gdLst/>
            <a:ahLst/>
            <a:cxnLst/>
            <a:rect l="0" t="0" r="r" b="b"/>
            <a:pathLst>
              <a:path w="96330" h="91821">
                <a:moveTo>
                  <a:pt x="0" y="28131"/>
                </a:moveTo>
                <a:lnTo>
                  <a:pt x="0" y="63691"/>
                </a:lnTo>
                <a:lnTo>
                  <a:pt x="22225" y="63691"/>
                </a:lnTo>
                <a:lnTo>
                  <a:pt x="75565" y="91821"/>
                </a:lnTo>
                <a:lnTo>
                  <a:pt x="75565" y="0"/>
                </a:lnTo>
                <a:lnTo>
                  <a:pt x="22225" y="28131"/>
                </a:lnTo>
                <a:close/>
                <a:moveTo>
                  <a:pt x="96330" y="31115"/>
                </a:moveTo>
                <a:lnTo>
                  <a:pt x="96330" y="60706"/>
                </a:lnTo>
              </a:path>
            </a:pathLst>
          </a:custGeom>
          <a:noFill/>
          <a:ln w="1143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h-01"/>
          <p:cNvSpPr txBox="1"/>
          <p:nvPr/>
        </p:nvSpPr>
        <p:spPr>
          <a:xfrm>
            <a:off x="1123950" y="2648744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线索获取</a:t>
            </a:r>
          </a:p>
        </p:txBody>
      </p:sp>
      <p:sp>
        <p:nvSpPr>
          <p:cNvPr id="35" name="rule-01"/>
          <p:cNvSpPr/>
          <p:nvPr/>
        </p:nvSpPr>
        <p:spPr>
          <a:xfrm>
            <a:off x="1143000" y="2959100"/>
            <a:ext cx="279400" cy="1524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p-01"/>
          <p:cNvSpPr txBox="1"/>
          <p:nvPr/>
        </p:nvSpPr>
        <p:spPr>
          <a:xfrm>
            <a:off x="1129665" y="30123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多渠道引流与登记</a:t>
            </a:r>
          </a:p>
        </p:txBody>
      </p:sp>
      <p:sp>
        <p:nvSpPr>
          <p:cNvPr id="37" name="card-02"/>
          <p:cNvSpPr/>
          <p:nvPr/>
        </p:nvSpPr>
        <p:spPr>
          <a:xfrm>
            <a:off x="3691446" y="2095500"/>
            <a:ext cx="2260600" cy="1193800"/>
          </a:xfrm>
          <a:custGeom>
            <a:avLst/>
            <a:gdLst/>
            <a:ahLst/>
            <a:cxnLst/>
            <a:rect l="0" t="0" r="r" b="b"/>
            <a:pathLst>
              <a:path w="2260600" h="1193800">
                <a:moveTo>
                  <a:pt x="114300" y="0"/>
                </a:moveTo>
                <a:lnTo>
                  <a:pt x="2146300" y="0"/>
                </a:lnTo>
                <a:cubicBezTo>
                  <a:pt x="2209419" y="0"/>
                  <a:pt x="2260600" y="51181"/>
                  <a:pt x="2260600" y="114300"/>
                </a:cubicBezTo>
                <a:lnTo>
                  <a:pt x="2260600" y="1079500"/>
                </a:lnTo>
                <a:cubicBezTo>
                  <a:pt x="2260600" y="1142619"/>
                  <a:pt x="2209419" y="1193800"/>
                  <a:pt x="2146300" y="1193800"/>
                </a:cubicBezTo>
                <a:lnTo>
                  <a:pt x="114300" y="1193800"/>
                </a:lnTo>
                <a:cubicBezTo>
                  <a:pt x="51181" y="1193800"/>
                  <a:pt x="0" y="1142619"/>
                  <a:pt x="0" y="1079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cap-02"/>
          <p:cNvSpPr/>
          <p:nvPr/>
        </p:nvSpPr>
        <p:spPr>
          <a:xfrm>
            <a:off x="3691446" y="2095500"/>
            <a:ext cx="2260600" cy="44450"/>
          </a:xfrm>
          <a:custGeom>
            <a:avLst/>
            <a:gdLst/>
            <a:ahLst/>
            <a:cxnLst/>
            <a:rect l="0" t="0" r="r" b="b"/>
            <a:pathLst>
              <a:path w="2260600" h="44450">
                <a:moveTo>
                  <a:pt x="22225" y="0"/>
                </a:moveTo>
                <a:lnTo>
                  <a:pt x="2238375" y="0"/>
                </a:lnTo>
                <a:cubicBezTo>
                  <a:pt x="2250694" y="0"/>
                  <a:pt x="2260600" y="9969"/>
                  <a:pt x="2260600" y="22225"/>
                </a:cubicBezTo>
                <a:lnTo>
                  <a:pt x="2260600" y="22225"/>
                </a:lnTo>
                <a:cubicBezTo>
                  <a:pt x="2260600" y="34481"/>
                  <a:pt x="2250694" y="44450"/>
                  <a:pt x="2238375" y="44450"/>
                </a:cubicBezTo>
                <a:lnTo>
                  <a:pt x="22225" y="44450"/>
                </a:lnTo>
                <a:cubicBezTo>
                  <a:pt x="9969" y="44450"/>
                  <a:pt x="0" y="34481"/>
                  <a:pt x="0" y="22225"/>
                </a:cubicBezTo>
                <a:lnTo>
                  <a:pt x="0" y="22225"/>
                </a:lnTo>
                <a:cubicBezTo>
                  <a:pt x="0" y="9969"/>
                  <a:pt x="9969" y="0"/>
                  <a:pt x="22225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n-02"/>
          <p:cNvSpPr txBox="1"/>
          <p:nvPr/>
        </p:nvSpPr>
        <p:spPr>
          <a:xfrm>
            <a:off x="3843867" y="2097088"/>
            <a:ext cx="654050" cy="5556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500" b="1" spc="50">
                <a:solidFill>
                  <a:srgbClr val="134C9C">
                    <a:alpha val="16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40" name="chip"/>
          <p:cNvSpPr/>
          <p:nvPr/>
        </p:nvSpPr>
        <p:spPr>
          <a:xfrm>
            <a:off x="5431367" y="2286000"/>
            <a:ext cx="355600" cy="3556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chip-ring"/>
          <p:cNvSpPr/>
          <p:nvPr/>
        </p:nvSpPr>
        <p:spPr>
          <a:xfrm>
            <a:off x="5431367" y="2286000"/>
            <a:ext cx="355600" cy="355600"/>
          </a:xfrm>
          <a:prstGeom prst="ellipse">
            <a:avLst/>
          </a:prstGeom>
          <a:noFill/>
          <a:ln w="6350" cap="rnd">
            <a:solidFill>
              <a:srgbClr val="134C9C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icon-search"/>
          <p:cNvSpPr/>
          <p:nvPr/>
        </p:nvSpPr>
        <p:spPr>
          <a:xfrm>
            <a:off x="5634355" y="2489010"/>
            <a:ext cx="29655" cy="29591"/>
          </a:xfrm>
          <a:custGeom>
            <a:avLst/>
            <a:gdLst/>
            <a:ahLst/>
            <a:cxnLst/>
            <a:rect l="0" t="0" r="r" b="b"/>
            <a:pathLst>
              <a:path w="29655" h="29591">
                <a:moveTo>
                  <a:pt x="29655" y="29591"/>
                </a:moveTo>
                <a:lnTo>
                  <a:pt x="0" y="0"/>
                </a:lnTo>
              </a:path>
            </a:pathLst>
          </a:custGeom>
          <a:noFill/>
          <a:ln w="1143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icon-search"/>
          <p:cNvSpPr/>
          <p:nvPr/>
        </p:nvSpPr>
        <p:spPr>
          <a:xfrm>
            <a:off x="5554345" y="2408978"/>
            <a:ext cx="94827" cy="94827"/>
          </a:xfrm>
          <a:prstGeom prst="ellipse">
            <a:avLst/>
          </a:prstGeom>
          <a:noFill/>
          <a:ln w="1143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h-02"/>
          <p:cNvSpPr txBox="1"/>
          <p:nvPr/>
        </p:nvSpPr>
        <p:spPr>
          <a:xfrm>
            <a:off x="3862917" y="2648744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资质初审</a:t>
            </a:r>
          </a:p>
        </p:txBody>
      </p:sp>
      <p:sp>
        <p:nvSpPr>
          <p:cNvPr id="45" name="rule-02"/>
          <p:cNvSpPr/>
          <p:nvPr/>
        </p:nvSpPr>
        <p:spPr>
          <a:xfrm>
            <a:off x="3881967" y="2959100"/>
            <a:ext cx="279400" cy="15240"/>
          </a:xfrm>
          <a:prstGeom prst="roundRect">
            <a:avLst>
              <a:gd name="adj" fmla="val 50000"/>
            </a:avLst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p-02"/>
          <p:cNvSpPr txBox="1"/>
          <p:nvPr/>
        </p:nvSpPr>
        <p:spPr>
          <a:xfrm>
            <a:off x="3868632" y="30123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客户资质与需求核验</a:t>
            </a:r>
          </a:p>
        </p:txBody>
      </p:sp>
      <p:sp>
        <p:nvSpPr>
          <p:cNvPr id="47" name="card-03"/>
          <p:cNvSpPr/>
          <p:nvPr/>
        </p:nvSpPr>
        <p:spPr>
          <a:xfrm>
            <a:off x="6430454" y="2095500"/>
            <a:ext cx="2260600" cy="1193800"/>
          </a:xfrm>
          <a:custGeom>
            <a:avLst/>
            <a:gdLst/>
            <a:ahLst/>
            <a:cxnLst/>
            <a:rect l="0" t="0" r="r" b="b"/>
            <a:pathLst>
              <a:path w="2260600" h="1193800">
                <a:moveTo>
                  <a:pt x="114300" y="0"/>
                </a:moveTo>
                <a:lnTo>
                  <a:pt x="2146300" y="0"/>
                </a:lnTo>
                <a:cubicBezTo>
                  <a:pt x="2209419" y="0"/>
                  <a:pt x="2260600" y="51181"/>
                  <a:pt x="2260600" y="114300"/>
                </a:cubicBezTo>
                <a:lnTo>
                  <a:pt x="2260600" y="1079500"/>
                </a:lnTo>
                <a:cubicBezTo>
                  <a:pt x="2260600" y="1142619"/>
                  <a:pt x="2209419" y="1193800"/>
                  <a:pt x="2146300" y="1193800"/>
                </a:cubicBezTo>
                <a:lnTo>
                  <a:pt x="114300" y="1193800"/>
                </a:lnTo>
                <a:cubicBezTo>
                  <a:pt x="51181" y="1193800"/>
                  <a:pt x="0" y="1142619"/>
                  <a:pt x="0" y="1079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cap-03"/>
          <p:cNvSpPr/>
          <p:nvPr/>
        </p:nvSpPr>
        <p:spPr>
          <a:xfrm>
            <a:off x="6430454" y="2095500"/>
            <a:ext cx="2260600" cy="44450"/>
          </a:xfrm>
          <a:custGeom>
            <a:avLst/>
            <a:gdLst/>
            <a:ahLst/>
            <a:cxnLst/>
            <a:rect l="0" t="0" r="r" b="b"/>
            <a:pathLst>
              <a:path w="2260600" h="44450">
                <a:moveTo>
                  <a:pt x="22225" y="0"/>
                </a:moveTo>
                <a:lnTo>
                  <a:pt x="2238375" y="0"/>
                </a:lnTo>
                <a:cubicBezTo>
                  <a:pt x="2250630" y="0"/>
                  <a:pt x="2260600" y="9969"/>
                  <a:pt x="2260600" y="22225"/>
                </a:cubicBezTo>
                <a:lnTo>
                  <a:pt x="2260600" y="22225"/>
                </a:lnTo>
                <a:cubicBezTo>
                  <a:pt x="2260600" y="34481"/>
                  <a:pt x="2250630" y="44450"/>
                  <a:pt x="2238375" y="44450"/>
                </a:cubicBezTo>
                <a:lnTo>
                  <a:pt x="22225" y="44450"/>
                </a:lnTo>
                <a:cubicBezTo>
                  <a:pt x="9906" y="44450"/>
                  <a:pt x="0" y="34481"/>
                  <a:pt x="0" y="22225"/>
                </a:cubicBezTo>
                <a:lnTo>
                  <a:pt x="0" y="22225"/>
                </a:lnTo>
                <a:cubicBezTo>
                  <a:pt x="0" y="9969"/>
                  <a:pt x="9906" y="0"/>
                  <a:pt x="2222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n-03"/>
          <p:cNvSpPr txBox="1"/>
          <p:nvPr/>
        </p:nvSpPr>
        <p:spPr>
          <a:xfrm>
            <a:off x="6582833" y="2097088"/>
            <a:ext cx="654050" cy="5556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500" b="1" spc="50">
                <a:solidFill>
                  <a:srgbClr val="1B5AA8">
                    <a:alpha val="16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50" name="chip"/>
          <p:cNvSpPr/>
          <p:nvPr/>
        </p:nvSpPr>
        <p:spPr>
          <a:xfrm>
            <a:off x="8170333" y="2286000"/>
            <a:ext cx="355600" cy="3556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chip-ring"/>
          <p:cNvSpPr/>
          <p:nvPr/>
        </p:nvSpPr>
        <p:spPr>
          <a:xfrm>
            <a:off x="8170333" y="2286000"/>
            <a:ext cx="355600" cy="355600"/>
          </a:xfrm>
          <a:prstGeom prst="ellipse">
            <a:avLst/>
          </a:prstGeom>
          <a:noFill/>
          <a:ln w="6350" cap="rnd">
            <a:solidFill>
              <a:srgbClr val="1B5AA8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icon-doc"/>
          <p:cNvSpPr/>
          <p:nvPr/>
        </p:nvSpPr>
        <p:spPr>
          <a:xfrm>
            <a:off x="8308149" y="2401570"/>
            <a:ext cx="82931" cy="124460"/>
          </a:xfrm>
          <a:custGeom>
            <a:avLst/>
            <a:gdLst/>
            <a:ahLst/>
            <a:cxnLst/>
            <a:rect l="0" t="0" r="r" b="b"/>
            <a:pathLst>
              <a:path w="82931" h="124460">
                <a:moveTo>
                  <a:pt x="0" y="0"/>
                </a:moveTo>
                <a:lnTo>
                  <a:pt x="53340" y="0"/>
                </a:lnTo>
                <a:lnTo>
                  <a:pt x="82931" y="29655"/>
                </a:lnTo>
                <a:lnTo>
                  <a:pt x="82931" y="124460"/>
                </a:lnTo>
                <a:lnTo>
                  <a:pt x="0" y="124460"/>
                </a:lnTo>
                <a:close/>
                <a:moveTo>
                  <a:pt x="53340" y="0"/>
                </a:moveTo>
                <a:lnTo>
                  <a:pt x="53340" y="29655"/>
                </a:lnTo>
                <a:lnTo>
                  <a:pt x="82931" y="29655"/>
                </a:lnTo>
                <a:moveTo>
                  <a:pt x="19241" y="65215"/>
                </a:moveTo>
                <a:lnTo>
                  <a:pt x="63691" y="65215"/>
                </a:lnTo>
                <a:moveTo>
                  <a:pt x="19241" y="90361"/>
                </a:moveTo>
                <a:lnTo>
                  <a:pt x="63691" y="90361"/>
                </a:lnTo>
              </a:path>
            </a:pathLst>
          </a:custGeom>
          <a:noFill/>
          <a:ln w="1143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h-03"/>
          <p:cNvSpPr txBox="1"/>
          <p:nvPr/>
        </p:nvSpPr>
        <p:spPr>
          <a:xfrm>
            <a:off x="6601883" y="2648744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方案报价</a:t>
            </a:r>
          </a:p>
        </p:txBody>
      </p:sp>
      <p:sp>
        <p:nvSpPr>
          <p:cNvPr id="54" name="rule-03"/>
          <p:cNvSpPr/>
          <p:nvPr/>
        </p:nvSpPr>
        <p:spPr>
          <a:xfrm>
            <a:off x="6620933" y="2959100"/>
            <a:ext cx="279400" cy="15240"/>
          </a:xfrm>
          <a:prstGeom prst="roundRect">
            <a:avLst>
              <a:gd name="adj" fmla="val 50000"/>
            </a:avLst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p-03"/>
          <p:cNvSpPr txBox="1"/>
          <p:nvPr/>
        </p:nvSpPr>
        <p:spPr>
          <a:xfrm>
            <a:off x="6607598" y="30123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定制方案与价格核算</a:t>
            </a:r>
          </a:p>
        </p:txBody>
      </p:sp>
      <p:sp>
        <p:nvSpPr>
          <p:cNvPr id="56" name="card-04"/>
          <p:cNvSpPr/>
          <p:nvPr/>
        </p:nvSpPr>
        <p:spPr>
          <a:xfrm>
            <a:off x="9169400" y="2095500"/>
            <a:ext cx="2260600" cy="1193800"/>
          </a:xfrm>
          <a:custGeom>
            <a:avLst/>
            <a:gdLst/>
            <a:ahLst/>
            <a:cxnLst/>
            <a:rect l="0" t="0" r="r" b="b"/>
            <a:pathLst>
              <a:path w="2260600" h="1193800">
                <a:moveTo>
                  <a:pt x="114300" y="0"/>
                </a:moveTo>
                <a:lnTo>
                  <a:pt x="2146300" y="0"/>
                </a:lnTo>
                <a:cubicBezTo>
                  <a:pt x="2209419" y="0"/>
                  <a:pt x="2260600" y="51181"/>
                  <a:pt x="2260600" y="114300"/>
                </a:cubicBezTo>
                <a:lnTo>
                  <a:pt x="2260600" y="1079500"/>
                </a:lnTo>
                <a:cubicBezTo>
                  <a:pt x="2260600" y="1142619"/>
                  <a:pt x="2209419" y="1193800"/>
                  <a:pt x="2146300" y="1193800"/>
                </a:cubicBezTo>
                <a:lnTo>
                  <a:pt x="114300" y="1193800"/>
                </a:lnTo>
                <a:cubicBezTo>
                  <a:pt x="51181" y="1193800"/>
                  <a:pt x="0" y="1142619"/>
                  <a:pt x="0" y="1079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cap-04"/>
          <p:cNvSpPr/>
          <p:nvPr/>
        </p:nvSpPr>
        <p:spPr>
          <a:xfrm>
            <a:off x="9169400" y="2095500"/>
            <a:ext cx="2260600" cy="44450"/>
          </a:xfrm>
          <a:custGeom>
            <a:avLst/>
            <a:gdLst/>
            <a:ahLst/>
            <a:cxnLst/>
            <a:rect l="0" t="0" r="r" b="b"/>
            <a:pathLst>
              <a:path w="2260600" h="44450">
                <a:moveTo>
                  <a:pt x="22225" y="0"/>
                </a:moveTo>
                <a:lnTo>
                  <a:pt x="2238375" y="0"/>
                </a:lnTo>
                <a:cubicBezTo>
                  <a:pt x="2250631" y="0"/>
                  <a:pt x="2260600" y="9969"/>
                  <a:pt x="2260600" y="22225"/>
                </a:cubicBezTo>
                <a:lnTo>
                  <a:pt x="2260600" y="22225"/>
                </a:lnTo>
                <a:cubicBezTo>
                  <a:pt x="2260600" y="34481"/>
                  <a:pt x="2250631" y="44450"/>
                  <a:pt x="2238375" y="44450"/>
                </a:cubicBezTo>
                <a:lnTo>
                  <a:pt x="22225" y="44450"/>
                </a:lnTo>
                <a:cubicBezTo>
                  <a:pt x="9969" y="44450"/>
                  <a:pt x="0" y="34481"/>
                  <a:pt x="0" y="22225"/>
                </a:cubicBezTo>
                <a:lnTo>
                  <a:pt x="0" y="22225"/>
                </a:lnTo>
                <a:cubicBezTo>
                  <a:pt x="0" y="9969"/>
                  <a:pt x="9969" y="0"/>
                  <a:pt x="22225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n-04"/>
          <p:cNvSpPr txBox="1"/>
          <p:nvPr/>
        </p:nvSpPr>
        <p:spPr>
          <a:xfrm>
            <a:off x="9321800" y="2097088"/>
            <a:ext cx="654050" cy="5556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500" b="1" spc="50">
                <a:solidFill>
                  <a:srgbClr val="2468B6">
                    <a:alpha val="16000"/>
                  </a:srgbClr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59" name="chip"/>
          <p:cNvSpPr/>
          <p:nvPr/>
        </p:nvSpPr>
        <p:spPr>
          <a:xfrm>
            <a:off x="10909300" y="2286000"/>
            <a:ext cx="355600" cy="3556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chip-ring"/>
          <p:cNvSpPr/>
          <p:nvPr/>
        </p:nvSpPr>
        <p:spPr>
          <a:xfrm>
            <a:off x="10909300" y="2286000"/>
            <a:ext cx="355600" cy="355600"/>
          </a:xfrm>
          <a:prstGeom prst="ellipse">
            <a:avLst/>
          </a:prstGeom>
          <a:noFill/>
          <a:ln w="6350" cap="rnd">
            <a:solidFill>
              <a:srgbClr val="2468B6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icon-check"/>
          <p:cNvSpPr/>
          <p:nvPr/>
        </p:nvSpPr>
        <p:spPr>
          <a:xfrm>
            <a:off x="11039666" y="2431224"/>
            <a:ext cx="94869" cy="66675"/>
          </a:xfrm>
          <a:custGeom>
            <a:avLst/>
            <a:gdLst/>
            <a:ahLst/>
            <a:cxnLst/>
            <a:rect l="0" t="0" r="r" b="b"/>
            <a:pathLst>
              <a:path w="94869" h="66675">
                <a:moveTo>
                  <a:pt x="0" y="35560"/>
                </a:moveTo>
                <a:lnTo>
                  <a:pt x="31115" y="66675"/>
                </a:lnTo>
                <a:lnTo>
                  <a:pt x="94869" y="0"/>
                </a:lnTo>
              </a:path>
            </a:pathLst>
          </a:custGeom>
          <a:noFill/>
          <a:ln w="1143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h-04"/>
          <p:cNvSpPr txBox="1"/>
          <p:nvPr/>
        </p:nvSpPr>
        <p:spPr>
          <a:xfrm>
            <a:off x="9340850" y="2648744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合同签订</a:t>
            </a:r>
          </a:p>
        </p:txBody>
      </p:sp>
      <p:sp>
        <p:nvSpPr>
          <p:cNvPr id="63" name="rule-04"/>
          <p:cNvSpPr/>
          <p:nvPr/>
        </p:nvSpPr>
        <p:spPr>
          <a:xfrm>
            <a:off x="9359900" y="2959100"/>
            <a:ext cx="279400" cy="15240"/>
          </a:xfrm>
          <a:prstGeom prst="roundRect">
            <a:avLst>
              <a:gd name="adj" fmla="val 50000"/>
            </a:avLst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p-04"/>
          <p:cNvSpPr txBox="1"/>
          <p:nvPr/>
        </p:nvSpPr>
        <p:spPr>
          <a:xfrm>
            <a:off x="9346565" y="3012361"/>
            <a:ext cx="8956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线上签署与归档</a:t>
            </a:r>
          </a:p>
        </p:txBody>
      </p:sp>
      <p:sp>
        <p:nvSpPr>
          <p:cNvPr id="65" name="card-05"/>
          <p:cNvSpPr/>
          <p:nvPr/>
        </p:nvSpPr>
        <p:spPr>
          <a:xfrm>
            <a:off x="9169400" y="4445000"/>
            <a:ext cx="2260600" cy="1193800"/>
          </a:xfrm>
          <a:custGeom>
            <a:avLst/>
            <a:gdLst/>
            <a:ahLst/>
            <a:cxnLst/>
            <a:rect l="0" t="0" r="r" b="b"/>
            <a:pathLst>
              <a:path w="2260600" h="1193800">
                <a:moveTo>
                  <a:pt x="114300" y="0"/>
                </a:moveTo>
                <a:lnTo>
                  <a:pt x="2146300" y="0"/>
                </a:lnTo>
                <a:cubicBezTo>
                  <a:pt x="2209419" y="0"/>
                  <a:pt x="2260600" y="51181"/>
                  <a:pt x="2260600" y="114300"/>
                </a:cubicBezTo>
                <a:lnTo>
                  <a:pt x="2260600" y="1079500"/>
                </a:lnTo>
                <a:cubicBezTo>
                  <a:pt x="2260600" y="1142619"/>
                  <a:pt x="2209419" y="1193800"/>
                  <a:pt x="2146300" y="1193800"/>
                </a:cubicBezTo>
                <a:lnTo>
                  <a:pt x="114300" y="1193800"/>
                </a:lnTo>
                <a:cubicBezTo>
                  <a:pt x="51181" y="1193800"/>
                  <a:pt x="0" y="1142619"/>
                  <a:pt x="0" y="1079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cap-05"/>
          <p:cNvSpPr/>
          <p:nvPr/>
        </p:nvSpPr>
        <p:spPr>
          <a:xfrm>
            <a:off x="9169400" y="4445000"/>
            <a:ext cx="2260600" cy="44450"/>
          </a:xfrm>
          <a:custGeom>
            <a:avLst/>
            <a:gdLst/>
            <a:ahLst/>
            <a:cxnLst/>
            <a:rect l="0" t="0" r="r" b="b"/>
            <a:pathLst>
              <a:path w="2260600" h="44450">
                <a:moveTo>
                  <a:pt x="22225" y="0"/>
                </a:moveTo>
                <a:lnTo>
                  <a:pt x="2238375" y="0"/>
                </a:lnTo>
                <a:cubicBezTo>
                  <a:pt x="2250631" y="0"/>
                  <a:pt x="2260600" y="9970"/>
                  <a:pt x="2260600" y="22225"/>
                </a:cubicBezTo>
                <a:lnTo>
                  <a:pt x="2260600" y="22225"/>
                </a:lnTo>
                <a:cubicBezTo>
                  <a:pt x="2260600" y="34480"/>
                  <a:pt x="2250631" y="44450"/>
                  <a:pt x="2238375" y="44450"/>
                </a:cubicBezTo>
                <a:lnTo>
                  <a:pt x="22225" y="44450"/>
                </a:lnTo>
                <a:cubicBezTo>
                  <a:pt x="9969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70"/>
                  <a:pt x="9969" y="0"/>
                  <a:pt x="22225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n-05"/>
          <p:cNvSpPr txBox="1"/>
          <p:nvPr/>
        </p:nvSpPr>
        <p:spPr>
          <a:xfrm>
            <a:off x="9321800" y="4446588"/>
            <a:ext cx="654050" cy="5556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500" b="1" spc="50">
                <a:solidFill>
                  <a:srgbClr val="2E77C2">
                    <a:alpha val="16000"/>
                  </a:srgbClr>
                </a:solidFill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68" name="chip"/>
          <p:cNvSpPr/>
          <p:nvPr/>
        </p:nvSpPr>
        <p:spPr>
          <a:xfrm>
            <a:off x="10909300" y="4635500"/>
            <a:ext cx="355600" cy="3556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chip-ring"/>
          <p:cNvSpPr/>
          <p:nvPr/>
        </p:nvSpPr>
        <p:spPr>
          <a:xfrm>
            <a:off x="10909300" y="4635500"/>
            <a:ext cx="355600" cy="355600"/>
          </a:xfrm>
          <a:prstGeom prst="ellipse">
            <a:avLst/>
          </a:prstGeom>
          <a:noFill/>
          <a:ln w="6350" cap="rnd">
            <a:solidFill>
              <a:srgbClr val="2E77C2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icon-factory"/>
          <p:cNvSpPr/>
          <p:nvPr/>
        </p:nvSpPr>
        <p:spPr>
          <a:xfrm>
            <a:off x="11023410" y="4785170"/>
            <a:ext cx="127381" cy="85915"/>
          </a:xfrm>
          <a:custGeom>
            <a:avLst/>
            <a:gdLst/>
            <a:ahLst/>
            <a:cxnLst/>
            <a:rect l="0" t="0" r="r" b="b"/>
            <a:pathLst>
              <a:path w="127381" h="85915">
                <a:moveTo>
                  <a:pt x="0" y="85915"/>
                </a:moveTo>
                <a:lnTo>
                  <a:pt x="0" y="20701"/>
                </a:lnTo>
                <a:lnTo>
                  <a:pt x="37020" y="42926"/>
                </a:lnTo>
                <a:lnTo>
                  <a:pt x="37020" y="20701"/>
                </a:lnTo>
                <a:lnTo>
                  <a:pt x="74041" y="42926"/>
                </a:lnTo>
                <a:lnTo>
                  <a:pt x="74041" y="0"/>
                </a:lnTo>
                <a:lnTo>
                  <a:pt x="111125" y="22225"/>
                </a:lnTo>
                <a:lnTo>
                  <a:pt x="111125" y="78486"/>
                </a:lnTo>
                <a:close/>
                <a:moveTo>
                  <a:pt x="0" y="85915"/>
                </a:moveTo>
                <a:lnTo>
                  <a:pt x="127381" y="85915"/>
                </a:lnTo>
              </a:path>
            </a:pathLst>
          </a:custGeom>
          <a:noFill/>
          <a:ln w="1143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h-05"/>
          <p:cNvSpPr txBox="1"/>
          <p:nvPr/>
        </p:nvSpPr>
        <p:spPr>
          <a:xfrm>
            <a:off x="9340850" y="4998244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生产排程</a:t>
            </a:r>
          </a:p>
        </p:txBody>
      </p:sp>
      <p:sp>
        <p:nvSpPr>
          <p:cNvPr id="72" name="rule-05"/>
          <p:cNvSpPr/>
          <p:nvPr/>
        </p:nvSpPr>
        <p:spPr>
          <a:xfrm>
            <a:off x="9359900" y="5308600"/>
            <a:ext cx="279400" cy="15240"/>
          </a:xfrm>
          <a:prstGeom prst="roundRect">
            <a:avLst>
              <a:gd name="adj" fmla="val 50000"/>
            </a:avLst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p-05"/>
          <p:cNvSpPr txBox="1"/>
          <p:nvPr/>
        </p:nvSpPr>
        <p:spPr>
          <a:xfrm>
            <a:off x="9346565" y="53618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订单排产与物料准备</a:t>
            </a:r>
          </a:p>
        </p:txBody>
      </p:sp>
      <p:sp>
        <p:nvSpPr>
          <p:cNvPr id="74" name="card-06"/>
          <p:cNvSpPr/>
          <p:nvPr/>
        </p:nvSpPr>
        <p:spPr>
          <a:xfrm>
            <a:off x="6430454" y="4445000"/>
            <a:ext cx="2260600" cy="1193800"/>
          </a:xfrm>
          <a:custGeom>
            <a:avLst/>
            <a:gdLst/>
            <a:ahLst/>
            <a:cxnLst/>
            <a:rect l="0" t="0" r="r" b="b"/>
            <a:pathLst>
              <a:path w="2260600" h="1193800">
                <a:moveTo>
                  <a:pt x="114300" y="0"/>
                </a:moveTo>
                <a:lnTo>
                  <a:pt x="2146300" y="0"/>
                </a:lnTo>
                <a:cubicBezTo>
                  <a:pt x="2209419" y="0"/>
                  <a:pt x="2260600" y="51181"/>
                  <a:pt x="2260600" y="114300"/>
                </a:cubicBezTo>
                <a:lnTo>
                  <a:pt x="2260600" y="1079500"/>
                </a:lnTo>
                <a:cubicBezTo>
                  <a:pt x="2260600" y="1142619"/>
                  <a:pt x="2209419" y="1193800"/>
                  <a:pt x="2146300" y="1193800"/>
                </a:cubicBezTo>
                <a:lnTo>
                  <a:pt x="114300" y="1193800"/>
                </a:lnTo>
                <a:cubicBezTo>
                  <a:pt x="51181" y="1193800"/>
                  <a:pt x="0" y="1142619"/>
                  <a:pt x="0" y="1079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cap-06"/>
          <p:cNvSpPr/>
          <p:nvPr/>
        </p:nvSpPr>
        <p:spPr>
          <a:xfrm>
            <a:off x="6430454" y="4445000"/>
            <a:ext cx="2260600" cy="44450"/>
          </a:xfrm>
          <a:custGeom>
            <a:avLst/>
            <a:gdLst/>
            <a:ahLst/>
            <a:cxnLst/>
            <a:rect l="0" t="0" r="r" b="b"/>
            <a:pathLst>
              <a:path w="2260600" h="44450">
                <a:moveTo>
                  <a:pt x="22225" y="0"/>
                </a:moveTo>
                <a:lnTo>
                  <a:pt x="2238375" y="0"/>
                </a:lnTo>
                <a:cubicBezTo>
                  <a:pt x="2250630" y="0"/>
                  <a:pt x="2260600" y="9970"/>
                  <a:pt x="2260600" y="22225"/>
                </a:cubicBezTo>
                <a:lnTo>
                  <a:pt x="2260600" y="22225"/>
                </a:lnTo>
                <a:cubicBezTo>
                  <a:pt x="2260600" y="34480"/>
                  <a:pt x="2250630" y="44450"/>
                  <a:pt x="2238375" y="44450"/>
                </a:cubicBezTo>
                <a:lnTo>
                  <a:pt x="22225" y="44450"/>
                </a:lnTo>
                <a:cubicBezTo>
                  <a:pt x="9906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70"/>
                  <a:pt x="9906" y="0"/>
                  <a:pt x="22225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n-06"/>
          <p:cNvSpPr txBox="1"/>
          <p:nvPr/>
        </p:nvSpPr>
        <p:spPr>
          <a:xfrm>
            <a:off x="6582833" y="4446588"/>
            <a:ext cx="654050" cy="5556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500" b="1" spc="50">
                <a:solidFill>
                  <a:srgbClr val="3985CD">
                    <a:alpha val="16000"/>
                  </a:srgbClr>
                </a:solidFill>
                <a:latin typeface="Arial"/>
                <a:ea typeface="Arial"/>
                <a:cs typeface="Arial"/>
              </a:rPr>
              <a:t>06</a:t>
            </a:r>
          </a:p>
        </p:txBody>
      </p:sp>
      <p:sp>
        <p:nvSpPr>
          <p:cNvPr id="77" name="chip"/>
          <p:cNvSpPr/>
          <p:nvPr/>
        </p:nvSpPr>
        <p:spPr>
          <a:xfrm>
            <a:off x="8170333" y="4635500"/>
            <a:ext cx="355600" cy="3556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chip-ring"/>
          <p:cNvSpPr/>
          <p:nvPr/>
        </p:nvSpPr>
        <p:spPr>
          <a:xfrm>
            <a:off x="8170333" y="4635500"/>
            <a:ext cx="355600" cy="355600"/>
          </a:xfrm>
          <a:prstGeom prst="ellipse">
            <a:avLst/>
          </a:prstGeom>
          <a:noFill/>
          <a:ln w="6350" cap="rnd">
            <a:solidFill>
              <a:srgbClr val="3985CD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icon-truck"/>
          <p:cNvSpPr/>
          <p:nvPr/>
        </p:nvSpPr>
        <p:spPr>
          <a:xfrm>
            <a:off x="8285924" y="4773295"/>
            <a:ext cx="117031" cy="72580"/>
          </a:xfrm>
          <a:custGeom>
            <a:avLst/>
            <a:gdLst/>
            <a:ahLst/>
            <a:cxnLst/>
            <a:rect l="0" t="0" r="r" b="b"/>
            <a:pathLst>
              <a:path w="117031" h="72580">
                <a:moveTo>
                  <a:pt x="0" y="0"/>
                </a:moveTo>
                <a:lnTo>
                  <a:pt x="71120" y="0"/>
                </a:lnTo>
                <a:lnTo>
                  <a:pt x="71120" y="72580"/>
                </a:lnTo>
                <a:lnTo>
                  <a:pt x="0" y="72580"/>
                </a:lnTo>
                <a:close/>
                <a:moveTo>
                  <a:pt x="71120" y="26670"/>
                </a:moveTo>
                <a:lnTo>
                  <a:pt x="96266" y="26670"/>
                </a:lnTo>
                <a:lnTo>
                  <a:pt x="117031" y="48895"/>
                </a:lnTo>
                <a:lnTo>
                  <a:pt x="117031" y="72580"/>
                </a:lnTo>
                <a:lnTo>
                  <a:pt x="71120" y="72580"/>
                </a:lnTo>
                <a:close/>
              </a:path>
            </a:pathLst>
          </a:custGeom>
          <a:noFill/>
          <a:ln w="1143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h-06"/>
          <p:cNvSpPr txBox="1"/>
          <p:nvPr/>
        </p:nvSpPr>
        <p:spPr>
          <a:xfrm>
            <a:off x="6601883" y="4998244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质检发运</a:t>
            </a:r>
          </a:p>
        </p:txBody>
      </p:sp>
      <p:sp>
        <p:nvSpPr>
          <p:cNvPr id="81" name="rule-06"/>
          <p:cNvSpPr/>
          <p:nvPr/>
        </p:nvSpPr>
        <p:spPr>
          <a:xfrm>
            <a:off x="6620933" y="5308600"/>
            <a:ext cx="279400" cy="15240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p-06"/>
          <p:cNvSpPr txBox="1"/>
          <p:nvPr/>
        </p:nvSpPr>
        <p:spPr>
          <a:xfrm>
            <a:off x="6607598" y="53618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出厂检验与物流跟踪</a:t>
            </a:r>
          </a:p>
        </p:txBody>
      </p:sp>
      <p:sp>
        <p:nvSpPr>
          <p:cNvPr id="83" name="card-07"/>
          <p:cNvSpPr/>
          <p:nvPr/>
        </p:nvSpPr>
        <p:spPr>
          <a:xfrm>
            <a:off x="3691446" y="4445000"/>
            <a:ext cx="2260600" cy="1193800"/>
          </a:xfrm>
          <a:custGeom>
            <a:avLst/>
            <a:gdLst/>
            <a:ahLst/>
            <a:cxnLst/>
            <a:rect l="0" t="0" r="r" b="b"/>
            <a:pathLst>
              <a:path w="2260600" h="1193800">
                <a:moveTo>
                  <a:pt x="114300" y="0"/>
                </a:moveTo>
                <a:lnTo>
                  <a:pt x="2146300" y="0"/>
                </a:lnTo>
                <a:cubicBezTo>
                  <a:pt x="2209419" y="0"/>
                  <a:pt x="2260600" y="51181"/>
                  <a:pt x="2260600" y="114300"/>
                </a:cubicBezTo>
                <a:lnTo>
                  <a:pt x="2260600" y="1079500"/>
                </a:lnTo>
                <a:cubicBezTo>
                  <a:pt x="2260600" y="1142619"/>
                  <a:pt x="2209419" y="1193800"/>
                  <a:pt x="2146300" y="1193800"/>
                </a:cubicBezTo>
                <a:lnTo>
                  <a:pt x="114300" y="1193800"/>
                </a:lnTo>
                <a:cubicBezTo>
                  <a:pt x="51181" y="1193800"/>
                  <a:pt x="0" y="1142619"/>
                  <a:pt x="0" y="1079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cap-07"/>
          <p:cNvSpPr/>
          <p:nvPr/>
        </p:nvSpPr>
        <p:spPr>
          <a:xfrm>
            <a:off x="3691446" y="4445000"/>
            <a:ext cx="2260600" cy="44450"/>
          </a:xfrm>
          <a:custGeom>
            <a:avLst/>
            <a:gdLst/>
            <a:ahLst/>
            <a:cxnLst/>
            <a:rect l="0" t="0" r="r" b="b"/>
            <a:pathLst>
              <a:path w="2260600" h="44450">
                <a:moveTo>
                  <a:pt x="22225" y="0"/>
                </a:moveTo>
                <a:lnTo>
                  <a:pt x="2238375" y="0"/>
                </a:lnTo>
                <a:cubicBezTo>
                  <a:pt x="2250694" y="0"/>
                  <a:pt x="2260600" y="9970"/>
                  <a:pt x="2260600" y="22225"/>
                </a:cubicBezTo>
                <a:lnTo>
                  <a:pt x="2260600" y="22225"/>
                </a:lnTo>
                <a:cubicBezTo>
                  <a:pt x="2260600" y="34480"/>
                  <a:pt x="2250694" y="44450"/>
                  <a:pt x="2238375" y="44450"/>
                </a:cubicBezTo>
                <a:lnTo>
                  <a:pt x="22225" y="44450"/>
                </a:lnTo>
                <a:cubicBezTo>
                  <a:pt x="9969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70"/>
                  <a:pt x="9969" y="0"/>
                  <a:pt x="22225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n-07"/>
          <p:cNvSpPr txBox="1"/>
          <p:nvPr/>
        </p:nvSpPr>
        <p:spPr>
          <a:xfrm>
            <a:off x="3843867" y="4446588"/>
            <a:ext cx="654050" cy="5556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500" b="1" spc="50">
                <a:solidFill>
                  <a:srgbClr val="4694D7">
                    <a:alpha val="16000"/>
                  </a:srgbClr>
                </a:solidFill>
                <a:latin typeface="Arial"/>
                <a:ea typeface="Arial"/>
                <a:cs typeface="Arial"/>
              </a:rPr>
              <a:t>07</a:t>
            </a:r>
          </a:p>
        </p:txBody>
      </p:sp>
      <p:sp>
        <p:nvSpPr>
          <p:cNvPr id="86" name="chip"/>
          <p:cNvSpPr/>
          <p:nvPr/>
        </p:nvSpPr>
        <p:spPr>
          <a:xfrm>
            <a:off x="5431367" y="4635500"/>
            <a:ext cx="355600" cy="3556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chip-ring"/>
          <p:cNvSpPr/>
          <p:nvPr/>
        </p:nvSpPr>
        <p:spPr>
          <a:xfrm>
            <a:off x="5431367" y="4635500"/>
            <a:ext cx="355600" cy="355600"/>
          </a:xfrm>
          <a:prstGeom prst="ellipse">
            <a:avLst/>
          </a:prstGeom>
          <a:noFill/>
          <a:ln w="6350" cap="rnd">
            <a:solidFill>
              <a:srgbClr val="4694D7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icon-hand"/>
          <p:cNvSpPr/>
          <p:nvPr/>
        </p:nvSpPr>
        <p:spPr>
          <a:xfrm>
            <a:off x="5553161" y="4749610"/>
            <a:ext cx="100435" cy="127381"/>
          </a:xfrm>
          <a:custGeom>
            <a:avLst/>
            <a:gdLst/>
            <a:ahLst/>
            <a:cxnLst/>
            <a:rect l="0" t="0" r="r" b="b"/>
            <a:pathLst>
              <a:path w="100435" h="127381">
                <a:moveTo>
                  <a:pt x="29315" y="68136"/>
                </a:moveTo>
                <a:lnTo>
                  <a:pt x="29315" y="20701"/>
                </a:lnTo>
                <a:cubicBezTo>
                  <a:pt x="29315" y="14161"/>
                  <a:pt x="34649" y="8890"/>
                  <a:pt x="41189" y="8890"/>
                </a:cubicBezTo>
                <a:cubicBezTo>
                  <a:pt x="47730" y="8890"/>
                  <a:pt x="53064" y="14161"/>
                  <a:pt x="53064" y="20701"/>
                </a:cubicBezTo>
                <a:lnTo>
                  <a:pt x="53064" y="57785"/>
                </a:lnTo>
                <a:moveTo>
                  <a:pt x="53064" y="57785"/>
                </a:moveTo>
                <a:lnTo>
                  <a:pt x="53064" y="11811"/>
                </a:lnTo>
                <a:cubicBezTo>
                  <a:pt x="53064" y="5270"/>
                  <a:pt x="58334" y="0"/>
                  <a:pt x="64875" y="0"/>
                </a:cubicBezTo>
                <a:cubicBezTo>
                  <a:pt x="71415" y="0"/>
                  <a:pt x="76749" y="5270"/>
                  <a:pt x="76749" y="11811"/>
                </a:cubicBezTo>
                <a:lnTo>
                  <a:pt x="76749" y="57785"/>
                </a:lnTo>
                <a:moveTo>
                  <a:pt x="76749" y="60706"/>
                </a:moveTo>
                <a:lnTo>
                  <a:pt x="76749" y="29591"/>
                </a:lnTo>
                <a:cubicBezTo>
                  <a:pt x="76749" y="23050"/>
                  <a:pt x="82083" y="17780"/>
                  <a:pt x="88624" y="17780"/>
                </a:cubicBezTo>
                <a:cubicBezTo>
                  <a:pt x="95164" y="17780"/>
                  <a:pt x="100435" y="23050"/>
                  <a:pt x="100435" y="29591"/>
                </a:cubicBezTo>
                <a:lnTo>
                  <a:pt x="100435" y="84455"/>
                </a:lnTo>
                <a:cubicBezTo>
                  <a:pt x="100435" y="108140"/>
                  <a:pt x="82655" y="127381"/>
                  <a:pt x="58969" y="127381"/>
                </a:cubicBezTo>
                <a:cubicBezTo>
                  <a:pt x="39729" y="127381"/>
                  <a:pt x="29315" y="118491"/>
                  <a:pt x="18964" y="103695"/>
                </a:cubicBezTo>
                <a:lnTo>
                  <a:pt x="1184" y="77025"/>
                </a:lnTo>
                <a:cubicBezTo>
                  <a:pt x="-1356" y="71755"/>
                  <a:pt x="295" y="65405"/>
                  <a:pt x="5121" y="62103"/>
                </a:cubicBezTo>
                <a:cubicBezTo>
                  <a:pt x="9884" y="58801"/>
                  <a:pt x="16424" y="59436"/>
                  <a:pt x="20425" y="63690"/>
                </a:cubicBezTo>
                <a:close/>
              </a:path>
            </a:pathLst>
          </a:custGeom>
          <a:noFill/>
          <a:ln w="1143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h-07"/>
          <p:cNvSpPr txBox="1"/>
          <p:nvPr/>
        </p:nvSpPr>
        <p:spPr>
          <a:xfrm>
            <a:off x="3862917" y="4998244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交付验收</a:t>
            </a:r>
          </a:p>
        </p:txBody>
      </p:sp>
      <p:sp>
        <p:nvSpPr>
          <p:cNvPr id="90" name="rule-07"/>
          <p:cNvSpPr/>
          <p:nvPr/>
        </p:nvSpPr>
        <p:spPr>
          <a:xfrm>
            <a:off x="3881967" y="5308600"/>
            <a:ext cx="279400" cy="15240"/>
          </a:xfrm>
          <a:prstGeom prst="roundRect">
            <a:avLst>
              <a:gd name="adj" fmla="val 50000"/>
            </a:avLst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p-07"/>
          <p:cNvSpPr txBox="1"/>
          <p:nvPr/>
        </p:nvSpPr>
        <p:spPr>
          <a:xfrm>
            <a:off x="3868632" y="53618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现场交付与客户确认</a:t>
            </a:r>
          </a:p>
        </p:txBody>
      </p:sp>
      <p:sp>
        <p:nvSpPr>
          <p:cNvPr id="92" name="card-08"/>
          <p:cNvSpPr/>
          <p:nvPr/>
        </p:nvSpPr>
        <p:spPr>
          <a:xfrm>
            <a:off x="952500" y="4445000"/>
            <a:ext cx="2260600" cy="1193800"/>
          </a:xfrm>
          <a:custGeom>
            <a:avLst/>
            <a:gdLst/>
            <a:ahLst/>
            <a:cxnLst/>
            <a:rect l="0" t="0" r="r" b="b"/>
            <a:pathLst>
              <a:path w="2260600" h="1193800">
                <a:moveTo>
                  <a:pt x="114300" y="0"/>
                </a:moveTo>
                <a:lnTo>
                  <a:pt x="2146300" y="0"/>
                </a:lnTo>
                <a:cubicBezTo>
                  <a:pt x="2209419" y="0"/>
                  <a:pt x="2260600" y="51181"/>
                  <a:pt x="2260600" y="114300"/>
                </a:cubicBezTo>
                <a:lnTo>
                  <a:pt x="2260600" y="1079500"/>
                </a:lnTo>
                <a:cubicBezTo>
                  <a:pt x="2260600" y="1142619"/>
                  <a:pt x="2209419" y="1193800"/>
                  <a:pt x="2146300" y="1193800"/>
                </a:cubicBezTo>
                <a:lnTo>
                  <a:pt x="114300" y="1193800"/>
                </a:lnTo>
                <a:cubicBezTo>
                  <a:pt x="51181" y="1193800"/>
                  <a:pt x="0" y="1142619"/>
                  <a:pt x="0" y="1079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cap-08"/>
          <p:cNvSpPr/>
          <p:nvPr/>
        </p:nvSpPr>
        <p:spPr>
          <a:xfrm>
            <a:off x="952500" y="4445000"/>
            <a:ext cx="2260600" cy="44450"/>
          </a:xfrm>
          <a:custGeom>
            <a:avLst/>
            <a:gdLst/>
            <a:ahLst/>
            <a:cxnLst/>
            <a:rect l="0" t="0" r="r" b="b"/>
            <a:pathLst>
              <a:path w="2260600" h="44450">
                <a:moveTo>
                  <a:pt x="22225" y="0"/>
                </a:moveTo>
                <a:lnTo>
                  <a:pt x="2238375" y="0"/>
                </a:lnTo>
                <a:cubicBezTo>
                  <a:pt x="2250630" y="0"/>
                  <a:pt x="2260600" y="9970"/>
                  <a:pt x="2260600" y="22225"/>
                </a:cubicBezTo>
                <a:lnTo>
                  <a:pt x="2260600" y="22225"/>
                </a:lnTo>
                <a:cubicBezTo>
                  <a:pt x="2260600" y="34480"/>
                  <a:pt x="2250630" y="44450"/>
                  <a:pt x="2238375" y="44450"/>
                </a:cubicBezTo>
                <a:lnTo>
                  <a:pt x="22225" y="44450"/>
                </a:lnTo>
                <a:cubicBezTo>
                  <a:pt x="9969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70"/>
                  <a:pt x="9969" y="0"/>
                  <a:pt x="22225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n-08"/>
          <p:cNvSpPr txBox="1"/>
          <p:nvPr/>
        </p:nvSpPr>
        <p:spPr>
          <a:xfrm>
            <a:off x="1104900" y="4446588"/>
            <a:ext cx="654050" cy="5556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500" b="1" spc="50">
                <a:solidFill>
                  <a:srgbClr val="54A2DF">
                    <a:alpha val="16000"/>
                  </a:srgbClr>
                </a:solidFill>
                <a:latin typeface="Arial"/>
                <a:ea typeface="Arial"/>
                <a:cs typeface="Arial"/>
              </a:rPr>
              <a:t>08</a:t>
            </a:r>
          </a:p>
        </p:txBody>
      </p:sp>
      <p:sp>
        <p:nvSpPr>
          <p:cNvPr id="95" name="chip"/>
          <p:cNvSpPr/>
          <p:nvPr/>
        </p:nvSpPr>
        <p:spPr>
          <a:xfrm>
            <a:off x="2692400" y="4635500"/>
            <a:ext cx="355600" cy="3556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chip-ring"/>
          <p:cNvSpPr/>
          <p:nvPr/>
        </p:nvSpPr>
        <p:spPr>
          <a:xfrm>
            <a:off x="2692400" y="4635500"/>
            <a:ext cx="355600" cy="355600"/>
          </a:xfrm>
          <a:prstGeom prst="ellipse">
            <a:avLst/>
          </a:prstGeom>
          <a:noFill/>
          <a:ln w="6350" cap="rnd">
            <a:solidFill>
              <a:srgbClr val="54A2D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icon-grow"/>
          <p:cNvSpPr/>
          <p:nvPr/>
        </p:nvSpPr>
        <p:spPr>
          <a:xfrm>
            <a:off x="2807970" y="4785170"/>
            <a:ext cx="111125" cy="69596"/>
          </a:xfrm>
          <a:custGeom>
            <a:avLst/>
            <a:gdLst/>
            <a:ahLst/>
            <a:cxnLst/>
            <a:rect l="0" t="0" r="r" b="b"/>
            <a:pathLst>
              <a:path w="111125" h="69596">
                <a:moveTo>
                  <a:pt x="0" y="69596"/>
                </a:moveTo>
                <a:lnTo>
                  <a:pt x="37020" y="29591"/>
                </a:lnTo>
                <a:lnTo>
                  <a:pt x="63691" y="51816"/>
                </a:lnTo>
                <a:lnTo>
                  <a:pt x="108141" y="0"/>
                </a:lnTo>
                <a:moveTo>
                  <a:pt x="90361" y="0"/>
                </a:moveTo>
                <a:lnTo>
                  <a:pt x="111125" y="0"/>
                </a:lnTo>
                <a:lnTo>
                  <a:pt x="111125" y="20701"/>
                </a:lnTo>
              </a:path>
            </a:pathLst>
          </a:custGeom>
          <a:noFill/>
          <a:ln w="1143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h-08"/>
          <p:cNvSpPr txBox="1"/>
          <p:nvPr/>
        </p:nvSpPr>
        <p:spPr>
          <a:xfrm>
            <a:off x="1123950" y="4998244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售后复购</a:t>
            </a:r>
          </a:p>
        </p:txBody>
      </p:sp>
      <p:sp>
        <p:nvSpPr>
          <p:cNvPr id="99" name="rule-08"/>
          <p:cNvSpPr/>
          <p:nvPr/>
        </p:nvSpPr>
        <p:spPr>
          <a:xfrm>
            <a:off x="1143000" y="5308600"/>
            <a:ext cx="279400" cy="15240"/>
          </a:xfrm>
          <a:prstGeom prst="roundRect">
            <a:avLst>
              <a:gd name="adj" fmla="val 50000"/>
            </a:avLst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p-08"/>
          <p:cNvSpPr txBox="1"/>
          <p:nvPr/>
        </p:nvSpPr>
        <p:spPr>
          <a:xfrm>
            <a:off x="1129665" y="53618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服务回访与二次转化</a:t>
            </a:r>
          </a:p>
        </p:txBody>
      </p:sp>
      <p:cxnSp>
        <p:nvCxnSpPr>
          <p:cNvPr id="101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2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业务链路 · 八环节闭环</a:t>
            </a:r>
          </a:p>
        </p:txBody>
      </p:sp>
      <p:sp>
        <p:nvSpPr>
          <p:cNvPr id="103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客户转化漏斗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62801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CONVERSION FUNNEL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580499" y="673132"/>
            <a:ext cx="20402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从触达到成交，逐级转化率与流失分析</a:t>
            </a:r>
          </a:p>
        </p:txBody>
      </p:sp>
      <p:sp>
        <p:nvSpPr>
          <p:cNvPr id="10" name="stage-1"/>
          <p:cNvSpPr/>
          <p:nvPr/>
        </p:nvSpPr>
        <p:spPr>
          <a:xfrm>
            <a:off x="2688443" y="1638300"/>
            <a:ext cx="4783114" cy="787400"/>
          </a:xfrm>
          <a:custGeom>
            <a:avLst/>
            <a:gdLst/>
            <a:ahLst/>
            <a:cxnLst/>
            <a:rect l="0" t="0" r="r" b="b"/>
            <a:pathLst>
              <a:path w="4783114" h="787400">
                <a:moveTo>
                  <a:pt x="8211" y="70168"/>
                </a:moveTo>
                <a:quadBezTo>
                  <a:pt x="-21443" y="0"/>
                  <a:pt x="54757" y="0"/>
                </a:quadBezTo>
                <a:lnTo>
                  <a:pt x="4728357" y="0"/>
                </a:lnTo>
                <a:quadBezTo>
                  <a:pt x="4804557" y="0"/>
                  <a:pt x="4774902" y="70168"/>
                </a:quadBezTo>
                <a:lnTo>
                  <a:pt x="4501471" y="717232"/>
                </a:lnTo>
                <a:quadBezTo>
                  <a:pt x="4471817" y="787400"/>
                  <a:pt x="4395617" y="787400"/>
                </a:quadBezTo>
                <a:lnTo>
                  <a:pt x="387497" y="787400"/>
                </a:lnTo>
                <a:quadBezTo>
                  <a:pt x="311297" y="787400"/>
                  <a:pt x="281642" y="717232"/>
                </a:quadBezTo>
                <a:close/>
              </a:path>
            </a:pathLst>
          </a:custGeom>
          <a:gradFill rotWithShape="1">
            <a:gsLst>
              <a:gs pos="0">
                <a:srgbClr val="2D599F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cnt-1"/>
          <p:cNvSpPr txBox="1"/>
          <p:nvPr/>
        </p:nvSpPr>
        <p:spPr>
          <a:xfrm>
            <a:off x="4609782" y="1784032"/>
            <a:ext cx="940435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128,000</a:t>
            </a:r>
          </a:p>
        </p:txBody>
      </p:sp>
      <p:sp>
        <p:nvSpPr>
          <p:cNvPr id="12" name="pct-1"/>
          <p:cNvSpPr txBox="1"/>
          <p:nvPr/>
        </p:nvSpPr>
        <p:spPr>
          <a:xfrm>
            <a:off x="4663599" y="2108787"/>
            <a:ext cx="832803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0" spc="25">
                <a:solidFill>
                  <a:srgbClr val="FFFFFF">
                    <a:alpha val="80000"/>
                  </a:srgbClr>
                </a:solidFill>
                <a:latin typeface="微软雅黑"/>
                <a:ea typeface="微软雅黑"/>
                <a:cs typeface="微软雅黑"/>
              </a:rPr>
              <a:t>占初始流量 100%</a:t>
            </a:r>
          </a:p>
        </p:txBody>
      </p:sp>
      <p:sp>
        <p:nvSpPr>
          <p:cNvPr id="13" name="ln-1"/>
          <p:cNvSpPr txBox="1"/>
          <p:nvPr/>
        </p:nvSpPr>
        <p:spPr>
          <a:xfrm>
            <a:off x="506730" y="1810194"/>
            <a:ext cx="500126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900" b="1" spc="50">
                <a:solidFill>
                  <a:srgbClr val="0B3E8F">
                    <a:alpha val="90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14" name="lt-1"/>
          <p:cNvSpPr txBox="1"/>
          <p:nvPr/>
        </p:nvSpPr>
        <p:spPr>
          <a:xfrm>
            <a:off x="1808607" y="1829213"/>
            <a:ext cx="68389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广告触达</a:t>
            </a:r>
          </a:p>
        </p:txBody>
      </p:sp>
      <p:sp>
        <p:nvSpPr>
          <p:cNvPr id="15" name="lp-1"/>
          <p:cNvSpPr txBox="1"/>
          <p:nvPr/>
        </p:nvSpPr>
        <p:spPr>
          <a:xfrm>
            <a:off x="1722120" y="2066766"/>
            <a:ext cx="76581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全渠道曝光人群</a:t>
            </a:r>
          </a:p>
        </p:txBody>
      </p:sp>
      <p:sp>
        <p:nvSpPr>
          <p:cNvPr id="16" name="lb-1"/>
          <p:cNvSpPr/>
          <p:nvPr/>
        </p:nvSpPr>
        <p:spPr>
          <a:xfrm>
            <a:off x="2540000" y="1879600"/>
            <a:ext cx="19050" cy="304800"/>
          </a:xfrm>
          <a:prstGeom prst="roundRect">
            <a:avLst>
              <a:gd name="adj" fmla="val 50000"/>
            </a:avLst>
          </a:prstGeom>
          <a:solidFill>
            <a:srgbClr val="0B3E8F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stage-2"/>
          <p:cNvSpPr/>
          <p:nvPr/>
        </p:nvSpPr>
        <p:spPr>
          <a:xfrm>
            <a:off x="3021183" y="2489200"/>
            <a:ext cx="4117634" cy="787400"/>
          </a:xfrm>
          <a:custGeom>
            <a:avLst/>
            <a:gdLst/>
            <a:ahLst/>
            <a:cxnLst/>
            <a:rect l="0" t="0" r="r" b="b"/>
            <a:pathLst>
              <a:path w="4117634" h="787400">
                <a:moveTo>
                  <a:pt x="8211" y="70168"/>
                </a:moveTo>
                <a:quadBezTo>
                  <a:pt x="-21443" y="0"/>
                  <a:pt x="54757" y="0"/>
                </a:quadBezTo>
                <a:lnTo>
                  <a:pt x="4062877" y="0"/>
                </a:lnTo>
                <a:quadBezTo>
                  <a:pt x="4139077" y="0"/>
                  <a:pt x="4109422" y="70168"/>
                </a:quadBezTo>
                <a:lnTo>
                  <a:pt x="3835991" y="717232"/>
                </a:lnTo>
                <a:quadBezTo>
                  <a:pt x="3806337" y="787400"/>
                  <a:pt x="3730137" y="787400"/>
                </a:quadBezTo>
                <a:lnTo>
                  <a:pt x="387497" y="787400"/>
                </a:lnTo>
                <a:quadBezTo>
                  <a:pt x="311297" y="787400"/>
                  <a:pt x="281642" y="717232"/>
                </a:quadBezTo>
                <a:close/>
              </a:path>
            </a:pathLst>
          </a:custGeom>
          <a:gradFill rotWithShape="1">
            <a:gsLst>
              <a:gs pos="0">
                <a:srgbClr val="3B71B4"/>
              </a:gs>
              <a:gs pos="100000">
                <a:srgbClr val="1B5AA8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cnt-2"/>
          <p:cNvSpPr txBox="1"/>
          <p:nvPr/>
        </p:nvSpPr>
        <p:spPr>
          <a:xfrm>
            <a:off x="4664710" y="2634932"/>
            <a:ext cx="83058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46,080</a:t>
            </a:r>
          </a:p>
        </p:txBody>
      </p:sp>
      <p:sp>
        <p:nvSpPr>
          <p:cNvPr id="19" name="pct-2"/>
          <p:cNvSpPr txBox="1"/>
          <p:nvPr/>
        </p:nvSpPr>
        <p:spPr>
          <a:xfrm>
            <a:off x="4690967" y="2959687"/>
            <a:ext cx="778066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0" spc="25">
                <a:solidFill>
                  <a:srgbClr val="FFFFFF">
                    <a:alpha val="80000"/>
                  </a:srgbClr>
                </a:solidFill>
                <a:latin typeface="微软雅黑"/>
                <a:ea typeface="微软雅黑"/>
                <a:cs typeface="微软雅黑"/>
              </a:rPr>
              <a:t>占初始流量 36%</a:t>
            </a:r>
          </a:p>
        </p:txBody>
      </p:sp>
      <p:sp>
        <p:nvSpPr>
          <p:cNvPr id="20" name="ln-2"/>
          <p:cNvSpPr txBox="1"/>
          <p:nvPr/>
        </p:nvSpPr>
        <p:spPr>
          <a:xfrm>
            <a:off x="839470" y="2661094"/>
            <a:ext cx="500126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900" b="1" spc="50">
                <a:solidFill>
                  <a:srgbClr val="1B5AA8">
                    <a:alpha val="90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21" name="lt-2"/>
          <p:cNvSpPr txBox="1"/>
          <p:nvPr/>
        </p:nvSpPr>
        <p:spPr>
          <a:xfrm>
            <a:off x="2141347" y="2680113"/>
            <a:ext cx="68389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进店浏览</a:t>
            </a:r>
          </a:p>
        </p:txBody>
      </p:sp>
      <p:sp>
        <p:nvSpPr>
          <p:cNvPr id="22" name="lp-2"/>
          <p:cNvSpPr txBox="1"/>
          <p:nvPr/>
        </p:nvSpPr>
        <p:spPr>
          <a:xfrm>
            <a:off x="1542415" y="2917666"/>
            <a:ext cx="127825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点击进入并停留 15 秒以上</a:t>
            </a:r>
          </a:p>
        </p:txBody>
      </p:sp>
      <p:sp>
        <p:nvSpPr>
          <p:cNvPr id="23" name="lb-2"/>
          <p:cNvSpPr/>
          <p:nvPr/>
        </p:nvSpPr>
        <p:spPr>
          <a:xfrm>
            <a:off x="2872740" y="2730500"/>
            <a:ext cx="19050" cy="304800"/>
          </a:xfrm>
          <a:prstGeom prst="roundRect">
            <a:avLst>
              <a:gd name="adj" fmla="val 50000"/>
            </a:avLst>
          </a:prstGeom>
          <a:solidFill>
            <a:srgbClr val="1B5AA8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24" name="cl-2"/>
          <p:cNvCxnSpPr/>
          <p:nvPr/>
        </p:nvCxnSpPr>
        <p:spPr>
          <a:xfrm>
            <a:off x="7261860" y="2501900"/>
            <a:ext cx="535940" cy="0"/>
          </a:xfrm>
          <a:prstGeom prst="line">
            <a:avLst/>
          </a:prstGeom>
          <a:ln w="6985" cap="rnd">
            <a:solidFill>
              <a:srgbClr val="A9BBD0"/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conv-2"/>
          <p:cNvSpPr/>
          <p:nvPr/>
        </p:nvSpPr>
        <p:spPr>
          <a:xfrm>
            <a:off x="7937500" y="2273300"/>
            <a:ext cx="1447800" cy="444500"/>
          </a:xfrm>
          <a:custGeom>
            <a:avLst/>
            <a:gdLst/>
            <a:ahLst/>
            <a:cxnLst/>
            <a:rect l="0" t="0" r="r" b="b"/>
            <a:pathLst>
              <a:path w="1447800" h="444500">
                <a:moveTo>
                  <a:pt x="101600" y="0"/>
                </a:moveTo>
                <a:lnTo>
                  <a:pt x="1346200" y="0"/>
                </a:lnTo>
                <a:cubicBezTo>
                  <a:pt x="1402334" y="0"/>
                  <a:pt x="1447800" y="45466"/>
                  <a:pt x="1447800" y="101600"/>
                </a:cubicBezTo>
                <a:lnTo>
                  <a:pt x="1447800" y="342900"/>
                </a:lnTo>
                <a:cubicBezTo>
                  <a:pt x="1447800" y="399034"/>
                  <a:pt x="1402334" y="444500"/>
                  <a:pt x="1346200" y="444500"/>
                </a:cubicBezTo>
                <a:lnTo>
                  <a:pt x="101600" y="444500"/>
                </a:lnTo>
                <a:cubicBezTo>
                  <a:pt x="45466" y="444500"/>
                  <a:pt x="0" y="399034"/>
                  <a:pt x="0" y="3429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1B5AA8">
                <a:alpha val="3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icon-grow"/>
          <p:cNvSpPr/>
          <p:nvPr/>
        </p:nvSpPr>
        <p:spPr>
          <a:xfrm>
            <a:off x="8112760" y="2471420"/>
            <a:ext cx="95250" cy="59690"/>
          </a:xfrm>
          <a:custGeom>
            <a:avLst/>
            <a:gdLst/>
            <a:ahLst/>
            <a:cxnLst/>
            <a:rect l="0" t="0" r="r" b="b"/>
            <a:pathLst>
              <a:path w="95250" h="59690">
                <a:moveTo>
                  <a:pt x="0" y="59690"/>
                </a:moveTo>
                <a:lnTo>
                  <a:pt x="31750" y="25400"/>
                </a:lnTo>
                <a:lnTo>
                  <a:pt x="54610" y="44450"/>
                </a:lnTo>
                <a:lnTo>
                  <a:pt x="92710" y="0"/>
                </a:lnTo>
                <a:moveTo>
                  <a:pt x="77470" y="0"/>
                </a:moveTo>
                <a:lnTo>
                  <a:pt x="95250" y="0"/>
                </a:lnTo>
                <a:lnTo>
                  <a:pt x="95250" y="17780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conv-t-2"/>
          <p:cNvSpPr txBox="1"/>
          <p:nvPr/>
        </p:nvSpPr>
        <p:spPr>
          <a:xfrm>
            <a:off x="8339836" y="2291270"/>
            <a:ext cx="532765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36.0%</a:t>
            </a:r>
          </a:p>
        </p:txBody>
      </p:sp>
      <p:sp>
        <p:nvSpPr>
          <p:cNvPr id="28" name="conv-l-2"/>
          <p:cNvSpPr txBox="1"/>
          <p:nvPr/>
        </p:nvSpPr>
        <p:spPr>
          <a:xfrm>
            <a:off x="8345932" y="2519108"/>
            <a:ext cx="5372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环节转化率</a:t>
            </a:r>
          </a:p>
        </p:txBody>
      </p:sp>
      <p:sp>
        <p:nvSpPr>
          <p:cNvPr id="29" name="stage-3"/>
          <p:cNvSpPr/>
          <p:nvPr/>
        </p:nvSpPr>
        <p:spPr>
          <a:xfrm>
            <a:off x="3353923" y="3340100"/>
            <a:ext cx="3452154" cy="787400"/>
          </a:xfrm>
          <a:custGeom>
            <a:avLst/>
            <a:gdLst/>
            <a:ahLst/>
            <a:cxnLst/>
            <a:rect l="0" t="0" r="r" b="b"/>
            <a:pathLst>
              <a:path w="3452154" h="787400">
                <a:moveTo>
                  <a:pt x="8211" y="70167"/>
                </a:moveTo>
                <a:quadBezTo>
                  <a:pt x="-21443" y="0"/>
                  <a:pt x="54757" y="0"/>
                </a:quadBezTo>
                <a:lnTo>
                  <a:pt x="3397397" y="0"/>
                </a:lnTo>
                <a:quadBezTo>
                  <a:pt x="3473597" y="0"/>
                  <a:pt x="3443942" y="70167"/>
                </a:quadBezTo>
                <a:lnTo>
                  <a:pt x="3170511" y="717233"/>
                </a:lnTo>
                <a:quadBezTo>
                  <a:pt x="3140857" y="787400"/>
                  <a:pt x="3064657" y="787400"/>
                </a:quadBezTo>
                <a:lnTo>
                  <a:pt x="387497" y="787400"/>
                </a:lnTo>
                <a:quadBezTo>
                  <a:pt x="311297" y="787400"/>
                  <a:pt x="281642" y="717233"/>
                </a:quadBezTo>
                <a:close/>
              </a:path>
            </a:pathLst>
          </a:custGeom>
          <a:gradFill rotWithShape="1">
            <a:gsLst>
              <a:gs pos="0">
                <a:srgbClr val="4B8ACB"/>
              </a:gs>
              <a:gs pos="100000">
                <a:srgbClr val="2E77C2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cnt-3"/>
          <p:cNvSpPr txBox="1"/>
          <p:nvPr/>
        </p:nvSpPr>
        <p:spPr>
          <a:xfrm>
            <a:off x="4664710" y="3485833"/>
            <a:ext cx="83058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13,824</a:t>
            </a:r>
          </a:p>
        </p:txBody>
      </p:sp>
      <p:sp>
        <p:nvSpPr>
          <p:cNvPr id="31" name="pct-3"/>
          <p:cNvSpPr txBox="1"/>
          <p:nvPr/>
        </p:nvSpPr>
        <p:spPr>
          <a:xfrm>
            <a:off x="4636230" y="3810587"/>
            <a:ext cx="88754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0" spc="25">
                <a:solidFill>
                  <a:srgbClr val="FFFFFF">
                    <a:alpha val="80000"/>
                  </a:srgbClr>
                </a:solidFill>
                <a:latin typeface="微软雅黑"/>
                <a:ea typeface="微软雅黑"/>
                <a:cs typeface="微软雅黑"/>
              </a:rPr>
              <a:t>占初始流量 10.8%</a:t>
            </a:r>
          </a:p>
        </p:txBody>
      </p:sp>
      <p:sp>
        <p:nvSpPr>
          <p:cNvPr id="32" name="ln-3"/>
          <p:cNvSpPr txBox="1"/>
          <p:nvPr/>
        </p:nvSpPr>
        <p:spPr>
          <a:xfrm>
            <a:off x="1172210" y="3511995"/>
            <a:ext cx="500126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900" b="1" spc="50">
                <a:solidFill>
                  <a:srgbClr val="2E77C2">
                    <a:alpha val="90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33" name="lt-3"/>
          <p:cNvSpPr txBox="1"/>
          <p:nvPr/>
        </p:nvSpPr>
        <p:spPr>
          <a:xfrm>
            <a:off x="2474087" y="3531013"/>
            <a:ext cx="68389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加购留资</a:t>
            </a:r>
          </a:p>
        </p:txBody>
      </p:sp>
      <p:sp>
        <p:nvSpPr>
          <p:cNvPr id="34" name="lp-3"/>
          <p:cNvSpPr txBox="1"/>
          <p:nvPr/>
        </p:nvSpPr>
        <p:spPr>
          <a:xfrm>
            <a:off x="1901825" y="3768566"/>
            <a:ext cx="12515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加入购物车或留下联系方式</a:t>
            </a:r>
          </a:p>
        </p:txBody>
      </p:sp>
      <p:sp>
        <p:nvSpPr>
          <p:cNvPr id="35" name="lb-3"/>
          <p:cNvSpPr/>
          <p:nvPr/>
        </p:nvSpPr>
        <p:spPr>
          <a:xfrm>
            <a:off x="3205480" y="3581400"/>
            <a:ext cx="19050" cy="304800"/>
          </a:xfrm>
          <a:prstGeom prst="roundRect">
            <a:avLst>
              <a:gd name="adj" fmla="val 50000"/>
            </a:avLst>
          </a:prstGeom>
          <a:solidFill>
            <a:srgbClr val="2E77C2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36" name="cl-3"/>
          <p:cNvCxnSpPr/>
          <p:nvPr/>
        </p:nvCxnSpPr>
        <p:spPr>
          <a:xfrm>
            <a:off x="6929120" y="3352800"/>
            <a:ext cx="868680" cy="0"/>
          </a:xfrm>
          <a:prstGeom prst="line">
            <a:avLst/>
          </a:prstGeom>
          <a:ln w="6985" cap="rnd">
            <a:solidFill>
              <a:srgbClr val="A9BBD0"/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conv-3"/>
          <p:cNvSpPr/>
          <p:nvPr/>
        </p:nvSpPr>
        <p:spPr>
          <a:xfrm>
            <a:off x="7937500" y="3124200"/>
            <a:ext cx="1447800" cy="444500"/>
          </a:xfrm>
          <a:custGeom>
            <a:avLst/>
            <a:gdLst/>
            <a:ahLst/>
            <a:cxnLst/>
            <a:rect l="0" t="0" r="r" b="b"/>
            <a:pathLst>
              <a:path w="1447800" h="444500">
                <a:moveTo>
                  <a:pt x="101600" y="0"/>
                </a:moveTo>
                <a:lnTo>
                  <a:pt x="1346200" y="0"/>
                </a:lnTo>
                <a:cubicBezTo>
                  <a:pt x="1402334" y="0"/>
                  <a:pt x="1447800" y="45466"/>
                  <a:pt x="1447800" y="101600"/>
                </a:cubicBezTo>
                <a:lnTo>
                  <a:pt x="1447800" y="342900"/>
                </a:lnTo>
                <a:cubicBezTo>
                  <a:pt x="1447800" y="399034"/>
                  <a:pt x="1402334" y="444500"/>
                  <a:pt x="1346200" y="444500"/>
                </a:cubicBezTo>
                <a:lnTo>
                  <a:pt x="101600" y="444500"/>
                </a:lnTo>
                <a:cubicBezTo>
                  <a:pt x="45466" y="444500"/>
                  <a:pt x="0" y="399034"/>
                  <a:pt x="0" y="3429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2E77C2">
                <a:alpha val="3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icon-grow"/>
          <p:cNvSpPr/>
          <p:nvPr/>
        </p:nvSpPr>
        <p:spPr>
          <a:xfrm>
            <a:off x="8112760" y="3322320"/>
            <a:ext cx="95250" cy="59690"/>
          </a:xfrm>
          <a:custGeom>
            <a:avLst/>
            <a:gdLst/>
            <a:ahLst/>
            <a:cxnLst/>
            <a:rect l="0" t="0" r="r" b="b"/>
            <a:pathLst>
              <a:path w="95250" h="59690">
                <a:moveTo>
                  <a:pt x="0" y="59690"/>
                </a:moveTo>
                <a:lnTo>
                  <a:pt x="31750" y="25400"/>
                </a:lnTo>
                <a:lnTo>
                  <a:pt x="54610" y="44450"/>
                </a:lnTo>
                <a:lnTo>
                  <a:pt x="92710" y="0"/>
                </a:lnTo>
                <a:moveTo>
                  <a:pt x="77470" y="0"/>
                </a:moveTo>
                <a:lnTo>
                  <a:pt x="95250" y="0"/>
                </a:lnTo>
                <a:lnTo>
                  <a:pt x="95250" y="17780"/>
                </a:lnTo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conv-t-3"/>
          <p:cNvSpPr txBox="1"/>
          <p:nvPr/>
        </p:nvSpPr>
        <p:spPr>
          <a:xfrm>
            <a:off x="8339836" y="3142171"/>
            <a:ext cx="532765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30.0%</a:t>
            </a:r>
          </a:p>
        </p:txBody>
      </p:sp>
      <p:sp>
        <p:nvSpPr>
          <p:cNvPr id="40" name="conv-l-3"/>
          <p:cNvSpPr txBox="1"/>
          <p:nvPr/>
        </p:nvSpPr>
        <p:spPr>
          <a:xfrm>
            <a:off x="8345932" y="3370008"/>
            <a:ext cx="5372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环节转化率</a:t>
            </a:r>
          </a:p>
        </p:txBody>
      </p:sp>
      <p:sp>
        <p:nvSpPr>
          <p:cNvPr id="41" name="stage-4"/>
          <p:cNvSpPr/>
          <p:nvPr/>
        </p:nvSpPr>
        <p:spPr>
          <a:xfrm>
            <a:off x="3686663" y="4191000"/>
            <a:ext cx="2786674" cy="787400"/>
          </a:xfrm>
          <a:custGeom>
            <a:avLst/>
            <a:gdLst/>
            <a:ahLst/>
            <a:cxnLst/>
            <a:rect l="0" t="0" r="r" b="b"/>
            <a:pathLst>
              <a:path w="2786674" h="787400">
                <a:moveTo>
                  <a:pt x="8211" y="70167"/>
                </a:moveTo>
                <a:quadBezTo>
                  <a:pt x="-21443" y="0"/>
                  <a:pt x="54757" y="0"/>
                </a:quadBezTo>
                <a:lnTo>
                  <a:pt x="2731917" y="0"/>
                </a:lnTo>
                <a:quadBezTo>
                  <a:pt x="2808117" y="0"/>
                  <a:pt x="2778462" y="70167"/>
                </a:quadBezTo>
                <a:lnTo>
                  <a:pt x="2505031" y="717233"/>
                </a:lnTo>
                <a:quadBezTo>
                  <a:pt x="2475377" y="787400"/>
                  <a:pt x="2399177" y="787400"/>
                </a:quadBezTo>
                <a:lnTo>
                  <a:pt x="387497" y="787400"/>
                </a:lnTo>
                <a:quadBezTo>
                  <a:pt x="311297" y="787400"/>
                  <a:pt x="281642" y="717233"/>
                </a:quadBezTo>
                <a:close/>
              </a:path>
            </a:pathLst>
          </a:custGeom>
          <a:gradFill rotWithShape="1">
            <a:gsLst>
              <a:gs pos="0">
                <a:srgbClr val="5596D4"/>
              </a:gs>
              <a:gs pos="100000">
                <a:srgbClr val="3985CD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cnt-4"/>
          <p:cNvSpPr txBox="1"/>
          <p:nvPr/>
        </p:nvSpPr>
        <p:spPr>
          <a:xfrm>
            <a:off x="4719638" y="4336732"/>
            <a:ext cx="720725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4,838</a:t>
            </a:r>
          </a:p>
        </p:txBody>
      </p:sp>
      <p:sp>
        <p:nvSpPr>
          <p:cNvPr id="43" name="pct-4"/>
          <p:cNvSpPr txBox="1"/>
          <p:nvPr/>
        </p:nvSpPr>
        <p:spPr>
          <a:xfrm>
            <a:off x="4663599" y="4661487"/>
            <a:ext cx="832803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0" spc="25">
                <a:solidFill>
                  <a:srgbClr val="FFFFFF">
                    <a:alpha val="80000"/>
                  </a:srgbClr>
                </a:solidFill>
                <a:latin typeface="微软雅黑"/>
                <a:ea typeface="微软雅黑"/>
                <a:cs typeface="微软雅黑"/>
              </a:rPr>
              <a:t>占初始流量 3.8%</a:t>
            </a:r>
          </a:p>
        </p:txBody>
      </p:sp>
      <p:sp>
        <p:nvSpPr>
          <p:cNvPr id="44" name="ln-4"/>
          <p:cNvSpPr txBox="1"/>
          <p:nvPr/>
        </p:nvSpPr>
        <p:spPr>
          <a:xfrm>
            <a:off x="1504950" y="4362894"/>
            <a:ext cx="500126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900" b="1" spc="50">
                <a:solidFill>
                  <a:srgbClr val="3985CD">
                    <a:alpha val="90000"/>
                  </a:srgbClr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45" name="lt-4"/>
          <p:cNvSpPr txBox="1"/>
          <p:nvPr/>
        </p:nvSpPr>
        <p:spPr>
          <a:xfrm>
            <a:off x="2806827" y="4381913"/>
            <a:ext cx="68389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下单支付</a:t>
            </a:r>
          </a:p>
        </p:txBody>
      </p:sp>
      <p:sp>
        <p:nvSpPr>
          <p:cNvPr id="46" name="lp-4"/>
          <p:cNvSpPr txBox="1"/>
          <p:nvPr/>
        </p:nvSpPr>
        <p:spPr>
          <a:xfrm>
            <a:off x="2623185" y="4619466"/>
            <a:ext cx="8629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完成首次订单支付</a:t>
            </a:r>
          </a:p>
        </p:txBody>
      </p:sp>
      <p:sp>
        <p:nvSpPr>
          <p:cNvPr id="47" name="lb-4"/>
          <p:cNvSpPr/>
          <p:nvPr/>
        </p:nvSpPr>
        <p:spPr>
          <a:xfrm>
            <a:off x="3538220" y="4432300"/>
            <a:ext cx="19050" cy="304800"/>
          </a:xfrm>
          <a:prstGeom prst="roundRect">
            <a:avLst>
              <a:gd name="adj" fmla="val 50000"/>
            </a:avLst>
          </a:prstGeom>
          <a:solidFill>
            <a:srgbClr val="3985CD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48" name="cl-4"/>
          <p:cNvCxnSpPr/>
          <p:nvPr/>
        </p:nvCxnSpPr>
        <p:spPr>
          <a:xfrm>
            <a:off x="6596380" y="4203700"/>
            <a:ext cx="1201420" cy="0"/>
          </a:xfrm>
          <a:prstGeom prst="line">
            <a:avLst/>
          </a:prstGeom>
          <a:ln w="6985" cap="rnd">
            <a:solidFill>
              <a:srgbClr val="A9BBD0"/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conv-4"/>
          <p:cNvSpPr/>
          <p:nvPr/>
        </p:nvSpPr>
        <p:spPr>
          <a:xfrm>
            <a:off x="7937500" y="3975100"/>
            <a:ext cx="1447800" cy="444500"/>
          </a:xfrm>
          <a:custGeom>
            <a:avLst/>
            <a:gdLst/>
            <a:ahLst/>
            <a:cxnLst/>
            <a:rect l="0" t="0" r="r" b="b"/>
            <a:pathLst>
              <a:path w="1447800" h="444500">
                <a:moveTo>
                  <a:pt x="101600" y="0"/>
                </a:moveTo>
                <a:lnTo>
                  <a:pt x="1346200" y="0"/>
                </a:lnTo>
                <a:cubicBezTo>
                  <a:pt x="1402334" y="0"/>
                  <a:pt x="1447800" y="45466"/>
                  <a:pt x="1447800" y="101600"/>
                </a:cubicBezTo>
                <a:lnTo>
                  <a:pt x="1447800" y="342900"/>
                </a:lnTo>
                <a:cubicBezTo>
                  <a:pt x="1447800" y="399034"/>
                  <a:pt x="1402334" y="444500"/>
                  <a:pt x="1346200" y="444500"/>
                </a:cubicBezTo>
                <a:lnTo>
                  <a:pt x="101600" y="444500"/>
                </a:lnTo>
                <a:cubicBezTo>
                  <a:pt x="45466" y="444500"/>
                  <a:pt x="0" y="399034"/>
                  <a:pt x="0" y="3429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3985CD">
                <a:alpha val="3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icon-grow"/>
          <p:cNvSpPr/>
          <p:nvPr/>
        </p:nvSpPr>
        <p:spPr>
          <a:xfrm>
            <a:off x="8112760" y="4173220"/>
            <a:ext cx="95250" cy="59690"/>
          </a:xfrm>
          <a:custGeom>
            <a:avLst/>
            <a:gdLst/>
            <a:ahLst/>
            <a:cxnLst/>
            <a:rect l="0" t="0" r="r" b="b"/>
            <a:pathLst>
              <a:path w="95250" h="59690">
                <a:moveTo>
                  <a:pt x="0" y="59690"/>
                </a:moveTo>
                <a:lnTo>
                  <a:pt x="31750" y="25400"/>
                </a:lnTo>
                <a:lnTo>
                  <a:pt x="54610" y="44450"/>
                </a:lnTo>
                <a:lnTo>
                  <a:pt x="92710" y="0"/>
                </a:lnTo>
                <a:moveTo>
                  <a:pt x="77470" y="0"/>
                </a:moveTo>
                <a:lnTo>
                  <a:pt x="95250" y="0"/>
                </a:lnTo>
                <a:lnTo>
                  <a:pt x="95250" y="17780"/>
                </a:lnTo>
              </a:path>
            </a:pathLst>
          </a:custGeom>
          <a:noFill/>
          <a:ln w="1270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conv-t-4"/>
          <p:cNvSpPr txBox="1"/>
          <p:nvPr/>
        </p:nvSpPr>
        <p:spPr>
          <a:xfrm>
            <a:off x="8339836" y="3993071"/>
            <a:ext cx="532765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35.0%</a:t>
            </a:r>
          </a:p>
        </p:txBody>
      </p:sp>
      <p:sp>
        <p:nvSpPr>
          <p:cNvPr id="52" name="conv-l-4"/>
          <p:cNvSpPr txBox="1"/>
          <p:nvPr/>
        </p:nvSpPr>
        <p:spPr>
          <a:xfrm>
            <a:off x="8345932" y="4220908"/>
            <a:ext cx="5372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环节转化率</a:t>
            </a:r>
          </a:p>
        </p:txBody>
      </p:sp>
      <p:sp>
        <p:nvSpPr>
          <p:cNvPr id="53" name="stage-5"/>
          <p:cNvSpPr/>
          <p:nvPr/>
        </p:nvSpPr>
        <p:spPr>
          <a:xfrm>
            <a:off x="4019403" y="5041900"/>
            <a:ext cx="2121194" cy="787400"/>
          </a:xfrm>
          <a:custGeom>
            <a:avLst/>
            <a:gdLst/>
            <a:ahLst/>
            <a:cxnLst/>
            <a:rect l="0" t="0" r="r" b="b"/>
            <a:pathLst>
              <a:path w="2121194" h="787400">
                <a:moveTo>
                  <a:pt x="8211" y="70167"/>
                </a:moveTo>
                <a:quadBezTo>
                  <a:pt x="-21443" y="0"/>
                  <a:pt x="54757" y="0"/>
                </a:quadBezTo>
                <a:lnTo>
                  <a:pt x="2066437" y="0"/>
                </a:lnTo>
                <a:quadBezTo>
                  <a:pt x="2142637" y="0"/>
                  <a:pt x="2112982" y="70167"/>
                </a:quadBezTo>
                <a:lnTo>
                  <a:pt x="1839551" y="717233"/>
                </a:lnTo>
                <a:quadBezTo>
                  <a:pt x="1809897" y="787400"/>
                  <a:pt x="1733697" y="787400"/>
                </a:quadBezTo>
                <a:lnTo>
                  <a:pt x="387497" y="787400"/>
                </a:lnTo>
                <a:quadBezTo>
                  <a:pt x="311297" y="787400"/>
                  <a:pt x="281642" y="717233"/>
                </a:quadBezTo>
                <a:close/>
              </a:path>
            </a:pathLst>
          </a:custGeom>
          <a:gradFill rotWithShape="1">
            <a:gsLst>
              <a:gs pos="0">
                <a:srgbClr val="6CAFE3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cnt-5"/>
          <p:cNvSpPr txBox="1"/>
          <p:nvPr/>
        </p:nvSpPr>
        <p:spPr>
          <a:xfrm>
            <a:off x="4719638" y="5187632"/>
            <a:ext cx="720725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1,596</a:t>
            </a:r>
          </a:p>
        </p:txBody>
      </p:sp>
      <p:sp>
        <p:nvSpPr>
          <p:cNvPr id="55" name="pct-5"/>
          <p:cNvSpPr txBox="1"/>
          <p:nvPr/>
        </p:nvSpPr>
        <p:spPr>
          <a:xfrm>
            <a:off x="4663599" y="5512387"/>
            <a:ext cx="832803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0" spc="25">
                <a:solidFill>
                  <a:srgbClr val="FFFFFF">
                    <a:alpha val="80000"/>
                  </a:srgbClr>
                </a:solidFill>
                <a:latin typeface="微软雅黑"/>
                <a:ea typeface="微软雅黑"/>
                <a:cs typeface="微软雅黑"/>
              </a:rPr>
              <a:t>占初始流量 1.2%</a:t>
            </a:r>
          </a:p>
        </p:txBody>
      </p:sp>
      <p:sp>
        <p:nvSpPr>
          <p:cNvPr id="56" name="ln-5"/>
          <p:cNvSpPr txBox="1"/>
          <p:nvPr/>
        </p:nvSpPr>
        <p:spPr>
          <a:xfrm>
            <a:off x="1837690" y="5213794"/>
            <a:ext cx="500126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900" b="1" spc="50">
                <a:solidFill>
                  <a:srgbClr val="54A2DF">
                    <a:alpha val="90000"/>
                  </a:srgbClr>
                </a:solidFill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57" name="lt-5"/>
          <p:cNvSpPr txBox="1"/>
          <p:nvPr/>
        </p:nvSpPr>
        <p:spPr>
          <a:xfrm>
            <a:off x="3139567" y="5232813"/>
            <a:ext cx="68389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复购成交</a:t>
            </a:r>
          </a:p>
        </p:txBody>
      </p:sp>
      <p:sp>
        <p:nvSpPr>
          <p:cNvPr id="58" name="lp-5"/>
          <p:cNvSpPr txBox="1"/>
          <p:nvPr/>
        </p:nvSpPr>
        <p:spPr>
          <a:xfrm>
            <a:off x="2761615" y="5470366"/>
            <a:ext cx="10572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三个月内产生二次购买</a:t>
            </a:r>
          </a:p>
        </p:txBody>
      </p:sp>
      <p:sp>
        <p:nvSpPr>
          <p:cNvPr id="59" name="lb-5"/>
          <p:cNvSpPr/>
          <p:nvPr/>
        </p:nvSpPr>
        <p:spPr>
          <a:xfrm>
            <a:off x="3870960" y="5283200"/>
            <a:ext cx="19050" cy="304800"/>
          </a:xfrm>
          <a:prstGeom prst="roundRect">
            <a:avLst>
              <a:gd name="adj" fmla="val 50000"/>
            </a:avLst>
          </a:prstGeom>
          <a:solidFill>
            <a:srgbClr val="54A2DF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60" name="cl-5"/>
          <p:cNvCxnSpPr/>
          <p:nvPr/>
        </p:nvCxnSpPr>
        <p:spPr>
          <a:xfrm>
            <a:off x="6263640" y="5054600"/>
            <a:ext cx="1534160" cy="0"/>
          </a:xfrm>
          <a:prstGeom prst="line">
            <a:avLst/>
          </a:prstGeom>
          <a:ln w="6985" cap="rnd">
            <a:solidFill>
              <a:srgbClr val="A9BBD0"/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conv-5"/>
          <p:cNvSpPr/>
          <p:nvPr/>
        </p:nvSpPr>
        <p:spPr>
          <a:xfrm>
            <a:off x="7937500" y="4826000"/>
            <a:ext cx="1447800" cy="444500"/>
          </a:xfrm>
          <a:custGeom>
            <a:avLst/>
            <a:gdLst/>
            <a:ahLst/>
            <a:cxnLst/>
            <a:rect l="0" t="0" r="r" b="b"/>
            <a:pathLst>
              <a:path w="1447800" h="444500">
                <a:moveTo>
                  <a:pt x="101600" y="0"/>
                </a:moveTo>
                <a:lnTo>
                  <a:pt x="1346200" y="0"/>
                </a:lnTo>
                <a:cubicBezTo>
                  <a:pt x="1402334" y="0"/>
                  <a:pt x="1447800" y="45466"/>
                  <a:pt x="1447800" y="101600"/>
                </a:cubicBezTo>
                <a:lnTo>
                  <a:pt x="1447800" y="342900"/>
                </a:lnTo>
                <a:cubicBezTo>
                  <a:pt x="1447800" y="399034"/>
                  <a:pt x="1402334" y="444500"/>
                  <a:pt x="1346200" y="444500"/>
                </a:cubicBezTo>
                <a:lnTo>
                  <a:pt x="101600" y="444500"/>
                </a:lnTo>
                <a:cubicBezTo>
                  <a:pt x="45466" y="444500"/>
                  <a:pt x="0" y="399034"/>
                  <a:pt x="0" y="3429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54A2DF">
                <a:alpha val="3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icon-grow"/>
          <p:cNvSpPr/>
          <p:nvPr/>
        </p:nvSpPr>
        <p:spPr>
          <a:xfrm>
            <a:off x="8112760" y="5024120"/>
            <a:ext cx="95250" cy="59690"/>
          </a:xfrm>
          <a:custGeom>
            <a:avLst/>
            <a:gdLst/>
            <a:ahLst/>
            <a:cxnLst/>
            <a:rect l="0" t="0" r="r" b="b"/>
            <a:pathLst>
              <a:path w="95250" h="59690">
                <a:moveTo>
                  <a:pt x="0" y="59690"/>
                </a:moveTo>
                <a:lnTo>
                  <a:pt x="31750" y="25400"/>
                </a:lnTo>
                <a:lnTo>
                  <a:pt x="54610" y="44450"/>
                </a:lnTo>
                <a:lnTo>
                  <a:pt x="92710" y="0"/>
                </a:lnTo>
                <a:moveTo>
                  <a:pt x="77470" y="0"/>
                </a:moveTo>
                <a:lnTo>
                  <a:pt x="95250" y="0"/>
                </a:lnTo>
                <a:lnTo>
                  <a:pt x="95250" y="17780"/>
                </a:lnTo>
              </a:path>
            </a:pathLst>
          </a:custGeom>
          <a:noFill/>
          <a:ln w="1270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conv-t-5"/>
          <p:cNvSpPr txBox="1"/>
          <p:nvPr/>
        </p:nvSpPr>
        <p:spPr>
          <a:xfrm>
            <a:off x="8339836" y="4843970"/>
            <a:ext cx="532765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33.0%</a:t>
            </a:r>
          </a:p>
        </p:txBody>
      </p:sp>
      <p:sp>
        <p:nvSpPr>
          <p:cNvPr id="64" name="conv-l-5"/>
          <p:cNvSpPr txBox="1"/>
          <p:nvPr/>
        </p:nvSpPr>
        <p:spPr>
          <a:xfrm>
            <a:off x="8345932" y="5071808"/>
            <a:ext cx="5372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环节转化率</a:t>
            </a:r>
          </a:p>
        </p:txBody>
      </p:sp>
      <p:sp>
        <p:nvSpPr>
          <p:cNvPr id="65" name="sum-card"/>
          <p:cNvSpPr/>
          <p:nvPr/>
        </p:nvSpPr>
        <p:spPr>
          <a:xfrm>
            <a:off x="9652000" y="3937000"/>
            <a:ext cx="1968500" cy="1905000"/>
          </a:xfrm>
          <a:custGeom>
            <a:avLst/>
            <a:gdLst/>
            <a:ahLst/>
            <a:cxnLst/>
            <a:rect l="0" t="0" r="r" b="b"/>
            <a:pathLst>
              <a:path w="1968500" h="1905000">
                <a:moveTo>
                  <a:pt x="114300" y="0"/>
                </a:moveTo>
                <a:lnTo>
                  <a:pt x="1854200" y="0"/>
                </a:lnTo>
                <a:cubicBezTo>
                  <a:pt x="1917319" y="0"/>
                  <a:pt x="1968500" y="51181"/>
                  <a:pt x="1968500" y="114300"/>
                </a:cubicBezTo>
                <a:lnTo>
                  <a:pt x="1968500" y="1790700"/>
                </a:lnTo>
                <a:cubicBezTo>
                  <a:pt x="1968500" y="1853819"/>
                  <a:pt x="1917319" y="1905000"/>
                  <a:pt x="1854200" y="1905000"/>
                </a:cubicBezTo>
                <a:lnTo>
                  <a:pt x="114300" y="1905000"/>
                </a:lnTo>
                <a:cubicBezTo>
                  <a:pt x="51181" y="1905000"/>
                  <a:pt x="0" y="1853819"/>
                  <a:pt x="0" y="1790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sum-cap"/>
          <p:cNvSpPr/>
          <p:nvPr/>
        </p:nvSpPr>
        <p:spPr>
          <a:xfrm>
            <a:off x="9652000" y="3937000"/>
            <a:ext cx="1968500" cy="44450"/>
          </a:xfrm>
          <a:custGeom>
            <a:avLst/>
            <a:gdLst/>
            <a:ahLst/>
            <a:cxnLst/>
            <a:rect l="0" t="0" r="r" b="b"/>
            <a:pathLst>
              <a:path w="1968500" h="44450">
                <a:moveTo>
                  <a:pt x="22225" y="0"/>
                </a:moveTo>
                <a:lnTo>
                  <a:pt x="1946275" y="0"/>
                </a:lnTo>
                <a:cubicBezTo>
                  <a:pt x="1958531" y="0"/>
                  <a:pt x="1968500" y="9970"/>
                  <a:pt x="1968500" y="22225"/>
                </a:cubicBezTo>
                <a:lnTo>
                  <a:pt x="1968500" y="22225"/>
                </a:lnTo>
                <a:cubicBezTo>
                  <a:pt x="1968500" y="34480"/>
                  <a:pt x="1958531" y="44450"/>
                  <a:pt x="1946275" y="44450"/>
                </a:cubicBezTo>
                <a:lnTo>
                  <a:pt x="22225" y="44450"/>
                </a:lnTo>
                <a:cubicBezTo>
                  <a:pt x="9969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70"/>
                  <a:pt x="9969" y="0"/>
                  <a:pt x="2222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sum-h"/>
          <p:cNvSpPr txBox="1"/>
          <p:nvPr/>
        </p:nvSpPr>
        <p:spPr>
          <a:xfrm>
            <a:off x="9864598" y="4178713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整体转化</a:t>
            </a:r>
          </a:p>
        </p:txBody>
      </p:sp>
      <p:sp>
        <p:nvSpPr>
          <p:cNvPr id="68" name="sum-v"/>
          <p:cNvSpPr txBox="1"/>
          <p:nvPr/>
        </p:nvSpPr>
        <p:spPr>
          <a:xfrm>
            <a:off x="9844024" y="4462272"/>
            <a:ext cx="1159510" cy="533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400" b="1" spc="50">
                <a:solidFill>
                  <a:srgbClr val="0B3E8F"/>
                </a:solidFill>
                <a:latin typeface="Arial"/>
                <a:ea typeface="Arial"/>
                <a:cs typeface="Arial"/>
              </a:rPr>
              <a:t>1.25%</a:t>
            </a:r>
          </a:p>
        </p:txBody>
      </p:sp>
      <p:sp>
        <p:nvSpPr>
          <p:cNvPr id="69" name="sum-p"/>
          <p:cNvSpPr txBox="1"/>
          <p:nvPr/>
        </p:nvSpPr>
        <p:spPr>
          <a:xfrm>
            <a:off x="9869551" y="4940887"/>
            <a:ext cx="1096709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触达 → 复购整体转化率</a:t>
            </a:r>
          </a:p>
        </p:txBody>
      </p:sp>
      <p:cxnSp>
        <p:nvCxnSpPr>
          <p:cNvPr id="70" name="sum-div"/>
          <p:cNvCxnSpPr/>
          <p:nvPr/>
        </p:nvCxnSpPr>
        <p:spPr>
          <a:xfrm>
            <a:off x="9880600" y="5257800"/>
            <a:ext cx="15240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sum-l-1"/>
          <p:cNvSpPr txBox="1"/>
          <p:nvPr/>
        </p:nvSpPr>
        <p:spPr>
          <a:xfrm>
            <a:off x="9869551" y="5372687"/>
            <a:ext cx="458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最大流失</a:t>
            </a:r>
          </a:p>
        </p:txBody>
      </p:sp>
      <p:sp>
        <p:nvSpPr>
          <p:cNvPr id="72" name="sum-r-1"/>
          <p:cNvSpPr txBox="1"/>
          <p:nvPr/>
        </p:nvSpPr>
        <p:spPr>
          <a:xfrm>
            <a:off x="10775950" y="5368766"/>
            <a:ext cx="64008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进店 → 留资</a:t>
            </a:r>
          </a:p>
        </p:txBody>
      </p:sp>
      <p:sp>
        <p:nvSpPr>
          <p:cNvPr id="73" name="sum-l-2"/>
          <p:cNvSpPr txBox="1"/>
          <p:nvPr/>
        </p:nvSpPr>
        <p:spPr>
          <a:xfrm>
            <a:off x="9869551" y="5575887"/>
            <a:ext cx="55276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优化优先级</a:t>
            </a:r>
          </a:p>
        </p:txBody>
      </p:sp>
      <p:sp>
        <p:nvSpPr>
          <p:cNvPr id="74" name="sum-r-2"/>
          <p:cNvSpPr txBox="1"/>
          <p:nvPr/>
        </p:nvSpPr>
        <p:spPr>
          <a:xfrm>
            <a:off x="10844530" y="5571966"/>
            <a:ext cx="57150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留资页改版</a:t>
            </a:r>
          </a:p>
        </p:txBody>
      </p:sp>
      <p:cxnSp>
        <p:nvCxnSpPr>
          <p:cNvPr id="75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转化漏斗 · 五级旅程</a:t>
            </a:r>
          </a:p>
        </p:txBody>
      </p:sp>
      <p:sp>
        <p:nvSpPr>
          <p:cNvPr id="77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企业发展历程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99060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MILESTONES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237599" y="673132"/>
            <a:ext cx="23831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十二年六个关键节点，从单一产品到平台生态</a:t>
            </a:r>
          </a:p>
        </p:txBody>
      </p:sp>
      <p:sp>
        <p:nvSpPr>
          <p:cNvPr id="10" name="axis"/>
          <p:cNvSpPr/>
          <p:nvPr/>
        </p:nvSpPr>
        <p:spPr>
          <a:xfrm>
            <a:off x="2095500" y="3536950"/>
            <a:ext cx="8382000" cy="38100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54A2DF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axis-arrow"/>
          <p:cNvSpPr/>
          <p:nvPr/>
        </p:nvSpPr>
        <p:spPr>
          <a:xfrm>
            <a:off x="10477500" y="3467100"/>
            <a:ext cx="165100" cy="177800"/>
          </a:xfrm>
          <a:custGeom>
            <a:avLst/>
            <a:gdLst/>
            <a:ahLst/>
            <a:cxnLst/>
            <a:rect l="0" t="0" r="r" b="b"/>
            <a:pathLst>
              <a:path w="165100" h="177800">
                <a:moveTo>
                  <a:pt x="0" y="0"/>
                </a:moveTo>
                <a:lnTo>
                  <a:pt x="165100" y="88900"/>
                </a:lnTo>
                <a:lnTo>
                  <a:pt x="0" y="177800"/>
                </a:ln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axis-start"/>
          <p:cNvSpPr/>
          <p:nvPr/>
        </p:nvSpPr>
        <p:spPr>
          <a:xfrm>
            <a:off x="2038350" y="3498850"/>
            <a:ext cx="114300" cy="114300"/>
          </a:xfrm>
          <a:prstGeom prst="ellipse">
            <a:avLst/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node-1"/>
          <p:cNvSpPr/>
          <p:nvPr/>
        </p:nvSpPr>
        <p:spPr>
          <a:xfrm>
            <a:off x="2000250" y="3460750"/>
            <a:ext cx="190500" cy="190500"/>
          </a:xfrm>
          <a:prstGeom prst="ellipse">
            <a:avLst/>
          </a:prstGeom>
          <a:solidFill>
            <a:srgbClr val="FFFFFF"/>
          </a:solidFill>
          <a:ln w="2159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node-in-1"/>
          <p:cNvSpPr/>
          <p:nvPr/>
        </p:nvSpPr>
        <p:spPr>
          <a:xfrm>
            <a:off x="2057400" y="3517900"/>
            <a:ext cx="76200" cy="76200"/>
          </a:xfrm>
          <a:prstGeom prst="ellipse">
            <a:avLst/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5" name="stem-1"/>
          <p:cNvCxnSpPr/>
          <p:nvPr/>
        </p:nvCxnSpPr>
        <p:spPr>
          <a:xfrm flipV="1">
            <a:off x="2095500" y="2870200"/>
            <a:ext cx="0" cy="577850"/>
          </a:xfrm>
          <a:prstGeom prst="line">
            <a:avLst/>
          </a:prstGeom>
          <a:ln w="8890" cap="rnd">
            <a:solidFill>
              <a:srgbClr val="54A2DF">
                <a:alpha val="4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yr-1"/>
          <p:cNvSpPr txBox="1"/>
          <p:nvPr/>
        </p:nvSpPr>
        <p:spPr>
          <a:xfrm>
            <a:off x="1807274" y="3623659"/>
            <a:ext cx="576453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75">
                <a:solidFill>
                  <a:srgbClr val="54A2DF"/>
                </a:solidFill>
                <a:latin typeface="Arial"/>
                <a:ea typeface="Arial"/>
                <a:cs typeface="Arial"/>
              </a:rPr>
              <a:t>2014</a:t>
            </a:r>
          </a:p>
        </p:txBody>
      </p:sp>
      <p:sp>
        <p:nvSpPr>
          <p:cNvPr id="17" name="card-1"/>
          <p:cNvSpPr/>
          <p:nvPr/>
        </p:nvSpPr>
        <p:spPr>
          <a:xfrm>
            <a:off x="1263650" y="1625600"/>
            <a:ext cx="1663700" cy="1244600"/>
          </a:xfrm>
          <a:custGeom>
            <a:avLst/>
            <a:gdLst/>
            <a:ahLst/>
            <a:cxnLst/>
            <a:rect l="0" t="0" r="r" b="b"/>
            <a:pathLst>
              <a:path w="1663700" h="1244600">
                <a:moveTo>
                  <a:pt x="114300" y="0"/>
                </a:moveTo>
                <a:lnTo>
                  <a:pt x="1549400" y="0"/>
                </a:lnTo>
                <a:cubicBezTo>
                  <a:pt x="1612519" y="0"/>
                  <a:pt x="1663700" y="51181"/>
                  <a:pt x="1663700" y="114300"/>
                </a:cubicBezTo>
                <a:lnTo>
                  <a:pt x="1663700" y="1130300"/>
                </a:lnTo>
                <a:cubicBezTo>
                  <a:pt x="1663700" y="1193419"/>
                  <a:pt x="1612519" y="1244600"/>
                  <a:pt x="1549400" y="1244600"/>
                </a:cubicBezTo>
                <a:lnTo>
                  <a:pt x="114300" y="1244600"/>
                </a:lnTo>
                <a:cubicBezTo>
                  <a:pt x="51181" y="1244600"/>
                  <a:pt x="0" y="1193419"/>
                  <a:pt x="0" y="1130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cap-1"/>
          <p:cNvSpPr/>
          <p:nvPr/>
        </p:nvSpPr>
        <p:spPr>
          <a:xfrm>
            <a:off x="1263650" y="2825750"/>
            <a:ext cx="1663700" cy="44450"/>
          </a:xfrm>
          <a:custGeom>
            <a:avLst/>
            <a:gdLst/>
            <a:ahLst/>
            <a:cxnLst/>
            <a:rect l="0" t="0" r="r" b="b"/>
            <a:pathLst>
              <a:path w="1663700" h="44450">
                <a:moveTo>
                  <a:pt x="22225" y="0"/>
                </a:moveTo>
                <a:lnTo>
                  <a:pt x="1641475" y="0"/>
                </a:lnTo>
                <a:cubicBezTo>
                  <a:pt x="1653730" y="0"/>
                  <a:pt x="1663700" y="9969"/>
                  <a:pt x="1663700" y="22225"/>
                </a:cubicBezTo>
                <a:lnTo>
                  <a:pt x="1663700" y="22225"/>
                </a:lnTo>
                <a:cubicBezTo>
                  <a:pt x="1663700" y="34481"/>
                  <a:pt x="1653730" y="44450"/>
                  <a:pt x="1641475" y="44450"/>
                </a:cubicBezTo>
                <a:lnTo>
                  <a:pt x="22225" y="44450"/>
                </a:lnTo>
                <a:cubicBezTo>
                  <a:pt x="9969" y="44450"/>
                  <a:pt x="0" y="34481"/>
                  <a:pt x="0" y="22225"/>
                </a:cubicBezTo>
                <a:lnTo>
                  <a:pt x="0" y="22225"/>
                </a:lnTo>
                <a:cubicBezTo>
                  <a:pt x="0" y="9969"/>
                  <a:pt x="9969" y="0"/>
                  <a:pt x="22225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chip"/>
          <p:cNvSpPr/>
          <p:nvPr/>
        </p:nvSpPr>
        <p:spPr>
          <a:xfrm>
            <a:off x="1905000" y="1752600"/>
            <a:ext cx="381000" cy="381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chip-ring"/>
          <p:cNvSpPr/>
          <p:nvPr/>
        </p:nvSpPr>
        <p:spPr>
          <a:xfrm>
            <a:off x="1905000" y="1752600"/>
            <a:ext cx="381000" cy="381000"/>
          </a:xfrm>
          <a:prstGeom prst="ellipse">
            <a:avLst/>
          </a:prstGeom>
          <a:noFill/>
          <a:ln w="6350" cap="rnd">
            <a:solidFill>
              <a:srgbClr val="54A2D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icon-rocket"/>
          <p:cNvSpPr/>
          <p:nvPr/>
        </p:nvSpPr>
        <p:spPr>
          <a:xfrm>
            <a:off x="2043112" y="1873250"/>
            <a:ext cx="104775" cy="131762"/>
          </a:xfrm>
          <a:custGeom>
            <a:avLst/>
            <a:gdLst/>
            <a:ahLst/>
            <a:cxnLst/>
            <a:rect l="0" t="0" r="r" b="b"/>
            <a:pathLst>
              <a:path w="104775" h="131762">
                <a:moveTo>
                  <a:pt x="52388" y="0"/>
                </a:moveTo>
                <a:cubicBezTo>
                  <a:pt x="76200" y="17462"/>
                  <a:pt x="88900" y="44450"/>
                  <a:pt x="88900" y="73025"/>
                </a:cubicBezTo>
                <a:lnTo>
                  <a:pt x="71438" y="101600"/>
                </a:lnTo>
                <a:lnTo>
                  <a:pt x="33338" y="101600"/>
                </a:lnTo>
                <a:lnTo>
                  <a:pt x="15875" y="73025"/>
                </a:lnTo>
                <a:cubicBezTo>
                  <a:pt x="15875" y="44450"/>
                  <a:pt x="28575" y="17462"/>
                  <a:pt x="52388" y="0"/>
                </a:cubicBezTo>
                <a:close/>
                <a:moveTo>
                  <a:pt x="15875" y="95250"/>
                </a:moveTo>
                <a:lnTo>
                  <a:pt x="0" y="131762"/>
                </a:lnTo>
                <a:lnTo>
                  <a:pt x="33338" y="119062"/>
                </a:lnTo>
                <a:moveTo>
                  <a:pt x="88900" y="95250"/>
                </a:moveTo>
                <a:lnTo>
                  <a:pt x="104775" y="131762"/>
                </a:lnTo>
                <a:lnTo>
                  <a:pt x="71438" y="119062"/>
                </a:lnTo>
              </a:path>
            </a:pathLst>
          </a:custGeom>
          <a:noFill/>
          <a:ln w="1143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h-1"/>
          <p:cNvSpPr txBox="1"/>
          <p:nvPr/>
        </p:nvSpPr>
        <p:spPr>
          <a:xfrm>
            <a:off x="1687512" y="2115344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公司成立</a:t>
            </a:r>
          </a:p>
        </p:txBody>
      </p:sp>
      <p:sp>
        <p:nvSpPr>
          <p:cNvPr id="23" name="p1-1"/>
          <p:cNvSpPr txBox="1"/>
          <p:nvPr/>
        </p:nvSpPr>
        <p:spPr>
          <a:xfrm>
            <a:off x="1750219" y="2431145"/>
            <a:ext cx="69056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三人团队起步</a:t>
            </a:r>
          </a:p>
        </p:txBody>
      </p:sp>
      <p:sp>
        <p:nvSpPr>
          <p:cNvPr id="24" name="p2-1"/>
          <p:cNvSpPr txBox="1"/>
          <p:nvPr/>
        </p:nvSpPr>
        <p:spPr>
          <a:xfrm>
            <a:off x="1750219" y="2596245"/>
            <a:ext cx="69056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首款产品立项</a:t>
            </a:r>
          </a:p>
        </p:txBody>
      </p:sp>
      <p:sp>
        <p:nvSpPr>
          <p:cNvPr id="25" name="node-2"/>
          <p:cNvSpPr/>
          <p:nvPr/>
        </p:nvSpPr>
        <p:spPr>
          <a:xfrm>
            <a:off x="3676650" y="3460750"/>
            <a:ext cx="190500" cy="190500"/>
          </a:xfrm>
          <a:prstGeom prst="ellipse">
            <a:avLst/>
          </a:prstGeom>
          <a:solidFill>
            <a:srgbClr val="FFFFFF"/>
          </a:solidFill>
          <a:ln w="2159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node-in-2"/>
          <p:cNvSpPr/>
          <p:nvPr/>
        </p:nvSpPr>
        <p:spPr>
          <a:xfrm>
            <a:off x="3733800" y="3517900"/>
            <a:ext cx="76200" cy="76200"/>
          </a:xfrm>
          <a:prstGeom prst="ellipse">
            <a:avLst/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27" name="stem-2"/>
          <p:cNvCxnSpPr/>
          <p:nvPr/>
        </p:nvCxnSpPr>
        <p:spPr>
          <a:xfrm>
            <a:off x="3771900" y="3663950"/>
            <a:ext cx="0" cy="577850"/>
          </a:xfrm>
          <a:prstGeom prst="line">
            <a:avLst/>
          </a:prstGeom>
          <a:ln w="8890" cap="rnd">
            <a:solidFill>
              <a:srgbClr val="4694D7">
                <a:alpha val="4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yr-2"/>
          <p:cNvSpPr txBox="1"/>
          <p:nvPr/>
        </p:nvSpPr>
        <p:spPr>
          <a:xfrm>
            <a:off x="3483674" y="3153759"/>
            <a:ext cx="576453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75">
                <a:solidFill>
                  <a:srgbClr val="4694D7"/>
                </a:solidFill>
                <a:latin typeface="Arial"/>
                <a:ea typeface="Arial"/>
                <a:cs typeface="Arial"/>
              </a:rPr>
              <a:t>2016</a:t>
            </a:r>
          </a:p>
        </p:txBody>
      </p:sp>
      <p:sp>
        <p:nvSpPr>
          <p:cNvPr id="29" name="card-2"/>
          <p:cNvSpPr/>
          <p:nvPr/>
        </p:nvSpPr>
        <p:spPr>
          <a:xfrm>
            <a:off x="2940050" y="4241800"/>
            <a:ext cx="1663700" cy="1244600"/>
          </a:xfrm>
          <a:custGeom>
            <a:avLst/>
            <a:gdLst/>
            <a:ahLst/>
            <a:cxnLst/>
            <a:rect l="0" t="0" r="r" b="b"/>
            <a:pathLst>
              <a:path w="1663700" h="1244600">
                <a:moveTo>
                  <a:pt x="114300" y="0"/>
                </a:moveTo>
                <a:lnTo>
                  <a:pt x="1549400" y="0"/>
                </a:lnTo>
                <a:cubicBezTo>
                  <a:pt x="1612519" y="0"/>
                  <a:pt x="1663700" y="51181"/>
                  <a:pt x="1663700" y="114300"/>
                </a:cubicBezTo>
                <a:lnTo>
                  <a:pt x="1663700" y="1130300"/>
                </a:lnTo>
                <a:cubicBezTo>
                  <a:pt x="1663700" y="1193419"/>
                  <a:pt x="1612519" y="1244600"/>
                  <a:pt x="1549400" y="1244600"/>
                </a:cubicBezTo>
                <a:lnTo>
                  <a:pt x="114300" y="1244600"/>
                </a:lnTo>
                <a:cubicBezTo>
                  <a:pt x="51181" y="1244600"/>
                  <a:pt x="0" y="1193419"/>
                  <a:pt x="0" y="1130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cap-2"/>
          <p:cNvSpPr/>
          <p:nvPr/>
        </p:nvSpPr>
        <p:spPr>
          <a:xfrm>
            <a:off x="2940050" y="4241800"/>
            <a:ext cx="1663700" cy="44450"/>
          </a:xfrm>
          <a:custGeom>
            <a:avLst/>
            <a:gdLst/>
            <a:ahLst/>
            <a:cxnLst/>
            <a:rect l="0" t="0" r="r" b="b"/>
            <a:pathLst>
              <a:path w="1663700" h="44450">
                <a:moveTo>
                  <a:pt x="22225" y="0"/>
                </a:moveTo>
                <a:lnTo>
                  <a:pt x="1641475" y="0"/>
                </a:lnTo>
                <a:cubicBezTo>
                  <a:pt x="1653730" y="0"/>
                  <a:pt x="1663700" y="9970"/>
                  <a:pt x="1663700" y="22225"/>
                </a:cubicBezTo>
                <a:lnTo>
                  <a:pt x="1663700" y="22225"/>
                </a:lnTo>
                <a:cubicBezTo>
                  <a:pt x="1663700" y="34480"/>
                  <a:pt x="1653730" y="44450"/>
                  <a:pt x="1641475" y="44450"/>
                </a:cubicBezTo>
                <a:lnTo>
                  <a:pt x="22225" y="44450"/>
                </a:lnTo>
                <a:cubicBezTo>
                  <a:pt x="9969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70"/>
                  <a:pt x="9969" y="0"/>
                  <a:pt x="22225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chip"/>
          <p:cNvSpPr/>
          <p:nvPr/>
        </p:nvSpPr>
        <p:spPr>
          <a:xfrm>
            <a:off x="3581400" y="4368800"/>
            <a:ext cx="381000" cy="381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chip-ring"/>
          <p:cNvSpPr/>
          <p:nvPr/>
        </p:nvSpPr>
        <p:spPr>
          <a:xfrm>
            <a:off x="3581400" y="4368800"/>
            <a:ext cx="381000" cy="381000"/>
          </a:xfrm>
          <a:prstGeom prst="ellipse">
            <a:avLst/>
          </a:prstGeom>
          <a:noFill/>
          <a:ln w="6350" cap="rnd">
            <a:solidFill>
              <a:srgbClr val="4694D7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icon-coin"/>
          <p:cNvSpPr/>
          <p:nvPr/>
        </p:nvSpPr>
        <p:spPr>
          <a:xfrm>
            <a:off x="3721100" y="4514850"/>
            <a:ext cx="101600" cy="88900"/>
          </a:xfrm>
          <a:custGeom>
            <a:avLst/>
            <a:gdLst/>
            <a:ahLst/>
            <a:cxnLst/>
            <a:rect l="0" t="0" r="r" b="b"/>
            <a:pathLst>
              <a:path w="101600" h="88900">
                <a:moveTo>
                  <a:pt x="50800" y="0"/>
                </a:moveTo>
                <a:cubicBezTo>
                  <a:pt x="22225" y="0"/>
                  <a:pt x="0" y="7938"/>
                  <a:pt x="0" y="19050"/>
                </a:cubicBezTo>
                <a:cubicBezTo>
                  <a:pt x="0" y="30162"/>
                  <a:pt x="22225" y="38100"/>
                  <a:pt x="50800" y="38100"/>
                </a:cubicBezTo>
                <a:cubicBezTo>
                  <a:pt x="79375" y="38100"/>
                  <a:pt x="101600" y="30162"/>
                  <a:pt x="101600" y="19050"/>
                </a:cubicBezTo>
                <a:cubicBezTo>
                  <a:pt x="101600" y="7938"/>
                  <a:pt x="79375" y="0"/>
                  <a:pt x="50800" y="0"/>
                </a:cubicBezTo>
                <a:close/>
                <a:moveTo>
                  <a:pt x="0" y="19050"/>
                </a:moveTo>
                <a:lnTo>
                  <a:pt x="0" y="69850"/>
                </a:lnTo>
                <a:cubicBezTo>
                  <a:pt x="0" y="80962"/>
                  <a:pt x="22225" y="88900"/>
                  <a:pt x="50800" y="88900"/>
                </a:cubicBezTo>
                <a:cubicBezTo>
                  <a:pt x="79375" y="88900"/>
                  <a:pt x="101600" y="80962"/>
                  <a:pt x="101600" y="69850"/>
                </a:cubicBezTo>
                <a:lnTo>
                  <a:pt x="101600" y="19050"/>
                </a:lnTo>
              </a:path>
            </a:pathLst>
          </a:custGeom>
          <a:noFill/>
          <a:ln w="1143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h-2"/>
          <p:cNvSpPr txBox="1"/>
          <p:nvPr/>
        </p:nvSpPr>
        <p:spPr>
          <a:xfrm>
            <a:off x="3363912" y="4731544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首轮融资</a:t>
            </a:r>
          </a:p>
        </p:txBody>
      </p:sp>
      <p:sp>
        <p:nvSpPr>
          <p:cNvPr id="35" name="p1-2"/>
          <p:cNvSpPr txBox="1"/>
          <p:nvPr/>
        </p:nvSpPr>
        <p:spPr>
          <a:xfrm>
            <a:off x="3391249" y="5047345"/>
            <a:ext cx="761301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完成 A 轮融资</a:t>
            </a:r>
          </a:p>
        </p:txBody>
      </p:sp>
      <p:sp>
        <p:nvSpPr>
          <p:cNvPr id="36" name="p2-2"/>
          <p:cNvSpPr txBox="1"/>
          <p:nvPr/>
        </p:nvSpPr>
        <p:spPr>
          <a:xfrm>
            <a:off x="3312573" y="5212445"/>
            <a:ext cx="918655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团队扩充至 60 人</a:t>
            </a:r>
          </a:p>
        </p:txBody>
      </p:sp>
      <p:sp>
        <p:nvSpPr>
          <p:cNvPr id="37" name="node-3"/>
          <p:cNvSpPr/>
          <p:nvPr/>
        </p:nvSpPr>
        <p:spPr>
          <a:xfrm>
            <a:off x="5353050" y="3460750"/>
            <a:ext cx="190500" cy="190500"/>
          </a:xfrm>
          <a:prstGeom prst="ellipse">
            <a:avLst/>
          </a:prstGeom>
          <a:solidFill>
            <a:srgbClr val="FFFFFF"/>
          </a:solidFill>
          <a:ln w="2159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node-in-3"/>
          <p:cNvSpPr/>
          <p:nvPr/>
        </p:nvSpPr>
        <p:spPr>
          <a:xfrm>
            <a:off x="5410200" y="3517900"/>
            <a:ext cx="76200" cy="762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39" name="stem-3"/>
          <p:cNvCxnSpPr/>
          <p:nvPr/>
        </p:nvCxnSpPr>
        <p:spPr>
          <a:xfrm flipV="1">
            <a:off x="5448300" y="2870200"/>
            <a:ext cx="0" cy="577850"/>
          </a:xfrm>
          <a:prstGeom prst="line">
            <a:avLst/>
          </a:prstGeom>
          <a:ln w="8890" cap="rnd">
            <a:solidFill>
              <a:srgbClr val="2E77C2">
                <a:alpha val="4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yr-3"/>
          <p:cNvSpPr txBox="1"/>
          <p:nvPr/>
        </p:nvSpPr>
        <p:spPr>
          <a:xfrm>
            <a:off x="5160074" y="3623659"/>
            <a:ext cx="576453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75">
                <a:solidFill>
                  <a:srgbClr val="2E77C2"/>
                </a:solidFill>
                <a:latin typeface="Arial"/>
                <a:ea typeface="Arial"/>
                <a:cs typeface="Arial"/>
              </a:rPr>
              <a:t>2018</a:t>
            </a:r>
          </a:p>
        </p:txBody>
      </p:sp>
      <p:sp>
        <p:nvSpPr>
          <p:cNvPr id="41" name="card-3"/>
          <p:cNvSpPr/>
          <p:nvPr/>
        </p:nvSpPr>
        <p:spPr>
          <a:xfrm>
            <a:off x="4616450" y="1625600"/>
            <a:ext cx="1663700" cy="1244600"/>
          </a:xfrm>
          <a:custGeom>
            <a:avLst/>
            <a:gdLst/>
            <a:ahLst/>
            <a:cxnLst/>
            <a:rect l="0" t="0" r="r" b="b"/>
            <a:pathLst>
              <a:path w="1663700" h="1244600">
                <a:moveTo>
                  <a:pt x="114300" y="0"/>
                </a:moveTo>
                <a:lnTo>
                  <a:pt x="1549400" y="0"/>
                </a:lnTo>
                <a:cubicBezTo>
                  <a:pt x="1612519" y="0"/>
                  <a:pt x="1663700" y="51181"/>
                  <a:pt x="1663700" y="114300"/>
                </a:cubicBezTo>
                <a:lnTo>
                  <a:pt x="1663700" y="1130300"/>
                </a:lnTo>
                <a:cubicBezTo>
                  <a:pt x="1663700" y="1193419"/>
                  <a:pt x="1612519" y="1244600"/>
                  <a:pt x="1549400" y="1244600"/>
                </a:cubicBezTo>
                <a:lnTo>
                  <a:pt x="114300" y="1244600"/>
                </a:lnTo>
                <a:cubicBezTo>
                  <a:pt x="51181" y="1244600"/>
                  <a:pt x="0" y="1193419"/>
                  <a:pt x="0" y="1130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cap-3"/>
          <p:cNvSpPr/>
          <p:nvPr/>
        </p:nvSpPr>
        <p:spPr>
          <a:xfrm>
            <a:off x="4616450" y="2825750"/>
            <a:ext cx="1663700" cy="44450"/>
          </a:xfrm>
          <a:custGeom>
            <a:avLst/>
            <a:gdLst/>
            <a:ahLst/>
            <a:cxnLst/>
            <a:rect l="0" t="0" r="r" b="b"/>
            <a:pathLst>
              <a:path w="1663700" h="44450">
                <a:moveTo>
                  <a:pt x="22225" y="0"/>
                </a:moveTo>
                <a:lnTo>
                  <a:pt x="1641475" y="0"/>
                </a:lnTo>
                <a:cubicBezTo>
                  <a:pt x="1653730" y="0"/>
                  <a:pt x="1663700" y="9969"/>
                  <a:pt x="1663700" y="22225"/>
                </a:cubicBezTo>
                <a:lnTo>
                  <a:pt x="1663700" y="22225"/>
                </a:lnTo>
                <a:cubicBezTo>
                  <a:pt x="1663700" y="34481"/>
                  <a:pt x="1653730" y="44450"/>
                  <a:pt x="1641475" y="44450"/>
                </a:cubicBezTo>
                <a:lnTo>
                  <a:pt x="22225" y="44450"/>
                </a:lnTo>
                <a:cubicBezTo>
                  <a:pt x="9970" y="44450"/>
                  <a:pt x="0" y="34481"/>
                  <a:pt x="0" y="22225"/>
                </a:cubicBezTo>
                <a:lnTo>
                  <a:pt x="0" y="22225"/>
                </a:lnTo>
                <a:cubicBezTo>
                  <a:pt x="0" y="9969"/>
                  <a:pt x="9970" y="0"/>
                  <a:pt x="22225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chip"/>
          <p:cNvSpPr/>
          <p:nvPr/>
        </p:nvSpPr>
        <p:spPr>
          <a:xfrm>
            <a:off x="5257800" y="1752600"/>
            <a:ext cx="381000" cy="381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chip-ring"/>
          <p:cNvSpPr/>
          <p:nvPr/>
        </p:nvSpPr>
        <p:spPr>
          <a:xfrm>
            <a:off x="5257800" y="1752600"/>
            <a:ext cx="381000" cy="381000"/>
          </a:xfrm>
          <a:prstGeom prst="ellipse">
            <a:avLst/>
          </a:prstGeom>
          <a:noFill/>
          <a:ln w="6350" cap="rnd">
            <a:solidFill>
              <a:srgbClr val="2E77C2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icon-factory"/>
          <p:cNvSpPr/>
          <p:nvPr/>
        </p:nvSpPr>
        <p:spPr>
          <a:xfrm>
            <a:off x="5380038" y="1912938"/>
            <a:ext cx="136525" cy="92075"/>
          </a:xfrm>
          <a:custGeom>
            <a:avLst/>
            <a:gdLst/>
            <a:ahLst/>
            <a:cxnLst/>
            <a:rect l="0" t="0" r="r" b="b"/>
            <a:pathLst>
              <a:path w="136525" h="92075">
                <a:moveTo>
                  <a:pt x="0" y="92075"/>
                </a:moveTo>
                <a:lnTo>
                  <a:pt x="0" y="22225"/>
                </a:lnTo>
                <a:lnTo>
                  <a:pt x="39688" y="46038"/>
                </a:lnTo>
                <a:lnTo>
                  <a:pt x="39688" y="22225"/>
                </a:lnTo>
                <a:lnTo>
                  <a:pt x="79375" y="46038"/>
                </a:lnTo>
                <a:lnTo>
                  <a:pt x="79375" y="0"/>
                </a:lnTo>
                <a:lnTo>
                  <a:pt x="119062" y="23812"/>
                </a:lnTo>
                <a:lnTo>
                  <a:pt x="119062" y="84138"/>
                </a:lnTo>
                <a:close/>
                <a:moveTo>
                  <a:pt x="0" y="92075"/>
                </a:moveTo>
                <a:lnTo>
                  <a:pt x="136525" y="92075"/>
                </a:lnTo>
              </a:path>
            </a:pathLst>
          </a:custGeom>
          <a:noFill/>
          <a:ln w="1143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h-3"/>
          <p:cNvSpPr txBox="1"/>
          <p:nvPr/>
        </p:nvSpPr>
        <p:spPr>
          <a:xfrm>
            <a:off x="5040312" y="2115344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产线投产</a:t>
            </a:r>
          </a:p>
        </p:txBody>
      </p:sp>
      <p:sp>
        <p:nvSpPr>
          <p:cNvPr id="47" name="p1-3"/>
          <p:cNvSpPr txBox="1"/>
          <p:nvPr/>
        </p:nvSpPr>
        <p:spPr>
          <a:xfrm>
            <a:off x="5103019" y="2431145"/>
            <a:ext cx="69056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自建智能工厂</a:t>
            </a:r>
          </a:p>
        </p:txBody>
      </p:sp>
      <p:sp>
        <p:nvSpPr>
          <p:cNvPr id="48" name="p2-3"/>
          <p:cNvSpPr txBox="1"/>
          <p:nvPr/>
        </p:nvSpPr>
        <p:spPr>
          <a:xfrm>
            <a:off x="5067649" y="2596245"/>
            <a:ext cx="76130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产能提升 4 倍</a:t>
            </a:r>
          </a:p>
        </p:txBody>
      </p:sp>
      <p:sp>
        <p:nvSpPr>
          <p:cNvPr id="49" name="node-4"/>
          <p:cNvSpPr/>
          <p:nvPr/>
        </p:nvSpPr>
        <p:spPr>
          <a:xfrm>
            <a:off x="7029450" y="3460750"/>
            <a:ext cx="190500" cy="190500"/>
          </a:xfrm>
          <a:prstGeom prst="ellipse">
            <a:avLst/>
          </a:prstGeom>
          <a:solidFill>
            <a:srgbClr val="FFFFFF"/>
          </a:solidFill>
          <a:ln w="2159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node-in-4"/>
          <p:cNvSpPr/>
          <p:nvPr/>
        </p:nvSpPr>
        <p:spPr>
          <a:xfrm>
            <a:off x="7086600" y="3517900"/>
            <a:ext cx="76200" cy="76200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51" name="stem-4"/>
          <p:cNvCxnSpPr/>
          <p:nvPr/>
        </p:nvCxnSpPr>
        <p:spPr>
          <a:xfrm>
            <a:off x="7124700" y="3663950"/>
            <a:ext cx="0" cy="577850"/>
          </a:xfrm>
          <a:prstGeom prst="line">
            <a:avLst/>
          </a:prstGeom>
          <a:ln w="8890" cap="rnd">
            <a:solidFill>
              <a:srgbClr val="2468B6">
                <a:alpha val="4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yr-4"/>
          <p:cNvSpPr txBox="1"/>
          <p:nvPr/>
        </p:nvSpPr>
        <p:spPr>
          <a:xfrm>
            <a:off x="6836473" y="3153759"/>
            <a:ext cx="576453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75">
                <a:solidFill>
                  <a:srgbClr val="2468B6"/>
                </a:solidFill>
                <a:latin typeface="Arial"/>
                <a:ea typeface="Arial"/>
                <a:cs typeface="Arial"/>
              </a:rPr>
              <a:t>2021</a:t>
            </a:r>
          </a:p>
        </p:txBody>
      </p:sp>
      <p:sp>
        <p:nvSpPr>
          <p:cNvPr id="53" name="card-4"/>
          <p:cNvSpPr/>
          <p:nvPr/>
        </p:nvSpPr>
        <p:spPr>
          <a:xfrm>
            <a:off x="6292850" y="4241800"/>
            <a:ext cx="1663700" cy="1244600"/>
          </a:xfrm>
          <a:custGeom>
            <a:avLst/>
            <a:gdLst/>
            <a:ahLst/>
            <a:cxnLst/>
            <a:rect l="0" t="0" r="r" b="b"/>
            <a:pathLst>
              <a:path w="1663700" h="1244600">
                <a:moveTo>
                  <a:pt x="114300" y="0"/>
                </a:moveTo>
                <a:lnTo>
                  <a:pt x="1549400" y="0"/>
                </a:lnTo>
                <a:cubicBezTo>
                  <a:pt x="1612519" y="0"/>
                  <a:pt x="1663700" y="51181"/>
                  <a:pt x="1663700" y="114300"/>
                </a:cubicBezTo>
                <a:lnTo>
                  <a:pt x="1663700" y="1130300"/>
                </a:lnTo>
                <a:cubicBezTo>
                  <a:pt x="1663700" y="1193419"/>
                  <a:pt x="1612519" y="1244600"/>
                  <a:pt x="1549400" y="1244600"/>
                </a:cubicBezTo>
                <a:lnTo>
                  <a:pt x="114300" y="1244600"/>
                </a:lnTo>
                <a:cubicBezTo>
                  <a:pt x="51181" y="1244600"/>
                  <a:pt x="0" y="1193419"/>
                  <a:pt x="0" y="1130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cap-4"/>
          <p:cNvSpPr/>
          <p:nvPr/>
        </p:nvSpPr>
        <p:spPr>
          <a:xfrm>
            <a:off x="6292850" y="4241800"/>
            <a:ext cx="1663700" cy="44450"/>
          </a:xfrm>
          <a:custGeom>
            <a:avLst/>
            <a:gdLst/>
            <a:ahLst/>
            <a:cxnLst/>
            <a:rect l="0" t="0" r="r" b="b"/>
            <a:pathLst>
              <a:path w="1663700" h="44450">
                <a:moveTo>
                  <a:pt x="22225" y="0"/>
                </a:moveTo>
                <a:lnTo>
                  <a:pt x="1641475" y="0"/>
                </a:lnTo>
                <a:cubicBezTo>
                  <a:pt x="1653731" y="0"/>
                  <a:pt x="1663700" y="9970"/>
                  <a:pt x="1663700" y="22225"/>
                </a:cubicBezTo>
                <a:lnTo>
                  <a:pt x="1663700" y="22225"/>
                </a:lnTo>
                <a:cubicBezTo>
                  <a:pt x="1663700" y="34480"/>
                  <a:pt x="1653731" y="44450"/>
                  <a:pt x="1641475" y="44450"/>
                </a:cubicBezTo>
                <a:lnTo>
                  <a:pt x="22225" y="44450"/>
                </a:lnTo>
                <a:cubicBezTo>
                  <a:pt x="9970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70"/>
                  <a:pt x="9970" y="0"/>
                  <a:pt x="22225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chip"/>
          <p:cNvSpPr/>
          <p:nvPr/>
        </p:nvSpPr>
        <p:spPr>
          <a:xfrm>
            <a:off x="6934200" y="4368800"/>
            <a:ext cx="381000" cy="381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chip-ring"/>
          <p:cNvSpPr/>
          <p:nvPr/>
        </p:nvSpPr>
        <p:spPr>
          <a:xfrm>
            <a:off x="6934200" y="4368800"/>
            <a:ext cx="381000" cy="381000"/>
          </a:xfrm>
          <a:prstGeom prst="ellipse">
            <a:avLst/>
          </a:prstGeom>
          <a:noFill/>
          <a:ln w="6350" cap="rnd">
            <a:solidFill>
              <a:srgbClr val="2468B6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icon-globe"/>
          <p:cNvSpPr/>
          <p:nvPr/>
        </p:nvSpPr>
        <p:spPr>
          <a:xfrm>
            <a:off x="7056438" y="4491038"/>
            <a:ext cx="136525" cy="136525"/>
          </a:xfrm>
          <a:custGeom>
            <a:avLst/>
            <a:gdLst/>
            <a:ahLst/>
            <a:cxnLst/>
            <a:rect l="0" t="0" r="r" b="b"/>
            <a:pathLst>
              <a:path w="136525" h="136525">
                <a:moveTo>
                  <a:pt x="0" y="68262"/>
                </a:moveTo>
                <a:lnTo>
                  <a:pt x="136525" y="68262"/>
                </a:lnTo>
                <a:moveTo>
                  <a:pt x="68262" y="0"/>
                </a:moveTo>
                <a:cubicBezTo>
                  <a:pt x="87312" y="19875"/>
                  <a:pt x="96838" y="42862"/>
                  <a:pt x="96838" y="68262"/>
                </a:cubicBezTo>
                <a:cubicBezTo>
                  <a:pt x="96838" y="93662"/>
                  <a:pt x="87312" y="116650"/>
                  <a:pt x="68262" y="136525"/>
                </a:cubicBezTo>
                <a:cubicBezTo>
                  <a:pt x="49212" y="116650"/>
                  <a:pt x="39688" y="93662"/>
                  <a:pt x="39688" y="68262"/>
                </a:cubicBezTo>
                <a:cubicBezTo>
                  <a:pt x="39688" y="42862"/>
                  <a:pt x="49212" y="19875"/>
                  <a:pt x="68262" y="0"/>
                </a:cubicBezTo>
                <a:close/>
              </a:path>
            </a:pathLst>
          </a:custGeom>
          <a:noFill/>
          <a:ln w="1143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icon-globe"/>
          <p:cNvSpPr/>
          <p:nvPr/>
        </p:nvSpPr>
        <p:spPr>
          <a:xfrm>
            <a:off x="7056438" y="4491038"/>
            <a:ext cx="136525" cy="136525"/>
          </a:xfrm>
          <a:prstGeom prst="ellipse">
            <a:avLst/>
          </a:prstGeom>
          <a:noFill/>
          <a:ln w="1143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h-4"/>
          <p:cNvSpPr txBox="1"/>
          <p:nvPr/>
        </p:nvSpPr>
        <p:spPr>
          <a:xfrm>
            <a:off x="6716712" y="4731544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全国布局</a:t>
            </a:r>
          </a:p>
        </p:txBody>
      </p:sp>
      <p:sp>
        <p:nvSpPr>
          <p:cNvPr id="60" name="p1-4"/>
          <p:cNvSpPr txBox="1"/>
          <p:nvPr/>
        </p:nvSpPr>
        <p:spPr>
          <a:xfrm>
            <a:off x="6715538" y="5047345"/>
            <a:ext cx="818324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渠道覆盖 28 省</a:t>
            </a:r>
          </a:p>
        </p:txBody>
      </p:sp>
      <p:sp>
        <p:nvSpPr>
          <p:cNvPr id="61" name="p2-4"/>
          <p:cNvSpPr txBox="1"/>
          <p:nvPr/>
        </p:nvSpPr>
        <p:spPr>
          <a:xfrm>
            <a:off x="6729254" y="5212445"/>
            <a:ext cx="79089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线下门店破千家</a:t>
            </a:r>
          </a:p>
        </p:txBody>
      </p:sp>
      <p:sp>
        <p:nvSpPr>
          <p:cNvPr id="62" name="node-5"/>
          <p:cNvSpPr/>
          <p:nvPr/>
        </p:nvSpPr>
        <p:spPr>
          <a:xfrm>
            <a:off x="8705850" y="3460750"/>
            <a:ext cx="190500" cy="190500"/>
          </a:xfrm>
          <a:prstGeom prst="ellipse">
            <a:avLst/>
          </a:prstGeom>
          <a:solidFill>
            <a:srgbClr val="FFFFFF"/>
          </a:solidFill>
          <a:ln w="2159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node-in-5"/>
          <p:cNvSpPr/>
          <p:nvPr/>
        </p:nvSpPr>
        <p:spPr>
          <a:xfrm>
            <a:off x="8763000" y="3517900"/>
            <a:ext cx="76200" cy="762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64" name="stem-5"/>
          <p:cNvCxnSpPr/>
          <p:nvPr/>
        </p:nvCxnSpPr>
        <p:spPr>
          <a:xfrm flipV="1">
            <a:off x="8801100" y="2870200"/>
            <a:ext cx="0" cy="577850"/>
          </a:xfrm>
          <a:prstGeom prst="line">
            <a:avLst/>
          </a:prstGeom>
          <a:ln w="8890" cap="rnd">
            <a:solidFill>
              <a:srgbClr val="134C9C">
                <a:alpha val="4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" name="yr-5"/>
          <p:cNvSpPr txBox="1"/>
          <p:nvPr/>
        </p:nvSpPr>
        <p:spPr>
          <a:xfrm>
            <a:off x="8512874" y="3623659"/>
            <a:ext cx="576453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75">
                <a:solidFill>
                  <a:srgbClr val="134C9C"/>
                </a:solidFill>
                <a:latin typeface="Arial"/>
                <a:ea typeface="Arial"/>
                <a:cs typeface="Arial"/>
              </a:rPr>
              <a:t>2023</a:t>
            </a:r>
          </a:p>
        </p:txBody>
      </p:sp>
      <p:sp>
        <p:nvSpPr>
          <p:cNvPr id="66" name="card-5"/>
          <p:cNvSpPr/>
          <p:nvPr/>
        </p:nvSpPr>
        <p:spPr>
          <a:xfrm>
            <a:off x="7969250" y="1625600"/>
            <a:ext cx="1663700" cy="1244600"/>
          </a:xfrm>
          <a:custGeom>
            <a:avLst/>
            <a:gdLst/>
            <a:ahLst/>
            <a:cxnLst/>
            <a:rect l="0" t="0" r="r" b="b"/>
            <a:pathLst>
              <a:path w="1663700" h="1244600">
                <a:moveTo>
                  <a:pt x="114300" y="0"/>
                </a:moveTo>
                <a:lnTo>
                  <a:pt x="1549400" y="0"/>
                </a:lnTo>
                <a:cubicBezTo>
                  <a:pt x="1612519" y="0"/>
                  <a:pt x="1663700" y="51181"/>
                  <a:pt x="1663700" y="114300"/>
                </a:cubicBezTo>
                <a:lnTo>
                  <a:pt x="1663700" y="1130300"/>
                </a:lnTo>
                <a:cubicBezTo>
                  <a:pt x="1663700" y="1193419"/>
                  <a:pt x="1612519" y="1244600"/>
                  <a:pt x="1549400" y="1244600"/>
                </a:cubicBezTo>
                <a:lnTo>
                  <a:pt x="114300" y="1244600"/>
                </a:lnTo>
                <a:cubicBezTo>
                  <a:pt x="51181" y="1244600"/>
                  <a:pt x="0" y="1193419"/>
                  <a:pt x="0" y="1130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cap-5"/>
          <p:cNvSpPr/>
          <p:nvPr/>
        </p:nvSpPr>
        <p:spPr>
          <a:xfrm>
            <a:off x="7969250" y="2825750"/>
            <a:ext cx="1663700" cy="44450"/>
          </a:xfrm>
          <a:custGeom>
            <a:avLst/>
            <a:gdLst/>
            <a:ahLst/>
            <a:cxnLst/>
            <a:rect l="0" t="0" r="r" b="b"/>
            <a:pathLst>
              <a:path w="1663700" h="44450">
                <a:moveTo>
                  <a:pt x="22225" y="0"/>
                </a:moveTo>
                <a:lnTo>
                  <a:pt x="1641475" y="0"/>
                </a:lnTo>
                <a:cubicBezTo>
                  <a:pt x="1653731" y="0"/>
                  <a:pt x="1663700" y="9969"/>
                  <a:pt x="1663700" y="22225"/>
                </a:cubicBezTo>
                <a:lnTo>
                  <a:pt x="1663700" y="22225"/>
                </a:lnTo>
                <a:cubicBezTo>
                  <a:pt x="1663700" y="34481"/>
                  <a:pt x="1653731" y="44450"/>
                  <a:pt x="1641475" y="44450"/>
                </a:cubicBezTo>
                <a:lnTo>
                  <a:pt x="22225" y="44450"/>
                </a:lnTo>
                <a:cubicBezTo>
                  <a:pt x="9969" y="44450"/>
                  <a:pt x="0" y="34481"/>
                  <a:pt x="0" y="22225"/>
                </a:cubicBezTo>
                <a:lnTo>
                  <a:pt x="0" y="22225"/>
                </a:lnTo>
                <a:cubicBezTo>
                  <a:pt x="0" y="9969"/>
                  <a:pt x="9969" y="0"/>
                  <a:pt x="22225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chip"/>
          <p:cNvSpPr/>
          <p:nvPr/>
        </p:nvSpPr>
        <p:spPr>
          <a:xfrm>
            <a:off x="8610600" y="1752600"/>
            <a:ext cx="381000" cy="381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chip-ring"/>
          <p:cNvSpPr/>
          <p:nvPr/>
        </p:nvSpPr>
        <p:spPr>
          <a:xfrm>
            <a:off x="8610600" y="1752600"/>
            <a:ext cx="381000" cy="381000"/>
          </a:xfrm>
          <a:prstGeom prst="ellipse">
            <a:avLst/>
          </a:prstGeom>
          <a:noFill/>
          <a:ln w="6350" cap="rnd">
            <a:solidFill>
              <a:srgbClr val="134C9C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icon-network"/>
          <p:cNvSpPr/>
          <p:nvPr/>
        </p:nvSpPr>
        <p:spPr>
          <a:xfrm>
            <a:off x="8777288" y="1914525"/>
            <a:ext cx="47625" cy="55562"/>
          </a:xfrm>
          <a:custGeom>
            <a:avLst/>
            <a:gdLst/>
            <a:ahLst/>
            <a:cxnLst/>
            <a:rect l="0" t="0" r="r" b="b"/>
            <a:pathLst>
              <a:path w="47625" h="55562">
                <a:moveTo>
                  <a:pt x="23812" y="0"/>
                </a:moveTo>
                <a:lnTo>
                  <a:pt x="23812" y="25400"/>
                </a:lnTo>
                <a:moveTo>
                  <a:pt x="0" y="55562"/>
                </a:moveTo>
                <a:lnTo>
                  <a:pt x="17462" y="34925"/>
                </a:lnTo>
                <a:moveTo>
                  <a:pt x="47625" y="55562"/>
                </a:moveTo>
                <a:lnTo>
                  <a:pt x="30162" y="34925"/>
                </a:lnTo>
              </a:path>
            </a:pathLst>
          </a:custGeom>
          <a:noFill/>
          <a:ln w="1143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icon-network"/>
          <p:cNvSpPr/>
          <p:nvPr/>
        </p:nvSpPr>
        <p:spPr>
          <a:xfrm>
            <a:off x="8780462" y="1874838"/>
            <a:ext cx="41275" cy="41275"/>
          </a:xfrm>
          <a:prstGeom prst="ellipse">
            <a:avLst/>
          </a:prstGeom>
          <a:noFill/>
          <a:ln w="1143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icon-network"/>
          <p:cNvSpPr/>
          <p:nvPr/>
        </p:nvSpPr>
        <p:spPr>
          <a:xfrm>
            <a:off x="8740775" y="1965325"/>
            <a:ext cx="41275" cy="41275"/>
          </a:xfrm>
          <a:prstGeom prst="ellipse">
            <a:avLst/>
          </a:prstGeom>
          <a:noFill/>
          <a:ln w="1143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icon-network"/>
          <p:cNvSpPr/>
          <p:nvPr/>
        </p:nvSpPr>
        <p:spPr>
          <a:xfrm>
            <a:off x="8820150" y="1965325"/>
            <a:ext cx="41275" cy="41275"/>
          </a:xfrm>
          <a:prstGeom prst="ellipse">
            <a:avLst/>
          </a:prstGeom>
          <a:noFill/>
          <a:ln w="1143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h-5"/>
          <p:cNvSpPr txBox="1"/>
          <p:nvPr/>
        </p:nvSpPr>
        <p:spPr>
          <a:xfrm>
            <a:off x="8393112" y="2115344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平台开放</a:t>
            </a:r>
          </a:p>
        </p:txBody>
      </p:sp>
      <p:sp>
        <p:nvSpPr>
          <p:cNvPr id="75" name="p1-5"/>
          <p:cNvSpPr txBox="1"/>
          <p:nvPr/>
        </p:nvSpPr>
        <p:spPr>
          <a:xfrm>
            <a:off x="8405654" y="2431145"/>
            <a:ext cx="79089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开发者生态上线</a:t>
            </a:r>
          </a:p>
        </p:txBody>
      </p:sp>
      <p:sp>
        <p:nvSpPr>
          <p:cNvPr id="76" name="p2-5"/>
          <p:cNvSpPr txBox="1"/>
          <p:nvPr/>
        </p:nvSpPr>
        <p:spPr>
          <a:xfrm>
            <a:off x="8363426" y="2596245"/>
            <a:ext cx="875348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伙伴数超 400 家</a:t>
            </a:r>
          </a:p>
        </p:txBody>
      </p:sp>
      <p:sp>
        <p:nvSpPr>
          <p:cNvPr id="77" name="node-6"/>
          <p:cNvSpPr/>
          <p:nvPr/>
        </p:nvSpPr>
        <p:spPr>
          <a:xfrm>
            <a:off x="10382250" y="3460750"/>
            <a:ext cx="190500" cy="190500"/>
          </a:xfrm>
          <a:prstGeom prst="ellipse">
            <a:avLst/>
          </a:prstGeom>
          <a:solidFill>
            <a:srgbClr val="FFFFFF"/>
          </a:solidFill>
          <a:ln w="2159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node-in-6"/>
          <p:cNvSpPr/>
          <p:nvPr/>
        </p:nvSpPr>
        <p:spPr>
          <a:xfrm>
            <a:off x="10439400" y="3517900"/>
            <a:ext cx="76200" cy="762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79" name="stem-6"/>
          <p:cNvCxnSpPr/>
          <p:nvPr/>
        </p:nvCxnSpPr>
        <p:spPr>
          <a:xfrm>
            <a:off x="10477500" y="3663950"/>
            <a:ext cx="0" cy="577850"/>
          </a:xfrm>
          <a:prstGeom prst="line">
            <a:avLst/>
          </a:prstGeom>
          <a:ln w="8890" cap="rnd">
            <a:solidFill>
              <a:srgbClr val="0B3E8F">
                <a:alpha val="4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0" name="yr-6"/>
          <p:cNvSpPr txBox="1"/>
          <p:nvPr/>
        </p:nvSpPr>
        <p:spPr>
          <a:xfrm>
            <a:off x="10189274" y="3153759"/>
            <a:ext cx="576453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75">
                <a:solidFill>
                  <a:srgbClr val="0B3E8F"/>
                </a:solidFill>
                <a:latin typeface="Arial"/>
                <a:ea typeface="Arial"/>
                <a:cs typeface="Arial"/>
              </a:rPr>
              <a:t>2026</a:t>
            </a:r>
          </a:p>
        </p:txBody>
      </p:sp>
      <p:sp>
        <p:nvSpPr>
          <p:cNvPr id="81" name="card-6"/>
          <p:cNvSpPr/>
          <p:nvPr/>
        </p:nvSpPr>
        <p:spPr>
          <a:xfrm>
            <a:off x="9645650" y="4241800"/>
            <a:ext cx="1663700" cy="1244600"/>
          </a:xfrm>
          <a:custGeom>
            <a:avLst/>
            <a:gdLst/>
            <a:ahLst/>
            <a:cxnLst/>
            <a:rect l="0" t="0" r="r" b="b"/>
            <a:pathLst>
              <a:path w="1663700" h="1244600">
                <a:moveTo>
                  <a:pt x="114300" y="0"/>
                </a:moveTo>
                <a:lnTo>
                  <a:pt x="1549400" y="0"/>
                </a:lnTo>
                <a:cubicBezTo>
                  <a:pt x="1612519" y="0"/>
                  <a:pt x="1663700" y="51181"/>
                  <a:pt x="1663700" y="114300"/>
                </a:cubicBezTo>
                <a:lnTo>
                  <a:pt x="1663700" y="1130300"/>
                </a:lnTo>
                <a:cubicBezTo>
                  <a:pt x="1663700" y="1193419"/>
                  <a:pt x="1612519" y="1244600"/>
                  <a:pt x="1549400" y="1244600"/>
                </a:cubicBezTo>
                <a:lnTo>
                  <a:pt x="114300" y="1244600"/>
                </a:lnTo>
                <a:cubicBezTo>
                  <a:pt x="51181" y="1244600"/>
                  <a:pt x="0" y="1193419"/>
                  <a:pt x="0" y="1130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cap-6"/>
          <p:cNvSpPr/>
          <p:nvPr/>
        </p:nvSpPr>
        <p:spPr>
          <a:xfrm>
            <a:off x="9645650" y="4241800"/>
            <a:ext cx="1663700" cy="44450"/>
          </a:xfrm>
          <a:custGeom>
            <a:avLst/>
            <a:gdLst/>
            <a:ahLst/>
            <a:cxnLst/>
            <a:rect l="0" t="0" r="r" b="b"/>
            <a:pathLst>
              <a:path w="1663700" h="44450">
                <a:moveTo>
                  <a:pt x="22225" y="0"/>
                </a:moveTo>
                <a:lnTo>
                  <a:pt x="1641475" y="0"/>
                </a:lnTo>
                <a:cubicBezTo>
                  <a:pt x="1653731" y="0"/>
                  <a:pt x="1663700" y="9970"/>
                  <a:pt x="1663700" y="22225"/>
                </a:cubicBezTo>
                <a:lnTo>
                  <a:pt x="1663700" y="22225"/>
                </a:lnTo>
                <a:cubicBezTo>
                  <a:pt x="1663700" y="34480"/>
                  <a:pt x="1653731" y="44450"/>
                  <a:pt x="1641475" y="44450"/>
                </a:cubicBezTo>
                <a:lnTo>
                  <a:pt x="22225" y="44450"/>
                </a:lnTo>
                <a:cubicBezTo>
                  <a:pt x="9969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70"/>
                  <a:pt x="9969" y="0"/>
                  <a:pt x="2222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chip"/>
          <p:cNvSpPr/>
          <p:nvPr/>
        </p:nvSpPr>
        <p:spPr>
          <a:xfrm>
            <a:off x="10287000" y="4368800"/>
            <a:ext cx="381000" cy="381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chip-ring"/>
          <p:cNvSpPr/>
          <p:nvPr/>
        </p:nvSpPr>
        <p:spPr>
          <a:xfrm>
            <a:off x="10287000" y="4368800"/>
            <a:ext cx="381000" cy="381000"/>
          </a:xfrm>
          <a:prstGeom prst="ellipse">
            <a:avLst/>
          </a:prstGeom>
          <a:noFill/>
          <a:ln w="6350" cap="rnd">
            <a:solidFill>
              <a:srgbClr val="0B3E8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icon-award"/>
          <p:cNvSpPr/>
          <p:nvPr/>
        </p:nvSpPr>
        <p:spPr>
          <a:xfrm>
            <a:off x="10444162" y="4579938"/>
            <a:ext cx="66675" cy="46038"/>
          </a:xfrm>
          <a:custGeom>
            <a:avLst/>
            <a:gdLst/>
            <a:ahLst/>
            <a:cxnLst/>
            <a:rect l="0" t="0" r="r" b="b"/>
            <a:pathLst>
              <a:path w="66675" h="46038">
                <a:moveTo>
                  <a:pt x="12700" y="0"/>
                </a:moveTo>
                <a:lnTo>
                  <a:pt x="0" y="46038"/>
                </a:lnTo>
                <a:lnTo>
                  <a:pt x="33338" y="28575"/>
                </a:lnTo>
                <a:lnTo>
                  <a:pt x="66675" y="46038"/>
                </a:lnTo>
                <a:lnTo>
                  <a:pt x="53975" y="0"/>
                </a:lnTo>
              </a:path>
            </a:pathLst>
          </a:custGeom>
          <a:noFill/>
          <a:ln w="1143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icon-award"/>
          <p:cNvSpPr/>
          <p:nvPr/>
        </p:nvSpPr>
        <p:spPr>
          <a:xfrm>
            <a:off x="10433050" y="4494212"/>
            <a:ext cx="88900" cy="88900"/>
          </a:xfrm>
          <a:prstGeom prst="ellipse">
            <a:avLst/>
          </a:prstGeom>
          <a:noFill/>
          <a:ln w="1143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h-6"/>
          <p:cNvSpPr txBox="1"/>
          <p:nvPr/>
        </p:nvSpPr>
        <p:spPr>
          <a:xfrm>
            <a:off x="10069512" y="4731544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生态成型</a:t>
            </a:r>
          </a:p>
        </p:txBody>
      </p:sp>
      <p:sp>
        <p:nvSpPr>
          <p:cNvPr id="88" name="p1-6"/>
          <p:cNvSpPr txBox="1"/>
          <p:nvPr/>
        </p:nvSpPr>
        <p:spPr>
          <a:xfrm>
            <a:off x="10068338" y="5047345"/>
            <a:ext cx="818324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营收突破 20 亿</a:t>
            </a:r>
          </a:p>
        </p:txBody>
      </p:sp>
      <p:sp>
        <p:nvSpPr>
          <p:cNvPr id="89" name="p2-6"/>
          <p:cNvSpPr txBox="1"/>
          <p:nvPr/>
        </p:nvSpPr>
        <p:spPr>
          <a:xfrm>
            <a:off x="10068338" y="5212445"/>
            <a:ext cx="818324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服务 12 万客户</a:t>
            </a:r>
          </a:p>
        </p:txBody>
      </p:sp>
      <p:sp>
        <p:nvSpPr>
          <p:cNvPr id="90" name="sum"/>
          <p:cNvSpPr/>
          <p:nvPr/>
        </p:nvSpPr>
        <p:spPr>
          <a:xfrm>
            <a:off x="952500" y="5715000"/>
            <a:ext cx="10287000" cy="457200"/>
          </a:xfrm>
          <a:custGeom>
            <a:avLst/>
            <a:gdLst/>
            <a:ahLst/>
            <a:cxnLst/>
            <a:rect l="0" t="0" r="r" b="b"/>
            <a:pathLst>
              <a:path w="10287000" h="4572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68300"/>
                </a:lnTo>
                <a:cubicBezTo>
                  <a:pt x="10287000" y="417386"/>
                  <a:pt x="10247186" y="457200"/>
                  <a:pt x="10198100" y="457200"/>
                </a:cubicBezTo>
                <a:lnTo>
                  <a:pt x="88900" y="457200"/>
                </a:lnTo>
                <a:cubicBezTo>
                  <a:pt x="39815" y="457200"/>
                  <a:pt x="0" y="417386"/>
                  <a:pt x="0" y="3683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sum-bar"/>
          <p:cNvSpPr/>
          <p:nvPr/>
        </p:nvSpPr>
        <p:spPr>
          <a:xfrm>
            <a:off x="952500" y="5715000"/>
            <a:ext cx="31750" cy="4572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sum-h"/>
          <p:cNvSpPr txBox="1"/>
          <p:nvPr/>
        </p:nvSpPr>
        <p:spPr>
          <a:xfrm>
            <a:off x="1142746" y="5873782"/>
            <a:ext cx="459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十二年</a:t>
            </a:r>
          </a:p>
        </p:txBody>
      </p:sp>
      <p:sp>
        <p:nvSpPr>
          <p:cNvPr id="93" name="sv-0"/>
          <p:cNvSpPr txBox="1"/>
          <p:nvPr/>
        </p:nvSpPr>
        <p:spPr>
          <a:xfrm>
            <a:off x="2075688" y="5815902"/>
            <a:ext cx="591058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20 亿</a:t>
            </a:r>
          </a:p>
        </p:txBody>
      </p:sp>
      <p:sp>
        <p:nvSpPr>
          <p:cNvPr id="94" name="sl-0"/>
          <p:cNvSpPr txBox="1"/>
          <p:nvPr/>
        </p:nvSpPr>
        <p:spPr>
          <a:xfrm>
            <a:off x="2592070" y="5889466"/>
            <a:ext cx="3714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年营收</a:t>
            </a:r>
          </a:p>
        </p:txBody>
      </p:sp>
      <p:sp>
        <p:nvSpPr>
          <p:cNvPr id="95" name="sv-1"/>
          <p:cNvSpPr txBox="1"/>
          <p:nvPr/>
        </p:nvSpPr>
        <p:spPr>
          <a:xfrm>
            <a:off x="4361688" y="5815902"/>
            <a:ext cx="591058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12 万</a:t>
            </a:r>
          </a:p>
        </p:txBody>
      </p:sp>
      <p:sp>
        <p:nvSpPr>
          <p:cNvPr id="96" name="sl-1"/>
          <p:cNvSpPr txBox="1"/>
          <p:nvPr/>
        </p:nvSpPr>
        <p:spPr>
          <a:xfrm>
            <a:off x="4878070" y="5889466"/>
            <a:ext cx="4667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服务客户</a:t>
            </a:r>
          </a:p>
        </p:txBody>
      </p:sp>
      <p:sp>
        <p:nvSpPr>
          <p:cNvPr id="97" name="sv-2"/>
          <p:cNvSpPr txBox="1"/>
          <p:nvPr/>
        </p:nvSpPr>
        <p:spPr>
          <a:xfrm>
            <a:off x="6647688" y="5815902"/>
            <a:ext cx="591058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28 省</a:t>
            </a:r>
          </a:p>
        </p:txBody>
      </p:sp>
      <p:sp>
        <p:nvSpPr>
          <p:cNvPr id="98" name="sl-2"/>
          <p:cNvSpPr txBox="1"/>
          <p:nvPr/>
        </p:nvSpPr>
        <p:spPr>
          <a:xfrm>
            <a:off x="7164070" y="5889466"/>
            <a:ext cx="4667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渠道覆盖</a:t>
            </a:r>
          </a:p>
        </p:txBody>
      </p:sp>
      <p:sp>
        <p:nvSpPr>
          <p:cNvPr id="99" name="sv-3"/>
          <p:cNvSpPr txBox="1"/>
          <p:nvPr/>
        </p:nvSpPr>
        <p:spPr>
          <a:xfrm>
            <a:off x="8933688" y="5815902"/>
            <a:ext cx="683514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400 家</a:t>
            </a:r>
          </a:p>
        </p:txBody>
      </p:sp>
      <p:sp>
        <p:nvSpPr>
          <p:cNvPr id="100" name="sl-3"/>
          <p:cNvSpPr txBox="1"/>
          <p:nvPr/>
        </p:nvSpPr>
        <p:spPr>
          <a:xfrm>
            <a:off x="9545320" y="5889466"/>
            <a:ext cx="4667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生态伙伴</a:t>
            </a:r>
          </a:p>
        </p:txBody>
      </p:sp>
      <p:cxnSp>
        <p:nvCxnSpPr>
          <p:cNvPr id="101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2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发展历程 · 六大里程碑</a:t>
            </a:r>
          </a:p>
        </p:txBody>
      </p:sp>
      <p:sp>
        <p:nvSpPr>
          <p:cNvPr id="103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年度任务排期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53695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PROJECT SCHEDULE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008999" y="673132"/>
            <a:ext cx="2611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六项重点任务的时间跨度、当前进度与关键里程碑</a:t>
            </a:r>
          </a:p>
        </p:txBody>
      </p:sp>
      <p:cxnSp>
        <p:nvCxnSpPr>
          <p:cNvPr id="10" name="grid-0"/>
          <p:cNvCxnSpPr/>
          <p:nvPr/>
        </p:nvCxnSpPr>
        <p:spPr>
          <a:xfrm>
            <a:off x="3810000" y="1816100"/>
            <a:ext cx="0" cy="3581400"/>
          </a:xfrm>
          <a:prstGeom prst="line">
            <a:avLst/>
          </a:prstGeom>
          <a:ln w="6350" cap="rnd">
            <a:solidFill>
              <a:srgbClr val="0B2545">
                <a:alpha val="1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mon-1"/>
          <p:cNvSpPr txBox="1"/>
          <p:nvPr/>
        </p:nvSpPr>
        <p:spPr>
          <a:xfrm>
            <a:off x="4005157" y="1622266"/>
            <a:ext cx="2393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1月</a:t>
            </a:r>
          </a:p>
        </p:txBody>
      </p:sp>
      <p:cxnSp>
        <p:nvCxnSpPr>
          <p:cNvPr id="12" name="grid-1"/>
          <p:cNvCxnSpPr/>
          <p:nvPr/>
        </p:nvCxnSpPr>
        <p:spPr>
          <a:xfrm>
            <a:off x="4439708" y="1816100"/>
            <a:ext cx="0" cy="35814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on-2"/>
          <p:cNvSpPr txBox="1"/>
          <p:nvPr/>
        </p:nvSpPr>
        <p:spPr>
          <a:xfrm>
            <a:off x="4634865" y="1622266"/>
            <a:ext cx="2393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2月</a:t>
            </a:r>
          </a:p>
        </p:txBody>
      </p:sp>
      <p:cxnSp>
        <p:nvCxnSpPr>
          <p:cNvPr id="14" name="grid-2"/>
          <p:cNvCxnSpPr/>
          <p:nvPr/>
        </p:nvCxnSpPr>
        <p:spPr>
          <a:xfrm>
            <a:off x="5069417" y="1816100"/>
            <a:ext cx="0" cy="35814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mon-3"/>
          <p:cNvSpPr txBox="1"/>
          <p:nvPr/>
        </p:nvSpPr>
        <p:spPr>
          <a:xfrm>
            <a:off x="5264573" y="1622266"/>
            <a:ext cx="2393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3月</a:t>
            </a:r>
          </a:p>
        </p:txBody>
      </p:sp>
      <p:cxnSp>
        <p:nvCxnSpPr>
          <p:cNvPr id="16" name="grid-3"/>
          <p:cNvCxnSpPr/>
          <p:nvPr/>
        </p:nvCxnSpPr>
        <p:spPr>
          <a:xfrm>
            <a:off x="5699125" y="1816100"/>
            <a:ext cx="0" cy="3581400"/>
          </a:xfrm>
          <a:prstGeom prst="line">
            <a:avLst/>
          </a:prstGeom>
          <a:ln w="6350" cap="rnd">
            <a:solidFill>
              <a:srgbClr val="0B2545">
                <a:alpha val="1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mon-4"/>
          <p:cNvSpPr txBox="1"/>
          <p:nvPr/>
        </p:nvSpPr>
        <p:spPr>
          <a:xfrm>
            <a:off x="5894282" y="1622266"/>
            <a:ext cx="2393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4月</a:t>
            </a:r>
          </a:p>
        </p:txBody>
      </p:sp>
      <p:cxnSp>
        <p:nvCxnSpPr>
          <p:cNvPr id="18" name="grid-4"/>
          <p:cNvCxnSpPr/>
          <p:nvPr/>
        </p:nvCxnSpPr>
        <p:spPr>
          <a:xfrm>
            <a:off x="6328833" y="1816100"/>
            <a:ext cx="0" cy="35814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mon-5"/>
          <p:cNvSpPr txBox="1"/>
          <p:nvPr/>
        </p:nvSpPr>
        <p:spPr>
          <a:xfrm>
            <a:off x="6523990" y="1622266"/>
            <a:ext cx="2393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5月</a:t>
            </a:r>
          </a:p>
        </p:txBody>
      </p:sp>
      <p:cxnSp>
        <p:nvCxnSpPr>
          <p:cNvPr id="20" name="grid-5"/>
          <p:cNvCxnSpPr/>
          <p:nvPr/>
        </p:nvCxnSpPr>
        <p:spPr>
          <a:xfrm>
            <a:off x="6958542" y="1816100"/>
            <a:ext cx="0" cy="35814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mon-6"/>
          <p:cNvSpPr txBox="1"/>
          <p:nvPr/>
        </p:nvSpPr>
        <p:spPr>
          <a:xfrm>
            <a:off x="7153698" y="1622266"/>
            <a:ext cx="2393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6月</a:t>
            </a:r>
          </a:p>
        </p:txBody>
      </p:sp>
      <p:cxnSp>
        <p:nvCxnSpPr>
          <p:cNvPr id="22" name="grid-6"/>
          <p:cNvCxnSpPr/>
          <p:nvPr/>
        </p:nvCxnSpPr>
        <p:spPr>
          <a:xfrm>
            <a:off x="7588250" y="1816100"/>
            <a:ext cx="0" cy="3581400"/>
          </a:xfrm>
          <a:prstGeom prst="line">
            <a:avLst/>
          </a:prstGeom>
          <a:ln w="6350" cap="rnd">
            <a:solidFill>
              <a:srgbClr val="0B2545">
                <a:alpha val="1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mon-7"/>
          <p:cNvSpPr txBox="1"/>
          <p:nvPr/>
        </p:nvSpPr>
        <p:spPr>
          <a:xfrm>
            <a:off x="7783407" y="1622266"/>
            <a:ext cx="2393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7月</a:t>
            </a:r>
          </a:p>
        </p:txBody>
      </p:sp>
      <p:cxnSp>
        <p:nvCxnSpPr>
          <p:cNvPr id="24" name="grid-7"/>
          <p:cNvCxnSpPr/>
          <p:nvPr/>
        </p:nvCxnSpPr>
        <p:spPr>
          <a:xfrm>
            <a:off x="8217958" y="1816100"/>
            <a:ext cx="0" cy="35814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mon-8"/>
          <p:cNvSpPr txBox="1"/>
          <p:nvPr/>
        </p:nvSpPr>
        <p:spPr>
          <a:xfrm>
            <a:off x="8413115" y="1622266"/>
            <a:ext cx="2393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8月</a:t>
            </a:r>
          </a:p>
        </p:txBody>
      </p:sp>
      <p:cxnSp>
        <p:nvCxnSpPr>
          <p:cNvPr id="26" name="grid-8"/>
          <p:cNvCxnSpPr/>
          <p:nvPr/>
        </p:nvCxnSpPr>
        <p:spPr>
          <a:xfrm>
            <a:off x="8847667" y="1816100"/>
            <a:ext cx="0" cy="35814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mon-9"/>
          <p:cNvSpPr txBox="1"/>
          <p:nvPr/>
        </p:nvSpPr>
        <p:spPr>
          <a:xfrm>
            <a:off x="9042823" y="1622266"/>
            <a:ext cx="2393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9月</a:t>
            </a:r>
          </a:p>
        </p:txBody>
      </p:sp>
      <p:cxnSp>
        <p:nvCxnSpPr>
          <p:cNvPr id="28" name="grid-9"/>
          <p:cNvCxnSpPr/>
          <p:nvPr/>
        </p:nvCxnSpPr>
        <p:spPr>
          <a:xfrm>
            <a:off x="9477375" y="1816100"/>
            <a:ext cx="0" cy="3581400"/>
          </a:xfrm>
          <a:prstGeom prst="line">
            <a:avLst/>
          </a:prstGeom>
          <a:ln w="6350" cap="rnd">
            <a:solidFill>
              <a:srgbClr val="0B2545">
                <a:alpha val="1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mon-10"/>
          <p:cNvSpPr txBox="1"/>
          <p:nvPr/>
        </p:nvSpPr>
        <p:spPr>
          <a:xfrm>
            <a:off x="9644592" y="1622266"/>
            <a:ext cx="2952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10月</a:t>
            </a:r>
          </a:p>
        </p:txBody>
      </p:sp>
      <p:cxnSp>
        <p:nvCxnSpPr>
          <p:cNvPr id="30" name="grid-10"/>
          <p:cNvCxnSpPr/>
          <p:nvPr/>
        </p:nvCxnSpPr>
        <p:spPr>
          <a:xfrm>
            <a:off x="10107083" y="1816100"/>
            <a:ext cx="0" cy="35814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mon-11"/>
          <p:cNvSpPr txBox="1"/>
          <p:nvPr/>
        </p:nvSpPr>
        <p:spPr>
          <a:xfrm>
            <a:off x="10274300" y="1622266"/>
            <a:ext cx="2952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11月</a:t>
            </a:r>
          </a:p>
        </p:txBody>
      </p:sp>
      <p:cxnSp>
        <p:nvCxnSpPr>
          <p:cNvPr id="32" name="grid-11"/>
          <p:cNvCxnSpPr/>
          <p:nvPr/>
        </p:nvCxnSpPr>
        <p:spPr>
          <a:xfrm>
            <a:off x="10736792" y="1816100"/>
            <a:ext cx="0" cy="35814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mon-12"/>
          <p:cNvSpPr txBox="1"/>
          <p:nvPr/>
        </p:nvSpPr>
        <p:spPr>
          <a:xfrm>
            <a:off x="10904008" y="1622266"/>
            <a:ext cx="2952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12月</a:t>
            </a:r>
          </a:p>
        </p:txBody>
      </p:sp>
      <p:cxnSp>
        <p:nvCxnSpPr>
          <p:cNvPr id="34" name="grid-12"/>
          <p:cNvCxnSpPr/>
          <p:nvPr/>
        </p:nvCxnSpPr>
        <p:spPr>
          <a:xfrm>
            <a:off x="11366500" y="1816100"/>
            <a:ext cx="0" cy="3581400"/>
          </a:xfrm>
          <a:prstGeom prst="line">
            <a:avLst/>
          </a:prstGeom>
          <a:ln w="6350" cap="rnd">
            <a:solidFill>
              <a:srgbClr val="0B2545">
                <a:alpha val="1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now-line"/>
          <p:cNvCxnSpPr/>
          <p:nvPr/>
        </p:nvCxnSpPr>
        <p:spPr>
          <a:xfrm>
            <a:off x="9729258" y="1651000"/>
            <a:ext cx="0" cy="3810000"/>
          </a:xfrm>
          <a:prstGeom prst="line">
            <a:avLst/>
          </a:prstGeom>
          <a:ln w="10160" cap="rnd">
            <a:solidFill>
              <a:srgbClr val="E0703A">
                <a:alpha val="7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now-tag"/>
          <p:cNvSpPr/>
          <p:nvPr/>
        </p:nvSpPr>
        <p:spPr>
          <a:xfrm>
            <a:off x="9437180" y="1473200"/>
            <a:ext cx="584200" cy="203200"/>
          </a:xfrm>
          <a:custGeom>
            <a:avLst/>
            <a:gdLst/>
            <a:ahLst/>
            <a:cxnLst/>
            <a:rect l="0" t="0" r="r" b="b"/>
            <a:pathLst>
              <a:path w="584200" h="203200">
                <a:moveTo>
                  <a:pt x="101600" y="0"/>
                </a:moveTo>
                <a:lnTo>
                  <a:pt x="482600" y="0"/>
                </a:lnTo>
                <a:cubicBezTo>
                  <a:pt x="538670" y="0"/>
                  <a:pt x="584200" y="45466"/>
                  <a:pt x="584200" y="101600"/>
                </a:cubicBezTo>
                <a:lnTo>
                  <a:pt x="584200" y="101600"/>
                </a:lnTo>
                <a:cubicBezTo>
                  <a:pt x="584200" y="157734"/>
                  <a:pt x="538670" y="203200"/>
                  <a:pt x="4826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now-t"/>
          <p:cNvSpPr txBox="1"/>
          <p:nvPr/>
        </p:nvSpPr>
        <p:spPr>
          <a:xfrm>
            <a:off x="9581621" y="1495266"/>
            <a:ext cx="2952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7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当前</a:t>
            </a:r>
          </a:p>
        </p:txBody>
      </p:sp>
      <p:sp>
        <p:nvSpPr>
          <p:cNvPr id="38" name="t-1"/>
          <p:cNvSpPr txBox="1"/>
          <p:nvPr/>
        </p:nvSpPr>
        <p:spPr>
          <a:xfrm>
            <a:off x="938403" y="2052018"/>
            <a:ext cx="954722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需求调研与立项</a:t>
            </a:r>
          </a:p>
        </p:txBody>
      </p:sp>
      <p:sp>
        <p:nvSpPr>
          <p:cNvPr id="39" name="d-1"/>
          <p:cNvSpPr txBox="1"/>
          <p:nvPr/>
        </p:nvSpPr>
        <p:spPr>
          <a:xfrm>
            <a:off x="941832" y="2252408"/>
            <a:ext cx="35242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战略部</a:t>
            </a:r>
          </a:p>
        </p:txBody>
      </p:sp>
      <p:cxnSp>
        <p:nvCxnSpPr>
          <p:cNvPr id="40" name="guide-1"/>
          <p:cNvCxnSpPr/>
          <p:nvPr/>
        </p:nvCxnSpPr>
        <p:spPr>
          <a:xfrm>
            <a:off x="1898650" y="2197100"/>
            <a:ext cx="1631950" cy="0"/>
          </a:xfrm>
          <a:prstGeom prst="line">
            <a:avLst/>
          </a:prstGeom>
          <a:ln w="6350" cap="rnd">
            <a:solidFill>
              <a:srgbClr val="0B2545">
                <a:alpha val="1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dot-1"/>
          <p:cNvSpPr/>
          <p:nvPr/>
        </p:nvSpPr>
        <p:spPr>
          <a:xfrm>
            <a:off x="3562350" y="2152650"/>
            <a:ext cx="63500" cy="635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bar-bg-1"/>
          <p:cNvSpPr/>
          <p:nvPr/>
        </p:nvSpPr>
        <p:spPr>
          <a:xfrm>
            <a:off x="3835400" y="2076450"/>
            <a:ext cx="1838325" cy="215900"/>
          </a:xfrm>
          <a:custGeom>
            <a:avLst/>
            <a:gdLst/>
            <a:ahLst/>
            <a:cxnLst/>
            <a:rect l="0" t="0" r="r" b="b"/>
            <a:pathLst>
              <a:path w="1838325" h="215900">
                <a:moveTo>
                  <a:pt x="107950" y="0"/>
                </a:moveTo>
                <a:lnTo>
                  <a:pt x="1730375" y="0"/>
                </a:lnTo>
                <a:cubicBezTo>
                  <a:pt x="1790002" y="0"/>
                  <a:pt x="1838325" y="48324"/>
                  <a:pt x="1838325" y="107950"/>
                </a:cubicBezTo>
                <a:lnTo>
                  <a:pt x="1838325" y="107950"/>
                </a:lnTo>
                <a:cubicBezTo>
                  <a:pt x="1838325" y="167576"/>
                  <a:pt x="1790002" y="215900"/>
                  <a:pt x="1730375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0B3E8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bar-1"/>
          <p:cNvSpPr/>
          <p:nvPr/>
        </p:nvSpPr>
        <p:spPr>
          <a:xfrm>
            <a:off x="3835400" y="2076450"/>
            <a:ext cx="1838325" cy="215900"/>
          </a:xfrm>
          <a:custGeom>
            <a:avLst/>
            <a:gdLst/>
            <a:ahLst/>
            <a:cxnLst/>
            <a:rect l="0" t="0" r="r" b="b"/>
            <a:pathLst>
              <a:path w="1838325" h="215900">
                <a:moveTo>
                  <a:pt x="107950" y="0"/>
                </a:moveTo>
                <a:lnTo>
                  <a:pt x="1730375" y="0"/>
                </a:lnTo>
                <a:cubicBezTo>
                  <a:pt x="1790002" y="0"/>
                  <a:pt x="1838325" y="48324"/>
                  <a:pt x="1838325" y="107950"/>
                </a:cubicBezTo>
                <a:lnTo>
                  <a:pt x="1838325" y="107950"/>
                </a:lnTo>
                <a:cubicBezTo>
                  <a:pt x="1838325" y="167576"/>
                  <a:pt x="1790002" y="215900"/>
                  <a:pt x="1730375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gradFill rotWithShape="1">
            <a:gsLst>
              <a:gs pos="0">
                <a:srgbClr val="325DA1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pct-1"/>
          <p:cNvSpPr txBox="1"/>
          <p:nvPr/>
        </p:nvSpPr>
        <p:spPr>
          <a:xfrm>
            <a:off x="5306758" y="2108787"/>
            <a:ext cx="289116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100%</a:t>
            </a:r>
          </a:p>
        </p:txBody>
      </p:sp>
      <p:sp>
        <p:nvSpPr>
          <p:cNvPr id="45" name="ms-1"/>
          <p:cNvSpPr/>
          <p:nvPr/>
        </p:nvSpPr>
        <p:spPr>
          <a:xfrm>
            <a:off x="5602174" y="1901539"/>
            <a:ext cx="117701" cy="105061"/>
          </a:xfrm>
          <a:custGeom>
            <a:avLst/>
            <a:gdLst/>
            <a:ahLst/>
            <a:cxnLst/>
            <a:rect l="0" t="0" r="r" b="b"/>
            <a:pathLst>
              <a:path w="117701" h="105061">
                <a:moveTo>
                  <a:pt x="48183" y="9239"/>
                </a:moveTo>
                <a:quadBezTo>
                  <a:pt x="58851" y="-9239"/>
                  <a:pt x="69519" y="9239"/>
                </a:quadBezTo>
                <a:lnTo>
                  <a:pt x="114159" y="86582"/>
                </a:lnTo>
                <a:quadBezTo>
                  <a:pt x="124827" y="105061"/>
                  <a:pt x="103491" y="105061"/>
                </a:quadBezTo>
                <a:lnTo>
                  <a:pt x="14210" y="105061"/>
                </a:lnTo>
                <a:quadBezTo>
                  <a:pt x="-7126" y="105061"/>
                  <a:pt x="3542" y="86582"/>
                </a:quad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t-2"/>
          <p:cNvSpPr txBox="1"/>
          <p:nvPr/>
        </p:nvSpPr>
        <p:spPr>
          <a:xfrm>
            <a:off x="938403" y="2636218"/>
            <a:ext cx="83343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平台架构设计</a:t>
            </a:r>
          </a:p>
        </p:txBody>
      </p:sp>
      <p:sp>
        <p:nvSpPr>
          <p:cNvPr id="47" name="d-2"/>
          <p:cNvSpPr txBox="1"/>
          <p:nvPr/>
        </p:nvSpPr>
        <p:spPr>
          <a:xfrm>
            <a:off x="941832" y="2836608"/>
            <a:ext cx="4432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研发中心</a:t>
            </a:r>
          </a:p>
        </p:txBody>
      </p:sp>
      <p:cxnSp>
        <p:nvCxnSpPr>
          <p:cNvPr id="48" name="guide-2"/>
          <p:cNvCxnSpPr/>
          <p:nvPr/>
        </p:nvCxnSpPr>
        <p:spPr>
          <a:xfrm>
            <a:off x="1778000" y="2781300"/>
            <a:ext cx="1752600" cy="0"/>
          </a:xfrm>
          <a:prstGeom prst="line">
            <a:avLst/>
          </a:prstGeom>
          <a:ln w="6350" cap="rnd">
            <a:solidFill>
              <a:srgbClr val="0B2545">
                <a:alpha val="1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dot-2"/>
          <p:cNvSpPr/>
          <p:nvPr/>
        </p:nvSpPr>
        <p:spPr>
          <a:xfrm>
            <a:off x="3562350" y="2736850"/>
            <a:ext cx="63500" cy="635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bar-bg-2"/>
          <p:cNvSpPr/>
          <p:nvPr/>
        </p:nvSpPr>
        <p:spPr>
          <a:xfrm>
            <a:off x="4465130" y="2660650"/>
            <a:ext cx="2467991" cy="215900"/>
          </a:xfrm>
          <a:custGeom>
            <a:avLst/>
            <a:gdLst/>
            <a:ahLst/>
            <a:cxnLst/>
            <a:rect l="0" t="0" r="r" b="b"/>
            <a:pathLst>
              <a:path w="2467991" h="215900">
                <a:moveTo>
                  <a:pt x="107950" y="0"/>
                </a:moveTo>
                <a:lnTo>
                  <a:pt x="2360041" y="0"/>
                </a:lnTo>
                <a:cubicBezTo>
                  <a:pt x="2419668" y="0"/>
                  <a:pt x="2467991" y="48324"/>
                  <a:pt x="2467991" y="107950"/>
                </a:cubicBezTo>
                <a:lnTo>
                  <a:pt x="2467991" y="107950"/>
                </a:lnTo>
                <a:cubicBezTo>
                  <a:pt x="2467991" y="167576"/>
                  <a:pt x="2419668" y="215900"/>
                  <a:pt x="2360041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134C9C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bar-2"/>
          <p:cNvSpPr/>
          <p:nvPr/>
        </p:nvSpPr>
        <p:spPr>
          <a:xfrm>
            <a:off x="4465130" y="2660650"/>
            <a:ext cx="2467991" cy="215900"/>
          </a:xfrm>
          <a:custGeom>
            <a:avLst/>
            <a:gdLst/>
            <a:ahLst/>
            <a:cxnLst/>
            <a:rect l="0" t="0" r="r" b="b"/>
            <a:pathLst>
              <a:path w="2467991" h="215900">
                <a:moveTo>
                  <a:pt x="107950" y="0"/>
                </a:moveTo>
                <a:lnTo>
                  <a:pt x="2360041" y="0"/>
                </a:lnTo>
                <a:cubicBezTo>
                  <a:pt x="2419668" y="0"/>
                  <a:pt x="2467991" y="48324"/>
                  <a:pt x="2467991" y="107950"/>
                </a:cubicBezTo>
                <a:lnTo>
                  <a:pt x="2467991" y="107950"/>
                </a:lnTo>
                <a:cubicBezTo>
                  <a:pt x="2467991" y="167576"/>
                  <a:pt x="2419668" y="215900"/>
                  <a:pt x="2360041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gradFill rotWithShape="1">
            <a:gsLst>
              <a:gs pos="0">
                <a:srgbClr val="3969AC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pct-2"/>
          <p:cNvSpPr txBox="1"/>
          <p:nvPr/>
        </p:nvSpPr>
        <p:spPr>
          <a:xfrm>
            <a:off x="6566175" y="2692987"/>
            <a:ext cx="289116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100%</a:t>
            </a:r>
          </a:p>
        </p:txBody>
      </p:sp>
      <p:sp>
        <p:nvSpPr>
          <p:cNvPr id="53" name="ms-2"/>
          <p:cNvSpPr/>
          <p:nvPr/>
        </p:nvSpPr>
        <p:spPr>
          <a:xfrm>
            <a:off x="6861570" y="2485739"/>
            <a:ext cx="117765" cy="105061"/>
          </a:xfrm>
          <a:custGeom>
            <a:avLst/>
            <a:gdLst/>
            <a:ahLst/>
            <a:cxnLst/>
            <a:rect l="0" t="0" r="r" b="b"/>
            <a:pathLst>
              <a:path w="117765" h="105061">
                <a:moveTo>
                  <a:pt x="48183" y="9239"/>
                </a:moveTo>
                <a:quadBezTo>
                  <a:pt x="58851" y="-9239"/>
                  <a:pt x="69519" y="9239"/>
                </a:quadBezTo>
                <a:lnTo>
                  <a:pt x="114223" y="86582"/>
                </a:lnTo>
                <a:quadBezTo>
                  <a:pt x="124891" y="105061"/>
                  <a:pt x="103555" y="105061"/>
                </a:quadBezTo>
                <a:lnTo>
                  <a:pt x="14210" y="105061"/>
                </a:lnTo>
                <a:quadBezTo>
                  <a:pt x="-7126" y="105061"/>
                  <a:pt x="3542" y="86582"/>
                </a:quad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t-3"/>
          <p:cNvSpPr txBox="1"/>
          <p:nvPr/>
        </p:nvSpPr>
        <p:spPr>
          <a:xfrm>
            <a:off x="938403" y="3220418"/>
            <a:ext cx="83343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核心模块开发</a:t>
            </a:r>
          </a:p>
        </p:txBody>
      </p:sp>
      <p:sp>
        <p:nvSpPr>
          <p:cNvPr id="55" name="d-3"/>
          <p:cNvSpPr txBox="1"/>
          <p:nvPr/>
        </p:nvSpPr>
        <p:spPr>
          <a:xfrm>
            <a:off x="941832" y="3420808"/>
            <a:ext cx="4432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研发中心</a:t>
            </a:r>
          </a:p>
        </p:txBody>
      </p:sp>
      <p:cxnSp>
        <p:nvCxnSpPr>
          <p:cNvPr id="56" name="guide-3"/>
          <p:cNvCxnSpPr/>
          <p:nvPr/>
        </p:nvCxnSpPr>
        <p:spPr>
          <a:xfrm>
            <a:off x="1778000" y="3365500"/>
            <a:ext cx="1752600" cy="0"/>
          </a:xfrm>
          <a:prstGeom prst="line">
            <a:avLst/>
          </a:prstGeom>
          <a:ln w="6350" cap="rnd">
            <a:solidFill>
              <a:srgbClr val="0B2545">
                <a:alpha val="1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7" name="dot-3"/>
          <p:cNvSpPr/>
          <p:nvPr/>
        </p:nvSpPr>
        <p:spPr>
          <a:xfrm>
            <a:off x="3562350" y="3321050"/>
            <a:ext cx="63500" cy="63500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bar-bg-3"/>
          <p:cNvSpPr/>
          <p:nvPr/>
        </p:nvSpPr>
        <p:spPr>
          <a:xfrm>
            <a:off x="5724525" y="3244850"/>
            <a:ext cx="3727450" cy="215900"/>
          </a:xfrm>
          <a:custGeom>
            <a:avLst/>
            <a:gdLst/>
            <a:ahLst/>
            <a:cxnLst/>
            <a:rect l="0" t="0" r="r" b="b"/>
            <a:pathLst>
              <a:path w="3727450" h="215900">
                <a:moveTo>
                  <a:pt x="107950" y="0"/>
                </a:moveTo>
                <a:lnTo>
                  <a:pt x="3619500" y="0"/>
                </a:lnTo>
                <a:cubicBezTo>
                  <a:pt x="3679127" y="0"/>
                  <a:pt x="3727450" y="48324"/>
                  <a:pt x="3727450" y="107950"/>
                </a:cubicBezTo>
                <a:lnTo>
                  <a:pt x="3727450" y="107950"/>
                </a:lnTo>
                <a:cubicBezTo>
                  <a:pt x="3727450" y="167576"/>
                  <a:pt x="3679127" y="215900"/>
                  <a:pt x="3619500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2468B6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bar-3"/>
          <p:cNvSpPr/>
          <p:nvPr/>
        </p:nvSpPr>
        <p:spPr>
          <a:xfrm>
            <a:off x="5724525" y="3244850"/>
            <a:ext cx="2683764" cy="215900"/>
          </a:xfrm>
          <a:custGeom>
            <a:avLst/>
            <a:gdLst/>
            <a:ahLst/>
            <a:cxnLst/>
            <a:rect l="0" t="0" r="r" b="b"/>
            <a:pathLst>
              <a:path w="2683764" h="215900">
                <a:moveTo>
                  <a:pt x="107950" y="0"/>
                </a:moveTo>
                <a:lnTo>
                  <a:pt x="2575814" y="0"/>
                </a:lnTo>
                <a:cubicBezTo>
                  <a:pt x="2635440" y="0"/>
                  <a:pt x="2683764" y="48324"/>
                  <a:pt x="2683764" y="107950"/>
                </a:cubicBezTo>
                <a:lnTo>
                  <a:pt x="2683764" y="107950"/>
                </a:lnTo>
                <a:cubicBezTo>
                  <a:pt x="2683764" y="167576"/>
                  <a:pt x="2635440" y="215900"/>
                  <a:pt x="2575814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gradFill rotWithShape="1">
            <a:gsLst>
              <a:gs pos="0">
                <a:srgbClr val="4780C2"/>
              </a:gs>
              <a:gs pos="100000">
                <a:srgbClr val="2468B6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pct-3"/>
          <p:cNvSpPr txBox="1"/>
          <p:nvPr/>
        </p:nvSpPr>
        <p:spPr>
          <a:xfrm>
            <a:off x="9136570" y="3277187"/>
            <a:ext cx="23755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72%</a:t>
            </a:r>
          </a:p>
        </p:txBody>
      </p:sp>
      <p:sp>
        <p:nvSpPr>
          <p:cNvPr id="61" name="t-4"/>
          <p:cNvSpPr txBox="1"/>
          <p:nvPr/>
        </p:nvSpPr>
        <p:spPr>
          <a:xfrm>
            <a:off x="938403" y="3804618"/>
            <a:ext cx="954722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数据迁移与联调</a:t>
            </a:r>
          </a:p>
        </p:txBody>
      </p:sp>
      <p:sp>
        <p:nvSpPr>
          <p:cNvPr id="62" name="d-4"/>
          <p:cNvSpPr txBox="1"/>
          <p:nvPr/>
        </p:nvSpPr>
        <p:spPr>
          <a:xfrm>
            <a:off x="941832" y="4005008"/>
            <a:ext cx="35242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数据部</a:t>
            </a:r>
          </a:p>
        </p:txBody>
      </p:sp>
      <p:cxnSp>
        <p:nvCxnSpPr>
          <p:cNvPr id="63" name="guide-4"/>
          <p:cNvCxnSpPr/>
          <p:nvPr/>
        </p:nvCxnSpPr>
        <p:spPr>
          <a:xfrm>
            <a:off x="1898650" y="3949700"/>
            <a:ext cx="1631950" cy="0"/>
          </a:xfrm>
          <a:prstGeom prst="line">
            <a:avLst/>
          </a:prstGeom>
          <a:ln w="6350" cap="rnd">
            <a:solidFill>
              <a:srgbClr val="0B2545">
                <a:alpha val="1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dot-4"/>
          <p:cNvSpPr/>
          <p:nvPr/>
        </p:nvSpPr>
        <p:spPr>
          <a:xfrm>
            <a:off x="3562350" y="3905250"/>
            <a:ext cx="63500" cy="635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bar-bg-4"/>
          <p:cNvSpPr/>
          <p:nvPr/>
        </p:nvSpPr>
        <p:spPr>
          <a:xfrm>
            <a:off x="7613650" y="3829050"/>
            <a:ext cx="2468055" cy="215900"/>
          </a:xfrm>
          <a:custGeom>
            <a:avLst/>
            <a:gdLst/>
            <a:ahLst/>
            <a:cxnLst/>
            <a:rect l="0" t="0" r="r" b="b"/>
            <a:pathLst>
              <a:path w="2468055" h="215900">
                <a:moveTo>
                  <a:pt x="107950" y="0"/>
                </a:moveTo>
                <a:lnTo>
                  <a:pt x="2360105" y="0"/>
                </a:lnTo>
                <a:cubicBezTo>
                  <a:pt x="2419731" y="0"/>
                  <a:pt x="2468055" y="48324"/>
                  <a:pt x="2468055" y="107950"/>
                </a:cubicBezTo>
                <a:lnTo>
                  <a:pt x="2468055" y="107950"/>
                </a:lnTo>
                <a:cubicBezTo>
                  <a:pt x="2468055" y="167576"/>
                  <a:pt x="2419731" y="215900"/>
                  <a:pt x="2360105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2E77C2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bar-4"/>
          <p:cNvSpPr/>
          <p:nvPr/>
        </p:nvSpPr>
        <p:spPr>
          <a:xfrm>
            <a:off x="7613650" y="3829050"/>
            <a:ext cx="937832" cy="215900"/>
          </a:xfrm>
          <a:custGeom>
            <a:avLst/>
            <a:gdLst/>
            <a:ahLst/>
            <a:cxnLst/>
            <a:rect l="0" t="0" r="r" b="b"/>
            <a:pathLst>
              <a:path w="937832" h="215900">
                <a:moveTo>
                  <a:pt x="107950" y="0"/>
                </a:moveTo>
                <a:lnTo>
                  <a:pt x="829882" y="0"/>
                </a:lnTo>
                <a:cubicBezTo>
                  <a:pt x="889508" y="0"/>
                  <a:pt x="937832" y="48324"/>
                  <a:pt x="937832" y="107950"/>
                </a:cubicBezTo>
                <a:lnTo>
                  <a:pt x="937832" y="107950"/>
                </a:lnTo>
                <a:cubicBezTo>
                  <a:pt x="937832" y="167576"/>
                  <a:pt x="889508" y="215900"/>
                  <a:pt x="829882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gradFill rotWithShape="1">
            <a:gsLst>
              <a:gs pos="0">
                <a:srgbClr val="4F8DCC"/>
              </a:gs>
              <a:gs pos="100000">
                <a:srgbClr val="2E77C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pct-4"/>
          <p:cNvSpPr txBox="1"/>
          <p:nvPr/>
        </p:nvSpPr>
        <p:spPr>
          <a:xfrm>
            <a:off x="9766279" y="3861387"/>
            <a:ext cx="23755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38%</a:t>
            </a:r>
          </a:p>
        </p:txBody>
      </p:sp>
      <p:sp>
        <p:nvSpPr>
          <p:cNvPr id="68" name="ms-4"/>
          <p:cNvSpPr/>
          <p:nvPr/>
        </p:nvSpPr>
        <p:spPr>
          <a:xfrm>
            <a:off x="10010090" y="3654139"/>
            <a:ext cx="117765" cy="105061"/>
          </a:xfrm>
          <a:custGeom>
            <a:avLst/>
            <a:gdLst/>
            <a:ahLst/>
            <a:cxnLst/>
            <a:rect l="0" t="0" r="r" b="b"/>
            <a:pathLst>
              <a:path w="117765" h="105061">
                <a:moveTo>
                  <a:pt x="48246" y="9239"/>
                </a:moveTo>
                <a:quadBezTo>
                  <a:pt x="58914" y="-9239"/>
                  <a:pt x="69582" y="9239"/>
                </a:quadBezTo>
                <a:lnTo>
                  <a:pt x="114223" y="86582"/>
                </a:lnTo>
                <a:quadBezTo>
                  <a:pt x="124891" y="105061"/>
                  <a:pt x="103555" y="105061"/>
                </a:quadBezTo>
                <a:lnTo>
                  <a:pt x="14210" y="105061"/>
                </a:lnTo>
                <a:quadBezTo>
                  <a:pt x="-7126" y="105061"/>
                  <a:pt x="3542" y="86582"/>
                </a:quad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t-5"/>
          <p:cNvSpPr txBox="1"/>
          <p:nvPr/>
        </p:nvSpPr>
        <p:spPr>
          <a:xfrm>
            <a:off x="938403" y="4388818"/>
            <a:ext cx="83343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试点上线运行</a:t>
            </a:r>
          </a:p>
        </p:txBody>
      </p:sp>
      <p:sp>
        <p:nvSpPr>
          <p:cNvPr id="70" name="d-5"/>
          <p:cNvSpPr txBox="1"/>
          <p:nvPr/>
        </p:nvSpPr>
        <p:spPr>
          <a:xfrm>
            <a:off x="941832" y="4589208"/>
            <a:ext cx="35242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运营部</a:t>
            </a:r>
          </a:p>
        </p:txBody>
      </p:sp>
      <p:cxnSp>
        <p:nvCxnSpPr>
          <p:cNvPr id="71" name="guide-5"/>
          <p:cNvCxnSpPr/>
          <p:nvPr/>
        </p:nvCxnSpPr>
        <p:spPr>
          <a:xfrm>
            <a:off x="1778000" y="4533900"/>
            <a:ext cx="1752600" cy="0"/>
          </a:xfrm>
          <a:prstGeom prst="line">
            <a:avLst/>
          </a:prstGeom>
          <a:ln w="6350" cap="rnd">
            <a:solidFill>
              <a:srgbClr val="0B2545">
                <a:alpha val="1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2" name="dot-5"/>
          <p:cNvSpPr/>
          <p:nvPr/>
        </p:nvSpPr>
        <p:spPr>
          <a:xfrm>
            <a:off x="3562350" y="4489450"/>
            <a:ext cx="63500" cy="63500"/>
          </a:xfrm>
          <a:prstGeom prst="ellipse">
            <a:avLst/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bar-bg-5"/>
          <p:cNvSpPr/>
          <p:nvPr/>
        </p:nvSpPr>
        <p:spPr>
          <a:xfrm>
            <a:off x="8873046" y="4413250"/>
            <a:ext cx="1838325" cy="215900"/>
          </a:xfrm>
          <a:custGeom>
            <a:avLst/>
            <a:gdLst/>
            <a:ahLst/>
            <a:cxnLst/>
            <a:rect l="0" t="0" r="r" b="b"/>
            <a:pathLst>
              <a:path w="1838325" h="215900">
                <a:moveTo>
                  <a:pt x="107950" y="0"/>
                </a:moveTo>
                <a:lnTo>
                  <a:pt x="1730375" y="0"/>
                </a:lnTo>
                <a:cubicBezTo>
                  <a:pt x="1790002" y="0"/>
                  <a:pt x="1838325" y="48324"/>
                  <a:pt x="1838325" y="107950"/>
                </a:cubicBezTo>
                <a:lnTo>
                  <a:pt x="1838325" y="107950"/>
                </a:lnTo>
                <a:cubicBezTo>
                  <a:pt x="1838325" y="167576"/>
                  <a:pt x="1790002" y="215900"/>
                  <a:pt x="1730375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4694D7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bar-5"/>
          <p:cNvSpPr/>
          <p:nvPr/>
        </p:nvSpPr>
        <p:spPr>
          <a:xfrm>
            <a:off x="8873046" y="4413250"/>
            <a:ext cx="220599" cy="215900"/>
          </a:xfrm>
          <a:custGeom>
            <a:avLst/>
            <a:gdLst/>
            <a:ahLst/>
            <a:cxnLst/>
            <a:rect l="0" t="0" r="r" b="b"/>
            <a:pathLst>
              <a:path w="220599" h="215900">
                <a:moveTo>
                  <a:pt x="107950" y="0"/>
                </a:moveTo>
                <a:lnTo>
                  <a:pt x="112649" y="0"/>
                </a:lnTo>
                <a:cubicBezTo>
                  <a:pt x="172276" y="0"/>
                  <a:pt x="220599" y="48324"/>
                  <a:pt x="220599" y="107950"/>
                </a:cubicBezTo>
                <a:lnTo>
                  <a:pt x="220599" y="107950"/>
                </a:lnTo>
                <a:cubicBezTo>
                  <a:pt x="220599" y="167576"/>
                  <a:pt x="172276" y="215900"/>
                  <a:pt x="112649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gradFill rotWithShape="1">
            <a:gsLst>
              <a:gs pos="0">
                <a:srgbClr val="64A5DD"/>
              </a:gs>
              <a:gs pos="100000">
                <a:srgbClr val="4694D7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pct-5"/>
          <p:cNvSpPr txBox="1"/>
          <p:nvPr/>
        </p:nvSpPr>
        <p:spPr>
          <a:xfrm>
            <a:off x="10395987" y="4445587"/>
            <a:ext cx="23755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>
                <a:solidFill>
                  <a:srgbClr val="4694D7"/>
                </a:solidFill>
                <a:latin typeface="Arial"/>
                <a:ea typeface="Arial"/>
                <a:cs typeface="Arial"/>
              </a:rPr>
              <a:t>12%</a:t>
            </a:r>
          </a:p>
        </p:txBody>
      </p:sp>
      <p:sp>
        <p:nvSpPr>
          <p:cNvPr id="76" name="t-6"/>
          <p:cNvSpPr txBox="1"/>
          <p:nvPr/>
        </p:nvSpPr>
        <p:spPr>
          <a:xfrm>
            <a:off x="938403" y="4973018"/>
            <a:ext cx="954722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全面推广与培训</a:t>
            </a:r>
          </a:p>
        </p:txBody>
      </p:sp>
      <p:sp>
        <p:nvSpPr>
          <p:cNvPr id="77" name="d-6"/>
          <p:cNvSpPr txBox="1"/>
          <p:nvPr/>
        </p:nvSpPr>
        <p:spPr>
          <a:xfrm>
            <a:off x="941832" y="5173408"/>
            <a:ext cx="35242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人力部</a:t>
            </a:r>
          </a:p>
        </p:txBody>
      </p:sp>
      <p:cxnSp>
        <p:nvCxnSpPr>
          <p:cNvPr id="78" name="guide-6"/>
          <p:cNvCxnSpPr/>
          <p:nvPr/>
        </p:nvCxnSpPr>
        <p:spPr>
          <a:xfrm>
            <a:off x="1898650" y="5118100"/>
            <a:ext cx="1631950" cy="0"/>
          </a:xfrm>
          <a:prstGeom prst="line">
            <a:avLst/>
          </a:prstGeom>
          <a:ln w="6350" cap="rnd">
            <a:solidFill>
              <a:srgbClr val="0B2545">
                <a:alpha val="1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dot-6"/>
          <p:cNvSpPr/>
          <p:nvPr/>
        </p:nvSpPr>
        <p:spPr>
          <a:xfrm>
            <a:off x="3562350" y="5073650"/>
            <a:ext cx="63500" cy="63500"/>
          </a:xfrm>
          <a:prstGeom prst="ellipse">
            <a:avLst/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bar-bg-6"/>
          <p:cNvSpPr/>
          <p:nvPr/>
        </p:nvSpPr>
        <p:spPr>
          <a:xfrm>
            <a:off x="10132504" y="4997450"/>
            <a:ext cx="1208595" cy="215900"/>
          </a:xfrm>
          <a:custGeom>
            <a:avLst/>
            <a:gdLst/>
            <a:ahLst/>
            <a:cxnLst/>
            <a:rect l="0" t="0" r="r" b="b"/>
            <a:pathLst>
              <a:path w="1208595" h="215900">
                <a:moveTo>
                  <a:pt x="107950" y="0"/>
                </a:moveTo>
                <a:lnTo>
                  <a:pt x="1100645" y="0"/>
                </a:lnTo>
                <a:cubicBezTo>
                  <a:pt x="1160272" y="0"/>
                  <a:pt x="1208595" y="48324"/>
                  <a:pt x="1208595" y="107950"/>
                </a:cubicBezTo>
                <a:lnTo>
                  <a:pt x="1208595" y="107950"/>
                </a:lnTo>
                <a:cubicBezTo>
                  <a:pt x="1208595" y="167576"/>
                  <a:pt x="1160272" y="215900"/>
                  <a:pt x="1100645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54A2D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pct-6"/>
          <p:cNvSpPr txBox="1"/>
          <p:nvPr/>
        </p:nvSpPr>
        <p:spPr>
          <a:xfrm>
            <a:off x="11077258" y="5029787"/>
            <a:ext cx="1859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>
                <a:solidFill>
                  <a:srgbClr val="54A2DF"/>
                </a:solidFill>
                <a:latin typeface="Arial"/>
                <a:ea typeface="Arial"/>
                <a:cs typeface="Arial"/>
              </a:rPr>
              <a:t>0%</a:t>
            </a:r>
          </a:p>
        </p:txBody>
      </p:sp>
      <p:sp>
        <p:nvSpPr>
          <p:cNvPr id="82" name="ms-6"/>
          <p:cNvSpPr/>
          <p:nvPr/>
        </p:nvSpPr>
        <p:spPr>
          <a:xfrm>
            <a:off x="11269549" y="4822539"/>
            <a:ext cx="117701" cy="105061"/>
          </a:xfrm>
          <a:custGeom>
            <a:avLst/>
            <a:gdLst/>
            <a:ahLst/>
            <a:cxnLst/>
            <a:rect l="0" t="0" r="r" b="b"/>
            <a:pathLst>
              <a:path w="117701" h="105061">
                <a:moveTo>
                  <a:pt x="48183" y="9239"/>
                </a:moveTo>
                <a:quadBezTo>
                  <a:pt x="58851" y="-9239"/>
                  <a:pt x="69519" y="9239"/>
                </a:quadBezTo>
                <a:lnTo>
                  <a:pt x="114159" y="86582"/>
                </a:lnTo>
                <a:quadBezTo>
                  <a:pt x="124827" y="105061"/>
                  <a:pt x="103491" y="105061"/>
                </a:quadBezTo>
                <a:lnTo>
                  <a:pt x="14210" y="105061"/>
                </a:lnTo>
                <a:quadBezTo>
                  <a:pt x="-7126" y="105061"/>
                  <a:pt x="3542" y="86582"/>
                </a:quad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lg-panel"/>
          <p:cNvSpPr/>
          <p:nvPr/>
        </p:nvSpPr>
        <p:spPr>
          <a:xfrm>
            <a:off x="952500" y="5676900"/>
            <a:ext cx="10414000" cy="584200"/>
          </a:xfrm>
          <a:custGeom>
            <a:avLst/>
            <a:gdLst/>
            <a:ahLst/>
            <a:cxnLst/>
            <a:rect l="0" t="0" r="r" b="b"/>
            <a:pathLst>
              <a:path w="10414000" h="584200">
                <a:moveTo>
                  <a:pt x="101600" y="0"/>
                </a:moveTo>
                <a:lnTo>
                  <a:pt x="10312400" y="0"/>
                </a:lnTo>
                <a:cubicBezTo>
                  <a:pt x="10368534" y="0"/>
                  <a:pt x="10414000" y="45466"/>
                  <a:pt x="10414000" y="101600"/>
                </a:cubicBezTo>
                <a:lnTo>
                  <a:pt x="10414000" y="482600"/>
                </a:lnTo>
                <a:cubicBezTo>
                  <a:pt x="10414000" y="538734"/>
                  <a:pt x="10368534" y="584200"/>
                  <a:pt x="10312400" y="584200"/>
                </a:cubicBezTo>
                <a:lnTo>
                  <a:pt x="101600" y="584200"/>
                </a:lnTo>
                <a:cubicBezTo>
                  <a:pt x="45466" y="584200"/>
                  <a:pt x="0" y="538734"/>
                  <a:pt x="0" y="482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lg-1"/>
          <p:cNvSpPr/>
          <p:nvPr/>
        </p:nvSpPr>
        <p:spPr>
          <a:xfrm>
            <a:off x="1206500" y="5905500"/>
            <a:ext cx="279400" cy="127000"/>
          </a:xfrm>
          <a:custGeom>
            <a:avLst/>
            <a:gdLst/>
            <a:ahLst/>
            <a:cxnLst/>
            <a:rect l="0" t="0" r="r" b="b"/>
            <a:pathLst>
              <a:path w="279400" h="127000">
                <a:moveTo>
                  <a:pt x="63500" y="0"/>
                </a:moveTo>
                <a:lnTo>
                  <a:pt x="215900" y="0"/>
                </a:lnTo>
                <a:cubicBezTo>
                  <a:pt x="250952" y="0"/>
                  <a:pt x="279400" y="28448"/>
                  <a:pt x="279400" y="63500"/>
                </a:cubicBezTo>
                <a:lnTo>
                  <a:pt x="279400" y="63500"/>
                </a:lnTo>
                <a:cubicBezTo>
                  <a:pt x="279400" y="98552"/>
                  <a:pt x="250952" y="127000"/>
                  <a:pt x="2159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lg-t1"/>
          <p:cNvSpPr txBox="1"/>
          <p:nvPr/>
        </p:nvSpPr>
        <p:spPr>
          <a:xfrm>
            <a:off x="1562989" y="5885545"/>
            <a:ext cx="580708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已完成部分</a:t>
            </a:r>
          </a:p>
        </p:txBody>
      </p:sp>
      <p:sp>
        <p:nvSpPr>
          <p:cNvPr id="86" name="lg-2"/>
          <p:cNvSpPr/>
          <p:nvPr/>
        </p:nvSpPr>
        <p:spPr>
          <a:xfrm>
            <a:off x="2476500" y="5905500"/>
            <a:ext cx="279400" cy="127000"/>
          </a:xfrm>
          <a:custGeom>
            <a:avLst/>
            <a:gdLst/>
            <a:ahLst/>
            <a:cxnLst/>
            <a:rect l="0" t="0" r="r" b="b"/>
            <a:pathLst>
              <a:path w="279400" h="127000">
                <a:moveTo>
                  <a:pt x="63500" y="0"/>
                </a:moveTo>
                <a:lnTo>
                  <a:pt x="215900" y="0"/>
                </a:lnTo>
                <a:cubicBezTo>
                  <a:pt x="250952" y="0"/>
                  <a:pt x="279400" y="28448"/>
                  <a:pt x="279400" y="63500"/>
                </a:cubicBezTo>
                <a:lnTo>
                  <a:pt x="279400" y="63500"/>
                </a:lnTo>
                <a:cubicBezTo>
                  <a:pt x="279400" y="98552"/>
                  <a:pt x="250952" y="127000"/>
                  <a:pt x="2159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1B5AA8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lg-t2"/>
          <p:cNvSpPr txBox="1"/>
          <p:nvPr/>
        </p:nvSpPr>
        <p:spPr>
          <a:xfrm>
            <a:off x="2832989" y="5885545"/>
            <a:ext cx="48228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计划区间</a:t>
            </a:r>
          </a:p>
        </p:txBody>
      </p:sp>
      <p:sp>
        <p:nvSpPr>
          <p:cNvPr id="88" name="lg-3"/>
          <p:cNvSpPr/>
          <p:nvPr/>
        </p:nvSpPr>
        <p:spPr>
          <a:xfrm>
            <a:off x="3751149" y="5902039"/>
            <a:ext cx="117701" cy="105061"/>
          </a:xfrm>
          <a:custGeom>
            <a:avLst/>
            <a:gdLst/>
            <a:ahLst/>
            <a:cxnLst/>
            <a:rect l="0" t="0" r="r" b="b"/>
            <a:pathLst>
              <a:path w="117701" h="105061">
                <a:moveTo>
                  <a:pt x="48183" y="9239"/>
                </a:moveTo>
                <a:quadBezTo>
                  <a:pt x="58851" y="-9239"/>
                  <a:pt x="69519" y="9239"/>
                </a:quadBezTo>
                <a:lnTo>
                  <a:pt x="114159" y="86582"/>
                </a:lnTo>
                <a:quadBezTo>
                  <a:pt x="124827" y="105061"/>
                  <a:pt x="103491" y="105061"/>
                </a:quadBezTo>
                <a:lnTo>
                  <a:pt x="14210" y="105061"/>
                </a:lnTo>
                <a:quadBezTo>
                  <a:pt x="-7126" y="105061"/>
                  <a:pt x="3542" y="86582"/>
                </a:quad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lg-t3"/>
          <p:cNvSpPr txBox="1"/>
          <p:nvPr/>
        </p:nvSpPr>
        <p:spPr>
          <a:xfrm>
            <a:off x="3950589" y="5885545"/>
            <a:ext cx="580708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关键里程碑</a:t>
            </a:r>
          </a:p>
        </p:txBody>
      </p:sp>
      <p:sp>
        <p:nvSpPr>
          <p:cNvPr id="90" name="st-v-1"/>
          <p:cNvSpPr txBox="1"/>
          <p:nvPr/>
        </p:nvSpPr>
        <p:spPr>
          <a:xfrm>
            <a:off x="5695188" y="5803202"/>
            <a:ext cx="244221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6</a:t>
            </a:r>
          </a:p>
        </p:txBody>
      </p:sp>
      <p:sp>
        <p:nvSpPr>
          <p:cNvPr id="91" name="st-l-1"/>
          <p:cNvSpPr txBox="1"/>
          <p:nvPr/>
        </p:nvSpPr>
        <p:spPr>
          <a:xfrm>
            <a:off x="5900420" y="5889466"/>
            <a:ext cx="57150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项重点任务</a:t>
            </a:r>
          </a:p>
        </p:txBody>
      </p:sp>
      <p:sp>
        <p:nvSpPr>
          <p:cNvPr id="92" name="st-v-2"/>
          <p:cNvSpPr txBox="1"/>
          <p:nvPr/>
        </p:nvSpPr>
        <p:spPr>
          <a:xfrm>
            <a:off x="7600188" y="5803202"/>
            <a:ext cx="435483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54%</a:t>
            </a:r>
          </a:p>
        </p:txBody>
      </p:sp>
      <p:sp>
        <p:nvSpPr>
          <p:cNvPr id="93" name="st-l-2"/>
          <p:cNvSpPr txBox="1"/>
          <p:nvPr/>
        </p:nvSpPr>
        <p:spPr>
          <a:xfrm>
            <a:off x="8021320" y="5889466"/>
            <a:ext cx="66865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整体加权进度</a:t>
            </a:r>
          </a:p>
        </p:txBody>
      </p:sp>
      <p:sp>
        <p:nvSpPr>
          <p:cNvPr id="94" name="st-v-3"/>
          <p:cNvSpPr txBox="1"/>
          <p:nvPr/>
        </p:nvSpPr>
        <p:spPr>
          <a:xfrm>
            <a:off x="9505188" y="5803202"/>
            <a:ext cx="244221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95" name="st-l-3"/>
          <p:cNvSpPr txBox="1"/>
          <p:nvPr/>
        </p:nvSpPr>
        <p:spPr>
          <a:xfrm>
            <a:off x="9710420" y="5889466"/>
            <a:ext cx="76581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项存在延期风险</a:t>
            </a:r>
          </a:p>
        </p:txBody>
      </p:sp>
      <p:cxnSp>
        <p:nvCxnSpPr>
          <p:cNvPr id="96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7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任务排期 · 六项重点</a:t>
            </a:r>
          </a:p>
        </p:txBody>
      </p:sp>
      <p:sp>
        <p:nvSpPr>
          <p:cNvPr id="98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客户分层响应机制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2637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DECISION FLOW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894699" y="673132"/>
            <a:ext cx="27260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按订单规模与合作年限自动分流，匹配不同服务标准</a:t>
            </a:r>
          </a:p>
        </p:txBody>
      </p:sp>
      <p:sp>
        <p:nvSpPr>
          <p:cNvPr id="10" name="start"/>
          <p:cNvSpPr/>
          <p:nvPr/>
        </p:nvSpPr>
        <p:spPr>
          <a:xfrm>
            <a:off x="1270000" y="3302000"/>
            <a:ext cx="1905000" cy="698500"/>
          </a:xfrm>
          <a:custGeom>
            <a:avLst/>
            <a:gdLst/>
            <a:ahLst/>
            <a:cxnLst/>
            <a:rect l="0" t="0" r="r" b="b"/>
            <a:pathLst>
              <a:path w="1905000" h="698500">
                <a:moveTo>
                  <a:pt x="114300" y="0"/>
                </a:moveTo>
                <a:lnTo>
                  <a:pt x="1790700" y="0"/>
                </a:lnTo>
                <a:cubicBezTo>
                  <a:pt x="1853819" y="0"/>
                  <a:pt x="1905000" y="51181"/>
                  <a:pt x="1905000" y="114300"/>
                </a:cubicBezTo>
                <a:lnTo>
                  <a:pt x="1905000" y="584200"/>
                </a:lnTo>
                <a:cubicBezTo>
                  <a:pt x="1905000" y="647319"/>
                  <a:pt x="1853819" y="698500"/>
                  <a:pt x="1790700" y="698500"/>
                </a:cubicBezTo>
                <a:lnTo>
                  <a:pt x="114300" y="698500"/>
                </a:lnTo>
                <a:cubicBezTo>
                  <a:pt x="51181" y="698500"/>
                  <a:pt x="0" y="647319"/>
                  <a:pt x="0" y="5842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start-t"/>
          <p:cNvSpPr txBox="1"/>
          <p:nvPr/>
        </p:nvSpPr>
        <p:spPr>
          <a:xfrm>
            <a:off x="1454912" y="3431286"/>
            <a:ext cx="9626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新需求进入</a:t>
            </a:r>
          </a:p>
        </p:txBody>
      </p:sp>
      <p:sp>
        <p:nvSpPr>
          <p:cNvPr id="12" name="start-p"/>
          <p:cNvSpPr txBox="1"/>
          <p:nvPr/>
        </p:nvSpPr>
        <p:spPr>
          <a:xfrm>
            <a:off x="1462151" y="3696287"/>
            <a:ext cx="130460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C7DAF2"/>
                </a:solidFill>
                <a:latin typeface="微软雅黑"/>
                <a:ea typeface="微软雅黑"/>
                <a:cs typeface="微软雅黑"/>
              </a:rPr>
              <a:t>客户提交需求或销售录入线索</a:t>
            </a:r>
          </a:p>
        </p:txBody>
      </p:sp>
      <p:sp>
        <p:nvSpPr>
          <p:cNvPr id="13" name="s-link-1a"/>
          <p:cNvSpPr/>
          <p:nvPr/>
        </p:nvSpPr>
        <p:spPr>
          <a:xfrm>
            <a:off x="3175000" y="2603500"/>
            <a:ext cx="508000" cy="1047750"/>
          </a:xfrm>
          <a:custGeom>
            <a:avLst/>
            <a:gdLst/>
            <a:ahLst/>
            <a:cxnLst/>
            <a:rect l="0" t="0" r="r" b="b"/>
            <a:pathLst>
              <a:path w="508000" h="1047750">
                <a:moveTo>
                  <a:pt x="0" y="1047750"/>
                </a:moveTo>
                <a:lnTo>
                  <a:pt x="393700" y="1047750"/>
                </a:lnTo>
                <a:quadBezTo>
                  <a:pt x="508000" y="1047750"/>
                  <a:pt x="508000" y="933450"/>
                </a:quadBezTo>
                <a:lnTo>
                  <a:pt x="508000" y="0"/>
                </a:lnTo>
              </a:path>
            </a:pathLst>
          </a:custGeom>
          <a:noFill/>
          <a:ln w="9525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4" name="s-link-1b"/>
          <p:cNvCxnSpPr/>
          <p:nvPr/>
        </p:nvCxnSpPr>
        <p:spPr>
          <a:xfrm>
            <a:off x="3683000" y="2603500"/>
            <a:ext cx="406400" cy="0"/>
          </a:xfrm>
          <a:prstGeom prst="line">
            <a:avLst/>
          </a:prstGeom>
          <a:ln w="9525" cap="rnd">
            <a:solidFill>
              <a:srgbClr val="A9BBD0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s-arr-1"/>
          <p:cNvSpPr/>
          <p:nvPr/>
        </p:nvSpPr>
        <p:spPr>
          <a:xfrm>
            <a:off x="4019550" y="2565400"/>
            <a:ext cx="69850" cy="76200"/>
          </a:xfrm>
          <a:custGeom>
            <a:avLst/>
            <a:gdLst/>
            <a:ahLst/>
            <a:cxnLst/>
            <a:rect l="0" t="0" r="r" b="b"/>
            <a:pathLst>
              <a:path w="69850" h="76200">
                <a:moveTo>
                  <a:pt x="0" y="0"/>
                </a:moveTo>
                <a:lnTo>
                  <a:pt x="69850" y="38100"/>
                </a:lnTo>
                <a:lnTo>
                  <a:pt x="0" y="76200"/>
                </a:lnTo>
              </a:path>
            </a:pathLst>
          </a:custGeom>
          <a:noFill/>
          <a:ln w="1143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s-link-2a"/>
          <p:cNvSpPr/>
          <p:nvPr/>
        </p:nvSpPr>
        <p:spPr>
          <a:xfrm>
            <a:off x="3175000" y="3651250"/>
            <a:ext cx="508000" cy="1441450"/>
          </a:xfrm>
          <a:custGeom>
            <a:avLst/>
            <a:gdLst/>
            <a:ahLst/>
            <a:cxnLst/>
            <a:rect l="0" t="0" r="r" b="b"/>
            <a:pathLst>
              <a:path w="508000" h="1441450">
                <a:moveTo>
                  <a:pt x="0" y="0"/>
                </a:moveTo>
                <a:lnTo>
                  <a:pt x="393700" y="0"/>
                </a:lnTo>
                <a:quadBezTo>
                  <a:pt x="508000" y="0"/>
                  <a:pt x="508000" y="114300"/>
                </a:quadBezTo>
                <a:lnTo>
                  <a:pt x="508000" y="1441450"/>
                </a:lnTo>
              </a:path>
            </a:pathLst>
          </a:custGeom>
          <a:noFill/>
          <a:ln w="9525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7" name="s-link-2b"/>
          <p:cNvCxnSpPr/>
          <p:nvPr/>
        </p:nvCxnSpPr>
        <p:spPr>
          <a:xfrm>
            <a:off x="3683000" y="5092700"/>
            <a:ext cx="406400" cy="0"/>
          </a:xfrm>
          <a:prstGeom prst="line">
            <a:avLst/>
          </a:prstGeom>
          <a:ln w="9525" cap="rnd">
            <a:solidFill>
              <a:srgbClr val="A9BBD0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s-arr-2"/>
          <p:cNvSpPr/>
          <p:nvPr/>
        </p:nvSpPr>
        <p:spPr>
          <a:xfrm>
            <a:off x="4019550" y="5054600"/>
            <a:ext cx="69850" cy="76200"/>
          </a:xfrm>
          <a:custGeom>
            <a:avLst/>
            <a:gdLst/>
            <a:ahLst/>
            <a:cxnLst/>
            <a:rect l="0" t="0" r="r" b="b"/>
            <a:pathLst>
              <a:path w="69850" h="76200">
                <a:moveTo>
                  <a:pt x="0" y="0"/>
                </a:moveTo>
                <a:lnTo>
                  <a:pt x="69850" y="38100"/>
                </a:lnTo>
                <a:lnTo>
                  <a:pt x="0" y="76200"/>
                </a:lnTo>
              </a:path>
            </a:pathLst>
          </a:custGeom>
          <a:noFill/>
          <a:ln w="1143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cond-1"/>
          <p:cNvSpPr/>
          <p:nvPr/>
        </p:nvSpPr>
        <p:spPr>
          <a:xfrm>
            <a:off x="4191000" y="2273300"/>
            <a:ext cx="1968500" cy="660400"/>
          </a:xfrm>
          <a:custGeom>
            <a:avLst/>
            <a:gdLst/>
            <a:ahLst/>
            <a:cxnLst/>
            <a:rect l="0" t="0" r="r" b="b"/>
            <a:pathLst>
              <a:path w="1968500" h="660400">
                <a:moveTo>
                  <a:pt x="101600" y="0"/>
                </a:moveTo>
                <a:lnTo>
                  <a:pt x="1866900" y="0"/>
                </a:lnTo>
                <a:cubicBezTo>
                  <a:pt x="1923034" y="0"/>
                  <a:pt x="1968500" y="45466"/>
                  <a:pt x="1968500" y="101600"/>
                </a:cubicBezTo>
                <a:lnTo>
                  <a:pt x="1968500" y="558800"/>
                </a:lnTo>
                <a:cubicBezTo>
                  <a:pt x="1968500" y="614934"/>
                  <a:pt x="1923034" y="660400"/>
                  <a:pt x="1866900" y="660400"/>
                </a:cubicBezTo>
                <a:lnTo>
                  <a:pt x="101600" y="660400"/>
                </a:lnTo>
                <a:cubicBezTo>
                  <a:pt x="45466" y="660400"/>
                  <a:pt x="0" y="614934"/>
                  <a:pt x="0" y="558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 w="10160" cap="rnd">
            <a:solidFill>
              <a:srgbClr val="1B5AA8">
                <a:alpha val="4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icon-search"/>
          <p:cNvSpPr/>
          <p:nvPr/>
        </p:nvSpPr>
        <p:spPr>
          <a:xfrm>
            <a:off x="4493768" y="2626868"/>
            <a:ext cx="27559" cy="27559"/>
          </a:xfrm>
          <a:custGeom>
            <a:avLst/>
            <a:gdLst/>
            <a:ahLst/>
            <a:cxnLst/>
            <a:rect l="0" t="0" r="r" b="b"/>
            <a:pathLst>
              <a:path w="27559" h="27559">
                <a:moveTo>
                  <a:pt x="27559" y="27559"/>
                </a:moveTo>
                <a:lnTo>
                  <a:pt x="0" y="0"/>
                </a:lnTo>
              </a:path>
            </a:pathLst>
          </a:custGeom>
          <a:noFill/>
          <a:ln w="1206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icon-search"/>
          <p:cNvSpPr/>
          <p:nvPr/>
        </p:nvSpPr>
        <p:spPr>
          <a:xfrm>
            <a:off x="4419494" y="2552594"/>
            <a:ext cx="88053" cy="88053"/>
          </a:xfrm>
          <a:prstGeom prst="ellipse">
            <a:avLst/>
          </a:prstGeom>
          <a:noFill/>
          <a:ln w="1206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cond-t-1"/>
          <p:cNvSpPr txBox="1"/>
          <p:nvPr/>
        </p:nvSpPr>
        <p:spPr>
          <a:xfrm>
            <a:off x="4659884" y="2513140"/>
            <a:ext cx="130276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4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订单金额 ≥ 100 万？</a:t>
            </a:r>
          </a:p>
        </p:txBody>
      </p:sp>
      <p:sp>
        <p:nvSpPr>
          <p:cNvPr id="23" name="cond-n-1"/>
          <p:cNvSpPr txBox="1"/>
          <p:nvPr/>
        </p:nvSpPr>
        <p:spPr>
          <a:xfrm>
            <a:off x="4243832" y="2061908"/>
            <a:ext cx="3954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判断 1</a:t>
            </a:r>
          </a:p>
        </p:txBody>
      </p:sp>
      <p:sp>
        <p:nvSpPr>
          <p:cNvPr id="24" name="cond-2"/>
          <p:cNvSpPr/>
          <p:nvPr/>
        </p:nvSpPr>
        <p:spPr>
          <a:xfrm>
            <a:off x="4191000" y="4762500"/>
            <a:ext cx="1968500" cy="660400"/>
          </a:xfrm>
          <a:custGeom>
            <a:avLst/>
            <a:gdLst/>
            <a:ahLst/>
            <a:cxnLst/>
            <a:rect l="0" t="0" r="r" b="b"/>
            <a:pathLst>
              <a:path w="1968500" h="660400">
                <a:moveTo>
                  <a:pt x="101600" y="0"/>
                </a:moveTo>
                <a:lnTo>
                  <a:pt x="1866900" y="0"/>
                </a:lnTo>
                <a:cubicBezTo>
                  <a:pt x="1923034" y="0"/>
                  <a:pt x="1968500" y="45466"/>
                  <a:pt x="1968500" y="101600"/>
                </a:cubicBezTo>
                <a:lnTo>
                  <a:pt x="1968500" y="558800"/>
                </a:lnTo>
                <a:cubicBezTo>
                  <a:pt x="1968500" y="614934"/>
                  <a:pt x="1923034" y="660400"/>
                  <a:pt x="1866900" y="660400"/>
                </a:cubicBezTo>
                <a:lnTo>
                  <a:pt x="101600" y="660400"/>
                </a:lnTo>
                <a:cubicBezTo>
                  <a:pt x="45466" y="660400"/>
                  <a:pt x="0" y="614934"/>
                  <a:pt x="0" y="558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 w="10160" cap="rnd">
            <a:solidFill>
              <a:srgbClr val="1B5AA8">
                <a:alpha val="4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icon-search"/>
          <p:cNvSpPr/>
          <p:nvPr/>
        </p:nvSpPr>
        <p:spPr>
          <a:xfrm>
            <a:off x="4493768" y="5116068"/>
            <a:ext cx="27559" cy="27559"/>
          </a:xfrm>
          <a:custGeom>
            <a:avLst/>
            <a:gdLst/>
            <a:ahLst/>
            <a:cxnLst/>
            <a:rect l="0" t="0" r="r" b="b"/>
            <a:pathLst>
              <a:path w="27559" h="27559">
                <a:moveTo>
                  <a:pt x="27559" y="27559"/>
                </a:moveTo>
                <a:lnTo>
                  <a:pt x="0" y="0"/>
                </a:lnTo>
              </a:path>
            </a:pathLst>
          </a:custGeom>
          <a:noFill/>
          <a:ln w="1206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icon-search"/>
          <p:cNvSpPr/>
          <p:nvPr/>
        </p:nvSpPr>
        <p:spPr>
          <a:xfrm>
            <a:off x="4419494" y="5041794"/>
            <a:ext cx="88053" cy="88053"/>
          </a:xfrm>
          <a:prstGeom prst="ellipse">
            <a:avLst/>
          </a:prstGeom>
          <a:noFill/>
          <a:ln w="1206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cond-t-2"/>
          <p:cNvSpPr txBox="1"/>
          <p:nvPr/>
        </p:nvSpPr>
        <p:spPr>
          <a:xfrm>
            <a:off x="4659884" y="5002340"/>
            <a:ext cx="126517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4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合作是否超过 2 年？</a:t>
            </a:r>
          </a:p>
        </p:txBody>
      </p:sp>
      <p:sp>
        <p:nvSpPr>
          <p:cNvPr id="28" name="cond-n-2"/>
          <p:cNvSpPr txBox="1"/>
          <p:nvPr/>
        </p:nvSpPr>
        <p:spPr>
          <a:xfrm>
            <a:off x="4243832" y="4551108"/>
            <a:ext cx="3954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判断 2</a:t>
            </a:r>
          </a:p>
        </p:txBody>
      </p:sp>
      <p:sp>
        <p:nvSpPr>
          <p:cNvPr id="29" name="c-link-1a"/>
          <p:cNvSpPr/>
          <p:nvPr/>
        </p:nvSpPr>
        <p:spPr>
          <a:xfrm>
            <a:off x="6159500" y="2120900"/>
            <a:ext cx="476250" cy="482600"/>
          </a:xfrm>
          <a:custGeom>
            <a:avLst/>
            <a:gdLst/>
            <a:ahLst/>
            <a:cxnLst/>
            <a:rect l="0" t="0" r="r" b="b"/>
            <a:pathLst>
              <a:path w="476250" h="482600">
                <a:moveTo>
                  <a:pt x="0" y="482600"/>
                </a:moveTo>
                <a:lnTo>
                  <a:pt x="374650" y="482600"/>
                </a:lnTo>
                <a:quadBezTo>
                  <a:pt x="476250" y="482600"/>
                  <a:pt x="476250" y="381000"/>
                </a:quadBezTo>
                <a:lnTo>
                  <a:pt x="476250" y="0"/>
                </a:lnTo>
              </a:path>
            </a:pathLst>
          </a:custGeom>
          <a:noFill/>
          <a:ln w="9525" cap="rnd">
            <a:solidFill>
              <a:srgbClr val="0B3E8F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30" name="c-link-1b"/>
          <p:cNvCxnSpPr/>
          <p:nvPr/>
        </p:nvCxnSpPr>
        <p:spPr>
          <a:xfrm>
            <a:off x="6635750" y="2120900"/>
            <a:ext cx="374650" cy="0"/>
          </a:xfrm>
          <a:prstGeom prst="line">
            <a:avLst/>
          </a:prstGeom>
          <a:ln w="9525" cap="rnd">
            <a:solidFill>
              <a:srgbClr val="0B3E8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c-arr-1"/>
          <p:cNvSpPr/>
          <p:nvPr/>
        </p:nvSpPr>
        <p:spPr>
          <a:xfrm>
            <a:off x="6940550" y="2082800"/>
            <a:ext cx="69850" cy="76200"/>
          </a:xfrm>
          <a:custGeom>
            <a:avLst/>
            <a:gdLst/>
            <a:ahLst/>
            <a:cxnLst/>
            <a:rect l="0" t="0" r="r" b="b"/>
            <a:pathLst>
              <a:path w="69850" h="76200">
                <a:moveTo>
                  <a:pt x="0" y="0"/>
                </a:moveTo>
                <a:lnTo>
                  <a:pt x="69850" y="38100"/>
                </a:lnTo>
                <a:lnTo>
                  <a:pt x="0" y="76200"/>
                </a:lnTo>
              </a:path>
            </a:pathLst>
          </a:custGeom>
          <a:noFill/>
          <a:ln w="11430" cap="rnd">
            <a:solidFill>
              <a:srgbClr val="0B3E8F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yn-1"/>
          <p:cNvSpPr/>
          <p:nvPr/>
        </p:nvSpPr>
        <p:spPr>
          <a:xfrm>
            <a:off x="6470650" y="2266950"/>
            <a:ext cx="330200" cy="190500"/>
          </a:xfrm>
          <a:custGeom>
            <a:avLst/>
            <a:gdLst/>
            <a:ahLst/>
            <a:cxnLst/>
            <a:rect l="0" t="0" r="r" b="b"/>
            <a:pathLst>
              <a:path w="330200" h="190500">
                <a:moveTo>
                  <a:pt x="95250" y="0"/>
                </a:moveTo>
                <a:lnTo>
                  <a:pt x="234950" y="0"/>
                </a:lnTo>
                <a:cubicBezTo>
                  <a:pt x="287528" y="0"/>
                  <a:pt x="330200" y="42672"/>
                  <a:pt x="330200" y="95250"/>
                </a:cubicBezTo>
                <a:lnTo>
                  <a:pt x="330200" y="95250"/>
                </a:lnTo>
                <a:cubicBezTo>
                  <a:pt x="330200" y="147828"/>
                  <a:pt x="287528" y="190500"/>
                  <a:pt x="2349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0B3E8F">
                <a:alpha val="4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ynt-1"/>
          <p:cNvSpPr txBox="1"/>
          <p:nvPr/>
        </p:nvSpPr>
        <p:spPr>
          <a:xfrm>
            <a:off x="6545262" y="2276316"/>
            <a:ext cx="1809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是</a:t>
            </a:r>
          </a:p>
        </p:txBody>
      </p:sp>
      <p:sp>
        <p:nvSpPr>
          <p:cNvPr id="34" name="c-link-2a"/>
          <p:cNvSpPr/>
          <p:nvPr/>
        </p:nvSpPr>
        <p:spPr>
          <a:xfrm>
            <a:off x="6159500" y="2603500"/>
            <a:ext cx="476250" cy="660400"/>
          </a:xfrm>
          <a:custGeom>
            <a:avLst/>
            <a:gdLst/>
            <a:ahLst/>
            <a:cxnLst/>
            <a:rect l="0" t="0" r="r" b="b"/>
            <a:pathLst>
              <a:path w="476250" h="660400">
                <a:moveTo>
                  <a:pt x="0" y="0"/>
                </a:moveTo>
                <a:lnTo>
                  <a:pt x="374650" y="0"/>
                </a:lnTo>
                <a:quadBezTo>
                  <a:pt x="476250" y="0"/>
                  <a:pt x="476250" y="101600"/>
                </a:quadBezTo>
                <a:lnTo>
                  <a:pt x="476250" y="660400"/>
                </a:lnTo>
              </a:path>
            </a:pathLst>
          </a:custGeom>
          <a:noFill/>
          <a:ln w="9525" cap="rnd">
            <a:solidFill>
              <a:srgbClr val="1B5AA8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35" name="c-link-2b"/>
          <p:cNvCxnSpPr/>
          <p:nvPr/>
        </p:nvCxnSpPr>
        <p:spPr>
          <a:xfrm>
            <a:off x="6635750" y="3263900"/>
            <a:ext cx="374650" cy="0"/>
          </a:xfrm>
          <a:prstGeom prst="line">
            <a:avLst/>
          </a:prstGeom>
          <a:ln w="9525" cap="rnd">
            <a:solidFill>
              <a:srgbClr val="1B5AA8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c-arr-2"/>
          <p:cNvSpPr/>
          <p:nvPr/>
        </p:nvSpPr>
        <p:spPr>
          <a:xfrm>
            <a:off x="6940550" y="3225800"/>
            <a:ext cx="69850" cy="76200"/>
          </a:xfrm>
          <a:custGeom>
            <a:avLst/>
            <a:gdLst/>
            <a:ahLst/>
            <a:cxnLst/>
            <a:rect l="0" t="0" r="r" b="b"/>
            <a:pathLst>
              <a:path w="69850" h="76200">
                <a:moveTo>
                  <a:pt x="0" y="0"/>
                </a:moveTo>
                <a:lnTo>
                  <a:pt x="69850" y="38100"/>
                </a:lnTo>
                <a:lnTo>
                  <a:pt x="0" y="76200"/>
                </a:lnTo>
              </a:path>
            </a:pathLst>
          </a:custGeom>
          <a:noFill/>
          <a:ln w="11430" cap="rnd">
            <a:solidFill>
              <a:srgbClr val="1B5AA8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yn-2"/>
          <p:cNvSpPr/>
          <p:nvPr/>
        </p:nvSpPr>
        <p:spPr>
          <a:xfrm>
            <a:off x="6470650" y="2838450"/>
            <a:ext cx="330200" cy="190500"/>
          </a:xfrm>
          <a:custGeom>
            <a:avLst/>
            <a:gdLst/>
            <a:ahLst/>
            <a:cxnLst/>
            <a:rect l="0" t="0" r="r" b="b"/>
            <a:pathLst>
              <a:path w="330200" h="190500">
                <a:moveTo>
                  <a:pt x="95250" y="0"/>
                </a:moveTo>
                <a:lnTo>
                  <a:pt x="234950" y="0"/>
                </a:lnTo>
                <a:cubicBezTo>
                  <a:pt x="287528" y="0"/>
                  <a:pt x="330200" y="42672"/>
                  <a:pt x="330200" y="95250"/>
                </a:cubicBezTo>
                <a:lnTo>
                  <a:pt x="330200" y="95250"/>
                </a:lnTo>
                <a:cubicBezTo>
                  <a:pt x="330200" y="147828"/>
                  <a:pt x="287528" y="190500"/>
                  <a:pt x="2349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1B5AA8">
                <a:alpha val="4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ynt-2"/>
          <p:cNvSpPr txBox="1"/>
          <p:nvPr/>
        </p:nvSpPr>
        <p:spPr>
          <a:xfrm>
            <a:off x="6545262" y="2847816"/>
            <a:ext cx="1809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否</a:t>
            </a:r>
          </a:p>
        </p:txBody>
      </p:sp>
      <p:sp>
        <p:nvSpPr>
          <p:cNvPr id="39" name="c-link-3a"/>
          <p:cNvSpPr/>
          <p:nvPr/>
        </p:nvSpPr>
        <p:spPr>
          <a:xfrm>
            <a:off x="6159500" y="4610100"/>
            <a:ext cx="476250" cy="482600"/>
          </a:xfrm>
          <a:custGeom>
            <a:avLst/>
            <a:gdLst/>
            <a:ahLst/>
            <a:cxnLst/>
            <a:rect l="0" t="0" r="r" b="b"/>
            <a:pathLst>
              <a:path w="476250" h="482600">
                <a:moveTo>
                  <a:pt x="0" y="482600"/>
                </a:moveTo>
                <a:lnTo>
                  <a:pt x="374650" y="482600"/>
                </a:lnTo>
                <a:quadBezTo>
                  <a:pt x="476250" y="482600"/>
                  <a:pt x="476250" y="381000"/>
                </a:quadBezTo>
                <a:lnTo>
                  <a:pt x="476250" y="0"/>
                </a:lnTo>
              </a:path>
            </a:pathLst>
          </a:custGeom>
          <a:noFill/>
          <a:ln w="9525" cap="rnd">
            <a:solidFill>
              <a:srgbClr val="2E77C2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40" name="c-link-3b"/>
          <p:cNvCxnSpPr/>
          <p:nvPr/>
        </p:nvCxnSpPr>
        <p:spPr>
          <a:xfrm>
            <a:off x="6635750" y="4610100"/>
            <a:ext cx="374650" cy="0"/>
          </a:xfrm>
          <a:prstGeom prst="line">
            <a:avLst/>
          </a:prstGeom>
          <a:ln w="9525" cap="rnd">
            <a:solidFill>
              <a:srgbClr val="2E77C2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c-arr-3"/>
          <p:cNvSpPr/>
          <p:nvPr/>
        </p:nvSpPr>
        <p:spPr>
          <a:xfrm>
            <a:off x="6940550" y="4572000"/>
            <a:ext cx="69850" cy="76200"/>
          </a:xfrm>
          <a:custGeom>
            <a:avLst/>
            <a:gdLst/>
            <a:ahLst/>
            <a:cxnLst/>
            <a:rect l="0" t="0" r="r" b="b"/>
            <a:pathLst>
              <a:path w="69850" h="76200">
                <a:moveTo>
                  <a:pt x="0" y="0"/>
                </a:moveTo>
                <a:lnTo>
                  <a:pt x="69850" y="38100"/>
                </a:lnTo>
                <a:lnTo>
                  <a:pt x="0" y="76200"/>
                </a:lnTo>
              </a:path>
            </a:pathLst>
          </a:custGeom>
          <a:noFill/>
          <a:ln w="11430" cap="rnd">
            <a:solidFill>
              <a:srgbClr val="2E77C2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yn-3"/>
          <p:cNvSpPr/>
          <p:nvPr/>
        </p:nvSpPr>
        <p:spPr>
          <a:xfrm>
            <a:off x="6470650" y="4756150"/>
            <a:ext cx="330200" cy="190500"/>
          </a:xfrm>
          <a:custGeom>
            <a:avLst/>
            <a:gdLst/>
            <a:ahLst/>
            <a:cxnLst/>
            <a:rect l="0" t="0" r="r" b="b"/>
            <a:pathLst>
              <a:path w="330200" h="190500">
                <a:moveTo>
                  <a:pt x="95250" y="0"/>
                </a:moveTo>
                <a:lnTo>
                  <a:pt x="234950" y="0"/>
                </a:lnTo>
                <a:cubicBezTo>
                  <a:pt x="287528" y="0"/>
                  <a:pt x="330200" y="42672"/>
                  <a:pt x="330200" y="95250"/>
                </a:cubicBezTo>
                <a:lnTo>
                  <a:pt x="330200" y="95250"/>
                </a:lnTo>
                <a:cubicBezTo>
                  <a:pt x="330200" y="147828"/>
                  <a:pt x="287528" y="190500"/>
                  <a:pt x="2349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2E77C2">
                <a:alpha val="4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ynt-3"/>
          <p:cNvSpPr txBox="1"/>
          <p:nvPr/>
        </p:nvSpPr>
        <p:spPr>
          <a:xfrm>
            <a:off x="6545262" y="4765516"/>
            <a:ext cx="1809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是</a:t>
            </a:r>
          </a:p>
        </p:txBody>
      </p:sp>
      <p:sp>
        <p:nvSpPr>
          <p:cNvPr id="44" name="c-link-4a"/>
          <p:cNvSpPr/>
          <p:nvPr/>
        </p:nvSpPr>
        <p:spPr>
          <a:xfrm>
            <a:off x="6159500" y="5092700"/>
            <a:ext cx="476250" cy="660400"/>
          </a:xfrm>
          <a:custGeom>
            <a:avLst/>
            <a:gdLst/>
            <a:ahLst/>
            <a:cxnLst/>
            <a:rect l="0" t="0" r="r" b="b"/>
            <a:pathLst>
              <a:path w="476250" h="660400">
                <a:moveTo>
                  <a:pt x="0" y="0"/>
                </a:moveTo>
                <a:lnTo>
                  <a:pt x="374650" y="0"/>
                </a:lnTo>
                <a:quadBezTo>
                  <a:pt x="476250" y="0"/>
                  <a:pt x="476250" y="101600"/>
                </a:quadBezTo>
                <a:lnTo>
                  <a:pt x="476250" y="660400"/>
                </a:lnTo>
              </a:path>
            </a:pathLst>
          </a:custGeom>
          <a:noFill/>
          <a:ln w="9525" cap="rnd">
            <a:solidFill>
              <a:srgbClr val="4694D7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45" name="c-link-4b"/>
          <p:cNvCxnSpPr/>
          <p:nvPr/>
        </p:nvCxnSpPr>
        <p:spPr>
          <a:xfrm>
            <a:off x="6635750" y="5753100"/>
            <a:ext cx="374650" cy="0"/>
          </a:xfrm>
          <a:prstGeom prst="line">
            <a:avLst/>
          </a:prstGeom>
          <a:ln w="9525" cap="rnd">
            <a:solidFill>
              <a:srgbClr val="4694D7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c-arr-4"/>
          <p:cNvSpPr/>
          <p:nvPr/>
        </p:nvSpPr>
        <p:spPr>
          <a:xfrm>
            <a:off x="6940550" y="5715000"/>
            <a:ext cx="69850" cy="76200"/>
          </a:xfrm>
          <a:custGeom>
            <a:avLst/>
            <a:gdLst/>
            <a:ahLst/>
            <a:cxnLst/>
            <a:rect l="0" t="0" r="r" b="b"/>
            <a:pathLst>
              <a:path w="69850" h="76200">
                <a:moveTo>
                  <a:pt x="0" y="0"/>
                </a:moveTo>
                <a:lnTo>
                  <a:pt x="69850" y="38100"/>
                </a:lnTo>
                <a:lnTo>
                  <a:pt x="0" y="76200"/>
                </a:lnTo>
              </a:path>
            </a:pathLst>
          </a:custGeom>
          <a:noFill/>
          <a:ln w="11430" cap="rnd">
            <a:solidFill>
              <a:srgbClr val="4694D7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yn-4"/>
          <p:cNvSpPr/>
          <p:nvPr/>
        </p:nvSpPr>
        <p:spPr>
          <a:xfrm>
            <a:off x="6470650" y="5327650"/>
            <a:ext cx="330200" cy="190500"/>
          </a:xfrm>
          <a:custGeom>
            <a:avLst/>
            <a:gdLst/>
            <a:ahLst/>
            <a:cxnLst/>
            <a:rect l="0" t="0" r="r" b="b"/>
            <a:pathLst>
              <a:path w="330200" h="190500">
                <a:moveTo>
                  <a:pt x="95250" y="0"/>
                </a:moveTo>
                <a:lnTo>
                  <a:pt x="234950" y="0"/>
                </a:lnTo>
                <a:cubicBezTo>
                  <a:pt x="287528" y="0"/>
                  <a:pt x="330200" y="42672"/>
                  <a:pt x="330200" y="95250"/>
                </a:cubicBezTo>
                <a:lnTo>
                  <a:pt x="330200" y="95250"/>
                </a:lnTo>
                <a:cubicBezTo>
                  <a:pt x="330200" y="147828"/>
                  <a:pt x="287528" y="190500"/>
                  <a:pt x="2349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4694D7">
                <a:alpha val="4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ynt-4"/>
          <p:cNvSpPr txBox="1"/>
          <p:nvPr/>
        </p:nvSpPr>
        <p:spPr>
          <a:xfrm>
            <a:off x="6545262" y="5337016"/>
            <a:ext cx="1809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4694D7"/>
                </a:solidFill>
                <a:latin typeface="微软雅黑"/>
                <a:ea typeface="微软雅黑"/>
                <a:cs typeface="微软雅黑"/>
              </a:rPr>
              <a:t>否</a:t>
            </a:r>
          </a:p>
        </p:txBody>
      </p:sp>
      <p:sp>
        <p:nvSpPr>
          <p:cNvPr id="49" name="leaf-1"/>
          <p:cNvSpPr/>
          <p:nvPr/>
        </p:nvSpPr>
        <p:spPr>
          <a:xfrm>
            <a:off x="7112000" y="1701800"/>
            <a:ext cx="3556000" cy="838200"/>
          </a:xfrm>
          <a:custGeom>
            <a:avLst/>
            <a:gdLst/>
            <a:ahLst/>
            <a:cxnLst/>
            <a:rect l="0" t="0" r="r" b="b"/>
            <a:pathLst>
              <a:path w="3556000" h="838200">
                <a:moveTo>
                  <a:pt x="114300" y="0"/>
                </a:moveTo>
                <a:lnTo>
                  <a:pt x="3441700" y="0"/>
                </a:lnTo>
                <a:cubicBezTo>
                  <a:pt x="3504819" y="0"/>
                  <a:pt x="3556000" y="51181"/>
                  <a:pt x="3556000" y="114300"/>
                </a:cubicBezTo>
                <a:lnTo>
                  <a:pt x="3556000" y="723900"/>
                </a:lnTo>
                <a:cubicBezTo>
                  <a:pt x="3556000" y="787019"/>
                  <a:pt x="3504819" y="838200"/>
                  <a:pt x="3441700" y="838200"/>
                </a:cubicBezTo>
                <a:lnTo>
                  <a:pt x="114300" y="838200"/>
                </a:lnTo>
                <a:cubicBezTo>
                  <a:pt x="51181" y="838200"/>
                  <a:pt x="0" y="787019"/>
                  <a:pt x="0" y="723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leaf-cn-1"/>
          <p:cNvSpPr txBox="1"/>
          <p:nvPr/>
        </p:nvSpPr>
        <p:spPr>
          <a:xfrm>
            <a:off x="7321550" y="18486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战略客户</a:t>
            </a:r>
          </a:p>
        </p:txBody>
      </p:sp>
      <p:sp>
        <p:nvSpPr>
          <p:cNvPr id="51" name="leaf-p-1"/>
          <p:cNvSpPr txBox="1"/>
          <p:nvPr/>
        </p:nvSpPr>
        <p:spPr>
          <a:xfrm>
            <a:off x="7327265" y="2161461"/>
            <a:ext cx="139795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专属团队 + 48 小时响应</a:t>
            </a:r>
          </a:p>
        </p:txBody>
      </p:sp>
      <p:sp>
        <p:nvSpPr>
          <p:cNvPr id="52" name="leaf-tag-1"/>
          <p:cNvSpPr/>
          <p:nvPr/>
        </p:nvSpPr>
        <p:spPr>
          <a:xfrm>
            <a:off x="9956800" y="1866900"/>
            <a:ext cx="533400" cy="203200"/>
          </a:xfrm>
          <a:custGeom>
            <a:avLst/>
            <a:gdLst/>
            <a:ahLst/>
            <a:cxnLst/>
            <a:rect l="0" t="0" r="r" b="b"/>
            <a:pathLst>
              <a:path w="533400" h="203200">
                <a:moveTo>
                  <a:pt x="101600" y="0"/>
                </a:moveTo>
                <a:lnTo>
                  <a:pt x="431800" y="0"/>
                </a:lnTo>
                <a:cubicBezTo>
                  <a:pt x="487934" y="0"/>
                  <a:pt x="533400" y="45466"/>
                  <a:pt x="533400" y="101600"/>
                </a:cubicBezTo>
                <a:lnTo>
                  <a:pt x="533400" y="101600"/>
                </a:lnTo>
                <a:cubicBezTo>
                  <a:pt x="533400" y="157734"/>
                  <a:pt x="487934" y="203200"/>
                  <a:pt x="4318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leaf-tagt-1"/>
          <p:cNvSpPr txBox="1"/>
          <p:nvPr/>
        </p:nvSpPr>
        <p:spPr>
          <a:xfrm>
            <a:off x="10011982" y="1896808"/>
            <a:ext cx="4230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是 · 是</a:t>
            </a:r>
          </a:p>
        </p:txBody>
      </p:sp>
      <p:sp>
        <p:nvSpPr>
          <p:cNvPr id="54" name="leaf-2"/>
          <p:cNvSpPr/>
          <p:nvPr/>
        </p:nvSpPr>
        <p:spPr>
          <a:xfrm>
            <a:off x="7112000" y="2844800"/>
            <a:ext cx="3556000" cy="838200"/>
          </a:xfrm>
          <a:custGeom>
            <a:avLst/>
            <a:gdLst/>
            <a:ahLst/>
            <a:cxnLst/>
            <a:rect l="0" t="0" r="r" b="b"/>
            <a:pathLst>
              <a:path w="3556000" h="838200">
                <a:moveTo>
                  <a:pt x="114300" y="0"/>
                </a:moveTo>
                <a:lnTo>
                  <a:pt x="3441700" y="0"/>
                </a:lnTo>
                <a:cubicBezTo>
                  <a:pt x="3504819" y="0"/>
                  <a:pt x="3556000" y="51181"/>
                  <a:pt x="3556000" y="114300"/>
                </a:cubicBezTo>
                <a:lnTo>
                  <a:pt x="3556000" y="723900"/>
                </a:lnTo>
                <a:cubicBezTo>
                  <a:pt x="3556000" y="787019"/>
                  <a:pt x="3504819" y="838200"/>
                  <a:pt x="3441700" y="838200"/>
                </a:cubicBezTo>
                <a:lnTo>
                  <a:pt x="114300" y="838200"/>
                </a:lnTo>
                <a:cubicBezTo>
                  <a:pt x="51181" y="838200"/>
                  <a:pt x="0" y="787019"/>
                  <a:pt x="0" y="723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366EB2"/>
              </a:gs>
              <a:gs pos="100000">
                <a:srgbClr val="1B5AA8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leaf-cn-2"/>
          <p:cNvSpPr txBox="1"/>
          <p:nvPr/>
        </p:nvSpPr>
        <p:spPr>
          <a:xfrm>
            <a:off x="7321550" y="29916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重点客户</a:t>
            </a:r>
          </a:p>
        </p:txBody>
      </p:sp>
      <p:sp>
        <p:nvSpPr>
          <p:cNvPr id="56" name="leaf-p-2"/>
          <p:cNvSpPr txBox="1"/>
          <p:nvPr/>
        </p:nvSpPr>
        <p:spPr>
          <a:xfrm>
            <a:off x="7327265" y="3304461"/>
            <a:ext cx="139795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客户经理 + 72 小时响应</a:t>
            </a:r>
          </a:p>
        </p:txBody>
      </p:sp>
      <p:sp>
        <p:nvSpPr>
          <p:cNvPr id="57" name="leaf-tag-2"/>
          <p:cNvSpPr/>
          <p:nvPr/>
        </p:nvSpPr>
        <p:spPr>
          <a:xfrm>
            <a:off x="9956800" y="3009900"/>
            <a:ext cx="533400" cy="203200"/>
          </a:xfrm>
          <a:custGeom>
            <a:avLst/>
            <a:gdLst/>
            <a:ahLst/>
            <a:cxnLst/>
            <a:rect l="0" t="0" r="r" b="b"/>
            <a:pathLst>
              <a:path w="533400" h="203200">
                <a:moveTo>
                  <a:pt x="101600" y="0"/>
                </a:moveTo>
                <a:lnTo>
                  <a:pt x="431800" y="0"/>
                </a:lnTo>
                <a:cubicBezTo>
                  <a:pt x="487934" y="0"/>
                  <a:pt x="533400" y="45466"/>
                  <a:pt x="533400" y="101600"/>
                </a:cubicBezTo>
                <a:lnTo>
                  <a:pt x="533400" y="101600"/>
                </a:lnTo>
                <a:cubicBezTo>
                  <a:pt x="533400" y="157734"/>
                  <a:pt x="487934" y="203200"/>
                  <a:pt x="4318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leaf-tagt-2"/>
          <p:cNvSpPr txBox="1"/>
          <p:nvPr/>
        </p:nvSpPr>
        <p:spPr>
          <a:xfrm>
            <a:off x="10011982" y="3039808"/>
            <a:ext cx="4230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是 · 否</a:t>
            </a:r>
          </a:p>
        </p:txBody>
      </p:sp>
      <p:sp>
        <p:nvSpPr>
          <p:cNvPr id="59" name="leaf-3"/>
          <p:cNvSpPr/>
          <p:nvPr/>
        </p:nvSpPr>
        <p:spPr>
          <a:xfrm>
            <a:off x="7112000" y="4191000"/>
            <a:ext cx="3556000" cy="838200"/>
          </a:xfrm>
          <a:custGeom>
            <a:avLst/>
            <a:gdLst/>
            <a:ahLst/>
            <a:cxnLst/>
            <a:rect l="0" t="0" r="r" b="b"/>
            <a:pathLst>
              <a:path w="3556000" h="838200">
                <a:moveTo>
                  <a:pt x="114300" y="0"/>
                </a:moveTo>
                <a:lnTo>
                  <a:pt x="3441700" y="0"/>
                </a:lnTo>
                <a:cubicBezTo>
                  <a:pt x="3504819" y="0"/>
                  <a:pt x="3556000" y="51181"/>
                  <a:pt x="3556000" y="114300"/>
                </a:cubicBezTo>
                <a:lnTo>
                  <a:pt x="3556000" y="723900"/>
                </a:lnTo>
                <a:cubicBezTo>
                  <a:pt x="3556000" y="787019"/>
                  <a:pt x="3504819" y="838200"/>
                  <a:pt x="3441700" y="838200"/>
                </a:cubicBezTo>
                <a:lnTo>
                  <a:pt x="114300" y="838200"/>
                </a:lnTo>
                <a:cubicBezTo>
                  <a:pt x="51181" y="838200"/>
                  <a:pt x="0" y="787019"/>
                  <a:pt x="0" y="723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4787C9"/>
              </a:gs>
              <a:gs pos="100000">
                <a:srgbClr val="2E77C2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leaf-cn-3"/>
          <p:cNvSpPr txBox="1"/>
          <p:nvPr/>
        </p:nvSpPr>
        <p:spPr>
          <a:xfrm>
            <a:off x="7321550" y="43378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成长客户</a:t>
            </a:r>
          </a:p>
        </p:txBody>
      </p:sp>
      <p:sp>
        <p:nvSpPr>
          <p:cNvPr id="61" name="leaf-p-3"/>
          <p:cNvSpPr txBox="1"/>
          <p:nvPr/>
        </p:nvSpPr>
        <p:spPr>
          <a:xfrm>
            <a:off x="7327265" y="4650661"/>
            <a:ext cx="121951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标准服务 + 5 日响应</a:t>
            </a:r>
          </a:p>
        </p:txBody>
      </p:sp>
      <p:sp>
        <p:nvSpPr>
          <p:cNvPr id="62" name="leaf-tag-3"/>
          <p:cNvSpPr/>
          <p:nvPr/>
        </p:nvSpPr>
        <p:spPr>
          <a:xfrm>
            <a:off x="9956800" y="4356100"/>
            <a:ext cx="533400" cy="203200"/>
          </a:xfrm>
          <a:custGeom>
            <a:avLst/>
            <a:gdLst/>
            <a:ahLst/>
            <a:cxnLst/>
            <a:rect l="0" t="0" r="r" b="b"/>
            <a:pathLst>
              <a:path w="533400" h="203200">
                <a:moveTo>
                  <a:pt x="101600" y="0"/>
                </a:moveTo>
                <a:lnTo>
                  <a:pt x="431800" y="0"/>
                </a:lnTo>
                <a:cubicBezTo>
                  <a:pt x="487934" y="0"/>
                  <a:pt x="533400" y="45466"/>
                  <a:pt x="533400" y="101600"/>
                </a:cubicBezTo>
                <a:lnTo>
                  <a:pt x="533400" y="101600"/>
                </a:lnTo>
                <a:cubicBezTo>
                  <a:pt x="533400" y="157734"/>
                  <a:pt x="487934" y="203200"/>
                  <a:pt x="4318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leaf-tagt-3"/>
          <p:cNvSpPr txBox="1"/>
          <p:nvPr/>
        </p:nvSpPr>
        <p:spPr>
          <a:xfrm>
            <a:off x="10011982" y="4386008"/>
            <a:ext cx="4230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否 · 是</a:t>
            </a:r>
          </a:p>
        </p:txBody>
      </p:sp>
      <p:sp>
        <p:nvSpPr>
          <p:cNvPr id="64" name="leaf-4"/>
          <p:cNvSpPr/>
          <p:nvPr/>
        </p:nvSpPr>
        <p:spPr>
          <a:xfrm>
            <a:off x="7112000" y="5334000"/>
            <a:ext cx="3556000" cy="838200"/>
          </a:xfrm>
          <a:custGeom>
            <a:avLst/>
            <a:gdLst/>
            <a:ahLst/>
            <a:cxnLst/>
            <a:rect l="0" t="0" r="r" b="b"/>
            <a:pathLst>
              <a:path w="3556000" h="838200">
                <a:moveTo>
                  <a:pt x="114300" y="0"/>
                </a:moveTo>
                <a:lnTo>
                  <a:pt x="3441700" y="0"/>
                </a:lnTo>
                <a:cubicBezTo>
                  <a:pt x="3504819" y="0"/>
                  <a:pt x="3556000" y="51181"/>
                  <a:pt x="3556000" y="114300"/>
                </a:cubicBezTo>
                <a:lnTo>
                  <a:pt x="3556000" y="723900"/>
                </a:lnTo>
                <a:cubicBezTo>
                  <a:pt x="3556000" y="787019"/>
                  <a:pt x="3504819" y="838200"/>
                  <a:pt x="3441700" y="838200"/>
                </a:cubicBezTo>
                <a:lnTo>
                  <a:pt x="114300" y="838200"/>
                </a:lnTo>
                <a:cubicBezTo>
                  <a:pt x="51181" y="838200"/>
                  <a:pt x="0" y="787019"/>
                  <a:pt x="0" y="723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5CA1DC"/>
              </a:gs>
              <a:gs pos="100000">
                <a:srgbClr val="4694D7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leaf-cn-4"/>
          <p:cNvSpPr txBox="1"/>
          <p:nvPr/>
        </p:nvSpPr>
        <p:spPr>
          <a:xfrm>
            <a:off x="7321550" y="54808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长尾客户</a:t>
            </a:r>
          </a:p>
        </p:txBody>
      </p:sp>
      <p:sp>
        <p:nvSpPr>
          <p:cNvPr id="66" name="leaf-p-4"/>
          <p:cNvSpPr txBox="1"/>
          <p:nvPr/>
        </p:nvSpPr>
        <p:spPr>
          <a:xfrm>
            <a:off x="7327265" y="5793661"/>
            <a:ext cx="120364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线上自助 + 工单排期</a:t>
            </a:r>
          </a:p>
        </p:txBody>
      </p:sp>
      <p:sp>
        <p:nvSpPr>
          <p:cNvPr id="67" name="leaf-tag-4"/>
          <p:cNvSpPr/>
          <p:nvPr/>
        </p:nvSpPr>
        <p:spPr>
          <a:xfrm>
            <a:off x="9956800" y="5499100"/>
            <a:ext cx="533400" cy="203200"/>
          </a:xfrm>
          <a:custGeom>
            <a:avLst/>
            <a:gdLst/>
            <a:ahLst/>
            <a:cxnLst/>
            <a:rect l="0" t="0" r="r" b="b"/>
            <a:pathLst>
              <a:path w="533400" h="203200">
                <a:moveTo>
                  <a:pt x="101600" y="0"/>
                </a:moveTo>
                <a:lnTo>
                  <a:pt x="431800" y="0"/>
                </a:lnTo>
                <a:cubicBezTo>
                  <a:pt x="487934" y="0"/>
                  <a:pt x="533400" y="45466"/>
                  <a:pt x="533400" y="101600"/>
                </a:cubicBezTo>
                <a:lnTo>
                  <a:pt x="533400" y="101600"/>
                </a:lnTo>
                <a:cubicBezTo>
                  <a:pt x="533400" y="157734"/>
                  <a:pt x="487934" y="203200"/>
                  <a:pt x="4318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leaf-tagt-4"/>
          <p:cNvSpPr txBox="1"/>
          <p:nvPr/>
        </p:nvSpPr>
        <p:spPr>
          <a:xfrm>
            <a:off x="10011982" y="5529008"/>
            <a:ext cx="4230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否 · 否</a:t>
            </a:r>
          </a:p>
        </p:txBody>
      </p:sp>
      <p:sp>
        <p:nvSpPr>
          <p:cNvPr id="69" name="kpi-1"/>
          <p:cNvSpPr/>
          <p:nvPr/>
        </p:nvSpPr>
        <p:spPr>
          <a:xfrm>
            <a:off x="1270000" y="1727200"/>
            <a:ext cx="1905000" cy="381000"/>
          </a:xfrm>
          <a:custGeom>
            <a:avLst/>
            <a:gdLst/>
            <a:ahLst/>
            <a:cxnLst/>
            <a:rect l="0" t="0" r="r" b="b"/>
            <a:pathLst>
              <a:path w="1905000" h="381000">
                <a:moveTo>
                  <a:pt x="88900" y="0"/>
                </a:moveTo>
                <a:lnTo>
                  <a:pt x="1816100" y="0"/>
                </a:lnTo>
                <a:cubicBezTo>
                  <a:pt x="1865186" y="0"/>
                  <a:pt x="1905000" y="39814"/>
                  <a:pt x="1905000" y="88900"/>
                </a:cubicBezTo>
                <a:lnTo>
                  <a:pt x="1905000" y="292100"/>
                </a:lnTo>
                <a:cubicBezTo>
                  <a:pt x="1905000" y="341186"/>
                  <a:pt x="1865186" y="381000"/>
                  <a:pt x="1816100" y="381000"/>
                </a:cubicBezTo>
                <a:lnTo>
                  <a:pt x="88900" y="381000"/>
                </a:lnTo>
                <a:cubicBezTo>
                  <a:pt x="39815" y="381000"/>
                  <a:pt x="0" y="341186"/>
                  <a:pt x="0" y="2921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kpib-1"/>
          <p:cNvSpPr/>
          <p:nvPr/>
        </p:nvSpPr>
        <p:spPr>
          <a:xfrm>
            <a:off x="1270000" y="1727200"/>
            <a:ext cx="28575" cy="381000"/>
          </a:xfrm>
          <a:custGeom>
            <a:avLst/>
            <a:gdLst/>
            <a:ahLst/>
            <a:cxnLst/>
            <a:rect l="0" t="0" r="r" b="b"/>
            <a:pathLst>
              <a:path w="28575" h="381000">
                <a:moveTo>
                  <a:pt x="13970" y="0"/>
                </a:moveTo>
                <a:lnTo>
                  <a:pt x="14605" y="0"/>
                </a:lnTo>
                <a:cubicBezTo>
                  <a:pt x="22352" y="0"/>
                  <a:pt x="28575" y="6223"/>
                  <a:pt x="28575" y="13970"/>
                </a:cubicBezTo>
                <a:lnTo>
                  <a:pt x="28575" y="367030"/>
                </a:lnTo>
                <a:cubicBezTo>
                  <a:pt x="28575" y="374777"/>
                  <a:pt x="22352" y="381000"/>
                  <a:pt x="14605" y="381000"/>
                </a:cubicBezTo>
                <a:lnTo>
                  <a:pt x="13970" y="381000"/>
                </a:lnTo>
                <a:cubicBezTo>
                  <a:pt x="6223" y="381000"/>
                  <a:pt x="0" y="374777"/>
                  <a:pt x="0" y="367030"/>
                </a:cubicBezTo>
                <a:lnTo>
                  <a:pt x="0" y="13970"/>
                </a:lnTo>
                <a:cubicBezTo>
                  <a:pt x="0" y="6223"/>
                  <a:pt x="6223" y="0"/>
                  <a:pt x="1397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icon-chart"/>
          <p:cNvSpPr/>
          <p:nvPr/>
        </p:nvSpPr>
        <p:spPr>
          <a:xfrm>
            <a:off x="1470660" y="1898650"/>
            <a:ext cx="106680" cy="69850"/>
          </a:xfrm>
          <a:custGeom>
            <a:avLst/>
            <a:gdLst/>
            <a:ahLst/>
            <a:cxnLst/>
            <a:rect l="0" t="0" r="r" b="b"/>
            <a:pathLst>
              <a:path w="106680" h="69850">
                <a:moveTo>
                  <a:pt x="0" y="69850"/>
                </a:moveTo>
                <a:lnTo>
                  <a:pt x="106680" y="69850"/>
                </a:lnTo>
                <a:moveTo>
                  <a:pt x="24130" y="69850"/>
                </a:moveTo>
                <a:lnTo>
                  <a:pt x="24130" y="29210"/>
                </a:lnTo>
                <a:moveTo>
                  <a:pt x="53340" y="69850"/>
                </a:moveTo>
                <a:lnTo>
                  <a:pt x="53340" y="0"/>
                </a:lnTo>
                <a:moveTo>
                  <a:pt x="82550" y="69850"/>
                </a:moveTo>
                <a:lnTo>
                  <a:pt x="82550" y="43180"/>
                </a:lnTo>
              </a:path>
            </a:pathLst>
          </a:custGeom>
          <a:noFill/>
          <a:ln w="1206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kpi-v-1"/>
          <p:cNvSpPr txBox="1"/>
          <p:nvPr/>
        </p:nvSpPr>
        <p:spPr>
          <a:xfrm>
            <a:off x="1681988" y="1777302"/>
            <a:ext cx="435483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340</a:t>
            </a:r>
          </a:p>
        </p:txBody>
      </p:sp>
      <p:sp>
        <p:nvSpPr>
          <p:cNvPr id="73" name="kpi-u-1"/>
          <p:cNvSpPr txBox="1"/>
          <p:nvPr/>
        </p:nvSpPr>
        <p:spPr>
          <a:xfrm>
            <a:off x="2034032" y="1871408"/>
            <a:ext cx="1689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条</a:t>
            </a:r>
          </a:p>
        </p:txBody>
      </p:sp>
      <p:sp>
        <p:nvSpPr>
          <p:cNvPr id="74" name="kpi-l-1"/>
          <p:cNvSpPr txBox="1"/>
          <p:nvPr/>
        </p:nvSpPr>
        <p:spPr>
          <a:xfrm>
            <a:off x="2399602" y="1854787"/>
            <a:ext cx="64674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日均进线线索</a:t>
            </a:r>
          </a:p>
        </p:txBody>
      </p:sp>
      <p:sp>
        <p:nvSpPr>
          <p:cNvPr id="75" name="kpi-2"/>
          <p:cNvSpPr/>
          <p:nvPr/>
        </p:nvSpPr>
        <p:spPr>
          <a:xfrm>
            <a:off x="1270000" y="2197100"/>
            <a:ext cx="1905000" cy="381000"/>
          </a:xfrm>
          <a:custGeom>
            <a:avLst/>
            <a:gdLst/>
            <a:ahLst/>
            <a:cxnLst/>
            <a:rect l="0" t="0" r="r" b="b"/>
            <a:pathLst>
              <a:path w="1905000" h="381000">
                <a:moveTo>
                  <a:pt x="88900" y="0"/>
                </a:moveTo>
                <a:lnTo>
                  <a:pt x="1816100" y="0"/>
                </a:lnTo>
                <a:cubicBezTo>
                  <a:pt x="1865186" y="0"/>
                  <a:pt x="1905000" y="39814"/>
                  <a:pt x="1905000" y="88900"/>
                </a:cubicBezTo>
                <a:lnTo>
                  <a:pt x="1905000" y="292100"/>
                </a:lnTo>
                <a:cubicBezTo>
                  <a:pt x="1905000" y="341186"/>
                  <a:pt x="1865186" y="381000"/>
                  <a:pt x="1816100" y="381000"/>
                </a:cubicBezTo>
                <a:lnTo>
                  <a:pt x="88900" y="381000"/>
                </a:lnTo>
                <a:cubicBezTo>
                  <a:pt x="39815" y="381000"/>
                  <a:pt x="0" y="341186"/>
                  <a:pt x="0" y="2921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kpib-2"/>
          <p:cNvSpPr/>
          <p:nvPr/>
        </p:nvSpPr>
        <p:spPr>
          <a:xfrm>
            <a:off x="1270000" y="2197100"/>
            <a:ext cx="28575" cy="381000"/>
          </a:xfrm>
          <a:custGeom>
            <a:avLst/>
            <a:gdLst/>
            <a:ahLst/>
            <a:cxnLst/>
            <a:rect l="0" t="0" r="r" b="b"/>
            <a:pathLst>
              <a:path w="28575" h="381000">
                <a:moveTo>
                  <a:pt x="13970" y="0"/>
                </a:moveTo>
                <a:lnTo>
                  <a:pt x="14605" y="0"/>
                </a:lnTo>
                <a:cubicBezTo>
                  <a:pt x="22352" y="0"/>
                  <a:pt x="28575" y="6223"/>
                  <a:pt x="28575" y="13970"/>
                </a:cubicBezTo>
                <a:lnTo>
                  <a:pt x="28575" y="367030"/>
                </a:lnTo>
                <a:cubicBezTo>
                  <a:pt x="28575" y="374777"/>
                  <a:pt x="22352" y="381000"/>
                  <a:pt x="14605" y="381000"/>
                </a:cubicBezTo>
                <a:lnTo>
                  <a:pt x="13970" y="381000"/>
                </a:lnTo>
                <a:cubicBezTo>
                  <a:pt x="6223" y="381000"/>
                  <a:pt x="0" y="374777"/>
                  <a:pt x="0" y="367030"/>
                </a:cubicBezTo>
                <a:lnTo>
                  <a:pt x="0" y="13970"/>
                </a:lnTo>
                <a:cubicBezTo>
                  <a:pt x="0" y="6223"/>
                  <a:pt x="6223" y="0"/>
                  <a:pt x="1397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icon-gear"/>
          <p:cNvSpPr/>
          <p:nvPr/>
        </p:nvSpPr>
        <p:spPr>
          <a:xfrm>
            <a:off x="1476375" y="2329180"/>
            <a:ext cx="95250" cy="116840"/>
          </a:xfrm>
          <a:custGeom>
            <a:avLst/>
            <a:gdLst/>
            <a:ahLst/>
            <a:cxnLst/>
            <a:rect l="0" t="0" r="r" b="b"/>
            <a:pathLst>
              <a:path w="95250" h="116840">
                <a:moveTo>
                  <a:pt x="47625" y="36830"/>
                </a:moveTo>
                <a:cubicBezTo>
                  <a:pt x="39941" y="36830"/>
                  <a:pt x="32766" y="40957"/>
                  <a:pt x="28956" y="47625"/>
                </a:cubicBezTo>
                <a:cubicBezTo>
                  <a:pt x="25082" y="54293"/>
                  <a:pt x="25082" y="62547"/>
                  <a:pt x="28956" y="69215"/>
                </a:cubicBezTo>
                <a:cubicBezTo>
                  <a:pt x="32766" y="75882"/>
                  <a:pt x="39941" y="80010"/>
                  <a:pt x="47625" y="80010"/>
                </a:cubicBezTo>
                <a:cubicBezTo>
                  <a:pt x="59563" y="80010"/>
                  <a:pt x="69215" y="70358"/>
                  <a:pt x="69215" y="58420"/>
                </a:cubicBezTo>
                <a:cubicBezTo>
                  <a:pt x="69215" y="46482"/>
                  <a:pt x="59563" y="36830"/>
                  <a:pt x="47625" y="36830"/>
                </a:cubicBezTo>
                <a:close/>
                <a:moveTo>
                  <a:pt x="47625" y="0"/>
                </a:moveTo>
                <a:lnTo>
                  <a:pt x="54610" y="16510"/>
                </a:lnTo>
                <a:lnTo>
                  <a:pt x="72390" y="12700"/>
                </a:lnTo>
                <a:lnTo>
                  <a:pt x="78740" y="29845"/>
                </a:lnTo>
                <a:lnTo>
                  <a:pt x="95250" y="36830"/>
                </a:lnTo>
                <a:lnTo>
                  <a:pt x="87630" y="53340"/>
                </a:lnTo>
                <a:lnTo>
                  <a:pt x="95250" y="69850"/>
                </a:lnTo>
                <a:lnTo>
                  <a:pt x="78740" y="76835"/>
                </a:lnTo>
                <a:lnTo>
                  <a:pt x="72390" y="93980"/>
                </a:lnTo>
                <a:lnTo>
                  <a:pt x="54610" y="90170"/>
                </a:lnTo>
                <a:lnTo>
                  <a:pt x="47625" y="116840"/>
                </a:lnTo>
                <a:lnTo>
                  <a:pt x="40640" y="100330"/>
                </a:lnTo>
                <a:lnTo>
                  <a:pt x="22860" y="104140"/>
                </a:lnTo>
                <a:lnTo>
                  <a:pt x="16510" y="86995"/>
                </a:lnTo>
                <a:lnTo>
                  <a:pt x="0" y="80010"/>
                </a:lnTo>
                <a:lnTo>
                  <a:pt x="7620" y="58420"/>
                </a:lnTo>
                <a:lnTo>
                  <a:pt x="0" y="41910"/>
                </a:lnTo>
                <a:lnTo>
                  <a:pt x="16510" y="34925"/>
                </a:lnTo>
                <a:lnTo>
                  <a:pt x="22860" y="17780"/>
                </a:lnTo>
                <a:lnTo>
                  <a:pt x="40640" y="21590"/>
                </a:lnTo>
                <a:close/>
              </a:path>
            </a:pathLst>
          </a:custGeom>
          <a:noFill/>
          <a:ln w="1206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kpi-v-2"/>
          <p:cNvSpPr txBox="1"/>
          <p:nvPr/>
        </p:nvSpPr>
        <p:spPr>
          <a:xfrm>
            <a:off x="1681988" y="2247202"/>
            <a:ext cx="435483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96%</a:t>
            </a:r>
          </a:p>
        </p:txBody>
      </p:sp>
      <p:sp>
        <p:nvSpPr>
          <p:cNvPr id="79" name="kpi-l-2"/>
          <p:cNvSpPr txBox="1"/>
          <p:nvPr/>
        </p:nvSpPr>
        <p:spPr>
          <a:xfrm>
            <a:off x="2305622" y="2324687"/>
            <a:ext cx="74072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系统自动分流率</a:t>
            </a:r>
          </a:p>
        </p:txBody>
      </p:sp>
      <p:sp>
        <p:nvSpPr>
          <p:cNvPr id="80" name="kpi-3"/>
          <p:cNvSpPr/>
          <p:nvPr/>
        </p:nvSpPr>
        <p:spPr>
          <a:xfrm>
            <a:off x="1270000" y="2667000"/>
            <a:ext cx="1905000" cy="381000"/>
          </a:xfrm>
          <a:custGeom>
            <a:avLst/>
            <a:gdLst/>
            <a:ahLst/>
            <a:cxnLst/>
            <a:rect l="0" t="0" r="r" b="b"/>
            <a:pathLst>
              <a:path w="1905000" h="381000">
                <a:moveTo>
                  <a:pt x="88900" y="0"/>
                </a:moveTo>
                <a:lnTo>
                  <a:pt x="1816100" y="0"/>
                </a:lnTo>
                <a:cubicBezTo>
                  <a:pt x="1865186" y="0"/>
                  <a:pt x="1905000" y="39814"/>
                  <a:pt x="1905000" y="88900"/>
                </a:cubicBezTo>
                <a:lnTo>
                  <a:pt x="1905000" y="292100"/>
                </a:lnTo>
                <a:cubicBezTo>
                  <a:pt x="1905000" y="341186"/>
                  <a:pt x="1865186" y="381000"/>
                  <a:pt x="1816100" y="381000"/>
                </a:cubicBezTo>
                <a:lnTo>
                  <a:pt x="88900" y="381000"/>
                </a:lnTo>
                <a:cubicBezTo>
                  <a:pt x="39815" y="381000"/>
                  <a:pt x="0" y="341186"/>
                  <a:pt x="0" y="2921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kpib-3"/>
          <p:cNvSpPr/>
          <p:nvPr/>
        </p:nvSpPr>
        <p:spPr>
          <a:xfrm>
            <a:off x="1270000" y="2667000"/>
            <a:ext cx="28575" cy="381000"/>
          </a:xfrm>
          <a:custGeom>
            <a:avLst/>
            <a:gdLst/>
            <a:ahLst/>
            <a:cxnLst/>
            <a:rect l="0" t="0" r="r" b="b"/>
            <a:pathLst>
              <a:path w="28575" h="381000">
                <a:moveTo>
                  <a:pt x="13970" y="0"/>
                </a:moveTo>
                <a:lnTo>
                  <a:pt x="14605" y="0"/>
                </a:lnTo>
                <a:cubicBezTo>
                  <a:pt x="22352" y="0"/>
                  <a:pt x="28575" y="6223"/>
                  <a:pt x="28575" y="13970"/>
                </a:cubicBezTo>
                <a:lnTo>
                  <a:pt x="28575" y="367030"/>
                </a:lnTo>
                <a:cubicBezTo>
                  <a:pt x="28575" y="374777"/>
                  <a:pt x="22352" y="381000"/>
                  <a:pt x="14605" y="381000"/>
                </a:cubicBezTo>
                <a:lnTo>
                  <a:pt x="13970" y="381000"/>
                </a:lnTo>
                <a:cubicBezTo>
                  <a:pt x="6223" y="381000"/>
                  <a:pt x="0" y="374777"/>
                  <a:pt x="0" y="367030"/>
                </a:cubicBezTo>
                <a:lnTo>
                  <a:pt x="0" y="13970"/>
                </a:lnTo>
                <a:cubicBezTo>
                  <a:pt x="0" y="6223"/>
                  <a:pt x="6223" y="0"/>
                  <a:pt x="1397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icon-clock"/>
          <p:cNvSpPr/>
          <p:nvPr/>
        </p:nvSpPr>
        <p:spPr>
          <a:xfrm>
            <a:off x="1524000" y="2827020"/>
            <a:ext cx="20320" cy="42545"/>
          </a:xfrm>
          <a:custGeom>
            <a:avLst/>
            <a:gdLst/>
            <a:ahLst/>
            <a:cxnLst/>
            <a:rect l="0" t="0" r="r" b="b"/>
            <a:pathLst>
              <a:path w="20320" h="42545">
                <a:moveTo>
                  <a:pt x="0" y="0"/>
                </a:moveTo>
                <a:lnTo>
                  <a:pt x="0" y="30480"/>
                </a:lnTo>
                <a:lnTo>
                  <a:pt x="20320" y="42545"/>
                </a:lnTo>
              </a:path>
            </a:pathLst>
          </a:custGeom>
          <a:noFill/>
          <a:ln w="12065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icon-clock"/>
          <p:cNvSpPr/>
          <p:nvPr/>
        </p:nvSpPr>
        <p:spPr>
          <a:xfrm>
            <a:off x="1469390" y="2802890"/>
            <a:ext cx="109220" cy="109220"/>
          </a:xfrm>
          <a:prstGeom prst="ellipse">
            <a:avLst/>
          </a:prstGeom>
          <a:noFill/>
          <a:ln w="12065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kpi-v-3"/>
          <p:cNvSpPr txBox="1"/>
          <p:nvPr/>
        </p:nvSpPr>
        <p:spPr>
          <a:xfrm>
            <a:off x="1681988" y="2717102"/>
            <a:ext cx="244221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8</a:t>
            </a:r>
          </a:p>
        </p:txBody>
      </p:sp>
      <p:sp>
        <p:nvSpPr>
          <p:cNvPr id="85" name="kpi-u-3"/>
          <p:cNvSpPr txBox="1"/>
          <p:nvPr/>
        </p:nvSpPr>
        <p:spPr>
          <a:xfrm>
            <a:off x="1830832" y="2811208"/>
            <a:ext cx="2578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分钟</a:t>
            </a:r>
          </a:p>
        </p:txBody>
      </p:sp>
      <p:sp>
        <p:nvSpPr>
          <p:cNvPr id="86" name="kpi-l-3"/>
          <p:cNvSpPr txBox="1"/>
          <p:nvPr/>
        </p:nvSpPr>
        <p:spPr>
          <a:xfrm>
            <a:off x="2399602" y="2794587"/>
            <a:ext cx="64674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平均派单时长</a:t>
            </a:r>
          </a:p>
        </p:txBody>
      </p:sp>
      <p:sp>
        <p:nvSpPr>
          <p:cNvPr id="87" name="note-bar"/>
          <p:cNvSpPr/>
          <p:nvPr/>
        </p:nvSpPr>
        <p:spPr>
          <a:xfrm>
            <a:off x="1270000" y="4521200"/>
            <a:ext cx="25400" cy="8001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note-h"/>
          <p:cNvSpPr txBox="1"/>
          <p:nvPr/>
        </p:nvSpPr>
        <p:spPr>
          <a:xfrm>
            <a:off x="1419860" y="4567555"/>
            <a:ext cx="6731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分流规则</a:t>
            </a:r>
          </a:p>
        </p:txBody>
      </p:sp>
      <p:sp>
        <p:nvSpPr>
          <p:cNvPr id="89" name="note-p1"/>
          <p:cNvSpPr txBox="1"/>
          <p:nvPr/>
        </p:nvSpPr>
        <p:spPr>
          <a:xfrm>
            <a:off x="1423289" y="4844145"/>
            <a:ext cx="1477328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系统在 CRM 内自动判定并派单</a:t>
            </a:r>
          </a:p>
        </p:txBody>
      </p:sp>
      <p:sp>
        <p:nvSpPr>
          <p:cNvPr id="90" name="note-p2"/>
          <p:cNvSpPr txBox="1"/>
          <p:nvPr/>
        </p:nvSpPr>
        <p:spPr>
          <a:xfrm>
            <a:off x="1423289" y="5021945"/>
            <a:ext cx="119221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分层结果每季度复核一次</a:t>
            </a:r>
          </a:p>
        </p:txBody>
      </p:sp>
      <p:sp>
        <p:nvSpPr>
          <p:cNvPr id="91" name="note-p3"/>
          <p:cNvSpPr txBox="1"/>
          <p:nvPr/>
        </p:nvSpPr>
        <p:spPr>
          <a:xfrm>
            <a:off x="1423289" y="5199745"/>
            <a:ext cx="1420305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人工可在 24 小时内申请改判</a:t>
            </a:r>
          </a:p>
        </p:txBody>
      </p:sp>
      <p:cxnSp>
        <p:nvCxnSpPr>
          <p:cNvPr id="92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3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分层响应 · 四类客户</a:t>
            </a:r>
          </a:p>
        </p:txBody>
      </p:sp>
      <p:sp>
        <p:nvSpPr>
          <p:cNvPr id="94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供需对接机制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44589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SUPPLY &amp; DEMAND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466199" y="673132"/>
            <a:ext cx="21545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平台居中撮合，双向匹配需求方与服务商</a:t>
            </a:r>
          </a:p>
        </p:txBody>
      </p:sp>
      <p:sp>
        <p:nvSpPr>
          <p:cNvPr id="10" name="mid"/>
          <p:cNvSpPr/>
          <p:nvPr/>
        </p:nvSpPr>
        <p:spPr>
          <a:xfrm>
            <a:off x="4635500" y="1752600"/>
            <a:ext cx="2921000" cy="4216400"/>
          </a:xfrm>
          <a:custGeom>
            <a:avLst/>
            <a:gdLst/>
            <a:ahLst/>
            <a:cxnLst/>
            <a:rect l="0" t="0" r="r" b="b"/>
            <a:pathLst>
              <a:path w="2921000" h="4216400">
                <a:moveTo>
                  <a:pt x="165100" y="0"/>
                </a:moveTo>
                <a:lnTo>
                  <a:pt x="2755900" y="0"/>
                </a:lnTo>
                <a:cubicBezTo>
                  <a:pt x="2847086" y="0"/>
                  <a:pt x="2921000" y="73914"/>
                  <a:pt x="2921000" y="165100"/>
                </a:cubicBezTo>
                <a:lnTo>
                  <a:pt x="2921000" y="4051300"/>
                </a:lnTo>
                <a:cubicBezTo>
                  <a:pt x="2921000" y="4142486"/>
                  <a:pt x="2847086" y="4216400"/>
                  <a:pt x="2755900" y="4216400"/>
                </a:cubicBezTo>
                <a:lnTo>
                  <a:pt x="165100" y="4216400"/>
                </a:lnTo>
                <a:cubicBezTo>
                  <a:pt x="73914" y="4216400"/>
                  <a:pt x="0" y="4142486"/>
                  <a:pt x="0" y="40513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0A3A88"/>
              </a:gs>
            </a:gsLst>
            <a:lin ang="7440000" scaled="0"/>
          </a:gra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icon-globe"/>
          <p:cNvSpPr/>
          <p:nvPr/>
        </p:nvSpPr>
        <p:spPr>
          <a:xfrm>
            <a:off x="5977700" y="2193100"/>
            <a:ext cx="236601" cy="236601"/>
          </a:xfrm>
          <a:custGeom>
            <a:avLst/>
            <a:gdLst/>
            <a:ahLst/>
            <a:cxnLst/>
            <a:rect l="0" t="0" r="r" b="b"/>
            <a:pathLst>
              <a:path w="236601" h="236601">
                <a:moveTo>
                  <a:pt x="0" y="118300"/>
                </a:moveTo>
                <a:lnTo>
                  <a:pt x="236601" y="118300"/>
                </a:lnTo>
                <a:moveTo>
                  <a:pt x="118300" y="0"/>
                </a:moveTo>
                <a:cubicBezTo>
                  <a:pt x="151321" y="34353"/>
                  <a:pt x="167830" y="74295"/>
                  <a:pt x="167830" y="118300"/>
                </a:cubicBezTo>
                <a:cubicBezTo>
                  <a:pt x="167830" y="162306"/>
                  <a:pt x="151321" y="202248"/>
                  <a:pt x="118300" y="236601"/>
                </a:cubicBezTo>
                <a:cubicBezTo>
                  <a:pt x="85280" y="202248"/>
                  <a:pt x="68771" y="162306"/>
                  <a:pt x="68771" y="118300"/>
                </a:cubicBezTo>
                <a:cubicBezTo>
                  <a:pt x="68771" y="74295"/>
                  <a:pt x="85280" y="34353"/>
                  <a:pt x="118300" y="0"/>
                </a:cubicBezTo>
                <a:close/>
              </a:path>
            </a:pathLst>
          </a:custGeom>
          <a:noFill/>
          <a:ln w="1397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icon-globe"/>
          <p:cNvSpPr/>
          <p:nvPr/>
        </p:nvSpPr>
        <p:spPr>
          <a:xfrm>
            <a:off x="5977678" y="2193078"/>
            <a:ext cx="236643" cy="236643"/>
          </a:xfrm>
          <a:prstGeom prst="ellipse">
            <a:avLst/>
          </a:prstGeom>
          <a:noFill/>
          <a:ln w="1397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mid-cn"/>
          <p:cNvSpPr txBox="1"/>
          <p:nvPr/>
        </p:nvSpPr>
        <p:spPr>
          <a:xfrm>
            <a:off x="5516245" y="2540064"/>
            <a:ext cx="1159510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70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撮合平台</a:t>
            </a:r>
          </a:p>
        </p:txBody>
      </p:sp>
      <p:sp>
        <p:nvSpPr>
          <p:cNvPr id="14" name="mid-en"/>
          <p:cNvSpPr txBox="1"/>
          <p:nvPr/>
        </p:nvSpPr>
        <p:spPr>
          <a:xfrm>
            <a:off x="5443918" y="2887408"/>
            <a:ext cx="130416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75">
                <a:solidFill>
                  <a:srgbClr val="BFD6F0"/>
                </a:solidFill>
                <a:latin typeface="Arial"/>
                <a:ea typeface="Arial"/>
                <a:cs typeface="Arial"/>
              </a:rPr>
              <a:t>MATCHING PLATFORM</a:t>
            </a:r>
          </a:p>
        </p:txBody>
      </p:sp>
      <p:sp>
        <p:nvSpPr>
          <p:cNvPr id="15" name="mid-rule"/>
          <p:cNvSpPr/>
          <p:nvPr/>
        </p:nvSpPr>
        <p:spPr>
          <a:xfrm>
            <a:off x="5880100" y="3124200"/>
            <a:ext cx="431800" cy="19050"/>
          </a:xfrm>
          <a:prstGeom prst="roundRect">
            <a:avLst>
              <a:gd name="adj" fmla="val 50000"/>
            </a:avLst>
          </a:prstGeom>
          <a:solidFill>
            <a:srgbClr val="FFFFFF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cap-1"/>
          <p:cNvSpPr/>
          <p:nvPr/>
        </p:nvSpPr>
        <p:spPr>
          <a:xfrm>
            <a:off x="4914900" y="3530600"/>
            <a:ext cx="2362200" cy="342900"/>
          </a:xfrm>
          <a:custGeom>
            <a:avLst/>
            <a:gdLst/>
            <a:ahLst/>
            <a:cxnLst/>
            <a:rect l="0" t="0" r="r" b="b"/>
            <a:pathLst>
              <a:path w="2362200" h="342900">
                <a:moveTo>
                  <a:pt x="88900" y="0"/>
                </a:moveTo>
                <a:lnTo>
                  <a:pt x="2273300" y="0"/>
                </a:lnTo>
                <a:cubicBezTo>
                  <a:pt x="2322386" y="0"/>
                  <a:pt x="2362200" y="39814"/>
                  <a:pt x="2362200" y="88900"/>
                </a:cubicBezTo>
                <a:lnTo>
                  <a:pt x="2362200" y="254000"/>
                </a:lnTo>
                <a:cubicBezTo>
                  <a:pt x="2362200" y="303086"/>
                  <a:pt x="2322386" y="342900"/>
                  <a:pt x="2273300" y="342900"/>
                </a:cubicBezTo>
                <a:lnTo>
                  <a:pt x="88900" y="342900"/>
                </a:lnTo>
                <a:cubicBezTo>
                  <a:pt x="39814" y="342900"/>
                  <a:pt x="0" y="303086"/>
                  <a:pt x="0" y="2540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14000"/>
            </a:srgbClr>
          </a:solidFill>
          <a:ln w="6350" cap="rnd">
            <a:solidFill>
              <a:srgbClr val="FFFFFF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cap-t-1"/>
          <p:cNvSpPr txBox="1"/>
          <p:nvPr/>
        </p:nvSpPr>
        <p:spPr>
          <a:xfrm>
            <a:off x="5643721" y="3609261"/>
            <a:ext cx="90455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需求标准化建模</a:t>
            </a:r>
          </a:p>
        </p:txBody>
      </p:sp>
      <p:sp>
        <p:nvSpPr>
          <p:cNvPr id="18" name="cap-2"/>
          <p:cNvSpPr/>
          <p:nvPr/>
        </p:nvSpPr>
        <p:spPr>
          <a:xfrm>
            <a:off x="4914900" y="4000500"/>
            <a:ext cx="2362200" cy="342900"/>
          </a:xfrm>
          <a:custGeom>
            <a:avLst/>
            <a:gdLst/>
            <a:ahLst/>
            <a:cxnLst/>
            <a:rect l="0" t="0" r="r" b="b"/>
            <a:pathLst>
              <a:path w="2362200" h="342900">
                <a:moveTo>
                  <a:pt x="88900" y="0"/>
                </a:moveTo>
                <a:lnTo>
                  <a:pt x="2273300" y="0"/>
                </a:lnTo>
                <a:cubicBezTo>
                  <a:pt x="2322386" y="0"/>
                  <a:pt x="2362200" y="39814"/>
                  <a:pt x="2362200" y="88900"/>
                </a:cubicBezTo>
                <a:lnTo>
                  <a:pt x="2362200" y="254000"/>
                </a:lnTo>
                <a:cubicBezTo>
                  <a:pt x="2362200" y="303086"/>
                  <a:pt x="2322386" y="342900"/>
                  <a:pt x="2273300" y="342900"/>
                </a:cubicBezTo>
                <a:lnTo>
                  <a:pt x="88900" y="342900"/>
                </a:lnTo>
                <a:cubicBezTo>
                  <a:pt x="39814" y="342900"/>
                  <a:pt x="0" y="303086"/>
                  <a:pt x="0" y="2540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14000"/>
            </a:srgbClr>
          </a:solidFill>
          <a:ln w="6350" cap="rnd">
            <a:solidFill>
              <a:srgbClr val="FFFFFF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cap-t-2"/>
          <p:cNvSpPr txBox="1"/>
          <p:nvPr/>
        </p:nvSpPr>
        <p:spPr>
          <a:xfrm>
            <a:off x="5643721" y="4079161"/>
            <a:ext cx="90455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智能匹配与推荐</a:t>
            </a:r>
          </a:p>
        </p:txBody>
      </p:sp>
      <p:sp>
        <p:nvSpPr>
          <p:cNvPr id="20" name="cap-3"/>
          <p:cNvSpPr/>
          <p:nvPr/>
        </p:nvSpPr>
        <p:spPr>
          <a:xfrm>
            <a:off x="4914900" y="4470400"/>
            <a:ext cx="2362200" cy="342900"/>
          </a:xfrm>
          <a:custGeom>
            <a:avLst/>
            <a:gdLst/>
            <a:ahLst/>
            <a:cxnLst/>
            <a:rect l="0" t="0" r="r" b="b"/>
            <a:pathLst>
              <a:path w="2362200" h="342900">
                <a:moveTo>
                  <a:pt x="88900" y="0"/>
                </a:moveTo>
                <a:lnTo>
                  <a:pt x="2273300" y="0"/>
                </a:lnTo>
                <a:cubicBezTo>
                  <a:pt x="2322386" y="0"/>
                  <a:pt x="2362200" y="39814"/>
                  <a:pt x="2362200" y="88900"/>
                </a:cubicBezTo>
                <a:lnTo>
                  <a:pt x="2362200" y="254000"/>
                </a:lnTo>
                <a:cubicBezTo>
                  <a:pt x="2362200" y="303086"/>
                  <a:pt x="2322386" y="342900"/>
                  <a:pt x="2273300" y="342900"/>
                </a:cubicBezTo>
                <a:lnTo>
                  <a:pt x="88900" y="342900"/>
                </a:lnTo>
                <a:cubicBezTo>
                  <a:pt x="39814" y="342900"/>
                  <a:pt x="0" y="303086"/>
                  <a:pt x="0" y="2540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14000"/>
            </a:srgbClr>
          </a:solidFill>
          <a:ln w="6350" cap="rnd">
            <a:solidFill>
              <a:srgbClr val="FFFFFF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cap-t-3"/>
          <p:cNvSpPr txBox="1"/>
          <p:nvPr/>
        </p:nvSpPr>
        <p:spPr>
          <a:xfrm>
            <a:off x="5643721" y="4549061"/>
            <a:ext cx="90455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履约跟踪与评价</a:t>
            </a:r>
          </a:p>
        </p:txBody>
      </p:sp>
      <p:sp>
        <p:nvSpPr>
          <p:cNvPr id="22" name="mid-foot"/>
          <p:cNvSpPr txBox="1"/>
          <p:nvPr/>
        </p:nvSpPr>
        <p:spPr>
          <a:xfrm>
            <a:off x="5582253" y="5631545"/>
            <a:ext cx="1027494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0" spc="40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日均撮合 1,860 单</a:t>
            </a:r>
          </a:p>
        </p:txBody>
      </p:sp>
      <p:sp>
        <p:nvSpPr>
          <p:cNvPr id="23" name="side-h-1"/>
          <p:cNvSpPr txBox="1"/>
          <p:nvPr/>
        </p:nvSpPr>
        <p:spPr>
          <a:xfrm>
            <a:off x="936498" y="1435513"/>
            <a:ext cx="567690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需求方</a:t>
            </a:r>
          </a:p>
        </p:txBody>
      </p:sp>
      <p:sp>
        <p:nvSpPr>
          <p:cNvPr id="24" name="c-1-1"/>
          <p:cNvSpPr/>
          <p:nvPr/>
        </p:nvSpPr>
        <p:spPr>
          <a:xfrm>
            <a:off x="952500" y="1905000"/>
            <a:ext cx="3175000" cy="838200"/>
          </a:xfrm>
          <a:custGeom>
            <a:avLst/>
            <a:gdLst/>
            <a:ahLst/>
            <a:cxnLst/>
            <a:rect l="0" t="0" r="r" b="b"/>
            <a:pathLst>
              <a:path w="3175000" h="838200">
                <a:moveTo>
                  <a:pt x="114300" y="0"/>
                </a:moveTo>
                <a:lnTo>
                  <a:pt x="3060700" y="0"/>
                </a:lnTo>
                <a:cubicBezTo>
                  <a:pt x="3123819" y="0"/>
                  <a:pt x="3175000" y="51181"/>
                  <a:pt x="3175000" y="114300"/>
                </a:cubicBezTo>
                <a:lnTo>
                  <a:pt x="3175000" y="723900"/>
                </a:lnTo>
                <a:cubicBezTo>
                  <a:pt x="3175000" y="787019"/>
                  <a:pt x="3123819" y="838200"/>
                  <a:pt x="3060700" y="838200"/>
                </a:cubicBezTo>
                <a:lnTo>
                  <a:pt x="114300" y="838200"/>
                </a:lnTo>
                <a:cubicBezTo>
                  <a:pt x="51181" y="838200"/>
                  <a:pt x="0" y="787019"/>
                  <a:pt x="0" y="723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cb-1-1"/>
          <p:cNvSpPr/>
          <p:nvPr/>
        </p:nvSpPr>
        <p:spPr>
          <a:xfrm>
            <a:off x="952500" y="1905000"/>
            <a:ext cx="31750" cy="838200"/>
          </a:xfrm>
          <a:custGeom>
            <a:avLst/>
            <a:gdLst/>
            <a:ahLst/>
            <a:cxnLst/>
            <a:rect l="0" t="0" r="r" b="b"/>
            <a:pathLst>
              <a:path w="31750" h="838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822325"/>
                </a:lnTo>
                <a:cubicBezTo>
                  <a:pt x="31750" y="831088"/>
                  <a:pt x="24638" y="838200"/>
                  <a:pt x="15875" y="838200"/>
                </a:cubicBezTo>
                <a:lnTo>
                  <a:pt x="15875" y="838200"/>
                </a:lnTo>
                <a:cubicBezTo>
                  <a:pt x="7112" y="838200"/>
                  <a:pt x="0" y="831088"/>
                  <a:pt x="0" y="822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chip"/>
          <p:cNvSpPr/>
          <p:nvPr/>
        </p:nvSpPr>
        <p:spPr>
          <a:xfrm>
            <a:off x="1155700" y="2133600"/>
            <a:ext cx="381000" cy="381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chip-ring"/>
          <p:cNvSpPr/>
          <p:nvPr/>
        </p:nvSpPr>
        <p:spPr>
          <a:xfrm>
            <a:off x="1155700" y="2133600"/>
            <a:ext cx="381000" cy="381000"/>
          </a:xfrm>
          <a:prstGeom prst="ellipse">
            <a:avLst/>
          </a:prstGeom>
          <a:noFill/>
          <a:ln w="6350" cap="rnd">
            <a:solidFill>
              <a:srgbClr val="0B3E8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icon-cart"/>
          <p:cNvSpPr/>
          <p:nvPr/>
        </p:nvSpPr>
        <p:spPr>
          <a:xfrm>
            <a:off x="1276350" y="2265362"/>
            <a:ext cx="126238" cy="74612"/>
          </a:xfrm>
          <a:custGeom>
            <a:avLst/>
            <a:gdLst/>
            <a:ahLst/>
            <a:cxnLst/>
            <a:rect l="0" t="0" r="r" b="b"/>
            <a:pathLst>
              <a:path w="126238" h="74612">
                <a:moveTo>
                  <a:pt x="0" y="0"/>
                </a:moveTo>
                <a:lnTo>
                  <a:pt x="18288" y="0"/>
                </a:lnTo>
                <a:lnTo>
                  <a:pt x="36512" y="74612"/>
                </a:lnTo>
                <a:lnTo>
                  <a:pt x="111125" y="74612"/>
                </a:lnTo>
                <a:lnTo>
                  <a:pt x="126238" y="22225"/>
                </a:lnTo>
                <a:lnTo>
                  <a:pt x="23812" y="22225"/>
                </a:lnTo>
              </a:path>
            </a:pathLst>
          </a:custGeom>
          <a:noFill/>
          <a:ln w="1206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icon-cart"/>
          <p:cNvSpPr/>
          <p:nvPr/>
        </p:nvSpPr>
        <p:spPr>
          <a:xfrm>
            <a:off x="1314450" y="2363788"/>
            <a:ext cx="22225" cy="22225"/>
          </a:xfrm>
          <a:prstGeom prst="ellipse">
            <a:avLst/>
          </a:prstGeom>
          <a:noFill/>
          <a:ln w="1206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icon-cart"/>
          <p:cNvSpPr/>
          <p:nvPr/>
        </p:nvSpPr>
        <p:spPr>
          <a:xfrm>
            <a:off x="1371600" y="2363788"/>
            <a:ext cx="22225" cy="22225"/>
          </a:xfrm>
          <a:prstGeom prst="ellipse">
            <a:avLst/>
          </a:prstGeom>
          <a:noFill/>
          <a:ln w="1206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ct-1-1"/>
          <p:cNvSpPr txBox="1"/>
          <p:nvPr/>
        </p:nvSpPr>
        <p:spPr>
          <a:xfrm>
            <a:off x="1644650" y="2077244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采购需求</a:t>
            </a:r>
          </a:p>
        </p:txBody>
      </p:sp>
      <p:sp>
        <p:nvSpPr>
          <p:cNvPr id="32" name="cp-1-1"/>
          <p:cNvSpPr txBox="1"/>
          <p:nvPr/>
        </p:nvSpPr>
        <p:spPr>
          <a:xfrm>
            <a:off x="1650365" y="23519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设备、耗材与备件</a:t>
            </a:r>
          </a:p>
        </p:txBody>
      </p:sp>
      <p:cxnSp>
        <p:nvCxnSpPr>
          <p:cNvPr id="33" name="arr-1-1"/>
          <p:cNvCxnSpPr/>
          <p:nvPr/>
        </p:nvCxnSpPr>
        <p:spPr>
          <a:xfrm>
            <a:off x="4203700" y="2324100"/>
            <a:ext cx="342900" cy="0"/>
          </a:xfrm>
          <a:prstGeom prst="line">
            <a:avLst/>
          </a:prstGeom>
          <a:ln w="10160" cap="rnd">
            <a:solidFill>
              <a:srgbClr val="0B3E8F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arrh-1-1"/>
          <p:cNvSpPr/>
          <p:nvPr/>
        </p:nvSpPr>
        <p:spPr>
          <a:xfrm>
            <a:off x="4476750" y="2286000"/>
            <a:ext cx="69850" cy="76200"/>
          </a:xfrm>
          <a:custGeom>
            <a:avLst/>
            <a:gdLst/>
            <a:ahLst/>
            <a:cxnLst/>
            <a:rect l="0" t="0" r="r" b="b"/>
            <a:pathLst>
              <a:path w="69850" h="76200">
                <a:moveTo>
                  <a:pt x="0" y="0"/>
                </a:moveTo>
                <a:lnTo>
                  <a:pt x="69850" y="38100"/>
                </a:lnTo>
                <a:lnTo>
                  <a:pt x="0" y="76200"/>
                </a:lnTo>
              </a:path>
            </a:pathLst>
          </a:custGeom>
          <a:noFill/>
          <a:ln w="12065" cap="rnd">
            <a:solidFill>
              <a:srgbClr val="0B3E8F">
                <a:alpha val="6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c-1-2"/>
          <p:cNvSpPr/>
          <p:nvPr/>
        </p:nvSpPr>
        <p:spPr>
          <a:xfrm>
            <a:off x="952500" y="2971800"/>
            <a:ext cx="3175000" cy="838200"/>
          </a:xfrm>
          <a:custGeom>
            <a:avLst/>
            <a:gdLst/>
            <a:ahLst/>
            <a:cxnLst/>
            <a:rect l="0" t="0" r="r" b="b"/>
            <a:pathLst>
              <a:path w="3175000" h="838200">
                <a:moveTo>
                  <a:pt x="114300" y="0"/>
                </a:moveTo>
                <a:lnTo>
                  <a:pt x="3060700" y="0"/>
                </a:lnTo>
                <a:cubicBezTo>
                  <a:pt x="3123819" y="0"/>
                  <a:pt x="3175000" y="51181"/>
                  <a:pt x="3175000" y="114300"/>
                </a:cubicBezTo>
                <a:lnTo>
                  <a:pt x="3175000" y="723900"/>
                </a:lnTo>
                <a:cubicBezTo>
                  <a:pt x="3175000" y="787019"/>
                  <a:pt x="3123819" y="838200"/>
                  <a:pt x="3060700" y="838200"/>
                </a:cubicBezTo>
                <a:lnTo>
                  <a:pt x="114300" y="838200"/>
                </a:lnTo>
                <a:cubicBezTo>
                  <a:pt x="51181" y="838200"/>
                  <a:pt x="0" y="787019"/>
                  <a:pt x="0" y="723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cb-1-2"/>
          <p:cNvSpPr/>
          <p:nvPr/>
        </p:nvSpPr>
        <p:spPr>
          <a:xfrm>
            <a:off x="952500" y="2971800"/>
            <a:ext cx="31750" cy="838200"/>
          </a:xfrm>
          <a:custGeom>
            <a:avLst/>
            <a:gdLst/>
            <a:ahLst/>
            <a:cxnLst/>
            <a:rect l="0" t="0" r="r" b="b"/>
            <a:pathLst>
              <a:path w="31750" h="838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822325"/>
                </a:lnTo>
                <a:cubicBezTo>
                  <a:pt x="31750" y="831088"/>
                  <a:pt x="24638" y="838200"/>
                  <a:pt x="15875" y="838200"/>
                </a:cubicBezTo>
                <a:lnTo>
                  <a:pt x="15875" y="838200"/>
                </a:lnTo>
                <a:cubicBezTo>
                  <a:pt x="7112" y="838200"/>
                  <a:pt x="0" y="831088"/>
                  <a:pt x="0" y="822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chip"/>
          <p:cNvSpPr/>
          <p:nvPr/>
        </p:nvSpPr>
        <p:spPr>
          <a:xfrm>
            <a:off x="1155700" y="3200400"/>
            <a:ext cx="381000" cy="381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chip-ring"/>
          <p:cNvSpPr/>
          <p:nvPr/>
        </p:nvSpPr>
        <p:spPr>
          <a:xfrm>
            <a:off x="1155700" y="3200400"/>
            <a:ext cx="381000" cy="381000"/>
          </a:xfrm>
          <a:prstGeom prst="ellipse">
            <a:avLst/>
          </a:prstGeom>
          <a:noFill/>
          <a:ln w="6350" cap="rnd">
            <a:solidFill>
              <a:srgbClr val="1B5AA8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icon-code"/>
          <p:cNvSpPr/>
          <p:nvPr/>
        </p:nvSpPr>
        <p:spPr>
          <a:xfrm>
            <a:off x="1287462" y="3359150"/>
            <a:ext cx="117475" cy="63500"/>
          </a:xfrm>
          <a:custGeom>
            <a:avLst/>
            <a:gdLst/>
            <a:ahLst/>
            <a:cxnLst/>
            <a:rect l="0" t="0" r="r" b="b"/>
            <a:pathLst>
              <a:path w="117475" h="63500">
                <a:moveTo>
                  <a:pt x="34925" y="0"/>
                </a:moveTo>
                <a:lnTo>
                  <a:pt x="0" y="31750"/>
                </a:lnTo>
                <a:lnTo>
                  <a:pt x="34925" y="63500"/>
                </a:lnTo>
                <a:moveTo>
                  <a:pt x="82550" y="0"/>
                </a:moveTo>
                <a:lnTo>
                  <a:pt x="117475" y="31750"/>
                </a:lnTo>
                <a:lnTo>
                  <a:pt x="82550" y="63500"/>
                </a:lnTo>
              </a:path>
            </a:pathLst>
          </a:custGeom>
          <a:noFill/>
          <a:ln w="1206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ct-1-2"/>
          <p:cNvSpPr txBox="1"/>
          <p:nvPr/>
        </p:nvSpPr>
        <p:spPr>
          <a:xfrm>
            <a:off x="1644650" y="3144044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技术需求</a:t>
            </a:r>
          </a:p>
        </p:txBody>
      </p:sp>
      <p:sp>
        <p:nvSpPr>
          <p:cNvPr id="41" name="cp-1-2"/>
          <p:cNvSpPr txBox="1"/>
          <p:nvPr/>
        </p:nvSpPr>
        <p:spPr>
          <a:xfrm>
            <a:off x="1650365" y="34187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方案设计与系统集成</a:t>
            </a:r>
          </a:p>
        </p:txBody>
      </p:sp>
      <p:cxnSp>
        <p:nvCxnSpPr>
          <p:cNvPr id="42" name="arr-1-2"/>
          <p:cNvCxnSpPr/>
          <p:nvPr/>
        </p:nvCxnSpPr>
        <p:spPr>
          <a:xfrm>
            <a:off x="4203700" y="3390900"/>
            <a:ext cx="342900" cy="0"/>
          </a:xfrm>
          <a:prstGeom prst="line">
            <a:avLst/>
          </a:prstGeom>
          <a:ln w="10160" cap="rnd">
            <a:solidFill>
              <a:srgbClr val="1B5AA8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arrh-1-2"/>
          <p:cNvSpPr/>
          <p:nvPr/>
        </p:nvSpPr>
        <p:spPr>
          <a:xfrm>
            <a:off x="4476750" y="3352800"/>
            <a:ext cx="69850" cy="76200"/>
          </a:xfrm>
          <a:custGeom>
            <a:avLst/>
            <a:gdLst/>
            <a:ahLst/>
            <a:cxnLst/>
            <a:rect l="0" t="0" r="r" b="b"/>
            <a:pathLst>
              <a:path w="69850" h="76200">
                <a:moveTo>
                  <a:pt x="0" y="0"/>
                </a:moveTo>
                <a:lnTo>
                  <a:pt x="69850" y="38100"/>
                </a:lnTo>
                <a:lnTo>
                  <a:pt x="0" y="76200"/>
                </a:lnTo>
              </a:path>
            </a:pathLst>
          </a:custGeom>
          <a:noFill/>
          <a:ln w="12065" cap="rnd">
            <a:solidFill>
              <a:srgbClr val="1B5AA8">
                <a:alpha val="6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c-1-3"/>
          <p:cNvSpPr/>
          <p:nvPr/>
        </p:nvSpPr>
        <p:spPr>
          <a:xfrm>
            <a:off x="952500" y="4038600"/>
            <a:ext cx="3175000" cy="838200"/>
          </a:xfrm>
          <a:custGeom>
            <a:avLst/>
            <a:gdLst/>
            <a:ahLst/>
            <a:cxnLst/>
            <a:rect l="0" t="0" r="r" b="b"/>
            <a:pathLst>
              <a:path w="3175000" h="838200">
                <a:moveTo>
                  <a:pt x="114300" y="0"/>
                </a:moveTo>
                <a:lnTo>
                  <a:pt x="3060700" y="0"/>
                </a:lnTo>
                <a:cubicBezTo>
                  <a:pt x="3123819" y="0"/>
                  <a:pt x="3175000" y="51181"/>
                  <a:pt x="3175000" y="114300"/>
                </a:cubicBezTo>
                <a:lnTo>
                  <a:pt x="3175000" y="723900"/>
                </a:lnTo>
                <a:cubicBezTo>
                  <a:pt x="3175000" y="787019"/>
                  <a:pt x="3123819" y="838200"/>
                  <a:pt x="3060700" y="838200"/>
                </a:cubicBezTo>
                <a:lnTo>
                  <a:pt x="114300" y="838200"/>
                </a:lnTo>
                <a:cubicBezTo>
                  <a:pt x="51181" y="838200"/>
                  <a:pt x="0" y="787019"/>
                  <a:pt x="0" y="723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cb-1-3"/>
          <p:cNvSpPr/>
          <p:nvPr/>
        </p:nvSpPr>
        <p:spPr>
          <a:xfrm>
            <a:off x="952500" y="4038600"/>
            <a:ext cx="31750" cy="838200"/>
          </a:xfrm>
          <a:custGeom>
            <a:avLst/>
            <a:gdLst/>
            <a:ahLst/>
            <a:cxnLst/>
            <a:rect l="0" t="0" r="r" b="b"/>
            <a:pathLst>
              <a:path w="31750" h="838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822325"/>
                </a:lnTo>
                <a:cubicBezTo>
                  <a:pt x="31750" y="831088"/>
                  <a:pt x="24638" y="838200"/>
                  <a:pt x="15875" y="838200"/>
                </a:cubicBezTo>
                <a:lnTo>
                  <a:pt x="15875" y="838200"/>
                </a:lnTo>
                <a:cubicBezTo>
                  <a:pt x="7112" y="838200"/>
                  <a:pt x="0" y="831088"/>
                  <a:pt x="0" y="822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chip"/>
          <p:cNvSpPr/>
          <p:nvPr/>
        </p:nvSpPr>
        <p:spPr>
          <a:xfrm>
            <a:off x="1155700" y="4267200"/>
            <a:ext cx="381000" cy="381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chip-ring"/>
          <p:cNvSpPr/>
          <p:nvPr/>
        </p:nvSpPr>
        <p:spPr>
          <a:xfrm>
            <a:off x="1155700" y="4267200"/>
            <a:ext cx="381000" cy="381000"/>
          </a:xfrm>
          <a:prstGeom prst="ellipse">
            <a:avLst/>
          </a:prstGeom>
          <a:noFill/>
          <a:ln w="6350" cap="rnd">
            <a:solidFill>
              <a:srgbClr val="3985CD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icon-hand"/>
          <p:cNvSpPr/>
          <p:nvPr/>
        </p:nvSpPr>
        <p:spPr>
          <a:xfrm>
            <a:off x="1286189" y="4389438"/>
            <a:ext cx="107636" cy="136525"/>
          </a:xfrm>
          <a:custGeom>
            <a:avLst/>
            <a:gdLst/>
            <a:ahLst/>
            <a:cxnLst/>
            <a:rect l="0" t="0" r="r" b="b"/>
            <a:pathLst>
              <a:path w="107636" h="136525">
                <a:moveTo>
                  <a:pt x="31436" y="73025"/>
                </a:moveTo>
                <a:lnTo>
                  <a:pt x="31436" y="22225"/>
                </a:lnTo>
                <a:cubicBezTo>
                  <a:pt x="31436" y="15240"/>
                  <a:pt x="37151" y="9525"/>
                  <a:pt x="44136" y="9525"/>
                </a:cubicBezTo>
                <a:cubicBezTo>
                  <a:pt x="51121" y="9525"/>
                  <a:pt x="56836" y="15240"/>
                  <a:pt x="56836" y="22225"/>
                </a:cubicBezTo>
                <a:lnTo>
                  <a:pt x="56836" y="61912"/>
                </a:lnTo>
                <a:moveTo>
                  <a:pt x="56836" y="61912"/>
                </a:moveTo>
                <a:lnTo>
                  <a:pt x="56836" y="12700"/>
                </a:lnTo>
                <a:cubicBezTo>
                  <a:pt x="56836" y="5715"/>
                  <a:pt x="62551" y="0"/>
                  <a:pt x="69536" y="0"/>
                </a:cubicBezTo>
                <a:cubicBezTo>
                  <a:pt x="76521" y="0"/>
                  <a:pt x="82236" y="5715"/>
                  <a:pt x="82236" y="12700"/>
                </a:cubicBezTo>
                <a:lnTo>
                  <a:pt x="82236" y="61912"/>
                </a:lnTo>
                <a:moveTo>
                  <a:pt x="82236" y="65088"/>
                </a:moveTo>
                <a:lnTo>
                  <a:pt x="82236" y="31750"/>
                </a:lnTo>
                <a:cubicBezTo>
                  <a:pt x="82236" y="24765"/>
                  <a:pt x="87951" y="19050"/>
                  <a:pt x="94936" y="19050"/>
                </a:cubicBezTo>
                <a:cubicBezTo>
                  <a:pt x="101921" y="19050"/>
                  <a:pt x="107636" y="24765"/>
                  <a:pt x="107636" y="31750"/>
                </a:cubicBezTo>
                <a:lnTo>
                  <a:pt x="107636" y="90488"/>
                </a:lnTo>
                <a:cubicBezTo>
                  <a:pt x="107636" y="115888"/>
                  <a:pt x="88586" y="136525"/>
                  <a:pt x="63186" y="136525"/>
                </a:cubicBezTo>
                <a:cubicBezTo>
                  <a:pt x="42549" y="136525"/>
                  <a:pt x="31436" y="127000"/>
                  <a:pt x="20324" y="111125"/>
                </a:cubicBezTo>
                <a:lnTo>
                  <a:pt x="1274" y="82550"/>
                </a:lnTo>
                <a:cubicBezTo>
                  <a:pt x="-1457" y="76899"/>
                  <a:pt x="321" y="70104"/>
                  <a:pt x="5465" y="66548"/>
                </a:cubicBezTo>
                <a:cubicBezTo>
                  <a:pt x="10608" y="62992"/>
                  <a:pt x="17593" y="63690"/>
                  <a:pt x="21911" y="68262"/>
                </a:cubicBezTo>
                <a:close/>
              </a:path>
            </a:pathLst>
          </a:custGeom>
          <a:noFill/>
          <a:ln w="12065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ct-1-3"/>
          <p:cNvSpPr txBox="1"/>
          <p:nvPr/>
        </p:nvSpPr>
        <p:spPr>
          <a:xfrm>
            <a:off x="1644650" y="4210844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服务需求</a:t>
            </a:r>
          </a:p>
        </p:txBody>
      </p:sp>
      <p:sp>
        <p:nvSpPr>
          <p:cNvPr id="50" name="cp-1-3"/>
          <p:cNvSpPr txBox="1"/>
          <p:nvPr/>
        </p:nvSpPr>
        <p:spPr>
          <a:xfrm>
            <a:off x="1650365" y="44855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运维、培训与咨询</a:t>
            </a:r>
          </a:p>
        </p:txBody>
      </p:sp>
      <p:cxnSp>
        <p:nvCxnSpPr>
          <p:cNvPr id="51" name="arr-1-3"/>
          <p:cNvCxnSpPr/>
          <p:nvPr/>
        </p:nvCxnSpPr>
        <p:spPr>
          <a:xfrm>
            <a:off x="4203700" y="4457700"/>
            <a:ext cx="342900" cy="0"/>
          </a:xfrm>
          <a:prstGeom prst="line">
            <a:avLst/>
          </a:prstGeom>
          <a:ln w="10160" cap="rnd">
            <a:solidFill>
              <a:srgbClr val="3985CD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arrh-1-3"/>
          <p:cNvSpPr/>
          <p:nvPr/>
        </p:nvSpPr>
        <p:spPr>
          <a:xfrm>
            <a:off x="4476750" y="4419600"/>
            <a:ext cx="69850" cy="76200"/>
          </a:xfrm>
          <a:custGeom>
            <a:avLst/>
            <a:gdLst/>
            <a:ahLst/>
            <a:cxnLst/>
            <a:rect l="0" t="0" r="r" b="b"/>
            <a:pathLst>
              <a:path w="69850" h="76200">
                <a:moveTo>
                  <a:pt x="0" y="0"/>
                </a:moveTo>
                <a:lnTo>
                  <a:pt x="69850" y="38100"/>
                </a:lnTo>
                <a:lnTo>
                  <a:pt x="0" y="76200"/>
                </a:lnTo>
              </a:path>
            </a:pathLst>
          </a:custGeom>
          <a:noFill/>
          <a:ln w="12065" cap="rnd">
            <a:solidFill>
              <a:srgbClr val="3985CD">
                <a:alpha val="6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c-1-4"/>
          <p:cNvSpPr/>
          <p:nvPr/>
        </p:nvSpPr>
        <p:spPr>
          <a:xfrm>
            <a:off x="952500" y="5105400"/>
            <a:ext cx="3175000" cy="838200"/>
          </a:xfrm>
          <a:custGeom>
            <a:avLst/>
            <a:gdLst/>
            <a:ahLst/>
            <a:cxnLst/>
            <a:rect l="0" t="0" r="r" b="b"/>
            <a:pathLst>
              <a:path w="3175000" h="838200">
                <a:moveTo>
                  <a:pt x="114300" y="0"/>
                </a:moveTo>
                <a:lnTo>
                  <a:pt x="3060700" y="0"/>
                </a:lnTo>
                <a:cubicBezTo>
                  <a:pt x="3123819" y="0"/>
                  <a:pt x="3175000" y="51181"/>
                  <a:pt x="3175000" y="114300"/>
                </a:cubicBezTo>
                <a:lnTo>
                  <a:pt x="3175000" y="723900"/>
                </a:lnTo>
                <a:cubicBezTo>
                  <a:pt x="3175000" y="787019"/>
                  <a:pt x="3123819" y="838200"/>
                  <a:pt x="3060700" y="838200"/>
                </a:cubicBezTo>
                <a:lnTo>
                  <a:pt x="114300" y="838200"/>
                </a:lnTo>
                <a:cubicBezTo>
                  <a:pt x="51181" y="838200"/>
                  <a:pt x="0" y="787019"/>
                  <a:pt x="0" y="723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cb-1-4"/>
          <p:cNvSpPr/>
          <p:nvPr/>
        </p:nvSpPr>
        <p:spPr>
          <a:xfrm>
            <a:off x="952500" y="5105400"/>
            <a:ext cx="31750" cy="838200"/>
          </a:xfrm>
          <a:custGeom>
            <a:avLst/>
            <a:gdLst/>
            <a:ahLst/>
            <a:cxnLst/>
            <a:rect l="0" t="0" r="r" b="b"/>
            <a:pathLst>
              <a:path w="31750" h="838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822325"/>
                </a:lnTo>
                <a:cubicBezTo>
                  <a:pt x="31750" y="831088"/>
                  <a:pt x="24638" y="838200"/>
                  <a:pt x="15875" y="838200"/>
                </a:cubicBezTo>
                <a:lnTo>
                  <a:pt x="15875" y="838200"/>
                </a:lnTo>
                <a:cubicBezTo>
                  <a:pt x="7112" y="838200"/>
                  <a:pt x="0" y="831088"/>
                  <a:pt x="0" y="822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chip"/>
          <p:cNvSpPr/>
          <p:nvPr/>
        </p:nvSpPr>
        <p:spPr>
          <a:xfrm>
            <a:off x="1155700" y="5334000"/>
            <a:ext cx="381000" cy="381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chip-ring"/>
          <p:cNvSpPr/>
          <p:nvPr/>
        </p:nvSpPr>
        <p:spPr>
          <a:xfrm>
            <a:off x="1155700" y="5334000"/>
            <a:ext cx="381000" cy="381000"/>
          </a:xfrm>
          <a:prstGeom prst="ellipse">
            <a:avLst/>
          </a:prstGeom>
          <a:noFill/>
          <a:ln w="6350" cap="rnd">
            <a:solidFill>
              <a:srgbClr val="54A2D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icon-coin"/>
          <p:cNvSpPr/>
          <p:nvPr/>
        </p:nvSpPr>
        <p:spPr>
          <a:xfrm>
            <a:off x="1295400" y="5480050"/>
            <a:ext cx="101600" cy="88900"/>
          </a:xfrm>
          <a:custGeom>
            <a:avLst/>
            <a:gdLst/>
            <a:ahLst/>
            <a:cxnLst/>
            <a:rect l="0" t="0" r="r" b="b"/>
            <a:pathLst>
              <a:path w="101600" h="88900">
                <a:moveTo>
                  <a:pt x="50800" y="0"/>
                </a:moveTo>
                <a:cubicBezTo>
                  <a:pt x="22225" y="0"/>
                  <a:pt x="0" y="7938"/>
                  <a:pt x="0" y="19050"/>
                </a:cubicBezTo>
                <a:cubicBezTo>
                  <a:pt x="0" y="30162"/>
                  <a:pt x="22225" y="38100"/>
                  <a:pt x="50800" y="38100"/>
                </a:cubicBezTo>
                <a:cubicBezTo>
                  <a:pt x="79375" y="38100"/>
                  <a:pt x="101600" y="30162"/>
                  <a:pt x="101600" y="19050"/>
                </a:cubicBezTo>
                <a:cubicBezTo>
                  <a:pt x="101600" y="7938"/>
                  <a:pt x="79375" y="0"/>
                  <a:pt x="50800" y="0"/>
                </a:cubicBezTo>
                <a:close/>
                <a:moveTo>
                  <a:pt x="0" y="19050"/>
                </a:moveTo>
                <a:lnTo>
                  <a:pt x="0" y="69850"/>
                </a:lnTo>
                <a:cubicBezTo>
                  <a:pt x="0" y="80962"/>
                  <a:pt x="22225" y="88900"/>
                  <a:pt x="50800" y="88900"/>
                </a:cubicBezTo>
                <a:cubicBezTo>
                  <a:pt x="79375" y="88900"/>
                  <a:pt x="101600" y="80962"/>
                  <a:pt x="101600" y="69850"/>
                </a:cubicBezTo>
                <a:lnTo>
                  <a:pt x="101600" y="19050"/>
                </a:lnTo>
              </a:path>
            </a:pathLst>
          </a:custGeom>
          <a:noFill/>
          <a:ln w="12065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ct-1-4"/>
          <p:cNvSpPr txBox="1"/>
          <p:nvPr/>
        </p:nvSpPr>
        <p:spPr>
          <a:xfrm>
            <a:off x="1644650" y="5277644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金融需求</a:t>
            </a:r>
          </a:p>
        </p:txBody>
      </p:sp>
      <p:sp>
        <p:nvSpPr>
          <p:cNvPr id="59" name="cp-1-4"/>
          <p:cNvSpPr txBox="1"/>
          <p:nvPr/>
        </p:nvSpPr>
        <p:spPr>
          <a:xfrm>
            <a:off x="1650365" y="55523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账期、租赁与保理</a:t>
            </a:r>
          </a:p>
        </p:txBody>
      </p:sp>
      <p:cxnSp>
        <p:nvCxnSpPr>
          <p:cNvPr id="60" name="arr-1-4"/>
          <p:cNvCxnSpPr/>
          <p:nvPr/>
        </p:nvCxnSpPr>
        <p:spPr>
          <a:xfrm>
            <a:off x="4203700" y="5524500"/>
            <a:ext cx="342900" cy="0"/>
          </a:xfrm>
          <a:prstGeom prst="line">
            <a:avLst/>
          </a:prstGeom>
          <a:ln w="10160" cap="rnd">
            <a:solidFill>
              <a:srgbClr val="54A2DF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arrh-1-4"/>
          <p:cNvSpPr/>
          <p:nvPr/>
        </p:nvSpPr>
        <p:spPr>
          <a:xfrm>
            <a:off x="4476750" y="5486400"/>
            <a:ext cx="69850" cy="76200"/>
          </a:xfrm>
          <a:custGeom>
            <a:avLst/>
            <a:gdLst/>
            <a:ahLst/>
            <a:cxnLst/>
            <a:rect l="0" t="0" r="r" b="b"/>
            <a:pathLst>
              <a:path w="69850" h="76200">
                <a:moveTo>
                  <a:pt x="0" y="0"/>
                </a:moveTo>
                <a:lnTo>
                  <a:pt x="69850" y="38100"/>
                </a:lnTo>
                <a:lnTo>
                  <a:pt x="0" y="76200"/>
                </a:lnTo>
              </a:path>
            </a:pathLst>
          </a:custGeom>
          <a:noFill/>
          <a:ln w="12065" cap="rnd">
            <a:solidFill>
              <a:srgbClr val="54A2DF">
                <a:alpha val="6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side-h-2"/>
          <p:cNvSpPr txBox="1"/>
          <p:nvPr/>
        </p:nvSpPr>
        <p:spPr>
          <a:xfrm>
            <a:off x="10687812" y="1435513"/>
            <a:ext cx="567690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供给方</a:t>
            </a:r>
          </a:p>
        </p:txBody>
      </p:sp>
      <p:sp>
        <p:nvSpPr>
          <p:cNvPr id="63" name="c-2-1"/>
          <p:cNvSpPr/>
          <p:nvPr/>
        </p:nvSpPr>
        <p:spPr>
          <a:xfrm>
            <a:off x="8064500" y="1905000"/>
            <a:ext cx="3175000" cy="838200"/>
          </a:xfrm>
          <a:custGeom>
            <a:avLst/>
            <a:gdLst/>
            <a:ahLst/>
            <a:cxnLst/>
            <a:rect l="0" t="0" r="r" b="b"/>
            <a:pathLst>
              <a:path w="3175000" h="838200">
                <a:moveTo>
                  <a:pt x="114300" y="0"/>
                </a:moveTo>
                <a:lnTo>
                  <a:pt x="3060700" y="0"/>
                </a:lnTo>
                <a:cubicBezTo>
                  <a:pt x="3123819" y="0"/>
                  <a:pt x="3175000" y="51181"/>
                  <a:pt x="3175000" y="114300"/>
                </a:cubicBezTo>
                <a:lnTo>
                  <a:pt x="3175000" y="723900"/>
                </a:lnTo>
                <a:cubicBezTo>
                  <a:pt x="3175000" y="787019"/>
                  <a:pt x="3123819" y="838200"/>
                  <a:pt x="3060700" y="838200"/>
                </a:cubicBezTo>
                <a:lnTo>
                  <a:pt x="114300" y="838200"/>
                </a:lnTo>
                <a:cubicBezTo>
                  <a:pt x="51181" y="838200"/>
                  <a:pt x="0" y="787019"/>
                  <a:pt x="0" y="723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cb-2-1"/>
          <p:cNvSpPr/>
          <p:nvPr/>
        </p:nvSpPr>
        <p:spPr>
          <a:xfrm>
            <a:off x="11207750" y="1905000"/>
            <a:ext cx="31750" cy="838200"/>
          </a:xfrm>
          <a:custGeom>
            <a:avLst/>
            <a:gdLst/>
            <a:ahLst/>
            <a:cxnLst/>
            <a:rect l="0" t="0" r="r" b="b"/>
            <a:pathLst>
              <a:path w="31750" h="838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822325"/>
                </a:lnTo>
                <a:cubicBezTo>
                  <a:pt x="31750" y="831088"/>
                  <a:pt x="24638" y="838200"/>
                  <a:pt x="15875" y="838200"/>
                </a:cubicBezTo>
                <a:lnTo>
                  <a:pt x="15875" y="838200"/>
                </a:lnTo>
                <a:cubicBezTo>
                  <a:pt x="7112" y="838200"/>
                  <a:pt x="0" y="831088"/>
                  <a:pt x="0" y="822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chip"/>
          <p:cNvSpPr/>
          <p:nvPr/>
        </p:nvSpPr>
        <p:spPr>
          <a:xfrm>
            <a:off x="10655300" y="2133600"/>
            <a:ext cx="381000" cy="381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chip-ring"/>
          <p:cNvSpPr/>
          <p:nvPr/>
        </p:nvSpPr>
        <p:spPr>
          <a:xfrm>
            <a:off x="10655300" y="2133600"/>
            <a:ext cx="381000" cy="381000"/>
          </a:xfrm>
          <a:prstGeom prst="ellipse">
            <a:avLst/>
          </a:prstGeom>
          <a:noFill/>
          <a:ln w="6350" cap="rnd">
            <a:solidFill>
              <a:srgbClr val="0B3E8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icon-factory"/>
          <p:cNvSpPr/>
          <p:nvPr/>
        </p:nvSpPr>
        <p:spPr>
          <a:xfrm>
            <a:off x="10777538" y="2293938"/>
            <a:ext cx="136525" cy="92075"/>
          </a:xfrm>
          <a:custGeom>
            <a:avLst/>
            <a:gdLst/>
            <a:ahLst/>
            <a:cxnLst/>
            <a:rect l="0" t="0" r="r" b="b"/>
            <a:pathLst>
              <a:path w="136525" h="92075">
                <a:moveTo>
                  <a:pt x="0" y="92075"/>
                </a:moveTo>
                <a:lnTo>
                  <a:pt x="0" y="22225"/>
                </a:lnTo>
                <a:lnTo>
                  <a:pt x="39688" y="46038"/>
                </a:lnTo>
                <a:lnTo>
                  <a:pt x="39688" y="22225"/>
                </a:lnTo>
                <a:lnTo>
                  <a:pt x="79375" y="46038"/>
                </a:lnTo>
                <a:lnTo>
                  <a:pt x="79375" y="0"/>
                </a:lnTo>
                <a:lnTo>
                  <a:pt x="119062" y="23812"/>
                </a:lnTo>
                <a:lnTo>
                  <a:pt x="119062" y="84138"/>
                </a:lnTo>
                <a:close/>
                <a:moveTo>
                  <a:pt x="0" y="92075"/>
                </a:moveTo>
                <a:lnTo>
                  <a:pt x="136525" y="92075"/>
                </a:lnTo>
              </a:path>
            </a:pathLst>
          </a:custGeom>
          <a:noFill/>
          <a:ln w="1206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ct-2-1"/>
          <p:cNvSpPr txBox="1"/>
          <p:nvPr/>
        </p:nvSpPr>
        <p:spPr>
          <a:xfrm>
            <a:off x="9731375" y="2077244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制造厂商</a:t>
            </a:r>
          </a:p>
        </p:txBody>
      </p:sp>
      <p:sp>
        <p:nvSpPr>
          <p:cNvPr id="69" name="cp-2-1"/>
          <p:cNvSpPr txBox="1"/>
          <p:nvPr/>
        </p:nvSpPr>
        <p:spPr>
          <a:xfrm>
            <a:off x="9371012" y="2351961"/>
            <a:ext cx="117062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1,286 家认证供应商</a:t>
            </a:r>
          </a:p>
        </p:txBody>
      </p:sp>
      <p:cxnSp>
        <p:nvCxnSpPr>
          <p:cNvPr id="70" name="arr-2-1"/>
          <p:cNvCxnSpPr/>
          <p:nvPr/>
        </p:nvCxnSpPr>
        <p:spPr>
          <a:xfrm flipH="1">
            <a:off x="7645400" y="2324100"/>
            <a:ext cx="342900" cy="0"/>
          </a:xfrm>
          <a:prstGeom prst="line">
            <a:avLst/>
          </a:prstGeom>
          <a:ln w="10160" cap="rnd">
            <a:solidFill>
              <a:srgbClr val="0B3E8F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arrh-2-1"/>
          <p:cNvSpPr/>
          <p:nvPr/>
        </p:nvSpPr>
        <p:spPr>
          <a:xfrm>
            <a:off x="7645400" y="2286000"/>
            <a:ext cx="69850" cy="76200"/>
          </a:xfrm>
          <a:custGeom>
            <a:avLst/>
            <a:gdLst/>
            <a:ahLst/>
            <a:cxnLst/>
            <a:rect l="0" t="0" r="r" b="b"/>
            <a:pathLst>
              <a:path w="69850" h="76200">
                <a:moveTo>
                  <a:pt x="69850" y="0"/>
                </a:moveTo>
                <a:lnTo>
                  <a:pt x="0" y="38100"/>
                </a:lnTo>
                <a:lnTo>
                  <a:pt x="69850" y="76200"/>
                </a:lnTo>
              </a:path>
            </a:pathLst>
          </a:custGeom>
          <a:noFill/>
          <a:ln w="12065" cap="rnd">
            <a:solidFill>
              <a:srgbClr val="0B3E8F">
                <a:alpha val="6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c-2-2"/>
          <p:cNvSpPr/>
          <p:nvPr/>
        </p:nvSpPr>
        <p:spPr>
          <a:xfrm>
            <a:off x="8064500" y="2971800"/>
            <a:ext cx="3175000" cy="838200"/>
          </a:xfrm>
          <a:custGeom>
            <a:avLst/>
            <a:gdLst/>
            <a:ahLst/>
            <a:cxnLst/>
            <a:rect l="0" t="0" r="r" b="b"/>
            <a:pathLst>
              <a:path w="3175000" h="838200">
                <a:moveTo>
                  <a:pt x="114300" y="0"/>
                </a:moveTo>
                <a:lnTo>
                  <a:pt x="3060700" y="0"/>
                </a:lnTo>
                <a:cubicBezTo>
                  <a:pt x="3123819" y="0"/>
                  <a:pt x="3175000" y="51181"/>
                  <a:pt x="3175000" y="114300"/>
                </a:cubicBezTo>
                <a:lnTo>
                  <a:pt x="3175000" y="723900"/>
                </a:lnTo>
                <a:cubicBezTo>
                  <a:pt x="3175000" y="787019"/>
                  <a:pt x="3123819" y="838200"/>
                  <a:pt x="3060700" y="838200"/>
                </a:cubicBezTo>
                <a:lnTo>
                  <a:pt x="114300" y="838200"/>
                </a:lnTo>
                <a:cubicBezTo>
                  <a:pt x="51181" y="838200"/>
                  <a:pt x="0" y="787019"/>
                  <a:pt x="0" y="723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cb-2-2"/>
          <p:cNvSpPr/>
          <p:nvPr/>
        </p:nvSpPr>
        <p:spPr>
          <a:xfrm>
            <a:off x="11207750" y="2971800"/>
            <a:ext cx="31750" cy="838200"/>
          </a:xfrm>
          <a:custGeom>
            <a:avLst/>
            <a:gdLst/>
            <a:ahLst/>
            <a:cxnLst/>
            <a:rect l="0" t="0" r="r" b="b"/>
            <a:pathLst>
              <a:path w="31750" h="838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822325"/>
                </a:lnTo>
                <a:cubicBezTo>
                  <a:pt x="31750" y="831088"/>
                  <a:pt x="24638" y="838200"/>
                  <a:pt x="15875" y="838200"/>
                </a:cubicBezTo>
                <a:lnTo>
                  <a:pt x="15875" y="838200"/>
                </a:lnTo>
                <a:cubicBezTo>
                  <a:pt x="7112" y="838200"/>
                  <a:pt x="0" y="831088"/>
                  <a:pt x="0" y="822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chip"/>
          <p:cNvSpPr/>
          <p:nvPr/>
        </p:nvSpPr>
        <p:spPr>
          <a:xfrm>
            <a:off x="10655300" y="3200400"/>
            <a:ext cx="381000" cy="381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chip-ring"/>
          <p:cNvSpPr/>
          <p:nvPr/>
        </p:nvSpPr>
        <p:spPr>
          <a:xfrm>
            <a:off x="10655300" y="3200400"/>
            <a:ext cx="381000" cy="381000"/>
          </a:xfrm>
          <a:prstGeom prst="ellipse">
            <a:avLst/>
          </a:prstGeom>
          <a:noFill/>
          <a:ln w="6350" cap="rnd">
            <a:solidFill>
              <a:srgbClr val="1B5AA8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icon-network"/>
          <p:cNvSpPr/>
          <p:nvPr/>
        </p:nvSpPr>
        <p:spPr>
          <a:xfrm>
            <a:off x="10821988" y="3362325"/>
            <a:ext cx="47625" cy="55562"/>
          </a:xfrm>
          <a:custGeom>
            <a:avLst/>
            <a:gdLst/>
            <a:ahLst/>
            <a:cxnLst/>
            <a:rect l="0" t="0" r="r" b="b"/>
            <a:pathLst>
              <a:path w="47625" h="55562">
                <a:moveTo>
                  <a:pt x="23812" y="0"/>
                </a:moveTo>
                <a:lnTo>
                  <a:pt x="23812" y="25400"/>
                </a:lnTo>
                <a:moveTo>
                  <a:pt x="0" y="55562"/>
                </a:moveTo>
                <a:lnTo>
                  <a:pt x="17462" y="34925"/>
                </a:lnTo>
                <a:moveTo>
                  <a:pt x="47625" y="55562"/>
                </a:moveTo>
                <a:lnTo>
                  <a:pt x="30162" y="34925"/>
                </a:lnTo>
              </a:path>
            </a:pathLst>
          </a:custGeom>
          <a:noFill/>
          <a:ln w="1206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icon-network"/>
          <p:cNvSpPr/>
          <p:nvPr/>
        </p:nvSpPr>
        <p:spPr>
          <a:xfrm>
            <a:off x="10825162" y="3322638"/>
            <a:ext cx="41275" cy="41275"/>
          </a:xfrm>
          <a:prstGeom prst="ellipse">
            <a:avLst/>
          </a:prstGeom>
          <a:noFill/>
          <a:ln w="1206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icon-network"/>
          <p:cNvSpPr/>
          <p:nvPr/>
        </p:nvSpPr>
        <p:spPr>
          <a:xfrm>
            <a:off x="10785475" y="3413125"/>
            <a:ext cx="41275" cy="41275"/>
          </a:xfrm>
          <a:prstGeom prst="ellipse">
            <a:avLst/>
          </a:prstGeom>
          <a:noFill/>
          <a:ln w="1206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icon-network"/>
          <p:cNvSpPr/>
          <p:nvPr/>
        </p:nvSpPr>
        <p:spPr>
          <a:xfrm>
            <a:off x="10864850" y="3413125"/>
            <a:ext cx="41275" cy="41275"/>
          </a:xfrm>
          <a:prstGeom prst="ellipse">
            <a:avLst/>
          </a:prstGeom>
          <a:noFill/>
          <a:ln w="1206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ct-2-2"/>
          <p:cNvSpPr txBox="1"/>
          <p:nvPr/>
        </p:nvSpPr>
        <p:spPr>
          <a:xfrm>
            <a:off x="9731375" y="3144044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技术伙伴</a:t>
            </a:r>
          </a:p>
        </p:txBody>
      </p:sp>
      <p:sp>
        <p:nvSpPr>
          <p:cNvPr id="81" name="cp-2-2"/>
          <p:cNvSpPr txBox="1"/>
          <p:nvPr/>
        </p:nvSpPr>
        <p:spPr>
          <a:xfrm>
            <a:off x="9386888" y="3418761"/>
            <a:ext cx="115474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460 家集成与开发商</a:t>
            </a:r>
          </a:p>
        </p:txBody>
      </p:sp>
      <p:cxnSp>
        <p:nvCxnSpPr>
          <p:cNvPr id="82" name="arr-2-2"/>
          <p:cNvCxnSpPr/>
          <p:nvPr/>
        </p:nvCxnSpPr>
        <p:spPr>
          <a:xfrm flipH="1">
            <a:off x="7645400" y="3390900"/>
            <a:ext cx="342900" cy="0"/>
          </a:xfrm>
          <a:prstGeom prst="line">
            <a:avLst/>
          </a:prstGeom>
          <a:ln w="10160" cap="rnd">
            <a:solidFill>
              <a:srgbClr val="1B5AA8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3" name="arrh-2-2"/>
          <p:cNvSpPr/>
          <p:nvPr/>
        </p:nvSpPr>
        <p:spPr>
          <a:xfrm>
            <a:off x="7645400" y="3352800"/>
            <a:ext cx="69850" cy="76200"/>
          </a:xfrm>
          <a:custGeom>
            <a:avLst/>
            <a:gdLst/>
            <a:ahLst/>
            <a:cxnLst/>
            <a:rect l="0" t="0" r="r" b="b"/>
            <a:pathLst>
              <a:path w="69850" h="76200">
                <a:moveTo>
                  <a:pt x="69850" y="0"/>
                </a:moveTo>
                <a:lnTo>
                  <a:pt x="0" y="38100"/>
                </a:lnTo>
                <a:lnTo>
                  <a:pt x="69850" y="76200"/>
                </a:lnTo>
              </a:path>
            </a:pathLst>
          </a:custGeom>
          <a:noFill/>
          <a:ln w="12065" cap="rnd">
            <a:solidFill>
              <a:srgbClr val="1B5AA8">
                <a:alpha val="6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c-2-3"/>
          <p:cNvSpPr/>
          <p:nvPr/>
        </p:nvSpPr>
        <p:spPr>
          <a:xfrm>
            <a:off x="8064500" y="4038600"/>
            <a:ext cx="3175000" cy="838200"/>
          </a:xfrm>
          <a:custGeom>
            <a:avLst/>
            <a:gdLst/>
            <a:ahLst/>
            <a:cxnLst/>
            <a:rect l="0" t="0" r="r" b="b"/>
            <a:pathLst>
              <a:path w="3175000" h="838200">
                <a:moveTo>
                  <a:pt x="114300" y="0"/>
                </a:moveTo>
                <a:lnTo>
                  <a:pt x="3060700" y="0"/>
                </a:lnTo>
                <a:cubicBezTo>
                  <a:pt x="3123819" y="0"/>
                  <a:pt x="3175000" y="51181"/>
                  <a:pt x="3175000" y="114300"/>
                </a:cubicBezTo>
                <a:lnTo>
                  <a:pt x="3175000" y="723900"/>
                </a:lnTo>
                <a:cubicBezTo>
                  <a:pt x="3175000" y="787019"/>
                  <a:pt x="3123819" y="838200"/>
                  <a:pt x="3060700" y="838200"/>
                </a:cubicBezTo>
                <a:lnTo>
                  <a:pt x="114300" y="838200"/>
                </a:lnTo>
                <a:cubicBezTo>
                  <a:pt x="51181" y="838200"/>
                  <a:pt x="0" y="787019"/>
                  <a:pt x="0" y="723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cb-2-3"/>
          <p:cNvSpPr/>
          <p:nvPr/>
        </p:nvSpPr>
        <p:spPr>
          <a:xfrm>
            <a:off x="11207750" y="4038600"/>
            <a:ext cx="31750" cy="838200"/>
          </a:xfrm>
          <a:custGeom>
            <a:avLst/>
            <a:gdLst/>
            <a:ahLst/>
            <a:cxnLst/>
            <a:rect l="0" t="0" r="r" b="b"/>
            <a:pathLst>
              <a:path w="31750" h="838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822325"/>
                </a:lnTo>
                <a:cubicBezTo>
                  <a:pt x="31750" y="831088"/>
                  <a:pt x="24638" y="838200"/>
                  <a:pt x="15875" y="838200"/>
                </a:cubicBezTo>
                <a:lnTo>
                  <a:pt x="15875" y="838200"/>
                </a:lnTo>
                <a:cubicBezTo>
                  <a:pt x="7112" y="838200"/>
                  <a:pt x="0" y="831088"/>
                  <a:pt x="0" y="822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chip"/>
          <p:cNvSpPr/>
          <p:nvPr/>
        </p:nvSpPr>
        <p:spPr>
          <a:xfrm>
            <a:off x="10655300" y="4267200"/>
            <a:ext cx="381000" cy="381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chip-ring"/>
          <p:cNvSpPr/>
          <p:nvPr/>
        </p:nvSpPr>
        <p:spPr>
          <a:xfrm>
            <a:off x="10655300" y="4267200"/>
            <a:ext cx="381000" cy="381000"/>
          </a:xfrm>
          <a:prstGeom prst="ellipse">
            <a:avLst/>
          </a:prstGeom>
          <a:noFill/>
          <a:ln w="6350" cap="rnd">
            <a:solidFill>
              <a:srgbClr val="3985CD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icon-people"/>
          <p:cNvSpPr/>
          <p:nvPr/>
        </p:nvSpPr>
        <p:spPr>
          <a:xfrm>
            <a:off x="10779125" y="4478338"/>
            <a:ext cx="134938" cy="38100"/>
          </a:xfrm>
          <a:custGeom>
            <a:avLst/>
            <a:gdLst/>
            <a:ahLst/>
            <a:cxnLst/>
            <a:rect l="0" t="0" r="r" b="b"/>
            <a:pathLst>
              <a:path w="134938" h="38100">
                <a:moveTo>
                  <a:pt x="0" y="38100"/>
                </a:moveTo>
                <a:cubicBezTo>
                  <a:pt x="0" y="14288"/>
                  <a:pt x="19812" y="0"/>
                  <a:pt x="42862" y="0"/>
                </a:cubicBezTo>
                <a:cubicBezTo>
                  <a:pt x="65913" y="0"/>
                  <a:pt x="85725" y="14288"/>
                  <a:pt x="85725" y="38100"/>
                </a:cubicBezTo>
                <a:moveTo>
                  <a:pt x="101600" y="3175"/>
                </a:moveTo>
                <a:cubicBezTo>
                  <a:pt x="122238" y="5525"/>
                  <a:pt x="134938" y="19875"/>
                  <a:pt x="134938" y="38100"/>
                </a:cubicBezTo>
              </a:path>
            </a:pathLst>
          </a:custGeom>
          <a:noFill/>
          <a:ln w="12065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icon-people"/>
          <p:cNvSpPr/>
          <p:nvPr/>
        </p:nvSpPr>
        <p:spPr>
          <a:xfrm>
            <a:off x="10796588" y="4410075"/>
            <a:ext cx="50800" cy="50800"/>
          </a:xfrm>
          <a:prstGeom prst="ellipse">
            <a:avLst/>
          </a:prstGeom>
          <a:noFill/>
          <a:ln w="12065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icon-people"/>
          <p:cNvSpPr/>
          <p:nvPr/>
        </p:nvSpPr>
        <p:spPr>
          <a:xfrm>
            <a:off x="10864850" y="4410075"/>
            <a:ext cx="41275" cy="41275"/>
          </a:xfrm>
          <a:prstGeom prst="ellipse">
            <a:avLst/>
          </a:prstGeom>
          <a:noFill/>
          <a:ln w="12065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ct-2-3"/>
          <p:cNvSpPr txBox="1"/>
          <p:nvPr/>
        </p:nvSpPr>
        <p:spPr>
          <a:xfrm>
            <a:off x="9731375" y="4210844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服务机构</a:t>
            </a:r>
          </a:p>
        </p:txBody>
      </p:sp>
      <p:sp>
        <p:nvSpPr>
          <p:cNvPr id="92" name="cp-2-3"/>
          <p:cNvSpPr txBox="1"/>
          <p:nvPr/>
        </p:nvSpPr>
        <p:spPr>
          <a:xfrm>
            <a:off x="9500552" y="4485561"/>
            <a:ext cx="104108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328 家区域服务商</a:t>
            </a:r>
          </a:p>
        </p:txBody>
      </p:sp>
      <p:cxnSp>
        <p:nvCxnSpPr>
          <p:cNvPr id="93" name="arr-2-3"/>
          <p:cNvCxnSpPr/>
          <p:nvPr/>
        </p:nvCxnSpPr>
        <p:spPr>
          <a:xfrm flipH="1">
            <a:off x="7645400" y="4457700"/>
            <a:ext cx="342900" cy="0"/>
          </a:xfrm>
          <a:prstGeom prst="line">
            <a:avLst/>
          </a:prstGeom>
          <a:ln w="10160" cap="rnd">
            <a:solidFill>
              <a:srgbClr val="3985CD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4" name="arrh-2-3"/>
          <p:cNvSpPr/>
          <p:nvPr/>
        </p:nvSpPr>
        <p:spPr>
          <a:xfrm>
            <a:off x="7645400" y="4419600"/>
            <a:ext cx="69850" cy="76200"/>
          </a:xfrm>
          <a:custGeom>
            <a:avLst/>
            <a:gdLst/>
            <a:ahLst/>
            <a:cxnLst/>
            <a:rect l="0" t="0" r="r" b="b"/>
            <a:pathLst>
              <a:path w="69850" h="76200">
                <a:moveTo>
                  <a:pt x="69850" y="0"/>
                </a:moveTo>
                <a:lnTo>
                  <a:pt x="0" y="38100"/>
                </a:lnTo>
                <a:lnTo>
                  <a:pt x="69850" y="76200"/>
                </a:lnTo>
              </a:path>
            </a:pathLst>
          </a:custGeom>
          <a:noFill/>
          <a:ln w="12065" cap="rnd">
            <a:solidFill>
              <a:srgbClr val="3985CD">
                <a:alpha val="6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c-2-4"/>
          <p:cNvSpPr/>
          <p:nvPr/>
        </p:nvSpPr>
        <p:spPr>
          <a:xfrm>
            <a:off x="8064500" y="5105400"/>
            <a:ext cx="3175000" cy="838200"/>
          </a:xfrm>
          <a:custGeom>
            <a:avLst/>
            <a:gdLst/>
            <a:ahLst/>
            <a:cxnLst/>
            <a:rect l="0" t="0" r="r" b="b"/>
            <a:pathLst>
              <a:path w="3175000" h="838200">
                <a:moveTo>
                  <a:pt x="114300" y="0"/>
                </a:moveTo>
                <a:lnTo>
                  <a:pt x="3060700" y="0"/>
                </a:lnTo>
                <a:cubicBezTo>
                  <a:pt x="3123819" y="0"/>
                  <a:pt x="3175000" y="51181"/>
                  <a:pt x="3175000" y="114300"/>
                </a:cubicBezTo>
                <a:lnTo>
                  <a:pt x="3175000" y="723900"/>
                </a:lnTo>
                <a:cubicBezTo>
                  <a:pt x="3175000" y="787019"/>
                  <a:pt x="3123819" y="838200"/>
                  <a:pt x="3060700" y="838200"/>
                </a:cubicBezTo>
                <a:lnTo>
                  <a:pt x="114300" y="838200"/>
                </a:lnTo>
                <a:cubicBezTo>
                  <a:pt x="51181" y="838200"/>
                  <a:pt x="0" y="787019"/>
                  <a:pt x="0" y="723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cb-2-4"/>
          <p:cNvSpPr/>
          <p:nvPr/>
        </p:nvSpPr>
        <p:spPr>
          <a:xfrm>
            <a:off x="11207750" y="5105400"/>
            <a:ext cx="31750" cy="838200"/>
          </a:xfrm>
          <a:custGeom>
            <a:avLst/>
            <a:gdLst/>
            <a:ahLst/>
            <a:cxnLst/>
            <a:rect l="0" t="0" r="r" b="b"/>
            <a:pathLst>
              <a:path w="31750" h="838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822325"/>
                </a:lnTo>
                <a:cubicBezTo>
                  <a:pt x="31750" y="831088"/>
                  <a:pt x="24638" y="838200"/>
                  <a:pt x="15875" y="838200"/>
                </a:cubicBezTo>
                <a:lnTo>
                  <a:pt x="15875" y="838200"/>
                </a:lnTo>
                <a:cubicBezTo>
                  <a:pt x="7112" y="838200"/>
                  <a:pt x="0" y="831088"/>
                  <a:pt x="0" y="822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chip"/>
          <p:cNvSpPr/>
          <p:nvPr/>
        </p:nvSpPr>
        <p:spPr>
          <a:xfrm>
            <a:off x="10655300" y="5334000"/>
            <a:ext cx="381000" cy="381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chip-ring"/>
          <p:cNvSpPr/>
          <p:nvPr/>
        </p:nvSpPr>
        <p:spPr>
          <a:xfrm>
            <a:off x="10655300" y="5334000"/>
            <a:ext cx="381000" cy="381000"/>
          </a:xfrm>
          <a:prstGeom prst="ellipse">
            <a:avLst/>
          </a:prstGeom>
          <a:noFill/>
          <a:ln w="6350" cap="rnd">
            <a:solidFill>
              <a:srgbClr val="54A2D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9" name="icon-shield"/>
          <p:cNvSpPr/>
          <p:nvPr/>
        </p:nvSpPr>
        <p:spPr>
          <a:xfrm>
            <a:off x="10788650" y="5456238"/>
            <a:ext cx="114300" cy="136525"/>
          </a:xfrm>
          <a:custGeom>
            <a:avLst/>
            <a:gdLst/>
            <a:ahLst/>
            <a:cxnLst/>
            <a:rect l="0" t="0" r="r" b="b"/>
            <a:pathLst>
              <a:path w="114300" h="136525">
                <a:moveTo>
                  <a:pt x="57150" y="0"/>
                </a:moveTo>
                <a:lnTo>
                  <a:pt x="114300" y="22225"/>
                </a:lnTo>
                <a:lnTo>
                  <a:pt x="114300" y="66675"/>
                </a:lnTo>
                <a:cubicBezTo>
                  <a:pt x="114300" y="100012"/>
                  <a:pt x="90488" y="125412"/>
                  <a:pt x="57150" y="136525"/>
                </a:cubicBezTo>
                <a:cubicBezTo>
                  <a:pt x="23812" y="125412"/>
                  <a:pt x="0" y="100012"/>
                  <a:pt x="0" y="66675"/>
                </a:cubicBezTo>
                <a:lnTo>
                  <a:pt x="0" y="22225"/>
                </a:lnTo>
                <a:close/>
                <a:moveTo>
                  <a:pt x="33338" y="68262"/>
                </a:moveTo>
                <a:lnTo>
                  <a:pt x="50800" y="85725"/>
                </a:lnTo>
                <a:lnTo>
                  <a:pt x="84138" y="52388"/>
                </a:lnTo>
              </a:path>
            </a:pathLst>
          </a:custGeom>
          <a:noFill/>
          <a:ln w="12065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ct-2-4"/>
          <p:cNvSpPr txBox="1"/>
          <p:nvPr/>
        </p:nvSpPr>
        <p:spPr>
          <a:xfrm>
            <a:off x="9731375" y="5277644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金融机构</a:t>
            </a:r>
          </a:p>
        </p:txBody>
      </p:sp>
      <p:sp>
        <p:nvSpPr>
          <p:cNvPr id="101" name="cp-2-4"/>
          <p:cNvSpPr txBox="1"/>
          <p:nvPr/>
        </p:nvSpPr>
        <p:spPr>
          <a:xfrm>
            <a:off x="9337992" y="5552361"/>
            <a:ext cx="120364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26 家银行与租赁公司</a:t>
            </a:r>
          </a:p>
        </p:txBody>
      </p:sp>
      <p:cxnSp>
        <p:nvCxnSpPr>
          <p:cNvPr id="102" name="arr-2-4"/>
          <p:cNvCxnSpPr/>
          <p:nvPr/>
        </p:nvCxnSpPr>
        <p:spPr>
          <a:xfrm flipH="1">
            <a:off x="7645400" y="5524500"/>
            <a:ext cx="342900" cy="0"/>
          </a:xfrm>
          <a:prstGeom prst="line">
            <a:avLst/>
          </a:prstGeom>
          <a:ln w="10160" cap="rnd">
            <a:solidFill>
              <a:srgbClr val="54A2DF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3" name="arrh-2-4"/>
          <p:cNvSpPr/>
          <p:nvPr/>
        </p:nvSpPr>
        <p:spPr>
          <a:xfrm>
            <a:off x="7645400" y="5486400"/>
            <a:ext cx="69850" cy="76200"/>
          </a:xfrm>
          <a:custGeom>
            <a:avLst/>
            <a:gdLst/>
            <a:ahLst/>
            <a:cxnLst/>
            <a:rect l="0" t="0" r="r" b="b"/>
            <a:pathLst>
              <a:path w="69850" h="76200">
                <a:moveTo>
                  <a:pt x="69850" y="0"/>
                </a:moveTo>
                <a:lnTo>
                  <a:pt x="0" y="38100"/>
                </a:lnTo>
                <a:lnTo>
                  <a:pt x="69850" y="76200"/>
                </a:lnTo>
              </a:path>
            </a:pathLst>
          </a:custGeom>
          <a:noFill/>
          <a:ln w="12065" cap="rnd">
            <a:solidFill>
              <a:srgbClr val="54A2DF">
                <a:alpha val="6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04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供需对接 · 双向撮合</a:t>
            </a:r>
          </a:p>
        </p:txBody>
      </p:sp>
      <p:sp>
        <p:nvSpPr>
          <p:cNvPr id="106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9946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跨部门订单交付流程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53695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SWIMLANE PROCESS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780399" y="673132"/>
            <a:ext cx="2840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三条泳道、八个节点，明确每一步的责任部门与交接口</a:t>
            </a:r>
          </a:p>
        </p:txBody>
      </p:sp>
      <p:sp>
        <p:nvSpPr>
          <p:cNvPr id="10" name="lane-1"/>
          <p:cNvSpPr/>
          <p:nvPr/>
        </p:nvSpPr>
        <p:spPr>
          <a:xfrm>
            <a:off x="952500" y="1676400"/>
            <a:ext cx="10287000" cy="1244600"/>
          </a:xfrm>
          <a:custGeom>
            <a:avLst/>
            <a:gdLst/>
            <a:ahLst/>
            <a:cxnLst/>
            <a:rect l="0" t="0" r="r" b="b"/>
            <a:pathLst>
              <a:path w="10287000" h="1244600">
                <a:moveTo>
                  <a:pt x="114300" y="0"/>
                </a:moveTo>
                <a:lnTo>
                  <a:pt x="10172700" y="0"/>
                </a:lnTo>
                <a:cubicBezTo>
                  <a:pt x="10235819" y="0"/>
                  <a:pt x="10287000" y="51181"/>
                  <a:pt x="10287000" y="114300"/>
                </a:cubicBezTo>
                <a:lnTo>
                  <a:pt x="10287000" y="1130300"/>
                </a:lnTo>
                <a:cubicBezTo>
                  <a:pt x="10287000" y="1193419"/>
                  <a:pt x="10235819" y="1244600"/>
                  <a:pt x="10172700" y="1244600"/>
                </a:cubicBezTo>
                <a:lnTo>
                  <a:pt x="114300" y="1244600"/>
                </a:lnTo>
                <a:cubicBezTo>
                  <a:pt x="51181" y="1244600"/>
                  <a:pt x="0" y="1193419"/>
                  <a:pt x="0" y="1130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>
              <a:alpha val="7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lanehd-1"/>
          <p:cNvSpPr/>
          <p:nvPr/>
        </p:nvSpPr>
        <p:spPr>
          <a:xfrm>
            <a:off x="952500" y="1676400"/>
            <a:ext cx="1498600" cy="1244600"/>
          </a:xfrm>
          <a:custGeom>
            <a:avLst/>
            <a:gdLst/>
            <a:ahLst/>
            <a:cxnLst/>
            <a:rect l="0" t="0" r="r" b="b"/>
            <a:pathLst>
              <a:path w="1498600" h="1244600">
                <a:moveTo>
                  <a:pt x="114300" y="0"/>
                </a:moveTo>
                <a:lnTo>
                  <a:pt x="1384300" y="0"/>
                </a:lnTo>
                <a:cubicBezTo>
                  <a:pt x="1447419" y="0"/>
                  <a:pt x="1498600" y="51181"/>
                  <a:pt x="1498600" y="114300"/>
                </a:cubicBezTo>
                <a:lnTo>
                  <a:pt x="1498600" y="1130300"/>
                </a:lnTo>
                <a:cubicBezTo>
                  <a:pt x="1498600" y="1193419"/>
                  <a:pt x="1447419" y="1244600"/>
                  <a:pt x="1384300" y="1244600"/>
                </a:cubicBezTo>
                <a:lnTo>
                  <a:pt x="114300" y="1244600"/>
                </a:lnTo>
                <a:cubicBezTo>
                  <a:pt x="51181" y="1244600"/>
                  <a:pt x="0" y="1193419"/>
                  <a:pt x="0" y="1130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icon-people"/>
          <p:cNvSpPr/>
          <p:nvPr/>
        </p:nvSpPr>
        <p:spPr>
          <a:xfrm>
            <a:off x="1224280" y="2219134"/>
            <a:ext cx="143954" cy="40640"/>
          </a:xfrm>
          <a:custGeom>
            <a:avLst/>
            <a:gdLst/>
            <a:ahLst/>
            <a:cxnLst/>
            <a:rect l="0" t="0" r="r" b="b"/>
            <a:pathLst>
              <a:path w="143954" h="40640">
                <a:moveTo>
                  <a:pt x="0" y="40640"/>
                </a:moveTo>
                <a:cubicBezTo>
                  <a:pt x="0" y="15240"/>
                  <a:pt x="21145" y="0"/>
                  <a:pt x="45720" y="0"/>
                </a:cubicBezTo>
                <a:cubicBezTo>
                  <a:pt x="70294" y="0"/>
                  <a:pt x="91440" y="15240"/>
                  <a:pt x="91440" y="40640"/>
                </a:cubicBezTo>
                <a:moveTo>
                  <a:pt x="108394" y="3365"/>
                </a:moveTo>
                <a:cubicBezTo>
                  <a:pt x="130366" y="5905"/>
                  <a:pt x="143954" y="21145"/>
                  <a:pt x="143954" y="40640"/>
                </a:cubicBez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icon-people"/>
          <p:cNvSpPr/>
          <p:nvPr/>
        </p:nvSpPr>
        <p:spPr>
          <a:xfrm>
            <a:off x="1242907" y="2146300"/>
            <a:ext cx="54187" cy="54187"/>
          </a:xfrm>
          <a:prstGeom prst="ellipse">
            <a:avLst/>
          </a:pr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icon-people"/>
          <p:cNvSpPr/>
          <p:nvPr/>
        </p:nvSpPr>
        <p:spPr>
          <a:xfrm>
            <a:off x="1315720" y="2146300"/>
            <a:ext cx="44027" cy="44027"/>
          </a:xfrm>
          <a:prstGeom prst="ellipse">
            <a:avLst/>
          </a:pr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lanen-1"/>
          <p:cNvSpPr txBox="1"/>
          <p:nvPr/>
        </p:nvSpPr>
        <p:spPr>
          <a:xfrm>
            <a:off x="1542288" y="2056702"/>
            <a:ext cx="70104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客户侧</a:t>
            </a:r>
          </a:p>
        </p:txBody>
      </p:sp>
      <p:sp>
        <p:nvSpPr>
          <p:cNvPr id="16" name="lanep-1"/>
          <p:cNvSpPr txBox="1"/>
          <p:nvPr/>
        </p:nvSpPr>
        <p:spPr>
          <a:xfrm>
            <a:off x="1548765" y="2339261"/>
            <a:ext cx="66833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88000"/>
                  </a:srgbClr>
                </a:solidFill>
                <a:latin typeface="微软雅黑"/>
                <a:ea typeface="微软雅黑"/>
                <a:cs typeface="微软雅黑"/>
              </a:rPr>
              <a:t>提出与确认</a:t>
            </a:r>
          </a:p>
        </p:txBody>
      </p:sp>
      <p:cxnSp>
        <p:nvCxnSpPr>
          <p:cNvPr id="17" name="laneline-1"/>
          <p:cNvCxnSpPr/>
          <p:nvPr/>
        </p:nvCxnSpPr>
        <p:spPr>
          <a:xfrm>
            <a:off x="2552700" y="2921000"/>
            <a:ext cx="86868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lane-2"/>
          <p:cNvSpPr/>
          <p:nvPr/>
        </p:nvSpPr>
        <p:spPr>
          <a:xfrm>
            <a:off x="952500" y="3060700"/>
            <a:ext cx="10287000" cy="1244600"/>
          </a:xfrm>
          <a:custGeom>
            <a:avLst/>
            <a:gdLst/>
            <a:ahLst/>
            <a:cxnLst/>
            <a:rect l="0" t="0" r="r" b="b"/>
            <a:pathLst>
              <a:path w="10287000" h="1244600">
                <a:moveTo>
                  <a:pt x="114300" y="0"/>
                </a:moveTo>
                <a:lnTo>
                  <a:pt x="10172700" y="0"/>
                </a:lnTo>
                <a:cubicBezTo>
                  <a:pt x="10235819" y="0"/>
                  <a:pt x="10287000" y="51181"/>
                  <a:pt x="10287000" y="114300"/>
                </a:cubicBezTo>
                <a:lnTo>
                  <a:pt x="10287000" y="1130300"/>
                </a:lnTo>
                <a:cubicBezTo>
                  <a:pt x="10287000" y="1193419"/>
                  <a:pt x="10235819" y="1244600"/>
                  <a:pt x="10172700" y="1244600"/>
                </a:cubicBezTo>
                <a:lnTo>
                  <a:pt x="114300" y="1244600"/>
                </a:lnTo>
                <a:cubicBezTo>
                  <a:pt x="51181" y="1244600"/>
                  <a:pt x="0" y="1193419"/>
                  <a:pt x="0" y="1130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>
              <a:alpha val="7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lanehd-2"/>
          <p:cNvSpPr/>
          <p:nvPr/>
        </p:nvSpPr>
        <p:spPr>
          <a:xfrm>
            <a:off x="952500" y="3060700"/>
            <a:ext cx="1498600" cy="1244600"/>
          </a:xfrm>
          <a:custGeom>
            <a:avLst/>
            <a:gdLst/>
            <a:ahLst/>
            <a:cxnLst/>
            <a:rect l="0" t="0" r="r" b="b"/>
            <a:pathLst>
              <a:path w="1498600" h="1244600">
                <a:moveTo>
                  <a:pt x="114300" y="0"/>
                </a:moveTo>
                <a:lnTo>
                  <a:pt x="1384300" y="0"/>
                </a:lnTo>
                <a:cubicBezTo>
                  <a:pt x="1447419" y="0"/>
                  <a:pt x="1498600" y="51181"/>
                  <a:pt x="1498600" y="114300"/>
                </a:cubicBezTo>
                <a:lnTo>
                  <a:pt x="1498600" y="1130300"/>
                </a:lnTo>
                <a:cubicBezTo>
                  <a:pt x="1498600" y="1193419"/>
                  <a:pt x="1447419" y="1244600"/>
                  <a:pt x="1384300" y="1244600"/>
                </a:cubicBezTo>
                <a:lnTo>
                  <a:pt x="114300" y="1244600"/>
                </a:lnTo>
                <a:cubicBezTo>
                  <a:pt x="51181" y="1244600"/>
                  <a:pt x="0" y="1193419"/>
                  <a:pt x="0" y="1130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4787C9"/>
              </a:gs>
              <a:gs pos="100000">
                <a:srgbClr val="2E77C2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icon-doc"/>
          <p:cNvSpPr/>
          <p:nvPr/>
        </p:nvSpPr>
        <p:spPr>
          <a:xfrm>
            <a:off x="1249680" y="3510280"/>
            <a:ext cx="94805" cy="142240"/>
          </a:xfrm>
          <a:custGeom>
            <a:avLst/>
            <a:gdLst/>
            <a:ahLst/>
            <a:cxnLst/>
            <a:rect l="0" t="0" r="r" b="b"/>
            <a:pathLst>
              <a:path w="94805" h="142240">
                <a:moveTo>
                  <a:pt x="0" y="0"/>
                </a:moveTo>
                <a:lnTo>
                  <a:pt x="60960" y="0"/>
                </a:lnTo>
                <a:lnTo>
                  <a:pt x="94805" y="33846"/>
                </a:lnTo>
                <a:lnTo>
                  <a:pt x="94805" y="142240"/>
                </a:lnTo>
                <a:lnTo>
                  <a:pt x="0" y="142240"/>
                </a:lnTo>
                <a:close/>
                <a:moveTo>
                  <a:pt x="60960" y="0"/>
                </a:moveTo>
                <a:lnTo>
                  <a:pt x="60960" y="33846"/>
                </a:lnTo>
                <a:lnTo>
                  <a:pt x="94805" y="33846"/>
                </a:lnTo>
                <a:moveTo>
                  <a:pt x="22034" y="74486"/>
                </a:moveTo>
                <a:lnTo>
                  <a:pt x="72834" y="74486"/>
                </a:lnTo>
                <a:moveTo>
                  <a:pt x="22034" y="103315"/>
                </a:moveTo>
                <a:lnTo>
                  <a:pt x="72834" y="103315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lanen-2"/>
          <p:cNvSpPr txBox="1"/>
          <p:nvPr/>
        </p:nvSpPr>
        <p:spPr>
          <a:xfrm>
            <a:off x="1542288" y="3441002"/>
            <a:ext cx="70104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商务侧</a:t>
            </a:r>
          </a:p>
        </p:txBody>
      </p:sp>
      <p:sp>
        <p:nvSpPr>
          <p:cNvPr id="22" name="lanep-2"/>
          <p:cNvSpPr txBox="1"/>
          <p:nvPr/>
        </p:nvSpPr>
        <p:spPr>
          <a:xfrm>
            <a:off x="1548765" y="3723561"/>
            <a:ext cx="66833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88000"/>
                  </a:srgbClr>
                </a:solidFill>
                <a:latin typeface="微软雅黑"/>
                <a:ea typeface="微软雅黑"/>
                <a:cs typeface="微软雅黑"/>
              </a:rPr>
              <a:t>报价与签约</a:t>
            </a:r>
          </a:p>
        </p:txBody>
      </p:sp>
      <p:cxnSp>
        <p:nvCxnSpPr>
          <p:cNvPr id="23" name="laneline-2"/>
          <p:cNvCxnSpPr/>
          <p:nvPr/>
        </p:nvCxnSpPr>
        <p:spPr>
          <a:xfrm>
            <a:off x="2552700" y="4305300"/>
            <a:ext cx="86868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lane-3"/>
          <p:cNvSpPr/>
          <p:nvPr/>
        </p:nvSpPr>
        <p:spPr>
          <a:xfrm>
            <a:off x="952500" y="4445000"/>
            <a:ext cx="10287000" cy="1244600"/>
          </a:xfrm>
          <a:custGeom>
            <a:avLst/>
            <a:gdLst/>
            <a:ahLst/>
            <a:cxnLst/>
            <a:rect l="0" t="0" r="r" b="b"/>
            <a:pathLst>
              <a:path w="10287000" h="1244600">
                <a:moveTo>
                  <a:pt x="114300" y="0"/>
                </a:moveTo>
                <a:lnTo>
                  <a:pt x="10172700" y="0"/>
                </a:lnTo>
                <a:cubicBezTo>
                  <a:pt x="10235819" y="0"/>
                  <a:pt x="10287000" y="51181"/>
                  <a:pt x="10287000" y="114300"/>
                </a:cubicBezTo>
                <a:lnTo>
                  <a:pt x="10287000" y="1130300"/>
                </a:lnTo>
                <a:cubicBezTo>
                  <a:pt x="10287000" y="1193419"/>
                  <a:pt x="10235819" y="1244600"/>
                  <a:pt x="10172700" y="1244600"/>
                </a:cubicBezTo>
                <a:lnTo>
                  <a:pt x="114300" y="1244600"/>
                </a:lnTo>
                <a:cubicBezTo>
                  <a:pt x="51181" y="1244600"/>
                  <a:pt x="0" y="1193419"/>
                  <a:pt x="0" y="1130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>
              <a:alpha val="7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lanehd-3"/>
          <p:cNvSpPr/>
          <p:nvPr/>
        </p:nvSpPr>
        <p:spPr>
          <a:xfrm>
            <a:off x="952500" y="4445000"/>
            <a:ext cx="1498600" cy="1244600"/>
          </a:xfrm>
          <a:custGeom>
            <a:avLst/>
            <a:gdLst/>
            <a:ahLst/>
            <a:cxnLst/>
            <a:rect l="0" t="0" r="r" b="b"/>
            <a:pathLst>
              <a:path w="1498600" h="1244600">
                <a:moveTo>
                  <a:pt x="114300" y="0"/>
                </a:moveTo>
                <a:lnTo>
                  <a:pt x="1384300" y="0"/>
                </a:lnTo>
                <a:cubicBezTo>
                  <a:pt x="1447419" y="0"/>
                  <a:pt x="1498600" y="51181"/>
                  <a:pt x="1498600" y="114300"/>
                </a:cubicBezTo>
                <a:lnTo>
                  <a:pt x="1498600" y="1130300"/>
                </a:lnTo>
                <a:cubicBezTo>
                  <a:pt x="1498600" y="1193419"/>
                  <a:pt x="1447419" y="1244600"/>
                  <a:pt x="1384300" y="1244600"/>
                </a:cubicBezTo>
                <a:lnTo>
                  <a:pt x="114300" y="1244600"/>
                </a:lnTo>
                <a:cubicBezTo>
                  <a:pt x="51181" y="1244600"/>
                  <a:pt x="0" y="1193419"/>
                  <a:pt x="0" y="1130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69ADE3"/>
              </a:gs>
              <a:gs pos="100000">
                <a:srgbClr val="54A2DF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icon-process"/>
          <p:cNvSpPr/>
          <p:nvPr/>
        </p:nvSpPr>
        <p:spPr>
          <a:xfrm>
            <a:off x="1232726" y="4931854"/>
            <a:ext cx="125349" cy="67691"/>
          </a:xfrm>
          <a:custGeom>
            <a:avLst/>
            <a:gdLst/>
            <a:ahLst/>
            <a:cxnLst/>
            <a:rect l="0" t="0" r="r" b="b"/>
            <a:pathLst>
              <a:path w="125349" h="67691">
                <a:moveTo>
                  <a:pt x="0" y="0"/>
                </a:moveTo>
                <a:lnTo>
                  <a:pt x="44069" y="0"/>
                </a:lnTo>
                <a:lnTo>
                  <a:pt x="44069" y="44006"/>
                </a:lnTo>
                <a:lnTo>
                  <a:pt x="0" y="44006"/>
                </a:lnTo>
                <a:close/>
                <a:moveTo>
                  <a:pt x="81280" y="23686"/>
                </a:moveTo>
                <a:lnTo>
                  <a:pt x="125349" y="23686"/>
                </a:lnTo>
                <a:lnTo>
                  <a:pt x="125349" y="67691"/>
                </a:lnTo>
                <a:lnTo>
                  <a:pt x="81280" y="67691"/>
                </a:lnTo>
                <a:close/>
                <a:moveTo>
                  <a:pt x="44069" y="21971"/>
                </a:moveTo>
                <a:lnTo>
                  <a:pt x="81280" y="21971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lanen-3"/>
          <p:cNvSpPr txBox="1"/>
          <p:nvPr/>
        </p:nvSpPr>
        <p:spPr>
          <a:xfrm>
            <a:off x="1542288" y="4825302"/>
            <a:ext cx="70104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交付侧</a:t>
            </a:r>
          </a:p>
        </p:txBody>
      </p:sp>
      <p:sp>
        <p:nvSpPr>
          <p:cNvPr id="28" name="lanep-3"/>
          <p:cNvSpPr txBox="1"/>
          <p:nvPr/>
        </p:nvSpPr>
        <p:spPr>
          <a:xfrm>
            <a:off x="1548765" y="5107861"/>
            <a:ext cx="66833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88000"/>
                  </a:srgbClr>
                </a:solidFill>
                <a:latin typeface="微软雅黑"/>
                <a:ea typeface="微软雅黑"/>
                <a:cs typeface="微软雅黑"/>
              </a:rPr>
              <a:t>排产与履约</a:t>
            </a:r>
          </a:p>
        </p:txBody>
      </p:sp>
      <p:cxnSp>
        <p:nvCxnSpPr>
          <p:cNvPr id="29" name="laneline-3"/>
          <p:cNvCxnSpPr/>
          <p:nvPr/>
        </p:nvCxnSpPr>
        <p:spPr>
          <a:xfrm>
            <a:off x="2552700" y="5689600"/>
            <a:ext cx="86868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colh-1"/>
          <p:cNvSpPr txBox="1"/>
          <p:nvPr/>
        </p:nvSpPr>
        <p:spPr>
          <a:xfrm>
            <a:off x="2922651" y="1426908"/>
            <a:ext cx="51739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STEP 01</a:t>
            </a:r>
          </a:p>
        </p:txBody>
      </p:sp>
      <p:sp>
        <p:nvSpPr>
          <p:cNvPr id="31" name="colh-2"/>
          <p:cNvSpPr txBox="1"/>
          <p:nvPr/>
        </p:nvSpPr>
        <p:spPr>
          <a:xfrm>
            <a:off x="3989451" y="1426908"/>
            <a:ext cx="51739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STEP 02</a:t>
            </a:r>
          </a:p>
        </p:txBody>
      </p:sp>
      <p:sp>
        <p:nvSpPr>
          <p:cNvPr id="32" name="colh-3"/>
          <p:cNvSpPr txBox="1"/>
          <p:nvPr/>
        </p:nvSpPr>
        <p:spPr>
          <a:xfrm>
            <a:off x="5056251" y="1426908"/>
            <a:ext cx="51739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STEP 03</a:t>
            </a:r>
          </a:p>
        </p:txBody>
      </p:sp>
      <p:sp>
        <p:nvSpPr>
          <p:cNvPr id="33" name="colh-4"/>
          <p:cNvSpPr txBox="1"/>
          <p:nvPr/>
        </p:nvSpPr>
        <p:spPr>
          <a:xfrm>
            <a:off x="6123051" y="1426908"/>
            <a:ext cx="51739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STEP 04</a:t>
            </a:r>
          </a:p>
        </p:txBody>
      </p:sp>
      <p:sp>
        <p:nvSpPr>
          <p:cNvPr id="34" name="colh-5"/>
          <p:cNvSpPr txBox="1"/>
          <p:nvPr/>
        </p:nvSpPr>
        <p:spPr>
          <a:xfrm>
            <a:off x="7189851" y="1426908"/>
            <a:ext cx="51739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STEP 05</a:t>
            </a:r>
          </a:p>
        </p:txBody>
      </p:sp>
      <p:sp>
        <p:nvSpPr>
          <p:cNvPr id="35" name="colh-6"/>
          <p:cNvSpPr txBox="1"/>
          <p:nvPr/>
        </p:nvSpPr>
        <p:spPr>
          <a:xfrm>
            <a:off x="8256651" y="1426908"/>
            <a:ext cx="51739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STEP 06</a:t>
            </a:r>
          </a:p>
        </p:txBody>
      </p:sp>
      <p:sp>
        <p:nvSpPr>
          <p:cNvPr id="36" name="colh-7"/>
          <p:cNvSpPr txBox="1"/>
          <p:nvPr/>
        </p:nvSpPr>
        <p:spPr>
          <a:xfrm>
            <a:off x="9323451" y="1426908"/>
            <a:ext cx="51739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STEP 07</a:t>
            </a:r>
          </a:p>
        </p:txBody>
      </p:sp>
      <p:sp>
        <p:nvSpPr>
          <p:cNvPr id="37" name="colh-8"/>
          <p:cNvSpPr txBox="1"/>
          <p:nvPr/>
        </p:nvSpPr>
        <p:spPr>
          <a:xfrm>
            <a:off x="10390251" y="1426908"/>
            <a:ext cx="51739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STEP 08</a:t>
            </a:r>
          </a:p>
        </p:txBody>
      </p:sp>
      <p:sp>
        <p:nvSpPr>
          <p:cNvPr id="38" name="link-1a"/>
          <p:cNvSpPr/>
          <p:nvPr/>
        </p:nvSpPr>
        <p:spPr>
          <a:xfrm>
            <a:off x="3625850" y="2298700"/>
            <a:ext cx="88900" cy="1384300"/>
          </a:xfrm>
          <a:custGeom>
            <a:avLst/>
            <a:gdLst/>
            <a:ahLst/>
            <a:cxnLst/>
            <a:rect l="0" t="0" r="r" b="b"/>
            <a:pathLst>
              <a:path w="88900" h="1384300">
                <a:moveTo>
                  <a:pt x="82550" y="0"/>
                </a:moveTo>
                <a:lnTo>
                  <a:pt x="0" y="0"/>
                </a:lnTo>
                <a:quadBezTo>
                  <a:pt x="88900" y="0"/>
                  <a:pt x="88900" y="88900"/>
                </a:quadBezTo>
                <a:lnTo>
                  <a:pt x="88900" y="1384300"/>
                </a:lnTo>
              </a:path>
            </a:pathLst>
          </a:custGeom>
          <a:noFill/>
          <a:ln w="11430" cap="rnd">
            <a:solidFill>
              <a:srgbClr val="2E77C2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39" name="link-1b"/>
          <p:cNvCxnSpPr/>
          <p:nvPr/>
        </p:nvCxnSpPr>
        <p:spPr>
          <a:xfrm flipH="1">
            <a:off x="3657600" y="3683000"/>
            <a:ext cx="57150" cy="0"/>
          </a:xfrm>
          <a:prstGeom prst="line">
            <a:avLst/>
          </a:prstGeom>
          <a:ln w="11430" cap="rnd">
            <a:solidFill>
              <a:srgbClr val="2E77C2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arr-1"/>
          <p:cNvSpPr/>
          <p:nvPr/>
        </p:nvSpPr>
        <p:spPr>
          <a:xfrm>
            <a:off x="3594100" y="3644900"/>
            <a:ext cx="63500" cy="76200"/>
          </a:xfrm>
          <a:custGeom>
            <a:avLst/>
            <a:gdLst/>
            <a:ahLst/>
            <a:cxnLst/>
            <a:rect l="0" t="0" r="r" b="b"/>
            <a:pathLst>
              <a:path w="63500" h="76200">
                <a:moveTo>
                  <a:pt x="0" y="0"/>
                </a:moveTo>
                <a:lnTo>
                  <a:pt x="63500" y="38100"/>
                </a:lnTo>
                <a:lnTo>
                  <a:pt x="0" y="76200"/>
                </a:lnTo>
              </a:path>
            </a:pathLst>
          </a:custGeom>
          <a:noFill/>
          <a:ln w="12700" cap="rnd">
            <a:solidFill>
              <a:srgbClr val="2E77C2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link-2a"/>
          <p:cNvSpPr/>
          <p:nvPr/>
        </p:nvSpPr>
        <p:spPr>
          <a:xfrm>
            <a:off x="4692650" y="2298700"/>
            <a:ext cx="88900" cy="1384300"/>
          </a:xfrm>
          <a:custGeom>
            <a:avLst/>
            <a:gdLst/>
            <a:ahLst/>
            <a:cxnLst/>
            <a:rect l="0" t="0" r="r" b="b"/>
            <a:pathLst>
              <a:path w="88900" h="1384300">
                <a:moveTo>
                  <a:pt x="82550" y="1384300"/>
                </a:moveTo>
                <a:lnTo>
                  <a:pt x="0" y="1384300"/>
                </a:lnTo>
                <a:quadBezTo>
                  <a:pt x="88900" y="1384300"/>
                  <a:pt x="88900" y="1295400"/>
                </a:quadBezTo>
                <a:lnTo>
                  <a:pt x="88900" y="0"/>
                </a:lnTo>
              </a:path>
            </a:pathLst>
          </a:custGeom>
          <a:noFill/>
          <a:ln w="11430" cap="rnd">
            <a:solidFill>
              <a:srgbClr val="0B3E8F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42" name="link-2b"/>
          <p:cNvCxnSpPr/>
          <p:nvPr/>
        </p:nvCxnSpPr>
        <p:spPr>
          <a:xfrm flipH="1">
            <a:off x="4724400" y="2298700"/>
            <a:ext cx="57150" cy="0"/>
          </a:xfrm>
          <a:prstGeom prst="line">
            <a:avLst/>
          </a:prstGeom>
          <a:ln w="11430" cap="rnd">
            <a:solidFill>
              <a:srgbClr val="0B3E8F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arr-2"/>
          <p:cNvSpPr/>
          <p:nvPr/>
        </p:nvSpPr>
        <p:spPr>
          <a:xfrm>
            <a:off x="4660900" y="2260600"/>
            <a:ext cx="63500" cy="76200"/>
          </a:xfrm>
          <a:custGeom>
            <a:avLst/>
            <a:gdLst/>
            <a:ahLst/>
            <a:cxnLst/>
            <a:rect l="0" t="0" r="r" b="b"/>
            <a:pathLst>
              <a:path w="63500" h="76200">
                <a:moveTo>
                  <a:pt x="0" y="0"/>
                </a:moveTo>
                <a:lnTo>
                  <a:pt x="63500" y="38100"/>
                </a:lnTo>
                <a:lnTo>
                  <a:pt x="0" y="76200"/>
                </a:lnTo>
              </a:path>
            </a:pathLst>
          </a:custGeom>
          <a:noFill/>
          <a:ln w="12700" cap="rnd">
            <a:solidFill>
              <a:srgbClr val="0B3E8F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link-3a"/>
          <p:cNvSpPr/>
          <p:nvPr/>
        </p:nvSpPr>
        <p:spPr>
          <a:xfrm>
            <a:off x="5759450" y="2298700"/>
            <a:ext cx="88900" cy="1384300"/>
          </a:xfrm>
          <a:custGeom>
            <a:avLst/>
            <a:gdLst/>
            <a:ahLst/>
            <a:cxnLst/>
            <a:rect l="0" t="0" r="r" b="b"/>
            <a:pathLst>
              <a:path w="88900" h="1384300">
                <a:moveTo>
                  <a:pt x="82550" y="0"/>
                </a:moveTo>
                <a:lnTo>
                  <a:pt x="0" y="0"/>
                </a:lnTo>
                <a:quadBezTo>
                  <a:pt x="88900" y="0"/>
                  <a:pt x="88900" y="88900"/>
                </a:quadBezTo>
                <a:lnTo>
                  <a:pt x="88900" y="1384300"/>
                </a:lnTo>
              </a:path>
            </a:pathLst>
          </a:custGeom>
          <a:noFill/>
          <a:ln w="11430" cap="rnd">
            <a:solidFill>
              <a:srgbClr val="2E77C2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45" name="link-3b"/>
          <p:cNvCxnSpPr/>
          <p:nvPr/>
        </p:nvCxnSpPr>
        <p:spPr>
          <a:xfrm flipH="1">
            <a:off x="5791200" y="3683000"/>
            <a:ext cx="57150" cy="0"/>
          </a:xfrm>
          <a:prstGeom prst="line">
            <a:avLst/>
          </a:prstGeom>
          <a:ln w="11430" cap="rnd">
            <a:solidFill>
              <a:srgbClr val="2E77C2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arr-3"/>
          <p:cNvSpPr/>
          <p:nvPr/>
        </p:nvSpPr>
        <p:spPr>
          <a:xfrm>
            <a:off x="5727700" y="3644900"/>
            <a:ext cx="63500" cy="76200"/>
          </a:xfrm>
          <a:custGeom>
            <a:avLst/>
            <a:gdLst/>
            <a:ahLst/>
            <a:cxnLst/>
            <a:rect l="0" t="0" r="r" b="b"/>
            <a:pathLst>
              <a:path w="63500" h="76200">
                <a:moveTo>
                  <a:pt x="0" y="0"/>
                </a:moveTo>
                <a:lnTo>
                  <a:pt x="63500" y="38100"/>
                </a:lnTo>
                <a:lnTo>
                  <a:pt x="0" y="76200"/>
                </a:lnTo>
              </a:path>
            </a:pathLst>
          </a:custGeom>
          <a:noFill/>
          <a:ln w="12700" cap="rnd">
            <a:solidFill>
              <a:srgbClr val="2E77C2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link-4a"/>
          <p:cNvSpPr/>
          <p:nvPr/>
        </p:nvSpPr>
        <p:spPr>
          <a:xfrm>
            <a:off x="6826250" y="3683000"/>
            <a:ext cx="88900" cy="1384300"/>
          </a:xfrm>
          <a:custGeom>
            <a:avLst/>
            <a:gdLst/>
            <a:ahLst/>
            <a:cxnLst/>
            <a:rect l="0" t="0" r="r" b="b"/>
            <a:pathLst>
              <a:path w="88900" h="1384300">
                <a:moveTo>
                  <a:pt x="82550" y="0"/>
                </a:moveTo>
                <a:lnTo>
                  <a:pt x="0" y="0"/>
                </a:lnTo>
                <a:quadBezTo>
                  <a:pt x="88900" y="0"/>
                  <a:pt x="88900" y="88900"/>
                </a:quadBezTo>
                <a:lnTo>
                  <a:pt x="88900" y="1384300"/>
                </a:lnTo>
              </a:path>
            </a:pathLst>
          </a:custGeom>
          <a:noFill/>
          <a:ln w="11430" cap="rnd">
            <a:solidFill>
              <a:srgbClr val="54A2DF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48" name="link-4b"/>
          <p:cNvCxnSpPr/>
          <p:nvPr/>
        </p:nvCxnSpPr>
        <p:spPr>
          <a:xfrm flipH="1">
            <a:off x="6858000" y="5067300"/>
            <a:ext cx="57150" cy="0"/>
          </a:xfrm>
          <a:prstGeom prst="line">
            <a:avLst/>
          </a:prstGeom>
          <a:ln w="11430" cap="rnd">
            <a:solidFill>
              <a:srgbClr val="54A2DF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arr-4"/>
          <p:cNvSpPr/>
          <p:nvPr/>
        </p:nvSpPr>
        <p:spPr>
          <a:xfrm>
            <a:off x="6794500" y="5029200"/>
            <a:ext cx="63500" cy="76200"/>
          </a:xfrm>
          <a:custGeom>
            <a:avLst/>
            <a:gdLst/>
            <a:ahLst/>
            <a:cxnLst/>
            <a:rect l="0" t="0" r="r" b="b"/>
            <a:pathLst>
              <a:path w="63500" h="76200">
                <a:moveTo>
                  <a:pt x="0" y="0"/>
                </a:moveTo>
                <a:lnTo>
                  <a:pt x="63500" y="38100"/>
                </a:lnTo>
                <a:lnTo>
                  <a:pt x="0" y="76200"/>
                </a:lnTo>
              </a:path>
            </a:pathLst>
          </a:custGeom>
          <a:noFill/>
          <a:ln w="12700" cap="rnd">
            <a:solidFill>
              <a:srgbClr val="54A2DF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50" name="link-5"/>
          <p:cNvCxnSpPr/>
          <p:nvPr/>
        </p:nvCxnSpPr>
        <p:spPr>
          <a:xfrm flipH="1">
            <a:off x="7924800" y="5067300"/>
            <a:ext cx="50800" cy="0"/>
          </a:xfrm>
          <a:prstGeom prst="line">
            <a:avLst/>
          </a:prstGeom>
          <a:ln w="11430" cap="rnd">
            <a:solidFill>
              <a:srgbClr val="54A2DF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arr-5"/>
          <p:cNvSpPr/>
          <p:nvPr/>
        </p:nvSpPr>
        <p:spPr>
          <a:xfrm>
            <a:off x="7861300" y="5029200"/>
            <a:ext cx="63500" cy="76200"/>
          </a:xfrm>
          <a:custGeom>
            <a:avLst/>
            <a:gdLst/>
            <a:ahLst/>
            <a:cxnLst/>
            <a:rect l="0" t="0" r="r" b="b"/>
            <a:pathLst>
              <a:path w="63500" h="76200">
                <a:moveTo>
                  <a:pt x="0" y="0"/>
                </a:moveTo>
                <a:lnTo>
                  <a:pt x="63500" y="38100"/>
                </a:lnTo>
                <a:lnTo>
                  <a:pt x="0" y="76200"/>
                </a:lnTo>
              </a:path>
            </a:pathLst>
          </a:custGeom>
          <a:noFill/>
          <a:ln w="12700" cap="rnd">
            <a:solidFill>
              <a:srgbClr val="54A2DF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link-6a"/>
          <p:cNvSpPr/>
          <p:nvPr/>
        </p:nvSpPr>
        <p:spPr>
          <a:xfrm>
            <a:off x="8959850" y="2298700"/>
            <a:ext cx="88900" cy="2768600"/>
          </a:xfrm>
          <a:custGeom>
            <a:avLst/>
            <a:gdLst/>
            <a:ahLst/>
            <a:cxnLst/>
            <a:rect l="0" t="0" r="r" b="b"/>
            <a:pathLst>
              <a:path w="88900" h="2768600">
                <a:moveTo>
                  <a:pt x="82550" y="2768600"/>
                </a:moveTo>
                <a:lnTo>
                  <a:pt x="0" y="2768600"/>
                </a:lnTo>
                <a:quadBezTo>
                  <a:pt x="88900" y="2768600"/>
                  <a:pt x="88900" y="2679700"/>
                </a:quadBezTo>
                <a:lnTo>
                  <a:pt x="88900" y="0"/>
                </a:lnTo>
              </a:path>
            </a:pathLst>
          </a:custGeom>
          <a:noFill/>
          <a:ln w="11430" cap="rnd">
            <a:solidFill>
              <a:srgbClr val="0B3E8F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53" name="link-6b"/>
          <p:cNvCxnSpPr/>
          <p:nvPr/>
        </p:nvCxnSpPr>
        <p:spPr>
          <a:xfrm flipH="1">
            <a:off x="8991600" y="2298700"/>
            <a:ext cx="57150" cy="0"/>
          </a:xfrm>
          <a:prstGeom prst="line">
            <a:avLst/>
          </a:prstGeom>
          <a:ln w="11430" cap="rnd">
            <a:solidFill>
              <a:srgbClr val="0B3E8F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arr-6"/>
          <p:cNvSpPr/>
          <p:nvPr/>
        </p:nvSpPr>
        <p:spPr>
          <a:xfrm>
            <a:off x="8928100" y="2260600"/>
            <a:ext cx="63500" cy="76200"/>
          </a:xfrm>
          <a:custGeom>
            <a:avLst/>
            <a:gdLst/>
            <a:ahLst/>
            <a:cxnLst/>
            <a:rect l="0" t="0" r="r" b="b"/>
            <a:pathLst>
              <a:path w="63500" h="76200">
                <a:moveTo>
                  <a:pt x="0" y="0"/>
                </a:moveTo>
                <a:lnTo>
                  <a:pt x="63500" y="38100"/>
                </a:lnTo>
                <a:lnTo>
                  <a:pt x="0" y="76200"/>
                </a:lnTo>
              </a:path>
            </a:pathLst>
          </a:custGeom>
          <a:noFill/>
          <a:ln w="12700" cap="rnd">
            <a:solidFill>
              <a:srgbClr val="0B3E8F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link-7a"/>
          <p:cNvSpPr/>
          <p:nvPr/>
        </p:nvSpPr>
        <p:spPr>
          <a:xfrm>
            <a:off x="10026650" y="2298700"/>
            <a:ext cx="88900" cy="2768600"/>
          </a:xfrm>
          <a:custGeom>
            <a:avLst/>
            <a:gdLst/>
            <a:ahLst/>
            <a:cxnLst/>
            <a:rect l="0" t="0" r="r" b="b"/>
            <a:pathLst>
              <a:path w="88900" h="2768600">
                <a:moveTo>
                  <a:pt x="82550" y="0"/>
                </a:moveTo>
                <a:lnTo>
                  <a:pt x="0" y="0"/>
                </a:lnTo>
                <a:quadBezTo>
                  <a:pt x="88900" y="0"/>
                  <a:pt x="88900" y="88900"/>
                </a:quadBezTo>
                <a:lnTo>
                  <a:pt x="88900" y="2768600"/>
                </a:lnTo>
              </a:path>
            </a:pathLst>
          </a:custGeom>
          <a:noFill/>
          <a:ln w="11430" cap="rnd">
            <a:solidFill>
              <a:srgbClr val="54A2DF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56" name="link-7b"/>
          <p:cNvCxnSpPr/>
          <p:nvPr/>
        </p:nvCxnSpPr>
        <p:spPr>
          <a:xfrm flipH="1">
            <a:off x="10058400" y="5067300"/>
            <a:ext cx="57150" cy="0"/>
          </a:xfrm>
          <a:prstGeom prst="line">
            <a:avLst/>
          </a:prstGeom>
          <a:ln w="11430" cap="rnd">
            <a:solidFill>
              <a:srgbClr val="54A2DF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7" name="arr-7"/>
          <p:cNvSpPr/>
          <p:nvPr/>
        </p:nvSpPr>
        <p:spPr>
          <a:xfrm>
            <a:off x="9994900" y="5029200"/>
            <a:ext cx="63500" cy="76200"/>
          </a:xfrm>
          <a:custGeom>
            <a:avLst/>
            <a:gdLst/>
            <a:ahLst/>
            <a:cxnLst/>
            <a:rect l="0" t="0" r="r" b="b"/>
            <a:pathLst>
              <a:path w="63500" h="76200">
                <a:moveTo>
                  <a:pt x="0" y="0"/>
                </a:moveTo>
                <a:lnTo>
                  <a:pt x="63500" y="38100"/>
                </a:lnTo>
                <a:lnTo>
                  <a:pt x="0" y="76200"/>
                </a:lnTo>
              </a:path>
            </a:pathLst>
          </a:custGeom>
          <a:noFill/>
          <a:ln w="12700" cap="rnd">
            <a:solidFill>
              <a:srgbClr val="54A2DF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node-1"/>
          <p:cNvSpPr/>
          <p:nvPr/>
        </p:nvSpPr>
        <p:spPr>
          <a:xfrm>
            <a:off x="2692400" y="1892300"/>
            <a:ext cx="977900" cy="812800"/>
          </a:xfrm>
          <a:custGeom>
            <a:avLst/>
            <a:gdLst/>
            <a:ahLst/>
            <a:cxnLst/>
            <a:rect l="0" t="0" r="r" b="b"/>
            <a:pathLst>
              <a:path w="977900" h="812800">
                <a:moveTo>
                  <a:pt x="101600" y="0"/>
                </a:moveTo>
                <a:lnTo>
                  <a:pt x="876300" y="0"/>
                </a:lnTo>
                <a:cubicBezTo>
                  <a:pt x="932434" y="0"/>
                  <a:pt x="977900" y="45466"/>
                  <a:pt x="977900" y="101600"/>
                </a:cubicBezTo>
                <a:lnTo>
                  <a:pt x="977900" y="711200"/>
                </a:lnTo>
                <a:cubicBezTo>
                  <a:pt x="977900" y="767334"/>
                  <a:pt x="932434" y="812800"/>
                  <a:pt x="876300" y="812800"/>
                </a:cubicBezTo>
                <a:lnTo>
                  <a:pt x="101600" y="812800"/>
                </a:lnTo>
                <a:cubicBezTo>
                  <a:pt x="45466" y="812800"/>
                  <a:pt x="0" y="767334"/>
                  <a:pt x="0" y="711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 w="8890" cap="rnd">
            <a:solidFill>
              <a:srgbClr val="0B3E8F">
                <a:alpha val="32000"/>
              </a:srgbClr>
            </a:solidFill>
            <a:round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nodecap-1"/>
          <p:cNvSpPr/>
          <p:nvPr/>
        </p:nvSpPr>
        <p:spPr>
          <a:xfrm>
            <a:off x="2692400" y="1892300"/>
            <a:ext cx="977900" cy="38100"/>
          </a:xfrm>
          <a:custGeom>
            <a:avLst/>
            <a:gdLst/>
            <a:ahLst/>
            <a:cxnLst/>
            <a:rect l="0" t="0" r="r" b="b"/>
            <a:pathLst>
              <a:path w="977900" h="38100">
                <a:moveTo>
                  <a:pt x="19050" y="0"/>
                </a:moveTo>
                <a:lnTo>
                  <a:pt x="958850" y="0"/>
                </a:lnTo>
                <a:cubicBezTo>
                  <a:pt x="969391" y="0"/>
                  <a:pt x="977900" y="8509"/>
                  <a:pt x="977900" y="19050"/>
                </a:cubicBezTo>
                <a:lnTo>
                  <a:pt x="977900" y="19050"/>
                </a:lnTo>
                <a:cubicBezTo>
                  <a:pt x="977900" y="29591"/>
                  <a:pt x="969391" y="38100"/>
                  <a:pt x="9588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nb-1"/>
          <p:cNvSpPr/>
          <p:nvPr/>
        </p:nvSpPr>
        <p:spPr>
          <a:xfrm>
            <a:off x="3422650" y="1974850"/>
            <a:ext cx="190500" cy="190500"/>
          </a:xfrm>
          <a:prstGeom prst="ellipse">
            <a:avLst/>
          </a:pr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nbt-1"/>
          <p:cNvSpPr txBox="1"/>
          <p:nvPr/>
        </p:nvSpPr>
        <p:spPr>
          <a:xfrm>
            <a:off x="3448367" y="199056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62" name="noden-1"/>
          <p:cNvSpPr txBox="1"/>
          <p:nvPr/>
        </p:nvSpPr>
        <p:spPr>
          <a:xfrm>
            <a:off x="2803398" y="20832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提交需求</a:t>
            </a:r>
          </a:p>
        </p:txBody>
      </p:sp>
      <p:sp>
        <p:nvSpPr>
          <p:cNvPr id="63" name="nodep-1-1"/>
          <p:cNvSpPr txBox="1"/>
          <p:nvPr/>
        </p:nvSpPr>
        <p:spPr>
          <a:xfrm>
            <a:off x="2808351" y="2324687"/>
            <a:ext cx="458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线上提报</a:t>
            </a:r>
          </a:p>
        </p:txBody>
      </p:sp>
      <p:sp>
        <p:nvSpPr>
          <p:cNvPr id="64" name="nodep-1-2"/>
          <p:cNvSpPr txBox="1"/>
          <p:nvPr/>
        </p:nvSpPr>
        <p:spPr>
          <a:xfrm>
            <a:off x="2808351" y="2477087"/>
            <a:ext cx="55276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或销售录入</a:t>
            </a:r>
          </a:p>
        </p:txBody>
      </p:sp>
      <p:sp>
        <p:nvSpPr>
          <p:cNvPr id="65" name="node-2"/>
          <p:cNvSpPr/>
          <p:nvPr/>
        </p:nvSpPr>
        <p:spPr>
          <a:xfrm>
            <a:off x="3759200" y="3276600"/>
            <a:ext cx="977900" cy="812800"/>
          </a:xfrm>
          <a:custGeom>
            <a:avLst/>
            <a:gdLst/>
            <a:ahLst/>
            <a:cxnLst/>
            <a:rect l="0" t="0" r="r" b="b"/>
            <a:pathLst>
              <a:path w="977900" h="812800">
                <a:moveTo>
                  <a:pt x="101600" y="0"/>
                </a:moveTo>
                <a:lnTo>
                  <a:pt x="876300" y="0"/>
                </a:lnTo>
                <a:cubicBezTo>
                  <a:pt x="932434" y="0"/>
                  <a:pt x="977900" y="45466"/>
                  <a:pt x="977900" y="101600"/>
                </a:cubicBezTo>
                <a:lnTo>
                  <a:pt x="977900" y="711200"/>
                </a:lnTo>
                <a:cubicBezTo>
                  <a:pt x="977900" y="767334"/>
                  <a:pt x="932434" y="812800"/>
                  <a:pt x="876300" y="812800"/>
                </a:cubicBezTo>
                <a:lnTo>
                  <a:pt x="101600" y="812800"/>
                </a:lnTo>
                <a:cubicBezTo>
                  <a:pt x="45466" y="812800"/>
                  <a:pt x="0" y="767334"/>
                  <a:pt x="0" y="711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 w="8890" cap="rnd">
            <a:solidFill>
              <a:srgbClr val="2E77C2">
                <a:alpha val="32000"/>
              </a:srgbClr>
            </a:solidFill>
            <a:round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nodecap-2"/>
          <p:cNvSpPr/>
          <p:nvPr/>
        </p:nvSpPr>
        <p:spPr>
          <a:xfrm>
            <a:off x="3759200" y="3276600"/>
            <a:ext cx="977900" cy="38100"/>
          </a:xfrm>
          <a:custGeom>
            <a:avLst/>
            <a:gdLst/>
            <a:ahLst/>
            <a:cxnLst/>
            <a:rect l="0" t="0" r="r" b="b"/>
            <a:pathLst>
              <a:path w="977900" h="38100">
                <a:moveTo>
                  <a:pt x="19050" y="0"/>
                </a:moveTo>
                <a:lnTo>
                  <a:pt x="958850" y="0"/>
                </a:lnTo>
                <a:cubicBezTo>
                  <a:pt x="969391" y="0"/>
                  <a:pt x="977900" y="8509"/>
                  <a:pt x="977900" y="19050"/>
                </a:cubicBezTo>
                <a:lnTo>
                  <a:pt x="977900" y="19050"/>
                </a:lnTo>
                <a:cubicBezTo>
                  <a:pt x="977900" y="29591"/>
                  <a:pt x="969391" y="38100"/>
                  <a:pt x="9588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nb-2"/>
          <p:cNvSpPr/>
          <p:nvPr/>
        </p:nvSpPr>
        <p:spPr>
          <a:xfrm>
            <a:off x="4489450" y="3359150"/>
            <a:ext cx="190500" cy="190500"/>
          </a:xfrm>
          <a:prstGeom prst="ellipse">
            <a:avLst/>
          </a:pr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nbt-2"/>
          <p:cNvSpPr txBox="1"/>
          <p:nvPr/>
        </p:nvSpPr>
        <p:spPr>
          <a:xfrm>
            <a:off x="4515168" y="337486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69" name="noden-2"/>
          <p:cNvSpPr txBox="1"/>
          <p:nvPr/>
        </p:nvSpPr>
        <p:spPr>
          <a:xfrm>
            <a:off x="3870198" y="34675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方案报价</a:t>
            </a:r>
          </a:p>
        </p:txBody>
      </p:sp>
      <p:sp>
        <p:nvSpPr>
          <p:cNvPr id="70" name="nodep-2-1"/>
          <p:cNvSpPr txBox="1"/>
          <p:nvPr/>
        </p:nvSpPr>
        <p:spPr>
          <a:xfrm>
            <a:off x="3875151" y="3708987"/>
            <a:ext cx="52520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48 小时内</a:t>
            </a:r>
          </a:p>
        </p:txBody>
      </p:sp>
      <p:sp>
        <p:nvSpPr>
          <p:cNvPr id="71" name="nodep-2-2"/>
          <p:cNvSpPr txBox="1"/>
          <p:nvPr/>
        </p:nvSpPr>
        <p:spPr>
          <a:xfrm>
            <a:off x="3875151" y="3861387"/>
            <a:ext cx="55276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出具报价单</a:t>
            </a:r>
          </a:p>
        </p:txBody>
      </p:sp>
      <p:sp>
        <p:nvSpPr>
          <p:cNvPr id="72" name="node-3"/>
          <p:cNvSpPr/>
          <p:nvPr/>
        </p:nvSpPr>
        <p:spPr>
          <a:xfrm>
            <a:off x="4826000" y="1892300"/>
            <a:ext cx="977900" cy="812800"/>
          </a:xfrm>
          <a:custGeom>
            <a:avLst/>
            <a:gdLst/>
            <a:ahLst/>
            <a:cxnLst/>
            <a:rect l="0" t="0" r="r" b="b"/>
            <a:pathLst>
              <a:path w="977900" h="812800">
                <a:moveTo>
                  <a:pt x="101600" y="0"/>
                </a:moveTo>
                <a:lnTo>
                  <a:pt x="876300" y="0"/>
                </a:lnTo>
                <a:cubicBezTo>
                  <a:pt x="932434" y="0"/>
                  <a:pt x="977900" y="45466"/>
                  <a:pt x="977900" y="101600"/>
                </a:cubicBezTo>
                <a:lnTo>
                  <a:pt x="977900" y="711200"/>
                </a:lnTo>
                <a:cubicBezTo>
                  <a:pt x="977900" y="767334"/>
                  <a:pt x="932434" y="812800"/>
                  <a:pt x="876300" y="812800"/>
                </a:cubicBezTo>
                <a:lnTo>
                  <a:pt x="101600" y="812800"/>
                </a:lnTo>
                <a:cubicBezTo>
                  <a:pt x="45466" y="812800"/>
                  <a:pt x="0" y="767334"/>
                  <a:pt x="0" y="711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 w="8890" cap="rnd">
            <a:solidFill>
              <a:srgbClr val="0B3E8F">
                <a:alpha val="32000"/>
              </a:srgbClr>
            </a:solidFill>
            <a:round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nodecap-3"/>
          <p:cNvSpPr/>
          <p:nvPr/>
        </p:nvSpPr>
        <p:spPr>
          <a:xfrm>
            <a:off x="4826000" y="1892300"/>
            <a:ext cx="977900" cy="38100"/>
          </a:xfrm>
          <a:custGeom>
            <a:avLst/>
            <a:gdLst/>
            <a:ahLst/>
            <a:cxnLst/>
            <a:rect l="0" t="0" r="r" b="b"/>
            <a:pathLst>
              <a:path w="977900" h="38100">
                <a:moveTo>
                  <a:pt x="19050" y="0"/>
                </a:moveTo>
                <a:lnTo>
                  <a:pt x="958850" y="0"/>
                </a:lnTo>
                <a:cubicBezTo>
                  <a:pt x="969391" y="0"/>
                  <a:pt x="977900" y="8509"/>
                  <a:pt x="977900" y="19050"/>
                </a:cubicBezTo>
                <a:lnTo>
                  <a:pt x="977900" y="19050"/>
                </a:lnTo>
                <a:cubicBezTo>
                  <a:pt x="977900" y="29591"/>
                  <a:pt x="969391" y="38100"/>
                  <a:pt x="9588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nb-3"/>
          <p:cNvSpPr/>
          <p:nvPr/>
        </p:nvSpPr>
        <p:spPr>
          <a:xfrm>
            <a:off x="5556250" y="1974850"/>
            <a:ext cx="190500" cy="190500"/>
          </a:xfrm>
          <a:prstGeom prst="ellipse">
            <a:avLst/>
          </a:pr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nbt-3"/>
          <p:cNvSpPr txBox="1"/>
          <p:nvPr/>
        </p:nvSpPr>
        <p:spPr>
          <a:xfrm>
            <a:off x="5581968" y="199056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76" name="noden-3"/>
          <p:cNvSpPr txBox="1"/>
          <p:nvPr/>
        </p:nvSpPr>
        <p:spPr>
          <a:xfrm>
            <a:off x="4936998" y="20832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方案确认</a:t>
            </a:r>
          </a:p>
        </p:txBody>
      </p:sp>
      <p:sp>
        <p:nvSpPr>
          <p:cNvPr id="77" name="nodep-3-1"/>
          <p:cNvSpPr txBox="1"/>
          <p:nvPr/>
        </p:nvSpPr>
        <p:spPr>
          <a:xfrm>
            <a:off x="4941951" y="2324687"/>
            <a:ext cx="458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客户书面</a:t>
            </a:r>
          </a:p>
        </p:txBody>
      </p:sp>
      <p:sp>
        <p:nvSpPr>
          <p:cNvPr id="78" name="nodep-3-2"/>
          <p:cNvSpPr txBox="1"/>
          <p:nvPr/>
        </p:nvSpPr>
        <p:spPr>
          <a:xfrm>
            <a:off x="4941951" y="2477087"/>
            <a:ext cx="64674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确认技术方案</a:t>
            </a:r>
          </a:p>
        </p:txBody>
      </p:sp>
      <p:sp>
        <p:nvSpPr>
          <p:cNvPr id="79" name="node-4"/>
          <p:cNvSpPr/>
          <p:nvPr/>
        </p:nvSpPr>
        <p:spPr>
          <a:xfrm>
            <a:off x="5892800" y="3276600"/>
            <a:ext cx="977900" cy="812800"/>
          </a:xfrm>
          <a:custGeom>
            <a:avLst/>
            <a:gdLst/>
            <a:ahLst/>
            <a:cxnLst/>
            <a:rect l="0" t="0" r="r" b="b"/>
            <a:pathLst>
              <a:path w="977900" h="812800">
                <a:moveTo>
                  <a:pt x="101600" y="0"/>
                </a:moveTo>
                <a:lnTo>
                  <a:pt x="876300" y="0"/>
                </a:lnTo>
                <a:cubicBezTo>
                  <a:pt x="932434" y="0"/>
                  <a:pt x="977900" y="45466"/>
                  <a:pt x="977900" y="101600"/>
                </a:cubicBezTo>
                <a:lnTo>
                  <a:pt x="977900" y="711200"/>
                </a:lnTo>
                <a:cubicBezTo>
                  <a:pt x="977900" y="767334"/>
                  <a:pt x="932434" y="812800"/>
                  <a:pt x="876300" y="812800"/>
                </a:cubicBezTo>
                <a:lnTo>
                  <a:pt x="101600" y="812800"/>
                </a:lnTo>
                <a:cubicBezTo>
                  <a:pt x="45466" y="812800"/>
                  <a:pt x="0" y="767334"/>
                  <a:pt x="0" y="711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 w="8890" cap="rnd">
            <a:solidFill>
              <a:srgbClr val="2E77C2">
                <a:alpha val="32000"/>
              </a:srgbClr>
            </a:solidFill>
            <a:round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nodecap-4"/>
          <p:cNvSpPr/>
          <p:nvPr/>
        </p:nvSpPr>
        <p:spPr>
          <a:xfrm>
            <a:off x="5892800" y="3276600"/>
            <a:ext cx="977900" cy="38100"/>
          </a:xfrm>
          <a:custGeom>
            <a:avLst/>
            <a:gdLst/>
            <a:ahLst/>
            <a:cxnLst/>
            <a:rect l="0" t="0" r="r" b="b"/>
            <a:pathLst>
              <a:path w="977900" h="38100">
                <a:moveTo>
                  <a:pt x="19050" y="0"/>
                </a:moveTo>
                <a:lnTo>
                  <a:pt x="958850" y="0"/>
                </a:lnTo>
                <a:cubicBezTo>
                  <a:pt x="969391" y="0"/>
                  <a:pt x="977900" y="8509"/>
                  <a:pt x="977900" y="19050"/>
                </a:cubicBezTo>
                <a:lnTo>
                  <a:pt x="977900" y="19050"/>
                </a:lnTo>
                <a:cubicBezTo>
                  <a:pt x="977900" y="29591"/>
                  <a:pt x="969391" y="38100"/>
                  <a:pt x="9588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nb-4"/>
          <p:cNvSpPr/>
          <p:nvPr/>
        </p:nvSpPr>
        <p:spPr>
          <a:xfrm>
            <a:off x="6623050" y="3359150"/>
            <a:ext cx="190500" cy="190500"/>
          </a:xfrm>
          <a:prstGeom prst="ellipse">
            <a:avLst/>
          </a:pr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nbt-4"/>
          <p:cNvSpPr txBox="1"/>
          <p:nvPr/>
        </p:nvSpPr>
        <p:spPr>
          <a:xfrm>
            <a:off x="6648768" y="337486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83" name="noden-4"/>
          <p:cNvSpPr txBox="1"/>
          <p:nvPr/>
        </p:nvSpPr>
        <p:spPr>
          <a:xfrm>
            <a:off x="6003798" y="34675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合同签署</a:t>
            </a:r>
          </a:p>
        </p:txBody>
      </p:sp>
      <p:sp>
        <p:nvSpPr>
          <p:cNvPr id="84" name="nodep-4-1"/>
          <p:cNvSpPr txBox="1"/>
          <p:nvPr/>
        </p:nvSpPr>
        <p:spPr>
          <a:xfrm>
            <a:off x="6008751" y="3708987"/>
            <a:ext cx="458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电子签约</a:t>
            </a:r>
          </a:p>
        </p:txBody>
      </p:sp>
      <p:sp>
        <p:nvSpPr>
          <p:cNvPr id="85" name="nodep-4-2"/>
          <p:cNvSpPr txBox="1"/>
          <p:nvPr/>
        </p:nvSpPr>
        <p:spPr>
          <a:xfrm>
            <a:off x="6008751" y="3861387"/>
            <a:ext cx="64674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并支付预付款</a:t>
            </a:r>
          </a:p>
        </p:txBody>
      </p:sp>
      <p:sp>
        <p:nvSpPr>
          <p:cNvPr id="86" name="node-5"/>
          <p:cNvSpPr/>
          <p:nvPr/>
        </p:nvSpPr>
        <p:spPr>
          <a:xfrm>
            <a:off x="6959600" y="4660900"/>
            <a:ext cx="977900" cy="812800"/>
          </a:xfrm>
          <a:custGeom>
            <a:avLst/>
            <a:gdLst/>
            <a:ahLst/>
            <a:cxnLst/>
            <a:rect l="0" t="0" r="r" b="b"/>
            <a:pathLst>
              <a:path w="977900" h="812800">
                <a:moveTo>
                  <a:pt x="101600" y="0"/>
                </a:moveTo>
                <a:lnTo>
                  <a:pt x="876300" y="0"/>
                </a:lnTo>
                <a:cubicBezTo>
                  <a:pt x="932434" y="0"/>
                  <a:pt x="977900" y="45466"/>
                  <a:pt x="977900" y="101600"/>
                </a:cubicBezTo>
                <a:lnTo>
                  <a:pt x="977900" y="711200"/>
                </a:lnTo>
                <a:cubicBezTo>
                  <a:pt x="977900" y="767334"/>
                  <a:pt x="932434" y="812800"/>
                  <a:pt x="876300" y="812800"/>
                </a:cubicBezTo>
                <a:lnTo>
                  <a:pt x="101600" y="812800"/>
                </a:lnTo>
                <a:cubicBezTo>
                  <a:pt x="45466" y="812800"/>
                  <a:pt x="0" y="767334"/>
                  <a:pt x="0" y="711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 w="8890" cap="rnd">
            <a:solidFill>
              <a:srgbClr val="54A2DF">
                <a:alpha val="32000"/>
              </a:srgbClr>
            </a:solidFill>
            <a:round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nodecap-5"/>
          <p:cNvSpPr/>
          <p:nvPr/>
        </p:nvSpPr>
        <p:spPr>
          <a:xfrm>
            <a:off x="6959600" y="4660900"/>
            <a:ext cx="977900" cy="38100"/>
          </a:xfrm>
          <a:custGeom>
            <a:avLst/>
            <a:gdLst/>
            <a:ahLst/>
            <a:cxnLst/>
            <a:rect l="0" t="0" r="r" b="b"/>
            <a:pathLst>
              <a:path w="977900" h="38100">
                <a:moveTo>
                  <a:pt x="19050" y="0"/>
                </a:moveTo>
                <a:lnTo>
                  <a:pt x="958850" y="0"/>
                </a:lnTo>
                <a:cubicBezTo>
                  <a:pt x="969391" y="0"/>
                  <a:pt x="977900" y="8509"/>
                  <a:pt x="977900" y="19050"/>
                </a:cubicBezTo>
                <a:lnTo>
                  <a:pt x="977900" y="19050"/>
                </a:lnTo>
                <a:cubicBezTo>
                  <a:pt x="977900" y="29591"/>
                  <a:pt x="969391" y="38100"/>
                  <a:pt x="9588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nb-5"/>
          <p:cNvSpPr/>
          <p:nvPr/>
        </p:nvSpPr>
        <p:spPr>
          <a:xfrm>
            <a:off x="7689850" y="4743450"/>
            <a:ext cx="190500" cy="190500"/>
          </a:xfrm>
          <a:prstGeom prst="ellipse">
            <a:avLst/>
          </a:prstGeom>
          <a:solidFill>
            <a:srgbClr val="54A2D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nbt-5"/>
          <p:cNvSpPr txBox="1"/>
          <p:nvPr/>
        </p:nvSpPr>
        <p:spPr>
          <a:xfrm>
            <a:off x="7715568" y="475916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54A2DF"/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  <p:sp>
        <p:nvSpPr>
          <p:cNvPr id="90" name="noden-5"/>
          <p:cNvSpPr txBox="1"/>
          <p:nvPr/>
        </p:nvSpPr>
        <p:spPr>
          <a:xfrm>
            <a:off x="7070598" y="48518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排产备料</a:t>
            </a:r>
          </a:p>
        </p:txBody>
      </p:sp>
      <p:sp>
        <p:nvSpPr>
          <p:cNvPr id="91" name="nodep-5-1"/>
          <p:cNvSpPr txBox="1"/>
          <p:nvPr/>
        </p:nvSpPr>
        <p:spPr>
          <a:xfrm>
            <a:off x="7075551" y="5093287"/>
            <a:ext cx="458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锁定产能</a:t>
            </a:r>
          </a:p>
        </p:txBody>
      </p:sp>
      <p:sp>
        <p:nvSpPr>
          <p:cNvPr id="92" name="nodep-5-2"/>
          <p:cNvSpPr txBox="1"/>
          <p:nvPr/>
        </p:nvSpPr>
        <p:spPr>
          <a:xfrm>
            <a:off x="7075551" y="5245687"/>
            <a:ext cx="64674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与长周期物料</a:t>
            </a:r>
          </a:p>
        </p:txBody>
      </p:sp>
      <p:sp>
        <p:nvSpPr>
          <p:cNvPr id="93" name="node-6"/>
          <p:cNvSpPr/>
          <p:nvPr/>
        </p:nvSpPr>
        <p:spPr>
          <a:xfrm>
            <a:off x="8026400" y="4660900"/>
            <a:ext cx="977900" cy="812800"/>
          </a:xfrm>
          <a:custGeom>
            <a:avLst/>
            <a:gdLst/>
            <a:ahLst/>
            <a:cxnLst/>
            <a:rect l="0" t="0" r="r" b="b"/>
            <a:pathLst>
              <a:path w="977900" h="812800">
                <a:moveTo>
                  <a:pt x="101600" y="0"/>
                </a:moveTo>
                <a:lnTo>
                  <a:pt x="876300" y="0"/>
                </a:lnTo>
                <a:cubicBezTo>
                  <a:pt x="932434" y="0"/>
                  <a:pt x="977900" y="45466"/>
                  <a:pt x="977900" y="101600"/>
                </a:cubicBezTo>
                <a:lnTo>
                  <a:pt x="977900" y="711200"/>
                </a:lnTo>
                <a:cubicBezTo>
                  <a:pt x="977900" y="767334"/>
                  <a:pt x="932434" y="812800"/>
                  <a:pt x="876300" y="812800"/>
                </a:cubicBezTo>
                <a:lnTo>
                  <a:pt x="101600" y="812800"/>
                </a:lnTo>
                <a:cubicBezTo>
                  <a:pt x="45466" y="812800"/>
                  <a:pt x="0" y="767334"/>
                  <a:pt x="0" y="711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 w="8890" cap="rnd">
            <a:solidFill>
              <a:srgbClr val="54A2DF">
                <a:alpha val="32000"/>
              </a:srgbClr>
            </a:solidFill>
            <a:round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nodecap-6"/>
          <p:cNvSpPr/>
          <p:nvPr/>
        </p:nvSpPr>
        <p:spPr>
          <a:xfrm>
            <a:off x="8026400" y="4660900"/>
            <a:ext cx="977900" cy="38100"/>
          </a:xfrm>
          <a:custGeom>
            <a:avLst/>
            <a:gdLst/>
            <a:ahLst/>
            <a:cxnLst/>
            <a:rect l="0" t="0" r="r" b="b"/>
            <a:pathLst>
              <a:path w="977900" h="38100">
                <a:moveTo>
                  <a:pt x="19050" y="0"/>
                </a:moveTo>
                <a:lnTo>
                  <a:pt x="958850" y="0"/>
                </a:lnTo>
                <a:cubicBezTo>
                  <a:pt x="969391" y="0"/>
                  <a:pt x="977900" y="8509"/>
                  <a:pt x="977900" y="19050"/>
                </a:cubicBezTo>
                <a:lnTo>
                  <a:pt x="977900" y="19050"/>
                </a:lnTo>
                <a:cubicBezTo>
                  <a:pt x="977900" y="29591"/>
                  <a:pt x="969391" y="38100"/>
                  <a:pt x="9588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nb-6"/>
          <p:cNvSpPr/>
          <p:nvPr/>
        </p:nvSpPr>
        <p:spPr>
          <a:xfrm>
            <a:off x="8756650" y="4743450"/>
            <a:ext cx="190500" cy="190500"/>
          </a:xfrm>
          <a:prstGeom prst="ellipse">
            <a:avLst/>
          </a:prstGeom>
          <a:solidFill>
            <a:srgbClr val="54A2D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nbt-6"/>
          <p:cNvSpPr txBox="1"/>
          <p:nvPr/>
        </p:nvSpPr>
        <p:spPr>
          <a:xfrm>
            <a:off x="8782368" y="475916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54A2DF"/>
                </a:solidFill>
                <a:latin typeface="Arial"/>
                <a:ea typeface="Arial"/>
                <a:cs typeface="Arial"/>
              </a:rPr>
              <a:t>6</a:t>
            </a:r>
          </a:p>
        </p:txBody>
      </p:sp>
      <p:sp>
        <p:nvSpPr>
          <p:cNvPr id="97" name="noden-6"/>
          <p:cNvSpPr txBox="1"/>
          <p:nvPr/>
        </p:nvSpPr>
        <p:spPr>
          <a:xfrm>
            <a:off x="8137398" y="48518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生产交付</a:t>
            </a:r>
          </a:p>
        </p:txBody>
      </p:sp>
      <p:sp>
        <p:nvSpPr>
          <p:cNvPr id="98" name="nodep-6-1"/>
          <p:cNvSpPr txBox="1"/>
          <p:nvPr/>
        </p:nvSpPr>
        <p:spPr>
          <a:xfrm>
            <a:off x="8142351" y="5093287"/>
            <a:ext cx="458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按里程碑</a:t>
            </a:r>
          </a:p>
        </p:txBody>
      </p:sp>
      <p:sp>
        <p:nvSpPr>
          <p:cNvPr id="99" name="nodep-6-2"/>
          <p:cNvSpPr txBox="1"/>
          <p:nvPr/>
        </p:nvSpPr>
        <p:spPr>
          <a:xfrm>
            <a:off x="8142351" y="5245687"/>
            <a:ext cx="55276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推进并同步</a:t>
            </a:r>
          </a:p>
        </p:txBody>
      </p:sp>
      <p:sp>
        <p:nvSpPr>
          <p:cNvPr id="100" name="node-7"/>
          <p:cNvSpPr/>
          <p:nvPr/>
        </p:nvSpPr>
        <p:spPr>
          <a:xfrm>
            <a:off x="9093200" y="1892300"/>
            <a:ext cx="977900" cy="812800"/>
          </a:xfrm>
          <a:custGeom>
            <a:avLst/>
            <a:gdLst/>
            <a:ahLst/>
            <a:cxnLst/>
            <a:rect l="0" t="0" r="r" b="b"/>
            <a:pathLst>
              <a:path w="977900" h="812800">
                <a:moveTo>
                  <a:pt x="101600" y="0"/>
                </a:moveTo>
                <a:lnTo>
                  <a:pt x="876300" y="0"/>
                </a:lnTo>
                <a:cubicBezTo>
                  <a:pt x="932434" y="0"/>
                  <a:pt x="977900" y="45466"/>
                  <a:pt x="977900" y="101600"/>
                </a:cubicBezTo>
                <a:lnTo>
                  <a:pt x="977900" y="711200"/>
                </a:lnTo>
                <a:cubicBezTo>
                  <a:pt x="977900" y="767334"/>
                  <a:pt x="932434" y="812800"/>
                  <a:pt x="876300" y="812800"/>
                </a:cubicBezTo>
                <a:lnTo>
                  <a:pt x="101600" y="812800"/>
                </a:lnTo>
                <a:cubicBezTo>
                  <a:pt x="45466" y="812800"/>
                  <a:pt x="0" y="767334"/>
                  <a:pt x="0" y="711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 w="8890" cap="rnd">
            <a:solidFill>
              <a:srgbClr val="0B3E8F">
                <a:alpha val="32000"/>
              </a:srgbClr>
            </a:solidFill>
            <a:round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nodecap-7"/>
          <p:cNvSpPr/>
          <p:nvPr/>
        </p:nvSpPr>
        <p:spPr>
          <a:xfrm>
            <a:off x="9093200" y="1892300"/>
            <a:ext cx="977900" cy="38100"/>
          </a:xfrm>
          <a:custGeom>
            <a:avLst/>
            <a:gdLst/>
            <a:ahLst/>
            <a:cxnLst/>
            <a:rect l="0" t="0" r="r" b="b"/>
            <a:pathLst>
              <a:path w="977900" h="38100">
                <a:moveTo>
                  <a:pt x="19050" y="0"/>
                </a:moveTo>
                <a:lnTo>
                  <a:pt x="958850" y="0"/>
                </a:lnTo>
                <a:cubicBezTo>
                  <a:pt x="969391" y="0"/>
                  <a:pt x="977900" y="8509"/>
                  <a:pt x="977900" y="19050"/>
                </a:cubicBezTo>
                <a:lnTo>
                  <a:pt x="977900" y="19050"/>
                </a:lnTo>
                <a:cubicBezTo>
                  <a:pt x="977900" y="29591"/>
                  <a:pt x="969391" y="38100"/>
                  <a:pt x="9588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2" name="nb-7"/>
          <p:cNvSpPr/>
          <p:nvPr/>
        </p:nvSpPr>
        <p:spPr>
          <a:xfrm>
            <a:off x="9823450" y="1974850"/>
            <a:ext cx="190500" cy="190500"/>
          </a:xfrm>
          <a:prstGeom prst="ellipse">
            <a:avLst/>
          </a:pr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nbt-7"/>
          <p:cNvSpPr txBox="1"/>
          <p:nvPr/>
        </p:nvSpPr>
        <p:spPr>
          <a:xfrm>
            <a:off x="9849168" y="199056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7</a:t>
            </a:r>
          </a:p>
        </p:txBody>
      </p:sp>
      <p:sp>
        <p:nvSpPr>
          <p:cNvPr id="104" name="noden-7"/>
          <p:cNvSpPr txBox="1"/>
          <p:nvPr/>
        </p:nvSpPr>
        <p:spPr>
          <a:xfrm>
            <a:off x="9204198" y="20832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验收签字</a:t>
            </a:r>
          </a:p>
        </p:txBody>
      </p:sp>
      <p:sp>
        <p:nvSpPr>
          <p:cNvPr id="105" name="nodep-7-1"/>
          <p:cNvSpPr txBox="1"/>
          <p:nvPr/>
        </p:nvSpPr>
        <p:spPr>
          <a:xfrm>
            <a:off x="9209151" y="2324687"/>
            <a:ext cx="458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现场验收</a:t>
            </a:r>
          </a:p>
        </p:txBody>
      </p:sp>
      <p:sp>
        <p:nvSpPr>
          <p:cNvPr id="106" name="nodep-7-2"/>
          <p:cNvSpPr txBox="1"/>
          <p:nvPr/>
        </p:nvSpPr>
        <p:spPr>
          <a:xfrm>
            <a:off x="9209151" y="2477087"/>
            <a:ext cx="64674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并签署验收单</a:t>
            </a:r>
          </a:p>
        </p:txBody>
      </p:sp>
      <p:sp>
        <p:nvSpPr>
          <p:cNvPr id="107" name="node-8"/>
          <p:cNvSpPr/>
          <p:nvPr/>
        </p:nvSpPr>
        <p:spPr>
          <a:xfrm>
            <a:off x="10160000" y="4660900"/>
            <a:ext cx="977900" cy="812800"/>
          </a:xfrm>
          <a:custGeom>
            <a:avLst/>
            <a:gdLst/>
            <a:ahLst/>
            <a:cxnLst/>
            <a:rect l="0" t="0" r="r" b="b"/>
            <a:pathLst>
              <a:path w="977900" h="812800">
                <a:moveTo>
                  <a:pt x="101600" y="0"/>
                </a:moveTo>
                <a:lnTo>
                  <a:pt x="876300" y="0"/>
                </a:lnTo>
                <a:cubicBezTo>
                  <a:pt x="932434" y="0"/>
                  <a:pt x="977900" y="45466"/>
                  <a:pt x="977900" y="101600"/>
                </a:cubicBezTo>
                <a:lnTo>
                  <a:pt x="977900" y="711200"/>
                </a:lnTo>
                <a:cubicBezTo>
                  <a:pt x="977900" y="767334"/>
                  <a:pt x="932434" y="812800"/>
                  <a:pt x="876300" y="812800"/>
                </a:cubicBezTo>
                <a:lnTo>
                  <a:pt x="101600" y="812800"/>
                </a:lnTo>
                <a:cubicBezTo>
                  <a:pt x="45466" y="812800"/>
                  <a:pt x="0" y="767334"/>
                  <a:pt x="0" y="711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 w="8890" cap="rnd">
            <a:solidFill>
              <a:srgbClr val="54A2DF">
                <a:alpha val="32000"/>
              </a:srgbClr>
            </a:solidFill>
            <a:round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8" name="nodecap-8"/>
          <p:cNvSpPr/>
          <p:nvPr/>
        </p:nvSpPr>
        <p:spPr>
          <a:xfrm>
            <a:off x="10160000" y="4660900"/>
            <a:ext cx="977900" cy="38100"/>
          </a:xfrm>
          <a:custGeom>
            <a:avLst/>
            <a:gdLst/>
            <a:ahLst/>
            <a:cxnLst/>
            <a:rect l="0" t="0" r="r" b="b"/>
            <a:pathLst>
              <a:path w="977900" h="38100">
                <a:moveTo>
                  <a:pt x="19050" y="0"/>
                </a:moveTo>
                <a:lnTo>
                  <a:pt x="958850" y="0"/>
                </a:lnTo>
                <a:cubicBezTo>
                  <a:pt x="969391" y="0"/>
                  <a:pt x="977900" y="8509"/>
                  <a:pt x="977900" y="19050"/>
                </a:cubicBezTo>
                <a:lnTo>
                  <a:pt x="977900" y="19050"/>
                </a:lnTo>
                <a:cubicBezTo>
                  <a:pt x="977900" y="29591"/>
                  <a:pt x="969391" y="38100"/>
                  <a:pt x="9588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nb-8"/>
          <p:cNvSpPr/>
          <p:nvPr/>
        </p:nvSpPr>
        <p:spPr>
          <a:xfrm>
            <a:off x="10890250" y="4743450"/>
            <a:ext cx="190500" cy="190500"/>
          </a:xfrm>
          <a:prstGeom prst="ellipse">
            <a:avLst/>
          </a:prstGeom>
          <a:solidFill>
            <a:srgbClr val="54A2D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0" name="nbt-8"/>
          <p:cNvSpPr txBox="1"/>
          <p:nvPr/>
        </p:nvSpPr>
        <p:spPr>
          <a:xfrm>
            <a:off x="10915968" y="475916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54A2DF"/>
                </a:solidFill>
                <a:latin typeface="Arial"/>
                <a:ea typeface="Arial"/>
                <a:cs typeface="Arial"/>
              </a:rPr>
              <a:t>8</a:t>
            </a:r>
          </a:p>
        </p:txBody>
      </p:sp>
      <p:sp>
        <p:nvSpPr>
          <p:cNvPr id="111" name="noden-8"/>
          <p:cNvSpPr txBox="1"/>
          <p:nvPr/>
        </p:nvSpPr>
        <p:spPr>
          <a:xfrm>
            <a:off x="10270998" y="48518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售后回访</a:t>
            </a:r>
          </a:p>
        </p:txBody>
      </p:sp>
      <p:sp>
        <p:nvSpPr>
          <p:cNvPr id="112" name="nodep-8-1"/>
          <p:cNvSpPr txBox="1"/>
          <p:nvPr/>
        </p:nvSpPr>
        <p:spPr>
          <a:xfrm>
            <a:off x="10275951" y="5093287"/>
            <a:ext cx="52520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30 日质量</a:t>
            </a:r>
          </a:p>
        </p:txBody>
      </p:sp>
      <p:sp>
        <p:nvSpPr>
          <p:cNvPr id="113" name="nodep-8-2"/>
          <p:cNvSpPr txBox="1"/>
          <p:nvPr/>
        </p:nvSpPr>
        <p:spPr>
          <a:xfrm>
            <a:off x="10275951" y="5245687"/>
            <a:ext cx="55276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回访与建档</a:t>
            </a:r>
          </a:p>
        </p:txBody>
      </p:sp>
      <p:sp>
        <p:nvSpPr>
          <p:cNvPr id="114" name="dur"/>
          <p:cNvSpPr/>
          <p:nvPr/>
        </p:nvSpPr>
        <p:spPr>
          <a:xfrm>
            <a:off x="952500" y="5829300"/>
            <a:ext cx="10287000" cy="482600"/>
          </a:xfrm>
          <a:custGeom>
            <a:avLst/>
            <a:gdLst/>
            <a:ahLst/>
            <a:cxnLst/>
            <a:rect l="0" t="0" r="r" b="b"/>
            <a:pathLst>
              <a:path w="10287000" h="4826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381000"/>
                </a:lnTo>
                <a:cubicBezTo>
                  <a:pt x="10287000" y="437134"/>
                  <a:pt x="10241534" y="482600"/>
                  <a:pt x="101854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5" name="dur-bar"/>
          <p:cNvSpPr/>
          <p:nvPr/>
        </p:nvSpPr>
        <p:spPr>
          <a:xfrm>
            <a:off x="952500" y="5829300"/>
            <a:ext cx="31750" cy="4826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6" name="dur-h"/>
          <p:cNvSpPr txBox="1"/>
          <p:nvPr/>
        </p:nvSpPr>
        <p:spPr>
          <a:xfrm>
            <a:off x="1128522" y="59723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标准周期</a:t>
            </a:r>
          </a:p>
        </p:txBody>
      </p:sp>
      <p:sp>
        <p:nvSpPr>
          <p:cNvPr id="117" name="dd-1"/>
          <p:cNvSpPr/>
          <p:nvPr/>
        </p:nvSpPr>
        <p:spPr>
          <a:xfrm>
            <a:off x="2927350" y="6051550"/>
            <a:ext cx="63500" cy="635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8" name="dl-1"/>
          <p:cNvSpPr txBox="1"/>
          <p:nvPr/>
        </p:nvSpPr>
        <p:spPr>
          <a:xfrm>
            <a:off x="3060065" y="598416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需求确认</a:t>
            </a:r>
          </a:p>
        </p:txBody>
      </p:sp>
      <p:sp>
        <p:nvSpPr>
          <p:cNvPr id="119" name="dv-1"/>
          <p:cNvSpPr txBox="1"/>
          <p:nvPr/>
        </p:nvSpPr>
        <p:spPr>
          <a:xfrm>
            <a:off x="3771265" y="5984161"/>
            <a:ext cx="46958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Arial"/>
                <a:ea typeface="Arial"/>
                <a:cs typeface="Arial"/>
              </a:rPr>
              <a:t>≤ 3 天</a:t>
            </a:r>
          </a:p>
        </p:txBody>
      </p:sp>
      <p:sp>
        <p:nvSpPr>
          <p:cNvPr id="120" name="dd-2"/>
          <p:cNvSpPr/>
          <p:nvPr/>
        </p:nvSpPr>
        <p:spPr>
          <a:xfrm>
            <a:off x="4629150" y="6051550"/>
            <a:ext cx="63500" cy="635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1" name="dl-2"/>
          <p:cNvSpPr txBox="1"/>
          <p:nvPr/>
        </p:nvSpPr>
        <p:spPr>
          <a:xfrm>
            <a:off x="4761865" y="598416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合同签署</a:t>
            </a:r>
          </a:p>
        </p:txBody>
      </p:sp>
      <p:sp>
        <p:nvSpPr>
          <p:cNvPr id="122" name="dv-2"/>
          <p:cNvSpPr txBox="1"/>
          <p:nvPr/>
        </p:nvSpPr>
        <p:spPr>
          <a:xfrm>
            <a:off x="5473065" y="5984161"/>
            <a:ext cx="46958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Arial"/>
                <a:ea typeface="Arial"/>
                <a:cs typeface="Arial"/>
              </a:rPr>
              <a:t>≤ 5 天</a:t>
            </a:r>
          </a:p>
        </p:txBody>
      </p:sp>
      <p:sp>
        <p:nvSpPr>
          <p:cNvPr id="123" name="dd-3"/>
          <p:cNvSpPr/>
          <p:nvPr/>
        </p:nvSpPr>
        <p:spPr>
          <a:xfrm>
            <a:off x="6330950" y="6051550"/>
            <a:ext cx="63500" cy="6350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4" name="dl-3"/>
          <p:cNvSpPr txBox="1"/>
          <p:nvPr/>
        </p:nvSpPr>
        <p:spPr>
          <a:xfrm>
            <a:off x="6463665" y="598416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排产备料</a:t>
            </a:r>
          </a:p>
        </p:txBody>
      </p:sp>
      <p:sp>
        <p:nvSpPr>
          <p:cNvPr id="125" name="dv-3"/>
          <p:cNvSpPr txBox="1"/>
          <p:nvPr/>
        </p:nvSpPr>
        <p:spPr>
          <a:xfrm>
            <a:off x="7174865" y="5984161"/>
            <a:ext cx="46958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Arial"/>
                <a:ea typeface="Arial"/>
                <a:cs typeface="Arial"/>
              </a:rPr>
              <a:t>≤ 7 天</a:t>
            </a:r>
          </a:p>
        </p:txBody>
      </p:sp>
      <p:sp>
        <p:nvSpPr>
          <p:cNvPr id="126" name="dd-4"/>
          <p:cNvSpPr/>
          <p:nvPr/>
        </p:nvSpPr>
        <p:spPr>
          <a:xfrm>
            <a:off x="8032750" y="6051550"/>
            <a:ext cx="63500" cy="63500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7" name="dl-4"/>
          <p:cNvSpPr txBox="1"/>
          <p:nvPr/>
        </p:nvSpPr>
        <p:spPr>
          <a:xfrm>
            <a:off x="8165465" y="598416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生产交付</a:t>
            </a:r>
          </a:p>
        </p:txBody>
      </p:sp>
      <p:sp>
        <p:nvSpPr>
          <p:cNvPr id="128" name="dv-4"/>
          <p:cNvSpPr txBox="1"/>
          <p:nvPr/>
        </p:nvSpPr>
        <p:spPr>
          <a:xfrm>
            <a:off x="8876665" y="5984161"/>
            <a:ext cx="53371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Arial"/>
                <a:ea typeface="Arial"/>
                <a:cs typeface="Arial"/>
              </a:rPr>
              <a:t>≤ 21 天</a:t>
            </a:r>
          </a:p>
        </p:txBody>
      </p:sp>
      <p:sp>
        <p:nvSpPr>
          <p:cNvPr id="129" name="dd-5"/>
          <p:cNvSpPr/>
          <p:nvPr/>
        </p:nvSpPr>
        <p:spPr>
          <a:xfrm>
            <a:off x="9734550" y="6051550"/>
            <a:ext cx="63500" cy="635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0" name="dl-5"/>
          <p:cNvSpPr txBox="1"/>
          <p:nvPr/>
        </p:nvSpPr>
        <p:spPr>
          <a:xfrm>
            <a:off x="9867265" y="598416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验收回访</a:t>
            </a:r>
          </a:p>
        </p:txBody>
      </p:sp>
      <p:sp>
        <p:nvSpPr>
          <p:cNvPr id="131" name="dv-5"/>
          <p:cNvSpPr txBox="1"/>
          <p:nvPr/>
        </p:nvSpPr>
        <p:spPr>
          <a:xfrm>
            <a:off x="10578465" y="5984161"/>
            <a:ext cx="53371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Arial"/>
                <a:ea typeface="Arial"/>
                <a:cs typeface="Arial"/>
              </a:rPr>
              <a:t>≤ 30 天</a:t>
            </a:r>
          </a:p>
        </p:txBody>
      </p:sp>
      <p:cxnSp>
        <p:nvCxnSpPr>
          <p:cNvPr id="132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3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泳道流程 · 三部门八步</a:t>
            </a:r>
          </a:p>
        </p:txBody>
      </p:sp>
      <p:sp>
        <p:nvSpPr>
          <p:cNvPr id="134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五年成长路径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35483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GROWTH ROADMAP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666099" y="673132"/>
            <a:ext cx="29546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从区域试点到全国规模化，每一级台阶对应一个能力跨越</a:t>
            </a:r>
          </a:p>
        </p:txBody>
      </p:sp>
      <p:sp>
        <p:nvSpPr>
          <p:cNvPr id="10" name="trend"/>
          <p:cNvSpPr/>
          <p:nvPr/>
        </p:nvSpPr>
        <p:spPr>
          <a:xfrm>
            <a:off x="2101850" y="2159000"/>
            <a:ext cx="8534400" cy="2997200"/>
          </a:xfrm>
          <a:custGeom>
            <a:avLst/>
            <a:gdLst/>
            <a:ahLst/>
            <a:cxnLst/>
            <a:rect l="0" t="0" r="r" b="b"/>
            <a:pathLst>
              <a:path w="8534400" h="2997200">
                <a:moveTo>
                  <a:pt x="0" y="2997200"/>
                </a:moveTo>
                <a:cubicBezTo>
                  <a:pt x="355600" y="2872296"/>
                  <a:pt x="1422400" y="2497646"/>
                  <a:pt x="2133600" y="2247900"/>
                </a:cubicBezTo>
                <a:cubicBezTo>
                  <a:pt x="2844800" y="1998154"/>
                  <a:pt x="3556000" y="1748346"/>
                  <a:pt x="4267200" y="1498600"/>
                </a:cubicBezTo>
                <a:cubicBezTo>
                  <a:pt x="4978400" y="1248854"/>
                  <a:pt x="5689600" y="999045"/>
                  <a:pt x="6400800" y="749300"/>
                </a:cubicBezTo>
                <a:cubicBezTo>
                  <a:pt x="7112000" y="499555"/>
                  <a:pt x="8178800" y="124905"/>
                  <a:pt x="8534400" y="0"/>
                </a:cubicBezTo>
              </a:path>
            </a:pathLst>
          </a:custGeom>
          <a:noFill/>
          <a:ln w="15240" cap="rnd">
            <a:solidFill>
              <a:srgbClr val="1B5AA8">
                <a:alpha val="35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step-1"/>
          <p:cNvSpPr/>
          <p:nvPr/>
        </p:nvSpPr>
        <p:spPr>
          <a:xfrm>
            <a:off x="1117600" y="5219700"/>
            <a:ext cx="1968500" cy="749300"/>
          </a:xfrm>
          <a:custGeom>
            <a:avLst/>
            <a:gdLst/>
            <a:ahLst/>
            <a:cxnLst/>
            <a:rect l="0" t="0" r="r" b="b"/>
            <a:pathLst>
              <a:path w="1968500" h="749300">
                <a:moveTo>
                  <a:pt x="101600" y="0"/>
                </a:moveTo>
                <a:lnTo>
                  <a:pt x="1866900" y="0"/>
                </a:lnTo>
                <a:cubicBezTo>
                  <a:pt x="1923034" y="0"/>
                  <a:pt x="1968500" y="45466"/>
                  <a:pt x="1968500" y="101600"/>
                </a:cubicBezTo>
                <a:lnTo>
                  <a:pt x="1968500" y="647700"/>
                </a:lnTo>
                <a:cubicBezTo>
                  <a:pt x="1968500" y="703834"/>
                  <a:pt x="1923034" y="749300"/>
                  <a:pt x="1866900" y="749300"/>
                </a:cubicBezTo>
                <a:lnTo>
                  <a:pt x="101600" y="749300"/>
                </a:lnTo>
                <a:cubicBezTo>
                  <a:pt x="45466" y="749300"/>
                  <a:pt x="0" y="703834"/>
                  <a:pt x="0" y="6477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3761A3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steph-1"/>
          <p:cNvSpPr/>
          <p:nvPr/>
        </p:nvSpPr>
        <p:spPr>
          <a:xfrm>
            <a:off x="1219200" y="5308600"/>
            <a:ext cx="1765300" cy="19050"/>
          </a:xfrm>
          <a:custGeom>
            <a:avLst/>
            <a:gdLst/>
            <a:ahLst/>
            <a:cxnLst/>
            <a:rect l="0" t="0" r="r" b="b"/>
            <a:pathLst>
              <a:path w="1765300" h="19050">
                <a:moveTo>
                  <a:pt x="9525" y="0"/>
                </a:moveTo>
                <a:lnTo>
                  <a:pt x="1755775" y="0"/>
                </a:lnTo>
                <a:cubicBezTo>
                  <a:pt x="1761046" y="0"/>
                  <a:pt x="1765300" y="4254"/>
                  <a:pt x="1765300" y="9525"/>
                </a:cubicBezTo>
                <a:lnTo>
                  <a:pt x="1765300" y="9525"/>
                </a:lnTo>
                <a:cubicBezTo>
                  <a:pt x="1765300" y="14796"/>
                  <a:pt x="1761046" y="19050"/>
                  <a:pt x="1755775" y="19050"/>
                </a:cubicBezTo>
                <a:lnTo>
                  <a:pt x="9525" y="19050"/>
                </a:lnTo>
                <a:cubicBezTo>
                  <a:pt x="4254" y="19050"/>
                  <a:pt x="0" y="14796"/>
                  <a:pt x="0" y="9525"/>
                </a:cubicBezTo>
                <a:lnTo>
                  <a:pt x="0" y="9525"/>
                </a:lnTo>
                <a:cubicBezTo>
                  <a:pt x="0" y="4254"/>
                  <a:pt x="4254" y="0"/>
                  <a:pt x="9525" y="0"/>
                </a:cubicBezTo>
                <a:close/>
              </a:path>
            </a:pathLst>
          </a:custGeom>
          <a:solidFill>
            <a:srgbClr val="FFFFFF">
              <a:alpha val="4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yr-1"/>
          <p:cNvSpPr txBox="1"/>
          <p:nvPr/>
        </p:nvSpPr>
        <p:spPr>
          <a:xfrm>
            <a:off x="1271016" y="5362448"/>
            <a:ext cx="688848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600" b="1" spc="100">
                <a:solidFill>
                  <a:srgbClr val="FFFFFF"/>
                </a:solidFill>
                <a:latin typeface="Arial"/>
                <a:ea typeface="Arial"/>
                <a:cs typeface="Arial"/>
              </a:rPr>
              <a:t>2022</a:t>
            </a:r>
          </a:p>
        </p:txBody>
      </p:sp>
      <p:sp>
        <p:nvSpPr>
          <p:cNvPr id="14" name="rev-1"/>
          <p:cNvSpPr txBox="1"/>
          <p:nvPr/>
        </p:nvSpPr>
        <p:spPr>
          <a:xfrm>
            <a:off x="2330831" y="5415470"/>
            <a:ext cx="594233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25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0.8 亿</a:t>
            </a:r>
          </a:p>
        </p:txBody>
      </p:sp>
      <p:sp>
        <p:nvSpPr>
          <p:cNvPr id="15" name="revl-1"/>
          <p:cNvSpPr txBox="1"/>
          <p:nvPr/>
        </p:nvSpPr>
        <p:spPr>
          <a:xfrm>
            <a:off x="2463038" y="5656008"/>
            <a:ext cx="455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40">
                <a:solidFill>
                  <a:srgbClr val="FFFFFF">
                    <a:alpha val="72000"/>
                  </a:srgbClr>
                </a:solidFill>
                <a:latin typeface="微软雅黑"/>
                <a:ea typeface="微软雅黑"/>
                <a:cs typeface="微软雅黑"/>
              </a:rPr>
              <a:t>营收目标</a:t>
            </a:r>
          </a:p>
        </p:txBody>
      </p:sp>
      <p:sp>
        <p:nvSpPr>
          <p:cNvPr id="16" name="lab-1"/>
          <p:cNvSpPr/>
          <p:nvPr/>
        </p:nvSpPr>
        <p:spPr>
          <a:xfrm>
            <a:off x="1231900" y="4381500"/>
            <a:ext cx="1739900" cy="685800"/>
          </a:xfrm>
          <a:custGeom>
            <a:avLst/>
            <a:gdLst/>
            <a:ahLst/>
            <a:cxnLst/>
            <a:rect l="0" t="0" r="r" b="b"/>
            <a:pathLst>
              <a:path w="1739900" h="685800">
                <a:moveTo>
                  <a:pt x="101600" y="0"/>
                </a:moveTo>
                <a:lnTo>
                  <a:pt x="1638300" y="0"/>
                </a:lnTo>
                <a:cubicBezTo>
                  <a:pt x="1694434" y="0"/>
                  <a:pt x="1739900" y="45466"/>
                  <a:pt x="1739900" y="101600"/>
                </a:cubicBezTo>
                <a:lnTo>
                  <a:pt x="1739900" y="584200"/>
                </a:lnTo>
                <a:cubicBezTo>
                  <a:pt x="1739900" y="640334"/>
                  <a:pt x="1694434" y="685800"/>
                  <a:pt x="1638300" y="685800"/>
                </a:cubicBezTo>
                <a:lnTo>
                  <a:pt x="101600" y="685800"/>
                </a:lnTo>
                <a:cubicBezTo>
                  <a:pt x="45466" y="685800"/>
                  <a:pt x="0" y="640334"/>
                  <a:pt x="0" y="584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labcap-1"/>
          <p:cNvSpPr/>
          <p:nvPr/>
        </p:nvSpPr>
        <p:spPr>
          <a:xfrm>
            <a:off x="1231900" y="4381500"/>
            <a:ext cx="1739900" cy="38100"/>
          </a:xfrm>
          <a:custGeom>
            <a:avLst/>
            <a:gdLst/>
            <a:ahLst/>
            <a:cxnLst/>
            <a:rect l="0" t="0" r="r" b="b"/>
            <a:pathLst>
              <a:path w="1739900" h="38100">
                <a:moveTo>
                  <a:pt x="19050" y="0"/>
                </a:moveTo>
                <a:lnTo>
                  <a:pt x="1720850" y="0"/>
                </a:lnTo>
                <a:cubicBezTo>
                  <a:pt x="1731391" y="0"/>
                  <a:pt x="1739900" y="8509"/>
                  <a:pt x="1739900" y="19050"/>
                </a:cubicBezTo>
                <a:lnTo>
                  <a:pt x="1739900" y="19050"/>
                </a:lnTo>
                <a:cubicBezTo>
                  <a:pt x="1739900" y="29591"/>
                  <a:pt x="1731391" y="38100"/>
                  <a:pt x="17208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icon-rocket"/>
          <p:cNvSpPr/>
          <p:nvPr/>
        </p:nvSpPr>
        <p:spPr>
          <a:xfrm>
            <a:off x="1433512" y="4654550"/>
            <a:ext cx="104775" cy="131762"/>
          </a:xfrm>
          <a:custGeom>
            <a:avLst/>
            <a:gdLst/>
            <a:ahLst/>
            <a:cxnLst/>
            <a:rect l="0" t="0" r="r" b="b"/>
            <a:pathLst>
              <a:path w="104775" h="131762">
                <a:moveTo>
                  <a:pt x="52388" y="0"/>
                </a:moveTo>
                <a:cubicBezTo>
                  <a:pt x="76200" y="17462"/>
                  <a:pt x="88900" y="44450"/>
                  <a:pt x="88900" y="73025"/>
                </a:cubicBezTo>
                <a:lnTo>
                  <a:pt x="71438" y="101600"/>
                </a:lnTo>
                <a:lnTo>
                  <a:pt x="33338" y="101600"/>
                </a:lnTo>
                <a:lnTo>
                  <a:pt x="15875" y="73025"/>
                </a:lnTo>
                <a:cubicBezTo>
                  <a:pt x="15875" y="44450"/>
                  <a:pt x="28575" y="17462"/>
                  <a:pt x="52388" y="0"/>
                </a:cubicBezTo>
                <a:close/>
                <a:moveTo>
                  <a:pt x="15875" y="95250"/>
                </a:moveTo>
                <a:lnTo>
                  <a:pt x="0" y="131762"/>
                </a:lnTo>
                <a:lnTo>
                  <a:pt x="33338" y="119062"/>
                </a:lnTo>
                <a:moveTo>
                  <a:pt x="88900" y="95250"/>
                </a:moveTo>
                <a:lnTo>
                  <a:pt x="104775" y="131762"/>
                </a:lnTo>
                <a:lnTo>
                  <a:pt x="71438" y="119062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labn-1"/>
          <p:cNvSpPr txBox="1"/>
          <p:nvPr/>
        </p:nvSpPr>
        <p:spPr>
          <a:xfrm>
            <a:off x="1670050" y="45029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区域试点</a:t>
            </a:r>
          </a:p>
        </p:txBody>
      </p:sp>
      <p:sp>
        <p:nvSpPr>
          <p:cNvPr id="20" name="labs-1"/>
          <p:cNvSpPr txBox="1"/>
          <p:nvPr/>
        </p:nvSpPr>
        <p:spPr>
          <a:xfrm>
            <a:off x="1678051" y="4775787"/>
            <a:ext cx="43757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第 1 级</a:t>
            </a:r>
          </a:p>
        </p:txBody>
      </p:sp>
      <p:cxnSp>
        <p:nvCxnSpPr>
          <p:cNvPr id="21" name="labline-1"/>
          <p:cNvCxnSpPr/>
          <p:nvPr/>
        </p:nvCxnSpPr>
        <p:spPr>
          <a:xfrm>
            <a:off x="2101850" y="5067300"/>
            <a:ext cx="0" cy="152400"/>
          </a:xfrm>
          <a:prstGeom prst="line">
            <a:avLst/>
          </a:prstGeom>
          <a:ln w="8890" cap="rnd">
            <a:solidFill>
              <a:srgbClr val="0B3E8F">
                <a:alpha val="3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step-2"/>
          <p:cNvSpPr/>
          <p:nvPr/>
        </p:nvSpPr>
        <p:spPr>
          <a:xfrm>
            <a:off x="3251200" y="4470400"/>
            <a:ext cx="1968500" cy="1498600"/>
          </a:xfrm>
          <a:custGeom>
            <a:avLst/>
            <a:gdLst/>
            <a:ahLst/>
            <a:cxnLst/>
            <a:rect l="0" t="0" r="r" b="b"/>
            <a:pathLst>
              <a:path w="1968500" h="1498600">
                <a:moveTo>
                  <a:pt x="101600" y="0"/>
                </a:moveTo>
                <a:lnTo>
                  <a:pt x="1866900" y="0"/>
                </a:lnTo>
                <a:cubicBezTo>
                  <a:pt x="1923034" y="0"/>
                  <a:pt x="1968500" y="45466"/>
                  <a:pt x="1968500" y="101600"/>
                </a:cubicBezTo>
                <a:lnTo>
                  <a:pt x="1968500" y="1397000"/>
                </a:lnTo>
                <a:cubicBezTo>
                  <a:pt x="1968500" y="1453134"/>
                  <a:pt x="1923034" y="1498600"/>
                  <a:pt x="1866900" y="1498600"/>
                </a:cubicBezTo>
                <a:lnTo>
                  <a:pt x="101600" y="1498600"/>
                </a:lnTo>
                <a:cubicBezTo>
                  <a:pt x="45466" y="1498600"/>
                  <a:pt x="0" y="1453134"/>
                  <a:pt x="0" y="1397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4478B8"/>
              </a:gs>
              <a:gs pos="100000">
                <a:srgbClr val="1B5AA8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steph-2"/>
          <p:cNvSpPr/>
          <p:nvPr/>
        </p:nvSpPr>
        <p:spPr>
          <a:xfrm>
            <a:off x="3352800" y="4559300"/>
            <a:ext cx="1765300" cy="19050"/>
          </a:xfrm>
          <a:custGeom>
            <a:avLst/>
            <a:gdLst/>
            <a:ahLst/>
            <a:cxnLst/>
            <a:rect l="0" t="0" r="r" b="b"/>
            <a:pathLst>
              <a:path w="1765300" h="19050">
                <a:moveTo>
                  <a:pt x="9525" y="0"/>
                </a:moveTo>
                <a:lnTo>
                  <a:pt x="1755775" y="0"/>
                </a:lnTo>
                <a:cubicBezTo>
                  <a:pt x="1761046" y="0"/>
                  <a:pt x="1765300" y="4254"/>
                  <a:pt x="1765300" y="9525"/>
                </a:cubicBezTo>
                <a:lnTo>
                  <a:pt x="1765300" y="9525"/>
                </a:lnTo>
                <a:cubicBezTo>
                  <a:pt x="1765300" y="14796"/>
                  <a:pt x="1761046" y="19050"/>
                  <a:pt x="1755775" y="19050"/>
                </a:cubicBezTo>
                <a:lnTo>
                  <a:pt x="9525" y="19050"/>
                </a:lnTo>
                <a:cubicBezTo>
                  <a:pt x="4254" y="19050"/>
                  <a:pt x="0" y="14796"/>
                  <a:pt x="0" y="9525"/>
                </a:cubicBezTo>
                <a:lnTo>
                  <a:pt x="0" y="9525"/>
                </a:lnTo>
                <a:cubicBezTo>
                  <a:pt x="0" y="4254"/>
                  <a:pt x="4254" y="0"/>
                  <a:pt x="9525" y="0"/>
                </a:cubicBezTo>
                <a:close/>
              </a:path>
            </a:pathLst>
          </a:custGeom>
          <a:solidFill>
            <a:srgbClr val="FFFFFF">
              <a:alpha val="4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yr-2"/>
          <p:cNvSpPr txBox="1"/>
          <p:nvPr/>
        </p:nvSpPr>
        <p:spPr>
          <a:xfrm>
            <a:off x="3404616" y="4613148"/>
            <a:ext cx="688848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600" b="1" spc="100">
                <a:solidFill>
                  <a:srgbClr val="FFFFFF"/>
                </a:solidFill>
                <a:latin typeface="Arial"/>
                <a:ea typeface="Arial"/>
                <a:cs typeface="Arial"/>
              </a:rPr>
              <a:t>2023</a:t>
            </a:r>
          </a:p>
        </p:txBody>
      </p:sp>
      <p:sp>
        <p:nvSpPr>
          <p:cNvPr id="25" name="rev-2"/>
          <p:cNvSpPr txBox="1"/>
          <p:nvPr/>
        </p:nvSpPr>
        <p:spPr>
          <a:xfrm>
            <a:off x="4464431" y="4666170"/>
            <a:ext cx="594233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25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2.4 亿</a:t>
            </a:r>
          </a:p>
        </p:txBody>
      </p:sp>
      <p:sp>
        <p:nvSpPr>
          <p:cNvPr id="26" name="revl-2"/>
          <p:cNvSpPr txBox="1"/>
          <p:nvPr/>
        </p:nvSpPr>
        <p:spPr>
          <a:xfrm>
            <a:off x="4596638" y="4906708"/>
            <a:ext cx="455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40">
                <a:solidFill>
                  <a:srgbClr val="FFFFFF">
                    <a:alpha val="72000"/>
                  </a:srgbClr>
                </a:solidFill>
                <a:latin typeface="微软雅黑"/>
                <a:ea typeface="微软雅黑"/>
                <a:cs typeface="微软雅黑"/>
              </a:rPr>
              <a:t>营收目标</a:t>
            </a:r>
          </a:p>
        </p:txBody>
      </p:sp>
      <p:sp>
        <p:nvSpPr>
          <p:cNvPr id="27" name="sd-2-1"/>
          <p:cNvSpPr/>
          <p:nvPr/>
        </p:nvSpPr>
        <p:spPr>
          <a:xfrm>
            <a:off x="3445510" y="5191760"/>
            <a:ext cx="43180" cy="43180"/>
          </a:xfrm>
          <a:prstGeom prst="ellipse">
            <a:avLst/>
          </a:prstGeom>
          <a:solidFill>
            <a:srgbClr val="FFFFFF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sp-2-1"/>
          <p:cNvSpPr txBox="1"/>
          <p:nvPr/>
        </p:nvSpPr>
        <p:spPr>
          <a:xfrm>
            <a:off x="3556889" y="5123545"/>
            <a:ext cx="106229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FFFFFF">
                    <a:alpha val="92000"/>
                  </a:srgbClr>
                </a:solidFill>
                <a:latin typeface="微软雅黑"/>
                <a:ea typeface="微软雅黑"/>
                <a:cs typeface="微软雅黑"/>
              </a:rPr>
              <a:t>复制到 6 个重点城市</a:t>
            </a:r>
          </a:p>
        </p:txBody>
      </p:sp>
      <p:sp>
        <p:nvSpPr>
          <p:cNvPr id="29" name="sd-2-2"/>
          <p:cNvSpPr/>
          <p:nvPr/>
        </p:nvSpPr>
        <p:spPr>
          <a:xfrm>
            <a:off x="3445510" y="5382260"/>
            <a:ext cx="43180" cy="43180"/>
          </a:xfrm>
          <a:prstGeom prst="ellipse">
            <a:avLst/>
          </a:prstGeom>
          <a:solidFill>
            <a:srgbClr val="FFFFFF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sp-2-2"/>
          <p:cNvSpPr txBox="1"/>
          <p:nvPr/>
        </p:nvSpPr>
        <p:spPr>
          <a:xfrm>
            <a:off x="3556889" y="5314045"/>
            <a:ext cx="79089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FFFFFF">
                    <a:alpha val="92000"/>
                  </a:srgbClr>
                </a:solidFill>
                <a:latin typeface="微软雅黑"/>
                <a:ea typeface="微软雅黑"/>
                <a:cs typeface="微软雅黑"/>
              </a:rPr>
              <a:t>标准实施包成型</a:t>
            </a:r>
          </a:p>
        </p:txBody>
      </p:sp>
      <p:sp>
        <p:nvSpPr>
          <p:cNvPr id="31" name="lab-2"/>
          <p:cNvSpPr/>
          <p:nvPr/>
        </p:nvSpPr>
        <p:spPr>
          <a:xfrm>
            <a:off x="3365500" y="3632200"/>
            <a:ext cx="1739900" cy="685800"/>
          </a:xfrm>
          <a:custGeom>
            <a:avLst/>
            <a:gdLst/>
            <a:ahLst/>
            <a:cxnLst/>
            <a:rect l="0" t="0" r="r" b="b"/>
            <a:pathLst>
              <a:path w="1739900" h="685800">
                <a:moveTo>
                  <a:pt x="101600" y="0"/>
                </a:moveTo>
                <a:lnTo>
                  <a:pt x="1638300" y="0"/>
                </a:lnTo>
                <a:cubicBezTo>
                  <a:pt x="1694434" y="0"/>
                  <a:pt x="1739900" y="45466"/>
                  <a:pt x="1739900" y="101600"/>
                </a:cubicBezTo>
                <a:lnTo>
                  <a:pt x="1739900" y="584200"/>
                </a:lnTo>
                <a:cubicBezTo>
                  <a:pt x="1739900" y="640334"/>
                  <a:pt x="1694434" y="685800"/>
                  <a:pt x="1638300" y="685800"/>
                </a:cubicBezTo>
                <a:lnTo>
                  <a:pt x="101600" y="685800"/>
                </a:lnTo>
                <a:cubicBezTo>
                  <a:pt x="45466" y="685800"/>
                  <a:pt x="0" y="640334"/>
                  <a:pt x="0" y="584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labcap-2"/>
          <p:cNvSpPr/>
          <p:nvPr/>
        </p:nvSpPr>
        <p:spPr>
          <a:xfrm>
            <a:off x="3365500" y="3632200"/>
            <a:ext cx="1739900" cy="38100"/>
          </a:xfrm>
          <a:custGeom>
            <a:avLst/>
            <a:gdLst/>
            <a:ahLst/>
            <a:cxnLst/>
            <a:rect l="0" t="0" r="r" b="b"/>
            <a:pathLst>
              <a:path w="1739900" h="38100">
                <a:moveTo>
                  <a:pt x="19050" y="0"/>
                </a:moveTo>
                <a:lnTo>
                  <a:pt x="1720850" y="0"/>
                </a:lnTo>
                <a:cubicBezTo>
                  <a:pt x="1731391" y="0"/>
                  <a:pt x="1739900" y="8509"/>
                  <a:pt x="1739900" y="19050"/>
                </a:cubicBezTo>
                <a:lnTo>
                  <a:pt x="1739900" y="19050"/>
                </a:lnTo>
                <a:cubicBezTo>
                  <a:pt x="1739900" y="29591"/>
                  <a:pt x="1731391" y="38100"/>
                  <a:pt x="17208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icon-share"/>
          <p:cNvSpPr/>
          <p:nvPr/>
        </p:nvSpPr>
        <p:spPr>
          <a:xfrm>
            <a:off x="3589338" y="3936238"/>
            <a:ext cx="56325" cy="77724"/>
          </a:xfrm>
          <a:custGeom>
            <a:avLst/>
            <a:gdLst/>
            <a:ahLst/>
            <a:cxnLst/>
            <a:rect l="0" t="0" r="r" b="b"/>
            <a:pathLst>
              <a:path w="56325" h="77724">
                <a:moveTo>
                  <a:pt x="0" y="30925"/>
                </a:moveTo>
                <a:lnTo>
                  <a:pt x="56325" y="0"/>
                </a:lnTo>
                <a:moveTo>
                  <a:pt x="0" y="46800"/>
                </a:moveTo>
                <a:lnTo>
                  <a:pt x="56325" y="77724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icon-share"/>
          <p:cNvSpPr/>
          <p:nvPr/>
        </p:nvSpPr>
        <p:spPr>
          <a:xfrm>
            <a:off x="3555206" y="3956844"/>
            <a:ext cx="36512" cy="36512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icon-share"/>
          <p:cNvSpPr/>
          <p:nvPr/>
        </p:nvSpPr>
        <p:spPr>
          <a:xfrm>
            <a:off x="3644106" y="3910806"/>
            <a:ext cx="36512" cy="36512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icon-share"/>
          <p:cNvSpPr/>
          <p:nvPr/>
        </p:nvSpPr>
        <p:spPr>
          <a:xfrm>
            <a:off x="3644106" y="4002881"/>
            <a:ext cx="36512" cy="36512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labn-2"/>
          <p:cNvSpPr txBox="1"/>
          <p:nvPr/>
        </p:nvSpPr>
        <p:spPr>
          <a:xfrm>
            <a:off x="3803650" y="37536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多城复制</a:t>
            </a:r>
          </a:p>
        </p:txBody>
      </p:sp>
      <p:sp>
        <p:nvSpPr>
          <p:cNvPr id="38" name="labs-2"/>
          <p:cNvSpPr txBox="1"/>
          <p:nvPr/>
        </p:nvSpPr>
        <p:spPr>
          <a:xfrm>
            <a:off x="3811651" y="4026487"/>
            <a:ext cx="43757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第 2 级</a:t>
            </a:r>
          </a:p>
        </p:txBody>
      </p:sp>
      <p:cxnSp>
        <p:nvCxnSpPr>
          <p:cNvPr id="39" name="labline-2"/>
          <p:cNvCxnSpPr/>
          <p:nvPr/>
        </p:nvCxnSpPr>
        <p:spPr>
          <a:xfrm>
            <a:off x="4235450" y="4318000"/>
            <a:ext cx="0" cy="152400"/>
          </a:xfrm>
          <a:prstGeom prst="line">
            <a:avLst/>
          </a:prstGeom>
          <a:ln w="8890" cap="rnd">
            <a:solidFill>
              <a:srgbClr val="1B5AA8">
                <a:alpha val="3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step-3"/>
          <p:cNvSpPr/>
          <p:nvPr/>
        </p:nvSpPr>
        <p:spPr>
          <a:xfrm>
            <a:off x="5384800" y="3721100"/>
            <a:ext cx="1968500" cy="2247900"/>
          </a:xfrm>
          <a:custGeom>
            <a:avLst/>
            <a:gdLst/>
            <a:ahLst/>
            <a:cxnLst/>
            <a:rect l="0" t="0" r="r" b="b"/>
            <a:pathLst>
              <a:path w="1968500" h="2247900">
                <a:moveTo>
                  <a:pt x="101600" y="0"/>
                </a:moveTo>
                <a:lnTo>
                  <a:pt x="1866900" y="0"/>
                </a:lnTo>
                <a:cubicBezTo>
                  <a:pt x="1923034" y="0"/>
                  <a:pt x="1968500" y="45466"/>
                  <a:pt x="1968500" y="101600"/>
                </a:cubicBezTo>
                <a:lnTo>
                  <a:pt x="1968500" y="2146300"/>
                </a:lnTo>
                <a:cubicBezTo>
                  <a:pt x="1968500" y="2202434"/>
                  <a:pt x="1923034" y="2247900"/>
                  <a:pt x="1866900" y="2247900"/>
                </a:cubicBezTo>
                <a:lnTo>
                  <a:pt x="101600" y="2247900"/>
                </a:lnTo>
                <a:cubicBezTo>
                  <a:pt x="45466" y="2247900"/>
                  <a:pt x="0" y="2202434"/>
                  <a:pt x="0" y="2146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548FCD"/>
              </a:gs>
              <a:gs pos="100000">
                <a:srgbClr val="2E77C2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steph-3"/>
          <p:cNvSpPr/>
          <p:nvPr/>
        </p:nvSpPr>
        <p:spPr>
          <a:xfrm>
            <a:off x="5486400" y="3810000"/>
            <a:ext cx="1765300" cy="19050"/>
          </a:xfrm>
          <a:custGeom>
            <a:avLst/>
            <a:gdLst/>
            <a:ahLst/>
            <a:cxnLst/>
            <a:rect l="0" t="0" r="r" b="b"/>
            <a:pathLst>
              <a:path w="1765300" h="19050">
                <a:moveTo>
                  <a:pt x="9525" y="0"/>
                </a:moveTo>
                <a:lnTo>
                  <a:pt x="1755775" y="0"/>
                </a:lnTo>
                <a:cubicBezTo>
                  <a:pt x="1761045" y="0"/>
                  <a:pt x="1765300" y="4254"/>
                  <a:pt x="1765300" y="9525"/>
                </a:cubicBezTo>
                <a:lnTo>
                  <a:pt x="1765300" y="9525"/>
                </a:lnTo>
                <a:cubicBezTo>
                  <a:pt x="1765300" y="14796"/>
                  <a:pt x="1761045" y="19050"/>
                  <a:pt x="1755775" y="19050"/>
                </a:cubicBezTo>
                <a:lnTo>
                  <a:pt x="9525" y="19050"/>
                </a:lnTo>
                <a:cubicBezTo>
                  <a:pt x="4254" y="19050"/>
                  <a:pt x="0" y="14796"/>
                  <a:pt x="0" y="9525"/>
                </a:cubicBezTo>
                <a:lnTo>
                  <a:pt x="0" y="9525"/>
                </a:lnTo>
                <a:cubicBezTo>
                  <a:pt x="0" y="4254"/>
                  <a:pt x="4254" y="0"/>
                  <a:pt x="9525" y="0"/>
                </a:cubicBezTo>
                <a:close/>
              </a:path>
            </a:pathLst>
          </a:custGeom>
          <a:solidFill>
            <a:srgbClr val="FFFFFF">
              <a:alpha val="4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yr-3"/>
          <p:cNvSpPr txBox="1"/>
          <p:nvPr/>
        </p:nvSpPr>
        <p:spPr>
          <a:xfrm>
            <a:off x="5538216" y="3863848"/>
            <a:ext cx="688848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600" b="1" spc="100">
                <a:solidFill>
                  <a:srgbClr val="FFFFFF"/>
                </a:solidFill>
                <a:latin typeface="Arial"/>
                <a:ea typeface="Arial"/>
                <a:cs typeface="Arial"/>
              </a:rPr>
              <a:t>2024</a:t>
            </a:r>
          </a:p>
        </p:txBody>
      </p:sp>
      <p:sp>
        <p:nvSpPr>
          <p:cNvPr id="43" name="rev-3"/>
          <p:cNvSpPr txBox="1"/>
          <p:nvPr/>
        </p:nvSpPr>
        <p:spPr>
          <a:xfrm>
            <a:off x="6598031" y="3916871"/>
            <a:ext cx="594233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25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5.6 亿</a:t>
            </a:r>
          </a:p>
        </p:txBody>
      </p:sp>
      <p:sp>
        <p:nvSpPr>
          <p:cNvPr id="44" name="revl-3"/>
          <p:cNvSpPr txBox="1"/>
          <p:nvPr/>
        </p:nvSpPr>
        <p:spPr>
          <a:xfrm>
            <a:off x="6730238" y="4157408"/>
            <a:ext cx="455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40">
                <a:solidFill>
                  <a:srgbClr val="FFFFFF">
                    <a:alpha val="72000"/>
                  </a:srgbClr>
                </a:solidFill>
                <a:latin typeface="微软雅黑"/>
                <a:ea typeface="微软雅黑"/>
                <a:cs typeface="微软雅黑"/>
              </a:rPr>
              <a:t>营收目标</a:t>
            </a:r>
          </a:p>
        </p:txBody>
      </p:sp>
      <p:sp>
        <p:nvSpPr>
          <p:cNvPr id="45" name="sd-3-1"/>
          <p:cNvSpPr/>
          <p:nvPr/>
        </p:nvSpPr>
        <p:spPr>
          <a:xfrm>
            <a:off x="5579110" y="4442460"/>
            <a:ext cx="43180" cy="43180"/>
          </a:xfrm>
          <a:prstGeom prst="ellipse">
            <a:avLst/>
          </a:prstGeom>
          <a:solidFill>
            <a:srgbClr val="FFFFFF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sp-3-1"/>
          <p:cNvSpPr txBox="1"/>
          <p:nvPr/>
        </p:nvSpPr>
        <p:spPr>
          <a:xfrm>
            <a:off x="5690489" y="4374245"/>
            <a:ext cx="89122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FFFFFF">
                    <a:alpha val="92000"/>
                  </a:srgbClr>
                </a:solidFill>
                <a:latin typeface="微软雅黑"/>
                <a:ea typeface="微软雅黑"/>
                <a:cs typeface="微软雅黑"/>
              </a:rPr>
              <a:t>华东份额进入前三</a:t>
            </a:r>
          </a:p>
        </p:txBody>
      </p:sp>
      <p:sp>
        <p:nvSpPr>
          <p:cNvPr id="47" name="sd-3-2"/>
          <p:cNvSpPr/>
          <p:nvPr/>
        </p:nvSpPr>
        <p:spPr>
          <a:xfrm>
            <a:off x="5579110" y="4632960"/>
            <a:ext cx="43180" cy="43180"/>
          </a:xfrm>
          <a:prstGeom prst="ellipse">
            <a:avLst/>
          </a:prstGeom>
          <a:solidFill>
            <a:srgbClr val="FFFFFF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sp-3-2"/>
          <p:cNvSpPr txBox="1"/>
          <p:nvPr/>
        </p:nvSpPr>
        <p:spPr>
          <a:xfrm>
            <a:off x="5690489" y="4564745"/>
            <a:ext cx="875348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FFFFFF">
                    <a:alpha val="92000"/>
                  </a:srgbClr>
                </a:solidFill>
                <a:latin typeface="微软雅黑"/>
                <a:ea typeface="微软雅黑"/>
                <a:cs typeface="微软雅黑"/>
              </a:rPr>
              <a:t>渠道伙伴 120 家</a:t>
            </a:r>
          </a:p>
        </p:txBody>
      </p:sp>
      <p:sp>
        <p:nvSpPr>
          <p:cNvPr id="49" name="lab-3"/>
          <p:cNvSpPr/>
          <p:nvPr/>
        </p:nvSpPr>
        <p:spPr>
          <a:xfrm>
            <a:off x="5499100" y="2882900"/>
            <a:ext cx="1739900" cy="685800"/>
          </a:xfrm>
          <a:custGeom>
            <a:avLst/>
            <a:gdLst/>
            <a:ahLst/>
            <a:cxnLst/>
            <a:rect l="0" t="0" r="r" b="b"/>
            <a:pathLst>
              <a:path w="1739900" h="685800">
                <a:moveTo>
                  <a:pt x="101600" y="0"/>
                </a:moveTo>
                <a:lnTo>
                  <a:pt x="1638300" y="0"/>
                </a:lnTo>
                <a:cubicBezTo>
                  <a:pt x="1694434" y="0"/>
                  <a:pt x="1739900" y="45466"/>
                  <a:pt x="1739900" y="101600"/>
                </a:cubicBezTo>
                <a:lnTo>
                  <a:pt x="1739900" y="584200"/>
                </a:lnTo>
                <a:cubicBezTo>
                  <a:pt x="1739900" y="640334"/>
                  <a:pt x="1694434" y="685800"/>
                  <a:pt x="1638300" y="685800"/>
                </a:cubicBezTo>
                <a:lnTo>
                  <a:pt x="101600" y="685800"/>
                </a:lnTo>
                <a:cubicBezTo>
                  <a:pt x="45466" y="685800"/>
                  <a:pt x="0" y="640334"/>
                  <a:pt x="0" y="584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labcap-3"/>
          <p:cNvSpPr/>
          <p:nvPr/>
        </p:nvSpPr>
        <p:spPr>
          <a:xfrm>
            <a:off x="5499100" y="2882900"/>
            <a:ext cx="1739900" cy="38100"/>
          </a:xfrm>
          <a:custGeom>
            <a:avLst/>
            <a:gdLst/>
            <a:ahLst/>
            <a:cxnLst/>
            <a:rect l="0" t="0" r="r" b="b"/>
            <a:pathLst>
              <a:path w="1739900" h="38100">
                <a:moveTo>
                  <a:pt x="19050" y="0"/>
                </a:moveTo>
                <a:lnTo>
                  <a:pt x="1720850" y="0"/>
                </a:lnTo>
                <a:cubicBezTo>
                  <a:pt x="1731391" y="0"/>
                  <a:pt x="1739900" y="8509"/>
                  <a:pt x="1739900" y="19050"/>
                </a:cubicBezTo>
                <a:lnTo>
                  <a:pt x="1739900" y="19050"/>
                </a:lnTo>
                <a:cubicBezTo>
                  <a:pt x="1739900" y="29591"/>
                  <a:pt x="1731391" y="38100"/>
                  <a:pt x="17208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icon-flag"/>
          <p:cNvSpPr/>
          <p:nvPr/>
        </p:nvSpPr>
        <p:spPr>
          <a:xfrm>
            <a:off x="5705475" y="3163888"/>
            <a:ext cx="76200" cy="130175"/>
          </a:xfrm>
          <a:custGeom>
            <a:avLst/>
            <a:gdLst/>
            <a:ahLst/>
            <a:cxnLst/>
            <a:rect l="0" t="0" r="r" b="b"/>
            <a:pathLst>
              <a:path w="76200" h="130175">
                <a:moveTo>
                  <a:pt x="0" y="130175"/>
                </a:moveTo>
                <a:lnTo>
                  <a:pt x="0" y="0"/>
                </a:lnTo>
                <a:moveTo>
                  <a:pt x="0" y="6350"/>
                </a:moveTo>
                <a:lnTo>
                  <a:pt x="76200" y="6350"/>
                </a:lnTo>
                <a:lnTo>
                  <a:pt x="63500" y="31750"/>
                </a:lnTo>
                <a:lnTo>
                  <a:pt x="76200" y="57150"/>
                </a:lnTo>
                <a:lnTo>
                  <a:pt x="0" y="57150"/>
                </a:lnTo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labn-3"/>
          <p:cNvSpPr txBox="1"/>
          <p:nvPr/>
        </p:nvSpPr>
        <p:spPr>
          <a:xfrm>
            <a:off x="5937250" y="30043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区域领先</a:t>
            </a:r>
          </a:p>
        </p:txBody>
      </p:sp>
      <p:sp>
        <p:nvSpPr>
          <p:cNvPr id="53" name="labs-3"/>
          <p:cNvSpPr txBox="1"/>
          <p:nvPr/>
        </p:nvSpPr>
        <p:spPr>
          <a:xfrm>
            <a:off x="5945251" y="3277187"/>
            <a:ext cx="43757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第 3 级</a:t>
            </a:r>
          </a:p>
        </p:txBody>
      </p:sp>
      <p:cxnSp>
        <p:nvCxnSpPr>
          <p:cNvPr id="54" name="labline-3"/>
          <p:cNvCxnSpPr/>
          <p:nvPr/>
        </p:nvCxnSpPr>
        <p:spPr>
          <a:xfrm>
            <a:off x="6369050" y="3568700"/>
            <a:ext cx="0" cy="152400"/>
          </a:xfrm>
          <a:prstGeom prst="line">
            <a:avLst/>
          </a:prstGeom>
          <a:ln w="8890" cap="rnd">
            <a:solidFill>
              <a:srgbClr val="2E77C2">
                <a:alpha val="3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step-4"/>
          <p:cNvSpPr/>
          <p:nvPr/>
        </p:nvSpPr>
        <p:spPr>
          <a:xfrm>
            <a:off x="7518400" y="2971800"/>
            <a:ext cx="1968500" cy="2997200"/>
          </a:xfrm>
          <a:custGeom>
            <a:avLst/>
            <a:gdLst/>
            <a:ahLst/>
            <a:cxnLst/>
            <a:rect l="0" t="0" r="r" b="b"/>
            <a:pathLst>
              <a:path w="1968500" h="2997200">
                <a:moveTo>
                  <a:pt x="101600" y="0"/>
                </a:moveTo>
                <a:lnTo>
                  <a:pt x="1866900" y="0"/>
                </a:lnTo>
                <a:cubicBezTo>
                  <a:pt x="1923034" y="0"/>
                  <a:pt x="1968500" y="45466"/>
                  <a:pt x="1968500" y="101600"/>
                </a:cubicBezTo>
                <a:lnTo>
                  <a:pt x="1968500" y="2895600"/>
                </a:lnTo>
                <a:cubicBezTo>
                  <a:pt x="1968500" y="2951734"/>
                  <a:pt x="1923034" y="2997200"/>
                  <a:pt x="1866900" y="2997200"/>
                </a:cubicBezTo>
                <a:lnTo>
                  <a:pt x="101600" y="2997200"/>
                </a:lnTo>
                <a:cubicBezTo>
                  <a:pt x="45466" y="2997200"/>
                  <a:pt x="0" y="2951734"/>
                  <a:pt x="0" y="2895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5D9BD6"/>
              </a:gs>
              <a:gs pos="100000">
                <a:srgbClr val="3985CD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steph-4"/>
          <p:cNvSpPr/>
          <p:nvPr/>
        </p:nvSpPr>
        <p:spPr>
          <a:xfrm>
            <a:off x="7620000" y="3060700"/>
            <a:ext cx="1765300" cy="19050"/>
          </a:xfrm>
          <a:custGeom>
            <a:avLst/>
            <a:gdLst/>
            <a:ahLst/>
            <a:cxnLst/>
            <a:rect l="0" t="0" r="r" b="b"/>
            <a:pathLst>
              <a:path w="1765300" h="19050">
                <a:moveTo>
                  <a:pt x="9525" y="0"/>
                </a:moveTo>
                <a:lnTo>
                  <a:pt x="1755775" y="0"/>
                </a:lnTo>
                <a:cubicBezTo>
                  <a:pt x="1761045" y="0"/>
                  <a:pt x="1765300" y="4255"/>
                  <a:pt x="1765300" y="9525"/>
                </a:cubicBezTo>
                <a:lnTo>
                  <a:pt x="1765300" y="9525"/>
                </a:lnTo>
                <a:cubicBezTo>
                  <a:pt x="1765300" y="14795"/>
                  <a:pt x="1761045" y="19050"/>
                  <a:pt x="1755775" y="19050"/>
                </a:cubicBezTo>
                <a:lnTo>
                  <a:pt x="9525" y="19050"/>
                </a:lnTo>
                <a:cubicBezTo>
                  <a:pt x="4255" y="19050"/>
                  <a:pt x="0" y="14795"/>
                  <a:pt x="0" y="9525"/>
                </a:cubicBezTo>
                <a:lnTo>
                  <a:pt x="0" y="9525"/>
                </a:lnTo>
                <a:cubicBezTo>
                  <a:pt x="0" y="4255"/>
                  <a:pt x="4255" y="0"/>
                  <a:pt x="9525" y="0"/>
                </a:cubicBezTo>
                <a:close/>
              </a:path>
            </a:pathLst>
          </a:custGeom>
          <a:solidFill>
            <a:srgbClr val="FFFFFF">
              <a:alpha val="4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yr-4"/>
          <p:cNvSpPr txBox="1"/>
          <p:nvPr/>
        </p:nvSpPr>
        <p:spPr>
          <a:xfrm>
            <a:off x="7671816" y="3114548"/>
            <a:ext cx="688848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600" b="1" spc="100">
                <a:solidFill>
                  <a:srgbClr val="FFFFFF"/>
                </a:solidFill>
                <a:latin typeface="Arial"/>
                <a:ea typeface="Arial"/>
                <a:cs typeface="Arial"/>
              </a:rPr>
              <a:t>2025</a:t>
            </a:r>
          </a:p>
        </p:txBody>
      </p:sp>
      <p:sp>
        <p:nvSpPr>
          <p:cNvPr id="58" name="rev-4"/>
          <p:cNvSpPr txBox="1"/>
          <p:nvPr/>
        </p:nvSpPr>
        <p:spPr>
          <a:xfrm>
            <a:off x="8731631" y="3167571"/>
            <a:ext cx="594233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25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9.2 亿</a:t>
            </a:r>
          </a:p>
        </p:txBody>
      </p:sp>
      <p:sp>
        <p:nvSpPr>
          <p:cNvPr id="59" name="revl-4"/>
          <p:cNvSpPr txBox="1"/>
          <p:nvPr/>
        </p:nvSpPr>
        <p:spPr>
          <a:xfrm>
            <a:off x="8863838" y="3408108"/>
            <a:ext cx="455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40">
                <a:solidFill>
                  <a:srgbClr val="FFFFFF">
                    <a:alpha val="72000"/>
                  </a:srgbClr>
                </a:solidFill>
                <a:latin typeface="微软雅黑"/>
                <a:ea typeface="微软雅黑"/>
                <a:cs typeface="微软雅黑"/>
              </a:rPr>
              <a:t>营收目标</a:t>
            </a:r>
          </a:p>
        </p:txBody>
      </p:sp>
      <p:sp>
        <p:nvSpPr>
          <p:cNvPr id="60" name="sd-4-1"/>
          <p:cNvSpPr/>
          <p:nvPr/>
        </p:nvSpPr>
        <p:spPr>
          <a:xfrm>
            <a:off x="7712710" y="3693160"/>
            <a:ext cx="43180" cy="43180"/>
          </a:xfrm>
          <a:prstGeom prst="ellipse">
            <a:avLst/>
          </a:prstGeom>
          <a:solidFill>
            <a:srgbClr val="FFFFFF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sp-4-1"/>
          <p:cNvSpPr txBox="1"/>
          <p:nvPr/>
        </p:nvSpPr>
        <p:spPr>
          <a:xfrm>
            <a:off x="7824089" y="3624945"/>
            <a:ext cx="1018984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FFFFFF">
                    <a:alpha val="92000"/>
                  </a:srgbClr>
                </a:solidFill>
                <a:latin typeface="微软雅黑"/>
                <a:ea typeface="微软雅黑"/>
                <a:cs typeface="微软雅黑"/>
              </a:rPr>
              <a:t>覆盖 28 个省级市场</a:t>
            </a:r>
          </a:p>
        </p:txBody>
      </p:sp>
      <p:sp>
        <p:nvSpPr>
          <p:cNvPr id="62" name="sd-4-2"/>
          <p:cNvSpPr/>
          <p:nvPr/>
        </p:nvSpPr>
        <p:spPr>
          <a:xfrm>
            <a:off x="7712710" y="3883660"/>
            <a:ext cx="43180" cy="43180"/>
          </a:xfrm>
          <a:prstGeom prst="ellipse">
            <a:avLst/>
          </a:prstGeom>
          <a:solidFill>
            <a:srgbClr val="FFFFFF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sp-4-2"/>
          <p:cNvSpPr txBox="1"/>
          <p:nvPr/>
        </p:nvSpPr>
        <p:spPr>
          <a:xfrm>
            <a:off x="7824089" y="3815445"/>
            <a:ext cx="89122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FFFFFF">
                    <a:alpha val="92000"/>
                  </a:srgbClr>
                </a:solidFill>
                <a:latin typeface="微软雅黑"/>
                <a:ea typeface="微软雅黑"/>
                <a:cs typeface="微软雅黑"/>
              </a:rPr>
              <a:t>自研平台全面上线</a:t>
            </a:r>
          </a:p>
        </p:txBody>
      </p:sp>
      <p:sp>
        <p:nvSpPr>
          <p:cNvPr id="64" name="lab-4"/>
          <p:cNvSpPr/>
          <p:nvPr/>
        </p:nvSpPr>
        <p:spPr>
          <a:xfrm>
            <a:off x="7632700" y="2133600"/>
            <a:ext cx="1739900" cy="685800"/>
          </a:xfrm>
          <a:custGeom>
            <a:avLst/>
            <a:gdLst/>
            <a:ahLst/>
            <a:cxnLst/>
            <a:rect l="0" t="0" r="r" b="b"/>
            <a:pathLst>
              <a:path w="1739900" h="685800">
                <a:moveTo>
                  <a:pt x="101600" y="0"/>
                </a:moveTo>
                <a:lnTo>
                  <a:pt x="1638300" y="0"/>
                </a:lnTo>
                <a:cubicBezTo>
                  <a:pt x="1694434" y="0"/>
                  <a:pt x="1739900" y="45466"/>
                  <a:pt x="1739900" y="101600"/>
                </a:cubicBezTo>
                <a:lnTo>
                  <a:pt x="1739900" y="584200"/>
                </a:lnTo>
                <a:cubicBezTo>
                  <a:pt x="1739900" y="640334"/>
                  <a:pt x="1694434" y="685800"/>
                  <a:pt x="1638300" y="685800"/>
                </a:cubicBezTo>
                <a:lnTo>
                  <a:pt x="101600" y="685800"/>
                </a:lnTo>
                <a:cubicBezTo>
                  <a:pt x="45466" y="685800"/>
                  <a:pt x="0" y="640334"/>
                  <a:pt x="0" y="584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labcap-4"/>
          <p:cNvSpPr/>
          <p:nvPr/>
        </p:nvSpPr>
        <p:spPr>
          <a:xfrm>
            <a:off x="7632700" y="2133600"/>
            <a:ext cx="1739900" cy="38100"/>
          </a:xfrm>
          <a:custGeom>
            <a:avLst/>
            <a:gdLst/>
            <a:ahLst/>
            <a:cxnLst/>
            <a:rect l="0" t="0" r="r" b="b"/>
            <a:pathLst>
              <a:path w="1739900" h="38100">
                <a:moveTo>
                  <a:pt x="19050" y="0"/>
                </a:moveTo>
                <a:lnTo>
                  <a:pt x="1720850" y="0"/>
                </a:lnTo>
                <a:cubicBezTo>
                  <a:pt x="1731391" y="0"/>
                  <a:pt x="1739900" y="8509"/>
                  <a:pt x="1739900" y="19050"/>
                </a:cubicBezTo>
                <a:lnTo>
                  <a:pt x="1739900" y="19050"/>
                </a:lnTo>
                <a:cubicBezTo>
                  <a:pt x="1739900" y="29591"/>
                  <a:pt x="1731391" y="38100"/>
                  <a:pt x="17208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icon-globe"/>
          <p:cNvSpPr/>
          <p:nvPr/>
        </p:nvSpPr>
        <p:spPr>
          <a:xfrm>
            <a:off x="7818438" y="2408238"/>
            <a:ext cx="136525" cy="136525"/>
          </a:xfrm>
          <a:custGeom>
            <a:avLst/>
            <a:gdLst/>
            <a:ahLst/>
            <a:cxnLst/>
            <a:rect l="0" t="0" r="r" b="b"/>
            <a:pathLst>
              <a:path w="136525" h="136525">
                <a:moveTo>
                  <a:pt x="0" y="68262"/>
                </a:moveTo>
                <a:lnTo>
                  <a:pt x="136525" y="68262"/>
                </a:lnTo>
                <a:moveTo>
                  <a:pt x="68262" y="0"/>
                </a:moveTo>
                <a:cubicBezTo>
                  <a:pt x="87312" y="19875"/>
                  <a:pt x="96838" y="42862"/>
                  <a:pt x="96838" y="68262"/>
                </a:cubicBezTo>
                <a:cubicBezTo>
                  <a:pt x="96838" y="93662"/>
                  <a:pt x="87312" y="116650"/>
                  <a:pt x="68262" y="136525"/>
                </a:cubicBezTo>
                <a:cubicBezTo>
                  <a:pt x="49212" y="116650"/>
                  <a:pt x="39688" y="93662"/>
                  <a:pt x="39688" y="68262"/>
                </a:cubicBezTo>
                <a:cubicBezTo>
                  <a:pt x="39688" y="42862"/>
                  <a:pt x="49212" y="19875"/>
                  <a:pt x="68262" y="0"/>
                </a:cubicBezTo>
                <a:close/>
              </a:path>
            </a:pathLst>
          </a:custGeom>
          <a:noFill/>
          <a:ln w="1270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icon-globe"/>
          <p:cNvSpPr/>
          <p:nvPr/>
        </p:nvSpPr>
        <p:spPr>
          <a:xfrm>
            <a:off x="7818438" y="2408238"/>
            <a:ext cx="136525" cy="136525"/>
          </a:xfrm>
          <a:prstGeom prst="ellipse">
            <a:avLst/>
          </a:prstGeom>
          <a:noFill/>
          <a:ln w="1270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labn-4"/>
          <p:cNvSpPr txBox="1"/>
          <p:nvPr/>
        </p:nvSpPr>
        <p:spPr>
          <a:xfrm>
            <a:off x="8070850" y="22550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全国布局</a:t>
            </a:r>
          </a:p>
        </p:txBody>
      </p:sp>
      <p:sp>
        <p:nvSpPr>
          <p:cNvPr id="69" name="labs-4"/>
          <p:cNvSpPr txBox="1"/>
          <p:nvPr/>
        </p:nvSpPr>
        <p:spPr>
          <a:xfrm>
            <a:off x="8078851" y="2527887"/>
            <a:ext cx="43757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第 4 级</a:t>
            </a:r>
          </a:p>
        </p:txBody>
      </p:sp>
      <p:cxnSp>
        <p:nvCxnSpPr>
          <p:cNvPr id="70" name="labline-4"/>
          <p:cNvCxnSpPr/>
          <p:nvPr/>
        </p:nvCxnSpPr>
        <p:spPr>
          <a:xfrm>
            <a:off x="8502650" y="2819400"/>
            <a:ext cx="0" cy="152400"/>
          </a:xfrm>
          <a:prstGeom prst="line">
            <a:avLst/>
          </a:prstGeom>
          <a:ln w="8890" cap="rnd">
            <a:solidFill>
              <a:srgbClr val="3985CD">
                <a:alpha val="3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step-5"/>
          <p:cNvSpPr/>
          <p:nvPr/>
        </p:nvSpPr>
        <p:spPr>
          <a:xfrm>
            <a:off x="9652000" y="2222500"/>
            <a:ext cx="1968500" cy="3746500"/>
          </a:xfrm>
          <a:custGeom>
            <a:avLst/>
            <a:gdLst/>
            <a:ahLst/>
            <a:cxnLst/>
            <a:rect l="0" t="0" r="r" b="b"/>
            <a:pathLst>
              <a:path w="1968500" h="3746500">
                <a:moveTo>
                  <a:pt x="101600" y="0"/>
                </a:moveTo>
                <a:lnTo>
                  <a:pt x="1866900" y="0"/>
                </a:lnTo>
                <a:cubicBezTo>
                  <a:pt x="1923034" y="0"/>
                  <a:pt x="1968500" y="45466"/>
                  <a:pt x="1968500" y="101600"/>
                </a:cubicBezTo>
                <a:lnTo>
                  <a:pt x="1968500" y="3644900"/>
                </a:lnTo>
                <a:cubicBezTo>
                  <a:pt x="1968500" y="3701034"/>
                  <a:pt x="1923034" y="3746500"/>
                  <a:pt x="1866900" y="3746500"/>
                </a:cubicBezTo>
                <a:lnTo>
                  <a:pt x="101600" y="3746500"/>
                </a:lnTo>
                <a:cubicBezTo>
                  <a:pt x="45466" y="3746500"/>
                  <a:pt x="0" y="3701034"/>
                  <a:pt x="0" y="36449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73B3E5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steph-5"/>
          <p:cNvSpPr/>
          <p:nvPr/>
        </p:nvSpPr>
        <p:spPr>
          <a:xfrm>
            <a:off x="9753600" y="2311400"/>
            <a:ext cx="1765300" cy="19050"/>
          </a:xfrm>
          <a:custGeom>
            <a:avLst/>
            <a:gdLst/>
            <a:ahLst/>
            <a:cxnLst/>
            <a:rect l="0" t="0" r="r" b="b"/>
            <a:pathLst>
              <a:path w="1765300" h="19050">
                <a:moveTo>
                  <a:pt x="9525" y="0"/>
                </a:moveTo>
                <a:lnTo>
                  <a:pt x="1755775" y="0"/>
                </a:lnTo>
                <a:cubicBezTo>
                  <a:pt x="1761045" y="0"/>
                  <a:pt x="1765300" y="4255"/>
                  <a:pt x="1765300" y="9525"/>
                </a:cubicBezTo>
                <a:lnTo>
                  <a:pt x="1765300" y="9525"/>
                </a:lnTo>
                <a:cubicBezTo>
                  <a:pt x="1765300" y="14795"/>
                  <a:pt x="1761045" y="19050"/>
                  <a:pt x="1755775" y="19050"/>
                </a:cubicBezTo>
                <a:lnTo>
                  <a:pt x="9525" y="19050"/>
                </a:lnTo>
                <a:cubicBezTo>
                  <a:pt x="4255" y="19050"/>
                  <a:pt x="0" y="14795"/>
                  <a:pt x="0" y="9525"/>
                </a:cubicBezTo>
                <a:lnTo>
                  <a:pt x="0" y="9525"/>
                </a:lnTo>
                <a:cubicBezTo>
                  <a:pt x="0" y="4255"/>
                  <a:pt x="4255" y="0"/>
                  <a:pt x="9525" y="0"/>
                </a:cubicBezTo>
                <a:close/>
              </a:path>
            </a:pathLst>
          </a:custGeom>
          <a:solidFill>
            <a:srgbClr val="FFFFFF">
              <a:alpha val="4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yr-5"/>
          <p:cNvSpPr txBox="1"/>
          <p:nvPr/>
        </p:nvSpPr>
        <p:spPr>
          <a:xfrm>
            <a:off x="9805416" y="2365248"/>
            <a:ext cx="688848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600" b="1" spc="100">
                <a:solidFill>
                  <a:srgbClr val="FFFFFF"/>
                </a:solidFill>
                <a:latin typeface="Arial"/>
                <a:ea typeface="Arial"/>
                <a:cs typeface="Arial"/>
              </a:rPr>
              <a:t>2026</a:t>
            </a:r>
          </a:p>
        </p:txBody>
      </p:sp>
      <p:sp>
        <p:nvSpPr>
          <p:cNvPr id="74" name="rev-5"/>
          <p:cNvSpPr txBox="1"/>
          <p:nvPr/>
        </p:nvSpPr>
        <p:spPr>
          <a:xfrm>
            <a:off x="10946638" y="2418270"/>
            <a:ext cx="512826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25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15 亿</a:t>
            </a:r>
          </a:p>
        </p:txBody>
      </p:sp>
      <p:sp>
        <p:nvSpPr>
          <p:cNvPr id="75" name="revl-5"/>
          <p:cNvSpPr txBox="1"/>
          <p:nvPr/>
        </p:nvSpPr>
        <p:spPr>
          <a:xfrm>
            <a:off x="10997438" y="2658808"/>
            <a:ext cx="455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40">
                <a:solidFill>
                  <a:srgbClr val="FFFFFF">
                    <a:alpha val="72000"/>
                  </a:srgbClr>
                </a:solidFill>
                <a:latin typeface="微软雅黑"/>
                <a:ea typeface="微软雅黑"/>
                <a:cs typeface="微软雅黑"/>
              </a:rPr>
              <a:t>营收目标</a:t>
            </a:r>
          </a:p>
        </p:txBody>
      </p:sp>
      <p:sp>
        <p:nvSpPr>
          <p:cNvPr id="76" name="sd-5-1"/>
          <p:cNvSpPr/>
          <p:nvPr/>
        </p:nvSpPr>
        <p:spPr>
          <a:xfrm>
            <a:off x="9846310" y="2943860"/>
            <a:ext cx="43180" cy="43180"/>
          </a:xfrm>
          <a:prstGeom prst="ellipse">
            <a:avLst/>
          </a:prstGeom>
          <a:solidFill>
            <a:srgbClr val="FFFFFF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sp-5-1"/>
          <p:cNvSpPr txBox="1"/>
          <p:nvPr/>
        </p:nvSpPr>
        <p:spPr>
          <a:xfrm>
            <a:off x="9957689" y="2875645"/>
            <a:ext cx="89122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FFFFFF">
                    <a:alpha val="92000"/>
                  </a:srgbClr>
                </a:solidFill>
                <a:latin typeface="微软雅黑"/>
                <a:ea typeface="微软雅黑"/>
                <a:cs typeface="微软雅黑"/>
              </a:rPr>
              <a:t>行业标准参与制定</a:t>
            </a:r>
          </a:p>
        </p:txBody>
      </p:sp>
      <p:sp>
        <p:nvSpPr>
          <p:cNvPr id="78" name="sd-5-2"/>
          <p:cNvSpPr/>
          <p:nvPr/>
        </p:nvSpPr>
        <p:spPr>
          <a:xfrm>
            <a:off x="9846310" y="3134360"/>
            <a:ext cx="43180" cy="43180"/>
          </a:xfrm>
          <a:prstGeom prst="ellipse">
            <a:avLst/>
          </a:prstGeom>
          <a:solidFill>
            <a:srgbClr val="FFFFFF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sp-5-2"/>
          <p:cNvSpPr txBox="1"/>
          <p:nvPr/>
        </p:nvSpPr>
        <p:spPr>
          <a:xfrm>
            <a:off x="9957689" y="3066145"/>
            <a:ext cx="975678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FFFFFF">
                    <a:alpha val="92000"/>
                  </a:srgbClr>
                </a:solidFill>
                <a:latin typeface="微软雅黑"/>
                <a:ea typeface="微软雅黑"/>
                <a:cs typeface="微软雅黑"/>
              </a:rPr>
              <a:t>生态伙伴超 400 家</a:t>
            </a:r>
          </a:p>
        </p:txBody>
      </p:sp>
      <p:sp>
        <p:nvSpPr>
          <p:cNvPr id="80" name="lab-5"/>
          <p:cNvSpPr/>
          <p:nvPr/>
        </p:nvSpPr>
        <p:spPr>
          <a:xfrm>
            <a:off x="9766300" y="1384300"/>
            <a:ext cx="1739900" cy="685800"/>
          </a:xfrm>
          <a:custGeom>
            <a:avLst/>
            <a:gdLst/>
            <a:ahLst/>
            <a:cxnLst/>
            <a:rect l="0" t="0" r="r" b="b"/>
            <a:pathLst>
              <a:path w="1739900" h="685800">
                <a:moveTo>
                  <a:pt x="101600" y="0"/>
                </a:moveTo>
                <a:lnTo>
                  <a:pt x="1638300" y="0"/>
                </a:lnTo>
                <a:cubicBezTo>
                  <a:pt x="1694434" y="0"/>
                  <a:pt x="1739900" y="45466"/>
                  <a:pt x="1739900" y="101600"/>
                </a:cubicBezTo>
                <a:lnTo>
                  <a:pt x="1739900" y="584200"/>
                </a:lnTo>
                <a:cubicBezTo>
                  <a:pt x="1739900" y="640334"/>
                  <a:pt x="1694434" y="685800"/>
                  <a:pt x="1638300" y="685800"/>
                </a:cubicBezTo>
                <a:lnTo>
                  <a:pt x="101600" y="685800"/>
                </a:lnTo>
                <a:cubicBezTo>
                  <a:pt x="45466" y="685800"/>
                  <a:pt x="0" y="640334"/>
                  <a:pt x="0" y="584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labcap-5"/>
          <p:cNvSpPr/>
          <p:nvPr/>
        </p:nvSpPr>
        <p:spPr>
          <a:xfrm>
            <a:off x="9766300" y="1384300"/>
            <a:ext cx="1739900" cy="38100"/>
          </a:xfrm>
          <a:custGeom>
            <a:avLst/>
            <a:gdLst/>
            <a:ahLst/>
            <a:cxnLst/>
            <a:rect l="0" t="0" r="r" b="b"/>
            <a:pathLst>
              <a:path w="1739900" h="38100">
                <a:moveTo>
                  <a:pt x="19050" y="0"/>
                </a:moveTo>
                <a:lnTo>
                  <a:pt x="1720850" y="0"/>
                </a:lnTo>
                <a:cubicBezTo>
                  <a:pt x="1731391" y="0"/>
                  <a:pt x="1739900" y="8509"/>
                  <a:pt x="1739900" y="19050"/>
                </a:cubicBezTo>
                <a:lnTo>
                  <a:pt x="1739900" y="19050"/>
                </a:lnTo>
                <a:cubicBezTo>
                  <a:pt x="1739900" y="29591"/>
                  <a:pt x="1731391" y="38100"/>
                  <a:pt x="17208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icon-star"/>
          <p:cNvSpPr/>
          <p:nvPr/>
        </p:nvSpPr>
        <p:spPr>
          <a:xfrm>
            <a:off x="9952863" y="1660525"/>
            <a:ext cx="134874" cy="128588"/>
          </a:xfrm>
          <a:custGeom>
            <a:avLst/>
            <a:gdLst/>
            <a:ahLst/>
            <a:cxnLst/>
            <a:rect l="0" t="0" r="r" b="b"/>
            <a:pathLst>
              <a:path w="134874" h="128588">
                <a:moveTo>
                  <a:pt x="67437" y="0"/>
                </a:moveTo>
                <a:lnTo>
                  <a:pt x="88074" y="42862"/>
                </a:lnTo>
                <a:lnTo>
                  <a:pt x="134874" y="49212"/>
                </a:lnTo>
                <a:lnTo>
                  <a:pt x="100774" y="81788"/>
                </a:lnTo>
                <a:lnTo>
                  <a:pt x="109474" y="128588"/>
                </a:lnTo>
                <a:lnTo>
                  <a:pt x="67437" y="105537"/>
                </a:lnTo>
                <a:lnTo>
                  <a:pt x="25400" y="128588"/>
                </a:lnTo>
                <a:lnTo>
                  <a:pt x="34099" y="81788"/>
                </a:lnTo>
                <a:lnTo>
                  <a:pt x="0" y="49212"/>
                </a:lnTo>
                <a:lnTo>
                  <a:pt x="46799" y="42862"/>
                </a:lnTo>
                <a:close/>
              </a:path>
            </a:pathLst>
          </a:custGeom>
          <a:noFill/>
          <a:ln w="1270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labn-5"/>
          <p:cNvSpPr txBox="1"/>
          <p:nvPr/>
        </p:nvSpPr>
        <p:spPr>
          <a:xfrm>
            <a:off x="10204450" y="15057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生态引领</a:t>
            </a:r>
          </a:p>
        </p:txBody>
      </p:sp>
      <p:sp>
        <p:nvSpPr>
          <p:cNvPr id="84" name="labs-5"/>
          <p:cNvSpPr txBox="1"/>
          <p:nvPr/>
        </p:nvSpPr>
        <p:spPr>
          <a:xfrm>
            <a:off x="10212451" y="1778587"/>
            <a:ext cx="43757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第 5 级</a:t>
            </a:r>
          </a:p>
        </p:txBody>
      </p:sp>
      <p:cxnSp>
        <p:nvCxnSpPr>
          <p:cNvPr id="85" name="labline-5"/>
          <p:cNvCxnSpPr/>
          <p:nvPr/>
        </p:nvCxnSpPr>
        <p:spPr>
          <a:xfrm>
            <a:off x="10636250" y="2070100"/>
            <a:ext cx="0" cy="152400"/>
          </a:xfrm>
          <a:prstGeom prst="line">
            <a:avLst/>
          </a:prstGeom>
          <a:ln w="8890" cap="rnd">
            <a:solidFill>
              <a:srgbClr val="54A2DF">
                <a:alpha val="3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6" name="axis-bar"/>
          <p:cNvSpPr/>
          <p:nvPr/>
        </p:nvSpPr>
        <p:spPr>
          <a:xfrm>
            <a:off x="927100" y="1701800"/>
            <a:ext cx="25400" cy="9525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axis-h1"/>
          <p:cNvSpPr txBox="1"/>
          <p:nvPr/>
        </p:nvSpPr>
        <p:spPr>
          <a:xfrm>
            <a:off x="1064260" y="1748155"/>
            <a:ext cx="3937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能力</a:t>
            </a:r>
          </a:p>
        </p:txBody>
      </p:sp>
      <p:sp>
        <p:nvSpPr>
          <p:cNvPr id="88" name="axis-h2"/>
          <p:cNvSpPr txBox="1"/>
          <p:nvPr/>
        </p:nvSpPr>
        <p:spPr>
          <a:xfrm>
            <a:off x="1064260" y="1951355"/>
            <a:ext cx="3937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跨越</a:t>
            </a:r>
          </a:p>
        </p:txBody>
      </p:sp>
      <p:sp>
        <p:nvSpPr>
          <p:cNvPr id="89" name="axis-p1"/>
          <p:cNvSpPr txBox="1"/>
          <p:nvPr/>
        </p:nvSpPr>
        <p:spPr>
          <a:xfrm>
            <a:off x="1068070" y="2219166"/>
            <a:ext cx="6724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每上一级台阶</a:t>
            </a:r>
          </a:p>
        </p:txBody>
      </p:sp>
      <p:sp>
        <p:nvSpPr>
          <p:cNvPr id="90" name="axis-p2"/>
          <p:cNvSpPr txBox="1"/>
          <p:nvPr/>
        </p:nvSpPr>
        <p:spPr>
          <a:xfrm>
            <a:off x="1068070" y="2384266"/>
            <a:ext cx="8680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对应一次组织升级</a:t>
            </a:r>
          </a:p>
        </p:txBody>
      </p:sp>
      <p:sp>
        <p:nvSpPr>
          <p:cNvPr id="91" name="kpi-1"/>
          <p:cNvSpPr/>
          <p:nvPr/>
        </p:nvSpPr>
        <p:spPr>
          <a:xfrm>
            <a:off x="901700" y="2870200"/>
            <a:ext cx="2057400" cy="546100"/>
          </a:xfrm>
          <a:custGeom>
            <a:avLst/>
            <a:gdLst/>
            <a:ahLst/>
            <a:cxnLst/>
            <a:rect l="0" t="0" r="r" b="b"/>
            <a:pathLst>
              <a:path w="2057400" h="546100">
                <a:moveTo>
                  <a:pt x="101600" y="0"/>
                </a:moveTo>
                <a:lnTo>
                  <a:pt x="1955800" y="0"/>
                </a:lnTo>
                <a:cubicBezTo>
                  <a:pt x="2011934" y="0"/>
                  <a:pt x="2057400" y="45466"/>
                  <a:pt x="2057400" y="101600"/>
                </a:cubicBezTo>
                <a:lnTo>
                  <a:pt x="2057400" y="444500"/>
                </a:lnTo>
                <a:cubicBezTo>
                  <a:pt x="2057400" y="500634"/>
                  <a:pt x="2011934" y="546100"/>
                  <a:pt x="1955800" y="546100"/>
                </a:cubicBezTo>
                <a:lnTo>
                  <a:pt x="101600" y="546100"/>
                </a:lnTo>
                <a:cubicBezTo>
                  <a:pt x="45466" y="546100"/>
                  <a:pt x="0" y="500634"/>
                  <a:pt x="0" y="4445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kpib-1"/>
          <p:cNvSpPr/>
          <p:nvPr/>
        </p:nvSpPr>
        <p:spPr>
          <a:xfrm>
            <a:off x="901700" y="2870200"/>
            <a:ext cx="31750" cy="546100"/>
          </a:xfrm>
          <a:custGeom>
            <a:avLst/>
            <a:gdLst/>
            <a:ahLst/>
            <a:cxnLst/>
            <a:rect l="0" t="0" r="r" b="b"/>
            <a:pathLst>
              <a:path w="31750" h="5461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530225"/>
                </a:lnTo>
                <a:cubicBezTo>
                  <a:pt x="31750" y="538988"/>
                  <a:pt x="24638" y="546100"/>
                  <a:pt x="15875" y="546100"/>
                </a:cubicBezTo>
                <a:lnTo>
                  <a:pt x="15875" y="546100"/>
                </a:lnTo>
                <a:cubicBezTo>
                  <a:pt x="7112" y="546100"/>
                  <a:pt x="0" y="538988"/>
                  <a:pt x="0" y="5302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icon-grow"/>
          <p:cNvSpPr/>
          <p:nvPr/>
        </p:nvSpPr>
        <p:spPr>
          <a:xfrm>
            <a:off x="1123315" y="3117088"/>
            <a:ext cx="103188" cy="64706"/>
          </a:xfrm>
          <a:custGeom>
            <a:avLst/>
            <a:gdLst/>
            <a:ahLst/>
            <a:cxnLst/>
            <a:rect l="0" t="0" r="r" b="b"/>
            <a:pathLst>
              <a:path w="103188" h="64706">
                <a:moveTo>
                  <a:pt x="0" y="64706"/>
                </a:moveTo>
                <a:lnTo>
                  <a:pt x="34417" y="27559"/>
                </a:lnTo>
                <a:lnTo>
                  <a:pt x="59182" y="48197"/>
                </a:lnTo>
                <a:lnTo>
                  <a:pt x="100457" y="0"/>
                </a:lnTo>
                <a:moveTo>
                  <a:pt x="83947" y="0"/>
                </a:moveTo>
                <a:lnTo>
                  <a:pt x="103188" y="0"/>
                </a:lnTo>
                <a:lnTo>
                  <a:pt x="103188" y="19304"/>
                </a:lnTo>
              </a:path>
            </a:pathLst>
          </a:custGeom>
          <a:noFill/>
          <a:ln w="1206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kpiv-1"/>
          <p:cNvSpPr txBox="1"/>
          <p:nvPr/>
        </p:nvSpPr>
        <p:spPr>
          <a:xfrm>
            <a:off x="1351788" y="2920302"/>
            <a:ext cx="531114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108%</a:t>
            </a:r>
          </a:p>
        </p:txBody>
      </p:sp>
      <p:sp>
        <p:nvSpPr>
          <p:cNvPr id="95" name="kpil-1"/>
          <p:cNvSpPr txBox="1"/>
          <p:nvPr/>
        </p:nvSpPr>
        <p:spPr>
          <a:xfrm>
            <a:off x="1360170" y="3184366"/>
            <a:ext cx="77025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五年复合增长率</a:t>
            </a:r>
          </a:p>
        </p:txBody>
      </p:sp>
      <p:sp>
        <p:nvSpPr>
          <p:cNvPr id="96" name="kpi-2"/>
          <p:cNvSpPr/>
          <p:nvPr/>
        </p:nvSpPr>
        <p:spPr>
          <a:xfrm>
            <a:off x="901700" y="3530600"/>
            <a:ext cx="2057400" cy="546100"/>
          </a:xfrm>
          <a:custGeom>
            <a:avLst/>
            <a:gdLst/>
            <a:ahLst/>
            <a:cxnLst/>
            <a:rect l="0" t="0" r="r" b="b"/>
            <a:pathLst>
              <a:path w="2057400" h="546100">
                <a:moveTo>
                  <a:pt x="101600" y="0"/>
                </a:moveTo>
                <a:lnTo>
                  <a:pt x="1955800" y="0"/>
                </a:lnTo>
                <a:cubicBezTo>
                  <a:pt x="2011934" y="0"/>
                  <a:pt x="2057400" y="45466"/>
                  <a:pt x="2057400" y="101600"/>
                </a:cubicBezTo>
                <a:lnTo>
                  <a:pt x="2057400" y="444500"/>
                </a:lnTo>
                <a:cubicBezTo>
                  <a:pt x="2057400" y="500634"/>
                  <a:pt x="2011934" y="546100"/>
                  <a:pt x="1955800" y="546100"/>
                </a:cubicBezTo>
                <a:lnTo>
                  <a:pt x="101600" y="546100"/>
                </a:lnTo>
                <a:cubicBezTo>
                  <a:pt x="45466" y="546100"/>
                  <a:pt x="0" y="500634"/>
                  <a:pt x="0" y="4445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kpib-2"/>
          <p:cNvSpPr/>
          <p:nvPr/>
        </p:nvSpPr>
        <p:spPr>
          <a:xfrm>
            <a:off x="901700" y="3530600"/>
            <a:ext cx="31750" cy="546100"/>
          </a:xfrm>
          <a:custGeom>
            <a:avLst/>
            <a:gdLst/>
            <a:ahLst/>
            <a:cxnLst/>
            <a:rect l="0" t="0" r="r" b="b"/>
            <a:pathLst>
              <a:path w="31750" h="5461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530225"/>
                </a:lnTo>
                <a:cubicBezTo>
                  <a:pt x="31750" y="538988"/>
                  <a:pt x="24638" y="546100"/>
                  <a:pt x="15875" y="546100"/>
                </a:cubicBezTo>
                <a:lnTo>
                  <a:pt x="15875" y="546100"/>
                </a:lnTo>
                <a:cubicBezTo>
                  <a:pt x="7112" y="546100"/>
                  <a:pt x="0" y="538988"/>
                  <a:pt x="0" y="5302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icon-chart"/>
          <p:cNvSpPr/>
          <p:nvPr/>
        </p:nvSpPr>
        <p:spPr>
          <a:xfrm>
            <a:off x="1123315" y="3783012"/>
            <a:ext cx="115570" cy="75692"/>
          </a:xfrm>
          <a:custGeom>
            <a:avLst/>
            <a:gdLst/>
            <a:ahLst/>
            <a:cxnLst/>
            <a:rect l="0" t="0" r="r" b="b"/>
            <a:pathLst>
              <a:path w="115570" h="75692">
                <a:moveTo>
                  <a:pt x="0" y="75692"/>
                </a:moveTo>
                <a:lnTo>
                  <a:pt x="115570" y="75692"/>
                </a:lnTo>
                <a:moveTo>
                  <a:pt x="26162" y="75692"/>
                </a:moveTo>
                <a:lnTo>
                  <a:pt x="26162" y="31623"/>
                </a:lnTo>
                <a:moveTo>
                  <a:pt x="57785" y="75692"/>
                </a:moveTo>
                <a:lnTo>
                  <a:pt x="57785" y="0"/>
                </a:lnTo>
                <a:moveTo>
                  <a:pt x="89408" y="75692"/>
                </a:moveTo>
                <a:lnTo>
                  <a:pt x="89408" y="46800"/>
                </a:lnTo>
              </a:path>
            </a:pathLst>
          </a:custGeom>
          <a:noFill/>
          <a:ln w="1206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9" name="kpiv-2"/>
          <p:cNvSpPr txBox="1"/>
          <p:nvPr/>
        </p:nvSpPr>
        <p:spPr>
          <a:xfrm>
            <a:off x="1351788" y="3580702"/>
            <a:ext cx="626745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18.8×</a:t>
            </a:r>
          </a:p>
        </p:txBody>
      </p:sp>
      <p:sp>
        <p:nvSpPr>
          <p:cNvPr id="100" name="kpil-2"/>
          <p:cNvSpPr txBox="1"/>
          <p:nvPr/>
        </p:nvSpPr>
        <p:spPr>
          <a:xfrm>
            <a:off x="1360170" y="3844766"/>
            <a:ext cx="6724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营收规模放大</a:t>
            </a:r>
          </a:p>
        </p:txBody>
      </p:sp>
      <p:cxnSp>
        <p:nvCxnSpPr>
          <p:cNvPr id="101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2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成长路径 · 五级台阶</a:t>
            </a:r>
          </a:p>
        </p:txBody>
      </p:sp>
      <p:sp>
        <p:nvSpPr>
          <p:cNvPr id="103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9946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行业演进与企业动作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2637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DUAL TIMELINE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666099" y="673132"/>
            <a:ext cx="29546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上轴为行业大势，下轴为企业应对，逐年对照可见节奏差</a:t>
            </a:r>
          </a:p>
        </p:txBody>
      </p:sp>
      <p:sp>
        <p:nvSpPr>
          <p:cNvPr id="10" name="axis"/>
          <p:cNvSpPr/>
          <p:nvPr/>
        </p:nvSpPr>
        <p:spPr>
          <a:xfrm>
            <a:off x="1409700" y="3562350"/>
            <a:ext cx="9372600" cy="63500"/>
          </a:xfrm>
          <a:custGeom>
            <a:avLst/>
            <a:gdLst/>
            <a:ahLst/>
            <a:cxnLst/>
            <a:rect l="0" t="0" r="r" b="b"/>
            <a:pathLst>
              <a:path w="9372600" h="63500">
                <a:moveTo>
                  <a:pt x="31750" y="0"/>
                </a:moveTo>
                <a:lnTo>
                  <a:pt x="9340850" y="0"/>
                </a:lnTo>
                <a:cubicBezTo>
                  <a:pt x="9358376" y="0"/>
                  <a:pt x="9372600" y="14224"/>
                  <a:pt x="9372600" y="31750"/>
                </a:cubicBezTo>
                <a:lnTo>
                  <a:pt x="9372600" y="31750"/>
                </a:lnTo>
                <a:cubicBezTo>
                  <a:pt x="9372600" y="49276"/>
                  <a:pt x="9358376" y="63500"/>
                  <a:pt x="9340850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gradFill rotWithShape="1">
            <a:gsLst>
              <a:gs pos="0">
                <a:srgbClr val="9DBCDE"/>
              </a:gs>
              <a:gs pos="50000">
                <a:srgbClr val="1B5AA8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axis-head"/>
          <p:cNvSpPr/>
          <p:nvPr/>
        </p:nvSpPr>
        <p:spPr>
          <a:xfrm>
            <a:off x="10782300" y="3467100"/>
            <a:ext cx="254000" cy="254000"/>
          </a:xfrm>
          <a:custGeom>
            <a:avLst/>
            <a:gdLst/>
            <a:ahLst/>
            <a:cxnLst/>
            <a:rect l="0" t="0" r="r" b="b"/>
            <a:pathLst>
              <a:path w="254000" h="254000">
                <a:moveTo>
                  <a:pt x="0" y="0"/>
                </a:moveTo>
                <a:lnTo>
                  <a:pt x="254000" y="127000"/>
                </a:lnTo>
                <a:lnTo>
                  <a:pt x="0" y="254000"/>
                </a:ln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lab-up"/>
          <p:cNvSpPr txBox="1"/>
          <p:nvPr/>
        </p:nvSpPr>
        <p:spPr>
          <a:xfrm>
            <a:off x="1021080" y="3214624"/>
            <a:ext cx="3200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行业</a:t>
            </a:r>
          </a:p>
        </p:txBody>
      </p:sp>
      <p:sp>
        <p:nvSpPr>
          <p:cNvPr id="13" name="lab-dn"/>
          <p:cNvSpPr txBox="1"/>
          <p:nvPr/>
        </p:nvSpPr>
        <p:spPr>
          <a:xfrm>
            <a:off x="1021080" y="3798824"/>
            <a:ext cx="3200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企业</a:t>
            </a:r>
          </a:p>
        </p:txBody>
      </p:sp>
      <p:sp>
        <p:nvSpPr>
          <p:cNvPr id="14" name="yn-1"/>
          <p:cNvSpPr/>
          <p:nvPr/>
        </p:nvSpPr>
        <p:spPr>
          <a:xfrm>
            <a:off x="1485900" y="3378200"/>
            <a:ext cx="431800" cy="431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ynr-1"/>
          <p:cNvSpPr/>
          <p:nvPr/>
        </p:nvSpPr>
        <p:spPr>
          <a:xfrm>
            <a:off x="1485900" y="3378200"/>
            <a:ext cx="431800" cy="431800"/>
          </a:xfrm>
          <a:prstGeom prst="ellipse">
            <a:avLst/>
          </a:prstGeom>
          <a:noFill/>
          <a:ln w="1397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ynt-1"/>
          <p:cNvSpPr txBox="1"/>
          <p:nvPr/>
        </p:nvSpPr>
        <p:spPr>
          <a:xfrm>
            <a:off x="1506030" y="3495897"/>
            <a:ext cx="391541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2021</a:t>
            </a:r>
          </a:p>
        </p:txBody>
      </p:sp>
      <p:sp>
        <p:nvSpPr>
          <p:cNvPr id="17" name="c-u-1"/>
          <p:cNvSpPr/>
          <p:nvPr/>
        </p:nvSpPr>
        <p:spPr>
          <a:xfrm>
            <a:off x="952500" y="1860550"/>
            <a:ext cx="1498600" cy="977900"/>
          </a:xfrm>
          <a:custGeom>
            <a:avLst/>
            <a:gdLst/>
            <a:ahLst/>
            <a:cxnLst/>
            <a:rect l="0" t="0" r="r" b="b"/>
            <a:pathLst>
              <a:path w="1498600" h="977900">
                <a:moveTo>
                  <a:pt x="101600" y="0"/>
                </a:moveTo>
                <a:lnTo>
                  <a:pt x="1397000" y="0"/>
                </a:lnTo>
                <a:cubicBezTo>
                  <a:pt x="1453134" y="0"/>
                  <a:pt x="1498600" y="45466"/>
                  <a:pt x="1498600" y="101600"/>
                </a:cubicBezTo>
                <a:lnTo>
                  <a:pt x="1498600" y="876300"/>
                </a:lnTo>
                <a:cubicBezTo>
                  <a:pt x="1498600" y="932434"/>
                  <a:pt x="1453134" y="977900"/>
                  <a:pt x="1397000" y="977900"/>
                </a:cubicBezTo>
                <a:lnTo>
                  <a:pt x="101600" y="977900"/>
                </a:lnTo>
                <a:cubicBezTo>
                  <a:pt x="45466" y="977900"/>
                  <a:pt x="0" y="932434"/>
                  <a:pt x="0" y="876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ccap-1"/>
          <p:cNvSpPr/>
          <p:nvPr/>
        </p:nvSpPr>
        <p:spPr>
          <a:xfrm>
            <a:off x="952500" y="1860550"/>
            <a:ext cx="1498600" cy="38100"/>
          </a:xfrm>
          <a:custGeom>
            <a:avLst/>
            <a:gdLst/>
            <a:ahLst/>
            <a:cxnLst/>
            <a:rect l="0" t="0" r="r" b="b"/>
            <a:pathLst>
              <a:path w="1498600" h="38100">
                <a:moveTo>
                  <a:pt x="19050" y="0"/>
                </a:moveTo>
                <a:lnTo>
                  <a:pt x="1479550" y="0"/>
                </a:lnTo>
                <a:cubicBezTo>
                  <a:pt x="1490091" y="0"/>
                  <a:pt x="1498600" y="8509"/>
                  <a:pt x="1498600" y="19050"/>
                </a:cubicBezTo>
                <a:lnTo>
                  <a:pt x="1498600" y="19050"/>
                </a:lnTo>
                <a:cubicBezTo>
                  <a:pt x="1498600" y="29591"/>
                  <a:pt x="1490091" y="38100"/>
                  <a:pt x="14795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icon-factory"/>
          <p:cNvSpPr/>
          <p:nvPr/>
        </p:nvSpPr>
        <p:spPr>
          <a:xfrm>
            <a:off x="1104710" y="2111820"/>
            <a:ext cx="127381" cy="85916"/>
          </a:xfrm>
          <a:custGeom>
            <a:avLst/>
            <a:gdLst/>
            <a:ahLst/>
            <a:cxnLst/>
            <a:rect l="0" t="0" r="r" b="b"/>
            <a:pathLst>
              <a:path w="127381" h="85916">
                <a:moveTo>
                  <a:pt x="0" y="85916"/>
                </a:moveTo>
                <a:lnTo>
                  <a:pt x="0" y="20701"/>
                </a:lnTo>
                <a:lnTo>
                  <a:pt x="37021" y="42926"/>
                </a:lnTo>
                <a:lnTo>
                  <a:pt x="37021" y="20701"/>
                </a:lnTo>
                <a:lnTo>
                  <a:pt x="74041" y="42926"/>
                </a:lnTo>
                <a:lnTo>
                  <a:pt x="74041" y="0"/>
                </a:lnTo>
                <a:lnTo>
                  <a:pt x="111125" y="22225"/>
                </a:lnTo>
                <a:lnTo>
                  <a:pt x="111125" y="78486"/>
                </a:lnTo>
                <a:close/>
                <a:moveTo>
                  <a:pt x="0" y="85916"/>
                </a:moveTo>
                <a:lnTo>
                  <a:pt x="127381" y="85916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cn-u-1"/>
          <p:cNvSpPr txBox="1"/>
          <p:nvPr/>
        </p:nvSpPr>
        <p:spPr>
          <a:xfrm>
            <a:off x="1330960" y="2033905"/>
            <a:ext cx="7874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产能扩张期</a:t>
            </a:r>
          </a:p>
        </p:txBody>
      </p:sp>
      <p:sp>
        <p:nvSpPr>
          <p:cNvPr id="21" name="cr-u-1"/>
          <p:cNvSpPr/>
          <p:nvPr/>
        </p:nvSpPr>
        <p:spPr>
          <a:xfrm>
            <a:off x="1117600" y="2317750"/>
            <a:ext cx="215900" cy="15240"/>
          </a:xfrm>
          <a:prstGeom prst="roundRect">
            <a:avLst>
              <a:gd name="adj" fmla="val 50000"/>
            </a:avLst>
          </a:prstGeom>
          <a:solidFill>
            <a:srgbClr val="0B3E8F">
              <a:alpha val="8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cp-u-1-1"/>
          <p:cNvSpPr txBox="1"/>
          <p:nvPr/>
        </p:nvSpPr>
        <p:spPr>
          <a:xfrm>
            <a:off x="1106170" y="2403316"/>
            <a:ext cx="10572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行业新增产线集中投放</a:t>
            </a:r>
          </a:p>
        </p:txBody>
      </p:sp>
      <p:cxnSp>
        <p:nvCxnSpPr>
          <p:cNvPr id="23" name="lead-u-1"/>
          <p:cNvCxnSpPr/>
          <p:nvPr/>
        </p:nvCxnSpPr>
        <p:spPr>
          <a:xfrm>
            <a:off x="1701800" y="2838450"/>
            <a:ext cx="0" cy="984250"/>
          </a:xfrm>
          <a:prstGeom prst="line">
            <a:avLst/>
          </a:prstGeom>
          <a:ln w="10160" cap="rnd">
            <a:solidFill>
              <a:srgbClr val="0B3E8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c-d-1"/>
          <p:cNvSpPr/>
          <p:nvPr/>
        </p:nvSpPr>
        <p:spPr>
          <a:xfrm>
            <a:off x="952500" y="4349750"/>
            <a:ext cx="1498600" cy="977900"/>
          </a:xfrm>
          <a:custGeom>
            <a:avLst/>
            <a:gdLst/>
            <a:ahLst/>
            <a:cxnLst/>
            <a:rect l="0" t="0" r="r" b="b"/>
            <a:pathLst>
              <a:path w="1498600" h="977900">
                <a:moveTo>
                  <a:pt x="101600" y="0"/>
                </a:moveTo>
                <a:lnTo>
                  <a:pt x="1397000" y="0"/>
                </a:lnTo>
                <a:cubicBezTo>
                  <a:pt x="1453134" y="0"/>
                  <a:pt x="1498600" y="45466"/>
                  <a:pt x="1498600" y="101600"/>
                </a:cubicBezTo>
                <a:lnTo>
                  <a:pt x="1498600" y="876300"/>
                </a:lnTo>
                <a:cubicBezTo>
                  <a:pt x="1498600" y="932434"/>
                  <a:pt x="1453134" y="977900"/>
                  <a:pt x="1397000" y="977900"/>
                </a:cubicBezTo>
                <a:lnTo>
                  <a:pt x="101600" y="977900"/>
                </a:lnTo>
                <a:cubicBezTo>
                  <a:pt x="45466" y="977900"/>
                  <a:pt x="0" y="932434"/>
                  <a:pt x="0" y="876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2D599F"/>
              </a:gs>
              <a:gs pos="100000">
                <a:srgbClr val="0B3E8F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icon-tools"/>
          <p:cNvSpPr/>
          <p:nvPr/>
        </p:nvSpPr>
        <p:spPr>
          <a:xfrm>
            <a:off x="1112147" y="4569367"/>
            <a:ext cx="105148" cy="104233"/>
          </a:xfrm>
          <a:custGeom>
            <a:avLst/>
            <a:gdLst/>
            <a:ahLst/>
            <a:cxnLst/>
            <a:rect l="0" t="0" r="r" b="b"/>
            <a:pathLst>
              <a:path w="105148" h="104233">
                <a:moveTo>
                  <a:pt x="19233" y="3458"/>
                </a:moveTo>
                <a:lnTo>
                  <a:pt x="41458" y="25683"/>
                </a:lnTo>
                <a:lnTo>
                  <a:pt x="25138" y="42003"/>
                </a:lnTo>
                <a:lnTo>
                  <a:pt x="2913" y="19778"/>
                </a:lnTo>
                <a:cubicBezTo>
                  <a:pt x="-2421" y="30954"/>
                  <a:pt x="-325" y="44225"/>
                  <a:pt x="8311" y="53179"/>
                </a:cubicBezTo>
                <a:cubicBezTo>
                  <a:pt x="16883" y="62069"/>
                  <a:pt x="30091" y="64736"/>
                  <a:pt x="41458" y="59783"/>
                </a:cubicBezTo>
                <a:lnTo>
                  <a:pt x="85908" y="104233"/>
                </a:lnTo>
                <a:lnTo>
                  <a:pt x="105148" y="84992"/>
                </a:lnTo>
                <a:lnTo>
                  <a:pt x="60698" y="40542"/>
                </a:lnTo>
                <a:cubicBezTo>
                  <a:pt x="65270" y="28985"/>
                  <a:pt x="62159" y="15777"/>
                  <a:pt x="52888" y="7522"/>
                </a:cubicBezTo>
                <a:cubicBezTo>
                  <a:pt x="43617" y="-733"/>
                  <a:pt x="30155" y="-2384"/>
                  <a:pt x="19233" y="3458"/>
                </a:cubicBezTo>
                <a:close/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cn-d-1"/>
          <p:cNvSpPr txBox="1"/>
          <p:nvPr/>
        </p:nvSpPr>
        <p:spPr>
          <a:xfrm>
            <a:off x="1330960" y="4523105"/>
            <a:ext cx="92202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建设自有产线</a:t>
            </a:r>
          </a:p>
        </p:txBody>
      </p:sp>
      <p:sp>
        <p:nvSpPr>
          <p:cNvPr id="27" name="cr-d-1"/>
          <p:cNvSpPr/>
          <p:nvPr/>
        </p:nvSpPr>
        <p:spPr>
          <a:xfrm>
            <a:off x="1117600" y="4806950"/>
            <a:ext cx="215900" cy="15240"/>
          </a:xfrm>
          <a:prstGeom prst="roundRect">
            <a:avLst>
              <a:gd name="adj" fmla="val 50000"/>
            </a:avLst>
          </a:prstGeom>
          <a:solidFill>
            <a:srgbClr val="FFFFFF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cp-d-1-1"/>
          <p:cNvSpPr txBox="1"/>
          <p:nvPr/>
        </p:nvSpPr>
        <p:spPr>
          <a:xfrm>
            <a:off x="1106170" y="4892516"/>
            <a:ext cx="8629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DCE8F7"/>
                </a:solidFill>
                <a:latin typeface="微软雅黑"/>
                <a:ea typeface="微软雅黑"/>
                <a:cs typeface="微软雅黑"/>
              </a:rPr>
              <a:t>投产两条柔性产线</a:t>
            </a:r>
          </a:p>
        </p:txBody>
      </p:sp>
      <p:cxnSp>
        <p:nvCxnSpPr>
          <p:cNvPr id="29" name="lead-d-1"/>
          <p:cNvCxnSpPr/>
          <p:nvPr/>
        </p:nvCxnSpPr>
        <p:spPr>
          <a:xfrm flipV="1">
            <a:off x="1701800" y="3365500"/>
            <a:ext cx="0" cy="984250"/>
          </a:xfrm>
          <a:prstGeom prst="line">
            <a:avLst/>
          </a:prstGeom>
          <a:ln w="10160" cap="rnd">
            <a:solidFill>
              <a:srgbClr val="0B3E8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yn-2"/>
          <p:cNvSpPr/>
          <p:nvPr/>
        </p:nvSpPr>
        <p:spPr>
          <a:xfrm>
            <a:off x="3243580" y="3378200"/>
            <a:ext cx="431800" cy="431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ynr-2"/>
          <p:cNvSpPr/>
          <p:nvPr/>
        </p:nvSpPr>
        <p:spPr>
          <a:xfrm>
            <a:off x="3243580" y="3378200"/>
            <a:ext cx="431800" cy="431800"/>
          </a:xfrm>
          <a:prstGeom prst="ellipse">
            <a:avLst/>
          </a:prstGeom>
          <a:noFill/>
          <a:ln w="1397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ynt-2"/>
          <p:cNvSpPr txBox="1"/>
          <p:nvPr/>
        </p:nvSpPr>
        <p:spPr>
          <a:xfrm>
            <a:off x="3263709" y="3495897"/>
            <a:ext cx="391541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25">
                <a:solidFill>
                  <a:srgbClr val="134C9C"/>
                </a:solidFill>
                <a:latin typeface="Arial"/>
                <a:ea typeface="Arial"/>
                <a:cs typeface="Arial"/>
              </a:rPr>
              <a:t>2022</a:t>
            </a:r>
          </a:p>
        </p:txBody>
      </p:sp>
      <p:sp>
        <p:nvSpPr>
          <p:cNvPr id="33" name="c-u-2"/>
          <p:cNvSpPr/>
          <p:nvPr/>
        </p:nvSpPr>
        <p:spPr>
          <a:xfrm>
            <a:off x="2710180" y="1860550"/>
            <a:ext cx="1498600" cy="977900"/>
          </a:xfrm>
          <a:custGeom>
            <a:avLst/>
            <a:gdLst/>
            <a:ahLst/>
            <a:cxnLst/>
            <a:rect l="0" t="0" r="r" b="b"/>
            <a:pathLst>
              <a:path w="1498600" h="977900">
                <a:moveTo>
                  <a:pt x="101600" y="0"/>
                </a:moveTo>
                <a:lnTo>
                  <a:pt x="1397000" y="0"/>
                </a:lnTo>
                <a:cubicBezTo>
                  <a:pt x="1453134" y="0"/>
                  <a:pt x="1498600" y="45466"/>
                  <a:pt x="1498600" y="101600"/>
                </a:cubicBezTo>
                <a:lnTo>
                  <a:pt x="1498600" y="876300"/>
                </a:lnTo>
                <a:cubicBezTo>
                  <a:pt x="1498600" y="932434"/>
                  <a:pt x="1453134" y="977900"/>
                  <a:pt x="1397000" y="977900"/>
                </a:cubicBezTo>
                <a:lnTo>
                  <a:pt x="101600" y="977900"/>
                </a:lnTo>
                <a:cubicBezTo>
                  <a:pt x="45466" y="977900"/>
                  <a:pt x="0" y="932434"/>
                  <a:pt x="0" y="876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ccap-2"/>
          <p:cNvSpPr/>
          <p:nvPr/>
        </p:nvSpPr>
        <p:spPr>
          <a:xfrm>
            <a:off x="2710180" y="1860550"/>
            <a:ext cx="1498600" cy="38100"/>
          </a:xfrm>
          <a:custGeom>
            <a:avLst/>
            <a:gdLst/>
            <a:ahLst/>
            <a:cxnLst/>
            <a:rect l="0" t="0" r="r" b="b"/>
            <a:pathLst>
              <a:path w="1498600" h="38100">
                <a:moveTo>
                  <a:pt x="19050" y="0"/>
                </a:moveTo>
                <a:lnTo>
                  <a:pt x="1479550" y="0"/>
                </a:lnTo>
                <a:cubicBezTo>
                  <a:pt x="1490091" y="0"/>
                  <a:pt x="1498600" y="8509"/>
                  <a:pt x="1498600" y="19050"/>
                </a:cubicBezTo>
                <a:lnTo>
                  <a:pt x="1498600" y="19050"/>
                </a:lnTo>
                <a:cubicBezTo>
                  <a:pt x="1498600" y="29591"/>
                  <a:pt x="1490091" y="38100"/>
                  <a:pt x="14795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icon-chart"/>
          <p:cNvSpPr/>
          <p:nvPr/>
        </p:nvSpPr>
        <p:spPr>
          <a:xfrm>
            <a:off x="2863850" y="2117725"/>
            <a:ext cx="124460" cy="81470"/>
          </a:xfrm>
          <a:custGeom>
            <a:avLst/>
            <a:gdLst/>
            <a:ahLst/>
            <a:cxnLst/>
            <a:rect l="0" t="0" r="r" b="b"/>
            <a:pathLst>
              <a:path w="124460" h="81470">
                <a:moveTo>
                  <a:pt x="0" y="81470"/>
                </a:moveTo>
                <a:lnTo>
                  <a:pt x="124460" y="81470"/>
                </a:lnTo>
                <a:moveTo>
                  <a:pt x="28131" y="81470"/>
                </a:moveTo>
                <a:lnTo>
                  <a:pt x="28131" y="34100"/>
                </a:lnTo>
                <a:moveTo>
                  <a:pt x="62230" y="81470"/>
                </a:moveTo>
                <a:lnTo>
                  <a:pt x="62230" y="0"/>
                </a:lnTo>
                <a:moveTo>
                  <a:pt x="96330" y="81470"/>
                </a:moveTo>
                <a:lnTo>
                  <a:pt x="96330" y="50356"/>
                </a:lnTo>
              </a:path>
            </a:pathLst>
          </a:cu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cn-u-2"/>
          <p:cNvSpPr txBox="1"/>
          <p:nvPr/>
        </p:nvSpPr>
        <p:spPr>
          <a:xfrm>
            <a:off x="3088640" y="2033905"/>
            <a:ext cx="92202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成本压力显现</a:t>
            </a:r>
          </a:p>
        </p:txBody>
      </p:sp>
      <p:sp>
        <p:nvSpPr>
          <p:cNvPr id="37" name="cr-u-2"/>
          <p:cNvSpPr/>
          <p:nvPr/>
        </p:nvSpPr>
        <p:spPr>
          <a:xfrm>
            <a:off x="2875280" y="2317750"/>
            <a:ext cx="215900" cy="15240"/>
          </a:xfrm>
          <a:prstGeom prst="roundRect">
            <a:avLst>
              <a:gd name="adj" fmla="val 50000"/>
            </a:avLst>
          </a:prstGeom>
          <a:solidFill>
            <a:srgbClr val="134C9C">
              <a:alpha val="8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cp-u-2-1"/>
          <p:cNvSpPr txBox="1"/>
          <p:nvPr/>
        </p:nvSpPr>
        <p:spPr>
          <a:xfrm>
            <a:off x="2863850" y="2403316"/>
            <a:ext cx="98679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原材料价格上行 18%</a:t>
            </a:r>
          </a:p>
        </p:txBody>
      </p:sp>
      <p:cxnSp>
        <p:nvCxnSpPr>
          <p:cNvPr id="39" name="lead-u-2"/>
          <p:cNvCxnSpPr/>
          <p:nvPr/>
        </p:nvCxnSpPr>
        <p:spPr>
          <a:xfrm>
            <a:off x="3459480" y="2838450"/>
            <a:ext cx="0" cy="984250"/>
          </a:xfrm>
          <a:prstGeom prst="line">
            <a:avLst/>
          </a:prstGeom>
          <a:ln w="10160" cap="rnd">
            <a:solidFill>
              <a:srgbClr val="134C9C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c-d-2"/>
          <p:cNvSpPr/>
          <p:nvPr/>
        </p:nvSpPr>
        <p:spPr>
          <a:xfrm>
            <a:off x="2710180" y="4349750"/>
            <a:ext cx="1498600" cy="977900"/>
          </a:xfrm>
          <a:custGeom>
            <a:avLst/>
            <a:gdLst/>
            <a:ahLst/>
            <a:cxnLst/>
            <a:rect l="0" t="0" r="r" b="b"/>
            <a:pathLst>
              <a:path w="1498600" h="977900">
                <a:moveTo>
                  <a:pt x="101600" y="0"/>
                </a:moveTo>
                <a:lnTo>
                  <a:pt x="1397000" y="0"/>
                </a:lnTo>
                <a:cubicBezTo>
                  <a:pt x="1453134" y="0"/>
                  <a:pt x="1498600" y="45466"/>
                  <a:pt x="1498600" y="101600"/>
                </a:cubicBezTo>
                <a:lnTo>
                  <a:pt x="1498600" y="876300"/>
                </a:lnTo>
                <a:cubicBezTo>
                  <a:pt x="1498600" y="932434"/>
                  <a:pt x="1453134" y="977900"/>
                  <a:pt x="1397000" y="977900"/>
                </a:cubicBezTo>
                <a:lnTo>
                  <a:pt x="101600" y="977900"/>
                </a:lnTo>
                <a:cubicBezTo>
                  <a:pt x="45466" y="977900"/>
                  <a:pt x="0" y="932434"/>
                  <a:pt x="0" y="876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3465AA"/>
              </a:gs>
              <a:gs pos="100000">
                <a:srgbClr val="134C9C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icon-gear"/>
          <p:cNvSpPr/>
          <p:nvPr/>
        </p:nvSpPr>
        <p:spPr>
          <a:xfrm>
            <a:off x="2870518" y="4561014"/>
            <a:ext cx="111125" cy="136271"/>
          </a:xfrm>
          <a:custGeom>
            <a:avLst/>
            <a:gdLst/>
            <a:ahLst/>
            <a:cxnLst/>
            <a:rect l="0" t="0" r="r" b="b"/>
            <a:pathLst>
              <a:path w="111125" h="136271">
                <a:moveTo>
                  <a:pt x="55562" y="42926"/>
                </a:moveTo>
                <a:cubicBezTo>
                  <a:pt x="46545" y="42926"/>
                  <a:pt x="38227" y="47752"/>
                  <a:pt x="33719" y="55562"/>
                </a:cubicBezTo>
                <a:cubicBezTo>
                  <a:pt x="29274" y="63310"/>
                  <a:pt x="29274" y="72962"/>
                  <a:pt x="33719" y="80709"/>
                </a:cubicBezTo>
                <a:cubicBezTo>
                  <a:pt x="38227" y="88519"/>
                  <a:pt x="46545" y="93345"/>
                  <a:pt x="55562" y="93345"/>
                </a:cubicBezTo>
                <a:cubicBezTo>
                  <a:pt x="69469" y="93345"/>
                  <a:pt x="80772" y="82042"/>
                  <a:pt x="80772" y="68136"/>
                </a:cubicBezTo>
                <a:cubicBezTo>
                  <a:pt x="80772" y="54229"/>
                  <a:pt x="69469" y="42926"/>
                  <a:pt x="55562" y="42926"/>
                </a:cubicBezTo>
                <a:close/>
                <a:moveTo>
                  <a:pt x="55562" y="0"/>
                </a:moveTo>
                <a:lnTo>
                  <a:pt x="63690" y="19240"/>
                </a:lnTo>
                <a:lnTo>
                  <a:pt x="84455" y="14796"/>
                </a:lnTo>
                <a:lnTo>
                  <a:pt x="91884" y="34798"/>
                </a:lnTo>
                <a:lnTo>
                  <a:pt x="111125" y="42926"/>
                </a:lnTo>
                <a:lnTo>
                  <a:pt x="102235" y="62230"/>
                </a:lnTo>
                <a:lnTo>
                  <a:pt x="111125" y="81471"/>
                </a:lnTo>
                <a:lnTo>
                  <a:pt x="91884" y="89599"/>
                </a:lnTo>
                <a:lnTo>
                  <a:pt x="84455" y="109601"/>
                </a:lnTo>
                <a:lnTo>
                  <a:pt x="63690" y="105156"/>
                </a:lnTo>
                <a:lnTo>
                  <a:pt x="55562" y="136271"/>
                </a:lnTo>
                <a:lnTo>
                  <a:pt x="47434" y="117031"/>
                </a:lnTo>
                <a:lnTo>
                  <a:pt x="26670" y="121475"/>
                </a:lnTo>
                <a:lnTo>
                  <a:pt x="19240" y="101473"/>
                </a:lnTo>
                <a:lnTo>
                  <a:pt x="0" y="93345"/>
                </a:lnTo>
                <a:lnTo>
                  <a:pt x="8890" y="68136"/>
                </a:lnTo>
                <a:lnTo>
                  <a:pt x="0" y="48895"/>
                </a:lnTo>
                <a:lnTo>
                  <a:pt x="19240" y="40703"/>
                </a:lnTo>
                <a:lnTo>
                  <a:pt x="26670" y="20701"/>
                </a:lnTo>
                <a:lnTo>
                  <a:pt x="47434" y="25146"/>
                </a:lnTo>
                <a:close/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cn-d-2"/>
          <p:cNvSpPr txBox="1"/>
          <p:nvPr/>
        </p:nvSpPr>
        <p:spPr>
          <a:xfrm>
            <a:off x="3088640" y="4523105"/>
            <a:ext cx="92202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推行精益改善</a:t>
            </a:r>
          </a:p>
        </p:txBody>
      </p:sp>
      <p:sp>
        <p:nvSpPr>
          <p:cNvPr id="43" name="cr-d-2"/>
          <p:cNvSpPr/>
          <p:nvPr/>
        </p:nvSpPr>
        <p:spPr>
          <a:xfrm>
            <a:off x="2875280" y="4806950"/>
            <a:ext cx="215900" cy="15240"/>
          </a:xfrm>
          <a:prstGeom prst="roundRect">
            <a:avLst>
              <a:gd name="adj" fmla="val 50000"/>
            </a:avLst>
          </a:prstGeom>
          <a:solidFill>
            <a:srgbClr val="FFFFFF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cp-d-2-1"/>
          <p:cNvSpPr txBox="1"/>
          <p:nvPr/>
        </p:nvSpPr>
        <p:spPr>
          <a:xfrm>
            <a:off x="2863850" y="4892516"/>
            <a:ext cx="94488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DCE8F7"/>
                </a:solidFill>
                <a:latin typeface="微软雅黑"/>
                <a:ea typeface="微软雅黑"/>
                <a:cs typeface="微软雅黑"/>
              </a:rPr>
              <a:t>单位成本下降 9.4%</a:t>
            </a:r>
          </a:p>
        </p:txBody>
      </p:sp>
      <p:cxnSp>
        <p:nvCxnSpPr>
          <p:cNvPr id="45" name="lead-d-2"/>
          <p:cNvCxnSpPr/>
          <p:nvPr/>
        </p:nvCxnSpPr>
        <p:spPr>
          <a:xfrm flipV="1">
            <a:off x="3459480" y="3365500"/>
            <a:ext cx="0" cy="984250"/>
          </a:xfrm>
          <a:prstGeom prst="line">
            <a:avLst/>
          </a:prstGeom>
          <a:ln w="10160" cap="rnd">
            <a:solidFill>
              <a:srgbClr val="134C9C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yn-3"/>
          <p:cNvSpPr/>
          <p:nvPr/>
        </p:nvSpPr>
        <p:spPr>
          <a:xfrm>
            <a:off x="5001260" y="3378200"/>
            <a:ext cx="431800" cy="431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ynr-3"/>
          <p:cNvSpPr/>
          <p:nvPr/>
        </p:nvSpPr>
        <p:spPr>
          <a:xfrm>
            <a:off x="5001260" y="3378200"/>
            <a:ext cx="431800" cy="431800"/>
          </a:xfrm>
          <a:prstGeom prst="ellipse">
            <a:avLst/>
          </a:prstGeom>
          <a:noFill/>
          <a:ln w="1397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ynt-3"/>
          <p:cNvSpPr txBox="1"/>
          <p:nvPr/>
        </p:nvSpPr>
        <p:spPr>
          <a:xfrm>
            <a:off x="5021390" y="3495897"/>
            <a:ext cx="391541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25">
                <a:solidFill>
                  <a:srgbClr val="2468B6"/>
                </a:solidFill>
                <a:latin typeface="Arial"/>
                <a:ea typeface="Arial"/>
                <a:cs typeface="Arial"/>
              </a:rPr>
              <a:t>2023</a:t>
            </a:r>
          </a:p>
        </p:txBody>
      </p:sp>
      <p:sp>
        <p:nvSpPr>
          <p:cNvPr id="49" name="c-u-3"/>
          <p:cNvSpPr/>
          <p:nvPr/>
        </p:nvSpPr>
        <p:spPr>
          <a:xfrm>
            <a:off x="4467860" y="1860550"/>
            <a:ext cx="1498600" cy="977900"/>
          </a:xfrm>
          <a:custGeom>
            <a:avLst/>
            <a:gdLst/>
            <a:ahLst/>
            <a:cxnLst/>
            <a:rect l="0" t="0" r="r" b="b"/>
            <a:pathLst>
              <a:path w="1498600" h="977900">
                <a:moveTo>
                  <a:pt x="101600" y="0"/>
                </a:moveTo>
                <a:lnTo>
                  <a:pt x="1397000" y="0"/>
                </a:lnTo>
                <a:cubicBezTo>
                  <a:pt x="1453134" y="0"/>
                  <a:pt x="1498600" y="45466"/>
                  <a:pt x="1498600" y="101600"/>
                </a:cubicBezTo>
                <a:lnTo>
                  <a:pt x="1498600" y="876300"/>
                </a:lnTo>
                <a:cubicBezTo>
                  <a:pt x="1498600" y="932434"/>
                  <a:pt x="1453134" y="977900"/>
                  <a:pt x="1397000" y="977900"/>
                </a:cubicBezTo>
                <a:lnTo>
                  <a:pt x="101600" y="977900"/>
                </a:lnTo>
                <a:cubicBezTo>
                  <a:pt x="45466" y="977900"/>
                  <a:pt x="0" y="932434"/>
                  <a:pt x="0" y="876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ccap-3"/>
          <p:cNvSpPr/>
          <p:nvPr/>
        </p:nvSpPr>
        <p:spPr>
          <a:xfrm>
            <a:off x="4467860" y="1860550"/>
            <a:ext cx="1498600" cy="38100"/>
          </a:xfrm>
          <a:custGeom>
            <a:avLst/>
            <a:gdLst/>
            <a:ahLst/>
            <a:cxnLst/>
            <a:rect l="0" t="0" r="r" b="b"/>
            <a:pathLst>
              <a:path w="1498600" h="38100">
                <a:moveTo>
                  <a:pt x="19050" y="0"/>
                </a:moveTo>
                <a:lnTo>
                  <a:pt x="1479550" y="0"/>
                </a:lnTo>
                <a:cubicBezTo>
                  <a:pt x="1490091" y="0"/>
                  <a:pt x="1498600" y="8509"/>
                  <a:pt x="1498600" y="19050"/>
                </a:cubicBezTo>
                <a:lnTo>
                  <a:pt x="1498600" y="19050"/>
                </a:lnTo>
                <a:cubicBezTo>
                  <a:pt x="1498600" y="29591"/>
                  <a:pt x="1490091" y="38100"/>
                  <a:pt x="14795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icon-share"/>
          <p:cNvSpPr/>
          <p:nvPr/>
        </p:nvSpPr>
        <p:spPr>
          <a:xfrm>
            <a:off x="4655630" y="2103628"/>
            <a:ext cx="52578" cy="72644"/>
          </a:xfrm>
          <a:custGeom>
            <a:avLst/>
            <a:gdLst/>
            <a:ahLst/>
            <a:cxnLst/>
            <a:rect l="0" t="0" r="r" b="b"/>
            <a:pathLst>
              <a:path w="52578" h="72644">
                <a:moveTo>
                  <a:pt x="0" y="28893"/>
                </a:moveTo>
                <a:lnTo>
                  <a:pt x="52578" y="0"/>
                </a:lnTo>
                <a:moveTo>
                  <a:pt x="0" y="43752"/>
                </a:moveTo>
                <a:lnTo>
                  <a:pt x="52578" y="72644"/>
                </a:lnTo>
              </a:path>
            </a:pathLst>
          </a:cu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icon-share"/>
          <p:cNvSpPr/>
          <p:nvPr/>
        </p:nvSpPr>
        <p:spPr>
          <a:xfrm>
            <a:off x="4623753" y="2122911"/>
            <a:ext cx="34078" cy="34078"/>
          </a:xfrm>
          <a:prstGeom prst="ellipse">
            <a:avLst/>
          </a:pr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icon-share"/>
          <p:cNvSpPr/>
          <p:nvPr/>
        </p:nvSpPr>
        <p:spPr>
          <a:xfrm>
            <a:off x="4706726" y="2079942"/>
            <a:ext cx="34078" cy="34078"/>
          </a:xfrm>
          <a:prstGeom prst="ellipse">
            <a:avLst/>
          </a:pr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icon-share"/>
          <p:cNvSpPr/>
          <p:nvPr/>
        </p:nvSpPr>
        <p:spPr>
          <a:xfrm>
            <a:off x="4706726" y="2165879"/>
            <a:ext cx="34078" cy="34078"/>
          </a:xfrm>
          <a:prstGeom prst="ellipse">
            <a:avLst/>
          </a:pr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cn-u-3"/>
          <p:cNvSpPr txBox="1"/>
          <p:nvPr/>
        </p:nvSpPr>
        <p:spPr>
          <a:xfrm>
            <a:off x="4846320" y="203390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需求分层</a:t>
            </a:r>
          </a:p>
        </p:txBody>
      </p:sp>
      <p:sp>
        <p:nvSpPr>
          <p:cNvPr id="56" name="cr-u-3"/>
          <p:cNvSpPr/>
          <p:nvPr/>
        </p:nvSpPr>
        <p:spPr>
          <a:xfrm>
            <a:off x="4632960" y="2317750"/>
            <a:ext cx="215900" cy="15240"/>
          </a:xfrm>
          <a:prstGeom prst="roundRect">
            <a:avLst>
              <a:gd name="adj" fmla="val 50000"/>
            </a:avLst>
          </a:prstGeom>
          <a:solidFill>
            <a:srgbClr val="2468B6">
              <a:alpha val="8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cp-u-3-1"/>
          <p:cNvSpPr txBox="1"/>
          <p:nvPr/>
        </p:nvSpPr>
        <p:spPr>
          <a:xfrm>
            <a:off x="4621530" y="2403316"/>
            <a:ext cx="96012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高端与长尾同步扩容</a:t>
            </a:r>
          </a:p>
        </p:txBody>
      </p:sp>
      <p:cxnSp>
        <p:nvCxnSpPr>
          <p:cNvPr id="58" name="lead-u-3"/>
          <p:cNvCxnSpPr/>
          <p:nvPr/>
        </p:nvCxnSpPr>
        <p:spPr>
          <a:xfrm>
            <a:off x="5217160" y="2838450"/>
            <a:ext cx="0" cy="984250"/>
          </a:xfrm>
          <a:prstGeom prst="line">
            <a:avLst/>
          </a:prstGeom>
          <a:ln w="10160" cap="rnd">
            <a:solidFill>
              <a:srgbClr val="2468B6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c-d-3"/>
          <p:cNvSpPr/>
          <p:nvPr/>
        </p:nvSpPr>
        <p:spPr>
          <a:xfrm>
            <a:off x="4467860" y="4349750"/>
            <a:ext cx="1498600" cy="977900"/>
          </a:xfrm>
          <a:custGeom>
            <a:avLst/>
            <a:gdLst/>
            <a:ahLst/>
            <a:cxnLst/>
            <a:rect l="0" t="0" r="r" b="b"/>
            <a:pathLst>
              <a:path w="1498600" h="977900">
                <a:moveTo>
                  <a:pt x="101600" y="0"/>
                </a:moveTo>
                <a:lnTo>
                  <a:pt x="1397000" y="0"/>
                </a:lnTo>
                <a:cubicBezTo>
                  <a:pt x="1453134" y="0"/>
                  <a:pt x="1498600" y="45466"/>
                  <a:pt x="1498600" y="101600"/>
                </a:cubicBezTo>
                <a:lnTo>
                  <a:pt x="1498600" y="876300"/>
                </a:lnTo>
                <a:cubicBezTo>
                  <a:pt x="1498600" y="932434"/>
                  <a:pt x="1453134" y="977900"/>
                  <a:pt x="1397000" y="977900"/>
                </a:cubicBezTo>
                <a:lnTo>
                  <a:pt x="101600" y="977900"/>
                </a:lnTo>
                <a:cubicBezTo>
                  <a:pt x="45466" y="977900"/>
                  <a:pt x="0" y="932434"/>
                  <a:pt x="0" y="876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437DC0"/>
              </a:gs>
              <a:gs pos="100000">
                <a:srgbClr val="2468B6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icon-layers"/>
          <p:cNvSpPr/>
          <p:nvPr/>
        </p:nvSpPr>
        <p:spPr>
          <a:xfrm>
            <a:off x="4624514" y="4568380"/>
            <a:ext cx="118491" cy="123000"/>
          </a:xfrm>
          <a:custGeom>
            <a:avLst/>
            <a:gdLst/>
            <a:ahLst/>
            <a:cxnLst/>
            <a:rect l="0" t="0" r="r" b="b"/>
            <a:pathLst>
              <a:path w="118491" h="123000">
                <a:moveTo>
                  <a:pt x="59246" y="0"/>
                </a:moveTo>
                <a:lnTo>
                  <a:pt x="118491" y="31115"/>
                </a:lnTo>
                <a:lnTo>
                  <a:pt x="59246" y="62230"/>
                </a:lnTo>
                <a:lnTo>
                  <a:pt x="0" y="31115"/>
                </a:lnTo>
                <a:close/>
                <a:moveTo>
                  <a:pt x="0" y="62230"/>
                </a:moveTo>
                <a:lnTo>
                  <a:pt x="59246" y="93345"/>
                </a:lnTo>
                <a:lnTo>
                  <a:pt x="118491" y="62230"/>
                </a:lnTo>
                <a:moveTo>
                  <a:pt x="0" y="91885"/>
                </a:moveTo>
                <a:lnTo>
                  <a:pt x="59246" y="123000"/>
                </a:lnTo>
                <a:lnTo>
                  <a:pt x="118491" y="91885"/>
                </a:lnTo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cn-d-3"/>
          <p:cNvSpPr txBox="1"/>
          <p:nvPr/>
        </p:nvSpPr>
        <p:spPr>
          <a:xfrm>
            <a:off x="4846320" y="4523105"/>
            <a:ext cx="7874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双品牌策略</a:t>
            </a:r>
          </a:p>
        </p:txBody>
      </p:sp>
      <p:sp>
        <p:nvSpPr>
          <p:cNvPr id="62" name="cr-d-3"/>
          <p:cNvSpPr/>
          <p:nvPr/>
        </p:nvSpPr>
        <p:spPr>
          <a:xfrm>
            <a:off x="4632960" y="4806950"/>
            <a:ext cx="215900" cy="15240"/>
          </a:xfrm>
          <a:prstGeom prst="roundRect">
            <a:avLst>
              <a:gd name="adj" fmla="val 50000"/>
            </a:avLst>
          </a:prstGeom>
          <a:solidFill>
            <a:srgbClr val="FFFFFF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cp-d-3-1"/>
          <p:cNvSpPr txBox="1"/>
          <p:nvPr/>
        </p:nvSpPr>
        <p:spPr>
          <a:xfrm>
            <a:off x="4621530" y="4892516"/>
            <a:ext cx="96012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DCE8F7"/>
                </a:solidFill>
                <a:latin typeface="微软雅黑"/>
                <a:ea typeface="微软雅黑"/>
                <a:cs typeface="微软雅黑"/>
              </a:rPr>
              <a:t>高端线与标准线并行</a:t>
            </a:r>
          </a:p>
        </p:txBody>
      </p:sp>
      <p:cxnSp>
        <p:nvCxnSpPr>
          <p:cNvPr id="64" name="lead-d-3"/>
          <p:cNvCxnSpPr/>
          <p:nvPr/>
        </p:nvCxnSpPr>
        <p:spPr>
          <a:xfrm flipV="1">
            <a:off x="5217160" y="3365500"/>
            <a:ext cx="0" cy="984250"/>
          </a:xfrm>
          <a:prstGeom prst="line">
            <a:avLst/>
          </a:prstGeom>
          <a:ln w="10160" cap="rnd">
            <a:solidFill>
              <a:srgbClr val="2468B6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" name="yn-4"/>
          <p:cNvSpPr/>
          <p:nvPr/>
        </p:nvSpPr>
        <p:spPr>
          <a:xfrm>
            <a:off x="6758940" y="3378200"/>
            <a:ext cx="431800" cy="431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ynr-4"/>
          <p:cNvSpPr/>
          <p:nvPr/>
        </p:nvSpPr>
        <p:spPr>
          <a:xfrm>
            <a:off x="6758940" y="3378200"/>
            <a:ext cx="431800" cy="431800"/>
          </a:xfrm>
          <a:prstGeom prst="ellipse">
            <a:avLst/>
          </a:prstGeom>
          <a:noFill/>
          <a:ln w="1397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ynt-4"/>
          <p:cNvSpPr txBox="1"/>
          <p:nvPr/>
        </p:nvSpPr>
        <p:spPr>
          <a:xfrm>
            <a:off x="6779070" y="3495897"/>
            <a:ext cx="391541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25">
                <a:solidFill>
                  <a:srgbClr val="2E77C2"/>
                </a:solidFill>
                <a:latin typeface="Arial"/>
                <a:ea typeface="Arial"/>
                <a:cs typeface="Arial"/>
              </a:rPr>
              <a:t>2024</a:t>
            </a:r>
          </a:p>
        </p:txBody>
      </p:sp>
      <p:sp>
        <p:nvSpPr>
          <p:cNvPr id="68" name="c-u-4"/>
          <p:cNvSpPr/>
          <p:nvPr/>
        </p:nvSpPr>
        <p:spPr>
          <a:xfrm>
            <a:off x="6225540" y="1860550"/>
            <a:ext cx="1498600" cy="977900"/>
          </a:xfrm>
          <a:custGeom>
            <a:avLst/>
            <a:gdLst/>
            <a:ahLst/>
            <a:cxnLst/>
            <a:rect l="0" t="0" r="r" b="b"/>
            <a:pathLst>
              <a:path w="1498600" h="977900">
                <a:moveTo>
                  <a:pt x="101600" y="0"/>
                </a:moveTo>
                <a:lnTo>
                  <a:pt x="1397000" y="0"/>
                </a:lnTo>
                <a:cubicBezTo>
                  <a:pt x="1453134" y="0"/>
                  <a:pt x="1498600" y="45466"/>
                  <a:pt x="1498600" y="101600"/>
                </a:cubicBezTo>
                <a:lnTo>
                  <a:pt x="1498600" y="876300"/>
                </a:lnTo>
                <a:cubicBezTo>
                  <a:pt x="1498600" y="932434"/>
                  <a:pt x="1453134" y="977900"/>
                  <a:pt x="1397000" y="977900"/>
                </a:cubicBezTo>
                <a:lnTo>
                  <a:pt x="101600" y="977900"/>
                </a:lnTo>
                <a:cubicBezTo>
                  <a:pt x="45466" y="977900"/>
                  <a:pt x="0" y="932434"/>
                  <a:pt x="0" y="876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ccap-4"/>
          <p:cNvSpPr/>
          <p:nvPr/>
        </p:nvSpPr>
        <p:spPr>
          <a:xfrm>
            <a:off x="6225540" y="1860550"/>
            <a:ext cx="1498600" cy="38100"/>
          </a:xfrm>
          <a:custGeom>
            <a:avLst/>
            <a:gdLst/>
            <a:ahLst/>
            <a:cxnLst/>
            <a:rect l="0" t="0" r="r" b="b"/>
            <a:pathLst>
              <a:path w="1498600" h="38100">
                <a:moveTo>
                  <a:pt x="19050" y="0"/>
                </a:moveTo>
                <a:lnTo>
                  <a:pt x="1479550" y="0"/>
                </a:lnTo>
                <a:cubicBezTo>
                  <a:pt x="1490091" y="0"/>
                  <a:pt x="1498600" y="8509"/>
                  <a:pt x="1498600" y="19050"/>
                </a:cubicBezTo>
                <a:lnTo>
                  <a:pt x="1498600" y="19050"/>
                </a:lnTo>
                <a:cubicBezTo>
                  <a:pt x="1498600" y="29591"/>
                  <a:pt x="1490091" y="38100"/>
                  <a:pt x="14795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icon-cloud"/>
          <p:cNvSpPr/>
          <p:nvPr/>
        </p:nvSpPr>
        <p:spPr>
          <a:xfrm>
            <a:off x="6373304" y="2090490"/>
            <a:ext cx="140716" cy="96894"/>
          </a:xfrm>
          <a:custGeom>
            <a:avLst/>
            <a:gdLst/>
            <a:ahLst/>
            <a:cxnLst/>
            <a:rect l="0" t="0" r="r" b="b"/>
            <a:pathLst>
              <a:path w="140716" h="96894">
                <a:moveTo>
                  <a:pt x="32575" y="96894"/>
                </a:moveTo>
                <a:cubicBezTo>
                  <a:pt x="15367" y="97720"/>
                  <a:pt x="825" y="84448"/>
                  <a:pt x="0" y="67240"/>
                </a:cubicBezTo>
                <a:cubicBezTo>
                  <a:pt x="-825" y="50031"/>
                  <a:pt x="12446" y="35490"/>
                  <a:pt x="29591" y="34664"/>
                </a:cubicBezTo>
                <a:cubicBezTo>
                  <a:pt x="32068" y="16503"/>
                  <a:pt x="46482" y="2343"/>
                  <a:pt x="64707" y="247"/>
                </a:cubicBezTo>
                <a:cubicBezTo>
                  <a:pt x="82868" y="-1848"/>
                  <a:pt x="100140" y="8629"/>
                  <a:pt x="106680" y="25774"/>
                </a:cubicBezTo>
                <a:cubicBezTo>
                  <a:pt x="126301" y="26600"/>
                  <a:pt x="141542" y="43173"/>
                  <a:pt x="140716" y="62795"/>
                </a:cubicBezTo>
                <a:cubicBezTo>
                  <a:pt x="139891" y="82416"/>
                  <a:pt x="123317" y="97720"/>
                  <a:pt x="103696" y="96894"/>
                </a:cubicBezTo>
                <a:close/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cn-u-4"/>
          <p:cNvSpPr txBox="1"/>
          <p:nvPr/>
        </p:nvSpPr>
        <p:spPr>
          <a:xfrm>
            <a:off x="6604000" y="2033905"/>
            <a:ext cx="7874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数字化提速</a:t>
            </a:r>
          </a:p>
        </p:txBody>
      </p:sp>
      <p:sp>
        <p:nvSpPr>
          <p:cNvPr id="72" name="cr-u-4"/>
          <p:cNvSpPr/>
          <p:nvPr/>
        </p:nvSpPr>
        <p:spPr>
          <a:xfrm>
            <a:off x="6390640" y="2317750"/>
            <a:ext cx="215900" cy="15240"/>
          </a:xfrm>
          <a:prstGeom prst="roundRect">
            <a:avLst>
              <a:gd name="adj" fmla="val 50000"/>
            </a:avLst>
          </a:prstGeom>
          <a:solidFill>
            <a:srgbClr val="2E77C2">
              <a:alpha val="8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cp-u-4-1"/>
          <p:cNvSpPr txBox="1"/>
          <p:nvPr/>
        </p:nvSpPr>
        <p:spPr>
          <a:xfrm>
            <a:off x="6379210" y="2403316"/>
            <a:ext cx="98679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行业渗透率突破 42%</a:t>
            </a:r>
          </a:p>
        </p:txBody>
      </p:sp>
      <p:cxnSp>
        <p:nvCxnSpPr>
          <p:cNvPr id="74" name="lead-u-4"/>
          <p:cNvCxnSpPr/>
          <p:nvPr/>
        </p:nvCxnSpPr>
        <p:spPr>
          <a:xfrm>
            <a:off x="6974840" y="2838450"/>
            <a:ext cx="0" cy="984250"/>
          </a:xfrm>
          <a:prstGeom prst="line">
            <a:avLst/>
          </a:prstGeom>
          <a:ln w="10160" cap="rnd">
            <a:solidFill>
              <a:srgbClr val="2E77C2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5" name="c-d-4"/>
          <p:cNvSpPr/>
          <p:nvPr/>
        </p:nvSpPr>
        <p:spPr>
          <a:xfrm>
            <a:off x="6225540" y="4349750"/>
            <a:ext cx="1498600" cy="977900"/>
          </a:xfrm>
          <a:custGeom>
            <a:avLst/>
            <a:gdLst/>
            <a:ahLst/>
            <a:cxnLst/>
            <a:rect l="0" t="0" r="r" b="b"/>
            <a:pathLst>
              <a:path w="1498600" h="977900">
                <a:moveTo>
                  <a:pt x="101600" y="0"/>
                </a:moveTo>
                <a:lnTo>
                  <a:pt x="1397000" y="0"/>
                </a:lnTo>
                <a:cubicBezTo>
                  <a:pt x="1453134" y="0"/>
                  <a:pt x="1498600" y="45466"/>
                  <a:pt x="1498600" y="101600"/>
                </a:cubicBezTo>
                <a:lnTo>
                  <a:pt x="1498600" y="876300"/>
                </a:lnTo>
                <a:cubicBezTo>
                  <a:pt x="1498600" y="932434"/>
                  <a:pt x="1453134" y="977900"/>
                  <a:pt x="1397000" y="977900"/>
                </a:cubicBezTo>
                <a:lnTo>
                  <a:pt x="101600" y="977900"/>
                </a:lnTo>
                <a:cubicBezTo>
                  <a:pt x="45466" y="977900"/>
                  <a:pt x="0" y="932434"/>
                  <a:pt x="0" y="876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4B8ACB"/>
              </a:gs>
              <a:gs pos="100000">
                <a:srgbClr val="2E77C2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icon-db"/>
          <p:cNvSpPr/>
          <p:nvPr/>
        </p:nvSpPr>
        <p:spPr>
          <a:xfrm>
            <a:off x="6386640" y="4562475"/>
            <a:ext cx="109601" cy="133350"/>
          </a:xfrm>
          <a:custGeom>
            <a:avLst/>
            <a:gdLst/>
            <a:ahLst/>
            <a:cxnLst/>
            <a:rect l="0" t="0" r="r" b="b"/>
            <a:pathLst>
              <a:path w="109601" h="133350">
                <a:moveTo>
                  <a:pt x="54800" y="32575"/>
                </a:moveTo>
                <a:cubicBezTo>
                  <a:pt x="85153" y="32575"/>
                  <a:pt x="109601" y="25210"/>
                  <a:pt x="109601" y="16320"/>
                </a:cubicBezTo>
                <a:cubicBezTo>
                  <a:pt x="109601" y="7429"/>
                  <a:pt x="85153" y="0"/>
                  <a:pt x="54800" y="0"/>
                </a:cubicBezTo>
                <a:cubicBezTo>
                  <a:pt x="24448" y="0"/>
                  <a:pt x="0" y="7429"/>
                  <a:pt x="0" y="16320"/>
                </a:cubicBezTo>
                <a:cubicBezTo>
                  <a:pt x="0" y="25210"/>
                  <a:pt x="24448" y="32575"/>
                  <a:pt x="54800" y="32575"/>
                </a:cubicBezTo>
                <a:close/>
                <a:moveTo>
                  <a:pt x="0" y="16320"/>
                </a:moveTo>
                <a:lnTo>
                  <a:pt x="0" y="117030"/>
                </a:lnTo>
                <a:cubicBezTo>
                  <a:pt x="0" y="125921"/>
                  <a:pt x="24448" y="133350"/>
                  <a:pt x="54800" y="133350"/>
                </a:cubicBezTo>
                <a:cubicBezTo>
                  <a:pt x="85153" y="133350"/>
                  <a:pt x="109601" y="125921"/>
                  <a:pt x="109601" y="117030"/>
                </a:cubicBezTo>
                <a:lnTo>
                  <a:pt x="109601" y="16320"/>
                </a:lnTo>
                <a:moveTo>
                  <a:pt x="0" y="66675"/>
                </a:moveTo>
                <a:cubicBezTo>
                  <a:pt x="0" y="75565"/>
                  <a:pt x="24448" y="82995"/>
                  <a:pt x="54800" y="82995"/>
                </a:cubicBezTo>
                <a:cubicBezTo>
                  <a:pt x="85153" y="82995"/>
                  <a:pt x="109601" y="75565"/>
                  <a:pt x="109601" y="66675"/>
                </a:cubicBezTo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cn-d-4"/>
          <p:cNvSpPr txBox="1"/>
          <p:nvPr/>
        </p:nvSpPr>
        <p:spPr>
          <a:xfrm>
            <a:off x="6604000" y="4523105"/>
            <a:ext cx="92202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自研平台上线</a:t>
            </a:r>
          </a:p>
        </p:txBody>
      </p:sp>
      <p:sp>
        <p:nvSpPr>
          <p:cNvPr id="78" name="cr-d-4"/>
          <p:cNvSpPr/>
          <p:nvPr/>
        </p:nvSpPr>
        <p:spPr>
          <a:xfrm>
            <a:off x="6390640" y="4806950"/>
            <a:ext cx="215900" cy="15240"/>
          </a:xfrm>
          <a:prstGeom prst="roundRect">
            <a:avLst>
              <a:gd name="adj" fmla="val 50000"/>
            </a:avLst>
          </a:prstGeom>
          <a:solidFill>
            <a:srgbClr val="FFFFFF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cp-d-4-1"/>
          <p:cNvSpPr txBox="1"/>
          <p:nvPr/>
        </p:nvSpPr>
        <p:spPr>
          <a:xfrm>
            <a:off x="6379210" y="4892516"/>
            <a:ext cx="76581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DCE8F7"/>
                </a:solidFill>
                <a:latin typeface="微软雅黑"/>
                <a:ea typeface="微软雅黑"/>
                <a:cs typeface="微软雅黑"/>
              </a:rPr>
              <a:t>全流程数据打通</a:t>
            </a:r>
          </a:p>
        </p:txBody>
      </p:sp>
      <p:cxnSp>
        <p:nvCxnSpPr>
          <p:cNvPr id="80" name="lead-d-4"/>
          <p:cNvCxnSpPr/>
          <p:nvPr/>
        </p:nvCxnSpPr>
        <p:spPr>
          <a:xfrm flipV="1">
            <a:off x="6974840" y="3365500"/>
            <a:ext cx="0" cy="984250"/>
          </a:xfrm>
          <a:prstGeom prst="line">
            <a:avLst/>
          </a:prstGeom>
          <a:ln w="10160" cap="rnd">
            <a:solidFill>
              <a:srgbClr val="2E77C2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yn-5"/>
          <p:cNvSpPr/>
          <p:nvPr/>
        </p:nvSpPr>
        <p:spPr>
          <a:xfrm>
            <a:off x="8516620" y="3378200"/>
            <a:ext cx="431800" cy="431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ynr-5"/>
          <p:cNvSpPr/>
          <p:nvPr/>
        </p:nvSpPr>
        <p:spPr>
          <a:xfrm>
            <a:off x="8516620" y="3378200"/>
            <a:ext cx="431800" cy="431800"/>
          </a:xfrm>
          <a:prstGeom prst="ellipse">
            <a:avLst/>
          </a:prstGeom>
          <a:noFill/>
          <a:ln w="1397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ynt-5"/>
          <p:cNvSpPr txBox="1"/>
          <p:nvPr/>
        </p:nvSpPr>
        <p:spPr>
          <a:xfrm>
            <a:off x="8536750" y="3495897"/>
            <a:ext cx="391541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25">
                <a:solidFill>
                  <a:srgbClr val="4694D7"/>
                </a:solidFill>
                <a:latin typeface="Arial"/>
                <a:ea typeface="Arial"/>
                <a:cs typeface="Arial"/>
              </a:rPr>
              <a:t>2025</a:t>
            </a:r>
          </a:p>
        </p:txBody>
      </p:sp>
      <p:sp>
        <p:nvSpPr>
          <p:cNvPr id="84" name="c-u-5"/>
          <p:cNvSpPr/>
          <p:nvPr/>
        </p:nvSpPr>
        <p:spPr>
          <a:xfrm>
            <a:off x="7983220" y="1860550"/>
            <a:ext cx="1498600" cy="977900"/>
          </a:xfrm>
          <a:custGeom>
            <a:avLst/>
            <a:gdLst/>
            <a:ahLst/>
            <a:cxnLst/>
            <a:rect l="0" t="0" r="r" b="b"/>
            <a:pathLst>
              <a:path w="1498600" h="977900">
                <a:moveTo>
                  <a:pt x="101600" y="0"/>
                </a:moveTo>
                <a:lnTo>
                  <a:pt x="1397000" y="0"/>
                </a:lnTo>
                <a:cubicBezTo>
                  <a:pt x="1453134" y="0"/>
                  <a:pt x="1498600" y="45466"/>
                  <a:pt x="1498600" y="101600"/>
                </a:cubicBezTo>
                <a:lnTo>
                  <a:pt x="1498600" y="876300"/>
                </a:lnTo>
                <a:cubicBezTo>
                  <a:pt x="1498600" y="932434"/>
                  <a:pt x="1453134" y="977900"/>
                  <a:pt x="1397000" y="977900"/>
                </a:cubicBezTo>
                <a:lnTo>
                  <a:pt x="101600" y="977900"/>
                </a:lnTo>
                <a:cubicBezTo>
                  <a:pt x="45466" y="977900"/>
                  <a:pt x="0" y="932434"/>
                  <a:pt x="0" y="876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ccap-5"/>
          <p:cNvSpPr/>
          <p:nvPr/>
        </p:nvSpPr>
        <p:spPr>
          <a:xfrm>
            <a:off x="7983220" y="1860550"/>
            <a:ext cx="1498600" cy="38100"/>
          </a:xfrm>
          <a:custGeom>
            <a:avLst/>
            <a:gdLst/>
            <a:ahLst/>
            <a:cxnLst/>
            <a:rect l="0" t="0" r="r" b="b"/>
            <a:pathLst>
              <a:path w="1498600" h="38100">
                <a:moveTo>
                  <a:pt x="19050" y="0"/>
                </a:moveTo>
                <a:lnTo>
                  <a:pt x="1479550" y="0"/>
                </a:lnTo>
                <a:cubicBezTo>
                  <a:pt x="1490091" y="0"/>
                  <a:pt x="1498600" y="8509"/>
                  <a:pt x="1498600" y="19050"/>
                </a:cubicBezTo>
                <a:lnTo>
                  <a:pt x="1498600" y="19050"/>
                </a:lnTo>
                <a:cubicBezTo>
                  <a:pt x="1498600" y="29591"/>
                  <a:pt x="1490091" y="38100"/>
                  <a:pt x="14795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icon-chain"/>
          <p:cNvSpPr/>
          <p:nvPr/>
        </p:nvSpPr>
        <p:spPr>
          <a:xfrm>
            <a:off x="8140748" y="2081578"/>
            <a:ext cx="116745" cy="116745"/>
          </a:xfrm>
          <a:custGeom>
            <a:avLst/>
            <a:gdLst/>
            <a:ahLst/>
            <a:cxnLst/>
            <a:rect l="0" t="0" r="r" b="b"/>
            <a:pathLst>
              <a:path w="116745" h="116745">
                <a:moveTo>
                  <a:pt x="46498" y="70247"/>
                </a:moveTo>
                <a:cubicBezTo>
                  <a:pt x="52086" y="75898"/>
                  <a:pt x="59706" y="79073"/>
                  <a:pt x="67643" y="79073"/>
                </a:cubicBezTo>
                <a:cubicBezTo>
                  <a:pt x="75581" y="79073"/>
                  <a:pt x="83201" y="75898"/>
                  <a:pt x="88725" y="70247"/>
                </a:cubicBezTo>
                <a:lnTo>
                  <a:pt x="108029" y="50943"/>
                </a:lnTo>
                <a:cubicBezTo>
                  <a:pt x="115522" y="43450"/>
                  <a:pt x="118507" y="32401"/>
                  <a:pt x="115713" y="22114"/>
                </a:cubicBezTo>
                <a:cubicBezTo>
                  <a:pt x="112982" y="11827"/>
                  <a:pt x="104918" y="3762"/>
                  <a:pt x="94631" y="1032"/>
                </a:cubicBezTo>
                <a:cubicBezTo>
                  <a:pt x="84344" y="-1762"/>
                  <a:pt x="73295" y="1222"/>
                  <a:pt x="65802" y="8715"/>
                </a:cubicBezTo>
                <a:lnTo>
                  <a:pt x="56150" y="18367"/>
                </a:lnTo>
                <a:moveTo>
                  <a:pt x="70247" y="46498"/>
                </a:moveTo>
                <a:cubicBezTo>
                  <a:pt x="64659" y="40846"/>
                  <a:pt x="57039" y="37671"/>
                  <a:pt x="49101" y="37671"/>
                </a:cubicBezTo>
                <a:cubicBezTo>
                  <a:pt x="41164" y="37671"/>
                  <a:pt x="33544" y="40846"/>
                  <a:pt x="28019" y="46498"/>
                </a:cubicBezTo>
                <a:lnTo>
                  <a:pt x="8715" y="65802"/>
                </a:lnTo>
                <a:cubicBezTo>
                  <a:pt x="-2905" y="77422"/>
                  <a:pt x="-2905" y="96345"/>
                  <a:pt x="8715" y="108029"/>
                </a:cubicBezTo>
                <a:cubicBezTo>
                  <a:pt x="20399" y="119650"/>
                  <a:pt x="39322" y="119650"/>
                  <a:pt x="50943" y="108029"/>
                </a:cubicBezTo>
                <a:lnTo>
                  <a:pt x="60595" y="98377"/>
                </a:lnTo>
              </a:path>
            </a:pathLst>
          </a:cu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cn-u-5"/>
          <p:cNvSpPr txBox="1"/>
          <p:nvPr/>
        </p:nvSpPr>
        <p:spPr>
          <a:xfrm>
            <a:off x="8361680" y="203390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整合加速</a:t>
            </a:r>
          </a:p>
        </p:txBody>
      </p:sp>
      <p:sp>
        <p:nvSpPr>
          <p:cNvPr id="88" name="cr-u-5"/>
          <p:cNvSpPr/>
          <p:nvPr/>
        </p:nvSpPr>
        <p:spPr>
          <a:xfrm>
            <a:off x="8148320" y="2317750"/>
            <a:ext cx="215900" cy="15240"/>
          </a:xfrm>
          <a:prstGeom prst="roundRect">
            <a:avLst>
              <a:gd name="adj" fmla="val 50000"/>
            </a:avLst>
          </a:prstGeom>
          <a:solidFill>
            <a:srgbClr val="4694D7">
              <a:alpha val="8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cp-u-5-1"/>
          <p:cNvSpPr txBox="1"/>
          <p:nvPr/>
        </p:nvSpPr>
        <p:spPr>
          <a:xfrm>
            <a:off x="8136890" y="2403316"/>
            <a:ext cx="8896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头部集中度达 38%</a:t>
            </a:r>
          </a:p>
        </p:txBody>
      </p:sp>
      <p:cxnSp>
        <p:nvCxnSpPr>
          <p:cNvPr id="90" name="lead-u-5"/>
          <p:cNvCxnSpPr/>
          <p:nvPr/>
        </p:nvCxnSpPr>
        <p:spPr>
          <a:xfrm>
            <a:off x="8732520" y="2838450"/>
            <a:ext cx="0" cy="984250"/>
          </a:xfrm>
          <a:prstGeom prst="line">
            <a:avLst/>
          </a:prstGeom>
          <a:ln w="10160" cap="rnd">
            <a:solidFill>
              <a:srgbClr val="4694D7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c-d-5"/>
          <p:cNvSpPr/>
          <p:nvPr/>
        </p:nvSpPr>
        <p:spPr>
          <a:xfrm>
            <a:off x="7983220" y="4349750"/>
            <a:ext cx="1498600" cy="977900"/>
          </a:xfrm>
          <a:custGeom>
            <a:avLst/>
            <a:gdLst/>
            <a:ahLst/>
            <a:cxnLst/>
            <a:rect l="0" t="0" r="r" b="b"/>
            <a:pathLst>
              <a:path w="1498600" h="977900">
                <a:moveTo>
                  <a:pt x="101600" y="0"/>
                </a:moveTo>
                <a:lnTo>
                  <a:pt x="1397000" y="0"/>
                </a:lnTo>
                <a:cubicBezTo>
                  <a:pt x="1453134" y="0"/>
                  <a:pt x="1498600" y="45466"/>
                  <a:pt x="1498600" y="101600"/>
                </a:cubicBezTo>
                <a:lnTo>
                  <a:pt x="1498600" y="876300"/>
                </a:lnTo>
                <a:cubicBezTo>
                  <a:pt x="1498600" y="932434"/>
                  <a:pt x="1453134" y="977900"/>
                  <a:pt x="1397000" y="977900"/>
                </a:cubicBezTo>
                <a:lnTo>
                  <a:pt x="101600" y="977900"/>
                </a:lnTo>
                <a:cubicBezTo>
                  <a:pt x="45466" y="977900"/>
                  <a:pt x="0" y="932434"/>
                  <a:pt x="0" y="876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60A3DD"/>
              </a:gs>
              <a:gs pos="100000">
                <a:srgbClr val="4694D7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icon-network"/>
          <p:cNvSpPr/>
          <p:nvPr/>
        </p:nvSpPr>
        <p:spPr>
          <a:xfrm>
            <a:off x="8176895" y="4602480"/>
            <a:ext cx="44450" cy="51880"/>
          </a:xfrm>
          <a:custGeom>
            <a:avLst/>
            <a:gdLst/>
            <a:ahLst/>
            <a:cxnLst/>
            <a:rect l="0" t="0" r="r" b="b"/>
            <a:pathLst>
              <a:path w="44450" h="51880">
                <a:moveTo>
                  <a:pt x="22225" y="0"/>
                </a:moveTo>
                <a:lnTo>
                  <a:pt x="22225" y="23686"/>
                </a:lnTo>
                <a:moveTo>
                  <a:pt x="0" y="51880"/>
                </a:moveTo>
                <a:lnTo>
                  <a:pt x="16319" y="32575"/>
                </a:lnTo>
                <a:moveTo>
                  <a:pt x="44450" y="51880"/>
                </a:moveTo>
                <a:lnTo>
                  <a:pt x="28131" y="32575"/>
                </a:lnTo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icon-network"/>
          <p:cNvSpPr/>
          <p:nvPr/>
        </p:nvSpPr>
        <p:spPr>
          <a:xfrm>
            <a:off x="8179858" y="4565438"/>
            <a:ext cx="38523" cy="38523"/>
          </a:xfrm>
          <a:prstGeom prst="ellipse">
            <a:avLst/>
          </a:pr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icon-network"/>
          <p:cNvSpPr/>
          <p:nvPr/>
        </p:nvSpPr>
        <p:spPr>
          <a:xfrm>
            <a:off x="8142817" y="4649893"/>
            <a:ext cx="38523" cy="38523"/>
          </a:xfrm>
          <a:prstGeom prst="ellipse">
            <a:avLst/>
          </a:pr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icon-network"/>
          <p:cNvSpPr/>
          <p:nvPr/>
        </p:nvSpPr>
        <p:spPr>
          <a:xfrm>
            <a:off x="8216900" y="4649893"/>
            <a:ext cx="38523" cy="38523"/>
          </a:xfrm>
          <a:prstGeom prst="ellipse">
            <a:avLst/>
          </a:pr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cn-d-5"/>
          <p:cNvSpPr txBox="1"/>
          <p:nvPr/>
        </p:nvSpPr>
        <p:spPr>
          <a:xfrm>
            <a:off x="8361680" y="4523105"/>
            <a:ext cx="92202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并购区域伙伴</a:t>
            </a:r>
          </a:p>
        </p:txBody>
      </p:sp>
      <p:sp>
        <p:nvSpPr>
          <p:cNvPr id="97" name="cr-d-5"/>
          <p:cNvSpPr/>
          <p:nvPr/>
        </p:nvSpPr>
        <p:spPr>
          <a:xfrm>
            <a:off x="8148320" y="4806950"/>
            <a:ext cx="215900" cy="15240"/>
          </a:xfrm>
          <a:prstGeom prst="roundRect">
            <a:avLst>
              <a:gd name="adj" fmla="val 50000"/>
            </a:avLst>
          </a:prstGeom>
          <a:solidFill>
            <a:srgbClr val="FFFFFF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cp-d-5-1"/>
          <p:cNvSpPr txBox="1"/>
          <p:nvPr/>
        </p:nvSpPr>
        <p:spPr>
          <a:xfrm>
            <a:off x="8136890" y="4892516"/>
            <a:ext cx="8629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DCE8F7"/>
                </a:solidFill>
                <a:latin typeface="微软雅黑"/>
                <a:ea typeface="微软雅黑"/>
                <a:cs typeface="微软雅黑"/>
              </a:rPr>
              <a:t>补齐华南交付网络</a:t>
            </a:r>
          </a:p>
        </p:txBody>
      </p:sp>
      <p:cxnSp>
        <p:nvCxnSpPr>
          <p:cNvPr id="99" name="lead-d-5"/>
          <p:cNvCxnSpPr/>
          <p:nvPr/>
        </p:nvCxnSpPr>
        <p:spPr>
          <a:xfrm flipV="1">
            <a:off x="8732520" y="3365500"/>
            <a:ext cx="0" cy="984250"/>
          </a:xfrm>
          <a:prstGeom prst="line">
            <a:avLst/>
          </a:prstGeom>
          <a:ln w="10160" cap="rnd">
            <a:solidFill>
              <a:srgbClr val="4694D7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0" name="yn-6"/>
          <p:cNvSpPr/>
          <p:nvPr/>
        </p:nvSpPr>
        <p:spPr>
          <a:xfrm>
            <a:off x="10274300" y="3378200"/>
            <a:ext cx="431800" cy="431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ynr-6"/>
          <p:cNvSpPr/>
          <p:nvPr/>
        </p:nvSpPr>
        <p:spPr>
          <a:xfrm>
            <a:off x="10274300" y="3378200"/>
            <a:ext cx="431800" cy="431800"/>
          </a:xfrm>
          <a:prstGeom prst="ellipse">
            <a:avLst/>
          </a:prstGeom>
          <a:noFill/>
          <a:ln w="1397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2" name="ynt-6"/>
          <p:cNvSpPr txBox="1"/>
          <p:nvPr/>
        </p:nvSpPr>
        <p:spPr>
          <a:xfrm>
            <a:off x="10294430" y="3495897"/>
            <a:ext cx="391541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25">
                <a:solidFill>
                  <a:srgbClr val="54A2DF"/>
                </a:solidFill>
                <a:latin typeface="Arial"/>
                <a:ea typeface="Arial"/>
                <a:cs typeface="Arial"/>
              </a:rPr>
              <a:t>2026</a:t>
            </a:r>
          </a:p>
        </p:txBody>
      </p:sp>
      <p:sp>
        <p:nvSpPr>
          <p:cNvPr id="103" name="c-u-6"/>
          <p:cNvSpPr/>
          <p:nvPr/>
        </p:nvSpPr>
        <p:spPr>
          <a:xfrm>
            <a:off x="9740900" y="1860550"/>
            <a:ext cx="1498600" cy="977900"/>
          </a:xfrm>
          <a:custGeom>
            <a:avLst/>
            <a:gdLst/>
            <a:ahLst/>
            <a:cxnLst/>
            <a:rect l="0" t="0" r="r" b="b"/>
            <a:pathLst>
              <a:path w="1498600" h="977900">
                <a:moveTo>
                  <a:pt x="101600" y="0"/>
                </a:moveTo>
                <a:lnTo>
                  <a:pt x="1397000" y="0"/>
                </a:lnTo>
                <a:cubicBezTo>
                  <a:pt x="1453134" y="0"/>
                  <a:pt x="1498600" y="45466"/>
                  <a:pt x="1498600" y="101600"/>
                </a:cubicBezTo>
                <a:lnTo>
                  <a:pt x="1498600" y="876300"/>
                </a:lnTo>
                <a:cubicBezTo>
                  <a:pt x="1498600" y="932434"/>
                  <a:pt x="1453134" y="977900"/>
                  <a:pt x="1397000" y="977900"/>
                </a:cubicBezTo>
                <a:lnTo>
                  <a:pt x="101600" y="977900"/>
                </a:lnTo>
                <a:cubicBezTo>
                  <a:pt x="45466" y="977900"/>
                  <a:pt x="0" y="932434"/>
                  <a:pt x="0" y="876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4" name="ccap-6"/>
          <p:cNvSpPr/>
          <p:nvPr/>
        </p:nvSpPr>
        <p:spPr>
          <a:xfrm>
            <a:off x="9740900" y="1860550"/>
            <a:ext cx="1498600" cy="38100"/>
          </a:xfrm>
          <a:custGeom>
            <a:avLst/>
            <a:gdLst/>
            <a:ahLst/>
            <a:cxnLst/>
            <a:rect l="0" t="0" r="r" b="b"/>
            <a:pathLst>
              <a:path w="1498600" h="38100">
                <a:moveTo>
                  <a:pt x="19050" y="0"/>
                </a:moveTo>
                <a:lnTo>
                  <a:pt x="1479550" y="0"/>
                </a:lnTo>
                <a:cubicBezTo>
                  <a:pt x="1490091" y="0"/>
                  <a:pt x="1498600" y="8509"/>
                  <a:pt x="1498600" y="19050"/>
                </a:cubicBezTo>
                <a:lnTo>
                  <a:pt x="1498600" y="19050"/>
                </a:lnTo>
                <a:cubicBezTo>
                  <a:pt x="1498600" y="29591"/>
                  <a:pt x="1490091" y="38100"/>
                  <a:pt x="14795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icon-doc"/>
          <p:cNvSpPr/>
          <p:nvPr/>
        </p:nvSpPr>
        <p:spPr>
          <a:xfrm>
            <a:off x="9916795" y="2077720"/>
            <a:ext cx="82994" cy="124460"/>
          </a:xfrm>
          <a:custGeom>
            <a:avLst/>
            <a:gdLst/>
            <a:ahLst/>
            <a:cxnLst/>
            <a:rect l="0" t="0" r="r" b="b"/>
            <a:pathLst>
              <a:path w="82994" h="124460">
                <a:moveTo>
                  <a:pt x="0" y="0"/>
                </a:moveTo>
                <a:lnTo>
                  <a:pt x="53340" y="0"/>
                </a:lnTo>
                <a:lnTo>
                  <a:pt x="82994" y="29655"/>
                </a:lnTo>
                <a:lnTo>
                  <a:pt x="82994" y="124460"/>
                </a:lnTo>
                <a:lnTo>
                  <a:pt x="0" y="124460"/>
                </a:lnTo>
                <a:close/>
                <a:moveTo>
                  <a:pt x="53340" y="0"/>
                </a:moveTo>
                <a:lnTo>
                  <a:pt x="53340" y="29655"/>
                </a:lnTo>
                <a:lnTo>
                  <a:pt x="82994" y="29655"/>
                </a:lnTo>
                <a:moveTo>
                  <a:pt x="19240" y="65215"/>
                </a:moveTo>
                <a:lnTo>
                  <a:pt x="63690" y="65215"/>
                </a:lnTo>
                <a:moveTo>
                  <a:pt x="19240" y="90361"/>
                </a:moveTo>
                <a:lnTo>
                  <a:pt x="63690" y="90361"/>
                </a:lnTo>
              </a:path>
            </a:pathLst>
          </a:custGeom>
          <a:noFill/>
          <a:ln w="1270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6" name="cn-u-6"/>
          <p:cNvSpPr txBox="1"/>
          <p:nvPr/>
        </p:nvSpPr>
        <p:spPr>
          <a:xfrm>
            <a:off x="10119360" y="203390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标准统一</a:t>
            </a:r>
          </a:p>
        </p:txBody>
      </p:sp>
      <p:sp>
        <p:nvSpPr>
          <p:cNvPr id="107" name="cr-u-6"/>
          <p:cNvSpPr/>
          <p:nvPr/>
        </p:nvSpPr>
        <p:spPr>
          <a:xfrm>
            <a:off x="9906000" y="2317750"/>
            <a:ext cx="215900" cy="15240"/>
          </a:xfrm>
          <a:prstGeom prst="roundRect">
            <a:avLst>
              <a:gd name="adj" fmla="val 50000"/>
            </a:avLst>
          </a:prstGeom>
          <a:solidFill>
            <a:srgbClr val="54A2DF">
              <a:alpha val="8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8" name="cp-u-6-1"/>
          <p:cNvSpPr txBox="1"/>
          <p:nvPr/>
        </p:nvSpPr>
        <p:spPr>
          <a:xfrm>
            <a:off x="9894570" y="2403316"/>
            <a:ext cx="8629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首批行业标准发布</a:t>
            </a:r>
          </a:p>
        </p:txBody>
      </p:sp>
      <p:cxnSp>
        <p:nvCxnSpPr>
          <p:cNvPr id="109" name="lead-u-6"/>
          <p:cNvCxnSpPr/>
          <p:nvPr/>
        </p:nvCxnSpPr>
        <p:spPr>
          <a:xfrm>
            <a:off x="10490200" y="2838450"/>
            <a:ext cx="0" cy="984250"/>
          </a:xfrm>
          <a:prstGeom prst="line">
            <a:avLst/>
          </a:prstGeom>
          <a:ln w="10160" cap="rnd">
            <a:solidFill>
              <a:srgbClr val="54A2D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0" name="c-d-6"/>
          <p:cNvSpPr/>
          <p:nvPr/>
        </p:nvSpPr>
        <p:spPr>
          <a:xfrm>
            <a:off x="9740900" y="4349750"/>
            <a:ext cx="1498600" cy="977900"/>
          </a:xfrm>
          <a:custGeom>
            <a:avLst/>
            <a:gdLst/>
            <a:ahLst/>
            <a:cxnLst/>
            <a:rect l="0" t="0" r="r" b="b"/>
            <a:pathLst>
              <a:path w="1498600" h="977900">
                <a:moveTo>
                  <a:pt x="101600" y="0"/>
                </a:moveTo>
                <a:lnTo>
                  <a:pt x="1397000" y="0"/>
                </a:lnTo>
                <a:cubicBezTo>
                  <a:pt x="1453134" y="0"/>
                  <a:pt x="1498600" y="45466"/>
                  <a:pt x="1498600" y="101600"/>
                </a:cubicBezTo>
                <a:lnTo>
                  <a:pt x="1498600" y="876300"/>
                </a:lnTo>
                <a:cubicBezTo>
                  <a:pt x="1498600" y="932434"/>
                  <a:pt x="1453134" y="977900"/>
                  <a:pt x="1397000" y="977900"/>
                </a:cubicBezTo>
                <a:lnTo>
                  <a:pt x="101600" y="977900"/>
                </a:lnTo>
                <a:cubicBezTo>
                  <a:pt x="45466" y="977900"/>
                  <a:pt x="0" y="932434"/>
                  <a:pt x="0" y="876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6CAFE3"/>
              </a:gs>
              <a:gs pos="100000">
                <a:srgbClr val="54A2DF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1" name="icon-award"/>
          <p:cNvSpPr/>
          <p:nvPr/>
        </p:nvSpPr>
        <p:spPr>
          <a:xfrm>
            <a:off x="9925685" y="4648390"/>
            <a:ext cx="62230" cy="42989"/>
          </a:xfrm>
          <a:custGeom>
            <a:avLst/>
            <a:gdLst/>
            <a:ahLst/>
            <a:cxnLst/>
            <a:rect l="0" t="0" r="r" b="b"/>
            <a:pathLst>
              <a:path w="62230" h="42989">
                <a:moveTo>
                  <a:pt x="11875" y="0"/>
                </a:moveTo>
                <a:lnTo>
                  <a:pt x="0" y="42989"/>
                </a:lnTo>
                <a:lnTo>
                  <a:pt x="31115" y="26670"/>
                </a:lnTo>
                <a:lnTo>
                  <a:pt x="62230" y="42989"/>
                </a:lnTo>
                <a:lnTo>
                  <a:pt x="50356" y="0"/>
                </a:lnTo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2" name="icon-award"/>
          <p:cNvSpPr/>
          <p:nvPr/>
        </p:nvSpPr>
        <p:spPr>
          <a:xfrm>
            <a:off x="9915313" y="4568402"/>
            <a:ext cx="82973" cy="82973"/>
          </a:xfrm>
          <a:prstGeom prst="ellipse">
            <a:avLst/>
          </a:pr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3" name="cn-d-6"/>
          <p:cNvSpPr txBox="1"/>
          <p:nvPr/>
        </p:nvSpPr>
        <p:spPr>
          <a:xfrm>
            <a:off x="10119360" y="4523105"/>
            <a:ext cx="92202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参与标准制定</a:t>
            </a:r>
          </a:p>
        </p:txBody>
      </p:sp>
      <p:sp>
        <p:nvSpPr>
          <p:cNvPr id="114" name="cr-d-6"/>
          <p:cNvSpPr/>
          <p:nvPr/>
        </p:nvSpPr>
        <p:spPr>
          <a:xfrm>
            <a:off x="9906000" y="4806950"/>
            <a:ext cx="215900" cy="15240"/>
          </a:xfrm>
          <a:prstGeom prst="roundRect">
            <a:avLst>
              <a:gd name="adj" fmla="val 50000"/>
            </a:avLst>
          </a:prstGeom>
          <a:solidFill>
            <a:srgbClr val="FFFFFF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5" name="cp-d-6-1"/>
          <p:cNvSpPr txBox="1"/>
          <p:nvPr/>
        </p:nvSpPr>
        <p:spPr>
          <a:xfrm>
            <a:off x="9894570" y="4892516"/>
            <a:ext cx="8629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DCE8F7"/>
                </a:solidFill>
                <a:latin typeface="微软雅黑"/>
                <a:ea typeface="微软雅黑"/>
                <a:cs typeface="微软雅黑"/>
              </a:rPr>
              <a:t>牵头两项团体标准</a:t>
            </a:r>
          </a:p>
        </p:txBody>
      </p:sp>
      <p:cxnSp>
        <p:nvCxnSpPr>
          <p:cNvPr id="116" name="lead-d-6"/>
          <p:cNvCxnSpPr/>
          <p:nvPr/>
        </p:nvCxnSpPr>
        <p:spPr>
          <a:xfrm flipV="1">
            <a:off x="10490200" y="3365500"/>
            <a:ext cx="0" cy="984250"/>
          </a:xfrm>
          <a:prstGeom prst="line">
            <a:avLst/>
          </a:prstGeom>
          <a:ln w="10160" cap="rnd">
            <a:solidFill>
              <a:srgbClr val="54A2D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7" name="sum"/>
          <p:cNvSpPr/>
          <p:nvPr/>
        </p:nvSpPr>
        <p:spPr>
          <a:xfrm>
            <a:off x="952500" y="5816600"/>
            <a:ext cx="10287000" cy="495300"/>
          </a:xfrm>
          <a:custGeom>
            <a:avLst/>
            <a:gdLst/>
            <a:ahLst/>
            <a:cxnLst/>
            <a:rect l="0" t="0" r="r" b="b"/>
            <a:pathLst>
              <a:path w="10287000" h="4953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393700"/>
                </a:lnTo>
                <a:cubicBezTo>
                  <a:pt x="10287000" y="449834"/>
                  <a:pt x="10241534" y="495300"/>
                  <a:pt x="10185400" y="495300"/>
                </a:cubicBezTo>
                <a:lnTo>
                  <a:pt x="101600" y="495300"/>
                </a:lnTo>
                <a:cubicBezTo>
                  <a:pt x="45466" y="495300"/>
                  <a:pt x="0" y="449834"/>
                  <a:pt x="0" y="3937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8" name="sum-bar"/>
          <p:cNvSpPr/>
          <p:nvPr/>
        </p:nvSpPr>
        <p:spPr>
          <a:xfrm>
            <a:off x="952500" y="5816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9" name="sum-h"/>
          <p:cNvSpPr txBox="1"/>
          <p:nvPr/>
        </p:nvSpPr>
        <p:spPr>
          <a:xfrm>
            <a:off x="1141222" y="59596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节奏判断</a:t>
            </a:r>
          </a:p>
        </p:txBody>
      </p:sp>
      <p:sp>
        <p:nvSpPr>
          <p:cNvPr id="120" name="sum-p"/>
          <p:cNvSpPr txBox="1"/>
          <p:nvPr/>
        </p:nvSpPr>
        <p:spPr>
          <a:xfrm>
            <a:off x="2082165" y="5971461"/>
            <a:ext cx="605694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企业动作平均领先行业趋势约 2 个季度；2024 年自研平台上线是拉开差距的关键节点，2026 年进入标准输出阶段。</a:t>
            </a:r>
          </a:p>
        </p:txBody>
      </p:sp>
      <p:cxnSp>
        <p:nvCxnSpPr>
          <p:cNvPr id="121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2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双向时间轴 · 六年对照</a:t>
            </a:r>
          </a:p>
        </p:txBody>
      </p:sp>
      <p:sp>
        <p:nvSpPr>
          <p:cNvPr id="123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投入产出转化链路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226542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INPUT · PROCESS · OUTPUT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666099" y="673132"/>
            <a:ext cx="29546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四类投入经过三道加工环节，最终转化为四项可度量成果</a:t>
            </a:r>
          </a:p>
        </p:txBody>
      </p:sp>
      <p:sp>
        <p:nvSpPr>
          <p:cNvPr id="10" name="mid"/>
          <p:cNvSpPr/>
          <p:nvPr/>
        </p:nvSpPr>
        <p:spPr>
          <a:xfrm>
            <a:off x="3594100" y="1663700"/>
            <a:ext cx="5003800" cy="4013200"/>
          </a:xfrm>
          <a:custGeom>
            <a:avLst/>
            <a:gdLst/>
            <a:ahLst/>
            <a:cxnLst/>
            <a:rect l="0" t="0" r="r" b="b"/>
            <a:pathLst>
              <a:path w="5003800" h="4013200">
                <a:moveTo>
                  <a:pt x="152400" y="0"/>
                </a:moveTo>
                <a:lnTo>
                  <a:pt x="4851400" y="0"/>
                </a:lnTo>
                <a:cubicBezTo>
                  <a:pt x="4935601" y="0"/>
                  <a:pt x="5003800" y="68199"/>
                  <a:pt x="5003800" y="152400"/>
                </a:cubicBezTo>
                <a:lnTo>
                  <a:pt x="5003800" y="3860800"/>
                </a:lnTo>
                <a:cubicBezTo>
                  <a:pt x="5003800" y="3945001"/>
                  <a:pt x="4935601" y="4013200"/>
                  <a:pt x="4851400" y="4013200"/>
                </a:cubicBezTo>
                <a:lnTo>
                  <a:pt x="152400" y="4013200"/>
                </a:lnTo>
                <a:cubicBezTo>
                  <a:pt x="68199" y="4013200"/>
                  <a:pt x="0" y="3945001"/>
                  <a:pt x="0" y="38608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mid-cap"/>
          <p:cNvSpPr/>
          <p:nvPr/>
        </p:nvSpPr>
        <p:spPr>
          <a:xfrm>
            <a:off x="3594100" y="1663700"/>
            <a:ext cx="5003800" cy="50800"/>
          </a:xfrm>
          <a:custGeom>
            <a:avLst/>
            <a:gdLst/>
            <a:ahLst/>
            <a:cxnLst/>
            <a:rect l="0" t="0" r="r" b="b"/>
            <a:pathLst>
              <a:path w="5003800" h="50800">
                <a:moveTo>
                  <a:pt x="25400" y="0"/>
                </a:moveTo>
                <a:lnTo>
                  <a:pt x="4978400" y="0"/>
                </a:lnTo>
                <a:cubicBezTo>
                  <a:pt x="4992434" y="0"/>
                  <a:pt x="5003800" y="11367"/>
                  <a:pt x="5003800" y="25400"/>
                </a:cubicBezTo>
                <a:lnTo>
                  <a:pt x="5003800" y="25400"/>
                </a:lnTo>
                <a:cubicBezTo>
                  <a:pt x="5003800" y="39433"/>
                  <a:pt x="4992434" y="50800"/>
                  <a:pt x="4978400" y="50800"/>
                </a:cubicBezTo>
                <a:lnTo>
                  <a:pt x="25400" y="50800"/>
                </a:lnTo>
                <a:cubicBezTo>
                  <a:pt x="11366" y="50800"/>
                  <a:pt x="0" y="39433"/>
                  <a:pt x="0" y="25400"/>
                </a:cubicBezTo>
                <a:lnTo>
                  <a:pt x="0" y="25400"/>
                </a:lnTo>
                <a:cubicBezTo>
                  <a:pt x="0" y="11367"/>
                  <a:pt x="11366" y="0"/>
                  <a:pt x="254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mid-h"/>
          <p:cNvSpPr txBox="1"/>
          <p:nvPr/>
        </p:nvSpPr>
        <p:spPr>
          <a:xfrm>
            <a:off x="5413375" y="1848644"/>
            <a:ext cx="1365250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加工与增值环节</a:t>
            </a:r>
          </a:p>
        </p:txBody>
      </p:sp>
      <p:sp>
        <p:nvSpPr>
          <p:cNvPr id="13" name="mid-en"/>
          <p:cNvSpPr txBox="1"/>
          <p:nvPr/>
        </p:nvSpPr>
        <p:spPr>
          <a:xfrm>
            <a:off x="5803964" y="2138108"/>
            <a:ext cx="58407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75">
                <a:solidFill>
                  <a:srgbClr val="7E93AE"/>
                </a:solidFill>
                <a:latin typeface="Arial"/>
                <a:ea typeface="Arial"/>
                <a:cs typeface="Arial"/>
              </a:rPr>
              <a:t>PROCESS</a:t>
            </a:r>
          </a:p>
        </p:txBody>
      </p:sp>
      <p:sp>
        <p:nvSpPr>
          <p:cNvPr id="14" name="pr-1"/>
          <p:cNvSpPr/>
          <p:nvPr/>
        </p:nvSpPr>
        <p:spPr>
          <a:xfrm>
            <a:off x="3873500" y="2476500"/>
            <a:ext cx="4445000" cy="812800"/>
          </a:xfrm>
          <a:custGeom>
            <a:avLst/>
            <a:gdLst/>
            <a:ahLst/>
            <a:cxnLst/>
            <a:rect l="0" t="0" r="r" b="b"/>
            <a:pathLst>
              <a:path w="4445000" h="812800">
                <a:moveTo>
                  <a:pt x="114300" y="0"/>
                </a:moveTo>
                <a:lnTo>
                  <a:pt x="4330700" y="0"/>
                </a:lnTo>
                <a:cubicBezTo>
                  <a:pt x="4393819" y="0"/>
                  <a:pt x="4445000" y="51181"/>
                  <a:pt x="4445000" y="114300"/>
                </a:cubicBezTo>
                <a:lnTo>
                  <a:pt x="4445000" y="698500"/>
                </a:lnTo>
                <a:cubicBezTo>
                  <a:pt x="4445000" y="761619"/>
                  <a:pt x="4393819" y="812800"/>
                  <a:pt x="4330700" y="812800"/>
                </a:cubicBezTo>
                <a:lnTo>
                  <a:pt x="114300" y="812800"/>
                </a:lnTo>
                <a:cubicBezTo>
                  <a:pt x="51181" y="812800"/>
                  <a:pt x="0" y="761619"/>
                  <a:pt x="0" y="698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3465AA"/>
              </a:gs>
              <a:gs pos="100000">
                <a:srgbClr val="134C9C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icon-layers"/>
          <p:cNvSpPr/>
          <p:nvPr/>
        </p:nvSpPr>
        <p:spPr>
          <a:xfrm>
            <a:off x="4157154" y="2809113"/>
            <a:ext cx="143891" cy="149352"/>
          </a:xfrm>
          <a:custGeom>
            <a:avLst/>
            <a:gdLst/>
            <a:ahLst/>
            <a:cxnLst/>
            <a:rect l="0" t="0" r="r" b="b"/>
            <a:pathLst>
              <a:path w="143891" h="149352">
                <a:moveTo>
                  <a:pt x="71946" y="0"/>
                </a:moveTo>
                <a:lnTo>
                  <a:pt x="143891" y="37782"/>
                </a:lnTo>
                <a:lnTo>
                  <a:pt x="71946" y="75565"/>
                </a:lnTo>
                <a:lnTo>
                  <a:pt x="0" y="37782"/>
                </a:lnTo>
                <a:close/>
                <a:moveTo>
                  <a:pt x="0" y="75565"/>
                </a:moveTo>
                <a:lnTo>
                  <a:pt x="71946" y="113348"/>
                </a:lnTo>
                <a:lnTo>
                  <a:pt x="143891" y="75565"/>
                </a:lnTo>
                <a:moveTo>
                  <a:pt x="0" y="111569"/>
                </a:moveTo>
                <a:lnTo>
                  <a:pt x="71946" y="149352"/>
                </a:lnTo>
                <a:lnTo>
                  <a:pt x="143891" y="111569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prn-1"/>
          <p:cNvSpPr txBox="1"/>
          <p:nvPr/>
        </p:nvSpPr>
        <p:spPr>
          <a:xfrm>
            <a:off x="4476750" y="2648744"/>
            <a:ext cx="8413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需求聚合</a:t>
            </a:r>
          </a:p>
        </p:txBody>
      </p:sp>
      <p:sp>
        <p:nvSpPr>
          <p:cNvPr id="17" name="prp-1"/>
          <p:cNvSpPr txBox="1"/>
          <p:nvPr/>
        </p:nvSpPr>
        <p:spPr>
          <a:xfrm>
            <a:off x="4482465" y="2923461"/>
            <a:ext cx="12366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统一入口与优先级排序</a:t>
            </a:r>
          </a:p>
        </p:txBody>
      </p:sp>
      <p:sp>
        <p:nvSpPr>
          <p:cNvPr id="18" name="prno-1"/>
          <p:cNvSpPr txBox="1"/>
          <p:nvPr/>
        </p:nvSpPr>
        <p:spPr>
          <a:xfrm>
            <a:off x="7753350" y="2660332"/>
            <a:ext cx="38481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500" b="1">
                <a:solidFill>
                  <a:srgbClr val="FFFFFF">
                    <a:alpha val="45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19" name="pr-arr-1"/>
          <p:cNvSpPr/>
          <p:nvPr/>
        </p:nvSpPr>
        <p:spPr>
          <a:xfrm>
            <a:off x="6026150" y="3365500"/>
            <a:ext cx="139700" cy="76200"/>
          </a:xfrm>
          <a:custGeom>
            <a:avLst/>
            <a:gdLst/>
            <a:ahLst/>
            <a:cxnLst/>
            <a:rect l="0" t="0" r="r" b="b"/>
            <a:pathLst>
              <a:path w="139700" h="76200">
                <a:moveTo>
                  <a:pt x="0" y="0"/>
                </a:moveTo>
                <a:lnTo>
                  <a:pt x="69850" y="76200"/>
                </a:lnTo>
                <a:lnTo>
                  <a:pt x="139700" y="0"/>
                </a:lnTo>
              </a:path>
            </a:pathLst>
          </a:custGeom>
          <a:noFill/>
          <a:ln w="13970" cap="rnd">
            <a:solidFill>
              <a:srgbClr val="1B5AA8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pr-2"/>
          <p:cNvSpPr/>
          <p:nvPr/>
        </p:nvSpPr>
        <p:spPr>
          <a:xfrm>
            <a:off x="3873500" y="3505200"/>
            <a:ext cx="4445000" cy="812800"/>
          </a:xfrm>
          <a:custGeom>
            <a:avLst/>
            <a:gdLst/>
            <a:ahLst/>
            <a:cxnLst/>
            <a:rect l="0" t="0" r="r" b="b"/>
            <a:pathLst>
              <a:path w="4445000" h="812800">
                <a:moveTo>
                  <a:pt x="114300" y="0"/>
                </a:moveTo>
                <a:lnTo>
                  <a:pt x="4330700" y="0"/>
                </a:lnTo>
                <a:cubicBezTo>
                  <a:pt x="4393819" y="0"/>
                  <a:pt x="4445000" y="51181"/>
                  <a:pt x="4445000" y="114300"/>
                </a:cubicBezTo>
                <a:lnTo>
                  <a:pt x="4445000" y="698500"/>
                </a:lnTo>
                <a:cubicBezTo>
                  <a:pt x="4445000" y="761619"/>
                  <a:pt x="4393819" y="812800"/>
                  <a:pt x="4330700" y="812800"/>
                </a:cubicBezTo>
                <a:lnTo>
                  <a:pt x="114300" y="812800"/>
                </a:lnTo>
                <a:cubicBezTo>
                  <a:pt x="51181" y="812800"/>
                  <a:pt x="0" y="761619"/>
                  <a:pt x="0" y="698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437DC0"/>
              </a:gs>
              <a:gs pos="100000">
                <a:srgbClr val="2468B6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icon-factory"/>
          <p:cNvSpPr/>
          <p:nvPr/>
        </p:nvSpPr>
        <p:spPr>
          <a:xfrm>
            <a:off x="4151757" y="3877437"/>
            <a:ext cx="154686" cy="104330"/>
          </a:xfrm>
          <a:custGeom>
            <a:avLst/>
            <a:gdLst/>
            <a:ahLst/>
            <a:cxnLst/>
            <a:rect l="0" t="0" r="r" b="b"/>
            <a:pathLst>
              <a:path w="154686" h="104330">
                <a:moveTo>
                  <a:pt x="0" y="104330"/>
                </a:moveTo>
                <a:lnTo>
                  <a:pt x="0" y="25146"/>
                </a:lnTo>
                <a:lnTo>
                  <a:pt x="44958" y="52134"/>
                </a:lnTo>
                <a:lnTo>
                  <a:pt x="44958" y="25146"/>
                </a:lnTo>
                <a:lnTo>
                  <a:pt x="89916" y="52134"/>
                </a:lnTo>
                <a:lnTo>
                  <a:pt x="89916" y="0"/>
                </a:lnTo>
                <a:lnTo>
                  <a:pt x="134938" y="26988"/>
                </a:lnTo>
                <a:lnTo>
                  <a:pt x="134938" y="95313"/>
                </a:lnTo>
                <a:close/>
                <a:moveTo>
                  <a:pt x="0" y="104330"/>
                </a:moveTo>
                <a:lnTo>
                  <a:pt x="154686" y="104330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prn-2"/>
          <p:cNvSpPr txBox="1"/>
          <p:nvPr/>
        </p:nvSpPr>
        <p:spPr>
          <a:xfrm>
            <a:off x="4476750" y="3677444"/>
            <a:ext cx="1016000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标准化生产</a:t>
            </a:r>
          </a:p>
        </p:txBody>
      </p:sp>
      <p:sp>
        <p:nvSpPr>
          <p:cNvPr id="23" name="prp-2"/>
          <p:cNvSpPr txBox="1"/>
          <p:nvPr/>
        </p:nvSpPr>
        <p:spPr>
          <a:xfrm>
            <a:off x="4482465" y="39521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模块复用与质量管控</a:t>
            </a:r>
          </a:p>
        </p:txBody>
      </p:sp>
      <p:sp>
        <p:nvSpPr>
          <p:cNvPr id="24" name="prno-2"/>
          <p:cNvSpPr txBox="1"/>
          <p:nvPr/>
        </p:nvSpPr>
        <p:spPr>
          <a:xfrm>
            <a:off x="7753350" y="3689033"/>
            <a:ext cx="38481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500" b="1">
                <a:solidFill>
                  <a:srgbClr val="FFFFFF">
                    <a:alpha val="45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25" name="pr-arr-2"/>
          <p:cNvSpPr/>
          <p:nvPr/>
        </p:nvSpPr>
        <p:spPr>
          <a:xfrm>
            <a:off x="6026150" y="4394200"/>
            <a:ext cx="139700" cy="76200"/>
          </a:xfrm>
          <a:custGeom>
            <a:avLst/>
            <a:gdLst/>
            <a:ahLst/>
            <a:cxnLst/>
            <a:rect l="0" t="0" r="r" b="b"/>
            <a:pathLst>
              <a:path w="139700" h="76200">
                <a:moveTo>
                  <a:pt x="0" y="0"/>
                </a:moveTo>
                <a:lnTo>
                  <a:pt x="69850" y="76200"/>
                </a:lnTo>
                <a:lnTo>
                  <a:pt x="139700" y="0"/>
                </a:lnTo>
              </a:path>
            </a:pathLst>
          </a:custGeom>
          <a:noFill/>
          <a:ln w="13970" cap="rnd">
            <a:solidFill>
              <a:srgbClr val="1B5AA8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pr-3"/>
          <p:cNvSpPr/>
          <p:nvPr/>
        </p:nvSpPr>
        <p:spPr>
          <a:xfrm>
            <a:off x="3873500" y="4533900"/>
            <a:ext cx="4445000" cy="812800"/>
          </a:xfrm>
          <a:custGeom>
            <a:avLst/>
            <a:gdLst/>
            <a:ahLst/>
            <a:cxnLst/>
            <a:rect l="0" t="0" r="r" b="b"/>
            <a:pathLst>
              <a:path w="4445000" h="812800">
                <a:moveTo>
                  <a:pt x="114300" y="0"/>
                </a:moveTo>
                <a:lnTo>
                  <a:pt x="4330700" y="0"/>
                </a:lnTo>
                <a:cubicBezTo>
                  <a:pt x="4393819" y="0"/>
                  <a:pt x="4445000" y="51181"/>
                  <a:pt x="4445000" y="114300"/>
                </a:cubicBezTo>
                <a:lnTo>
                  <a:pt x="4445000" y="698500"/>
                </a:lnTo>
                <a:cubicBezTo>
                  <a:pt x="4445000" y="761619"/>
                  <a:pt x="4393819" y="812800"/>
                  <a:pt x="4330700" y="812800"/>
                </a:cubicBezTo>
                <a:lnTo>
                  <a:pt x="114300" y="812800"/>
                </a:lnTo>
                <a:cubicBezTo>
                  <a:pt x="51181" y="812800"/>
                  <a:pt x="0" y="761619"/>
                  <a:pt x="0" y="698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5596D4"/>
              </a:gs>
              <a:gs pos="100000">
                <a:srgbClr val="3985CD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icon-process"/>
          <p:cNvSpPr/>
          <p:nvPr/>
        </p:nvSpPr>
        <p:spPr>
          <a:xfrm>
            <a:off x="4162552" y="4904296"/>
            <a:ext cx="133096" cy="72009"/>
          </a:xfrm>
          <a:custGeom>
            <a:avLst/>
            <a:gdLst/>
            <a:ahLst/>
            <a:cxnLst/>
            <a:rect l="0" t="0" r="r" b="b"/>
            <a:pathLst>
              <a:path w="133096" h="72009">
                <a:moveTo>
                  <a:pt x="0" y="0"/>
                </a:moveTo>
                <a:lnTo>
                  <a:pt x="46736" y="0"/>
                </a:lnTo>
                <a:lnTo>
                  <a:pt x="46736" y="46800"/>
                </a:lnTo>
                <a:lnTo>
                  <a:pt x="0" y="46800"/>
                </a:lnTo>
                <a:close/>
                <a:moveTo>
                  <a:pt x="86360" y="25209"/>
                </a:moveTo>
                <a:lnTo>
                  <a:pt x="133096" y="25209"/>
                </a:lnTo>
                <a:lnTo>
                  <a:pt x="133096" y="72009"/>
                </a:lnTo>
                <a:lnTo>
                  <a:pt x="86360" y="72009"/>
                </a:lnTo>
                <a:close/>
                <a:moveTo>
                  <a:pt x="46736" y="23431"/>
                </a:moveTo>
                <a:lnTo>
                  <a:pt x="86360" y="23431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prn-3"/>
          <p:cNvSpPr txBox="1"/>
          <p:nvPr/>
        </p:nvSpPr>
        <p:spPr>
          <a:xfrm>
            <a:off x="4476750" y="4706144"/>
            <a:ext cx="1016000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交付与运营</a:t>
            </a:r>
          </a:p>
        </p:txBody>
      </p:sp>
      <p:sp>
        <p:nvSpPr>
          <p:cNvPr id="29" name="prp-3"/>
          <p:cNvSpPr txBox="1"/>
          <p:nvPr/>
        </p:nvSpPr>
        <p:spPr>
          <a:xfrm>
            <a:off x="4482465" y="4980861"/>
            <a:ext cx="12366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实施、陪跑与持续优化</a:t>
            </a:r>
          </a:p>
        </p:txBody>
      </p:sp>
      <p:sp>
        <p:nvSpPr>
          <p:cNvPr id="30" name="prno-3"/>
          <p:cNvSpPr txBox="1"/>
          <p:nvPr/>
        </p:nvSpPr>
        <p:spPr>
          <a:xfrm>
            <a:off x="7753350" y="4717732"/>
            <a:ext cx="38481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500" b="1">
                <a:solidFill>
                  <a:srgbClr val="FFFFFF">
                    <a:alpha val="45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31" name="side-h-1"/>
          <p:cNvSpPr txBox="1"/>
          <p:nvPr/>
        </p:nvSpPr>
        <p:spPr>
          <a:xfrm>
            <a:off x="941070" y="1406366"/>
            <a:ext cx="8616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投入 · INPUT</a:t>
            </a:r>
          </a:p>
        </p:txBody>
      </p:sp>
      <p:sp>
        <p:nvSpPr>
          <p:cNvPr id="32" name="c-1-1"/>
          <p:cNvSpPr/>
          <p:nvPr/>
        </p:nvSpPr>
        <p:spPr>
          <a:xfrm>
            <a:off x="952500" y="1790700"/>
            <a:ext cx="2032000" cy="812800"/>
          </a:xfrm>
          <a:custGeom>
            <a:avLst/>
            <a:gdLst/>
            <a:ahLst/>
            <a:cxnLst/>
            <a:rect l="0" t="0" r="r" b="b"/>
            <a:pathLst>
              <a:path w="2032000" h="812800">
                <a:moveTo>
                  <a:pt x="114300" y="0"/>
                </a:moveTo>
                <a:lnTo>
                  <a:pt x="1917700" y="0"/>
                </a:lnTo>
                <a:cubicBezTo>
                  <a:pt x="1980819" y="0"/>
                  <a:pt x="2032000" y="51181"/>
                  <a:pt x="2032000" y="114300"/>
                </a:cubicBezTo>
                <a:lnTo>
                  <a:pt x="2032000" y="698500"/>
                </a:lnTo>
                <a:cubicBezTo>
                  <a:pt x="2032000" y="761619"/>
                  <a:pt x="1980819" y="812800"/>
                  <a:pt x="1917700" y="812800"/>
                </a:cubicBezTo>
                <a:lnTo>
                  <a:pt x="114300" y="812800"/>
                </a:lnTo>
                <a:cubicBezTo>
                  <a:pt x="51181" y="812800"/>
                  <a:pt x="0" y="761619"/>
                  <a:pt x="0" y="698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cb-1-1"/>
          <p:cNvSpPr/>
          <p:nvPr/>
        </p:nvSpPr>
        <p:spPr>
          <a:xfrm>
            <a:off x="952500" y="1790700"/>
            <a:ext cx="31750" cy="812800"/>
          </a:xfrm>
          <a:custGeom>
            <a:avLst/>
            <a:gdLst/>
            <a:ahLst/>
            <a:cxnLst/>
            <a:rect l="0" t="0" r="r" b="b"/>
            <a:pathLst>
              <a:path w="31750" h="8128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96925"/>
                </a:lnTo>
                <a:cubicBezTo>
                  <a:pt x="31750" y="805688"/>
                  <a:pt x="24638" y="812800"/>
                  <a:pt x="15875" y="812800"/>
                </a:cubicBezTo>
                <a:lnTo>
                  <a:pt x="15875" y="812800"/>
                </a:lnTo>
                <a:cubicBezTo>
                  <a:pt x="7112" y="812800"/>
                  <a:pt x="0" y="805688"/>
                  <a:pt x="0" y="7969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icon-coin"/>
          <p:cNvSpPr/>
          <p:nvPr/>
        </p:nvSpPr>
        <p:spPr>
          <a:xfrm>
            <a:off x="1244600" y="2152650"/>
            <a:ext cx="101600" cy="88900"/>
          </a:xfrm>
          <a:custGeom>
            <a:avLst/>
            <a:gdLst/>
            <a:ahLst/>
            <a:cxnLst/>
            <a:rect l="0" t="0" r="r" b="b"/>
            <a:pathLst>
              <a:path w="101600" h="88900">
                <a:moveTo>
                  <a:pt x="50800" y="0"/>
                </a:moveTo>
                <a:cubicBezTo>
                  <a:pt x="22225" y="0"/>
                  <a:pt x="0" y="7938"/>
                  <a:pt x="0" y="19050"/>
                </a:cubicBezTo>
                <a:cubicBezTo>
                  <a:pt x="0" y="30162"/>
                  <a:pt x="22225" y="38100"/>
                  <a:pt x="50800" y="38100"/>
                </a:cubicBezTo>
                <a:cubicBezTo>
                  <a:pt x="79375" y="38100"/>
                  <a:pt x="101600" y="30162"/>
                  <a:pt x="101600" y="19050"/>
                </a:cubicBezTo>
                <a:cubicBezTo>
                  <a:pt x="101600" y="7938"/>
                  <a:pt x="79375" y="0"/>
                  <a:pt x="50800" y="0"/>
                </a:cubicBezTo>
                <a:close/>
                <a:moveTo>
                  <a:pt x="0" y="19050"/>
                </a:moveTo>
                <a:lnTo>
                  <a:pt x="0" y="69850"/>
                </a:lnTo>
                <a:cubicBezTo>
                  <a:pt x="0" y="80962"/>
                  <a:pt x="22225" y="88900"/>
                  <a:pt x="50800" y="88900"/>
                </a:cubicBezTo>
                <a:cubicBezTo>
                  <a:pt x="79375" y="88900"/>
                  <a:pt x="101600" y="80962"/>
                  <a:pt x="101600" y="69850"/>
                </a:cubicBezTo>
                <a:lnTo>
                  <a:pt x="101600" y="19050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cn-1-1"/>
          <p:cNvSpPr txBox="1"/>
          <p:nvPr/>
        </p:nvSpPr>
        <p:spPr>
          <a:xfrm>
            <a:off x="1546098" y="19816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资金投入</a:t>
            </a:r>
          </a:p>
        </p:txBody>
      </p:sp>
      <p:sp>
        <p:nvSpPr>
          <p:cNvPr id="36" name="cv-1-1"/>
          <p:cNvSpPr txBox="1"/>
          <p:nvPr/>
        </p:nvSpPr>
        <p:spPr>
          <a:xfrm>
            <a:off x="1543812" y="2199386"/>
            <a:ext cx="802386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2.8 亿元</a:t>
            </a:r>
          </a:p>
        </p:txBody>
      </p:sp>
      <p:sp>
        <p:nvSpPr>
          <p:cNvPr id="37" name="flow-1-1"/>
          <p:cNvSpPr/>
          <p:nvPr/>
        </p:nvSpPr>
        <p:spPr>
          <a:xfrm>
            <a:off x="3073400" y="2197100"/>
            <a:ext cx="419100" cy="1473200"/>
          </a:xfrm>
          <a:custGeom>
            <a:avLst/>
            <a:gdLst/>
            <a:ahLst/>
            <a:cxnLst/>
            <a:rect l="0" t="0" r="r" b="b"/>
            <a:pathLst>
              <a:path w="419100" h="1473200">
                <a:moveTo>
                  <a:pt x="0" y="0"/>
                </a:moveTo>
                <a:cubicBezTo>
                  <a:pt x="31432" y="137033"/>
                  <a:pt x="146685" y="692404"/>
                  <a:pt x="209550" y="913384"/>
                </a:cubicBezTo>
                <a:cubicBezTo>
                  <a:pt x="272415" y="1134364"/>
                  <a:pt x="387667" y="1389253"/>
                  <a:pt x="419100" y="1473200"/>
                </a:cubicBezTo>
              </a:path>
            </a:pathLst>
          </a:custGeom>
          <a:noFill/>
          <a:ln w="11430" cap="rnd">
            <a:solidFill>
              <a:srgbClr val="0B3E8F">
                <a:alpha val="42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flowh-1-1"/>
          <p:cNvSpPr/>
          <p:nvPr/>
        </p:nvSpPr>
        <p:spPr>
          <a:xfrm>
            <a:off x="3422650" y="3632200"/>
            <a:ext cx="69850" cy="76200"/>
          </a:xfrm>
          <a:custGeom>
            <a:avLst/>
            <a:gdLst/>
            <a:ahLst/>
            <a:cxnLst/>
            <a:rect l="0" t="0" r="r" b="b"/>
            <a:pathLst>
              <a:path w="69850" h="76200">
                <a:moveTo>
                  <a:pt x="0" y="0"/>
                </a:moveTo>
                <a:lnTo>
                  <a:pt x="69850" y="38100"/>
                </a:lnTo>
                <a:lnTo>
                  <a:pt x="0" y="76200"/>
                </a:lnTo>
              </a:path>
            </a:pathLst>
          </a:custGeom>
          <a:noFill/>
          <a:ln w="12700" cap="rnd">
            <a:solidFill>
              <a:srgbClr val="0B3E8F">
                <a:alpha val="6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c-1-2"/>
          <p:cNvSpPr/>
          <p:nvPr/>
        </p:nvSpPr>
        <p:spPr>
          <a:xfrm>
            <a:off x="952500" y="2819400"/>
            <a:ext cx="2032000" cy="812800"/>
          </a:xfrm>
          <a:custGeom>
            <a:avLst/>
            <a:gdLst/>
            <a:ahLst/>
            <a:cxnLst/>
            <a:rect l="0" t="0" r="r" b="b"/>
            <a:pathLst>
              <a:path w="2032000" h="812800">
                <a:moveTo>
                  <a:pt x="114300" y="0"/>
                </a:moveTo>
                <a:lnTo>
                  <a:pt x="1917700" y="0"/>
                </a:lnTo>
                <a:cubicBezTo>
                  <a:pt x="1980819" y="0"/>
                  <a:pt x="2032000" y="51181"/>
                  <a:pt x="2032000" y="114300"/>
                </a:cubicBezTo>
                <a:lnTo>
                  <a:pt x="2032000" y="698500"/>
                </a:lnTo>
                <a:cubicBezTo>
                  <a:pt x="2032000" y="761619"/>
                  <a:pt x="1980819" y="812800"/>
                  <a:pt x="1917700" y="812800"/>
                </a:cubicBezTo>
                <a:lnTo>
                  <a:pt x="114300" y="812800"/>
                </a:lnTo>
                <a:cubicBezTo>
                  <a:pt x="51181" y="812800"/>
                  <a:pt x="0" y="761619"/>
                  <a:pt x="0" y="698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cb-1-2"/>
          <p:cNvSpPr/>
          <p:nvPr/>
        </p:nvSpPr>
        <p:spPr>
          <a:xfrm>
            <a:off x="952500" y="2819400"/>
            <a:ext cx="31750" cy="812800"/>
          </a:xfrm>
          <a:custGeom>
            <a:avLst/>
            <a:gdLst/>
            <a:ahLst/>
            <a:cxnLst/>
            <a:rect l="0" t="0" r="r" b="b"/>
            <a:pathLst>
              <a:path w="31750" h="8128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96925"/>
                </a:lnTo>
                <a:cubicBezTo>
                  <a:pt x="31750" y="805688"/>
                  <a:pt x="24638" y="812800"/>
                  <a:pt x="15875" y="812800"/>
                </a:cubicBezTo>
                <a:lnTo>
                  <a:pt x="15875" y="812800"/>
                </a:lnTo>
                <a:cubicBezTo>
                  <a:pt x="7112" y="812800"/>
                  <a:pt x="0" y="805688"/>
                  <a:pt x="0" y="7969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icon-people"/>
          <p:cNvSpPr/>
          <p:nvPr/>
        </p:nvSpPr>
        <p:spPr>
          <a:xfrm>
            <a:off x="1228725" y="3246438"/>
            <a:ext cx="134938" cy="38100"/>
          </a:xfrm>
          <a:custGeom>
            <a:avLst/>
            <a:gdLst/>
            <a:ahLst/>
            <a:cxnLst/>
            <a:rect l="0" t="0" r="r" b="b"/>
            <a:pathLst>
              <a:path w="134938" h="38100">
                <a:moveTo>
                  <a:pt x="0" y="38100"/>
                </a:moveTo>
                <a:cubicBezTo>
                  <a:pt x="0" y="14288"/>
                  <a:pt x="19812" y="0"/>
                  <a:pt x="42862" y="0"/>
                </a:cubicBezTo>
                <a:cubicBezTo>
                  <a:pt x="65913" y="0"/>
                  <a:pt x="85725" y="14288"/>
                  <a:pt x="85725" y="38100"/>
                </a:cubicBezTo>
                <a:moveTo>
                  <a:pt x="101600" y="3175"/>
                </a:moveTo>
                <a:cubicBezTo>
                  <a:pt x="122238" y="5525"/>
                  <a:pt x="134938" y="19875"/>
                  <a:pt x="134938" y="38100"/>
                </a:cubicBez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icon-people"/>
          <p:cNvSpPr/>
          <p:nvPr/>
        </p:nvSpPr>
        <p:spPr>
          <a:xfrm>
            <a:off x="1246188" y="3178175"/>
            <a:ext cx="50800" cy="50800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icon-people"/>
          <p:cNvSpPr/>
          <p:nvPr/>
        </p:nvSpPr>
        <p:spPr>
          <a:xfrm>
            <a:off x="1314450" y="3178175"/>
            <a:ext cx="41275" cy="41275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cn-1-2"/>
          <p:cNvSpPr txBox="1"/>
          <p:nvPr/>
        </p:nvSpPr>
        <p:spPr>
          <a:xfrm>
            <a:off x="1546098" y="30103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人力投入</a:t>
            </a:r>
          </a:p>
        </p:txBody>
      </p:sp>
      <p:sp>
        <p:nvSpPr>
          <p:cNvPr id="45" name="cv-1-2"/>
          <p:cNvSpPr txBox="1"/>
          <p:nvPr/>
        </p:nvSpPr>
        <p:spPr>
          <a:xfrm>
            <a:off x="1543812" y="3228086"/>
            <a:ext cx="823849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1,240 人</a:t>
            </a:r>
          </a:p>
        </p:txBody>
      </p:sp>
      <p:sp>
        <p:nvSpPr>
          <p:cNvPr id="46" name="flow-1-2"/>
          <p:cNvSpPr/>
          <p:nvPr/>
        </p:nvSpPr>
        <p:spPr>
          <a:xfrm>
            <a:off x="3073400" y="3225800"/>
            <a:ext cx="419100" cy="444500"/>
          </a:xfrm>
          <a:custGeom>
            <a:avLst/>
            <a:gdLst/>
            <a:ahLst/>
            <a:cxnLst/>
            <a:rect l="0" t="0" r="r" b="b"/>
            <a:pathLst>
              <a:path w="419100" h="444500">
                <a:moveTo>
                  <a:pt x="0" y="0"/>
                </a:moveTo>
                <a:cubicBezTo>
                  <a:pt x="31432" y="41338"/>
                  <a:pt x="146685" y="208915"/>
                  <a:pt x="209550" y="275590"/>
                </a:cubicBezTo>
                <a:cubicBezTo>
                  <a:pt x="272415" y="342265"/>
                  <a:pt x="387667" y="419163"/>
                  <a:pt x="419100" y="444500"/>
                </a:cubicBezTo>
              </a:path>
            </a:pathLst>
          </a:custGeom>
          <a:noFill/>
          <a:ln w="11430" cap="rnd">
            <a:solidFill>
              <a:srgbClr val="1B5AA8">
                <a:alpha val="42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flowh-1-2"/>
          <p:cNvSpPr/>
          <p:nvPr/>
        </p:nvSpPr>
        <p:spPr>
          <a:xfrm>
            <a:off x="3422650" y="3632200"/>
            <a:ext cx="69850" cy="76200"/>
          </a:xfrm>
          <a:custGeom>
            <a:avLst/>
            <a:gdLst/>
            <a:ahLst/>
            <a:cxnLst/>
            <a:rect l="0" t="0" r="r" b="b"/>
            <a:pathLst>
              <a:path w="69850" h="76200">
                <a:moveTo>
                  <a:pt x="0" y="0"/>
                </a:moveTo>
                <a:lnTo>
                  <a:pt x="69850" y="38100"/>
                </a:lnTo>
                <a:lnTo>
                  <a:pt x="0" y="76200"/>
                </a:lnTo>
              </a:path>
            </a:pathLst>
          </a:custGeom>
          <a:noFill/>
          <a:ln w="12700" cap="rnd">
            <a:solidFill>
              <a:srgbClr val="1B5AA8">
                <a:alpha val="6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c-1-3"/>
          <p:cNvSpPr/>
          <p:nvPr/>
        </p:nvSpPr>
        <p:spPr>
          <a:xfrm>
            <a:off x="952500" y="3848100"/>
            <a:ext cx="2032000" cy="812800"/>
          </a:xfrm>
          <a:custGeom>
            <a:avLst/>
            <a:gdLst/>
            <a:ahLst/>
            <a:cxnLst/>
            <a:rect l="0" t="0" r="r" b="b"/>
            <a:pathLst>
              <a:path w="2032000" h="812800">
                <a:moveTo>
                  <a:pt x="114300" y="0"/>
                </a:moveTo>
                <a:lnTo>
                  <a:pt x="1917700" y="0"/>
                </a:lnTo>
                <a:cubicBezTo>
                  <a:pt x="1980819" y="0"/>
                  <a:pt x="2032000" y="51181"/>
                  <a:pt x="2032000" y="114300"/>
                </a:cubicBezTo>
                <a:lnTo>
                  <a:pt x="2032000" y="698500"/>
                </a:lnTo>
                <a:cubicBezTo>
                  <a:pt x="2032000" y="761619"/>
                  <a:pt x="1980819" y="812800"/>
                  <a:pt x="1917700" y="812800"/>
                </a:cubicBezTo>
                <a:lnTo>
                  <a:pt x="114300" y="812800"/>
                </a:lnTo>
                <a:cubicBezTo>
                  <a:pt x="51181" y="812800"/>
                  <a:pt x="0" y="761619"/>
                  <a:pt x="0" y="698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cb-1-3"/>
          <p:cNvSpPr/>
          <p:nvPr/>
        </p:nvSpPr>
        <p:spPr>
          <a:xfrm>
            <a:off x="952500" y="3848100"/>
            <a:ext cx="31750" cy="812800"/>
          </a:xfrm>
          <a:custGeom>
            <a:avLst/>
            <a:gdLst/>
            <a:ahLst/>
            <a:cxnLst/>
            <a:rect l="0" t="0" r="r" b="b"/>
            <a:pathLst>
              <a:path w="31750" h="8128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96925"/>
                </a:lnTo>
                <a:cubicBezTo>
                  <a:pt x="31750" y="805688"/>
                  <a:pt x="24638" y="812800"/>
                  <a:pt x="15875" y="812800"/>
                </a:cubicBezTo>
                <a:lnTo>
                  <a:pt x="15875" y="812800"/>
                </a:lnTo>
                <a:cubicBezTo>
                  <a:pt x="7112" y="812800"/>
                  <a:pt x="0" y="805688"/>
                  <a:pt x="0" y="7969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icon-code"/>
          <p:cNvSpPr/>
          <p:nvPr/>
        </p:nvSpPr>
        <p:spPr>
          <a:xfrm>
            <a:off x="1236662" y="4222750"/>
            <a:ext cx="117475" cy="63500"/>
          </a:xfrm>
          <a:custGeom>
            <a:avLst/>
            <a:gdLst/>
            <a:ahLst/>
            <a:cxnLst/>
            <a:rect l="0" t="0" r="r" b="b"/>
            <a:pathLst>
              <a:path w="117475" h="63500">
                <a:moveTo>
                  <a:pt x="34925" y="0"/>
                </a:moveTo>
                <a:lnTo>
                  <a:pt x="0" y="31750"/>
                </a:lnTo>
                <a:lnTo>
                  <a:pt x="34925" y="63500"/>
                </a:lnTo>
                <a:moveTo>
                  <a:pt x="82550" y="0"/>
                </a:moveTo>
                <a:lnTo>
                  <a:pt x="117475" y="31750"/>
                </a:lnTo>
                <a:lnTo>
                  <a:pt x="82550" y="63500"/>
                </a:lnTo>
              </a:path>
            </a:pathLst>
          </a:custGeom>
          <a:noFill/>
          <a:ln w="1270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cn-1-3"/>
          <p:cNvSpPr txBox="1"/>
          <p:nvPr/>
        </p:nvSpPr>
        <p:spPr>
          <a:xfrm>
            <a:off x="1546098" y="40390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技术资产</a:t>
            </a:r>
          </a:p>
        </p:txBody>
      </p:sp>
      <p:sp>
        <p:nvSpPr>
          <p:cNvPr id="52" name="cv-1-3"/>
          <p:cNvSpPr txBox="1"/>
          <p:nvPr/>
        </p:nvSpPr>
        <p:spPr>
          <a:xfrm>
            <a:off x="1543812" y="4256786"/>
            <a:ext cx="869442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36 项专利</a:t>
            </a:r>
          </a:p>
        </p:txBody>
      </p:sp>
      <p:sp>
        <p:nvSpPr>
          <p:cNvPr id="53" name="flow-1-3"/>
          <p:cNvSpPr/>
          <p:nvPr/>
        </p:nvSpPr>
        <p:spPr>
          <a:xfrm>
            <a:off x="3073400" y="3670300"/>
            <a:ext cx="419100" cy="584200"/>
          </a:xfrm>
          <a:custGeom>
            <a:avLst/>
            <a:gdLst/>
            <a:ahLst/>
            <a:cxnLst/>
            <a:rect l="0" t="0" r="r" b="b"/>
            <a:pathLst>
              <a:path w="419100" h="584200">
                <a:moveTo>
                  <a:pt x="0" y="584200"/>
                </a:moveTo>
                <a:cubicBezTo>
                  <a:pt x="31432" y="529844"/>
                  <a:pt x="146685" y="309626"/>
                  <a:pt x="209550" y="221996"/>
                </a:cubicBezTo>
                <a:cubicBezTo>
                  <a:pt x="272415" y="134366"/>
                  <a:pt x="387667" y="33274"/>
                  <a:pt x="419100" y="0"/>
                </a:cubicBezTo>
              </a:path>
            </a:pathLst>
          </a:custGeom>
          <a:noFill/>
          <a:ln w="11430" cap="rnd">
            <a:solidFill>
              <a:srgbClr val="3985CD">
                <a:alpha val="42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flowh-1-3"/>
          <p:cNvSpPr/>
          <p:nvPr/>
        </p:nvSpPr>
        <p:spPr>
          <a:xfrm>
            <a:off x="3422650" y="3632200"/>
            <a:ext cx="69850" cy="76200"/>
          </a:xfrm>
          <a:custGeom>
            <a:avLst/>
            <a:gdLst/>
            <a:ahLst/>
            <a:cxnLst/>
            <a:rect l="0" t="0" r="r" b="b"/>
            <a:pathLst>
              <a:path w="69850" h="76200">
                <a:moveTo>
                  <a:pt x="0" y="0"/>
                </a:moveTo>
                <a:lnTo>
                  <a:pt x="69850" y="38100"/>
                </a:lnTo>
                <a:lnTo>
                  <a:pt x="0" y="76200"/>
                </a:lnTo>
              </a:path>
            </a:pathLst>
          </a:custGeom>
          <a:noFill/>
          <a:ln w="12700" cap="rnd">
            <a:solidFill>
              <a:srgbClr val="3985CD">
                <a:alpha val="6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c-1-4"/>
          <p:cNvSpPr/>
          <p:nvPr/>
        </p:nvSpPr>
        <p:spPr>
          <a:xfrm>
            <a:off x="952500" y="4876800"/>
            <a:ext cx="2032000" cy="812800"/>
          </a:xfrm>
          <a:custGeom>
            <a:avLst/>
            <a:gdLst/>
            <a:ahLst/>
            <a:cxnLst/>
            <a:rect l="0" t="0" r="r" b="b"/>
            <a:pathLst>
              <a:path w="2032000" h="812800">
                <a:moveTo>
                  <a:pt x="114300" y="0"/>
                </a:moveTo>
                <a:lnTo>
                  <a:pt x="1917700" y="0"/>
                </a:lnTo>
                <a:cubicBezTo>
                  <a:pt x="1980819" y="0"/>
                  <a:pt x="2032000" y="51181"/>
                  <a:pt x="2032000" y="114300"/>
                </a:cubicBezTo>
                <a:lnTo>
                  <a:pt x="2032000" y="698500"/>
                </a:lnTo>
                <a:cubicBezTo>
                  <a:pt x="2032000" y="761619"/>
                  <a:pt x="1980819" y="812800"/>
                  <a:pt x="1917700" y="812800"/>
                </a:cubicBezTo>
                <a:lnTo>
                  <a:pt x="114300" y="812800"/>
                </a:lnTo>
                <a:cubicBezTo>
                  <a:pt x="51181" y="812800"/>
                  <a:pt x="0" y="761619"/>
                  <a:pt x="0" y="698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cb-1-4"/>
          <p:cNvSpPr/>
          <p:nvPr/>
        </p:nvSpPr>
        <p:spPr>
          <a:xfrm>
            <a:off x="952500" y="4876800"/>
            <a:ext cx="31750" cy="812800"/>
          </a:xfrm>
          <a:custGeom>
            <a:avLst/>
            <a:gdLst/>
            <a:ahLst/>
            <a:cxnLst/>
            <a:rect l="0" t="0" r="r" b="b"/>
            <a:pathLst>
              <a:path w="31750" h="8128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96925"/>
                </a:lnTo>
                <a:cubicBezTo>
                  <a:pt x="31750" y="805688"/>
                  <a:pt x="24638" y="812800"/>
                  <a:pt x="15875" y="812800"/>
                </a:cubicBezTo>
                <a:lnTo>
                  <a:pt x="15875" y="812800"/>
                </a:lnTo>
                <a:cubicBezTo>
                  <a:pt x="7112" y="812800"/>
                  <a:pt x="0" y="805688"/>
                  <a:pt x="0" y="7969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icon-network"/>
          <p:cNvSpPr/>
          <p:nvPr/>
        </p:nvSpPr>
        <p:spPr>
          <a:xfrm>
            <a:off x="1271588" y="5254625"/>
            <a:ext cx="47625" cy="55562"/>
          </a:xfrm>
          <a:custGeom>
            <a:avLst/>
            <a:gdLst/>
            <a:ahLst/>
            <a:cxnLst/>
            <a:rect l="0" t="0" r="r" b="b"/>
            <a:pathLst>
              <a:path w="47625" h="55562">
                <a:moveTo>
                  <a:pt x="23812" y="0"/>
                </a:moveTo>
                <a:lnTo>
                  <a:pt x="23812" y="25400"/>
                </a:lnTo>
                <a:moveTo>
                  <a:pt x="0" y="55562"/>
                </a:moveTo>
                <a:lnTo>
                  <a:pt x="17462" y="34925"/>
                </a:lnTo>
                <a:moveTo>
                  <a:pt x="47625" y="55562"/>
                </a:moveTo>
                <a:lnTo>
                  <a:pt x="30162" y="34925"/>
                </a:lnTo>
              </a:path>
            </a:pathLst>
          </a:custGeom>
          <a:noFill/>
          <a:ln w="1270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icon-network"/>
          <p:cNvSpPr/>
          <p:nvPr/>
        </p:nvSpPr>
        <p:spPr>
          <a:xfrm>
            <a:off x="1274762" y="5214938"/>
            <a:ext cx="41275" cy="41275"/>
          </a:xfrm>
          <a:prstGeom prst="ellipse">
            <a:avLst/>
          </a:prstGeom>
          <a:noFill/>
          <a:ln w="1270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icon-network"/>
          <p:cNvSpPr/>
          <p:nvPr/>
        </p:nvSpPr>
        <p:spPr>
          <a:xfrm>
            <a:off x="1235075" y="5305425"/>
            <a:ext cx="41275" cy="41275"/>
          </a:xfrm>
          <a:prstGeom prst="ellipse">
            <a:avLst/>
          </a:prstGeom>
          <a:noFill/>
          <a:ln w="1270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icon-network"/>
          <p:cNvSpPr/>
          <p:nvPr/>
        </p:nvSpPr>
        <p:spPr>
          <a:xfrm>
            <a:off x="1314450" y="5305425"/>
            <a:ext cx="41275" cy="41275"/>
          </a:xfrm>
          <a:prstGeom prst="ellipse">
            <a:avLst/>
          </a:prstGeom>
          <a:noFill/>
          <a:ln w="1270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cn-1-4"/>
          <p:cNvSpPr txBox="1"/>
          <p:nvPr/>
        </p:nvSpPr>
        <p:spPr>
          <a:xfrm>
            <a:off x="1546098" y="50677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渠道资源</a:t>
            </a:r>
          </a:p>
        </p:txBody>
      </p:sp>
      <p:sp>
        <p:nvSpPr>
          <p:cNvPr id="62" name="cv-1-4"/>
          <p:cNvSpPr txBox="1"/>
          <p:nvPr/>
        </p:nvSpPr>
        <p:spPr>
          <a:xfrm>
            <a:off x="1543812" y="5285486"/>
            <a:ext cx="957961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600 家伙伴</a:t>
            </a:r>
          </a:p>
        </p:txBody>
      </p:sp>
      <p:sp>
        <p:nvSpPr>
          <p:cNvPr id="63" name="flow-1-4"/>
          <p:cNvSpPr/>
          <p:nvPr/>
        </p:nvSpPr>
        <p:spPr>
          <a:xfrm>
            <a:off x="3073400" y="3670300"/>
            <a:ext cx="419100" cy="1612900"/>
          </a:xfrm>
          <a:custGeom>
            <a:avLst/>
            <a:gdLst/>
            <a:ahLst/>
            <a:cxnLst/>
            <a:rect l="0" t="0" r="r" b="b"/>
            <a:pathLst>
              <a:path w="419100" h="1612900">
                <a:moveTo>
                  <a:pt x="0" y="1612900"/>
                </a:moveTo>
                <a:cubicBezTo>
                  <a:pt x="31432" y="1462913"/>
                  <a:pt x="146685" y="854837"/>
                  <a:pt x="209550" y="612902"/>
                </a:cubicBezTo>
                <a:cubicBezTo>
                  <a:pt x="272415" y="370967"/>
                  <a:pt x="387667" y="91948"/>
                  <a:pt x="419100" y="0"/>
                </a:cubicBezTo>
              </a:path>
            </a:pathLst>
          </a:custGeom>
          <a:noFill/>
          <a:ln w="11430" cap="rnd">
            <a:solidFill>
              <a:srgbClr val="54A2DF">
                <a:alpha val="42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flowh-1-4"/>
          <p:cNvSpPr/>
          <p:nvPr/>
        </p:nvSpPr>
        <p:spPr>
          <a:xfrm>
            <a:off x="3422650" y="3632200"/>
            <a:ext cx="69850" cy="76200"/>
          </a:xfrm>
          <a:custGeom>
            <a:avLst/>
            <a:gdLst/>
            <a:ahLst/>
            <a:cxnLst/>
            <a:rect l="0" t="0" r="r" b="b"/>
            <a:pathLst>
              <a:path w="69850" h="76200">
                <a:moveTo>
                  <a:pt x="0" y="0"/>
                </a:moveTo>
                <a:lnTo>
                  <a:pt x="69850" y="38100"/>
                </a:lnTo>
                <a:lnTo>
                  <a:pt x="0" y="76200"/>
                </a:lnTo>
              </a:path>
            </a:pathLst>
          </a:custGeom>
          <a:noFill/>
          <a:ln w="12700" cap="rnd">
            <a:solidFill>
              <a:srgbClr val="54A2DF">
                <a:alpha val="6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side-h-2"/>
          <p:cNvSpPr txBox="1"/>
          <p:nvPr/>
        </p:nvSpPr>
        <p:spPr>
          <a:xfrm>
            <a:off x="10320020" y="1406366"/>
            <a:ext cx="93091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1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产出 · OUTPUT</a:t>
            </a:r>
          </a:p>
        </p:txBody>
      </p:sp>
      <p:sp>
        <p:nvSpPr>
          <p:cNvPr id="66" name="c-2-1"/>
          <p:cNvSpPr/>
          <p:nvPr/>
        </p:nvSpPr>
        <p:spPr>
          <a:xfrm>
            <a:off x="9207500" y="1790700"/>
            <a:ext cx="2032000" cy="812800"/>
          </a:xfrm>
          <a:custGeom>
            <a:avLst/>
            <a:gdLst/>
            <a:ahLst/>
            <a:cxnLst/>
            <a:rect l="0" t="0" r="r" b="b"/>
            <a:pathLst>
              <a:path w="2032000" h="812800">
                <a:moveTo>
                  <a:pt x="114300" y="0"/>
                </a:moveTo>
                <a:lnTo>
                  <a:pt x="1917700" y="0"/>
                </a:lnTo>
                <a:cubicBezTo>
                  <a:pt x="1980819" y="0"/>
                  <a:pt x="2032000" y="51181"/>
                  <a:pt x="2032000" y="114300"/>
                </a:cubicBezTo>
                <a:lnTo>
                  <a:pt x="2032000" y="698500"/>
                </a:lnTo>
                <a:cubicBezTo>
                  <a:pt x="2032000" y="761619"/>
                  <a:pt x="1980819" y="812800"/>
                  <a:pt x="1917700" y="812800"/>
                </a:cubicBezTo>
                <a:lnTo>
                  <a:pt x="114300" y="812800"/>
                </a:lnTo>
                <a:cubicBezTo>
                  <a:pt x="51181" y="812800"/>
                  <a:pt x="0" y="761619"/>
                  <a:pt x="0" y="698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cb-2-1"/>
          <p:cNvSpPr/>
          <p:nvPr/>
        </p:nvSpPr>
        <p:spPr>
          <a:xfrm>
            <a:off x="11207750" y="1790700"/>
            <a:ext cx="31750" cy="812800"/>
          </a:xfrm>
          <a:custGeom>
            <a:avLst/>
            <a:gdLst/>
            <a:ahLst/>
            <a:cxnLst/>
            <a:rect l="0" t="0" r="r" b="b"/>
            <a:pathLst>
              <a:path w="31750" h="8128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96925"/>
                </a:lnTo>
                <a:cubicBezTo>
                  <a:pt x="31750" y="805688"/>
                  <a:pt x="24638" y="812800"/>
                  <a:pt x="15875" y="812800"/>
                </a:cubicBezTo>
                <a:lnTo>
                  <a:pt x="15875" y="812800"/>
                </a:lnTo>
                <a:cubicBezTo>
                  <a:pt x="7112" y="812800"/>
                  <a:pt x="0" y="805688"/>
                  <a:pt x="0" y="7969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icon-grow"/>
          <p:cNvSpPr/>
          <p:nvPr/>
        </p:nvSpPr>
        <p:spPr>
          <a:xfrm>
            <a:off x="10829925" y="2166938"/>
            <a:ext cx="119062" cy="74612"/>
          </a:xfrm>
          <a:custGeom>
            <a:avLst/>
            <a:gdLst/>
            <a:ahLst/>
            <a:cxnLst/>
            <a:rect l="0" t="0" r="r" b="b"/>
            <a:pathLst>
              <a:path w="119062" h="74612">
                <a:moveTo>
                  <a:pt x="0" y="74612"/>
                </a:moveTo>
                <a:lnTo>
                  <a:pt x="39688" y="31750"/>
                </a:lnTo>
                <a:lnTo>
                  <a:pt x="68262" y="55562"/>
                </a:lnTo>
                <a:lnTo>
                  <a:pt x="115888" y="0"/>
                </a:lnTo>
                <a:moveTo>
                  <a:pt x="96838" y="0"/>
                </a:moveTo>
                <a:lnTo>
                  <a:pt x="119062" y="0"/>
                </a:lnTo>
                <a:lnTo>
                  <a:pt x="119062" y="22225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cn-2-1"/>
          <p:cNvSpPr txBox="1"/>
          <p:nvPr/>
        </p:nvSpPr>
        <p:spPr>
          <a:xfrm>
            <a:off x="9954387" y="19816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营业收入</a:t>
            </a:r>
          </a:p>
        </p:txBody>
      </p:sp>
      <p:sp>
        <p:nvSpPr>
          <p:cNvPr id="70" name="cv-2-1"/>
          <p:cNvSpPr txBox="1"/>
          <p:nvPr/>
        </p:nvSpPr>
        <p:spPr>
          <a:xfrm>
            <a:off x="9757283" y="2199386"/>
            <a:ext cx="890905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15.8 亿元</a:t>
            </a:r>
          </a:p>
        </p:txBody>
      </p:sp>
      <p:sp>
        <p:nvSpPr>
          <p:cNvPr id="71" name="flow-2-1"/>
          <p:cNvSpPr/>
          <p:nvPr/>
        </p:nvSpPr>
        <p:spPr>
          <a:xfrm>
            <a:off x="8699500" y="2197100"/>
            <a:ext cx="419100" cy="1473200"/>
          </a:xfrm>
          <a:custGeom>
            <a:avLst/>
            <a:gdLst/>
            <a:ahLst/>
            <a:cxnLst/>
            <a:rect l="0" t="0" r="r" b="b"/>
            <a:pathLst>
              <a:path w="419100" h="1473200">
                <a:moveTo>
                  <a:pt x="0" y="1473200"/>
                </a:moveTo>
                <a:cubicBezTo>
                  <a:pt x="31433" y="1336167"/>
                  <a:pt x="146685" y="780796"/>
                  <a:pt x="209550" y="559816"/>
                </a:cubicBezTo>
                <a:cubicBezTo>
                  <a:pt x="272415" y="338836"/>
                  <a:pt x="387667" y="83947"/>
                  <a:pt x="419100" y="0"/>
                </a:cubicBezTo>
              </a:path>
            </a:pathLst>
          </a:custGeom>
          <a:noFill/>
          <a:ln w="11430" cap="rnd">
            <a:solidFill>
              <a:srgbClr val="0B3E8F">
                <a:alpha val="42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flowh-2-1"/>
          <p:cNvSpPr/>
          <p:nvPr/>
        </p:nvSpPr>
        <p:spPr>
          <a:xfrm>
            <a:off x="9048750" y="2159000"/>
            <a:ext cx="69850" cy="76200"/>
          </a:xfrm>
          <a:custGeom>
            <a:avLst/>
            <a:gdLst/>
            <a:ahLst/>
            <a:cxnLst/>
            <a:rect l="0" t="0" r="r" b="b"/>
            <a:pathLst>
              <a:path w="69850" h="76200">
                <a:moveTo>
                  <a:pt x="0" y="0"/>
                </a:moveTo>
                <a:lnTo>
                  <a:pt x="69850" y="38100"/>
                </a:lnTo>
                <a:lnTo>
                  <a:pt x="0" y="76200"/>
                </a:lnTo>
              </a:path>
            </a:pathLst>
          </a:custGeom>
          <a:noFill/>
          <a:ln w="12700" cap="rnd">
            <a:solidFill>
              <a:srgbClr val="0B3E8F">
                <a:alpha val="6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c-2-2"/>
          <p:cNvSpPr/>
          <p:nvPr/>
        </p:nvSpPr>
        <p:spPr>
          <a:xfrm>
            <a:off x="9207500" y="2819400"/>
            <a:ext cx="2032000" cy="812800"/>
          </a:xfrm>
          <a:custGeom>
            <a:avLst/>
            <a:gdLst/>
            <a:ahLst/>
            <a:cxnLst/>
            <a:rect l="0" t="0" r="r" b="b"/>
            <a:pathLst>
              <a:path w="2032000" h="812800">
                <a:moveTo>
                  <a:pt x="114300" y="0"/>
                </a:moveTo>
                <a:lnTo>
                  <a:pt x="1917700" y="0"/>
                </a:lnTo>
                <a:cubicBezTo>
                  <a:pt x="1980819" y="0"/>
                  <a:pt x="2032000" y="51181"/>
                  <a:pt x="2032000" y="114300"/>
                </a:cubicBezTo>
                <a:lnTo>
                  <a:pt x="2032000" y="698500"/>
                </a:lnTo>
                <a:cubicBezTo>
                  <a:pt x="2032000" y="761619"/>
                  <a:pt x="1980819" y="812800"/>
                  <a:pt x="1917700" y="812800"/>
                </a:cubicBezTo>
                <a:lnTo>
                  <a:pt x="114300" y="812800"/>
                </a:lnTo>
                <a:cubicBezTo>
                  <a:pt x="51181" y="812800"/>
                  <a:pt x="0" y="761619"/>
                  <a:pt x="0" y="698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cb-2-2"/>
          <p:cNvSpPr/>
          <p:nvPr/>
        </p:nvSpPr>
        <p:spPr>
          <a:xfrm>
            <a:off x="11207750" y="2819400"/>
            <a:ext cx="31750" cy="812800"/>
          </a:xfrm>
          <a:custGeom>
            <a:avLst/>
            <a:gdLst/>
            <a:ahLst/>
            <a:cxnLst/>
            <a:rect l="0" t="0" r="r" b="b"/>
            <a:pathLst>
              <a:path w="31750" h="8128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96925"/>
                </a:lnTo>
                <a:cubicBezTo>
                  <a:pt x="31750" y="805688"/>
                  <a:pt x="24638" y="812800"/>
                  <a:pt x="15875" y="812800"/>
                </a:cubicBezTo>
                <a:lnTo>
                  <a:pt x="15875" y="812800"/>
                </a:lnTo>
                <a:cubicBezTo>
                  <a:pt x="7112" y="812800"/>
                  <a:pt x="0" y="805688"/>
                  <a:pt x="0" y="7969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icon-hand"/>
          <p:cNvSpPr/>
          <p:nvPr/>
        </p:nvSpPr>
        <p:spPr>
          <a:xfrm>
            <a:off x="10836589" y="3157538"/>
            <a:ext cx="107636" cy="136525"/>
          </a:xfrm>
          <a:custGeom>
            <a:avLst/>
            <a:gdLst/>
            <a:ahLst/>
            <a:cxnLst/>
            <a:rect l="0" t="0" r="r" b="b"/>
            <a:pathLst>
              <a:path w="107636" h="136525">
                <a:moveTo>
                  <a:pt x="31436" y="73025"/>
                </a:moveTo>
                <a:lnTo>
                  <a:pt x="31436" y="22225"/>
                </a:lnTo>
                <a:cubicBezTo>
                  <a:pt x="31436" y="15240"/>
                  <a:pt x="37151" y="9525"/>
                  <a:pt x="44136" y="9525"/>
                </a:cubicBezTo>
                <a:cubicBezTo>
                  <a:pt x="51121" y="9525"/>
                  <a:pt x="56836" y="15240"/>
                  <a:pt x="56836" y="22225"/>
                </a:cubicBezTo>
                <a:lnTo>
                  <a:pt x="56836" y="61912"/>
                </a:lnTo>
                <a:moveTo>
                  <a:pt x="56836" y="61912"/>
                </a:moveTo>
                <a:lnTo>
                  <a:pt x="56836" y="12700"/>
                </a:lnTo>
                <a:cubicBezTo>
                  <a:pt x="56836" y="5715"/>
                  <a:pt x="62551" y="0"/>
                  <a:pt x="69536" y="0"/>
                </a:cubicBezTo>
                <a:cubicBezTo>
                  <a:pt x="76521" y="0"/>
                  <a:pt x="82236" y="5715"/>
                  <a:pt x="82236" y="12700"/>
                </a:cubicBezTo>
                <a:lnTo>
                  <a:pt x="82236" y="61912"/>
                </a:lnTo>
                <a:moveTo>
                  <a:pt x="82236" y="65088"/>
                </a:moveTo>
                <a:lnTo>
                  <a:pt x="82236" y="31750"/>
                </a:lnTo>
                <a:cubicBezTo>
                  <a:pt x="82236" y="24765"/>
                  <a:pt x="87951" y="19050"/>
                  <a:pt x="94936" y="19050"/>
                </a:cubicBezTo>
                <a:cubicBezTo>
                  <a:pt x="101921" y="19050"/>
                  <a:pt x="107636" y="24765"/>
                  <a:pt x="107636" y="31750"/>
                </a:cubicBezTo>
                <a:lnTo>
                  <a:pt x="107636" y="90488"/>
                </a:lnTo>
                <a:cubicBezTo>
                  <a:pt x="107636" y="115888"/>
                  <a:pt x="88586" y="136525"/>
                  <a:pt x="63186" y="136525"/>
                </a:cubicBezTo>
                <a:cubicBezTo>
                  <a:pt x="42549" y="136525"/>
                  <a:pt x="31436" y="127000"/>
                  <a:pt x="20324" y="111125"/>
                </a:cubicBezTo>
                <a:lnTo>
                  <a:pt x="1274" y="82550"/>
                </a:lnTo>
                <a:cubicBezTo>
                  <a:pt x="-1457" y="76899"/>
                  <a:pt x="321" y="70104"/>
                  <a:pt x="5465" y="66548"/>
                </a:cubicBezTo>
                <a:cubicBezTo>
                  <a:pt x="10608" y="62992"/>
                  <a:pt x="17593" y="63690"/>
                  <a:pt x="21911" y="68262"/>
                </a:cubicBezTo>
                <a:close/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cn-2-2"/>
          <p:cNvSpPr txBox="1"/>
          <p:nvPr/>
        </p:nvSpPr>
        <p:spPr>
          <a:xfrm>
            <a:off x="9954387" y="30103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服务客户</a:t>
            </a:r>
          </a:p>
        </p:txBody>
      </p:sp>
      <p:sp>
        <p:nvSpPr>
          <p:cNvPr id="77" name="cv-2-2"/>
          <p:cNvSpPr txBox="1"/>
          <p:nvPr/>
        </p:nvSpPr>
        <p:spPr>
          <a:xfrm>
            <a:off x="9735820" y="3228086"/>
            <a:ext cx="912368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12,600 家</a:t>
            </a:r>
          </a:p>
        </p:txBody>
      </p:sp>
      <p:sp>
        <p:nvSpPr>
          <p:cNvPr id="78" name="flow-2-2"/>
          <p:cNvSpPr/>
          <p:nvPr/>
        </p:nvSpPr>
        <p:spPr>
          <a:xfrm>
            <a:off x="8699500" y="3225800"/>
            <a:ext cx="419100" cy="444500"/>
          </a:xfrm>
          <a:custGeom>
            <a:avLst/>
            <a:gdLst/>
            <a:ahLst/>
            <a:cxnLst/>
            <a:rect l="0" t="0" r="r" b="b"/>
            <a:pathLst>
              <a:path w="419100" h="444500">
                <a:moveTo>
                  <a:pt x="0" y="444500"/>
                </a:moveTo>
                <a:cubicBezTo>
                  <a:pt x="31433" y="403162"/>
                  <a:pt x="146685" y="235585"/>
                  <a:pt x="209550" y="168910"/>
                </a:cubicBezTo>
                <a:cubicBezTo>
                  <a:pt x="272415" y="102235"/>
                  <a:pt x="387667" y="25337"/>
                  <a:pt x="419100" y="0"/>
                </a:cubicBezTo>
              </a:path>
            </a:pathLst>
          </a:custGeom>
          <a:noFill/>
          <a:ln w="11430" cap="rnd">
            <a:solidFill>
              <a:srgbClr val="1B5AA8">
                <a:alpha val="42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flowh-2-2"/>
          <p:cNvSpPr/>
          <p:nvPr/>
        </p:nvSpPr>
        <p:spPr>
          <a:xfrm>
            <a:off x="9048750" y="3187700"/>
            <a:ext cx="69850" cy="76200"/>
          </a:xfrm>
          <a:custGeom>
            <a:avLst/>
            <a:gdLst/>
            <a:ahLst/>
            <a:cxnLst/>
            <a:rect l="0" t="0" r="r" b="b"/>
            <a:pathLst>
              <a:path w="69850" h="76200">
                <a:moveTo>
                  <a:pt x="0" y="0"/>
                </a:moveTo>
                <a:lnTo>
                  <a:pt x="69850" y="38100"/>
                </a:lnTo>
                <a:lnTo>
                  <a:pt x="0" y="76200"/>
                </a:lnTo>
              </a:path>
            </a:pathLst>
          </a:custGeom>
          <a:noFill/>
          <a:ln w="12700" cap="rnd">
            <a:solidFill>
              <a:srgbClr val="1B5AA8">
                <a:alpha val="6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c-2-3"/>
          <p:cNvSpPr/>
          <p:nvPr/>
        </p:nvSpPr>
        <p:spPr>
          <a:xfrm>
            <a:off x="9207500" y="3848100"/>
            <a:ext cx="2032000" cy="812800"/>
          </a:xfrm>
          <a:custGeom>
            <a:avLst/>
            <a:gdLst/>
            <a:ahLst/>
            <a:cxnLst/>
            <a:rect l="0" t="0" r="r" b="b"/>
            <a:pathLst>
              <a:path w="2032000" h="812800">
                <a:moveTo>
                  <a:pt x="114300" y="0"/>
                </a:moveTo>
                <a:lnTo>
                  <a:pt x="1917700" y="0"/>
                </a:lnTo>
                <a:cubicBezTo>
                  <a:pt x="1980819" y="0"/>
                  <a:pt x="2032000" y="51181"/>
                  <a:pt x="2032000" y="114300"/>
                </a:cubicBezTo>
                <a:lnTo>
                  <a:pt x="2032000" y="698500"/>
                </a:lnTo>
                <a:cubicBezTo>
                  <a:pt x="2032000" y="761619"/>
                  <a:pt x="1980819" y="812800"/>
                  <a:pt x="1917700" y="812800"/>
                </a:cubicBezTo>
                <a:lnTo>
                  <a:pt x="114300" y="812800"/>
                </a:lnTo>
                <a:cubicBezTo>
                  <a:pt x="51181" y="812800"/>
                  <a:pt x="0" y="761619"/>
                  <a:pt x="0" y="698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cb-2-3"/>
          <p:cNvSpPr/>
          <p:nvPr/>
        </p:nvSpPr>
        <p:spPr>
          <a:xfrm>
            <a:off x="11207750" y="3848100"/>
            <a:ext cx="31750" cy="812800"/>
          </a:xfrm>
          <a:custGeom>
            <a:avLst/>
            <a:gdLst/>
            <a:ahLst/>
            <a:cxnLst/>
            <a:rect l="0" t="0" r="r" b="b"/>
            <a:pathLst>
              <a:path w="31750" h="8128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96925"/>
                </a:lnTo>
                <a:cubicBezTo>
                  <a:pt x="31750" y="805688"/>
                  <a:pt x="24638" y="812800"/>
                  <a:pt x="15875" y="812800"/>
                </a:cubicBezTo>
                <a:lnTo>
                  <a:pt x="15875" y="812800"/>
                </a:lnTo>
                <a:cubicBezTo>
                  <a:pt x="7112" y="812800"/>
                  <a:pt x="0" y="805688"/>
                  <a:pt x="0" y="7969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icon-check"/>
          <p:cNvSpPr/>
          <p:nvPr/>
        </p:nvSpPr>
        <p:spPr>
          <a:xfrm>
            <a:off x="10845800" y="4219575"/>
            <a:ext cx="101600" cy="71438"/>
          </a:xfrm>
          <a:custGeom>
            <a:avLst/>
            <a:gdLst/>
            <a:ahLst/>
            <a:cxnLst/>
            <a:rect l="0" t="0" r="r" b="b"/>
            <a:pathLst>
              <a:path w="101600" h="71438">
                <a:moveTo>
                  <a:pt x="0" y="38100"/>
                </a:moveTo>
                <a:lnTo>
                  <a:pt x="33338" y="71438"/>
                </a:lnTo>
                <a:lnTo>
                  <a:pt x="101600" y="0"/>
                </a:lnTo>
              </a:path>
            </a:pathLst>
          </a:custGeom>
          <a:noFill/>
          <a:ln w="1270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cn-2-3"/>
          <p:cNvSpPr txBox="1"/>
          <p:nvPr/>
        </p:nvSpPr>
        <p:spPr>
          <a:xfrm>
            <a:off x="9954387" y="40390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交付项目</a:t>
            </a:r>
          </a:p>
        </p:txBody>
      </p:sp>
      <p:sp>
        <p:nvSpPr>
          <p:cNvPr id="84" name="cv-2-3"/>
          <p:cNvSpPr txBox="1"/>
          <p:nvPr/>
        </p:nvSpPr>
        <p:spPr>
          <a:xfrm>
            <a:off x="9824339" y="4256786"/>
            <a:ext cx="823849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1,860 个</a:t>
            </a:r>
          </a:p>
        </p:txBody>
      </p:sp>
      <p:sp>
        <p:nvSpPr>
          <p:cNvPr id="85" name="flow-2-3"/>
          <p:cNvSpPr/>
          <p:nvPr/>
        </p:nvSpPr>
        <p:spPr>
          <a:xfrm>
            <a:off x="8699500" y="3670300"/>
            <a:ext cx="419100" cy="584200"/>
          </a:xfrm>
          <a:custGeom>
            <a:avLst/>
            <a:gdLst/>
            <a:ahLst/>
            <a:cxnLst/>
            <a:rect l="0" t="0" r="r" b="b"/>
            <a:pathLst>
              <a:path w="419100" h="584200">
                <a:moveTo>
                  <a:pt x="0" y="0"/>
                </a:moveTo>
                <a:cubicBezTo>
                  <a:pt x="31433" y="54356"/>
                  <a:pt x="146685" y="274574"/>
                  <a:pt x="209550" y="362204"/>
                </a:cubicBezTo>
                <a:cubicBezTo>
                  <a:pt x="272415" y="449834"/>
                  <a:pt x="387667" y="550926"/>
                  <a:pt x="419100" y="584200"/>
                </a:cubicBezTo>
              </a:path>
            </a:pathLst>
          </a:custGeom>
          <a:noFill/>
          <a:ln w="11430" cap="rnd">
            <a:solidFill>
              <a:srgbClr val="3985CD">
                <a:alpha val="42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flowh-2-3"/>
          <p:cNvSpPr/>
          <p:nvPr/>
        </p:nvSpPr>
        <p:spPr>
          <a:xfrm>
            <a:off x="9048750" y="4216400"/>
            <a:ext cx="69850" cy="76200"/>
          </a:xfrm>
          <a:custGeom>
            <a:avLst/>
            <a:gdLst/>
            <a:ahLst/>
            <a:cxnLst/>
            <a:rect l="0" t="0" r="r" b="b"/>
            <a:pathLst>
              <a:path w="69850" h="76200">
                <a:moveTo>
                  <a:pt x="0" y="0"/>
                </a:moveTo>
                <a:lnTo>
                  <a:pt x="69850" y="38100"/>
                </a:lnTo>
                <a:lnTo>
                  <a:pt x="0" y="76200"/>
                </a:lnTo>
              </a:path>
            </a:pathLst>
          </a:custGeom>
          <a:noFill/>
          <a:ln w="12700" cap="rnd">
            <a:solidFill>
              <a:srgbClr val="3985CD">
                <a:alpha val="6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c-2-4"/>
          <p:cNvSpPr/>
          <p:nvPr/>
        </p:nvSpPr>
        <p:spPr>
          <a:xfrm>
            <a:off x="9207500" y="4876800"/>
            <a:ext cx="2032000" cy="812800"/>
          </a:xfrm>
          <a:custGeom>
            <a:avLst/>
            <a:gdLst/>
            <a:ahLst/>
            <a:cxnLst/>
            <a:rect l="0" t="0" r="r" b="b"/>
            <a:pathLst>
              <a:path w="2032000" h="812800">
                <a:moveTo>
                  <a:pt x="114300" y="0"/>
                </a:moveTo>
                <a:lnTo>
                  <a:pt x="1917700" y="0"/>
                </a:lnTo>
                <a:cubicBezTo>
                  <a:pt x="1980819" y="0"/>
                  <a:pt x="2032000" y="51181"/>
                  <a:pt x="2032000" y="114300"/>
                </a:cubicBezTo>
                <a:lnTo>
                  <a:pt x="2032000" y="698500"/>
                </a:lnTo>
                <a:cubicBezTo>
                  <a:pt x="2032000" y="761619"/>
                  <a:pt x="1980819" y="812800"/>
                  <a:pt x="1917700" y="812800"/>
                </a:cubicBezTo>
                <a:lnTo>
                  <a:pt x="114300" y="812800"/>
                </a:lnTo>
                <a:cubicBezTo>
                  <a:pt x="51181" y="812800"/>
                  <a:pt x="0" y="761619"/>
                  <a:pt x="0" y="698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cb-2-4"/>
          <p:cNvSpPr/>
          <p:nvPr/>
        </p:nvSpPr>
        <p:spPr>
          <a:xfrm>
            <a:off x="11207750" y="4876800"/>
            <a:ext cx="31750" cy="812800"/>
          </a:xfrm>
          <a:custGeom>
            <a:avLst/>
            <a:gdLst/>
            <a:ahLst/>
            <a:cxnLst/>
            <a:rect l="0" t="0" r="r" b="b"/>
            <a:pathLst>
              <a:path w="31750" h="8128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96925"/>
                </a:lnTo>
                <a:cubicBezTo>
                  <a:pt x="31750" y="805688"/>
                  <a:pt x="24638" y="812800"/>
                  <a:pt x="15875" y="812800"/>
                </a:cubicBezTo>
                <a:lnTo>
                  <a:pt x="15875" y="812800"/>
                </a:lnTo>
                <a:cubicBezTo>
                  <a:pt x="7112" y="812800"/>
                  <a:pt x="0" y="805688"/>
                  <a:pt x="0" y="7969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icon-star"/>
          <p:cNvSpPr/>
          <p:nvPr/>
        </p:nvSpPr>
        <p:spPr>
          <a:xfrm>
            <a:off x="10829163" y="5216525"/>
            <a:ext cx="134874" cy="128588"/>
          </a:xfrm>
          <a:custGeom>
            <a:avLst/>
            <a:gdLst/>
            <a:ahLst/>
            <a:cxnLst/>
            <a:rect l="0" t="0" r="r" b="b"/>
            <a:pathLst>
              <a:path w="134874" h="128588">
                <a:moveTo>
                  <a:pt x="67437" y="0"/>
                </a:moveTo>
                <a:lnTo>
                  <a:pt x="88074" y="42862"/>
                </a:lnTo>
                <a:lnTo>
                  <a:pt x="134874" y="49212"/>
                </a:lnTo>
                <a:lnTo>
                  <a:pt x="100774" y="81788"/>
                </a:lnTo>
                <a:lnTo>
                  <a:pt x="109474" y="128588"/>
                </a:lnTo>
                <a:lnTo>
                  <a:pt x="67437" y="105537"/>
                </a:lnTo>
                <a:lnTo>
                  <a:pt x="25400" y="128588"/>
                </a:lnTo>
                <a:lnTo>
                  <a:pt x="34099" y="81788"/>
                </a:lnTo>
                <a:lnTo>
                  <a:pt x="0" y="49212"/>
                </a:lnTo>
                <a:lnTo>
                  <a:pt x="46799" y="42862"/>
                </a:lnTo>
                <a:close/>
              </a:path>
            </a:pathLst>
          </a:custGeom>
          <a:noFill/>
          <a:ln w="1270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cn-2-4"/>
          <p:cNvSpPr txBox="1"/>
          <p:nvPr/>
        </p:nvSpPr>
        <p:spPr>
          <a:xfrm>
            <a:off x="9954387" y="50677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续约客户</a:t>
            </a:r>
          </a:p>
        </p:txBody>
      </p:sp>
      <p:sp>
        <p:nvSpPr>
          <p:cNvPr id="91" name="cv-2-4"/>
          <p:cNvSpPr txBox="1"/>
          <p:nvPr/>
        </p:nvSpPr>
        <p:spPr>
          <a:xfrm>
            <a:off x="10068433" y="5285486"/>
            <a:ext cx="579755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96.4%</a:t>
            </a:r>
          </a:p>
        </p:txBody>
      </p:sp>
      <p:sp>
        <p:nvSpPr>
          <p:cNvPr id="92" name="flow-2-4"/>
          <p:cNvSpPr/>
          <p:nvPr/>
        </p:nvSpPr>
        <p:spPr>
          <a:xfrm>
            <a:off x="8699500" y="3670300"/>
            <a:ext cx="419100" cy="1612900"/>
          </a:xfrm>
          <a:custGeom>
            <a:avLst/>
            <a:gdLst/>
            <a:ahLst/>
            <a:cxnLst/>
            <a:rect l="0" t="0" r="r" b="b"/>
            <a:pathLst>
              <a:path w="419100" h="1612900">
                <a:moveTo>
                  <a:pt x="0" y="0"/>
                </a:moveTo>
                <a:cubicBezTo>
                  <a:pt x="31433" y="149987"/>
                  <a:pt x="146685" y="758063"/>
                  <a:pt x="209550" y="999998"/>
                </a:cubicBezTo>
                <a:cubicBezTo>
                  <a:pt x="272415" y="1241933"/>
                  <a:pt x="387667" y="1520952"/>
                  <a:pt x="419100" y="1612900"/>
                </a:cubicBezTo>
              </a:path>
            </a:pathLst>
          </a:custGeom>
          <a:noFill/>
          <a:ln w="11430" cap="rnd">
            <a:solidFill>
              <a:srgbClr val="54A2DF">
                <a:alpha val="42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flowh-2-4"/>
          <p:cNvSpPr/>
          <p:nvPr/>
        </p:nvSpPr>
        <p:spPr>
          <a:xfrm>
            <a:off x="9048750" y="5245100"/>
            <a:ext cx="69850" cy="76200"/>
          </a:xfrm>
          <a:custGeom>
            <a:avLst/>
            <a:gdLst/>
            <a:ahLst/>
            <a:cxnLst/>
            <a:rect l="0" t="0" r="r" b="b"/>
            <a:pathLst>
              <a:path w="69850" h="76200">
                <a:moveTo>
                  <a:pt x="0" y="0"/>
                </a:moveTo>
                <a:lnTo>
                  <a:pt x="69850" y="38100"/>
                </a:lnTo>
                <a:lnTo>
                  <a:pt x="0" y="76200"/>
                </a:lnTo>
              </a:path>
            </a:pathLst>
          </a:custGeom>
          <a:noFill/>
          <a:ln w="12700" cap="rnd">
            <a:solidFill>
              <a:srgbClr val="54A2DF">
                <a:alpha val="6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eff"/>
          <p:cNvSpPr/>
          <p:nvPr/>
        </p:nvSpPr>
        <p:spPr>
          <a:xfrm>
            <a:off x="952500" y="5880100"/>
            <a:ext cx="10287000" cy="482600"/>
          </a:xfrm>
          <a:custGeom>
            <a:avLst/>
            <a:gdLst/>
            <a:ahLst/>
            <a:cxnLst/>
            <a:rect l="0" t="0" r="r" b="b"/>
            <a:pathLst>
              <a:path w="10287000" h="4826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381000"/>
                </a:lnTo>
                <a:cubicBezTo>
                  <a:pt x="10287000" y="437134"/>
                  <a:pt x="10241534" y="482600"/>
                  <a:pt x="101854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eff-bar"/>
          <p:cNvSpPr/>
          <p:nvPr/>
        </p:nvSpPr>
        <p:spPr>
          <a:xfrm>
            <a:off x="952500" y="5880100"/>
            <a:ext cx="31750" cy="4826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eff-h"/>
          <p:cNvSpPr txBox="1"/>
          <p:nvPr/>
        </p:nvSpPr>
        <p:spPr>
          <a:xfrm>
            <a:off x="1141222" y="60231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转化效率</a:t>
            </a:r>
          </a:p>
        </p:txBody>
      </p:sp>
      <p:sp>
        <p:nvSpPr>
          <p:cNvPr id="97" name="ev-1"/>
          <p:cNvSpPr txBox="1"/>
          <p:nvPr/>
        </p:nvSpPr>
        <p:spPr>
          <a:xfrm>
            <a:off x="2394712" y="5983986"/>
            <a:ext cx="491236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5.6×</a:t>
            </a:r>
          </a:p>
        </p:txBody>
      </p:sp>
      <p:sp>
        <p:nvSpPr>
          <p:cNvPr id="98" name="el-1"/>
          <p:cNvSpPr txBox="1"/>
          <p:nvPr/>
        </p:nvSpPr>
        <p:spPr>
          <a:xfrm>
            <a:off x="3074670" y="6054566"/>
            <a:ext cx="77025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资金投入产出比</a:t>
            </a:r>
          </a:p>
        </p:txBody>
      </p:sp>
      <p:sp>
        <p:nvSpPr>
          <p:cNvPr id="99" name="ev-2"/>
          <p:cNvSpPr txBox="1"/>
          <p:nvPr/>
        </p:nvSpPr>
        <p:spPr>
          <a:xfrm>
            <a:off x="4617212" y="5983986"/>
            <a:ext cx="646811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127 万</a:t>
            </a:r>
          </a:p>
        </p:txBody>
      </p:sp>
      <p:sp>
        <p:nvSpPr>
          <p:cNvPr id="100" name="el-2"/>
          <p:cNvSpPr txBox="1"/>
          <p:nvPr/>
        </p:nvSpPr>
        <p:spPr>
          <a:xfrm>
            <a:off x="5297170" y="6054566"/>
            <a:ext cx="4768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人均创收</a:t>
            </a:r>
          </a:p>
        </p:txBody>
      </p:sp>
      <p:sp>
        <p:nvSpPr>
          <p:cNvPr id="101" name="ev-3"/>
          <p:cNvSpPr txBox="1"/>
          <p:nvPr/>
        </p:nvSpPr>
        <p:spPr>
          <a:xfrm>
            <a:off x="6839712" y="5983986"/>
            <a:ext cx="558292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18 天</a:t>
            </a:r>
          </a:p>
        </p:txBody>
      </p:sp>
      <p:sp>
        <p:nvSpPr>
          <p:cNvPr id="102" name="el-3"/>
          <p:cNvSpPr txBox="1"/>
          <p:nvPr/>
        </p:nvSpPr>
        <p:spPr>
          <a:xfrm>
            <a:off x="7519670" y="6054566"/>
            <a:ext cx="6724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平均交付周期</a:t>
            </a:r>
          </a:p>
        </p:txBody>
      </p:sp>
      <p:sp>
        <p:nvSpPr>
          <p:cNvPr id="103" name="ev-4"/>
          <p:cNvSpPr txBox="1"/>
          <p:nvPr/>
        </p:nvSpPr>
        <p:spPr>
          <a:xfrm>
            <a:off x="9062212" y="5983986"/>
            <a:ext cx="668274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+32.4%</a:t>
            </a:r>
          </a:p>
        </p:txBody>
      </p:sp>
      <p:sp>
        <p:nvSpPr>
          <p:cNvPr id="104" name="el-4"/>
          <p:cNvSpPr txBox="1"/>
          <p:nvPr/>
        </p:nvSpPr>
        <p:spPr>
          <a:xfrm>
            <a:off x="9742170" y="6054566"/>
            <a:ext cx="4768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同比增速</a:t>
            </a:r>
          </a:p>
        </p:txBody>
      </p:sp>
      <p:cxnSp>
        <p:nvCxnSpPr>
          <p:cNvPr id="105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6" name="foot-l"/>
          <p:cNvSpPr txBox="1"/>
          <p:nvPr/>
        </p:nvSpPr>
        <p:spPr>
          <a:xfrm>
            <a:off x="573532" y="6532308"/>
            <a:ext cx="13406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投入产出 · 四进三加工四出</a:t>
            </a:r>
          </a:p>
        </p:txBody>
      </p:sp>
      <p:sp>
        <p:nvSpPr>
          <p:cNvPr id="107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故障分级响应机制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62801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ESCALATION LADDER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551799" y="673132"/>
            <a:ext cx="30689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四级事件对应四套响应标准，升级条件与关闭条件均可追溯</a:t>
            </a:r>
          </a:p>
        </p:txBody>
      </p:sp>
      <p:sp>
        <p:nvSpPr>
          <p:cNvPr id="10" name="axis"/>
          <p:cNvSpPr/>
          <p:nvPr/>
        </p:nvSpPr>
        <p:spPr>
          <a:xfrm>
            <a:off x="704850" y="1524000"/>
            <a:ext cx="63500" cy="3594100"/>
          </a:xfrm>
          <a:custGeom>
            <a:avLst/>
            <a:gdLst/>
            <a:ahLst/>
            <a:cxnLst/>
            <a:rect l="0" t="0" r="r" b="b"/>
            <a:pathLst>
              <a:path w="63500" h="3594100">
                <a:moveTo>
                  <a:pt x="31750" y="0"/>
                </a:moveTo>
                <a:lnTo>
                  <a:pt x="31750" y="0"/>
                </a:lnTo>
                <a:cubicBezTo>
                  <a:pt x="49276" y="0"/>
                  <a:pt x="63500" y="14224"/>
                  <a:pt x="63500" y="31750"/>
                </a:cubicBezTo>
                <a:lnTo>
                  <a:pt x="63500" y="3562350"/>
                </a:lnTo>
                <a:cubicBezTo>
                  <a:pt x="63500" y="3579876"/>
                  <a:pt x="49276" y="3594100"/>
                  <a:pt x="31750" y="3594100"/>
                </a:cubicBezTo>
                <a:lnTo>
                  <a:pt x="31750" y="3594100"/>
                </a:lnTo>
                <a:cubicBezTo>
                  <a:pt x="14224" y="3594100"/>
                  <a:pt x="0" y="3579876"/>
                  <a:pt x="0" y="35623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gradFill rotWithShape="1">
            <a:gsLst>
              <a:gs pos="0">
                <a:srgbClr val="AFC8E4"/>
              </a:gs>
              <a:gs pos="100000">
                <a:srgbClr val="0B3E8F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axis-head"/>
          <p:cNvSpPr/>
          <p:nvPr/>
        </p:nvSpPr>
        <p:spPr>
          <a:xfrm>
            <a:off x="635000" y="5118100"/>
            <a:ext cx="203200" cy="203200"/>
          </a:xfrm>
          <a:custGeom>
            <a:avLst/>
            <a:gdLst/>
            <a:ahLst/>
            <a:cxnLst/>
            <a:rect l="0" t="0" r="r" b="b"/>
            <a:pathLst>
              <a:path w="203200" h="203200">
                <a:moveTo>
                  <a:pt x="0" y="0"/>
                </a:moveTo>
                <a:lnTo>
                  <a:pt x="101600" y="203200"/>
                </a:lnTo>
                <a:lnTo>
                  <a:pt x="203200" y="0"/>
                </a:ln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axis-t"/>
          <p:cNvSpPr txBox="1"/>
          <p:nvPr/>
        </p:nvSpPr>
        <p:spPr>
          <a:xfrm>
            <a:off x="586232" y="1312608"/>
            <a:ext cx="4737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升级方向</a:t>
            </a:r>
          </a:p>
        </p:txBody>
      </p:sp>
      <p:sp>
        <p:nvSpPr>
          <p:cNvPr id="13" name="row-1"/>
          <p:cNvSpPr/>
          <p:nvPr/>
        </p:nvSpPr>
        <p:spPr>
          <a:xfrm>
            <a:off x="952500" y="1524000"/>
            <a:ext cx="7493000" cy="800100"/>
          </a:xfrm>
          <a:custGeom>
            <a:avLst/>
            <a:gdLst/>
            <a:ahLst/>
            <a:cxnLst/>
            <a:rect l="0" t="0" r="r" b="b"/>
            <a:pathLst>
              <a:path w="7493000" h="800100">
                <a:moveTo>
                  <a:pt x="114300" y="0"/>
                </a:moveTo>
                <a:lnTo>
                  <a:pt x="7378700" y="0"/>
                </a:lnTo>
                <a:cubicBezTo>
                  <a:pt x="7441819" y="0"/>
                  <a:pt x="7493000" y="51181"/>
                  <a:pt x="7493000" y="114300"/>
                </a:cubicBezTo>
                <a:lnTo>
                  <a:pt x="7493000" y="685800"/>
                </a:lnTo>
                <a:cubicBezTo>
                  <a:pt x="7493000" y="748919"/>
                  <a:pt x="7441819" y="800100"/>
                  <a:pt x="7378700" y="800100"/>
                </a:cubicBezTo>
                <a:lnTo>
                  <a:pt x="114300" y="800100"/>
                </a:lnTo>
                <a:cubicBezTo>
                  <a:pt x="51181" y="800100"/>
                  <a:pt x="0" y="748919"/>
                  <a:pt x="0" y="6858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rowb-1"/>
          <p:cNvSpPr/>
          <p:nvPr/>
        </p:nvSpPr>
        <p:spPr>
          <a:xfrm>
            <a:off x="952500" y="1524000"/>
            <a:ext cx="44450" cy="800100"/>
          </a:xfrm>
          <a:custGeom>
            <a:avLst/>
            <a:gdLst/>
            <a:ahLst/>
            <a:cxnLst/>
            <a:rect l="0" t="0" r="r" b="b"/>
            <a:pathLst>
              <a:path w="44450" h="800100">
                <a:moveTo>
                  <a:pt x="22225" y="0"/>
                </a:moveTo>
                <a:lnTo>
                  <a:pt x="22225" y="0"/>
                </a:lnTo>
                <a:cubicBezTo>
                  <a:pt x="34481" y="0"/>
                  <a:pt x="44450" y="9969"/>
                  <a:pt x="44450" y="22225"/>
                </a:cubicBezTo>
                <a:lnTo>
                  <a:pt x="44450" y="777875"/>
                </a:lnTo>
                <a:cubicBezTo>
                  <a:pt x="44450" y="790130"/>
                  <a:pt x="34481" y="800100"/>
                  <a:pt x="22225" y="800100"/>
                </a:cubicBezTo>
                <a:lnTo>
                  <a:pt x="22225" y="800100"/>
                </a:lnTo>
                <a:cubicBezTo>
                  <a:pt x="9969" y="800100"/>
                  <a:pt x="0" y="790130"/>
                  <a:pt x="0" y="777875"/>
                </a:cubicBezTo>
                <a:lnTo>
                  <a:pt x="0" y="22225"/>
                </a:lnTo>
                <a:cubicBezTo>
                  <a:pt x="0" y="9969"/>
                  <a:pt x="9969" y="0"/>
                  <a:pt x="22225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lv-1"/>
          <p:cNvSpPr/>
          <p:nvPr/>
        </p:nvSpPr>
        <p:spPr>
          <a:xfrm>
            <a:off x="1168400" y="1663700"/>
            <a:ext cx="584200" cy="520700"/>
          </a:xfrm>
          <a:custGeom>
            <a:avLst/>
            <a:gdLst/>
            <a:ahLst/>
            <a:cxnLst/>
            <a:rect l="0" t="0" r="r" b="b"/>
            <a:pathLst>
              <a:path w="584200" h="520700">
                <a:moveTo>
                  <a:pt x="101600" y="0"/>
                </a:moveTo>
                <a:lnTo>
                  <a:pt x="482600" y="0"/>
                </a:lnTo>
                <a:cubicBezTo>
                  <a:pt x="538734" y="0"/>
                  <a:pt x="584200" y="45466"/>
                  <a:pt x="584200" y="101600"/>
                </a:cubicBezTo>
                <a:lnTo>
                  <a:pt x="584200" y="419100"/>
                </a:lnTo>
                <a:cubicBezTo>
                  <a:pt x="584200" y="475234"/>
                  <a:pt x="538734" y="520700"/>
                  <a:pt x="482600" y="520700"/>
                </a:cubicBezTo>
                <a:lnTo>
                  <a:pt x="101600" y="520700"/>
                </a:lnTo>
                <a:cubicBezTo>
                  <a:pt x="45466" y="520700"/>
                  <a:pt x="0" y="475234"/>
                  <a:pt x="0" y="4191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4694D7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lvt-1"/>
          <p:cNvSpPr txBox="1"/>
          <p:nvPr/>
        </p:nvSpPr>
        <p:spPr>
          <a:xfrm>
            <a:off x="1223264" y="1736979"/>
            <a:ext cx="474472" cy="4000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800" b="1" spc="50">
                <a:solidFill>
                  <a:srgbClr val="4694D7"/>
                </a:solidFill>
                <a:latin typeface="Arial"/>
                <a:ea typeface="Arial"/>
                <a:cs typeface="Arial"/>
              </a:rPr>
              <a:t>L1</a:t>
            </a:r>
          </a:p>
        </p:txBody>
      </p:sp>
      <p:sp>
        <p:nvSpPr>
          <p:cNvPr id="17" name="icon-bulb"/>
          <p:cNvSpPr/>
          <p:nvPr/>
        </p:nvSpPr>
        <p:spPr>
          <a:xfrm>
            <a:off x="1951929" y="1765110"/>
            <a:ext cx="83941" cy="124460"/>
          </a:xfrm>
          <a:custGeom>
            <a:avLst/>
            <a:gdLst/>
            <a:ahLst/>
            <a:cxnLst/>
            <a:rect l="0" t="0" r="r" b="b"/>
            <a:pathLst>
              <a:path w="83941" h="124460">
                <a:moveTo>
                  <a:pt x="24191" y="103695"/>
                </a:moveTo>
                <a:lnTo>
                  <a:pt x="59751" y="103695"/>
                </a:lnTo>
                <a:moveTo>
                  <a:pt x="28636" y="124460"/>
                </a:moveTo>
                <a:lnTo>
                  <a:pt x="55306" y="124460"/>
                </a:lnTo>
                <a:moveTo>
                  <a:pt x="41971" y="0"/>
                </a:moveTo>
                <a:cubicBezTo>
                  <a:pt x="59941" y="-254"/>
                  <a:pt x="76070" y="11176"/>
                  <a:pt x="81785" y="28257"/>
                </a:cubicBezTo>
                <a:cubicBezTo>
                  <a:pt x="87500" y="45275"/>
                  <a:pt x="81595" y="64071"/>
                  <a:pt x="67180" y="74803"/>
                </a:cubicBezTo>
                <a:cubicBezTo>
                  <a:pt x="61973" y="79248"/>
                  <a:pt x="59751" y="83693"/>
                  <a:pt x="59751" y="90360"/>
                </a:cubicBezTo>
                <a:lnTo>
                  <a:pt x="24191" y="90360"/>
                </a:lnTo>
                <a:cubicBezTo>
                  <a:pt x="24191" y="83693"/>
                  <a:pt x="21968" y="79248"/>
                  <a:pt x="16761" y="74803"/>
                </a:cubicBezTo>
                <a:cubicBezTo>
                  <a:pt x="2347" y="64071"/>
                  <a:pt x="-3559" y="45275"/>
                  <a:pt x="2156" y="28257"/>
                </a:cubicBezTo>
                <a:cubicBezTo>
                  <a:pt x="7871" y="11176"/>
                  <a:pt x="24000" y="-254"/>
                  <a:pt x="41971" y="0"/>
                </a:cubicBezTo>
                <a:close/>
              </a:path>
            </a:pathLst>
          </a:cu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nm-1"/>
          <p:cNvSpPr txBox="1"/>
          <p:nvPr/>
        </p:nvSpPr>
        <p:spPr>
          <a:xfrm>
            <a:off x="2203450" y="1683544"/>
            <a:ext cx="8413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一般问题</a:t>
            </a:r>
          </a:p>
        </p:txBody>
      </p:sp>
      <p:sp>
        <p:nvSpPr>
          <p:cNvPr id="19" name="desc-1"/>
          <p:cNvSpPr txBox="1"/>
          <p:nvPr/>
        </p:nvSpPr>
        <p:spPr>
          <a:xfrm>
            <a:off x="1980565" y="1983661"/>
            <a:ext cx="157765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单点功能异常，不影响主流程</a:t>
            </a:r>
          </a:p>
        </p:txBody>
      </p:sp>
      <p:sp>
        <p:nvSpPr>
          <p:cNvPr id="20" name="al-1-1"/>
          <p:cNvSpPr txBox="1"/>
          <p:nvPr/>
        </p:nvSpPr>
        <p:spPr>
          <a:xfrm>
            <a:off x="4688332" y="1719008"/>
            <a:ext cx="3695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6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响应人</a:t>
            </a:r>
          </a:p>
        </p:txBody>
      </p:sp>
      <p:sp>
        <p:nvSpPr>
          <p:cNvPr id="21" name="av-1-1"/>
          <p:cNvSpPr txBox="1"/>
          <p:nvPr/>
        </p:nvSpPr>
        <p:spPr>
          <a:xfrm>
            <a:off x="4684522" y="1895697"/>
            <a:ext cx="48196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服务台</a:t>
            </a:r>
          </a:p>
        </p:txBody>
      </p:sp>
      <p:cxnSp>
        <p:nvCxnSpPr>
          <p:cNvPr id="22" name="asep-1-1"/>
          <p:cNvCxnSpPr/>
          <p:nvPr/>
        </p:nvCxnSpPr>
        <p:spPr>
          <a:xfrm>
            <a:off x="5816600" y="1714500"/>
            <a:ext cx="0" cy="431800"/>
          </a:xfrm>
          <a:prstGeom prst="line">
            <a:avLst/>
          </a:prstGeom>
          <a:ln w="6350" cap="rnd">
            <a:solidFill>
              <a:srgbClr val="0B2545">
                <a:alpha val="9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al-1-2"/>
          <p:cNvSpPr txBox="1"/>
          <p:nvPr/>
        </p:nvSpPr>
        <p:spPr>
          <a:xfrm>
            <a:off x="5958332" y="1719008"/>
            <a:ext cx="4660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6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响应时限</a:t>
            </a:r>
          </a:p>
        </p:txBody>
      </p:sp>
      <p:sp>
        <p:nvSpPr>
          <p:cNvPr id="24" name="av-1-2"/>
          <p:cNvSpPr txBox="1"/>
          <p:nvPr/>
        </p:nvSpPr>
        <p:spPr>
          <a:xfrm>
            <a:off x="5954522" y="1895697"/>
            <a:ext cx="50025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4 小时</a:t>
            </a:r>
          </a:p>
        </p:txBody>
      </p:sp>
      <p:cxnSp>
        <p:nvCxnSpPr>
          <p:cNvPr id="25" name="asep-1-2"/>
          <p:cNvCxnSpPr/>
          <p:nvPr/>
        </p:nvCxnSpPr>
        <p:spPr>
          <a:xfrm>
            <a:off x="7086600" y="1714500"/>
            <a:ext cx="0" cy="431800"/>
          </a:xfrm>
          <a:prstGeom prst="line">
            <a:avLst/>
          </a:prstGeom>
          <a:ln w="6350" cap="rnd">
            <a:solidFill>
              <a:srgbClr val="0B2545">
                <a:alpha val="9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al-1-3"/>
          <p:cNvSpPr txBox="1"/>
          <p:nvPr/>
        </p:nvSpPr>
        <p:spPr>
          <a:xfrm>
            <a:off x="7228332" y="1719008"/>
            <a:ext cx="4660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6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沟通要求</a:t>
            </a:r>
          </a:p>
        </p:txBody>
      </p:sp>
      <p:sp>
        <p:nvSpPr>
          <p:cNvPr id="27" name="av-1-3"/>
          <p:cNvSpPr txBox="1"/>
          <p:nvPr/>
        </p:nvSpPr>
        <p:spPr>
          <a:xfrm>
            <a:off x="7224522" y="1895697"/>
            <a:ext cx="85534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工单系统闭环</a:t>
            </a:r>
          </a:p>
        </p:txBody>
      </p:sp>
      <p:sp>
        <p:nvSpPr>
          <p:cNvPr id="28" name="cond-1"/>
          <p:cNvSpPr/>
          <p:nvPr/>
        </p:nvSpPr>
        <p:spPr>
          <a:xfrm>
            <a:off x="2857500" y="2349500"/>
            <a:ext cx="2286000" cy="165100"/>
          </a:xfrm>
          <a:custGeom>
            <a:avLst/>
            <a:gdLst/>
            <a:ahLst/>
            <a:cxnLst/>
            <a:rect l="0" t="0" r="r" b="b"/>
            <a:pathLst>
              <a:path w="2286000" h="165100">
                <a:moveTo>
                  <a:pt x="82550" y="0"/>
                </a:moveTo>
                <a:lnTo>
                  <a:pt x="2203450" y="0"/>
                </a:lnTo>
                <a:cubicBezTo>
                  <a:pt x="2249043" y="0"/>
                  <a:pt x="2286000" y="36957"/>
                  <a:pt x="2286000" y="82550"/>
                </a:cubicBezTo>
                <a:lnTo>
                  <a:pt x="2286000" y="82550"/>
                </a:lnTo>
                <a:cubicBezTo>
                  <a:pt x="2286000" y="128143"/>
                  <a:pt x="2249043" y="165100"/>
                  <a:pt x="2203450" y="165100"/>
                </a:cubicBezTo>
                <a:lnTo>
                  <a:pt x="82550" y="165100"/>
                </a:lnTo>
                <a:cubicBezTo>
                  <a:pt x="36957" y="165100"/>
                  <a:pt x="0" y="128143"/>
                  <a:pt x="0" y="825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E7E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condt-1"/>
          <p:cNvSpPr txBox="1"/>
          <p:nvPr/>
        </p:nvSpPr>
        <p:spPr>
          <a:xfrm>
            <a:off x="3117723" y="2360358"/>
            <a:ext cx="176555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升级条件：超 4 小时未闭环 / 影响扩大</a:t>
            </a:r>
          </a:p>
        </p:txBody>
      </p:sp>
      <p:sp>
        <p:nvSpPr>
          <p:cNvPr id="30" name="row-2"/>
          <p:cNvSpPr/>
          <p:nvPr/>
        </p:nvSpPr>
        <p:spPr>
          <a:xfrm>
            <a:off x="952500" y="2540000"/>
            <a:ext cx="7493000" cy="800100"/>
          </a:xfrm>
          <a:custGeom>
            <a:avLst/>
            <a:gdLst/>
            <a:ahLst/>
            <a:cxnLst/>
            <a:rect l="0" t="0" r="r" b="b"/>
            <a:pathLst>
              <a:path w="7493000" h="800100">
                <a:moveTo>
                  <a:pt x="114300" y="0"/>
                </a:moveTo>
                <a:lnTo>
                  <a:pt x="7378700" y="0"/>
                </a:lnTo>
                <a:cubicBezTo>
                  <a:pt x="7441819" y="0"/>
                  <a:pt x="7493000" y="51181"/>
                  <a:pt x="7493000" y="114300"/>
                </a:cubicBezTo>
                <a:lnTo>
                  <a:pt x="7493000" y="685800"/>
                </a:lnTo>
                <a:cubicBezTo>
                  <a:pt x="7493000" y="748919"/>
                  <a:pt x="7441819" y="800100"/>
                  <a:pt x="7378700" y="800100"/>
                </a:cubicBezTo>
                <a:lnTo>
                  <a:pt x="114300" y="800100"/>
                </a:lnTo>
                <a:cubicBezTo>
                  <a:pt x="51181" y="800100"/>
                  <a:pt x="0" y="748919"/>
                  <a:pt x="0" y="6858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rowb-2"/>
          <p:cNvSpPr/>
          <p:nvPr/>
        </p:nvSpPr>
        <p:spPr>
          <a:xfrm>
            <a:off x="952500" y="2540000"/>
            <a:ext cx="44450" cy="800100"/>
          </a:xfrm>
          <a:custGeom>
            <a:avLst/>
            <a:gdLst/>
            <a:ahLst/>
            <a:cxnLst/>
            <a:rect l="0" t="0" r="r" b="b"/>
            <a:pathLst>
              <a:path w="44450" h="800100">
                <a:moveTo>
                  <a:pt x="22225" y="0"/>
                </a:moveTo>
                <a:lnTo>
                  <a:pt x="22225" y="0"/>
                </a:lnTo>
                <a:cubicBezTo>
                  <a:pt x="34481" y="0"/>
                  <a:pt x="44450" y="9969"/>
                  <a:pt x="44450" y="22225"/>
                </a:cubicBezTo>
                <a:lnTo>
                  <a:pt x="44450" y="777875"/>
                </a:lnTo>
                <a:cubicBezTo>
                  <a:pt x="44450" y="790130"/>
                  <a:pt x="34481" y="800100"/>
                  <a:pt x="22225" y="800100"/>
                </a:cubicBezTo>
                <a:lnTo>
                  <a:pt x="22225" y="800100"/>
                </a:lnTo>
                <a:cubicBezTo>
                  <a:pt x="9969" y="800100"/>
                  <a:pt x="0" y="790130"/>
                  <a:pt x="0" y="777875"/>
                </a:cubicBezTo>
                <a:lnTo>
                  <a:pt x="0" y="22225"/>
                </a:lnTo>
                <a:cubicBezTo>
                  <a:pt x="0" y="9969"/>
                  <a:pt x="9969" y="0"/>
                  <a:pt x="22225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lv-2"/>
          <p:cNvSpPr/>
          <p:nvPr/>
        </p:nvSpPr>
        <p:spPr>
          <a:xfrm>
            <a:off x="1168400" y="2679700"/>
            <a:ext cx="584200" cy="520700"/>
          </a:xfrm>
          <a:custGeom>
            <a:avLst/>
            <a:gdLst/>
            <a:ahLst/>
            <a:cxnLst/>
            <a:rect l="0" t="0" r="r" b="b"/>
            <a:pathLst>
              <a:path w="584200" h="520700">
                <a:moveTo>
                  <a:pt x="101600" y="0"/>
                </a:moveTo>
                <a:lnTo>
                  <a:pt x="482600" y="0"/>
                </a:lnTo>
                <a:cubicBezTo>
                  <a:pt x="538734" y="0"/>
                  <a:pt x="584200" y="45466"/>
                  <a:pt x="584200" y="101600"/>
                </a:cubicBezTo>
                <a:lnTo>
                  <a:pt x="584200" y="419100"/>
                </a:lnTo>
                <a:cubicBezTo>
                  <a:pt x="584200" y="475234"/>
                  <a:pt x="538734" y="520700"/>
                  <a:pt x="482600" y="520700"/>
                </a:cubicBezTo>
                <a:lnTo>
                  <a:pt x="101600" y="520700"/>
                </a:lnTo>
                <a:cubicBezTo>
                  <a:pt x="45466" y="520700"/>
                  <a:pt x="0" y="475234"/>
                  <a:pt x="0" y="4191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2E77C2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lvt-2"/>
          <p:cNvSpPr txBox="1"/>
          <p:nvPr/>
        </p:nvSpPr>
        <p:spPr>
          <a:xfrm>
            <a:off x="1223264" y="2752979"/>
            <a:ext cx="474472" cy="4000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800" b="1" spc="50">
                <a:solidFill>
                  <a:srgbClr val="2E77C2"/>
                </a:solidFill>
                <a:latin typeface="Arial"/>
                <a:ea typeface="Arial"/>
                <a:cs typeface="Arial"/>
              </a:rPr>
              <a:t>L2</a:t>
            </a:r>
          </a:p>
        </p:txBody>
      </p:sp>
      <p:sp>
        <p:nvSpPr>
          <p:cNvPr id="34" name="icon-tools"/>
          <p:cNvSpPr/>
          <p:nvPr/>
        </p:nvSpPr>
        <p:spPr>
          <a:xfrm>
            <a:off x="1937647" y="2785017"/>
            <a:ext cx="105148" cy="104233"/>
          </a:xfrm>
          <a:custGeom>
            <a:avLst/>
            <a:gdLst/>
            <a:ahLst/>
            <a:cxnLst/>
            <a:rect l="0" t="0" r="r" b="b"/>
            <a:pathLst>
              <a:path w="105148" h="104233">
                <a:moveTo>
                  <a:pt x="19233" y="3458"/>
                </a:moveTo>
                <a:lnTo>
                  <a:pt x="41458" y="25683"/>
                </a:lnTo>
                <a:lnTo>
                  <a:pt x="25138" y="42003"/>
                </a:lnTo>
                <a:lnTo>
                  <a:pt x="2913" y="19778"/>
                </a:lnTo>
                <a:cubicBezTo>
                  <a:pt x="-2421" y="30954"/>
                  <a:pt x="-325" y="44225"/>
                  <a:pt x="8311" y="53179"/>
                </a:cubicBezTo>
                <a:cubicBezTo>
                  <a:pt x="16883" y="62069"/>
                  <a:pt x="30091" y="64736"/>
                  <a:pt x="41458" y="59783"/>
                </a:cubicBezTo>
                <a:lnTo>
                  <a:pt x="85908" y="104233"/>
                </a:lnTo>
                <a:lnTo>
                  <a:pt x="105148" y="84992"/>
                </a:lnTo>
                <a:lnTo>
                  <a:pt x="60698" y="40542"/>
                </a:lnTo>
                <a:cubicBezTo>
                  <a:pt x="65270" y="28985"/>
                  <a:pt x="62159" y="15777"/>
                  <a:pt x="52888" y="7522"/>
                </a:cubicBezTo>
                <a:cubicBezTo>
                  <a:pt x="43617" y="-733"/>
                  <a:pt x="30155" y="-2384"/>
                  <a:pt x="19233" y="3458"/>
                </a:cubicBezTo>
                <a:close/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nm-2"/>
          <p:cNvSpPr txBox="1"/>
          <p:nvPr/>
        </p:nvSpPr>
        <p:spPr>
          <a:xfrm>
            <a:off x="2203450" y="2699544"/>
            <a:ext cx="8413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重要问题</a:t>
            </a:r>
          </a:p>
        </p:txBody>
      </p:sp>
      <p:sp>
        <p:nvSpPr>
          <p:cNvPr id="36" name="desc-2"/>
          <p:cNvSpPr txBox="1"/>
          <p:nvPr/>
        </p:nvSpPr>
        <p:spPr>
          <a:xfrm>
            <a:off x="1980565" y="2999661"/>
            <a:ext cx="157765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局部业务受阻，存在替代方案</a:t>
            </a:r>
          </a:p>
        </p:txBody>
      </p:sp>
      <p:sp>
        <p:nvSpPr>
          <p:cNvPr id="37" name="al-2-1"/>
          <p:cNvSpPr txBox="1"/>
          <p:nvPr/>
        </p:nvSpPr>
        <p:spPr>
          <a:xfrm>
            <a:off x="4688332" y="2735008"/>
            <a:ext cx="3695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6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响应人</a:t>
            </a:r>
          </a:p>
        </p:txBody>
      </p:sp>
      <p:sp>
        <p:nvSpPr>
          <p:cNvPr id="38" name="av-2-1"/>
          <p:cNvSpPr txBox="1"/>
          <p:nvPr/>
        </p:nvSpPr>
        <p:spPr>
          <a:xfrm>
            <a:off x="4684522" y="2911697"/>
            <a:ext cx="7308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一线工程师</a:t>
            </a:r>
          </a:p>
        </p:txBody>
      </p:sp>
      <p:cxnSp>
        <p:nvCxnSpPr>
          <p:cNvPr id="39" name="asep-2-1"/>
          <p:cNvCxnSpPr/>
          <p:nvPr/>
        </p:nvCxnSpPr>
        <p:spPr>
          <a:xfrm>
            <a:off x="5816600" y="2730500"/>
            <a:ext cx="0" cy="431800"/>
          </a:xfrm>
          <a:prstGeom prst="line">
            <a:avLst/>
          </a:prstGeom>
          <a:ln w="6350" cap="rnd">
            <a:solidFill>
              <a:srgbClr val="0B2545">
                <a:alpha val="9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al-2-2"/>
          <p:cNvSpPr txBox="1"/>
          <p:nvPr/>
        </p:nvSpPr>
        <p:spPr>
          <a:xfrm>
            <a:off x="5958332" y="2735008"/>
            <a:ext cx="4660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6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响应时限</a:t>
            </a:r>
          </a:p>
        </p:txBody>
      </p:sp>
      <p:sp>
        <p:nvSpPr>
          <p:cNvPr id="41" name="av-2-2"/>
          <p:cNvSpPr txBox="1"/>
          <p:nvPr/>
        </p:nvSpPr>
        <p:spPr>
          <a:xfrm>
            <a:off x="5954522" y="2911697"/>
            <a:ext cx="50025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2 小时</a:t>
            </a:r>
          </a:p>
        </p:txBody>
      </p:sp>
      <p:cxnSp>
        <p:nvCxnSpPr>
          <p:cNvPr id="42" name="asep-2-2"/>
          <p:cNvCxnSpPr/>
          <p:nvPr/>
        </p:nvCxnSpPr>
        <p:spPr>
          <a:xfrm>
            <a:off x="7086600" y="2730500"/>
            <a:ext cx="0" cy="431800"/>
          </a:xfrm>
          <a:prstGeom prst="line">
            <a:avLst/>
          </a:prstGeom>
          <a:ln w="6350" cap="rnd">
            <a:solidFill>
              <a:srgbClr val="0B2545">
                <a:alpha val="9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al-2-3"/>
          <p:cNvSpPr txBox="1"/>
          <p:nvPr/>
        </p:nvSpPr>
        <p:spPr>
          <a:xfrm>
            <a:off x="7228332" y="2735008"/>
            <a:ext cx="4660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6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沟通要求</a:t>
            </a:r>
          </a:p>
        </p:txBody>
      </p:sp>
      <p:sp>
        <p:nvSpPr>
          <p:cNvPr id="44" name="av-2-3"/>
          <p:cNvSpPr txBox="1"/>
          <p:nvPr/>
        </p:nvSpPr>
        <p:spPr>
          <a:xfrm>
            <a:off x="7226808" y="2935224"/>
            <a:ext cx="82931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现场或远程处理</a:t>
            </a:r>
          </a:p>
        </p:txBody>
      </p:sp>
      <p:sp>
        <p:nvSpPr>
          <p:cNvPr id="45" name="cond-2"/>
          <p:cNvSpPr/>
          <p:nvPr/>
        </p:nvSpPr>
        <p:spPr>
          <a:xfrm>
            <a:off x="2857500" y="3365500"/>
            <a:ext cx="2286000" cy="165100"/>
          </a:xfrm>
          <a:custGeom>
            <a:avLst/>
            <a:gdLst/>
            <a:ahLst/>
            <a:cxnLst/>
            <a:rect l="0" t="0" r="r" b="b"/>
            <a:pathLst>
              <a:path w="2286000" h="165100">
                <a:moveTo>
                  <a:pt x="82550" y="0"/>
                </a:moveTo>
                <a:lnTo>
                  <a:pt x="2203450" y="0"/>
                </a:lnTo>
                <a:cubicBezTo>
                  <a:pt x="2249043" y="0"/>
                  <a:pt x="2286000" y="36957"/>
                  <a:pt x="2286000" y="82550"/>
                </a:cubicBezTo>
                <a:lnTo>
                  <a:pt x="2286000" y="82550"/>
                </a:lnTo>
                <a:cubicBezTo>
                  <a:pt x="2286000" y="128143"/>
                  <a:pt x="2249043" y="165100"/>
                  <a:pt x="2203450" y="165100"/>
                </a:cubicBezTo>
                <a:lnTo>
                  <a:pt x="82550" y="165100"/>
                </a:lnTo>
                <a:cubicBezTo>
                  <a:pt x="36957" y="165100"/>
                  <a:pt x="0" y="128143"/>
                  <a:pt x="0" y="825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E7E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condt-2"/>
          <p:cNvSpPr txBox="1"/>
          <p:nvPr/>
        </p:nvSpPr>
        <p:spPr>
          <a:xfrm>
            <a:off x="3228975" y="3376358"/>
            <a:ext cx="154305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升级条件：涉及多客户或主流程受阻</a:t>
            </a:r>
          </a:p>
        </p:txBody>
      </p:sp>
      <p:sp>
        <p:nvSpPr>
          <p:cNvPr id="47" name="row-3"/>
          <p:cNvSpPr/>
          <p:nvPr/>
        </p:nvSpPr>
        <p:spPr>
          <a:xfrm>
            <a:off x="952500" y="3556000"/>
            <a:ext cx="7493000" cy="800100"/>
          </a:xfrm>
          <a:custGeom>
            <a:avLst/>
            <a:gdLst/>
            <a:ahLst/>
            <a:cxnLst/>
            <a:rect l="0" t="0" r="r" b="b"/>
            <a:pathLst>
              <a:path w="7493000" h="800100">
                <a:moveTo>
                  <a:pt x="114300" y="0"/>
                </a:moveTo>
                <a:lnTo>
                  <a:pt x="7378700" y="0"/>
                </a:lnTo>
                <a:cubicBezTo>
                  <a:pt x="7441819" y="0"/>
                  <a:pt x="7493000" y="51181"/>
                  <a:pt x="7493000" y="114300"/>
                </a:cubicBezTo>
                <a:lnTo>
                  <a:pt x="7493000" y="685800"/>
                </a:lnTo>
                <a:cubicBezTo>
                  <a:pt x="7493000" y="748919"/>
                  <a:pt x="7441819" y="800100"/>
                  <a:pt x="7378700" y="800100"/>
                </a:cubicBezTo>
                <a:lnTo>
                  <a:pt x="114300" y="800100"/>
                </a:lnTo>
                <a:cubicBezTo>
                  <a:pt x="51181" y="800100"/>
                  <a:pt x="0" y="748919"/>
                  <a:pt x="0" y="6858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3B71B4"/>
              </a:gs>
              <a:gs pos="100000">
                <a:srgbClr val="1B5AA8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lv-3"/>
          <p:cNvSpPr/>
          <p:nvPr/>
        </p:nvSpPr>
        <p:spPr>
          <a:xfrm>
            <a:off x="1168400" y="3695700"/>
            <a:ext cx="584200" cy="520700"/>
          </a:xfrm>
          <a:custGeom>
            <a:avLst/>
            <a:gdLst/>
            <a:ahLst/>
            <a:cxnLst/>
            <a:rect l="0" t="0" r="r" b="b"/>
            <a:pathLst>
              <a:path w="584200" h="520700">
                <a:moveTo>
                  <a:pt x="101600" y="0"/>
                </a:moveTo>
                <a:lnTo>
                  <a:pt x="482600" y="0"/>
                </a:lnTo>
                <a:cubicBezTo>
                  <a:pt x="538734" y="0"/>
                  <a:pt x="584200" y="45466"/>
                  <a:pt x="584200" y="101600"/>
                </a:cubicBezTo>
                <a:lnTo>
                  <a:pt x="584200" y="419100"/>
                </a:lnTo>
                <a:cubicBezTo>
                  <a:pt x="584200" y="475234"/>
                  <a:pt x="538734" y="520700"/>
                  <a:pt x="482600" y="520700"/>
                </a:cubicBezTo>
                <a:lnTo>
                  <a:pt x="101600" y="520700"/>
                </a:lnTo>
                <a:cubicBezTo>
                  <a:pt x="45466" y="520700"/>
                  <a:pt x="0" y="475234"/>
                  <a:pt x="0" y="4191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lvt-3"/>
          <p:cNvSpPr txBox="1"/>
          <p:nvPr/>
        </p:nvSpPr>
        <p:spPr>
          <a:xfrm>
            <a:off x="1223264" y="3768979"/>
            <a:ext cx="474472" cy="4000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800" b="1" spc="50">
                <a:solidFill>
                  <a:srgbClr val="FFFFFF"/>
                </a:solidFill>
                <a:latin typeface="Arial"/>
                <a:ea typeface="Arial"/>
                <a:cs typeface="Arial"/>
              </a:rPr>
              <a:t>L3</a:t>
            </a:r>
          </a:p>
        </p:txBody>
      </p:sp>
      <p:sp>
        <p:nvSpPr>
          <p:cNvPr id="50" name="icon-shield"/>
          <p:cNvSpPr/>
          <p:nvPr/>
        </p:nvSpPr>
        <p:spPr>
          <a:xfrm>
            <a:off x="1940560" y="3797110"/>
            <a:ext cx="106680" cy="127381"/>
          </a:xfrm>
          <a:custGeom>
            <a:avLst/>
            <a:gdLst/>
            <a:ahLst/>
            <a:cxnLst/>
            <a:rect l="0" t="0" r="r" b="b"/>
            <a:pathLst>
              <a:path w="106680" h="127381">
                <a:moveTo>
                  <a:pt x="53340" y="0"/>
                </a:moveTo>
                <a:lnTo>
                  <a:pt x="106680" y="20701"/>
                </a:lnTo>
                <a:lnTo>
                  <a:pt x="106680" y="62230"/>
                </a:lnTo>
                <a:cubicBezTo>
                  <a:pt x="106680" y="93345"/>
                  <a:pt x="84455" y="117030"/>
                  <a:pt x="53340" y="127381"/>
                </a:cubicBezTo>
                <a:cubicBezTo>
                  <a:pt x="22225" y="117030"/>
                  <a:pt x="0" y="93345"/>
                  <a:pt x="0" y="62230"/>
                </a:cubicBezTo>
                <a:lnTo>
                  <a:pt x="0" y="20701"/>
                </a:lnTo>
                <a:close/>
                <a:moveTo>
                  <a:pt x="31115" y="63690"/>
                </a:moveTo>
                <a:lnTo>
                  <a:pt x="47434" y="80010"/>
                </a:lnTo>
                <a:lnTo>
                  <a:pt x="78550" y="48895"/>
                </a:lnTo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nm-3"/>
          <p:cNvSpPr txBox="1"/>
          <p:nvPr/>
        </p:nvSpPr>
        <p:spPr>
          <a:xfrm>
            <a:off x="2203450" y="3715544"/>
            <a:ext cx="8413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严重故障</a:t>
            </a:r>
          </a:p>
        </p:txBody>
      </p:sp>
      <p:sp>
        <p:nvSpPr>
          <p:cNvPr id="52" name="desc-3"/>
          <p:cNvSpPr txBox="1"/>
          <p:nvPr/>
        </p:nvSpPr>
        <p:spPr>
          <a:xfrm>
            <a:off x="1980565" y="4015661"/>
            <a:ext cx="157765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D7E6F7"/>
                </a:solidFill>
                <a:latin typeface="微软雅黑"/>
                <a:ea typeface="微软雅黑"/>
                <a:cs typeface="微软雅黑"/>
              </a:rPr>
              <a:t>核心流程中断，影响多个客户</a:t>
            </a:r>
          </a:p>
        </p:txBody>
      </p:sp>
      <p:sp>
        <p:nvSpPr>
          <p:cNvPr id="53" name="al-3-1"/>
          <p:cNvSpPr txBox="1"/>
          <p:nvPr/>
        </p:nvSpPr>
        <p:spPr>
          <a:xfrm>
            <a:off x="4688332" y="3751008"/>
            <a:ext cx="3695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60">
                <a:solidFill>
                  <a:srgbClr val="D7E6F7"/>
                </a:solidFill>
                <a:latin typeface="微软雅黑"/>
                <a:ea typeface="微软雅黑"/>
                <a:cs typeface="微软雅黑"/>
              </a:rPr>
              <a:t>响应人</a:t>
            </a:r>
          </a:p>
        </p:txBody>
      </p:sp>
      <p:sp>
        <p:nvSpPr>
          <p:cNvPr id="54" name="av-3-1"/>
          <p:cNvSpPr txBox="1"/>
          <p:nvPr/>
        </p:nvSpPr>
        <p:spPr>
          <a:xfrm>
            <a:off x="4686808" y="3951224"/>
            <a:ext cx="111683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专家团队 + 值班经理</a:t>
            </a:r>
          </a:p>
        </p:txBody>
      </p:sp>
      <p:cxnSp>
        <p:nvCxnSpPr>
          <p:cNvPr id="55" name="asep-3-1"/>
          <p:cNvCxnSpPr/>
          <p:nvPr/>
        </p:nvCxnSpPr>
        <p:spPr>
          <a:xfrm>
            <a:off x="5816600" y="3746500"/>
            <a:ext cx="0" cy="431800"/>
          </a:xfrm>
          <a:prstGeom prst="line">
            <a:avLst/>
          </a:prstGeom>
          <a:ln w="6350" cap="rnd">
            <a:solidFill>
              <a:srgbClr val="FFFFFF">
                <a:alpha val="2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6" name="al-3-2"/>
          <p:cNvSpPr txBox="1"/>
          <p:nvPr/>
        </p:nvSpPr>
        <p:spPr>
          <a:xfrm>
            <a:off x="5958332" y="3751008"/>
            <a:ext cx="4660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60">
                <a:solidFill>
                  <a:srgbClr val="D7E6F7"/>
                </a:solidFill>
                <a:latin typeface="微软雅黑"/>
                <a:ea typeface="微软雅黑"/>
                <a:cs typeface="微软雅黑"/>
              </a:rPr>
              <a:t>响应时限</a:t>
            </a:r>
          </a:p>
        </p:txBody>
      </p:sp>
      <p:sp>
        <p:nvSpPr>
          <p:cNvPr id="57" name="av-3-2"/>
          <p:cNvSpPr txBox="1"/>
          <p:nvPr/>
        </p:nvSpPr>
        <p:spPr>
          <a:xfrm>
            <a:off x="5954522" y="3927697"/>
            <a:ext cx="57162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30 分钟</a:t>
            </a:r>
          </a:p>
        </p:txBody>
      </p:sp>
      <p:cxnSp>
        <p:nvCxnSpPr>
          <p:cNvPr id="58" name="asep-3-2"/>
          <p:cNvCxnSpPr/>
          <p:nvPr/>
        </p:nvCxnSpPr>
        <p:spPr>
          <a:xfrm>
            <a:off x="7086600" y="3746500"/>
            <a:ext cx="0" cy="431800"/>
          </a:xfrm>
          <a:prstGeom prst="line">
            <a:avLst/>
          </a:prstGeom>
          <a:ln w="6350" cap="rnd">
            <a:solidFill>
              <a:srgbClr val="FFFFFF">
                <a:alpha val="2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al-3-3"/>
          <p:cNvSpPr txBox="1"/>
          <p:nvPr/>
        </p:nvSpPr>
        <p:spPr>
          <a:xfrm>
            <a:off x="7228332" y="3751008"/>
            <a:ext cx="4660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60">
                <a:solidFill>
                  <a:srgbClr val="D7E6F7"/>
                </a:solidFill>
                <a:latin typeface="微软雅黑"/>
                <a:ea typeface="微软雅黑"/>
                <a:cs typeface="微软雅黑"/>
              </a:rPr>
              <a:t>沟通要求</a:t>
            </a:r>
          </a:p>
        </p:txBody>
      </p:sp>
      <p:sp>
        <p:nvSpPr>
          <p:cNvPr id="60" name="av-3-3"/>
          <p:cNvSpPr txBox="1"/>
          <p:nvPr/>
        </p:nvSpPr>
        <p:spPr>
          <a:xfrm>
            <a:off x="7224522" y="3927697"/>
            <a:ext cx="85534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拉群同步进展</a:t>
            </a:r>
          </a:p>
        </p:txBody>
      </p:sp>
      <p:sp>
        <p:nvSpPr>
          <p:cNvPr id="61" name="cond-3"/>
          <p:cNvSpPr/>
          <p:nvPr/>
        </p:nvSpPr>
        <p:spPr>
          <a:xfrm>
            <a:off x="2857500" y="4381500"/>
            <a:ext cx="2286000" cy="165100"/>
          </a:xfrm>
          <a:custGeom>
            <a:avLst/>
            <a:gdLst/>
            <a:ahLst/>
            <a:cxnLst/>
            <a:rect l="0" t="0" r="r" b="b"/>
            <a:pathLst>
              <a:path w="2286000" h="165100">
                <a:moveTo>
                  <a:pt x="82550" y="0"/>
                </a:moveTo>
                <a:lnTo>
                  <a:pt x="2203450" y="0"/>
                </a:lnTo>
                <a:cubicBezTo>
                  <a:pt x="2249043" y="0"/>
                  <a:pt x="2286000" y="36957"/>
                  <a:pt x="2286000" y="82550"/>
                </a:cubicBezTo>
                <a:lnTo>
                  <a:pt x="2286000" y="82550"/>
                </a:lnTo>
                <a:cubicBezTo>
                  <a:pt x="2286000" y="128143"/>
                  <a:pt x="2249043" y="165100"/>
                  <a:pt x="2203450" y="165100"/>
                </a:cubicBezTo>
                <a:lnTo>
                  <a:pt x="82550" y="165100"/>
                </a:lnTo>
                <a:cubicBezTo>
                  <a:pt x="36957" y="165100"/>
                  <a:pt x="0" y="128143"/>
                  <a:pt x="0" y="825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E7E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condt-3"/>
          <p:cNvSpPr txBox="1"/>
          <p:nvPr/>
        </p:nvSpPr>
        <p:spPr>
          <a:xfrm>
            <a:off x="3352927" y="4392358"/>
            <a:ext cx="12951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升级条件：超 30 分钟未恢复</a:t>
            </a:r>
          </a:p>
        </p:txBody>
      </p:sp>
      <p:sp>
        <p:nvSpPr>
          <p:cNvPr id="63" name="row-4"/>
          <p:cNvSpPr/>
          <p:nvPr/>
        </p:nvSpPr>
        <p:spPr>
          <a:xfrm>
            <a:off x="952500" y="4572000"/>
            <a:ext cx="7493000" cy="800100"/>
          </a:xfrm>
          <a:custGeom>
            <a:avLst/>
            <a:gdLst/>
            <a:ahLst/>
            <a:cxnLst/>
            <a:rect l="0" t="0" r="r" b="b"/>
            <a:pathLst>
              <a:path w="7493000" h="800100">
                <a:moveTo>
                  <a:pt x="114300" y="0"/>
                </a:moveTo>
                <a:lnTo>
                  <a:pt x="7378700" y="0"/>
                </a:lnTo>
                <a:cubicBezTo>
                  <a:pt x="7441819" y="0"/>
                  <a:pt x="7493000" y="51181"/>
                  <a:pt x="7493000" y="114300"/>
                </a:cubicBezTo>
                <a:lnTo>
                  <a:pt x="7493000" y="685800"/>
                </a:lnTo>
                <a:cubicBezTo>
                  <a:pt x="7493000" y="748919"/>
                  <a:pt x="7441819" y="800100"/>
                  <a:pt x="7378700" y="800100"/>
                </a:cubicBezTo>
                <a:lnTo>
                  <a:pt x="114300" y="800100"/>
                </a:lnTo>
                <a:cubicBezTo>
                  <a:pt x="51181" y="800100"/>
                  <a:pt x="0" y="748919"/>
                  <a:pt x="0" y="6858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2D599F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lv-4"/>
          <p:cNvSpPr/>
          <p:nvPr/>
        </p:nvSpPr>
        <p:spPr>
          <a:xfrm>
            <a:off x="1168400" y="4711700"/>
            <a:ext cx="584200" cy="520700"/>
          </a:xfrm>
          <a:custGeom>
            <a:avLst/>
            <a:gdLst/>
            <a:ahLst/>
            <a:cxnLst/>
            <a:rect l="0" t="0" r="r" b="b"/>
            <a:pathLst>
              <a:path w="584200" h="520700">
                <a:moveTo>
                  <a:pt x="101600" y="0"/>
                </a:moveTo>
                <a:lnTo>
                  <a:pt x="482600" y="0"/>
                </a:lnTo>
                <a:cubicBezTo>
                  <a:pt x="538734" y="0"/>
                  <a:pt x="584200" y="45466"/>
                  <a:pt x="584200" y="101600"/>
                </a:cubicBezTo>
                <a:lnTo>
                  <a:pt x="584200" y="419100"/>
                </a:lnTo>
                <a:cubicBezTo>
                  <a:pt x="584200" y="475234"/>
                  <a:pt x="538734" y="520700"/>
                  <a:pt x="482600" y="520700"/>
                </a:cubicBezTo>
                <a:lnTo>
                  <a:pt x="101600" y="520700"/>
                </a:lnTo>
                <a:cubicBezTo>
                  <a:pt x="45466" y="520700"/>
                  <a:pt x="0" y="475234"/>
                  <a:pt x="0" y="4191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lvt-4"/>
          <p:cNvSpPr txBox="1"/>
          <p:nvPr/>
        </p:nvSpPr>
        <p:spPr>
          <a:xfrm>
            <a:off x="1223264" y="4784979"/>
            <a:ext cx="474472" cy="4000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800" b="1" spc="50">
                <a:solidFill>
                  <a:srgbClr val="FFFFFF"/>
                </a:solidFill>
                <a:latin typeface="Arial"/>
                <a:ea typeface="Arial"/>
                <a:cs typeface="Arial"/>
              </a:rPr>
              <a:t>L4</a:t>
            </a:r>
          </a:p>
        </p:txBody>
      </p:sp>
      <p:sp>
        <p:nvSpPr>
          <p:cNvPr id="66" name="icon-megaphone"/>
          <p:cNvSpPr/>
          <p:nvPr/>
        </p:nvSpPr>
        <p:spPr>
          <a:xfrm>
            <a:off x="1945005" y="4830890"/>
            <a:ext cx="96330" cy="91821"/>
          </a:xfrm>
          <a:custGeom>
            <a:avLst/>
            <a:gdLst/>
            <a:ahLst/>
            <a:cxnLst/>
            <a:rect l="0" t="0" r="r" b="b"/>
            <a:pathLst>
              <a:path w="96330" h="91821">
                <a:moveTo>
                  <a:pt x="0" y="28131"/>
                </a:moveTo>
                <a:lnTo>
                  <a:pt x="0" y="63690"/>
                </a:lnTo>
                <a:lnTo>
                  <a:pt x="22225" y="63690"/>
                </a:lnTo>
                <a:lnTo>
                  <a:pt x="75565" y="91821"/>
                </a:lnTo>
                <a:lnTo>
                  <a:pt x="75565" y="0"/>
                </a:lnTo>
                <a:lnTo>
                  <a:pt x="22225" y="28131"/>
                </a:lnTo>
                <a:close/>
                <a:moveTo>
                  <a:pt x="96330" y="31115"/>
                </a:moveTo>
                <a:lnTo>
                  <a:pt x="96330" y="60706"/>
                </a:lnTo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nm-4"/>
          <p:cNvSpPr txBox="1"/>
          <p:nvPr/>
        </p:nvSpPr>
        <p:spPr>
          <a:xfrm>
            <a:off x="2203450" y="4731544"/>
            <a:ext cx="8413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重大事件</a:t>
            </a:r>
          </a:p>
        </p:txBody>
      </p:sp>
      <p:sp>
        <p:nvSpPr>
          <p:cNvPr id="68" name="desc-4"/>
          <p:cNvSpPr txBox="1"/>
          <p:nvPr/>
        </p:nvSpPr>
        <p:spPr>
          <a:xfrm>
            <a:off x="1980565" y="5031661"/>
            <a:ext cx="146399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D7E6F7"/>
                </a:solidFill>
                <a:latin typeface="微软雅黑"/>
                <a:ea typeface="微软雅黑"/>
                <a:cs typeface="微软雅黑"/>
              </a:rPr>
              <a:t>服务全面不可用或数据风险</a:t>
            </a:r>
          </a:p>
        </p:txBody>
      </p:sp>
      <p:sp>
        <p:nvSpPr>
          <p:cNvPr id="69" name="al-4-1"/>
          <p:cNvSpPr txBox="1"/>
          <p:nvPr/>
        </p:nvSpPr>
        <p:spPr>
          <a:xfrm>
            <a:off x="4688332" y="4767008"/>
            <a:ext cx="3695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60">
                <a:solidFill>
                  <a:srgbClr val="D7E6F7"/>
                </a:solidFill>
                <a:latin typeface="微软雅黑"/>
                <a:ea typeface="微软雅黑"/>
                <a:cs typeface="微软雅黑"/>
              </a:rPr>
              <a:t>响应人</a:t>
            </a:r>
          </a:p>
        </p:txBody>
      </p:sp>
      <p:sp>
        <p:nvSpPr>
          <p:cNvPr id="70" name="av-4-1"/>
          <p:cNvSpPr txBox="1"/>
          <p:nvPr/>
        </p:nvSpPr>
        <p:spPr>
          <a:xfrm>
            <a:off x="4686808" y="4967224"/>
            <a:ext cx="104013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总经理牵头应急小组</a:t>
            </a:r>
          </a:p>
        </p:txBody>
      </p:sp>
      <p:cxnSp>
        <p:nvCxnSpPr>
          <p:cNvPr id="71" name="asep-4-1"/>
          <p:cNvCxnSpPr/>
          <p:nvPr/>
        </p:nvCxnSpPr>
        <p:spPr>
          <a:xfrm>
            <a:off x="5816600" y="4762500"/>
            <a:ext cx="0" cy="431800"/>
          </a:xfrm>
          <a:prstGeom prst="line">
            <a:avLst/>
          </a:prstGeom>
          <a:ln w="6350" cap="rnd">
            <a:solidFill>
              <a:srgbClr val="FFFFFF">
                <a:alpha val="2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2" name="al-4-2"/>
          <p:cNvSpPr txBox="1"/>
          <p:nvPr/>
        </p:nvSpPr>
        <p:spPr>
          <a:xfrm>
            <a:off x="5958332" y="4767008"/>
            <a:ext cx="4660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60">
                <a:solidFill>
                  <a:srgbClr val="D7E6F7"/>
                </a:solidFill>
                <a:latin typeface="微软雅黑"/>
                <a:ea typeface="微软雅黑"/>
                <a:cs typeface="微软雅黑"/>
              </a:rPr>
              <a:t>响应时限</a:t>
            </a:r>
          </a:p>
        </p:txBody>
      </p:sp>
      <p:sp>
        <p:nvSpPr>
          <p:cNvPr id="73" name="av-4-2"/>
          <p:cNvSpPr txBox="1"/>
          <p:nvPr/>
        </p:nvSpPr>
        <p:spPr>
          <a:xfrm>
            <a:off x="5954522" y="4943697"/>
            <a:ext cx="57162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15 分钟</a:t>
            </a:r>
          </a:p>
        </p:txBody>
      </p:sp>
      <p:cxnSp>
        <p:nvCxnSpPr>
          <p:cNvPr id="74" name="asep-4-2"/>
          <p:cNvCxnSpPr/>
          <p:nvPr/>
        </p:nvCxnSpPr>
        <p:spPr>
          <a:xfrm>
            <a:off x="7086600" y="4762500"/>
            <a:ext cx="0" cy="431800"/>
          </a:xfrm>
          <a:prstGeom prst="line">
            <a:avLst/>
          </a:prstGeom>
          <a:ln w="6350" cap="rnd">
            <a:solidFill>
              <a:srgbClr val="FFFFFF">
                <a:alpha val="2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5" name="al-4-3"/>
          <p:cNvSpPr txBox="1"/>
          <p:nvPr/>
        </p:nvSpPr>
        <p:spPr>
          <a:xfrm>
            <a:off x="7228332" y="4767008"/>
            <a:ext cx="4660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60">
                <a:solidFill>
                  <a:srgbClr val="D7E6F7"/>
                </a:solidFill>
                <a:latin typeface="微软雅黑"/>
                <a:ea typeface="微软雅黑"/>
                <a:cs typeface="微软雅黑"/>
              </a:rPr>
              <a:t>沟通要求</a:t>
            </a:r>
          </a:p>
        </p:txBody>
      </p:sp>
      <p:sp>
        <p:nvSpPr>
          <p:cNvPr id="76" name="av-4-3"/>
          <p:cNvSpPr txBox="1"/>
          <p:nvPr/>
        </p:nvSpPr>
        <p:spPr>
          <a:xfrm>
            <a:off x="7226808" y="4967224"/>
            <a:ext cx="82931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每小时对外通报</a:t>
            </a:r>
          </a:p>
        </p:txBody>
      </p:sp>
      <p:sp>
        <p:nvSpPr>
          <p:cNvPr id="77" name="side-bar"/>
          <p:cNvSpPr/>
          <p:nvPr/>
        </p:nvSpPr>
        <p:spPr>
          <a:xfrm>
            <a:off x="8724900" y="15621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side-h"/>
          <p:cNvSpPr txBox="1"/>
          <p:nvPr/>
        </p:nvSpPr>
        <p:spPr>
          <a:xfrm>
            <a:off x="8883650" y="1569244"/>
            <a:ext cx="10001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本季度分布</a:t>
            </a:r>
          </a:p>
        </p:txBody>
      </p:sp>
      <p:sp>
        <p:nvSpPr>
          <p:cNvPr id="79" name="side-p"/>
          <p:cNvSpPr txBox="1"/>
          <p:nvPr/>
        </p:nvSpPr>
        <p:spPr>
          <a:xfrm>
            <a:off x="8889365" y="1843961"/>
            <a:ext cx="10080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共受理 2,486 起</a:t>
            </a:r>
          </a:p>
        </p:txBody>
      </p:sp>
      <p:sp>
        <p:nvSpPr>
          <p:cNvPr id="80" name="st-1"/>
          <p:cNvSpPr/>
          <p:nvPr/>
        </p:nvSpPr>
        <p:spPr>
          <a:xfrm>
            <a:off x="8724900" y="2286000"/>
            <a:ext cx="2514600" cy="558800"/>
          </a:xfrm>
          <a:custGeom>
            <a:avLst/>
            <a:gdLst/>
            <a:ahLst/>
            <a:cxnLst/>
            <a:rect l="0" t="0" r="r" b="b"/>
            <a:pathLst>
              <a:path w="2514600" h="558800">
                <a:moveTo>
                  <a:pt x="101600" y="0"/>
                </a:moveTo>
                <a:lnTo>
                  <a:pt x="2413000" y="0"/>
                </a:lnTo>
                <a:cubicBezTo>
                  <a:pt x="2469134" y="0"/>
                  <a:pt x="2514600" y="45466"/>
                  <a:pt x="2514600" y="101600"/>
                </a:cubicBezTo>
                <a:lnTo>
                  <a:pt x="2514600" y="457200"/>
                </a:lnTo>
                <a:cubicBezTo>
                  <a:pt x="2514600" y="513334"/>
                  <a:pt x="2469134" y="558800"/>
                  <a:pt x="2413000" y="558800"/>
                </a:cubicBezTo>
                <a:lnTo>
                  <a:pt x="101600" y="558800"/>
                </a:lnTo>
                <a:cubicBezTo>
                  <a:pt x="45466" y="558800"/>
                  <a:pt x="0" y="513334"/>
                  <a:pt x="0" y="457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stb-1"/>
          <p:cNvSpPr/>
          <p:nvPr/>
        </p:nvSpPr>
        <p:spPr>
          <a:xfrm>
            <a:off x="8724900" y="2286000"/>
            <a:ext cx="31750" cy="558800"/>
          </a:xfrm>
          <a:custGeom>
            <a:avLst/>
            <a:gdLst/>
            <a:ahLst/>
            <a:cxnLst/>
            <a:rect l="0" t="0" r="r" b="b"/>
            <a:pathLst>
              <a:path w="31750" h="5588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542925"/>
                </a:lnTo>
                <a:cubicBezTo>
                  <a:pt x="31750" y="551688"/>
                  <a:pt x="24638" y="558800"/>
                  <a:pt x="15875" y="558800"/>
                </a:cubicBezTo>
                <a:lnTo>
                  <a:pt x="15875" y="558800"/>
                </a:lnTo>
                <a:cubicBezTo>
                  <a:pt x="7112" y="558800"/>
                  <a:pt x="0" y="551688"/>
                  <a:pt x="0" y="5429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stl-1"/>
          <p:cNvSpPr txBox="1"/>
          <p:nvPr/>
        </p:nvSpPr>
        <p:spPr>
          <a:xfrm>
            <a:off x="8900922" y="2390997"/>
            <a:ext cx="2564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4694D7"/>
                </a:solidFill>
                <a:latin typeface="Arial"/>
                <a:ea typeface="Arial"/>
                <a:cs typeface="Arial"/>
              </a:rPr>
              <a:t>L1</a:t>
            </a:r>
          </a:p>
        </p:txBody>
      </p:sp>
      <p:sp>
        <p:nvSpPr>
          <p:cNvPr id="83" name="stc-1"/>
          <p:cNvSpPr txBox="1"/>
          <p:nvPr/>
        </p:nvSpPr>
        <p:spPr>
          <a:xfrm>
            <a:off x="8903970" y="2600166"/>
            <a:ext cx="51435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1,860 起</a:t>
            </a:r>
          </a:p>
        </p:txBody>
      </p:sp>
      <p:sp>
        <p:nvSpPr>
          <p:cNvPr id="84" name="stbg-1"/>
          <p:cNvSpPr/>
          <p:nvPr/>
        </p:nvSpPr>
        <p:spPr>
          <a:xfrm>
            <a:off x="9474200" y="2501900"/>
            <a:ext cx="12065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stbar-1"/>
          <p:cNvSpPr/>
          <p:nvPr/>
        </p:nvSpPr>
        <p:spPr>
          <a:xfrm>
            <a:off x="9474200" y="2501900"/>
            <a:ext cx="1206500" cy="63500"/>
          </a:xfrm>
          <a:prstGeom prst="roundRect">
            <a:avLst>
              <a:gd name="adj" fmla="val 50000"/>
            </a:avLst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stp-1"/>
          <p:cNvSpPr txBox="1"/>
          <p:nvPr/>
        </p:nvSpPr>
        <p:spPr>
          <a:xfrm>
            <a:off x="10581640" y="2497455"/>
            <a:ext cx="4826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00" b="1" spc="20">
                <a:solidFill>
                  <a:srgbClr val="4694D7"/>
                </a:solidFill>
                <a:latin typeface="Arial"/>
                <a:ea typeface="Arial"/>
                <a:cs typeface="Arial"/>
              </a:rPr>
              <a:t>74.8%</a:t>
            </a:r>
          </a:p>
        </p:txBody>
      </p:sp>
      <p:sp>
        <p:nvSpPr>
          <p:cNvPr id="87" name="st-2"/>
          <p:cNvSpPr/>
          <p:nvPr/>
        </p:nvSpPr>
        <p:spPr>
          <a:xfrm>
            <a:off x="8724900" y="2971800"/>
            <a:ext cx="2514600" cy="558800"/>
          </a:xfrm>
          <a:custGeom>
            <a:avLst/>
            <a:gdLst/>
            <a:ahLst/>
            <a:cxnLst/>
            <a:rect l="0" t="0" r="r" b="b"/>
            <a:pathLst>
              <a:path w="2514600" h="558800">
                <a:moveTo>
                  <a:pt x="101600" y="0"/>
                </a:moveTo>
                <a:lnTo>
                  <a:pt x="2413000" y="0"/>
                </a:lnTo>
                <a:cubicBezTo>
                  <a:pt x="2469134" y="0"/>
                  <a:pt x="2514600" y="45466"/>
                  <a:pt x="2514600" y="101600"/>
                </a:cubicBezTo>
                <a:lnTo>
                  <a:pt x="2514600" y="457200"/>
                </a:lnTo>
                <a:cubicBezTo>
                  <a:pt x="2514600" y="513334"/>
                  <a:pt x="2469134" y="558800"/>
                  <a:pt x="2413000" y="558800"/>
                </a:cubicBezTo>
                <a:lnTo>
                  <a:pt x="101600" y="558800"/>
                </a:lnTo>
                <a:cubicBezTo>
                  <a:pt x="45466" y="558800"/>
                  <a:pt x="0" y="513334"/>
                  <a:pt x="0" y="457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stb-2"/>
          <p:cNvSpPr/>
          <p:nvPr/>
        </p:nvSpPr>
        <p:spPr>
          <a:xfrm>
            <a:off x="8724900" y="2971800"/>
            <a:ext cx="31750" cy="558800"/>
          </a:xfrm>
          <a:custGeom>
            <a:avLst/>
            <a:gdLst/>
            <a:ahLst/>
            <a:cxnLst/>
            <a:rect l="0" t="0" r="r" b="b"/>
            <a:pathLst>
              <a:path w="31750" h="5588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542925"/>
                </a:lnTo>
                <a:cubicBezTo>
                  <a:pt x="31750" y="551688"/>
                  <a:pt x="24638" y="558800"/>
                  <a:pt x="15875" y="558800"/>
                </a:cubicBezTo>
                <a:lnTo>
                  <a:pt x="15875" y="558800"/>
                </a:lnTo>
                <a:cubicBezTo>
                  <a:pt x="7112" y="558800"/>
                  <a:pt x="0" y="551688"/>
                  <a:pt x="0" y="5429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stl-2"/>
          <p:cNvSpPr txBox="1"/>
          <p:nvPr/>
        </p:nvSpPr>
        <p:spPr>
          <a:xfrm>
            <a:off x="8900922" y="3076797"/>
            <a:ext cx="2564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2E77C2"/>
                </a:solidFill>
                <a:latin typeface="Arial"/>
                <a:ea typeface="Arial"/>
                <a:cs typeface="Arial"/>
              </a:rPr>
              <a:t>L2</a:t>
            </a:r>
          </a:p>
        </p:txBody>
      </p:sp>
      <p:sp>
        <p:nvSpPr>
          <p:cNvPr id="90" name="stc-2"/>
          <p:cNvSpPr txBox="1"/>
          <p:nvPr/>
        </p:nvSpPr>
        <p:spPr>
          <a:xfrm>
            <a:off x="8903970" y="3285966"/>
            <a:ext cx="40386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486 起</a:t>
            </a:r>
          </a:p>
        </p:txBody>
      </p:sp>
      <p:sp>
        <p:nvSpPr>
          <p:cNvPr id="91" name="stbg-2"/>
          <p:cNvSpPr/>
          <p:nvPr/>
        </p:nvSpPr>
        <p:spPr>
          <a:xfrm>
            <a:off x="9474200" y="3187700"/>
            <a:ext cx="12065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stbar-2"/>
          <p:cNvSpPr/>
          <p:nvPr/>
        </p:nvSpPr>
        <p:spPr>
          <a:xfrm>
            <a:off x="9474200" y="3187700"/>
            <a:ext cx="315247" cy="63500"/>
          </a:xfrm>
          <a:prstGeom prst="roundRect">
            <a:avLst>
              <a:gd name="adj" fmla="val 50000"/>
            </a:avLst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stp-2"/>
          <p:cNvSpPr txBox="1"/>
          <p:nvPr/>
        </p:nvSpPr>
        <p:spPr>
          <a:xfrm>
            <a:off x="10581640" y="3183255"/>
            <a:ext cx="4826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00" b="1" spc="20">
                <a:solidFill>
                  <a:srgbClr val="2E77C2"/>
                </a:solidFill>
                <a:latin typeface="Arial"/>
                <a:ea typeface="Arial"/>
                <a:cs typeface="Arial"/>
              </a:rPr>
              <a:t>19.6%</a:t>
            </a:r>
          </a:p>
        </p:txBody>
      </p:sp>
      <p:sp>
        <p:nvSpPr>
          <p:cNvPr id="94" name="st-3"/>
          <p:cNvSpPr/>
          <p:nvPr/>
        </p:nvSpPr>
        <p:spPr>
          <a:xfrm>
            <a:off x="8724900" y="3657600"/>
            <a:ext cx="2514600" cy="558800"/>
          </a:xfrm>
          <a:custGeom>
            <a:avLst/>
            <a:gdLst/>
            <a:ahLst/>
            <a:cxnLst/>
            <a:rect l="0" t="0" r="r" b="b"/>
            <a:pathLst>
              <a:path w="2514600" h="558800">
                <a:moveTo>
                  <a:pt x="101600" y="0"/>
                </a:moveTo>
                <a:lnTo>
                  <a:pt x="2413000" y="0"/>
                </a:lnTo>
                <a:cubicBezTo>
                  <a:pt x="2469134" y="0"/>
                  <a:pt x="2514600" y="45466"/>
                  <a:pt x="2514600" y="101600"/>
                </a:cubicBezTo>
                <a:lnTo>
                  <a:pt x="2514600" y="457200"/>
                </a:lnTo>
                <a:cubicBezTo>
                  <a:pt x="2514600" y="513334"/>
                  <a:pt x="2469134" y="558800"/>
                  <a:pt x="2413000" y="558800"/>
                </a:cubicBezTo>
                <a:lnTo>
                  <a:pt x="101600" y="558800"/>
                </a:lnTo>
                <a:cubicBezTo>
                  <a:pt x="45466" y="558800"/>
                  <a:pt x="0" y="513334"/>
                  <a:pt x="0" y="457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stb-3"/>
          <p:cNvSpPr/>
          <p:nvPr/>
        </p:nvSpPr>
        <p:spPr>
          <a:xfrm>
            <a:off x="8724900" y="3657600"/>
            <a:ext cx="31750" cy="558800"/>
          </a:xfrm>
          <a:custGeom>
            <a:avLst/>
            <a:gdLst/>
            <a:ahLst/>
            <a:cxnLst/>
            <a:rect l="0" t="0" r="r" b="b"/>
            <a:pathLst>
              <a:path w="31750" h="5588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542925"/>
                </a:lnTo>
                <a:cubicBezTo>
                  <a:pt x="31750" y="551688"/>
                  <a:pt x="24638" y="558800"/>
                  <a:pt x="15875" y="558800"/>
                </a:cubicBezTo>
                <a:lnTo>
                  <a:pt x="15875" y="558800"/>
                </a:lnTo>
                <a:cubicBezTo>
                  <a:pt x="7112" y="558800"/>
                  <a:pt x="0" y="551688"/>
                  <a:pt x="0" y="5429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stl-3"/>
          <p:cNvSpPr txBox="1"/>
          <p:nvPr/>
        </p:nvSpPr>
        <p:spPr>
          <a:xfrm>
            <a:off x="8900922" y="3762597"/>
            <a:ext cx="2564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1B5AA8"/>
                </a:solidFill>
                <a:latin typeface="Arial"/>
                <a:ea typeface="Arial"/>
                <a:cs typeface="Arial"/>
              </a:rPr>
              <a:t>L3</a:t>
            </a:r>
          </a:p>
        </p:txBody>
      </p:sp>
      <p:sp>
        <p:nvSpPr>
          <p:cNvPr id="97" name="stc-3"/>
          <p:cNvSpPr txBox="1"/>
          <p:nvPr/>
        </p:nvSpPr>
        <p:spPr>
          <a:xfrm>
            <a:off x="8903970" y="3971766"/>
            <a:ext cx="40386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128 起</a:t>
            </a:r>
          </a:p>
        </p:txBody>
      </p:sp>
      <p:sp>
        <p:nvSpPr>
          <p:cNvPr id="98" name="stbg-3"/>
          <p:cNvSpPr/>
          <p:nvPr/>
        </p:nvSpPr>
        <p:spPr>
          <a:xfrm>
            <a:off x="9474200" y="3873500"/>
            <a:ext cx="12065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9" name="stbar-3"/>
          <p:cNvSpPr/>
          <p:nvPr/>
        </p:nvSpPr>
        <p:spPr>
          <a:xfrm>
            <a:off x="9474200" y="3873500"/>
            <a:ext cx="83028" cy="63500"/>
          </a:xfrm>
          <a:prstGeom prst="roundRect">
            <a:avLst>
              <a:gd name="adj" fmla="val 50000"/>
            </a:avLst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stp-3"/>
          <p:cNvSpPr txBox="1"/>
          <p:nvPr/>
        </p:nvSpPr>
        <p:spPr>
          <a:xfrm>
            <a:off x="10655300" y="3869055"/>
            <a:ext cx="4089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00" b="1" spc="20">
                <a:solidFill>
                  <a:srgbClr val="1B5AA8"/>
                </a:solidFill>
                <a:latin typeface="Arial"/>
                <a:ea typeface="Arial"/>
                <a:cs typeface="Arial"/>
              </a:rPr>
              <a:t>5.1%</a:t>
            </a:r>
          </a:p>
        </p:txBody>
      </p:sp>
      <p:sp>
        <p:nvSpPr>
          <p:cNvPr id="101" name="st-4"/>
          <p:cNvSpPr/>
          <p:nvPr/>
        </p:nvSpPr>
        <p:spPr>
          <a:xfrm>
            <a:off x="8724900" y="4343400"/>
            <a:ext cx="2514600" cy="558800"/>
          </a:xfrm>
          <a:custGeom>
            <a:avLst/>
            <a:gdLst/>
            <a:ahLst/>
            <a:cxnLst/>
            <a:rect l="0" t="0" r="r" b="b"/>
            <a:pathLst>
              <a:path w="2514600" h="558800">
                <a:moveTo>
                  <a:pt x="101600" y="0"/>
                </a:moveTo>
                <a:lnTo>
                  <a:pt x="2413000" y="0"/>
                </a:lnTo>
                <a:cubicBezTo>
                  <a:pt x="2469134" y="0"/>
                  <a:pt x="2514600" y="45466"/>
                  <a:pt x="2514600" y="101600"/>
                </a:cubicBezTo>
                <a:lnTo>
                  <a:pt x="2514600" y="457200"/>
                </a:lnTo>
                <a:cubicBezTo>
                  <a:pt x="2514600" y="513334"/>
                  <a:pt x="2469134" y="558800"/>
                  <a:pt x="2413000" y="558800"/>
                </a:cubicBezTo>
                <a:lnTo>
                  <a:pt x="101600" y="558800"/>
                </a:lnTo>
                <a:cubicBezTo>
                  <a:pt x="45466" y="558800"/>
                  <a:pt x="0" y="513334"/>
                  <a:pt x="0" y="457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2" name="stb-4"/>
          <p:cNvSpPr/>
          <p:nvPr/>
        </p:nvSpPr>
        <p:spPr>
          <a:xfrm>
            <a:off x="8724900" y="4343400"/>
            <a:ext cx="31750" cy="558800"/>
          </a:xfrm>
          <a:custGeom>
            <a:avLst/>
            <a:gdLst/>
            <a:ahLst/>
            <a:cxnLst/>
            <a:rect l="0" t="0" r="r" b="b"/>
            <a:pathLst>
              <a:path w="31750" h="5588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542925"/>
                </a:lnTo>
                <a:cubicBezTo>
                  <a:pt x="31750" y="551688"/>
                  <a:pt x="24638" y="558800"/>
                  <a:pt x="15875" y="558800"/>
                </a:cubicBezTo>
                <a:lnTo>
                  <a:pt x="15875" y="558800"/>
                </a:lnTo>
                <a:cubicBezTo>
                  <a:pt x="7112" y="558800"/>
                  <a:pt x="0" y="551688"/>
                  <a:pt x="0" y="5429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stl-4"/>
          <p:cNvSpPr txBox="1"/>
          <p:nvPr/>
        </p:nvSpPr>
        <p:spPr>
          <a:xfrm>
            <a:off x="8900922" y="4448397"/>
            <a:ext cx="2564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3E8F"/>
                </a:solidFill>
                <a:latin typeface="Arial"/>
                <a:ea typeface="Arial"/>
                <a:cs typeface="Arial"/>
              </a:rPr>
              <a:t>L4</a:t>
            </a:r>
          </a:p>
        </p:txBody>
      </p:sp>
      <p:sp>
        <p:nvSpPr>
          <p:cNvPr id="104" name="stc-4"/>
          <p:cNvSpPr txBox="1"/>
          <p:nvPr/>
        </p:nvSpPr>
        <p:spPr>
          <a:xfrm>
            <a:off x="8903970" y="4657566"/>
            <a:ext cx="3486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12 起</a:t>
            </a:r>
          </a:p>
        </p:txBody>
      </p:sp>
      <p:sp>
        <p:nvSpPr>
          <p:cNvPr id="105" name="stbg-4"/>
          <p:cNvSpPr/>
          <p:nvPr/>
        </p:nvSpPr>
        <p:spPr>
          <a:xfrm>
            <a:off x="9474200" y="4559300"/>
            <a:ext cx="12065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6" name="stbar-4"/>
          <p:cNvSpPr/>
          <p:nvPr/>
        </p:nvSpPr>
        <p:spPr>
          <a:xfrm>
            <a:off x="9474200" y="4559300"/>
            <a:ext cx="38100" cy="635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7" name="stp-4"/>
          <p:cNvSpPr txBox="1"/>
          <p:nvPr/>
        </p:nvSpPr>
        <p:spPr>
          <a:xfrm>
            <a:off x="10655300" y="4554855"/>
            <a:ext cx="4089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00" b="1" spc="20">
                <a:solidFill>
                  <a:srgbClr val="0B3E8F"/>
                </a:solidFill>
                <a:latin typeface="Arial"/>
                <a:ea typeface="Arial"/>
                <a:cs typeface="Arial"/>
              </a:rPr>
              <a:t>0.5%</a:t>
            </a:r>
          </a:p>
        </p:txBody>
      </p:sp>
      <p:sp>
        <p:nvSpPr>
          <p:cNvPr id="108" name="note"/>
          <p:cNvSpPr/>
          <p:nvPr/>
        </p:nvSpPr>
        <p:spPr>
          <a:xfrm>
            <a:off x="952500" y="5575300"/>
            <a:ext cx="10287000" cy="533400"/>
          </a:xfrm>
          <a:custGeom>
            <a:avLst/>
            <a:gdLst/>
            <a:ahLst/>
            <a:cxnLst/>
            <a:rect l="0" t="0" r="r" b="b"/>
            <a:pathLst>
              <a:path w="10287000" h="5334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31800"/>
                </a:lnTo>
                <a:cubicBezTo>
                  <a:pt x="10287000" y="487934"/>
                  <a:pt x="10241534" y="533400"/>
                  <a:pt x="10185400" y="533400"/>
                </a:cubicBezTo>
                <a:lnTo>
                  <a:pt x="101600" y="533400"/>
                </a:lnTo>
                <a:cubicBezTo>
                  <a:pt x="45466" y="533400"/>
                  <a:pt x="0" y="487934"/>
                  <a:pt x="0" y="431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note-bar"/>
          <p:cNvSpPr/>
          <p:nvPr/>
        </p:nvSpPr>
        <p:spPr>
          <a:xfrm>
            <a:off x="952500" y="55753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0" name="note-h"/>
          <p:cNvSpPr txBox="1"/>
          <p:nvPr/>
        </p:nvSpPr>
        <p:spPr>
          <a:xfrm>
            <a:off x="1141222" y="56929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关闭条件</a:t>
            </a:r>
          </a:p>
        </p:txBody>
      </p:sp>
      <p:sp>
        <p:nvSpPr>
          <p:cNvPr id="111" name="note-p"/>
          <p:cNvSpPr txBox="1"/>
          <p:nvPr/>
        </p:nvSpPr>
        <p:spPr>
          <a:xfrm>
            <a:off x="1142365" y="5895261"/>
            <a:ext cx="52943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服务恢复并连续观察 2 小时无复发，由发起方确认后关闭；L3 及以上需在 48 小时内提交复盘报告。</a:t>
            </a:r>
          </a:p>
        </p:txBody>
      </p:sp>
      <p:cxnSp>
        <p:nvCxnSpPr>
          <p:cNvPr id="112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3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分级响应 · 四级机制</a:t>
            </a:r>
          </a:p>
        </p:txBody>
      </p:sp>
      <p:sp>
        <p:nvSpPr>
          <p:cNvPr id="114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需求交付看板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17271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KANBAN BOARD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780399" y="673132"/>
            <a:ext cx="2840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四列看板呈现在制品分布，卡片标注负责人与停留天数</a:t>
            </a:r>
          </a:p>
        </p:txBody>
      </p:sp>
      <p:sp>
        <p:nvSpPr>
          <p:cNvPr id="10" name="col-1"/>
          <p:cNvSpPr/>
          <p:nvPr/>
        </p:nvSpPr>
        <p:spPr>
          <a:xfrm>
            <a:off x="952500" y="1587500"/>
            <a:ext cx="2476500" cy="3937000"/>
          </a:xfrm>
          <a:custGeom>
            <a:avLst/>
            <a:gdLst/>
            <a:ahLst/>
            <a:cxnLst/>
            <a:rect l="0" t="0" r="r" b="b"/>
            <a:pathLst>
              <a:path w="2476500" h="3937000">
                <a:moveTo>
                  <a:pt x="127000" y="0"/>
                </a:moveTo>
                <a:lnTo>
                  <a:pt x="2349500" y="0"/>
                </a:lnTo>
                <a:cubicBezTo>
                  <a:pt x="2419667" y="0"/>
                  <a:pt x="2476500" y="56832"/>
                  <a:pt x="2476500" y="127000"/>
                </a:cubicBezTo>
                <a:lnTo>
                  <a:pt x="2476500" y="3810000"/>
                </a:lnTo>
                <a:cubicBezTo>
                  <a:pt x="2476500" y="3880167"/>
                  <a:pt x="2419667" y="3937000"/>
                  <a:pt x="2349500" y="3937000"/>
                </a:cubicBezTo>
                <a:lnTo>
                  <a:pt x="127000" y="3937000"/>
                </a:lnTo>
                <a:cubicBezTo>
                  <a:pt x="56832" y="3937000"/>
                  <a:pt x="0" y="3880167"/>
                  <a:pt x="0" y="3810000"/>
                </a:cubicBezTo>
                <a:lnTo>
                  <a:pt x="0" y="127000"/>
                </a:lnTo>
                <a:cubicBezTo>
                  <a:pt x="0" y="56832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>
              <a:alpha val="7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colhd-1"/>
          <p:cNvSpPr/>
          <p:nvPr/>
        </p:nvSpPr>
        <p:spPr>
          <a:xfrm>
            <a:off x="952500" y="1587500"/>
            <a:ext cx="2476500" cy="609600"/>
          </a:xfrm>
          <a:custGeom>
            <a:avLst/>
            <a:gdLst/>
            <a:ahLst/>
            <a:cxnLst/>
            <a:rect l="0" t="0" r="r" b="b"/>
            <a:pathLst>
              <a:path w="2476500" h="609600">
                <a:moveTo>
                  <a:pt x="127000" y="0"/>
                </a:moveTo>
                <a:lnTo>
                  <a:pt x="2349500" y="0"/>
                </a:lnTo>
                <a:cubicBezTo>
                  <a:pt x="2419667" y="0"/>
                  <a:pt x="2476500" y="56832"/>
                  <a:pt x="2476500" y="127000"/>
                </a:cubicBezTo>
                <a:lnTo>
                  <a:pt x="2476500" y="482600"/>
                </a:lnTo>
                <a:cubicBezTo>
                  <a:pt x="2476500" y="552768"/>
                  <a:pt x="2419667" y="609600"/>
                  <a:pt x="2349500" y="609600"/>
                </a:cubicBezTo>
                <a:lnTo>
                  <a:pt x="127000" y="609600"/>
                </a:lnTo>
                <a:cubicBezTo>
                  <a:pt x="56832" y="609600"/>
                  <a:pt x="0" y="552768"/>
                  <a:pt x="0" y="482600"/>
                </a:cubicBezTo>
                <a:lnTo>
                  <a:pt x="0" y="127000"/>
                </a:lnTo>
                <a:cubicBezTo>
                  <a:pt x="0" y="56832"/>
                  <a:pt x="56832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2D599F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icon-doc"/>
          <p:cNvSpPr/>
          <p:nvPr/>
        </p:nvSpPr>
        <p:spPr>
          <a:xfrm>
            <a:off x="1204595" y="1830070"/>
            <a:ext cx="82995" cy="124460"/>
          </a:xfrm>
          <a:custGeom>
            <a:avLst/>
            <a:gdLst/>
            <a:ahLst/>
            <a:cxnLst/>
            <a:rect l="0" t="0" r="r" b="b"/>
            <a:pathLst>
              <a:path w="82995" h="124460">
                <a:moveTo>
                  <a:pt x="0" y="0"/>
                </a:moveTo>
                <a:lnTo>
                  <a:pt x="53340" y="0"/>
                </a:lnTo>
                <a:lnTo>
                  <a:pt x="82995" y="29655"/>
                </a:lnTo>
                <a:lnTo>
                  <a:pt x="82995" y="124460"/>
                </a:lnTo>
                <a:lnTo>
                  <a:pt x="0" y="124460"/>
                </a:lnTo>
                <a:close/>
                <a:moveTo>
                  <a:pt x="53340" y="0"/>
                </a:moveTo>
                <a:lnTo>
                  <a:pt x="53340" y="29655"/>
                </a:lnTo>
                <a:lnTo>
                  <a:pt x="82995" y="29655"/>
                </a:lnTo>
                <a:moveTo>
                  <a:pt x="19241" y="65215"/>
                </a:moveTo>
                <a:lnTo>
                  <a:pt x="63691" y="65215"/>
                </a:lnTo>
                <a:moveTo>
                  <a:pt x="19241" y="90361"/>
                </a:moveTo>
                <a:lnTo>
                  <a:pt x="63691" y="90361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coln-1"/>
          <p:cNvSpPr txBox="1"/>
          <p:nvPr/>
        </p:nvSpPr>
        <p:spPr>
          <a:xfrm>
            <a:off x="1454912" y="1678686"/>
            <a:ext cx="641985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需求池</a:t>
            </a:r>
          </a:p>
        </p:txBody>
      </p:sp>
      <p:sp>
        <p:nvSpPr>
          <p:cNvPr id="14" name="colen-1"/>
          <p:cNvSpPr txBox="1"/>
          <p:nvPr/>
        </p:nvSpPr>
        <p:spPr>
          <a:xfrm>
            <a:off x="1475232" y="1922208"/>
            <a:ext cx="54406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30">
                <a:solidFill>
                  <a:srgbClr val="CFE0F4"/>
                </a:solidFill>
                <a:latin typeface="Arial"/>
                <a:ea typeface="Arial"/>
                <a:cs typeface="Arial"/>
              </a:rPr>
              <a:t>BACKLOG</a:t>
            </a:r>
          </a:p>
        </p:txBody>
      </p:sp>
      <p:sp>
        <p:nvSpPr>
          <p:cNvPr id="15" name="colc-1"/>
          <p:cNvSpPr/>
          <p:nvPr/>
        </p:nvSpPr>
        <p:spPr>
          <a:xfrm>
            <a:off x="3035300" y="1765300"/>
            <a:ext cx="254000" cy="254000"/>
          </a:xfrm>
          <a:prstGeom prst="ellipse">
            <a:avLst/>
          </a:prstGeom>
          <a:solidFill>
            <a:srgbClr val="FFFFFF">
              <a:alpha val="2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colct-1"/>
          <p:cNvSpPr txBox="1"/>
          <p:nvPr/>
        </p:nvSpPr>
        <p:spPr>
          <a:xfrm>
            <a:off x="3074226" y="1794097"/>
            <a:ext cx="17614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17" name="card-1-1"/>
          <p:cNvSpPr/>
          <p:nvPr/>
        </p:nvSpPr>
        <p:spPr>
          <a:xfrm>
            <a:off x="1079500" y="2349500"/>
            <a:ext cx="2222500" cy="838200"/>
          </a:xfrm>
          <a:custGeom>
            <a:avLst/>
            <a:gdLst/>
            <a:ahLst/>
            <a:cxnLst/>
            <a:rect l="0" t="0" r="r" b="b"/>
            <a:pathLst>
              <a:path w="2222500" h="838200">
                <a:moveTo>
                  <a:pt x="101600" y="0"/>
                </a:moveTo>
                <a:lnTo>
                  <a:pt x="2120900" y="0"/>
                </a:lnTo>
                <a:cubicBezTo>
                  <a:pt x="2177034" y="0"/>
                  <a:pt x="2222500" y="45466"/>
                  <a:pt x="2222500" y="101600"/>
                </a:cubicBezTo>
                <a:lnTo>
                  <a:pt x="2222500" y="736600"/>
                </a:lnTo>
                <a:cubicBezTo>
                  <a:pt x="2222500" y="792734"/>
                  <a:pt x="2177034" y="838200"/>
                  <a:pt x="2120900" y="838200"/>
                </a:cubicBezTo>
                <a:lnTo>
                  <a:pt x="101600" y="838200"/>
                </a:lnTo>
                <a:cubicBezTo>
                  <a:pt x="45466" y="838200"/>
                  <a:pt x="0" y="792734"/>
                  <a:pt x="0" y="736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cardb-1-1"/>
          <p:cNvSpPr/>
          <p:nvPr/>
        </p:nvSpPr>
        <p:spPr>
          <a:xfrm>
            <a:off x="1079500" y="2349500"/>
            <a:ext cx="31750" cy="838200"/>
          </a:xfrm>
          <a:custGeom>
            <a:avLst/>
            <a:gdLst/>
            <a:ahLst/>
            <a:cxnLst/>
            <a:rect l="0" t="0" r="r" b="b"/>
            <a:pathLst>
              <a:path w="31750" h="838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822325"/>
                </a:lnTo>
                <a:cubicBezTo>
                  <a:pt x="31750" y="831088"/>
                  <a:pt x="24638" y="838200"/>
                  <a:pt x="15875" y="838200"/>
                </a:cubicBezTo>
                <a:lnTo>
                  <a:pt x="15875" y="838200"/>
                </a:lnTo>
                <a:cubicBezTo>
                  <a:pt x="7112" y="838200"/>
                  <a:pt x="0" y="831088"/>
                  <a:pt x="0" y="822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cardn-1-1"/>
          <p:cNvSpPr txBox="1"/>
          <p:nvPr/>
        </p:nvSpPr>
        <p:spPr>
          <a:xfrm>
            <a:off x="1215898" y="2464213"/>
            <a:ext cx="96583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客户门户改版</a:t>
            </a:r>
          </a:p>
        </p:txBody>
      </p:sp>
      <p:sp>
        <p:nvSpPr>
          <p:cNvPr id="20" name="av-1-1"/>
          <p:cNvSpPr/>
          <p:nvPr/>
        </p:nvSpPr>
        <p:spPr>
          <a:xfrm>
            <a:off x="1212850" y="2787650"/>
            <a:ext cx="190500" cy="190500"/>
          </a:xfrm>
          <a:prstGeom prst="ellipse">
            <a:avLst/>
          </a:pr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icon-people"/>
          <p:cNvSpPr/>
          <p:nvPr/>
        </p:nvSpPr>
        <p:spPr>
          <a:xfrm>
            <a:off x="1268095" y="2895282"/>
            <a:ext cx="80962" cy="22860"/>
          </a:xfrm>
          <a:custGeom>
            <a:avLst/>
            <a:gdLst/>
            <a:ahLst/>
            <a:cxnLst/>
            <a:rect l="0" t="0" r="r" b="b"/>
            <a:pathLst>
              <a:path w="80962" h="22860">
                <a:moveTo>
                  <a:pt x="0" y="22860"/>
                </a:moveTo>
                <a:cubicBezTo>
                  <a:pt x="0" y="8573"/>
                  <a:pt x="11875" y="0"/>
                  <a:pt x="25718" y="0"/>
                </a:cubicBezTo>
                <a:cubicBezTo>
                  <a:pt x="39561" y="0"/>
                  <a:pt x="51435" y="8573"/>
                  <a:pt x="51435" y="22860"/>
                </a:cubicBezTo>
                <a:moveTo>
                  <a:pt x="60960" y="1905"/>
                </a:moveTo>
                <a:cubicBezTo>
                  <a:pt x="73343" y="3366"/>
                  <a:pt x="80962" y="11875"/>
                  <a:pt x="80962" y="22860"/>
                </a:cubicBezTo>
              </a:path>
            </a:pathLst>
          </a:custGeom>
          <a:noFill/>
          <a:ln w="1206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icon-people"/>
          <p:cNvSpPr/>
          <p:nvPr/>
        </p:nvSpPr>
        <p:spPr>
          <a:xfrm>
            <a:off x="1278572" y="2854325"/>
            <a:ext cx="30480" cy="30480"/>
          </a:xfrm>
          <a:prstGeom prst="ellipse">
            <a:avLst/>
          </a:prstGeom>
          <a:noFill/>
          <a:ln w="1206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icon-people"/>
          <p:cNvSpPr/>
          <p:nvPr/>
        </p:nvSpPr>
        <p:spPr>
          <a:xfrm>
            <a:off x="1319530" y="2854325"/>
            <a:ext cx="24765" cy="24765"/>
          </a:xfrm>
          <a:prstGeom prst="ellipse">
            <a:avLst/>
          </a:prstGeom>
          <a:noFill/>
          <a:ln w="1206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cardo-1-1"/>
          <p:cNvSpPr txBox="1"/>
          <p:nvPr/>
        </p:nvSpPr>
        <p:spPr>
          <a:xfrm>
            <a:off x="1462151" y="2807287"/>
            <a:ext cx="36671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产品部</a:t>
            </a:r>
          </a:p>
        </p:txBody>
      </p:sp>
      <p:sp>
        <p:nvSpPr>
          <p:cNvPr id="25" name="tag-1-1"/>
          <p:cNvSpPr/>
          <p:nvPr/>
        </p:nvSpPr>
        <p:spPr>
          <a:xfrm>
            <a:off x="2590800" y="2794000"/>
            <a:ext cx="584200" cy="190500"/>
          </a:xfrm>
          <a:custGeom>
            <a:avLst/>
            <a:gdLst/>
            <a:ahLst/>
            <a:cxnLst/>
            <a:rect l="0" t="0" r="r" b="b"/>
            <a:pathLst>
              <a:path w="584200" h="190500">
                <a:moveTo>
                  <a:pt x="95250" y="0"/>
                </a:moveTo>
                <a:lnTo>
                  <a:pt x="488950" y="0"/>
                </a:lnTo>
                <a:cubicBezTo>
                  <a:pt x="541528" y="0"/>
                  <a:pt x="584200" y="42672"/>
                  <a:pt x="584200" y="95250"/>
                </a:cubicBezTo>
                <a:lnTo>
                  <a:pt x="584200" y="95250"/>
                </a:lnTo>
                <a:cubicBezTo>
                  <a:pt x="584200" y="147828"/>
                  <a:pt x="541528" y="190500"/>
                  <a:pt x="4889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tagt-1-1"/>
          <p:cNvSpPr txBox="1"/>
          <p:nvPr/>
        </p:nvSpPr>
        <p:spPr>
          <a:xfrm>
            <a:off x="2744851" y="2811208"/>
            <a:ext cx="27609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3 天</a:t>
            </a:r>
          </a:p>
        </p:txBody>
      </p:sp>
      <p:sp>
        <p:nvSpPr>
          <p:cNvPr id="27" name="card-1-2"/>
          <p:cNvSpPr/>
          <p:nvPr/>
        </p:nvSpPr>
        <p:spPr>
          <a:xfrm>
            <a:off x="1079500" y="3289300"/>
            <a:ext cx="2222500" cy="838200"/>
          </a:xfrm>
          <a:custGeom>
            <a:avLst/>
            <a:gdLst/>
            <a:ahLst/>
            <a:cxnLst/>
            <a:rect l="0" t="0" r="r" b="b"/>
            <a:pathLst>
              <a:path w="2222500" h="838200">
                <a:moveTo>
                  <a:pt x="101600" y="0"/>
                </a:moveTo>
                <a:lnTo>
                  <a:pt x="2120900" y="0"/>
                </a:lnTo>
                <a:cubicBezTo>
                  <a:pt x="2177034" y="0"/>
                  <a:pt x="2222500" y="45466"/>
                  <a:pt x="2222500" y="101600"/>
                </a:cubicBezTo>
                <a:lnTo>
                  <a:pt x="2222500" y="736600"/>
                </a:lnTo>
                <a:cubicBezTo>
                  <a:pt x="2222500" y="792734"/>
                  <a:pt x="2177034" y="838200"/>
                  <a:pt x="2120900" y="838200"/>
                </a:cubicBezTo>
                <a:lnTo>
                  <a:pt x="101600" y="838200"/>
                </a:lnTo>
                <a:cubicBezTo>
                  <a:pt x="45466" y="838200"/>
                  <a:pt x="0" y="792734"/>
                  <a:pt x="0" y="736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cardb-1-2"/>
          <p:cNvSpPr/>
          <p:nvPr/>
        </p:nvSpPr>
        <p:spPr>
          <a:xfrm>
            <a:off x="1079500" y="3289300"/>
            <a:ext cx="31750" cy="838200"/>
          </a:xfrm>
          <a:custGeom>
            <a:avLst/>
            <a:gdLst/>
            <a:ahLst/>
            <a:cxnLst/>
            <a:rect l="0" t="0" r="r" b="b"/>
            <a:pathLst>
              <a:path w="31750" h="838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822325"/>
                </a:lnTo>
                <a:cubicBezTo>
                  <a:pt x="31750" y="831088"/>
                  <a:pt x="24638" y="838200"/>
                  <a:pt x="15875" y="838200"/>
                </a:cubicBezTo>
                <a:lnTo>
                  <a:pt x="15875" y="838200"/>
                </a:lnTo>
                <a:cubicBezTo>
                  <a:pt x="7112" y="838200"/>
                  <a:pt x="0" y="831088"/>
                  <a:pt x="0" y="822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cardn-1-2"/>
          <p:cNvSpPr txBox="1"/>
          <p:nvPr/>
        </p:nvSpPr>
        <p:spPr>
          <a:xfrm>
            <a:off x="1215898" y="3404013"/>
            <a:ext cx="96583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报表导出提速</a:t>
            </a:r>
          </a:p>
        </p:txBody>
      </p:sp>
      <p:sp>
        <p:nvSpPr>
          <p:cNvPr id="30" name="av-1-2"/>
          <p:cNvSpPr/>
          <p:nvPr/>
        </p:nvSpPr>
        <p:spPr>
          <a:xfrm>
            <a:off x="1212850" y="3727450"/>
            <a:ext cx="190500" cy="190500"/>
          </a:xfrm>
          <a:prstGeom prst="ellipse">
            <a:avLst/>
          </a:pr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icon-people"/>
          <p:cNvSpPr/>
          <p:nvPr/>
        </p:nvSpPr>
        <p:spPr>
          <a:xfrm>
            <a:off x="1268095" y="3835083"/>
            <a:ext cx="80962" cy="22860"/>
          </a:xfrm>
          <a:custGeom>
            <a:avLst/>
            <a:gdLst/>
            <a:ahLst/>
            <a:cxnLst/>
            <a:rect l="0" t="0" r="r" b="b"/>
            <a:pathLst>
              <a:path w="80962" h="22860">
                <a:moveTo>
                  <a:pt x="0" y="22860"/>
                </a:moveTo>
                <a:cubicBezTo>
                  <a:pt x="0" y="8572"/>
                  <a:pt x="11875" y="0"/>
                  <a:pt x="25718" y="0"/>
                </a:cubicBezTo>
                <a:cubicBezTo>
                  <a:pt x="39561" y="0"/>
                  <a:pt x="51435" y="8572"/>
                  <a:pt x="51435" y="22860"/>
                </a:cubicBezTo>
                <a:moveTo>
                  <a:pt x="60960" y="1905"/>
                </a:moveTo>
                <a:cubicBezTo>
                  <a:pt x="73343" y="3365"/>
                  <a:pt x="80962" y="11938"/>
                  <a:pt x="80962" y="22860"/>
                </a:cubicBezTo>
              </a:path>
            </a:pathLst>
          </a:custGeom>
          <a:noFill/>
          <a:ln w="1206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icon-people"/>
          <p:cNvSpPr/>
          <p:nvPr/>
        </p:nvSpPr>
        <p:spPr>
          <a:xfrm>
            <a:off x="1278572" y="3794125"/>
            <a:ext cx="30480" cy="30480"/>
          </a:xfrm>
          <a:prstGeom prst="ellipse">
            <a:avLst/>
          </a:prstGeom>
          <a:noFill/>
          <a:ln w="1206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icon-people"/>
          <p:cNvSpPr/>
          <p:nvPr/>
        </p:nvSpPr>
        <p:spPr>
          <a:xfrm>
            <a:off x="1319530" y="3794125"/>
            <a:ext cx="24765" cy="24765"/>
          </a:xfrm>
          <a:prstGeom prst="ellipse">
            <a:avLst/>
          </a:prstGeom>
          <a:noFill/>
          <a:ln w="1206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cardo-1-2"/>
          <p:cNvSpPr txBox="1"/>
          <p:nvPr/>
        </p:nvSpPr>
        <p:spPr>
          <a:xfrm>
            <a:off x="1462151" y="3747087"/>
            <a:ext cx="36671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研发部</a:t>
            </a:r>
          </a:p>
        </p:txBody>
      </p:sp>
      <p:sp>
        <p:nvSpPr>
          <p:cNvPr id="35" name="tag-1-2"/>
          <p:cNvSpPr/>
          <p:nvPr/>
        </p:nvSpPr>
        <p:spPr>
          <a:xfrm>
            <a:off x="2590800" y="3733800"/>
            <a:ext cx="584200" cy="190500"/>
          </a:xfrm>
          <a:custGeom>
            <a:avLst/>
            <a:gdLst/>
            <a:ahLst/>
            <a:cxnLst/>
            <a:rect l="0" t="0" r="r" b="b"/>
            <a:pathLst>
              <a:path w="584200" h="190500">
                <a:moveTo>
                  <a:pt x="95250" y="0"/>
                </a:moveTo>
                <a:lnTo>
                  <a:pt x="488950" y="0"/>
                </a:lnTo>
                <a:cubicBezTo>
                  <a:pt x="541528" y="0"/>
                  <a:pt x="584200" y="42672"/>
                  <a:pt x="584200" y="95250"/>
                </a:cubicBezTo>
                <a:lnTo>
                  <a:pt x="584200" y="95250"/>
                </a:lnTo>
                <a:cubicBezTo>
                  <a:pt x="584200" y="147828"/>
                  <a:pt x="541528" y="190500"/>
                  <a:pt x="4889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tagt-1-2"/>
          <p:cNvSpPr txBox="1"/>
          <p:nvPr/>
        </p:nvSpPr>
        <p:spPr>
          <a:xfrm>
            <a:off x="2744851" y="3751008"/>
            <a:ext cx="27609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5 天</a:t>
            </a:r>
          </a:p>
        </p:txBody>
      </p:sp>
      <p:sp>
        <p:nvSpPr>
          <p:cNvPr id="37" name="card-1-3"/>
          <p:cNvSpPr/>
          <p:nvPr/>
        </p:nvSpPr>
        <p:spPr>
          <a:xfrm>
            <a:off x="1079500" y="4229100"/>
            <a:ext cx="2222500" cy="838200"/>
          </a:xfrm>
          <a:custGeom>
            <a:avLst/>
            <a:gdLst/>
            <a:ahLst/>
            <a:cxnLst/>
            <a:rect l="0" t="0" r="r" b="b"/>
            <a:pathLst>
              <a:path w="2222500" h="838200">
                <a:moveTo>
                  <a:pt x="101600" y="0"/>
                </a:moveTo>
                <a:lnTo>
                  <a:pt x="2120900" y="0"/>
                </a:lnTo>
                <a:cubicBezTo>
                  <a:pt x="2177034" y="0"/>
                  <a:pt x="2222500" y="45466"/>
                  <a:pt x="2222500" y="101600"/>
                </a:cubicBezTo>
                <a:lnTo>
                  <a:pt x="2222500" y="736600"/>
                </a:lnTo>
                <a:cubicBezTo>
                  <a:pt x="2222500" y="792734"/>
                  <a:pt x="2177034" y="838200"/>
                  <a:pt x="2120900" y="838200"/>
                </a:cubicBezTo>
                <a:lnTo>
                  <a:pt x="101600" y="838200"/>
                </a:lnTo>
                <a:cubicBezTo>
                  <a:pt x="45466" y="838200"/>
                  <a:pt x="0" y="792734"/>
                  <a:pt x="0" y="736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cardb-1-3"/>
          <p:cNvSpPr/>
          <p:nvPr/>
        </p:nvSpPr>
        <p:spPr>
          <a:xfrm>
            <a:off x="1079500" y="4229100"/>
            <a:ext cx="31750" cy="838200"/>
          </a:xfrm>
          <a:custGeom>
            <a:avLst/>
            <a:gdLst/>
            <a:ahLst/>
            <a:cxnLst/>
            <a:rect l="0" t="0" r="r" b="b"/>
            <a:pathLst>
              <a:path w="31750" h="838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822325"/>
                </a:lnTo>
                <a:cubicBezTo>
                  <a:pt x="31750" y="831088"/>
                  <a:pt x="24638" y="838200"/>
                  <a:pt x="15875" y="838200"/>
                </a:cubicBezTo>
                <a:lnTo>
                  <a:pt x="15875" y="838200"/>
                </a:lnTo>
                <a:cubicBezTo>
                  <a:pt x="7112" y="838200"/>
                  <a:pt x="0" y="831088"/>
                  <a:pt x="0" y="822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cardn-1-3"/>
          <p:cNvSpPr txBox="1"/>
          <p:nvPr/>
        </p:nvSpPr>
        <p:spPr>
          <a:xfrm>
            <a:off x="1215898" y="4343813"/>
            <a:ext cx="82486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移动端签批</a:t>
            </a:r>
          </a:p>
        </p:txBody>
      </p:sp>
      <p:sp>
        <p:nvSpPr>
          <p:cNvPr id="40" name="av-1-3"/>
          <p:cNvSpPr/>
          <p:nvPr/>
        </p:nvSpPr>
        <p:spPr>
          <a:xfrm>
            <a:off x="1212850" y="4667250"/>
            <a:ext cx="190500" cy="190500"/>
          </a:xfrm>
          <a:prstGeom prst="ellipse">
            <a:avLst/>
          </a:pr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icon-people"/>
          <p:cNvSpPr/>
          <p:nvPr/>
        </p:nvSpPr>
        <p:spPr>
          <a:xfrm>
            <a:off x="1268095" y="4774882"/>
            <a:ext cx="80962" cy="22860"/>
          </a:xfrm>
          <a:custGeom>
            <a:avLst/>
            <a:gdLst/>
            <a:ahLst/>
            <a:cxnLst/>
            <a:rect l="0" t="0" r="r" b="b"/>
            <a:pathLst>
              <a:path w="80962" h="22860">
                <a:moveTo>
                  <a:pt x="0" y="22860"/>
                </a:moveTo>
                <a:cubicBezTo>
                  <a:pt x="0" y="8572"/>
                  <a:pt x="11875" y="0"/>
                  <a:pt x="25718" y="0"/>
                </a:cubicBezTo>
                <a:cubicBezTo>
                  <a:pt x="39561" y="0"/>
                  <a:pt x="51435" y="8572"/>
                  <a:pt x="51435" y="22860"/>
                </a:cubicBezTo>
                <a:moveTo>
                  <a:pt x="60960" y="1905"/>
                </a:moveTo>
                <a:cubicBezTo>
                  <a:pt x="73343" y="3365"/>
                  <a:pt x="80962" y="11938"/>
                  <a:pt x="80962" y="22860"/>
                </a:cubicBezTo>
              </a:path>
            </a:pathLst>
          </a:custGeom>
          <a:noFill/>
          <a:ln w="1206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icon-people"/>
          <p:cNvSpPr/>
          <p:nvPr/>
        </p:nvSpPr>
        <p:spPr>
          <a:xfrm>
            <a:off x="1278572" y="4733925"/>
            <a:ext cx="30480" cy="30480"/>
          </a:xfrm>
          <a:prstGeom prst="ellipse">
            <a:avLst/>
          </a:prstGeom>
          <a:noFill/>
          <a:ln w="1206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icon-people"/>
          <p:cNvSpPr/>
          <p:nvPr/>
        </p:nvSpPr>
        <p:spPr>
          <a:xfrm>
            <a:off x="1319530" y="4733925"/>
            <a:ext cx="24765" cy="24765"/>
          </a:xfrm>
          <a:prstGeom prst="ellipse">
            <a:avLst/>
          </a:prstGeom>
          <a:noFill/>
          <a:ln w="1206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cardo-1-3"/>
          <p:cNvSpPr txBox="1"/>
          <p:nvPr/>
        </p:nvSpPr>
        <p:spPr>
          <a:xfrm>
            <a:off x="1462151" y="4686887"/>
            <a:ext cx="36671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产品部</a:t>
            </a:r>
          </a:p>
        </p:txBody>
      </p:sp>
      <p:sp>
        <p:nvSpPr>
          <p:cNvPr id="45" name="tag-1-3"/>
          <p:cNvSpPr/>
          <p:nvPr/>
        </p:nvSpPr>
        <p:spPr>
          <a:xfrm>
            <a:off x="2590800" y="4673600"/>
            <a:ext cx="584200" cy="190500"/>
          </a:xfrm>
          <a:custGeom>
            <a:avLst/>
            <a:gdLst/>
            <a:ahLst/>
            <a:cxnLst/>
            <a:rect l="0" t="0" r="r" b="b"/>
            <a:pathLst>
              <a:path w="584200" h="190500">
                <a:moveTo>
                  <a:pt x="95250" y="0"/>
                </a:moveTo>
                <a:lnTo>
                  <a:pt x="488950" y="0"/>
                </a:lnTo>
                <a:cubicBezTo>
                  <a:pt x="541528" y="0"/>
                  <a:pt x="584200" y="42672"/>
                  <a:pt x="584200" y="95250"/>
                </a:cubicBezTo>
                <a:lnTo>
                  <a:pt x="584200" y="95250"/>
                </a:lnTo>
                <a:cubicBezTo>
                  <a:pt x="584200" y="147828"/>
                  <a:pt x="541528" y="190500"/>
                  <a:pt x="4889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tagt-1-3"/>
          <p:cNvSpPr txBox="1"/>
          <p:nvPr/>
        </p:nvSpPr>
        <p:spPr>
          <a:xfrm>
            <a:off x="2744851" y="4690808"/>
            <a:ext cx="27609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8 天</a:t>
            </a:r>
          </a:p>
        </p:txBody>
      </p:sp>
      <p:sp>
        <p:nvSpPr>
          <p:cNvPr id="47" name="colarr-1"/>
          <p:cNvSpPr/>
          <p:nvPr/>
        </p:nvSpPr>
        <p:spPr>
          <a:xfrm>
            <a:off x="3448050" y="1828800"/>
            <a:ext cx="88900" cy="127000"/>
          </a:xfrm>
          <a:custGeom>
            <a:avLst/>
            <a:gdLst/>
            <a:ahLst/>
            <a:cxnLst/>
            <a:rect l="0" t="0" r="r" b="b"/>
            <a:pathLst>
              <a:path w="88900" h="127000">
                <a:moveTo>
                  <a:pt x="0" y="0"/>
                </a:moveTo>
                <a:lnTo>
                  <a:pt x="88900" y="63500"/>
                </a:lnTo>
                <a:lnTo>
                  <a:pt x="0" y="127000"/>
                </a:lnTo>
              </a:path>
            </a:pathLst>
          </a:custGeom>
          <a:noFill/>
          <a:ln w="15240" cap="rnd">
            <a:solidFill>
              <a:srgbClr val="1B5AA8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col-2"/>
          <p:cNvSpPr/>
          <p:nvPr/>
        </p:nvSpPr>
        <p:spPr>
          <a:xfrm>
            <a:off x="3556000" y="1587500"/>
            <a:ext cx="2476500" cy="3937000"/>
          </a:xfrm>
          <a:custGeom>
            <a:avLst/>
            <a:gdLst/>
            <a:ahLst/>
            <a:cxnLst/>
            <a:rect l="0" t="0" r="r" b="b"/>
            <a:pathLst>
              <a:path w="2476500" h="3937000">
                <a:moveTo>
                  <a:pt x="127000" y="0"/>
                </a:moveTo>
                <a:lnTo>
                  <a:pt x="2349500" y="0"/>
                </a:lnTo>
                <a:cubicBezTo>
                  <a:pt x="2419667" y="0"/>
                  <a:pt x="2476500" y="56832"/>
                  <a:pt x="2476500" y="127000"/>
                </a:cubicBezTo>
                <a:lnTo>
                  <a:pt x="2476500" y="3810000"/>
                </a:lnTo>
                <a:cubicBezTo>
                  <a:pt x="2476500" y="3880167"/>
                  <a:pt x="2419667" y="3937000"/>
                  <a:pt x="2349500" y="3937000"/>
                </a:cubicBezTo>
                <a:lnTo>
                  <a:pt x="127000" y="3937000"/>
                </a:lnTo>
                <a:cubicBezTo>
                  <a:pt x="56833" y="3937000"/>
                  <a:pt x="0" y="3880167"/>
                  <a:pt x="0" y="3810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>
              <a:alpha val="7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colhd-2"/>
          <p:cNvSpPr/>
          <p:nvPr/>
        </p:nvSpPr>
        <p:spPr>
          <a:xfrm>
            <a:off x="3556000" y="1587500"/>
            <a:ext cx="2476500" cy="609600"/>
          </a:xfrm>
          <a:custGeom>
            <a:avLst/>
            <a:gdLst/>
            <a:ahLst/>
            <a:cxnLst/>
            <a:rect l="0" t="0" r="r" b="b"/>
            <a:pathLst>
              <a:path w="2476500" h="609600">
                <a:moveTo>
                  <a:pt x="127000" y="0"/>
                </a:moveTo>
                <a:lnTo>
                  <a:pt x="2349500" y="0"/>
                </a:lnTo>
                <a:cubicBezTo>
                  <a:pt x="2419667" y="0"/>
                  <a:pt x="2476500" y="56832"/>
                  <a:pt x="2476500" y="127000"/>
                </a:cubicBezTo>
                <a:lnTo>
                  <a:pt x="2476500" y="482600"/>
                </a:lnTo>
                <a:cubicBezTo>
                  <a:pt x="2476500" y="552768"/>
                  <a:pt x="2419667" y="609600"/>
                  <a:pt x="2349500" y="609600"/>
                </a:cubicBezTo>
                <a:lnTo>
                  <a:pt x="127000" y="609600"/>
                </a:lnTo>
                <a:cubicBezTo>
                  <a:pt x="56833" y="609600"/>
                  <a:pt x="0" y="552768"/>
                  <a:pt x="0" y="4826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3B71B4"/>
              </a:gs>
              <a:gs pos="100000">
                <a:srgbClr val="1B5AA8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icon-code"/>
          <p:cNvSpPr/>
          <p:nvPr/>
        </p:nvSpPr>
        <p:spPr>
          <a:xfrm>
            <a:off x="3793300" y="1862646"/>
            <a:ext cx="109601" cy="59309"/>
          </a:xfrm>
          <a:custGeom>
            <a:avLst/>
            <a:gdLst/>
            <a:ahLst/>
            <a:cxnLst/>
            <a:rect l="0" t="0" r="r" b="b"/>
            <a:pathLst>
              <a:path w="109601" h="59309">
                <a:moveTo>
                  <a:pt x="32575" y="0"/>
                </a:moveTo>
                <a:lnTo>
                  <a:pt x="0" y="29655"/>
                </a:lnTo>
                <a:lnTo>
                  <a:pt x="32575" y="59309"/>
                </a:lnTo>
                <a:moveTo>
                  <a:pt x="77025" y="0"/>
                </a:moveTo>
                <a:lnTo>
                  <a:pt x="109601" y="29655"/>
                </a:lnTo>
                <a:lnTo>
                  <a:pt x="77025" y="59309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coln-2"/>
          <p:cNvSpPr txBox="1"/>
          <p:nvPr/>
        </p:nvSpPr>
        <p:spPr>
          <a:xfrm>
            <a:off x="4058412" y="1678686"/>
            <a:ext cx="641985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开发中</a:t>
            </a:r>
          </a:p>
        </p:txBody>
      </p:sp>
      <p:sp>
        <p:nvSpPr>
          <p:cNvPr id="52" name="colen-2"/>
          <p:cNvSpPr txBox="1"/>
          <p:nvPr/>
        </p:nvSpPr>
        <p:spPr>
          <a:xfrm>
            <a:off x="4078732" y="1922208"/>
            <a:ext cx="80924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30">
                <a:solidFill>
                  <a:srgbClr val="CFE0F4"/>
                </a:solidFill>
                <a:latin typeface="Arial"/>
                <a:ea typeface="Arial"/>
                <a:cs typeface="Arial"/>
              </a:rPr>
              <a:t>IN PROGRESS</a:t>
            </a:r>
          </a:p>
        </p:txBody>
      </p:sp>
      <p:sp>
        <p:nvSpPr>
          <p:cNvPr id="53" name="colc-2"/>
          <p:cNvSpPr/>
          <p:nvPr/>
        </p:nvSpPr>
        <p:spPr>
          <a:xfrm>
            <a:off x="5638800" y="1765300"/>
            <a:ext cx="254000" cy="254000"/>
          </a:xfrm>
          <a:prstGeom prst="ellipse">
            <a:avLst/>
          </a:prstGeom>
          <a:solidFill>
            <a:srgbClr val="FFFFFF">
              <a:alpha val="2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colct-2"/>
          <p:cNvSpPr txBox="1"/>
          <p:nvPr/>
        </p:nvSpPr>
        <p:spPr>
          <a:xfrm>
            <a:off x="5677726" y="1794097"/>
            <a:ext cx="17614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55" name="wip-2"/>
          <p:cNvSpPr/>
          <p:nvPr/>
        </p:nvSpPr>
        <p:spPr>
          <a:xfrm>
            <a:off x="3683000" y="2273300"/>
            <a:ext cx="609600" cy="177800"/>
          </a:xfrm>
          <a:custGeom>
            <a:avLst/>
            <a:gdLst/>
            <a:ahLst/>
            <a:cxnLst/>
            <a:rect l="0" t="0" r="r" b="b"/>
            <a:pathLst>
              <a:path w="609600" h="177800">
                <a:moveTo>
                  <a:pt x="88900" y="0"/>
                </a:moveTo>
                <a:lnTo>
                  <a:pt x="520700" y="0"/>
                </a:lnTo>
                <a:cubicBezTo>
                  <a:pt x="569786" y="0"/>
                  <a:pt x="609600" y="39814"/>
                  <a:pt x="609600" y="88900"/>
                </a:cubicBezTo>
                <a:lnTo>
                  <a:pt x="609600" y="88900"/>
                </a:lnTo>
                <a:cubicBezTo>
                  <a:pt x="609600" y="137986"/>
                  <a:pt x="569786" y="177800"/>
                  <a:pt x="5207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E0703A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wipt-2"/>
          <p:cNvSpPr txBox="1"/>
          <p:nvPr/>
        </p:nvSpPr>
        <p:spPr>
          <a:xfrm>
            <a:off x="3764661" y="2290508"/>
            <a:ext cx="4462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E0703A"/>
                </a:solidFill>
                <a:latin typeface="Arial"/>
                <a:ea typeface="Arial"/>
                <a:cs typeface="Arial"/>
              </a:rPr>
              <a:t>WIP ≤ 4</a:t>
            </a:r>
          </a:p>
        </p:txBody>
      </p:sp>
      <p:sp>
        <p:nvSpPr>
          <p:cNvPr id="57" name="card-2-1"/>
          <p:cNvSpPr/>
          <p:nvPr/>
        </p:nvSpPr>
        <p:spPr>
          <a:xfrm>
            <a:off x="3683000" y="2552700"/>
            <a:ext cx="2222500" cy="838200"/>
          </a:xfrm>
          <a:custGeom>
            <a:avLst/>
            <a:gdLst/>
            <a:ahLst/>
            <a:cxnLst/>
            <a:rect l="0" t="0" r="r" b="b"/>
            <a:pathLst>
              <a:path w="2222500" h="838200">
                <a:moveTo>
                  <a:pt x="101600" y="0"/>
                </a:moveTo>
                <a:lnTo>
                  <a:pt x="2120900" y="0"/>
                </a:lnTo>
                <a:cubicBezTo>
                  <a:pt x="2177034" y="0"/>
                  <a:pt x="2222500" y="45466"/>
                  <a:pt x="2222500" y="101600"/>
                </a:cubicBezTo>
                <a:lnTo>
                  <a:pt x="2222500" y="736600"/>
                </a:lnTo>
                <a:cubicBezTo>
                  <a:pt x="2222500" y="792734"/>
                  <a:pt x="2177034" y="838200"/>
                  <a:pt x="2120900" y="838200"/>
                </a:cubicBezTo>
                <a:lnTo>
                  <a:pt x="101600" y="838200"/>
                </a:lnTo>
                <a:cubicBezTo>
                  <a:pt x="45466" y="838200"/>
                  <a:pt x="0" y="792734"/>
                  <a:pt x="0" y="736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cardb-2-1"/>
          <p:cNvSpPr/>
          <p:nvPr/>
        </p:nvSpPr>
        <p:spPr>
          <a:xfrm>
            <a:off x="3683000" y="2552700"/>
            <a:ext cx="31750" cy="838200"/>
          </a:xfrm>
          <a:custGeom>
            <a:avLst/>
            <a:gdLst/>
            <a:ahLst/>
            <a:cxnLst/>
            <a:rect l="0" t="0" r="r" b="b"/>
            <a:pathLst>
              <a:path w="31750" h="838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822325"/>
                </a:lnTo>
                <a:cubicBezTo>
                  <a:pt x="31750" y="831088"/>
                  <a:pt x="24638" y="838200"/>
                  <a:pt x="15875" y="838200"/>
                </a:cubicBezTo>
                <a:lnTo>
                  <a:pt x="15875" y="838200"/>
                </a:lnTo>
                <a:cubicBezTo>
                  <a:pt x="7112" y="838200"/>
                  <a:pt x="0" y="831088"/>
                  <a:pt x="0" y="822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cardn-2-1"/>
          <p:cNvSpPr txBox="1"/>
          <p:nvPr/>
        </p:nvSpPr>
        <p:spPr>
          <a:xfrm>
            <a:off x="3819398" y="2667413"/>
            <a:ext cx="96583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订单中心重构</a:t>
            </a:r>
          </a:p>
        </p:txBody>
      </p:sp>
      <p:sp>
        <p:nvSpPr>
          <p:cNvPr id="60" name="av-2-1"/>
          <p:cNvSpPr/>
          <p:nvPr/>
        </p:nvSpPr>
        <p:spPr>
          <a:xfrm>
            <a:off x="3816350" y="2990850"/>
            <a:ext cx="190500" cy="190500"/>
          </a:xfrm>
          <a:prstGeom prst="ellipse">
            <a:avLst/>
          </a:pr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icon-people"/>
          <p:cNvSpPr/>
          <p:nvPr/>
        </p:nvSpPr>
        <p:spPr>
          <a:xfrm>
            <a:off x="3871595" y="3098482"/>
            <a:ext cx="80962" cy="22860"/>
          </a:xfrm>
          <a:custGeom>
            <a:avLst/>
            <a:gdLst/>
            <a:ahLst/>
            <a:cxnLst/>
            <a:rect l="0" t="0" r="r" b="b"/>
            <a:pathLst>
              <a:path w="80962" h="22860">
                <a:moveTo>
                  <a:pt x="0" y="22860"/>
                </a:moveTo>
                <a:cubicBezTo>
                  <a:pt x="0" y="8573"/>
                  <a:pt x="11938" y="0"/>
                  <a:pt x="25717" y="0"/>
                </a:cubicBezTo>
                <a:cubicBezTo>
                  <a:pt x="39497" y="0"/>
                  <a:pt x="51435" y="8573"/>
                  <a:pt x="51435" y="22860"/>
                </a:cubicBezTo>
                <a:moveTo>
                  <a:pt x="60960" y="1905"/>
                </a:moveTo>
                <a:cubicBezTo>
                  <a:pt x="73342" y="3366"/>
                  <a:pt x="80962" y="11875"/>
                  <a:pt x="80962" y="22860"/>
                </a:cubicBezTo>
              </a:path>
            </a:pathLst>
          </a:custGeom>
          <a:noFill/>
          <a:ln w="1206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icon-people"/>
          <p:cNvSpPr/>
          <p:nvPr/>
        </p:nvSpPr>
        <p:spPr>
          <a:xfrm>
            <a:off x="3882072" y="3057525"/>
            <a:ext cx="30480" cy="30480"/>
          </a:xfrm>
          <a:prstGeom prst="ellipse">
            <a:avLst/>
          </a:prstGeom>
          <a:noFill/>
          <a:ln w="1206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icon-people"/>
          <p:cNvSpPr/>
          <p:nvPr/>
        </p:nvSpPr>
        <p:spPr>
          <a:xfrm>
            <a:off x="3923030" y="3057525"/>
            <a:ext cx="24765" cy="24765"/>
          </a:xfrm>
          <a:prstGeom prst="ellipse">
            <a:avLst/>
          </a:prstGeom>
          <a:noFill/>
          <a:ln w="1206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cardo-2-1"/>
          <p:cNvSpPr txBox="1"/>
          <p:nvPr/>
        </p:nvSpPr>
        <p:spPr>
          <a:xfrm>
            <a:off x="4065651" y="3010487"/>
            <a:ext cx="36671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研发部</a:t>
            </a:r>
          </a:p>
        </p:txBody>
      </p:sp>
      <p:sp>
        <p:nvSpPr>
          <p:cNvPr id="65" name="tag-2-1"/>
          <p:cNvSpPr/>
          <p:nvPr/>
        </p:nvSpPr>
        <p:spPr>
          <a:xfrm>
            <a:off x="5194300" y="2997200"/>
            <a:ext cx="584200" cy="190500"/>
          </a:xfrm>
          <a:custGeom>
            <a:avLst/>
            <a:gdLst/>
            <a:ahLst/>
            <a:cxnLst/>
            <a:rect l="0" t="0" r="r" b="b"/>
            <a:pathLst>
              <a:path w="584200" h="190500">
                <a:moveTo>
                  <a:pt x="95250" y="0"/>
                </a:moveTo>
                <a:lnTo>
                  <a:pt x="488950" y="0"/>
                </a:lnTo>
                <a:cubicBezTo>
                  <a:pt x="541528" y="0"/>
                  <a:pt x="584200" y="42672"/>
                  <a:pt x="584200" y="95250"/>
                </a:cubicBezTo>
                <a:lnTo>
                  <a:pt x="584200" y="95250"/>
                </a:lnTo>
                <a:cubicBezTo>
                  <a:pt x="584200" y="147828"/>
                  <a:pt x="541528" y="190500"/>
                  <a:pt x="4889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tagt-2-1"/>
          <p:cNvSpPr txBox="1"/>
          <p:nvPr/>
        </p:nvSpPr>
        <p:spPr>
          <a:xfrm>
            <a:off x="5322189" y="3014408"/>
            <a:ext cx="32842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12 天</a:t>
            </a:r>
          </a:p>
        </p:txBody>
      </p:sp>
      <p:sp>
        <p:nvSpPr>
          <p:cNvPr id="67" name="blk-2-1"/>
          <p:cNvSpPr txBox="1"/>
          <p:nvPr/>
        </p:nvSpPr>
        <p:spPr>
          <a:xfrm>
            <a:off x="5495798" y="2696908"/>
            <a:ext cx="2679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4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阻塞</a:t>
            </a:r>
          </a:p>
        </p:txBody>
      </p:sp>
      <p:sp>
        <p:nvSpPr>
          <p:cNvPr id="68" name="card-2-2"/>
          <p:cNvSpPr/>
          <p:nvPr/>
        </p:nvSpPr>
        <p:spPr>
          <a:xfrm>
            <a:off x="3683000" y="3492500"/>
            <a:ext cx="2222500" cy="838200"/>
          </a:xfrm>
          <a:custGeom>
            <a:avLst/>
            <a:gdLst/>
            <a:ahLst/>
            <a:cxnLst/>
            <a:rect l="0" t="0" r="r" b="b"/>
            <a:pathLst>
              <a:path w="2222500" h="838200">
                <a:moveTo>
                  <a:pt x="101600" y="0"/>
                </a:moveTo>
                <a:lnTo>
                  <a:pt x="2120900" y="0"/>
                </a:lnTo>
                <a:cubicBezTo>
                  <a:pt x="2177034" y="0"/>
                  <a:pt x="2222500" y="45466"/>
                  <a:pt x="2222500" y="101600"/>
                </a:cubicBezTo>
                <a:lnTo>
                  <a:pt x="2222500" y="736600"/>
                </a:lnTo>
                <a:cubicBezTo>
                  <a:pt x="2222500" y="792734"/>
                  <a:pt x="2177034" y="838200"/>
                  <a:pt x="2120900" y="838200"/>
                </a:cubicBezTo>
                <a:lnTo>
                  <a:pt x="101600" y="838200"/>
                </a:lnTo>
                <a:cubicBezTo>
                  <a:pt x="45466" y="838200"/>
                  <a:pt x="0" y="792734"/>
                  <a:pt x="0" y="736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cardb-2-2"/>
          <p:cNvSpPr/>
          <p:nvPr/>
        </p:nvSpPr>
        <p:spPr>
          <a:xfrm>
            <a:off x="3683000" y="3492500"/>
            <a:ext cx="31750" cy="838200"/>
          </a:xfrm>
          <a:custGeom>
            <a:avLst/>
            <a:gdLst/>
            <a:ahLst/>
            <a:cxnLst/>
            <a:rect l="0" t="0" r="r" b="b"/>
            <a:pathLst>
              <a:path w="31750" h="838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822325"/>
                </a:lnTo>
                <a:cubicBezTo>
                  <a:pt x="31750" y="831088"/>
                  <a:pt x="24638" y="838200"/>
                  <a:pt x="15875" y="838200"/>
                </a:cubicBezTo>
                <a:lnTo>
                  <a:pt x="15875" y="838200"/>
                </a:lnTo>
                <a:cubicBezTo>
                  <a:pt x="7112" y="838200"/>
                  <a:pt x="0" y="831088"/>
                  <a:pt x="0" y="822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cardn-2-2"/>
          <p:cNvSpPr txBox="1"/>
          <p:nvPr/>
        </p:nvSpPr>
        <p:spPr>
          <a:xfrm>
            <a:off x="3819398" y="3607213"/>
            <a:ext cx="930783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计价引擎 v2</a:t>
            </a:r>
          </a:p>
        </p:txBody>
      </p:sp>
      <p:sp>
        <p:nvSpPr>
          <p:cNvPr id="71" name="av-2-2"/>
          <p:cNvSpPr/>
          <p:nvPr/>
        </p:nvSpPr>
        <p:spPr>
          <a:xfrm>
            <a:off x="3816350" y="3930650"/>
            <a:ext cx="190500" cy="190500"/>
          </a:xfrm>
          <a:prstGeom prst="ellipse">
            <a:avLst/>
          </a:pr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icon-people"/>
          <p:cNvSpPr/>
          <p:nvPr/>
        </p:nvSpPr>
        <p:spPr>
          <a:xfrm>
            <a:off x="3871595" y="4038283"/>
            <a:ext cx="80962" cy="22860"/>
          </a:xfrm>
          <a:custGeom>
            <a:avLst/>
            <a:gdLst/>
            <a:ahLst/>
            <a:cxnLst/>
            <a:rect l="0" t="0" r="r" b="b"/>
            <a:pathLst>
              <a:path w="80962" h="22860">
                <a:moveTo>
                  <a:pt x="0" y="22860"/>
                </a:moveTo>
                <a:cubicBezTo>
                  <a:pt x="0" y="8572"/>
                  <a:pt x="11938" y="0"/>
                  <a:pt x="25717" y="0"/>
                </a:cubicBezTo>
                <a:cubicBezTo>
                  <a:pt x="39497" y="0"/>
                  <a:pt x="51435" y="8572"/>
                  <a:pt x="51435" y="22860"/>
                </a:cubicBezTo>
                <a:moveTo>
                  <a:pt x="60960" y="1905"/>
                </a:moveTo>
                <a:cubicBezTo>
                  <a:pt x="73342" y="3365"/>
                  <a:pt x="80962" y="11938"/>
                  <a:pt x="80962" y="22860"/>
                </a:cubicBezTo>
              </a:path>
            </a:pathLst>
          </a:custGeom>
          <a:noFill/>
          <a:ln w="1206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icon-people"/>
          <p:cNvSpPr/>
          <p:nvPr/>
        </p:nvSpPr>
        <p:spPr>
          <a:xfrm>
            <a:off x="3882072" y="3997325"/>
            <a:ext cx="30480" cy="30480"/>
          </a:xfrm>
          <a:prstGeom prst="ellipse">
            <a:avLst/>
          </a:prstGeom>
          <a:noFill/>
          <a:ln w="1206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icon-people"/>
          <p:cNvSpPr/>
          <p:nvPr/>
        </p:nvSpPr>
        <p:spPr>
          <a:xfrm>
            <a:off x="3923030" y="3997325"/>
            <a:ext cx="24765" cy="24765"/>
          </a:xfrm>
          <a:prstGeom prst="ellipse">
            <a:avLst/>
          </a:prstGeom>
          <a:noFill/>
          <a:ln w="1206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cardo-2-2"/>
          <p:cNvSpPr txBox="1"/>
          <p:nvPr/>
        </p:nvSpPr>
        <p:spPr>
          <a:xfrm>
            <a:off x="4065651" y="3950287"/>
            <a:ext cx="36671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研发部</a:t>
            </a:r>
          </a:p>
        </p:txBody>
      </p:sp>
      <p:sp>
        <p:nvSpPr>
          <p:cNvPr id="76" name="tag-2-2"/>
          <p:cNvSpPr/>
          <p:nvPr/>
        </p:nvSpPr>
        <p:spPr>
          <a:xfrm>
            <a:off x="5194300" y="3937000"/>
            <a:ext cx="584200" cy="190500"/>
          </a:xfrm>
          <a:custGeom>
            <a:avLst/>
            <a:gdLst/>
            <a:ahLst/>
            <a:cxnLst/>
            <a:rect l="0" t="0" r="r" b="b"/>
            <a:pathLst>
              <a:path w="584200" h="190500">
                <a:moveTo>
                  <a:pt x="95250" y="0"/>
                </a:moveTo>
                <a:lnTo>
                  <a:pt x="488950" y="0"/>
                </a:lnTo>
                <a:cubicBezTo>
                  <a:pt x="541528" y="0"/>
                  <a:pt x="584200" y="42672"/>
                  <a:pt x="584200" y="95250"/>
                </a:cubicBezTo>
                <a:lnTo>
                  <a:pt x="584200" y="95250"/>
                </a:lnTo>
                <a:cubicBezTo>
                  <a:pt x="584200" y="147828"/>
                  <a:pt x="541528" y="190500"/>
                  <a:pt x="4889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tagt-2-2"/>
          <p:cNvSpPr txBox="1"/>
          <p:nvPr/>
        </p:nvSpPr>
        <p:spPr>
          <a:xfrm>
            <a:off x="5348351" y="3954208"/>
            <a:ext cx="27609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7 天</a:t>
            </a:r>
          </a:p>
        </p:txBody>
      </p:sp>
      <p:sp>
        <p:nvSpPr>
          <p:cNvPr id="78" name="blk-2-2"/>
          <p:cNvSpPr txBox="1"/>
          <p:nvPr/>
        </p:nvSpPr>
        <p:spPr>
          <a:xfrm>
            <a:off x="5495798" y="3636708"/>
            <a:ext cx="2679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4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阻塞</a:t>
            </a:r>
          </a:p>
        </p:txBody>
      </p:sp>
      <p:sp>
        <p:nvSpPr>
          <p:cNvPr id="79" name="card-2-3"/>
          <p:cNvSpPr/>
          <p:nvPr/>
        </p:nvSpPr>
        <p:spPr>
          <a:xfrm>
            <a:off x="3683000" y="4432300"/>
            <a:ext cx="2222500" cy="838200"/>
          </a:xfrm>
          <a:custGeom>
            <a:avLst/>
            <a:gdLst/>
            <a:ahLst/>
            <a:cxnLst/>
            <a:rect l="0" t="0" r="r" b="b"/>
            <a:pathLst>
              <a:path w="2222500" h="838200">
                <a:moveTo>
                  <a:pt x="101600" y="0"/>
                </a:moveTo>
                <a:lnTo>
                  <a:pt x="2120900" y="0"/>
                </a:lnTo>
                <a:cubicBezTo>
                  <a:pt x="2177034" y="0"/>
                  <a:pt x="2222500" y="45466"/>
                  <a:pt x="2222500" y="101600"/>
                </a:cubicBezTo>
                <a:lnTo>
                  <a:pt x="2222500" y="736600"/>
                </a:lnTo>
                <a:cubicBezTo>
                  <a:pt x="2222500" y="792734"/>
                  <a:pt x="2177034" y="838200"/>
                  <a:pt x="2120900" y="838200"/>
                </a:cubicBezTo>
                <a:lnTo>
                  <a:pt x="101600" y="838200"/>
                </a:lnTo>
                <a:cubicBezTo>
                  <a:pt x="45466" y="838200"/>
                  <a:pt x="0" y="792734"/>
                  <a:pt x="0" y="736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cardb-2-3"/>
          <p:cNvSpPr/>
          <p:nvPr/>
        </p:nvSpPr>
        <p:spPr>
          <a:xfrm>
            <a:off x="3683000" y="4432300"/>
            <a:ext cx="31750" cy="838200"/>
          </a:xfrm>
          <a:custGeom>
            <a:avLst/>
            <a:gdLst/>
            <a:ahLst/>
            <a:cxnLst/>
            <a:rect l="0" t="0" r="r" b="b"/>
            <a:pathLst>
              <a:path w="31750" h="838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822325"/>
                </a:lnTo>
                <a:cubicBezTo>
                  <a:pt x="31750" y="831088"/>
                  <a:pt x="24638" y="838200"/>
                  <a:pt x="15875" y="838200"/>
                </a:cubicBezTo>
                <a:lnTo>
                  <a:pt x="15875" y="838200"/>
                </a:lnTo>
                <a:cubicBezTo>
                  <a:pt x="7112" y="838200"/>
                  <a:pt x="0" y="831088"/>
                  <a:pt x="0" y="822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cardn-2-3"/>
          <p:cNvSpPr txBox="1"/>
          <p:nvPr/>
        </p:nvSpPr>
        <p:spPr>
          <a:xfrm>
            <a:off x="3819398" y="4547013"/>
            <a:ext cx="96583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质量追溯模块</a:t>
            </a:r>
          </a:p>
        </p:txBody>
      </p:sp>
      <p:sp>
        <p:nvSpPr>
          <p:cNvPr id="82" name="av-2-3"/>
          <p:cNvSpPr/>
          <p:nvPr/>
        </p:nvSpPr>
        <p:spPr>
          <a:xfrm>
            <a:off x="3816350" y="4870450"/>
            <a:ext cx="190500" cy="190500"/>
          </a:xfrm>
          <a:prstGeom prst="ellipse">
            <a:avLst/>
          </a:pr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icon-people"/>
          <p:cNvSpPr/>
          <p:nvPr/>
        </p:nvSpPr>
        <p:spPr>
          <a:xfrm>
            <a:off x="3871595" y="4978082"/>
            <a:ext cx="80962" cy="22860"/>
          </a:xfrm>
          <a:custGeom>
            <a:avLst/>
            <a:gdLst/>
            <a:ahLst/>
            <a:cxnLst/>
            <a:rect l="0" t="0" r="r" b="b"/>
            <a:pathLst>
              <a:path w="80962" h="22860">
                <a:moveTo>
                  <a:pt x="0" y="22860"/>
                </a:moveTo>
                <a:cubicBezTo>
                  <a:pt x="0" y="8572"/>
                  <a:pt x="11938" y="0"/>
                  <a:pt x="25717" y="0"/>
                </a:cubicBezTo>
                <a:cubicBezTo>
                  <a:pt x="39497" y="0"/>
                  <a:pt x="51435" y="8572"/>
                  <a:pt x="51435" y="22860"/>
                </a:cubicBezTo>
                <a:moveTo>
                  <a:pt x="60960" y="1905"/>
                </a:moveTo>
                <a:cubicBezTo>
                  <a:pt x="73342" y="3365"/>
                  <a:pt x="80962" y="11938"/>
                  <a:pt x="80962" y="22860"/>
                </a:cubicBezTo>
              </a:path>
            </a:pathLst>
          </a:custGeom>
          <a:noFill/>
          <a:ln w="1206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icon-people"/>
          <p:cNvSpPr/>
          <p:nvPr/>
        </p:nvSpPr>
        <p:spPr>
          <a:xfrm>
            <a:off x="3882072" y="4937125"/>
            <a:ext cx="30480" cy="30480"/>
          </a:xfrm>
          <a:prstGeom prst="ellipse">
            <a:avLst/>
          </a:prstGeom>
          <a:noFill/>
          <a:ln w="1206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icon-people"/>
          <p:cNvSpPr/>
          <p:nvPr/>
        </p:nvSpPr>
        <p:spPr>
          <a:xfrm>
            <a:off x="3923030" y="4937125"/>
            <a:ext cx="24765" cy="24765"/>
          </a:xfrm>
          <a:prstGeom prst="ellipse">
            <a:avLst/>
          </a:prstGeom>
          <a:noFill/>
          <a:ln w="1206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cardo-2-3"/>
          <p:cNvSpPr txBox="1"/>
          <p:nvPr/>
        </p:nvSpPr>
        <p:spPr>
          <a:xfrm>
            <a:off x="4065651" y="4890087"/>
            <a:ext cx="43440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制造 IT</a:t>
            </a:r>
          </a:p>
        </p:txBody>
      </p:sp>
      <p:sp>
        <p:nvSpPr>
          <p:cNvPr id="87" name="tag-2-3"/>
          <p:cNvSpPr/>
          <p:nvPr/>
        </p:nvSpPr>
        <p:spPr>
          <a:xfrm>
            <a:off x="5194300" y="4876800"/>
            <a:ext cx="584200" cy="190500"/>
          </a:xfrm>
          <a:custGeom>
            <a:avLst/>
            <a:gdLst/>
            <a:ahLst/>
            <a:cxnLst/>
            <a:rect l="0" t="0" r="r" b="b"/>
            <a:pathLst>
              <a:path w="584200" h="190500">
                <a:moveTo>
                  <a:pt x="95250" y="0"/>
                </a:moveTo>
                <a:lnTo>
                  <a:pt x="488950" y="0"/>
                </a:lnTo>
                <a:cubicBezTo>
                  <a:pt x="541528" y="0"/>
                  <a:pt x="584200" y="42672"/>
                  <a:pt x="584200" y="95250"/>
                </a:cubicBezTo>
                <a:lnTo>
                  <a:pt x="584200" y="95250"/>
                </a:lnTo>
                <a:cubicBezTo>
                  <a:pt x="584200" y="147828"/>
                  <a:pt x="541528" y="190500"/>
                  <a:pt x="4889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tagt-2-3"/>
          <p:cNvSpPr txBox="1"/>
          <p:nvPr/>
        </p:nvSpPr>
        <p:spPr>
          <a:xfrm>
            <a:off x="5348351" y="4894008"/>
            <a:ext cx="27609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4 天</a:t>
            </a:r>
          </a:p>
        </p:txBody>
      </p:sp>
      <p:sp>
        <p:nvSpPr>
          <p:cNvPr id="89" name="colarr-2"/>
          <p:cNvSpPr/>
          <p:nvPr/>
        </p:nvSpPr>
        <p:spPr>
          <a:xfrm>
            <a:off x="6051550" y="1828800"/>
            <a:ext cx="88900" cy="127000"/>
          </a:xfrm>
          <a:custGeom>
            <a:avLst/>
            <a:gdLst/>
            <a:ahLst/>
            <a:cxnLst/>
            <a:rect l="0" t="0" r="r" b="b"/>
            <a:pathLst>
              <a:path w="88900" h="127000">
                <a:moveTo>
                  <a:pt x="0" y="0"/>
                </a:moveTo>
                <a:lnTo>
                  <a:pt x="88900" y="63500"/>
                </a:lnTo>
                <a:lnTo>
                  <a:pt x="0" y="127000"/>
                </a:lnTo>
              </a:path>
            </a:pathLst>
          </a:custGeom>
          <a:noFill/>
          <a:ln w="15240" cap="rnd">
            <a:solidFill>
              <a:srgbClr val="1B5AA8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col-3"/>
          <p:cNvSpPr/>
          <p:nvPr/>
        </p:nvSpPr>
        <p:spPr>
          <a:xfrm>
            <a:off x="6159500" y="1587500"/>
            <a:ext cx="2476500" cy="3937000"/>
          </a:xfrm>
          <a:custGeom>
            <a:avLst/>
            <a:gdLst/>
            <a:ahLst/>
            <a:cxnLst/>
            <a:rect l="0" t="0" r="r" b="b"/>
            <a:pathLst>
              <a:path w="2476500" h="3937000">
                <a:moveTo>
                  <a:pt x="127000" y="0"/>
                </a:moveTo>
                <a:lnTo>
                  <a:pt x="2349500" y="0"/>
                </a:lnTo>
                <a:cubicBezTo>
                  <a:pt x="2419667" y="0"/>
                  <a:pt x="2476500" y="56832"/>
                  <a:pt x="2476500" y="127000"/>
                </a:cubicBezTo>
                <a:lnTo>
                  <a:pt x="2476500" y="3810000"/>
                </a:lnTo>
                <a:cubicBezTo>
                  <a:pt x="2476500" y="3880167"/>
                  <a:pt x="2419667" y="3937000"/>
                  <a:pt x="2349500" y="3937000"/>
                </a:cubicBezTo>
                <a:lnTo>
                  <a:pt x="127000" y="3937000"/>
                </a:lnTo>
                <a:cubicBezTo>
                  <a:pt x="56833" y="3937000"/>
                  <a:pt x="0" y="3880167"/>
                  <a:pt x="0" y="3810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>
              <a:alpha val="7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colhd-3"/>
          <p:cNvSpPr/>
          <p:nvPr/>
        </p:nvSpPr>
        <p:spPr>
          <a:xfrm>
            <a:off x="6159500" y="1587500"/>
            <a:ext cx="2476500" cy="609600"/>
          </a:xfrm>
          <a:custGeom>
            <a:avLst/>
            <a:gdLst/>
            <a:ahLst/>
            <a:cxnLst/>
            <a:rect l="0" t="0" r="r" b="b"/>
            <a:pathLst>
              <a:path w="2476500" h="609600">
                <a:moveTo>
                  <a:pt x="127000" y="0"/>
                </a:moveTo>
                <a:lnTo>
                  <a:pt x="2349500" y="0"/>
                </a:lnTo>
                <a:cubicBezTo>
                  <a:pt x="2419667" y="0"/>
                  <a:pt x="2476500" y="56832"/>
                  <a:pt x="2476500" y="127000"/>
                </a:cubicBezTo>
                <a:lnTo>
                  <a:pt x="2476500" y="482600"/>
                </a:lnTo>
                <a:cubicBezTo>
                  <a:pt x="2476500" y="552768"/>
                  <a:pt x="2419667" y="609600"/>
                  <a:pt x="2349500" y="609600"/>
                </a:cubicBezTo>
                <a:lnTo>
                  <a:pt x="127000" y="609600"/>
                </a:lnTo>
                <a:cubicBezTo>
                  <a:pt x="56833" y="609600"/>
                  <a:pt x="0" y="552768"/>
                  <a:pt x="0" y="4826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4B8ACB"/>
              </a:gs>
              <a:gs pos="100000">
                <a:srgbClr val="2E77C2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icon-search"/>
          <p:cNvSpPr/>
          <p:nvPr/>
        </p:nvSpPr>
        <p:spPr>
          <a:xfrm>
            <a:off x="6476810" y="1917510"/>
            <a:ext cx="29591" cy="29591"/>
          </a:xfrm>
          <a:custGeom>
            <a:avLst/>
            <a:gdLst/>
            <a:ahLst/>
            <a:cxnLst/>
            <a:rect l="0" t="0" r="r" b="b"/>
            <a:pathLst>
              <a:path w="29591" h="29591">
                <a:moveTo>
                  <a:pt x="29591" y="29591"/>
                </a:moveTo>
                <a:lnTo>
                  <a:pt x="0" y="0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icon-search"/>
          <p:cNvSpPr/>
          <p:nvPr/>
        </p:nvSpPr>
        <p:spPr>
          <a:xfrm>
            <a:off x="6396778" y="1837478"/>
            <a:ext cx="94827" cy="94827"/>
          </a:xfrm>
          <a:prstGeom prst="ellipse">
            <a:avLst/>
          </a:pr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coln-3"/>
          <p:cNvSpPr txBox="1"/>
          <p:nvPr/>
        </p:nvSpPr>
        <p:spPr>
          <a:xfrm>
            <a:off x="6661912" y="1678686"/>
            <a:ext cx="8102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测试验收</a:t>
            </a:r>
          </a:p>
        </p:txBody>
      </p:sp>
      <p:sp>
        <p:nvSpPr>
          <p:cNvPr id="95" name="colen-3"/>
          <p:cNvSpPr txBox="1"/>
          <p:nvPr/>
        </p:nvSpPr>
        <p:spPr>
          <a:xfrm>
            <a:off x="6682232" y="1922208"/>
            <a:ext cx="47777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30">
                <a:solidFill>
                  <a:srgbClr val="CFE0F4"/>
                </a:solidFill>
                <a:latin typeface="Arial"/>
                <a:ea typeface="Arial"/>
                <a:cs typeface="Arial"/>
              </a:rPr>
              <a:t>REVIEW</a:t>
            </a:r>
          </a:p>
        </p:txBody>
      </p:sp>
      <p:sp>
        <p:nvSpPr>
          <p:cNvPr id="96" name="colc-3"/>
          <p:cNvSpPr/>
          <p:nvPr/>
        </p:nvSpPr>
        <p:spPr>
          <a:xfrm>
            <a:off x="8242300" y="1765300"/>
            <a:ext cx="254000" cy="254000"/>
          </a:xfrm>
          <a:prstGeom prst="ellipse">
            <a:avLst/>
          </a:prstGeom>
          <a:solidFill>
            <a:srgbClr val="FFFFFF">
              <a:alpha val="2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colct-3"/>
          <p:cNvSpPr txBox="1"/>
          <p:nvPr/>
        </p:nvSpPr>
        <p:spPr>
          <a:xfrm>
            <a:off x="8281226" y="1794097"/>
            <a:ext cx="17614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98" name="wip-3"/>
          <p:cNvSpPr/>
          <p:nvPr/>
        </p:nvSpPr>
        <p:spPr>
          <a:xfrm>
            <a:off x="6286500" y="2273300"/>
            <a:ext cx="609600" cy="177800"/>
          </a:xfrm>
          <a:custGeom>
            <a:avLst/>
            <a:gdLst/>
            <a:ahLst/>
            <a:cxnLst/>
            <a:rect l="0" t="0" r="r" b="b"/>
            <a:pathLst>
              <a:path w="609600" h="177800">
                <a:moveTo>
                  <a:pt x="88900" y="0"/>
                </a:moveTo>
                <a:lnTo>
                  <a:pt x="520700" y="0"/>
                </a:lnTo>
                <a:cubicBezTo>
                  <a:pt x="569786" y="0"/>
                  <a:pt x="609600" y="39814"/>
                  <a:pt x="609600" y="88900"/>
                </a:cubicBezTo>
                <a:lnTo>
                  <a:pt x="609600" y="88900"/>
                </a:lnTo>
                <a:cubicBezTo>
                  <a:pt x="609600" y="137986"/>
                  <a:pt x="569786" y="177800"/>
                  <a:pt x="5207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E0703A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9" name="wipt-3"/>
          <p:cNvSpPr txBox="1"/>
          <p:nvPr/>
        </p:nvSpPr>
        <p:spPr>
          <a:xfrm>
            <a:off x="6368161" y="2290508"/>
            <a:ext cx="4462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E0703A"/>
                </a:solidFill>
                <a:latin typeface="Arial"/>
                <a:ea typeface="Arial"/>
                <a:cs typeface="Arial"/>
              </a:rPr>
              <a:t>WIP ≤ 3</a:t>
            </a:r>
          </a:p>
        </p:txBody>
      </p:sp>
      <p:sp>
        <p:nvSpPr>
          <p:cNvPr id="100" name="card-3-1"/>
          <p:cNvSpPr/>
          <p:nvPr/>
        </p:nvSpPr>
        <p:spPr>
          <a:xfrm>
            <a:off x="6286500" y="2552700"/>
            <a:ext cx="2222500" cy="838200"/>
          </a:xfrm>
          <a:custGeom>
            <a:avLst/>
            <a:gdLst/>
            <a:ahLst/>
            <a:cxnLst/>
            <a:rect l="0" t="0" r="r" b="b"/>
            <a:pathLst>
              <a:path w="2222500" h="838200">
                <a:moveTo>
                  <a:pt x="101600" y="0"/>
                </a:moveTo>
                <a:lnTo>
                  <a:pt x="2120900" y="0"/>
                </a:lnTo>
                <a:cubicBezTo>
                  <a:pt x="2177034" y="0"/>
                  <a:pt x="2222500" y="45466"/>
                  <a:pt x="2222500" y="101600"/>
                </a:cubicBezTo>
                <a:lnTo>
                  <a:pt x="2222500" y="736600"/>
                </a:lnTo>
                <a:cubicBezTo>
                  <a:pt x="2222500" y="792734"/>
                  <a:pt x="2177034" y="838200"/>
                  <a:pt x="2120900" y="838200"/>
                </a:cubicBezTo>
                <a:lnTo>
                  <a:pt x="101600" y="838200"/>
                </a:lnTo>
                <a:cubicBezTo>
                  <a:pt x="45466" y="838200"/>
                  <a:pt x="0" y="792734"/>
                  <a:pt x="0" y="736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cardb-3-1"/>
          <p:cNvSpPr/>
          <p:nvPr/>
        </p:nvSpPr>
        <p:spPr>
          <a:xfrm>
            <a:off x="6286500" y="2552700"/>
            <a:ext cx="31750" cy="838200"/>
          </a:xfrm>
          <a:custGeom>
            <a:avLst/>
            <a:gdLst/>
            <a:ahLst/>
            <a:cxnLst/>
            <a:rect l="0" t="0" r="r" b="b"/>
            <a:pathLst>
              <a:path w="31750" h="838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822325"/>
                </a:lnTo>
                <a:cubicBezTo>
                  <a:pt x="31750" y="831088"/>
                  <a:pt x="24638" y="838200"/>
                  <a:pt x="15875" y="838200"/>
                </a:cubicBezTo>
                <a:lnTo>
                  <a:pt x="15875" y="838200"/>
                </a:lnTo>
                <a:cubicBezTo>
                  <a:pt x="7112" y="838200"/>
                  <a:pt x="0" y="831088"/>
                  <a:pt x="0" y="822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2" name="cardn-3-1"/>
          <p:cNvSpPr txBox="1"/>
          <p:nvPr/>
        </p:nvSpPr>
        <p:spPr>
          <a:xfrm>
            <a:off x="6422898" y="2667413"/>
            <a:ext cx="96583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库存优化算法</a:t>
            </a:r>
          </a:p>
        </p:txBody>
      </p:sp>
      <p:sp>
        <p:nvSpPr>
          <p:cNvPr id="103" name="av-3-1"/>
          <p:cNvSpPr/>
          <p:nvPr/>
        </p:nvSpPr>
        <p:spPr>
          <a:xfrm>
            <a:off x="6419850" y="2990850"/>
            <a:ext cx="190500" cy="190500"/>
          </a:xfrm>
          <a:prstGeom prst="ellipse">
            <a:avLst/>
          </a:pr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4" name="icon-people"/>
          <p:cNvSpPr/>
          <p:nvPr/>
        </p:nvSpPr>
        <p:spPr>
          <a:xfrm>
            <a:off x="6475095" y="3098482"/>
            <a:ext cx="80962" cy="22860"/>
          </a:xfrm>
          <a:custGeom>
            <a:avLst/>
            <a:gdLst/>
            <a:ahLst/>
            <a:cxnLst/>
            <a:rect l="0" t="0" r="r" b="b"/>
            <a:pathLst>
              <a:path w="80962" h="22860">
                <a:moveTo>
                  <a:pt x="0" y="22860"/>
                </a:moveTo>
                <a:cubicBezTo>
                  <a:pt x="0" y="8573"/>
                  <a:pt x="11938" y="0"/>
                  <a:pt x="25717" y="0"/>
                </a:cubicBezTo>
                <a:cubicBezTo>
                  <a:pt x="39497" y="0"/>
                  <a:pt x="51435" y="8573"/>
                  <a:pt x="51435" y="22860"/>
                </a:cubicBezTo>
                <a:moveTo>
                  <a:pt x="60960" y="1905"/>
                </a:moveTo>
                <a:cubicBezTo>
                  <a:pt x="73342" y="3366"/>
                  <a:pt x="80962" y="11875"/>
                  <a:pt x="80962" y="22860"/>
                </a:cubicBezTo>
              </a:path>
            </a:pathLst>
          </a:custGeom>
          <a:noFill/>
          <a:ln w="12065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icon-people"/>
          <p:cNvSpPr/>
          <p:nvPr/>
        </p:nvSpPr>
        <p:spPr>
          <a:xfrm>
            <a:off x="6485572" y="3057525"/>
            <a:ext cx="30480" cy="30480"/>
          </a:xfrm>
          <a:prstGeom prst="ellipse">
            <a:avLst/>
          </a:prstGeom>
          <a:noFill/>
          <a:ln w="12065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6" name="icon-people"/>
          <p:cNvSpPr/>
          <p:nvPr/>
        </p:nvSpPr>
        <p:spPr>
          <a:xfrm>
            <a:off x="6526530" y="3057525"/>
            <a:ext cx="24765" cy="24765"/>
          </a:xfrm>
          <a:prstGeom prst="ellipse">
            <a:avLst/>
          </a:prstGeom>
          <a:noFill/>
          <a:ln w="12065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7" name="cardo-3-1"/>
          <p:cNvSpPr txBox="1"/>
          <p:nvPr/>
        </p:nvSpPr>
        <p:spPr>
          <a:xfrm>
            <a:off x="6669151" y="3010487"/>
            <a:ext cx="36671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测试组</a:t>
            </a:r>
          </a:p>
        </p:txBody>
      </p:sp>
      <p:sp>
        <p:nvSpPr>
          <p:cNvPr id="108" name="tag-3-1"/>
          <p:cNvSpPr/>
          <p:nvPr/>
        </p:nvSpPr>
        <p:spPr>
          <a:xfrm>
            <a:off x="7797800" y="2997200"/>
            <a:ext cx="584200" cy="190500"/>
          </a:xfrm>
          <a:custGeom>
            <a:avLst/>
            <a:gdLst/>
            <a:ahLst/>
            <a:cxnLst/>
            <a:rect l="0" t="0" r="r" b="b"/>
            <a:pathLst>
              <a:path w="584200" h="190500">
                <a:moveTo>
                  <a:pt x="95250" y="0"/>
                </a:moveTo>
                <a:lnTo>
                  <a:pt x="488950" y="0"/>
                </a:lnTo>
                <a:cubicBezTo>
                  <a:pt x="541528" y="0"/>
                  <a:pt x="584200" y="42672"/>
                  <a:pt x="584200" y="95250"/>
                </a:cubicBezTo>
                <a:lnTo>
                  <a:pt x="584200" y="95250"/>
                </a:lnTo>
                <a:cubicBezTo>
                  <a:pt x="584200" y="147828"/>
                  <a:pt x="541528" y="190500"/>
                  <a:pt x="4889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tagt-3-1"/>
          <p:cNvSpPr txBox="1"/>
          <p:nvPr/>
        </p:nvSpPr>
        <p:spPr>
          <a:xfrm>
            <a:off x="7951851" y="3014408"/>
            <a:ext cx="27609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2 天</a:t>
            </a:r>
          </a:p>
        </p:txBody>
      </p:sp>
      <p:sp>
        <p:nvSpPr>
          <p:cNvPr id="110" name="card-3-2"/>
          <p:cNvSpPr/>
          <p:nvPr/>
        </p:nvSpPr>
        <p:spPr>
          <a:xfrm>
            <a:off x="6286500" y="3492500"/>
            <a:ext cx="2222500" cy="838200"/>
          </a:xfrm>
          <a:custGeom>
            <a:avLst/>
            <a:gdLst/>
            <a:ahLst/>
            <a:cxnLst/>
            <a:rect l="0" t="0" r="r" b="b"/>
            <a:pathLst>
              <a:path w="2222500" h="838200">
                <a:moveTo>
                  <a:pt x="101600" y="0"/>
                </a:moveTo>
                <a:lnTo>
                  <a:pt x="2120900" y="0"/>
                </a:lnTo>
                <a:cubicBezTo>
                  <a:pt x="2177034" y="0"/>
                  <a:pt x="2222500" y="45466"/>
                  <a:pt x="2222500" y="101600"/>
                </a:cubicBezTo>
                <a:lnTo>
                  <a:pt x="2222500" y="736600"/>
                </a:lnTo>
                <a:cubicBezTo>
                  <a:pt x="2222500" y="792734"/>
                  <a:pt x="2177034" y="838200"/>
                  <a:pt x="2120900" y="838200"/>
                </a:cubicBezTo>
                <a:lnTo>
                  <a:pt x="101600" y="838200"/>
                </a:lnTo>
                <a:cubicBezTo>
                  <a:pt x="45466" y="838200"/>
                  <a:pt x="0" y="792734"/>
                  <a:pt x="0" y="736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1" name="cardb-3-2"/>
          <p:cNvSpPr/>
          <p:nvPr/>
        </p:nvSpPr>
        <p:spPr>
          <a:xfrm>
            <a:off x="6286500" y="3492500"/>
            <a:ext cx="31750" cy="838200"/>
          </a:xfrm>
          <a:custGeom>
            <a:avLst/>
            <a:gdLst/>
            <a:ahLst/>
            <a:cxnLst/>
            <a:rect l="0" t="0" r="r" b="b"/>
            <a:pathLst>
              <a:path w="31750" h="838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822325"/>
                </a:lnTo>
                <a:cubicBezTo>
                  <a:pt x="31750" y="831088"/>
                  <a:pt x="24638" y="838200"/>
                  <a:pt x="15875" y="838200"/>
                </a:cubicBezTo>
                <a:lnTo>
                  <a:pt x="15875" y="838200"/>
                </a:lnTo>
                <a:cubicBezTo>
                  <a:pt x="7112" y="838200"/>
                  <a:pt x="0" y="831088"/>
                  <a:pt x="0" y="822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2" name="cardn-3-2"/>
          <p:cNvSpPr txBox="1"/>
          <p:nvPr/>
        </p:nvSpPr>
        <p:spPr>
          <a:xfrm>
            <a:off x="6422898" y="3607213"/>
            <a:ext cx="82486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供应商门户</a:t>
            </a:r>
          </a:p>
        </p:txBody>
      </p:sp>
      <p:sp>
        <p:nvSpPr>
          <p:cNvPr id="113" name="av-3-2"/>
          <p:cNvSpPr/>
          <p:nvPr/>
        </p:nvSpPr>
        <p:spPr>
          <a:xfrm>
            <a:off x="6419850" y="3930650"/>
            <a:ext cx="190500" cy="190500"/>
          </a:xfrm>
          <a:prstGeom prst="ellipse">
            <a:avLst/>
          </a:pr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4" name="icon-people"/>
          <p:cNvSpPr/>
          <p:nvPr/>
        </p:nvSpPr>
        <p:spPr>
          <a:xfrm>
            <a:off x="6475095" y="4038283"/>
            <a:ext cx="80962" cy="22860"/>
          </a:xfrm>
          <a:custGeom>
            <a:avLst/>
            <a:gdLst/>
            <a:ahLst/>
            <a:cxnLst/>
            <a:rect l="0" t="0" r="r" b="b"/>
            <a:pathLst>
              <a:path w="80962" h="22860">
                <a:moveTo>
                  <a:pt x="0" y="22860"/>
                </a:moveTo>
                <a:cubicBezTo>
                  <a:pt x="0" y="8572"/>
                  <a:pt x="11938" y="0"/>
                  <a:pt x="25717" y="0"/>
                </a:cubicBezTo>
                <a:cubicBezTo>
                  <a:pt x="39497" y="0"/>
                  <a:pt x="51435" y="8572"/>
                  <a:pt x="51435" y="22860"/>
                </a:cubicBezTo>
                <a:moveTo>
                  <a:pt x="60960" y="1905"/>
                </a:moveTo>
                <a:cubicBezTo>
                  <a:pt x="73342" y="3365"/>
                  <a:pt x="80962" y="11938"/>
                  <a:pt x="80962" y="22860"/>
                </a:cubicBezTo>
              </a:path>
            </a:pathLst>
          </a:custGeom>
          <a:noFill/>
          <a:ln w="12065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5" name="icon-people"/>
          <p:cNvSpPr/>
          <p:nvPr/>
        </p:nvSpPr>
        <p:spPr>
          <a:xfrm>
            <a:off x="6485572" y="3997325"/>
            <a:ext cx="30480" cy="30480"/>
          </a:xfrm>
          <a:prstGeom prst="ellipse">
            <a:avLst/>
          </a:prstGeom>
          <a:noFill/>
          <a:ln w="12065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6" name="icon-people"/>
          <p:cNvSpPr/>
          <p:nvPr/>
        </p:nvSpPr>
        <p:spPr>
          <a:xfrm>
            <a:off x="6526530" y="3997325"/>
            <a:ext cx="24765" cy="24765"/>
          </a:xfrm>
          <a:prstGeom prst="ellipse">
            <a:avLst/>
          </a:prstGeom>
          <a:noFill/>
          <a:ln w="12065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7" name="cardo-3-2"/>
          <p:cNvSpPr txBox="1"/>
          <p:nvPr/>
        </p:nvSpPr>
        <p:spPr>
          <a:xfrm>
            <a:off x="6669151" y="3950287"/>
            <a:ext cx="36671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测试组</a:t>
            </a:r>
          </a:p>
        </p:txBody>
      </p:sp>
      <p:sp>
        <p:nvSpPr>
          <p:cNvPr id="118" name="tag-3-2"/>
          <p:cNvSpPr/>
          <p:nvPr/>
        </p:nvSpPr>
        <p:spPr>
          <a:xfrm>
            <a:off x="7797800" y="3937000"/>
            <a:ext cx="584200" cy="190500"/>
          </a:xfrm>
          <a:custGeom>
            <a:avLst/>
            <a:gdLst/>
            <a:ahLst/>
            <a:cxnLst/>
            <a:rect l="0" t="0" r="r" b="b"/>
            <a:pathLst>
              <a:path w="584200" h="190500">
                <a:moveTo>
                  <a:pt x="95250" y="0"/>
                </a:moveTo>
                <a:lnTo>
                  <a:pt x="488950" y="0"/>
                </a:lnTo>
                <a:cubicBezTo>
                  <a:pt x="541528" y="0"/>
                  <a:pt x="584200" y="42672"/>
                  <a:pt x="584200" y="95250"/>
                </a:cubicBezTo>
                <a:lnTo>
                  <a:pt x="584200" y="95250"/>
                </a:lnTo>
                <a:cubicBezTo>
                  <a:pt x="584200" y="147828"/>
                  <a:pt x="541528" y="190500"/>
                  <a:pt x="4889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9" name="tagt-3-2"/>
          <p:cNvSpPr txBox="1"/>
          <p:nvPr/>
        </p:nvSpPr>
        <p:spPr>
          <a:xfrm>
            <a:off x="7951851" y="3954208"/>
            <a:ext cx="27609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6 天</a:t>
            </a:r>
          </a:p>
        </p:txBody>
      </p:sp>
      <p:sp>
        <p:nvSpPr>
          <p:cNvPr id="120" name="blk-3-2"/>
          <p:cNvSpPr txBox="1"/>
          <p:nvPr/>
        </p:nvSpPr>
        <p:spPr>
          <a:xfrm>
            <a:off x="8099298" y="3636708"/>
            <a:ext cx="2679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4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阻塞</a:t>
            </a:r>
          </a:p>
        </p:txBody>
      </p:sp>
      <p:sp>
        <p:nvSpPr>
          <p:cNvPr id="121" name="colarr-3"/>
          <p:cNvSpPr/>
          <p:nvPr/>
        </p:nvSpPr>
        <p:spPr>
          <a:xfrm>
            <a:off x="8655050" y="1828800"/>
            <a:ext cx="88900" cy="127000"/>
          </a:xfrm>
          <a:custGeom>
            <a:avLst/>
            <a:gdLst/>
            <a:ahLst/>
            <a:cxnLst/>
            <a:rect l="0" t="0" r="r" b="b"/>
            <a:pathLst>
              <a:path w="88900" h="127000">
                <a:moveTo>
                  <a:pt x="0" y="0"/>
                </a:moveTo>
                <a:lnTo>
                  <a:pt x="88900" y="63500"/>
                </a:lnTo>
                <a:lnTo>
                  <a:pt x="0" y="127000"/>
                </a:lnTo>
              </a:path>
            </a:pathLst>
          </a:custGeom>
          <a:noFill/>
          <a:ln w="15240" cap="rnd">
            <a:solidFill>
              <a:srgbClr val="1B5AA8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2" name="col-4"/>
          <p:cNvSpPr/>
          <p:nvPr/>
        </p:nvSpPr>
        <p:spPr>
          <a:xfrm>
            <a:off x="8763000" y="1587500"/>
            <a:ext cx="2476500" cy="3937000"/>
          </a:xfrm>
          <a:custGeom>
            <a:avLst/>
            <a:gdLst/>
            <a:ahLst/>
            <a:cxnLst/>
            <a:rect l="0" t="0" r="r" b="b"/>
            <a:pathLst>
              <a:path w="2476500" h="3937000">
                <a:moveTo>
                  <a:pt x="127000" y="0"/>
                </a:moveTo>
                <a:lnTo>
                  <a:pt x="2349500" y="0"/>
                </a:lnTo>
                <a:cubicBezTo>
                  <a:pt x="2419667" y="0"/>
                  <a:pt x="2476500" y="56832"/>
                  <a:pt x="2476500" y="127000"/>
                </a:cubicBezTo>
                <a:lnTo>
                  <a:pt x="2476500" y="3810000"/>
                </a:lnTo>
                <a:cubicBezTo>
                  <a:pt x="2476500" y="3880167"/>
                  <a:pt x="2419667" y="3937000"/>
                  <a:pt x="2349500" y="3937000"/>
                </a:cubicBezTo>
                <a:lnTo>
                  <a:pt x="127000" y="3937000"/>
                </a:lnTo>
                <a:cubicBezTo>
                  <a:pt x="56833" y="3937000"/>
                  <a:pt x="0" y="3880167"/>
                  <a:pt x="0" y="3810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>
              <a:alpha val="7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3" name="colhd-4"/>
          <p:cNvSpPr/>
          <p:nvPr/>
        </p:nvSpPr>
        <p:spPr>
          <a:xfrm>
            <a:off x="8763000" y="1587500"/>
            <a:ext cx="2476500" cy="609600"/>
          </a:xfrm>
          <a:custGeom>
            <a:avLst/>
            <a:gdLst/>
            <a:ahLst/>
            <a:cxnLst/>
            <a:rect l="0" t="0" r="r" b="b"/>
            <a:pathLst>
              <a:path w="2476500" h="609600">
                <a:moveTo>
                  <a:pt x="127000" y="0"/>
                </a:moveTo>
                <a:lnTo>
                  <a:pt x="2349500" y="0"/>
                </a:lnTo>
                <a:cubicBezTo>
                  <a:pt x="2419667" y="0"/>
                  <a:pt x="2476500" y="56832"/>
                  <a:pt x="2476500" y="127000"/>
                </a:cubicBezTo>
                <a:lnTo>
                  <a:pt x="2476500" y="482600"/>
                </a:lnTo>
                <a:cubicBezTo>
                  <a:pt x="2476500" y="552768"/>
                  <a:pt x="2419667" y="609600"/>
                  <a:pt x="2349500" y="609600"/>
                </a:cubicBezTo>
                <a:lnTo>
                  <a:pt x="127000" y="609600"/>
                </a:lnTo>
                <a:cubicBezTo>
                  <a:pt x="56833" y="609600"/>
                  <a:pt x="0" y="552768"/>
                  <a:pt x="0" y="4826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60A3DD"/>
              </a:gs>
              <a:gs pos="100000">
                <a:srgbClr val="4694D7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4" name="icon-check"/>
          <p:cNvSpPr/>
          <p:nvPr/>
        </p:nvSpPr>
        <p:spPr>
          <a:xfrm>
            <a:off x="9007666" y="1859724"/>
            <a:ext cx="94869" cy="66675"/>
          </a:xfrm>
          <a:custGeom>
            <a:avLst/>
            <a:gdLst/>
            <a:ahLst/>
            <a:cxnLst/>
            <a:rect l="0" t="0" r="r" b="b"/>
            <a:pathLst>
              <a:path w="94869" h="66675">
                <a:moveTo>
                  <a:pt x="0" y="35560"/>
                </a:moveTo>
                <a:lnTo>
                  <a:pt x="31115" y="66675"/>
                </a:lnTo>
                <a:lnTo>
                  <a:pt x="94869" y="0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5" name="coln-4"/>
          <p:cNvSpPr txBox="1"/>
          <p:nvPr/>
        </p:nvSpPr>
        <p:spPr>
          <a:xfrm>
            <a:off x="9265412" y="1678686"/>
            <a:ext cx="641985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已上线</a:t>
            </a:r>
          </a:p>
        </p:txBody>
      </p:sp>
      <p:sp>
        <p:nvSpPr>
          <p:cNvPr id="126" name="colen-4"/>
          <p:cNvSpPr txBox="1"/>
          <p:nvPr/>
        </p:nvSpPr>
        <p:spPr>
          <a:xfrm>
            <a:off x="9285732" y="1922208"/>
            <a:ext cx="34518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30">
                <a:solidFill>
                  <a:srgbClr val="CFE0F4"/>
                </a:solidFill>
                <a:latin typeface="Arial"/>
                <a:ea typeface="Arial"/>
                <a:cs typeface="Arial"/>
              </a:rPr>
              <a:t>DONE</a:t>
            </a:r>
          </a:p>
        </p:txBody>
      </p:sp>
      <p:sp>
        <p:nvSpPr>
          <p:cNvPr id="127" name="colc-4"/>
          <p:cNvSpPr/>
          <p:nvPr/>
        </p:nvSpPr>
        <p:spPr>
          <a:xfrm>
            <a:off x="10845800" y="1765300"/>
            <a:ext cx="254000" cy="254000"/>
          </a:xfrm>
          <a:prstGeom prst="ellipse">
            <a:avLst/>
          </a:prstGeom>
          <a:solidFill>
            <a:srgbClr val="FFFFFF">
              <a:alpha val="2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8" name="colct-4"/>
          <p:cNvSpPr txBox="1"/>
          <p:nvPr/>
        </p:nvSpPr>
        <p:spPr>
          <a:xfrm>
            <a:off x="10884726" y="1794097"/>
            <a:ext cx="17614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129" name="card-4-1"/>
          <p:cNvSpPr/>
          <p:nvPr/>
        </p:nvSpPr>
        <p:spPr>
          <a:xfrm>
            <a:off x="8890000" y="2349500"/>
            <a:ext cx="2222500" cy="838200"/>
          </a:xfrm>
          <a:custGeom>
            <a:avLst/>
            <a:gdLst/>
            <a:ahLst/>
            <a:cxnLst/>
            <a:rect l="0" t="0" r="r" b="b"/>
            <a:pathLst>
              <a:path w="2222500" h="838200">
                <a:moveTo>
                  <a:pt x="101600" y="0"/>
                </a:moveTo>
                <a:lnTo>
                  <a:pt x="2120900" y="0"/>
                </a:lnTo>
                <a:cubicBezTo>
                  <a:pt x="2177034" y="0"/>
                  <a:pt x="2222500" y="45466"/>
                  <a:pt x="2222500" y="101600"/>
                </a:cubicBezTo>
                <a:lnTo>
                  <a:pt x="2222500" y="736600"/>
                </a:lnTo>
                <a:cubicBezTo>
                  <a:pt x="2222500" y="792734"/>
                  <a:pt x="2177034" y="838200"/>
                  <a:pt x="2120900" y="838200"/>
                </a:cubicBezTo>
                <a:lnTo>
                  <a:pt x="101600" y="838200"/>
                </a:lnTo>
                <a:cubicBezTo>
                  <a:pt x="45466" y="838200"/>
                  <a:pt x="0" y="792734"/>
                  <a:pt x="0" y="736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0" name="cardb-4-1"/>
          <p:cNvSpPr/>
          <p:nvPr/>
        </p:nvSpPr>
        <p:spPr>
          <a:xfrm>
            <a:off x="8890000" y="2349500"/>
            <a:ext cx="31750" cy="838200"/>
          </a:xfrm>
          <a:custGeom>
            <a:avLst/>
            <a:gdLst/>
            <a:ahLst/>
            <a:cxnLst/>
            <a:rect l="0" t="0" r="r" b="b"/>
            <a:pathLst>
              <a:path w="31750" h="838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822325"/>
                </a:lnTo>
                <a:cubicBezTo>
                  <a:pt x="31750" y="831088"/>
                  <a:pt x="24638" y="838200"/>
                  <a:pt x="15875" y="838200"/>
                </a:cubicBezTo>
                <a:lnTo>
                  <a:pt x="15875" y="838200"/>
                </a:lnTo>
                <a:cubicBezTo>
                  <a:pt x="7112" y="838200"/>
                  <a:pt x="0" y="831088"/>
                  <a:pt x="0" y="822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1" name="cardn-4-1"/>
          <p:cNvSpPr txBox="1"/>
          <p:nvPr/>
        </p:nvSpPr>
        <p:spPr>
          <a:xfrm>
            <a:off x="9026398" y="2464213"/>
            <a:ext cx="930783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6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经营看板 v3</a:t>
            </a:r>
          </a:p>
        </p:txBody>
      </p:sp>
      <p:sp>
        <p:nvSpPr>
          <p:cNvPr id="132" name="av-4-1"/>
          <p:cNvSpPr/>
          <p:nvPr/>
        </p:nvSpPr>
        <p:spPr>
          <a:xfrm>
            <a:off x="9023350" y="2787650"/>
            <a:ext cx="190500" cy="190500"/>
          </a:xfrm>
          <a:prstGeom prst="ellipse">
            <a:avLst/>
          </a:prstGeom>
          <a:solidFill>
            <a:srgbClr val="4694D7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3" name="icon-people"/>
          <p:cNvSpPr/>
          <p:nvPr/>
        </p:nvSpPr>
        <p:spPr>
          <a:xfrm>
            <a:off x="9078595" y="2895282"/>
            <a:ext cx="80962" cy="22860"/>
          </a:xfrm>
          <a:custGeom>
            <a:avLst/>
            <a:gdLst/>
            <a:ahLst/>
            <a:cxnLst/>
            <a:rect l="0" t="0" r="r" b="b"/>
            <a:pathLst>
              <a:path w="80962" h="22860">
                <a:moveTo>
                  <a:pt x="0" y="22860"/>
                </a:moveTo>
                <a:cubicBezTo>
                  <a:pt x="0" y="8573"/>
                  <a:pt x="11938" y="0"/>
                  <a:pt x="25717" y="0"/>
                </a:cubicBezTo>
                <a:cubicBezTo>
                  <a:pt x="39497" y="0"/>
                  <a:pt x="51435" y="8573"/>
                  <a:pt x="51435" y="22860"/>
                </a:cubicBezTo>
                <a:moveTo>
                  <a:pt x="60960" y="1905"/>
                </a:moveTo>
                <a:cubicBezTo>
                  <a:pt x="73342" y="3366"/>
                  <a:pt x="80962" y="11875"/>
                  <a:pt x="80962" y="22860"/>
                </a:cubicBezTo>
              </a:path>
            </a:pathLst>
          </a:custGeom>
          <a:noFill/>
          <a:ln w="12065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4" name="icon-people"/>
          <p:cNvSpPr/>
          <p:nvPr/>
        </p:nvSpPr>
        <p:spPr>
          <a:xfrm>
            <a:off x="9089072" y="2854325"/>
            <a:ext cx="30480" cy="30480"/>
          </a:xfrm>
          <a:prstGeom prst="ellipse">
            <a:avLst/>
          </a:prstGeom>
          <a:noFill/>
          <a:ln w="12065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5" name="icon-people"/>
          <p:cNvSpPr/>
          <p:nvPr/>
        </p:nvSpPr>
        <p:spPr>
          <a:xfrm>
            <a:off x="9130030" y="2854325"/>
            <a:ext cx="24765" cy="24765"/>
          </a:xfrm>
          <a:prstGeom prst="ellipse">
            <a:avLst/>
          </a:prstGeom>
          <a:noFill/>
          <a:ln w="12065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6" name="cardo-4-1"/>
          <p:cNvSpPr txBox="1"/>
          <p:nvPr/>
        </p:nvSpPr>
        <p:spPr>
          <a:xfrm>
            <a:off x="9272651" y="2807287"/>
            <a:ext cx="36671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研发部</a:t>
            </a:r>
          </a:p>
        </p:txBody>
      </p:sp>
      <p:sp>
        <p:nvSpPr>
          <p:cNvPr id="137" name="tag-4-1"/>
          <p:cNvSpPr/>
          <p:nvPr/>
        </p:nvSpPr>
        <p:spPr>
          <a:xfrm>
            <a:off x="10401300" y="2794000"/>
            <a:ext cx="584200" cy="190500"/>
          </a:xfrm>
          <a:custGeom>
            <a:avLst/>
            <a:gdLst/>
            <a:ahLst/>
            <a:cxnLst/>
            <a:rect l="0" t="0" r="r" b="b"/>
            <a:pathLst>
              <a:path w="584200" h="190500">
                <a:moveTo>
                  <a:pt x="95250" y="0"/>
                </a:moveTo>
                <a:lnTo>
                  <a:pt x="488950" y="0"/>
                </a:lnTo>
                <a:cubicBezTo>
                  <a:pt x="541528" y="0"/>
                  <a:pt x="584200" y="42672"/>
                  <a:pt x="584200" y="95250"/>
                </a:cubicBezTo>
                <a:lnTo>
                  <a:pt x="584200" y="95250"/>
                </a:lnTo>
                <a:cubicBezTo>
                  <a:pt x="584200" y="147828"/>
                  <a:pt x="541528" y="190500"/>
                  <a:pt x="4889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8" name="tagt-4-1"/>
          <p:cNvSpPr txBox="1"/>
          <p:nvPr/>
        </p:nvSpPr>
        <p:spPr>
          <a:xfrm>
            <a:off x="10561955" y="2811208"/>
            <a:ext cx="2628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本周</a:t>
            </a:r>
          </a:p>
        </p:txBody>
      </p:sp>
      <p:sp>
        <p:nvSpPr>
          <p:cNvPr id="139" name="card-4-2"/>
          <p:cNvSpPr/>
          <p:nvPr/>
        </p:nvSpPr>
        <p:spPr>
          <a:xfrm>
            <a:off x="8890000" y="3289300"/>
            <a:ext cx="2222500" cy="838200"/>
          </a:xfrm>
          <a:custGeom>
            <a:avLst/>
            <a:gdLst/>
            <a:ahLst/>
            <a:cxnLst/>
            <a:rect l="0" t="0" r="r" b="b"/>
            <a:pathLst>
              <a:path w="2222500" h="838200">
                <a:moveTo>
                  <a:pt x="101600" y="0"/>
                </a:moveTo>
                <a:lnTo>
                  <a:pt x="2120900" y="0"/>
                </a:lnTo>
                <a:cubicBezTo>
                  <a:pt x="2177034" y="0"/>
                  <a:pt x="2222500" y="45466"/>
                  <a:pt x="2222500" y="101600"/>
                </a:cubicBezTo>
                <a:lnTo>
                  <a:pt x="2222500" y="736600"/>
                </a:lnTo>
                <a:cubicBezTo>
                  <a:pt x="2222500" y="792734"/>
                  <a:pt x="2177034" y="838200"/>
                  <a:pt x="2120900" y="838200"/>
                </a:cubicBezTo>
                <a:lnTo>
                  <a:pt x="101600" y="838200"/>
                </a:lnTo>
                <a:cubicBezTo>
                  <a:pt x="45466" y="838200"/>
                  <a:pt x="0" y="792734"/>
                  <a:pt x="0" y="736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0" name="cardb-4-2"/>
          <p:cNvSpPr/>
          <p:nvPr/>
        </p:nvSpPr>
        <p:spPr>
          <a:xfrm>
            <a:off x="8890000" y="3289300"/>
            <a:ext cx="31750" cy="838200"/>
          </a:xfrm>
          <a:custGeom>
            <a:avLst/>
            <a:gdLst/>
            <a:ahLst/>
            <a:cxnLst/>
            <a:rect l="0" t="0" r="r" b="b"/>
            <a:pathLst>
              <a:path w="31750" h="838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822325"/>
                </a:lnTo>
                <a:cubicBezTo>
                  <a:pt x="31750" y="831088"/>
                  <a:pt x="24638" y="838200"/>
                  <a:pt x="15875" y="838200"/>
                </a:cubicBezTo>
                <a:lnTo>
                  <a:pt x="15875" y="838200"/>
                </a:lnTo>
                <a:cubicBezTo>
                  <a:pt x="7112" y="838200"/>
                  <a:pt x="0" y="831088"/>
                  <a:pt x="0" y="822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1" name="cardn-4-2"/>
          <p:cNvSpPr txBox="1"/>
          <p:nvPr/>
        </p:nvSpPr>
        <p:spPr>
          <a:xfrm>
            <a:off x="9026398" y="3404013"/>
            <a:ext cx="82486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6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合同电子签</a:t>
            </a:r>
          </a:p>
        </p:txBody>
      </p:sp>
      <p:sp>
        <p:nvSpPr>
          <p:cNvPr id="142" name="av-4-2"/>
          <p:cNvSpPr/>
          <p:nvPr/>
        </p:nvSpPr>
        <p:spPr>
          <a:xfrm>
            <a:off x="9023350" y="3727450"/>
            <a:ext cx="190500" cy="190500"/>
          </a:xfrm>
          <a:prstGeom prst="ellipse">
            <a:avLst/>
          </a:prstGeom>
          <a:solidFill>
            <a:srgbClr val="4694D7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3" name="icon-people"/>
          <p:cNvSpPr/>
          <p:nvPr/>
        </p:nvSpPr>
        <p:spPr>
          <a:xfrm>
            <a:off x="9078595" y="3835083"/>
            <a:ext cx="80962" cy="22860"/>
          </a:xfrm>
          <a:custGeom>
            <a:avLst/>
            <a:gdLst/>
            <a:ahLst/>
            <a:cxnLst/>
            <a:rect l="0" t="0" r="r" b="b"/>
            <a:pathLst>
              <a:path w="80962" h="22860">
                <a:moveTo>
                  <a:pt x="0" y="22860"/>
                </a:moveTo>
                <a:cubicBezTo>
                  <a:pt x="0" y="8572"/>
                  <a:pt x="11938" y="0"/>
                  <a:pt x="25717" y="0"/>
                </a:cubicBezTo>
                <a:cubicBezTo>
                  <a:pt x="39497" y="0"/>
                  <a:pt x="51435" y="8572"/>
                  <a:pt x="51435" y="22860"/>
                </a:cubicBezTo>
                <a:moveTo>
                  <a:pt x="60960" y="1905"/>
                </a:moveTo>
                <a:cubicBezTo>
                  <a:pt x="73342" y="3365"/>
                  <a:pt x="80962" y="11938"/>
                  <a:pt x="80962" y="22860"/>
                </a:cubicBezTo>
              </a:path>
            </a:pathLst>
          </a:custGeom>
          <a:noFill/>
          <a:ln w="12065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4" name="icon-people"/>
          <p:cNvSpPr/>
          <p:nvPr/>
        </p:nvSpPr>
        <p:spPr>
          <a:xfrm>
            <a:off x="9089072" y="3794125"/>
            <a:ext cx="30480" cy="30480"/>
          </a:xfrm>
          <a:prstGeom prst="ellipse">
            <a:avLst/>
          </a:prstGeom>
          <a:noFill/>
          <a:ln w="12065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5" name="icon-people"/>
          <p:cNvSpPr/>
          <p:nvPr/>
        </p:nvSpPr>
        <p:spPr>
          <a:xfrm>
            <a:off x="9130030" y="3794125"/>
            <a:ext cx="24765" cy="24765"/>
          </a:xfrm>
          <a:prstGeom prst="ellipse">
            <a:avLst/>
          </a:prstGeom>
          <a:noFill/>
          <a:ln w="12065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6" name="cardo-4-2"/>
          <p:cNvSpPr txBox="1"/>
          <p:nvPr/>
        </p:nvSpPr>
        <p:spPr>
          <a:xfrm>
            <a:off x="9272651" y="3747087"/>
            <a:ext cx="36671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产品部</a:t>
            </a:r>
          </a:p>
        </p:txBody>
      </p:sp>
      <p:sp>
        <p:nvSpPr>
          <p:cNvPr id="147" name="tag-4-2"/>
          <p:cNvSpPr/>
          <p:nvPr/>
        </p:nvSpPr>
        <p:spPr>
          <a:xfrm>
            <a:off x="10401300" y="3733800"/>
            <a:ext cx="584200" cy="190500"/>
          </a:xfrm>
          <a:custGeom>
            <a:avLst/>
            <a:gdLst/>
            <a:ahLst/>
            <a:cxnLst/>
            <a:rect l="0" t="0" r="r" b="b"/>
            <a:pathLst>
              <a:path w="584200" h="190500">
                <a:moveTo>
                  <a:pt x="95250" y="0"/>
                </a:moveTo>
                <a:lnTo>
                  <a:pt x="488950" y="0"/>
                </a:lnTo>
                <a:cubicBezTo>
                  <a:pt x="541528" y="0"/>
                  <a:pt x="584200" y="42672"/>
                  <a:pt x="584200" y="95250"/>
                </a:cubicBezTo>
                <a:lnTo>
                  <a:pt x="584200" y="95250"/>
                </a:lnTo>
                <a:cubicBezTo>
                  <a:pt x="584200" y="147828"/>
                  <a:pt x="541528" y="190500"/>
                  <a:pt x="4889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8" name="tagt-4-2"/>
          <p:cNvSpPr txBox="1"/>
          <p:nvPr/>
        </p:nvSpPr>
        <p:spPr>
          <a:xfrm>
            <a:off x="10561955" y="3751008"/>
            <a:ext cx="2628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上周</a:t>
            </a:r>
          </a:p>
        </p:txBody>
      </p:sp>
      <p:sp>
        <p:nvSpPr>
          <p:cNvPr id="149" name="card-4-3"/>
          <p:cNvSpPr/>
          <p:nvPr/>
        </p:nvSpPr>
        <p:spPr>
          <a:xfrm>
            <a:off x="8890000" y="4229100"/>
            <a:ext cx="2222500" cy="838200"/>
          </a:xfrm>
          <a:custGeom>
            <a:avLst/>
            <a:gdLst/>
            <a:ahLst/>
            <a:cxnLst/>
            <a:rect l="0" t="0" r="r" b="b"/>
            <a:pathLst>
              <a:path w="2222500" h="838200">
                <a:moveTo>
                  <a:pt x="101600" y="0"/>
                </a:moveTo>
                <a:lnTo>
                  <a:pt x="2120900" y="0"/>
                </a:lnTo>
                <a:cubicBezTo>
                  <a:pt x="2177034" y="0"/>
                  <a:pt x="2222500" y="45466"/>
                  <a:pt x="2222500" y="101600"/>
                </a:cubicBezTo>
                <a:lnTo>
                  <a:pt x="2222500" y="736600"/>
                </a:lnTo>
                <a:cubicBezTo>
                  <a:pt x="2222500" y="792734"/>
                  <a:pt x="2177034" y="838200"/>
                  <a:pt x="2120900" y="838200"/>
                </a:cubicBezTo>
                <a:lnTo>
                  <a:pt x="101600" y="838200"/>
                </a:lnTo>
                <a:cubicBezTo>
                  <a:pt x="45466" y="838200"/>
                  <a:pt x="0" y="792734"/>
                  <a:pt x="0" y="736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0" name="cardb-4-3"/>
          <p:cNvSpPr/>
          <p:nvPr/>
        </p:nvSpPr>
        <p:spPr>
          <a:xfrm>
            <a:off x="8890000" y="4229100"/>
            <a:ext cx="31750" cy="838200"/>
          </a:xfrm>
          <a:custGeom>
            <a:avLst/>
            <a:gdLst/>
            <a:ahLst/>
            <a:cxnLst/>
            <a:rect l="0" t="0" r="r" b="b"/>
            <a:pathLst>
              <a:path w="31750" h="838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822325"/>
                </a:lnTo>
                <a:cubicBezTo>
                  <a:pt x="31750" y="831088"/>
                  <a:pt x="24638" y="838200"/>
                  <a:pt x="15875" y="838200"/>
                </a:cubicBezTo>
                <a:lnTo>
                  <a:pt x="15875" y="838200"/>
                </a:lnTo>
                <a:cubicBezTo>
                  <a:pt x="7112" y="838200"/>
                  <a:pt x="0" y="831088"/>
                  <a:pt x="0" y="822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1" name="cardn-4-3"/>
          <p:cNvSpPr txBox="1"/>
          <p:nvPr/>
        </p:nvSpPr>
        <p:spPr>
          <a:xfrm>
            <a:off x="9026398" y="4343813"/>
            <a:ext cx="96583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6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排产调度优化</a:t>
            </a:r>
          </a:p>
        </p:txBody>
      </p:sp>
      <p:sp>
        <p:nvSpPr>
          <p:cNvPr id="152" name="av-4-3"/>
          <p:cNvSpPr/>
          <p:nvPr/>
        </p:nvSpPr>
        <p:spPr>
          <a:xfrm>
            <a:off x="9023350" y="4667250"/>
            <a:ext cx="190500" cy="190500"/>
          </a:xfrm>
          <a:prstGeom prst="ellipse">
            <a:avLst/>
          </a:prstGeom>
          <a:solidFill>
            <a:srgbClr val="4694D7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3" name="icon-people"/>
          <p:cNvSpPr/>
          <p:nvPr/>
        </p:nvSpPr>
        <p:spPr>
          <a:xfrm>
            <a:off x="9078595" y="4774882"/>
            <a:ext cx="80962" cy="22860"/>
          </a:xfrm>
          <a:custGeom>
            <a:avLst/>
            <a:gdLst/>
            <a:ahLst/>
            <a:cxnLst/>
            <a:rect l="0" t="0" r="r" b="b"/>
            <a:pathLst>
              <a:path w="80962" h="22860">
                <a:moveTo>
                  <a:pt x="0" y="22860"/>
                </a:moveTo>
                <a:cubicBezTo>
                  <a:pt x="0" y="8572"/>
                  <a:pt x="11938" y="0"/>
                  <a:pt x="25717" y="0"/>
                </a:cubicBezTo>
                <a:cubicBezTo>
                  <a:pt x="39497" y="0"/>
                  <a:pt x="51435" y="8572"/>
                  <a:pt x="51435" y="22860"/>
                </a:cubicBezTo>
                <a:moveTo>
                  <a:pt x="60960" y="1905"/>
                </a:moveTo>
                <a:cubicBezTo>
                  <a:pt x="73342" y="3365"/>
                  <a:pt x="80962" y="11938"/>
                  <a:pt x="80962" y="22860"/>
                </a:cubicBezTo>
              </a:path>
            </a:pathLst>
          </a:custGeom>
          <a:noFill/>
          <a:ln w="12065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4" name="icon-people"/>
          <p:cNvSpPr/>
          <p:nvPr/>
        </p:nvSpPr>
        <p:spPr>
          <a:xfrm>
            <a:off x="9089072" y="4733925"/>
            <a:ext cx="30480" cy="30480"/>
          </a:xfrm>
          <a:prstGeom prst="ellipse">
            <a:avLst/>
          </a:prstGeom>
          <a:noFill/>
          <a:ln w="12065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5" name="icon-people"/>
          <p:cNvSpPr/>
          <p:nvPr/>
        </p:nvSpPr>
        <p:spPr>
          <a:xfrm>
            <a:off x="9130030" y="4733925"/>
            <a:ext cx="24765" cy="24765"/>
          </a:xfrm>
          <a:prstGeom prst="ellipse">
            <a:avLst/>
          </a:prstGeom>
          <a:noFill/>
          <a:ln w="12065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6" name="cardo-4-3"/>
          <p:cNvSpPr txBox="1"/>
          <p:nvPr/>
        </p:nvSpPr>
        <p:spPr>
          <a:xfrm>
            <a:off x="9272651" y="4686887"/>
            <a:ext cx="43440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制造 IT</a:t>
            </a:r>
          </a:p>
        </p:txBody>
      </p:sp>
      <p:sp>
        <p:nvSpPr>
          <p:cNvPr id="157" name="tag-4-3"/>
          <p:cNvSpPr/>
          <p:nvPr/>
        </p:nvSpPr>
        <p:spPr>
          <a:xfrm>
            <a:off x="10401300" y="4673600"/>
            <a:ext cx="584200" cy="190500"/>
          </a:xfrm>
          <a:custGeom>
            <a:avLst/>
            <a:gdLst/>
            <a:ahLst/>
            <a:cxnLst/>
            <a:rect l="0" t="0" r="r" b="b"/>
            <a:pathLst>
              <a:path w="584200" h="190500">
                <a:moveTo>
                  <a:pt x="95250" y="0"/>
                </a:moveTo>
                <a:lnTo>
                  <a:pt x="488950" y="0"/>
                </a:lnTo>
                <a:cubicBezTo>
                  <a:pt x="541528" y="0"/>
                  <a:pt x="584200" y="42672"/>
                  <a:pt x="584200" y="95250"/>
                </a:cubicBezTo>
                <a:lnTo>
                  <a:pt x="584200" y="95250"/>
                </a:lnTo>
                <a:cubicBezTo>
                  <a:pt x="584200" y="147828"/>
                  <a:pt x="541528" y="190500"/>
                  <a:pt x="4889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8" name="tagt-4-3"/>
          <p:cNvSpPr txBox="1"/>
          <p:nvPr/>
        </p:nvSpPr>
        <p:spPr>
          <a:xfrm>
            <a:off x="10561955" y="4690808"/>
            <a:ext cx="2628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上周</a:t>
            </a:r>
          </a:p>
        </p:txBody>
      </p:sp>
      <p:sp>
        <p:nvSpPr>
          <p:cNvPr id="159" name="sum"/>
          <p:cNvSpPr/>
          <p:nvPr/>
        </p:nvSpPr>
        <p:spPr>
          <a:xfrm>
            <a:off x="952500" y="5727700"/>
            <a:ext cx="10287000" cy="558800"/>
          </a:xfrm>
          <a:custGeom>
            <a:avLst/>
            <a:gdLst/>
            <a:ahLst/>
            <a:cxnLst/>
            <a:rect l="0" t="0" r="r" b="b"/>
            <a:pathLst>
              <a:path w="10287000" h="5588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57200"/>
                </a:lnTo>
                <a:cubicBezTo>
                  <a:pt x="10287000" y="513334"/>
                  <a:pt x="10241534" y="558800"/>
                  <a:pt x="10185400" y="558800"/>
                </a:cubicBezTo>
                <a:lnTo>
                  <a:pt x="101600" y="558800"/>
                </a:lnTo>
                <a:cubicBezTo>
                  <a:pt x="45466" y="558800"/>
                  <a:pt x="0" y="513334"/>
                  <a:pt x="0" y="457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0" name="sum-bar"/>
          <p:cNvSpPr/>
          <p:nvPr/>
        </p:nvSpPr>
        <p:spPr>
          <a:xfrm>
            <a:off x="952500" y="5727700"/>
            <a:ext cx="31750" cy="5588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1" name="sum-h"/>
          <p:cNvSpPr txBox="1"/>
          <p:nvPr/>
        </p:nvSpPr>
        <p:spPr>
          <a:xfrm>
            <a:off x="1141222" y="58199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流动效率</a:t>
            </a:r>
          </a:p>
        </p:txBody>
      </p:sp>
      <p:sp>
        <p:nvSpPr>
          <p:cNvPr id="162" name="sum-p"/>
          <p:cNvSpPr txBox="1"/>
          <p:nvPr/>
        </p:nvSpPr>
        <p:spPr>
          <a:xfrm>
            <a:off x="1142365" y="6034961"/>
            <a:ext cx="230727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在制品 11 项，3 项阻塞集中在研发环节。</a:t>
            </a:r>
          </a:p>
        </p:txBody>
      </p:sp>
      <p:sp>
        <p:nvSpPr>
          <p:cNvPr id="163" name="sv-1"/>
          <p:cNvSpPr txBox="1"/>
          <p:nvPr/>
        </p:nvSpPr>
        <p:spPr>
          <a:xfrm>
            <a:off x="4679188" y="5828602"/>
            <a:ext cx="339852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11</a:t>
            </a:r>
          </a:p>
        </p:txBody>
      </p:sp>
      <p:sp>
        <p:nvSpPr>
          <p:cNvPr id="164" name="sl-1"/>
          <p:cNvSpPr txBox="1"/>
          <p:nvPr/>
        </p:nvSpPr>
        <p:spPr>
          <a:xfrm>
            <a:off x="4687951" y="6096587"/>
            <a:ext cx="55594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在制品总数</a:t>
            </a:r>
          </a:p>
        </p:txBody>
      </p:sp>
      <p:cxnSp>
        <p:nvCxnSpPr>
          <p:cNvPr id="165" name="ssep-1"/>
          <p:cNvCxnSpPr/>
          <p:nvPr/>
        </p:nvCxnSpPr>
        <p:spPr>
          <a:xfrm>
            <a:off x="6146800" y="5880100"/>
            <a:ext cx="0" cy="2667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6" name="sv-2"/>
          <p:cNvSpPr txBox="1"/>
          <p:nvPr/>
        </p:nvSpPr>
        <p:spPr>
          <a:xfrm>
            <a:off x="6380988" y="5828602"/>
            <a:ext cx="244221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167" name="sl-2"/>
          <p:cNvSpPr txBox="1"/>
          <p:nvPr/>
        </p:nvSpPr>
        <p:spPr>
          <a:xfrm>
            <a:off x="6389751" y="6096587"/>
            <a:ext cx="36671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阻塞项</a:t>
            </a:r>
          </a:p>
        </p:txBody>
      </p:sp>
      <p:cxnSp>
        <p:nvCxnSpPr>
          <p:cNvPr id="168" name="ssep-2"/>
          <p:cNvCxnSpPr/>
          <p:nvPr/>
        </p:nvCxnSpPr>
        <p:spPr>
          <a:xfrm>
            <a:off x="7848600" y="5880100"/>
            <a:ext cx="0" cy="2667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9" name="sv-3"/>
          <p:cNvSpPr txBox="1"/>
          <p:nvPr/>
        </p:nvSpPr>
        <p:spPr>
          <a:xfrm>
            <a:off x="8082788" y="5828602"/>
            <a:ext cx="603758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14 天</a:t>
            </a:r>
          </a:p>
        </p:txBody>
      </p:sp>
      <p:sp>
        <p:nvSpPr>
          <p:cNvPr id="170" name="sl-3"/>
          <p:cNvSpPr txBox="1"/>
          <p:nvPr/>
        </p:nvSpPr>
        <p:spPr>
          <a:xfrm>
            <a:off x="8091551" y="6096587"/>
            <a:ext cx="65055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平均交付周期</a:t>
            </a:r>
          </a:p>
        </p:txBody>
      </p:sp>
      <p:cxnSp>
        <p:nvCxnSpPr>
          <p:cNvPr id="171" name="ssep-3"/>
          <p:cNvCxnSpPr/>
          <p:nvPr/>
        </p:nvCxnSpPr>
        <p:spPr>
          <a:xfrm>
            <a:off x="9550400" y="5880100"/>
            <a:ext cx="0" cy="2667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2" name="sv-4"/>
          <p:cNvSpPr txBox="1"/>
          <p:nvPr/>
        </p:nvSpPr>
        <p:spPr>
          <a:xfrm>
            <a:off x="9784588" y="5828602"/>
            <a:ext cx="435483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2.4</a:t>
            </a:r>
          </a:p>
        </p:txBody>
      </p:sp>
      <p:sp>
        <p:nvSpPr>
          <p:cNvPr id="173" name="sl-4"/>
          <p:cNvSpPr txBox="1"/>
          <p:nvPr/>
        </p:nvSpPr>
        <p:spPr>
          <a:xfrm>
            <a:off x="9793351" y="6096587"/>
            <a:ext cx="65055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周流速（项）</a:t>
            </a:r>
          </a:p>
        </p:txBody>
      </p:sp>
      <p:cxnSp>
        <p:nvCxnSpPr>
          <p:cNvPr id="174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5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交付看板 · 四列流转</a:t>
            </a:r>
          </a:p>
        </p:txBody>
      </p:sp>
      <p:sp>
        <p:nvSpPr>
          <p:cNvPr id="176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新品开发阶段门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17271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STAGE · GATE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894699" y="673132"/>
            <a:ext cx="27260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五个阶段、四道关卡，每道关卡都有明确的放行标准</a:t>
            </a:r>
          </a:p>
        </p:txBody>
      </p:sp>
      <p:sp>
        <p:nvSpPr>
          <p:cNvPr id="10" name="stage-1"/>
          <p:cNvSpPr/>
          <p:nvPr/>
        </p:nvSpPr>
        <p:spPr>
          <a:xfrm>
            <a:off x="952500" y="1905000"/>
            <a:ext cx="1498600" cy="1473200"/>
          </a:xfrm>
          <a:custGeom>
            <a:avLst/>
            <a:gdLst/>
            <a:ahLst/>
            <a:cxnLst/>
            <a:rect l="0" t="0" r="r" b="b"/>
            <a:pathLst>
              <a:path w="1498600" h="1473200">
                <a:moveTo>
                  <a:pt x="127000" y="0"/>
                </a:moveTo>
                <a:lnTo>
                  <a:pt x="1371600" y="0"/>
                </a:lnTo>
                <a:cubicBezTo>
                  <a:pt x="1441768" y="0"/>
                  <a:pt x="1498600" y="56832"/>
                  <a:pt x="1498600" y="127000"/>
                </a:cubicBezTo>
                <a:lnTo>
                  <a:pt x="1498600" y="1346200"/>
                </a:lnTo>
                <a:cubicBezTo>
                  <a:pt x="1498600" y="1416367"/>
                  <a:pt x="1441768" y="1473200"/>
                  <a:pt x="1371600" y="1473200"/>
                </a:cubicBezTo>
                <a:lnTo>
                  <a:pt x="127000" y="1473200"/>
                </a:lnTo>
                <a:cubicBezTo>
                  <a:pt x="56832" y="1473200"/>
                  <a:pt x="0" y="1416367"/>
                  <a:pt x="0" y="1346200"/>
                </a:cubicBezTo>
                <a:lnTo>
                  <a:pt x="0" y="127000"/>
                </a:lnTo>
                <a:cubicBezTo>
                  <a:pt x="0" y="56832"/>
                  <a:pt x="56832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325DA1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sno-1"/>
          <p:cNvSpPr txBox="1"/>
          <p:nvPr/>
        </p:nvSpPr>
        <p:spPr>
          <a:xfrm>
            <a:off x="1091946" y="2051082"/>
            <a:ext cx="23710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75">
                <a:solidFill>
                  <a:srgbClr val="FFFFFF">
                    <a:alpha val="60000"/>
                  </a:srgbClr>
                </a:solidFill>
                <a:latin typeface="Arial"/>
                <a:ea typeface="Arial"/>
                <a:cs typeface="Arial"/>
              </a:rPr>
              <a:t>S1</a:t>
            </a:r>
          </a:p>
        </p:txBody>
      </p:sp>
      <p:sp>
        <p:nvSpPr>
          <p:cNvPr id="12" name="icon-bulb"/>
          <p:cNvSpPr/>
          <p:nvPr/>
        </p:nvSpPr>
        <p:spPr>
          <a:xfrm>
            <a:off x="1644813" y="2351913"/>
            <a:ext cx="113975" cy="168910"/>
          </a:xfrm>
          <a:custGeom>
            <a:avLst/>
            <a:gdLst/>
            <a:ahLst/>
            <a:cxnLst/>
            <a:rect l="0" t="0" r="r" b="b"/>
            <a:pathLst>
              <a:path w="113975" h="168910">
                <a:moveTo>
                  <a:pt x="32857" y="140780"/>
                </a:moveTo>
                <a:lnTo>
                  <a:pt x="81117" y="140780"/>
                </a:lnTo>
                <a:moveTo>
                  <a:pt x="38890" y="168910"/>
                </a:moveTo>
                <a:lnTo>
                  <a:pt x="75085" y="168910"/>
                </a:lnTo>
                <a:moveTo>
                  <a:pt x="56987" y="0"/>
                </a:moveTo>
                <a:cubicBezTo>
                  <a:pt x="81435" y="-254"/>
                  <a:pt x="103215" y="15240"/>
                  <a:pt x="111026" y="38354"/>
                </a:cubicBezTo>
                <a:cubicBezTo>
                  <a:pt x="118836" y="61531"/>
                  <a:pt x="110772" y="87058"/>
                  <a:pt x="91150" y="101600"/>
                </a:cubicBezTo>
                <a:cubicBezTo>
                  <a:pt x="84102" y="107569"/>
                  <a:pt x="81117" y="113601"/>
                  <a:pt x="81117" y="122682"/>
                </a:cubicBezTo>
                <a:lnTo>
                  <a:pt x="32857" y="122682"/>
                </a:lnTo>
                <a:cubicBezTo>
                  <a:pt x="32857" y="113601"/>
                  <a:pt x="29873" y="107569"/>
                  <a:pt x="22824" y="101600"/>
                </a:cubicBezTo>
                <a:cubicBezTo>
                  <a:pt x="3203" y="87058"/>
                  <a:pt x="-4862" y="61531"/>
                  <a:pt x="2949" y="38354"/>
                </a:cubicBezTo>
                <a:cubicBezTo>
                  <a:pt x="10759" y="15240"/>
                  <a:pt x="32540" y="-254"/>
                  <a:pt x="56987" y="0"/>
                </a:cubicBezTo>
                <a:close/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sn-1"/>
          <p:cNvSpPr txBox="1"/>
          <p:nvPr/>
        </p:nvSpPr>
        <p:spPr>
          <a:xfrm>
            <a:off x="1281112" y="2610644"/>
            <a:ext cx="8413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概念论证</a:t>
            </a:r>
          </a:p>
        </p:txBody>
      </p:sp>
      <p:sp>
        <p:nvSpPr>
          <p:cNvPr id="14" name="sr-1"/>
          <p:cNvSpPr/>
          <p:nvPr/>
        </p:nvSpPr>
        <p:spPr>
          <a:xfrm>
            <a:off x="1536700" y="2921000"/>
            <a:ext cx="330200" cy="1651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sp-1"/>
          <p:cNvSpPr txBox="1"/>
          <p:nvPr/>
        </p:nvSpPr>
        <p:spPr>
          <a:xfrm>
            <a:off x="1169988" y="3031966"/>
            <a:ext cx="10636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20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市场调研与技术可行性</a:t>
            </a:r>
          </a:p>
        </p:txBody>
      </p:sp>
      <p:sp>
        <p:nvSpPr>
          <p:cNvPr id="16" name="wk-1"/>
          <p:cNvSpPr/>
          <p:nvPr/>
        </p:nvSpPr>
        <p:spPr>
          <a:xfrm>
            <a:off x="1422400" y="3479800"/>
            <a:ext cx="558800" cy="203200"/>
          </a:xfrm>
          <a:custGeom>
            <a:avLst/>
            <a:gdLst/>
            <a:ahLst/>
            <a:cxnLst/>
            <a:rect l="0" t="0" r="r" b="b"/>
            <a:pathLst>
              <a:path w="558800" h="203200">
                <a:moveTo>
                  <a:pt x="101600" y="0"/>
                </a:moveTo>
                <a:lnTo>
                  <a:pt x="457200" y="0"/>
                </a:lnTo>
                <a:cubicBezTo>
                  <a:pt x="513334" y="0"/>
                  <a:pt x="558800" y="45466"/>
                  <a:pt x="558800" y="101600"/>
                </a:cubicBezTo>
                <a:lnTo>
                  <a:pt x="558800" y="101600"/>
                </a:lnTo>
                <a:cubicBezTo>
                  <a:pt x="558800" y="157734"/>
                  <a:pt x="513334" y="203200"/>
                  <a:pt x="4572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wkt-1"/>
          <p:cNvSpPr txBox="1"/>
          <p:nvPr/>
        </p:nvSpPr>
        <p:spPr>
          <a:xfrm>
            <a:off x="1557052" y="3499437"/>
            <a:ext cx="289496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3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4 周</a:t>
            </a:r>
          </a:p>
        </p:txBody>
      </p:sp>
      <p:sp>
        <p:nvSpPr>
          <p:cNvPr id="18" name="gate-1"/>
          <p:cNvSpPr/>
          <p:nvPr/>
        </p:nvSpPr>
        <p:spPr>
          <a:xfrm>
            <a:off x="2522506" y="2363756"/>
            <a:ext cx="555688" cy="555688"/>
          </a:xfrm>
          <a:custGeom>
            <a:avLst/>
            <a:gdLst/>
            <a:ahLst/>
            <a:cxnLst/>
            <a:rect l="0" t="0" r="r" b="b"/>
            <a:pathLst>
              <a:path w="555688" h="555688">
                <a:moveTo>
                  <a:pt x="223933" y="26956"/>
                </a:moveTo>
                <a:quadBezTo>
                  <a:pt x="277844" y="-26956"/>
                  <a:pt x="331756" y="26956"/>
                </a:quadBezTo>
                <a:lnTo>
                  <a:pt x="528733" y="223933"/>
                </a:lnTo>
                <a:quadBezTo>
                  <a:pt x="582644" y="277844"/>
                  <a:pt x="528733" y="331756"/>
                </a:quadBezTo>
                <a:lnTo>
                  <a:pt x="331756" y="528733"/>
                </a:lnTo>
                <a:quadBezTo>
                  <a:pt x="277844" y="582644"/>
                  <a:pt x="223933" y="528733"/>
                </a:quadBezTo>
                <a:lnTo>
                  <a:pt x="26956" y="331756"/>
                </a:lnTo>
                <a:quadBezTo>
                  <a:pt x="-26956" y="277844"/>
                  <a:pt x="26956" y="223933"/>
                </a:quadBezTo>
                <a:close/>
              </a:path>
            </a:pathLst>
          </a:custGeom>
          <a:solidFill>
            <a:srgbClr val="FFFFFF"/>
          </a:solidFill>
          <a:ln w="12700" cap="rnd">
            <a:solidFill>
              <a:srgbClr val="E0703A">
                <a:alpha val="55000"/>
              </a:srgbClr>
            </a:solidFill>
            <a:round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gno-1"/>
          <p:cNvSpPr txBox="1"/>
          <p:nvPr/>
        </p:nvSpPr>
        <p:spPr>
          <a:xfrm>
            <a:off x="2665730" y="2529205"/>
            <a:ext cx="2692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50">
                <a:solidFill>
                  <a:srgbClr val="E0703A"/>
                </a:solidFill>
                <a:latin typeface="Arial"/>
                <a:ea typeface="Arial"/>
                <a:cs typeface="Arial"/>
              </a:rPr>
              <a:t>G1</a:t>
            </a:r>
          </a:p>
        </p:txBody>
      </p:sp>
      <p:sp>
        <p:nvSpPr>
          <p:cNvPr id="20" name="gn-1"/>
          <p:cNvSpPr txBox="1"/>
          <p:nvPr/>
        </p:nvSpPr>
        <p:spPr>
          <a:xfrm>
            <a:off x="2564606" y="3023187"/>
            <a:ext cx="4714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立项评审</a:t>
            </a:r>
          </a:p>
        </p:txBody>
      </p:sp>
      <p:cxnSp>
        <p:nvCxnSpPr>
          <p:cNvPr id="21" name="gl-1"/>
          <p:cNvCxnSpPr/>
          <p:nvPr/>
        </p:nvCxnSpPr>
        <p:spPr>
          <a:xfrm flipH="1">
            <a:off x="2457450" y="2641600"/>
            <a:ext cx="31750" cy="0"/>
          </a:xfrm>
          <a:prstGeom prst="line">
            <a:avLst/>
          </a:prstGeom>
          <a:ln w="12700" cap="rnd">
            <a:solidFill>
              <a:srgbClr val="0B3E8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gr-1"/>
          <p:cNvCxnSpPr/>
          <p:nvPr/>
        </p:nvCxnSpPr>
        <p:spPr>
          <a:xfrm flipH="1">
            <a:off x="3073400" y="2641600"/>
            <a:ext cx="69850" cy="0"/>
          </a:xfrm>
          <a:prstGeom prst="line">
            <a:avLst/>
          </a:prstGeom>
          <a:ln w="12700" cap="rnd">
            <a:solidFill>
              <a:srgbClr val="1B5AA8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garr-1"/>
          <p:cNvSpPr/>
          <p:nvPr/>
        </p:nvSpPr>
        <p:spPr>
          <a:xfrm>
            <a:off x="3009900" y="2603500"/>
            <a:ext cx="76200" cy="76200"/>
          </a:xfrm>
          <a:custGeom>
            <a:avLst/>
            <a:gdLst/>
            <a:ahLst/>
            <a:cxnLst/>
            <a:rect l="0" t="0" r="r" b="b"/>
            <a:pathLst>
              <a:path w="76200" h="76200">
                <a:moveTo>
                  <a:pt x="0" y="0"/>
                </a:moveTo>
                <a:lnTo>
                  <a:pt x="76200" y="38100"/>
                </a:lnTo>
                <a:lnTo>
                  <a:pt x="0" y="76200"/>
                </a:lnTo>
              </a:path>
            </a:pathLst>
          </a:custGeom>
          <a:noFill/>
          <a:ln w="13970" cap="rnd">
            <a:solidFill>
              <a:srgbClr val="1B5AA8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stage-2"/>
          <p:cNvSpPr/>
          <p:nvPr/>
        </p:nvSpPr>
        <p:spPr>
          <a:xfrm>
            <a:off x="3149600" y="1905000"/>
            <a:ext cx="1498600" cy="1473200"/>
          </a:xfrm>
          <a:custGeom>
            <a:avLst/>
            <a:gdLst/>
            <a:ahLst/>
            <a:cxnLst/>
            <a:rect l="0" t="0" r="r" b="b"/>
            <a:pathLst>
              <a:path w="1498600" h="1473200">
                <a:moveTo>
                  <a:pt x="127000" y="0"/>
                </a:moveTo>
                <a:lnTo>
                  <a:pt x="1371600" y="0"/>
                </a:lnTo>
                <a:cubicBezTo>
                  <a:pt x="1441767" y="0"/>
                  <a:pt x="1498600" y="56832"/>
                  <a:pt x="1498600" y="127000"/>
                </a:cubicBezTo>
                <a:lnTo>
                  <a:pt x="1498600" y="1346200"/>
                </a:lnTo>
                <a:cubicBezTo>
                  <a:pt x="1498600" y="1416367"/>
                  <a:pt x="1441767" y="1473200"/>
                  <a:pt x="1371600" y="1473200"/>
                </a:cubicBezTo>
                <a:lnTo>
                  <a:pt x="127000" y="1473200"/>
                </a:lnTo>
                <a:cubicBezTo>
                  <a:pt x="56832" y="1473200"/>
                  <a:pt x="0" y="1416367"/>
                  <a:pt x="0" y="1346200"/>
                </a:cubicBezTo>
                <a:lnTo>
                  <a:pt x="0" y="127000"/>
                </a:lnTo>
                <a:cubicBezTo>
                  <a:pt x="0" y="56832"/>
                  <a:pt x="56832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3F74B6"/>
              </a:gs>
              <a:gs pos="100000">
                <a:srgbClr val="1B5AA8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sno-2"/>
          <p:cNvSpPr txBox="1"/>
          <p:nvPr/>
        </p:nvSpPr>
        <p:spPr>
          <a:xfrm>
            <a:off x="3289046" y="2051082"/>
            <a:ext cx="23710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75">
                <a:solidFill>
                  <a:srgbClr val="FFFFFF">
                    <a:alpha val="60000"/>
                  </a:srgbClr>
                </a:solidFill>
                <a:latin typeface="Arial"/>
                <a:ea typeface="Arial"/>
                <a:cs typeface="Arial"/>
              </a:rPr>
              <a:t>S2</a:t>
            </a:r>
          </a:p>
        </p:txBody>
      </p:sp>
      <p:sp>
        <p:nvSpPr>
          <p:cNvPr id="26" name="icon-tools"/>
          <p:cNvSpPr/>
          <p:nvPr/>
        </p:nvSpPr>
        <p:spPr>
          <a:xfrm>
            <a:off x="3822559" y="2357302"/>
            <a:ext cx="142699" cy="141423"/>
          </a:xfrm>
          <a:custGeom>
            <a:avLst/>
            <a:gdLst/>
            <a:ahLst/>
            <a:cxnLst/>
            <a:rect l="0" t="0" r="r" b="b"/>
            <a:pathLst>
              <a:path w="142699" h="141423">
                <a:moveTo>
                  <a:pt x="26049" y="4707"/>
                </a:moveTo>
                <a:lnTo>
                  <a:pt x="56212" y="34870"/>
                </a:lnTo>
                <a:lnTo>
                  <a:pt x="34114" y="56968"/>
                </a:lnTo>
                <a:lnTo>
                  <a:pt x="3951" y="26805"/>
                </a:lnTo>
                <a:cubicBezTo>
                  <a:pt x="-3288" y="41918"/>
                  <a:pt x="-430" y="60016"/>
                  <a:pt x="11254" y="72081"/>
                </a:cubicBezTo>
                <a:cubicBezTo>
                  <a:pt x="22874" y="84209"/>
                  <a:pt x="40845" y="87765"/>
                  <a:pt x="56212" y="81098"/>
                </a:cubicBezTo>
                <a:lnTo>
                  <a:pt x="116537" y="141423"/>
                </a:lnTo>
                <a:lnTo>
                  <a:pt x="142699" y="115261"/>
                </a:lnTo>
                <a:lnTo>
                  <a:pt x="82374" y="54936"/>
                </a:lnTo>
                <a:cubicBezTo>
                  <a:pt x="88533" y="39251"/>
                  <a:pt x="84342" y="21408"/>
                  <a:pt x="71769" y="10168"/>
                </a:cubicBezTo>
                <a:cubicBezTo>
                  <a:pt x="59196" y="-1008"/>
                  <a:pt x="40972" y="-3230"/>
                  <a:pt x="26049" y="4707"/>
                </a:cubicBezTo>
                <a:close/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sn-2"/>
          <p:cNvSpPr txBox="1"/>
          <p:nvPr/>
        </p:nvSpPr>
        <p:spPr>
          <a:xfrm>
            <a:off x="3478212" y="2610644"/>
            <a:ext cx="8413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方案设计</a:t>
            </a:r>
          </a:p>
        </p:txBody>
      </p:sp>
      <p:sp>
        <p:nvSpPr>
          <p:cNvPr id="28" name="sr-2"/>
          <p:cNvSpPr/>
          <p:nvPr/>
        </p:nvSpPr>
        <p:spPr>
          <a:xfrm>
            <a:off x="3733800" y="2921000"/>
            <a:ext cx="330200" cy="1651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sp-2"/>
          <p:cNvSpPr txBox="1"/>
          <p:nvPr/>
        </p:nvSpPr>
        <p:spPr>
          <a:xfrm>
            <a:off x="3367088" y="3031966"/>
            <a:ext cx="10636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20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结构、软件与成本设计</a:t>
            </a:r>
          </a:p>
        </p:txBody>
      </p:sp>
      <p:sp>
        <p:nvSpPr>
          <p:cNvPr id="30" name="wk-2"/>
          <p:cNvSpPr/>
          <p:nvPr/>
        </p:nvSpPr>
        <p:spPr>
          <a:xfrm>
            <a:off x="3619500" y="3479800"/>
            <a:ext cx="558800" cy="203200"/>
          </a:xfrm>
          <a:custGeom>
            <a:avLst/>
            <a:gdLst/>
            <a:ahLst/>
            <a:cxnLst/>
            <a:rect l="0" t="0" r="r" b="b"/>
            <a:pathLst>
              <a:path w="558800" h="203200">
                <a:moveTo>
                  <a:pt x="101600" y="0"/>
                </a:moveTo>
                <a:lnTo>
                  <a:pt x="457200" y="0"/>
                </a:lnTo>
                <a:cubicBezTo>
                  <a:pt x="513334" y="0"/>
                  <a:pt x="558800" y="45466"/>
                  <a:pt x="558800" y="101600"/>
                </a:cubicBezTo>
                <a:lnTo>
                  <a:pt x="558800" y="101600"/>
                </a:lnTo>
                <a:cubicBezTo>
                  <a:pt x="558800" y="157734"/>
                  <a:pt x="513334" y="203200"/>
                  <a:pt x="4572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wkt-2"/>
          <p:cNvSpPr txBox="1"/>
          <p:nvPr/>
        </p:nvSpPr>
        <p:spPr>
          <a:xfrm>
            <a:off x="3754152" y="3499437"/>
            <a:ext cx="289496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30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8 周</a:t>
            </a:r>
          </a:p>
        </p:txBody>
      </p:sp>
      <p:sp>
        <p:nvSpPr>
          <p:cNvPr id="32" name="gate-2"/>
          <p:cNvSpPr/>
          <p:nvPr/>
        </p:nvSpPr>
        <p:spPr>
          <a:xfrm>
            <a:off x="4719606" y="2363756"/>
            <a:ext cx="555689" cy="555688"/>
          </a:xfrm>
          <a:custGeom>
            <a:avLst/>
            <a:gdLst/>
            <a:ahLst/>
            <a:cxnLst/>
            <a:rect l="0" t="0" r="r" b="b"/>
            <a:pathLst>
              <a:path w="555689" h="555688">
                <a:moveTo>
                  <a:pt x="223933" y="26956"/>
                </a:moveTo>
                <a:quadBezTo>
                  <a:pt x="277844" y="-26956"/>
                  <a:pt x="331756" y="26956"/>
                </a:quadBezTo>
                <a:lnTo>
                  <a:pt x="528733" y="223933"/>
                </a:lnTo>
                <a:quadBezTo>
                  <a:pt x="582644" y="277844"/>
                  <a:pt x="528733" y="331756"/>
                </a:quadBezTo>
                <a:lnTo>
                  <a:pt x="331756" y="528733"/>
                </a:lnTo>
                <a:quadBezTo>
                  <a:pt x="277844" y="582644"/>
                  <a:pt x="223933" y="528733"/>
                </a:quadBezTo>
                <a:lnTo>
                  <a:pt x="26956" y="331756"/>
                </a:lnTo>
                <a:quadBezTo>
                  <a:pt x="-26956" y="277844"/>
                  <a:pt x="26956" y="223933"/>
                </a:quadBezTo>
                <a:close/>
              </a:path>
            </a:pathLst>
          </a:custGeom>
          <a:solidFill>
            <a:srgbClr val="FFFFFF"/>
          </a:solidFill>
          <a:ln w="12700" cap="rnd">
            <a:solidFill>
              <a:srgbClr val="E0703A">
                <a:alpha val="55000"/>
              </a:srgbClr>
            </a:solidFill>
            <a:round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gno-2"/>
          <p:cNvSpPr txBox="1"/>
          <p:nvPr/>
        </p:nvSpPr>
        <p:spPr>
          <a:xfrm>
            <a:off x="4862830" y="2529205"/>
            <a:ext cx="2692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50">
                <a:solidFill>
                  <a:srgbClr val="E0703A"/>
                </a:solidFill>
                <a:latin typeface="Arial"/>
                <a:ea typeface="Arial"/>
                <a:cs typeface="Arial"/>
              </a:rPr>
              <a:t>G2</a:t>
            </a:r>
          </a:p>
        </p:txBody>
      </p:sp>
      <p:sp>
        <p:nvSpPr>
          <p:cNvPr id="34" name="gn-2"/>
          <p:cNvSpPr txBox="1"/>
          <p:nvPr/>
        </p:nvSpPr>
        <p:spPr>
          <a:xfrm>
            <a:off x="4761706" y="3023187"/>
            <a:ext cx="4714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设计冻结</a:t>
            </a:r>
          </a:p>
        </p:txBody>
      </p:sp>
      <p:cxnSp>
        <p:nvCxnSpPr>
          <p:cNvPr id="35" name="gl-2"/>
          <p:cNvCxnSpPr/>
          <p:nvPr/>
        </p:nvCxnSpPr>
        <p:spPr>
          <a:xfrm flipH="1">
            <a:off x="4654550" y="2641600"/>
            <a:ext cx="31750" cy="0"/>
          </a:xfrm>
          <a:prstGeom prst="line">
            <a:avLst/>
          </a:prstGeom>
          <a:ln w="12700" cap="rnd">
            <a:solidFill>
              <a:srgbClr val="1B5AA8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gr-2"/>
          <p:cNvCxnSpPr/>
          <p:nvPr/>
        </p:nvCxnSpPr>
        <p:spPr>
          <a:xfrm flipH="1">
            <a:off x="5270500" y="2641600"/>
            <a:ext cx="69850" cy="0"/>
          </a:xfrm>
          <a:prstGeom prst="line">
            <a:avLst/>
          </a:prstGeom>
          <a:ln w="12700" cap="rnd">
            <a:solidFill>
              <a:srgbClr val="2E77C2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garr-2"/>
          <p:cNvSpPr/>
          <p:nvPr/>
        </p:nvSpPr>
        <p:spPr>
          <a:xfrm>
            <a:off x="5207000" y="2603500"/>
            <a:ext cx="76200" cy="76200"/>
          </a:xfrm>
          <a:custGeom>
            <a:avLst/>
            <a:gdLst/>
            <a:ahLst/>
            <a:cxnLst/>
            <a:rect l="0" t="0" r="r" b="b"/>
            <a:pathLst>
              <a:path w="76200" h="76200">
                <a:moveTo>
                  <a:pt x="0" y="0"/>
                </a:moveTo>
                <a:lnTo>
                  <a:pt x="76200" y="38100"/>
                </a:lnTo>
                <a:lnTo>
                  <a:pt x="0" y="76200"/>
                </a:lnTo>
              </a:path>
            </a:pathLst>
          </a:custGeom>
          <a:noFill/>
          <a:ln w="13970" cap="rnd">
            <a:solidFill>
              <a:srgbClr val="2E77C2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stage-3"/>
          <p:cNvSpPr/>
          <p:nvPr/>
        </p:nvSpPr>
        <p:spPr>
          <a:xfrm>
            <a:off x="5346700" y="1905000"/>
            <a:ext cx="1498600" cy="1473200"/>
          </a:xfrm>
          <a:custGeom>
            <a:avLst/>
            <a:gdLst/>
            <a:ahLst/>
            <a:cxnLst/>
            <a:rect l="0" t="0" r="r" b="b"/>
            <a:pathLst>
              <a:path w="1498600" h="1473200">
                <a:moveTo>
                  <a:pt x="127000" y="0"/>
                </a:moveTo>
                <a:lnTo>
                  <a:pt x="1371600" y="0"/>
                </a:lnTo>
                <a:cubicBezTo>
                  <a:pt x="1441767" y="0"/>
                  <a:pt x="1498600" y="56832"/>
                  <a:pt x="1498600" y="127000"/>
                </a:cubicBezTo>
                <a:lnTo>
                  <a:pt x="1498600" y="1346200"/>
                </a:lnTo>
                <a:cubicBezTo>
                  <a:pt x="1498600" y="1416367"/>
                  <a:pt x="1441767" y="1473200"/>
                  <a:pt x="1371600" y="1473200"/>
                </a:cubicBezTo>
                <a:lnTo>
                  <a:pt x="127000" y="1473200"/>
                </a:lnTo>
                <a:cubicBezTo>
                  <a:pt x="56833" y="1473200"/>
                  <a:pt x="0" y="1416367"/>
                  <a:pt x="0" y="13462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4F8DCC"/>
              </a:gs>
              <a:gs pos="100000">
                <a:srgbClr val="2E77C2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sno-3"/>
          <p:cNvSpPr txBox="1"/>
          <p:nvPr/>
        </p:nvSpPr>
        <p:spPr>
          <a:xfrm>
            <a:off x="5486146" y="2051082"/>
            <a:ext cx="23710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75">
                <a:solidFill>
                  <a:srgbClr val="FFFFFF">
                    <a:alpha val="60000"/>
                  </a:srgbClr>
                </a:solidFill>
                <a:latin typeface="Arial"/>
                <a:ea typeface="Arial"/>
                <a:cs typeface="Arial"/>
              </a:rPr>
              <a:t>S3</a:t>
            </a:r>
          </a:p>
        </p:txBody>
      </p:sp>
      <p:sp>
        <p:nvSpPr>
          <p:cNvPr id="40" name="icon-gear"/>
          <p:cNvSpPr/>
          <p:nvPr/>
        </p:nvSpPr>
        <p:spPr>
          <a:xfrm>
            <a:off x="6020562" y="2345880"/>
            <a:ext cx="150876" cy="185039"/>
          </a:xfrm>
          <a:custGeom>
            <a:avLst/>
            <a:gdLst/>
            <a:ahLst/>
            <a:cxnLst/>
            <a:rect l="0" t="0" r="r" b="b"/>
            <a:pathLst>
              <a:path w="150876" h="185039">
                <a:moveTo>
                  <a:pt x="75438" y="58356"/>
                </a:moveTo>
                <a:cubicBezTo>
                  <a:pt x="63246" y="58356"/>
                  <a:pt x="51943" y="64833"/>
                  <a:pt x="45847" y="75438"/>
                </a:cubicBezTo>
                <a:cubicBezTo>
                  <a:pt x="39751" y="85979"/>
                  <a:pt x="39751" y="99060"/>
                  <a:pt x="45847" y="109601"/>
                </a:cubicBezTo>
                <a:cubicBezTo>
                  <a:pt x="51943" y="120206"/>
                  <a:pt x="63246" y="126682"/>
                  <a:pt x="75438" y="126682"/>
                </a:cubicBezTo>
                <a:cubicBezTo>
                  <a:pt x="94298" y="126682"/>
                  <a:pt x="109601" y="111379"/>
                  <a:pt x="109601" y="92519"/>
                </a:cubicBezTo>
                <a:cubicBezTo>
                  <a:pt x="109601" y="73660"/>
                  <a:pt x="94298" y="58356"/>
                  <a:pt x="75438" y="58356"/>
                </a:cubicBezTo>
                <a:close/>
                <a:moveTo>
                  <a:pt x="75438" y="0"/>
                </a:moveTo>
                <a:lnTo>
                  <a:pt x="86487" y="26162"/>
                </a:lnTo>
                <a:lnTo>
                  <a:pt x="114617" y="20130"/>
                </a:lnTo>
                <a:lnTo>
                  <a:pt x="124714" y="47307"/>
                </a:lnTo>
                <a:lnTo>
                  <a:pt x="150876" y="58356"/>
                </a:lnTo>
                <a:lnTo>
                  <a:pt x="138811" y="84455"/>
                </a:lnTo>
                <a:lnTo>
                  <a:pt x="150876" y="110617"/>
                </a:lnTo>
                <a:lnTo>
                  <a:pt x="124714" y="121666"/>
                </a:lnTo>
                <a:lnTo>
                  <a:pt x="114617" y="148844"/>
                </a:lnTo>
                <a:lnTo>
                  <a:pt x="86487" y="142812"/>
                </a:lnTo>
                <a:lnTo>
                  <a:pt x="75438" y="185039"/>
                </a:lnTo>
                <a:lnTo>
                  <a:pt x="64389" y="158877"/>
                </a:lnTo>
                <a:lnTo>
                  <a:pt x="36259" y="164909"/>
                </a:lnTo>
                <a:lnTo>
                  <a:pt x="26162" y="137732"/>
                </a:lnTo>
                <a:lnTo>
                  <a:pt x="0" y="126682"/>
                </a:lnTo>
                <a:lnTo>
                  <a:pt x="12065" y="92519"/>
                </a:lnTo>
                <a:lnTo>
                  <a:pt x="0" y="66357"/>
                </a:lnTo>
                <a:lnTo>
                  <a:pt x="26162" y="55308"/>
                </a:lnTo>
                <a:lnTo>
                  <a:pt x="36259" y="28194"/>
                </a:lnTo>
                <a:lnTo>
                  <a:pt x="64389" y="34226"/>
                </a:lnTo>
                <a:close/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sn-3"/>
          <p:cNvSpPr txBox="1"/>
          <p:nvPr/>
        </p:nvSpPr>
        <p:spPr>
          <a:xfrm>
            <a:off x="5675312" y="2610644"/>
            <a:ext cx="8413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样机验证</a:t>
            </a:r>
          </a:p>
        </p:txBody>
      </p:sp>
      <p:sp>
        <p:nvSpPr>
          <p:cNvPr id="42" name="sr-3"/>
          <p:cNvSpPr/>
          <p:nvPr/>
        </p:nvSpPr>
        <p:spPr>
          <a:xfrm>
            <a:off x="5930900" y="2921000"/>
            <a:ext cx="330200" cy="1651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sp-3"/>
          <p:cNvSpPr txBox="1"/>
          <p:nvPr/>
        </p:nvSpPr>
        <p:spPr>
          <a:xfrm>
            <a:off x="5564188" y="3031966"/>
            <a:ext cx="10636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20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小批试制与可靠性测试</a:t>
            </a:r>
          </a:p>
        </p:txBody>
      </p:sp>
      <p:sp>
        <p:nvSpPr>
          <p:cNvPr id="44" name="wk-3"/>
          <p:cNvSpPr/>
          <p:nvPr/>
        </p:nvSpPr>
        <p:spPr>
          <a:xfrm>
            <a:off x="5816600" y="3479800"/>
            <a:ext cx="558800" cy="203200"/>
          </a:xfrm>
          <a:custGeom>
            <a:avLst/>
            <a:gdLst/>
            <a:ahLst/>
            <a:cxnLst/>
            <a:rect l="0" t="0" r="r" b="b"/>
            <a:pathLst>
              <a:path w="558800" h="203200">
                <a:moveTo>
                  <a:pt x="101600" y="0"/>
                </a:moveTo>
                <a:lnTo>
                  <a:pt x="457200" y="0"/>
                </a:lnTo>
                <a:cubicBezTo>
                  <a:pt x="513334" y="0"/>
                  <a:pt x="558800" y="45466"/>
                  <a:pt x="558800" y="101600"/>
                </a:cubicBezTo>
                <a:lnTo>
                  <a:pt x="558800" y="101600"/>
                </a:lnTo>
                <a:cubicBezTo>
                  <a:pt x="558800" y="157734"/>
                  <a:pt x="513334" y="203200"/>
                  <a:pt x="4572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wkt-3"/>
          <p:cNvSpPr txBox="1"/>
          <p:nvPr/>
        </p:nvSpPr>
        <p:spPr>
          <a:xfrm>
            <a:off x="5923566" y="3499437"/>
            <a:ext cx="344869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30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10 周</a:t>
            </a:r>
          </a:p>
        </p:txBody>
      </p:sp>
      <p:sp>
        <p:nvSpPr>
          <p:cNvPr id="46" name="gate-3"/>
          <p:cNvSpPr/>
          <p:nvPr/>
        </p:nvSpPr>
        <p:spPr>
          <a:xfrm>
            <a:off x="6916706" y="2363756"/>
            <a:ext cx="555689" cy="555688"/>
          </a:xfrm>
          <a:custGeom>
            <a:avLst/>
            <a:gdLst/>
            <a:ahLst/>
            <a:cxnLst/>
            <a:rect l="0" t="0" r="r" b="b"/>
            <a:pathLst>
              <a:path w="555689" h="555688">
                <a:moveTo>
                  <a:pt x="223933" y="26956"/>
                </a:moveTo>
                <a:quadBezTo>
                  <a:pt x="277844" y="-26956"/>
                  <a:pt x="331756" y="26956"/>
                </a:quadBezTo>
                <a:lnTo>
                  <a:pt x="528733" y="223933"/>
                </a:lnTo>
                <a:quadBezTo>
                  <a:pt x="582644" y="277844"/>
                  <a:pt x="528733" y="331756"/>
                </a:quadBezTo>
                <a:lnTo>
                  <a:pt x="331756" y="528733"/>
                </a:lnTo>
                <a:quadBezTo>
                  <a:pt x="277844" y="582644"/>
                  <a:pt x="223933" y="528733"/>
                </a:quadBezTo>
                <a:lnTo>
                  <a:pt x="26956" y="331756"/>
                </a:lnTo>
                <a:quadBezTo>
                  <a:pt x="-26956" y="277844"/>
                  <a:pt x="26956" y="223933"/>
                </a:quadBezTo>
                <a:close/>
              </a:path>
            </a:pathLst>
          </a:custGeom>
          <a:solidFill>
            <a:srgbClr val="FFFFFF"/>
          </a:solidFill>
          <a:ln w="12700" cap="rnd">
            <a:solidFill>
              <a:srgbClr val="E0703A">
                <a:alpha val="55000"/>
              </a:srgbClr>
            </a:solidFill>
            <a:round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gno-3"/>
          <p:cNvSpPr txBox="1"/>
          <p:nvPr/>
        </p:nvSpPr>
        <p:spPr>
          <a:xfrm>
            <a:off x="7059930" y="2529205"/>
            <a:ext cx="2692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50">
                <a:solidFill>
                  <a:srgbClr val="E0703A"/>
                </a:solidFill>
                <a:latin typeface="Arial"/>
                <a:ea typeface="Arial"/>
                <a:cs typeface="Arial"/>
              </a:rPr>
              <a:t>G3</a:t>
            </a:r>
          </a:p>
        </p:txBody>
      </p:sp>
      <p:sp>
        <p:nvSpPr>
          <p:cNvPr id="48" name="gn-3"/>
          <p:cNvSpPr txBox="1"/>
          <p:nvPr/>
        </p:nvSpPr>
        <p:spPr>
          <a:xfrm>
            <a:off x="6958806" y="3023187"/>
            <a:ext cx="4714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试制通过</a:t>
            </a:r>
          </a:p>
        </p:txBody>
      </p:sp>
      <p:cxnSp>
        <p:nvCxnSpPr>
          <p:cNvPr id="49" name="gl-3"/>
          <p:cNvCxnSpPr/>
          <p:nvPr/>
        </p:nvCxnSpPr>
        <p:spPr>
          <a:xfrm flipH="1">
            <a:off x="6851650" y="2641600"/>
            <a:ext cx="31750" cy="0"/>
          </a:xfrm>
          <a:prstGeom prst="line">
            <a:avLst/>
          </a:prstGeom>
          <a:ln w="12700" cap="rnd">
            <a:solidFill>
              <a:srgbClr val="2E77C2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gr-3"/>
          <p:cNvCxnSpPr/>
          <p:nvPr/>
        </p:nvCxnSpPr>
        <p:spPr>
          <a:xfrm flipH="1">
            <a:off x="7467600" y="2641600"/>
            <a:ext cx="69850" cy="0"/>
          </a:xfrm>
          <a:prstGeom prst="line">
            <a:avLst/>
          </a:prstGeom>
          <a:ln w="12700" cap="rnd">
            <a:solidFill>
              <a:srgbClr val="3985CD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garr-3"/>
          <p:cNvSpPr/>
          <p:nvPr/>
        </p:nvSpPr>
        <p:spPr>
          <a:xfrm>
            <a:off x="7404100" y="2603500"/>
            <a:ext cx="76200" cy="76200"/>
          </a:xfrm>
          <a:custGeom>
            <a:avLst/>
            <a:gdLst/>
            <a:ahLst/>
            <a:cxnLst/>
            <a:rect l="0" t="0" r="r" b="b"/>
            <a:pathLst>
              <a:path w="76200" h="76200">
                <a:moveTo>
                  <a:pt x="0" y="0"/>
                </a:moveTo>
                <a:lnTo>
                  <a:pt x="76200" y="38100"/>
                </a:lnTo>
                <a:lnTo>
                  <a:pt x="0" y="76200"/>
                </a:lnTo>
              </a:path>
            </a:pathLst>
          </a:custGeom>
          <a:noFill/>
          <a:ln w="13970" cap="rnd">
            <a:solidFill>
              <a:srgbClr val="3985CD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stage-4"/>
          <p:cNvSpPr/>
          <p:nvPr/>
        </p:nvSpPr>
        <p:spPr>
          <a:xfrm>
            <a:off x="7543800" y="1905000"/>
            <a:ext cx="1498600" cy="1473200"/>
          </a:xfrm>
          <a:custGeom>
            <a:avLst/>
            <a:gdLst/>
            <a:ahLst/>
            <a:cxnLst/>
            <a:rect l="0" t="0" r="r" b="b"/>
            <a:pathLst>
              <a:path w="1498600" h="1473200">
                <a:moveTo>
                  <a:pt x="127000" y="0"/>
                </a:moveTo>
                <a:lnTo>
                  <a:pt x="1371600" y="0"/>
                </a:lnTo>
                <a:cubicBezTo>
                  <a:pt x="1441767" y="0"/>
                  <a:pt x="1498600" y="56832"/>
                  <a:pt x="1498600" y="127000"/>
                </a:cubicBezTo>
                <a:lnTo>
                  <a:pt x="1498600" y="1346200"/>
                </a:lnTo>
                <a:cubicBezTo>
                  <a:pt x="1498600" y="1416367"/>
                  <a:pt x="1441767" y="1473200"/>
                  <a:pt x="1371600" y="1473200"/>
                </a:cubicBezTo>
                <a:lnTo>
                  <a:pt x="127000" y="1473200"/>
                </a:lnTo>
                <a:cubicBezTo>
                  <a:pt x="56833" y="1473200"/>
                  <a:pt x="0" y="1416367"/>
                  <a:pt x="0" y="13462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5999D5"/>
              </a:gs>
              <a:gs pos="100000">
                <a:srgbClr val="3985CD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sno-4"/>
          <p:cNvSpPr txBox="1"/>
          <p:nvPr/>
        </p:nvSpPr>
        <p:spPr>
          <a:xfrm>
            <a:off x="7683246" y="2051082"/>
            <a:ext cx="23710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75">
                <a:solidFill>
                  <a:srgbClr val="FFFFFF">
                    <a:alpha val="60000"/>
                  </a:srgbClr>
                </a:solidFill>
                <a:latin typeface="Arial"/>
                <a:ea typeface="Arial"/>
                <a:cs typeface="Arial"/>
              </a:rPr>
              <a:t>S4</a:t>
            </a:r>
          </a:p>
        </p:txBody>
      </p:sp>
      <p:sp>
        <p:nvSpPr>
          <p:cNvPr id="54" name="icon-factory"/>
          <p:cNvSpPr/>
          <p:nvPr/>
        </p:nvSpPr>
        <p:spPr>
          <a:xfrm>
            <a:off x="8206613" y="2400173"/>
            <a:ext cx="172974" cy="116650"/>
          </a:xfrm>
          <a:custGeom>
            <a:avLst/>
            <a:gdLst/>
            <a:ahLst/>
            <a:cxnLst/>
            <a:rect l="0" t="0" r="r" b="b"/>
            <a:pathLst>
              <a:path w="172974" h="116650">
                <a:moveTo>
                  <a:pt x="0" y="116650"/>
                </a:moveTo>
                <a:lnTo>
                  <a:pt x="0" y="28194"/>
                </a:lnTo>
                <a:lnTo>
                  <a:pt x="50292" y="58356"/>
                </a:lnTo>
                <a:lnTo>
                  <a:pt x="50292" y="28194"/>
                </a:lnTo>
                <a:lnTo>
                  <a:pt x="100584" y="58356"/>
                </a:lnTo>
                <a:lnTo>
                  <a:pt x="100584" y="0"/>
                </a:lnTo>
                <a:lnTo>
                  <a:pt x="150812" y="30162"/>
                </a:lnTo>
                <a:lnTo>
                  <a:pt x="150812" y="106616"/>
                </a:lnTo>
                <a:close/>
                <a:moveTo>
                  <a:pt x="0" y="116650"/>
                </a:moveTo>
                <a:lnTo>
                  <a:pt x="172974" y="116650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sn-4"/>
          <p:cNvSpPr txBox="1"/>
          <p:nvPr/>
        </p:nvSpPr>
        <p:spPr>
          <a:xfrm>
            <a:off x="7872412" y="2610644"/>
            <a:ext cx="8413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量产准备</a:t>
            </a:r>
          </a:p>
        </p:txBody>
      </p:sp>
      <p:sp>
        <p:nvSpPr>
          <p:cNvPr id="56" name="sr-4"/>
          <p:cNvSpPr/>
          <p:nvPr/>
        </p:nvSpPr>
        <p:spPr>
          <a:xfrm>
            <a:off x="8128000" y="2921000"/>
            <a:ext cx="330200" cy="1651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sp-4"/>
          <p:cNvSpPr txBox="1"/>
          <p:nvPr/>
        </p:nvSpPr>
        <p:spPr>
          <a:xfrm>
            <a:off x="7761288" y="3031966"/>
            <a:ext cx="10636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20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产线导入与供应链锁定</a:t>
            </a:r>
          </a:p>
        </p:txBody>
      </p:sp>
      <p:sp>
        <p:nvSpPr>
          <p:cNvPr id="58" name="wk-4"/>
          <p:cNvSpPr/>
          <p:nvPr/>
        </p:nvSpPr>
        <p:spPr>
          <a:xfrm>
            <a:off x="8013700" y="3479800"/>
            <a:ext cx="558800" cy="203200"/>
          </a:xfrm>
          <a:custGeom>
            <a:avLst/>
            <a:gdLst/>
            <a:ahLst/>
            <a:cxnLst/>
            <a:rect l="0" t="0" r="r" b="b"/>
            <a:pathLst>
              <a:path w="558800" h="203200">
                <a:moveTo>
                  <a:pt x="101600" y="0"/>
                </a:moveTo>
                <a:lnTo>
                  <a:pt x="457200" y="0"/>
                </a:lnTo>
                <a:cubicBezTo>
                  <a:pt x="513334" y="0"/>
                  <a:pt x="558800" y="45466"/>
                  <a:pt x="558800" y="101600"/>
                </a:cubicBezTo>
                <a:lnTo>
                  <a:pt x="558800" y="101600"/>
                </a:lnTo>
                <a:cubicBezTo>
                  <a:pt x="558800" y="157734"/>
                  <a:pt x="513334" y="203200"/>
                  <a:pt x="4572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3985CD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wkt-4"/>
          <p:cNvSpPr txBox="1"/>
          <p:nvPr/>
        </p:nvSpPr>
        <p:spPr>
          <a:xfrm>
            <a:off x="8148352" y="3499437"/>
            <a:ext cx="289496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30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6 周</a:t>
            </a:r>
          </a:p>
        </p:txBody>
      </p:sp>
      <p:sp>
        <p:nvSpPr>
          <p:cNvPr id="60" name="gate-4"/>
          <p:cNvSpPr/>
          <p:nvPr/>
        </p:nvSpPr>
        <p:spPr>
          <a:xfrm>
            <a:off x="9113806" y="2363756"/>
            <a:ext cx="555689" cy="555688"/>
          </a:xfrm>
          <a:custGeom>
            <a:avLst/>
            <a:gdLst/>
            <a:ahLst/>
            <a:cxnLst/>
            <a:rect l="0" t="0" r="r" b="b"/>
            <a:pathLst>
              <a:path w="555689" h="555688">
                <a:moveTo>
                  <a:pt x="223933" y="26956"/>
                </a:moveTo>
                <a:quadBezTo>
                  <a:pt x="277844" y="-26956"/>
                  <a:pt x="331756" y="26956"/>
                </a:quadBezTo>
                <a:lnTo>
                  <a:pt x="528733" y="223933"/>
                </a:lnTo>
                <a:quadBezTo>
                  <a:pt x="582644" y="277844"/>
                  <a:pt x="528733" y="331756"/>
                </a:quadBezTo>
                <a:lnTo>
                  <a:pt x="331756" y="528733"/>
                </a:lnTo>
                <a:quadBezTo>
                  <a:pt x="277844" y="582644"/>
                  <a:pt x="223933" y="528733"/>
                </a:quadBezTo>
                <a:lnTo>
                  <a:pt x="26956" y="331756"/>
                </a:lnTo>
                <a:quadBezTo>
                  <a:pt x="-26956" y="277844"/>
                  <a:pt x="26956" y="223933"/>
                </a:quadBezTo>
                <a:close/>
              </a:path>
            </a:pathLst>
          </a:custGeom>
          <a:solidFill>
            <a:srgbClr val="FFFFFF"/>
          </a:solidFill>
          <a:ln w="12700" cap="rnd">
            <a:solidFill>
              <a:srgbClr val="E0703A">
                <a:alpha val="55000"/>
              </a:srgbClr>
            </a:solidFill>
            <a:round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gno-4"/>
          <p:cNvSpPr txBox="1"/>
          <p:nvPr/>
        </p:nvSpPr>
        <p:spPr>
          <a:xfrm>
            <a:off x="9257030" y="2529205"/>
            <a:ext cx="2692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50">
                <a:solidFill>
                  <a:srgbClr val="E0703A"/>
                </a:solidFill>
                <a:latin typeface="Arial"/>
                <a:ea typeface="Arial"/>
                <a:cs typeface="Arial"/>
              </a:rPr>
              <a:t>G4</a:t>
            </a:r>
          </a:p>
        </p:txBody>
      </p:sp>
      <p:sp>
        <p:nvSpPr>
          <p:cNvPr id="62" name="gn-4"/>
          <p:cNvSpPr txBox="1"/>
          <p:nvPr/>
        </p:nvSpPr>
        <p:spPr>
          <a:xfrm>
            <a:off x="9155906" y="3023187"/>
            <a:ext cx="4714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量产放行</a:t>
            </a:r>
          </a:p>
        </p:txBody>
      </p:sp>
      <p:cxnSp>
        <p:nvCxnSpPr>
          <p:cNvPr id="63" name="gl-4"/>
          <p:cNvCxnSpPr/>
          <p:nvPr/>
        </p:nvCxnSpPr>
        <p:spPr>
          <a:xfrm flipH="1">
            <a:off x="9048750" y="2641600"/>
            <a:ext cx="31750" cy="0"/>
          </a:xfrm>
          <a:prstGeom prst="line">
            <a:avLst/>
          </a:prstGeom>
          <a:ln w="12700" cap="rnd">
            <a:solidFill>
              <a:srgbClr val="3985CD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gr-4"/>
          <p:cNvCxnSpPr/>
          <p:nvPr/>
        </p:nvCxnSpPr>
        <p:spPr>
          <a:xfrm flipH="1">
            <a:off x="9664700" y="2641600"/>
            <a:ext cx="69850" cy="0"/>
          </a:xfrm>
          <a:prstGeom prst="line">
            <a:avLst/>
          </a:prstGeom>
          <a:ln w="12700" cap="rnd">
            <a:solidFill>
              <a:srgbClr val="54A2D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" name="garr-4"/>
          <p:cNvSpPr/>
          <p:nvPr/>
        </p:nvSpPr>
        <p:spPr>
          <a:xfrm>
            <a:off x="9601200" y="2603500"/>
            <a:ext cx="76200" cy="76200"/>
          </a:xfrm>
          <a:custGeom>
            <a:avLst/>
            <a:gdLst/>
            <a:ahLst/>
            <a:cxnLst/>
            <a:rect l="0" t="0" r="r" b="b"/>
            <a:pathLst>
              <a:path w="76200" h="76200">
                <a:moveTo>
                  <a:pt x="0" y="0"/>
                </a:moveTo>
                <a:lnTo>
                  <a:pt x="76200" y="38100"/>
                </a:lnTo>
                <a:lnTo>
                  <a:pt x="0" y="76200"/>
                </a:lnTo>
              </a:path>
            </a:pathLst>
          </a:custGeom>
          <a:noFill/>
          <a:ln w="13970" cap="rnd">
            <a:solidFill>
              <a:srgbClr val="54A2DF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stage-5"/>
          <p:cNvSpPr/>
          <p:nvPr/>
        </p:nvSpPr>
        <p:spPr>
          <a:xfrm>
            <a:off x="9740900" y="1905000"/>
            <a:ext cx="1498600" cy="1473200"/>
          </a:xfrm>
          <a:custGeom>
            <a:avLst/>
            <a:gdLst/>
            <a:ahLst/>
            <a:cxnLst/>
            <a:rect l="0" t="0" r="r" b="b"/>
            <a:pathLst>
              <a:path w="1498600" h="1473200">
                <a:moveTo>
                  <a:pt x="127000" y="0"/>
                </a:moveTo>
                <a:lnTo>
                  <a:pt x="1371600" y="0"/>
                </a:lnTo>
                <a:cubicBezTo>
                  <a:pt x="1441767" y="0"/>
                  <a:pt x="1498600" y="56832"/>
                  <a:pt x="1498600" y="127000"/>
                </a:cubicBezTo>
                <a:lnTo>
                  <a:pt x="1498600" y="1346200"/>
                </a:lnTo>
                <a:cubicBezTo>
                  <a:pt x="1498600" y="1416367"/>
                  <a:pt x="1441767" y="1473200"/>
                  <a:pt x="1371600" y="1473200"/>
                </a:cubicBezTo>
                <a:lnTo>
                  <a:pt x="127000" y="1473200"/>
                </a:lnTo>
                <a:cubicBezTo>
                  <a:pt x="56833" y="1473200"/>
                  <a:pt x="0" y="1416367"/>
                  <a:pt x="0" y="13462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6FB1E4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sno-5"/>
          <p:cNvSpPr txBox="1"/>
          <p:nvPr/>
        </p:nvSpPr>
        <p:spPr>
          <a:xfrm>
            <a:off x="9880346" y="2051082"/>
            <a:ext cx="23710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75">
                <a:solidFill>
                  <a:srgbClr val="FFFFFF">
                    <a:alpha val="60000"/>
                  </a:srgbClr>
                </a:solidFill>
                <a:latin typeface="Arial"/>
                <a:ea typeface="Arial"/>
                <a:cs typeface="Arial"/>
              </a:rPr>
              <a:t>S5</a:t>
            </a:r>
          </a:p>
        </p:txBody>
      </p:sp>
      <p:sp>
        <p:nvSpPr>
          <p:cNvPr id="68" name="icon-megaphone"/>
          <p:cNvSpPr/>
          <p:nvPr/>
        </p:nvSpPr>
        <p:spPr>
          <a:xfrm>
            <a:off x="10423842" y="2376043"/>
            <a:ext cx="130683" cy="124714"/>
          </a:xfrm>
          <a:custGeom>
            <a:avLst/>
            <a:gdLst/>
            <a:ahLst/>
            <a:cxnLst/>
            <a:rect l="0" t="0" r="r" b="b"/>
            <a:pathLst>
              <a:path w="130683" h="124714">
                <a:moveTo>
                  <a:pt x="0" y="38227"/>
                </a:moveTo>
                <a:lnTo>
                  <a:pt x="0" y="86487"/>
                </a:lnTo>
                <a:lnTo>
                  <a:pt x="30162" y="86487"/>
                </a:lnTo>
                <a:lnTo>
                  <a:pt x="102553" y="124714"/>
                </a:lnTo>
                <a:lnTo>
                  <a:pt x="102553" y="0"/>
                </a:lnTo>
                <a:lnTo>
                  <a:pt x="30162" y="38227"/>
                </a:lnTo>
                <a:close/>
                <a:moveTo>
                  <a:pt x="130683" y="42227"/>
                </a:moveTo>
                <a:lnTo>
                  <a:pt x="130683" y="82487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sn-5"/>
          <p:cNvSpPr txBox="1"/>
          <p:nvPr/>
        </p:nvSpPr>
        <p:spPr>
          <a:xfrm>
            <a:off x="10069512" y="2610644"/>
            <a:ext cx="8413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上市推广</a:t>
            </a:r>
          </a:p>
        </p:txBody>
      </p:sp>
      <p:sp>
        <p:nvSpPr>
          <p:cNvPr id="70" name="sr-5"/>
          <p:cNvSpPr/>
          <p:nvPr/>
        </p:nvSpPr>
        <p:spPr>
          <a:xfrm>
            <a:off x="10325100" y="2921000"/>
            <a:ext cx="330200" cy="1651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sp-5"/>
          <p:cNvSpPr txBox="1"/>
          <p:nvPr/>
        </p:nvSpPr>
        <p:spPr>
          <a:xfrm>
            <a:off x="10007282" y="3031966"/>
            <a:ext cx="9658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20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渠道铺货与市场投放</a:t>
            </a:r>
          </a:p>
        </p:txBody>
      </p:sp>
      <p:sp>
        <p:nvSpPr>
          <p:cNvPr id="72" name="wk-5"/>
          <p:cNvSpPr/>
          <p:nvPr/>
        </p:nvSpPr>
        <p:spPr>
          <a:xfrm>
            <a:off x="10210800" y="3479800"/>
            <a:ext cx="558800" cy="203200"/>
          </a:xfrm>
          <a:custGeom>
            <a:avLst/>
            <a:gdLst/>
            <a:ahLst/>
            <a:cxnLst/>
            <a:rect l="0" t="0" r="r" b="b"/>
            <a:pathLst>
              <a:path w="558800" h="203200">
                <a:moveTo>
                  <a:pt x="101600" y="0"/>
                </a:moveTo>
                <a:lnTo>
                  <a:pt x="457200" y="0"/>
                </a:lnTo>
                <a:cubicBezTo>
                  <a:pt x="513334" y="0"/>
                  <a:pt x="558800" y="45466"/>
                  <a:pt x="558800" y="101600"/>
                </a:cubicBezTo>
                <a:lnTo>
                  <a:pt x="558800" y="101600"/>
                </a:lnTo>
                <a:cubicBezTo>
                  <a:pt x="558800" y="157734"/>
                  <a:pt x="513334" y="203200"/>
                  <a:pt x="4572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54A2D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wkt-5"/>
          <p:cNvSpPr txBox="1"/>
          <p:nvPr/>
        </p:nvSpPr>
        <p:spPr>
          <a:xfrm>
            <a:off x="10352881" y="3499437"/>
            <a:ext cx="27463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30">
                <a:solidFill>
                  <a:srgbClr val="54A2DF"/>
                </a:solidFill>
                <a:latin typeface="微软雅黑"/>
                <a:ea typeface="微软雅黑"/>
                <a:cs typeface="微软雅黑"/>
              </a:rPr>
              <a:t>持续</a:t>
            </a:r>
          </a:p>
        </p:txBody>
      </p:sp>
      <p:sp>
        <p:nvSpPr>
          <p:cNvPr id="74" name="gate-h"/>
          <p:cNvSpPr txBox="1"/>
          <p:nvPr/>
        </p:nvSpPr>
        <p:spPr>
          <a:xfrm>
            <a:off x="941070" y="3882866"/>
            <a:ext cx="18599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关卡放行标准 · GATE CRITERIA</a:t>
            </a:r>
          </a:p>
        </p:txBody>
      </p:sp>
      <p:sp>
        <p:nvSpPr>
          <p:cNvPr id="75" name="gcard-1"/>
          <p:cNvSpPr/>
          <p:nvPr/>
        </p:nvSpPr>
        <p:spPr>
          <a:xfrm>
            <a:off x="952500" y="4127500"/>
            <a:ext cx="2413000" cy="660400"/>
          </a:xfrm>
          <a:custGeom>
            <a:avLst/>
            <a:gdLst/>
            <a:ahLst/>
            <a:cxnLst/>
            <a:rect l="0" t="0" r="r" b="b"/>
            <a:pathLst>
              <a:path w="2413000" h="660400">
                <a:moveTo>
                  <a:pt x="101600" y="0"/>
                </a:moveTo>
                <a:lnTo>
                  <a:pt x="2311400" y="0"/>
                </a:lnTo>
                <a:cubicBezTo>
                  <a:pt x="2367534" y="0"/>
                  <a:pt x="2413000" y="45466"/>
                  <a:pt x="2413000" y="101600"/>
                </a:cubicBezTo>
                <a:lnTo>
                  <a:pt x="2413000" y="558800"/>
                </a:lnTo>
                <a:cubicBezTo>
                  <a:pt x="2413000" y="614934"/>
                  <a:pt x="2367534" y="660400"/>
                  <a:pt x="2311400" y="660400"/>
                </a:cubicBezTo>
                <a:lnTo>
                  <a:pt x="101600" y="660400"/>
                </a:lnTo>
                <a:cubicBezTo>
                  <a:pt x="45466" y="660400"/>
                  <a:pt x="0" y="614934"/>
                  <a:pt x="0" y="558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gcardb-1"/>
          <p:cNvSpPr/>
          <p:nvPr/>
        </p:nvSpPr>
        <p:spPr>
          <a:xfrm>
            <a:off x="952500" y="4127500"/>
            <a:ext cx="31750" cy="660400"/>
          </a:xfrm>
          <a:custGeom>
            <a:avLst/>
            <a:gdLst/>
            <a:ahLst/>
            <a:cxnLst/>
            <a:rect l="0" t="0" r="r" b="b"/>
            <a:pathLst>
              <a:path w="31750" h="6604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644525"/>
                </a:lnTo>
                <a:cubicBezTo>
                  <a:pt x="31750" y="653288"/>
                  <a:pt x="24638" y="660400"/>
                  <a:pt x="15875" y="660400"/>
                </a:cubicBezTo>
                <a:lnTo>
                  <a:pt x="15875" y="660400"/>
                </a:lnTo>
                <a:cubicBezTo>
                  <a:pt x="7112" y="660400"/>
                  <a:pt x="0" y="653288"/>
                  <a:pt x="0" y="6445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gcn-1"/>
          <p:cNvSpPr txBox="1"/>
          <p:nvPr/>
        </p:nvSpPr>
        <p:spPr>
          <a:xfrm>
            <a:off x="1127760" y="4224655"/>
            <a:ext cx="2692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E0703A"/>
                </a:solidFill>
                <a:latin typeface="Arial"/>
                <a:ea typeface="Arial"/>
                <a:cs typeface="Arial"/>
              </a:rPr>
              <a:t>G1</a:t>
            </a:r>
          </a:p>
        </p:txBody>
      </p:sp>
      <p:sp>
        <p:nvSpPr>
          <p:cNvPr id="78" name="gct-1"/>
          <p:cNvSpPr txBox="1"/>
          <p:nvPr/>
        </p:nvSpPr>
        <p:spPr>
          <a:xfrm>
            <a:off x="1419860" y="4224655"/>
            <a:ext cx="6604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立项评审</a:t>
            </a:r>
          </a:p>
        </p:txBody>
      </p:sp>
      <p:sp>
        <p:nvSpPr>
          <p:cNvPr id="79" name="gcc-1"/>
          <p:cNvSpPr txBox="1"/>
          <p:nvPr/>
        </p:nvSpPr>
        <p:spPr>
          <a:xfrm>
            <a:off x="1131570" y="4492466"/>
            <a:ext cx="6724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商业价值成立</a:t>
            </a:r>
          </a:p>
        </p:txBody>
      </p:sp>
      <p:sp>
        <p:nvSpPr>
          <p:cNvPr id="80" name="gcr-1"/>
          <p:cNvSpPr txBox="1"/>
          <p:nvPr/>
        </p:nvSpPr>
        <p:spPr>
          <a:xfrm>
            <a:off x="2686558" y="4500308"/>
            <a:ext cx="5372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产品委员会</a:t>
            </a:r>
          </a:p>
        </p:txBody>
      </p:sp>
      <p:sp>
        <p:nvSpPr>
          <p:cNvPr id="81" name="gcard-2"/>
          <p:cNvSpPr/>
          <p:nvPr/>
        </p:nvSpPr>
        <p:spPr>
          <a:xfrm>
            <a:off x="3517900" y="4127500"/>
            <a:ext cx="2413000" cy="660400"/>
          </a:xfrm>
          <a:custGeom>
            <a:avLst/>
            <a:gdLst/>
            <a:ahLst/>
            <a:cxnLst/>
            <a:rect l="0" t="0" r="r" b="b"/>
            <a:pathLst>
              <a:path w="2413000" h="660400">
                <a:moveTo>
                  <a:pt x="101600" y="0"/>
                </a:moveTo>
                <a:lnTo>
                  <a:pt x="2311400" y="0"/>
                </a:lnTo>
                <a:cubicBezTo>
                  <a:pt x="2367534" y="0"/>
                  <a:pt x="2413000" y="45466"/>
                  <a:pt x="2413000" y="101600"/>
                </a:cubicBezTo>
                <a:lnTo>
                  <a:pt x="2413000" y="558800"/>
                </a:lnTo>
                <a:cubicBezTo>
                  <a:pt x="2413000" y="614934"/>
                  <a:pt x="2367534" y="660400"/>
                  <a:pt x="2311400" y="660400"/>
                </a:cubicBezTo>
                <a:lnTo>
                  <a:pt x="101600" y="660400"/>
                </a:lnTo>
                <a:cubicBezTo>
                  <a:pt x="45466" y="660400"/>
                  <a:pt x="0" y="614934"/>
                  <a:pt x="0" y="558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gcardb-2"/>
          <p:cNvSpPr/>
          <p:nvPr/>
        </p:nvSpPr>
        <p:spPr>
          <a:xfrm>
            <a:off x="3517900" y="4127500"/>
            <a:ext cx="31750" cy="660400"/>
          </a:xfrm>
          <a:custGeom>
            <a:avLst/>
            <a:gdLst/>
            <a:ahLst/>
            <a:cxnLst/>
            <a:rect l="0" t="0" r="r" b="b"/>
            <a:pathLst>
              <a:path w="31750" h="6604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644525"/>
                </a:lnTo>
                <a:cubicBezTo>
                  <a:pt x="31750" y="653288"/>
                  <a:pt x="24638" y="660400"/>
                  <a:pt x="15875" y="660400"/>
                </a:cubicBezTo>
                <a:lnTo>
                  <a:pt x="15875" y="660400"/>
                </a:lnTo>
                <a:cubicBezTo>
                  <a:pt x="7112" y="660400"/>
                  <a:pt x="0" y="653288"/>
                  <a:pt x="0" y="6445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gcn-2"/>
          <p:cNvSpPr txBox="1"/>
          <p:nvPr/>
        </p:nvSpPr>
        <p:spPr>
          <a:xfrm>
            <a:off x="3693160" y="4224655"/>
            <a:ext cx="2692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E0703A"/>
                </a:solidFill>
                <a:latin typeface="Arial"/>
                <a:ea typeface="Arial"/>
                <a:cs typeface="Arial"/>
              </a:rPr>
              <a:t>G2</a:t>
            </a:r>
          </a:p>
        </p:txBody>
      </p:sp>
      <p:sp>
        <p:nvSpPr>
          <p:cNvPr id="84" name="gct-2"/>
          <p:cNvSpPr txBox="1"/>
          <p:nvPr/>
        </p:nvSpPr>
        <p:spPr>
          <a:xfrm>
            <a:off x="3985260" y="4224655"/>
            <a:ext cx="6604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设计冻结</a:t>
            </a:r>
          </a:p>
        </p:txBody>
      </p:sp>
      <p:sp>
        <p:nvSpPr>
          <p:cNvPr id="85" name="gcc-2"/>
          <p:cNvSpPr txBox="1"/>
          <p:nvPr/>
        </p:nvSpPr>
        <p:spPr>
          <a:xfrm>
            <a:off x="3696970" y="4492466"/>
            <a:ext cx="700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BOM 成本达标</a:t>
            </a:r>
          </a:p>
        </p:txBody>
      </p:sp>
      <p:sp>
        <p:nvSpPr>
          <p:cNvPr id="86" name="gcr-2"/>
          <p:cNvSpPr txBox="1"/>
          <p:nvPr/>
        </p:nvSpPr>
        <p:spPr>
          <a:xfrm>
            <a:off x="4977638" y="4500308"/>
            <a:ext cx="8115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研发与成本委员会</a:t>
            </a:r>
          </a:p>
        </p:txBody>
      </p:sp>
      <p:sp>
        <p:nvSpPr>
          <p:cNvPr id="87" name="gcard-3"/>
          <p:cNvSpPr/>
          <p:nvPr/>
        </p:nvSpPr>
        <p:spPr>
          <a:xfrm>
            <a:off x="6083300" y="4127500"/>
            <a:ext cx="2413000" cy="660400"/>
          </a:xfrm>
          <a:custGeom>
            <a:avLst/>
            <a:gdLst/>
            <a:ahLst/>
            <a:cxnLst/>
            <a:rect l="0" t="0" r="r" b="b"/>
            <a:pathLst>
              <a:path w="2413000" h="660400">
                <a:moveTo>
                  <a:pt x="101600" y="0"/>
                </a:moveTo>
                <a:lnTo>
                  <a:pt x="2311400" y="0"/>
                </a:lnTo>
                <a:cubicBezTo>
                  <a:pt x="2367534" y="0"/>
                  <a:pt x="2413000" y="45466"/>
                  <a:pt x="2413000" y="101600"/>
                </a:cubicBezTo>
                <a:lnTo>
                  <a:pt x="2413000" y="558800"/>
                </a:lnTo>
                <a:cubicBezTo>
                  <a:pt x="2413000" y="614934"/>
                  <a:pt x="2367534" y="660400"/>
                  <a:pt x="2311400" y="660400"/>
                </a:cubicBezTo>
                <a:lnTo>
                  <a:pt x="101600" y="660400"/>
                </a:lnTo>
                <a:cubicBezTo>
                  <a:pt x="45466" y="660400"/>
                  <a:pt x="0" y="614934"/>
                  <a:pt x="0" y="558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gcardb-3"/>
          <p:cNvSpPr/>
          <p:nvPr/>
        </p:nvSpPr>
        <p:spPr>
          <a:xfrm>
            <a:off x="6083300" y="4127500"/>
            <a:ext cx="31750" cy="660400"/>
          </a:xfrm>
          <a:custGeom>
            <a:avLst/>
            <a:gdLst/>
            <a:ahLst/>
            <a:cxnLst/>
            <a:rect l="0" t="0" r="r" b="b"/>
            <a:pathLst>
              <a:path w="31750" h="6604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644525"/>
                </a:lnTo>
                <a:cubicBezTo>
                  <a:pt x="31750" y="653288"/>
                  <a:pt x="24638" y="660400"/>
                  <a:pt x="15875" y="660400"/>
                </a:cubicBezTo>
                <a:lnTo>
                  <a:pt x="15875" y="660400"/>
                </a:lnTo>
                <a:cubicBezTo>
                  <a:pt x="7112" y="660400"/>
                  <a:pt x="0" y="653288"/>
                  <a:pt x="0" y="6445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gcn-3"/>
          <p:cNvSpPr txBox="1"/>
          <p:nvPr/>
        </p:nvSpPr>
        <p:spPr>
          <a:xfrm>
            <a:off x="6258560" y="4224655"/>
            <a:ext cx="2692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E0703A"/>
                </a:solidFill>
                <a:latin typeface="Arial"/>
                <a:ea typeface="Arial"/>
                <a:cs typeface="Arial"/>
              </a:rPr>
              <a:t>G3</a:t>
            </a:r>
          </a:p>
        </p:txBody>
      </p:sp>
      <p:sp>
        <p:nvSpPr>
          <p:cNvPr id="90" name="gct-3"/>
          <p:cNvSpPr txBox="1"/>
          <p:nvPr/>
        </p:nvSpPr>
        <p:spPr>
          <a:xfrm>
            <a:off x="6550660" y="4224655"/>
            <a:ext cx="6604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试制通过</a:t>
            </a:r>
          </a:p>
        </p:txBody>
      </p:sp>
      <p:sp>
        <p:nvSpPr>
          <p:cNvPr id="91" name="gcc-3"/>
          <p:cNvSpPr txBox="1"/>
          <p:nvPr/>
        </p:nvSpPr>
        <p:spPr>
          <a:xfrm>
            <a:off x="6262370" y="4492466"/>
            <a:ext cx="8261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可靠性 ≥ 1000h</a:t>
            </a:r>
          </a:p>
        </p:txBody>
      </p:sp>
      <p:sp>
        <p:nvSpPr>
          <p:cNvPr id="92" name="gcr-3"/>
          <p:cNvSpPr txBox="1"/>
          <p:nvPr/>
        </p:nvSpPr>
        <p:spPr>
          <a:xfrm>
            <a:off x="7817358" y="4500308"/>
            <a:ext cx="5372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质量委员会</a:t>
            </a:r>
          </a:p>
        </p:txBody>
      </p:sp>
      <p:sp>
        <p:nvSpPr>
          <p:cNvPr id="93" name="gcard-4"/>
          <p:cNvSpPr/>
          <p:nvPr/>
        </p:nvSpPr>
        <p:spPr>
          <a:xfrm>
            <a:off x="8648700" y="4127500"/>
            <a:ext cx="2413000" cy="660400"/>
          </a:xfrm>
          <a:custGeom>
            <a:avLst/>
            <a:gdLst/>
            <a:ahLst/>
            <a:cxnLst/>
            <a:rect l="0" t="0" r="r" b="b"/>
            <a:pathLst>
              <a:path w="2413000" h="660400">
                <a:moveTo>
                  <a:pt x="101600" y="0"/>
                </a:moveTo>
                <a:lnTo>
                  <a:pt x="2311400" y="0"/>
                </a:lnTo>
                <a:cubicBezTo>
                  <a:pt x="2367534" y="0"/>
                  <a:pt x="2413000" y="45466"/>
                  <a:pt x="2413000" y="101600"/>
                </a:cubicBezTo>
                <a:lnTo>
                  <a:pt x="2413000" y="558800"/>
                </a:lnTo>
                <a:cubicBezTo>
                  <a:pt x="2413000" y="614934"/>
                  <a:pt x="2367534" y="660400"/>
                  <a:pt x="2311400" y="660400"/>
                </a:cubicBezTo>
                <a:lnTo>
                  <a:pt x="101600" y="660400"/>
                </a:lnTo>
                <a:cubicBezTo>
                  <a:pt x="45466" y="660400"/>
                  <a:pt x="0" y="614934"/>
                  <a:pt x="0" y="558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gcardb-4"/>
          <p:cNvSpPr/>
          <p:nvPr/>
        </p:nvSpPr>
        <p:spPr>
          <a:xfrm>
            <a:off x="8648700" y="4127500"/>
            <a:ext cx="31750" cy="660400"/>
          </a:xfrm>
          <a:custGeom>
            <a:avLst/>
            <a:gdLst/>
            <a:ahLst/>
            <a:cxnLst/>
            <a:rect l="0" t="0" r="r" b="b"/>
            <a:pathLst>
              <a:path w="31750" h="6604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644525"/>
                </a:lnTo>
                <a:cubicBezTo>
                  <a:pt x="31750" y="653288"/>
                  <a:pt x="24638" y="660400"/>
                  <a:pt x="15875" y="660400"/>
                </a:cubicBezTo>
                <a:lnTo>
                  <a:pt x="15875" y="660400"/>
                </a:lnTo>
                <a:cubicBezTo>
                  <a:pt x="7112" y="660400"/>
                  <a:pt x="0" y="653288"/>
                  <a:pt x="0" y="6445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gcn-4"/>
          <p:cNvSpPr txBox="1"/>
          <p:nvPr/>
        </p:nvSpPr>
        <p:spPr>
          <a:xfrm>
            <a:off x="8823960" y="4224655"/>
            <a:ext cx="2692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E0703A"/>
                </a:solidFill>
                <a:latin typeface="Arial"/>
                <a:ea typeface="Arial"/>
                <a:cs typeface="Arial"/>
              </a:rPr>
              <a:t>G4</a:t>
            </a:r>
          </a:p>
        </p:txBody>
      </p:sp>
      <p:sp>
        <p:nvSpPr>
          <p:cNvPr id="96" name="gct-4"/>
          <p:cNvSpPr txBox="1"/>
          <p:nvPr/>
        </p:nvSpPr>
        <p:spPr>
          <a:xfrm>
            <a:off x="9116060" y="4224655"/>
            <a:ext cx="6604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量产放行</a:t>
            </a:r>
          </a:p>
        </p:txBody>
      </p:sp>
      <p:sp>
        <p:nvSpPr>
          <p:cNvPr id="97" name="gcc-4"/>
          <p:cNvSpPr txBox="1"/>
          <p:nvPr/>
        </p:nvSpPr>
        <p:spPr>
          <a:xfrm>
            <a:off x="8827770" y="4492466"/>
            <a:ext cx="6165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良率 ≥ 97%</a:t>
            </a:r>
          </a:p>
        </p:txBody>
      </p:sp>
      <p:sp>
        <p:nvSpPr>
          <p:cNvPr id="98" name="gcr-4"/>
          <p:cNvSpPr txBox="1"/>
          <p:nvPr/>
        </p:nvSpPr>
        <p:spPr>
          <a:xfrm>
            <a:off x="10291318" y="4500308"/>
            <a:ext cx="62865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制造与供应链</a:t>
            </a:r>
          </a:p>
        </p:txBody>
      </p:sp>
      <p:sp>
        <p:nvSpPr>
          <p:cNvPr id="99" name="sum"/>
          <p:cNvSpPr/>
          <p:nvPr/>
        </p:nvSpPr>
        <p:spPr>
          <a:xfrm>
            <a:off x="952500" y="5143500"/>
            <a:ext cx="10287000" cy="584200"/>
          </a:xfrm>
          <a:custGeom>
            <a:avLst/>
            <a:gdLst/>
            <a:ahLst/>
            <a:cxnLst/>
            <a:rect l="0" t="0" r="r" b="b"/>
            <a:pathLst>
              <a:path w="10287000" h="5842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82600"/>
                </a:lnTo>
                <a:cubicBezTo>
                  <a:pt x="10287000" y="538734"/>
                  <a:pt x="10241534" y="584200"/>
                  <a:pt x="10185400" y="584200"/>
                </a:cubicBezTo>
                <a:lnTo>
                  <a:pt x="101600" y="584200"/>
                </a:lnTo>
                <a:cubicBezTo>
                  <a:pt x="45466" y="584200"/>
                  <a:pt x="0" y="538734"/>
                  <a:pt x="0" y="482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sum-bar"/>
          <p:cNvSpPr/>
          <p:nvPr/>
        </p:nvSpPr>
        <p:spPr>
          <a:xfrm>
            <a:off x="952500" y="5143500"/>
            <a:ext cx="31750" cy="5842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sum-h"/>
          <p:cNvSpPr txBox="1"/>
          <p:nvPr/>
        </p:nvSpPr>
        <p:spPr>
          <a:xfrm>
            <a:off x="1141222" y="52484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关卡机制</a:t>
            </a:r>
          </a:p>
        </p:txBody>
      </p:sp>
      <p:sp>
        <p:nvSpPr>
          <p:cNvPr id="102" name="sum-p"/>
          <p:cNvSpPr txBox="1"/>
          <p:nvPr/>
        </p:nvSpPr>
        <p:spPr>
          <a:xfrm>
            <a:off x="1142365" y="5463461"/>
            <a:ext cx="544226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未通过的项目只有两种结果：补充材料后一次复评，或直接终止并释放资源，不允许带条件进入下一阶段。</a:t>
            </a:r>
          </a:p>
        </p:txBody>
      </p:sp>
      <p:sp>
        <p:nvSpPr>
          <p:cNvPr id="103" name="sv-1"/>
          <p:cNvSpPr txBox="1"/>
          <p:nvPr/>
        </p:nvSpPr>
        <p:spPr>
          <a:xfrm>
            <a:off x="7531354" y="5260086"/>
            <a:ext cx="558292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28 周</a:t>
            </a:r>
          </a:p>
        </p:txBody>
      </p:sp>
      <p:sp>
        <p:nvSpPr>
          <p:cNvPr id="104" name="sl-1"/>
          <p:cNvSpPr txBox="1"/>
          <p:nvPr/>
        </p:nvSpPr>
        <p:spPr>
          <a:xfrm>
            <a:off x="7587615" y="5516308"/>
            <a:ext cx="4457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标准周期</a:t>
            </a:r>
          </a:p>
        </p:txBody>
      </p:sp>
      <p:sp>
        <p:nvSpPr>
          <p:cNvPr id="105" name="sv-2"/>
          <p:cNvSpPr txBox="1"/>
          <p:nvPr/>
        </p:nvSpPr>
        <p:spPr>
          <a:xfrm>
            <a:off x="8904160" y="5260086"/>
            <a:ext cx="225679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4</a:t>
            </a:r>
          </a:p>
        </p:txBody>
      </p:sp>
      <p:sp>
        <p:nvSpPr>
          <p:cNvPr id="106" name="sl-2"/>
          <p:cNvSpPr txBox="1"/>
          <p:nvPr/>
        </p:nvSpPr>
        <p:spPr>
          <a:xfrm>
            <a:off x="8794115" y="5516308"/>
            <a:ext cx="4457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评审关卡</a:t>
            </a:r>
          </a:p>
        </p:txBody>
      </p:sp>
      <p:sp>
        <p:nvSpPr>
          <p:cNvPr id="107" name="sv-3"/>
          <p:cNvSpPr txBox="1"/>
          <p:nvPr/>
        </p:nvSpPr>
        <p:spPr>
          <a:xfrm>
            <a:off x="9988614" y="5260086"/>
            <a:ext cx="469773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 次</a:t>
            </a:r>
          </a:p>
        </p:txBody>
      </p:sp>
      <p:sp>
        <p:nvSpPr>
          <p:cNvPr id="108" name="sl-3"/>
          <p:cNvSpPr txBox="1"/>
          <p:nvPr/>
        </p:nvSpPr>
        <p:spPr>
          <a:xfrm>
            <a:off x="10000615" y="5516308"/>
            <a:ext cx="4457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复评机会</a:t>
            </a:r>
          </a:p>
        </p:txBody>
      </p:sp>
      <p:cxnSp>
        <p:nvCxnSpPr>
          <p:cNvPr id="109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0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阶段门 · 五阶段四关卡</a:t>
            </a:r>
          </a:p>
        </p:txBody>
      </p:sp>
      <p:sp>
        <p:nvSpPr>
          <p:cNvPr id="111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年度经营节奏环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99060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YEAR WHEEL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323199" y="673132"/>
            <a:ext cx="32975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十二个月分四个季度，每季度一个主题、每月一件必须闭环的事</a:t>
            </a:r>
          </a:p>
        </p:txBody>
      </p:sp>
      <p:sp>
        <p:nvSpPr>
          <p:cNvPr id="10" name="q-1"/>
          <p:cNvSpPr/>
          <p:nvPr/>
        </p:nvSpPr>
        <p:spPr>
          <a:xfrm>
            <a:off x="4500436" y="1849333"/>
            <a:ext cx="1905232" cy="1905232"/>
          </a:xfrm>
          <a:custGeom>
            <a:avLst/>
            <a:gdLst/>
            <a:ahLst/>
            <a:cxnLst/>
            <a:rect l="0" t="0" r="r" b="b"/>
            <a:pathLst>
              <a:path w="1905232" h="1905232">
                <a:moveTo>
                  <a:pt x="124714" y="422"/>
                </a:moveTo>
                <a:cubicBezTo>
                  <a:pt x="1069536" y="87251"/>
                  <a:pt x="1817981" y="835696"/>
                  <a:pt x="1904810" y="1780518"/>
                </a:cubicBezTo>
                <a:quadBezTo>
                  <a:pt x="1911985" y="1894564"/>
                  <a:pt x="1797685" y="1896596"/>
                </a:quadBezTo>
                <a:lnTo>
                  <a:pt x="1302322" y="1905232"/>
                </a:lnTo>
                <a:quadBezTo>
                  <a:pt x="1188022" y="1907200"/>
                  <a:pt x="1177862" y="1793408"/>
                </a:quadBezTo>
                <a:cubicBezTo>
                  <a:pt x="1102639" y="1238784"/>
                  <a:pt x="666447" y="802593"/>
                  <a:pt x="111823" y="727370"/>
                </a:cubicBezTo>
                <a:quadBezTo>
                  <a:pt x="-1969" y="717210"/>
                  <a:pt x="0" y="602910"/>
                </a:quadBezTo>
                <a:lnTo>
                  <a:pt x="8636" y="107547"/>
                </a:lnTo>
                <a:quadBezTo>
                  <a:pt x="10668" y="-6753"/>
                  <a:pt x="124714" y="422"/>
                </a:quadBezTo>
                <a:close/>
              </a:path>
            </a:pathLst>
          </a:custGeom>
          <a:gradFill rotWithShape="1">
            <a:gsLst>
              <a:gs pos="0">
                <a:srgbClr val="325DA1"/>
              </a:gs>
              <a:gs pos="100000">
                <a:srgbClr val="0B3E8F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qn-1"/>
          <p:cNvSpPr txBox="1"/>
          <p:nvPr/>
        </p:nvSpPr>
        <p:spPr>
          <a:xfrm>
            <a:off x="5957012" y="1867013"/>
            <a:ext cx="352552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 spc="75">
                <a:solidFill>
                  <a:srgbClr val="0B3E8F"/>
                </a:solidFill>
                <a:latin typeface="Arial"/>
                <a:ea typeface="Arial"/>
                <a:cs typeface="Arial"/>
              </a:rPr>
              <a:t>Q1</a:t>
            </a:r>
          </a:p>
        </p:txBody>
      </p:sp>
      <p:sp>
        <p:nvSpPr>
          <p:cNvPr id="12" name="qt-1"/>
          <p:cNvSpPr txBox="1"/>
          <p:nvPr/>
        </p:nvSpPr>
        <p:spPr>
          <a:xfrm>
            <a:off x="5818646" y="2099709"/>
            <a:ext cx="629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开局定调</a:t>
            </a:r>
          </a:p>
        </p:txBody>
      </p:sp>
      <p:sp>
        <p:nvSpPr>
          <p:cNvPr id="13" name="q-2"/>
          <p:cNvSpPr/>
          <p:nvPr/>
        </p:nvSpPr>
        <p:spPr>
          <a:xfrm>
            <a:off x="4500436" y="3865436"/>
            <a:ext cx="1905232" cy="1905232"/>
          </a:xfrm>
          <a:custGeom>
            <a:avLst/>
            <a:gdLst/>
            <a:ahLst/>
            <a:cxnLst/>
            <a:rect l="0" t="0" r="r" b="b"/>
            <a:pathLst>
              <a:path w="1905232" h="1905232">
                <a:moveTo>
                  <a:pt x="1904810" y="124714"/>
                </a:moveTo>
                <a:cubicBezTo>
                  <a:pt x="1817981" y="1069536"/>
                  <a:pt x="1069536" y="1817981"/>
                  <a:pt x="124714" y="1904810"/>
                </a:cubicBezTo>
                <a:quadBezTo>
                  <a:pt x="10668" y="1911985"/>
                  <a:pt x="8636" y="1797685"/>
                </a:quadBezTo>
                <a:lnTo>
                  <a:pt x="0" y="1302322"/>
                </a:lnTo>
                <a:quadBezTo>
                  <a:pt x="-1969" y="1188022"/>
                  <a:pt x="111824" y="1177862"/>
                </a:quadBezTo>
                <a:cubicBezTo>
                  <a:pt x="666447" y="1102639"/>
                  <a:pt x="1102639" y="666447"/>
                  <a:pt x="1177862" y="111823"/>
                </a:cubicBezTo>
                <a:quadBezTo>
                  <a:pt x="1188022" y="-1969"/>
                  <a:pt x="1302322" y="0"/>
                </a:quadBezTo>
                <a:lnTo>
                  <a:pt x="1797685" y="8636"/>
                </a:lnTo>
                <a:quadBezTo>
                  <a:pt x="1911985" y="10668"/>
                  <a:pt x="1904810" y="124714"/>
                </a:quadBezTo>
                <a:close/>
              </a:path>
            </a:pathLst>
          </a:custGeom>
          <a:gradFill rotWithShape="1">
            <a:gsLst>
              <a:gs pos="0">
                <a:srgbClr val="3F74B6"/>
              </a:gs>
              <a:gs pos="100000">
                <a:srgbClr val="1B5AA8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qn-2"/>
          <p:cNvSpPr txBox="1"/>
          <p:nvPr/>
        </p:nvSpPr>
        <p:spPr>
          <a:xfrm>
            <a:off x="5957012" y="5243590"/>
            <a:ext cx="352552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 spc="75">
                <a:solidFill>
                  <a:srgbClr val="1B5AA8"/>
                </a:solidFill>
                <a:latin typeface="Arial"/>
                <a:ea typeface="Arial"/>
                <a:cs typeface="Arial"/>
              </a:rPr>
              <a:t>Q2</a:t>
            </a:r>
          </a:p>
        </p:txBody>
      </p:sp>
      <p:sp>
        <p:nvSpPr>
          <p:cNvPr id="15" name="qt-2"/>
          <p:cNvSpPr txBox="1"/>
          <p:nvPr/>
        </p:nvSpPr>
        <p:spPr>
          <a:xfrm>
            <a:off x="5818646" y="5476285"/>
            <a:ext cx="629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夯实能力</a:t>
            </a:r>
          </a:p>
        </p:txBody>
      </p:sp>
      <p:sp>
        <p:nvSpPr>
          <p:cNvPr id="16" name="q-3"/>
          <p:cNvSpPr/>
          <p:nvPr/>
        </p:nvSpPr>
        <p:spPr>
          <a:xfrm>
            <a:off x="2484333" y="3865436"/>
            <a:ext cx="1905232" cy="1905232"/>
          </a:xfrm>
          <a:custGeom>
            <a:avLst/>
            <a:gdLst/>
            <a:ahLst/>
            <a:cxnLst/>
            <a:rect l="0" t="0" r="r" b="b"/>
            <a:pathLst>
              <a:path w="1905232" h="1905232">
                <a:moveTo>
                  <a:pt x="1780518" y="1904810"/>
                </a:moveTo>
                <a:cubicBezTo>
                  <a:pt x="835696" y="1817981"/>
                  <a:pt x="87251" y="1069536"/>
                  <a:pt x="422" y="124714"/>
                </a:cubicBezTo>
                <a:quadBezTo>
                  <a:pt x="-6753" y="10668"/>
                  <a:pt x="107547" y="8636"/>
                </a:quadBezTo>
                <a:lnTo>
                  <a:pt x="602910" y="0"/>
                </a:lnTo>
                <a:quadBezTo>
                  <a:pt x="717210" y="-1969"/>
                  <a:pt x="727370" y="111824"/>
                </a:quadBezTo>
                <a:cubicBezTo>
                  <a:pt x="802593" y="666447"/>
                  <a:pt x="1238784" y="1102639"/>
                  <a:pt x="1793408" y="1177862"/>
                </a:cubicBezTo>
                <a:quadBezTo>
                  <a:pt x="1907200" y="1188022"/>
                  <a:pt x="1905232" y="1302322"/>
                </a:quadBezTo>
                <a:lnTo>
                  <a:pt x="1896596" y="1797685"/>
                </a:lnTo>
                <a:quadBezTo>
                  <a:pt x="1894564" y="1911985"/>
                  <a:pt x="1780518" y="1904810"/>
                </a:quadBezTo>
                <a:close/>
              </a:path>
            </a:pathLst>
          </a:custGeom>
          <a:gradFill rotWithShape="1">
            <a:gsLst>
              <a:gs pos="0">
                <a:srgbClr val="5999D5"/>
              </a:gs>
              <a:gs pos="100000">
                <a:srgbClr val="3985CD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qn-3"/>
          <p:cNvSpPr txBox="1"/>
          <p:nvPr/>
        </p:nvSpPr>
        <p:spPr>
          <a:xfrm>
            <a:off x="2580436" y="5243590"/>
            <a:ext cx="352552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 spc="75">
                <a:solidFill>
                  <a:srgbClr val="3985CD"/>
                </a:solidFill>
                <a:latin typeface="Arial"/>
                <a:ea typeface="Arial"/>
                <a:cs typeface="Arial"/>
              </a:rPr>
              <a:t>Q3</a:t>
            </a:r>
          </a:p>
        </p:txBody>
      </p:sp>
      <p:sp>
        <p:nvSpPr>
          <p:cNvPr id="18" name="qt-3"/>
          <p:cNvSpPr txBox="1"/>
          <p:nvPr/>
        </p:nvSpPr>
        <p:spPr>
          <a:xfrm>
            <a:off x="2442069" y="5476285"/>
            <a:ext cx="629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规模冲刺</a:t>
            </a:r>
          </a:p>
        </p:txBody>
      </p:sp>
      <p:sp>
        <p:nvSpPr>
          <p:cNvPr id="19" name="q-4"/>
          <p:cNvSpPr/>
          <p:nvPr/>
        </p:nvSpPr>
        <p:spPr>
          <a:xfrm>
            <a:off x="2484333" y="1849333"/>
            <a:ext cx="1905232" cy="1905232"/>
          </a:xfrm>
          <a:custGeom>
            <a:avLst/>
            <a:gdLst/>
            <a:ahLst/>
            <a:cxnLst/>
            <a:rect l="0" t="0" r="r" b="b"/>
            <a:pathLst>
              <a:path w="1905232" h="1905232">
                <a:moveTo>
                  <a:pt x="422" y="1780518"/>
                </a:moveTo>
                <a:cubicBezTo>
                  <a:pt x="87251" y="835696"/>
                  <a:pt x="835696" y="87251"/>
                  <a:pt x="1780518" y="422"/>
                </a:cubicBezTo>
                <a:quadBezTo>
                  <a:pt x="1894564" y="-6753"/>
                  <a:pt x="1896596" y="107547"/>
                </a:quadBezTo>
                <a:lnTo>
                  <a:pt x="1905232" y="602910"/>
                </a:lnTo>
                <a:quadBezTo>
                  <a:pt x="1907200" y="717210"/>
                  <a:pt x="1793408" y="727370"/>
                </a:quadBezTo>
                <a:cubicBezTo>
                  <a:pt x="1238784" y="802593"/>
                  <a:pt x="802593" y="1238784"/>
                  <a:pt x="727370" y="1793408"/>
                </a:cubicBezTo>
                <a:quadBezTo>
                  <a:pt x="717210" y="1907200"/>
                  <a:pt x="602910" y="1905232"/>
                </a:quadBezTo>
                <a:lnTo>
                  <a:pt x="107547" y="1896596"/>
                </a:lnTo>
                <a:quadBezTo>
                  <a:pt x="-6753" y="1894564"/>
                  <a:pt x="422" y="1780518"/>
                </a:quadBezTo>
                <a:close/>
              </a:path>
            </a:pathLst>
          </a:custGeom>
          <a:gradFill rotWithShape="1">
            <a:gsLst>
              <a:gs pos="0">
                <a:srgbClr val="6FB1E4"/>
              </a:gs>
              <a:gs pos="100000">
                <a:srgbClr val="54A2DF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qn-4"/>
          <p:cNvSpPr txBox="1"/>
          <p:nvPr/>
        </p:nvSpPr>
        <p:spPr>
          <a:xfrm>
            <a:off x="2580436" y="1867013"/>
            <a:ext cx="352552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 spc="75">
                <a:solidFill>
                  <a:srgbClr val="54A2DF"/>
                </a:solidFill>
                <a:latin typeface="Arial"/>
                <a:ea typeface="Arial"/>
                <a:cs typeface="Arial"/>
              </a:rPr>
              <a:t>Q4</a:t>
            </a:r>
          </a:p>
        </p:txBody>
      </p:sp>
      <p:sp>
        <p:nvSpPr>
          <p:cNvPr id="21" name="qt-4"/>
          <p:cNvSpPr txBox="1"/>
          <p:nvPr/>
        </p:nvSpPr>
        <p:spPr>
          <a:xfrm>
            <a:off x="2442069" y="2099709"/>
            <a:ext cx="629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收口复盘</a:t>
            </a:r>
          </a:p>
        </p:txBody>
      </p:sp>
      <p:sp>
        <p:nvSpPr>
          <p:cNvPr id="22" name="mm-1"/>
          <p:cNvSpPr txBox="1"/>
          <p:nvPr/>
        </p:nvSpPr>
        <p:spPr>
          <a:xfrm>
            <a:off x="4713900" y="2059255"/>
            <a:ext cx="30695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4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1月</a:t>
            </a:r>
          </a:p>
        </p:txBody>
      </p:sp>
      <p:sp>
        <p:nvSpPr>
          <p:cNvPr id="23" name="ml-1"/>
          <p:cNvSpPr txBox="1"/>
          <p:nvPr/>
        </p:nvSpPr>
        <p:spPr>
          <a:xfrm>
            <a:off x="4645765" y="2263566"/>
            <a:ext cx="4432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FFFFFF">
                    <a:alpha val="88000"/>
                  </a:srgbClr>
                </a:solidFill>
                <a:latin typeface="微软雅黑"/>
                <a:ea typeface="微软雅黑"/>
                <a:cs typeface="微软雅黑"/>
              </a:rPr>
              <a:t>目标拆解</a:t>
            </a:r>
          </a:p>
        </p:txBody>
      </p:sp>
      <p:cxnSp>
        <p:nvCxnSpPr>
          <p:cNvPr id="24" name="msep-2"/>
          <p:cNvCxnSpPr/>
          <p:nvPr/>
        </p:nvCxnSpPr>
        <p:spPr>
          <a:xfrm flipV="1">
            <a:off x="5086350" y="2138225"/>
            <a:ext cx="323850" cy="560924"/>
          </a:xfrm>
          <a:prstGeom prst="line">
            <a:avLst/>
          </a:prstGeom>
          <a:ln w="8890" cap="rnd">
            <a:solidFill>
              <a:srgbClr val="FFFFF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mm-2"/>
          <p:cNvSpPr txBox="1"/>
          <p:nvPr/>
        </p:nvSpPr>
        <p:spPr>
          <a:xfrm>
            <a:off x="5445483" y="2481634"/>
            <a:ext cx="30695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4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2月</a:t>
            </a:r>
          </a:p>
        </p:txBody>
      </p:sp>
      <p:sp>
        <p:nvSpPr>
          <p:cNvPr id="26" name="ml-2"/>
          <p:cNvSpPr txBox="1"/>
          <p:nvPr/>
        </p:nvSpPr>
        <p:spPr>
          <a:xfrm>
            <a:off x="5377348" y="2685946"/>
            <a:ext cx="4432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FFFFFF">
                    <a:alpha val="88000"/>
                  </a:srgbClr>
                </a:solidFill>
                <a:latin typeface="微软雅黑"/>
                <a:ea typeface="微软雅黑"/>
                <a:cs typeface="微软雅黑"/>
              </a:rPr>
              <a:t>预算落位</a:t>
            </a:r>
          </a:p>
        </p:txBody>
      </p:sp>
      <p:cxnSp>
        <p:nvCxnSpPr>
          <p:cNvPr id="27" name="msep-3"/>
          <p:cNvCxnSpPr/>
          <p:nvPr/>
        </p:nvCxnSpPr>
        <p:spPr>
          <a:xfrm flipV="1">
            <a:off x="5555851" y="2844800"/>
            <a:ext cx="560924" cy="323850"/>
          </a:xfrm>
          <a:prstGeom prst="line">
            <a:avLst/>
          </a:prstGeom>
          <a:ln w="8890" cap="rnd">
            <a:solidFill>
              <a:srgbClr val="FFFFF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mm-3"/>
          <p:cNvSpPr txBox="1"/>
          <p:nvPr/>
        </p:nvSpPr>
        <p:spPr>
          <a:xfrm>
            <a:off x="5867863" y="3213218"/>
            <a:ext cx="30695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4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3月</a:t>
            </a:r>
          </a:p>
        </p:txBody>
      </p:sp>
      <p:sp>
        <p:nvSpPr>
          <p:cNvPr id="29" name="ml-3"/>
          <p:cNvSpPr txBox="1"/>
          <p:nvPr/>
        </p:nvSpPr>
        <p:spPr>
          <a:xfrm>
            <a:off x="5799728" y="3417529"/>
            <a:ext cx="4432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FFFFFF">
                    <a:alpha val="88000"/>
                  </a:srgbClr>
                </a:solidFill>
                <a:latin typeface="微软雅黑"/>
                <a:ea typeface="微软雅黑"/>
                <a:cs typeface="微软雅黑"/>
              </a:rPr>
              <a:t>组织就位</a:t>
            </a:r>
          </a:p>
        </p:txBody>
      </p:sp>
      <p:sp>
        <p:nvSpPr>
          <p:cNvPr id="30" name="mm-4"/>
          <p:cNvSpPr txBox="1"/>
          <p:nvPr/>
        </p:nvSpPr>
        <p:spPr>
          <a:xfrm>
            <a:off x="5867863" y="4057977"/>
            <a:ext cx="30695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4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4月</a:t>
            </a:r>
          </a:p>
        </p:txBody>
      </p:sp>
      <p:sp>
        <p:nvSpPr>
          <p:cNvPr id="31" name="ml-4"/>
          <p:cNvSpPr txBox="1"/>
          <p:nvPr/>
        </p:nvSpPr>
        <p:spPr>
          <a:xfrm>
            <a:off x="5799728" y="4262288"/>
            <a:ext cx="4432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FFFFFF">
                    <a:alpha val="88000"/>
                  </a:srgbClr>
                </a:solidFill>
                <a:latin typeface="微软雅黑"/>
                <a:ea typeface="微软雅黑"/>
                <a:cs typeface="微软雅黑"/>
              </a:rPr>
              <a:t>产品迭代</a:t>
            </a:r>
          </a:p>
        </p:txBody>
      </p:sp>
      <p:cxnSp>
        <p:nvCxnSpPr>
          <p:cNvPr id="32" name="msep-5"/>
          <p:cNvCxnSpPr/>
          <p:nvPr/>
        </p:nvCxnSpPr>
        <p:spPr>
          <a:xfrm>
            <a:off x="5555851" y="4451350"/>
            <a:ext cx="560924" cy="323850"/>
          </a:xfrm>
          <a:prstGeom prst="line">
            <a:avLst/>
          </a:prstGeom>
          <a:ln w="8890" cap="rnd">
            <a:solidFill>
              <a:srgbClr val="FFFFF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mm-5"/>
          <p:cNvSpPr txBox="1"/>
          <p:nvPr/>
        </p:nvSpPr>
        <p:spPr>
          <a:xfrm>
            <a:off x="5445483" y="4789560"/>
            <a:ext cx="30695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4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5月</a:t>
            </a:r>
          </a:p>
        </p:txBody>
      </p:sp>
      <p:sp>
        <p:nvSpPr>
          <p:cNvPr id="34" name="ml-5"/>
          <p:cNvSpPr txBox="1"/>
          <p:nvPr/>
        </p:nvSpPr>
        <p:spPr>
          <a:xfrm>
            <a:off x="5377348" y="4993871"/>
            <a:ext cx="4432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FFFFFF">
                    <a:alpha val="88000"/>
                  </a:srgbClr>
                </a:solidFill>
                <a:latin typeface="微软雅黑"/>
                <a:ea typeface="微软雅黑"/>
                <a:cs typeface="微软雅黑"/>
              </a:rPr>
              <a:t>流程固化</a:t>
            </a:r>
          </a:p>
        </p:txBody>
      </p:sp>
      <p:cxnSp>
        <p:nvCxnSpPr>
          <p:cNvPr id="35" name="msep-6"/>
          <p:cNvCxnSpPr/>
          <p:nvPr/>
        </p:nvCxnSpPr>
        <p:spPr>
          <a:xfrm>
            <a:off x="5086350" y="4920851"/>
            <a:ext cx="323850" cy="560924"/>
          </a:xfrm>
          <a:prstGeom prst="line">
            <a:avLst/>
          </a:prstGeom>
          <a:ln w="8890" cap="rnd">
            <a:solidFill>
              <a:srgbClr val="FFFFF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mm-6"/>
          <p:cNvSpPr txBox="1"/>
          <p:nvPr/>
        </p:nvSpPr>
        <p:spPr>
          <a:xfrm>
            <a:off x="4713900" y="5211940"/>
            <a:ext cx="30695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4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6月</a:t>
            </a:r>
          </a:p>
        </p:txBody>
      </p:sp>
      <p:sp>
        <p:nvSpPr>
          <p:cNvPr id="37" name="ml-6"/>
          <p:cNvSpPr txBox="1"/>
          <p:nvPr/>
        </p:nvSpPr>
        <p:spPr>
          <a:xfrm>
            <a:off x="4645765" y="5416251"/>
            <a:ext cx="4432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FFFFFF">
                    <a:alpha val="88000"/>
                  </a:srgbClr>
                </a:solidFill>
                <a:latin typeface="微软雅黑"/>
                <a:ea typeface="微软雅黑"/>
                <a:cs typeface="微软雅黑"/>
              </a:rPr>
              <a:t>人才补齐</a:t>
            </a:r>
          </a:p>
        </p:txBody>
      </p:sp>
      <p:sp>
        <p:nvSpPr>
          <p:cNvPr id="38" name="mm-7"/>
          <p:cNvSpPr txBox="1"/>
          <p:nvPr/>
        </p:nvSpPr>
        <p:spPr>
          <a:xfrm>
            <a:off x="3869141" y="5211940"/>
            <a:ext cx="30695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4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7月</a:t>
            </a:r>
          </a:p>
        </p:txBody>
      </p:sp>
      <p:sp>
        <p:nvSpPr>
          <p:cNvPr id="39" name="ml-7"/>
          <p:cNvSpPr txBox="1"/>
          <p:nvPr/>
        </p:nvSpPr>
        <p:spPr>
          <a:xfrm>
            <a:off x="3801005" y="5416251"/>
            <a:ext cx="4432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FFFFFF">
                    <a:alpha val="88000"/>
                  </a:srgbClr>
                </a:solidFill>
                <a:latin typeface="微软雅黑"/>
                <a:ea typeface="微软雅黑"/>
                <a:cs typeface="微软雅黑"/>
              </a:rPr>
              <a:t>渠道扩张</a:t>
            </a:r>
          </a:p>
        </p:txBody>
      </p:sp>
      <p:cxnSp>
        <p:nvCxnSpPr>
          <p:cNvPr id="40" name="msep-8"/>
          <p:cNvCxnSpPr/>
          <p:nvPr/>
        </p:nvCxnSpPr>
        <p:spPr>
          <a:xfrm flipH="1">
            <a:off x="3479800" y="4920851"/>
            <a:ext cx="323850" cy="560924"/>
          </a:xfrm>
          <a:prstGeom prst="line">
            <a:avLst/>
          </a:prstGeom>
          <a:ln w="8890" cap="rnd">
            <a:solidFill>
              <a:srgbClr val="FFFFF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mm-8"/>
          <p:cNvSpPr txBox="1"/>
          <p:nvPr/>
        </p:nvSpPr>
        <p:spPr>
          <a:xfrm>
            <a:off x="3137558" y="4789560"/>
            <a:ext cx="30695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4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8月</a:t>
            </a:r>
          </a:p>
        </p:txBody>
      </p:sp>
      <p:sp>
        <p:nvSpPr>
          <p:cNvPr id="42" name="ml-8"/>
          <p:cNvSpPr txBox="1"/>
          <p:nvPr/>
        </p:nvSpPr>
        <p:spPr>
          <a:xfrm>
            <a:off x="3069422" y="4993871"/>
            <a:ext cx="4432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FFFFFF">
                    <a:alpha val="88000"/>
                  </a:srgbClr>
                </a:solidFill>
                <a:latin typeface="微软雅黑"/>
                <a:ea typeface="微软雅黑"/>
                <a:cs typeface="微软雅黑"/>
              </a:rPr>
              <a:t>大促冲刺</a:t>
            </a:r>
          </a:p>
        </p:txBody>
      </p:sp>
      <p:cxnSp>
        <p:nvCxnSpPr>
          <p:cNvPr id="43" name="msep-9"/>
          <p:cNvCxnSpPr/>
          <p:nvPr/>
        </p:nvCxnSpPr>
        <p:spPr>
          <a:xfrm flipH="1">
            <a:off x="2773225" y="4451350"/>
            <a:ext cx="560924" cy="323850"/>
          </a:xfrm>
          <a:prstGeom prst="line">
            <a:avLst/>
          </a:prstGeom>
          <a:ln w="8890" cap="rnd">
            <a:solidFill>
              <a:srgbClr val="FFFFF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mm-9"/>
          <p:cNvSpPr txBox="1"/>
          <p:nvPr/>
        </p:nvSpPr>
        <p:spPr>
          <a:xfrm>
            <a:off x="2715178" y="4057977"/>
            <a:ext cx="30695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4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9月</a:t>
            </a:r>
          </a:p>
        </p:txBody>
      </p:sp>
      <p:sp>
        <p:nvSpPr>
          <p:cNvPr id="45" name="ml-9"/>
          <p:cNvSpPr txBox="1"/>
          <p:nvPr/>
        </p:nvSpPr>
        <p:spPr>
          <a:xfrm>
            <a:off x="2647042" y="4262288"/>
            <a:ext cx="4432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FFFFFF">
                    <a:alpha val="88000"/>
                  </a:srgbClr>
                </a:solidFill>
                <a:latin typeface="微软雅黑"/>
                <a:ea typeface="微软雅黑"/>
                <a:cs typeface="微软雅黑"/>
              </a:rPr>
              <a:t>交付提速</a:t>
            </a:r>
          </a:p>
        </p:txBody>
      </p:sp>
      <p:sp>
        <p:nvSpPr>
          <p:cNvPr id="46" name="mm-10"/>
          <p:cNvSpPr txBox="1"/>
          <p:nvPr/>
        </p:nvSpPr>
        <p:spPr>
          <a:xfrm>
            <a:off x="2678856" y="3213218"/>
            <a:ext cx="37960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4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10月</a:t>
            </a:r>
          </a:p>
        </p:txBody>
      </p:sp>
      <p:sp>
        <p:nvSpPr>
          <p:cNvPr id="47" name="ml-10"/>
          <p:cNvSpPr txBox="1"/>
          <p:nvPr/>
        </p:nvSpPr>
        <p:spPr>
          <a:xfrm>
            <a:off x="2647042" y="3417529"/>
            <a:ext cx="4432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FFFFFF">
                    <a:alpha val="88000"/>
                  </a:srgbClr>
                </a:solidFill>
                <a:latin typeface="微软雅黑"/>
                <a:ea typeface="微软雅黑"/>
                <a:cs typeface="微软雅黑"/>
              </a:rPr>
              <a:t>回款清收</a:t>
            </a:r>
          </a:p>
        </p:txBody>
      </p:sp>
      <p:cxnSp>
        <p:nvCxnSpPr>
          <p:cNvPr id="48" name="msep-11"/>
          <p:cNvCxnSpPr/>
          <p:nvPr/>
        </p:nvCxnSpPr>
        <p:spPr>
          <a:xfrm flipH="1" flipV="1">
            <a:off x="2773225" y="2844800"/>
            <a:ext cx="560924" cy="323850"/>
          </a:xfrm>
          <a:prstGeom prst="line">
            <a:avLst/>
          </a:prstGeom>
          <a:ln w="8890" cap="rnd">
            <a:solidFill>
              <a:srgbClr val="FFFFF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mm-11"/>
          <p:cNvSpPr txBox="1"/>
          <p:nvPr/>
        </p:nvSpPr>
        <p:spPr>
          <a:xfrm>
            <a:off x="3101236" y="2481634"/>
            <a:ext cx="37960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4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11月</a:t>
            </a:r>
          </a:p>
        </p:txBody>
      </p:sp>
      <p:sp>
        <p:nvSpPr>
          <p:cNvPr id="50" name="ml-11"/>
          <p:cNvSpPr txBox="1"/>
          <p:nvPr/>
        </p:nvSpPr>
        <p:spPr>
          <a:xfrm>
            <a:off x="3069422" y="2685946"/>
            <a:ext cx="4432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FFFFFF">
                    <a:alpha val="88000"/>
                  </a:srgbClr>
                </a:solidFill>
                <a:latin typeface="微软雅黑"/>
                <a:ea typeface="微软雅黑"/>
                <a:cs typeface="微软雅黑"/>
              </a:rPr>
              <a:t>年度复盘</a:t>
            </a:r>
          </a:p>
        </p:txBody>
      </p:sp>
      <p:cxnSp>
        <p:nvCxnSpPr>
          <p:cNvPr id="51" name="msep-12"/>
          <p:cNvCxnSpPr/>
          <p:nvPr/>
        </p:nvCxnSpPr>
        <p:spPr>
          <a:xfrm flipH="1" flipV="1">
            <a:off x="3479800" y="2138225"/>
            <a:ext cx="323850" cy="560924"/>
          </a:xfrm>
          <a:prstGeom prst="line">
            <a:avLst/>
          </a:prstGeom>
          <a:ln w="8890" cap="rnd">
            <a:solidFill>
              <a:srgbClr val="FFFFF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mm-12"/>
          <p:cNvSpPr txBox="1"/>
          <p:nvPr/>
        </p:nvSpPr>
        <p:spPr>
          <a:xfrm>
            <a:off x="3832819" y="2059255"/>
            <a:ext cx="37960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4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12月</a:t>
            </a:r>
          </a:p>
        </p:txBody>
      </p:sp>
      <p:sp>
        <p:nvSpPr>
          <p:cNvPr id="53" name="ml-12"/>
          <p:cNvSpPr txBox="1"/>
          <p:nvPr/>
        </p:nvSpPr>
        <p:spPr>
          <a:xfrm>
            <a:off x="3801005" y="2263566"/>
            <a:ext cx="4432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FFFFFF">
                    <a:alpha val="88000"/>
                  </a:srgbClr>
                </a:solidFill>
                <a:latin typeface="微软雅黑"/>
                <a:ea typeface="微软雅黑"/>
                <a:cs typeface="微软雅黑"/>
              </a:rPr>
              <a:t>明年规划</a:t>
            </a:r>
          </a:p>
        </p:txBody>
      </p:sp>
      <p:sp>
        <p:nvSpPr>
          <p:cNvPr id="54" name="core"/>
          <p:cNvSpPr/>
          <p:nvPr/>
        </p:nvSpPr>
        <p:spPr>
          <a:xfrm>
            <a:off x="3302000" y="2667000"/>
            <a:ext cx="2286000" cy="2286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core-ring"/>
          <p:cNvSpPr/>
          <p:nvPr/>
        </p:nvSpPr>
        <p:spPr>
          <a:xfrm>
            <a:off x="3390900" y="2755900"/>
            <a:ext cx="2108200" cy="2108200"/>
          </a:xfrm>
          <a:prstGeom prst="ellipse">
            <a:avLst/>
          </a:prstGeom>
          <a:noFill/>
          <a:ln w="6350" cap="rnd">
            <a:solidFill>
              <a:srgbClr val="0B3E8F">
                <a:alpha val="14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icon-calendar"/>
          <p:cNvSpPr/>
          <p:nvPr/>
        </p:nvSpPr>
        <p:spPr>
          <a:xfrm>
            <a:off x="4370578" y="3395345"/>
            <a:ext cx="148844" cy="160845"/>
          </a:xfrm>
          <a:custGeom>
            <a:avLst/>
            <a:gdLst/>
            <a:ahLst/>
            <a:cxnLst/>
            <a:rect l="0" t="0" r="r" b="b"/>
            <a:pathLst>
              <a:path w="148844" h="160845">
                <a:moveTo>
                  <a:pt x="0" y="28130"/>
                </a:moveTo>
                <a:lnTo>
                  <a:pt x="148844" y="28130"/>
                </a:lnTo>
                <a:lnTo>
                  <a:pt x="148844" y="160845"/>
                </a:lnTo>
                <a:lnTo>
                  <a:pt x="0" y="160845"/>
                </a:lnTo>
                <a:close/>
                <a:moveTo>
                  <a:pt x="0" y="68389"/>
                </a:moveTo>
                <a:lnTo>
                  <a:pt x="148844" y="68389"/>
                </a:lnTo>
                <a:moveTo>
                  <a:pt x="40259" y="0"/>
                </a:moveTo>
                <a:lnTo>
                  <a:pt x="40259" y="40195"/>
                </a:lnTo>
                <a:moveTo>
                  <a:pt x="108585" y="0"/>
                </a:moveTo>
                <a:lnTo>
                  <a:pt x="108585" y="40195"/>
                </a:lnTo>
              </a:path>
            </a:pathLst>
          </a:custGeom>
          <a:noFill/>
          <a:ln w="1333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core-y"/>
          <p:cNvSpPr txBox="1"/>
          <p:nvPr/>
        </p:nvSpPr>
        <p:spPr>
          <a:xfrm>
            <a:off x="3980942" y="3528441"/>
            <a:ext cx="928116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200" b="1" spc="100">
                <a:solidFill>
                  <a:srgbClr val="0B2545"/>
                </a:solidFill>
                <a:latin typeface="Arial"/>
                <a:ea typeface="Arial"/>
                <a:cs typeface="Arial"/>
              </a:rPr>
              <a:t>2026</a:t>
            </a:r>
          </a:p>
        </p:txBody>
      </p:sp>
      <p:sp>
        <p:nvSpPr>
          <p:cNvPr id="58" name="core-t"/>
          <p:cNvSpPr txBox="1"/>
          <p:nvPr/>
        </p:nvSpPr>
        <p:spPr>
          <a:xfrm>
            <a:off x="4117658" y="3940397"/>
            <a:ext cx="6546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25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经营节奏</a:t>
            </a:r>
          </a:p>
        </p:txBody>
      </p:sp>
      <p:sp>
        <p:nvSpPr>
          <p:cNvPr id="59" name="core-p"/>
          <p:cNvSpPr txBox="1"/>
          <p:nvPr/>
        </p:nvSpPr>
        <p:spPr>
          <a:xfrm>
            <a:off x="4067969" y="4191587"/>
            <a:ext cx="75406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每月一件必闭环</a:t>
            </a:r>
          </a:p>
        </p:txBody>
      </p:sp>
      <p:sp>
        <p:nvSpPr>
          <p:cNvPr id="60" name="dir-arrow"/>
          <p:cNvSpPr/>
          <p:nvPr/>
        </p:nvSpPr>
        <p:spPr>
          <a:xfrm>
            <a:off x="4669115" y="1627498"/>
            <a:ext cx="1266960" cy="623989"/>
          </a:xfrm>
          <a:custGeom>
            <a:avLst/>
            <a:gdLst/>
            <a:ahLst/>
            <a:cxnLst/>
            <a:rect l="0" t="0" r="r" b="b"/>
            <a:pathLst>
              <a:path w="1266960" h="623989">
                <a:moveTo>
                  <a:pt x="30774" y="261"/>
                </a:moveTo>
                <a:cubicBezTo>
                  <a:pt x="452101" y="49452"/>
                  <a:pt x="850181" y="219556"/>
                  <a:pt x="1176949" y="490036"/>
                </a:cubicBezTo>
                <a:lnTo>
                  <a:pt x="1205270" y="455810"/>
                </a:lnTo>
                <a:quadBezTo>
                  <a:pt x="1217398" y="441141"/>
                  <a:pt x="1228638" y="477527"/>
                </a:quadBezTo>
                <a:lnTo>
                  <a:pt x="1264388" y="593033"/>
                </a:lnTo>
                <a:quadBezTo>
                  <a:pt x="1275628" y="629419"/>
                  <a:pt x="1238099" y="623069"/>
                </a:quadBezTo>
                <a:lnTo>
                  <a:pt x="1125387" y="604019"/>
                </a:lnTo>
                <a:quadBezTo>
                  <a:pt x="1087858" y="597669"/>
                  <a:pt x="1099987" y="583000"/>
                </a:quadBezTo>
                <a:lnTo>
                  <a:pt x="1128308" y="548774"/>
                </a:lnTo>
                <a:cubicBezTo>
                  <a:pt x="813134" y="287854"/>
                  <a:pt x="429214" y="123670"/>
                  <a:pt x="22836" y="76016"/>
                </a:cubicBezTo>
                <a:quadBezTo>
                  <a:pt x="-2437" y="73222"/>
                  <a:pt x="230" y="47949"/>
                </a:quadBezTo>
                <a:lnTo>
                  <a:pt x="2897" y="22676"/>
                </a:lnTo>
                <a:quadBezTo>
                  <a:pt x="5564" y="-2533"/>
                  <a:pt x="30774" y="261"/>
                </a:quadBezTo>
                <a:close/>
              </a:path>
            </a:pathLst>
          </a:custGeom>
          <a:solidFill>
            <a:srgbClr val="1B5AA8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side-bar"/>
          <p:cNvSpPr/>
          <p:nvPr/>
        </p:nvSpPr>
        <p:spPr>
          <a:xfrm>
            <a:off x="7112000" y="15621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side-h"/>
          <p:cNvSpPr txBox="1"/>
          <p:nvPr/>
        </p:nvSpPr>
        <p:spPr>
          <a:xfrm>
            <a:off x="7270750" y="15692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季度主题</a:t>
            </a:r>
          </a:p>
        </p:txBody>
      </p:sp>
      <p:sp>
        <p:nvSpPr>
          <p:cNvPr id="63" name="side-p"/>
          <p:cNvSpPr txBox="1"/>
          <p:nvPr/>
        </p:nvSpPr>
        <p:spPr>
          <a:xfrm>
            <a:off x="7276465" y="1843961"/>
            <a:ext cx="135032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四个季度的重心与交付物</a:t>
            </a:r>
          </a:p>
        </p:txBody>
      </p:sp>
      <p:sp>
        <p:nvSpPr>
          <p:cNvPr id="64" name="qc-1"/>
          <p:cNvSpPr/>
          <p:nvPr/>
        </p:nvSpPr>
        <p:spPr>
          <a:xfrm>
            <a:off x="7112000" y="2298700"/>
            <a:ext cx="4127500" cy="800100"/>
          </a:xfrm>
          <a:custGeom>
            <a:avLst/>
            <a:gdLst/>
            <a:ahLst/>
            <a:cxnLst/>
            <a:rect l="0" t="0" r="r" b="b"/>
            <a:pathLst>
              <a:path w="4127500" h="800100">
                <a:moveTo>
                  <a:pt x="114300" y="0"/>
                </a:moveTo>
                <a:lnTo>
                  <a:pt x="4013200" y="0"/>
                </a:lnTo>
                <a:cubicBezTo>
                  <a:pt x="4076319" y="0"/>
                  <a:pt x="4127500" y="51181"/>
                  <a:pt x="4127500" y="114300"/>
                </a:cubicBezTo>
                <a:lnTo>
                  <a:pt x="4127500" y="685800"/>
                </a:lnTo>
                <a:cubicBezTo>
                  <a:pt x="4127500" y="748919"/>
                  <a:pt x="4076319" y="800100"/>
                  <a:pt x="4013200" y="800100"/>
                </a:cubicBezTo>
                <a:lnTo>
                  <a:pt x="114300" y="800100"/>
                </a:lnTo>
                <a:cubicBezTo>
                  <a:pt x="51181" y="800100"/>
                  <a:pt x="0" y="748919"/>
                  <a:pt x="0" y="6858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qcb-1"/>
          <p:cNvSpPr/>
          <p:nvPr/>
        </p:nvSpPr>
        <p:spPr>
          <a:xfrm>
            <a:off x="7112000" y="2298700"/>
            <a:ext cx="31750" cy="800100"/>
          </a:xfrm>
          <a:custGeom>
            <a:avLst/>
            <a:gdLst/>
            <a:ahLst/>
            <a:cxnLst/>
            <a:rect l="0" t="0" r="r" b="b"/>
            <a:pathLst>
              <a:path w="31750" h="8001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84225"/>
                </a:lnTo>
                <a:cubicBezTo>
                  <a:pt x="31750" y="792988"/>
                  <a:pt x="24638" y="800100"/>
                  <a:pt x="15875" y="800100"/>
                </a:cubicBezTo>
                <a:lnTo>
                  <a:pt x="15875" y="800100"/>
                </a:lnTo>
                <a:cubicBezTo>
                  <a:pt x="7112" y="800100"/>
                  <a:pt x="0" y="792988"/>
                  <a:pt x="0" y="7842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qcc-1"/>
          <p:cNvSpPr/>
          <p:nvPr/>
        </p:nvSpPr>
        <p:spPr>
          <a:xfrm>
            <a:off x="7277100" y="2514600"/>
            <a:ext cx="355600" cy="355600"/>
          </a:xfrm>
          <a:prstGeom prst="ellipse">
            <a:avLst/>
          </a:pr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qcn-1"/>
          <p:cNvSpPr txBox="1"/>
          <p:nvPr/>
        </p:nvSpPr>
        <p:spPr>
          <a:xfrm>
            <a:off x="7316406" y="2578513"/>
            <a:ext cx="276987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30">
                <a:solidFill>
                  <a:srgbClr val="0B3E8F"/>
                </a:solidFill>
                <a:latin typeface="Arial"/>
                <a:ea typeface="Arial"/>
                <a:cs typeface="Arial"/>
              </a:rPr>
              <a:t>Q1</a:t>
            </a:r>
          </a:p>
        </p:txBody>
      </p:sp>
      <p:sp>
        <p:nvSpPr>
          <p:cNvPr id="68" name="icon-flag"/>
          <p:cNvSpPr/>
          <p:nvPr/>
        </p:nvSpPr>
        <p:spPr>
          <a:xfrm>
            <a:off x="7820025" y="2562542"/>
            <a:ext cx="66040" cy="112839"/>
          </a:xfrm>
          <a:custGeom>
            <a:avLst/>
            <a:gdLst/>
            <a:ahLst/>
            <a:cxnLst/>
            <a:rect l="0" t="0" r="r" b="b"/>
            <a:pathLst>
              <a:path w="66040" h="112839">
                <a:moveTo>
                  <a:pt x="0" y="112839"/>
                </a:moveTo>
                <a:lnTo>
                  <a:pt x="0" y="0"/>
                </a:lnTo>
                <a:moveTo>
                  <a:pt x="0" y="5525"/>
                </a:moveTo>
                <a:lnTo>
                  <a:pt x="66040" y="5525"/>
                </a:lnTo>
                <a:lnTo>
                  <a:pt x="55055" y="27495"/>
                </a:lnTo>
                <a:lnTo>
                  <a:pt x="66040" y="49530"/>
                </a:lnTo>
                <a:lnTo>
                  <a:pt x="0" y="49530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qct-1"/>
          <p:cNvSpPr txBox="1"/>
          <p:nvPr/>
        </p:nvSpPr>
        <p:spPr>
          <a:xfrm>
            <a:off x="8035036" y="2494470"/>
            <a:ext cx="73025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9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开局定调</a:t>
            </a:r>
          </a:p>
        </p:txBody>
      </p:sp>
      <p:sp>
        <p:nvSpPr>
          <p:cNvPr id="70" name="qcp-1"/>
          <p:cNvSpPr txBox="1"/>
          <p:nvPr/>
        </p:nvSpPr>
        <p:spPr>
          <a:xfrm>
            <a:off x="7847965" y="27583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目标拆解与资源就位</a:t>
            </a:r>
          </a:p>
        </p:txBody>
      </p:sp>
      <p:sp>
        <p:nvSpPr>
          <p:cNvPr id="71" name="qcm-1"/>
          <p:cNvSpPr txBox="1"/>
          <p:nvPr/>
        </p:nvSpPr>
        <p:spPr>
          <a:xfrm>
            <a:off x="9771888" y="2785808"/>
            <a:ext cx="135128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目标拆解、预算落位、组织就位</a:t>
            </a:r>
          </a:p>
        </p:txBody>
      </p:sp>
      <p:sp>
        <p:nvSpPr>
          <p:cNvPr id="72" name="qc-2"/>
          <p:cNvSpPr/>
          <p:nvPr/>
        </p:nvSpPr>
        <p:spPr>
          <a:xfrm>
            <a:off x="7112000" y="3225800"/>
            <a:ext cx="4127500" cy="800100"/>
          </a:xfrm>
          <a:custGeom>
            <a:avLst/>
            <a:gdLst/>
            <a:ahLst/>
            <a:cxnLst/>
            <a:rect l="0" t="0" r="r" b="b"/>
            <a:pathLst>
              <a:path w="4127500" h="800100">
                <a:moveTo>
                  <a:pt x="114300" y="0"/>
                </a:moveTo>
                <a:lnTo>
                  <a:pt x="4013200" y="0"/>
                </a:lnTo>
                <a:cubicBezTo>
                  <a:pt x="4076319" y="0"/>
                  <a:pt x="4127500" y="51181"/>
                  <a:pt x="4127500" y="114300"/>
                </a:cubicBezTo>
                <a:lnTo>
                  <a:pt x="4127500" y="685800"/>
                </a:lnTo>
                <a:cubicBezTo>
                  <a:pt x="4127500" y="748919"/>
                  <a:pt x="4076319" y="800100"/>
                  <a:pt x="4013200" y="800100"/>
                </a:cubicBezTo>
                <a:lnTo>
                  <a:pt x="114300" y="800100"/>
                </a:lnTo>
                <a:cubicBezTo>
                  <a:pt x="51181" y="800100"/>
                  <a:pt x="0" y="748919"/>
                  <a:pt x="0" y="6858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qcb-2"/>
          <p:cNvSpPr/>
          <p:nvPr/>
        </p:nvSpPr>
        <p:spPr>
          <a:xfrm>
            <a:off x="7112000" y="3225800"/>
            <a:ext cx="31750" cy="800100"/>
          </a:xfrm>
          <a:custGeom>
            <a:avLst/>
            <a:gdLst/>
            <a:ahLst/>
            <a:cxnLst/>
            <a:rect l="0" t="0" r="r" b="b"/>
            <a:pathLst>
              <a:path w="31750" h="8001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84225"/>
                </a:lnTo>
                <a:cubicBezTo>
                  <a:pt x="31750" y="792988"/>
                  <a:pt x="24638" y="800100"/>
                  <a:pt x="15875" y="800100"/>
                </a:cubicBezTo>
                <a:lnTo>
                  <a:pt x="15875" y="800100"/>
                </a:lnTo>
                <a:cubicBezTo>
                  <a:pt x="7112" y="800100"/>
                  <a:pt x="0" y="792988"/>
                  <a:pt x="0" y="7842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qcc-2"/>
          <p:cNvSpPr/>
          <p:nvPr/>
        </p:nvSpPr>
        <p:spPr>
          <a:xfrm>
            <a:off x="7277100" y="3441700"/>
            <a:ext cx="355600" cy="355600"/>
          </a:xfrm>
          <a:prstGeom prst="ellipse">
            <a:avLst/>
          </a:pr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qcn-2"/>
          <p:cNvSpPr txBox="1"/>
          <p:nvPr/>
        </p:nvSpPr>
        <p:spPr>
          <a:xfrm>
            <a:off x="7316406" y="3505613"/>
            <a:ext cx="276987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30">
                <a:solidFill>
                  <a:srgbClr val="1B5AA8"/>
                </a:solidFill>
                <a:latin typeface="Arial"/>
                <a:ea typeface="Arial"/>
                <a:cs typeface="Arial"/>
              </a:rPr>
              <a:t>Q2</a:t>
            </a:r>
          </a:p>
        </p:txBody>
      </p:sp>
      <p:sp>
        <p:nvSpPr>
          <p:cNvPr id="76" name="icon-tools"/>
          <p:cNvSpPr/>
          <p:nvPr/>
        </p:nvSpPr>
        <p:spPr>
          <a:xfrm>
            <a:off x="7809068" y="3487799"/>
            <a:ext cx="97635" cy="96776"/>
          </a:xfrm>
          <a:custGeom>
            <a:avLst/>
            <a:gdLst/>
            <a:ahLst/>
            <a:cxnLst/>
            <a:rect l="0" t="0" r="r" b="b"/>
            <a:pathLst>
              <a:path w="97635" h="96776">
                <a:moveTo>
                  <a:pt x="17815" y="3240"/>
                </a:moveTo>
                <a:lnTo>
                  <a:pt x="38453" y="23878"/>
                </a:lnTo>
                <a:lnTo>
                  <a:pt x="23340" y="38991"/>
                </a:lnTo>
                <a:lnTo>
                  <a:pt x="2702" y="18353"/>
                </a:lnTo>
                <a:cubicBezTo>
                  <a:pt x="-2251" y="28704"/>
                  <a:pt x="-282" y="41086"/>
                  <a:pt x="7655" y="49341"/>
                </a:cubicBezTo>
                <a:cubicBezTo>
                  <a:pt x="15656" y="57660"/>
                  <a:pt x="27912" y="60073"/>
                  <a:pt x="38453" y="55501"/>
                </a:cubicBezTo>
                <a:lnTo>
                  <a:pt x="79728" y="96776"/>
                </a:lnTo>
                <a:lnTo>
                  <a:pt x="97635" y="78869"/>
                </a:lnTo>
                <a:lnTo>
                  <a:pt x="56360" y="37594"/>
                </a:lnTo>
                <a:cubicBezTo>
                  <a:pt x="60614" y="26862"/>
                  <a:pt x="57693" y="14670"/>
                  <a:pt x="49121" y="6987"/>
                </a:cubicBezTo>
                <a:cubicBezTo>
                  <a:pt x="40485" y="-697"/>
                  <a:pt x="28039" y="-2221"/>
                  <a:pt x="17815" y="3240"/>
                </a:cubicBezTo>
                <a:close/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qct-2"/>
          <p:cNvSpPr txBox="1"/>
          <p:nvPr/>
        </p:nvSpPr>
        <p:spPr>
          <a:xfrm>
            <a:off x="8035036" y="3421571"/>
            <a:ext cx="73025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9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夯实能力</a:t>
            </a:r>
          </a:p>
        </p:txBody>
      </p:sp>
      <p:sp>
        <p:nvSpPr>
          <p:cNvPr id="78" name="qcp-2"/>
          <p:cNvSpPr txBox="1"/>
          <p:nvPr/>
        </p:nvSpPr>
        <p:spPr>
          <a:xfrm>
            <a:off x="7847965" y="36854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产品与交付能力补齐</a:t>
            </a:r>
          </a:p>
        </p:txBody>
      </p:sp>
      <p:sp>
        <p:nvSpPr>
          <p:cNvPr id="79" name="qcm-2"/>
          <p:cNvSpPr txBox="1"/>
          <p:nvPr/>
        </p:nvSpPr>
        <p:spPr>
          <a:xfrm>
            <a:off x="9771888" y="3712908"/>
            <a:ext cx="135128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产品迭代、流程固化、人才补齐</a:t>
            </a:r>
          </a:p>
        </p:txBody>
      </p:sp>
      <p:sp>
        <p:nvSpPr>
          <p:cNvPr id="80" name="qc-3"/>
          <p:cNvSpPr/>
          <p:nvPr/>
        </p:nvSpPr>
        <p:spPr>
          <a:xfrm>
            <a:off x="7112000" y="4152900"/>
            <a:ext cx="4127500" cy="800100"/>
          </a:xfrm>
          <a:custGeom>
            <a:avLst/>
            <a:gdLst/>
            <a:ahLst/>
            <a:cxnLst/>
            <a:rect l="0" t="0" r="r" b="b"/>
            <a:pathLst>
              <a:path w="4127500" h="800100">
                <a:moveTo>
                  <a:pt x="114300" y="0"/>
                </a:moveTo>
                <a:lnTo>
                  <a:pt x="4013200" y="0"/>
                </a:lnTo>
                <a:cubicBezTo>
                  <a:pt x="4076319" y="0"/>
                  <a:pt x="4127500" y="51181"/>
                  <a:pt x="4127500" y="114300"/>
                </a:cubicBezTo>
                <a:lnTo>
                  <a:pt x="4127500" y="685800"/>
                </a:lnTo>
                <a:cubicBezTo>
                  <a:pt x="4127500" y="748919"/>
                  <a:pt x="4076319" y="800100"/>
                  <a:pt x="4013200" y="800100"/>
                </a:cubicBezTo>
                <a:lnTo>
                  <a:pt x="114300" y="800100"/>
                </a:lnTo>
                <a:cubicBezTo>
                  <a:pt x="51181" y="800100"/>
                  <a:pt x="0" y="748919"/>
                  <a:pt x="0" y="6858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qcb-3"/>
          <p:cNvSpPr/>
          <p:nvPr/>
        </p:nvSpPr>
        <p:spPr>
          <a:xfrm>
            <a:off x="7112000" y="4152900"/>
            <a:ext cx="31750" cy="800100"/>
          </a:xfrm>
          <a:custGeom>
            <a:avLst/>
            <a:gdLst/>
            <a:ahLst/>
            <a:cxnLst/>
            <a:rect l="0" t="0" r="r" b="b"/>
            <a:pathLst>
              <a:path w="31750" h="8001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84225"/>
                </a:lnTo>
                <a:cubicBezTo>
                  <a:pt x="31750" y="792988"/>
                  <a:pt x="24638" y="800100"/>
                  <a:pt x="15875" y="800100"/>
                </a:cubicBezTo>
                <a:lnTo>
                  <a:pt x="15875" y="800100"/>
                </a:lnTo>
                <a:cubicBezTo>
                  <a:pt x="7112" y="800100"/>
                  <a:pt x="0" y="792988"/>
                  <a:pt x="0" y="7842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qcc-3"/>
          <p:cNvSpPr/>
          <p:nvPr/>
        </p:nvSpPr>
        <p:spPr>
          <a:xfrm>
            <a:off x="7277100" y="4368800"/>
            <a:ext cx="355600" cy="355600"/>
          </a:xfrm>
          <a:prstGeom prst="ellipse">
            <a:avLst/>
          </a:prstGeom>
          <a:solidFill>
            <a:srgbClr val="3985CD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qcn-3"/>
          <p:cNvSpPr txBox="1"/>
          <p:nvPr/>
        </p:nvSpPr>
        <p:spPr>
          <a:xfrm>
            <a:off x="7316406" y="4432713"/>
            <a:ext cx="276987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30">
                <a:solidFill>
                  <a:srgbClr val="3985CD"/>
                </a:solidFill>
                <a:latin typeface="Arial"/>
                <a:ea typeface="Arial"/>
                <a:cs typeface="Arial"/>
              </a:rPr>
              <a:t>Q3</a:t>
            </a:r>
          </a:p>
        </p:txBody>
      </p:sp>
      <p:sp>
        <p:nvSpPr>
          <p:cNvPr id="84" name="icon-rocket"/>
          <p:cNvSpPr/>
          <p:nvPr/>
        </p:nvSpPr>
        <p:spPr>
          <a:xfrm>
            <a:off x="7815897" y="4409884"/>
            <a:ext cx="90805" cy="114173"/>
          </a:xfrm>
          <a:custGeom>
            <a:avLst/>
            <a:gdLst/>
            <a:ahLst/>
            <a:cxnLst/>
            <a:rect l="0" t="0" r="r" b="b"/>
            <a:pathLst>
              <a:path w="90805" h="114173">
                <a:moveTo>
                  <a:pt x="45403" y="0"/>
                </a:moveTo>
                <a:cubicBezTo>
                  <a:pt x="66040" y="15113"/>
                  <a:pt x="77026" y="38481"/>
                  <a:pt x="77026" y="63246"/>
                </a:cubicBezTo>
                <a:lnTo>
                  <a:pt x="61912" y="88011"/>
                </a:lnTo>
                <a:lnTo>
                  <a:pt x="28893" y="88011"/>
                </a:lnTo>
                <a:lnTo>
                  <a:pt x="13780" y="63246"/>
                </a:lnTo>
                <a:cubicBezTo>
                  <a:pt x="13780" y="38481"/>
                  <a:pt x="24765" y="15113"/>
                  <a:pt x="45403" y="0"/>
                </a:cubicBezTo>
                <a:close/>
                <a:moveTo>
                  <a:pt x="13780" y="82550"/>
                </a:moveTo>
                <a:lnTo>
                  <a:pt x="0" y="114173"/>
                </a:lnTo>
                <a:lnTo>
                  <a:pt x="28893" y="103188"/>
                </a:lnTo>
                <a:moveTo>
                  <a:pt x="77026" y="82550"/>
                </a:moveTo>
                <a:lnTo>
                  <a:pt x="90805" y="114173"/>
                </a:lnTo>
                <a:lnTo>
                  <a:pt x="61912" y="103188"/>
                </a:lnTo>
              </a:path>
            </a:pathLst>
          </a:custGeom>
          <a:noFill/>
          <a:ln w="1270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qct-3"/>
          <p:cNvSpPr txBox="1"/>
          <p:nvPr/>
        </p:nvSpPr>
        <p:spPr>
          <a:xfrm>
            <a:off x="8035036" y="4348670"/>
            <a:ext cx="73025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9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规模冲刺</a:t>
            </a:r>
          </a:p>
        </p:txBody>
      </p:sp>
      <p:sp>
        <p:nvSpPr>
          <p:cNvPr id="86" name="qcp-3"/>
          <p:cNvSpPr txBox="1"/>
          <p:nvPr/>
        </p:nvSpPr>
        <p:spPr>
          <a:xfrm>
            <a:off x="7847965" y="46125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渠道扩张与订单转化</a:t>
            </a:r>
          </a:p>
        </p:txBody>
      </p:sp>
      <p:sp>
        <p:nvSpPr>
          <p:cNvPr id="87" name="qcm-3"/>
          <p:cNvSpPr txBox="1"/>
          <p:nvPr/>
        </p:nvSpPr>
        <p:spPr>
          <a:xfrm>
            <a:off x="9771888" y="4640008"/>
            <a:ext cx="135128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渠道扩张、大促冲刺、交付提速</a:t>
            </a:r>
          </a:p>
        </p:txBody>
      </p:sp>
      <p:sp>
        <p:nvSpPr>
          <p:cNvPr id="88" name="qc-4"/>
          <p:cNvSpPr/>
          <p:nvPr/>
        </p:nvSpPr>
        <p:spPr>
          <a:xfrm>
            <a:off x="7112000" y="5080000"/>
            <a:ext cx="4127500" cy="800100"/>
          </a:xfrm>
          <a:custGeom>
            <a:avLst/>
            <a:gdLst/>
            <a:ahLst/>
            <a:cxnLst/>
            <a:rect l="0" t="0" r="r" b="b"/>
            <a:pathLst>
              <a:path w="4127500" h="800100">
                <a:moveTo>
                  <a:pt x="114300" y="0"/>
                </a:moveTo>
                <a:lnTo>
                  <a:pt x="4013200" y="0"/>
                </a:lnTo>
                <a:cubicBezTo>
                  <a:pt x="4076319" y="0"/>
                  <a:pt x="4127500" y="51181"/>
                  <a:pt x="4127500" y="114300"/>
                </a:cubicBezTo>
                <a:lnTo>
                  <a:pt x="4127500" y="685800"/>
                </a:lnTo>
                <a:cubicBezTo>
                  <a:pt x="4127500" y="748919"/>
                  <a:pt x="4076319" y="800100"/>
                  <a:pt x="4013200" y="800100"/>
                </a:cubicBezTo>
                <a:lnTo>
                  <a:pt x="114300" y="800100"/>
                </a:lnTo>
                <a:cubicBezTo>
                  <a:pt x="51181" y="800100"/>
                  <a:pt x="0" y="748919"/>
                  <a:pt x="0" y="6858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qcb-4"/>
          <p:cNvSpPr/>
          <p:nvPr/>
        </p:nvSpPr>
        <p:spPr>
          <a:xfrm>
            <a:off x="7112000" y="5080000"/>
            <a:ext cx="31750" cy="800100"/>
          </a:xfrm>
          <a:custGeom>
            <a:avLst/>
            <a:gdLst/>
            <a:ahLst/>
            <a:cxnLst/>
            <a:rect l="0" t="0" r="r" b="b"/>
            <a:pathLst>
              <a:path w="31750" h="8001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84225"/>
                </a:lnTo>
                <a:cubicBezTo>
                  <a:pt x="31750" y="792988"/>
                  <a:pt x="24638" y="800100"/>
                  <a:pt x="15875" y="800100"/>
                </a:cubicBezTo>
                <a:lnTo>
                  <a:pt x="15875" y="800100"/>
                </a:lnTo>
                <a:cubicBezTo>
                  <a:pt x="7112" y="800100"/>
                  <a:pt x="0" y="792988"/>
                  <a:pt x="0" y="7842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qcc-4"/>
          <p:cNvSpPr/>
          <p:nvPr/>
        </p:nvSpPr>
        <p:spPr>
          <a:xfrm>
            <a:off x="7277100" y="5295900"/>
            <a:ext cx="355600" cy="355600"/>
          </a:xfrm>
          <a:prstGeom prst="ellipse">
            <a:avLst/>
          </a:prstGeom>
          <a:solidFill>
            <a:srgbClr val="54A2D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qcn-4"/>
          <p:cNvSpPr txBox="1"/>
          <p:nvPr/>
        </p:nvSpPr>
        <p:spPr>
          <a:xfrm>
            <a:off x="7316406" y="5359813"/>
            <a:ext cx="276987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30">
                <a:solidFill>
                  <a:srgbClr val="54A2DF"/>
                </a:solidFill>
                <a:latin typeface="Arial"/>
                <a:ea typeface="Arial"/>
                <a:cs typeface="Arial"/>
              </a:rPr>
              <a:t>Q4</a:t>
            </a:r>
          </a:p>
        </p:txBody>
      </p:sp>
      <p:sp>
        <p:nvSpPr>
          <p:cNvPr id="92" name="icon-check"/>
          <p:cNvSpPr/>
          <p:nvPr/>
        </p:nvSpPr>
        <p:spPr>
          <a:xfrm>
            <a:off x="7817294" y="5367210"/>
            <a:ext cx="88011" cy="61912"/>
          </a:xfrm>
          <a:custGeom>
            <a:avLst/>
            <a:gdLst/>
            <a:ahLst/>
            <a:cxnLst/>
            <a:rect l="0" t="0" r="r" b="b"/>
            <a:pathLst>
              <a:path w="88011" h="61912">
                <a:moveTo>
                  <a:pt x="0" y="33020"/>
                </a:moveTo>
                <a:lnTo>
                  <a:pt x="28892" y="61912"/>
                </a:lnTo>
                <a:lnTo>
                  <a:pt x="88011" y="0"/>
                </a:lnTo>
              </a:path>
            </a:pathLst>
          </a:custGeom>
          <a:noFill/>
          <a:ln w="1270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qct-4"/>
          <p:cNvSpPr txBox="1"/>
          <p:nvPr/>
        </p:nvSpPr>
        <p:spPr>
          <a:xfrm>
            <a:off x="8035036" y="5275770"/>
            <a:ext cx="73025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9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收口复盘</a:t>
            </a:r>
          </a:p>
        </p:txBody>
      </p:sp>
      <p:sp>
        <p:nvSpPr>
          <p:cNvPr id="94" name="qcp-4"/>
          <p:cNvSpPr txBox="1"/>
          <p:nvPr/>
        </p:nvSpPr>
        <p:spPr>
          <a:xfrm>
            <a:off x="7847965" y="5539661"/>
            <a:ext cx="12366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回款、复盘与下年规划</a:t>
            </a:r>
          </a:p>
        </p:txBody>
      </p:sp>
      <p:sp>
        <p:nvSpPr>
          <p:cNvPr id="95" name="qcm-4"/>
          <p:cNvSpPr txBox="1"/>
          <p:nvPr/>
        </p:nvSpPr>
        <p:spPr>
          <a:xfrm>
            <a:off x="9771888" y="5567108"/>
            <a:ext cx="135128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回款清收、年度复盘、明年规划</a:t>
            </a:r>
          </a:p>
        </p:txBody>
      </p:sp>
      <p:sp>
        <p:nvSpPr>
          <p:cNvPr id="96" name="sum"/>
          <p:cNvSpPr/>
          <p:nvPr/>
        </p:nvSpPr>
        <p:spPr>
          <a:xfrm>
            <a:off x="952500" y="5969000"/>
            <a:ext cx="10287000" cy="368300"/>
          </a:xfrm>
          <a:custGeom>
            <a:avLst/>
            <a:gdLst/>
            <a:ahLst/>
            <a:cxnLst/>
            <a:rect l="0" t="0" r="r" b="b"/>
            <a:pathLst>
              <a:path w="10287000" h="3683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279400"/>
                </a:lnTo>
                <a:cubicBezTo>
                  <a:pt x="10287000" y="328486"/>
                  <a:pt x="10247186" y="368300"/>
                  <a:pt x="10198100" y="368300"/>
                </a:cubicBezTo>
                <a:lnTo>
                  <a:pt x="88900" y="368300"/>
                </a:lnTo>
                <a:cubicBezTo>
                  <a:pt x="39815" y="368300"/>
                  <a:pt x="0" y="328486"/>
                  <a:pt x="0" y="2794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sum-bar"/>
          <p:cNvSpPr/>
          <p:nvPr/>
        </p:nvSpPr>
        <p:spPr>
          <a:xfrm>
            <a:off x="952500" y="5969000"/>
            <a:ext cx="31750" cy="3683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sum-h"/>
          <p:cNvSpPr txBox="1"/>
          <p:nvPr/>
        </p:nvSpPr>
        <p:spPr>
          <a:xfrm>
            <a:off x="1142746" y="60642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节奏纪律</a:t>
            </a:r>
          </a:p>
        </p:txBody>
      </p:sp>
      <p:sp>
        <p:nvSpPr>
          <p:cNvPr id="99" name="sum-p"/>
          <p:cNvSpPr txBox="1"/>
          <p:nvPr/>
        </p:nvSpPr>
        <p:spPr>
          <a:xfrm>
            <a:off x="1891665" y="6060361"/>
            <a:ext cx="41919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每月最后一个周五做闭环确认，未闭环事项自动进入下月首位，不做顺延式积压。</a:t>
            </a:r>
          </a:p>
        </p:txBody>
      </p:sp>
      <p:cxnSp>
        <p:nvCxnSpPr>
          <p:cNvPr id="100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1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年度节奏 · 四季十二月</a:t>
            </a:r>
          </a:p>
        </p:txBody>
      </p:sp>
      <p:sp>
        <p:nvSpPr>
          <p:cNvPr id="102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获客与留存双漏斗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2637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DOUBLE FUNNEL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894699" y="673132"/>
            <a:ext cx="27260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左漏斗把线索收成客户，右漏斗把客户养成长期收入</a:t>
            </a:r>
          </a:p>
        </p:txBody>
      </p:sp>
      <p:sp>
        <p:nvSpPr>
          <p:cNvPr id="10" name="fh-1"/>
          <p:cNvSpPr txBox="1"/>
          <p:nvPr/>
        </p:nvSpPr>
        <p:spPr>
          <a:xfrm>
            <a:off x="2361882" y="1469866"/>
            <a:ext cx="14992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获客漏斗 · ACQUISITION</a:t>
            </a:r>
          </a:p>
        </p:txBody>
      </p:sp>
      <p:sp>
        <p:nvSpPr>
          <p:cNvPr id="11" name="f-1-1"/>
          <p:cNvSpPr/>
          <p:nvPr/>
        </p:nvSpPr>
        <p:spPr>
          <a:xfrm>
            <a:off x="1168094" y="1841500"/>
            <a:ext cx="3886811" cy="711200"/>
          </a:xfrm>
          <a:custGeom>
            <a:avLst/>
            <a:gdLst/>
            <a:ahLst/>
            <a:cxnLst/>
            <a:rect l="0" t="0" r="r" b="b"/>
            <a:pathLst>
              <a:path w="3886811" h="711200">
                <a:moveTo>
                  <a:pt x="9640" y="81851"/>
                </a:moveTo>
                <a:quadBezTo>
                  <a:pt x="-25094" y="0"/>
                  <a:pt x="63806" y="0"/>
                </a:quadBezTo>
                <a:lnTo>
                  <a:pt x="3823006" y="0"/>
                </a:lnTo>
                <a:quadBezTo>
                  <a:pt x="3911906" y="0"/>
                  <a:pt x="3877171" y="81851"/>
                </a:quadBezTo>
                <a:lnTo>
                  <a:pt x="3645015" y="629349"/>
                </a:lnTo>
                <a:quadBezTo>
                  <a:pt x="3610281" y="711200"/>
                  <a:pt x="3521381" y="711200"/>
                </a:quadBezTo>
                <a:lnTo>
                  <a:pt x="365431" y="711200"/>
                </a:lnTo>
                <a:quadBezTo>
                  <a:pt x="276531" y="711200"/>
                  <a:pt x="241796" y="629349"/>
                </a:quadBezTo>
                <a:close/>
              </a:path>
            </a:pathLst>
          </a:custGeom>
          <a:gradFill rotWithShape="1">
            <a:gsLst>
              <a:gs pos="0">
                <a:srgbClr val="3761A3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fn-1-1"/>
          <p:cNvSpPr txBox="1"/>
          <p:nvPr/>
        </p:nvSpPr>
        <p:spPr>
          <a:xfrm>
            <a:off x="1643761" y="1986470"/>
            <a:ext cx="7353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曝光触达</a:t>
            </a:r>
          </a:p>
        </p:txBody>
      </p:sp>
      <p:sp>
        <p:nvSpPr>
          <p:cNvPr id="13" name="fp-1-1"/>
          <p:cNvSpPr txBox="1"/>
          <p:nvPr/>
        </p:nvSpPr>
        <p:spPr>
          <a:xfrm>
            <a:off x="1649857" y="2265108"/>
            <a:ext cx="80645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FFFFFF">
                    <a:alpha val="85000"/>
                  </a:srgbClr>
                </a:solidFill>
                <a:latin typeface="微软雅黑"/>
                <a:ea typeface="微软雅黑"/>
                <a:cs typeface="微软雅黑"/>
              </a:rPr>
              <a:t>广告、内容与展会</a:t>
            </a:r>
          </a:p>
        </p:txBody>
      </p:sp>
      <p:sp>
        <p:nvSpPr>
          <p:cNvPr id="14" name="fv-1-1"/>
          <p:cNvSpPr txBox="1"/>
          <p:nvPr/>
        </p:nvSpPr>
        <p:spPr>
          <a:xfrm>
            <a:off x="3871722" y="2023459"/>
            <a:ext cx="749427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3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48,600</a:t>
            </a:r>
          </a:p>
        </p:txBody>
      </p:sp>
      <p:sp>
        <p:nvSpPr>
          <p:cNvPr id="15" name="f-1-2"/>
          <p:cNvSpPr/>
          <p:nvPr/>
        </p:nvSpPr>
        <p:spPr>
          <a:xfrm>
            <a:off x="1469719" y="2667000"/>
            <a:ext cx="3283561" cy="711200"/>
          </a:xfrm>
          <a:custGeom>
            <a:avLst/>
            <a:gdLst/>
            <a:ahLst/>
            <a:cxnLst/>
            <a:rect l="0" t="0" r="r" b="b"/>
            <a:pathLst>
              <a:path w="3283561" h="711200">
                <a:moveTo>
                  <a:pt x="9640" y="81851"/>
                </a:moveTo>
                <a:quadBezTo>
                  <a:pt x="-25094" y="0"/>
                  <a:pt x="63806" y="0"/>
                </a:quadBezTo>
                <a:lnTo>
                  <a:pt x="3219756" y="0"/>
                </a:lnTo>
                <a:quadBezTo>
                  <a:pt x="3308656" y="0"/>
                  <a:pt x="3273921" y="81851"/>
                </a:quadBezTo>
                <a:lnTo>
                  <a:pt x="3041765" y="629349"/>
                </a:lnTo>
                <a:quadBezTo>
                  <a:pt x="3007031" y="711200"/>
                  <a:pt x="2918131" y="711200"/>
                </a:quadBezTo>
                <a:lnTo>
                  <a:pt x="365431" y="711200"/>
                </a:lnTo>
                <a:quadBezTo>
                  <a:pt x="276531" y="711200"/>
                  <a:pt x="241796" y="629349"/>
                </a:quadBezTo>
                <a:close/>
              </a:path>
            </a:pathLst>
          </a:custGeom>
          <a:gradFill rotWithShape="1">
            <a:gsLst>
              <a:gs pos="0">
                <a:srgbClr val="4478B8"/>
              </a:gs>
              <a:gs pos="100000">
                <a:srgbClr val="1B5AA8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fn-1-2"/>
          <p:cNvSpPr txBox="1"/>
          <p:nvPr/>
        </p:nvSpPr>
        <p:spPr>
          <a:xfrm>
            <a:off x="1945386" y="2811970"/>
            <a:ext cx="7353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有效线索</a:t>
            </a:r>
          </a:p>
        </p:txBody>
      </p:sp>
      <p:sp>
        <p:nvSpPr>
          <p:cNvPr id="17" name="fp-1-2"/>
          <p:cNvSpPr txBox="1"/>
          <p:nvPr/>
        </p:nvSpPr>
        <p:spPr>
          <a:xfrm>
            <a:off x="1951482" y="3090608"/>
            <a:ext cx="71564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FFFFFF">
                    <a:alpha val="85000"/>
                  </a:srgbClr>
                </a:solidFill>
                <a:latin typeface="微软雅黑"/>
                <a:ea typeface="微软雅黑"/>
                <a:cs typeface="微软雅黑"/>
              </a:rPr>
              <a:t>留资并通过初筛</a:t>
            </a:r>
          </a:p>
        </p:txBody>
      </p:sp>
      <p:sp>
        <p:nvSpPr>
          <p:cNvPr id="18" name="fv-1-2"/>
          <p:cNvSpPr txBox="1"/>
          <p:nvPr/>
        </p:nvSpPr>
        <p:spPr>
          <a:xfrm>
            <a:off x="3570097" y="2848959"/>
            <a:ext cx="749427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3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12,400</a:t>
            </a:r>
          </a:p>
        </p:txBody>
      </p:sp>
      <p:sp>
        <p:nvSpPr>
          <p:cNvPr id="19" name="fr-1-2"/>
          <p:cNvSpPr/>
          <p:nvPr/>
        </p:nvSpPr>
        <p:spPr>
          <a:xfrm>
            <a:off x="933450" y="2501900"/>
            <a:ext cx="711200" cy="215900"/>
          </a:xfrm>
          <a:custGeom>
            <a:avLst/>
            <a:gdLst/>
            <a:ahLst/>
            <a:cxnLst/>
            <a:rect l="0" t="0" r="r" b="b"/>
            <a:pathLst>
              <a:path w="711200" h="215900">
                <a:moveTo>
                  <a:pt x="107950" y="0"/>
                </a:moveTo>
                <a:lnTo>
                  <a:pt x="603250" y="0"/>
                </a:lnTo>
                <a:cubicBezTo>
                  <a:pt x="662876" y="0"/>
                  <a:pt x="711200" y="48324"/>
                  <a:pt x="711200" y="107950"/>
                </a:cubicBezTo>
                <a:lnTo>
                  <a:pt x="711200" y="107950"/>
                </a:lnTo>
                <a:cubicBezTo>
                  <a:pt x="711200" y="167576"/>
                  <a:pt x="662876" y="215900"/>
                  <a:pt x="603250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frt-1-2"/>
          <p:cNvSpPr txBox="1"/>
          <p:nvPr/>
        </p:nvSpPr>
        <p:spPr>
          <a:xfrm>
            <a:off x="1108075" y="2530316"/>
            <a:ext cx="36195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5">
                <a:solidFill>
                  <a:srgbClr val="1B5AA8"/>
                </a:solidFill>
                <a:latin typeface="Arial"/>
                <a:ea typeface="Arial"/>
                <a:cs typeface="Arial"/>
              </a:rPr>
              <a:t>25.5%</a:t>
            </a:r>
          </a:p>
        </p:txBody>
      </p:sp>
      <p:sp>
        <p:nvSpPr>
          <p:cNvPr id="21" name="f-1-3"/>
          <p:cNvSpPr/>
          <p:nvPr/>
        </p:nvSpPr>
        <p:spPr>
          <a:xfrm>
            <a:off x="1771344" y="3492500"/>
            <a:ext cx="2680311" cy="711200"/>
          </a:xfrm>
          <a:custGeom>
            <a:avLst/>
            <a:gdLst/>
            <a:ahLst/>
            <a:cxnLst/>
            <a:rect l="0" t="0" r="r" b="b"/>
            <a:pathLst>
              <a:path w="2680311" h="711200">
                <a:moveTo>
                  <a:pt x="9640" y="81851"/>
                </a:moveTo>
                <a:quadBezTo>
                  <a:pt x="-25094" y="0"/>
                  <a:pt x="63806" y="0"/>
                </a:quadBezTo>
                <a:lnTo>
                  <a:pt x="2616506" y="0"/>
                </a:lnTo>
                <a:quadBezTo>
                  <a:pt x="2705406" y="0"/>
                  <a:pt x="2670671" y="81851"/>
                </a:quadBezTo>
                <a:lnTo>
                  <a:pt x="2438515" y="629349"/>
                </a:lnTo>
                <a:quadBezTo>
                  <a:pt x="2403781" y="711200"/>
                  <a:pt x="2314881" y="711200"/>
                </a:quadBezTo>
                <a:lnTo>
                  <a:pt x="365431" y="711200"/>
                </a:lnTo>
                <a:quadBezTo>
                  <a:pt x="276531" y="711200"/>
                  <a:pt x="241796" y="629349"/>
                </a:quadBezTo>
                <a:close/>
              </a:path>
            </a:pathLst>
          </a:custGeom>
          <a:gradFill rotWithShape="1">
            <a:gsLst>
              <a:gs pos="0">
                <a:srgbClr val="5D9BD6"/>
              </a:gs>
              <a:gs pos="100000">
                <a:srgbClr val="3985CD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fn-1-3"/>
          <p:cNvSpPr txBox="1"/>
          <p:nvPr/>
        </p:nvSpPr>
        <p:spPr>
          <a:xfrm>
            <a:off x="2247011" y="3637471"/>
            <a:ext cx="7353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商机立项</a:t>
            </a:r>
          </a:p>
        </p:txBody>
      </p:sp>
      <p:sp>
        <p:nvSpPr>
          <p:cNvPr id="23" name="fp-1-3"/>
          <p:cNvSpPr txBox="1"/>
          <p:nvPr/>
        </p:nvSpPr>
        <p:spPr>
          <a:xfrm>
            <a:off x="2253107" y="3916108"/>
            <a:ext cx="71564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FFFFFF">
                    <a:alpha val="85000"/>
                  </a:srgbClr>
                </a:solidFill>
                <a:latin typeface="微软雅黑"/>
                <a:ea typeface="微软雅黑"/>
                <a:cs typeface="微软雅黑"/>
              </a:rPr>
              <a:t>进入方案与报价</a:t>
            </a:r>
          </a:p>
        </p:txBody>
      </p:sp>
      <p:sp>
        <p:nvSpPr>
          <p:cNvPr id="24" name="fv-1-3"/>
          <p:cNvSpPr txBox="1"/>
          <p:nvPr/>
        </p:nvSpPr>
        <p:spPr>
          <a:xfrm>
            <a:off x="3367659" y="3674459"/>
            <a:ext cx="650240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3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3,860</a:t>
            </a:r>
          </a:p>
        </p:txBody>
      </p:sp>
      <p:sp>
        <p:nvSpPr>
          <p:cNvPr id="25" name="fr-1-3"/>
          <p:cNvSpPr/>
          <p:nvPr/>
        </p:nvSpPr>
        <p:spPr>
          <a:xfrm>
            <a:off x="1235075" y="3327400"/>
            <a:ext cx="711200" cy="215900"/>
          </a:xfrm>
          <a:custGeom>
            <a:avLst/>
            <a:gdLst/>
            <a:ahLst/>
            <a:cxnLst/>
            <a:rect l="0" t="0" r="r" b="b"/>
            <a:pathLst>
              <a:path w="711200" h="215900">
                <a:moveTo>
                  <a:pt x="107950" y="0"/>
                </a:moveTo>
                <a:lnTo>
                  <a:pt x="603250" y="0"/>
                </a:lnTo>
                <a:cubicBezTo>
                  <a:pt x="662876" y="0"/>
                  <a:pt x="711200" y="48324"/>
                  <a:pt x="711200" y="107950"/>
                </a:cubicBezTo>
                <a:lnTo>
                  <a:pt x="711200" y="107950"/>
                </a:lnTo>
                <a:cubicBezTo>
                  <a:pt x="711200" y="167576"/>
                  <a:pt x="662876" y="215900"/>
                  <a:pt x="603250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frt-1-3"/>
          <p:cNvSpPr txBox="1"/>
          <p:nvPr/>
        </p:nvSpPr>
        <p:spPr>
          <a:xfrm>
            <a:off x="1409700" y="3355816"/>
            <a:ext cx="36195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5">
                <a:solidFill>
                  <a:srgbClr val="3985CD"/>
                </a:solidFill>
                <a:latin typeface="Arial"/>
                <a:ea typeface="Arial"/>
                <a:cs typeface="Arial"/>
              </a:rPr>
              <a:t>31.1%</a:t>
            </a:r>
          </a:p>
        </p:txBody>
      </p:sp>
      <p:sp>
        <p:nvSpPr>
          <p:cNvPr id="27" name="f-1-4"/>
          <p:cNvSpPr/>
          <p:nvPr/>
        </p:nvSpPr>
        <p:spPr>
          <a:xfrm>
            <a:off x="2072969" y="4318000"/>
            <a:ext cx="2077061" cy="711200"/>
          </a:xfrm>
          <a:custGeom>
            <a:avLst/>
            <a:gdLst/>
            <a:ahLst/>
            <a:cxnLst/>
            <a:rect l="0" t="0" r="r" b="b"/>
            <a:pathLst>
              <a:path w="2077061" h="711200">
                <a:moveTo>
                  <a:pt x="9640" y="81851"/>
                </a:moveTo>
                <a:quadBezTo>
                  <a:pt x="-25094" y="0"/>
                  <a:pt x="63806" y="0"/>
                </a:quadBezTo>
                <a:lnTo>
                  <a:pt x="2013256" y="0"/>
                </a:lnTo>
                <a:quadBezTo>
                  <a:pt x="2102156" y="0"/>
                  <a:pt x="2067421" y="81851"/>
                </a:quadBezTo>
                <a:lnTo>
                  <a:pt x="1835265" y="629349"/>
                </a:lnTo>
                <a:quadBezTo>
                  <a:pt x="1800531" y="711200"/>
                  <a:pt x="1711631" y="711200"/>
                </a:quadBezTo>
                <a:lnTo>
                  <a:pt x="365431" y="711200"/>
                </a:lnTo>
                <a:quadBezTo>
                  <a:pt x="276531" y="711200"/>
                  <a:pt x="241796" y="629349"/>
                </a:quadBezTo>
                <a:close/>
              </a:path>
            </a:pathLst>
          </a:custGeom>
          <a:gradFill rotWithShape="1">
            <a:gsLst>
              <a:gs pos="0">
                <a:srgbClr val="73B3E5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fn-1-4"/>
          <p:cNvSpPr txBox="1"/>
          <p:nvPr/>
        </p:nvSpPr>
        <p:spPr>
          <a:xfrm>
            <a:off x="2548636" y="4462970"/>
            <a:ext cx="7353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成交客户</a:t>
            </a:r>
          </a:p>
        </p:txBody>
      </p:sp>
      <p:sp>
        <p:nvSpPr>
          <p:cNvPr id="29" name="fp-1-4"/>
          <p:cNvSpPr txBox="1"/>
          <p:nvPr/>
        </p:nvSpPr>
        <p:spPr>
          <a:xfrm>
            <a:off x="2554732" y="4741608"/>
            <a:ext cx="80645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FFFFFF">
                    <a:alpha val="85000"/>
                  </a:srgbClr>
                </a:solidFill>
                <a:latin typeface="微软雅黑"/>
                <a:ea typeface="微软雅黑"/>
                <a:cs typeface="微软雅黑"/>
              </a:rPr>
              <a:t>签约并支付预付款</a:t>
            </a:r>
          </a:p>
        </p:txBody>
      </p:sp>
      <p:sp>
        <p:nvSpPr>
          <p:cNvPr id="30" name="fv-1-4"/>
          <p:cNvSpPr txBox="1"/>
          <p:nvPr/>
        </p:nvSpPr>
        <p:spPr>
          <a:xfrm>
            <a:off x="3066034" y="4499959"/>
            <a:ext cx="650240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3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1,286</a:t>
            </a:r>
          </a:p>
        </p:txBody>
      </p:sp>
      <p:sp>
        <p:nvSpPr>
          <p:cNvPr id="31" name="fr-1-4"/>
          <p:cNvSpPr/>
          <p:nvPr/>
        </p:nvSpPr>
        <p:spPr>
          <a:xfrm>
            <a:off x="1536700" y="4152900"/>
            <a:ext cx="711200" cy="215900"/>
          </a:xfrm>
          <a:custGeom>
            <a:avLst/>
            <a:gdLst/>
            <a:ahLst/>
            <a:cxnLst/>
            <a:rect l="0" t="0" r="r" b="b"/>
            <a:pathLst>
              <a:path w="711200" h="215900">
                <a:moveTo>
                  <a:pt x="107950" y="0"/>
                </a:moveTo>
                <a:lnTo>
                  <a:pt x="603250" y="0"/>
                </a:lnTo>
                <a:cubicBezTo>
                  <a:pt x="662876" y="0"/>
                  <a:pt x="711200" y="48324"/>
                  <a:pt x="711200" y="107950"/>
                </a:cubicBezTo>
                <a:lnTo>
                  <a:pt x="711200" y="107950"/>
                </a:lnTo>
                <a:cubicBezTo>
                  <a:pt x="711200" y="167576"/>
                  <a:pt x="662876" y="215900"/>
                  <a:pt x="603250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frt-1-4"/>
          <p:cNvSpPr txBox="1"/>
          <p:nvPr/>
        </p:nvSpPr>
        <p:spPr>
          <a:xfrm>
            <a:off x="1711325" y="4181316"/>
            <a:ext cx="36195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5">
                <a:solidFill>
                  <a:srgbClr val="54A2DF"/>
                </a:solidFill>
                <a:latin typeface="Arial"/>
                <a:ea typeface="Arial"/>
                <a:cs typeface="Arial"/>
              </a:rPr>
              <a:t>33.3%</a:t>
            </a:r>
          </a:p>
        </p:txBody>
      </p:sp>
      <p:sp>
        <p:nvSpPr>
          <p:cNvPr id="33" name="fh-2"/>
          <p:cNvSpPr txBox="1"/>
          <p:nvPr/>
        </p:nvSpPr>
        <p:spPr>
          <a:xfrm>
            <a:off x="7828597" y="1469866"/>
            <a:ext cx="13608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留存漏斗 · RETENTION</a:t>
            </a:r>
          </a:p>
        </p:txBody>
      </p:sp>
      <p:sp>
        <p:nvSpPr>
          <p:cNvPr id="34" name="f-2-1"/>
          <p:cNvSpPr/>
          <p:nvPr/>
        </p:nvSpPr>
        <p:spPr>
          <a:xfrm>
            <a:off x="6565594" y="1841500"/>
            <a:ext cx="3886811" cy="711200"/>
          </a:xfrm>
          <a:custGeom>
            <a:avLst/>
            <a:gdLst/>
            <a:ahLst/>
            <a:cxnLst/>
            <a:rect l="0" t="0" r="r" b="b"/>
            <a:pathLst>
              <a:path w="3886811" h="711200">
                <a:moveTo>
                  <a:pt x="9640" y="81851"/>
                </a:moveTo>
                <a:quadBezTo>
                  <a:pt x="-25094" y="0"/>
                  <a:pt x="63806" y="0"/>
                </a:quadBezTo>
                <a:lnTo>
                  <a:pt x="3823006" y="0"/>
                </a:lnTo>
                <a:quadBezTo>
                  <a:pt x="3911906" y="0"/>
                  <a:pt x="3877171" y="81851"/>
                </a:quadBezTo>
                <a:lnTo>
                  <a:pt x="3645015" y="629349"/>
                </a:lnTo>
                <a:quadBezTo>
                  <a:pt x="3610281" y="711200"/>
                  <a:pt x="3521381" y="711200"/>
                </a:quadBezTo>
                <a:lnTo>
                  <a:pt x="365431" y="711200"/>
                </a:lnTo>
                <a:quadBezTo>
                  <a:pt x="276531" y="711200"/>
                  <a:pt x="241796" y="629349"/>
                </a:quadBezTo>
                <a:close/>
              </a:path>
            </a:pathLst>
          </a:custGeom>
          <a:gradFill rotWithShape="1">
            <a:gsLst>
              <a:gs pos="0">
                <a:srgbClr val="73B3E5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fn-2-1"/>
          <p:cNvSpPr txBox="1"/>
          <p:nvPr/>
        </p:nvSpPr>
        <p:spPr>
          <a:xfrm>
            <a:off x="7041261" y="1986470"/>
            <a:ext cx="7353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首次上线</a:t>
            </a:r>
          </a:p>
        </p:txBody>
      </p:sp>
      <p:sp>
        <p:nvSpPr>
          <p:cNvPr id="36" name="fp-2-1"/>
          <p:cNvSpPr txBox="1"/>
          <p:nvPr/>
        </p:nvSpPr>
        <p:spPr>
          <a:xfrm>
            <a:off x="7047357" y="2265108"/>
            <a:ext cx="71564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FFFFFF">
                    <a:alpha val="85000"/>
                  </a:srgbClr>
                </a:solidFill>
                <a:latin typeface="微软雅黑"/>
                <a:ea typeface="微软雅黑"/>
                <a:cs typeface="微软雅黑"/>
              </a:rPr>
              <a:t>完成实施并验收</a:t>
            </a:r>
          </a:p>
        </p:txBody>
      </p:sp>
      <p:sp>
        <p:nvSpPr>
          <p:cNvPr id="37" name="fv-2-1"/>
          <p:cNvSpPr txBox="1"/>
          <p:nvPr/>
        </p:nvSpPr>
        <p:spPr>
          <a:xfrm>
            <a:off x="9368409" y="2023459"/>
            <a:ext cx="650240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3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1,286</a:t>
            </a:r>
          </a:p>
        </p:txBody>
      </p:sp>
      <p:sp>
        <p:nvSpPr>
          <p:cNvPr id="38" name="f-2-2"/>
          <p:cNvSpPr/>
          <p:nvPr/>
        </p:nvSpPr>
        <p:spPr>
          <a:xfrm>
            <a:off x="6867219" y="2667000"/>
            <a:ext cx="3283561" cy="711200"/>
          </a:xfrm>
          <a:custGeom>
            <a:avLst/>
            <a:gdLst/>
            <a:ahLst/>
            <a:cxnLst/>
            <a:rect l="0" t="0" r="r" b="b"/>
            <a:pathLst>
              <a:path w="3283561" h="711200">
                <a:moveTo>
                  <a:pt x="9640" y="81851"/>
                </a:moveTo>
                <a:quadBezTo>
                  <a:pt x="-25094" y="0"/>
                  <a:pt x="63806" y="0"/>
                </a:quadBezTo>
                <a:lnTo>
                  <a:pt x="3219756" y="0"/>
                </a:lnTo>
                <a:quadBezTo>
                  <a:pt x="3308656" y="0"/>
                  <a:pt x="3273921" y="81851"/>
                </a:quadBezTo>
                <a:lnTo>
                  <a:pt x="3041765" y="629349"/>
                </a:lnTo>
                <a:quadBezTo>
                  <a:pt x="3007031" y="711200"/>
                  <a:pt x="2918131" y="711200"/>
                </a:quadBezTo>
                <a:lnTo>
                  <a:pt x="365431" y="711200"/>
                </a:lnTo>
                <a:quadBezTo>
                  <a:pt x="276531" y="711200"/>
                  <a:pt x="241796" y="629349"/>
                </a:quadBezTo>
                <a:close/>
              </a:path>
            </a:pathLst>
          </a:custGeom>
          <a:gradFill rotWithShape="1">
            <a:gsLst>
              <a:gs pos="0">
                <a:srgbClr val="5D9BD6"/>
              </a:gs>
              <a:gs pos="100000">
                <a:srgbClr val="3985CD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fn-2-2"/>
          <p:cNvSpPr txBox="1"/>
          <p:nvPr/>
        </p:nvSpPr>
        <p:spPr>
          <a:xfrm>
            <a:off x="7342886" y="2811970"/>
            <a:ext cx="7353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稳定使用</a:t>
            </a:r>
          </a:p>
        </p:txBody>
      </p:sp>
      <p:sp>
        <p:nvSpPr>
          <p:cNvPr id="40" name="fp-2-2"/>
          <p:cNvSpPr txBox="1"/>
          <p:nvPr/>
        </p:nvSpPr>
        <p:spPr>
          <a:xfrm>
            <a:off x="7348982" y="3090608"/>
            <a:ext cx="6248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FFFFFF">
                    <a:alpha val="85000"/>
                  </a:srgbClr>
                </a:solidFill>
                <a:latin typeface="微软雅黑"/>
                <a:ea typeface="微软雅黑"/>
                <a:cs typeface="微软雅黑"/>
              </a:rPr>
              <a:t>月活账号达标</a:t>
            </a:r>
          </a:p>
        </p:txBody>
      </p:sp>
      <p:sp>
        <p:nvSpPr>
          <p:cNvPr id="41" name="fv-2-2"/>
          <p:cNvSpPr txBox="1"/>
          <p:nvPr/>
        </p:nvSpPr>
        <p:spPr>
          <a:xfrm>
            <a:off x="9066784" y="2848959"/>
            <a:ext cx="650240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3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1,180</a:t>
            </a:r>
          </a:p>
        </p:txBody>
      </p:sp>
      <p:sp>
        <p:nvSpPr>
          <p:cNvPr id="42" name="fr-2-2"/>
          <p:cNvSpPr/>
          <p:nvPr/>
        </p:nvSpPr>
        <p:spPr>
          <a:xfrm>
            <a:off x="6330950" y="2501900"/>
            <a:ext cx="711200" cy="215900"/>
          </a:xfrm>
          <a:custGeom>
            <a:avLst/>
            <a:gdLst/>
            <a:ahLst/>
            <a:cxnLst/>
            <a:rect l="0" t="0" r="r" b="b"/>
            <a:pathLst>
              <a:path w="711200" h="215900">
                <a:moveTo>
                  <a:pt x="107950" y="0"/>
                </a:moveTo>
                <a:lnTo>
                  <a:pt x="603250" y="0"/>
                </a:lnTo>
                <a:cubicBezTo>
                  <a:pt x="662877" y="0"/>
                  <a:pt x="711200" y="48324"/>
                  <a:pt x="711200" y="107950"/>
                </a:cubicBezTo>
                <a:lnTo>
                  <a:pt x="711200" y="107950"/>
                </a:lnTo>
                <a:cubicBezTo>
                  <a:pt x="711200" y="167576"/>
                  <a:pt x="662877" y="215900"/>
                  <a:pt x="603250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frt-2-2"/>
          <p:cNvSpPr txBox="1"/>
          <p:nvPr/>
        </p:nvSpPr>
        <p:spPr>
          <a:xfrm>
            <a:off x="6505575" y="2530316"/>
            <a:ext cx="36195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5">
                <a:solidFill>
                  <a:srgbClr val="3985CD"/>
                </a:solidFill>
                <a:latin typeface="Arial"/>
                <a:ea typeface="Arial"/>
                <a:cs typeface="Arial"/>
              </a:rPr>
              <a:t>91.8%</a:t>
            </a:r>
          </a:p>
        </p:txBody>
      </p:sp>
      <p:sp>
        <p:nvSpPr>
          <p:cNvPr id="44" name="f-2-3"/>
          <p:cNvSpPr/>
          <p:nvPr/>
        </p:nvSpPr>
        <p:spPr>
          <a:xfrm>
            <a:off x="7168844" y="3492500"/>
            <a:ext cx="2680311" cy="711200"/>
          </a:xfrm>
          <a:custGeom>
            <a:avLst/>
            <a:gdLst/>
            <a:ahLst/>
            <a:cxnLst/>
            <a:rect l="0" t="0" r="r" b="b"/>
            <a:pathLst>
              <a:path w="2680311" h="711200">
                <a:moveTo>
                  <a:pt x="9640" y="81851"/>
                </a:moveTo>
                <a:quadBezTo>
                  <a:pt x="-25094" y="0"/>
                  <a:pt x="63806" y="0"/>
                </a:quadBezTo>
                <a:lnTo>
                  <a:pt x="2616506" y="0"/>
                </a:lnTo>
                <a:quadBezTo>
                  <a:pt x="2705406" y="0"/>
                  <a:pt x="2670671" y="81851"/>
                </a:quadBezTo>
                <a:lnTo>
                  <a:pt x="2438515" y="629349"/>
                </a:lnTo>
                <a:quadBezTo>
                  <a:pt x="2403781" y="711200"/>
                  <a:pt x="2314881" y="711200"/>
                </a:quadBezTo>
                <a:lnTo>
                  <a:pt x="365431" y="711200"/>
                </a:lnTo>
                <a:quadBezTo>
                  <a:pt x="276531" y="711200"/>
                  <a:pt x="241796" y="629349"/>
                </a:quadBezTo>
                <a:close/>
              </a:path>
            </a:pathLst>
          </a:custGeom>
          <a:gradFill rotWithShape="1">
            <a:gsLst>
              <a:gs pos="0">
                <a:srgbClr val="4478B8"/>
              </a:gs>
              <a:gs pos="100000">
                <a:srgbClr val="1B5AA8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fn-2-3"/>
          <p:cNvSpPr txBox="1"/>
          <p:nvPr/>
        </p:nvSpPr>
        <p:spPr>
          <a:xfrm>
            <a:off x="7644511" y="3637471"/>
            <a:ext cx="7353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增购扩容</a:t>
            </a:r>
          </a:p>
        </p:txBody>
      </p:sp>
      <p:sp>
        <p:nvSpPr>
          <p:cNvPr id="46" name="fp-2-3"/>
          <p:cNvSpPr txBox="1"/>
          <p:nvPr/>
        </p:nvSpPr>
        <p:spPr>
          <a:xfrm>
            <a:off x="7650607" y="3916108"/>
            <a:ext cx="71564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FFFFFF">
                    <a:alpha val="85000"/>
                  </a:srgbClr>
                </a:solidFill>
                <a:latin typeface="微软雅黑"/>
                <a:ea typeface="微软雅黑"/>
                <a:cs typeface="微软雅黑"/>
              </a:rPr>
              <a:t>新增模块或席位</a:t>
            </a:r>
          </a:p>
        </p:txBody>
      </p:sp>
      <p:sp>
        <p:nvSpPr>
          <p:cNvPr id="47" name="fv-2-3"/>
          <p:cNvSpPr txBox="1"/>
          <p:nvPr/>
        </p:nvSpPr>
        <p:spPr>
          <a:xfrm>
            <a:off x="8963533" y="36744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3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486</a:t>
            </a:r>
          </a:p>
        </p:txBody>
      </p:sp>
      <p:sp>
        <p:nvSpPr>
          <p:cNvPr id="48" name="fr-2-3"/>
          <p:cNvSpPr/>
          <p:nvPr/>
        </p:nvSpPr>
        <p:spPr>
          <a:xfrm>
            <a:off x="6632575" y="3327400"/>
            <a:ext cx="711200" cy="215900"/>
          </a:xfrm>
          <a:custGeom>
            <a:avLst/>
            <a:gdLst/>
            <a:ahLst/>
            <a:cxnLst/>
            <a:rect l="0" t="0" r="r" b="b"/>
            <a:pathLst>
              <a:path w="711200" h="215900">
                <a:moveTo>
                  <a:pt x="107950" y="0"/>
                </a:moveTo>
                <a:lnTo>
                  <a:pt x="603250" y="0"/>
                </a:lnTo>
                <a:cubicBezTo>
                  <a:pt x="662877" y="0"/>
                  <a:pt x="711200" y="48324"/>
                  <a:pt x="711200" y="107950"/>
                </a:cubicBezTo>
                <a:lnTo>
                  <a:pt x="711200" y="107950"/>
                </a:lnTo>
                <a:cubicBezTo>
                  <a:pt x="711200" y="167576"/>
                  <a:pt x="662877" y="215900"/>
                  <a:pt x="6032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frt-2-3"/>
          <p:cNvSpPr txBox="1"/>
          <p:nvPr/>
        </p:nvSpPr>
        <p:spPr>
          <a:xfrm>
            <a:off x="6807200" y="3355816"/>
            <a:ext cx="36195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5">
                <a:solidFill>
                  <a:srgbClr val="1B5AA8"/>
                </a:solidFill>
                <a:latin typeface="Arial"/>
                <a:ea typeface="Arial"/>
                <a:cs typeface="Arial"/>
              </a:rPr>
              <a:t>37.8%</a:t>
            </a:r>
          </a:p>
        </p:txBody>
      </p:sp>
      <p:sp>
        <p:nvSpPr>
          <p:cNvPr id="50" name="f-2-4"/>
          <p:cNvSpPr/>
          <p:nvPr/>
        </p:nvSpPr>
        <p:spPr>
          <a:xfrm>
            <a:off x="7470469" y="4318000"/>
            <a:ext cx="2077061" cy="711200"/>
          </a:xfrm>
          <a:custGeom>
            <a:avLst/>
            <a:gdLst/>
            <a:ahLst/>
            <a:cxnLst/>
            <a:rect l="0" t="0" r="r" b="b"/>
            <a:pathLst>
              <a:path w="2077061" h="711200">
                <a:moveTo>
                  <a:pt x="9640" y="81851"/>
                </a:moveTo>
                <a:quadBezTo>
                  <a:pt x="-25094" y="0"/>
                  <a:pt x="63806" y="0"/>
                </a:quadBezTo>
                <a:lnTo>
                  <a:pt x="2013256" y="0"/>
                </a:lnTo>
                <a:quadBezTo>
                  <a:pt x="2102156" y="0"/>
                  <a:pt x="2067421" y="81851"/>
                </a:quadBezTo>
                <a:lnTo>
                  <a:pt x="1835265" y="629349"/>
                </a:lnTo>
                <a:quadBezTo>
                  <a:pt x="1800531" y="711200"/>
                  <a:pt x="1711631" y="711200"/>
                </a:quadBezTo>
                <a:lnTo>
                  <a:pt x="365431" y="711200"/>
                </a:lnTo>
                <a:quadBezTo>
                  <a:pt x="276531" y="711200"/>
                  <a:pt x="241796" y="629349"/>
                </a:quadBezTo>
                <a:close/>
              </a:path>
            </a:pathLst>
          </a:custGeom>
          <a:gradFill rotWithShape="1">
            <a:gsLst>
              <a:gs pos="0">
                <a:srgbClr val="3761A3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fn-2-4"/>
          <p:cNvSpPr txBox="1"/>
          <p:nvPr/>
        </p:nvSpPr>
        <p:spPr>
          <a:xfrm>
            <a:off x="7946136" y="4462970"/>
            <a:ext cx="7353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续约复购</a:t>
            </a:r>
          </a:p>
        </p:txBody>
      </p:sp>
      <p:sp>
        <p:nvSpPr>
          <p:cNvPr id="52" name="fp-2-4"/>
          <p:cNvSpPr txBox="1"/>
          <p:nvPr/>
        </p:nvSpPr>
        <p:spPr>
          <a:xfrm>
            <a:off x="7952232" y="4741608"/>
            <a:ext cx="4432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FFFFFF">
                    <a:alpha val="85000"/>
                  </a:srgbClr>
                </a:solidFill>
                <a:latin typeface="微软雅黑"/>
                <a:ea typeface="微软雅黑"/>
                <a:cs typeface="微软雅黑"/>
              </a:rPr>
              <a:t>次年续签</a:t>
            </a:r>
          </a:p>
        </p:txBody>
      </p:sp>
      <p:sp>
        <p:nvSpPr>
          <p:cNvPr id="53" name="fv-2-4"/>
          <p:cNvSpPr txBox="1"/>
          <p:nvPr/>
        </p:nvSpPr>
        <p:spPr>
          <a:xfrm>
            <a:off x="8463534" y="4499959"/>
            <a:ext cx="650240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3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1,240</a:t>
            </a:r>
          </a:p>
        </p:txBody>
      </p:sp>
      <p:sp>
        <p:nvSpPr>
          <p:cNvPr id="54" name="fr-2-4"/>
          <p:cNvSpPr/>
          <p:nvPr/>
        </p:nvSpPr>
        <p:spPr>
          <a:xfrm>
            <a:off x="6934200" y="4152900"/>
            <a:ext cx="711200" cy="215900"/>
          </a:xfrm>
          <a:custGeom>
            <a:avLst/>
            <a:gdLst/>
            <a:ahLst/>
            <a:cxnLst/>
            <a:rect l="0" t="0" r="r" b="b"/>
            <a:pathLst>
              <a:path w="711200" h="215900">
                <a:moveTo>
                  <a:pt x="107950" y="0"/>
                </a:moveTo>
                <a:lnTo>
                  <a:pt x="603250" y="0"/>
                </a:lnTo>
                <a:cubicBezTo>
                  <a:pt x="662877" y="0"/>
                  <a:pt x="711200" y="48324"/>
                  <a:pt x="711200" y="107950"/>
                </a:cubicBezTo>
                <a:lnTo>
                  <a:pt x="711200" y="107950"/>
                </a:lnTo>
                <a:cubicBezTo>
                  <a:pt x="711200" y="167576"/>
                  <a:pt x="662877" y="215900"/>
                  <a:pt x="6032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frt-2-4"/>
          <p:cNvSpPr txBox="1"/>
          <p:nvPr/>
        </p:nvSpPr>
        <p:spPr>
          <a:xfrm>
            <a:off x="7108825" y="4181316"/>
            <a:ext cx="36195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96.4%</a:t>
            </a:r>
          </a:p>
        </p:txBody>
      </p:sp>
      <p:sp>
        <p:nvSpPr>
          <p:cNvPr id="56" name="bridge"/>
          <p:cNvSpPr/>
          <p:nvPr/>
        </p:nvSpPr>
        <p:spPr>
          <a:xfrm>
            <a:off x="5740400" y="4318000"/>
            <a:ext cx="711200" cy="711200"/>
          </a:xfrm>
          <a:custGeom>
            <a:avLst/>
            <a:gdLst/>
            <a:ahLst/>
            <a:cxnLst/>
            <a:rect l="0" t="0" r="r" b="b"/>
            <a:pathLst>
              <a:path w="711200" h="711200">
                <a:moveTo>
                  <a:pt x="152400" y="0"/>
                </a:moveTo>
                <a:lnTo>
                  <a:pt x="558800" y="0"/>
                </a:lnTo>
                <a:cubicBezTo>
                  <a:pt x="643001" y="0"/>
                  <a:pt x="711200" y="68199"/>
                  <a:pt x="711200" y="152400"/>
                </a:cubicBezTo>
                <a:lnTo>
                  <a:pt x="711200" y="558800"/>
                </a:lnTo>
                <a:cubicBezTo>
                  <a:pt x="711200" y="643001"/>
                  <a:pt x="643001" y="711200"/>
                  <a:pt x="558800" y="711200"/>
                </a:cubicBezTo>
                <a:lnTo>
                  <a:pt x="152400" y="711200"/>
                </a:lnTo>
                <a:cubicBezTo>
                  <a:pt x="68199" y="711200"/>
                  <a:pt x="0" y="643001"/>
                  <a:pt x="0" y="5588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0A3A88"/>
              </a:gs>
            </a:gsLst>
            <a:lin ang="7440000" scaled="0"/>
          </a:gra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icon-chain"/>
          <p:cNvSpPr/>
          <p:nvPr/>
        </p:nvSpPr>
        <p:spPr>
          <a:xfrm>
            <a:off x="6029293" y="4530693"/>
            <a:ext cx="133414" cy="133414"/>
          </a:xfrm>
          <a:custGeom>
            <a:avLst/>
            <a:gdLst/>
            <a:ahLst/>
            <a:cxnLst/>
            <a:rect l="0" t="0" r="r" b="b"/>
            <a:pathLst>
              <a:path w="133414" h="133414">
                <a:moveTo>
                  <a:pt x="53181" y="80232"/>
                </a:moveTo>
                <a:cubicBezTo>
                  <a:pt x="59531" y="86709"/>
                  <a:pt x="68231" y="90329"/>
                  <a:pt x="77311" y="90329"/>
                </a:cubicBezTo>
                <a:cubicBezTo>
                  <a:pt x="86392" y="90329"/>
                  <a:pt x="95028" y="86709"/>
                  <a:pt x="101441" y="80232"/>
                </a:cubicBezTo>
                <a:lnTo>
                  <a:pt x="123412" y="58261"/>
                </a:lnTo>
                <a:cubicBezTo>
                  <a:pt x="132048" y="49625"/>
                  <a:pt x="135414" y="37052"/>
                  <a:pt x="132239" y="25305"/>
                </a:cubicBezTo>
                <a:cubicBezTo>
                  <a:pt x="129127" y="13494"/>
                  <a:pt x="119920" y="4286"/>
                  <a:pt x="108109" y="1175"/>
                </a:cubicBezTo>
                <a:cubicBezTo>
                  <a:pt x="96361" y="-2000"/>
                  <a:pt x="83788" y="1365"/>
                  <a:pt x="75152" y="10001"/>
                </a:cubicBezTo>
                <a:lnTo>
                  <a:pt x="64167" y="20987"/>
                </a:lnTo>
                <a:moveTo>
                  <a:pt x="80232" y="53181"/>
                </a:moveTo>
                <a:cubicBezTo>
                  <a:pt x="73882" y="46704"/>
                  <a:pt x="65183" y="43085"/>
                  <a:pt x="56102" y="43085"/>
                </a:cubicBezTo>
                <a:cubicBezTo>
                  <a:pt x="47022" y="43085"/>
                  <a:pt x="38386" y="46704"/>
                  <a:pt x="31972" y="53181"/>
                </a:cubicBezTo>
                <a:lnTo>
                  <a:pt x="10001" y="75152"/>
                </a:lnTo>
                <a:cubicBezTo>
                  <a:pt x="-3334" y="88487"/>
                  <a:pt x="-3334" y="110077"/>
                  <a:pt x="10001" y="123412"/>
                </a:cubicBezTo>
                <a:cubicBezTo>
                  <a:pt x="23336" y="136747"/>
                  <a:pt x="44926" y="136747"/>
                  <a:pt x="58261" y="123412"/>
                </a:cubicBezTo>
                <a:lnTo>
                  <a:pt x="69247" y="112427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bridge-t"/>
          <p:cNvSpPr txBox="1"/>
          <p:nvPr/>
        </p:nvSpPr>
        <p:spPr>
          <a:xfrm>
            <a:off x="5929948" y="4730782"/>
            <a:ext cx="332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7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交棒</a:t>
            </a:r>
          </a:p>
        </p:txBody>
      </p:sp>
      <p:sp>
        <p:nvSpPr>
          <p:cNvPr id="59" name="bridge-arr"/>
          <p:cNvSpPr/>
          <p:nvPr/>
        </p:nvSpPr>
        <p:spPr>
          <a:xfrm>
            <a:off x="6515100" y="4610100"/>
            <a:ext cx="190500" cy="127000"/>
          </a:xfrm>
          <a:custGeom>
            <a:avLst/>
            <a:gdLst/>
            <a:ahLst/>
            <a:cxnLst/>
            <a:rect l="0" t="0" r="r" b="b"/>
            <a:pathLst>
              <a:path w="190500" h="127000">
                <a:moveTo>
                  <a:pt x="0" y="0"/>
                </a:moveTo>
                <a:lnTo>
                  <a:pt x="190500" y="63500"/>
                </a:lnTo>
                <a:lnTo>
                  <a:pt x="0" y="127000"/>
                </a:lnTo>
              </a:path>
            </a:pathLst>
          </a:custGeom>
          <a:noFill/>
          <a:ln w="15240" cap="rnd">
            <a:solidFill>
              <a:srgbClr val="1B5AA8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bridge-n"/>
          <p:cNvSpPr txBox="1"/>
          <p:nvPr/>
        </p:nvSpPr>
        <p:spPr>
          <a:xfrm>
            <a:off x="5701982" y="3971766"/>
            <a:ext cx="7880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40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成交即交付起点</a:t>
            </a:r>
          </a:p>
        </p:txBody>
      </p:sp>
      <p:sp>
        <p:nvSpPr>
          <p:cNvPr id="61" name="kpi"/>
          <p:cNvSpPr/>
          <p:nvPr/>
        </p:nvSpPr>
        <p:spPr>
          <a:xfrm>
            <a:off x="952500" y="5270500"/>
            <a:ext cx="10287000" cy="698500"/>
          </a:xfrm>
          <a:custGeom>
            <a:avLst/>
            <a:gdLst/>
            <a:ahLst/>
            <a:cxnLst/>
            <a:rect l="0" t="0" r="r" b="b"/>
            <a:pathLst>
              <a:path w="10287000" h="698500">
                <a:moveTo>
                  <a:pt x="114300" y="0"/>
                </a:moveTo>
                <a:lnTo>
                  <a:pt x="10172700" y="0"/>
                </a:lnTo>
                <a:cubicBezTo>
                  <a:pt x="10235819" y="0"/>
                  <a:pt x="10287000" y="51181"/>
                  <a:pt x="10287000" y="114300"/>
                </a:cubicBezTo>
                <a:lnTo>
                  <a:pt x="10287000" y="584200"/>
                </a:lnTo>
                <a:cubicBezTo>
                  <a:pt x="10287000" y="647319"/>
                  <a:pt x="10235819" y="698500"/>
                  <a:pt x="10172700" y="698500"/>
                </a:cubicBezTo>
                <a:lnTo>
                  <a:pt x="114300" y="698500"/>
                </a:lnTo>
                <a:cubicBezTo>
                  <a:pt x="51181" y="698500"/>
                  <a:pt x="0" y="647319"/>
                  <a:pt x="0" y="5842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kpi-cap"/>
          <p:cNvSpPr/>
          <p:nvPr/>
        </p:nvSpPr>
        <p:spPr>
          <a:xfrm>
            <a:off x="952500" y="5270500"/>
            <a:ext cx="10287000" cy="44450"/>
          </a:xfrm>
          <a:custGeom>
            <a:avLst/>
            <a:gdLst/>
            <a:ahLst/>
            <a:cxnLst/>
            <a:rect l="0" t="0" r="r" b="b"/>
            <a:pathLst>
              <a:path w="10287000" h="44450">
                <a:moveTo>
                  <a:pt x="22225" y="0"/>
                </a:moveTo>
                <a:lnTo>
                  <a:pt x="10264775" y="0"/>
                </a:lnTo>
                <a:cubicBezTo>
                  <a:pt x="10277030" y="0"/>
                  <a:pt x="10287000" y="9970"/>
                  <a:pt x="10287000" y="22225"/>
                </a:cubicBezTo>
                <a:lnTo>
                  <a:pt x="10287000" y="22225"/>
                </a:lnTo>
                <a:cubicBezTo>
                  <a:pt x="10287000" y="34480"/>
                  <a:pt x="10277030" y="44450"/>
                  <a:pt x="10264775" y="44450"/>
                </a:cubicBezTo>
                <a:lnTo>
                  <a:pt x="22225" y="44450"/>
                </a:lnTo>
                <a:cubicBezTo>
                  <a:pt x="9969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70"/>
                  <a:pt x="9969" y="0"/>
                  <a:pt x="2222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kv-1"/>
          <p:cNvSpPr txBox="1"/>
          <p:nvPr/>
        </p:nvSpPr>
        <p:spPr>
          <a:xfrm>
            <a:off x="1374140" y="5390832"/>
            <a:ext cx="61341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 spc="30">
                <a:solidFill>
                  <a:srgbClr val="0B3E8F"/>
                </a:solidFill>
                <a:latin typeface="Arial"/>
                <a:ea typeface="Arial"/>
                <a:cs typeface="Arial"/>
              </a:rPr>
              <a:t>2.6%</a:t>
            </a:r>
          </a:p>
        </p:txBody>
      </p:sp>
      <p:sp>
        <p:nvSpPr>
          <p:cNvPr id="64" name="kl-1"/>
          <p:cNvSpPr txBox="1"/>
          <p:nvPr/>
        </p:nvSpPr>
        <p:spPr>
          <a:xfrm>
            <a:off x="2209165" y="5463461"/>
            <a:ext cx="67468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线索到成交</a:t>
            </a:r>
          </a:p>
        </p:txBody>
      </p:sp>
      <p:sp>
        <p:nvSpPr>
          <p:cNvPr id="65" name="kn-1"/>
          <p:cNvSpPr txBox="1"/>
          <p:nvPr/>
        </p:nvSpPr>
        <p:spPr>
          <a:xfrm>
            <a:off x="2211832" y="5668708"/>
            <a:ext cx="80365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48,600 → 1,286</a:t>
            </a:r>
          </a:p>
        </p:txBody>
      </p:sp>
      <p:cxnSp>
        <p:nvCxnSpPr>
          <p:cNvPr id="66" name="ksep-1"/>
          <p:cNvCxnSpPr/>
          <p:nvPr/>
        </p:nvCxnSpPr>
        <p:spPr>
          <a:xfrm>
            <a:off x="3581400" y="5448300"/>
            <a:ext cx="0" cy="3683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7" name="kv-2"/>
          <p:cNvSpPr txBox="1"/>
          <p:nvPr/>
        </p:nvSpPr>
        <p:spPr>
          <a:xfrm>
            <a:off x="3914140" y="5390832"/>
            <a:ext cx="72390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 spc="30">
                <a:solidFill>
                  <a:srgbClr val="0B3E8F"/>
                </a:solidFill>
                <a:latin typeface="Arial"/>
                <a:ea typeface="Arial"/>
                <a:cs typeface="Arial"/>
              </a:rPr>
              <a:t>96.4%</a:t>
            </a:r>
          </a:p>
        </p:txBody>
      </p:sp>
      <p:sp>
        <p:nvSpPr>
          <p:cNvPr id="68" name="kl-2"/>
          <p:cNvSpPr txBox="1"/>
          <p:nvPr/>
        </p:nvSpPr>
        <p:spPr>
          <a:xfrm>
            <a:off x="4749165" y="5463461"/>
            <a:ext cx="67468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首年续约率</a:t>
            </a:r>
          </a:p>
        </p:txBody>
      </p:sp>
      <p:sp>
        <p:nvSpPr>
          <p:cNvPr id="69" name="kn-2"/>
          <p:cNvSpPr txBox="1"/>
          <p:nvPr/>
        </p:nvSpPr>
        <p:spPr>
          <a:xfrm>
            <a:off x="4751832" y="5668708"/>
            <a:ext cx="75196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1,286 → 1,240</a:t>
            </a:r>
          </a:p>
        </p:txBody>
      </p:sp>
      <p:cxnSp>
        <p:nvCxnSpPr>
          <p:cNvPr id="70" name="ksep-2"/>
          <p:cNvCxnSpPr/>
          <p:nvPr/>
        </p:nvCxnSpPr>
        <p:spPr>
          <a:xfrm>
            <a:off x="6121400" y="5448300"/>
            <a:ext cx="0" cy="3683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kv-3"/>
          <p:cNvSpPr txBox="1"/>
          <p:nvPr/>
        </p:nvSpPr>
        <p:spPr>
          <a:xfrm>
            <a:off x="6454140" y="5390832"/>
            <a:ext cx="72390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 spc="30">
                <a:solidFill>
                  <a:srgbClr val="0B3E8F"/>
                </a:solidFill>
                <a:latin typeface="Arial"/>
                <a:ea typeface="Arial"/>
                <a:cs typeface="Arial"/>
              </a:rPr>
              <a:t>37.8%</a:t>
            </a:r>
          </a:p>
        </p:txBody>
      </p:sp>
      <p:sp>
        <p:nvSpPr>
          <p:cNvPr id="72" name="kl-3"/>
          <p:cNvSpPr txBox="1"/>
          <p:nvPr/>
        </p:nvSpPr>
        <p:spPr>
          <a:xfrm>
            <a:off x="7289165" y="5463461"/>
            <a:ext cx="67468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增购渗透率</a:t>
            </a:r>
          </a:p>
        </p:txBody>
      </p:sp>
      <p:sp>
        <p:nvSpPr>
          <p:cNvPr id="73" name="kn-3"/>
          <p:cNvSpPr txBox="1"/>
          <p:nvPr/>
        </p:nvSpPr>
        <p:spPr>
          <a:xfrm>
            <a:off x="7291832" y="5668708"/>
            <a:ext cx="64858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486 / 1,286</a:t>
            </a:r>
          </a:p>
        </p:txBody>
      </p:sp>
      <p:cxnSp>
        <p:nvCxnSpPr>
          <p:cNvPr id="74" name="ksep-3"/>
          <p:cNvCxnSpPr/>
          <p:nvPr/>
        </p:nvCxnSpPr>
        <p:spPr>
          <a:xfrm>
            <a:off x="8661400" y="5448300"/>
            <a:ext cx="0" cy="3683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5" name="kv-4"/>
          <p:cNvSpPr txBox="1"/>
          <p:nvPr/>
        </p:nvSpPr>
        <p:spPr>
          <a:xfrm>
            <a:off x="8994140" y="5390832"/>
            <a:ext cx="72390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 spc="30">
                <a:solidFill>
                  <a:srgbClr val="0B3E8F"/>
                </a:solidFill>
                <a:latin typeface="Arial"/>
                <a:ea typeface="Arial"/>
                <a:cs typeface="Arial"/>
              </a:rPr>
              <a:t>1.42×</a:t>
            </a:r>
          </a:p>
        </p:txBody>
      </p:sp>
      <p:sp>
        <p:nvSpPr>
          <p:cNvPr id="76" name="kl-4"/>
          <p:cNvSpPr txBox="1"/>
          <p:nvPr/>
        </p:nvSpPr>
        <p:spPr>
          <a:xfrm>
            <a:off x="9829165" y="5463461"/>
            <a:ext cx="90455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客户净收入留存</a:t>
            </a:r>
          </a:p>
        </p:txBody>
      </p:sp>
      <p:sp>
        <p:nvSpPr>
          <p:cNvPr id="77" name="kn-4"/>
          <p:cNvSpPr txBox="1"/>
          <p:nvPr/>
        </p:nvSpPr>
        <p:spPr>
          <a:xfrm>
            <a:off x="9831832" y="5668708"/>
            <a:ext cx="6248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含增购与流失</a:t>
            </a:r>
          </a:p>
        </p:txBody>
      </p:sp>
      <p:sp>
        <p:nvSpPr>
          <p:cNvPr id="78" name="note-bar"/>
          <p:cNvSpPr/>
          <p:nvPr/>
        </p:nvSpPr>
        <p:spPr>
          <a:xfrm>
            <a:off x="952500" y="6007100"/>
            <a:ext cx="25400" cy="3302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note-h"/>
          <p:cNvSpPr txBox="1"/>
          <p:nvPr/>
        </p:nvSpPr>
        <p:spPr>
          <a:xfrm>
            <a:off x="1104646" y="6064282"/>
            <a:ext cx="3384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判断</a:t>
            </a:r>
          </a:p>
        </p:txBody>
      </p:sp>
      <p:sp>
        <p:nvSpPr>
          <p:cNvPr id="80" name="note-p"/>
          <p:cNvSpPr txBox="1"/>
          <p:nvPr/>
        </p:nvSpPr>
        <p:spPr>
          <a:xfrm>
            <a:off x="1586865" y="6060361"/>
            <a:ext cx="527716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获客漏斗最大的损耗在「线索 → 商机」（31.1%），留存漏斗的机会在增购（当前仅 37.8% 渗透）。</a:t>
            </a:r>
          </a:p>
        </p:txBody>
      </p:sp>
      <p:cxnSp>
        <p:nvCxnSpPr>
          <p:cNvPr id="81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双漏斗 · 获客与留存</a:t>
            </a:r>
          </a:p>
        </p:txBody>
      </p:sp>
      <p:sp>
        <p:nvSpPr>
          <p:cNvPr id="83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98958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PDCA 持续改进闭环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217436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PLAN · DO · CHECK · ACT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123299" y="673132"/>
            <a:ext cx="24974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四段闭环每季度转一圈，每转一圈标准抬高一级</a:t>
            </a:r>
          </a:p>
        </p:txBody>
      </p:sp>
      <p:sp>
        <p:nvSpPr>
          <p:cNvPr id="10" name="seg-1"/>
          <p:cNvSpPr/>
          <p:nvPr/>
        </p:nvSpPr>
        <p:spPr>
          <a:xfrm>
            <a:off x="4105190" y="1883893"/>
            <a:ext cx="1854565" cy="1704234"/>
          </a:xfrm>
          <a:custGeom>
            <a:avLst/>
            <a:gdLst/>
            <a:ahLst/>
            <a:cxnLst/>
            <a:rect l="0" t="0" r="r" b="b"/>
            <a:pathLst>
              <a:path w="1854565" h="1704234">
                <a:moveTo>
                  <a:pt x="87842" y="152"/>
                </a:moveTo>
                <a:cubicBezTo>
                  <a:pt x="880388" y="54692"/>
                  <a:pt x="1553064" y="601613"/>
                  <a:pt x="1768179" y="1366355"/>
                </a:cubicBezTo>
                <a:lnTo>
                  <a:pt x="1841522" y="1345717"/>
                </a:lnTo>
                <a:quadBezTo>
                  <a:pt x="1878225" y="1335367"/>
                  <a:pt x="1811931" y="1394612"/>
                </a:quadBezTo>
                <a:lnTo>
                  <a:pt x="1515513" y="1659407"/>
                </a:lnTo>
                <a:quadBezTo>
                  <a:pt x="1449219" y="1718653"/>
                  <a:pt x="1362351" y="1699603"/>
                </a:quadBezTo>
                <a:lnTo>
                  <a:pt x="1011450" y="1622641"/>
                </a:lnTo>
                <a:quadBezTo>
                  <a:pt x="924645" y="1603654"/>
                  <a:pt x="961285" y="1593304"/>
                </a:quadBezTo>
                <a:lnTo>
                  <a:pt x="1034627" y="1572666"/>
                </a:lnTo>
                <a:cubicBezTo>
                  <a:pt x="909269" y="1127036"/>
                  <a:pt x="522152" y="804817"/>
                  <a:pt x="61172" y="762406"/>
                </a:cubicBezTo>
                <a:quadBezTo>
                  <a:pt x="-2201" y="758406"/>
                  <a:pt x="22" y="694906"/>
                </a:quadBezTo>
                <a:lnTo>
                  <a:pt x="22183" y="60287"/>
                </a:lnTo>
                <a:quadBezTo>
                  <a:pt x="24406" y="-3150"/>
                  <a:pt x="87842" y="152"/>
                </a:quadBezTo>
                <a:close/>
              </a:path>
            </a:pathLst>
          </a:custGeom>
          <a:gradFill rotWithShape="1">
            <a:gsLst>
              <a:gs pos="0">
                <a:srgbClr val="325DA1"/>
              </a:gs>
              <a:gs pos="100000">
                <a:srgbClr val="0B3E8F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ab-1"/>
          <p:cNvSpPr txBox="1"/>
          <p:nvPr/>
        </p:nvSpPr>
        <p:spPr>
          <a:xfrm>
            <a:off x="4919848" y="2190364"/>
            <a:ext cx="414274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200" b="1" spc="50">
                <a:solidFill>
                  <a:srgbClr val="FFFFFF"/>
                </a:solidFill>
                <a:latin typeface="Arial"/>
                <a:ea typeface="Arial"/>
                <a:cs typeface="Arial"/>
              </a:rPr>
              <a:t>P</a:t>
            </a:r>
          </a:p>
        </p:txBody>
      </p:sp>
      <p:sp>
        <p:nvSpPr>
          <p:cNvPr id="12" name="nm-1"/>
          <p:cNvSpPr txBox="1"/>
          <p:nvPr/>
        </p:nvSpPr>
        <p:spPr>
          <a:xfrm>
            <a:off x="4682328" y="2565722"/>
            <a:ext cx="47371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计划</a:t>
            </a:r>
          </a:p>
        </p:txBody>
      </p:sp>
      <p:sp>
        <p:nvSpPr>
          <p:cNvPr id="13" name="seg-2"/>
          <p:cNvSpPr/>
          <p:nvPr/>
        </p:nvSpPr>
        <p:spPr>
          <a:xfrm>
            <a:off x="4235073" y="3800390"/>
            <a:ext cx="1704234" cy="1854565"/>
          </a:xfrm>
          <a:custGeom>
            <a:avLst/>
            <a:gdLst/>
            <a:ahLst/>
            <a:cxnLst/>
            <a:rect l="0" t="0" r="r" b="b"/>
            <a:pathLst>
              <a:path w="1704234" h="1854565">
                <a:moveTo>
                  <a:pt x="1704082" y="87842"/>
                </a:moveTo>
                <a:cubicBezTo>
                  <a:pt x="1649542" y="880388"/>
                  <a:pt x="1102621" y="1553064"/>
                  <a:pt x="337880" y="1768179"/>
                </a:cubicBezTo>
                <a:lnTo>
                  <a:pt x="358517" y="1841522"/>
                </a:lnTo>
                <a:quadBezTo>
                  <a:pt x="368868" y="1878225"/>
                  <a:pt x="309622" y="1811931"/>
                </a:quadBezTo>
                <a:lnTo>
                  <a:pt x="44827" y="1515513"/>
                </a:lnTo>
                <a:quadBezTo>
                  <a:pt x="-14418" y="1449219"/>
                  <a:pt x="4632" y="1362351"/>
                </a:quadBezTo>
                <a:lnTo>
                  <a:pt x="81594" y="1011450"/>
                </a:lnTo>
                <a:quadBezTo>
                  <a:pt x="100580" y="924645"/>
                  <a:pt x="110931" y="961285"/>
                </a:quadBezTo>
                <a:lnTo>
                  <a:pt x="131568" y="1034627"/>
                </a:lnTo>
                <a:cubicBezTo>
                  <a:pt x="577198" y="909269"/>
                  <a:pt x="899417" y="522152"/>
                  <a:pt x="941828" y="61172"/>
                </a:cubicBezTo>
                <a:quadBezTo>
                  <a:pt x="945829" y="-2201"/>
                  <a:pt x="1009329" y="22"/>
                </a:quadBezTo>
                <a:lnTo>
                  <a:pt x="1643948" y="22183"/>
                </a:lnTo>
                <a:quadBezTo>
                  <a:pt x="1707384" y="24406"/>
                  <a:pt x="1704082" y="87842"/>
                </a:quadBezTo>
                <a:close/>
              </a:path>
            </a:pathLst>
          </a:custGeom>
          <a:gradFill rotWithShape="1">
            <a:gsLst>
              <a:gs pos="0">
                <a:srgbClr val="3F74B6"/>
              </a:gs>
              <a:gs pos="100000">
                <a:srgbClr val="1B5AA8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ab-2"/>
          <p:cNvSpPr txBox="1"/>
          <p:nvPr/>
        </p:nvSpPr>
        <p:spPr>
          <a:xfrm>
            <a:off x="5169540" y="4566026"/>
            <a:ext cx="414274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200" b="1" spc="50">
                <a:solidFill>
                  <a:srgbClr val="FFFFFF"/>
                </a:solidFill>
                <a:latin typeface="Arial"/>
                <a:ea typeface="Arial"/>
                <a:cs typeface="Arial"/>
              </a:rPr>
              <a:t>D</a:t>
            </a:r>
          </a:p>
        </p:txBody>
      </p:sp>
      <p:sp>
        <p:nvSpPr>
          <p:cNvPr id="15" name="nm-2"/>
          <p:cNvSpPr txBox="1"/>
          <p:nvPr/>
        </p:nvSpPr>
        <p:spPr>
          <a:xfrm>
            <a:off x="4883209" y="4476969"/>
            <a:ext cx="47371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执行</a:t>
            </a:r>
          </a:p>
        </p:txBody>
      </p:sp>
      <p:sp>
        <p:nvSpPr>
          <p:cNvPr id="16" name="seg-3"/>
          <p:cNvSpPr/>
          <p:nvPr/>
        </p:nvSpPr>
        <p:spPr>
          <a:xfrm>
            <a:off x="2168245" y="3930273"/>
            <a:ext cx="1854565" cy="1704234"/>
          </a:xfrm>
          <a:custGeom>
            <a:avLst/>
            <a:gdLst/>
            <a:ahLst/>
            <a:cxnLst/>
            <a:rect l="0" t="0" r="r" b="b"/>
            <a:pathLst>
              <a:path w="1854565" h="1704234">
                <a:moveTo>
                  <a:pt x="1766723" y="1704082"/>
                </a:moveTo>
                <a:cubicBezTo>
                  <a:pt x="974177" y="1649542"/>
                  <a:pt x="301501" y="1102621"/>
                  <a:pt x="86386" y="337880"/>
                </a:cubicBezTo>
                <a:lnTo>
                  <a:pt x="13043" y="358517"/>
                </a:lnTo>
                <a:quadBezTo>
                  <a:pt x="-23660" y="368868"/>
                  <a:pt x="42634" y="309622"/>
                </a:quadBezTo>
                <a:lnTo>
                  <a:pt x="339052" y="44827"/>
                </a:lnTo>
                <a:quadBezTo>
                  <a:pt x="405346" y="-14418"/>
                  <a:pt x="492214" y="4632"/>
                </a:quadBezTo>
                <a:lnTo>
                  <a:pt x="843115" y="81594"/>
                </a:lnTo>
                <a:quadBezTo>
                  <a:pt x="929920" y="100580"/>
                  <a:pt x="893280" y="110931"/>
                </a:quadBezTo>
                <a:lnTo>
                  <a:pt x="819938" y="131568"/>
                </a:lnTo>
                <a:cubicBezTo>
                  <a:pt x="945296" y="577198"/>
                  <a:pt x="1332413" y="899417"/>
                  <a:pt x="1793393" y="941828"/>
                </a:cubicBezTo>
                <a:quadBezTo>
                  <a:pt x="1856766" y="945829"/>
                  <a:pt x="1854543" y="1009329"/>
                </a:quadBezTo>
                <a:lnTo>
                  <a:pt x="1832382" y="1643948"/>
                </a:lnTo>
                <a:quadBezTo>
                  <a:pt x="1830159" y="1707384"/>
                  <a:pt x="1766723" y="1704082"/>
                </a:quadBezTo>
                <a:close/>
              </a:path>
            </a:pathLst>
          </a:custGeom>
          <a:gradFill rotWithShape="1">
            <a:gsLst>
              <a:gs pos="0">
                <a:srgbClr val="5999D5"/>
              </a:gs>
              <a:gs pos="100000">
                <a:srgbClr val="3985CD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ab-3"/>
          <p:cNvSpPr txBox="1"/>
          <p:nvPr/>
        </p:nvSpPr>
        <p:spPr>
          <a:xfrm>
            <a:off x="2793878" y="4815718"/>
            <a:ext cx="414274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200" b="1" spc="50">
                <a:solidFill>
                  <a:srgbClr val="FFFFFF"/>
                </a:solidFill>
                <a:latin typeface="Arial"/>
                <a:ea typeface="Arial"/>
                <a:cs typeface="Arial"/>
              </a:rPr>
              <a:t>C</a:t>
            </a:r>
          </a:p>
        </p:txBody>
      </p:sp>
      <p:sp>
        <p:nvSpPr>
          <p:cNvPr id="18" name="nm-3"/>
          <p:cNvSpPr txBox="1"/>
          <p:nvPr/>
        </p:nvSpPr>
        <p:spPr>
          <a:xfrm>
            <a:off x="2971962" y="4677850"/>
            <a:ext cx="47371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检查</a:t>
            </a:r>
          </a:p>
        </p:txBody>
      </p:sp>
      <p:sp>
        <p:nvSpPr>
          <p:cNvPr id="19" name="seg-4"/>
          <p:cNvSpPr/>
          <p:nvPr/>
        </p:nvSpPr>
        <p:spPr>
          <a:xfrm>
            <a:off x="2188693" y="1863445"/>
            <a:ext cx="1704234" cy="1854565"/>
          </a:xfrm>
          <a:custGeom>
            <a:avLst/>
            <a:gdLst/>
            <a:ahLst/>
            <a:cxnLst/>
            <a:rect l="0" t="0" r="r" b="b"/>
            <a:pathLst>
              <a:path w="1704234" h="1854565">
                <a:moveTo>
                  <a:pt x="152" y="1766723"/>
                </a:moveTo>
                <a:cubicBezTo>
                  <a:pt x="54692" y="974177"/>
                  <a:pt x="601613" y="301501"/>
                  <a:pt x="1366355" y="86386"/>
                </a:cubicBezTo>
                <a:lnTo>
                  <a:pt x="1345717" y="13043"/>
                </a:lnTo>
                <a:quadBezTo>
                  <a:pt x="1335367" y="-23660"/>
                  <a:pt x="1394612" y="42634"/>
                </a:quadBezTo>
                <a:lnTo>
                  <a:pt x="1659407" y="339052"/>
                </a:lnTo>
                <a:quadBezTo>
                  <a:pt x="1718653" y="405346"/>
                  <a:pt x="1699603" y="492214"/>
                </a:quadBezTo>
                <a:lnTo>
                  <a:pt x="1622641" y="843115"/>
                </a:lnTo>
                <a:quadBezTo>
                  <a:pt x="1603654" y="929920"/>
                  <a:pt x="1593304" y="893280"/>
                </a:quadBezTo>
                <a:lnTo>
                  <a:pt x="1572666" y="819938"/>
                </a:lnTo>
                <a:cubicBezTo>
                  <a:pt x="1127036" y="945296"/>
                  <a:pt x="804817" y="1332413"/>
                  <a:pt x="762406" y="1793393"/>
                </a:cubicBezTo>
                <a:quadBezTo>
                  <a:pt x="758406" y="1856766"/>
                  <a:pt x="694906" y="1854543"/>
                </a:quadBezTo>
                <a:lnTo>
                  <a:pt x="60287" y="1832382"/>
                </a:lnTo>
                <a:quadBezTo>
                  <a:pt x="-3150" y="1830159"/>
                  <a:pt x="152" y="1766723"/>
                </a:quadBezTo>
                <a:close/>
              </a:path>
            </a:pathLst>
          </a:custGeom>
          <a:gradFill rotWithShape="1">
            <a:gsLst>
              <a:gs pos="0">
                <a:srgbClr val="6FB1E4"/>
              </a:gs>
              <a:gs pos="100000">
                <a:srgbClr val="54A2DF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ab-4"/>
          <p:cNvSpPr txBox="1"/>
          <p:nvPr/>
        </p:nvSpPr>
        <p:spPr>
          <a:xfrm>
            <a:off x="2544186" y="2440056"/>
            <a:ext cx="414274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200" b="1" spc="50">
                <a:solidFill>
                  <a:srgbClr val="FFFFFF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21" name="nm-4"/>
          <p:cNvSpPr txBox="1"/>
          <p:nvPr/>
        </p:nvSpPr>
        <p:spPr>
          <a:xfrm>
            <a:off x="2771081" y="2766603"/>
            <a:ext cx="47371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处置</a:t>
            </a:r>
          </a:p>
        </p:txBody>
      </p:sp>
      <p:sp>
        <p:nvSpPr>
          <p:cNvPr id="22" name="core"/>
          <p:cNvSpPr/>
          <p:nvPr/>
        </p:nvSpPr>
        <p:spPr>
          <a:xfrm>
            <a:off x="3060700" y="2755900"/>
            <a:ext cx="2006600" cy="20066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core-ring"/>
          <p:cNvSpPr/>
          <p:nvPr/>
        </p:nvSpPr>
        <p:spPr>
          <a:xfrm>
            <a:off x="3149600" y="2844800"/>
            <a:ext cx="1828800" cy="1828800"/>
          </a:xfrm>
          <a:prstGeom prst="ellipse">
            <a:avLst/>
          </a:prstGeom>
          <a:noFill/>
          <a:ln w="6350" cap="rnd">
            <a:solidFill>
              <a:srgbClr val="0B3E8F">
                <a:alpha val="14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icon-gear"/>
          <p:cNvSpPr/>
          <p:nvPr/>
        </p:nvSpPr>
        <p:spPr>
          <a:xfrm>
            <a:off x="3988562" y="3361880"/>
            <a:ext cx="150876" cy="185039"/>
          </a:xfrm>
          <a:custGeom>
            <a:avLst/>
            <a:gdLst/>
            <a:ahLst/>
            <a:cxnLst/>
            <a:rect l="0" t="0" r="r" b="b"/>
            <a:pathLst>
              <a:path w="150876" h="185039">
                <a:moveTo>
                  <a:pt x="75438" y="58357"/>
                </a:moveTo>
                <a:cubicBezTo>
                  <a:pt x="63246" y="58357"/>
                  <a:pt x="51943" y="64834"/>
                  <a:pt x="45847" y="75438"/>
                </a:cubicBezTo>
                <a:cubicBezTo>
                  <a:pt x="39751" y="85979"/>
                  <a:pt x="39751" y="99060"/>
                  <a:pt x="45847" y="109601"/>
                </a:cubicBezTo>
                <a:cubicBezTo>
                  <a:pt x="51943" y="120206"/>
                  <a:pt x="63246" y="126683"/>
                  <a:pt x="75438" y="126683"/>
                </a:cubicBezTo>
                <a:cubicBezTo>
                  <a:pt x="94298" y="126683"/>
                  <a:pt x="109601" y="111379"/>
                  <a:pt x="109601" y="92520"/>
                </a:cubicBezTo>
                <a:cubicBezTo>
                  <a:pt x="109601" y="73660"/>
                  <a:pt x="94298" y="58357"/>
                  <a:pt x="75438" y="58357"/>
                </a:cubicBezTo>
                <a:close/>
                <a:moveTo>
                  <a:pt x="75438" y="0"/>
                </a:moveTo>
                <a:lnTo>
                  <a:pt x="86487" y="26162"/>
                </a:lnTo>
                <a:lnTo>
                  <a:pt x="114617" y="20130"/>
                </a:lnTo>
                <a:lnTo>
                  <a:pt x="124714" y="47308"/>
                </a:lnTo>
                <a:lnTo>
                  <a:pt x="150876" y="58357"/>
                </a:lnTo>
                <a:lnTo>
                  <a:pt x="138811" y="84455"/>
                </a:lnTo>
                <a:lnTo>
                  <a:pt x="150876" y="110617"/>
                </a:lnTo>
                <a:lnTo>
                  <a:pt x="124714" y="121666"/>
                </a:lnTo>
                <a:lnTo>
                  <a:pt x="114617" y="148844"/>
                </a:lnTo>
                <a:lnTo>
                  <a:pt x="86487" y="142812"/>
                </a:lnTo>
                <a:lnTo>
                  <a:pt x="75438" y="185039"/>
                </a:lnTo>
                <a:lnTo>
                  <a:pt x="64389" y="158877"/>
                </a:lnTo>
                <a:lnTo>
                  <a:pt x="36259" y="164910"/>
                </a:lnTo>
                <a:lnTo>
                  <a:pt x="26162" y="137732"/>
                </a:lnTo>
                <a:lnTo>
                  <a:pt x="0" y="126683"/>
                </a:lnTo>
                <a:lnTo>
                  <a:pt x="12065" y="92520"/>
                </a:lnTo>
                <a:lnTo>
                  <a:pt x="0" y="66358"/>
                </a:lnTo>
                <a:lnTo>
                  <a:pt x="26162" y="55309"/>
                </a:lnTo>
                <a:lnTo>
                  <a:pt x="36259" y="28194"/>
                </a:lnTo>
                <a:lnTo>
                  <a:pt x="64389" y="34227"/>
                </a:lnTo>
                <a:close/>
              </a:path>
            </a:pathLst>
          </a:custGeom>
          <a:noFill/>
          <a:ln w="1333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core-cn"/>
          <p:cNvSpPr txBox="1"/>
          <p:nvPr/>
        </p:nvSpPr>
        <p:spPr>
          <a:xfrm>
            <a:off x="3590290" y="3615817"/>
            <a:ext cx="9474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持续改进</a:t>
            </a:r>
          </a:p>
        </p:txBody>
      </p:sp>
      <p:sp>
        <p:nvSpPr>
          <p:cNvPr id="26" name="core-p"/>
          <p:cNvSpPr txBox="1"/>
          <p:nvPr/>
        </p:nvSpPr>
        <p:spPr>
          <a:xfrm>
            <a:off x="3770312" y="3920966"/>
            <a:ext cx="5873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4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每季度一圈</a:t>
            </a:r>
          </a:p>
        </p:txBody>
      </p:sp>
      <p:sp>
        <p:nvSpPr>
          <p:cNvPr id="27" name="core-q"/>
          <p:cNvSpPr txBox="1"/>
          <p:nvPr/>
        </p:nvSpPr>
        <p:spPr>
          <a:xfrm>
            <a:off x="3805301" y="4144708"/>
            <a:ext cx="51739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00">
                <a:solidFill>
                  <a:srgbClr val="1B5AA8"/>
                </a:solidFill>
                <a:latin typeface="Arial"/>
                <a:ea typeface="Arial"/>
                <a:cs typeface="Arial"/>
              </a:rPr>
              <a:t>2026 Q3</a:t>
            </a:r>
          </a:p>
        </p:txBody>
      </p:sp>
      <p:sp>
        <p:nvSpPr>
          <p:cNvPr id="28" name="spiral"/>
          <p:cNvSpPr/>
          <p:nvPr/>
        </p:nvSpPr>
        <p:spPr>
          <a:xfrm>
            <a:off x="1905000" y="1600200"/>
            <a:ext cx="4318000" cy="4318000"/>
          </a:xfrm>
          <a:prstGeom prst="ellipse">
            <a:avLst/>
          </a:prstGeom>
          <a:noFill/>
          <a:ln w="12700" cap="rnd">
            <a:solidFill>
              <a:srgbClr val="E0703A">
                <a:alpha val="35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spiral-arrow"/>
          <p:cNvSpPr/>
          <p:nvPr/>
        </p:nvSpPr>
        <p:spPr>
          <a:xfrm>
            <a:off x="4713605" y="1654175"/>
            <a:ext cx="165100" cy="177800"/>
          </a:xfrm>
          <a:custGeom>
            <a:avLst/>
            <a:gdLst/>
            <a:ahLst/>
            <a:cxnLst/>
            <a:rect l="0" t="0" r="r" b="b"/>
            <a:pathLst>
              <a:path w="165100" h="177800">
                <a:moveTo>
                  <a:pt x="0" y="0"/>
                </a:moveTo>
                <a:lnTo>
                  <a:pt x="165100" y="63500"/>
                </a:lnTo>
                <a:lnTo>
                  <a:pt x="50800" y="177800"/>
                </a:lnTo>
              </a:path>
            </a:pathLst>
          </a:custGeom>
          <a:noFill/>
          <a:ln w="15240" cap="rnd">
            <a:solidFill>
              <a:srgbClr val="E0703A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spiral-t"/>
          <p:cNvSpPr txBox="1"/>
          <p:nvPr/>
        </p:nvSpPr>
        <p:spPr>
          <a:xfrm>
            <a:off x="3419158" y="1342866"/>
            <a:ext cx="12896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4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每转一圈，标准上一个台阶</a:t>
            </a:r>
          </a:p>
        </p:txBody>
      </p:sp>
      <p:sp>
        <p:nvSpPr>
          <p:cNvPr id="31" name="side-bar"/>
          <p:cNvSpPr/>
          <p:nvPr/>
        </p:nvSpPr>
        <p:spPr>
          <a:xfrm>
            <a:off x="6858000" y="15875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side-h"/>
          <p:cNvSpPr txBox="1"/>
          <p:nvPr/>
        </p:nvSpPr>
        <p:spPr>
          <a:xfrm>
            <a:off x="7016750" y="1594644"/>
            <a:ext cx="11715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每一步做什么</a:t>
            </a:r>
          </a:p>
        </p:txBody>
      </p:sp>
      <p:sp>
        <p:nvSpPr>
          <p:cNvPr id="33" name="side-p"/>
          <p:cNvSpPr txBox="1"/>
          <p:nvPr/>
        </p:nvSpPr>
        <p:spPr>
          <a:xfrm>
            <a:off x="7022465" y="18693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四段的交付物与判据</a:t>
            </a:r>
          </a:p>
        </p:txBody>
      </p:sp>
      <p:sp>
        <p:nvSpPr>
          <p:cNvPr id="34" name="sc-1"/>
          <p:cNvSpPr/>
          <p:nvPr/>
        </p:nvSpPr>
        <p:spPr>
          <a:xfrm>
            <a:off x="6858000" y="2273300"/>
            <a:ext cx="4381500" cy="774700"/>
          </a:xfrm>
          <a:custGeom>
            <a:avLst/>
            <a:gdLst/>
            <a:ahLst/>
            <a:cxnLst/>
            <a:rect l="0" t="0" r="r" b="b"/>
            <a:pathLst>
              <a:path w="4381500" h="774700">
                <a:moveTo>
                  <a:pt x="114300" y="0"/>
                </a:moveTo>
                <a:lnTo>
                  <a:pt x="4267200" y="0"/>
                </a:lnTo>
                <a:cubicBezTo>
                  <a:pt x="4330319" y="0"/>
                  <a:pt x="4381500" y="51181"/>
                  <a:pt x="4381500" y="114300"/>
                </a:cubicBezTo>
                <a:lnTo>
                  <a:pt x="4381500" y="660400"/>
                </a:lnTo>
                <a:cubicBezTo>
                  <a:pt x="4381500" y="723519"/>
                  <a:pt x="4330319" y="774700"/>
                  <a:pt x="4267200" y="774700"/>
                </a:cubicBezTo>
                <a:lnTo>
                  <a:pt x="114300" y="774700"/>
                </a:lnTo>
                <a:cubicBezTo>
                  <a:pt x="51181" y="774700"/>
                  <a:pt x="0" y="723519"/>
                  <a:pt x="0" y="6604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scb-1"/>
          <p:cNvSpPr/>
          <p:nvPr/>
        </p:nvSpPr>
        <p:spPr>
          <a:xfrm>
            <a:off x="6858000" y="2273300"/>
            <a:ext cx="31750" cy="774700"/>
          </a:xfrm>
          <a:custGeom>
            <a:avLst/>
            <a:gdLst/>
            <a:ahLst/>
            <a:cxnLst/>
            <a:rect l="0" t="0" r="r" b="b"/>
            <a:pathLst>
              <a:path w="31750" h="7747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58825"/>
                </a:lnTo>
                <a:cubicBezTo>
                  <a:pt x="31750" y="767588"/>
                  <a:pt x="24638" y="774700"/>
                  <a:pt x="15875" y="774700"/>
                </a:cubicBezTo>
                <a:lnTo>
                  <a:pt x="15875" y="774700"/>
                </a:lnTo>
                <a:cubicBezTo>
                  <a:pt x="7112" y="774700"/>
                  <a:pt x="0" y="767588"/>
                  <a:pt x="0" y="7588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scc-1"/>
          <p:cNvSpPr/>
          <p:nvPr/>
        </p:nvSpPr>
        <p:spPr>
          <a:xfrm>
            <a:off x="7023100" y="2425700"/>
            <a:ext cx="330200" cy="330200"/>
          </a:xfrm>
          <a:prstGeom prst="ellipse">
            <a:avLst/>
          </a:pr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sca-1"/>
          <p:cNvSpPr txBox="1"/>
          <p:nvPr/>
        </p:nvSpPr>
        <p:spPr>
          <a:xfrm>
            <a:off x="7086219" y="2481770"/>
            <a:ext cx="203962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P</a:t>
            </a:r>
          </a:p>
        </p:txBody>
      </p:sp>
      <p:sp>
        <p:nvSpPr>
          <p:cNvPr id="38" name="icon-bulb"/>
          <p:cNvSpPr/>
          <p:nvPr/>
        </p:nvSpPr>
        <p:spPr>
          <a:xfrm>
            <a:off x="7530223" y="2493518"/>
            <a:ext cx="77954" cy="115570"/>
          </a:xfrm>
          <a:custGeom>
            <a:avLst/>
            <a:gdLst/>
            <a:ahLst/>
            <a:cxnLst/>
            <a:rect l="0" t="0" r="r" b="b"/>
            <a:pathLst>
              <a:path w="77954" h="115570">
                <a:moveTo>
                  <a:pt x="22467" y="96330"/>
                </a:moveTo>
                <a:lnTo>
                  <a:pt x="55487" y="96330"/>
                </a:lnTo>
                <a:moveTo>
                  <a:pt x="26595" y="115570"/>
                </a:moveTo>
                <a:lnTo>
                  <a:pt x="51360" y="115570"/>
                </a:lnTo>
                <a:moveTo>
                  <a:pt x="38977" y="0"/>
                </a:moveTo>
                <a:cubicBezTo>
                  <a:pt x="55678" y="-191"/>
                  <a:pt x="70600" y="10414"/>
                  <a:pt x="75934" y="26225"/>
                </a:cubicBezTo>
                <a:cubicBezTo>
                  <a:pt x="81268" y="42100"/>
                  <a:pt x="75807" y="59563"/>
                  <a:pt x="62345" y="69469"/>
                </a:cubicBezTo>
                <a:cubicBezTo>
                  <a:pt x="57519" y="73596"/>
                  <a:pt x="55487" y="77788"/>
                  <a:pt x="55487" y="83947"/>
                </a:cubicBezTo>
                <a:lnTo>
                  <a:pt x="22467" y="83947"/>
                </a:lnTo>
                <a:cubicBezTo>
                  <a:pt x="22467" y="77788"/>
                  <a:pt x="20435" y="73596"/>
                  <a:pt x="15609" y="69469"/>
                </a:cubicBezTo>
                <a:cubicBezTo>
                  <a:pt x="2147" y="59563"/>
                  <a:pt x="-3314" y="42100"/>
                  <a:pt x="2020" y="26225"/>
                </a:cubicBezTo>
                <a:cubicBezTo>
                  <a:pt x="7354" y="10414"/>
                  <a:pt x="22277" y="-191"/>
                  <a:pt x="38977" y="0"/>
                </a:cubicBezTo>
                <a:close/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scn-1"/>
          <p:cNvSpPr txBox="1"/>
          <p:nvPr/>
        </p:nvSpPr>
        <p:spPr>
          <a:xfrm>
            <a:off x="7755636" y="2430970"/>
            <a:ext cx="42799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9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计划</a:t>
            </a:r>
          </a:p>
        </p:txBody>
      </p:sp>
      <p:sp>
        <p:nvSpPr>
          <p:cNvPr id="40" name="scnote-1"/>
          <p:cNvSpPr txBox="1"/>
          <p:nvPr/>
        </p:nvSpPr>
        <p:spPr>
          <a:xfrm>
            <a:off x="8114665" y="24662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目标拆解与方案设计</a:t>
            </a:r>
          </a:p>
        </p:txBody>
      </p:sp>
      <p:sp>
        <p:nvSpPr>
          <p:cNvPr id="41" name="scd-1-1"/>
          <p:cNvSpPr/>
          <p:nvPr/>
        </p:nvSpPr>
        <p:spPr>
          <a:xfrm>
            <a:off x="7547610" y="2778760"/>
            <a:ext cx="43180" cy="43180"/>
          </a:xfrm>
          <a:prstGeom prst="ellipse">
            <a:avLst/>
          </a:prstGeom>
          <a:solidFill>
            <a:srgbClr val="0B3E8F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scp-1-1"/>
          <p:cNvSpPr txBox="1"/>
          <p:nvPr/>
        </p:nvSpPr>
        <p:spPr>
          <a:xfrm>
            <a:off x="7659370" y="2714466"/>
            <a:ext cx="76581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明确问题与基线</a:t>
            </a:r>
          </a:p>
        </p:txBody>
      </p:sp>
      <p:sp>
        <p:nvSpPr>
          <p:cNvPr id="43" name="scd-1-2"/>
          <p:cNvSpPr/>
          <p:nvPr/>
        </p:nvSpPr>
        <p:spPr>
          <a:xfrm>
            <a:off x="9389110" y="2778760"/>
            <a:ext cx="43180" cy="43180"/>
          </a:xfrm>
          <a:prstGeom prst="ellipse">
            <a:avLst/>
          </a:prstGeom>
          <a:solidFill>
            <a:srgbClr val="0B3E8F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scp-1-2"/>
          <p:cNvSpPr txBox="1"/>
          <p:nvPr/>
        </p:nvSpPr>
        <p:spPr>
          <a:xfrm>
            <a:off x="9500870" y="2714466"/>
            <a:ext cx="8629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制定可验证的方案</a:t>
            </a:r>
          </a:p>
        </p:txBody>
      </p:sp>
      <p:sp>
        <p:nvSpPr>
          <p:cNvPr id="45" name="sc-2"/>
          <p:cNvSpPr/>
          <p:nvPr/>
        </p:nvSpPr>
        <p:spPr>
          <a:xfrm>
            <a:off x="6858000" y="3162300"/>
            <a:ext cx="4381500" cy="774700"/>
          </a:xfrm>
          <a:custGeom>
            <a:avLst/>
            <a:gdLst/>
            <a:ahLst/>
            <a:cxnLst/>
            <a:rect l="0" t="0" r="r" b="b"/>
            <a:pathLst>
              <a:path w="4381500" h="774700">
                <a:moveTo>
                  <a:pt x="114300" y="0"/>
                </a:moveTo>
                <a:lnTo>
                  <a:pt x="4267200" y="0"/>
                </a:lnTo>
                <a:cubicBezTo>
                  <a:pt x="4330319" y="0"/>
                  <a:pt x="4381500" y="51181"/>
                  <a:pt x="4381500" y="114300"/>
                </a:cubicBezTo>
                <a:lnTo>
                  <a:pt x="4381500" y="660400"/>
                </a:lnTo>
                <a:cubicBezTo>
                  <a:pt x="4381500" y="723519"/>
                  <a:pt x="4330319" y="774700"/>
                  <a:pt x="4267200" y="774700"/>
                </a:cubicBezTo>
                <a:lnTo>
                  <a:pt x="114300" y="774700"/>
                </a:lnTo>
                <a:cubicBezTo>
                  <a:pt x="51181" y="774700"/>
                  <a:pt x="0" y="723519"/>
                  <a:pt x="0" y="6604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scb-2"/>
          <p:cNvSpPr/>
          <p:nvPr/>
        </p:nvSpPr>
        <p:spPr>
          <a:xfrm>
            <a:off x="6858000" y="3162300"/>
            <a:ext cx="31750" cy="774700"/>
          </a:xfrm>
          <a:custGeom>
            <a:avLst/>
            <a:gdLst/>
            <a:ahLst/>
            <a:cxnLst/>
            <a:rect l="0" t="0" r="r" b="b"/>
            <a:pathLst>
              <a:path w="31750" h="7747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58825"/>
                </a:lnTo>
                <a:cubicBezTo>
                  <a:pt x="31750" y="767588"/>
                  <a:pt x="24638" y="774700"/>
                  <a:pt x="15875" y="774700"/>
                </a:cubicBezTo>
                <a:lnTo>
                  <a:pt x="15875" y="774700"/>
                </a:lnTo>
                <a:cubicBezTo>
                  <a:pt x="7112" y="774700"/>
                  <a:pt x="0" y="767588"/>
                  <a:pt x="0" y="7588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scc-2"/>
          <p:cNvSpPr/>
          <p:nvPr/>
        </p:nvSpPr>
        <p:spPr>
          <a:xfrm>
            <a:off x="7023100" y="3314700"/>
            <a:ext cx="330200" cy="330200"/>
          </a:xfrm>
          <a:prstGeom prst="ellipse">
            <a:avLst/>
          </a:pr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sca-2"/>
          <p:cNvSpPr txBox="1"/>
          <p:nvPr/>
        </p:nvSpPr>
        <p:spPr>
          <a:xfrm>
            <a:off x="7086219" y="3370771"/>
            <a:ext cx="203962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1B5AA8"/>
                </a:solidFill>
                <a:latin typeface="Arial"/>
                <a:ea typeface="Arial"/>
                <a:cs typeface="Arial"/>
              </a:rPr>
              <a:t>D</a:t>
            </a:r>
          </a:p>
        </p:txBody>
      </p:sp>
      <p:sp>
        <p:nvSpPr>
          <p:cNvPr id="49" name="icon-rocket"/>
          <p:cNvSpPr/>
          <p:nvPr/>
        </p:nvSpPr>
        <p:spPr>
          <a:xfrm>
            <a:off x="7523797" y="3381184"/>
            <a:ext cx="90805" cy="114173"/>
          </a:xfrm>
          <a:custGeom>
            <a:avLst/>
            <a:gdLst/>
            <a:ahLst/>
            <a:cxnLst/>
            <a:rect l="0" t="0" r="r" b="b"/>
            <a:pathLst>
              <a:path w="90805" h="114173">
                <a:moveTo>
                  <a:pt x="45403" y="0"/>
                </a:moveTo>
                <a:cubicBezTo>
                  <a:pt x="66040" y="15113"/>
                  <a:pt x="77026" y="38481"/>
                  <a:pt x="77026" y="63246"/>
                </a:cubicBezTo>
                <a:lnTo>
                  <a:pt x="61912" y="88011"/>
                </a:lnTo>
                <a:lnTo>
                  <a:pt x="28893" y="88011"/>
                </a:lnTo>
                <a:lnTo>
                  <a:pt x="13780" y="63246"/>
                </a:lnTo>
                <a:cubicBezTo>
                  <a:pt x="13780" y="38481"/>
                  <a:pt x="24765" y="15113"/>
                  <a:pt x="45403" y="0"/>
                </a:cubicBezTo>
                <a:close/>
                <a:moveTo>
                  <a:pt x="13780" y="82550"/>
                </a:moveTo>
                <a:lnTo>
                  <a:pt x="0" y="114173"/>
                </a:lnTo>
                <a:lnTo>
                  <a:pt x="28893" y="103188"/>
                </a:lnTo>
                <a:moveTo>
                  <a:pt x="77026" y="82550"/>
                </a:moveTo>
                <a:lnTo>
                  <a:pt x="90805" y="114173"/>
                </a:lnTo>
                <a:lnTo>
                  <a:pt x="61912" y="103188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scn-2"/>
          <p:cNvSpPr txBox="1"/>
          <p:nvPr/>
        </p:nvSpPr>
        <p:spPr>
          <a:xfrm>
            <a:off x="7755636" y="3319971"/>
            <a:ext cx="42799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9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执行</a:t>
            </a:r>
          </a:p>
        </p:txBody>
      </p:sp>
      <p:sp>
        <p:nvSpPr>
          <p:cNvPr id="51" name="scnote-2"/>
          <p:cNvSpPr txBox="1"/>
          <p:nvPr/>
        </p:nvSpPr>
        <p:spPr>
          <a:xfrm>
            <a:off x="8114665" y="33552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小范围试点并记录</a:t>
            </a:r>
          </a:p>
        </p:txBody>
      </p:sp>
      <p:sp>
        <p:nvSpPr>
          <p:cNvPr id="52" name="scd-2-1"/>
          <p:cNvSpPr/>
          <p:nvPr/>
        </p:nvSpPr>
        <p:spPr>
          <a:xfrm>
            <a:off x="7547610" y="3667760"/>
            <a:ext cx="43180" cy="43180"/>
          </a:xfrm>
          <a:prstGeom prst="ellipse">
            <a:avLst/>
          </a:prstGeom>
          <a:solidFill>
            <a:srgbClr val="1B5AA8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scp-2-1"/>
          <p:cNvSpPr txBox="1"/>
          <p:nvPr/>
        </p:nvSpPr>
        <p:spPr>
          <a:xfrm>
            <a:off x="7659370" y="3603466"/>
            <a:ext cx="66865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先试点后铺开</a:t>
            </a:r>
          </a:p>
        </p:txBody>
      </p:sp>
      <p:sp>
        <p:nvSpPr>
          <p:cNvPr id="54" name="scd-2-2"/>
          <p:cNvSpPr/>
          <p:nvPr/>
        </p:nvSpPr>
        <p:spPr>
          <a:xfrm>
            <a:off x="9389110" y="3667760"/>
            <a:ext cx="43180" cy="43180"/>
          </a:xfrm>
          <a:prstGeom prst="ellipse">
            <a:avLst/>
          </a:prstGeom>
          <a:solidFill>
            <a:srgbClr val="1B5AA8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scp-2-2"/>
          <p:cNvSpPr txBox="1"/>
          <p:nvPr/>
        </p:nvSpPr>
        <p:spPr>
          <a:xfrm>
            <a:off x="9500870" y="3603466"/>
            <a:ext cx="8629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过程数据全程留痕</a:t>
            </a:r>
          </a:p>
        </p:txBody>
      </p:sp>
      <p:sp>
        <p:nvSpPr>
          <p:cNvPr id="56" name="sc-3"/>
          <p:cNvSpPr/>
          <p:nvPr/>
        </p:nvSpPr>
        <p:spPr>
          <a:xfrm>
            <a:off x="6858000" y="4051300"/>
            <a:ext cx="4381500" cy="774700"/>
          </a:xfrm>
          <a:custGeom>
            <a:avLst/>
            <a:gdLst/>
            <a:ahLst/>
            <a:cxnLst/>
            <a:rect l="0" t="0" r="r" b="b"/>
            <a:pathLst>
              <a:path w="4381500" h="774700">
                <a:moveTo>
                  <a:pt x="114300" y="0"/>
                </a:moveTo>
                <a:lnTo>
                  <a:pt x="4267200" y="0"/>
                </a:lnTo>
                <a:cubicBezTo>
                  <a:pt x="4330319" y="0"/>
                  <a:pt x="4381500" y="51181"/>
                  <a:pt x="4381500" y="114300"/>
                </a:cubicBezTo>
                <a:lnTo>
                  <a:pt x="4381500" y="660400"/>
                </a:lnTo>
                <a:cubicBezTo>
                  <a:pt x="4381500" y="723519"/>
                  <a:pt x="4330319" y="774700"/>
                  <a:pt x="4267200" y="774700"/>
                </a:cubicBezTo>
                <a:lnTo>
                  <a:pt x="114300" y="774700"/>
                </a:lnTo>
                <a:cubicBezTo>
                  <a:pt x="51181" y="774700"/>
                  <a:pt x="0" y="723519"/>
                  <a:pt x="0" y="6604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scb-3"/>
          <p:cNvSpPr/>
          <p:nvPr/>
        </p:nvSpPr>
        <p:spPr>
          <a:xfrm>
            <a:off x="6858000" y="4051300"/>
            <a:ext cx="31750" cy="774700"/>
          </a:xfrm>
          <a:custGeom>
            <a:avLst/>
            <a:gdLst/>
            <a:ahLst/>
            <a:cxnLst/>
            <a:rect l="0" t="0" r="r" b="b"/>
            <a:pathLst>
              <a:path w="31750" h="7747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58825"/>
                </a:lnTo>
                <a:cubicBezTo>
                  <a:pt x="31750" y="767588"/>
                  <a:pt x="24638" y="774700"/>
                  <a:pt x="15875" y="774700"/>
                </a:cubicBezTo>
                <a:lnTo>
                  <a:pt x="15875" y="774700"/>
                </a:lnTo>
                <a:cubicBezTo>
                  <a:pt x="7112" y="774700"/>
                  <a:pt x="0" y="767588"/>
                  <a:pt x="0" y="7588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scc-3"/>
          <p:cNvSpPr/>
          <p:nvPr/>
        </p:nvSpPr>
        <p:spPr>
          <a:xfrm>
            <a:off x="7023100" y="4203700"/>
            <a:ext cx="330200" cy="330200"/>
          </a:xfrm>
          <a:prstGeom prst="ellipse">
            <a:avLst/>
          </a:prstGeom>
          <a:solidFill>
            <a:srgbClr val="3985CD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sca-3"/>
          <p:cNvSpPr txBox="1"/>
          <p:nvPr/>
        </p:nvSpPr>
        <p:spPr>
          <a:xfrm>
            <a:off x="7086219" y="4259770"/>
            <a:ext cx="203962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C</a:t>
            </a:r>
          </a:p>
        </p:txBody>
      </p:sp>
      <p:sp>
        <p:nvSpPr>
          <p:cNvPr id="60" name="icon-search"/>
          <p:cNvSpPr/>
          <p:nvPr/>
        </p:nvSpPr>
        <p:spPr>
          <a:xfrm>
            <a:off x="7592568" y="4354068"/>
            <a:ext cx="27559" cy="27559"/>
          </a:xfrm>
          <a:custGeom>
            <a:avLst/>
            <a:gdLst/>
            <a:ahLst/>
            <a:cxnLst/>
            <a:rect l="0" t="0" r="r" b="b"/>
            <a:pathLst>
              <a:path w="27559" h="27559">
                <a:moveTo>
                  <a:pt x="27559" y="27559"/>
                </a:moveTo>
                <a:lnTo>
                  <a:pt x="0" y="0"/>
                </a:lnTo>
              </a:path>
            </a:pathLst>
          </a:custGeom>
          <a:noFill/>
          <a:ln w="1270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icon-search"/>
          <p:cNvSpPr/>
          <p:nvPr/>
        </p:nvSpPr>
        <p:spPr>
          <a:xfrm>
            <a:off x="7518294" y="4279794"/>
            <a:ext cx="88053" cy="88053"/>
          </a:xfrm>
          <a:prstGeom prst="ellipse">
            <a:avLst/>
          </a:prstGeom>
          <a:noFill/>
          <a:ln w="1270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scn-3"/>
          <p:cNvSpPr txBox="1"/>
          <p:nvPr/>
        </p:nvSpPr>
        <p:spPr>
          <a:xfrm>
            <a:off x="7755636" y="4208970"/>
            <a:ext cx="42799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9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检查</a:t>
            </a:r>
          </a:p>
        </p:txBody>
      </p:sp>
      <p:sp>
        <p:nvSpPr>
          <p:cNvPr id="63" name="scnote-3"/>
          <p:cNvSpPr txBox="1"/>
          <p:nvPr/>
        </p:nvSpPr>
        <p:spPr>
          <a:xfrm>
            <a:off x="8114665" y="4244261"/>
            <a:ext cx="8956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与基线逐项对照</a:t>
            </a:r>
          </a:p>
        </p:txBody>
      </p:sp>
      <p:sp>
        <p:nvSpPr>
          <p:cNvPr id="64" name="scd-3-1"/>
          <p:cNvSpPr/>
          <p:nvPr/>
        </p:nvSpPr>
        <p:spPr>
          <a:xfrm>
            <a:off x="7547610" y="4556760"/>
            <a:ext cx="43180" cy="43180"/>
          </a:xfrm>
          <a:prstGeom prst="ellipse">
            <a:avLst/>
          </a:prstGeom>
          <a:solidFill>
            <a:srgbClr val="3985CD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scp-3-1"/>
          <p:cNvSpPr txBox="1"/>
          <p:nvPr/>
        </p:nvSpPr>
        <p:spPr>
          <a:xfrm>
            <a:off x="7659370" y="4492466"/>
            <a:ext cx="57150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用数据说话</a:t>
            </a:r>
          </a:p>
        </p:txBody>
      </p:sp>
      <p:sp>
        <p:nvSpPr>
          <p:cNvPr id="66" name="scd-3-2"/>
          <p:cNvSpPr/>
          <p:nvPr/>
        </p:nvSpPr>
        <p:spPr>
          <a:xfrm>
            <a:off x="9389110" y="4556760"/>
            <a:ext cx="43180" cy="43180"/>
          </a:xfrm>
          <a:prstGeom prst="ellipse">
            <a:avLst/>
          </a:prstGeom>
          <a:solidFill>
            <a:srgbClr val="3985CD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scp-3-2"/>
          <p:cNvSpPr txBox="1"/>
          <p:nvPr/>
        </p:nvSpPr>
        <p:spPr>
          <a:xfrm>
            <a:off x="9500870" y="4492466"/>
            <a:ext cx="96012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偏差归因到具体环节</a:t>
            </a:r>
          </a:p>
        </p:txBody>
      </p:sp>
      <p:sp>
        <p:nvSpPr>
          <p:cNvPr id="68" name="sc-4"/>
          <p:cNvSpPr/>
          <p:nvPr/>
        </p:nvSpPr>
        <p:spPr>
          <a:xfrm>
            <a:off x="6858000" y="4940300"/>
            <a:ext cx="4381500" cy="774700"/>
          </a:xfrm>
          <a:custGeom>
            <a:avLst/>
            <a:gdLst/>
            <a:ahLst/>
            <a:cxnLst/>
            <a:rect l="0" t="0" r="r" b="b"/>
            <a:pathLst>
              <a:path w="4381500" h="774700">
                <a:moveTo>
                  <a:pt x="114300" y="0"/>
                </a:moveTo>
                <a:lnTo>
                  <a:pt x="4267200" y="0"/>
                </a:lnTo>
                <a:cubicBezTo>
                  <a:pt x="4330319" y="0"/>
                  <a:pt x="4381500" y="51181"/>
                  <a:pt x="4381500" y="114300"/>
                </a:cubicBezTo>
                <a:lnTo>
                  <a:pt x="4381500" y="660400"/>
                </a:lnTo>
                <a:cubicBezTo>
                  <a:pt x="4381500" y="723519"/>
                  <a:pt x="4330319" y="774700"/>
                  <a:pt x="4267200" y="774700"/>
                </a:cubicBezTo>
                <a:lnTo>
                  <a:pt x="114300" y="774700"/>
                </a:lnTo>
                <a:cubicBezTo>
                  <a:pt x="51181" y="774700"/>
                  <a:pt x="0" y="723519"/>
                  <a:pt x="0" y="6604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scb-4"/>
          <p:cNvSpPr/>
          <p:nvPr/>
        </p:nvSpPr>
        <p:spPr>
          <a:xfrm>
            <a:off x="6858000" y="4940300"/>
            <a:ext cx="31750" cy="774700"/>
          </a:xfrm>
          <a:custGeom>
            <a:avLst/>
            <a:gdLst/>
            <a:ahLst/>
            <a:cxnLst/>
            <a:rect l="0" t="0" r="r" b="b"/>
            <a:pathLst>
              <a:path w="31750" h="7747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58825"/>
                </a:lnTo>
                <a:cubicBezTo>
                  <a:pt x="31750" y="767588"/>
                  <a:pt x="24638" y="774700"/>
                  <a:pt x="15875" y="774700"/>
                </a:cubicBezTo>
                <a:lnTo>
                  <a:pt x="15875" y="774700"/>
                </a:lnTo>
                <a:cubicBezTo>
                  <a:pt x="7112" y="774700"/>
                  <a:pt x="0" y="767588"/>
                  <a:pt x="0" y="7588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scc-4"/>
          <p:cNvSpPr/>
          <p:nvPr/>
        </p:nvSpPr>
        <p:spPr>
          <a:xfrm>
            <a:off x="7023100" y="5092700"/>
            <a:ext cx="330200" cy="330200"/>
          </a:xfrm>
          <a:prstGeom prst="ellipse">
            <a:avLst/>
          </a:prstGeom>
          <a:solidFill>
            <a:srgbClr val="54A2D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sca-4"/>
          <p:cNvSpPr txBox="1"/>
          <p:nvPr/>
        </p:nvSpPr>
        <p:spPr>
          <a:xfrm>
            <a:off x="7086219" y="5148770"/>
            <a:ext cx="203962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54A2DF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72" name="icon-check"/>
          <p:cNvSpPr/>
          <p:nvPr/>
        </p:nvSpPr>
        <p:spPr>
          <a:xfrm>
            <a:off x="7525194" y="5189410"/>
            <a:ext cx="88011" cy="61912"/>
          </a:xfrm>
          <a:custGeom>
            <a:avLst/>
            <a:gdLst/>
            <a:ahLst/>
            <a:cxnLst/>
            <a:rect l="0" t="0" r="r" b="b"/>
            <a:pathLst>
              <a:path w="88011" h="61912">
                <a:moveTo>
                  <a:pt x="0" y="33020"/>
                </a:moveTo>
                <a:lnTo>
                  <a:pt x="28892" y="61912"/>
                </a:lnTo>
                <a:lnTo>
                  <a:pt x="88011" y="0"/>
                </a:lnTo>
              </a:path>
            </a:pathLst>
          </a:custGeom>
          <a:noFill/>
          <a:ln w="1270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scn-4"/>
          <p:cNvSpPr txBox="1"/>
          <p:nvPr/>
        </p:nvSpPr>
        <p:spPr>
          <a:xfrm>
            <a:off x="7755636" y="5097970"/>
            <a:ext cx="42799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9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处置</a:t>
            </a:r>
          </a:p>
        </p:txBody>
      </p:sp>
      <p:sp>
        <p:nvSpPr>
          <p:cNvPr id="74" name="scnote-4"/>
          <p:cNvSpPr txBox="1"/>
          <p:nvPr/>
        </p:nvSpPr>
        <p:spPr>
          <a:xfrm>
            <a:off x="8114665" y="51332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固化标准或重启循环</a:t>
            </a:r>
          </a:p>
        </p:txBody>
      </p:sp>
      <p:sp>
        <p:nvSpPr>
          <p:cNvPr id="75" name="scd-4-1"/>
          <p:cNvSpPr/>
          <p:nvPr/>
        </p:nvSpPr>
        <p:spPr>
          <a:xfrm>
            <a:off x="7547610" y="5445760"/>
            <a:ext cx="43180" cy="43180"/>
          </a:xfrm>
          <a:prstGeom prst="ellipse">
            <a:avLst/>
          </a:prstGeom>
          <a:solidFill>
            <a:srgbClr val="54A2DF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scp-4-1"/>
          <p:cNvSpPr txBox="1"/>
          <p:nvPr/>
        </p:nvSpPr>
        <p:spPr>
          <a:xfrm>
            <a:off x="7659370" y="5381466"/>
            <a:ext cx="79248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有效的写进 SOP</a:t>
            </a:r>
          </a:p>
        </p:txBody>
      </p:sp>
      <p:sp>
        <p:nvSpPr>
          <p:cNvPr id="77" name="scd-4-2"/>
          <p:cNvSpPr/>
          <p:nvPr/>
        </p:nvSpPr>
        <p:spPr>
          <a:xfrm>
            <a:off x="9389110" y="5445760"/>
            <a:ext cx="43180" cy="43180"/>
          </a:xfrm>
          <a:prstGeom prst="ellipse">
            <a:avLst/>
          </a:prstGeom>
          <a:solidFill>
            <a:srgbClr val="54A2DF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scp-4-2"/>
          <p:cNvSpPr txBox="1"/>
          <p:nvPr/>
        </p:nvSpPr>
        <p:spPr>
          <a:xfrm>
            <a:off x="9500870" y="5381466"/>
            <a:ext cx="9315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无效的回到 P 重来</a:t>
            </a:r>
          </a:p>
        </p:txBody>
      </p:sp>
      <p:sp>
        <p:nvSpPr>
          <p:cNvPr id="79" name="sum"/>
          <p:cNvSpPr/>
          <p:nvPr/>
        </p:nvSpPr>
        <p:spPr>
          <a:xfrm>
            <a:off x="952500" y="5867400"/>
            <a:ext cx="10287000" cy="457200"/>
          </a:xfrm>
          <a:custGeom>
            <a:avLst/>
            <a:gdLst/>
            <a:ahLst/>
            <a:cxnLst/>
            <a:rect l="0" t="0" r="r" b="b"/>
            <a:pathLst>
              <a:path w="10287000" h="4572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355600"/>
                </a:lnTo>
                <a:cubicBezTo>
                  <a:pt x="10287000" y="411734"/>
                  <a:pt x="10241534" y="457200"/>
                  <a:pt x="10185400" y="457200"/>
                </a:cubicBezTo>
                <a:lnTo>
                  <a:pt x="101600" y="457200"/>
                </a:lnTo>
                <a:cubicBezTo>
                  <a:pt x="45466" y="457200"/>
                  <a:pt x="0" y="411734"/>
                  <a:pt x="0" y="355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sum-bar"/>
          <p:cNvSpPr/>
          <p:nvPr/>
        </p:nvSpPr>
        <p:spPr>
          <a:xfrm>
            <a:off x="952500" y="5867400"/>
            <a:ext cx="31750" cy="4572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sum-h"/>
          <p:cNvSpPr txBox="1"/>
          <p:nvPr/>
        </p:nvSpPr>
        <p:spPr>
          <a:xfrm>
            <a:off x="1141222" y="59977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闭环纪律</a:t>
            </a:r>
          </a:p>
        </p:txBody>
      </p:sp>
      <p:sp>
        <p:nvSpPr>
          <p:cNvPr id="82" name="sum-p"/>
          <p:cNvSpPr txBox="1"/>
          <p:nvPr/>
        </p:nvSpPr>
        <p:spPr>
          <a:xfrm>
            <a:off x="2082165" y="6009561"/>
            <a:ext cx="555339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没有 C 的 PDCA 只是 PD：每季度末必须拿出对照数据，无效方案直接回到 P，不允许带着问题进下一圈。</a:t>
            </a:r>
          </a:p>
        </p:txBody>
      </p:sp>
      <p:cxnSp>
        <p:nvCxnSpPr>
          <p:cNvPr id="83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foot-l"/>
          <p:cNvSpPr txBox="1"/>
          <p:nvPr/>
        </p:nvSpPr>
        <p:spPr>
          <a:xfrm>
            <a:off x="573532" y="6532308"/>
            <a:ext cx="88887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PDCA · 四段闭环</a:t>
            </a:r>
          </a:p>
        </p:txBody>
      </p:sp>
      <p:sp>
        <p:nvSpPr>
          <p:cNvPr id="85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478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2026 产品路线图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44589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PRODUCT ROADMAP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237599" y="673132"/>
            <a:ext cx="23831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三条产品线、四个季度的版本节奏与关键能力</a:t>
            </a:r>
          </a:p>
        </p:txBody>
      </p:sp>
      <p:sp>
        <p:nvSpPr>
          <p:cNvPr id="10" name="qh-1"/>
          <p:cNvSpPr/>
          <p:nvPr/>
        </p:nvSpPr>
        <p:spPr>
          <a:xfrm>
            <a:off x="3124200" y="1409700"/>
            <a:ext cx="1962150" cy="355600"/>
          </a:xfrm>
          <a:custGeom>
            <a:avLst/>
            <a:gdLst/>
            <a:ahLst/>
            <a:cxnLst/>
            <a:rect l="0" t="0" r="r" b="b"/>
            <a:pathLst>
              <a:path w="1962150" h="355600">
                <a:moveTo>
                  <a:pt x="88900" y="0"/>
                </a:moveTo>
                <a:lnTo>
                  <a:pt x="1873250" y="0"/>
                </a:lnTo>
                <a:cubicBezTo>
                  <a:pt x="1922336" y="0"/>
                  <a:pt x="1962150" y="39815"/>
                  <a:pt x="1962150" y="88900"/>
                </a:cubicBezTo>
                <a:lnTo>
                  <a:pt x="1962150" y="266700"/>
                </a:lnTo>
                <a:cubicBezTo>
                  <a:pt x="1962150" y="315786"/>
                  <a:pt x="1922336" y="355600"/>
                  <a:pt x="1873250" y="355600"/>
                </a:cubicBezTo>
                <a:lnTo>
                  <a:pt x="88900" y="355600"/>
                </a:lnTo>
                <a:cubicBezTo>
                  <a:pt x="39814" y="355600"/>
                  <a:pt x="0" y="315786"/>
                  <a:pt x="0" y="266700"/>
                </a:cubicBezTo>
                <a:lnTo>
                  <a:pt x="0" y="88900"/>
                </a:lnTo>
                <a:cubicBezTo>
                  <a:pt x="0" y="39815"/>
                  <a:pt x="39814" y="0"/>
                  <a:pt x="88900" y="0"/>
                </a:cubicBezTo>
                <a:close/>
              </a:path>
            </a:pathLst>
          </a:custGeom>
          <a:solidFill>
            <a:srgbClr val="0B3E8F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qn-1"/>
          <p:cNvSpPr txBox="1"/>
          <p:nvPr/>
        </p:nvSpPr>
        <p:spPr>
          <a:xfrm>
            <a:off x="3954653" y="1414970"/>
            <a:ext cx="301244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 spc="75">
                <a:solidFill>
                  <a:srgbClr val="0B2545"/>
                </a:solidFill>
                <a:latin typeface="Arial"/>
                <a:ea typeface="Arial"/>
                <a:cs typeface="Arial"/>
              </a:rPr>
              <a:t>Q1</a:t>
            </a:r>
          </a:p>
        </p:txBody>
      </p:sp>
      <p:sp>
        <p:nvSpPr>
          <p:cNvPr id="12" name="qm-1"/>
          <p:cNvSpPr txBox="1"/>
          <p:nvPr/>
        </p:nvSpPr>
        <p:spPr>
          <a:xfrm>
            <a:off x="3914902" y="1604708"/>
            <a:ext cx="3807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1–3 月</a:t>
            </a:r>
          </a:p>
        </p:txBody>
      </p:sp>
      <p:cxnSp>
        <p:nvCxnSpPr>
          <p:cNvPr id="13" name="qsep-1"/>
          <p:cNvCxnSpPr/>
          <p:nvPr/>
        </p:nvCxnSpPr>
        <p:spPr>
          <a:xfrm>
            <a:off x="3086100" y="1828800"/>
            <a:ext cx="0" cy="358140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qh-2"/>
          <p:cNvSpPr/>
          <p:nvPr/>
        </p:nvSpPr>
        <p:spPr>
          <a:xfrm>
            <a:off x="5162550" y="1409700"/>
            <a:ext cx="1962150" cy="355600"/>
          </a:xfrm>
          <a:custGeom>
            <a:avLst/>
            <a:gdLst/>
            <a:ahLst/>
            <a:cxnLst/>
            <a:rect l="0" t="0" r="r" b="b"/>
            <a:pathLst>
              <a:path w="1962150" h="355600">
                <a:moveTo>
                  <a:pt x="88900" y="0"/>
                </a:moveTo>
                <a:lnTo>
                  <a:pt x="1873250" y="0"/>
                </a:lnTo>
                <a:cubicBezTo>
                  <a:pt x="1922336" y="0"/>
                  <a:pt x="1962150" y="39815"/>
                  <a:pt x="1962150" y="88900"/>
                </a:cubicBezTo>
                <a:lnTo>
                  <a:pt x="1962150" y="266700"/>
                </a:lnTo>
                <a:cubicBezTo>
                  <a:pt x="1962150" y="315786"/>
                  <a:pt x="1922336" y="355600"/>
                  <a:pt x="1873250" y="355600"/>
                </a:cubicBezTo>
                <a:lnTo>
                  <a:pt x="88900" y="355600"/>
                </a:lnTo>
                <a:cubicBezTo>
                  <a:pt x="39814" y="355600"/>
                  <a:pt x="0" y="315786"/>
                  <a:pt x="0" y="266700"/>
                </a:cubicBezTo>
                <a:lnTo>
                  <a:pt x="0" y="88900"/>
                </a:lnTo>
                <a:cubicBezTo>
                  <a:pt x="0" y="39815"/>
                  <a:pt x="39814" y="0"/>
                  <a:pt x="88900" y="0"/>
                </a:cubicBezTo>
                <a:close/>
              </a:path>
            </a:pathLst>
          </a:custGeom>
          <a:solidFill>
            <a:srgbClr val="0B3E8F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qn-2"/>
          <p:cNvSpPr txBox="1"/>
          <p:nvPr/>
        </p:nvSpPr>
        <p:spPr>
          <a:xfrm>
            <a:off x="5993003" y="1414970"/>
            <a:ext cx="301244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 spc="75">
                <a:solidFill>
                  <a:srgbClr val="0B2545"/>
                </a:solidFill>
                <a:latin typeface="Arial"/>
                <a:ea typeface="Arial"/>
                <a:cs typeface="Arial"/>
              </a:rPr>
              <a:t>Q2</a:t>
            </a:r>
          </a:p>
        </p:txBody>
      </p:sp>
      <p:sp>
        <p:nvSpPr>
          <p:cNvPr id="16" name="qm-2"/>
          <p:cNvSpPr txBox="1"/>
          <p:nvPr/>
        </p:nvSpPr>
        <p:spPr>
          <a:xfrm>
            <a:off x="5953252" y="1604708"/>
            <a:ext cx="3807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4–6 月</a:t>
            </a:r>
          </a:p>
        </p:txBody>
      </p:sp>
      <p:cxnSp>
        <p:nvCxnSpPr>
          <p:cNvPr id="17" name="qsep-2"/>
          <p:cNvCxnSpPr/>
          <p:nvPr/>
        </p:nvCxnSpPr>
        <p:spPr>
          <a:xfrm>
            <a:off x="5124450" y="1828800"/>
            <a:ext cx="0" cy="358140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qh-3"/>
          <p:cNvSpPr/>
          <p:nvPr/>
        </p:nvSpPr>
        <p:spPr>
          <a:xfrm>
            <a:off x="7200900" y="1409700"/>
            <a:ext cx="1962150" cy="355600"/>
          </a:xfrm>
          <a:custGeom>
            <a:avLst/>
            <a:gdLst/>
            <a:ahLst/>
            <a:cxnLst/>
            <a:rect l="0" t="0" r="r" b="b"/>
            <a:pathLst>
              <a:path w="1962150" h="355600">
                <a:moveTo>
                  <a:pt x="88900" y="0"/>
                </a:moveTo>
                <a:lnTo>
                  <a:pt x="1873250" y="0"/>
                </a:lnTo>
                <a:cubicBezTo>
                  <a:pt x="1922336" y="0"/>
                  <a:pt x="1962150" y="39815"/>
                  <a:pt x="1962150" y="88900"/>
                </a:cubicBezTo>
                <a:lnTo>
                  <a:pt x="1962150" y="266700"/>
                </a:lnTo>
                <a:cubicBezTo>
                  <a:pt x="1962150" y="315786"/>
                  <a:pt x="1922336" y="355600"/>
                  <a:pt x="1873250" y="355600"/>
                </a:cubicBezTo>
                <a:lnTo>
                  <a:pt x="88900" y="355600"/>
                </a:lnTo>
                <a:cubicBezTo>
                  <a:pt x="39814" y="355600"/>
                  <a:pt x="0" y="315786"/>
                  <a:pt x="0" y="266700"/>
                </a:cubicBezTo>
                <a:lnTo>
                  <a:pt x="0" y="88900"/>
                </a:lnTo>
                <a:cubicBezTo>
                  <a:pt x="0" y="39815"/>
                  <a:pt x="39814" y="0"/>
                  <a:pt x="88900" y="0"/>
                </a:cubicBezTo>
                <a:close/>
              </a:path>
            </a:pathLst>
          </a:custGeom>
          <a:solidFill>
            <a:srgbClr val="0B3E8F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qn-3"/>
          <p:cNvSpPr txBox="1"/>
          <p:nvPr/>
        </p:nvSpPr>
        <p:spPr>
          <a:xfrm>
            <a:off x="8031353" y="1414970"/>
            <a:ext cx="301244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 spc="75">
                <a:solidFill>
                  <a:srgbClr val="0B2545"/>
                </a:solidFill>
                <a:latin typeface="Arial"/>
                <a:ea typeface="Arial"/>
                <a:cs typeface="Arial"/>
              </a:rPr>
              <a:t>Q3</a:t>
            </a:r>
          </a:p>
        </p:txBody>
      </p:sp>
      <p:sp>
        <p:nvSpPr>
          <p:cNvPr id="20" name="qm-3"/>
          <p:cNvSpPr txBox="1"/>
          <p:nvPr/>
        </p:nvSpPr>
        <p:spPr>
          <a:xfrm>
            <a:off x="7991602" y="1604708"/>
            <a:ext cx="3807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7–9 月</a:t>
            </a:r>
          </a:p>
        </p:txBody>
      </p:sp>
      <p:cxnSp>
        <p:nvCxnSpPr>
          <p:cNvPr id="21" name="qsep-3"/>
          <p:cNvCxnSpPr/>
          <p:nvPr/>
        </p:nvCxnSpPr>
        <p:spPr>
          <a:xfrm>
            <a:off x="7162800" y="1828800"/>
            <a:ext cx="0" cy="358140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qh-4"/>
          <p:cNvSpPr/>
          <p:nvPr/>
        </p:nvSpPr>
        <p:spPr>
          <a:xfrm>
            <a:off x="9239250" y="1409700"/>
            <a:ext cx="1962150" cy="355600"/>
          </a:xfrm>
          <a:custGeom>
            <a:avLst/>
            <a:gdLst/>
            <a:ahLst/>
            <a:cxnLst/>
            <a:rect l="0" t="0" r="r" b="b"/>
            <a:pathLst>
              <a:path w="1962150" h="355600">
                <a:moveTo>
                  <a:pt x="88900" y="0"/>
                </a:moveTo>
                <a:lnTo>
                  <a:pt x="1873250" y="0"/>
                </a:lnTo>
                <a:cubicBezTo>
                  <a:pt x="1922336" y="0"/>
                  <a:pt x="1962150" y="39815"/>
                  <a:pt x="1962150" y="88900"/>
                </a:cubicBezTo>
                <a:lnTo>
                  <a:pt x="1962150" y="266700"/>
                </a:lnTo>
                <a:cubicBezTo>
                  <a:pt x="1962150" y="315786"/>
                  <a:pt x="1922336" y="355600"/>
                  <a:pt x="1873250" y="355600"/>
                </a:cubicBezTo>
                <a:lnTo>
                  <a:pt x="88900" y="355600"/>
                </a:lnTo>
                <a:cubicBezTo>
                  <a:pt x="39814" y="355600"/>
                  <a:pt x="0" y="315786"/>
                  <a:pt x="0" y="266700"/>
                </a:cubicBezTo>
                <a:lnTo>
                  <a:pt x="0" y="88900"/>
                </a:lnTo>
                <a:cubicBezTo>
                  <a:pt x="0" y="39815"/>
                  <a:pt x="39814" y="0"/>
                  <a:pt x="88900" y="0"/>
                </a:cubicBezTo>
                <a:close/>
              </a:path>
            </a:pathLst>
          </a:custGeom>
          <a:solidFill>
            <a:srgbClr val="0B3E8F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qn-4"/>
          <p:cNvSpPr txBox="1"/>
          <p:nvPr/>
        </p:nvSpPr>
        <p:spPr>
          <a:xfrm>
            <a:off x="10069703" y="1414970"/>
            <a:ext cx="301244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 spc="75">
                <a:solidFill>
                  <a:srgbClr val="0B2545"/>
                </a:solidFill>
                <a:latin typeface="Arial"/>
                <a:ea typeface="Arial"/>
                <a:cs typeface="Arial"/>
              </a:rPr>
              <a:t>Q4</a:t>
            </a:r>
          </a:p>
        </p:txBody>
      </p:sp>
      <p:sp>
        <p:nvSpPr>
          <p:cNvPr id="24" name="qm-4"/>
          <p:cNvSpPr txBox="1"/>
          <p:nvPr/>
        </p:nvSpPr>
        <p:spPr>
          <a:xfrm>
            <a:off x="9977628" y="1604708"/>
            <a:ext cx="4853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10–12 月</a:t>
            </a:r>
          </a:p>
        </p:txBody>
      </p:sp>
      <p:cxnSp>
        <p:nvCxnSpPr>
          <p:cNvPr id="25" name="qsep-4"/>
          <p:cNvCxnSpPr/>
          <p:nvPr/>
        </p:nvCxnSpPr>
        <p:spPr>
          <a:xfrm>
            <a:off x="9201150" y="1828800"/>
            <a:ext cx="0" cy="358140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qsep-end"/>
          <p:cNvCxnSpPr/>
          <p:nvPr/>
        </p:nvCxnSpPr>
        <p:spPr>
          <a:xfrm>
            <a:off x="11239500" y="1828800"/>
            <a:ext cx="0" cy="358140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lane-1"/>
          <p:cNvSpPr/>
          <p:nvPr/>
        </p:nvSpPr>
        <p:spPr>
          <a:xfrm>
            <a:off x="952500" y="1905000"/>
            <a:ext cx="10287000" cy="1066800"/>
          </a:xfrm>
          <a:custGeom>
            <a:avLst/>
            <a:gdLst/>
            <a:ahLst/>
            <a:cxnLst/>
            <a:rect l="0" t="0" r="r" b="b"/>
            <a:pathLst>
              <a:path w="10287000" h="1066800">
                <a:moveTo>
                  <a:pt x="114300" y="0"/>
                </a:moveTo>
                <a:lnTo>
                  <a:pt x="10172700" y="0"/>
                </a:lnTo>
                <a:cubicBezTo>
                  <a:pt x="10235819" y="0"/>
                  <a:pt x="10287000" y="51181"/>
                  <a:pt x="10287000" y="114300"/>
                </a:cubicBezTo>
                <a:lnTo>
                  <a:pt x="10287000" y="952500"/>
                </a:lnTo>
                <a:cubicBezTo>
                  <a:pt x="10287000" y="1015619"/>
                  <a:pt x="10235819" y="1066800"/>
                  <a:pt x="10172700" y="1066800"/>
                </a:cubicBezTo>
                <a:lnTo>
                  <a:pt x="114300" y="1066800"/>
                </a:lnTo>
                <a:cubicBezTo>
                  <a:pt x="51181" y="1066800"/>
                  <a:pt x="0" y="1015619"/>
                  <a:pt x="0" y="952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>
              <a:alpha val="7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lh-1"/>
          <p:cNvSpPr/>
          <p:nvPr/>
        </p:nvSpPr>
        <p:spPr>
          <a:xfrm>
            <a:off x="952500" y="1905000"/>
            <a:ext cx="1905000" cy="1066800"/>
          </a:xfrm>
          <a:custGeom>
            <a:avLst/>
            <a:gdLst/>
            <a:ahLst/>
            <a:cxnLst/>
            <a:rect l="0" t="0" r="r" b="b"/>
            <a:pathLst>
              <a:path w="1905000" h="1066800">
                <a:moveTo>
                  <a:pt x="114300" y="0"/>
                </a:moveTo>
                <a:lnTo>
                  <a:pt x="1790700" y="0"/>
                </a:lnTo>
                <a:cubicBezTo>
                  <a:pt x="1853819" y="0"/>
                  <a:pt x="1905000" y="51181"/>
                  <a:pt x="1905000" y="114300"/>
                </a:cubicBezTo>
                <a:lnTo>
                  <a:pt x="1905000" y="952500"/>
                </a:lnTo>
                <a:cubicBezTo>
                  <a:pt x="1905000" y="1015619"/>
                  <a:pt x="1853819" y="1066800"/>
                  <a:pt x="1790700" y="1066800"/>
                </a:cubicBezTo>
                <a:lnTo>
                  <a:pt x="114300" y="1066800"/>
                </a:lnTo>
                <a:cubicBezTo>
                  <a:pt x="51181" y="1066800"/>
                  <a:pt x="0" y="1015619"/>
                  <a:pt x="0" y="952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2D599F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icon-factory"/>
          <p:cNvSpPr/>
          <p:nvPr/>
        </p:nvSpPr>
        <p:spPr>
          <a:xfrm>
            <a:off x="1222566" y="2317306"/>
            <a:ext cx="145669" cy="98234"/>
          </a:xfrm>
          <a:custGeom>
            <a:avLst/>
            <a:gdLst/>
            <a:ahLst/>
            <a:cxnLst/>
            <a:rect l="0" t="0" r="r" b="b"/>
            <a:pathLst>
              <a:path w="145669" h="98234">
                <a:moveTo>
                  <a:pt x="0" y="98234"/>
                </a:moveTo>
                <a:lnTo>
                  <a:pt x="0" y="23749"/>
                </a:lnTo>
                <a:lnTo>
                  <a:pt x="42354" y="49149"/>
                </a:lnTo>
                <a:lnTo>
                  <a:pt x="42354" y="23749"/>
                </a:lnTo>
                <a:lnTo>
                  <a:pt x="84709" y="49149"/>
                </a:lnTo>
                <a:lnTo>
                  <a:pt x="84709" y="0"/>
                </a:lnTo>
                <a:lnTo>
                  <a:pt x="127000" y="25400"/>
                </a:lnTo>
                <a:lnTo>
                  <a:pt x="127000" y="89789"/>
                </a:lnTo>
                <a:close/>
                <a:moveTo>
                  <a:pt x="0" y="98234"/>
                </a:moveTo>
                <a:lnTo>
                  <a:pt x="145669" y="98234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lhn-1"/>
          <p:cNvSpPr txBox="1"/>
          <p:nvPr/>
        </p:nvSpPr>
        <p:spPr>
          <a:xfrm>
            <a:off x="1542288" y="2209102"/>
            <a:ext cx="8851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智能装备</a:t>
            </a:r>
          </a:p>
        </p:txBody>
      </p:sp>
      <p:sp>
        <p:nvSpPr>
          <p:cNvPr id="31" name="lhc-1"/>
          <p:cNvSpPr txBox="1"/>
          <p:nvPr/>
        </p:nvSpPr>
        <p:spPr>
          <a:xfrm>
            <a:off x="1548765" y="2491661"/>
            <a:ext cx="57054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3 个版本</a:t>
            </a:r>
          </a:p>
        </p:txBody>
      </p:sp>
      <p:sp>
        <p:nvSpPr>
          <p:cNvPr id="32" name="v-1-控制器 v3.0"/>
          <p:cNvSpPr/>
          <p:nvPr/>
        </p:nvSpPr>
        <p:spPr>
          <a:xfrm>
            <a:off x="3136900" y="2146300"/>
            <a:ext cx="1936750" cy="584200"/>
          </a:xfrm>
          <a:custGeom>
            <a:avLst/>
            <a:gdLst/>
            <a:ahLst/>
            <a:cxnLst/>
            <a:rect l="0" t="0" r="r" b="b"/>
            <a:pathLst>
              <a:path w="1936750" h="584200">
                <a:moveTo>
                  <a:pt x="88900" y="0"/>
                </a:moveTo>
                <a:lnTo>
                  <a:pt x="1847850" y="0"/>
                </a:lnTo>
                <a:cubicBezTo>
                  <a:pt x="1896936" y="0"/>
                  <a:pt x="1936750" y="39814"/>
                  <a:pt x="1936750" y="88900"/>
                </a:cubicBezTo>
                <a:lnTo>
                  <a:pt x="1936750" y="495300"/>
                </a:lnTo>
                <a:cubicBezTo>
                  <a:pt x="1936750" y="544386"/>
                  <a:pt x="1896936" y="584200"/>
                  <a:pt x="1847850" y="584200"/>
                </a:cubicBezTo>
                <a:lnTo>
                  <a:pt x="88900" y="584200"/>
                </a:lnTo>
                <a:cubicBezTo>
                  <a:pt x="39814" y="584200"/>
                  <a:pt x="0" y="544386"/>
                  <a:pt x="0" y="4953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446BA9"/>
              </a:gs>
              <a:gs pos="100000">
                <a:srgbClr val="154693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vn-1-控制器 v3.0"/>
          <p:cNvSpPr txBox="1"/>
          <p:nvPr/>
        </p:nvSpPr>
        <p:spPr>
          <a:xfrm>
            <a:off x="3249422" y="2225897"/>
            <a:ext cx="86931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控制器 v3.0</a:t>
            </a:r>
          </a:p>
        </p:txBody>
      </p:sp>
      <p:sp>
        <p:nvSpPr>
          <p:cNvPr id="34" name="vt-1-控制器 v3.0"/>
          <p:cNvSpPr txBox="1"/>
          <p:nvPr/>
        </p:nvSpPr>
        <p:spPr>
          <a:xfrm>
            <a:off x="3253232" y="2455608"/>
            <a:ext cx="96151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FFFFFF">
                    <a:alpha val="88000"/>
                  </a:srgbClr>
                </a:solidFill>
                <a:latin typeface="微软雅黑"/>
                <a:ea typeface="微软雅黑"/>
                <a:cs typeface="微软雅黑"/>
              </a:rPr>
              <a:t>算法升级 + 能耗优化</a:t>
            </a:r>
          </a:p>
        </p:txBody>
      </p:sp>
      <p:sp>
        <p:nvSpPr>
          <p:cNvPr id="35" name="vm-1-控制器 v3.0"/>
          <p:cNvSpPr/>
          <p:nvPr/>
        </p:nvSpPr>
        <p:spPr>
          <a:xfrm>
            <a:off x="4876800" y="2381250"/>
            <a:ext cx="114300" cy="114300"/>
          </a:xfrm>
          <a:prstGeom prst="ellipse">
            <a:avLst/>
          </a:prstGeom>
          <a:solidFill>
            <a:srgbClr val="FFFFFF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v-1-柔性产线套件"/>
          <p:cNvSpPr/>
          <p:nvPr/>
        </p:nvSpPr>
        <p:spPr>
          <a:xfrm>
            <a:off x="5175250" y="2146300"/>
            <a:ext cx="3975100" cy="584200"/>
          </a:xfrm>
          <a:custGeom>
            <a:avLst/>
            <a:gdLst/>
            <a:ahLst/>
            <a:cxnLst/>
            <a:rect l="0" t="0" r="r" b="b"/>
            <a:pathLst>
              <a:path w="3975100" h="584200">
                <a:moveTo>
                  <a:pt x="88900" y="0"/>
                </a:moveTo>
                <a:lnTo>
                  <a:pt x="3886200" y="0"/>
                </a:lnTo>
                <a:cubicBezTo>
                  <a:pt x="3935286" y="0"/>
                  <a:pt x="3975100" y="39814"/>
                  <a:pt x="3975100" y="88900"/>
                </a:cubicBezTo>
                <a:lnTo>
                  <a:pt x="3975100" y="495300"/>
                </a:lnTo>
                <a:cubicBezTo>
                  <a:pt x="3975100" y="544386"/>
                  <a:pt x="3935286" y="584200"/>
                  <a:pt x="3886200" y="584200"/>
                </a:cubicBezTo>
                <a:lnTo>
                  <a:pt x="88900" y="584200"/>
                </a:lnTo>
                <a:cubicBezTo>
                  <a:pt x="39814" y="584200"/>
                  <a:pt x="0" y="544386"/>
                  <a:pt x="0" y="4953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446BA9"/>
              </a:gs>
              <a:gs pos="100000">
                <a:srgbClr val="154693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vn-1-柔性产线套件"/>
          <p:cNvSpPr txBox="1"/>
          <p:nvPr/>
        </p:nvSpPr>
        <p:spPr>
          <a:xfrm>
            <a:off x="5287772" y="2225897"/>
            <a:ext cx="87820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柔性产线套件</a:t>
            </a:r>
          </a:p>
        </p:txBody>
      </p:sp>
      <p:sp>
        <p:nvSpPr>
          <p:cNvPr id="38" name="vt-1-柔性产线套件"/>
          <p:cNvSpPr txBox="1"/>
          <p:nvPr/>
        </p:nvSpPr>
        <p:spPr>
          <a:xfrm>
            <a:off x="5291582" y="2455608"/>
            <a:ext cx="80645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FFFFFF">
                    <a:alpha val="88000"/>
                  </a:srgbClr>
                </a:solidFill>
                <a:latin typeface="微软雅黑"/>
                <a:ea typeface="微软雅黑"/>
                <a:cs typeface="微软雅黑"/>
              </a:rPr>
              <a:t>支持多品种小批量</a:t>
            </a:r>
          </a:p>
        </p:txBody>
      </p:sp>
      <p:sp>
        <p:nvSpPr>
          <p:cNvPr id="39" name="vm-1-柔性产线套件"/>
          <p:cNvSpPr/>
          <p:nvPr/>
        </p:nvSpPr>
        <p:spPr>
          <a:xfrm>
            <a:off x="8953500" y="2381250"/>
            <a:ext cx="114300" cy="114300"/>
          </a:xfrm>
          <a:prstGeom prst="ellipse">
            <a:avLst/>
          </a:prstGeom>
          <a:solidFill>
            <a:srgbClr val="FFFFFF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v-1-远程运维模块"/>
          <p:cNvSpPr/>
          <p:nvPr/>
        </p:nvSpPr>
        <p:spPr>
          <a:xfrm>
            <a:off x="9251950" y="2146300"/>
            <a:ext cx="1936750" cy="584200"/>
          </a:xfrm>
          <a:custGeom>
            <a:avLst/>
            <a:gdLst/>
            <a:ahLst/>
            <a:cxnLst/>
            <a:rect l="0" t="0" r="r" b="b"/>
            <a:pathLst>
              <a:path w="1936750" h="584200">
                <a:moveTo>
                  <a:pt x="88900" y="0"/>
                </a:moveTo>
                <a:lnTo>
                  <a:pt x="1847850" y="0"/>
                </a:lnTo>
                <a:cubicBezTo>
                  <a:pt x="1896936" y="0"/>
                  <a:pt x="1936750" y="39814"/>
                  <a:pt x="1936750" y="88900"/>
                </a:cubicBezTo>
                <a:lnTo>
                  <a:pt x="1936750" y="495300"/>
                </a:lnTo>
                <a:cubicBezTo>
                  <a:pt x="1936750" y="544386"/>
                  <a:pt x="1896936" y="584200"/>
                  <a:pt x="1847850" y="584200"/>
                </a:cubicBezTo>
                <a:lnTo>
                  <a:pt x="88900" y="584200"/>
                </a:lnTo>
                <a:cubicBezTo>
                  <a:pt x="39814" y="584200"/>
                  <a:pt x="0" y="544386"/>
                  <a:pt x="0" y="4953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446BA9"/>
              </a:gs>
              <a:gs pos="100000">
                <a:srgbClr val="154693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vn-1-远程运维模块"/>
          <p:cNvSpPr txBox="1"/>
          <p:nvPr/>
        </p:nvSpPr>
        <p:spPr>
          <a:xfrm>
            <a:off x="9364472" y="2225897"/>
            <a:ext cx="87820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远程运维模块</a:t>
            </a:r>
          </a:p>
        </p:txBody>
      </p:sp>
      <p:sp>
        <p:nvSpPr>
          <p:cNvPr id="42" name="vt-1-远程运维模块"/>
          <p:cNvSpPr txBox="1"/>
          <p:nvPr/>
        </p:nvSpPr>
        <p:spPr>
          <a:xfrm>
            <a:off x="9368282" y="2455608"/>
            <a:ext cx="71564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FFFFFF">
                    <a:alpha val="88000"/>
                  </a:srgbClr>
                </a:solidFill>
                <a:latin typeface="微软雅黑"/>
                <a:ea typeface="微软雅黑"/>
                <a:cs typeface="微软雅黑"/>
              </a:rPr>
              <a:t>预测性维护上线</a:t>
            </a:r>
          </a:p>
        </p:txBody>
      </p:sp>
      <p:sp>
        <p:nvSpPr>
          <p:cNvPr id="43" name="vm-1-远程运维模块"/>
          <p:cNvSpPr/>
          <p:nvPr/>
        </p:nvSpPr>
        <p:spPr>
          <a:xfrm>
            <a:off x="10991850" y="2381250"/>
            <a:ext cx="114300" cy="114300"/>
          </a:xfrm>
          <a:prstGeom prst="ellipse">
            <a:avLst/>
          </a:prstGeom>
          <a:solidFill>
            <a:srgbClr val="FFFFFF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lane-2"/>
          <p:cNvSpPr/>
          <p:nvPr/>
        </p:nvSpPr>
        <p:spPr>
          <a:xfrm>
            <a:off x="952500" y="3136900"/>
            <a:ext cx="10287000" cy="1066800"/>
          </a:xfrm>
          <a:custGeom>
            <a:avLst/>
            <a:gdLst/>
            <a:ahLst/>
            <a:cxnLst/>
            <a:rect l="0" t="0" r="r" b="b"/>
            <a:pathLst>
              <a:path w="10287000" h="1066800">
                <a:moveTo>
                  <a:pt x="114300" y="0"/>
                </a:moveTo>
                <a:lnTo>
                  <a:pt x="10172700" y="0"/>
                </a:lnTo>
                <a:cubicBezTo>
                  <a:pt x="10235819" y="0"/>
                  <a:pt x="10287000" y="51181"/>
                  <a:pt x="10287000" y="114300"/>
                </a:cubicBezTo>
                <a:lnTo>
                  <a:pt x="10287000" y="952500"/>
                </a:lnTo>
                <a:cubicBezTo>
                  <a:pt x="10287000" y="1015619"/>
                  <a:pt x="10235819" y="1066800"/>
                  <a:pt x="10172700" y="1066800"/>
                </a:cubicBezTo>
                <a:lnTo>
                  <a:pt x="114300" y="1066800"/>
                </a:lnTo>
                <a:cubicBezTo>
                  <a:pt x="51181" y="1066800"/>
                  <a:pt x="0" y="1015619"/>
                  <a:pt x="0" y="952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>
              <a:alpha val="7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lh-2"/>
          <p:cNvSpPr/>
          <p:nvPr/>
        </p:nvSpPr>
        <p:spPr>
          <a:xfrm>
            <a:off x="952500" y="3136900"/>
            <a:ext cx="1905000" cy="1066800"/>
          </a:xfrm>
          <a:custGeom>
            <a:avLst/>
            <a:gdLst/>
            <a:ahLst/>
            <a:cxnLst/>
            <a:rect l="0" t="0" r="r" b="b"/>
            <a:pathLst>
              <a:path w="1905000" h="1066800">
                <a:moveTo>
                  <a:pt x="114300" y="0"/>
                </a:moveTo>
                <a:lnTo>
                  <a:pt x="1790700" y="0"/>
                </a:lnTo>
                <a:cubicBezTo>
                  <a:pt x="1853819" y="0"/>
                  <a:pt x="1905000" y="51181"/>
                  <a:pt x="1905000" y="114300"/>
                </a:cubicBezTo>
                <a:lnTo>
                  <a:pt x="1905000" y="952500"/>
                </a:lnTo>
                <a:cubicBezTo>
                  <a:pt x="1905000" y="1015619"/>
                  <a:pt x="1853819" y="1066800"/>
                  <a:pt x="1790700" y="1066800"/>
                </a:cubicBezTo>
                <a:lnTo>
                  <a:pt x="114300" y="1066800"/>
                </a:lnTo>
                <a:cubicBezTo>
                  <a:pt x="51181" y="1066800"/>
                  <a:pt x="0" y="1015619"/>
                  <a:pt x="0" y="952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4B8ACB"/>
              </a:gs>
              <a:gs pos="100000">
                <a:srgbClr val="2E77C2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icon-cloud"/>
          <p:cNvSpPr/>
          <p:nvPr/>
        </p:nvSpPr>
        <p:spPr>
          <a:xfrm>
            <a:off x="1217486" y="3524854"/>
            <a:ext cx="160909" cy="110712"/>
          </a:xfrm>
          <a:custGeom>
            <a:avLst/>
            <a:gdLst/>
            <a:ahLst/>
            <a:cxnLst/>
            <a:rect l="0" t="0" r="r" b="b"/>
            <a:pathLst>
              <a:path w="160909" h="110712">
                <a:moveTo>
                  <a:pt x="37275" y="110712"/>
                </a:moveTo>
                <a:cubicBezTo>
                  <a:pt x="17653" y="111664"/>
                  <a:pt x="953" y="96488"/>
                  <a:pt x="0" y="76866"/>
                </a:cubicBezTo>
                <a:cubicBezTo>
                  <a:pt x="-889" y="57245"/>
                  <a:pt x="14224" y="40544"/>
                  <a:pt x="33909" y="39592"/>
                </a:cubicBezTo>
                <a:cubicBezTo>
                  <a:pt x="36640" y="18891"/>
                  <a:pt x="53150" y="2698"/>
                  <a:pt x="73978" y="285"/>
                </a:cubicBezTo>
                <a:cubicBezTo>
                  <a:pt x="94742" y="-2128"/>
                  <a:pt x="114490" y="9874"/>
                  <a:pt x="121920" y="29432"/>
                </a:cubicBezTo>
                <a:cubicBezTo>
                  <a:pt x="144399" y="30384"/>
                  <a:pt x="161798" y="49371"/>
                  <a:pt x="160909" y="71786"/>
                </a:cubicBezTo>
                <a:cubicBezTo>
                  <a:pt x="159956" y="94202"/>
                  <a:pt x="140970" y="111664"/>
                  <a:pt x="118555" y="110712"/>
                </a:cubicBezTo>
                <a:close/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lhn-2"/>
          <p:cNvSpPr txBox="1"/>
          <p:nvPr/>
        </p:nvSpPr>
        <p:spPr>
          <a:xfrm>
            <a:off x="1542288" y="3441002"/>
            <a:ext cx="8851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软件平台</a:t>
            </a:r>
          </a:p>
        </p:txBody>
      </p:sp>
      <p:sp>
        <p:nvSpPr>
          <p:cNvPr id="48" name="lhc-2"/>
          <p:cNvSpPr txBox="1"/>
          <p:nvPr/>
        </p:nvSpPr>
        <p:spPr>
          <a:xfrm>
            <a:off x="1548765" y="3723561"/>
            <a:ext cx="57054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3 个版本</a:t>
            </a:r>
          </a:p>
        </p:txBody>
      </p:sp>
      <p:sp>
        <p:nvSpPr>
          <p:cNvPr id="49" name="v-2-排产引擎 v2"/>
          <p:cNvSpPr/>
          <p:nvPr/>
        </p:nvSpPr>
        <p:spPr>
          <a:xfrm>
            <a:off x="3136900" y="3206750"/>
            <a:ext cx="3975100" cy="419100"/>
          </a:xfrm>
          <a:custGeom>
            <a:avLst/>
            <a:gdLst/>
            <a:ahLst/>
            <a:cxnLst/>
            <a:rect l="0" t="0" r="r" b="b"/>
            <a:pathLst>
              <a:path w="3975100" h="419100">
                <a:moveTo>
                  <a:pt x="88900" y="0"/>
                </a:moveTo>
                <a:lnTo>
                  <a:pt x="3886200" y="0"/>
                </a:lnTo>
                <a:cubicBezTo>
                  <a:pt x="3935286" y="0"/>
                  <a:pt x="3975100" y="39814"/>
                  <a:pt x="3975100" y="88900"/>
                </a:cubicBezTo>
                <a:lnTo>
                  <a:pt x="3975100" y="330200"/>
                </a:lnTo>
                <a:cubicBezTo>
                  <a:pt x="3975100" y="379286"/>
                  <a:pt x="3935286" y="419100"/>
                  <a:pt x="3886200" y="419100"/>
                </a:cubicBezTo>
                <a:lnTo>
                  <a:pt x="88900" y="419100"/>
                </a:lnTo>
                <a:cubicBezTo>
                  <a:pt x="39814" y="419100"/>
                  <a:pt x="0" y="379286"/>
                  <a:pt x="0" y="3302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5E96D0"/>
              </a:gs>
              <a:gs pos="100000">
                <a:srgbClr val="367CC4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vn-2-排产引擎 v2"/>
          <p:cNvSpPr txBox="1"/>
          <p:nvPr/>
        </p:nvSpPr>
        <p:spPr>
          <a:xfrm>
            <a:off x="3249422" y="3235547"/>
            <a:ext cx="84721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排产引擎 v2</a:t>
            </a:r>
          </a:p>
        </p:txBody>
      </p:sp>
      <p:sp>
        <p:nvSpPr>
          <p:cNvPr id="51" name="vt-2-排产引擎 v2"/>
          <p:cNvSpPr txBox="1"/>
          <p:nvPr/>
        </p:nvSpPr>
        <p:spPr>
          <a:xfrm>
            <a:off x="3253232" y="3427158"/>
            <a:ext cx="71564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FFFFFF">
                    <a:alpha val="88000"/>
                  </a:srgbClr>
                </a:solidFill>
                <a:latin typeface="微软雅黑"/>
                <a:ea typeface="微软雅黑"/>
                <a:cs typeface="微软雅黑"/>
              </a:rPr>
              <a:t>秒级重排与插单</a:t>
            </a:r>
          </a:p>
        </p:txBody>
      </p:sp>
      <p:sp>
        <p:nvSpPr>
          <p:cNvPr id="52" name="vm-2-排产引擎 v2"/>
          <p:cNvSpPr/>
          <p:nvPr/>
        </p:nvSpPr>
        <p:spPr>
          <a:xfrm>
            <a:off x="6915150" y="3359150"/>
            <a:ext cx="114300" cy="114300"/>
          </a:xfrm>
          <a:prstGeom prst="ellipse">
            <a:avLst/>
          </a:prstGeom>
          <a:solidFill>
            <a:srgbClr val="FFFFFF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v-2-质量追溯"/>
          <p:cNvSpPr/>
          <p:nvPr/>
        </p:nvSpPr>
        <p:spPr>
          <a:xfrm>
            <a:off x="7213600" y="3206750"/>
            <a:ext cx="1936750" cy="419100"/>
          </a:xfrm>
          <a:custGeom>
            <a:avLst/>
            <a:gdLst/>
            <a:ahLst/>
            <a:cxnLst/>
            <a:rect l="0" t="0" r="r" b="b"/>
            <a:pathLst>
              <a:path w="1936750" h="419100">
                <a:moveTo>
                  <a:pt x="88900" y="0"/>
                </a:moveTo>
                <a:lnTo>
                  <a:pt x="1847850" y="0"/>
                </a:lnTo>
                <a:cubicBezTo>
                  <a:pt x="1896936" y="0"/>
                  <a:pt x="1936750" y="39814"/>
                  <a:pt x="1936750" y="88900"/>
                </a:cubicBezTo>
                <a:lnTo>
                  <a:pt x="1936750" y="330200"/>
                </a:lnTo>
                <a:cubicBezTo>
                  <a:pt x="1936750" y="379286"/>
                  <a:pt x="1896936" y="419100"/>
                  <a:pt x="1847850" y="419100"/>
                </a:cubicBezTo>
                <a:lnTo>
                  <a:pt x="88900" y="419100"/>
                </a:lnTo>
                <a:cubicBezTo>
                  <a:pt x="39814" y="419100"/>
                  <a:pt x="0" y="379286"/>
                  <a:pt x="0" y="3302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5E96D0"/>
              </a:gs>
              <a:gs pos="100000">
                <a:srgbClr val="367CC4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vn-2-质量追溯"/>
          <p:cNvSpPr txBox="1"/>
          <p:nvPr/>
        </p:nvSpPr>
        <p:spPr>
          <a:xfrm>
            <a:off x="7326122" y="3235547"/>
            <a:ext cx="62166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质量追溯</a:t>
            </a:r>
          </a:p>
        </p:txBody>
      </p:sp>
      <p:sp>
        <p:nvSpPr>
          <p:cNvPr id="55" name="vt-2-质量追溯"/>
          <p:cNvSpPr txBox="1"/>
          <p:nvPr/>
        </p:nvSpPr>
        <p:spPr>
          <a:xfrm>
            <a:off x="7329932" y="3427158"/>
            <a:ext cx="71564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FFFFFF">
                    <a:alpha val="88000"/>
                  </a:srgbClr>
                </a:solidFill>
                <a:latin typeface="微软雅黑"/>
                <a:ea typeface="微软雅黑"/>
                <a:cs typeface="微软雅黑"/>
              </a:rPr>
              <a:t>全链路批次追踪</a:t>
            </a:r>
          </a:p>
        </p:txBody>
      </p:sp>
      <p:sp>
        <p:nvSpPr>
          <p:cNvPr id="56" name="vm-2-质量追溯"/>
          <p:cNvSpPr/>
          <p:nvPr/>
        </p:nvSpPr>
        <p:spPr>
          <a:xfrm>
            <a:off x="8953500" y="3359150"/>
            <a:ext cx="114300" cy="114300"/>
          </a:xfrm>
          <a:prstGeom prst="ellipse">
            <a:avLst/>
          </a:prstGeom>
          <a:solidFill>
            <a:srgbClr val="FFFFFF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v-2-智能看板"/>
          <p:cNvSpPr/>
          <p:nvPr/>
        </p:nvSpPr>
        <p:spPr>
          <a:xfrm>
            <a:off x="7213600" y="3714750"/>
            <a:ext cx="3975100" cy="419100"/>
          </a:xfrm>
          <a:custGeom>
            <a:avLst/>
            <a:gdLst/>
            <a:ahLst/>
            <a:cxnLst/>
            <a:rect l="0" t="0" r="r" b="b"/>
            <a:pathLst>
              <a:path w="3975100" h="419100">
                <a:moveTo>
                  <a:pt x="88900" y="0"/>
                </a:moveTo>
                <a:lnTo>
                  <a:pt x="3886200" y="0"/>
                </a:lnTo>
                <a:cubicBezTo>
                  <a:pt x="3935286" y="0"/>
                  <a:pt x="3975100" y="39814"/>
                  <a:pt x="3975100" y="88900"/>
                </a:cubicBezTo>
                <a:lnTo>
                  <a:pt x="3975100" y="330200"/>
                </a:lnTo>
                <a:cubicBezTo>
                  <a:pt x="3975100" y="379286"/>
                  <a:pt x="3935286" y="419100"/>
                  <a:pt x="3886200" y="419100"/>
                </a:cubicBezTo>
                <a:lnTo>
                  <a:pt x="88900" y="419100"/>
                </a:lnTo>
                <a:cubicBezTo>
                  <a:pt x="39814" y="419100"/>
                  <a:pt x="0" y="379286"/>
                  <a:pt x="0" y="3302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72A4D6"/>
              </a:gs>
              <a:gs pos="100000">
                <a:srgbClr val="4F8DCC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vn-2-智能看板"/>
          <p:cNvSpPr txBox="1"/>
          <p:nvPr/>
        </p:nvSpPr>
        <p:spPr>
          <a:xfrm>
            <a:off x="7326122" y="3743547"/>
            <a:ext cx="62166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智能看板</a:t>
            </a:r>
          </a:p>
        </p:txBody>
      </p:sp>
      <p:sp>
        <p:nvSpPr>
          <p:cNvPr id="59" name="vt-2-智能看板"/>
          <p:cNvSpPr txBox="1"/>
          <p:nvPr/>
        </p:nvSpPr>
        <p:spPr>
          <a:xfrm>
            <a:off x="7329932" y="3935158"/>
            <a:ext cx="80645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FFFFFF">
                    <a:alpha val="88000"/>
                  </a:srgbClr>
                </a:solidFill>
                <a:latin typeface="微软雅黑"/>
                <a:ea typeface="微软雅黑"/>
                <a:cs typeface="微软雅黑"/>
              </a:rPr>
              <a:t>经营与现场双视角</a:t>
            </a:r>
          </a:p>
        </p:txBody>
      </p:sp>
      <p:sp>
        <p:nvSpPr>
          <p:cNvPr id="60" name="vm-2-智能看板"/>
          <p:cNvSpPr/>
          <p:nvPr/>
        </p:nvSpPr>
        <p:spPr>
          <a:xfrm>
            <a:off x="10991850" y="3867150"/>
            <a:ext cx="114300" cy="114300"/>
          </a:xfrm>
          <a:prstGeom prst="ellipse">
            <a:avLst/>
          </a:prstGeom>
          <a:solidFill>
            <a:srgbClr val="FFFFFF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lane-3"/>
          <p:cNvSpPr/>
          <p:nvPr/>
        </p:nvSpPr>
        <p:spPr>
          <a:xfrm>
            <a:off x="952500" y="4368800"/>
            <a:ext cx="10287000" cy="1066800"/>
          </a:xfrm>
          <a:custGeom>
            <a:avLst/>
            <a:gdLst/>
            <a:ahLst/>
            <a:cxnLst/>
            <a:rect l="0" t="0" r="r" b="b"/>
            <a:pathLst>
              <a:path w="10287000" h="1066800">
                <a:moveTo>
                  <a:pt x="114300" y="0"/>
                </a:moveTo>
                <a:lnTo>
                  <a:pt x="10172700" y="0"/>
                </a:lnTo>
                <a:cubicBezTo>
                  <a:pt x="10235819" y="0"/>
                  <a:pt x="10287000" y="51181"/>
                  <a:pt x="10287000" y="114300"/>
                </a:cubicBezTo>
                <a:lnTo>
                  <a:pt x="10287000" y="952500"/>
                </a:lnTo>
                <a:cubicBezTo>
                  <a:pt x="10287000" y="1015619"/>
                  <a:pt x="10235819" y="1066800"/>
                  <a:pt x="10172700" y="1066800"/>
                </a:cubicBezTo>
                <a:lnTo>
                  <a:pt x="114300" y="1066800"/>
                </a:lnTo>
                <a:cubicBezTo>
                  <a:pt x="51181" y="1066800"/>
                  <a:pt x="0" y="1015619"/>
                  <a:pt x="0" y="952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>
              <a:alpha val="7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lh-3"/>
          <p:cNvSpPr/>
          <p:nvPr/>
        </p:nvSpPr>
        <p:spPr>
          <a:xfrm>
            <a:off x="952500" y="4368800"/>
            <a:ext cx="1905000" cy="1066800"/>
          </a:xfrm>
          <a:custGeom>
            <a:avLst/>
            <a:gdLst/>
            <a:ahLst/>
            <a:cxnLst/>
            <a:rect l="0" t="0" r="r" b="b"/>
            <a:pathLst>
              <a:path w="1905000" h="1066800">
                <a:moveTo>
                  <a:pt x="114300" y="0"/>
                </a:moveTo>
                <a:lnTo>
                  <a:pt x="1790700" y="0"/>
                </a:lnTo>
                <a:cubicBezTo>
                  <a:pt x="1853819" y="0"/>
                  <a:pt x="1905000" y="51181"/>
                  <a:pt x="1905000" y="114300"/>
                </a:cubicBezTo>
                <a:lnTo>
                  <a:pt x="1905000" y="952500"/>
                </a:lnTo>
                <a:cubicBezTo>
                  <a:pt x="1905000" y="1015619"/>
                  <a:pt x="1853819" y="1066800"/>
                  <a:pt x="1790700" y="1066800"/>
                </a:cubicBezTo>
                <a:lnTo>
                  <a:pt x="114300" y="1066800"/>
                </a:lnTo>
                <a:cubicBezTo>
                  <a:pt x="51181" y="1066800"/>
                  <a:pt x="0" y="1015619"/>
                  <a:pt x="0" y="952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6CAFE3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icon-hand"/>
          <p:cNvSpPr/>
          <p:nvPr/>
        </p:nvSpPr>
        <p:spPr>
          <a:xfrm>
            <a:off x="1231364" y="4740466"/>
            <a:ext cx="114836" cy="145669"/>
          </a:xfrm>
          <a:custGeom>
            <a:avLst/>
            <a:gdLst/>
            <a:ahLst/>
            <a:cxnLst/>
            <a:rect l="0" t="0" r="r" b="b"/>
            <a:pathLst>
              <a:path w="114836" h="145669">
                <a:moveTo>
                  <a:pt x="33556" y="77914"/>
                </a:moveTo>
                <a:lnTo>
                  <a:pt x="33556" y="23749"/>
                </a:lnTo>
                <a:cubicBezTo>
                  <a:pt x="33556" y="16256"/>
                  <a:pt x="39652" y="10160"/>
                  <a:pt x="47081" y="10160"/>
                </a:cubicBezTo>
                <a:cubicBezTo>
                  <a:pt x="54574" y="10160"/>
                  <a:pt x="60670" y="16256"/>
                  <a:pt x="60670" y="23749"/>
                </a:cubicBezTo>
                <a:lnTo>
                  <a:pt x="60670" y="66040"/>
                </a:lnTo>
                <a:moveTo>
                  <a:pt x="60670" y="66040"/>
                </a:moveTo>
                <a:lnTo>
                  <a:pt x="60670" y="13589"/>
                </a:lnTo>
                <a:cubicBezTo>
                  <a:pt x="60670" y="6096"/>
                  <a:pt x="66703" y="0"/>
                  <a:pt x="74196" y="0"/>
                </a:cubicBezTo>
                <a:cubicBezTo>
                  <a:pt x="81689" y="0"/>
                  <a:pt x="87721" y="6096"/>
                  <a:pt x="87721" y="13589"/>
                </a:cubicBezTo>
                <a:lnTo>
                  <a:pt x="87721" y="66040"/>
                </a:lnTo>
                <a:moveTo>
                  <a:pt x="87721" y="69469"/>
                </a:moveTo>
                <a:lnTo>
                  <a:pt x="87721" y="33909"/>
                </a:lnTo>
                <a:cubicBezTo>
                  <a:pt x="87721" y="26416"/>
                  <a:pt x="93817" y="20320"/>
                  <a:pt x="101310" y="20320"/>
                </a:cubicBezTo>
                <a:cubicBezTo>
                  <a:pt x="108740" y="20320"/>
                  <a:pt x="114836" y="26416"/>
                  <a:pt x="114836" y="33909"/>
                </a:cubicBezTo>
                <a:lnTo>
                  <a:pt x="114836" y="96520"/>
                </a:lnTo>
                <a:cubicBezTo>
                  <a:pt x="114836" y="123635"/>
                  <a:pt x="94516" y="145669"/>
                  <a:pt x="67401" y="145669"/>
                </a:cubicBezTo>
                <a:cubicBezTo>
                  <a:pt x="45430" y="145669"/>
                  <a:pt x="33556" y="135509"/>
                  <a:pt x="21681" y="118555"/>
                </a:cubicBezTo>
                <a:lnTo>
                  <a:pt x="1361" y="88075"/>
                </a:lnTo>
                <a:cubicBezTo>
                  <a:pt x="-1560" y="82042"/>
                  <a:pt x="345" y="74803"/>
                  <a:pt x="5870" y="70993"/>
                </a:cubicBezTo>
                <a:cubicBezTo>
                  <a:pt x="11331" y="67247"/>
                  <a:pt x="18824" y="68009"/>
                  <a:pt x="23396" y="72835"/>
                </a:cubicBezTo>
                <a:close/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lhn-3"/>
          <p:cNvSpPr txBox="1"/>
          <p:nvPr/>
        </p:nvSpPr>
        <p:spPr>
          <a:xfrm>
            <a:off x="1542288" y="4672902"/>
            <a:ext cx="8851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服务产品</a:t>
            </a:r>
          </a:p>
        </p:txBody>
      </p:sp>
      <p:sp>
        <p:nvSpPr>
          <p:cNvPr id="65" name="lhc-3"/>
          <p:cNvSpPr txBox="1"/>
          <p:nvPr/>
        </p:nvSpPr>
        <p:spPr>
          <a:xfrm>
            <a:off x="1548765" y="4955461"/>
            <a:ext cx="57054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2 个版本</a:t>
            </a:r>
          </a:p>
        </p:txBody>
      </p:sp>
      <p:sp>
        <p:nvSpPr>
          <p:cNvPr id="66" name="v-3-标准实施包"/>
          <p:cNvSpPr/>
          <p:nvPr/>
        </p:nvSpPr>
        <p:spPr>
          <a:xfrm>
            <a:off x="3136900" y="4610100"/>
            <a:ext cx="1936750" cy="584200"/>
          </a:xfrm>
          <a:custGeom>
            <a:avLst/>
            <a:gdLst/>
            <a:ahLst/>
            <a:cxnLst/>
            <a:rect l="0" t="0" r="r" b="b"/>
            <a:pathLst>
              <a:path w="1936750" h="584200">
                <a:moveTo>
                  <a:pt x="88900" y="0"/>
                </a:moveTo>
                <a:lnTo>
                  <a:pt x="1847850" y="0"/>
                </a:lnTo>
                <a:cubicBezTo>
                  <a:pt x="1896936" y="0"/>
                  <a:pt x="1936750" y="39814"/>
                  <a:pt x="1936750" y="88900"/>
                </a:cubicBezTo>
                <a:lnTo>
                  <a:pt x="1936750" y="495300"/>
                </a:lnTo>
                <a:cubicBezTo>
                  <a:pt x="1936750" y="544386"/>
                  <a:pt x="1896936" y="584200"/>
                  <a:pt x="1847850" y="584200"/>
                </a:cubicBezTo>
                <a:lnTo>
                  <a:pt x="88900" y="584200"/>
                </a:lnTo>
                <a:cubicBezTo>
                  <a:pt x="39814" y="584200"/>
                  <a:pt x="0" y="544386"/>
                  <a:pt x="0" y="4953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7CB8E6"/>
              </a:gs>
              <a:gs pos="100000">
                <a:srgbClr val="5BA6E0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vn-3-标准实施包"/>
          <p:cNvSpPr txBox="1"/>
          <p:nvPr/>
        </p:nvSpPr>
        <p:spPr>
          <a:xfrm>
            <a:off x="3249422" y="4689697"/>
            <a:ext cx="7499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标准实施包</a:t>
            </a:r>
          </a:p>
        </p:txBody>
      </p:sp>
      <p:sp>
        <p:nvSpPr>
          <p:cNvPr id="68" name="vt-3-标准实施包"/>
          <p:cNvSpPr txBox="1"/>
          <p:nvPr/>
        </p:nvSpPr>
        <p:spPr>
          <a:xfrm>
            <a:off x="3253232" y="4919408"/>
            <a:ext cx="77990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FFFFFF">
                    <a:alpha val="88000"/>
                  </a:srgbClr>
                </a:solidFill>
                <a:latin typeface="微软雅黑"/>
                <a:ea typeface="微软雅黑"/>
                <a:cs typeface="微软雅黑"/>
              </a:rPr>
              <a:t>18 天上线方法论</a:t>
            </a:r>
          </a:p>
        </p:txBody>
      </p:sp>
      <p:sp>
        <p:nvSpPr>
          <p:cNvPr id="69" name="vm-3-标准实施包"/>
          <p:cNvSpPr/>
          <p:nvPr/>
        </p:nvSpPr>
        <p:spPr>
          <a:xfrm>
            <a:off x="4876800" y="4845050"/>
            <a:ext cx="114300" cy="114300"/>
          </a:xfrm>
          <a:prstGeom prst="ellipse">
            <a:avLst/>
          </a:prstGeom>
          <a:solidFill>
            <a:srgbClr val="FFFFFF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v-3-运维订阅"/>
          <p:cNvSpPr/>
          <p:nvPr/>
        </p:nvSpPr>
        <p:spPr>
          <a:xfrm>
            <a:off x="5175250" y="4610100"/>
            <a:ext cx="6013450" cy="584200"/>
          </a:xfrm>
          <a:custGeom>
            <a:avLst/>
            <a:gdLst/>
            <a:ahLst/>
            <a:cxnLst/>
            <a:rect l="0" t="0" r="r" b="b"/>
            <a:pathLst>
              <a:path w="6013450" h="584200">
                <a:moveTo>
                  <a:pt x="88900" y="0"/>
                </a:moveTo>
                <a:lnTo>
                  <a:pt x="5924550" y="0"/>
                </a:lnTo>
                <a:cubicBezTo>
                  <a:pt x="5973636" y="0"/>
                  <a:pt x="6013450" y="39814"/>
                  <a:pt x="6013450" y="88900"/>
                </a:cubicBezTo>
                <a:lnTo>
                  <a:pt x="6013450" y="495300"/>
                </a:lnTo>
                <a:cubicBezTo>
                  <a:pt x="6013450" y="544386"/>
                  <a:pt x="5973636" y="584200"/>
                  <a:pt x="5924550" y="584200"/>
                </a:cubicBezTo>
                <a:lnTo>
                  <a:pt x="88900" y="584200"/>
                </a:lnTo>
                <a:cubicBezTo>
                  <a:pt x="39814" y="584200"/>
                  <a:pt x="0" y="544386"/>
                  <a:pt x="0" y="4953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7CB8E6"/>
              </a:gs>
              <a:gs pos="100000">
                <a:srgbClr val="5BA6E0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vn-3-运维订阅"/>
          <p:cNvSpPr txBox="1"/>
          <p:nvPr/>
        </p:nvSpPr>
        <p:spPr>
          <a:xfrm>
            <a:off x="5287772" y="4689697"/>
            <a:ext cx="62166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运维订阅</a:t>
            </a:r>
          </a:p>
        </p:txBody>
      </p:sp>
      <p:sp>
        <p:nvSpPr>
          <p:cNvPr id="72" name="vt-3-运维订阅"/>
          <p:cNvSpPr txBox="1"/>
          <p:nvPr/>
        </p:nvSpPr>
        <p:spPr>
          <a:xfrm>
            <a:off x="5291582" y="4919408"/>
            <a:ext cx="98666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FFFFFF">
                    <a:alpha val="88000"/>
                  </a:srgbClr>
                </a:solidFill>
                <a:latin typeface="微软雅黑"/>
                <a:ea typeface="微软雅黑"/>
                <a:cs typeface="微软雅黑"/>
              </a:rPr>
              <a:t>按年订阅 + SLA 分级</a:t>
            </a:r>
          </a:p>
        </p:txBody>
      </p:sp>
      <p:sp>
        <p:nvSpPr>
          <p:cNvPr id="73" name="vm-3-运维订阅"/>
          <p:cNvSpPr/>
          <p:nvPr/>
        </p:nvSpPr>
        <p:spPr>
          <a:xfrm>
            <a:off x="10991850" y="4845050"/>
            <a:ext cx="114300" cy="114300"/>
          </a:xfrm>
          <a:prstGeom prst="ellipse">
            <a:avLst/>
          </a:prstGeom>
          <a:solidFill>
            <a:srgbClr val="FFFFFF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74" name="ms-axis"/>
          <p:cNvCxnSpPr/>
          <p:nvPr/>
        </p:nvCxnSpPr>
        <p:spPr>
          <a:xfrm>
            <a:off x="3086100" y="5524500"/>
            <a:ext cx="8153400" cy="0"/>
          </a:xfrm>
          <a:prstGeom prst="line">
            <a:avLst/>
          </a:prstGeom>
          <a:ln w="8890" cap="rnd">
            <a:solidFill>
              <a:srgbClr val="0B2545">
                <a:alpha val="1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5" name="ms-1"/>
          <p:cNvSpPr/>
          <p:nvPr/>
        </p:nvSpPr>
        <p:spPr>
          <a:xfrm>
            <a:off x="7108817" y="5463127"/>
            <a:ext cx="107967" cy="96298"/>
          </a:xfrm>
          <a:custGeom>
            <a:avLst/>
            <a:gdLst/>
            <a:ahLst/>
            <a:cxnLst/>
            <a:rect l="0" t="0" r="r" b="b"/>
            <a:pathLst>
              <a:path w="107967" h="96298">
                <a:moveTo>
                  <a:pt x="44204" y="8477"/>
                </a:moveTo>
                <a:quadBezTo>
                  <a:pt x="53983" y="-8477"/>
                  <a:pt x="63762" y="8477"/>
                </a:quadBezTo>
                <a:lnTo>
                  <a:pt x="104720" y="79343"/>
                </a:lnTo>
                <a:quadBezTo>
                  <a:pt x="114499" y="96298"/>
                  <a:pt x="94941" y="96298"/>
                </a:quadBezTo>
                <a:lnTo>
                  <a:pt x="13026" y="96298"/>
                </a:lnTo>
                <a:quadBezTo>
                  <a:pt x="-6532" y="96298"/>
                  <a:pt x="3247" y="79343"/>
                </a:quad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msq-1"/>
          <p:cNvSpPr txBox="1"/>
          <p:nvPr/>
        </p:nvSpPr>
        <p:spPr>
          <a:xfrm>
            <a:off x="6765480" y="5664787"/>
            <a:ext cx="344869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 spc="3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Q2 末</a:t>
            </a:r>
          </a:p>
        </p:txBody>
      </p:sp>
      <p:sp>
        <p:nvSpPr>
          <p:cNvPr id="77" name="msn-1"/>
          <p:cNvSpPr txBox="1"/>
          <p:nvPr/>
        </p:nvSpPr>
        <p:spPr>
          <a:xfrm>
            <a:off x="7177151" y="5664787"/>
            <a:ext cx="839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柔性产线首台交付</a:t>
            </a:r>
          </a:p>
        </p:txBody>
      </p:sp>
      <p:sp>
        <p:nvSpPr>
          <p:cNvPr id="78" name="ms-2"/>
          <p:cNvSpPr/>
          <p:nvPr/>
        </p:nvSpPr>
        <p:spPr>
          <a:xfrm>
            <a:off x="9147167" y="5463127"/>
            <a:ext cx="107967" cy="96298"/>
          </a:xfrm>
          <a:custGeom>
            <a:avLst/>
            <a:gdLst/>
            <a:ahLst/>
            <a:cxnLst/>
            <a:rect l="0" t="0" r="r" b="b"/>
            <a:pathLst>
              <a:path w="107967" h="96298">
                <a:moveTo>
                  <a:pt x="44204" y="8477"/>
                </a:moveTo>
                <a:quadBezTo>
                  <a:pt x="53983" y="-8477"/>
                  <a:pt x="63762" y="8477"/>
                </a:quadBezTo>
                <a:lnTo>
                  <a:pt x="104720" y="79343"/>
                </a:lnTo>
                <a:quadBezTo>
                  <a:pt x="114499" y="96298"/>
                  <a:pt x="94941" y="96298"/>
                </a:quadBezTo>
                <a:lnTo>
                  <a:pt x="13026" y="96298"/>
                </a:lnTo>
                <a:quadBezTo>
                  <a:pt x="-6532" y="96298"/>
                  <a:pt x="3247" y="79343"/>
                </a:quad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msq-2"/>
          <p:cNvSpPr txBox="1"/>
          <p:nvPr/>
        </p:nvSpPr>
        <p:spPr>
          <a:xfrm>
            <a:off x="8803830" y="5664787"/>
            <a:ext cx="344869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 spc="3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Q3 末</a:t>
            </a:r>
          </a:p>
        </p:txBody>
      </p:sp>
      <p:sp>
        <p:nvSpPr>
          <p:cNvPr id="80" name="msn-2"/>
          <p:cNvSpPr txBox="1"/>
          <p:nvPr/>
        </p:nvSpPr>
        <p:spPr>
          <a:xfrm>
            <a:off x="9215501" y="5664787"/>
            <a:ext cx="866966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平台 v2 全量上线</a:t>
            </a:r>
          </a:p>
        </p:txBody>
      </p:sp>
      <p:sp>
        <p:nvSpPr>
          <p:cNvPr id="81" name="ms-3"/>
          <p:cNvSpPr/>
          <p:nvPr/>
        </p:nvSpPr>
        <p:spPr>
          <a:xfrm>
            <a:off x="11185517" y="5463127"/>
            <a:ext cx="107967" cy="96298"/>
          </a:xfrm>
          <a:custGeom>
            <a:avLst/>
            <a:gdLst/>
            <a:ahLst/>
            <a:cxnLst/>
            <a:rect l="0" t="0" r="r" b="b"/>
            <a:pathLst>
              <a:path w="107967" h="96298">
                <a:moveTo>
                  <a:pt x="44204" y="8477"/>
                </a:moveTo>
                <a:quadBezTo>
                  <a:pt x="53983" y="-8477"/>
                  <a:pt x="63762" y="8477"/>
                </a:quadBezTo>
                <a:lnTo>
                  <a:pt x="104720" y="79343"/>
                </a:lnTo>
                <a:quadBezTo>
                  <a:pt x="114499" y="96298"/>
                  <a:pt x="94941" y="96298"/>
                </a:quadBezTo>
                <a:lnTo>
                  <a:pt x="13026" y="96298"/>
                </a:lnTo>
                <a:quadBezTo>
                  <a:pt x="-6532" y="96298"/>
                  <a:pt x="3247" y="79343"/>
                </a:quad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msq-3"/>
          <p:cNvSpPr txBox="1"/>
          <p:nvPr/>
        </p:nvSpPr>
        <p:spPr>
          <a:xfrm>
            <a:off x="9909238" y="5664787"/>
            <a:ext cx="125241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Q4 末  订阅收入占比 20%</a:t>
            </a:r>
          </a:p>
        </p:txBody>
      </p:sp>
      <p:sp>
        <p:nvSpPr>
          <p:cNvPr id="83" name="note-bar"/>
          <p:cNvSpPr/>
          <p:nvPr/>
        </p:nvSpPr>
        <p:spPr>
          <a:xfrm>
            <a:off x="952500" y="5549900"/>
            <a:ext cx="25400" cy="4318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note-h"/>
          <p:cNvSpPr txBox="1"/>
          <p:nvPr/>
        </p:nvSpPr>
        <p:spPr>
          <a:xfrm>
            <a:off x="1103884" y="5599240"/>
            <a:ext cx="60579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9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发布节奏</a:t>
            </a:r>
          </a:p>
        </p:txBody>
      </p:sp>
      <p:sp>
        <p:nvSpPr>
          <p:cNvPr id="85" name="note-p"/>
          <p:cNvSpPr txBox="1"/>
          <p:nvPr/>
        </p:nvSpPr>
        <p:spPr>
          <a:xfrm>
            <a:off x="1106551" y="5804487"/>
            <a:ext cx="934403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每季度一个发布窗口</a:t>
            </a:r>
          </a:p>
        </p:txBody>
      </p:sp>
      <p:sp>
        <p:nvSpPr>
          <p:cNvPr id="86" name="sum"/>
          <p:cNvSpPr/>
          <p:nvPr/>
        </p:nvSpPr>
        <p:spPr>
          <a:xfrm>
            <a:off x="952500" y="5943600"/>
            <a:ext cx="10287000" cy="393700"/>
          </a:xfrm>
          <a:custGeom>
            <a:avLst/>
            <a:gdLst/>
            <a:ahLst/>
            <a:cxnLst/>
            <a:rect l="0" t="0" r="r" b="b"/>
            <a:pathLst>
              <a:path w="10287000" h="3937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04800"/>
                </a:lnTo>
                <a:cubicBezTo>
                  <a:pt x="10287000" y="353886"/>
                  <a:pt x="10247186" y="393700"/>
                  <a:pt x="10198100" y="393700"/>
                </a:cubicBezTo>
                <a:lnTo>
                  <a:pt x="88900" y="393700"/>
                </a:lnTo>
                <a:cubicBezTo>
                  <a:pt x="39815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sum-bar"/>
          <p:cNvSpPr/>
          <p:nvPr/>
        </p:nvSpPr>
        <p:spPr>
          <a:xfrm>
            <a:off x="952500" y="5943600"/>
            <a:ext cx="31750" cy="3937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sum-h"/>
          <p:cNvSpPr txBox="1"/>
          <p:nvPr/>
        </p:nvSpPr>
        <p:spPr>
          <a:xfrm>
            <a:off x="1142746" y="60642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全年合计</a:t>
            </a:r>
          </a:p>
        </p:txBody>
      </p:sp>
      <p:sp>
        <p:nvSpPr>
          <p:cNvPr id="89" name="sv-1"/>
          <p:cNvSpPr txBox="1"/>
          <p:nvPr/>
        </p:nvSpPr>
        <p:spPr>
          <a:xfrm>
            <a:off x="2078736" y="6025070"/>
            <a:ext cx="207137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8</a:t>
            </a:r>
          </a:p>
        </p:txBody>
      </p:sp>
      <p:sp>
        <p:nvSpPr>
          <p:cNvPr id="90" name="sl-1"/>
          <p:cNvSpPr txBox="1"/>
          <p:nvPr/>
        </p:nvSpPr>
        <p:spPr>
          <a:xfrm>
            <a:off x="2274570" y="6079966"/>
            <a:ext cx="3790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个版本</a:t>
            </a:r>
          </a:p>
        </p:txBody>
      </p:sp>
      <p:sp>
        <p:nvSpPr>
          <p:cNvPr id="91" name="sv-2"/>
          <p:cNvSpPr txBox="1"/>
          <p:nvPr/>
        </p:nvSpPr>
        <p:spPr>
          <a:xfrm>
            <a:off x="4364736" y="6025070"/>
            <a:ext cx="207137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92" name="sl-2"/>
          <p:cNvSpPr txBox="1"/>
          <p:nvPr/>
        </p:nvSpPr>
        <p:spPr>
          <a:xfrm>
            <a:off x="4560570" y="6079966"/>
            <a:ext cx="4768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条产品线</a:t>
            </a:r>
          </a:p>
        </p:txBody>
      </p:sp>
      <p:sp>
        <p:nvSpPr>
          <p:cNvPr id="93" name="sv-3"/>
          <p:cNvSpPr txBox="1"/>
          <p:nvPr/>
        </p:nvSpPr>
        <p:spPr>
          <a:xfrm>
            <a:off x="6650736" y="6025070"/>
            <a:ext cx="207137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94" name="sl-3"/>
          <p:cNvSpPr txBox="1"/>
          <p:nvPr/>
        </p:nvSpPr>
        <p:spPr>
          <a:xfrm>
            <a:off x="6846570" y="6079966"/>
            <a:ext cx="5746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个发布窗口</a:t>
            </a:r>
          </a:p>
        </p:txBody>
      </p:sp>
      <p:sp>
        <p:nvSpPr>
          <p:cNvPr id="95" name="sv-4"/>
          <p:cNvSpPr txBox="1"/>
          <p:nvPr/>
        </p:nvSpPr>
        <p:spPr>
          <a:xfrm>
            <a:off x="8936736" y="6025070"/>
            <a:ext cx="207137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96" name="sl-4"/>
          <p:cNvSpPr txBox="1"/>
          <p:nvPr/>
        </p:nvSpPr>
        <p:spPr>
          <a:xfrm>
            <a:off x="9132570" y="6079966"/>
            <a:ext cx="6724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个对外里程碑</a:t>
            </a:r>
          </a:p>
        </p:txBody>
      </p:sp>
      <p:cxnSp>
        <p:nvCxnSpPr>
          <p:cNvPr id="97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8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路线图 · 三线四季度</a:t>
            </a:r>
          </a:p>
        </p:txBody>
      </p:sp>
      <p:sp>
        <p:nvSpPr>
          <p:cNvPr id="99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风险如何一路传导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35483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CHAIN REACTION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351899" y="673132"/>
            <a:ext cx="22688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五块多米诺依次倒下，阻断点越早成本越低</a:t>
            </a:r>
          </a:p>
        </p:txBody>
      </p:sp>
      <p:sp>
        <p:nvSpPr>
          <p:cNvPr id="10" name="tile-1"/>
          <p:cNvSpPr/>
          <p:nvPr/>
        </p:nvSpPr>
        <p:spPr>
          <a:xfrm>
            <a:off x="1460500" y="1905000"/>
            <a:ext cx="1473200" cy="1905000"/>
          </a:xfrm>
          <a:custGeom>
            <a:avLst/>
            <a:gdLst/>
            <a:ahLst/>
            <a:cxnLst/>
            <a:rect l="0" t="0" r="r" b="b"/>
            <a:pathLst>
              <a:path w="1473200" h="1905000">
                <a:moveTo>
                  <a:pt x="0" y="101600"/>
                </a:moveTo>
                <a:quadBezTo>
                  <a:pt x="0" y="0"/>
                  <a:pt x="101600" y="0"/>
                </a:quadBezTo>
                <a:lnTo>
                  <a:pt x="1371600" y="0"/>
                </a:lnTo>
                <a:quadBezTo>
                  <a:pt x="1473200" y="0"/>
                  <a:pt x="1473200" y="101600"/>
                </a:quadBezTo>
                <a:lnTo>
                  <a:pt x="1473200" y="1803400"/>
                </a:lnTo>
                <a:quadBezTo>
                  <a:pt x="1473200" y="1905000"/>
                  <a:pt x="1371600" y="1905000"/>
                </a:quadBezTo>
                <a:lnTo>
                  <a:pt x="101600" y="1905000"/>
                </a:lnTo>
                <a:quadBezTo>
                  <a:pt x="0" y="1905000"/>
                  <a:pt x="0" y="1803400"/>
                </a:quadBezTo>
                <a:close/>
              </a:path>
            </a:pathLst>
          </a:custGeom>
          <a:gradFill rotWithShape="1">
            <a:gsLst>
              <a:gs pos="0">
                <a:srgbClr val="325DA1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icon-cart"/>
          <p:cNvSpPr/>
          <p:nvPr/>
        </p:nvSpPr>
        <p:spPr>
          <a:xfrm>
            <a:off x="2113280" y="2304415"/>
            <a:ext cx="151447" cy="89535"/>
          </a:xfrm>
          <a:custGeom>
            <a:avLst/>
            <a:gdLst/>
            <a:ahLst/>
            <a:cxnLst/>
            <a:rect l="0" t="0" r="r" b="b"/>
            <a:pathLst>
              <a:path w="151447" h="89535">
                <a:moveTo>
                  <a:pt x="0" y="0"/>
                </a:moveTo>
                <a:lnTo>
                  <a:pt x="21907" y="0"/>
                </a:lnTo>
                <a:lnTo>
                  <a:pt x="43815" y="89535"/>
                </a:lnTo>
                <a:lnTo>
                  <a:pt x="133350" y="89535"/>
                </a:lnTo>
                <a:lnTo>
                  <a:pt x="151447" y="26670"/>
                </a:lnTo>
                <a:lnTo>
                  <a:pt x="28575" y="26670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icon-cart"/>
          <p:cNvSpPr/>
          <p:nvPr/>
        </p:nvSpPr>
        <p:spPr>
          <a:xfrm>
            <a:off x="2159000" y="2422525"/>
            <a:ext cx="26670" cy="26670"/>
          </a:xfrm>
          <a:prstGeom prst="ellipse">
            <a:avLst/>
          </a:pr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icon-cart"/>
          <p:cNvSpPr/>
          <p:nvPr/>
        </p:nvSpPr>
        <p:spPr>
          <a:xfrm>
            <a:off x="2227580" y="2422525"/>
            <a:ext cx="26670" cy="26670"/>
          </a:xfrm>
          <a:prstGeom prst="ellipse">
            <a:avLst/>
          </a:pr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tn-1"/>
          <p:cNvSpPr txBox="1"/>
          <p:nvPr/>
        </p:nvSpPr>
        <p:spPr>
          <a:xfrm>
            <a:off x="1734502" y="2613628"/>
            <a:ext cx="92519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来料未全检</a:t>
            </a:r>
          </a:p>
        </p:txBody>
      </p:sp>
      <p:sp>
        <p:nvSpPr>
          <p:cNvPr id="15" name="tr-1"/>
          <p:cNvSpPr/>
          <p:nvPr/>
        </p:nvSpPr>
        <p:spPr>
          <a:xfrm>
            <a:off x="2044700" y="2908300"/>
            <a:ext cx="304800" cy="1651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tp-1-1"/>
          <p:cNvSpPr txBox="1"/>
          <p:nvPr/>
        </p:nvSpPr>
        <p:spPr>
          <a:xfrm>
            <a:off x="1800860" y="3039808"/>
            <a:ext cx="79248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抽检比例从 100%</a:t>
            </a:r>
          </a:p>
        </p:txBody>
      </p:sp>
      <p:sp>
        <p:nvSpPr>
          <p:cNvPr id="17" name="tp-1-2"/>
          <p:cNvSpPr txBox="1"/>
          <p:nvPr/>
        </p:nvSpPr>
        <p:spPr>
          <a:xfrm>
            <a:off x="1937068" y="3204908"/>
            <a:ext cx="52006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 降到 20%</a:t>
            </a:r>
          </a:p>
        </p:txBody>
      </p:sp>
      <p:sp>
        <p:nvSpPr>
          <p:cNvPr id="18" name="td-1"/>
          <p:cNvSpPr txBox="1"/>
          <p:nvPr/>
        </p:nvSpPr>
        <p:spPr>
          <a:xfrm>
            <a:off x="2061845" y="3522408"/>
            <a:ext cx="2705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50">
                <a:solidFill>
                  <a:srgbClr val="FFFFFF">
                    <a:alpha val="70000"/>
                  </a:srgbClr>
                </a:solidFill>
                <a:latin typeface="微软雅黑"/>
                <a:ea typeface="微软雅黑"/>
                <a:cs typeface="微软雅黑"/>
              </a:rPr>
              <a:t>起点</a:t>
            </a:r>
          </a:p>
        </p:txBody>
      </p:sp>
      <p:sp>
        <p:nvSpPr>
          <p:cNvPr id="19" name="tno-1"/>
          <p:cNvSpPr txBox="1"/>
          <p:nvPr/>
        </p:nvSpPr>
        <p:spPr>
          <a:xfrm>
            <a:off x="1562608" y="20081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FFFFFF">
                    <a:alpha val="55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cxnSp>
        <p:nvCxnSpPr>
          <p:cNvPr id="20" name="arr-1"/>
          <p:cNvCxnSpPr/>
          <p:nvPr/>
        </p:nvCxnSpPr>
        <p:spPr>
          <a:xfrm>
            <a:off x="3009900" y="2921000"/>
            <a:ext cx="266700" cy="0"/>
          </a:xfrm>
          <a:prstGeom prst="line">
            <a:avLst/>
          </a:prstGeom>
          <a:ln w="15240" cap="rnd">
            <a:solidFill>
              <a:srgbClr val="1B5AA8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arrh-1"/>
          <p:cNvSpPr/>
          <p:nvPr/>
        </p:nvSpPr>
        <p:spPr>
          <a:xfrm>
            <a:off x="3213100" y="2863850"/>
            <a:ext cx="127000" cy="114300"/>
          </a:xfrm>
          <a:custGeom>
            <a:avLst/>
            <a:gdLst/>
            <a:ahLst/>
            <a:cxnLst/>
            <a:rect l="0" t="0" r="r" b="b"/>
            <a:pathLst>
              <a:path w="127000" h="114300">
                <a:moveTo>
                  <a:pt x="0" y="0"/>
                </a:moveTo>
                <a:lnTo>
                  <a:pt x="127000" y="57150"/>
                </a:lnTo>
                <a:lnTo>
                  <a:pt x="0" y="114300"/>
                </a:lnTo>
              </a:path>
            </a:pathLst>
          </a:custGeom>
          <a:noFill/>
          <a:ln w="16510" cap="rnd">
            <a:solidFill>
              <a:srgbClr val="1B5AA8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tile-2"/>
          <p:cNvSpPr/>
          <p:nvPr/>
        </p:nvSpPr>
        <p:spPr>
          <a:xfrm>
            <a:off x="3429000" y="1908466"/>
            <a:ext cx="1473200" cy="1948867"/>
          </a:xfrm>
          <a:custGeom>
            <a:avLst/>
            <a:gdLst/>
            <a:ahLst/>
            <a:cxnLst/>
            <a:rect l="0" t="0" r="r" b="b"/>
            <a:pathLst>
              <a:path w="1473200" h="1948867">
                <a:moveTo>
                  <a:pt x="0" y="148934"/>
                </a:moveTo>
                <a:quadBezTo>
                  <a:pt x="0" y="47334"/>
                  <a:pt x="101537" y="43841"/>
                </a:quadBezTo>
                <a:lnTo>
                  <a:pt x="1371664" y="26"/>
                </a:lnTo>
                <a:quadBezTo>
                  <a:pt x="1473200" y="-3466"/>
                  <a:pt x="1473200" y="98134"/>
                </a:quadBezTo>
                <a:lnTo>
                  <a:pt x="1473200" y="1799934"/>
                </a:lnTo>
                <a:quadBezTo>
                  <a:pt x="1473200" y="1901534"/>
                  <a:pt x="1371664" y="1905026"/>
                </a:quadBezTo>
                <a:lnTo>
                  <a:pt x="101537" y="1948841"/>
                </a:lnTo>
                <a:quadBezTo>
                  <a:pt x="0" y="1952334"/>
                  <a:pt x="0" y="1850734"/>
                </a:quadBezTo>
                <a:close/>
              </a:path>
            </a:pathLst>
          </a:custGeom>
          <a:gradFill rotWithShape="1">
            <a:gsLst>
              <a:gs pos="0">
                <a:srgbClr val="3F74B6"/>
              </a:gs>
              <a:gs pos="100000">
                <a:srgbClr val="1B5AA8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icon-factory"/>
          <p:cNvSpPr/>
          <p:nvPr/>
        </p:nvSpPr>
        <p:spPr>
          <a:xfrm>
            <a:off x="4083685" y="2364105"/>
            <a:ext cx="163830" cy="110490"/>
          </a:xfrm>
          <a:custGeom>
            <a:avLst/>
            <a:gdLst/>
            <a:ahLst/>
            <a:cxnLst/>
            <a:rect l="0" t="0" r="r" b="b"/>
            <a:pathLst>
              <a:path w="163830" h="110490">
                <a:moveTo>
                  <a:pt x="0" y="110490"/>
                </a:moveTo>
                <a:lnTo>
                  <a:pt x="0" y="26670"/>
                </a:lnTo>
                <a:lnTo>
                  <a:pt x="47625" y="55245"/>
                </a:lnTo>
                <a:lnTo>
                  <a:pt x="47625" y="26670"/>
                </a:lnTo>
                <a:lnTo>
                  <a:pt x="95250" y="55245"/>
                </a:lnTo>
                <a:lnTo>
                  <a:pt x="95250" y="0"/>
                </a:lnTo>
                <a:lnTo>
                  <a:pt x="142875" y="28575"/>
                </a:lnTo>
                <a:lnTo>
                  <a:pt x="142875" y="100965"/>
                </a:lnTo>
                <a:close/>
                <a:moveTo>
                  <a:pt x="0" y="110490"/>
                </a:moveTo>
                <a:lnTo>
                  <a:pt x="163830" y="110490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tn-2"/>
          <p:cNvSpPr txBox="1"/>
          <p:nvPr/>
        </p:nvSpPr>
        <p:spPr>
          <a:xfrm>
            <a:off x="3623628" y="2639028"/>
            <a:ext cx="10839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不良流入产线</a:t>
            </a:r>
          </a:p>
        </p:txBody>
      </p:sp>
      <p:sp>
        <p:nvSpPr>
          <p:cNvPr id="25" name="tr-2"/>
          <p:cNvSpPr/>
          <p:nvPr/>
        </p:nvSpPr>
        <p:spPr>
          <a:xfrm>
            <a:off x="4013200" y="2933700"/>
            <a:ext cx="304800" cy="1651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tp-2-1"/>
          <p:cNvSpPr txBox="1"/>
          <p:nvPr/>
        </p:nvSpPr>
        <p:spPr>
          <a:xfrm>
            <a:off x="3769360" y="3065208"/>
            <a:ext cx="79248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每批混入 3–5 件</a:t>
            </a:r>
          </a:p>
        </p:txBody>
      </p:sp>
      <p:sp>
        <p:nvSpPr>
          <p:cNvPr id="27" name="tp-2-2"/>
          <p:cNvSpPr txBox="1"/>
          <p:nvPr/>
        </p:nvSpPr>
        <p:spPr>
          <a:xfrm>
            <a:off x="3989388" y="3230308"/>
            <a:ext cx="35242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不良品</a:t>
            </a:r>
          </a:p>
        </p:txBody>
      </p:sp>
      <p:sp>
        <p:nvSpPr>
          <p:cNvPr id="28" name="td-2"/>
          <p:cNvSpPr txBox="1"/>
          <p:nvPr/>
        </p:nvSpPr>
        <p:spPr>
          <a:xfrm>
            <a:off x="3946144" y="3547808"/>
            <a:ext cx="4389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50">
                <a:solidFill>
                  <a:srgbClr val="FFFFFF">
                    <a:alpha val="70000"/>
                  </a:srgbClr>
                </a:solidFill>
                <a:latin typeface="微软雅黑"/>
                <a:ea typeface="微软雅黑"/>
                <a:cs typeface="微软雅黑"/>
              </a:rPr>
              <a:t>第 1 天</a:t>
            </a:r>
          </a:p>
        </p:txBody>
      </p:sp>
      <p:sp>
        <p:nvSpPr>
          <p:cNvPr id="29" name="tno-2"/>
          <p:cNvSpPr txBox="1"/>
          <p:nvPr/>
        </p:nvSpPr>
        <p:spPr>
          <a:xfrm>
            <a:off x="3531108" y="20589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FFFFFF">
                    <a:alpha val="55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cxnSp>
        <p:nvCxnSpPr>
          <p:cNvPr id="30" name="arr-2"/>
          <p:cNvCxnSpPr/>
          <p:nvPr/>
        </p:nvCxnSpPr>
        <p:spPr>
          <a:xfrm>
            <a:off x="4978400" y="2921000"/>
            <a:ext cx="266700" cy="0"/>
          </a:xfrm>
          <a:prstGeom prst="line">
            <a:avLst/>
          </a:prstGeom>
          <a:ln w="15240" cap="rnd">
            <a:solidFill>
              <a:srgbClr val="2E77C2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arrh-2"/>
          <p:cNvSpPr/>
          <p:nvPr/>
        </p:nvSpPr>
        <p:spPr>
          <a:xfrm>
            <a:off x="5181600" y="2863850"/>
            <a:ext cx="127000" cy="114300"/>
          </a:xfrm>
          <a:custGeom>
            <a:avLst/>
            <a:gdLst/>
            <a:ahLst/>
            <a:cxnLst/>
            <a:rect l="0" t="0" r="r" b="b"/>
            <a:pathLst>
              <a:path w="127000" h="114300">
                <a:moveTo>
                  <a:pt x="0" y="0"/>
                </a:moveTo>
                <a:lnTo>
                  <a:pt x="127000" y="57150"/>
                </a:lnTo>
                <a:lnTo>
                  <a:pt x="0" y="114300"/>
                </a:lnTo>
              </a:path>
            </a:pathLst>
          </a:custGeom>
          <a:noFill/>
          <a:ln w="16510" cap="rnd">
            <a:solidFill>
              <a:srgbClr val="2E77C2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tile-3"/>
          <p:cNvSpPr/>
          <p:nvPr/>
        </p:nvSpPr>
        <p:spPr>
          <a:xfrm>
            <a:off x="5397500" y="1911536"/>
            <a:ext cx="1473200" cy="1993528"/>
          </a:xfrm>
          <a:custGeom>
            <a:avLst/>
            <a:gdLst/>
            <a:ahLst/>
            <a:cxnLst/>
            <a:rect l="0" t="0" r="r" b="b"/>
            <a:pathLst>
              <a:path w="1473200" h="1993528">
                <a:moveTo>
                  <a:pt x="0" y="196664"/>
                </a:moveTo>
                <a:quadBezTo>
                  <a:pt x="0" y="95064"/>
                  <a:pt x="101346" y="88079"/>
                </a:quadBezTo>
                <a:lnTo>
                  <a:pt x="1371854" y="449"/>
                </a:lnTo>
                <a:quadBezTo>
                  <a:pt x="1473200" y="-6536"/>
                  <a:pt x="1473200" y="95064"/>
                </a:quadBezTo>
                <a:lnTo>
                  <a:pt x="1473200" y="1796864"/>
                </a:lnTo>
                <a:quadBezTo>
                  <a:pt x="1473200" y="1898464"/>
                  <a:pt x="1371854" y="1905449"/>
                </a:quadBezTo>
                <a:lnTo>
                  <a:pt x="101346" y="1993079"/>
                </a:lnTo>
                <a:quadBezTo>
                  <a:pt x="0" y="2000064"/>
                  <a:pt x="0" y="1898464"/>
                </a:quadBezTo>
                <a:close/>
              </a:path>
            </a:pathLst>
          </a:custGeom>
          <a:gradFill rotWithShape="1">
            <a:gsLst>
              <a:gs pos="0">
                <a:srgbClr val="4F8DCC"/>
              </a:gs>
              <a:gs pos="100000">
                <a:srgbClr val="2E77C2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icon-tools"/>
          <p:cNvSpPr/>
          <p:nvPr/>
        </p:nvSpPr>
        <p:spPr>
          <a:xfrm>
            <a:off x="6061783" y="2348869"/>
            <a:ext cx="135182" cy="133981"/>
          </a:xfrm>
          <a:custGeom>
            <a:avLst/>
            <a:gdLst/>
            <a:ahLst/>
            <a:cxnLst/>
            <a:rect l="0" t="0" r="r" b="b"/>
            <a:pathLst>
              <a:path w="135182" h="133981">
                <a:moveTo>
                  <a:pt x="24692" y="4441"/>
                </a:moveTo>
                <a:lnTo>
                  <a:pt x="53267" y="33016"/>
                </a:lnTo>
                <a:lnTo>
                  <a:pt x="32312" y="53971"/>
                </a:lnTo>
                <a:lnTo>
                  <a:pt x="3737" y="25396"/>
                </a:lnTo>
                <a:cubicBezTo>
                  <a:pt x="-3121" y="39747"/>
                  <a:pt x="-390" y="56829"/>
                  <a:pt x="10659" y="68322"/>
                </a:cubicBezTo>
                <a:cubicBezTo>
                  <a:pt x="21708" y="79752"/>
                  <a:pt x="38662" y="83181"/>
                  <a:pt x="53267" y="76831"/>
                </a:cubicBezTo>
                <a:lnTo>
                  <a:pt x="110417" y="133981"/>
                </a:lnTo>
                <a:lnTo>
                  <a:pt x="135182" y="109216"/>
                </a:lnTo>
                <a:lnTo>
                  <a:pt x="78032" y="52066"/>
                </a:lnTo>
                <a:cubicBezTo>
                  <a:pt x="83874" y="37207"/>
                  <a:pt x="79874" y="20316"/>
                  <a:pt x="67999" y="9648"/>
                </a:cubicBezTo>
                <a:cubicBezTo>
                  <a:pt x="56061" y="-956"/>
                  <a:pt x="38789" y="-3052"/>
                  <a:pt x="24692" y="4441"/>
                </a:cubicBezTo>
                <a:close/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tn-3"/>
          <p:cNvSpPr txBox="1"/>
          <p:nvPr/>
        </p:nvSpPr>
        <p:spPr>
          <a:xfrm>
            <a:off x="5750878" y="2664428"/>
            <a:ext cx="7664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整机返修</a:t>
            </a:r>
          </a:p>
        </p:txBody>
      </p:sp>
      <p:sp>
        <p:nvSpPr>
          <p:cNvPr id="35" name="tr-3"/>
          <p:cNvSpPr/>
          <p:nvPr/>
        </p:nvSpPr>
        <p:spPr>
          <a:xfrm>
            <a:off x="5981700" y="2959100"/>
            <a:ext cx="304800" cy="1651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tp-3-1"/>
          <p:cNvSpPr txBox="1"/>
          <p:nvPr/>
        </p:nvSpPr>
        <p:spPr>
          <a:xfrm>
            <a:off x="5640070" y="3090608"/>
            <a:ext cx="9880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装配后才发现，需拆机</a:t>
            </a:r>
          </a:p>
        </p:txBody>
      </p:sp>
      <p:sp>
        <p:nvSpPr>
          <p:cNvPr id="37" name="td-3"/>
          <p:cNvSpPr txBox="1"/>
          <p:nvPr/>
        </p:nvSpPr>
        <p:spPr>
          <a:xfrm>
            <a:off x="5914644" y="3573208"/>
            <a:ext cx="4389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50">
                <a:solidFill>
                  <a:srgbClr val="FFFFFF">
                    <a:alpha val="70000"/>
                  </a:srgbClr>
                </a:solidFill>
                <a:latin typeface="微软雅黑"/>
                <a:ea typeface="微软雅黑"/>
                <a:cs typeface="微软雅黑"/>
              </a:rPr>
              <a:t>第 3 天</a:t>
            </a:r>
          </a:p>
        </p:txBody>
      </p:sp>
      <p:sp>
        <p:nvSpPr>
          <p:cNvPr id="38" name="tno-3"/>
          <p:cNvSpPr txBox="1"/>
          <p:nvPr/>
        </p:nvSpPr>
        <p:spPr>
          <a:xfrm>
            <a:off x="5499608" y="21097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FFFFFF">
                    <a:alpha val="55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cxnSp>
        <p:nvCxnSpPr>
          <p:cNvPr id="39" name="arr-3"/>
          <p:cNvCxnSpPr/>
          <p:nvPr/>
        </p:nvCxnSpPr>
        <p:spPr>
          <a:xfrm>
            <a:off x="6946900" y="2921000"/>
            <a:ext cx="266700" cy="0"/>
          </a:xfrm>
          <a:prstGeom prst="line">
            <a:avLst/>
          </a:prstGeom>
          <a:ln w="15240" cap="rnd">
            <a:solidFill>
              <a:srgbClr val="3985CD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arrh-3"/>
          <p:cNvSpPr/>
          <p:nvPr/>
        </p:nvSpPr>
        <p:spPr>
          <a:xfrm>
            <a:off x="7150100" y="2863850"/>
            <a:ext cx="127000" cy="114300"/>
          </a:xfrm>
          <a:custGeom>
            <a:avLst/>
            <a:gdLst/>
            <a:ahLst/>
            <a:cxnLst/>
            <a:rect l="0" t="0" r="r" b="b"/>
            <a:pathLst>
              <a:path w="127000" h="114300">
                <a:moveTo>
                  <a:pt x="0" y="0"/>
                </a:moveTo>
                <a:lnTo>
                  <a:pt x="127000" y="57150"/>
                </a:lnTo>
                <a:lnTo>
                  <a:pt x="0" y="114300"/>
                </a:lnTo>
              </a:path>
            </a:pathLst>
          </a:custGeom>
          <a:noFill/>
          <a:ln w="16510" cap="rnd">
            <a:solidFill>
              <a:srgbClr val="3985CD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tile-4"/>
          <p:cNvSpPr/>
          <p:nvPr/>
        </p:nvSpPr>
        <p:spPr>
          <a:xfrm>
            <a:off x="7366000" y="1914606"/>
            <a:ext cx="1473200" cy="2038189"/>
          </a:xfrm>
          <a:custGeom>
            <a:avLst/>
            <a:gdLst/>
            <a:ahLst/>
            <a:cxnLst/>
            <a:rect l="0" t="0" r="r" b="b"/>
            <a:pathLst>
              <a:path w="1473200" h="2038189">
                <a:moveTo>
                  <a:pt x="0" y="244394"/>
                </a:moveTo>
                <a:quadBezTo>
                  <a:pt x="0" y="142794"/>
                  <a:pt x="101092" y="132317"/>
                </a:quadBezTo>
                <a:lnTo>
                  <a:pt x="1372108" y="872"/>
                </a:lnTo>
                <a:quadBezTo>
                  <a:pt x="1473200" y="-9606"/>
                  <a:pt x="1473200" y="91994"/>
                </a:quadBezTo>
                <a:lnTo>
                  <a:pt x="1473200" y="1793794"/>
                </a:lnTo>
                <a:quadBezTo>
                  <a:pt x="1473200" y="1895394"/>
                  <a:pt x="1372108" y="1905872"/>
                </a:quadBezTo>
                <a:lnTo>
                  <a:pt x="101092" y="2037317"/>
                </a:lnTo>
                <a:quadBezTo>
                  <a:pt x="0" y="2047794"/>
                  <a:pt x="0" y="1946194"/>
                </a:quadBezTo>
                <a:close/>
              </a:path>
            </a:pathLst>
          </a:custGeom>
          <a:gradFill rotWithShape="1">
            <a:gsLst>
              <a:gs pos="0">
                <a:srgbClr val="5999D5"/>
              </a:gs>
              <a:gs pos="100000">
                <a:srgbClr val="3985CD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icon-clock"/>
          <p:cNvSpPr/>
          <p:nvPr/>
        </p:nvSpPr>
        <p:spPr>
          <a:xfrm>
            <a:off x="8102600" y="2405380"/>
            <a:ext cx="30480" cy="63818"/>
          </a:xfrm>
          <a:custGeom>
            <a:avLst/>
            <a:gdLst/>
            <a:ahLst/>
            <a:cxnLst/>
            <a:rect l="0" t="0" r="r" b="b"/>
            <a:pathLst>
              <a:path w="30480" h="63818">
                <a:moveTo>
                  <a:pt x="0" y="0"/>
                </a:moveTo>
                <a:lnTo>
                  <a:pt x="0" y="45720"/>
                </a:lnTo>
                <a:lnTo>
                  <a:pt x="30480" y="63818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icon-clock"/>
          <p:cNvSpPr/>
          <p:nvPr/>
        </p:nvSpPr>
        <p:spPr>
          <a:xfrm>
            <a:off x="8020685" y="2369185"/>
            <a:ext cx="163830" cy="163830"/>
          </a:xfrm>
          <a:prstGeom prst="ellipse">
            <a:avLst/>
          </a:pr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tn-4"/>
          <p:cNvSpPr txBox="1"/>
          <p:nvPr/>
        </p:nvSpPr>
        <p:spPr>
          <a:xfrm>
            <a:off x="7719378" y="2689828"/>
            <a:ext cx="7664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交付延期</a:t>
            </a:r>
          </a:p>
        </p:txBody>
      </p:sp>
      <p:sp>
        <p:nvSpPr>
          <p:cNvPr id="45" name="tr-4"/>
          <p:cNvSpPr/>
          <p:nvPr/>
        </p:nvSpPr>
        <p:spPr>
          <a:xfrm>
            <a:off x="7950200" y="2984500"/>
            <a:ext cx="304800" cy="1651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tp-4-1"/>
          <p:cNvSpPr txBox="1"/>
          <p:nvPr/>
        </p:nvSpPr>
        <p:spPr>
          <a:xfrm>
            <a:off x="7667244" y="3116008"/>
            <a:ext cx="8707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两个批次顺延 9 天</a:t>
            </a:r>
          </a:p>
        </p:txBody>
      </p:sp>
      <p:sp>
        <p:nvSpPr>
          <p:cNvPr id="47" name="td-4"/>
          <p:cNvSpPr txBox="1"/>
          <p:nvPr/>
        </p:nvSpPr>
        <p:spPr>
          <a:xfrm>
            <a:off x="7855077" y="3598608"/>
            <a:ext cx="4950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50">
                <a:solidFill>
                  <a:srgbClr val="FFFFFF">
                    <a:alpha val="70000"/>
                  </a:srgbClr>
                </a:solidFill>
                <a:latin typeface="微软雅黑"/>
                <a:ea typeface="微软雅黑"/>
                <a:cs typeface="微软雅黑"/>
              </a:rPr>
              <a:t>第 12 天</a:t>
            </a:r>
          </a:p>
        </p:txBody>
      </p:sp>
      <p:sp>
        <p:nvSpPr>
          <p:cNvPr id="48" name="tno-4"/>
          <p:cNvSpPr txBox="1"/>
          <p:nvPr/>
        </p:nvSpPr>
        <p:spPr>
          <a:xfrm>
            <a:off x="7468108" y="21605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FFFFFF">
                    <a:alpha val="55000"/>
                  </a:srgbClr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cxnSp>
        <p:nvCxnSpPr>
          <p:cNvPr id="49" name="arr-4"/>
          <p:cNvCxnSpPr/>
          <p:nvPr/>
        </p:nvCxnSpPr>
        <p:spPr>
          <a:xfrm>
            <a:off x="8915400" y="2921000"/>
            <a:ext cx="266700" cy="0"/>
          </a:xfrm>
          <a:prstGeom prst="line">
            <a:avLst/>
          </a:prstGeom>
          <a:ln w="15240" cap="rnd">
            <a:solidFill>
              <a:srgbClr val="54A2DF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" name="arrh-4"/>
          <p:cNvSpPr/>
          <p:nvPr/>
        </p:nvSpPr>
        <p:spPr>
          <a:xfrm>
            <a:off x="9118600" y="2863850"/>
            <a:ext cx="127000" cy="114300"/>
          </a:xfrm>
          <a:custGeom>
            <a:avLst/>
            <a:gdLst/>
            <a:ahLst/>
            <a:cxnLst/>
            <a:rect l="0" t="0" r="r" b="b"/>
            <a:pathLst>
              <a:path w="127000" h="114300">
                <a:moveTo>
                  <a:pt x="0" y="0"/>
                </a:moveTo>
                <a:lnTo>
                  <a:pt x="127000" y="57150"/>
                </a:lnTo>
                <a:lnTo>
                  <a:pt x="0" y="114300"/>
                </a:lnTo>
              </a:path>
            </a:pathLst>
          </a:custGeom>
          <a:noFill/>
          <a:ln w="16510" cap="rnd">
            <a:solidFill>
              <a:srgbClr val="54A2DF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tile-5"/>
          <p:cNvSpPr/>
          <p:nvPr/>
        </p:nvSpPr>
        <p:spPr>
          <a:xfrm>
            <a:off x="9334500" y="1915241"/>
            <a:ext cx="1473200" cy="2049617"/>
          </a:xfrm>
          <a:custGeom>
            <a:avLst/>
            <a:gdLst/>
            <a:ahLst/>
            <a:cxnLst/>
            <a:rect l="0" t="0" r="r" b="b"/>
            <a:pathLst>
              <a:path w="1473200" h="2049617">
                <a:moveTo>
                  <a:pt x="0" y="256459"/>
                </a:moveTo>
                <a:quadBezTo>
                  <a:pt x="0" y="154859"/>
                  <a:pt x="100965" y="143556"/>
                </a:quadBezTo>
                <a:lnTo>
                  <a:pt x="1372235" y="1062"/>
                </a:lnTo>
                <a:quadBezTo>
                  <a:pt x="1473200" y="-10241"/>
                  <a:pt x="1473200" y="91359"/>
                </a:quadBezTo>
                <a:lnTo>
                  <a:pt x="1473200" y="1793159"/>
                </a:lnTo>
                <a:quadBezTo>
                  <a:pt x="1473200" y="1894759"/>
                  <a:pt x="1372235" y="1906062"/>
                </a:quadBezTo>
                <a:lnTo>
                  <a:pt x="100965" y="2048556"/>
                </a:lnTo>
                <a:quadBezTo>
                  <a:pt x="0" y="2059859"/>
                  <a:pt x="0" y="1958259"/>
                </a:quadBezTo>
                <a:close/>
              </a:path>
            </a:pathLst>
          </a:custGeom>
          <a:gradFill rotWithShape="1">
            <a:gsLst>
              <a:gs pos="0">
                <a:srgbClr val="6FB1E4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icon-shield"/>
          <p:cNvSpPr/>
          <p:nvPr/>
        </p:nvSpPr>
        <p:spPr>
          <a:xfrm>
            <a:off x="10002520" y="2375535"/>
            <a:ext cx="137160" cy="163830"/>
          </a:xfrm>
          <a:custGeom>
            <a:avLst/>
            <a:gdLst/>
            <a:ahLst/>
            <a:cxnLst/>
            <a:rect l="0" t="0" r="r" b="b"/>
            <a:pathLst>
              <a:path w="137160" h="163830">
                <a:moveTo>
                  <a:pt x="68580" y="0"/>
                </a:moveTo>
                <a:lnTo>
                  <a:pt x="137160" y="26670"/>
                </a:lnTo>
                <a:lnTo>
                  <a:pt x="137160" y="80010"/>
                </a:lnTo>
                <a:cubicBezTo>
                  <a:pt x="137160" y="120015"/>
                  <a:pt x="108585" y="150495"/>
                  <a:pt x="68580" y="163830"/>
                </a:cubicBezTo>
                <a:cubicBezTo>
                  <a:pt x="28575" y="150495"/>
                  <a:pt x="0" y="120015"/>
                  <a:pt x="0" y="80010"/>
                </a:cubicBezTo>
                <a:lnTo>
                  <a:pt x="0" y="26670"/>
                </a:lnTo>
                <a:close/>
                <a:moveTo>
                  <a:pt x="40005" y="81915"/>
                </a:moveTo>
                <a:lnTo>
                  <a:pt x="60960" y="102870"/>
                </a:lnTo>
                <a:lnTo>
                  <a:pt x="100965" y="62865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tn-5"/>
          <p:cNvSpPr txBox="1"/>
          <p:nvPr/>
        </p:nvSpPr>
        <p:spPr>
          <a:xfrm>
            <a:off x="9687878" y="2696178"/>
            <a:ext cx="7664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客户索赔</a:t>
            </a:r>
          </a:p>
        </p:txBody>
      </p:sp>
      <p:sp>
        <p:nvSpPr>
          <p:cNvPr id="54" name="tr-5"/>
          <p:cNvSpPr/>
          <p:nvPr/>
        </p:nvSpPr>
        <p:spPr>
          <a:xfrm>
            <a:off x="9918700" y="2990850"/>
            <a:ext cx="304800" cy="1651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tp-5-1"/>
          <p:cNvSpPr txBox="1"/>
          <p:nvPr/>
        </p:nvSpPr>
        <p:spPr>
          <a:xfrm>
            <a:off x="9635744" y="3122358"/>
            <a:ext cx="8707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合同违约金 + 口碑</a:t>
            </a:r>
          </a:p>
        </p:txBody>
      </p:sp>
      <p:sp>
        <p:nvSpPr>
          <p:cNvPr id="56" name="tp-5-2"/>
          <p:cNvSpPr txBox="1"/>
          <p:nvPr/>
        </p:nvSpPr>
        <p:spPr>
          <a:xfrm>
            <a:off x="9940290" y="3287458"/>
            <a:ext cx="26162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FFFFF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损失</a:t>
            </a:r>
          </a:p>
        </p:txBody>
      </p:sp>
      <p:sp>
        <p:nvSpPr>
          <p:cNvPr id="57" name="td-5"/>
          <p:cNvSpPr txBox="1"/>
          <p:nvPr/>
        </p:nvSpPr>
        <p:spPr>
          <a:xfrm>
            <a:off x="9823577" y="3604958"/>
            <a:ext cx="4950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50">
                <a:solidFill>
                  <a:srgbClr val="FFFFFF">
                    <a:alpha val="70000"/>
                  </a:srgbClr>
                </a:solidFill>
                <a:latin typeface="微软雅黑"/>
                <a:ea typeface="微软雅黑"/>
                <a:cs typeface="微软雅黑"/>
              </a:rPr>
              <a:t>第 20 天</a:t>
            </a:r>
          </a:p>
        </p:txBody>
      </p:sp>
      <p:sp>
        <p:nvSpPr>
          <p:cNvPr id="58" name="tno-5"/>
          <p:cNvSpPr txBox="1"/>
          <p:nvPr/>
        </p:nvSpPr>
        <p:spPr>
          <a:xfrm>
            <a:off x="9436608" y="21732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FFFFFF">
                    <a:alpha val="55000"/>
                  </a:srgbClr>
                </a:solidFill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59" name="cost-line"/>
          <p:cNvSpPr/>
          <p:nvPr/>
        </p:nvSpPr>
        <p:spPr>
          <a:xfrm>
            <a:off x="2197100" y="4318000"/>
            <a:ext cx="7874000" cy="782891"/>
          </a:xfrm>
          <a:custGeom>
            <a:avLst/>
            <a:gdLst/>
            <a:ahLst/>
            <a:cxnLst/>
            <a:rect l="0" t="0" r="r" b="b"/>
            <a:pathLst>
              <a:path w="7874000" h="782891">
                <a:moveTo>
                  <a:pt x="0" y="782891"/>
                </a:moveTo>
                <a:cubicBezTo>
                  <a:pt x="295275" y="775970"/>
                  <a:pt x="1377950" y="761174"/>
                  <a:pt x="1968500" y="736981"/>
                </a:cubicBezTo>
                <a:cubicBezTo>
                  <a:pt x="2559050" y="712724"/>
                  <a:pt x="3346450" y="671639"/>
                  <a:pt x="3937000" y="621157"/>
                </a:cubicBezTo>
                <a:cubicBezTo>
                  <a:pt x="4527550" y="570674"/>
                  <a:pt x="5314950" y="493459"/>
                  <a:pt x="5905500" y="400304"/>
                </a:cubicBezTo>
                <a:cubicBezTo>
                  <a:pt x="6496050" y="307086"/>
                  <a:pt x="7578725" y="60071"/>
                  <a:pt x="7874000" y="0"/>
                </a:cubicBezTo>
              </a:path>
            </a:pathLst>
          </a:custGeom>
          <a:noFill/>
          <a:ln w="1905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cd-1"/>
          <p:cNvSpPr/>
          <p:nvPr/>
        </p:nvSpPr>
        <p:spPr>
          <a:xfrm>
            <a:off x="2152650" y="5056418"/>
            <a:ext cx="88900" cy="8890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ct-1"/>
          <p:cNvSpPr txBox="1"/>
          <p:nvPr/>
        </p:nvSpPr>
        <p:spPr>
          <a:xfrm>
            <a:off x="2049462" y="4868934"/>
            <a:ext cx="2952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2 万</a:t>
            </a:r>
          </a:p>
        </p:txBody>
      </p:sp>
      <p:sp>
        <p:nvSpPr>
          <p:cNvPr id="62" name="cd-2"/>
          <p:cNvSpPr/>
          <p:nvPr/>
        </p:nvSpPr>
        <p:spPr>
          <a:xfrm>
            <a:off x="4121150" y="5010500"/>
            <a:ext cx="88900" cy="8890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ct-2"/>
          <p:cNvSpPr txBox="1"/>
          <p:nvPr/>
        </p:nvSpPr>
        <p:spPr>
          <a:xfrm>
            <a:off x="4017962" y="4823017"/>
            <a:ext cx="2952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6 万</a:t>
            </a:r>
          </a:p>
        </p:txBody>
      </p:sp>
      <p:sp>
        <p:nvSpPr>
          <p:cNvPr id="64" name="cd-3"/>
          <p:cNvSpPr/>
          <p:nvPr/>
        </p:nvSpPr>
        <p:spPr>
          <a:xfrm>
            <a:off x="6089650" y="4894716"/>
            <a:ext cx="88900" cy="8890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ct-3"/>
          <p:cNvSpPr txBox="1"/>
          <p:nvPr/>
        </p:nvSpPr>
        <p:spPr>
          <a:xfrm>
            <a:off x="5958522" y="4707233"/>
            <a:ext cx="35115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24 万</a:t>
            </a:r>
          </a:p>
        </p:txBody>
      </p:sp>
      <p:sp>
        <p:nvSpPr>
          <p:cNvPr id="66" name="cd-4"/>
          <p:cNvSpPr/>
          <p:nvPr/>
        </p:nvSpPr>
        <p:spPr>
          <a:xfrm>
            <a:off x="8058150" y="4673840"/>
            <a:ext cx="88900" cy="8890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ct-4"/>
          <p:cNvSpPr txBox="1"/>
          <p:nvPr/>
        </p:nvSpPr>
        <p:spPr>
          <a:xfrm>
            <a:off x="7927022" y="4486356"/>
            <a:ext cx="35115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86 万</a:t>
            </a:r>
          </a:p>
        </p:txBody>
      </p:sp>
      <p:sp>
        <p:nvSpPr>
          <p:cNvPr id="68" name="cd-5"/>
          <p:cNvSpPr/>
          <p:nvPr/>
        </p:nvSpPr>
        <p:spPr>
          <a:xfrm>
            <a:off x="10026650" y="4273550"/>
            <a:ext cx="88900" cy="8890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ct-5"/>
          <p:cNvSpPr txBox="1"/>
          <p:nvPr/>
        </p:nvSpPr>
        <p:spPr>
          <a:xfrm>
            <a:off x="9867582" y="4086066"/>
            <a:ext cx="4070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280 万</a:t>
            </a:r>
          </a:p>
        </p:txBody>
      </p:sp>
      <p:sp>
        <p:nvSpPr>
          <p:cNvPr id="70" name="cost-h"/>
          <p:cNvSpPr txBox="1"/>
          <p:nvPr/>
        </p:nvSpPr>
        <p:spPr>
          <a:xfrm>
            <a:off x="939546" y="4337082"/>
            <a:ext cx="57467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9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阻断成本</a:t>
            </a:r>
          </a:p>
        </p:txBody>
      </p:sp>
      <p:sp>
        <p:nvSpPr>
          <p:cNvPr id="71" name="cost-p1"/>
          <p:cNvSpPr txBox="1"/>
          <p:nvPr/>
        </p:nvSpPr>
        <p:spPr>
          <a:xfrm>
            <a:off x="941451" y="4534487"/>
            <a:ext cx="46132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越晚拦截</a:t>
            </a:r>
          </a:p>
        </p:txBody>
      </p:sp>
      <p:sp>
        <p:nvSpPr>
          <p:cNvPr id="72" name="cost-p2"/>
          <p:cNvSpPr txBox="1"/>
          <p:nvPr/>
        </p:nvSpPr>
        <p:spPr>
          <a:xfrm>
            <a:off x="941451" y="4699587"/>
            <a:ext cx="46132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代价越高</a:t>
            </a:r>
          </a:p>
        </p:txBody>
      </p:sp>
      <p:sp>
        <p:nvSpPr>
          <p:cNvPr id="73" name="stop-1"/>
          <p:cNvSpPr/>
          <p:nvPr/>
        </p:nvSpPr>
        <p:spPr>
          <a:xfrm>
            <a:off x="1358900" y="5384800"/>
            <a:ext cx="1676400" cy="584200"/>
          </a:xfrm>
          <a:custGeom>
            <a:avLst/>
            <a:gdLst/>
            <a:ahLst/>
            <a:cxnLst/>
            <a:rect l="0" t="0" r="r" b="b"/>
            <a:pathLst>
              <a:path w="1676400" h="584200">
                <a:moveTo>
                  <a:pt x="101600" y="0"/>
                </a:moveTo>
                <a:lnTo>
                  <a:pt x="1574800" y="0"/>
                </a:lnTo>
                <a:cubicBezTo>
                  <a:pt x="1630934" y="0"/>
                  <a:pt x="1676400" y="45466"/>
                  <a:pt x="1676400" y="101600"/>
                </a:cubicBezTo>
                <a:lnTo>
                  <a:pt x="1676400" y="482600"/>
                </a:lnTo>
                <a:cubicBezTo>
                  <a:pt x="1676400" y="538734"/>
                  <a:pt x="1630934" y="584200"/>
                  <a:pt x="1574800" y="584200"/>
                </a:cubicBezTo>
                <a:lnTo>
                  <a:pt x="101600" y="584200"/>
                </a:lnTo>
                <a:cubicBezTo>
                  <a:pt x="45466" y="584200"/>
                  <a:pt x="0" y="538734"/>
                  <a:pt x="0" y="482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stopb-1"/>
          <p:cNvSpPr/>
          <p:nvPr/>
        </p:nvSpPr>
        <p:spPr>
          <a:xfrm>
            <a:off x="1358900" y="5384800"/>
            <a:ext cx="31750" cy="584200"/>
          </a:xfrm>
          <a:custGeom>
            <a:avLst/>
            <a:gdLst/>
            <a:ahLst/>
            <a:cxnLst/>
            <a:rect l="0" t="0" r="r" b="b"/>
            <a:pathLst>
              <a:path w="31750" h="584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568325"/>
                </a:lnTo>
                <a:cubicBezTo>
                  <a:pt x="31750" y="577088"/>
                  <a:pt x="24638" y="584200"/>
                  <a:pt x="15875" y="584200"/>
                </a:cubicBezTo>
                <a:lnTo>
                  <a:pt x="15875" y="584200"/>
                </a:lnTo>
                <a:cubicBezTo>
                  <a:pt x="7112" y="584200"/>
                  <a:pt x="0" y="577088"/>
                  <a:pt x="0" y="568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icon-shield"/>
          <p:cNvSpPr/>
          <p:nvPr/>
        </p:nvSpPr>
        <p:spPr>
          <a:xfrm>
            <a:off x="1516380" y="5622290"/>
            <a:ext cx="91440" cy="109220"/>
          </a:xfrm>
          <a:custGeom>
            <a:avLst/>
            <a:gdLst/>
            <a:ahLst/>
            <a:cxnLst/>
            <a:rect l="0" t="0" r="r" b="b"/>
            <a:pathLst>
              <a:path w="91440" h="109220">
                <a:moveTo>
                  <a:pt x="45720" y="0"/>
                </a:moveTo>
                <a:lnTo>
                  <a:pt x="91440" y="17780"/>
                </a:lnTo>
                <a:lnTo>
                  <a:pt x="91440" y="53340"/>
                </a:lnTo>
                <a:cubicBezTo>
                  <a:pt x="91440" y="80010"/>
                  <a:pt x="72390" y="100330"/>
                  <a:pt x="45720" y="109220"/>
                </a:cubicBezTo>
                <a:cubicBezTo>
                  <a:pt x="19050" y="100330"/>
                  <a:pt x="0" y="80010"/>
                  <a:pt x="0" y="53340"/>
                </a:cubicBezTo>
                <a:lnTo>
                  <a:pt x="0" y="17780"/>
                </a:lnTo>
                <a:close/>
                <a:moveTo>
                  <a:pt x="26670" y="54610"/>
                </a:moveTo>
                <a:lnTo>
                  <a:pt x="40640" y="68580"/>
                </a:lnTo>
                <a:lnTo>
                  <a:pt x="67310" y="41910"/>
                </a:lnTo>
              </a:path>
            </a:pathLst>
          </a:cu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stopn-1"/>
          <p:cNvSpPr txBox="1"/>
          <p:nvPr/>
        </p:nvSpPr>
        <p:spPr>
          <a:xfrm>
            <a:off x="1726184" y="5497640"/>
            <a:ext cx="8267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来料全检恢复</a:t>
            </a:r>
          </a:p>
        </p:txBody>
      </p:sp>
      <p:sp>
        <p:nvSpPr>
          <p:cNvPr id="77" name="stopc-1"/>
          <p:cNvSpPr txBox="1"/>
          <p:nvPr/>
        </p:nvSpPr>
        <p:spPr>
          <a:xfrm>
            <a:off x="1729232" y="5706808"/>
            <a:ext cx="75336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成本 2 万 / 月</a:t>
            </a:r>
          </a:p>
        </p:txBody>
      </p:sp>
      <p:cxnSp>
        <p:nvCxnSpPr>
          <p:cNvPr id="78" name="stopline-1"/>
          <p:cNvCxnSpPr/>
          <p:nvPr/>
        </p:nvCxnSpPr>
        <p:spPr>
          <a:xfrm>
            <a:off x="2197100" y="4064000"/>
            <a:ext cx="0" cy="1270000"/>
          </a:xfrm>
          <a:prstGeom prst="line">
            <a:avLst/>
          </a:prstGeom>
          <a:ln w="8890" cap="rnd">
            <a:solidFill>
              <a:srgbClr val="134C9C">
                <a:alpha val="3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stop-2"/>
          <p:cNvSpPr/>
          <p:nvPr/>
        </p:nvSpPr>
        <p:spPr>
          <a:xfrm>
            <a:off x="3327400" y="5384800"/>
            <a:ext cx="1676400" cy="584200"/>
          </a:xfrm>
          <a:custGeom>
            <a:avLst/>
            <a:gdLst/>
            <a:ahLst/>
            <a:cxnLst/>
            <a:rect l="0" t="0" r="r" b="b"/>
            <a:pathLst>
              <a:path w="1676400" h="584200">
                <a:moveTo>
                  <a:pt x="101600" y="0"/>
                </a:moveTo>
                <a:lnTo>
                  <a:pt x="1574800" y="0"/>
                </a:lnTo>
                <a:cubicBezTo>
                  <a:pt x="1630934" y="0"/>
                  <a:pt x="1676400" y="45466"/>
                  <a:pt x="1676400" y="101600"/>
                </a:cubicBezTo>
                <a:lnTo>
                  <a:pt x="1676400" y="482600"/>
                </a:lnTo>
                <a:cubicBezTo>
                  <a:pt x="1676400" y="538734"/>
                  <a:pt x="1630934" y="584200"/>
                  <a:pt x="1574800" y="584200"/>
                </a:cubicBezTo>
                <a:lnTo>
                  <a:pt x="101600" y="584200"/>
                </a:lnTo>
                <a:cubicBezTo>
                  <a:pt x="45466" y="584200"/>
                  <a:pt x="0" y="538734"/>
                  <a:pt x="0" y="482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stopb-2"/>
          <p:cNvSpPr/>
          <p:nvPr/>
        </p:nvSpPr>
        <p:spPr>
          <a:xfrm>
            <a:off x="3327400" y="5384800"/>
            <a:ext cx="31750" cy="584200"/>
          </a:xfrm>
          <a:custGeom>
            <a:avLst/>
            <a:gdLst/>
            <a:ahLst/>
            <a:cxnLst/>
            <a:rect l="0" t="0" r="r" b="b"/>
            <a:pathLst>
              <a:path w="31750" h="584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568325"/>
                </a:lnTo>
                <a:cubicBezTo>
                  <a:pt x="31750" y="577088"/>
                  <a:pt x="24638" y="584200"/>
                  <a:pt x="15875" y="584200"/>
                </a:cubicBezTo>
                <a:lnTo>
                  <a:pt x="15875" y="584200"/>
                </a:lnTo>
                <a:cubicBezTo>
                  <a:pt x="7112" y="584200"/>
                  <a:pt x="0" y="577088"/>
                  <a:pt x="0" y="568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icon-shield"/>
          <p:cNvSpPr/>
          <p:nvPr/>
        </p:nvSpPr>
        <p:spPr>
          <a:xfrm>
            <a:off x="3484880" y="5622290"/>
            <a:ext cx="91440" cy="109220"/>
          </a:xfrm>
          <a:custGeom>
            <a:avLst/>
            <a:gdLst/>
            <a:ahLst/>
            <a:cxnLst/>
            <a:rect l="0" t="0" r="r" b="b"/>
            <a:pathLst>
              <a:path w="91440" h="109220">
                <a:moveTo>
                  <a:pt x="45720" y="0"/>
                </a:moveTo>
                <a:lnTo>
                  <a:pt x="91440" y="17780"/>
                </a:lnTo>
                <a:lnTo>
                  <a:pt x="91440" y="53340"/>
                </a:lnTo>
                <a:cubicBezTo>
                  <a:pt x="91440" y="80010"/>
                  <a:pt x="72390" y="100330"/>
                  <a:pt x="45720" y="109220"/>
                </a:cubicBezTo>
                <a:cubicBezTo>
                  <a:pt x="19050" y="100330"/>
                  <a:pt x="0" y="80010"/>
                  <a:pt x="0" y="53340"/>
                </a:cubicBezTo>
                <a:lnTo>
                  <a:pt x="0" y="17780"/>
                </a:lnTo>
                <a:close/>
                <a:moveTo>
                  <a:pt x="26670" y="54610"/>
                </a:moveTo>
                <a:lnTo>
                  <a:pt x="40640" y="68580"/>
                </a:lnTo>
                <a:lnTo>
                  <a:pt x="67310" y="41910"/>
                </a:lnTo>
              </a:path>
            </a:pathLst>
          </a:cu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stopn-2"/>
          <p:cNvSpPr txBox="1"/>
          <p:nvPr/>
        </p:nvSpPr>
        <p:spPr>
          <a:xfrm>
            <a:off x="3694684" y="5497640"/>
            <a:ext cx="8267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首件必检拦截</a:t>
            </a:r>
          </a:p>
        </p:txBody>
      </p:sp>
      <p:sp>
        <p:nvSpPr>
          <p:cNvPr id="83" name="stopc-2"/>
          <p:cNvSpPr txBox="1"/>
          <p:nvPr/>
        </p:nvSpPr>
        <p:spPr>
          <a:xfrm>
            <a:off x="3697732" y="5706808"/>
            <a:ext cx="75336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成本 6 万 / 月</a:t>
            </a:r>
          </a:p>
        </p:txBody>
      </p:sp>
      <p:cxnSp>
        <p:nvCxnSpPr>
          <p:cNvPr id="84" name="stopline-2"/>
          <p:cNvCxnSpPr/>
          <p:nvPr/>
        </p:nvCxnSpPr>
        <p:spPr>
          <a:xfrm>
            <a:off x="4165600" y="4064000"/>
            <a:ext cx="0" cy="1270000"/>
          </a:xfrm>
          <a:prstGeom prst="line">
            <a:avLst/>
          </a:prstGeom>
          <a:ln w="8890" cap="rnd">
            <a:solidFill>
              <a:srgbClr val="134C9C">
                <a:alpha val="3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stop-3"/>
          <p:cNvSpPr/>
          <p:nvPr/>
        </p:nvSpPr>
        <p:spPr>
          <a:xfrm>
            <a:off x="5295900" y="5384800"/>
            <a:ext cx="1676400" cy="584200"/>
          </a:xfrm>
          <a:custGeom>
            <a:avLst/>
            <a:gdLst/>
            <a:ahLst/>
            <a:cxnLst/>
            <a:rect l="0" t="0" r="r" b="b"/>
            <a:pathLst>
              <a:path w="1676400" h="584200">
                <a:moveTo>
                  <a:pt x="101600" y="0"/>
                </a:moveTo>
                <a:lnTo>
                  <a:pt x="1574800" y="0"/>
                </a:lnTo>
                <a:cubicBezTo>
                  <a:pt x="1630934" y="0"/>
                  <a:pt x="1676400" y="45466"/>
                  <a:pt x="1676400" y="101600"/>
                </a:cubicBezTo>
                <a:lnTo>
                  <a:pt x="1676400" y="482600"/>
                </a:lnTo>
                <a:cubicBezTo>
                  <a:pt x="1676400" y="538734"/>
                  <a:pt x="1630934" y="584200"/>
                  <a:pt x="1574800" y="584200"/>
                </a:cubicBezTo>
                <a:lnTo>
                  <a:pt x="101600" y="584200"/>
                </a:lnTo>
                <a:cubicBezTo>
                  <a:pt x="45466" y="584200"/>
                  <a:pt x="0" y="538734"/>
                  <a:pt x="0" y="482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stopb-3"/>
          <p:cNvSpPr/>
          <p:nvPr/>
        </p:nvSpPr>
        <p:spPr>
          <a:xfrm>
            <a:off x="5295900" y="5384800"/>
            <a:ext cx="31750" cy="584200"/>
          </a:xfrm>
          <a:custGeom>
            <a:avLst/>
            <a:gdLst/>
            <a:ahLst/>
            <a:cxnLst/>
            <a:rect l="0" t="0" r="r" b="b"/>
            <a:pathLst>
              <a:path w="31750" h="584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568325"/>
                </a:lnTo>
                <a:cubicBezTo>
                  <a:pt x="31750" y="577088"/>
                  <a:pt x="24638" y="584200"/>
                  <a:pt x="15875" y="584200"/>
                </a:cubicBezTo>
                <a:lnTo>
                  <a:pt x="15875" y="584200"/>
                </a:lnTo>
                <a:cubicBezTo>
                  <a:pt x="7112" y="584200"/>
                  <a:pt x="0" y="577088"/>
                  <a:pt x="0" y="568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icon-shield"/>
          <p:cNvSpPr/>
          <p:nvPr/>
        </p:nvSpPr>
        <p:spPr>
          <a:xfrm>
            <a:off x="5453380" y="5622290"/>
            <a:ext cx="91440" cy="109220"/>
          </a:xfrm>
          <a:custGeom>
            <a:avLst/>
            <a:gdLst/>
            <a:ahLst/>
            <a:cxnLst/>
            <a:rect l="0" t="0" r="r" b="b"/>
            <a:pathLst>
              <a:path w="91440" h="109220">
                <a:moveTo>
                  <a:pt x="45720" y="0"/>
                </a:moveTo>
                <a:lnTo>
                  <a:pt x="91440" y="17780"/>
                </a:lnTo>
                <a:lnTo>
                  <a:pt x="91440" y="53340"/>
                </a:lnTo>
                <a:cubicBezTo>
                  <a:pt x="91440" y="80010"/>
                  <a:pt x="72390" y="100330"/>
                  <a:pt x="45720" y="109220"/>
                </a:cubicBezTo>
                <a:cubicBezTo>
                  <a:pt x="19050" y="100330"/>
                  <a:pt x="0" y="80010"/>
                  <a:pt x="0" y="53340"/>
                </a:cubicBezTo>
                <a:lnTo>
                  <a:pt x="0" y="17780"/>
                </a:lnTo>
                <a:close/>
                <a:moveTo>
                  <a:pt x="26670" y="54610"/>
                </a:moveTo>
                <a:lnTo>
                  <a:pt x="40640" y="68580"/>
                </a:lnTo>
                <a:lnTo>
                  <a:pt x="67310" y="41910"/>
                </a:lnTo>
              </a:path>
            </a:pathLst>
          </a:cu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stopn-3"/>
          <p:cNvSpPr txBox="1"/>
          <p:nvPr/>
        </p:nvSpPr>
        <p:spPr>
          <a:xfrm>
            <a:off x="5663184" y="5497640"/>
            <a:ext cx="8267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出厂全检兜底</a:t>
            </a:r>
          </a:p>
        </p:txBody>
      </p:sp>
      <p:sp>
        <p:nvSpPr>
          <p:cNvPr id="89" name="stopc-3"/>
          <p:cNvSpPr txBox="1"/>
          <p:nvPr/>
        </p:nvSpPr>
        <p:spPr>
          <a:xfrm>
            <a:off x="5666232" y="5706808"/>
            <a:ext cx="80505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成本 24 万 / 月</a:t>
            </a:r>
          </a:p>
        </p:txBody>
      </p:sp>
      <p:cxnSp>
        <p:nvCxnSpPr>
          <p:cNvPr id="90" name="stopline-3"/>
          <p:cNvCxnSpPr/>
          <p:nvPr/>
        </p:nvCxnSpPr>
        <p:spPr>
          <a:xfrm>
            <a:off x="6134100" y="4064000"/>
            <a:ext cx="0" cy="1270000"/>
          </a:xfrm>
          <a:prstGeom prst="line">
            <a:avLst/>
          </a:prstGeom>
          <a:ln w="8890" cap="rnd">
            <a:solidFill>
              <a:srgbClr val="134C9C">
                <a:alpha val="3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note-bar"/>
          <p:cNvSpPr/>
          <p:nvPr/>
        </p:nvSpPr>
        <p:spPr>
          <a:xfrm>
            <a:off x="952500" y="6121400"/>
            <a:ext cx="25400" cy="2540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note-h"/>
          <p:cNvSpPr txBox="1"/>
          <p:nvPr/>
        </p:nvSpPr>
        <p:spPr>
          <a:xfrm>
            <a:off x="1105408" y="6148324"/>
            <a:ext cx="3200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结论</a:t>
            </a:r>
          </a:p>
        </p:txBody>
      </p:sp>
      <p:sp>
        <p:nvSpPr>
          <p:cNvPr id="93" name="note-p"/>
          <p:cNvSpPr txBox="1"/>
          <p:nvPr/>
        </p:nvSpPr>
        <p:spPr>
          <a:xfrm>
            <a:off x="1586865" y="6136561"/>
            <a:ext cx="438499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把 2 万块钱花在来料端，可以省掉后面 280 万的赔偿——这就是为什么全检不能省。</a:t>
            </a:r>
          </a:p>
        </p:txBody>
      </p:sp>
      <p:cxnSp>
        <p:nvCxnSpPr>
          <p:cNvPr id="94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5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连锁反应 · 五块多米诺</a:t>
            </a:r>
          </a:p>
        </p:txBody>
      </p:sp>
      <p:sp>
        <p:nvSpPr>
          <p:cNvPr id="96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双钻设计流程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35483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DOUBLE DIAMOND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123299" y="673132"/>
            <a:ext cx="24974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两轮发散、两轮收敛：先找对问题，再做对方案</a:t>
            </a:r>
          </a:p>
        </p:txBody>
      </p:sp>
      <p:sp>
        <p:nvSpPr>
          <p:cNvPr id="10" name="dia-1-a"/>
          <p:cNvSpPr/>
          <p:nvPr/>
        </p:nvSpPr>
        <p:spPr>
          <a:xfrm>
            <a:off x="1442783" y="1770651"/>
            <a:ext cx="2303716" cy="2199097"/>
          </a:xfrm>
          <a:custGeom>
            <a:avLst/>
            <a:gdLst/>
            <a:ahLst/>
            <a:cxnLst/>
            <a:rect l="0" t="0" r="r" b="b"/>
            <a:pathLst>
              <a:path w="2303716" h="2199097">
                <a:moveTo>
                  <a:pt x="45784" y="1143618"/>
                </a:moveTo>
                <a:quadBezTo>
                  <a:pt x="-45783" y="1099549"/>
                  <a:pt x="45784" y="1055480"/>
                </a:quadBezTo>
                <a:lnTo>
                  <a:pt x="2212150" y="13318"/>
                </a:lnTo>
                <a:quadBezTo>
                  <a:pt x="2303716" y="-30751"/>
                  <a:pt x="2303716" y="70849"/>
                </a:quadBezTo>
                <a:lnTo>
                  <a:pt x="2303716" y="2128249"/>
                </a:lnTo>
                <a:quadBezTo>
                  <a:pt x="2303716" y="2229849"/>
                  <a:pt x="2212150" y="2185780"/>
                </a:quadBezTo>
                <a:close/>
              </a:path>
            </a:pathLst>
          </a:custGeom>
          <a:gradFill rotWithShape="1">
            <a:gsLst>
              <a:gs pos="0">
                <a:srgbClr val="4168A8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dia-1-b"/>
          <p:cNvSpPr/>
          <p:nvPr/>
        </p:nvSpPr>
        <p:spPr>
          <a:xfrm>
            <a:off x="3746500" y="1770651"/>
            <a:ext cx="2303716" cy="2199097"/>
          </a:xfrm>
          <a:custGeom>
            <a:avLst/>
            <a:gdLst/>
            <a:ahLst/>
            <a:cxnLst/>
            <a:rect l="0" t="0" r="r" b="b"/>
            <a:pathLst>
              <a:path w="2303716" h="2199097">
                <a:moveTo>
                  <a:pt x="0" y="70849"/>
                </a:moveTo>
                <a:quadBezTo>
                  <a:pt x="0" y="-30751"/>
                  <a:pt x="91567" y="13318"/>
                </a:quadBezTo>
                <a:lnTo>
                  <a:pt x="2257933" y="1055480"/>
                </a:lnTo>
                <a:quadBezTo>
                  <a:pt x="2349500" y="1099549"/>
                  <a:pt x="2257933" y="1143618"/>
                </a:quadBezTo>
                <a:lnTo>
                  <a:pt x="91567" y="2185780"/>
                </a:lnTo>
                <a:quadBezTo>
                  <a:pt x="0" y="2229849"/>
                  <a:pt x="0" y="2128249"/>
                </a:quad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4D7EBB"/>
              </a:gs>
            </a:gsLst>
            <a:lin ang="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2" name="seam-1"/>
          <p:cNvCxnSpPr/>
          <p:nvPr/>
        </p:nvCxnSpPr>
        <p:spPr>
          <a:xfrm>
            <a:off x="3746500" y="1828800"/>
            <a:ext cx="0" cy="2082800"/>
          </a:xfrm>
          <a:prstGeom prst="line">
            <a:avLst/>
          </a:prstGeom>
          <a:ln w="12700" cap="rnd">
            <a:solidFill>
              <a:srgbClr val="FFFFFF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dh-1"/>
          <p:cNvSpPr txBox="1"/>
          <p:nvPr/>
        </p:nvSpPr>
        <p:spPr>
          <a:xfrm>
            <a:off x="3409950" y="1367155"/>
            <a:ext cx="6731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问题空间</a:t>
            </a:r>
          </a:p>
        </p:txBody>
      </p:sp>
      <p:sp>
        <p:nvSpPr>
          <p:cNvPr id="14" name="dhs-1"/>
          <p:cNvSpPr txBox="1"/>
          <p:nvPr/>
        </p:nvSpPr>
        <p:spPr>
          <a:xfrm>
            <a:off x="3513296" y="1562687"/>
            <a:ext cx="46640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找对问题</a:t>
            </a:r>
          </a:p>
        </p:txBody>
      </p:sp>
      <p:sp>
        <p:nvSpPr>
          <p:cNvPr id="15" name="dia-2-a"/>
          <p:cNvSpPr/>
          <p:nvPr/>
        </p:nvSpPr>
        <p:spPr>
          <a:xfrm>
            <a:off x="6141784" y="1770651"/>
            <a:ext cx="2303716" cy="2199097"/>
          </a:xfrm>
          <a:custGeom>
            <a:avLst/>
            <a:gdLst/>
            <a:ahLst/>
            <a:cxnLst/>
            <a:rect l="0" t="0" r="r" b="b"/>
            <a:pathLst>
              <a:path w="2303716" h="2199097">
                <a:moveTo>
                  <a:pt x="45783" y="1143618"/>
                </a:moveTo>
                <a:quadBezTo>
                  <a:pt x="-45784" y="1099549"/>
                  <a:pt x="45783" y="1055480"/>
                </a:quadBezTo>
                <a:lnTo>
                  <a:pt x="2212149" y="13318"/>
                </a:lnTo>
                <a:quadBezTo>
                  <a:pt x="2303716" y="-30751"/>
                  <a:pt x="2303716" y="70849"/>
                </a:quadBezTo>
                <a:lnTo>
                  <a:pt x="2303716" y="2128249"/>
                </a:lnTo>
                <a:quadBezTo>
                  <a:pt x="2303716" y="2229849"/>
                  <a:pt x="2212149" y="2185780"/>
                </a:quadBezTo>
                <a:close/>
              </a:path>
            </a:pathLst>
          </a:custGeom>
          <a:gradFill rotWithShape="1">
            <a:gsLst>
              <a:gs pos="0">
                <a:srgbClr val="65A0D8"/>
              </a:gs>
              <a:gs pos="100000">
                <a:srgbClr val="3985CD"/>
              </a:gs>
            </a:gsLst>
            <a:lin ang="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dia-2-b"/>
          <p:cNvSpPr/>
          <p:nvPr/>
        </p:nvSpPr>
        <p:spPr>
          <a:xfrm>
            <a:off x="8445500" y="1770651"/>
            <a:ext cx="2303716" cy="2199097"/>
          </a:xfrm>
          <a:custGeom>
            <a:avLst/>
            <a:gdLst/>
            <a:ahLst/>
            <a:cxnLst/>
            <a:rect l="0" t="0" r="r" b="b"/>
            <a:pathLst>
              <a:path w="2303716" h="2199097">
                <a:moveTo>
                  <a:pt x="0" y="70849"/>
                </a:moveTo>
                <a:quadBezTo>
                  <a:pt x="0" y="-30751"/>
                  <a:pt x="91567" y="13318"/>
                </a:quadBezTo>
                <a:lnTo>
                  <a:pt x="2257933" y="1055480"/>
                </a:lnTo>
                <a:quadBezTo>
                  <a:pt x="2349500" y="1099549"/>
                  <a:pt x="2257933" y="1143618"/>
                </a:quadBezTo>
                <a:lnTo>
                  <a:pt x="91567" y="2185780"/>
                </a:lnTo>
                <a:quadBezTo>
                  <a:pt x="0" y="2229849"/>
                  <a:pt x="0" y="2128249"/>
                </a:quadBezTo>
                <a:close/>
              </a:path>
            </a:pathLst>
          </a:custGeom>
          <a:gradFill rotWithShape="1">
            <a:gsLst>
              <a:gs pos="0">
                <a:srgbClr val="54A2DF"/>
              </a:gs>
              <a:gs pos="100000">
                <a:srgbClr val="7AB6E6"/>
              </a:gs>
            </a:gsLst>
            <a:lin ang="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7" name="seam-2"/>
          <p:cNvCxnSpPr/>
          <p:nvPr/>
        </p:nvCxnSpPr>
        <p:spPr>
          <a:xfrm>
            <a:off x="8445500" y="1828800"/>
            <a:ext cx="0" cy="2082800"/>
          </a:xfrm>
          <a:prstGeom prst="line">
            <a:avLst/>
          </a:prstGeom>
          <a:ln w="12700" cap="rnd">
            <a:solidFill>
              <a:srgbClr val="FFFFFF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dh-2"/>
          <p:cNvSpPr txBox="1"/>
          <p:nvPr/>
        </p:nvSpPr>
        <p:spPr>
          <a:xfrm>
            <a:off x="8108950" y="1367155"/>
            <a:ext cx="6731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方案空间</a:t>
            </a:r>
          </a:p>
        </p:txBody>
      </p:sp>
      <p:sp>
        <p:nvSpPr>
          <p:cNvPr id="19" name="dhs-2"/>
          <p:cNvSpPr txBox="1"/>
          <p:nvPr/>
        </p:nvSpPr>
        <p:spPr>
          <a:xfrm>
            <a:off x="8212296" y="1562687"/>
            <a:ext cx="46640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做对方案</a:t>
            </a:r>
          </a:p>
        </p:txBody>
      </p:sp>
      <p:sp>
        <p:nvSpPr>
          <p:cNvPr id="20" name="icon-search"/>
          <p:cNvSpPr/>
          <p:nvPr/>
        </p:nvSpPr>
        <p:spPr>
          <a:xfrm>
            <a:off x="2602357" y="2608707"/>
            <a:ext cx="35941" cy="35941"/>
          </a:xfrm>
          <a:custGeom>
            <a:avLst/>
            <a:gdLst/>
            <a:ahLst/>
            <a:cxnLst/>
            <a:rect l="0" t="0" r="r" b="b"/>
            <a:pathLst>
              <a:path w="35941" h="35941">
                <a:moveTo>
                  <a:pt x="35941" y="35941"/>
                </a:moveTo>
                <a:lnTo>
                  <a:pt x="0" y="0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icon-search"/>
          <p:cNvSpPr/>
          <p:nvPr/>
        </p:nvSpPr>
        <p:spPr>
          <a:xfrm>
            <a:off x="2505181" y="2511531"/>
            <a:ext cx="115147" cy="115147"/>
          </a:xfrm>
          <a:prstGeom prst="ellipse">
            <a:avLst/>
          </a:pr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pn-1"/>
          <p:cNvSpPr txBox="1"/>
          <p:nvPr/>
        </p:nvSpPr>
        <p:spPr>
          <a:xfrm>
            <a:off x="2294890" y="2726817"/>
            <a:ext cx="5537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探索</a:t>
            </a:r>
          </a:p>
        </p:txBody>
      </p:sp>
      <p:sp>
        <p:nvSpPr>
          <p:cNvPr id="23" name="pe-1"/>
          <p:cNvSpPr txBox="1"/>
          <p:nvPr/>
        </p:nvSpPr>
        <p:spPr>
          <a:xfrm>
            <a:off x="2261489" y="3014408"/>
            <a:ext cx="62052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40">
                <a:solidFill>
                  <a:srgbClr val="DCE8F7"/>
                </a:solidFill>
                <a:latin typeface="Arial"/>
                <a:ea typeface="Arial"/>
                <a:cs typeface="Arial"/>
              </a:rPr>
              <a:t>DISCOVER</a:t>
            </a:r>
          </a:p>
        </p:txBody>
      </p:sp>
      <p:sp>
        <p:nvSpPr>
          <p:cNvPr id="24" name="icon-target"/>
          <p:cNvSpPr/>
          <p:nvPr/>
        </p:nvSpPr>
        <p:spPr>
          <a:xfrm>
            <a:off x="4921250" y="2500757"/>
            <a:ext cx="59373" cy="77343"/>
          </a:xfrm>
          <a:custGeom>
            <a:avLst/>
            <a:gdLst/>
            <a:ahLst/>
            <a:cxnLst/>
            <a:rect l="0" t="0" r="r" b="b"/>
            <a:pathLst>
              <a:path w="59373" h="77343">
                <a:moveTo>
                  <a:pt x="0" y="44958"/>
                </a:moveTo>
                <a:lnTo>
                  <a:pt x="0" y="0"/>
                </a:lnTo>
                <a:moveTo>
                  <a:pt x="0" y="77343"/>
                </a:moveTo>
                <a:lnTo>
                  <a:pt x="59373" y="17970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icon-target"/>
          <p:cNvSpPr/>
          <p:nvPr/>
        </p:nvSpPr>
        <p:spPr>
          <a:xfrm>
            <a:off x="4843886" y="2500736"/>
            <a:ext cx="154728" cy="154728"/>
          </a:xfrm>
          <a:prstGeom prst="ellipse">
            <a:avLst/>
          </a:pr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icon-target"/>
          <p:cNvSpPr/>
          <p:nvPr/>
        </p:nvSpPr>
        <p:spPr>
          <a:xfrm>
            <a:off x="4881668" y="2538518"/>
            <a:ext cx="79163" cy="79163"/>
          </a:xfrm>
          <a:prstGeom prst="ellipse">
            <a:avLst/>
          </a:pr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pn-2"/>
          <p:cNvSpPr txBox="1"/>
          <p:nvPr/>
        </p:nvSpPr>
        <p:spPr>
          <a:xfrm>
            <a:off x="4644390" y="2726817"/>
            <a:ext cx="5537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定义</a:t>
            </a:r>
          </a:p>
        </p:txBody>
      </p:sp>
      <p:sp>
        <p:nvSpPr>
          <p:cNvPr id="28" name="pe-2"/>
          <p:cNvSpPr txBox="1"/>
          <p:nvPr/>
        </p:nvSpPr>
        <p:spPr>
          <a:xfrm>
            <a:off x="4678553" y="3014408"/>
            <a:ext cx="4853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40">
                <a:solidFill>
                  <a:srgbClr val="DCE8F7"/>
                </a:solidFill>
                <a:latin typeface="Arial"/>
                <a:ea typeface="Arial"/>
                <a:cs typeface="Arial"/>
              </a:rPr>
              <a:t>DEFINE</a:t>
            </a:r>
          </a:p>
        </p:txBody>
      </p:sp>
      <p:sp>
        <p:nvSpPr>
          <p:cNvPr id="29" name="icon-bulb"/>
          <p:cNvSpPr/>
          <p:nvPr/>
        </p:nvSpPr>
        <p:spPr>
          <a:xfrm>
            <a:off x="7219783" y="2500757"/>
            <a:ext cx="101933" cy="151130"/>
          </a:xfrm>
          <a:custGeom>
            <a:avLst/>
            <a:gdLst/>
            <a:ahLst/>
            <a:cxnLst/>
            <a:rect l="0" t="0" r="r" b="b"/>
            <a:pathLst>
              <a:path w="101933" h="151130">
                <a:moveTo>
                  <a:pt x="29377" y="125920"/>
                </a:moveTo>
                <a:lnTo>
                  <a:pt x="72557" y="125920"/>
                </a:lnTo>
                <a:moveTo>
                  <a:pt x="34774" y="151130"/>
                </a:moveTo>
                <a:lnTo>
                  <a:pt x="67159" y="151130"/>
                </a:lnTo>
                <a:moveTo>
                  <a:pt x="50967" y="0"/>
                </a:moveTo>
                <a:cubicBezTo>
                  <a:pt x="72811" y="-254"/>
                  <a:pt x="92369" y="13589"/>
                  <a:pt x="99290" y="34290"/>
                </a:cubicBezTo>
                <a:cubicBezTo>
                  <a:pt x="106275" y="54991"/>
                  <a:pt x="99100" y="77851"/>
                  <a:pt x="81574" y="90805"/>
                </a:cubicBezTo>
                <a:cubicBezTo>
                  <a:pt x="75287" y="96266"/>
                  <a:pt x="72557" y="101600"/>
                  <a:pt x="72557" y="109728"/>
                </a:cubicBezTo>
                <a:lnTo>
                  <a:pt x="29377" y="109728"/>
                </a:lnTo>
                <a:cubicBezTo>
                  <a:pt x="29377" y="101600"/>
                  <a:pt x="26646" y="96266"/>
                  <a:pt x="20360" y="90805"/>
                </a:cubicBezTo>
                <a:cubicBezTo>
                  <a:pt x="2834" y="77851"/>
                  <a:pt x="-4342" y="54991"/>
                  <a:pt x="2643" y="34290"/>
                </a:cubicBezTo>
                <a:cubicBezTo>
                  <a:pt x="9565" y="13589"/>
                  <a:pt x="29123" y="-254"/>
                  <a:pt x="50967" y="0"/>
                </a:cubicBezTo>
                <a:close/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pn-3"/>
          <p:cNvSpPr txBox="1"/>
          <p:nvPr/>
        </p:nvSpPr>
        <p:spPr>
          <a:xfrm>
            <a:off x="6993890" y="2726817"/>
            <a:ext cx="5537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开发</a:t>
            </a:r>
          </a:p>
        </p:txBody>
      </p:sp>
      <p:sp>
        <p:nvSpPr>
          <p:cNvPr id="31" name="pe-3"/>
          <p:cNvSpPr txBox="1"/>
          <p:nvPr/>
        </p:nvSpPr>
        <p:spPr>
          <a:xfrm>
            <a:off x="6994271" y="3014408"/>
            <a:ext cx="55295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40">
                <a:solidFill>
                  <a:srgbClr val="DCE8F7"/>
                </a:solidFill>
                <a:latin typeface="Arial"/>
                <a:ea typeface="Arial"/>
                <a:cs typeface="Arial"/>
              </a:rPr>
              <a:t>DEVELOP</a:t>
            </a:r>
          </a:p>
        </p:txBody>
      </p:sp>
      <p:sp>
        <p:nvSpPr>
          <p:cNvPr id="32" name="icon-check"/>
          <p:cNvSpPr/>
          <p:nvPr/>
        </p:nvSpPr>
        <p:spPr>
          <a:xfrm>
            <a:off x="9562656" y="2538540"/>
            <a:ext cx="115189" cy="80962"/>
          </a:xfrm>
          <a:custGeom>
            <a:avLst/>
            <a:gdLst/>
            <a:ahLst/>
            <a:cxnLst/>
            <a:rect l="0" t="0" r="r" b="b"/>
            <a:pathLst>
              <a:path w="115189" h="80962">
                <a:moveTo>
                  <a:pt x="0" y="43180"/>
                </a:moveTo>
                <a:lnTo>
                  <a:pt x="37783" y="80962"/>
                </a:lnTo>
                <a:lnTo>
                  <a:pt x="115189" y="0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pn-4"/>
          <p:cNvSpPr txBox="1"/>
          <p:nvPr/>
        </p:nvSpPr>
        <p:spPr>
          <a:xfrm>
            <a:off x="9343390" y="2726817"/>
            <a:ext cx="5537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交付</a:t>
            </a:r>
          </a:p>
        </p:txBody>
      </p:sp>
      <p:sp>
        <p:nvSpPr>
          <p:cNvPr id="34" name="pe-4"/>
          <p:cNvSpPr txBox="1"/>
          <p:nvPr/>
        </p:nvSpPr>
        <p:spPr>
          <a:xfrm>
            <a:off x="9343771" y="3014408"/>
            <a:ext cx="55295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40">
                <a:solidFill>
                  <a:srgbClr val="DCE8F7"/>
                </a:solidFill>
                <a:latin typeface="Arial"/>
                <a:ea typeface="Arial"/>
                <a:cs typeface="Arial"/>
              </a:rPr>
              <a:t>DELIVER</a:t>
            </a:r>
          </a:p>
        </p:txBody>
      </p:sp>
      <p:sp>
        <p:nvSpPr>
          <p:cNvPr id="35" name="dirbg-1"/>
          <p:cNvSpPr/>
          <p:nvPr/>
        </p:nvSpPr>
        <p:spPr>
          <a:xfrm>
            <a:off x="2305050" y="3454400"/>
            <a:ext cx="533400" cy="203200"/>
          </a:xfrm>
          <a:custGeom>
            <a:avLst/>
            <a:gdLst/>
            <a:ahLst/>
            <a:cxnLst/>
            <a:rect l="0" t="0" r="r" b="b"/>
            <a:pathLst>
              <a:path w="533400" h="203200">
                <a:moveTo>
                  <a:pt x="101600" y="0"/>
                </a:moveTo>
                <a:lnTo>
                  <a:pt x="431800" y="0"/>
                </a:lnTo>
                <a:cubicBezTo>
                  <a:pt x="487934" y="0"/>
                  <a:pt x="533400" y="45466"/>
                  <a:pt x="533400" y="101600"/>
                </a:cubicBezTo>
                <a:lnTo>
                  <a:pt x="533400" y="101600"/>
                </a:lnTo>
                <a:cubicBezTo>
                  <a:pt x="533400" y="157734"/>
                  <a:pt x="487934" y="203200"/>
                  <a:pt x="4318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dir-1"/>
          <p:cNvSpPr txBox="1"/>
          <p:nvPr/>
        </p:nvSpPr>
        <p:spPr>
          <a:xfrm>
            <a:off x="2424112" y="3476466"/>
            <a:ext cx="2952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7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发散</a:t>
            </a:r>
          </a:p>
        </p:txBody>
      </p:sp>
      <p:sp>
        <p:nvSpPr>
          <p:cNvPr id="37" name="dirbg-2"/>
          <p:cNvSpPr/>
          <p:nvPr/>
        </p:nvSpPr>
        <p:spPr>
          <a:xfrm>
            <a:off x="4654550" y="3454400"/>
            <a:ext cx="533400" cy="203200"/>
          </a:xfrm>
          <a:custGeom>
            <a:avLst/>
            <a:gdLst/>
            <a:ahLst/>
            <a:cxnLst/>
            <a:rect l="0" t="0" r="r" b="b"/>
            <a:pathLst>
              <a:path w="533400" h="203200">
                <a:moveTo>
                  <a:pt x="101600" y="0"/>
                </a:moveTo>
                <a:lnTo>
                  <a:pt x="431800" y="0"/>
                </a:lnTo>
                <a:cubicBezTo>
                  <a:pt x="487934" y="0"/>
                  <a:pt x="533400" y="45466"/>
                  <a:pt x="533400" y="101600"/>
                </a:cubicBezTo>
                <a:lnTo>
                  <a:pt x="533400" y="101600"/>
                </a:lnTo>
                <a:cubicBezTo>
                  <a:pt x="533400" y="157734"/>
                  <a:pt x="487934" y="203200"/>
                  <a:pt x="4318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dir-2"/>
          <p:cNvSpPr txBox="1"/>
          <p:nvPr/>
        </p:nvSpPr>
        <p:spPr>
          <a:xfrm>
            <a:off x="4773612" y="3476466"/>
            <a:ext cx="2952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7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收敛</a:t>
            </a:r>
          </a:p>
        </p:txBody>
      </p:sp>
      <p:sp>
        <p:nvSpPr>
          <p:cNvPr id="39" name="dirbg-3"/>
          <p:cNvSpPr/>
          <p:nvPr/>
        </p:nvSpPr>
        <p:spPr>
          <a:xfrm>
            <a:off x="7004050" y="3454400"/>
            <a:ext cx="533400" cy="203200"/>
          </a:xfrm>
          <a:custGeom>
            <a:avLst/>
            <a:gdLst/>
            <a:ahLst/>
            <a:cxnLst/>
            <a:rect l="0" t="0" r="r" b="b"/>
            <a:pathLst>
              <a:path w="533400" h="203200">
                <a:moveTo>
                  <a:pt x="101600" y="0"/>
                </a:moveTo>
                <a:lnTo>
                  <a:pt x="431800" y="0"/>
                </a:lnTo>
                <a:cubicBezTo>
                  <a:pt x="487934" y="0"/>
                  <a:pt x="533400" y="45466"/>
                  <a:pt x="533400" y="101600"/>
                </a:cubicBezTo>
                <a:lnTo>
                  <a:pt x="533400" y="101600"/>
                </a:lnTo>
                <a:cubicBezTo>
                  <a:pt x="533400" y="157734"/>
                  <a:pt x="487934" y="203200"/>
                  <a:pt x="4318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dir-3"/>
          <p:cNvSpPr txBox="1"/>
          <p:nvPr/>
        </p:nvSpPr>
        <p:spPr>
          <a:xfrm>
            <a:off x="7123112" y="3476466"/>
            <a:ext cx="2952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7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发散</a:t>
            </a:r>
          </a:p>
        </p:txBody>
      </p:sp>
      <p:sp>
        <p:nvSpPr>
          <p:cNvPr id="41" name="dirbg-4"/>
          <p:cNvSpPr/>
          <p:nvPr/>
        </p:nvSpPr>
        <p:spPr>
          <a:xfrm>
            <a:off x="9353550" y="3454400"/>
            <a:ext cx="533400" cy="203200"/>
          </a:xfrm>
          <a:custGeom>
            <a:avLst/>
            <a:gdLst/>
            <a:ahLst/>
            <a:cxnLst/>
            <a:rect l="0" t="0" r="r" b="b"/>
            <a:pathLst>
              <a:path w="533400" h="203200">
                <a:moveTo>
                  <a:pt x="101600" y="0"/>
                </a:moveTo>
                <a:lnTo>
                  <a:pt x="431800" y="0"/>
                </a:lnTo>
                <a:cubicBezTo>
                  <a:pt x="487934" y="0"/>
                  <a:pt x="533400" y="45466"/>
                  <a:pt x="533400" y="101600"/>
                </a:cubicBezTo>
                <a:lnTo>
                  <a:pt x="533400" y="101600"/>
                </a:lnTo>
                <a:cubicBezTo>
                  <a:pt x="533400" y="157734"/>
                  <a:pt x="487934" y="203200"/>
                  <a:pt x="4318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dir-4"/>
          <p:cNvSpPr txBox="1"/>
          <p:nvPr/>
        </p:nvSpPr>
        <p:spPr>
          <a:xfrm>
            <a:off x="9472612" y="3476466"/>
            <a:ext cx="2952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7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收敛</a:t>
            </a:r>
          </a:p>
        </p:txBody>
      </p:sp>
      <p:sp>
        <p:nvSpPr>
          <p:cNvPr id="43" name="card-1"/>
          <p:cNvSpPr/>
          <p:nvPr/>
        </p:nvSpPr>
        <p:spPr>
          <a:xfrm>
            <a:off x="1485900" y="4165600"/>
            <a:ext cx="2171700" cy="1701800"/>
          </a:xfrm>
          <a:custGeom>
            <a:avLst/>
            <a:gdLst/>
            <a:ahLst/>
            <a:cxnLst/>
            <a:rect l="0" t="0" r="r" b="b"/>
            <a:pathLst>
              <a:path w="2171700" h="1701800">
                <a:moveTo>
                  <a:pt x="114300" y="0"/>
                </a:moveTo>
                <a:lnTo>
                  <a:pt x="2057400" y="0"/>
                </a:lnTo>
                <a:cubicBezTo>
                  <a:pt x="2120519" y="0"/>
                  <a:pt x="2171700" y="51181"/>
                  <a:pt x="2171700" y="114300"/>
                </a:cubicBezTo>
                <a:lnTo>
                  <a:pt x="2171700" y="1587500"/>
                </a:lnTo>
                <a:cubicBezTo>
                  <a:pt x="2171700" y="1650619"/>
                  <a:pt x="2120519" y="1701800"/>
                  <a:pt x="2057400" y="1701800"/>
                </a:cubicBezTo>
                <a:lnTo>
                  <a:pt x="114300" y="1701800"/>
                </a:lnTo>
                <a:cubicBezTo>
                  <a:pt x="51181" y="1701800"/>
                  <a:pt x="0" y="1650619"/>
                  <a:pt x="0" y="1587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cap-1"/>
          <p:cNvSpPr/>
          <p:nvPr/>
        </p:nvSpPr>
        <p:spPr>
          <a:xfrm>
            <a:off x="1485900" y="4165600"/>
            <a:ext cx="2171700" cy="44450"/>
          </a:xfrm>
          <a:custGeom>
            <a:avLst/>
            <a:gdLst/>
            <a:ahLst/>
            <a:cxnLst/>
            <a:rect l="0" t="0" r="r" b="b"/>
            <a:pathLst>
              <a:path w="2171700" h="44450">
                <a:moveTo>
                  <a:pt x="22225" y="0"/>
                </a:moveTo>
                <a:lnTo>
                  <a:pt x="2149475" y="0"/>
                </a:lnTo>
                <a:cubicBezTo>
                  <a:pt x="2161730" y="0"/>
                  <a:pt x="2171700" y="9970"/>
                  <a:pt x="2171700" y="22225"/>
                </a:cubicBezTo>
                <a:lnTo>
                  <a:pt x="2171700" y="22225"/>
                </a:lnTo>
                <a:cubicBezTo>
                  <a:pt x="2171700" y="34480"/>
                  <a:pt x="2161730" y="44450"/>
                  <a:pt x="2149475" y="44450"/>
                </a:cubicBezTo>
                <a:lnTo>
                  <a:pt x="22225" y="44450"/>
                </a:lnTo>
                <a:cubicBezTo>
                  <a:pt x="9969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70"/>
                  <a:pt x="9969" y="0"/>
                  <a:pt x="2222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cn-1"/>
          <p:cNvSpPr txBox="1"/>
          <p:nvPr/>
        </p:nvSpPr>
        <p:spPr>
          <a:xfrm>
            <a:off x="1684274" y="4340828"/>
            <a:ext cx="45529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探索</a:t>
            </a:r>
          </a:p>
        </p:txBody>
      </p:sp>
      <p:sp>
        <p:nvSpPr>
          <p:cNvPr id="46" name="cno-1"/>
          <p:cNvSpPr txBox="1"/>
          <p:nvPr/>
        </p:nvSpPr>
        <p:spPr>
          <a:xfrm>
            <a:off x="3129280" y="4276217"/>
            <a:ext cx="359156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400" b="1">
                <a:solidFill>
                  <a:srgbClr val="0B3E8F">
                    <a:alpha val="16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47" name="cnote-1"/>
          <p:cNvSpPr txBox="1"/>
          <p:nvPr/>
        </p:nvSpPr>
        <p:spPr>
          <a:xfrm>
            <a:off x="1688465" y="45998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尽可能多地收集事实</a:t>
            </a:r>
          </a:p>
        </p:txBody>
      </p:sp>
      <p:cxnSp>
        <p:nvCxnSpPr>
          <p:cNvPr id="48" name="cl-1"/>
          <p:cNvCxnSpPr/>
          <p:nvPr/>
        </p:nvCxnSpPr>
        <p:spPr>
          <a:xfrm>
            <a:off x="1701800" y="4876800"/>
            <a:ext cx="17399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cd-1-1"/>
          <p:cNvSpPr/>
          <p:nvPr/>
        </p:nvSpPr>
        <p:spPr>
          <a:xfrm>
            <a:off x="1742440" y="5076190"/>
            <a:ext cx="45720" cy="45720"/>
          </a:xfrm>
          <a:prstGeom prst="ellipse">
            <a:avLst/>
          </a:prstGeom>
          <a:solidFill>
            <a:srgbClr val="0B3E8F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ca-1-1"/>
          <p:cNvSpPr txBox="1"/>
          <p:nvPr/>
        </p:nvSpPr>
        <p:spPr>
          <a:xfrm>
            <a:off x="1867789" y="5009245"/>
            <a:ext cx="818324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客户走访 24 家</a:t>
            </a:r>
          </a:p>
        </p:txBody>
      </p:sp>
      <p:sp>
        <p:nvSpPr>
          <p:cNvPr id="51" name="cd-1-2"/>
          <p:cNvSpPr/>
          <p:nvPr/>
        </p:nvSpPr>
        <p:spPr>
          <a:xfrm>
            <a:off x="1742440" y="5330190"/>
            <a:ext cx="45720" cy="45720"/>
          </a:xfrm>
          <a:prstGeom prst="ellipse">
            <a:avLst/>
          </a:prstGeom>
          <a:solidFill>
            <a:srgbClr val="0B3E8F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ca-1-2"/>
          <p:cNvSpPr txBox="1"/>
          <p:nvPr/>
        </p:nvSpPr>
        <p:spPr>
          <a:xfrm>
            <a:off x="1867789" y="5263245"/>
            <a:ext cx="76130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一线跟班 6 天</a:t>
            </a:r>
          </a:p>
        </p:txBody>
      </p:sp>
      <p:sp>
        <p:nvSpPr>
          <p:cNvPr id="53" name="cd-1-3"/>
          <p:cNvSpPr/>
          <p:nvPr/>
        </p:nvSpPr>
        <p:spPr>
          <a:xfrm>
            <a:off x="1742440" y="5584190"/>
            <a:ext cx="45720" cy="45720"/>
          </a:xfrm>
          <a:prstGeom prst="ellipse">
            <a:avLst/>
          </a:prstGeom>
          <a:solidFill>
            <a:srgbClr val="0B3E8F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ca-1-3"/>
          <p:cNvSpPr txBox="1"/>
          <p:nvPr/>
        </p:nvSpPr>
        <p:spPr>
          <a:xfrm>
            <a:off x="1867789" y="5517245"/>
            <a:ext cx="76130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竞品拆解 8 款</a:t>
            </a:r>
          </a:p>
        </p:txBody>
      </p:sp>
      <p:sp>
        <p:nvSpPr>
          <p:cNvPr id="55" name="card-2"/>
          <p:cNvSpPr/>
          <p:nvPr/>
        </p:nvSpPr>
        <p:spPr>
          <a:xfrm>
            <a:off x="3835400" y="4165600"/>
            <a:ext cx="2171700" cy="1701800"/>
          </a:xfrm>
          <a:custGeom>
            <a:avLst/>
            <a:gdLst/>
            <a:ahLst/>
            <a:cxnLst/>
            <a:rect l="0" t="0" r="r" b="b"/>
            <a:pathLst>
              <a:path w="2171700" h="1701800">
                <a:moveTo>
                  <a:pt x="114300" y="0"/>
                </a:moveTo>
                <a:lnTo>
                  <a:pt x="2057400" y="0"/>
                </a:lnTo>
                <a:cubicBezTo>
                  <a:pt x="2120519" y="0"/>
                  <a:pt x="2171700" y="51181"/>
                  <a:pt x="2171700" y="114300"/>
                </a:cubicBezTo>
                <a:lnTo>
                  <a:pt x="2171700" y="1587500"/>
                </a:lnTo>
                <a:cubicBezTo>
                  <a:pt x="2171700" y="1650619"/>
                  <a:pt x="2120519" y="1701800"/>
                  <a:pt x="2057400" y="1701800"/>
                </a:cubicBezTo>
                <a:lnTo>
                  <a:pt x="114300" y="1701800"/>
                </a:lnTo>
                <a:cubicBezTo>
                  <a:pt x="51181" y="1701800"/>
                  <a:pt x="0" y="1650619"/>
                  <a:pt x="0" y="1587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cap-2"/>
          <p:cNvSpPr/>
          <p:nvPr/>
        </p:nvSpPr>
        <p:spPr>
          <a:xfrm>
            <a:off x="3835400" y="4165600"/>
            <a:ext cx="2171700" cy="44450"/>
          </a:xfrm>
          <a:custGeom>
            <a:avLst/>
            <a:gdLst/>
            <a:ahLst/>
            <a:cxnLst/>
            <a:rect l="0" t="0" r="r" b="b"/>
            <a:pathLst>
              <a:path w="2171700" h="44450">
                <a:moveTo>
                  <a:pt x="22225" y="0"/>
                </a:moveTo>
                <a:lnTo>
                  <a:pt x="2149475" y="0"/>
                </a:lnTo>
                <a:cubicBezTo>
                  <a:pt x="2161730" y="0"/>
                  <a:pt x="2171700" y="9970"/>
                  <a:pt x="2171700" y="22225"/>
                </a:cubicBezTo>
                <a:lnTo>
                  <a:pt x="2171700" y="22225"/>
                </a:lnTo>
                <a:cubicBezTo>
                  <a:pt x="2171700" y="34480"/>
                  <a:pt x="2161730" y="44450"/>
                  <a:pt x="2149475" y="44450"/>
                </a:cubicBezTo>
                <a:lnTo>
                  <a:pt x="22225" y="44450"/>
                </a:lnTo>
                <a:cubicBezTo>
                  <a:pt x="9970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70"/>
                  <a:pt x="9970" y="0"/>
                  <a:pt x="2222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cn-2"/>
          <p:cNvSpPr txBox="1"/>
          <p:nvPr/>
        </p:nvSpPr>
        <p:spPr>
          <a:xfrm>
            <a:off x="4033774" y="4340828"/>
            <a:ext cx="45529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定义</a:t>
            </a:r>
          </a:p>
        </p:txBody>
      </p:sp>
      <p:sp>
        <p:nvSpPr>
          <p:cNvPr id="58" name="cno-2"/>
          <p:cNvSpPr txBox="1"/>
          <p:nvPr/>
        </p:nvSpPr>
        <p:spPr>
          <a:xfrm>
            <a:off x="5478780" y="4276217"/>
            <a:ext cx="359156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400" b="1">
                <a:solidFill>
                  <a:srgbClr val="1B5AA8">
                    <a:alpha val="16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59" name="cnote-2"/>
          <p:cNvSpPr txBox="1"/>
          <p:nvPr/>
        </p:nvSpPr>
        <p:spPr>
          <a:xfrm>
            <a:off x="4037965" y="4599861"/>
            <a:ext cx="12366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收敛出真正要解的问题</a:t>
            </a:r>
          </a:p>
        </p:txBody>
      </p:sp>
      <p:cxnSp>
        <p:nvCxnSpPr>
          <p:cNvPr id="60" name="cl-2"/>
          <p:cNvCxnSpPr/>
          <p:nvPr/>
        </p:nvCxnSpPr>
        <p:spPr>
          <a:xfrm>
            <a:off x="4051300" y="4876800"/>
            <a:ext cx="17399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cd-2-1"/>
          <p:cNvSpPr/>
          <p:nvPr/>
        </p:nvSpPr>
        <p:spPr>
          <a:xfrm>
            <a:off x="4091940" y="5076190"/>
            <a:ext cx="45720" cy="45720"/>
          </a:xfrm>
          <a:prstGeom prst="ellipse">
            <a:avLst/>
          </a:prstGeom>
          <a:solidFill>
            <a:srgbClr val="1B5AA8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ca-2-1"/>
          <p:cNvSpPr txBox="1"/>
          <p:nvPr/>
        </p:nvSpPr>
        <p:spPr>
          <a:xfrm>
            <a:off x="4217289" y="5009245"/>
            <a:ext cx="69056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问题聚类归并</a:t>
            </a:r>
          </a:p>
        </p:txBody>
      </p:sp>
      <p:sp>
        <p:nvSpPr>
          <p:cNvPr id="63" name="cd-2-2"/>
          <p:cNvSpPr/>
          <p:nvPr/>
        </p:nvSpPr>
        <p:spPr>
          <a:xfrm>
            <a:off x="4091940" y="5330190"/>
            <a:ext cx="45720" cy="45720"/>
          </a:xfrm>
          <a:prstGeom prst="ellipse">
            <a:avLst/>
          </a:prstGeom>
          <a:solidFill>
            <a:srgbClr val="1B5AA8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ca-2-2"/>
          <p:cNvSpPr txBox="1"/>
          <p:nvPr/>
        </p:nvSpPr>
        <p:spPr>
          <a:xfrm>
            <a:off x="4217289" y="5263245"/>
            <a:ext cx="961961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选出 1 个核心问题</a:t>
            </a:r>
          </a:p>
        </p:txBody>
      </p:sp>
      <p:sp>
        <p:nvSpPr>
          <p:cNvPr id="65" name="cd-2-3"/>
          <p:cNvSpPr/>
          <p:nvPr/>
        </p:nvSpPr>
        <p:spPr>
          <a:xfrm>
            <a:off x="4091940" y="5584190"/>
            <a:ext cx="45720" cy="45720"/>
          </a:xfrm>
          <a:prstGeom prst="ellipse">
            <a:avLst/>
          </a:prstGeom>
          <a:solidFill>
            <a:srgbClr val="1B5AA8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ca-2-3"/>
          <p:cNvSpPr txBox="1"/>
          <p:nvPr/>
        </p:nvSpPr>
        <p:spPr>
          <a:xfrm>
            <a:off x="4217289" y="5517245"/>
            <a:ext cx="69056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写成问题陈述</a:t>
            </a:r>
          </a:p>
        </p:txBody>
      </p:sp>
      <p:sp>
        <p:nvSpPr>
          <p:cNvPr id="67" name="card-3"/>
          <p:cNvSpPr/>
          <p:nvPr/>
        </p:nvSpPr>
        <p:spPr>
          <a:xfrm>
            <a:off x="6184900" y="4165600"/>
            <a:ext cx="2171700" cy="1701800"/>
          </a:xfrm>
          <a:custGeom>
            <a:avLst/>
            <a:gdLst/>
            <a:ahLst/>
            <a:cxnLst/>
            <a:rect l="0" t="0" r="r" b="b"/>
            <a:pathLst>
              <a:path w="2171700" h="1701800">
                <a:moveTo>
                  <a:pt x="114300" y="0"/>
                </a:moveTo>
                <a:lnTo>
                  <a:pt x="2057400" y="0"/>
                </a:lnTo>
                <a:cubicBezTo>
                  <a:pt x="2120519" y="0"/>
                  <a:pt x="2171700" y="51181"/>
                  <a:pt x="2171700" y="114300"/>
                </a:cubicBezTo>
                <a:lnTo>
                  <a:pt x="2171700" y="1587500"/>
                </a:lnTo>
                <a:cubicBezTo>
                  <a:pt x="2171700" y="1650619"/>
                  <a:pt x="2120519" y="1701800"/>
                  <a:pt x="2057400" y="1701800"/>
                </a:cubicBezTo>
                <a:lnTo>
                  <a:pt x="114300" y="1701800"/>
                </a:lnTo>
                <a:cubicBezTo>
                  <a:pt x="51181" y="1701800"/>
                  <a:pt x="0" y="1650619"/>
                  <a:pt x="0" y="1587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cap-3"/>
          <p:cNvSpPr/>
          <p:nvPr/>
        </p:nvSpPr>
        <p:spPr>
          <a:xfrm>
            <a:off x="6184900" y="4165600"/>
            <a:ext cx="2171700" cy="44450"/>
          </a:xfrm>
          <a:custGeom>
            <a:avLst/>
            <a:gdLst/>
            <a:ahLst/>
            <a:cxnLst/>
            <a:rect l="0" t="0" r="r" b="b"/>
            <a:pathLst>
              <a:path w="2171700" h="44450">
                <a:moveTo>
                  <a:pt x="22225" y="0"/>
                </a:moveTo>
                <a:lnTo>
                  <a:pt x="2149475" y="0"/>
                </a:lnTo>
                <a:cubicBezTo>
                  <a:pt x="2161731" y="0"/>
                  <a:pt x="2171700" y="9970"/>
                  <a:pt x="2171700" y="22225"/>
                </a:cubicBezTo>
                <a:lnTo>
                  <a:pt x="2171700" y="22225"/>
                </a:lnTo>
                <a:cubicBezTo>
                  <a:pt x="2171700" y="34480"/>
                  <a:pt x="2161731" y="44450"/>
                  <a:pt x="2149475" y="44450"/>
                </a:cubicBezTo>
                <a:lnTo>
                  <a:pt x="22225" y="44450"/>
                </a:lnTo>
                <a:cubicBezTo>
                  <a:pt x="9970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70"/>
                  <a:pt x="9970" y="0"/>
                  <a:pt x="22225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cn-3"/>
          <p:cNvSpPr txBox="1"/>
          <p:nvPr/>
        </p:nvSpPr>
        <p:spPr>
          <a:xfrm>
            <a:off x="6383274" y="4340828"/>
            <a:ext cx="45529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开发</a:t>
            </a:r>
          </a:p>
        </p:txBody>
      </p:sp>
      <p:sp>
        <p:nvSpPr>
          <p:cNvPr id="70" name="cno-3"/>
          <p:cNvSpPr txBox="1"/>
          <p:nvPr/>
        </p:nvSpPr>
        <p:spPr>
          <a:xfrm>
            <a:off x="7828280" y="4276217"/>
            <a:ext cx="359156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400" b="1">
                <a:solidFill>
                  <a:srgbClr val="3985CD">
                    <a:alpha val="16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71" name="cnote-3"/>
          <p:cNvSpPr txBox="1"/>
          <p:nvPr/>
        </p:nvSpPr>
        <p:spPr>
          <a:xfrm>
            <a:off x="6387465" y="45998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围绕问题做多套方案</a:t>
            </a:r>
          </a:p>
        </p:txBody>
      </p:sp>
      <p:cxnSp>
        <p:nvCxnSpPr>
          <p:cNvPr id="72" name="cl-3"/>
          <p:cNvCxnSpPr/>
          <p:nvPr/>
        </p:nvCxnSpPr>
        <p:spPr>
          <a:xfrm>
            <a:off x="6400800" y="4876800"/>
            <a:ext cx="17399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cd-3-1"/>
          <p:cNvSpPr/>
          <p:nvPr/>
        </p:nvSpPr>
        <p:spPr>
          <a:xfrm>
            <a:off x="6441440" y="5076190"/>
            <a:ext cx="45720" cy="45720"/>
          </a:xfrm>
          <a:prstGeom prst="ellipse">
            <a:avLst/>
          </a:prstGeom>
          <a:solidFill>
            <a:srgbClr val="3985CD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ca-3-1"/>
          <p:cNvSpPr txBox="1"/>
          <p:nvPr/>
        </p:nvSpPr>
        <p:spPr>
          <a:xfrm>
            <a:off x="6566789" y="5009245"/>
            <a:ext cx="818324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方案发散 12 个</a:t>
            </a:r>
          </a:p>
        </p:txBody>
      </p:sp>
      <p:sp>
        <p:nvSpPr>
          <p:cNvPr id="75" name="cd-3-2"/>
          <p:cNvSpPr/>
          <p:nvPr/>
        </p:nvSpPr>
        <p:spPr>
          <a:xfrm>
            <a:off x="6441440" y="5330190"/>
            <a:ext cx="45720" cy="45720"/>
          </a:xfrm>
          <a:prstGeom prst="ellipse">
            <a:avLst/>
          </a:prstGeom>
          <a:solidFill>
            <a:srgbClr val="3985CD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ca-3-2"/>
          <p:cNvSpPr txBox="1"/>
          <p:nvPr/>
        </p:nvSpPr>
        <p:spPr>
          <a:xfrm>
            <a:off x="6566789" y="5263245"/>
            <a:ext cx="76130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快速原型 4 个</a:t>
            </a:r>
          </a:p>
        </p:txBody>
      </p:sp>
      <p:sp>
        <p:nvSpPr>
          <p:cNvPr id="77" name="cd-3-3"/>
          <p:cNvSpPr/>
          <p:nvPr/>
        </p:nvSpPr>
        <p:spPr>
          <a:xfrm>
            <a:off x="6441440" y="5584190"/>
            <a:ext cx="45720" cy="45720"/>
          </a:xfrm>
          <a:prstGeom prst="ellipse">
            <a:avLst/>
          </a:prstGeom>
          <a:solidFill>
            <a:srgbClr val="3985CD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ca-3-3"/>
          <p:cNvSpPr txBox="1"/>
          <p:nvPr/>
        </p:nvSpPr>
        <p:spPr>
          <a:xfrm>
            <a:off x="6566789" y="5517245"/>
            <a:ext cx="59023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小范围试用</a:t>
            </a:r>
          </a:p>
        </p:txBody>
      </p:sp>
      <p:sp>
        <p:nvSpPr>
          <p:cNvPr id="79" name="card-4"/>
          <p:cNvSpPr/>
          <p:nvPr/>
        </p:nvSpPr>
        <p:spPr>
          <a:xfrm>
            <a:off x="8534400" y="4165600"/>
            <a:ext cx="2171700" cy="1701800"/>
          </a:xfrm>
          <a:custGeom>
            <a:avLst/>
            <a:gdLst/>
            <a:ahLst/>
            <a:cxnLst/>
            <a:rect l="0" t="0" r="r" b="b"/>
            <a:pathLst>
              <a:path w="2171700" h="1701800">
                <a:moveTo>
                  <a:pt x="114300" y="0"/>
                </a:moveTo>
                <a:lnTo>
                  <a:pt x="2057400" y="0"/>
                </a:lnTo>
                <a:cubicBezTo>
                  <a:pt x="2120519" y="0"/>
                  <a:pt x="2171700" y="51181"/>
                  <a:pt x="2171700" y="114300"/>
                </a:cubicBezTo>
                <a:lnTo>
                  <a:pt x="2171700" y="1587500"/>
                </a:lnTo>
                <a:cubicBezTo>
                  <a:pt x="2171700" y="1650619"/>
                  <a:pt x="2120519" y="1701800"/>
                  <a:pt x="2057400" y="1701800"/>
                </a:cubicBezTo>
                <a:lnTo>
                  <a:pt x="114300" y="1701800"/>
                </a:lnTo>
                <a:cubicBezTo>
                  <a:pt x="51181" y="1701800"/>
                  <a:pt x="0" y="1650619"/>
                  <a:pt x="0" y="1587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cap-4"/>
          <p:cNvSpPr/>
          <p:nvPr/>
        </p:nvSpPr>
        <p:spPr>
          <a:xfrm>
            <a:off x="8534400" y="4165600"/>
            <a:ext cx="2171700" cy="44450"/>
          </a:xfrm>
          <a:custGeom>
            <a:avLst/>
            <a:gdLst/>
            <a:ahLst/>
            <a:cxnLst/>
            <a:rect l="0" t="0" r="r" b="b"/>
            <a:pathLst>
              <a:path w="2171700" h="44450">
                <a:moveTo>
                  <a:pt x="22225" y="0"/>
                </a:moveTo>
                <a:lnTo>
                  <a:pt x="2149475" y="0"/>
                </a:lnTo>
                <a:cubicBezTo>
                  <a:pt x="2161731" y="0"/>
                  <a:pt x="2171700" y="9970"/>
                  <a:pt x="2171700" y="22225"/>
                </a:cubicBezTo>
                <a:lnTo>
                  <a:pt x="2171700" y="22225"/>
                </a:lnTo>
                <a:cubicBezTo>
                  <a:pt x="2171700" y="34480"/>
                  <a:pt x="2161731" y="44450"/>
                  <a:pt x="2149475" y="44450"/>
                </a:cubicBezTo>
                <a:lnTo>
                  <a:pt x="22225" y="44450"/>
                </a:lnTo>
                <a:cubicBezTo>
                  <a:pt x="9969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70"/>
                  <a:pt x="9969" y="0"/>
                  <a:pt x="22225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cn-4"/>
          <p:cNvSpPr txBox="1"/>
          <p:nvPr/>
        </p:nvSpPr>
        <p:spPr>
          <a:xfrm>
            <a:off x="8732774" y="4340828"/>
            <a:ext cx="45529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交付</a:t>
            </a:r>
          </a:p>
        </p:txBody>
      </p:sp>
      <p:sp>
        <p:nvSpPr>
          <p:cNvPr id="82" name="cno-4"/>
          <p:cNvSpPr txBox="1"/>
          <p:nvPr/>
        </p:nvSpPr>
        <p:spPr>
          <a:xfrm>
            <a:off x="10177780" y="4276217"/>
            <a:ext cx="359156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400" b="1">
                <a:solidFill>
                  <a:srgbClr val="54A2DF">
                    <a:alpha val="16000"/>
                  </a:srgbClr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83" name="cnote-4"/>
          <p:cNvSpPr txBox="1"/>
          <p:nvPr/>
        </p:nvSpPr>
        <p:spPr>
          <a:xfrm>
            <a:off x="8736965" y="45998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收敛到可落地的一个</a:t>
            </a:r>
          </a:p>
        </p:txBody>
      </p:sp>
      <p:cxnSp>
        <p:nvCxnSpPr>
          <p:cNvPr id="84" name="cl-4"/>
          <p:cNvCxnSpPr/>
          <p:nvPr/>
        </p:nvCxnSpPr>
        <p:spPr>
          <a:xfrm>
            <a:off x="8750300" y="4876800"/>
            <a:ext cx="17399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cd-4-1"/>
          <p:cNvSpPr/>
          <p:nvPr/>
        </p:nvSpPr>
        <p:spPr>
          <a:xfrm>
            <a:off x="8790940" y="5076190"/>
            <a:ext cx="45720" cy="45720"/>
          </a:xfrm>
          <a:prstGeom prst="ellipse">
            <a:avLst/>
          </a:prstGeom>
          <a:solidFill>
            <a:srgbClr val="54A2DF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ca-4-1"/>
          <p:cNvSpPr txBox="1"/>
          <p:nvPr/>
        </p:nvSpPr>
        <p:spPr>
          <a:xfrm>
            <a:off x="8916289" y="5009245"/>
            <a:ext cx="48990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方案定稿</a:t>
            </a:r>
          </a:p>
        </p:txBody>
      </p:sp>
      <p:sp>
        <p:nvSpPr>
          <p:cNvPr id="87" name="cd-4-2"/>
          <p:cNvSpPr/>
          <p:nvPr/>
        </p:nvSpPr>
        <p:spPr>
          <a:xfrm>
            <a:off x="8790940" y="5330190"/>
            <a:ext cx="45720" cy="45720"/>
          </a:xfrm>
          <a:prstGeom prst="ellipse">
            <a:avLst/>
          </a:prstGeom>
          <a:solidFill>
            <a:srgbClr val="54A2DF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ca-4-2"/>
          <p:cNvSpPr txBox="1"/>
          <p:nvPr/>
        </p:nvSpPr>
        <p:spPr>
          <a:xfrm>
            <a:off x="8916289" y="5263245"/>
            <a:ext cx="48990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试点验证</a:t>
            </a:r>
          </a:p>
        </p:txBody>
      </p:sp>
      <p:sp>
        <p:nvSpPr>
          <p:cNvPr id="89" name="cd-4-3"/>
          <p:cNvSpPr/>
          <p:nvPr/>
        </p:nvSpPr>
        <p:spPr>
          <a:xfrm>
            <a:off x="8790940" y="5584190"/>
            <a:ext cx="45720" cy="45720"/>
          </a:xfrm>
          <a:prstGeom prst="ellipse">
            <a:avLst/>
          </a:prstGeom>
          <a:solidFill>
            <a:srgbClr val="54A2DF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ca-4-3"/>
          <p:cNvSpPr txBox="1"/>
          <p:nvPr/>
        </p:nvSpPr>
        <p:spPr>
          <a:xfrm>
            <a:off x="8916289" y="5517245"/>
            <a:ext cx="59023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标准化推广</a:t>
            </a:r>
          </a:p>
        </p:txBody>
      </p:sp>
      <p:sp>
        <p:nvSpPr>
          <p:cNvPr id="91" name="note-bar"/>
          <p:cNvSpPr/>
          <p:nvPr/>
        </p:nvSpPr>
        <p:spPr>
          <a:xfrm>
            <a:off x="952500" y="5867400"/>
            <a:ext cx="25400" cy="3302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note-h"/>
          <p:cNvSpPr txBox="1"/>
          <p:nvPr/>
        </p:nvSpPr>
        <p:spPr>
          <a:xfrm>
            <a:off x="1104646" y="59118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常见错误</a:t>
            </a:r>
          </a:p>
        </p:txBody>
      </p:sp>
      <p:sp>
        <p:nvSpPr>
          <p:cNvPr id="93" name="note-p"/>
          <p:cNvSpPr txBox="1"/>
          <p:nvPr/>
        </p:nvSpPr>
        <p:spPr>
          <a:xfrm>
            <a:off x="1840865" y="5907961"/>
            <a:ext cx="566832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跳过第一颗钻石直接做方案——问题都没找对，后面做得越快，返工越多。定义阶段必须留出 20% 的项目时间。</a:t>
            </a:r>
          </a:p>
        </p:txBody>
      </p:sp>
      <p:cxnSp>
        <p:nvCxnSpPr>
          <p:cNvPr id="94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5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双钻模型 · 四个阶段</a:t>
            </a:r>
          </a:p>
        </p:txBody>
      </p:sp>
      <p:sp>
        <p:nvSpPr>
          <p:cNvPr id="96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客户旅程地图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9011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CUSTOMER JOURNEY MAP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437499" y="673132"/>
            <a:ext cx="31832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六个阶段的触点、情绪起伏与改进机会，一张图看清落差在哪</a:t>
            </a:r>
          </a:p>
        </p:txBody>
      </p:sp>
      <p:sp>
        <p:nvSpPr>
          <p:cNvPr id="10" name="colbg-1"/>
          <p:cNvSpPr/>
          <p:nvPr/>
        </p:nvSpPr>
        <p:spPr>
          <a:xfrm>
            <a:off x="2095500" y="1790700"/>
            <a:ext cx="1524000" cy="3911600"/>
          </a:xfrm>
          <a:custGeom>
            <a:avLst/>
            <a:gdLst/>
            <a:ahLst/>
            <a:cxnLst/>
            <a:rect l="0" t="0" r="r" b="b"/>
            <a:pathLst>
              <a:path w="1524000" h="3911600">
                <a:moveTo>
                  <a:pt x="88900" y="0"/>
                </a:moveTo>
                <a:lnTo>
                  <a:pt x="1435100" y="0"/>
                </a:lnTo>
                <a:cubicBezTo>
                  <a:pt x="1484186" y="0"/>
                  <a:pt x="1524000" y="39814"/>
                  <a:pt x="1524000" y="88900"/>
                </a:cubicBezTo>
                <a:lnTo>
                  <a:pt x="1524000" y="3822700"/>
                </a:lnTo>
                <a:cubicBezTo>
                  <a:pt x="1524000" y="3871786"/>
                  <a:pt x="1484186" y="3911600"/>
                  <a:pt x="1435100" y="3911600"/>
                </a:cubicBezTo>
                <a:lnTo>
                  <a:pt x="88900" y="3911600"/>
                </a:lnTo>
                <a:cubicBezTo>
                  <a:pt x="39814" y="3911600"/>
                  <a:pt x="0" y="3871786"/>
                  <a:pt x="0" y="38227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1F6FC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colbg-3"/>
          <p:cNvSpPr/>
          <p:nvPr/>
        </p:nvSpPr>
        <p:spPr>
          <a:xfrm>
            <a:off x="5143500" y="1790700"/>
            <a:ext cx="1524000" cy="3911600"/>
          </a:xfrm>
          <a:custGeom>
            <a:avLst/>
            <a:gdLst/>
            <a:ahLst/>
            <a:cxnLst/>
            <a:rect l="0" t="0" r="r" b="b"/>
            <a:pathLst>
              <a:path w="1524000" h="3911600">
                <a:moveTo>
                  <a:pt x="88900" y="0"/>
                </a:moveTo>
                <a:lnTo>
                  <a:pt x="1435100" y="0"/>
                </a:lnTo>
                <a:cubicBezTo>
                  <a:pt x="1484186" y="0"/>
                  <a:pt x="1524000" y="39814"/>
                  <a:pt x="1524000" y="88900"/>
                </a:cubicBezTo>
                <a:lnTo>
                  <a:pt x="1524000" y="3822700"/>
                </a:lnTo>
                <a:cubicBezTo>
                  <a:pt x="1524000" y="3871786"/>
                  <a:pt x="1484186" y="3911600"/>
                  <a:pt x="1435100" y="3911600"/>
                </a:cubicBezTo>
                <a:lnTo>
                  <a:pt x="88900" y="3911600"/>
                </a:lnTo>
                <a:cubicBezTo>
                  <a:pt x="39814" y="3911600"/>
                  <a:pt x="0" y="3871786"/>
                  <a:pt x="0" y="38227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1F6FC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colbg-5"/>
          <p:cNvSpPr/>
          <p:nvPr/>
        </p:nvSpPr>
        <p:spPr>
          <a:xfrm>
            <a:off x="8191500" y="1790700"/>
            <a:ext cx="1524000" cy="3911600"/>
          </a:xfrm>
          <a:custGeom>
            <a:avLst/>
            <a:gdLst/>
            <a:ahLst/>
            <a:cxnLst/>
            <a:rect l="0" t="0" r="r" b="b"/>
            <a:pathLst>
              <a:path w="1524000" h="3911600">
                <a:moveTo>
                  <a:pt x="88900" y="0"/>
                </a:moveTo>
                <a:lnTo>
                  <a:pt x="1435100" y="0"/>
                </a:lnTo>
                <a:cubicBezTo>
                  <a:pt x="1484186" y="0"/>
                  <a:pt x="1524000" y="39814"/>
                  <a:pt x="1524000" y="88900"/>
                </a:cubicBezTo>
                <a:lnTo>
                  <a:pt x="1524000" y="3822700"/>
                </a:lnTo>
                <a:cubicBezTo>
                  <a:pt x="1524000" y="3871786"/>
                  <a:pt x="1484186" y="3911600"/>
                  <a:pt x="1435100" y="3911600"/>
                </a:cubicBezTo>
                <a:lnTo>
                  <a:pt x="88900" y="3911600"/>
                </a:lnTo>
                <a:cubicBezTo>
                  <a:pt x="39814" y="3911600"/>
                  <a:pt x="0" y="3871786"/>
                  <a:pt x="0" y="38227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1F6FC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chip"/>
          <p:cNvSpPr/>
          <p:nvPr/>
        </p:nvSpPr>
        <p:spPr>
          <a:xfrm>
            <a:off x="965200" y="1333500"/>
            <a:ext cx="279400" cy="2794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chip-ring"/>
          <p:cNvSpPr/>
          <p:nvPr/>
        </p:nvSpPr>
        <p:spPr>
          <a:xfrm>
            <a:off x="965200" y="1333500"/>
            <a:ext cx="279400" cy="279400"/>
          </a:xfrm>
          <a:prstGeom prst="ellipse">
            <a:avLst/>
          </a:prstGeom>
          <a:noFill/>
          <a:ln w="6350" cap="rnd">
            <a:solidFill>
              <a:srgbClr val="1B5AA8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icon-flag"/>
          <p:cNvSpPr/>
          <p:nvPr/>
        </p:nvSpPr>
        <p:spPr>
          <a:xfrm>
            <a:off x="1069975" y="1427798"/>
            <a:ext cx="55880" cy="95440"/>
          </a:xfrm>
          <a:custGeom>
            <a:avLst/>
            <a:gdLst/>
            <a:ahLst/>
            <a:cxnLst/>
            <a:rect l="0" t="0" r="r" b="b"/>
            <a:pathLst>
              <a:path w="55880" h="95440">
                <a:moveTo>
                  <a:pt x="0" y="95440"/>
                </a:moveTo>
                <a:lnTo>
                  <a:pt x="0" y="0"/>
                </a:lnTo>
                <a:moveTo>
                  <a:pt x="0" y="4636"/>
                </a:moveTo>
                <a:lnTo>
                  <a:pt x="55880" y="4636"/>
                </a:lnTo>
                <a:lnTo>
                  <a:pt x="46546" y="23305"/>
                </a:lnTo>
                <a:lnTo>
                  <a:pt x="55880" y="41910"/>
                </a:lnTo>
                <a:lnTo>
                  <a:pt x="0" y="41910"/>
                </a:lnTo>
              </a:path>
            </a:pathLst>
          </a:custGeom>
          <a:noFill/>
          <a:ln w="1206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row-阶段"/>
          <p:cNvSpPr txBox="1"/>
          <p:nvPr/>
        </p:nvSpPr>
        <p:spPr>
          <a:xfrm>
            <a:off x="1317498" y="1359313"/>
            <a:ext cx="4248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阶段</a:t>
            </a:r>
          </a:p>
        </p:txBody>
      </p:sp>
      <p:sp>
        <p:nvSpPr>
          <p:cNvPr id="17" name="chip"/>
          <p:cNvSpPr/>
          <p:nvPr/>
        </p:nvSpPr>
        <p:spPr>
          <a:xfrm>
            <a:off x="965200" y="1955800"/>
            <a:ext cx="279400" cy="2794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chip-ring"/>
          <p:cNvSpPr/>
          <p:nvPr/>
        </p:nvSpPr>
        <p:spPr>
          <a:xfrm>
            <a:off x="965200" y="1955800"/>
            <a:ext cx="279400" cy="279400"/>
          </a:xfrm>
          <a:prstGeom prst="ellipse">
            <a:avLst/>
          </a:prstGeom>
          <a:noFill/>
          <a:ln w="6350" cap="rnd">
            <a:solidFill>
              <a:srgbClr val="1B5AA8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icon-hand"/>
          <p:cNvSpPr/>
          <p:nvPr/>
        </p:nvSpPr>
        <p:spPr>
          <a:xfrm>
            <a:off x="1060899" y="2045462"/>
            <a:ext cx="78926" cy="100076"/>
          </a:xfrm>
          <a:custGeom>
            <a:avLst/>
            <a:gdLst/>
            <a:ahLst/>
            <a:cxnLst/>
            <a:rect l="0" t="0" r="r" b="b"/>
            <a:pathLst>
              <a:path w="78926" h="100076">
                <a:moveTo>
                  <a:pt x="23046" y="53531"/>
                </a:moveTo>
                <a:lnTo>
                  <a:pt x="23046" y="16256"/>
                </a:lnTo>
                <a:cubicBezTo>
                  <a:pt x="23046" y="11112"/>
                  <a:pt x="27237" y="6985"/>
                  <a:pt x="32381" y="6985"/>
                </a:cubicBezTo>
                <a:cubicBezTo>
                  <a:pt x="37524" y="6985"/>
                  <a:pt x="41652" y="11112"/>
                  <a:pt x="41652" y="16256"/>
                </a:cubicBezTo>
                <a:lnTo>
                  <a:pt x="41652" y="45402"/>
                </a:lnTo>
                <a:moveTo>
                  <a:pt x="41652" y="45402"/>
                </a:moveTo>
                <a:lnTo>
                  <a:pt x="41652" y="9271"/>
                </a:lnTo>
                <a:cubicBezTo>
                  <a:pt x="41652" y="4127"/>
                  <a:pt x="45843" y="0"/>
                  <a:pt x="50986" y="0"/>
                </a:cubicBezTo>
                <a:cubicBezTo>
                  <a:pt x="56130" y="0"/>
                  <a:pt x="60321" y="4127"/>
                  <a:pt x="60321" y="9271"/>
                </a:cubicBezTo>
                <a:lnTo>
                  <a:pt x="60321" y="45402"/>
                </a:lnTo>
                <a:moveTo>
                  <a:pt x="60321" y="47688"/>
                </a:moveTo>
                <a:lnTo>
                  <a:pt x="60321" y="23241"/>
                </a:lnTo>
                <a:cubicBezTo>
                  <a:pt x="60321" y="18098"/>
                  <a:pt x="64448" y="13970"/>
                  <a:pt x="69592" y="13970"/>
                </a:cubicBezTo>
                <a:cubicBezTo>
                  <a:pt x="74735" y="13970"/>
                  <a:pt x="78926" y="18098"/>
                  <a:pt x="78926" y="23241"/>
                </a:cubicBezTo>
                <a:lnTo>
                  <a:pt x="78926" y="66357"/>
                </a:lnTo>
                <a:cubicBezTo>
                  <a:pt x="78926" y="84963"/>
                  <a:pt x="64956" y="100076"/>
                  <a:pt x="46351" y="100076"/>
                </a:cubicBezTo>
                <a:cubicBezTo>
                  <a:pt x="31174" y="100076"/>
                  <a:pt x="23046" y="93091"/>
                  <a:pt x="14918" y="81470"/>
                </a:cubicBezTo>
                <a:lnTo>
                  <a:pt x="948" y="60515"/>
                </a:lnTo>
                <a:cubicBezTo>
                  <a:pt x="-1084" y="56388"/>
                  <a:pt x="250" y="51435"/>
                  <a:pt x="3996" y="48768"/>
                </a:cubicBezTo>
                <a:cubicBezTo>
                  <a:pt x="7806" y="46164"/>
                  <a:pt x="12886" y="46736"/>
                  <a:pt x="16061" y="50038"/>
                </a:cubicBezTo>
                <a:close/>
              </a:path>
            </a:pathLst>
          </a:custGeom>
          <a:noFill/>
          <a:ln w="1206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row-触点"/>
          <p:cNvSpPr txBox="1"/>
          <p:nvPr/>
        </p:nvSpPr>
        <p:spPr>
          <a:xfrm>
            <a:off x="1317498" y="1981613"/>
            <a:ext cx="4248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触点</a:t>
            </a:r>
          </a:p>
        </p:txBody>
      </p:sp>
      <p:sp>
        <p:nvSpPr>
          <p:cNvPr id="21" name="chip"/>
          <p:cNvSpPr/>
          <p:nvPr/>
        </p:nvSpPr>
        <p:spPr>
          <a:xfrm>
            <a:off x="965200" y="3162300"/>
            <a:ext cx="279400" cy="2794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chip-ring"/>
          <p:cNvSpPr/>
          <p:nvPr/>
        </p:nvSpPr>
        <p:spPr>
          <a:xfrm>
            <a:off x="965200" y="3162300"/>
            <a:ext cx="279400" cy="279400"/>
          </a:xfrm>
          <a:prstGeom prst="ellipse">
            <a:avLst/>
          </a:prstGeom>
          <a:noFill/>
          <a:ln w="6350" cap="rnd">
            <a:solidFill>
              <a:srgbClr val="1B5AA8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icon-star"/>
          <p:cNvSpPr/>
          <p:nvPr/>
        </p:nvSpPr>
        <p:spPr>
          <a:xfrm>
            <a:off x="1055434" y="3253105"/>
            <a:ext cx="98933" cy="94298"/>
          </a:xfrm>
          <a:custGeom>
            <a:avLst/>
            <a:gdLst/>
            <a:ahLst/>
            <a:cxnLst/>
            <a:rect l="0" t="0" r="r" b="b"/>
            <a:pathLst>
              <a:path w="98933" h="94298">
                <a:moveTo>
                  <a:pt x="49466" y="0"/>
                </a:moveTo>
                <a:lnTo>
                  <a:pt x="64579" y="31433"/>
                </a:lnTo>
                <a:lnTo>
                  <a:pt x="98933" y="36068"/>
                </a:lnTo>
                <a:lnTo>
                  <a:pt x="73914" y="59944"/>
                </a:lnTo>
                <a:lnTo>
                  <a:pt x="80328" y="94298"/>
                </a:lnTo>
                <a:lnTo>
                  <a:pt x="49466" y="77407"/>
                </a:lnTo>
                <a:lnTo>
                  <a:pt x="18605" y="94298"/>
                </a:lnTo>
                <a:lnTo>
                  <a:pt x="25019" y="59944"/>
                </a:lnTo>
                <a:lnTo>
                  <a:pt x="0" y="36068"/>
                </a:lnTo>
                <a:lnTo>
                  <a:pt x="34353" y="31433"/>
                </a:lnTo>
                <a:close/>
              </a:path>
            </a:pathLst>
          </a:custGeom>
          <a:noFill/>
          <a:ln w="1206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row-情绪"/>
          <p:cNvSpPr txBox="1"/>
          <p:nvPr/>
        </p:nvSpPr>
        <p:spPr>
          <a:xfrm>
            <a:off x="1317498" y="3188113"/>
            <a:ext cx="4248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情绪</a:t>
            </a:r>
          </a:p>
        </p:txBody>
      </p:sp>
      <p:sp>
        <p:nvSpPr>
          <p:cNvPr id="25" name="chip"/>
          <p:cNvSpPr/>
          <p:nvPr/>
        </p:nvSpPr>
        <p:spPr>
          <a:xfrm>
            <a:off x="965200" y="4483100"/>
            <a:ext cx="279400" cy="2794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chip-ring"/>
          <p:cNvSpPr/>
          <p:nvPr/>
        </p:nvSpPr>
        <p:spPr>
          <a:xfrm>
            <a:off x="965200" y="4483100"/>
            <a:ext cx="279400" cy="279400"/>
          </a:xfrm>
          <a:prstGeom prst="ellipse">
            <a:avLst/>
          </a:prstGeom>
          <a:noFill/>
          <a:ln w="6350" cap="rnd">
            <a:solidFill>
              <a:srgbClr val="1B5AA8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icon-search"/>
          <p:cNvSpPr/>
          <p:nvPr/>
        </p:nvSpPr>
        <p:spPr>
          <a:xfrm>
            <a:off x="1124712" y="4642612"/>
            <a:ext cx="23241" cy="23241"/>
          </a:xfrm>
          <a:custGeom>
            <a:avLst/>
            <a:gdLst/>
            <a:ahLst/>
            <a:cxnLst/>
            <a:rect l="0" t="0" r="r" b="b"/>
            <a:pathLst>
              <a:path w="23241" h="23241">
                <a:moveTo>
                  <a:pt x="23241" y="23241"/>
                </a:moveTo>
                <a:lnTo>
                  <a:pt x="0" y="0"/>
                </a:lnTo>
              </a:path>
            </a:pathLst>
          </a:custGeom>
          <a:noFill/>
          <a:ln w="1206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icon-search"/>
          <p:cNvSpPr/>
          <p:nvPr/>
        </p:nvSpPr>
        <p:spPr>
          <a:xfrm>
            <a:off x="1061826" y="4579726"/>
            <a:ext cx="74507" cy="74507"/>
          </a:xfrm>
          <a:prstGeom prst="ellipse">
            <a:avLst/>
          </a:prstGeom>
          <a:noFill/>
          <a:ln w="1206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row-痛点"/>
          <p:cNvSpPr txBox="1"/>
          <p:nvPr/>
        </p:nvSpPr>
        <p:spPr>
          <a:xfrm>
            <a:off x="1317498" y="4508913"/>
            <a:ext cx="4248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痛点</a:t>
            </a:r>
          </a:p>
        </p:txBody>
      </p:sp>
      <p:sp>
        <p:nvSpPr>
          <p:cNvPr id="30" name="chip"/>
          <p:cNvSpPr/>
          <p:nvPr/>
        </p:nvSpPr>
        <p:spPr>
          <a:xfrm>
            <a:off x="965200" y="5168900"/>
            <a:ext cx="279400" cy="2794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chip-ring"/>
          <p:cNvSpPr/>
          <p:nvPr/>
        </p:nvSpPr>
        <p:spPr>
          <a:xfrm>
            <a:off x="965200" y="5168900"/>
            <a:ext cx="279400" cy="279400"/>
          </a:xfrm>
          <a:prstGeom prst="ellipse">
            <a:avLst/>
          </a:prstGeom>
          <a:noFill/>
          <a:ln w="6350" cap="rnd">
            <a:solidFill>
              <a:srgbClr val="1B5AA8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icon-bulb"/>
          <p:cNvSpPr/>
          <p:nvPr/>
        </p:nvSpPr>
        <p:spPr>
          <a:xfrm>
            <a:off x="1071890" y="5258562"/>
            <a:ext cx="66020" cy="97790"/>
          </a:xfrm>
          <a:custGeom>
            <a:avLst/>
            <a:gdLst/>
            <a:ahLst/>
            <a:cxnLst/>
            <a:rect l="0" t="0" r="r" b="b"/>
            <a:pathLst>
              <a:path w="66020" h="97790">
                <a:moveTo>
                  <a:pt x="19040" y="81471"/>
                </a:moveTo>
                <a:lnTo>
                  <a:pt x="46980" y="81471"/>
                </a:lnTo>
                <a:moveTo>
                  <a:pt x="22533" y="97790"/>
                </a:moveTo>
                <a:lnTo>
                  <a:pt x="43488" y="97790"/>
                </a:lnTo>
                <a:moveTo>
                  <a:pt x="33010" y="0"/>
                </a:moveTo>
                <a:cubicBezTo>
                  <a:pt x="47171" y="-190"/>
                  <a:pt x="59807" y="8763"/>
                  <a:pt x="64316" y="22162"/>
                </a:cubicBezTo>
                <a:cubicBezTo>
                  <a:pt x="68824" y="35560"/>
                  <a:pt x="64189" y="50355"/>
                  <a:pt x="52822" y="58801"/>
                </a:cubicBezTo>
                <a:cubicBezTo>
                  <a:pt x="48695" y="62230"/>
                  <a:pt x="46980" y="65786"/>
                  <a:pt x="46980" y="70993"/>
                </a:cubicBezTo>
                <a:lnTo>
                  <a:pt x="19040" y="70993"/>
                </a:lnTo>
                <a:cubicBezTo>
                  <a:pt x="19040" y="65786"/>
                  <a:pt x="17326" y="62230"/>
                  <a:pt x="13198" y="58801"/>
                </a:cubicBezTo>
                <a:cubicBezTo>
                  <a:pt x="1832" y="50355"/>
                  <a:pt x="-2804" y="35560"/>
                  <a:pt x="1705" y="22162"/>
                </a:cubicBezTo>
                <a:cubicBezTo>
                  <a:pt x="6213" y="8763"/>
                  <a:pt x="18850" y="-190"/>
                  <a:pt x="33010" y="0"/>
                </a:cubicBezTo>
                <a:close/>
              </a:path>
            </a:pathLst>
          </a:custGeom>
          <a:noFill/>
          <a:ln w="1206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row-机会"/>
          <p:cNvSpPr txBox="1"/>
          <p:nvPr/>
        </p:nvSpPr>
        <p:spPr>
          <a:xfrm>
            <a:off x="1317498" y="5194713"/>
            <a:ext cx="4248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机会</a:t>
            </a:r>
          </a:p>
        </p:txBody>
      </p:sp>
      <p:sp>
        <p:nvSpPr>
          <p:cNvPr id="34" name="zone-up"/>
          <p:cNvSpPr/>
          <p:nvPr/>
        </p:nvSpPr>
        <p:spPr>
          <a:xfrm>
            <a:off x="2095500" y="2501900"/>
            <a:ext cx="9144000" cy="800100"/>
          </a:xfrm>
          <a:custGeom>
            <a:avLst/>
            <a:gdLst/>
            <a:ahLst/>
            <a:cxnLst/>
            <a:rect l="0" t="0" r="r" b="b"/>
            <a:pathLst>
              <a:path w="9144000" h="800100">
                <a:moveTo>
                  <a:pt x="88900" y="0"/>
                </a:moveTo>
                <a:lnTo>
                  <a:pt x="9055100" y="0"/>
                </a:lnTo>
                <a:cubicBezTo>
                  <a:pt x="9104186" y="0"/>
                  <a:pt x="9144000" y="39814"/>
                  <a:pt x="9144000" y="88900"/>
                </a:cubicBezTo>
                <a:lnTo>
                  <a:pt x="9144000" y="711200"/>
                </a:lnTo>
                <a:cubicBezTo>
                  <a:pt x="9144000" y="760286"/>
                  <a:pt x="9104186" y="800100"/>
                  <a:pt x="9055100" y="800100"/>
                </a:cubicBezTo>
                <a:lnTo>
                  <a:pt x="88900" y="800100"/>
                </a:lnTo>
                <a:cubicBezTo>
                  <a:pt x="39814" y="800100"/>
                  <a:pt x="0" y="760286"/>
                  <a:pt x="0" y="7112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2E77C2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zone-dn"/>
          <p:cNvSpPr/>
          <p:nvPr/>
        </p:nvSpPr>
        <p:spPr>
          <a:xfrm>
            <a:off x="2095500" y="3302000"/>
            <a:ext cx="9144000" cy="800100"/>
          </a:xfrm>
          <a:custGeom>
            <a:avLst/>
            <a:gdLst/>
            <a:ahLst/>
            <a:cxnLst/>
            <a:rect l="0" t="0" r="r" b="b"/>
            <a:pathLst>
              <a:path w="9144000" h="800100">
                <a:moveTo>
                  <a:pt x="88900" y="0"/>
                </a:moveTo>
                <a:lnTo>
                  <a:pt x="9055100" y="0"/>
                </a:lnTo>
                <a:cubicBezTo>
                  <a:pt x="9104186" y="0"/>
                  <a:pt x="9144000" y="39814"/>
                  <a:pt x="9144000" y="88900"/>
                </a:cubicBezTo>
                <a:lnTo>
                  <a:pt x="9144000" y="711200"/>
                </a:lnTo>
                <a:cubicBezTo>
                  <a:pt x="9144000" y="760286"/>
                  <a:pt x="9104186" y="800100"/>
                  <a:pt x="9055100" y="800100"/>
                </a:cubicBezTo>
                <a:lnTo>
                  <a:pt x="88900" y="800100"/>
                </a:lnTo>
                <a:cubicBezTo>
                  <a:pt x="39814" y="800100"/>
                  <a:pt x="0" y="760286"/>
                  <a:pt x="0" y="7112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E0703A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36" name="zero"/>
          <p:cNvCxnSpPr/>
          <p:nvPr/>
        </p:nvCxnSpPr>
        <p:spPr>
          <a:xfrm>
            <a:off x="2095500" y="3302000"/>
            <a:ext cx="9144000" cy="0"/>
          </a:xfrm>
          <a:prstGeom prst="line">
            <a:avLst/>
          </a:prstGeom>
          <a:ln w="7620" cap="rnd">
            <a:solidFill>
              <a:srgbClr val="0B2545">
                <a:alpha val="1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z-up"/>
          <p:cNvSpPr txBox="1"/>
          <p:nvPr/>
        </p:nvSpPr>
        <p:spPr>
          <a:xfrm>
            <a:off x="2186432" y="2544508"/>
            <a:ext cx="2832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00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满意</a:t>
            </a:r>
          </a:p>
        </p:txBody>
      </p:sp>
      <p:sp>
        <p:nvSpPr>
          <p:cNvPr id="38" name="z-dn"/>
          <p:cNvSpPr txBox="1"/>
          <p:nvPr/>
        </p:nvSpPr>
        <p:spPr>
          <a:xfrm>
            <a:off x="2186432" y="3916108"/>
            <a:ext cx="2832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0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不满</a:t>
            </a:r>
          </a:p>
        </p:txBody>
      </p:sp>
      <p:sp>
        <p:nvSpPr>
          <p:cNvPr id="39" name="stage-1"/>
          <p:cNvSpPr/>
          <p:nvPr/>
        </p:nvSpPr>
        <p:spPr>
          <a:xfrm>
            <a:off x="2120900" y="1270000"/>
            <a:ext cx="1457325" cy="406400"/>
          </a:xfrm>
          <a:custGeom>
            <a:avLst/>
            <a:gdLst/>
            <a:ahLst/>
            <a:cxnLst/>
            <a:rect l="0" t="0" r="r" b="b"/>
            <a:pathLst>
              <a:path w="1457325" h="406400">
                <a:moveTo>
                  <a:pt x="63500" y="0"/>
                </a:moveTo>
                <a:lnTo>
                  <a:pt x="1282700" y="0"/>
                </a:lnTo>
                <a:quadBezTo>
                  <a:pt x="1327150" y="0"/>
                  <a:pt x="1346200" y="32512"/>
                </a:quadBezTo>
                <a:lnTo>
                  <a:pt x="1441450" y="180975"/>
                </a:lnTo>
                <a:quadBezTo>
                  <a:pt x="1473200" y="203200"/>
                  <a:pt x="1441450" y="225425"/>
                </a:quadBezTo>
                <a:lnTo>
                  <a:pt x="1346200" y="373888"/>
                </a:lnTo>
                <a:quadBezTo>
                  <a:pt x="1327150" y="406400"/>
                  <a:pt x="1282700" y="406400"/>
                </a:quadBezTo>
                <a:lnTo>
                  <a:pt x="63500" y="406400"/>
                </a:lnTo>
                <a:cubicBezTo>
                  <a:pt x="28448" y="406400"/>
                  <a:pt x="0" y="377952"/>
                  <a:pt x="0" y="3429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305BA0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sn-1"/>
          <p:cNvSpPr txBox="1"/>
          <p:nvPr/>
        </p:nvSpPr>
        <p:spPr>
          <a:xfrm>
            <a:off x="2601912" y="1334294"/>
            <a:ext cx="5111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认知</a:t>
            </a:r>
          </a:p>
        </p:txBody>
      </p:sp>
      <p:sp>
        <p:nvSpPr>
          <p:cNvPr id="41" name="tp-1"/>
          <p:cNvSpPr txBox="1"/>
          <p:nvPr/>
        </p:nvSpPr>
        <p:spPr>
          <a:xfrm>
            <a:off x="2255679" y="2009061"/>
            <a:ext cx="120364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行业展会 · 朋友推荐</a:t>
            </a:r>
          </a:p>
        </p:txBody>
      </p:sp>
      <p:sp>
        <p:nvSpPr>
          <p:cNvPr id="42" name="pain-1"/>
          <p:cNvSpPr/>
          <p:nvPr/>
        </p:nvSpPr>
        <p:spPr>
          <a:xfrm>
            <a:off x="2171700" y="4406900"/>
            <a:ext cx="1371600" cy="431800"/>
          </a:xfrm>
          <a:custGeom>
            <a:avLst/>
            <a:gdLst/>
            <a:ahLst/>
            <a:cxnLst/>
            <a:rect l="0" t="0" r="r" b="b"/>
            <a:pathLst>
              <a:path w="1371600" h="431800">
                <a:moveTo>
                  <a:pt x="88900" y="0"/>
                </a:moveTo>
                <a:lnTo>
                  <a:pt x="1282700" y="0"/>
                </a:lnTo>
                <a:cubicBezTo>
                  <a:pt x="1331786" y="0"/>
                  <a:pt x="1371600" y="39814"/>
                  <a:pt x="1371600" y="88900"/>
                </a:cubicBezTo>
                <a:lnTo>
                  <a:pt x="1371600" y="342900"/>
                </a:lnTo>
                <a:cubicBezTo>
                  <a:pt x="1371600" y="391986"/>
                  <a:pt x="1331786" y="431800"/>
                  <a:pt x="1282700" y="431800"/>
                </a:cubicBezTo>
                <a:lnTo>
                  <a:pt x="88900" y="431800"/>
                </a:lnTo>
                <a:cubicBezTo>
                  <a:pt x="39814" y="431800"/>
                  <a:pt x="0" y="391986"/>
                  <a:pt x="0" y="342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pt-1"/>
          <p:cNvSpPr txBox="1"/>
          <p:nvPr/>
        </p:nvSpPr>
        <p:spPr>
          <a:xfrm>
            <a:off x="2466499" y="4536361"/>
            <a:ext cx="7820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资料太技术化</a:t>
            </a:r>
          </a:p>
        </p:txBody>
      </p:sp>
      <p:cxnSp>
        <p:nvCxnSpPr>
          <p:cNvPr id="44" name="po-1"/>
          <p:cNvCxnSpPr/>
          <p:nvPr/>
        </p:nvCxnSpPr>
        <p:spPr>
          <a:xfrm>
            <a:off x="2857500" y="4864100"/>
            <a:ext cx="0" cy="215900"/>
          </a:xfrm>
          <a:prstGeom prst="line">
            <a:avLst/>
          </a:prstGeom>
          <a:ln w="10160" cap="rnd">
            <a:solidFill>
              <a:srgbClr val="1B5AA8">
                <a:alpha val="3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opp-1"/>
          <p:cNvSpPr/>
          <p:nvPr/>
        </p:nvSpPr>
        <p:spPr>
          <a:xfrm>
            <a:off x="2171700" y="5105400"/>
            <a:ext cx="1371600" cy="406400"/>
          </a:xfrm>
          <a:custGeom>
            <a:avLst/>
            <a:gdLst/>
            <a:ahLst/>
            <a:cxnLst/>
            <a:rect l="0" t="0" r="r" b="b"/>
            <a:pathLst>
              <a:path w="1371600" h="406400">
                <a:moveTo>
                  <a:pt x="88900" y="0"/>
                </a:moveTo>
                <a:lnTo>
                  <a:pt x="1282700" y="0"/>
                </a:lnTo>
                <a:cubicBezTo>
                  <a:pt x="1331786" y="0"/>
                  <a:pt x="1371600" y="39814"/>
                  <a:pt x="1371600" y="88900"/>
                </a:cubicBezTo>
                <a:lnTo>
                  <a:pt x="1371600" y="317500"/>
                </a:lnTo>
                <a:cubicBezTo>
                  <a:pt x="1371600" y="366586"/>
                  <a:pt x="1331786" y="406400"/>
                  <a:pt x="1282700" y="406400"/>
                </a:cubicBezTo>
                <a:lnTo>
                  <a:pt x="88900" y="406400"/>
                </a:lnTo>
                <a:cubicBezTo>
                  <a:pt x="39814" y="406400"/>
                  <a:pt x="0" y="366586"/>
                  <a:pt x="0" y="317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134C9C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ot-1"/>
          <p:cNvSpPr txBox="1"/>
          <p:nvPr/>
        </p:nvSpPr>
        <p:spPr>
          <a:xfrm>
            <a:off x="2409666" y="5222161"/>
            <a:ext cx="8956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一页式场景海报</a:t>
            </a:r>
          </a:p>
        </p:txBody>
      </p:sp>
      <p:sp>
        <p:nvSpPr>
          <p:cNvPr id="47" name="stage-2"/>
          <p:cNvSpPr/>
          <p:nvPr/>
        </p:nvSpPr>
        <p:spPr>
          <a:xfrm>
            <a:off x="3691483" y="1270000"/>
            <a:ext cx="1410742" cy="406400"/>
          </a:xfrm>
          <a:custGeom>
            <a:avLst/>
            <a:gdLst/>
            <a:ahLst/>
            <a:cxnLst/>
            <a:rect l="0" t="0" r="r" b="b"/>
            <a:pathLst>
              <a:path w="1410742" h="406400">
                <a:moveTo>
                  <a:pt x="16917" y="0"/>
                </a:moveTo>
                <a:lnTo>
                  <a:pt x="1236117" y="0"/>
                </a:lnTo>
                <a:quadBezTo>
                  <a:pt x="1280567" y="0"/>
                  <a:pt x="1299617" y="32512"/>
                </a:quadBezTo>
                <a:lnTo>
                  <a:pt x="1394867" y="180975"/>
                </a:lnTo>
                <a:quadBezTo>
                  <a:pt x="1426617" y="203200"/>
                  <a:pt x="1394867" y="225425"/>
                </a:quadBezTo>
                <a:lnTo>
                  <a:pt x="1299617" y="373888"/>
                </a:lnTo>
                <a:quadBezTo>
                  <a:pt x="1280567" y="406400"/>
                  <a:pt x="1236117" y="406400"/>
                </a:quadBezTo>
                <a:lnTo>
                  <a:pt x="16917" y="406400"/>
                </a:lnTo>
                <a:quadBezTo>
                  <a:pt x="-8483" y="406400"/>
                  <a:pt x="4217" y="373888"/>
                </a:quadBezTo>
                <a:lnTo>
                  <a:pt x="86767" y="225425"/>
                </a:lnTo>
                <a:quadBezTo>
                  <a:pt x="118517" y="203200"/>
                  <a:pt x="86767" y="180975"/>
                </a:quadBezTo>
                <a:lnTo>
                  <a:pt x="4217" y="32512"/>
                </a:lnTo>
                <a:quadBezTo>
                  <a:pt x="-8483" y="0"/>
                  <a:pt x="16917" y="0"/>
                </a:quadBezTo>
                <a:close/>
              </a:path>
            </a:pathLst>
          </a:custGeom>
          <a:gradFill rotWithShape="1">
            <a:gsLst>
              <a:gs pos="0">
                <a:srgbClr val="3667AB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sn-2"/>
          <p:cNvSpPr txBox="1"/>
          <p:nvPr/>
        </p:nvSpPr>
        <p:spPr>
          <a:xfrm>
            <a:off x="4125912" y="1334294"/>
            <a:ext cx="5111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兴趣</a:t>
            </a:r>
          </a:p>
        </p:txBody>
      </p:sp>
      <p:sp>
        <p:nvSpPr>
          <p:cNvPr id="49" name="tp-2"/>
          <p:cNvSpPr txBox="1"/>
          <p:nvPr/>
        </p:nvSpPr>
        <p:spPr>
          <a:xfrm>
            <a:off x="3950176" y="2009061"/>
            <a:ext cx="86264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官网 · 案例库</a:t>
            </a:r>
          </a:p>
        </p:txBody>
      </p:sp>
      <p:sp>
        <p:nvSpPr>
          <p:cNvPr id="50" name="pain-2"/>
          <p:cNvSpPr/>
          <p:nvPr/>
        </p:nvSpPr>
        <p:spPr>
          <a:xfrm>
            <a:off x="3695700" y="4406900"/>
            <a:ext cx="1371600" cy="431800"/>
          </a:xfrm>
          <a:custGeom>
            <a:avLst/>
            <a:gdLst/>
            <a:ahLst/>
            <a:cxnLst/>
            <a:rect l="0" t="0" r="r" b="b"/>
            <a:pathLst>
              <a:path w="1371600" h="431800">
                <a:moveTo>
                  <a:pt x="88900" y="0"/>
                </a:moveTo>
                <a:lnTo>
                  <a:pt x="1282700" y="0"/>
                </a:lnTo>
                <a:cubicBezTo>
                  <a:pt x="1331786" y="0"/>
                  <a:pt x="1371600" y="39814"/>
                  <a:pt x="1371600" y="88900"/>
                </a:cubicBezTo>
                <a:lnTo>
                  <a:pt x="1371600" y="342900"/>
                </a:lnTo>
                <a:cubicBezTo>
                  <a:pt x="1371600" y="391986"/>
                  <a:pt x="1331786" y="431800"/>
                  <a:pt x="1282700" y="431800"/>
                </a:cubicBezTo>
                <a:lnTo>
                  <a:pt x="88900" y="431800"/>
                </a:lnTo>
                <a:cubicBezTo>
                  <a:pt x="39814" y="431800"/>
                  <a:pt x="0" y="391986"/>
                  <a:pt x="0" y="342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pt-2"/>
          <p:cNvSpPr txBox="1"/>
          <p:nvPr/>
        </p:nvSpPr>
        <p:spPr>
          <a:xfrm>
            <a:off x="3933666" y="4536361"/>
            <a:ext cx="8956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找不到同行案例</a:t>
            </a:r>
          </a:p>
        </p:txBody>
      </p:sp>
      <p:cxnSp>
        <p:nvCxnSpPr>
          <p:cNvPr id="52" name="po-2"/>
          <p:cNvCxnSpPr/>
          <p:nvPr/>
        </p:nvCxnSpPr>
        <p:spPr>
          <a:xfrm>
            <a:off x="4381500" y="4864100"/>
            <a:ext cx="0" cy="215900"/>
          </a:xfrm>
          <a:prstGeom prst="line">
            <a:avLst/>
          </a:prstGeom>
          <a:ln w="10160" cap="rnd">
            <a:solidFill>
              <a:srgbClr val="1B5AA8">
                <a:alpha val="3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opp-2"/>
          <p:cNvSpPr/>
          <p:nvPr/>
        </p:nvSpPr>
        <p:spPr>
          <a:xfrm>
            <a:off x="3695700" y="5105400"/>
            <a:ext cx="1371600" cy="406400"/>
          </a:xfrm>
          <a:custGeom>
            <a:avLst/>
            <a:gdLst/>
            <a:ahLst/>
            <a:cxnLst/>
            <a:rect l="0" t="0" r="r" b="b"/>
            <a:pathLst>
              <a:path w="1371600" h="406400">
                <a:moveTo>
                  <a:pt x="88900" y="0"/>
                </a:moveTo>
                <a:lnTo>
                  <a:pt x="1282700" y="0"/>
                </a:lnTo>
                <a:cubicBezTo>
                  <a:pt x="1331786" y="0"/>
                  <a:pt x="1371600" y="39814"/>
                  <a:pt x="1371600" y="88900"/>
                </a:cubicBezTo>
                <a:lnTo>
                  <a:pt x="1371600" y="317500"/>
                </a:lnTo>
                <a:cubicBezTo>
                  <a:pt x="1371600" y="366586"/>
                  <a:pt x="1331786" y="406400"/>
                  <a:pt x="1282700" y="406400"/>
                </a:cubicBezTo>
                <a:lnTo>
                  <a:pt x="88900" y="406400"/>
                </a:lnTo>
                <a:cubicBezTo>
                  <a:pt x="39814" y="406400"/>
                  <a:pt x="0" y="366586"/>
                  <a:pt x="0" y="317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134C9C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ot-2"/>
          <p:cNvSpPr txBox="1"/>
          <p:nvPr/>
        </p:nvSpPr>
        <p:spPr>
          <a:xfrm>
            <a:off x="3933666" y="5222161"/>
            <a:ext cx="8956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按行业整理案例</a:t>
            </a:r>
          </a:p>
        </p:txBody>
      </p:sp>
      <p:sp>
        <p:nvSpPr>
          <p:cNvPr id="55" name="stage-3"/>
          <p:cNvSpPr/>
          <p:nvPr/>
        </p:nvSpPr>
        <p:spPr>
          <a:xfrm>
            <a:off x="5215483" y="1270000"/>
            <a:ext cx="1410742" cy="406400"/>
          </a:xfrm>
          <a:custGeom>
            <a:avLst/>
            <a:gdLst/>
            <a:ahLst/>
            <a:cxnLst/>
            <a:rect l="0" t="0" r="r" b="b"/>
            <a:pathLst>
              <a:path w="1410742" h="406400">
                <a:moveTo>
                  <a:pt x="16917" y="0"/>
                </a:moveTo>
                <a:lnTo>
                  <a:pt x="1236117" y="0"/>
                </a:lnTo>
                <a:quadBezTo>
                  <a:pt x="1280567" y="0"/>
                  <a:pt x="1299617" y="32512"/>
                </a:quadBezTo>
                <a:lnTo>
                  <a:pt x="1394867" y="180975"/>
                </a:lnTo>
                <a:quadBezTo>
                  <a:pt x="1426617" y="203200"/>
                  <a:pt x="1394867" y="225425"/>
                </a:quadBezTo>
                <a:lnTo>
                  <a:pt x="1299617" y="373888"/>
                </a:lnTo>
                <a:quadBezTo>
                  <a:pt x="1280567" y="406400"/>
                  <a:pt x="1236117" y="406400"/>
                </a:quadBezTo>
                <a:lnTo>
                  <a:pt x="16917" y="406400"/>
                </a:lnTo>
                <a:quadBezTo>
                  <a:pt x="-8483" y="406400"/>
                  <a:pt x="4217" y="373888"/>
                </a:quadBezTo>
                <a:lnTo>
                  <a:pt x="86767" y="225425"/>
                </a:lnTo>
                <a:quadBezTo>
                  <a:pt x="118517" y="203200"/>
                  <a:pt x="86767" y="180975"/>
                </a:quadBezTo>
                <a:lnTo>
                  <a:pt x="4217" y="32512"/>
                </a:lnTo>
                <a:quadBezTo>
                  <a:pt x="-8483" y="0"/>
                  <a:pt x="16917" y="0"/>
                </a:quadBezTo>
                <a:close/>
              </a:path>
            </a:pathLst>
          </a:custGeom>
          <a:gradFill rotWithShape="1">
            <a:gsLst>
              <a:gs pos="0">
                <a:srgbClr val="3D73B5"/>
              </a:gs>
              <a:gs pos="100000">
                <a:srgbClr val="1B5AA8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sn-3"/>
          <p:cNvSpPr txBox="1"/>
          <p:nvPr/>
        </p:nvSpPr>
        <p:spPr>
          <a:xfrm>
            <a:off x="5649912" y="1334294"/>
            <a:ext cx="5111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试用</a:t>
            </a:r>
          </a:p>
        </p:txBody>
      </p:sp>
      <p:sp>
        <p:nvSpPr>
          <p:cNvPr id="57" name="tp-3"/>
          <p:cNvSpPr txBox="1"/>
          <p:nvPr/>
        </p:nvSpPr>
        <p:spPr>
          <a:xfrm>
            <a:off x="5303679" y="2009061"/>
            <a:ext cx="120364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在线演示 · 试用账号</a:t>
            </a:r>
          </a:p>
        </p:txBody>
      </p:sp>
      <p:sp>
        <p:nvSpPr>
          <p:cNvPr id="58" name="pain-3"/>
          <p:cNvSpPr/>
          <p:nvPr/>
        </p:nvSpPr>
        <p:spPr>
          <a:xfrm>
            <a:off x="5219700" y="4406900"/>
            <a:ext cx="1371600" cy="431800"/>
          </a:xfrm>
          <a:custGeom>
            <a:avLst/>
            <a:gdLst/>
            <a:ahLst/>
            <a:cxnLst/>
            <a:rect l="0" t="0" r="r" b="b"/>
            <a:pathLst>
              <a:path w="1371600" h="431800">
                <a:moveTo>
                  <a:pt x="88900" y="0"/>
                </a:moveTo>
                <a:lnTo>
                  <a:pt x="1282700" y="0"/>
                </a:lnTo>
                <a:cubicBezTo>
                  <a:pt x="1331786" y="0"/>
                  <a:pt x="1371600" y="39814"/>
                  <a:pt x="1371600" y="88900"/>
                </a:cubicBezTo>
                <a:lnTo>
                  <a:pt x="1371600" y="342900"/>
                </a:lnTo>
                <a:cubicBezTo>
                  <a:pt x="1371600" y="391986"/>
                  <a:pt x="1331786" y="431800"/>
                  <a:pt x="1282700" y="431800"/>
                </a:cubicBezTo>
                <a:lnTo>
                  <a:pt x="88900" y="431800"/>
                </a:lnTo>
                <a:cubicBezTo>
                  <a:pt x="39814" y="431800"/>
                  <a:pt x="0" y="391986"/>
                  <a:pt x="0" y="342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pt-3"/>
          <p:cNvSpPr txBox="1"/>
          <p:nvPr/>
        </p:nvSpPr>
        <p:spPr>
          <a:xfrm>
            <a:off x="5360511" y="4536361"/>
            <a:ext cx="108997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2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开通试用要等 3 天</a:t>
            </a:r>
          </a:p>
        </p:txBody>
      </p:sp>
      <p:cxnSp>
        <p:nvCxnSpPr>
          <p:cNvPr id="60" name="po-3"/>
          <p:cNvCxnSpPr/>
          <p:nvPr/>
        </p:nvCxnSpPr>
        <p:spPr>
          <a:xfrm>
            <a:off x="5905500" y="4864100"/>
            <a:ext cx="0" cy="215900"/>
          </a:xfrm>
          <a:prstGeom prst="line">
            <a:avLst/>
          </a:prstGeom>
          <a:ln w="10160" cap="rnd">
            <a:solidFill>
              <a:srgbClr val="1B5AA8">
                <a:alpha val="3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opp-3"/>
          <p:cNvSpPr/>
          <p:nvPr/>
        </p:nvSpPr>
        <p:spPr>
          <a:xfrm>
            <a:off x="5219700" y="5105400"/>
            <a:ext cx="1371600" cy="406400"/>
          </a:xfrm>
          <a:custGeom>
            <a:avLst/>
            <a:gdLst/>
            <a:ahLst/>
            <a:cxnLst/>
            <a:rect l="0" t="0" r="r" b="b"/>
            <a:pathLst>
              <a:path w="1371600" h="406400">
                <a:moveTo>
                  <a:pt x="88900" y="0"/>
                </a:moveTo>
                <a:lnTo>
                  <a:pt x="1282700" y="0"/>
                </a:lnTo>
                <a:cubicBezTo>
                  <a:pt x="1331786" y="0"/>
                  <a:pt x="1371600" y="39814"/>
                  <a:pt x="1371600" y="88900"/>
                </a:cubicBezTo>
                <a:lnTo>
                  <a:pt x="1371600" y="317500"/>
                </a:lnTo>
                <a:cubicBezTo>
                  <a:pt x="1371600" y="366586"/>
                  <a:pt x="1331786" y="406400"/>
                  <a:pt x="1282700" y="406400"/>
                </a:cubicBezTo>
                <a:lnTo>
                  <a:pt x="88900" y="406400"/>
                </a:lnTo>
                <a:cubicBezTo>
                  <a:pt x="39814" y="406400"/>
                  <a:pt x="0" y="366586"/>
                  <a:pt x="0" y="317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134C9C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ot-3"/>
          <p:cNvSpPr txBox="1"/>
          <p:nvPr/>
        </p:nvSpPr>
        <p:spPr>
          <a:xfrm>
            <a:off x="5400834" y="52221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自助开通即时可用</a:t>
            </a:r>
          </a:p>
        </p:txBody>
      </p:sp>
      <p:sp>
        <p:nvSpPr>
          <p:cNvPr id="63" name="stage-4"/>
          <p:cNvSpPr/>
          <p:nvPr/>
        </p:nvSpPr>
        <p:spPr>
          <a:xfrm>
            <a:off x="6739483" y="1270000"/>
            <a:ext cx="1410742" cy="406400"/>
          </a:xfrm>
          <a:custGeom>
            <a:avLst/>
            <a:gdLst/>
            <a:ahLst/>
            <a:cxnLst/>
            <a:rect l="0" t="0" r="r" b="b"/>
            <a:pathLst>
              <a:path w="1410742" h="406400">
                <a:moveTo>
                  <a:pt x="16917" y="0"/>
                </a:moveTo>
                <a:lnTo>
                  <a:pt x="1236117" y="0"/>
                </a:lnTo>
                <a:quadBezTo>
                  <a:pt x="1280567" y="0"/>
                  <a:pt x="1299617" y="32512"/>
                </a:quadBezTo>
                <a:lnTo>
                  <a:pt x="1394867" y="180975"/>
                </a:lnTo>
                <a:quadBezTo>
                  <a:pt x="1426617" y="203200"/>
                  <a:pt x="1394867" y="225425"/>
                </a:quadBezTo>
                <a:lnTo>
                  <a:pt x="1299617" y="373888"/>
                </a:lnTo>
                <a:quadBezTo>
                  <a:pt x="1280567" y="406400"/>
                  <a:pt x="1236117" y="406400"/>
                </a:quadBezTo>
                <a:lnTo>
                  <a:pt x="16917" y="406400"/>
                </a:lnTo>
                <a:quadBezTo>
                  <a:pt x="-8483" y="406400"/>
                  <a:pt x="4217" y="373888"/>
                </a:quadBezTo>
                <a:lnTo>
                  <a:pt x="86767" y="225425"/>
                </a:lnTo>
                <a:quadBezTo>
                  <a:pt x="118517" y="203200"/>
                  <a:pt x="86767" y="180975"/>
                </a:quadBezTo>
                <a:lnTo>
                  <a:pt x="4217" y="32512"/>
                </a:lnTo>
                <a:quadBezTo>
                  <a:pt x="-8483" y="0"/>
                  <a:pt x="16917" y="0"/>
                </a:quadBezTo>
                <a:close/>
              </a:path>
            </a:pathLst>
          </a:custGeom>
          <a:gradFill rotWithShape="1">
            <a:gsLst>
              <a:gs pos="0">
                <a:srgbClr val="457FC1"/>
              </a:gs>
              <a:gs pos="100000">
                <a:srgbClr val="2468B6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sn-4"/>
          <p:cNvSpPr txBox="1"/>
          <p:nvPr/>
        </p:nvSpPr>
        <p:spPr>
          <a:xfrm>
            <a:off x="7173912" y="1334294"/>
            <a:ext cx="5111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购买</a:t>
            </a:r>
          </a:p>
        </p:txBody>
      </p:sp>
      <p:sp>
        <p:nvSpPr>
          <p:cNvPr id="65" name="tp-4"/>
          <p:cNvSpPr txBox="1"/>
          <p:nvPr/>
        </p:nvSpPr>
        <p:spPr>
          <a:xfrm>
            <a:off x="7055009" y="2009061"/>
            <a:ext cx="74898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报价 · 合同</a:t>
            </a:r>
          </a:p>
        </p:txBody>
      </p:sp>
      <p:sp>
        <p:nvSpPr>
          <p:cNvPr id="66" name="pain-4"/>
          <p:cNvSpPr/>
          <p:nvPr/>
        </p:nvSpPr>
        <p:spPr>
          <a:xfrm>
            <a:off x="6743700" y="4406900"/>
            <a:ext cx="1371600" cy="431800"/>
          </a:xfrm>
          <a:custGeom>
            <a:avLst/>
            <a:gdLst/>
            <a:ahLst/>
            <a:cxnLst/>
            <a:rect l="0" t="0" r="r" b="b"/>
            <a:pathLst>
              <a:path w="1371600" h="431800">
                <a:moveTo>
                  <a:pt x="88900" y="0"/>
                </a:moveTo>
                <a:lnTo>
                  <a:pt x="1282700" y="0"/>
                </a:lnTo>
                <a:cubicBezTo>
                  <a:pt x="1331786" y="0"/>
                  <a:pt x="1371600" y="39814"/>
                  <a:pt x="1371600" y="88900"/>
                </a:cubicBezTo>
                <a:lnTo>
                  <a:pt x="1371600" y="342900"/>
                </a:lnTo>
                <a:cubicBezTo>
                  <a:pt x="1371600" y="391986"/>
                  <a:pt x="1331786" y="431800"/>
                  <a:pt x="1282700" y="431800"/>
                </a:cubicBezTo>
                <a:lnTo>
                  <a:pt x="88900" y="431800"/>
                </a:lnTo>
                <a:cubicBezTo>
                  <a:pt x="39814" y="431800"/>
                  <a:pt x="0" y="391986"/>
                  <a:pt x="0" y="342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pt-4"/>
          <p:cNvSpPr txBox="1"/>
          <p:nvPr/>
        </p:nvSpPr>
        <p:spPr>
          <a:xfrm>
            <a:off x="6998176" y="4536361"/>
            <a:ext cx="86264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2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审批往返 5 轮</a:t>
            </a:r>
          </a:p>
        </p:txBody>
      </p:sp>
      <p:cxnSp>
        <p:nvCxnSpPr>
          <p:cNvPr id="68" name="po-4"/>
          <p:cNvCxnSpPr/>
          <p:nvPr/>
        </p:nvCxnSpPr>
        <p:spPr>
          <a:xfrm>
            <a:off x="7429500" y="4864100"/>
            <a:ext cx="0" cy="215900"/>
          </a:xfrm>
          <a:prstGeom prst="line">
            <a:avLst/>
          </a:prstGeom>
          <a:ln w="10160" cap="rnd">
            <a:solidFill>
              <a:srgbClr val="1B5AA8">
                <a:alpha val="3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9" name="opp-4"/>
          <p:cNvSpPr/>
          <p:nvPr/>
        </p:nvSpPr>
        <p:spPr>
          <a:xfrm>
            <a:off x="6743700" y="5105400"/>
            <a:ext cx="1371600" cy="406400"/>
          </a:xfrm>
          <a:custGeom>
            <a:avLst/>
            <a:gdLst/>
            <a:ahLst/>
            <a:cxnLst/>
            <a:rect l="0" t="0" r="r" b="b"/>
            <a:pathLst>
              <a:path w="1371600" h="406400">
                <a:moveTo>
                  <a:pt x="88900" y="0"/>
                </a:moveTo>
                <a:lnTo>
                  <a:pt x="1282700" y="0"/>
                </a:lnTo>
                <a:cubicBezTo>
                  <a:pt x="1331786" y="0"/>
                  <a:pt x="1371600" y="39814"/>
                  <a:pt x="1371600" y="88900"/>
                </a:cubicBezTo>
                <a:lnTo>
                  <a:pt x="1371600" y="317500"/>
                </a:lnTo>
                <a:cubicBezTo>
                  <a:pt x="1371600" y="366586"/>
                  <a:pt x="1331786" y="406400"/>
                  <a:pt x="1282700" y="406400"/>
                </a:cubicBezTo>
                <a:lnTo>
                  <a:pt x="88900" y="406400"/>
                </a:lnTo>
                <a:cubicBezTo>
                  <a:pt x="39814" y="406400"/>
                  <a:pt x="0" y="366586"/>
                  <a:pt x="0" y="317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134C9C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ot-4"/>
          <p:cNvSpPr txBox="1"/>
          <p:nvPr/>
        </p:nvSpPr>
        <p:spPr>
          <a:xfrm>
            <a:off x="6884511" y="5222161"/>
            <a:ext cx="108997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标准合同 + 电子签</a:t>
            </a:r>
          </a:p>
        </p:txBody>
      </p:sp>
      <p:sp>
        <p:nvSpPr>
          <p:cNvPr id="71" name="stage-5"/>
          <p:cNvSpPr/>
          <p:nvPr/>
        </p:nvSpPr>
        <p:spPr>
          <a:xfrm>
            <a:off x="8263483" y="1270000"/>
            <a:ext cx="1410742" cy="406400"/>
          </a:xfrm>
          <a:custGeom>
            <a:avLst/>
            <a:gdLst/>
            <a:ahLst/>
            <a:cxnLst/>
            <a:rect l="0" t="0" r="r" b="b"/>
            <a:pathLst>
              <a:path w="1410742" h="406400">
                <a:moveTo>
                  <a:pt x="16917" y="0"/>
                </a:moveTo>
                <a:lnTo>
                  <a:pt x="1236117" y="0"/>
                </a:lnTo>
                <a:quadBezTo>
                  <a:pt x="1280567" y="0"/>
                  <a:pt x="1299617" y="32512"/>
                </a:quadBezTo>
                <a:lnTo>
                  <a:pt x="1394867" y="180975"/>
                </a:lnTo>
                <a:quadBezTo>
                  <a:pt x="1426617" y="203200"/>
                  <a:pt x="1394867" y="225425"/>
                </a:quadBezTo>
                <a:lnTo>
                  <a:pt x="1299617" y="373888"/>
                </a:lnTo>
                <a:quadBezTo>
                  <a:pt x="1280567" y="406400"/>
                  <a:pt x="1236117" y="406400"/>
                </a:quadBezTo>
                <a:lnTo>
                  <a:pt x="16917" y="406400"/>
                </a:lnTo>
                <a:quadBezTo>
                  <a:pt x="-8483" y="406400"/>
                  <a:pt x="4217" y="373888"/>
                </a:quadBezTo>
                <a:lnTo>
                  <a:pt x="86767" y="225425"/>
                </a:lnTo>
                <a:quadBezTo>
                  <a:pt x="118517" y="203200"/>
                  <a:pt x="86767" y="180975"/>
                </a:quadBezTo>
                <a:lnTo>
                  <a:pt x="4217" y="32512"/>
                </a:lnTo>
                <a:quadBezTo>
                  <a:pt x="-8483" y="0"/>
                  <a:pt x="16917" y="0"/>
                </a:quadBezTo>
                <a:close/>
              </a:path>
            </a:pathLst>
          </a:custGeom>
          <a:gradFill rotWithShape="1">
            <a:gsLst>
              <a:gs pos="0">
                <a:srgbClr val="4D8BCB"/>
              </a:gs>
              <a:gs pos="100000">
                <a:srgbClr val="2E77C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sn-5"/>
          <p:cNvSpPr txBox="1"/>
          <p:nvPr/>
        </p:nvSpPr>
        <p:spPr>
          <a:xfrm>
            <a:off x="8697912" y="1334294"/>
            <a:ext cx="5111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使用</a:t>
            </a:r>
          </a:p>
        </p:txBody>
      </p:sp>
      <p:sp>
        <p:nvSpPr>
          <p:cNvPr id="73" name="tp-5"/>
          <p:cNvSpPr txBox="1"/>
          <p:nvPr/>
        </p:nvSpPr>
        <p:spPr>
          <a:xfrm>
            <a:off x="8579009" y="2009061"/>
            <a:ext cx="74898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培训 · 客服</a:t>
            </a:r>
          </a:p>
        </p:txBody>
      </p:sp>
      <p:sp>
        <p:nvSpPr>
          <p:cNvPr id="74" name="pain-5"/>
          <p:cNvSpPr/>
          <p:nvPr/>
        </p:nvSpPr>
        <p:spPr>
          <a:xfrm>
            <a:off x="8267700" y="4406900"/>
            <a:ext cx="1371600" cy="431800"/>
          </a:xfrm>
          <a:custGeom>
            <a:avLst/>
            <a:gdLst/>
            <a:ahLst/>
            <a:cxnLst/>
            <a:rect l="0" t="0" r="r" b="b"/>
            <a:pathLst>
              <a:path w="1371600" h="431800">
                <a:moveTo>
                  <a:pt x="88900" y="0"/>
                </a:moveTo>
                <a:lnTo>
                  <a:pt x="1282700" y="0"/>
                </a:lnTo>
                <a:cubicBezTo>
                  <a:pt x="1331786" y="0"/>
                  <a:pt x="1371600" y="39814"/>
                  <a:pt x="1371600" y="88900"/>
                </a:cubicBezTo>
                <a:lnTo>
                  <a:pt x="1371600" y="342900"/>
                </a:lnTo>
                <a:cubicBezTo>
                  <a:pt x="1371600" y="391986"/>
                  <a:pt x="1331786" y="431800"/>
                  <a:pt x="1282700" y="431800"/>
                </a:cubicBezTo>
                <a:lnTo>
                  <a:pt x="88900" y="431800"/>
                </a:lnTo>
                <a:cubicBezTo>
                  <a:pt x="39814" y="431800"/>
                  <a:pt x="0" y="391986"/>
                  <a:pt x="0" y="342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pt-5"/>
          <p:cNvSpPr txBox="1"/>
          <p:nvPr/>
        </p:nvSpPr>
        <p:spPr>
          <a:xfrm>
            <a:off x="8505666" y="4536361"/>
            <a:ext cx="8956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培训排期不灵活</a:t>
            </a:r>
          </a:p>
        </p:txBody>
      </p:sp>
      <p:cxnSp>
        <p:nvCxnSpPr>
          <p:cNvPr id="76" name="po-5"/>
          <p:cNvCxnSpPr/>
          <p:nvPr/>
        </p:nvCxnSpPr>
        <p:spPr>
          <a:xfrm>
            <a:off x="8953500" y="4864100"/>
            <a:ext cx="0" cy="215900"/>
          </a:xfrm>
          <a:prstGeom prst="line">
            <a:avLst/>
          </a:prstGeom>
          <a:ln w="10160" cap="rnd">
            <a:solidFill>
              <a:srgbClr val="1B5AA8">
                <a:alpha val="3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7" name="opp-5"/>
          <p:cNvSpPr/>
          <p:nvPr/>
        </p:nvSpPr>
        <p:spPr>
          <a:xfrm>
            <a:off x="8267700" y="5105400"/>
            <a:ext cx="1371600" cy="406400"/>
          </a:xfrm>
          <a:custGeom>
            <a:avLst/>
            <a:gdLst/>
            <a:ahLst/>
            <a:cxnLst/>
            <a:rect l="0" t="0" r="r" b="b"/>
            <a:pathLst>
              <a:path w="1371600" h="406400">
                <a:moveTo>
                  <a:pt x="88900" y="0"/>
                </a:moveTo>
                <a:lnTo>
                  <a:pt x="1282700" y="0"/>
                </a:lnTo>
                <a:cubicBezTo>
                  <a:pt x="1331786" y="0"/>
                  <a:pt x="1371600" y="39814"/>
                  <a:pt x="1371600" y="88900"/>
                </a:cubicBezTo>
                <a:lnTo>
                  <a:pt x="1371600" y="317500"/>
                </a:lnTo>
                <a:cubicBezTo>
                  <a:pt x="1371600" y="366586"/>
                  <a:pt x="1331786" y="406400"/>
                  <a:pt x="1282700" y="406400"/>
                </a:cubicBezTo>
                <a:lnTo>
                  <a:pt x="88900" y="406400"/>
                </a:lnTo>
                <a:cubicBezTo>
                  <a:pt x="39814" y="406400"/>
                  <a:pt x="0" y="366586"/>
                  <a:pt x="0" y="317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134C9C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ot-5"/>
          <p:cNvSpPr txBox="1"/>
          <p:nvPr/>
        </p:nvSpPr>
        <p:spPr>
          <a:xfrm>
            <a:off x="8465344" y="5222161"/>
            <a:ext cx="97631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录播课 + 答疑群</a:t>
            </a:r>
          </a:p>
        </p:txBody>
      </p:sp>
      <p:sp>
        <p:nvSpPr>
          <p:cNvPr id="79" name="stage-6"/>
          <p:cNvSpPr/>
          <p:nvPr/>
        </p:nvSpPr>
        <p:spPr>
          <a:xfrm>
            <a:off x="9787483" y="1270000"/>
            <a:ext cx="1410742" cy="406400"/>
          </a:xfrm>
          <a:custGeom>
            <a:avLst/>
            <a:gdLst/>
            <a:ahLst/>
            <a:cxnLst/>
            <a:rect l="0" t="0" r="r" b="b"/>
            <a:pathLst>
              <a:path w="1410742" h="406400">
                <a:moveTo>
                  <a:pt x="16917" y="0"/>
                </a:moveTo>
                <a:lnTo>
                  <a:pt x="1236117" y="0"/>
                </a:lnTo>
                <a:quadBezTo>
                  <a:pt x="1280567" y="0"/>
                  <a:pt x="1299617" y="32512"/>
                </a:quadBezTo>
                <a:lnTo>
                  <a:pt x="1394867" y="180975"/>
                </a:lnTo>
                <a:quadBezTo>
                  <a:pt x="1426617" y="203200"/>
                  <a:pt x="1394867" y="225425"/>
                </a:quadBezTo>
                <a:lnTo>
                  <a:pt x="1299617" y="373888"/>
                </a:lnTo>
                <a:quadBezTo>
                  <a:pt x="1280567" y="406400"/>
                  <a:pt x="1236117" y="406400"/>
                </a:quadBezTo>
                <a:lnTo>
                  <a:pt x="16917" y="406400"/>
                </a:lnTo>
                <a:quadBezTo>
                  <a:pt x="-8483" y="406400"/>
                  <a:pt x="4217" y="373888"/>
                </a:quadBezTo>
                <a:lnTo>
                  <a:pt x="86767" y="225425"/>
                </a:lnTo>
                <a:quadBezTo>
                  <a:pt x="118517" y="203200"/>
                  <a:pt x="86767" y="180975"/>
                </a:quadBezTo>
                <a:lnTo>
                  <a:pt x="4217" y="32512"/>
                </a:lnTo>
                <a:quadBezTo>
                  <a:pt x="-8483" y="0"/>
                  <a:pt x="16917" y="0"/>
                </a:quadBezTo>
                <a:close/>
              </a:path>
            </a:pathLst>
          </a:custGeom>
          <a:gradFill rotWithShape="1">
            <a:gsLst>
              <a:gs pos="0">
                <a:srgbClr val="5797D4"/>
              </a:gs>
              <a:gs pos="100000">
                <a:srgbClr val="3985CD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sn-6"/>
          <p:cNvSpPr txBox="1"/>
          <p:nvPr/>
        </p:nvSpPr>
        <p:spPr>
          <a:xfrm>
            <a:off x="10221912" y="1334294"/>
            <a:ext cx="5111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推荐</a:t>
            </a:r>
          </a:p>
        </p:txBody>
      </p:sp>
      <p:sp>
        <p:nvSpPr>
          <p:cNvPr id="81" name="tp-6"/>
          <p:cNvSpPr txBox="1"/>
          <p:nvPr/>
        </p:nvSpPr>
        <p:spPr>
          <a:xfrm>
            <a:off x="10046176" y="2009061"/>
            <a:ext cx="86264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续约 · 转介绍</a:t>
            </a:r>
          </a:p>
        </p:txBody>
      </p:sp>
      <p:sp>
        <p:nvSpPr>
          <p:cNvPr id="82" name="pain-6"/>
          <p:cNvSpPr/>
          <p:nvPr/>
        </p:nvSpPr>
        <p:spPr>
          <a:xfrm>
            <a:off x="9791700" y="4406900"/>
            <a:ext cx="1371600" cy="431800"/>
          </a:xfrm>
          <a:custGeom>
            <a:avLst/>
            <a:gdLst/>
            <a:ahLst/>
            <a:cxnLst/>
            <a:rect l="0" t="0" r="r" b="b"/>
            <a:pathLst>
              <a:path w="1371600" h="431800">
                <a:moveTo>
                  <a:pt x="88900" y="0"/>
                </a:moveTo>
                <a:lnTo>
                  <a:pt x="1282700" y="0"/>
                </a:lnTo>
                <a:cubicBezTo>
                  <a:pt x="1331786" y="0"/>
                  <a:pt x="1371600" y="39814"/>
                  <a:pt x="1371600" y="88900"/>
                </a:cubicBezTo>
                <a:lnTo>
                  <a:pt x="1371600" y="342900"/>
                </a:lnTo>
                <a:cubicBezTo>
                  <a:pt x="1371600" y="391986"/>
                  <a:pt x="1331786" y="431800"/>
                  <a:pt x="1282700" y="431800"/>
                </a:cubicBezTo>
                <a:lnTo>
                  <a:pt x="88900" y="431800"/>
                </a:lnTo>
                <a:cubicBezTo>
                  <a:pt x="39814" y="431800"/>
                  <a:pt x="0" y="391986"/>
                  <a:pt x="0" y="342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pt-6"/>
          <p:cNvSpPr txBox="1"/>
          <p:nvPr/>
        </p:nvSpPr>
        <p:spPr>
          <a:xfrm>
            <a:off x="10086499" y="4536361"/>
            <a:ext cx="7820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缺少推荐激励</a:t>
            </a:r>
          </a:p>
        </p:txBody>
      </p:sp>
      <p:cxnSp>
        <p:nvCxnSpPr>
          <p:cNvPr id="84" name="po-6"/>
          <p:cNvCxnSpPr/>
          <p:nvPr/>
        </p:nvCxnSpPr>
        <p:spPr>
          <a:xfrm>
            <a:off x="10477500" y="4864100"/>
            <a:ext cx="0" cy="215900"/>
          </a:xfrm>
          <a:prstGeom prst="line">
            <a:avLst/>
          </a:prstGeom>
          <a:ln w="10160" cap="rnd">
            <a:solidFill>
              <a:srgbClr val="1B5AA8">
                <a:alpha val="3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opp-6"/>
          <p:cNvSpPr/>
          <p:nvPr/>
        </p:nvSpPr>
        <p:spPr>
          <a:xfrm>
            <a:off x="9791700" y="5105400"/>
            <a:ext cx="1371600" cy="406400"/>
          </a:xfrm>
          <a:custGeom>
            <a:avLst/>
            <a:gdLst/>
            <a:ahLst/>
            <a:cxnLst/>
            <a:rect l="0" t="0" r="r" b="b"/>
            <a:pathLst>
              <a:path w="1371600" h="406400">
                <a:moveTo>
                  <a:pt x="88900" y="0"/>
                </a:moveTo>
                <a:lnTo>
                  <a:pt x="1282700" y="0"/>
                </a:lnTo>
                <a:cubicBezTo>
                  <a:pt x="1331786" y="0"/>
                  <a:pt x="1371600" y="39814"/>
                  <a:pt x="1371600" y="88900"/>
                </a:cubicBezTo>
                <a:lnTo>
                  <a:pt x="1371600" y="317500"/>
                </a:lnTo>
                <a:cubicBezTo>
                  <a:pt x="1371600" y="366586"/>
                  <a:pt x="1331786" y="406400"/>
                  <a:pt x="1282700" y="406400"/>
                </a:cubicBezTo>
                <a:lnTo>
                  <a:pt x="88900" y="406400"/>
                </a:lnTo>
                <a:cubicBezTo>
                  <a:pt x="39814" y="406400"/>
                  <a:pt x="0" y="366586"/>
                  <a:pt x="0" y="317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134C9C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ot-6"/>
          <p:cNvSpPr txBox="1"/>
          <p:nvPr/>
        </p:nvSpPr>
        <p:spPr>
          <a:xfrm>
            <a:off x="10029666" y="5222161"/>
            <a:ext cx="8956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老带新双向奖励</a:t>
            </a:r>
          </a:p>
        </p:txBody>
      </p:sp>
      <p:sp>
        <p:nvSpPr>
          <p:cNvPr id="87" name="emotion"/>
          <p:cNvSpPr/>
          <p:nvPr/>
        </p:nvSpPr>
        <p:spPr>
          <a:xfrm>
            <a:off x="2857500" y="2667000"/>
            <a:ext cx="7620000" cy="1314637"/>
          </a:xfrm>
          <a:custGeom>
            <a:avLst/>
            <a:gdLst/>
            <a:ahLst/>
            <a:cxnLst/>
            <a:rect l="0" t="0" r="r" b="b"/>
            <a:pathLst>
              <a:path w="7620000" h="1314637">
                <a:moveTo>
                  <a:pt x="0" y="317500"/>
                </a:moveTo>
                <a:cubicBezTo>
                  <a:pt x="254000" y="296355"/>
                  <a:pt x="1016000" y="63500"/>
                  <a:pt x="1524000" y="190500"/>
                </a:cubicBezTo>
                <a:cubicBezTo>
                  <a:pt x="2032000" y="317500"/>
                  <a:pt x="2540000" y="899604"/>
                  <a:pt x="3048000" y="1079500"/>
                </a:cubicBezTo>
                <a:cubicBezTo>
                  <a:pt x="3556000" y="1259396"/>
                  <a:pt x="4064000" y="1386396"/>
                  <a:pt x="4572000" y="1270000"/>
                </a:cubicBezTo>
                <a:cubicBezTo>
                  <a:pt x="5080000" y="1153604"/>
                  <a:pt x="5588000" y="592646"/>
                  <a:pt x="6096000" y="381000"/>
                </a:cubicBezTo>
                <a:cubicBezTo>
                  <a:pt x="6604000" y="169355"/>
                  <a:pt x="7366000" y="63500"/>
                  <a:pt x="7620000" y="0"/>
                </a:cubicBezTo>
              </a:path>
            </a:pathLst>
          </a:custGeom>
          <a:noFill/>
          <a:ln w="25400" cap="rnd">
            <a:solidFill>
              <a:srgbClr val="1B5AA8">
                <a:alpha val="8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88" name="stem-1"/>
          <p:cNvCxnSpPr/>
          <p:nvPr/>
        </p:nvCxnSpPr>
        <p:spPr>
          <a:xfrm flipV="1">
            <a:off x="2857500" y="2984500"/>
            <a:ext cx="0" cy="317500"/>
          </a:xfrm>
          <a:prstGeom prst="line">
            <a:avLst/>
          </a:prstGeom>
          <a:ln w="8890" cap="rnd">
            <a:solidFill>
              <a:srgbClr val="1B5AA8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9" name="face"/>
          <p:cNvSpPr/>
          <p:nvPr/>
        </p:nvSpPr>
        <p:spPr>
          <a:xfrm>
            <a:off x="2705100" y="2832100"/>
            <a:ext cx="304800" cy="304800"/>
          </a:xfrm>
          <a:prstGeom prst="ellipse">
            <a:avLst/>
          </a:prstGeom>
          <a:solidFill>
            <a:srgbClr val="134C9C"/>
          </a:solidFill>
          <a:ln w="22225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eye"/>
          <p:cNvSpPr/>
          <p:nvPr/>
        </p:nvSpPr>
        <p:spPr>
          <a:xfrm>
            <a:off x="2788920" y="2928620"/>
            <a:ext cx="35560" cy="3556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eye"/>
          <p:cNvSpPr/>
          <p:nvPr/>
        </p:nvSpPr>
        <p:spPr>
          <a:xfrm>
            <a:off x="2890520" y="2928620"/>
            <a:ext cx="35560" cy="3556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mouth"/>
          <p:cNvSpPr/>
          <p:nvPr/>
        </p:nvSpPr>
        <p:spPr>
          <a:xfrm>
            <a:off x="2800350" y="3022600"/>
            <a:ext cx="114300" cy="22225"/>
          </a:xfrm>
          <a:custGeom>
            <a:avLst/>
            <a:gdLst/>
            <a:ahLst/>
            <a:cxnLst/>
            <a:rect l="0" t="0" r="r" b="b"/>
            <a:pathLst>
              <a:path w="114300" h="22225">
                <a:moveTo>
                  <a:pt x="0" y="0"/>
                </a:moveTo>
                <a:quadBezTo>
                  <a:pt x="57150" y="44450"/>
                  <a:pt x="114300" y="0"/>
                </a:quadBezTo>
              </a:path>
            </a:pathLst>
          </a:custGeom>
          <a:noFill/>
          <a:ln w="1651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ev-1"/>
          <p:cNvSpPr txBox="1"/>
          <p:nvPr/>
        </p:nvSpPr>
        <p:spPr>
          <a:xfrm>
            <a:off x="3061208" y="28971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+1</a:t>
            </a:r>
          </a:p>
        </p:txBody>
      </p:sp>
      <p:cxnSp>
        <p:nvCxnSpPr>
          <p:cNvPr id="94" name="stem-2"/>
          <p:cNvCxnSpPr/>
          <p:nvPr/>
        </p:nvCxnSpPr>
        <p:spPr>
          <a:xfrm flipV="1">
            <a:off x="4381500" y="2857500"/>
            <a:ext cx="0" cy="444500"/>
          </a:xfrm>
          <a:prstGeom prst="line">
            <a:avLst/>
          </a:prstGeom>
          <a:ln w="8890" cap="rnd">
            <a:solidFill>
              <a:srgbClr val="1B5AA8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5" name="face"/>
          <p:cNvSpPr/>
          <p:nvPr/>
        </p:nvSpPr>
        <p:spPr>
          <a:xfrm>
            <a:off x="4229100" y="2705100"/>
            <a:ext cx="304800" cy="304800"/>
          </a:xfrm>
          <a:prstGeom prst="ellipse">
            <a:avLst/>
          </a:prstGeom>
          <a:solidFill>
            <a:srgbClr val="134C9C"/>
          </a:solidFill>
          <a:ln w="22225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eye"/>
          <p:cNvSpPr/>
          <p:nvPr/>
        </p:nvSpPr>
        <p:spPr>
          <a:xfrm>
            <a:off x="4312920" y="2801620"/>
            <a:ext cx="35560" cy="3556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eye"/>
          <p:cNvSpPr/>
          <p:nvPr/>
        </p:nvSpPr>
        <p:spPr>
          <a:xfrm>
            <a:off x="4414520" y="2801620"/>
            <a:ext cx="35560" cy="3556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mouth"/>
          <p:cNvSpPr/>
          <p:nvPr/>
        </p:nvSpPr>
        <p:spPr>
          <a:xfrm>
            <a:off x="4324350" y="2895600"/>
            <a:ext cx="114300" cy="22225"/>
          </a:xfrm>
          <a:custGeom>
            <a:avLst/>
            <a:gdLst/>
            <a:ahLst/>
            <a:cxnLst/>
            <a:rect l="0" t="0" r="r" b="b"/>
            <a:pathLst>
              <a:path w="114300" h="22225">
                <a:moveTo>
                  <a:pt x="0" y="0"/>
                </a:moveTo>
                <a:quadBezTo>
                  <a:pt x="57150" y="44450"/>
                  <a:pt x="114300" y="0"/>
                </a:quadBezTo>
              </a:path>
            </a:pathLst>
          </a:custGeom>
          <a:noFill/>
          <a:ln w="1651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9" name="ev-2"/>
          <p:cNvSpPr txBox="1"/>
          <p:nvPr/>
        </p:nvSpPr>
        <p:spPr>
          <a:xfrm>
            <a:off x="4585208" y="2770124"/>
            <a:ext cx="3190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+1.4</a:t>
            </a:r>
          </a:p>
        </p:txBody>
      </p:sp>
      <p:cxnSp>
        <p:nvCxnSpPr>
          <p:cNvPr id="100" name="stem-3"/>
          <p:cNvCxnSpPr/>
          <p:nvPr/>
        </p:nvCxnSpPr>
        <p:spPr>
          <a:xfrm>
            <a:off x="5905500" y="3302000"/>
            <a:ext cx="0" cy="444500"/>
          </a:xfrm>
          <a:prstGeom prst="line">
            <a:avLst/>
          </a:prstGeom>
          <a:ln w="8890" cap="rnd">
            <a:solidFill>
              <a:srgbClr val="E0703A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1" name="face"/>
          <p:cNvSpPr/>
          <p:nvPr/>
        </p:nvSpPr>
        <p:spPr>
          <a:xfrm>
            <a:off x="5753100" y="3594100"/>
            <a:ext cx="304800" cy="304800"/>
          </a:xfrm>
          <a:prstGeom prst="ellipse">
            <a:avLst/>
          </a:prstGeom>
          <a:solidFill>
            <a:srgbClr val="E0703A"/>
          </a:solidFill>
          <a:ln w="22225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2" name="eye"/>
          <p:cNvSpPr/>
          <p:nvPr/>
        </p:nvSpPr>
        <p:spPr>
          <a:xfrm>
            <a:off x="5836920" y="3690620"/>
            <a:ext cx="35560" cy="3556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eye"/>
          <p:cNvSpPr/>
          <p:nvPr/>
        </p:nvSpPr>
        <p:spPr>
          <a:xfrm>
            <a:off x="5938520" y="3690620"/>
            <a:ext cx="35560" cy="3556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4" name="mouth"/>
          <p:cNvSpPr/>
          <p:nvPr/>
        </p:nvSpPr>
        <p:spPr>
          <a:xfrm>
            <a:off x="5848350" y="3797300"/>
            <a:ext cx="114300" cy="19050"/>
          </a:xfrm>
          <a:custGeom>
            <a:avLst/>
            <a:gdLst/>
            <a:ahLst/>
            <a:cxnLst/>
            <a:rect l="0" t="0" r="r" b="b"/>
            <a:pathLst>
              <a:path w="114300" h="19050">
                <a:moveTo>
                  <a:pt x="0" y="19050"/>
                </a:moveTo>
                <a:quadBezTo>
                  <a:pt x="57150" y="-19050"/>
                  <a:pt x="114300" y="19050"/>
                </a:quadBezTo>
              </a:path>
            </a:pathLst>
          </a:custGeom>
          <a:noFill/>
          <a:ln w="1651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ev-3"/>
          <p:cNvSpPr txBox="1"/>
          <p:nvPr/>
        </p:nvSpPr>
        <p:spPr>
          <a:xfrm>
            <a:off x="6109208" y="3659124"/>
            <a:ext cx="3190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-1.4</a:t>
            </a:r>
          </a:p>
        </p:txBody>
      </p:sp>
      <p:cxnSp>
        <p:nvCxnSpPr>
          <p:cNvPr id="106" name="stem-4"/>
          <p:cNvCxnSpPr/>
          <p:nvPr/>
        </p:nvCxnSpPr>
        <p:spPr>
          <a:xfrm>
            <a:off x="7429500" y="3302000"/>
            <a:ext cx="0" cy="635000"/>
          </a:xfrm>
          <a:prstGeom prst="line">
            <a:avLst/>
          </a:prstGeom>
          <a:ln w="8890" cap="rnd">
            <a:solidFill>
              <a:srgbClr val="E0703A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face"/>
          <p:cNvSpPr/>
          <p:nvPr/>
        </p:nvSpPr>
        <p:spPr>
          <a:xfrm>
            <a:off x="7277100" y="3784600"/>
            <a:ext cx="304800" cy="304800"/>
          </a:xfrm>
          <a:prstGeom prst="ellipse">
            <a:avLst/>
          </a:prstGeom>
          <a:solidFill>
            <a:srgbClr val="E0703A"/>
          </a:solidFill>
          <a:ln w="22225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8" name="eye"/>
          <p:cNvSpPr/>
          <p:nvPr/>
        </p:nvSpPr>
        <p:spPr>
          <a:xfrm>
            <a:off x="7360920" y="3881120"/>
            <a:ext cx="35560" cy="3556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eye"/>
          <p:cNvSpPr/>
          <p:nvPr/>
        </p:nvSpPr>
        <p:spPr>
          <a:xfrm>
            <a:off x="7462520" y="3881120"/>
            <a:ext cx="35560" cy="3556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0" name="mouth"/>
          <p:cNvSpPr/>
          <p:nvPr/>
        </p:nvSpPr>
        <p:spPr>
          <a:xfrm>
            <a:off x="7372350" y="3987800"/>
            <a:ext cx="114300" cy="19050"/>
          </a:xfrm>
          <a:custGeom>
            <a:avLst/>
            <a:gdLst/>
            <a:ahLst/>
            <a:cxnLst/>
            <a:rect l="0" t="0" r="r" b="b"/>
            <a:pathLst>
              <a:path w="114300" h="19050">
                <a:moveTo>
                  <a:pt x="0" y="19050"/>
                </a:moveTo>
                <a:quadBezTo>
                  <a:pt x="57150" y="-19050"/>
                  <a:pt x="114300" y="19050"/>
                </a:quadBezTo>
              </a:path>
            </a:pathLst>
          </a:custGeom>
          <a:noFill/>
          <a:ln w="1651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1" name="ev-4"/>
          <p:cNvSpPr txBox="1"/>
          <p:nvPr/>
        </p:nvSpPr>
        <p:spPr>
          <a:xfrm>
            <a:off x="7633208" y="38496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-2</a:t>
            </a:r>
          </a:p>
        </p:txBody>
      </p:sp>
      <p:cxnSp>
        <p:nvCxnSpPr>
          <p:cNvPr id="112" name="stem-5"/>
          <p:cNvCxnSpPr/>
          <p:nvPr/>
        </p:nvCxnSpPr>
        <p:spPr>
          <a:xfrm flipV="1">
            <a:off x="8953500" y="3048000"/>
            <a:ext cx="0" cy="254000"/>
          </a:xfrm>
          <a:prstGeom prst="line">
            <a:avLst/>
          </a:prstGeom>
          <a:ln w="8890" cap="rnd">
            <a:solidFill>
              <a:srgbClr val="1B5AA8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3" name="face"/>
          <p:cNvSpPr/>
          <p:nvPr/>
        </p:nvSpPr>
        <p:spPr>
          <a:xfrm>
            <a:off x="8801100" y="2895600"/>
            <a:ext cx="304800" cy="304800"/>
          </a:xfrm>
          <a:prstGeom prst="ellipse">
            <a:avLst/>
          </a:prstGeom>
          <a:solidFill>
            <a:srgbClr val="134C9C"/>
          </a:solidFill>
          <a:ln w="22225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4" name="eye"/>
          <p:cNvSpPr/>
          <p:nvPr/>
        </p:nvSpPr>
        <p:spPr>
          <a:xfrm>
            <a:off x="8884920" y="2992120"/>
            <a:ext cx="35560" cy="3556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5" name="eye"/>
          <p:cNvSpPr/>
          <p:nvPr/>
        </p:nvSpPr>
        <p:spPr>
          <a:xfrm>
            <a:off x="8986520" y="2992120"/>
            <a:ext cx="35560" cy="3556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6" name="mouth"/>
          <p:cNvSpPr/>
          <p:nvPr/>
        </p:nvSpPr>
        <p:spPr>
          <a:xfrm>
            <a:off x="8896350" y="3086100"/>
            <a:ext cx="114300" cy="22225"/>
          </a:xfrm>
          <a:custGeom>
            <a:avLst/>
            <a:gdLst/>
            <a:ahLst/>
            <a:cxnLst/>
            <a:rect l="0" t="0" r="r" b="b"/>
            <a:pathLst>
              <a:path w="114300" h="22225">
                <a:moveTo>
                  <a:pt x="0" y="0"/>
                </a:moveTo>
                <a:quadBezTo>
                  <a:pt x="57150" y="44450"/>
                  <a:pt x="114300" y="0"/>
                </a:quadBezTo>
              </a:path>
            </a:pathLst>
          </a:custGeom>
          <a:noFill/>
          <a:ln w="1651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7" name="ev-5"/>
          <p:cNvSpPr txBox="1"/>
          <p:nvPr/>
        </p:nvSpPr>
        <p:spPr>
          <a:xfrm>
            <a:off x="9157208" y="2960624"/>
            <a:ext cx="3190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+0.8</a:t>
            </a:r>
          </a:p>
        </p:txBody>
      </p:sp>
      <p:cxnSp>
        <p:nvCxnSpPr>
          <p:cNvPr id="118" name="stem-6"/>
          <p:cNvCxnSpPr/>
          <p:nvPr/>
        </p:nvCxnSpPr>
        <p:spPr>
          <a:xfrm flipV="1">
            <a:off x="10477500" y="2667000"/>
            <a:ext cx="0" cy="635000"/>
          </a:xfrm>
          <a:prstGeom prst="line">
            <a:avLst/>
          </a:prstGeom>
          <a:ln w="8890" cap="rnd">
            <a:solidFill>
              <a:srgbClr val="1B5AA8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9" name="face"/>
          <p:cNvSpPr/>
          <p:nvPr/>
        </p:nvSpPr>
        <p:spPr>
          <a:xfrm>
            <a:off x="10325100" y="2514600"/>
            <a:ext cx="304800" cy="304800"/>
          </a:xfrm>
          <a:prstGeom prst="ellipse">
            <a:avLst/>
          </a:prstGeom>
          <a:solidFill>
            <a:srgbClr val="134C9C"/>
          </a:solidFill>
          <a:ln w="22225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0" name="eye"/>
          <p:cNvSpPr/>
          <p:nvPr/>
        </p:nvSpPr>
        <p:spPr>
          <a:xfrm>
            <a:off x="10408920" y="2611120"/>
            <a:ext cx="35560" cy="3556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1" name="eye"/>
          <p:cNvSpPr/>
          <p:nvPr/>
        </p:nvSpPr>
        <p:spPr>
          <a:xfrm>
            <a:off x="10510520" y="2611120"/>
            <a:ext cx="35560" cy="3556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2" name="mouth"/>
          <p:cNvSpPr/>
          <p:nvPr/>
        </p:nvSpPr>
        <p:spPr>
          <a:xfrm>
            <a:off x="10420350" y="2705100"/>
            <a:ext cx="114300" cy="22225"/>
          </a:xfrm>
          <a:custGeom>
            <a:avLst/>
            <a:gdLst/>
            <a:ahLst/>
            <a:cxnLst/>
            <a:rect l="0" t="0" r="r" b="b"/>
            <a:pathLst>
              <a:path w="114300" h="22225">
                <a:moveTo>
                  <a:pt x="0" y="0"/>
                </a:moveTo>
                <a:quadBezTo>
                  <a:pt x="57150" y="44450"/>
                  <a:pt x="114300" y="0"/>
                </a:quadBezTo>
              </a:path>
            </a:pathLst>
          </a:custGeom>
          <a:noFill/>
          <a:ln w="1651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3" name="ev-6"/>
          <p:cNvSpPr txBox="1"/>
          <p:nvPr/>
        </p:nvSpPr>
        <p:spPr>
          <a:xfrm>
            <a:off x="10681208" y="25796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+2</a:t>
            </a:r>
          </a:p>
        </p:txBody>
      </p:sp>
      <p:sp>
        <p:nvSpPr>
          <p:cNvPr id="124" name="drop"/>
          <p:cNvSpPr/>
          <p:nvPr/>
        </p:nvSpPr>
        <p:spPr>
          <a:xfrm>
            <a:off x="5321300" y="2565400"/>
            <a:ext cx="1168400" cy="203200"/>
          </a:xfrm>
          <a:custGeom>
            <a:avLst/>
            <a:gdLst/>
            <a:ahLst/>
            <a:cxnLst/>
            <a:rect l="0" t="0" r="r" b="b"/>
            <a:pathLst>
              <a:path w="1168400" h="203200">
                <a:moveTo>
                  <a:pt x="101600" y="0"/>
                </a:moveTo>
                <a:lnTo>
                  <a:pt x="1066800" y="0"/>
                </a:lnTo>
                <a:cubicBezTo>
                  <a:pt x="1122934" y="0"/>
                  <a:pt x="1168400" y="45466"/>
                  <a:pt x="1168400" y="101600"/>
                </a:cubicBezTo>
                <a:lnTo>
                  <a:pt x="1168400" y="101600"/>
                </a:lnTo>
                <a:cubicBezTo>
                  <a:pt x="1168400" y="157734"/>
                  <a:pt x="1122934" y="203200"/>
                  <a:pt x="10668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5" name="drop-t"/>
          <p:cNvSpPr txBox="1"/>
          <p:nvPr/>
        </p:nvSpPr>
        <p:spPr>
          <a:xfrm>
            <a:off x="5430552" y="2591387"/>
            <a:ext cx="949896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落差最大 · 3.4 分</a:t>
            </a:r>
          </a:p>
        </p:txBody>
      </p:sp>
      <p:sp>
        <p:nvSpPr>
          <p:cNvPr id="126" name="sum"/>
          <p:cNvSpPr/>
          <p:nvPr/>
        </p:nvSpPr>
        <p:spPr>
          <a:xfrm>
            <a:off x="952500" y="5791200"/>
            <a:ext cx="10287000" cy="533400"/>
          </a:xfrm>
          <a:custGeom>
            <a:avLst/>
            <a:gdLst/>
            <a:ahLst/>
            <a:cxnLst/>
            <a:rect l="0" t="0" r="r" b="b"/>
            <a:pathLst>
              <a:path w="10287000" h="5334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31800"/>
                </a:lnTo>
                <a:cubicBezTo>
                  <a:pt x="10287000" y="487934"/>
                  <a:pt x="10241534" y="533400"/>
                  <a:pt x="10185400" y="533400"/>
                </a:cubicBezTo>
                <a:lnTo>
                  <a:pt x="101600" y="533400"/>
                </a:lnTo>
                <a:cubicBezTo>
                  <a:pt x="45466" y="533400"/>
                  <a:pt x="0" y="487934"/>
                  <a:pt x="0" y="431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7" name="sum-bar"/>
          <p:cNvSpPr/>
          <p:nvPr/>
        </p:nvSpPr>
        <p:spPr>
          <a:xfrm>
            <a:off x="952500" y="57912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8" name="sum-h"/>
          <p:cNvSpPr txBox="1"/>
          <p:nvPr/>
        </p:nvSpPr>
        <p:spPr>
          <a:xfrm>
            <a:off x="1141222" y="5959697"/>
            <a:ext cx="7753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改进优先级</a:t>
            </a:r>
          </a:p>
        </p:txBody>
      </p:sp>
      <p:sp>
        <p:nvSpPr>
          <p:cNvPr id="129" name="sum-p"/>
          <p:cNvSpPr txBox="1"/>
          <p:nvPr/>
        </p:nvSpPr>
        <p:spPr>
          <a:xfrm>
            <a:off x="2145665" y="5971461"/>
            <a:ext cx="432022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先把试用开通从 3 天压到即时，再上标准合同与电子签——预计成交周期缩短 40%。</a:t>
            </a:r>
          </a:p>
        </p:txBody>
      </p:sp>
      <p:cxnSp>
        <p:nvCxnSpPr>
          <p:cNvPr id="130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客户旅程 · 六个阶段</a:t>
            </a:r>
          </a:p>
        </p:txBody>
      </p:sp>
      <p:sp>
        <p:nvSpPr>
          <p:cNvPr id="132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32994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五个渠道，一个线索池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53695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LEAD CONVERGENCE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780399" y="673132"/>
            <a:ext cx="2840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所有线索先汇入统一线索池，去重、打分后再分给销售</a:t>
            </a:r>
          </a:p>
        </p:txBody>
      </p:sp>
      <p:sp>
        <p:nvSpPr>
          <p:cNvPr id="10" name="flow-1"/>
          <p:cNvSpPr/>
          <p:nvPr/>
        </p:nvSpPr>
        <p:spPr>
          <a:xfrm>
            <a:off x="3098800" y="1520447"/>
            <a:ext cx="3061642" cy="1586250"/>
          </a:xfrm>
          <a:custGeom>
            <a:avLst/>
            <a:gdLst/>
            <a:ahLst/>
            <a:cxnLst/>
            <a:rect l="0" t="0" r="r" b="b"/>
            <a:pathLst>
              <a:path w="3061642" h="1586250">
                <a:moveTo>
                  <a:pt x="0" y="0"/>
                </a:moveTo>
                <a:cubicBezTo>
                  <a:pt x="1308100" y="0"/>
                  <a:pt x="1308100" y="1070353"/>
                  <a:pt x="2616200" y="1070353"/>
                </a:cubicBezTo>
                <a:lnTo>
                  <a:pt x="3061642" y="1070353"/>
                </a:lnTo>
                <a:lnTo>
                  <a:pt x="3061642" y="1586250"/>
                </a:lnTo>
                <a:lnTo>
                  <a:pt x="2616200" y="1586250"/>
                </a:lnTo>
                <a:cubicBezTo>
                  <a:pt x="1308100" y="1586250"/>
                  <a:pt x="1308100" y="464307"/>
                  <a:pt x="0" y="464307"/>
                </a:cubicBezTo>
                <a:close/>
              </a:path>
            </a:pathLst>
          </a:custGeom>
          <a:gradFill rotWithShape="1">
            <a:gsLst>
              <a:gs pos="0">
                <a:srgbClr val="0B3E8F">
                  <a:alpha val="30000"/>
                </a:srgbClr>
              </a:gs>
              <a:gs pos="100000">
                <a:srgbClr val="0B3E8F">
                  <a:alpha val="78000"/>
                </a:srgbClr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flow-2"/>
          <p:cNvSpPr/>
          <p:nvPr/>
        </p:nvSpPr>
        <p:spPr>
          <a:xfrm>
            <a:off x="3098800" y="2437939"/>
            <a:ext cx="2616200" cy="1064892"/>
          </a:xfrm>
          <a:custGeom>
            <a:avLst/>
            <a:gdLst/>
            <a:ahLst/>
            <a:cxnLst/>
            <a:rect l="0" t="0" r="r" b="b"/>
            <a:pathLst>
              <a:path w="2616200" h="1064892">
                <a:moveTo>
                  <a:pt x="0" y="0"/>
                </a:moveTo>
                <a:cubicBezTo>
                  <a:pt x="1308100" y="0"/>
                  <a:pt x="1308100" y="668757"/>
                  <a:pt x="2616200" y="668757"/>
                </a:cubicBezTo>
                <a:lnTo>
                  <a:pt x="2527215" y="668757"/>
                </a:lnTo>
                <a:lnTo>
                  <a:pt x="2527215" y="1064892"/>
                </a:lnTo>
                <a:lnTo>
                  <a:pt x="2616200" y="1064892"/>
                </a:lnTo>
                <a:cubicBezTo>
                  <a:pt x="1308100" y="1064892"/>
                  <a:pt x="1308100" y="356521"/>
                  <a:pt x="0" y="356521"/>
                </a:cubicBezTo>
                <a:close/>
              </a:path>
            </a:pathLst>
          </a:custGeom>
          <a:gradFill rotWithShape="1">
            <a:gsLst>
              <a:gs pos="0">
                <a:srgbClr val="1B5AA8">
                  <a:alpha val="30000"/>
                </a:srgbClr>
              </a:gs>
              <a:gs pos="100000">
                <a:srgbClr val="1B5AA8">
                  <a:alpha val="78000"/>
                </a:srgbClr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flow-3"/>
          <p:cNvSpPr/>
          <p:nvPr/>
        </p:nvSpPr>
        <p:spPr>
          <a:xfrm>
            <a:off x="3098800" y="3318122"/>
            <a:ext cx="2616200" cy="543994"/>
          </a:xfrm>
          <a:custGeom>
            <a:avLst/>
            <a:gdLst/>
            <a:ahLst/>
            <a:cxnLst/>
            <a:rect l="0" t="0" r="r" b="b"/>
            <a:pathLst>
              <a:path w="2616200" h="543994">
                <a:moveTo>
                  <a:pt x="0" y="0"/>
                </a:moveTo>
                <a:cubicBezTo>
                  <a:pt x="1308100" y="0"/>
                  <a:pt x="1308100" y="184709"/>
                  <a:pt x="2616200" y="184709"/>
                </a:cubicBezTo>
                <a:lnTo>
                  <a:pt x="2531195" y="184709"/>
                </a:lnTo>
                <a:lnTo>
                  <a:pt x="2531195" y="543994"/>
                </a:lnTo>
                <a:lnTo>
                  <a:pt x="2616200" y="543994"/>
                </a:lnTo>
                <a:cubicBezTo>
                  <a:pt x="1308100" y="543994"/>
                  <a:pt x="1308100" y="323356"/>
                  <a:pt x="0" y="323356"/>
                </a:cubicBezTo>
                <a:close/>
              </a:path>
            </a:pathLst>
          </a:custGeom>
          <a:gradFill rotWithShape="1">
            <a:gsLst>
              <a:gs pos="0">
                <a:srgbClr val="2E77C2">
                  <a:alpha val="30000"/>
                </a:srgbClr>
              </a:gs>
              <a:gs pos="100000">
                <a:srgbClr val="2E77C2">
                  <a:alpha val="78000"/>
                </a:srgbClr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flow-4"/>
          <p:cNvSpPr/>
          <p:nvPr/>
        </p:nvSpPr>
        <p:spPr>
          <a:xfrm>
            <a:off x="3098800" y="3862116"/>
            <a:ext cx="2733695" cy="613943"/>
          </a:xfrm>
          <a:custGeom>
            <a:avLst/>
            <a:gdLst/>
            <a:ahLst/>
            <a:cxnLst/>
            <a:rect l="0" t="0" r="r" b="b"/>
            <a:pathLst>
              <a:path w="2733695" h="613943">
                <a:moveTo>
                  <a:pt x="0" y="348625"/>
                </a:moveTo>
                <a:cubicBezTo>
                  <a:pt x="1308100" y="348625"/>
                  <a:pt x="1308100" y="0"/>
                  <a:pt x="2616200" y="0"/>
                </a:cubicBezTo>
                <a:lnTo>
                  <a:pt x="2733695" y="0"/>
                </a:lnTo>
                <a:lnTo>
                  <a:pt x="2733695" y="294798"/>
                </a:lnTo>
                <a:lnTo>
                  <a:pt x="2616200" y="294798"/>
                </a:lnTo>
                <a:cubicBezTo>
                  <a:pt x="1308100" y="294798"/>
                  <a:pt x="1308100" y="613943"/>
                  <a:pt x="0" y="613943"/>
                </a:cubicBezTo>
                <a:close/>
              </a:path>
            </a:pathLst>
          </a:custGeom>
          <a:gradFill rotWithShape="1">
            <a:gsLst>
              <a:gs pos="0">
                <a:srgbClr val="3985CD">
                  <a:alpha val="30000"/>
                </a:srgbClr>
              </a:gs>
              <a:gs pos="100000">
                <a:srgbClr val="3985CD">
                  <a:alpha val="78000"/>
                </a:srgbClr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flow-5"/>
          <p:cNvSpPr/>
          <p:nvPr/>
        </p:nvSpPr>
        <p:spPr>
          <a:xfrm>
            <a:off x="3098800" y="4156914"/>
            <a:ext cx="3061642" cy="1145435"/>
          </a:xfrm>
          <a:custGeom>
            <a:avLst/>
            <a:gdLst/>
            <a:ahLst/>
            <a:cxnLst/>
            <a:rect l="0" t="0" r="r" b="b"/>
            <a:pathLst>
              <a:path w="3061642" h="1145435">
                <a:moveTo>
                  <a:pt x="0" y="954737"/>
                </a:moveTo>
                <a:cubicBezTo>
                  <a:pt x="1308100" y="954737"/>
                  <a:pt x="1308100" y="0"/>
                  <a:pt x="2616200" y="0"/>
                </a:cubicBezTo>
                <a:lnTo>
                  <a:pt x="3061642" y="0"/>
                </a:lnTo>
                <a:lnTo>
                  <a:pt x="3061642" y="211886"/>
                </a:lnTo>
                <a:lnTo>
                  <a:pt x="2616200" y="211886"/>
                </a:lnTo>
                <a:cubicBezTo>
                  <a:pt x="1308100" y="211886"/>
                  <a:pt x="1308100" y="1145435"/>
                  <a:pt x="0" y="1145435"/>
                </a:cubicBezTo>
                <a:close/>
              </a:path>
            </a:pathLst>
          </a:custGeom>
          <a:gradFill rotWithShape="1">
            <a:gsLst>
              <a:gs pos="0">
                <a:srgbClr val="54A2DF">
                  <a:alpha val="30000"/>
                </a:srgbClr>
              </a:gs>
              <a:gs pos="100000">
                <a:srgbClr val="54A2DF">
                  <a:alpha val="78000"/>
                </a:srgbClr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src-1"/>
          <p:cNvSpPr/>
          <p:nvPr/>
        </p:nvSpPr>
        <p:spPr>
          <a:xfrm>
            <a:off x="952500" y="1435100"/>
            <a:ext cx="2095500" cy="635000"/>
          </a:xfrm>
          <a:custGeom>
            <a:avLst/>
            <a:gdLst/>
            <a:ahLst/>
            <a:cxnLst/>
            <a:rect l="0" t="0" r="r" b="b"/>
            <a:pathLst>
              <a:path w="2095500" h="635000">
                <a:moveTo>
                  <a:pt x="114300" y="0"/>
                </a:moveTo>
                <a:lnTo>
                  <a:pt x="1981200" y="0"/>
                </a:lnTo>
                <a:cubicBezTo>
                  <a:pt x="2044319" y="0"/>
                  <a:pt x="2095500" y="51181"/>
                  <a:pt x="2095500" y="114300"/>
                </a:cubicBezTo>
                <a:lnTo>
                  <a:pt x="2095500" y="520700"/>
                </a:lnTo>
                <a:cubicBezTo>
                  <a:pt x="2095500" y="583819"/>
                  <a:pt x="2044319" y="635000"/>
                  <a:pt x="1981200" y="635000"/>
                </a:cubicBezTo>
                <a:lnTo>
                  <a:pt x="114300" y="635000"/>
                </a:lnTo>
                <a:cubicBezTo>
                  <a:pt x="51181" y="635000"/>
                  <a:pt x="0" y="583819"/>
                  <a:pt x="0" y="520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srcb-1"/>
          <p:cNvSpPr/>
          <p:nvPr/>
        </p:nvSpPr>
        <p:spPr>
          <a:xfrm>
            <a:off x="952500" y="1435100"/>
            <a:ext cx="38100" cy="635000"/>
          </a:xfrm>
          <a:custGeom>
            <a:avLst/>
            <a:gdLst/>
            <a:ahLst/>
            <a:cxnLst/>
            <a:rect l="0" t="0" r="r" b="b"/>
            <a:pathLst>
              <a:path w="38100" h="635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15950"/>
                </a:lnTo>
                <a:cubicBezTo>
                  <a:pt x="38100" y="626491"/>
                  <a:pt x="29591" y="635000"/>
                  <a:pt x="19050" y="635000"/>
                </a:cubicBezTo>
                <a:lnTo>
                  <a:pt x="19050" y="635000"/>
                </a:lnTo>
                <a:cubicBezTo>
                  <a:pt x="8509" y="635000"/>
                  <a:pt x="0" y="626491"/>
                  <a:pt x="0" y="615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srci-bg-1"/>
          <p:cNvSpPr/>
          <p:nvPr/>
        </p:nvSpPr>
        <p:spPr>
          <a:xfrm>
            <a:off x="1130300" y="1574800"/>
            <a:ext cx="355600" cy="355600"/>
          </a:xfrm>
          <a:prstGeom prst="ellipse">
            <a:avLst/>
          </a:pr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icon-doc"/>
          <p:cNvSpPr/>
          <p:nvPr/>
        </p:nvSpPr>
        <p:spPr>
          <a:xfrm>
            <a:off x="1268095" y="1690370"/>
            <a:ext cx="82995" cy="124460"/>
          </a:xfrm>
          <a:custGeom>
            <a:avLst/>
            <a:gdLst/>
            <a:ahLst/>
            <a:cxnLst/>
            <a:rect l="0" t="0" r="r" b="b"/>
            <a:pathLst>
              <a:path w="82995" h="124460">
                <a:moveTo>
                  <a:pt x="0" y="0"/>
                </a:moveTo>
                <a:lnTo>
                  <a:pt x="53340" y="0"/>
                </a:lnTo>
                <a:lnTo>
                  <a:pt x="82995" y="29655"/>
                </a:lnTo>
                <a:lnTo>
                  <a:pt x="82995" y="124460"/>
                </a:lnTo>
                <a:lnTo>
                  <a:pt x="0" y="124460"/>
                </a:lnTo>
                <a:close/>
                <a:moveTo>
                  <a:pt x="53340" y="0"/>
                </a:moveTo>
                <a:lnTo>
                  <a:pt x="53340" y="29655"/>
                </a:lnTo>
                <a:lnTo>
                  <a:pt x="82995" y="29655"/>
                </a:lnTo>
                <a:moveTo>
                  <a:pt x="19241" y="65215"/>
                </a:moveTo>
                <a:lnTo>
                  <a:pt x="63691" y="65215"/>
                </a:lnTo>
                <a:moveTo>
                  <a:pt x="19241" y="90361"/>
                </a:moveTo>
                <a:lnTo>
                  <a:pt x="63691" y="90361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srcn-1"/>
          <p:cNvSpPr txBox="1"/>
          <p:nvPr/>
        </p:nvSpPr>
        <p:spPr>
          <a:xfrm>
            <a:off x="1571498" y="15371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官网表单</a:t>
            </a:r>
          </a:p>
        </p:txBody>
      </p:sp>
      <p:sp>
        <p:nvSpPr>
          <p:cNvPr id="20" name="srcp-1"/>
          <p:cNvSpPr txBox="1"/>
          <p:nvPr/>
        </p:nvSpPr>
        <p:spPr>
          <a:xfrm>
            <a:off x="1576070" y="1800066"/>
            <a:ext cx="5048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占比 29%</a:t>
            </a:r>
          </a:p>
        </p:txBody>
      </p:sp>
      <p:sp>
        <p:nvSpPr>
          <p:cNvPr id="21" name="srcv-1"/>
          <p:cNvSpPr txBox="1"/>
          <p:nvPr/>
        </p:nvSpPr>
        <p:spPr>
          <a:xfrm>
            <a:off x="2340483" y="1615186"/>
            <a:ext cx="573405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1,120</a:t>
            </a:r>
          </a:p>
        </p:txBody>
      </p:sp>
      <p:sp>
        <p:nvSpPr>
          <p:cNvPr id="22" name="src-2"/>
          <p:cNvSpPr/>
          <p:nvPr/>
        </p:nvSpPr>
        <p:spPr>
          <a:xfrm>
            <a:off x="952500" y="2298700"/>
            <a:ext cx="2095500" cy="635000"/>
          </a:xfrm>
          <a:custGeom>
            <a:avLst/>
            <a:gdLst/>
            <a:ahLst/>
            <a:cxnLst/>
            <a:rect l="0" t="0" r="r" b="b"/>
            <a:pathLst>
              <a:path w="2095500" h="635000">
                <a:moveTo>
                  <a:pt x="114300" y="0"/>
                </a:moveTo>
                <a:lnTo>
                  <a:pt x="1981200" y="0"/>
                </a:lnTo>
                <a:cubicBezTo>
                  <a:pt x="2044319" y="0"/>
                  <a:pt x="2095500" y="51181"/>
                  <a:pt x="2095500" y="114300"/>
                </a:cubicBezTo>
                <a:lnTo>
                  <a:pt x="2095500" y="520700"/>
                </a:lnTo>
                <a:cubicBezTo>
                  <a:pt x="2095500" y="583819"/>
                  <a:pt x="2044319" y="635000"/>
                  <a:pt x="1981200" y="635000"/>
                </a:cubicBezTo>
                <a:lnTo>
                  <a:pt x="114300" y="635000"/>
                </a:lnTo>
                <a:cubicBezTo>
                  <a:pt x="51181" y="635000"/>
                  <a:pt x="0" y="583819"/>
                  <a:pt x="0" y="520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srcb-2"/>
          <p:cNvSpPr/>
          <p:nvPr/>
        </p:nvSpPr>
        <p:spPr>
          <a:xfrm>
            <a:off x="952500" y="2298700"/>
            <a:ext cx="38100" cy="635000"/>
          </a:xfrm>
          <a:custGeom>
            <a:avLst/>
            <a:gdLst/>
            <a:ahLst/>
            <a:cxnLst/>
            <a:rect l="0" t="0" r="r" b="b"/>
            <a:pathLst>
              <a:path w="38100" h="635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15950"/>
                </a:lnTo>
                <a:cubicBezTo>
                  <a:pt x="38100" y="626491"/>
                  <a:pt x="29591" y="635000"/>
                  <a:pt x="19050" y="635000"/>
                </a:cubicBezTo>
                <a:lnTo>
                  <a:pt x="19050" y="635000"/>
                </a:lnTo>
                <a:cubicBezTo>
                  <a:pt x="8509" y="635000"/>
                  <a:pt x="0" y="626491"/>
                  <a:pt x="0" y="615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srci-bg-2"/>
          <p:cNvSpPr/>
          <p:nvPr/>
        </p:nvSpPr>
        <p:spPr>
          <a:xfrm>
            <a:off x="1130300" y="2438400"/>
            <a:ext cx="355600" cy="355600"/>
          </a:xfrm>
          <a:prstGeom prst="ellipse">
            <a:avLst/>
          </a:pr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icon-megaphone"/>
          <p:cNvSpPr/>
          <p:nvPr/>
        </p:nvSpPr>
        <p:spPr>
          <a:xfrm>
            <a:off x="1259205" y="2570290"/>
            <a:ext cx="96329" cy="91821"/>
          </a:xfrm>
          <a:custGeom>
            <a:avLst/>
            <a:gdLst/>
            <a:ahLst/>
            <a:cxnLst/>
            <a:rect l="0" t="0" r="r" b="b"/>
            <a:pathLst>
              <a:path w="96329" h="91821">
                <a:moveTo>
                  <a:pt x="0" y="28131"/>
                </a:moveTo>
                <a:lnTo>
                  <a:pt x="0" y="63691"/>
                </a:lnTo>
                <a:lnTo>
                  <a:pt x="22225" y="63691"/>
                </a:lnTo>
                <a:lnTo>
                  <a:pt x="75565" y="91821"/>
                </a:lnTo>
                <a:lnTo>
                  <a:pt x="75565" y="0"/>
                </a:lnTo>
                <a:lnTo>
                  <a:pt x="22225" y="28131"/>
                </a:lnTo>
                <a:close/>
                <a:moveTo>
                  <a:pt x="96329" y="31115"/>
                </a:moveTo>
                <a:lnTo>
                  <a:pt x="96329" y="60706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srcn-2"/>
          <p:cNvSpPr txBox="1"/>
          <p:nvPr/>
        </p:nvSpPr>
        <p:spPr>
          <a:xfrm>
            <a:off x="1571498" y="24007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展会活动</a:t>
            </a:r>
          </a:p>
        </p:txBody>
      </p:sp>
      <p:sp>
        <p:nvSpPr>
          <p:cNvPr id="27" name="srcp-2"/>
          <p:cNvSpPr txBox="1"/>
          <p:nvPr/>
        </p:nvSpPr>
        <p:spPr>
          <a:xfrm>
            <a:off x="1576070" y="2663666"/>
            <a:ext cx="5048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占比 22%</a:t>
            </a:r>
          </a:p>
        </p:txBody>
      </p:sp>
      <p:sp>
        <p:nvSpPr>
          <p:cNvPr id="28" name="srcv-2"/>
          <p:cNvSpPr txBox="1"/>
          <p:nvPr/>
        </p:nvSpPr>
        <p:spPr>
          <a:xfrm>
            <a:off x="2514981" y="2478786"/>
            <a:ext cx="398907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 spc="15">
                <a:solidFill>
                  <a:srgbClr val="1B5AA8"/>
                </a:solidFill>
                <a:latin typeface="Arial"/>
                <a:ea typeface="Arial"/>
                <a:cs typeface="Arial"/>
              </a:rPr>
              <a:t>860</a:t>
            </a:r>
          </a:p>
        </p:txBody>
      </p:sp>
      <p:sp>
        <p:nvSpPr>
          <p:cNvPr id="29" name="src-3"/>
          <p:cNvSpPr/>
          <p:nvPr/>
        </p:nvSpPr>
        <p:spPr>
          <a:xfrm>
            <a:off x="952500" y="3162300"/>
            <a:ext cx="2095500" cy="635000"/>
          </a:xfrm>
          <a:custGeom>
            <a:avLst/>
            <a:gdLst/>
            <a:ahLst/>
            <a:cxnLst/>
            <a:rect l="0" t="0" r="r" b="b"/>
            <a:pathLst>
              <a:path w="2095500" h="635000">
                <a:moveTo>
                  <a:pt x="114300" y="0"/>
                </a:moveTo>
                <a:lnTo>
                  <a:pt x="1981200" y="0"/>
                </a:lnTo>
                <a:cubicBezTo>
                  <a:pt x="2044319" y="0"/>
                  <a:pt x="2095500" y="51181"/>
                  <a:pt x="2095500" y="114300"/>
                </a:cubicBezTo>
                <a:lnTo>
                  <a:pt x="2095500" y="520700"/>
                </a:lnTo>
                <a:cubicBezTo>
                  <a:pt x="2095500" y="583819"/>
                  <a:pt x="2044319" y="635000"/>
                  <a:pt x="1981200" y="635000"/>
                </a:cubicBezTo>
                <a:lnTo>
                  <a:pt x="114300" y="635000"/>
                </a:lnTo>
                <a:cubicBezTo>
                  <a:pt x="51181" y="635000"/>
                  <a:pt x="0" y="583819"/>
                  <a:pt x="0" y="520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srcb-3"/>
          <p:cNvSpPr/>
          <p:nvPr/>
        </p:nvSpPr>
        <p:spPr>
          <a:xfrm>
            <a:off x="952500" y="3162300"/>
            <a:ext cx="38100" cy="635000"/>
          </a:xfrm>
          <a:custGeom>
            <a:avLst/>
            <a:gdLst/>
            <a:ahLst/>
            <a:cxnLst/>
            <a:rect l="0" t="0" r="r" b="b"/>
            <a:pathLst>
              <a:path w="38100" h="635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15950"/>
                </a:lnTo>
                <a:cubicBezTo>
                  <a:pt x="38100" y="626491"/>
                  <a:pt x="29591" y="635000"/>
                  <a:pt x="19050" y="635000"/>
                </a:cubicBezTo>
                <a:lnTo>
                  <a:pt x="19050" y="635000"/>
                </a:lnTo>
                <a:cubicBezTo>
                  <a:pt x="8509" y="635000"/>
                  <a:pt x="0" y="626491"/>
                  <a:pt x="0" y="615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srci-bg-3"/>
          <p:cNvSpPr/>
          <p:nvPr/>
        </p:nvSpPr>
        <p:spPr>
          <a:xfrm>
            <a:off x="1130300" y="3302000"/>
            <a:ext cx="355600" cy="355600"/>
          </a:xfrm>
          <a:prstGeom prst="ellipse">
            <a:avLst/>
          </a:pr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icon-book"/>
          <p:cNvSpPr/>
          <p:nvPr/>
        </p:nvSpPr>
        <p:spPr>
          <a:xfrm>
            <a:off x="1251776" y="3429445"/>
            <a:ext cx="112649" cy="105156"/>
          </a:xfrm>
          <a:custGeom>
            <a:avLst/>
            <a:gdLst/>
            <a:ahLst/>
            <a:cxnLst/>
            <a:rect l="0" t="0" r="r" b="b"/>
            <a:pathLst>
              <a:path w="112649" h="105156">
                <a:moveTo>
                  <a:pt x="0" y="0"/>
                </a:moveTo>
                <a:lnTo>
                  <a:pt x="40005" y="0"/>
                </a:lnTo>
                <a:cubicBezTo>
                  <a:pt x="48895" y="0"/>
                  <a:pt x="56325" y="7366"/>
                  <a:pt x="56325" y="16256"/>
                </a:cubicBezTo>
                <a:lnTo>
                  <a:pt x="56325" y="105156"/>
                </a:lnTo>
                <a:cubicBezTo>
                  <a:pt x="56325" y="97790"/>
                  <a:pt x="49657" y="91821"/>
                  <a:pt x="41529" y="91821"/>
                </a:cubicBezTo>
                <a:lnTo>
                  <a:pt x="0" y="91821"/>
                </a:lnTo>
                <a:close/>
                <a:moveTo>
                  <a:pt x="112649" y="0"/>
                </a:moveTo>
                <a:lnTo>
                  <a:pt x="72644" y="0"/>
                </a:lnTo>
                <a:cubicBezTo>
                  <a:pt x="63754" y="0"/>
                  <a:pt x="56325" y="7366"/>
                  <a:pt x="56325" y="16256"/>
                </a:cubicBezTo>
                <a:lnTo>
                  <a:pt x="56325" y="105156"/>
                </a:lnTo>
                <a:cubicBezTo>
                  <a:pt x="56325" y="97790"/>
                  <a:pt x="62992" y="91821"/>
                  <a:pt x="71120" y="91821"/>
                </a:cubicBezTo>
                <a:lnTo>
                  <a:pt x="112649" y="91821"/>
                </a:lnTo>
                <a:close/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srcn-3"/>
          <p:cNvSpPr txBox="1"/>
          <p:nvPr/>
        </p:nvSpPr>
        <p:spPr>
          <a:xfrm>
            <a:off x="1571498" y="32643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内容营销</a:t>
            </a:r>
          </a:p>
        </p:txBody>
      </p:sp>
      <p:sp>
        <p:nvSpPr>
          <p:cNvPr id="34" name="srcp-3"/>
          <p:cNvSpPr txBox="1"/>
          <p:nvPr/>
        </p:nvSpPr>
        <p:spPr>
          <a:xfrm>
            <a:off x="1576070" y="3527266"/>
            <a:ext cx="5048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占比 20%</a:t>
            </a:r>
          </a:p>
        </p:txBody>
      </p:sp>
      <p:sp>
        <p:nvSpPr>
          <p:cNvPr id="35" name="srcv-3"/>
          <p:cNvSpPr txBox="1"/>
          <p:nvPr/>
        </p:nvSpPr>
        <p:spPr>
          <a:xfrm>
            <a:off x="2514981" y="3342386"/>
            <a:ext cx="398907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 spc="15">
                <a:solidFill>
                  <a:srgbClr val="2E77C2"/>
                </a:solidFill>
                <a:latin typeface="Arial"/>
                <a:ea typeface="Arial"/>
                <a:cs typeface="Arial"/>
              </a:rPr>
              <a:t>780</a:t>
            </a:r>
          </a:p>
        </p:txBody>
      </p:sp>
      <p:sp>
        <p:nvSpPr>
          <p:cNvPr id="36" name="src-4"/>
          <p:cNvSpPr/>
          <p:nvPr/>
        </p:nvSpPr>
        <p:spPr>
          <a:xfrm>
            <a:off x="952500" y="4025900"/>
            <a:ext cx="2095500" cy="635000"/>
          </a:xfrm>
          <a:custGeom>
            <a:avLst/>
            <a:gdLst/>
            <a:ahLst/>
            <a:cxnLst/>
            <a:rect l="0" t="0" r="r" b="b"/>
            <a:pathLst>
              <a:path w="2095500" h="635000">
                <a:moveTo>
                  <a:pt x="114300" y="0"/>
                </a:moveTo>
                <a:lnTo>
                  <a:pt x="1981200" y="0"/>
                </a:lnTo>
                <a:cubicBezTo>
                  <a:pt x="2044319" y="0"/>
                  <a:pt x="2095500" y="51181"/>
                  <a:pt x="2095500" y="114300"/>
                </a:cubicBezTo>
                <a:lnTo>
                  <a:pt x="2095500" y="520700"/>
                </a:lnTo>
                <a:cubicBezTo>
                  <a:pt x="2095500" y="583819"/>
                  <a:pt x="2044319" y="635000"/>
                  <a:pt x="1981200" y="635000"/>
                </a:cubicBezTo>
                <a:lnTo>
                  <a:pt x="114300" y="635000"/>
                </a:lnTo>
                <a:cubicBezTo>
                  <a:pt x="51181" y="635000"/>
                  <a:pt x="0" y="583819"/>
                  <a:pt x="0" y="520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srcb-4"/>
          <p:cNvSpPr/>
          <p:nvPr/>
        </p:nvSpPr>
        <p:spPr>
          <a:xfrm>
            <a:off x="952500" y="4025900"/>
            <a:ext cx="38100" cy="635000"/>
          </a:xfrm>
          <a:custGeom>
            <a:avLst/>
            <a:gdLst/>
            <a:ahLst/>
            <a:cxnLst/>
            <a:rect l="0" t="0" r="r" b="b"/>
            <a:pathLst>
              <a:path w="38100" h="635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15950"/>
                </a:lnTo>
                <a:cubicBezTo>
                  <a:pt x="38100" y="626491"/>
                  <a:pt x="29591" y="635000"/>
                  <a:pt x="19050" y="635000"/>
                </a:cubicBezTo>
                <a:lnTo>
                  <a:pt x="19050" y="635000"/>
                </a:lnTo>
                <a:cubicBezTo>
                  <a:pt x="8509" y="635000"/>
                  <a:pt x="0" y="626491"/>
                  <a:pt x="0" y="615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srci-bg-4"/>
          <p:cNvSpPr/>
          <p:nvPr/>
        </p:nvSpPr>
        <p:spPr>
          <a:xfrm>
            <a:off x="1130300" y="4165600"/>
            <a:ext cx="355600" cy="355600"/>
          </a:xfrm>
          <a:prstGeom prst="ellipse">
            <a:avLst/>
          </a:prstGeom>
          <a:solidFill>
            <a:srgbClr val="3985CD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icon-share"/>
          <p:cNvSpPr/>
          <p:nvPr/>
        </p:nvSpPr>
        <p:spPr>
          <a:xfrm>
            <a:off x="1279970" y="4307078"/>
            <a:ext cx="52578" cy="72644"/>
          </a:xfrm>
          <a:custGeom>
            <a:avLst/>
            <a:gdLst/>
            <a:ahLst/>
            <a:cxnLst/>
            <a:rect l="0" t="0" r="r" b="b"/>
            <a:pathLst>
              <a:path w="52578" h="72644">
                <a:moveTo>
                  <a:pt x="0" y="28893"/>
                </a:moveTo>
                <a:lnTo>
                  <a:pt x="52578" y="0"/>
                </a:lnTo>
                <a:moveTo>
                  <a:pt x="0" y="43751"/>
                </a:moveTo>
                <a:lnTo>
                  <a:pt x="52578" y="72644"/>
                </a:lnTo>
              </a:path>
            </a:pathLst>
          </a:custGeom>
          <a:noFill/>
          <a:ln w="1270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icon-share"/>
          <p:cNvSpPr/>
          <p:nvPr/>
        </p:nvSpPr>
        <p:spPr>
          <a:xfrm>
            <a:off x="1248092" y="4326361"/>
            <a:ext cx="34078" cy="34078"/>
          </a:xfrm>
          <a:prstGeom prst="ellipse">
            <a:avLst/>
          </a:prstGeom>
          <a:noFill/>
          <a:ln w="1270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icon-share"/>
          <p:cNvSpPr/>
          <p:nvPr/>
        </p:nvSpPr>
        <p:spPr>
          <a:xfrm>
            <a:off x="1331066" y="4283392"/>
            <a:ext cx="34078" cy="34078"/>
          </a:xfrm>
          <a:prstGeom prst="ellipse">
            <a:avLst/>
          </a:prstGeom>
          <a:noFill/>
          <a:ln w="1270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icon-share"/>
          <p:cNvSpPr/>
          <p:nvPr/>
        </p:nvSpPr>
        <p:spPr>
          <a:xfrm>
            <a:off x="1331066" y="4369329"/>
            <a:ext cx="34078" cy="34078"/>
          </a:xfrm>
          <a:prstGeom prst="ellipse">
            <a:avLst/>
          </a:prstGeom>
          <a:noFill/>
          <a:ln w="1270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srcn-4"/>
          <p:cNvSpPr txBox="1"/>
          <p:nvPr/>
        </p:nvSpPr>
        <p:spPr>
          <a:xfrm>
            <a:off x="1571498" y="41279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渠道伙伴</a:t>
            </a:r>
          </a:p>
        </p:txBody>
      </p:sp>
      <p:sp>
        <p:nvSpPr>
          <p:cNvPr id="44" name="srcp-4"/>
          <p:cNvSpPr txBox="1"/>
          <p:nvPr/>
        </p:nvSpPr>
        <p:spPr>
          <a:xfrm>
            <a:off x="1576070" y="4390866"/>
            <a:ext cx="5048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占比 17%</a:t>
            </a:r>
          </a:p>
        </p:txBody>
      </p:sp>
      <p:sp>
        <p:nvSpPr>
          <p:cNvPr id="45" name="srcv-4"/>
          <p:cNvSpPr txBox="1"/>
          <p:nvPr/>
        </p:nvSpPr>
        <p:spPr>
          <a:xfrm>
            <a:off x="2514981" y="4205986"/>
            <a:ext cx="398907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 spc="15">
                <a:solidFill>
                  <a:srgbClr val="3985CD"/>
                </a:solidFill>
                <a:latin typeface="Arial"/>
                <a:ea typeface="Arial"/>
                <a:cs typeface="Arial"/>
              </a:rPr>
              <a:t>640</a:t>
            </a:r>
          </a:p>
        </p:txBody>
      </p:sp>
      <p:sp>
        <p:nvSpPr>
          <p:cNvPr id="46" name="src-5"/>
          <p:cNvSpPr/>
          <p:nvPr/>
        </p:nvSpPr>
        <p:spPr>
          <a:xfrm>
            <a:off x="952500" y="4889500"/>
            <a:ext cx="2095500" cy="635000"/>
          </a:xfrm>
          <a:custGeom>
            <a:avLst/>
            <a:gdLst/>
            <a:ahLst/>
            <a:cxnLst/>
            <a:rect l="0" t="0" r="r" b="b"/>
            <a:pathLst>
              <a:path w="2095500" h="635000">
                <a:moveTo>
                  <a:pt x="114300" y="0"/>
                </a:moveTo>
                <a:lnTo>
                  <a:pt x="1981200" y="0"/>
                </a:lnTo>
                <a:cubicBezTo>
                  <a:pt x="2044319" y="0"/>
                  <a:pt x="2095500" y="51181"/>
                  <a:pt x="2095500" y="114300"/>
                </a:cubicBezTo>
                <a:lnTo>
                  <a:pt x="2095500" y="520700"/>
                </a:lnTo>
                <a:cubicBezTo>
                  <a:pt x="2095500" y="583819"/>
                  <a:pt x="2044319" y="635000"/>
                  <a:pt x="1981200" y="635000"/>
                </a:cubicBezTo>
                <a:lnTo>
                  <a:pt x="114300" y="635000"/>
                </a:lnTo>
                <a:cubicBezTo>
                  <a:pt x="51181" y="635000"/>
                  <a:pt x="0" y="583819"/>
                  <a:pt x="0" y="520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srcb-5"/>
          <p:cNvSpPr/>
          <p:nvPr/>
        </p:nvSpPr>
        <p:spPr>
          <a:xfrm>
            <a:off x="952500" y="4889500"/>
            <a:ext cx="38100" cy="635000"/>
          </a:xfrm>
          <a:custGeom>
            <a:avLst/>
            <a:gdLst/>
            <a:ahLst/>
            <a:cxnLst/>
            <a:rect l="0" t="0" r="r" b="b"/>
            <a:pathLst>
              <a:path w="38100" h="635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15950"/>
                </a:lnTo>
                <a:cubicBezTo>
                  <a:pt x="38100" y="626491"/>
                  <a:pt x="29591" y="635000"/>
                  <a:pt x="19050" y="635000"/>
                </a:cubicBezTo>
                <a:lnTo>
                  <a:pt x="19050" y="635000"/>
                </a:lnTo>
                <a:cubicBezTo>
                  <a:pt x="8509" y="635000"/>
                  <a:pt x="0" y="626491"/>
                  <a:pt x="0" y="615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srci-bg-5"/>
          <p:cNvSpPr/>
          <p:nvPr/>
        </p:nvSpPr>
        <p:spPr>
          <a:xfrm>
            <a:off x="1130300" y="5029200"/>
            <a:ext cx="355600" cy="355600"/>
          </a:xfrm>
          <a:prstGeom prst="ellipse">
            <a:avLst/>
          </a:prstGeom>
          <a:solidFill>
            <a:srgbClr val="54A2D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icon-people"/>
          <p:cNvSpPr/>
          <p:nvPr/>
        </p:nvSpPr>
        <p:spPr>
          <a:xfrm>
            <a:off x="1245870" y="5226240"/>
            <a:ext cx="125921" cy="35560"/>
          </a:xfrm>
          <a:custGeom>
            <a:avLst/>
            <a:gdLst/>
            <a:ahLst/>
            <a:cxnLst/>
            <a:rect l="0" t="0" r="r" b="b"/>
            <a:pathLst>
              <a:path w="125921" h="35560">
                <a:moveTo>
                  <a:pt x="0" y="35560"/>
                </a:moveTo>
                <a:cubicBezTo>
                  <a:pt x="0" y="13335"/>
                  <a:pt x="18542" y="0"/>
                  <a:pt x="40005" y="0"/>
                </a:cubicBezTo>
                <a:cubicBezTo>
                  <a:pt x="61468" y="0"/>
                  <a:pt x="80010" y="13335"/>
                  <a:pt x="80010" y="35560"/>
                </a:cubicBezTo>
                <a:moveTo>
                  <a:pt x="94806" y="2985"/>
                </a:moveTo>
                <a:cubicBezTo>
                  <a:pt x="114110" y="5207"/>
                  <a:pt x="125921" y="18542"/>
                  <a:pt x="125921" y="35560"/>
                </a:cubicBezTo>
              </a:path>
            </a:pathLst>
          </a:custGeom>
          <a:noFill/>
          <a:ln w="1270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icon-people"/>
          <p:cNvSpPr/>
          <p:nvPr/>
        </p:nvSpPr>
        <p:spPr>
          <a:xfrm>
            <a:off x="1262168" y="5162550"/>
            <a:ext cx="47413" cy="47413"/>
          </a:xfrm>
          <a:prstGeom prst="ellipse">
            <a:avLst/>
          </a:prstGeom>
          <a:noFill/>
          <a:ln w="1270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icon-people"/>
          <p:cNvSpPr/>
          <p:nvPr/>
        </p:nvSpPr>
        <p:spPr>
          <a:xfrm>
            <a:off x="1325880" y="5162550"/>
            <a:ext cx="38523" cy="38523"/>
          </a:xfrm>
          <a:prstGeom prst="ellipse">
            <a:avLst/>
          </a:prstGeom>
          <a:noFill/>
          <a:ln w="1270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srcn-5"/>
          <p:cNvSpPr txBox="1"/>
          <p:nvPr/>
        </p:nvSpPr>
        <p:spPr>
          <a:xfrm>
            <a:off x="1571498" y="4991513"/>
            <a:ext cx="834390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老客户推荐</a:t>
            </a:r>
          </a:p>
        </p:txBody>
      </p:sp>
      <p:sp>
        <p:nvSpPr>
          <p:cNvPr id="53" name="srcp-5"/>
          <p:cNvSpPr txBox="1"/>
          <p:nvPr/>
        </p:nvSpPr>
        <p:spPr>
          <a:xfrm>
            <a:off x="1576070" y="5254466"/>
            <a:ext cx="5048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占比 12%</a:t>
            </a:r>
          </a:p>
        </p:txBody>
      </p:sp>
      <p:sp>
        <p:nvSpPr>
          <p:cNvPr id="54" name="srcv-5"/>
          <p:cNvSpPr txBox="1"/>
          <p:nvPr/>
        </p:nvSpPr>
        <p:spPr>
          <a:xfrm>
            <a:off x="2514981" y="5069586"/>
            <a:ext cx="398907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 spc="15">
                <a:solidFill>
                  <a:srgbClr val="54A2DF"/>
                </a:solidFill>
                <a:latin typeface="Arial"/>
                <a:ea typeface="Arial"/>
                <a:cs typeface="Arial"/>
              </a:rPr>
              <a:t>460</a:t>
            </a:r>
          </a:p>
        </p:txBody>
      </p:sp>
      <p:sp>
        <p:nvSpPr>
          <p:cNvPr id="55" name="hub-halo"/>
          <p:cNvSpPr/>
          <p:nvPr/>
        </p:nvSpPr>
        <p:spPr>
          <a:xfrm>
            <a:off x="5181600" y="2311400"/>
            <a:ext cx="2336800" cy="2336800"/>
          </a:xfrm>
          <a:prstGeom prst="ellipse">
            <a:avLst/>
          </a:prstGeom>
          <a:solidFill>
            <a:srgbClr val="DCE7F6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hub"/>
          <p:cNvSpPr/>
          <p:nvPr/>
        </p:nvSpPr>
        <p:spPr>
          <a:xfrm>
            <a:off x="5397500" y="2527300"/>
            <a:ext cx="1905000" cy="1905000"/>
          </a:xfrm>
          <a:prstGeom prst="ellipse">
            <a:avLst/>
          </a:pr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 w="31750" cap="rnd">
            <a:solidFill>
              <a:srgbClr val="FFFFFF"/>
            </a:solidFill>
            <a:round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hub-in"/>
          <p:cNvSpPr/>
          <p:nvPr/>
        </p:nvSpPr>
        <p:spPr>
          <a:xfrm>
            <a:off x="5537200" y="2667000"/>
            <a:ext cx="1625600" cy="1625600"/>
          </a:xfrm>
          <a:prstGeom prst="ellipse">
            <a:avLst/>
          </a:prstGeom>
          <a:noFill/>
          <a:ln w="8890" cap="rnd">
            <a:solidFill>
              <a:srgbClr val="FFFFFF">
                <a:alpha val="25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icon-db"/>
          <p:cNvSpPr/>
          <p:nvPr/>
        </p:nvSpPr>
        <p:spPr>
          <a:xfrm>
            <a:off x="6283452" y="2954338"/>
            <a:ext cx="133096" cy="161925"/>
          </a:xfrm>
          <a:custGeom>
            <a:avLst/>
            <a:gdLst/>
            <a:ahLst/>
            <a:cxnLst/>
            <a:rect l="0" t="0" r="r" b="b"/>
            <a:pathLst>
              <a:path w="133096" h="161925">
                <a:moveTo>
                  <a:pt x="66548" y="39561"/>
                </a:moveTo>
                <a:cubicBezTo>
                  <a:pt x="103441" y="39561"/>
                  <a:pt x="133096" y="30607"/>
                  <a:pt x="133096" y="19812"/>
                </a:cubicBezTo>
                <a:cubicBezTo>
                  <a:pt x="133096" y="9017"/>
                  <a:pt x="103441" y="0"/>
                  <a:pt x="66548" y="0"/>
                </a:cubicBezTo>
                <a:cubicBezTo>
                  <a:pt x="29655" y="0"/>
                  <a:pt x="0" y="9017"/>
                  <a:pt x="0" y="19812"/>
                </a:cubicBezTo>
                <a:cubicBezTo>
                  <a:pt x="0" y="30607"/>
                  <a:pt x="29655" y="39561"/>
                  <a:pt x="66548" y="39561"/>
                </a:cubicBezTo>
                <a:close/>
                <a:moveTo>
                  <a:pt x="0" y="19812"/>
                </a:moveTo>
                <a:lnTo>
                  <a:pt x="0" y="142113"/>
                </a:lnTo>
                <a:cubicBezTo>
                  <a:pt x="0" y="152908"/>
                  <a:pt x="29655" y="161925"/>
                  <a:pt x="66548" y="161925"/>
                </a:cubicBezTo>
                <a:cubicBezTo>
                  <a:pt x="103441" y="161925"/>
                  <a:pt x="133096" y="152908"/>
                  <a:pt x="133096" y="142113"/>
                </a:cubicBezTo>
                <a:lnTo>
                  <a:pt x="133096" y="19812"/>
                </a:lnTo>
                <a:moveTo>
                  <a:pt x="0" y="80962"/>
                </a:moveTo>
                <a:cubicBezTo>
                  <a:pt x="0" y="91757"/>
                  <a:pt x="29655" y="100775"/>
                  <a:pt x="66548" y="100775"/>
                </a:cubicBezTo>
                <a:cubicBezTo>
                  <a:pt x="103441" y="100775"/>
                  <a:pt x="133096" y="91757"/>
                  <a:pt x="133096" y="80962"/>
                </a:cubicBez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hub-t"/>
          <p:cNvSpPr txBox="1"/>
          <p:nvPr/>
        </p:nvSpPr>
        <p:spPr>
          <a:xfrm>
            <a:off x="5852795" y="3202686"/>
            <a:ext cx="99441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统一线索池</a:t>
            </a:r>
          </a:p>
        </p:txBody>
      </p:sp>
      <p:sp>
        <p:nvSpPr>
          <p:cNvPr id="60" name="hub-v"/>
          <p:cNvSpPr txBox="1"/>
          <p:nvPr/>
        </p:nvSpPr>
        <p:spPr>
          <a:xfrm>
            <a:off x="5872162" y="3407410"/>
            <a:ext cx="955675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00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3,860</a:t>
            </a:r>
          </a:p>
        </p:txBody>
      </p:sp>
      <p:sp>
        <p:nvSpPr>
          <p:cNvPr id="61" name="hub-u"/>
          <p:cNvSpPr txBox="1"/>
          <p:nvPr/>
        </p:nvSpPr>
        <p:spPr>
          <a:xfrm>
            <a:off x="5902738" y="3810587"/>
            <a:ext cx="89452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0" spc="3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条 / 月 · 去重前</a:t>
            </a:r>
          </a:p>
        </p:txBody>
      </p:sp>
      <p:sp>
        <p:nvSpPr>
          <p:cNvPr id="62" name="step-1"/>
          <p:cNvSpPr/>
          <p:nvPr/>
        </p:nvSpPr>
        <p:spPr>
          <a:xfrm>
            <a:off x="5765800" y="4051300"/>
            <a:ext cx="355600" cy="165100"/>
          </a:xfrm>
          <a:custGeom>
            <a:avLst/>
            <a:gdLst/>
            <a:ahLst/>
            <a:cxnLst/>
            <a:rect l="0" t="0" r="r" b="b"/>
            <a:pathLst>
              <a:path w="355600" h="165100">
                <a:moveTo>
                  <a:pt x="82550" y="0"/>
                </a:moveTo>
                <a:lnTo>
                  <a:pt x="273050" y="0"/>
                </a:lnTo>
                <a:cubicBezTo>
                  <a:pt x="318643" y="0"/>
                  <a:pt x="355600" y="36957"/>
                  <a:pt x="355600" y="82550"/>
                </a:cubicBezTo>
                <a:lnTo>
                  <a:pt x="355600" y="82550"/>
                </a:lnTo>
                <a:cubicBezTo>
                  <a:pt x="355600" y="128143"/>
                  <a:pt x="318643" y="165100"/>
                  <a:pt x="273050" y="165100"/>
                </a:cubicBezTo>
                <a:lnTo>
                  <a:pt x="82550" y="165100"/>
                </a:lnTo>
                <a:cubicBezTo>
                  <a:pt x="36957" y="165100"/>
                  <a:pt x="0" y="128143"/>
                  <a:pt x="0" y="825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FFFFF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stept-1"/>
          <p:cNvSpPr txBox="1"/>
          <p:nvPr/>
        </p:nvSpPr>
        <p:spPr>
          <a:xfrm>
            <a:off x="5808345" y="4055808"/>
            <a:ext cx="2705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去重</a:t>
            </a:r>
          </a:p>
        </p:txBody>
      </p:sp>
      <p:sp>
        <p:nvSpPr>
          <p:cNvPr id="64" name="step-2"/>
          <p:cNvSpPr/>
          <p:nvPr/>
        </p:nvSpPr>
        <p:spPr>
          <a:xfrm>
            <a:off x="6172200" y="4051300"/>
            <a:ext cx="355600" cy="165100"/>
          </a:xfrm>
          <a:custGeom>
            <a:avLst/>
            <a:gdLst/>
            <a:ahLst/>
            <a:cxnLst/>
            <a:rect l="0" t="0" r="r" b="b"/>
            <a:pathLst>
              <a:path w="355600" h="165100">
                <a:moveTo>
                  <a:pt x="82550" y="0"/>
                </a:moveTo>
                <a:lnTo>
                  <a:pt x="273050" y="0"/>
                </a:lnTo>
                <a:cubicBezTo>
                  <a:pt x="318643" y="0"/>
                  <a:pt x="355600" y="36957"/>
                  <a:pt x="355600" y="82550"/>
                </a:cubicBezTo>
                <a:lnTo>
                  <a:pt x="355600" y="82550"/>
                </a:lnTo>
                <a:cubicBezTo>
                  <a:pt x="355600" y="128143"/>
                  <a:pt x="318643" y="165100"/>
                  <a:pt x="273050" y="165100"/>
                </a:cubicBezTo>
                <a:lnTo>
                  <a:pt x="82550" y="165100"/>
                </a:lnTo>
                <a:cubicBezTo>
                  <a:pt x="36957" y="165100"/>
                  <a:pt x="0" y="128143"/>
                  <a:pt x="0" y="825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FFFFF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stept-2"/>
          <p:cNvSpPr txBox="1"/>
          <p:nvPr/>
        </p:nvSpPr>
        <p:spPr>
          <a:xfrm>
            <a:off x="6214745" y="4055808"/>
            <a:ext cx="2705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打分</a:t>
            </a:r>
          </a:p>
        </p:txBody>
      </p:sp>
      <p:sp>
        <p:nvSpPr>
          <p:cNvPr id="66" name="step-3"/>
          <p:cNvSpPr/>
          <p:nvPr/>
        </p:nvSpPr>
        <p:spPr>
          <a:xfrm>
            <a:off x="6578600" y="4051300"/>
            <a:ext cx="355600" cy="165100"/>
          </a:xfrm>
          <a:custGeom>
            <a:avLst/>
            <a:gdLst/>
            <a:ahLst/>
            <a:cxnLst/>
            <a:rect l="0" t="0" r="r" b="b"/>
            <a:pathLst>
              <a:path w="355600" h="165100">
                <a:moveTo>
                  <a:pt x="82550" y="0"/>
                </a:moveTo>
                <a:lnTo>
                  <a:pt x="273050" y="0"/>
                </a:lnTo>
                <a:cubicBezTo>
                  <a:pt x="318643" y="0"/>
                  <a:pt x="355600" y="36957"/>
                  <a:pt x="355600" y="82550"/>
                </a:cubicBezTo>
                <a:lnTo>
                  <a:pt x="355600" y="82550"/>
                </a:lnTo>
                <a:cubicBezTo>
                  <a:pt x="355600" y="128143"/>
                  <a:pt x="318643" y="165100"/>
                  <a:pt x="273050" y="165100"/>
                </a:cubicBezTo>
                <a:lnTo>
                  <a:pt x="82550" y="165100"/>
                </a:lnTo>
                <a:cubicBezTo>
                  <a:pt x="36957" y="165100"/>
                  <a:pt x="0" y="128143"/>
                  <a:pt x="0" y="825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FFFFF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stept-3"/>
          <p:cNvSpPr txBox="1"/>
          <p:nvPr/>
        </p:nvSpPr>
        <p:spPr>
          <a:xfrm>
            <a:off x="6621145" y="4055808"/>
            <a:ext cx="2705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分配</a:t>
            </a:r>
          </a:p>
        </p:txBody>
      </p:sp>
      <p:sp>
        <p:nvSpPr>
          <p:cNvPr id="68" name="out"/>
          <p:cNvSpPr/>
          <p:nvPr/>
        </p:nvSpPr>
        <p:spPr>
          <a:xfrm>
            <a:off x="7429500" y="3289300"/>
            <a:ext cx="911225" cy="381000"/>
          </a:xfrm>
          <a:custGeom>
            <a:avLst/>
            <a:gdLst/>
            <a:ahLst/>
            <a:cxnLst/>
            <a:rect l="0" t="0" r="r" b="b"/>
            <a:pathLst>
              <a:path w="911225" h="381000">
                <a:moveTo>
                  <a:pt x="63500" y="0"/>
                </a:moveTo>
                <a:lnTo>
                  <a:pt x="736600" y="0"/>
                </a:lnTo>
                <a:quadBezTo>
                  <a:pt x="781050" y="0"/>
                  <a:pt x="800100" y="30480"/>
                </a:quadBezTo>
                <a:lnTo>
                  <a:pt x="895350" y="168275"/>
                </a:lnTo>
                <a:quadBezTo>
                  <a:pt x="927100" y="190500"/>
                  <a:pt x="895350" y="212725"/>
                </a:quadBezTo>
                <a:lnTo>
                  <a:pt x="800100" y="350520"/>
                </a:lnTo>
                <a:quadBezTo>
                  <a:pt x="781050" y="381000"/>
                  <a:pt x="736600" y="381000"/>
                </a:quadBezTo>
                <a:lnTo>
                  <a:pt x="63500" y="381000"/>
                </a:lnTo>
                <a:cubicBezTo>
                  <a:pt x="28448" y="381000"/>
                  <a:pt x="0" y="352552"/>
                  <a:pt x="0" y="317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E0703A">
                  <a:alpha val="35000"/>
                </a:srgbClr>
              </a:gs>
              <a:gs pos="100000">
                <a:srgbClr val="E0703A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side-bar"/>
          <p:cNvSpPr/>
          <p:nvPr/>
        </p:nvSpPr>
        <p:spPr>
          <a:xfrm>
            <a:off x="8509000" y="1498600"/>
            <a:ext cx="31750" cy="4445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side-h"/>
          <p:cNvSpPr txBox="1"/>
          <p:nvPr/>
        </p:nvSpPr>
        <p:spPr>
          <a:xfrm>
            <a:off x="8667750" y="14803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汇聚之后</a:t>
            </a:r>
          </a:p>
        </p:txBody>
      </p:sp>
      <p:sp>
        <p:nvSpPr>
          <p:cNvPr id="71" name="side-p"/>
          <p:cNvSpPr txBox="1"/>
          <p:nvPr/>
        </p:nvSpPr>
        <p:spPr>
          <a:xfrm>
            <a:off x="8673465" y="17423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上线三个月的变化</a:t>
            </a:r>
          </a:p>
        </p:txBody>
      </p:sp>
      <p:sp>
        <p:nvSpPr>
          <p:cNvPr id="72" name="res-1"/>
          <p:cNvSpPr/>
          <p:nvPr/>
        </p:nvSpPr>
        <p:spPr>
          <a:xfrm>
            <a:off x="8509000" y="2095500"/>
            <a:ext cx="2730500" cy="952500"/>
          </a:xfrm>
          <a:custGeom>
            <a:avLst/>
            <a:gdLst/>
            <a:ahLst/>
            <a:cxnLst/>
            <a:rect l="0" t="0" r="r" b="b"/>
            <a:pathLst>
              <a:path w="2730500" h="952500">
                <a:moveTo>
                  <a:pt x="127000" y="0"/>
                </a:moveTo>
                <a:lnTo>
                  <a:pt x="2603500" y="0"/>
                </a:lnTo>
                <a:cubicBezTo>
                  <a:pt x="2673667" y="0"/>
                  <a:pt x="2730500" y="56832"/>
                  <a:pt x="2730500" y="127000"/>
                </a:cubicBezTo>
                <a:lnTo>
                  <a:pt x="2730500" y="825500"/>
                </a:lnTo>
                <a:cubicBezTo>
                  <a:pt x="2730500" y="895668"/>
                  <a:pt x="2673667" y="952500"/>
                  <a:pt x="2603500" y="952500"/>
                </a:cubicBezTo>
                <a:lnTo>
                  <a:pt x="127000" y="952500"/>
                </a:lnTo>
                <a:cubicBezTo>
                  <a:pt x="56833" y="952500"/>
                  <a:pt x="0" y="895668"/>
                  <a:pt x="0" y="8255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rl-1"/>
          <p:cNvSpPr txBox="1"/>
          <p:nvPr/>
        </p:nvSpPr>
        <p:spPr>
          <a:xfrm>
            <a:off x="8697722" y="2238597"/>
            <a:ext cx="100647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去重后有效线索</a:t>
            </a:r>
          </a:p>
        </p:txBody>
      </p:sp>
      <p:sp>
        <p:nvSpPr>
          <p:cNvPr id="74" name="rv-1"/>
          <p:cNvSpPr txBox="1"/>
          <p:nvPr/>
        </p:nvSpPr>
        <p:spPr>
          <a:xfrm>
            <a:off x="8678672" y="2385441"/>
            <a:ext cx="1049655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2,972</a:t>
            </a:r>
          </a:p>
        </p:txBody>
      </p:sp>
      <p:sp>
        <p:nvSpPr>
          <p:cNvPr id="75" name="ru-1"/>
          <p:cNvSpPr txBox="1"/>
          <p:nvPr/>
        </p:nvSpPr>
        <p:spPr>
          <a:xfrm>
            <a:off x="9589770" y="2612866"/>
            <a:ext cx="4489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条 / 月</a:t>
            </a:r>
          </a:p>
        </p:txBody>
      </p:sp>
      <p:sp>
        <p:nvSpPr>
          <p:cNvPr id="76" name="rd-1"/>
          <p:cNvSpPr txBox="1"/>
          <p:nvPr/>
        </p:nvSpPr>
        <p:spPr>
          <a:xfrm>
            <a:off x="8700770" y="2816066"/>
            <a:ext cx="11753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重复线索占比 23% → 4%</a:t>
            </a:r>
          </a:p>
        </p:txBody>
      </p:sp>
      <p:sp>
        <p:nvSpPr>
          <p:cNvPr id="77" name="res-2"/>
          <p:cNvSpPr/>
          <p:nvPr/>
        </p:nvSpPr>
        <p:spPr>
          <a:xfrm>
            <a:off x="8509000" y="3187700"/>
            <a:ext cx="2730500" cy="952500"/>
          </a:xfrm>
          <a:custGeom>
            <a:avLst/>
            <a:gdLst/>
            <a:ahLst/>
            <a:cxnLst/>
            <a:rect l="0" t="0" r="r" b="b"/>
            <a:pathLst>
              <a:path w="2730500" h="952500">
                <a:moveTo>
                  <a:pt x="127000" y="0"/>
                </a:moveTo>
                <a:lnTo>
                  <a:pt x="2603500" y="0"/>
                </a:lnTo>
                <a:cubicBezTo>
                  <a:pt x="2673667" y="0"/>
                  <a:pt x="2730500" y="56832"/>
                  <a:pt x="2730500" y="127000"/>
                </a:cubicBezTo>
                <a:lnTo>
                  <a:pt x="2730500" y="825500"/>
                </a:lnTo>
                <a:cubicBezTo>
                  <a:pt x="2730500" y="895667"/>
                  <a:pt x="2673667" y="952500"/>
                  <a:pt x="2603500" y="952500"/>
                </a:cubicBezTo>
                <a:lnTo>
                  <a:pt x="127000" y="952500"/>
                </a:lnTo>
                <a:cubicBezTo>
                  <a:pt x="56833" y="952500"/>
                  <a:pt x="0" y="895667"/>
                  <a:pt x="0" y="8255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rl-2"/>
          <p:cNvSpPr txBox="1"/>
          <p:nvPr/>
        </p:nvSpPr>
        <p:spPr>
          <a:xfrm>
            <a:off x="8697722" y="3330797"/>
            <a:ext cx="97548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24 小时响应率</a:t>
            </a:r>
          </a:p>
        </p:txBody>
      </p:sp>
      <p:sp>
        <p:nvSpPr>
          <p:cNvPr id="79" name="rv-2"/>
          <p:cNvSpPr txBox="1"/>
          <p:nvPr/>
        </p:nvSpPr>
        <p:spPr>
          <a:xfrm>
            <a:off x="8678672" y="3477641"/>
            <a:ext cx="730377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92%</a:t>
            </a:r>
          </a:p>
        </p:txBody>
      </p:sp>
      <p:sp>
        <p:nvSpPr>
          <p:cNvPr id="80" name="rd-2"/>
          <p:cNvSpPr txBox="1"/>
          <p:nvPr/>
        </p:nvSpPr>
        <p:spPr>
          <a:xfrm>
            <a:off x="8700770" y="3908266"/>
            <a:ext cx="12592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统一分配后，不再有人漏跟</a:t>
            </a:r>
          </a:p>
        </p:txBody>
      </p:sp>
      <p:sp>
        <p:nvSpPr>
          <p:cNvPr id="81" name="res-3"/>
          <p:cNvSpPr/>
          <p:nvPr/>
        </p:nvSpPr>
        <p:spPr>
          <a:xfrm>
            <a:off x="8509000" y="4279900"/>
            <a:ext cx="2730500" cy="952500"/>
          </a:xfrm>
          <a:custGeom>
            <a:avLst/>
            <a:gdLst/>
            <a:ahLst/>
            <a:cxnLst/>
            <a:rect l="0" t="0" r="r" b="b"/>
            <a:pathLst>
              <a:path w="2730500" h="952500">
                <a:moveTo>
                  <a:pt x="127000" y="0"/>
                </a:moveTo>
                <a:lnTo>
                  <a:pt x="2603500" y="0"/>
                </a:lnTo>
                <a:cubicBezTo>
                  <a:pt x="2673667" y="0"/>
                  <a:pt x="2730500" y="56833"/>
                  <a:pt x="2730500" y="127000"/>
                </a:cubicBezTo>
                <a:lnTo>
                  <a:pt x="2730500" y="825500"/>
                </a:lnTo>
                <a:cubicBezTo>
                  <a:pt x="2730500" y="895667"/>
                  <a:pt x="2673667" y="952500"/>
                  <a:pt x="2603500" y="952500"/>
                </a:cubicBezTo>
                <a:lnTo>
                  <a:pt x="127000" y="952500"/>
                </a:lnTo>
                <a:cubicBezTo>
                  <a:pt x="56833" y="952500"/>
                  <a:pt x="0" y="895667"/>
                  <a:pt x="0" y="8255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rl-3"/>
          <p:cNvSpPr txBox="1"/>
          <p:nvPr/>
        </p:nvSpPr>
        <p:spPr>
          <a:xfrm>
            <a:off x="8697722" y="4422997"/>
            <a:ext cx="84721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线索 → 商机</a:t>
            </a:r>
          </a:p>
        </p:txBody>
      </p:sp>
      <p:sp>
        <p:nvSpPr>
          <p:cNvPr id="83" name="rv-3"/>
          <p:cNvSpPr txBox="1"/>
          <p:nvPr/>
        </p:nvSpPr>
        <p:spPr>
          <a:xfrm>
            <a:off x="8678672" y="4569841"/>
            <a:ext cx="730377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18%</a:t>
            </a:r>
          </a:p>
        </p:txBody>
      </p:sp>
      <p:sp>
        <p:nvSpPr>
          <p:cNvPr id="84" name="rd-3"/>
          <p:cNvSpPr txBox="1"/>
          <p:nvPr/>
        </p:nvSpPr>
        <p:spPr>
          <a:xfrm>
            <a:off x="8700770" y="5000466"/>
            <a:ext cx="11334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打分 A 级线索优先跟进</a:t>
            </a:r>
          </a:p>
        </p:txBody>
      </p:sp>
      <p:sp>
        <p:nvSpPr>
          <p:cNvPr id="85" name="sum"/>
          <p:cNvSpPr/>
          <p:nvPr/>
        </p:nvSpPr>
        <p:spPr>
          <a:xfrm>
            <a:off x="952500" y="5753100"/>
            <a:ext cx="10287000" cy="444500"/>
          </a:xfrm>
          <a:custGeom>
            <a:avLst/>
            <a:gdLst/>
            <a:ahLst/>
            <a:cxnLst/>
            <a:rect l="0" t="0" r="r" b="b"/>
            <a:pathLst>
              <a:path w="10287000" h="4445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55600"/>
                </a:lnTo>
                <a:cubicBezTo>
                  <a:pt x="10287000" y="404686"/>
                  <a:pt x="10247186" y="444500"/>
                  <a:pt x="10198100" y="444500"/>
                </a:cubicBezTo>
                <a:lnTo>
                  <a:pt x="88900" y="444500"/>
                </a:lnTo>
                <a:cubicBezTo>
                  <a:pt x="39815" y="444500"/>
                  <a:pt x="0" y="404686"/>
                  <a:pt x="0" y="3556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sum-bar"/>
          <p:cNvSpPr/>
          <p:nvPr/>
        </p:nvSpPr>
        <p:spPr>
          <a:xfrm>
            <a:off x="952500" y="5753100"/>
            <a:ext cx="31750" cy="4445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sum-h"/>
          <p:cNvSpPr txBox="1"/>
          <p:nvPr/>
        </p:nvSpPr>
        <p:spPr>
          <a:xfrm>
            <a:off x="1142746" y="58991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关键动作</a:t>
            </a:r>
          </a:p>
        </p:txBody>
      </p:sp>
      <p:sp>
        <p:nvSpPr>
          <p:cNvPr id="88" name="sum-p"/>
          <p:cNvSpPr txBox="1"/>
          <p:nvPr/>
        </p:nvSpPr>
        <p:spPr>
          <a:xfrm>
            <a:off x="1891665" y="5895261"/>
            <a:ext cx="476027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五个入口统一字段、统一编号，同一客户多渠道进入时自动合并，渠道贡献按首次触达计算。</a:t>
            </a:r>
          </a:p>
        </p:txBody>
      </p:sp>
      <p:cxnSp>
        <p:nvCxnSpPr>
          <p:cNvPr id="89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0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多源汇聚 · 五个渠道</a:t>
            </a:r>
          </a:p>
        </p:txBody>
      </p:sp>
      <p:sp>
        <p:nvSpPr>
          <p:cNvPr id="91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产品螺旋式迭代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2637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SPIRAL GROWTH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351899" y="673132"/>
            <a:ext cx="22688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每一圈都回到用户，再带着更高的能力出发</a:t>
            </a:r>
          </a:p>
        </p:txBody>
      </p:sp>
      <p:sp>
        <p:nvSpPr>
          <p:cNvPr id="10" name="trend"/>
          <p:cNvSpPr/>
          <p:nvPr/>
        </p:nvSpPr>
        <p:spPr>
          <a:xfrm>
            <a:off x="1397000" y="2095500"/>
            <a:ext cx="8540750" cy="3302000"/>
          </a:xfrm>
          <a:custGeom>
            <a:avLst/>
            <a:gdLst/>
            <a:ahLst/>
            <a:cxnLst/>
            <a:rect l="0" t="0" r="r" b="b"/>
            <a:pathLst>
              <a:path w="8540750" h="3302000">
                <a:moveTo>
                  <a:pt x="0" y="3302000"/>
                </a:moveTo>
                <a:lnTo>
                  <a:pt x="8540750" y="0"/>
                </a:lnTo>
              </a:path>
            </a:pathLst>
          </a:custGeom>
          <a:noFill/>
          <a:ln w="165100" cap="rnd">
            <a:solidFill>
              <a:srgbClr val="1B5AA8">
                <a:alpha val="12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loop-1"/>
          <p:cNvSpPr/>
          <p:nvPr/>
        </p:nvSpPr>
        <p:spPr>
          <a:xfrm>
            <a:off x="1978096" y="4262613"/>
            <a:ext cx="1971373" cy="776747"/>
          </a:xfrm>
          <a:custGeom>
            <a:avLst/>
            <a:gdLst/>
            <a:ahLst/>
            <a:cxnLst/>
            <a:rect l="0" t="0" r="r" b="b"/>
            <a:pathLst>
              <a:path w="1971373" h="776747">
                <a:moveTo>
                  <a:pt x="180904" y="776747"/>
                </a:moveTo>
                <a:cubicBezTo>
                  <a:pt x="169919" y="771222"/>
                  <a:pt x="135692" y="757062"/>
                  <a:pt x="115182" y="743663"/>
                </a:cubicBezTo>
                <a:cubicBezTo>
                  <a:pt x="94608" y="730265"/>
                  <a:pt x="74034" y="714326"/>
                  <a:pt x="57587" y="696419"/>
                </a:cubicBezTo>
                <a:cubicBezTo>
                  <a:pt x="41204" y="678512"/>
                  <a:pt x="26345" y="658129"/>
                  <a:pt x="16757" y="636285"/>
                </a:cubicBezTo>
                <a:cubicBezTo>
                  <a:pt x="7168" y="614504"/>
                  <a:pt x="628" y="590438"/>
                  <a:pt x="56" y="565546"/>
                </a:cubicBezTo>
                <a:cubicBezTo>
                  <a:pt x="-515" y="540717"/>
                  <a:pt x="3231" y="513984"/>
                  <a:pt x="13264" y="487187"/>
                </a:cubicBezTo>
                <a:cubicBezTo>
                  <a:pt x="23297" y="460326"/>
                  <a:pt x="38728" y="432196"/>
                  <a:pt x="60254" y="404637"/>
                </a:cubicBezTo>
                <a:cubicBezTo>
                  <a:pt x="81781" y="377078"/>
                  <a:pt x="109340" y="348820"/>
                  <a:pt x="142487" y="321769"/>
                </a:cubicBezTo>
                <a:cubicBezTo>
                  <a:pt x="175634" y="294718"/>
                  <a:pt x="215067" y="267667"/>
                  <a:pt x="259136" y="242394"/>
                </a:cubicBezTo>
                <a:cubicBezTo>
                  <a:pt x="303205" y="217121"/>
                  <a:pt x="353370" y="192483"/>
                  <a:pt x="406901" y="170131"/>
                </a:cubicBezTo>
                <a:cubicBezTo>
                  <a:pt x="460431" y="147779"/>
                  <a:pt x="519486" y="126761"/>
                  <a:pt x="580446" y="108282"/>
                </a:cubicBezTo>
                <a:cubicBezTo>
                  <a:pt x="641343" y="89740"/>
                  <a:pt x="706811" y="73103"/>
                  <a:pt x="772534" y="59197"/>
                </a:cubicBezTo>
                <a:cubicBezTo>
                  <a:pt x="838193" y="45227"/>
                  <a:pt x="907154" y="33543"/>
                  <a:pt x="974654" y="24526"/>
                </a:cubicBezTo>
                <a:cubicBezTo>
                  <a:pt x="1042155" y="15509"/>
                  <a:pt x="1111370" y="9032"/>
                  <a:pt x="1177600" y="4968"/>
                </a:cubicBezTo>
                <a:cubicBezTo>
                  <a:pt x="1243831" y="904"/>
                  <a:pt x="1310125" y="-493"/>
                  <a:pt x="1372037" y="142"/>
                </a:cubicBezTo>
                <a:cubicBezTo>
                  <a:pt x="1433950" y="713"/>
                  <a:pt x="1494275" y="3888"/>
                  <a:pt x="1549139" y="8587"/>
                </a:cubicBezTo>
                <a:cubicBezTo>
                  <a:pt x="1604003" y="13223"/>
                  <a:pt x="1655692" y="20208"/>
                  <a:pt x="1701158" y="28018"/>
                </a:cubicBezTo>
                <a:cubicBezTo>
                  <a:pt x="1746687" y="35829"/>
                  <a:pt x="1787645" y="45608"/>
                  <a:pt x="1822125" y="55450"/>
                </a:cubicBezTo>
                <a:cubicBezTo>
                  <a:pt x="1856606" y="65293"/>
                  <a:pt x="1885562" y="76532"/>
                  <a:pt x="1908104" y="87137"/>
                </a:cubicBezTo>
                <a:cubicBezTo>
                  <a:pt x="1930647" y="97741"/>
                  <a:pt x="1946966" y="109108"/>
                  <a:pt x="1957507" y="119204"/>
                </a:cubicBezTo>
                <a:cubicBezTo>
                  <a:pt x="1968048" y="129237"/>
                  <a:pt x="1972049" y="139334"/>
                  <a:pt x="1971287" y="147589"/>
                </a:cubicBezTo>
                <a:cubicBezTo>
                  <a:pt x="1970461" y="155780"/>
                  <a:pt x="1963349" y="163337"/>
                  <a:pt x="1952745" y="168544"/>
                </a:cubicBezTo>
                <a:cubicBezTo>
                  <a:pt x="1942140" y="173751"/>
                  <a:pt x="1925821" y="177561"/>
                  <a:pt x="1907596" y="178767"/>
                </a:cubicBezTo>
                <a:cubicBezTo>
                  <a:pt x="1889308" y="179974"/>
                  <a:pt x="1866385" y="179275"/>
                  <a:pt x="1843207" y="175719"/>
                </a:cubicBezTo>
                <a:cubicBezTo>
                  <a:pt x="1819966" y="172227"/>
                  <a:pt x="1780850" y="160733"/>
                  <a:pt x="1768404" y="157749"/>
                </a:cubicBezTo>
              </a:path>
            </a:pathLst>
          </a:custGeom>
          <a:noFill/>
          <a:ln w="635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loop-2"/>
          <p:cNvSpPr/>
          <p:nvPr/>
        </p:nvSpPr>
        <p:spPr>
          <a:xfrm>
            <a:off x="3531878" y="3613297"/>
            <a:ext cx="2038814" cy="807065"/>
          </a:xfrm>
          <a:custGeom>
            <a:avLst/>
            <a:gdLst/>
            <a:ahLst/>
            <a:cxnLst/>
            <a:rect l="0" t="0" r="r" b="b"/>
            <a:pathLst>
              <a:path w="2038814" h="807065">
                <a:moveTo>
                  <a:pt x="214622" y="807065"/>
                </a:moveTo>
                <a:cubicBezTo>
                  <a:pt x="202049" y="801477"/>
                  <a:pt x="162743" y="787190"/>
                  <a:pt x="138994" y="773410"/>
                </a:cubicBezTo>
                <a:cubicBezTo>
                  <a:pt x="115308" y="759694"/>
                  <a:pt x="91496" y="743184"/>
                  <a:pt x="72255" y="724579"/>
                </a:cubicBezTo>
                <a:cubicBezTo>
                  <a:pt x="53015" y="705973"/>
                  <a:pt x="35489" y="684701"/>
                  <a:pt x="23551" y="661904"/>
                </a:cubicBezTo>
                <a:cubicBezTo>
                  <a:pt x="11613" y="639171"/>
                  <a:pt x="2977" y="613962"/>
                  <a:pt x="754" y="587863"/>
                </a:cubicBezTo>
                <a:cubicBezTo>
                  <a:pt x="-1468" y="561828"/>
                  <a:pt x="1008" y="533761"/>
                  <a:pt x="10216" y="505631"/>
                </a:cubicBezTo>
                <a:cubicBezTo>
                  <a:pt x="19360" y="477500"/>
                  <a:pt x="34346" y="447909"/>
                  <a:pt x="55872" y="418953"/>
                </a:cubicBezTo>
                <a:cubicBezTo>
                  <a:pt x="77399" y="389997"/>
                  <a:pt x="105402" y="360279"/>
                  <a:pt x="139438" y="331895"/>
                </a:cubicBezTo>
                <a:cubicBezTo>
                  <a:pt x="173411" y="303574"/>
                  <a:pt x="214114" y="275126"/>
                  <a:pt x="259834" y="248710"/>
                </a:cubicBezTo>
                <a:cubicBezTo>
                  <a:pt x="305554" y="222230"/>
                  <a:pt x="357815" y="196513"/>
                  <a:pt x="413695" y="173145"/>
                </a:cubicBezTo>
                <a:cubicBezTo>
                  <a:pt x="469575" y="149840"/>
                  <a:pt x="531297" y="127869"/>
                  <a:pt x="595114" y="108692"/>
                </a:cubicBezTo>
                <a:cubicBezTo>
                  <a:pt x="658868" y="89515"/>
                  <a:pt x="727512" y="72370"/>
                  <a:pt x="796346" y="58019"/>
                </a:cubicBezTo>
                <a:cubicBezTo>
                  <a:pt x="865243" y="43732"/>
                  <a:pt x="937570" y="31857"/>
                  <a:pt x="1008372" y="22840"/>
                </a:cubicBezTo>
                <a:cubicBezTo>
                  <a:pt x="1079175" y="13823"/>
                  <a:pt x="1151819" y="7537"/>
                  <a:pt x="1221224" y="3854"/>
                </a:cubicBezTo>
                <a:cubicBezTo>
                  <a:pt x="1290630" y="107"/>
                  <a:pt x="1360035" y="-718"/>
                  <a:pt x="1424805" y="552"/>
                </a:cubicBezTo>
                <a:cubicBezTo>
                  <a:pt x="1489575" y="1885"/>
                  <a:pt x="1552631" y="5949"/>
                  <a:pt x="1609781" y="11601"/>
                </a:cubicBezTo>
                <a:cubicBezTo>
                  <a:pt x="1666994" y="17189"/>
                  <a:pt x="1720715" y="25317"/>
                  <a:pt x="1767896" y="34334"/>
                </a:cubicBezTo>
                <a:cubicBezTo>
                  <a:pt x="1815013" y="43351"/>
                  <a:pt x="1857304" y="54463"/>
                  <a:pt x="1892673" y="65639"/>
                </a:cubicBezTo>
                <a:cubicBezTo>
                  <a:pt x="1927979" y="76815"/>
                  <a:pt x="1957380" y="89452"/>
                  <a:pt x="1979922" y="101453"/>
                </a:cubicBezTo>
                <a:cubicBezTo>
                  <a:pt x="2002465" y="113455"/>
                  <a:pt x="2018340" y="126218"/>
                  <a:pt x="2027992" y="137648"/>
                </a:cubicBezTo>
                <a:cubicBezTo>
                  <a:pt x="2037707" y="149015"/>
                  <a:pt x="2040438" y="160445"/>
                  <a:pt x="2037961" y="169906"/>
                </a:cubicBezTo>
                <a:cubicBezTo>
                  <a:pt x="2035548" y="179304"/>
                  <a:pt x="2026341" y="188004"/>
                  <a:pt x="2013387" y="194163"/>
                </a:cubicBezTo>
                <a:cubicBezTo>
                  <a:pt x="2000496" y="200323"/>
                  <a:pt x="1981446" y="205085"/>
                  <a:pt x="1960364" y="206927"/>
                </a:cubicBezTo>
                <a:cubicBezTo>
                  <a:pt x="1939219" y="208832"/>
                  <a:pt x="1913120" y="208641"/>
                  <a:pt x="1886768" y="205530"/>
                </a:cubicBezTo>
                <a:cubicBezTo>
                  <a:pt x="1860415" y="202355"/>
                  <a:pt x="1816219" y="190988"/>
                  <a:pt x="1802122" y="188067"/>
                </a:cubicBezTo>
              </a:path>
            </a:pathLst>
          </a:custGeom>
          <a:noFill/>
          <a:ln w="6350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loop-3"/>
          <p:cNvSpPr/>
          <p:nvPr/>
        </p:nvSpPr>
        <p:spPr>
          <a:xfrm>
            <a:off x="5085048" y="2963772"/>
            <a:ext cx="2107475" cy="837592"/>
          </a:xfrm>
          <a:custGeom>
            <a:avLst/>
            <a:gdLst/>
            <a:ahLst/>
            <a:cxnLst/>
            <a:rect l="0" t="0" r="r" b="b"/>
            <a:pathLst>
              <a:path w="2107475" h="837592">
                <a:moveTo>
                  <a:pt x="248952" y="837592"/>
                </a:moveTo>
                <a:cubicBezTo>
                  <a:pt x="234728" y="831877"/>
                  <a:pt x="190405" y="817526"/>
                  <a:pt x="163481" y="803429"/>
                </a:cubicBezTo>
                <a:cubicBezTo>
                  <a:pt x="136557" y="789332"/>
                  <a:pt x="109633" y="772250"/>
                  <a:pt x="87535" y="752946"/>
                </a:cubicBezTo>
                <a:cubicBezTo>
                  <a:pt x="65437" y="733706"/>
                  <a:pt x="45180" y="711544"/>
                  <a:pt x="30956" y="687795"/>
                </a:cubicBezTo>
                <a:cubicBezTo>
                  <a:pt x="16669" y="663983"/>
                  <a:pt x="6001" y="637630"/>
                  <a:pt x="2127" y="610389"/>
                </a:cubicBezTo>
                <a:cubicBezTo>
                  <a:pt x="-1746" y="583147"/>
                  <a:pt x="-603" y="553810"/>
                  <a:pt x="7715" y="524283"/>
                </a:cubicBezTo>
                <a:cubicBezTo>
                  <a:pt x="16034" y="494819"/>
                  <a:pt x="30575" y="463831"/>
                  <a:pt x="52102" y="433478"/>
                </a:cubicBezTo>
                <a:cubicBezTo>
                  <a:pt x="73628" y="403125"/>
                  <a:pt x="102076" y="372010"/>
                  <a:pt x="136938" y="342292"/>
                </a:cubicBezTo>
                <a:cubicBezTo>
                  <a:pt x="171799" y="312574"/>
                  <a:pt x="213836" y="282856"/>
                  <a:pt x="261207" y="255233"/>
                </a:cubicBezTo>
                <a:cubicBezTo>
                  <a:pt x="308515" y="227547"/>
                  <a:pt x="362871" y="200687"/>
                  <a:pt x="421100" y="176366"/>
                </a:cubicBezTo>
                <a:cubicBezTo>
                  <a:pt x="479266" y="152046"/>
                  <a:pt x="543719" y="129249"/>
                  <a:pt x="610394" y="109374"/>
                </a:cubicBezTo>
                <a:cubicBezTo>
                  <a:pt x="677005" y="89498"/>
                  <a:pt x="748760" y="71782"/>
                  <a:pt x="820833" y="57113"/>
                </a:cubicBezTo>
                <a:cubicBezTo>
                  <a:pt x="892905" y="42445"/>
                  <a:pt x="968597" y="30380"/>
                  <a:pt x="1042702" y="21363"/>
                </a:cubicBezTo>
                <a:cubicBezTo>
                  <a:pt x="1116806" y="12346"/>
                  <a:pt x="1192816" y="6250"/>
                  <a:pt x="1265396" y="2884"/>
                </a:cubicBezTo>
                <a:cubicBezTo>
                  <a:pt x="1337977" y="-481"/>
                  <a:pt x="1410621" y="-735"/>
                  <a:pt x="1478185" y="1233"/>
                </a:cubicBezTo>
                <a:cubicBezTo>
                  <a:pt x="1545812" y="3202"/>
                  <a:pt x="1611598" y="8155"/>
                  <a:pt x="1671098" y="14759"/>
                </a:cubicBezTo>
                <a:cubicBezTo>
                  <a:pt x="1730597" y="21363"/>
                  <a:pt x="1786414" y="30697"/>
                  <a:pt x="1835245" y="40857"/>
                </a:cubicBezTo>
                <a:cubicBezTo>
                  <a:pt x="1884013" y="51081"/>
                  <a:pt x="1927574" y="63463"/>
                  <a:pt x="1963769" y="75973"/>
                </a:cubicBezTo>
                <a:cubicBezTo>
                  <a:pt x="1999964" y="88546"/>
                  <a:pt x="2029809" y="102579"/>
                  <a:pt x="2052352" y="115978"/>
                </a:cubicBezTo>
                <a:cubicBezTo>
                  <a:pt x="2074894" y="129376"/>
                  <a:pt x="2090325" y="143537"/>
                  <a:pt x="2099151" y="156300"/>
                </a:cubicBezTo>
                <a:cubicBezTo>
                  <a:pt x="2107978" y="169064"/>
                  <a:pt x="2109375" y="181764"/>
                  <a:pt x="2105311" y="192432"/>
                </a:cubicBezTo>
                <a:cubicBezTo>
                  <a:pt x="2101247" y="203036"/>
                  <a:pt x="2089944" y="212879"/>
                  <a:pt x="2074704" y="219991"/>
                </a:cubicBezTo>
                <a:cubicBezTo>
                  <a:pt x="2059400" y="227166"/>
                  <a:pt x="2037683" y="232754"/>
                  <a:pt x="2013744" y="235358"/>
                </a:cubicBezTo>
                <a:cubicBezTo>
                  <a:pt x="1989741" y="237898"/>
                  <a:pt x="1960531" y="238279"/>
                  <a:pt x="1930940" y="235485"/>
                </a:cubicBezTo>
                <a:cubicBezTo>
                  <a:pt x="1901412" y="232691"/>
                  <a:pt x="1852200" y="221388"/>
                  <a:pt x="1836452" y="218594"/>
                </a:cubicBezTo>
              </a:path>
            </a:pathLst>
          </a:custGeom>
          <a:noFill/>
          <a:ln w="635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loop-4"/>
          <p:cNvSpPr/>
          <p:nvPr/>
        </p:nvSpPr>
        <p:spPr>
          <a:xfrm>
            <a:off x="6637690" y="2314075"/>
            <a:ext cx="2177159" cy="868291"/>
          </a:xfrm>
          <a:custGeom>
            <a:avLst/>
            <a:gdLst/>
            <a:ahLst/>
            <a:cxnLst/>
            <a:rect l="0" t="0" r="r" b="b"/>
            <a:pathLst>
              <a:path w="2177159" h="868291">
                <a:moveTo>
                  <a:pt x="283810" y="868291"/>
                </a:moveTo>
                <a:cubicBezTo>
                  <a:pt x="267935" y="862513"/>
                  <a:pt x="218532" y="848035"/>
                  <a:pt x="188496" y="833557"/>
                </a:cubicBezTo>
                <a:cubicBezTo>
                  <a:pt x="158397" y="819079"/>
                  <a:pt x="128298" y="801489"/>
                  <a:pt x="103343" y="781487"/>
                </a:cubicBezTo>
                <a:cubicBezTo>
                  <a:pt x="78451" y="761548"/>
                  <a:pt x="55400" y="738497"/>
                  <a:pt x="38827" y="713796"/>
                </a:cubicBezTo>
                <a:cubicBezTo>
                  <a:pt x="22253" y="689031"/>
                  <a:pt x="9490" y="661535"/>
                  <a:pt x="3965" y="633087"/>
                </a:cubicBezTo>
                <a:cubicBezTo>
                  <a:pt x="-1559" y="604639"/>
                  <a:pt x="-1686" y="573969"/>
                  <a:pt x="5807" y="543171"/>
                </a:cubicBezTo>
                <a:cubicBezTo>
                  <a:pt x="13236" y="512310"/>
                  <a:pt x="27333" y="479862"/>
                  <a:pt x="48860" y="448175"/>
                </a:cubicBezTo>
                <a:cubicBezTo>
                  <a:pt x="70386" y="416489"/>
                  <a:pt x="99279" y="383913"/>
                  <a:pt x="135029" y="352862"/>
                </a:cubicBezTo>
                <a:cubicBezTo>
                  <a:pt x="170716" y="321810"/>
                  <a:pt x="214023" y="290759"/>
                  <a:pt x="263045" y="261930"/>
                </a:cubicBezTo>
                <a:cubicBezTo>
                  <a:pt x="312067" y="233037"/>
                  <a:pt x="368455" y="205034"/>
                  <a:pt x="428971" y="179761"/>
                </a:cubicBezTo>
                <a:cubicBezTo>
                  <a:pt x="489486" y="154488"/>
                  <a:pt x="556733" y="130802"/>
                  <a:pt x="626202" y="110228"/>
                </a:cubicBezTo>
                <a:cubicBezTo>
                  <a:pt x="695671" y="89654"/>
                  <a:pt x="770601" y="71366"/>
                  <a:pt x="845848" y="56317"/>
                </a:cubicBezTo>
                <a:cubicBezTo>
                  <a:pt x="921032" y="41331"/>
                  <a:pt x="1000153" y="29075"/>
                  <a:pt x="1077560" y="20058"/>
                </a:cubicBezTo>
                <a:cubicBezTo>
                  <a:pt x="1154966" y="11041"/>
                  <a:pt x="1234341" y="5136"/>
                  <a:pt x="1310097" y="2151"/>
                </a:cubicBezTo>
                <a:cubicBezTo>
                  <a:pt x="1385852" y="-833"/>
                  <a:pt x="1461671" y="-579"/>
                  <a:pt x="1532093" y="2088"/>
                </a:cubicBezTo>
                <a:cubicBezTo>
                  <a:pt x="1602578" y="4755"/>
                  <a:pt x="1671031" y="10597"/>
                  <a:pt x="1732880" y="18153"/>
                </a:cubicBezTo>
                <a:cubicBezTo>
                  <a:pt x="1794665" y="25773"/>
                  <a:pt x="1852641" y="36187"/>
                  <a:pt x="1903060" y="47554"/>
                </a:cubicBezTo>
                <a:cubicBezTo>
                  <a:pt x="1953479" y="58984"/>
                  <a:pt x="1998437" y="72700"/>
                  <a:pt x="2035457" y="86543"/>
                </a:cubicBezTo>
                <a:cubicBezTo>
                  <a:pt x="2072478" y="100386"/>
                  <a:pt x="2102767" y="115880"/>
                  <a:pt x="2125310" y="130675"/>
                </a:cubicBezTo>
                <a:cubicBezTo>
                  <a:pt x="2147852" y="145471"/>
                  <a:pt x="2162838" y="161092"/>
                  <a:pt x="2170839" y="175125"/>
                </a:cubicBezTo>
                <a:cubicBezTo>
                  <a:pt x="2178777" y="189222"/>
                  <a:pt x="2178904" y="203319"/>
                  <a:pt x="2173125" y="215130"/>
                </a:cubicBezTo>
                <a:cubicBezTo>
                  <a:pt x="2167410" y="226941"/>
                  <a:pt x="2154075" y="237863"/>
                  <a:pt x="2136486" y="245991"/>
                </a:cubicBezTo>
                <a:cubicBezTo>
                  <a:pt x="2118896" y="254119"/>
                  <a:pt x="2094449" y="260596"/>
                  <a:pt x="2067652" y="263898"/>
                </a:cubicBezTo>
                <a:cubicBezTo>
                  <a:pt x="2040855" y="267137"/>
                  <a:pt x="2008406" y="268089"/>
                  <a:pt x="1975704" y="265676"/>
                </a:cubicBezTo>
                <a:cubicBezTo>
                  <a:pt x="1942938" y="263200"/>
                  <a:pt x="1888709" y="252024"/>
                  <a:pt x="1871310" y="249293"/>
                </a:cubicBezTo>
              </a:path>
            </a:pathLst>
          </a:custGeom>
          <a:noFill/>
          <a:ln w="635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loop-5"/>
          <p:cNvSpPr/>
          <p:nvPr/>
        </p:nvSpPr>
        <p:spPr>
          <a:xfrm>
            <a:off x="8189928" y="1683131"/>
            <a:ext cx="1112822" cy="880237"/>
          </a:xfrm>
          <a:custGeom>
            <a:avLst/>
            <a:gdLst/>
            <a:ahLst/>
            <a:cxnLst/>
            <a:rect l="0" t="0" r="r" b="b"/>
            <a:pathLst>
              <a:path w="1112822" h="880237">
                <a:moveTo>
                  <a:pt x="319072" y="880237"/>
                </a:moveTo>
                <a:cubicBezTo>
                  <a:pt x="301546" y="874332"/>
                  <a:pt x="247127" y="859790"/>
                  <a:pt x="213853" y="844994"/>
                </a:cubicBezTo>
                <a:cubicBezTo>
                  <a:pt x="180642" y="830136"/>
                  <a:pt x="147368" y="811974"/>
                  <a:pt x="119555" y="791337"/>
                </a:cubicBezTo>
                <a:cubicBezTo>
                  <a:pt x="91806" y="770636"/>
                  <a:pt x="66088" y="746760"/>
                  <a:pt x="47165" y="721043"/>
                </a:cubicBezTo>
                <a:cubicBezTo>
                  <a:pt x="28306" y="695325"/>
                  <a:pt x="13383" y="666686"/>
                  <a:pt x="6208" y="637032"/>
                </a:cubicBezTo>
                <a:cubicBezTo>
                  <a:pt x="-904" y="607441"/>
                  <a:pt x="-2365" y="575374"/>
                  <a:pt x="4239" y="543243"/>
                </a:cubicBezTo>
                <a:cubicBezTo>
                  <a:pt x="10843" y="511048"/>
                  <a:pt x="24496" y="477202"/>
                  <a:pt x="46022" y="444119"/>
                </a:cubicBezTo>
                <a:cubicBezTo>
                  <a:pt x="67549" y="411036"/>
                  <a:pt x="96886" y="377063"/>
                  <a:pt x="133462" y="344678"/>
                </a:cubicBezTo>
                <a:cubicBezTo>
                  <a:pt x="170038" y="312293"/>
                  <a:pt x="214678" y="279908"/>
                  <a:pt x="265288" y="249873"/>
                </a:cubicBezTo>
                <a:cubicBezTo>
                  <a:pt x="315961" y="219774"/>
                  <a:pt x="374444" y="190627"/>
                  <a:pt x="437309" y="164401"/>
                </a:cubicBezTo>
                <a:cubicBezTo>
                  <a:pt x="500174" y="138112"/>
                  <a:pt x="570088" y="113538"/>
                  <a:pt x="642414" y="92329"/>
                </a:cubicBezTo>
                <a:cubicBezTo>
                  <a:pt x="714741" y="71056"/>
                  <a:pt x="792846" y="52197"/>
                  <a:pt x="871205" y="36830"/>
                </a:cubicBezTo>
                <a:cubicBezTo>
                  <a:pt x="949627" y="21463"/>
                  <a:pt x="1072563" y="6159"/>
                  <a:pt x="1112822" y="0"/>
                </a:cubicBezTo>
              </a:path>
            </a:pathLst>
          </a:custGeom>
          <a:noFill/>
          <a:ln w="635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6" name="next-line"/>
          <p:cNvCxnSpPr/>
          <p:nvPr/>
        </p:nvCxnSpPr>
        <p:spPr>
          <a:xfrm>
            <a:off x="9531350" y="1683131"/>
            <a:ext cx="1200150" cy="0"/>
          </a:xfrm>
          <a:prstGeom prst="line">
            <a:avLst/>
          </a:prstGeom>
          <a:ln w="25400" cap="rnd">
            <a:solidFill>
              <a:srgbClr val="0B3E8F">
                <a:alpha val="5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next-arrow"/>
          <p:cNvSpPr/>
          <p:nvPr/>
        </p:nvSpPr>
        <p:spPr>
          <a:xfrm>
            <a:off x="10706100" y="1606931"/>
            <a:ext cx="127000" cy="152400"/>
          </a:xfrm>
          <a:custGeom>
            <a:avLst/>
            <a:gdLst/>
            <a:ahLst/>
            <a:cxnLst/>
            <a:rect l="0" t="0" r="r" b="b"/>
            <a:pathLst>
              <a:path w="127000" h="152400">
                <a:moveTo>
                  <a:pt x="0" y="0"/>
                </a:moveTo>
                <a:lnTo>
                  <a:pt x="127000" y="76200"/>
                </a:lnTo>
                <a:lnTo>
                  <a:pt x="0" y="152400"/>
                </a:lnTo>
                <a:close/>
              </a:path>
            </a:pathLst>
          </a:custGeom>
          <a:solidFill>
            <a:srgbClr val="0B3E8F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next-t"/>
          <p:cNvSpPr txBox="1"/>
          <p:nvPr/>
        </p:nvSpPr>
        <p:spPr>
          <a:xfrm>
            <a:off x="10372852" y="1417955"/>
            <a:ext cx="4343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10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下一圈</a:t>
            </a:r>
          </a:p>
        </p:txBody>
      </p:sp>
      <p:sp>
        <p:nvSpPr>
          <p:cNvPr id="19" name="goal"/>
          <p:cNvSpPr/>
          <p:nvPr/>
        </p:nvSpPr>
        <p:spPr>
          <a:xfrm>
            <a:off x="8445500" y="4064000"/>
            <a:ext cx="2794000" cy="1587500"/>
          </a:xfrm>
          <a:custGeom>
            <a:avLst/>
            <a:gdLst/>
            <a:ahLst/>
            <a:cxnLst/>
            <a:rect l="0" t="0" r="r" b="b"/>
            <a:pathLst>
              <a:path w="2794000" h="1587500">
                <a:moveTo>
                  <a:pt x="139700" y="0"/>
                </a:moveTo>
                <a:lnTo>
                  <a:pt x="2654300" y="0"/>
                </a:lnTo>
                <a:cubicBezTo>
                  <a:pt x="2731453" y="0"/>
                  <a:pt x="2794000" y="62548"/>
                  <a:pt x="2794000" y="139700"/>
                </a:cubicBezTo>
                <a:lnTo>
                  <a:pt x="2794000" y="1447800"/>
                </a:lnTo>
                <a:cubicBezTo>
                  <a:pt x="2794000" y="1524952"/>
                  <a:pt x="2731453" y="1587500"/>
                  <a:pt x="2654300" y="1587500"/>
                </a:cubicBezTo>
                <a:lnTo>
                  <a:pt x="139700" y="1587500"/>
                </a:lnTo>
                <a:cubicBezTo>
                  <a:pt x="62547" y="1587500"/>
                  <a:pt x="0" y="1524952"/>
                  <a:pt x="0" y="14478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goal-bar"/>
          <p:cNvSpPr/>
          <p:nvPr/>
        </p:nvSpPr>
        <p:spPr>
          <a:xfrm>
            <a:off x="8445500" y="4064000"/>
            <a:ext cx="38100" cy="1587500"/>
          </a:xfrm>
          <a:custGeom>
            <a:avLst/>
            <a:gdLst/>
            <a:ahLst/>
            <a:cxnLst/>
            <a:rect l="0" t="0" r="r" b="b"/>
            <a:pathLst>
              <a:path w="38100" h="15875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568450"/>
                </a:lnTo>
                <a:cubicBezTo>
                  <a:pt x="38100" y="1578991"/>
                  <a:pt x="29591" y="1587500"/>
                  <a:pt x="19050" y="1587500"/>
                </a:cubicBezTo>
                <a:lnTo>
                  <a:pt x="19050" y="1587500"/>
                </a:lnTo>
                <a:cubicBezTo>
                  <a:pt x="8509" y="1587500"/>
                  <a:pt x="0" y="1578991"/>
                  <a:pt x="0" y="15684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goal-h"/>
          <p:cNvSpPr txBox="1"/>
          <p:nvPr/>
        </p:nvSpPr>
        <p:spPr>
          <a:xfrm>
            <a:off x="8658098" y="4216813"/>
            <a:ext cx="124777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V6 · 2027 目标</a:t>
            </a:r>
          </a:p>
        </p:txBody>
      </p:sp>
      <p:sp>
        <p:nvSpPr>
          <p:cNvPr id="22" name="goal-l1"/>
          <p:cNvSpPr txBox="1"/>
          <p:nvPr/>
        </p:nvSpPr>
        <p:spPr>
          <a:xfrm>
            <a:off x="8660765" y="4587161"/>
            <a:ext cx="5572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用户规模</a:t>
            </a:r>
          </a:p>
        </p:txBody>
      </p:sp>
      <p:sp>
        <p:nvSpPr>
          <p:cNvPr id="23" name="goal-v1"/>
          <p:cNvSpPr txBox="1"/>
          <p:nvPr/>
        </p:nvSpPr>
        <p:spPr>
          <a:xfrm>
            <a:off x="10477881" y="4564570"/>
            <a:ext cx="587883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300 万</a:t>
            </a:r>
          </a:p>
        </p:txBody>
      </p:sp>
      <p:cxnSp>
        <p:nvCxnSpPr>
          <p:cNvPr id="24" name="goal-sep1"/>
          <p:cNvCxnSpPr/>
          <p:nvPr/>
        </p:nvCxnSpPr>
        <p:spPr>
          <a:xfrm>
            <a:off x="8674100" y="4838700"/>
            <a:ext cx="23749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goal-l2"/>
          <p:cNvSpPr txBox="1"/>
          <p:nvPr/>
        </p:nvSpPr>
        <p:spPr>
          <a:xfrm>
            <a:off x="8660765" y="4879261"/>
            <a:ext cx="5572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海外市场</a:t>
            </a:r>
          </a:p>
        </p:txBody>
      </p:sp>
      <p:sp>
        <p:nvSpPr>
          <p:cNvPr id="26" name="goal-v2"/>
          <p:cNvSpPr txBox="1"/>
          <p:nvPr/>
        </p:nvSpPr>
        <p:spPr>
          <a:xfrm>
            <a:off x="10354945" y="4856670"/>
            <a:ext cx="710819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3 个国家</a:t>
            </a:r>
          </a:p>
        </p:txBody>
      </p:sp>
      <p:cxnSp>
        <p:nvCxnSpPr>
          <p:cNvPr id="27" name="goal-sep2"/>
          <p:cNvCxnSpPr/>
          <p:nvPr/>
        </p:nvCxnSpPr>
        <p:spPr>
          <a:xfrm>
            <a:off x="8674100" y="5130800"/>
            <a:ext cx="23749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goal-l3"/>
          <p:cNvSpPr txBox="1"/>
          <p:nvPr/>
        </p:nvSpPr>
        <p:spPr>
          <a:xfrm>
            <a:off x="8660765" y="5171361"/>
            <a:ext cx="5572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生态伙伴</a:t>
            </a:r>
          </a:p>
        </p:txBody>
      </p:sp>
      <p:sp>
        <p:nvSpPr>
          <p:cNvPr id="29" name="goal-v3"/>
          <p:cNvSpPr txBox="1"/>
          <p:nvPr/>
        </p:nvSpPr>
        <p:spPr>
          <a:xfrm>
            <a:off x="10477881" y="5148770"/>
            <a:ext cx="587883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500 家</a:t>
            </a:r>
          </a:p>
        </p:txBody>
      </p:sp>
      <p:sp>
        <p:nvSpPr>
          <p:cNvPr id="30" name="nd-1"/>
          <p:cNvSpPr/>
          <p:nvPr/>
        </p:nvSpPr>
        <p:spPr>
          <a:xfrm>
            <a:off x="2762250" y="4096639"/>
            <a:ext cx="381000" cy="3810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4694D7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ndv-1"/>
          <p:cNvSpPr txBox="1"/>
          <p:nvPr/>
        </p:nvSpPr>
        <p:spPr>
          <a:xfrm>
            <a:off x="2824480" y="4181094"/>
            <a:ext cx="2565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4694D7"/>
                </a:solidFill>
                <a:latin typeface="Arial"/>
                <a:ea typeface="Arial"/>
                <a:cs typeface="Arial"/>
              </a:rPr>
              <a:t>V1</a:t>
            </a:r>
          </a:p>
        </p:txBody>
      </p:sp>
      <p:sp>
        <p:nvSpPr>
          <p:cNvPr id="32" name="yr-1"/>
          <p:cNvSpPr txBox="1"/>
          <p:nvPr/>
        </p:nvSpPr>
        <p:spPr>
          <a:xfrm>
            <a:off x="2780538" y="3869563"/>
            <a:ext cx="3444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50">
                <a:solidFill>
                  <a:srgbClr val="7E93AE"/>
                </a:solidFill>
                <a:latin typeface="Arial"/>
                <a:ea typeface="Arial"/>
                <a:cs typeface="Arial"/>
              </a:rPr>
              <a:t>2022</a:t>
            </a:r>
          </a:p>
        </p:txBody>
      </p:sp>
      <p:sp>
        <p:nvSpPr>
          <p:cNvPr id="33" name="th-1"/>
          <p:cNvSpPr txBox="1"/>
          <p:nvPr/>
        </p:nvSpPr>
        <p:spPr>
          <a:xfrm>
            <a:off x="2506662" y="4914805"/>
            <a:ext cx="8921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MVP 验证</a:t>
            </a:r>
          </a:p>
        </p:txBody>
      </p:sp>
      <p:sp>
        <p:nvSpPr>
          <p:cNvPr id="34" name="d-1"/>
          <p:cNvSpPr txBox="1"/>
          <p:nvPr/>
        </p:nvSpPr>
        <p:spPr>
          <a:xfrm>
            <a:off x="2490470" y="5188585"/>
            <a:ext cx="92456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单点工具跑通闭环</a:t>
            </a:r>
          </a:p>
        </p:txBody>
      </p:sp>
      <p:sp>
        <p:nvSpPr>
          <p:cNvPr id="35" name="u-1"/>
          <p:cNvSpPr/>
          <p:nvPr/>
        </p:nvSpPr>
        <p:spPr>
          <a:xfrm>
            <a:off x="2546350" y="5415661"/>
            <a:ext cx="812800" cy="203200"/>
          </a:xfrm>
          <a:custGeom>
            <a:avLst/>
            <a:gdLst/>
            <a:ahLst/>
            <a:cxnLst/>
            <a:rect l="0" t="0" r="r" b="b"/>
            <a:pathLst>
              <a:path w="812800" h="203200">
                <a:moveTo>
                  <a:pt x="101600" y="0"/>
                </a:moveTo>
                <a:lnTo>
                  <a:pt x="711200" y="0"/>
                </a:lnTo>
                <a:cubicBezTo>
                  <a:pt x="767334" y="0"/>
                  <a:pt x="812800" y="45466"/>
                  <a:pt x="812800" y="101600"/>
                </a:cubicBezTo>
                <a:lnTo>
                  <a:pt x="812800" y="101600"/>
                </a:lnTo>
                <a:cubicBezTo>
                  <a:pt x="812800" y="157734"/>
                  <a:pt x="767334" y="203200"/>
                  <a:pt x="7112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4694D7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ut-1"/>
          <p:cNvSpPr txBox="1"/>
          <p:nvPr/>
        </p:nvSpPr>
        <p:spPr>
          <a:xfrm>
            <a:off x="2623502" y="5437727"/>
            <a:ext cx="6584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4694D7"/>
                </a:solidFill>
                <a:latin typeface="微软雅黑"/>
                <a:ea typeface="微软雅黑"/>
                <a:cs typeface="微软雅黑"/>
              </a:rPr>
              <a:t>用户 0.5 万</a:t>
            </a:r>
          </a:p>
        </p:txBody>
      </p:sp>
      <p:sp>
        <p:nvSpPr>
          <p:cNvPr id="37" name="nd-2"/>
          <p:cNvSpPr/>
          <p:nvPr/>
        </p:nvSpPr>
        <p:spPr>
          <a:xfrm>
            <a:off x="4349750" y="3445637"/>
            <a:ext cx="381000" cy="3810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3985CD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ndv-2"/>
          <p:cNvSpPr txBox="1"/>
          <p:nvPr/>
        </p:nvSpPr>
        <p:spPr>
          <a:xfrm>
            <a:off x="4411980" y="3530092"/>
            <a:ext cx="2565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V2</a:t>
            </a:r>
          </a:p>
        </p:txBody>
      </p:sp>
      <p:sp>
        <p:nvSpPr>
          <p:cNvPr id="39" name="yr-2"/>
          <p:cNvSpPr txBox="1"/>
          <p:nvPr/>
        </p:nvSpPr>
        <p:spPr>
          <a:xfrm>
            <a:off x="4368038" y="3218561"/>
            <a:ext cx="3444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50">
                <a:solidFill>
                  <a:srgbClr val="7E93AE"/>
                </a:solidFill>
                <a:latin typeface="Arial"/>
                <a:ea typeface="Arial"/>
                <a:cs typeface="Arial"/>
              </a:rPr>
              <a:t>2023</a:t>
            </a:r>
          </a:p>
        </p:txBody>
      </p:sp>
      <p:sp>
        <p:nvSpPr>
          <p:cNvPr id="40" name="th-2"/>
          <p:cNvSpPr txBox="1"/>
          <p:nvPr/>
        </p:nvSpPr>
        <p:spPr>
          <a:xfrm>
            <a:off x="4125912" y="4295807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核心功能</a:t>
            </a:r>
          </a:p>
        </p:txBody>
      </p:sp>
      <p:sp>
        <p:nvSpPr>
          <p:cNvPr id="41" name="d-2"/>
          <p:cNvSpPr txBox="1"/>
          <p:nvPr/>
        </p:nvSpPr>
        <p:spPr>
          <a:xfrm>
            <a:off x="4130040" y="4569587"/>
            <a:ext cx="8204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补齐协作与权限</a:t>
            </a:r>
          </a:p>
        </p:txBody>
      </p:sp>
      <p:sp>
        <p:nvSpPr>
          <p:cNvPr id="42" name="u-2"/>
          <p:cNvSpPr/>
          <p:nvPr/>
        </p:nvSpPr>
        <p:spPr>
          <a:xfrm>
            <a:off x="4133850" y="4796663"/>
            <a:ext cx="812800" cy="203200"/>
          </a:xfrm>
          <a:custGeom>
            <a:avLst/>
            <a:gdLst/>
            <a:ahLst/>
            <a:cxnLst/>
            <a:rect l="0" t="0" r="r" b="b"/>
            <a:pathLst>
              <a:path w="812800" h="203200">
                <a:moveTo>
                  <a:pt x="101600" y="0"/>
                </a:moveTo>
                <a:lnTo>
                  <a:pt x="711200" y="0"/>
                </a:lnTo>
                <a:cubicBezTo>
                  <a:pt x="767334" y="0"/>
                  <a:pt x="812800" y="45466"/>
                  <a:pt x="812800" y="101600"/>
                </a:cubicBezTo>
                <a:lnTo>
                  <a:pt x="812800" y="101600"/>
                </a:lnTo>
                <a:cubicBezTo>
                  <a:pt x="812800" y="157734"/>
                  <a:pt x="767334" y="203200"/>
                  <a:pt x="7112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3985CD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ut-2"/>
          <p:cNvSpPr txBox="1"/>
          <p:nvPr/>
        </p:nvSpPr>
        <p:spPr>
          <a:xfrm>
            <a:off x="4266882" y="4818729"/>
            <a:ext cx="5467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用户 3 万</a:t>
            </a:r>
          </a:p>
        </p:txBody>
      </p:sp>
      <p:sp>
        <p:nvSpPr>
          <p:cNvPr id="44" name="nd-3"/>
          <p:cNvSpPr/>
          <p:nvPr/>
        </p:nvSpPr>
        <p:spPr>
          <a:xfrm>
            <a:off x="5937250" y="2794635"/>
            <a:ext cx="381000" cy="3810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2E77C2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ndv-3"/>
          <p:cNvSpPr txBox="1"/>
          <p:nvPr/>
        </p:nvSpPr>
        <p:spPr>
          <a:xfrm>
            <a:off x="5999480" y="2879090"/>
            <a:ext cx="2565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V3</a:t>
            </a:r>
          </a:p>
        </p:txBody>
      </p:sp>
      <p:sp>
        <p:nvSpPr>
          <p:cNvPr id="46" name="yr-3"/>
          <p:cNvSpPr txBox="1"/>
          <p:nvPr/>
        </p:nvSpPr>
        <p:spPr>
          <a:xfrm>
            <a:off x="5955538" y="2567559"/>
            <a:ext cx="3444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50">
                <a:solidFill>
                  <a:srgbClr val="7E93AE"/>
                </a:solidFill>
                <a:latin typeface="Arial"/>
                <a:ea typeface="Arial"/>
                <a:cs typeface="Arial"/>
              </a:rPr>
              <a:t>2024</a:t>
            </a:r>
          </a:p>
        </p:txBody>
      </p:sp>
      <p:sp>
        <p:nvSpPr>
          <p:cNvPr id="47" name="th-3"/>
          <p:cNvSpPr txBox="1"/>
          <p:nvPr/>
        </p:nvSpPr>
        <p:spPr>
          <a:xfrm>
            <a:off x="5799138" y="3676809"/>
            <a:ext cx="6572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平台化</a:t>
            </a:r>
          </a:p>
        </p:txBody>
      </p:sp>
      <p:sp>
        <p:nvSpPr>
          <p:cNvPr id="48" name="d-3"/>
          <p:cNvSpPr txBox="1"/>
          <p:nvPr/>
        </p:nvSpPr>
        <p:spPr>
          <a:xfrm>
            <a:off x="5673090" y="3950589"/>
            <a:ext cx="9093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开放 API 与插件</a:t>
            </a:r>
          </a:p>
        </p:txBody>
      </p:sp>
      <p:sp>
        <p:nvSpPr>
          <p:cNvPr id="49" name="u-3"/>
          <p:cNvSpPr/>
          <p:nvPr/>
        </p:nvSpPr>
        <p:spPr>
          <a:xfrm>
            <a:off x="5721350" y="4177665"/>
            <a:ext cx="812800" cy="203200"/>
          </a:xfrm>
          <a:custGeom>
            <a:avLst/>
            <a:gdLst/>
            <a:ahLst/>
            <a:cxnLst/>
            <a:rect l="0" t="0" r="r" b="b"/>
            <a:pathLst>
              <a:path w="812800" h="203200">
                <a:moveTo>
                  <a:pt x="101600" y="0"/>
                </a:moveTo>
                <a:lnTo>
                  <a:pt x="711200" y="0"/>
                </a:lnTo>
                <a:cubicBezTo>
                  <a:pt x="767334" y="0"/>
                  <a:pt x="812800" y="45466"/>
                  <a:pt x="812800" y="101600"/>
                </a:cubicBezTo>
                <a:lnTo>
                  <a:pt x="812800" y="101600"/>
                </a:lnTo>
                <a:cubicBezTo>
                  <a:pt x="812800" y="157734"/>
                  <a:pt x="767334" y="203200"/>
                  <a:pt x="7112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ut-3"/>
          <p:cNvSpPr txBox="1"/>
          <p:nvPr/>
        </p:nvSpPr>
        <p:spPr>
          <a:xfrm>
            <a:off x="5826442" y="4199731"/>
            <a:ext cx="6026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用户 12 万</a:t>
            </a:r>
          </a:p>
        </p:txBody>
      </p:sp>
      <p:sp>
        <p:nvSpPr>
          <p:cNvPr id="51" name="nd-4"/>
          <p:cNvSpPr/>
          <p:nvPr/>
        </p:nvSpPr>
        <p:spPr>
          <a:xfrm>
            <a:off x="7524750" y="2143633"/>
            <a:ext cx="381000" cy="3810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2468B6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ndv-4"/>
          <p:cNvSpPr txBox="1"/>
          <p:nvPr/>
        </p:nvSpPr>
        <p:spPr>
          <a:xfrm>
            <a:off x="7586980" y="2228088"/>
            <a:ext cx="2565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V4</a:t>
            </a:r>
          </a:p>
        </p:txBody>
      </p:sp>
      <p:sp>
        <p:nvSpPr>
          <p:cNvPr id="53" name="yr-4"/>
          <p:cNvSpPr txBox="1"/>
          <p:nvPr/>
        </p:nvSpPr>
        <p:spPr>
          <a:xfrm>
            <a:off x="7543038" y="1916557"/>
            <a:ext cx="3444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50">
                <a:solidFill>
                  <a:srgbClr val="7E93AE"/>
                </a:solidFill>
                <a:latin typeface="Arial"/>
                <a:ea typeface="Arial"/>
                <a:cs typeface="Arial"/>
              </a:rPr>
              <a:t>2025</a:t>
            </a:r>
          </a:p>
        </p:txBody>
      </p:sp>
      <p:sp>
        <p:nvSpPr>
          <p:cNvPr id="54" name="th-4"/>
          <p:cNvSpPr txBox="1"/>
          <p:nvPr/>
        </p:nvSpPr>
        <p:spPr>
          <a:xfrm>
            <a:off x="7386638" y="3057811"/>
            <a:ext cx="6572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智能化</a:t>
            </a:r>
          </a:p>
        </p:txBody>
      </p:sp>
      <p:sp>
        <p:nvSpPr>
          <p:cNvPr id="55" name="d-4"/>
          <p:cNvSpPr txBox="1"/>
          <p:nvPr/>
        </p:nvSpPr>
        <p:spPr>
          <a:xfrm>
            <a:off x="7320026" y="3331591"/>
            <a:ext cx="79044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AI 生成与推荐</a:t>
            </a:r>
          </a:p>
        </p:txBody>
      </p:sp>
      <p:sp>
        <p:nvSpPr>
          <p:cNvPr id="56" name="u-4"/>
          <p:cNvSpPr/>
          <p:nvPr/>
        </p:nvSpPr>
        <p:spPr>
          <a:xfrm>
            <a:off x="7308850" y="3558667"/>
            <a:ext cx="812800" cy="203200"/>
          </a:xfrm>
          <a:custGeom>
            <a:avLst/>
            <a:gdLst/>
            <a:ahLst/>
            <a:cxnLst/>
            <a:rect l="0" t="0" r="r" b="b"/>
            <a:pathLst>
              <a:path w="812800" h="203200">
                <a:moveTo>
                  <a:pt x="101600" y="0"/>
                </a:moveTo>
                <a:lnTo>
                  <a:pt x="711200" y="0"/>
                </a:lnTo>
                <a:cubicBezTo>
                  <a:pt x="767334" y="0"/>
                  <a:pt x="812800" y="45466"/>
                  <a:pt x="812800" y="101600"/>
                </a:cubicBezTo>
                <a:lnTo>
                  <a:pt x="812800" y="101600"/>
                </a:lnTo>
                <a:cubicBezTo>
                  <a:pt x="812800" y="157734"/>
                  <a:pt x="767334" y="203200"/>
                  <a:pt x="7112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2468B6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ut-4"/>
          <p:cNvSpPr txBox="1"/>
          <p:nvPr/>
        </p:nvSpPr>
        <p:spPr>
          <a:xfrm>
            <a:off x="7413942" y="3580733"/>
            <a:ext cx="6026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2468B6"/>
                </a:solidFill>
                <a:latin typeface="微软雅黑"/>
                <a:ea typeface="微软雅黑"/>
                <a:cs typeface="微软雅黑"/>
              </a:rPr>
              <a:t>用户 40 万</a:t>
            </a:r>
          </a:p>
        </p:txBody>
      </p:sp>
      <p:sp>
        <p:nvSpPr>
          <p:cNvPr id="58" name="nd-5"/>
          <p:cNvSpPr/>
          <p:nvPr/>
        </p:nvSpPr>
        <p:spPr>
          <a:xfrm>
            <a:off x="9112250" y="1492631"/>
            <a:ext cx="381000" cy="3810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0B3E8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ndv-5"/>
          <p:cNvSpPr txBox="1"/>
          <p:nvPr/>
        </p:nvSpPr>
        <p:spPr>
          <a:xfrm>
            <a:off x="9174480" y="1577086"/>
            <a:ext cx="2565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V5</a:t>
            </a:r>
          </a:p>
        </p:txBody>
      </p:sp>
      <p:sp>
        <p:nvSpPr>
          <p:cNvPr id="60" name="yr-5"/>
          <p:cNvSpPr txBox="1"/>
          <p:nvPr/>
        </p:nvSpPr>
        <p:spPr>
          <a:xfrm>
            <a:off x="9130538" y="1265555"/>
            <a:ext cx="3444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50">
                <a:solidFill>
                  <a:srgbClr val="7E93AE"/>
                </a:solidFill>
                <a:latin typeface="Arial"/>
                <a:ea typeface="Arial"/>
                <a:cs typeface="Arial"/>
              </a:rPr>
              <a:t>2026</a:t>
            </a:r>
          </a:p>
        </p:txBody>
      </p:sp>
      <p:sp>
        <p:nvSpPr>
          <p:cNvPr id="61" name="th-5"/>
          <p:cNvSpPr txBox="1"/>
          <p:nvPr/>
        </p:nvSpPr>
        <p:spPr>
          <a:xfrm>
            <a:off x="8974138" y="2438813"/>
            <a:ext cx="6572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生态化</a:t>
            </a:r>
          </a:p>
        </p:txBody>
      </p:sp>
      <p:sp>
        <p:nvSpPr>
          <p:cNvPr id="62" name="d-5"/>
          <p:cNvSpPr txBox="1"/>
          <p:nvPr/>
        </p:nvSpPr>
        <p:spPr>
          <a:xfrm>
            <a:off x="8840470" y="2712593"/>
            <a:ext cx="92456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伙伴共建行业方案</a:t>
            </a:r>
          </a:p>
        </p:txBody>
      </p:sp>
      <p:sp>
        <p:nvSpPr>
          <p:cNvPr id="63" name="u-5"/>
          <p:cNvSpPr/>
          <p:nvPr/>
        </p:nvSpPr>
        <p:spPr>
          <a:xfrm>
            <a:off x="8896350" y="2939669"/>
            <a:ext cx="812800" cy="203200"/>
          </a:xfrm>
          <a:custGeom>
            <a:avLst/>
            <a:gdLst/>
            <a:ahLst/>
            <a:cxnLst/>
            <a:rect l="0" t="0" r="r" b="b"/>
            <a:pathLst>
              <a:path w="812800" h="203200">
                <a:moveTo>
                  <a:pt x="101600" y="0"/>
                </a:moveTo>
                <a:lnTo>
                  <a:pt x="711200" y="0"/>
                </a:lnTo>
                <a:cubicBezTo>
                  <a:pt x="767334" y="0"/>
                  <a:pt x="812800" y="45466"/>
                  <a:pt x="812800" y="101600"/>
                </a:cubicBezTo>
                <a:lnTo>
                  <a:pt x="812800" y="101600"/>
                </a:lnTo>
                <a:cubicBezTo>
                  <a:pt x="812800" y="157734"/>
                  <a:pt x="767334" y="203200"/>
                  <a:pt x="7112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ut-5"/>
          <p:cNvSpPr txBox="1"/>
          <p:nvPr/>
        </p:nvSpPr>
        <p:spPr>
          <a:xfrm>
            <a:off x="8973502" y="2961735"/>
            <a:ext cx="6584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用户 100 万</a:t>
            </a:r>
          </a:p>
        </p:txBody>
      </p:sp>
      <p:sp>
        <p:nvSpPr>
          <p:cNvPr id="65" name="hero"/>
          <p:cNvSpPr/>
          <p:nvPr/>
        </p:nvSpPr>
        <p:spPr>
          <a:xfrm>
            <a:off x="952500" y="1333500"/>
            <a:ext cx="3302000" cy="1270000"/>
          </a:xfrm>
          <a:custGeom>
            <a:avLst/>
            <a:gdLst/>
            <a:ahLst/>
            <a:cxnLst/>
            <a:rect l="0" t="0" r="r" b="b"/>
            <a:pathLst>
              <a:path w="3302000" h="1270000">
                <a:moveTo>
                  <a:pt x="152400" y="0"/>
                </a:moveTo>
                <a:lnTo>
                  <a:pt x="3149600" y="0"/>
                </a:lnTo>
                <a:cubicBezTo>
                  <a:pt x="3233801" y="0"/>
                  <a:pt x="3302000" y="68199"/>
                  <a:pt x="3302000" y="152400"/>
                </a:cubicBezTo>
                <a:lnTo>
                  <a:pt x="3302000" y="1117600"/>
                </a:lnTo>
                <a:cubicBezTo>
                  <a:pt x="3302000" y="1201801"/>
                  <a:pt x="3233801" y="1270000"/>
                  <a:pt x="3149600" y="1270000"/>
                </a:cubicBezTo>
                <a:lnTo>
                  <a:pt x="152400" y="1270000"/>
                </a:lnTo>
                <a:cubicBezTo>
                  <a:pt x="68199" y="1270000"/>
                  <a:pt x="0" y="1201801"/>
                  <a:pt x="0" y="11176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hero-h"/>
          <p:cNvSpPr txBox="1"/>
          <p:nvPr/>
        </p:nvSpPr>
        <p:spPr>
          <a:xfrm>
            <a:off x="1165098" y="1499013"/>
            <a:ext cx="8820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5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五年，五圈</a:t>
            </a:r>
          </a:p>
        </p:txBody>
      </p:sp>
      <p:sp>
        <p:nvSpPr>
          <p:cNvPr id="67" name="hero-v"/>
          <p:cNvSpPr txBox="1"/>
          <p:nvPr/>
        </p:nvSpPr>
        <p:spPr>
          <a:xfrm>
            <a:off x="1123188" y="1601089"/>
            <a:ext cx="1245108" cy="8445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8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200</a:t>
            </a:r>
          </a:p>
        </p:txBody>
      </p:sp>
      <p:sp>
        <p:nvSpPr>
          <p:cNvPr id="68" name="hero-u"/>
          <p:cNvSpPr txBox="1"/>
          <p:nvPr/>
        </p:nvSpPr>
        <p:spPr>
          <a:xfrm>
            <a:off x="2174240" y="1961832"/>
            <a:ext cx="36195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倍</a:t>
            </a:r>
          </a:p>
        </p:txBody>
      </p:sp>
      <p:sp>
        <p:nvSpPr>
          <p:cNvPr id="69" name="hero-p"/>
          <p:cNvSpPr txBox="1"/>
          <p:nvPr/>
        </p:nvSpPr>
        <p:spPr>
          <a:xfrm>
            <a:off x="1167765" y="2313861"/>
            <a:ext cx="16684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用户规模从 0.5 万到 100 万</a:t>
            </a:r>
          </a:p>
        </p:txBody>
      </p:sp>
      <p:sp>
        <p:nvSpPr>
          <p:cNvPr id="70" name="hero-r1"/>
          <p:cNvSpPr txBox="1"/>
          <p:nvPr/>
        </p:nvSpPr>
        <p:spPr>
          <a:xfrm>
            <a:off x="2653665" y="1767761"/>
            <a:ext cx="45243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每一圈</a:t>
            </a:r>
          </a:p>
        </p:txBody>
      </p:sp>
      <p:sp>
        <p:nvSpPr>
          <p:cNvPr id="71" name="hero-s1"/>
          <p:cNvSpPr txBox="1"/>
          <p:nvPr/>
        </p:nvSpPr>
        <p:spPr>
          <a:xfrm>
            <a:off x="2655570" y="2003266"/>
            <a:ext cx="59245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① 回访用户</a:t>
            </a:r>
          </a:p>
        </p:txBody>
      </p:sp>
      <p:sp>
        <p:nvSpPr>
          <p:cNvPr id="72" name="hero-s2"/>
          <p:cNvSpPr txBox="1"/>
          <p:nvPr/>
        </p:nvSpPr>
        <p:spPr>
          <a:xfrm>
            <a:off x="2655570" y="2168366"/>
            <a:ext cx="69088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② 找到新痛点</a:t>
            </a:r>
          </a:p>
        </p:txBody>
      </p:sp>
      <p:sp>
        <p:nvSpPr>
          <p:cNvPr id="73" name="hero-s3"/>
          <p:cNvSpPr txBox="1"/>
          <p:nvPr/>
        </p:nvSpPr>
        <p:spPr>
          <a:xfrm>
            <a:off x="2655570" y="2333466"/>
            <a:ext cx="59245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③ 升级能力</a:t>
            </a:r>
          </a:p>
        </p:txBody>
      </p:sp>
      <p:cxnSp>
        <p:nvCxnSpPr>
          <p:cNvPr id="74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5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螺旋上升 · 五代产品</a:t>
            </a:r>
          </a:p>
        </p:txBody>
      </p:sp>
      <p:sp>
        <p:nvSpPr>
          <p:cNvPr id="76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研发运维一体化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9011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DEVOPS INFINITY LOOP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208899" y="673132"/>
            <a:ext cx="34118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开发与运维首尾相接，交付不再是一次性的项目，而是持续的循环</a:t>
            </a:r>
          </a:p>
        </p:txBody>
      </p:sp>
      <p:sp>
        <p:nvSpPr>
          <p:cNvPr id="10" name="lobe-l"/>
          <p:cNvSpPr/>
          <p:nvPr/>
        </p:nvSpPr>
        <p:spPr>
          <a:xfrm>
            <a:off x="2095500" y="2489200"/>
            <a:ext cx="3175000" cy="1651000"/>
          </a:xfrm>
          <a:prstGeom prst="ellipse">
            <a:avLst/>
          </a:prstGeom>
          <a:solidFill>
            <a:srgbClr val="DCE7F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lobe-r"/>
          <p:cNvSpPr/>
          <p:nvPr/>
        </p:nvSpPr>
        <p:spPr>
          <a:xfrm>
            <a:off x="6921500" y="2489200"/>
            <a:ext cx="3175000" cy="1651000"/>
          </a:xfrm>
          <a:prstGeom prst="ellipse">
            <a:avLst/>
          </a:prstGeom>
          <a:solidFill>
            <a:srgbClr val="E0703A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seg-1"/>
          <p:cNvSpPr/>
          <p:nvPr/>
        </p:nvSpPr>
        <p:spPr>
          <a:xfrm>
            <a:off x="4309428" y="2056067"/>
            <a:ext cx="1683322" cy="1160653"/>
          </a:xfrm>
          <a:custGeom>
            <a:avLst/>
            <a:gdLst/>
            <a:ahLst/>
            <a:cxnLst/>
            <a:rect l="0" t="0" r="r" b="b"/>
            <a:pathLst>
              <a:path w="1683322" h="1160653">
                <a:moveTo>
                  <a:pt x="1683322" y="1160653"/>
                </a:moveTo>
                <a:cubicBezTo>
                  <a:pt x="1671447" y="1149477"/>
                  <a:pt x="1636014" y="1115949"/>
                  <a:pt x="1612265" y="1093597"/>
                </a:cubicBezTo>
                <a:cubicBezTo>
                  <a:pt x="1588516" y="1071308"/>
                  <a:pt x="1564703" y="1049020"/>
                  <a:pt x="1540764" y="1026795"/>
                </a:cubicBezTo>
                <a:cubicBezTo>
                  <a:pt x="1516888" y="1004570"/>
                  <a:pt x="1492885" y="982345"/>
                  <a:pt x="1468755" y="960247"/>
                </a:cubicBezTo>
                <a:cubicBezTo>
                  <a:pt x="1444625" y="938085"/>
                  <a:pt x="1420368" y="916051"/>
                  <a:pt x="1395984" y="894016"/>
                </a:cubicBezTo>
                <a:cubicBezTo>
                  <a:pt x="1371600" y="872045"/>
                  <a:pt x="1347026" y="850138"/>
                  <a:pt x="1322324" y="828357"/>
                </a:cubicBezTo>
                <a:cubicBezTo>
                  <a:pt x="1297559" y="806514"/>
                  <a:pt x="1272667" y="784796"/>
                  <a:pt x="1247521" y="763206"/>
                </a:cubicBezTo>
                <a:cubicBezTo>
                  <a:pt x="1222375" y="741553"/>
                  <a:pt x="1197102" y="720090"/>
                  <a:pt x="1171512" y="698754"/>
                </a:cubicBezTo>
                <a:cubicBezTo>
                  <a:pt x="1145985" y="677354"/>
                  <a:pt x="1120203" y="656145"/>
                  <a:pt x="1094105" y="635064"/>
                </a:cubicBezTo>
                <a:cubicBezTo>
                  <a:pt x="1068070" y="613982"/>
                  <a:pt x="1041781" y="593090"/>
                  <a:pt x="1015111" y="572326"/>
                </a:cubicBezTo>
                <a:cubicBezTo>
                  <a:pt x="988505" y="551624"/>
                  <a:pt x="961644" y="531050"/>
                  <a:pt x="934402" y="510731"/>
                </a:cubicBezTo>
                <a:cubicBezTo>
                  <a:pt x="907161" y="490347"/>
                  <a:pt x="879665" y="470217"/>
                  <a:pt x="851789" y="450342"/>
                </a:cubicBezTo>
                <a:cubicBezTo>
                  <a:pt x="823912" y="430403"/>
                  <a:pt x="795719" y="410718"/>
                  <a:pt x="767144" y="391350"/>
                </a:cubicBezTo>
                <a:cubicBezTo>
                  <a:pt x="738505" y="371983"/>
                  <a:pt x="709612" y="352806"/>
                  <a:pt x="680212" y="334010"/>
                </a:cubicBezTo>
                <a:cubicBezTo>
                  <a:pt x="650875" y="315214"/>
                  <a:pt x="621157" y="296672"/>
                  <a:pt x="590995" y="278574"/>
                </a:cubicBezTo>
                <a:cubicBezTo>
                  <a:pt x="560832" y="260413"/>
                  <a:pt x="530288" y="242570"/>
                  <a:pt x="499300" y="225171"/>
                </a:cubicBezTo>
                <a:cubicBezTo>
                  <a:pt x="468312" y="207772"/>
                  <a:pt x="436880" y="190690"/>
                  <a:pt x="405003" y="174117"/>
                </a:cubicBezTo>
                <a:cubicBezTo>
                  <a:pt x="373126" y="157607"/>
                  <a:pt x="340805" y="141414"/>
                  <a:pt x="307975" y="125794"/>
                </a:cubicBezTo>
                <a:cubicBezTo>
                  <a:pt x="275209" y="110172"/>
                  <a:pt x="241935" y="94996"/>
                  <a:pt x="208153" y="80391"/>
                </a:cubicBezTo>
                <a:cubicBezTo>
                  <a:pt x="174435" y="65850"/>
                  <a:pt x="140208" y="51752"/>
                  <a:pt x="105537" y="38354"/>
                </a:cubicBezTo>
                <a:cubicBezTo>
                  <a:pt x="70802" y="24956"/>
                  <a:pt x="17589" y="6413"/>
                  <a:pt x="0" y="0"/>
                </a:cubicBezTo>
              </a:path>
            </a:pathLst>
          </a:custGeom>
          <a:noFill/>
          <a:ln w="3683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arr-1"/>
          <p:cNvSpPr/>
          <p:nvPr/>
        </p:nvSpPr>
        <p:spPr>
          <a:xfrm>
            <a:off x="4356799" y="2035307"/>
            <a:ext cx="110380" cy="142170"/>
          </a:xfrm>
          <a:custGeom>
            <a:avLst/>
            <a:gdLst/>
            <a:ahLst/>
            <a:cxnLst/>
            <a:rect l="0" t="0" r="r" b="b"/>
            <a:pathLst>
              <a:path w="110380" h="142170">
                <a:moveTo>
                  <a:pt x="110380" y="0"/>
                </a:moveTo>
                <a:lnTo>
                  <a:pt x="0" y="39064"/>
                </a:lnTo>
                <a:lnTo>
                  <a:pt x="55486" y="142170"/>
                </a:lnTo>
              </a:path>
            </a:pathLst>
          </a:custGeom>
          <a:noFill/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lab-1"/>
          <p:cNvSpPr txBox="1"/>
          <p:nvPr/>
        </p:nvSpPr>
        <p:spPr>
          <a:xfrm>
            <a:off x="5046989" y="2454376"/>
            <a:ext cx="3937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计划</a:t>
            </a:r>
          </a:p>
        </p:txBody>
      </p:sp>
      <p:sp>
        <p:nvSpPr>
          <p:cNvPr id="15" name="seg-2"/>
          <p:cNvSpPr/>
          <p:nvPr/>
        </p:nvSpPr>
        <p:spPr>
          <a:xfrm>
            <a:off x="1983930" y="1928384"/>
            <a:ext cx="2001266" cy="1191054"/>
          </a:xfrm>
          <a:custGeom>
            <a:avLst/>
            <a:gdLst/>
            <a:ahLst/>
            <a:cxnLst/>
            <a:rect l="0" t="0" r="r" b="b"/>
            <a:pathLst>
              <a:path w="2001266" h="1191054">
                <a:moveTo>
                  <a:pt x="2001266" y="41005"/>
                </a:moveTo>
                <a:cubicBezTo>
                  <a:pt x="1981898" y="37767"/>
                  <a:pt x="1924114" y="26972"/>
                  <a:pt x="1884934" y="21511"/>
                </a:cubicBezTo>
                <a:cubicBezTo>
                  <a:pt x="1845754" y="15986"/>
                  <a:pt x="1806130" y="11351"/>
                  <a:pt x="1766253" y="7922"/>
                </a:cubicBezTo>
                <a:cubicBezTo>
                  <a:pt x="1726311" y="4493"/>
                  <a:pt x="1685989" y="2080"/>
                  <a:pt x="1645475" y="873"/>
                </a:cubicBezTo>
                <a:cubicBezTo>
                  <a:pt x="1604899" y="-270"/>
                  <a:pt x="1564005" y="-333"/>
                  <a:pt x="1522984" y="937"/>
                </a:cubicBezTo>
                <a:cubicBezTo>
                  <a:pt x="1481963" y="2207"/>
                  <a:pt x="1440624" y="4620"/>
                  <a:pt x="1399286" y="8557"/>
                </a:cubicBezTo>
                <a:cubicBezTo>
                  <a:pt x="1357947" y="12430"/>
                  <a:pt x="1316355" y="17574"/>
                  <a:pt x="1274890" y="24241"/>
                </a:cubicBezTo>
                <a:cubicBezTo>
                  <a:pt x="1233424" y="30909"/>
                  <a:pt x="1191832" y="38973"/>
                  <a:pt x="1150556" y="48562"/>
                </a:cubicBezTo>
                <a:cubicBezTo>
                  <a:pt x="1109218" y="58214"/>
                  <a:pt x="1067880" y="69263"/>
                  <a:pt x="1026986" y="81899"/>
                </a:cubicBezTo>
                <a:cubicBezTo>
                  <a:pt x="986092" y="94599"/>
                  <a:pt x="945261" y="108823"/>
                  <a:pt x="905065" y="124635"/>
                </a:cubicBezTo>
                <a:cubicBezTo>
                  <a:pt x="864870" y="140510"/>
                  <a:pt x="824992" y="157972"/>
                  <a:pt x="785876" y="177086"/>
                </a:cubicBezTo>
                <a:cubicBezTo>
                  <a:pt x="746760" y="196199"/>
                  <a:pt x="708088" y="216964"/>
                  <a:pt x="670433" y="239316"/>
                </a:cubicBezTo>
                <a:cubicBezTo>
                  <a:pt x="632777" y="261731"/>
                  <a:pt x="595694" y="285798"/>
                  <a:pt x="559880" y="311452"/>
                </a:cubicBezTo>
                <a:cubicBezTo>
                  <a:pt x="524065" y="337169"/>
                  <a:pt x="489077" y="364474"/>
                  <a:pt x="455549" y="393367"/>
                </a:cubicBezTo>
                <a:cubicBezTo>
                  <a:pt x="422021" y="422259"/>
                  <a:pt x="389509" y="452803"/>
                  <a:pt x="358648" y="484743"/>
                </a:cubicBezTo>
                <a:cubicBezTo>
                  <a:pt x="327787" y="516684"/>
                  <a:pt x="298196" y="550212"/>
                  <a:pt x="270446" y="585073"/>
                </a:cubicBezTo>
                <a:cubicBezTo>
                  <a:pt x="242697" y="619871"/>
                  <a:pt x="216408" y="656257"/>
                  <a:pt x="192214" y="693722"/>
                </a:cubicBezTo>
                <a:cubicBezTo>
                  <a:pt x="167957" y="731187"/>
                  <a:pt x="145415" y="770049"/>
                  <a:pt x="125031" y="809800"/>
                </a:cubicBezTo>
                <a:cubicBezTo>
                  <a:pt x="104712" y="849551"/>
                  <a:pt x="86233" y="890508"/>
                  <a:pt x="70040" y="932228"/>
                </a:cubicBezTo>
                <a:cubicBezTo>
                  <a:pt x="53912" y="973884"/>
                  <a:pt x="39814" y="1016619"/>
                  <a:pt x="28131" y="1059736"/>
                </a:cubicBezTo>
                <a:cubicBezTo>
                  <a:pt x="16446" y="1102916"/>
                  <a:pt x="4699" y="1169210"/>
                  <a:pt x="0" y="1191054"/>
                </a:cubicBezTo>
              </a:path>
            </a:pathLst>
          </a:custGeom>
          <a:noFill/>
          <a:ln w="3683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arr-2"/>
          <p:cNvSpPr/>
          <p:nvPr/>
        </p:nvSpPr>
        <p:spPr>
          <a:xfrm>
            <a:off x="1946874" y="2964702"/>
            <a:ext cx="147107" cy="105720"/>
          </a:xfrm>
          <a:custGeom>
            <a:avLst/>
            <a:gdLst/>
            <a:ahLst/>
            <a:cxnLst/>
            <a:rect l="0" t="0" r="r" b="b"/>
            <a:pathLst>
              <a:path w="147107" h="105720">
                <a:moveTo>
                  <a:pt x="0" y="0"/>
                </a:moveTo>
                <a:lnTo>
                  <a:pt x="50328" y="105720"/>
                </a:lnTo>
                <a:lnTo>
                  <a:pt x="147107" y="39816"/>
                </a:lnTo>
              </a:path>
            </a:pathLst>
          </a:custGeom>
          <a:noFill/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lab-2"/>
          <p:cNvSpPr txBox="1"/>
          <p:nvPr/>
        </p:nvSpPr>
        <p:spPr>
          <a:xfrm>
            <a:off x="2572948" y="1993067"/>
            <a:ext cx="3937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编码</a:t>
            </a:r>
          </a:p>
        </p:txBody>
      </p:sp>
      <p:sp>
        <p:nvSpPr>
          <p:cNvPr id="18" name="seg-3"/>
          <p:cNvSpPr/>
          <p:nvPr/>
        </p:nvSpPr>
        <p:spPr>
          <a:xfrm>
            <a:off x="1983930" y="3509962"/>
            <a:ext cx="2001266" cy="1191054"/>
          </a:xfrm>
          <a:custGeom>
            <a:avLst/>
            <a:gdLst/>
            <a:ahLst/>
            <a:cxnLst/>
            <a:rect l="0" t="0" r="r" b="b"/>
            <a:pathLst>
              <a:path w="2001266" h="1191054">
                <a:moveTo>
                  <a:pt x="0" y="0"/>
                </a:moveTo>
                <a:cubicBezTo>
                  <a:pt x="4699" y="21844"/>
                  <a:pt x="16446" y="88138"/>
                  <a:pt x="28131" y="131318"/>
                </a:cubicBezTo>
                <a:cubicBezTo>
                  <a:pt x="39814" y="174435"/>
                  <a:pt x="53912" y="217170"/>
                  <a:pt x="70040" y="258826"/>
                </a:cubicBezTo>
                <a:cubicBezTo>
                  <a:pt x="86233" y="300546"/>
                  <a:pt x="104712" y="341503"/>
                  <a:pt x="125031" y="381254"/>
                </a:cubicBezTo>
                <a:cubicBezTo>
                  <a:pt x="145415" y="421005"/>
                  <a:pt x="167957" y="459867"/>
                  <a:pt x="192214" y="497332"/>
                </a:cubicBezTo>
                <a:cubicBezTo>
                  <a:pt x="216408" y="534797"/>
                  <a:pt x="242697" y="571183"/>
                  <a:pt x="270446" y="605980"/>
                </a:cubicBezTo>
                <a:cubicBezTo>
                  <a:pt x="298196" y="640842"/>
                  <a:pt x="327787" y="674370"/>
                  <a:pt x="358648" y="706311"/>
                </a:cubicBezTo>
                <a:cubicBezTo>
                  <a:pt x="389509" y="738251"/>
                  <a:pt x="422021" y="768795"/>
                  <a:pt x="455549" y="797687"/>
                </a:cubicBezTo>
                <a:cubicBezTo>
                  <a:pt x="489077" y="826579"/>
                  <a:pt x="524065" y="853885"/>
                  <a:pt x="559880" y="879602"/>
                </a:cubicBezTo>
                <a:cubicBezTo>
                  <a:pt x="595694" y="905256"/>
                  <a:pt x="632777" y="929323"/>
                  <a:pt x="670433" y="951738"/>
                </a:cubicBezTo>
                <a:cubicBezTo>
                  <a:pt x="708088" y="974090"/>
                  <a:pt x="746760" y="994854"/>
                  <a:pt x="785876" y="1013968"/>
                </a:cubicBezTo>
                <a:cubicBezTo>
                  <a:pt x="824992" y="1033082"/>
                  <a:pt x="864870" y="1050544"/>
                  <a:pt x="905065" y="1066419"/>
                </a:cubicBezTo>
                <a:cubicBezTo>
                  <a:pt x="945261" y="1082230"/>
                  <a:pt x="986092" y="1096454"/>
                  <a:pt x="1026986" y="1109154"/>
                </a:cubicBezTo>
                <a:cubicBezTo>
                  <a:pt x="1067880" y="1121791"/>
                  <a:pt x="1109218" y="1132840"/>
                  <a:pt x="1150556" y="1142492"/>
                </a:cubicBezTo>
                <a:cubicBezTo>
                  <a:pt x="1191832" y="1152080"/>
                  <a:pt x="1233424" y="1160145"/>
                  <a:pt x="1274890" y="1166812"/>
                </a:cubicBezTo>
                <a:cubicBezTo>
                  <a:pt x="1316355" y="1173480"/>
                  <a:pt x="1357947" y="1178624"/>
                  <a:pt x="1399286" y="1182497"/>
                </a:cubicBezTo>
                <a:cubicBezTo>
                  <a:pt x="1440624" y="1186434"/>
                  <a:pt x="1481963" y="1188847"/>
                  <a:pt x="1522984" y="1190117"/>
                </a:cubicBezTo>
                <a:cubicBezTo>
                  <a:pt x="1564005" y="1191387"/>
                  <a:pt x="1604899" y="1191324"/>
                  <a:pt x="1645475" y="1190180"/>
                </a:cubicBezTo>
                <a:cubicBezTo>
                  <a:pt x="1685989" y="1188974"/>
                  <a:pt x="1726311" y="1186561"/>
                  <a:pt x="1766253" y="1183132"/>
                </a:cubicBezTo>
                <a:cubicBezTo>
                  <a:pt x="1806130" y="1179703"/>
                  <a:pt x="1845754" y="1175067"/>
                  <a:pt x="1884934" y="1169543"/>
                </a:cubicBezTo>
                <a:cubicBezTo>
                  <a:pt x="1924114" y="1164082"/>
                  <a:pt x="1981898" y="1153287"/>
                  <a:pt x="2001266" y="1150048"/>
                </a:cubicBezTo>
              </a:path>
            </a:pathLst>
          </a:custGeom>
          <a:noFill/>
          <a:ln w="3683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arr-3"/>
          <p:cNvSpPr/>
          <p:nvPr/>
        </p:nvSpPr>
        <p:spPr>
          <a:xfrm>
            <a:off x="3836258" y="4604013"/>
            <a:ext cx="98661" cy="150910"/>
          </a:xfrm>
          <a:custGeom>
            <a:avLst/>
            <a:gdLst/>
            <a:ahLst/>
            <a:cxnLst/>
            <a:rect l="0" t="0" r="r" b="b"/>
            <a:pathLst>
              <a:path w="98661" h="150910">
                <a:moveTo>
                  <a:pt x="21260" y="150910"/>
                </a:moveTo>
                <a:lnTo>
                  <a:pt x="98661" y="63053"/>
                </a:lnTo>
                <a:lnTo>
                  <a:pt x="0" y="0"/>
                </a:lnTo>
              </a:path>
            </a:pathLst>
          </a:custGeom>
          <a:noFill/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lab-3"/>
          <p:cNvSpPr txBox="1"/>
          <p:nvPr/>
        </p:nvSpPr>
        <p:spPr>
          <a:xfrm>
            <a:off x="2572948" y="4411543"/>
            <a:ext cx="3937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构建</a:t>
            </a:r>
          </a:p>
        </p:txBody>
      </p:sp>
      <p:sp>
        <p:nvSpPr>
          <p:cNvPr id="21" name="seg-4"/>
          <p:cNvSpPr/>
          <p:nvPr/>
        </p:nvSpPr>
        <p:spPr>
          <a:xfrm>
            <a:off x="4309428" y="3412680"/>
            <a:ext cx="1683322" cy="1160653"/>
          </a:xfrm>
          <a:custGeom>
            <a:avLst/>
            <a:gdLst/>
            <a:ahLst/>
            <a:cxnLst/>
            <a:rect l="0" t="0" r="r" b="b"/>
            <a:pathLst>
              <a:path w="1683322" h="1160653">
                <a:moveTo>
                  <a:pt x="0" y="1160653"/>
                </a:moveTo>
                <a:cubicBezTo>
                  <a:pt x="17589" y="1154240"/>
                  <a:pt x="70802" y="1135698"/>
                  <a:pt x="105537" y="1122299"/>
                </a:cubicBezTo>
                <a:cubicBezTo>
                  <a:pt x="140208" y="1108900"/>
                  <a:pt x="174435" y="1094804"/>
                  <a:pt x="208153" y="1080262"/>
                </a:cubicBezTo>
                <a:cubicBezTo>
                  <a:pt x="241935" y="1065657"/>
                  <a:pt x="275209" y="1050481"/>
                  <a:pt x="307975" y="1034860"/>
                </a:cubicBezTo>
                <a:cubicBezTo>
                  <a:pt x="340805" y="1019239"/>
                  <a:pt x="373126" y="1003046"/>
                  <a:pt x="405003" y="986536"/>
                </a:cubicBezTo>
                <a:cubicBezTo>
                  <a:pt x="436880" y="969962"/>
                  <a:pt x="468312" y="952881"/>
                  <a:pt x="499300" y="935482"/>
                </a:cubicBezTo>
                <a:cubicBezTo>
                  <a:pt x="530288" y="918083"/>
                  <a:pt x="560832" y="900240"/>
                  <a:pt x="590995" y="882079"/>
                </a:cubicBezTo>
                <a:cubicBezTo>
                  <a:pt x="621157" y="863981"/>
                  <a:pt x="650875" y="845439"/>
                  <a:pt x="680212" y="826643"/>
                </a:cubicBezTo>
                <a:cubicBezTo>
                  <a:pt x="709612" y="807847"/>
                  <a:pt x="738505" y="788670"/>
                  <a:pt x="767144" y="769303"/>
                </a:cubicBezTo>
                <a:cubicBezTo>
                  <a:pt x="795719" y="749935"/>
                  <a:pt x="823912" y="730250"/>
                  <a:pt x="851789" y="710311"/>
                </a:cubicBezTo>
                <a:cubicBezTo>
                  <a:pt x="879665" y="690436"/>
                  <a:pt x="907161" y="670306"/>
                  <a:pt x="934402" y="649923"/>
                </a:cubicBezTo>
                <a:cubicBezTo>
                  <a:pt x="961644" y="629603"/>
                  <a:pt x="988505" y="609029"/>
                  <a:pt x="1015111" y="588328"/>
                </a:cubicBezTo>
                <a:cubicBezTo>
                  <a:pt x="1041781" y="567563"/>
                  <a:pt x="1068070" y="546672"/>
                  <a:pt x="1094105" y="525590"/>
                </a:cubicBezTo>
                <a:cubicBezTo>
                  <a:pt x="1120203" y="504508"/>
                  <a:pt x="1145985" y="483299"/>
                  <a:pt x="1171512" y="461899"/>
                </a:cubicBezTo>
                <a:cubicBezTo>
                  <a:pt x="1197102" y="440563"/>
                  <a:pt x="1222375" y="419100"/>
                  <a:pt x="1247521" y="397447"/>
                </a:cubicBezTo>
                <a:cubicBezTo>
                  <a:pt x="1272667" y="375857"/>
                  <a:pt x="1297559" y="354140"/>
                  <a:pt x="1322324" y="332296"/>
                </a:cubicBezTo>
                <a:cubicBezTo>
                  <a:pt x="1347026" y="310515"/>
                  <a:pt x="1371600" y="288608"/>
                  <a:pt x="1395984" y="266637"/>
                </a:cubicBezTo>
                <a:cubicBezTo>
                  <a:pt x="1420368" y="244602"/>
                  <a:pt x="1444625" y="222568"/>
                  <a:pt x="1468755" y="200406"/>
                </a:cubicBezTo>
                <a:cubicBezTo>
                  <a:pt x="1492885" y="178308"/>
                  <a:pt x="1516888" y="156083"/>
                  <a:pt x="1540764" y="133858"/>
                </a:cubicBezTo>
                <a:cubicBezTo>
                  <a:pt x="1564703" y="111633"/>
                  <a:pt x="1588516" y="89345"/>
                  <a:pt x="1612265" y="67056"/>
                </a:cubicBezTo>
                <a:cubicBezTo>
                  <a:pt x="1636014" y="44704"/>
                  <a:pt x="1671447" y="11176"/>
                  <a:pt x="1683322" y="0"/>
                </a:cubicBezTo>
              </a:path>
            </a:pathLst>
          </a:custGeom>
          <a:noFill/>
          <a:ln w="3683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lab-4"/>
          <p:cNvSpPr txBox="1"/>
          <p:nvPr/>
        </p:nvSpPr>
        <p:spPr>
          <a:xfrm>
            <a:off x="5046989" y="3950234"/>
            <a:ext cx="3937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测试</a:t>
            </a:r>
          </a:p>
        </p:txBody>
      </p:sp>
      <p:sp>
        <p:nvSpPr>
          <p:cNvPr id="23" name="seg-5"/>
          <p:cNvSpPr/>
          <p:nvPr/>
        </p:nvSpPr>
        <p:spPr>
          <a:xfrm>
            <a:off x="6199251" y="2056067"/>
            <a:ext cx="1683321" cy="1160653"/>
          </a:xfrm>
          <a:custGeom>
            <a:avLst/>
            <a:gdLst/>
            <a:ahLst/>
            <a:cxnLst/>
            <a:rect l="0" t="0" r="r" b="b"/>
            <a:pathLst>
              <a:path w="1683321" h="1160653">
                <a:moveTo>
                  <a:pt x="0" y="1160653"/>
                </a:moveTo>
                <a:cubicBezTo>
                  <a:pt x="11875" y="1149477"/>
                  <a:pt x="47308" y="1115949"/>
                  <a:pt x="71057" y="1093597"/>
                </a:cubicBezTo>
                <a:cubicBezTo>
                  <a:pt x="94806" y="1071308"/>
                  <a:pt x="118618" y="1049020"/>
                  <a:pt x="142558" y="1026795"/>
                </a:cubicBezTo>
                <a:cubicBezTo>
                  <a:pt x="166434" y="1004570"/>
                  <a:pt x="190437" y="982345"/>
                  <a:pt x="214566" y="960247"/>
                </a:cubicBezTo>
                <a:cubicBezTo>
                  <a:pt x="238697" y="938085"/>
                  <a:pt x="262953" y="916051"/>
                  <a:pt x="287338" y="894016"/>
                </a:cubicBezTo>
                <a:cubicBezTo>
                  <a:pt x="311721" y="872045"/>
                  <a:pt x="336296" y="850138"/>
                  <a:pt x="360997" y="828357"/>
                </a:cubicBezTo>
                <a:cubicBezTo>
                  <a:pt x="385762" y="806514"/>
                  <a:pt x="410655" y="784796"/>
                  <a:pt x="435801" y="763206"/>
                </a:cubicBezTo>
                <a:cubicBezTo>
                  <a:pt x="460946" y="741553"/>
                  <a:pt x="486219" y="720090"/>
                  <a:pt x="511810" y="698754"/>
                </a:cubicBezTo>
                <a:cubicBezTo>
                  <a:pt x="537337" y="677354"/>
                  <a:pt x="563118" y="656145"/>
                  <a:pt x="589216" y="635064"/>
                </a:cubicBezTo>
                <a:cubicBezTo>
                  <a:pt x="615252" y="613982"/>
                  <a:pt x="641540" y="593090"/>
                  <a:pt x="668211" y="572326"/>
                </a:cubicBezTo>
                <a:cubicBezTo>
                  <a:pt x="694817" y="551624"/>
                  <a:pt x="721678" y="531050"/>
                  <a:pt x="748919" y="510731"/>
                </a:cubicBezTo>
                <a:cubicBezTo>
                  <a:pt x="776161" y="490347"/>
                  <a:pt x="803656" y="470217"/>
                  <a:pt x="831533" y="450342"/>
                </a:cubicBezTo>
                <a:cubicBezTo>
                  <a:pt x="859409" y="430403"/>
                  <a:pt x="887603" y="410718"/>
                  <a:pt x="916178" y="391350"/>
                </a:cubicBezTo>
                <a:cubicBezTo>
                  <a:pt x="944816" y="371983"/>
                  <a:pt x="973709" y="352806"/>
                  <a:pt x="1003110" y="334010"/>
                </a:cubicBezTo>
                <a:cubicBezTo>
                  <a:pt x="1032446" y="315214"/>
                  <a:pt x="1062164" y="296672"/>
                  <a:pt x="1092327" y="278574"/>
                </a:cubicBezTo>
                <a:cubicBezTo>
                  <a:pt x="1122490" y="260413"/>
                  <a:pt x="1153033" y="242570"/>
                  <a:pt x="1184021" y="225171"/>
                </a:cubicBezTo>
                <a:cubicBezTo>
                  <a:pt x="1215009" y="207772"/>
                  <a:pt x="1246441" y="190690"/>
                  <a:pt x="1278318" y="174117"/>
                </a:cubicBezTo>
                <a:cubicBezTo>
                  <a:pt x="1310195" y="157607"/>
                  <a:pt x="1342517" y="141414"/>
                  <a:pt x="1375346" y="125794"/>
                </a:cubicBezTo>
                <a:cubicBezTo>
                  <a:pt x="1408112" y="110172"/>
                  <a:pt x="1441386" y="94996"/>
                  <a:pt x="1475168" y="80391"/>
                </a:cubicBezTo>
                <a:cubicBezTo>
                  <a:pt x="1508887" y="65850"/>
                  <a:pt x="1543114" y="51752"/>
                  <a:pt x="1577785" y="38354"/>
                </a:cubicBezTo>
                <a:cubicBezTo>
                  <a:pt x="1612519" y="24956"/>
                  <a:pt x="1665732" y="6413"/>
                  <a:pt x="1683321" y="0"/>
                </a:cubicBezTo>
              </a:path>
            </a:pathLst>
          </a:custGeom>
          <a:noFill/>
          <a:ln w="3683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arr-5"/>
          <p:cNvSpPr/>
          <p:nvPr/>
        </p:nvSpPr>
        <p:spPr>
          <a:xfrm>
            <a:off x="7724821" y="2035307"/>
            <a:ext cx="110380" cy="142170"/>
          </a:xfrm>
          <a:custGeom>
            <a:avLst/>
            <a:gdLst/>
            <a:ahLst/>
            <a:cxnLst/>
            <a:rect l="0" t="0" r="r" b="b"/>
            <a:pathLst>
              <a:path w="110380" h="142170">
                <a:moveTo>
                  <a:pt x="54894" y="142170"/>
                </a:moveTo>
                <a:lnTo>
                  <a:pt x="110380" y="39064"/>
                </a:lnTo>
                <a:lnTo>
                  <a:pt x="0" y="0"/>
                </a:lnTo>
              </a:path>
            </a:pathLst>
          </a:custGeom>
          <a:noFill/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lab-5"/>
          <p:cNvSpPr txBox="1"/>
          <p:nvPr/>
        </p:nvSpPr>
        <p:spPr>
          <a:xfrm>
            <a:off x="6751311" y="2454376"/>
            <a:ext cx="3937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发布</a:t>
            </a:r>
          </a:p>
        </p:txBody>
      </p:sp>
      <p:sp>
        <p:nvSpPr>
          <p:cNvPr id="26" name="seg-6"/>
          <p:cNvSpPr/>
          <p:nvPr/>
        </p:nvSpPr>
        <p:spPr>
          <a:xfrm>
            <a:off x="8206804" y="1928384"/>
            <a:ext cx="2001266" cy="1191054"/>
          </a:xfrm>
          <a:custGeom>
            <a:avLst/>
            <a:gdLst/>
            <a:ahLst/>
            <a:cxnLst/>
            <a:rect l="0" t="0" r="r" b="b"/>
            <a:pathLst>
              <a:path w="2001266" h="1191054">
                <a:moveTo>
                  <a:pt x="0" y="41005"/>
                </a:moveTo>
                <a:cubicBezTo>
                  <a:pt x="19367" y="37767"/>
                  <a:pt x="77152" y="26972"/>
                  <a:pt x="116332" y="21511"/>
                </a:cubicBezTo>
                <a:cubicBezTo>
                  <a:pt x="155512" y="15986"/>
                  <a:pt x="195136" y="11351"/>
                  <a:pt x="235013" y="7922"/>
                </a:cubicBezTo>
                <a:cubicBezTo>
                  <a:pt x="274955" y="4493"/>
                  <a:pt x="315277" y="2080"/>
                  <a:pt x="355790" y="873"/>
                </a:cubicBezTo>
                <a:cubicBezTo>
                  <a:pt x="396367" y="-270"/>
                  <a:pt x="437261" y="-333"/>
                  <a:pt x="478282" y="937"/>
                </a:cubicBezTo>
                <a:cubicBezTo>
                  <a:pt x="519303" y="2207"/>
                  <a:pt x="560641" y="4620"/>
                  <a:pt x="601980" y="8557"/>
                </a:cubicBezTo>
                <a:cubicBezTo>
                  <a:pt x="643318" y="12430"/>
                  <a:pt x="684911" y="17574"/>
                  <a:pt x="726376" y="24241"/>
                </a:cubicBezTo>
                <a:cubicBezTo>
                  <a:pt x="767842" y="30909"/>
                  <a:pt x="809435" y="38973"/>
                  <a:pt x="850710" y="48562"/>
                </a:cubicBezTo>
                <a:cubicBezTo>
                  <a:pt x="892048" y="58214"/>
                  <a:pt x="933386" y="69263"/>
                  <a:pt x="974280" y="81899"/>
                </a:cubicBezTo>
                <a:cubicBezTo>
                  <a:pt x="1015174" y="94599"/>
                  <a:pt x="1056005" y="108823"/>
                  <a:pt x="1096200" y="124635"/>
                </a:cubicBezTo>
                <a:cubicBezTo>
                  <a:pt x="1136396" y="140510"/>
                  <a:pt x="1176274" y="157972"/>
                  <a:pt x="1215390" y="177086"/>
                </a:cubicBezTo>
                <a:cubicBezTo>
                  <a:pt x="1254506" y="196199"/>
                  <a:pt x="1293177" y="216964"/>
                  <a:pt x="1330833" y="239316"/>
                </a:cubicBezTo>
                <a:cubicBezTo>
                  <a:pt x="1368488" y="261731"/>
                  <a:pt x="1405572" y="285798"/>
                  <a:pt x="1441386" y="311452"/>
                </a:cubicBezTo>
                <a:cubicBezTo>
                  <a:pt x="1477200" y="337169"/>
                  <a:pt x="1512189" y="364474"/>
                  <a:pt x="1545717" y="393367"/>
                </a:cubicBezTo>
                <a:cubicBezTo>
                  <a:pt x="1579245" y="422259"/>
                  <a:pt x="1611757" y="452803"/>
                  <a:pt x="1642618" y="484743"/>
                </a:cubicBezTo>
                <a:cubicBezTo>
                  <a:pt x="1673479" y="516684"/>
                  <a:pt x="1703070" y="550212"/>
                  <a:pt x="1730819" y="585073"/>
                </a:cubicBezTo>
                <a:cubicBezTo>
                  <a:pt x="1758569" y="619871"/>
                  <a:pt x="1784858" y="656257"/>
                  <a:pt x="1809051" y="693722"/>
                </a:cubicBezTo>
                <a:cubicBezTo>
                  <a:pt x="1833308" y="731187"/>
                  <a:pt x="1855851" y="770049"/>
                  <a:pt x="1876235" y="809800"/>
                </a:cubicBezTo>
                <a:cubicBezTo>
                  <a:pt x="1896554" y="849551"/>
                  <a:pt x="1915033" y="890508"/>
                  <a:pt x="1931225" y="932228"/>
                </a:cubicBezTo>
                <a:cubicBezTo>
                  <a:pt x="1947354" y="973884"/>
                  <a:pt x="1961451" y="1016619"/>
                  <a:pt x="1973136" y="1059736"/>
                </a:cubicBezTo>
                <a:cubicBezTo>
                  <a:pt x="1984819" y="1102916"/>
                  <a:pt x="1996567" y="1169210"/>
                  <a:pt x="2001266" y="1191054"/>
                </a:cubicBezTo>
              </a:path>
            </a:pathLst>
          </a:custGeom>
          <a:noFill/>
          <a:ln w="36830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arr-6"/>
          <p:cNvSpPr/>
          <p:nvPr/>
        </p:nvSpPr>
        <p:spPr>
          <a:xfrm>
            <a:off x="10098019" y="2964702"/>
            <a:ext cx="147107" cy="105720"/>
          </a:xfrm>
          <a:custGeom>
            <a:avLst/>
            <a:gdLst/>
            <a:ahLst/>
            <a:cxnLst/>
            <a:rect l="0" t="0" r="r" b="b"/>
            <a:pathLst>
              <a:path w="147107" h="105720">
                <a:moveTo>
                  <a:pt x="0" y="39816"/>
                </a:moveTo>
                <a:lnTo>
                  <a:pt x="96779" y="105720"/>
                </a:lnTo>
                <a:lnTo>
                  <a:pt x="147107" y="0"/>
                </a:lnTo>
              </a:path>
            </a:pathLst>
          </a:custGeom>
          <a:noFill/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lab-6"/>
          <p:cNvSpPr txBox="1"/>
          <p:nvPr/>
        </p:nvSpPr>
        <p:spPr>
          <a:xfrm>
            <a:off x="9225352" y="1993067"/>
            <a:ext cx="3937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部署</a:t>
            </a:r>
          </a:p>
        </p:txBody>
      </p:sp>
      <p:sp>
        <p:nvSpPr>
          <p:cNvPr id="29" name="seg-7"/>
          <p:cNvSpPr/>
          <p:nvPr/>
        </p:nvSpPr>
        <p:spPr>
          <a:xfrm>
            <a:off x="8206804" y="3509962"/>
            <a:ext cx="2001266" cy="1191054"/>
          </a:xfrm>
          <a:custGeom>
            <a:avLst/>
            <a:gdLst/>
            <a:ahLst/>
            <a:cxnLst/>
            <a:rect l="0" t="0" r="r" b="b"/>
            <a:pathLst>
              <a:path w="2001266" h="1191054">
                <a:moveTo>
                  <a:pt x="2001266" y="0"/>
                </a:moveTo>
                <a:cubicBezTo>
                  <a:pt x="1996567" y="21844"/>
                  <a:pt x="1984819" y="88138"/>
                  <a:pt x="1973136" y="131318"/>
                </a:cubicBezTo>
                <a:cubicBezTo>
                  <a:pt x="1961451" y="174435"/>
                  <a:pt x="1947354" y="217170"/>
                  <a:pt x="1931225" y="258826"/>
                </a:cubicBezTo>
                <a:cubicBezTo>
                  <a:pt x="1915033" y="300546"/>
                  <a:pt x="1896554" y="341503"/>
                  <a:pt x="1876235" y="381254"/>
                </a:cubicBezTo>
                <a:cubicBezTo>
                  <a:pt x="1855851" y="421005"/>
                  <a:pt x="1833308" y="459867"/>
                  <a:pt x="1809051" y="497332"/>
                </a:cubicBezTo>
                <a:cubicBezTo>
                  <a:pt x="1784858" y="534797"/>
                  <a:pt x="1758569" y="571183"/>
                  <a:pt x="1730819" y="605980"/>
                </a:cubicBezTo>
                <a:cubicBezTo>
                  <a:pt x="1703070" y="640842"/>
                  <a:pt x="1673479" y="674370"/>
                  <a:pt x="1642618" y="706311"/>
                </a:cubicBezTo>
                <a:cubicBezTo>
                  <a:pt x="1611757" y="738251"/>
                  <a:pt x="1579245" y="768795"/>
                  <a:pt x="1545717" y="797687"/>
                </a:cubicBezTo>
                <a:cubicBezTo>
                  <a:pt x="1512189" y="826579"/>
                  <a:pt x="1477200" y="853885"/>
                  <a:pt x="1441386" y="879602"/>
                </a:cubicBezTo>
                <a:cubicBezTo>
                  <a:pt x="1405572" y="905256"/>
                  <a:pt x="1368488" y="929323"/>
                  <a:pt x="1330833" y="951738"/>
                </a:cubicBezTo>
                <a:cubicBezTo>
                  <a:pt x="1293177" y="974090"/>
                  <a:pt x="1254506" y="994854"/>
                  <a:pt x="1215390" y="1013968"/>
                </a:cubicBezTo>
                <a:cubicBezTo>
                  <a:pt x="1176274" y="1033082"/>
                  <a:pt x="1136396" y="1050544"/>
                  <a:pt x="1096200" y="1066419"/>
                </a:cubicBezTo>
                <a:cubicBezTo>
                  <a:pt x="1056005" y="1082230"/>
                  <a:pt x="1015174" y="1096454"/>
                  <a:pt x="974280" y="1109154"/>
                </a:cubicBezTo>
                <a:cubicBezTo>
                  <a:pt x="933386" y="1121791"/>
                  <a:pt x="892048" y="1132840"/>
                  <a:pt x="850710" y="1142492"/>
                </a:cubicBezTo>
                <a:cubicBezTo>
                  <a:pt x="809435" y="1152080"/>
                  <a:pt x="767842" y="1160145"/>
                  <a:pt x="726376" y="1166812"/>
                </a:cubicBezTo>
                <a:cubicBezTo>
                  <a:pt x="684911" y="1173480"/>
                  <a:pt x="643318" y="1178624"/>
                  <a:pt x="601980" y="1182497"/>
                </a:cubicBezTo>
                <a:cubicBezTo>
                  <a:pt x="560641" y="1186434"/>
                  <a:pt x="519303" y="1188847"/>
                  <a:pt x="478282" y="1190117"/>
                </a:cubicBezTo>
                <a:cubicBezTo>
                  <a:pt x="437261" y="1191387"/>
                  <a:pt x="396367" y="1191324"/>
                  <a:pt x="355790" y="1190180"/>
                </a:cubicBezTo>
                <a:cubicBezTo>
                  <a:pt x="315277" y="1188974"/>
                  <a:pt x="274955" y="1186561"/>
                  <a:pt x="235013" y="1183132"/>
                </a:cubicBezTo>
                <a:cubicBezTo>
                  <a:pt x="195136" y="1179703"/>
                  <a:pt x="155512" y="1175067"/>
                  <a:pt x="116332" y="1169543"/>
                </a:cubicBezTo>
                <a:cubicBezTo>
                  <a:pt x="77152" y="1164082"/>
                  <a:pt x="19367" y="1153287"/>
                  <a:pt x="0" y="1150048"/>
                </a:cubicBezTo>
              </a:path>
            </a:pathLst>
          </a:custGeom>
          <a:noFill/>
          <a:ln w="3683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arr-7"/>
          <p:cNvSpPr/>
          <p:nvPr/>
        </p:nvSpPr>
        <p:spPr>
          <a:xfrm>
            <a:off x="8257081" y="4604013"/>
            <a:ext cx="98661" cy="150910"/>
          </a:xfrm>
          <a:custGeom>
            <a:avLst/>
            <a:gdLst/>
            <a:ahLst/>
            <a:cxnLst/>
            <a:rect l="0" t="0" r="r" b="b"/>
            <a:pathLst>
              <a:path w="98661" h="150910">
                <a:moveTo>
                  <a:pt x="98661" y="0"/>
                </a:moveTo>
                <a:lnTo>
                  <a:pt x="0" y="63053"/>
                </a:lnTo>
                <a:lnTo>
                  <a:pt x="77401" y="150910"/>
                </a:lnTo>
              </a:path>
            </a:pathLst>
          </a:custGeom>
          <a:noFill/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lab-7"/>
          <p:cNvSpPr txBox="1"/>
          <p:nvPr/>
        </p:nvSpPr>
        <p:spPr>
          <a:xfrm>
            <a:off x="9225352" y="4411543"/>
            <a:ext cx="3937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运营</a:t>
            </a:r>
          </a:p>
        </p:txBody>
      </p:sp>
      <p:sp>
        <p:nvSpPr>
          <p:cNvPr id="32" name="seg-8"/>
          <p:cNvSpPr/>
          <p:nvPr/>
        </p:nvSpPr>
        <p:spPr>
          <a:xfrm>
            <a:off x="6199251" y="3412680"/>
            <a:ext cx="1683321" cy="1160653"/>
          </a:xfrm>
          <a:custGeom>
            <a:avLst/>
            <a:gdLst/>
            <a:ahLst/>
            <a:cxnLst/>
            <a:rect l="0" t="0" r="r" b="b"/>
            <a:pathLst>
              <a:path w="1683321" h="1160653">
                <a:moveTo>
                  <a:pt x="1683321" y="1160653"/>
                </a:moveTo>
                <a:cubicBezTo>
                  <a:pt x="1665732" y="1154240"/>
                  <a:pt x="1612519" y="1135698"/>
                  <a:pt x="1577785" y="1122299"/>
                </a:cubicBezTo>
                <a:cubicBezTo>
                  <a:pt x="1543114" y="1108900"/>
                  <a:pt x="1508887" y="1094804"/>
                  <a:pt x="1475168" y="1080262"/>
                </a:cubicBezTo>
                <a:cubicBezTo>
                  <a:pt x="1441386" y="1065657"/>
                  <a:pt x="1408112" y="1050481"/>
                  <a:pt x="1375346" y="1034860"/>
                </a:cubicBezTo>
                <a:cubicBezTo>
                  <a:pt x="1342517" y="1019239"/>
                  <a:pt x="1310195" y="1003046"/>
                  <a:pt x="1278318" y="986536"/>
                </a:cubicBezTo>
                <a:cubicBezTo>
                  <a:pt x="1246441" y="969962"/>
                  <a:pt x="1215009" y="952881"/>
                  <a:pt x="1184021" y="935482"/>
                </a:cubicBezTo>
                <a:cubicBezTo>
                  <a:pt x="1153033" y="918083"/>
                  <a:pt x="1122490" y="900240"/>
                  <a:pt x="1092327" y="882079"/>
                </a:cubicBezTo>
                <a:cubicBezTo>
                  <a:pt x="1062164" y="863981"/>
                  <a:pt x="1032446" y="845439"/>
                  <a:pt x="1003110" y="826643"/>
                </a:cubicBezTo>
                <a:cubicBezTo>
                  <a:pt x="973709" y="807847"/>
                  <a:pt x="944816" y="788670"/>
                  <a:pt x="916178" y="769303"/>
                </a:cubicBezTo>
                <a:cubicBezTo>
                  <a:pt x="887603" y="749935"/>
                  <a:pt x="859409" y="730250"/>
                  <a:pt x="831533" y="710311"/>
                </a:cubicBezTo>
                <a:cubicBezTo>
                  <a:pt x="803656" y="690436"/>
                  <a:pt x="776161" y="670306"/>
                  <a:pt x="748919" y="649923"/>
                </a:cubicBezTo>
                <a:cubicBezTo>
                  <a:pt x="721678" y="629603"/>
                  <a:pt x="694817" y="609029"/>
                  <a:pt x="668211" y="588328"/>
                </a:cubicBezTo>
                <a:cubicBezTo>
                  <a:pt x="641540" y="567563"/>
                  <a:pt x="615252" y="546672"/>
                  <a:pt x="589216" y="525590"/>
                </a:cubicBezTo>
                <a:cubicBezTo>
                  <a:pt x="563118" y="504508"/>
                  <a:pt x="537337" y="483299"/>
                  <a:pt x="511810" y="461899"/>
                </a:cubicBezTo>
                <a:cubicBezTo>
                  <a:pt x="486219" y="440563"/>
                  <a:pt x="460946" y="419100"/>
                  <a:pt x="435801" y="397447"/>
                </a:cubicBezTo>
                <a:cubicBezTo>
                  <a:pt x="410655" y="375857"/>
                  <a:pt x="385762" y="354140"/>
                  <a:pt x="360997" y="332296"/>
                </a:cubicBezTo>
                <a:cubicBezTo>
                  <a:pt x="336296" y="310515"/>
                  <a:pt x="311721" y="288608"/>
                  <a:pt x="287338" y="266637"/>
                </a:cubicBezTo>
                <a:cubicBezTo>
                  <a:pt x="262953" y="244602"/>
                  <a:pt x="238697" y="222568"/>
                  <a:pt x="214566" y="200406"/>
                </a:cubicBezTo>
                <a:cubicBezTo>
                  <a:pt x="190437" y="178308"/>
                  <a:pt x="166434" y="156083"/>
                  <a:pt x="142558" y="133858"/>
                </a:cubicBezTo>
                <a:cubicBezTo>
                  <a:pt x="118618" y="111633"/>
                  <a:pt x="94806" y="89345"/>
                  <a:pt x="71057" y="67056"/>
                </a:cubicBezTo>
                <a:cubicBezTo>
                  <a:pt x="47308" y="44704"/>
                  <a:pt x="11875" y="11176"/>
                  <a:pt x="0" y="0"/>
                </a:cubicBezTo>
              </a:path>
            </a:pathLst>
          </a:custGeom>
          <a:noFill/>
          <a:ln w="36830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lab-8"/>
          <p:cNvSpPr txBox="1"/>
          <p:nvPr/>
        </p:nvSpPr>
        <p:spPr>
          <a:xfrm>
            <a:off x="6751311" y="3950234"/>
            <a:ext cx="3937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监控</a:t>
            </a:r>
          </a:p>
        </p:txBody>
      </p:sp>
      <p:sp>
        <p:nvSpPr>
          <p:cNvPr id="34" name="lobe-t1"/>
          <p:cNvSpPr txBox="1"/>
          <p:nvPr/>
        </p:nvSpPr>
        <p:spPr>
          <a:xfrm>
            <a:off x="3331845" y="3022664"/>
            <a:ext cx="702310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700" b="1" spc="30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开发</a:t>
            </a:r>
          </a:p>
        </p:txBody>
      </p:sp>
      <p:sp>
        <p:nvSpPr>
          <p:cNvPr id="35" name="lobe-e1"/>
          <p:cNvSpPr txBox="1"/>
          <p:nvPr/>
        </p:nvSpPr>
        <p:spPr>
          <a:xfrm>
            <a:off x="3502978" y="3387566"/>
            <a:ext cx="3600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300">
                <a:solidFill>
                  <a:srgbClr val="0B3E8F">
                    <a:alpha val="60000"/>
                  </a:srgbClr>
                </a:solidFill>
                <a:latin typeface="Arial"/>
                <a:ea typeface="Arial"/>
                <a:cs typeface="Arial"/>
              </a:rPr>
              <a:t>DEV</a:t>
            </a:r>
          </a:p>
        </p:txBody>
      </p:sp>
      <p:sp>
        <p:nvSpPr>
          <p:cNvPr id="36" name="lobe-t2"/>
          <p:cNvSpPr txBox="1"/>
          <p:nvPr/>
        </p:nvSpPr>
        <p:spPr>
          <a:xfrm>
            <a:off x="8157845" y="3022664"/>
            <a:ext cx="702310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700" b="1" spc="300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运维</a:t>
            </a:r>
          </a:p>
        </p:txBody>
      </p:sp>
      <p:sp>
        <p:nvSpPr>
          <p:cNvPr id="37" name="lobe-e2"/>
          <p:cNvSpPr txBox="1"/>
          <p:nvPr/>
        </p:nvSpPr>
        <p:spPr>
          <a:xfrm>
            <a:off x="8328978" y="3387566"/>
            <a:ext cx="3600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300">
                <a:solidFill>
                  <a:srgbClr val="2E77C2">
                    <a:alpha val="60000"/>
                  </a:srgbClr>
                </a:solidFill>
                <a:latin typeface="Arial"/>
                <a:ea typeface="Arial"/>
                <a:cs typeface="Arial"/>
              </a:rPr>
              <a:t>OPS</a:t>
            </a:r>
          </a:p>
        </p:txBody>
      </p:sp>
      <p:sp>
        <p:nvSpPr>
          <p:cNvPr id="38" name="cross"/>
          <p:cNvSpPr/>
          <p:nvPr/>
        </p:nvSpPr>
        <p:spPr>
          <a:xfrm>
            <a:off x="5880100" y="3098800"/>
            <a:ext cx="431800" cy="4318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E0703A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icon-process"/>
          <p:cNvSpPr/>
          <p:nvPr/>
        </p:nvSpPr>
        <p:spPr>
          <a:xfrm>
            <a:off x="6041200" y="3285046"/>
            <a:ext cx="109601" cy="59309"/>
          </a:xfrm>
          <a:custGeom>
            <a:avLst/>
            <a:gdLst/>
            <a:ahLst/>
            <a:cxnLst/>
            <a:rect l="0" t="0" r="r" b="b"/>
            <a:pathLst>
              <a:path w="109601" h="59309">
                <a:moveTo>
                  <a:pt x="0" y="0"/>
                </a:moveTo>
                <a:lnTo>
                  <a:pt x="38481" y="0"/>
                </a:lnTo>
                <a:lnTo>
                  <a:pt x="38481" y="38544"/>
                </a:lnTo>
                <a:lnTo>
                  <a:pt x="0" y="38544"/>
                </a:lnTo>
                <a:close/>
                <a:moveTo>
                  <a:pt x="71120" y="20764"/>
                </a:moveTo>
                <a:lnTo>
                  <a:pt x="109601" y="20764"/>
                </a:lnTo>
                <a:lnTo>
                  <a:pt x="109601" y="59309"/>
                </a:lnTo>
                <a:lnTo>
                  <a:pt x="71120" y="59309"/>
                </a:lnTo>
                <a:close/>
                <a:moveTo>
                  <a:pt x="38481" y="19304"/>
                </a:moveTo>
                <a:lnTo>
                  <a:pt x="71120" y="19304"/>
                </a:lnTo>
              </a:path>
            </a:pathLst>
          </a:custGeom>
          <a:noFill/>
          <a:ln w="1397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mt-h"/>
          <p:cNvSpPr txBox="1"/>
          <p:nvPr/>
        </p:nvSpPr>
        <p:spPr>
          <a:xfrm>
            <a:off x="941070" y="5000466"/>
            <a:ext cx="8235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一年前 → 现在</a:t>
            </a:r>
          </a:p>
        </p:txBody>
      </p:sp>
      <p:sp>
        <p:nvSpPr>
          <p:cNvPr id="41" name="mt-1"/>
          <p:cNvSpPr/>
          <p:nvPr/>
        </p:nvSpPr>
        <p:spPr>
          <a:xfrm>
            <a:off x="952500" y="5232400"/>
            <a:ext cx="2476500" cy="889000"/>
          </a:xfrm>
          <a:custGeom>
            <a:avLst/>
            <a:gdLst/>
            <a:ahLst/>
            <a:cxnLst/>
            <a:rect l="0" t="0" r="r" b="b"/>
            <a:pathLst>
              <a:path w="2476500" h="889000">
                <a:moveTo>
                  <a:pt x="127000" y="0"/>
                </a:moveTo>
                <a:lnTo>
                  <a:pt x="2349500" y="0"/>
                </a:lnTo>
                <a:cubicBezTo>
                  <a:pt x="2419667" y="0"/>
                  <a:pt x="2476500" y="56833"/>
                  <a:pt x="2476500" y="127000"/>
                </a:cubicBezTo>
                <a:lnTo>
                  <a:pt x="2476500" y="762000"/>
                </a:lnTo>
                <a:cubicBezTo>
                  <a:pt x="2476500" y="832167"/>
                  <a:pt x="2419667" y="889000"/>
                  <a:pt x="2349500" y="889000"/>
                </a:cubicBezTo>
                <a:lnTo>
                  <a:pt x="127000" y="889000"/>
                </a:lnTo>
                <a:cubicBezTo>
                  <a:pt x="56832" y="889000"/>
                  <a:pt x="0" y="832167"/>
                  <a:pt x="0" y="762000"/>
                </a:cubicBezTo>
                <a:lnTo>
                  <a:pt x="0" y="127000"/>
                </a:lnTo>
                <a:cubicBezTo>
                  <a:pt x="0" y="56833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mtb-1"/>
          <p:cNvSpPr/>
          <p:nvPr/>
        </p:nvSpPr>
        <p:spPr>
          <a:xfrm>
            <a:off x="952500" y="5232400"/>
            <a:ext cx="38100" cy="889000"/>
          </a:xfrm>
          <a:custGeom>
            <a:avLst/>
            <a:gdLst/>
            <a:ahLst/>
            <a:cxnLst/>
            <a:rect l="0" t="0" r="r" b="b"/>
            <a:pathLst>
              <a:path w="38100" h="889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869950"/>
                </a:lnTo>
                <a:cubicBezTo>
                  <a:pt x="38100" y="880491"/>
                  <a:pt x="29591" y="889000"/>
                  <a:pt x="19050" y="889000"/>
                </a:cubicBezTo>
                <a:lnTo>
                  <a:pt x="19050" y="889000"/>
                </a:lnTo>
                <a:cubicBezTo>
                  <a:pt x="8509" y="889000"/>
                  <a:pt x="0" y="880491"/>
                  <a:pt x="0" y="869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chip"/>
          <p:cNvSpPr/>
          <p:nvPr/>
        </p:nvSpPr>
        <p:spPr>
          <a:xfrm>
            <a:off x="1104900" y="5384800"/>
            <a:ext cx="330200" cy="330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chip-ring"/>
          <p:cNvSpPr/>
          <p:nvPr/>
        </p:nvSpPr>
        <p:spPr>
          <a:xfrm>
            <a:off x="1104900" y="5384800"/>
            <a:ext cx="330200" cy="330200"/>
          </a:xfrm>
          <a:prstGeom prst="ellipse">
            <a:avLst/>
          </a:prstGeom>
          <a:noFill/>
          <a:ln w="6350" cap="rnd">
            <a:solidFill>
              <a:srgbClr val="0B3E8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icon-rocket"/>
          <p:cNvSpPr/>
          <p:nvPr/>
        </p:nvSpPr>
        <p:spPr>
          <a:xfrm>
            <a:off x="1228090" y="5494020"/>
            <a:ext cx="83820" cy="105410"/>
          </a:xfrm>
          <a:custGeom>
            <a:avLst/>
            <a:gdLst/>
            <a:ahLst/>
            <a:cxnLst/>
            <a:rect l="0" t="0" r="r" b="b"/>
            <a:pathLst>
              <a:path w="83820" h="105410">
                <a:moveTo>
                  <a:pt x="41910" y="0"/>
                </a:moveTo>
                <a:cubicBezTo>
                  <a:pt x="60960" y="13970"/>
                  <a:pt x="71120" y="35560"/>
                  <a:pt x="71120" y="58420"/>
                </a:cubicBezTo>
                <a:lnTo>
                  <a:pt x="57150" y="81280"/>
                </a:lnTo>
                <a:lnTo>
                  <a:pt x="26670" y="81280"/>
                </a:lnTo>
                <a:lnTo>
                  <a:pt x="12700" y="58420"/>
                </a:lnTo>
                <a:cubicBezTo>
                  <a:pt x="12700" y="35560"/>
                  <a:pt x="22860" y="13970"/>
                  <a:pt x="41910" y="0"/>
                </a:cubicBezTo>
                <a:close/>
                <a:moveTo>
                  <a:pt x="12700" y="76200"/>
                </a:moveTo>
                <a:lnTo>
                  <a:pt x="0" y="105410"/>
                </a:lnTo>
                <a:lnTo>
                  <a:pt x="26670" y="95250"/>
                </a:lnTo>
                <a:moveTo>
                  <a:pt x="71120" y="76200"/>
                </a:moveTo>
                <a:lnTo>
                  <a:pt x="83820" y="105410"/>
                </a:lnTo>
                <a:lnTo>
                  <a:pt x="57150" y="95250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mtn-1"/>
          <p:cNvSpPr txBox="1"/>
          <p:nvPr/>
        </p:nvSpPr>
        <p:spPr>
          <a:xfrm>
            <a:off x="1520698" y="54360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部署频率</a:t>
            </a:r>
          </a:p>
        </p:txBody>
      </p:sp>
      <p:sp>
        <p:nvSpPr>
          <p:cNvPr id="47" name="mta-1"/>
          <p:cNvSpPr txBox="1"/>
          <p:nvPr/>
        </p:nvSpPr>
        <p:spPr>
          <a:xfrm>
            <a:off x="1129284" y="5802440"/>
            <a:ext cx="64922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每月 2 次</a:t>
            </a:r>
          </a:p>
        </p:txBody>
      </p:sp>
      <p:sp>
        <p:nvSpPr>
          <p:cNvPr id="48" name="mtr-1"/>
          <p:cNvSpPr/>
          <p:nvPr/>
        </p:nvSpPr>
        <p:spPr>
          <a:xfrm>
            <a:off x="1905000" y="5899150"/>
            <a:ext cx="165100" cy="3175"/>
          </a:xfrm>
          <a:custGeom>
            <a:avLst/>
            <a:gdLst/>
            <a:ahLst/>
            <a:cxnLst/>
            <a:rect l="0" t="0" r="r" b="b"/>
            <a:pathLst>
              <a:path w="165100" h="3175">
                <a:moveTo>
                  <a:pt x="0" y="0"/>
                </a:moveTo>
                <a:lnTo>
                  <a:pt x="165100" y="0"/>
                </a:lnTo>
              </a:path>
            </a:pathLst>
          </a:custGeom>
          <a:noFill/>
          <a:ln w="12700" cap="rnd">
            <a:solidFill>
              <a:srgbClr val="7E93AE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mtr2-1"/>
          <p:cNvSpPr/>
          <p:nvPr/>
        </p:nvSpPr>
        <p:spPr>
          <a:xfrm>
            <a:off x="2032000" y="5861050"/>
            <a:ext cx="44450" cy="76200"/>
          </a:xfrm>
          <a:custGeom>
            <a:avLst/>
            <a:gdLst/>
            <a:ahLst/>
            <a:cxnLst/>
            <a:rect l="0" t="0" r="r" b="b"/>
            <a:pathLst>
              <a:path w="44450" h="76200">
                <a:moveTo>
                  <a:pt x="0" y="0"/>
                </a:moveTo>
                <a:lnTo>
                  <a:pt x="44450" y="38100"/>
                </a:lnTo>
                <a:lnTo>
                  <a:pt x="0" y="76200"/>
                </a:lnTo>
              </a:path>
            </a:pathLst>
          </a:custGeom>
          <a:noFill/>
          <a:ln w="12700" cap="rnd">
            <a:solidFill>
              <a:srgbClr val="7E93AE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mtb2-1"/>
          <p:cNvSpPr txBox="1"/>
          <p:nvPr/>
        </p:nvSpPr>
        <p:spPr>
          <a:xfrm>
            <a:off x="2256282" y="5736717"/>
            <a:ext cx="1003554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4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每天 6 次</a:t>
            </a:r>
          </a:p>
        </p:txBody>
      </p:sp>
      <p:sp>
        <p:nvSpPr>
          <p:cNvPr id="51" name="mt-2"/>
          <p:cNvSpPr/>
          <p:nvPr/>
        </p:nvSpPr>
        <p:spPr>
          <a:xfrm>
            <a:off x="3556000" y="5232400"/>
            <a:ext cx="2476500" cy="889000"/>
          </a:xfrm>
          <a:custGeom>
            <a:avLst/>
            <a:gdLst/>
            <a:ahLst/>
            <a:cxnLst/>
            <a:rect l="0" t="0" r="r" b="b"/>
            <a:pathLst>
              <a:path w="2476500" h="889000">
                <a:moveTo>
                  <a:pt x="127000" y="0"/>
                </a:moveTo>
                <a:lnTo>
                  <a:pt x="2349500" y="0"/>
                </a:lnTo>
                <a:cubicBezTo>
                  <a:pt x="2419667" y="0"/>
                  <a:pt x="2476500" y="56833"/>
                  <a:pt x="2476500" y="127000"/>
                </a:cubicBezTo>
                <a:lnTo>
                  <a:pt x="2476500" y="762000"/>
                </a:lnTo>
                <a:cubicBezTo>
                  <a:pt x="2476500" y="832167"/>
                  <a:pt x="2419667" y="889000"/>
                  <a:pt x="2349500" y="889000"/>
                </a:cubicBezTo>
                <a:lnTo>
                  <a:pt x="127000" y="889000"/>
                </a:lnTo>
                <a:cubicBezTo>
                  <a:pt x="56833" y="889000"/>
                  <a:pt x="0" y="832167"/>
                  <a:pt x="0" y="762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mtb-2"/>
          <p:cNvSpPr/>
          <p:nvPr/>
        </p:nvSpPr>
        <p:spPr>
          <a:xfrm>
            <a:off x="3556000" y="5232400"/>
            <a:ext cx="38100" cy="889000"/>
          </a:xfrm>
          <a:custGeom>
            <a:avLst/>
            <a:gdLst/>
            <a:ahLst/>
            <a:cxnLst/>
            <a:rect l="0" t="0" r="r" b="b"/>
            <a:pathLst>
              <a:path w="38100" h="889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869950"/>
                </a:lnTo>
                <a:cubicBezTo>
                  <a:pt x="38100" y="880491"/>
                  <a:pt x="29591" y="889000"/>
                  <a:pt x="19050" y="889000"/>
                </a:cubicBezTo>
                <a:lnTo>
                  <a:pt x="19050" y="889000"/>
                </a:lnTo>
                <a:cubicBezTo>
                  <a:pt x="8509" y="889000"/>
                  <a:pt x="0" y="880491"/>
                  <a:pt x="0" y="869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chip"/>
          <p:cNvSpPr/>
          <p:nvPr/>
        </p:nvSpPr>
        <p:spPr>
          <a:xfrm>
            <a:off x="3708400" y="5384800"/>
            <a:ext cx="330200" cy="330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chip-ring"/>
          <p:cNvSpPr/>
          <p:nvPr/>
        </p:nvSpPr>
        <p:spPr>
          <a:xfrm>
            <a:off x="3708400" y="5384800"/>
            <a:ext cx="330200" cy="330200"/>
          </a:xfrm>
          <a:prstGeom prst="ellipse">
            <a:avLst/>
          </a:prstGeom>
          <a:noFill/>
          <a:ln w="6350" cap="rnd">
            <a:solidFill>
              <a:srgbClr val="1B5AA8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icon-clock"/>
          <p:cNvSpPr/>
          <p:nvPr/>
        </p:nvSpPr>
        <p:spPr>
          <a:xfrm>
            <a:off x="3873500" y="5519420"/>
            <a:ext cx="20320" cy="42545"/>
          </a:xfrm>
          <a:custGeom>
            <a:avLst/>
            <a:gdLst/>
            <a:ahLst/>
            <a:cxnLst/>
            <a:rect l="0" t="0" r="r" b="b"/>
            <a:pathLst>
              <a:path w="20320" h="42545">
                <a:moveTo>
                  <a:pt x="0" y="0"/>
                </a:moveTo>
                <a:lnTo>
                  <a:pt x="0" y="30480"/>
                </a:lnTo>
                <a:lnTo>
                  <a:pt x="20320" y="42545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icon-clock"/>
          <p:cNvSpPr/>
          <p:nvPr/>
        </p:nvSpPr>
        <p:spPr>
          <a:xfrm>
            <a:off x="3818890" y="5495290"/>
            <a:ext cx="109220" cy="109220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mtn-2"/>
          <p:cNvSpPr txBox="1"/>
          <p:nvPr/>
        </p:nvSpPr>
        <p:spPr>
          <a:xfrm>
            <a:off x="4124198" y="54360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交付周期</a:t>
            </a:r>
          </a:p>
        </p:txBody>
      </p:sp>
      <p:sp>
        <p:nvSpPr>
          <p:cNvPr id="58" name="mta-2"/>
          <p:cNvSpPr txBox="1"/>
          <p:nvPr/>
        </p:nvSpPr>
        <p:spPr>
          <a:xfrm>
            <a:off x="3732784" y="5802440"/>
            <a:ext cx="41681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30 天</a:t>
            </a:r>
          </a:p>
        </p:txBody>
      </p:sp>
      <p:sp>
        <p:nvSpPr>
          <p:cNvPr id="59" name="mtr-2"/>
          <p:cNvSpPr/>
          <p:nvPr/>
        </p:nvSpPr>
        <p:spPr>
          <a:xfrm>
            <a:off x="4508500" y="5899150"/>
            <a:ext cx="165100" cy="3175"/>
          </a:xfrm>
          <a:custGeom>
            <a:avLst/>
            <a:gdLst/>
            <a:ahLst/>
            <a:cxnLst/>
            <a:rect l="0" t="0" r="r" b="b"/>
            <a:pathLst>
              <a:path w="165100" h="3175">
                <a:moveTo>
                  <a:pt x="0" y="0"/>
                </a:moveTo>
                <a:lnTo>
                  <a:pt x="165100" y="0"/>
                </a:lnTo>
              </a:path>
            </a:pathLst>
          </a:custGeom>
          <a:noFill/>
          <a:ln w="12700" cap="rnd">
            <a:solidFill>
              <a:srgbClr val="7E93AE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mtr2-2"/>
          <p:cNvSpPr/>
          <p:nvPr/>
        </p:nvSpPr>
        <p:spPr>
          <a:xfrm>
            <a:off x="4635500" y="5861050"/>
            <a:ext cx="44450" cy="76200"/>
          </a:xfrm>
          <a:custGeom>
            <a:avLst/>
            <a:gdLst/>
            <a:ahLst/>
            <a:cxnLst/>
            <a:rect l="0" t="0" r="r" b="b"/>
            <a:pathLst>
              <a:path w="44450" h="76200">
                <a:moveTo>
                  <a:pt x="0" y="0"/>
                </a:moveTo>
                <a:lnTo>
                  <a:pt x="44450" y="38100"/>
                </a:lnTo>
                <a:lnTo>
                  <a:pt x="0" y="76200"/>
                </a:lnTo>
              </a:path>
            </a:pathLst>
          </a:custGeom>
          <a:noFill/>
          <a:ln w="12700" cap="rnd">
            <a:solidFill>
              <a:srgbClr val="7E93AE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mtb2-2"/>
          <p:cNvSpPr txBox="1"/>
          <p:nvPr/>
        </p:nvSpPr>
        <p:spPr>
          <a:xfrm>
            <a:off x="5320665" y="5736717"/>
            <a:ext cx="542671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4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3 天</a:t>
            </a:r>
          </a:p>
        </p:txBody>
      </p:sp>
      <p:sp>
        <p:nvSpPr>
          <p:cNvPr id="62" name="mt-3"/>
          <p:cNvSpPr/>
          <p:nvPr/>
        </p:nvSpPr>
        <p:spPr>
          <a:xfrm>
            <a:off x="6159500" y="5232400"/>
            <a:ext cx="2476500" cy="889000"/>
          </a:xfrm>
          <a:custGeom>
            <a:avLst/>
            <a:gdLst/>
            <a:ahLst/>
            <a:cxnLst/>
            <a:rect l="0" t="0" r="r" b="b"/>
            <a:pathLst>
              <a:path w="2476500" h="889000">
                <a:moveTo>
                  <a:pt x="127000" y="0"/>
                </a:moveTo>
                <a:lnTo>
                  <a:pt x="2349500" y="0"/>
                </a:lnTo>
                <a:cubicBezTo>
                  <a:pt x="2419667" y="0"/>
                  <a:pt x="2476500" y="56833"/>
                  <a:pt x="2476500" y="127000"/>
                </a:cubicBezTo>
                <a:lnTo>
                  <a:pt x="2476500" y="762000"/>
                </a:lnTo>
                <a:cubicBezTo>
                  <a:pt x="2476500" y="832167"/>
                  <a:pt x="2419667" y="889000"/>
                  <a:pt x="2349500" y="889000"/>
                </a:cubicBezTo>
                <a:lnTo>
                  <a:pt x="127000" y="889000"/>
                </a:lnTo>
                <a:cubicBezTo>
                  <a:pt x="56833" y="889000"/>
                  <a:pt x="0" y="832167"/>
                  <a:pt x="0" y="762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mtb-3"/>
          <p:cNvSpPr/>
          <p:nvPr/>
        </p:nvSpPr>
        <p:spPr>
          <a:xfrm>
            <a:off x="6159500" y="5232400"/>
            <a:ext cx="38100" cy="889000"/>
          </a:xfrm>
          <a:custGeom>
            <a:avLst/>
            <a:gdLst/>
            <a:ahLst/>
            <a:cxnLst/>
            <a:rect l="0" t="0" r="r" b="b"/>
            <a:pathLst>
              <a:path w="38100" h="889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869950"/>
                </a:lnTo>
                <a:cubicBezTo>
                  <a:pt x="38100" y="880491"/>
                  <a:pt x="29591" y="889000"/>
                  <a:pt x="19050" y="889000"/>
                </a:cubicBezTo>
                <a:lnTo>
                  <a:pt x="19050" y="889000"/>
                </a:lnTo>
                <a:cubicBezTo>
                  <a:pt x="8509" y="889000"/>
                  <a:pt x="0" y="880491"/>
                  <a:pt x="0" y="869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chip"/>
          <p:cNvSpPr/>
          <p:nvPr/>
        </p:nvSpPr>
        <p:spPr>
          <a:xfrm>
            <a:off x="6311900" y="5384800"/>
            <a:ext cx="330200" cy="330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chip-ring"/>
          <p:cNvSpPr/>
          <p:nvPr/>
        </p:nvSpPr>
        <p:spPr>
          <a:xfrm>
            <a:off x="6311900" y="5384800"/>
            <a:ext cx="330200" cy="330200"/>
          </a:xfrm>
          <a:prstGeom prst="ellipse">
            <a:avLst/>
          </a:prstGeom>
          <a:noFill/>
          <a:ln w="6350" cap="rnd">
            <a:solidFill>
              <a:srgbClr val="2E77C2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icon-shield"/>
          <p:cNvSpPr/>
          <p:nvPr/>
        </p:nvSpPr>
        <p:spPr>
          <a:xfrm>
            <a:off x="6431280" y="5495290"/>
            <a:ext cx="91440" cy="109220"/>
          </a:xfrm>
          <a:custGeom>
            <a:avLst/>
            <a:gdLst/>
            <a:ahLst/>
            <a:cxnLst/>
            <a:rect l="0" t="0" r="r" b="b"/>
            <a:pathLst>
              <a:path w="91440" h="109220">
                <a:moveTo>
                  <a:pt x="45720" y="0"/>
                </a:moveTo>
                <a:lnTo>
                  <a:pt x="91440" y="17780"/>
                </a:lnTo>
                <a:lnTo>
                  <a:pt x="91440" y="53340"/>
                </a:lnTo>
                <a:cubicBezTo>
                  <a:pt x="91440" y="80010"/>
                  <a:pt x="72390" y="100330"/>
                  <a:pt x="45720" y="109220"/>
                </a:cubicBezTo>
                <a:cubicBezTo>
                  <a:pt x="19050" y="100330"/>
                  <a:pt x="0" y="80010"/>
                  <a:pt x="0" y="53340"/>
                </a:cubicBezTo>
                <a:lnTo>
                  <a:pt x="0" y="17780"/>
                </a:lnTo>
                <a:close/>
                <a:moveTo>
                  <a:pt x="26670" y="54610"/>
                </a:moveTo>
                <a:lnTo>
                  <a:pt x="40640" y="68580"/>
                </a:lnTo>
                <a:lnTo>
                  <a:pt x="67310" y="41910"/>
                </a:lnTo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mtn-3"/>
          <p:cNvSpPr txBox="1"/>
          <p:nvPr/>
        </p:nvSpPr>
        <p:spPr>
          <a:xfrm>
            <a:off x="6727698" y="5436013"/>
            <a:ext cx="834390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变更失败率</a:t>
            </a:r>
          </a:p>
        </p:txBody>
      </p:sp>
      <p:sp>
        <p:nvSpPr>
          <p:cNvPr id="68" name="mta-3"/>
          <p:cNvSpPr txBox="1"/>
          <p:nvPr/>
        </p:nvSpPr>
        <p:spPr>
          <a:xfrm>
            <a:off x="6336284" y="5802440"/>
            <a:ext cx="300609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18%</a:t>
            </a:r>
          </a:p>
        </p:txBody>
      </p:sp>
      <p:sp>
        <p:nvSpPr>
          <p:cNvPr id="69" name="mtr-3"/>
          <p:cNvSpPr/>
          <p:nvPr/>
        </p:nvSpPr>
        <p:spPr>
          <a:xfrm>
            <a:off x="7112000" y="5899150"/>
            <a:ext cx="165100" cy="3175"/>
          </a:xfrm>
          <a:custGeom>
            <a:avLst/>
            <a:gdLst/>
            <a:ahLst/>
            <a:cxnLst/>
            <a:rect l="0" t="0" r="r" b="b"/>
            <a:pathLst>
              <a:path w="165100" h="3175">
                <a:moveTo>
                  <a:pt x="0" y="0"/>
                </a:moveTo>
                <a:lnTo>
                  <a:pt x="165100" y="0"/>
                </a:lnTo>
              </a:path>
            </a:pathLst>
          </a:custGeom>
          <a:noFill/>
          <a:ln w="12700" cap="rnd">
            <a:solidFill>
              <a:srgbClr val="7E93AE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mtr2-3"/>
          <p:cNvSpPr/>
          <p:nvPr/>
        </p:nvSpPr>
        <p:spPr>
          <a:xfrm>
            <a:off x="7239000" y="5861050"/>
            <a:ext cx="44450" cy="76200"/>
          </a:xfrm>
          <a:custGeom>
            <a:avLst/>
            <a:gdLst/>
            <a:ahLst/>
            <a:cxnLst/>
            <a:rect l="0" t="0" r="r" b="b"/>
            <a:pathLst>
              <a:path w="44450" h="76200">
                <a:moveTo>
                  <a:pt x="0" y="0"/>
                </a:moveTo>
                <a:lnTo>
                  <a:pt x="44450" y="38100"/>
                </a:lnTo>
                <a:lnTo>
                  <a:pt x="0" y="76200"/>
                </a:lnTo>
              </a:path>
            </a:pathLst>
          </a:custGeom>
          <a:noFill/>
          <a:ln w="12700" cap="rnd">
            <a:solidFill>
              <a:srgbClr val="7E93AE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mtb2-3"/>
          <p:cNvSpPr txBox="1"/>
          <p:nvPr/>
        </p:nvSpPr>
        <p:spPr>
          <a:xfrm>
            <a:off x="8103870" y="5736717"/>
            <a:ext cx="362966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4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5%</a:t>
            </a:r>
          </a:p>
        </p:txBody>
      </p:sp>
      <p:sp>
        <p:nvSpPr>
          <p:cNvPr id="72" name="mt-4"/>
          <p:cNvSpPr/>
          <p:nvPr/>
        </p:nvSpPr>
        <p:spPr>
          <a:xfrm>
            <a:off x="8763000" y="5232400"/>
            <a:ext cx="2476500" cy="889000"/>
          </a:xfrm>
          <a:custGeom>
            <a:avLst/>
            <a:gdLst/>
            <a:ahLst/>
            <a:cxnLst/>
            <a:rect l="0" t="0" r="r" b="b"/>
            <a:pathLst>
              <a:path w="2476500" h="889000">
                <a:moveTo>
                  <a:pt x="127000" y="0"/>
                </a:moveTo>
                <a:lnTo>
                  <a:pt x="2349500" y="0"/>
                </a:lnTo>
                <a:cubicBezTo>
                  <a:pt x="2419667" y="0"/>
                  <a:pt x="2476500" y="56833"/>
                  <a:pt x="2476500" y="127000"/>
                </a:cubicBezTo>
                <a:lnTo>
                  <a:pt x="2476500" y="762000"/>
                </a:lnTo>
                <a:cubicBezTo>
                  <a:pt x="2476500" y="832167"/>
                  <a:pt x="2419667" y="889000"/>
                  <a:pt x="2349500" y="889000"/>
                </a:cubicBezTo>
                <a:lnTo>
                  <a:pt x="127000" y="889000"/>
                </a:lnTo>
                <a:cubicBezTo>
                  <a:pt x="56833" y="889000"/>
                  <a:pt x="0" y="832167"/>
                  <a:pt x="0" y="762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mtb-4"/>
          <p:cNvSpPr/>
          <p:nvPr/>
        </p:nvSpPr>
        <p:spPr>
          <a:xfrm>
            <a:off x="8763000" y="5232400"/>
            <a:ext cx="38100" cy="889000"/>
          </a:xfrm>
          <a:custGeom>
            <a:avLst/>
            <a:gdLst/>
            <a:ahLst/>
            <a:cxnLst/>
            <a:rect l="0" t="0" r="r" b="b"/>
            <a:pathLst>
              <a:path w="38100" h="889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869950"/>
                </a:lnTo>
                <a:cubicBezTo>
                  <a:pt x="38100" y="880491"/>
                  <a:pt x="29591" y="889000"/>
                  <a:pt x="19050" y="889000"/>
                </a:cubicBezTo>
                <a:lnTo>
                  <a:pt x="19050" y="889000"/>
                </a:lnTo>
                <a:cubicBezTo>
                  <a:pt x="8509" y="889000"/>
                  <a:pt x="0" y="880491"/>
                  <a:pt x="0" y="869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chip"/>
          <p:cNvSpPr/>
          <p:nvPr/>
        </p:nvSpPr>
        <p:spPr>
          <a:xfrm>
            <a:off x="8915400" y="5384800"/>
            <a:ext cx="330200" cy="330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chip-ring"/>
          <p:cNvSpPr/>
          <p:nvPr/>
        </p:nvSpPr>
        <p:spPr>
          <a:xfrm>
            <a:off x="8915400" y="5384800"/>
            <a:ext cx="330200" cy="330200"/>
          </a:xfrm>
          <a:prstGeom prst="ellipse">
            <a:avLst/>
          </a:prstGeom>
          <a:noFill/>
          <a:ln w="6350" cap="rnd">
            <a:solidFill>
              <a:srgbClr val="4694D7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icon-tools"/>
          <p:cNvSpPr/>
          <p:nvPr/>
        </p:nvSpPr>
        <p:spPr>
          <a:xfrm>
            <a:off x="9032292" y="5498665"/>
            <a:ext cx="90118" cy="89335"/>
          </a:xfrm>
          <a:custGeom>
            <a:avLst/>
            <a:gdLst/>
            <a:ahLst/>
            <a:cxnLst/>
            <a:rect l="0" t="0" r="r" b="b"/>
            <a:pathLst>
              <a:path w="90118" h="89335">
                <a:moveTo>
                  <a:pt x="16458" y="2975"/>
                </a:moveTo>
                <a:lnTo>
                  <a:pt x="35508" y="22025"/>
                </a:lnTo>
                <a:lnTo>
                  <a:pt x="21538" y="35995"/>
                </a:lnTo>
                <a:lnTo>
                  <a:pt x="2488" y="16945"/>
                </a:lnTo>
                <a:cubicBezTo>
                  <a:pt x="-2084" y="26533"/>
                  <a:pt x="-242" y="37900"/>
                  <a:pt x="7060" y="45583"/>
                </a:cubicBezTo>
                <a:cubicBezTo>
                  <a:pt x="14426" y="53203"/>
                  <a:pt x="25793" y="55489"/>
                  <a:pt x="35508" y="51235"/>
                </a:cubicBezTo>
                <a:lnTo>
                  <a:pt x="73608" y="89335"/>
                </a:lnTo>
                <a:lnTo>
                  <a:pt x="90118" y="72825"/>
                </a:lnTo>
                <a:lnTo>
                  <a:pt x="52018" y="34725"/>
                </a:lnTo>
                <a:cubicBezTo>
                  <a:pt x="55955" y="24819"/>
                  <a:pt x="53225" y="13516"/>
                  <a:pt x="45287" y="6467"/>
                </a:cubicBezTo>
                <a:cubicBezTo>
                  <a:pt x="37350" y="-645"/>
                  <a:pt x="25856" y="-2042"/>
                  <a:pt x="16458" y="2975"/>
                </a:cubicBezTo>
                <a:close/>
              </a:path>
            </a:pathLst>
          </a:cu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mtn-4"/>
          <p:cNvSpPr txBox="1"/>
          <p:nvPr/>
        </p:nvSpPr>
        <p:spPr>
          <a:xfrm>
            <a:off x="9331198" y="54360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故障恢复</a:t>
            </a:r>
          </a:p>
        </p:txBody>
      </p:sp>
      <p:sp>
        <p:nvSpPr>
          <p:cNvPr id="78" name="mta-4"/>
          <p:cNvSpPr txBox="1"/>
          <p:nvPr/>
        </p:nvSpPr>
        <p:spPr>
          <a:xfrm>
            <a:off x="8939784" y="5802440"/>
            <a:ext cx="46710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4 小时</a:t>
            </a:r>
          </a:p>
        </p:txBody>
      </p:sp>
      <p:sp>
        <p:nvSpPr>
          <p:cNvPr id="79" name="mtr-4"/>
          <p:cNvSpPr/>
          <p:nvPr/>
        </p:nvSpPr>
        <p:spPr>
          <a:xfrm>
            <a:off x="9715500" y="5899150"/>
            <a:ext cx="165100" cy="3175"/>
          </a:xfrm>
          <a:custGeom>
            <a:avLst/>
            <a:gdLst/>
            <a:ahLst/>
            <a:cxnLst/>
            <a:rect l="0" t="0" r="r" b="b"/>
            <a:pathLst>
              <a:path w="165100" h="3175">
                <a:moveTo>
                  <a:pt x="0" y="0"/>
                </a:moveTo>
                <a:lnTo>
                  <a:pt x="165100" y="0"/>
                </a:lnTo>
              </a:path>
            </a:pathLst>
          </a:custGeom>
          <a:noFill/>
          <a:ln w="12700" cap="rnd">
            <a:solidFill>
              <a:srgbClr val="7E93AE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mtr2-4"/>
          <p:cNvSpPr/>
          <p:nvPr/>
        </p:nvSpPr>
        <p:spPr>
          <a:xfrm>
            <a:off x="9842500" y="5861050"/>
            <a:ext cx="44450" cy="76200"/>
          </a:xfrm>
          <a:custGeom>
            <a:avLst/>
            <a:gdLst/>
            <a:ahLst/>
            <a:cxnLst/>
            <a:rect l="0" t="0" r="r" b="b"/>
            <a:pathLst>
              <a:path w="44450" h="76200">
                <a:moveTo>
                  <a:pt x="0" y="0"/>
                </a:moveTo>
                <a:lnTo>
                  <a:pt x="44450" y="38100"/>
                </a:lnTo>
                <a:lnTo>
                  <a:pt x="0" y="76200"/>
                </a:lnTo>
              </a:path>
            </a:pathLst>
          </a:custGeom>
          <a:noFill/>
          <a:ln w="12700" cap="rnd">
            <a:solidFill>
              <a:srgbClr val="7E93AE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mtb2-4"/>
          <p:cNvSpPr txBox="1"/>
          <p:nvPr/>
        </p:nvSpPr>
        <p:spPr>
          <a:xfrm>
            <a:off x="10246487" y="5736717"/>
            <a:ext cx="823849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4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30 分钟</a:t>
            </a:r>
          </a:p>
        </p:txBody>
      </p:sp>
      <p:cxnSp>
        <p:nvCxnSpPr>
          <p:cNvPr id="82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3" name="foot-l"/>
          <p:cNvSpPr txBox="1"/>
          <p:nvPr/>
        </p:nvSpPr>
        <p:spPr>
          <a:xfrm>
            <a:off x="573532" y="6532308"/>
            <a:ext cx="13406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无限循环 · 研发运维一体化</a:t>
            </a:r>
          </a:p>
        </p:txBody>
      </p:sp>
      <p:sp>
        <p:nvSpPr>
          <p:cNvPr id="84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产品规划沙漏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44589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HOURGLASS MODEL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7064375" y="673132"/>
            <a:ext cx="455637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上半场做减法，把 320 条需求收成 6 个决定；下半场做乘法，让它们覆盖 12 万用户</a:t>
            </a:r>
          </a:p>
        </p:txBody>
      </p:sp>
      <p:sp>
        <p:nvSpPr>
          <p:cNvPr id="10" name="glass"/>
          <p:cNvSpPr/>
          <p:nvPr/>
        </p:nvSpPr>
        <p:spPr>
          <a:xfrm>
            <a:off x="3886200" y="1346200"/>
            <a:ext cx="4419600" cy="4368800"/>
          </a:xfrm>
          <a:custGeom>
            <a:avLst/>
            <a:gdLst/>
            <a:ahLst/>
            <a:cxnLst/>
            <a:rect l="0" t="0" r="r" b="b"/>
            <a:pathLst>
              <a:path w="4419600" h="4368800">
                <a:moveTo>
                  <a:pt x="0" y="0"/>
                </a:moveTo>
                <a:cubicBezTo>
                  <a:pt x="25083" y="18225"/>
                  <a:pt x="101283" y="72834"/>
                  <a:pt x="150622" y="109220"/>
                </a:cubicBezTo>
                <a:cubicBezTo>
                  <a:pt x="199898" y="145606"/>
                  <a:pt x="248285" y="182054"/>
                  <a:pt x="295720" y="218440"/>
                </a:cubicBezTo>
                <a:cubicBezTo>
                  <a:pt x="343217" y="254825"/>
                  <a:pt x="389763" y="291274"/>
                  <a:pt x="435356" y="327660"/>
                </a:cubicBezTo>
                <a:cubicBezTo>
                  <a:pt x="480949" y="364045"/>
                  <a:pt x="525589" y="400494"/>
                  <a:pt x="569341" y="436880"/>
                </a:cubicBezTo>
                <a:cubicBezTo>
                  <a:pt x="613029" y="473265"/>
                  <a:pt x="655764" y="509714"/>
                  <a:pt x="697548" y="546100"/>
                </a:cubicBezTo>
                <a:cubicBezTo>
                  <a:pt x="739330" y="582486"/>
                  <a:pt x="780161" y="618935"/>
                  <a:pt x="819912" y="655320"/>
                </a:cubicBezTo>
                <a:cubicBezTo>
                  <a:pt x="859726" y="691706"/>
                  <a:pt x="898588" y="728155"/>
                  <a:pt x="936371" y="764540"/>
                </a:cubicBezTo>
                <a:cubicBezTo>
                  <a:pt x="974153" y="800926"/>
                  <a:pt x="1010920" y="837374"/>
                  <a:pt x="1046671" y="873760"/>
                </a:cubicBezTo>
                <a:cubicBezTo>
                  <a:pt x="1082358" y="910145"/>
                  <a:pt x="1117092" y="946594"/>
                  <a:pt x="1150684" y="982980"/>
                </a:cubicBezTo>
                <a:cubicBezTo>
                  <a:pt x="1184338" y="1019365"/>
                  <a:pt x="1216914" y="1055814"/>
                  <a:pt x="1248347" y="1092200"/>
                </a:cubicBezTo>
                <a:cubicBezTo>
                  <a:pt x="1279779" y="1128586"/>
                  <a:pt x="1310132" y="1165035"/>
                  <a:pt x="1339342" y="1201420"/>
                </a:cubicBezTo>
                <a:cubicBezTo>
                  <a:pt x="1368552" y="1237806"/>
                  <a:pt x="1396683" y="1274254"/>
                  <a:pt x="1423543" y="1310640"/>
                </a:cubicBezTo>
                <a:cubicBezTo>
                  <a:pt x="1450467" y="1347026"/>
                  <a:pt x="1476248" y="1383474"/>
                  <a:pt x="1500696" y="1419860"/>
                </a:cubicBezTo>
                <a:cubicBezTo>
                  <a:pt x="1525207" y="1456246"/>
                  <a:pt x="1548511" y="1492694"/>
                  <a:pt x="1570482" y="1529080"/>
                </a:cubicBezTo>
                <a:cubicBezTo>
                  <a:pt x="1592453" y="1565465"/>
                  <a:pt x="1613217" y="1601914"/>
                  <a:pt x="1632585" y="1638300"/>
                </a:cubicBezTo>
                <a:cubicBezTo>
                  <a:pt x="1651889" y="1674686"/>
                  <a:pt x="1669986" y="1711135"/>
                  <a:pt x="1686497" y="1747520"/>
                </a:cubicBezTo>
                <a:cubicBezTo>
                  <a:pt x="1703007" y="1783906"/>
                  <a:pt x="1718247" y="1820354"/>
                  <a:pt x="1731709" y="1856740"/>
                </a:cubicBezTo>
                <a:cubicBezTo>
                  <a:pt x="1745171" y="1893126"/>
                  <a:pt x="1757299" y="1929574"/>
                  <a:pt x="1767396" y="1965960"/>
                </a:cubicBezTo>
                <a:cubicBezTo>
                  <a:pt x="1777492" y="2002346"/>
                  <a:pt x="1786318" y="2038795"/>
                  <a:pt x="1792351" y="2075180"/>
                </a:cubicBezTo>
                <a:cubicBezTo>
                  <a:pt x="1798320" y="2111566"/>
                  <a:pt x="1803400" y="2148014"/>
                  <a:pt x="1803400" y="2184400"/>
                </a:cubicBezTo>
                <a:cubicBezTo>
                  <a:pt x="1803400" y="2220786"/>
                  <a:pt x="1798320" y="2257234"/>
                  <a:pt x="1792351" y="2293620"/>
                </a:cubicBezTo>
                <a:cubicBezTo>
                  <a:pt x="1786318" y="2330005"/>
                  <a:pt x="1777492" y="2366454"/>
                  <a:pt x="1767396" y="2402840"/>
                </a:cubicBezTo>
                <a:cubicBezTo>
                  <a:pt x="1757299" y="2439226"/>
                  <a:pt x="1745171" y="2475674"/>
                  <a:pt x="1731709" y="2512060"/>
                </a:cubicBezTo>
                <a:cubicBezTo>
                  <a:pt x="1718247" y="2548446"/>
                  <a:pt x="1703007" y="2584895"/>
                  <a:pt x="1686497" y="2621280"/>
                </a:cubicBezTo>
                <a:cubicBezTo>
                  <a:pt x="1669986" y="2657666"/>
                  <a:pt x="1651889" y="2694114"/>
                  <a:pt x="1632585" y="2730500"/>
                </a:cubicBezTo>
                <a:cubicBezTo>
                  <a:pt x="1613217" y="2766886"/>
                  <a:pt x="1592453" y="2803334"/>
                  <a:pt x="1570482" y="2839720"/>
                </a:cubicBezTo>
                <a:cubicBezTo>
                  <a:pt x="1548511" y="2876105"/>
                  <a:pt x="1525207" y="2912554"/>
                  <a:pt x="1500696" y="2948940"/>
                </a:cubicBezTo>
                <a:cubicBezTo>
                  <a:pt x="1476248" y="2985326"/>
                  <a:pt x="1450467" y="3021774"/>
                  <a:pt x="1423543" y="3058160"/>
                </a:cubicBezTo>
                <a:cubicBezTo>
                  <a:pt x="1396683" y="3094546"/>
                  <a:pt x="1368552" y="3130995"/>
                  <a:pt x="1339342" y="3167380"/>
                </a:cubicBezTo>
                <a:cubicBezTo>
                  <a:pt x="1310132" y="3203766"/>
                  <a:pt x="1279779" y="3240214"/>
                  <a:pt x="1248347" y="3276600"/>
                </a:cubicBezTo>
                <a:cubicBezTo>
                  <a:pt x="1216914" y="3312986"/>
                  <a:pt x="1184338" y="3349434"/>
                  <a:pt x="1150684" y="3385820"/>
                </a:cubicBezTo>
                <a:cubicBezTo>
                  <a:pt x="1117092" y="3422205"/>
                  <a:pt x="1082358" y="3458654"/>
                  <a:pt x="1046671" y="3495040"/>
                </a:cubicBezTo>
                <a:cubicBezTo>
                  <a:pt x="1010920" y="3531426"/>
                  <a:pt x="974153" y="3567874"/>
                  <a:pt x="936371" y="3604260"/>
                </a:cubicBezTo>
                <a:cubicBezTo>
                  <a:pt x="898588" y="3640646"/>
                  <a:pt x="859726" y="3677095"/>
                  <a:pt x="819912" y="3713480"/>
                </a:cubicBezTo>
                <a:cubicBezTo>
                  <a:pt x="780161" y="3749866"/>
                  <a:pt x="739330" y="3786314"/>
                  <a:pt x="697548" y="3822700"/>
                </a:cubicBezTo>
                <a:cubicBezTo>
                  <a:pt x="655764" y="3859086"/>
                  <a:pt x="613029" y="3895534"/>
                  <a:pt x="569341" y="3931920"/>
                </a:cubicBezTo>
                <a:cubicBezTo>
                  <a:pt x="525589" y="3968305"/>
                  <a:pt x="480949" y="4004754"/>
                  <a:pt x="435356" y="4041140"/>
                </a:cubicBezTo>
                <a:cubicBezTo>
                  <a:pt x="389763" y="4077526"/>
                  <a:pt x="343217" y="4113974"/>
                  <a:pt x="295720" y="4150360"/>
                </a:cubicBezTo>
                <a:cubicBezTo>
                  <a:pt x="248285" y="4186746"/>
                  <a:pt x="199898" y="4223194"/>
                  <a:pt x="150622" y="4259580"/>
                </a:cubicBezTo>
                <a:cubicBezTo>
                  <a:pt x="101283" y="4295966"/>
                  <a:pt x="25083" y="4350576"/>
                  <a:pt x="0" y="4368800"/>
                </a:cubicBezTo>
                <a:lnTo>
                  <a:pt x="4419600" y="4368800"/>
                </a:lnTo>
                <a:cubicBezTo>
                  <a:pt x="4394518" y="4350576"/>
                  <a:pt x="4318318" y="4295966"/>
                  <a:pt x="4268978" y="4259580"/>
                </a:cubicBezTo>
                <a:cubicBezTo>
                  <a:pt x="4219702" y="4223194"/>
                  <a:pt x="4171315" y="4186746"/>
                  <a:pt x="4123881" y="4150360"/>
                </a:cubicBezTo>
                <a:cubicBezTo>
                  <a:pt x="4076383" y="4113974"/>
                  <a:pt x="4029837" y="4077526"/>
                  <a:pt x="3984244" y="4041140"/>
                </a:cubicBezTo>
                <a:cubicBezTo>
                  <a:pt x="3938651" y="4004754"/>
                  <a:pt x="3894010" y="3968305"/>
                  <a:pt x="3850259" y="3931920"/>
                </a:cubicBezTo>
                <a:cubicBezTo>
                  <a:pt x="3806571" y="3895534"/>
                  <a:pt x="3763836" y="3859086"/>
                  <a:pt x="3722053" y="3822700"/>
                </a:cubicBezTo>
                <a:cubicBezTo>
                  <a:pt x="3680269" y="3786314"/>
                  <a:pt x="3639439" y="3749866"/>
                  <a:pt x="3599688" y="3713480"/>
                </a:cubicBezTo>
                <a:cubicBezTo>
                  <a:pt x="3559873" y="3677095"/>
                  <a:pt x="3521012" y="3640646"/>
                  <a:pt x="3483229" y="3604260"/>
                </a:cubicBezTo>
                <a:cubicBezTo>
                  <a:pt x="3445446" y="3567874"/>
                  <a:pt x="3408680" y="3531426"/>
                  <a:pt x="3372930" y="3495040"/>
                </a:cubicBezTo>
                <a:cubicBezTo>
                  <a:pt x="3337242" y="3458654"/>
                  <a:pt x="3302508" y="3422205"/>
                  <a:pt x="3268916" y="3385820"/>
                </a:cubicBezTo>
                <a:cubicBezTo>
                  <a:pt x="3235262" y="3349434"/>
                  <a:pt x="3202686" y="3312986"/>
                  <a:pt x="3171254" y="3276600"/>
                </a:cubicBezTo>
                <a:cubicBezTo>
                  <a:pt x="3139821" y="3240214"/>
                  <a:pt x="3109468" y="3203766"/>
                  <a:pt x="3080258" y="3167380"/>
                </a:cubicBezTo>
                <a:cubicBezTo>
                  <a:pt x="3051048" y="3130995"/>
                  <a:pt x="3022917" y="3094546"/>
                  <a:pt x="2996057" y="3058160"/>
                </a:cubicBezTo>
                <a:cubicBezTo>
                  <a:pt x="2969133" y="3021774"/>
                  <a:pt x="2943352" y="2985326"/>
                  <a:pt x="2918905" y="2948940"/>
                </a:cubicBezTo>
                <a:cubicBezTo>
                  <a:pt x="2894393" y="2912554"/>
                  <a:pt x="2871089" y="2876105"/>
                  <a:pt x="2849118" y="2839720"/>
                </a:cubicBezTo>
                <a:cubicBezTo>
                  <a:pt x="2827147" y="2803334"/>
                  <a:pt x="2806383" y="2766886"/>
                  <a:pt x="2787015" y="2730500"/>
                </a:cubicBezTo>
                <a:cubicBezTo>
                  <a:pt x="2767711" y="2694114"/>
                  <a:pt x="2749614" y="2657666"/>
                  <a:pt x="2733104" y="2621280"/>
                </a:cubicBezTo>
                <a:cubicBezTo>
                  <a:pt x="2716593" y="2584895"/>
                  <a:pt x="2701354" y="2548446"/>
                  <a:pt x="2687892" y="2512060"/>
                </a:cubicBezTo>
                <a:cubicBezTo>
                  <a:pt x="2674430" y="2475674"/>
                  <a:pt x="2662301" y="2439226"/>
                  <a:pt x="2652205" y="2402840"/>
                </a:cubicBezTo>
                <a:cubicBezTo>
                  <a:pt x="2642108" y="2366454"/>
                  <a:pt x="2633282" y="2330005"/>
                  <a:pt x="2627249" y="2293620"/>
                </a:cubicBezTo>
                <a:cubicBezTo>
                  <a:pt x="2621280" y="2257234"/>
                  <a:pt x="2616200" y="2220786"/>
                  <a:pt x="2616200" y="2184400"/>
                </a:cubicBezTo>
                <a:cubicBezTo>
                  <a:pt x="2616200" y="2148014"/>
                  <a:pt x="2621280" y="2111566"/>
                  <a:pt x="2627249" y="2075180"/>
                </a:cubicBezTo>
                <a:cubicBezTo>
                  <a:pt x="2633282" y="2038795"/>
                  <a:pt x="2642108" y="2002346"/>
                  <a:pt x="2652205" y="1965960"/>
                </a:cubicBezTo>
                <a:cubicBezTo>
                  <a:pt x="2662301" y="1929574"/>
                  <a:pt x="2674430" y="1893126"/>
                  <a:pt x="2687892" y="1856740"/>
                </a:cubicBezTo>
                <a:cubicBezTo>
                  <a:pt x="2701354" y="1820354"/>
                  <a:pt x="2716593" y="1783906"/>
                  <a:pt x="2733104" y="1747520"/>
                </a:cubicBezTo>
                <a:cubicBezTo>
                  <a:pt x="2749614" y="1711135"/>
                  <a:pt x="2767711" y="1674686"/>
                  <a:pt x="2787015" y="1638300"/>
                </a:cubicBezTo>
                <a:cubicBezTo>
                  <a:pt x="2806383" y="1601914"/>
                  <a:pt x="2827147" y="1565465"/>
                  <a:pt x="2849118" y="1529080"/>
                </a:cubicBezTo>
                <a:cubicBezTo>
                  <a:pt x="2871089" y="1492694"/>
                  <a:pt x="2894393" y="1456246"/>
                  <a:pt x="2918905" y="1419860"/>
                </a:cubicBezTo>
                <a:cubicBezTo>
                  <a:pt x="2943352" y="1383474"/>
                  <a:pt x="2969133" y="1347026"/>
                  <a:pt x="2996057" y="1310640"/>
                </a:cubicBezTo>
                <a:cubicBezTo>
                  <a:pt x="3022917" y="1274254"/>
                  <a:pt x="3051048" y="1237806"/>
                  <a:pt x="3080258" y="1201420"/>
                </a:cubicBezTo>
                <a:cubicBezTo>
                  <a:pt x="3109468" y="1165035"/>
                  <a:pt x="3139821" y="1128586"/>
                  <a:pt x="3171254" y="1092200"/>
                </a:cubicBezTo>
                <a:cubicBezTo>
                  <a:pt x="3202686" y="1055814"/>
                  <a:pt x="3235262" y="1019365"/>
                  <a:pt x="3268916" y="982980"/>
                </a:cubicBezTo>
                <a:cubicBezTo>
                  <a:pt x="3302508" y="946594"/>
                  <a:pt x="3337242" y="910145"/>
                  <a:pt x="3372930" y="873760"/>
                </a:cubicBezTo>
                <a:cubicBezTo>
                  <a:pt x="3408680" y="837374"/>
                  <a:pt x="3445446" y="800926"/>
                  <a:pt x="3483229" y="764540"/>
                </a:cubicBezTo>
                <a:cubicBezTo>
                  <a:pt x="3521012" y="728155"/>
                  <a:pt x="3559873" y="691706"/>
                  <a:pt x="3599688" y="655320"/>
                </a:cubicBezTo>
                <a:cubicBezTo>
                  <a:pt x="3639439" y="618935"/>
                  <a:pt x="3680269" y="582486"/>
                  <a:pt x="3722053" y="546100"/>
                </a:cubicBezTo>
                <a:cubicBezTo>
                  <a:pt x="3763836" y="509714"/>
                  <a:pt x="3806571" y="473265"/>
                  <a:pt x="3850259" y="436880"/>
                </a:cubicBezTo>
                <a:cubicBezTo>
                  <a:pt x="3894010" y="400494"/>
                  <a:pt x="3938651" y="364045"/>
                  <a:pt x="3984244" y="327660"/>
                </a:cubicBezTo>
                <a:cubicBezTo>
                  <a:pt x="4029837" y="291274"/>
                  <a:pt x="4076383" y="254825"/>
                  <a:pt x="4123881" y="218440"/>
                </a:cubicBezTo>
                <a:cubicBezTo>
                  <a:pt x="4171315" y="182054"/>
                  <a:pt x="4219702" y="145606"/>
                  <a:pt x="4268978" y="109220"/>
                </a:cubicBezTo>
                <a:cubicBezTo>
                  <a:pt x="4318318" y="72834"/>
                  <a:pt x="4394518" y="18225"/>
                  <a:pt x="4419600" y="0"/>
                </a:cubicBezTo>
                <a:close/>
              </a:path>
            </a:pathLst>
          </a:custGeom>
          <a:solidFill>
            <a:srgbClr val="DCE7F6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band-t1"/>
          <p:cNvSpPr/>
          <p:nvPr/>
        </p:nvSpPr>
        <p:spPr>
          <a:xfrm>
            <a:off x="4000500" y="1346200"/>
            <a:ext cx="4191000" cy="673100"/>
          </a:xfrm>
          <a:custGeom>
            <a:avLst/>
            <a:gdLst/>
            <a:ahLst/>
            <a:cxnLst/>
            <a:rect l="0" t="0" r="r" b="b"/>
            <a:pathLst>
              <a:path w="4191000" h="673100">
                <a:moveTo>
                  <a:pt x="0" y="0"/>
                </a:moveTo>
                <a:cubicBezTo>
                  <a:pt x="8700" y="6223"/>
                  <a:pt x="34862" y="24956"/>
                  <a:pt x="52197" y="37401"/>
                </a:cubicBezTo>
                <a:cubicBezTo>
                  <a:pt x="69469" y="49847"/>
                  <a:pt x="86614" y="62294"/>
                  <a:pt x="103696" y="74803"/>
                </a:cubicBezTo>
                <a:cubicBezTo>
                  <a:pt x="120777" y="87249"/>
                  <a:pt x="137732" y="99695"/>
                  <a:pt x="154623" y="112204"/>
                </a:cubicBezTo>
                <a:cubicBezTo>
                  <a:pt x="171450" y="124650"/>
                  <a:pt x="188214" y="137097"/>
                  <a:pt x="204851" y="149606"/>
                </a:cubicBezTo>
                <a:cubicBezTo>
                  <a:pt x="221488" y="162052"/>
                  <a:pt x="238062" y="174498"/>
                  <a:pt x="254508" y="186944"/>
                </a:cubicBezTo>
                <a:cubicBezTo>
                  <a:pt x="270891" y="199453"/>
                  <a:pt x="287211" y="211900"/>
                  <a:pt x="303466" y="224346"/>
                </a:cubicBezTo>
                <a:cubicBezTo>
                  <a:pt x="319659" y="236855"/>
                  <a:pt x="335788" y="249301"/>
                  <a:pt x="351790" y="261747"/>
                </a:cubicBezTo>
                <a:cubicBezTo>
                  <a:pt x="367792" y="274256"/>
                  <a:pt x="383667" y="286702"/>
                  <a:pt x="399478" y="299149"/>
                </a:cubicBezTo>
                <a:cubicBezTo>
                  <a:pt x="415226" y="311594"/>
                  <a:pt x="430911" y="324104"/>
                  <a:pt x="446468" y="336550"/>
                </a:cubicBezTo>
                <a:cubicBezTo>
                  <a:pt x="462026" y="348996"/>
                  <a:pt x="477457" y="361506"/>
                  <a:pt x="492824" y="373951"/>
                </a:cubicBezTo>
                <a:cubicBezTo>
                  <a:pt x="508127" y="386398"/>
                  <a:pt x="523367" y="398844"/>
                  <a:pt x="538480" y="411353"/>
                </a:cubicBezTo>
                <a:cubicBezTo>
                  <a:pt x="553593" y="423799"/>
                  <a:pt x="568642" y="436245"/>
                  <a:pt x="583501" y="448755"/>
                </a:cubicBezTo>
                <a:cubicBezTo>
                  <a:pt x="598424" y="461200"/>
                  <a:pt x="613156" y="473646"/>
                  <a:pt x="627824" y="486156"/>
                </a:cubicBezTo>
                <a:cubicBezTo>
                  <a:pt x="642493" y="498602"/>
                  <a:pt x="657098" y="511048"/>
                  <a:pt x="671512" y="523494"/>
                </a:cubicBezTo>
                <a:cubicBezTo>
                  <a:pt x="685927" y="536004"/>
                  <a:pt x="700278" y="548450"/>
                  <a:pt x="714502" y="560895"/>
                </a:cubicBezTo>
                <a:cubicBezTo>
                  <a:pt x="728726" y="573405"/>
                  <a:pt x="742823" y="585851"/>
                  <a:pt x="756793" y="598297"/>
                </a:cubicBezTo>
                <a:cubicBezTo>
                  <a:pt x="770763" y="610806"/>
                  <a:pt x="784670" y="623252"/>
                  <a:pt x="798386" y="635699"/>
                </a:cubicBezTo>
                <a:cubicBezTo>
                  <a:pt x="812165" y="648144"/>
                  <a:pt x="832485" y="666877"/>
                  <a:pt x="839279" y="673100"/>
                </a:cubicBezTo>
                <a:lnTo>
                  <a:pt x="3351720" y="673100"/>
                </a:lnTo>
                <a:cubicBezTo>
                  <a:pt x="3358515" y="666877"/>
                  <a:pt x="3378835" y="648144"/>
                  <a:pt x="3392614" y="635699"/>
                </a:cubicBezTo>
                <a:cubicBezTo>
                  <a:pt x="3406331" y="623252"/>
                  <a:pt x="3420237" y="610806"/>
                  <a:pt x="3434207" y="598297"/>
                </a:cubicBezTo>
                <a:cubicBezTo>
                  <a:pt x="3448177" y="585851"/>
                  <a:pt x="3462274" y="573405"/>
                  <a:pt x="3476498" y="560895"/>
                </a:cubicBezTo>
                <a:cubicBezTo>
                  <a:pt x="3490722" y="548450"/>
                  <a:pt x="3505073" y="536004"/>
                  <a:pt x="3519488" y="523494"/>
                </a:cubicBezTo>
                <a:cubicBezTo>
                  <a:pt x="3533902" y="511048"/>
                  <a:pt x="3548507" y="498602"/>
                  <a:pt x="3563176" y="486156"/>
                </a:cubicBezTo>
                <a:cubicBezTo>
                  <a:pt x="3577844" y="473646"/>
                  <a:pt x="3592576" y="461200"/>
                  <a:pt x="3607498" y="448755"/>
                </a:cubicBezTo>
                <a:cubicBezTo>
                  <a:pt x="3622358" y="436245"/>
                  <a:pt x="3637407" y="423799"/>
                  <a:pt x="3652520" y="411353"/>
                </a:cubicBezTo>
                <a:cubicBezTo>
                  <a:pt x="3667633" y="398844"/>
                  <a:pt x="3682873" y="386398"/>
                  <a:pt x="3698177" y="373951"/>
                </a:cubicBezTo>
                <a:cubicBezTo>
                  <a:pt x="3713543" y="361506"/>
                  <a:pt x="3728974" y="348996"/>
                  <a:pt x="3744532" y="336550"/>
                </a:cubicBezTo>
                <a:cubicBezTo>
                  <a:pt x="3760089" y="324104"/>
                  <a:pt x="3775773" y="311594"/>
                  <a:pt x="3791521" y="299149"/>
                </a:cubicBezTo>
                <a:cubicBezTo>
                  <a:pt x="3807333" y="286702"/>
                  <a:pt x="3823208" y="274256"/>
                  <a:pt x="3839210" y="261747"/>
                </a:cubicBezTo>
                <a:cubicBezTo>
                  <a:pt x="3855212" y="249301"/>
                  <a:pt x="3871341" y="236855"/>
                  <a:pt x="3887534" y="224346"/>
                </a:cubicBezTo>
                <a:cubicBezTo>
                  <a:pt x="3903790" y="211900"/>
                  <a:pt x="3920109" y="199453"/>
                  <a:pt x="3936492" y="186944"/>
                </a:cubicBezTo>
                <a:cubicBezTo>
                  <a:pt x="3952938" y="174498"/>
                  <a:pt x="3969512" y="162052"/>
                  <a:pt x="3986149" y="149606"/>
                </a:cubicBezTo>
                <a:cubicBezTo>
                  <a:pt x="4002786" y="137097"/>
                  <a:pt x="4019550" y="124650"/>
                  <a:pt x="4036378" y="112204"/>
                </a:cubicBezTo>
                <a:cubicBezTo>
                  <a:pt x="4053268" y="99695"/>
                  <a:pt x="4070223" y="87249"/>
                  <a:pt x="4087305" y="74803"/>
                </a:cubicBezTo>
                <a:cubicBezTo>
                  <a:pt x="4104386" y="62294"/>
                  <a:pt x="4121531" y="49847"/>
                  <a:pt x="4138803" y="37401"/>
                </a:cubicBezTo>
                <a:cubicBezTo>
                  <a:pt x="4156138" y="24956"/>
                  <a:pt x="4182301" y="6223"/>
                  <a:pt x="4191000" y="0"/>
                </a:cubicBezTo>
                <a:close/>
              </a:path>
            </a:pathLst>
          </a:custGeom>
          <a:gradFill rotWithShape="1">
            <a:gsLst>
              <a:gs pos="0">
                <a:srgbClr val="65ABE2"/>
              </a:gs>
              <a:gs pos="100000">
                <a:srgbClr val="54A2D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bv-t1"/>
          <p:cNvSpPr txBox="1"/>
          <p:nvPr/>
        </p:nvSpPr>
        <p:spPr>
          <a:xfrm>
            <a:off x="5747893" y="1536002"/>
            <a:ext cx="696214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320 条</a:t>
            </a:r>
          </a:p>
        </p:txBody>
      </p:sp>
      <p:cxnSp>
        <p:nvCxnSpPr>
          <p:cNvPr id="13" name="ld-t1"/>
          <p:cNvCxnSpPr/>
          <p:nvPr/>
        </p:nvCxnSpPr>
        <p:spPr>
          <a:xfrm flipH="1">
            <a:off x="2222500" y="1682750"/>
            <a:ext cx="2135560" cy="0"/>
          </a:xfrm>
          <a:prstGeom prst="line">
            <a:avLst/>
          </a:prstGeom>
          <a:ln w="11430" cap="rnd">
            <a:solidFill>
              <a:srgbClr val="54A2DF">
                <a:alpha val="7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ldd-t1"/>
          <p:cNvSpPr/>
          <p:nvPr/>
        </p:nvSpPr>
        <p:spPr>
          <a:xfrm>
            <a:off x="2190750" y="1651000"/>
            <a:ext cx="63500" cy="63500"/>
          </a:xfrm>
          <a:prstGeom prst="ellipse">
            <a:avLst/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bn-t1"/>
          <p:cNvSpPr txBox="1"/>
          <p:nvPr/>
        </p:nvSpPr>
        <p:spPr>
          <a:xfrm>
            <a:off x="933450" y="144859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需求收集</a:t>
            </a:r>
          </a:p>
        </p:txBody>
      </p:sp>
      <p:sp>
        <p:nvSpPr>
          <p:cNvPr id="16" name="bd-t1"/>
          <p:cNvSpPr txBox="1"/>
          <p:nvPr/>
        </p:nvSpPr>
        <p:spPr>
          <a:xfrm>
            <a:off x="939927" y="1718453"/>
            <a:ext cx="116109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客户、销售、一线反馈</a:t>
            </a:r>
          </a:p>
        </p:txBody>
      </p:sp>
      <p:sp>
        <p:nvSpPr>
          <p:cNvPr id="17" name="band-t2"/>
          <p:cNvSpPr/>
          <p:nvPr/>
        </p:nvSpPr>
        <p:spPr>
          <a:xfrm>
            <a:off x="4894262" y="2070100"/>
            <a:ext cx="2403475" cy="622300"/>
          </a:xfrm>
          <a:custGeom>
            <a:avLst/>
            <a:gdLst/>
            <a:ahLst/>
            <a:cxnLst/>
            <a:rect l="0" t="0" r="r" b="b"/>
            <a:pathLst>
              <a:path w="2403475" h="622300">
                <a:moveTo>
                  <a:pt x="0" y="0"/>
                </a:moveTo>
                <a:cubicBezTo>
                  <a:pt x="6033" y="5779"/>
                  <a:pt x="24257" y="23050"/>
                  <a:pt x="36259" y="34544"/>
                </a:cubicBezTo>
                <a:cubicBezTo>
                  <a:pt x="48260" y="46101"/>
                  <a:pt x="60198" y="57594"/>
                  <a:pt x="71946" y="69151"/>
                </a:cubicBezTo>
                <a:cubicBezTo>
                  <a:pt x="83757" y="80645"/>
                  <a:pt x="95440" y="92202"/>
                  <a:pt x="107061" y="103695"/>
                </a:cubicBezTo>
                <a:cubicBezTo>
                  <a:pt x="118618" y="115252"/>
                  <a:pt x="130112" y="126746"/>
                  <a:pt x="141478" y="138303"/>
                </a:cubicBezTo>
                <a:cubicBezTo>
                  <a:pt x="152908" y="149796"/>
                  <a:pt x="164148" y="161354"/>
                  <a:pt x="175324" y="172847"/>
                </a:cubicBezTo>
                <a:cubicBezTo>
                  <a:pt x="186500" y="184404"/>
                  <a:pt x="197549" y="195898"/>
                  <a:pt x="208534" y="207455"/>
                </a:cubicBezTo>
                <a:cubicBezTo>
                  <a:pt x="219520" y="218948"/>
                  <a:pt x="230378" y="230505"/>
                  <a:pt x="241110" y="241999"/>
                </a:cubicBezTo>
                <a:cubicBezTo>
                  <a:pt x="251841" y="253556"/>
                  <a:pt x="262509" y="265049"/>
                  <a:pt x="273050" y="276606"/>
                </a:cubicBezTo>
                <a:cubicBezTo>
                  <a:pt x="283527" y="288100"/>
                  <a:pt x="294005" y="299656"/>
                  <a:pt x="304292" y="311150"/>
                </a:cubicBezTo>
                <a:cubicBezTo>
                  <a:pt x="314642" y="322644"/>
                  <a:pt x="324802" y="334200"/>
                  <a:pt x="334899" y="345694"/>
                </a:cubicBezTo>
                <a:cubicBezTo>
                  <a:pt x="345059" y="357251"/>
                  <a:pt x="355028" y="368744"/>
                  <a:pt x="364871" y="380301"/>
                </a:cubicBezTo>
                <a:cubicBezTo>
                  <a:pt x="374777" y="391795"/>
                  <a:pt x="384556" y="403352"/>
                  <a:pt x="394208" y="414845"/>
                </a:cubicBezTo>
                <a:cubicBezTo>
                  <a:pt x="403860" y="426402"/>
                  <a:pt x="413385" y="437896"/>
                  <a:pt x="422847" y="449453"/>
                </a:cubicBezTo>
                <a:cubicBezTo>
                  <a:pt x="432245" y="460946"/>
                  <a:pt x="441579" y="472504"/>
                  <a:pt x="450787" y="483997"/>
                </a:cubicBezTo>
                <a:cubicBezTo>
                  <a:pt x="459994" y="495554"/>
                  <a:pt x="469074" y="507048"/>
                  <a:pt x="478091" y="518605"/>
                </a:cubicBezTo>
                <a:cubicBezTo>
                  <a:pt x="487045" y="530098"/>
                  <a:pt x="495935" y="541655"/>
                  <a:pt x="504635" y="553149"/>
                </a:cubicBezTo>
                <a:cubicBezTo>
                  <a:pt x="513398" y="564706"/>
                  <a:pt x="522034" y="576199"/>
                  <a:pt x="530542" y="587756"/>
                </a:cubicBezTo>
                <a:cubicBezTo>
                  <a:pt x="539051" y="599250"/>
                  <a:pt x="551498" y="616521"/>
                  <a:pt x="555688" y="622300"/>
                </a:cubicBezTo>
                <a:lnTo>
                  <a:pt x="1847786" y="622300"/>
                </a:lnTo>
                <a:cubicBezTo>
                  <a:pt x="1851978" y="616521"/>
                  <a:pt x="1864423" y="599250"/>
                  <a:pt x="1872933" y="587756"/>
                </a:cubicBezTo>
                <a:cubicBezTo>
                  <a:pt x="1881441" y="576199"/>
                  <a:pt x="1890078" y="564706"/>
                  <a:pt x="1898840" y="553149"/>
                </a:cubicBezTo>
                <a:cubicBezTo>
                  <a:pt x="1907540" y="541655"/>
                  <a:pt x="1916430" y="530098"/>
                  <a:pt x="1925384" y="518605"/>
                </a:cubicBezTo>
                <a:cubicBezTo>
                  <a:pt x="1934401" y="507048"/>
                  <a:pt x="1943481" y="495554"/>
                  <a:pt x="1952688" y="483997"/>
                </a:cubicBezTo>
                <a:cubicBezTo>
                  <a:pt x="1961896" y="472504"/>
                  <a:pt x="1971231" y="460946"/>
                  <a:pt x="1980629" y="449453"/>
                </a:cubicBezTo>
                <a:cubicBezTo>
                  <a:pt x="1990090" y="437896"/>
                  <a:pt x="1999615" y="426402"/>
                  <a:pt x="2009267" y="414845"/>
                </a:cubicBezTo>
                <a:cubicBezTo>
                  <a:pt x="2018919" y="403352"/>
                  <a:pt x="2028698" y="391795"/>
                  <a:pt x="2038604" y="380301"/>
                </a:cubicBezTo>
                <a:cubicBezTo>
                  <a:pt x="2048446" y="368744"/>
                  <a:pt x="2058416" y="357251"/>
                  <a:pt x="2068576" y="345694"/>
                </a:cubicBezTo>
                <a:cubicBezTo>
                  <a:pt x="2078672" y="334200"/>
                  <a:pt x="2088833" y="322644"/>
                  <a:pt x="2099183" y="311150"/>
                </a:cubicBezTo>
                <a:cubicBezTo>
                  <a:pt x="2109470" y="299656"/>
                  <a:pt x="2119947" y="288100"/>
                  <a:pt x="2130425" y="276606"/>
                </a:cubicBezTo>
                <a:cubicBezTo>
                  <a:pt x="2140966" y="265049"/>
                  <a:pt x="2151634" y="253556"/>
                  <a:pt x="2162366" y="241999"/>
                </a:cubicBezTo>
                <a:cubicBezTo>
                  <a:pt x="2173097" y="230505"/>
                  <a:pt x="2183956" y="218948"/>
                  <a:pt x="2194941" y="207455"/>
                </a:cubicBezTo>
                <a:cubicBezTo>
                  <a:pt x="2205927" y="195898"/>
                  <a:pt x="2216976" y="184404"/>
                  <a:pt x="2228152" y="172847"/>
                </a:cubicBezTo>
                <a:cubicBezTo>
                  <a:pt x="2239328" y="161354"/>
                  <a:pt x="2250567" y="149796"/>
                  <a:pt x="2261997" y="138303"/>
                </a:cubicBezTo>
                <a:cubicBezTo>
                  <a:pt x="2273364" y="126746"/>
                  <a:pt x="2284857" y="115252"/>
                  <a:pt x="2296414" y="103695"/>
                </a:cubicBezTo>
                <a:cubicBezTo>
                  <a:pt x="2308034" y="92202"/>
                  <a:pt x="2319718" y="80645"/>
                  <a:pt x="2331530" y="69151"/>
                </a:cubicBezTo>
                <a:cubicBezTo>
                  <a:pt x="2343277" y="57594"/>
                  <a:pt x="2355215" y="46101"/>
                  <a:pt x="2367216" y="34544"/>
                </a:cubicBezTo>
                <a:cubicBezTo>
                  <a:pt x="2379218" y="23050"/>
                  <a:pt x="2397442" y="5779"/>
                  <a:pt x="2403475" y="0"/>
                </a:cubicBezTo>
                <a:close/>
              </a:path>
            </a:pathLst>
          </a:custGeom>
          <a:gradFill rotWithShape="1">
            <a:gsLst>
              <a:gs pos="0">
                <a:srgbClr val="4D91D2"/>
              </a:gs>
              <a:gs pos="100000">
                <a:srgbClr val="3985CD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bv-t2"/>
          <p:cNvSpPr txBox="1"/>
          <p:nvPr/>
        </p:nvSpPr>
        <p:spPr>
          <a:xfrm>
            <a:off x="5795391" y="2234502"/>
            <a:ext cx="601218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86 条</a:t>
            </a:r>
          </a:p>
        </p:txBody>
      </p:sp>
      <p:cxnSp>
        <p:nvCxnSpPr>
          <p:cNvPr id="19" name="ld-t2"/>
          <p:cNvCxnSpPr/>
          <p:nvPr/>
        </p:nvCxnSpPr>
        <p:spPr>
          <a:xfrm flipH="1">
            <a:off x="2222500" y="2381250"/>
            <a:ext cx="2887164" cy="0"/>
          </a:xfrm>
          <a:prstGeom prst="line">
            <a:avLst/>
          </a:prstGeom>
          <a:ln w="11430" cap="rnd">
            <a:solidFill>
              <a:srgbClr val="3985CD">
                <a:alpha val="7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ldd-t2"/>
          <p:cNvSpPr/>
          <p:nvPr/>
        </p:nvSpPr>
        <p:spPr>
          <a:xfrm>
            <a:off x="2190750" y="2349500"/>
            <a:ext cx="63500" cy="63500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bn-t2"/>
          <p:cNvSpPr txBox="1"/>
          <p:nvPr/>
        </p:nvSpPr>
        <p:spPr>
          <a:xfrm>
            <a:off x="933450" y="214709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筛选归并</a:t>
            </a:r>
          </a:p>
        </p:txBody>
      </p:sp>
      <p:sp>
        <p:nvSpPr>
          <p:cNvPr id="22" name="bd-t2"/>
          <p:cNvSpPr txBox="1"/>
          <p:nvPr/>
        </p:nvSpPr>
        <p:spPr>
          <a:xfrm>
            <a:off x="939927" y="2416953"/>
            <a:ext cx="947737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去重并按价值打分</a:t>
            </a:r>
          </a:p>
        </p:txBody>
      </p:sp>
      <p:sp>
        <p:nvSpPr>
          <p:cNvPr id="23" name="band-t3"/>
          <p:cNvSpPr/>
          <p:nvPr/>
        </p:nvSpPr>
        <p:spPr>
          <a:xfrm>
            <a:off x="5485638" y="2743200"/>
            <a:ext cx="1220724" cy="508000"/>
          </a:xfrm>
          <a:custGeom>
            <a:avLst/>
            <a:gdLst/>
            <a:ahLst/>
            <a:cxnLst/>
            <a:rect l="0" t="0" r="r" b="b"/>
            <a:pathLst>
              <a:path w="1220724" h="508000">
                <a:moveTo>
                  <a:pt x="0" y="0"/>
                </a:moveTo>
                <a:cubicBezTo>
                  <a:pt x="3238" y="4699"/>
                  <a:pt x="12890" y="18796"/>
                  <a:pt x="19177" y="28194"/>
                </a:cubicBezTo>
                <a:cubicBezTo>
                  <a:pt x="25463" y="37656"/>
                  <a:pt x="31687" y="47054"/>
                  <a:pt x="37846" y="56451"/>
                </a:cubicBezTo>
                <a:cubicBezTo>
                  <a:pt x="43942" y="65850"/>
                  <a:pt x="50038" y="75248"/>
                  <a:pt x="56007" y="84645"/>
                </a:cubicBezTo>
                <a:cubicBezTo>
                  <a:pt x="61976" y="94044"/>
                  <a:pt x="67818" y="103505"/>
                  <a:pt x="73660" y="112903"/>
                </a:cubicBezTo>
                <a:cubicBezTo>
                  <a:pt x="79438" y="122301"/>
                  <a:pt x="85153" y="131699"/>
                  <a:pt x="90805" y="141097"/>
                </a:cubicBezTo>
                <a:cubicBezTo>
                  <a:pt x="96393" y="150495"/>
                  <a:pt x="101981" y="159956"/>
                  <a:pt x="107378" y="169355"/>
                </a:cubicBezTo>
                <a:cubicBezTo>
                  <a:pt x="112839" y="178752"/>
                  <a:pt x="118237" y="188150"/>
                  <a:pt x="123508" y="197549"/>
                </a:cubicBezTo>
                <a:cubicBezTo>
                  <a:pt x="128778" y="206946"/>
                  <a:pt x="133985" y="216344"/>
                  <a:pt x="139065" y="225806"/>
                </a:cubicBezTo>
                <a:cubicBezTo>
                  <a:pt x="144209" y="235204"/>
                  <a:pt x="149225" y="244602"/>
                  <a:pt x="154114" y="254000"/>
                </a:cubicBezTo>
                <a:cubicBezTo>
                  <a:pt x="159067" y="263398"/>
                  <a:pt x="163894" y="272796"/>
                  <a:pt x="168592" y="282194"/>
                </a:cubicBezTo>
                <a:cubicBezTo>
                  <a:pt x="173355" y="291656"/>
                  <a:pt x="177990" y="301054"/>
                  <a:pt x="182562" y="310451"/>
                </a:cubicBezTo>
                <a:cubicBezTo>
                  <a:pt x="187071" y="319850"/>
                  <a:pt x="191579" y="329248"/>
                  <a:pt x="195898" y="338645"/>
                </a:cubicBezTo>
                <a:cubicBezTo>
                  <a:pt x="200279" y="348044"/>
                  <a:pt x="204534" y="357505"/>
                  <a:pt x="208725" y="366903"/>
                </a:cubicBezTo>
                <a:cubicBezTo>
                  <a:pt x="212852" y="376301"/>
                  <a:pt x="216916" y="385699"/>
                  <a:pt x="220916" y="395097"/>
                </a:cubicBezTo>
                <a:cubicBezTo>
                  <a:pt x="224853" y="404495"/>
                  <a:pt x="228727" y="413956"/>
                  <a:pt x="232537" y="423355"/>
                </a:cubicBezTo>
                <a:cubicBezTo>
                  <a:pt x="236284" y="432752"/>
                  <a:pt x="239966" y="442150"/>
                  <a:pt x="243523" y="451549"/>
                </a:cubicBezTo>
                <a:cubicBezTo>
                  <a:pt x="247078" y="460946"/>
                  <a:pt x="250508" y="470344"/>
                  <a:pt x="253873" y="479806"/>
                </a:cubicBezTo>
                <a:cubicBezTo>
                  <a:pt x="257238" y="489204"/>
                  <a:pt x="261938" y="503301"/>
                  <a:pt x="263588" y="508000"/>
                </a:cubicBezTo>
                <a:lnTo>
                  <a:pt x="957136" y="508000"/>
                </a:lnTo>
                <a:cubicBezTo>
                  <a:pt x="958786" y="503301"/>
                  <a:pt x="963486" y="489204"/>
                  <a:pt x="966851" y="479806"/>
                </a:cubicBezTo>
                <a:cubicBezTo>
                  <a:pt x="970216" y="470344"/>
                  <a:pt x="973646" y="460946"/>
                  <a:pt x="977201" y="451549"/>
                </a:cubicBezTo>
                <a:cubicBezTo>
                  <a:pt x="980758" y="442150"/>
                  <a:pt x="984440" y="432752"/>
                  <a:pt x="988187" y="423355"/>
                </a:cubicBezTo>
                <a:cubicBezTo>
                  <a:pt x="991997" y="413956"/>
                  <a:pt x="995871" y="404495"/>
                  <a:pt x="999808" y="395097"/>
                </a:cubicBezTo>
                <a:cubicBezTo>
                  <a:pt x="1003808" y="385699"/>
                  <a:pt x="1007872" y="376301"/>
                  <a:pt x="1012000" y="366903"/>
                </a:cubicBezTo>
                <a:cubicBezTo>
                  <a:pt x="1016190" y="357505"/>
                  <a:pt x="1020445" y="348044"/>
                  <a:pt x="1024826" y="338645"/>
                </a:cubicBezTo>
                <a:cubicBezTo>
                  <a:pt x="1029145" y="329248"/>
                  <a:pt x="1033653" y="319850"/>
                  <a:pt x="1038161" y="310451"/>
                </a:cubicBezTo>
                <a:cubicBezTo>
                  <a:pt x="1042733" y="301054"/>
                  <a:pt x="1047369" y="291656"/>
                  <a:pt x="1052131" y="282194"/>
                </a:cubicBezTo>
                <a:cubicBezTo>
                  <a:pt x="1056830" y="272796"/>
                  <a:pt x="1061656" y="263398"/>
                  <a:pt x="1066609" y="254000"/>
                </a:cubicBezTo>
                <a:cubicBezTo>
                  <a:pt x="1071499" y="244602"/>
                  <a:pt x="1076516" y="235204"/>
                  <a:pt x="1081659" y="225806"/>
                </a:cubicBezTo>
                <a:cubicBezTo>
                  <a:pt x="1086739" y="216344"/>
                  <a:pt x="1091946" y="206946"/>
                  <a:pt x="1097217" y="197549"/>
                </a:cubicBezTo>
                <a:cubicBezTo>
                  <a:pt x="1102487" y="188150"/>
                  <a:pt x="1107884" y="178752"/>
                  <a:pt x="1113346" y="169355"/>
                </a:cubicBezTo>
                <a:cubicBezTo>
                  <a:pt x="1118743" y="159956"/>
                  <a:pt x="1124331" y="150495"/>
                  <a:pt x="1129919" y="141097"/>
                </a:cubicBezTo>
                <a:cubicBezTo>
                  <a:pt x="1135571" y="131699"/>
                  <a:pt x="1141285" y="122301"/>
                  <a:pt x="1147064" y="112903"/>
                </a:cubicBezTo>
                <a:cubicBezTo>
                  <a:pt x="1152906" y="103505"/>
                  <a:pt x="1158748" y="94044"/>
                  <a:pt x="1164717" y="84645"/>
                </a:cubicBezTo>
                <a:cubicBezTo>
                  <a:pt x="1170686" y="75248"/>
                  <a:pt x="1176782" y="65850"/>
                  <a:pt x="1182878" y="56451"/>
                </a:cubicBezTo>
                <a:cubicBezTo>
                  <a:pt x="1189038" y="47054"/>
                  <a:pt x="1195260" y="37656"/>
                  <a:pt x="1201547" y="28194"/>
                </a:cubicBezTo>
                <a:cubicBezTo>
                  <a:pt x="1207833" y="18796"/>
                  <a:pt x="1217485" y="4699"/>
                  <a:pt x="1220724" y="0"/>
                </a:cubicBezTo>
                <a:close/>
              </a:path>
            </a:pathLst>
          </a:custGeom>
          <a:gradFill rotWithShape="1">
            <a:gsLst>
              <a:gs pos="0">
                <a:srgbClr val="3A77BD"/>
              </a:gs>
              <a:gs pos="100000">
                <a:srgbClr val="2468B6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bv-t3"/>
          <p:cNvSpPr txBox="1"/>
          <p:nvPr/>
        </p:nvSpPr>
        <p:spPr>
          <a:xfrm>
            <a:off x="5863590" y="2897505"/>
            <a:ext cx="46482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24 条</a:t>
            </a:r>
          </a:p>
        </p:txBody>
      </p:sp>
      <p:cxnSp>
        <p:nvCxnSpPr>
          <p:cNvPr id="25" name="ld-t3"/>
          <p:cNvCxnSpPr/>
          <p:nvPr/>
        </p:nvCxnSpPr>
        <p:spPr>
          <a:xfrm flipH="1">
            <a:off x="2222500" y="2997200"/>
            <a:ext cx="3328359" cy="0"/>
          </a:xfrm>
          <a:prstGeom prst="line">
            <a:avLst/>
          </a:prstGeom>
          <a:ln w="11430" cap="rnd">
            <a:solidFill>
              <a:srgbClr val="2468B6">
                <a:alpha val="7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ldd-t3"/>
          <p:cNvSpPr/>
          <p:nvPr/>
        </p:nvSpPr>
        <p:spPr>
          <a:xfrm>
            <a:off x="2190750" y="2965450"/>
            <a:ext cx="63500" cy="63500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bn-t3"/>
          <p:cNvSpPr txBox="1"/>
          <p:nvPr/>
        </p:nvSpPr>
        <p:spPr>
          <a:xfrm>
            <a:off x="933450" y="27630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评审排序</a:t>
            </a:r>
          </a:p>
        </p:txBody>
      </p:sp>
      <p:sp>
        <p:nvSpPr>
          <p:cNvPr id="28" name="bd-t3"/>
          <p:cNvSpPr txBox="1"/>
          <p:nvPr/>
        </p:nvSpPr>
        <p:spPr>
          <a:xfrm>
            <a:off x="939927" y="3032903"/>
            <a:ext cx="105441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评审会投票定优先级</a:t>
            </a:r>
          </a:p>
        </p:txBody>
      </p:sp>
      <p:sp>
        <p:nvSpPr>
          <p:cNvPr id="29" name="band-b1"/>
          <p:cNvSpPr/>
          <p:nvPr/>
        </p:nvSpPr>
        <p:spPr>
          <a:xfrm>
            <a:off x="5485638" y="3810000"/>
            <a:ext cx="1220724" cy="508000"/>
          </a:xfrm>
          <a:custGeom>
            <a:avLst/>
            <a:gdLst/>
            <a:ahLst/>
            <a:cxnLst/>
            <a:rect l="0" t="0" r="r" b="b"/>
            <a:pathLst>
              <a:path w="1220724" h="508000">
                <a:moveTo>
                  <a:pt x="263588" y="0"/>
                </a:moveTo>
                <a:cubicBezTo>
                  <a:pt x="261938" y="4699"/>
                  <a:pt x="257238" y="18796"/>
                  <a:pt x="253873" y="28194"/>
                </a:cubicBezTo>
                <a:cubicBezTo>
                  <a:pt x="250508" y="37655"/>
                  <a:pt x="247078" y="47053"/>
                  <a:pt x="243523" y="56451"/>
                </a:cubicBezTo>
                <a:cubicBezTo>
                  <a:pt x="239966" y="65850"/>
                  <a:pt x="236284" y="75248"/>
                  <a:pt x="232537" y="84646"/>
                </a:cubicBezTo>
                <a:cubicBezTo>
                  <a:pt x="228727" y="94043"/>
                  <a:pt x="224853" y="103505"/>
                  <a:pt x="220916" y="112903"/>
                </a:cubicBezTo>
                <a:cubicBezTo>
                  <a:pt x="216916" y="122301"/>
                  <a:pt x="212852" y="131699"/>
                  <a:pt x="208725" y="141097"/>
                </a:cubicBezTo>
                <a:cubicBezTo>
                  <a:pt x="204534" y="150495"/>
                  <a:pt x="200279" y="159957"/>
                  <a:pt x="195898" y="169354"/>
                </a:cubicBezTo>
                <a:cubicBezTo>
                  <a:pt x="191579" y="178752"/>
                  <a:pt x="187071" y="188150"/>
                  <a:pt x="182562" y="197549"/>
                </a:cubicBezTo>
                <a:cubicBezTo>
                  <a:pt x="177990" y="206947"/>
                  <a:pt x="173355" y="216345"/>
                  <a:pt x="168592" y="225806"/>
                </a:cubicBezTo>
                <a:cubicBezTo>
                  <a:pt x="163894" y="235204"/>
                  <a:pt x="159067" y="244602"/>
                  <a:pt x="154114" y="254000"/>
                </a:cubicBezTo>
                <a:cubicBezTo>
                  <a:pt x="149225" y="263398"/>
                  <a:pt x="144209" y="272796"/>
                  <a:pt x="139065" y="282194"/>
                </a:cubicBezTo>
                <a:cubicBezTo>
                  <a:pt x="133985" y="291655"/>
                  <a:pt x="128778" y="301053"/>
                  <a:pt x="123508" y="310451"/>
                </a:cubicBezTo>
                <a:cubicBezTo>
                  <a:pt x="118237" y="319850"/>
                  <a:pt x="112839" y="329248"/>
                  <a:pt x="107378" y="338646"/>
                </a:cubicBezTo>
                <a:cubicBezTo>
                  <a:pt x="101981" y="348043"/>
                  <a:pt x="96393" y="357505"/>
                  <a:pt x="90805" y="366903"/>
                </a:cubicBezTo>
                <a:cubicBezTo>
                  <a:pt x="85153" y="376301"/>
                  <a:pt x="79438" y="385699"/>
                  <a:pt x="73660" y="395097"/>
                </a:cubicBezTo>
                <a:cubicBezTo>
                  <a:pt x="67818" y="404495"/>
                  <a:pt x="61976" y="413957"/>
                  <a:pt x="56007" y="423354"/>
                </a:cubicBezTo>
                <a:cubicBezTo>
                  <a:pt x="50038" y="432752"/>
                  <a:pt x="43942" y="442150"/>
                  <a:pt x="37846" y="451549"/>
                </a:cubicBezTo>
                <a:cubicBezTo>
                  <a:pt x="31687" y="460947"/>
                  <a:pt x="25463" y="470345"/>
                  <a:pt x="19177" y="479806"/>
                </a:cubicBezTo>
                <a:cubicBezTo>
                  <a:pt x="12890" y="489204"/>
                  <a:pt x="3238" y="503301"/>
                  <a:pt x="0" y="508000"/>
                </a:cubicBezTo>
                <a:lnTo>
                  <a:pt x="1220724" y="508000"/>
                </a:lnTo>
                <a:cubicBezTo>
                  <a:pt x="1217485" y="503301"/>
                  <a:pt x="1207833" y="489204"/>
                  <a:pt x="1201547" y="479806"/>
                </a:cubicBezTo>
                <a:cubicBezTo>
                  <a:pt x="1195260" y="470345"/>
                  <a:pt x="1189038" y="460947"/>
                  <a:pt x="1182878" y="451549"/>
                </a:cubicBezTo>
                <a:cubicBezTo>
                  <a:pt x="1176782" y="442150"/>
                  <a:pt x="1170686" y="432752"/>
                  <a:pt x="1164717" y="423354"/>
                </a:cubicBezTo>
                <a:cubicBezTo>
                  <a:pt x="1158748" y="413957"/>
                  <a:pt x="1152906" y="404495"/>
                  <a:pt x="1147064" y="395097"/>
                </a:cubicBezTo>
                <a:cubicBezTo>
                  <a:pt x="1141285" y="385699"/>
                  <a:pt x="1135571" y="376301"/>
                  <a:pt x="1129919" y="366903"/>
                </a:cubicBezTo>
                <a:cubicBezTo>
                  <a:pt x="1124331" y="357505"/>
                  <a:pt x="1118743" y="348043"/>
                  <a:pt x="1113346" y="338646"/>
                </a:cubicBezTo>
                <a:cubicBezTo>
                  <a:pt x="1107884" y="329248"/>
                  <a:pt x="1102487" y="319850"/>
                  <a:pt x="1097217" y="310451"/>
                </a:cubicBezTo>
                <a:cubicBezTo>
                  <a:pt x="1091946" y="301053"/>
                  <a:pt x="1086739" y="291655"/>
                  <a:pt x="1081659" y="282194"/>
                </a:cubicBezTo>
                <a:cubicBezTo>
                  <a:pt x="1076516" y="272796"/>
                  <a:pt x="1071499" y="263398"/>
                  <a:pt x="1066609" y="254000"/>
                </a:cubicBezTo>
                <a:cubicBezTo>
                  <a:pt x="1061656" y="244602"/>
                  <a:pt x="1056830" y="235204"/>
                  <a:pt x="1052131" y="225806"/>
                </a:cubicBezTo>
                <a:cubicBezTo>
                  <a:pt x="1047369" y="216345"/>
                  <a:pt x="1042733" y="206947"/>
                  <a:pt x="1038161" y="197549"/>
                </a:cubicBezTo>
                <a:cubicBezTo>
                  <a:pt x="1033653" y="188150"/>
                  <a:pt x="1029145" y="178752"/>
                  <a:pt x="1024826" y="169354"/>
                </a:cubicBezTo>
                <a:cubicBezTo>
                  <a:pt x="1020445" y="159957"/>
                  <a:pt x="1016190" y="150495"/>
                  <a:pt x="1012000" y="141097"/>
                </a:cubicBezTo>
                <a:cubicBezTo>
                  <a:pt x="1007872" y="131699"/>
                  <a:pt x="1003808" y="122301"/>
                  <a:pt x="999808" y="112903"/>
                </a:cubicBezTo>
                <a:cubicBezTo>
                  <a:pt x="995871" y="103505"/>
                  <a:pt x="991997" y="94043"/>
                  <a:pt x="988187" y="84646"/>
                </a:cubicBezTo>
                <a:cubicBezTo>
                  <a:pt x="984440" y="75248"/>
                  <a:pt x="980758" y="65850"/>
                  <a:pt x="977201" y="56451"/>
                </a:cubicBezTo>
                <a:cubicBezTo>
                  <a:pt x="973646" y="47053"/>
                  <a:pt x="970216" y="37655"/>
                  <a:pt x="966851" y="28194"/>
                </a:cubicBezTo>
                <a:cubicBezTo>
                  <a:pt x="963486" y="18796"/>
                  <a:pt x="958786" y="4699"/>
                  <a:pt x="957136" y="0"/>
                </a:cubicBezTo>
                <a:close/>
              </a:path>
            </a:pathLst>
          </a:custGeom>
          <a:gradFill rotWithShape="1">
            <a:gsLst>
              <a:gs pos="0">
                <a:srgbClr val="3A77BD"/>
              </a:gs>
              <a:gs pos="100000">
                <a:srgbClr val="2468B6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bv-b1"/>
          <p:cNvSpPr txBox="1"/>
          <p:nvPr/>
        </p:nvSpPr>
        <p:spPr>
          <a:xfrm>
            <a:off x="5770880" y="3964305"/>
            <a:ext cx="6502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6 个项目</a:t>
            </a:r>
          </a:p>
        </p:txBody>
      </p:sp>
      <p:cxnSp>
        <p:nvCxnSpPr>
          <p:cNvPr id="31" name="ld-b1"/>
          <p:cNvCxnSpPr/>
          <p:nvPr/>
        </p:nvCxnSpPr>
        <p:spPr>
          <a:xfrm>
            <a:off x="6641141" y="4064000"/>
            <a:ext cx="1994859" cy="0"/>
          </a:xfrm>
          <a:prstGeom prst="line">
            <a:avLst/>
          </a:prstGeom>
          <a:ln w="11430" cap="rnd">
            <a:solidFill>
              <a:srgbClr val="2468B6">
                <a:alpha val="7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ldd-b1"/>
          <p:cNvSpPr/>
          <p:nvPr/>
        </p:nvSpPr>
        <p:spPr>
          <a:xfrm>
            <a:off x="8604250" y="4032250"/>
            <a:ext cx="63500" cy="63500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bn-b1"/>
          <p:cNvSpPr txBox="1"/>
          <p:nvPr/>
        </p:nvSpPr>
        <p:spPr>
          <a:xfrm>
            <a:off x="8743950" y="38298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立项开发</a:t>
            </a:r>
          </a:p>
        </p:txBody>
      </p:sp>
      <p:sp>
        <p:nvSpPr>
          <p:cNvPr id="34" name="bd-b1"/>
          <p:cNvSpPr txBox="1"/>
          <p:nvPr/>
        </p:nvSpPr>
        <p:spPr>
          <a:xfrm>
            <a:off x="8750427" y="4099703"/>
            <a:ext cx="105441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每个决定一个项目组</a:t>
            </a:r>
          </a:p>
        </p:txBody>
      </p:sp>
      <p:sp>
        <p:nvSpPr>
          <p:cNvPr id="35" name="band-b2"/>
          <p:cNvSpPr/>
          <p:nvPr/>
        </p:nvSpPr>
        <p:spPr>
          <a:xfrm>
            <a:off x="4894262" y="4368800"/>
            <a:ext cx="2403475" cy="622300"/>
          </a:xfrm>
          <a:custGeom>
            <a:avLst/>
            <a:gdLst/>
            <a:ahLst/>
            <a:cxnLst/>
            <a:rect l="0" t="0" r="r" b="b"/>
            <a:pathLst>
              <a:path w="2403475" h="622300">
                <a:moveTo>
                  <a:pt x="555688" y="0"/>
                </a:moveTo>
                <a:cubicBezTo>
                  <a:pt x="551498" y="5778"/>
                  <a:pt x="539051" y="23050"/>
                  <a:pt x="530542" y="34544"/>
                </a:cubicBezTo>
                <a:cubicBezTo>
                  <a:pt x="522034" y="46101"/>
                  <a:pt x="513398" y="57595"/>
                  <a:pt x="504635" y="69151"/>
                </a:cubicBezTo>
                <a:cubicBezTo>
                  <a:pt x="495935" y="80645"/>
                  <a:pt x="487045" y="92202"/>
                  <a:pt x="478091" y="103696"/>
                </a:cubicBezTo>
                <a:cubicBezTo>
                  <a:pt x="469074" y="115252"/>
                  <a:pt x="459994" y="126746"/>
                  <a:pt x="450787" y="138303"/>
                </a:cubicBezTo>
                <a:cubicBezTo>
                  <a:pt x="441579" y="149797"/>
                  <a:pt x="432245" y="161353"/>
                  <a:pt x="422847" y="172847"/>
                </a:cubicBezTo>
                <a:cubicBezTo>
                  <a:pt x="413385" y="184404"/>
                  <a:pt x="403860" y="195898"/>
                  <a:pt x="394208" y="207454"/>
                </a:cubicBezTo>
                <a:cubicBezTo>
                  <a:pt x="384556" y="218948"/>
                  <a:pt x="374777" y="230505"/>
                  <a:pt x="364871" y="241999"/>
                </a:cubicBezTo>
                <a:cubicBezTo>
                  <a:pt x="355028" y="253555"/>
                  <a:pt x="345059" y="265049"/>
                  <a:pt x="334899" y="276606"/>
                </a:cubicBezTo>
                <a:cubicBezTo>
                  <a:pt x="324802" y="288100"/>
                  <a:pt x="314642" y="299657"/>
                  <a:pt x="304292" y="311150"/>
                </a:cubicBezTo>
                <a:cubicBezTo>
                  <a:pt x="294005" y="322643"/>
                  <a:pt x="283527" y="334200"/>
                  <a:pt x="273050" y="345694"/>
                </a:cubicBezTo>
                <a:cubicBezTo>
                  <a:pt x="262509" y="357251"/>
                  <a:pt x="251841" y="368745"/>
                  <a:pt x="241110" y="380301"/>
                </a:cubicBezTo>
                <a:cubicBezTo>
                  <a:pt x="230378" y="391795"/>
                  <a:pt x="219520" y="403352"/>
                  <a:pt x="208534" y="414846"/>
                </a:cubicBezTo>
                <a:cubicBezTo>
                  <a:pt x="197549" y="426402"/>
                  <a:pt x="186500" y="437896"/>
                  <a:pt x="175324" y="449453"/>
                </a:cubicBezTo>
                <a:cubicBezTo>
                  <a:pt x="164148" y="460947"/>
                  <a:pt x="152908" y="472503"/>
                  <a:pt x="141478" y="483997"/>
                </a:cubicBezTo>
                <a:cubicBezTo>
                  <a:pt x="130112" y="495554"/>
                  <a:pt x="118618" y="507048"/>
                  <a:pt x="107061" y="518604"/>
                </a:cubicBezTo>
                <a:cubicBezTo>
                  <a:pt x="95440" y="530098"/>
                  <a:pt x="83757" y="541655"/>
                  <a:pt x="71946" y="553149"/>
                </a:cubicBezTo>
                <a:cubicBezTo>
                  <a:pt x="60198" y="564705"/>
                  <a:pt x="48260" y="576199"/>
                  <a:pt x="36259" y="587756"/>
                </a:cubicBezTo>
                <a:cubicBezTo>
                  <a:pt x="24257" y="599250"/>
                  <a:pt x="6033" y="616522"/>
                  <a:pt x="0" y="622300"/>
                </a:cubicBezTo>
                <a:lnTo>
                  <a:pt x="2403475" y="622300"/>
                </a:lnTo>
                <a:cubicBezTo>
                  <a:pt x="2397442" y="616522"/>
                  <a:pt x="2379218" y="599250"/>
                  <a:pt x="2367216" y="587756"/>
                </a:cubicBezTo>
                <a:cubicBezTo>
                  <a:pt x="2355215" y="576199"/>
                  <a:pt x="2343277" y="564705"/>
                  <a:pt x="2331530" y="553149"/>
                </a:cubicBezTo>
                <a:cubicBezTo>
                  <a:pt x="2319718" y="541655"/>
                  <a:pt x="2308034" y="530098"/>
                  <a:pt x="2296414" y="518604"/>
                </a:cubicBezTo>
                <a:cubicBezTo>
                  <a:pt x="2284857" y="507048"/>
                  <a:pt x="2273364" y="495554"/>
                  <a:pt x="2261997" y="483997"/>
                </a:cubicBezTo>
                <a:cubicBezTo>
                  <a:pt x="2250567" y="472503"/>
                  <a:pt x="2239328" y="460947"/>
                  <a:pt x="2228152" y="449453"/>
                </a:cubicBezTo>
                <a:cubicBezTo>
                  <a:pt x="2216976" y="437896"/>
                  <a:pt x="2205927" y="426402"/>
                  <a:pt x="2194941" y="414846"/>
                </a:cubicBezTo>
                <a:cubicBezTo>
                  <a:pt x="2183956" y="403352"/>
                  <a:pt x="2173097" y="391795"/>
                  <a:pt x="2162366" y="380301"/>
                </a:cubicBezTo>
                <a:cubicBezTo>
                  <a:pt x="2151634" y="368745"/>
                  <a:pt x="2140966" y="357251"/>
                  <a:pt x="2130425" y="345694"/>
                </a:cubicBezTo>
                <a:cubicBezTo>
                  <a:pt x="2119947" y="334200"/>
                  <a:pt x="2109470" y="322643"/>
                  <a:pt x="2099183" y="311150"/>
                </a:cubicBezTo>
                <a:cubicBezTo>
                  <a:pt x="2088833" y="299657"/>
                  <a:pt x="2078672" y="288100"/>
                  <a:pt x="2068576" y="276606"/>
                </a:cubicBezTo>
                <a:cubicBezTo>
                  <a:pt x="2058416" y="265049"/>
                  <a:pt x="2048446" y="253555"/>
                  <a:pt x="2038604" y="241999"/>
                </a:cubicBezTo>
                <a:cubicBezTo>
                  <a:pt x="2028698" y="230505"/>
                  <a:pt x="2018919" y="218948"/>
                  <a:pt x="2009267" y="207454"/>
                </a:cubicBezTo>
                <a:cubicBezTo>
                  <a:pt x="1999615" y="195898"/>
                  <a:pt x="1990090" y="184404"/>
                  <a:pt x="1980629" y="172847"/>
                </a:cubicBezTo>
                <a:cubicBezTo>
                  <a:pt x="1971231" y="161353"/>
                  <a:pt x="1961896" y="149797"/>
                  <a:pt x="1952688" y="138303"/>
                </a:cubicBezTo>
                <a:cubicBezTo>
                  <a:pt x="1943481" y="126746"/>
                  <a:pt x="1934401" y="115252"/>
                  <a:pt x="1925384" y="103696"/>
                </a:cubicBezTo>
                <a:cubicBezTo>
                  <a:pt x="1916430" y="92202"/>
                  <a:pt x="1907540" y="80645"/>
                  <a:pt x="1898840" y="69151"/>
                </a:cubicBezTo>
                <a:cubicBezTo>
                  <a:pt x="1890078" y="57595"/>
                  <a:pt x="1881441" y="46101"/>
                  <a:pt x="1872933" y="34544"/>
                </a:cubicBezTo>
                <a:cubicBezTo>
                  <a:pt x="1864423" y="23050"/>
                  <a:pt x="1851978" y="5778"/>
                  <a:pt x="1847786" y="0"/>
                </a:cubicBezTo>
                <a:close/>
              </a:path>
            </a:pathLst>
          </a:custGeom>
          <a:gradFill rotWithShape="1">
            <a:gsLst>
              <a:gs pos="0">
                <a:srgbClr val="4D91D2"/>
              </a:gs>
              <a:gs pos="100000">
                <a:srgbClr val="3985CD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bv-b2"/>
          <p:cNvSpPr txBox="1"/>
          <p:nvPr/>
        </p:nvSpPr>
        <p:spPr>
          <a:xfrm>
            <a:off x="5627751" y="4533202"/>
            <a:ext cx="936498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18 个版本</a:t>
            </a:r>
          </a:p>
        </p:txBody>
      </p:sp>
      <p:cxnSp>
        <p:nvCxnSpPr>
          <p:cNvPr id="37" name="ld-b2"/>
          <p:cNvCxnSpPr/>
          <p:nvPr/>
        </p:nvCxnSpPr>
        <p:spPr>
          <a:xfrm>
            <a:off x="7082336" y="4679950"/>
            <a:ext cx="1553664" cy="0"/>
          </a:xfrm>
          <a:prstGeom prst="line">
            <a:avLst/>
          </a:prstGeom>
          <a:ln w="11430" cap="rnd">
            <a:solidFill>
              <a:srgbClr val="3985CD">
                <a:alpha val="7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ldd-b2"/>
          <p:cNvSpPr/>
          <p:nvPr/>
        </p:nvSpPr>
        <p:spPr>
          <a:xfrm>
            <a:off x="8604250" y="4648200"/>
            <a:ext cx="63500" cy="63500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bn-b2"/>
          <p:cNvSpPr txBox="1"/>
          <p:nvPr/>
        </p:nvSpPr>
        <p:spPr>
          <a:xfrm>
            <a:off x="8743950" y="444579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迭代交付</a:t>
            </a:r>
          </a:p>
        </p:txBody>
      </p:sp>
      <p:sp>
        <p:nvSpPr>
          <p:cNvPr id="40" name="bd-b2"/>
          <p:cNvSpPr txBox="1"/>
          <p:nvPr/>
        </p:nvSpPr>
        <p:spPr>
          <a:xfrm>
            <a:off x="8750427" y="4715653"/>
            <a:ext cx="947737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双周发版持续上线</a:t>
            </a:r>
          </a:p>
        </p:txBody>
      </p:sp>
      <p:sp>
        <p:nvSpPr>
          <p:cNvPr id="41" name="band-b3"/>
          <p:cNvSpPr/>
          <p:nvPr/>
        </p:nvSpPr>
        <p:spPr>
          <a:xfrm>
            <a:off x="4000500" y="5041900"/>
            <a:ext cx="4191000" cy="673100"/>
          </a:xfrm>
          <a:custGeom>
            <a:avLst/>
            <a:gdLst/>
            <a:ahLst/>
            <a:cxnLst/>
            <a:rect l="0" t="0" r="r" b="b"/>
            <a:pathLst>
              <a:path w="4191000" h="673100">
                <a:moveTo>
                  <a:pt x="839279" y="0"/>
                </a:moveTo>
                <a:cubicBezTo>
                  <a:pt x="832485" y="6223"/>
                  <a:pt x="812165" y="24955"/>
                  <a:pt x="798386" y="37401"/>
                </a:cubicBezTo>
                <a:cubicBezTo>
                  <a:pt x="784670" y="49848"/>
                  <a:pt x="770763" y="62293"/>
                  <a:pt x="756793" y="74803"/>
                </a:cubicBezTo>
                <a:cubicBezTo>
                  <a:pt x="742823" y="87249"/>
                  <a:pt x="728726" y="99695"/>
                  <a:pt x="714502" y="112204"/>
                </a:cubicBezTo>
                <a:cubicBezTo>
                  <a:pt x="700278" y="124650"/>
                  <a:pt x="685927" y="137097"/>
                  <a:pt x="671512" y="149606"/>
                </a:cubicBezTo>
                <a:cubicBezTo>
                  <a:pt x="657098" y="162052"/>
                  <a:pt x="642493" y="174498"/>
                  <a:pt x="627824" y="186944"/>
                </a:cubicBezTo>
                <a:cubicBezTo>
                  <a:pt x="613156" y="199453"/>
                  <a:pt x="598424" y="211900"/>
                  <a:pt x="583501" y="224346"/>
                </a:cubicBezTo>
                <a:cubicBezTo>
                  <a:pt x="568642" y="236855"/>
                  <a:pt x="553593" y="249301"/>
                  <a:pt x="538480" y="261747"/>
                </a:cubicBezTo>
                <a:cubicBezTo>
                  <a:pt x="523367" y="274257"/>
                  <a:pt x="508127" y="286702"/>
                  <a:pt x="492824" y="299149"/>
                </a:cubicBezTo>
                <a:cubicBezTo>
                  <a:pt x="477457" y="311595"/>
                  <a:pt x="462026" y="324104"/>
                  <a:pt x="446468" y="336550"/>
                </a:cubicBezTo>
                <a:cubicBezTo>
                  <a:pt x="430911" y="348996"/>
                  <a:pt x="415226" y="361505"/>
                  <a:pt x="399478" y="373951"/>
                </a:cubicBezTo>
                <a:cubicBezTo>
                  <a:pt x="383667" y="386398"/>
                  <a:pt x="367792" y="398843"/>
                  <a:pt x="351790" y="411353"/>
                </a:cubicBezTo>
                <a:cubicBezTo>
                  <a:pt x="335788" y="423799"/>
                  <a:pt x="319659" y="436245"/>
                  <a:pt x="303466" y="448754"/>
                </a:cubicBezTo>
                <a:cubicBezTo>
                  <a:pt x="287211" y="461200"/>
                  <a:pt x="270891" y="473647"/>
                  <a:pt x="254508" y="486156"/>
                </a:cubicBezTo>
                <a:cubicBezTo>
                  <a:pt x="238062" y="498602"/>
                  <a:pt x="221488" y="511048"/>
                  <a:pt x="204851" y="523494"/>
                </a:cubicBezTo>
                <a:cubicBezTo>
                  <a:pt x="188214" y="536003"/>
                  <a:pt x="171450" y="548450"/>
                  <a:pt x="154623" y="560896"/>
                </a:cubicBezTo>
                <a:cubicBezTo>
                  <a:pt x="137732" y="573405"/>
                  <a:pt x="120777" y="585851"/>
                  <a:pt x="103696" y="598297"/>
                </a:cubicBezTo>
                <a:cubicBezTo>
                  <a:pt x="86614" y="610807"/>
                  <a:pt x="69469" y="623252"/>
                  <a:pt x="52197" y="635699"/>
                </a:cubicBezTo>
                <a:cubicBezTo>
                  <a:pt x="34862" y="648145"/>
                  <a:pt x="8700" y="666877"/>
                  <a:pt x="0" y="673100"/>
                </a:cubicBezTo>
                <a:lnTo>
                  <a:pt x="4191000" y="673100"/>
                </a:lnTo>
                <a:cubicBezTo>
                  <a:pt x="4182301" y="666877"/>
                  <a:pt x="4156138" y="648145"/>
                  <a:pt x="4138803" y="635699"/>
                </a:cubicBezTo>
                <a:cubicBezTo>
                  <a:pt x="4121531" y="623252"/>
                  <a:pt x="4104386" y="610807"/>
                  <a:pt x="4087305" y="598297"/>
                </a:cubicBezTo>
                <a:cubicBezTo>
                  <a:pt x="4070223" y="585851"/>
                  <a:pt x="4053268" y="573405"/>
                  <a:pt x="4036378" y="560896"/>
                </a:cubicBezTo>
                <a:cubicBezTo>
                  <a:pt x="4019550" y="548450"/>
                  <a:pt x="4002786" y="536003"/>
                  <a:pt x="3986149" y="523494"/>
                </a:cubicBezTo>
                <a:cubicBezTo>
                  <a:pt x="3969512" y="511048"/>
                  <a:pt x="3952938" y="498602"/>
                  <a:pt x="3936492" y="486156"/>
                </a:cubicBezTo>
                <a:cubicBezTo>
                  <a:pt x="3920109" y="473647"/>
                  <a:pt x="3903790" y="461200"/>
                  <a:pt x="3887534" y="448754"/>
                </a:cubicBezTo>
                <a:cubicBezTo>
                  <a:pt x="3871341" y="436245"/>
                  <a:pt x="3855212" y="423799"/>
                  <a:pt x="3839210" y="411353"/>
                </a:cubicBezTo>
                <a:cubicBezTo>
                  <a:pt x="3823208" y="398843"/>
                  <a:pt x="3807333" y="386398"/>
                  <a:pt x="3791521" y="373951"/>
                </a:cubicBezTo>
                <a:cubicBezTo>
                  <a:pt x="3775773" y="361505"/>
                  <a:pt x="3760089" y="348996"/>
                  <a:pt x="3744532" y="336550"/>
                </a:cubicBezTo>
                <a:cubicBezTo>
                  <a:pt x="3728974" y="324104"/>
                  <a:pt x="3713543" y="311595"/>
                  <a:pt x="3698177" y="299149"/>
                </a:cubicBezTo>
                <a:cubicBezTo>
                  <a:pt x="3682873" y="286702"/>
                  <a:pt x="3667633" y="274257"/>
                  <a:pt x="3652520" y="261747"/>
                </a:cubicBezTo>
                <a:cubicBezTo>
                  <a:pt x="3637407" y="249301"/>
                  <a:pt x="3622358" y="236855"/>
                  <a:pt x="3607498" y="224346"/>
                </a:cubicBezTo>
                <a:cubicBezTo>
                  <a:pt x="3592576" y="211900"/>
                  <a:pt x="3577844" y="199453"/>
                  <a:pt x="3563176" y="186944"/>
                </a:cubicBezTo>
                <a:cubicBezTo>
                  <a:pt x="3548507" y="174498"/>
                  <a:pt x="3533902" y="162052"/>
                  <a:pt x="3519488" y="149606"/>
                </a:cubicBezTo>
                <a:cubicBezTo>
                  <a:pt x="3505073" y="137097"/>
                  <a:pt x="3490722" y="124650"/>
                  <a:pt x="3476498" y="112204"/>
                </a:cubicBezTo>
                <a:cubicBezTo>
                  <a:pt x="3462274" y="99695"/>
                  <a:pt x="3448177" y="87249"/>
                  <a:pt x="3434207" y="74803"/>
                </a:cubicBezTo>
                <a:cubicBezTo>
                  <a:pt x="3420237" y="62293"/>
                  <a:pt x="3406331" y="49848"/>
                  <a:pt x="3392614" y="37401"/>
                </a:cubicBezTo>
                <a:cubicBezTo>
                  <a:pt x="3378835" y="24955"/>
                  <a:pt x="3358515" y="6223"/>
                  <a:pt x="3351720" y="0"/>
                </a:cubicBezTo>
                <a:close/>
              </a:path>
            </a:pathLst>
          </a:custGeom>
          <a:gradFill rotWithShape="1">
            <a:gsLst>
              <a:gs pos="0">
                <a:srgbClr val="65ABE2"/>
              </a:gs>
              <a:gs pos="100000">
                <a:srgbClr val="54A2D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bv-b3"/>
          <p:cNvSpPr txBox="1"/>
          <p:nvPr/>
        </p:nvSpPr>
        <p:spPr>
          <a:xfrm>
            <a:off x="5711571" y="5231702"/>
            <a:ext cx="768858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12 万人</a:t>
            </a:r>
          </a:p>
        </p:txBody>
      </p:sp>
      <p:cxnSp>
        <p:nvCxnSpPr>
          <p:cNvPr id="43" name="ld-b3"/>
          <p:cNvCxnSpPr/>
          <p:nvPr/>
        </p:nvCxnSpPr>
        <p:spPr>
          <a:xfrm>
            <a:off x="7833940" y="5378450"/>
            <a:ext cx="802060" cy="0"/>
          </a:xfrm>
          <a:prstGeom prst="line">
            <a:avLst/>
          </a:prstGeom>
          <a:ln w="11430" cap="rnd">
            <a:solidFill>
              <a:srgbClr val="54A2DF">
                <a:alpha val="7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ldd-b3"/>
          <p:cNvSpPr/>
          <p:nvPr/>
        </p:nvSpPr>
        <p:spPr>
          <a:xfrm>
            <a:off x="8604250" y="5346700"/>
            <a:ext cx="63500" cy="63500"/>
          </a:xfrm>
          <a:prstGeom prst="ellipse">
            <a:avLst/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bn-b3"/>
          <p:cNvSpPr txBox="1"/>
          <p:nvPr/>
        </p:nvSpPr>
        <p:spPr>
          <a:xfrm>
            <a:off x="8743950" y="514429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用户覆盖</a:t>
            </a:r>
          </a:p>
        </p:txBody>
      </p:sp>
      <p:sp>
        <p:nvSpPr>
          <p:cNvPr id="46" name="bd-b3"/>
          <p:cNvSpPr txBox="1"/>
          <p:nvPr/>
        </p:nvSpPr>
        <p:spPr>
          <a:xfrm>
            <a:off x="8750427" y="5414153"/>
            <a:ext cx="116109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新功能触达的活跃用户</a:t>
            </a:r>
          </a:p>
        </p:txBody>
      </p:sp>
      <p:sp>
        <p:nvSpPr>
          <p:cNvPr id="47" name="neck-o"/>
          <p:cNvSpPr/>
          <p:nvPr/>
        </p:nvSpPr>
        <p:spPr>
          <a:xfrm>
            <a:off x="5702300" y="3136900"/>
            <a:ext cx="787400" cy="7874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neck"/>
          <p:cNvSpPr/>
          <p:nvPr/>
        </p:nvSpPr>
        <p:spPr>
          <a:xfrm>
            <a:off x="5765800" y="3200400"/>
            <a:ext cx="660400" cy="6604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neck-v"/>
          <p:cNvSpPr txBox="1"/>
          <p:nvPr/>
        </p:nvSpPr>
        <p:spPr>
          <a:xfrm>
            <a:off x="5919851" y="3219895"/>
            <a:ext cx="352298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9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6</a:t>
            </a:r>
          </a:p>
        </p:txBody>
      </p:sp>
      <p:sp>
        <p:nvSpPr>
          <p:cNvPr id="50" name="neck-l"/>
          <p:cNvSpPr txBox="1"/>
          <p:nvPr/>
        </p:nvSpPr>
        <p:spPr>
          <a:xfrm>
            <a:off x="5913120" y="3585908"/>
            <a:ext cx="3657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个决定</a:t>
            </a:r>
          </a:p>
        </p:txBody>
      </p:sp>
      <p:cxnSp>
        <p:nvCxnSpPr>
          <p:cNvPr id="51" name="neck-ld"/>
          <p:cNvCxnSpPr/>
          <p:nvPr/>
        </p:nvCxnSpPr>
        <p:spPr>
          <a:xfrm>
            <a:off x="6515100" y="3530600"/>
            <a:ext cx="2120900" cy="0"/>
          </a:xfrm>
          <a:prstGeom prst="line">
            <a:avLst/>
          </a:prstGeom>
          <a:ln w="11430" cap="rnd">
            <a:solidFill>
              <a:srgbClr val="E0703A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neck-n"/>
          <p:cNvSpPr txBox="1"/>
          <p:nvPr/>
        </p:nvSpPr>
        <p:spPr>
          <a:xfrm>
            <a:off x="8743950" y="32964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核心定案</a:t>
            </a:r>
          </a:p>
        </p:txBody>
      </p:sp>
      <p:sp>
        <p:nvSpPr>
          <p:cNvPr id="53" name="neck-d"/>
          <p:cNvSpPr txBox="1"/>
          <p:nvPr/>
        </p:nvSpPr>
        <p:spPr>
          <a:xfrm>
            <a:off x="8750427" y="3566303"/>
            <a:ext cx="1449514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每季度只做 6 件最重要的事</a:t>
            </a:r>
          </a:p>
        </p:txBody>
      </p:sp>
      <p:sp>
        <p:nvSpPr>
          <p:cNvPr id="54" name="ph-1"/>
          <p:cNvSpPr/>
          <p:nvPr/>
        </p:nvSpPr>
        <p:spPr>
          <a:xfrm>
            <a:off x="8763000" y="1206500"/>
            <a:ext cx="952500" cy="355600"/>
          </a:xfrm>
          <a:custGeom>
            <a:avLst/>
            <a:gdLst/>
            <a:ahLst/>
            <a:cxnLst/>
            <a:rect l="0" t="0" r="r" b="b"/>
            <a:pathLst>
              <a:path w="952500" h="355600">
                <a:moveTo>
                  <a:pt x="177800" y="0"/>
                </a:moveTo>
                <a:lnTo>
                  <a:pt x="774700" y="0"/>
                </a:lnTo>
                <a:cubicBezTo>
                  <a:pt x="872871" y="0"/>
                  <a:pt x="952500" y="79629"/>
                  <a:pt x="952500" y="177800"/>
                </a:cubicBezTo>
                <a:lnTo>
                  <a:pt x="952500" y="177800"/>
                </a:lnTo>
                <a:cubicBezTo>
                  <a:pt x="952500" y="275971"/>
                  <a:pt x="872871" y="355600"/>
                  <a:pt x="774700" y="355600"/>
                </a:cubicBezTo>
                <a:lnTo>
                  <a:pt x="177800" y="355600"/>
                </a:lnTo>
                <a:cubicBezTo>
                  <a:pt x="79629" y="355600"/>
                  <a:pt x="0" y="275971"/>
                  <a:pt x="0" y="177800"/>
                </a:cubicBezTo>
                <a:lnTo>
                  <a:pt x="0" y="177800"/>
                </a:lnTo>
                <a:cubicBezTo>
                  <a:pt x="0" y="79629"/>
                  <a:pt x="79629" y="0"/>
                  <a:pt x="17780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pht-1"/>
          <p:cNvSpPr txBox="1"/>
          <p:nvPr/>
        </p:nvSpPr>
        <p:spPr>
          <a:xfrm>
            <a:off x="8767953" y="1293940"/>
            <a:ext cx="9425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7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收敛 · 做减法</a:t>
            </a:r>
          </a:p>
        </p:txBody>
      </p:sp>
      <p:sp>
        <p:nvSpPr>
          <p:cNvPr id="56" name="ph-2"/>
          <p:cNvSpPr/>
          <p:nvPr/>
        </p:nvSpPr>
        <p:spPr>
          <a:xfrm>
            <a:off x="952500" y="5346700"/>
            <a:ext cx="952500" cy="355600"/>
          </a:xfrm>
          <a:custGeom>
            <a:avLst/>
            <a:gdLst/>
            <a:ahLst/>
            <a:cxnLst/>
            <a:rect l="0" t="0" r="r" b="b"/>
            <a:pathLst>
              <a:path w="952500" h="355600">
                <a:moveTo>
                  <a:pt x="177800" y="0"/>
                </a:moveTo>
                <a:lnTo>
                  <a:pt x="774700" y="0"/>
                </a:lnTo>
                <a:cubicBezTo>
                  <a:pt x="872871" y="0"/>
                  <a:pt x="952500" y="79629"/>
                  <a:pt x="952500" y="177800"/>
                </a:cubicBezTo>
                <a:lnTo>
                  <a:pt x="952500" y="177800"/>
                </a:lnTo>
                <a:cubicBezTo>
                  <a:pt x="952500" y="275971"/>
                  <a:pt x="872871" y="355600"/>
                  <a:pt x="774700" y="355600"/>
                </a:cubicBezTo>
                <a:lnTo>
                  <a:pt x="177800" y="355600"/>
                </a:lnTo>
                <a:cubicBezTo>
                  <a:pt x="79629" y="355600"/>
                  <a:pt x="0" y="275971"/>
                  <a:pt x="0" y="177800"/>
                </a:cubicBezTo>
                <a:lnTo>
                  <a:pt x="0" y="177800"/>
                </a:lnTo>
                <a:cubicBezTo>
                  <a:pt x="0" y="79629"/>
                  <a:pt x="79629" y="0"/>
                  <a:pt x="1778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pht-2"/>
          <p:cNvSpPr txBox="1"/>
          <p:nvPr/>
        </p:nvSpPr>
        <p:spPr>
          <a:xfrm>
            <a:off x="957453" y="5434140"/>
            <a:ext cx="9425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7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发散 · 做乘法</a:t>
            </a:r>
          </a:p>
        </p:txBody>
      </p:sp>
      <p:sp>
        <p:nvSpPr>
          <p:cNvPr id="58" name="ph1-d"/>
          <p:cNvSpPr txBox="1"/>
          <p:nvPr/>
        </p:nvSpPr>
        <p:spPr>
          <a:xfrm>
            <a:off x="8749665" y="1704261"/>
            <a:ext cx="115347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320 → 6，筛掉 98%</a:t>
            </a:r>
          </a:p>
        </p:txBody>
      </p:sp>
      <p:sp>
        <p:nvSpPr>
          <p:cNvPr id="59" name="ph2-d1"/>
          <p:cNvSpPr txBox="1"/>
          <p:nvPr/>
        </p:nvSpPr>
        <p:spPr>
          <a:xfrm>
            <a:off x="939165" y="4942761"/>
            <a:ext cx="123539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6 → 12 万，每个决定</a:t>
            </a:r>
          </a:p>
        </p:txBody>
      </p:sp>
      <p:sp>
        <p:nvSpPr>
          <p:cNvPr id="60" name="ph2-d2"/>
          <p:cNvSpPr txBox="1"/>
          <p:nvPr/>
        </p:nvSpPr>
        <p:spPr>
          <a:xfrm>
            <a:off x="939165" y="5133261"/>
            <a:ext cx="108997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平均影响 2 万用户</a:t>
            </a:r>
          </a:p>
        </p:txBody>
      </p:sp>
      <p:cxnSp>
        <p:nvCxnSpPr>
          <p:cNvPr id="61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沙漏模型 · 收敛与发散</a:t>
            </a:r>
          </a:p>
        </p:txBody>
      </p:sp>
      <p:sp>
        <p:nvSpPr>
          <p:cNvPr id="63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用户转化漏斗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62801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HORIZONTAL FUNNEL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208899" y="673132"/>
            <a:ext cx="34118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每一层都标出转化率与流失人数，注册之后的试用环节最值得先补</a:t>
            </a:r>
          </a:p>
        </p:txBody>
      </p:sp>
      <p:sp>
        <p:nvSpPr>
          <p:cNvPr id="10" name="flow-1"/>
          <p:cNvSpPr/>
          <p:nvPr/>
        </p:nvSpPr>
        <p:spPr>
          <a:xfrm>
            <a:off x="2095500" y="1333500"/>
            <a:ext cx="666750" cy="3302000"/>
          </a:xfrm>
          <a:custGeom>
            <a:avLst/>
            <a:gdLst/>
            <a:ahLst/>
            <a:cxnLst/>
            <a:rect l="0" t="0" r="r" b="b"/>
            <a:pathLst>
              <a:path w="666750" h="3302000">
                <a:moveTo>
                  <a:pt x="0" y="0"/>
                </a:moveTo>
                <a:cubicBezTo>
                  <a:pt x="381000" y="0"/>
                  <a:pt x="285750" y="731500"/>
                  <a:pt x="666750" y="731500"/>
                </a:cubicBezTo>
                <a:lnTo>
                  <a:pt x="666750" y="2570500"/>
                </a:lnTo>
                <a:cubicBezTo>
                  <a:pt x="285750" y="2570500"/>
                  <a:pt x="381000" y="3302000"/>
                  <a:pt x="0" y="3302000"/>
                </a:cubicBezTo>
                <a:close/>
              </a:path>
            </a:pathLst>
          </a:custGeom>
          <a:gradFill rotWithShape="1">
            <a:gsLst>
              <a:gs pos="0">
                <a:srgbClr val="0B3E8F">
                  <a:alpha val="30000"/>
                </a:srgbClr>
              </a:gs>
              <a:gs pos="100000">
                <a:srgbClr val="1B5AA8">
                  <a:alpha val="30000"/>
                </a:srgbClr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rate-1"/>
          <p:cNvSpPr/>
          <p:nvPr/>
        </p:nvSpPr>
        <p:spPr>
          <a:xfrm>
            <a:off x="2111375" y="2857500"/>
            <a:ext cx="635000" cy="254000"/>
          </a:xfrm>
          <a:custGeom>
            <a:avLst/>
            <a:gdLst/>
            <a:ahLst/>
            <a:cxnLst/>
            <a:rect l="0" t="0" r="r" b="b"/>
            <a:pathLst>
              <a:path w="635000" h="254000">
                <a:moveTo>
                  <a:pt x="127000" y="0"/>
                </a:moveTo>
                <a:lnTo>
                  <a:pt x="508000" y="0"/>
                </a:lnTo>
                <a:cubicBezTo>
                  <a:pt x="578168" y="0"/>
                  <a:pt x="635000" y="56832"/>
                  <a:pt x="635000" y="127000"/>
                </a:cubicBezTo>
                <a:lnTo>
                  <a:pt x="635000" y="127000"/>
                </a:lnTo>
                <a:cubicBezTo>
                  <a:pt x="635000" y="197168"/>
                  <a:pt x="578168" y="254000"/>
                  <a:pt x="508000" y="254000"/>
                </a:cubicBezTo>
                <a:lnTo>
                  <a:pt x="127000" y="254000"/>
                </a:lnTo>
                <a:cubicBezTo>
                  <a:pt x="56832" y="254000"/>
                  <a:pt x="0" y="197168"/>
                  <a:pt x="0" y="127000"/>
                </a:cubicBezTo>
                <a:lnTo>
                  <a:pt x="0" y="127000"/>
                </a:lnTo>
                <a:cubicBezTo>
                  <a:pt x="0" y="56832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ratet-1"/>
          <p:cNvSpPr txBox="1"/>
          <p:nvPr/>
        </p:nvSpPr>
        <p:spPr>
          <a:xfrm>
            <a:off x="2217420" y="2887790"/>
            <a:ext cx="42291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15.5%</a:t>
            </a:r>
          </a:p>
        </p:txBody>
      </p:sp>
      <p:sp>
        <p:nvSpPr>
          <p:cNvPr id="13" name="loss-l-1"/>
          <p:cNvSpPr/>
          <p:nvPr/>
        </p:nvSpPr>
        <p:spPr>
          <a:xfrm>
            <a:off x="2428875" y="3975100"/>
            <a:ext cx="3175" cy="914400"/>
          </a:xfrm>
          <a:custGeom>
            <a:avLst/>
            <a:gdLst/>
            <a:ahLst/>
            <a:cxnLst/>
            <a:rect l="0" t="0" r="r" b="b"/>
            <a:pathLst>
              <a:path w="3175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2700" cap="rnd">
            <a:solidFill>
              <a:srgbClr val="E0703A">
                <a:alpha val="5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loss-a-1"/>
          <p:cNvSpPr/>
          <p:nvPr/>
        </p:nvSpPr>
        <p:spPr>
          <a:xfrm>
            <a:off x="2378075" y="4838700"/>
            <a:ext cx="101600" cy="76200"/>
          </a:xfrm>
          <a:custGeom>
            <a:avLst/>
            <a:gdLst/>
            <a:ahLst/>
            <a:cxnLst/>
            <a:rect l="0" t="0" r="r" b="b"/>
            <a:pathLst>
              <a:path w="101600" h="76200">
                <a:moveTo>
                  <a:pt x="0" y="0"/>
                </a:moveTo>
                <a:lnTo>
                  <a:pt x="50800" y="76200"/>
                </a:lnTo>
                <a:lnTo>
                  <a:pt x="101600" y="0"/>
                </a:lnTo>
              </a:path>
            </a:pathLst>
          </a:custGeom>
          <a:noFill/>
          <a:ln w="12700" cap="rnd">
            <a:solidFill>
              <a:srgbClr val="E0703A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loss-v-1"/>
          <p:cNvSpPr txBox="1"/>
          <p:nvPr/>
        </p:nvSpPr>
        <p:spPr>
          <a:xfrm>
            <a:off x="2021014" y="5022882"/>
            <a:ext cx="81572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流失 101,400</a:t>
            </a:r>
          </a:p>
        </p:txBody>
      </p:sp>
      <p:sp>
        <p:nvSpPr>
          <p:cNvPr id="16" name="loss-r-1"/>
          <p:cNvSpPr txBox="1"/>
          <p:nvPr/>
        </p:nvSpPr>
        <p:spPr>
          <a:xfrm>
            <a:off x="2045970" y="5229066"/>
            <a:ext cx="76581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落地页跳出率高</a:t>
            </a:r>
          </a:p>
        </p:txBody>
      </p:sp>
      <p:sp>
        <p:nvSpPr>
          <p:cNvPr id="17" name="stage-1"/>
          <p:cNvSpPr/>
          <p:nvPr/>
        </p:nvSpPr>
        <p:spPr>
          <a:xfrm>
            <a:off x="952500" y="1333500"/>
            <a:ext cx="1143000" cy="3302000"/>
          </a:xfrm>
          <a:custGeom>
            <a:avLst/>
            <a:gdLst/>
            <a:ahLst/>
            <a:cxnLst/>
            <a:rect l="0" t="0" r="r" b="b"/>
            <a:pathLst>
              <a:path w="1143000" h="3302000">
                <a:moveTo>
                  <a:pt x="139700" y="0"/>
                </a:moveTo>
                <a:lnTo>
                  <a:pt x="1003300" y="0"/>
                </a:lnTo>
                <a:cubicBezTo>
                  <a:pt x="1080452" y="0"/>
                  <a:pt x="1143000" y="62547"/>
                  <a:pt x="1143000" y="139700"/>
                </a:cubicBezTo>
                <a:lnTo>
                  <a:pt x="1143000" y="3162300"/>
                </a:lnTo>
                <a:cubicBezTo>
                  <a:pt x="1143000" y="3239452"/>
                  <a:pt x="1080452" y="3302000"/>
                  <a:pt x="1003300" y="3302000"/>
                </a:cubicBezTo>
                <a:lnTo>
                  <a:pt x="139700" y="3302000"/>
                </a:lnTo>
                <a:cubicBezTo>
                  <a:pt x="62547" y="3302000"/>
                  <a:pt x="0" y="3239452"/>
                  <a:pt x="0" y="3162300"/>
                </a:cubicBezTo>
                <a:lnTo>
                  <a:pt x="0" y="139700"/>
                </a:lnTo>
                <a:cubicBezTo>
                  <a:pt x="0" y="62547"/>
                  <a:pt x="62547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2D599F"/>
              </a:gs>
              <a:gs pos="100000">
                <a:srgbClr val="0B3E8F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icon-people"/>
          <p:cNvSpPr/>
          <p:nvPr/>
        </p:nvSpPr>
        <p:spPr>
          <a:xfrm>
            <a:off x="1466215" y="2723007"/>
            <a:ext cx="116967" cy="33020"/>
          </a:xfrm>
          <a:custGeom>
            <a:avLst/>
            <a:gdLst/>
            <a:ahLst/>
            <a:cxnLst/>
            <a:rect l="0" t="0" r="r" b="b"/>
            <a:pathLst>
              <a:path w="116967" h="33020">
                <a:moveTo>
                  <a:pt x="0" y="33020"/>
                </a:moveTo>
                <a:cubicBezTo>
                  <a:pt x="0" y="12382"/>
                  <a:pt x="17209" y="0"/>
                  <a:pt x="37147" y="0"/>
                </a:cubicBezTo>
                <a:cubicBezTo>
                  <a:pt x="57086" y="0"/>
                  <a:pt x="74295" y="12382"/>
                  <a:pt x="74295" y="33020"/>
                </a:cubicBezTo>
                <a:moveTo>
                  <a:pt x="88075" y="2731"/>
                </a:moveTo>
                <a:cubicBezTo>
                  <a:pt x="105918" y="4762"/>
                  <a:pt x="116967" y="17145"/>
                  <a:pt x="116967" y="33020"/>
                </a:cubicBezTo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icon-people"/>
          <p:cNvSpPr/>
          <p:nvPr/>
        </p:nvSpPr>
        <p:spPr>
          <a:xfrm>
            <a:off x="1481349" y="2663825"/>
            <a:ext cx="44027" cy="44027"/>
          </a:xfrm>
          <a:prstGeom prst="ellipse">
            <a:avLst/>
          </a:pr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icon-people"/>
          <p:cNvSpPr/>
          <p:nvPr/>
        </p:nvSpPr>
        <p:spPr>
          <a:xfrm>
            <a:off x="1540510" y="2663825"/>
            <a:ext cx="35772" cy="35772"/>
          </a:xfrm>
          <a:prstGeom prst="ellipse">
            <a:avLst/>
          </a:pr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sn-1"/>
          <p:cNvSpPr txBox="1"/>
          <p:nvPr/>
        </p:nvSpPr>
        <p:spPr>
          <a:xfrm>
            <a:off x="1302385" y="2837370"/>
            <a:ext cx="4432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访问</a:t>
            </a:r>
          </a:p>
        </p:txBody>
      </p:sp>
      <p:sp>
        <p:nvSpPr>
          <p:cNvPr id="22" name="sv-1"/>
          <p:cNvSpPr txBox="1"/>
          <p:nvPr/>
        </p:nvSpPr>
        <p:spPr>
          <a:xfrm>
            <a:off x="1187323" y="3091370"/>
            <a:ext cx="673354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120,000</a:t>
            </a:r>
          </a:p>
        </p:txBody>
      </p:sp>
      <p:sp>
        <p:nvSpPr>
          <p:cNvPr id="23" name="flow-2"/>
          <p:cNvSpPr/>
          <p:nvPr/>
        </p:nvSpPr>
        <p:spPr>
          <a:xfrm>
            <a:off x="3905250" y="2065000"/>
            <a:ext cx="666750" cy="1838999"/>
          </a:xfrm>
          <a:custGeom>
            <a:avLst/>
            <a:gdLst/>
            <a:ahLst/>
            <a:cxnLst/>
            <a:rect l="0" t="0" r="r" b="b"/>
            <a:pathLst>
              <a:path w="666750" h="1838999">
                <a:moveTo>
                  <a:pt x="0" y="0"/>
                </a:moveTo>
                <a:cubicBezTo>
                  <a:pt x="381000" y="0"/>
                  <a:pt x="285750" y="200758"/>
                  <a:pt x="666750" y="200758"/>
                </a:cubicBezTo>
                <a:lnTo>
                  <a:pt x="666750" y="1638241"/>
                </a:lnTo>
                <a:cubicBezTo>
                  <a:pt x="285750" y="1638241"/>
                  <a:pt x="381000" y="1838999"/>
                  <a:pt x="0" y="1838999"/>
                </a:cubicBezTo>
                <a:close/>
              </a:path>
            </a:pathLst>
          </a:custGeom>
          <a:gradFill rotWithShape="1">
            <a:gsLst>
              <a:gs pos="0">
                <a:srgbClr val="1B5AA8">
                  <a:alpha val="30000"/>
                </a:srgbClr>
              </a:gs>
              <a:gs pos="100000">
                <a:srgbClr val="2E77C2">
                  <a:alpha val="30000"/>
                </a:srgbClr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rate-2"/>
          <p:cNvSpPr/>
          <p:nvPr/>
        </p:nvSpPr>
        <p:spPr>
          <a:xfrm>
            <a:off x="3921125" y="2857500"/>
            <a:ext cx="635000" cy="254000"/>
          </a:xfrm>
          <a:custGeom>
            <a:avLst/>
            <a:gdLst/>
            <a:ahLst/>
            <a:cxnLst/>
            <a:rect l="0" t="0" r="r" b="b"/>
            <a:pathLst>
              <a:path w="635000" h="254000">
                <a:moveTo>
                  <a:pt x="127000" y="0"/>
                </a:moveTo>
                <a:lnTo>
                  <a:pt x="508000" y="0"/>
                </a:lnTo>
                <a:cubicBezTo>
                  <a:pt x="578167" y="0"/>
                  <a:pt x="635000" y="56832"/>
                  <a:pt x="635000" y="127000"/>
                </a:cubicBezTo>
                <a:lnTo>
                  <a:pt x="635000" y="127000"/>
                </a:lnTo>
                <a:cubicBezTo>
                  <a:pt x="635000" y="197168"/>
                  <a:pt x="578167" y="254000"/>
                  <a:pt x="508000" y="254000"/>
                </a:cubicBezTo>
                <a:lnTo>
                  <a:pt x="127000" y="254000"/>
                </a:lnTo>
                <a:cubicBezTo>
                  <a:pt x="56833" y="254000"/>
                  <a:pt x="0" y="197168"/>
                  <a:pt x="0" y="127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ratet-2"/>
          <p:cNvSpPr txBox="1"/>
          <p:nvPr/>
        </p:nvSpPr>
        <p:spPr>
          <a:xfrm>
            <a:off x="4027170" y="2887790"/>
            <a:ext cx="42291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33.3%</a:t>
            </a:r>
          </a:p>
        </p:txBody>
      </p:sp>
      <p:sp>
        <p:nvSpPr>
          <p:cNvPr id="26" name="loss-l-2"/>
          <p:cNvSpPr/>
          <p:nvPr/>
        </p:nvSpPr>
        <p:spPr>
          <a:xfrm>
            <a:off x="4238625" y="3536200"/>
            <a:ext cx="3175" cy="1353300"/>
          </a:xfrm>
          <a:custGeom>
            <a:avLst/>
            <a:gdLst/>
            <a:ahLst/>
            <a:cxnLst/>
            <a:rect l="0" t="0" r="r" b="b"/>
            <a:pathLst>
              <a:path w="3175" h="1353300">
                <a:moveTo>
                  <a:pt x="0" y="0"/>
                </a:moveTo>
                <a:lnTo>
                  <a:pt x="0" y="1353300"/>
                </a:lnTo>
              </a:path>
            </a:pathLst>
          </a:custGeom>
          <a:noFill/>
          <a:ln w="12700" cap="rnd">
            <a:solidFill>
              <a:srgbClr val="E0703A">
                <a:alpha val="5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loss-a-2"/>
          <p:cNvSpPr/>
          <p:nvPr/>
        </p:nvSpPr>
        <p:spPr>
          <a:xfrm>
            <a:off x="4187825" y="4838700"/>
            <a:ext cx="101600" cy="76200"/>
          </a:xfrm>
          <a:custGeom>
            <a:avLst/>
            <a:gdLst/>
            <a:ahLst/>
            <a:cxnLst/>
            <a:rect l="0" t="0" r="r" b="b"/>
            <a:pathLst>
              <a:path w="101600" h="76200">
                <a:moveTo>
                  <a:pt x="0" y="0"/>
                </a:moveTo>
                <a:lnTo>
                  <a:pt x="50800" y="76200"/>
                </a:lnTo>
                <a:lnTo>
                  <a:pt x="101600" y="0"/>
                </a:lnTo>
              </a:path>
            </a:pathLst>
          </a:custGeom>
          <a:noFill/>
          <a:ln w="12700" cap="rnd">
            <a:solidFill>
              <a:srgbClr val="E0703A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loss-v-2"/>
          <p:cNvSpPr txBox="1"/>
          <p:nvPr/>
        </p:nvSpPr>
        <p:spPr>
          <a:xfrm>
            <a:off x="3861943" y="5022882"/>
            <a:ext cx="753364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流失 12,400</a:t>
            </a:r>
          </a:p>
        </p:txBody>
      </p:sp>
      <p:sp>
        <p:nvSpPr>
          <p:cNvPr id="29" name="loss-r-2"/>
          <p:cNvSpPr txBox="1"/>
          <p:nvPr/>
        </p:nvSpPr>
        <p:spPr>
          <a:xfrm>
            <a:off x="3855720" y="5229066"/>
            <a:ext cx="76581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试用需人工开通</a:t>
            </a:r>
          </a:p>
        </p:txBody>
      </p:sp>
      <p:sp>
        <p:nvSpPr>
          <p:cNvPr id="30" name="stage-2"/>
          <p:cNvSpPr/>
          <p:nvPr/>
        </p:nvSpPr>
        <p:spPr>
          <a:xfrm>
            <a:off x="2762250" y="2065020"/>
            <a:ext cx="1143000" cy="1838960"/>
          </a:xfrm>
          <a:custGeom>
            <a:avLst/>
            <a:gdLst/>
            <a:ahLst/>
            <a:cxnLst/>
            <a:rect l="0" t="0" r="r" b="b"/>
            <a:pathLst>
              <a:path w="1143000" h="1838960">
                <a:moveTo>
                  <a:pt x="139700" y="0"/>
                </a:moveTo>
                <a:lnTo>
                  <a:pt x="1003300" y="0"/>
                </a:lnTo>
                <a:cubicBezTo>
                  <a:pt x="1080452" y="0"/>
                  <a:pt x="1143000" y="62548"/>
                  <a:pt x="1143000" y="139700"/>
                </a:cubicBezTo>
                <a:lnTo>
                  <a:pt x="1143000" y="1699260"/>
                </a:lnTo>
                <a:cubicBezTo>
                  <a:pt x="1143000" y="1776413"/>
                  <a:pt x="1080452" y="1838960"/>
                  <a:pt x="1003300" y="1838960"/>
                </a:cubicBezTo>
                <a:lnTo>
                  <a:pt x="139700" y="1838960"/>
                </a:lnTo>
                <a:cubicBezTo>
                  <a:pt x="62548" y="1838960"/>
                  <a:pt x="0" y="1776413"/>
                  <a:pt x="0" y="169926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3B71B4"/>
              </a:gs>
              <a:gs pos="100000">
                <a:srgbClr val="1B5AA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icon-doc"/>
          <p:cNvSpPr/>
          <p:nvPr/>
        </p:nvSpPr>
        <p:spPr>
          <a:xfrm>
            <a:off x="3296602" y="2647315"/>
            <a:ext cx="77025" cy="115570"/>
          </a:xfrm>
          <a:custGeom>
            <a:avLst/>
            <a:gdLst/>
            <a:ahLst/>
            <a:cxnLst/>
            <a:rect l="0" t="0" r="r" b="b"/>
            <a:pathLst>
              <a:path w="77025" h="115570">
                <a:moveTo>
                  <a:pt x="0" y="0"/>
                </a:moveTo>
                <a:lnTo>
                  <a:pt x="49530" y="0"/>
                </a:lnTo>
                <a:lnTo>
                  <a:pt x="77025" y="27496"/>
                </a:lnTo>
                <a:lnTo>
                  <a:pt x="77025" y="115570"/>
                </a:lnTo>
                <a:lnTo>
                  <a:pt x="0" y="115570"/>
                </a:lnTo>
                <a:close/>
                <a:moveTo>
                  <a:pt x="49530" y="0"/>
                </a:moveTo>
                <a:lnTo>
                  <a:pt x="49530" y="27496"/>
                </a:lnTo>
                <a:lnTo>
                  <a:pt x="77025" y="27496"/>
                </a:lnTo>
                <a:moveTo>
                  <a:pt x="17907" y="60516"/>
                </a:moveTo>
                <a:lnTo>
                  <a:pt x="59182" y="60516"/>
                </a:lnTo>
                <a:moveTo>
                  <a:pt x="17907" y="83947"/>
                </a:moveTo>
                <a:lnTo>
                  <a:pt x="59182" y="83947"/>
                </a:lnTo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sn-2"/>
          <p:cNvSpPr txBox="1"/>
          <p:nvPr/>
        </p:nvSpPr>
        <p:spPr>
          <a:xfrm>
            <a:off x="3112135" y="2837370"/>
            <a:ext cx="4432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注册</a:t>
            </a:r>
          </a:p>
        </p:txBody>
      </p:sp>
      <p:sp>
        <p:nvSpPr>
          <p:cNvPr id="33" name="sv-2"/>
          <p:cNvSpPr txBox="1"/>
          <p:nvPr/>
        </p:nvSpPr>
        <p:spPr>
          <a:xfrm>
            <a:off x="3036189" y="3091370"/>
            <a:ext cx="595122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18,600</a:t>
            </a:r>
          </a:p>
        </p:txBody>
      </p:sp>
      <p:sp>
        <p:nvSpPr>
          <p:cNvPr id="34" name="flow-3"/>
          <p:cNvSpPr/>
          <p:nvPr/>
        </p:nvSpPr>
        <p:spPr>
          <a:xfrm>
            <a:off x="5715000" y="2265759"/>
            <a:ext cx="666750" cy="1437482"/>
          </a:xfrm>
          <a:custGeom>
            <a:avLst/>
            <a:gdLst/>
            <a:ahLst/>
            <a:cxnLst/>
            <a:rect l="0" t="0" r="r" b="b"/>
            <a:pathLst>
              <a:path w="666750" h="1437482">
                <a:moveTo>
                  <a:pt x="0" y="0"/>
                </a:moveTo>
                <a:cubicBezTo>
                  <a:pt x="381000" y="0"/>
                  <a:pt x="285750" y="140253"/>
                  <a:pt x="666750" y="140253"/>
                </a:cubicBezTo>
                <a:lnTo>
                  <a:pt x="666750" y="1297230"/>
                </a:lnTo>
                <a:cubicBezTo>
                  <a:pt x="285750" y="1297230"/>
                  <a:pt x="381000" y="1437482"/>
                  <a:pt x="0" y="1437482"/>
                </a:cubicBezTo>
                <a:close/>
              </a:path>
            </a:pathLst>
          </a:custGeom>
          <a:gradFill rotWithShape="1">
            <a:gsLst>
              <a:gs pos="0">
                <a:srgbClr val="2E77C2">
                  <a:alpha val="30000"/>
                </a:srgbClr>
              </a:gs>
              <a:gs pos="100000">
                <a:srgbClr val="4694D7">
                  <a:alpha val="30000"/>
                </a:srgbClr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rate-3"/>
          <p:cNvSpPr/>
          <p:nvPr/>
        </p:nvSpPr>
        <p:spPr>
          <a:xfrm>
            <a:off x="5730875" y="2857500"/>
            <a:ext cx="635000" cy="254000"/>
          </a:xfrm>
          <a:custGeom>
            <a:avLst/>
            <a:gdLst/>
            <a:ahLst/>
            <a:cxnLst/>
            <a:rect l="0" t="0" r="r" b="b"/>
            <a:pathLst>
              <a:path w="635000" h="254000">
                <a:moveTo>
                  <a:pt x="127000" y="0"/>
                </a:moveTo>
                <a:lnTo>
                  <a:pt x="508000" y="0"/>
                </a:lnTo>
                <a:cubicBezTo>
                  <a:pt x="578167" y="0"/>
                  <a:pt x="635000" y="56832"/>
                  <a:pt x="635000" y="127000"/>
                </a:cubicBezTo>
                <a:lnTo>
                  <a:pt x="635000" y="127000"/>
                </a:lnTo>
                <a:cubicBezTo>
                  <a:pt x="635000" y="197168"/>
                  <a:pt x="578167" y="254000"/>
                  <a:pt x="508000" y="254000"/>
                </a:cubicBezTo>
                <a:lnTo>
                  <a:pt x="127000" y="254000"/>
                </a:lnTo>
                <a:cubicBezTo>
                  <a:pt x="56833" y="254000"/>
                  <a:pt x="0" y="197168"/>
                  <a:pt x="0" y="127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ratet-3"/>
          <p:cNvSpPr txBox="1"/>
          <p:nvPr/>
        </p:nvSpPr>
        <p:spPr>
          <a:xfrm>
            <a:off x="5836920" y="2887790"/>
            <a:ext cx="42291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23.9%</a:t>
            </a:r>
          </a:p>
        </p:txBody>
      </p:sp>
      <p:sp>
        <p:nvSpPr>
          <p:cNvPr id="37" name="loss-l-3"/>
          <p:cNvSpPr/>
          <p:nvPr/>
        </p:nvSpPr>
        <p:spPr>
          <a:xfrm>
            <a:off x="6048375" y="3415745"/>
            <a:ext cx="3175" cy="1473755"/>
          </a:xfrm>
          <a:custGeom>
            <a:avLst/>
            <a:gdLst/>
            <a:ahLst/>
            <a:cxnLst/>
            <a:rect l="0" t="0" r="r" b="b"/>
            <a:pathLst>
              <a:path w="3175" h="1473755">
                <a:moveTo>
                  <a:pt x="0" y="0"/>
                </a:moveTo>
                <a:lnTo>
                  <a:pt x="0" y="1473755"/>
                </a:lnTo>
              </a:path>
            </a:pathLst>
          </a:custGeom>
          <a:noFill/>
          <a:ln w="12700" cap="rnd">
            <a:solidFill>
              <a:srgbClr val="E0703A">
                <a:alpha val="5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loss-a-3"/>
          <p:cNvSpPr/>
          <p:nvPr/>
        </p:nvSpPr>
        <p:spPr>
          <a:xfrm>
            <a:off x="5997575" y="4838700"/>
            <a:ext cx="101600" cy="76200"/>
          </a:xfrm>
          <a:custGeom>
            <a:avLst/>
            <a:gdLst/>
            <a:ahLst/>
            <a:cxnLst/>
            <a:rect l="0" t="0" r="r" b="b"/>
            <a:pathLst>
              <a:path w="101600" h="76200">
                <a:moveTo>
                  <a:pt x="0" y="0"/>
                </a:moveTo>
                <a:lnTo>
                  <a:pt x="50800" y="76200"/>
                </a:lnTo>
                <a:lnTo>
                  <a:pt x="101600" y="0"/>
                </a:lnTo>
              </a:path>
            </a:pathLst>
          </a:custGeom>
          <a:noFill/>
          <a:ln w="12700" cap="rnd">
            <a:solidFill>
              <a:srgbClr val="E0703A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loss-v-3"/>
          <p:cNvSpPr txBox="1"/>
          <p:nvPr/>
        </p:nvSpPr>
        <p:spPr>
          <a:xfrm>
            <a:off x="5702872" y="5022882"/>
            <a:ext cx="69100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流失 4,720</a:t>
            </a:r>
          </a:p>
        </p:txBody>
      </p:sp>
      <p:sp>
        <p:nvSpPr>
          <p:cNvPr id="40" name="loss-r-3"/>
          <p:cNvSpPr txBox="1"/>
          <p:nvPr/>
        </p:nvSpPr>
        <p:spPr>
          <a:xfrm>
            <a:off x="5714048" y="5229066"/>
            <a:ext cx="66865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缺少行业模板</a:t>
            </a:r>
          </a:p>
        </p:txBody>
      </p:sp>
      <p:sp>
        <p:nvSpPr>
          <p:cNvPr id="41" name="stage-3"/>
          <p:cNvSpPr/>
          <p:nvPr/>
        </p:nvSpPr>
        <p:spPr>
          <a:xfrm>
            <a:off x="4572000" y="2265744"/>
            <a:ext cx="1143000" cy="1437513"/>
          </a:xfrm>
          <a:custGeom>
            <a:avLst/>
            <a:gdLst/>
            <a:ahLst/>
            <a:cxnLst/>
            <a:rect l="0" t="0" r="r" b="b"/>
            <a:pathLst>
              <a:path w="1143000" h="1437513">
                <a:moveTo>
                  <a:pt x="139700" y="0"/>
                </a:moveTo>
                <a:lnTo>
                  <a:pt x="1003300" y="0"/>
                </a:lnTo>
                <a:cubicBezTo>
                  <a:pt x="1080452" y="0"/>
                  <a:pt x="1143000" y="62548"/>
                  <a:pt x="1143000" y="139700"/>
                </a:cubicBezTo>
                <a:lnTo>
                  <a:pt x="1143000" y="1297813"/>
                </a:lnTo>
                <a:cubicBezTo>
                  <a:pt x="1143000" y="1374966"/>
                  <a:pt x="1080452" y="1437513"/>
                  <a:pt x="1003300" y="1437513"/>
                </a:cubicBezTo>
                <a:lnTo>
                  <a:pt x="139700" y="1437513"/>
                </a:lnTo>
                <a:cubicBezTo>
                  <a:pt x="62548" y="1437513"/>
                  <a:pt x="0" y="1374966"/>
                  <a:pt x="0" y="1297813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4B8ACB"/>
              </a:gs>
              <a:gs pos="100000">
                <a:srgbClr val="2E77C2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icon-rocket"/>
          <p:cNvSpPr/>
          <p:nvPr/>
        </p:nvSpPr>
        <p:spPr>
          <a:xfrm>
            <a:off x="5098098" y="2733484"/>
            <a:ext cx="90805" cy="114173"/>
          </a:xfrm>
          <a:custGeom>
            <a:avLst/>
            <a:gdLst/>
            <a:ahLst/>
            <a:cxnLst/>
            <a:rect l="0" t="0" r="r" b="b"/>
            <a:pathLst>
              <a:path w="90805" h="114173">
                <a:moveTo>
                  <a:pt x="45402" y="0"/>
                </a:moveTo>
                <a:cubicBezTo>
                  <a:pt x="66040" y="15113"/>
                  <a:pt x="77025" y="38481"/>
                  <a:pt x="77025" y="63246"/>
                </a:cubicBezTo>
                <a:lnTo>
                  <a:pt x="61912" y="88011"/>
                </a:lnTo>
                <a:lnTo>
                  <a:pt x="28892" y="88011"/>
                </a:lnTo>
                <a:lnTo>
                  <a:pt x="13779" y="63246"/>
                </a:lnTo>
                <a:cubicBezTo>
                  <a:pt x="13779" y="38481"/>
                  <a:pt x="24765" y="15113"/>
                  <a:pt x="45402" y="0"/>
                </a:cubicBezTo>
                <a:close/>
                <a:moveTo>
                  <a:pt x="13779" y="82550"/>
                </a:moveTo>
                <a:lnTo>
                  <a:pt x="0" y="114173"/>
                </a:lnTo>
                <a:lnTo>
                  <a:pt x="28892" y="103188"/>
                </a:lnTo>
                <a:moveTo>
                  <a:pt x="77025" y="82550"/>
                </a:moveTo>
                <a:lnTo>
                  <a:pt x="90805" y="114173"/>
                </a:lnTo>
                <a:lnTo>
                  <a:pt x="61912" y="103188"/>
                </a:lnTo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sn-3"/>
          <p:cNvSpPr txBox="1"/>
          <p:nvPr/>
        </p:nvSpPr>
        <p:spPr>
          <a:xfrm>
            <a:off x="4921885" y="2862770"/>
            <a:ext cx="4432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试用</a:t>
            </a:r>
          </a:p>
        </p:txBody>
      </p:sp>
      <p:sp>
        <p:nvSpPr>
          <p:cNvPr id="44" name="sv-3"/>
          <p:cNvSpPr txBox="1"/>
          <p:nvPr/>
        </p:nvSpPr>
        <p:spPr>
          <a:xfrm>
            <a:off x="4932045" y="3084640"/>
            <a:ext cx="42291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6,200</a:t>
            </a:r>
          </a:p>
        </p:txBody>
      </p:sp>
      <p:sp>
        <p:nvSpPr>
          <p:cNvPr id="45" name="flow-4"/>
          <p:cNvSpPr/>
          <p:nvPr/>
        </p:nvSpPr>
        <p:spPr>
          <a:xfrm>
            <a:off x="7524750" y="2406011"/>
            <a:ext cx="666750" cy="1156977"/>
          </a:xfrm>
          <a:custGeom>
            <a:avLst/>
            <a:gdLst/>
            <a:ahLst/>
            <a:cxnLst/>
            <a:rect l="0" t="0" r="r" b="b"/>
            <a:pathLst>
              <a:path w="666750" h="1156977">
                <a:moveTo>
                  <a:pt x="0" y="0"/>
                </a:moveTo>
                <a:cubicBezTo>
                  <a:pt x="381000" y="0"/>
                  <a:pt x="285750" y="17430"/>
                  <a:pt x="666750" y="17430"/>
                </a:cubicBezTo>
                <a:lnTo>
                  <a:pt x="666750" y="1139547"/>
                </a:lnTo>
                <a:cubicBezTo>
                  <a:pt x="285750" y="1139547"/>
                  <a:pt x="381000" y="1156977"/>
                  <a:pt x="0" y="1156977"/>
                </a:cubicBezTo>
                <a:close/>
              </a:path>
            </a:pathLst>
          </a:custGeom>
          <a:gradFill rotWithShape="1">
            <a:gsLst>
              <a:gs pos="0">
                <a:srgbClr val="4694D7">
                  <a:alpha val="30000"/>
                </a:srgbClr>
              </a:gs>
              <a:gs pos="100000">
                <a:srgbClr val="54A2DF">
                  <a:alpha val="30000"/>
                </a:srgbClr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rate-4"/>
          <p:cNvSpPr/>
          <p:nvPr/>
        </p:nvSpPr>
        <p:spPr>
          <a:xfrm>
            <a:off x="7540625" y="2857500"/>
            <a:ext cx="635000" cy="254000"/>
          </a:xfrm>
          <a:custGeom>
            <a:avLst/>
            <a:gdLst/>
            <a:ahLst/>
            <a:cxnLst/>
            <a:rect l="0" t="0" r="r" b="b"/>
            <a:pathLst>
              <a:path w="635000" h="254000">
                <a:moveTo>
                  <a:pt x="127000" y="0"/>
                </a:moveTo>
                <a:lnTo>
                  <a:pt x="508000" y="0"/>
                </a:lnTo>
                <a:cubicBezTo>
                  <a:pt x="578167" y="0"/>
                  <a:pt x="635000" y="56832"/>
                  <a:pt x="635000" y="127000"/>
                </a:cubicBezTo>
                <a:lnTo>
                  <a:pt x="635000" y="127000"/>
                </a:lnTo>
                <a:cubicBezTo>
                  <a:pt x="635000" y="197168"/>
                  <a:pt x="578167" y="254000"/>
                  <a:pt x="508000" y="254000"/>
                </a:cubicBezTo>
                <a:lnTo>
                  <a:pt x="127000" y="254000"/>
                </a:lnTo>
                <a:cubicBezTo>
                  <a:pt x="56833" y="254000"/>
                  <a:pt x="0" y="197168"/>
                  <a:pt x="0" y="127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ratet-4"/>
          <p:cNvSpPr txBox="1"/>
          <p:nvPr/>
        </p:nvSpPr>
        <p:spPr>
          <a:xfrm>
            <a:off x="7646670" y="2887790"/>
            <a:ext cx="42291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75.7%</a:t>
            </a:r>
          </a:p>
        </p:txBody>
      </p:sp>
      <p:sp>
        <p:nvSpPr>
          <p:cNvPr id="48" name="loss-l-4"/>
          <p:cNvSpPr/>
          <p:nvPr/>
        </p:nvSpPr>
        <p:spPr>
          <a:xfrm>
            <a:off x="7858125" y="3331593"/>
            <a:ext cx="3175" cy="1557907"/>
          </a:xfrm>
          <a:custGeom>
            <a:avLst/>
            <a:gdLst/>
            <a:ahLst/>
            <a:cxnLst/>
            <a:rect l="0" t="0" r="r" b="b"/>
            <a:pathLst>
              <a:path w="3175" h="1557907">
                <a:moveTo>
                  <a:pt x="0" y="0"/>
                </a:moveTo>
                <a:lnTo>
                  <a:pt x="0" y="1557907"/>
                </a:lnTo>
              </a:path>
            </a:pathLst>
          </a:custGeom>
          <a:noFill/>
          <a:ln w="12700" cap="rnd">
            <a:solidFill>
              <a:srgbClr val="E0703A">
                <a:alpha val="5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loss-a-4"/>
          <p:cNvSpPr/>
          <p:nvPr/>
        </p:nvSpPr>
        <p:spPr>
          <a:xfrm>
            <a:off x="7807325" y="4838700"/>
            <a:ext cx="101600" cy="76200"/>
          </a:xfrm>
          <a:custGeom>
            <a:avLst/>
            <a:gdLst/>
            <a:ahLst/>
            <a:cxnLst/>
            <a:rect l="0" t="0" r="r" b="b"/>
            <a:pathLst>
              <a:path w="101600" h="76200">
                <a:moveTo>
                  <a:pt x="0" y="0"/>
                </a:moveTo>
                <a:lnTo>
                  <a:pt x="50800" y="76200"/>
                </a:lnTo>
                <a:lnTo>
                  <a:pt x="101600" y="0"/>
                </a:lnTo>
              </a:path>
            </a:pathLst>
          </a:custGeom>
          <a:noFill/>
          <a:ln w="12700" cap="rnd">
            <a:solidFill>
              <a:srgbClr val="E0703A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loss-v-4"/>
          <p:cNvSpPr txBox="1"/>
          <p:nvPr/>
        </p:nvSpPr>
        <p:spPr>
          <a:xfrm>
            <a:off x="7574979" y="5022882"/>
            <a:ext cx="56629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流失 360</a:t>
            </a:r>
          </a:p>
        </p:txBody>
      </p:sp>
      <p:sp>
        <p:nvSpPr>
          <p:cNvPr id="51" name="loss-r-4"/>
          <p:cNvSpPr txBox="1"/>
          <p:nvPr/>
        </p:nvSpPr>
        <p:spPr>
          <a:xfrm>
            <a:off x="7475220" y="5229066"/>
            <a:ext cx="76581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续费提醒不及时</a:t>
            </a:r>
          </a:p>
        </p:txBody>
      </p:sp>
      <p:sp>
        <p:nvSpPr>
          <p:cNvPr id="52" name="stage-4"/>
          <p:cNvSpPr/>
          <p:nvPr/>
        </p:nvSpPr>
        <p:spPr>
          <a:xfrm>
            <a:off x="6381750" y="2406015"/>
            <a:ext cx="1143000" cy="1156970"/>
          </a:xfrm>
          <a:custGeom>
            <a:avLst/>
            <a:gdLst/>
            <a:ahLst/>
            <a:cxnLst/>
            <a:rect l="0" t="0" r="r" b="b"/>
            <a:pathLst>
              <a:path w="1143000" h="1156970">
                <a:moveTo>
                  <a:pt x="139700" y="0"/>
                </a:moveTo>
                <a:lnTo>
                  <a:pt x="1003300" y="0"/>
                </a:lnTo>
                <a:cubicBezTo>
                  <a:pt x="1080453" y="0"/>
                  <a:pt x="1143000" y="62548"/>
                  <a:pt x="1143000" y="139700"/>
                </a:cubicBezTo>
                <a:lnTo>
                  <a:pt x="1143000" y="1017270"/>
                </a:lnTo>
                <a:cubicBezTo>
                  <a:pt x="1143000" y="1094423"/>
                  <a:pt x="1080453" y="1156970"/>
                  <a:pt x="1003300" y="1156970"/>
                </a:cubicBezTo>
                <a:lnTo>
                  <a:pt x="139700" y="1156970"/>
                </a:lnTo>
                <a:cubicBezTo>
                  <a:pt x="62548" y="1156970"/>
                  <a:pt x="0" y="1094423"/>
                  <a:pt x="0" y="101727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60A3DD"/>
              </a:gs>
              <a:gs pos="100000">
                <a:srgbClr val="4694D7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icon-fin"/>
          <p:cNvSpPr/>
          <p:nvPr/>
        </p:nvSpPr>
        <p:spPr>
          <a:xfrm>
            <a:off x="6922960" y="2747200"/>
            <a:ext cx="60579" cy="93599"/>
          </a:xfrm>
          <a:custGeom>
            <a:avLst/>
            <a:gdLst/>
            <a:ahLst/>
            <a:cxnLst/>
            <a:rect l="0" t="0" r="r" b="b"/>
            <a:pathLst>
              <a:path w="60579" h="93599">
                <a:moveTo>
                  <a:pt x="30289" y="55055"/>
                </a:moveTo>
                <a:lnTo>
                  <a:pt x="30289" y="93599"/>
                </a:lnTo>
                <a:moveTo>
                  <a:pt x="6921" y="55055"/>
                </a:moveTo>
                <a:lnTo>
                  <a:pt x="53658" y="55055"/>
                </a:lnTo>
                <a:moveTo>
                  <a:pt x="6921" y="75692"/>
                </a:moveTo>
                <a:lnTo>
                  <a:pt x="53658" y="75692"/>
                </a:lnTo>
                <a:moveTo>
                  <a:pt x="0" y="0"/>
                </a:moveTo>
                <a:lnTo>
                  <a:pt x="30289" y="41275"/>
                </a:lnTo>
                <a:lnTo>
                  <a:pt x="60579" y="0"/>
                </a:lnTo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sn-4"/>
          <p:cNvSpPr txBox="1"/>
          <p:nvPr/>
        </p:nvSpPr>
        <p:spPr>
          <a:xfrm>
            <a:off x="6731635" y="2862770"/>
            <a:ext cx="4432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付费</a:t>
            </a:r>
          </a:p>
        </p:txBody>
      </p:sp>
      <p:sp>
        <p:nvSpPr>
          <p:cNvPr id="55" name="sv-4"/>
          <p:cNvSpPr txBox="1"/>
          <p:nvPr/>
        </p:nvSpPr>
        <p:spPr>
          <a:xfrm>
            <a:off x="6741795" y="3084640"/>
            <a:ext cx="42291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1,480</a:t>
            </a:r>
          </a:p>
        </p:txBody>
      </p:sp>
      <p:sp>
        <p:nvSpPr>
          <p:cNvPr id="56" name="stage-5"/>
          <p:cNvSpPr/>
          <p:nvPr/>
        </p:nvSpPr>
        <p:spPr>
          <a:xfrm>
            <a:off x="8191500" y="2423414"/>
            <a:ext cx="1143000" cy="1122172"/>
          </a:xfrm>
          <a:custGeom>
            <a:avLst/>
            <a:gdLst/>
            <a:ahLst/>
            <a:cxnLst/>
            <a:rect l="0" t="0" r="r" b="b"/>
            <a:pathLst>
              <a:path w="1143000" h="1122172">
                <a:moveTo>
                  <a:pt x="139700" y="0"/>
                </a:moveTo>
                <a:lnTo>
                  <a:pt x="1003300" y="0"/>
                </a:lnTo>
                <a:cubicBezTo>
                  <a:pt x="1080453" y="0"/>
                  <a:pt x="1143000" y="62548"/>
                  <a:pt x="1143000" y="139700"/>
                </a:cubicBezTo>
                <a:lnTo>
                  <a:pt x="1143000" y="982472"/>
                </a:lnTo>
                <a:cubicBezTo>
                  <a:pt x="1143000" y="1059624"/>
                  <a:pt x="1080453" y="1122172"/>
                  <a:pt x="1003300" y="1122172"/>
                </a:cubicBezTo>
                <a:lnTo>
                  <a:pt x="139700" y="1122172"/>
                </a:lnTo>
                <a:cubicBezTo>
                  <a:pt x="62547" y="1122172"/>
                  <a:pt x="0" y="1059624"/>
                  <a:pt x="0" y="982472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6CAFE3"/>
              </a:gs>
              <a:gs pos="100000">
                <a:srgbClr val="54A2DF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icon-star"/>
          <p:cNvSpPr/>
          <p:nvPr/>
        </p:nvSpPr>
        <p:spPr>
          <a:xfrm>
            <a:off x="8704516" y="2736215"/>
            <a:ext cx="116967" cy="111443"/>
          </a:xfrm>
          <a:custGeom>
            <a:avLst/>
            <a:gdLst/>
            <a:ahLst/>
            <a:cxnLst/>
            <a:rect l="0" t="0" r="r" b="b"/>
            <a:pathLst>
              <a:path w="116967" h="111443">
                <a:moveTo>
                  <a:pt x="58484" y="0"/>
                </a:moveTo>
                <a:lnTo>
                  <a:pt x="76390" y="37148"/>
                </a:lnTo>
                <a:lnTo>
                  <a:pt x="116967" y="42672"/>
                </a:lnTo>
                <a:lnTo>
                  <a:pt x="87376" y="70866"/>
                </a:lnTo>
                <a:lnTo>
                  <a:pt x="94933" y="111443"/>
                </a:lnTo>
                <a:lnTo>
                  <a:pt x="58484" y="91504"/>
                </a:lnTo>
                <a:lnTo>
                  <a:pt x="22035" y="111443"/>
                </a:lnTo>
                <a:lnTo>
                  <a:pt x="29591" y="70866"/>
                </a:lnTo>
                <a:lnTo>
                  <a:pt x="0" y="42672"/>
                </a:lnTo>
                <a:lnTo>
                  <a:pt x="40577" y="37148"/>
                </a:lnTo>
                <a:close/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sn-5"/>
          <p:cNvSpPr txBox="1"/>
          <p:nvPr/>
        </p:nvSpPr>
        <p:spPr>
          <a:xfrm>
            <a:off x="8541385" y="2862770"/>
            <a:ext cx="4432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续费</a:t>
            </a:r>
          </a:p>
        </p:txBody>
      </p:sp>
      <p:sp>
        <p:nvSpPr>
          <p:cNvPr id="59" name="sv-5"/>
          <p:cNvSpPr txBox="1"/>
          <p:nvPr/>
        </p:nvSpPr>
        <p:spPr>
          <a:xfrm>
            <a:off x="8551545" y="3084640"/>
            <a:ext cx="42291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1,120</a:t>
            </a:r>
          </a:p>
        </p:txBody>
      </p:sp>
      <p:sp>
        <p:nvSpPr>
          <p:cNvPr id="60" name="sum-card"/>
          <p:cNvSpPr/>
          <p:nvPr/>
        </p:nvSpPr>
        <p:spPr>
          <a:xfrm>
            <a:off x="9715500" y="1587500"/>
            <a:ext cx="1524000" cy="2794000"/>
          </a:xfrm>
          <a:custGeom>
            <a:avLst/>
            <a:gdLst/>
            <a:ahLst/>
            <a:cxnLst/>
            <a:rect l="0" t="0" r="r" b="b"/>
            <a:pathLst>
              <a:path w="1524000" h="2794000">
                <a:moveTo>
                  <a:pt x="139700" y="0"/>
                </a:moveTo>
                <a:lnTo>
                  <a:pt x="1384300" y="0"/>
                </a:lnTo>
                <a:cubicBezTo>
                  <a:pt x="1461453" y="0"/>
                  <a:pt x="1524000" y="62548"/>
                  <a:pt x="1524000" y="139700"/>
                </a:cubicBezTo>
                <a:lnTo>
                  <a:pt x="1524000" y="2654300"/>
                </a:lnTo>
                <a:cubicBezTo>
                  <a:pt x="1524000" y="2731452"/>
                  <a:pt x="1461453" y="2794000"/>
                  <a:pt x="1384300" y="2794000"/>
                </a:cubicBezTo>
                <a:lnTo>
                  <a:pt x="139700" y="2794000"/>
                </a:lnTo>
                <a:cubicBezTo>
                  <a:pt x="62547" y="2794000"/>
                  <a:pt x="0" y="2731452"/>
                  <a:pt x="0" y="26543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sc-h"/>
          <p:cNvSpPr txBox="1"/>
          <p:nvPr/>
        </p:nvSpPr>
        <p:spPr>
          <a:xfrm>
            <a:off x="9891522" y="1755997"/>
            <a:ext cx="629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整体转化</a:t>
            </a:r>
          </a:p>
        </p:txBody>
      </p:sp>
      <p:sp>
        <p:nvSpPr>
          <p:cNvPr id="62" name="sc-v"/>
          <p:cNvSpPr txBox="1"/>
          <p:nvPr/>
        </p:nvSpPr>
        <p:spPr>
          <a:xfrm>
            <a:off x="9864852" y="1989518"/>
            <a:ext cx="1076706" cy="6000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1.23</a:t>
            </a:r>
          </a:p>
        </p:txBody>
      </p:sp>
      <p:sp>
        <p:nvSpPr>
          <p:cNvPr id="63" name="sc-u"/>
          <p:cNvSpPr txBox="1"/>
          <p:nvPr/>
        </p:nvSpPr>
        <p:spPr>
          <a:xfrm>
            <a:off x="9894570" y="2523966"/>
            <a:ext cx="76200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% 访问 → 付费</a:t>
            </a:r>
          </a:p>
        </p:txBody>
      </p:sp>
      <p:cxnSp>
        <p:nvCxnSpPr>
          <p:cNvPr id="64" name="sc-sep"/>
          <p:cNvCxnSpPr/>
          <p:nvPr/>
        </p:nvCxnSpPr>
        <p:spPr>
          <a:xfrm>
            <a:off x="9906000" y="2870200"/>
            <a:ext cx="1143000" cy="0"/>
          </a:xfrm>
          <a:prstGeom prst="line">
            <a:avLst/>
          </a:prstGeom>
          <a:ln w="6350" cap="rnd">
            <a:solidFill>
              <a:srgbClr val="FFFFFF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" name="sc-h2"/>
          <p:cNvSpPr txBox="1"/>
          <p:nvPr/>
        </p:nvSpPr>
        <p:spPr>
          <a:xfrm>
            <a:off x="9894570" y="3019266"/>
            <a:ext cx="57785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付费续费率</a:t>
            </a:r>
          </a:p>
        </p:txBody>
      </p:sp>
      <p:sp>
        <p:nvSpPr>
          <p:cNvPr id="66" name="sc-v2"/>
          <p:cNvSpPr txBox="1"/>
          <p:nvPr/>
        </p:nvSpPr>
        <p:spPr>
          <a:xfrm>
            <a:off x="9875520" y="3166110"/>
            <a:ext cx="93980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75.7%</a:t>
            </a:r>
          </a:p>
        </p:txBody>
      </p:sp>
      <p:sp>
        <p:nvSpPr>
          <p:cNvPr id="67" name="sc-p1"/>
          <p:cNvSpPr txBox="1"/>
          <p:nvPr/>
        </p:nvSpPr>
        <p:spPr>
          <a:xfrm>
            <a:off x="9894570" y="3654266"/>
            <a:ext cx="77470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老客户是最稳的</a:t>
            </a:r>
          </a:p>
        </p:txBody>
      </p:sp>
      <p:sp>
        <p:nvSpPr>
          <p:cNvPr id="68" name="sc-p2"/>
          <p:cNvSpPr txBox="1"/>
          <p:nvPr/>
        </p:nvSpPr>
        <p:spPr>
          <a:xfrm>
            <a:off x="9894570" y="3819366"/>
            <a:ext cx="57785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收入基本盘</a:t>
            </a:r>
          </a:p>
        </p:txBody>
      </p:sp>
      <p:sp>
        <p:nvSpPr>
          <p:cNvPr id="69" name="sum"/>
          <p:cNvSpPr/>
          <p:nvPr/>
        </p:nvSpPr>
        <p:spPr>
          <a:xfrm>
            <a:off x="952500" y="5715000"/>
            <a:ext cx="10287000" cy="533400"/>
          </a:xfrm>
          <a:custGeom>
            <a:avLst/>
            <a:gdLst/>
            <a:ahLst/>
            <a:cxnLst/>
            <a:rect l="0" t="0" r="r" b="b"/>
            <a:pathLst>
              <a:path w="10287000" h="5334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31800"/>
                </a:lnTo>
                <a:cubicBezTo>
                  <a:pt x="10287000" y="487934"/>
                  <a:pt x="10241534" y="533400"/>
                  <a:pt x="10185400" y="533400"/>
                </a:cubicBezTo>
                <a:lnTo>
                  <a:pt x="101600" y="533400"/>
                </a:lnTo>
                <a:cubicBezTo>
                  <a:pt x="45466" y="533400"/>
                  <a:pt x="0" y="487934"/>
                  <a:pt x="0" y="431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sum-bar"/>
          <p:cNvSpPr/>
          <p:nvPr/>
        </p:nvSpPr>
        <p:spPr>
          <a:xfrm>
            <a:off x="952500" y="57150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sum-h"/>
          <p:cNvSpPr txBox="1"/>
          <p:nvPr/>
        </p:nvSpPr>
        <p:spPr>
          <a:xfrm>
            <a:off x="1141222" y="58834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优先修复</a:t>
            </a:r>
          </a:p>
        </p:txBody>
      </p:sp>
      <p:sp>
        <p:nvSpPr>
          <p:cNvPr id="72" name="sum-p"/>
          <p:cNvSpPr txBox="1"/>
          <p:nvPr/>
        </p:nvSpPr>
        <p:spPr>
          <a:xfrm>
            <a:off x="1891665" y="5895261"/>
            <a:ext cx="454628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注册 → 试用只有 33.3%：把试用改为注册即开通，预计每月多出 4,000 个试用用户。</a:t>
            </a:r>
          </a:p>
        </p:txBody>
      </p:sp>
      <p:cxnSp>
        <p:nvCxnSpPr>
          <p:cNvPr id="73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横向漏斗 · 五个阶段</a:t>
            </a:r>
          </a:p>
        </p:txBody>
      </p:sp>
      <p:sp>
        <p:nvSpPr>
          <p:cNvPr id="75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17754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战略地铁图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899541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METRO MAP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189595" y="673132"/>
            <a:ext cx="34311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三条线同时开跑，在两个换乘站交汇——换乘站就是必须协同的节点</a:t>
            </a:r>
          </a:p>
        </p:txBody>
      </p:sp>
      <p:sp>
        <p:nvSpPr>
          <p:cNvPr id="10" name="q-1"/>
          <p:cNvSpPr/>
          <p:nvPr/>
        </p:nvSpPr>
        <p:spPr>
          <a:xfrm>
            <a:off x="1866900" y="1358900"/>
            <a:ext cx="1084262" cy="215900"/>
          </a:xfrm>
          <a:custGeom>
            <a:avLst/>
            <a:gdLst/>
            <a:ahLst/>
            <a:cxnLst/>
            <a:rect l="0" t="0" r="r" b="b"/>
            <a:pathLst>
              <a:path w="1084262" h="215900">
                <a:moveTo>
                  <a:pt x="107950" y="0"/>
                </a:moveTo>
                <a:lnTo>
                  <a:pt x="976312" y="0"/>
                </a:lnTo>
                <a:cubicBezTo>
                  <a:pt x="1035939" y="0"/>
                  <a:pt x="1084262" y="48324"/>
                  <a:pt x="1084262" y="107950"/>
                </a:cubicBezTo>
                <a:lnTo>
                  <a:pt x="1084262" y="107950"/>
                </a:lnTo>
                <a:cubicBezTo>
                  <a:pt x="1084262" y="167576"/>
                  <a:pt x="1035939" y="215900"/>
                  <a:pt x="976312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0B3E8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qt-1"/>
          <p:cNvSpPr txBox="1"/>
          <p:nvPr/>
        </p:nvSpPr>
        <p:spPr>
          <a:xfrm>
            <a:off x="2179479" y="1387316"/>
            <a:ext cx="4591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2026 Q1</a:t>
            </a:r>
          </a:p>
        </p:txBody>
      </p:sp>
      <p:cxnSp>
        <p:nvCxnSpPr>
          <p:cNvPr id="12" name="qg-1"/>
          <p:cNvCxnSpPr/>
          <p:nvPr/>
        </p:nvCxnSpPr>
        <p:spPr>
          <a:xfrm>
            <a:off x="1841500" y="1625600"/>
            <a:ext cx="0" cy="36449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q-2"/>
          <p:cNvSpPr/>
          <p:nvPr/>
        </p:nvSpPr>
        <p:spPr>
          <a:xfrm>
            <a:off x="3001962" y="1358900"/>
            <a:ext cx="1084262" cy="215900"/>
          </a:xfrm>
          <a:custGeom>
            <a:avLst/>
            <a:gdLst/>
            <a:ahLst/>
            <a:cxnLst/>
            <a:rect l="0" t="0" r="r" b="b"/>
            <a:pathLst>
              <a:path w="1084262" h="215900">
                <a:moveTo>
                  <a:pt x="107950" y="0"/>
                </a:moveTo>
                <a:lnTo>
                  <a:pt x="976312" y="0"/>
                </a:lnTo>
                <a:cubicBezTo>
                  <a:pt x="1035939" y="0"/>
                  <a:pt x="1084262" y="48324"/>
                  <a:pt x="1084262" y="107950"/>
                </a:cubicBezTo>
                <a:lnTo>
                  <a:pt x="1084262" y="107950"/>
                </a:lnTo>
                <a:cubicBezTo>
                  <a:pt x="1084262" y="167576"/>
                  <a:pt x="1035939" y="215900"/>
                  <a:pt x="976312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0B3E8F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qt-2"/>
          <p:cNvSpPr txBox="1"/>
          <p:nvPr/>
        </p:nvSpPr>
        <p:spPr>
          <a:xfrm>
            <a:off x="3447891" y="13873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Q2</a:t>
            </a:r>
          </a:p>
        </p:txBody>
      </p:sp>
      <p:cxnSp>
        <p:nvCxnSpPr>
          <p:cNvPr id="15" name="qg-2"/>
          <p:cNvCxnSpPr/>
          <p:nvPr/>
        </p:nvCxnSpPr>
        <p:spPr>
          <a:xfrm>
            <a:off x="2976562" y="1625600"/>
            <a:ext cx="0" cy="36449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q-3"/>
          <p:cNvSpPr/>
          <p:nvPr/>
        </p:nvSpPr>
        <p:spPr>
          <a:xfrm>
            <a:off x="4137025" y="1358900"/>
            <a:ext cx="1084262" cy="215900"/>
          </a:xfrm>
          <a:custGeom>
            <a:avLst/>
            <a:gdLst/>
            <a:ahLst/>
            <a:cxnLst/>
            <a:rect l="0" t="0" r="r" b="b"/>
            <a:pathLst>
              <a:path w="1084262" h="215900">
                <a:moveTo>
                  <a:pt x="107950" y="0"/>
                </a:moveTo>
                <a:lnTo>
                  <a:pt x="976312" y="0"/>
                </a:lnTo>
                <a:cubicBezTo>
                  <a:pt x="1035939" y="0"/>
                  <a:pt x="1084262" y="48324"/>
                  <a:pt x="1084262" y="107950"/>
                </a:cubicBezTo>
                <a:lnTo>
                  <a:pt x="1084262" y="107950"/>
                </a:lnTo>
                <a:cubicBezTo>
                  <a:pt x="1084262" y="167576"/>
                  <a:pt x="1035939" y="215900"/>
                  <a:pt x="976312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0B3E8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qt-3"/>
          <p:cNvSpPr txBox="1"/>
          <p:nvPr/>
        </p:nvSpPr>
        <p:spPr>
          <a:xfrm>
            <a:off x="4582954" y="13873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Q3</a:t>
            </a:r>
          </a:p>
        </p:txBody>
      </p:sp>
      <p:cxnSp>
        <p:nvCxnSpPr>
          <p:cNvPr id="18" name="qg-3"/>
          <p:cNvCxnSpPr/>
          <p:nvPr/>
        </p:nvCxnSpPr>
        <p:spPr>
          <a:xfrm>
            <a:off x="4111625" y="1625600"/>
            <a:ext cx="0" cy="36449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q-4"/>
          <p:cNvSpPr/>
          <p:nvPr/>
        </p:nvSpPr>
        <p:spPr>
          <a:xfrm>
            <a:off x="5272088" y="1358900"/>
            <a:ext cx="1084262" cy="215900"/>
          </a:xfrm>
          <a:custGeom>
            <a:avLst/>
            <a:gdLst/>
            <a:ahLst/>
            <a:cxnLst/>
            <a:rect l="0" t="0" r="r" b="b"/>
            <a:pathLst>
              <a:path w="1084262" h="215900">
                <a:moveTo>
                  <a:pt x="107950" y="0"/>
                </a:moveTo>
                <a:lnTo>
                  <a:pt x="976312" y="0"/>
                </a:lnTo>
                <a:cubicBezTo>
                  <a:pt x="1035939" y="0"/>
                  <a:pt x="1084262" y="48324"/>
                  <a:pt x="1084262" y="107950"/>
                </a:cubicBezTo>
                <a:lnTo>
                  <a:pt x="1084262" y="107950"/>
                </a:lnTo>
                <a:cubicBezTo>
                  <a:pt x="1084262" y="167576"/>
                  <a:pt x="1035939" y="215900"/>
                  <a:pt x="976312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0B3E8F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qt-4"/>
          <p:cNvSpPr txBox="1"/>
          <p:nvPr/>
        </p:nvSpPr>
        <p:spPr>
          <a:xfrm>
            <a:off x="5718016" y="13873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Q4</a:t>
            </a:r>
          </a:p>
        </p:txBody>
      </p:sp>
      <p:cxnSp>
        <p:nvCxnSpPr>
          <p:cNvPr id="21" name="qg-4"/>
          <p:cNvCxnSpPr/>
          <p:nvPr/>
        </p:nvCxnSpPr>
        <p:spPr>
          <a:xfrm>
            <a:off x="5246688" y="1625600"/>
            <a:ext cx="0" cy="36449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q-5"/>
          <p:cNvSpPr/>
          <p:nvPr/>
        </p:nvSpPr>
        <p:spPr>
          <a:xfrm>
            <a:off x="6407150" y="1358900"/>
            <a:ext cx="1084262" cy="215900"/>
          </a:xfrm>
          <a:custGeom>
            <a:avLst/>
            <a:gdLst/>
            <a:ahLst/>
            <a:cxnLst/>
            <a:rect l="0" t="0" r="r" b="b"/>
            <a:pathLst>
              <a:path w="1084262" h="215900">
                <a:moveTo>
                  <a:pt x="107950" y="0"/>
                </a:moveTo>
                <a:lnTo>
                  <a:pt x="976312" y="0"/>
                </a:lnTo>
                <a:cubicBezTo>
                  <a:pt x="1035939" y="0"/>
                  <a:pt x="1084262" y="48324"/>
                  <a:pt x="1084262" y="107950"/>
                </a:cubicBezTo>
                <a:lnTo>
                  <a:pt x="1084262" y="107950"/>
                </a:lnTo>
                <a:cubicBezTo>
                  <a:pt x="1084262" y="167576"/>
                  <a:pt x="1035939" y="215900"/>
                  <a:pt x="976312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3985CD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qt-5"/>
          <p:cNvSpPr txBox="1"/>
          <p:nvPr/>
        </p:nvSpPr>
        <p:spPr>
          <a:xfrm>
            <a:off x="6719729" y="1387316"/>
            <a:ext cx="4591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2027 Q1</a:t>
            </a:r>
          </a:p>
        </p:txBody>
      </p:sp>
      <p:cxnSp>
        <p:nvCxnSpPr>
          <p:cNvPr id="24" name="qg-5"/>
          <p:cNvCxnSpPr/>
          <p:nvPr/>
        </p:nvCxnSpPr>
        <p:spPr>
          <a:xfrm>
            <a:off x="6381750" y="1625600"/>
            <a:ext cx="0" cy="36449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q-6"/>
          <p:cNvSpPr/>
          <p:nvPr/>
        </p:nvSpPr>
        <p:spPr>
          <a:xfrm>
            <a:off x="7542212" y="1358900"/>
            <a:ext cx="1084262" cy="215900"/>
          </a:xfrm>
          <a:custGeom>
            <a:avLst/>
            <a:gdLst/>
            <a:ahLst/>
            <a:cxnLst/>
            <a:rect l="0" t="0" r="r" b="b"/>
            <a:pathLst>
              <a:path w="1084262" h="215900">
                <a:moveTo>
                  <a:pt x="107950" y="0"/>
                </a:moveTo>
                <a:lnTo>
                  <a:pt x="976312" y="0"/>
                </a:lnTo>
                <a:cubicBezTo>
                  <a:pt x="1035939" y="0"/>
                  <a:pt x="1084262" y="48324"/>
                  <a:pt x="1084262" y="107950"/>
                </a:cubicBezTo>
                <a:lnTo>
                  <a:pt x="1084262" y="107950"/>
                </a:lnTo>
                <a:cubicBezTo>
                  <a:pt x="1084262" y="167576"/>
                  <a:pt x="1035939" y="215900"/>
                  <a:pt x="976312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3985CD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qt-6"/>
          <p:cNvSpPr txBox="1"/>
          <p:nvPr/>
        </p:nvSpPr>
        <p:spPr>
          <a:xfrm>
            <a:off x="7988141" y="13873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Q2</a:t>
            </a:r>
          </a:p>
        </p:txBody>
      </p:sp>
      <p:cxnSp>
        <p:nvCxnSpPr>
          <p:cNvPr id="27" name="qg-6"/>
          <p:cNvCxnSpPr/>
          <p:nvPr/>
        </p:nvCxnSpPr>
        <p:spPr>
          <a:xfrm>
            <a:off x="7516812" y="1625600"/>
            <a:ext cx="0" cy="36449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q-7"/>
          <p:cNvSpPr/>
          <p:nvPr/>
        </p:nvSpPr>
        <p:spPr>
          <a:xfrm>
            <a:off x="8677275" y="1358900"/>
            <a:ext cx="1084262" cy="215900"/>
          </a:xfrm>
          <a:custGeom>
            <a:avLst/>
            <a:gdLst/>
            <a:ahLst/>
            <a:cxnLst/>
            <a:rect l="0" t="0" r="r" b="b"/>
            <a:pathLst>
              <a:path w="1084262" h="215900">
                <a:moveTo>
                  <a:pt x="107950" y="0"/>
                </a:moveTo>
                <a:lnTo>
                  <a:pt x="976312" y="0"/>
                </a:lnTo>
                <a:cubicBezTo>
                  <a:pt x="1035939" y="0"/>
                  <a:pt x="1084262" y="48324"/>
                  <a:pt x="1084262" y="107950"/>
                </a:cubicBezTo>
                <a:lnTo>
                  <a:pt x="1084262" y="107950"/>
                </a:lnTo>
                <a:cubicBezTo>
                  <a:pt x="1084262" y="167576"/>
                  <a:pt x="1035939" y="215900"/>
                  <a:pt x="976312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3985CD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qt-7"/>
          <p:cNvSpPr txBox="1"/>
          <p:nvPr/>
        </p:nvSpPr>
        <p:spPr>
          <a:xfrm>
            <a:off x="9123204" y="13873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Q3</a:t>
            </a:r>
          </a:p>
        </p:txBody>
      </p:sp>
      <p:cxnSp>
        <p:nvCxnSpPr>
          <p:cNvPr id="30" name="qg-7"/>
          <p:cNvCxnSpPr/>
          <p:nvPr/>
        </p:nvCxnSpPr>
        <p:spPr>
          <a:xfrm>
            <a:off x="8651875" y="1625600"/>
            <a:ext cx="0" cy="36449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q-8"/>
          <p:cNvSpPr/>
          <p:nvPr/>
        </p:nvSpPr>
        <p:spPr>
          <a:xfrm>
            <a:off x="9812338" y="1358900"/>
            <a:ext cx="1084262" cy="215900"/>
          </a:xfrm>
          <a:custGeom>
            <a:avLst/>
            <a:gdLst/>
            <a:ahLst/>
            <a:cxnLst/>
            <a:rect l="0" t="0" r="r" b="b"/>
            <a:pathLst>
              <a:path w="1084262" h="215900">
                <a:moveTo>
                  <a:pt x="107950" y="0"/>
                </a:moveTo>
                <a:lnTo>
                  <a:pt x="976312" y="0"/>
                </a:lnTo>
                <a:cubicBezTo>
                  <a:pt x="1035939" y="0"/>
                  <a:pt x="1084262" y="48324"/>
                  <a:pt x="1084262" y="107950"/>
                </a:cubicBezTo>
                <a:lnTo>
                  <a:pt x="1084262" y="107950"/>
                </a:lnTo>
                <a:cubicBezTo>
                  <a:pt x="1084262" y="167576"/>
                  <a:pt x="1035939" y="215900"/>
                  <a:pt x="976312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3985CD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qt-8"/>
          <p:cNvSpPr txBox="1"/>
          <p:nvPr/>
        </p:nvSpPr>
        <p:spPr>
          <a:xfrm>
            <a:off x="10258266" y="13873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Q4</a:t>
            </a:r>
          </a:p>
        </p:txBody>
      </p:sp>
      <p:cxnSp>
        <p:nvCxnSpPr>
          <p:cNvPr id="33" name="qg-8"/>
          <p:cNvCxnSpPr/>
          <p:nvPr/>
        </p:nvCxnSpPr>
        <p:spPr>
          <a:xfrm>
            <a:off x="9786938" y="1625600"/>
            <a:ext cx="0" cy="36449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ln-tag-1"/>
          <p:cNvSpPr/>
          <p:nvPr/>
        </p:nvSpPr>
        <p:spPr>
          <a:xfrm>
            <a:off x="952500" y="2146300"/>
            <a:ext cx="698500" cy="279400"/>
          </a:xfrm>
          <a:custGeom>
            <a:avLst/>
            <a:gdLst/>
            <a:ahLst/>
            <a:cxnLst/>
            <a:rect l="0" t="0" r="r" b="b"/>
            <a:pathLst>
              <a:path w="698500" h="279400">
                <a:moveTo>
                  <a:pt x="139700" y="0"/>
                </a:moveTo>
                <a:lnTo>
                  <a:pt x="558800" y="0"/>
                </a:lnTo>
                <a:cubicBezTo>
                  <a:pt x="635952" y="0"/>
                  <a:pt x="698500" y="62548"/>
                  <a:pt x="698500" y="139700"/>
                </a:cubicBezTo>
                <a:lnTo>
                  <a:pt x="698500" y="139700"/>
                </a:lnTo>
                <a:cubicBezTo>
                  <a:pt x="698500" y="216852"/>
                  <a:pt x="635952" y="279400"/>
                  <a:pt x="558800" y="279400"/>
                </a:cubicBezTo>
                <a:lnTo>
                  <a:pt x="139700" y="279400"/>
                </a:lnTo>
                <a:cubicBezTo>
                  <a:pt x="62547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ln-t-1"/>
          <p:cNvSpPr txBox="1"/>
          <p:nvPr/>
        </p:nvSpPr>
        <p:spPr>
          <a:xfrm>
            <a:off x="1059815" y="2189290"/>
            <a:ext cx="4838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产品线</a:t>
            </a:r>
          </a:p>
        </p:txBody>
      </p:sp>
      <p:cxnSp>
        <p:nvCxnSpPr>
          <p:cNvPr id="36" name="ln-1"/>
          <p:cNvCxnSpPr/>
          <p:nvPr/>
        </p:nvCxnSpPr>
        <p:spPr>
          <a:xfrm>
            <a:off x="1778000" y="2286000"/>
            <a:ext cx="8576469" cy="0"/>
          </a:xfrm>
          <a:prstGeom prst="line">
            <a:avLst/>
          </a:prstGeom>
          <a:ln w="88900" cap="rnd">
            <a:solidFill>
              <a:srgbClr val="134C9C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ln-tag-2"/>
          <p:cNvSpPr/>
          <p:nvPr/>
        </p:nvSpPr>
        <p:spPr>
          <a:xfrm>
            <a:off x="952500" y="3416300"/>
            <a:ext cx="698500" cy="279400"/>
          </a:xfrm>
          <a:custGeom>
            <a:avLst/>
            <a:gdLst/>
            <a:ahLst/>
            <a:cxnLst/>
            <a:rect l="0" t="0" r="r" b="b"/>
            <a:pathLst>
              <a:path w="698500" h="279400">
                <a:moveTo>
                  <a:pt x="139700" y="0"/>
                </a:moveTo>
                <a:lnTo>
                  <a:pt x="558800" y="0"/>
                </a:lnTo>
                <a:cubicBezTo>
                  <a:pt x="635952" y="0"/>
                  <a:pt x="698500" y="62548"/>
                  <a:pt x="698500" y="139700"/>
                </a:cubicBezTo>
                <a:lnTo>
                  <a:pt x="698500" y="139700"/>
                </a:lnTo>
                <a:cubicBezTo>
                  <a:pt x="698500" y="216852"/>
                  <a:pt x="635952" y="279400"/>
                  <a:pt x="558800" y="279400"/>
                </a:cubicBezTo>
                <a:lnTo>
                  <a:pt x="139700" y="279400"/>
                </a:lnTo>
                <a:cubicBezTo>
                  <a:pt x="62547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ln-t-2"/>
          <p:cNvSpPr txBox="1"/>
          <p:nvPr/>
        </p:nvSpPr>
        <p:spPr>
          <a:xfrm>
            <a:off x="1059815" y="3459290"/>
            <a:ext cx="4838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市场线</a:t>
            </a:r>
          </a:p>
        </p:txBody>
      </p:sp>
      <p:cxnSp>
        <p:nvCxnSpPr>
          <p:cNvPr id="39" name="ln-2"/>
          <p:cNvCxnSpPr/>
          <p:nvPr/>
        </p:nvCxnSpPr>
        <p:spPr>
          <a:xfrm>
            <a:off x="1778000" y="3556000"/>
            <a:ext cx="8576469" cy="0"/>
          </a:xfrm>
          <a:prstGeom prst="line">
            <a:avLst/>
          </a:prstGeom>
          <a:ln w="88900" cap="rnd">
            <a:solidFill>
              <a:srgbClr val="3985CD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ln-tag-3"/>
          <p:cNvSpPr/>
          <p:nvPr/>
        </p:nvSpPr>
        <p:spPr>
          <a:xfrm>
            <a:off x="952500" y="4686300"/>
            <a:ext cx="698500" cy="279400"/>
          </a:xfrm>
          <a:custGeom>
            <a:avLst/>
            <a:gdLst/>
            <a:ahLst/>
            <a:cxnLst/>
            <a:rect l="0" t="0" r="r" b="b"/>
            <a:pathLst>
              <a:path w="698500" h="279400">
                <a:moveTo>
                  <a:pt x="139700" y="0"/>
                </a:moveTo>
                <a:lnTo>
                  <a:pt x="558800" y="0"/>
                </a:lnTo>
                <a:cubicBezTo>
                  <a:pt x="635952" y="0"/>
                  <a:pt x="698500" y="62548"/>
                  <a:pt x="698500" y="139700"/>
                </a:cubicBezTo>
                <a:lnTo>
                  <a:pt x="698500" y="139700"/>
                </a:lnTo>
                <a:cubicBezTo>
                  <a:pt x="698500" y="216852"/>
                  <a:pt x="635952" y="279400"/>
                  <a:pt x="558800" y="279400"/>
                </a:cubicBezTo>
                <a:lnTo>
                  <a:pt x="139700" y="279400"/>
                </a:lnTo>
                <a:cubicBezTo>
                  <a:pt x="62547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ln-t-3"/>
          <p:cNvSpPr txBox="1"/>
          <p:nvPr/>
        </p:nvSpPr>
        <p:spPr>
          <a:xfrm>
            <a:off x="1059815" y="4729290"/>
            <a:ext cx="4838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组织线</a:t>
            </a:r>
          </a:p>
        </p:txBody>
      </p:sp>
      <p:cxnSp>
        <p:nvCxnSpPr>
          <p:cNvPr id="42" name="ln-3"/>
          <p:cNvCxnSpPr/>
          <p:nvPr/>
        </p:nvCxnSpPr>
        <p:spPr>
          <a:xfrm>
            <a:off x="1778000" y="4826000"/>
            <a:ext cx="8576469" cy="0"/>
          </a:xfrm>
          <a:prstGeom prst="line">
            <a:avLst/>
          </a:prstGeom>
          <a:ln w="88900" cap="rnd">
            <a:solidFill>
              <a:srgbClr val="E0703A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xf-915.625"/>
          <p:cNvSpPr/>
          <p:nvPr/>
        </p:nvSpPr>
        <p:spPr>
          <a:xfrm>
            <a:off x="5661787" y="2133600"/>
            <a:ext cx="304800" cy="1574800"/>
          </a:xfrm>
          <a:custGeom>
            <a:avLst/>
            <a:gdLst/>
            <a:ahLst/>
            <a:cxnLst/>
            <a:rect l="0" t="0" r="r" b="b"/>
            <a:pathLst>
              <a:path w="304800" h="1574800">
                <a:moveTo>
                  <a:pt x="152400" y="0"/>
                </a:moveTo>
                <a:lnTo>
                  <a:pt x="152400" y="0"/>
                </a:lnTo>
                <a:cubicBezTo>
                  <a:pt x="236601" y="0"/>
                  <a:pt x="304800" y="68199"/>
                  <a:pt x="304800" y="152400"/>
                </a:cubicBezTo>
                <a:lnTo>
                  <a:pt x="304800" y="1422400"/>
                </a:lnTo>
                <a:cubicBezTo>
                  <a:pt x="304800" y="1506601"/>
                  <a:pt x="236601" y="1574800"/>
                  <a:pt x="152400" y="1574800"/>
                </a:cubicBezTo>
                <a:lnTo>
                  <a:pt x="152400" y="1574800"/>
                </a:lnTo>
                <a:cubicBezTo>
                  <a:pt x="68262" y="1574800"/>
                  <a:pt x="0" y="1506601"/>
                  <a:pt x="0" y="1422400"/>
                </a:cubicBezTo>
                <a:lnTo>
                  <a:pt x="0" y="152400"/>
                </a:lnTo>
                <a:cubicBezTo>
                  <a:pt x="0" y="68199"/>
                  <a:pt x="68262" y="0"/>
                  <a:pt x="152400" y="0"/>
                </a:cubicBezTo>
                <a:close/>
              </a:path>
            </a:pathLst>
          </a:custGeom>
          <a:solidFill>
            <a:srgbClr val="FFFFFF"/>
          </a:solidFill>
          <a:ln w="25400" cap="rnd">
            <a:solidFill>
              <a:srgbClr val="0B2545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44" name="xfl-915.625"/>
          <p:cNvCxnSpPr/>
          <p:nvPr/>
        </p:nvCxnSpPr>
        <p:spPr>
          <a:xfrm>
            <a:off x="5814219" y="2451100"/>
            <a:ext cx="0" cy="939800"/>
          </a:xfrm>
          <a:prstGeom prst="line">
            <a:avLst/>
          </a:prstGeom>
          <a:ln w="12700" cap="rnd">
            <a:solidFill>
              <a:srgbClr val="0B2545">
                <a:alpha val="2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xft-bg-915.625"/>
          <p:cNvSpPr/>
          <p:nvPr/>
        </p:nvSpPr>
        <p:spPr>
          <a:xfrm>
            <a:off x="6030087" y="2806700"/>
            <a:ext cx="952500" cy="228600"/>
          </a:xfrm>
          <a:custGeom>
            <a:avLst/>
            <a:gdLst/>
            <a:ahLst/>
            <a:cxnLst/>
            <a:rect l="0" t="0" r="r" b="b"/>
            <a:pathLst>
              <a:path w="952500" h="228600">
                <a:moveTo>
                  <a:pt x="114300" y="0"/>
                </a:moveTo>
                <a:lnTo>
                  <a:pt x="838200" y="0"/>
                </a:lnTo>
                <a:cubicBezTo>
                  <a:pt x="901382" y="0"/>
                  <a:pt x="952500" y="51181"/>
                  <a:pt x="952500" y="114300"/>
                </a:cubicBezTo>
                <a:lnTo>
                  <a:pt x="952500" y="114300"/>
                </a:lnTo>
                <a:cubicBezTo>
                  <a:pt x="952500" y="177419"/>
                  <a:pt x="901382" y="228600"/>
                  <a:pt x="8382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xft-915.625"/>
          <p:cNvSpPr txBox="1"/>
          <p:nvPr/>
        </p:nvSpPr>
        <p:spPr>
          <a:xfrm>
            <a:off x="6113939" y="2841466"/>
            <a:ext cx="7524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换乘 · 平台化</a:t>
            </a:r>
          </a:p>
        </p:txBody>
      </p:sp>
      <p:sp>
        <p:nvSpPr>
          <p:cNvPr id="47" name="xf-1273.125"/>
          <p:cNvSpPr/>
          <p:nvPr/>
        </p:nvSpPr>
        <p:spPr>
          <a:xfrm>
            <a:off x="7931912" y="3403600"/>
            <a:ext cx="304800" cy="1574800"/>
          </a:xfrm>
          <a:custGeom>
            <a:avLst/>
            <a:gdLst/>
            <a:ahLst/>
            <a:cxnLst/>
            <a:rect l="0" t="0" r="r" b="b"/>
            <a:pathLst>
              <a:path w="304800" h="1574800">
                <a:moveTo>
                  <a:pt x="152400" y="0"/>
                </a:moveTo>
                <a:lnTo>
                  <a:pt x="152400" y="0"/>
                </a:lnTo>
                <a:cubicBezTo>
                  <a:pt x="236601" y="0"/>
                  <a:pt x="304800" y="68199"/>
                  <a:pt x="304800" y="152400"/>
                </a:cubicBezTo>
                <a:lnTo>
                  <a:pt x="304800" y="1422400"/>
                </a:lnTo>
                <a:cubicBezTo>
                  <a:pt x="304800" y="1506601"/>
                  <a:pt x="236601" y="1574800"/>
                  <a:pt x="152400" y="1574800"/>
                </a:cubicBezTo>
                <a:lnTo>
                  <a:pt x="152400" y="1574800"/>
                </a:lnTo>
                <a:cubicBezTo>
                  <a:pt x="68262" y="1574800"/>
                  <a:pt x="0" y="1506601"/>
                  <a:pt x="0" y="1422400"/>
                </a:cubicBezTo>
                <a:lnTo>
                  <a:pt x="0" y="152400"/>
                </a:lnTo>
                <a:cubicBezTo>
                  <a:pt x="0" y="68199"/>
                  <a:pt x="68262" y="0"/>
                  <a:pt x="152400" y="0"/>
                </a:cubicBezTo>
                <a:close/>
              </a:path>
            </a:pathLst>
          </a:custGeom>
          <a:solidFill>
            <a:srgbClr val="FFFFFF"/>
          </a:solidFill>
          <a:ln w="25400" cap="rnd">
            <a:solidFill>
              <a:srgbClr val="0B2545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48" name="xfl-1273.125"/>
          <p:cNvCxnSpPr/>
          <p:nvPr/>
        </p:nvCxnSpPr>
        <p:spPr>
          <a:xfrm>
            <a:off x="8084344" y="3721100"/>
            <a:ext cx="0" cy="939800"/>
          </a:xfrm>
          <a:prstGeom prst="line">
            <a:avLst/>
          </a:prstGeom>
          <a:ln w="12700" cap="rnd">
            <a:solidFill>
              <a:srgbClr val="0B2545">
                <a:alpha val="2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xft-bg-1273.125"/>
          <p:cNvSpPr/>
          <p:nvPr/>
        </p:nvSpPr>
        <p:spPr>
          <a:xfrm>
            <a:off x="8300212" y="4076700"/>
            <a:ext cx="857250" cy="228600"/>
          </a:xfrm>
          <a:custGeom>
            <a:avLst/>
            <a:gdLst/>
            <a:ahLst/>
            <a:cxnLst/>
            <a:rect l="0" t="0" r="r" b="b"/>
            <a:pathLst>
              <a:path w="857250" h="228600">
                <a:moveTo>
                  <a:pt x="114300" y="0"/>
                </a:moveTo>
                <a:lnTo>
                  <a:pt x="742950" y="0"/>
                </a:lnTo>
                <a:cubicBezTo>
                  <a:pt x="806133" y="0"/>
                  <a:pt x="857250" y="51181"/>
                  <a:pt x="857250" y="114300"/>
                </a:cubicBezTo>
                <a:lnTo>
                  <a:pt x="857250" y="114300"/>
                </a:lnTo>
                <a:cubicBezTo>
                  <a:pt x="857250" y="177419"/>
                  <a:pt x="806133" y="228600"/>
                  <a:pt x="74295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xft-1273.125"/>
          <p:cNvSpPr txBox="1"/>
          <p:nvPr/>
        </p:nvSpPr>
        <p:spPr>
          <a:xfrm>
            <a:off x="8384064" y="4111466"/>
            <a:ext cx="6534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换乘 · 出海</a:t>
            </a:r>
          </a:p>
        </p:txBody>
      </p:sp>
      <p:sp>
        <p:nvSpPr>
          <p:cNvPr id="51" name="st-1-1"/>
          <p:cNvSpPr/>
          <p:nvPr/>
        </p:nvSpPr>
        <p:spPr>
          <a:xfrm>
            <a:off x="2332831" y="2209800"/>
            <a:ext cx="152400" cy="152400"/>
          </a:xfrm>
          <a:prstGeom prst="ellipse">
            <a:avLst/>
          </a:prstGeom>
          <a:solidFill>
            <a:srgbClr val="FFFFFF"/>
          </a:solidFill>
          <a:ln w="3175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sn-1-1"/>
          <p:cNvSpPr txBox="1"/>
          <p:nvPr/>
        </p:nvSpPr>
        <p:spPr>
          <a:xfrm>
            <a:off x="2176621" y="1916240"/>
            <a:ext cx="46482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需求池</a:t>
            </a:r>
          </a:p>
        </p:txBody>
      </p:sp>
      <p:sp>
        <p:nvSpPr>
          <p:cNvPr id="53" name="stt-1-1"/>
          <p:cNvSpPr txBox="1"/>
          <p:nvPr/>
        </p:nvSpPr>
        <p:spPr>
          <a:xfrm>
            <a:off x="2244566" y="1795208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26 Q1</a:t>
            </a:r>
          </a:p>
        </p:txBody>
      </p:sp>
      <p:sp>
        <p:nvSpPr>
          <p:cNvPr id="54" name="st-1-2"/>
          <p:cNvSpPr/>
          <p:nvPr/>
        </p:nvSpPr>
        <p:spPr>
          <a:xfrm>
            <a:off x="3467894" y="2209800"/>
            <a:ext cx="152400" cy="152400"/>
          </a:xfrm>
          <a:prstGeom prst="ellipse">
            <a:avLst/>
          </a:prstGeom>
          <a:solidFill>
            <a:srgbClr val="FFFFFF"/>
          </a:solidFill>
          <a:ln w="3175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sn-1-2"/>
          <p:cNvSpPr txBox="1"/>
          <p:nvPr/>
        </p:nvSpPr>
        <p:spPr>
          <a:xfrm>
            <a:off x="3266472" y="1916240"/>
            <a:ext cx="55524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V1 发布</a:t>
            </a:r>
          </a:p>
        </p:txBody>
      </p:sp>
      <p:sp>
        <p:nvSpPr>
          <p:cNvPr id="56" name="stt-1-2"/>
          <p:cNvSpPr txBox="1"/>
          <p:nvPr/>
        </p:nvSpPr>
        <p:spPr>
          <a:xfrm>
            <a:off x="3379629" y="1795208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26 Q2</a:t>
            </a:r>
          </a:p>
        </p:txBody>
      </p:sp>
      <p:sp>
        <p:nvSpPr>
          <p:cNvPr id="57" name="sn-1-3"/>
          <p:cNvSpPr txBox="1"/>
          <p:nvPr/>
        </p:nvSpPr>
        <p:spPr>
          <a:xfrm>
            <a:off x="5581809" y="1916240"/>
            <a:ext cx="46482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平台化</a:t>
            </a:r>
          </a:p>
        </p:txBody>
      </p:sp>
      <p:sp>
        <p:nvSpPr>
          <p:cNvPr id="58" name="stt-1-3"/>
          <p:cNvSpPr txBox="1"/>
          <p:nvPr/>
        </p:nvSpPr>
        <p:spPr>
          <a:xfrm>
            <a:off x="5649754" y="1795208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26 Q4</a:t>
            </a:r>
          </a:p>
        </p:txBody>
      </p:sp>
      <p:sp>
        <p:nvSpPr>
          <p:cNvPr id="59" name="st-1-4"/>
          <p:cNvSpPr/>
          <p:nvPr/>
        </p:nvSpPr>
        <p:spPr>
          <a:xfrm>
            <a:off x="6873081" y="2209800"/>
            <a:ext cx="152400" cy="152400"/>
          </a:xfrm>
          <a:prstGeom prst="ellipse">
            <a:avLst/>
          </a:prstGeom>
          <a:solidFill>
            <a:srgbClr val="FFFFFF"/>
          </a:solidFill>
          <a:ln w="3175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sn-1-4"/>
          <p:cNvSpPr txBox="1"/>
          <p:nvPr/>
        </p:nvSpPr>
        <p:spPr>
          <a:xfrm>
            <a:off x="6671659" y="1916240"/>
            <a:ext cx="55524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AI 能力</a:t>
            </a:r>
          </a:p>
        </p:txBody>
      </p:sp>
      <p:sp>
        <p:nvSpPr>
          <p:cNvPr id="61" name="stt-1-4"/>
          <p:cNvSpPr txBox="1"/>
          <p:nvPr/>
        </p:nvSpPr>
        <p:spPr>
          <a:xfrm>
            <a:off x="6784816" y="1795208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27 Q1</a:t>
            </a:r>
          </a:p>
        </p:txBody>
      </p:sp>
      <p:sp>
        <p:nvSpPr>
          <p:cNvPr id="62" name="st-1-5"/>
          <p:cNvSpPr/>
          <p:nvPr/>
        </p:nvSpPr>
        <p:spPr>
          <a:xfrm>
            <a:off x="9143206" y="2209800"/>
            <a:ext cx="152400" cy="152400"/>
          </a:xfrm>
          <a:prstGeom prst="ellipse">
            <a:avLst/>
          </a:prstGeom>
          <a:solidFill>
            <a:srgbClr val="FFFFFF"/>
          </a:solidFill>
          <a:ln w="3175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sn-1-5"/>
          <p:cNvSpPr txBox="1"/>
          <p:nvPr/>
        </p:nvSpPr>
        <p:spPr>
          <a:xfrm>
            <a:off x="8941784" y="1916240"/>
            <a:ext cx="55524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V3 发布</a:t>
            </a:r>
          </a:p>
        </p:txBody>
      </p:sp>
      <p:sp>
        <p:nvSpPr>
          <p:cNvPr id="64" name="stt-1-5"/>
          <p:cNvSpPr txBox="1"/>
          <p:nvPr/>
        </p:nvSpPr>
        <p:spPr>
          <a:xfrm>
            <a:off x="9054941" y="1795208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27 Q3</a:t>
            </a:r>
          </a:p>
        </p:txBody>
      </p:sp>
      <p:sp>
        <p:nvSpPr>
          <p:cNvPr id="65" name="st-1-6"/>
          <p:cNvSpPr/>
          <p:nvPr/>
        </p:nvSpPr>
        <p:spPr>
          <a:xfrm>
            <a:off x="10259219" y="2190750"/>
            <a:ext cx="190500" cy="190500"/>
          </a:xfrm>
          <a:prstGeom prst="ellipse">
            <a:avLst/>
          </a:prstGeom>
          <a:solidFill>
            <a:srgbClr val="FFFFFF"/>
          </a:solidFill>
          <a:ln w="381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sn-1-6"/>
          <p:cNvSpPr txBox="1"/>
          <p:nvPr/>
        </p:nvSpPr>
        <p:spPr>
          <a:xfrm>
            <a:off x="10061734" y="1916240"/>
            <a:ext cx="585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生态开放</a:t>
            </a:r>
          </a:p>
        </p:txBody>
      </p:sp>
      <p:sp>
        <p:nvSpPr>
          <p:cNvPr id="67" name="stt-1-6"/>
          <p:cNvSpPr txBox="1"/>
          <p:nvPr/>
        </p:nvSpPr>
        <p:spPr>
          <a:xfrm>
            <a:off x="10190004" y="1795208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27 Q4</a:t>
            </a:r>
          </a:p>
        </p:txBody>
      </p:sp>
      <p:sp>
        <p:nvSpPr>
          <p:cNvPr id="68" name="st-2-1"/>
          <p:cNvSpPr/>
          <p:nvPr/>
        </p:nvSpPr>
        <p:spPr>
          <a:xfrm>
            <a:off x="2332831" y="3479800"/>
            <a:ext cx="152400" cy="152400"/>
          </a:xfrm>
          <a:prstGeom prst="ellipse">
            <a:avLst/>
          </a:prstGeom>
          <a:solidFill>
            <a:srgbClr val="FFFFFF"/>
          </a:solidFill>
          <a:ln w="3175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sn-2-1"/>
          <p:cNvSpPr txBox="1"/>
          <p:nvPr/>
        </p:nvSpPr>
        <p:spPr>
          <a:xfrm>
            <a:off x="2116296" y="3732340"/>
            <a:ext cx="585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华东深耕</a:t>
            </a:r>
          </a:p>
        </p:txBody>
      </p:sp>
      <p:sp>
        <p:nvSpPr>
          <p:cNvPr id="70" name="stt-2-1"/>
          <p:cNvSpPr txBox="1"/>
          <p:nvPr/>
        </p:nvSpPr>
        <p:spPr>
          <a:xfrm>
            <a:off x="2244566" y="3903408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26 Q1</a:t>
            </a:r>
          </a:p>
        </p:txBody>
      </p:sp>
      <p:sp>
        <p:nvSpPr>
          <p:cNvPr id="71" name="st-2-2"/>
          <p:cNvSpPr/>
          <p:nvPr/>
        </p:nvSpPr>
        <p:spPr>
          <a:xfrm>
            <a:off x="3467894" y="3479800"/>
            <a:ext cx="152400" cy="152400"/>
          </a:xfrm>
          <a:prstGeom prst="ellipse">
            <a:avLst/>
          </a:prstGeom>
          <a:solidFill>
            <a:srgbClr val="FFFFFF"/>
          </a:solidFill>
          <a:ln w="3175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sn-2-2"/>
          <p:cNvSpPr txBox="1"/>
          <p:nvPr/>
        </p:nvSpPr>
        <p:spPr>
          <a:xfrm>
            <a:off x="3251359" y="3732340"/>
            <a:ext cx="585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华南拓展</a:t>
            </a:r>
          </a:p>
        </p:txBody>
      </p:sp>
      <p:sp>
        <p:nvSpPr>
          <p:cNvPr id="73" name="stt-2-2"/>
          <p:cNvSpPr txBox="1"/>
          <p:nvPr/>
        </p:nvSpPr>
        <p:spPr>
          <a:xfrm>
            <a:off x="3379629" y="3903408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26 Q2</a:t>
            </a:r>
          </a:p>
        </p:txBody>
      </p:sp>
      <p:sp>
        <p:nvSpPr>
          <p:cNvPr id="74" name="sn-2-3"/>
          <p:cNvSpPr txBox="1"/>
          <p:nvPr/>
        </p:nvSpPr>
        <p:spPr>
          <a:xfrm>
            <a:off x="5461159" y="3732340"/>
            <a:ext cx="70612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联合发布会</a:t>
            </a:r>
          </a:p>
        </p:txBody>
      </p:sp>
      <p:sp>
        <p:nvSpPr>
          <p:cNvPr id="75" name="stt-2-3"/>
          <p:cNvSpPr txBox="1"/>
          <p:nvPr/>
        </p:nvSpPr>
        <p:spPr>
          <a:xfrm>
            <a:off x="5649754" y="3903408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26 Q4</a:t>
            </a:r>
          </a:p>
        </p:txBody>
      </p:sp>
      <p:sp>
        <p:nvSpPr>
          <p:cNvPr id="76" name="sn-2-4"/>
          <p:cNvSpPr txBox="1"/>
          <p:nvPr/>
        </p:nvSpPr>
        <p:spPr>
          <a:xfrm>
            <a:off x="7791609" y="3186240"/>
            <a:ext cx="585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海外首站</a:t>
            </a:r>
          </a:p>
        </p:txBody>
      </p:sp>
      <p:sp>
        <p:nvSpPr>
          <p:cNvPr id="77" name="stt-2-4"/>
          <p:cNvSpPr txBox="1"/>
          <p:nvPr/>
        </p:nvSpPr>
        <p:spPr>
          <a:xfrm>
            <a:off x="7919879" y="3065208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27 Q2</a:t>
            </a:r>
          </a:p>
        </p:txBody>
      </p:sp>
      <p:sp>
        <p:nvSpPr>
          <p:cNvPr id="78" name="st-2-5"/>
          <p:cNvSpPr/>
          <p:nvPr/>
        </p:nvSpPr>
        <p:spPr>
          <a:xfrm>
            <a:off x="10259219" y="3460750"/>
            <a:ext cx="190500" cy="190500"/>
          </a:xfrm>
          <a:prstGeom prst="ellipse">
            <a:avLst/>
          </a:prstGeom>
          <a:solidFill>
            <a:srgbClr val="FFFFFF"/>
          </a:solidFill>
          <a:ln w="3810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sn-2-5"/>
          <p:cNvSpPr txBox="1"/>
          <p:nvPr/>
        </p:nvSpPr>
        <p:spPr>
          <a:xfrm>
            <a:off x="9981343" y="3732340"/>
            <a:ext cx="74625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全球 10 国</a:t>
            </a:r>
          </a:p>
        </p:txBody>
      </p:sp>
      <p:sp>
        <p:nvSpPr>
          <p:cNvPr id="80" name="stt-2-5"/>
          <p:cNvSpPr txBox="1"/>
          <p:nvPr/>
        </p:nvSpPr>
        <p:spPr>
          <a:xfrm>
            <a:off x="10190004" y="3903408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27 Q4</a:t>
            </a:r>
          </a:p>
        </p:txBody>
      </p:sp>
      <p:sp>
        <p:nvSpPr>
          <p:cNvPr id="81" name="st-3-1"/>
          <p:cNvSpPr/>
          <p:nvPr/>
        </p:nvSpPr>
        <p:spPr>
          <a:xfrm>
            <a:off x="2332831" y="4749800"/>
            <a:ext cx="152400" cy="152400"/>
          </a:xfrm>
          <a:prstGeom prst="ellipse">
            <a:avLst/>
          </a:prstGeom>
          <a:solidFill>
            <a:srgbClr val="FFFFFF"/>
          </a:solidFill>
          <a:ln w="3175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sn-3-1"/>
          <p:cNvSpPr txBox="1"/>
          <p:nvPr/>
        </p:nvSpPr>
        <p:spPr>
          <a:xfrm>
            <a:off x="2116296" y="5002340"/>
            <a:ext cx="585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组建团队</a:t>
            </a:r>
          </a:p>
        </p:txBody>
      </p:sp>
      <p:sp>
        <p:nvSpPr>
          <p:cNvPr id="83" name="stt-3-1"/>
          <p:cNvSpPr txBox="1"/>
          <p:nvPr/>
        </p:nvSpPr>
        <p:spPr>
          <a:xfrm>
            <a:off x="2244566" y="5173408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26 Q1</a:t>
            </a:r>
          </a:p>
        </p:txBody>
      </p:sp>
      <p:sp>
        <p:nvSpPr>
          <p:cNvPr id="84" name="st-3-2"/>
          <p:cNvSpPr/>
          <p:nvPr/>
        </p:nvSpPr>
        <p:spPr>
          <a:xfrm>
            <a:off x="4602956" y="4749800"/>
            <a:ext cx="152400" cy="152400"/>
          </a:xfrm>
          <a:prstGeom prst="ellipse">
            <a:avLst/>
          </a:prstGeom>
          <a:solidFill>
            <a:srgbClr val="FFFFFF"/>
          </a:solidFill>
          <a:ln w="3175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sn-3-2"/>
          <p:cNvSpPr txBox="1"/>
          <p:nvPr/>
        </p:nvSpPr>
        <p:spPr>
          <a:xfrm>
            <a:off x="4446746" y="5002340"/>
            <a:ext cx="46482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双中台</a:t>
            </a:r>
          </a:p>
        </p:txBody>
      </p:sp>
      <p:sp>
        <p:nvSpPr>
          <p:cNvPr id="86" name="stt-3-2"/>
          <p:cNvSpPr txBox="1"/>
          <p:nvPr/>
        </p:nvSpPr>
        <p:spPr>
          <a:xfrm>
            <a:off x="4514691" y="5173408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26 Q3</a:t>
            </a:r>
          </a:p>
        </p:txBody>
      </p:sp>
      <p:sp>
        <p:nvSpPr>
          <p:cNvPr id="87" name="st-3-3"/>
          <p:cNvSpPr/>
          <p:nvPr/>
        </p:nvSpPr>
        <p:spPr>
          <a:xfrm>
            <a:off x="6873081" y="4749800"/>
            <a:ext cx="152400" cy="152400"/>
          </a:xfrm>
          <a:prstGeom prst="ellipse">
            <a:avLst/>
          </a:prstGeom>
          <a:solidFill>
            <a:srgbClr val="FFFFFF"/>
          </a:solidFill>
          <a:ln w="3175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sn-3-3"/>
          <p:cNvSpPr txBox="1"/>
          <p:nvPr/>
        </p:nvSpPr>
        <p:spPr>
          <a:xfrm>
            <a:off x="6656546" y="5002340"/>
            <a:ext cx="585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干部梯队</a:t>
            </a:r>
          </a:p>
        </p:txBody>
      </p:sp>
      <p:sp>
        <p:nvSpPr>
          <p:cNvPr id="89" name="stt-3-3"/>
          <p:cNvSpPr txBox="1"/>
          <p:nvPr/>
        </p:nvSpPr>
        <p:spPr>
          <a:xfrm>
            <a:off x="6784816" y="5173408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27 Q1</a:t>
            </a:r>
          </a:p>
        </p:txBody>
      </p:sp>
      <p:sp>
        <p:nvSpPr>
          <p:cNvPr id="90" name="sn-3-4"/>
          <p:cNvSpPr txBox="1"/>
          <p:nvPr/>
        </p:nvSpPr>
        <p:spPr>
          <a:xfrm>
            <a:off x="7791609" y="5002340"/>
            <a:ext cx="585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海外团队</a:t>
            </a:r>
          </a:p>
        </p:txBody>
      </p:sp>
      <p:sp>
        <p:nvSpPr>
          <p:cNvPr id="91" name="stt-3-4"/>
          <p:cNvSpPr txBox="1"/>
          <p:nvPr/>
        </p:nvSpPr>
        <p:spPr>
          <a:xfrm>
            <a:off x="7919879" y="5173408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27 Q2</a:t>
            </a:r>
          </a:p>
        </p:txBody>
      </p:sp>
      <p:sp>
        <p:nvSpPr>
          <p:cNvPr id="92" name="st-3-5"/>
          <p:cNvSpPr/>
          <p:nvPr/>
        </p:nvSpPr>
        <p:spPr>
          <a:xfrm>
            <a:off x="10259219" y="4730750"/>
            <a:ext cx="190500" cy="190500"/>
          </a:xfrm>
          <a:prstGeom prst="ellipse">
            <a:avLst/>
          </a:prstGeom>
          <a:solidFill>
            <a:srgbClr val="FFFFFF"/>
          </a:solidFill>
          <a:ln w="3810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sn-3-5"/>
          <p:cNvSpPr txBox="1"/>
          <p:nvPr/>
        </p:nvSpPr>
        <p:spPr>
          <a:xfrm>
            <a:off x="10001409" y="5002340"/>
            <a:ext cx="70612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全球化组织</a:t>
            </a:r>
          </a:p>
        </p:txBody>
      </p:sp>
      <p:sp>
        <p:nvSpPr>
          <p:cNvPr id="94" name="stt-3-5"/>
          <p:cNvSpPr txBox="1"/>
          <p:nvPr/>
        </p:nvSpPr>
        <p:spPr>
          <a:xfrm>
            <a:off x="10190004" y="5173408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27 Q4</a:t>
            </a:r>
          </a:p>
        </p:txBody>
      </p:sp>
      <p:sp>
        <p:nvSpPr>
          <p:cNvPr id="95" name="sum"/>
          <p:cNvSpPr/>
          <p:nvPr/>
        </p:nvSpPr>
        <p:spPr>
          <a:xfrm>
            <a:off x="952500" y="5588000"/>
            <a:ext cx="10287000" cy="635000"/>
          </a:xfrm>
          <a:custGeom>
            <a:avLst/>
            <a:gdLst/>
            <a:ahLst/>
            <a:cxnLst/>
            <a:rect l="0" t="0" r="r" b="b"/>
            <a:pathLst>
              <a:path w="10287000" h="6350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533400"/>
                </a:lnTo>
                <a:cubicBezTo>
                  <a:pt x="10287000" y="589534"/>
                  <a:pt x="10241534" y="635000"/>
                  <a:pt x="10185400" y="635000"/>
                </a:cubicBezTo>
                <a:lnTo>
                  <a:pt x="101600" y="635000"/>
                </a:lnTo>
                <a:cubicBezTo>
                  <a:pt x="45466" y="635000"/>
                  <a:pt x="0" y="589534"/>
                  <a:pt x="0" y="5334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sum-bar"/>
          <p:cNvSpPr/>
          <p:nvPr/>
        </p:nvSpPr>
        <p:spPr>
          <a:xfrm>
            <a:off x="952500" y="5588000"/>
            <a:ext cx="31750" cy="6350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sum-h"/>
          <p:cNvSpPr txBox="1"/>
          <p:nvPr/>
        </p:nvSpPr>
        <p:spPr>
          <a:xfrm>
            <a:off x="1141222" y="57056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读图方法</a:t>
            </a:r>
          </a:p>
        </p:txBody>
      </p:sp>
      <p:sp>
        <p:nvSpPr>
          <p:cNvPr id="98" name="sum-p"/>
          <p:cNvSpPr txBox="1"/>
          <p:nvPr/>
        </p:nvSpPr>
        <p:spPr>
          <a:xfrm>
            <a:off x="1142365" y="5933361"/>
            <a:ext cx="498760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每条线各自负责人推进；到达换乘站前一个月召开联席会，三条线任何一条没到站，换乘就推迟。</a:t>
            </a:r>
          </a:p>
        </p:txBody>
      </p:sp>
      <p:cxnSp>
        <p:nvCxnSpPr>
          <p:cNvPr id="99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0" name="foot-l"/>
          <p:cNvSpPr txBox="1"/>
          <p:nvPr/>
        </p:nvSpPr>
        <p:spPr>
          <a:xfrm>
            <a:off x="573532" y="6532308"/>
            <a:ext cx="124218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地铁线路图 · 三条战略线</a:t>
            </a:r>
          </a:p>
        </p:txBody>
      </p:sp>
      <p:sp>
        <p:nvSpPr>
          <p:cNvPr id="101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十年发展历程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62801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VERTICAL TIMELINE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466199" y="673132"/>
            <a:ext cx="21545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从三个人到一千六百人，每两年一个台阶</a:t>
            </a:r>
          </a:p>
        </p:txBody>
      </p:sp>
      <p:cxnSp>
        <p:nvCxnSpPr>
          <p:cNvPr id="10" name="spine-bg"/>
          <p:cNvCxnSpPr/>
          <p:nvPr/>
        </p:nvCxnSpPr>
        <p:spPr>
          <a:xfrm>
            <a:off x="6096000" y="1409700"/>
            <a:ext cx="0" cy="4572000"/>
          </a:xfrm>
          <a:prstGeom prst="line">
            <a:avLst/>
          </a:prstGeom>
          <a:ln w="3810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spine"/>
          <p:cNvSpPr/>
          <p:nvPr/>
        </p:nvSpPr>
        <p:spPr>
          <a:xfrm>
            <a:off x="6076950" y="1409700"/>
            <a:ext cx="38100" cy="4572000"/>
          </a:xfrm>
          <a:custGeom>
            <a:avLst/>
            <a:gdLst/>
            <a:ahLst/>
            <a:cxnLst/>
            <a:rect l="0" t="0" r="r" b="b"/>
            <a:pathLst>
              <a:path w="38100" h="4572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4552950"/>
                </a:lnTo>
                <a:cubicBezTo>
                  <a:pt x="38100" y="4563491"/>
                  <a:pt x="29591" y="4572000"/>
                  <a:pt x="19050" y="4572000"/>
                </a:cubicBezTo>
                <a:lnTo>
                  <a:pt x="19050" y="4572000"/>
                </a:lnTo>
                <a:cubicBezTo>
                  <a:pt x="8509" y="4572000"/>
                  <a:pt x="0" y="4563491"/>
                  <a:pt x="0" y="4552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gradFill rotWithShape="1">
            <a:gsLst>
              <a:gs pos="0">
                <a:srgbClr val="4694D7"/>
              </a:gs>
              <a:gs pos="100000">
                <a:srgbClr val="0B3E8F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nd-1"/>
          <p:cNvSpPr/>
          <p:nvPr/>
        </p:nvSpPr>
        <p:spPr>
          <a:xfrm>
            <a:off x="6000750" y="1568450"/>
            <a:ext cx="190500" cy="190500"/>
          </a:xfrm>
          <a:prstGeom prst="ellipse">
            <a:avLst/>
          </a:prstGeom>
          <a:solidFill>
            <a:srgbClr val="FFFFFF"/>
          </a:solidFill>
          <a:ln w="31750" cap="rnd">
            <a:solidFill>
              <a:srgbClr val="4694D7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yr-1"/>
          <p:cNvSpPr txBox="1"/>
          <p:nvPr/>
        </p:nvSpPr>
        <p:spPr>
          <a:xfrm>
            <a:off x="6319520" y="1438910"/>
            <a:ext cx="79756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>
                <a:solidFill>
                  <a:srgbClr val="4694D7"/>
                </a:solidFill>
                <a:latin typeface="Arial"/>
                <a:ea typeface="Arial"/>
                <a:cs typeface="Arial"/>
              </a:rPr>
              <a:t>2016</a:t>
            </a:r>
          </a:p>
        </p:txBody>
      </p:sp>
      <p:cxnSp>
        <p:nvCxnSpPr>
          <p:cNvPr id="14" name="cn-1"/>
          <p:cNvCxnSpPr/>
          <p:nvPr/>
        </p:nvCxnSpPr>
        <p:spPr>
          <a:xfrm flipH="1">
            <a:off x="5842000" y="1663700"/>
            <a:ext cx="127000" cy="0"/>
          </a:xfrm>
          <a:prstGeom prst="line">
            <a:avLst/>
          </a:prstGeom>
          <a:ln w="12700" cap="rnd">
            <a:solidFill>
              <a:srgbClr val="4694D7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card-1"/>
          <p:cNvSpPr/>
          <p:nvPr/>
        </p:nvSpPr>
        <p:spPr>
          <a:xfrm>
            <a:off x="1143000" y="1358900"/>
            <a:ext cx="4699000" cy="609600"/>
          </a:xfrm>
          <a:custGeom>
            <a:avLst/>
            <a:gdLst/>
            <a:ahLst/>
            <a:cxnLst/>
            <a:rect l="0" t="0" r="r" b="b"/>
            <a:pathLst>
              <a:path w="4699000" h="609600">
                <a:moveTo>
                  <a:pt x="114300" y="0"/>
                </a:moveTo>
                <a:lnTo>
                  <a:pt x="4584700" y="0"/>
                </a:lnTo>
                <a:cubicBezTo>
                  <a:pt x="4647819" y="0"/>
                  <a:pt x="4699000" y="51181"/>
                  <a:pt x="4699000" y="114300"/>
                </a:cubicBezTo>
                <a:lnTo>
                  <a:pt x="4699000" y="495300"/>
                </a:lnTo>
                <a:cubicBezTo>
                  <a:pt x="4699000" y="558419"/>
                  <a:pt x="4647819" y="609600"/>
                  <a:pt x="4584700" y="609600"/>
                </a:cubicBezTo>
                <a:lnTo>
                  <a:pt x="114300" y="609600"/>
                </a:lnTo>
                <a:cubicBezTo>
                  <a:pt x="51181" y="609600"/>
                  <a:pt x="0" y="558419"/>
                  <a:pt x="0" y="495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ic-1"/>
          <p:cNvSpPr/>
          <p:nvPr/>
        </p:nvSpPr>
        <p:spPr>
          <a:xfrm>
            <a:off x="1308100" y="1498600"/>
            <a:ext cx="330200" cy="330200"/>
          </a:xfrm>
          <a:prstGeom prst="ellipse">
            <a:avLst/>
          </a:prstGeom>
          <a:solidFill>
            <a:srgbClr val="4694D7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icon-flag"/>
          <p:cNvSpPr/>
          <p:nvPr/>
        </p:nvSpPr>
        <p:spPr>
          <a:xfrm>
            <a:off x="1431925" y="1610042"/>
            <a:ext cx="66040" cy="112839"/>
          </a:xfrm>
          <a:custGeom>
            <a:avLst/>
            <a:gdLst/>
            <a:ahLst/>
            <a:cxnLst/>
            <a:rect l="0" t="0" r="r" b="b"/>
            <a:pathLst>
              <a:path w="66040" h="112839">
                <a:moveTo>
                  <a:pt x="0" y="112839"/>
                </a:moveTo>
                <a:lnTo>
                  <a:pt x="0" y="0"/>
                </a:lnTo>
                <a:moveTo>
                  <a:pt x="0" y="5524"/>
                </a:moveTo>
                <a:lnTo>
                  <a:pt x="66040" y="5524"/>
                </a:lnTo>
                <a:lnTo>
                  <a:pt x="55054" y="27495"/>
                </a:lnTo>
                <a:lnTo>
                  <a:pt x="66040" y="49530"/>
                </a:lnTo>
                <a:lnTo>
                  <a:pt x="0" y="49530"/>
                </a:lnTo>
              </a:path>
            </a:pathLst>
          </a:cu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h-1"/>
          <p:cNvSpPr txBox="1"/>
          <p:nvPr/>
        </p:nvSpPr>
        <p:spPr>
          <a:xfrm>
            <a:off x="1735074" y="1432528"/>
            <a:ext cx="7664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公司成立</a:t>
            </a:r>
          </a:p>
        </p:txBody>
      </p:sp>
      <p:sp>
        <p:nvSpPr>
          <p:cNvPr id="19" name="d-1"/>
          <p:cNvSpPr txBox="1"/>
          <p:nvPr/>
        </p:nvSpPr>
        <p:spPr>
          <a:xfrm>
            <a:off x="1739646" y="1695482"/>
            <a:ext cx="2309114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3 人团队在上海起步，首单来自一家连锁零售</a:t>
            </a:r>
          </a:p>
        </p:txBody>
      </p:sp>
      <p:sp>
        <p:nvSpPr>
          <p:cNvPr id="20" name="k-1"/>
          <p:cNvSpPr txBox="1"/>
          <p:nvPr/>
        </p:nvSpPr>
        <p:spPr>
          <a:xfrm>
            <a:off x="5216525" y="1437386"/>
            <a:ext cx="465963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3 人</a:t>
            </a:r>
          </a:p>
        </p:txBody>
      </p:sp>
      <p:sp>
        <p:nvSpPr>
          <p:cNvPr id="21" name="nd-2"/>
          <p:cNvSpPr/>
          <p:nvPr/>
        </p:nvSpPr>
        <p:spPr>
          <a:xfrm>
            <a:off x="6000750" y="2381250"/>
            <a:ext cx="190500" cy="190500"/>
          </a:xfrm>
          <a:prstGeom prst="ellipse">
            <a:avLst/>
          </a:prstGeom>
          <a:solidFill>
            <a:srgbClr val="FFFFFF"/>
          </a:solidFill>
          <a:ln w="31750" cap="rnd">
            <a:solidFill>
              <a:srgbClr val="3985CD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yr-2"/>
          <p:cNvSpPr txBox="1"/>
          <p:nvPr/>
        </p:nvSpPr>
        <p:spPr>
          <a:xfrm>
            <a:off x="5074920" y="2251710"/>
            <a:ext cx="79756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0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2018</a:t>
            </a:r>
          </a:p>
        </p:txBody>
      </p:sp>
      <p:cxnSp>
        <p:nvCxnSpPr>
          <p:cNvPr id="23" name="cn-2"/>
          <p:cNvCxnSpPr/>
          <p:nvPr/>
        </p:nvCxnSpPr>
        <p:spPr>
          <a:xfrm>
            <a:off x="6223000" y="2476500"/>
            <a:ext cx="127000" cy="0"/>
          </a:xfrm>
          <a:prstGeom prst="line">
            <a:avLst/>
          </a:prstGeom>
          <a:ln w="12700" cap="rnd">
            <a:solidFill>
              <a:srgbClr val="3985CD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card-2"/>
          <p:cNvSpPr/>
          <p:nvPr/>
        </p:nvSpPr>
        <p:spPr>
          <a:xfrm>
            <a:off x="6350000" y="2171700"/>
            <a:ext cx="4699000" cy="609600"/>
          </a:xfrm>
          <a:custGeom>
            <a:avLst/>
            <a:gdLst/>
            <a:ahLst/>
            <a:cxnLst/>
            <a:rect l="0" t="0" r="r" b="b"/>
            <a:pathLst>
              <a:path w="4699000" h="609600">
                <a:moveTo>
                  <a:pt x="114300" y="0"/>
                </a:moveTo>
                <a:lnTo>
                  <a:pt x="4584700" y="0"/>
                </a:lnTo>
                <a:cubicBezTo>
                  <a:pt x="4647819" y="0"/>
                  <a:pt x="4699000" y="51181"/>
                  <a:pt x="4699000" y="114300"/>
                </a:cubicBezTo>
                <a:lnTo>
                  <a:pt x="4699000" y="495300"/>
                </a:lnTo>
                <a:cubicBezTo>
                  <a:pt x="4699000" y="558419"/>
                  <a:pt x="4647819" y="609600"/>
                  <a:pt x="4584700" y="609600"/>
                </a:cubicBezTo>
                <a:lnTo>
                  <a:pt x="114300" y="609600"/>
                </a:lnTo>
                <a:cubicBezTo>
                  <a:pt x="51181" y="609600"/>
                  <a:pt x="0" y="558419"/>
                  <a:pt x="0" y="495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ic-2"/>
          <p:cNvSpPr/>
          <p:nvPr/>
        </p:nvSpPr>
        <p:spPr>
          <a:xfrm>
            <a:off x="6515100" y="2311400"/>
            <a:ext cx="330200" cy="330200"/>
          </a:xfrm>
          <a:prstGeom prst="ellipse">
            <a:avLst/>
          </a:prstGeom>
          <a:solidFill>
            <a:srgbClr val="3985CD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icon-fin"/>
          <p:cNvSpPr/>
          <p:nvPr/>
        </p:nvSpPr>
        <p:spPr>
          <a:xfrm>
            <a:off x="6649910" y="2429700"/>
            <a:ext cx="60579" cy="93599"/>
          </a:xfrm>
          <a:custGeom>
            <a:avLst/>
            <a:gdLst/>
            <a:ahLst/>
            <a:cxnLst/>
            <a:rect l="0" t="0" r="r" b="b"/>
            <a:pathLst>
              <a:path w="60579" h="93599">
                <a:moveTo>
                  <a:pt x="30289" y="55055"/>
                </a:moveTo>
                <a:lnTo>
                  <a:pt x="30289" y="93599"/>
                </a:lnTo>
                <a:moveTo>
                  <a:pt x="6921" y="55055"/>
                </a:moveTo>
                <a:lnTo>
                  <a:pt x="53658" y="55055"/>
                </a:lnTo>
                <a:moveTo>
                  <a:pt x="6921" y="75692"/>
                </a:moveTo>
                <a:lnTo>
                  <a:pt x="53658" y="75692"/>
                </a:lnTo>
                <a:moveTo>
                  <a:pt x="0" y="0"/>
                </a:moveTo>
                <a:lnTo>
                  <a:pt x="30289" y="41275"/>
                </a:lnTo>
                <a:lnTo>
                  <a:pt x="60579" y="0"/>
                </a:lnTo>
              </a:path>
            </a:pathLst>
          </a:custGeom>
          <a:noFill/>
          <a:ln w="1270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h-2"/>
          <p:cNvSpPr txBox="1"/>
          <p:nvPr/>
        </p:nvSpPr>
        <p:spPr>
          <a:xfrm>
            <a:off x="6942074" y="2245328"/>
            <a:ext cx="796671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A 轮融资</a:t>
            </a:r>
          </a:p>
        </p:txBody>
      </p:sp>
      <p:sp>
        <p:nvSpPr>
          <p:cNvPr id="28" name="d-2"/>
          <p:cNvSpPr txBox="1"/>
          <p:nvPr/>
        </p:nvSpPr>
        <p:spPr>
          <a:xfrm>
            <a:off x="6946646" y="2508282"/>
            <a:ext cx="2101342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完成 5,000 万元融资，团队扩至 80 人</a:t>
            </a:r>
          </a:p>
        </p:txBody>
      </p:sp>
      <p:sp>
        <p:nvSpPr>
          <p:cNvPr id="29" name="k-2"/>
          <p:cNvSpPr txBox="1"/>
          <p:nvPr/>
        </p:nvSpPr>
        <p:spPr>
          <a:xfrm>
            <a:off x="10336276" y="2250186"/>
            <a:ext cx="553212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80 人</a:t>
            </a:r>
          </a:p>
        </p:txBody>
      </p:sp>
      <p:sp>
        <p:nvSpPr>
          <p:cNvPr id="30" name="nd-3"/>
          <p:cNvSpPr/>
          <p:nvPr/>
        </p:nvSpPr>
        <p:spPr>
          <a:xfrm>
            <a:off x="6000750" y="3194050"/>
            <a:ext cx="190500" cy="190500"/>
          </a:xfrm>
          <a:prstGeom prst="ellipse">
            <a:avLst/>
          </a:prstGeom>
          <a:solidFill>
            <a:srgbClr val="FFFFFF"/>
          </a:solidFill>
          <a:ln w="31750" cap="rnd">
            <a:solidFill>
              <a:srgbClr val="2E77C2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yr-3"/>
          <p:cNvSpPr txBox="1"/>
          <p:nvPr/>
        </p:nvSpPr>
        <p:spPr>
          <a:xfrm>
            <a:off x="6319520" y="3064510"/>
            <a:ext cx="79756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2020</a:t>
            </a:r>
          </a:p>
        </p:txBody>
      </p:sp>
      <p:cxnSp>
        <p:nvCxnSpPr>
          <p:cNvPr id="32" name="cn-3"/>
          <p:cNvCxnSpPr/>
          <p:nvPr/>
        </p:nvCxnSpPr>
        <p:spPr>
          <a:xfrm flipH="1">
            <a:off x="5842000" y="3289300"/>
            <a:ext cx="127000" cy="0"/>
          </a:xfrm>
          <a:prstGeom prst="line">
            <a:avLst/>
          </a:prstGeom>
          <a:ln w="12700" cap="rnd">
            <a:solidFill>
              <a:srgbClr val="2E77C2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card-3"/>
          <p:cNvSpPr/>
          <p:nvPr/>
        </p:nvSpPr>
        <p:spPr>
          <a:xfrm>
            <a:off x="1143000" y="2984500"/>
            <a:ext cx="4699000" cy="609600"/>
          </a:xfrm>
          <a:custGeom>
            <a:avLst/>
            <a:gdLst/>
            <a:ahLst/>
            <a:cxnLst/>
            <a:rect l="0" t="0" r="r" b="b"/>
            <a:pathLst>
              <a:path w="4699000" h="609600">
                <a:moveTo>
                  <a:pt x="114300" y="0"/>
                </a:moveTo>
                <a:lnTo>
                  <a:pt x="4584700" y="0"/>
                </a:lnTo>
                <a:cubicBezTo>
                  <a:pt x="4647819" y="0"/>
                  <a:pt x="4699000" y="51181"/>
                  <a:pt x="4699000" y="114300"/>
                </a:cubicBezTo>
                <a:lnTo>
                  <a:pt x="4699000" y="495300"/>
                </a:lnTo>
                <a:cubicBezTo>
                  <a:pt x="4699000" y="558419"/>
                  <a:pt x="4647819" y="609600"/>
                  <a:pt x="4584700" y="609600"/>
                </a:cubicBezTo>
                <a:lnTo>
                  <a:pt x="114300" y="609600"/>
                </a:lnTo>
                <a:cubicBezTo>
                  <a:pt x="51181" y="609600"/>
                  <a:pt x="0" y="558419"/>
                  <a:pt x="0" y="495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ic-3"/>
          <p:cNvSpPr/>
          <p:nvPr/>
        </p:nvSpPr>
        <p:spPr>
          <a:xfrm>
            <a:off x="1308100" y="3124200"/>
            <a:ext cx="330200" cy="330200"/>
          </a:xfrm>
          <a:prstGeom prst="ellipse">
            <a:avLst/>
          </a:pr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icon-layers"/>
          <p:cNvSpPr/>
          <p:nvPr/>
        </p:nvSpPr>
        <p:spPr>
          <a:xfrm>
            <a:off x="1418146" y="3232912"/>
            <a:ext cx="110109" cy="114173"/>
          </a:xfrm>
          <a:custGeom>
            <a:avLst/>
            <a:gdLst/>
            <a:ahLst/>
            <a:cxnLst/>
            <a:rect l="0" t="0" r="r" b="b"/>
            <a:pathLst>
              <a:path w="110109" h="114173">
                <a:moveTo>
                  <a:pt x="55054" y="0"/>
                </a:moveTo>
                <a:lnTo>
                  <a:pt x="110109" y="28892"/>
                </a:lnTo>
                <a:lnTo>
                  <a:pt x="55054" y="57785"/>
                </a:lnTo>
                <a:lnTo>
                  <a:pt x="0" y="28892"/>
                </a:lnTo>
                <a:close/>
                <a:moveTo>
                  <a:pt x="0" y="57785"/>
                </a:moveTo>
                <a:lnTo>
                  <a:pt x="55054" y="86677"/>
                </a:lnTo>
                <a:lnTo>
                  <a:pt x="110109" y="57785"/>
                </a:lnTo>
                <a:moveTo>
                  <a:pt x="0" y="85280"/>
                </a:moveTo>
                <a:lnTo>
                  <a:pt x="55054" y="114173"/>
                </a:lnTo>
                <a:lnTo>
                  <a:pt x="110109" y="85280"/>
                </a:lnTo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h-3"/>
          <p:cNvSpPr txBox="1"/>
          <p:nvPr/>
        </p:nvSpPr>
        <p:spPr>
          <a:xfrm>
            <a:off x="1735074" y="3058128"/>
            <a:ext cx="92519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产品平台化</a:t>
            </a:r>
          </a:p>
        </p:txBody>
      </p:sp>
      <p:sp>
        <p:nvSpPr>
          <p:cNvPr id="37" name="d-3"/>
          <p:cNvSpPr txBox="1"/>
          <p:nvPr/>
        </p:nvSpPr>
        <p:spPr>
          <a:xfrm>
            <a:off x="1739646" y="3321082"/>
            <a:ext cx="194691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推出开放平台，接入合作伙伴 200 家</a:t>
            </a:r>
          </a:p>
        </p:txBody>
      </p:sp>
      <p:sp>
        <p:nvSpPr>
          <p:cNvPr id="38" name="k-3"/>
          <p:cNvSpPr txBox="1"/>
          <p:nvPr/>
        </p:nvSpPr>
        <p:spPr>
          <a:xfrm>
            <a:off x="4733417" y="3062986"/>
            <a:ext cx="949071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200 家伙伴</a:t>
            </a:r>
          </a:p>
        </p:txBody>
      </p:sp>
      <p:sp>
        <p:nvSpPr>
          <p:cNvPr id="39" name="nd-4"/>
          <p:cNvSpPr/>
          <p:nvPr/>
        </p:nvSpPr>
        <p:spPr>
          <a:xfrm>
            <a:off x="6000750" y="4006850"/>
            <a:ext cx="190500" cy="190500"/>
          </a:xfrm>
          <a:prstGeom prst="ellipse">
            <a:avLst/>
          </a:prstGeom>
          <a:solidFill>
            <a:srgbClr val="FFFFFF"/>
          </a:solidFill>
          <a:ln w="31750" cap="rnd">
            <a:solidFill>
              <a:srgbClr val="2468B6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yr-4"/>
          <p:cNvSpPr txBox="1"/>
          <p:nvPr/>
        </p:nvSpPr>
        <p:spPr>
          <a:xfrm>
            <a:off x="5074920" y="3877310"/>
            <a:ext cx="79756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00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2022</a:t>
            </a:r>
          </a:p>
        </p:txBody>
      </p:sp>
      <p:cxnSp>
        <p:nvCxnSpPr>
          <p:cNvPr id="41" name="cn-4"/>
          <p:cNvCxnSpPr/>
          <p:nvPr/>
        </p:nvCxnSpPr>
        <p:spPr>
          <a:xfrm>
            <a:off x="6223000" y="4102100"/>
            <a:ext cx="127000" cy="0"/>
          </a:xfrm>
          <a:prstGeom prst="line">
            <a:avLst/>
          </a:prstGeom>
          <a:ln w="12700" cap="rnd">
            <a:solidFill>
              <a:srgbClr val="2468B6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card-4"/>
          <p:cNvSpPr/>
          <p:nvPr/>
        </p:nvSpPr>
        <p:spPr>
          <a:xfrm>
            <a:off x="6350000" y="3797300"/>
            <a:ext cx="4699000" cy="609600"/>
          </a:xfrm>
          <a:custGeom>
            <a:avLst/>
            <a:gdLst/>
            <a:ahLst/>
            <a:cxnLst/>
            <a:rect l="0" t="0" r="r" b="b"/>
            <a:pathLst>
              <a:path w="4699000" h="609600">
                <a:moveTo>
                  <a:pt x="114300" y="0"/>
                </a:moveTo>
                <a:lnTo>
                  <a:pt x="4584700" y="0"/>
                </a:lnTo>
                <a:cubicBezTo>
                  <a:pt x="4647819" y="0"/>
                  <a:pt x="4699000" y="51181"/>
                  <a:pt x="4699000" y="114300"/>
                </a:cubicBezTo>
                <a:lnTo>
                  <a:pt x="4699000" y="495300"/>
                </a:lnTo>
                <a:cubicBezTo>
                  <a:pt x="4699000" y="558419"/>
                  <a:pt x="4647819" y="609600"/>
                  <a:pt x="4584700" y="609600"/>
                </a:cubicBezTo>
                <a:lnTo>
                  <a:pt x="114300" y="609600"/>
                </a:lnTo>
                <a:cubicBezTo>
                  <a:pt x="51181" y="609600"/>
                  <a:pt x="0" y="558419"/>
                  <a:pt x="0" y="495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ic-4"/>
          <p:cNvSpPr/>
          <p:nvPr/>
        </p:nvSpPr>
        <p:spPr>
          <a:xfrm>
            <a:off x="6515100" y="3937000"/>
            <a:ext cx="330200" cy="330200"/>
          </a:xfrm>
          <a:prstGeom prst="ellipse">
            <a:avLst/>
          </a:prstGeom>
          <a:solidFill>
            <a:srgbClr val="2468B6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icon-grow"/>
          <p:cNvSpPr/>
          <p:nvPr/>
        </p:nvSpPr>
        <p:spPr>
          <a:xfrm>
            <a:off x="6622415" y="4075938"/>
            <a:ext cx="103188" cy="64707"/>
          </a:xfrm>
          <a:custGeom>
            <a:avLst/>
            <a:gdLst/>
            <a:ahLst/>
            <a:cxnLst/>
            <a:rect l="0" t="0" r="r" b="b"/>
            <a:pathLst>
              <a:path w="103188" h="64707">
                <a:moveTo>
                  <a:pt x="0" y="64707"/>
                </a:moveTo>
                <a:lnTo>
                  <a:pt x="34417" y="27559"/>
                </a:lnTo>
                <a:lnTo>
                  <a:pt x="59182" y="48197"/>
                </a:lnTo>
                <a:lnTo>
                  <a:pt x="100457" y="0"/>
                </a:lnTo>
                <a:moveTo>
                  <a:pt x="83947" y="0"/>
                </a:moveTo>
                <a:lnTo>
                  <a:pt x="103188" y="0"/>
                </a:lnTo>
                <a:lnTo>
                  <a:pt x="103188" y="19304"/>
                </a:lnTo>
              </a:path>
            </a:pathLst>
          </a:cu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h-4"/>
          <p:cNvSpPr txBox="1"/>
          <p:nvPr/>
        </p:nvSpPr>
        <p:spPr>
          <a:xfrm>
            <a:off x="6942074" y="3870928"/>
            <a:ext cx="1049909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营收破 5 亿</a:t>
            </a:r>
          </a:p>
        </p:txBody>
      </p:sp>
      <p:sp>
        <p:nvSpPr>
          <p:cNvPr id="46" name="d-4"/>
          <p:cNvSpPr txBox="1"/>
          <p:nvPr/>
        </p:nvSpPr>
        <p:spPr>
          <a:xfrm>
            <a:off x="6946646" y="4133882"/>
            <a:ext cx="2071624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服务客户超过 1,000 家，进入行业前三</a:t>
            </a:r>
          </a:p>
        </p:txBody>
      </p:sp>
      <p:sp>
        <p:nvSpPr>
          <p:cNvPr id="47" name="k-4"/>
          <p:cNvSpPr txBox="1"/>
          <p:nvPr/>
        </p:nvSpPr>
        <p:spPr>
          <a:xfrm>
            <a:off x="10423525" y="3875786"/>
            <a:ext cx="465963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5 亿</a:t>
            </a:r>
          </a:p>
        </p:txBody>
      </p:sp>
      <p:sp>
        <p:nvSpPr>
          <p:cNvPr id="48" name="nd-5"/>
          <p:cNvSpPr/>
          <p:nvPr/>
        </p:nvSpPr>
        <p:spPr>
          <a:xfrm>
            <a:off x="6000750" y="4819650"/>
            <a:ext cx="190500" cy="190500"/>
          </a:xfrm>
          <a:prstGeom prst="ellipse">
            <a:avLst/>
          </a:prstGeom>
          <a:solidFill>
            <a:srgbClr val="FFFFFF"/>
          </a:solidFill>
          <a:ln w="31750" cap="rnd">
            <a:solidFill>
              <a:srgbClr val="1B5AA8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yr-5"/>
          <p:cNvSpPr txBox="1"/>
          <p:nvPr/>
        </p:nvSpPr>
        <p:spPr>
          <a:xfrm>
            <a:off x="6319520" y="4690110"/>
            <a:ext cx="79756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>
                <a:solidFill>
                  <a:srgbClr val="1B5AA8"/>
                </a:solidFill>
                <a:latin typeface="Arial"/>
                <a:ea typeface="Arial"/>
                <a:cs typeface="Arial"/>
              </a:rPr>
              <a:t>2024</a:t>
            </a:r>
          </a:p>
        </p:txBody>
      </p:sp>
      <p:cxnSp>
        <p:nvCxnSpPr>
          <p:cNvPr id="50" name="cn-5"/>
          <p:cNvCxnSpPr/>
          <p:nvPr/>
        </p:nvCxnSpPr>
        <p:spPr>
          <a:xfrm flipH="1">
            <a:off x="5842000" y="4914900"/>
            <a:ext cx="127000" cy="0"/>
          </a:xfrm>
          <a:prstGeom prst="line">
            <a:avLst/>
          </a:prstGeom>
          <a:ln w="12700" cap="rnd">
            <a:solidFill>
              <a:srgbClr val="1B5AA8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card-5"/>
          <p:cNvSpPr/>
          <p:nvPr/>
        </p:nvSpPr>
        <p:spPr>
          <a:xfrm>
            <a:off x="1143000" y="4610100"/>
            <a:ext cx="4699000" cy="609600"/>
          </a:xfrm>
          <a:custGeom>
            <a:avLst/>
            <a:gdLst/>
            <a:ahLst/>
            <a:cxnLst/>
            <a:rect l="0" t="0" r="r" b="b"/>
            <a:pathLst>
              <a:path w="4699000" h="609600">
                <a:moveTo>
                  <a:pt x="114300" y="0"/>
                </a:moveTo>
                <a:lnTo>
                  <a:pt x="4584700" y="0"/>
                </a:lnTo>
                <a:cubicBezTo>
                  <a:pt x="4647819" y="0"/>
                  <a:pt x="4699000" y="51181"/>
                  <a:pt x="4699000" y="114300"/>
                </a:cubicBezTo>
                <a:lnTo>
                  <a:pt x="4699000" y="495300"/>
                </a:lnTo>
                <a:cubicBezTo>
                  <a:pt x="4699000" y="558419"/>
                  <a:pt x="4647819" y="609600"/>
                  <a:pt x="4584700" y="609600"/>
                </a:cubicBezTo>
                <a:lnTo>
                  <a:pt x="114300" y="609600"/>
                </a:lnTo>
                <a:cubicBezTo>
                  <a:pt x="51181" y="609600"/>
                  <a:pt x="0" y="558419"/>
                  <a:pt x="0" y="495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ic-5"/>
          <p:cNvSpPr/>
          <p:nvPr/>
        </p:nvSpPr>
        <p:spPr>
          <a:xfrm>
            <a:off x="1308100" y="4749800"/>
            <a:ext cx="330200" cy="330200"/>
          </a:xfrm>
          <a:prstGeom prst="ellipse">
            <a:avLst/>
          </a:pr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icon-globe"/>
          <p:cNvSpPr/>
          <p:nvPr/>
        </p:nvSpPr>
        <p:spPr>
          <a:xfrm>
            <a:off x="1414018" y="4855718"/>
            <a:ext cx="118364" cy="118364"/>
          </a:xfrm>
          <a:custGeom>
            <a:avLst/>
            <a:gdLst/>
            <a:ahLst/>
            <a:cxnLst/>
            <a:rect l="0" t="0" r="r" b="b"/>
            <a:pathLst>
              <a:path w="118364" h="118364">
                <a:moveTo>
                  <a:pt x="0" y="59182"/>
                </a:moveTo>
                <a:lnTo>
                  <a:pt x="118364" y="59182"/>
                </a:lnTo>
                <a:moveTo>
                  <a:pt x="59182" y="0"/>
                </a:moveTo>
                <a:cubicBezTo>
                  <a:pt x="75692" y="17209"/>
                  <a:pt x="83947" y="37148"/>
                  <a:pt x="83947" y="59182"/>
                </a:cubicBezTo>
                <a:cubicBezTo>
                  <a:pt x="83947" y="81217"/>
                  <a:pt x="75692" y="101156"/>
                  <a:pt x="59182" y="118364"/>
                </a:cubicBezTo>
                <a:cubicBezTo>
                  <a:pt x="42672" y="101156"/>
                  <a:pt x="34417" y="81217"/>
                  <a:pt x="34417" y="59182"/>
                </a:cubicBezTo>
                <a:cubicBezTo>
                  <a:pt x="34417" y="37148"/>
                  <a:pt x="42672" y="17209"/>
                  <a:pt x="59182" y="0"/>
                </a:cubicBezTo>
                <a:close/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icon-globe"/>
          <p:cNvSpPr/>
          <p:nvPr/>
        </p:nvSpPr>
        <p:spPr>
          <a:xfrm>
            <a:off x="1414039" y="4855739"/>
            <a:ext cx="118322" cy="118322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h-5"/>
          <p:cNvSpPr txBox="1"/>
          <p:nvPr/>
        </p:nvSpPr>
        <p:spPr>
          <a:xfrm>
            <a:off x="1735074" y="4683728"/>
            <a:ext cx="7664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走向海外</a:t>
            </a:r>
          </a:p>
        </p:txBody>
      </p:sp>
      <p:sp>
        <p:nvSpPr>
          <p:cNvPr id="56" name="d-5"/>
          <p:cNvSpPr txBox="1"/>
          <p:nvPr/>
        </p:nvSpPr>
        <p:spPr>
          <a:xfrm>
            <a:off x="1739646" y="4946682"/>
            <a:ext cx="152527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新加坡、迪拜两地设立分公司</a:t>
            </a:r>
          </a:p>
        </p:txBody>
      </p:sp>
      <p:sp>
        <p:nvSpPr>
          <p:cNvPr id="57" name="k-5"/>
          <p:cNvSpPr txBox="1"/>
          <p:nvPr/>
        </p:nvSpPr>
        <p:spPr>
          <a:xfrm>
            <a:off x="4599305" y="4688586"/>
            <a:ext cx="1083183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2 个海外中心</a:t>
            </a:r>
          </a:p>
        </p:txBody>
      </p:sp>
      <p:sp>
        <p:nvSpPr>
          <p:cNvPr id="58" name="nd-6"/>
          <p:cNvSpPr/>
          <p:nvPr/>
        </p:nvSpPr>
        <p:spPr>
          <a:xfrm>
            <a:off x="5969000" y="5600700"/>
            <a:ext cx="254000" cy="254000"/>
          </a:xfrm>
          <a:prstGeom prst="ellipse">
            <a:avLst/>
          </a:prstGeom>
          <a:solidFill>
            <a:srgbClr val="FFFFFF"/>
          </a:solidFill>
          <a:ln w="31750" cap="rnd">
            <a:solidFill>
              <a:srgbClr val="E0703A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yr-6"/>
          <p:cNvSpPr txBox="1"/>
          <p:nvPr/>
        </p:nvSpPr>
        <p:spPr>
          <a:xfrm>
            <a:off x="5074920" y="5502910"/>
            <a:ext cx="79756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0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2026</a:t>
            </a:r>
          </a:p>
        </p:txBody>
      </p:sp>
      <p:cxnSp>
        <p:nvCxnSpPr>
          <p:cNvPr id="60" name="cn-6"/>
          <p:cNvCxnSpPr/>
          <p:nvPr/>
        </p:nvCxnSpPr>
        <p:spPr>
          <a:xfrm>
            <a:off x="6223000" y="5727700"/>
            <a:ext cx="127000" cy="0"/>
          </a:xfrm>
          <a:prstGeom prst="line">
            <a:avLst/>
          </a:prstGeom>
          <a:ln w="12700" cap="rnd">
            <a:solidFill>
              <a:srgbClr val="E0703A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card-6"/>
          <p:cNvSpPr/>
          <p:nvPr/>
        </p:nvSpPr>
        <p:spPr>
          <a:xfrm>
            <a:off x="6350000" y="5422900"/>
            <a:ext cx="4699000" cy="609600"/>
          </a:xfrm>
          <a:custGeom>
            <a:avLst/>
            <a:gdLst/>
            <a:ahLst/>
            <a:cxnLst/>
            <a:rect l="0" t="0" r="r" b="b"/>
            <a:pathLst>
              <a:path w="4699000" h="609600">
                <a:moveTo>
                  <a:pt x="114300" y="0"/>
                </a:moveTo>
                <a:lnTo>
                  <a:pt x="4584700" y="0"/>
                </a:lnTo>
                <a:cubicBezTo>
                  <a:pt x="4647819" y="0"/>
                  <a:pt x="4699000" y="51181"/>
                  <a:pt x="4699000" y="114300"/>
                </a:cubicBezTo>
                <a:lnTo>
                  <a:pt x="4699000" y="495300"/>
                </a:lnTo>
                <a:cubicBezTo>
                  <a:pt x="4699000" y="558419"/>
                  <a:pt x="4647819" y="609600"/>
                  <a:pt x="4584700" y="609600"/>
                </a:cubicBezTo>
                <a:lnTo>
                  <a:pt x="114300" y="609600"/>
                </a:lnTo>
                <a:cubicBezTo>
                  <a:pt x="51181" y="609600"/>
                  <a:pt x="0" y="558419"/>
                  <a:pt x="0" y="495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ic-6"/>
          <p:cNvSpPr/>
          <p:nvPr/>
        </p:nvSpPr>
        <p:spPr>
          <a:xfrm>
            <a:off x="6515100" y="5562600"/>
            <a:ext cx="330200" cy="330200"/>
          </a:xfrm>
          <a:prstGeom prst="ellipse">
            <a:avLst/>
          </a:prstGeom>
          <a:solidFill>
            <a:srgbClr val="FFFFF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icon-award"/>
          <p:cNvSpPr/>
          <p:nvPr/>
        </p:nvSpPr>
        <p:spPr>
          <a:xfrm>
            <a:off x="6651308" y="5745607"/>
            <a:ext cx="57785" cy="39878"/>
          </a:xfrm>
          <a:custGeom>
            <a:avLst/>
            <a:gdLst/>
            <a:ahLst/>
            <a:cxnLst/>
            <a:rect l="0" t="0" r="r" b="b"/>
            <a:pathLst>
              <a:path w="57785" h="39878">
                <a:moveTo>
                  <a:pt x="10986" y="0"/>
                </a:moveTo>
                <a:lnTo>
                  <a:pt x="0" y="39878"/>
                </a:lnTo>
                <a:lnTo>
                  <a:pt x="28892" y="24765"/>
                </a:lnTo>
                <a:lnTo>
                  <a:pt x="57785" y="39878"/>
                </a:lnTo>
                <a:lnTo>
                  <a:pt x="46799" y="0"/>
                </a:lnTo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icon-award"/>
          <p:cNvSpPr/>
          <p:nvPr/>
        </p:nvSpPr>
        <p:spPr>
          <a:xfrm>
            <a:off x="6641677" y="5671291"/>
            <a:ext cx="77047" cy="77047"/>
          </a:xfrm>
          <a:prstGeom prst="ellipse">
            <a:avLst/>
          </a:pr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h-6"/>
          <p:cNvSpPr txBox="1"/>
          <p:nvPr/>
        </p:nvSpPr>
        <p:spPr>
          <a:xfrm>
            <a:off x="6942074" y="5496528"/>
            <a:ext cx="7664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行业第一</a:t>
            </a:r>
          </a:p>
        </p:txBody>
      </p:sp>
      <p:sp>
        <p:nvSpPr>
          <p:cNvPr id="66" name="d-6"/>
          <p:cNvSpPr txBox="1"/>
          <p:nvPr/>
        </p:nvSpPr>
        <p:spPr>
          <a:xfrm>
            <a:off x="6946646" y="5759482"/>
            <a:ext cx="1661922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市场份额 24%，员工 1,600 人</a:t>
            </a:r>
          </a:p>
        </p:txBody>
      </p:sp>
      <p:sp>
        <p:nvSpPr>
          <p:cNvPr id="67" name="k-6"/>
          <p:cNvSpPr txBox="1"/>
          <p:nvPr/>
        </p:nvSpPr>
        <p:spPr>
          <a:xfrm>
            <a:off x="10490581" y="5501386"/>
            <a:ext cx="398907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24%</a:t>
            </a:r>
          </a:p>
        </p:txBody>
      </p:sp>
      <p:cxnSp>
        <p:nvCxnSpPr>
          <p:cNvPr id="68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9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纵向时间轴 · 六个节点</a:t>
            </a:r>
          </a:p>
        </p:txBody>
      </p:sp>
      <p:sp>
        <p:nvSpPr>
          <p:cNvPr id="70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客户成功六步法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08165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ARC PROCESS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303895" y="673132"/>
            <a:ext cx="33168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从签约到续约，六个环节沿着一道拱门走完——每一步都有交付物</a:t>
            </a:r>
          </a:p>
        </p:txBody>
      </p:sp>
      <p:sp>
        <p:nvSpPr>
          <p:cNvPr id="10" name="arc-bg"/>
          <p:cNvSpPr/>
          <p:nvPr/>
        </p:nvSpPr>
        <p:spPr>
          <a:xfrm>
            <a:off x="2032000" y="2032000"/>
            <a:ext cx="8128000" cy="3048000"/>
          </a:xfrm>
          <a:custGeom>
            <a:avLst/>
            <a:gdLst/>
            <a:ahLst/>
            <a:cxnLst/>
            <a:rect l="0" t="0" r="r" b="b"/>
            <a:pathLst>
              <a:path w="8128000" h="3048000">
                <a:moveTo>
                  <a:pt x="0" y="3048000"/>
                </a:moveTo>
                <a:cubicBezTo>
                  <a:pt x="952" y="3021393"/>
                  <a:pt x="1842" y="2941574"/>
                  <a:pt x="5588" y="2888488"/>
                </a:cubicBezTo>
                <a:cubicBezTo>
                  <a:pt x="9271" y="2835402"/>
                  <a:pt x="14859" y="2782252"/>
                  <a:pt x="22288" y="2729421"/>
                </a:cubicBezTo>
                <a:cubicBezTo>
                  <a:pt x="29655" y="2676525"/>
                  <a:pt x="38925" y="2623693"/>
                  <a:pt x="50038" y="2571178"/>
                </a:cubicBezTo>
                <a:cubicBezTo>
                  <a:pt x="61150" y="2518664"/>
                  <a:pt x="74041" y="2466276"/>
                  <a:pt x="88837" y="2414270"/>
                </a:cubicBezTo>
                <a:cubicBezTo>
                  <a:pt x="103569" y="2362264"/>
                  <a:pt x="120142" y="2310511"/>
                  <a:pt x="138494" y="2259140"/>
                </a:cubicBezTo>
                <a:cubicBezTo>
                  <a:pt x="156845" y="2207768"/>
                  <a:pt x="176975" y="2156714"/>
                  <a:pt x="198882" y="2106104"/>
                </a:cubicBezTo>
                <a:cubicBezTo>
                  <a:pt x="220789" y="2055559"/>
                  <a:pt x="244538" y="2005330"/>
                  <a:pt x="269938" y="1955673"/>
                </a:cubicBezTo>
                <a:cubicBezTo>
                  <a:pt x="295338" y="1906079"/>
                  <a:pt x="322517" y="1856867"/>
                  <a:pt x="351345" y="1808290"/>
                </a:cubicBezTo>
                <a:cubicBezTo>
                  <a:pt x="380174" y="1759712"/>
                  <a:pt x="410782" y="1711642"/>
                  <a:pt x="442976" y="1664208"/>
                </a:cubicBezTo>
                <a:cubicBezTo>
                  <a:pt x="475107" y="1616837"/>
                  <a:pt x="509016" y="1570038"/>
                  <a:pt x="544449" y="1524000"/>
                </a:cubicBezTo>
                <a:cubicBezTo>
                  <a:pt x="579945" y="1477962"/>
                  <a:pt x="617030" y="1432560"/>
                  <a:pt x="655638" y="1387920"/>
                </a:cubicBezTo>
                <a:cubicBezTo>
                  <a:pt x="694245" y="1343342"/>
                  <a:pt x="734505" y="1299464"/>
                  <a:pt x="776161" y="1256411"/>
                </a:cubicBezTo>
                <a:cubicBezTo>
                  <a:pt x="817817" y="1213421"/>
                  <a:pt x="861060" y="1171130"/>
                  <a:pt x="905700" y="1129856"/>
                </a:cubicBezTo>
                <a:cubicBezTo>
                  <a:pt x="950277" y="1088517"/>
                  <a:pt x="996442" y="1048004"/>
                  <a:pt x="1043876" y="1008507"/>
                </a:cubicBezTo>
                <a:cubicBezTo>
                  <a:pt x="1091311" y="968946"/>
                  <a:pt x="1140206" y="930338"/>
                  <a:pt x="1190308" y="892746"/>
                </a:cubicBezTo>
                <a:cubicBezTo>
                  <a:pt x="1240473" y="855155"/>
                  <a:pt x="1291971" y="818451"/>
                  <a:pt x="1344676" y="782892"/>
                </a:cubicBezTo>
                <a:cubicBezTo>
                  <a:pt x="1397317" y="747332"/>
                  <a:pt x="1451356" y="712724"/>
                  <a:pt x="1506410" y="679260"/>
                </a:cubicBezTo>
                <a:cubicBezTo>
                  <a:pt x="1561528" y="645795"/>
                  <a:pt x="1617853" y="613346"/>
                  <a:pt x="1675257" y="582105"/>
                </a:cubicBezTo>
                <a:cubicBezTo>
                  <a:pt x="1732598" y="550862"/>
                  <a:pt x="1791145" y="520700"/>
                  <a:pt x="1850580" y="491744"/>
                </a:cubicBezTo>
                <a:cubicBezTo>
                  <a:pt x="1910016" y="462788"/>
                  <a:pt x="1970596" y="434912"/>
                  <a:pt x="2032000" y="408368"/>
                </a:cubicBezTo>
                <a:cubicBezTo>
                  <a:pt x="2093404" y="381762"/>
                  <a:pt x="2155825" y="356362"/>
                  <a:pt x="2219008" y="332232"/>
                </a:cubicBezTo>
                <a:cubicBezTo>
                  <a:pt x="2282126" y="308102"/>
                  <a:pt x="2346262" y="285115"/>
                  <a:pt x="2411032" y="263525"/>
                </a:cubicBezTo>
                <a:cubicBezTo>
                  <a:pt x="2475802" y="241871"/>
                  <a:pt x="2541397" y="221488"/>
                  <a:pt x="2607564" y="202438"/>
                </a:cubicBezTo>
                <a:cubicBezTo>
                  <a:pt x="2673795" y="183388"/>
                  <a:pt x="2740724" y="165608"/>
                  <a:pt x="2808160" y="149162"/>
                </a:cubicBezTo>
                <a:cubicBezTo>
                  <a:pt x="2875598" y="132779"/>
                  <a:pt x="2943670" y="117602"/>
                  <a:pt x="3012186" y="103886"/>
                </a:cubicBezTo>
                <a:cubicBezTo>
                  <a:pt x="3080639" y="90106"/>
                  <a:pt x="3149727" y="77661"/>
                  <a:pt x="3219069" y="66612"/>
                </a:cubicBezTo>
                <a:cubicBezTo>
                  <a:pt x="3288411" y="55562"/>
                  <a:pt x="3358198" y="45847"/>
                  <a:pt x="3428238" y="37529"/>
                </a:cubicBezTo>
                <a:cubicBezTo>
                  <a:pt x="3498278" y="29210"/>
                  <a:pt x="3568700" y="22225"/>
                  <a:pt x="3639185" y="16700"/>
                </a:cubicBezTo>
                <a:cubicBezTo>
                  <a:pt x="3709734" y="11112"/>
                  <a:pt x="3780536" y="6985"/>
                  <a:pt x="3851275" y="4191"/>
                </a:cubicBezTo>
                <a:cubicBezTo>
                  <a:pt x="3922078" y="1397"/>
                  <a:pt x="3993071" y="0"/>
                  <a:pt x="4064000" y="0"/>
                </a:cubicBezTo>
                <a:cubicBezTo>
                  <a:pt x="4134929" y="0"/>
                  <a:pt x="4205922" y="1397"/>
                  <a:pt x="4276725" y="4191"/>
                </a:cubicBezTo>
                <a:cubicBezTo>
                  <a:pt x="4347464" y="6985"/>
                  <a:pt x="4418266" y="11112"/>
                  <a:pt x="4488815" y="16700"/>
                </a:cubicBezTo>
                <a:cubicBezTo>
                  <a:pt x="4559300" y="22225"/>
                  <a:pt x="4629721" y="29210"/>
                  <a:pt x="4699762" y="37529"/>
                </a:cubicBezTo>
                <a:cubicBezTo>
                  <a:pt x="4769803" y="45847"/>
                  <a:pt x="4839589" y="55562"/>
                  <a:pt x="4908931" y="66612"/>
                </a:cubicBezTo>
                <a:cubicBezTo>
                  <a:pt x="4978273" y="77661"/>
                  <a:pt x="5047361" y="90106"/>
                  <a:pt x="5115814" y="103886"/>
                </a:cubicBezTo>
                <a:cubicBezTo>
                  <a:pt x="5184330" y="117602"/>
                  <a:pt x="5252403" y="132779"/>
                  <a:pt x="5319840" y="149162"/>
                </a:cubicBezTo>
                <a:cubicBezTo>
                  <a:pt x="5387277" y="165608"/>
                  <a:pt x="5454206" y="183388"/>
                  <a:pt x="5520436" y="202438"/>
                </a:cubicBezTo>
                <a:cubicBezTo>
                  <a:pt x="5586603" y="221488"/>
                  <a:pt x="5652198" y="241871"/>
                  <a:pt x="5716968" y="263525"/>
                </a:cubicBezTo>
                <a:cubicBezTo>
                  <a:pt x="5781738" y="285115"/>
                  <a:pt x="5845873" y="308102"/>
                  <a:pt x="5908992" y="332232"/>
                </a:cubicBezTo>
                <a:cubicBezTo>
                  <a:pt x="5972175" y="356362"/>
                  <a:pt x="6034596" y="381762"/>
                  <a:pt x="6096000" y="408368"/>
                </a:cubicBezTo>
                <a:cubicBezTo>
                  <a:pt x="6157404" y="434912"/>
                  <a:pt x="6217984" y="462788"/>
                  <a:pt x="6277420" y="491744"/>
                </a:cubicBezTo>
                <a:cubicBezTo>
                  <a:pt x="6336856" y="520700"/>
                  <a:pt x="6395403" y="550862"/>
                  <a:pt x="6452743" y="582105"/>
                </a:cubicBezTo>
                <a:cubicBezTo>
                  <a:pt x="6510147" y="613346"/>
                  <a:pt x="6566471" y="645795"/>
                  <a:pt x="6621590" y="679260"/>
                </a:cubicBezTo>
                <a:cubicBezTo>
                  <a:pt x="6676644" y="712724"/>
                  <a:pt x="6730682" y="747332"/>
                  <a:pt x="6783324" y="782892"/>
                </a:cubicBezTo>
                <a:cubicBezTo>
                  <a:pt x="6836029" y="818451"/>
                  <a:pt x="6887528" y="855155"/>
                  <a:pt x="6937692" y="892746"/>
                </a:cubicBezTo>
                <a:cubicBezTo>
                  <a:pt x="6987794" y="930338"/>
                  <a:pt x="7036689" y="968946"/>
                  <a:pt x="7084123" y="1008507"/>
                </a:cubicBezTo>
                <a:cubicBezTo>
                  <a:pt x="7131558" y="1048004"/>
                  <a:pt x="7177722" y="1088517"/>
                  <a:pt x="7222299" y="1129856"/>
                </a:cubicBezTo>
                <a:cubicBezTo>
                  <a:pt x="7266940" y="1171130"/>
                  <a:pt x="7310184" y="1213421"/>
                  <a:pt x="7351840" y="1256411"/>
                </a:cubicBezTo>
                <a:cubicBezTo>
                  <a:pt x="7393496" y="1299464"/>
                  <a:pt x="7433754" y="1343342"/>
                  <a:pt x="7472362" y="1387920"/>
                </a:cubicBezTo>
                <a:cubicBezTo>
                  <a:pt x="7510970" y="1432560"/>
                  <a:pt x="7548054" y="1477962"/>
                  <a:pt x="7583551" y="1524000"/>
                </a:cubicBezTo>
                <a:cubicBezTo>
                  <a:pt x="7618984" y="1570038"/>
                  <a:pt x="7652893" y="1616837"/>
                  <a:pt x="7685024" y="1664208"/>
                </a:cubicBezTo>
                <a:cubicBezTo>
                  <a:pt x="7717218" y="1711642"/>
                  <a:pt x="7747826" y="1759712"/>
                  <a:pt x="7776654" y="1808290"/>
                </a:cubicBezTo>
                <a:cubicBezTo>
                  <a:pt x="7805484" y="1856867"/>
                  <a:pt x="7832662" y="1906079"/>
                  <a:pt x="7858062" y="1955673"/>
                </a:cubicBezTo>
                <a:cubicBezTo>
                  <a:pt x="7883462" y="2005330"/>
                  <a:pt x="7907210" y="2055559"/>
                  <a:pt x="7929118" y="2106104"/>
                </a:cubicBezTo>
                <a:cubicBezTo>
                  <a:pt x="7951026" y="2156714"/>
                  <a:pt x="7971155" y="2207768"/>
                  <a:pt x="7989506" y="2259140"/>
                </a:cubicBezTo>
                <a:cubicBezTo>
                  <a:pt x="8007858" y="2310511"/>
                  <a:pt x="8024432" y="2362264"/>
                  <a:pt x="8039164" y="2414270"/>
                </a:cubicBezTo>
                <a:cubicBezTo>
                  <a:pt x="8053959" y="2466276"/>
                  <a:pt x="8066849" y="2518664"/>
                  <a:pt x="8077962" y="2571178"/>
                </a:cubicBezTo>
                <a:cubicBezTo>
                  <a:pt x="8089074" y="2623693"/>
                  <a:pt x="8098346" y="2676525"/>
                  <a:pt x="8105712" y="2729421"/>
                </a:cubicBezTo>
                <a:cubicBezTo>
                  <a:pt x="8113141" y="2782252"/>
                  <a:pt x="8118729" y="2835402"/>
                  <a:pt x="8122412" y="2888488"/>
                </a:cubicBezTo>
                <a:cubicBezTo>
                  <a:pt x="8126158" y="2941574"/>
                  <a:pt x="8127047" y="3021393"/>
                  <a:pt x="8128000" y="3048000"/>
                </a:cubicBezTo>
              </a:path>
            </a:pathLst>
          </a:custGeom>
          <a:noFill/>
          <a:ln w="215900" cap="rnd">
            <a:solidFill>
              <a:srgbClr val="DCE7F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arc"/>
          <p:cNvSpPr/>
          <p:nvPr/>
        </p:nvSpPr>
        <p:spPr>
          <a:xfrm>
            <a:off x="2032000" y="2032000"/>
            <a:ext cx="8128000" cy="3048000"/>
          </a:xfrm>
          <a:custGeom>
            <a:avLst/>
            <a:gdLst/>
            <a:ahLst/>
            <a:cxnLst/>
            <a:rect l="0" t="0" r="r" b="b"/>
            <a:pathLst>
              <a:path w="8128000" h="3048000">
                <a:moveTo>
                  <a:pt x="0" y="3048000"/>
                </a:moveTo>
                <a:cubicBezTo>
                  <a:pt x="952" y="3021393"/>
                  <a:pt x="1842" y="2941574"/>
                  <a:pt x="5588" y="2888488"/>
                </a:cubicBezTo>
                <a:cubicBezTo>
                  <a:pt x="9271" y="2835402"/>
                  <a:pt x="14859" y="2782252"/>
                  <a:pt x="22288" y="2729421"/>
                </a:cubicBezTo>
                <a:cubicBezTo>
                  <a:pt x="29655" y="2676525"/>
                  <a:pt x="38925" y="2623693"/>
                  <a:pt x="50038" y="2571178"/>
                </a:cubicBezTo>
                <a:cubicBezTo>
                  <a:pt x="61150" y="2518664"/>
                  <a:pt x="74041" y="2466276"/>
                  <a:pt x="88837" y="2414270"/>
                </a:cubicBezTo>
                <a:cubicBezTo>
                  <a:pt x="103569" y="2362264"/>
                  <a:pt x="120142" y="2310511"/>
                  <a:pt x="138494" y="2259140"/>
                </a:cubicBezTo>
                <a:cubicBezTo>
                  <a:pt x="156845" y="2207768"/>
                  <a:pt x="176975" y="2156714"/>
                  <a:pt x="198882" y="2106104"/>
                </a:cubicBezTo>
                <a:cubicBezTo>
                  <a:pt x="220789" y="2055559"/>
                  <a:pt x="244538" y="2005330"/>
                  <a:pt x="269938" y="1955673"/>
                </a:cubicBezTo>
                <a:cubicBezTo>
                  <a:pt x="295338" y="1906079"/>
                  <a:pt x="322517" y="1856867"/>
                  <a:pt x="351345" y="1808290"/>
                </a:cubicBezTo>
                <a:cubicBezTo>
                  <a:pt x="380174" y="1759712"/>
                  <a:pt x="410782" y="1711642"/>
                  <a:pt x="442976" y="1664208"/>
                </a:cubicBezTo>
                <a:cubicBezTo>
                  <a:pt x="475107" y="1616837"/>
                  <a:pt x="509016" y="1570038"/>
                  <a:pt x="544449" y="1524000"/>
                </a:cubicBezTo>
                <a:cubicBezTo>
                  <a:pt x="579945" y="1477962"/>
                  <a:pt x="617030" y="1432560"/>
                  <a:pt x="655638" y="1387920"/>
                </a:cubicBezTo>
                <a:cubicBezTo>
                  <a:pt x="694245" y="1343342"/>
                  <a:pt x="734505" y="1299464"/>
                  <a:pt x="776161" y="1256411"/>
                </a:cubicBezTo>
                <a:cubicBezTo>
                  <a:pt x="817817" y="1213421"/>
                  <a:pt x="861060" y="1171130"/>
                  <a:pt x="905700" y="1129856"/>
                </a:cubicBezTo>
                <a:cubicBezTo>
                  <a:pt x="950277" y="1088517"/>
                  <a:pt x="996442" y="1048004"/>
                  <a:pt x="1043876" y="1008507"/>
                </a:cubicBezTo>
                <a:cubicBezTo>
                  <a:pt x="1091311" y="968946"/>
                  <a:pt x="1140206" y="930338"/>
                  <a:pt x="1190308" y="892746"/>
                </a:cubicBezTo>
                <a:cubicBezTo>
                  <a:pt x="1240473" y="855155"/>
                  <a:pt x="1291971" y="818451"/>
                  <a:pt x="1344676" y="782892"/>
                </a:cubicBezTo>
                <a:cubicBezTo>
                  <a:pt x="1397317" y="747332"/>
                  <a:pt x="1451356" y="712724"/>
                  <a:pt x="1506410" y="679260"/>
                </a:cubicBezTo>
                <a:cubicBezTo>
                  <a:pt x="1561528" y="645795"/>
                  <a:pt x="1617853" y="613346"/>
                  <a:pt x="1675257" y="582105"/>
                </a:cubicBezTo>
                <a:cubicBezTo>
                  <a:pt x="1732598" y="550862"/>
                  <a:pt x="1791145" y="520700"/>
                  <a:pt x="1850580" y="491744"/>
                </a:cubicBezTo>
                <a:cubicBezTo>
                  <a:pt x="1910016" y="462788"/>
                  <a:pt x="1970596" y="434912"/>
                  <a:pt x="2032000" y="408368"/>
                </a:cubicBezTo>
                <a:cubicBezTo>
                  <a:pt x="2093404" y="381762"/>
                  <a:pt x="2155825" y="356362"/>
                  <a:pt x="2219008" y="332232"/>
                </a:cubicBezTo>
                <a:cubicBezTo>
                  <a:pt x="2282126" y="308102"/>
                  <a:pt x="2346262" y="285115"/>
                  <a:pt x="2411032" y="263525"/>
                </a:cubicBezTo>
                <a:cubicBezTo>
                  <a:pt x="2475802" y="241871"/>
                  <a:pt x="2541397" y="221488"/>
                  <a:pt x="2607564" y="202438"/>
                </a:cubicBezTo>
                <a:cubicBezTo>
                  <a:pt x="2673795" y="183388"/>
                  <a:pt x="2740724" y="165608"/>
                  <a:pt x="2808160" y="149162"/>
                </a:cubicBezTo>
                <a:cubicBezTo>
                  <a:pt x="2875598" y="132779"/>
                  <a:pt x="2943670" y="117602"/>
                  <a:pt x="3012186" y="103886"/>
                </a:cubicBezTo>
                <a:cubicBezTo>
                  <a:pt x="3080639" y="90106"/>
                  <a:pt x="3149727" y="77661"/>
                  <a:pt x="3219069" y="66612"/>
                </a:cubicBezTo>
                <a:cubicBezTo>
                  <a:pt x="3288411" y="55562"/>
                  <a:pt x="3358198" y="45847"/>
                  <a:pt x="3428238" y="37529"/>
                </a:cubicBezTo>
                <a:cubicBezTo>
                  <a:pt x="3498278" y="29210"/>
                  <a:pt x="3568700" y="22225"/>
                  <a:pt x="3639185" y="16700"/>
                </a:cubicBezTo>
                <a:cubicBezTo>
                  <a:pt x="3709734" y="11112"/>
                  <a:pt x="3780536" y="6985"/>
                  <a:pt x="3851275" y="4191"/>
                </a:cubicBezTo>
                <a:cubicBezTo>
                  <a:pt x="3922078" y="1397"/>
                  <a:pt x="3993071" y="0"/>
                  <a:pt x="4064000" y="0"/>
                </a:cubicBezTo>
                <a:cubicBezTo>
                  <a:pt x="4134929" y="0"/>
                  <a:pt x="4205922" y="1397"/>
                  <a:pt x="4276725" y="4191"/>
                </a:cubicBezTo>
                <a:cubicBezTo>
                  <a:pt x="4347464" y="6985"/>
                  <a:pt x="4418266" y="11112"/>
                  <a:pt x="4488815" y="16700"/>
                </a:cubicBezTo>
                <a:cubicBezTo>
                  <a:pt x="4559300" y="22225"/>
                  <a:pt x="4629721" y="29210"/>
                  <a:pt x="4699762" y="37529"/>
                </a:cubicBezTo>
                <a:cubicBezTo>
                  <a:pt x="4769803" y="45847"/>
                  <a:pt x="4839589" y="55562"/>
                  <a:pt x="4908931" y="66612"/>
                </a:cubicBezTo>
                <a:cubicBezTo>
                  <a:pt x="4978273" y="77661"/>
                  <a:pt x="5047361" y="90106"/>
                  <a:pt x="5115814" y="103886"/>
                </a:cubicBezTo>
                <a:cubicBezTo>
                  <a:pt x="5184330" y="117602"/>
                  <a:pt x="5252403" y="132779"/>
                  <a:pt x="5319840" y="149162"/>
                </a:cubicBezTo>
                <a:cubicBezTo>
                  <a:pt x="5387277" y="165608"/>
                  <a:pt x="5454206" y="183388"/>
                  <a:pt x="5520436" y="202438"/>
                </a:cubicBezTo>
                <a:cubicBezTo>
                  <a:pt x="5586603" y="221488"/>
                  <a:pt x="5652198" y="241871"/>
                  <a:pt x="5716968" y="263525"/>
                </a:cubicBezTo>
                <a:cubicBezTo>
                  <a:pt x="5781738" y="285115"/>
                  <a:pt x="5845873" y="308102"/>
                  <a:pt x="5908992" y="332232"/>
                </a:cubicBezTo>
                <a:cubicBezTo>
                  <a:pt x="5972175" y="356362"/>
                  <a:pt x="6034596" y="381762"/>
                  <a:pt x="6096000" y="408368"/>
                </a:cubicBezTo>
                <a:cubicBezTo>
                  <a:pt x="6157404" y="434912"/>
                  <a:pt x="6217984" y="462788"/>
                  <a:pt x="6277420" y="491744"/>
                </a:cubicBezTo>
                <a:cubicBezTo>
                  <a:pt x="6336856" y="520700"/>
                  <a:pt x="6395403" y="550862"/>
                  <a:pt x="6452743" y="582105"/>
                </a:cubicBezTo>
                <a:cubicBezTo>
                  <a:pt x="6510147" y="613346"/>
                  <a:pt x="6566471" y="645795"/>
                  <a:pt x="6621590" y="679260"/>
                </a:cubicBezTo>
                <a:cubicBezTo>
                  <a:pt x="6676644" y="712724"/>
                  <a:pt x="6730682" y="747332"/>
                  <a:pt x="6783324" y="782892"/>
                </a:cubicBezTo>
                <a:cubicBezTo>
                  <a:pt x="6836029" y="818451"/>
                  <a:pt x="6887528" y="855155"/>
                  <a:pt x="6937692" y="892746"/>
                </a:cubicBezTo>
                <a:cubicBezTo>
                  <a:pt x="6987794" y="930338"/>
                  <a:pt x="7036689" y="968946"/>
                  <a:pt x="7084123" y="1008507"/>
                </a:cubicBezTo>
                <a:cubicBezTo>
                  <a:pt x="7131558" y="1048004"/>
                  <a:pt x="7177722" y="1088517"/>
                  <a:pt x="7222299" y="1129856"/>
                </a:cubicBezTo>
                <a:cubicBezTo>
                  <a:pt x="7266940" y="1171130"/>
                  <a:pt x="7310184" y="1213421"/>
                  <a:pt x="7351840" y="1256411"/>
                </a:cubicBezTo>
                <a:cubicBezTo>
                  <a:pt x="7393496" y="1299464"/>
                  <a:pt x="7433754" y="1343342"/>
                  <a:pt x="7472362" y="1387920"/>
                </a:cubicBezTo>
                <a:cubicBezTo>
                  <a:pt x="7510970" y="1432560"/>
                  <a:pt x="7548054" y="1477962"/>
                  <a:pt x="7583551" y="1524000"/>
                </a:cubicBezTo>
                <a:cubicBezTo>
                  <a:pt x="7618984" y="1570038"/>
                  <a:pt x="7652893" y="1616837"/>
                  <a:pt x="7685024" y="1664208"/>
                </a:cubicBezTo>
                <a:cubicBezTo>
                  <a:pt x="7717218" y="1711642"/>
                  <a:pt x="7747826" y="1759712"/>
                  <a:pt x="7776654" y="1808290"/>
                </a:cubicBezTo>
                <a:cubicBezTo>
                  <a:pt x="7805484" y="1856867"/>
                  <a:pt x="7832662" y="1906079"/>
                  <a:pt x="7858062" y="1955673"/>
                </a:cubicBezTo>
                <a:cubicBezTo>
                  <a:pt x="7883462" y="2005330"/>
                  <a:pt x="7907210" y="2055559"/>
                  <a:pt x="7929118" y="2106104"/>
                </a:cubicBezTo>
                <a:cubicBezTo>
                  <a:pt x="7951026" y="2156714"/>
                  <a:pt x="7971155" y="2207768"/>
                  <a:pt x="7989506" y="2259140"/>
                </a:cubicBezTo>
                <a:cubicBezTo>
                  <a:pt x="8007858" y="2310511"/>
                  <a:pt x="8024432" y="2362264"/>
                  <a:pt x="8039164" y="2414270"/>
                </a:cubicBezTo>
                <a:cubicBezTo>
                  <a:pt x="8053959" y="2466276"/>
                  <a:pt x="8066849" y="2518664"/>
                  <a:pt x="8077962" y="2571178"/>
                </a:cubicBezTo>
                <a:cubicBezTo>
                  <a:pt x="8089074" y="2623693"/>
                  <a:pt x="8098346" y="2676525"/>
                  <a:pt x="8105712" y="2729421"/>
                </a:cubicBezTo>
                <a:cubicBezTo>
                  <a:pt x="8113141" y="2782252"/>
                  <a:pt x="8118729" y="2835402"/>
                  <a:pt x="8122412" y="2888488"/>
                </a:cubicBezTo>
                <a:cubicBezTo>
                  <a:pt x="8126158" y="2941574"/>
                  <a:pt x="8127047" y="3021393"/>
                  <a:pt x="8128000" y="3048000"/>
                </a:cubicBezTo>
              </a:path>
            </a:pathLst>
          </a:custGeom>
          <a:noFill/>
          <a:ln w="25400" cap="rnd">
            <a:solidFill>
              <a:srgbClr val="1B5AA8">
                <a:alpha val="6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nd-o-1"/>
          <p:cNvSpPr/>
          <p:nvPr/>
        </p:nvSpPr>
        <p:spPr>
          <a:xfrm>
            <a:off x="1701800" y="4749800"/>
            <a:ext cx="660400" cy="6604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nd-1"/>
          <p:cNvSpPr/>
          <p:nvPr/>
        </p:nvSpPr>
        <p:spPr>
          <a:xfrm>
            <a:off x="1765300" y="4813300"/>
            <a:ext cx="533400" cy="533400"/>
          </a:xfrm>
          <a:prstGeom prst="ellipse">
            <a:avLst/>
          </a:prstGeom>
          <a:gradFill rotWithShape="1">
            <a:gsLst>
              <a:gs pos="0">
                <a:srgbClr val="305BA0"/>
              </a:gs>
              <a:gs pos="100000">
                <a:srgbClr val="0B3E8F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icon-doc"/>
          <p:cNvSpPr/>
          <p:nvPr/>
        </p:nvSpPr>
        <p:spPr>
          <a:xfrm>
            <a:off x="1983423" y="5004435"/>
            <a:ext cx="100775" cy="151130"/>
          </a:xfrm>
          <a:custGeom>
            <a:avLst/>
            <a:gdLst/>
            <a:ahLst/>
            <a:cxnLst/>
            <a:rect l="0" t="0" r="r" b="b"/>
            <a:pathLst>
              <a:path w="100775" h="151130">
                <a:moveTo>
                  <a:pt x="0" y="0"/>
                </a:moveTo>
                <a:lnTo>
                  <a:pt x="64770" y="0"/>
                </a:lnTo>
                <a:lnTo>
                  <a:pt x="100775" y="36004"/>
                </a:lnTo>
                <a:lnTo>
                  <a:pt x="100775" y="151130"/>
                </a:lnTo>
                <a:lnTo>
                  <a:pt x="0" y="151130"/>
                </a:lnTo>
                <a:close/>
                <a:moveTo>
                  <a:pt x="64770" y="0"/>
                </a:moveTo>
                <a:lnTo>
                  <a:pt x="64770" y="36004"/>
                </a:lnTo>
                <a:lnTo>
                  <a:pt x="100775" y="36004"/>
                </a:lnTo>
                <a:moveTo>
                  <a:pt x="23368" y="79185"/>
                </a:moveTo>
                <a:lnTo>
                  <a:pt x="77343" y="79185"/>
                </a:lnTo>
                <a:moveTo>
                  <a:pt x="23368" y="109728"/>
                </a:moveTo>
                <a:lnTo>
                  <a:pt x="77343" y="109728"/>
                </a:ln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no-1"/>
          <p:cNvSpPr/>
          <p:nvPr/>
        </p:nvSpPr>
        <p:spPr>
          <a:xfrm>
            <a:off x="2165350" y="4756150"/>
            <a:ext cx="190500" cy="1905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not-1"/>
          <p:cNvSpPr txBox="1"/>
          <p:nvPr/>
        </p:nvSpPr>
        <p:spPr>
          <a:xfrm>
            <a:off x="2195703" y="477335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17" name="sn-1"/>
          <p:cNvSpPr txBox="1"/>
          <p:nvPr/>
        </p:nvSpPr>
        <p:spPr>
          <a:xfrm>
            <a:off x="1617662" y="54300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签约交接</a:t>
            </a:r>
          </a:p>
        </p:txBody>
      </p:sp>
      <p:sp>
        <p:nvSpPr>
          <p:cNvPr id="18" name="sd-1"/>
          <p:cNvSpPr txBox="1"/>
          <p:nvPr/>
        </p:nvSpPr>
        <p:spPr>
          <a:xfrm>
            <a:off x="1544002" y="5695982"/>
            <a:ext cx="97599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销售与交付三方会</a:t>
            </a:r>
          </a:p>
        </p:txBody>
      </p:sp>
      <p:sp>
        <p:nvSpPr>
          <p:cNvPr id="19" name="so-1"/>
          <p:cNvSpPr/>
          <p:nvPr/>
        </p:nvSpPr>
        <p:spPr>
          <a:xfrm>
            <a:off x="1638300" y="5918200"/>
            <a:ext cx="787400" cy="190500"/>
          </a:xfrm>
          <a:custGeom>
            <a:avLst/>
            <a:gdLst/>
            <a:ahLst/>
            <a:cxnLst/>
            <a:rect l="0" t="0" r="r" b="b"/>
            <a:pathLst>
              <a:path w="787400" h="190500">
                <a:moveTo>
                  <a:pt x="95250" y="0"/>
                </a:moveTo>
                <a:lnTo>
                  <a:pt x="692150" y="0"/>
                </a:lnTo>
                <a:cubicBezTo>
                  <a:pt x="744728" y="0"/>
                  <a:pt x="787400" y="42672"/>
                  <a:pt x="787400" y="95250"/>
                </a:cubicBezTo>
                <a:lnTo>
                  <a:pt x="787400" y="95250"/>
                </a:lnTo>
                <a:cubicBezTo>
                  <a:pt x="787400" y="147828"/>
                  <a:pt x="744728" y="190500"/>
                  <a:pt x="6921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sot-1"/>
          <p:cNvSpPr txBox="1"/>
          <p:nvPr/>
        </p:nvSpPr>
        <p:spPr>
          <a:xfrm>
            <a:off x="1674178" y="5941758"/>
            <a:ext cx="71564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交付：交接清单</a:t>
            </a:r>
          </a:p>
        </p:txBody>
      </p:sp>
      <p:sp>
        <p:nvSpPr>
          <p:cNvPr id="21" name="nd-o-2"/>
          <p:cNvSpPr/>
          <p:nvPr/>
        </p:nvSpPr>
        <p:spPr>
          <a:xfrm>
            <a:off x="2319333" y="3134606"/>
            <a:ext cx="660400" cy="6604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nd-2"/>
          <p:cNvSpPr/>
          <p:nvPr/>
        </p:nvSpPr>
        <p:spPr>
          <a:xfrm>
            <a:off x="2382833" y="3198106"/>
            <a:ext cx="533400" cy="533400"/>
          </a:xfrm>
          <a:prstGeom prst="ellipse">
            <a:avLst/>
          </a:prstGeom>
          <a:gradFill rotWithShape="1">
            <a:gsLst>
              <a:gs pos="0">
                <a:srgbClr val="3667AB"/>
              </a:gs>
              <a:gs pos="100000">
                <a:srgbClr val="134C9C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icon-rocket"/>
          <p:cNvSpPr/>
          <p:nvPr/>
        </p:nvSpPr>
        <p:spPr>
          <a:xfrm>
            <a:off x="2590165" y="3385629"/>
            <a:ext cx="118745" cy="149352"/>
          </a:xfrm>
          <a:custGeom>
            <a:avLst/>
            <a:gdLst/>
            <a:ahLst/>
            <a:cxnLst/>
            <a:rect l="0" t="0" r="r" b="b"/>
            <a:pathLst>
              <a:path w="118745" h="149352">
                <a:moveTo>
                  <a:pt x="59373" y="0"/>
                </a:moveTo>
                <a:cubicBezTo>
                  <a:pt x="86360" y="19812"/>
                  <a:pt x="100775" y="50419"/>
                  <a:pt x="100775" y="82804"/>
                </a:cubicBezTo>
                <a:lnTo>
                  <a:pt x="80962" y="115189"/>
                </a:lnTo>
                <a:lnTo>
                  <a:pt x="37783" y="115189"/>
                </a:lnTo>
                <a:lnTo>
                  <a:pt x="17971" y="82804"/>
                </a:lnTo>
                <a:cubicBezTo>
                  <a:pt x="17971" y="50419"/>
                  <a:pt x="32385" y="19812"/>
                  <a:pt x="59373" y="0"/>
                </a:cubicBezTo>
                <a:close/>
                <a:moveTo>
                  <a:pt x="17971" y="107950"/>
                </a:moveTo>
                <a:lnTo>
                  <a:pt x="0" y="149352"/>
                </a:lnTo>
                <a:lnTo>
                  <a:pt x="37783" y="134938"/>
                </a:lnTo>
                <a:moveTo>
                  <a:pt x="100775" y="107950"/>
                </a:moveTo>
                <a:lnTo>
                  <a:pt x="118745" y="149352"/>
                </a:lnTo>
                <a:lnTo>
                  <a:pt x="80962" y="134938"/>
                </a:ln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no-2"/>
          <p:cNvSpPr/>
          <p:nvPr/>
        </p:nvSpPr>
        <p:spPr>
          <a:xfrm>
            <a:off x="2782883" y="3140956"/>
            <a:ext cx="190500" cy="1905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not-2"/>
          <p:cNvSpPr txBox="1"/>
          <p:nvPr/>
        </p:nvSpPr>
        <p:spPr>
          <a:xfrm>
            <a:off x="2813236" y="3158165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26" name="sn-2"/>
          <p:cNvSpPr txBox="1"/>
          <p:nvPr/>
        </p:nvSpPr>
        <p:spPr>
          <a:xfrm>
            <a:off x="1382708" y="3129050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上线启动</a:t>
            </a:r>
          </a:p>
        </p:txBody>
      </p:sp>
      <p:sp>
        <p:nvSpPr>
          <p:cNvPr id="27" name="sd-2"/>
          <p:cNvSpPr txBox="1"/>
          <p:nvPr/>
        </p:nvSpPr>
        <p:spPr>
          <a:xfrm>
            <a:off x="1449002" y="3394988"/>
            <a:ext cx="75628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两周完成部署</a:t>
            </a:r>
          </a:p>
        </p:txBody>
      </p:sp>
      <p:sp>
        <p:nvSpPr>
          <p:cNvPr id="28" name="so-2"/>
          <p:cNvSpPr/>
          <p:nvPr/>
        </p:nvSpPr>
        <p:spPr>
          <a:xfrm>
            <a:off x="1404938" y="3617214"/>
            <a:ext cx="787400" cy="190500"/>
          </a:xfrm>
          <a:custGeom>
            <a:avLst/>
            <a:gdLst/>
            <a:ahLst/>
            <a:cxnLst/>
            <a:rect l="0" t="0" r="r" b="b"/>
            <a:pathLst>
              <a:path w="787400" h="190500">
                <a:moveTo>
                  <a:pt x="95250" y="0"/>
                </a:moveTo>
                <a:lnTo>
                  <a:pt x="692150" y="0"/>
                </a:lnTo>
                <a:cubicBezTo>
                  <a:pt x="744728" y="0"/>
                  <a:pt x="787400" y="42609"/>
                  <a:pt x="787400" y="95250"/>
                </a:cubicBezTo>
                <a:lnTo>
                  <a:pt x="787400" y="95250"/>
                </a:lnTo>
                <a:cubicBezTo>
                  <a:pt x="787400" y="147828"/>
                  <a:pt x="744728" y="190500"/>
                  <a:pt x="692150" y="190500"/>
                </a:cubicBezTo>
                <a:lnTo>
                  <a:pt x="95250" y="190500"/>
                </a:lnTo>
                <a:cubicBezTo>
                  <a:pt x="42609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09"/>
                  <a:pt x="42609" y="0"/>
                  <a:pt x="95250" y="0"/>
                </a:cubicBezTo>
                <a:close/>
              </a:path>
            </a:pathLst>
          </a:custGeom>
          <a:solidFill>
            <a:srgbClr val="134C9C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sot-2"/>
          <p:cNvSpPr txBox="1"/>
          <p:nvPr/>
        </p:nvSpPr>
        <p:spPr>
          <a:xfrm>
            <a:off x="1440810" y="3640765"/>
            <a:ext cx="71564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交付：上线报告</a:t>
            </a:r>
          </a:p>
        </p:txBody>
      </p:sp>
      <p:sp>
        <p:nvSpPr>
          <p:cNvPr id="30" name="nd-o-3"/>
          <p:cNvSpPr/>
          <p:nvPr/>
        </p:nvSpPr>
        <p:spPr>
          <a:xfrm>
            <a:off x="4112822" y="1965313"/>
            <a:ext cx="660400" cy="6604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nd-3"/>
          <p:cNvSpPr/>
          <p:nvPr/>
        </p:nvSpPr>
        <p:spPr>
          <a:xfrm>
            <a:off x="4176322" y="2028813"/>
            <a:ext cx="533400" cy="533400"/>
          </a:xfrm>
          <a:prstGeom prst="ellipse">
            <a:avLst/>
          </a:prstGeom>
          <a:gradFill rotWithShape="1">
            <a:gsLst>
              <a:gs pos="0">
                <a:srgbClr val="3D73B5"/>
              </a:gs>
              <a:gs pos="100000">
                <a:srgbClr val="1B5AA8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icon-book"/>
          <p:cNvSpPr/>
          <p:nvPr/>
        </p:nvSpPr>
        <p:spPr>
          <a:xfrm>
            <a:off x="4374642" y="2234311"/>
            <a:ext cx="136779" cy="127762"/>
          </a:xfrm>
          <a:custGeom>
            <a:avLst/>
            <a:gdLst/>
            <a:ahLst/>
            <a:cxnLst/>
            <a:rect l="0" t="0" r="r" b="b"/>
            <a:pathLst>
              <a:path w="136779" h="127762">
                <a:moveTo>
                  <a:pt x="0" y="0"/>
                </a:moveTo>
                <a:lnTo>
                  <a:pt x="48578" y="0"/>
                </a:lnTo>
                <a:cubicBezTo>
                  <a:pt x="59373" y="0"/>
                  <a:pt x="68390" y="9017"/>
                  <a:pt x="68390" y="19812"/>
                </a:cubicBezTo>
                <a:lnTo>
                  <a:pt x="68390" y="127762"/>
                </a:lnTo>
                <a:cubicBezTo>
                  <a:pt x="68390" y="118745"/>
                  <a:pt x="60262" y="111569"/>
                  <a:pt x="50419" y="111569"/>
                </a:cubicBezTo>
                <a:lnTo>
                  <a:pt x="0" y="111569"/>
                </a:lnTo>
                <a:close/>
                <a:moveTo>
                  <a:pt x="136779" y="0"/>
                </a:moveTo>
                <a:lnTo>
                  <a:pt x="88201" y="0"/>
                </a:lnTo>
                <a:cubicBezTo>
                  <a:pt x="77407" y="0"/>
                  <a:pt x="68390" y="9017"/>
                  <a:pt x="68390" y="19812"/>
                </a:cubicBezTo>
                <a:lnTo>
                  <a:pt x="68390" y="127762"/>
                </a:lnTo>
                <a:cubicBezTo>
                  <a:pt x="68390" y="118745"/>
                  <a:pt x="76454" y="111569"/>
                  <a:pt x="86360" y="111569"/>
                </a:cubicBezTo>
                <a:lnTo>
                  <a:pt x="136779" y="111569"/>
                </a:lnTo>
                <a:close/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no-3"/>
          <p:cNvSpPr/>
          <p:nvPr/>
        </p:nvSpPr>
        <p:spPr>
          <a:xfrm>
            <a:off x="4576372" y="1971663"/>
            <a:ext cx="190500" cy="1905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not-3"/>
          <p:cNvSpPr txBox="1"/>
          <p:nvPr/>
        </p:nvSpPr>
        <p:spPr>
          <a:xfrm>
            <a:off x="4606725" y="1988872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1B5AA8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35" name="sn-3"/>
          <p:cNvSpPr txBox="1"/>
          <p:nvPr/>
        </p:nvSpPr>
        <p:spPr>
          <a:xfrm>
            <a:off x="4028685" y="1146957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培训赋能</a:t>
            </a:r>
          </a:p>
        </p:txBody>
      </p:sp>
      <p:sp>
        <p:nvSpPr>
          <p:cNvPr id="36" name="sd-3"/>
          <p:cNvSpPr txBox="1"/>
          <p:nvPr/>
        </p:nvSpPr>
        <p:spPr>
          <a:xfrm>
            <a:off x="4064880" y="1412895"/>
            <a:ext cx="75628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关键用户认证</a:t>
            </a:r>
          </a:p>
        </p:txBody>
      </p:sp>
      <p:sp>
        <p:nvSpPr>
          <p:cNvPr id="37" name="so-3"/>
          <p:cNvSpPr/>
          <p:nvPr/>
        </p:nvSpPr>
        <p:spPr>
          <a:xfrm>
            <a:off x="4049332" y="1635125"/>
            <a:ext cx="787400" cy="190500"/>
          </a:xfrm>
          <a:custGeom>
            <a:avLst/>
            <a:gdLst/>
            <a:ahLst/>
            <a:cxnLst/>
            <a:rect l="0" t="0" r="r" b="b"/>
            <a:pathLst>
              <a:path w="787400" h="190500">
                <a:moveTo>
                  <a:pt x="95250" y="0"/>
                </a:moveTo>
                <a:lnTo>
                  <a:pt x="692150" y="0"/>
                </a:lnTo>
                <a:cubicBezTo>
                  <a:pt x="744728" y="0"/>
                  <a:pt x="787400" y="42608"/>
                  <a:pt x="787400" y="95250"/>
                </a:cubicBezTo>
                <a:lnTo>
                  <a:pt x="787400" y="95250"/>
                </a:lnTo>
                <a:cubicBezTo>
                  <a:pt x="787400" y="147828"/>
                  <a:pt x="744728" y="190500"/>
                  <a:pt x="692150" y="190500"/>
                </a:cubicBezTo>
                <a:lnTo>
                  <a:pt x="95250" y="190500"/>
                </a:lnTo>
                <a:cubicBezTo>
                  <a:pt x="42608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08"/>
                  <a:pt x="42608" y="0"/>
                  <a:pt x="95250" y="0"/>
                </a:cubicBezTo>
                <a:close/>
              </a:path>
            </a:pathLst>
          </a:cu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sot-3"/>
          <p:cNvSpPr txBox="1"/>
          <p:nvPr/>
        </p:nvSpPr>
        <p:spPr>
          <a:xfrm>
            <a:off x="4085200" y="1658672"/>
            <a:ext cx="71564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交付：认证名单</a:t>
            </a:r>
          </a:p>
        </p:txBody>
      </p:sp>
      <p:sp>
        <p:nvSpPr>
          <p:cNvPr id="39" name="nd-o-4"/>
          <p:cNvSpPr/>
          <p:nvPr/>
        </p:nvSpPr>
        <p:spPr>
          <a:xfrm>
            <a:off x="7418778" y="1965313"/>
            <a:ext cx="660400" cy="6604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nd-4"/>
          <p:cNvSpPr/>
          <p:nvPr/>
        </p:nvSpPr>
        <p:spPr>
          <a:xfrm>
            <a:off x="7482278" y="2028813"/>
            <a:ext cx="533400" cy="533400"/>
          </a:xfrm>
          <a:prstGeom prst="ellipse">
            <a:avLst/>
          </a:prstGeom>
          <a:gradFill rotWithShape="1">
            <a:gsLst>
              <a:gs pos="0">
                <a:srgbClr val="457FC1"/>
              </a:gs>
              <a:gs pos="100000">
                <a:srgbClr val="2468B6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icon-chart"/>
          <p:cNvSpPr/>
          <p:nvPr/>
        </p:nvSpPr>
        <p:spPr>
          <a:xfrm>
            <a:off x="7673404" y="2268538"/>
            <a:ext cx="151130" cy="98933"/>
          </a:xfrm>
          <a:custGeom>
            <a:avLst/>
            <a:gdLst/>
            <a:ahLst/>
            <a:cxnLst/>
            <a:rect l="0" t="0" r="r" b="b"/>
            <a:pathLst>
              <a:path w="151130" h="98933">
                <a:moveTo>
                  <a:pt x="0" y="98933"/>
                </a:moveTo>
                <a:lnTo>
                  <a:pt x="151130" y="98933"/>
                </a:lnTo>
                <a:moveTo>
                  <a:pt x="34163" y="98933"/>
                </a:moveTo>
                <a:lnTo>
                  <a:pt x="34163" y="41338"/>
                </a:lnTo>
                <a:moveTo>
                  <a:pt x="75565" y="98933"/>
                </a:moveTo>
                <a:lnTo>
                  <a:pt x="75565" y="0"/>
                </a:lnTo>
                <a:moveTo>
                  <a:pt x="116967" y="98933"/>
                </a:moveTo>
                <a:lnTo>
                  <a:pt x="116967" y="61150"/>
                </a:ln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no-4"/>
          <p:cNvSpPr/>
          <p:nvPr/>
        </p:nvSpPr>
        <p:spPr>
          <a:xfrm>
            <a:off x="7882328" y="1971663"/>
            <a:ext cx="190500" cy="1905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not-4"/>
          <p:cNvSpPr txBox="1"/>
          <p:nvPr/>
        </p:nvSpPr>
        <p:spPr>
          <a:xfrm>
            <a:off x="7912681" y="1988872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44" name="sn-4"/>
          <p:cNvSpPr txBox="1"/>
          <p:nvPr/>
        </p:nvSpPr>
        <p:spPr>
          <a:xfrm>
            <a:off x="7334640" y="1146957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价值复盘</a:t>
            </a:r>
          </a:p>
        </p:txBody>
      </p:sp>
      <p:sp>
        <p:nvSpPr>
          <p:cNvPr id="45" name="sd-4"/>
          <p:cNvSpPr txBox="1"/>
          <p:nvPr/>
        </p:nvSpPr>
        <p:spPr>
          <a:xfrm>
            <a:off x="7370835" y="1412895"/>
            <a:ext cx="75628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季度业务回顾</a:t>
            </a:r>
          </a:p>
        </p:txBody>
      </p:sp>
      <p:sp>
        <p:nvSpPr>
          <p:cNvPr id="46" name="so-4"/>
          <p:cNvSpPr/>
          <p:nvPr/>
        </p:nvSpPr>
        <p:spPr>
          <a:xfrm>
            <a:off x="7260018" y="1635125"/>
            <a:ext cx="977900" cy="190500"/>
          </a:xfrm>
          <a:custGeom>
            <a:avLst/>
            <a:gdLst/>
            <a:ahLst/>
            <a:cxnLst/>
            <a:rect l="0" t="0" r="r" b="b"/>
            <a:pathLst>
              <a:path w="977900" h="190500">
                <a:moveTo>
                  <a:pt x="95250" y="0"/>
                </a:moveTo>
                <a:lnTo>
                  <a:pt x="882650" y="0"/>
                </a:lnTo>
                <a:cubicBezTo>
                  <a:pt x="935291" y="0"/>
                  <a:pt x="977900" y="42608"/>
                  <a:pt x="977900" y="95250"/>
                </a:cubicBezTo>
                <a:lnTo>
                  <a:pt x="977900" y="95250"/>
                </a:lnTo>
                <a:cubicBezTo>
                  <a:pt x="977900" y="147828"/>
                  <a:pt x="935291" y="190500"/>
                  <a:pt x="8826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08"/>
                  <a:pt x="42672" y="0"/>
                  <a:pt x="95250" y="0"/>
                </a:cubicBezTo>
                <a:close/>
              </a:path>
            </a:pathLst>
          </a:custGeom>
          <a:solidFill>
            <a:srgbClr val="2468B6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sot-4"/>
          <p:cNvSpPr txBox="1"/>
          <p:nvPr/>
        </p:nvSpPr>
        <p:spPr>
          <a:xfrm>
            <a:off x="7378582" y="1658672"/>
            <a:ext cx="740791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2468B6"/>
                </a:solidFill>
                <a:latin typeface="微软雅黑"/>
                <a:ea typeface="微软雅黑"/>
                <a:cs typeface="微软雅黑"/>
              </a:rPr>
              <a:t>交付：QBR 报告</a:t>
            </a:r>
          </a:p>
        </p:txBody>
      </p:sp>
      <p:sp>
        <p:nvSpPr>
          <p:cNvPr id="48" name="nd-o-5"/>
          <p:cNvSpPr/>
          <p:nvPr/>
        </p:nvSpPr>
        <p:spPr>
          <a:xfrm>
            <a:off x="9212267" y="3134606"/>
            <a:ext cx="660400" cy="6604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nd-5"/>
          <p:cNvSpPr/>
          <p:nvPr/>
        </p:nvSpPr>
        <p:spPr>
          <a:xfrm>
            <a:off x="9275767" y="3198106"/>
            <a:ext cx="533400" cy="533400"/>
          </a:xfrm>
          <a:prstGeom prst="ellipse">
            <a:avLst/>
          </a:prstGeom>
          <a:gradFill rotWithShape="1">
            <a:gsLst>
              <a:gs pos="0">
                <a:srgbClr val="4D8BCB"/>
              </a:gs>
              <a:gs pos="100000">
                <a:srgbClr val="2E77C2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icon-grow"/>
          <p:cNvSpPr/>
          <p:nvPr/>
        </p:nvSpPr>
        <p:spPr>
          <a:xfrm>
            <a:off x="9466898" y="3430651"/>
            <a:ext cx="134938" cy="84519"/>
          </a:xfrm>
          <a:custGeom>
            <a:avLst/>
            <a:gdLst/>
            <a:ahLst/>
            <a:cxnLst/>
            <a:rect l="0" t="0" r="r" b="b"/>
            <a:pathLst>
              <a:path w="134938" h="84519">
                <a:moveTo>
                  <a:pt x="0" y="84519"/>
                </a:moveTo>
                <a:lnTo>
                  <a:pt x="44958" y="35941"/>
                </a:lnTo>
                <a:lnTo>
                  <a:pt x="77343" y="62928"/>
                </a:lnTo>
                <a:lnTo>
                  <a:pt x="131318" y="0"/>
                </a:lnTo>
                <a:moveTo>
                  <a:pt x="109728" y="0"/>
                </a:moveTo>
                <a:lnTo>
                  <a:pt x="134938" y="0"/>
                </a:lnTo>
                <a:lnTo>
                  <a:pt x="134938" y="25146"/>
                </a:ln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no-5"/>
          <p:cNvSpPr/>
          <p:nvPr/>
        </p:nvSpPr>
        <p:spPr>
          <a:xfrm>
            <a:off x="9675817" y="3140956"/>
            <a:ext cx="190500" cy="1905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not-5"/>
          <p:cNvSpPr txBox="1"/>
          <p:nvPr/>
        </p:nvSpPr>
        <p:spPr>
          <a:xfrm>
            <a:off x="9706170" y="3158165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  <p:sp>
        <p:nvSpPr>
          <p:cNvPr id="53" name="sn-5"/>
          <p:cNvSpPr txBox="1"/>
          <p:nvPr/>
        </p:nvSpPr>
        <p:spPr>
          <a:xfrm>
            <a:off x="9980617" y="3129050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拓展增购</a:t>
            </a:r>
          </a:p>
        </p:txBody>
      </p:sp>
      <p:sp>
        <p:nvSpPr>
          <p:cNvPr id="54" name="sd-5"/>
          <p:cNvSpPr txBox="1"/>
          <p:nvPr/>
        </p:nvSpPr>
        <p:spPr>
          <a:xfrm>
            <a:off x="9986713" y="3394988"/>
            <a:ext cx="64643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识别新需求</a:t>
            </a:r>
          </a:p>
        </p:txBody>
      </p:sp>
      <p:sp>
        <p:nvSpPr>
          <p:cNvPr id="55" name="so-5"/>
          <p:cNvSpPr/>
          <p:nvPr/>
        </p:nvSpPr>
        <p:spPr>
          <a:xfrm>
            <a:off x="9999662" y="3617214"/>
            <a:ext cx="787400" cy="190500"/>
          </a:xfrm>
          <a:custGeom>
            <a:avLst/>
            <a:gdLst/>
            <a:ahLst/>
            <a:cxnLst/>
            <a:rect l="0" t="0" r="r" b="b"/>
            <a:pathLst>
              <a:path w="787400" h="190500">
                <a:moveTo>
                  <a:pt x="95250" y="0"/>
                </a:moveTo>
                <a:lnTo>
                  <a:pt x="692150" y="0"/>
                </a:lnTo>
                <a:cubicBezTo>
                  <a:pt x="744791" y="0"/>
                  <a:pt x="787400" y="42609"/>
                  <a:pt x="787400" y="95250"/>
                </a:cubicBezTo>
                <a:lnTo>
                  <a:pt x="787400" y="95250"/>
                </a:lnTo>
                <a:cubicBezTo>
                  <a:pt x="787400" y="147828"/>
                  <a:pt x="744791" y="190500"/>
                  <a:pt x="6921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09"/>
                  <a:pt x="42672" y="0"/>
                  <a:pt x="95250" y="0"/>
                </a:cubicBezTo>
                <a:close/>
              </a:path>
            </a:pathLst>
          </a:cu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sot-5"/>
          <p:cNvSpPr txBox="1"/>
          <p:nvPr/>
        </p:nvSpPr>
        <p:spPr>
          <a:xfrm>
            <a:off x="10035545" y="3640765"/>
            <a:ext cx="71564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交付：增购方案</a:t>
            </a:r>
          </a:p>
        </p:txBody>
      </p:sp>
      <p:sp>
        <p:nvSpPr>
          <p:cNvPr id="57" name="nd-o-6"/>
          <p:cNvSpPr/>
          <p:nvPr/>
        </p:nvSpPr>
        <p:spPr>
          <a:xfrm>
            <a:off x="9829800" y="4749800"/>
            <a:ext cx="660400" cy="6604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nd-6"/>
          <p:cNvSpPr/>
          <p:nvPr/>
        </p:nvSpPr>
        <p:spPr>
          <a:xfrm>
            <a:off x="9893300" y="4813300"/>
            <a:ext cx="533400" cy="533400"/>
          </a:xfrm>
          <a:prstGeom prst="ellipse">
            <a:avLst/>
          </a:prstGeom>
          <a:gradFill rotWithShape="1">
            <a:gsLst>
              <a:gs pos="0">
                <a:srgbClr val="E58558"/>
              </a:gs>
              <a:gs pos="100000">
                <a:srgbClr val="E0703A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icon-check"/>
          <p:cNvSpPr/>
          <p:nvPr/>
        </p:nvSpPr>
        <p:spPr>
          <a:xfrm>
            <a:off x="10102406" y="5040440"/>
            <a:ext cx="115189" cy="80962"/>
          </a:xfrm>
          <a:custGeom>
            <a:avLst/>
            <a:gdLst/>
            <a:ahLst/>
            <a:cxnLst/>
            <a:rect l="0" t="0" r="r" b="b"/>
            <a:pathLst>
              <a:path w="115189" h="80962">
                <a:moveTo>
                  <a:pt x="0" y="43180"/>
                </a:moveTo>
                <a:lnTo>
                  <a:pt x="37783" y="80962"/>
                </a:lnTo>
                <a:lnTo>
                  <a:pt x="115189" y="0"/>
                </a:ln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no-6"/>
          <p:cNvSpPr/>
          <p:nvPr/>
        </p:nvSpPr>
        <p:spPr>
          <a:xfrm>
            <a:off x="10293350" y="4756150"/>
            <a:ext cx="190500" cy="1905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not-6"/>
          <p:cNvSpPr txBox="1"/>
          <p:nvPr/>
        </p:nvSpPr>
        <p:spPr>
          <a:xfrm>
            <a:off x="10323703" y="477335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6</a:t>
            </a:r>
          </a:p>
        </p:txBody>
      </p:sp>
      <p:sp>
        <p:nvSpPr>
          <p:cNvPr id="62" name="sn-6"/>
          <p:cNvSpPr txBox="1"/>
          <p:nvPr/>
        </p:nvSpPr>
        <p:spPr>
          <a:xfrm>
            <a:off x="9917112" y="5430044"/>
            <a:ext cx="4857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续约</a:t>
            </a:r>
          </a:p>
        </p:txBody>
      </p:sp>
      <p:sp>
        <p:nvSpPr>
          <p:cNvPr id="63" name="sd-6"/>
          <p:cNvSpPr txBox="1"/>
          <p:nvPr/>
        </p:nvSpPr>
        <p:spPr>
          <a:xfrm>
            <a:off x="9712071" y="5695982"/>
            <a:ext cx="895858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提前 90 天启动</a:t>
            </a:r>
          </a:p>
        </p:txBody>
      </p:sp>
      <p:sp>
        <p:nvSpPr>
          <p:cNvPr id="64" name="so-6"/>
          <p:cNvSpPr/>
          <p:nvPr/>
        </p:nvSpPr>
        <p:spPr>
          <a:xfrm>
            <a:off x="9766300" y="5918200"/>
            <a:ext cx="787400" cy="190500"/>
          </a:xfrm>
          <a:custGeom>
            <a:avLst/>
            <a:gdLst/>
            <a:ahLst/>
            <a:cxnLst/>
            <a:rect l="0" t="0" r="r" b="b"/>
            <a:pathLst>
              <a:path w="787400" h="190500">
                <a:moveTo>
                  <a:pt x="95250" y="0"/>
                </a:moveTo>
                <a:lnTo>
                  <a:pt x="692150" y="0"/>
                </a:lnTo>
                <a:cubicBezTo>
                  <a:pt x="744728" y="0"/>
                  <a:pt x="787400" y="42672"/>
                  <a:pt x="787400" y="95250"/>
                </a:cubicBezTo>
                <a:lnTo>
                  <a:pt x="787400" y="95250"/>
                </a:lnTo>
                <a:cubicBezTo>
                  <a:pt x="787400" y="147828"/>
                  <a:pt x="744728" y="190500"/>
                  <a:pt x="6921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sot-6"/>
          <p:cNvSpPr txBox="1"/>
          <p:nvPr/>
        </p:nvSpPr>
        <p:spPr>
          <a:xfrm>
            <a:off x="9802178" y="5941758"/>
            <a:ext cx="71564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交付：续约合同</a:t>
            </a:r>
          </a:p>
        </p:txBody>
      </p:sp>
      <p:sp>
        <p:nvSpPr>
          <p:cNvPr id="66" name="c-v"/>
          <p:cNvSpPr txBox="1"/>
          <p:nvPr/>
        </p:nvSpPr>
        <p:spPr>
          <a:xfrm>
            <a:off x="5375148" y="2865882"/>
            <a:ext cx="1441704" cy="9779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44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92%</a:t>
            </a:r>
          </a:p>
        </p:txBody>
      </p:sp>
      <p:sp>
        <p:nvSpPr>
          <p:cNvPr id="67" name="c-l"/>
          <p:cNvSpPr txBox="1"/>
          <p:nvPr/>
        </p:nvSpPr>
        <p:spPr>
          <a:xfrm>
            <a:off x="5564188" y="3690144"/>
            <a:ext cx="10636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年度续约率</a:t>
            </a:r>
          </a:p>
        </p:txBody>
      </p:sp>
      <p:sp>
        <p:nvSpPr>
          <p:cNvPr id="68" name="c-p"/>
          <p:cNvSpPr txBox="1"/>
          <p:nvPr/>
        </p:nvSpPr>
        <p:spPr>
          <a:xfrm>
            <a:off x="4836636" y="4028361"/>
            <a:ext cx="251872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六步走完的客户，续约率比其他客户高 23 个点</a:t>
            </a:r>
          </a:p>
        </p:txBody>
      </p:sp>
      <p:sp>
        <p:nvSpPr>
          <p:cNvPr id="69" name="m-1"/>
          <p:cNvSpPr/>
          <p:nvPr/>
        </p:nvSpPr>
        <p:spPr>
          <a:xfrm>
            <a:off x="4025900" y="4445000"/>
            <a:ext cx="1219200" cy="533400"/>
          </a:xfrm>
          <a:custGeom>
            <a:avLst/>
            <a:gdLst/>
            <a:ahLst/>
            <a:cxnLst/>
            <a:rect l="0" t="0" r="r" b="b"/>
            <a:pathLst>
              <a:path w="1219200" h="533400">
                <a:moveTo>
                  <a:pt x="114300" y="0"/>
                </a:moveTo>
                <a:lnTo>
                  <a:pt x="1104900" y="0"/>
                </a:lnTo>
                <a:cubicBezTo>
                  <a:pt x="1168019" y="0"/>
                  <a:pt x="1219200" y="51181"/>
                  <a:pt x="1219200" y="114300"/>
                </a:cubicBezTo>
                <a:lnTo>
                  <a:pt x="1219200" y="419100"/>
                </a:lnTo>
                <a:cubicBezTo>
                  <a:pt x="1219200" y="482219"/>
                  <a:pt x="1168019" y="533400"/>
                  <a:pt x="1104900" y="533400"/>
                </a:cubicBezTo>
                <a:lnTo>
                  <a:pt x="114300" y="533400"/>
                </a:lnTo>
                <a:cubicBezTo>
                  <a:pt x="51181" y="533400"/>
                  <a:pt x="0" y="482219"/>
                  <a:pt x="0" y="4191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mv-1"/>
          <p:cNvSpPr txBox="1"/>
          <p:nvPr/>
        </p:nvSpPr>
        <p:spPr>
          <a:xfrm>
            <a:off x="4334891" y="4507802"/>
            <a:ext cx="601218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14 天</a:t>
            </a:r>
          </a:p>
        </p:txBody>
      </p:sp>
      <p:sp>
        <p:nvSpPr>
          <p:cNvPr id="71" name="ml-1"/>
          <p:cNvSpPr txBox="1"/>
          <p:nvPr/>
        </p:nvSpPr>
        <p:spPr>
          <a:xfrm>
            <a:off x="4397216" y="4775787"/>
            <a:ext cx="47656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平均上线</a:t>
            </a:r>
          </a:p>
        </p:txBody>
      </p:sp>
      <p:sp>
        <p:nvSpPr>
          <p:cNvPr id="72" name="m-2"/>
          <p:cNvSpPr/>
          <p:nvPr/>
        </p:nvSpPr>
        <p:spPr>
          <a:xfrm>
            <a:off x="5486400" y="4445000"/>
            <a:ext cx="1219200" cy="533400"/>
          </a:xfrm>
          <a:custGeom>
            <a:avLst/>
            <a:gdLst/>
            <a:ahLst/>
            <a:cxnLst/>
            <a:rect l="0" t="0" r="r" b="b"/>
            <a:pathLst>
              <a:path w="1219200" h="533400">
                <a:moveTo>
                  <a:pt x="114300" y="0"/>
                </a:moveTo>
                <a:lnTo>
                  <a:pt x="1104900" y="0"/>
                </a:lnTo>
                <a:cubicBezTo>
                  <a:pt x="1168019" y="0"/>
                  <a:pt x="1219200" y="51181"/>
                  <a:pt x="1219200" y="114300"/>
                </a:cubicBezTo>
                <a:lnTo>
                  <a:pt x="1219200" y="419100"/>
                </a:lnTo>
                <a:cubicBezTo>
                  <a:pt x="1219200" y="482219"/>
                  <a:pt x="1168019" y="533400"/>
                  <a:pt x="1104900" y="533400"/>
                </a:cubicBezTo>
                <a:lnTo>
                  <a:pt x="114300" y="533400"/>
                </a:lnTo>
                <a:cubicBezTo>
                  <a:pt x="51181" y="533400"/>
                  <a:pt x="0" y="482219"/>
                  <a:pt x="0" y="4191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mv-2"/>
          <p:cNvSpPr txBox="1"/>
          <p:nvPr/>
        </p:nvSpPr>
        <p:spPr>
          <a:xfrm>
            <a:off x="5842889" y="4507802"/>
            <a:ext cx="506222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4 次</a:t>
            </a:r>
          </a:p>
        </p:txBody>
      </p:sp>
      <p:sp>
        <p:nvSpPr>
          <p:cNvPr id="74" name="ml-2"/>
          <p:cNvSpPr txBox="1"/>
          <p:nvPr/>
        </p:nvSpPr>
        <p:spPr>
          <a:xfrm>
            <a:off x="5857716" y="4775787"/>
            <a:ext cx="47656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年度复盘</a:t>
            </a:r>
          </a:p>
        </p:txBody>
      </p:sp>
      <p:sp>
        <p:nvSpPr>
          <p:cNvPr id="75" name="m-3"/>
          <p:cNvSpPr/>
          <p:nvPr/>
        </p:nvSpPr>
        <p:spPr>
          <a:xfrm>
            <a:off x="6946900" y="4445000"/>
            <a:ext cx="1219200" cy="533400"/>
          </a:xfrm>
          <a:custGeom>
            <a:avLst/>
            <a:gdLst/>
            <a:ahLst/>
            <a:cxnLst/>
            <a:rect l="0" t="0" r="r" b="b"/>
            <a:pathLst>
              <a:path w="1219200" h="533400">
                <a:moveTo>
                  <a:pt x="114300" y="0"/>
                </a:moveTo>
                <a:lnTo>
                  <a:pt x="1104900" y="0"/>
                </a:lnTo>
                <a:cubicBezTo>
                  <a:pt x="1168019" y="0"/>
                  <a:pt x="1219200" y="51181"/>
                  <a:pt x="1219200" y="114300"/>
                </a:cubicBezTo>
                <a:lnTo>
                  <a:pt x="1219200" y="419100"/>
                </a:lnTo>
                <a:cubicBezTo>
                  <a:pt x="1219200" y="482219"/>
                  <a:pt x="1168019" y="533400"/>
                  <a:pt x="1104900" y="533400"/>
                </a:cubicBezTo>
                <a:lnTo>
                  <a:pt x="114300" y="533400"/>
                </a:lnTo>
                <a:cubicBezTo>
                  <a:pt x="51181" y="533400"/>
                  <a:pt x="0" y="482219"/>
                  <a:pt x="0" y="4191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mv-3"/>
          <p:cNvSpPr txBox="1"/>
          <p:nvPr/>
        </p:nvSpPr>
        <p:spPr>
          <a:xfrm>
            <a:off x="7339711" y="4507802"/>
            <a:ext cx="433578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31%</a:t>
            </a:r>
          </a:p>
        </p:txBody>
      </p:sp>
      <p:sp>
        <p:nvSpPr>
          <p:cNvPr id="77" name="ml-3"/>
          <p:cNvSpPr txBox="1"/>
          <p:nvPr/>
        </p:nvSpPr>
        <p:spPr>
          <a:xfrm>
            <a:off x="7367429" y="4775787"/>
            <a:ext cx="37814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增购率</a:t>
            </a:r>
          </a:p>
        </p:txBody>
      </p:sp>
      <p:cxnSp>
        <p:nvCxnSpPr>
          <p:cNvPr id="78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拱形流程 · 六个环节</a:t>
            </a:r>
          </a:p>
        </p:txBody>
      </p:sp>
      <p:sp>
        <p:nvSpPr>
          <p:cNvPr id="80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两周一个冲刺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17271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SCRUM SPRINT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7836281" y="673132"/>
            <a:ext cx="378447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需求池 → 冲刺待办 → 两周冲刺 → 可交付增量，用户反馈再回到需求池</a:t>
            </a:r>
          </a:p>
        </p:txBody>
      </p:sp>
      <p:sp>
        <p:nvSpPr>
          <p:cNvPr id="10" name="pb-h"/>
          <p:cNvSpPr txBox="1"/>
          <p:nvPr/>
        </p:nvSpPr>
        <p:spPr>
          <a:xfrm>
            <a:off x="933450" y="1823244"/>
            <a:ext cx="10001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产品需求池</a:t>
            </a:r>
          </a:p>
        </p:txBody>
      </p:sp>
      <p:sp>
        <p:nvSpPr>
          <p:cNvPr id="11" name="pb-e"/>
          <p:cNvSpPr txBox="1"/>
          <p:nvPr/>
        </p:nvSpPr>
        <p:spPr>
          <a:xfrm>
            <a:off x="941832" y="2100008"/>
            <a:ext cx="162928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25">
                <a:solidFill>
                  <a:srgbClr val="7E93AE"/>
                </a:solidFill>
                <a:latin typeface="Arial"/>
                <a:ea typeface="Arial"/>
                <a:cs typeface="Arial"/>
              </a:rPr>
              <a:t>PRODUCT BACKLOG · 120 项</a:t>
            </a:r>
          </a:p>
        </p:txBody>
      </p:sp>
      <p:sp>
        <p:nvSpPr>
          <p:cNvPr id="12" name="pb-1"/>
          <p:cNvSpPr/>
          <p:nvPr/>
        </p:nvSpPr>
        <p:spPr>
          <a:xfrm>
            <a:off x="952500" y="2413000"/>
            <a:ext cx="1587500" cy="241300"/>
          </a:xfrm>
          <a:custGeom>
            <a:avLst/>
            <a:gdLst/>
            <a:ahLst/>
            <a:cxnLst/>
            <a:rect l="0" t="0" r="r" b="b"/>
            <a:pathLst>
              <a:path w="1587500" h="241300">
                <a:moveTo>
                  <a:pt x="76200" y="0"/>
                </a:moveTo>
                <a:lnTo>
                  <a:pt x="1511300" y="0"/>
                </a:lnTo>
                <a:cubicBezTo>
                  <a:pt x="1553400" y="0"/>
                  <a:pt x="1587500" y="34100"/>
                  <a:pt x="1587500" y="76200"/>
                </a:cubicBezTo>
                <a:lnTo>
                  <a:pt x="1587500" y="165100"/>
                </a:lnTo>
                <a:cubicBezTo>
                  <a:pt x="1587500" y="207200"/>
                  <a:pt x="1553400" y="241300"/>
                  <a:pt x="1511300" y="241300"/>
                </a:cubicBezTo>
                <a:lnTo>
                  <a:pt x="76200" y="241300"/>
                </a:lnTo>
                <a:cubicBezTo>
                  <a:pt x="34100" y="241300"/>
                  <a:pt x="0" y="207200"/>
                  <a:pt x="0" y="1651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5797D4"/>
              </a:gs>
              <a:gs pos="100000">
                <a:srgbClr val="3985CD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pb-t1"/>
          <p:cNvSpPr txBox="1"/>
          <p:nvPr/>
        </p:nvSpPr>
        <p:spPr>
          <a:xfrm>
            <a:off x="1055370" y="2454116"/>
            <a:ext cx="6762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会员积分体系</a:t>
            </a:r>
          </a:p>
        </p:txBody>
      </p:sp>
      <p:sp>
        <p:nvSpPr>
          <p:cNvPr id="14" name="pb-2"/>
          <p:cNvSpPr/>
          <p:nvPr/>
        </p:nvSpPr>
        <p:spPr>
          <a:xfrm>
            <a:off x="996950" y="2705100"/>
            <a:ext cx="1498600" cy="241300"/>
          </a:xfrm>
          <a:custGeom>
            <a:avLst/>
            <a:gdLst/>
            <a:ahLst/>
            <a:cxnLst/>
            <a:rect l="0" t="0" r="r" b="b"/>
            <a:pathLst>
              <a:path w="1498600" h="241300">
                <a:moveTo>
                  <a:pt x="76200" y="0"/>
                </a:moveTo>
                <a:lnTo>
                  <a:pt x="1422400" y="0"/>
                </a:lnTo>
                <a:cubicBezTo>
                  <a:pt x="1464500" y="0"/>
                  <a:pt x="1498600" y="34100"/>
                  <a:pt x="1498600" y="76200"/>
                </a:cubicBezTo>
                <a:lnTo>
                  <a:pt x="1498600" y="165100"/>
                </a:lnTo>
                <a:cubicBezTo>
                  <a:pt x="1498600" y="207200"/>
                  <a:pt x="1464500" y="241300"/>
                  <a:pt x="1422400" y="241300"/>
                </a:cubicBezTo>
                <a:lnTo>
                  <a:pt x="76200" y="241300"/>
                </a:lnTo>
                <a:cubicBezTo>
                  <a:pt x="34100" y="241300"/>
                  <a:pt x="0" y="207200"/>
                  <a:pt x="0" y="1651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67A1D8"/>
              </a:gs>
              <a:gs pos="100000">
                <a:srgbClr val="498FD1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pb-t2"/>
          <p:cNvSpPr txBox="1"/>
          <p:nvPr/>
        </p:nvSpPr>
        <p:spPr>
          <a:xfrm>
            <a:off x="1099820" y="2746216"/>
            <a:ext cx="57785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移动端改版</a:t>
            </a:r>
          </a:p>
        </p:txBody>
      </p:sp>
      <p:sp>
        <p:nvSpPr>
          <p:cNvPr id="16" name="pb-3"/>
          <p:cNvSpPr/>
          <p:nvPr/>
        </p:nvSpPr>
        <p:spPr>
          <a:xfrm>
            <a:off x="1041400" y="2997200"/>
            <a:ext cx="1409700" cy="241300"/>
          </a:xfrm>
          <a:custGeom>
            <a:avLst/>
            <a:gdLst/>
            <a:ahLst/>
            <a:cxnLst/>
            <a:rect l="0" t="0" r="r" b="b"/>
            <a:pathLst>
              <a:path w="1409700" h="241300">
                <a:moveTo>
                  <a:pt x="76200" y="0"/>
                </a:moveTo>
                <a:lnTo>
                  <a:pt x="1333500" y="0"/>
                </a:lnTo>
                <a:cubicBezTo>
                  <a:pt x="1375600" y="0"/>
                  <a:pt x="1409700" y="34100"/>
                  <a:pt x="1409700" y="76200"/>
                </a:cubicBezTo>
                <a:lnTo>
                  <a:pt x="1409700" y="165100"/>
                </a:lnTo>
                <a:cubicBezTo>
                  <a:pt x="1409700" y="207200"/>
                  <a:pt x="1375600" y="241300"/>
                  <a:pt x="1333500" y="241300"/>
                </a:cubicBezTo>
                <a:lnTo>
                  <a:pt x="76200" y="241300"/>
                </a:lnTo>
                <a:cubicBezTo>
                  <a:pt x="34100" y="241300"/>
                  <a:pt x="0" y="207200"/>
                  <a:pt x="0" y="1651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76ABDC"/>
              </a:gs>
              <a:gs pos="100000">
                <a:srgbClr val="5999D5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pb-t3"/>
          <p:cNvSpPr txBox="1"/>
          <p:nvPr/>
        </p:nvSpPr>
        <p:spPr>
          <a:xfrm>
            <a:off x="1144270" y="3038316"/>
            <a:ext cx="4794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报表导出</a:t>
            </a:r>
          </a:p>
        </p:txBody>
      </p:sp>
      <p:sp>
        <p:nvSpPr>
          <p:cNvPr id="18" name="pb-4"/>
          <p:cNvSpPr/>
          <p:nvPr/>
        </p:nvSpPr>
        <p:spPr>
          <a:xfrm>
            <a:off x="1085850" y="3289300"/>
            <a:ext cx="1320800" cy="241300"/>
          </a:xfrm>
          <a:custGeom>
            <a:avLst/>
            <a:gdLst/>
            <a:ahLst/>
            <a:cxnLst/>
            <a:rect l="0" t="0" r="r" b="b"/>
            <a:pathLst>
              <a:path w="1320800" h="241300">
                <a:moveTo>
                  <a:pt x="76200" y="0"/>
                </a:moveTo>
                <a:lnTo>
                  <a:pt x="1244600" y="0"/>
                </a:lnTo>
                <a:cubicBezTo>
                  <a:pt x="1286700" y="0"/>
                  <a:pt x="1320800" y="34100"/>
                  <a:pt x="1320800" y="76200"/>
                </a:cubicBezTo>
                <a:lnTo>
                  <a:pt x="1320800" y="165100"/>
                </a:lnTo>
                <a:cubicBezTo>
                  <a:pt x="1320800" y="207200"/>
                  <a:pt x="1286700" y="241300"/>
                  <a:pt x="1244600" y="241300"/>
                </a:cubicBezTo>
                <a:lnTo>
                  <a:pt x="76200" y="241300"/>
                </a:lnTo>
                <a:cubicBezTo>
                  <a:pt x="34100" y="241300"/>
                  <a:pt x="0" y="207200"/>
                  <a:pt x="0" y="1651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86B5E0"/>
              </a:gs>
              <a:gs pos="100000">
                <a:srgbClr val="69A2D9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pb-t4"/>
          <p:cNvSpPr txBox="1"/>
          <p:nvPr/>
        </p:nvSpPr>
        <p:spPr>
          <a:xfrm>
            <a:off x="1188720" y="3330416"/>
            <a:ext cx="4794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消息中心</a:t>
            </a:r>
          </a:p>
        </p:txBody>
      </p:sp>
      <p:sp>
        <p:nvSpPr>
          <p:cNvPr id="20" name="pb-5"/>
          <p:cNvSpPr/>
          <p:nvPr/>
        </p:nvSpPr>
        <p:spPr>
          <a:xfrm>
            <a:off x="1130300" y="3581400"/>
            <a:ext cx="1231900" cy="241300"/>
          </a:xfrm>
          <a:custGeom>
            <a:avLst/>
            <a:gdLst/>
            <a:ahLst/>
            <a:cxnLst/>
            <a:rect l="0" t="0" r="r" b="b"/>
            <a:pathLst>
              <a:path w="1231900" h="241300">
                <a:moveTo>
                  <a:pt x="76200" y="0"/>
                </a:moveTo>
                <a:lnTo>
                  <a:pt x="1155700" y="0"/>
                </a:lnTo>
                <a:cubicBezTo>
                  <a:pt x="1197800" y="0"/>
                  <a:pt x="1231900" y="34100"/>
                  <a:pt x="1231900" y="76200"/>
                </a:cubicBezTo>
                <a:lnTo>
                  <a:pt x="1231900" y="165100"/>
                </a:lnTo>
                <a:cubicBezTo>
                  <a:pt x="1231900" y="207200"/>
                  <a:pt x="1197800" y="241300"/>
                  <a:pt x="1155700" y="241300"/>
                </a:cubicBezTo>
                <a:lnTo>
                  <a:pt x="76200" y="241300"/>
                </a:lnTo>
                <a:cubicBezTo>
                  <a:pt x="34100" y="241300"/>
                  <a:pt x="0" y="207200"/>
                  <a:pt x="0" y="1651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96BEE4"/>
              </a:gs>
              <a:gs pos="100000">
                <a:srgbClr val="78ACDD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pb-t5"/>
          <p:cNvSpPr txBox="1"/>
          <p:nvPr/>
        </p:nvSpPr>
        <p:spPr>
          <a:xfrm>
            <a:off x="1233170" y="3622516"/>
            <a:ext cx="857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endParaRPr/>
          </a:p>
        </p:txBody>
      </p:sp>
      <p:sp>
        <p:nvSpPr>
          <p:cNvPr id="22" name="pb-6"/>
          <p:cNvSpPr/>
          <p:nvPr/>
        </p:nvSpPr>
        <p:spPr>
          <a:xfrm>
            <a:off x="1174750" y="3873500"/>
            <a:ext cx="1143000" cy="241300"/>
          </a:xfrm>
          <a:custGeom>
            <a:avLst/>
            <a:gdLst/>
            <a:ahLst/>
            <a:cxnLst/>
            <a:rect l="0" t="0" r="r" b="b"/>
            <a:pathLst>
              <a:path w="1143000" h="241300">
                <a:moveTo>
                  <a:pt x="76200" y="0"/>
                </a:moveTo>
                <a:lnTo>
                  <a:pt x="1066800" y="0"/>
                </a:lnTo>
                <a:cubicBezTo>
                  <a:pt x="1108900" y="0"/>
                  <a:pt x="1143000" y="34100"/>
                  <a:pt x="1143000" y="76200"/>
                </a:cubicBezTo>
                <a:lnTo>
                  <a:pt x="1143000" y="165100"/>
                </a:lnTo>
                <a:cubicBezTo>
                  <a:pt x="1143000" y="207200"/>
                  <a:pt x="1108900" y="241300"/>
                  <a:pt x="1066800" y="241300"/>
                </a:cubicBezTo>
                <a:lnTo>
                  <a:pt x="76200" y="241300"/>
                </a:lnTo>
                <a:cubicBezTo>
                  <a:pt x="34100" y="241300"/>
                  <a:pt x="0" y="207200"/>
                  <a:pt x="0" y="1651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A6C8E8"/>
              </a:gs>
              <a:gs pos="100000">
                <a:srgbClr val="88B6E1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pb-t6"/>
          <p:cNvSpPr txBox="1"/>
          <p:nvPr/>
        </p:nvSpPr>
        <p:spPr>
          <a:xfrm>
            <a:off x="1277620" y="3914616"/>
            <a:ext cx="857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endParaRPr/>
          </a:p>
        </p:txBody>
      </p:sp>
      <p:cxnSp>
        <p:nvCxnSpPr>
          <p:cNvPr id="24" name="a1"/>
          <p:cNvCxnSpPr/>
          <p:nvPr/>
        </p:nvCxnSpPr>
        <p:spPr>
          <a:xfrm>
            <a:off x="2667000" y="3175000"/>
            <a:ext cx="368300" cy="0"/>
          </a:xfrm>
          <a:prstGeom prst="line">
            <a:avLst/>
          </a:prstGeom>
          <a:ln w="25400" cap="rnd">
            <a:solidFill>
              <a:srgbClr val="1B5AA8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a1-h"/>
          <p:cNvSpPr/>
          <p:nvPr/>
        </p:nvSpPr>
        <p:spPr>
          <a:xfrm>
            <a:off x="3022600" y="3111500"/>
            <a:ext cx="101600" cy="127000"/>
          </a:xfrm>
          <a:custGeom>
            <a:avLst/>
            <a:gdLst/>
            <a:ahLst/>
            <a:cxnLst/>
            <a:rect l="0" t="0" r="r" b="b"/>
            <a:pathLst>
              <a:path w="101600" h="127000">
                <a:moveTo>
                  <a:pt x="0" y="0"/>
                </a:moveTo>
                <a:lnTo>
                  <a:pt x="101600" y="63500"/>
                </a:lnTo>
                <a:lnTo>
                  <a:pt x="0" y="127000"/>
                </a:lnTo>
                <a:close/>
              </a:path>
            </a:pathLst>
          </a:custGeom>
          <a:solidFill>
            <a:srgbClr val="1B5AA8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a1-t"/>
          <p:cNvSpPr txBox="1"/>
          <p:nvPr/>
        </p:nvSpPr>
        <p:spPr>
          <a:xfrm>
            <a:off x="2760345" y="2963608"/>
            <a:ext cx="2705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50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排序</a:t>
            </a:r>
          </a:p>
        </p:txBody>
      </p:sp>
      <p:sp>
        <p:nvSpPr>
          <p:cNvPr id="27" name="sb-h"/>
          <p:cNvSpPr txBox="1"/>
          <p:nvPr/>
        </p:nvSpPr>
        <p:spPr>
          <a:xfrm>
            <a:off x="3219450" y="18232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冲刺待办</a:t>
            </a:r>
          </a:p>
        </p:txBody>
      </p:sp>
      <p:sp>
        <p:nvSpPr>
          <p:cNvPr id="28" name="sb-e"/>
          <p:cNvSpPr txBox="1"/>
          <p:nvPr/>
        </p:nvSpPr>
        <p:spPr>
          <a:xfrm>
            <a:off x="3227832" y="2100008"/>
            <a:ext cx="149796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25">
                <a:solidFill>
                  <a:srgbClr val="7E93AE"/>
                </a:solidFill>
                <a:latin typeface="Arial"/>
                <a:ea typeface="Arial"/>
                <a:cs typeface="Arial"/>
              </a:rPr>
              <a:t>SPRINT BACKLOG · 18 项</a:t>
            </a:r>
          </a:p>
        </p:txBody>
      </p:sp>
      <p:sp>
        <p:nvSpPr>
          <p:cNvPr id="29" name="sb-1"/>
          <p:cNvSpPr/>
          <p:nvPr/>
        </p:nvSpPr>
        <p:spPr>
          <a:xfrm>
            <a:off x="3238500" y="2413000"/>
            <a:ext cx="1587500" cy="241300"/>
          </a:xfrm>
          <a:custGeom>
            <a:avLst/>
            <a:gdLst/>
            <a:ahLst/>
            <a:cxnLst/>
            <a:rect l="0" t="0" r="r" b="b"/>
            <a:pathLst>
              <a:path w="1587500" h="241300">
                <a:moveTo>
                  <a:pt x="76200" y="0"/>
                </a:moveTo>
                <a:lnTo>
                  <a:pt x="1511300" y="0"/>
                </a:lnTo>
                <a:cubicBezTo>
                  <a:pt x="1553400" y="0"/>
                  <a:pt x="1587500" y="34100"/>
                  <a:pt x="1587500" y="76200"/>
                </a:cubicBezTo>
                <a:lnTo>
                  <a:pt x="1587500" y="165100"/>
                </a:lnTo>
                <a:cubicBezTo>
                  <a:pt x="1587500" y="207200"/>
                  <a:pt x="1553400" y="241300"/>
                  <a:pt x="1511300" y="241300"/>
                </a:cubicBezTo>
                <a:lnTo>
                  <a:pt x="76200" y="241300"/>
                </a:lnTo>
                <a:cubicBezTo>
                  <a:pt x="34100" y="241300"/>
                  <a:pt x="0" y="207200"/>
                  <a:pt x="0" y="1651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3667AB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sb-t1"/>
          <p:cNvSpPr txBox="1"/>
          <p:nvPr/>
        </p:nvSpPr>
        <p:spPr>
          <a:xfrm>
            <a:off x="3341370" y="2454116"/>
            <a:ext cx="6762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会员积分体系</a:t>
            </a:r>
          </a:p>
        </p:txBody>
      </p:sp>
      <p:sp>
        <p:nvSpPr>
          <p:cNvPr id="31" name="sb-2"/>
          <p:cNvSpPr/>
          <p:nvPr/>
        </p:nvSpPr>
        <p:spPr>
          <a:xfrm>
            <a:off x="3282950" y="2705100"/>
            <a:ext cx="1498600" cy="241300"/>
          </a:xfrm>
          <a:custGeom>
            <a:avLst/>
            <a:gdLst/>
            <a:ahLst/>
            <a:cxnLst/>
            <a:rect l="0" t="0" r="r" b="b"/>
            <a:pathLst>
              <a:path w="1498600" h="241300">
                <a:moveTo>
                  <a:pt x="76200" y="0"/>
                </a:moveTo>
                <a:lnTo>
                  <a:pt x="1422400" y="0"/>
                </a:lnTo>
                <a:cubicBezTo>
                  <a:pt x="1464500" y="0"/>
                  <a:pt x="1498600" y="34100"/>
                  <a:pt x="1498600" y="76200"/>
                </a:cubicBezTo>
                <a:lnTo>
                  <a:pt x="1498600" y="165100"/>
                </a:lnTo>
                <a:cubicBezTo>
                  <a:pt x="1498600" y="207200"/>
                  <a:pt x="1464500" y="241300"/>
                  <a:pt x="1422400" y="241300"/>
                </a:cubicBezTo>
                <a:lnTo>
                  <a:pt x="76200" y="241300"/>
                </a:lnTo>
                <a:cubicBezTo>
                  <a:pt x="34100" y="241300"/>
                  <a:pt x="0" y="207200"/>
                  <a:pt x="0" y="1651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4975B3"/>
              </a:gs>
              <a:gs pos="100000">
                <a:srgbClr val="265AA4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sb-t2"/>
          <p:cNvSpPr txBox="1"/>
          <p:nvPr/>
        </p:nvSpPr>
        <p:spPr>
          <a:xfrm>
            <a:off x="3385820" y="2746216"/>
            <a:ext cx="57785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移动端改版</a:t>
            </a:r>
          </a:p>
        </p:txBody>
      </p:sp>
      <p:sp>
        <p:nvSpPr>
          <p:cNvPr id="33" name="sb-3"/>
          <p:cNvSpPr/>
          <p:nvPr/>
        </p:nvSpPr>
        <p:spPr>
          <a:xfrm>
            <a:off x="3327400" y="2997200"/>
            <a:ext cx="1409700" cy="241300"/>
          </a:xfrm>
          <a:custGeom>
            <a:avLst/>
            <a:gdLst/>
            <a:ahLst/>
            <a:cxnLst/>
            <a:rect l="0" t="0" r="r" b="b"/>
            <a:pathLst>
              <a:path w="1409700" h="241300">
                <a:moveTo>
                  <a:pt x="76200" y="0"/>
                </a:moveTo>
                <a:lnTo>
                  <a:pt x="1333500" y="0"/>
                </a:lnTo>
                <a:cubicBezTo>
                  <a:pt x="1375600" y="0"/>
                  <a:pt x="1409700" y="34100"/>
                  <a:pt x="1409700" y="76200"/>
                </a:cubicBezTo>
                <a:lnTo>
                  <a:pt x="1409700" y="165100"/>
                </a:lnTo>
                <a:cubicBezTo>
                  <a:pt x="1409700" y="207200"/>
                  <a:pt x="1375600" y="241300"/>
                  <a:pt x="1333500" y="241300"/>
                </a:cubicBezTo>
                <a:lnTo>
                  <a:pt x="76200" y="241300"/>
                </a:lnTo>
                <a:cubicBezTo>
                  <a:pt x="34100" y="241300"/>
                  <a:pt x="0" y="207200"/>
                  <a:pt x="0" y="1651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5C83BB"/>
              </a:gs>
              <a:gs pos="100000">
                <a:srgbClr val="3969A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sb-t3"/>
          <p:cNvSpPr txBox="1"/>
          <p:nvPr/>
        </p:nvSpPr>
        <p:spPr>
          <a:xfrm>
            <a:off x="3430270" y="3038316"/>
            <a:ext cx="4794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报表导出</a:t>
            </a:r>
          </a:p>
        </p:txBody>
      </p:sp>
      <p:cxnSp>
        <p:nvCxnSpPr>
          <p:cNvPr id="35" name="a2"/>
          <p:cNvCxnSpPr/>
          <p:nvPr/>
        </p:nvCxnSpPr>
        <p:spPr>
          <a:xfrm>
            <a:off x="4889500" y="3175000"/>
            <a:ext cx="101600" cy="0"/>
          </a:xfrm>
          <a:prstGeom prst="line">
            <a:avLst/>
          </a:prstGeom>
          <a:ln w="25400" cap="rnd">
            <a:solidFill>
              <a:srgbClr val="1B5AA8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a2-h"/>
          <p:cNvSpPr/>
          <p:nvPr/>
        </p:nvSpPr>
        <p:spPr>
          <a:xfrm>
            <a:off x="4978400" y="3111500"/>
            <a:ext cx="101600" cy="127000"/>
          </a:xfrm>
          <a:custGeom>
            <a:avLst/>
            <a:gdLst/>
            <a:ahLst/>
            <a:cxnLst/>
            <a:rect l="0" t="0" r="r" b="b"/>
            <a:pathLst>
              <a:path w="101600" h="127000">
                <a:moveTo>
                  <a:pt x="0" y="0"/>
                </a:moveTo>
                <a:lnTo>
                  <a:pt x="101600" y="63500"/>
                </a:lnTo>
                <a:lnTo>
                  <a:pt x="0" y="127000"/>
                </a:lnTo>
                <a:close/>
              </a:path>
            </a:pathLst>
          </a:custGeom>
          <a:solidFill>
            <a:srgbClr val="1B5AA8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loop-halo"/>
          <p:cNvSpPr/>
          <p:nvPr/>
        </p:nvSpPr>
        <p:spPr>
          <a:xfrm>
            <a:off x="5105400" y="1930400"/>
            <a:ext cx="2489200" cy="2489200"/>
          </a:xfrm>
          <a:prstGeom prst="ellipse">
            <a:avLst/>
          </a:prstGeom>
          <a:solidFill>
            <a:srgbClr val="DCE7F6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loop"/>
          <p:cNvSpPr/>
          <p:nvPr/>
        </p:nvSpPr>
        <p:spPr>
          <a:xfrm>
            <a:off x="5270597" y="2096159"/>
            <a:ext cx="2158884" cy="2078109"/>
          </a:xfrm>
          <a:custGeom>
            <a:avLst/>
            <a:gdLst/>
            <a:ahLst/>
            <a:cxnLst/>
            <a:rect l="0" t="0" r="r" b="b"/>
            <a:pathLst>
              <a:path w="2158884" h="2078109">
                <a:moveTo>
                  <a:pt x="657001" y="2072299"/>
                </a:moveTo>
                <a:cubicBezTo>
                  <a:pt x="235602" y="1893130"/>
                  <a:pt x="-26909" y="1467595"/>
                  <a:pt x="2046" y="1010605"/>
                </a:cubicBezTo>
                <a:cubicBezTo>
                  <a:pt x="31000" y="553615"/>
                  <a:pt x="345120" y="164615"/>
                  <a:pt x="785762" y="40064"/>
                </a:cubicBezTo>
                <a:cubicBezTo>
                  <a:pt x="1226404" y="-84486"/>
                  <a:pt x="1697681" y="82517"/>
                  <a:pt x="1961581" y="456730"/>
                </a:cubicBezTo>
                <a:cubicBezTo>
                  <a:pt x="2225480" y="830943"/>
                  <a:pt x="2224575" y="1330934"/>
                  <a:pt x="1959323" y="1704189"/>
                </a:cubicBezTo>
                <a:lnTo>
                  <a:pt x="1992978" y="1728129"/>
                </a:lnTo>
                <a:quadBezTo>
                  <a:pt x="2021426" y="1748385"/>
                  <a:pt x="1954751" y="1769213"/>
                </a:quadBezTo>
                <a:lnTo>
                  <a:pt x="1786920" y="1821728"/>
                </a:lnTo>
                <a:quadBezTo>
                  <a:pt x="1720245" y="1842556"/>
                  <a:pt x="1730786" y="1773468"/>
                </a:quadBezTo>
                <a:lnTo>
                  <a:pt x="1752122" y="1633450"/>
                </a:lnTo>
                <a:quadBezTo>
                  <a:pt x="1762600" y="1564426"/>
                  <a:pt x="1791111" y="1584682"/>
                </a:quadBezTo>
                <a:lnTo>
                  <a:pt x="1824703" y="1608558"/>
                </a:lnTo>
                <a:cubicBezTo>
                  <a:pt x="2048931" y="1293042"/>
                  <a:pt x="2050205" y="870524"/>
                  <a:pt x="1827882" y="553662"/>
                </a:cubicBezTo>
                <a:cubicBezTo>
                  <a:pt x="1605560" y="236800"/>
                  <a:pt x="1207813" y="94250"/>
                  <a:pt x="834832" y="197759"/>
                </a:cubicBezTo>
                <a:cubicBezTo>
                  <a:pt x="461852" y="301267"/>
                  <a:pt x="194452" y="628408"/>
                  <a:pt x="167219" y="1014525"/>
                </a:cubicBezTo>
                <a:cubicBezTo>
                  <a:pt x="139986" y="1400643"/>
                  <a:pt x="358820" y="1762078"/>
                  <a:pt x="713580" y="1916914"/>
                </a:cubicBezTo>
                <a:quadBezTo>
                  <a:pt x="766666" y="1938123"/>
                  <a:pt x="747108" y="1991781"/>
                </a:quadBezTo>
                <a:lnTo>
                  <a:pt x="729709" y="2039533"/>
                </a:lnTo>
                <a:quadBezTo>
                  <a:pt x="710214" y="2093254"/>
                  <a:pt x="657001" y="2072299"/>
                </a:quad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loop-t"/>
          <p:cNvSpPr txBox="1"/>
          <p:nvPr/>
        </p:nvSpPr>
        <p:spPr>
          <a:xfrm>
            <a:off x="5876290" y="2841117"/>
            <a:ext cx="9474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1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两周冲刺</a:t>
            </a:r>
          </a:p>
        </p:txBody>
      </p:sp>
      <p:sp>
        <p:nvSpPr>
          <p:cNvPr id="40" name="loop-e"/>
          <p:cNvSpPr txBox="1"/>
          <p:nvPr/>
        </p:nvSpPr>
        <p:spPr>
          <a:xfrm>
            <a:off x="5731891" y="3179508"/>
            <a:ext cx="123621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SPRINT · 10 个工作日</a:t>
            </a:r>
          </a:p>
        </p:txBody>
      </p:sp>
      <p:sp>
        <p:nvSpPr>
          <p:cNvPr id="41" name="daily-bg"/>
          <p:cNvSpPr/>
          <p:nvPr/>
        </p:nvSpPr>
        <p:spPr>
          <a:xfrm>
            <a:off x="6819900" y="1612900"/>
            <a:ext cx="965200" cy="965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daily"/>
          <p:cNvSpPr/>
          <p:nvPr/>
        </p:nvSpPr>
        <p:spPr>
          <a:xfrm>
            <a:off x="6883732" y="1676650"/>
            <a:ext cx="837840" cy="762399"/>
          </a:xfrm>
          <a:custGeom>
            <a:avLst/>
            <a:gdLst/>
            <a:ahLst/>
            <a:cxnLst/>
            <a:rect l="0" t="0" r="r" b="b"/>
            <a:pathLst>
              <a:path w="837840" h="762399">
                <a:moveTo>
                  <a:pt x="161847" y="749939"/>
                </a:moveTo>
                <a:cubicBezTo>
                  <a:pt x="-18717" y="609819"/>
                  <a:pt x="-53720" y="350864"/>
                  <a:pt x="83164" y="167835"/>
                </a:cubicBezTo>
                <a:cubicBezTo>
                  <a:pt x="220048" y="-15195"/>
                  <a:pt x="478338" y="-54802"/>
                  <a:pt x="663776" y="78802"/>
                </a:cubicBezTo>
                <a:cubicBezTo>
                  <a:pt x="849213" y="212406"/>
                  <a:pt x="893411" y="469951"/>
                  <a:pt x="763129" y="657737"/>
                </a:cubicBezTo>
                <a:lnTo>
                  <a:pt x="786624" y="674057"/>
                </a:lnTo>
                <a:quadBezTo>
                  <a:pt x="804848" y="686693"/>
                  <a:pt x="762113" y="698885"/>
                </a:quadBezTo>
                <a:lnTo>
                  <a:pt x="648829" y="731143"/>
                </a:lnTo>
                <a:quadBezTo>
                  <a:pt x="606093" y="743335"/>
                  <a:pt x="617079" y="700219"/>
                </a:quadBezTo>
                <a:lnTo>
                  <a:pt x="637335" y="621161"/>
                </a:lnTo>
                <a:quadBezTo>
                  <a:pt x="648321" y="578108"/>
                  <a:pt x="666609" y="590808"/>
                </a:quadBezTo>
                <a:lnTo>
                  <a:pt x="690104" y="607064"/>
                </a:lnTo>
                <a:cubicBezTo>
                  <a:pt x="791837" y="460402"/>
                  <a:pt x="758606" y="259443"/>
                  <a:pt x="615074" y="153339"/>
                </a:cubicBezTo>
                <a:cubicBezTo>
                  <a:pt x="471543" y="47234"/>
                  <a:pt x="269674" y="74398"/>
                  <a:pt x="159295" y="214668"/>
                </a:cubicBezTo>
                <a:cubicBezTo>
                  <a:pt x="48916" y="354939"/>
                  <a:pt x="69987" y="557534"/>
                  <a:pt x="206869" y="672088"/>
                </a:cubicBezTo>
                <a:quadBezTo>
                  <a:pt x="253668" y="704791"/>
                  <a:pt x="225093" y="754321"/>
                </a:quadBezTo>
                <a:lnTo>
                  <a:pt x="237793" y="732286"/>
                </a:lnTo>
                <a:quadBezTo>
                  <a:pt x="209218" y="781816"/>
                  <a:pt x="161847" y="749939"/>
                </a:quad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daily-t"/>
          <p:cNvSpPr txBox="1"/>
          <p:nvPr/>
        </p:nvSpPr>
        <p:spPr>
          <a:xfrm>
            <a:off x="7025322" y="1949482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每日站会</a:t>
            </a:r>
          </a:p>
        </p:txBody>
      </p:sp>
      <p:sp>
        <p:nvSpPr>
          <p:cNvPr id="44" name="daily-s"/>
          <p:cNvSpPr txBox="1"/>
          <p:nvPr/>
        </p:nvSpPr>
        <p:spPr>
          <a:xfrm>
            <a:off x="7098919" y="2125408"/>
            <a:ext cx="4071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15 分钟</a:t>
            </a:r>
          </a:p>
        </p:txBody>
      </p:sp>
      <p:cxnSp>
        <p:nvCxnSpPr>
          <p:cNvPr id="45" name="a3"/>
          <p:cNvCxnSpPr/>
          <p:nvPr/>
        </p:nvCxnSpPr>
        <p:spPr>
          <a:xfrm>
            <a:off x="7620000" y="3175000"/>
            <a:ext cx="736600" cy="0"/>
          </a:xfrm>
          <a:prstGeom prst="line">
            <a:avLst/>
          </a:prstGeom>
          <a:ln w="25400" cap="rnd">
            <a:solidFill>
              <a:srgbClr val="1B5AA8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a3-h"/>
          <p:cNvSpPr/>
          <p:nvPr/>
        </p:nvSpPr>
        <p:spPr>
          <a:xfrm>
            <a:off x="8343900" y="3111500"/>
            <a:ext cx="101600" cy="127000"/>
          </a:xfrm>
          <a:custGeom>
            <a:avLst/>
            <a:gdLst/>
            <a:ahLst/>
            <a:cxnLst/>
            <a:rect l="0" t="0" r="r" b="b"/>
            <a:pathLst>
              <a:path w="101600" h="127000">
                <a:moveTo>
                  <a:pt x="0" y="0"/>
                </a:moveTo>
                <a:lnTo>
                  <a:pt x="101600" y="63500"/>
                </a:lnTo>
                <a:lnTo>
                  <a:pt x="0" y="127000"/>
                </a:lnTo>
                <a:close/>
              </a:path>
            </a:pathLst>
          </a:custGeom>
          <a:solidFill>
            <a:srgbClr val="1B5AA8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inc"/>
          <p:cNvSpPr/>
          <p:nvPr/>
        </p:nvSpPr>
        <p:spPr>
          <a:xfrm>
            <a:off x="8572500" y="2413000"/>
            <a:ext cx="1524000" cy="1524000"/>
          </a:xfrm>
          <a:custGeom>
            <a:avLst/>
            <a:gdLst/>
            <a:ahLst/>
            <a:cxnLst/>
            <a:rect l="0" t="0" r="r" b="b"/>
            <a:pathLst>
              <a:path w="1524000" h="1524000">
                <a:moveTo>
                  <a:pt x="165100" y="0"/>
                </a:moveTo>
                <a:lnTo>
                  <a:pt x="1358900" y="0"/>
                </a:lnTo>
                <a:cubicBezTo>
                  <a:pt x="1450086" y="0"/>
                  <a:pt x="1524000" y="73914"/>
                  <a:pt x="1524000" y="165100"/>
                </a:cubicBezTo>
                <a:lnTo>
                  <a:pt x="1524000" y="1358900"/>
                </a:lnTo>
                <a:cubicBezTo>
                  <a:pt x="1524000" y="1450086"/>
                  <a:pt x="1450086" y="1524000"/>
                  <a:pt x="1358900" y="1524000"/>
                </a:cubicBezTo>
                <a:lnTo>
                  <a:pt x="165100" y="1524000"/>
                </a:lnTo>
                <a:cubicBezTo>
                  <a:pt x="73914" y="1524000"/>
                  <a:pt x="0" y="1450086"/>
                  <a:pt x="0" y="13589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gradFill rotWithShape="1">
            <a:gsLst>
              <a:gs pos="0">
                <a:srgbClr val="E37E4E"/>
              </a:gs>
              <a:gs pos="100000">
                <a:srgbClr val="E0703A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icon-rocket"/>
          <p:cNvSpPr/>
          <p:nvPr/>
        </p:nvSpPr>
        <p:spPr>
          <a:xfrm>
            <a:off x="9264650" y="2726246"/>
            <a:ext cx="139700" cy="175705"/>
          </a:xfrm>
          <a:custGeom>
            <a:avLst/>
            <a:gdLst/>
            <a:ahLst/>
            <a:cxnLst/>
            <a:rect l="0" t="0" r="r" b="b"/>
            <a:pathLst>
              <a:path w="139700" h="175705">
                <a:moveTo>
                  <a:pt x="69850" y="0"/>
                </a:moveTo>
                <a:cubicBezTo>
                  <a:pt x="101600" y="23305"/>
                  <a:pt x="118555" y="59309"/>
                  <a:pt x="118555" y="97409"/>
                </a:cubicBezTo>
                <a:lnTo>
                  <a:pt x="95250" y="135509"/>
                </a:lnTo>
                <a:lnTo>
                  <a:pt x="44450" y="135509"/>
                </a:lnTo>
                <a:lnTo>
                  <a:pt x="21145" y="97409"/>
                </a:lnTo>
                <a:cubicBezTo>
                  <a:pt x="21145" y="59309"/>
                  <a:pt x="38100" y="23305"/>
                  <a:pt x="69850" y="0"/>
                </a:cubicBezTo>
                <a:close/>
                <a:moveTo>
                  <a:pt x="21145" y="127000"/>
                </a:moveTo>
                <a:lnTo>
                  <a:pt x="0" y="175705"/>
                </a:lnTo>
                <a:lnTo>
                  <a:pt x="44450" y="158750"/>
                </a:lnTo>
                <a:moveTo>
                  <a:pt x="118555" y="127000"/>
                </a:moveTo>
                <a:lnTo>
                  <a:pt x="139700" y="175705"/>
                </a:lnTo>
                <a:lnTo>
                  <a:pt x="95250" y="158750"/>
                </a:lnTo>
              </a:path>
            </a:pathLst>
          </a:custGeom>
          <a:noFill/>
          <a:ln w="1524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inc-t"/>
          <p:cNvSpPr txBox="1"/>
          <p:nvPr/>
        </p:nvSpPr>
        <p:spPr>
          <a:xfrm>
            <a:off x="8853170" y="3088386"/>
            <a:ext cx="9626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可交付增量</a:t>
            </a:r>
          </a:p>
        </p:txBody>
      </p:sp>
      <p:sp>
        <p:nvSpPr>
          <p:cNvPr id="50" name="inc-e"/>
          <p:cNvSpPr txBox="1"/>
          <p:nvPr/>
        </p:nvSpPr>
        <p:spPr>
          <a:xfrm>
            <a:off x="8984742" y="3370008"/>
            <a:ext cx="69951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0">
                <a:solidFill>
                  <a:srgbClr val="FBE3D6"/>
                </a:solidFill>
                <a:latin typeface="Arial"/>
                <a:ea typeface="Arial"/>
                <a:cs typeface="Arial"/>
              </a:rPr>
              <a:t>INCREMENT</a:t>
            </a:r>
          </a:p>
        </p:txBody>
      </p:sp>
      <p:sp>
        <p:nvSpPr>
          <p:cNvPr id="51" name="inc-p"/>
          <p:cNvSpPr txBox="1"/>
          <p:nvPr/>
        </p:nvSpPr>
        <p:spPr>
          <a:xfrm>
            <a:off x="8947150" y="3628866"/>
            <a:ext cx="77470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每两周上线一次</a:t>
            </a:r>
          </a:p>
        </p:txBody>
      </p:sp>
      <p:sp>
        <p:nvSpPr>
          <p:cNvPr id="52" name="fb-1"/>
          <p:cNvSpPr txBox="1"/>
          <p:nvPr/>
        </p:nvSpPr>
        <p:spPr>
          <a:xfrm>
            <a:off x="10273284" y="2843340"/>
            <a:ext cx="3568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用户</a:t>
            </a:r>
          </a:p>
        </p:txBody>
      </p:sp>
      <p:sp>
        <p:nvSpPr>
          <p:cNvPr id="53" name="fb-2"/>
          <p:cNvSpPr txBox="1"/>
          <p:nvPr/>
        </p:nvSpPr>
        <p:spPr>
          <a:xfrm>
            <a:off x="10273284" y="3033840"/>
            <a:ext cx="3568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使用</a:t>
            </a:r>
          </a:p>
        </p:txBody>
      </p:sp>
      <p:sp>
        <p:nvSpPr>
          <p:cNvPr id="54" name="chip"/>
          <p:cNvSpPr/>
          <p:nvPr/>
        </p:nvSpPr>
        <p:spPr>
          <a:xfrm>
            <a:off x="10731500" y="2908300"/>
            <a:ext cx="381000" cy="381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chip-ring"/>
          <p:cNvSpPr/>
          <p:nvPr/>
        </p:nvSpPr>
        <p:spPr>
          <a:xfrm>
            <a:off x="10731500" y="2908300"/>
            <a:ext cx="381000" cy="381000"/>
          </a:xfrm>
          <a:prstGeom prst="ellipse">
            <a:avLst/>
          </a:prstGeom>
          <a:noFill/>
          <a:ln w="6350" cap="rnd">
            <a:solidFill>
              <a:srgbClr val="1B5AA8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icon-people"/>
          <p:cNvSpPr/>
          <p:nvPr/>
        </p:nvSpPr>
        <p:spPr>
          <a:xfrm>
            <a:off x="10859770" y="3118040"/>
            <a:ext cx="125920" cy="35560"/>
          </a:xfrm>
          <a:custGeom>
            <a:avLst/>
            <a:gdLst/>
            <a:ahLst/>
            <a:cxnLst/>
            <a:rect l="0" t="0" r="r" b="b"/>
            <a:pathLst>
              <a:path w="125920" h="35560">
                <a:moveTo>
                  <a:pt x="0" y="35560"/>
                </a:moveTo>
                <a:cubicBezTo>
                  <a:pt x="0" y="13335"/>
                  <a:pt x="18542" y="0"/>
                  <a:pt x="40005" y="0"/>
                </a:cubicBezTo>
                <a:cubicBezTo>
                  <a:pt x="61468" y="0"/>
                  <a:pt x="80010" y="13335"/>
                  <a:pt x="80010" y="35560"/>
                </a:cubicBezTo>
                <a:moveTo>
                  <a:pt x="94806" y="2985"/>
                </a:moveTo>
                <a:cubicBezTo>
                  <a:pt x="114110" y="5207"/>
                  <a:pt x="125920" y="18542"/>
                  <a:pt x="125920" y="35560"/>
                </a:cubicBez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icon-people"/>
          <p:cNvSpPr/>
          <p:nvPr/>
        </p:nvSpPr>
        <p:spPr>
          <a:xfrm>
            <a:off x="10876068" y="3054350"/>
            <a:ext cx="47413" cy="47413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icon-people"/>
          <p:cNvSpPr/>
          <p:nvPr/>
        </p:nvSpPr>
        <p:spPr>
          <a:xfrm>
            <a:off x="10939780" y="3054350"/>
            <a:ext cx="38523" cy="38523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fb"/>
          <p:cNvSpPr/>
          <p:nvPr/>
        </p:nvSpPr>
        <p:spPr>
          <a:xfrm>
            <a:off x="1746250" y="3314700"/>
            <a:ext cx="9175750" cy="1638300"/>
          </a:xfrm>
          <a:custGeom>
            <a:avLst/>
            <a:gdLst/>
            <a:ahLst/>
            <a:cxnLst/>
            <a:rect l="0" t="0" r="r" b="b"/>
            <a:pathLst>
              <a:path w="9175750" h="1638300">
                <a:moveTo>
                  <a:pt x="9175750" y="0"/>
                </a:moveTo>
                <a:cubicBezTo>
                  <a:pt x="9175750" y="1511300"/>
                  <a:pt x="7143750" y="1638300"/>
                  <a:pt x="4349750" y="1638300"/>
                </a:cubicBezTo>
                <a:cubicBezTo>
                  <a:pt x="1555750" y="1638300"/>
                  <a:pt x="0" y="1511300"/>
                  <a:pt x="0" y="1066800"/>
                </a:cubicBezTo>
              </a:path>
            </a:pathLst>
          </a:custGeom>
          <a:noFill/>
          <a:ln w="19050" cap="rnd">
            <a:solidFill>
              <a:srgbClr val="E0703A">
                <a:alpha val="7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fb-h"/>
          <p:cNvSpPr/>
          <p:nvPr/>
        </p:nvSpPr>
        <p:spPr>
          <a:xfrm>
            <a:off x="1670050" y="4343400"/>
            <a:ext cx="152400" cy="127000"/>
          </a:xfrm>
          <a:custGeom>
            <a:avLst/>
            <a:gdLst/>
            <a:ahLst/>
            <a:cxnLst/>
            <a:rect l="0" t="0" r="r" b="b"/>
            <a:pathLst>
              <a:path w="152400" h="127000">
                <a:moveTo>
                  <a:pt x="0" y="127000"/>
                </a:moveTo>
                <a:lnTo>
                  <a:pt x="76200" y="0"/>
                </a:lnTo>
                <a:lnTo>
                  <a:pt x="152400" y="127000"/>
                </a:lnTo>
              </a:path>
            </a:pathLst>
          </a:custGeom>
          <a:noFill/>
          <a:ln w="19050" cap="rnd">
            <a:solidFill>
              <a:srgbClr val="E0703A">
                <a:alpha val="8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fb-tag"/>
          <p:cNvSpPr/>
          <p:nvPr/>
        </p:nvSpPr>
        <p:spPr>
          <a:xfrm>
            <a:off x="5461000" y="4813300"/>
            <a:ext cx="1270000" cy="266700"/>
          </a:xfrm>
          <a:custGeom>
            <a:avLst/>
            <a:gdLst/>
            <a:ahLst/>
            <a:cxnLst/>
            <a:rect l="0" t="0" r="r" b="b"/>
            <a:pathLst>
              <a:path w="1270000" h="266700">
                <a:moveTo>
                  <a:pt x="133350" y="0"/>
                </a:moveTo>
                <a:lnTo>
                  <a:pt x="1136650" y="0"/>
                </a:lnTo>
                <a:cubicBezTo>
                  <a:pt x="1210310" y="0"/>
                  <a:pt x="1270000" y="59690"/>
                  <a:pt x="1270000" y="133350"/>
                </a:cubicBezTo>
                <a:lnTo>
                  <a:pt x="1270000" y="133350"/>
                </a:lnTo>
                <a:cubicBezTo>
                  <a:pt x="1270000" y="207010"/>
                  <a:pt x="1210310" y="266700"/>
                  <a:pt x="1136650" y="266700"/>
                </a:cubicBezTo>
                <a:lnTo>
                  <a:pt x="133350" y="266700"/>
                </a:lnTo>
                <a:cubicBezTo>
                  <a:pt x="59690" y="266700"/>
                  <a:pt x="0" y="207010"/>
                  <a:pt x="0" y="133350"/>
                </a:cubicBezTo>
                <a:lnTo>
                  <a:pt x="0" y="133350"/>
                </a:lnTo>
                <a:cubicBezTo>
                  <a:pt x="0" y="59690"/>
                  <a:pt x="59690" y="0"/>
                  <a:pt x="133350" y="0"/>
                </a:cubicBezTo>
                <a:close/>
              </a:path>
            </a:pathLst>
          </a:custGeom>
          <a:solidFill>
            <a:srgbClr val="FFFFFF"/>
          </a:solidFill>
          <a:ln w="9525" cap="rnd">
            <a:solidFill>
              <a:srgbClr val="E0703A">
                <a:alpha val="5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fb-tag-t"/>
          <p:cNvSpPr txBox="1"/>
          <p:nvPr/>
        </p:nvSpPr>
        <p:spPr>
          <a:xfrm>
            <a:off x="5672455" y="4865624"/>
            <a:ext cx="84709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反馈回流需求池</a:t>
            </a:r>
          </a:p>
        </p:txBody>
      </p:sp>
      <p:sp>
        <p:nvSpPr>
          <p:cNvPr id="63" name="mt-1"/>
          <p:cNvSpPr/>
          <p:nvPr/>
        </p:nvSpPr>
        <p:spPr>
          <a:xfrm>
            <a:off x="952500" y="5397500"/>
            <a:ext cx="2476500" cy="685800"/>
          </a:xfrm>
          <a:custGeom>
            <a:avLst/>
            <a:gdLst/>
            <a:ahLst/>
            <a:cxnLst/>
            <a:rect l="0" t="0" r="r" b="b"/>
            <a:pathLst>
              <a:path w="2476500" h="685800">
                <a:moveTo>
                  <a:pt x="114300" y="0"/>
                </a:moveTo>
                <a:lnTo>
                  <a:pt x="2362200" y="0"/>
                </a:lnTo>
                <a:cubicBezTo>
                  <a:pt x="2425319" y="0"/>
                  <a:pt x="2476500" y="51181"/>
                  <a:pt x="2476500" y="114300"/>
                </a:cubicBezTo>
                <a:lnTo>
                  <a:pt x="2476500" y="571500"/>
                </a:lnTo>
                <a:cubicBezTo>
                  <a:pt x="2476500" y="634619"/>
                  <a:pt x="2425319" y="685800"/>
                  <a:pt x="2362200" y="685800"/>
                </a:cubicBezTo>
                <a:lnTo>
                  <a:pt x="114300" y="685800"/>
                </a:lnTo>
                <a:cubicBezTo>
                  <a:pt x="51181" y="685800"/>
                  <a:pt x="0" y="634619"/>
                  <a:pt x="0" y="571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mtb-1"/>
          <p:cNvSpPr/>
          <p:nvPr/>
        </p:nvSpPr>
        <p:spPr>
          <a:xfrm>
            <a:off x="952500" y="5397500"/>
            <a:ext cx="38100" cy="685800"/>
          </a:xfrm>
          <a:custGeom>
            <a:avLst/>
            <a:gdLst/>
            <a:ahLst/>
            <a:cxnLst/>
            <a:rect l="0" t="0" r="r" b="b"/>
            <a:pathLst>
              <a:path w="38100" h="6858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66750"/>
                </a:lnTo>
                <a:cubicBezTo>
                  <a:pt x="38100" y="677291"/>
                  <a:pt x="29591" y="685800"/>
                  <a:pt x="19050" y="685800"/>
                </a:cubicBezTo>
                <a:lnTo>
                  <a:pt x="19050" y="685800"/>
                </a:lnTo>
                <a:cubicBezTo>
                  <a:pt x="8509" y="685800"/>
                  <a:pt x="0" y="677291"/>
                  <a:pt x="0" y="6667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chip"/>
          <p:cNvSpPr/>
          <p:nvPr/>
        </p:nvSpPr>
        <p:spPr>
          <a:xfrm>
            <a:off x="1117600" y="5575300"/>
            <a:ext cx="330200" cy="330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chip-ring"/>
          <p:cNvSpPr/>
          <p:nvPr/>
        </p:nvSpPr>
        <p:spPr>
          <a:xfrm>
            <a:off x="1117600" y="5575300"/>
            <a:ext cx="330200" cy="330200"/>
          </a:xfrm>
          <a:prstGeom prst="ellipse">
            <a:avLst/>
          </a:prstGeom>
          <a:noFill/>
          <a:ln w="6350" cap="rnd">
            <a:solidFill>
              <a:srgbClr val="0B3E8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icon-calendar"/>
          <p:cNvSpPr/>
          <p:nvPr/>
        </p:nvSpPr>
        <p:spPr>
          <a:xfrm>
            <a:off x="1235710" y="5687060"/>
            <a:ext cx="93980" cy="101600"/>
          </a:xfrm>
          <a:custGeom>
            <a:avLst/>
            <a:gdLst/>
            <a:ahLst/>
            <a:cxnLst/>
            <a:rect l="0" t="0" r="r" b="b"/>
            <a:pathLst>
              <a:path w="93980" h="101600">
                <a:moveTo>
                  <a:pt x="0" y="17780"/>
                </a:moveTo>
                <a:lnTo>
                  <a:pt x="93980" y="17780"/>
                </a:lnTo>
                <a:lnTo>
                  <a:pt x="93980" y="101600"/>
                </a:lnTo>
                <a:lnTo>
                  <a:pt x="0" y="101600"/>
                </a:lnTo>
                <a:close/>
                <a:moveTo>
                  <a:pt x="0" y="43180"/>
                </a:moveTo>
                <a:lnTo>
                  <a:pt x="93980" y="43180"/>
                </a:lnTo>
                <a:moveTo>
                  <a:pt x="25400" y="0"/>
                </a:moveTo>
                <a:lnTo>
                  <a:pt x="25400" y="25400"/>
                </a:lnTo>
                <a:moveTo>
                  <a:pt x="68580" y="0"/>
                </a:moveTo>
                <a:lnTo>
                  <a:pt x="68580" y="25400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mtn-1"/>
          <p:cNvSpPr txBox="1"/>
          <p:nvPr/>
        </p:nvSpPr>
        <p:spPr>
          <a:xfrm>
            <a:off x="1546860" y="5532755"/>
            <a:ext cx="79692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冲刺计划会</a:t>
            </a:r>
          </a:p>
        </p:txBody>
      </p:sp>
      <p:sp>
        <p:nvSpPr>
          <p:cNvPr id="69" name="mtt-1"/>
          <p:cNvSpPr txBox="1"/>
          <p:nvPr/>
        </p:nvSpPr>
        <p:spPr>
          <a:xfrm>
            <a:off x="1550670" y="5762466"/>
            <a:ext cx="9163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第 1 天 · 4 小时</a:t>
            </a:r>
          </a:p>
        </p:txBody>
      </p:sp>
      <p:sp>
        <p:nvSpPr>
          <p:cNvPr id="70" name="mt-2"/>
          <p:cNvSpPr/>
          <p:nvPr/>
        </p:nvSpPr>
        <p:spPr>
          <a:xfrm>
            <a:off x="3556000" y="5397500"/>
            <a:ext cx="2476500" cy="685800"/>
          </a:xfrm>
          <a:custGeom>
            <a:avLst/>
            <a:gdLst/>
            <a:ahLst/>
            <a:cxnLst/>
            <a:rect l="0" t="0" r="r" b="b"/>
            <a:pathLst>
              <a:path w="2476500" h="685800">
                <a:moveTo>
                  <a:pt x="114300" y="0"/>
                </a:moveTo>
                <a:lnTo>
                  <a:pt x="2362200" y="0"/>
                </a:lnTo>
                <a:cubicBezTo>
                  <a:pt x="2425319" y="0"/>
                  <a:pt x="2476500" y="51181"/>
                  <a:pt x="2476500" y="114300"/>
                </a:cubicBezTo>
                <a:lnTo>
                  <a:pt x="2476500" y="571500"/>
                </a:lnTo>
                <a:cubicBezTo>
                  <a:pt x="2476500" y="634619"/>
                  <a:pt x="2425319" y="685800"/>
                  <a:pt x="2362200" y="685800"/>
                </a:cubicBezTo>
                <a:lnTo>
                  <a:pt x="114300" y="685800"/>
                </a:lnTo>
                <a:cubicBezTo>
                  <a:pt x="51181" y="685800"/>
                  <a:pt x="0" y="634619"/>
                  <a:pt x="0" y="571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mtb-2"/>
          <p:cNvSpPr/>
          <p:nvPr/>
        </p:nvSpPr>
        <p:spPr>
          <a:xfrm>
            <a:off x="3556000" y="5397500"/>
            <a:ext cx="38100" cy="685800"/>
          </a:xfrm>
          <a:custGeom>
            <a:avLst/>
            <a:gdLst/>
            <a:ahLst/>
            <a:cxnLst/>
            <a:rect l="0" t="0" r="r" b="b"/>
            <a:pathLst>
              <a:path w="38100" h="6858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66750"/>
                </a:lnTo>
                <a:cubicBezTo>
                  <a:pt x="38100" y="677291"/>
                  <a:pt x="29591" y="685800"/>
                  <a:pt x="19050" y="685800"/>
                </a:cubicBezTo>
                <a:lnTo>
                  <a:pt x="19050" y="685800"/>
                </a:lnTo>
                <a:cubicBezTo>
                  <a:pt x="8509" y="685800"/>
                  <a:pt x="0" y="677291"/>
                  <a:pt x="0" y="6667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chip"/>
          <p:cNvSpPr/>
          <p:nvPr/>
        </p:nvSpPr>
        <p:spPr>
          <a:xfrm>
            <a:off x="3721100" y="5575300"/>
            <a:ext cx="330200" cy="330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chip-ring"/>
          <p:cNvSpPr/>
          <p:nvPr/>
        </p:nvSpPr>
        <p:spPr>
          <a:xfrm>
            <a:off x="3721100" y="5575300"/>
            <a:ext cx="330200" cy="330200"/>
          </a:xfrm>
          <a:prstGeom prst="ellipse">
            <a:avLst/>
          </a:prstGeom>
          <a:noFill/>
          <a:ln w="6350" cap="rnd">
            <a:solidFill>
              <a:srgbClr val="E0703A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icon-clock"/>
          <p:cNvSpPr/>
          <p:nvPr/>
        </p:nvSpPr>
        <p:spPr>
          <a:xfrm>
            <a:off x="3886200" y="5709920"/>
            <a:ext cx="20320" cy="42545"/>
          </a:xfrm>
          <a:custGeom>
            <a:avLst/>
            <a:gdLst/>
            <a:ahLst/>
            <a:cxnLst/>
            <a:rect l="0" t="0" r="r" b="b"/>
            <a:pathLst>
              <a:path w="20320" h="42545">
                <a:moveTo>
                  <a:pt x="0" y="0"/>
                </a:moveTo>
                <a:lnTo>
                  <a:pt x="0" y="30480"/>
                </a:lnTo>
                <a:lnTo>
                  <a:pt x="20320" y="42545"/>
                </a:lnTo>
              </a:path>
            </a:pathLst>
          </a:custGeom>
          <a:noFill/>
          <a:ln w="1270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icon-clock"/>
          <p:cNvSpPr/>
          <p:nvPr/>
        </p:nvSpPr>
        <p:spPr>
          <a:xfrm>
            <a:off x="3831590" y="5685790"/>
            <a:ext cx="109220" cy="109220"/>
          </a:xfrm>
          <a:prstGeom prst="ellipse">
            <a:avLst/>
          </a:prstGeom>
          <a:noFill/>
          <a:ln w="1270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mtn-2"/>
          <p:cNvSpPr txBox="1"/>
          <p:nvPr/>
        </p:nvSpPr>
        <p:spPr>
          <a:xfrm>
            <a:off x="4150360" y="5532755"/>
            <a:ext cx="6604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每日站会</a:t>
            </a:r>
          </a:p>
        </p:txBody>
      </p:sp>
      <p:sp>
        <p:nvSpPr>
          <p:cNvPr id="77" name="mtt-2"/>
          <p:cNvSpPr txBox="1"/>
          <p:nvPr/>
        </p:nvSpPr>
        <p:spPr>
          <a:xfrm>
            <a:off x="4154170" y="5762466"/>
            <a:ext cx="8058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每天 · 15 分钟</a:t>
            </a:r>
          </a:p>
        </p:txBody>
      </p:sp>
      <p:sp>
        <p:nvSpPr>
          <p:cNvPr id="78" name="mt-3"/>
          <p:cNvSpPr/>
          <p:nvPr/>
        </p:nvSpPr>
        <p:spPr>
          <a:xfrm>
            <a:off x="6159500" y="5397500"/>
            <a:ext cx="2476500" cy="685800"/>
          </a:xfrm>
          <a:custGeom>
            <a:avLst/>
            <a:gdLst/>
            <a:ahLst/>
            <a:cxnLst/>
            <a:rect l="0" t="0" r="r" b="b"/>
            <a:pathLst>
              <a:path w="2476500" h="685800">
                <a:moveTo>
                  <a:pt x="114300" y="0"/>
                </a:moveTo>
                <a:lnTo>
                  <a:pt x="2362200" y="0"/>
                </a:lnTo>
                <a:cubicBezTo>
                  <a:pt x="2425319" y="0"/>
                  <a:pt x="2476500" y="51181"/>
                  <a:pt x="2476500" y="114300"/>
                </a:cubicBezTo>
                <a:lnTo>
                  <a:pt x="2476500" y="571500"/>
                </a:lnTo>
                <a:cubicBezTo>
                  <a:pt x="2476500" y="634619"/>
                  <a:pt x="2425319" y="685800"/>
                  <a:pt x="2362200" y="685800"/>
                </a:cubicBezTo>
                <a:lnTo>
                  <a:pt x="114300" y="685800"/>
                </a:lnTo>
                <a:cubicBezTo>
                  <a:pt x="51181" y="685800"/>
                  <a:pt x="0" y="634619"/>
                  <a:pt x="0" y="571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mtb-3"/>
          <p:cNvSpPr/>
          <p:nvPr/>
        </p:nvSpPr>
        <p:spPr>
          <a:xfrm>
            <a:off x="6159500" y="5397500"/>
            <a:ext cx="38100" cy="685800"/>
          </a:xfrm>
          <a:custGeom>
            <a:avLst/>
            <a:gdLst/>
            <a:ahLst/>
            <a:cxnLst/>
            <a:rect l="0" t="0" r="r" b="b"/>
            <a:pathLst>
              <a:path w="38100" h="6858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66750"/>
                </a:lnTo>
                <a:cubicBezTo>
                  <a:pt x="38100" y="677291"/>
                  <a:pt x="29591" y="685800"/>
                  <a:pt x="19050" y="685800"/>
                </a:cubicBezTo>
                <a:lnTo>
                  <a:pt x="19050" y="685800"/>
                </a:lnTo>
                <a:cubicBezTo>
                  <a:pt x="8509" y="685800"/>
                  <a:pt x="0" y="677291"/>
                  <a:pt x="0" y="6667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chip"/>
          <p:cNvSpPr/>
          <p:nvPr/>
        </p:nvSpPr>
        <p:spPr>
          <a:xfrm>
            <a:off x="6324600" y="5575300"/>
            <a:ext cx="330200" cy="330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chip-ring"/>
          <p:cNvSpPr/>
          <p:nvPr/>
        </p:nvSpPr>
        <p:spPr>
          <a:xfrm>
            <a:off x="6324600" y="5575300"/>
            <a:ext cx="330200" cy="330200"/>
          </a:xfrm>
          <a:prstGeom prst="ellipse">
            <a:avLst/>
          </a:prstGeom>
          <a:noFill/>
          <a:ln w="6350" cap="rnd">
            <a:solidFill>
              <a:srgbClr val="2E77C2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icon-search"/>
          <p:cNvSpPr/>
          <p:nvPr/>
        </p:nvSpPr>
        <p:spPr>
          <a:xfrm>
            <a:off x="6511290" y="5761990"/>
            <a:ext cx="25400" cy="25400"/>
          </a:xfrm>
          <a:custGeom>
            <a:avLst/>
            <a:gdLst/>
            <a:ahLst/>
            <a:cxnLst/>
            <a:rect l="0" t="0" r="r" b="b"/>
            <a:pathLst>
              <a:path w="25400" h="25400">
                <a:moveTo>
                  <a:pt x="25400" y="25400"/>
                </a:moveTo>
                <a:lnTo>
                  <a:pt x="0" y="0"/>
                </a:lnTo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icon-search"/>
          <p:cNvSpPr/>
          <p:nvPr/>
        </p:nvSpPr>
        <p:spPr>
          <a:xfrm>
            <a:off x="6442710" y="5693410"/>
            <a:ext cx="81280" cy="81280"/>
          </a:xfrm>
          <a:prstGeom prst="ellipse">
            <a:avLst/>
          </a:pr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mtn-3"/>
          <p:cNvSpPr txBox="1"/>
          <p:nvPr/>
        </p:nvSpPr>
        <p:spPr>
          <a:xfrm>
            <a:off x="6753860" y="5532755"/>
            <a:ext cx="79692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冲刺评审会</a:t>
            </a:r>
          </a:p>
        </p:txBody>
      </p:sp>
      <p:sp>
        <p:nvSpPr>
          <p:cNvPr id="85" name="mtt-3"/>
          <p:cNvSpPr txBox="1"/>
          <p:nvPr/>
        </p:nvSpPr>
        <p:spPr>
          <a:xfrm>
            <a:off x="6757670" y="5762466"/>
            <a:ext cx="97155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第 10 天 · 2 小时</a:t>
            </a:r>
          </a:p>
        </p:txBody>
      </p:sp>
      <p:sp>
        <p:nvSpPr>
          <p:cNvPr id="86" name="mt-4"/>
          <p:cNvSpPr/>
          <p:nvPr/>
        </p:nvSpPr>
        <p:spPr>
          <a:xfrm>
            <a:off x="8763000" y="5397500"/>
            <a:ext cx="2476500" cy="685800"/>
          </a:xfrm>
          <a:custGeom>
            <a:avLst/>
            <a:gdLst/>
            <a:ahLst/>
            <a:cxnLst/>
            <a:rect l="0" t="0" r="r" b="b"/>
            <a:pathLst>
              <a:path w="2476500" h="685800">
                <a:moveTo>
                  <a:pt x="114300" y="0"/>
                </a:moveTo>
                <a:lnTo>
                  <a:pt x="2362200" y="0"/>
                </a:lnTo>
                <a:cubicBezTo>
                  <a:pt x="2425319" y="0"/>
                  <a:pt x="2476500" y="51181"/>
                  <a:pt x="2476500" y="114300"/>
                </a:cubicBezTo>
                <a:lnTo>
                  <a:pt x="2476500" y="571500"/>
                </a:lnTo>
                <a:cubicBezTo>
                  <a:pt x="2476500" y="634619"/>
                  <a:pt x="2425319" y="685800"/>
                  <a:pt x="2362200" y="685800"/>
                </a:cubicBezTo>
                <a:lnTo>
                  <a:pt x="114300" y="685800"/>
                </a:lnTo>
                <a:cubicBezTo>
                  <a:pt x="51181" y="685800"/>
                  <a:pt x="0" y="634619"/>
                  <a:pt x="0" y="571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mtb-4"/>
          <p:cNvSpPr/>
          <p:nvPr/>
        </p:nvSpPr>
        <p:spPr>
          <a:xfrm>
            <a:off x="8763000" y="5397500"/>
            <a:ext cx="38100" cy="685800"/>
          </a:xfrm>
          <a:custGeom>
            <a:avLst/>
            <a:gdLst/>
            <a:ahLst/>
            <a:cxnLst/>
            <a:rect l="0" t="0" r="r" b="b"/>
            <a:pathLst>
              <a:path w="38100" h="6858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66750"/>
                </a:lnTo>
                <a:cubicBezTo>
                  <a:pt x="38100" y="677291"/>
                  <a:pt x="29591" y="685800"/>
                  <a:pt x="19050" y="685800"/>
                </a:cubicBezTo>
                <a:lnTo>
                  <a:pt x="19050" y="685800"/>
                </a:lnTo>
                <a:cubicBezTo>
                  <a:pt x="8509" y="685800"/>
                  <a:pt x="0" y="677291"/>
                  <a:pt x="0" y="6667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chip"/>
          <p:cNvSpPr/>
          <p:nvPr/>
        </p:nvSpPr>
        <p:spPr>
          <a:xfrm>
            <a:off x="8928100" y="5575300"/>
            <a:ext cx="330200" cy="330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chip-ring"/>
          <p:cNvSpPr/>
          <p:nvPr/>
        </p:nvSpPr>
        <p:spPr>
          <a:xfrm>
            <a:off x="8928100" y="5575300"/>
            <a:ext cx="330200" cy="330200"/>
          </a:xfrm>
          <a:prstGeom prst="ellipse">
            <a:avLst/>
          </a:prstGeom>
          <a:noFill/>
          <a:ln w="6350" cap="rnd">
            <a:solidFill>
              <a:srgbClr val="4694D7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icon-process"/>
          <p:cNvSpPr/>
          <p:nvPr/>
        </p:nvSpPr>
        <p:spPr>
          <a:xfrm>
            <a:off x="9046210" y="5715000"/>
            <a:ext cx="93980" cy="50800"/>
          </a:xfrm>
          <a:custGeom>
            <a:avLst/>
            <a:gdLst/>
            <a:ahLst/>
            <a:cxnLst/>
            <a:rect l="0" t="0" r="r" b="b"/>
            <a:pathLst>
              <a:path w="93980" h="50800">
                <a:moveTo>
                  <a:pt x="0" y="0"/>
                </a:moveTo>
                <a:lnTo>
                  <a:pt x="33020" y="0"/>
                </a:lnTo>
                <a:lnTo>
                  <a:pt x="33020" y="33020"/>
                </a:lnTo>
                <a:lnTo>
                  <a:pt x="0" y="33020"/>
                </a:lnTo>
                <a:close/>
                <a:moveTo>
                  <a:pt x="60960" y="17780"/>
                </a:moveTo>
                <a:lnTo>
                  <a:pt x="93980" y="17780"/>
                </a:lnTo>
                <a:lnTo>
                  <a:pt x="93980" y="50800"/>
                </a:lnTo>
                <a:lnTo>
                  <a:pt x="60960" y="50800"/>
                </a:lnTo>
                <a:close/>
                <a:moveTo>
                  <a:pt x="33020" y="16510"/>
                </a:moveTo>
                <a:lnTo>
                  <a:pt x="60960" y="16510"/>
                </a:lnTo>
              </a:path>
            </a:pathLst>
          </a:cu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mtn-4"/>
          <p:cNvSpPr txBox="1"/>
          <p:nvPr/>
        </p:nvSpPr>
        <p:spPr>
          <a:xfrm>
            <a:off x="9357360" y="5532755"/>
            <a:ext cx="79692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冲刺回顾会</a:t>
            </a:r>
          </a:p>
        </p:txBody>
      </p:sp>
      <p:sp>
        <p:nvSpPr>
          <p:cNvPr id="92" name="mtt-4"/>
          <p:cNvSpPr txBox="1"/>
          <p:nvPr/>
        </p:nvSpPr>
        <p:spPr>
          <a:xfrm>
            <a:off x="9361170" y="5762466"/>
            <a:ext cx="108204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第 10 天 · 1.5 小时</a:t>
            </a:r>
          </a:p>
        </p:txBody>
      </p:sp>
      <p:cxnSp>
        <p:nvCxnSpPr>
          <p:cNvPr id="93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4" name="foot-l"/>
          <p:cNvSpPr txBox="1"/>
          <p:nvPr/>
        </p:nvSpPr>
        <p:spPr>
          <a:xfrm>
            <a:off x="573532" y="6532308"/>
            <a:ext cx="9481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敏捷冲刺 · Scrum</a:t>
            </a:r>
          </a:p>
        </p:txBody>
      </p:sp>
      <p:sp>
        <p:nvSpPr>
          <p:cNvPr id="95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社招流程六步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226542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VERTICAL CHEVRON PROCESS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274177" y="673132"/>
            <a:ext cx="334657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从提需求到发 Offer 平均 18 天，每一步都有时限和通过人数</a:t>
            </a:r>
          </a:p>
        </p:txBody>
      </p:sp>
      <p:sp>
        <p:nvSpPr>
          <p:cNvPr id="10" name="cv-1"/>
          <p:cNvSpPr/>
          <p:nvPr/>
        </p:nvSpPr>
        <p:spPr>
          <a:xfrm>
            <a:off x="952500" y="1435100"/>
            <a:ext cx="1905000" cy="774700"/>
          </a:xfrm>
          <a:custGeom>
            <a:avLst/>
            <a:gdLst/>
            <a:ahLst/>
            <a:cxnLst/>
            <a:rect l="0" t="0" r="r" b="b"/>
            <a:pathLst>
              <a:path w="1905000" h="774700">
                <a:moveTo>
                  <a:pt x="0" y="0"/>
                </a:moveTo>
                <a:lnTo>
                  <a:pt x="1905000" y="0"/>
                </a:lnTo>
                <a:lnTo>
                  <a:pt x="1905000" y="635000"/>
                </a:lnTo>
                <a:lnTo>
                  <a:pt x="952500" y="774700"/>
                </a:lnTo>
                <a:lnTo>
                  <a:pt x="0" y="635000"/>
                </a:lnTo>
                <a:close/>
              </a:path>
            </a:pathLst>
          </a:custGeom>
          <a:gradFill rotWithShape="1">
            <a:gsLst>
              <a:gs pos="0">
                <a:srgbClr val="305BA0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cvn-1"/>
          <p:cNvSpPr txBox="1"/>
          <p:nvPr/>
        </p:nvSpPr>
        <p:spPr>
          <a:xfrm>
            <a:off x="1164336" y="1605470"/>
            <a:ext cx="282194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FFFFFF">
                    <a:alpha val="60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12" name="cvt-1"/>
          <p:cNvSpPr txBox="1"/>
          <p:nvPr/>
        </p:nvSpPr>
        <p:spPr>
          <a:xfrm>
            <a:off x="1506474" y="1597628"/>
            <a:ext cx="7664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需求提报</a:t>
            </a:r>
          </a:p>
        </p:txBody>
      </p:sp>
      <p:sp>
        <p:nvSpPr>
          <p:cNvPr id="13" name="row-1"/>
          <p:cNvSpPr/>
          <p:nvPr/>
        </p:nvSpPr>
        <p:spPr>
          <a:xfrm>
            <a:off x="3111500" y="1581150"/>
            <a:ext cx="8128000" cy="482600"/>
          </a:xfrm>
          <a:custGeom>
            <a:avLst/>
            <a:gdLst/>
            <a:ahLst/>
            <a:cxnLst/>
            <a:rect l="0" t="0" r="r" b="b"/>
            <a:pathLst>
              <a:path w="8128000" h="482600">
                <a:moveTo>
                  <a:pt x="101600" y="0"/>
                </a:moveTo>
                <a:lnTo>
                  <a:pt x="8026400" y="0"/>
                </a:lnTo>
                <a:cubicBezTo>
                  <a:pt x="8082534" y="0"/>
                  <a:pt x="8128000" y="45466"/>
                  <a:pt x="8128000" y="101600"/>
                </a:cubicBezTo>
                <a:lnTo>
                  <a:pt x="8128000" y="381000"/>
                </a:lnTo>
                <a:cubicBezTo>
                  <a:pt x="8128000" y="437134"/>
                  <a:pt x="8082534" y="482600"/>
                  <a:pt x="80264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4" name="con-1"/>
          <p:cNvCxnSpPr/>
          <p:nvPr/>
        </p:nvCxnSpPr>
        <p:spPr>
          <a:xfrm>
            <a:off x="2882900" y="1822450"/>
            <a:ext cx="228600" cy="0"/>
          </a:xfrm>
          <a:prstGeom prst="line">
            <a:avLst/>
          </a:prstGeom>
          <a:ln w="12700" cap="rnd">
            <a:solidFill>
              <a:srgbClr val="0B3E8F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icon-doc"/>
          <p:cNvSpPr/>
          <p:nvPr/>
        </p:nvSpPr>
        <p:spPr>
          <a:xfrm>
            <a:off x="3343910" y="1769110"/>
            <a:ext cx="71120" cy="106680"/>
          </a:xfrm>
          <a:custGeom>
            <a:avLst/>
            <a:gdLst/>
            <a:ahLst/>
            <a:cxnLst/>
            <a:rect l="0" t="0" r="r" b="b"/>
            <a:pathLst>
              <a:path w="71120" h="106680">
                <a:moveTo>
                  <a:pt x="0" y="0"/>
                </a:moveTo>
                <a:lnTo>
                  <a:pt x="45720" y="0"/>
                </a:lnTo>
                <a:lnTo>
                  <a:pt x="71120" y="25400"/>
                </a:lnTo>
                <a:lnTo>
                  <a:pt x="71120" y="106680"/>
                </a:lnTo>
                <a:lnTo>
                  <a:pt x="0" y="106680"/>
                </a:lnTo>
                <a:close/>
                <a:moveTo>
                  <a:pt x="45720" y="0"/>
                </a:moveTo>
                <a:lnTo>
                  <a:pt x="45720" y="25400"/>
                </a:lnTo>
                <a:lnTo>
                  <a:pt x="71120" y="25400"/>
                </a:lnTo>
                <a:moveTo>
                  <a:pt x="16510" y="55880"/>
                </a:moveTo>
                <a:lnTo>
                  <a:pt x="54610" y="55880"/>
                </a:lnTo>
                <a:moveTo>
                  <a:pt x="16510" y="77470"/>
                </a:moveTo>
                <a:lnTo>
                  <a:pt x="54610" y="77470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rd-1"/>
          <p:cNvSpPr txBox="1"/>
          <p:nvPr/>
        </p:nvSpPr>
        <p:spPr>
          <a:xfrm>
            <a:off x="3580765" y="1736011"/>
            <a:ext cx="12303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用人部门填写岗位画像</a:t>
            </a:r>
          </a:p>
        </p:txBody>
      </p:sp>
      <p:sp>
        <p:nvSpPr>
          <p:cNvPr id="17" name="ro-1"/>
          <p:cNvSpPr txBox="1"/>
          <p:nvPr/>
        </p:nvSpPr>
        <p:spPr>
          <a:xfrm>
            <a:off x="6655308" y="1747774"/>
            <a:ext cx="5105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用人部门</a:t>
            </a:r>
          </a:p>
        </p:txBody>
      </p:sp>
      <p:sp>
        <p:nvSpPr>
          <p:cNvPr id="18" name="db-1"/>
          <p:cNvSpPr/>
          <p:nvPr/>
        </p:nvSpPr>
        <p:spPr>
          <a:xfrm>
            <a:off x="7683500" y="1771650"/>
            <a:ext cx="1905000" cy="101600"/>
          </a:xfrm>
          <a:custGeom>
            <a:avLst/>
            <a:gdLst/>
            <a:ahLst/>
            <a:cxnLst/>
            <a:rect l="0" t="0" r="r" b="b"/>
            <a:pathLst>
              <a:path w="1905000" h="101600">
                <a:moveTo>
                  <a:pt x="50800" y="0"/>
                </a:moveTo>
                <a:lnTo>
                  <a:pt x="1854200" y="0"/>
                </a:lnTo>
                <a:cubicBezTo>
                  <a:pt x="1882267" y="0"/>
                  <a:pt x="1905000" y="22733"/>
                  <a:pt x="1905000" y="50800"/>
                </a:cubicBezTo>
                <a:lnTo>
                  <a:pt x="1905000" y="50800"/>
                </a:lnTo>
                <a:cubicBezTo>
                  <a:pt x="1905000" y="78867"/>
                  <a:pt x="1882267" y="101600"/>
                  <a:pt x="18542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df-1"/>
          <p:cNvSpPr/>
          <p:nvPr/>
        </p:nvSpPr>
        <p:spPr>
          <a:xfrm>
            <a:off x="7683500" y="1771650"/>
            <a:ext cx="381000" cy="101600"/>
          </a:xfrm>
          <a:custGeom>
            <a:avLst/>
            <a:gdLst/>
            <a:ahLst/>
            <a:cxnLst/>
            <a:rect l="0" t="0" r="r" b="b"/>
            <a:pathLst>
              <a:path w="381000" h="101600">
                <a:moveTo>
                  <a:pt x="50800" y="0"/>
                </a:moveTo>
                <a:lnTo>
                  <a:pt x="330200" y="0"/>
                </a:lnTo>
                <a:cubicBezTo>
                  <a:pt x="358267" y="0"/>
                  <a:pt x="381000" y="22733"/>
                  <a:pt x="381000" y="50800"/>
                </a:cubicBezTo>
                <a:lnTo>
                  <a:pt x="381000" y="50800"/>
                </a:lnTo>
                <a:cubicBezTo>
                  <a:pt x="381000" y="78867"/>
                  <a:pt x="358267" y="101600"/>
                  <a:pt x="3302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dv-1"/>
          <p:cNvSpPr txBox="1"/>
          <p:nvPr/>
        </p:nvSpPr>
        <p:spPr>
          <a:xfrm>
            <a:off x="9677146" y="1733582"/>
            <a:ext cx="32600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 天</a:t>
            </a:r>
          </a:p>
        </p:txBody>
      </p:sp>
      <p:sp>
        <p:nvSpPr>
          <p:cNvPr id="21" name="cn-1"/>
          <p:cNvSpPr txBox="1"/>
          <p:nvPr/>
        </p:nvSpPr>
        <p:spPr>
          <a:xfrm>
            <a:off x="10844784" y="1691386"/>
            <a:ext cx="222504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—</a:t>
            </a:r>
          </a:p>
        </p:txBody>
      </p:sp>
      <p:sp>
        <p:nvSpPr>
          <p:cNvPr id="22" name="cv-2"/>
          <p:cNvSpPr/>
          <p:nvPr/>
        </p:nvSpPr>
        <p:spPr>
          <a:xfrm>
            <a:off x="952500" y="2146300"/>
            <a:ext cx="1905000" cy="774700"/>
          </a:xfrm>
          <a:custGeom>
            <a:avLst/>
            <a:gdLst/>
            <a:ahLst/>
            <a:cxnLst/>
            <a:rect l="0" t="0" r="r" b="b"/>
            <a:pathLst>
              <a:path w="1905000" h="774700">
                <a:moveTo>
                  <a:pt x="0" y="0"/>
                </a:moveTo>
                <a:lnTo>
                  <a:pt x="952500" y="139700"/>
                </a:lnTo>
                <a:lnTo>
                  <a:pt x="1905000" y="0"/>
                </a:lnTo>
                <a:lnTo>
                  <a:pt x="1905000" y="635000"/>
                </a:lnTo>
                <a:lnTo>
                  <a:pt x="952500" y="774700"/>
                </a:lnTo>
                <a:lnTo>
                  <a:pt x="0" y="635000"/>
                </a:lnTo>
                <a:close/>
              </a:path>
            </a:pathLst>
          </a:custGeom>
          <a:gradFill rotWithShape="1">
            <a:gsLst>
              <a:gs pos="0">
                <a:srgbClr val="3667AB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cvn-2"/>
          <p:cNvSpPr txBox="1"/>
          <p:nvPr/>
        </p:nvSpPr>
        <p:spPr>
          <a:xfrm>
            <a:off x="1164336" y="2380170"/>
            <a:ext cx="282194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FFFFFF">
                    <a:alpha val="60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24" name="cvt-2"/>
          <p:cNvSpPr txBox="1"/>
          <p:nvPr/>
        </p:nvSpPr>
        <p:spPr>
          <a:xfrm>
            <a:off x="1506474" y="2372328"/>
            <a:ext cx="7664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简历筛选</a:t>
            </a:r>
          </a:p>
        </p:txBody>
      </p:sp>
      <p:sp>
        <p:nvSpPr>
          <p:cNvPr id="25" name="row-2"/>
          <p:cNvSpPr/>
          <p:nvPr/>
        </p:nvSpPr>
        <p:spPr>
          <a:xfrm>
            <a:off x="3111500" y="2292350"/>
            <a:ext cx="8128000" cy="482600"/>
          </a:xfrm>
          <a:custGeom>
            <a:avLst/>
            <a:gdLst/>
            <a:ahLst/>
            <a:cxnLst/>
            <a:rect l="0" t="0" r="r" b="b"/>
            <a:pathLst>
              <a:path w="8128000" h="482600">
                <a:moveTo>
                  <a:pt x="101600" y="0"/>
                </a:moveTo>
                <a:lnTo>
                  <a:pt x="8026400" y="0"/>
                </a:lnTo>
                <a:cubicBezTo>
                  <a:pt x="8082534" y="0"/>
                  <a:pt x="8128000" y="45466"/>
                  <a:pt x="8128000" y="101600"/>
                </a:cubicBezTo>
                <a:lnTo>
                  <a:pt x="8128000" y="381000"/>
                </a:lnTo>
                <a:cubicBezTo>
                  <a:pt x="8128000" y="437134"/>
                  <a:pt x="8082534" y="482600"/>
                  <a:pt x="80264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26" name="con-2"/>
          <p:cNvCxnSpPr/>
          <p:nvPr/>
        </p:nvCxnSpPr>
        <p:spPr>
          <a:xfrm>
            <a:off x="2882900" y="2533650"/>
            <a:ext cx="228600" cy="0"/>
          </a:xfrm>
          <a:prstGeom prst="line">
            <a:avLst/>
          </a:prstGeom>
          <a:ln w="12700" cap="rnd">
            <a:solidFill>
              <a:srgbClr val="134C9C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icon-search"/>
          <p:cNvSpPr/>
          <p:nvPr/>
        </p:nvSpPr>
        <p:spPr>
          <a:xfrm>
            <a:off x="3399790" y="2555240"/>
            <a:ext cx="25400" cy="25400"/>
          </a:xfrm>
          <a:custGeom>
            <a:avLst/>
            <a:gdLst/>
            <a:ahLst/>
            <a:cxnLst/>
            <a:rect l="0" t="0" r="r" b="b"/>
            <a:pathLst>
              <a:path w="25400" h="25400">
                <a:moveTo>
                  <a:pt x="25400" y="25400"/>
                </a:moveTo>
                <a:lnTo>
                  <a:pt x="0" y="0"/>
                </a:lnTo>
              </a:path>
            </a:pathLst>
          </a:cu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icon-search"/>
          <p:cNvSpPr/>
          <p:nvPr/>
        </p:nvSpPr>
        <p:spPr>
          <a:xfrm>
            <a:off x="3331210" y="2486660"/>
            <a:ext cx="81280" cy="81280"/>
          </a:xfrm>
          <a:prstGeom prst="ellipse">
            <a:avLst/>
          </a:pr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rd-2"/>
          <p:cNvSpPr txBox="1"/>
          <p:nvPr/>
        </p:nvSpPr>
        <p:spPr>
          <a:xfrm>
            <a:off x="3580765" y="2447211"/>
            <a:ext cx="11630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HR 初筛 + 业务复筛</a:t>
            </a:r>
          </a:p>
        </p:txBody>
      </p:sp>
      <p:sp>
        <p:nvSpPr>
          <p:cNvPr id="30" name="ro-2"/>
          <p:cNvSpPr txBox="1"/>
          <p:nvPr/>
        </p:nvSpPr>
        <p:spPr>
          <a:xfrm>
            <a:off x="6655308" y="2458974"/>
            <a:ext cx="5105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招聘专员</a:t>
            </a:r>
          </a:p>
        </p:txBody>
      </p:sp>
      <p:sp>
        <p:nvSpPr>
          <p:cNvPr id="31" name="db-2"/>
          <p:cNvSpPr/>
          <p:nvPr/>
        </p:nvSpPr>
        <p:spPr>
          <a:xfrm>
            <a:off x="7683500" y="2482850"/>
            <a:ext cx="1905000" cy="101600"/>
          </a:xfrm>
          <a:custGeom>
            <a:avLst/>
            <a:gdLst/>
            <a:ahLst/>
            <a:cxnLst/>
            <a:rect l="0" t="0" r="r" b="b"/>
            <a:pathLst>
              <a:path w="1905000" h="101600">
                <a:moveTo>
                  <a:pt x="50800" y="0"/>
                </a:moveTo>
                <a:lnTo>
                  <a:pt x="1854200" y="0"/>
                </a:lnTo>
                <a:cubicBezTo>
                  <a:pt x="1882267" y="0"/>
                  <a:pt x="1905000" y="22733"/>
                  <a:pt x="1905000" y="50800"/>
                </a:cubicBezTo>
                <a:lnTo>
                  <a:pt x="1905000" y="50800"/>
                </a:lnTo>
                <a:cubicBezTo>
                  <a:pt x="1905000" y="78867"/>
                  <a:pt x="1882267" y="101600"/>
                  <a:pt x="18542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df-2"/>
          <p:cNvSpPr/>
          <p:nvPr/>
        </p:nvSpPr>
        <p:spPr>
          <a:xfrm>
            <a:off x="7683500" y="2482850"/>
            <a:ext cx="1143000" cy="101600"/>
          </a:xfrm>
          <a:custGeom>
            <a:avLst/>
            <a:gdLst/>
            <a:ahLst/>
            <a:cxnLst/>
            <a:rect l="0" t="0" r="r" b="b"/>
            <a:pathLst>
              <a:path w="1143000" h="101600">
                <a:moveTo>
                  <a:pt x="50800" y="0"/>
                </a:moveTo>
                <a:lnTo>
                  <a:pt x="1092200" y="0"/>
                </a:lnTo>
                <a:cubicBezTo>
                  <a:pt x="1120267" y="0"/>
                  <a:pt x="1143000" y="22733"/>
                  <a:pt x="1143000" y="50800"/>
                </a:cubicBezTo>
                <a:lnTo>
                  <a:pt x="1143000" y="50800"/>
                </a:lnTo>
                <a:cubicBezTo>
                  <a:pt x="1143000" y="78867"/>
                  <a:pt x="1120267" y="101600"/>
                  <a:pt x="10922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dv-2"/>
          <p:cNvSpPr txBox="1"/>
          <p:nvPr/>
        </p:nvSpPr>
        <p:spPr>
          <a:xfrm>
            <a:off x="9677146" y="2444782"/>
            <a:ext cx="32600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3 天</a:t>
            </a:r>
          </a:p>
        </p:txBody>
      </p:sp>
      <p:sp>
        <p:nvSpPr>
          <p:cNvPr id="34" name="cn-2"/>
          <p:cNvSpPr txBox="1"/>
          <p:nvPr/>
        </p:nvSpPr>
        <p:spPr>
          <a:xfrm>
            <a:off x="10674096" y="2402586"/>
            <a:ext cx="393192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120</a:t>
            </a:r>
          </a:p>
        </p:txBody>
      </p:sp>
      <p:sp>
        <p:nvSpPr>
          <p:cNvPr id="35" name="cv-3"/>
          <p:cNvSpPr/>
          <p:nvPr/>
        </p:nvSpPr>
        <p:spPr>
          <a:xfrm>
            <a:off x="952500" y="2857500"/>
            <a:ext cx="1905000" cy="774700"/>
          </a:xfrm>
          <a:custGeom>
            <a:avLst/>
            <a:gdLst/>
            <a:ahLst/>
            <a:cxnLst/>
            <a:rect l="0" t="0" r="r" b="b"/>
            <a:pathLst>
              <a:path w="1905000" h="774700">
                <a:moveTo>
                  <a:pt x="0" y="0"/>
                </a:moveTo>
                <a:lnTo>
                  <a:pt x="952500" y="139700"/>
                </a:lnTo>
                <a:lnTo>
                  <a:pt x="1905000" y="0"/>
                </a:lnTo>
                <a:lnTo>
                  <a:pt x="1905000" y="635000"/>
                </a:lnTo>
                <a:lnTo>
                  <a:pt x="952500" y="774700"/>
                </a:lnTo>
                <a:lnTo>
                  <a:pt x="0" y="635000"/>
                </a:lnTo>
                <a:close/>
              </a:path>
            </a:pathLst>
          </a:custGeom>
          <a:gradFill rotWithShape="1">
            <a:gsLst>
              <a:gs pos="0">
                <a:srgbClr val="3D73B5"/>
              </a:gs>
              <a:gs pos="100000">
                <a:srgbClr val="1B5AA8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cvn-3"/>
          <p:cNvSpPr txBox="1"/>
          <p:nvPr/>
        </p:nvSpPr>
        <p:spPr>
          <a:xfrm>
            <a:off x="1164336" y="3091370"/>
            <a:ext cx="282194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FFFFFF">
                    <a:alpha val="60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37" name="cvt-3"/>
          <p:cNvSpPr txBox="1"/>
          <p:nvPr/>
        </p:nvSpPr>
        <p:spPr>
          <a:xfrm>
            <a:off x="1506474" y="3083528"/>
            <a:ext cx="4489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初试</a:t>
            </a:r>
          </a:p>
        </p:txBody>
      </p:sp>
      <p:sp>
        <p:nvSpPr>
          <p:cNvPr id="38" name="row-3"/>
          <p:cNvSpPr/>
          <p:nvPr/>
        </p:nvSpPr>
        <p:spPr>
          <a:xfrm>
            <a:off x="3111500" y="3003550"/>
            <a:ext cx="8128000" cy="482600"/>
          </a:xfrm>
          <a:custGeom>
            <a:avLst/>
            <a:gdLst/>
            <a:ahLst/>
            <a:cxnLst/>
            <a:rect l="0" t="0" r="r" b="b"/>
            <a:pathLst>
              <a:path w="8128000" h="482600">
                <a:moveTo>
                  <a:pt x="101600" y="0"/>
                </a:moveTo>
                <a:lnTo>
                  <a:pt x="8026400" y="0"/>
                </a:lnTo>
                <a:cubicBezTo>
                  <a:pt x="8082534" y="0"/>
                  <a:pt x="8128000" y="45466"/>
                  <a:pt x="8128000" y="101600"/>
                </a:cubicBezTo>
                <a:lnTo>
                  <a:pt x="8128000" y="381000"/>
                </a:lnTo>
                <a:cubicBezTo>
                  <a:pt x="8128000" y="437134"/>
                  <a:pt x="8082534" y="482600"/>
                  <a:pt x="80264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39" name="con-3"/>
          <p:cNvCxnSpPr/>
          <p:nvPr/>
        </p:nvCxnSpPr>
        <p:spPr>
          <a:xfrm>
            <a:off x="2882900" y="3244850"/>
            <a:ext cx="228600" cy="0"/>
          </a:xfrm>
          <a:prstGeom prst="line">
            <a:avLst/>
          </a:prstGeom>
          <a:ln w="12700" cap="rnd">
            <a:solidFill>
              <a:srgbClr val="1B5AA8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icon-people"/>
          <p:cNvSpPr/>
          <p:nvPr/>
        </p:nvSpPr>
        <p:spPr>
          <a:xfrm>
            <a:off x="3324860" y="3261360"/>
            <a:ext cx="107950" cy="30480"/>
          </a:xfrm>
          <a:custGeom>
            <a:avLst/>
            <a:gdLst/>
            <a:ahLst/>
            <a:cxnLst/>
            <a:rect l="0" t="0" r="r" b="b"/>
            <a:pathLst>
              <a:path w="107950" h="30480">
                <a:moveTo>
                  <a:pt x="0" y="30480"/>
                </a:moveTo>
                <a:cubicBezTo>
                  <a:pt x="0" y="11430"/>
                  <a:pt x="15875" y="0"/>
                  <a:pt x="34290" y="0"/>
                </a:cubicBezTo>
                <a:cubicBezTo>
                  <a:pt x="52705" y="0"/>
                  <a:pt x="68580" y="11430"/>
                  <a:pt x="68580" y="30480"/>
                </a:cubicBezTo>
                <a:moveTo>
                  <a:pt x="81280" y="2540"/>
                </a:moveTo>
                <a:cubicBezTo>
                  <a:pt x="97790" y="4445"/>
                  <a:pt x="107950" y="15875"/>
                  <a:pt x="107950" y="30480"/>
                </a:cubicBez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icon-people"/>
          <p:cNvSpPr/>
          <p:nvPr/>
        </p:nvSpPr>
        <p:spPr>
          <a:xfrm>
            <a:off x="3338830" y="3206750"/>
            <a:ext cx="40640" cy="40640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icon-people"/>
          <p:cNvSpPr/>
          <p:nvPr/>
        </p:nvSpPr>
        <p:spPr>
          <a:xfrm>
            <a:off x="3393440" y="3206750"/>
            <a:ext cx="33020" cy="33020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rd-3"/>
          <p:cNvSpPr txBox="1"/>
          <p:nvPr/>
        </p:nvSpPr>
        <p:spPr>
          <a:xfrm>
            <a:off x="3580765" y="3158411"/>
            <a:ext cx="156940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业务骨干面试，考察专业能力</a:t>
            </a:r>
          </a:p>
        </p:txBody>
      </p:sp>
      <p:sp>
        <p:nvSpPr>
          <p:cNvPr id="44" name="ro-3"/>
          <p:cNvSpPr txBox="1"/>
          <p:nvPr/>
        </p:nvSpPr>
        <p:spPr>
          <a:xfrm>
            <a:off x="6655308" y="3170174"/>
            <a:ext cx="5105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业务骨干</a:t>
            </a:r>
          </a:p>
        </p:txBody>
      </p:sp>
      <p:sp>
        <p:nvSpPr>
          <p:cNvPr id="45" name="db-3"/>
          <p:cNvSpPr/>
          <p:nvPr/>
        </p:nvSpPr>
        <p:spPr>
          <a:xfrm>
            <a:off x="7683500" y="3194050"/>
            <a:ext cx="1905000" cy="101600"/>
          </a:xfrm>
          <a:custGeom>
            <a:avLst/>
            <a:gdLst/>
            <a:ahLst/>
            <a:cxnLst/>
            <a:rect l="0" t="0" r="r" b="b"/>
            <a:pathLst>
              <a:path w="1905000" h="101600">
                <a:moveTo>
                  <a:pt x="50800" y="0"/>
                </a:moveTo>
                <a:lnTo>
                  <a:pt x="1854200" y="0"/>
                </a:lnTo>
                <a:cubicBezTo>
                  <a:pt x="1882267" y="0"/>
                  <a:pt x="1905000" y="22733"/>
                  <a:pt x="1905000" y="50800"/>
                </a:cubicBezTo>
                <a:lnTo>
                  <a:pt x="1905000" y="50800"/>
                </a:lnTo>
                <a:cubicBezTo>
                  <a:pt x="1905000" y="78867"/>
                  <a:pt x="1882267" y="101600"/>
                  <a:pt x="18542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df-3"/>
          <p:cNvSpPr/>
          <p:nvPr/>
        </p:nvSpPr>
        <p:spPr>
          <a:xfrm>
            <a:off x="7683500" y="3194050"/>
            <a:ext cx="1905000" cy="101600"/>
          </a:xfrm>
          <a:custGeom>
            <a:avLst/>
            <a:gdLst/>
            <a:ahLst/>
            <a:cxnLst/>
            <a:rect l="0" t="0" r="r" b="b"/>
            <a:pathLst>
              <a:path w="1905000" h="101600">
                <a:moveTo>
                  <a:pt x="50800" y="0"/>
                </a:moveTo>
                <a:lnTo>
                  <a:pt x="1854200" y="0"/>
                </a:lnTo>
                <a:cubicBezTo>
                  <a:pt x="1882267" y="0"/>
                  <a:pt x="1905000" y="22733"/>
                  <a:pt x="1905000" y="50800"/>
                </a:cubicBezTo>
                <a:lnTo>
                  <a:pt x="1905000" y="50800"/>
                </a:lnTo>
                <a:cubicBezTo>
                  <a:pt x="1905000" y="78867"/>
                  <a:pt x="1882267" y="101600"/>
                  <a:pt x="18542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dv-3"/>
          <p:cNvSpPr txBox="1"/>
          <p:nvPr/>
        </p:nvSpPr>
        <p:spPr>
          <a:xfrm>
            <a:off x="9677146" y="3155982"/>
            <a:ext cx="32600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5 天</a:t>
            </a:r>
          </a:p>
        </p:txBody>
      </p:sp>
      <p:sp>
        <p:nvSpPr>
          <p:cNvPr id="48" name="cn-3"/>
          <p:cNvSpPr txBox="1"/>
          <p:nvPr/>
        </p:nvSpPr>
        <p:spPr>
          <a:xfrm>
            <a:off x="10759440" y="3113786"/>
            <a:ext cx="307848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36</a:t>
            </a:r>
          </a:p>
        </p:txBody>
      </p:sp>
      <p:sp>
        <p:nvSpPr>
          <p:cNvPr id="49" name="cv-4"/>
          <p:cNvSpPr/>
          <p:nvPr/>
        </p:nvSpPr>
        <p:spPr>
          <a:xfrm>
            <a:off x="952500" y="3568700"/>
            <a:ext cx="1905000" cy="774700"/>
          </a:xfrm>
          <a:custGeom>
            <a:avLst/>
            <a:gdLst/>
            <a:ahLst/>
            <a:cxnLst/>
            <a:rect l="0" t="0" r="r" b="b"/>
            <a:pathLst>
              <a:path w="1905000" h="774700">
                <a:moveTo>
                  <a:pt x="0" y="0"/>
                </a:moveTo>
                <a:lnTo>
                  <a:pt x="952500" y="139700"/>
                </a:lnTo>
                <a:lnTo>
                  <a:pt x="1905000" y="0"/>
                </a:lnTo>
                <a:lnTo>
                  <a:pt x="1905000" y="635000"/>
                </a:lnTo>
                <a:lnTo>
                  <a:pt x="952500" y="774700"/>
                </a:lnTo>
                <a:lnTo>
                  <a:pt x="0" y="635000"/>
                </a:lnTo>
                <a:close/>
              </a:path>
            </a:pathLst>
          </a:custGeom>
          <a:gradFill rotWithShape="1">
            <a:gsLst>
              <a:gs pos="0">
                <a:srgbClr val="457FC1"/>
              </a:gs>
              <a:gs pos="100000">
                <a:srgbClr val="2468B6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cvn-4"/>
          <p:cNvSpPr txBox="1"/>
          <p:nvPr/>
        </p:nvSpPr>
        <p:spPr>
          <a:xfrm>
            <a:off x="1164336" y="3802571"/>
            <a:ext cx="282194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FFFFFF">
                    <a:alpha val="60000"/>
                  </a:srgbClr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51" name="cvt-4"/>
          <p:cNvSpPr txBox="1"/>
          <p:nvPr/>
        </p:nvSpPr>
        <p:spPr>
          <a:xfrm>
            <a:off x="1506474" y="3794728"/>
            <a:ext cx="4489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复试</a:t>
            </a:r>
          </a:p>
        </p:txBody>
      </p:sp>
      <p:sp>
        <p:nvSpPr>
          <p:cNvPr id="52" name="row-4"/>
          <p:cNvSpPr/>
          <p:nvPr/>
        </p:nvSpPr>
        <p:spPr>
          <a:xfrm>
            <a:off x="3111500" y="3714750"/>
            <a:ext cx="8128000" cy="482600"/>
          </a:xfrm>
          <a:custGeom>
            <a:avLst/>
            <a:gdLst/>
            <a:ahLst/>
            <a:cxnLst/>
            <a:rect l="0" t="0" r="r" b="b"/>
            <a:pathLst>
              <a:path w="8128000" h="482600">
                <a:moveTo>
                  <a:pt x="101600" y="0"/>
                </a:moveTo>
                <a:lnTo>
                  <a:pt x="8026400" y="0"/>
                </a:lnTo>
                <a:cubicBezTo>
                  <a:pt x="8082534" y="0"/>
                  <a:pt x="8128000" y="45466"/>
                  <a:pt x="8128000" y="101600"/>
                </a:cubicBezTo>
                <a:lnTo>
                  <a:pt x="8128000" y="381000"/>
                </a:lnTo>
                <a:cubicBezTo>
                  <a:pt x="8128000" y="437134"/>
                  <a:pt x="8082534" y="482600"/>
                  <a:pt x="80264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53" name="con-4"/>
          <p:cNvCxnSpPr/>
          <p:nvPr/>
        </p:nvCxnSpPr>
        <p:spPr>
          <a:xfrm>
            <a:off x="2882900" y="3956050"/>
            <a:ext cx="228600" cy="0"/>
          </a:xfrm>
          <a:prstGeom prst="line">
            <a:avLst/>
          </a:prstGeom>
          <a:ln w="12700" cap="rnd">
            <a:solidFill>
              <a:srgbClr val="2468B6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icon-target"/>
          <p:cNvSpPr/>
          <p:nvPr/>
        </p:nvSpPr>
        <p:spPr>
          <a:xfrm>
            <a:off x="3378200" y="3901440"/>
            <a:ext cx="41910" cy="54610"/>
          </a:xfrm>
          <a:custGeom>
            <a:avLst/>
            <a:gdLst/>
            <a:ahLst/>
            <a:cxnLst/>
            <a:rect l="0" t="0" r="r" b="b"/>
            <a:pathLst>
              <a:path w="41910" h="54610">
                <a:moveTo>
                  <a:pt x="0" y="31750"/>
                </a:moveTo>
                <a:lnTo>
                  <a:pt x="0" y="0"/>
                </a:lnTo>
                <a:moveTo>
                  <a:pt x="0" y="54610"/>
                </a:moveTo>
                <a:lnTo>
                  <a:pt x="41910" y="12700"/>
                </a:lnTo>
              </a:path>
            </a:pathLst>
          </a:cu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icon-target"/>
          <p:cNvSpPr/>
          <p:nvPr/>
        </p:nvSpPr>
        <p:spPr>
          <a:xfrm>
            <a:off x="3323590" y="3901440"/>
            <a:ext cx="109220" cy="109220"/>
          </a:xfrm>
          <a:prstGeom prst="ellipse">
            <a:avLst/>
          </a:pr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icon-target"/>
          <p:cNvSpPr/>
          <p:nvPr/>
        </p:nvSpPr>
        <p:spPr>
          <a:xfrm>
            <a:off x="3350260" y="3928110"/>
            <a:ext cx="55880" cy="55880"/>
          </a:xfrm>
          <a:prstGeom prst="ellipse">
            <a:avLst/>
          </a:pr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rd-4"/>
          <p:cNvSpPr txBox="1"/>
          <p:nvPr/>
        </p:nvSpPr>
        <p:spPr>
          <a:xfrm>
            <a:off x="3580765" y="3869611"/>
            <a:ext cx="17954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部门负责人面试，考察潜力与匹配</a:t>
            </a:r>
          </a:p>
        </p:txBody>
      </p:sp>
      <p:sp>
        <p:nvSpPr>
          <p:cNvPr id="58" name="ro-4"/>
          <p:cNvSpPr txBox="1"/>
          <p:nvPr/>
        </p:nvSpPr>
        <p:spPr>
          <a:xfrm>
            <a:off x="6655308" y="3881374"/>
            <a:ext cx="615315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部门负责人</a:t>
            </a:r>
          </a:p>
        </p:txBody>
      </p:sp>
      <p:sp>
        <p:nvSpPr>
          <p:cNvPr id="59" name="db-4"/>
          <p:cNvSpPr/>
          <p:nvPr/>
        </p:nvSpPr>
        <p:spPr>
          <a:xfrm>
            <a:off x="7683500" y="3905250"/>
            <a:ext cx="1905000" cy="101600"/>
          </a:xfrm>
          <a:custGeom>
            <a:avLst/>
            <a:gdLst/>
            <a:ahLst/>
            <a:cxnLst/>
            <a:rect l="0" t="0" r="r" b="b"/>
            <a:pathLst>
              <a:path w="1905000" h="101600">
                <a:moveTo>
                  <a:pt x="50800" y="0"/>
                </a:moveTo>
                <a:lnTo>
                  <a:pt x="1854200" y="0"/>
                </a:lnTo>
                <a:cubicBezTo>
                  <a:pt x="1882267" y="0"/>
                  <a:pt x="1905000" y="22733"/>
                  <a:pt x="1905000" y="50800"/>
                </a:cubicBezTo>
                <a:lnTo>
                  <a:pt x="1905000" y="50800"/>
                </a:lnTo>
                <a:cubicBezTo>
                  <a:pt x="1905000" y="78867"/>
                  <a:pt x="1882267" y="101600"/>
                  <a:pt x="18542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df-4"/>
          <p:cNvSpPr/>
          <p:nvPr/>
        </p:nvSpPr>
        <p:spPr>
          <a:xfrm>
            <a:off x="7683500" y="3905250"/>
            <a:ext cx="1905000" cy="101600"/>
          </a:xfrm>
          <a:custGeom>
            <a:avLst/>
            <a:gdLst/>
            <a:ahLst/>
            <a:cxnLst/>
            <a:rect l="0" t="0" r="r" b="b"/>
            <a:pathLst>
              <a:path w="1905000" h="101600">
                <a:moveTo>
                  <a:pt x="50800" y="0"/>
                </a:moveTo>
                <a:lnTo>
                  <a:pt x="1854200" y="0"/>
                </a:lnTo>
                <a:cubicBezTo>
                  <a:pt x="1882267" y="0"/>
                  <a:pt x="1905000" y="22733"/>
                  <a:pt x="1905000" y="50800"/>
                </a:cubicBezTo>
                <a:lnTo>
                  <a:pt x="1905000" y="50800"/>
                </a:lnTo>
                <a:cubicBezTo>
                  <a:pt x="1905000" y="78867"/>
                  <a:pt x="1882267" y="101600"/>
                  <a:pt x="18542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dv-4"/>
          <p:cNvSpPr txBox="1"/>
          <p:nvPr/>
        </p:nvSpPr>
        <p:spPr>
          <a:xfrm>
            <a:off x="9677146" y="3867182"/>
            <a:ext cx="32600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2468B6"/>
                </a:solidFill>
                <a:latin typeface="微软雅黑"/>
                <a:ea typeface="微软雅黑"/>
                <a:cs typeface="微软雅黑"/>
              </a:rPr>
              <a:t>5 天</a:t>
            </a:r>
          </a:p>
        </p:txBody>
      </p:sp>
      <p:sp>
        <p:nvSpPr>
          <p:cNvPr id="62" name="cn-4"/>
          <p:cNvSpPr txBox="1"/>
          <p:nvPr/>
        </p:nvSpPr>
        <p:spPr>
          <a:xfrm>
            <a:off x="10759440" y="3824986"/>
            <a:ext cx="307848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12</a:t>
            </a:r>
          </a:p>
        </p:txBody>
      </p:sp>
      <p:sp>
        <p:nvSpPr>
          <p:cNvPr id="63" name="cv-5"/>
          <p:cNvSpPr/>
          <p:nvPr/>
        </p:nvSpPr>
        <p:spPr>
          <a:xfrm>
            <a:off x="952500" y="4279900"/>
            <a:ext cx="1905000" cy="774700"/>
          </a:xfrm>
          <a:custGeom>
            <a:avLst/>
            <a:gdLst/>
            <a:ahLst/>
            <a:cxnLst/>
            <a:rect l="0" t="0" r="r" b="b"/>
            <a:pathLst>
              <a:path w="1905000" h="774700">
                <a:moveTo>
                  <a:pt x="0" y="0"/>
                </a:moveTo>
                <a:lnTo>
                  <a:pt x="952500" y="139700"/>
                </a:lnTo>
                <a:lnTo>
                  <a:pt x="1905000" y="0"/>
                </a:lnTo>
                <a:lnTo>
                  <a:pt x="1905000" y="635000"/>
                </a:lnTo>
                <a:lnTo>
                  <a:pt x="952500" y="774700"/>
                </a:lnTo>
                <a:lnTo>
                  <a:pt x="0" y="635000"/>
                </a:lnTo>
                <a:close/>
              </a:path>
            </a:pathLst>
          </a:custGeom>
          <a:gradFill rotWithShape="1">
            <a:gsLst>
              <a:gs pos="0">
                <a:srgbClr val="4D8BCB"/>
              </a:gs>
              <a:gs pos="100000">
                <a:srgbClr val="2E77C2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cvn-5"/>
          <p:cNvSpPr txBox="1"/>
          <p:nvPr/>
        </p:nvSpPr>
        <p:spPr>
          <a:xfrm>
            <a:off x="1164336" y="4513770"/>
            <a:ext cx="282194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FFFFFF">
                    <a:alpha val="60000"/>
                  </a:srgbClr>
                </a:solidFill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65" name="cvt-5"/>
          <p:cNvSpPr txBox="1"/>
          <p:nvPr/>
        </p:nvSpPr>
        <p:spPr>
          <a:xfrm>
            <a:off x="1506474" y="4505928"/>
            <a:ext cx="92519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背调与定薪</a:t>
            </a:r>
          </a:p>
        </p:txBody>
      </p:sp>
      <p:sp>
        <p:nvSpPr>
          <p:cNvPr id="66" name="row-5"/>
          <p:cNvSpPr/>
          <p:nvPr/>
        </p:nvSpPr>
        <p:spPr>
          <a:xfrm>
            <a:off x="3111500" y="4425950"/>
            <a:ext cx="8128000" cy="482600"/>
          </a:xfrm>
          <a:custGeom>
            <a:avLst/>
            <a:gdLst/>
            <a:ahLst/>
            <a:cxnLst/>
            <a:rect l="0" t="0" r="r" b="b"/>
            <a:pathLst>
              <a:path w="8128000" h="482600">
                <a:moveTo>
                  <a:pt x="101600" y="0"/>
                </a:moveTo>
                <a:lnTo>
                  <a:pt x="8026400" y="0"/>
                </a:lnTo>
                <a:cubicBezTo>
                  <a:pt x="8082534" y="0"/>
                  <a:pt x="8128000" y="45466"/>
                  <a:pt x="8128000" y="101600"/>
                </a:cubicBezTo>
                <a:lnTo>
                  <a:pt x="8128000" y="381000"/>
                </a:lnTo>
                <a:cubicBezTo>
                  <a:pt x="8128000" y="437134"/>
                  <a:pt x="8082534" y="482600"/>
                  <a:pt x="80264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67" name="con-5"/>
          <p:cNvCxnSpPr/>
          <p:nvPr/>
        </p:nvCxnSpPr>
        <p:spPr>
          <a:xfrm>
            <a:off x="2882900" y="4667250"/>
            <a:ext cx="228600" cy="0"/>
          </a:xfrm>
          <a:prstGeom prst="line">
            <a:avLst/>
          </a:prstGeom>
          <a:ln w="12700" cap="rnd">
            <a:solidFill>
              <a:srgbClr val="2E77C2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8" name="icon-shield"/>
          <p:cNvSpPr/>
          <p:nvPr/>
        </p:nvSpPr>
        <p:spPr>
          <a:xfrm>
            <a:off x="3332480" y="4612640"/>
            <a:ext cx="91440" cy="109220"/>
          </a:xfrm>
          <a:custGeom>
            <a:avLst/>
            <a:gdLst/>
            <a:ahLst/>
            <a:cxnLst/>
            <a:rect l="0" t="0" r="r" b="b"/>
            <a:pathLst>
              <a:path w="91440" h="109220">
                <a:moveTo>
                  <a:pt x="45720" y="0"/>
                </a:moveTo>
                <a:lnTo>
                  <a:pt x="91440" y="17780"/>
                </a:lnTo>
                <a:lnTo>
                  <a:pt x="91440" y="53340"/>
                </a:lnTo>
                <a:cubicBezTo>
                  <a:pt x="91440" y="80010"/>
                  <a:pt x="72390" y="100330"/>
                  <a:pt x="45720" y="109220"/>
                </a:cubicBezTo>
                <a:cubicBezTo>
                  <a:pt x="19050" y="100330"/>
                  <a:pt x="0" y="80010"/>
                  <a:pt x="0" y="53340"/>
                </a:cubicBezTo>
                <a:lnTo>
                  <a:pt x="0" y="17780"/>
                </a:lnTo>
                <a:close/>
                <a:moveTo>
                  <a:pt x="26670" y="54610"/>
                </a:moveTo>
                <a:lnTo>
                  <a:pt x="40640" y="68580"/>
                </a:lnTo>
                <a:lnTo>
                  <a:pt x="67310" y="41910"/>
                </a:lnTo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rd-5"/>
          <p:cNvSpPr txBox="1"/>
          <p:nvPr/>
        </p:nvSpPr>
        <p:spPr>
          <a:xfrm>
            <a:off x="3580765" y="4580811"/>
            <a:ext cx="17954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两家前雇主背调，薪酬委员会定薪</a:t>
            </a:r>
          </a:p>
        </p:txBody>
      </p:sp>
      <p:sp>
        <p:nvSpPr>
          <p:cNvPr id="70" name="ro-5"/>
          <p:cNvSpPr txBox="1"/>
          <p:nvPr/>
        </p:nvSpPr>
        <p:spPr>
          <a:xfrm>
            <a:off x="6655308" y="4592574"/>
            <a:ext cx="3317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HRBP</a:t>
            </a:r>
          </a:p>
        </p:txBody>
      </p:sp>
      <p:sp>
        <p:nvSpPr>
          <p:cNvPr id="71" name="db-5"/>
          <p:cNvSpPr/>
          <p:nvPr/>
        </p:nvSpPr>
        <p:spPr>
          <a:xfrm>
            <a:off x="7683500" y="4616450"/>
            <a:ext cx="1905000" cy="101600"/>
          </a:xfrm>
          <a:custGeom>
            <a:avLst/>
            <a:gdLst/>
            <a:ahLst/>
            <a:cxnLst/>
            <a:rect l="0" t="0" r="r" b="b"/>
            <a:pathLst>
              <a:path w="1905000" h="101600">
                <a:moveTo>
                  <a:pt x="50800" y="0"/>
                </a:moveTo>
                <a:lnTo>
                  <a:pt x="1854200" y="0"/>
                </a:lnTo>
                <a:cubicBezTo>
                  <a:pt x="1882267" y="0"/>
                  <a:pt x="1905000" y="22733"/>
                  <a:pt x="1905000" y="50800"/>
                </a:cubicBezTo>
                <a:lnTo>
                  <a:pt x="1905000" y="50800"/>
                </a:lnTo>
                <a:cubicBezTo>
                  <a:pt x="1905000" y="78867"/>
                  <a:pt x="1882267" y="101600"/>
                  <a:pt x="18542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df-5"/>
          <p:cNvSpPr/>
          <p:nvPr/>
        </p:nvSpPr>
        <p:spPr>
          <a:xfrm>
            <a:off x="7683500" y="4616450"/>
            <a:ext cx="1143000" cy="101600"/>
          </a:xfrm>
          <a:custGeom>
            <a:avLst/>
            <a:gdLst/>
            <a:ahLst/>
            <a:cxnLst/>
            <a:rect l="0" t="0" r="r" b="b"/>
            <a:pathLst>
              <a:path w="1143000" h="101600">
                <a:moveTo>
                  <a:pt x="50800" y="0"/>
                </a:moveTo>
                <a:lnTo>
                  <a:pt x="1092200" y="0"/>
                </a:lnTo>
                <a:cubicBezTo>
                  <a:pt x="1120267" y="0"/>
                  <a:pt x="1143000" y="22733"/>
                  <a:pt x="1143000" y="50800"/>
                </a:cubicBezTo>
                <a:lnTo>
                  <a:pt x="1143000" y="50800"/>
                </a:lnTo>
                <a:cubicBezTo>
                  <a:pt x="1143000" y="78867"/>
                  <a:pt x="1120267" y="101600"/>
                  <a:pt x="10922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dv-5"/>
          <p:cNvSpPr txBox="1"/>
          <p:nvPr/>
        </p:nvSpPr>
        <p:spPr>
          <a:xfrm>
            <a:off x="9677146" y="4578382"/>
            <a:ext cx="32600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3 天</a:t>
            </a:r>
          </a:p>
        </p:txBody>
      </p:sp>
      <p:sp>
        <p:nvSpPr>
          <p:cNvPr id="74" name="cn-5"/>
          <p:cNvSpPr txBox="1"/>
          <p:nvPr/>
        </p:nvSpPr>
        <p:spPr>
          <a:xfrm>
            <a:off x="10844784" y="4536186"/>
            <a:ext cx="222504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  <p:sp>
        <p:nvSpPr>
          <p:cNvPr id="75" name="cv-6"/>
          <p:cNvSpPr/>
          <p:nvPr/>
        </p:nvSpPr>
        <p:spPr>
          <a:xfrm>
            <a:off x="952500" y="4991100"/>
            <a:ext cx="1905000" cy="774700"/>
          </a:xfrm>
          <a:custGeom>
            <a:avLst/>
            <a:gdLst/>
            <a:ahLst/>
            <a:cxnLst/>
            <a:rect l="0" t="0" r="r" b="b"/>
            <a:pathLst>
              <a:path w="1905000" h="774700">
                <a:moveTo>
                  <a:pt x="0" y="0"/>
                </a:moveTo>
                <a:lnTo>
                  <a:pt x="952500" y="139700"/>
                </a:lnTo>
                <a:lnTo>
                  <a:pt x="1905000" y="0"/>
                </a:lnTo>
                <a:lnTo>
                  <a:pt x="1905000" y="635000"/>
                </a:lnTo>
                <a:lnTo>
                  <a:pt x="952500" y="774700"/>
                </a:lnTo>
                <a:lnTo>
                  <a:pt x="0" y="635000"/>
                </a:lnTo>
                <a:close/>
              </a:path>
            </a:pathLst>
          </a:custGeom>
          <a:gradFill rotWithShape="1">
            <a:gsLst>
              <a:gs pos="0">
                <a:srgbClr val="E58558"/>
              </a:gs>
              <a:gs pos="100000">
                <a:srgbClr val="E0703A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cvn-6"/>
          <p:cNvSpPr txBox="1"/>
          <p:nvPr/>
        </p:nvSpPr>
        <p:spPr>
          <a:xfrm>
            <a:off x="1164336" y="5224970"/>
            <a:ext cx="282194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FFFFFF">
                    <a:alpha val="60000"/>
                  </a:srgbClr>
                </a:solidFill>
                <a:latin typeface="Arial"/>
                <a:ea typeface="Arial"/>
                <a:cs typeface="Arial"/>
              </a:rPr>
              <a:t>06</a:t>
            </a:r>
          </a:p>
        </p:txBody>
      </p:sp>
      <p:sp>
        <p:nvSpPr>
          <p:cNvPr id="77" name="cvt-6"/>
          <p:cNvSpPr txBox="1"/>
          <p:nvPr/>
        </p:nvSpPr>
        <p:spPr>
          <a:xfrm>
            <a:off x="1506474" y="5217128"/>
            <a:ext cx="1015873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发放 Offer</a:t>
            </a:r>
          </a:p>
        </p:txBody>
      </p:sp>
      <p:sp>
        <p:nvSpPr>
          <p:cNvPr id="78" name="row-6"/>
          <p:cNvSpPr/>
          <p:nvPr/>
        </p:nvSpPr>
        <p:spPr>
          <a:xfrm>
            <a:off x="3111500" y="5137150"/>
            <a:ext cx="8128000" cy="482600"/>
          </a:xfrm>
          <a:custGeom>
            <a:avLst/>
            <a:gdLst/>
            <a:ahLst/>
            <a:cxnLst/>
            <a:rect l="0" t="0" r="r" b="b"/>
            <a:pathLst>
              <a:path w="8128000" h="482600">
                <a:moveTo>
                  <a:pt x="101600" y="0"/>
                </a:moveTo>
                <a:lnTo>
                  <a:pt x="8026400" y="0"/>
                </a:lnTo>
                <a:cubicBezTo>
                  <a:pt x="8082534" y="0"/>
                  <a:pt x="8128000" y="45466"/>
                  <a:pt x="8128000" y="101600"/>
                </a:cubicBezTo>
                <a:lnTo>
                  <a:pt x="8128000" y="381000"/>
                </a:lnTo>
                <a:cubicBezTo>
                  <a:pt x="8128000" y="437134"/>
                  <a:pt x="8082534" y="482600"/>
                  <a:pt x="80264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79" name="con-6"/>
          <p:cNvCxnSpPr/>
          <p:nvPr/>
        </p:nvCxnSpPr>
        <p:spPr>
          <a:xfrm>
            <a:off x="2882900" y="5378450"/>
            <a:ext cx="228600" cy="0"/>
          </a:xfrm>
          <a:prstGeom prst="line">
            <a:avLst/>
          </a:prstGeom>
          <a:ln w="12700" cap="rnd">
            <a:solidFill>
              <a:srgbClr val="E0703A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0" name="icon-mail"/>
          <p:cNvSpPr/>
          <p:nvPr/>
        </p:nvSpPr>
        <p:spPr>
          <a:xfrm>
            <a:off x="3327400" y="5342890"/>
            <a:ext cx="101600" cy="71120"/>
          </a:xfrm>
          <a:custGeom>
            <a:avLst/>
            <a:gdLst/>
            <a:ahLst/>
            <a:cxnLst/>
            <a:rect l="0" t="0" r="r" b="b"/>
            <a:pathLst>
              <a:path w="101600" h="71120">
                <a:moveTo>
                  <a:pt x="0" y="0"/>
                </a:moveTo>
                <a:lnTo>
                  <a:pt x="101600" y="0"/>
                </a:lnTo>
                <a:lnTo>
                  <a:pt x="101600" y="71120"/>
                </a:lnTo>
                <a:lnTo>
                  <a:pt x="0" y="71120"/>
                </a:lnTo>
                <a:close/>
                <a:moveTo>
                  <a:pt x="0" y="2540"/>
                </a:moveTo>
                <a:lnTo>
                  <a:pt x="50800" y="38100"/>
                </a:lnTo>
                <a:lnTo>
                  <a:pt x="101600" y="2540"/>
                </a:lnTo>
              </a:path>
            </a:pathLst>
          </a:custGeom>
          <a:noFill/>
          <a:ln w="1270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rd-6"/>
          <p:cNvSpPr txBox="1"/>
          <p:nvPr/>
        </p:nvSpPr>
        <p:spPr>
          <a:xfrm>
            <a:off x="3580765" y="5292011"/>
            <a:ext cx="111728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候选人确认入职日期</a:t>
            </a:r>
          </a:p>
        </p:txBody>
      </p:sp>
      <p:sp>
        <p:nvSpPr>
          <p:cNvPr id="82" name="ro-6"/>
          <p:cNvSpPr txBox="1"/>
          <p:nvPr/>
        </p:nvSpPr>
        <p:spPr>
          <a:xfrm>
            <a:off x="6655308" y="5303774"/>
            <a:ext cx="5105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招聘专员</a:t>
            </a:r>
          </a:p>
        </p:txBody>
      </p:sp>
      <p:sp>
        <p:nvSpPr>
          <p:cNvPr id="83" name="db-6"/>
          <p:cNvSpPr/>
          <p:nvPr/>
        </p:nvSpPr>
        <p:spPr>
          <a:xfrm>
            <a:off x="7683500" y="5327650"/>
            <a:ext cx="1905000" cy="101600"/>
          </a:xfrm>
          <a:custGeom>
            <a:avLst/>
            <a:gdLst/>
            <a:ahLst/>
            <a:cxnLst/>
            <a:rect l="0" t="0" r="r" b="b"/>
            <a:pathLst>
              <a:path w="1905000" h="101600">
                <a:moveTo>
                  <a:pt x="50800" y="0"/>
                </a:moveTo>
                <a:lnTo>
                  <a:pt x="1854200" y="0"/>
                </a:lnTo>
                <a:cubicBezTo>
                  <a:pt x="1882267" y="0"/>
                  <a:pt x="1905000" y="22733"/>
                  <a:pt x="1905000" y="50800"/>
                </a:cubicBezTo>
                <a:lnTo>
                  <a:pt x="1905000" y="50800"/>
                </a:lnTo>
                <a:cubicBezTo>
                  <a:pt x="1905000" y="78867"/>
                  <a:pt x="1882267" y="101600"/>
                  <a:pt x="18542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df-6"/>
          <p:cNvSpPr/>
          <p:nvPr/>
        </p:nvSpPr>
        <p:spPr>
          <a:xfrm>
            <a:off x="7683500" y="5327650"/>
            <a:ext cx="381000" cy="101600"/>
          </a:xfrm>
          <a:custGeom>
            <a:avLst/>
            <a:gdLst/>
            <a:ahLst/>
            <a:cxnLst/>
            <a:rect l="0" t="0" r="r" b="b"/>
            <a:pathLst>
              <a:path w="381000" h="101600">
                <a:moveTo>
                  <a:pt x="50800" y="0"/>
                </a:moveTo>
                <a:lnTo>
                  <a:pt x="330200" y="0"/>
                </a:lnTo>
                <a:cubicBezTo>
                  <a:pt x="358267" y="0"/>
                  <a:pt x="381000" y="22733"/>
                  <a:pt x="381000" y="50800"/>
                </a:cubicBezTo>
                <a:lnTo>
                  <a:pt x="381000" y="50800"/>
                </a:lnTo>
                <a:cubicBezTo>
                  <a:pt x="381000" y="78867"/>
                  <a:pt x="358267" y="101600"/>
                  <a:pt x="3302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dv-6"/>
          <p:cNvSpPr txBox="1"/>
          <p:nvPr/>
        </p:nvSpPr>
        <p:spPr>
          <a:xfrm>
            <a:off x="9677146" y="5289582"/>
            <a:ext cx="32600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1 天</a:t>
            </a:r>
          </a:p>
        </p:txBody>
      </p:sp>
      <p:sp>
        <p:nvSpPr>
          <p:cNvPr id="86" name="cn-6"/>
          <p:cNvSpPr txBox="1"/>
          <p:nvPr/>
        </p:nvSpPr>
        <p:spPr>
          <a:xfrm>
            <a:off x="10844784" y="5247386"/>
            <a:ext cx="222504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87" name="th-做什么"/>
          <p:cNvSpPr txBox="1"/>
          <p:nvPr/>
        </p:nvSpPr>
        <p:spPr>
          <a:xfrm>
            <a:off x="3582670" y="1203166"/>
            <a:ext cx="4095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做什么</a:t>
            </a:r>
          </a:p>
        </p:txBody>
      </p:sp>
      <p:sp>
        <p:nvSpPr>
          <p:cNvPr id="88" name="th-负责人"/>
          <p:cNvSpPr txBox="1"/>
          <p:nvPr/>
        </p:nvSpPr>
        <p:spPr>
          <a:xfrm>
            <a:off x="6656070" y="1203166"/>
            <a:ext cx="4095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负责人</a:t>
            </a:r>
          </a:p>
        </p:txBody>
      </p:sp>
      <p:sp>
        <p:nvSpPr>
          <p:cNvPr id="89" name="th-时限"/>
          <p:cNvSpPr txBox="1"/>
          <p:nvPr/>
        </p:nvSpPr>
        <p:spPr>
          <a:xfrm>
            <a:off x="7672070" y="1203166"/>
            <a:ext cx="3016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时限</a:t>
            </a:r>
          </a:p>
        </p:txBody>
      </p:sp>
      <p:sp>
        <p:nvSpPr>
          <p:cNvPr id="90" name="th-进入人数"/>
          <p:cNvSpPr txBox="1"/>
          <p:nvPr/>
        </p:nvSpPr>
        <p:spPr>
          <a:xfrm>
            <a:off x="10542905" y="1203166"/>
            <a:ext cx="5175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进入人数</a:t>
            </a:r>
          </a:p>
        </p:txBody>
      </p:sp>
      <p:sp>
        <p:nvSpPr>
          <p:cNvPr id="91" name="sum"/>
          <p:cNvSpPr txBox="1"/>
          <p:nvPr/>
        </p:nvSpPr>
        <p:spPr>
          <a:xfrm>
            <a:off x="938784" y="5827840"/>
            <a:ext cx="281965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合计 18 天 · 120 份简历最终录用 4 人（3.3%）</a:t>
            </a:r>
          </a:p>
        </p:txBody>
      </p:sp>
      <p:cxnSp>
        <p:nvCxnSpPr>
          <p:cNvPr id="92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3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纵向箭头流程 · 六步</a:t>
            </a:r>
          </a:p>
        </p:txBody>
      </p:sp>
      <p:sp>
        <p:nvSpPr>
          <p:cNvPr id="94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3417316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新任负责人 90 天计划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62801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30-60-90 DAY PLAN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532495" y="673132"/>
            <a:ext cx="30882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先听、再定、后做——每个阶段结束时都有一个可检验的交付</a:t>
            </a:r>
          </a:p>
        </p:txBody>
      </p:sp>
      <p:sp>
        <p:nvSpPr>
          <p:cNvPr id="10" name="tl-bg"/>
          <p:cNvSpPr/>
          <p:nvPr/>
        </p:nvSpPr>
        <p:spPr>
          <a:xfrm>
            <a:off x="952500" y="1549400"/>
            <a:ext cx="10287000" cy="76200"/>
          </a:xfrm>
          <a:custGeom>
            <a:avLst/>
            <a:gdLst/>
            <a:ahLst/>
            <a:cxnLst/>
            <a:rect l="0" t="0" r="r" b="b"/>
            <a:pathLst>
              <a:path w="10287000" h="76200">
                <a:moveTo>
                  <a:pt x="38100" y="0"/>
                </a:moveTo>
                <a:lnTo>
                  <a:pt x="10248900" y="0"/>
                </a:lnTo>
                <a:cubicBezTo>
                  <a:pt x="10269918" y="0"/>
                  <a:pt x="10287000" y="17081"/>
                  <a:pt x="10287000" y="38100"/>
                </a:cubicBezTo>
                <a:lnTo>
                  <a:pt x="10287000" y="38100"/>
                </a:lnTo>
                <a:cubicBezTo>
                  <a:pt x="10287000" y="59119"/>
                  <a:pt x="10269918" y="76200"/>
                  <a:pt x="10248900" y="76200"/>
                </a:cubicBezTo>
                <a:lnTo>
                  <a:pt x="38100" y="76200"/>
                </a:lnTo>
                <a:cubicBezTo>
                  <a:pt x="17081" y="76200"/>
                  <a:pt x="0" y="59119"/>
                  <a:pt x="0" y="381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tl"/>
          <p:cNvSpPr/>
          <p:nvPr/>
        </p:nvSpPr>
        <p:spPr>
          <a:xfrm>
            <a:off x="952500" y="1549400"/>
            <a:ext cx="10287000" cy="76200"/>
          </a:xfrm>
          <a:custGeom>
            <a:avLst/>
            <a:gdLst/>
            <a:ahLst/>
            <a:cxnLst/>
            <a:rect l="0" t="0" r="r" b="b"/>
            <a:pathLst>
              <a:path w="10287000" h="76200">
                <a:moveTo>
                  <a:pt x="38100" y="0"/>
                </a:moveTo>
                <a:lnTo>
                  <a:pt x="10248900" y="0"/>
                </a:lnTo>
                <a:cubicBezTo>
                  <a:pt x="10269918" y="0"/>
                  <a:pt x="10287000" y="17081"/>
                  <a:pt x="10287000" y="38100"/>
                </a:cubicBezTo>
                <a:lnTo>
                  <a:pt x="10287000" y="38100"/>
                </a:lnTo>
                <a:cubicBezTo>
                  <a:pt x="10287000" y="59119"/>
                  <a:pt x="10269918" y="76200"/>
                  <a:pt x="10248900" y="76200"/>
                </a:cubicBezTo>
                <a:lnTo>
                  <a:pt x="38100" y="76200"/>
                </a:lnTo>
                <a:cubicBezTo>
                  <a:pt x="17081" y="76200"/>
                  <a:pt x="0" y="59119"/>
                  <a:pt x="0" y="381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gradFill rotWithShape="1">
            <a:gsLst>
              <a:gs pos="0">
                <a:srgbClr val="4694D7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tl-d0"/>
          <p:cNvSpPr/>
          <p:nvPr/>
        </p:nvSpPr>
        <p:spPr>
          <a:xfrm>
            <a:off x="863600" y="1498600"/>
            <a:ext cx="177800" cy="1778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0B3E8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tl-t0"/>
          <p:cNvSpPr txBox="1"/>
          <p:nvPr/>
        </p:nvSpPr>
        <p:spPr>
          <a:xfrm>
            <a:off x="941070" y="1292066"/>
            <a:ext cx="45212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第 0 天</a:t>
            </a:r>
          </a:p>
        </p:txBody>
      </p:sp>
      <p:sp>
        <p:nvSpPr>
          <p:cNvPr id="14" name="tl-d1"/>
          <p:cNvSpPr/>
          <p:nvPr/>
        </p:nvSpPr>
        <p:spPr>
          <a:xfrm>
            <a:off x="4260850" y="1498600"/>
            <a:ext cx="177800" cy="1778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0B3E8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tl-t1"/>
          <p:cNvSpPr txBox="1"/>
          <p:nvPr/>
        </p:nvSpPr>
        <p:spPr>
          <a:xfrm>
            <a:off x="4095433" y="1292066"/>
            <a:ext cx="5086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第 30 天</a:t>
            </a:r>
          </a:p>
        </p:txBody>
      </p:sp>
      <p:sp>
        <p:nvSpPr>
          <p:cNvPr id="16" name="tl-d2"/>
          <p:cNvSpPr/>
          <p:nvPr/>
        </p:nvSpPr>
        <p:spPr>
          <a:xfrm>
            <a:off x="7753350" y="1498600"/>
            <a:ext cx="177800" cy="1778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0B3E8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tl-t2"/>
          <p:cNvSpPr txBox="1"/>
          <p:nvPr/>
        </p:nvSpPr>
        <p:spPr>
          <a:xfrm>
            <a:off x="7587932" y="1292066"/>
            <a:ext cx="5086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第 60 天</a:t>
            </a:r>
          </a:p>
        </p:txBody>
      </p:sp>
      <p:sp>
        <p:nvSpPr>
          <p:cNvPr id="18" name="tl-d3"/>
          <p:cNvSpPr/>
          <p:nvPr/>
        </p:nvSpPr>
        <p:spPr>
          <a:xfrm>
            <a:off x="11150600" y="1498600"/>
            <a:ext cx="177800" cy="1778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E0703A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tl-t3"/>
          <p:cNvSpPr txBox="1"/>
          <p:nvPr/>
        </p:nvSpPr>
        <p:spPr>
          <a:xfrm>
            <a:off x="10742295" y="1292066"/>
            <a:ext cx="5086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第 90 天</a:t>
            </a:r>
          </a:p>
        </p:txBody>
      </p:sp>
      <p:sp>
        <p:nvSpPr>
          <p:cNvPr id="20" name="card-1"/>
          <p:cNvSpPr/>
          <p:nvPr/>
        </p:nvSpPr>
        <p:spPr>
          <a:xfrm>
            <a:off x="952500" y="1879600"/>
            <a:ext cx="3302000" cy="3810000"/>
          </a:xfrm>
          <a:custGeom>
            <a:avLst/>
            <a:gdLst/>
            <a:ahLst/>
            <a:cxnLst/>
            <a:rect l="0" t="0" r="r" b="b"/>
            <a:pathLst>
              <a:path w="3302000" h="3810000">
                <a:moveTo>
                  <a:pt x="152400" y="0"/>
                </a:moveTo>
                <a:lnTo>
                  <a:pt x="3149600" y="0"/>
                </a:lnTo>
                <a:cubicBezTo>
                  <a:pt x="3233801" y="0"/>
                  <a:pt x="3302000" y="68199"/>
                  <a:pt x="3302000" y="152400"/>
                </a:cubicBezTo>
                <a:lnTo>
                  <a:pt x="3302000" y="3657600"/>
                </a:lnTo>
                <a:cubicBezTo>
                  <a:pt x="3302000" y="3741801"/>
                  <a:pt x="3233801" y="3810000"/>
                  <a:pt x="3149600" y="3810000"/>
                </a:cubicBezTo>
                <a:lnTo>
                  <a:pt x="152400" y="3810000"/>
                </a:lnTo>
                <a:cubicBezTo>
                  <a:pt x="68199" y="3810000"/>
                  <a:pt x="0" y="3741801"/>
                  <a:pt x="0" y="36576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hd-1"/>
          <p:cNvSpPr/>
          <p:nvPr/>
        </p:nvSpPr>
        <p:spPr>
          <a:xfrm>
            <a:off x="952500" y="1879600"/>
            <a:ext cx="3302000" cy="952500"/>
          </a:xfrm>
          <a:custGeom>
            <a:avLst/>
            <a:gdLst/>
            <a:ahLst/>
            <a:cxnLst/>
            <a:rect l="0" t="0" r="r" b="b"/>
            <a:pathLst>
              <a:path w="3302000" h="952500">
                <a:moveTo>
                  <a:pt x="152400" y="0"/>
                </a:moveTo>
                <a:lnTo>
                  <a:pt x="3149600" y="0"/>
                </a:lnTo>
                <a:cubicBezTo>
                  <a:pt x="3233801" y="0"/>
                  <a:pt x="3302000" y="68199"/>
                  <a:pt x="3302000" y="152400"/>
                </a:cubicBezTo>
                <a:lnTo>
                  <a:pt x="3302000" y="800100"/>
                </a:lnTo>
                <a:cubicBezTo>
                  <a:pt x="3302000" y="884301"/>
                  <a:pt x="3233801" y="952500"/>
                  <a:pt x="3149600" y="952500"/>
                </a:cubicBezTo>
                <a:lnTo>
                  <a:pt x="152400" y="952500"/>
                </a:lnTo>
                <a:cubicBezTo>
                  <a:pt x="68199" y="952500"/>
                  <a:pt x="0" y="884301"/>
                  <a:pt x="0" y="8001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gradFill rotWithShape="1">
            <a:gsLst>
              <a:gs pos="0">
                <a:srgbClr val="5194D3"/>
              </a:gs>
              <a:gs pos="100000">
                <a:srgbClr val="3985CD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hd2-1"/>
          <p:cNvSpPr/>
          <p:nvPr/>
        </p:nvSpPr>
        <p:spPr>
          <a:xfrm>
            <a:off x="952500" y="2641600"/>
            <a:ext cx="3302000" cy="190500"/>
          </a:xfrm>
          <a:prstGeom prst="rect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d-1"/>
          <p:cNvSpPr txBox="1"/>
          <p:nvPr/>
        </p:nvSpPr>
        <p:spPr>
          <a:xfrm>
            <a:off x="1110488" y="1943989"/>
            <a:ext cx="974852" cy="8445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8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30</a:t>
            </a:r>
          </a:p>
        </p:txBody>
      </p:sp>
      <p:sp>
        <p:nvSpPr>
          <p:cNvPr id="24" name="du-1"/>
          <p:cNvSpPr txBox="1"/>
          <p:nvPr/>
        </p:nvSpPr>
        <p:spPr>
          <a:xfrm>
            <a:off x="1783588" y="2336102"/>
            <a:ext cx="3136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>
                <a:solidFill>
                  <a:srgbClr val="DCE9F8"/>
                </a:solidFill>
                <a:latin typeface="微软雅黑"/>
                <a:ea typeface="微软雅黑"/>
                <a:cs typeface="微软雅黑"/>
              </a:rPr>
              <a:t>天</a:t>
            </a:r>
          </a:p>
        </p:txBody>
      </p:sp>
      <p:sp>
        <p:nvSpPr>
          <p:cNvPr id="25" name="n-1"/>
          <p:cNvSpPr txBox="1"/>
          <p:nvPr/>
        </p:nvSpPr>
        <p:spPr>
          <a:xfrm>
            <a:off x="3057525" y="2077244"/>
            <a:ext cx="10001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倾听与诊断</a:t>
            </a:r>
          </a:p>
        </p:txBody>
      </p:sp>
      <p:sp>
        <p:nvSpPr>
          <p:cNvPr id="26" name="e-1"/>
          <p:cNvSpPr txBox="1"/>
          <p:nvPr/>
        </p:nvSpPr>
        <p:spPr>
          <a:xfrm>
            <a:off x="3518154" y="2354008"/>
            <a:ext cx="53111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200">
                <a:solidFill>
                  <a:srgbClr val="CFE0F4"/>
                </a:solidFill>
                <a:latin typeface="Arial"/>
                <a:ea typeface="Arial"/>
                <a:cs typeface="Arial"/>
              </a:rPr>
              <a:t>LISTEN</a:t>
            </a:r>
          </a:p>
        </p:txBody>
      </p:sp>
      <p:sp>
        <p:nvSpPr>
          <p:cNvPr id="27" name="cb-1-1"/>
          <p:cNvSpPr/>
          <p:nvPr/>
        </p:nvSpPr>
        <p:spPr>
          <a:xfrm>
            <a:off x="1143000" y="2984500"/>
            <a:ext cx="177800" cy="177800"/>
          </a:xfrm>
          <a:custGeom>
            <a:avLst/>
            <a:gdLst/>
            <a:ahLst/>
            <a:cxnLst/>
            <a:rect l="0" t="0" r="r" b="b"/>
            <a:pathLst>
              <a:path w="177800" h="177800">
                <a:moveTo>
                  <a:pt x="50800" y="0"/>
                </a:moveTo>
                <a:lnTo>
                  <a:pt x="127000" y="0"/>
                </a:lnTo>
                <a:cubicBezTo>
                  <a:pt x="155067" y="0"/>
                  <a:pt x="177800" y="22733"/>
                  <a:pt x="177800" y="50800"/>
                </a:cubicBezTo>
                <a:lnTo>
                  <a:pt x="177800" y="127000"/>
                </a:lnTo>
                <a:cubicBezTo>
                  <a:pt x="177800" y="155067"/>
                  <a:pt x="155067" y="177800"/>
                  <a:pt x="127000" y="177800"/>
                </a:cubicBezTo>
                <a:lnTo>
                  <a:pt x="50800" y="177800"/>
                </a:lnTo>
                <a:cubicBezTo>
                  <a:pt x="22733" y="177800"/>
                  <a:pt x="0" y="155067"/>
                  <a:pt x="0" y="1270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3985CD"/>
          </a:solidFill>
          <a:ln w="1524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ck-1-1"/>
          <p:cNvSpPr/>
          <p:nvPr/>
        </p:nvSpPr>
        <p:spPr>
          <a:xfrm>
            <a:off x="1187450" y="3035300"/>
            <a:ext cx="88900" cy="76200"/>
          </a:xfrm>
          <a:custGeom>
            <a:avLst/>
            <a:gdLst/>
            <a:ahLst/>
            <a:cxnLst/>
            <a:rect l="0" t="0" r="r" b="b"/>
            <a:pathLst>
              <a:path w="88900" h="76200">
                <a:moveTo>
                  <a:pt x="0" y="38100"/>
                </a:moveTo>
                <a:lnTo>
                  <a:pt x="31750" y="76200"/>
                </a:lnTo>
                <a:lnTo>
                  <a:pt x="88900" y="0"/>
                </a:lnTo>
              </a:path>
            </a:pathLst>
          </a:custGeom>
          <a:noFill/>
          <a:ln w="1651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tk-1-1"/>
          <p:cNvSpPr txBox="1"/>
          <p:nvPr/>
        </p:nvSpPr>
        <p:spPr>
          <a:xfrm>
            <a:off x="1408684" y="2983040"/>
            <a:ext cx="118694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访谈 20 位核心员工</a:t>
            </a:r>
          </a:p>
        </p:txBody>
      </p:sp>
      <p:cxnSp>
        <p:nvCxnSpPr>
          <p:cNvPr id="30" name="ts-1-1"/>
          <p:cNvCxnSpPr/>
          <p:nvPr/>
        </p:nvCxnSpPr>
        <p:spPr>
          <a:xfrm>
            <a:off x="1143000" y="3314700"/>
            <a:ext cx="2921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cb-1-2"/>
          <p:cNvSpPr/>
          <p:nvPr/>
        </p:nvSpPr>
        <p:spPr>
          <a:xfrm>
            <a:off x="1143000" y="3429000"/>
            <a:ext cx="177800" cy="177800"/>
          </a:xfrm>
          <a:custGeom>
            <a:avLst/>
            <a:gdLst/>
            <a:ahLst/>
            <a:cxnLst/>
            <a:rect l="0" t="0" r="r" b="b"/>
            <a:pathLst>
              <a:path w="177800" h="177800">
                <a:moveTo>
                  <a:pt x="50800" y="0"/>
                </a:moveTo>
                <a:lnTo>
                  <a:pt x="127000" y="0"/>
                </a:lnTo>
                <a:cubicBezTo>
                  <a:pt x="155067" y="0"/>
                  <a:pt x="177800" y="22733"/>
                  <a:pt x="177800" y="50800"/>
                </a:cubicBezTo>
                <a:lnTo>
                  <a:pt x="177800" y="127000"/>
                </a:lnTo>
                <a:cubicBezTo>
                  <a:pt x="177800" y="155067"/>
                  <a:pt x="155067" y="177800"/>
                  <a:pt x="127000" y="177800"/>
                </a:cubicBezTo>
                <a:lnTo>
                  <a:pt x="50800" y="177800"/>
                </a:lnTo>
                <a:cubicBezTo>
                  <a:pt x="22733" y="177800"/>
                  <a:pt x="0" y="155067"/>
                  <a:pt x="0" y="1270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3985CD"/>
          </a:solidFill>
          <a:ln w="1524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ck-1-2"/>
          <p:cNvSpPr/>
          <p:nvPr/>
        </p:nvSpPr>
        <p:spPr>
          <a:xfrm>
            <a:off x="1187450" y="3479800"/>
            <a:ext cx="88900" cy="76200"/>
          </a:xfrm>
          <a:custGeom>
            <a:avLst/>
            <a:gdLst/>
            <a:ahLst/>
            <a:cxnLst/>
            <a:rect l="0" t="0" r="r" b="b"/>
            <a:pathLst>
              <a:path w="88900" h="76200">
                <a:moveTo>
                  <a:pt x="0" y="38100"/>
                </a:moveTo>
                <a:lnTo>
                  <a:pt x="31750" y="76200"/>
                </a:lnTo>
                <a:lnTo>
                  <a:pt x="88900" y="0"/>
                </a:lnTo>
              </a:path>
            </a:pathLst>
          </a:custGeom>
          <a:noFill/>
          <a:ln w="1651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tk-1-2"/>
          <p:cNvSpPr txBox="1"/>
          <p:nvPr/>
        </p:nvSpPr>
        <p:spPr>
          <a:xfrm>
            <a:off x="1408684" y="3427540"/>
            <a:ext cx="118694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拜访 10 家重点客户</a:t>
            </a:r>
          </a:p>
        </p:txBody>
      </p:sp>
      <p:cxnSp>
        <p:nvCxnSpPr>
          <p:cNvPr id="34" name="ts-1-2"/>
          <p:cNvCxnSpPr/>
          <p:nvPr/>
        </p:nvCxnSpPr>
        <p:spPr>
          <a:xfrm>
            <a:off x="1143000" y="3759200"/>
            <a:ext cx="2921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cb-1-3"/>
          <p:cNvSpPr/>
          <p:nvPr/>
        </p:nvSpPr>
        <p:spPr>
          <a:xfrm>
            <a:off x="1143000" y="3873500"/>
            <a:ext cx="177800" cy="177800"/>
          </a:xfrm>
          <a:custGeom>
            <a:avLst/>
            <a:gdLst/>
            <a:ahLst/>
            <a:cxnLst/>
            <a:rect l="0" t="0" r="r" b="b"/>
            <a:pathLst>
              <a:path w="177800" h="177800">
                <a:moveTo>
                  <a:pt x="50800" y="0"/>
                </a:moveTo>
                <a:lnTo>
                  <a:pt x="127000" y="0"/>
                </a:lnTo>
                <a:cubicBezTo>
                  <a:pt x="155067" y="0"/>
                  <a:pt x="177800" y="22733"/>
                  <a:pt x="177800" y="50800"/>
                </a:cubicBezTo>
                <a:lnTo>
                  <a:pt x="177800" y="127000"/>
                </a:lnTo>
                <a:cubicBezTo>
                  <a:pt x="177800" y="155067"/>
                  <a:pt x="155067" y="177800"/>
                  <a:pt x="127000" y="177800"/>
                </a:cubicBezTo>
                <a:lnTo>
                  <a:pt x="50800" y="177800"/>
                </a:lnTo>
                <a:cubicBezTo>
                  <a:pt x="22733" y="177800"/>
                  <a:pt x="0" y="155067"/>
                  <a:pt x="0" y="1270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3985CD"/>
          </a:solidFill>
          <a:ln w="1524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ck-1-3"/>
          <p:cNvSpPr/>
          <p:nvPr/>
        </p:nvSpPr>
        <p:spPr>
          <a:xfrm>
            <a:off x="1187450" y="3924300"/>
            <a:ext cx="88900" cy="76200"/>
          </a:xfrm>
          <a:custGeom>
            <a:avLst/>
            <a:gdLst/>
            <a:ahLst/>
            <a:cxnLst/>
            <a:rect l="0" t="0" r="r" b="b"/>
            <a:pathLst>
              <a:path w="88900" h="76200">
                <a:moveTo>
                  <a:pt x="0" y="38100"/>
                </a:moveTo>
                <a:lnTo>
                  <a:pt x="31750" y="76200"/>
                </a:lnTo>
                <a:lnTo>
                  <a:pt x="88900" y="0"/>
                </a:lnTo>
              </a:path>
            </a:pathLst>
          </a:custGeom>
          <a:noFill/>
          <a:ln w="1651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tk-1-3"/>
          <p:cNvSpPr txBox="1"/>
          <p:nvPr/>
        </p:nvSpPr>
        <p:spPr>
          <a:xfrm>
            <a:off x="1408684" y="3872040"/>
            <a:ext cx="115443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梳理现有流程与数据</a:t>
            </a:r>
          </a:p>
        </p:txBody>
      </p:sp>
      <p:cxnSp>
        <p:nvCxnSpPr>
          <p:cNvPr id="38" name="ts-1-3"/>
          <p:cNvCxnSpPr/>
          <p:nvPr/>
        </p:nvCxnSpPr>
        <p:spPr>
          <a:xfrm>
            <a:off x="1143000" y="4203700"/>
            <a:ext cx="2921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cb-1-4"/>
          <p:cNvSpPr/>
          <p:nvPr/>
        </p:nvSpPr>
        <p:spPr>
          <a:xfrm>
            <a:off x="1143000" y="4318000"/>
            <a:ext cx="177800" cy="177800"/>
          </a:xfrm>
          <a:custGeom>
            <a:avLst/>
            <a:gdLst/>
            <a:ahLst/>
            <a:cxnLst/>
            <a:rect l="0" t="0" r="r" b="b"/>
            <a:pathLst>
              <a:path w="177800" h="177800">
                <a:moveTo>
                  <a:pt x="50800" y="0"/>
                </a:moveTo>
                <a:lnTo>
                  <a:pt x="127000" y="0"/>
                </a:lnTo>
                <a:cubicBezTo>
                  <a:pt x="155067" y="0"/>
                  <a:pt x="177800" y="22733"/>
                  <a:pt x="177800" y="50800"/>
                </a:cubicBezTo>
                <a:lnTo>
                  <a:pt x="177800" y="127000"/>
                </a:lnTo>
                <a:cubicBezTo>
                  <a:pt x="177800" y="155067"/>
                  <a:pt x="155067" y="177800"/>
                  <a:pt x="127000" y="177800"/>
                </a:cubicBezTo>
                <a:lnTo>
                  <a:pt x="50800" y="177800"/>
                </a:lnTo>
                <a:cubicBezTo>
                  <a:pt x="22733" y="177800"/>
                  <a:pt x="0" y="155067"/>
                  <a:pt x="0" y="1270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3985CD"/>
          </a:solidFill>
          <a:ln w="1524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ck-1-4"/>
          <p:cNvSpPr/>
          <p:nvPr/>
        </p:nvSpPr>
        <p:spPr>
          <a:xfrm>
            <a:off x="1187450" y="4368800"/>
            <a:ext cx="88900" cy="76200"/>
          </a:xfrm>
          <a:custGeom>
            <a:avLst/>
            <a:gdLst/>
            <a:ahLst/>
            <a:cxnLst/>
            <a:rect l="0" t="0" r="r" b="b"/>
            <a:pathLst>
              <a:path w="88900" h="76200">
                <a:moveTo>
                  <a:pt x="0" y="38100"/>
                </a:moveTo>
                <a:lnTo>
                  <a:pt x="31750" y="76200"/>
                </a:lnTo>
                <a:lnTo>
                  <a:pt x="88900" y="0"/>
                </a:lnTo>
              </a:path>
            </a:pathLst>
          </a:custGeom>
          <a:noFill/>
          <a:ln w="1651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tk-1-4"/>
          <p:cNvSpPr txBox="1"/>
          <p:nvPr/>
        </p:nvSpPr>
        <p:spPr>
          <a:xfrm>
            <a:off x="1408684" y="4316540"/>
            <a:ext cx="123723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识别 3 个快速见效点</a:t>
            </a:r>
          </a:p>
        </p:txBody>
      </p:sp>
      <p:sp>
        <p:nvSpPr>
          <p:cNvPr id="42" name="out-1"/>
          <p:cNvSpPr/>
          <p:nvPr/>
        </p:nvSpPr>
        <p:spPr>
          <a:xfrm>
            <a:off x="1143000" y="4965700"/>
            <a:ext cx="2921000" cy="533400"/>
          </a:xfrm>
          <a:custGeom>
            <a:avLst/>
            <a:gdLst/>
            <a:ahLst/>
            <a:cxnLst/>
            <a:rect l="0" t="0" r="r" b="b"/>
            <a:pathLst>
              <a:path w="2921000" h="533400">
                <a:moveTo>
                  <a:pt x="114300" y="0"/>
                </a:moveTo>
                <a:lnTo>
                  <a:pt x="2806700" y="0"/>
                </a:lnTo>
                <a:cubicBezTo>
                  <a:pt x="2869819" y="0"/>
                  <a:pt x="2921000" y="51181"/>
                  <a:pt x="2921000" y="114300"/>
                </a:cubicBezTo>
                <a:lnTo>
                  <a:pt x="2921000" y="419100"/>
                </a:lnTo>
                <a:cubicBezTo>
                  <a:pt x="2921000" y="482219"/>
                  <a:pt x="2869819" y="533400"/>
                  <a:pt x="2806700" y="533400"/>
                </a:cubicBezTo>
                <a:lnTo>
                  <a:pt x="114300" y="533400"/>
                </a:lnTo>
                <a:cubicBezTo>
                  <a:pt x="51181" y="533400"/>
                  <a:pt x="0" y="482219"/>
                  <a:pt x="0" y="4191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3985CD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outh-1"/>
          <p:cNvSpPr txBox="1"/>
          <p:nvPr/>
        </p:nvSpPr>
        <p:spPr>
          <a:xfrm>
            <a:off x="1297051" y="5080587"/>
            <a:ext cx="50196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100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阶段交付</a:t>
            </a:r>
          </a:p>
        </p:txBody>
      </p:sp>
      <p:sp>
        <p:nvSpPr>
          <p:cNvPr id="44" name="outt-1"/>
          <p:cNvSpPr txBox="1"/>
          <p:nvPr/>
        </p:nvSpPr>
        <p:spPr>
          <a:xfrm>
            <a:off x="1292860" y="5227955"/>
            <a:ext cx="6477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诊断报告</a:t>
            </a:r>
          </a:p>
        </p:txBody>
      </p:sp>
      <p:sp>
        <p:nvSpPr>
          <p:cNvPr id="45" name="card-2"/>
          <p:cNvSpPr/>
          <p:nvPr/>
        </p:nvSpPr>
        <p:spPr>
          <a:xfrm>
            <a:off x="4445000" y="1879600"/>
            <a:ext cx="3302000" cy="3810000"/>
          </a:xfrm>
          <a:custGeom>
            <a:avLst/>
            <a:gdLst/>
            <a:ahLst/>
            <a:cxnLst/>
            <a:rect l="0" t="0" r="r" b="b"/>
            <a:pathLst>
              <a:path w="3302000" h="3810000">
                <a:moveTo>
                  <a:pt x="152400" y="0"/>
                </a:moveTo>
                <a:lnTo>
                  <a:pt x="3149600" y="0"/>
                </a:lnTo>
                <a:cubicBezTo>
                  <a:pt x="3233801" y="0"/>
                  <a:pt x="3302000" y="68199"/>
                  <a:pt x="3302000" y="152400"/>
                </a:cubicBezTo>
                <a:lnTo>
                  <a:pt x="3302000" y="3657600"/>
                </a:lnTo>
                <a:cubicBezTo>
                  <a:pt x="3302000" y="3741801"/>
                  <a:pt x="3233801" y="3810000"/>
                  <a:pt x="3149600" y="3810000"/>
                </a:cubicBezTo>
                <a:lnTo>
                  <a:pt x="152400" y="3810000"/>
                </a:lnTo>
                <a:cubicBezTo>
                  <a:pt x="68199" y="3810000"/>
                  <a:pt x="0" y="3741801"/>
                  <a:pt x="0" y="36576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hd-2"/>
          <p:cNvSpPr/>
          <p:nvPr/>
        </p:nvSpPr>
        <p:spPr>
          <a:xfrm>
            <a:off x="4445000" y="1879600"/>
            <a:ext cx="3302000" cy="952500"/>
          </a:xfrm>
          <a:custGeom>
            <a:avLst/>
            <a:gdLst/>
            <a:ahLst/>
            <a:cxnLst/>
            <a:rect l="0" t="0" r="r" b="b"/>
            <a:pathLst>
              <a:path w="3302000" h="952500">
                <a:moveTo>
                  <a:pt x="152400" y="0"/>
                </a:moveTo>
                <a:lnTo>
                  <a:pt x="3149600" y="0"/>
                </a:lnTo>
                <a:cubicBezTo>
                  <a:pt x="3233801" y="0"/>
                  <a:pt x="3302000" y="68199"/>
                  <a:pt x="3302000" y="152400"/>
                </a:cubicBezTo>
                <a:lnTo>
                  <a:pt x="3302000" y="800100"/>
                </a:lnTo>
                <a:cubicBezTo>
                  <a:pt x="3302000" y="884301"/>
                  <a:pt x="3233801" y="952500"/>
                  <a:pt x="3149600" y="952500"/>
                </a:cubicBezTo>
                <a:lnTo>
                  <a:pt x="152400" y="952500"/>
                </a:lnTo>
                <a:cubicBezTo>
                  <a:pt x="68199" y="952500"/>
                  <a:pt x="0" y="884301"/>
                  <a:pt x="0" y="8001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gradFill rotWithShape="1">
            <a:gsLst>
              <a:gs pos="0">
                <a:srgbClr val="366EB2"/>
              </a:gs>
              <a:gs pos="100000">
                <a:srgbClr val="1B5AA8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hd2-2"/>
          <p:cNvSpPr/>
          <p:nvPr/>
        </p:nvSpPr>
        <p:spPr>
          <a:xfrm>
            <a:off x="4445000" y="2641600"/>
            <a:ext cx="3302000" cy="190500"/>
          </a:xfrm>
          <a:prstGeom prst="rect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d-2"/>
          <p:cNvSpPr txBox="1"/>
          <p:nvPr/>
        </p:nvSpPr>
        <p:spPr>
          <a:xfrm>
            <a:off x="4602988" y="1943989"/>
            <a:ext cx="974852" cy="8445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8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60</a:t>
            </a:r>
          </a:p>
        </p:txBody>
      </p:sp>
      <p:sp>
        <p:nvSpPr>
          <p:cNvPr id="49" name="du-2"/>
          <p:cNvSpPr txBox="1"/>
          <p:nvPr/>
        </p:nvSpPr>
        <p:spPr>
          <a:xfrm>
            <a:off x="5276088" y="2336102"/>
            <a:ext cx="3136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>
                <a:solidFill>
                  <a:srgbClr val="DCE9F8"/>
                </a:solidFill>
                <a:latin typeface="微软雅黑"/>
                <a:ea typeface="微软雅黑"/>
                <a:cs typeface="微软雅黑"/>
              </a:rPr>
              <a:t>天</a:t>
            </a:r>
          </a:p>
        </p:txBody>
      </p:sp>
      <p:sp>
        <p:nvSpPr>
          <p:cNvPr id="50" name="n-2"/>
          <p:cNvSpPr txBox="1"/>
          <p:nvPr/>
        </p:nvSpPr>
        <p:spPr>
          <a:xfrm>
            <a:off x="6378575" y="2077244"/>
            <a:ext cx="11715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定方向与班子</a:t>
            </a:r>
          </a:p>
        </p:txBody>
      </p:sp>
      <p:sp>
        <p:nvSpPr>
          <p:cNvPr id="51" name="e-2"/>
          <p:cNvSpPr txBox="1"/>
          <p:nvPr/>
        </p:nvSpPr>
        <p:spPr>
          <a:xfrm>
            <a:off x="7161022" y="2354008"/>
            <a:ext cx="3807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200">
                <a:solidFill>
                  <a:srgbClr val="CFE0F4"/>
                </a:solidFill>
                <a:latin typeface="Arial"/>
                <a:ea typeface="Arial"/>
                <a:cs typeface="Arial"/>
              </a:rPr>
              <a:t>PLAN</a:t>
            </a:r>
          </a:p>
        </p:txBody>
      </p:sp>
      <p:sp>
        <p:nvSpPr>
          <p:cNvPr id="52" name="cb-2-1"/>
          <p:cNvSpPr/>
          <p:nvPr/>
        </p:nvSpPr>
        <p:spPr>
          <a:xfrm>
            <a:off x="4635500" y="2984500"/>
            <a:ext cx="177800" cy="177800"/>
          </a:xfrm>
          <a:custGeom>
            <a:avLst/>
            <a:gdLst/>
            <a:ahLst/>
            <a:cxnLst/>
            <a:rect l="0" t="0" r="r" b="b"/>
            <a:pathLst>
              <a:path w="177800" h="177800">
                <a:moveTo>
                  <a:pt x="50800" y="0"/>
                </a:moveTo>
                <a:lnTo>
                  <a:pt x="127000" y="0"/>
                </a:lnTo>
                <a:cubicBezTo>
                  <a:pt x="155067" y="0"/>
                  <a:pt x="177800" y="22733"/>
                  <a:pt x="177800" y="50800"/>
                </a:cubicBezTo>
                <a:lnTo>
                  <a:pt x="177800" y="127000"/>
                </a:lnTo>
                <a:cubicBezTo>
                  <a:pt x="177800" y="155067"/>
                  <a:pt x="155067" y="177800"/>
                  <a:pt x="127000" y="177800"/>
                </a:cubicBezTo>
                <a:lnTo>
                  <a:pt x="50800" y="177800"/>
                </a:lnTo>
                <a:cubicBezTo>
                  <a:pt x="22733" y="177800"/>
                  <a:pt x="0" y="155067"/>
                  <a:pt x="0" y="1270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FFFFFF"/>
          </a:solidFill>
          <a:ln w="1524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tk-2-1"/>
          <p:cNvSpPr txBox="1"/>
          <p:nvPr/>
        </p:nvSpPr>
        <p:spPr>
          <a:xfrm>
            <a:off x="4901184" y="2983040"/>
            <a:ext cx="103759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发布部门三年规划</a:t>
            </a:r>
          </a:p>
        </p:txBody>
      </p:sp>
      <p:cxnSp>
        <p:nvCxnSpPr>
          <p:cNvPr id="54" name="ts-2-1"/>
          <p:cNvCxnSpPr/>
          <p:nvPr/>
        </p:nvCxnSpPr>
        <p:spPr>
          <a:xfrm>
            <a:off x="4635500" y="3314700"/>
            <a:ext cx="2921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cb-2-2"/>
          <p:cNvSpPr/>
          <p:nvPr/>
        </p:nvSpPr>
        <p:spPr>
          <a:xfrm>
            <a:off x="4635500" y="3429000"/>
            <a:ext cx="177800" cy="177800"/>
          </a:xfrm>
          <a:custGeom>
            <a:avLst/>
            <a:gdLst/>
            <a:ahLst/>
            <a:cxnLst/>
            <a:rect l="0" t="0" r="r" b="b"/>
            <a:pathLst>
              <a:path w="177800" h="177800">
                <a:moveTo>
                  <a:pt x="50800" y="0"/>
                </a:moveTo>
                <a:lnTo>
                  <a:pt x="127000" y="0"/>
                </a:lnTo>
                <a:cubicBezTo>
                  <a:pt x="155067" y="0"/>
                  <a:pt x="177800" y="22733"/>
                  <a:pt x="177800" y="50800"/>
                </a:cubicBezTo>
                <a:lnTo>
                  <a:pt x="177800" y="127000"/>
                </a:lnTo>
                <a:cubicBezTo>
                  <a:pt x="177800" y="155067"/>
                  <a:pt x="155067" y="177800"/>
                  <a:pt x="127000" y="177800"/>
                </a:cubicBezTo>
                <a:lnTo>
                  <a:pt x="50800" y="177800"/>
                </a:lnTo>
                <a:cubicBezTo>
                  <a:pt x="22733" y="177800"/>
                  <a:pt x="0" y="155067"/>
                  <a:pt x="0" y="1270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FFFFFF"/>
          </a:solidFill>
          <a:ln w="1524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tk-2-2"/>
          <p:cNvSpPr txBox="1"/>
          <p:nvPr/>
        </p:nvSpPr>
        <p:spPr>
          <a:xfrm>
            <a:off x="4901184" y="3427540"/>
            <a:ext cx="11203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调整 2 个关键岗位</a:t>
            </a:r>
          </a:p>
        </p:txBody>
      </p:sp>
      <p:cxnSp>
        <p:nvCxnSpPr>
          <p:cNvPr id="57" name="ts-2-2"/>
          <p:cNvCxnSpPr/>
          <p:nvPr/>
        </p:nvCxnSpPr>
        <p:spPr>
          <a:xfrm>
            <a:off x="4635500" y="3759200"/>
            <a:ext cx="2921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cb-2-3"/>
          <p:cNvSpPr/>
          <p:nvPr/>
        </p:nvSpPr>
        <p:spPr>
          <a:xfrm>
            <a:off x="4635500" y="3873500"/>
            <a:ext cx="177800" cy="177800"/>
          </a:xfrm>
          <a:custGeom>
            <a:avLst/>
            <a:gdLst/>
            <a:ahLst/>
            <a:cxnLst/>
            <a:rect l="0" t="0" r="r" b="b"/>
            <a:pathLst>
              <a:path w="177800" h="177800">
                <a:moveTo>
                  <a:pt x="50800" y="0"/>
                </a:moveTo>
                <a:lnTo>
                  <a:pt x="127000" y="0"/>
                </a:lnTo>
                <a:cubicBezTo>
                  <a:pt x="155067" y="0"/>
                  <a:pt x="177800" y="22733"/>
                  <a:pt x="177800" y="50800"/>
                </a:cubicBezTo>
                <a:lnTo>
                  <a:pt x="177800" y="127000"/>
                </a:lnTo>
                <a:cubicBezTo>
                  <a:pt x="177800" y="155067"/>
                  <a:pt x="155067" y="177800"/>
                  <a:pt x="127000" y="177800"/>
                </a:cubicBezTo>
                <a:lnTo>
                  <a:pt x="50800" y="177800"/>
                </a:lnTo>
                <a:cubicBezTo>
                  <a:pt x="22733" y="177800"/>
                  <a:pt x="0" y="155067"/>
                  <a:pt x="0" y="1270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FFFFFF"/>
          </a:solidFill>
          <a:ln w="1524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tk-2-3"/>
          <p:cNvSpPr txBox="1"/>
          <p:nvPr/>
        </p:nvSpPr>
        <p:spPr>
          <a:xfrm>
            <a:off x="4901184" y="3872040"/>
            <a:ext cx="123723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落地 3 个快速见效点</a:t>
            </a:r>
          </a:p>
        </p:txBody>
      </p:sp>
      <p:cxnSp>
        <p:nvCxnSpPr>
          <p:cNvPr id="60" name="ts-2-3"/>
          <p:cNvCxnSpPr/>
          <p:nvPr/>
        </p:nvCxnSpPr>
        <p:spPr>
          <a:xfrm>
            <a:off x="4635500" y="4203700"/>
            <a:ext cx="2921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cb-2-4"/>
          <p:cNvSpPr/>
          <p:nvPr/>
        </p:nvSpPr>
        <p:spPr>
          <a:xfrm>
            <a:off x="4635500" y="4318000"/>
            <a:ext cx="177800" cy="177800"/>
          </a:xfrm>
          <a:custGeom>
            <a:avLst/>
            <a:gdLst/>
            <a:ahLst/>
            <a:cxnLst/>
            <a:rect l="0" t="0" r="r" b="b"/>
            <a:pathLst>
              <a:path w="177800" h="177800">
                <a:moveTo>
                  <a:pt x="50800" y="0"/>
                </a:moveTo>
                <a:lnTo>
                  <a:pt x="127000" y="0"/>
                </a:lnTo>
                <a:cubicBezTo>
                  <a:pt x="155067" y="0"/>
                  <a:pt x="177800" y="22733"/>
                  <a:pt x="177800" y="50800"/>
                </a:cubicBezTo>
                <a:lnTo>
                  <a:pt x="177800" y="127000"/>
                </a:lnTo>
                <a:cubicBezTo>
                  <a:pt x="177800" y="155067"/>
                  <a:pt x="155067" y="177800"/>
                  <a:pt x="127000" y="177800"/>
                </a:cubicBezTo>
                <a:lnTo>
                  <a:pt x="50800" y="177800"/>
                </a:lnTo>
                <a:cubicBezTo>
                  <a:pt x="22733" y="177800"/>
                  <a:pt x="0" y="155067"/>
                  <a:pt x="0" y="1270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FFFFFF"/>
          </a:solidFill>
          <a:ln w="1524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tk-2-4"/>
          <p:cNvSpPr txBox="1"/>
          <p:nvPr/>
        </p:nvSpPr>
        <p:spPr>
          <a:xfrm>
            <a:off x="4901184" y="4316540"/>
            <a:ext cx="92075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建立周经营例会</a:t>
            </a:r>
          </a:p>
        </p:txBody>
      </p:sp>
      <p:sp>
        <p:nvSpPr>
          <p:cNvPr id="63" name="out-2"/>
          <p:cNvSpPr/>
          <p:nvPr/>
        </p:nvSpPr>
        <p:spPr>
          <a:xfrm>
            <a:off x="4635500" y="4965700"/>
            <a:ext cx="2921000" cy="533400"/>
          </a:xfrm>
          <a:custGeom>
            <a:avLst/>
            <a:gdLst/>
            <a:ahLst/>
            <a:cxnLst/>
            <a:rect l="0" t="0" r="r" b="b"/>
            <a:pathLst>
              <a:path w="2921000" h="533400">
                <a:moveTo>
                  <a:pt x="114300" y="0"/>
                </a:moveTo>
                <a:lnTo>
                  <a:pt x="2806700" y="0"/>
                </a:lnTo>
                <a:cubicBezTo>
                  <a:pt x="2869819" y="0"/>
                  <a:pt x="2921000" y="51181"/>
                  <a:pt x="2921000" y="114300"/>
                </a:cubicBezTo>
                <a:lnTo>
                  <a:pt x="2921000" y="419100"/>
                </a:lnTo>
                <a:cubicBezTo>
                  <a:pt x="2921000" y="482219"/>
                  <a:pt x="2869819" y="533400"/>
                  <a:pt x="2806700" y="533400"/>
                </a:cubicBezTo>
                <a:lnTo>
                  <a:pt x="114300" y="533400"/>
                </a:lnTo>
                <a:cubicBezTo>
                  <a:pt x="51181" y="533400"/>
                  <a:pt x="0" y="482219"/>
                  <a:pt x="0" y="4191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outh-2"/>
          <p:cNvSpPr txBox="1"/>
          <p:nvPr/>
        </p:nvSpPr>
        <p:spPr>
          <a:xfrm>
            <a:off x="4789551" y="5080587"/>
            <a:ext cx="50196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100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阶段交付</a:t>
            </a:r>
          </a:p>
        </p:txBody>
      </p:sp>
      <p:sp>
        <p:nvSpPr>
          <p:cNvPr id="65" name="outt-2"/>
          <p:cNvSpPr txBox="1"/>
          <p:nvPr/>
        </p:nvSpPr>
        <p:spPr>
          <a:xfrm>
            <a:off x="4785360" y="5227955"/>
            <a:ext cx="104775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规划与组织方案</a:t>
            </a:r>
          </a:p>
        </p:txBody>
      </p:sp>
      <p:sp>
        <p:nvSpPr>
          <p:cNvPr id="66" name="card-3"/>
          <p:cNvSpPr/>
          <p:nvPr/>
        </p:nvSpPr>
        <p:spPr>
          <a:xfrm>
            <a:off x="7937500" y="1879600"/>
            <a:ext cx="3302000" cy="3810000"/>
          </a:xfrm>
          <a:custGeom>
            <a:avLst/>
            <a:gdLst/>
            <a:ahLst/>
            <a:cxnLst/>
            <a:rect l="0" t="0" r="r" b="b"/>
            <a:pathLst>
              <a:path w="3302000" h="3810000">
                <a:moveTo>
                  <a:pt x="152400" y="0"/>
                </a:moveTo>
                <a:lnTo>
                  <a:pt x="3149600" y="0"/>
                </a:lnTo>
                <a:cubicBezTo>
                  <a:pt x="3233801" y="0"/>
                  <a:pt x="3302000" y="68199"/>
                  <a:pt x="3302000" y="152400"/>
                </a:cubicBezTo>
                <a:lnTo>
                  <a:pt x="3302000" y="3657600"/>
                </a:lnTo>
                <a:cubicBezTo>
                  <a:pt x="3302000" y="3741801"/>
                  <a:pt x="3233801" y="3810000"/>
                  <a:pt x="3149600" y="3810000"/>
                </a:cubicBezTo>
                <a:lnTo>
                  <a:pt x="152400" y="3810000"/>
                </a:lnTo>
                <a:cubicBezTo>
                  <a:pt x="68199" y="3810000"/>
                  <a:pt x="0" y="3741801"/>
                  <a:pt x="0" y="36576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hd-3"/>
          <p:cNvSpPr/>
          <p:nvPr/>
        </p:nvSpPr>
        <p:spPr>
          <a:xfrm>
            <a:off x="7937500" y="1879600"/>
            <a:ext cx="3302000" cy="952500"/>
          </a:xfrm>
          <a:custGeom>
            <a:avLst/>
            <a:gdLst/>
            <a:ahLst/>
            <a:cxnLst/>
            <a:rect l="0" t="0" r="r" b="b"/>
            <a:pathLst>
              <a:path w="3302000" h="952500">
                <a:moveTo>
                  <a:pt x="152400" y="0"/>
                </a:moveTo>
                <a:lnTo>
                  <a:pt x="3149600" y="0"/>
                </a:lnTo>
                <a:cubicBezTo>
                  <a:pt x="3233801" y="0"/>
                  <a:pt x="3302000" y="68199"/>
                  <a:pt x="3302000" y="152400"/>
                </a:cubicBezTo>
                <a:lnTo>
                  <a:pt x="3302000" y="800100"/>
                </a:lnTo>
                <a:cubicBezTo>
                  <a:pt x="3302000" y="884301"/>
                  <a:pt x="3233801" y="952500"/>
                  <a:pt x="3149600" y="952500"/>
                </a:cubicBezTo>
                <a:lnTo>
                  <a:pt x="152400" y="952500"/>
                </a:lnTo>
                <a:cubicBezTo>
                  <a:pt x="68199" y="952500"/>
                  <a:pt x="0" y="884301"/>
                  <a:pt x="0" y="8001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hd2-3"/>
          <p:cNvSpPr/>
          <p:nvPr/>
        </p:nvSpPr>
        <p:spPr>
          <a:xfrm>
            <a:off x="7937500" y="2641600"/>
            <a:ext cx="3302000" cy="190500"/>
          </a:xfrm>
          <a:prstGeom prst="rect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d-3"/>
          <p:cNvSpPr txBox="1"/>
          <p:nvPr/>
        </p:nvSpPr>
        <p:spPr>
          <a:xfrm>
            <a:off x="8095488" y="1943989"/>
            <a:ext cx="974852" cy="8445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8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90</a:t>
            </a:r>
          </a:p>
        </p:txBody>
      </p:sp>
      <p:sp>
        <p:nvSpPr>
          <p:cNvPr id="70" name="du-3"/>
          <p:cNvSpPr txBox="1"/>
          <p:nvPr/>
        </p:nvSpPr>
        <p:spPr>
          <a:xfrm>
            <a:off x="8768588" y="2336102"/>
            <a:ext cx="3136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>
                <a:solidFill>
                  <a:srgbClr val="DCE9F8"/>
                </a:solidFill>
                <a:latin typeface="微软雅黑"/>
                <a:ea typeface="微软雅黑"/>
                <a:cs typeface="微软雅黑"/>
              </a:rPr>
              <a:t>天</a:t>
            </a:r>
          </a:p>
        </p:txBody>
      </p:sp>
      <p:sp>
        <p:nvSpPr>
          <p:cNvPr id="71" name="n-3"/>
          <p:cNvSpPr txBox="1"/>
          <p:nvPr/>
        </p:nvSpPr>
        <p:spPr>
          <a:xfrm>
            <a:off x="10042525" y="2077244"/>
            <a:ext cx="10001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推进与复盘</a:t>
            </a:r>
          </a:p>
        </p:txBody>
      </p:sp>
      <p:sp>
        <p:nvSpPr>
          <p:cNvPr id="72" name="e-3"/>
          <p:cNvSpPr txBox="1"/>
          <p:nvPr/>
        </p:nvSpPr>
        <p:spPr>
          <a:xfrm>
            <a:off x="10427970" y="2354008"/>
            <a:ext cx="60629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200">
                <a:solidFill>
                  <a:srgbClr val="CFE0F4"/>
                </a:solidFill>
                <a:latin typeface="Arial"/>
                <a:ea typeface="Arial"/>
                <a:cs typeface="Arial"/>
              </a:rPr>
              <a:t>EXECUTE</a:t>
            </a:r>
          </a:p>
        </p:txBody>
      </p:sp>
      <p:sp>
        <p:nvSpPr>
          <p:cNvPr id="73" name="cb-3-1"/>
          <p:cNvSpPr/>
          <p:nvPr/>
        </p:nvSpPr>
        <p:spPr>
          <a:xfrm>
            <a:off x="8128000" y="2984500"/>
            <a:ext cx="177800" cy="177800"/>
          </a:xfrm>
          <a:custGeom>
            <a:avLst/>
            <a:gdLst/>
            <a:ahLst/>
            <a:cxnLst/>
            <a:rect l="0" t="0" r="r" b="b"/>
            <a:pathLst>
              <a:path w="177800" h="177800">
                <a:moveTo>
                  <a:pt x="50800" y="0"/>
                </a:moveTo>
                <a:lnTo>
                  <a:pt x="127000" y="0"/>
                </a:lnTo>
                <a:cubicBezTo>
                  <a:pt x="155067" y="0"/>
                  <a:pt x="177800" y="22733"/>
                  <a:pt x="177800" y="50800"/>
                </a:cubicBezTo>
                <a:lnTo>
                  <a:pt x="177800" y="127000"/>
                </a:lnTo>
                <a:cubicBezTo>
                  <a:pt x="177800" y="155067"/>
                  <a:pt x="155067" y="177800"/>
                  <a:pt x="127000" y="177800"/>
                </a:cubicBezTo>
                <a:lnTo>
                  <a:pt x="50800" y="177800"/>
                </a:lnTo>
                <a:cubicBezTo>
                  <a:pt x="22733" y="177800"/>
                  <a:pt x="0" y="155067"/>
                  <a:pt x="0" y="1270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FFFFFF"/>
          </a:solidFill>
          <a:ln w="152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tk-3-1"/>
          <p:cNvSpPr txBox="1"/>
          <p:nvPr/>
        </p:nvSpPr>
        <p:spPr>
          <a:xfrm>
            <a:off x="8393684" y="2983040"/>
            <a:ext cx="11203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启动 2 个重点项目</a:t>
            </a:r>
          </a:p>
        </p:txBody>
      </p:sp>
      <p:cxnSp>
        <p:nvCxnSpPr>
          <p:cNvPr id="75" name="ts-3-1"/>
          <p:cNvCxnSpPr/>
          <p:nvPr/>
        </p:nvCxnSpPr>
        <p:spPr>
          <a:xfrm>
            <a:off x="8128000" y="3314700"/>
            <a:ext cx="2921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cb-3-2"/>
          <p:cNvSpPr/>
          <p:nvPr/>
        </p:nvSpPr>
        <p:spPr>
          <a:xfrm>
            <a:off x="8128000" y="3429000"/>
            <a:ext cx="177800" cy="177800"/>
          </a:xfrm>
          <a:custGeom>
            <a:avLst/>
            <a:gdLst/>
            <a:ahLst/>
            <a:cxnLst/>
            <a:rect l="0" t="0" r="r" b="b"/>
            <a:pathLst>
              <a:path w="177800" h="177800">
                <a:moveTo>
                  <a:pt x="50800" y="0"/>
                </a:moveTo>
                <a:lnTo>
                  <a:pt x="127000" y="0"/>
                </a:lnTo>
                <a:cubicBezTo>
                  <a:pt x="155067" y="0"/>
                  <a:pt x="177800" y="22733"/>
                  <a:pt x="177800" y="50800"/>
                </a:cubicBezTo>
                <a:lnTo>
                  <a:pt x="177800" y="127000"/>
                </a:lnTo>
                <a:cubicBezTo>
                  <a:pt x="177800" y="155067"/>
                  <a:pt x="155067" y="177800"/>
                  <a:pt x="127000" y="177800"/>
                </a:cubicBezTo>
                <a:lnTo>
                  <a:pt x="50800" y="177800"/>
                </a:lnTo>
                <a:cubicBezTo>
                  <a:pt x="22733" y="177800"/>
                  <a:pt x="0" y="155067"/>
                  <a:pt x="0" y="1270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FFFFFF"/>
          </a:solidFill>
          <a:ln w="152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tk-3-2"/>
          <p:cNvSpPr txBox="1"/>
          <p:nvPr/>
        </p:nvSpPr>
        <p:spPr>
          <a:xfrm>
            <a:off x="8393684" y="3427540"/>
            <a:ext cx="92075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核心指标周跟踪</a:t>
            </a:r>
          </a:p>
        </p:txBody>
      </p:sp>
      <p:cxnSp>
        <p:nvCxnSpPr>
          <p:cNvPr id="78" name="ts-3-2"/>
          <p:cNvCxnSpPr/>
          <p:nvPr/>
        </p:nvCxnSpPr>
        <p:spPr>
          <a:xfrm>
            <a:off x="8128000" y="3759200"/>
            <a:ext cx="2921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cb-3-3"/>
          <p:cNvSpPr/>
          <p:nvPr/>
        </p:nvSpPr>
        <p:spPr>
          <a:xfrm>
            <a:off x="8128000" y="3873500"/>
            <a:ext cx="177800" cy="177800"/>
          </a:xfrm>
          <a:custGeom>
            <a:avLst/>
            <a:gdLst/>
            <a:ahLst/>
            <a:cxnLst/>
            <a:rect l="0" t="0" r="r" b="b"/>
            <a:pathLst>
              <a:path w="177800" h="177800">
                <a:moveTo>
                  <a:pt x="50800" y="0"/>
                </a:moveTo>
                <a:lnTo>
                  <a:pt x="127000" y="0"/>
                </a:lnTo>
                <a:cubicBezTo>
                  <a:pt x="155067" y="0"/>
                  <a:pt x="177800" y="22733"/>
                  <a:pt x="177800" y="50800"/>
                </a:cubicBezTo>
                <a:lnTo>
                  <a:pt x="177800" y="127000"/>
                </a:lnTo>
                <a:cubicBezTo>
                  <a:pt x="177800" y="155067"/>
                  <a:pt x="155067" y="177800"/>
                  <a:pt x="127000" y="177800"/>
                </a:cubicBezTo>
                <a:lnTo>
                  <a:pt x="50800" y="177800"/>
                </a:lnTo>
                <a:cubicBezTo>
                  <a:pt x="22733" y="177800"/>
                  <a:pt x="0" y="155067"/>
                  <a:pt x="0" y="1270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FFFFFF"/>
          </a:solidFill>
          <a:ln w="152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tk-3-3"/>
          <p:cNvSpPr txBox="1"/>
          <p:nvPr/>
        </p:nvSpPr>
        <p:spPr>
          <a:xfrm>
            <a:off x="8393684" y="3872040"/>
            <a:ext cx="115443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完成第一次季度复盘</a:t>
            </a:r>
          </a:p>
        </p:txBody>
      </p:sp>
      <p:cxnSp>
        <p:nvCxnSpPr>
          <p:cNvPr id="81" name="ts-3-3"/>
          <p:cNvCxnSpPr/>
          <p:nvPr/>
        </p:nvCxnSpPr>
        <p:spPr>
          <a:xfrm>
            <a:off x="8128000" y="4203700"/>
            <a:ext cx="2921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cb-3-4"/>
          <p:cNvSpPr/>
          <p:nvPr/>
        </p:nvSpPr>
        <p:spPr>
          <a:xfrm>
            <a:off x="8128000" y="4318000"/>
            <a:ext cx="177800" cy="177800"/>
          </a:xfrm>
          <a:custGeom>
            <a:avLst/>
            <a:gdLst/>
            <a:ahLst/>
            <a:cxnLst/>
            <a:rect l="0" t="0" r="r" b="b"/>
            <a:pathLst>
              <a:path w="177800" h="177800">
                <a:moveTo>
                  <a:pt x="50800" y="0"/>
                </a:moveTo>
                <a:lnTo>
                  <a:pt x="127000" y="0"/>
                </a:lnTo>
                <a:cubicBezTo>
                  <a:pt x="155067" y="0"/>
                  <a:pt x="177800" y="22733"/>
                  <a:pt x="177800" y="50800"/>
                </a:cubicBezTo>
                <a:lnTo>
                  <a:pt x="177800" y="127000"/>
                </a:lnTo>
                <a:cubicBezTo>
                  <a:pt x="177800" y="155067"/>
                  <a:pt x="155067" y="177800"/>
                  <a:pt x="127000" y="177800"/>
                </a:cubicBezTo>
                <a:lnTo>
                  <a:pt x="50800" y="177800"/>
                </a:lnTo>
                <a:cubicBezTo>
                  <a:pt x="22733" y="177800"/>
                  <a:pt x="0" y="155067"/>
                  <a:pt x="0" y="1270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FFFFFF"/>
          </a:solidFill>
          <a:ln w="152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tk-3-4"/>
          <p:cNvSpPr txBox="1"/>
          <p:nvPr/>
        </p:nvSpPr>
        <p:spPr>
          <a:xfrm>
            <a:off x="8393684" y="4316540"/>
            <a:ext cx="103759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向董事会汇报成果</a:t>
            </a:r>
          </a:p>
        </p:txBody>
      </p:sp>
      <p:sp>
        <p:nvSpPr>
          <p:cNvPr id="84" name="out-3"/>
          <p:cNvSpPr/>
          <p:nvPr/>
        </p:nvSpPr>
        <p:spPr>
          <a:xfrm>
            <a:off x="8128000" y="4965700"/>
            <a:ext cx="2921000" cy="533400"/>
          </a:xfrm>
          <a:custGeom>
            <a:avLst/>
            <a:gdLst/>
            <a:ahLst/>
            <a:cxnLst/>
            <a:rect l="0" t="0" r="r" b="b"/>
            <a:pathLst>
              <a:path w="2921000" h="533400">
                <a:moveTo>
                  <a:pt x="114300" y="0"/>
                </a:moveTo>
                <a:lnTo>
                  <a:pt x="2806700" y="0"/>
                </a:lnTo>
                <a:cubicBezTo>
                  <a:pt x="2869819" y="0"/>
                  <a:pt x="2921000" y="51181"/>
                  <a:pt x="2921000" y="114300"/>
                </a:cubicBezTo>
                <a:lnTo>
                  <a:pt x="2921000" y="419100"/>
                </a:lnTo>
                <a:cubicBezTo>
                  <a:pt x="2921000" y="482219"/>
                  <a:pt x="2869819" y="533400"/>
                  <a:pt x="2806700" y="533400"/>
                </a:cubicBezTo>
                <a:lnTo>
                  <a:pt x="114300" y="533400"/>
                </a:lnTo>
                <a:cubicBezTo>
                  <a:pt x="51181" y="533400"/>
                  <a:pt x="0" y="482219"/>
                  <a:pt x="0" y="4191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outh-3"/>
          <p:cNvSpPr txBox="1"/>
          <p:nvPr/>
        </p:nvSpPr>
        <p:spPr>
          <a:xfrm>
            <a:off x="8282051" y="5080587"/>
            <a:ext cx="50196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10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阶段交付</a:t>
            </a:r>
          </a:p>
        </p:txBody>
      </p:sp>
      <p:sp>
        <p:nvSpPr>
          <p:cNvPr id="86" name="outt-3"/>
          <p:cNvSpPr txBox="1"/>
          <p:nvPr/>
        </p:nvSpPr>
        <p:spPr>
          <a:xfrm>
            <a:off x="8277860" y="5227955"/>
            <a:ext cx="9144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季度复盘报告</a:t>
            </a:r>
          </a:p>
        </p:txBody>
      </p:sp>
      <p:sp>
        <p:nvSpPr>
          <p:cNvPr id="87" name="status"/>
          <p:cNvSpPr txBox="1"/>
          <p:nvPr/>
        </p:nvSpPr>
        <p:spPr>
          <a:xfrm>
            <a:off x="939165" y="5895261"/>
            <a:ext cx="178784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20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✓ 已完成第一阶段全部 4 项任务</a:t>
            </a:r>
          </a:p>
        </p:txBody>
      </p:sp>
      <p:cxnSp>
        <p:nvCxnSpPr>
          <p:cNvPr id="88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9" name="foot-l"/>
          <p:cNvSpPr txBox="1"/>
          <p:nvPr/>
        </p:nvSpPr>
        <p:spPr>
          <a:xfrm>
            <a:off x="573532" y="6532308"/>
            <a:ext cx="90906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30-60-90 天计划</a:t>
            </a:r>
          </a:p>
        </p:txBody>
      </p:sp>
      <p:sp>
        <p:nvSpPr>
          <p:cNvPr id="90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32994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订单到交付的五次交接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17271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HANDOFF FLOW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7846695" y="673132"/>
            <a:ext cx="3774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每一次跨部门交接都是风险点——明确交接物和时限，交付就不会掉在缝里</a:t>
            </a:r>
          </a:p>
        </p:txBody>
      </p:sp>
      <p:sp>
        <p:nvSpPr>
          <p:cNvPr id="10" name="d-1"/>
          <p:cNvSpPr/>
          <p:nvPr/>
        </p:nvSpPr>
        <p:spPr>
          <a:xfrm>
            <a:off x="952500" y="2095500"/>
            <a:ext cx="1651000" cy="1079500"/>
          </a:xfrm>
          <a:custGeom>
            <a:avLst/>
            <a:gdLst/>
            <a:ahLst/>
            <a:cxnLst/>
            <a:rect l="0" t="0" r="r" b="b"/>
            <a:pathLst>
              <a:path w="1651000" h="1079500">
                <a:moveTo>
                  <a:pt x="152400" y="0"/>
                </a:moveTo>
                <a:lnTo>
                  <a:pt x="1498600" y="0"/>
                </a:lnTo>
                <a:cubicBezTo>
                  <a:pt x="1582801" y="0"/>
                  <a:pt x="1651000" y="68199"/>
                  <a:pt x="1651000" y="152400"/>
                </a:cubicBezTo>
                <a:lnTo>
                  <a:pt x="1651000" y="927100"/>
                </a:lnTo>
                <a:cubicBezTo>
                  <a:pt x="1651000" y="1011301"/>
                  <a:pt x="1582801" y="1079500"/>
                  <a:pt x="1498600" y="1079500"/>
                </a:cubicBezTo>
                <a:lnTo>
                  <a:pt x="152400" y="1079500"/>
                </a:lnTo>
                <a:cubicBezTo>
                  <a:pt x="68199" y="1079500"/>
                  <a:pt x="0" y="1011301"/>
                  <a:pt x="0" y="9271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di-1"/>
          <p:cNvSpPr/>
          <p:nvPr/>
        </p:nvSpPr>
        <p:spPr>
          <a:xfrm>
            <a:off x="1574800" y="2286000"/>
            <a:ext cx="406400" cy="406400"/>
          </a:xfrm>
          <a:prstGeom prst="ellipse">
            <a:avLst/>
          </a:prstGeom>
          <a:solidFill>
            <a:srgbClr val="FFFFF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icon-people"/>
          <p:cNvSpPr/>
          <p:nvPr/>
        </p:nvSpPr>
        <p:spPr>
          <a:xfrm>
            <a:off x="1706880" y="2511234"/>
            <a:ext cx="143955" cy="40640"/>
          </a:xfrm>
          <a:custGeom>
            <a:avLst/>
            <a:gdLst/>
            <a:ahLst/>
            <a:cxnLst/>
            <a:rect l="0" t="0" r="r" b="b"/>
            <a:pathLst>
              <a:path w="143955" h="40640">
                <a:moveTo>
                  <a:pt x="0" y="40640"/>
                </a:moveTo>
                <a:cubicBezTo>
                  <a:pt x="0" y="15240"/>
                  <a:pt x="21145" y="0"/>
                  <a:pt x="45720" y="0"/>
                </a:cubicBezTo>
                <a:cubicBezTo>
                  <a:pt x="70294" y="0"/>
                  <a:pt x="91440" y="15240"/>
                  <a:pt x="91440" y="40640"/>
                </a:cubicBezTo>
                <a:moveTo>
                  <a:pt x="108394" y="3365"/>
                </a:moveTo>
                <a:cubicBezTo>
                  <a:pt x="130365" y="5905"/>
                  <a:pt x="143955" y="21145"/>
                  <a:pt x="143955" y="40640"/>
                </a:cubicBez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icon-people"/>
          <p:cNvSpPr/>
          <p:nvPr/>
        </p:nvSpPr>
        <p:spPr>
          <a:xfrm>
            <a:off x="1725507" y="2438400"/>
            <a:ext cx="54187" cy="54187"/>
          </a:xfrm>
          <a:prstGeom prst="ellipse">
            <a:avLst/>
          </a:pr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icon-people"/>
          <p:cNvSpPr/>
          <p:nvPr/>
        </p:nvSpPr>
        <p:spPr>
          <a:xfrm>
            <a:off x="1798320" y="2438400"/>
            <a:ext cx="44027" cy="44027"/>
          </a:xfrm>
          <a:prstGeom prst="ellipse">
            <a:avLst/>
          </a:pr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dn-1"/>
          <p:cNvSpPr txBox="1"/>
          <p:nvPr/>
        </p:nvSpPr>
        <p:spPr>
          <a:xfrm>
            <a:off x="1469390" y="2752217"/>
            <a:ext cx="6172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4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销售</a:t>
            </a:r>
          </a:p>
        </p:txBody>
      </p:sp>
      <p:cxnSp>
        <p:nvCxnSpPr>
          <p:cNvPr id="16" name="lane-1"/>
          <p:cNvCxnSpPr/>
          <p:nvPr/>
        </p:nvCxnSpPr>
        <p:spPr>
          <a:xfrm>
            <a:off x="1778000" y="3238500"/>
            <a:ext cx="0" cy="2222500"/>
          </a:xfrm>
          <a:prstGeom prst="line">
            <a:avLst/>
          </a:prstGeom>
          <a:ln w="12700" cap="rnd">
            <a:solidFill>
              <a:srgbClr val="0B3E8F">
                <a:alpha val="2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d-2"/>
          <p:cNvSpPr/>
          <p:nvPr/>
        </p:nvSpPr>
        <p:spPr>
          <a:xfrm>
            <a:off x="3111500" y="2095500"/>
            <a:ext cx="1651000" cy="1079500"/>
          </a:xfrm>
          <a:custGeom>
            <a:avLst/>
            <a:gdLst/>
            <a:ahLst/>
            <a:cxnLst/>
            <a:rect l="0" t="0" r="r" b="b"/>
            <a:pathLst>
              <a:path w="1651000" h="1079500">
                <a:moveTo>
                  <a:pt x="152400" y="0"/>
                </a:moveTo>
                <a:lnTo>
                  <a:pt x="1498600" y="0"/>
                </a:lnTo>
                <a:cubicBezTo>
                  <a:pt x="1582801" y="0"/>
                  <a:pt x="1651000" y="68199"/>
                  <a:pt x="1651000" y="152400"/>
                </a:cubicBezTo>
                <a:lnTo>
                  <a:pt x="1651000" y="927100"/>
                </a:lnTo>
                <a:cubicBezTo>
                  <a:pt x="1651000" y="1011301"/>
                  <a:pt x="1582801" y="1079500"/>
                  <a:pt x="1498600" y="1079500"/>
                </a:cubicBezTo>
                <a:lnTo>
                  <a:pt x="152400" y="1079500"/>
                </a:lnTo>
                <a:cubicBezTo>
                  <a:pt x="68199" y="1079500"/>
                  <a:pt x="0" y="1011301"/>
                  <a:pt x="0" y="9271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gradFill rotWithShape="1">
            <a:gsLst>
              <a:gs pos="0">
                <a:srgbClr val="366EB2"/>
              </a:gs>
              <a:gs pos="100000">
                <a:srgbClr val="1B5AA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di-2"/>
          <p:cNvSpPr/>
          <p:nvPr/>
        </p:nvSpPr>
        <p:spPr>
          <a:xfrm>
            <a:off x="3733800" y="2286000"/>
            <a:ext cx="406400" cy="406400"/>
          </a:xfrm>
          <a:prstGeom prst="ellipse">
            <a:avLst/>
          </a:prstGeom>
          <a:solidFill>
            <a:srgbClr val="FFFFF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icon-bulb"/>
          <p:cNvSpPr/>
          <p:nvPr/>
        </p:nvSpPr>
        <p:spPr>
          <a:xfrm>
            <a:off x="3889000" y="2416366"/>
            <a:ext cx="96000" cy="142240"/>
          </a:xfrm>
          <a:custGeom>
            <a:avLst/>
            <a:gdLst/>
            <a:ahLst/>
            <a:cxnLst/>
            <a:rect l="0" t="0" r="r" b="b"/>
            <a:pathLst>
              <a:path w="96000" h="142240">
                <a:moveTo>
                  <a:pt x="27680" y="118555"/>
                </a:moveTo>
                <a:lnTo>
                  <a:pt x="68320" y="118555"/>
                </a:lnTo>
                <a:moveTo>
                  <a:pt x="32760" y="142240"/>
                </a:moveTo>
                <a:lnTo>
                  <a:pt x="63240" y="142240"/>
                </a:lnTo>
                <a:moveTo>
                  <a:pt x="48000" y="0"/>
                </a:moveTo>
                <a:cubicBezTo>
                  <a:pt x="68574" y="-254"/>
                  <a:pt x="86926" y="12827"/>
                  <a:pt x="93530" y="32322"/>
                </a:cubicBezTo>
                <a:cubicBezTo>
                  <a:pt x="100070" y="51816"/>
                  <a:pt x="93339" y="73279"/>
                  <a:pt x="76766" y="85535"/>
                </a:cubicBezTo>
                <a:cubicBezTo>
                  <a:pt x="70860" y="90615"/>
                  <a:pt x="68320" y="95695"/>
                  <a:pt x="68320" y="103315"/>
                </a:cubicBezTo>
                <a:lnTo>
                  <a:pt x="27680" y="103315"/>
                </a:lnTo>
                <a:cubicBezTo>
                  <a:pt x="27680" y="95695"/>
                  <a:pt x="25140" y="90615"/>
                  <a:pt x="19235" y="85535"/>
                </a:cubicBezTo>
                <a:cubicBezTo>
                  <a:pt x="2661" y="73279"/>
                  <a:pt x="-4070" y="51816"/>
                  <a:pt x="2471" y="32322"/>
                </a:cubicBezTo>
                <a:cubicBezTo>
                  <a:pt x="9075" y="12827"/>
                  <a:pt x="27426" y="-254"/>
                  <a:pt x="48000" y="0"/>
                </a:cubicBezTo>
                <a:close/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dn-2"/>
          <p:cNvSpPr txBox="1"/>
          <p:nvPr/>
        </p:nvSpPr>
        <p:spPr>
          <a:xfrm>
            <a:off x="3628390" y="2752217"/>
            <a:ext cx="6172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4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方案</a:t>
            </a:r>
          </a:p>
        </p:txBody>
      </p:sp>
      <p:cxnSp>
        <p:nvCxnSpPr>
          <p:cNvPr id="21" name="lane-2"/>
          <p:cNvCxnSpPr/>
          <p:nvPr/>
        </p:nvCxnSpPr>
        <p:spPr>
          <a:xfrm>
            <a:off x="3937000" y="3238500"/>
            <a:ext cx="0" cy="2222500"/>
          </a:xfrm>
          <a:prstGeom prst="line">
            <a:avLst/>
          </a:prstGeom>
          <a:ln w="12700" cap="rnd">
            <a:solidFill>
              <a:srgbClr val="1B5AA8">
                <a:alpha val="2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d-3"/>
          <p:cNvSpPr/>
          <p:nvPr/>
        </p:nvSpPr>
        <p:spPr>
          <a:xfrm>
            <a:off x="5270500" y="2095500"/>
            <a:ext cx="1651000" cy="1079500"/>
          </a:xfrm>
          <a:custGeom>
            <a:avLst/>
            <a:gdLst/>
            <a:ahLst/>
            <a:cxnLst/>
            <a:rect l="0" t="0" r="r" b="b"/>
            <a:pathLst>
              <a:path w="1651000" h="1079500">
                <a:moveTo>
                  <a:pt x="152400" y="0"/>
                </a:moveTo>
                <a:lnTo>
                  <a:pt x="1498600" y="0"/>
                </a:lnTo>
                <a:cubicBezTo>
                  <a:pt x="1582801" y="0"/>
                  <a:pt x="1651000" y="68199"/>
                  <a:pt x="1651000" y="152400"/>
                </a:cubicBezTo>
                <a:lnTo>
                  <a:pt x="1651000" y="927100"/>
                </a:lnTo>
                <a:cubicBezTo>
                  <a:pt x="1651000" y="1011301"/>
                  <a:pt x="1582801" y="1079500"/>
                  <a:pt x="1498600" y="1079500"/>
                </a:cubicBezTo>
                <a:lnTo>
                  <a:pt x="152400" y="1079500"/>
                </a:lnTo>
                <a:cubicBezTo>
                  <a:pt x="68199" y="1079500"/>
                  <a:pt x="0" y="1011301"/>
                  <a:pt x="0" y="9271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gradFill rotWithShape="1">
            <a:gsLst>
              <a:gs pos="0">
                <a:srgbClr val="4787C9"/>
              </a:gs>
              <a:gs pos="100000">
                <a:srgbClr val="2E77C2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di-3"/>
          <p:cNvSpPr/>
          <p:nvPr/>
        </p:nvSpPr>
        <p:spPr>
          <a:xfrm>
            <a:off x="5892800" y="2286000"/>
            <a:ext cx="406400" cy="406400"/>
          </a:xfrm>
          <a:prstGeom prst="ellipse">
            <a:avLst/>
          </a:prstGeom>
          <a:solidFill>
            <a:srgbClr val="FFFFF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icon-cart"/>
          <p:cNvSpPr/>
          <p:nvPr/>
        </p:nvSpPr>
        <p:spPr>
          <a:xfrm>
            <a:off x="6021514" y="2426526"/>
            <a:ext cx="134620" cy="79629"/>
          </a:xfrm>
          <a:custGeom>
            <a:avLst/>
            <a:gdLst/>
            <a:ahLst/>
            <a:cxnLst/>
            <a:rect l="0" t="0" r="r" b="b"/>
            <a:pathLst>
              <a:path w="134620" h="79629">
                <a:moveTo>
                  <a:pt x="0" y="0"/>
                </a:moveTo>
                <a:lnTo>
                  <a:pt x="19431" y="0"/>
                </a:lnTo>
                <a:lnTo>
                  <a:pt x="38925" y="79629"/>
                </a:lnTo>
                <a:lnTo>
                  <a:pt x="118491" y="79629"/>
                </a:lnTo>
                <a:lnTo>
                  <a:pt x="134620" y="23749"/>
                </a:lnTo>
                <a:lnTo>
                  <a:pt x="25400" y="23749"/>
                </a:ln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icon-cart"/>
          <p:cNvSpPr/>
          <p:nvPr/>
        </p:nvSpPr>
        <p:spPr>
          <a:xfrm>
            <a:off x="6062133" y="2531533"/>
            <a:ext cx="23707" cy="23707"/>
          </a:xfrm>
          <a:prstGeom prst="ellipse">
            <a:avLst/>
          </a:pr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icon-cart"/>
          <p:cNvSpPr/>
          <p:nvPr/>
        </p:nvSpPr>
        <p:spPr>
          <a:xfrm>
            <a:off x="6123093" y="2531533"/>
            <a:ext cx="23707" cy="23707"/>
          </a:xfrm>
          <a:prstGeom prst="ellipse">
            <a:avLst/>
          </a:pr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dn-3"/>
          <p:cNvSpPr txBox="1"/>
          <p:nvPr/>
        </p:nvSpPr>
        <p:spPr>
          <a:xfrm>
            <a:off x="5787390" y="2752217"/>
            <a:ext cx="6172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4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采购</a:t>
            </a:r>
          </a:p>
        </p:txBody>
      </p:sp>
      <p:cxnSp>
        <p:nvCxnSpPr>
          <p:cNvPr id="28" name="lane-3"/>
          <p:cNvCxnSpPr/>
          <p:nvPr/>
        </p:nvCxnSpPr>
        <p:spPr>
          <a:xfrm>
            <a:off x="6096000" y="3238500"/>
            <a:ext cx="0" cy="2222500"/>
          </a:xfrm>
          <a:prstGeom prst="line">
            <a:avLst/>
          </a:prstGeom>
          <a:ln w="12700" cap="rnd">
            <a:solidFill>
              <a:srgbClr val="2E77C2">
                <a:alpha val="2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d-4"/>
          <p:cNvSpPr/>
          <p:nvPr/>
        </p:nvSpPr>
        <p:spPr>
          <a:xfrm>
            <a:off x="7429500" y="2095500"/>
            <a:ext cx="1651000" cy="1079500"/>
          </a:xfrm>
          <a:custGeom>
            <a:avLst/>
            <a:gdLst/>
            <a:ahLst/>
            <a:cxnLst/>
            <a:rect l="0" t="0" r="r" b="b"/>
            <a:pathLst>
              <a:path w="1651000" h="1079500">
                <a:moveTo>
                  <a:pt x="152400" y="0"/>
                </a:moveTo>
                <a:lnTo>
                  <a:pt x="1498600" y="0"/>
                </a:lnTo>
                <a:cubicBezTo>
                  <a:pt x="1582801" y="0"/>
                  <a:pt x="1651000" y="68199"/>
                  <a:pt x="1651000" y="152400"/>
                </a:cubicBezTo>
                <a:lnTo>
                  <a:pt x="1651000" y="927100"/>
                </a:lnTo>
                <a:cubicBezTo>
                  <a:pt x="1651000" y="1011301"/>
                  <a:pt x="1582801" y="1079500"/>
                  <a:pt x="1498600" y="1079500"/>
                </a:cubicBezTo>
                <a:lnTo>
                  <a:pt x="152400" y="1079500"/>
                </a:lnTo>
                <a:cubicBezTo>
                  <a:pt x="68199" y="1079500"/>
                  <a:pt x="0" y="1011301"/>
                  <a:pt x="0" y="9271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gradFill rotWithShape="1">
            <a:gsLst>
              <a:gs pos="0">
                <a:srgbClr val="5CA1DC"/>
              </a:gs>
              <a:gs pos="100000">
                <a:srgbClr val="4694D7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di-4"/>
          <p:cNvSpPr/>
          <p:nvPr/>
        </p:nvSpPr>
        <p:spPr>
          <a:xfrm>
            <a:off x="8051800" y="2286000"/>
            <a:ext cx="406400" cy="406400"/>
          </a:xfrm>
          <a:prstGeom prst="ellipse">
            <a:avLst/>
          </a:prstGeom>
          <a:solidFill>
            <a:srgbClr val="FFFFF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icon-factory"/>
          <p:cNvSpPr/>
          <p:nvPr/>
        </p:nvSpPr>
        <p:spPr>
          <a:xfrm>
            <a:off x="8182166" y="2457006"/>
            <a:ext cx="145669" cy="98234"/>
          </a:xfrm>
          <a:custGeom>
            <a:avLst/>
            <a:gdLst/>
            <a:ahLst/>
            <a:cxnLst/>
            <a:rect l="0" t="0" r="r" b="b"/>
            <a:pathLst>
              <a:path w="145669" h="98234">
                <a:moveTo>
                  <a:pt x="0" y="98234"/>
                </a:moveTo>
                <a:lnTo>
                  <a:pt x="0" y="23749"/>
                </a:lnTo>
                <a:lnTo>
                  <a:pt x="42355" y="49149"/>
                </a:lnTo>
                <a:lnTo>
                  <a:pt x="42355" y="23749"/>
                </a:lnTo>
                <a:lnTo>
                  <a:pt x="84709" y="49149"/>
                </a:lnTo>
                <a:lnTo>
                  <a:pt x="84709" y="0"/>
                </a:lnTo>
                <a:lnTo>
                  <a:pt x="127000" y="25400"/>
                </a:lnTo>
                <a:lnTo>
                  <a:pt x="127000" y="89789"/>
                </a:lnTo>
                <a:close/>
                <a:moveTo>
                  <a:pt x="0" y="98234"/>
                </a:moveTo>
                <a:lnTo>
                  <a:pt x="145669" y="98234"/>
                </a:ln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dn-4"/>
          <p:cNvSpPr txBox="1"/>
          <p:nvPr/>
        </p:nvSpPr>
        <p:spPr>
          <a:xfrm>
            <a:off x="7946390" y="2752217"/>
            <a:ext cx="6172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4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生产</a:t>
            </a:r>
          </a:p>
        </p:txBody>
      </p:sp>
      <p:cxnSp>
        <p:nvCxnSpPr>
          <p:cNvPr id="33" name="lane-4"/>
          <p:cNvCxnSpPr/>
          <p:nvPr/>
        </p:nvCxnSpPr>
        <p:spPr>
          <a:xfrm>
            <a:off x="8255000" y="3238500"/>
            <a:ext cx="0" cy="2222500"/>
          </a:xfrm>
          <a:prstGeom prst="line">
            <a:avLst/>
          </a:prstGeom>
          <a:ln w="12700" cap="rnd">
            <a:solidFill>
              <a:srgbClr val="4694D7">
                <a:alpha val="2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d-5"/>
          <p:cNvSpPr/>
          <p:nvPr/>
        </p:nvSpPr>
        <p:spPr>
          <a:xfrm>
            <a:off x="9588500" y="2095500"/>
            <a:ext cx="1651000" cy="1079500"/>
          </a:xfrm>
          <a:custGeom>
            <a:avLst/>
            <a:gdLst/>
            <a:ahLst/>
            <a:cxnLst/>
            <a:rect l="0" t="0" r="r" b="b"/>
            <a:pathLst>
              <a:path w="1651000" h="1079500">
                <a:moveTo>
                  <a:pt x="152400" y="0"/>
                </a:moveTo>
                <a:lnTo>
                  <a:pt x="1498600" y="0"/>
                </a:lnTo>
                <a:cubicBezTo>
                  <a:pt x="1582801" y="0"/>
                  <a:pt x="1651000" y="68199"/>
                  <a:pt x="1651000" y="152400"/>
                </a:cubicBezTo>
                <a:lnTo>
                  <a:pt x="1651000" y="927100"/>
                </a:lnTo>
                <a:cubicBezTo>
                  <a:pt x="1651000" y="1011301"/>
                  <a:pt x="1582801" y="1079500"/>
                  <a:pt x="1498600" y="1079500"/>
                </a:cubicBezTo>
                <a:lnTo>
                  <a:pt x="152400" y="1079500"/>
                </a:lnTo>
                <a:cubicBezTo>
                  <a:pt x="68199" y="1079500"/>
                  <a:pt x="0" y="1011301"/>
                  <a:pt x="0" y="9271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gradFill rotWithShape="1">
            <a:gsLst>
              <a:gs pos="0">
                <a:srgbClr val="E48152"/>
              </a:gs>
              <a:gs pos="100000">
                <a:srgbClr val="E0703A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di-5"/>
          <p:cNvSpPr/>
          <p:nvPr/>
        </p:nvSpPr>
        <p:spPr>
          <a:xfrm>
            <a:off x="10210800" y="2286000"/>
            <a:ext cx="406400" cy="406400"/>
          </a:xfrm>
          <a:prstGeom prst="ellipse">
            <a:avLst/>
          </a:prstGeom>
          <a:solidFill>
            <a:srgbClr val="FFFFF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icon-truck"/>
          <p:cNvSpPr/>
          <p:nvPr/>
        </p:nvSpPr>
        <p:spPr>
          <a:xfrm>
            <a:off x="10342880" y="2443480"/>
            <a:ext cx="133794" cy="82994"/>
          </a:xfrm>
          <a:custGeom>
            <a:avLst/>
            <a:gdLst/>
            <a:ahLst/>
            <a:cxnLst/>
            <a:rect l="0" t="0" r="r" b="b"/>
            <a:pathLst>
              <a:path w="133794" h="82994">
                <a:moveTo>
                  <a:pt x="0" y="0"/>
                </a:moveTo>
                <a:lnTo>
                  <a:pt x="81280" y="0"/>
                </a:lnTo>
                <a:lnTo>
                  <a:pt x="81280" y="82994"/>
                </a:lnTo>
                <a:lnTo>
                  <a:pt x="0" y="82994"/>
                </a:lnTo>
                <a:close/>
                <a:moveTo>
                  <a:pt x="81280" y="30480"/>
                </a:moveTo>
                <a:lnTo>
                  <a:pt x="110046" y="30480"/>
                </a:lnTo>
                <a:lnTo>
                  <a:pt x="133794" y="55880"/>
                </a:lnTo>
                <a:lnTo>
                  <a:pt x="133794" y="82994"/>
                </a:lnTo>
                <a:lnTo>
                  <a:pt x="81280" y="82994"/>
                </a:lnTo>
                <a:close/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dn-5"/>
          <p:cNvSpPr txBox="1"/>
          <p:nvPr/>
        </p:nvSpPr>
        <p:spPr>
          <a:xfrm>
            <a:off x="10105390" y="2752217"/>
            <a:ext cx="6172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4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交付</a:t>
            </a:r>
          </a:p>
        </p:txBody>
      </p:sp>
      <p:cxnSp>
        <p:nvCxnSpPr>
          <p:cNvPr id="38" name="lane-5"/>
          <p:cNvCxnSpPr/>
          <p:nvPr/>
        </p:nvCxnSpPr>
        <p:spPr>
          <a:xfrm>
            <a:off x="10414000" y="3238500"/>
            <a:ext cx="0" cy="2222500"/>
          </a:xfrm>
          <a:prstGeom prst="line">
            <a:avLst/>
          </a:prstGeom>
          <a:ln w="12700" cap="rnd">
            <a:solidFill>
              <a:srgbClr val="E0703A">
                <a:alpha val="2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ha-1"/>
          <p:cNvSpPr/>
          <p:nvPr/>
        </p:nvSpPr>
        <p:spPr>
          <a:xfrm>
            <a:off x="2654300" y="2635250"/>
            <a:ext cx="342900" cy="3175"/>
          </a:xfrm>
          <a:custGeom>
            <a:avLst/>
            <a:gdLst/>
            <a:ahLst/>
            <a:cxnLst/>
            <a:rect l="0" t="0" r="r" b="b"/>
            <a:pathLst>
              <a:path w="342900" h="3175">
                <a:moveTo>
                  <a:pt x="0" y="0"/>
                </a:moveTo>
                <a:lnTo>
                  <a:pt x="342900" y="0"/>
                </a:lnTo>
              </a:path>
            </a:pathLst>
          </a:custGeom>
          <a:noFill/>
          <a:ln w="19050" cap="rnd">
            <a:solidFill>
              <a:srgbClr val="0B2545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hh-1"/>
          <p:cNvSpPr/>
          <p:nvPr/>
        </p:nvSpPr>
        <p:spPr>
          <a:xfrm>
            <a:off x="2971800" y="2571750"/>
            <a:ext cx="101600" cy="127000"/>
          </a:xfrm>
          <a:custGeom>
            <a:avLst/>
            <a:gdLst/>
            <a:ahLst/>
            <a:cxnLst/>
            <a:rect l="0" t="0" r="r" b="b"/>
            <a:pathLst>
              <a:path w="101600" h="127000">
                <a:moveTo>
                  <a:pt x="0" y="0"/>
                </a:moveTo>
                <a:lnTo>
                  <a:pt x="101600" y="63500"/>
                </a:lnTo>
                <a:lnTo>
                  <a:pt x="0" y="127000"/>
                </a:lnTo>
                <a:close/>
              </a:path>
            </a:pathLst>
          </a:custGeom>
          <a:solidFill>
            <a:srgbClr val="0B2545">
              <a:alpha val="4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hn-1"/>
          <p:cNvSpPr/>
          <p:nvPr/>
        </p:nvSpPr>
        <p:spPr>
          <a:xfrm>
            <a:off x="2743200" y="2520950"/>
            <a:ext cx="228600" cy="2286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E0703A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hnt-1"/>
          <p:cNvSpPr txBox="1"/>
          <p:nvPr/>
        </p:nvSpPr>
        <p:spPr>
          <a:xfrm>
            <a:off x="2783332" y="254787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cxnSp>
        <p:nvCxnSpPr>
          <p:cNvPr id="43" name="hl-1"/>
          <p:cNvCxnSpPr/>
          <p:nvPr/>
        </p:nvCxnSpPr>
        <p:spPr>
          <a:xfrm>
            <a:off x="2857500" y="2762250"/>
            <a:ext cx="0" cy="793750"/>
          </a:xfrm>
          <a:prstGeom prst="line">
            <a:avLst/>
          </a:prstGeom>
          <a:ln w="10160" cap="rnd">
            <a:solidFill>
              <a:srgbClr val="E0703A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hc-1"/>
          <p:cNvSpPr/>
          <p:nvPr/>
        </p:nvSpPr>
        <p:spPr>
          <a:xfrm>
            <a:off x="1936750" y="3556000"/>
            <a:ext cx="1841500" cy="812800"/>
          </a:xfrm>
          <a:custGeom>
            <a:avLst/>
            <a:gdLst/>
            <a:ahLst/>
            <a:cxnLst/>
            <a:rect l="0" t="0" r="r" b="b"/>
            <a:pathLst>
              <a:path w="1841500" h="812800">
                <a:moveTo>
                  <a:pt x="114300" y="0"/>
                </a:moveTo>
                <a:lnTo>
                  <a:pt x="1727200" y="0"/>
                </a:lnTo>
                <a:cubicBezTo>
                  <a:pt x="1790319" y="0"/>
                  <a:pt x="1841500" y="51181"/>
                  <a:pt x="1841500" y="114300"/>
                </a:cubicBezTo>
                <a:lnTo>
                  <a:pt x="1841500" y="698500"/>
                </a:lnTo>
                <a:cubicBezTo>
                  <a:pt x="1841500" y="761619"/>
                  <a:pt x="1790319" y="812800"/>
                  <a:pt x="1727200" y="812800"/>
                </a:cubicBezTo>
                <a:lnTo>
                  <a:pt x="114300" y="812800"/>
                </a:lnTo>
                <a:cubicBezTo>
                  <a:pt x="51181" y="812800"/>
                  <a:pt x="0" y="761619"/>
                  <a:pt x="0" y="698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hcb-1"/>
          <p:cNvSpPr/>
          <p:nvPr/>
        </p:nvSpPr>
        <p:spPr>
          <a:xfrm>
            <a:off x="1936750" y="3556000"/>
            <a:ext cx="1841500" cy="38100"/>
          </a:xfrm>
          <a:custGeom>
            <a:avLst/>
            <a:gdLst/>
            <a:ahLst/>
            <a:cxnLst/>
            <a:rect l="0" t="0" r="r" b="b"/>
            <a:pathLst>
              <a:path w="1841500" h="38100">
                <a:moveTo>
                  <a:pt x="19050" y="0"/>
                </a:moveTo>
                <a:lnTo>
                  <a:pt x="1822450" y="0"/>
                </a:lnTo>
                <a:cubicBezTo>
                  <a:pt x="1832991" y="0"/>
                  <a:pt x="1841500" y="8509"/>
                  <a:pt x="1841500" y="19050"/>
                </a:cubicBezTo>
                <a:lnTo>
                  <a:pt x="1841500" y="19050"/>
                </a:lnTo>
                <a:cubicBezTo>
                  <a:pt x="1841500" y="29591"/>
                  <a:pt x="1832991" y="38100"/>
                  <a:pt x="18224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hct-1"/>
          <p:cNvSpPr txBox="1"/>
          <p:nvPr/>
        </p:nvSpPr>
        <p:spPr>
          <a:xfrm>
            <a:off x="2065782" y="3700208"/>
            <a:ext cx="3954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7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交接 1</a:t>
            </a:r>
          </a:p>
        </p:txBody>
      </p:sp>
      <p:sp>
        <p:nvSpPr>
          <p:cNvPr id="47" name="hctm-1"/>
          <p:cNvSpPr txBox="1"/>
          <p:nvPr/>
        </p:nvSpPr>
        <p:spPr>
          <a:xfrm>
            <a:off x="3284220" y="3700208"/>
            <a:ext cx="36499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 天内</a:t>
            </a:r>
          </a:p>
        </p:txBody>
      </p:sp>
      <p:sp>
        <p:nvSpPr>
          <p:cNvPr id="48" name="hco-1"/>
          <p:cNvSpPr txBox="1"/>
          <p:nvPr/>
        </p:nvSpPr>
        <p:spPr>
          <a:xfrm>
            <a:off x="2061210" y="3881755"/>
            <a:ext cx="78105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客户需求单</a:t>
            </a:r>
          </a:p>
        </p:txBody>
      </p:sp>
      <p:sp>
        <p:nvSpPr>
          <p:cNvPr id="49" name="hcr-1"/>
          <p:cNvSpPr txBox="1"/>
          <p:nvPr/>
        </p:nvSpPr>
        <p:spPr>
          <a:xfrm>
            <a:off x="2065401" y="4128087"/>
            <a:ext cx="102266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风险：需求描述不完整</a:t>
            </a:r>
          </a:p>
        </p:txBody>
      </p:sp>
      <p:sp>
        <p:nvSpPr>
          <p:cNvPr id="50" name="ha-2"/>
          <p:cNvSpPr/>
          <p:nvPr/>
        </p:nvSpPr>
        <p:spPr>
          <a:xfrm>
            <a:off x="4813300" y="2635250"/>
            <a:ext cx="342900" cy="3175"/>
          </a:xfrm>
          <a:custGeom>
            <a:avLst/>
            <a:gdLst/>
            <a:ahLst/>
            <a:cxnLst/>
            <a:rect l="0" t="0" r="r" b="b"/>
            <a:pathLst>
              <a:path w="342900" h="3175">
                <a:moveTo>
                  <a:pt x="0" y="0"/>
                </a:moveTo>
                <a:lnTo>
                  <a:pt x="342900" y="0"/>
                </a:lnTo>
              </a:path>
            </a:pathLst>
          </a:custGeom>
          <a:noFill/>
          <a:ln w="19050" cap="rnd">
            <a:solidFill>
              <a:srgbClr val="0B2545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hh-2"/>
          <p:cNvSpPr/>
          <p:nvPr/>
        </p:nvSpPr>
        <p:spPr>
          <a:xfrm>
            <a:off x="5130800" y="2571750"/>
            <a:ext cx="101600" cy="127000"/>
          </a:xfrm>
          <a:custGeom>
            <a:avLst/>
            <a:gdLst/>
            <a:ahLst/>
            <a:cxnLst/>
            <a:rect l="0" t="0" r="r" b="b"/>
            <a:pathLst>
              <a:path w="101600" h="127000">
                <a:moveTo>
                  <a:pt x="0" y="0"/>
                </a:moveTo>
                <a:lnTo>
                  <a:pt x="101600" y="63500"/>
                </a:lnTo>
                <a:lnTo>
                  <a:pt x="0" y="127000"/>
                </a:lnTo>
                <a:close/>
              </a:path>
            </a:pathLst>
          </a:custGeom>
          <a:solidFill>
            <a:srgbClr val="0B2545">
              <a:alpha val="4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hn-2"/>
          <p:cNvSpPr/>
          <p:nvPr/>
        </p:nvSpPr>
        <p:spPr>
          <a:xfrm>
            <a:off x="4902200" y="2520950"/>
            <a:ext cx="228600" cy="2286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E0703A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hnt-2"/>
          <p:cNvSpPr txBox="1"/>
          <p:nvPr/>
        </p:nvSpPr>
        <p:spPr>
          <a:xfrm>
            <a:off x="4942332" y="254787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cxnSp>
        <p:nvCxnSpPr>
          <p:cNvPr id="54" name="hl-2"/>
          <p:cNvCxnSpPr/>
          <p:nvPr/>
        </p:nvCxnSpPr>
        <p:spPr>
          <a:xfrm>
            <a:off x="5016500" y="2762250"/>
            <a:ext cx="0" cy="1746250"/>
          </a:xfrm>
          <a:prstGeom prst="line">
            <a:avLst/>
          </a:prstGeom>
          <a:ln w="10160" cap="rnd">
            <a:solidFill>
              <a:srgbClr val="E0703A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hc-2"/>
          <p:cNvSpPr/>
          <p:nvPr/>
        </p:nvSpPr>
        <p:spPr>
          <a:xfrm>
            <a:off x="4095750" y="4508500"/>
            <a:ext cx="1841500" cy="812800"/>
          </a:xfrm>
          <a:custGeom>
            <a:avLst/>
            <a:gdLst/>
            <a:ahLst/>
            <a:cxnLst/>
            <a:rect l="0" t="0" r="r" b="b"/>
            <a:pathLst>
              <a:path w="1841500" h="812800">
                <a:moveTo>
                  <a:pt x="114300" y="0"/>
                </a:moveTo>
                <a:lnTo>
                  <a:pt x="1727200" y="0"/>
                </a:lnTo>
                <a:cubicBezTo>
                  <a:pt x="1790319" y="0"/>
                  <a:pt x="1841500" y="51181"/>
                  <a:pt x="1841500" y="114300"/>
                </a:cubicBezTo>
                <a:lnTo>
                  <a:pt x="1841500" y="698500"/>
                </a:lnTo>
                <a:cubicBezTo>
                  <a:pt x="1841500" y="761619"/>
                  <a:pt x="1790319" y="812800"/>
                  <a:pt x="1727200" y="812800"/>
                </a:cubicBezTo>
                <a:lnTo>
                  <a:pt x="114300" y="812800"/>
                </a:lnTo>
                <a:cubicBezTo>
                  <a:pt x="51181" y="812800"/>
                  <a:pt x="0" y="761619"/>
                  <a:pt x="0" y="698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hcb-2"/>
          <p:cNvSpPr/>
          <p:nvPr/>
        </p:nvSpPr>
        <p:spPr>
          <a:xfrm>
            <a:off x="4095750" y="4508500"/>
            <a:ext cx="1841500" cy="38100"/>
          </a:xfrm>
          <a:custGeom>
            <a:avLst/>
            <a:gdLst/>
            <a:ahLst/>
            <a:cxnLst/>
            <a:rect l="0" t="0" r="r" b="b"/>
            <a:pathLst>
              <a:path w="1841500" h="38100">
                <a:moveTo>
                  <a:pt x="19050" y="0"/>
                </a:moveTo>
                <a:lnTo>
                  <a:pt x="1822450" y="0"/>
                </a:lnTo>
                <a:cubicBezTo>
                  <a:pt x="1832991" y="0"/>
                  <a:pt x="1841500" y="8509"/>
                  <a:pt x="1841500" y="19050"/>
                </a:cubicBezTo>
                <a:lnTo>
                  <a:pt x="1841500" y="19050"/>
                </a:lnTo>
                <a:cubicBezTo>
                  <a:pt x="1841500" y="29591"/>
                  <a:pt x="1832991" y="38100"/>
                  <a:pt x="18224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hct-2"/>
          <p:cNvSpPr txBox="1"/>
          <p:nvPr/>
        </p:nvSpPr>
        <p:spPr>
          <a:xfrm>
            <a:off x="4224782" y="4652708"/>
            <a:ext cx="3954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7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交接 2</a:t>
            </a:r>
          </a:p>
        </p:txBody>
      </p:sp>
      <p:sp>
        <p:nvSpPr>
          <p:cNvPr id="58" name="hctm-2"/>
          <p:cNvSpPr txBox="1"/>
          <p:nvPr/>
        </p:nvSpPr>
        <p:spPr>
          <a:xfrm>
            <a:off x="5443220" y="4652708"/>
            <a:ext cx="36499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3 天内</a:t>
            </a:r>
          </a:p>
        </p:txBody>
      </p:sp>
      <p:sp>
        <p:nvSpPr>
          <p:cNvPr id="59" name="hco-2"/>
          <p:cNvSpPr txBox="1"/>
          <p:nvPr/>
        </p:nvSpPr>
        <p:spPr>
          <a:xfrm>
            <a:off x="4220210" y="4834255"/>
            <a:ext cx="111252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技术方案 + BOM</a:t>
            </a:r>
          </a:p>
        </p:txBody>
      </p:sp>
      <p:sp>
        <p:nvSpPr>
          <p:cNvPr id="60" name="hcr-2"/>
          <p:cNvSpPr txBox="1"/>
          <p:nvPr/>
        </p:nvSpPr>
        <p:spPr>
          <a:xfrm>
            <a:off x="4224401" y="5080587"/>
            <a:ext cx="102266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风险：物料编码不统一</a:t>
            </a:r>
          </a:p>
        </p:txBody>
      </p:sp>
      <p:sp>
        <p:nvSpPr>
          <p:cNvPr id="61" name="ha-3"/>
          <p:cNvSpPr/>
          <p:nvPr/>
        </p:nvSpPr>
        <p:spPr>
          <a:xfrm>
            <a:off x="6972300" y="2635250"/>
            <a:ext cx="342900" cy="3175"/>
          </a:xfrm>
          <a:custGeom>
            <a:avLst/>
            <a:gdLst/>
            <a:ahLst/>
            <a:cxnLst/>
            <a:rect l="0" t="0" r="r" b="b"/>
            <a:pathLst>
              <a:path w="342900" h="3175">
                <a:moveTo>
                  <a:pt x="0" y="0"/>
                </a:moveTo>
                <a:lnTo>
                  <a:pt x="342900" y="0"/>
                </a:lnTo>
              </a:path>
            </a:pathLst>
          </a:custGeom>
          <a:noFill/>
          <a:ln w="19050" cap="rnd">
            <a:solidFill>
              <a:srgbClr val="0B2545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hh-3"/>
          <p:cNvSpPr/>
          <p:nvPr/>
        </p:nvSpPr>
        <p:spPr>
          <a:xfrm>
            <a:off x="7289800" y="2571750"/>
            <a:ext cx="101600" cy="127000"/>
          </a:xfrm>
          <a:custGeom>
            <a:avLst/>
            <a:gdLst/>
            <a:ahLst/>
            <a:cxnLst/>
            <a:rect l="0" t="0" r="r" b="b"/>
            <a:pathLst>
              <a:path w="101600" h="127000">
                <a:moveTo>
                  <a:pt x="0" y="0"/>
                </a:moveTo>
                <a:lnTo>
                  <a:pt x="101600" y="63500"/>
                </a:lnTo>
                <a:lnTo>
                  <a:pt x="0" y="127000"/>
                </a:lnTo>
                <a:close/>
              </a:path>
            </a:pathLst>
          </a:custGeom>
          <a:solidFill>
            <a:srgbClr val="0B2545">
              <a:alpha val="4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hn-3"/>
          <p:cNvSpPr/>
          <p:nvPr/>
        </p:nvSpPr>
        <p:spPr>
          <a:xfrm>
            <a:off x="7061200" y="2520950"/>
            <a:ext cx="228600" cy="2286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E0703A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hnt-3"/>
          <p:cNvSpPr txBox="1"/>
          <p:nvPr/>
        </p:nvSpPr>
        <p:spPr>
          <a:xfrm>
            <a:off x="7101332" y="254787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cxnSp>
        <p:nvCxnSpPr>
          <p:cNvPr id="65" name="hl-3"/>
          <p:cNvCxnSpPr/>
          <p:nvPr/>
        </p:nvCxnSpPr>
        <p:spPr>
          <a:xfrm>
            <a:off x="7175500" y="2762250"/>
            <a:ext cx="0" cy="793750"/>
          </a:xfrm>
          <a:prstGeom prst="line">
            <a:avLst/>
          </a:prstGeom>
          <a:ln w="10160" cap="rnd">
            <a:solidFill>
              <a:srgbClr val="E0703A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" name="hc-3"/>
          <p:cNvSpPr/>
          <p:nvPr/>
        </p:nvSpPr>
        <p:spPr>
          <a:xfrm>
            <a:off x="6254750" y="3556000"/>
            <a:ext cx="1841500" cy="812800"/>
          </a:xfrm>
          <a:custGeom>
            <a:avLst/>
            <a:gdLst/>
            <a:ahLst/>
            <a:cxnLst/>
            <a:rect l="0" t="0" r="r" b="b"/>
            <a:pathLst>
              <a:path w="1841500" h="812800">
                <a:moveTo>
                  <a:pt x="114300" y="0"/>
                </a:moveTo>
                <a:lnTo>
                  <a:pt x="1727200" y="0"/>
                </a:lnTo>
                <a:cubicBezTo>
                  <a:pt x="1790319" y="0"/>
                  <a:pt x="1841500" y="51181"/>
                  <a:pt x="1841500" y="114300"/>
                </a:cubicBezTo>
                <a:lnTo>
                  <a:pt x="1841500" y="698500"/>
                </a:lnTo>
                <a:cubicBezTo>
                  <a:pt x="1841500" y="761619"/>
                  <a:pt x="1790319" y="812800"/>
                  <a:pt x="1727200" y="812800"/>
                </a:cubicBezTo>
                <a:lnTo>
                  <a:pt x="114300" y="812800"/>
                </a:lnTo>
                <a:cubicBezTo>
                  <a:pt x="51181" y="812800"/>
                  <a:pt x="0" y="761619"/>
                  <a:pt x="0" y="698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hcb-3"/>
          <p:cNvSpPr/>
          <p:nvPr/>
        </p:nvSpPr>
        <p:spPr>
          <a:xfrm>
            <a:off x="6254750" y="3556000"/>
            <a:ext cx="1841500" cy="38100"/>
          </a:xfrm>
          <a:custGeom>
            <a:avLst/>
            <a:gdLst/>
            <a:ahLst/>
            <a:cxnLst/>
            <a:rect l="0" t="0" r="r" b="b"/>
            <a:pathLst>
              <a:path w="1841500" h="38100">
                <a:moveTo>
                  <a:pt x="19050" y="0"/>
                </a:moveTo>
                <a:lnTo>
                  <a:pt x="1822450" y="0"/>
                </a:lnTo>
                <a:cubicBezTo>
                  <a:pt x="1832991" y="0"/>
                  <a:pt x="1841500" y="8509"/>
                  <a:pt x="1841500" y="19050"/>
                </a:cubicBezTo>
                <a:lnTo>
                  <a:pt x="1841500" y="19050"/>
                </a:lnTo>
                <a:cubicBezTo>
                  <a:pt x="1841500" y="29591"/>
                  <a:pt x="1832991" y="38100"/>
                  <a:pt x="18224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hct-3"/>
          <p:cNvSpPr txBox="1"/>
          <p:nvPr/>
        </p:nvSpPr>
        <p:spPr>
          <a:xfrm>
            <a:off x="6383782" y="3700208"/>
            <a:ext cx="3954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7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交接 3</a:t>
            </a:r>
          </a:p>
        </p:txBody>
      </p:sp>
      <p:sp>
        <p:nvSpPr>
          <p:cNvPr id="69" name="hctm-3"/>
          <p:cNvSpPr txBox="1"/>
          <p:nvPr/>
        </p:nvSpPr>
        <p:spPr>
          <a:xfrm>
            <a:off x="7317232" y="3700208"/>
            <a:ext cx="64998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按交期 -5 天</a:t>
            </a:r>
          </a:p>
        </p:txBody>
      </p:sp>
      <p:sp>
        <p:nvSpPr>
          <p:cNvPr id="70" name="hco-3"/>
          <p:cNvSpPr txBox="1"/>
          <p:nvPr/>
        </p:nvSpPr>
        <p:spPr>
          <a:xfrm>
            <a:off x="6379210" y="3881755"/>
            <a:ext cx="6477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到货通知</a:t>
            </a:r>
          </a:p>
        </p:txBody>
      </p:sp>
      <p:sp>
        <p:nvSpPr>
          <p:cNvPr id="71" name="hcr-3"/>
          <p:cNvSpPr txBox="1"/>
          <p:nvPr/>
        </p:nvSpPr>
        <p:spPr>
          <a:xfrm>
            <a:off x="6383401" y="4128087"/>
            <a:ext cx="111664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风险：供应商延期未预警</a:t>
            </a:r>
          </a:p>
        </p:txBody>
      </p:sp>
      <p:sp>
        <p:nvSpPr>
          <p:cNvPr id="72" name="ha-4"/>
          <p:cNvSpPr/>
          <p:nvPr/>
        </p:nvSpPr>
        <p:spPr>
          <a:xfrm>
            <a:off x="9131300" y="2635250"/>
            <a:ext cx="342900" cy="3175"/>
          </a:xfrm>
          <a:custGeom>
            <a:avLst/>
            <a:gdLst/>
            <a:ahLst/>
            <a:cxnLst/>
            <a:rect l="0" t="0" r="r" b="b"/>
            <a:pathLst>
              <a:path w="342900" h="3175">
                <a:moveTo>
                  <a:pt x="0" y="0"/>
                </a:moveTo>
                <a:lnTo>
                  <a:pt x="342900" y="0"/>
                </a:lnTo>
              </a:path>
            </a:pathLst>
          </a:custGeom>
          <a:noFill/>
          <a:ln w="19050" cap="rnd">
            <a:solidFill>
              <a:srgbClr val="0B2545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hh-4"/>
          <p:cNvSpPr/>
          <p:nvPr/>
        </p:nvSpPr>
        <p:spPr>
          <a:xfrm>
            <a:off x="9448800" y="2571750"/>
            <a:ext cx="101600" cy="127000"/>
          </a:xfrm>
          <a:custGeom>
            <a:avLst/>
            <a:gdLst/>
            <a:ahLst/>
            <a:cxnLst/>
            <a:rect l="0" t="0" r="r" b="b"/>
            <a:pathLst>
              <a:path w="101600" h="127000">
                <a:moveTo>
                  <a:pt x="0" y="0"/>
                </a:moveTo>
                <a:lnTo>
                  <a:pt x="101600" y="63500"/>
                </a:lnTo>
                <a:lnTo>
                  <a:pt x="0" y="127000"/>
                </a:lnTo>
                <a:close/>
              </a:path>
            </a:pathLst>
          </a:custGeom>
          <a:solidFill>
            <a:srgbClr val="0B2545">
              <a:alpha val="4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hn-4"/>
          <p:cNvSpPr/>
          <p:nvPr/>
        </p:nvSpPr>
        <p:spPr>
          <a:xfrm>
            <a:off x="9220200" y="2520950"/>
            <a:ext cx="228600" cy="2286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E0703A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hnt-4"/>
          <p:cNvSpPr txBox="1"/>
          <p:nvPr/>
        </p:nvSpPr>
        <p:spPr>
          <a:xfrm>
            <a:off x="9260332" y="254787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cxnSp>
        <p:nvCxnSpPr>
          <p:cNvPr id="76" name="hl-4"/>
          <p:cNvCxnSpPr/>
          <p:nvPr/>
        </p:nvCxnSpPr>
        <p:spPr>
          <a:xfrm>
            <a:off x="9334500" y="2762250"/>
            <a:ext cx="0" cy="1746250"/>
          </a:xfrm>
          <a:prstGeom prst="line">
            <a:avLst/>
          </a:prstGeom>
          <a:ln w="10160" cap="rnd">
            <a:solidFill>
              <a:srgbClr val="E0703A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7" name="hc-4"/>
          <p:cNvSpPr/>
          <p:nvPr/>
        </p:nvSpPr>
        <p:spPr>
          <a:xfrm>
            <a:off x="8413750" y="4508500"/>
            <a:ext cx="1841500" cy="812800"/>
          </a:xfrm>
          <a:custGeom>
            <a:avLst/>
            <a:gdLst/>
            <a:ahLst/>
            <a:cxnLst/>
            <a:rect l="0" t="0" r="r" b="b"/>
            <a:pathLst>
              <a:path w="1841500" h="812800">
                <a:moveTo>
                  <a:pt x="114300" y="0"/>
                </a:moveTo>
                <a:lnTo>
                  <a:pt x="1727200" y="0"/>
                </a:lnTo>
                <a:cubicBezTo>
                  <a:pt x="1790319" y="0"/>
                  <a:pt x="1841500" y="51181"/>
                  <a:pt x="1841500" y="114300"/>
                </a:cubicBezTo>
                <a:lnTo>
                  <a:pt x="1841500" y="698500"/>
                </a:lnTo>
                <a:cubicBezTo>
                  <a:pt x="1841500" y="761619"/>
                  <a:pt x="1790319" y="812800"/>
                  <a:pt x="1727200" y="812800"/>
                </a:cubicBezTo>
                <a:lnTo>
                  <a:pt x="114300" y="812800"/>
                </a:lnTo>
                <a:cubicBezTo>
                  <a:pt x="51181" y="812800"/>
                  <a:pt x="0" y="761619"/>
                  <a:pt x="0" y="698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hcb-4"/>
          <p:cNvSpPr/>
          <p:nvPr/>
        </p:nvSpPr>
        <p:spPr>
          <a:xfrm>
            <a:off x="8413750" y="4508500"/>
            <a:ext cx="1841500" cy="38100"/>
          </a:xfrm>
          <a:custGeom>
            <a:avLst/>
            <a:gdLst/>
            <a:ahLst/>
            <a:cxnLst/>
            <a:rect l="0" t="0" r="r" b="b"/>
            <a:pathLst>
              <a:path w="1841500" h="38100">
                <a:moveTo>
                  <a:pt x="19050" y="0"/>
                </a:moveTo>
                <a:lnTo>
                  <a:pt x="1822450" y="0"/>
                </a:lnTo>
                <a:cubicBezTo>
                  <a:pt x="1832991" y="0"/>
                  <a:pt x="1841500" y="8509"/>
                  <a:pt x="1841500" y="19050"/>
                </a:cubicBezTo>
                <a:lnTo>
                  <a:pt x="1841500" y="19050"/>
                </a:lnTo>
                <a:cubicBezTo>
                  <a:pt x="1841500" y="29591"/>
                  <a:pt x="1832991" y="38100"/>
                  <a:pt x="18224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hct-4"/>
          <p:cNvSpPr txBox="1"/>
          <p:nvPr/>
        </p:nvSpPr>
        <p:spPr>
          <a:xfrm>
            <a:off x="8542782" y="4652708"/>
            <a:ext cx="3954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7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交接 4</a:t>
            </a:r>
          </a:p>
        </p:txBody>
      </p:sp>
      <p:sp>
        <p:nvSpPr>
          <p:cNvPr id="80" name="hctm-4"/>
          <p:cNvSpPr txBox="1"/>
          <p:nvPr/>
        </p:nvSpPr>
        <p:spPr>
          <a:xfrm>
            <a:off x="9682988" y="4652708"/>
            <a:ext cx="4432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完工当天</a:t>
            </a:r>
          </a:p>
        </p:txBody>
      </p:sp>
      <p:sp>
        <p:nvSpPr>
          <p:cNvPr id="81" name="hco-4"/>
          <p:cNvSpPr txBox="1"/>
          <p:nvPr/>
        </p:nvSpPr>
        <p:spPr>
          <a:xfrm>
            <a:off x="8538210" y="4834255"/>
            <a:ext cx="9144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完工质检报告</a:t>
            </a:r>
          </a:p>
        </p:txBody>
      </p:sp>
      <p:sp>
        <p:nvSpPr>
          <p:cNvPr id="82" name="hcr-4"/>
          <p:cNvSpPr txBox="1"/>
          <p:nvPr/>
        </p:nvSpPr>
        <p:spPr>
          <a:xfrm>
            <a:off x="8542401" y="5080587"/>
            <a:ext cx="111664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风险：质检标准口径不一</a:t>
            </a:r>
          </a:p>
        </p:txBody>
      </p:sp>
      <p:sp>
        <p:nvSpPr>
          <p:cNvPr id="83" name="sum"/>
          <p:cNvSpPr/>
          <p:nvPr/>
        </p:nvSpPr>
        <p:spPr>
          <a:xfrm>
            <a:off x="952500" y="5715000"/>
            <a:ext cx="10287000" cy="533400"/>
          </a:xfrm>
          <a:custGeom>
            <a:avLst/>
            <a:gdLst/>
            <a:ahLst/>
            <a:cxnLst/>
            <a:rect l="0" t="0" r="r" b="b"/>
            <a:pathLst>
              <a:path w="10287000" h="5334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31800"/>
                </a:lnTo>
                <a:cubicBezTo>
                  <a:pt x="10287000" y="487934"/>
                  <a:pt x="10241534" y="533400"/>
                  <a:pt x="10185400" y="533400"/>
                </a:cubicBezTo>
                <a:lnTo>
                  <a:pt x="101600" y="533400"/>
                </a:lnTo>
                <a:cubicBezTo>
                  <a:pt x="45466" y="533400"/>
                  <a:pt x="0" y="487934"/>
                  <a:pt x="0" y="431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sum-bar"/>
          <p:cNvSpPr/>
          <p:nvPr/>
        </p:nvSpPr>
        <p:spPr>
          <a:xfrm>
            <a:off x="952500" y="57150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sum-h"/>
          <p:cNvSpPr txBox="1"/>
          <p:nvPr/>
        </p:nvSpPr>
        <p:spPr>
          <a:xfrm>
            <a:off x="1141222" y="58834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交接规则</a:t>
            </a:r>
          </a:p>
        </p:txBody>
      </p:sp>
      <p:sp>
        <p:nvSpPr>
          <p:cNvPr id="86" name="sum-p"/>
          <p:cNvSpPr txBox="1"/>
          <p:nvPr/>
        </p:nvSpPr>
        <p:spPr>
          <a:xfrm>
            <a:off x="1891665" y="5895261"/>
            <a:ext cx="435324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交接物不齐不接收、超时自动升级到双方负责人——上线三个月，交接返工减少 58%。</a:t>
            </a:r>
          </a:p>
        </p:txBody>
      </p:sp>
      <p:cxnSp>
        <p:nvCxnSpPr>
          <p:cNvPr id="87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交接流程 · 五个部门</a:t>
            </a:r>
          </a:p>
        </p:txBody>
      </p:sp>
      <p:sp>
        <p:nvSpPr>
          <p:cNvPr id="89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销售管道健康度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35483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SALES PIPELINE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7769479" y="673132"/>
            <a:ext cx="385127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五个阶段的商机金额 × 赢率 = 加权预测，本季度预测可完成目标的 94%</a:t>
            </a:r>
          </a:p>
        </p:txBody>
      </p:sp>
      <p:sp>
        <p:nvSpPr>
          <p:cNvPr id="10" name="st-1"/>
          <p:cNvSpPr/>
          <p:nvPr/>
        </p:nvSpPr>
        <p:spPr>
          <a:xfrm>
            <a:off x="990600" y="1841500"/>
            <a:ext cx="1155700" cy="2286000"/>
          </a:xfrm>
          <a:custGeom>
            <a:avLst/>
            <a:gdLst/>
            <a:ahLst/>
            <a:cxnLst/>
            <a:rect l="0" t="0" r="r" b="b"/>
            <a:pathLst>
              <a:path w="1155700" h="2286000">
                <a:moveTo>
                  <a:pt x="114300" y="0"/>
                </a:moveTo>
                <a:lnTo>
                  <a:pt x="1041400" y="0"/>
                </a:lnTo>
                <a:cubicBezTo>
                  <a:pt x="1104519" y="0"/>
                  <a:pt x="1155700" y="51181"/>
                  <a:pt x="1155700" y="114300"/>
                </a:cubicBezTo>
                <a:lnTo>
                  <a:pt x="1155700" y="2171700"/>
                </a:lnTo>
                <a:cubicBezTo>
                  <a:pt x="1155700" y="2234819"/>
                  <a:pt x="1104519" y="2286000"/>
                  <a:pt x="1041400" y="2286000"/>
                </a:cubicBezTo>
                <a:lnTo>
                  <a:pt x="114300" y="2286000"/>
                </a:lnTo>
                <a:cubicBezTo>
                  <a:pt x="51181" y="2286000"/>
                  <a:pt x="0" y="2234819"/>
                  <a:pt x="0" y="2171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3667AB"/>
              </a:gs>
              <a:gs pos="100000">
                <a:srgbClr val="134C9C"/>
              </a:gs>
            </a:gsLst>
            <a:lin ang="54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sa-1"/>
          <p:cNvSpPr txBox="1"/>
          <p:nvPr/>
        </p:nvSpPr>
        <p:spPr>
          <a:xfrm>
            <a:off x="1263015" y="2755202"/>
            <a:ext cx="61087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9,300</a:t>
            </a:r>
          </a:p>
        </p:txBody>
      </p:sp>
      <p:sp>
        <p:nvSpPr>
          <p:cNvPr id="12" name="su-1"/>
          <p:cNvSpPr txBox="1"/>
          <p:nvPr/>
        </p:nvSpPr>
        <p:spPr>
          <a:xfrm>
            <a:off x="1439545" y="3027108"/>
            <a:ext cx="2578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DCE9F8"/>
                </a:solidFill>
                <a:latin typeface="微软雅黑"/>
                <a:ea typeface="微软雅黑"/>
                <a:cs typeface="微软雅黑"/>
              </a:rPr>
              <a:t>万元</a:t>
            </a:r>
          </a:p>
        </p:txBody>
      </p:sp>
      <p:sp>
        <p:nvSpPr>
          <p:cNvPr id="13" name="sn-1"/>
          <p:cNvSpPr txBox="1"/>
          <p:nvPr/>
        </p:nvSpPr>
        <p:spPr>
          <a:xfrm>
            <a:off x="1216342" y="1486313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线索确认</a:t>
            </a:r>
          </a:p>
        </p:txBody>
      </p:sp>
      <p:sp>
        <p:nvSpPr>
          <p:cNvPr id="14" name="rl-1-0"/>
          <p:cNvSpPr txBox="1"/>
          <p:nvPr/>
        </p:nvSpPr>
        <p:spPr>
          <a:xfrm>
            <a:off x="1112901" y="4331287"/>
            <a:ext cx="2797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商机</a:t>
            </a:r>
          </a:p>
        </p:txBody>
      </p:sp>
      <p:sp>
        <p:nvSpPr>
          <p:cNvPr id="15" name="rv-1-0"/>
          <p:cNvSpPr txBox="1"/>
          <p:nvPr/>
        </p:nvSpPr>
        <p:spPr>
          <a:xfrm>
            <a:off x="1726057" y="4303840"/>
            <a:ext cx="300609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186</a:t>
            </a:r>
          </a:p>
        </p:txBody>
      </p:sp>
      <p:sp>
        <p:nvSpPr>
          <p:cNvPr id="16" name="rl-1-1"/>
          <p:cNvSpPr txBox="1"/>
          <p:nvPr/>
        </p:nvSpPr>
        <p:spPr>
          <a:xfrm>
            <a:off x="1112901" y="4610687"/>
            <a:ext cx="2797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赢率</a:t>
            </a:r>
          </a:p>
        </p:txBody>
      </p:sp>
      <p:sp>
        <p:nvSpPr>
          <p:cNvPr id="17" name="rv-1-1"/>
          <p:cNvSpPr txBox="1"/>
          <p:nvPr/>
        </p:nvSpPr>
        <p:spPr>
          <a:xfrm>
            <a:off x="1726057" y="4583240"/>
            <a:ext cx="300609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10%</a:t>
            </a:r>
          </a:p>
        </p:txBody>
      </p:sp>
      <p:sp>
        <p:nvSpPr>
          <p:cNvPr id="18" name="rl-1-2"/>
          <p:cNvSpPr txBox="1"/>
          <p:nvPr/>
        </p:nvSpPr>
        <p:spPr>
          <a:xfrm>
            <a:off x="1112901" y="4890087"/>
            <a:ext cx="2797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停留</a:t>
            </a:r>
          </a:p>
        </p:txBody>
      </p:sp>
      <p:sp>
        <p:nvSpPr>
          <p:cNvPr id="19" name="rv-1-2"/>
          <p:cNvSpPr txBox="1"/>
          <p:nvPr/>
        </p:nvSpPr>
        <p:spPr>
          <a:xfrm>
            <a:off x="1609852" y="4862640"/>
            <a:ext cx="41681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12 天</a:t>
            </a:r>
          </a:p>
        </p:txBody>
      </p:sp>
      <p:sp>
        <p:nvSpPr>
          <p:cNvPr id="20" name="rl-1-3"/>
          <p:cNvSpPr txBox="1"/>
          <p:nvPr/>
        </p:nvSpPr>
        <p:spPr>
          <a:xfrm>
            <a:off x="1112901" y="5169487"/>
            <a:ext cx="2797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加权</a:t>
            </a:r>
          </a:p>
        </p:txBody>
      </p:sp>
      <p:sp>
        <p:nvSpPr>
          <p:cNvPr id="21" name="rv-1-3"/>
          <p:cNvSpPr txBox="1"/>
          <p:nvPr/>
        </p:nvSpPr>
        <p:spPr>
          <a:xfrm>
            <a:off x="1694815" y="5126355"/>
            <a:ext cx="33337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930</a:t>
            </a:r>
          </a:p>
        </p:txBody>
      </p:sp>
      <p:sp>
        <p:nvSpPr>
          <p:cNvPr id="22" name="pipe-2"/>
          <p:cNvSpPr/>
          <p:nvPr/>
        </p:nvSpPr>
        <p:spPr>
          <a:xfrm>
            <a:off x="2146300" y="1841500"/>
            <a:ext cx="254000" cy="2286000"/>
          </a:xfrm>
          <a:custGeom>
            <a:avLst/>
            <a:gdLst/>
            <a:ahLst/>
            <a:cxnLst/>
            <a:rect l="0" t="0" r="r" b="b"/>
            <a:pathLst>
              <a:path w="254000" h="2286000">
                <a:moveTo>
                  <a:pt x="0" y="0"/>
                </a:moveTo>
                <a:cubicBezTo>
                  <a:pt x="190500" y="0"/>
                  <a:pt x="88900" y="278581"/>
                  <a:pt x="254000" y="278581"/>
                </a:cubicBezTo>
                <a:lnTo>
                  <a:pt x="254000" y="2007419"/>
                </a:lnTo>
                <a:cubicBezTo>
                  <a:pt x="88900" y="2007419"/>
                  <a:pt x="190500" y="2286000"/>
                  <a:pt x="0" y="2286000"/>
                </a:cubicBezTo>
                <a:close/>
              </a:path>
            </a:pathLst>
          </a:custGeom>
          <a:solidFill>
            <a:srgbClr val="DCE7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st-2"/>
          <p:cNvSpPr/>
          <p:nvPr/>
        </p:nvSpPr>
        <p:spPr>
          <a:xfrm>
            <a:off x="2400300" y="2120074"/>
            <a:ext cx="1155700" cy="1728851"/>
          </a:xfrm>
          <a:custGeom>
            <a:avLst/>
            <a:gdLst/>
            <a:ahLst/>
            <a:cxnLst/>
            <a:rect l="0" t="0" r="r" b="b"/>
            <a:pathLst>
              <a:path w="1155700" h="1728851">
                <a:moveTo>
                  <a:pt x="114300" y="0"/>
                </a:moveTo>
                <a:lnTo>
                  <a:pt x="1041400" y="0"/>
                </a:lnTo>
                <a:cubicBezTo>
                  <a:pt x="1104519" y="0"/>
                  <a:pt x="1155700" y="51181"/>
                  <a:pt x="1155700" y="114300"/>
                </a:cubicBezTo>
                <a:lnTo>
                  <a:pt x="1155700" y="1614551"/>
                </a:lnTo>
                <a:cubicBezTo>
                  <a:pt x="1155700" y="1677670"/>
                  <a:pt x="1104519" y="1728851"/>
                  <a:pt x="1041400" y="1728851"/>
                </a:cubicBezTo>
                <a:lnTo>
                  <a:pt x="114300" y="1728851"/>
                </a:lnTo>
                <a:cubicBezTo>
                  <a:pt x="51181" y="1728851"/>
                  <a:pt x="0" y="1677670"/>
                  <a:pt x="0" y="1614551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3D73B5"/>
              </a:gs>
              <a:gs pos="100000">
                <a:srgbClr val="1B5AA8"/>
              </a:gs>
            </a:gsLst>
            <a:lin ang="54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sa-2"/>
          <p:cNvSpPr txBox="1"/>
          <p:nvPr/>
        </p:nvSpPr>
        <p:spPr>
          <a:xfrm>
            <a:off x="2672715" y="2755202"/>
            <a:ext cx="61087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6,580</a:t>
            </a:r>
          </a:p>
        </p:txBody>
      </p:sp>
      <p:sp>
        <p:nvSpPr>
          <p:cNvPr id="25" name="su-2"/>
          <p:cNvSpPr txBox="1"/>
          <p:nvPr/>
        </p:nvSpPr>
        <p:spPr>
          <a:xfrm>
            <a:off x="2849245" y="3027108"/>
            <a:ext cx="2578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DCE9F8"/>
                </a:solidFill>
                <a:latin typeface="微软雅黑"/>
                <a:ea typeface="微软雅黑"/>
                <a:cs typeface="微软雅黑"/>
              </a:rPr>
              <a:t>万元</a:t>
            </a:r>
          </a:p>
        </p:txBody>
      </p:sp>
      <p:sp>
        <p:nvSpPr>
          <p:cNvPr id="26" name="sn-2"/>
          <p:cNvSpPr txBox="1"/>
          <p:nvPr/>
        </p:nvSpPr>
        <p:spPr>
          <a:xfrm>
            <a:off x="2626042" y="1486313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需求分析</a:t>
            </a:r>
          </a:p>
        </p:txBody>
      </p:sp>
      <p:sp>
        <p:nvSpPr>
          <p:cNvPr id="27" name="rl-2-0"/>
          <p:cNvSpPr txBox="1"/>
          <p:nvPr/>
        </p:nvSpPr>
        <p:spPr>
          <a:xfrm>
            <a:off x="2522601" y="4331287"/>
            <a:ext cx="2797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商机</a:t>
            </a:r>
          </a:p>
        </p:txBody>
      </p:sp>
      <p:sp>
        <p:nvSpPr>
          <p:cNvPr id="28" name="rv-2-0"/>
          <p:cNvSpPr txBox="1"/>
          <p:nvPr/>
        </p:nvSpPr>
        <p:spPr>
          <a:xfrm>
            <a:off x="3201670" y="430384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94</a:t>
            </a:r>
          </a:p>
        </p:txBody>
      </p:sp>
      <p:sp>
        <p:nvSpPr>
          <p:cNvPr id="29" name="rl-2-1"/>
          <p:cNvSpPr txBox="1"/>
          <p:nvPr/>
        </p:nvSpPr>
        <p:spPr>
          <a:xfrm>
            <a:off x="2522601" y="4610687"/>
            <a:ext cx="2797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赢率</a:t>
            </a:r>
          </a:p>
        </p:txBody>
      </p:sp>
      <p:sp>
        <p:nvSpPr>
          <p:cNvPr id="30" name="rv-2-1"/>
          <p:cNvSpPr txBox="1"/>
          <p:nvPr/>
        </p:nvSpPr>
        <p:spPr>
          <a:xfrm>
            <a:off x="3135757" y="4583240"/>
            <a:ext cx="300609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25%</a:t>
            </a:r>
          </a:p>
        </p:txBody>
      </p:sp>
      <p:sp>
        <p:nvSpPr>
          <p:cNvPr id="31" name="rl-2-2"/>
          <p:cNvSpPr txBox="1"/>
          <p:nvPr/>
        </p:nvSpPr>
        <p:spPr>
          <a:xfrm>
            <a:off x="2522601" y="4890087"/>
            <a:ext cx="2797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停留</a:t>
            </a:r>
          </a:p>
        </p:txBody>
      </p:sp>
      <p:sp>
        <p:nvSpPr>
          <p:cNvPr id="32" name="rv-2-2"/>
          <p:cNvSpPr txBox="1"/>
          <p:nvPr/>
        </p:nvSpPr>
        <p:spPr>
          <a:xfrm>
            <a:off x="3019552" y="4862640"/>
            <a:ext cx="41681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18 天</a:t>
            </a:r>
          </a:p>
        </p:txBody>
      </p:sp>
      <p:sp>
        <p:nvSpPr>
          <p:cNvPr id="33" name="rl-2-3"/>
          <p:cNvSpPr txBox="1"/>
          <p:nvPr/>
        </p:nvSpPr>
        <p:spPr>
          <a:xfrm>
            <a:off x="2522601" y="5169487"/>
            <a:ext cx="2797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加权</a:t>
            </a:r>
          </a:p>
        </p:txBody>
      </p:sp>
      <p:sp>
        <p:nvSpPr>
          <p:cNvPr id="34" name="rv-2-3"/>
          <p:cNvSpPr txBox="1"/>
          <p:nvPr/>
        </p:nvSpPr>
        <p:spPr>
          <a:xfrm>
            <a:off x="2958465" y="5126355"/>
            <a:ext cx="47942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1,645</a:t>
            </a:r>
          </a:p>
        </p:txBody>
      </p:sp>
      <p:sp>
        <p:nvSpPr>
          <p:cNvPr id="35" name="pipe-3"/>
          <p:cNvSpPr/>
          <p:nvPr/>
        </p:nvSpPr>
        <p:spPr>
          <a:xfrm>
            <a:off x="3556000" y="2120081"/>
            <a:ext cx="254000" cy="1728839"/>
          </a:xfrm>
          <a:custGeom>
            <a:avLst/>
            <a:gdLst/>
            <a:ahLst/>
            <a:cxnLst/>
            <a:rect l="0" t="0" r="r" b="b"/>
            <a:pathLst>
              <a:path w="254000" h="1728839">
                <a:moveTo>
                  <a:pt x="0" y="0"/>
                </a:moveTo>
                <a:cubicBezTo>
                  <a:pt x="190500" y="0"/>
                  <a:pt x="88900" y="194597"/>
                  <a:pt x="254000" y="194597"/>
                </a:cubicBezTo>
                <a:lnTo>
                  <a:pt x="254000" y="1534242"/>
                </a:lnTo>
                <a:cubicBezTo>
                  <a:pt x="88900" y="1534242"/>
                  <a:pt x="190500" y="1728839"/>
                  <a:pt x="0" y="1728839"/>
                </a:cubicBezTo>
                <a:close/>
              </a:path>
            </a:pathLst>
          </a:custGeom>
          <a:solidFill>
            <a:srgbClr val="DCE7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st-3"/>
          <p:cNvSpPr/>
          <p:nvPr/>
        </p:nvSpPr>
        <p:spPr>
          <a:xfrm>
            <a:off x="3810000" y="2314702"/>
            <a:ext cx="1155700" cy="1339596"/>
          </a:xfrm>
          <a:custGeom>
            <a:avLst/>
            <a:gdLst/>
            <a:ahLst/>
            <a:cxnLst/>
            <a:rect l="0" t="0" r="r" b="b"/>
            <a:pathLst>
              <a:path w="1155700" h="1339596">
                <a:moveTo>
                  <a:pt x="114300" y="0"/>
                </a:moveTo>
                <a:lnTo>
                  <a:pt x="1041400" y="0"/>
                </a:lnTo>
                <a:cubicBezTo>
                  <a:pt x="1104519" y="0"/>
                  <a:pt x="1155700" y="51118"/>
                  <a:pt x="1155700" y="114300"/>
                </a:cubicBezTo>
                <a:lnTo>
                  <a:pt x="1155700" y="1225296"/>
                </a:lnTo>
                <a:cubicBezTo>
                  <a:pt x="1155700" y="1288478"/>
                  <a:pt x="1104519" y="1339596"/>
                  <a:pt x="1041400" y="1339596"/>
                </a:cubicBezTo>
                <a:lnTo>
                  <a:pt x="114300" y="1339596"/>
                </a:lnTo>
                <a:cubicBezTo>
                  <a:pt x="51181" y="1339596"/>
                  <a:pt x="0" y="1288478"/>
                  <a:pt x="0" y="1225296"/>
                </a:cubicBezTo>
                <a:lnTo>
                  <a:pt x="0" y="114300"/>
                </a:lnTo>
                <a:cubicBezTo>
                  <a:pt x="0" y="51118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457FC1"/>
              </a:gs>
              <a:gs pos="100000">
                <a:srgbClr val="2468B6"/>
              </a:gs>
            </a:gsLst>
            <a:lin ang="54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sa-3"/>
          <p:cNvSpPr txBox="1"/>
          <p:nvPr/>
        </p:nvSpPr>
        <p:spPr>
          <a:xfrm>
            <a:off x="4082415" y="2755202"/>
            <a:ext cx="61087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4,680</a:t>
            </a:r>
          </a:p>
        </p:txBody>
      </p:sp>
      <p:sp>
        <p:nvSpPr>
          <p:cNvPr id="38" name="su-3"/>
          <p:cNvSpPr txBox="1"/>
          <p:nvPr/>
        </p:nvSpPr>
        <p:spPr>
          <a:xfrm>
            <a:off x="4258945" y="3027108"/>
            <a:ext cx="2578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DCE9F8"/>
                </a:solidFill>
                <a:latin typeface="微软雅黑"/>
                <a:ea typeface="微软雅黑"/>
                <a:cs typeface="微软雅黑"/>
              </a:rPr>
              <a:t>万元</a:t>
            </a:r>
          </a:p>
        </p:txBody>
      </p:sp>
      <p:sp>
        <p:nvSpPr>
          <p:cNvPr id="39" name="sn-3"/>
          <p:cNvSpPr txBox="1"/>
          <p:nvPr/>
        </p:nvSpPr>
        <p:spPr>
          <a:xfrm>
            <a:off x="4035742" y="1486313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方案报价</a:t>
            </a:r>
          </a:p>
        </p:txBody>
      </p:sp>
      <p:sp>
        <p:nvSpPr>
          <p:cNvPr id="40" name="rl-3-0"/>
          <p:cNvSpPr txBox="1"/>
          <p:nvPr/>
        </p:nvSpPr>
        <p:spPr>
          <a:xfrm>
            <a:off x="3932301" y="4331287"/>
            <a:ext cx="2797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商机</a:t>
            </a:r>
          </a:p>
        </p:txBody>
      </p:sp>
      <p:sp>
        <p:nvSpPr>
          <p:cNvPr id="41" name="rv-3-0"/>
          <p:cNvSpPr txBox="1"/>
          <p:nvPr/>
        </p:nvSpPr>
        <p:spPr>
          <a:xfrm>
            <a:off x="4611370" y="430384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52</a:t>
            </a:r>
          </a:p>
        </p:txBody>
      </p:sp>
      <p:sp>
        <p:nvSpPr>
          <p:cNvPr id="42" name="rl-3-1"/>
          <p:cNvSpPr txBox="1"/>
          <p:nvPr/>
        </p:nvSpPr>
        <p:spPr>
          <a:xfrm>
            <a:off x="3932301" y="4610687"/>
            <a:ext cx="2797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赢率</a:t>
            </a:r>
          </a:p>
        </p:txBody>
      </p:sp>
      <p:sp>
        <p:nvSpPr>
          <p:cNvPr id="43" name="rv-3-1"/>
          <p:cNvSpPr txBox="1"/>
          <p:nvPr/>
        </p:nvSpPr>
        <p:spPr>
          <a:xfrm>
            <a:off x="4545457" y="4583240"/>
            <a:ext cx="300609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45%</a:t>
            </a:r>
          </a:p>
        </p:txBody>
      </p:sp>
      <p:sp>
        <p:nvSpPr>
          <p:cNvPr id="44" name="rl-3-2"/>
          <p:cNvSpPr txBox="1"/>
          <p:nvPr/>
        </p:nvSpPr>
        <p:spPr>
          <a:xfrm>
            <a:off x="3932301" y="4890087"/>
            <a:ext cx="2797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停留</a:t>
            </a:r>
          </a:p>
        </p:txBody>
      </p:sp>
      <p:sp>
        <p:nvSpPr>
          <p:cNvPr id="45" name="rv-3-2"/>
          <p:cNvSpPr txBox="1"/>
          <p:nvPr/>
        </p:nvSpPr>
        <p:spPr>
          <a:xfrm>
            <a:off x="4429252" y="4862640"/>
            <a:ext cx="41681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21 天</a:t>
            </a:r>
          </a:p>
        </p:txBody>
      </p:sp>
      <p:sp>
        <p:nvSpPr>
          <p:cNvPr id="46" name="rl-3-3"/>
          <p:cNvSpPr txBox="1"/>
          <p:nvPr/>
        </p:nvSpPr>
        <p:spPr>
          <a:xfrm>
            <a:off x="3932301" y="5169487"/>
            <a:ext cx="2797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加权</a:t>
            </a:r>
          </a:p>
        </p:txBody>
      </p:sp>
      <p:sp>
        <p:nvSpPr>
          <p:cNvPr id="47" name="rv-3-3"/>
          <p:cNvSpPr txBox="1"/>
          <p:nvPr/>
        </p:nvSpPr>
        <p:spPr>
          <a:xfrm>
            <a:off x="4368165" y="5126355"/>
            <a:ext cx="47942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2,106</a:t>
            </a:r>
          </a:p>
        </p:txBody>
      </p:sp>
      <p:sp>
        <p:nvSpPr>
          <p:cNvPr id="48" name="pipe-4"/>
          <p:cNvSpPr/>
          <p:nvPr/>
        </p:nvSpPr>
        <p:spPr>
          <a:xfrm>
            <a:off x="4965700" y="2314677"/>
            <a:ext cx="254000" cy="1339645"/>
          </a:xfrm>
          <a:custGeom>
            <a:avLst/>
            <a:gdLst/>
            <a:ahLst/>
            <a:cxnLst/>
            <a:rect l="0" t="0" r="r" b="b"/>
            <a:pathLst>
              <a:path w="254000" h="1339645">
                <a:moveTo>
                  <a:pt x="0" y="0"/>
                </a:moveTo>
                <a:cubicBezTo>
                  <a:pt x="190500" y="0"/>
                  <a:pt x="88900" y="163871"/>
                  <a:pt x="254000" y="163871"/>
                </a:cubicBezTo>
                <a:lnTo>
                  <a:pt x="254000" y="1175774"/>
                </a:lnTo>
                <a:cubicBezTo>
                  <a:pt x="88900" y="1175774"/>
                  <a:pt x="190500" y="1339645"/>
                  <a:pt x="0" y="1339645"/>
                </a:cubicBezTo>
                <a:close/>
              </a:path>
            </a:pathLst>
          </a:custGeom>
          <a:solidFill>
            <a:srgbClr val="DCE7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st-4"/>
          <p:cNvSpPr/>
          <p:nvPr/>
        </p:nvSpPr>
        <p:spPr>
          <a:xfrm>
            <a:off x="5219700" y="2478532"/>
            <a:ext cx="1155700" cy="1011936"/>
          </a:xfrm>
          <a:custGeom>
            <a:avLst/>
            <a:gdLst/>
            <a:ahLst/>
            <a:cxnLst/>
            <a:rect l="0" t="0" r="r" b="b"/>
            <a:pathLst>
              <a:path w="1155700" h="1011936">
                <a:moveTo>
                  <a:pt x="114300" y="0"/>
                </a:moveTo>
                <a:lnTo>
                  <a:pt x="1041400" y="0"/>
                </a:lnTo>
                <a:cubicBezTo>
                  <a:pt x="1104519" y="0"/>
                  <a:pt x="1155700" y="51181"/>
                  <a:pt x="1155700" y="114300"/>
                </a:cubicBezTo>
                <a:lnTo>
                  <a:pt x="1155700" y="897636"/>
                </a:lnTo>
                <a:cubicBezTo>
                  <a:pt x="1155700" y="960755"/>
                  <a:pt x="1104519" y="1011936"/>
                  <a:pt x="1041400" y="1011936"/>
                </a:cubicBezTo>
                <a:lnTo>
                  <a:pt x="114300" y="1011936"/>
                </a:lnTo>
                <a:cubicBezTo>
                  <a:pt x="51181" y="1011936"/>
                  <a:pt x="0" y="960755"/>
                  <a:pt x="0" y="897636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4D8BCB"/>
              </a:gs>
              <a:gs pos="100000">
                <a:srgbClr val="2E77C2"/>
              </a:gs>
            </a:gsLst>
            <a:lin ang="54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sa-4"/>
          <p:cNvSpPr txBox="1"/>
          <p:nvPr/>
        </p:nvSpPr>
        <p:spPr>
          <a:xfrm>
            <a:off x="5492115" y="2755202"/>
            <a:ext cx="61087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3,080</a:t>
            </a:r>
          </a:p>
        </p:txBody>
      </p:sp>
      <p:sp>
        <p:nvSpPr>
          <p:cNvPr id="51" name="su-4"/>
          <p:cNvSpPr txBox="1"/>
          <p:nvPr/>
        </p:nvSpPr>
        <p:spPr>
          <a:xfrm>
            <a:off x="5668645" y="3027108"/>
            <a:ext cx="2578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DCE9F8"/>
                </a:solidFill>
                <a:latin typeface="微软雅黑"/>
                <a:ea typeface="微软雅黑"/>
                <a:cs typeface="微软雅黑"/>
              </a:rPr>
              <a:t>万元</a:t>
            </a:r>
          </a:p>
        </p:txBody>
      </p:sp>
      <p:sp>
        <p:nvSpPr>
          <p:cNvPr id="52" name="sn-4"/>
          <p:cNvSpPr txBox="1"/>
          <p:nvPr/>
        </p:nvSpPr>
        <p:spPr>
          <a:xfrm>
            <a:off x="5445442" y="1486313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商务谈判</a:t>
            </a:r>
          </a:p>
        </p:txBody>
      </p:sp>
      <p:sp>
        <p:nvSpPr>
          <p:cNvPr id="53" name="rl-4-0"/>
          <p:cNvSpPr txBox="1"/>
          <p:nvPr/>
        </p:nvSpPr>
        <p:spPr>
          <a:xfrm>
            <a:off x="5342001" y="4331287"/>
            <a:ext cx="2797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商机</a:t>
            </a:r>
          </a:p>
        </p:txBody>
      </p:sp>
      <p:sp>
        <p:nvSpPr>
          <p:cNvPr id="54" name="rv-4-0"/>
          <p:cNvSpPr txBox="1"/>
          <p:nvPr/>
        </p:nvSpPr>
        <p:spPr>
          <a:xfrm>
            <a:off x="6021070" y="430384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28</a:t>
            </a:r>
          </a:p>
        </p:txBody>
      </p:sp>
      <p:sp>
        <p:nvSpPr>
          <p:cNvPr id="55" name="rl-4-1"/>
          <p:cNvSpPr txBox="1"/>
          <p:nvPr/>
        </p:nvSpPr>
        <p:spPr>
          <a:xfrm>
            <a:off x="5342001" y="4610687"/>
            <a:ext cx="2797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赢率</a:t>
            </a:r>
          </a:p>
        </p:txBody>
      </p:sp>
      <p:sp>
        <p:nvSpPr>
          <p:cNvPr id="56" name="rv-4-1"/>
          <p:cNvSpPr txBox="1"/>
          <p:nvPr/>
        </p:nvSpPr>
        <p:spPr>
          <a:xfrm>
            <a:off x="5955157" y="4583240"/>
            <a:ext cx="300609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70%</a:t>
            </a:r>
          </a:p>
        </p:txBody>
      </p:sp>
      <p:sp>
        <p:nvSpPr>
          <p:cNvPr id="57" name="rl-4-2"/>
          <p:cNvSpPr txBox="1"/>
          <p:nvPr/>
        </p:nvSpPr>
        <p:spPr>
          <a:xfrm>
            <a:off x="5342001" y="4890087"/>
            <a:ext cx="2797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停留</a:t>
            </a:r>
          </a:p>
        </p:txBody>
      </p:sp>
      <p:sp>
        <p:nvSpPr>
          <p:cNvPr id="58" name="rv-4-2"/>
          <p:cNvSpPr txBox="1"/>
          <p:nvPr/>
        </p:nvSpPr>
        <p:spPr>
          <a:xfrm>
            <a:off x="5838952" y="4862640"/>
            <a:ext cx="41681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15 天</a:t>
            </a:r>
          </a:p>
        </p:txBody>
      </p:sp>
      <p:sp>
        <p:nvSpPr>
          <p:cNvPr id="59" name="rl-4-3"/>
          <p:cNvSpPr txBox="1"/>
          <p:nvPr/>
        </p:nvSpPr>
        <p:spPr>
          <a:xfrm>
            <a:off x="5342001" y="5169487"/>
            <a:ext cx="2797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加权</a:t>
            </a:r>
          </a:p>
        </p:txBody>
      </p:sp>
      <p:sp>
        <p:nvSpPr>
          <p:cNvPr id="60" name="rv-4-3"/>
          <p:cNvSpPr txBox="1"/>
          <p:nvPr/>
        </p:nvSpPr>
        <p:spPr>
          <a:xfrm>
            <a:off x="5777865" y="5126355"/>
            <a:ext cx="47942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2,156</a:t>
            </a:r>
          </a:p>
        </p:txBody>
      </p:sp>
      <p:sp>
        <p:nvSpPr>
          <p:cNvPr id="61" name="pipe-5"/>
          <p:cNvSpPr/>
          <p:nvPr/>
        </p:nvSpPr>
        <p:spPr>
          <a:xfrm>
            <a:off x="6375400" y="2478548"/>
            <a:ext cx="254000" cy="1011903"/>
          </a:xfrm>
          <a:custGeom>
            <a:avLst/>
            <a:gdLst/>
            <a:ahLst/>
            <a:cxnLst/>
            <a:rect l="0" t="0" r="r" b="b"/>
            <a:pathLst>
              <a:path w="254000" h="1011903">
                <a:moveTo>
                  <a:pt x="0" y="0"/>
                </a:moveTo>
                <a:cubicBezTo>
                  <a:pt x="190500" y="0"/>
                  <a:pt x="88900" y="143387"/>
                  <a:pt x="254000" y="143387"/>
                </a:cubicBezTo>
                <a:lnTo>
                  <a:pt x="254000" y="868516"/>
                </a:lnTo>
                <a:cubicBezTo>
                  <a:pt x="88900" y="868516"/>
                  <a:pt x="190500" y="1011903"/>
                  <a:pt x="0" y="1011903"/>
                </a:cubicBezTo>
                <a:close/>
              </a:path>
            </a:pathLst>
          </a:custGeom>
          <a:solidFill>
            <a:srgbClr val="DCE7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st-5"/>
          <p:cNvSpPr/>
          <p:nvPr/>
        </p:nvSpPr>
        <p:spPr>
          <a:xfrm>
            <a:off x="6629400" y="2621915"/>
            <a:ext cx="1155700" cy="725170"/>
          </a:xfrm>
          <a:custGeom>
            <a:avLst/>
            <a:gdLst/>
            <a:ahLst/>
            <a:cxnLst/>
            <a:rect l="0" t="0" r="r" b="b"/>
            <a:pathLst>
              <a:path w="1155700" h="725170">
                <a:moveTo>
                  <a:pt x="114300" y="0"/>
                </a:moveTo>
                <a:lnTo>
                  <a:pt x="1041400" y="0"/>
                </a:lnTo>
                <a:cubicBezTo>
                  <a:pt x="1104519" y="0"/>
                  <a:pt x="1155700" y="51181"/>
                  <a:pt x="1155700" y="114300"/>
                </a:cubicBezTo>
                <a:lnTo>
                  <a:pt x="1155700" y="610870"/>
                </a:lnTo>
                <a:cubicBezTo>
                  <a:pt x="1155700" y="673989"/>
                  <a:pt x="1104519" y="725170"/>
                  <a:pt x="1041400" y="725170"/>
                </a:cubicBezTo>
                <a:lnTo>
                  <a:pt x="114300" y="725170"/>
                </a:lnTo>
                <a:cubicBezTo>
                  <a:pt x="51181" y="725170"/>
                  <a:pt x="0" y="673989"/>
                  <a:pt x="0" y="61087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E58558"/>
              </a:gs>
              <a:gs pos="100000">
                <a:srgbClr val="E0703A"/>
              </a:gs>
            </a:gsLst>
            <a:lin ang="54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sa-5"/>
          <p:cNvSpPr txBox="1"/>
          <p:nvPr/>
        </p:nvSpPr>
        <p:spPr>
          <a:xfrm>
            <a:off x="6901815" y="2755202"/>
            <a:ext cx="61087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1,680</a:t>
            </a:r>
          </a:p>
        </p:txBody>
      </p:sp>
      <p:sp>
        <p:nvSpPr>
          <p:cNvPr id="64" name="su-5"/>
          <p:cNvSpPr txBox="1"/>
          <p:nvPr/>
        </p:nvSpPr>
        <p:spPr>
          <a:xfrm>
            <a:off x="7078345" y="3027108"/>
            <a:ext cx="2578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DCE9F8"/>
                </a:solidFill>
                <a:latin typeface="微软雅黑"/>
                <a:ea typeface="微软雅黑"/>
                <a:cs typeface="微软雅黑"/>
              </a:rPr>
              <a:t>万元</a:t>
            </a:r>
          </a:p>
        </p:txBody>
      </p:sp>
      <p:sp>
        <p:nvSpPr>
          <p:cNvPr id="65" name="sn-5"/>
          <p:cNvSpPr txBox="1"/>
          <p:nvPr/>
        </p:nvSpPr>
        <p:spPr>
          <a:xfrm>
            <a:off x="6928168" y="1486313"/>
            <a:ext cx="55816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待签约</a:t>
            </a:r>
          </a:p>
        </p:txBody>
      </p:sp>
      <p:sp>
        <p:nvSpPr>
          <p:cNvPr id="66" name="rl-5-0"/>
          <p:cNvSpPr txBox="1"/>
          <p:nvPr/>
        </p:nvSpPr>
        <p:spPr>
          <a:xfrm>
            <a:off x="6751701" y="4331287"/>
            <a:ext cx="2797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商机</a:t>
            </a:r>
          </a:p>
        </p:txBody>
      </p:sp>
      <p:sp>
        <p:nvSpPr>
          <p:cNvPr id="67" name="rv-5-0"/>
          <p:cNvSpPr txBox="1"/>
          <p:nvPr/>
        </p:nvSpPr>
        <p:spPr>
          <a:xfrm>
            <a:off x="7430770" y="430384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14</a:t>
            </a:r>
          </a:p>
        </p:txBody>
      </p:sp>
      <p:sp>
        <p:nvSpPr>
          <p:cNvPr id="68" name="rl-5-1"/>
          <p:cNvSpPr txBox="1"/>
          <p:nvPr/>
        </p:nvSpPr>
        <p:spPr>
          <a:xfrm>
            <a:off x="6751701" y="4610687"/>
            <a:ext cx="2797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赢率</a:t>
            </a:r>
          </a:p>
        </p:txBody>
      </p:sp>
      <p:sp>
        <p:nvSpPr>
          <p:cNvPr id="69" name="rv-5-1"/>
          <p:cNvSpPr txBox="1"/>
          <p:nvPr/>
        </p:nvSpPr>
        <p:spPr>
          <a:xfrm>
            <a:off x="7364857" y="4583240"/>
            <a:ext cx="300609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90%</a:t>
            </a:r>
          </a:p>
        </p:txBody>
      </p:sp>
      <p:sp>
        <p:nvSpPr>
          <p:cNvPr id="70" name="rl-5-2"/>
          <p:cNvSpPr txBox="1"/>
          <p:nvPr/>
        </p:nvSpPr>
        <p:spPr>
          <a:xfrm>
            <a:off x="6751701" y="4890087"/>
            <a:ext cx="2797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停留</a:t>
            </a:r>
          </a:p>
        </p:txBody>
      </p:sp>
      <p:sp>
        <p:nvSpPr>
          <p:cNvPr id="71" name="rv-5-2"/>
          <p:cNvSpPr txBox="1"/>
          <p:nvPr/>
        </p:nvSpPr>
        <p:spPr>
          <a:xfrm>
            <a:off x="7314565" y="4862640"/>
            <a:ext cx="350901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6 天</a:t>
            </a:r>
          </a:p>
        </p:txBody>
      </p:sp>
      <p:sp>
        <p:nvSpPr>
          <p:cNvPr id="72" name="rl-5-3"/>
          <p:cNvSpPr txBox="1"/>
          <p:nvPr/>
        </p:nvSpPr>
        <p:spPr>
          <a:xfrm>
            <a:off x="6751701" y="5169487"/>
            <a:ext cx="2797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加权</a:t>
            </a:r>
          </a:p>
        </p:txBody>
      </p:sp>
      <p:sp>
        <p:nvSpPr>
          <p:cNvPr id="73" name="rv-5-3"/>
          <p:cNvSpPr txBox="1"/>
          <p:nvPr/>
        </p:nvSpPr>
        <p:spPr>
          <a:xfrm>
            <a:off x="7187565" y="5126355"/>
            <a:ext cx="47942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1,512</a:t>
            </a:r>
          </a:p>
        </p:txBody>
      </p:sp>
      <p:sp>
        <p:nvSpPr>
          <p:cNvPr id="74" name="kpi"/>
          <p:cNvSpPr/>
          <p:nvPr/>
        </p:nvSpPr>
        <p:spPr>
          <a:xfrm>
            <a:off x="8445500" y="1587500"/>
            <a:ext cx="2794000" cy="1651000"/>
          </a:xfrm>
          <a:custGeom>
            <a:avLst/>
            <a:gdLst/>
            <a:ahLst/>
            <a:cxnLst/>
            <a:rect l="0" t="0" r="r" b="b"/>
            <a:pathLst>
              <a:path w="2794000" h="1651000">
                <a:moveTo>
                  <a:pt x="139700" y="0"/>
                </a:moveTo>
                <a:lnTo>
                  <a:pt x="2654300" y="0"/>
                </a:lnTo>
                <a:cubicBezTo>
                  <a:pt x="2731453" y="0"/>
                  <a:pt x="2794000" y="62548"/>
                  <a:pt x="2794000" y="139700"/>
                </a:cubicBezTo>
                <a:lnTo>
                  <a:pt x="2794000" y="1511300"/>
                </a:lnTo>
                <a:cubicBezTo>
                  <a:pt x="2794000" y="1588452"/>
                  <a:pt x="2731453" y="1651000"/>
                  <a:pt x="2654300" y="1651000"/>
                </a:cubicBezTo>
                <a:lnTo>
                  <a:pt x="139700" y="1651000"/>
                </a:lnTo>
                <a:cubicBezTo>
                  <a:pt x="62547" y="1651000"/>
                  <a:pt x="0" y="1588452"/>
                  <a:pt x="0" y="15113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kpi-h"/>
          <p:cNvSpPr txBox="1"/>
          <p:nvPr/>
        </p:nvSpPr>
        <p:spPr>
          <a:xfrm>
            <a:off x="8621522" y="1743297"/>
            <a:ext cx="629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加权预测</a:t>
            </a:r>
          </a:p>
        </p:txBody>
      </p:sp>
      <p:sp>
        <p:nvSpPr>
          <p:cNvPr id="76" name="kpi-v"/>
          <p:cNvSpPr txBox="1"/>
          <p:nvPr/>
        </p:nvSpPr>
        <p:spPr>
          <a:xfrm>
            <a:off x="8590280" y="1942465"/>
            <a:ext cx="1409700" cy="6667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0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8,349</a:t>
            </a:r>
          </a:p>
        </p:txBody>
      </p:sp>
      <p:sp>
        <p:nvSpPr>
          <p:cNvPr id="77" name="kpi-u"/>
          <p:cNvSpPr txBox="1"/>
          <p:nvPr/>
        </p:nvSpPr>
        <p:spPr>
          <a:xfrm>
            <a:off x="9898888" y="2209102"/>
            <a:ext cx="3136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万</a:t>
            </a:r>
          </a:p>
        </p:txBody>
      </p:sp>
      <p:sp>
        <p:nvSpPr>
          <p:cNvPr id="78" name="kpi-p"/>
          <p:cNvSpPr txBox="1"/>
          <p:nvPr/>
        </p:nvSpPr>
        <p:spPr>
          <a:xfrm>
            <a:off x="8623808" y="2579624"/>
            <a:ext cx="1639189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1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季度目标 8,880 万 · 完成 94%</a:t>
            </a:r>
          </a:p>
        </p:txBody>
      </p:sp>
      <p:sp>
        <p:nvSpPr>
          <p:cNvPr id="79" name="kpi-b"/>
          <p:cNvSpPr/>
          <p:nvPr/>
        </p:nvSpPr>
        <p:spPr>
          <a:xfrm>
            <a:off x="8636000" y="2870200"/>
            <a:ext cx="2413000" cy="88900"/>
          </a:xfrm>
          <a:custGeom>
            <a:avLst/>
            <a:gdLst/>
            <a:ahLst/>
            <a:cxnLst/>
            <a:rect l="0" t="0" r="r" b="b"/>
            <a:pathLst>
              <a:path w="2413000" h="88900">
                <a:moveTo>
                  <a:pt x="44450" y="0"/>
                </a:moveTo>
                <a:lnTo>
                  <a:pt x="2368550" y="0"/>
                </a:lnTo>
                <a:cubicBezTo>
                  <a:pt x="2393124" y="0"/>
                  <a:pt x="2413000" y="19875"/>
                  <a:pt x="2413000" y="44450"/>
                </a:cubicBezTo>
                <a:lnTo>
                  <a:pt x="2413000" y="44450"/>
                </a:lnTo>
                <a:cubicBezTo>
                  <a:pt x="2413000" y="69025"/>
                  <a:pt x="2393124" y="88900"/>
                  <a:pt x="2368550" y="88900"/>
                </a:cubicBezTo>
                <a:lnTo>
                  <a:pt x="44450" y="88900"/>
                </a:lnTo>
                <a:cubicBezTo>
                  <a:pt x="19876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kpi-f"/>
          <p:cNvSpPr/>
          <p:nvPr/>
        </p:nvSpPr>
        <p:spPr>
          <a:xfrm>
            <a:off x="8636000" y="2870200"/>
            <a:ext cx="2268728" cy="88900"/>
          </a:xfrm>
          <a:custGeom>
            <a:avLst/>
            <a:gdLst/>
            <a:ahLst/>
            <a:cxnLst/>
            <a:rect l="0" t="0" r="r" b="b"/>
            <a:pathLst>
              <a:path w="2268728" h="88900">
                <a:moveTo>
                  <a:pt x="44450" y="0"/>
                </a:moveTo>
                <a:lnTo>
                  <a:pt x="2224278" y="0"/>
                </a:lnTo>
                <a:cubicBezTo>
                  <a:pt x="2248789" y="0"/>
                  <a:pt x="2268728" y="19875"/>
                  <a:pt x="2268728" y="44450"/>
                </a:cubicBezTo>
                <a:lnTo>
                  <a:pt x="2268728" y="44450"/>
                </a:lnTo>
                <a:cubicBezTo>
                  <a:pt x="2268728" y="69025"/>
                  <a:pt x="2248789" y="88900"/>
                  <a:pt x="2224278" y="88900"/>
                </a:cubicBezTo>
                <a:lnTo>
                  <a:pt x="44450" y="88900"/>
                </a:lnTo>
                <a:cubicBezTo>
                  <a:pt x="19876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warn"/>
          <p:cNvSpPr/>
          <p:nvPr/>
        </p:nvSpPr>
        <p:spPr>
          <a:xfrm>
            <a:off x="8445500" y="3429000"/>
            <a:ext cx="2794000" cy="1587500"/>
          </a:xfrm>
          <a:custGeom>
            <a:avLst/>
            <a:gdLst/>
            <a:ahLst/>
            <a:cxnLst/>
            <a:rect l="0" t="0" r="r" b="b"/>
            <a:pathLst>
              <a:path w="2794000" h="1587500">
                <a:moveTo>
                  <a:pt x="127000" y="0"/>
                </a:moveTo>
                <a:lnTo>
                  <a:pt x="2667000" y="0"/>
                </a:lnTo>
                <a:cubicBezTo>
                  <a:pt x="2737167" y="0"/>
                  <a:pt x="2794000" y="56833"/>
                  <a:pt x="2794000" y="127000"/>
                </a:cubicBezTo>
                <a:lnTo>
                  <a:pt x="2794000" y="1460500"/>
                </a:lnTo>
                <a:cubicBezTo>
                  <a:pt x="2794000" y="1530667"/>
                  <a:pt x="2737167" y="1587500"/>
                  <a:pt x="2667000" y="1587500"/>
                </a:cubicBezTo>
                <a:lnTo>
                  <a:pt x="127000" y="1587500"/>
                </a:lnTo>
                <a:cubicBezTo>
                  <a:pt x="56833" y="1587500"/>
                  <a:pt x="0" y="1530667"/>
                  <a:pt x="0" y="14605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warn-b"/>
          <p:cNvSpPr/>
          <p:nvPr/>
        </p:nvSpPr>
        <p:spPr>
          <a:xfrm>
            <a:off x="8445500" y="3429000"/>
            <a:ext cx="38100" cy="1587500"/>
          </a:xfrm>
          <a:custGeom>
            <a:avLst/>
            <a:gdLst/>
            <a:ahLst/>
            <a:cxnLst/>
            <a:rect l="0" t="0" r="r" b="b"/>
            <a:pathLst>
              <a:path w="38100" h="15875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568450"/>
                </a:lnTo>
                <a:cubicBezTo>
                  <a:pt x="38100" y="1578991"/>
                  <a:pt x="29591" y="1587500"/>
                  <a:pt x="19050" y="1587500"/>
                </a:cubicBezTo>
                <a:lnTo>
                  <a:pt x="19050" y="1587500"/>
                </a:lnTo>
                <a:cubicBezTo>
                  <a:pt x="8509" y="1587500"/>
                  <a:pt x="0" y="1578991"/>
                  <a:pt x="0" y="15684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warn-h"/>
          <p:cNvSpPr txBox="1"/>
          <p:nvPr/>
        </p:nvSpPr>
        <p:spPr>
          <a:xfrm>
            <a:off x="8619998" y="3556413"/>
            <a:ext cx="1120140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卡点在方案报价</a:t>
            </a:r>
          </a:p>
        </p:txBody>
      </p:sp>
      <p:sp>
        <p:nvSpPr>
          <p:cNvPr id="84" name="warn-1"/>
          <p:cNvSpPr txBox="1"/>
          <p:nvPr/>
        </p:nvSpPr>
        <p:spPr>
          <a:xfrm>
            <a:off x="8623046" y="3879882"/>
            <a:ext cx="166484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平均停留 21 天，全流程最长；</a:t>
            </a:r>
          </a:p>
        </p:txBody>
      </p:sp>
      <p:sp>
        <p:nvSpPr>
          <p:cNvPr id="85" name="warn-2"/>
          <p:cNvSpPr txBox="1"/>
          <p:nvPr/>
        </p:nvSpPr>
        <p:spPr>
          <a:xfrm>
            <a:off x="8623046" y="4095782"/>
            <a:ext cx="177177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52 个商机里有 19 个超过 30 天</a:t>
            </a:r>
          </a:p>
        </p:txBody>
      </p:sp>
      <p:sp>
        <p:nvSpPr>
          <p:cNvPr id="86" name="warn-3"/>
          <p:cNvSpPr txBox="1"/>
          <p:nvPr/>
        </p:nvSpPr>
        <p:spPr>
          <a:xfrm>
            <a:off x="8623046" y="4311682"/>
            <a:ext cx="130556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没有推进。建议方案团队</a:t>
            </a:r>
          </a:p>
        </p:txBody>
      </p:sp>
      <p:sp>
        <p:nvSpPr>
          <p:cNvPr id="87" name="warn-4"/>
          <p:cNvSpPr txBox="1"/>
          <p:nvPr/>
        </p:nvSpPr>
        <p:spPr>
          <a:xfrm>
            <a:off x="8623046" y="4527582"/>
            <a:ext cx="94335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增配 2 名售前。</a:t>
            </a:r>
          </a:p>
        </p:txBody>
      </p:sp>
      <p:sp>
        <p:nvSpPr>
          <p:cNvPr id="88" name="sum"/>
          <p:cNvSpPr/>
          <p:nvPr/>
        </p:nvSpPr>
        <p:spPr>
          <a:xfrm>
            <a:off x="952500" y="5791200"/>
            <a:ext cx="10287000" cy="457200"/>
          </a:xfrm>
          <a:custGeom>
            <a:avLst/>
            <a:gdLst/>
            <a:ahLst/>
            <a:cxnLst/>
            <a:rect l="0" t="0" r="r" b="b"/>
            <a:pathLst>
              <a:path w="10287000" h="4572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68300"/>
                </a:lnTo>
                <a:cubicBezTo>
                  <a:pt x="10287000" y="417386"/>
                  <a:pt x="10247186" y="457200"/>
                  <a:pt x="10198100" y="457200"/>
                </a:cubicBezTo>
                <a:lnTo>
                  <a:pt x="88900" y="457200"/>
                </a:lnTo>
                <a:cubicBezTo>
                  <a:pt x="39815" y="457200"/>
                  <a:pt x="0" y="417386"/>
                  <a:pt x="0" y="3683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sum-bar"/>
          <p:cNvSpPr/>
          <p:nvPr/>
        </p:nvSpPr>
        <p:spPr>
          <a:xfrm>
            <a:off x="952500" y="5791200"/>
            <a:ext cx="31750" cy="4572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sum-h"/>
          <p:cNvSpPr txBox="1"/>
          <p:nvPr/>
        </p:nvSpPr>
        <p:spPr>
          <a:xfrm>
            <a:off x="1142746" y="59499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预测口径</a:t>
            </a:r>
          </a:p>
        </p:txBody>
      </p:sp>
      <p:sp>
        <p:nvSpPr>
          <p:cNvPr id="91" name="sum-p"/>
          <p:cNvSpPr txBox="1"/>
          <p:nvPr/>
        </p:nvSpPr>
        <p:spPr>
          <a:xfrm>
            <a:off x="1891665" y="5946061"/>
            <a:ext cx="54556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加权预测 = 各阶段商机金额 × 该阶段历史赢率；缺口约 530 万，需要从商务谈判阶段再推动 3–4 单。</a:t>
            </a:r>
          </a:p>
        </p:txBody>
      </p:sp>
      <p:cxnSp>
        <p:nvCxnSpPr>
          <p:cNvPr id="92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3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销售管道 · 五个阶段</a:t>
            </a:r>
          </a:p>
        </p:txBody>
      </p:sp>
      <p:sp>
        <p:nvSpPr>
          <p:cNvPr id="94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198116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OKR 逐级对齐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08165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OKR CASCADE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7046595" y="673132"/>
            <a:ext cx="45741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公司一个目标，拆成部门的关键结果，再落到每个人的周计划——每一条都能向上找到来源</a:t>
            </a:r>
          </a:p>
        </p:txBody>
      </p:sp>
      <p:sp>
        <p:nvSpPr>
          <p:cNvPr id="10" name="lv-公司"/>
          <p:cNvSpPr/>
          <p:nvPr/>
        </p:nvSpPr>
        <p:spPr>
          <a:xfrm>
            <a:off x="952500" y="1562100"/>
            <a:ext cx="571500" cy="304800"/>
          </a:xfrm>
          <a:custGeom>
            <a:avLst/>
            <a:gdLst/>
            <a:ahLst/>
            <a:cxnLst/>
            <a:rect l="0" t="0" r="r" b="b"/>
            <a:pathLst>
              <a:path w="571500" h="304800">
                <a:moveTo>
                  <a:pt x="152400" y="0"/>
                </a:moveTo>
                <a:lnTo>
                  <a:pt x="419100" y="0"/>
                </a:lnTo>
                <a:cubicBezTo>
                  <a:pt x="503301" y="0"/>
                  <a:pt x="571500" y="68199"/>
                  <a:pt x="571500" y="152400"/>
                </a:cubicBezTo>
                <a:lnTo>
                  <a:pt x="571500" y="152400"/>
                </a:lnTo>
                <a:cubicBezTo>
                  <a:pt x="571500" y="236601"/>
                  <a:pt x="503301" y="304800"/>
                  <a:pt x="419100" y="304800"/>
                </a:cubicBezTo>
                <a:lnTo>
                  <a:pt x="152400" y="304800"/>
                </a:lnTo>
                <a:cubicBezTo>
                  <a:pt x="68199" y="304800"/>
                  <a:pt x="0" y="236601"/>
                  <a:pt x="0" y="1524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lvt-公司"/>
          <p:cNvSpPr txBox="1"/>
          <p:nvPr/>
        </p:nvSpPr>
        <p:spPr>
          <a:xfrm>
            <a:off x="1044257" y="1616297"/>
            <a:ext cx="387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公司</a:t>
            </a:r>
          </a:p>
        </p:txBody>
      </p:sp>
      <p:sp>
        <p:nvSpPr>
          <p:cNvPr id="12" name="lv-部门"/>
          <p:cNvSpPr/>
          <p:nvPr/>
        </p:nvSpPr>
        <p:spPr>
          <a:xfrm>
            <a:off x="952500" y="3149600"/>
            <a:ext cx="571500" cy="304800"/>
          </a:xfrm>
          <a:custGeom>
            <a:avLst/>
            <a:gdLst/>
            <a:ahLst/>
            <a:cxnLst/>
            <a:rect l="0" t="0" r="r" b="b"/>
            <a:pathLst>
              <a:path w="571500" h="304800">
                <a:moveTo>
                  <a:pt x="152400" y="0"/>
                </a:moveTo>
                <a:lnTo>
                  <a:pt x="419100" y="0"/>
                </a:lnTo>
                <a:cubicBezTo>
                  <a:pt x="503301" y="0"/>
                  <a:pt x="571500" y="68199"/>
                  <a:pt x="571500" y="152400"/>
                </a:cubicBezTo>
                <a:lnTo>
                  <a:pt x="571500" y="152400"/>
                </a:lnTo>
                <a:cubicBezTo>
                  <a:pt x="571500" y="236601"/>
                  <a:pt x="503301" y="304800"/>
                  <a:pt x="419100" y="304800"/>
                </a:cubicBezTo>
                <a:lnTo>
                  <a:pt x="152400" y="304800"/>
                </a:lnTo>
                <a:cubicBezTo>
                  <a:pt x="68199" y="304800"/>
                  <a:pt x="0" y="236601"/>
                  <a:pt x="0" y="1524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lvt-部门"/>
          <p:cNvSpPr txBox="1"/>
          <p:nvPr/>
        </p:nvSpPr>
        <p:spPr>
          <a:xfrm>
            <a:off x="1044257" y="3203797"/>
            <a:ext cx="387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部门</a:t>
            </a:r>
          </a:p>
        </p:txBody>
      </p:sp>
      <p:sp>
        <p:nvSpPr>
          <p:cNvPr id="14" name="lv-个人"/>
          <p:cNvSpPr/>
          <p:nvPr/>
        </p:nvSpPr>
        <p:spPr>
          <a:xfrm>
            <a:off x="952500" y="5054600"/>
            <a:ext cx="571500" cy="304800"/>
          </a:xfrm>
          <a:custGeom>
            <a:avLst/>
            <a:gdLst/>
            <a:ahLst/>
            <a:cxnLst/>
            <a:rect l="0" t="0" r="r" b="b"/>
            <a:pathLst>
              <a:path w="571500" h="304800">
                <a:moveTo>
                  <a:pt x="152400" y="0"/>
                </a:moveTo>
                <a:lnTo>
                  <a:pt x="419100" y="0"/>
                </a:lnTo>
                <a:cubicBezTo>
                  <a:pt x="503301" y="0"/>
                  <a:pt x="571500" y="68199"/>
                  <a:pt x="571500" y="152400"/>
                </a:cubicBezTo>
                <a:lnTo>
                  <a:pt x="571500" y="152400"/>
                </a:lnTo>
                <a:cubicBezTo>
                  <a:pt x="571500" y="236601"/>
                  <a:pt x="503301" y="304800"/>
                  <a:pt x="419100" y="304800"/>
                </a:cubicBezTo>
                <a:lnTo>
                  <a:pt x="152400" y="304800"/>
                </a:lnTo>
                <a:cubicBezTo>
                  <a:pt x="68199" y="304800"/>
                  <a:pt x="0" y="236601"/>
                  <a:pt x="0" y="1524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lvt-个人"/>
          <p:cNvSpPr txBox="1"/>
          <p:nvPr/>
        </p:nvSpPr>
        <p:spPr>
          <a:xfrm>
            <a:off x="1044257" y="5108797"/>
            <a:ext cx="387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个人</a:t>
            </a:r>
          </a:p>
        </p:txBody>
      </p:sp>
      <p:sp>
        <p:nvSpPr>
          <p:cNvPr id="16" name="co"/>
          <p:cNvSpPr/>
          <p:nvPr/>
        </p:nvSpPr>
        <p:spPr>
          <a:xfrm>
            <a:off x="1905000" y="1346200"/>
            <a:ext cx="9334500" cy="762000"/>
          </a:xfrm>
          <a:custGeom>
            <a:avLst/>
            <a:gdLst/>
            <a:ahLst/>
            <a:cxnLst/>
            <a:rect l="0" t="0" r="r" b="b"/>
            <a:pathLst>
              <a:path w="9334500" h="762000">
                <a:moveTo>
                  <a:pt x="139700" y="0"/>
                </a:moveTo>
                <a:lnTo>
                  <a:pt x="9194800" y="0"/>
                </a:lnTo>
                <a:cubicBezTo>
                  <a:pt x="9271952" y="0"/>
                  <a:pt x="9334500" y="62547"/>
                  <a:pt x="9334500" y="139700"/>
                </a:cubicBezTo>
                <a:lnTo>
                  <a:pt x="9334500" y="622300"/>
                </a:lnTo>
                <a:cubicBezTo>
                  <a:pt x="9334500" y="699452"/>
                  <a:pt x="9271952" y="762000"/>
                  <a:pt x="9194800" y="762000"/>
                </a:cubicBezTo>
                <a:lnTo>
                  <a:pt x="139700" y="762000"/>
                </a:lnTo>
                <a:cubicBezTo>
                  <a:pt x="62548" y="762000"/>
                  <a:pt x="0" y="699452"/>
                  <a:pt x="0" y="622300"/>
                </a:cubicBezTo>
                <a:lnTo>
                  <a:pt x="0" y="139700"/>
                </a:lnTo>
                <a:cubicBezTo>
                  <a:pt x="0" y="62547"/>
                  <a:pt x="62548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co-l"/>
          <p:cNvSpPr txBox="1"/>
          <p:nvPr/>
        </p:nvSpPr>
        <p:spPr>
          <a:xfrm>
            <a:off x="2108708" y="1512824"/>
            <a:ext cx="459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100">
                <a:solidFill>
                  <a:srgbClr val="9CC6F0"/>
                </a:solidFill>
                <a:latin typeface="微软雅黑"/>
                <a:ea typeface="微软雅黑"/>
                <a:cs typeface="微软雅黑"/>
              </a:rPr>
              <a:t>公司 O</a:t>
            </a:r>
          </a:p>
        </p:txBody>
      </p:sp>
      <p:sp>
        <p:nvSpPr>
          <p:cNvPr id="18" name="co-t"/>
          <p:cNvSpPr txBox="1"/>
          <p:nvPr/>
        </p:nvSpPr>
        <p:spPr>
          <a:xfrm>
            <a:off x="2099564" y="1698117"/>
            <a:ext cx="232537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成为华东制造业客户首选</a:t>
            </a:r>
          </a:p>
        </p:txBody>
      </p:sp>
      <p:sp>
        <p:nvSpPr>
          <p:cNvPr id="19" name="ckr-0"/>
          <p:cNvSpPr/>
          <p:nvPr/>
        </p:nvSpPr>
        <p:spPr>
          <a:xfrm>
            <a:off x="6731000" y="1498600"/>
            <a:ext cx="2095500" cy="457200"/>
          </a:xfrm>
          <a:custGeom>
            <a:avLst/>
            <a:gdLst/>
            <a:ahLst/>
            <a:cxnLst/>
            <a:rect l="0" t="0" r="r" b="b"/>
            <a:pathLst>
              <a:path w="2095500" h="457200">
                <a:moveTo>
                  <a:pt x="101600" y="0"/>
                </a:moveTo>
                <a:lnTo>
                  <a:pt x="1993900" y="0"/>
                </a:lnTo>
                <a:cubicBezTo>
                  <a:pt x="2050034" y="0"/>
                  <a:pt x="2095500" y="45466"/>
                  <a:pt x="2095500" y="101600"/>
                </a:cubicBezTo>
                <a:lnTo>
                  <a:pt x="2095500" y="355600"/>
                </a:lnTo>
                <a:cubicBezTo>
                  <a:pt x="2095500" y="411734"/>
                  <a:pt x="2050034" y="457200"/>
                  <a:pt x="1993900" y="457200"/>
                </a:cubicBezTo>
                <a:lnTo>
                  <a:pt x="101600" y="457200"/>
                </a:lnTo>
                <a:cubicBezTo>
                  <a:pt x="45466" y="457200"/>
                  <a:pt x="0" y="411734"/>
                  <a:pt x="0" y="355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ckri-0"/>
          <p:cNvSpPr txBox="1"/>
          <p:nvPr/>
        </p:nvSpPr>
        <p:spPr>
          <a:xfrm>
            <a:off x="6846570" y="1571466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KR1</a:t>
            </a:r>
          </a:p>
        </p:txBody>
      </p:sp>
      <p:sp>
        <p:nvSpPr>
          <p:cNvPr id="21" name="ckrt-0"/>
          <p:cNvSpPr txBox="1"/>
          <p:nvPr/>
        </p:nvSpPr>
        <p:spPr>
          <a:xfrm>
            <a:off x="6845046" y="1733582"/>
            <a:ext cx="140550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华东客户数 800 → 1,200</a:t>
            </a:r>
          </a:p>
        </p:txBody>
      </p:sp>
      <p:sp>
        <p:nvSpPr>
          <p:cNvPr id="22" name="ckr-1"/>
          <p:cNvSpPr/>
          <p:nvPr/>
        </p:nvSpPr>
        <p:spPr>
          <a:xfrm>
            <a:off x="8953500" y="1498600"/>
            <a:ext cx="2095500" cy="457200"/>
          </a:xfrm>
          <a:custGeom>
            <a:avLst/>
            <a:gdLst/>
            <a:ahLst/>
            <a:cxnLst/>
            <a:rect l="0" t="0" r="r" b="b"/>
            <a:pathLst>
              <a:path w="2095500" h="457200">
                <a:moveTo>
                  <a:pt x="101600" y="0"/>
                </a:moveTo>
                <a:lnTo>
                  <a:pt x="1993900" y="0"/>
                </a:lnTo>
                <a:cubicBezTo>
                  <a:pt x="2050034" y="0"/>
                  <a:pt x="2095500" y="45466"/>
                  <a:pt x="2095500" y="101600"/>
                </a:cubicBezTo>
                <a:lnTo>
                  <a:pt x="2095500" y="355600"/>
                </a:lnTo>
                <a:cubicBezTo>
                  <a:pt x="2095500" y="411734"/>
                  <a:pt x="2050034" y="457200"/>
                  <a:pt x="1993900" y="457200"/>
                </a:cubicBezTo>
                <a:lnTo>
                  <a:pt x="101600" y="457200"/>
                </a:lnTo>
                <a:cubicBezTo>
                  <a:pt x="45466" y="457200"/>
                  <a:pt x="0" y="411734"/>
                  <a:pt x="0" y="355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ckri-1"/>
          <p:cNvSpPr txBox="1"/>
          <p:nvPr/>
        </p:nvSpPr>
        <p:spPr>
          <a:xfrm>
            <a:off x="9069070" y="1571466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KR2</a:t>
            </a:r>
          </a:p>
        </p:txBody>
      </p:sp>
      <p:sp>
        <p:nvSpPr>
          <p:cNvPr id="24" name="ckrt-1"/>
          <p:cNvSpPr txBox="1"/>
          <p:nvPr/>
        </p:nvSpPr>
        <p:spPr>
          <a:xfrm>
            <a:off x="9067546" y="1733582"/>
            <a:ext cx="75907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NPS 达到 50</a:t>
            </a:r>
          </a:p>
        </p:txBody>
      </p:sp>
      <p:sp>
        <p:nvSpPr>
          <p:cNvPr id="25" name="dc-1"/>
          <p:cNvSpPr/>
          <p:nvPr/>
        </p:nvSpPr>
        <p:spPr>
          <a:xfrm>
            <a:off x="3397250" y="1955800"/>
            <a:ext cx="4381500" cy="584200"/>
          </a:xfrm>
          <a:custGeom>
            <a:avLst/>
            <a:gdLst/>
            <a:ahLst/>
            <a:cxnLst/>
            <a:rect l="0" t="0" r="r" b="b"/>
            <a:pathLst>
              <a:path w="4381500" h="584200">
                <a:moveTo>
                  <a:pt x="4381500" y="0"/>
                </a:moveTo>
                <a:cubicBezTo>
                  <a:pt x="4381500" y="317500"/>
                  <a:pt x="0" y="266700"/>
                  <a:pt x="0" y="584200"/>
                </a:cubicBezTo>
              </a:path>
            </a:pathLst>
          </a:custGeom>
          <a:noFill/>
          <a:ln w="15240" cap="rnd">
            <a:solidFill>
              <a:srgbClr val="134C9C">
                <a:alpha val="5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d-1"/>
          <p:cNvSpPr/>
          <p:nvPr/>
        </p:nvSpPr>
        <p:spPr>
          <a:xfrm>
            <a:off x="1905000" y="2540000"/>
            <a:ext cx="2984500" cy="1460500"/>
          </a:xfrm>
          <a:custGeom>
            <a:avLst/>
            <a:gdLst/>
            <a:ahLst/>
            <a:cxnLst/>
            <a:rect l="0" t="0" r="r" b="b"/>
            <a:pathLst>
              <a:path w="2984500" h="1460500">
                <a:moveTo>
                  <a:pt x="127000" y="0"/>
                </a:moveTo>
                <a:lnTo>
                  <a:pt x="2857500" y="0"/>
                </a:lnTo>
                <a:cubicBezTo>
                  <a:pt x="2927667" y="0"/>
                  <a:pt x="2984500" y="56832"/>
                  <a:pt x="2984500" y="127000"/>
                </a:cubicBezTo>
                <a:lnTo>
                  <a:pt x="2984500" y="1333500"/>
                </a:lnTo>
                <a:cubicBezTo>
                  <a:pt x="2984500" y="1403667"/>
                  <a:pt x="2927667" y="1460500"/>
                  <a:pt x="2857500" y="1460500"/>
                </a:cubicBezTo>
                <a:lnTo>
                  <a:pt x="127000" y="1460500"/>
                </a:lnTo>
                <a:cubicBezTo>
                  <a:pt x="56832" y="1460500"/>
                  <a:pt x="0" y="1403667"/>
                  <a:pt x="0" y="1333500"/>
                </a:cubicBezTo>
                <a:lnTo>
                  <a:pt x="0" y="127000"/>
                </a:lnTo>
                <a:cubicBezTo>
                  <a:pt x="0" y="56832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db-1"/>
          <p:cNvSpPr/>
          <p:nvPr/>
        </p:nvSpPr>
        <p:spPr>
          <a:xfrm>
            <a:off x="1905000" y="2540000"/>
            <a:ext cx="2984500" cy="50800"/>
          </a:xfrm>
          <a:custGeom>
            <a:avLst/>
            <a:gdLst/>
            <a:ahLst/>
            <a:cxnLst/>
            <a:rect l="0" t="0" r="r" b="b"/>
            <a:pathLst>
              <a:path w="2984500" h="50800">
                <a:moveTo>
                  <a:pt x="25400" y="0"/>
                </a:moveTo>
                <a:lnTo>
                  <a:pt x="2959100" y="0"/>
                </a:lnTo>
                <a:cubicBezTo>
                  <a:pt x="2973134" y="0"/>
                  <a:pt x="2984500" y="11367"/>
                  <a:pt x="2984500" y="25400"/>
                </a:cubicBezTo>
                <a:lnTo>
                  <a:pt x="2984500" y="25400"/>
                </a:lnTo>
                <a:cubicBezTo>
                  <a:pt x="2984500" y="39433"/>
                  <a:pt x="2973134" y="50800"/>
                  <a:pt x="2959100" y="50800"/>
                </a:cubicBezTo>
                <a:lnTo>
                  <a:pt x="25400" y="50800"/>
                </a:lnTo>
                <a:cubicBezTo>
                  <a:pt x="11367" y="50800"/>
                  <a:pt x="0" y="39433"/>
                  <a:pt x="0" y="25400"/>
                </a:cubicBezTo>
                <a:lnTo>
                  <a:pt x="0" y="25400"/>
                </a:lnTo>
                <a:cubicBezTo>
                  <a:pt x="0" y="11367"/>
                  <a:pt x="11367" y="0"/>
                  <a:pt x="2540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dl-1"/>
          <p:cNvSpPr txBox="1"/>
          <p:nvPr/>
        </p:nvSpPr>
        <p:spPr>
          <a:xfrm>
            <a:off x="2071370" y="2714466"/>
            <a:ext cx="52578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75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销售部 O</a:t>
            </a:r>
          </a:p>
        </p:txBody>
      </p:sp>
      <p:sp>
        <p:nvSpPr>
          <p:cNvPr id="29" name="ds-1"/>
          <p:cNvSpPr/>
          <p:nvPr/>
        </p:nvSpPr>
        <p:spPr>
          <a:xfrm>
            <a:off x="4076700" y="2692400"/>
            <a:ext cx="635000" cy="177800"/>
          </a:xfrm>
          <a:custGeom>
            <a:avLst/>
            <a:gdLst/>
            <a:ahLst/>
            <a:cxnLst/>
            <a:rect l="0" t="0" r="r" b="b"/>
            <a:pathLst>
              <a:path w="635000" h="177800">
                <a:moveTo>
                  <a:pt x="88900" y="0"/>
                </a:moveTo>
                <a:lnTo>
                  <a:pt x="546100" y="0"/>
                </a:lnTo>
                <a:cubicBezTo>
                  <a:pt x="595186" y="0"/>
                  <a:pt x="635000" y="39814"/>
                  <a:pt x="635000" y="88900"/>
                </a:cubicBezTo>
                <a:lnTo>
                  <a:pt x="635000" y="88900"/>
                </a:lnTo>
                <a:cubicBezTo>
                  <a:pt x="635000" y="137986"/>
                  <a:pt x="595186" y="177800"/>
                  <a:pt x="5461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dst-1"/>
          <p:cNvSpPr txBox="1"/>
          <p:nvPr/>
        </p:nvSpPr>
        <p:spPr>
          <a:xfrm>
            <a:off x="4165727" y="2709608"/>
            <a:ext cx="4569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对齐 KR1</a:t>
            </a:r>
          </a:p>
        </p:txBody>
      </p:sp>
      <p:sp>
        <p:nvSpPr>
          <p:cNvPr id="31" name="do-1"/>
          <p:cNvSpPr txBox="1"/>
          <p:nvPr/>
        </p:nvSpPr>
        <p:spPr>
          <a:xfrm>
            <a:off x="2066036" y="2926270"/>
            <a:ext cx="1810893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拿下华东 Top 100 客户</a:t>
            </a:r>
          </a:p>
        </p:txBody>
      </p:sp>
      <p:sp>
        <p:nvSpPr>
          <p:cNvPr id="32" name="dk-1-0"/>
          <p:cNvSpPr/>
          <p:nvPr/>
        </p:nvSpPr>
        <p:spPr>
          <a:xfrm>
            <a:off x="2057400" y="3225800"/>
            <a:ext cx="2679700" cy="241300"/>
          </a:xfrm>
          <a:custGeom>
            <a:avLst/>
            <a:gdLst/>
            <a:ahLst/>
            <a:cxnLst/>
            <a:rect l="0" t="0" r="r" b="b"/>
            <a:pathLst>
              <a:path w="2679700" h="241300">
                <a:moveTo>
                  <a:pt x="76200" y="0"/>
                </a:moveTo>
                <a:lnTo>
                  <a:pt x="2603500" y="0"/>
                </a:lnTo>
                <a:cubicBezTo>
                  <a:pt x="2645600" y="0"/>
                  <a:pt x="2679700" y="34100"/>
                  <a:pt x="2679700" y="76200"/>
                </a:cubicBezTo>
                <a:lnTo>
                  <a:pt x="2679700" y="165100"/>
                </a:lnTo>
                <a:cubicBezTo>
                  <a:pt x="2679700" y="207200"/>
                  <a:pt x="2645600" y="241300"/>
                  <a:pt x="2603500" y="241300"/>
                </a:cubicBezTo>
                <a:lnTo>
                  <a:pt x="76200" y="241300"/>
                </a:lnTo>
                <a:cubicBezTo>
                  <a:pt x="34100" y="241300"/>
                  <a:pt x="0" y="207200"/>
                  <a:pt x="0" y="1651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134C9C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dki-1-0"/>
          <p:cNvSpPr txBox="1"/>
          <p:nvPr/>
        </p:nvSpPr>
        <p:spPr>
          <a:xfrm>
            <a:off x="2148332" y="327475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KR1</a:t>
            </a:r>
          </a:p>
        </p:txBody>
      </p:sp>
      <p:sp>
        <p:nvSpPr>
          <p:cNvPr id="34" name="dkt-1-0"/>
          <p:cNvSpPr txBox="1"/>
          <p:nvPr/>
        </p:nvSpPr>
        <p:spPr>
          <a:xfrm>
            <a:off x="2463927" y="3255153"/>
            <a:ext cx="1172909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新签 Top 客户 40 家</a:t>
            </a:r>
          </a:p>
        </p:txBody>
      </p:sp>
      <p:sp>
        <p:nvSpPr>
          <p:cNvPr id="35" name="dk-1-1"/>
          <p:cNvSpPr/>
          <p:nvPr/>
        </p:nvSpPr>
        <p:spPr>
          <a:xfrm>
            <a:off x="2057400" y="3517900"/>
            <a:ext cx="2679700" cy="241300"/>
          </a:xfrm>
          <a:custGeom>
            <a:avLst/>
            <a:gdLst/>
            <a:ahLst/>
            <a:cxnLst/>
            <a:rect l="0" t="0" r="r" b="b"/>
            <a:pathLst>
              <a:path w="2679700" h="241300">
                <a:moveTo>
                  <a:pt x="76200" y="0"/>
                </a:moveTo>
                <a:lnTo>
                  <a:pt x="2603500" y="0"/>
                </a:lnTo>
                <a:cubicBezTo>
                  <a:pt x="2645600" y="0"/>
                  <a:pt x="2679700" y="34100"/>
                  <a:pt x="2679700" y="76200"/>
                </a:cubicBezTo>
                <a:lnTo>
                  <a:pt x="2679700" y="165100"/>
                </a:lnTo>
                <a:cubicBezTo>
                  <a:pt x="2679700" y="207200"/>
                  <a:pt x="2645600" y="241300"/>
                  <a:pt x="2603500" y="241300"/>
                </a:cubicBezTo>
                <a:lnTo>
                  <a:pt x="76200" y="241300"/>
                </a:lnTo>
                <a:cubicBezTo>
                  <a:pt x="34100" y="241300"/>
                  <a:pt x="0" y="207200"/>
                  <a:pt x="0" y="1651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134C9C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dki-1-1"/>
          <p:cNvSpPr txBox="1"/>
          <p:nvPr/>
        </p:nvSpPr>
        <p:spPr>
          <a:xfrm>
            <a:off x="2148332" y="356685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KR2</a:t>
            </a:r>
          </a:p>
        </p:txBody>
      </p:sp>
      <p:sp>
        <p:nvSpPr>
          <p:cNvPr id="37" name="dkt-1-1"/>
          <p:cNvSpPr txBox="1"/>
          <p:nvPr/>
        </p:nvSpPr>
        <p:spPr>
          <a:xfrm>
            <a:off x="2463927" y="3547253"/>
            <a:ext cx="656653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赢单率 35%</a:t>
            </a:r>
          </a:p>
        </p:txBody>
      </p:sp>
      <p:sp>
        <p:nvSpPr>
          <p:cNvPr id="38" name="dc-2"/>
          <p:cNvSpPr/>
          <p:nvPr/>
        </p:nvSpPr>
        <p:spPr>
          <a:xfrm>
            <a:off x="6572250" y="1955800"/>
            <a:ext cx="3429000" cy="584200"/>
          </a:xfrm>
          <a:custGeom>
            <a:avLst/>
            <a:gdLst/>
            <a:ahLst/>
            <a:cxnLst/>
            <a:rect l="0" t="0" r="r" b="b"/>
            <a:pathLst>
              <a:path w="3429000" h="584200">
                <a:moveTo>
                  <a:pt x="3429000" y="0"/>
                </a:moveTo>
                <a:cubicBezTo>
                  <a:pt x="3429000" y="317500"/>
                  <a:pt x="0" y="266700"/>
                  <a:pt x="0" y="584200"/>
                </a:cubicBezTo>
              </a:path>
            </a:pathLst>
          </a:custGeom>
          <a:noFill/>
          <a:ln w="15240" cap="rnd">
            <a:solidFill>
              <a:srgbClr val="2468B6">
                <a:alpha val="5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d-2"/>
          <p:cNvSpPr/>
          <p:nvPr/>
        </p:nvSpPr>
        <p:spPr>
          <a:xfrm>
            <a:off x="5080000" y="2540000"/>
            <a:ext cx="2984500" cy="1460500"/>
          </a:xfrm>
          <a:custGeom>
            <a:avLst/>
            <a:gdLst/>
            <a:ahLst/>
            <a:cxnLst/>
            <a:rect l="0" t="0" r="r" b="b"/>
            <a:pathLst>
              <a:path w="2984500" h="1460500">
                <a:moveTo>
                  <a:pt x="127000" y="0"/>
                </a:moveTo>
                <a:lnTo>
                  <a:pt x="2857500" y="0"/>
                </a:lnTo>
                <a:cubicBezTo>
                  <a:pt x="2927667" y="0"/>
                  <a:pt x="2984500" y="56832"/>
                  <a:pt x="2984500" y="127000"/>
                </a:cubicBezTo>
                <a:lnTo>
                  <a:pt x="2984500" y="1333500"/>
                </a:lnTo>
                <a:cubicBezTo>
                  <a:pt x="2984500" y="1403667"/>
                  <a:pt x="2927667" y="1460500"/>
                  <a:pt x="2857500" y="1460500"/>
                </a:cubicBezTo>
                <a:lnTo>
                  <a:pt x="127000" y="1460500"/>
                </a:lnTo>
                <a:cubicBezTo>
                  <a:pt x="56833" y="1460500"/>
                  <a:pt x="0" y="1403667"/>
                  <a:pt x="0" y="13335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db-2"/>
          <p:cNvSpPr/>
          <p:nvPr/>
        </p:nvSpPr>
        <p:spPr>
          <a:xfrm>
            <a:off x="5080000" y="2540000"/>
            <a:ext cx="2984500" cy="50800"/>
          </a:xfrm>
          <a:custGeom>
            <a:avLst/>
            <a:gdLst/>
            <a:ahLst/>
            <a:cxnLst/>
            <a:rect l="0" t="0" r="r" b="b"/>
            <a:pathLst>
              <a:path w="2984500" h="50800">
                <a:moveTo>
                  <a:pt x="25400" y="0"/>
                </a:moveTo>
                <a:lnTo>
                  <a:pt x="2959100" y="0"/>
                </a:lnTo>
                <a:cubicBezTo>
                  <a:pt x="2973134" y="0"/>
                  <a:pt x="2984500" y="11367"/>
                  <a:pt x="2984500" y="25400"/>
                </a:cubicBezTo>
                <a:lnTo>
                  <a:pt x="2984500" y="25400"/>
                </a:lnTo>
                <a:cubicBezTo>
                  <a:pt x="2984500" y="39433"/>
                  <a:pt x="2973134" y="50800"/>
                  <a:pt x="2959100" y="50800"/>
                </a:cubicBezTo>
                <a:lnTo>
                  <a:pt x="25400" y="50800"/>
                </a:lnTo>
                <a:cubicBezTo>
                  <a:pt x="11366" y="50800"/>
                  <a:pt x="0" y="39433"/>
                  <a:pt x="0" y="25400"/>
                </a:cubicBezTo>
                <a:lnTo>
                  <a:pt x="0" y="25400"/>
                </a:lnTo>
                <a:cubicBezTo>
                  <a:pt x="0" y="11367"/>
                  <a:pt x="11366" y="0"/>
                  <a:pt x="25400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dl-2"/>
          <p:cNvSpPr txBox="1"/>
          <p:nvPr/>
        </p:nvSpPr>
        <p:spPr>
          <a:xfrm>
            <a:off x="5246370" y="2714466"/>
            <a:ext cx="52578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75">
                <a:solidFill>
                  <a:srgbClr val="2468B6"/>
                </a:solidFill>
                <a:latin typeface="微软雅黑"/>
                <a:ea typeface="微软雅黑"/>
                <a:cs typeface="微软雅黑"/>
              </a:rPr>
              <a:t>产品部 O</a:t>
            </a:r>
          </a:p>
        </p:txBody>
      </p:sp>
      <p:sp>
        <p:nvSpPr>
          <p:cNvPr id="42" name="ds-2"/>
          <p:cNvSpPr/>
          <p:nvPr/>
        </p:nvSpPr>
        <p:spPr>
          <a:xfrm>
            <a:off x="7251700" y="2692400"/>
            <a:ext cx="635000" cy="177800"/>
          </a:xfrm>
          <a:custGeom>
            <a:avLst/>
            <a:gdLst/>
            <a:ahLst/>
            <a:cxnLst/>
            <a:rect l="0" t="0" r="r" b="b"/>
            <a:pathLst>
              <a:path w="635000" h="177800">
                <a:moveTo>
                  <a:pt x="88900" y="0"/>
                </a:moveTo>
                <a:lnTo>
                  <a:pt x="546100" y="0"/>
                </a:lnTo>
                <a:cubicBezTo>
                  <a:pt x="595186" y="0"/>
                  <a:pt x="635000" y="39814"/>
                  <a:pt x="635000" y="88900"/>
                </a:cubicBezTo>
                <a:lnTo>
                  <a:pt x="635000" y="88900"/>
                </a:lnTo>
                <a:cubicBezTo>
                  <a:pt x="635000" y="137986"/>
                  <a:pt x="595186" y="177800"/>
                  <a:pt x="5461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dst-2"/>
          <p:cNvSpPr txBox="1"/>
          <p:nvPr/>
        </p:nvSpPr>
        <p:spPr>
          <a:xfrm>
            <a:off x="7340727" y="2709608"/>
            <a:ext cx="4569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对齐 KR2</a:t>
            </a:r>
          </a:p>
        </p:txBody>
      </p:sp>
      <p:sp>
        <p:nvSpPr>
          <p:cNvPr id="44" name="do-2"/>
          <p:cNvSpPr txBox="1"/>
          <p:nvPr/>
        </p:nvSpPr>
        <p:spPr>
          <a:xfrm>
            <a:off x="5241036" y="2926270"/>
            <a:ext cx="161798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让制造业客户用得顺手</a:t>
            </a:r>
          </a:p>
        </p:txBody>
      </p:sp>
      <p:sp>
        <p:nvSpPr>
          <p:cNvPr id="45" name="dk-2-0"/>
          <p:cNvSpPr/>
          <p:nvPr/>
        </p:nvSpPr>
        <p:spPr>
          <a:xfrm>
            <a:off x="5232400" y="3225800"/>
            <a:ext cx="2679700" cy="241300"/>
          </a:xfrm>
          <a:custGeom>
            <a:avLst/>
            <a:gdLst/>
            <a:ahLst/>
            <a:cxnLst/>
            <a:rect l="0" t="0" r="r" b="b"/>
            <a:pathLst>
              <a:path w="2679700" h="241300">
                <a:moveTo>
                  <a:pt x="76200" y="0"/>
                </a:moveTo>
                <a:lnTo>
                  <a:pt x="2603500" y="0"/>
                </a:lnTo>
                <a:cubicBezTo>
                  <a:pt x="2645601" y="0"/>
                  <a:pt x="2679700" y="34100"/>
                  <a:pt x="2679700" y="76200"/>
                </a:cubicBezTo>
                <a:lnTo>
                  <a:pt x="2679700" y="165100"/>
                </a:lnTo>
                <a:cubicBezTo>
                  <a:pt x="2679700" y="207200"/>
                  <a:pt x="2645601" y="241300"/>
                  <a:pt x="2603500" y="241300"/>
                </a:cubicBezTo>
                <a:lnTo>
                  <a:pt x="76200" y="241300"/>
                </a:lnTo>
                <a:cubicBezTo>
                  <a:pt x="34100" y="241300"/>
                  <a:pt x="0" y="207200"/>
                  <a:pt x="0" y="1651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2468B6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dki-2-0"/>
          <p:cNvSpPr txBox="1"/>
          <p:nvPr/>
        </p:nvSpPr>
        <p:spPr>
          <a:xfrm>
            <a:off x="5323332" y="327475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KR1</a:t>
            </a:r>
          </a:p>
        </p:txBody>
      </p:sp>
      <p:sp>
        <p:nvSpPr>
          <p:cNvPr id="47" name="dkt-2-0"/>
          <p:cNvSpPr txBox="1"/>
          <p:nvPr/>
        </p:nvSpPr>
        <p:spPr>
          <a:xfrm>
            <a:off x="5638927" y="3255153"/>
            <a:ext cx="1022795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上线 3 个行业模板</a:t>
            </a:r>
          </a:p>
        </p:txBody>
      </p:sp>
      <p:sp>
        <p:nvSpPr>
          <p:cNvPr id="48" name="dk-2-1"/>
          <p:cNvSpPr/>
          <p:nvPr/>
        </p:nvSpPr>
        <p:spPr>
          <a:xfrm>
            <a:off x="5232400" y="3517900"/>
            <a:ext cx="2679700" cy="241300"/>
          </a:xfrm>
          <a:custGeom>
            <a:avLst/>
            <a:gdLst/>
            <a:ahLst/>
            <a:cxnLst/>
            <a:rect l="0" t="0" r="r" b="b"/>
            <a:pathLst>
              <a:path w="2679700" h="241300">
                <a:moveTo>
                  <a:pt x="76200" y="0"/>
                </a:moveTo>
                <a:lnTo>
                  <a:pt x="2603500" y="0"/>
                </a:lnTo>
                <a:cubicBezTo>
                  <a:pt x="2645601" y="0"/>
                  <a:pt x="2679700" y="34100"/>
                  <a:pt x="2679700" y="76200"/>
                </a:cubicBezTo>
                <a:lnTo>
                  <a:pt x="2679700" y="165100"/>
                </a:lnTo>
                <a:cubicBezTo>
                  <a:pt x="2679700" y="207200"/>
                  <a:pt x="2645601" y="241300"/>
                  <a:pt x="2603500" y="241300"/>
                </a:cubicBezTo>
                <a:lnTo>
                  <a:pt x="76200" y="241300"/>
                </a:lnTo>
                <a:cubicBezTo>
                  <a:pt x="34100" y="241300"/>
                  <a:pt x="0" y="207200"/>
                  <a:pt x="0" y="1651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2468B6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dki-2-1"/>
          <p:cNvSpPr txBox="1"/>
          <p:nvPr/>
        </p:nvSpPr>
        <p:spPr>
          <a:xfrm>
            <a:off x="5323332" y="356685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KR2</a:t>
            </a:r>
          </a:p>
        </p:txBody>
      </p:sp>
      <p:sp>
        <p:nvSpPr>
          <p:cNvPr id="50" name="dkt-2-1"/>
          <p:cNvSpPr txBox="1"/>
          <p:nvPr/>
        </p:nvSpPr>
        <p:spPr>
          <a:xfrm>
            <a:off x="5638927" y="3547253"/>
            <a:ext cx="1022794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核心流程 3 步完成</a:t>
            </a:r>
          </a:p>
        </p:txBody>
      </p:sp>
      <p:sp>
        <p:nvSpPr>
          <p:cNvPr id="51" name="dc-3"/>
          <p:cNvSpPr/>
          <p:nvPr/>
        </p:nvSpPr>
        <p:spPr>
          <a:xfrm>
            <a:off x="9747250" y="1955800"/>
            <a:ext cx="254000" cy="584200"/>
          </a:xfrm>
          <a:custGeom>
            <a:avLst/>
            <a:gdLst/>
            <a:ahLst/>
            <a:cxnLst/>
            <a:rect l="0" t="0" r="r" b="b"/>
            <a:pathLst>
              <a:path w="254000" h="584200">
                <a:moveTo>
                  <a:pt x="254000" y="0"/>
                </a:moveTo>
                <a:cubicBezTo>
                  <a:pt x="254000" y="317500"/>
                  <a:pt x="0" y="266700"/>
                  <a:pt x="0" y="584200"/>
                </a:cubicBezTo>
              </a:path>
            </a:pathLst>
          </a:custGeom>
          <a:noFill/>
          <a:ln w="15240" cap="rnd">
            <a:solidFill>
              <a:srgbClr val="3985CD">
                <a:alpha val="5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d-3"/>
          <p:cNvSpPr/>
          <p:nvPr/>
        </p:nvSpPr>
        <p:spPr>
          <a:xfrm>
            <a:off x="8255000" y="2540000"/>
            <a:ext cx="2984500" cy="1460500"/>
          </a:xfrm>
          <a:custGeom>
            <a:avLst/>
            <a:gdLst/>
            <a:ahLst/>
            <a:cxnLst/>
            <a:rect l="0" t="0" r="r" b="b"/>
            <a:pathLst>
              <a:path w="2984500" h="1460500">
                <a:moveTo>
                  <a:pt x="127000" y="0"/>
                </a:moveTo>
                <a:lnTo>
                  <a:pt x="2857500" y="0"/>
                </a:lnTo>
                <a:cubicBezTo>
                  <a:pt x="2927667" y="0"/>
                  <a:pt x="2984500" y="56832"/>
                  <a:pt x="2984500" y="127000"/>
                </a:cubicBezTo>
                <a:lnTo>
                  <a:pt x="2984500" y="1333500"/>
                </a:lnTo>
                <a:cubicBezTo>
                  <a:pt x="2984500" y="1403667"/>
                  <a:pt x="2927667" y="1460500"/>
                  <a:pt x="2857500" y="1460500"/>
                </a:cubicBezTo>
                <a:lnTo>
                  <a:pt x="127000" y="1460500"/>
                </a:lnTo>
                <a:cubicBezTo>
                  <a:pt x="56833" y="1460500"/>
                  <a:pt x="0" y="1403667"/>
                  <a:pt x="0" y="13335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db-3"/>
          <p:cNvSpPr/>
          <p:nvPr/>
        </p:nvSpPr>
        <p:spPr>
          <a:xfrm>
            <a:off x="8255000" y="2540000"/>
            <a:ext cx="2984500" cy="50800"/>
          </a:xfrm>
          <a:custGeom>
            <a:avLst/>
            <a:gdLst/>
            <a:ahLst/>
            <a:cxnLst/>
            <a:rect l="0" t="0" r="r" b="b"/>
            <a:pathLst>
              <a:path w="2984500" h="50800">
                <a:moveTo>
                  <a:pt x="25400" y="0"/>
                </a:moveTo>
                <a:lnTo>
                  <a:pt x="2959100" y="0"/>
                </a:lnTo>
                <a:cubicBezTo>
                  <a:pt x="2973134" y="0"/>
                  <a:pt x="2984500" y="11367"/>
                  <a:pt x="2984500" y="25400"/>
                </a:cubicBezTo>
                <a:lnTo>
                  <a:pt x="2984500" y="25400"/>
                </a:lnTo>
                <a:cubicBezTo>
                  <a:pt x="2984500" y="39433"/>
                  <a:pt x="2973134" y="50800"/>
                  <a:pt x="2959100" y="50800"/>
                </a:cubicBezTo>
                <a:lnTo>
                  <a:pt x="25400" y="50800"/>
                </a:lnTo>
                <a:cubicBezTo>
                  <a:pt x="11366" y="50800"/>
                  <a:pt x="0" y="39433"/>
                  <a:pt x="0" y="25400"/>
                </a:cubicBezTo>
                <a:lnTo>
                  <a:pt x="0" y="25400"/>
                </a:lnTo>
                <a:cubicBezTo>
                  <a:pt x="0" y="11367"/>
                  <a:pt x="11366" y="0"/>
                  <a:pt x="2540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dl-3"/>
          <p:cNvSpPr txBox="1"/>
          <p:nvPr/>
        </p:nvSpPr>
        <p:spPr>
          <a:xfrm>
            <a:off x="8421370" y="2714466"/>
            <a:ext cx="52578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75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客服部 O</a:t>
            </a:r>
          </a:p>
        </p:txBody>
      </p:sp>
      <p:sp>
        <p:nvSpPr>
          <p:cNvPr id="55" name="ds-3"/>
          <p:cNvSpPr/>
          <p:nvPr/>
        </p:nvSpPr>
        <p:spPr>
          <a:xfrm>
            <a:off x="10426700" y="2692400"/>
            <a:ext cx="635000" cy="177800"/>
          </a:xfrm>
          <a:custGeom>
            <a:avLst/>
            <a:gdLst/>
            <a:ahLst/>
            <a:cxnLst/>
            <a:rect l="0" t="0" r="r" b="b"/>
            <a:pathLst>
              <a:path w="635000" h="177800">
                <a:moveTo>
                  <a:pt x="88900" y="0"/>
                </a:moveTo>
                <a:lnTo>
                  <a:pt x="546100" y="0"/>
                </a:lnTo>
                <a:cubicBezTo>
                  <a:pt x="595186" y="0"/>
                  <a:pt x="635000" y="39814"/>
                  <a:pt x="635000" y="88900"/>
                </a:cubicBezTo>
                <a:lnTo>
                  <a:pt x="635000" y="88900"/>
                </a:lnTo>
                <a:cubicBezTo>
                  <a:pt x="635000" y="137986"/>
                  <a:pt x="595186" y="177800"/>
                  <a:pt x="5461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dst-3"/>
          <p:cNvSpPr txBox="1"/>
          <p:nvPr/>
        </p:nvSpPr>
        <p:spPr>
          <a:xfrm>
            <a:off x="10515727" y="2709608"/>
            <a:ext cx="4569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对齐 KR2</a:t>
            </a:r>
          </a:p>
        </p:txBody>
      </p:sp>
      <p:sp>
        <p:nvSpPr>
          <p:cNvPr id="57" name="do-3"/>
          <p:cNvSpPr txBox="1"/>
          <p:nvPr/>
        </p:nvSpPr>
        <p:spPr>
          <a:xfrm>
            <a:off x="8416036" y="2926270"/>
            <a:ext cx="102108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问题当天解决</a:t>
            </a:r>
          </a:p>
        </p:txBody>
      </p:sp>
      <p:sp>
        <p:nvSpPr>
          <p:cNvPr id="58" name="dk-3-0"/>
          <p:cNvSpPr/>
          <p:nvPr/>
        </p:nvSpPr>
        <p:spPr>
          <a:xfrm>
            <a:off x="8407400" y="3225800"/>
            <a:ext cx="2679700" cy="241300"/>
          </a:xfrm>
          <a:custGeom>
            <a:avLst/>
            <a:gdLst/>
            <a:ahLst/>
            <a:cxnLst/>
            <a:rect l="0" t="0" r="r" b="b"/>
            <a:pathLst>
              <a:path w="2679700" h="241300">
                <a:moveTo>
                  <a:pt x="76200" y="0"/>
                </a:moveTo>
                <a:lnTo>
                  <a:pt x="2603500" y="0"/>
                </a:lnTo>
                <a:cubicBezTo>
                  <a:pt x="2645601" y="0"/>
                  <a:pt x="2679700" y="34100"/>
                  <a:pt x="2679700" y="76200"/>
                </a:cubicBezTo>
                <a:lnTo>
                  <a:pt x="2679700" y="165100"/>
                </a:lnTo>
                <a:cubicBezTo>
                  <a:pt x="2679700" y="207200"/>
                  <a:pt x="2645601" y="241300"/>
                  <a:pt x="2603500" y="241300"/>
                </a:cubicBezTo>
                <a:lnTo>
                  <a:pt x="76200" y="241300"/>
                </a:lnTo>
                <a:cubicBezTo>
                  <a:pt x="34099" y="241300"/>
                  <a:pt x="0" y="207200"/>
                  <a:pt x="0" y="1651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3985CD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dki-3-0"/>
          <p:cNvSpPr txBox="1"/>
          <p:nvPr/>
        </p:nvSpPr>
        <p:spPr>
          <a:xfrm>
            <a:off x="8498332" y="327475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KR1</a:t>
            </a:r>
          </a:p>
        </p:txBody>
      </p:sp>
      <p:sp>
        <p:nvSpPr>
          <p:cNvPr id="60" name="dkt-3-0"/>
          <p:cNvSpPr txBox="1"/>
          <p:nvPr/>
        </p:nvSpPr>
        <p:spPr>
          <a:xfrm>
            <a:off x="8813927" y="3255153"/>
            <a:ext cx="870013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首次解决率 85%</a:t>
            </a:r>
          </a:p>
        </p:txBody>
      </p:sp>
      <p:sp>
        <p:nvSpPr>
          <p:cNvPr id="61" name="dk-3-1"/>
          <p:cNvSpPr/>
          <p:nvPr/>
        </p:nvSpPr>
        <p:spPr>
          <a:xfrm>
            <a:off x="8407400" y="3517900"/>
            <a:ext cx="2679700" cy="241300"/>
          </a:xfrm>
          <a:custGeom>
            <a:avLst/>
            <a:gdLst/>
            <a:ahLst/>
            <a:cxnLst/>
            <a:rect l="0" t="0" r="r" b="b"/>
            <a:pathLst>
              <a:path w="2679700" h="241300">
                <a:moveTo>
                  <a:pt x="76200" y="0"/>
                </a:moveTo>
                <a:lnTo>
                  <a:pt x="2603500" y="0"/>
                </a:lnTo>
                <a:cubicBezTo>
                  <a:pt x="2645601" y="0"/>
                  <a:pt x="2679700" y="34100"/>
                  <a:pt x="2679700" y="76200"/>
                </a:cubicBezTo>
                <a:lnTo>
                  <a:pt x="2679700" y="165100"/>
                </a:lnTo>
                <a:cubicBezTo>
                  <a:pt x="2679700" y="207200"/>
                  <a:pt x="2645601" y="241300"/>
                  <a:pt x="2603500" y="241300"/>
                </a:cubicBezTo>
                <a:lnTo>
                  <a:pt x="76200" y="241300"/>
                </a:lnTo>
                <a:cubicBezTo>
                  <a:pt x="34099" y="241300"/>
                  <a:pt x="0" y="207200"/>
                  <a:pt x="0" y="1651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3985CD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dki-3-1"/>
          <p:cNvSpPr txBox="1"/>
          <p:nvPr/>
        </p:nvSpPr>
        <p:spPr>
          <a:xfrm>
            <a:off x="8498332" y="356685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KR2</a:t>
            </a:r>
          </a:p>
        </p:txBody>
      </p:sp>
      <p:sp>
        <p:nvSpPr>
          <p:cNvPr id="63" name="dkt-3-1"/>
          <p:cNvSpPr txBox="1"/>
          <p:nvPr/>
        </p:nvSpPr>
        <p:spPr>
          <a:xfrm>
            <a:off x="8813927" y="3547253"/>
            <a:ext cx="823912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响应 &lt; 5 分钟</a:t>
            </a:r>
          </a:p>
        </p:txBody>
      </p:sp>
      <p:sp>
        <p:nvSpPr>
          <p:cNvPr id="64" name="pc-1"/>
          <p:cNvSpPr/>
          <p:nvPr/>
        </p:nvSpPr>
        <p:spPr>
          <a:xfrm>
            <a:off x="3022600" y="4000500"/>
            <a:ext cx="374650" cy="698500"/>
          </a:xfrm>
          <a:custGeom>
            <a:avLst/>
            <a:gdLst/>
            <a:ahLst/>
            <a:cxnLst/>
            <a:rect l="0" t="0" r="r" b="b"/>
            <a:pathLst>
              <a:path w="374650" h="698500">
                <a:moveTo>
                  <a:pt x="374650" y="0"/>
                </a:moveTo>
                <a:cubicBezTo>
                  <a:pt x="374650" y="254000"/>
                  <a:pt x="0" y="444500"/>
                  <a:pt x="0" y="698500"/>
                </a:cubicBezTo>
              </a:path>
            </a:pathLst>
          </a:custGeom>
          <a:noFill/>
          <a:ln w="12700" cap="rnd">
            <a:solidFill>
              <a:srgbClr val="134C9C">
                <a:alpha val="45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p-1"/>
          <p:cNvSpPr/>
          <p:nvPr/>
        </p:nvSpPr>
        <p:spPr>
          <a:xfrm>
            <a:off x="1905000" y="4699000"/>
            <a:ext cx="2235200" cy="952500"/>
          </a:xfrm>
          <a:custGeom>
            <a:avLst/>
            <a:gdLst/>
            <a:ahLst/>
            <a:cxnLst/>
            <a:rect l="0" t="0" r="r" b="b"/>
            <a:pathLst>
              <a:path w="2235200" h="952500">
                <a:moveTo>
                  <a:pt x="127000" y="0"/>
                </a:moveTo>
                <a:lnTo>
                  <a:pt x="2108200" y="0"/>
                </a:lnTo>
                <a:cubicBezTo>
                  <a:pt x="2178367" y="0"/>
                  <a:pt x="2235200" y="56833"/>
                  <a:pt x="2235200" y="127000"/>
                </a:cubicBezTo>
                <a:lnTo>
                  <a:pt x="2235200" y="825500"/>
                </a:lnTo>
                <a:cubicBezTo>
                  <a:pt x="2235200" y="895667"/>
                  <a:pt x="2178367" y="952500"/>
                  <a:pt x="2108200" y="952500"/>
                </a:cubicBezTo>
                <a:lnTo>
                  <a:pt x="127000" y="952500"/>
                </a:lnTo>
                <a:cubicBezTo>
                  <a:pt x="56832" y="952500"/>
                  <a:pt x="0" y="895667"/>
                  <a:pt x="0" y="825500"/>
                </a:cubicBezTo>
                <a:lnTo>
                  <a:pt x="0" y="127000"/>
                </a:lnTo>
                <a:cubicBezTo>
                  <a:pt x="0" y="56833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pa-1"/>
          <p:cNvSpPr/>
          <p:nvPr/>
        </p:nvSpPr>
        <p:spPr>
          <a:xfrm>
            <a:off x="2044700" y="4864100"/>
            <a:ext cx="355600" cy="355600"/>
          </a:xfrm>
          <a:prstGeom prst="ellipse">
            <a:avLst/>
          </a:prstGeom>
          <a:solidFill>
            <a:srgbClr val="134C9C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pat-1"/>
          <p:cNvSpPr txBox="1"/>
          <p:nvPr/>
        </p:nvSpPr>
        <p:spPr>
          <a:xfrm>
            <a:off x="2089785" y="4926520"/>
            <a:ext cx="2654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张</a:t>
            </a:r>
          </a:p>
        </p:txBody>
      </p:sp>
      <p:sp>
        <p:nvSpPr>
          <p:cNvPr id="68" name="pn-1"/>
          <p:cNvSpPr txBox="1"/>
          <p:nvPr/>
        </p:nvSpPr>
        <p:spPr>
          <a:xfrm>
            <a:off x="2487422" y="4867497"/>
            <a:ext cx="489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张某某</a:t>
            </a:r>
          </a:p>
        </p:txBody>
      </p:sp>
      <p:sp>
        <p:nvSpPr>
          <p:cNvPr id="69" name="pr-1"/>
          <p:cNvSpPr txBox="1"/>
          <p:nvPr/>
        </p:nvSpPr>
        <p:spPr>
          <a:xfrm>
            <a:off x="2490851" y="5067887"/>
            <a:ext cx="5591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大客户经理</a:t>
            </a:r>
          </a:p>
        </p:txBody>
      </p:sp>
      <p:cxnSp>
        <p:nvCxnSpPr>
          <p:cNvPr id="70" name="psep-1"/>
          <p:cNvCxnSpPr/>
          <p:nvPr/>
        </p:nvCxnSpPr>
        <p:spPr>
          <a:xfrm>
            <a:off x="2057400" y="5321300"/>
            <a:ext cx="19304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pt-1"/>
          <p:cNvSpPr txBox="1"/>
          <p:nvPr/>
        </p:nvSpPr>
        <p:spPr>
          <a:xfrm>
            <a:off x="2045589" y="5402945"/>
            <a:ext cx="1548067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本季：每周拜访 4 家 Top 客户</a:t>
            </a:r>
          </a:p>
        </p:txBody>
      </p:sp>
      <p:sp>
        <p:nvSpPr>
          <p:cNvPr id="72" name="pc-2"/>
          <p:cNvSpPr/>
          <p:nvPr/>
        </p:nvSpPr>
        <p:spPr>
          <a:xfrm>
            <a:off x="3397250" y="4000500"/>
            <a:ext cx="1987550" cy="698500"/>
          </a:xfrm>
          <a:custGeom>
            <a:avLst/>
            <a:gdLst/>
            <a:ahLst/>
            <a:cxnLst/>
            <a:rect l="0" t="0" r="r" b="b"/>
            <a:pathLst>
              <a:path w="1987550" h="698500">
                <a:moveTo>
                  <a:pt x="0" y="0"/>
                </a:moveTo>
                <a:cubicBezTo>
                  <a:pt x="0" y="254000"/>
                  <a:pt x="1987550" y="444500"/>
                  <a:pt x="1987550" y="698500"/>
                </a:cubicBezTo>
              </a:path>
            </a:pathLst>
          </a:custGeom>
          <a:noFill/>
          <a:ln w="12700" cap="rnd">
            <a:solidFill>
              <a:srgbClr val="134C9C">
                <a:alpha val="45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p-2"/>
          <p:cNvSpPr/>
          <p:nvPr/>
        </p:nvSpPr>
        <p:spPr>
          <a:xfrm>
            <a:off x="4267200" y="4699000"/>
            <a:ext cx="2235200" cy="952500"/>
          </a:xfrm>
          <a:custGeom>
            <a:avLst/>
            <a:gdLst/>
            <a:ahLst/>
            <a:cxnLst/>
            <a:rect l="0" t="0" r="r" b="b"/>
            <a:pathLst>
              <a:path w="2235200" h="952500">
                <a:moveTo>
                  <a:pt x="127000" y="0"/>
                </a:moveTo>
                <a:lnTo>
                  <a:pt x="2108200" y="0"/>
                </a:lnTo>
                <a:cubicBezTo>
                  <a:pt x="2178367" y="0"/>
                  <a:pt x="2235200" y="56833"/>
                  <a:pt x="2235200" y="127000"/>
                </a:cubicBezTo>
                <a:lnTo>
                  <a:pt x="2235200" y="825500"/>
                </a:lnTo>
                <a:cubicBezTo>
                  <a:pt x="2235200" y="895667"/>
                  <a:pt x="2178367" y="952500"/>
                  <a:pt x="2108200" y="952500"/>
                </a:cubicBezTo>
                <a:lnTo>
                  <a:pt x="127000" y="952500"/>
                </a:lnTo>
                <a:cubicBezTo>
                  <a:pt x="56833" y="952500"/>
                  <a:pt x="0" y="895667"/>
                  <a:pt x="0" y="8255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pa-2"/>
          <p:cNvSpPr/>
          <p:nvPr/>
        </p:nvSpPr>
        <p:spPr>
          <a:xfrm>
            <a:off x="4406900" y="4864100"/>
            <a:ext cx="355600" cy="355600"/>
          </a:xfrm>
          <a:prstGeom prst="ellipse">
            <a:avLst/>
          </a:prstGeom>
          <a:solidFill>
            <a:srgbClr val="134C9C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pat-2"/>
          <p:cNvSpPr txBox="1"/>
          <p:nvPr/>
        </p:nvSpPr>
        <p:spPr>
          <a:xfrm>
            <a:off x="4451985" y="4926520"/>
            <a:ext cx="2654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李</a:t>
            </a:r>
          </a:p>
        </p:txBody>
      </p:sp>
      <p:sp>
        <p:nvSpPr>
          <p:cNvPr id="76" name="pn-2"/>
          <p:cNvSpPr txBox="1"/>
          <p:nvPr/>
        </p:nvSpPr>
        <p:spPr>
          <a:xfrm>
            <a:off x="4849622" y="4867497"/>
            <a:ext cx="489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李某某</a:t>
            </a:r>
          </a:p>
        </p:txBody>
      </p:sp>
      <p:sp>
        <p:nvSpPr>
          <p:cNvPr id="77" name="pr-2"/>
          <p:cNvSpPr txBox="1"/>
          <p:nvPr/>
        </p:nvSpPr>
        <p:spPr>
          <a:xfrm>
            <a:off x="4853051" y="5067887"/>
            <a:ext cx="46386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售前顾问</a:t>
            </a:r>
          </a:p>
        </p:txBody>
      </p:sp>
      <p:cxnSp>
        <p:nvCxnSpPr>
          <p:cNvPr id="78" name="psep-2"/>
          <p:cNvCxnSpPr/>
          <p:nvPr/>
        </p:nvCxnSpPr>
        <p:spPr>
          <a:xfrm>
            <a:off x="4419600" y="5321300"/>
            <a:ext cx="19304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pt-2"/>
          <p:cNvSpPr txBox="1"/>
          <p:nvPr/>
        </p:nvSpPr>
        <p:spPr>
          <a:xfrm>
            <a:off x="4407789" y="5402945"/>
            <a:ext cx="1319975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本季：完成 12 份行业方案</a:t>
            </a:r>
          </a:p>
        </p:txBody>
      </p:sp>
      <p:sp>
        <p:nvSpPr>
          <p:cNvPr id="80" name="pc-3"/>
          <p:cNvSpPr/>
          <p:nvPr/>
        </p:nvSpPr>
        <p:spPr>
          <a:xfrm>
            <a:off x="6572250" y="4000500"/>
            <a:ext cx="1174750" cy="698500"/>
          </a:xfrm>
          <a:custGeom>
            <a:avLst/>
            <a:gdLst/>
            <a:ahLst/>
            <a:cxnLst/>
            <a:rect l="0" t="0" r="r" b="b"/>
            <a:pathLst>
              <a:path w="1174750" h="698500">
                <a:moveTo>
                  <a:pt x="0" y="0"/>
                </a:moveTo>
                <a:cubicBezTo>
                  <a:pt x="0" y="254000"/>
                  <a:pt x="1174750" y="444500"/>
                  <a:pt x="1174750" y="698500"/>
                </a:cubicBezTo>
              </a:path>
            </a:pathLst>
          </a:custGeom>
          <a:noFill/>
          <a:ln w="12700" cap="rnd">
            <a:solidFill>
              <a:srgbClr val="2468B6">
                <a:alpha val="45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p-3"/>
          <p:cNvSpPr/>
          <p:nvPr/>
        </p:nvSpPr>
        <p:spPr>
          <a:xfrm>
            <a:off x="6629400" y="4699000"/>
            <a:ext cx="2235200" cy="952500"/>
          </a:xfrm>
          <a:custGeom>
            <a:avLst/>
            <a:gdLst/>
            <a:ahLst/>
            <a:cxnLst/>
            <a:rect l="0" t="0" r="r" b="b"/>
            <a:pathLst>
              <a:path w="2235200" h="952500">
                <a:moveTo>
                  <a:pt x="127000" y="0"/>
                </a:moveTo>
                <a:lnTo>
                  <a:pt x="2108200" y="0"/>
                </a:lnTo>
                <a:cubicBezTo>
                  <a:pt x="2178367" y="0"/>
                  <a:pt x="2235200" y="56833"/>
                  <a:pt x="2235200" y="127000"/>
                </a:cubicBezTo>
                <a:lnTo>
                  <a:pt x="2235200" y="825500"/>
                </a:lnTo>
                <a:cubicBezTo>
                  <a:pt x="2235200" y="895667"/>
                  <a:pt x="2178367" y="952500"/>
                  <a:pt x="2108200" y="952500"/>
                </a:cubicBezTo>
                <a:lnTo>
                  <a:pt x="127000" y="952500"/>
                </a:lnTo>
                <a:cubicBezTo>
                  <a:pt x="56833" y="952500"/>
                  <a:pt x="0" y="895667"/>
                  <a:pt x="0" y="8255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pa-3"/>
          <p:cNvSpPr/>
          <p:nvPr/>
        </p:nvSpPr>
        <p:spPr>
          <a:xfrm>
            <a:off x="6769100" y="4864100"/>
            <a:ext cx="355600" cy="355600"/>
          </a:xfrm>
          <a:prstGeom prst="ellipse">
            <a:avLst/>
          </a:prstGeom>
          <a:solidFill>
            <a:srgbClr val="2468B6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pat-3"/>
          <p:cNvSpPr txBox="1"/>
          <p:nvPr/>
        </p:nvSpPr>
        <p:spPr>
          <a:xfrm>
            <a:off x="6814185" y="4926520"/>
            <a:ext cx="2654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2468B6"/>
                </a:solidFill>
                <a:latin typeface="微软雅黑"/>
                <a:ea typeface="微软雅黑"/>
                <a:cs typeface="微软雅黑"/>
              </a:rPr>
              <a:t>王</a:t>
            </a:r>
          </a:p>
        </p:txBody>
      </p:sp>
      <p:sp>
        <p:nvSpPr>
          <p:cNvPr id="84" name="pn-3"/>
          <p:cNvSpPr txBox="1"/>
          <p:nvPr/>
        </p:nvSpPr>
        <p:spPr>
          <a:xfrm>
            <a:off x="7211822" y="4867497"/>
            <a:ext cx="489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王某某</a:t>
            </a:r>
          </a:p>
        </p:txBody>
      </p:sp>
      <p:sp>
        <p:nvSpPr>
          <p:cNvPr id="85" name="pr-3"/>
          <p:cNvSpPr txBox="1"/>
          <p:nvPr/>
        </p:nvSpPr>
        <p:spPr>
          <a:xfrm>
            <a:off x="7215251" y="5067887"/>
            <a:ext cx="46386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产品经理</a:t>
            </a:r>
          </a:p>
        </p:txBody>
      </p:sp>
      <p:cxnSp>
        <p:nvCxnSpPr>
          <p:cNvPr id="86" name="psep-3"/>
          <p:cNvCxnSpPr/>
          <p:nvPr/>
        </p:nvCxnSpPr>
        <p:spPr>
          <a:xfrm>
            <a:off x="6781800" y="5321300"/>
            <a:ext cx="19304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pt-3"/>
          <p:cNvSpPr txBox="1"/>
          <p:nvPr/>
        </p:nvSpPr>
        <p:spPr>
          <a:xfrm>
            <a:off x="6769989" y="5402945"/>
            <a:ext cx="1319975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本季：模板需求访谈 20 家</a:t>
            </a:r>
          </a:p>
        </p:txBody>
      </p:sp>
      <p:sp>
        <p:nvSpPr>
          <p:cNvPr id="88" name="pc-4"/>
          <p:cNvSpPr/>
          <p:nvPr/>
        </p:nvSpPr>
        <p:spPr>
          <a:xfrm>
            <a:off x="9747250" y="4000500"/>
            <a:ext cx="361950" cy="698500"/>
          </a:xfrm>
          <a:custGeom>
            <a:avLst/>
            <a:gdLst/>
            <a:ahLst/>
            <a:cxnLst/>
            <a:rect l="0" t="0" r="r" b="b"/>
            <a:pathLst>
              <a:path w="361950" h="698500">
                <a:moveTo>
                  <a:pt x="0" y="0"/>
                </a:moveTo>
                <a:cubicBezTo>
                  <a:pt x="0" y="254000"/>
                  <a:pt x="361950" y="444500"/>
                  <a:pt x="361950" y="698500"/>
                </a:cubicBezTo>
              </a:path>
            </a:pathLst>
          </a:custGeom>
          <a:noFill/>
          <a:ln w="12700" cap="rnd">
            <a:solidFill>
              <a:srgbClr val="3985CD">
                <a:alpha val="45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p-4"/>
          <p:cNvSpPr/>
          <p:nvPr/>
        </p:nvSpPr>
        <p:spPr>
          <a:xfrm>
            <a:off x="8991600" y="4699000"/>
            <a:ext cx="2235200" cy="952500"/>
          </a:xfrm>
          <a:custGeom>
            <a:avLst/>
            <a:gdLst/>
            <a:ahLst/>
            <a:cxnLst/>
            <a:rect l="0" t="0" r="r" b="b"/>
            <a:pathLst>
              <a:path w="2235200" h="952500">
                <a:moveTo>
                  <a:pt x="127000" y="0"/>
                </a:moveTo>
                <a:lnTo>
                  <a:pt x="2108200" y="0"/>
                </a:lnTo>
                <a:cubicBezTo>
                  <a:pt x="2178367" y="0"/>
                  <a:pt x="2235200" y="56833"/>
                  <a:pt x="2235200" y="127000"/>
                </a:cubicBezTo>
                <a:lnTo>
                  <a:pt x="2235200" y="825500"/>
                </a:lnTo>
                <a:cubicBezTo>
                  <a:pt x="2235200" y="895667"/>
                  <a:pt x="2178367" y="952500"/>
                  <a:pt x="2108200" y="952500"/>
                </a:cubicBezTo>
                <a:lnTo>
                  <a:pt x="127000" y="952500"/>
                </a:lnTo>
                <a:cubicBezTo>
                  <a:pt x="56833" y="952500"/>
                  <a:pt x="0" y="895667"/>
                  <a:pt x="0" y="8255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pa-4"/>
          <p:cNvSpPr/>
          <p:nvPr/>
        </p:nvSpPr>
        <p:spPr>
          <a:xfrm>
            <a:off x="9131300" y="4864100"/>
            <a:ext cx="355600" cy="355600"/>
          </a:xfrm>
          <a:prstGeom prst="ellipse">
            <a:avLst/>
          </a:prstGeom>
          <a:solidFill>
            <a:srgbClr val="3985CD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pat-4"/>
          <p:cNvSpPr txBox="1"/>
          <p:nvPr/>
        </p:nvSpPr>
        <p:spPr>
          <a:xfrm>
            <a:off x="9176385" y="4926520"/>
            <a:ext cx="2654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赵</a:t>
            </a:r>
          </a:p>
        </p:txBody>
      </p:sp>
      <p:sp>
        <p:nvSpPr>
          <p:cNvPr id="92" name="pn-4"/>
          <p:cNvSpPr txBox="1"/>
          <p:nvPr/>
        </p:nvSpPr>
        <p:spPr>
          <a:xfrm>
            <a:off x="9574022" y="4867497"/>
            <a:ext cx="489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赵某某</a:t>
            </a:r>
          </a:p>
        </p:txBody>
      </p:sp>
      <p:sp>
        <p:nvSpPr>
          <p:cNvPr id="93" name="pr-4"/>
          <p:cNvSpPr txBox="1"/>
          <p:nvPr/>
        </p:nvSpPr>
        <p:spPr>
          <a:xfrm>
            <a:off x="9577451" y="5067887"/>
            <a:ext cx="46386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客服主管</a:t>
            </a:r>
          </a:p>
        </p:txBody>
      </p:sp>
      <p:cxnSp>
        <p:nvCxnSpPr>
          <p:cNvPr id="94" name="psep-4"/>
          <p:cNvCxnSpPr/>
          <p:nvPr/>
        </p:nvCxnSpPr>
        <p:spPr>
          <a:xfrm>
            <a:off x="9144000" y="5321300"/>
            <a:ext cx="19304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5" name="pt-4"/>
          <p:cNvSpPr txBox="1"/>
          <p:nvPr/>
        </p:nvSpPr>
        <p:spPr>
          <a:xfrm>
            <a:off x="9132189" y="5402945"/>
            <a:ext cx="1219645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本季：建立 50 条知识库</a:t>
            </a:r>
          </a:p>
        </p:txBody>
      </p:sp>
      <p:sp>
        <p:nvSpPr>
          <p:cNvPr id="96" name="sum"/>
          <p:cNvSpPr/>
          <p:nvPr/>
        </p:nvSpPr>
        <p:spPr>
          <a:xfrm>
            <a:off x="952500" y="5842000"/>
            <a:ext cx="10287000" cy="419100"/>
          </a:xfrm>
          <a:custGeom>
            <a:avLst/>
            <a:gdLst/>
            <a:ahLst/>
            <a:cxnLst/>
            <a:rect l="0" t="0" r="r" b="b"/>
            <a:pathLst>
              <a:path w="10287000" h="4191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30200"/>
                </a:lnTo>
                <a:cubicBezTo>
                  <a:pt x="10287000" y="379286"/>
                  <a:pt x="10247186" y="419100"/>
                  <a:pt x="10198100" y="419100"/>
                </a:cubicBezTo>
                <a:lnTo>
                  <a:pt x="88900" y="419100"/>
                </a:lnTo>
                <a:cubicBezTo>
                  <a:pt x="39815" y="419100"/>
                  <a:pt x="0" y="379286"/>
                  <a:pt x="0" y="3302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sum-bar"/>
          <p:cNvSpPr/>
          <p:nvPr/>
        </p:nvSpPr>
        <p:spPr>
          <a:xfrm>
            <a:off x="952500" y="5842000"/>
            <a:ext cx="31750" cy="4191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sum-h"/>
          <p:cNvSpPr txBox="1"/>
          <p:nvPr/>
        </p:nvSpPr>
        <p:spPr>
          <a:xfrm>
            <a:off x="1142746" y="59753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对齐规则</a:t>
            </a:r>
          </a:p>
        </p:txBody>
      </p:sp>
      <p:sp>
        <p:nvSpPr>
          <p:cNvPr id="99" name="sum-p"/>
          <p:cNvSpPr txBox="1"/>
          <p:nvPr/>
        </p:nvSpPr>
        <p:spPr>
          <a:xfrm>
            <a:off x="1891665" y="5971461"/>
            <a:ext cx="501935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每个人的 KR 必须标注向上对齐的来源；季度中期检查一次，对不上来源的任务从周计划里拿掉。</a:t>
            </a:r>
          </a:p>
        </p:txBody>
      </p:sp>
      <p:cxnSp>
        <p:nvCxnSpPr>
          <p:cNvPr id="100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1" name="foot-l"/>
          <p:cNvSpPr txBox="1"/>
          <p:nvPr/>
        </p:nvSpPr>
        <p:spPr>
          <a:xfrm>
            <a:off x="573532" y="6532308"/>
            <a:ext cx="108572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OKR 逐级对齐 · 三层</a:t>
            </a:r>
          </a:p>
        </p:txBody>
      </p:sp>
      <p:sp>
        <p:nvSpPr>
          <p:cNvPr id="102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上市准备路线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17271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WINDING ROAD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284591" y="673132"/>
            <a:ext cx="333616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从股改到挂牌，六个里程碑沿着一条路走完，预计用时 26 个月</a:t>
            </a:r>
          </a:p>
        </p:txBody>
      </p:sp>
      <p:sp>
        <p:nvSpPr>
          <p:cNvPr id="10" name="road-b"/>
          <p:cNvSpPr/>
          <p:nvPr/>
        </p:nvSpPr>
        <p:spPr>
          <a:xfrm>
            <a:off x="952500" y="1460500"/>
            <a:ext cx="10414000" cy="4254500"/>
          </a:xfrm>
          <a:custGeom>
            <a:avLst/>
            <a:gdLst/>
            <a:ahLst/>
            <a:cxnLst/>
            <a:rect l="0" t="0" r="r" b="b"/>
            <a:pathLst>
              <a:path w="10414000" h="4254500">
                <a:moveTo>
                  <a:pt x="0" y="4254500"/>
                </a:moveTo>
                <a:cubicBezTo>
                  <a:pt x="104775" y="4178300"/>
                  <a:pt x="307975" y="3937000"/>
                  <a:pt x="698500" y="3746500"/>
                </a:cubicBezTo>
                <a:cubicBezTo>
                  <a:pt x="1089025" y="3556000"/>
                  <a:pt x="1993900" y="3022600"/>
                  <a:pt x="2603500" y="2984500"/>
                </a:cubicBezTo>
                <a:cubicBezTo>
                  <a:pt x="3213100" y="2946400"/>
                  <a:pt x="4171950" y="3625850"/>
                  <a:pt x="4762500" y="3492500"/>
                </a:cubicBezTo>
                <a:cubicBezTo>
                  <a:pt x="5353050" y="3359150"/>
                  <a:pt x="5969000" y="2390775"/>
                  <a:pt x="6540500" y="2095500"/>
                </a:cubicBezTo>
                <a:cubicBezTo>
                  <a:pt x="7112000" y="1800225"/>
                  <a:pt x="8077200" y="1781175"/>
                  <a:pt x="8572500" y="1524000"/>
                </a:cubicBezTo>
                <a:cubicBezTo>
                  <a:pt x="9067800" y="1266825"/>
                  <a:pt x="9566275" y="609600"/>
                  <a:pt x="9842500" y="381000"/>
                </a:cubicBezTo>
                <a:cubicBezTo>
                  <a:pt x="10118725" y="152400"/>
                  <a:pt x="10328275" y="57150"/>
                  <a:pt x="10414000" y="0"/>
                </a:cubicBezTo>
              </a:path>
            </a:pathLst>
          </a:custGeom>
          <a:noFill/>
          <a:ln w="406400" cap="rnd">
            <a:solidFill>
              <a:srgbClr val="C9D7E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road"/>
          <p:cNvSpPr/>
          <p:nvPr/>
        </p:nvSpPr>
        <p:spPr>
          <a:xfrm>
            <a:off x="952500" y="1460500"/>
            <a:ext cx="10414000" cy="4254500"/>
          </a:xfrm>
          <a:custGeom>
            <a:avLst/>
            <a:gdLst/>
            <a:ahLst/>
            <a:cxnLst/>
            <a:rect l="0" t="0" r="r" b="b"/>
            <a:pathLst>
              <a:path w="10414000" h="4254500">
                <a:moveTo>
                  <a:pt x="0" y="4254500"/>
                </a:moveTo>
                <a:cubicBezTo>
                  <a:pt x="104775" y="4178300"/>
                  <a:pt x="307975" y="3937000"/>
                  <a:pt x="698500" y="3746500"/>
                </a:cubicBezTo>
                <a:cubicBezTo>
                  <a:pt x="1089025" y="3556000"/>
                  <a:pt x="1993900" y="3022600"/>
                  <a:pt x="2603500" y="2984500"/>
                </a:cubicBezTo>
                <a:cubicBezTo>
                  <a:pt x="3213100" y="2946400"/>
                  <a:pt x="4171950" y="3625850"/>
                  <a:pt x="4762500" y="3492500"/>
                </a:cubicBezTo>
                <a:cubicBezTo>
                  <a:pt x="5353050" y="3359150"/>
                  <a:pt x="5969000" y="2390775"/>
                  <a:pt x="6540500" y="2095500"/>
                </a:cubicBezTo>
                <a:cubicBezTo>
                  <a:pt x="7112000" y="1800225"/>
                  <a:pt x="8077200" y="1781175"/>
                  <a:pt x="8572500" y="1524000"/>
                </a:cubicBezTo>
                <a:cubicBezTo>
                  <a:pt x="9067800" y="1266825"/>
                  <a:pt x="9566275" y="609600"/>
                  <a:pt x="9842500" y="381000"/>
                </a:cubicBezTo>
                <a:cubicBezTo>
                  <a:pt x="10118725" y="152400"/>
                  <a:pt x="10328275" y="57150"/>
                  <a:pt x="10414000" y="0"/>
                </a:cubicBezTo>
              </a:path>
            </a:pathLst>
          </a:custGeom>
          <a:noFill/>
          <a:ln w="355600" cap="rnd">
            <a:solidFill>
              <a:srgbClr val="8FA6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road-l"/>
          <p:cNvSpPr/>
          <p:nvPr/>
        </p:nvSpPr>
        <p:spPr>
          <a:xfrm>
            <a:off x="952500" y="1460500"/>
            <a:ext cx="10414000" cy="4254500"/>
          </a:xfrm>
          <a:custGeom>
            <a:avLst/>
            <a:gdLst/>
            <a:ahLst/>
            <a:cxnLst/>
            <a:rect l="0" t="0" r="r" b="b"/>
            <a:pathLst>
              <a:path w="10414000" h="4254500">
                <a:moveTo>
                  <a:pt x="0" y="4254500"/>
                </a:moveTo>
                <a:cubicBezTo>
                  <a:pt x="104775" y="4178300"/>
                  <a:pt x="307975" y="3937000"/>
                  <a:pt x="698500" y="3746500"/>
                </a:cubicBezTo>
                <a:cubicBezTo>
                  <a:pt x="1089025" y="3556000"/>
                  <a:pt x="1993900" y="3022600"/>
                  <a:pt x="2603500" y="2984500"/>
                </a:cubicBezTo>
                <a:cubicBezTo>
                  <a:pt x="3213100" y="2946400"/>
                  <a:pt x="4171950" y="3625850"/>
                  <a:pt x="4762500" y="3492500"/>
                </a:cubicBezTo>
                <a:cubicBezTo>
                  <a:pt x="5353050" y="3359150"/>
                  <a:pt x="5969000" y="2390775"/>
                  <a:pt x="6540500" y="2095500"/>
                </a:cubicBezTo>
                <a:cubicBezTo>
                  <a:pt x="7112000" y="1800225"/>
                  <a:pt x="8077200" y="1781175"/>
                  <a:pt x="8572500" y="1524000"/>
                </a:cubicBezTo>
                <a:cubicBezTo>
                  <a:pt x="9067800" y="1266825"/>
                  <a:pt x="9566275" y="609600"/>
                  <a:pt x="9842500" y="381000"/>
                </a:cubicBezTo>
                <a:cubicBezTo>
                  <a:pt x="10118725" y="152400"/>
                  <a:pt x="10328275" y="57150"/>
                  <a:pt x="10414000" y="0"/>
                </a:cubicBezTo>
              </a:path>
            </a:pathLst>
          </a:custGeom>
          <a:noFill/>
          <a:ln w="19050" cap="rnd">
            <a:solidFill>
              <a:srgbClr val="FFFFFF"/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road-done"/>
          <p:cNvSpPr/>
          <p:nvPr/>
        </p:nvSpPr>
        <p:spPr>
          <a:xfrm>
            <a:off x="952500" y="4443589"/>
            <a:ext cx="4762500" cy="1271411"/>
          </a:xfrm>
          <a:custGeom>
            <a:avLst/>
            <a:gdLst/>
            <a:ahLst/>
            <a:cxnLst/>
            <a:rect l="0" t="0" r="r" b="b"/>
            <a:pathLst>
              <a:path w="4762500" h="1271411">
                <a:moveTo>
                  <a:pt x="0" y="1271411"/>
                </a:moveTo>
                <a:cubicBezTo>
                  <a:pt x="104775" y="1195211"/>
                  <a:pt x="307975" y="953911"/>
                  <a:pt x="698500" y="763411"/>
                </a:cubicBezTo>
                <a:cubicBezTo>
                  <a:pt x="1089025" y="572911"/>
                  <a:pt x="1993900" y="39511"/>
                  <a:pt x="2603500" y="1411"/>
                </a:cubicBezTo>
                <a:cubicBezTo>
                  <a:pt x="3213100" y="-36689"/>
                  <a:pt x="4438650" y="433211"/>
                  <a:pt x="4762500" y="509411"/>
                </a:cubicBezTo>
              </a:path>
            </a:pathLst>
          </a:custGeom>
          <a:noFill/>
          <a:ln w="355600" cap="rnd">
            <a:solidFill>
              <a:srgbClr val="0B3E8F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pin-1"/>
          <p:cNvSpPr/>
          <p:nvPr/>
        </p:nvSpPr>
        <p:spPr>
          <a:xfrm>
            <a:off x="1508125" y="4597400"/>
            <a:ext cx="285750" cy="571500"/>
          </a:xfrm>
          <a:custGeom>
            <a:avLst/>
            <a:gdLst/>
            <a:ahLst/>
            <a:cxnLst/>
            <a:rect l="0" t="0" r="r" b="b"/>
            <a:pathLst>
              <a:path w="285750" h="571500">
                <a:moveTo>
                  <a:pt x="142875" y="571500"/>
                </a:moveTo>
                <a:cubicBezTo>
                  <a:pt x="-47625" y="292100"/>
                  <a:pt x="-47625" y="0"/>
                  <a:pt x="142875" y="0"/>
                </a:cubicBezTo>
                <a:cubicBezTo>
                  <a:pt x="333375" y="0"/>
                  <a:pt x="333375" y="292100"/>
                  <a:pt x="142875" y="57150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pinc-1"/>
          <p:cNvSpPr/>
          <p:nvPr/>
        </p:nvSpPr>
        <p:spPr>
          <a:xfrm>
            <a:off x="1562100" y="4673600"/>
            <a:ext cx="177800" cy="177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pinn-1"/>
          <p:cNvSpPr txBox="1"/>
          <p:nvPr/>
        </p:nvSpPr>
        <p:spPr>
          <a:xfrm>
            <a:off x="1581468" y="468296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17" name="c-1"/>
          <p:cNvSpPr/>
          <p:nvPr/>
        </p:nvSpPr>
        <p:spPr>
          <a:xfrm>
            <a:off x="1524000" y="5486400"/>
            <a:ext cx="1778000" cy="711200"/>
          </a:xfrm>
          <a:custGeom>
            <a:avLst/>
            <a:gdLst/>
            <a:ahLst/>
            <a:cxnLst/>
            <a:rect l="0" t="0" r="r" b="b"/>
            <a:pathLst>
              <a:path w="1778000" h="711200">
                <a:moveTo>
                  <a:pt x="114300" y="0"/>
                </a:moveTo>
                <a:lnTo>
                  <a:pt x="1663700" y="0"/>
                </a:lnTo>
                <a:cubicBezTo>
                  <a:pt x="1726819" y="0"/>
                  <a:pt x="1778000" y="51181"/>
                  <a:pt x="1778000" y="114300"/>
                </a:cubicBezTo>
                <a:lnTo>
                  <a:pt x="1778000" y="596900"/>
                </a:lnTo>
                <a:cubicBezTo>
                  <a:pt x="1778000" y="660019"/>
                  <a:pt x="1726819" y="711200"/>
                  <a:pt x="1663700" y="711200"/>
                </a:cubicBezTo>
                <a:lnTo>
                  <a:pt x="114300" y="711200"/>
                </a:lnTo>
                <a:cubicBezTo>
                  <a:pt x="51181" y="711200"/>
                  <a:pt x="0" y="660019"/>
                  <a:pt x="0" y="596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cb-1"/>
          <p:cNvSpPr/>
          <p:nvPr/>
        </p:nvSpPr>
        <p:spPr>
          <a:xfrm>
            <a:off x="1524000" y="5486400"/>
            <a:ext cx="38100" cy="711200"/>
          </a:xfrm>
          <a:custGeom>
            <a:avLst/>
            <a:gdLst/>
            <a:ahLst/>
            <a:cxnLst/>
            <a:rect l="0" t="0" r="r" b="b"/>
            <a:pathLst>
              <a:path w="38100" h="7112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92150"/>
                </a:lnTo>
                <a:cubicBezTo>
                  <a:pt x="38100" y="702691"/>
                  <a:pt x="29591" y="711200"/>
                  <a:pt x="19050" y="711200"/>
                </a:cubicBezTo>
                <a:lnTo>
                  <a:pt x="19050" y="711200"/>
                </a:lnTo>
                <a:cubicBezTo>
                  <a:pt x="8509" y="711200"/>
                  <a:pt x="0" y="702691"/>
                  <a:pt x="0" y="6921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ct-1"/>
          <p:cNvSpPr txBox="1"/>
          <p:nvPr/>
        </p:nvSpPr>
        <p:spPr>
          <a:xfrm>
            <a:off x="1664970" y="5597366"/>
            <a:ext cx="4591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2025.06</a:t>
            </a:r>
          </a:p>
        </p:txBody>
      </p:sp>
      <p:sp>
        <p:nvSpPr>
          <p:cNvPr id="20" name="cs-1"/>
          <p:cNvSpPr txBox="1"/>
          <p:nvPr/>
        </p:nvSpPr>
        <p:spPr>
          <a:xfrm>
            <a:off x="2819908" y="5605208"/>
            <a:ext cx="3657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已完成</a:t>
            </a:r>
          </a:p>
        </p:txBody>
      </p:sp>
      <p:sp>
        <p:nvSpPr>
          <p:cNvPr id="21" name="cn-1"/>
          <p:cNvSpPr txBox="1"/>
          <p:nvPr/>
        </p:nvSpPr>
        <p:spPr>
          <a:xfrm>
            <a:off x="1660398" y="5766213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完成股改</a:t>
            </a:r>
          </a:p>
        </p:txBody>
      </p:sp>
      <p:sp>
        <p:nvSpPr>
          <p:cNvPr id="22" name="cd-1"/>
          <p:cNvSpPr txBox="1"/>
          <p:nvPr/>
        </p:nvSpPr>
        <p:spPr>
          <a:xfrm>
            <a:off x="1665351" y="5994987"/>
            <a:ext cx="111664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有限公司变更为股份公司</a:t>
            </a:r>
          </a:p>
        </p:txBody>
      </p:sp>
      <p:sp>
        <p:nvSpPr>
          <p:cNvPr id="23" name="pin-2"/>
          <p:cNvSpPr/>
          <p:nvPr/>
        </p:nvSpPr>
        <p:spPr>
          <a:xfrm>
            <a:off x="3413125" y="3835400"/>
            <a:ext cx="285750" cy="571500"/>
          </a:xfrm>
          <a:custGeom>
            <a:avLst/>
            <a:gdLst/>
            <a:ahLst/>
            <a:cxnLst/>
            <a:rect l="0" t="0" r="r" b="b"/>
            <a:pathLst>
              <a:path w="285750" h="571500">
                <a:moveTo>
                  <a:pt x="142875" y="571500"/>
                </a:moveTo>
                <a:cubicBezTo>
                  <a:pt x="-47625" y="292100"/>
                  <a:pt x="-47625" y="0"/>
                  <a:pt x="142875" y="0"/>
                </a:cubicBezTo>
                <a:cubicBezTo>
                  <a:pt x="333375" y="0"/>
                  <a:pt x="333375" y="292100"/>
                  <a:pt x="142875" y="57150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pinc-2"/>
          <p:cNvSpPr/>
          <p:nvPr/>
        </p:nvSpPr>
        <p:spPr>
          <a:xfrm>
            <a:off x="3467100" y="3911600"/>
            <a:ext cx="177800" cy="177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pinn-2"/>
          <p:cNvSpPr txBox="1"/>
          <p:nvPr/>
        </p:nvSpPr>
        <p:spPr>
          <a:xfrm>
            <a:off x="3486467" y="392096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26" name="c-2"/>
          <p:cNvSpPr/>
          <p:nvPr/>
        </p:nvSpPr>
        <p:spPr>
          <a:xfrm>
            <a:off x="2667000" y="2997200"/>
            <a:ext cx="1778000" cy="711200"/>
          </a:xfrm>
          <a:custGeom>
            <a:avLst/>
            <a:gdLst/>
            <a:ahLst/>
            <a:cxnLst/>
            <a:rect l="0" t="0" r="r" b="b"/>
            <a:pathLst>
              <a:path w="1778000" h="711200">
                <a:moveTo>
                  <a:pt x="114300" y="0"/>
                </a:moveTo>
                <a:lnTo>
                  <a:pt x="1663700" y="0"/>
                </a:lnTo>
                <a:cubicBezTo>
                  <a:pt x="1726819" y="0"/>
                  <a:pt x="1778000" y="51181"/>
                  <a:pt x="1778000" y="114300"/>
                </a:cubicBezTo>
                <a:lnTo>
                  <a:pt x="1778000" y="596900"/>
                </a:lnTo>
                <a:cubicBezTo>
                  <a:pt x="1778000" y="660019"/>
                  <a:pt x="1726819" y="711200"/>
                  <a:pt x="1663700" y="711200"/>
                </a:cubicBezTo>
                <a:lnTo>
                  <a:pt x="114300" y="711200"/>
                </a:lnTo>
                <a:cubicBezTo>
                  <a:pt x="51181" y="711200"/>
                  <a:pt x="0" y="660019"/>
                  <a:pt x="0" y="596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cb-2"/>
          <p:cNvSpPr/>
          <p:nvPr/>
        </p:nvSpPr>
        <p:spPr>
          <a:xfrm>
            <a:off x="2667000" y="2997200"/>
            <a:ext cx="38100" cy="711200"/>
          </a:xfrm>
          <a:custGeom>
            <a:avLst/>
            <a:gdLst/>
            <a:ahLst/>
            <a:cxnLst/>
            <a:rect l="0" t="0" r="r" b="b"/>
            <a:pathLst>
              <a:path w="38100" h="7112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92150"/>
                </a:lnTo>
                <a:cubicBezTo>
                  <a:pt x="38100" y="702691"/>
                  <a:pt x="29591" y="711200"/>
                  <a:pt x="19050" y="711200"/>
                </a:cubicBezTo>
                <a:lnTo>
                  <a:pt x="19050" y="711200"/>
                </a:lnTo>
                <a:cubicBezTo>
                  <a:pt x="8509" y="711200"/>
                  <a:pt x="0" y="702691"/>
                  <a:pt x="0" y="6921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ct-2"/>
          <p:cNvSpPr txBox="1"/>
          <p:nvPr/>
        </p:nvSpPr>
        <p:spPr>
          <a:xfrm>
            <a:off x="2807970" y="3108166"/>
            <a:ext cx="4591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2025.12</a:t>
            </a:r>
          </a:p>
        </p:txBody>
      </p:sp>
      <p:sp>
        <p:nvSpPr>
          <p:cNvPr id="29" name="cs-2"/>
          <p:cNvSpPr txBox="1"/>
          <p:nvPr/>
        </p:nvSpPr>
        <p:spPr>
          <a:xfrm>
            <a:off x="3962908" y="3116008"/>
            <a:ext cx="3657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已完成</a:t>
            </a:r>
          </a:p>
        </p:txBody>
      </p:sp>
      <p:sp>
        <p:nvSpPr>
          <p:cNvPr id="30" name="cn-2"/>
          <p:cNvSpPr txBox="1"/>
          <p:nvPr/>
        </p:nvSpPr>
        <p:spPr>
          <a:xfrm>
            <a:off x="2803398" y="3277013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引入战投</a:t>
            </a:r>
          </a:p>
        </p:txBody>
      </p:sp>
      <p:sp>
        <p:nvSpPr>
          <p:cNvPr id="31" name="cd-2"/>
          <p:cNvSpPr txBox="1"/>
          <p:nvPr/>
        </p:nvSpPr>
        <p:spPr>
          <a:xfrm>
            <a:off x="2808351" y="3505787"/>
            <a:ext cx="1409891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B 轮 3 亿元，投后估值 30 亿</a:t>
            </a:r>
          </a:p>
        </p:txBody>
      </p:sp>
      <p:sp>
        <p:nvSpPr>
          <p:cNvPr id="32" name="pin-3"/>
          <p:cNvSpPr/>
          <p:nvPr/>
        </p:nvSpPr>
        <p:spPr>
          <a:xfrm>
            <a:off x="5572125" y="4343400"/>
            <a:ext cx="285750" cy="571500"/>
          </a:xfrm>
          <a:custGeom>
            <a:avLst/>
            <a:gdLst/>
            <a:ahLst/>
            <a:cxnLst/>
            <a:rect l="0" t="0" r="r" b="b"/>
            <a:pathLst>
              <a:path w="285750" h="571500">
                <a:moveTo>
                  <a:pt x="142875" y="571500"/>
                </a:moveTo>
                <a:cubicBezTo>
                  <a:pt x="-47625" y="292100"/>
                  <a:pt x="-47625" y="0"/>
                  <a:pt x="142875" y="0"/>
                </a:cubicBezTo>
                <a:cubicBezTo>
                  <a:pt x="333375" y="0"/>
                  <a:pt x="333375" y="292100"/>
                  <a:pt x="142875" y="57150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pinc-3"/>
          <p:cNvSpPr/>
          <p:nvPr/>
        </p:nvSpPr>
        <p:spPr>
          <a:xfrm>
            <a:off x="5626100" y="4419600"/>
            <a:ext cx="177800" cy="177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pinn-3"/>
          <p:cNvSpPr txBox="1"/>
          <p:nvPr/>
        </p:nvSpPr>
        <p:spPr>
          <a:xfrm>
            <a:off x="5645468" y="442896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35" name="c-3"/>
          <p:cNvSpPr/>
          <p:nvPr/>
        </p:nvSpPr>
        <p:spPr>
          <a:xfrm>
            <a:off x="5334000" y="5257800"/>
            <a:ext cx="1778000" cy="711200"/>
          </a:xfrm>
          <a:custGeom>
            <a:avLst/>
            <a:gdLst/>
            <a:ahLst/>
            <a:cxnLst/>
            <a:rect l="0" t="0" r="r" b="b"/>
            <a:pathLst>
              <a:path w="1778000" h="711200">
                <a:moveTo>
                  <a:pt x="114300" y="0"/>
                </a:moveTo>
                <a:lnTo>
                  <a:pt x="1663700" y="0"/>
                </a:lnTo>
                <a:cubicBezTo>
                  <a:pt x="1726819" y="0"/>
                  <a:pt x="1778000" y="51181"/>
                  <a:pt x="1778000" y="114300"/>
                </a:cubicBezTo>
                <a:lnTo>
                  <a:pt x="1778000" y="596900"/>
                </a:lnTo>
                <a:cubicBezTo>
                  <a:pt x="1778000" y="660019"/>
                  <a:pt x="1726819" y="711200"/>
                  <a:pt x="1663700" y="711200"/>
                </a:cubicBezTo>
                <a:lnTo>
                  <a:pt x="114300" y="711200"/>
                </a:lnTo>
                <a:cubicBezTo>
                  <a:pt x="51181" y="711200"/>
                  <a:pt x="0" y="660019"/>
                  <a:pt x="0" y="596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cb-3"/>
          <p:cNvSpPr/>
          <p:nvPr/>
        </p:nvSpPr>
        <p:spPr>
          <a:xfrm>
            <a:off x="5334000" y="5257800"/>
            <a:ext cx="38100" cy="711200"/>
          </a:xfrm>
          <a:custGeom>
            <a:avLst/>
            <a:gdLst/>
            <a:ahLst/>
            <a:cxnLst/>
            <a:rect l="0" t="0" r="r" b="b"/>
            <a:pathLst>
              <a:path w="38100" h="7112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92150"/>
                </a:lnTo>
                <a:cubicBezTo>
                  <a:pt x="38100" y="702691"/>
                  <a:pt x="29591" y="711200"/>
                  <a:pt x="19050" y="711200"/>
                </a:cubicBezTo>
                <a:lnTo>
                  <a:pt x="19050" y="711200"/>
                </a:lnTo>
                <a:cubicBezTo>
                  <a:pt x="8509" y="711200"/>
                  <a:pt x="0" y="702691"/>
                  <a:pt x="0" y="6921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ct-3"/>
          <p:cNvSpPr txBox="1"/>
          <p:nvPr/>
        </p:nvSpPr>
        <p:spPr>
          <a:xfrm>
            <a:off x="5474970" y="5368766"/>
            <a:ext cx="4591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2026.06</a:t>
            </a:r>
          </a:p>
        </p:txBody>
      </p:sp>
      <p:sp>
        <p:nvSpPr>
          <p:cNvPr id="38" name="cs-3"/>
          <p:cNvSpPr txBox="1"/>
          <p:nvPr/>
        </p:nvSpPr>
        <p:spPr>
          <a:xfrm>
            <a:off x="6629908" y="5376608"/>
            <a:ext cx="3657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进行中</a:t>
            </a:r>
          </a:p>
        </p:txBody>
      </p:sp>
      <p:sp>
        <p:nvSpPr>
          <p:cNvPr id="39" name="cn-3"/>
          <p:cNvSpPr txBox="1"/>
          <p:nvPr/>
        </p:nvSpPr>
        <p:spPr>
          <a:xfrm>
            <a:off x="5470398" y="5537613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规范治理</a:t>
            </a:r>
          </a:p>
        </p:txBody>
      </p:sp>
      <p:sp>
        <p:nvSpPr>
          <p:cNvPr id="40" name="cd-3"/>
          <p:cNvSpPr txBox="1"/>
          <p:nvPr/>
        </p:nvSpPr>
        <p:spPr>
          <a:xfrm>
            <a:off x="5475351" y="5766387"/>
            <a:ext cx="102266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独董、审计委员会就位</a:t>
            </a:r>
          </a:p>
        </p:txBody>
      </p:sp>
      <p:sp>
        <p:nvSpPr>
          <p:cNvPr id="41" name="pin-4"/>
          <p:cNvSpPr/>
          <p:nvPr/>
        </p:nvSpPr>
        <p:spPr>
          <a:xfrm>
            <a:off x="7350125" y="2946400"/>
            <a:ext cx="285750" cy="571500"/>
          </a:xfrm>
          <a:custGeom>
            <a:avLst/>
            <a:gdLst/>
            <a:ahLst/>
            <a:cxnLst/>
            <a:rect l="0" t="0" r="r" b="b"/>
            <a:pathLst>
              <a:path w="285750" h="571500">
                <a:moveTo>
                  <a:pt x="142875" y="571500"/>
                </a:moveTo>
                <a:cubicBezTo>
                  <a:pt x="-47625" y="292100"/>
                  <a:pt x="-47625" y="0"/>
                  <a:pt x="142875" y="0"/>
                </a:cubicBezTo>
                <a:cubicBezTo>
                  <a:pt x="333375" y="0"/>
                  <a:pt x="333375" y="292100"/>
                  <a:pt x="142875" y="571500"/>
                </a:cubicBezTo>
                <a:close/>
              </a:path>
            </a:pathLst>
          </a:custGeom>
          <a:solidFill>
            <a:srgbClr val="9DB2CC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pinc-4"/>
          <p:cNvSpPr/>
          <p:nvPr/>
        </p:nvSpPr>
        <p:spPr>
          <a:xfrm>
            <a:off x="7404100" y="3022600"/>
            <a:ext cx="177800" cy="177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pinn-4"/>
          <p:cNvSpPr txBox="1"/>
          <p:nvPr/>
        </p:nvSpPr>
        <p:spPr>
          <a:xfrm>
            <a:off x="7423468" y="303196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9DB2CC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44" name="c-4"/>
          <p:cNvSpPr/>
          <p:nvPr/>
        </p:nvSpPr>
        <p:spPr>
          <a:xfrm>
            <a:off x="5397500" y="2794000"/>
            <a:ext cx="1778000" cy="711200"/>
          </a:xfrm>
          <a:custGeom>
            <a:avLst/>
            <a:gdLst/>
            <a:ahLst/>
            <a:cxnLst/>
            <a:rect l="0" t="0" r="r" b="b"/>
            <a:pathLst>
              <a:path w="1778000" h="711200">
                <a:moveTo>
                  <a:pt x="114300" y="0"/>
                </a:moveTo>
                <a:lnTo>
                  <a:pt x="1663700" y="0"/>
                </a:lnTo>
                <a:cubicBezTo>
                  <a:pt x="1726819" y="0"/>
                  <a:pt x="1778000" y="51181"/>
                  <a:pt x="1778000" y="114300"/>
                </a:cubicBezTo>
                <a:lnTo>
                  <a:pt x="1778000" y="596900"/>
                </a:lnTo>
                <a:cubicBezTo>
                  <a:pt x="1778000" y="660019"/>
                  <a:pt x="1726819" y="711200"/>
                  <a:pt x="1663700" y="711200"/>
                </a:cubicBezTo>
                <a:lnTo>
                  <a:pt x="114300" y="711200"/>
                </a:lnTo>
                <a:cubicBezTo>
                  <a:pt x="51181" y="711200"/>
                  <a:pt x="0" y="660019"/>
                  <a:pt x="0" y="596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cb-4"/>
          <p:cNvSpPr/>
          <p:nvPr/>
        </p:nvSpPr>
        <p:spPr>
          <a:xfrm>
            <a:off x="5397500" y="2794000"/>
            <a:ext cx="38100" cy="711200"/>
          </a:xfrm>
          <a:custGeom>
            <a:avLst/>
            <a:gdLst/>
            <a:ahLst/>
            <a:cxnLst/>
            <a:rect l="0" t="0" r="r" b="b"/>
            <a:pathLst>
              <a:path w="38100" h="7112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92150"/>
                </a:lnTo>
                <a:cubicBezTo>
                  <a:pt x="38100" y="702691"/>
                  <a:pt x="29591" y="711200"/>
                  <a:pt x="19050" y="711200"/>
                </a:cubicBezTo>
                <a:lnTo>
                  <a:pt x="19050" y="711200"/>
                </a:lnTo>
                <a:cubicBezTo>
                  <a:pt x="8509" y="711200"/>
                  <a:pt x="0" y="702691"/>
                  <a:pt x="0" y="6921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9DB2C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ct-4"/>
          <p:cNvSpPr txBox="1"/>
          <p:nvPr/>
        </p:nvSpPr>
        <p:spPr>
          <a:xfrm>
            <a:off x="5538470" y="2904966"/>
            <a:ext cx="4591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9DB2CC"/>
                </a:solidFill>
                <a:latin typeface="Arial"/>
                <a:ea typeface="Arial"/>
                <a:cs typeface="Arial"/>
              </a:rPr>
              <a:t>2026.12</a:t>
            </a:r>
          </a:p>
        </p:txBody>
      </p:sp>
      <p:sp>
        <p:nvSpPr>
          <p:cNvPr id="47" name="cs-4"/>
          <p:cNvSpPr txBox="1"/>
          <p:nvPr/>
        </p:nvSpPr>
        <p:spPr>
          <a:xfrm>
            <a:off x="6693408" y="2912808"/>
            <a:ext cx="3657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50">
                <a:solidFill>
                  <a:srgbClr val="9DB2CC"/>
                </a:solidFill>
                <a:latin typeface="微软雅黑"/>
                <a:ea typeface="微软雅黑"/>
                <a:cs typeface="微软雅黑"/>
              </a:rPr>
              <a:t>未开始</a:t>
            </a:r>
          </a:p>
        </p:txBody>
      </p:sp>
      <p:sp>
        <p:nvSpPr>
          <p:cNvPr id="48" name="cn-4"/>
          <p:cNvSpPr txBox="1"/>
          <p:nvPr/>
        </p:nvSpPr>
        <p:spPr>
          <a:xfrm>
            <a:off x="5533898" y="3073813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券商辅导</a:t>
            </a:r>
          </a:p>
        </p:txBody>
      </p:sp>
      <p:sp>
        <p:nvSpPr>
          <p:cNvPr id="49" name="cd-4"/>
          <p:cNvSpPr txBox="1"/>
          <p:nvPr/>
        </p:nvSpPr>
        <p:spPr>
          <a:xfrm>
            <a:off x="5538851" y="3302587"/>
            <a:ext cx="1183069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辅导期 6 个月，完成验收</a:t>
            </a:r>
          </a:p>
        </p:txBody>
      </p:sp>
      <p:sp>
        <p:nvSpPr>
          <p:cNvPr id="50" name="pin-5"/>
          <p:cNvSpPr/>
          <p:nvPr/>
        </p:nvSpPr>
        <p:spPr>
          <a:xfrm>
            <a:off x="9382125" y="2374900"/>
            <a:ext cx="285750" cy="571500"/>
          </a:xfrm>
          <a:custGeom>
            <a:avLst/>
            <a:gdLst/>
            <a:ahLst/>
            <a:cxnLst/>
            <a:rect l="0" t="0" r="r" b="b"/>
            <a:pathLst>
              <a:path w="285750" h="571500">
                <a:moveTo>
                  <a:pt x="142875" y="571500"/>
                </a:moveTo>
                <a:cubicBezTo>
                  <a:pt x="-47625" y="292100"/>
                  <a:pt x="-47625" y="0"/>
                  <a:pt x="142875" y="0"/>
                </a:cubicBezTo>
                <a:cubicBezTo>
                  <a:pt x="333375" y="0"/>
                  <a:pt x="333375" y="292100"/>
                  <a:pt x="142875" y="571500"/>
                </a:cubicBezTo>
                <a:close/>
              </a:path>
            </a:pathLst>
          </a:custGeom>
          <a:solidFill>
            <a:srgbClr val="9DB2CC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pinc-5"/>
          <p:cNvSpPr/>
          <p:nvPr/>
        </p:nvSpPr>
        <p:spPr>
          <a:xfrm>
            <a:off x="9436100" y="2451100"/>
            <a:ext cx="177800" cy="177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pinn-5"/>
          <p:cNvSpPr txBox="1"/>
          <p:nvPr/>
        </p:nvSpPr>
        <p:spPr>
          <a:xfrm>
            <a:off x="9455468" y="246046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9DB2CC"/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  <p:sp>
        <p:nvSpPr>
          <p:cNvPr id="53" name="c-5"/>
          <p:cNvSpPr/>
          <p:nvPr/>
        </p:nvSpPr>
        <p:spPr>
          <a:xfrm>
            <a:off x="8636000" y="3263900"/>
            <a:ext cx="1778000" cy="711200"/>
          </a:xfrm>
          <a:custGeom>
            <a:avLst/>
            <a:gdLst/>
            <a:ahLst/>
            <a:cxnLst/>
            <a:rect l="0" t="0" r="r" b="b"/>
            <a:pathLst>
              <a:path w="1778000" h="711200">
                <a:moveTo>
                  <a:pt x="114300" y="0"/>
                </a:moveTo>
                <a:lnTo>
                  <a:pt x="1663700" y="0"/>
                </a:lnTo>
                <a:cubicBezTo>
                  <a:pt x="1726819" y="0"/>
                  <a:pt x="1778000" y="51181"/>
                  <a:pt x="1778000" y="114300"/>
                </a:cubicBezTo>
                <a:lnTo>
                  <a:pt x="1778000" y="596900"/>
                </a:lnTo>
                <a:cubicBezTo>
                  <a:pt x="1778000" y="660019"/>
                  <a:pt x="1726819" y="711200"/>
                  <a:pt x="1663700" y="711200"/>
                </a:cubicBezTo>
                <a:lnTo>
                  <a:pt x="114300" y="711200"/>
                </a:lnTo>
                <a:cubicBezTo>
                  <a:pt x="51181" y="711200"/>
                  <a:pt x="0" y="660019"/>
                  <a:pt x="0" y="596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cb-5"/>
          <p:cNvSpPr/>
          <p:nvPr/>
        </p:nvSpPr>
        <p:spPr>
          <a:xfrm>
            <a:off x="8636000" y="3263900"/>
            <a:ext cx="38100" cy="711200"/>
          </a:xfrm>
          <a:custGeom>
            <a:avLst/>
            <a:gdLst/>
            <a:ahLst/>
            <a:cxnLst/>
            <a:rect l="0" t="0" r="r" b="b"/>
            <a:pathLst>
              <a:path w="38100" h="7112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92150"/>
                </a:lnTo>
                <a:cubicBezTo>
                  <a:pt x="38100" y="702691"/>
                  <a:pt x="29591" y="711200"/>
                  <a:pt x="19050" y="711200"/>
                </a:cubicBezTo>
                <a:lnTo>
                  <a:pt x="19050" y="711200"/>
                </a:lnTo>
                <a:cubicBezTo>
                  <a:pt x="8509" y="711200"/>
                  <a:pt x="0" y="702691"/>
                  <a:pt x="0" y="6921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9DB2C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ct-5"/>
          <p:cNvSpPr txBox="1"/>
          <p:nvPr/>
        </p:nvSpPr>
        <p:spPr>
          <a:xfrm>
            <a:off x="8776970" y="3374866"/>
            <a:ext cx="4591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9DB2CC"/>
                </a:solidFill>
                <a:latin typeface="Arial"/>
                <a:ea typeface="Arial"/>
                <a:cs typeface="Arial"/>
              </a:rPr>
              <a:t>2027.03</a:t>
            </a:r>
          </a:p>
        </p:txBody>
      </p:sp>
      <p:sp>
        <p:nvSpPr>
          <p:cNvPr id="56" name="cs-5"/>
          <p:cNvSpPr txBox="1"/>
          <p:nvPr/>
        </p:nvSpPr>
        <p:spPr>
          <a:xfrm>
            <a:off x="9931908" y="3382708"/>
            <a:ext cx="3657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50">
                <a:solidFill>
                  <a:srgbClr val="9DB2CC"/>
                </a:solidFill>
                <a:latin typeface="微软雅黑"/>
                <a:ea typeface="微软雅黑"/>
                <a:cs typeface="微软雅黑"/>
              </a:rPr>
              <a:t>未开始</a:t>
            </a:r>
          </a:p>
        </p:txBody>
      </p:sp>
      <p:sp>
        <p:nvSpPr>
          <p:cNvPr id="57" name="cn-5"/>
          <p:cNvSpPr txBox="1"/>
          <p:nvPr/>
        </p:nvSpPr>
        <p:spPr>
          <a:xfrm>
            <a:off x="8772398" y="3543713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递交申报</a:t>
            </a:r>
          </a:p>
        </p:txBody>
      </p:sp>
      <p:sp>
        <p:nvSpPr>
          <p:cNvPr id="58" name="cd-5"/>
          <p:cNvSpPr txBox="1"/>
          <p:nvPr/>
        </p:nvSpPr>
        <p:spPr>
          <a:xfrm>
            <a:off x="8777351" y="3772487"/>
            <a:ext cx="83470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招股书递交交易所</a:t>
            </a:r>
          </a:p>
        </p:txBody>
      </p:sp>
      <p:sp>
        <p:nvSpPr>
          <p:cNvPr id="59" name="pin-6"/>
          <p:cNvSpPr/>
          <p:nvPr/>
        </p:nvSpPr>
        <p:spPr>
          <a:xfrm>
            <a:off x="10652125" y="1231900"/>
            <a:ext cx="285750" cy="571500"/>
          </a:xfrm>
          <a:custGeom>
            <a:avLst/>
            <a:gdLst/>
            <a:ahLst/>
            <a:cxnLst/>
            <a:rect l="0" t="0" r="r" b="b"/>
            <a:pathLst>
              <a:path w="285750" h="571500">
                <a:moveTo>
                  <a:pt x="142875" y="571500"/>
                </a:moveTo>
                <a:cubicBezTo>
                  <a:pt x="-47625" y="292100"/>
                  <a:pt x="-47625" y="0"/>
                  <a:pt x="142875" y="0"/>
                </a:cubicBezTo>
                <a:cubicBezTo>
                  <a:pt x="333375" y="0"/>
                  <a:pt x="333375" y="292100"/>
                  <a:pt x="142875" y="571500"/>
                </a:cubicBezTo>
                <a:close/>
              </a:path>
            </a:pathLst>
          </a:custGeom>
          <a:solidFill>
            <a:srgbClr val="9DB2CC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pinc-6"/>
          <p:cNvSpPr/>
          <p:nvPr/>
        </p:nvSpPr>
        <p:spPr>
          <a:xfrm>
            <a:off x="10706100" y="1308100"/>
            <a:ext cx="177800" cy="177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pinn-6"/>
          <p:cNvSpPr txBox="1"/>
          <p:nvPr/>
        </p:nvSpPr>
        <p:spPr>
          <a:xfrm>
            <a:off x="10725468" y="131746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9DB2CC"/>
                </a:solidFill>
                <a:latin typeface="Arial"/>
                <a:ea typeface="Arial"/>
                <a:cs typeface="Arial"/>
              </a:rPr>
              <a:t>6</a:t>
            </a:r>
          </a:p>
        </p:txBody>
      </p:sp>
      <p:sp>
        <p:nvSpPr>
          <p:cNvPr id="62" name="c-6"/>
          <p:cNvSpPr/>
          <p:nvPr/>
        </p:nvSpPr>
        <p:spPr>
          <a:xfrm>
            <a:off x="8699500" y="1397000"/>
            <a:ext cx="1778000" cy="711200"/>
          </a:xfrm>
          <a:custGeom>
            <a:avLst/>
            <a:gdLst/>
            <a:ahLst/>
            <a:cxnLst/>
            <a:rect l="0" t="0" r="r" b="b"/>
            <a:pathLst>
              <a:path w="1778000" h="711200">
                <a:moveTo>
                  <a:pt x="114300" y="0"/>
                </a:moveTo>
                <a:lnTo>
                  <a:pt x="1663700" y="0"/>
                </a:lnTo>
                <a:cubicBezTo>
                  <a:pt x="1726819" y="0"/>
                  <a:pt x="1778000" y="51181"/>
                  <a:pt x="1778000" y="114300"/>
                </a:cubicBezTo>
                <a:lnTo>
                  <a:pt x="1778000" y="596900"/>
                </a:lnTo>
                <a:cubicBezTo>
                  <a:pt x="1778000" y="660019"/>
                  <a:pt x="1726819" y="711200"/>
                  <a:pt x="1663700" y="711200"/>
                </a:cubicBezTo>
                <a:lnTo>
                  <a:pt x="114300" y="711200"/>
                </a:lnTo>
                <a:cubicBezTo>
                  <a:pt x="51181" y="711200"/>
                  <a:pt x="0" y="660019"/>
                  <a:pt x="0" y="596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cb-6"/>
          <p:cNvSpPr/>
          <p:nvPr/>
        </p:nvSpPr>
        <p:spPr>
          <a:xfrm>
            <a:off x="8699500" y="1397000"/>
            <a:ext cx="38100" cy="711200"/>
          </a:xfrm>
          <a:custGeom>
            <a:avLst/>
            <a:gdLst/>
            <a:ahLst/>
            <a:cxnLst/>
            <a:rect l="0" t="0" r="r" b="b"/>
            <a:pathLst>
              <a:path w="38100" h="7112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92150"/>
                </a:lnTo>
                <a:cubicBezTo>
                  <a:pt x="38100" y="702691"/>
                  <a:pt x="29591" y="711200"/>
                  <a:pt x="19050" y="711200"/>
                </a:cubicBezTo>
                <a:lnTo>
                  <a:pt x="19050" y="711200"/>
                </a:lnTo>
                <a:cubicBezTo>
                  <a:pt x="8509" y="711200"/>
                  <a:pt x="0" y="702691"/>
                  <a:pt x="0" y="6921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9DB2C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ct-6"/>
          <p:cNvSpPr txBox="1"/>
          <p:nvPr/>
        </p:nvSpPr>
        <p:spPr>
          <a:xfrm>
            <a:off x="8840470" y="1507966"/>
            <a:ext cx="4591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9DB2CC"/>
                </a:solidFill>
                <a:latin typeface="Arial"/>
                <a:ea typeface="Arial"/>
                <a:cs typeface="Arial"/>
              </a:rPr>
              <a:t>2027.08</a:t>
            </a:r>
          </a:p>
        </p:txBody>
      </p:sp>
      <p:sp>
        <p:nvSpPr>
          <p:cNvPr id="65" name="cs-6"/>
          <p:cNvSpPr txBox="1"/>
          <p:nvPr/>
        </p:nvSpPr>
        <p:spPr>
          <a:xfrm>
            <a:off x="9995408" y="1515808"/>
            <a:ext cx="3657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50">
                <a:solidFill>
                  <a:srgbClr val="9DB2CC"/>
                </a:solidFill>
                <a:latin typeface="微软雅黑"/>
                <a:ea typeface="微软雅黑"/>
                <a:cs typeface="微软雅黑"/>
              </a:rPr>
              <a:t>未开始</a:t>
            </a:r>
          </a:p>
        </p:txBody>
      </p:sp>
      <p:sp>
        <p:nvSpPr>
          <p:cNvPr id="66" name="cn-6"/>
          <p:cNvSpPr txBox="1"/>
          <p:nvPr/>
        </p:nvSpPr>
        <p:spPr>
          <a:xfrm>
            <a:off x="8835898" y="1676813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挂牌上市</a:t>
            </a:r>
          </a:p>
        </p:txBody>
      </p:sp>
      <p:sp>
        <p:nvSpPr>
          <p:cNvPr id="67" name="cd-6"/>
          <p:cNvSpPr txBox="1"/>
          <p:nvPr/>
        </p:nvSpPr>
        <p:spPr>
          <a:xfrm>
            <a:off x="8840851" y="1905587"/>
            <a:ext cx="860616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预计募资 12 亿元</a:t>
            </a:r>
          </a:p>
        </p:txBody>
      </p:sp>
      <p:sp>
        <p:nvSpPr>
          <p:cNvPr id="68" name="pg-h"/>
          <p:cNvSpPr txBox="1"/>
          <p:nvPr/>
        </p:nvSpPr>
        <p:spPr>
          <a:xfrm>
            <a:off x="939546" y="15811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当前进度</a:t>
            </a:r>
          </a:p>
        </p:txBody>
      </p:sp>
      <p:sp>
        <p:nvSpPr>
          <p:cNvPr id="69" name="pg-v"/>
          <p:cNvSpPr txBox="1"/>
          <p:nvPr/>
        </p:nvSpPr>
        <p:spPr>
          <a:xfrm>
            <a:off x="912876" y="1751203"/>
            <a:ext cx="1512316" cy="5778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6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第 3 站</a:t>
            </a:r>
          </a:p>
        </p:txBody>
      </p:sp>
      <p:sp>
        <p:nvSpPr>
          <p:cNvPr id="70" name="pg-p"/>
          <p:cNvSpPr txBox="1"/>
          <p:nvPr/>
        </p:nvSpPr>
        <p:spPr>
          <a:xfrm>
            <a:off x="940308" y="2300224"/>
            <a:ext cx="15194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已完成 2 站，规范治理进行中</a:t>
            </a:r>
          </a:p>
        </p:txBody>
      </p:sp>
      <p:cxnSp>
        <p:nvCxnSpPr>
          <p:cNvPr id="71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2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上市路线 · 六个里程碑</a:t>
            </a:r>
          </a:p>
        </p:txBody>
      </p:sp>
      <p:sp>
        <p:nvSpPr>
          <p:cNvPr id="73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17754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线索到回款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71907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LEAD TO CASH RELAY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894699" y="673132"/>
            <a:ext cx="27260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五个部门接力跑完一单，交接棒就是最容易掉的地方</a:t>
            </a:r>
          </a:p>
        </p:txBody>
      </p:sp>
      <p:sp>
        <p:nvSpPr>
          <p:cNvPr id="10" name="track"/>
          <p:cNvSpPr/>
          <p:nvPr/>
        </p:nvSpPr>
        <p:spPr>
          <a:xfrm>
            <a:off x="952500" y="2540000"/>
            <a:ext cx="10287000" cy="114300"/>
          </a:xfrm>
          <a:custGeom>
            <a:avLst/>
            <a:gdLst/>
            <a:ahLst/>
            <a:cxnLst/>
            <a:rect l="0" t="0" r="r" b="b"/>
            <a:pathLst>
              <a:path w="10287000" h="114300">
                <a:moveTo>
                  <a:pt x="57150" y="0"/>
                </a:moveTo>
                <a:lnTo>
                  <a:pt x="10229850" y="0"/>
                </a:lnTo>
                <a:cubicBezTo>
                  <a:pt x="10261410" y="0"/>
                  <a:pt x="10287000" y="25590"/>
                  <a:pt x="10287000" y="57150"/>
                </a:cubicBezTo>
                <a:lnTo>
                  <a:pt x="10287000" y="57150"/>
                </a:lnTo>
                <a:cubicBezTo>
                  <a:pt x="10287000" y="88710"/>
                  <a:pt x="10261410" y="114300"/>
                  <a:pt x="10229850" y="114300"/>
                </a:cubicBezTo>
                <a:lnTo>
                  <a:pt x="57150" y="114300"/>
                </a:lnTo>
                <a:cubicBezTo>
                  <a:pt x="25591" y="114300"/>
                  <a:pt x="0" y="88710"/>
                  <a:pt x="0" y="57150"/>
                </a:cubicBezTo>
                <a:lnTo>
                  <a:pt x="0" y="57150"/>
                </a:lnTo>
                <a:cubicBezTo>
                  <a:pt x="0" y="25590"/>
                  <a:pt x="25591" y="0"/>
                  <a:pt x="57150" y="0"/>
                </a:cubicBezTo>
                <a:close/>
              </a:path>
            </a:pathLst>
          </a:custGeom>
          <a:solidFill>
            <a:srgbClr val="DCE7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c-1"/>
          <p:cNvSpPr/>
          <p:nvPr/>
        </p:nvSpPr>
        <p:spPr>
          <a:xfrm>
            <a:off x="952500" y="1587500"/>
            <a:ext cx="1701800" cy="2540000"/>
          </a:xfrm>
          <a:custGeom>
            <a:avLst/>
            <a:gdLst/>
            <a:ahLst/>
            <a:cxnLst/>
            <a:rect l="0" t="0" r="r" b="b"/>
            <a:pathLst>
              <a:path w="1701800" h="2540000">
                <a:moveTo>
                  <a:pt x="152400" y="0"/>
                </a:moveTo>
                <a:lnTo>
                  <a:pt x="1549400" y="0"/>
                </a:lnTo>
                <a:cubicBezTo>
                  <a:pt x="1633601" y="0"/>
                  <a:pt x="1701800" y="68199"/>
                  <a:pt x="1701800" y="152400"/>
                </a:cubicBezTo>
                <a:lnTo>
                  <a:pt x="1701800" y="2387600"/>
                </a:lnTo>
                <a:cubicBezTo>
                  <a:pt x="1701800" y="2471801"/>
                  <a:pt x="1633601" y="2540000"/>
                  <a:pt x="1549400" y="2540000"/>
                </a:cubicBezTo>
                <a:lnTo>
                  <a:pt x="152400" y="2540000"/>
                </a:lnTo>
                <a:cubicBezTo>
                  <a:pt x="68199" y="2540000"/>
                  <a:pt x="0" y="2471801"/>
                  <a:pt x="0" y="23876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ch-1"/>
          <p:cNvSpPr/>
          <p:nvPr/>
        </p:nvSpPr>
        <p:spPr>
          <a:xfrm>
            <a:off x="952500" y="1587500"/>
            <a:ext cx="1701800" cy="812800"/>
          </a:xfrm>
          <a:custGeom>
            <a:avLst/>
            <a:gdLst/>
            <a:ahLst/>
            <a:cxnLst/>
            <a:rect l="0" t="0" r="r" b="b"/>
            <a:pathLst>
              <a:path w="1701800" h="812800">
                <a:moveTo>
                  <a:pt x="0" y="152400"/>
                </a:moveTo>
                <a:cubicBezTo>
                  <a:pt x="0" y="69850"/>
                  <a:pt x="69850" y="0"/>
                  <a:pt x="152400" y="0"/>
                </a:cubicBezTo>
                <a:lnTo>
                  <a:pt x="1549400" y="0"/>
                </a:lnTo>
                <a:cubicBezTo>
                  <a:pt x="1631950" y="0"/>
                  <a:pt x="1701800" y="69850"/>
                  <a:pt x="1701800" y="152400"/>
                </a:cubicBezTo>
                <a:lnTo>
                  <a:pt x="1701800" y="749300"/>
                </a:lnTo>
                <a:cubicBezTo>
                  <a:pt x="1123188" y="889000"/>
                  <a:pt x="561594" y="609600"/>
                  <a:pt x="0" y="812800"/>
                </a:cubic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cn-1"/>
          <p:cNvSpPr txBox="1"/>
          <p:nvPr/>
        </p:nvSpPr>
        <p:spPr>
          <a:xfrm>
            <a:off x="1094740" y="1682432"/>
            <a:ext cx="38481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14" name="co-1"/>
          <p:cNvSpPr txBox="1"/>
          <p:nvPr/>
        </p:nvSpPr>
        <p:spPr>
          <a:xfrm>
            <a:off x="1105408" y="2020824"/>
            <a:ext cx="41529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市场部</a:t>
            </a:r>
          </a:p>
        </p:txBody>
      </p:sp>
      <p:sp>
        <p:nvSpPr>
          <p:cNvPr id="15" name="chip"/>
          <p:cNvSpPr/>
          <p:nvPr/>
        </p:nvSpPr>
        <p:spPr>
          <a:xfrm>
            <a:off x="2108200" y="2324100"/>
            <a:ext cx="431800" cy="431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chip-ring"/>
          <p:cNvSpPr/>
          <p:nvPr/>
        </p:nvSpPr>
        <p:spPr>
          <a:xfrm>
            <a:off x="2108200" y="2324100"/>
            <a:ext cx="431800" cy="431800"/>
          </a:xfrm>
          <a:prstGeom prst="ellipse">
            <a:avLst/>
          </a:prstGeom>
          <a:noFill/>
          <a:ln w="6350" cap="rnd">
            <a:solidFill>
              <a:srgbClr val="0B3E8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icon-megaphone"/>
          <p:cNvSpPr/>
          <p:nvPr/>
        </p:nvSpPr>
        <p:spPr>
          <a:xfrm>
            <a:off x="2271712" y="2490788"/>
            <a:ext cx="103188" cy="98425"/>
          </a:xfrm>
          <a:custGeom>
            <a:avLst/>
            <a:gdLst/>
            <a:ahLst/>
            <a:cxnLst/>
            <a:rect l="0" t="0" r="r" b="b"/>
            <a:pathLst>
              <a:path w="103188" h="98425">
                <a:moveTo>
                  <a:pt x="0" y="30162"/>
                </a:moveTo>
                <a:lnTo>
                  <a:pt x="0" y="68262"/>
                </a:lnTo>
                <a:lnTo>
                  <a:pt x="23812" y="68262"/>
                </a:lnTo>
                <a:lnTo>
                  <a:pt x="80962" y="98425"/>
                </a:lnTo>
                <a:lnTo>
                  <a:pt x="80962" y="0"/>
                </a:lnTo>
                <a:lnTo>
                  <a:pt x="23812" y="30162"/>
                </a:lnTo>
                <a:close/>
                <a:moveTo>
                  <a:pt x="103188" y="33338"/>
                </a:moveTo>
                <a:lnTo>
                  <a:pt x="103188" y="65088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cm-1"/>
          <p:cNvSpPr txBox="1"/>
          <p:nvPr/>
        </p:nvSpPr>
        <p:spPr>
          <a:xfrm>
            <a:off x="1094740" y="2596832"/>
            <a:ext cx="60325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线索</a:t>
            </a:r>
          </a:p>
        </p:txBody>
      </p:sp>
      <p:sp>
        <p:nvSpPr>
          <p:cNvPr id="19" name="cd-1-0"/>
          <p:cNvSpPr/>
          <p:nvPr/>
        </p:nvSpPr>
        <p:spPr>
          <a:xfrm>
            <a:off x="1123950" y="3028950"/>
            <a:ext cx="63500" cy="635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ct-1-0"/>
          <p:cNvSpPr txBox="1"/>
          <p:nvPr/>
        </p:nvSpPr>
        <p:spPr>
          <a:xfrm>
            <a:off x="1243965" y="2961561"/>
            <a:ext cx="8239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评分 ≥ 60 分</a:t>
            </a:r>
          </a:p>
        </p:txBody>
      </p:sp>
      <p:sp>
        <p:nvSpPr>
          <p:cNvPr id="21" name="cd-1-1"/>
          <p:cNvSpPr/>
          <p:nvPr/>
        </p:nvSpPr>
        <p:spPr>
          <a:xfrm>
            <a:off x="1123950" y="3270250"/>
            <a:ext cx="63500" cy="635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ct-1-1"/>
          <p:cNvSpPr txBox="1"/>
          <p:nvPr/>
        </p:nvSpPr>
        <p:spPr>
          <a:xfrm>
            <a:off x="1243965" y="3202861"/>
            <a:ext cx="5826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转入 CRM</a:t>
            </a:r>
          </a:p>
        </p:txBody>
      </p:sp>
      <p:cxnSp>
        <p:nvCxnSpPr>
          <p:cNvPr id="23" name="cl-1"/>
          <p:cNvCxnSpPr/>
          <p:nvPr/>
        </p:nvCxnSpPr>
        <p:spPr>
          <a:xfrm>
            <a:off x="1117600" y="3594100"/>
            <a:ext cx="13716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cv-1"/>
          <p:cNvSpPr txBox="1"/>
          <p:nvPr/>
        </p:nvSpPr>
        <p:spPr>
          <a:xfrm>
            <a:off x="1087120" y="3623310"/>
            <a:ext cx="37084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25" name="cu-1"/>
          <p:cNvSpPr txBox="1"/>
          <p:nvPr/>
        </p:nvSpPr>
        <p:spPr>
          <a:xfrm>
            <a:off x="1275334" y="3783140"/>
            <a:ext cx="2171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天</a:t>
            </a:r>
          </a:p>
        </p:txBody>
      </p:sp>
      <p:sp>
        <p:nvSpPr>
          <p:cNvPr id="26" name="cp-1"/>
          <p:cNvSpPr txBox="1"/>
          <p:nvPr/>
        </p:nvSpPr>
        <p:spPr>
          <a:xfrm>
            <a:off x="2159635" y="3806666"/>
            <a:ext cx="3409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占 7%</a:t>
            </a:r>
          </a:p>
        </p:txBody>
      </p:sp>
      <p:sp>
        <p:nvSpPr>
          <p:cNvPr id="27" name="h-1"/>
          <p:cNvSpPr/>
          <p:nvPr/>
        </p:nvSpPr>
        <p:spPr>
          <a:xfrm>
            <a:off x="2711450" y="2432050"/>
            <a:ext cx="330200" cy="330200"/>
          </a:xfrm>
          <a:prstGeom prst="ellipse">
            <a:avLst/>
          </a:prstGeom>
          <a:solidFill>
            <a:srgbClr val="E0703A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ha-1"/>
          <p:cNvSpPr/>
          <p:nvPr/>
        </p:nvSpPr>
        <p:spPr>
          <a:xfrm>
            <a:off x="2819400" y="2546350"/>
            <a:ext cx="120650" cy="101600"/>
          </a:xfrm>
          <a:custGeom>
            <a:avLst/>
            <a:gdLst/>
            <a:ahLst/>
            <a:cxnLst/>
            <a:rect l="0" t="0" r="r" b="b"/>
            <a:pathLst>
              <a:path w="120650" h="101600">
                <a:moveTo>
                  <a:pt x="0" y="50800"/>
                </a:moveTo>
                <a:lnTo>
                  <a:pt x="114300" y="50800"/>
                </a:lnTo>
                <a:moveTo>
                  <a:pt x="69850" y="0"/>
                </a:moveTo>
                <a:lnTo>
                  <a:pt x="120650" y="50800"/>
                </a:lnTo>
                <a:lnTo>
                  <a:pt x="69850" y="101600"/>
                </a:lnTo>
              </a:path>
            </a:pathLst>
          </a:custGeom>
          <a:noFill/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c-2"/>
          <p:cNvSpPr/>
          <p:nvPr/>
        </p:nvSpPr>
        <p:spPr>
          <a:xfrm>
            <a:off x="3098800" y="1587500"/>
            <a:ext cx="1701800" cy="2540000"/>
          </a:xfrm>
          <a:custGeom>
            <a:avLst/>
            <a:gdLst/>
            <a:ahLst/>
            <a:cxnLst/>
            <a:rect l="0" t="0" r="r" b="b"/>
            <a:pathLst>
              <a:path w="1701800" h="2540000">
                <a:moveTo>
                  <a:pt x="152400" y="0"/>
                </a:moveTo>
                <a:lnTo>
                  <a:pt x="1549400" y="0"/>
                </a:lnTo>
                <a:cubicBezTo>
                  <a:pt x="1633601" y="0"/>
                  <a:pt x="1701800" y="68199"/>
                  <a:pt x="1701800" y="152400"/>
                </a:cubicBezTo>
                <a:lnTo>
                  <a:pt x="1701800" y="2387600"/>
                </a:lnTo>
                <a:cubicBezTo>
                  <a:pt x="1701800" y="2471801"/>
                  <a:pt x="1633601" y="2540000"/>
                  <a:pt x="1549400" y="2540000"/>
                </a:cubicBezTo>
                <a:lnTo>
                  <a:pt x="152400" y="2540000"/>
                </a:lnTo>
                <a:cubicBezTo>
                  <a:pt x="68199" y="2540000"/>
                  <a:pt x="0" y="2471801"/>
                  <a:pt x="0" y="23876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ch-2"/>
          <p:cNvSpPr/>
          <p:nvPr/>
        </p:nvSpPr>
        <p:spPr>
          <a:xfrm>
            <a:off x="3098800" y="1587500"/>
            <a:ext cx="1701800" cy="812800"/>
          </a:xfrm>
          <a:custGeom>
            <a:avLst/>
            <a:gdLst/>
            <a:ahLst/>
            <a:cxnLst/>
            <a:rect l="0" t="0" r="r" b="b"/>
            <a:pathLst>
              <a:path w="1701800" h="812800">
                <a:moveTo>
                  <a:pt x="0" y="152400"/>
                </a:moveTo>
                <a:cubicBezTo>
                  <a:pt x="0" y="69850"/>
                  <a:pt x="69850" y="0"/>
                  <a:pt x="152400" y="0"/>
                </a:cubicBezTo>
                <a:lnTo>
                  <a:pt x="1549400" y="0"/>
                </a:lnTo>
                <a:cubicBezTo>
                  <a:pt x="1631950" y="0"/>
                  <a:pt x="1701800" y="69850"/>
                  <a:pt x="1701800" y="152400"/>
                </a:cubicBezTo>
                <a:lnTo>
                  <a:pt x="1701800" y="749300"/>
                </a:lnTo>
                <a:cubicBezTo>
                  <a:pt x="1123188" y="889000"/>
                  <a:pt x="561594" y="609600"/>
                  <a:pt x="0" y="812800"/>
                </a:cubicBezTo>
                <a:close/>
              </a:path>
            </a:pathLst>
          </a:custGeom>
          <a:gradFill rotWithShape="1">
            <a:gsLst>
              <a:gs pos="0">
                <a:srgbClr val="366EB2"/>
              </a:gs>
              <a:gs pos="100000">
                <a:srgbClr val="1B5AA8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cn-2"/>
          <p:cNvSpPr txBox="1"/>
          <p:nvPr/>
        </p:nvSpPr>
        <p:spPr>
          <a:xfrm>
            <a:off x="3241040" y="1682432"/>
            <a:ext cx="38481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32" name="co-2"/>
          <p:cNvSpPr txBox="1"/>
          <p:nvPr/>
        </p:nvSpPr>
        <p:spPr>
          <a:xfrm>
            <a:off x="3251708" y="2020824"/>
            <a:ext cx="41529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销售部</a:t>
            </a:r>
          </a:p>
        </p:txBody>
      </p:sp>
      <p:sp>
        <p:nvSpPr>
          <p:cNvPr id="33" name="chip"/>
          <p:cNvSpPr/>
          <p:nvPr/>
        </p:nvSpPr>
        <p:spPr>
          <a:xfrm>
            <a:off x="4254500" y="2324100"/>
            <a:ext cx="431800" cy="431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chip-ring"/>
          <p:cNvSpPr/>
          <p:nvPr/>
        </p:nvSpPr>
        <p:spPr>
          <a:xfrm>
            <a:off x="4254500" y="2324100"/>
            <a:ext cx="431800" cy="431800"/>
          </a:xfrm>
          <a:prstGeom prst="ellipse">
            <a:avLst/>
          </a:prstGeom>
          <a:noFill/>
          <a:ln w="6350" cap="rnd">
            <a:solidFill>
              <a:srgbClr val="1B5AA8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icon-target"/>
          <p:cNvSpPr/>
          <p:nvPr/>
        </p:nvSpPr>
        <p:spPr>
          <a:xfrm>
            <a:off x="4470400" y="2471738"/>
            <a:ext cx="52388" cy="68262"/>
          </a:xfrm>
          <a:custGeom>
            <a:avLst/>
            <a:gdLst/>
            <a:ahLst/>
            <a:cxnLst/>
            <a:rect l="0" t="0" r="r" b="b"/>
            <a:pathLst>
              <a:path w="52388" h="68262">
                <a:moveTo>
                  <a:pt x="0" y="39688"/>
                </a:moveTo>
                <a:lnTo>
                  <a:pt x="0" y="0"/>
                </a:lnTo>
                <a:moveTo>
                  <a:pt x="0" y="68262"/>
                </a:moveTo>
                <a:lnTo>
                  <a:pt x="52388" y="15875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icon-target"/>
          <p:cNvSpPr/>
          <p:nvPr/>
        </p:nvSpPr>
        <p:spPr>
          <a:xfrm>
            <a:off x="4402138" y="2471738"/>
            <a:ext cx="136525" cy="136525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icon-target"/>
          <p:cNvSpPr/>
          <p:nvPr/>
        </p:nvSpPr>
        <p:spPr>
          <a:xfrm>
            <a:off x="4435475" y="2505075"/>
            <a:ext cx="69850" cy="69850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cm-2"/>
          <p:cNvSpPr txBox="1"/>
          <p:nvPr/>
        </p:nvSpPr>
        <p:spPr>
          <a:xfrm>
            <a:off x="3241040" y="2596832"/>
            <a:ext cx="60325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商机</a:t>
            </a:r>
          </a:p>
        </p:txBody>
      </p:sp>
      <p:sp>
        <p:nvSpPr>
          <p:cNvPr id="39" name="cd-2-0"/>
          <p:cNvSpPr/>
          <p:nvPr/>
        </p:nvSpPr>
        <p:spPr>
          <a:xfrm>
            <a:off x="3270250" y="3028950"/>
            <a:ext cx="63500" cy="6350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ct-2-0"/>
          <p:cNvSpPr txBox="1"/>
          <p:nvPr/>
        </p:nvSpPr>
        <p:spPr>
          <a:xfrm>
            <a:off x="3390265" y="2961561"/>
            <a:ext cx="55213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需求确认</a:t>
            </a:r>
          </a:p>
        </p:txBody>
      </p:sp>
      <p:sp>
        <p:nvSpPr>
          <p:cNvPr id="41" name="cd-2-1"/>
          <p:cNvSpPr/>
          <p:nvPr/>
        </p:nvSpPr>
        <p:spPr>
          <a:xfrm>
            <a:off x="3270250" y="3270250"/>
            <a:ext cx="63500" cy="6350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ct-2-1"/>
          <p:cNvSpPr txBox="1"/>
          <p:nvPr/>
        </p:nvSpPr>
        <p:spPr>
          <a:xfrm>
            <a:off x="3390265" y="3202861"/>
            <a:ext cx="66516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方案与报价</a:t>
            </a:r>
          </a:p>
        </p:txBody>
      </p:sp>
      <p:cxnSp>
        <p:nvCxnSpPr>
          <p:cNvPr id="43" name="cl-2"/>
          <p:cNvCxnSpPr/>
          <p:nvPr/>
        </p:nvCxnSpPr>
        <p:spPr>
          <a:xfrm>
            <a:off x="3263900" y="3594100"/>
            <a:ext cx="13716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cv-2"/>
          <p:cNvSpPr txBox="1"/>
          <p:nvPr/>
        </p:nvSpPr>
        <p:spPr>
          <a:xfrm>
            <a:off x="3233420" y="3623310"/>
            <a:ext cx="51308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18</a:t>
            </a:r>
          </a:p>
        </p:txBody>
      </p:sp>
      <p:sp>
        <p:nvSpPr>
          <p:cNvPr id="45" name="cu-2"/>
          <p:cNvSpPr txBox="1"/>
          <p:nvPr/>
        </p:nvSpPr>
        <p:spPr>
          <a:xfrm>
            <a:off x="3567684" y="3783140"/>
            <a:ext cx="2171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天</a:t>
            </a:r>
          </a:p>
        </p:txBody>
      </p:sp>
      <p:sp>
        <p:nvSpPr>
          <p:cNvPr id="46" name="cp-2"/>
          <p:cNvSpPr txBox="1"/>
          <p:nvPr/>
        </p:nvSpPr>
        <p:spPr>
          <a:xfrm>
            <a:off x="4252595" y="3806666"/>
            <a:ext cx="3943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占 40%</a:t>
            </a:r>
          </a:p>
        </p:txBody>
      </p:sp>
      <p:sp>
        <p:nvSpPr>
          <p:cNvPr id="47" name="h-2"/>
          <p:cNvSpPr/>
          <p:nvPr/>
        </p:nvSpPr>
        <p:spPr>
          <a:xfrm>
            <a:off x="4857750" y="2432050"/>
            <a:ext cx="330200" cy="330200"/>
          </a:xfrm>
          <a:prstGeom prst="ellipse">
            <a:avLst/>
          </a:prstGeom>
          <a:solidFill>
            <a:srgbClr val="E0703A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ha-2"/>
          <p:cNvSpPr/>
          <p:nvPr/>
        </p:nvSpPr>
        <p:spPr>
          <a:xfrm>
            <a:off x="4965700" y="2546350"/>
            <a:ext cx="120650" cy="101600"/>
          </a:xfrm>
          <a:custGeom>
            <a:avLst/>
            <a:gdLst/>
            <a:ahLst/>
            <a:cxnLst/>
            <a:rect l="0" t="0" r="r" b="b"/>
            <a:pathLst>
              <a:path w="120650" h="101600">
                <a:moveTo>
                  <a:pt x="0" y="50800"/>
                </a:moveTo>
                <a:lnTo>
                  <a:pt x="114300" y="50800"/>
                </a:lnTo>
                <a:moveTo>
                  <a:pt x="69850" y="0"/>
                </a:moveTo>
                <a:lnTo>
                  <a:pt x="120650" y="50800"/>
                </a:lnTo>
                <a:lnTo>
                  <a:pt x="69850" y="101600"/>
                </a:lnTo>
              </a:path>
            </a:pathLst>
          </a:custGeom>
          <a:noFill/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c-3"/>
          <p:cNvSpPr/>
          <p:nvPr/>
        </p:nvSpPr>
        <p:spPr>
          <a:xfrm>
            <a:off x="5245100" y="1587500"/>
            <a:ext cx="1701800" cy="2540000"/>
          </a:xfrm>
          <a:custGeom>
            <a:avLst/>
            <a:gdLst/>
            <a:ahLst/>
            <a:cxnLst/>
            <a:rect l="0" t="0" r="r" b="b"/>
            <a:pathLst>
              <a:path w="1701800" h="2540000">
                <a:moveTo>
                  <a:pt x="152400" y="0"/>
                </a:moveTo>
                <a:lnTo>
                  <a:pt x="1549400" y="0"/>
                </a:lnTo>
                <a:cubicBezTo>
                  <a:pt x="1633601" y="0"/>
                  <a:pt x="1701800" y="68199"/>
                  <a:pt x="1701800" y="152400"/>
                </a:cubicBezTo>
                <a:lnTo>
                  <a:pt x="1701800" y="2387600"/>
                </a:lnTo>
                <a:cubicBezTo>
                  <a:pt x="1701800" y="2471801"/>
                  <a:pt x="1633601" y="2540000"/>
                  <a:pt x="1549400" y="2540000"/>
                </a:cubicBezTo>
                <a:lnTo>
                  <a:pt x="152400" y="2540000"/>
                </a:lnTo>
                <a:cubicBezTo>
                  <a:pt x="68199" y="2540000"/>
                  <a:pt x="0" y="2471801"/>
                  <a:pt x="0" y="23876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ch-3"/>
          <p:cNvSpPr/>
          <p:nvPr/>
        </p:nvSpPr>
        <p:spPr>
          <a:xfrm>
            <a:off x="5245100" y="1587500"/>
            <a:ext cx="1701800" cy="812800"/>
          </a:xfrm>
          <a:custGeom>
            <a:avLst/>
            <a:gdLst/>
            <a:ahLst/>
            <a:cxnLst/>
            <a:rect l="0" t="0" r="r" b="b"/>
            <a:pathLst>
              <a:path w="1701800" h="812800">
                <a:moveTo>
                  <a:pt x="0" y="152400"/>
                </a:moveTo>
                <a:cubicBezTo>
                  <a:pt x="0" y="69850"/>
                  <a:pt x="69850" y="0"/>
                  <a:pt x="152400" y="0"/>
                </a:cubicBezTo>
                <a:lnTo>
                  <a:pt x="1549400" y="0"/>
                </a:lnTo>
                <a:cubicBezTo>
                  <a:pt x="1631950" y="0"/>
                  <a:pt x="1701800" y="69850"/>
                  <a:pt x="1701800" y="152400"/>
                </a:cubicBezTo>
                <a:lnTo>
                  <a:pt x="1701800" y="749300"/>
                </a:lnTo>
                <a:cubicBezTo>
                  <a:pt x="1123188" y="889000"/>
                  <a:pt x="561594" y="609600"/>
                  <a:pt x="0" y="812800"/>
                </a:cubicBezTo>
                <a:close/>
              </a:path>
            </a:pathLst>
          </a:custGeom>
          <a:gradFill rotWithShape="1">
            <a:gsLst>
              <a:gs pos="0">
                <a:srgbClr val="4787C9"/>
              </a:gs>
              <a:gs pos="100000">
                <a:srgbClr val="2E77C2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cn-3"/>
          <p:cNvSpPr txBox="1"/>
          <p:nvPr/>
        </p:nvSpPr>
        <p:spPr>
          <a:xfrm>
            <a:off x="5387340" y="1682432"/>
            <a:ext cx="38481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52" name="co-3"/>
          <p:cNvSpPr txBox="1"/>
          <p:nvPr/>
        </p:nvSpPr>
        <p:spPr>
          <a:xfrm>
            <a:off x="5398008" y="2020824"/>
            <a:ext cx="71297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法务 · 销售</a:t>
            </a:r>
          </a:p>
        </p:txBody>
      </p:sp>
      <p:sp>
        <p:nvSpPr>
          <p:cNvPr id="53" name="chip"/>
          <p:cNvSpPr/>
          <p:nvPr/>
        </p:nvSpPr>
        <p:spPr>
          <a:xfrm>
            <a:off x="6400800" y="2324100"/>
            <a:ext cx="431800" cy="431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chip-ring"/>
          <p:cNvSpPr/>
          <p:nvPr/>
        </p:nvSpPr>
        <p:spPr>
          <a:xfrm>
            <a:off x="6400800" y="2324100"/>
            <a:ext cx="431800" cy="431800"/>
          </a:xfrm>
          <a:prstGeom prst="ellipse">
            <a:avLst/>
          </a:prstGeom>
          <a:noFill/>
          <a:ln w="6350" cap="rnd">
            <a:solidFill>
              <a:srgbClr val="2E77C2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icon-doc"/>
          <p:cNvSpPr/>
          <p:nvPr/>
        </p:nvSpPr>
        <p:spPr>
          <a:xfrm>
            <a:off x="6573838" y="2473325"/>
            <a:ext cx="88900" cy="133350"/>
          </a:xfrm>
          <a:custGeom>
            <a:avLst/>
            <a:gdLst/>
            <a:ahLst/>
            <a:cxnLst/>
            <a:rect l="0" t="0" r="r" b="b"/>
            <a:pathLst>
              <a:path w="88900" h="133350">
                <a:moveTo>
                  <a:pt x="0" y="0"/>
                </a:moveTo>
                <a:lnTo>
                  <a:pt x="57150" y="0"/>
                </a:lnTo>
                <a:lnTo>
                  <a:pt x="88900" y="31750"/>
                </a:lnTo>
                <a:lnTo>
                  <a:pt x="88900" y="133350"/>
                </a:lnTo>
                <a:lnTo>
                  <a:pt x="0" y="133350"/>
                </a:lnTo>
                <a:close/>
                <a:moveTo>
                  <a:pt x="57150" y="0"/>
                </a:moveTo>
                <a:lnTo>
                  <a:pt x="57150" y="31750"/>
                </a:lnTo>
                <a:lnTo>
                  <a:pt x="88900" y="31750"/>
                </a:lnTo>
                <a:moveTo>
                  <a:pt x="20638" y="69850"/>
                </a:moveTo>
                <a:lnTo>
                  <a:pt x="68262" y="69850"/>
                </a:lnTo>
                <a:moveTo>
                  <a:pt x="20638" y="96838"/>
                </a:moveTo>
                <a:lnTo>
                  <a:pt x="68262" y="96838"/>
                </a:lnTo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cm-3"/>
          <p:cNvSpPr txBox="1"/>
          <p:nvPr/>
        </p:nvSpPr>
        <p:spPr>
          <a:xfrm>
            <a:off x="5387340" y="2596832"/>
            <a:ext cx="60325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签约</a:t>
            </a:r>
          </a:p>
        </p:txBody>
      </p:sp>
      <p:sp>
        <p:nvSpPr>
          <p:cNvPr id="57" name="cd-3-0"/>
          <p:cNvSpPr/>
          <p:nvPr/>
        </p:nvSpPr>
        <p:spPr>
          <a:xfrm>
            <a:off x="5416550" y="3028950"/>
            <a:ext cx="63500" cy="635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ct-3-0"/>
          <p:cNvSpPr txBox="1"/>
          <p:nvPr/>
        </p:nvSpPr>
        <p:spPr>
          <a:xfrm>
            <a:off x="5536565" y="2961561"/>
            <a:ext cx="55213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条款审核</a:t>
            </a:r>
          </a:p>
        </p:txBody>
      </p:sp>
      <p:sp>
        <p:nvSpPr>
          <p:cNvPr id="59" name="cd-3-1"/>
          <p:cNvSpPr/>
          <p:nvPr/>
        </p:nvSpPr>
        <p:spPr>
          <a:xfrm>
            <a:off x="5416550" y="3270250"/>
            <a:ext cx="63500" cy="635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ct-3-1"/>
          <p:cNvSpPr txBox="1"/>
          <p:nvPr/>
        </p:nvSpPr>
        <p:spPr>
          <a:xfrm>
            <a:off x="5536565" y="3202861"/>
            <a:ext cx="55213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合同盖章</a:t>
            </a:r>
          </a:p>
        </p:txBody>
      </p:sp>
      <p:cxnSp>
        <p:nvCxnSpPr>
          <p:cNvPr id="61" name="cl-3"/>
          <p:cNvCxnSpPr/>
          <p:nvPr/>
        </p:nvCxnSpPr>
        <p:spPr>
          <a:xfrm>
            <a:off x="5410200" y="3594100"/>
            <a:ext cx="13716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cv-3"/>
          <p:cNvSpPr txBox="1"/>
          <p:nvPr/>
        </p:nvSpPr>
        <p:spPr>
          <a:xfrm>
            <a:off x="5379720" y="3623310"/>
            <a:ext cx="37084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7</a:t>
            </a:r>
          </a:p>
        </p:txBody>
      </p:sp>
      <p:sp>
        <p:nvSpPr>
          <p:cNvPr id="63" name="cu-3"/>
          <p:cNvSpPr txBox="1"/>
          <p:nvPr/>
        </p:nvSpPr>
        <p:spPr>
          <a:xfrm>
            <a:off x="5567934" y="3783140"/>
            <a:ext cx="2171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天</a:t>
            </a:r>
          </a:p>
        </p:txBody>
      </p:sp>
      <p:sp>
        <p:nvSpPr>
          <p:cNvPr id="64" name="cp-3"/>
          <p:cNvSpPr txBox="1"/>
          <p:nvPr/>
        </p:nvSpPr>
        <p:spPr>
          <a:xfrm>
            <a:off x="6398895" y="3806666"/>
            <a:ext cx="3943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占 16%</a:t>
            </a:r>
          </a:p>
        </p:txBody>
      </p:sp>
      <p:sp>
        <p:nvSpPr>
          <p:cNvPr id="65" name="h-3"/>
          <p:cNvSpPr/>
          <p:nvPr/>
        </p:nvSpPr>
        <p:spPr>
          <a:xfrm>
            <a:off x="7004050" y="2432050"/>
            <a:ext cx="330200" cy="330200"/>
          </a:xfrm>
          <a:prstGeom prst="ellipse">
            <a:avLst/>
          </a:prstGeom>
          <a:solidFill>
            <a:srgbClr val="E0703A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ha-3"/>
          <p:cNvSpPr/>
          <p:nvPr/>
        </p:nvSpPr>
        <p:spPr>
          <a:xfrm>
            <a:off x="7112000" y="2546350"/>
            <a:ext cx="120650" cy="101600"/>
          </a:xfrm>
          <a:custGeom>
            <a:avLst/>
            <a:gdLst/>
            <a:ahLst/>
            <a:cxnLst/>
            <a:rect l="0" t="0" r="r" b="b"/>
            <a:pathLst>
              <a:path w="120650" h="101600">
                <a:moveTo>
                  <a:pt x="0" y="50800"/>
                </a:moveTo>
                <a:lnTo>
                  <a:pt x="114300" y="50800"/>
                </a:lnTo>
                <a:moveTo>
                  <a:pt x="69850" y="0"/>
                </a:moveTo>
                <a:lnTo>
                  <a:pt x="120650" y="50800"/>
                </a:lnTo>
                <a:lnTo>
                  <a:pt x="69850" y="101600"/>
                </a:lnTo>
              </a:path>
            </a:pathLst>
          </a:custGeom>
          <a:noFill/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c-4"/>
          <p:cNvSpPr/>
          <p:nvPr/>
        </p:nvSpPr>
        <p:spPr>
          <a:xfrm>
            <a:off x="7391400" y="1587500"/>
            <a:ext cx="1701800" cy="2540000"/>
          </a:xfrm>
          <a:custGeom>
            <a:avLst/>
            <a:gdLst/>
            <a:ahLst/>
            <a:cxnLst/>
            <a:rect l="0" t="0" r="r" b="b"/>
            <a:pathLst>
              <a:path w="1701800" h="2540000">
                <a:moveTo>
                  <a:pt x="152400" y="0"/>
                </a:moveTo>
                <a:lnTo>
                  <a:pt x="1549400" y="0"/>
                </a:lnTo>
                <a:cubicBezTo>
                  <a:pt x="1633601" y="0"/>
                  <a:pt x="1701800" y="68199"/>
                  <a:pt x="1701800" y="152400"/>
                </a:cubicBezTo>
                <a:lnTo>
                  <a:pt x="1701800" y="2387600"/>
                </a:lnTo>
                <a:cubicBezTo>
                  <a:pt x="1701800" y="2471801"/>
                  <a:pt x="1633601" y="2540000"/>
                  <a:pt x="1549400" y="2540000"/>
                </a:cubicBezTo>
                <a:lnTo>
                  <a:pt x="152400" y="2540000"/>
                </a:lnTo>
                <a:cubicBezTo>
                  <a:pt x="68199" y="2540000"/>
                  <a:pt x="0" y="2471801"/>
                  <a:pt x="0" y="23876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ch-4"/>
          <p:cNvSpPr/>
          <p:nvPr/>
        </p:nvSpPr>
        <p:spPr>
          <a:xfrm>
            <a:off x="7391400" y="1587500"/>
            <a:ext cx="1701800" cy="812800"/>
          </a:xfrm>
          <a:custGeom>
            <a:avLst/>
            <a:gdLst/>
            <a:ahLst/>
            <a:cxnLst/>
            <a:rect l="0" t="0" r="r" b="b"/>
            <a:pathLst>
              <a:path w="1701800" h="812800">
                <a:moveTo>
                  <a:pt x="0" y="152400"/>
                </a:moveTo>
                <a:cubicBezTo>
                  <a:pt x="0" y="69850"/>
                  <a:pt x="69850" y="0"/>
                  <a:pt x="152400" y="0"/>
                </a:cubicBezTo>
                <a:lnTo>
                  <a:pt x="1549400" y="0"/>
                </a:lnTo>
                <a:cubicBezTo>
                  <a:pt x="1631950" y="0"/>
                  <a:pt x="1701800" y="69850"/>
                  <a:pt x="1701800" y="152400"/>
                </a:cubicBezTo>
                <a:lnTo>
                  <a:pt x="1701800" y="749300"/>
                </a:lnTo>
                <a:cubicBezTo>
                  <a:pt x="1123188" y="889000"/>
                  <a:pt x="561594" y="609600"/>
                  <a:pt x="0" y="812800"/>
                </a:cubicBezTo>
                <a:close/>
              </a:path>
            </a:pathLst>
          </a:custGeom>
          <a:gradFill rotWithShape="1">
            <a:gsLst>
              <a:gs pos="0">
                <a:srgbClr val="5CA1DC"/>
              </a:gs>
              <a:gs pos="100000">
                <a:srgbClr val="4694D7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cn-4"/>
          <p:cNvSpPr txBox="1"/>
          <p:nvPr/>
        </p:nvSpPr>
        <p:spPr>
          <a:xfrm>
            <a:off x="7533640" y="1682432"/>
            <a:ext cx="38481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70" name="co-4"/>
          <p:cNvSpPr txBox="1"/>
          <p:nvPr/>
        </p:nvSpPr>
        <p:spPr>
          <a:xfrm>
            <a:off x="7544308" y="2020824"/>
            <a:ext cx="5232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交付中心</a:t>
            </a:r>
          </a:p>
        </p:txBody>
      </p:sp>
      <p:sp>
        <p:nvSpPr>
          <p:cNvPr id="71" name="chip"/>
          <p:cNvSpPr/>
          <p:nvPr/>
        </p:nvSpPr>
        <p:spPr>
          <a:xfrm>
            <a:off x="8547100" y="2324100"/>
            <a:ext cx="431800" cy="431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chip-ring"/>
          <p:cNvSpPr/>
          <p:nvPr/>
        </p:nvSpPr>
        <p:spPr>
          <a:xfrm>
            <a:off x="8547100" y="2324100"/>
            <a:ext cx="431800" cy="431800"/>
          </a:xfrm>
          <a:prstGeom prst="ellipse">
            <a:avLst/>
          </a:prstGeom>
          <a:noFill/>
          <a:ln w="6350" cap="rnd">
            <a:solidFill>
              <a:srgbClr val="4694D7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icon-tools"/>
          <p:cNvSpPr/>
          <p:nvPr/>
        </p:nvSpPr>
        <p:spPr>
          <a:xfrm>
            <a:off x="8702739" y="2475979"/>
            <a:ext cx="112648" cy="111646"/>
          </a:xfrm>
          <a:custGeom>
            <a:avLst/>
            <a:gdLst/>
            <a:ahLst/>
            <a:cxnLst/>
            <a:rect l="0" t="0" r="r" b="b"/>
            <a:pathLst>
              <a:path w="112648" h="111646">
                <a:moveTo>
                  <a:pt x="20573" y="3696"/>
                </a:moveTo>
                <a:lnTo>
                  <a:pt x="44386" y="27508"/>
                </a:lnTo>
                <a:lnTo>
                  <a:pt x="26923" y="44971"/>
                </a:lnTo>
                <a:lnTo>
                  <a:pt x="3111" y="21158"/>
                </a:lnTo>
                <a:cubicBezTo>
                  <a:pt x="-2604" y="33096"/>
                  <a:pt x="-318" y="47384"/>
                  <a:pt x="8889" y="56909"/>
                </a:cubicBezTo>
                <a:cubicBezTo>
                  <a:pt x="18033" y="66497"/>
                  <a:pt x="32194" y="69291"/>
                  <a:pt x="44386" y="64021"/>
                </a:cubicBezTo>
                <a:lnTo>
                  <a:pt x="92011" y="111646"/>
                </a:lnTo>
                <a:lnTo>
                  <a:pt x="112648" y="91008"/>
                </a:lnTo>
                <a:lnTo>
                  <a:pt x="65023" y="43383"/>
                </a:lnTo>
                <a:cubicBezTo>
                  <a:pt x="69913" y="31001"/>
                  <a:pt x="66547" y="16904"/>
                  <a:pt x="56641" y="8014"/>
                </a:cubicBezTo>
                <a:cubicBezTo>
                  <a:pt x="46735" y="-813"/>
                  <a:pt x="32321" y="-2527"/>
                  <a:pt x="20573" y="3696"/>
                </a:cubicBezTo>
                <a:close/>
              </a:path>
            </a:pathLst>
          </a:cu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cm-4"/>
          <p:cNvSpPr txBox="1"/>
          <p:nvPr/>
        </p:nvSpPr>
        <p:spPr>
          <a:xfrm>
            <a:off x="7533640" y="2596832"/>
            <a:ext cx="60325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交付</a:t>
            </a:r>
          </a:p>
        </p:txBody>
      </p:sp>
      <p:sp>
        <p:nvSpPr>
          <p:cNvPr id="75" name="cd-4-0"/>
          <p:cNvSpPr/>
          <p:nvPr/>
        </p:nvSpPr>
        <p:spPr>
          <a:xfrm>
            <a:off x="7562850" y="3028950"/>
            <a:ext cx="63500" cy="63500"/>
          </a:xfrm>
          <a:prstGeom prst="ellipse">
            <a:avLst/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ct-4-0"/>
          <p:cNvSpPr txBox="1"/>
          <p:nvPr/>
        </p:nvSpPr>
        <p:spPr>
          <a:xfrm>
            <a:off x="7682865" y="2961561"/>
            <a:ext cx="55213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实施上线</a:t>
            </a:r>
          </a:p>
        </p:txBody>
      </p:sp>
      <p:sp>
        <p:nvSpPr>
          <p:cNvPr id="77" name="cd-4-1"/>
          <p:cNvSpPr/>
          <p:nvPr/>
        </p:nvSpPr>
        <p:spPr>
          <a:xfrm>
            <a:off x="7562850" y="3270250"/>
            <a:ext cx="63500" cy="63500"/>
          </a:xfrm>
          <a:prstGeom prst="ellipse">
            <a:avLst/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ct-4-1"/>
          <p:cNvSpPr txBox="1"/>
          <p:nvPr/>
        </p:nvSpPr>
        <p:spPr>
          <a:xfrm>
            <a:off x="7682865" y="3202861"/>
            <a:ext cx="55213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客户验收</a:t>
            </a:r>
          </a:p>
        </p:txBody>
      </p:sp>
      <p:cxnSp>
        <p:nvCxnSpPr>
          <p:cNvPr id="79" name="cl-4"/>
          <p:cNvCxnSpPr/>
          <p:nvPr/>
        </p:nvCxnSpPr>
        <p:spPr>
          <a:xfrm>
            <a:off x="7556500" y="3594100"/>
            <a:ext cx="13716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0" name="cv-4"/>
          <p:cNvSpPr txBox="1"/>
          <p:nvPr/>
        </p:nvSpPr>
        <p:spPr>
          <a:xfrm>
            <a:off x="7526020" y="3623310"/>
            <a:ext cx="51308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12</a:t>
            </a:r>
          </a:p>
        </p:txBody>
      </p:sp>
      <p:sp>
        <p:nvSpPr>
          <p:cNvPr id="81" name="cu-4"/>
          <p:cNvSpPr txBox="1"/>
          <p:nvPr/>
        </p:nvSpPr>
        <p:spPr>
          <a:xfrm>
            <a:off x="7860284" y="3783140"/>
            <a:ext cx="2171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天</a:t>
            </a:r>
          </a:p>
        </p:txBody>
      </p:sp>
      <p:sp>
        <p:nvSpPr>
          <p:cNvPr id="82" name="cp-4"/>
          <p:cNvSpPr txBox="1"/>
          <p:nvPr/>
        </p:nvSpPr>
        <p:spPr>
          <a:xfrm>
            <a:off x="8545195" y="3806666"/>
            <a:ext cx="3943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占 27%</a:t>
            </a:r>
          </a:p>
        </p:txBody>
      </p:sp>
      <p:sp>
        <p:nvSpPr>
          <p:cNvPr id="83" name="h-4"/>
          <p:cNvSpPr/>
          <p:nvPr/>
        </p:nvSpPr>
        <p:spPr>
          <a:xfrm>
            <a:off x="9150350" y="2432050"/>
            <a:ext cx="330200" cy="330200"/>
          </a:xfrm>
          <a:prstGeom prst="ellipse">
            <a:avLst/>
          </a:prstGeom>
          <a:solidFill>
            <a:srgbClr val="E0703A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ha-4"/>
          <p:cNvSpPr/>
          <p:nvPr/>
        </p:nvSpPr>
        <p:spPr>
          <a:xfrm>
            <a:off x="9258300" y="2546350"/>
            <a:ext cx="120650" cy="101600"/>
          </a:xfrm>
          <a:custGeom>
            <a:avLst/>
            <a:gdLst/>
            <a:ahLst/>
            <a:cxnLst/>
            <a:rect l="0" t="0" r="r" b="b"/>
            <a:pathLst>
              <a:path w="120650" h="101600">
                <a:moveTo>
                  <a:pt x="0" y="50800"/>
                </a:moveTo>
                <a:lnTo>
                  <a:pt x="114300" y="50800"/>
                </a:lnTo>
                <a:moveTo>
                  <a:pt x="69850" y="0"/>
                </a:moveTo>
                <a:lnTo>
                  <a:pt x="120650" y="50800"/>
                </a:lnTo>
                <a:lnTo>
                  <a:pt x="69850" y="101600"/>
                </a:lnTo>
              </a:path>
            </a:pathLst>
          </a:custGeom>
          <a:noFill/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c-5"/>
          <p:cNvSpPr/>
          <p:nvPr/>
        </p:nvSpPr>
        <p:spPr>
          <a:xfrm>
            <a:off x="9537700" y="1587500"/>
            <a:ext cx="1701800" cy="2540000"/>
          </a:xfrm>
          <a:custGeom>
            <a:avLst/>
            <a:gdLst/>
            <a:ahLst/>
            <a:cxnLst/>
            <a:rect l="0" t="0" r="r" b="b"/>
            <a:pathLst>
              <a:path w="1701800" h="2540000">
                <a:moveTo>
                  <a:pt x="152400" y="0"/>
                </a:moveTo>
                <a:lnTo>
                  <a:pt x="1549400" y="0"/>
                </a:lnTo>
                <a:cubicBezTo>
                  <a:pt x="1633601" y="0"/>
                  <a:pt x="1701800" y="68199"/>
                  <a:pt x="1701800" y="152400"/>
                </a:cubicBezTo>
                <a:lnTo>
                  <a:pt x="1701800" y="2387600"/>
                </a:lnTo>
                <a:cubicBezTo>
                  <a:pt x="1701800" y="2471801"/>
                  <a:pt x="1633601" y="2540000"/>
                  <a:pt x="1549400" y="2540000"/>
                </a:cubicBezTo>
                <a:lnTo>
                  <a:pt x="152400" y="2540000"/>
                </a:lnTo>
                <a:cubicBezTo>
                  <a:pt x="68199" y="2540000"/>
                  <a:pt x="0" y="2471801"/>
                  <a:pt x="0" y="23876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ch-5"/>
          <p:cNvSpPr/>
          <p:nvPr/>
        </p:nvSpPr>
        <p:spPr>
          <a:xfrm>
            <a:off x="9537700" y="1587500"/>
            <a:ext cx="1701800" cy="812800"/>
          </a:xfrm>
          <a:custGeom>
            <a:avLst/>
            <a:gdLst/>
            <a:ahLst/>
            <a:cxnLst/>
            <a:rect l="0" t="0" r="r" b="b"/>
            <a:pathLst>
              <a:path w="1701800" h="812800">
                <a:moveTo>
                  <a:pt x="0" y="152400"/>
                </a:moveTo>
                <a:cubicBezTo>
                  <a:pt x="0" y="69850"/>
                  <a:pt x="69850" y="0"/>
                  <a:pt x="152400" y="0"/>
                </a:cubicBezTo>
                <a:lnTo>
                  <a:pt x="1549400" y="0"/>
                </a:lnTo>
                <a:cubicBezTo>
                  <a:pt x="1631950" y="0"/>
                  <a:pt x="1701800" y="69850"/>
                  <a:pt x="1701800" y="152400"/>
                </a:cubicBezTo>
                <a:lnTo>
                  <a:pt x="1701800" y="749300"/>
                </a:lnTo>
                <a:cubicBezTo>
                  <a:pt x="1123188" y="889000"/>
                  <a:pt x="561594" y="609600"/>
                  <a:pt x="0" y="812800"/>
                </a:cubicBezTo>
                <a:close/>
              </a:path>
            </a:pathLst>
          </a:custGeom>
          <a:gradFill rotWithShape="1">
            <a:gsLst>
              <a:gs pos="0">
                <a:srgbClr val="5CA1DC"/>
              </a:gs>
              <a:gs pos="100000">
                <a:srgbClr val="4694D7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cn-5"/>
          <p:cNvSpPr txBox="1"/>
          <p:nvPr/>
        </p:nvSpPr>
        <p:spPr>
          <a:xfrm>
            <a:off x="9679940" y="1682432"/>
            <a:ext cx="38481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88" name="co-5"/>
          <p:cNvSpPr txBox="1"/>
          <p:nvPr/>
        </p:nvSpPr>
        <p:spPr>
          <a:xfrm>
            <a:off x="9690608" y="2020824"/>
            <a:ext cx="41529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财务部</a:t>
            </a:r>
          </a:p>
        </p:txBody>
      </p:sp>
      <p:sp>
        <p:nvSpPr>
          <p:cNvPr id="89" name="chip"/>
          <p:cNvSpPr/>
          <p:nvPr/>
        </p:nvSpPr>
        <p:spPr>
          <a:xfrm>
            <a:off x="10693400" y="2324100"/>
            <a:ext cx="431800" cy="431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chip-ring"/>
          <p:cNvSpPr/>
          <p:nvPr/>
        </p:nvSpPr>
        <p:spPr>
          <a:xfrm>
            <a:off x="10693400" y="2324100"/>
            <a:ext cx="431800" cy="431800"/>
          </a:xfrm>
          <a:prstGeom prst="ellipse">
            <a:avLst/>
          </a:prstGeom>
          <a:noFill/>
          <a:ln w="6350" cap="rnd">
            <a:solidFill>
              <a:srgbClr val="4694D7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icon-coin"/>
          <p:cNvSpPr/>
          <p:nvPr/>
        </p:nvSpPr>
        <p:spPr>
          <a:xfrm>
            <a:off x="10858500" y="2495550"/>
            <a:ext cx="101600" cy="88900"/>
          </a:xfrm>
          <a:custGeom>
            <a:avLst/>
            <a:gdLst/>
            <a:ahLst/>
            <a:cxnLst/>
            <a:rect l="0" t="0" r="r" b="b"/>
            <a:pathLst>
              <a:path w="101600" h="88900">
                <a:moveTo>
                  <a:pt x="50800" y="0"/>
                </a:moveTo>
                <a:cubicBezTo>
                  <a:pt x="22225" y="0"/>
                  <a:pt x="0" y="7938"/>
                  <a:pt x="0" y="19050"/>
                </a:cubicBezTo>
                <a:cubicBezTo>
                  <a:pt x="0" y="30162"/>
                  <a:pt x="22225" y="38100"/>
                  <a:pt x="50800" y="38100"/>
                </a:cubicBezTo>
                <a:cubicBezTo>
                  <a:pt x="79375" y="38100"/>
                  <a:pt x="101600" y="30162"/>
                  <a:pt x="101600" y="19050"/>
                </a:cubicBezTo>
                <a:cubicBezTo>
                  <a:pt x="101600" y="7938"/>
                  <a:pt x="79375" y="0"/>
                  <a:pt x="50800" y="0"/>
                </a:cubicBezTo>
                <a:close/>
                <a:moveTo>
                  <a:pt x="0" y="19050"/>
                </a:moveTo>
                <a:lnTo>
                  <a:pt x="0" y="69850"/>
                </a:lnTo>
                <a:cubicBezTo>
                  <a:pt x="0" y="80962"/>
                  <a:pt x="22225" y="88900"/>
                  <a:pt x="50800" y="88900"/>
                </a:cubicBezTo>
                <a:cubicBezTo>
                  <a:pt x="79375" y="88900"/>
                  <a:pt x="101600" y="80962"/>
                  <a:pt x="101600" y="69850"/>
                </a:cubicBezTo>
                <a:lnTo>
                  <a:pt x="101600" y="19050"/>
                </a:lnTo>
              </a:path>
            </a:pathLst>
          </a:cu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cm-5"/>
          <p:cNvSpPr txBox="1"/>
          <p:nvPr/>
        </p:nvSpPr>
        <p:spPr>
          <a:xfrm>
            <a:off x="9679940" y="2596832"/>
            <a:ext cx="60325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回款</a:t>
            </a:r>
          </a:p>
        </p:txBody>
      </p:sp>
      <p:sp>
        <p:nvSpPr>
          <p:cNvPr id="93" name="cd-5-0"/>
          <p:cNvSpPr/>
          <p:nvPr/>
        </p:nvSpPr>
        <p:spPr>
          <a:xfrm>
            <a:off x="9709150" y="3028950"/>
            <a:ext cx="63500" cy="63500"/>
          </a:xfrm>
          <a:prstGeom prst="ellipse">
            <a:avLst/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ct-5-0"/>
          <p:cNvSpPr txBox="1"/>
          <p:nvPr/>
        </p:nvSpPr>
        <p:spPr>
          <a:xfrm>
            <a:off x="9829165" y="2961561"/>
            <a:ext cx="32607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开票</a:t>
            </a:r>
          </a:p>
        </p:txBody>
      </p:sp>
      <p:sp>
        <p:nvSpPr>
          <p:cNvPr id="95" name="cd-5-1"/>
          <p:cNvSpPr/>
          <p:nvPr/>
        </p:nvSpPr>
        <p:spPr>
          <a:xfrm>
            <a:off x="9709150" y="3270250"/>
            <a:ext cx="63500" cy="63500"/>
          </a:xfrm>
          <a:prstGeom prst="ellipse">
            <a:avLst/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ct-5-1"/>
          <p:cNvSpPr txBox="1"/>
          <p:nvPr/>
        </p:nvSpPr>
        <p:spPr>
          <a:xfrm>
            <a:off x="9829165" y="3202861"/>
            <a:ext cx="55213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到账核销</a:t>
            </a:r>
          </a:p>
        </p:txBody>
      </p:sp>
      <p:cxnSp>
        <p:nvCxnSpPr>
          <p:cNvPr id="97" name="cl-5"/>
          <p:cNvCxnSpPr/>
          <p:nvPr/>
        </p:nvCxnSpPr>
        <p:spPr>
          <a:xfrm>
            <a:off x="9702800" y="3594100"/>
            <a:ext cx="13716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8" name="cv-5"/>
          <p:cNvSpPr txBox="1"/>
          <p:nvPr/>
        </p:nvSpPr>
        <p:spPr>
          <a:xfrm>
            <a:off x="9672320" y="3623310"/>
            <a:ext cx="37084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  <p:sp>
        <p:nvSpPr>
          <p:cNvPr id="99" name="cu-5"/>
          <p:cNvSpPr txBox="1"/>
          <p:nvPr/>
        </p:nvSpPr>
        <p:spPr>
          <a:xfrm>
            <a:off x="9860534" y="3783140"/>
            <a:ext cx="2171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天</a:t>
            </a:r>
          </a:p>
        </p:txBody>
      </p:sp>
      <p:sp>
        <p:nvSpPr>
          <p:cNvPr id="100" name="cp-5"/>
          <p:cNvSpPr txBox="1"/>
          <p:nvPr/>
        </p:nvSpPr>
        <p:spPr>
          <a:xfrm>
            <a:off x="10691495" y="3806666"/>
            <a:ext cx="3943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占 11%</a:t>
            </a:r>
          </a:p>
        </p:txBody>
      </p:sp>
      <p:sp>
        <p:nvSpPr>
          <p:cNvPr id="101" name="sla-h"/>
          <p:cNvSpPr txBox="1"/>
          <p:nvPr/>
        </p:nvSpPr>
        <p:spPr>
          <a:xfrm>
            <a:off x="935736" y="4399470"/>
            <a:ext cx="7353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交接标准</a:t>
            </a:r>
          </a:p>
        </p:txBody>
      </p:sp>
      <p:cxnSp>
        <p:nvCxnSpPr>
          <p:cNvPr id="102" name="sl-1"/>
          <p:cNvCxnSpPr/>
          <p:nvPr/>
        </p:nvCxnSpPr>
        <p:spPr>
          <a:xfrm>
            <a:off x="2876550" y="2768600"/>
            <a:ext cx="0" cy="1587500"/>
          </a:xfrm>
          <a:prstGeom prst="line">
            <a:avLst/>
          </a:prstGeom>
          <a:ln w="9525" cap="rnd">
            <a:solidFill>
              <a:srgbClr val="E0703A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3" name="sp-1"/>
          <p:cNvSpPr/>
          <p:nvPr/>
        </p:nvSpPr>
        <p:spPr>
          <a:xfrm>
            <a:off x="2241550" y="4381500"/>
            <a:ext cx="1270000" cy="304800"/>
          </a:xfrm>
          <a:custGeom>
            <a:avLst/>
            <a:gdLst/>
            <a:ahLst/>
            <a:cxnLst/>
            <a:rect l="0" t="0" r="r" b="b"/>
            <a:pathLst>
              <a:path w="1270000" h="304800">
                <a:moveTo>
                  <a:pt x="152400" y="0"/>
                </a:moveTo>
                <a:lnTo>
                  <a:pt x="1117600" y="0"/>
                </a:lnTo>
                <a:cubicBezTo>
                  <a:pt x="1201801" y="0"/>
                  <a:pt x="1270000" y="68199"/>
                  <a:pt x="1270000" y="152400"/>
                </a:cubicBezTo>
                <a:lnTo>
                  <a:pt x="1270000" y="152400"/>
                </a:lnTo>
                <a:cubicBezTo>
                  <a:pt x="1270000" y="236601"/>
                  <a:pt x="1201801" y="304800"/>
                  <a:pt x="1117600" y="304800"/>
                </a:cubicBezTo>
                <a:lnTo>
                  <a:pt x="152400" y="304800"/>
                </a:lnTo>
                <a:cubicBezTo>
                  <a:pt x="68199" y="304800"/>
                  <a:pt x="0" y="236601"/>
                  <a:pt x="0" y="1524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FCEFE7"/>
          </a:solidFill>
          <a:ln w="762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4" name="st-1"/>
          <p:cNvSpPr txBox="1"/>
          <p:nvPr/>
        </p:nvSpPr>
        <p:spPr>
          <a:xfrm>
            <a:off x="2491486" y="4452874"/>
            <a:ext cx="770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B8531F"/>
                </a:solidFill>
                <a:latin typeface="微软雅黑"/>
                <a:ea typeface="微软雅黑"/>
                <a:cs typeface="微软雅黑"/>
              </a:rPr>
              <a:t>24 小时内首呼</a:t>
            </a:r>
          </a:p>
        </p:txBody>
      </p:sp>
      <p:cxnSp>
        <p:nvCxnSpPr>
          <p:cNvPr id="105" name="sl-2"/>
          <p:cNvCxnSpPr/>
          <p:nvPr/>
        </p:nvCxnSpPr>
        <p:spPr>
          <a:xfrm>
            <a:off x="5022850" y="2768600"/>
            <a:ext cx="0" cy="1587500"/>
          </a:xfrm>
          <a:prstGeom prst="line">
            <a:avLst/>
          </a:prstGeom>
          <a:ln w="9525" cap="rnd">
            <a:solidFill>
              <a:srgbClr val="E0703A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6" name="sp-2"/>
          <p:cNvSpPr/>
          <p:nvPr/>
        </p:nvSpPr>
        <p:spPr>
          <a:xfrm>
            <a:off x="4387850" y="4381500"/>
            <a:ext cx="1270000" cy="304800"/>
          </a:xfrm>
          <a:custGeom>
            <a:avLst/>
            <a:gdLst/>
            <a:ahLst/>
            <a:cxnLst/>
            <a:rect l="0" t="0" r="r" b="b"/>
            <a:pathLst>
              <a:path w="1270000" h="304800">
                <a:moveTo>
                  <a:pt x="152400" y="0"/>
                </a:moveTo>
                <a:lnTo>
                  <a:pt x="1117600" y="0"/>
                </a:lnTo>
                <a:cubicBezTo>
                  <a:pt x="1201801" y="0"/>
                  <a:pt x="1270000" y="68199"/>
                  <a:pt x="1270000" y="152400"/>
                </a:cubicBezTo>
                <a:lnTo>
                  <a:pt x="1270000" y="152400"/>
                </a:lnTo>
                <a:cubicBezTo>
                  <a:pt x="1270000" y="236601"/>
                  <a:pt x="1201801" y="304800"/>
                  <a:pt x="1117600" y="304800"/>
                </a:cubicBezTo>
                <a:lnTo>
                  <a:pt x="152400" y="304800"/>
                </a:lnTo>
                <a:cubicBezTo>
                  <a:pt x="68199" y="304800"/>
                  <a:pt x="0" y="236601"/>
                  <a:pt x="0" y="1524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FCEFE7"/>
          </a:solidFill>
          <a:ln w="762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7" name="st-2"/>
          <p:cNvSpPr txBox="1"/>
          <p:nvPr/>
        </p:nvSpPr>
        <p:spPr>
          <a:xfrm>
            <a:off x="4637786" y="4452874"/>
            <a:ext cx="770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B8531F"/>
                </a:solidFill>
                <a:latin typeface="微软雅黑"/>
                <a:ea typeface="微软雅黑"/>
                <a:cs typeface="微软雅黑"/>
              </a:rPr>
              <a:t>48 小时出报价</a:t>
            </a:r>
          </a:p>
        </p:txBody>
      </p:sp>
      <p:cxnSp>
        <p:nvCxnSpPr>
          <p:cNvPr id="108" name="sl-3"/>
          <p:cNvCxnSpPr/>
          <p:nvPr/>
        </p:nvCxnSpPr>
        <p:spPr>
          <a:xfrm>
            <a:off x="7169150" y="2768600"/>
            <a:ext cx="0" cy="1587500"/>
          </a:xfrm>
          <a:prstGeom prst="line">
            <a:avLst/>
          </a:prstGeom>
          <a:ln w="9525" cap="rnd">
            <a:solidFill>
              <a:srgbClr val="E0703A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9" name="sp-3"/>
          <p:cNvSpPr/>
          <p:nvPr/>
        </p:nvSpPr>
        <p:spPr>
          <a:xfrm>
            <a:off x="6534150" y="4381500"/>
            <a:ext cx="1270000" cy="304800"/>
          </a:xfrm>
          <a:custGeom>
            <a:avLst/>
            <a:gdLst/>
            <a:ahLst/>
            <a:cxnLst/>
            <a:rect l="0" t="0" r="r" b="b"/>
            <a:pathLst>
              <a:path w="1270000" h="304800">
                <a:moveTo>
                  <a:pt x="152400" y="0"/>
                </a:moveTo>
                <a:lnTo>
                  <a:pt x="1117600" y="0"/>
                </a:lnTo>
                <a:cubicBezTo>
                  <a:pt x="1201801" y="0"/>
                  <a:pt x="1270000" y="68199"/>
                  <a:pt x="1270000" y="152400"/>
                </a:cubicBezTo>
                <a:lnTo>
                  <a:pt x="1270000" y="152400"/>
                </a:lnTo>
                <a:cubicBezTo>
                  <a:pt x="1270000" y="236601"/>
                  <a:pt x="1201801" y="304800"/>
                  <a:pt x="1117600" y="304800"/>
                </a:cubicBezTo>
                <a:lnTo>
                  <a:pt x="152400" y="304800"/>
                </a:lnTo>
                <a:cubicBezTo>
                  <a:pt x="68199" y="304800"/>
                  <a:pt x="0" y="236601"/>
                  <a:pt x="0" y="1524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FCEFE7"/>
          </a:solidFill>
          <a:ln w="762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0" name="st-3"/>
          <p:cNvSpPr txBox="1"/>
          <p:nvPr/>
        </p:nvSpPr>
        <p:spPr>
          <a:xfrm>
            <a:off x="6869430" y="4452874"/>
            <a:ext cx="5994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B8531F"/>
                </a:solidFill>
                <a:latin typeface="微软雅黑"/>
                <a:ea typeface="微软雅黑"/>
                <a:cs typeface="微软雅黑"/>
              </a:rPr>
              <a:t>当天建项目</a:t>
            </a:r>
          </a:p>
        </p:txBody>
      </p:sp>
      <p:cxnSp>
        <p:nvCxnSpPr>
          <p:cNvPr id="111" name="sl-4"/>
          <p:cNvCxnSpPr/>
          <p:nvPr/>
        </p:nvCxnSpPr>
        <p:spPr>
          <a:xfrm>
            <a:off x="9315450" y="2768600"/>
            <a:ext cx="0" cy="1587500"/>
          </a:xfrm>
          <a:prstGeom prst="line">
            <a:avLst/>
          </a:prstGeom>
          <a:ln w="9525" cap="rnd">
            <a:solidFill>
              <a:srgbClr val="E0703A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" name="sp-4"/>
          <p:cNvSpPr/>
          <p:nvPr/>
        </p:nvSpPr>
        <p:spPr>
          <a:xfrm>
            <a:off x="8680450" y="4381500"/>
            <a:ext cx="1270000" cy="304800"/>
          </a:xfrm>
          <a:custGeom>
            <a:avLst/>
            <a:gdLst/>
            <a:ahLst/>
            <a:cxnLst/>
            <a:rect l="0" t="0" r="r" b="b"/>
            <a:pathLst>
              <a:path w="1270000" h="304800">
                <a:moveTo>
                  <a:pt x="152400" y="0"/>
                </a:moveTo>
                <a:lnTo>
                  <a:pt x="1117600" y="0"/>
                </a:lnTo>
                <a:cubicBezTo>
                  <a:pt x="1201801" y="0"/>
                  <a:pt x="1270000" y="68199"/>
                  <a:pt x="1270000" y="152400"/>
                </a:cubicBezTo>
                <a:lnTo>
                  <a:pt x="1270000" y="152400"/>
                </a:lnTo>
                <a:cubicBezTo>
                  <a:pt x="1270000" y="236601"/>
                  <a:pt x="1201801" y="304800"/>
                  <a:pt x="1117600" y="304800"/>
                </a:cubicBezTo>
                <a:lnTo>
                  <a:pt x="152400" y="304800"/>
                </a:lnTo>
                <a:cubicBezTo>
                  <a:pt x="68199" y="304800"/>
                  <a:pt x="0" y="236601"/>
                  <a:pt x="0" y="1524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FCEFE7"/>
          </a:solidFill>
          <a:ln w="762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3" name="st-4"/>
          <p:cNvSpPr txBox="1"/>
          <p:nvPr/>
        </p:nvSpPr>
        <p:spPr>
          <a:xfrm>
            <a:off x="8964930" y="4452874"/>
            <a:ext cx="7010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B8531F"/>
                </a:solidFill>
                <a:latin typeface="微软雅黑"/>
                <a:ea typeface="微软雅黑"/>
                <a:cs typeface="微软雅黑"/>
              </a:rPr>
              <a:t>验收单即开票</a:t>
            </a:r>
          </a:p>
        </p:txBody>
      </p:sp>
      <p:sp>
        <p:nvSpPr>
          <p:cNvPr id="114" name="bar-h"/>
          <p:cNvSpPr txBox="1"/>
          <p:nvPr/>
        </p:nvSpPr>
        <p:spPr>
          <a:xfrm>
            <a:off x="940308" y="4840224"/>
            <a:ext cx="139776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全流程 45 天 · 周期拆解</a:t>
            </a:r>
          </a:p>
        </p:txBody>
      </p:sp>
      <p:sp>
        <p:nvSpPr>
          <p:cNvPr id="115" name="b-1"/>
          <p:cNvSpPr/>
          <p:nvPr/>
        </p:nvSpPr>
        <p:spPr>
          <a:xfrm>
            <a:off x="965200" y="5080000"/>
            <a:ext cx="660400" cy="279400"/>
          </a:xfrm>
          <a:custGeom>
            <a:avLst/>
            <a:gdLst/>
            <a:ahLst/>
            <a:cxnLst/>
            <a:rect l="0" t="0" r="r" b="b"/>
            <a:pathLst>
              <a:path w="660400" h="2794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215900"/>
                </a:lnTo>
                <a:cubicBezTo>
                  <a:pt x="660400" y="250952"/>
                  <a:pt x="631952" y="279400"/>
                  <a:pt x="596900" y="279400"/>
                </a:cubicBezTo>
                <a:lnTo>
                  <a:pt x="63500" y="279400"/>
                </a:lnTo>
                <a:cubicBezTo>
                  <a:pt x="28448" y="279400"/>
                  <a:pt x="0" y="250952"/>
                  <a:pt x="0" y="2159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3E8F">
              <a:alpha val="8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6" name="bt-1"/>
          <p:cNvSpPr txBox="1"/>
          <p:nvPr/>
        </p:nvSpPr>
        <p:spPr>
          <a:xfrm>
            <a:off x="1178242" y="5146516"/>
            <a:ext cx="2343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3天</a:t>
            </a:r>
          </a:p>
        </p:txBody>
      </p:sp>
      <p:sp>
        <p:nvSpPr>
          <p:cNvPr id="117" name="b-2"/>
          <p:cNvSpPr/>
          <p:nvPr/>
        </p:nvSpPr>
        <p:spPr>
          <a:xfrm>
            <a:off x="1651000" y="5080000"/>
            <a:ext cx="4089400" cy="279400"/>
          </a:xfrm>
          <a:custGeom>
            <a:avLst/>
            <a:gdLst/>
            <a:ahLst/>
            <a:cxnLst/>
            <a:rect l="0" t="0" r="r" b="b"/>
            <a:pathLst>
              <a:path w="4089400" h="279400">
                <a:moveTo>
                  <a:pt x="63500" y="0"/>
                </a:moveTo>
                <a:lnTo>
                  <a:pt x="4025900" y="0"/>
                </a:lnTo>
                <a:cubicBezTo>
                  <a:pt x="4060952" y="0"/>
                  <a:pt x="4089400" y="28448"/>
                  <a:pt x="4089400" y="63500"/>
                </a:cubicBezTo>
                <a:lnTo>
                  <a:pt x="4089400" y="215900"/>
                </a:lnTo>
                <a:cubicBezTo>
                  <a:pt x="4089400" y="250952"/>
                  <a:pt x="4060952" y="279400"/>
                  <a:pt x="4025900" y="279400"/>
                </a:cubicBezTo>
                <a:lnTo>
                  <a:pt x="63500" y="279400"/>
                </a:lnTo>
                <a:cubicBezTo>
                  <a:pt x="28448" y="279400"/>
                  <a:pt x="0" y="250952"/>
                  <a:pt x="0" y="2159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8" name="bt-2"/>
          <p:cNvSpPr txBox="1"/>
          <p:nvPr/>
        </p:nvSpPr>
        <p:spPr>
          <a:xfrm>
            <a:off x="3429952" y="5146516"/>
            <a:ext cx="5314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商机 18天</a:t>
            </a:r>
          </a:p>
        </p:txBody>
      </p:sp>
      <p:sp>
        <p:nvSpPr>
          <p:cNvPr id="119" name="b-3"/>
          <p:cNvSpPr/>
          <p:nvPr/>
        </p:nvSpPr>
        <p:spPr>
          <a:xfrm>
            <a:off x="5765800" y="5080000"/>
            <a:ext cx="1574800" cy="279400"/>
          </a:xfrm>
          <a:custGeom>
            <a:avLst/>
            <a:gdLst/>
            <a:ahLst/>
            <a:cxnLst/>
            <a:rect l="0" t="0" r="r" b="b"/>
            <a:pathLst>
              <a:path w="1574800" h="279400">
                <a:moveTo>
                  <a:pt x="63500" y="0"/>
                </a:moveTo>
                <a:lnTo>
                  <a:pt x="1511300" y="0"/>
                </a:lnTo>
                <a:cubicBezTo>
                  <a:pt x="1546352" y="0"/>
                  <a:pt x="1574800" y="28448"/>
                  <a:pt x="1574800" y="63500"/>
                </a:cubicBezTo>
                <a:lnTo>
                  <a:pt x="1574800" y="215900"/>
                </a:lnTo>
                <a:cubicBezTo>
                  <a:pt x="1574800" y="250952"/>
                  <a:pt x="1546352" y="279400"/>
                  <a:pt x="1511300" y="279400"/>
                </a:cubicBezTo>
                <a:lnTo>
                  <a:pt x="63500" y="279400"/>
                </a:lnTo>
                <a:cubicBezTo>
                  <a:pt x="28448" y="279400"/>
                  <a:pt x="0" y="250952"/>
                  <a:pt x="0" y="2159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2E77C2">
              <a:alpha val="8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0" name="bt-3"/>
          <p:cNvSpPr txBox="1"/>
          <p:nvPr/>
        </p:nvSpPr>
        <p:spPr>
          <a:xfrm>
            <a:off x="6314122" y="5146516"/>
            <a:ext cx="47815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签约 7天</a:t>
            </a:r>
          </a:p>
        </p:txBody>
      </p:sp>
      <p:sp>
        <p:nvSpPr>
          <p:cNvPr id="121" name="b-4"/>
          <p:cNvSpPr/>
          <p:nvPr/>
        </p:nvSpPr>
        <p:spPr>
          <a:xfrm>
            <a:off x="7366000" y="5080000"/>
            <a:ext cx="2717800" cy="279400"/>
          </a:xfrm>
          <a:custGeom>
            <a:avLst/>
            <a:gdLst/>
            <a:ahLst/>
            <a:cxnLst/>
            <a:rect l="0" t="0" r="r" b="b"/>
            <a:pathLst>
              <a:path w="2717800" h="279400">
                <a:moveTo>
                  <a:pt x="63500" y="0"/>
                </a:moveTo>
                <a:lnTo>
                  <a:pt x="2654300" y="0"/>
                </a:lnTo>
                <a:cubicBezTo>
                  <a:pt x="2689352" y="0"/>
                  <a:pt x="2717800" y="28448"/>
                  <a:pt x="2717800" y="63500"/>
                </a:cubicBezTo>
                <a:lnTo>
                  <a:pt x="2717800" y="215900"/>
                </a:lnTo>
                <a:cubicBezTo>
                  <a:pt x="2717800" y="250952"/>
                  <a:pt x="2689352" y="279400"/>
                  <a:pt x="2654300" y="279400"/>
                </a:cubicBezTo>
                <a:lnTo>
                  <a:pt x="63500" y="279400"/>
                </a:lnTo>
                <a:cubicBezTo>
                  <a:pt x="28448" y="279400"/>
                  <a:pt x="0" y="250952"/>
                  <a:pt x="0" y="2159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4694D7">
              <a:alpha val="8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2" name="bt-4"/>
          <p:cNvSpPr txBox="1"/>
          <p:nvPr/>
        </p:nvSpPr>
        <p:spPr>
          <a:xfrm>
            <a:off x="8459152" y="5146516"/>
            <a:ext cx="5314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交付 12天</a:t>
            </a:r>
          </a:p>
        </p:txBody>
      </p:sp>
      <p:sp>
        <p:nvSpPr>
          <p:cNvPr id="123" name="b-5"/>
          <p:cNvSpPr/>
          <p:nvPr/>
        </p:nvSpPr>
        <p:spPr>
          <a:xfrm>
            <a:off x="10109200" y="5080000"/>
            <a:ext cx="1117600" cy="279400"/>
          </a:xfrm>
          <a:custGeom>
            <a:avLst/>
            <a:gdLst/>
            <a:ahLst/>
            <a:cxnLst/>
            <a:rect l="0" t="0" r="r" b="b"/>
            <a:pathLst>
              <a:path w="1117600" h="279400">
                <a:moveTo>
                  <a:pt x="63500" y="0"/>
                </a:moveTo>
                <a:lnTo>
                  <a:pt x="1054100" y="0"/>
                </a:lnTo>
                <a:cubicBezTo>
                  <a:pt x="1089152" y="0"/>
                  <a:pt x="1117600" y="28448"/>
                  <a:pt x="1117600" y="63500"/>
                </a:cubicBezTo>
                <a:lnTo>
                  <a:pt x="1117600" y="215900"/>
                </a:lnTo>
                <a:cubicBezTo>
                  <a:pt x="1117600" y="250952"/>
                  <a:pt x="1089152" y="279400"/>
                  <a:pt x="1054100" y="279400"/>
                </a:cubicBezTo>
                <a:lnTo>
                  <a:pt x="63500" y="279400"/>
                </a:lnTo>
                <a:cubicBezTo>
                  <a:pt x="28448" y="279400"/>
                  <a:pt x="0" y="250952"/>
                  <a:pt x="0" y="2159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4694D7">
              <a:alpha val="8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4" name="bt-5"/>
          <p:cNvSpPr txBox="1"/>
          <p:nvPr/>
        </p:nvSpPr>
        <p:spPr>
          <a:xfrm>
            <a:off x="10428922" y="5146516"/>
            <a:ext cx="47815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回款 5天</a:t>
            </a:r>
          </a:p>
        </p:txBody>
      </p:sp>
      <p:sp>
        <p:nvSpPr>
          <p:cNvPr id="125" name="sum"/>
          <p:cNvSpPr/>
          <p:nvPr/>
        </p:nvSpPr>
        <p:spPr>
          <a:xfrm>
            <a:off x="952500" y="5715000"/>
            <a:ext cx="10287000" cy="444500"/>
          </a:xfrm>
          <a:custGeom>
            <a:avLst/>
            <a:gdLst/>
            <a:ahLst/>
            <a:cxnLst/>
            <a:rect l="0" t="0" r="r" b="b"/>
            <a:pathLst>
              <a:path w="10287000" h="4445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55600"/>
                </a:lnTo>
                <a:cubicBezTo>
                  <a:pt x="10287000" y="404686"/>
                  <a:pt x="10247186" y="444500"/>
                  <a:pt x="10198100" y="444500"/>
                </a:cubicBezTo>
                <a:lnTo>
                  <a:pt x="88900" y="444500"/>
                </a:lnTo>
                <a:cubicBezTo>
                  <a:pt x="39815" y="444500"/>
                  <a:pt x="0" y="404686"/>
                  <a:pt x="0" y="3556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6" name="sum-bar"/>
          <p:cNvSpPr/>
          <p:nvPr/>
        </p:nvSpPr>
        <p:spPr>
          <a:xfrm>
            <a:off x="952500" y="5715000"/>
            <a:ext cx="31750" cy="4445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7" name="sum-h"/>
          <p:cNvSpPr txBox="1"/>
          <p:nvPr/>
        </p:nvSpPr>
        <p:spPr>
          <a:xfrm>
            <a:off x="1142746" y="5867432"/>
            <a:ext cx="459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提速点</a:t>
            </a:r>
          </a:p>
        </p:txBody>
      </p:sp>
      <p:sp>
        <p:nvSpPr>
          <p:cNvPr id="128" name="sum-p"/>
          <p:cNvSpPr txBox="1"/>
          <p:nvPr/>
        </p:nvSpPr>
        <p:spPr>
          <a:xfrm>
            <a:off x="1790065" y="5863511"/>
            <a:ext cx="41259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商机阶段占全流程 40%——缩短周期先从销售跟进下手，其次压实四个交接标准。</a:t>
            </a:r>
          </a:p>
        </p:txBody>
      </p:sp>
      <p:cxnSp>
        <p:nvCxnSpPr>
          <p:cNvPr id="129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0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接力流程 · 线索到回款</a:t>
            </a:r>
          </a:p>
        </p:txBody>
      </p:sp>
      <p:sp>
        <p:nvSpPr>
          <p:cNvPr id="131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9946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并行开发，合流上线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08165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FORK &amp; JOIN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780399" y="673132"/>
            <a:ext cx="2840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需求冻结后三条线同时开工，最长的那条决定上线日期</a:t>
            </a:r>
          </a:p>
        </p:txBody>
      </p:sp>
      <p:cxnSp>
        <p:nvCxnSpPr>
          <p:cNvPr id="10" name="wg-0"/>
          <p:cNvCxnSpPr/>
          <p:nvPr/>
        </p:nvCxnSpPr>
        <p:spPr>
          <a:xfrm>
            <a:off x="2984500" y="1663700"/>
            <a:ext cx="0" cy="347980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wt-0"/>
          <p:cNvSpPr txBox="1"/>
          <p:nvPr/>
        </p:nvSpPr>
        <p:spPr>
          <a:xfrm>
            <a:off x="3294698" y="154606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W1</a:t>
            </a:r>
          </a:p>
        </p:txBody>
      </p:sp>
      <p:cxnSp>
        <p:nvCxnSpPr>
          <p:cNvPr id="12" name="wg-1"/>
          <p:cNvCxnSpPr/>
          <p:nvPr/>
        </p:nvCxnSpPr>
        <p:spPr>
          <a:xfrm>
            <a:off x="3797300" y="1663700"/>
            <a:ext cx="0" cy="347980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wt-1"/>
          <p:cNvSpPr txBox="1"/>
          <p:nvPr/>
        </p:nvSpPr>
        <p:spPr>
          <a:xfrm>
            <a:off x="4107498" y="154606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W2</a:t>
            </a:r>
          </a:p>
        </p:txBody>
      </p:sp>
      <p:cxnSp>
        <p:nvCxnSpPr>
          <p:cNvPr id="14" name="wg-2"/>
          <p:cNvCxnSpPr/>
          <p:nvPr/>
        </p:nvCxnSpPr>
        <p:spPr>
          <a:xfrm>
            <a:off x="4610100" y="1663700"/>
            <a:ext cx="0" cy="347980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wt-2"/>
          <p:cNvSpPr txBox="1"/>
          <p:nvPr/>
        </p:nvSpPr>
        <p:spPr>
          <a:xfrm>
            <a:off x="4920298" y="154606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W3</a:t>
            </a:r>
          </a:p>
        </p:txBody>
      </p:sp>
      <p:cxnSp>
        <p:nvCxnSpPr>
          <p:cNvPr id="16" name="wg-3"/>
          <p:cNvCxnSpPr/>
          <p:nvPr/>
        </p:nvCxnSpPr>
        <p:spPr>
          <a:xfrm>
            <a:off x="5422900" y="1663700"/>
            <a:ext cx="0" cy="347980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wt-3"/>
          <p:cNvSpPr txBox="1"/>
          <p:nvPr/>
        </p:nvSpPr>
        <p:spPr>
          <a:xfrm>
            <a:off x="5733098" y="154606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W4</a:t>
            </a:r>
          </a:p>
        </p:txBody>
      </p:sp>
      <p:cxnSp>
        <p:nvCxnSpPr>
          <p:cNvPr id="18" name="wg-4"/>
          <p:cNvCxnSpPr/>
          <p:nvPr/>
        </p:nvCxnSpPr>
        <p:spPr>
          <a:xfrm>
            <a:off x="6235700" y="1663700"/>
            <a:ext cx="0" cy="347980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wt-4"/>
          <p:cNvSpPr txBox="1"/>
          <p:nvPr/>
        </p:nvSpPr>
        <p:spPr>
          <a:xfrm>
            <a:off x="6545897" y="154606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W5</a:t>
            </a:r>
          </a:p>
        </p:txBody>
      </p:sp>
      <p:cxnSp>
        <p:nvCxnSpPr>
          <p:cNvPr id="20" name="wg-5"/>
          <p:cNvCxnSpPr/>
          <p:nvPr/>
        </p:nvCxnSpPr>
        <p:spPr>
          <a:xfrm>
            <a:off x="7048500" y="1663700"/>
            <a:ext cx="0" cy="347980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wt-5"/>
          <p:cNvSpPr txBox="1"/>
          <p:nvPr/>
        </p:nvSpPr>
        <p:spPr>
          <a:xfrm>
            <a:off x="7358697" y="154606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W6</a:t>
            </a:r>
          </a:p>
        </p:txBody>
      </p:sp>
      <p:cxnSp>
        <p:nvCxnSpPr>
          <p:cNvPr id="22" name="wg-6"/>
          <p:cNvCxnSpPr/>
          <p:nvPr/>
        </p:nvCxnSpPr>
        <p:spPr>
          <a:xfrm>
            <a:off x="7861300" y="1663700"/>
            <a:ext cx="0" cy="347980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start"/>
          <p:cNvSpPr/>
          <p:nvPr/>
        </p:nvSpPr>
        <p:spPr>
          <a:xfrm>
            <a:off x="1028700" y="3124200"/>
            <a:ext cx="990600" cy="990600"/>
          </a:xfrm>
          <a:prstGeom prst="ellipse">
            <a:avLst/>
          </a:pr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icon-flag"/>
          <p:cNvSpPr/>
          <p:nvPr/>
        </p:nvSpPr>
        <p:spPr>
          <a:xfrm>
            <a:off x="1476375" y="3392488"/>
            <a:ext cx="76200" cy="130175"/>
          </a:xfrm>
          <a:custGeom>
            <a:avLst/>
            <a:gdLst/>
            <a:ahLst/>
            <a:cxnLst/>
            <a:rect l="0" t="0" r="r" b="b"/>
            <a:pathLst>
              <a:path w="76200" h="130175">
                <a:moveTo>
                  <a:pt x="0" y="130175"/>
                </a:moveTo>
                <a:lnTo>
                  <a:pt x="0" y="0"/>
                </a:lnTo>
                <a:moveTo>
                  <a:pt x="0" y="6350"/>
                </a:moveTo>
                <a:lnTo>
                  <a:pt x="76200" y="6350"/>
                </a:lnTo>
                <a:lnTo>
                  <a:pt x="63500" y="31750"/>
                </a:lnTo>
                <a:lnTo>
                  <a:pt x="76200" y="57150"/>
                </a:lnTo>
                <a:lnTo>
                  <a:pt x="0" y="57150"/>
                </a:lnTo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start-t"/>
          <p:cNvSpPr txBox="1"/>
          <p:nvPr/>
        </p:nvSpPr>
        <p:spPr>
          <a:xfrm>
            <a:off x="1200150" y="3564255"/>
            <a:ext cx="6477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需求冻结</a:t>
            </a:r>
          </a:p>
        </p:txBody>
      </p:sp>
      <p:sp>
        <p:nvSpPr>
          <p:cNvPr id="26" name="start-d"/>
          <p:cNvSpPr txBox="1"/>
          <p:nvPr/>
        </p:nvSpPr>
        <p:spPr>
          <a:xfrm>
            <a:off x="1320419" y="3776408"/>
            <a:ext cx="4071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第 0 周</a:t>
            </a:r>
          </a:p>
        </p:txBody>
      </p:sp>
      <p:sp>
        <p:nvSpPr>
          <p:cNvPr id="27" name="fk-1"/>
          <p:cNvSpPr/>
          <p:nvPr/>
        </p:nvSpPr>
        <p:spPr>
          <a:xfrm>
            <a:off x="2019300" y="2476500"/>
            <a:ext cx="927100" cy="1143000"/>
          </a:xfrm>
          <a:custGeom>
            <a:avLst/>
            <a:gdLst/>
            <a:ahLst/>
            <a:cxnLst/>
            <a:rect l="0" t="0" r="r" b="b"/>
            <a:pathLst>
              <a:path w="927100" h="1143000">
                <a:moveTo>
                  <a:pt x="0" y="1143000"/>
                </a:moveTo>
                <a:cubicBezTo>
                  <a:pt x="457200" y="1143000"/>
                  <a:pt x="266700" y="0"/>
                  <a:pt x="927100" y="0"/>
                </a:cubicBezTo>
              </a:path>
            </a:pathLst>
          </a:custGeom>
          <a:noFill/>
          <a:ln w="19050" cap="rnd">
            <a:solidFill>
              <a:srgbClr val="2E77C2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tn-1"/>
          <p:cNvSpPr txBox="1"/>
          <p:nvPr/>
        </p:nvSpPr>
        <p:spPr>
          <a:xfrm>
            <a:off x="2965450" y="19121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前端</a:t>
            </a:r>
          </a:p>
        </p:txBody>
      </p:sp>
      <p:sp>
        <p:nvSpPr>
          <p:cNvPr id="29" name="tt-1"/>
          <p:cNvSpPr txBox="1"/>
          <p:nvPr/>
        </p:nvSpPr>
        <p:spPr>
          <a:xfrm>
            <a:off x="3417570" y="1990566"/>
            <a:ext cx="11334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体验组 · 5 人 · 4 周</a:t>
            </a:r>
          </a:p>
        </p:txBody>
      </p:sp>
      <p:sp>
        <p:nvSpPr>
          <p:cNvPr id="30" name="sp-1-0"/>
          <p:cNvSpPr/>
          <p:nvPr/>
        </p:nvSpPr>
        <p:spPr>
          <a:xfrm>
            <a:off x="3003550" y="2260600"/>
            <a:ext cx="1181100" cy="431800"/>
          </a:xfrm>
          <a:custGeom>
            <a:avLst/>
            <a:gdLst/>
            <a:ahLst/>
            <a:cxnLst/>
            <a:rect l="0" t="0" r="r" b="b"/>
            <a:pathLst>
              <a:path w="1181100" h="431800">
                <a:moveTo>
                  <a:pt x="101600" y="0"/>
                </a:moveTo>
                <a:lnTo>
                  <a:pt x="1079500" y="0"/>
                </a:lnTo>
                <a:cubicBezTo>
                  <a:pt x="1135634" y="0"/>
                  <a:pt x="1181100" y="45466"/>
                  <a:pt x="1181100" y="101600"/>
                </a:cubicBezTo>
                <a:lnTo>
                  <a:pt x="1181100" y="330200"/>
                </a:lnTo>
                <a:cubicBezTo>
                  <a:pt x="1181100" y="386334"/>
                  <a:pt x="1135634" y="431800"/>
                  <a:pt x="1079500" y="431800"/>
                </a:cubicBezTo>
                <a:lnTo>
                  <a:pt x="101600" y="431800"/>
                </a:lnTo>
                <a:cubicBezTo>
                  <a:pt x="45466" y="431800"/>
                  <a:pt x="0" y="386334"/>
                  <a:pt x="0" y="330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4385C8"/>
              </a:gs>
              <a:gs pos="100000">
                <a:srgbClr val="2E77C2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st-1-0"/>
          <p:cNvSpPr txBox="1"/>
          <p:nvPr/>
        </p:nvSpPr>
        <p:spPr>
          <a:xfrm>
            <a:off x="3316922" y="2387632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页面框架</a:t>
            </a:r>
          </a:p>
        </p:txBody>
      </p:sp>
      <p:sp>
        <p:nvSpPr>
          <p:cNvPr id="32" name="sp-1-1"/>
          <p:cNvSpPr/>
          <p:nvPr/>
        </p:nvSpPr>
        <p:spPr>
          <a:xfrm>
            <a:off x="4222750" y="2260600"/>
            <a:ext cx="1181100" cy="431800"/>
          </a:xfrm>
          <a:custGeom>
            <a:avLst/>
            <a:gdLst/>
            <a:ahLst/>
            <a:cxnLst/>
            <a:rect l="0" t="0" r="r" b="b"/>
            <a:pathLst>
              <a:path w="1181100" h="431800">
                <a:moveTo>
                  <a:pt x="101600" y="0"/>
                </a:moveTo>
                <a:lnTo>
                  <a:pt x="1079500" y="0"/>
                </a:lnTo>
                <a:cubicBezTo>
                  <a:pt x="1135634" y="0"/>
                  <a:pt x="1181100" y="45466"/>
                  <a:pt x="1181100" y="101600"/>
                </a:cubicBezTo>
                <a:lnTo>
                  <a:pt x="1181100" y="330200"/>
                </a:lnTo>
                <a:cubicBezTo>
                  <a:pt x="1181100" y="386334"/>
                  <a:pt x="1135634" y="431800"/>
                  <a:pt x="1079500" y="431800"/>
                </a:cubicBezTo>
                <a:lnTo>
                  <a:pt x="101600" y="431800"/>
                </a:lnTo>
                <a:cubicBezTo>
                  <a:pt x="45466" y="431800"/>
                  <a:pt x="0" y="386334"/>
                  <a:pt x="0" y="330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5C95CF"/>
              </a:gs>
              <a:gs pos="100000">
                <a:srgbClr val="4787C9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st-1-1"/>
          <p:cNvSpPr txBox="1"/>
          <p:nvPr/>
        </p:nvSpPr>
        <p:spPr>
          <a:xfrm>
            <a:off x="4536122" y="2387632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交互开发</a:t>
            </a:r>
          </a:p>
        </p:txBody>
      </p:sp>
      <p:sp>
        <p:nvSpPr>
          <p:cNvPr id="34" name="sp-1-2"/>
          <p:cNvSpPr/>
          <p:nvPr/>
        </p:nvSpPr>
        <p:spPr>
          <a:xfrm>
            <a:off x="5441950" y="2260600"/>
            <a:ext cx="774700" cy="431800"/>
          </a:xfrm>
          <a:custGeom>
            <a:avLst/>
            <a:gdLst/>
            <a:ahLst/>
            <a:cxnLst/>
            <a:rect l="0" t="0" r="r" b="b"/>
            <a:pathLst>
              <a:path w="774700" h="431800">
                <a:moveTo>
                  <a:pt x="101600" y="0"/>
                </a:moveTo>
                <a:lnTo>
                  <a:pt x="673100" y="0"/>
                </a:lnTo>
                <a:cubicBezTo>
                  <a:pt x="729234" y="0"/>
                  <a:pt x="774700" y="45466"/>
                  <a:pt x="774700" y="101600"/>
                </a:cubicBezTo>
                <a:lnTo>
                  <a:pt x="774700" y="330200"/>
                </a:lnTo>
                <a:cubicBezTo>
                  <a:pt x="774700" y="386334"/>
                  <a:pt x="729234" y="431800"/>
                  <a:pt x="673100" y="431800"/>
                </a:cubicBezTo>
                <a:lnTo>
                  <a:pt x="101600" y="431800"/>
                </a:lnTo>
                <a:cubicBezTo>
                  <a:pt x="45466" y="431800"/>
                  <a:pt x="0" y="386334"/>
                  <a:pt x="0" y="330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75A5D7"/>
              </a:gs>
              <a:gs pos="100000">
                <a:srgbClr val="6098D1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st-1-2"/>
          <p:cNvSpPr txBox="1"/>
          <p:nvPr/>
        </p:nvSpPr>
        <p:spPr>
          <a:xfrm>
            <a:off x="5666422" y="2387632"/>
            <a:ext cx="325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埋点</a:t>
            </a:r>
          </a:p>
        </p:txBody>
      </p:sp>
      <p:sp>
        <p:nvSpPr>
          <p:cNvPr id="36" name="fl-1"/>
          <p:cNvSpPr/>
          <p:nvPr/>
        </p:nvSpPr>
        <p:spPr>
          <a:xfrm>
            <a:off x="6254750" y="2260600"/>
            <a:ext cx="1587500" cy="431800"/>
          </a:xfrm>
          <a:custGeom>
            <a:avLst/>
            <a:gdLst/>
            <a:ahLst/>
            <a:cxnLst/>
            <a:rect l="0" t="0" r="r" b="b"/>
            <a:pathLst>
              <a:path w="1587500" h="431800">
                <a:moveTo>
                  <a:pt x="101600" y="0"/>
                </a:moveTo>
                <a:lnTo>
                  <a:pt x="1485900" y="0"/>
                </a:lnTo>
                <a:cubicBezTo>
                  <a:pt x="1542034" y="0"/>
                  <a:pt x="1587500" y="45466"/>
                  <a:pt x="1587500" y="101600"/>
                </a:cubicBezTo>
                <a:lnTo>
                  <a:pt x="1587500" y="330200"/>
                </a:lnTo>
                <a:cubicBezTo>
                  <a:pt x="1587500" y="386334"/>
                  <a:pt x="1542034" y="431800"/>
                  <a:pt x="1485900" y="431800"/>
                </a:cubicBezTo>
                <a:lnTo>
                  <a:pt x="101600" y="431800"/>
                </a:lnTo>
                <a:cubicBezTo>
                  <a:pt x="45466" y="431800"/>
                  <a:pt x="0" y="386334"/>
                  <a:pt x="0" y="330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noFill/>
          <a:ln w="10160" cap="rnd">
            <a:solidFill>
              <a:srgbClr val="2E77C2">
                <a:alpha val="6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flt-1"/>
          <p:cNvSpPr txBox="1"/>
          <p:nvPr/>
        </p:nvSpPr>
        <p:spPr>
          <a:xfrm>
            <a:off x="6782753" y="2396966"/>
            <a:ext cx="5314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浮动 2 周</a:t>
            </a:r>
          </a:p>
        </p:txBody>
      </p:sp>
      <p:sp>
        <p:nvSpPr>
          <p:cNvPr id="38" name="jn-1"/>
          <p:cNvSpPr/>
          <p:nvPr/>
        </p:nvSpPr>
        <p:spPr>
          <a:xfrm>
            <a:off x="7899400" y="2476500"/>
            <a:ext cx="292100" cy="1143000"/>
          </a:xfrm>
          <a:custGeom>
            <a:avLst/>
            <a:gdLst/>
            <a:ahLst/>
            <a:cxnLst/>
            <a:rect l="0" t="0" r="r" b="b"/>
            <a:pathLst>
              <a:path w="292100" h="1143000">
                <a:moveTo>
                  <a:pt x="0" y="0"/>
                </a:moveTo>
                <a:cubicBezTo>
                  <a:pt x="215900" y="0"/>
                  <a:pt x="88900" y="1143000"/>
                  <a:pt x="292100" y="1143000"/>
                </a:cubicBezTo>
              </a:path>
            </a:pathLst>
          </a:custGeom>
          <a:noFill/>
          <a:ln w="19050" cap="rnd">
            <a:solidFill>
              <a:srgbClr val="2E77C2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fk-2"/>
          <p:cNvSpPr/>
          <p:nvPr/>
        </p:nvSpPr>
        <p:spPr>
          <a:xfrm>
            <a:off x="2019300" y="3619500"/>
            <a:ext cx="927100" cy="3175"/>
          </a:xfrm>
          <a:custGeom>
            <a:avLst/>
            <a:gdLst/>
            <a:ahLst/>
            <a:cxnLst/>
            <a:rect l="0" t="0" r="r" b="b"/>
            <a:pathLst>
              <a:path w="927100" h="3175">
                <a:moveTo>
                  <a:pt x="0" y="0"/>
                </a:moveTo>
                <a:cubicBezTo>
                  <a:pt x="457200" y="0"/>
                  <a:pt x="266700" y="0"/>
                  <a:pt x="927100" y="0"/>
                </a:cubicBezTo>
              </a:path>
            </a:pathLst>
          </a:custGeom>
          <a:noFill/>
          <a:ln w="25400" cap="rnd">
            <a:solidFill>
              <a:srgbClr val="E0703A">
                <a:alpha val="9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tn-2"/>
          <p:cNvSpPr txBox="1"/>
          <p:nvPr/>
        </p:nvSpPr>
        <p:spPr>
          <a:xfrm>
            <a:off x="2965450" y="30551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后端</a:t>
            </a:r>
          </a:p>
        </p:txBody>
      </p:sp>
      <p:sp>
        <p:nvSpPr>
          <p:cNvPr id="41" name="tt-2"/>
          <p:cNvSpPr txBox="1"/>
          <p:nvPr/>
        </p:nvSpPr>
        <p:spPr>
          <a:xfrm>
            <a:off x="3417570" y="3133566"/>
            <a:ext cx="11334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平台组 · 8 人 · 6 周</a:t>
            </a:r>
          </a:p>
        </p:txBody>
      </p:sp>
      <p:sp>
        <p:nvSpPr>
          <p:cNvPr id="42" name="sp-2-0"/>
          <p:cNvSpPr/>
          <p:nvPr/>
        </p:nvSpPr>
        <p:spPr>
          <a:xfrm>
            <a:off x="3003550" y="3403600"/>
            <a:ext cx="1181100" cy="431800"/>
          </a:xfrm>
          <a:custGeom>
            <a:avLst/>
            <a:gdLst/>
            <a:ahLst/>
            <a:cxnLst/>
            <a:rect l="0" t="0" r="r" b="b"/>
            <a:pathLst>
              <a:path w="1181100" h="431800">
                <a:moveTo>
                  <a:pt x="101600" y="0"/>
                </a:moveTo>
                <a:lnTo>
                  <a:pt x="1079500" y="0"/>
                </a:lnTo>
                <a:cubicBezTo>
                  <a:pt x="1135634" y="0"/>
                  <a:pt x="1181100" y="45466"/>
                  <a:pt x="1181100" y="101600"/>
                </a:cubicBezTo>
                <a:lnTo>
                  <a:pt x="1181100" y="330200"/>
                </a:lnTo>
                <a:cubicBezTo>
                  <a:pt x="1181100" y="386334"/>
                  <a:pt x="1135634" y="431800"/>
                  <a:pt x="1079500" y="431800"/>
                </a:cubicBezTo>
                <a:lnTo>
                  <a:pt x="101600" y="431800"/>
                </a:lnTo>
                <a:cubicBezTo>
                  <a:pt x="45466" y="431800"/>
                  <a:pt x="0" y="386334"/>
                  <a:pt x="0" y="330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E37E4E"/>
              </a:gs>
              <a:gs pos="100000">
                <a:srgbClr val="E0703A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st-2-0"/>
          <p:cNvSpPr txBox="1"/>
          <p:nvPr/>
        </p:nvSpPr>
        <p:spPr>
          <a:xfrm>
            <a:off x="3316922" y="3530632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接口设计</a:t>
            </a:r>
          </a:p>
        </p:txBody>
      </p:sp>
      <p:sp>
        <p:nvSpPr>
          <p:cNvPr id="44" name="sp-2-1"/>
          <p:cNvSpPr/>
          <p:nvPr/>
        </p:nvSpPr>
        <p:spPr>
          <a:xfrm>
            <a:off x="4222750" y="3403600"/>
            <a:ext cx="2400300" cy="431800"/>
          </a:xfrm>
          <a:custGeom>
            <a:avLst/>
            <a:gdLst/>
            <a:ahLst/>
            <a:cxnLst/>
            <a:rect l="0" t="0" r="r" b="b"/>
            <a:pathLst>
              <a:path w="2400300" h="431800">
                <a:moveTo>
                  <a:pt x="101600" y="0"/>
                </a:moveTo>
                <a:lnTo>
                  <a:pt x="2298700" y="0"/>
                </a:lnTo>
                <a:cubicBezTo>
                  <a:pt x="2354834" y="0"/>
                  <a:pt x="2400300" y="45466"/>
                  <a:pt x="2400300" y="101600"/>
                </a:cubicBezTo>
                <a:lnTo>
                  <a:pt x="2400300" y="330200"/>
                </a:lnTo>
                <a:cubicBezTo>
                  <a:pt x="2400300" y="386334"/>
                  <a:pt x="2354834" y="431800"/>
                  <a:pt x="2298700" y="431800"/>
                </a:cubicBezTo>
                <a:lnTo>
                  <a:pt x="101600" y="431800"/>
                </a:lnTo>
                <a:cubicBezTo>
                  <a:pt x="45466" y="431800"/>
                  <a:pt x="0" y="386334"/>
                  <a:pt x="0" y="330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E78F65"/>
              </a:gs>
              <a:gs pos="100000">
                <a:srgbClr val="E4815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st-2-1"/>
          <p:cNvSpPr txBox="1"/>
          <p:nvPr/>
        </p:nvSpPr>
        <p:spPr>
          <a:xfrm>
            <a:off x="5145722" y="3530632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核心服务</a:t>
            </a:r>
          </a:p>
        </p:txBody>
      </p:sp>
      <p:sp>
        <p:nvSpPr>
          <p:cNvPr id="46" name="sp-2-2"/>
          <p:cNvSpPr/>
          <p:nvPr/>
        </p:nvSpPr>
        <p:spPr>
          <a:xfrm>
            <a:off x="6661150" y="3403600"/>
            <a:ext cx="1181100" cy="431800"/>
          </a:xfrm>
          <a:custGeom>
            <a:avLst/>
            <a:gdLst/>
            <a:ahLst/>
            <a:cxnLst/>
            <a:rect l="0" t="0" r="r" b="b"/>
            <a:pathLst>
              <a:path w="1181100" h="431800">
                <a:moveTo>
                  <a:pt x="101600" y="0"/>
                </a:moveTo>
                <a:lnTo>
                  <a:pt x="1079500" y="0"/>
                </a:lnTo>
                <a:cubicBezTo>
                  <a:pt x="1135634" y="0"/>
                  <a:pt x="1181100" y="45466"/>
                  <a:pt x="1181100" y="101600"/>
                </a:cubicBezTo>
                <a:lnTo>
                  <a:pt x="1181100" y="330200"/>
                </a:lnTo>
                <a:cubicBezTo>
                  <a:pt x="1181100" y="386334"/>
                  <a:pt x="1135634" y="431800"/>
                  <a:pt x="1079500" y="431800"/>
                </a:cubicBezTo>
                <a:lnTo>
                  <a:pt x="101600" y="431800"/>
                </a:lnTo>
                <a:cubicBezTo>
                  <a:pt x="45466" y="431800"/>
                  <a:pt x="0" y="386334"/>
                  <a:pt x="0" y="330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EBA17D"/>
              </a:gs>
              <a:gs pos="100000">
                <a:srgbClr val="E79269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st-2-2"/>
          <p:cNvSpPr txBox="1"/>
          <p:nvPr/>
        </p:nvSpPr>
        <p:spPr>
          <a:xfrm>
            <a:off x="6974522" y="3530632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性能压测</a:t>
            </a:r>
          </a:p>
        </p:txBody>
      </p:sp>
      <p:sp>
        <p:nvSpPr>
          <p:cNvPr id="48" name="jn-2"/>
          <p:cNvSpPr/>
          <p:nvPr/>
        </p:nvSpPr>
        <p:spPr>
          <a:xfrm>
            <a:off x="7899400" y="3619500"/>
            <a:ext cx="292100" cy="3175"/>
          </a:xfrm>
          <a:custGeom>
            <a:avLst/>
            <a:gdLst/>
            <a:ahLst/>
            <a:cxnLst/>
            <a:rect l="0" t="0" r="r" b="b"/>
            <a:pathLst>
              <a:path w="292100" h="3175">
                <a:moveTo>
                  <a:pt x="0" y="0"/>
                </a:moveTo>
                <a:cubicBezTo>
                  <a:pt x="215900" y="0"/>
                  <a:pt x="88900" y="0"/>
                  <a:pt x="292100" y="0"/>
                </a:cubicBezTo>
              </a:path>
            </a:pathLst>
          </a:custGeom>
          <a:noFill/>
          <a:ln w="25400" cap="rnd">
            <a:solidFill>
              <a:srgbClr val="E0703A">
                <a:alpha val="9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fk-3"/>
          <p:cNvSpPr/>
          <p:nvPr/>
        </p:nvSpPr>
        <p:spPr>
          <a:xfrm>
            <a:off x="2019300" y="3619500"/>
            <a:ext cx="927100" cy="1143000"/>
          </a:xfrm>
          <a:custGeom>
            <a:avLst/>
            <a:gdLst/>
            <a:ahLst/>
            <a:cxnLst/>
            <a:rect l="0" t="0" r="r" b="b"/>
            <a:pathLst>
              <a:path w="927100" h="1143000">
                <a:moveTo>
                  <a:pt x="0" y="0"/>
                </a:moveTo>
                <a:cubicBezTo>
                  <a:pt x="457200" y="0"/>
                  <a:pt x="266700" y="1143000"/>
                  <a:pt x="927100" y="1143000"/>
                </a:cubicBezTo>
              </a:path>
            </a:pathLst>
          </a:custGeom>
          <a:noFill/>
          <a:ln w="19050" cap="rnd">
            <a:solidFill>
              <a:srgbClr val="134C9C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tn-3"/>
          <p:cNvSpPr txBox="1"/>
          <p:nvPr/>
        </p:nvSpPr>
        <p:spPr>
          <a:xfrm>
            <a:off x="2965450" y="41981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</a:t>
            </a:r>
          </a:p>
        </p:txBody>
      </p:sp>
      <p:sp>
        <p:nvSpPr>
          <p:cNvPr id="51" name="tt-3"/>
          <p:cNvSpPr txBox="1"/>
          <p:nvPr/>
        </p:nvSpPr>
        <p:spPr>
          <a:xfrm>
            <a:off x="3417570" y="4276566"/>
            <a:ext cx="11334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数据组 · 3 人 · 5 周</a:t>
            </a:r>
          </a:p>
        </p:txBody>
      </p:sp>
      <p:sp>
        <p:nvSpPr>
          <p:cNvPr id="52" name="sp-3-0"/>
          <p:cNvSpPr/>
          <p:nvPr/>
        </p:nvSpPr>
        <p:spPr>
          <a:xfrm>
            <a:off x="3003550" y="4546600"/>
            <a:ext cx="1587500" cy="431800"/>
          </a:xfrm>
          <a:custGeom>
            <a:avLst/>
            <a:gdLst/>
            <a:ahLst/>
            <a:cxnLst/>
            <a:rect l="0" t="0" r="r" b="b"/>
            <a:pathLst>
              <a:path w="1587500" h="431800">
                <a:moveTo>
                  <a:pt x="101600" y="0"/>
                </a:moveTo>
                <a:lnTo>
                  <a:pt x="1485900" y="0"/>
                </a:lnTo>
                <a:cubicBezTo>
                  <a:pt x="1542034" y="0"/>
                  <a:pt x="1587500" y="45466"/>
                  <a:pt x="1587500" y="101600"/>
                </a:cubicBezTo>
                <a:lnTo>
                  <a:pt x="1587500" y="330200"/>
                </a:lnTo>
                <a:cubicBezTo>
                  <a:pt x="1587500" y="386334"/>
                  <a:pt x="1542034" y="431800"/>
                  <a:pt x="1485900" y="431800"/>
                </a:cubicBezTo>
                <a:lnTo>
                  <a:pt x="101600" y="431800"/>
                </a:lnTo>
                <a:cubicBezTo>
                  <a:pt x="45466" y="431800"/>
                  <a:pt x="0" y="386334"/>
                  <a:pt x="0" y="330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2B5EA6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st-3-0"/>
          <p:cNvSpPr txBox="1"/>
          <p:nvPr/>
        </p:nvSpPr>
        <p:spPr>
          <a:xfrm>
            <a:off x="3520122" y="4673632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模型迁移</a:t>
            </a:r>
          </a:p>
        </p:txBody>
      </p:sp>
      <p:sp>
        <p:nvSpPr>
          <p:cNvPr id="54" name="sp-3-1"/>
          <p:cNvSpPr/>
          <p:nvPr/>
        </p:nvSpPr>
        <p:spPr>
          <a:xfrm>
            <a:off x="4629150" y="4546600"/>
            <a:ext cx="1587500" cy="431800"/>
          </a:xfrm>
          <a:custGeom>
            <a:avLst/>
            <a:gdLst/>
            <a:ahLst/>
            <a:cxnLst/>
            <a:rect l="0" t="0" r="r" b="b"/>
            <a:pathLst>
              <a:path w="1587500" h="431800">
                <a:moveTo>
                  <a:pt x="101600" y="0"/>
                </a:moveTo>
                <a:lnTo>
                  <a:pt x="1485900" y="0"/>
                </a:lnTo>
                <a:cubicBezTo>
                  <a:pt x="1542034" y="0"/>
                  <a:pt x="1587500" y="45466"/>
                  <a:pt x="1587500" y="101600"/>
                </a:cubicBezTo>
                <a:lnTo>
                  <a:pt x="1587500" y="330200"/>
                </a:lnTo>
                <a:cubicBezTo>
                  <a:pt x="1587500" y="386334"/>
                  <a:pt x="1542034" y="431800"/>
                  <a:pt x="1485900" y="431800"/>
                </a:cubicBezTo>
                <a:lnTo>
                  <a:pt x="101600" y="431800"/>
                </a:lnTo>
                <a:cubicBezTo>
                  <a:pt x="45466" y="431800"/>
                  <a:pt x="0" y="386334"/>
                  <a:pt x="0" y="330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4773B2"/>
              </a:gs>
              <a:gs pos="100000">
                <a:srgbClr val="2F61A8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st-3-1"/>
          <p:cNvSpPr txBox="1"/>
          <p:nvPr/>
        </p:nvSpPr>
        <p:spPr>
          <a:xfrm>
            <a:off x="5145722" y="4673632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报表口径</a:t>
            </a:r>
          </a:p>
        </p:txBody>
      </p:sp>
      <p:sp>
        <p:nvSpPr>
          <p:cNvPr id="56" name="sp-3-2"/>
          <p:cNvSpPr/>
          <p:nvPr/>
        </p:nvSpPr>
        <p:spPr>
          <a:xfrm>
            <a:off x="6254750" y="4546600"/>
            <a:ext cx="774700" cy="431800"/>
          </a:xfrm>
          <a:custGeom>
            <a:avLst/>
            <a:gdLst/>
            <a:ahLst/>
            <a:cxnLst/>
            <a:rect l="0" t="0" r="r" b="b"/>
            <a:pathLst>
              <a:path w="774700" h="431800">
                <a:moveTo>
                  <a:pt x="101600" y="0"/>
                </a:moveTo>
                <a:lnTo>
                  <a:pt x="673100" y="0"/>
                </a:lnTo>
                <a:cubicBezTo>
                  <a:pt x="729234" y="0"/>
                  <a:pt x="774700" y="45466"/>
                  <a:pt x="774700" y="101600"/>
                </a:cubicBezTo>
                <a:lnTo>
                  <a:pt x="774700" y="330200"/>
                </a:lnTo>
                <a:cubicBezTo>
                  <a:pt x="774700" y="386334"/>
                  <a:pt x="729234" y="431800"/>
                  <a:pt x="673100" y="431800"/>
                </a:cubicBezTo>
                <a:lnTo>
                  <a:pt x="101600" y="431800"/>
                </a:lnTo>
                <a:cubicBezTo>
                  <a:pt x="45466" y="431800"/>
                  <a:pt x="0" y="386334"/>
                  <a:pt x="0" y="330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6389BE"/>
              </a:gs>
              <a:gs pos="100000">
                <a:srgbClr val="4C77B4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st-3-2"/>
          <p:cNvSpPr txBox="1"/>
          <p:nvPr/>
        </p:nvSpPr>
        <p:spPr>
          <a:xfrm>
            <a:off x="6479222" y="4673632"/>
            <a:ext cx="325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对账</a:t>
            </a:r>
          </a:p>
        </p:txBody>
      </p:sp>
      <p:sp>
        <p:nvSpPr>
          <p:cNvPr id="58" name="fl-3"/>
          <p:cNvSpPr/>
          <p:nvPr/>
        </p:nvSpPr>
        <p:spPr>
          <a:xfrm>
            <a:off x="7067550" y="4546600"/>
            <a:ext cx="774700" cy="431800"/>
          </a:xfrm>
          <a:custGeom>
            <a:avLst/>
            <a:gdLst/>
            <a:ahLst/>
            <a:cxnLst/>
            <a:rect l="0" t="0" r="r" b="b"/>
            <a:pathLst>
              <a:path w="774700" h="431800">
                <a:moveTo>
                  <a:pt x="101600" y="0"/>
                </a:moveTo>
                <a:lnTo>
                  <a:pt x="673100" y="0"/>
                </a:lnTo>
                <a:cubicBezTo>
                  <a:pt x="729234" y="0"/>
                  <a:pt x="774700" y="45466"/>
                  <a:pt x="774700" y="101600"/>
                </a:cubicBezTo>
                <a:lnTo>
                  <a:pt x="774700" y="330200"/>
                </a:lnTo>
                <a:cubicBezTo>
                  <a:pt x="774700" y="386334"/>
                  <a:pt x="729234" y="431800"/>
                  <a:pt x="673100" y="431800"/>
                </a:cubicBezTo>
                <a:lnTo>
                  <a:pt x="101600" y="431800"/>
                </a:lnTo>
                <a:cubicBezTo>
                  <a:pt x="45466" y="431800"/>
                  <a:pt x="0" y="386334"/>
                  <a:pt x="0" y="330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noFill/>
          <a:ln w="10160" cap="rnd">
            <a:solidFill>
              <a:srgbClr val="134C9C">
                <a:alpha val="6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flt-3"/>
          <p:cNvSpPr txBox="1"/>
          <p:nvPr/>
        </p:nvSpPr>
        <p:spPr>
          <a:xfrm>
            <a:off x="7189153" y="4682966"/>
            <a:ext cx="5314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浮动 1 周</a:t>
            </a:r>
          </a:p>
        </p:txBody>
      </p:sp>
      <p:sp>
        <p:nvSpPr>
          <p:cNvPr id="60" name="jn-3"/>
          <p:cNvSpPr/>
          <p:nvPr/>
        </p:nvSpPr>
        <p:spPr>
          <a:xfrm>
            <a:off x="7899400" y="3619500"/>
            <a:ext cx="292100" cy="1143000"/>
          </a:xfrm>
          <a:custGeom>
            <a:avLst/>
            <a:gdLst/>
            <a:ahLst/>
            <a:cxnLst/>
            <a:rect l="0" t="0" r="r" b="b"/>
            <a:pathLst>
              <a:path w="292100" h="1143000">
                <a:moveTo>
                  <a:pt x="0" y="1143000"/>
                </a:moveTo>
                <a:cubicBezTo>
                  <a:pt x="215900" y="1143000"/>
                  <a:pt x="88900" y="0"/>
                  <a:pt x="292100" y="0"/>
                </a:cubicBezTo>
              </a:path>
            </a:pathLst>
          </a:custGeom>
          <a:noFill/>
          <a:ln w="19050" cap="rnd">
            <a:solidFill>
              <a:srgbClr val="134C9C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crit"/>
          <p:cNvSpPr/>
          <p:nvPr/>
        </p:nvSpPr>
        <p:spPr>
          <a:xfrm>
            <a:off x="2971800" y="3352800"/>
            <a:ext cx="4902200" cy="533400"/>
          </a:xfrm>
          <a:custGeom>
            <a:avLst/>
            <a:gdLst/>
            <a:ahLst/>
            <a:cxnLst/>
            <a:rect l="0" t="0" r="r" b="b"/>
            <a:pathLst>
              <a:path w="4902200" h="533400">
                <a:moveTo>
                  <a:pt x="127000" y="0"/>
                </a:moveTo>
                <a:lnTo>
                  <a:pt x="4775200" y="0"/>
                </a:lnTo>
                <a:cubicBezTo>
                  <a:pt x="4845368" y="0"/>
                  <a:pt x="4902200" y="56833"/>
                  <a:pt x="4902200" y="127000"/>
                </a:cubicBezTo>
                <a:lnTo>
                  <a:pt x="4902200" y="406400"/>
                </a:lnTo>
                <a:cubicBezTo>
                  <a:pt x="4902200" y="476567"/>
                  <a:pt x="4845368" y="533400"/>
                  <a:pt x="4775200" y="533400"/>
                </a:cubicBezTo>
                <a:lnTo>
                  <a:pt x="127000" y="533400"/>
                </a:lnTo>
                <a:cubicBezTo>
                  <a:pt x="56832" y="533400"/>
                  <a:pt x="0" y="476567"/>
                  <a:pt x="0" y="406400"/>
                </a:cubicBezTo>
                <a:lnTo>
                  <a:pt x="0" y="127000"/>
                </a:lnTo>
                <a:cubicBezTo>
                  <a:pt x="0" y="56833"/>
                  <a:pt x="56832" y="0"/>
                  <a:pt x="127000" y="0"/>
                </a:cubicBezTo>
                <a:close/>
              </a:path>
            </a:pathLst>
          </a:custGeom>
          <a:noFill/>
          <a:ln w="1270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crit-b"/>
          <p:cNvSpPr/>
          <p:nvPr/>
        </p:nvSpPr>
        <p:spPr>
          <a:xfrm>
            <a:off x="7112000" y="3251200"/>
            <a:ext cx="711200" cy="190500"/>
          </a:xfrm>
          <a:custGeom>
            <a:avLst/>
            <a:gdLst/>
            <a:ahLst/>
            <a:cxnLst/>
            <a:rect l="0" t="0" r="r" b="b"/>
            <a:pathLst>
              <a:path w="711200" h="190500">
                <a:moveTo>
                  <a:pt x="95250" y="0"/>
                </a:moveTo>
                <a:lnTo>
                  <a:pt x="615950" y="0"/>
                </a:lnTo>
                <a:cubicBezTo>
                  <a:pt x="668528" y="0"/>
                  <a:pt x="711200" y="42672"/>
                  <a:pt x="711200" y="95250"/>
                </a:cubicBezTo>
                <a:lnTo>
                  <a:pt x="711200" y="95250"/>
                </a:lnTo>
                <a:cubicBezTo>
                  <a:pt x="711200" y="147828"/>
                  <a:pt x="668528" y="190500"/>
                  <a:pt x="6159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crit-t"/>
          <p:cNvSpPr txBox="1"/>
          <p:nvPr/>
        </p:nvSpPr>
        <p:spPr>
          <a:xfrm>
            <a:off x="7249795" y="3274758"/>
            <a:ext cx="4356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关键路径</a:t>
            </a:r>
          </a:p>
        </p:txBody>
      </p:sp>
      <p:sp>
        <p:nvSpPr>
          <p:cNvPr id="64" name="merge"/>
          <p:cNvSpPr/>
          <p:nvPr/>
        </p:nvSpPr>
        <p:spPr>
          <a:xfrm>
            <a:off x="8191500" y="3251200"/>
            <a:ext cx="736600" cy="7366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0B3E8F"/>
            </a:solidFill>
            <a:round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icon-layers"/>
          <p:cNvSpPr/>
          <p:nvPr/>
        </p:nvSpPr>
        <p:spPr>
          <a:xfrm>
            <a:off x="8500554" y="3457130"/>
            <a:ext cx="118491" cy="123000"/>
          </a:xfrm>
          <a:custGeom>
            <a:avLst/>
            <a:gdLst/>
            <a:ahLst/>
            <a:cxnLst/>
            <a:rect l="0" t="0" r="r" b="b"/>
            <a:pathLst>
              <a:path w="118491" h="123000">
                <a:moveTo>
                  <a:pt x="59245" y="0"/>
                </a:moveTo>
                <a:lnTo>
                  <a:pt x="118491" y="31115"/>
                </a:lnTo>
                <a:lnTo>
                  <a:pt x="59245" y="62230"/>
                </a:lnTo>
                <a:lnTo>
                  <a:pt x="0" y="31115"/>
                </a:lnTo>
                <a:close/>
                <a:moveTo>
                  <a:pt x="0" y="62230"/>
                </a:moveTo>
                <a:lnTo>
                  <a:pt x="59245" y="93345"/>
                </a:lnTo>
                <a:lnTo>
                  <a:pt x="118491" y="62230"/>
                </a:lnTo>
                <a:moveTo>
                  <a:pt x="0" y="91885"/>
                </a:moveTo>
                <a:lnTo>
                  <a:pt x="59245" y="123000"/>
                </a:lnTo>
                <a:lnTo>
                  <a:pt x="118491" y="91885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merge-t"/>
          <p:cNvSpPr txBox="1"/>
          <p:nvPr/>
        </p:nvSpPr>
        <p:spPr>
          <a:xfrm>
            <a:off x="8326438" y="3666966"/>
            <a:ext cx="4667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集成联调</a:t>
            </a:r>
          </a:p>
        </p:txBody>
      </p:sp>
      <p:sp>
        <p:nvSpPr>
          <p:cNvPr id="67" name="ar"/>
          <p:cNvSpPr/>
          <p:nvPr/>
        </p:nvSpPr>
        <p:spPr>
          <a:xfrm>
            <a:off x="8940800" y="3619500"/>
            <a:ext cx="139700" cy="3175"/>
          </a:xfrm>
          <a:custGeom>
            <a:avLst/>
            <a:gdLst/>
            <a:ahLst/>
            <a:cxnLst/>
            <a:rect l="0" t="0" r="r" b="b"/>
            <a:pathLst>
              <a:path w="139700" h="3175">
                <a:moveTo>
                  <a:pt x="0" y="0"/>
                </a:moveTo>
                <a:lnTo>
                  <a:pt x="139700" y="0"/>
                </a:lnTo>
              </a:path>
            </a:pathLst>
          </a:custGeom>
          <a:noFill/>
          <a:ln w="1905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ar-h"/>
          <p:cNvSpPr/>
          <p:nvPr/>
        </p:nvSpPr>
        <p:spPr>
          <a:xfrm>
            <a:off x="9036050" y="3570447"/>
            <a:ext cx="87566" cy="98106"/>
          </a:xfrm>
          <a:custGeom>
            <a:avLst/>
            <a:gdLst/>
            <a:ahLst/>
            <a:cxnLst/>
            <a:rect l="0" t="0" r="r" b="b"/>
            <a:pathLst>
              <a:path w="87566" h="98106">
                <a:moveTo>
                  <a:pt x="79883" y="40163"/>
                </a:moveTo>
                <a:quadBezTo>
                  <a:pt x="95250" y="49053"/>
                  <a:pt x="79883" y="57943"/>
                </a:quadBezTo>
                <a:lnTo>
                  <a:pt x="15367" y="95154"/>
                </a:lnTo>
                <a:quadBezTo>
                  <a:pt x="0" y="104044"/>
                  <a:pt x="0" y="86264"/>
                </a:quadBezTo>
                <a:lnTo>
                  <a:pt x="0" y="11842"/>
                </a:lnTo>
                <a:quadBezTo>
                  <a:pt x="0" y="-5938"/>
                  <a:pt x="15367" y="2952"/>
                </a:quad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fin"/>
          <p:cNvSpPr/>
          <p:nvPr/>
        </p:nvSpPr>
        <p:spPr>
          <a:xfrm>
            <a:off x="9131300" y="2667000"/>
            <a:ext cx="2108200" cy="1905000"/>
          </a:xfrm>
          <a:custGeom>
            <a:avLst/>
            <a:gdLst/>
            <a:ahLst/>
            <a:cxnLst/>
            <a:rect l="0" t="0" r="r" b="b"/>
            <a:pathLst>
              <a:path w="2108200" h="1905000">
                <a:moveTo>
                  <a:pt x="152400" y="0"/>
                </a:moveTo>
                <a:lnTo>
                  <a:pt x="1955800" y="0"/>
                </a:lnTo>
                <a:cubicBezTo>
                  <a:pt x="2040001" y="0"/>
                  <a:pt x="2108200" y="68199"/>
                  <a:pt x="2108200" y="152400"/>
                </a:cubicBezTo>
                <a:lnTo>
                  <a:pt x="2108200" y="1752600"/>
                </a:lnTo>
                <a:cubicBezTo>
                  <a:pt x="2108200" y="1836801"/>
                  <a:pt x="2040001" y="1905000"/>
                  <a:pt x="1955800" y="1905000"/>
                </a:cubicBezTo>
                <a:lnTo>
                  <a:pt x="152400" y="1905000"/>
                </a:lnTo>
                <a:cubicBezTo>
                  <a:pt x="68199" y="1905000"/>
                  <a:pt x="0" y="1836801"/>
                  <a:pt x="0" y="17526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icon-rocket"/>
          <p:cNvSpPr/>
          <p:nvPr/>
        </p:nvSpPr>
        <p:spPr>
          <a:xfrm>
            <a:off x="9354820" y="2922714"/>
            <a:ext cx="111760" cy="140525"/>
          </a:xfrm>
          <a:custGeom>
            <a:avLst/>
            <a:gdLst/>
            <a:ahLst/>
            <a:cxnLst/>
            <a:rect l="0" t="0" r="r" b="b"/>
            <a:pathLst>
              <a:path w="111760" h="140525">
                <a:moveTo>
                  <a:pt x="55880" y="0"/>
                </a:moveTo>
                <a:cubicBezTo>
                  <a:pt x="81280" y="18606"/>
                  <a:pt x="94806" y="47371"/>
                  <a:pt x="94806" y="77851"/>
                </a:cubicBezTo>
                <a:lnTo>
                  <a:pt x="76200" y="108331"/>
                </a:lnTo>
                <a:lnTo>
                  <a:pt x="35560" y="108331"/>
                </a:lnTo>
                <a:lnTo>
                  <a:pt x="16954" y="77851"/>
                </a:lnTo>
                <a:cubicBezTo>
                  <a:pt x="16954" y="47371"/>
                  <a:pt x="30480" y="18606"/>
                  <a:pt x="55880" y="0"/>
                </a:cubicBezTo>
                <a:close/>
                <a:moveTo>
                  <a:pt x="16954" y="101600"/>
                </a:moveTo>
                <a:lnTo>
                  <a:pt x="0" y="140525"/>
                </a:lnTo>
                <a:lnTo>
                  <a:pt x="35560" y="127000"/>
                </a:lnTo>
                <a:moveTo>
                  <a:pt x="94806" y="101600"/>
                </a:moveTo>
                <a:lnTo>
                  <a:pt x="111760" y="140525"/>
                </a:lnTo>
                <a:lnTo>
                  <a:pt x="76200" y="127000"/>
                </a:lnTo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fin-t"/>
          <p:cNvSpPr txBox="1"/>
          <p:nvPr/>
        </p:nvSpPr>
        <p:spPr>
          <a:xfrm>
            <a:off x="9290050" y="32329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灰度上线</a:t>
            </a:r>
          </a:p>
        </p:txBody>
      </p:sp>
      <p:sp>
        <p:nvSpPr>
          <p:cNvPr id="72" name="fin-v"/>
          <p:cNvSpPr txBox="1"/>
          <p:nvPr/>
        </p:nvSpPr>
        <p:spPr>
          <a:xfrm>
            <a:off x="9272524" y="3458972"/>
            <a:ext cx="615696" cy="533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4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W7</a:t>
            </a:r>
          </a:p>
        </p:txBody>
      </p:sp>
      <p:sp>
        <p:nvSpPr>
          <p:cNvPr id="73" name="fin-d1"/>
          <p:cNvSpPr txBox="1"/>
          <p:nvPr/>
        </p:nvSpPr>
        <p:spPr>
          <a:xfrm>
            <a:off x="9297670" y="3971766"/>
            <a:ext cx="5314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联调 1 周</a:t>
            </a:r>
          </a:p>
        </p:txBody>
      </p:sp>
      <p:sp>
        <p:nvSpPr>
          <p:cNvPr id="74" name="fin-d2"/>
          <p:cNvSpPr txBox="1"/>
          <p:nvPr/>
        </p:nvSpPr>
        <p:spPr>
          <a:xfrm>
            <a:off x="9297670" y="4149566"/>
            <a:ext cx="6800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10% 用户先行</a:t>
            </a:r>
          </a:p>
        </p:txBody>
      </p:sp>
      <p:sp>
        <p:nvSpPr>
          <p:cNvPr id="75" name="sum"/>
          <p:cNvSpPr/>
          <p:nvPr/>
        </p:nvSpPr>
        <p:spPr>
          <a:xfrm>
            <a:off x="952500" y="5588000"/>
            <a:ext cx="10287000" cy="444500"/>
          </a:xfrm>
          <a:custGeom>
            <a:avLst/>
            <a:gdLst/>
            <a:ahLst/>
            <a:cxnLst/>
            <a:rect l="0" t="0" r="r" b="b"/>
            <a:pathLst>
              <a:path w="10287000" h="4445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55600"/>
                </a:lnTo>
                <a:cubicBezTo>
                  <a:pt x="10287000" y="404686"/>
                  <a:pt x="10247186" y="444500"/>
                  <a:pt x="10198100" y="444500"/>
                </a:cubicBezTo>
                <a:lnTo>
                  <a:pt x="88900" y="444500"/>
                </a:lnTo>
                <a:cubicBezTo>
                  <a:pt x="39815" y="444500"/>
                  <a:pt x="0" y="404686"/>
                  <a:pt x="0" y="3556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sum-bar"/>
          <p:cNvSpPr/>
          <p:nvPr/>
        </p:nvSpPr>
        <p:spPr>
          <a:xfrm>
            <a:off x="952500" y="5588000"/>
            <a:ext cx="31750" cy="4445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sum-h"/>
          <p:cNvSpPr txBox="1"/>
          <p:nvPr/>
        </p:nvSpPr>
        <p:spPr>
          <a:xfrm>
            <a:off x="1142746" y="574043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排期要点</a:t>
            </a:r>
          </a:p>
        </p:txBody>
      </p:sp>
      <p:sp>
        <p:nvSpPr>
          <p:cNvPr id="78" name="sum-p"/>
          <p:cNvSpPr txBox="1"/>
          <p:nvPr/>
        </p:nvSpPr>
        <p:spPr>
          <a:xfrm>
            <a:off x="1891665" y="5736511"/>
            <a:ext cx="420655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后端 6 周是关键路径；前端浮动 2 周、数据浮动 1 周，可抽人支援后端压测。</a:t>
            </a:r>
          </a:p>
        </p:txBody>
      </p:sp>
      <p:cxnSp>
        <p:nvCxnSpPr>
          <p:cNvPr id="79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0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分叉合流 · 并行开发</a:t>
            </a:r>
          </a:p>
        </p:txBody>
      </p:sp>
      <p:sp>
        <p:nvSpPr>
          <p:cNvPr id="81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连问五个为什么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62636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5 WHYS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008999" y="673132"/>
            <a:ext cx="2611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从表面问题一层层往下问，停在能动手改的那一层</a:t>
            </a:r>
          </a:p>
        </p:txBody>
      </p:sp>
      <p:sp>
        <p:nvSpPr>
          <p:cNvPr id="10" name="prob"/>
          <p:cNvSpPr/>
          <p:nvPr/>
        </p:nvSpPr>
        <p:spPr>
          <a:xfrm>
            <a:off x="952500" y="1498600"/>
            <a:ext cx="4064000" cy="584200"/>
          </a:xfrm>
          <a:custGeom>
            <a:avLst/>
            <a:gdLst/>
            <a:ahLst/>
            <a:cxnLst/>
            <a:rect l="0" t="0" r="r" b="b"/>
            <a:pathLst>
              <a:path w="4064000" h="584200">
                <a:moveTo>
                  <a:pt x="139700" y="0"/>
                </a:moveTo>
                <a:lnTo>
                  <a:pt x="3924300" y="0"/>
                </a:lnTo>
                <a:cubicBezTo>
                  <a:pt x="4001452" y="0"/>
                  <a:pt x="4064000" y="62547"/>
                  <a:pt x="4064000" y="139700"/>
                </a:cubicBezTo>
                <a:lnTo>
                  <a:pt x="4064000" y="444500"/>
                </a:lnTo>
                <a:cubicBezTo>
                  <a:pt x="4064000" y="521652"/>
                  <a:pt x="4001452" y="584200"/>
                  <a:pt x="3924300" y="584200"/>
                </a:cubicBezTo>
                <a:lnTo>
                  <a:pt x="139700" y="584200"/>
                </a:lnTo>
                <a:cubicBezTo>
                  <a:pt x="62547" y="584200"/>
                  <a:pt x="0" y="521652"/>
                  <a:pt x="0" y="444500"/>
                </a:cubicBezTo>
                <a:lnTo>
                  <a:pt x="0" y="139700"/>
                </a:lnTo>
                <a:cubicBezTo>
                  <a:pt x="0" y="62547"/>
                  <a:pt x="62547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prob-b"/>
          <p:cNvSpPr/>
          <p:nvPr/>
        </p:nvSpPr>
        <p:spPr>
          <a:xfrm>
            <a:off x="1092200" y="1651000"/>
            <a:ext cx="444500" cy="279400"/>
          </a:xfrm>
          <a:custGeom>
            <a:avLst/>
            <a:gdLst/>
            <a:ahLst/>
            <a:cxnLst/>
            <a:rect l="0" t="0" r="r" b="b"/>
            <a:pathLst>
              <a:path w="444500" h="279400">
                <a:moveTo>
                  <a:pt x="139700" y="0"/>
                </a:moveTo>
                <a:lnTo>
                  <a:pt x="304800" y="0"/>
                </a:lnTo>
                <a:cubicBezTo>
                  <a:pt x="381953" y="0"/>
                  <a:pt x="444500" y="62548"/>
                  <a:pt x="444500" y="139700"/>
                </a:cubicBezTo>
                <a:lnTo>
                  <a:pt x="444500" y="139700"/>
                </a:lnTo>
                <a:cubicBezTo>
                  <a:pt x="444500" y="216852"/>
                  <a:pt x="381953" y="279400"/>
                  <a:pt x="304800" y="279400"/>
                </a:cubicBezTo>
                <a:lnTo>
                  <a:pt x="139700" y="279400"/>
                </a:lnTo>
                <a:cubicBezTo>
                  <a:pt x="62547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prob-l"/>
          <p:cNvSpPr txBox="1"/>
          <p:nvPr/>
        </p:nvSpPr>
        <p:spPr>
          <a:xfrm>
            <a:off x="1167130" y="1709674"/>
            <a:ext cx="2946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问题</a:t>
            </a:r>
          </a:p>
        </p:txBody>
      </p:sp>
      <p:sp>
        <p:nvSpPr>
          <p:cNvPr id="13" name="prob-t"/>
          <p:cNvSpPr txBox="1"/>
          <p:nvPr/>
        </p:nvSpPr>
        <p:spPr>
          <a:xfrm>
            <a:off x="1646174" y="1597628"/>
            <a:ext cx="1879473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9 月准时交付率跌到 82%</a:t>
            </a:r>
          </a:p>
        </p:txBody>
      </p:sp>
      <p:sp>
        <p:nvSpPr>
          <p:cNvPr id="14" name="prob-d"/>
          <p:cNvSpPr txBox="1"/>
          <p:nvPr/>
        </p:nvSpPr>
        <p:spPr>
          <a:xfrm>
            <a:off x="1652270" y="1850866"/>
            <a:ext cx="17087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比目标低 13 个点，客户投诉 142 起</a:t>
            </a:r>
          </a:p>
        </p:txBody>
      </p:sp>
      <p:sp>
        <p:nvSpPr>
          <p:cNvPr id="15" name="ln-1"/>
          <p:cNvSpPr/>
          <p:nvPr/>
        </p:nvSpPr>
        <p:spPr>
          <a:xfrm>
            <a:off x="1244600" y="2082800"/>
            <a:ext cx="444500" cy="419100"/>
          </a:xfrm>
          <a:custGeom>
            <a:avLst/>
            <a:gdLst/>
            <a:ahLst/>
            <a:cxnLst/>
            <a:rect l="0" t="0" r="r" b="b"/>
            <a:pathLst>
              <a:path w="444500" h="419100">
                <a:moveTo>
                  <a:pt x="0" y="0"/>
                </a:moveTo>
                <a:lnTo>
                  <a:pt x="0" y="317500"/>
                </a:lnTo>
                <a:quadBezTo>
                  <a:pt x="0" y="419100"/>
                  <a:pt x="101600" y="419100"/>
                </a:quadBezTo>
                <a:lnTo>
                  <a:pt x="444500" y="419100"/>
                </a:lnTo>
              </a:path>
            </a:pathLst>
          </a:custGeom>
          <a:noFill/>
          <a:ln w="15875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ar-1"/>
          <p:cNvSpPr/>
          <p:nvPr/>
        </p:nvSpPr>
        <p:spPr>
          <a:xfrm>
            <a:off x="1651000" y="2462645"/>
            <a:ext cx="70040" cy="78510"/>
          </a:xfrm>
          <a:custGeom>
            <a:avLst/>
            <a:gdLst/>
            <a:ahLst/>
            <a:cxnLst/>
            <a:rect l="0" t="0" r="r" b="b"/>
            <a:pathLst>
              <a:path w="70040" h="78510">
                <a:moveTo>
                  <a:pt x="63881" y="32143"/>
                </a:moveTo>
                <a:quadBezTo>
                  <a:pt x="76200" y="39255"/>
                  <a:pt x="63881" y="46367"/>
                </a:quadBezTo>
                <a:lnTo>
                  <a:pt x="12319" y="76148"/>
                </a:lnTo>
                <a:quadBezTo>
                  <a:pt x="0" y="83260"/>
                  <a:pt x="0" y="69036"/>
                </a:quadBezTo>
                <a:lnTo>
                  <a:pt x="0" y="9473"/>
                </a:lnTo>
                <a:quadBezTo>
                  <a:pt x="0" y="-4751"/>
                  <a:pt x="12319" y="2361"/>
                </a:quad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w-1"/>
          <p:cNvSpPr/>
          <p:nvPr/>
        </p:nvSpPr>
        <p:spPr>
          <a:xfrm>
            <a:off x="1714500" y="2209800"/>
            <a:ext cx="4064000" cy="584200"/>
          </a:xfrm>
          <a:custGeom>
            <a:avLst/>
            <a:gdLst/>
            <a:ahLst/>
            <a:cxnLst/>
            <a:rect l="0" t="0" r="r" b="b"/>
            <a:pathLst>
              <a:path w="4064000" h="584200">
                <a:moveTo>
                  <a:pt x="139700" y="0"/>
                </a:moveTo>
                <a:lnTo>
                  <a:pt x="3924300" y="0"/>
                </a:lnTo>
                <a:cubicBezTo>
                  <a:pt x="4001452" y="0"/>
                  <a:pt x="4064000" y="62548"/>
                  <a:pt x="4064000" y="139700"/>
                </a:cubicBezTo>
                <a:lnTo>
                  <a:pt x="4064000" y="444500"/>
                </a:lnTo>
                <a:cubicBezTo>
                  <a:pt x="4064000" y="521652"/>
                  <a:pt x="4001452" y="584200"/>
                  <a:pt x="3924300" y="584200"/>
                </a:cubicBezTo>
                <a:lnTo>
                  <a:pt x="139700" y="584200"/>
                </a:lnTo>
                <a:cubicBezTo>
                  <a:pt x="62548" y="584200"/>
                  <a:pt x="0" y="521652"/>
                  <a:pt x="0" y="4445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wn-1"/>
          <p:cNvSpPr/>
          <p:nvPr/>
        </p:nvSpPr>
        <p:spPr>
          <a:xfrm>
            <a:off x="1854200" y="2324100"/>
            <a:ext cx="355600" cy="355600"/>
          </a:xfrm>
          <a:prstGeom prst="ellipse">
            <a:avLst/>
          </a:prstGeom>
          <a:solidFill>
            <a:srgbClr val="23519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wt-1"/>
          <p:cNvSpPr txBox="1"/>
          <p:nvPr/>
        </p:nvSpPr>
        <p:spPr>
          <a:xfrm>
            <a:off x="1922970" y="24193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W1</a:t>
            </a:r>
          </a:p>
        </p:txBody>
      </p:sp>
      <p:sp>
        <p:nvSpPr>
          <p:cNvPr id="20" name="wq-1"/>
          <p:cNvSpPr txBox="1"/>
          <p:nvPr/>
        </p:nvSpPr>
        <p:spPr>
          <a:xfrm>
            <a:off x="2323084" y="2322640"/>
            <a:ext cx="8267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为什么延误？</a:t>
            </a:r>
          </a:p>
        </p:txBody>
      </p:sp>
      <p:sp>
        <p:nvSpPr>
          <p:cNvPr id="21" name="wa-1"/>
          <p:cNvSpPr txBox="1"/>
          <p:nvPr/>
        </p:nvSpPr>
        <p:spPr>
          <a:xfrm>
            <a:off x="2323465" y="2529761"/>
            <a:ext cx="143795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仓库出库平均晚了 1.6 天</a:t>
            </a:r>
          </a:p>
        </p:txBody>
      </p:sp>
      <p:sp>
        <p:nvSpPr>
          <p:cNvPr id="22" name="ln-2"/>
          <p:cNvSpPr/>
          <p:nvPr/>
        </p:nvSpPr>
        <p:spPr>
          <a:xfrm>
            <a:off x="2006600" y="2794000"/>
            <a:ext cx="444500" cy="419100"/>
          </a:xfrm>
          <a:custGeom>
            <a:avLst/>
            <a:gdLst/>
            <a:ahLst/>
            <a:cxnLst/>
            <a:rect l="0" t="0" r="r" b="b"/>
            <a:pathLst>
              <a:path w="444500" h="419100">
                <a:moveTo>
                  <a:pt x="0" y="0"/>
                </a:moveTo>
                <a:lnTo>
                  <a:pt x="0" y="317500"/>
                </a:lnTo>
                <a:quadBezTo>
                  <a:pt x="0" y="419100"/>
                  <a:pt x="101600" y="419100"/>
                </a:quadBezTo>
                <a:lnTo>
                  <a:pt x="444500" y="419100"/>
                </a:lnTo>
              </a:path>
            </a:pathLst>
          </a:custGeom>
          <a:noFill/>
          <a:ln w="15875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ar-2"/>
          <p:cNvSpPr/>
          <p:nvPr/>
        </p:nvSpPr>
        <p:spPr>
          <a:xfrm>
            <a:off x="2413000" y="3173845"/>
            <a:ext cx="70040" cy="78510"/>
          </a:xfrm>
          <a:custGeom>
            <a:avLst/>
            <a:gdLst/>
            <a:ahLst/>
            <a:cxnLst/>
            <a:rect l="0" t="0" r="r" b="b"/>
            <a:pathLst>
              <a:path w="70040" h="78510">
                <a:moveTo>
                  <a:pt x="63881" y="32143"/>
                </a:moveTo>
                <a:quadBezTo>
                  <a:pt x="76200" y="39255"/>
                  <a:pt x="63881" y="46367"/>
                </a:quadBezTo>
                <a:lnTo>
                  <a:pt x="12319" y="76148"/>
                </a:lnTo>
                <a:quadBezTo>
                  <a:pt x="0" y="83260"/>
                  <a:pt x="0" y="69036"/>
                </a:quadBezTo>
                <a:lnTo>
                  <a:pt x="0" y="9473"/>
                </a:lnTo>
                <a:quadBezTo>
                  <a:pt x="0" y="-4751"/>
                  <a:pt x="12319" y="2361"/>
                </a:quad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w-2"/>
          <p:cNvSpPr/>
          <p:nvPr/>
        </p:nvSpPr>
        <p:spPr>
          <a:xfrm>
            <a:off x="2476500" y="2921000"/>
            <a:ext cx="4064000" cy="584200"/>
          </a:xfrm>
          <a:custGeom>
            <a:avLst/>
            <a:gdLst/>
            <a:ahLst/>
            <a:cxnLst/>
            <a:rect l="0" t="0" r="r" b="b"/>
            <a:pathLst>
              <a:path w="4064000" h="584200">
                <a:moveTo>
                  <a:pt x="139700" y="0"/>
                </a:moveTo>
                <a:lnTo>
                  <a:pt x="3924300" y="0"/>
                </a:lnTo>
                <a:cubicBezTo>
                  <a:pt x="4001452" y="0"/>
                  <a:pt x="4064000" y="62548"/>
                  <a:pt x="4064000" y="139700"/>
                </a:cubicBezTo>
                <a:lnTo>
                  <a:pt x="4064000" y="444500"/>
                </a:lnTo>
                <a:cubicBezTo>
                  <a:pt x="4064000" y="521652"/>
                  <a:pt x="4001452" y="584200"/>
                  <a:pt x="3924300" y="584200"/>
                </a:cubicBezTo>
                <a:lnTo>
                  <a:pt x="139700" y="584200"/>
                </a:lnTo>
                <a:cubicBezTo>
                  <a:pt x="62548" y="584200"/>
                  <a:pt x="0" y="521652"/>
                  <a:pt x="0" y="4445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wn-2"/>
          <p:cNvSpPr/>
          <p:nvPr/>
        </p:nvSpPr>
        <p:spPr>
          <a:xfrm>
            <a:off x="2616200" y="3035300"/>
            <a:ext cx="355600" cy="355600"/>
          </a:xfrm>
          <a:prstGeom prst="ellipse">
            <a:avLst/>
          </a:prstGeom>
          <a:solidFill>
            <a:srgbClr val="2B5EA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wt-2"/>
          <p:cNvSpPr txBox="1"/>
          <p:nvPr/>
        </p:nvSpPr>
        <p:spPr>
          <a:xfrm>
            <a:off x="2684970" y="31305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W2</a:t>
            </a:r>
          </a:p>
        </p:txBody>
      </p:sp>
      <p:sp>
        <p:nvSpPr>
          <p:cNvPr id="27" name="wq-2"/>
          <p:cNvSpPr txBox="1"/>
          <p:nvPr/>
        </p:nvSpPr>
        <p:spPr>
          <a:xfrm>
            <a:off x="3085084" y="3033840"/>
            <a:ext cx="94742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为什么出库晚？</a:t>
            </a:r>
          </a:p>
        </p:txBody>
      </p:sp>
      <p:sp>
        <p:nvSpPr>
          <p:cNvPr id="28" name="wa-2"/>
          <p:cNvSpPr txBox="1"/>
          <p:nvPr/>
        </p:nvSpPr>
        <p:spPr>
          <a:xfrm>
            <a:off x="3085465" y="3240961"/>
            <a:ext cx="176180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拣货单夜间堆积，夜班只有 3 人</a:t>
            </a:r>
          </a:p>
        </p:txBody>
      </p:sp>
      <p:sp>
        <p:nvSpPr>
          <p:cNvPr id="29" name="ln-3"/>
          <p:cNvSpPr/>
          <p:nvPr/>
        </p:nvSpPr>
        <p:spPr>
          <a:xfrm>
            <a:off x="2768600" y="3505200"/>
            <a:ext cx="444500" cy="419100"/>
          </a:xfrm>
          <a:custGeom>
            <a:avLst/>
            <a:gdLst/>
            <a:ahLst/>
            <a:cxnLst/>
            <a:rect l="0" t="0" r="r" b="b"/>
            <a:pathLst>
              <a:path w="444500" h="419100">
                <a:moveTo>
                  <a:pt x="0" y="0"/>
                </a:moveTo>
                <a:lnTo>
                  <a:pt x="0" y="317500"/>
                </a:lnTo>
                <a:quadBezTo>
                  <a:pt x="0" y="419100"/>
                  <a:pt x="101600" y="419100"/>
                </a:quadBezTo>
                <a:lnTo>
                  <a:pt x="444500" y="419100"/>
                </a:lnTo>
              </a:path>
            </a:pathLst>
          </a:custGeom>
          <a:noFill/>
          <a:ln w="15875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ar-3"/>
          <p:cNvSpPr/>
          <p:nvPr/>
        </p:nvSpPr>
        <p:spPr>
          <a:xfrm>
            <a:off x="3175000" y="3885045"/>
            <a:ext cx="70040" cy="78510"/>
          </a:xfrm>
          <a:custGeom>
            <a:avLst/>
            <a:gdLst/>
            <a:ahLst/>
            <a:cxnLst/>
            <a:rect l="0" t="0" r="r" b="b"/>
            <a:pathLst>
              <a:path w="70040" h="78510">
                <a:moveTo>
                  <a:pt x="63881" y="32143"/>
                </a:moveTo>
                <a:quadBezTo>
                  <a:pt x="76200" y="39255"/>
                  <a:pt x="63881" y="46367"/>
                </a:quadBezTo>
                <a:lnTo>
                  <a:pt x="12319" y="76148"/>
                </a:lnTo>
                <a:quadBezTo>
                  <a:pt x="0" y="83260"/>
                  <a:pt x="0" y="69036"/>
                </a:quadBezTo>
                <a:lnTo>
                  <a:pt x="0" y="9473"/>
                </a:lnTo>
                <a:quadBezTo>
                  <a:pt x="0" y="-4751"/>
                  <a:pt x="12319" y="2361"/>
                </a:quad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w-3"/>
          <p:cNvSpPr/>
          <p:nvPr/>
        </p:nvSpPr>
        <p:spPr>
          <a:xfrm>
            <a:off x="3238500" y="3632200"/>
            <a:ext cx="4064000" cy="584200"/>
          </a:xfrm>
          <a:custGeom>
            <a:avLst/>
            <a:gdLst/>
            <a:ahLst/>
            <a:cxnLst/>
            <a:rect l="0" t="0" r="r" b="b"/>
            <a:pathLst>
              <a:path w="4064000" h="584200">
                <a:moveTo>
                  <a:pt x="139700" y="0"/>
                </a:moveTo>
                <a:lnTo>
                  <a:pt x="3924300" y="0"/>
                </a:lnTo>
                <a:cubicBezTo>
                  <a:pt x="4001453" y="0"/>
                  <a:pt x="4064000" y="62548"/>
                  <a:pt x="4064000" y="139700"/>
                </a:cubicBezTo>
                <a:lnTo>
                  <a:pt x="4064000" y="444500"/>
                </a:lnTo>
                <a:cubicBezTo>
                  <a:pt x="4064000" y="521652"/>
                  <a:pt x="4001453" y="584200"/>
                  <a:pt x="3924300" y="584200"/>
                </a:cubicBezTo>
                <a:lnTo>
                  <a:pt x="139700" y="584200"/>
                </a:lnTo>
                <a:cubicBezTo>
                  <a:pt x="62548" y="584200"/>
                  <a:pt x="0" y="521652"/>
                  <a:pt x="0" y="4445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wn-3"/>
          <p:cNvSpPr/>
          <p:nvPr/>
        </p:nvSpPr>
        <p:spPr>
          <a:xfrm>
            <a:off x="3378200" y="3746500"/>
            <a:ext cx="355600" cy="355600"/>
          </a:xfrm>
          <a:prstGeom prst="ellipse">
            <a:avLst/>
          </a:prstGeom>
          <a:solidFill>
            <a:srgbClr val="326AB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wt-3"/>
          <p:cNvSpPr txBox="1"/>
          <p:nvPr/>
        </p:nvSpPr>
        <p:spPr>
          <a:xfrm>
            <a:off x="3446971" y="38417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W3</a:t>
            </a:r>
          </a:p>
        </p:txBody>
      </p:sp>
      <p:sp>
        <p:nvSpPr>
          <p:cNvPr id="34" name="wq-3"/>
          <p:cNvSpPr txBox="1"/>
          <p:nvPr/>
        </p:nvSpPr>
        <p:spPr>
          <a:xfrm>
            <a:off x="3847084" y="3745040"/>
            <a:ext cx="10680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为什么人手不够？</a:t>
            </a:r>
          </a:p>
        </p:txBody>
      </p:sp>
      <p:sp>
        <p:nvSpPr>
          <p:cNvPr id="35" name="wa-3"/>
          <p:cNvSpPr txBox="1"/>
          <p:nvPr/>
        </p:nvSpPr>
        <p:spPr>
          <a:xfrm>
            <a:off x="3847465" y="3952161"/>
            <a:ext cx="195421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8 月起订单量涨了 40%，排班没跟上</a:t>
            </a:r>
          </a:p>
        </p:txBody>
      </p:sp>
      <p:sp>
        <p:nvSpPr>
          <p:cNvPr id="36" name="ln-4"/>
          <p:cNvSpPr/>
          <p:nvPr/>
        </p:nvSpPr>
        <p:spPr>
          <a:xfrm>
            <a:off x="3530600" y="4216400"/>
            <a:ext cx="444500" cy="419100"/>
          </a:xfrm>
          <a:custGeom>
            <a:avLst/>
            <a:gdLst/>
            <a:ahLst/>
            <a:cxnLst/>
            <a:rect l="0" t="0" r="r" b="b"/>
            <a:pathLst>
              <a:path w="444500" h="419100">
                <a:moveTo>
                  <a:pt x="0" y="0"/>
                </a:moveTo>
                <a:lnTo>
                  <a:pt x="0" y="317500"/>
                </a:lnTo>
                <a:quadBezTo>
                  <a:pt x="0" y="419100"/>
                  <a:pt x="101600" y="419100"/>
                </a:quadBezTo>
                <a:lnTo>
                  <a:pt x="444500" y="419100"/>
                </a:lnTo>
              </a:path>
            </a:pathLst>
          </a:custGeom>
          <a:noFill/>
          <a:ln w="15875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ar-4"/>
          <p:cNvSpPr/>
          <p:nvPr/>
        </p:nvSpPr>
        <p:spPr>
          <a:xfrm>
            <a:off x="3937000" y="4596245"/>
            <a:ext cx="70040" cy="78510"/>
          </a:xfrm>
          <a:custGeom>
            <a:avLst/>
            <a:gdLst/>
            <a:ahLst/>
            <a:cxnLst/>
            <a:rect l="0" t="0" r="r" b="b"/>
            <a:pathLst>
              <a:path w="70040" h="78510">
                <a:moveTo>
                  <a:pt x="63881" y="32143"/>
                </a:moveTo>
                <a:quadBezTo>
                  <a:pt x="76200" y="39255"/>
                  <a:pt x="63881" y="46367"/>
                </a:quadBezTo>
                <a:lnTo>
                  <a:pt x="12319" y="76148"/>
                </a:lnTo>
                <a:quadBezTo>
                  <a:pt x="0" y="83260"/>
                  <a:pt x="0" y="69036"/>
                </a:quadBezTo>
                <a:lnTo>
                  <a:pt x="0" y="9473"/>
                </a:lnTo>
                <a:quadBezTo>
                  <a:pt x="0" y="-4751"/>
                  <a:pt x="12319" y="2361"/>
                </a:quad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w-4"/>
          <p:cNvSpPr/>
          <p:nvPr/>
        </p:nvSpPr>
        <p:spPr>
          <a:xfrm>
            <a:off x="4000500" y="4343400"/>
            <a:ext cx="4064000" cy="584200"/>
          </a:xfrm>
          <a:custGeom>
            <a:avLst/>
            <a:gdLst/>
            <a:ahLst/>
            <a:cxnLst/>
            <a:rect l="0" t="0" r="r" b="b"/>
            <a:pathLst>
              <a:path w="4064000" h="584200">
                <a:moveTo>
                  <a:pt x="139700" y="0"/>
                </a:moveTo>
                <a:lnTo>
                  <a:pt x="3924300" y="0"/>
                </a:lnTo>
                <a:cubicBezTo>
                  <a:pt x="4001453" y="0"/>
                  <a:pt x="4064000" y="62548"/>
                  <a:pt x="4064000" y="139700"/>
                </a:cubicBezTo>
                <a:lnTo>
                  <a:pt x="4064000" y="444500"/>
                </a:lnTo>
                <a:cubicBezTo>
                  <a:pt x="4064000" y="521652"/>
                  <a:pt x="4001453" y="584200"/>
                  <a:pt x="3924300" y="584200"/>
                </a:cubicBezTo>
                <a:lnTo>
                  <a:pt x="139700" y="584200"/>
                </a:lnTo>
                <a:cubicBezTo>
                  <a:pt x="62548" y="584200"/>
                  <a:pt x="0" y="521652"/>
                  <a:pt x="0" y="4445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wn-4"/>
          <p:cNvSpPr/>
          <p:nvPr/>
        </p:nvSpPr>
        <p:spPr>
          <a:xfrm>
            <a:off x="4140200" y="4457700"/>
            <a:ext cx="355600" cy="355600"/>
          </a:xfrm>
          <a:prstGeom prst="ellipse">
            <a:avLst/>
          </a:prstGeom>
          <a:solidFill>
            <a:srgbClr val="3A77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wt-4"/>
          <p:cNvSpPr txBox="1"/>
          <p:nvPr/>
        </p:nvSpPr>
        <p:spPr>
          <a:xfrm>
            <a:off x="4208970" y="45529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W4</a:t>
            </a:r>
          </a:p>
        </p:txBody>
      </p:sp>
      <p:sp>
        <p:nvSpPr>
          <p:cNvPr id="41" name="wq-4"/>
          <p:cNvSpPr txBox="1"/>
          <p:nvPr/>
        </p:nvSpPr>
        <p:spPr>
          <a:xfrm>
            <a:off x="4609084" y="4456240"/>
            <a:ext cx="94742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为什么没跟上？</a:t>
            </a:r>
          </a:p>
        </p:txBody>
      </p:sp>
      <p:sp>
        <p:nvSpPr>
          <p:cNvPr id="42" name="wa-4"/>
          <p:cNvSpPr txBox="1"/>
          <p:nvPr/>
        </p:nvSpPr>
        <p:spPr>
          <a:xfrm>
            <a:off x="4609465" y="4663361"/>
            <a:ext cx="202152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排班按上季度数据做，一季度才调一次</a:t>
            </a:r>
          </a:p>
        </p:txBody>
      </p:sp>
      <p:sp>
        <p:nvSpPr>
          <p:cNvPr id="43" name="ln-5"/>
          <p:cNvSpPr/>
          <p:nvPr/>
        </p:nvSpPr>
        <p:spPr>
          <a:xfrm>
            <a:off x="4292600" y="4927600"/>
            <a:ext cx="444500" cy="419100"/>
          </a:xfrm>
          <a:custGeom>
            <a:avLst/>
            <a:gdLst/>
            <a:ahLst/>
            <a:cxnLst/>
            <a:rect l="0" t="0" r="r" b="b"/>
            <a:pathLst>
              <a:path w="444500" h="419100">
                <a:moveTo>
                  <a:pt x="0" y="0"/>
                </a:moveTo>
                <a:lnTo>
                  <a:pt x="0" y="317500"/>
                </a:lnTo>
                <a:quadBezTo>
                  <a:pt x="0" y="419100"/>
                  <a:pt x="101600" y="419100"/>
                </a:quadBezTo>
                <a:lnTo>
                  <a:pt x="444500" y="419100"/>
                </a:lnTo>
              </a:path>
            </a:pathLst>
          </a:custGeom>
          <a:noFill/>
          <a:ln w="15875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ar-5"/>
          <p:cNvSpPr/>
          <p:nvPr/>
        </p:nvSpPr>
        <p:spPr>
          <a:xfrm>
            <a:off x="4699000" y="5307445"/>
            <a:ext cx="70040" cy="78510"/>
          </a:xfrm>
          <a:custGeom>
            <a:avLst/>
            <a:gdLst/>
            <a:ahLst/>
            <a:cxnLst/>
            <a:rect l="0" t="0" r="r" b="b"/>
            <a:pathLst>
              <a:path w="70040" h="78510">
                <a:moveTo>
                  <a:pt x="63881" y="32143"/>
                </a:moveTo>
                <a:quadBezTo>
                  <a:pt x="76200" y="39255"/>
                  <a:pt x="63881" y="46367"/>
                </a:quadBezTo>
                <a:lnTo>
                  <a:pt x="12319" y="76148"/>
                </a:lnTo>
                <a:quadBezTo>
                  <a:pt x="0" y="83260"/>
                  <a:pt x="0" y="69036"/>
                </a:quadBezTo>
                <a:lnTo>
                  <a:pt x="0" y="9473"/>
                </a:lnTo>
                <a:quadBezTo>
                  <a:pt x="0" y="-4751"/>
                  <a:pt x="12319" y="2361"/>
                </a:quad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w-5"/>
          <p:cNvSpPr/>
          <p:nvPr/>
        </p:nvSpPr>
        <p:spPr>
          <a:xfrm>
            <a:off x="4762500" y="5054600"/>
            <a:ext cx="4064000" cy="584200"/>
          </a:xfrm>
          <a:custGeom>
            <a:avLst/>
            <a:gdLst/>
            <a:ahLst/>
            <a:cxnLst/>
            <a:rect l="0" t="0" r="r" b="b"/>
            <a:pathLst>
              <a:path w="4064000" h="584200">
                <a:moveTo>
                  <a:pt x="139700" y="0"/>
                </a:moveTo>
                <a:lnTo>
                  <a:pt x="3924300" y="0"/>
                </a:lnTo>
                <a:cubicBezTo>
                  <a:pt x="4001453" y="0"/>
                  <a:pt x="4064000" y="62548"/>
                  <a:pt x="4064000" y="139700"/>
                </a:cubicBezTo>
                <a:lnTo>
                  <a:pt x="4064000" y="444500"/>
                </a:lnTo>
                <a:cubicBezTo>
                  <a:pt x="4064000" y="521652"/>
                  <a:pt x="4001453" y="584200"/>
                  <a:pt x="3924300" y="584200"/>
                </a:cubicBezTo>
                <a:lnTo>
                  <a:pt x="139700" y="584200"/>
                </a:lnTo>
                <a:cubicBezTo>
                  <a:pt x="62548" y="584200"/>
                  <a:pt x="0" y="521652"/>
                  <a:pt x="0" y="4445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E8793F"/>
              </a:gs>
              <a:gs pos="100000">
                <a:srgbClr val="C95A22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wn-5"/>
          <p:cNvSpPr/>
          <p:nvPr/>
        </p:nvSpPr>
        <p:spPr>
          <a:xfrm>
            <a:off x="4902200" y="5168900"/>
            <a:ext cx="355600" cy="35560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wt-5"/>
          <p:cNvSpPr txBox="1"/>
          <p:nvPr/>
        </p:nvSpPr>
        <p:spPr>
          <a:xfrm>
            <a:off x="4987290" y="5240655"/>
            <a:ext cx="18542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!</a:t>
            </a:r>
          </a:p>
        </p:txBody>
      </p:sp>
      <p:sp>
        <p:nvSpPr>
          <p:cNvPr id="48" name="wq-5"/>
          <p:cNvSpPr txBox="1"/>
          <p:nvPr/>
        </p:nvSpPr>
        <p:spPr>
          <a:xfrm>
            <a:off x="5371084" y="5167440"/>
            <a:ext cx="3441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根因</a:t>
            </a:r>
          </a:p>
        </p:txBody>
      </p:sp>
      <p:sp>
        <p:nvSpPr>
          <p:cNvPr id="49" name="wa-5"/>
          <p:cNvSpPr txBox="1"/>
          <p:nvPr/>
        </p:nvSpPr>
        <p:spPr>
          <a:xfrm>
            <a:off x="5371465" y="5374561"/>
            <a:ext cx="134334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FFF1E8"/>
                </a:solidFill>
                <a:latin typeface="微软雅黑"/>
                <a:ea typeface="微软雅黑"/>
                <a:cs typeface="微软雅黑"/>
              </a:rPr>
              <a:t>排班没有和销售预测联动</a:t>
            </a:r>
          </a:p>
        </p:txBody>
      </p:sp>
      <p:sp>
        <p:nvSpPr>
          <p:cNvPr id="50" name="data"/>
          <p:cNvSpPr/>
          <p:nvPr/>
        </p:nvSpPr>
        <p:spPr>
          <a:xfrm>
            <a:off x="952500" y="3835400"/>
            <a:ext cx="1663700" cy="1778000"/>
          </a:xfrm>
          <a:custGeom>
            <a:avLst/>
            <a:gdLst/>
            <a:ahLst/>
            <a:cxnLst/>
            <a:rect l="0" t="0" r="r" b="b"/>
            <a:pathLst>
              <a:path w="1663700" h="1778000">
                <a:moveTo>
                  <a:pt x="139700" y="0"/>
                </a:moveTo>
                <a:lnTo>
                  <a:pt x="1524000" y="0"/>
                </a:lnTo>
                <a:cubicBezTo>
                  <a:pt x="1601152" y="0"/>
                  <a:pt x="1663700" y="62548"/>
                  <a:pt x="1663700" y="139700"/>
                </a:cubicBezTo>
                <a:lnTo>
                  <a:pt x="1663700" y="1638300"/>
                </a:lnTo>
                <a:cubicBezTo>
                  <a:pt x="1663700" y="1715452"/>
                  <a:pt x="1601152" y="1778000"/>
                  <a:pt x="1524000" y="1778000"/>
                </a:cubicBezTo>
                <a:lnTo>
                  <a:pt x="139700" y="1778000"/>
                </a:lnTo>
                <a:cubicBezTo>
                  <a:pt x="62547" y="1778000"/>
                  <a:pt x="0" y="1715452"/>
                  <a:pt x="0" y="16383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data-h"/>
          <p:cNvSpPr txBox="1"/>
          <p:nvPr/>
        </p:nvSpPr>
        <p:spPr>
          <a:xfrm>
            <a:off x="1116584" y="3973640"/>
            <a:ext cx="70612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交付率走势</a:t>
            </a:r>
          </a:p>
        </p:txBody>
      </p:sp>
      <p:sp>
        <p:nvSpPr>
          <p:cNvPr id="52" name="db-0"/>
          <p:cNvSpPr/>
          <p:nvPr/>
        </p:nvSpPr>
        <p:spPr>
          <a:xfrm>
            <a:off x="1092200" y="4445000"/>
            <a:ext cx="165100" cy="889000"/>
          </a:xfrm>
          <a:custGeom>
            <a:avLst/>
            <a:gdLst/>
            <a:ahLst/>
            <a:cxnLst/>
            <a:rect l="0" t="0" r="r" b="b"/>
            <a:pathLst>
              <a:path w="165100" h="889000">
                <a:moveTo>
                  <a:pt x="0" y="889000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114300" y="0"/>
                </a:lnTo>
                <a:cubicBezTo>
                  <a:pt x="142367" y="0"/>
                  <a:pt x="165100" y="22733"/>
                  <a:pt x="165100" y="50800"/>
                </a:cubicBezTo>
                <a:lnTo>
                  <a:pt x="165100" y="889000"/>
                </a:ln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dv-0"/>
          <p:cNvSpPr txBox="1"/>
          <p:nvPr/>
        </p:nvSpPr>
        <p:spPr>
          <a:xfrm>
            <a:off x="1084961" y="424630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95</a:t>
            </a:r>
          </a:p>
        </p:txBody>
      </p:sp>
      <p:sp>
        <p:nvSpPr>
          <p:cNvPr id="54" name="dm-0"/>
          <p:cNvSpPr txBox="1"/>
          <p:nvPr/>
        </p:nvSpPr>
        <p:spPr>
          <a:xfrm>
            <a:off x="1065403" y="53893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4月</a:t>
            </a:r>
          </a:p>
        </p:txBody>
      </p:sp>
      <p:sp>
        <p:nvSpPr>
          <p:cNvPr id="55" name="db-1"/>
          <p:cNvSpPr/>
          <p:nvPr/>
        </p:nvSpPr>
        <p:spPr>
          <a:xfrm>
            <a:off x="1333500" y="4409440"/>
            <a:ext cx="165100" cy="924560"/>
          </a:xfrm>
          <a:custGeom>
            <a:avLst/>
            <a:gdLst/>
            <a:ahLst/>
            <a:cxnLst/>
            <a:rect l="0" t="0" r="r" b="b"/>
            <a:pathLst>
              <a:path w="165100" h="924560">
                <a:moveTo>
                  <a:pt x="0" y="924560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114300" y="0"/>
                </a:lnTo>
                <a:cubicBezTo>
                  <a:pt x="142367" y="0"/>
                  <a:pt x="165100" y="22733"/>
                  <a:pt x="165100" y="50800"/>
                </a:cubicBezTo>
                <a:lnTo>
                  <a:pt x="165100" y="924560"/>
                </a:ln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dv-1"/>
          <p:cNvSpPr txBox="1"/>
          <p:nvPr/>
        </p:nvSpPr>
        <p:spPr>
          <a:xfrm>
            <a:off x="1326261" y="421074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96</a:t>
            </a:r>
          </a:p>
        </p:txBody>
      </p:sp>
      <p:sp>
        <p:nvSpPr>
          <p:cNvPr id="57" name="dm-1"/>
          <p:cNvSpPr txBox="1"/>
          <p:nvPr/>
        </p:nvSpPr>
        <p:spPr>
          <a:xfrm>
            <a:off x="1306703" y="53893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5月</a:t>
            </a:r>
          </a:p>
        </p:txBody>
      </p:sp>
      <p:sp>
        <p:nvSpPr>
          <p:cNvPr id="58" name="db-2"/>
          <p:cNvSpPr/>
          <p:nvPr/>
        </p:nvSpPr>
        <p:spPr>
          <a:xfrm>
            <a:off x="1574800" y="4480560"/>
            <a:ext cx="165100" cy="853440"/>
          </a:xfrm>
          <a:custGeom>
            <a:avLst/>
            <a:gdLst/>
            <a:ahLst/>
            <a:cxnLst/>
            <a:rect l="0" t="0" r="r" b="b"/>
            <a:pathLst>
              <a:path w="165100" h="853440">
                <a:moveTo>
                  <a:pt x="0" y="853440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114300" y="0"/>
                </a:lnTo>
                <a:cubicBezTo>
                  <a:pt x="142367" y="0"/>
                  <a:pt x="165100" y="22733"/>
                  <a:pt x="165100" y="50800"/>
                </a:cubicBezTo>
                <a:lnTo>
                  <a:pt x="165100" y="853440"/>
                </a:ln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dv-2"/>
          <p:cNvSpPr txBox="1"/>
          <p:nvPr/>
        </p:nvSpPr>
        <p:spPr>
          <a:xfrm>
            <a:off x="1567561" y="428186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94</a:t>
            </a:r>
          </a:p>
        </p:txBody>
      </p:sp>
      <p:sp>
        <p:nvSpPr>
          <p:cNvPr id="60" name="dm-2"/>
          <p:cNvSpPr txBox="1"/>
          <p:nvPr/>
        </p:nvSpPr>
        <p:spPr>
          <a:xfrm>
            <a:off x="1548003" y="53893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6月</a:t>
            </a:r>
          </a:p>
        </p:txBody>
      </p:sp>
      <p:sp>
        <p:nvSpPr>
          <p:cNvPr id="61" name="db-3"/>
          <p:cNvSpPr/>
          <p:nvPr/>
        </p:nvSpPr>
        <p:spPr>
          <a:xfrm>
            <a:off x="1816100" y="4445000"/>
            <a:ext cx="165100" cy="889000"/>
          </a:xfrm>
          <a:custGeom>
            <a:avLst/>
            <a:gdLst/>
            <a:ahLst/>
            <a:cxnLst/>
            <a:rect l="0" t="0" r="r" b="b"/>
            <a:pathLst>
              <a:path w="165100" h="889000">
                <a:moveTo>
                  <a:pt x="0" y="889000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114300" y="0"/>
                </a:lnTo>
                <a:cubicBezTo>
                  <a:pt x="142367" y="0"/>
                  <a:pt x="165100" y="22733"/>
                  <a:pt x="165100" y="50800"/>
                </a:cubicBezTo>
                <a:lnTo>
                  <a:pt x="165100" y="889000"/>
                </a:ln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dv-3"/>
          <p:cNvSpPr txBox="1"/>
          <p:nvPr/>
        </p:nvSpPr>
        <p:spPr>
          <a:xfrm>
            <a:off x="1808861" y="424630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95</a:t>
            </a:r>
          </a:p>
        </p:txBody>
      </p:sp>
      <p:sp>
        <p:nvSpPr>
          <p:cNvPr id="63" name="dm-3"/>
          <p:cNvSpPr txBox="1"/>
          <p:nvPr/>
        </p:nvSpPr>
        <p:spPr>
          <a:xfrm>
            <a:off x="1789303" y="53893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7月</a:t>
            </a:r>
          </a:p>
        </p:txBody>
      </p:sp>
      <p:sp>
        <p:nvSpPr>
          <p:cNvPr id="64" name="db-4"/>
          <p:cNvSpPr/>
          <p:nvPr/>
        </p:nvSpPr>
        <p:spPr>
          <a:xfrm>
            <a:off x="2057400" y="4658360"/>
            <a:ext cx="165100" cy="675640"/>
          </a:xfrm>
          <a:custGeom>
            <a:avLst/>
            <a:gdLst/>
            <a:ahLst/>
            <a:cxnLst/>
            <a:rect l="0" t="0" r="r" b="b"/>
            <a:pathLst>
              <a:path w="165100" h="675640">
                <a:moveTo>
                  <a:pt x="0" y="675640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114300" y="0"/>
                </a:lnTo>
                <a:cubicBezTo>
                  <a:pt x="142367" y="0"/>
                  <a:pt x="165100" y="22733"/>
                  <a:pt x="165100" y="50800"/>
                </a:cubicBezTo>
                <a:lnTo>
                  <a:pt x="165100" y="675640"/>
                </a:ln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dv-4"/>
          <p:cNvSpPr txBox="1"/>
          <p:nvPr/>
        </p:nvSpPr>
        <p:spPr>
          <a:xfrm>
            <a:off x="2050161" y="445966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89</a:t>
            </a:r>
          </a:p>
        </p:txBody>
      </p:sp>
      <p:sp>
        <p:nvSpPr>
          <p:cNvPr id="66" name="dm-4"/>
          <p:cNvSpPr txBox="1"/>
          <p:nvPr/>
        </p:nvSpPr>
        <p:spPr>
          <a:xfrm>
            <a:off x="2030603" y="53893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8月</a:t>
            </a:r>
          </a:p>
        </p:txBody>
      </p:sp>
      <p:sp>
        <p:nvSpPr>
          <p:cNvPr id="67" name="db-5"/>
          <p:cNvSpPr/>
          <p:nvPr/>
        </p:nvSpPr>
        <p:spPr>
          <a:xfrm>
            <a:off x="2298700" y="4907280"/>
            <a:ext cx="165100" cy="426720"/>
          </a:xfrm>
          <a:custGeom>
            <a:avLst/>
            <a:gdLst/>
            <a:ahLst/>
            <a:cxnLst/>
            <a:rect l="0" t="0" r="r" b="b"/>
            <a:pathLst>
              <a:path w="165100" h="426720">
                <a:moveTo>
                  <a:pt x="0" y="426720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114300" y="0"/>
                </a:lnTo>
                <a:cubicBezTo>
                  <a:pt x="142367" y="0"/>
                  <a:pt x="165100" y="22733"/>
                  <a:pt x="165100" y="50800"/>
                </a:cubicBezTo>
                <a:lnTo>
                  <a:pt x="165100" y="426720"/>
                </a:ln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dv-5"/>
          <p:cNvSpPr txBox="1"/>
          <p:nvPr/>
        </p:nvSpPr>
        <p:spPr>
          <a:xfrm>
            <a:off x="2291461" y="470858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82</a:t>
            </a:r>
          </a:p>
        </p:txBody>
      </p:sp>
      <p:sp>
        <p:nvSpPr>
          <p:cNvPr id="69" name="dm-5"/>
          <p:cNvSpPr txBox="1"/>
          <p:nvPr/>
        </p:nvSpPr>
        <p:spPr>
          <a:xfrm>
            <a:off x="2271903" y="53893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9月</a:t>
            </a:r>
          </a:p>
        </p:txBody>
      </p:sp>
      <p:sp>
        <p:nvSpPr>
          <p:cNvPr id="70" name="q"/>
          <p:cNvSpPr/>
          <p:nvPr/>
        </p:nvSpPr>
        <p:spPr>
          <a:xfrm>
            <a:off x="7112000" y="1701800"/>
            <a:ext cx="31750" cy="5080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q1"/>
          <p:cNvSpPr txBox="1"/>
          <p:nvPr/>
        </p:nvSpPr>
        <p:spPr>
          <a:xfrm>
            <a:off x="7288022" y="1755997"/>
            <a:ext cx="172707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问到第五层，答案从“人不够”</a:t>
            </a:r>
          </a:p>
        </p:txBody>
      </p:sp>
      <p:sp>
        <p:nvSpPr>
          <p:cNvPr id="72" name="q2"/>
          <p:cNvSpPr txBox="1"/>
          <p:nvPr/>
        </p:nvSpPr>
        <p:spPr>
          <a:xfrm>
            <a:off x="7288022" y="1971897"/>
            <a:ext cx="135750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变成了“流程没联动”。</a:t>
            </a:r>
          </a:p>
        </p:txBody>
      </p:sp>
      <p:sp>
        <p:nvSpPr>
          <p:cNvPr id="73" name="fix"/>
          <p:cNvSpPr/>
          <p:nvPr/>
        </p:nvSpPr>
        <p:spPr>
          <a:xfrm>
            <a:off x="9207500" y="2794000"/>
            <a:ext cx="2032000" cy="2819400"/>
          </a:xfrm>
          <a:custGeom>
            <a:avLst/>
            <a:gdLst/>
            <a:ahLst/>
            <a:cxnLst/>
            <a:rect l="0" t="0" r="r" b="b"/>
            <a:pathLst>
              <a:path w="2032000" h="2819400">
                <a:moveTo>
                  <a:pt x="139700" y="0"/>
                </a:moveTo>
                <a:lnTo>
                  <a:pt x="1892300" y="0"/>
                </a:lnTo>
                <a:cubicBezTo>
                  <a:pt x="1969453" y="0"/>
                  <a:pt x="2032000" y="62548"/>
                  <a:pt x="2032000" y="139700"/>
                </a:cubicBezTo>
                <a:lnTo>
                  <a:pt x="2032000" y="2679700"/>
                </a:lnTo>
                <a:cubicBezTo>
                  <a:pt x="2032000" y="2756852"/>
                  <a:pt x="1969453" y="2819400"/>
                  <a:pt x="1892300" y="2819400"/>
                </a:cubicBezTo>
                <a:lnTo>
                  <a:pt x="139700" y="2819400"/>
                </a:lnTo>
                <a:cubicBezTo>
                  <a:pt x="62547" y="2819400"/>
                  <a:pt x="0" y="2756852"/>
                  <a:pt x="0" y="26797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fix-h"/>
          <p:cNvSpPr/>
          <p:nvPr/>
        </p:nvSpPr>
        <p:spPr>
          <a:xfrm>
            <a:off x="9207500" y="2794000"/>
            <a:ext cx="2032000" cy="444500"/>
          </a:xfrm>
          <a:custGeom>
            <a:avLst/>
            <a:gdLst/>
            <a:ahLst/>
            <a:cxnLst/>
            <a:rect l="0" t="0" r="r" b="b"/>
            <a:pathLst>
              <a:path w="2032000" h="444500">
                <a:moveTo>
                  <a:pt x="139700" y="0"/>
                </a:moveTo>
                <a:lnTo>
                  <a:pt x="1892300" y="0"/>
                </a:lnTo>
                <a:cubicBezTo>
                  <a:pt x="1969453" y="0"/>
                  <a:pt x="2032000" y="62548"/>
                  <a:pt x="2032000" y="139700"/>
                </a:cubicBezTo>
                <a:lnTo>
                  <a:pt x="2032000" y="304800"/>
                </a:lnTo>
                <a:cubicBezTo>
                  <a:pt x="2032000" y="381952"/>
                  <a:pt x="1969453" y="444500"/>
                  <a:pt x="1892300" y="444500"/>
                </a:cubicBezTo>
                <a:lnTo>
                  <a:pt x="139700" y="444500"/>
                </a:lnTo>
                <a:cubicBezTo>
                  <a:pt x="62547" y="444500"/>
                  <a:pt x="0" y="381952"/>
                  <a:pt x="0" y="3048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fix-h2"/>
          <p:cNvSpPr/>
          <p:nvPr/>
        </p:nvSpPr>
        <p:spPr>
          <a:xfrm>
            <a:off x="9207500" y="3048000"/>
            <a:ext cx="2032000" cy="190500"/>
          </a:xfrm>
          <a:prstGeom prst="rect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fix-t"/>
          <p:cNvSpPr txBox="1"/>
          <p:nvPr/>
        </p:nvSpPr>
        <p:spPr>
          <a:xfrm>
            <a:off x="9370060" y="2929255"/>
            <a:ext cx="104775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针对根因的对策</a:t>
            </a:r>
          </a:p>
        </p:txBody>
      </p:sp>
      <p:sp>
        <p:nvSpPr>
          <p:cNvPr id="77" name="fn-0"/>
          <p:cNvSpPr txBox="1"/>
          <p:nvPr/>
        </p:nvSpPr>
        <p:spPr>
          <a:xfrm>
            <a:off x="9365488" y="3390202"/>
            <a:ext cx="333502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78" name="fa-0"/>
          <p:cNvSpPr txBox="1"/>
          <p:nvPr/>
        </p:nvSpPr>
        <p:spPr>
          <a:xfrm>
            <a:off x="9701784" y="3414840"/>
            <a:ext cx="80772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排班改成按周</a:t>
            </a:r>
          </a:p>
        </p:txBody>
      </p:sp>
      <p:sp>
        <p:nvSpPr>
          <p:cNvPr id="79" name="fb-0"/>
          <p:cNvSpPr txBox="1"/>
          <p:nvPr/>
        </p:nvSpPr>
        <p:spPr>
          <a:xfrm>
            <a:off x="9704070" y="3641566"/>
            <a:ext cx="9429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接入销售预测自动排</a:t>
            </a:r>
          </a:p>
        </p:txBody>
      </p:sp>
      <p:sp>
        <p:nvSpPr>
          <p:cNvPr id="80" name="fn-1"/>
          <p:cNvSpPr txBox="1"/>
          <p:nvPr/>
        </p:nvSpPr>
        <p:spPr>
          <a:xfrm>
            <a:off x="9365488" y="4063302"/>
            <a:ext cx="333502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81" name="fa-1"/>
          <p:cNvSpPr txBox="1"/>
          <p:nvPr/>
        </p:nvSpPr>
        <p:spPr>
          <a:xfrm>
            <a:off x="9701784" y="4087940"/>
            <a:ext cx="1009269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夜班临时加 4 人</a:t>
            </a:r>
          </a:p>
        </p:txBody>
      </p:sp>
      <p:sp>
        <p:nvSpPr>
          <p:cNvPr id="82" name="fb-1"/>
          <p:cNvSpPr txBox="1"/>
          <p:nvPr/>
        </p:nvSpPr>
        <p:spPr>
          <a:xfrm>
            <a:off x="9704070" y="4314666"/>
            <a:ext cx="5619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本周内到岗</a:t>
            </a:r>
          </a:p>
        </p:txBody>
      </p:sp>
      <p:sp>
        <p:nvSpPr>
          <p:cNvPr id="83" name="fn-2"/>
          <p:cNvSpPr txBox="1"/>
          <p:nvPr/>
        </p:nvSpPr>
        <p:spPr>
          <a:xfrm>
            <a:off x="9365488" y="4736402"/>
            <a:ext cx="333502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84" name="fa-2"/>
          <p:cNvSpPr txBox="1"/>
          <p:nvPr/>
        </p:nvSpPr>
        <p:spPr>
          <a:xfrm>
            <a:off x="9701784" y="4761040"/>
            <a:ext cx="1143635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低于 90% 自动预警</a:t>
            </a:r>
          </a:p>
        </p:txBody>
      </p:sp>
      <p:sp>
        <p:nvSpPr>
          <p:cNvPr id="85" name="fb-2"/>
          <p:cNvSpPr txBox="1"/>
          <p:nvPr/>
        </p:nvSpPr>
        <p:spPr>
          <a:xfrm>
            <a:off x="9704070" y="4987766"/>
            <a:ext cx="8477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日报直达运营总监</a:t>
            </a:r>
          </a:p>
        </p:txBody>
      </p:sp>
      <p:cxnSp>
        <p:nvCxnSpPr>
          <p:cNvPr id="86" name="to-fix"/>
          <p:cNvCxnSpPr/>
          <p:nvPr/>
        </p:nvCxnSpPr>
        <p:spPr>
          <a:xfrm>
            <a:off x="8890000" y="5346700"/>
            <a:ext cx="292100" cy="0"/>
          </a:xfrm>
          <a:prstGeom prst="line">
            <a:avLst/>
          </a:prstGeom>
          <a:ln w="15875" cap="rnd">
            <a:solidFill>
              <a:srgbClr val="E0703A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to-fix-h"/>
          <p:cNvSpPr/>
          <p:nvPr/>
        </p:nvSpPr>
        <p:spPr>
          <a:xfrm>
            <a:off x="9131300" y="5307445"/>
            <a:ext cx="70040" cy="78510"/>
          </a:xfrm>
          <a:custGeom>
            <a:avLst/>
            <a:gdLst/>
            <a:ahLst/>
            <a:cxnLst/>
            <a:rect l="0" t="0" r="r" b="b"/>
            <a:pathLst>
              <a:path w="70040" h="78510">
                <a:moveTo>
                  <a:pt x="63881" y="32143"/>
                </a:moveTo>
                <a:quadBezTo>
                  <a:pt x="76200" y="39255"/>
                  <a:pt x="63881" y="46367"/>
                </a:quadBezTo>
                <a:lnTo>
                  <a:pt x="12319" y="76148"/>
                </a:lnTo>
                <a:quadBezTo>
                  <a:pt x="0" y="83260"/>
                  <a:pt x="0" y="69036"/>
                </a:quadBezTo>
                <a:lnTo>
                  <a:pt x="0" y="9473"/>
                </a:lnTo>
                <a:quadBezTo>
                  <a:pt x="0" y="-4751"/>
                  <a:pt x="12319" y="2361"/>
                </a:quad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88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9" name="foot-l"/>
          <p:cNvSpPr txBox="1"/>
          <p:nvPr/>
        </p:nvSpPr>
        <p:spPr>
          <a:xfrm>
            <a:off x="573532" y="6532308"/>
            <a:ext cx="9469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五问法 · 根因分析</a:t>
            </a:r>
          </a:p>
        </p:txBody>
      </p:sp>
      <p:sp>
        <p:nvSpPr>
          <p:cNvPr id="90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561844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SIPOC 流程全景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899541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SIPOC MAP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303895" y="673132"/>
            <a:ext cx="33168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供应商、输入、过程、输出、客户——一张图讲清一条流程的边界</a:t>
            </a:r>
          </a:p>
        </p:txBody>
      </p:sp>
      <p:sp>
        <p:nvSpPr>
          <p:cNvPr id="10" name="col-S"/>
          <p:cNvSpPr/>
          <p:nvPr/>
        </p:nvSpPr>
        <p:spPr>
          <a:xfrm>
            <a:off x="952500" y="1587500"/>
            <a:ext cx="1905000" cy="3937000"/>
          </a:xfrm>
          <a:custGeom>
            <a:avLst/>
            <a:gdLst/>
            <a:ahLst/>
            <a:cxnLst/>
            <a:rect l="0" t="0" r="r" b="b"/>
            <a:pathLst>
              <a:path w="1905000" h="3937000">
                <a:moveTo>
                  <a:pt x="165100" y="0"/>
                </a:moveTo>
                <a:lnTo>
                  <a:pt x="1739900" y="0"/>
                </a:lnTo>
                <a:cubicBezTo>
                  <a:pt x="1831086" y="0"/>
                  <a:pt x="1905000" y="73914"/>
                  <a:pt x="1905000" y="165100"/>
                </a:cubicBezTo>
                <a:lnTo>
                  <a:pt x="1905000" y="3771900"/>
                </a:lnTo>
                <a:cubicBezTo>
                  <a:pt x="1905000" y="3863086"/>
                  <a:pt x="1831086" y="3937000"/>
                  <a:pt x="1739900" y="3937000"/>
                </a:cubicBezTo>
                <a:lnTo>
                  <a:pt x="165100" y="3937000"/>
                </a:lnTo>
                <a:cubicBezTo>
                  <a:pt x="73914" y="3937000"/>
                  <a:pt x="0" y="3863086"/>
                  <a:pt x="0" y="37719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hd-S"/>
          <p:cNvSpPr/>
          <p:nvPr/>
        </p:nvSpPr>
        <p:spPr>
          <a:xfrm>
            <a:off x="952500" y="1587500"/>
            <a:ext cx="1905000" cy="762000"/>
          </a:xfrm>
          <a:custGeom>
            <a:avLst/>
            <a:gdLst/>
            <a:ahLst/>
            <a:cxnLst/>
            <a:rect l="0" t="0" r="r" b="b"/>
            <a:pathLst>
              <a:path w="1905000" h="762000">
                <a:moveTo>
                  <a:pt x="0" y="165100"/>
                </a:moveTo>
                <a:cubicBezTo>
                  <a:pt x="0" y="76200"/>
                  <a:pt x="76200" y="0"/>
                  <a:pt x="165100" y="0"/>
                </a:cubicBezTo>
                <a:lnTo>
                  <a:pt x="1739900" y="0"/>
                </a:lnTo>
                <a:cubicBezTo>
                  <a:pt x="1828800" y="0"/>
                  <a:pt x="1905000" y="76200"/>
                  <a:pt x="1905000" y="165100"/>
                </a:cubicBezTo>
                <a:lnTo>
                  <a:pt x="1905000" y="762000"/>
                </a:lnTo>
                <a:lnTo>
                  <a:pt x="0" y="762000"/>
                </a:ln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L-S"/>
          <p:cNvSpPr txBox="1"/>
          <p:nvPr/>
        </p:nvSpPr>
        <p:spPr>
          <a:xfrm>
            <a:off x="1081532" y="1618996"/>
            <a:ext cx="593344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2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S</a:t>
            </a:r>
          </a:p>
        </p:txBody>
      </p:sp>
      <p:sp>
        <p:nvSpPr>
          <p:cNvPr id="13" name="cn-S"/>
          <p:cNvSpPr txBox="1"/>
          <p:nvPr/>
        </p:nvSpPr>
        <p:spPr>
          <a:xfrm>
            <a:off x="1593850" y="1747044"/>
            <a:ext cx="6762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供应商</a:t>
            </a:r>
          </a:p>
        </p:txBody>
      </p:sp>
      <p:sp>
        <p:nvSpPr>
          <p:cNvPr id="14" name="en-S"/>
          <p:cNvSpPr txBox="1"/>
          <p:nvPr/>
        </p:nvSpPr>
        <p:spPr>
          <a:xfrm>
            <a:off x="1614932" y="2023808"/>
            <a:ext cx="64236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00">
                <a:solidFill>
                  <a:srgbClr val="E3EDF9"/>
                </a:solidFill>
                <a:latin typeface="Arial"/>
                <a:ea typeface="Arial"/>
                <a:cs typeface="Arial"/>
              </a:rPr>
              <a:t>SUPPLIERS</a:t>
            </a:r>
          </a:p>
        </p:txBody>
      </p:sp>
      <p:sp>
        <p:nvSpPr>
          <p:cNvPr id="15" name="icon-factory"/>
          <p:cNvSpPr/>
          <p:nvPr/>
        </p:nvSpPr>
        <p:spPr>
          <a:xfrm>
            <a:off x="2544318" y="1840738"/>
            <a:ext cx="118364" cy="79819"/>
          </a:xfrm>
          <a:custGeom>
            <a:avLst/>
            <a:gdLst/>
            <a:ahLst/>
            <a:cxnLst/>
            <a:rect l="0" t="0" r="r" b="b"/>
            <a:pathLst>
              <a:path w="118364" h="79819">
                <a:moveTo>
                  <a:pt x="0" y="79819"/>
                </a:moveTo>
                <a:lnTo>
                  <a:pt x="0" y="19304"/>
                </a:lnTo>
                <a:lnTo>
                  <a:pt x="34417" y="39942"/>
                </a:lnTo>
                <a:lnTo>
                  <a:pt x="34417" y="19304"/>
                </a:lnTo>
                <a:lnTo>
                  <a:pt x="68834" y="39942"/>
                </a:lnTo>
                <a:lnTo>
                  <a:pt x="68834" y="0"/>
                </a:lnTo>
                <a:lnTo>
                  <a:pt x="103188" y="20638"/>
                </a:lnTo>
                <a:lnTo>
                  <a:pt x="103188" y="72962"/>
                </a:lnTo>
                <a:close/>
                <a:moveTo>
                  <a:pt x="0" y="79819"/>
                </a:moveTo>
                <a:lnTo>
                  <a:pt x="118364" y="79819"/>
                </a:lnTo>
              </a:path>
            </a:pathLst>
          </a:custGeom>
          <a:noFill/>
          <a:ln w="12700" cap="rnd">
            <a:solidFill>
              <a:srgbClr val="FFFFFF">
                <a:alpha val="8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it-S-0"/>
          <p:cNvSpPr/>
          <p:nvPr/>
        </p:nvSpPr>
        <p:spPr>
          <a:xfrm>
            <a:off x="1104900" y="2540000"/>
            <a:ext cx="1600200" cy="406400"/>
          </a:xfrm>
          <a:custGeom>
            <a:avLst/>
            <a:gdLst/>
            <a:ahLst/>
            <a:cxnLst/>
            <a:rect l="0" t="0" r="r" b="b"/>
            <a:pathLst>
              <a:path w="1600200" h="406400">
                <a:moveTo>
                  <a:pt x="101600" y="0"/>
                </a:moveTo>
                <a:lnTo>
                  <a:pt x="1498600" y="0"/>
                </a:lnTo>
                <a:cubicBezTo>
                  <a:pt x="1554734" y="0"/>
                  <a:pt x="1600200" y="45466"/>
                  <a:pt x="1600200" y="101600"/>
                </a:cubicBezTo>
                <a:lnTo>
                  <a:pt x="1600200" y="304800"/>
                </a:lnTo>
                <a:cubicBezTo>
                  <a:pt x="1600200" y="360934"/>
                  <a:pt x="1554734" y="406400"/>
                  <a:pt x="1498600" y="406400"/>
                </a:cubicBezTo>
                <a:lnTo>
                  <a:pt x="101600" y="406400"/>
                </a:lnTo>
                <a:cubicBezTo>
                  <a:pt x="45466" y="406400"/>
                  <a:pt x="0" y="360934"/>
                  <a:pt x="0" y="304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2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id-S-0"/>
          <p:cNvSpPr/>
          <p:nvPr/>
        </p:nvSpPr>
        <p:spPr>
          <a:xfrm>
            <a:off x="1231900" y="2705100"/>
            <a:ext cx="76200" cy="762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itt-S-0"/>
          <p:cNvSpPr txBox="1"/>
          <p:nvPr/>
        </p:nvSpPr>
        <p:spPr>
          <a:xfrm>
            <a:off x="1370203" y="2642568"/>
            <a:ext cx="70897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0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面料供应商</a:t>
            </a:r>
          </a:p>
        </p:txBody>
      </p:sp>
      <p:sp>
        <p:nvSpPr>
          <p:cNvPr id="19" name="it-S-1"/>
          <p:cNvSpPr/>
          <p:nvPr/>
        </p:nvSpPr>
        <p:spPr>
          <a:xfrm>
            <a:off x="1104900" y="3073400"/>
            <a:ext cx="1600200" cy="406400"/>
          </a:xfrm>
          <a:custGeom>
            <a:avLst/>
            <a:gdLst/>
            <a:ahLst/>
            <a:cxnLst/>
            <a:rect l="0" t="0" r="r" b="b"/>
            <a:pathLst>
              <a:path w="1600200" h="406400">
                <a:moveTo>
                  <a:pt x="101600" y="0"/>
                </a:moveTo>
                <a:lnTo>
                  <a:pt x="1498600" y="0"/>
                </a:lnTo>
                <a:cubicBezTo>
                  <a:pt x="1554734" y="0"/>
                  <a:pt x="1600200" y="45466"/>
                  <a:pt x="1600200" y="101600"/>
                </a:cubicBezTo>
                <a:lnTo>
                  <a:pt x="1600200" y="304800"/>
                </a:lnTo>
                <a:cubicBezTo>
                  <a:pt x="1600200" y="360934"/>
                  <a:pt x="1554734" y="406400"/>
                  <a:pt x="1498600" y="406400"/>
                </a:cubicBezTo>
                <a:lnTo>
                  <a:pt x="101600" y="406400"/>
                </a:lnTo>
                <a:cubicBezTo>
                  <a:pt x="45466" y="406400"/>
                  <a:pt x="0" y="360934"/>
                  <a:pt x="0" y="304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2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id-S-1"/>
          <p:cNvSpPr/>
          <p:nvPr/>
        </p:nvSpPr>
        <p:spPr>
          <a:xfrm>
            <a:off x="1231900" y="3238500"/>
            <a:ext cx="76200" cy="762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itt-S-1"/>
          <p:cNvSpPr txBox="1"/>
          <p:nvPr/>
        </p:nvSpPr>
        <p:spPr>
          <a:xfrm>
            <a:off x="1370203" y="3175968"/>
            <a:ext cx="70897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0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辅料供应商</a:t>
            </a:r>
          </a:p>
        </p:txBody>
      </p:sp>
      <p:sp>
        <p:nvSpPr>
          <p:cNvPr id="22" name="it-S-2"/>
          <p:cNvSpPr/>
          <p:nvPr/>
        </p:nvSpPr>
        <p:spPr>
          <a:xfrm>
            <a:off x="1104900" y="3606800"/>
            <a:ext cx="1600200" cy="406400"/>
          </a:xfrm>
          <a:custGeom>
            <a:avLst/>
            <a:gdLst/>
            <a:ahLst/>
            <a:cxnLst/>
            <a:rect l="0" t="0" r="r" b="b"/>
            <a:pathLst>
              <a:path w="1600200" h="406400">
                <a:moveTo>
                  <a:pt x="101600" y="0"/>
                </a:moveTo>
                <a:lnTo>
                  <a:pt x="1498600" y="0"/>
                </a:lnTo>
                <a:cubicBezTo>
                  <a:pt x="1554734" y="0"/>
                  <a:pt x="1600200" y="45466"/>
                  <a:pt x="1600200" y="101600"/>
                </a:cubicBezTo>
                <a:lnTo>
                  <a:pt x="1600200" y="304800"/>
                </a:lnTo>
                <a:cubicBezTo>
                  <a:pt x="1600200" y="360934"/>
                  <a:pt x="1554734" y="406400"/>
                  <a:pt x="1498600" y="406400"/>
                </a:cubicBezTo>
                <a:lnTo>
                  <a:pt x="101600" y="406400"/>
                </a:lnTo>
                <a:cubicBezTo>
                  <a:pt x="45466" y="406400"/>
                  <a:pt x="0" y="360934"/>
                  <a:pt x="0" y="304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2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id-S-2"/>
          <p:cNvSpPr/>
          <p:nvPr/>
        </p:nvSpPr>
        <p:spPr>
          <a:xfrm>
            <a:off x="1231900" y="3771900"/>
            <a:ext cx="76200" cy="762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itt-S-2"/>
          <p:cNvSpPr txBox="1"/>
          <p:nvPr/>
        </p:nvSpPr>
        <p:spPr>
          <a:xfrm>
            <a:off x="1370203" y="3709368"/>
            <a:ext cx="46767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0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设计部</a:t>
            </a:r>
          </a:p>
        </p:txBody>
      </p:sp>
      <p:sp>
        <p:nvSpPr>
          <p:cNvPr id="25" name="it-S-3"/>
          <p:cNvSpPr/>
          <p:nvPr/>
        </p:nvSpPr>
        <p:spPr>
          <a:xfrm>
            <a:off x="1104900" y="4140200"/>
            <a:ext cx="1600200" cy="406400"/>
          </a:xfrm>
          <a:custGeom>
            <a:avLst/>
            <a:gdLst/>
            <a:ahLst/>
            <a:cxnLst/>
            <a:rect l="0" t="0" r="r" b="b"/>
            <a:pathLst>
              <a:path w="1600200" h="406400">
                <a:moveTo>
                  <a:pt x="101600" y="0"/>
                </a:moveTo>
                <a:lnTo>
                  <a:pt x="1498600" y="0"/>
                </a:lnTo>
                <a:cubicBezTo>
                  <a:pt x="1554734" y="0"/>
                  <a:pt x="1600200" y="45466"/>
                  <a:pt x="1600200" y="101600"/>
                </a:cubicBezTo>
                <a:lnTo>
                  <a:pt x="1600200" y="304800"/>
                </a:lnTo>
                <a:cubicBezTo>
                  <a:pt x="1600200" y="360934"/>
                  <a:pt x="1554734" y="406400"/>
                  <a:pt x="1498600" y="406400"/>
                </a:cubicBezTo>
                <a:lnTo>
                  <a:pt x="101600" y="406400"/>
                </a:lnTo>
                <a:cubicBezTo>
                  <a:pt x="45466" y="406400"/>
                  <a:pt x="0" y="360934"/>
                  <a:pt x="0" y="304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2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id-S-3"/>
          <p:cNvSpPr/>
          <p:nvPr/>
        </p:nvSpPr>
        <p:spPr>
          <a:xfrm>
            <a:off x="1231900" y="4305300"/>
            <a:ext cx="76200" cy="762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itt-S-3"/>
          <p:cNvSpPr txBox="1"/>
          <p:nvPr/>
        </p:nvSpPr>
        <p:spPr>
          <a:xfrm>
            <a:off x="1370203" y="4242768"/>
            <a:ext cx="46767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0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物流商</a:t>
            </a:r>
          </a:p>
        </p:txBody>
      </p:sp>
      <p:cxnSp>
        <p:nvCxnSpPr>
          <p:cNvPr id="28" name="kl-S"/>
          <p:cNvCxnSpPr/>
          <p:nvPr/>
        </p:nvCxnSpPr>
        <p:spPr>
          <a:xfrm>
            <a:off x="1104900" y="4889500"/>
            <a:ext cx="16002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kk-S"/>
          <p:cNvSpPr txBox="1"/>
          <p:nvPr/>
        </p:nvSpPr>
        <p:spPr>
          <a:xfrm>
            <a:off x="1118870" y="5000466"/>
            <a:ext cx="5619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合格供应商</a:t>
            </a:r>
          </a:p>
        </p:txBody>
      </p:sp>
      <p:sp>
        <p:nvSpPr>
          <p:cNvPr id="30" name="kv-S"/>
          <p:cNvSpPr txBox="1"/>
          <p:nvPr/>
        </p:nvSpPr>
        <p:spPr>
          <a:xfrm>
            <a:off x="1107440" y="5149532"/>
            <a:ext cx="68199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18 家</a:t>
            </a:r>
          </a:p>
        </p:txBody>
      </p:sp>
      <p:sp>
        <p:nvSpPr>
          <p:cNvPr id="31" name="ar-0"/>
          <p:cNvSpPr/>
          <p:nvPr/>
        </p:nvSpPr>
        <p:spPr>
          <a:xfrm>
            <a:off x="2838450" y="1854200"/>
            <a:ext cx="228600" cy="2286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art-0"/>
          <p:cNvSpPr/>
          <p:nvPr/>
        </p:nvSpPr>
        <p:spPr>
          <a:xfrm>
            <a:off x="2940050" y="1929245"/>
            <a:ext cx="70040" cy="78510"/>
          </a:xfrm>
          <a:custGeom>
            <a:avLst/>
            <a:gdLst/>
            <a:ahLst/>
            <a:cxnLst/>
            <a:rect l="0" t="0" r="r" b="b"/>
            <a:pathLst>
              <a:path w="70040" h="78510">
                <a:moveTo>
                  <a:pt x="63881" y="32143"/>
                </a:moveTo>
                <a:quadBezTo>
                  <a:pt x="76200" y="39255"/>
                  <a:pt x="63881" y="46367"/>
                </a:quadBezTo>
                <a:lnTo>
                  <a:pt x="12319" y="76148"/>
                </a:lnTo>
                <a:quadBezTo>
                  <a:pt x="0" y="83260"/>
                  <a:pt x="0" y="69036"/>
                </a:quadBezTo>
                <a:lnTo>
                  <a:pt x="0" y="9473"/>
                </a:lnTo>
                <a:quadBezTo>
                  <a:pt x="0" y="-4751"/>
                  <a:pt x="12319" y="2361"/>
                </a:quad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col-I"/>
          <p:cNvSpPr/>
          <p:nvPr/>
        </p:nvSpPr>
        <p:spPr>
          <a:xfrm>
            <a:off x="3048000" y="1587500"/>
            <a:ext cx="1905000" cy="3937000"/>
          </a:xfrm>
          <a:custGeom>
            <a:avLst/>
            <a:gdLst/>
            <a:ahLst/>
            <a:cxnLst/>
            <a:rect l="0" t="0" r="r" b="b"/>
            <a:pathLst>
              <a:path w="1905000" h="3937000">
                <a:moveTo>
                  <a:pt x="165100" y="0"/>
                </a:moveTo>
                <a:lnTo>
                  <a:pt x="1739900" y="0"/>
                </a:lnTo>
                <a:cubicBezTo>
                  <a:pt x="1831086" y="0"/>
                  <a:pt x="1905000" y="73914"/>
                  <a:pt x="1905000" y="165100"/>
                </a:cubicBezTo>
                <a:lnTo>
                  <a:pt x="1905000" y="3771900"/>
                </a:lnTo>
                <a:cubicBezTo>
                  <a:pt x="1905000" y="3863086"/>
                  <a:pt x="1831086" y="3937000"/>
                  <a:pt x="1739900" y="3937000"/>
                </a:cubicBezTo>
                <a:lnTo>
                  <a:pt x="165100" y="3937000"/>
                </a:lnTo>
                <a:cubicBezTo>
                  <a:pt x="73914" y="3937000"/>
                  <a:pt x="0" y="3863086"/>
                  <a:pt x="0" y="37719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hd-I"/>
          <p:cNvSpPr/>
          <p:nvPr/>
        </p:nvSpPr>
        <p:spPr>
          <a:xfrm>
            <a:off x="3048000" y="1587500"/>
            <a:ext cx="1905000" cy="762000"/>
          </a:xfrm>
          <a:custGeom>
            <a:avLst/>
            <a:gdLst/>
            <a:ahLst/>
            <a:cxnLst/>
            <a:rect l="0" t="0" r="r" b="b"/>
            <a:pathLst>
              <a:path w="1905000" h="762000">
                <a:moveTo>
                  <a:pt x="0" y="165100"/>
                </a:moveTo>
                <a:cubicBezTo>
                  <a:pt x="0" y="76200"/>
                  <a:pt x="76200" y="0"/>
                  <a:pt x="165100" y="0"/>
                </a:cubicBezTo>
                <a:lnTo>
                  <a:pt x="1739900" y="0"/>
                </a:lnTo>
                <a:cubicBezTo>
                  <a:pt x="1828800" y="0"/>
                  <a:pt x="1905000" y="76200"/>
                  <a:pt x="1905000" y="165100"/>
                </a:cubicBezTo>
                <a:lnTo>
                  <a:pt x="1905000" y="762000"/>
                </a:lnTo>
                <a:lnTo>
                  <a:pt x="0" y="762000"/>
                </a:lnTo>
                <a:close/>
              </a:path>
            </a:pathLst>
          </a:custGeom>
          <a:gradFill rotWithShape="1">
            <a:gsLst>
              <a:gs pos="0">
                <a:srgbClr val="366EB2"/>
              </a:gs>
              <a:gs pos="100000">
                <a:srgbClr val="1B5AA8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L-I"/>
          <p:cNvSpPr txBox="1"/>
          <p:nvPr/>
        </p:nvSpPr>
        <p:spPr>
          <a:xfrm>
            <a:off x="3177032" y="1618996"/>
            <a:ext cx="593344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2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I</a:t>
            </a:r>
          </a:p>
        </p:txBody>
      </p:sp>
      <p:sp>
        <p:nvSpPr>
          <p:cNvPr id="36" name="cn-I"/>
          <p:cNvSpPr txBox="1"/>
          <p:nvPr/>
        </p:nvSpPr>
        <p:spPr>
          <a:xfrm>
            <a:off x="3689350" y="17470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输入</a:t>
            </a:r>
          </a:p>
        </p:txBody>
      </p:sp>
      <p:sp>
        <p:nvSpPr>
          <p:cNvPr id="37" name="en-I"/>
          <p:cNvSpPr txBox="1"/>
          <p:nvPr/>
        </p:nvSpPr>
        <p:spPr>
          <a:xfrm>
            <a:off x="3710432" y="2023808"/>
            <a:ext cx="45491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00">
                <a:solidFill>
                  <a:srgbClr val="E3EDF9"/>
                </a:solidFill>
                <a:latin typeface="Arial"/>
                <a:ea typeface="Arial"/>
                <a:cs typeface="Arial"/>
              </a:rPr>
              <a:t>INPUTS</a:t>
            </a:r>
          </a:p>
        </p:txBody>
      </p:sp>
      <p:sp>
        <p:nvSpPr>
          <p:cNvPr id="38" name="icon-doc"/>
          <p:cNvSpPr/>
          <p:nvPr/>
        </p:nvSpPr>
        <p:spPr>
          <a:xfrm>
            <a:off x="4661852" y="1809115"/>
            <a:ext cx="77025" cy="115570"/>
          </a:xfrm>
          <a:custGeom>
            <a:avLst/>
            <a:gdLst/>
            <a:ahLst/>
            <a:cxnLst/>
            <a:rect l="0" t="0" r="r" b="b"/>
            <a:pathLst>
              <a:path w="77025" h="115570">
                <a:moveTo>
                  <a:pt x="0" y="0"/>
                </a:moveTo>
                <a:lnTo>
                  <a:pt x="49530" y="0"/>
                </a:lnTo>
                <a:lnTo>
                  <a:pt x="77025" y="27496"/>
                </a:lnTo>
                <a:lnTo>
                  <a:pt x="77025" y="115570"/>
                </a:lnTo>
                <a:lnTo>
                  <a:pt x="0" y="115570"/>
                </a:lnTo>
                <a:close/>
                <a:moveTo>
                  <a:pt x="49530" y="0"/>
                </a:moveTo>
                <a:lnTo>
                  <a:pt x="49530" y="27496"/>
                </a:lnTo>
                <a:lnTo>
                  <a:pt x="77025" y="27496"/>
                </a:lnTo>
                <a:moveTo>
                  <a:pt x="17907" y="60516"/>
                </a:moveTo>
                <a:lnTo>
                  <a:pt x="59182" y="60516"/>
                </a:lnTo>
                <a:moveTo>
                  <a:pt x="17907" y="83947"/>
                </a:moveTo>
                <a:lnTo>
                  <a:pt x="59182" y="83947"/>
                </a:lnTo>
              </a:path>
            </a:pathLst>
          </a:custGeom>
          <a:noFill/>
          <a:ln w="12700" cap="rnd">
            <a:solidFill>
              <a:srgbClr val="FFFFFF">
                <a:alpha val="8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it-I-0"/>
          <p:cNvSpPr/>
          <p:nvPr/>
        </p:nvSpPr>
        <p:spPr>
          <a:xfrm>
            <a:off x="3200400" y="2540000"/>
            <a:ext cx="1600200" cy="406400"/>
          </a:xfrm>
          <a:custGeom>
            <a:avLst/>
            <a:gdLst/>
            <a:ahLst/>
            <a:cxnLst/>
            <a:rect l="0" t="0" r="r" b="b"/>
            <a:pathLst>
              <a:path w="1600200" h="406400">
                <a:moveTo>
                  <a:pt x="101600" y="0"/>
                </a:moveTo>
                <a:lnTo>
                  <a:pt x="1498600" y="0"/>
                </a:lnTo>
                <a:cubicBezTo>
                  <a:pt x="1554734" y="0"/>
                  <a:pt x="1600200" y="45466"/>
                  <a:pt x="1600200" y="101600"/>
                </a:cubicBezTo>
                <a:lnTo>
                  <a:pt x="1600200" y="304800"/>
                </a:lnTo>
                <a:cubicBezTo>
                  <a:pt x="1600200" y="360934"/>
                  <a:pt x="1554734" y="406400"/>
                  <a:pt x="1498600" y="406400"/>
                </a:cubicBezTo>
                <a:lnTo>
                  <a:pt x="101600" y="406400"/>
                </a:lnTo>
                <a:cubicBezTo>
                  <a:pt x="45466" y="406400"/>
                  <a:pt x="0" y="360934"/>
                  <a:pt x="0" y="304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2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id-I-0"/>
          <p:cNvSpPr/>
          <p:nvPr/>
        </p:nvSpPr>
        <p:spPr>
          <a:xfrm>
            <a:off x="3327400" y="2705100"/>
            <a:ext cx="76200" cy="7620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itt-I-0"/>
          <p:cNvSpPr txBox="1"/>
          <p:nvPr/>
        </p:nvSpPr>
        <p:spPr>
          <a:xfrm>
            <a:off x="3465703" y="2642568"/>
            <a:ext cx="70897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0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面料与辅料</a:t>
            </a:r>
          </a:p>
        </p:txBody>
      </p:sp>
      <p:sp>
        <p:nvSpPr>
          <p:cNvPr id="42" name="it-I-1"/>
          <p:cNvSpPr/>
          <p:nvPr/>
        </p:nvSpPr>
        <p:spPr>
          <a:xfrm>
            <a:off x="3200400" y="3073400"/>
            <a:ext cx="1600200" cy="406400"/>
          </a:xfrm>
          <a:custGeom>
            <a:avLst/>
            <a:gdLst/>
            <a:ahLst/>
            <a:cxnLst/>
            <a:rect l="0" t="0" r="r" b="b"/>
            <a:pathLst>
              <a:path w="1600200" h="406400">
                <a:moveTo>
                  <a:pt x="101600" y="0"/>
                </a:moveTo>
                <a:lnTo>
                  <a:pt x="1498600" y="0"/>
                </a:lnTo>
                <a:cubicBezTo>
                  <a:pt x="1554734" y="0"/>
                  <a:pt x="1600200" y="45466"/>
                  <a:pt x="1600200" y="101600"/>
                </a:cubicBezTo>
                <a:lnTo>
                  <a:pt x="1600200" y="304800"/>
                </a:lnTo>
                <a:cubicBezTo>
                  <a:pt x="1600200" y="360934"/>
                  <a:pt x="1554734" y="406400"/>
                  <a:pt x="1498600" y="406400"/>
                </a:cubicBezTo>
                <a:lnTo>
                  <a:pt x="101600" y="406400"/>
                </a:lnTo>
                <a:cubicBezTo>
                  <a:pt x="45466" y="406400"/>
                  <a:pt x="0" y="360934"/>
                  <a:pt x="0" y="304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2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id-I-1"/>
          <p:cNvSpPr/>
          <p:nvPr/>
        </p:nvSpPr>
        <p:spPr>
          <a:xfrm>
            <a:off x="3327400" y="3238500"/>
            <a:ext cx="76200" cy="7620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itt-I-1"/>
          <p:cNvSpPr txBox="1"/>
          <p:nvPr/>
        </p:nvSpPr>
        <p:spPr>
          <a:xfrm>
            <a:off x="3465703" y="3175968"/>
            <a:ext cx="58832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0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版型图纸</a:t>
            </a:r>
          </a:p>
        </p:txBody>
      </p:sp>
      <p:sp>
        <p:nvSpPr>
          <p:cNvPr id="45" name="it-I-2"/>
          <p:cNvSpPr/>
          <p:nvPr/>
        </p:nvSpPr>
        <p:spPr>
          <a:xfrm>
            <a:off x="3200400" y="3606800"/>
            <a:ext cx="1600200" cy="406400"/>
          </a:xfrm>
          <a:custGeom>
            <a:avLst/>
            <a:gdLst/>
            <a:ahLst/>
            <a:cxnLst/>
            <a:rect l="0" t="0" r="r" b="b"/>
            <a:pathLst>
              <a:path w="1600200" h="406400">
                <a:moveTo>
                  <a:pt x="101600" y="0"/>
                </a:moveTo>
                <a:lnTo>
                  <a:pt x="1498600" y="0"/>
                </a:lnTo>
                <a:cubicBezTo>
                  <a:pt x="1554734" y="0"/>
                  <a:pt x="1600200" y="45466"/>
                  <a:pt x="1600200" y="101600"/>
                </a:cubicBezTo>
                <a:lnTo>
                  <a:pt x="1600200" y="304800"/>
                </a:lnTo>
                <a:cubicBezTo>
                  <a:pt x="1600200" y="360934"/>
                  <a:pt x="1554734" y="406400"/>
                  <a:pt x="1498600" y="406400"/>
                </a:cubicBezTo>
                <a:lnTo>
                  <a:pt x="101600" y="406400"/>
                </a:lnTo>
                <a:cubicBezTo>
                  <a:pt x="45466" y="406400"/>
                  <a:pt x="0" y="360934"/>
                  <a:pt x="0" y="304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2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id-I-2"/>
          <p:cNvSpPr/>
          <p:nvPr/>
        </p:nvSpPr>
        <p:spPr>
          <a:xfrm>
            <a:off x="3327400" y="3771900"/>
            <a:ext cx="76200" cy="7620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itt-I-2"/>
          <p:cNvSpPr txBox="1"/>
          <p:nvPr/>
        </p:nvSpPr>
        <p:spPr>
          <a:xfrm>
            <a:off x="3465703" y="3709368"/>
            <a:ext cx="58832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0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订单需求</a:t>
            </a:r>
          </a:p>
        </p:txBody>
      </p:sp>
      <p:sp>
        <p:nvSpPr>
          <p:cNvPr id="48" name="it-I-3"/>
          <p:cNvSpPr/>
          <p:nvPr/>
        </p:nvSpPr>
        <p:spPr>
          <a:xfrm>
            <a:off x="3200400" y="4140200"/>
            <a:ext cx="1600200" cy="406400"/>
          </a:xfrm>
          <a:custGeom>
            <a:avLst/>
            <a:gdLst/>
            <a:ahLst/>
            <a:cxnLst/>
            <a:rect l="0" t="0" r="r" b="b"/>
            <a:pathLst>
              <a:path w="1600200" h="406400">
                <a:moveTo>
                  <a:pt x="101600" y="0"/>
                </a:moveTo>
                <a:lnTo>
                  <a:pt x="1498600" y="0"/>
                </a:lnTo>
                <a:cubicBezTo>
                  <a:pt x="1554734" y="0"/>
                  <a:pt x="1600200" y="45466"/>
                  <a:pt x="1600200" y="101600"/>
                </a:cubicBezTo>
                <a:lnTo>
                  <a:pt x="1600200" y="304800"/>
                </a:lnTo>
                <a:cubicBezTo>
                  <a:pt x="1600200" y="360934"/>
                  <a:pt x="1554734" y="406400"/>
                  <a:pt x="1498600" y="406400"/>
                </a:cubicBezTo>
                <a:lnTo>
                  <a:pt x="101600" y="406400"/>
                </a:lnTo>
                <a:cubicBezTo>
                  <a:pt x="45466" y="406400"/>
                  <a:pt x="0" y="360934"/>
                  <a:pt x="0" y="304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2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id-I-3"/>
          <p:cNvSpPr/>
          <p:nvPr/>
        </p:nvSpPr>
        <p:spPr>
          <a:xfrm>
            <a:off x="3327400" y="4305300"/>
            <a:ext cx="76200" cy="7620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itt-I-3"/>
          <p:cNvSpPr txBox="1"/>
          <p:nvPr/>
        </p:nvSpPr>
        <p:spPr>
          <a:xfrm>
            <a:off x="3465703" y="4242768"/>
            <a:ext cx="58832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0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质检标准</a:t>
            </a:r>
          </a:p>
        </p:txBody>
      </p:sp>
      <p:cxnSp>
        <p:nvCxnSpPr>
          <p:cNvPr id="51" name="kl-I"/>
          <p:cNvCxnSpPr/>
          <p:nvPr/>
        </p:nvCxnSpPr>
        <p:spPr>
          <a:xfrm>
            <a:off x="3200400" y="4889500"/>
            <a:ext cx="16002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kk-I"/>
          <p:cNvSpPr txBox="1"/>
          <p:nvPr/>
        </p:nvSpPr>
        <p:spPr>
          <a:xfrm>
            <a:off x="3214370" y="5000466"/>
            <a:ext cx="657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面料准时到货</a:t>
            </a:r>
          </a:p>
        </p:txBody>
      </p:sp>
      <p:sp>
        <p:nvSpPr>
          <p:cNvPr id="53" name="kv-I"/>
          <p:cNvSpPr txBox="1"/>
          <p:nvPr/>
        </p:nvSpPr>
        <p:spPr>
          <a:xfrm>
            <a:off x="3202940" y="5149532"/>
            <a:ext cx="49149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91%</a:t>
            </a:r>
          </a:p>
        </p:txBody>
      </p:sp>
      <p:sp>
        <p:nvSpPr>
          <p:cNvPr id="54" name="ar-1"/>
          <p:cNvSpPr/>
          <p:nvPr/>
        </p:nvSpPr>
        <p:spPr>
          <a:xfrm>
            <a:off x="4933950" y="1854200"/>
            <a:ext cx="228600" cy="2286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art-1"/>
          <p:cNvSpPr/>
          <p:nvPr/>
        </p:nvSpPr>
        <p:spPr>
          <a:xfrm>
            <a:off x="5035550" y="1929245"/>
            <a:ext cx="70040" cy="78510"/>
          </a:xfrm>
          <a:custGeom>
            <a:avLst/>
            <a:gdLst/>
            <a:ahLst/>
            <a:cxnLst/>
            <a:rect l="0" t="0" r="r" b="b"/>
            <a:pathLst>
              <a:path w="70040" h="78510">
                <a:moveTo>
                  <a:pt x="63881" y="32143"/>
                </a:moveTo>
                <a:quadBezTo>
                  <a:pt x="76200" y="39255"/>
                  <a:pt x="63881" y="46367"/>
                </a:quadBezTo>
                <a:lnTo>
                  <a:pt x="12319" y="76148"/>
                </a:lnTo>
                <a:quadBezTo>
                  <a:pt x="0" y="83260"/>
                  <a:pt x="0" y="69036"/>
                </a:quadBezTo>
                <a:lnTo>
                  <a:pt x="0" y="9473"/>
                </a:lnTo>
                <a:quadBezTo>
                  <a:pt x="0" y="-4751"/>
                  <a:pt x="12319" y="2361"/>
                </a:quad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col-P"/>
          <p:cNvSpPr/>
          <p:nvPr/>
        </p:nvSpPr>
        <p:spPr>
          <a:xfrm>
            <a:off x="5143500" y="1587500"/>
            <a:ext cx="1905000" cy="3937000"/>
          </a:xfrm>
          <a:custGeom>
            <a:avLst/>
            <a:gdLst/>
            <a:ahLst/>
            <a:cxnLst/>
            <a:rect l="0" t="0" r="r" b="b"/>
            <a:pathLst>
              <a:path w="1905000" h="3937000">
                <a:moveTo>
                  <a:pt x="165100" y="0"/>
                </a:moveTo>
                <a:lnTo>
                  <a:pt x="1739900" y="0"/>
                </a:lnTo>
                <a:cubicBezTo>
                  <a:pt x="1831086" y="0"/>
                  <a:pt x="1905000" y="73914"/>
                  <a:pt x="1905000" y="165100"/>
                </a:cubicBezTo>
                <a:lnTo>
                  <a:pt x="1905000" y="3771900"/>
                </a:lnTo>
                <a:cubicBezTo>
                  <a:pt x="1905000" y="3863086"/>
                  <a:pt x="1831086" y="3937000"/>
                  <a:pt x="1739900" y="3937000"/>
                </a:cubicBezTo>
                <a:lnTo>
                  <a:pt x="165100" y="3937000"/>
                </a:lnTo>
                <a:cubicBezTo>
                  <a:pt x="73914" y="3937000"/>
                  <a:pt x="0" y="3863086"/>
                  <a:pt x="0" y="37719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hd-P"/>
          <p:cNvSpPr/>
          <p:nvPr/>
        </p:nvSpPr>
        <p:spPr>
          <a:xfrm>
            <a:off x="5143500" y="1587500"/>
            <a:ext cx="1905000" cy="762000"/>
          </a:xfrm>
          <a:custGeom>
            <a:avLst/>
            <a:gdLst/>
            <a:ahLst/>
            <a:cxnLst/>
            <a:rect l="0" t="0" r="r" b="b"/>
            <a:pathLst>
              <a:path w="1905000" h="762000">
                <a:moveTo>
                  <a:pt x="0" y="165100"/>
                </a:moveTo>
                <a:cubicBezTo>
                  <a:pt x="0" y="76200"/>
                  <a:pt x="76200" y="0"/>
                  <a:pt x="165100" y="0"/>
                </a:cubicBezTo>
                <a:lnTo>
                  <a:pt x="1739900" y="0"/>
                </a:lnTo>
                <a:cubicBezTo>
                  <a:pt x="1828800" y="0"/>
                  <a:pt x="1905000" y="76200"/>
                  <a:pt x="1905000" y="165100"/>
                </a:cubicBezTo>
                <a:lnTo>
                  <a:pt x="1905000" y="762000"/>
                </a:lnTo>
                <a:lnTo>
                  <a:pt x="0" y="762000"/>
                </a:lnTo>
                <a:close/>
              </a:path>
            </a:pathLst>
          </a:custGeom>
          <a:gradFill rotWithShape="1">
            <a:gsLst>
              <a:gs pos="0">
                <a:srgbClr val="E48152"/>
              </a:gs>
              <a:gs pos="100000">
                <a:srgbClr val="E0703A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L-P"/>
          <p:cNvSpPr txBox="1"/>
          <p:nvPr/>
        </p:nvSpPr>
        <p:spPr>
          <a:xfrm>
            <a:off x="5272532" y="1618996"/>
            <a:ext cx="593344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2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P</a:t>
            </a:r>
          </a:p>
        </p:txBody>
      </p:sp>
      <p:sp>
        <p:nvSpPr>
          <p:cNvPr id="59" name="cn-P"/>
          <p:cNvSpPr txBox="1"/>
          <p:nvPr/>
        </p:nvSpPr>
        <p:spPr>
          <a:xfrm>
            <a:off x="5784850" y="17470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过程</a:t>
            </a:r>
          </a:p>
        </p:txBody>
      </p:sp>
      <p:sp>
        <p:nvSpPr>
          <p:cNvPr id="60" name="en-P"/>
          <p:cNvSpPr txBox="1"/>
          <p:nvPr/>
        </p:nvSpPr>
        <p:spPr>
          <a:xfrm>
            <a:off x="5805932" y="2023808"/>
            <a:ext cx="51739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00">
                <a:solidFill>
                  <a:srgbClr val="E3EDF9"/>
                </a:solidFill>
                <a:latin typeface="Arial"/>
                <a:ea typeface="Arial"/>
                <a:cs typeface="Arial"/>
              </a:rPr>
              <a:t>PROCESS</a:t>
            </a:r>
          </a:p>
        </p:txBody>
      </p:sp>
      <p:sp>
        <p:nvSpPr>
          <p:cNvPr id="61" name="icon-gear"/>
          <p:cNvSpPr/>
          <p:nvPr/>
        </p:nvSpPr>
        <p:spPr>
          <a:xfrm>
            <a:off x="6742938" y="1803590"/>
            <a:ext cx="103124" cy="126619"/>
          </a:xfrm>
          <a:custGeom>
            <a:avLst/>
            <a:gdLst/>
            <a:ahLst/>
            <a:cxnLst/>
            <a:rect l="0" t="0" r="r" b="b"/>
            <a:pathLst>
              <a:path w="103124" h="126619">
                <a:moveTo>
                  <a:pt x="51562" y="39942"/>
                </a:moveTo>
                <a:cubicBezTo>
                  <a:pt x="43180" y="39942"/>
                  <a:pt x="35496" y="44387"/>
                  <a:pt x="31305" y="51626"/>
                </a:cubicBezTo>
                <a:cubicBezTo>
                  <a:pt x="27114" y="58865"/>
                  <a:pt x="27114" y="67755"/>
                  <a:pt x="31305" y="74994"/>
                </a:cubicBezTo>
                <a:cubicBezTo>
                  <a:pt x="35496" y="82233"/>
                  <a:pt x="43180" y="86678"/>
                  <a:pt x="51562" y="86678"/>
                </a:cubicBezTo>
                <a:cubicBezTo>
                  <a:pt x="64452" y="86678"/>
                  <a:pt x="74930" y="76200"/>
                  <a:pt x="74930" y="63310"/>
                </a:cubicBezTo>
                <a:cubicBezTo>
                  <a:pt x="74930" y="50419"/>
                  <a:pt x="64452" y="39942"/>
                  <a:pt x="51562" y="39942"/>
                </a:cubicBezTo>
                <a:close/>
                <a:moveTo>
                  <a:pt x="51562" y="0"/>
                </a:moveTo>
                <a:lnTo>
                  <a:pt x="59118" y="17907"/>
                </a:lnTo>
                <a:lnTo>
                  <a:pt x="78359" y="13780"/>
                </a:lnTo>
                <a:lnTo>
                  <a:pt x="85280" y="32322"/>
                </a:lnTo>
                <a:lnTo>
                  <a:pt x="103124" y="39942"/>
                </a:lnTo>
                <a:lnTo>
                  <a:pt x="94932" y="57785"/>
                </a:lnTo>
                <a:lnTo>
                  <a:pt x="103124" y="75692"/>
                </a:lnTo>
                <a:lnTo>
                  <a:pt x="85280" y="83249"/>
                </a:lnTo>
                <a:lnTo>
                  <a:pt x="78359" y="101854"/>
                </a:lnTo>
                <a:lnTo>
                  <a:pt x="59118" y="97727"/>
                </a:lnTo>
                <a:lnTo>
                  <a:pt x="51562" y="126619"/>
                </a:lnTo>
                <a:lnTo>
                  <a:pt x="44005" y="108712"/>
                </a:lnTo>
                <a:lnTo>
                  <a:pt x="24765" y="112840"/>
                </a:lnTo>
                <a:lnTo>
                  <a:pt x="17843" y="94298"/>
                </a:lnTo>
                <a:lnTo>
                  <a:pt x="0" y="86678"/>
                </a:lnTo>
                <a:lnTo>
                  <a:pt x="8191" y="63310"/>
                </a:lnTo>
                <a:lnTo>
                  <a:pt x="0" y="45403"/>
                </a:lnTo>
                <a:lnTo>
                  <a:pt x="17843" y="37846"/>
                </a:lnTo>
                <a:lnTo>
                  <a:pt x="24765" y="19304"/>
                </a:lnTo>
                <a:lnTo>
                  <a:pt x="44005" y="23432"/>
                </a:lnTo>
                <a:close/>
              </a:path>
            </a:pathLst>
          </a:custGeom>
          <a:noFill/>
          <a:ln w="12700" cap="rnd">
            <a:solidFill>
              <a:srgbClr val="FFFFFF">
                <a:alpha val="8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ps-0"/>
          <p:cNvSpPr/>
          <p:nvPr/>
        </p:nvSpPr>
        <p:spPr>
          <a:xfrm>
            <a:off x="5295900" y="2514600"/>
            <a:ext cx="1600200" cy="406400"/>
          </a:xfrm>
          <a:custGeom>
            <a:avLst/>
            <a:gdLst/>
            <a:ahLst/>
            <a:cxnLst/>
            <a:rect l="0" t="0" r="r" b="b"/>
            <a:pathLst>
              <a:path w="1600200" h="406400">
                <a:moveTo>
                  <a:pt x="203200" y="0"/>
                </a:moveTo>
                <a:lnTo>
                  <a:pt x="1397000" y="0"/>
                </a:lnTo>
                <a:cubicBezTo>
                  <a:pt x="1509205" y="0"/>
                  <a:pt x="1600200" y="90995"/>
                  <a:pt x="1600200" y="203200"/>
                </a:cubicBezTo>
                <a:lnTo>
                  <a:pt x="1600200" y="203200"/>
                </a:lnTo>
                <a:cubicBezTo>
                  <a:pt x="1600200" y="315405"/>
                  <a:pt x="1509205" y="406400"/>
                  <a:pt x="1397000" y="406400"/>
                </a:cubicBezTo>
                <a:lnTo>
                  <a:pt x="203200" y="406400"/>
                </a:lnTo>
                <a:cubicBezTo>
                  <a:pt x="90996" y="406400"/>
                  <a:pt x="0" y="315405"/>
                  <a:pt x="0" y="203200"/>
                </a:cubicBezTo>
                <a:lnTo>
                  <a:pt x="0" y="203200"/>
                </a:lnTo>
                <a:cubicBezTo>
                  <a:pt x="0" y="90995"/>
                  <a:pt x="90996" y="0"/>
                  <a:pt x="203200" y="0"/>
                </a:cubicBezTo>
                <a:close/>
              </a:path>
            </a:pathLst>
          </a:custGeom>
          <a:solidFill>
            <a:srgbClr val="FCEFE7"/>
          </a:solidFill>
          <a:ln w="889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pn-0"/>
          <p:cNvSpPr/>
          <p:nvPr/>
        </p:nvSpPr>
        <p:spPr>
          <a:xfrm>
            <a:off x="5384800" y="2590800"/>
            <a:ext cx="254000" cy="2540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pnt-0"/>
          <p:cNvSpPr txBox="1"/>
          <p:nvPr/>
        </p:nvSpPr>
        <p:spPr>
          <a:xfrm>
            <a:off x="5432996" y="2628932"/>
            <a:ext cx="15760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65" name="pt-0"/>
          <p:cNvSpPr txBox="1"/>
          <p:nvPr/>
        </p:nvSpPr>
        <p:spPr>
          <a:xfrm>
            <a:off x="5726303" y="2623518"/>
            <a:ext cx="60102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接单排产</a:t>
            </a:r>
          </a:p>
        </p:txBody>
      </p:sp>
      <p:sp>
        <p:nvSpPr>
          <p:cNvPr id="66" name="pa-0"/>
          <p:cNvSpPr/>
          <p:nvPr/>
        </p:nvSpPr>
        <p:spPr>
          <a:xfrm>
            <a:off x="6056745" y="2984500"/>
            <a:ext cx="78510" cy="70040"/>
          </a:xfrm>
          <a:custGeom>
            <a:avLst/>
            <a:gdLst/>
            <a:ahLst/>
            <a:cxnLst/>
            <a:rect l="0" t="0" r="r" b="b"/>
            <a:pathLst>
              <a:path w="78510" h="70040">
                <a:moveTo>
                  <a:pt x="46367" y="63881"/>
                </a:moveTo>
                <a:quadBezTo>
                  <a:pt x="39255" y="76200"/>
                  <a:pt x="32143" y="63881"/>
                </a:quadBezTo>
                <a:lnTo>
                  <a:pt x="2361" y="12319"/>
                </a:lnTo>
                <a:quadBezTo>
                  <a:pt x="-4751" y="0"/>
                  <a:pt x="9473" y="0"/>
                </a:quadBezTo>
                <a:lnTo>
                  <a:pt x="69036" y="0"/>
                </a:lnTo>
                <a:quadBezTo>
                  <a:pt x="83260" y="0"/>
                  <a:pt x="76148" y="12319"/>
                </a:quadBezTo>
                <a:close/>
              </a:path>
            </a:pathLst>
          </a:custGeom>
          <a:solidFill>
            <a:srgbClr val="E0703A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ps-1"/>
          <p:cNvSpPr/>
          <p:nvPr/>
        </p:nvSpPr>
        <p:spPr>
          <a:xfrm>
            <a:off x="5295900" y="3098800"/>
            <a:ext cx="1600200" cy="406400"/>
          </a:xfrm>
          <a:custGeom>
            <a:avLst/>
            <a:gdLst/>
            <a:ahLst/>
            <a:cxnLst/>
            <a:rect l="0" t="0" r="r" b="b"/>
            <a:pathLst>
              <a:path w="1600200" h="406400">
                <a:moveTo>
                  <a:pt x="203200" y="0"/>
                </a:moveTo>
                <a:lnTo>
                  <a:pt x="1397000" y="0"/>
                </a:lnTo>
                <a:cubicBezTo>
                  <a:pt x="1509205" y="0"/>
                  <a:pt x="1600200" y="90995"/>
                  <a:pt x="1600200" y="203200"/>
                </a:cubicBezTo>
                <a:lnTo>
                  <a:pt x="1600200" y="203200"/>
                </a:lnTo>
                <a:cubicBezTo>
                  <a:pt x="1600200" y="315404"/>
                  <a:pt x="1509205" y="406400"/>
                  <a:pt x="1397000" y="406400"/>
                </a:cubicBezTo>
                <a:lnTo>
                  <a:pt x="203200" y="406400"/>
                </a:lnTo>
                <a:cubicBezTo>
                  <a:pt x="90996" y="406400"/>
                  <a:pt x="0" y="315404"/>
                  <a:pt x="0" y="203200"/>
                </a:cubicBezTo>
                <a:lnTo>
                  <a:pt x="0" y="203200"/>
                </a:lnTo>
                <a:cubicBezTo>
                  <a:pt x="0" y="90995"/>
                  <a:pt x="90996" y="0"/>
                  <a:pt x="203200" y="0"/>
                </a:cubicBezTo>
                <a:close/>
              </a:path>
            </a:pathLst>
          </a:custGeom>
          <a:solidFill>
            <a:srgbClr val="FCEFE7"/>
          </a:solidFill>
          <a:ln w="889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pn-1"/>
          <p:cNvSpPr/>
          <p:nvPr/>
        </p:nvSpPr>
        <p:spPr>
          <a:xfrm>
            <a:off x="5384800" y="3175000"/>
            <a:ext cx="254000" cy="2540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pnt-1"/>
          <p:cNvSpPr txBox="1"/>
          <p:nvPr/>
        </p:nvSpPr>
        <p:spPr>
          <a:xfrm>
            <a:off x="5432996" y="3213132"/>
            <a:ext cx="15760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70" name="pt-1"/>
          <p:cNvSpPr txBox="1"/>
          <p:nvPr/>
        </p:nvSpPr>
        <p:spPr>
          <a:xfrm>
            <a:off x="5726303" y="3207718"/>
            <a:ext cx="35337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裁剪</a:t>
            </a:r>
          </a:p>
        </p:txBody>
      </p:sp>
      <p:sp>
        <p:nvSpPr>
          <p:cNvPr id="71" name="pa-1"/>
          <p:cNvSpPr/>
          <p:nvPr/>
        </p:nvSpPr>
        <p:spPr>
          <a:xfrm>
            <a:off x="6056745" y="3568700"/>
            <a:ext cx="78510" cy="70040"/>
          </a:xfrm>
          <a:custGeom>
            <a:avLst/>
            <a:gdLst/>
            <a:ahLst/>
            <a:cxnLst/>
            <a:rect l="0" t="0" r="r" b="b"/>
            <a:pathLst>
              <a:path w="78510" h="70040">
                <a:moveTo>
                  <a:pt x="46367" y="63881"/>
                </a:moveTo>
                <a:quadBezTo>
                  <a:pt x="39255" y="76200"/>
                  <a:pt x="32143" y="63881"/>
                </a:quadBezTo>
                <a:lnTo>
                  <a:pt x="2361" y="12319"/>
                </a:lnTo>
                <a:quadBezTo>
                  <a:pt x="-4751" y="0"/>
                  <a:pt x="9473" y="0"/>
                </a:quadBezTo>
                <a:lnTo>
                  <a:pt x="69036" y="0"/>
                </a:lnTo>
                <a:quadBezTo>
                  <a:pt x="83260" y="0"/>
                  <a:pt x="76148" y="12319"/>
                </a:quadBezTo>
                <a:close/>
              </a:path>
            </a:pathLst>
          </a:custGeom>
          <a:solidFill>
            <a:srgbClr val="E0703A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ps-2"/>
          <p:cNvSpPr/>
          <p:nvPr/>
        </p:nvSpPr>
        <p:spPr>
          <a:xfrm>
            <a:off x="5295900" y="3683000"/>
            <a:ext cx="1600200" cy="406400"/>
          </a:xfrm>
          <a:custGeom>
            <a:avLst/>
            <a:gdLst/>
            <a:ahLst/>
            <a:cxnLst/>
            <a:rect l="0" t="0" r="r" b="b"/>
            <a:pathLst>
              <a:path w="1600200" h="406400">
                <a:moveTo>
                  <a:pt x="203200" y="0"/>
                </a:moveTo>
                <a:lnTo>
                  <a:pt x="1397000" y="0"/>
                </a:lnTo>
                <a:cubicBezTo>
                  <a:pt x="1509205" y="0"/>
                  <a:pt x="1600200" y="90996"/>
                  <a:pt x="1600200" y="203200"/>
                </a:cubicBezTo>
                <a:lnTo>
                  <a:pt x="1600200" y="203200"/>
                </a:lnTo>
                <a:cubicBezTo>
                  <a:pt x="1600200" y="315404"/>
                  <a:pt x="1509205" y="406400"/>
                  <a:pt x="1397000" y="406400"/>
                </a:cubicBezTo>
                <a:lnTo>
                  <a:pt x="203200" y="406400"/>
                </a:lnTo>
                <a:cubicBezTo>
                  <a:pt x="90996" y="406400"/>
                  <a:pt x="0" y="315404"/>
                  <a:pt x="0" y="203200"/>
                </a:cubicBezTo>
                <a:lnTo>
                  <a:pt x="0" y="203200"/>
                </a:lnTo>
                <a:cubicBezTo>
                  <a:pt x="0" y="90996"/>
                  <a:pt x="90996" y="0"/>
                  <a:pt x="203200" y="0"/>
                </a:cubicBezTo>
                <a:close/>
              </a:path>
            </a:pathLst>
          </a:custGeom>
          <a:solidFill>
            <a:srgbClr val="FCEFE7"/>
          </a:solidFill>
          <a:ln w="889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pn-2"/>
          <p:cNvSpPr/>
          <p:nvPr/>
        </p:nvSpPr>
        <p:spPr>
          <a:xfrm>
            <a:off x="5384800" y="3759200"/>
            <a:ext cx="254000" cy="2540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pnt-2"/>
          <p:cNvSpPr txBox="1"/>
          <p:nvPr/>
        </p:nvSpPr>
        <p:spPr>
          <a:xfrm>
            <a:off x="5432996" y="3797332"/>
            <a:ext cx="15760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75" name="pt-2"/>
          <p:cNvSpPr txBox="1"/>
          <p:nvPr/>
        </p:nvSpPr>
        <p:spPr>
          <a:xfrm>
            <a:off x="5726303" y="3791918"/>
            <a:ext cx="35337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缝制</a:t>
            </a:r>
          </a:p>
        </p:txBody>
      </p:sp>
      <p:sp>
        <p:nvSpPr>
          <p:cNvPr id="76" name="pa-2"/>
          <p:cNvSpPr/>
          <p:nvPr/>
        </p:nvSpPr>
        <p:spPr>
          <a:xfrm>
            <a:off x="6056745" y="4152900"/>
            <a:ext cx="78510" cy="70040"/>
          </a:xfrm>
          <a:custGeom>
            <a:avLst/>
            <a:gdLst/>
            <a:ahLst/>
            <a:cxnLst/>
            <a:rect l="0" t="0" r="r" b="b"/>
            <a:pathLst>
              <a:path w="78510" h="70040">
                <a:moveTo>
                  <a:pt x="46367" y="63881"/>
                </a:moveTo>
                <a:quadBezTo>
                  <a:pt x="39255" y="76200"/>
                  <a:pt x="32143" y="63881"/>
                </a:quadBezTo>
                <a:lnTo>
                  <a:pt x="2361" y="12319"/>
                </a:lnTo>
                <a:quadBezTo>
                  <a:pt x="-4751" y="0"/>
                  <a:pt x="9473" y="0"/>
                </a:quadBezTo>
                <a:lnTo>
                  <a:pt x="69036" y="0"/>
                </a:lnTo>
                <a:quadBezTo>
                  <a:pt x="83260" y="0"/>
                  <a:pt x="76148" y="12319"/>
                </a:quadBezTo>
                <a:close/>
              </a:path>
            </a:pathLst>
          </a:custGeom>
          <a:solidFill>
            <a:srgbClr val="E0703A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ps-3"/>
          <p:cNvSpPr/>
          <p:nvPr/>
        </p:nvSpPr>
        <p:spPr>
          <a:xfrm>
            <a:off x="5295900" y="4267200"/>
            <a:ext cx="1600200" cy="406400"/>
          </a:xfrm>
          <a:custGeom>
            <a:avLst/>
            <a:gdLst/>
            <a:ahLst/>
            <a:cxnLst/>
            <a:rect l="0" t="0" r="r" b="b"/>
            <a:pathLst>
              <a:path w="1600200" h="406400">
                <a:moveTo>
                  <a:pt x="203200" y="0"/>
                </a:moveTo>
                <a:lnTo>
                  <a:pt x="1397000" y="0"/>
                </a:lnTo>
                <a:cubicBezTo>
                  <a:pt x="1509205" y="0"/>
                  <a:pt x="1600200" y="90996"/>
                  <a:pt x="1600200" y="203200"/>
                </a:cubicBezTo>
                <a:lnTo>
                  <a:pt x="1600200" y="203200"/>
                </a:lnTo>
                <a:cubicBezTo>
                  <a:pt x="1600200" y="315404"/>
                  <a:pt x="1509205" y="406400"/>
                  <a:pt x="1397000" y="406400"/>
                </a:cubicBezTo>
                <a:lnTo>
                  <a:pt x="203200" y="406400"/>
                </a:lnTo>
                <a:cubicBezTo>
                  <a:pt x="90996" y="406400"/>
                  <a:pt x="0" y="315404"/>
                  <a:pt x="0" y="203200"/>
                </a:cubicBezTo>
                <a:lnTo>
                  <a:pt x="0" y="203200"/>
                </a:lnTo>
                <a:cubicBezTo>
                  <a:pt x="0" y="90996"/>
                  <a:pt x="90996" y="0"/>
                  <a:pt x="203200" y="0"/>
                </a:cubicBezTo>
                <a:close/>
              </a:path>
            </a:pathLst>
          </a:custGeom>
          <a:solidFill>
            <a:srgbClr val="FCEFE7"/>
          </a:solidFill>
          <a:ln w="889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pn-3"/>
          <p:cNvSpPr/>
          <p:nvPr/>
        </p:nvSpPr>
        <p:spPr>
          <a:xfrm>
            <a:off x="5384800" y="4343400"/>
            <a:ext cx="254000" cy="2540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pnt-3"/>
          <p:cNvSpPr txBox="1"/>
          <p:nvPr/>
        </p:nvSpPr>
        <p:spPr>
          <a:xfrm>
            <a:off x="5432996" y="4381532"/>
            <a:ext cx="15760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80" name="pt-3"/>
          <p:cNvSpPr txBox="1"/>
          <p:nvPr/>
        </p:nvSpPr>
        <p:spPr>
          <a:xfrm>
            <a:off x="5726303" y="4376118"/>
            <a:ext cx="35337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质检</a:t>
            </a:r>
          </a:p>
        </p:txBody>
      </p:sp>
      <p:sp>
        <p:nvSpPr>
          <p:cNvPr id="81" name="pa-3"/>
          <p:cNvSpPr/>
          <p:nvPr/>
        </p:nvSpPr>
        <p:spPr>
          <a:xfrm>
            <a:off x="6056745" y="4737100"/>
            <a:ext cx="78510" cy="70040"/>
          </a:xfrm>
          <a:custGeom>
            <a:avLst/>
            <a:gdLst/>
            <a:ahLst/>
            <a:cxnLst/>
            <a:rect l="0" t="0" r="r" b="b"/>
            <a:pathLst>
              <a:path w="78510" h="70040">
                <a:moveTo>
                  <a:pt x="46367" y="63881"/>
                </a:moveTo>
                <a:quadBezTo>
                  <a:pt x="39255" y="76200"/>
                  <a:pt x="32143" y="63881"/>
                </a:quadBezTo>
                <a:lnTo>
                  <a:pt x="2361" y="12319"/>
                </a:lnTo>
                <a:quadBezTo>
                  <a:pt x="-4751" y="0"/>
                  <a:pt x="9473" y="0"/>
                </a:quadBezTo>
                <a:lnTo>
                  <a:pt x="69036" y="0"/>
                </a:lnTo>
                <a:quadBezTo>
                  <a:pt x="83260" y="0"/>
                  <a:pt x="76148" y="12319"/>
                </a:quadBezTo>
                <a:close/>
              </a:path>
            </a:pathLst>
          </a:custGeom>
          <a:solidFill>
            <a:srgbClr val="E0703A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ps-4"/>
          <p:cNvSpPr/>
          <p:nvPr/>
        </p:nvSpPr>
        <p:spPr>
          <a:xfrm>
            <a:off x="5295900" y="4851400"/>
            <a:ext cx="1600200" cy="406400"/>
          </a:xfrm>
          <a:custGeom>
            <a:avLst/>
            <a:gdLst/>
            <a:ahLst/>
            <a:cxnLst/>
            <a:rect l="0" t="0" r="r" b="b"/>
            <a:pathLst>
              <a:path w="1600200" h="406400">
                <a:moveTo>
                  <a:pt x="203200" y="0"/>
                </a:moveTo>
                <a:lnTo>
                  <a:pt x="1397000" y="0"/>
                </a:lnTo>
                <a:cubicBezTo>
                  <a:pt x="1509205" y="0"/>
                  <a:pt x="1600200" y="90996"/>
                  <a:pt x="1600200" y="203200"/>
                </a:cubicBezTo>
                <a:lnTo>
                  <a:pt x="1600200" y="203200"/>
                </a:lnTo>
                <a:cubicBezTo>
                  <a:pt x="1600200" y="315404"/>
                  <a:pt x="1509205" y="406400"/>
                  <a:pt x="1397000" y="406400"/>
                </a:cubicBezTo>
                <a:lnTo>
                  <a:pt x="203200" y="406400"/>
                </a:lnTo>
                <a:cubicBezTo>
                  <a:pt x="90996" y="406400"/>
                  <a:pt x="0" y="315404"/>
                  <a:pt x="0" y="203200"/>
                </a:cubicBezTo>
                <a:lnTo>
                  <a:pt x="0" y="203200"/>
                </a:lnTo>
                <a:cubicBezTo>
                  <a:pt x="0" y="90996"/>
                  <a:pt x="90996" y="0"/>
                  <a:pt x="203200" y="0"/>
                </a:cubicBezTo>
                <a:close/>
              </a:path>
            </a:pathLst>
          </a:custGeom>
          <a:solidFill>
            <a:srgbClr val="FCEFE7"/>
          </a:solidFill>
          <a:ln w="889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pn-4"/>
          <p:cNvSpPr/>
          <p:nvPr/>
        </p:nvSpPr>
        <p:spPr>
          <a:xfrm>
            <a:off x="5384800" y="4927600"/>
            <a:ext cx="254000" cy="2540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pnt-4"/>
          <p:cNvSpPr txBox="1"/>
          <p:nvPr/>
        </p:nvSpPr>
        <p:spPr>
          <a:xfrm>
            <a:off x="5432996" y="4965732"/>
            <a:ext cx="15760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  <p:sp>
        <p:nvSpPr>
          <p:cNvPr id="85" name="pt-4"/>
          <p:cNvSpPr txBox="1"/>
          <p:nvPr/>
        </p:nvSpPr>
        <p:spPr>
          <a:xfrm>
            <a:off x="5726303" y="4960318"/>
            <a:ext cx="60102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包装入库</a:t>
            </a:r>
          </a:p>
        </p:txBody>
      </p:sp>
      <p:sp>
        <p:nvSpPr>
          <p:cNvPr id="86" name="ar-2"/>
          <p:cNvSpPr/>
          <p:nvPr/>
        </p:nvSpPr>
        <p:spPr>
          <a:xfrm>
            <a:off x="7029450" y="1854200"/>
            <a:ext cx="228600" cy="2286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art-2"/>
          <p:cNvSpPr/>
          <p:nvPr/>
        </p:nvSpPr>
        <p:spPr>
          <a:xfrm>
            <a:off x="7131050" y="1929245"/>
            <a:ext cx="70040" cy="78510"/>
          </a:xfrm>
          <a:custGeom>
            <a:avLst/>
            <a:gdLst/>
            <a:ahLst/>
            <a:cxnLst/>
            <a:rect l="0" t="0" r="r" b="b"/>
            <a:pathLst>
              <a:path w="70040" h="78510">
                <a:moveTo>
                  <a:pt x="63881" y="32143"/>
                </a:moveTo>
                <a:quadBezTo>
                  <a:pt x="76200" y="39255"/>
                  <a:pt x="63881" y="46367"/>
                </a:quadBezTo>
                <a:lnTo>
                  <a:pt x="12319" y="76148"/>
                </a:lnTo>
                <a:quadBezTo>
                  <a:pt x="0" y="83260"/>
                  <a:pt x="0" y="69036"/>
                </a:quadBezTo>
                <a:lnTo>
                  <a:pt x="0" y="9473"/>
                </a:lnTo>
                <a:quadBezTo>
                  <a:pt x="0" y="-4751"/>
                  <a:pt x="12319" y="2361"/>
                </a:quad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col-O"/>
          <p:cNvSpPr/>
          <p:nvPr/>
        </p:nvSpPr>
        <p:spPr>
          <a:xfrm>
            <a:off x="7239000" y="1587500"/>
            <a:ext cx="1905000" cy="3937000"/>
          </a:xfrm>
          <a:custGeom>
            <a:avLst/>
            <a:gdLst/>
            <a:ahLst/>
            <a:cxnLst/>
            <a:rect l="0" t="0" r="r" b="b"/>
            <a:pathLst>
              <a:path w="1905000" h="3937000">
                <a:moveTo>
                  <a:pt x="165100" y="0"/>
                </a:moveTo>
                <a:lnTo>
                  <a:pt x="1739900" y="0"/>
                </a:lnTo>
                <a:cubicBezTo>
                  <a:pt x="1831086" y="0"/>
                  <a:pt x="1905000" y="73914"/>
                  <a:pt x="1905000" y="165100"/>
                </a:cubicBezTo>
                <a:lnTo>
                  <a:pt x="1905000" y="3771900"/>
                </a:lnTo>
                <a:cubicBezTo>
                  <a:pt x="1905000" y="3863086"/>
                  <a:pt x="1831086" y="3937000"/>
                  <a:pt x="1739900" y="3937000"/>
                </a:cubicBezTo>
                <a:lnTo>
                  <a:pt x="165100" y="3937000"/>
                </a:lnTo>
                <a:cubicBezTo>
                  <a:pt x="73914" y="3937000"/>
                  <a:pt x="0" y="3863086"/>
                  <a:pt x="0" y="37719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hd-O"/>
          <p:cNvSpPr/>
          <p:nvPr/>
        </p:nvSpPr>
        <p:spPr>
          <a:xfrm>
            <a:off x="7239000" y="1587500"/>
            <a:ext cx="1905000" cy="762000"/>
          </a:xfrm>
          <a:custGeom>
            <a:avLst/>
            <a:gdLst/>
            <a:ahLst/>
            <a:cxnLst/>
            <a:rect l="0" t="0" r="r" b="b"/>
            <a:pathLst>
              <a:path w="1905000" h="762000">
                <a:moveTo>
                  <a:pt x="0" y="165100"/>
                </a:moveTo>
                <a:cubicBezTo>
                  <a:pt x="0" y="76200"/>
                  <a:pt x="76200" y="0"/>
                  <a:pt x="165100" y="0"/>
                </a:cubicBezTo>
                <a:lnTo>
                  <a:pt x="1739900" y="0"/>
                </a:lnTo>
                <a:cubicBezTo>
                  <a:pt x="1828800" y="0"/>
                  <a:pt x="1905000" y="76200"/>
                  <a:pt x="1905000" y="165100"/>
                </a:cubicBezTo>
                <a:lnTo>
                  <a:pt x="1905000" y="762000"/>
                </a:lnTo>
                <a:lnTo>
                  <a:pt x="0" y="762000"/>
                </a:lnTo>
                <a:close/>
              </a:path>
            </a:pathLst>
          </a:custGeom>
          <a:gradFill rotWithShape="1">
            <a:gsLst>
              <a:gs pos="0">
                <a:srgbClr val="5194D3"/>
              </a:gs>
              <a:gs pos="100000">
                <a:srgbClr val="3985CD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L-O"/>
          <p:cNvSpPr txBox="1"/>
          <p:nvPr/>
        </p:nvSpPr>
        <p:spPr>
          <a:xfrm>
            <a:off x="7368032" y="1618996"/>
            <a:ext cx="593344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2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O</a:t>
            </a:r>
          </a:p>
        </p:txBody>
      </p:sp>
      <p:sp>
        <p:nvSpPr>
          <p:cNvPr id="91" name="cn-O"/>
          <p:cNvSpPr txBox="1"/>
          <p:nvPr/>
        </p:nvSpPr>
        <p:spPr>
          <a:xfrm>
            <a:off x="7880350" y="17470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输出</a:t>
            </a:r>
          </a:p>
        </p:txBody>
      </p:sp>
      <p:sp>
        <p:nvSpPr>
          <p:cNvPr id="92" name="en-O"/>
          <p:cNvSpPr txBox="1"/>
          <p:nvPr/>
        </p:nvSpPr>
        <p:spPr>
          <a:xfrm>
            <a:off x="7901432" y="2023808"/>
            <a:ext cx="51739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00">
                <a:solidFill>
                  <a:srgbClr val="E3EDF9"/>
                </a:solidFill>
                <a:latin typeface="Arial"/>
                <a:ea typeface="Arial"/>
                <a:cs typeface="Arial"/>
              </a:rPr>
              <a:t>OUTPUTS</a:t>
            </a:r>
          </a:p>
        </p:txBody>
      </p:sp>
      <p:sp>
        <p:nvSpPr>
          <p:cNvPr id="93" name="icon-layers"/>
          <p:cNvSpPr/>
          <p:nvPr/>
        </p:nvSpPr>
        <p:spPr>
          <a:xfrm>
            <a:off x="8834946" y="1810512"/>
            <a:ext cx="110109" cy="114173"/>
          </a:xfrm>
          <a:custGeom>
            <a:avLst/>
            <a:gdLst/>
            <a:ahLst/>
            <a:cxnLst/>
            <a:rect l="0" t="0" r="r" b="b"/>
            <a:pathLst>
              <a:path w="110109" h="114173">
                <a:moveTo>
                  <a:pt x="55055" y="0"/>
                </a:moveTo>
                <a:lnTo>
                  <a:pt x="110109" y="28893"/>
                </a:lnTo>
                <a:lnTo>
                  <a:pt x="55055" y="57785"/>
                </a:lnTo>
                <a:lnTo>
                  <a:pt x="0" y="28893"/>
                </a:lnTo>
                <a:close/>
                <a:moveTo>
                  <a:pt x="0" y="57785"/>
                </a:moveTo>
                <a:lnTo>
                  <a:pt x="55055" y="86677"/>
                </a:lnTo>
                <a:lnTo>
                  <a:pt x="110109" y="57785"/>
                </a:lnTo>
                <a:moveTo>
                  <a:pt x="0" y="85281"/>
                </a:moveTo>
                <a:lnTo>
                  <a:pt x="55055" y="114173"/>
                </a:lnTo>
                <a:lnTo>
                  <a:pt x="110109" y="85281"/>
                </a:lnTo>
              </a:path>
            </a:pathLst>
          </a:custGeom>
          <a:noFill/>
          <a:ln w="12700" cap="rnd">
            <a:solidFill>
              <a:srgbClr val="FFFFFF">
                <a:alpha val="8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it-O-0"/>
          <p:cNvSpPr/>
          <p:nvPr/>
        </p:nvSpPr>
        <p:spPr>
          <a:xfrm>
            <a:off x="7391400" y="2540000"/>
            <a:ext cx="1600200" cy="406400"/>
          </a:xfrm>
          <a:custGeom>
            <a:avLst/>
            <a:gdLst/>
            <a:ahLst/>
            <a:cxnLst/>
            <a:rect l="0" t="0" r="r" b="b"/>
            <a:pathLst>
              <a:path w="1600200" h="406400">
                <a:moveTo>
                  <a:pt x="101600" y="0"/>
                </a:moveTo>
                <a:lnTo>
                  <a:pt x="1498600" y="0"/>
                </a:lnTo>
                <a:cubicBezTo>
                  <a:pt x="1554734" y="0"/>
                  <a:pt x="1600200" y="45466"/>
                  <a:pt x="1600200" y="101600"/>
                </a:cubicBezTo>
                <a:lnTo>
                  <a:pt x="1600200" y="304800"/>
                </a:lnTo>
                <a:cubicBezTo>
                  <a:pt x="1600200" y="360934"/>
                  <a:pt x="1554734" y="406400"/>
                  <a:pt x="1498600" y="406400"/>
                </a:cubicBezTo>
                <a:lnTo>
                  <a:pt x="101600" y="406400"/>
                </a:lnTo>
                <a:cubicBezTo>
                  <a:pt x="45466" y="406400"/>
                  <a:pt x="0" y="360934"/>
                  <a:pt x="0" y="304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2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id-O-0"/>
          <p:cNvSpPr/>
          <p:nvPr/>
        </p:nvSpPr>
        <p:spPr>
          <a:xfrm>
            <a:off x="7518400" y="2705100"/>
            <a:ext cx="76200" cy="76200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itt-O-0"/>
          <p:cNvSpPr txBox="1"/>
          <p:nvPr/>
        </p:nvSpPr>
        <p:spPr>
          <a:xfrm>
            <a:off x="7656703" y="2642568"/>
            <a:ext cx="34702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0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成衣</a:t>
            </a:r>
          </a:p>
        </p:txBody>
      </p:sp>
      <p:sp>
        <p:nvSpPr>
          <p:cNvPr id="97" name="it-O-1"/>
          <p:cNvSpPr/>
          <p:nvPr/>
        </p:nvSpPr>
        <p:spPr>
          <a:xfrm>
            <a:off x="7391400" y="3073400"/>
            <a:ext cx="1600200" cy="406400"/>
          </a:xfrm>
          <a:custGeom>
            <a:avLst/>
            <a:gdLst/>
            <a:ahLst/>
            <a:cxnLst/>
            <a:rect l="0" t="0" r="r" b="b"/>
            <a:pathLst>
              <a:path w="1600200" h="406400">
                <a:moveTo>
                  <a:pt x="101600" y="0"/>
                </a:moveTo>
                <a:lnTo>
                  <a:pt x="1498600" y="0"/>
                </a:lnTo>
                <a:cubicBezTo>
                  <a:pt x="1554734" y="0"/>
                  <a:pt x="1600200" y="45466"/>
                  <a:pt x="1600200" y="101600"/>
                </a:cubicBezTo>
                <a:lnTo>
                  <a:pt x="1600200" y="304800"/>
                </a:lnTo>
                <a:cubicBezTo>
                  <a:pt x="1600200" y="360934"/>
                  <a:pt x="1554734" y="406400"/>
                  <a:pt x="1498600" y="406400"/>
                </a:cubicBezTo>
                <a:lnTo>
                  <a:pt x="101600" y="406400"/>
                </a:lnTo>
                <a:cubicBezTo>
                  <a:pt x="45466" y="406400"/>
                  <a:pt x="0" y="360934"/>
                  <a:pt x="0" y="304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2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id-O-1"/>
          <p:cNvSpPr/>
          <p:nvPr/>
        </p:nvSpPr>
        <p:spPr>
          <a:xfrm>
            <a:off x="7518400" y="3238500"/>
            <a:ext cx="76200" cy="76200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9" name="itt-O-1"/>
          <p:cNvSpPr txBox="1"/>
          <p:nvPr/>
        </p:nvSpPr>
        <p:spPr>
          <a:xfrm>
            <a:off x="7656703" y="3175968"/>
            <a:ext cx="58832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0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质检报告</a:t>
            </a:r>
          </a:p>
        </p:txBody>
      </p:sp>
      <p:sp>
        <p:nvSpPr>
          <p:cNvPr id="100" name="it-O-2"/>
          <p:cNvSpPr/>
          <p:nvPr/>
        </p:nvSpPr>
        <p:spPr>
          <a:xfrm>
            <a:off x="7391400" y="3606800"/>
            <a:ext cx="1600200" cy="406400"/>
          </a:xfrm>
          <a:custGeom>
            <a:avLst/>
            <a:gdLst/>
            <a:ahLst/>
            <a:cxnLst/>
            <a:rect l="0" t="0" r="r" b="b"/>
            <a:pathLst>
              <a:path w="1600200" h="406400">
                <a:moveTo>
                  <a:pt x="101600" y="0"/>
                </a:moveTo>
                <a:lnTo>
                  <a:pt x="1498600" y="0"/>
                </a:lnTo>
                <a:cubicBezTo>
                  <a:pt x="1554734" y="0"/>
                  <a:pt x="1600200" y="45466"/>
                  <a:pt x="1600200" y="101600"/>
                </a:cubicBezTo>
                <a:lnTo>
                  <a:pt x="1600200" y="304800"/>
                </a:lnTo>
                <a:cubicBezTo>
                  <a:pt x="1600200" y="360934"/>
                  <a:pt x="1554734" y="406400"/>
                  <a:pt x="1498600" y="406400"/>
                </a:cubicBezTo>
                <a:lnTo>
                  <a:pt x="101600" y="406400"/>
                </a:lnTo>
                <a:cubicBezTo>
                  <a:pt x="45466" y="406400"/>
                  <a:pt x="0" y="360934"/>
                  <a:pt x="0" y="304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2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id-O-2"/>
          <p:cNvSpPr/>
          <p:nvPr/>
        </p:nvSpPr>
        <p:spPr>
          <a:xfrm>
            <a:off x="7518400" y="3771900"/>
            <a:ext cx="76200" cy="76200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2" name="itt-O-2"/>
          <p:cNvSpPr txBox="1"/>
          <p:nvPr/>
        </p:nvSpPr>
        <p:spPr>
          <a:xfrm>
            <a:off x="7656703" y="3709368"/>
            <a:ext cx="46767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0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入库单</a:t>
            </a:r>
          </a:p>
        </p:txBody>
      </p:sp>
      <p:cxnSp>
        <p:nvCxnSpPr>
          <p:cNvPr id="103" name="kl-O"/>
          <p:cNvCxnSpPr/>
          <p:nvPr/>
        </p:nvCxnSpPr>
        <p:spPr>
          <a:xfrm>
            <a:off x="7391400" y="4889500"/>
            <a:ext cx="16002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4" name="kk-O"/>
          <p:cNvSpPr txBox="1"/>
          <p:nvPr/>
        </p:nvSpPr>
        <p:spPr>
          <a:xfrm>
            <a:off x="7405370" y="5000466"/>
            <a:ext cx="3714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日产能</a:t>
            </a:r>
          </a:p>
        </p:txBody>
      </p:sp>
      <p:sp>
        <p:nvSpPr>
          <p:cNvPr id="105" name="kv-O"/>
          <p:cNvSpPr txBox="1"/>
          <p:nvPr/>
        </p:nvSpPr>
        <p:spPr>
          <a:xfrm>
            <a:off x="7393940" y="5149532"/>
            <a:ext cx="100203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2,400 件</a:t>
            </a:r>
          </a:p>
        </p:txBody>
      </p:sp>
      <p:sp>
        <p:nvSpPr>
          <p:cNvPr id="106" name="ar-3"/>
          <p:cNvSpPr/>
          <p:nvPr/>
        </p:nvSpPr>
        <p:spPr>
          <a:xfrm>
            <a:off x="9124950" y="1854200"/>
            <a:ext cx="228600" cy="2286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7" name="art-3"/>
          <p:cNvSpPr/>
          <p:nvPr/>
        </p:nvSpPr>
        <p:spPr>
          <a:xfrm>
            <a:off x="9226550" y="1929245"/>
            <a:ext cx="70040" cy="78510"/>
          </a:xfrm>
          <a:custGeom>
            <a:avLst/>
            <a:gdLst/>
            <a:ahLst/>
            <a:cxnLst/>
            <a:rect l="0" t="0" r="r" b="b"/>
            <a:pathLst>
              <a:path w="70040" h="78510">
                <a:moveTo>
                  <a:pt x="63881" y="32143"/>
                </a:moveTo>
                <a:quadBezTo>
                  <a:pt x="76200" y="39255"/>
                  <a:pt x="63881" y="46367"/>
                </a:quadBezTo>
                <a:lnTo>
                  <a:pt x="12319" y="76148"/>
                </a:lnTo>
                <a:quadBezTo>
                  <a:pt x="0" y="83260"/>
                  <a:pt x="0" y="69036"/>
                </a:quadBezTo>
                <a:lnTo>
                  <a:pt x="0" y="9473"/>
                </a:lnTo>
                <a:quadBezTo>
                  <a:pt x="0" y="-4751"/>
                  <a:pt x="12319" y="2361"/>
                </a:quad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8" name="col-C"/>
          <p:cNvSpPr/>
          <p:nvPr/>
        </p:nvSpPr>
        <p:spPr>
          <a:xfrm>
            <a:off x="9334500" y="1587500"/>
            <a:ext cx="1905000" cy="3937000"/>
          </a:xfrm>
          <a:custGeom>
            <a:avLst/>
            <a:gdLst/>
            <a:ahLst/>
            <a:cxnLst/>
            <a:rect l="0" t="0" r="r" b="b"/>
            <a:pathLst>
              <a:path w="1905000" h="3937000">
                <a:moveTo>
                  <a:pt x="165100" y="0"/>
                </a:moveTo>
                <a:lnTo>
                  <a:pt x="1739900" y="0"/>
                </a:lnTo>
                <a:cubicBezTo>
                  <a:pt x="1831086" y="0"/>
                  <a:pt x="1905000" y="73914"/>
                  <a:pt x="1905000" y="165100"/>
                </a:cubicBezTo>
                <a:lnTo>
                  <a:pt x="1905000" y="3771900"/>
                </a:lnTo>
                <a:cubicBezTo>
                  <a:pt x="1905000" y="3863086"/>
                  <a:pt x="1831086" y="3937000"/>
                  <a:pt x="1739900" y="3937000"/>
                </a:cubicBezTo>
                <a:lnTo>
                  <a:pt x="165100" y="3937000"/>
                </a:lnTo>
                <a:cubicBezTo>
                  <a:pt x="73914" y="3937000"/>
                  <a:pt x="0" y="3863086"/>
                  <a:pt x="0" y="37719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hd-C"/>
          <p:cNvSpPr/>
          <p:nvPr/>
        </p:nvSpPr>
        <p:spPr>
          <a:xfrm>
            <a:off x="9334500" y="1587500"/>
            <a:ext cx="1905000" cy="762000"/>
          </a:xfrm>
          <a:custGeom>
            <a:avLst/>
            <a:gdLst/>
            <a:ahLst/>
            <a:cxnLst/>
            <a:rect l="0" t="0" r="r" b="b"/>
            <a:pathLst>
              <a:path w="1905000" h="762000">
                <a:moveTo>
                  <a:pt x="0" y="165100"/>
                </a:moveTo>
                <a:cubicBezTo>
                  <a:pt x="0" y="76200"/>
                  <a:pt x="76200" y="0"/>
                  <a:pt x="165100" y="0"/>
                </a:cubicBezTo>
                <a:lnTo>
                  <a:pt x="1739900" y="0"/>
                </a:lnTo>
                <a:cubicBezTo>
                  <a:pt x="1828800" y="0"/>
                  <a:pt x="1905000" y="76200"/>
                  <a:pt x="1905000" y="165100"/>
                </a:cubicBezTo>
                <a:lnTo>
                  <a:pt x="1905000" y="762000"/>
                </a:lnTo>
                <a:lnTo>
                  <a:pt x="0" y="762000"/>
                </a:lnTo>
                <a:close/>
              </a:path>
            </a:pathLst>
          </a:custGeom>
          <a:gradFill rotWithShape="1">
            <a:gsLst>
              <a:gs pos="0">
                <a:srgbClr val="5CA1DC"/>
              </a:gs>
              <a:gs pos="100000">
                <a:srgbClr val="4694D7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0" name="L-C"/>
          <p:cNvSpPr txBox="1"/>
          <p:nvPr/>
        </p:nvSpPr>
        <p:spPr>
          <a:xfrm>
            <a:off x="9463532" y="1618996"/>
            <a:ext cx="593344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2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C</a:t>
            </a:r>
          </a:p>
        </p:txBody>
      </p:sp>
      <p:sp>
        <p:nvSpPr>
          <p:cNvPr id="111" name="cn-C"/>
          <p:cNvSpPr txBox="1"/>
          <p:nvPr/>
        </p:nvSpPr>
        <p:spPr>
          <a:xfrm>
            <a:off x="9975850" y="17470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客户</a:t>
            </a:r>
          </a:p>
        </p:txBody>
      </p:sp>
      <p:sp>
        <p:nvSpPr>
          <p:cNvPr id="112" name="en-C"/>
          <p:cNvSpPr txBox="1"/>
          <p:nvPr/>
        </p:nvSpPr>
        <p:spPr>
          <a:xfrm>
            <a:off x="9996932" y="2023808"/>
            <a:ext cx="64236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00">
                <a:solidFill>
                  <a:srgbClr val="E3EDF9"/>
                </a:solidFill>
                <a:latin typeface="Arial"/>
                <a:ea typeface="Arial"/>
                <a:cs typeface="Arial"/>
              </a:rPr>
              <a:t>CUSTOMERS</a:t>
            </a:r>
          </a:p>
        </p:txBody>
      </p:sp>
      <p:sp>
        <p:nvSpPr>
          <p:cNvPr id="113" name="icon-people"/>
          <p:cNvSpPr/>
          <p:nvPr/>
        </p:nvSpPr>
        <p:spPr>
          <a:xfrm>
            <a:off x="10927715" y="1884807"/>
            <a:ext cx="116967" cy="33020"/>
          </a:xfrm>
          <a:custGeom>
            <a:avLst/>
            <a:gdLst/>
            <a:ahLst/>
            <a:cxnLst/>
            <a:rect l="0" t="0" r="r" b="b"/>
            <a:pathLst>
              <a:path w="116967" h="33020">
                <a:moveTo>
                  <a:pt x="0" y="33020"/>
                </a:moveTo>
                <a:cubicBezTo>
                  <a:pt x="0" y="12382"/>
                  <a:pt x="17208" y="0"/>
                  <a:pt x="37147" y="0"/>
                </a:cubicBezTo>
                <a:cubicBezTo>
                  <a:pt x="57087" y="0"/>
                  <a:pt x="74295" y="12382"/>
                  <a:pt x="74295" y="33020"/>
                </a:cubicBezTo>
                <a:moveTo>
                  <a:pt x="88074" y="2731"/>
                </a:moveTo>
                <a:cubicBezTo>
                  <a:pt x="105918" y="4762"/>
                  <a:pt x="116967" y="17145"/>
                  <a:pt x="116967" y="33020"/>
                </a:cubicBezTo>
              </a:path>
            </a:pathLst>
          </a:custGeom>
          <a:noFill/>
          <a:ln w="12700" cap="rnd">
            <a:solidFill>
              <a:srgbClr val="FFFFFF">
                <a:alpha val="8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4" name="icon-people"/>
          <p:cNvSpPr/>
          <p:nvPr/>
        </p:nvSpPr>
        <p:spPr>
          <a:xfrm>
            <a:off x="10942849" y="1825625"/>
            <a:ext cx="44027" cy="44027"/>
          </a:xfrm>
          <a:prstGeom prst="ellipse">
            <a:avLst/>
          </a:prstGeom>
          <a:noFill/>
          <a:ln w="12700" cap="rnd">
            <a:solidFill>
              <a:srgbClr val="FFFFFF">
                <a:alpha val="8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5" name="icon-people"/>
          <p:cNvSpPr/>
          <p:nvPr/>
        </p:nvSpPr>
        <p:spPr>
          <a:xfrm>
            <a:off x="11002010" y="1825625"/>
            <a:ext cx="35772" cy="35772"/>
          </a:xfrm>
          <a:prstGeom prst="ellipse">
            <a:avLst/>
          </a:prstGeom>
          <a:noFill/>
          <a:ln w="12700" cap="rnd">
            <a:solidFill>
              <a:srgbClr val="FFFFFF">
                <a:alpha val="8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6" name="it-C-0"/>
          <p:cNvSpPr/>
          <p:nvPr/>
        </p:nvSpPr>
        <p:spPr>
          <a:xfrm>
            <a:off x="9486900" y="2540000"/>
            <a:ext cx="1600200" cy="406400"/>
          </a:xfrm>
          <a:custGeom>
            <a:avLst/>
            <a:gdLst/>
            <a:ahLst/>
            <a:cxnLst/>
            <a:rect l="0" t="0" r="r" b="b"/>
            <a:pathLst>
              <a:path w="1600200" h="406400">
                <a:moveTo>
                  <a:pt x="101600" y="0"/>
                </a:moveTo>
                <a:lnTo>
                  <a:pt x="1498600" y="0"/>
                </a:lnTo>
                <a:cubicBezTo>
                  <a:pt x="1554734" y="0"/>
                  <a:pt x="1600200" y="45466"/>
                  <a:pt x="1600200" y="101600"/>
                </a:cubicBezTo>
                <a:lnTo>
                  <a:pt x="1600200" y="304800"/>
                </a:lnTo>
                <a:cubicBezTo>
                  <a:pt x="1600200" y="360934"/>
                  <a:pt x="1554734" y="406400"/>
                  <a:pt x="1498600" y="406400"/>
                </a:cubicBezTo>
                <a:lnTo>
                  <a:pt x="101600" y="406400"/>
                </a:lnTo>
                <a:cubicBezTo>
                  <a:pt x="45466" y="406400"/>
                  <a:pt x="0" y="360934"/>
                  <a:pt x="0" y="304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2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7" name="id-C-0"/>
          <p:cNvSpPr/>
          <p:nvPr/>
        </p:nvSpPr>
        <p:spPr>
          <a:xfrm>
            <a:off x="9613900" y="2705100"/>
            <a:ext cx="76200" cy="76200"/>
          </a:xfrm>
          <a:prstGeom prst="ellipse">
            <a:avLst/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8" name="itt-C-0"/>
          <p:cNvSpPr txBox="1"/>
          <p:nvPr/>
        </p:nvSpPr>
        <p:spPr>
          <a:xfrm>
            <a:off x="9752203" y="2642568"/>
            <a:ext cx="46767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0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电商仓</a:t>
            </a:r>
          </a:p>
        </p:txBody>
      </p:sp>
      <p:sp>
        <p:nvSpPr>
          <p:cNvPr id="119" name="it-C-1"/>
          <p:cNvSpPr/>
          <p:nvPr/>
        </p:nvSpPr>
        <p:spPr>
          <a:xfrm>
            <a:off x="9486900" y="3073400"/>
            <a:ext cx="1600200" cy="406400"/>
          </a:xfrm>
          <a:custGeom>
            <a:avLst/>
            <a:gdLst/>
            <a:ahLst/>
            <a:cxnLst/>
            <a:rect l="0" t="0" r="r" b="b"/>
            <a:pathLst>
              <a:path w="1600200" h="406400">
                <a:moveTo>
                  <a:pt x="101600" y="0"/>
                </a:moveTo>
                <a:lnTo>
                  <a:pt x="1498600" y="0"/>
                </a:lnTo>
                <a:cubicBezTo>
                  <a:pt x="1554734" y="0"/>
                  <a:pt x="1600200" y="45466"/>
                  <a:pt x="1600200" y="101600"/>
                </a:cubicBezTo>
                <a:lnTo>
                  <a:pt x="1600200" y="304800"/>
                </a:lnTo>
                <a:cubicBezTo>
                  <a:pt x="1600200" y="360934"/>
                  <a:pt x="1554734" y="406400"/>
                  <a:pt x="1498600" y="406400"/>
                </a:cubicBezTo>
                <a:lnTo>
                  <a:pt x="101600" y="406400"/>
                </a:lnTo>
                <a:cubicBezTo>
                  <a:pt x="45466" y="406400"/>
                  <a:pt x="0" y="360934"/>
                  <a:pt x="0" y="304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2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0" name="id-C-1"/>
          <p:cNvSpPr/>
          <p:nvPr/>
        </p:nvSpPr>
        <p:spPr>
          <a:xfrm>
            <a:off x="9613900" y="3238500"/>
            <a:ext cx="76200" cy="76200"/>
          </a:xfrm>
          <a:prstGeom prst="ellipse">
            <a:avLst/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1" name="itt-C-1"/>
          <p:cNvSpPr txBox="1"/>
          <p:nvPr/>
        </p:nvSpPr>
        <p:spPr>
          <a:xfrm>
            <a:off x="9752203" y="3175968"/>
            <a:ext cx="58832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0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直营门店</a:t>
            </a:r>
          </a:p>
        </p:txBody>
      </p:sp>
      <p:sp>
        <p:nvSpPr>
          <p:cNvPr id="122" name="it-C-2"/>
          <p:cNvSpPr/>
          <p:nvPr/>
        </p:nvSpPr>
        <p:spPr>
          <a:xfrm>
            <a:off x="9486900" y="3606800"/>
            <a:ext cx="1600200" cy="406400"/>
          </a:xfrm>
          <a:custGeom>
            <a:avLst/>
            <a:gdLst/>
            <a:ahLst/>
            <a:cxnLst/>
            <a:rect l="0" t="0" r="r" b="b"/>
            <a:pathLst>
              <a:path w="1600200" h="406400">
                <a:moveTo>
                  <a:pt x="101600" y="0"/>
                </a:moveTo>
                <a:lnTo>
                  <a:pt x="1498600" y="0"/>
                </a:lnTo>
                <a:cubicBezTo>
                  <a:pt x="1554734" y="0"/>
                  <a:pt x="1600200" y="45466"/>
                  <a:pt x="1600200" y="101600"/>
                </a:cubicBezTo>
                <a:lnTo>
                  <a:pt x="1600200" y="304800"/>
                </a:lnTo>
                <a:cubicBezTo>
                  <a:pt x="1600200" y="360934"/>
                  <a:pt x="1554734" y="406400"/>
                  <a:pt x="1498600" y="406400"/>
                </a:cubicBezTo>
                <a:lnTo>
                  <a:pt x="101600" y="406400"/>
                </a:lnTo>
                <a:cubicBezTo>
                  <a:pt x="45466" y="406400"/>
                  <a:pt x="0" y="360934"/>
                  <a:pt x="0" y="304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2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3" name="id-C-2"/>
          <p:cNvSpPr/>
          <p:nvPr/>
        </p:nvSpPr>
        <p:spPr>
          <a:xfrm>
            <a:off x="9613900" y="3771900"/>
            <a:ext cx="76200" cy="76200"/>
          </a:xfrm>
          <a:prstGeom prst="ellipse">
            <a:avLst/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4" name="itt-C-2"/>
          <p:cNvSpPr txBox="1"/>
          <p:nvPr/>
        </p:nvSpPr>
        <p:spPr>
          <a:xfrm>
            <a:off x="9752203" y="3709368"/>
            <a:ext cx="46767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0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经销商</a:t>
            </a:r>
          </a:p>
        </p:txBody>
      </p:sp>
      <p:cxnSp>
        <p:nvCxnSpPr>
          <p:cNvPr id="125" name="kl-C"/>
          <p:cNvCxnSpPr/>
          <p:nvPr/>
        </p:nvCxnSpPr>
        <p:spPr>
          <a:xfrm>
            <a:off x="9486900" y="4889500"/>
            <a:ext cx="16002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6" name="kk-C"/>
          <p:cNvSpPr txBox="1"/>
          <p:nvPr/>
        </p:nvSpPr>
        <p:spPr>
          <a:xfrm>
            <a:off x="9500870" y="5000466"/>
            <a:ext cx="5619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客户满意度</a:t>
            </a:r>
          </a:p>
        </p:txBody>
      </p:sp>
      <p:sp>
        <p:nvSpPr>
          <p:cNvPr id="127" name="kv-C"/>
          <p:cNvSpPr txBox="1"/>
          <p:nvPr/>
        </p:nvSpPr>
        <p:spPr>
          <a:xfrm>
            <a:off x="9489440" y="5149532"/>
            <a:ext cx="78867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>
                <a:solidFill>
                  <a:srgbClr val="4694D7"/>
                </a:solidFill>
                <a:latin typeface="微软雅黑"/>
                <a:ea typeface="微软雅黑"/>
                <a:cs typeface="微软雅黑"/>
              </a:rPr>
              <a:t>4.6 分</a:t>
            </a:r>
          </a:p>
        </p:txBody>
      </p:sp>
      <p:sp>
        <p:nvSpPr>
          <p:cNvPr id="128" name="sum"/>
          <p:cNvSpPr/>
          <p:nvPr/>
        </p:nvSpPr>
        <p:spPr>
          <a:xfrm>
            <a:off x="952500" y="5651500"/>
            <a:ext cx="10287000" cy="444500"/>
          </a:xfrm>
          <a:custGeom>
            <a:avLst/>
            <a:gdLst/>
            <a:ahLst/>
            <a:cxnLst/>
            <a:rect l="0" t="0" r="r" b="b"/>
            <a:pathLst>
              <a:path w="10287000" h="4445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55600"/>
                </a:lnTo>
                <a:cubicBezTo>
                  <a:pt x="10287000" y="404686"/>
                  <a:pt x="10247186" y="444500"/>
                  <a:pt x="10198100" y="444500"/>
                </a:cubicBezTo>
                <a:lnTo>
                  <a:pt x="88900" y="444500"/>
                </a:lnTo>
                <a:cubicBezTo>
                  <a:pt x="39815" y="444500"/>
                  <a:pt x="0" y="404686"/>
                  <a:pt x="0" y="3556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9" name="sum-bar"/>
          <p:cNvSpPr/>
          <p:nvPr/>
        </p:nvSpPr>
        <p:spPr>
          <a:xfrm>
            <a:off x="952500" y="5651500"/>
            <a:ext cx="31750" cy="4445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0" name="sum-h"/>
          <p:cNvSpPr txBox="1"/>
          <p:nvPr/>
        </p:nvSpPr>
        <p:spPr>
          <a:xfrm>
            <a:off x="1142746" y="580393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流程边界</a:t>
            </a:r>
          </a:p>
        </p:txBody>
      </p:sp>
      <p:sp>
        <p:nvSpPr>
          <p:cNvPr id="131" name="sum-p"/>
          <p:cNvSpPr txBox="1"/>
          <p:nvPr/>
        </p:nvSpPr>
        <p:spPr>
          <a:xfrm>
            <a:off x="1891665" y="5800011"/>
            <a:ext cx="402812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起点是收到订单，终点是成衣入库；平均周期 11 天，质检一次通过率 96%。</a:t>
            </a:r>
          </a:p>
        </p:txBody>
      </p:sp>
      <p:cxnSp>
        <p:nvCxnSpPr>
          <p:cNvPr id="132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3" name="foot-l"/>
          <p:cNvSpPr txBox="1"/>
          <p:nvPr/>
        </p:nvSpPr>
        <p:spPr>
          <a:xfrm>
            <a:off x="573532" y="6532308"/>
            <a:ext cx="9481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SIPOC · 成衣生产</a:t>
            </a:r>
          </a:p>
        </p:txBody>
      </p:sp>
      <p:sp>
        <p:nvSpPr>
          <p:cNvPr id="134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产品生命周期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71907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PRODUCT LIFE CYCLE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532495" y="673132"/>
            <a:ext cx="30882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四条产品线落在曲线的不同位置——每个阶段的打法完全不同</a:t>
            </a:r>
          </a:p>
        </p:txBody>
      </p:sp>
      <p:sp>
        <p:nvSpPr>
          <p:cNvPr id="10" name="band-0"/>
          <p:cNvSpPr/>
          <p:nvPr/>
        </p:nvSpPr>
        <p:spPr>
          <a:xfrm>
            <a:off x="1282700" y="1587500"/>
            <a:ext cx="1435100" cy="3492500"/>
          </a:xfrm>
          <a:prstGeom prst="rect">
            <a:avLst/>
          </a:prstGeom>
          <a:solidFill>
            <a:srgbClr val="4694D7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sn-0"/>
          <p:cNvSpPr txBox="1"/>
          <p:nvPr/>
        </p:nvSpPr>
        <p:spPr>
          <a:xfrm>
            <a:off x="1674495" y="1615186"/>
            <a:ext cx="65151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导入期</a:t>
            </a:r>
          </a:p>
        </p:txBody>
      </p:sp>
      <p:sp>
        <p:nvSpPr>
          <p:cNvPr id="12" name="sa-0"/>
          <p:cNvSpPr txBox="1"/>
          <p:nvPr/>
        </p:nvSpPr>
        <p:spPr>
          <a:xfrm>
            <a:off x="1707515" y="5218240"/>
            <a:ext cx="585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4694D7"/>
                </a:solidFill>
                <a:latin typeface="微软雅黑"/>
                <a:ea typeface="微软雅黑"/>
                <a:cs typeface="微软雅黑"/>
              </a:rPr>
              <a:t>教育市场</a:t>
            </a:r>
          </a:p>
        </p:txBody>
      </p:sp>
      <p:sp>
        <p:nvSpPr>
          <p:cNvPr id="13" name="sb-0"/>
          <p:cNvSpPr txBox="1"/>
          <p:nvPr/>
        </p:nvSpPr>
        <p:spPr>
          <a:xfrm>
            <a:off x="1660684" y="5428345"/>
            <a:ext cx="67913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找到种子客户</a:t>
            </a:r>
          </a:p>
        </p:txBody>
      </p:sp>
      <p:sp>
        <p:nvSpPr>
          <p:cNvPr id="14" name="band-1"/>
          <p:cNvSpPr/>
          <p:nvPr/>
        </p:nvSpPr>
        <p:spPr>
          <a:xfrm>
            <a:off x="2743200" y="1587500"/>
            <a:ext cx="2070100" cy="3492500"/>
          </a:xfrm>
          <a:prstGeom prst="rect">
            <a:avLst/>
          </a:prstGeom>
          <a:solidFill>
            <a:srgbClr val="2468B6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sn-1"/>
          <p:cNvSpPr txBox="1"/>
          <p:nvPr/>
        </p:nvSpPr>
        <p:spPr>
          <a:xfrm>
            <a:off x="3452495" y="1615186"/>
            <a:ext cx="65151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成长期</a:t>
            </a:r>
          </a:p>
        </p:txBody>
      </p:sp>
      <p:sp>
        <p:nvSpPr>
          <p:cNvPr id="16" name="sa-1"/>
          <p:cNvSpPr txBox="1"/>
          <p:nvPr/>
        </p:nvSpPr>
        <p:spPr>
          <a:xfrm>
            <a:off x="3485515" y="5218240"/>
            <a:ext cx="585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2468B6"/>
                </a:solidFill>
                <a:latin typeface="微软雅黑"/>
                <a:ea typeface="微软雅黑"/>
                <a:cs typeface="微软雅黑"/>
              </a:rPr>
              <a:t>抢占份额</a:t>
            </a:r>
          </a:p>
        </p:txBody>
      </p:sp>
      <p:sp>
        <p:nvSpPr>
          <p:cNvPr id="17" name="sb-1"/>
          <p:cNvSpPr txBox="1"/>
          <p:nvPr/>
        </p:nvSpPr>
        <p:spPr>
          <a:xfrm>
            <a:off x="3438684" y="5428345"/>
            <a:ext cx="67913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渠道快速铺开</a:t>
            </a:r>
          </a:p>
        </p:txBody>
      </p:sp>
      <p:cxnSp>
        <p:nvCxnSpPr>
          <p:cNvPr id="18" name="sd-1"/>
          <p:cNvCxnSpPr/>
          <p:nvPr/>
        </p:nvCxnSpPr>
        <p:spPr>
          <a:xfrm>
            <a:off x="2730500" y="1905000"/>
            <a:ext cx="0" cy="3175000"/>
          </a:xfrm>
          <a:prstGeom prst="line">
            <a:avLst/>
          </a:prstGeom>
          <a:ln w="6350" cap="rnd">
            <a:solidFill>
              <a:srgbClr val="0B2545">
                <a:alpha val="1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band-2"/>
          <p:cNvSpPr/>
          <p:nvPr/>
        </p:nvSpPr>
        <p:spPr>
          <a:xfrm>
            <a:off x="4838700" y="1587500"/>
            <a:ext cx="2006600" cy="3492500"/>
          </a:xfrm>
          <a:prstGeom prst="rect">
            <a:avLst/>
          </a:prstGeom>
          <a:solidFill>
            <a:srgbClr val="134C9C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sn-2"/>
          <p:cNvSpPr txBox="1"/>
          <p:nvPr/>
        </p:nvSpPr>
        <p:spPr>
          <a:xfrm>
            <a:off x="5516245" y="1615186"/>
            <a:ext cx="65151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成熟期</a:t>
            </a:r>
          </a:p>
        </p:txBody>
      </p:sp>
      <p:sp>
        <p:nvSpPr>
          <p:cNvPr id="21" name="sa-2"/>
          <p:cNvSpPr txBox="1"/>
          <p:nvPr/>
        </p:nvSpPr>
        <p:spPr>
          <a:xfrm>
            <a:off x="5549265" y="5218240"/>
            <a:ext cx="585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守住利润</a:t>
            </a:r>
          </a:p>
        </p:txBody>
      </p:sp>
      <p:sp>
        <p:nvSpPr>
          <p:cNvPr id="22" name="sb-2"/>
          <p:cNvSpPr txBox="1"/>
          <p:nvPr/>
        </p:nvSpPr>
        <p:spPr>
          <a:xfrm>
            <a:off x="5502434" y="5428345"/>
            <a:ext cx="67913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降本、做增值</a:t>
            </a:r>
          </a:p>
        </p:txBody>
      </p:sp>
      <p:cxnSp>
        <p:nvCxnSpPr>
          <p:cNvPr id="23" name="sd-2"/>
          <p:cNvCxnSpPr/>
          <p:nvPr/>
        </p:nvCxnSpPr>
        <p:spPr>
          <a:xfrm>
            <a:off x="4826000" y="1905000"/>
            <a:ext cx="0" cy="3175000"/>
          </a:xfrm>
          <a:prstGeom prst="line">
            <a:avLst/>
          </a:prstGeom>
          <a:ln w="6350" cap="rnd">
            <a:solidFill>
              <a:srgbClr val="0B2545">
                <a:alpha val="1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band-3"/>
          <p:cNvSpPr/>
          <p:nvPr/>
        </p:nvSpPr>
        <p:spPr>
          <a:xfrm>
            <a:off x="6870700" y="1587500"/>
            <a:ext cx="1371600" cy="3492500"/>
          </a:xfrm>
          <a:prstGeom prst="rect">
            <a:avLst/>
          </a:prstGeom>
          <a:solidFill>
            <a:srgbClr val="8FA6C2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sn-3"/>
          <p:cNvSpPr txBox="1"/>
          <p:nvPr/>
        </p:nvSpPr>
        <p:spPr>
          <a:xfrm>
            <a:off x="7230745" y="1615186"/>
            <a:ext cx="65151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衰退期</a:t>
            </a:r>
          </a:p>
        </p:txBody>
      </p:sp>
      <p:sp>
        <p:nvSpPr>
          <p:cNvPr id="26" name="sa-3"/>
          <p:cNvSpPr txBox="1"/>
          <p:nvPr/>
        </p:nvSpPr>
        <p:spPr>
          <a:xfrm>
            <a:off x="7263765" y="5218240"/>
            <a:ext cx="585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有序退出</a:t>
            </a:r>
          </a:p>
        </p:txBody>
      </p:sp>
      <p:sp>
        <p:nvSpPr>
          <p:cNvPr id="27" name="sb-3"/>
          <p:cNvSpPr txBox="1"/>
          <p:nvPr/>
        </p:nvSpPr>
        <p:spPr>
          <a:xfrm>
            <a:off x="7266146" y="5428345"/>
            <a:ext cx="580708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迁移老客户</a:t>
            </a:r>
          </a:p>
        </p:txBody>
      </p:sp>
      <p:cxnSp>
        <p:nvCxnSpPr>
          <p:cNvPr id="28" name="sd-3"/>
          <p:cNvCxnSpPr/>
          <p:nvPr/>
        </p:nvCxnSpPr>
        <p:spPr>
          <a:xfrm>
            <a:off x="6858000" y="1905000"/>
            <a:ext cx="0" cy="3175000"/>
          </a:xfrm>
          <a:prstGeom prst="line">
            <a:avLst/>
          </a:prstGeom>
          <a:ln w="6350" cap="rnd">
            <a:solidFill>
              <a:srgbClr val="0B2545">
                <a:alpha val="1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area"/>
          <p:cNvSpPr/>
          <p:nvPr/>
        </p:nvSpPr>
        <p:spPr>
          <a:xfrm>
            <a:off x="1270000" y="2095500"/>
            <a:ext cx="6985000" cy="2984500"/>
          </a:xfrm>
          <a:custGeom>
            <a:avLst/>
            <a:gdLst/>
            <a:ahLst/>
            <a:cxnLst/>
            <a:rect l="0" t="0" r="r" b="b"/>
            <a:pathLst>
              <a:path w="6985000" h="2984500">
                <a:moveTo>
                  <a:pt x="0" y="2975420"/>
                </a:moveTo>
                <a:cubicBezTo>
                  <a:pt x="10604" y="2975102"/>
                  <a:pt x="42354" y="2974276"/>
                  <a:pt x="63500" y="2973642"/>
                </a:cubicBezTo>
                <a:cubicBezTo>
                  <a:pt x="84646" y="2973007"/>
                  <a:pt x="105854" y="2972372"/>
                  <a:pt x="127000" y="2971610"/>
                </a:cubicBezTo>
                <a:cubicBezTo>
                  <a:pt x="148146" y="2970848"/>
                  <a:pt x="169354" y="2970086"/>
                  <a:pt x="190500" y="2969196"/>
                </a:cubicBezTo>
                <a:cubicBezTo>
                  <a:pt x="211646" y="2968308"/>
                  <a:pt x="232854" y="2967418"/>
                  <a:pt x="254000" y="2966402"/>
                </a:cubicBezTo>
                <a:cubicBezTo>
                  <a:pt x="275146" y="2965386"/>
                  <a:pt x="296354" y="2964307"/>
                  <a:pt x="317500" y="2963100"/>
                </a:cubicBezTo>
                <a:cubicBezTo>
                  <a:pt x="338646" y="2961958"/>
                  <a:pt x="359855" y="2960688"/>
                  <a:pt x="381000" y="2959290"/>
                </a:cubicBezTo>
                <a:cubicBezTo>
                  <a:pt x="402145" y="2957957"/>
                  <a:pt x="423355" y="2956496"/>
                  <a:pt x="444500" y="2954909"/>
                </a:cubicBezTo>
                <a:cubicBezTo>
                  <a:pt x="465645" y="2953385"/>
                  <a:pt x="486855" y="2951671"/>
                  <a:pt x="508000" y="2949892"/>
                </a:cubicBezTo>
                <a:cubicBezTo>
                  <a:pt x="529145" y="2948051"/>
                  <a:pt x="550355" y="2946146"/>
                  <a:pt x="571500" y="2944050"/>
                </a:cubicBezTo>
                <a:cubicBezTo>
                  <a:pt x="592645" y="2942018"/>
                  <a:pt x="613855" y="2939796"/>
                  <a:pt x="635000" y="2937446"/>
                </a:cubicBezTo>
                <a:cubicBezTo>
                  <a:pt x="656145" y="2935034"/>
                  <a:pt x="677355" y="2932557"/>
                  <a:pt x="698500" y="2929826"/>
                </a:cubicBezTo>
                <a:cubicBezTo>
                  <a:pt x="719645" y="2927160"/>
                  <a:pt x="740855" y="2924238"/>
                  <a:pt x="762000" y="2921190"/>
                </a:cubicBezTo>
                <a:cubicBezTo>
                  <a:pt x="783145" y="2918142"/>
                  <a:pt x="804355" y="2914840"/>
                  <a:pt x="825500" y="2911412"/>
                </a:cubicBezTo>
                <a:cubicBezTo>
                  <a:pt x="846645" y="2907919"/>
                  <a:pt x="867855" y="2904236"/>
                  <a:pt x="889000" y="2900299"/>
                </a:cubicBezTo>
                <a:cubicBezTo>
                  <a:pt x="910145" y="2896362"/>
                  <a:pt x="931355" y="2892234"/>
                  <a:pt x="952500" y="2887790"/>
                </a:cubicBezTo>
                <a:cubicBezTo>
                  <a:pt x="973645" y="2883345"/>
                  <a:pt x="994855" y="2878709"/>
                  <a:pt x="1016000" y="2873692"/>
                </a:cubicBezTo>
                <a:cubicBezTo>
                  <a:pt x="1037145" y="2868740"/>
                  <a:pt x="1058354" y="2863533"/>
                  <a:pt x="1079500" y="2857945"/>
                </a:cubicBezTo>
                <a:cubicBezTo>
                  <a:pt x="1100646" y="2852357"/>
                  <a:pt x="1121854" y="2846514"/>
                  <a:pt x="1143000" y="2840355"/>
                </a:cubicBezTo>
                <a:cubicBezTo>
                  <a:pt x="1164146" y="2834132"/>
                  <a:pt x="1185354" y="2827592"/>
                  <a:pt x="1206500" y="2820734"/>
                </a:cubicBezTo>
                <a:cubicBezTo>
                  <a:pt x="1227646" y="2813812"/>
                  <a:pt x="1248854" y="2806573"/>
                  <a:pt x="1270000" y="2798953"/>
                </a:cubicBezTo>
                <a:cubicBezTo>
                  <a:pt x="1291146" y="2791270"/>
                  <a:pt x="1312354" y="2783268"/>
                  <a:pt x="1333500" y="2774823"/>
                </a:cubicBezTo>
                <a:cubicBezTo>
                  <a:pt x="1354646" y="2766378"/>
                  <a:pt x="1375854" y="2757551"/>
                  <a:pt x="1397000" y="2748280"/>
                </a:cubicBezTo>
                <a:cubicBezTo>
                  <a:pt x="1418146" y="2738946"/>
                  <a:pt x="1439354" y="2729230"/>
                  <a:pt x="1460500" y="2719070"/>
                </a:cubicBezTo>
                <a:cubicBezTo>
                  <a:pt x="1481646" y="2708846"/>
                  <a:pt x="1502854" y="2698178"/>
                  <a:pt x="1524000" y="2687066"/>
                </a:cubicBezTo>
                <a:cubicBezTo>
                  <a:pt x="1545146" y="2675890"/>
                  <a:pt x="1566354" y="2664270"/>
                  <a:pt x="1587500" y="2652078"/>
                </a:cubicBezTo>
                <a:cubicBezTo>
                  <a:pt x="1608646" y="2639886"/>
                  <a:pt x="1629854" y="2627249"/>
                  <a:pt x="1651000" y="2614041"/>
                </a:cubicBezTo>
                <a:cubicBezTo>
                  <a:pt x="1672146" y="2600833"/>
                  <a:pt x="1693354" y="2587054"/>
                  <a:pt x="1714500" y="2572766"/>
                </a:cubicBezTo>
                <a:cubicBezTo>
                  <a:pt x="1735646" y="2558415"/>
                  <a:pt x="1756854" y="2543620"/>
                  <a:pt x="1778000" y="2528126"/>
                </a:cubicBezTo>
                <a:cubicBezTo>
                  <a:pt x="1799146" y="2512695"/>
                  <a:pt x="1820354" y="2496693"/>
                  <a:pt x="1841500" y="2480056"/>
                </a:cubicBezTo>
                <a:cubicBezTo>
                  <a:pt x="1862646" y="2463483"/>
                  <a:pt x="1883854" y="2446274"/>
                  <a:pt x="1905000" y="2428494"/>
                </a:cubicBezTo>
                <a:cubicBezTo>
                  <a:pt x="1926146" y="2410650"/>
                  <a:pt x="1947354" y="2392299"/>
                  <a:pt x="1968500" y="2373312"/>
                </a:cubicBezTo>
                <a:cubicBezTo>
                  <a:pt x="1989646" y="2354262"/>
                  <a:pt x="2010854" y="2334641"/>
                  <a:pt x="2032000" y="2314448"/>
                </a:cubicBezTo>
                <a:cubicBezTo>
                  <a:pt x="2053146" y="2294255"/>
                  <a:pt x="2074354" y="2273364"/>
                  <a:pt x="2095500" y="2251964"/>
                </a:cubicBezTo>
                <a:cubicBezTo>
                  <a:pt x="2116646" y="2230501"/>
                  <a:pt x="2137854" y="2208466"/>
                  <a:pt x="2159000" y="2185860"/>
                </a:cubicBezTo>
                <a:cubicBezTo>
                  <a:pt x="2180146" y="2163191"/>
                  <a:pt x="2201354" y="2139950"/>
                  <a:pt x="2222500" y="2116138"/>
                </a:cubicBezTo>
                <a:cubicBezTo>
                  <a:pt x="2243646" y="2092325"/>
                  <a:pt x="2264854" y="2067877"/>
                  <a:pt x="2286000" y="2042922"/>
                </a:cubicBezTo>
                <a:cubicBezTo>
                  <a:pt x="2307146" y="2017966"/>
                  <a:pt x="2328354" y="1992440"/>
                  <a:pt x="2349500" y="1966341"/>
                </a:cubicBezTo>
                <a:cubicBezTo>
                  <a:pt x="2370646" y="1940306"/>
                  <a:pt x="2391854" y="1913636"/>
                  <a:pt x="2413000" y="1886585"/>
                </a:cubicBezTo>
                <a:cubicBezTo>
                  <a:pt x="2434146" y="1859471"/>
                  <a:pt x="2455354" y="1831848"/>
                  <a:pt x="2476500" y="1803781"/>
                </a:cubicBezTo>
                <a:cubicBezTo>
                  <a:pt x="2497646" y="1775714"/>
                  <a:pt x="2518854" y="1747139"/>
                  <a:pt x="2540000" y="1718183"/>
                </a:cubicBezTo>
                <a:cubicBezTo>
                  <a:pt x="2561146" y="1689290"/>
                  <a:pt x="2582354" y="1659890"/>
                  <a:pt x="2603500" y="1630172"/>
                </a:cubicBezTo>
                <a:cubicBezTo>
                  <a:pt x="2624646" y="1600454"/>
                  <a:pt x="2645854" y="1570355"/>
                  <a:pt x="2667000" y="1540002"/>
                </a:cubicBezTo>
                <a:cubicBezTo>
                  <a:pt x="2688146" y="1509586"/>
                  <a:pt x="2709354" y="1478915"/>
                  <a:pt x="2730500" y="1447990"/>
                </a:cubicBezTo>
                <a:cubicBezTo>
                  <a:pt x="2751646" y="1417129"/>
                  <a:pt x="2772854" y="1385888"/>
                  <a:pt x="2794000" y="1354646"/>
                </a:cubicBezTo>
                <a:cubicBezTo>
                  <a:pt x="2815146" y="1323340"/>
                  <a:pt x="2836354" y="1291844"/>
                  <a:pt x="2857500" y="1260348"/>
                </a:cubicBezTo>
                <a:cubicBezTo>
                  <a:pt x="2878646" y="1228852"/>
                  <a:pt x="2899854" y="1197165"/>
                  <a:pt x="2921000" y="1165606"/>
                </a:cubicBezTo>
                <a:cubicBezTo>
                  <a:pt x="2942146" y="1134046"/>
                  <a:pt x="2963354" y="1102360"/>
                  <a:pt x="2984500" y="1070927"/>
                </a:cubicBezTo>
                <a:cubicBezTo>
                  <a:pt x="3005646" y="1039432"/>
                  <a:pt x="3026854" y="1007936"/>
                  <a:pt x="3048000" y="976757"/>
                </a:cubicBezTo>
                <a:cubicBezTo>
                  <a:pt x="3069146" y="945579"/>
                  <a:pt x="3090354" y="914527"/>
                  <a:pt x="3111500" y="883793"/>
                </a:cubicBezTo>
                <a:cubicBezTo>
                  <a:pt x="3132646" y="853123"/>
                  <a:pt x="3153854" y="822579"/>
                  <a:pt x="3175000" y="792544"/>
                </a:cubicBezTo>
                <a:cubicBezTo>
                  <a:pt x="3196146" y="762508"/>
                  <a:pt x="3217354" y="732790"/>
                  <a:pt x="3238500" y="703580"/>
                </a:cubicBezTo>
                <a:cubicBezTo>
                  <a:pt x="3259646" y="674433"/>
                  <a:pt x="3280854" y="645668"/>
                  <a:pt x="3302000" y="617538"/>
                </a:cubicBezTo>
                <a:cubicBezTo>
                  <a:pt x="3323146" y="589407"/>
                  <a:pt x="3344354" y="561785"/>
                  <a:pt x="3365500" y="534988"/>
                </a:cubicBezTo>
                <a:cubicBezTo>
                  <a:pt x="3386646" y="508127"/>
                  <a:pt x="3407854" y="481838"/>
                  <a:pt x="3429000" y="456438"/>
                </a:cubicBezTo>
                <a:cubicBezTo>
                  <a:pt x="3450146" y="431038"/>
                  <a:pt x="3471354" y="406337"/>
                  <a:pt x="3492500" y="382588"/>
                </a:cubicBezTo>
                <a:cubicBezTo>
                  <a:pt x="3513646" y="358775"/>
                  <a:pt x="3534854" y="335788"/>
                  <a:pt x="3556000" y="313881"/>
                </a:cubicBezTo>
                <a:cubicBezTo>
                  <a:pt x="3577146" y="291910"/>
                  <a:pt x="3598354" y="270827"/>
                  <a:pt x="3619500" y="250825"/>
                </a:cubicBezTo>
                <a:cubicBezTo>
                  <a:pt x="3640646" y="230886"/>
                  <a:pt x="3661854" y="211836"/>
                  <a:pt x="3683000" y="193993"/>
                </a:cubicBezTo>
                <a:cubicBezTo>
                  <a:pt x="3704146" y="176149"/>
                  <a:pt x="3725354" y="159385"/>
                  <a:pt x="3746500" y="143827"/>
                </a:cubicBezTo>
                <a:cubicBezTo>
                  <a:pt x="3767646" y="128206"/>
                  <a:pt x="3788854" y="113792"/>
                  <a:pt x="3810000" y="100584"/>
                </a:cubicBezTo>
                <a:cubicBezTo>
                  <a:pt x="3831146" y="87439"/>
                  <a:pt x="3852354" y="75438"/>
                  <a:pt x="3873500" y="64770"/>
                </a:cubicBezTo>
                <a:cubicBezTo>
                  <a:pt x="3894646" y="54102"/>
                  <a:pt x="3915854" y="44704"/>
                  <a:pt x="3937000" y="36639"/>
                </a:cubicBezTo>
                <a:cubicBezTo>
                  <a:pt x="3958146" y="28512"/>
                  <a:pt x="3979354" y="21781"/>
                  <a:pt x="4000500" y="16319"/>
                </a:cubicBezTo>
                <a:cubicBezTo>
                  <a:pt x="4021646" y="10922"/>
                  <a:pt x="4042854" y="6794"/>
                  <a:pt x="4064000" y="4064"/>
                </a:cubicBezTo>
                <a:cubicBezTo>
                  <a:pt x="4085146" y="1397"/>
                  <a:pt x="4106354" y="0"/>
                  <a:pt x="4127500" y="0"/>
                </a:cubicBezTo>
                <a:cubicBezTo>
                  <a:pt x="4148646" y="0"/>
                  <a:pt x="4169854" y="1397"/>
                  <a:pt x="4191000" y="4064"/>
                </a:cubicBezTo>
                <a:cubicBezTo>
                  <a:pt x="4212146" y="6794"/>
                  <a:pt x="4233354" y="10922"/>
                  <a:pt x="4254500" y="16319"/>
                </a:cubicBezTo>
                <a:cubicBezTo>
                  <a:pt x="4275646" y="21781"/>
                  <a:pt x="4296854" y="28512"/>
                  <a:pt x="4318000" y="36639"/>
                </a:cubicBezTo>
                <a:cubicBezTo>
                  <a:pt x="4339146" y="44704"/>
                  <a:pt x="4360354" y="54102"/>
                  <a:pt x="4381500" y="64770"/>
                </a:cubicBezTo>
                <a:cubicBezTo>
                  <a:pt x="4402646" y="75438"/>
                  <a:pt x="4423854" y="87439"/>
                  <a:pt x="4445000" y="100584"/>
                </a:cubicBezTo>
                <a:cubicBezTo>
                  <a:pt x="4466146" y="113792"/>
                  <a:pt x="4487354" y="128206"/>
                  <a:pt x="4508500" y="143827"/>
                </a:cubicBezTo>
                <a:cubicBezTo>
                  <a:pt x="4529646" y="159385"/>
                  <a:pt x="4550854" y="176149"/>
                  <a:pt x="4572000" y="193993"/>
                </a:cubicBezTo>
                <a:cubicBezTo>
                  <a:pt x="4593146" y="211836"/>
                  <a:pt x="4614354" y="230886"/>
                  <a:pt x="4635500" y="250825"/>
                </a:cubicBezTo>
                <a:cubicBezTo>
                  <a:pt x="4656646" y="270827"/>
                  <a:pt x="4677854" y="291910"/>
                  <a:pt x="4699000" y="313881"/>
                </a:cubicBezTo>
                <a:cubicBezTo>
                  <a:pt x="4720146" y="335788"/>
                  <a:pt x="4741354" y="358775"/>
                  <a:pt x="4762500" y="382588"/>
                </a:cubicBezTo>
                <a:cubicBezTo>
                  <a:pt x="4783646" y="406337"/>
                  <a:pt x="4804854" y="431038"/>
                  <a:pt x="4826000" y="456438"/>
                </a:cubicBezTo>
                <a:cubicBezTo>
                  <a:pt x="4847146" y="481838"/>
                  <a:pt x="4868354" y="508127"/>
                  <a:pt x="4889500" y="534988"/>
                </a:cubicBezTo>
                <a:cubicBezTo>
                  <a:pt x="4910646" y="561785"/>
                  <a:pt x="4931854" y="589407"/>
                  <a:pt x="4953000" y="617538"/>
                </a:cubicBezTo>
                <a:cubicBezTo>
                  <a:pt x="4974146" y="645668"/>
                  <a:pt x="4995354" y="674433"/>
                  <a:pt x="5016500" y="703580"/>
                </a:cubicBezTo>
                <a:cubicBezTo>
                  <a:pt x="5037646" y="732790"/>
                  <a:pt x="5058854" y="762508"/>
                  <a:pt x="5080000" y="792544"/>
                </a:cubicBezTo>
                <a:cubicBezTo>
                  <a:pt x="5101146" y="822579"/>
                  <a:pt x="5122354" y="853123"/>
                  <a:pt x="5143500" y="883793"/>
                </a:cubicBezTo>
                <a:cubicBezTo>
                  <a:pt x="5164646" y="914527"/>
                  <a:pt x="5185854" y="945579"/>
                  <a:pt x="5207000" y="976757"/>
                </a:cubicBezTo>
                <a:cubicBezTo>
                  <a:pt x="5228146" y="1007936"/>
                  <a:pt x="5249354" y="1039432"/>
                  <a:pt x="5270500" y="1070927"/>
                </a:cubicBezTo>
                <a:cubicBezTo>
                  <a:pt x="5291646" y="1102360"/>
                  <a:pt x="5312854" y="1134046"/>
                  <a:pt x="5334000" y="1165606"/>
                </a:cubicBezTo>
                <a:cubicBezTo>
                  <a:pt x="5355146" y="1197165"/>
                  <a:pt x="5376354" y="1228852"/>
                  <a:pt x="5397500" y="1260348"/>
                </a:cubicBezTo>
                <a:cubicBezTo>
                  <a:pt x="5418646" y="1291844"/>
                  <a:pt x="5439854" y="1323340"/>
                  <a:pt x="5461000" y="1354646"/>
                </a:cubicBezTo>
                <a:cubicBezTo>
                  <a:pt x="5482146" y="1385888"/>
                  <a:pt x="5503354" y="1417129"/>
                  <a:pt x="5524500" y="1447990"/>
                </a:cubicBezTo>
                <a:cubicBezTo>
                  <a:pt x="5545646" y="1478915"/>
                  <a:pt x="5566854" y="1509586"/>
                  <a:pt x="5588000" y="1540002"/>
                </a:cubicBezTo>
                <a:cubicBezTo>
                  <a:pt x="5609146" y="1570355"/>
                  <a:pt x="5630354" y="1600454"/>
                  <a:pt x="5651500" y="1630172"/>
                </a:cubicBezTo>
                <a:cubicBezTo>
                  <a:pt x="5672646" y="1659890"/>
                  <a:pt x="5693854" y="1689290"/>
                  <a:pt x="5715000" y="1718183"/>
                </a:cubicBezTo>
                <a:cubicBezTo>
                  <a:pt x="5736146" y="1747139"/>
                  <a:pt x="5757354" y="1775714"/>
                  <a:pt x="5778500" y="1803781"/>
                </a:cubicBezTo>
                <a:cubicBezTo>
                  <a:pt x="5799646" y="1831848"/>
                  <a:pt x="5820854" y="1859471"/>
                  <a:pt x="5842000" y="1886585"/>
                </a:cubicBezTo>
                <a:cubicBezTo>
                  <a:pt x="5863146" y="1913636"/>
                  <a:pt x="5884354" y="1940306"/>
                  <a:pt x="5905500" y="1966341"/>
                </a:cubicBezTo>
                <a:cubicBezTo>
                  <a:pt x="5926646" y="1992440"/>
                  <a:pt x="5947854" y="2017966"/>
                  <a:pt x="5969000" y="2042922"/>
                </a:cubicBezTo>
                <a:cubicBezTo>
                  <a:pt x="5990146" y="2067877"/>
                  <a:pt x="6011354" y="2092325"/>
                  <a:pt x="6032500" y="2116138"/>
                </a:cubicBezTo>
                <a:cubicBezTo>
                  <a:pt x="6053646" y="2139950"/>
                  <a:pt x="6074854" y="2163191"/>
                  <a:pt x="6096000" y="2185860"/>
                </a:cubicBezTo>
                <a:cubicBezTo>
                  <a:pt x="6117146" y="2208466"/>
                  <a:pt x="6138354" y="2230501"/>
                  <a:pt x="6159500" y="2251964"/>
                </a:cubicBezTo>
                <a:cubicBezTo>
                  <a:pt x="6180646" y="2273364"/>
                  <a:pt x="6201854" y="2294255"/>
                  <a:pt x="6223000" y="2314448"/>
                </a:cubicBezTo>
                <a:cubicBezTo>
                  <a:pt x="6244146" y="2334641"/>
                  <a:pt x="6265354" y="2354262"/>
                  <a:pt x="6286500" y="2373312"/>
                </a:cubicBezTo>
                <a:cubicBezTo>
                  <a:pt x="6307646" y="2392299"/>
                  <a:pt x="6328854" y="2410650"/>
                  <a:pt x="6350000" y="2428494"/>
                </a:cubicBezTo>
                <a:cubicBezTo>
                  <a:pt x="6371146" y="2446274"/>
                  <a:pt x="6392354" y="2463483"/>
                  <a:pt x="6413500" y="2480056"/>
                </a:cubicBezTo>
                <a:cubicBezTo>
                  <a:pt x="6434646" y="2496693"/>
                  <a:pt x="6455854" y="2512695"/>
                  <a:pt x="6477000" y="2528126"/>
                </a:cubicBezTo>
                <a:cubicBezTo>
                  <a:pt x="6498146" y="2543620"/>
                  <a:pt x="6519354" y="2558415"/>
                  <a:pt x="6540500" y="2572766"/>
                </a:cubicBezTo>
                <a:cubicBezTo>
                  <a:pt x="6561646" y="2587054"/>
                  <a:pt x="6582854" y="2600833"/>
                  <a:pt x="6604000" y="2614041"/>
                </a:cubicBezTo>
                <a:cubicBezTo>
                  <a:pt x="6625146" y="2627249"/>
                  <a:pt x="6646354" y="2639886"/>
                  <a:pt x="6667500" y="2652078"/>
                </a:cubicBezTo>
                <a:cubicBezTo>
                  <a:pt x="6688646" y="2664270"/>
                  <a:pt x="6709854" y="2675890"/>
                  <a:pt x="6731000" y="2687066"/>
                </a:cubicBezTo>
                <a:cubicBezTo>
                  <a:pt x="6752146" y="2698178"/>
                  <a:pt x="6773354" y="2708846"/>
                  <a:pt x="6794500" y="2719070"/>
                </a:cubicBezTo>
                <a:cubicBezTo>
                  <a:pt x="6815646" y="2729230"/>
                  <a:pt x="6836854" y="2738946"/>
                  <a:pt x="6858000" y="2748280"/>
                </a:cubicBezTo>
                <a:cubicBezTo>
                  <a:pt x="6879146" y="2757551"/>
                  <a:pt x="6900354" y="2766378"/>
                  <a:pt x="6921500" y="2774823"/>
                </a:cubicBezTo>
                <a:cubicBezTo>
                  <a:pt x="6942646" y="2783268"/>
                  <a:pt x="6974396" y="2794889"/>
                  <a:pt x="6985000" y="2798953"/>
                </a:cubicBezTo>
                <a:lnTo>
                  <a:pt x="6985000" y="2984500"/>
                </a:lnTo>
                <a:lnTo>
                  <a:pt x="0" y="2984500"/>
                </a:lnTo>
                <a:close/>
              </a:path>
            </a:pathLst>
          </a:custGeom>
          <a:gradFill rotWithShape="1">
            <a:gsLst>
              <a:gs pos="0">
                <a:srgbClr val="2E77C2">
                  <a:alpha val="25000"/>
                </a:srgbClr>
              </a:gs>
              <a:gs pos="100000">
                <a:srgbClr val="2E77C2">
                  <a:alpha val="200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curve"/>
          <p:cNvSpPr/>
          <p:nvPr/>
        </p:nvSpPr>
        <p:spPr>
          <a:xfrm>
            <a:off x="1270000" y="2095500"/>
            <a:ext cx="6985000" cy="2975420"/>
          </a:xfrm>
          <a:custGeom>
            <a:avLst/>
            <a:gdLst/>
            <a:ahLst/>
            <a:cxnLst/>
            <a:rect l="0" t="0" r="r" b="b"/>
            <a:pathLst>
              <a:path w="6985000" h="2975420">
                <a:moveTo>
                  <a:pt x="0" y="2975420"/>
                </a:moveTo>
                <a:cubicBezTo>
                  <a:pt x="10604" y="2975102"/>
                  <a:pt x="42354" y="2974276"/>
                  <a:pt x="63500" y="2973642"/>
                </a:cubicBezTo>
                <a:cubicBezTo>
                  <a:pt x="84646" y="2973007"/>
                  <a:pt x="105854" y="2972372"/>
                  <a:pt x="127000" y="2971610"/>
                </a:cubicBezTo>
                <a:cubicBezTo>
                  <a:pt x="148146" y="2970848"/>
                  <a:pt x="169354" y="2970086"/>
                  <a:pt x="190500" y="2969196"/>
                </a:cubicBezTo>
                <a:cubicBezTo>
                  <a:pt x="211646" y="2968308"/>
                  <a:pt x="232854" y="2967418"/>
                  <a:pt x="254000" y="2966402"/>
                </a:cubicBezTo>
                <a:cubicBezTo>
                  <a:pt x="275146" y="2965386"/>
                  <a:pt x="296354" y="2964307"/>
                  <a:pt x="317500" y="2963100"/>
                </a:cubicBezTo>
                <a:cubicBezTo>
                  <a:pt x="338646" y="2961958"/>
                  <a:pt x="359855" y="2960688"/>
                  <a:pt x="381000" y="2959290"/>
                </a:cubicBezTo>
                <a:cubicBezTo>
                  <a:pt x="402145" y="2957957"/>
                  <a:pt x="423355" y="2956496"/>
                  <a:pt x="444500" y="2954909"/>
                </a:cubicBezTo>
                <a:cubicBezTo>
                  <a:pt x="465645" y="2953385"/>
                  <a:pt x="486855" y="2951671"/>
                  <a:pt x="508000" y="2949892"/>
                </a:cubicBezTo>
                <a:cubicBezTo>
                  <a:pt x="529145" y="2948051"/>
                  <a:pt x="550355" y="2946146"/>
                  <a:pt x="571500" y="2944050"/>
                </a:cubicBezTo>
                <a:cubicBezTo>
                  <a:pt x="592645" y="2942018"/>
                  <a:pt x="613855" y="2939796"/>
                  <a:pt x="635000" y="2937446"/>
                </a:cubicBezTo>
                <a:cubicBezTo>
                  <a:pt x="656145" y="2935034"/>
                  <a:pt x="677355" y="2932557"/>
                  <a:pt x="698500" y="2929826"/>
                </a:cubicBezTo>
                <a:cubicBezTo>
                  <a:pt x="719645" y="2927160"/>
                  <a:pt x="740855" y="2924238"/>
                  <a:pt x="762000" y="2921190"/>
                </a:cubicBezTo>
                <a:cubicBezTo>
                  <a:pt x="783145" y="2918142"/>
                  <a:pt x="804355" y="2914840"/>
                  <a:pt x="825500" y="2911412"/>
                </a:cubicBezTo>
                <a:cubicBezTo>
                  <a:pt x="846645" y="2907919"/>
                  <a:pt x="867855" y="2904236"/>
                  <a:pt x="889000" y="2900299"/>
                </a:cubicBezTo>
                <a:cubicBezTo>
                  <a:pt x="910145" y="2896362"/>
                  <a:pt x="931355" y="2892234"/>
                  <a:pt x="952500" y="2887790"/>
                </a:cubicBezTo>
                <a:cubicBezTo>
                  <a:pt x="973645" y="2883345"/>
                  <a:pt x="994855" y="2878709"/>
                  <a:pt x="1016000" y="2873692"/>
                </a:cubicBezTo>
                <a:cubicBezTo>
                  <a:pt x="1037145" y="2868740"/>
                  <a:pt x="1058354" y="2863533"/>
                  <a:pt x="1079500" y="2857945"/>
                </a:cubicBezTo>
                <a:cubicBezTo>
                  <a:pt x="1100646" y="2852357"/>
                  <a:pt x="1121854" y="2846514"/>
                  <a:pt x="1143000" y="2840355"/>
                </a:cubicBezTo>
                <a:cubicBezTo>
                  <a:pt x="1164146" y="2834132"/>
                  <a:pt x="1185354" y="2827592"/>
                  <a:pt x="1206500" y="2820734"/>
                </a:cubicBezTo>
                <a:cubicBezTo>
                  <a:pt x="1227646" y="2813812"/>
                  <a:pt x="1248854" y="2806573"/>
                  <a:pt x="1270000" y="2798953"/>
                </a:cubicBezTo>
                <a:cubicBezTo>
                  <a:pt x="1291146" y="2791270"/>
                  <a:pt x="1312354" y="2783268"/>
                  <a:pt x="1333500" y="2774823"/>
                </a:cubicBezTo>
                <a:cubicBezTo>
                  <a:pt x="1354646" y="2766378"/>
                  <a:pt x="1375854" y="2757551"/>
                  <a:pt x="1397000" y="2748280"/>
                </a:cubicBezTo>
                <a:cubicBezTo>
                  <a:pt x="1418146" y="2738946"/>
                  <a:pt x="1439354" y="2729230"/>
                  <a:pt x="1460500" y="2719070"/>
                </a:cubicBezTo>
                <a:cubicBezTo>
                  <a:pt x="1481646" y="2708846"/>
                  <a:pt x="1502854" y="2698178"/>
                  <a:pt x="1524000" y="2687066"/>
                </a:cubicBezTo>
                <a:cubicBezTo>
                  <a:pt x="1545146" y="2675890"/>
                  <a:pt x="1566354" y="2664270"/>
                  <a:pt x="1587500" y="2652078"/>
                </a:cubicBezTo>
                <a:cubicBezTo>
                  <a:pt x="1608646" y="2639886"/>
                  <a:pt x="1629854" y="2627249"/>
                  <a:pt x="1651000" y="2614041"/>
                </a:cubicBezTo>
                <a:cubicBezTo>
                  <a:pt x="1672146" y="2600833"/>
                  <a:pt x="1693354" y="2587054"/>
                  <a:pt x="1714500" y="2572766"/>
                </a:cubicBezTo>
                <a:cubicBezTo>
                  <a:pt x="1735646" y="2558415"/>
                  <a:pt x="1756854" y="2543620"/>
                  <a:pt x="1778000" y="2528126"/>
                </a:cubicBezTo>
                <a:cubicBezTo>
                  <a:pt x="1799146" y="2512695"/>
                  <a:pt x="1820354" y="2496693"/>
                  <a:pt x="1841500" y="2480056"/>
                </a:cubicBezTo>
                <a:cubicBezTo>
                  <a:pt x="1862646" y="2463483"/>
                  <a:pt x="1883854" y="2446274"/>
                  <a:pt x="1905000" y="2428494"/>
                </a:cubicBezTo>
                <a:cubicBezTo>
                  <a:pt x="1926146" y="2410650"/>
                  <a:pt x="1947354" y="2392299"/>
                  <a:pt x="1968500" y="2373312"/>
                </a:cubicBezTo>
                <a:cubicBezTo>
                  <a:pt x="1989646" y="2354262"/>
                  <a:pt x="2010854" y="2334641"/>
                  <a:pt x="2032000" y="2314448"/>
                </a:cubicBezTo>
                <a:cubicBezTo>
                  <a:pt x="2053146" y="2294255"/>
                  <a:pt x="2074354" y="2273364"/>
                  <a:pt x="2095500" y="2251964"/>
                </a:cubicBezTo>
                <a:cubicBezTo>
                  <a:pt x="2116646" y="2230501"/>
                  <a:pt x="2137854" y="2208466"/>
                  <a:pt x="2159000" y="2185860"/>
                </a:cubicBezTo>
                <a:cubicBezTo>
                  <a:pt x="2180146" y="2163191"/>
                  <a:pt x="2201354" y="2139950"/>
                  <a:pt x="2222500" y="2116138"/>
                </a:cubicBezTo>
                <a:cubicBezTo>
                  <a:pt x="2243646" y="2092325"/>
                  <a:pt x="2264854" y="2067877"/>
                  <a:pt x="2286000" y="2042922"/>
                </a:cubicBezTo>
                <a:cubicBezTo>
                  <a:pt x="2307146" y="2017966"/>
                  <a:pt x="2328354" y="1992440"/>
                  <a:pt x="2349500" y="1966341"/>
                </a:cubicBezTo>
                <a:cubicBezTo>
                  <a:pt x="2370646" y="1940306"/>
                  <a:pt x="2391854" y="1913636"/>
                  <a:pt x="2413000" y="1886585"/>
                </a:cubicBezTo>
                <a:cubicBezTo>
                  <a:pt x="2434146" y="1859471"/>
                  <a:pt x="2455354" y="1831848"/>
                  <a:pt x="2476500" y="1803781"/>
                </a:cubicBezTo>
                <a:cubicBezTo>
                  <a:pt x="2497646" y="1775714"/>
                  <a:pt x="2518854" y="1747139"/>
                  <a:pt x="2540000" y="1718183"/>
                </a:cubicBezTo>
                <a:cubicBezTo>
                  <a:pt x="2561146" y="1689290"/>
                  <a:pt x="2582354" y="1659890"/>
                  <a:pt x="2603500" y="1630172"/>
                </a:cubicBezTo>
                <a:cubicBezTo>
                  <a:pt x="2624646" y="1600454"/>
                  <a:pt x="2645854" y="1570355"/>
                  <a:pt x="2667000" y="1540002"/>
                </a:cubicBezTo>
                <a:cubicBezTo>
                  <a:pt x="2688146" y="1509586"/>
                  <a:pt x="2709354" y="1478915"/>
                  <a:pt x="2730500" y="1447990"/>
                </a:cubicBezTo>
                <a:cubicBezTo>
                  <a:pt x="2751646" y="1417129"/>
                  <a:pt x="2772854" y="1385888"/>
                  <a:pt x="2794000" y="1354646"/>
                </a:cubicBezTo>
                <a:cubicBezTo>
                  <a:pt x="2815146" y="1323340"/>
                  <a:pt x="2836354" y="1291844"/>
                  <a:pt x="2857500" y="1260348"/>
                </a:cubicBezTo>
                <a:cubicBezTo>
                  <a:pt x="2878646" y="1228852"/>
                  <a:pt x="2899854" y="1197165"/>
                  <a:pt x="2921000" y="1165606"/>
                </a:cubicBezTo>
                <a:cubicBezTo>
                  <a:pt x="2942146" y="1134046"/>
                  <a:pt x="2963354" y="1102360"/>
                  <a:pt x="2984500" y="1070927"/>
                </a:cubicBezTo>
                <a:cubicBezTo>
                  <a:pt x="3005646" y="1039432"/>
                  <a:pt x="3026854" y="1007936"/>
                  <a:pt x="3048000" y="976757"/>
                </a:cubicBezTo>
                <a:cubicBezTo>
                  <a:pt x="3069146" y="945579"/>
                  <a:pt x="3090354" y="914527"/>
                  <a:pt x="3111500" y="883793"/>
                </a:cubicBezTo>
                <a:cubicBezTo>
                  <a:pt x="3132646" y="853123"/>
                  <a:pt x="3153854" y="822579"/>
                  <a:pt x="3175000" y="792544"/>
                </a:cubicBezTo>
                <a:cubicBezTo>
                  <a:pt x="3196146" y="762508"/>
                  <a:pt x="3217354" y="732790"/>
                  <a:pt x="3238500" y="703580"/>
                </a:cubicBezTo>
                <a:cubicBezTo>
                  <a:pt x="3259646" y="674433"/>
                  <a:pt x="3280854" y="645668"/>
                  <a:pt x="3302000" y="617538"/>
                </a:cubicBezTo>
                <a:cubicBezTo>
                  <a:pt x="3323146" y="589407"/>
                  <a:pt x="3344354" y="561785"/>
                  <a:pt x="3365500" y="534988"/>
                </a:cubicBezTo>
                <a:cubicBezTo>
                  <a:pt x="3386646" y="508127"/>
                  <a:pt x="3407854" y="481838"/>
                  <a:pt x="3429000" y="456438"/>
                </a:cubicBezTo>
                <a:cubicBezTo>
                  <a:pt x="3450146" y="431038"/>
                  <a:pt x="3471354" y="406337"/>
                  <a:pt x="3492500" y="382588"/>
                </a:cubicBezTo>
                <a:cubicBezTo>
                  <a:pt x="3513646" y="358775"/>
                  <a:pt x="3534854" y="335788"/>
                  <a:pt x="3556000" y="313881"/>
                </a:cubicBezTo>
                <a:cubicBezTo>
                  <a:pt x="3577146" y="291910"/>
                  <a:pt x="3598354" y="270827"/>
                  <a:pt x="3619500" y="250825"/>
                </a:cubicBezTo>
                <a:cubicBezTo>
                  <a:pt x="3640646" y="230886"/>
                  <a:pt x="3661854" y="211836"/>
                  <a:pt x="3683000" y="193993"/>
                </a:cubicBezTo>
                <a:cubicBezTo>
                  <a:pt x="3704146" y="176149"/>
                  <a:pt x="3725354" y="159385"/>
                  <a:pt x="3746500" y="143827"/>
                </a:cubicBezTo>
                <a:cubicBezTo>
                  <a:pt x="3767646" y="128206"/>
                  <a:pt x="3788854" y="113792"/>
                  <a:pt x="3810000" y="100584"/>
                </a:cubicBezTo>
                <a:cubicBezTo>
                  <a:pt x="3831146" y="87439"/>
                  <a:pt x="3852354" y="75438"/>
                  <a:pt x="3873500" y="64770"/>
                </a:cubicBezTo>
                <a:cubicBezTo>
                  <a:pt x="3894646" y="54102"/>
                  <a:pt x="3915854" y="44704"/>
                  <a:pt x="3937000" y="36639"/>
                </a:cubicBezTo>
                <a:cubicBezTo>
                  <a:pt x="3958146" y="28512"/>
                  <a:pt x="3979354" y="21781"/>
                  <a:pt x="4000500" y="16319"/>
                </a:cubicBezTo>
                <a:cubicBezTo>
                  <a:pt x="4021646" y="10922"/>
                  <a:pt x="4042854" y="6794"/>
                  <a:pt x="4064000" y="4064"/>
                </a:cubicBezTo>
                <a:cubicBezTo>
                  <a:pt x="4085146" y="1397"/>
                  <a:pt x="4106354" y="0"/>
                  <a:pt x="4127500" y="0"/>
                </a:cubicBezTo>
                <a:cubicBezTo>
                  <a:pt x="4148646" y="0"/>
                  <a:pt x="4169854" y="1397"/>
                  <a:pt x="4191000" y="4064"/>
                </a:cubicBezTo>
                <a:cubicBezTo>
                  <a:pt x="4212146" y="6794"/>
                  <a:pt x="4233354" y="10922"/>
                  <a:pt x="4254500" y="16319"/>
                </a:cubicBezTo>
                <a:cubicBezTo>
                  <a:pt x="4275646" y="21781"/>
                  <a:pt x="4296854" y="28512"/>
                  <a:pt x="4318000" y="36639"/>
                </a:cubicBezTo>
                <a:cubicBezTo>
                  <a:pt x="4339146" y="44704"/>
                  <a:pt x="4360354" y="54102"/>
                  <a:pt x="4381500" y="64770"/>
                </a:cubicBezTo>
                <a:cubicBezTo>
                  <a:pt x="4402646" y="75438"/>
                  <a:pt x="4423854" y="87439"/>
                  <a:pt x="4445000" y="100584"/>
                </a:cubicBezTo>
                <a:cubicBezTo>
                  <a:pt x="4466146" y="113792"/>
                  <a:pt x="4487354" y="128206"/>
                  <a:pt x="4508500" y="143827"/>
                </a:cubicBezTo>
                <a:cubicBezTo>
                  <a:pt x="4529646" y="159385"/>
                  <a:pt x="4550854" y="176149"/>
                  <a:pt x="4572000" y="193993"/>
                </a:cubicBezTo>
                <a:cubicBezTo>
                  <a:pt x="4593146" y="211836"/>
                  <a:pt x="4614354" y="230886"/>
                  <a:pt x="4635500" y="250825"/>
                </a:cubicBezTo>
                <a:cubicBezTo>
                  <a:pt x="4656646" y="270827"/>
                  <a:pt x="4677854" y="291910"/>
                  <a:pt x="4699000" y="313881"/>
                </a:cubicBezTo>
                <a:cubicBezTo>
                  <a:pt x="4720146" y="335788"/>
                  <a:pt x="4741354" y="358775"/>
                  <a:pt x="4762500" y="382588"/>
                </a:cubicBezTo>
                <a:cubicBezTo>
                  <a:pt x="4783646" y="406337"/>
                  <a:pt x="4804854" y="431038"/>
                  <a:pt x="4826000" y="456438"/>
                </a:cubicBezTo>
                <a:cubicBezTo>
                  <a:pt x="4847146" y="481838"/>
                  <a:pt x="4868354" y="508127"/>
                  <a:pt x="4889500" y="534988"/>
                </a:cubicBezTo>
                <a:cubicBezTo>
                  <a:pt x="4910646" y="561785"/>
                  <a:pt x="4931854" y="589407"/>
                  <a:pt x="4953000" y="617538"/>
                </a:cubicBezTo>
                <a:cubicBezTo>
                  <a:pt x="4974146" y="645668"/>
                  <a:pt x="4995354" y="674433"/>
                  <a:pt x="5016500" y="703580"/>
                </a:cubicBezTo>
                <a:cubicBezTo>
                  <a:pt x="5037646" y="732790"/>
                  <a:pt x="5058854" y="762508"/>
                  <a:pt x="5080000" y="792544"/>
                </a:cubicBezTo>
                <a:cubicBezTo>
                  <a:pt x="5101146" y="822579"/>
                  <a:pt x="5122354" y="853123"/>
                  <a:pt x="5143500" y="883793"/>
                </a:cubicBezTo>
                <a:cubicBezTo>
                  <a:pt x="5164646" y="914527"/>
                  <a:pt x="5185854" y="945579"/>
                  <a:pt x="5207000" y="976757"/>
                </a:cubicBezTo>
                <a:cubicBezTo>
                  <a:pt x="5228146" y="1007936"/>
                  <a:pt x="5249354" y="1039432"/>
                  <a:pt x="5270500" y="1070927"/>
                </a:cubicBezTo>
                <a:cubicBezTo>
                  <a:pt x="5291646" y="1102360"/>
                  <a:pt x="5312854" y="1134046"/>
                  <a:pt x="5334000" y="1165606"/>
                </a:cubicBezTo>
                <a:cubicBezTo>
                  <a:pt x="5355146" y="1197165"/>
                  <a:pt x="5376354" y="1228852"/>
                  <a:pt x="5397500" y="1260348"/>
                </a:cubicBezTo>
                <a:cubicBezTo>
                  <a:pt x="5418646" y="1291844"/>
                  <a:pt x="5439854" y="1323340"/>
                  <a:pt x="5461000" y="1354646"/>
                </a:cubicBezTo>
                <a:cubicBezTo>
                  <a:pt x="5482146" y="1385888"/>
                  <a:pt x="5503354" y="1417129"/>
                  <a:pt x="5524500" y="1447990"/>
                </a:cubicBezTo>
                <a:cubicBezTo>
                  <a:pt x="5545646" y="1478915"/>
                  <a:pt x="5566854" y="1509586"/>
                  <a:pt x="5588000" y="1540002"/>
                </a:cubicBezTo>
                <a:cubicBezTo>
                  <a:pt x="5609146" y="1570355"/>
                  <a:pt x="5630354" y="1600454"/>
                  <a:pt x="5651500" y="1630172"/>
                </a:cubicBezTo>
                <a:cubicBezTo>
                  <a:pt x="5672646" y="1659890"/>
                  <a:pt x="5693854" y="1689290"/>
                  <a:pt x="5715000" y="1718183"/>
                </a:cubicBezTo>
                <a:cubicBezTo>
                  <a:pt x="5736146" y="1747139"/>
                  <a:pt x="5757354" y="1775714"/>
                  <a:pt x="5778500" y="1803781"/>
                </a:cubicBezTo>
                <a:cubicBezTo>
                  <a:pt x="5799646" y="1831848"/>
                  <a:pt x="5820854" y="1859471"/>
                  <a:pt x="5842000" y="1886585"/>
                </a:cubicBezTo>
                <a:cubicBezTo>
                  <a:pt x="5863146" y="1913636"/>
                  <a:pt x="5884354" y="1940306"/>
                  <a:pt x="5905500" y="1966341"/>
                </a:cubicBezTo>
                <a:cubicBezTo>
                  <a:pt x="5926646" y="1992440"/>
                  <a:pt x="5947854" y="2017966"/>
                  <a:pt x="5969000" y="2042922"/>
                </a:cubicBezTo>
                <a:cubicBezTo>
                  <a:pt x="5990146" y="2067877"/>
                  <a:pt x="6011354" y="2092325"/>
                  <a:pt x="6032500" y="2116138"/>
                </a:cubicBezTo>
                <a:cubicBezTo>
                  <a:pt x="6053646" y="2139950"/>
                  <a:pt x="6074854" y="2163191"/>
                  <a:pt x="6096000" y="2185860"/>
                </a:cubicBezTo>
                <a:cubicBezTo>
                  <a:pt x="6117146" y="2208466"/>
                  <a:pt x="6138354" y="2230501"/>
                  <a:pt x="6159500" y="2251964"/>
                </a:cubicBezTo>
                <a:cubicBezTo>
                  <a:pt x="6180646" y="2273364"/>
                  <a:pt x="6201854" y="2294255"/>
                  <a:pt x="6223000" y="2314448"/>
                </a:cubicBezTo>
                <a:cubicBezTo>
                  <a:pt x="6244146" y="2334641"/>
                  <a:pt x="6265354" y="2354262"/>
                  <a:pt x="6286500" y="2373312"/>
                </a:cubicBezTo>
                <a:cubicBezTo>
                  <a:pt x="6307646" y="2392299"/>
                  <a:pt x="6328854" y="2410650"/>
                  <a:pt x="6350000" y="2428494"/>
                </a:cubicBezTo>
                <a:cubicBezTo>
                  <a:pt x="6371146" y="2446274"/>
                  <a:pt x="6392354" y="2463483"/>
                  <a:pt x="6413500" y="2480056"/>
                </a:cubicBezTo>
                <a:cubicBezTo>
                  <a:pt x="6434646" y="2496693"/>
                  <a:pt x="6455854" y="2512695"/>
                  <a:pt x="6477000" y="2528126"/>
                </a:cubicBezTo>
                <a:cubicBezTo>
                  <a:pt x="6498146" y="2543620"/>
                  <a:pt x="6519354" y="2558415"/>
                  <a:pt x="6540500" y="2572766"/>
                </a:cubicBezTo>
                <a:cubicBezTo>
                  <a:pt x="6561646" y="2587054"/>
                  <a:pt x="6582854" y="2600833"/>
                  <a:pt x="6604000" y="2614041"/>
                </a:cubicBezTo>
                <a:cubicBezTo>
                  <a:pt x="6625146" y="2627249"/>
                  <a:pt x="6646354" y="2639886"/>
                  <a:pt x="6667500" y="2652078"/>
                </a:cubicBezTo>
                <a:cubicBezTo>
                  <a:pt x="6688646" y="2664270"/>
                  <a:pt x="6709854" y="2675890"/>
                  <a:pt x="6731000" y="2687066"/>
                </a:cubicBezTo>
                <a:cubicBezTo>
                  <a:pt x="6752146" y="2698178"/>
                  <a:pt x="6773354" y="2708846"/>
                  <a:pt x="6794500" y="2719070"/>
                </a:cubicBezTo>
                <a:cubicBezTo>
                  <a:pt x="6815646" y="2729230"/>
                  <a:pt x="6836854" y="2738946"/>
                  <a:pt x="6858000" y="2748280"/>
                </a:cubicBezTo>
                <a:cubicBezTo>
                  <a:pt x="6879146" y="2757551"/>
                  <a:pt x="6900354" y="2766378"/>
                  <a:pt x="6921500" y="2774823"/>
                </a:cubicBezTo>
                <a:cubicBezTo>
                  <a:pt x="6942646" y="2783268"/>
                  <a:pt x="6974396" y="2794889"/>
                  <a:pt x="6985000" y="2798953"/>
                </a:cubicBezTo>
              </a:path>
            </a:pathLst>
          </a:custGeom>
          <a:noFill/>
          <a:ln w="254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31" name="axis"/>
          <p:cNvCxnSpPr/>
          <p:nvPr/>
        </p:nvCxnSpPr>
        <p:spPr>
          <a:xfrm>
            <a:off x="1270000" y="5080000"/>
            <a:ext cx="6985000" cy="0"/>
          </a:xfrm>
          <a:prstGeom prst="line">
            <a:avLst/>
          </a:prstGeom>
          <a:ln w="9525" cap="rnd">
            <a:solidFill>
              <a:srgbClr val="0B2545">
                <a:alpha val="3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ax-t"/>
          <p:cNvSpPr txBox="1"/>
          <p:nvPr/>
        </p:nvSpPr>
        <p:spPr>
          <a:xfrm>
            <a:off x="7908290" y="5097208"/>
            <a:ext cx="3573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时间 →</a:t>
            </a:r>
          </a:p>
        </p:txBody>
      </p:sp>
      <p:sp>
        <p:nvSpPr>
          <p:cNvPr id="33" name="ay-t"/>
          <p:cNvSpPr txBox="1"/>
          <p:nvPr/>
        </p:nvSpPr>
        <p:spPr>
          <a:xfrm>
            <a:off x="1297432" y="1985708"/>
            <a:ext cx="2578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销量</a:t>
            </a:r>
          </a:p>
        </p:txBody>
      </p:sp>
      <p:sp>
        <p:nvSpPr>
          <p:cNvPr id="34" name="pd-0"/>
          <p:cNvSpPr/>
          <p:nvPr/>
        </p:nvSpPr>
        <p:spPr>
          <a:xfrm>
            <a:off x="3473450" y="4055877"/>
            <a:ext cx="165100" cy="165100"/>
          </a:xfrm>
          <a:prstGeom prst="ellipse">
            <a:avLst/>
          </a:prstGeom>
          <a:solidFill>
            <a:srgbClr val="134C9C"/>
          </a:solidFill>
          <a:ln w="2540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pb-0"/>
          <p:cNvSpPr/>
          <p:nvPr/>
        </p:nvSpPr>
        <p:spPr>
          <a:xfrm>
            <a:off x="3298825" y="3757422"/>
            <a:ext cx="514350" cy="215900"/>
          </a:xfrm>
          <a:custGeom>
            <a:avLst/>
            <a:gdLst/>
            <a:ahLst/>
            <a:cxnLst/>
            <a:rect l="0" t="0" r="r" b="b"/>
            <a:pathLst>
              <a:path w="514350" h="215900">
                <a:moveTo>
                  <a:pt x="107950" y="0"/>
                </a:moveTo>
                <a:lnTo>
                  <a:pt x="406400" y="0"/>
                </a:lnTo>
                <a:cubicBezTo>
                  <a:pt x="466026" y="0"/>
                  <a:pt x="514350" y="48324"/>
                  <a:pt x="514350" y="107950"/>
                </a:cubicBezTo>
                <a:lnTo>
                  <a:pt x="514350" y="107950"/>
                </a:lnTo>
                <a:cubicBezTo>
                  <a:pt x="514350" y="167576"/>
                  <a:pt x="466026" y="215900"/>
                  <a:pt x="406400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pt-0"/>
          <p:cNvSpPr txBox="1"/>
          <p:nvPr/>
        </p:nvSpPr>
        <p:spPr>
          <a:xfrm>
            <a:off x="3370262" y="3792193"/>
            <a:ext cx="3714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云协同</a:t>
            </a:r>
          </a:p>
        </p:txBody>
      </p:sp>
      <p:sp>
        <p:nvSpPr>
          <p:cNvPr id="37" name="pd-1"/>
          <p:cNvSpPr/>
          <p:nvPr/>
        </p:nvSpPr>
        <p:spPr>
          <a:xfrm>
            <a:off x="5124450" y="2049569"/>
            <a:ext cx="165100" cy="165100"/>
          </a:xfrm>
          <a:prstGeom prst="ellipse">
            <a:avLst/>
          </a:prstGeom>
          <a:solidFill>
            <a:srgbClr val="2468B6"/>
          </a:solidFill>
          <a:ln w="2540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pb-1"/>
          <p:cNvSpPr/>
          <p:nvPr/>
        </p:nvSpPr>
        <p:spPr>
          <a:xfrm>
            <a:off x="4895850" y="2297240"/>
            <a:ext cx="622300" cy="215900"/>
          </a:xfrm>
          <a:custGeom>
            <a:avLst/>
            <a:gdLst/>
            <a:ahLst/>
            <a:cxnLst/>
            <a:rect l="0" t="0" r="r" b="b"/>
            <a:pathLst>
              <a:path w="622300" h="215900">
                <a:moveTo>
                  <a:pt x="107950" y="0"/>
                </a:moveTo>
                <a:lnTo>
                  <a:pt x="514350" y="0"/>
                </a:lnTo>
                <a:cubicBezTo>
                  <a:pt x="573976" y="0"/>
                  <a:pt x="622300" y="48324"/>
                  <a:pt x="622300" y="107950"/>
                </a:cubicBezTo>
                <a:lnTo>
                  <a:pt x="622300" y="107950"/>
                </a:lnTo>
                <a:cubicBezTo>
                  <a:pt x="622300" y="167577"/>
                  <a:pt x="573976" y="215900"/>
                  <a:pt x="514350" y="215900"/>
                </a:cubicBezTo>
                <a:lnTo>
                  <a:pt x="107950" y="215900"/>
                </a:lnTo>
                <a:cubicBezTo>
                  <a:pt x="48324" y="215900"/>
                  <a:pt x="0" y="167577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pt-1"/>
          <p:cNvSpPr txBox="1"/>
          <p:nvPr/>
        </p:nvSpPr>
        <p:spPr>
          <a:xfrm>
            <a:off x="4973638" y="2331985"/>
            <a:ext cx="4667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数据平台</a:t>
            </a:r>
          </a:p>
        </p:txBody>
      </p:sp>
      <p:sp>
        <p:nvSpPr>
          <p:cNvPr id="40" name="pd-2"/>
          <p:cNvSpPr/>
          <p:nvPr/>
        </p:nvSpPr>
        <p:spPr>
          <a:xfrm>
            <a:off x="6330950" y="2896759"/>
            <a:ext cx="165100" cy="165100"/>
          </a:xfrm>
          <a:prstGeom prst="ellipse">
            <a:avLst/>
          </a:prstGeom>
          <a:solidFill>
            <a:srgbClr val="3985CD"/>
          </a:solidFill>
          <a:ln w="2540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pb-2"/>
          <p:cNvSpPr/>
          <p:nvPr/>
        </p:nvSpPr>
        <p:spPr>
          <a:xfrm>
            <a:off x="5994400" y="2598293"/>
            <a:ext cx="838200" cy="215900"/>
          </a:xfrm>
          <a:custGeom>
            <a:avLst/>
            <a:gdLst/>
            <a:ahLst/>
            <a:cxnLst/>
            <a:rect l="0" t="0" r="r" b="b"/>
            <a:pathLst>
              <a:path w="838200" h="215900">
                <a:moveTo>
                  <a:pt x="107950" y="0"/>
                </a:moveTo>
                <a:lnTo>
                  <a:pt x="730250" y="0"/>
                </a:lnTo>
                <a:cubicBezTo>
                  <a:pt x="789877" y="0"/>
                  <a:pt x="838200" y="48324"/>
                  <a:pt x="838200" y="107950"/>
                </a:cubicBezTo>
                <a:lnTo>
                  <a:pt x="838200" y="107950"/>
                </a:lnTo>
                <a:cubicBezTo>
                  <a:pt x="838200" y="167576"/>
                  <a:pt x="789877" y="215900"/>
                  <a:pt x="730250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pt-2"/>
          <p:cNvSpPr txBox="1"/>
          <p:nvPr/>
        </p:nvSpPr>
        <p:spPr>
          <a:xfrm>
            <a:off x="6168708" y="2633075"/>
            <a:ext cx="4895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标准 ERP</a:t>
            </a:r>
          </a:p>
        </p:txBody>
      </p:sp>
      <p:sp>
        <p:nvSpPr>
          <p:cNvPr id="43" name="pd-3"/>
          <p:cNvSpPr/>
          <p:nvPr/>
        </p:nvSpPr>
        <p:spPr>
          <a:xfrm>
            <a:off x="7473950" y="4386232"/>
            <a:ext cx="165100" cy="165100"/>
          </a:xfrm>
          <a:prstGeom prst="ellipse">
            <a:avLst/>
          </a:prstGeom>
          <a:solidFill>
            <a:srgbClr val="8FA6C2"/>
          </a:solidFill>
          <a:ln w="2540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pb-3"/>
          <p:cNvSpPr/>
          <p:nvPr/>
        </p:nvSpPr>
        <p:spPr>
          <a:xfrm>
            <a:off x="7191375" y="4633912"/>
            <a:ext cx="730250" cy="215900"/>
          </a:xfrm>
          <a:custGeom>
            <a:avLst/>
            <a:gdLst/>
            <a:ahLst/>
            <a:cxnLst/>
            <a:rect l="0" t="0" r="r" b="b"/>
            <a:pathLst>
              <a:path w="730250" h="215900">
                <a:moveTo>
                  <a:pt x="107950" y="0"/>
                </a:moveTo>
                <a:lnTo>
                  <a:pt x="622300" y="0"/>
                </a:lnTo>
                <a:cubicBezTo>
                  <a:pt x="681927" y="0"/>
                  <a:pt x="730250" y="48324"/>
                  <a:pt x="730250" y="107950"/>
                </a:cubicBezTo>
                <a:lnTo>
                  <a:pt x="730250" y="107950"/>
                </a:lnTo>
                <a:cubicBezTo>
                  <a:pt x="730250" y="167513"/>
                  <a:pt x="681927" y="215900"/>
                  <a:pt x="622300" y="215900"/>
                </a:cubicBezTo>
                <a:lnTo>
                  <a:pt x="107950" y="215900"/>
                </a:lnTo>
                <a:cubicBezTo>
                  <a:pt x="48323" y="215900"/>
                  <a:pt x="0" y="167513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8FA6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pt-3"/>
          <p:cNvSpPr txBox="1"/>
          <p:nvPr/>
        </p:nvSpPr>
        <p:spPr>
          <a:xfrm>
            <a:off x="7275512" y="4668648"/>
            <a:ext cx="5619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本地部署版</a:t>
            </a:r>
          </a:p>
        </p:txBody>
      </p:sp>
      <p:sp>
        <p:nvSpPr>
          <p:cNvPr id="46" name="side-bar"/>
          <p:cNvSpPr/>
          <p:nvPr/>
        </p:nvSpPr>
        <p:spPr>
          <a:xfrm>
            <a:off x="8763000" y="15875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side-h"/>
          <p:cNvSpPr txBox="1"/>
          <p:nvPr/>
        </p:nvSpPr>
        <p:spPr>
          <a:xfrm>
            <a:off x="8921750" y="1594644"/>
            <a:ext cx="10001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四条产品线</a:t>
            </a:r>
          </a:p>
        </p:txBody>
      </p:sp>
      <p:sp>
        <p:nvSpPr>
          <p:cNvPr id="48" name="side-p"/>
          <p:cNvSpPr txBox="1"/>
          <p:nvPr/>
        </p:nvSpPr>
        <p:spPr>
          <a:xfrm>
            <a:off x="8928989" y="1885045"/>
            <a:ext cx="1041336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所处阶段 · 营收占比</a:t>
            </a:r>
          </a:p>
        </p:txBody>
      </p:sp>
      <p:sp>
        <p:nvSpPr>
          <p:cNvPr id="49" name="c-0"/>
          <p:cNvSpPr/>
          <p:nvPr/>
        </p:nvSpPr>
        <p:spPr>
          <a:xfrm>
            <a:off x="8763000" y="2222500"/>
            <a:ext cx="2476500" cy="736600"/>
          </a:xfrm>
          <a:custGeom>
            <a:avLst/>
            <a:gdLst/>
            <a:ahLst/>
            <a:cxnLst/>
            <a:rect l="0" t="0" r="r" b="b"/>
            <a:pathLst>
              <a:path w="2476500" h="736600">
                <a:moveTo>
                  <a:pt x="127000" y="0"/>
                </a:moveTo>
                <a:lnTo>
                  <a:pt x="2349500" y="0"/>
                </a:lnTo>
                <a:cubicBezTo>
                  <a:pt x="2419667" y="0"/>
                  <a:pt x="2476500" y="56832"/>
                  <a:pt x="2476500" y="127000"/>
                </a:cubicBezTo>
                <a:lnTo>
                  <a:pt x="2476500" y="609600"/>
                </a:lnTo>
                <a:cubicBezTo>
                  <a:pt x="2476500" y="679768"/>
                  <a:pt x="2419667" y="736600"/>
                  <a:pt x="2349500" y="736600"/>
                </a:cubicBezTo>
                <a:lnTo>
                  <a:pt x="127000" y="736600"/>
                </a:lnTo>
                <a:cubicBezTo>
                  <a:pt x="56833" y="736600"/>
                  <a:pt x="0" y="679768"/>
                  <a:pt x="0" y="6096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cd-0"/>
          <p:cNvSpPr/>
          <p:nvPr/>
        </p:nvSpPr>
        <p:spPr>
          <a:xfrm>
            <a:off x="8928100" y="2413000"/>
            <a:ext cx="127000" cy="1270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cn-0"/>
          <p:cNvSpPr txBox="1"/>
          <p:nvPr/>
        </p:nvSpPr>
        <p:spPr>
          <a:xfrm>
            <a:off x="9116822" y="2371947"/>
            <a:ext cx="489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云协同</a:t>
            </a:r>
          </a:p>
        </p:txBody>
      </p:sp>
      <p:sp>
        <p:nvSpPr>
          <p:cNvPr id="52" name="cs-0"/>
          <p:cNvSpPr txBox="1"/>
          <p:nvPr/>
        </p:nvSpPr>
        <p:spPr>
          <a:xfrm>
            <a:off x="8941689" y="2659745"/>
            <a:ext cx="94291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成长期 · 加大投放</a:t>
            </a:r>
          </a:p>
        </p:txBody>
      </p:sp>
      <p:sp>
        <p:nvSpPr>
          <p:cNvPr id="53" name="cv-0"/>
          <p:cNvSpPr txBox="1"/>
          <p:nvPr/>
        </p:nvSpPr>
        <p:spPr>
          <a:xfrm>
            <a:off x="10605770" y="2368232"/>
            <a:ext cx="49149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5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22%</a:t>
            </a:r>
          </a:p>
        </p:txBody>
      </p:sp>
      <p:sp>
        <p:nvSpPr>
          <p:cNvPr id="54" name="c-1"/>
          <p:cNvSpPr/>
          <p:nvPr/>
        </p:nvSpPr>
        <p:spPr>
          <a:xfrm>
            <a:off x="8763000" y="3060700"/>
            <a:ext cx="2476500" cy="736600"/>
          </a:xfrm>
          <a:custGeom>
            <a:avLst/>
            <a:gdLst/>
            <a:ahLst/>
            <a:cxnLst/>
            <a:rect l="0" t="0" r="r" b="b"/>
            <a:pathLst>
              <a:path w="2476500" h="736600">
                <a:moveTo>
                  <a:pt x="127000" y="0"/>
                </a:moveTo>
                <a:lnTo>
                  <a:pt x="2349500" y="0"/>
                </a:lnTo>
                <a:cubicBezTo>
                  <a:pt x="2419667" y="0"/>
                  <a:pt x="2476500" y="56832"/>
                  <a:pt x="2476500" y="127000"/>
                </a:cubicBezTo>
                <a:lnTo>
                  <a:pt x="2476500" y="609600"/>
                </a:lnTo>
                <a:cubicBezTo>
                  <a:pt x="2476500" y="679767"/>
                  <a:pt x="2419667" y="736600"/>
                  <a:pt x="2349500" y="736600"/>
                </a:cubicBezTo>
                <a:lnTo>
                  <a:pt x="127000" y="736600"/>
                </a:lnTo>
                <a:cubicBezTo>
                  <a:pt x="56833" y="736600"/>
                  <a:pt x="0" y="679767"/>
                  <a:pt x="0" y="6096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cd-1"/>
          <p:cNvSpPr/>
          <p:nvPr/>
        </p:nvSpPr>
        <p:spPr>
          <a:xfrm>
            <a:off x="8928100" y="3251200"/>
            <a:ext cx="127000" cy="127000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cn-1"/>
          <p:cNvSpPr txBox="1"/>
          <p:nvPr/>
        </p:nvSpPr>
        <p:spPr>
          <a:xfrm>
            <a:off x="9116822" y="3210147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数据平台</a:t>
            </a:r>
          </a:p>
        </p:txBody>
      </p:sp>
      <p:sp>
        <p:nvSpPr>
          <p:cNvPr id="57" name="cs-1"/>
          <p:cNvSpPr txBox="1"/>
          <p:nvPr/>
        </p:nvSpPr>
        <p:spPr>
          <a:xfrm>
            <a:off x="8941689" y="3497945"/>
            <a:ext cx="1041336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成熟期 · 提价做增值</a:t>
            </a:r>
          </a:p>
        </p:txBody>
      </p:sp>
      <p:sp>
        <p:nvSpPr>
          <p:cNvPr id="58" name="cv-1"/>
          <p:cNvSpPr txBox="1"/>
          <p:nvPr/>
        </p:nvSpPr>
        <p:spPr>
          <a:xfrm>
            <a:off x="10605770" y="3206433"/>
            <a:ext cx="49149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5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35%</a:t>
            </a:r>
          </a:p>
        </p:txBody>
      </p:sp>
      <p:sp>
        <p:nvSpPr>
          <p:cNvPr id="59" name="c-2"/>
          <p:cNvSpPr/>
          <p:nvPr/>
        </p:nvSpPr>
        <p:spPr>
          <a:xfrm>
            <a:off x="8763000" y="3898900"/>
            <a:ext cx="2476500" cy="736600"/>
          </a:xfrm>
          <a:custGeom>
            <a:avLst/>
            <a:gdLst/>
            <a:ahLst/>
            <a:cxnLst/>
            <a:rect l="0" t="0" r="r" b="b"/>
            <a:pathLst>
              <a:path w="2476500" h="736600">
                <a:moveTo>
                  <a:pt x="127000" y="0"/>
                </a:moveTo>
                <a:lnTo>
                  <a:pt x="2349500" y="0"/>
                </a:lnTo>
                <a:cubicBezTo>
                  <a:pt x="2419667" y="0"/>
                  <a:pt x="2476500" y="56833"/>
                  <a:pt x="2476500" y="127000"/>
                </a:cubicBezTo>
                <a:lnTo>
                  <a:pt x="2476500" y="609600"/>
                </a:lnTo>
                <a:cubicBezTo>
                  <a:pt x="2476500" y="679767"/>
                  <a:pt x="2419667" y="736600"/>
                  <a:pt x="2349500" y="736600"/>
                </a:cubicBezTo>
                <a:lnTo>
                  <a:pt x="127000" y="736600"/>
                </a:lnTo>
                <a:cubicBezTo>
                  <a:pt x="56833" y="736600"/>
                  <a:pt x="0" y="679767"/>
                  <a:pt x="0" y="6096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cd-2"/>
          <p:cNvSpPr/>
          <p:nvPr/>
        </p:nvSpPr>
        <p:spPr>
          <a:xfrm>
            <a:off x="8928100" y="4089400"/>
            <a:ext cx="127000" cy="127000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cn-2"/>
          <p:cNvSpPr txBox="1"/>
          <p:nvPr/>
        </p:nvSpPr>
        <p:spPr>
          <a:xfrm>
            <a:off x="9116822" y="4048347"/>
            <a:ext cx="658241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标准 ERP</a:t>
            </a:r>
          </a:p>
        </p:txBody>
      </p:sp>
      <p:sp>
        <p:nvSpPr>
          <p:cNvPr id="62" name="cs-2"/>
          <p:cNvSpPr txBox="1"/>
          <p:nvPr/>
        </p:nvSpPr>
        <p:spPr>
          <a:xfrm>
            <a:off x="8941689" y="4336145"/>
            <a:ext cx="1041336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成熟后段 · 控制成本</a:t>
            </a:r>
          </a:p>
        </p:txBody>
      </p:sp>
      <p:sp>
        <p:nvSpPr>
          <p:cNvPr id="63" name="cv-2"/>
          <p:cNvSpPr txBox="1"/>
          <p:nvPr/>
        </p:nvSpPr>
        <p:spPr>
          <a:xfrm>
            <a:off x="10605770" y="4044633"/>
            <a:ext cx="49149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5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31%</a:t>
            </a:r>
          </a:p>
        </p:txBody>
      </p:sp>
      <p:sp>
        <p:nvSpPr>
          <p:cNvPr id="64" name="c-3"/>
          <p:cNvSpPr/>
          <p:nvPr/>
        </p:nvSpPr>
        <p:spPr>
          <a:xfrm>
            <a:off x="8763000" y="4737100"/>
            <a:ext cx="2476500" cy="736600"/>
          </a:xfrm>
          <a:custGeom>
            <a:avLst/>
            <a:gdLst/>
            <a:ahLst/>
            <a:cxnLst/>
            <a:rect l="0" t="0" r="r" b="b"/>
            <a:pathLst>
              <a:path w="2476500" h="736600">
                <a:moveTo>
                  <a:pt x="127000" y="0"/>
                </a:moveTo>
                <a:lnTo>
                  <a:pt x="2349500" y="0"/>
                </a:lnTo>
                <a:cubicBezTo>
                  <a:pt x="2419667" y="0"/>
                  <a:pt x="2476500" y="56833"/>
                  <a:pt x="2476500" y="127000"/>
                </a:cubicBezTo>
                <a:lnTo>
                  <a:pt x="2476500" y="609600"/>
                </a:lnTo>
                <a:cubicBezTo>
                  <a:pt x="2476500" y="679767"/>
                  <a:pt x="2419667" y="736600"/>
                  <a:pt x="2349500" y="736600"/>
                </a:cubicBezTo>
                <a:lnTo>
                  <a:pt x="127000" y="736600"/>
                </a:lnTo>
                <a:cubicBezTo>
                  <a:pt x="56833" y="736600"/>
                  <a:pt x="0" y="679767"/>
                  <a:pt x="0" y="6096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cd-3"/>
          <p:cNvSpPr/>
          <p:nvPr/>
        </p:nvSpPr>
        <p:spPr>
          <a:xfrm>
            <a:off x="8928100" y="4927600"/>
            <a:ext cx="127000" cy="127000"/>
          </a:xfrm>
          <a:prstGeom prst="ellipse">
            <a:avLst/>
          </a:prstGeom>
          <a:solidFill>
            <a:srgbClr val="8FA6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cn-3"/>
          <p:cNvSpPr txBox="1"/>
          <p:nvPr/>
        </p:nvSpPr>
        <p:spPr>
          <a:xfrm>
            <a:off x="9116822" y="4886547"/>
            <a:ext cx="743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本地部署版</a:t>
            </a:r>
          </a:p>
        </p:txBody>
      </p:sp>
      <p:sp>
        <p:nvSpPr>
          <p:cNvPr id="67" name="cs-3"/>
          <p:cNvSpPr txBox="1"/>
          <p:nvPr/>
        </p:nvSpPr>
        <p:spPr>
          <a:xfrm>
            <a:off x="8941689" y="5174345"/>
            <a:ext cx="1120077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衰退期 · 2027 年停售</a:t>
            </a:r>
          </a:p>
        </p:txBody>
      </p:sp>
      <p:sp>
        <p:nvSpPr>
          <p:cNvPr id="68" name="cv-3"/>
          <p:cNvSpPr txBox="1"/>
          <p:nvPr/>
        </p:nvSpPr>
        <p:spPr>
          <a:xfrm>
            <a:off x="10605770" y="4882832"/>
            <a:ext cx="49149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5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12%</a:t>
            </a:r>
          </a:p>
        </p:txBody>
      </p:sp>
      <p:sp>
        <p:nvSpPr>
          <p:cNvPr id="69" name="sum"/>
          <p:cNvSpPr/>
          <p:nvPr/>
        </p:nvSpPr>
        <p:spPr>
          <a:xfrm>
            <a:off x="952500" y="5791200"/>
            <a:ext cx="10287000" cy="393700"/>
          </a:xfrm>
          <a:custGeom>
            <a:avLst/>
            <a:gdLst/>
            <a:ahLst/>
            <a:cxnLst/>
            <a:rect l="0" t="0" r="r" b="b"/>
            <a:pathLst>
              <a:path w="10287000" h="3937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04800"/>
                </a:lnTo>
                <a:cubicBezTo>
                  <a:pt x="10287000" y="353886"/>
                  <a:pt x="10247186" y="393700"/>
                  <a:pt x="10198100" y="393700"/>
                </a:cubicBezTo>
                <a:lnTo>
                  <a:pt x="88900" y="393700"/>
                </a:lnTo>
                <a:cubicBezTo>
                  <a:pt x="39815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sum-bar"/>
          <p:cNvSpPr/>
          <p:nvPr/>
        </p:nvSpPr>
        <p:spPr>
          <a:xfrm>
            <a:off x="952500" y="5791200"/>
            <a:ext cx="31750" cy="3937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sum-h"/>
          <p:cNvSpPr txBox="1"/>
          <p:nvPr/>
        </p:nvSpPr>
        <p:spPr>
          <a:xfrm>
            <a:off x="1142746" y="59118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组合风险</a:t>
            </a:r>
          </a:p>
        </p:txBody>
      </p:sp>
      <p:sp>
        <p:nvSpPr>
          <p:cNvPr id="72" name="sum-p"/>
          <p:cNvSpPr txBox="1"/>
          <p:nvPr/>
        </p:nvSpPr>
        <p:spPr>
          <a:xfrm>
            <a:off x="1891665" y="5907961"/>
            <a:ext cx="39633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营收的 66% 来自成熟期产品——云协同要在两年内接棒，成为第一增长引擎。</a:t>
            </a:r>
          </a:p>
        </p:txBody>
      </p:sp>
      <p:cxnSp>
        <p:nvCxnSpPr>
          <p:cNvPr id="73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生命周期 · 产品组合</a:t>
            </a:r>
          </a:p>
        </p:txBody>
      </p:sp>
      <p:sp>
        <p:nvSpPr>
          <p:cNvPr id="75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新版本上线倒计时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53695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LAUNCH COUNTDOWN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330565" y="673132"/>
            <a:ext cx="329018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从 T-14 到 T+7 的八个检查点——今天是 T-3，前四项已完成</a:t>
            </a:r>
          </a:p>
        </p:txBody>
      </p:sp>
      <p:sp>
        <p:nvSpPr>
          <p:cNvPr id="10" name="track"/>
          <p:cNvSpPr/>
          <p:nvPr/>
        </p:nvSpPr>
        <p:spPr>
          <a:xfrm>
            <a:off x="1549400" y="3479800"/>
            <a:ext cx="9093200" cy="101600"/>
          </a:xfrm>
          <a:custGeom>
            <a:avLst/>
            <a:gdLst/>
            <a:ahLst/>
            <a:cxnLst/>
            <a:rect l="0" t="0" r="r" b="b"/>
            <a:pathLst>
              <a:path w="9093200" h="101600">
                <a:moveTo>
                  <a:pt x="50800" y="0"/>
                </a:moveTo>
                <a:lnTo>
                  <a:pt x="9042400" y="0"/>
                </a:lnTo>
                <a:cubicBezTo>
                  <a:pt x="9070467" y="0"/>
                  <a:pt x="9093200" y="22733"/>
                  <a:pt x="9093200" y="50800"/>
                </a:cubicBezTo>
                <a:lnTo>
                  <a:pt x="9093200" y="50800"/>
                </a:lnTo>
                <a:cubicBezTo>
                  <a:pt x="9093200" y="78867"/>
                  <a:pt x="9070467" y="101600"/>
                  <a:pt x="90424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DCE7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done"/>
          <p:cNvSpPr/>
          <p:nvPr/>
        </p:nvSpPr>
        <p:spPr>
          <a:xfrm>
            <a:off x="1549400" y="3479800"/>
            <a:ext cx="5196142" cy="101600"/>
          </a:xfrm>
          <a:custGeom>
            <a:avLst/>
            <a:gdLst/>
            <a:ahLst/>
            <a:cxnLst/>
            <a:rect l="0" t="0" r="r" b="b"/>
            <a:pathLst>
              <a:path w="5196142" h="101600">
                <a:moveTo>
                  <a:pt x="50800" y="0"/>
                </a:moveTo>
                <a:lnTo>
                  <a:pt x="5145342" y="0"/>
                </a:lnTo>
                <a:cubicBezTo>
                  <a:pt x="5173345" y="0"/>
                  <a:pt x="5196142" y="22733"/>
                  <a:pt x="5196142" y="50800"/>
                </a:cubicBezTo>
                <a:lnTo>
                  <a:pt x="5196142" y="50800"/>
                </a:lnTo>
                <a:cubicBezTo>
                  <a:pt x="5196142" y="78867"/>
                  <a:pt x="5173345" y="101600"/>
                  <a:pt x="5145342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2E77C2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n-0"/>
          <p:cNvSpPr/>
          <p:nvPr/>
        </p:nvSpPr>
        <p:spPr>
          <a:xfrm>
            <a:off x="1320800" y="3302000"/>
            <a:ext cx="457200" cy="457200"/>
          </a:xfrm>
          <a:prstGeom prst="ellipse">
            <a:avLst/>
          </a:prstGeom>
          <a:solidFill>
            <a:srgbClr val="0B3E8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icon-check"/>
          <p:cNvSpPr/>
          <p:nvPr/>
        </p:nvSpPr>
        <p:spPr>
          <a:xfrm>
            <a:off x="1501966" y="3498024"/>
            <a:ext cx="94869" cy="66675"/>
          </a:xfrm>
          <a:custGeom>
            <a:avLst/>
            <a:gdLst/>
            <a:ahLst/>
            <a:cxnLst/>
            <a:rect l="0" t="0" r="r" b="b"/>
            <a:pathLst>
              <a:path w="94869" h="66675">
                <a:moveTo>
                  <a:pt x="0" y="35560"/>
                </a:moveTo>
                <a:lnTo>
                  <a:pt x="31115" y="66675"/>
                </a:lnTo>
                <a:lnTo>
                  <a:pt x="94869" y="0"/>
                </a:lnTo>
              </a:path>
            </a:pathLst>
          </a:custGeom>
          <a:noFill/>
          <a:ln w="1651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4" name="cl-0"/>
          <p:cNvCxnSpPr/>
          <p:nvPr/>
        </p:nvCxnSpPr>
        <p:spPr>
          <a:xfrm flipV="1">
            <a:off x="1549400" y="2997200"/>
            <a:ext cx="0" cy="279400"/>
          </a:xfrm>
          <a:prstGeom prst="line">
            <a:avLst/>
          </a:prstGeom>
          <a:ln w="9525" cap="rnd">
            <a:solidFill>
              <a:srgbClr val="0B3E8F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c-0"/>
          <p:cNvSpPr/>
          <p:nvPr/>
        </p:nvSpPr>
        <p:spPr>
          <a:xfrm>
            <a:off x="952500" y="1943100"/>
            <a:ext cx="1193800" cy="1054100"/>
          </a:xfrm>
          <a:custGeom>
            <a:avLst/>
            <a:gdLst/>
            <a:ahLst/>
            <a:cxnLst/>
            <a:rect l="0" t="0" r="r" b="b"/>
            <a:pathLst>
              <a:path w="1193800" h="1054100">
                <a:moveTo>
                  <a:pt x="127000" y="0"/>
                </a:moveTo>
                <a:lnTo>
                  <a:pt x="1066800" y="0"/>
                </a:lnTo>
                <a:cubicBezTo>
                  <a:pt x="1136968" y="0"/>
                  <a:pt x="1193800" y="56832"/>
                  <a:pt x="1193800" y="127000"/>
                </a:cubicBezTo>
                <a:lnTo>
                  <a:pt x="1193800" y="927100"/>
                </a:lnTo>
                <a:cubicBezTo>
                  <a:pt x="1193800" y="997268"/>
                  <a:pt x="1136968" y="1054100"/>
                  <a:pt x="1066800" y="1054100"/>
                </a:cubicBezTo>
                <a:lnTo>
                  <a:pt x="127000" y="1054100"/>
                </a:lnTo>
                <a:cubicBezTo>
                  <a:pt x="56832" y="1054100"/>
                  <a:pt x="0" y="997268"/>
                  <a:pt x="0" y="927100"/>
                </a:cubicBezTo>
                <a:lnTo>
                  <a:pt x="0" y="127000"/>
                </a:lnTo>
                <a:cubicBezTo>
                  <a:pt x="0" y="56832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ct-0"/>
          <p:cNvSpPr txBox="1"/>
          <p:nvPr/>
        </p:nvSpPr>
        <p:spPr>
          <a:xfrm>
            <a:off x="1072388" y="2018602"/>
            <a:ext cx="518414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T-14</a:t>
            </a:r>
          </a:p>
        </p:txBody>
      </p:sp>
      <p:sp>
        <p:nvSpPr>
          <p:cNvPr id="17" name="cs-0"/>
          <p:cNvSpPr/>
          <p:nvPr/>
        </p:nvSpPr>
        <p:spPr>
          <a:xfrm>
            <a:off x="1625600" y="2070100"/>
            <a:ext cx="393700" cy="165100"/>
          </a:xfrm>
          <a:custGeom>
            <a:avLst/>
            <a:gdLst/>
            <a:ahLst/>
            <a:cxnLst/>
            <a:rect l="0" t="0" r="r" b="b"/>
            <a:pathLst>
              <a:path w="393700" h="165100">
                <a:moveTo>
                  <a:pt x="82550" y="0"/>
                </a:moveTo>
                <a:lnTo>
                  <a:pt x="311150" y="0"/>
                </a:lnTo>
                <a:cubicBezTo>
                  <a:pt x="356743" y="0"/>
                  <a:pt x="393700" y="36957"/>
                  <a:pt x="393700" y="82550"/>
                </a:cubicBezTo>
                <a:lnTo>
                  <a:pt x="393700" y="82550"/>
                </a:lnTo>
                <a:cubicBezTo>
                  <a:pt x="393700" y="128143"/>
                  <a:pt x="356743" y="165100"/>
                  <a:pt x="311150" y="165100"/>
                </a:cubicBezTo>
                <a:lnTo>
                  <a:pt x="82550" y="165100"/>
                </a:lnTo>
                <a:cubicBezTo>
                  <a:pt x="36957" y="165100"/>
                  <a:pt x="0" y="128143"/>
                  <a:pt x="0" y="825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cst-0"/>
          <p:cNvSpPr txBox="1"/>
          <p:nvPr/>
        </p:nvSpPr>
        <p:spPr>
          <a:xfrm>
            <a:off x="1649095" y="2074608"/>
            <a:ext cx="3467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已完成</a:t>
            </a:r>
          </a:p>
        </p:txBody>
      </p:sp>
      <p:sp>
        <p:nvSpPr>
          <p:cNvPr id="19" name="ca-0"/>
          <p:cNvSpPr txBox="1"/>
          <p:nvPr/>
        </p:nvSpPr>
        <p:spPr>
          <a:xfrm>
            <a:off x="1077722" y="2403697"/>
            <a:ext cx="6038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功能冻结</a:t>
            </a:r>
          </a:p>
        </p:txBody>
      </p:sp>
      <p:sp>
        <p:nvSpPr>
          <p:cNvPr id="20" name="co-0"/>
          <p:cNvSpPr txBox="1"/>
          <p:nvPr/>
        </p:nvSpPr>
        <p:spPr>
          <a:xfrm>
            <a:off x="1080770" y="2663666"/>
            <a:ext cx="5619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负责：产品</a:t>
            </a:r>
          </a:p>
        </p:txBody>
      </p:sp>
      <p:sp>
        <p:nvSpPr>
          <p:cNvPr id="21" name="n-1"/>
          <p:cNvSpPr/>
          <p:nvPr/>
        </p:nvSpPr>
        <p:spPr>
          <a:xfrm>
            <a:off x="2619829" y="3302000"/>
            <a:ext cx="457200" cy="457200"/>
          </a:xfrm>
          <a:prstGeom prst="ellipse">
            <a:avLst/>
          </a:prstGeom>
          <a:solidFill>
            <a:srgbClr val="0B3E8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icon-check"/>
          <p:cNvSpPr/>
          <p:nvPr/>
        </p:nvSpPr>
        <p:spPr>
          <a:xfrm>
            <a:off x="2800985" y="3498024"/>
            <a:ext cx="94869" cy="66675"/>
          </a:xfrm>
          <a:custGeom>
            <a:avLst/>
            <a:gdLst/>
            <a:ahLst/>
            <a:cxnLst/>
            <a:rect l="0" t="0" r="r" b="b"/>
            <a:pathLst>
              <a:path w="94869" h="66675">
                <a:moveTo>
                  <a:pt x="0" y="35560"/>
                </a:moveTo>
                <a:lnTo>
                  <a:pt x="31115" y="66675"/>
                </a:lnTo>
                <a:lnTo>
                  <a:pt x="94869" y="0"/>
                </a:lnTo>
              </a:path>
            </a:pathLst>
          </a:custGeom>
          <a:noFill/>
          <a:ln w="1651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23" name="cl-1"/>
          <p:cNvCxnSpPr/>
          <p:nvPr/>
        </p:nvCxnSpPr>
        <p:spPr>
          <a:xfrm>
            <a:off x="2848429" y="3784600"/>
            <a:ext cx="0" cy="279400"/>
          </a:xfrm>
          <a:prstGeom prst="line">
            <a:avLst/>
          </a:prstGeom>
          <a:ln w="9525" cap="rnd">
            <a:solidFill>
              <a:srgbClr val="0B3E8F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c-1"/>
          <p:cNvSpPr/>
          <p:nvPr/>
        </p:nvSpPr>
        <p:spPr>
          <a:xfrm>
            <a:off x="2251520" y="4064000"/>
            <a:ext cx="1193800" cy="1054100"/>
          </a:xfrm>
          <a:custGeom>
            <a:avLst/>
            <a:gdLst/>
            <a:ahLst/>
            <a:cxnLst/>
            <a:rect l="0" t="0" r="r" b="b"/>
            <a:pathLst>
              <a:path w="1193800" h="1054100">
                <a:moveTo>
                  <a:pt x="127000" y="0"/>
                </a:moveTo>
                <a:lnTo>
                  <a:pt x="1066800" y="0"/>
                </a:lnTo>
                <a:cubicBezTo>
                  <a:pt x="1136968" y="0"/>
                  <a:pt x="1193800" y="56833"/>
                  <a:pt x="1193800" y="127000"/>
                </a:cubicBezTo>
                <a:lnTo>
                  <a:pt x="1193800" y="927100"/>
                </a:lnTo>
                <a:cubicBezTo>
                  <a:pt x="1193800" y="997267"/>
                  <a:pt x="1136968" y="1054100"/>
                  <a:pt x="1066800" y="1054100"/>
                </a:cubicBezTo>
                <a:lnTo>
                  <a:pt x="127000" y="1054100"/>
                </a:lnTo>
                <a:cubicBezTo>
                  <a:pt x="56896" y="1054100"/>
                  <a:pt x="0" y="997267"/>
                  <a:pt x="0" y="927100"/>
                </a:cubicBezTo>
                <a:lnTo>
                  <a:pt x="0" y="127000"/>
                </a:lnTo>
                <a:cubicBezTo>
                  <a:pt x="0" y="56833"/>
                  <a:pt x="56896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ct-1"/>
          <p:cNvSpPr txBox="1"/>
          <p:nvPr/>
        </p:nvSpPr>
        <p:spPr>
          <a:xfrm>
            <a:off x="2371417" y="4139502"/>
            <a:ext cx="518414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T-10</a:t>
            </a:r>
          </a:p>
        </p:txBody>
      </p:sp>
      <p:sp>
        <p:nvSpPr>
          <p:cNvPr id="26" name="cs-1"/>
          <p:cNvSpPr/>
          <p:nvPr/>
        </p:nvSpPr>
        <p:spPr>
          <a:xfrm>
            <a:off x="2924620" y="4191000"/>
            <a:ext cx="393700" cy="165100"/>
          </a:xfrm>
          <a:custGeom>
            <a:avLst/>
            <a:gdLst/>
            <a:ahLst/>
            <a:cxnLst/>
            <a:rect l="0" t="0" r="r" b="b"/>
            <a:pathLst>
              <a:path w="393700" h="165100">
                <a:moveTo>
                  <a:pt x="82550" y="0"/>
                </a:moveTo>
                <a:lnTo>
                  <a:pt x="311150" y="0"/>
                </a:lnTo>
                <a:cubicBezTo>
                  <a:pt x="356743" y="0"/>
                  <a:pt x="393700" y="36957"/>
                  <a:pt x="393700" y="82550"/>
                </a:cubicBezTo>
                <a:lnTo>
                  <a:pt x="393700" y="82550"/>
                </a:lnTo>
                <a:cubicBezTo>
                  <a:pt x="393700" y="128143"/>
                  <a:pt x="356743" y="165100"/>
                  <a:pt x="311150" y="165100"/>
                </a:cubicBezTo>
                <a:lnTo>
                  <a:pt x="82550" y="165100"/>
                </a:lnTo>
                <a:cubicBezTo>
                  <a:pt x="36957" y="165100"/>
                  <a:pt x="0" y="128143"/>
                  <a:pt x="0" y="825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cst-1"/>
          <p:cNvSpPr txBox="1"/>
          <p:nvPr/>
        </p:nvSpPr>
        <p:spPr>
          <a:xfrm>
            <a:off x="2948124" y="4195508"/>
            <a:ext cx="3467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已完成</a:t>
            </a:r>
          </a:p>
        </p:txBody>
      </p:sp>
      <p:sp>
        <p:nvSpPr>
          <p:cNvPr id="28" name="ca-1"/>
          <p:cNvSpPr txBox="1"/>
          <p:nvPr/>
        </p:nvSpPr>
        <p:spPr>
          <a:xfrm>
            <a:off x="2376751" y="4524597"/>
            <a:ext cx="8515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全量回归测试</a:t>
            </a:r>
          </a:p>
        </p:txBody>
      </p:sp>
      <p:sp>
        <p:nvSpPr>
          <p:cNvPr id="29" name="co-1"/>
          <p:cNvSpPr txBox="1"/>
          <p:nvPr/>
        </p:nvSpPr>
        <p:spPr>
          <a:xfrm>
            <a:off x="2379799" y="4784566"/>
            <a:ext cx="5619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负责：测试</a:t>
            </a:r>
          </a:p>
        </p:txBody>
      </p:sp>
      <p:sp>
        <p:nvSpPr>
          <p:cNvPr id="30" name="n-2"/>
          <p:cNvSpPr/>
          <p:nvPr/>
        </p:nvSpPr>
        <p:spPr>
          <a:xfrm>
            <a:off x="3918857" y="3302000"/>
            <a:ext cx="457200" cy="457200"/>
          </a:xfrm>
          <a:prstGeom prst="ellipse">
            <a:avLst/>
          </a:prstGeom>
          <a:solidFill>
            <a:srgbClr val="0B3E8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icon-check"/>
          <p:cNvSpPr/>
          <p:nvPr/>
        </p:nvSpPr>
        <p:spPr>
          <a:xfrm>
            <a:off x="4100068" y="3498024"/>
            <a:ext cx="94806" cy="66675"/>
          </a:xfrm>
          <a:custGeom>
            <a:avLst/>
            <a:gdLst/>
            <a:ahLst/>
            <a:cxnLst/>
            <a:rect l="0" t="0" r="r" b="b"/>
            <a:pathLst>
              <a:path w="94806" h="66675">
                <a:moveTo>
                  <a:pt x="0" y="35560"/>
                </a:moveTo>
                <a:lnTo>
                  <a:pt x="31115" y="66675"/>
                </a:lnTo>
                <a:lnTo>
                  <a:pt x="94806" y="0"/>
                </a:lnTo>
              </a:path>
            </a:pathLst>
          </a:custGeom>
          <a:noFill/>
          <a:ln w="1651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32" name="cl-2"/>
          <p:cNvCxnSpPr/>
          <p:nvPr/>
        </p:nvCxnSpPr>
        <p:spPr>
          <a:xfrm flipV="1">
            <a:off x="4147457" y="2997200"/>
            <a:ext cx="0" cy="279400"/>
          </a:xfrm>
          <a:prstGeom prst="line">
            <a:avLst/>
          </a:prstGeom>
          <a:ln w="9525" cap="rnd">
            <a:solidFill>
              <a:srgbClr val="0B3E8F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c-2"/>
          <p:cNvSpPr/>
          <p:nvPr/>
        </p:nvSpPr>
        <p:spPr>
          <a:xfrm>
            <a:off x="3550539" y="1943100"/>
            <a:ext cx="1193800" cy="1054100"/>
          </a:xfrm>
          <a:custGeom>
            <a:avLst/>
            <a:gdLst/>
            <a:ahLst/>
            <a:cxnLst/>
            <a:rect l="0" t="0" r="r" b="b"/>
            <a:pathLst>
              <a:path w="1193800" h="1054100">
                <a:moveTo>
                  <a:pt x="127000" y="0"/>
                </a:moveTo>
                <a:lnTo>
                  <a:pt x="1066800" y="0"/>
                </a:lnTo>
                <a:cubicBezTo>
                  <a:pt x="1136968" y="0"/>
                  <a:pt x="1193800" y="56832"/>
                  <a:pt x="1193800" y="127000"/>
                </a:cubicBezTo>
                <a:lnTo>
                  <a:pt x="1193800" y="927100"/>
                </a:lnTo>
                <a:cubicBezTo>
                  <a:pt x="1193800" y="997268"/>
                  <a:pt x="1136968" y="1054100"/>
                  <a:pt x="1066800" y="1054100"/>
                </a:cubicBezTo>
                <a:lnTo>
                  <a:pt x="127000" y="1054100"/>
                </a:lnTo>
                <a:cubicBezTo>
                  <a:pt x="56896" y="1054100"/>
                  <a:pt x="0" y="997268"/>
                  <a:pt x="0" y="927100"/>
                </a:cubicBezTo>
                <a:lnTo>
                  <a:pt x="0" y="127000"/>
                </a:lnTo>
                <a:cubicBezTo>
                  <a:pt x="0" y="56832"/>
                  <a:pt x="56896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ct-2"/>
          <p:cNvSpPr txBox="1"/>
          <p:nvPr/>
        </p:nvSpPr>
        <p:spPr>
          <a:xfrm>
            <a:off x="3670445" y="2018602"/>
            <a:ext cx="425958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T-7</a:t>
            </a:r>
          </a:p>
        </p:txBody>
      </p:sp>
      <p:sp>
        <p:nvSpPr>
          <p:cNvPr id="35" name="cs-2"/>
          <p:cNvSpPr/>
          <p:nvPr/>
        </p:nvSpPr>
        <p:spPr>
          <a:xfrm>
            <a:off x="4223639" y="2070100"/>
            <a:ext cx="393700" cy="165100"/>
          </a:xfrm>
          <a:custGeom>
            <a:avLst/>
            <a:gdLst/>
            <a:ahLst/>
            <a:cxnLst/>
            <a:rect l="0" t="0" r="r" b="b"/>
            <a:pathLst>
              <a:path w="393700" h="165100">
                <a:moveTo>
                  <a:pt x="82550" y="0"/>
                </a:moveTo>
                <a:lnTo>
                  <a:pt x="311150" y="0"/>
                </a:lnTo>
                <a:cubicBezTo>
                  <a:pt x="356743" y="0"/>
                  <a:pt x="393700" y="36957"/>
                  <a:pt x="393700" y="82550"/>
                </a:cubicBezTo>
                <a:lnTo>
                  <a:pt x="393700" y="82550"/>
                </a:lnTo>
                <a:cubicBezTo>
                  <a:pt x="393700" y="128143"/>
                  <a:pt x="356743" y="165100"/>
                  <a:pt x="311150" y="165100"/>
                </a:cubicBezTo>
                <a:lnTo>
                  <a:pt x="82550" y="165100"/>
                </a:lnTo>
                <a:cubicBezTo>
                  <a:pt x="36957" y="165100"/>
                  <a:pt x="0" y="128143"/>
                  <a:pt x="0" y="825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cst-2"/>
          <p:cNvSpPr txBox="1"/>
          <p:nvPr/>
        </p:nvSpPr>
        <p:spPr>
          <a:xfrm>
            <a:off x="4247152" y="2074608"/>
            <a:ext cx="3467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已完成</a:t>
            </a:r>
          </a:p>
        </p:txBody>
      </p:sp>
      <p:sp>
        <p:nvSpPr>
          <p:cNvPr id="37" name="ca-2"/>
          <p:cNvSpPr txBox="1"/>
          <p:nvPr/>
        </p:nvSpPr>
        <p:spPr>
          <a:xfrm>
            <a:off x="3675779" y="2403697"/>
            <a:ext cx="8515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性能压测通过</a:t>
            </a:r>
          </a:p>
        </p:txBody>
      </p:sp>
      <p:sp>
        <p:nvSpPr>
          <p:cNvPr id="38" name="co-2"/>
          <p:cNvSpPr txBox="1"/>
          <p:nvPr/>
        </p:nvSpPr>
        <p:spPr>
          <a:xfrm>
            <a:off x="3678827" y="2663666"/>
            <a:ext cx="5619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负责：运维</a:t>
            </a:r>
          </a:p>
        </p:txBody>
      </p:sp>
      <p:sp>
        <p:nvSpPr>
          <p:cNvPr id="39" name="n-3"/>
          <p:cNvSpPr/>
          <p:nvPr/>
        </p:nvSpPr>
        <p:spPr>
          <a:xfrm>
            <a:off x="5217886" y="3302000"/>
            <a:ext cx="457200" cy="457200"/>
          </a:xfrm>
          <a:prstGeom prst="ellipse">
            <a:avLst/>
          </a:prstGeom>
          <a:solidFill>
            <a:srgbClr val="0B3E8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icon-check"/>
          <p:cNvSpPr/>
          <p:nvPr/>
        </p:nvSpPr>
        <p:spPr>
          <a:xfrm>
            <a:off x="5399088" y="3498024"/>
            <a:ext cx="94805" cy="66675"/>
          </a:xfrm>
          <a:custGeom>
            <a:avLst/>
            <a:gdLst/>
            <a:ahLst/>
            <a:cxnLst/>
            <a:rect l="0" t="0" r="r" b="b"/>
            <a:pathLst>
              <a:path w="94805" h="66675">
                <a:moveTo>
                  <a:pt x="0" y="35560"/>
                </a:moveTo>
                <a:lnTo>
                  <a:pt x="31115" y="66675"/>
                </a:lnTo>
                <a:lnTo>
                  <a:pt x="94805" y="0"/>
                </a:lnTo>
              </a:path>
            </a:pathLst>
          </a:custGeom>
          <a:noFill/>
          <a:ln w="1651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41" name="cl-3"/>
          <p:cNvCxnSpPr/>
          <p:nvPr/>
        </p:nvCxnSpPr>
        <p:spPr>
          <a:xfrm>
            <a:off x="5446486" y="3784600"/>
            <a:ext cx="0" cy="279400"/>
          </a:xfrm>
          <a:prstGeom prst="line">
            <a:avLst/>
          </a:prstGeom>
          <a:ln w="9525" cap="rnd">
            <a:solidFill>
              <a:srgbClr val="0B3E8F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c-3"/>
          <p:cNvSpPr/>
          <p:nvPr/>
        </p:nvSpPr>
        <p:spPr>
          <a:xfrm>
            <a:off x="4849558" y="4064000"/>
            <a:ext cx="1193800" cy="1054100"/>
          </a:xfrm>
          <a:custGeom>
            <a:avLst/>
            <a:gdLst/>
            <a:ahLst/>
            <a:cxnLst/>
            <a:rect l="0" t="0" r="r" b="b"/>
            <a:pathLst>
              <a:path w="1193800" h="1054100">
                <a:moveTo>
                  <a:pt x="127000" y="0"/>
                </a:moveTo>
                <a:lnTo>
                  <a:pt x="1066800" y="0"/>
                </a:lnTo>
                <a:cubicBezTo>
                  <a:pt x="1136967" y="0"/>
                  <a:pt x="1193800" y="56833"/>
                  <a:pt x="1193800" y="127000"/>
                </a:cubicBezTo>
                <a:lnTo>
                  <a:pt x="1193800" y="927100"/>
                </a:lnTo>
                <a:cubicBezTo>
                  <a:pt x="1193800" y="997267"/>
                  <a:pt x="1136967" y="1054100"/>
                  <a:pt x="1066800" y="1054100"/>
                </a:cubicBezTo>
                <a:lnTo>
                  <a:pt x="127000" y="1054100"/>
                </a:lnTo>
                <a:cubicBezTo>
                  <a:pt x="56896" y="1054100"/>
                  <a:pt x="0" y="997267"/>
                  <a:pt x="0" y="927100"/>
                </a:cubicBezTo>
                <a:lnTo>
                  <a:pt x="0" y="127000"/>
                </a:lnTo>
                <a:cubicBezTo>
                  <a:pt x="0" y="56833"/>
                  <a:pt x="56896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ct-3"/>
          <p:cNvSpPr txBox="1"/>
          <p:nvPr/>
        </p:nvSpPr>
        <p:spPr>
          <a:xfrm>
            <a:off x="4969474" y="4139502"/>
            <a:ext cx="425958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T-5</a:t>
            </a:r>
          </a:p>
        </p:txBody>
      </p:sp>
      <p:sp>
        <p:nvSpPr>
          <p:cNvPr id="44" name="cs-3"/>
          <p:cNvSpPr/>
          <p:nvPr/>
        </p:nvSpPr>
        <p:spPr>
          <a:xfrm>
            <a:off x="5522658" y="4191000"/>
            <a:ext cx="393700" cy="165100"/>
          </a:xfrm>
          <a:custGeom>
            <a:avLst/>
            <a:gdLst/>
            <a:ahLst/>
            <a:cxnLst/>
            <a:rect l="0" t="0" r="r" b="b"/>
            <a:pathLst>
              <a:path w="393700" h="165100">
                <a:moveTo>
                  <a:pt x="82550" y="0"/>
                </a:moveTo>
                <a:lnTo>
                  <a:pt x="311150" y="0"/>
                </a:lnTo>
                <a:cubicBezTo>
                  <a:pt x="356743" y="0"/>
                  <a:pt x="393700" y="36957"/>
                  <a:pt x="393700" y="82550"/>
                </a:cubicBezTo>
                <a:lnTo>
                  <a:pt x="393700" y="82550"/>
                </a:lnTo>
                <a:cubicBezTo>
                  <a:pt x="393700" y="128143"/>
                  <a:pt x="356743" y="165100"/>
                  <a:pt x="311150" y="165100"/>
                </a:cubicBezTo>
                <a:lnTo>
                  <a:pt x="82550" y="165100"/>
                </a:lnTo>
                <a:cubicBezTo>
                  <a:pt x="36957" y="165100"/>
                  <a:pt x="0" y="128143"/>
                  <a:pt x="0" y="825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cst-3"/>
          <p:cNvSpPr txBox="1"/>
          <p:nvPr/>
        </p:nvSpPr>
        <p:spPr>
          <a:xfrm>
            <a:off x="5546181" y="4195508"/>
            <a:ext cx="3467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已完成</a:t>
            </a:r>
          </a:p>
        </p:txBody>
      </p:sp>
      <p:sp>
        <p:nvSpPr>
          <p:cNvPr id="46" name="ca-3"/>
          <p:cNvSpPr txBox="1"/>
          <p:nvPr/>
        </p:nvSpPr>
        <p:spPr>
          <a:xfrm>
            <a:off x="4974808" y="4524597"/>
            <a:ext cx="6038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客服培训</a:t>
            </a:r>
          </a:p>
        </p:txBody>
      </p:sp>
      <p:sp>
        <p:nvSpPr>
          <p:cNvPr id="47" name="co-3"/>
          <p:cNvSpPr txBox="1"/>
          <p:nvPr/>
        </p:nvSpPr>
        <p:spPr>
          <a:xfrm>
            <a:off x="4977856" y="4784566"/>
            <a:ext cx="7524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负责：客户成功</a:t>
            </a:r>
          </a:p>
        </p:txBody>
      </p:sp>
      <p:sp>
        <p:nvSpPr>
          <p:cNvPr id="48" name="n-4"/>
          <p:cNvSpPr/>
          <p:nvPr/>
        </p:nvSpPr>
        <p:spPr>
          <a:xfrm>
            <a:off x="6516914" y="3302000"/>
            <a:ext cx="457200" cy="457200"/>
          </a:xfrm>
          <a:prstGeom prst="ellipse">
            <a:avLst/>
          </a:prstGeom>
          <a:solidFill>
            <a:srgbClr val="E0703A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nt-4"/>
          <p:cNvSpPr txBox="1"/>
          <p:nvPr/>
        </p:nvSpPr>
        <p:spPr>
          <a:xfrm>
            <a:off x="6636485" y="34353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-3</a:t>
            </a:r>
          </a:p>
        </p:txBody>
      </p:sp>
      <p:cxnSp>
        <p:nvCxnSpPr>
          <p:cNvPr id="50" name="cl-4"/>
          <p:cNvCxnSpPr/>
          <p:nvPr/>
        </p:nvCxnSpPr>
        <p:spPr>
          <a:xfrm flipV="1">
            <a:off x="6745514" y="2997200"/>
            <a:ext cx="0" cy="279400"/>
          </a:xfrm>
          <a:prstGeom prst="line">
            <a:avLst/>
          </a:prstGeom>
          <a:ln w="9525" cap="rnd">
            <a:solidFill>
              <a:srgbClr val="E0703A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c-4"/>
          <p:cNvSpPr/>
          <p:nvPr/>
        </p:nvSpPr>
        <p:spPr>
          <a:xfrm>
            <a:off x="6148642" y="1943100"/>
            <a:ext cx="1193800" cy="1054100"/>
          </a:xfrm>
          <a:custGeom>
            <a:avLst/>
            <a:gdLst/>
            <a:ahLst/>
            <a:cxnLst/>
            <a:rect l="0" t="0" r="r" b="b"/>
            <a:pathLst>
              <a:path w="1193800" h="1054100">
                <a:moveTo>
                  <a:pt x="127000" y="0"/>
                </a:moveTo>
                <a:lnTo>
                  <a:pt x="1066800" y="0"/>
                </a:lnTo>
                <a:cubicBezTo>
                  <a:pt x="1136904" y="0"/>
                  <a:pt x="1193800" y="56832"/>
                  <a:pt x="1193800" y="127000"/>
                </a:cubicBezTo>
                <a:lnTo>
                  <a:pt x="1193800" y="927100"/>
                </a:lnTo>
                <a:cubicBezTo>
                  <a:pt x="1193800" y="997268"/>
                  <a:pt x="1136904" y="1054100"/>
                  <a:pt x="1066800" y="1054100"/>
                </a:cubicBezTo>
                <a:lnTo>
                  <a:pt x="127000" y="1054100"/>
                </a:lnTo>
                <a:cubicBezTo>
                  <a:pt x="56833" y="1054100"/>
                  <a:pt x="0" y="997268"/>
                  <a:pt x="0" y="9271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 w="12700" cap="rnd">
            <a:solidFill>
              <a:srgbClr val="E0703A"/>
            </a:solidFill>
            <a:round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ct-4"/>
          <p:cNvSpPr txBox="1"/>
          <p:nvPr/>
        </p:nvSpPr>
        <p:spPr>
          <a:xfrm>
            <a:off x="6268502" y="2018602"/>
            <a:ext cx="425958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T-3</a:t>
            </a:r>
          </a:p>
        </p:txBody>
      </p:sp>
      <p:sp>
        <p:nvSpPr>
          <p:cNvPr id="53" name="cs-4"/>
          <p:cNvSpPr/>
          <p:nvPr/>
        </p:nvSpPr>
        <p:spPr>
          <a:xfrm>
            <a:off x="6821742" y="2070100"/>
            <a:ext cx="393700" cy="165100"/>
          </a:xfrm>
          <a:custGeom>
            <a:avLst/>
            <a:gdLst/>
            <a:ahLst/>
            <a:cxnLst/>
            <a:rect l="0" t="0" r="r" b="b"/>
            <a:pathLst>
              <a:path w="393700" h="165100">
                <a:moveTo>
                  <a:pt x="82550" y="0"/>
                </a:moveTo>
                <a:lnTo>
                  <a:pt x="311150" y="0"/>
                </a:lnTo>
                <a:cubicBezTo>
                  <a:pt x="356743" y="0"/>
                  <a:pt x="393700" y="36957"/>
                  <a:pt x="393700" y="82550"/>
                </a:cubicBezTo>
                <a:lnTo>
                  <a:pt x="393700" y="82550"/>
                </a:lnTo>
                <a:cubicBezTo>
                  <a:pt x="393700" y="128143"/>
                  <a:pt x="356743" y="165100"/>
                  <a:pt x="311150" y="165100"/>
                </a:cubicBezTo>
                <a:lnTo>
                  <a:pt x="82550" y="165100"/>
                </a:lnTo>
                <a:cubicBezTo>
                  <a:pt x="36957" y="165100"/>
                  <a:pt x="0" y="128143"/>
                  <a:pt x="0" y="825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FCEFE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cst-4"/>
          <p:cNvSpPr txBox="1"/>
          <p:nvPr/>
        </p:nvSpPr>
        <p:spPr>
          <a:xfrm>
            <a:off x="6845209" y="2074608"/>
            <a:ext cx="3467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进行中</a:t>
            </a:r>
          </a:p>
        </p:txBody>
      </p:sp>
      <p:sp>
        <p:nvSpPr>
          <p:cNvPr id="55" name="ca-4"/>
          <p:cNvSpPr txBox="1"/>
          <p:nvPr/>
        </p:nvSpPr>
        <p:spPr>
          <a:xfrm>
            <a:off x="6273836" y="2403697"/>
            <a:ext cx="957580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灰度 10% 用户</a:t>
            </a:r>
          </a:p>
        </p:txBody>
      </p:sp>
      <p:sp>
        <p:nvSpPr>
          <p:cNvPr id="56" name="co-4"/>
          <p:cNvSpPr txBox="1"/>
          <p:nvPr/>
        </p:nvSpPr>
        <p:spPr>
          <a:xfrm>
            <a:off x="6276884" y="2663666"/>
            <a:ext cx="5619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负责：研发</a:t>
            </a:r>
          </a:p>
        </p:txBody>
      </p:sp>
      <p:sp>
        <p:nvSpPr>
          <p:cNvPr id="57" name="n-5"/>
          <p:cNvSpPr/>
          <p:nvPr/>
        </p:nvSpPr>
        <p:spPr>
          <a:xfrm>
            <a:off x="7815943" y="3302000"/>
            <a:ext cx="457200" cy="4572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9DB2CC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nt-5"/>
          <p:cNvSpPr txBox="1"/>
          <p:nvPr/>
        </p:nvSpPr>
        <p:spPr>
          <a:xfrm>
            <a:off x="7935513" y="34353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-1</a:t>
            </a:r>
          </a:p>
        </p:txBody>
      </p:sp>
      <p:cxnSp>
        <p:nvCxnSpPr>
          <p:cNvPr id="59" name="cl-5"/>
          <p:cNvCxnSpPr/>
          <p:nvPr/>
        </p:nvCxnSpPr>
        <p:spPr>
          <a:xfrm>
            <a:off x="8044543" y="3784600"/>
            <a:ext cx="0" cy="279400"/>
          </a:xfrm>
          <a:prstGeom prst="line">
            <a:avLst/>
          </a:prstGeom>
          <a:ln w="9525" cap="rnd">
            <a:solidFill>
              <a:srgbClr val="9DB2CC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c-5"/>
          <p:cNvSpPr/>
          <p:nvPr/>
        </p:nvSpPr>
        <p:spPr>
          <a:xfrm>
            <a:off x="7447661" y="4064000"/>
            <a:ext cx="1193800" cy="1054100"/>
          </a:xfrm>
          <a:custGeom>
            <a:avLst/>
            <a:gdLst/>
            <a:ahLst/>
            <a:cxnLst/>
            <a:rect l="0" t="0" r="r" b="b"/>
            <a:pathLst>
              <a:path w="1193800" h="1054100">
                <a:moveTo>
                  <a:pt x="127000" y="0"/>
                </a:moveTo>
                <a:lnTo>
                  <a:pt x="1066800" y="0"/>
                </a:lnTo>
                <a:cubicBezTo>
                  <a:pt x="1136904" y="0"/>
                  <a:pt x="1193800" y="56833"/>
                  <a:pt x="1193800" y="127000"/>
                </a:cubicBezTo>
                <a:lnTo>
                  <a:pt x="1193800" y="927100"/>
                </a:lnTo>
                <a:cubicBezTo>
                  <a:pt x="1193800" y="997267"/>
                  <a:pt x="1136904" y="1054100"/>
                  <a:pt x="1066800" y="1054100"/>
                </a:cubicBezTo>
                <a:lnTo>
                  <a:pt x="127000" y="1054100"/>
                </a:lnTo>
                <a:cubicBezTo>
                  <a:pt x="56833" y="1054100"/>
                  <a:pt x="0" y="997267"/>
                  <a:pt x="0" y="9271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ct-5"/>
          <p:cNvSpPr txBox="1"/>
          <p:nvPr/>
        </p:nvSpPr>
        <p:spPr>
          <a:xfrm>
            <a:off x="7567531" y="4139502"/>
            <a:ext cx="425958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>
                <a:solidFill>
                  <a:srgbClr val="9DB2CC"/>
                </a:solidFill>
                <a:latin typeface="Arial"/>
                <a:ea typeface="Arial"/>
                <a:cs typeface="Arial"/>
              </a:rPr>
              <a:t>T-1</a:t>
            </a:r>
          </a:p>
        </p:txBody>
      </p:sp>
      <p:sp>
        <p:nvSpPr>
          <p:cNvPr id="62" name="cs-5"/>
          <p:cNvSpPr/>
          <p:nvPr/>
        </p:nvSpPr>
        <p:spPr>
          <a:xfrm>
            <a:off x="8120761" y="4191000"/>
            <a:ext cx="393700" cy="165100"/>
          </a:xfrm>
          <a:custGeom>
            <a:avLst/>
            <a:gdLst/>
            <a:ahLst/>
            <a:cxnLst/>
            <a:rect l="0" t="0" r="r" b="b"/>
            <a:pathLst>
              <a:path w="393700" h="165100">
                <a:moveTo>
                  <a:pt x="82550" y="0"/>
                </a:moveTo>
                <a:lnTo>
                  <a:pt x="311150" y="0"/>
                </a:lnTo>
                <a:cubicBezTo>
                  <a:pt x="356743" y="0"/>
                  <a:pt x="393700" y="36957"/>
                  <a:pt x="393700" y="82550"/>
                </a:cubicBezTo>
                <a:lnTo>
                  <a:pt x="393700" y="82550"/>
                </a:lnTo>
                <a:cubicBezTo>
                  <a:pt x="393700" y="128143"/>
                  <a:pt x="356743" y="165100"/>
                  <a:pt x="311150" y="165100"/>
                </a:cubicBezTo>
                <a:lnTo>
                  <a:pt x="82550" y="165100"/>
                </a:lnTo>
                <a:cubicBezTo>
                  <a:pt x="36957" y="165100"/>
                  <a:pt x="0" y="128143"/>
                  <a:pt x="0" y="825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F0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cst-5"/>
          <p:cNvSpPr txBox="1"/>
          <p:nvPr/>
        </p:nvSpPr>
        <p:spPr>
          <a:xfrm>
            <a:off x="8144238" y="4195508"/>
            <a:ext cx="3467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待开始</a:t>
            </a:r>
          </a:p>
        </p:txBody>
      </p:sp>
      <p:sp>
        <p:nvSpPr>
          <p:cNvPr id="64" name="ca-5"/>
          <p:cNvSpPr txBox="1"/>
          <p:nvPr/>
        </p:nvSpPr>
        <p:spPr>
          <a:xfrm>
            <a:off x="7572865" y="4524597"/>
            <a:ext cx="6038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发布演练</a:t>
            </a:r>
          </a:p>
        </p:txBody>
      </p:sp>
      <p:sp>
        <p:nvSpPr>
          <p:cNvPr id="65" name="co-5"/>
          <p:cNvSpPr txBox="1"/>
          <p:nvPr/>
        </p:nvSpPr>
        <p:spPr>
          <a:xfrm>
            <a:off x="7575913" y="4784566"/>
            <a:ext cx="5619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负责：运维</a:t>
            </a:r>
          </a:p>
        </p:txBody>
      </p:sp>
      <p:sp>
        <p:nvSpPr>
          <p:cNvPr id="66" name="n-6"/>
          <p:cNvSpPr/>
          <p:nvPr/>
        </p:nvSpPr>
        <p:spPr>
          <a:xfrm>
            <a:off x="9026071" y="3213100"/>
            <a:ext cx="635000" cy="635000"/>
          </a:xfrm>
          <a:prstGeom prst="ellipse">
            <a:avLst/>
          </a:prstGeom>
          <a:gradFill rotWithShape="1">
            <a:gsLst>
              <a:gs pos="0">
                <a:srgbClr val="E8793F"/>
              </a:gs>
              <a:gs pos="100000">
                <a:srgbClr val="C95A22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icon-rocket"/>
          <p:cNvSpPr/>
          <p:nvPr/>
        </p:nvSpPr>
        <p:spPr>
          <a:xfrm>
            <a:off x="9277223" y="3442145"/>
            <a:ext cx="132715" cy="166878"/>
          </a:xfrm>
          <a:custGeom>
            <a:avLst/>
            <a:gdLst/>
            <a:ahLst/>
            <a:cxnLst/>
            <a:rect l="0" t="0" r="r" b="b"/>
            <a:pathLst>
              <a:path w="132715" h="166878">
                <a:moveTo>
                  <a:pt x="66358" y="0"/>
                </a:moveTo>
                <a:cubicBezTo>
                  <a:pt x="96520" y="22098"/>
                  <a:pt x="112586" y="56261"/>
                  <a:pt x="112586" y="92456"/>
                </a:cubicBezTo>
                <a:lnTo>
                  <a:pt x="90488" y="128651"/>
                </a:lnTo>
                <a:lnTo>
                  <a:pt x="42228" y="128651"/>
                </a:lnTo>
                <a:lnTo>
                  <a:pt x="20130" y="92456"/>
                </a:lnTo>
                <a:cubicBezTo>
                  <a:pt x="20130" y="56261"/>
                  <a:pt x="36195" y="22098"/>
                  <a:pt x="66358" y="0"/>
                </a:cubicBezTo>
                <a:close/>
                <a:moveTo>
                  <a:pt x="20130" y="120650"/>
                </a:moveTo>
                <a:lnTo>
                  <a:pt x="0" y="166878"/>
                </a:lnTo>
                <a:lnTo>
                  <a:pt x="42228" y="150812"/>
                </a:lnTo>
                <a:moveTo>
                  <a:pt x="112586" y="120650"/>
                </a:moveTo>
                <a:lnTo>
                  <a:pt x="132715" y="166878"/>
                </a:lnTo>
                <a:lnTo>
                  <a:pt x="90488" y="150812"/>
                </a:ln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68" name="cl-6"/>
          <p:cNvCxnSpPr/>
          <p:nvPr/>
        </p:nvCxnSpPr>
        <p:spPr>
          <a:xfrm flipV="1">
            <a:off x="9343571" y="2997200"/>
            <a:ext cx="0" cy="190500"/>
          </a:xfrm>
          <a:prstGeom prst="line">
            <a:avLst/>
          </a:prstGeom>
          <a:ln w="9525" cap="rnd">
            <a:solidFill>
              <a:srgbClr val="9DB2CC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9" name="c-6"/>
          <p:cNvSpPr/>
          <p:nvPr/>
        </p:nvSpPr>
        <p:spPr>
          <a:xfrm>
            <a:off x="8746680" y="1943100"/>
            <a:ext cx="1193800" cy="1054100"/>
          </a:xfrm>
          <a:custGeom>
            <a:avLst/>
            <a:gdLst/>
            <a:ahLst/>
            <a:cxnLst/>
            <a:rect l="0" t="0" r="r" b="b"/>
            <a:pathLst>
              <a:path w="1193800" h="1054100">
                <a:moveTo>
                  <a:pt x="127000" y="0"/>
                </a:moveTo>
                <a:lnTo>
                  <a:pt x="1066800" y="0"/>
                </a:lnTo>
                <a:cubicBezTo>
                  <a:pt x="1136904" y="0"/>
                  <a:pt x="1193800" y="56832"/>
                  <a:pt x="1193800" y="127000"/>
                </a:cubicBezTo>
                <a:lnTo>
                  <a:pt x="1193800" y="927100"/>
                </a:lnTo>
                <a:cubicBezTo>
                  <a:pt x="1193800" y="997268"/>
                  <a:pt x="1136904" y="1054100"/>
                  <a:pt x="1066800" y="1054100"/>
                </a:cubicBezTo>
                <a:lnTo>
                  <a:pt x="127000" y="1054100"/>
                </a:lnTo>
                <a:cubicBezTo>
                  <a:pt x="56833" y="1054100"/>
                  <a:pt x="0" y="997268"/>
                  <a:pt x="0" y="9271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ct-6"/>
          <p:cNvSpPr txBox="1"/>
          <p:nvPr/>
        </p:nvSpPr>
        <p:spPr>
          <a:xfrm>
            <a:off x="8866559" y="2018602"/>
            <a:ext cx="333502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T0</a:t>
            </a:r>
          </a:p>
        </p:txBody>
      </p:sp>
      <p:sp>
        <p:nvSpPr>
          <p:cNvPr id="71" name="cs-6"/>
          <p:cNvSpPr/>
          <p:nvPr/>
        </p:nvSpPr>
        <p:spPr>
          <a:xfrm>
            <a:off x="9419780" y="2070100"/>
            <a:ext cx="393700" cy="165100"/>
          </a:xfrm>
          <a:custGeom>
            <a:avLst/>
            <a:gdLst/>
            <a:ahLst/>
            <a:cxnLst/>
            <a:rect l="0" t="0" r="r" b="b"/>
            <a:pathLst>
              <a:path w="393700" h="165100">
                <a:moveTo>
                  <a:pt x="82550" y="0"/>
                </a:moveTo>
                <a:lnTo>
                  <a:pt x="311150" y="0"/>
                </a:lnTo>
                <a:cubicBezTo>
                  <a:pt x="356743" y="0"/>
                  <a:pt x="393700" y="36957"/>
                  <a:pt x="393700" y="82550"/>
                </a:cubicBezTo>
                <a:lnTo>
                  <a:pt x="393700" y="82550"/>
                </a:lnTo>
                <a:cubicBezTo>
                  <a:pt x="393700" y="128143"/>
                  <a:pt x="356743" y="165100"/>
                  <a:pt x="311150" y="165100"/>
                </a:cubicBezTo>
                <a:lnTo>
                  <a:pt x="82550" y="165100"/>
                </a:lnTo>
                <a:cubicBezTo>
                  <a:pt x="36957" y="165100"/>
                  <a:pt x="0" y="128143"/>
                  <a:pt x="0" y="825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F0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cst-6"/>
          <p:cNvSpPr txBox="1"/>
          <p:nvPr/>
        </p:nvSpPr>
        <p:spPr>
          <a:xfrm>
            <a:off x="9443266" y="2074608"/>
            <a:ext cx="3467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待开始</a:t>
            </a:r>
          </a:p>
        </p:txBody>
      </p:sp>
      <p:sp>
        <p:nvSpPr>
          <p:cNvPr id="73" name="ca-6"/>
          <p:cNvSpPr txBox="1"/>
          <p:nvPr/>
        </p:nvSpPr>
        <p:spPr>
          <a:xfrm>
            <a:off x="8871893" y="2403697"/>
            <a:ext cx="6038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正式上线</a:t>
            </a:r>
          </a:p>
        </p:txBody>
      </p:sp>
      <p:sp>
        <p:nvSpPr>
          <p:cNvPr id="74" name="co-6"/>
          <p:cNvSpPr txBox="1"/>
          <p:nvPr/>
        </p:nvSpPr>
        <p:spPr>
          <a:xfrm>
            <a:off x="8874941" y="2663666"/>
            <a:ext cx="5619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负责：全员</a:t>
            </a:r>
          </a:p>
        </p:txBody>
      </p:sp>
      <p:sp>
        <p:nvSpPr>
          <p:cNvPr id="75" name="n-7"/>
          <p:cNvSpPr/>
          <p:nvPr/>
        </p:nvSpPr>
        <p:spPr>
          <a:xfrm>
            <a:off x="10414000" y="3302000"/>
            <a:ext cx="457200" cy="4572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9DB2CC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nt-7"/>
          <p:cNvSpPr txBox="1"/>
          <p:nvPr/>
        </p:nvSpPr>
        <p:spPr>
          <a:xfrm>
            <a:off x="10533570" y="34353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+7</a:t>
            </a:r>
          </a:p>
        </p:txBody>
      </p:sp>
      <p:cxnSp>
        <p:nvCxnSpPr>
          <p:cNvPr id="77" name="cl-7"/>
          <p:cNvCxnSpPr/>
          <p:nvPr/>
        </p:nvCxnSpPr>
        <p:spPr>
          <a:xfrm>
            <a:off x="10642600" y="3784600"/>
            <a:ext cx="0" cy="279400"/>
          </a:xfrm>
          <a:prstGeom prst="line">
            <a:avLst/>
          </a:prstGeom>
          <a:ln w="9525" cap="rnd">
            <a:solidFill>
              <a:srgbClr val="9DB2CC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8" name="c-7"/>
          <p:cNvSpPr/>
          <p:nvPr/>
        </p:nvSpPr>
        <p:spPr>
          <a:xfrm>
            <a:off x="10045700" y="4064000"/>
            <a:ext cx="1193800" cy="1054100"/>
          </a:xfrm>
          <a:custGeom>
            <a:avLst/>
            <a:gdLst/>
            <a:ahLst/>
            <a:cxnLst/>
            <a:rect l="0" t="0" r="r" b="b"/>
            <a:pathLst>
              <a:path w="1193800" h="1054100">
                <a:moveTo>
                  <a:pt x="127000" y="0"/>
                </a:moveTo>
                <a:lnTo>
                  <a:pt x="1066800" y="0"/>
                </a:lnTo>
                <a:cubicBezTo>
                  <a:pt x="1136967" y="0"/>
                  <a:pt x="1193800" y="56833"/>
                  <a:pt x="1193800" y="127000"/>
                </a:cubicBezTo>
                <a:lnTo>
                  <a:pt x="1193800" y="927100"/>
                </a:lnTo>
                <a:cubicBezTo>
                  <a:pt x="1193800" y="997267"/>
                  <a:pt x="1136967" y="1054100"/>
                  <a:pt x="1066800" y="1054100"/>
                </a:cubicBezTo>
                <a:lnTo>
                  <a:pt x="127000" y="1054100"/>
                </a:lnTo>
                <a:cubicBezTo>
                  <a:pt x="56833" y="1054100"/>
                  <a:pt x="0" y="997267"/>
                  <a:pt x="0" y="9271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ct-7"/>
          <p:cNvSpPr txBox="1"/>
          <p:nvPr/>
        </p:nvSpPr>
        <p:spPr>
          <a:xfrm>
            <a:off x="10165588" y="4139502"/>
            <a:ext cx="425958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>
                <a:solidFill>
                  <a:srgbClr val="9DB2CC"/>
                </a:solidFill>
                <a:latin typeface="Arial"/>
                <a:ea typeface="Arial"/>
                <a:cs typeface="Arial"/>
              </a:rPr>
              <a:t>T+7</a:t>
            </a:r>
          </a:p>
        </p:txBody>
      </p:sp>
      <p:sp>
        <p:nvSpPr>
          <p:cNvPr id="80" name="cs-7"/>
          <p:cNvSpPr/>
          <p:nvPr/>
        </p:nvSpPr>
        <p:spPr>
          <a:xfrm>
            <a:off x="10718800" y="4191000"/>
            <a:ext cx="393700" cy="165100"/>
          </a:xfrm>
          <a:custGeom>
            <a:avLst/>
            <a:gdLst/>
            <a:ahLst/>
            <a:cxnLst/>
            <a:rect l="0" t="0" r="r" b="b"/>
            <a:pathLst>
              <a:path w="393700" h="165100">
                <a:moveTo>
                  <a:pt x="82550" y="0"/>
                </a:moveTo>
                <a:lnTo>
                  <a:pt x="311150" y="0"/>
                </a:lnTo>
                <a:cubicBezTo>
                  <a:pt x="356743" y="0"/>
                  <a:pt x="393700" y="36957"/>
                  <a:pt x="393700" y="82550"/>
                </a:cubicBezTo>
                <a:lnTo>
                  <a:pt x="393700" y="82550"/>
                </a:lnTo>
                <a:cubicBezTo>
                  <a:pt x="393700" y="128143"/>
                  <a:pt x="356743" y="165100"/>
                  <a:pt x="311150" y="165100"/>
                </a:cubicBezTo>
                <a:lnTo>
                  <a:pt x="82550" y="165100"/>
                </a:lnTo>
                <a:cubicBezTo>
                  <a:pt x="36957" y="165100"/>
                  <a:pt x="0" y="128143"/>
                  <a:pt x="0" y="825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F0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cst-7"/>
          <p:cNvSpPr txBox="1"/>
          <p:nvPr/>
        </p:nvSpPr>
        <p:spPr>
          <a:xfrm>
            <a:off x="10742295" y="4195508"/>
            <a:ext cx="3467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待开始</a:t>
            </a:r>
          </a:p>
        </p:txBody>
      </p:sp>
      <p:sp>
        <p:nvSpPr>
          <p:cNvPr id="82" name="ca-7"/>
          <p:cNvSpPr txBox="1"/>
          <p:nvPr/>
        </p:nvSpPr>
        <p:spPr>
          <a:xfrm>
            <a:off x="10170922" y="4524597"/>
            <a:ext cx="975360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复盘与数据回看</a:t>
            </a:r>
          </a:p>
        </p:txBody>
      </p:sp>
      <p:sp>
        <p:nvSpPr>
          <p:cNvPr id="83" name="co-7"/>
          <p:cNvSpPr txBox="1"/>
          <p:nvPr/>
        </p:nvSpPr>
        <p:spPr>
          <a:xfrm>
            <a:off x="10173970" y="4784566"/>
            <a:ext cx="5619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负责：产品</a:t>
            </a:r>
          </a:p>
        </p:txBody>
      </p:sp>
      <p:sp>
        <p:nvSpPr>
          <p:cNvPr id="84" name="today"/>
          <p:cNvSpPr/>
          <p:nvPr/>
        </p:nvSpPr>
        <p:spPr>
          <a:xfrm>
            <a:off x="6491542" y="3073400"/>
            <a:ext cx="508000" cy="177800"/>
          </a:xfrm>
          <a:custGeom>
            <a:avLst/>
            <a:gdLst/>
            <a:ahLst/>
            <a:cxnLst/>
            <a:rect l="0" t="0" r="r" b="b"/>
            <a:pathLst>
              <a:path w="508000" h="177800">
                <a:moveTo>
                  <a:pt x="88900" y="0"/>
                </a:moveTo>
                <a:lnTo>
                  <a:pt x="419100" y="0"/>
                </a:lnTo>
                <a:cubicBezTo>
                  <a:pt x="468186" y="0"/>
                  <a:pt x="508000" y="39814"/>
                  <a:pt x="508000" y="88900"/>
                </a:cubicBezTo>
                <a:lnTo>
                  <a:pt x="508000" y="88900"/>
                </a:lnTo>
                <a:cubicBezTo>
                  <a:pt x="508000" y="137986"/>
                  <a:pt x="468186" y="177800"/>
                  <a:pt x="419100" y="177800"/>
                </a:cubicBezTo>
                <a:lnTo>
                  <a:pt x="88900" y="177800"/>
                </a:lnTo>
                <a:cubicBezTo>
                  <a:pt x="39751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751" y="0"/>
                  <a:pt x="889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today-t"/>
          <p:cNvSpPr txBox="1"/>
          <p:nvPr/>
        </p:nvSpPr>
        <p:spPr>
          <a:xfrm>
            <a:off x="6616609" y="3090608"/>
            <a:ext cx="2578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今天</a:t>
            </a:r>
          </a:p>
        </p:txBody>
      </p:sp>
      <p:sp>
        <p:nvSpPr>
          <p:cNvPr id="86" name="sum"/>
          <p:cNvSpPr/>
          <p:nvPr/>
        </p:nvSpPr>
        <p:spPr>
          <a:xfrm>
            <a:off x="952500" y="5740400"/>
            <a:ext cx="10287000" cy="419100"/>
          </a:xfrm>
          <a:custGeom>
            <a:avLst/>
            <a:gdLst/>
            <a:ahLst/>
            <a:cxnLst/>
            <a:rect l="0" t="0" r="r" b="b"/>
            <a:pathLst>
              <a:path w="10287000" h="4191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30200"/>
                </a:lnTo>
                <a:cubicBezTo>
                  <a:pt x="10287000" y="379286"/>
                  <a:pt x="10247186" y="419100"/>
                  <a:pt x="10198100" y="419100"/>
                </a:cubicBezTo>
                <a:lnTo>
                  <a:pt x="88900" y="419100"/>
                </a:lnTo>
                <a:cubicBezTo>
                  <a:pt x="39815" y="419100"/>
                  <a:pt x="0" y="379286"/>
                  <a:pt x="0" y="3302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sum-bar"/>
          <p:cNvSpPr/>
          <p:nvPr/>
        </p:nvSpPr>
        <p:spPr>
          <a:xfrm>
            <a:off x="952500" y="5740400"/>
            <a:ext cx="31750" cy="4191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sum-h"/>
          <p:cNvSpPr txBox="1"/>
          <p:nvPr/>
        </p:nvSpPr>
        <p:spPr>
          <a:xfrm>
            <a:off x="1142746" y="58737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上线门槛</a:t>
            </a:r>
          </a:p>
        </p:txBody>
      </p:sp>
      <p:sp>
        <p:nvSpPr>
          <p:cNvPr id="89" name="sum-p"/>
          <p:cNvSpPr txBox="1"/>
          <p:nvPr/>
        </p:nvSpPr>
        <p:spPr>
          <a:xfrm>
            <a:off x="1891665" y="5869861"/>
            <a:ext cx="446436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灰度期间错误率低于 0.1%、核心接口 P99 低于 300 毫秒，才进入 T-1 发布演练。</a:t>
            </a:r>
          </a:p>
        </p:txBody>
      </p:sp>
      <p:cxnSp>
        <p:nvCxnSpPr>
          <p:cNvPr id="90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上线倒计时 · 检查点</a:t>
            </a:r>
          </a:p>
        </p:txBody>
      </p:sp>
      <p:sp>
        <p:nvSpPr>
          <p:cNvPr id="92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方案对比分析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810131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SOLUTION COMPARISON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580499" y="673132"/>
            <a:ext cx="20402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同一业务场景下，两种模式的关键差异</a:t>
            </a:r>
          </a:p>
        </p:txBody>
      </p:sp>
      <p:cxnSp>
        <p:nvCxnSpPr>
          <p:cNvPr id="10" name="axis"/>
          <p:cNvCxnSpPr/>
          <p:nvPr/>
        </p:nvCxnSpPr>
        <p:spPr>
          <a:xfrm>
            <a:off x="6096000" y="2679700"/>
            <a:ext cx="0" cy="2628900"/>
          </a:xfrm>
          <a:prstGeom prst="line">
            <a:avLst/>
          </a:prstGeom>
          <a:ln w="6350" cap="rnd">
            <a:solidFill>
              <a:srgbClr val="0B2545">
                <a:alpha val="1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card-left"/>
          <p:cNvSpPr/>
          <p:nvPr/>
        </p:nvSpPr>
        <p:spPr>
          <a:xfrm>
            <a:off x="1524000" y="1473200"/>
            <a:ext cx="4127500" cy="1041400"/>
          </a:xfrm>
          <a:custGeom>
            <a:avLst/>
            <a:gdLst/>
            <a:ahLst/>
            <a:cxnLst/>
            <a:rect l="0" t="0" r="r" b="b"/>
            <a:pathLst>
              <a:path w="4127500" h="1041400">
                <a:moveTo>
                  <a:pt x="127000" y="0"/>
                </a:moveTo>
                <a:lnTo>
                  <a:pt x="4000500" y="0"/>
                </a:lnTo>
                <a:cubicBezTo>
                  <a:pt x="4070667" y="0"/>
                  <a:pt x="4127500" y="56832"/>
                  <a:pt x="4127500" y="127000"/>
                </a:cubicBezTo>
                <a:lnTo>
                  <a:pt x="4127500" y="914400"/>
                </a:lnTo>
                <a:cubicBezTo>
                  <a:pt x="4127500" y="984568"/>
                  <a:pt x="4070667" y="1041400"/>
                  <a:pt x="4000500" y="1041400"/>
                </a:cubicBezTo>
                <a:lnTo>
                  <a:pt x="127000" y="1041400"/>
                </a:lnTo>
                <a:cubicBezTo>
                  <a:pt x="56832" y="1041400"/>
                  <a:pt x="0" y="984568"/>
                  <a:pt x="0" y="914400"/>
                </a:cubicBezTo>
                <a:lnTo>
                  <a:pt x="0" y="127000"/>
                </a:lnTo>
                <a:cubicBezTo>
                  <a:pt x="0" y="56832"/>
                  <a:pt x="56832" y="0"/>
                  <a:pt x="127000" y="0"/>
                </a:cubicBezTo>
                <a:close/>
              </a:path>
            </a:pathLst>
          </a:custGeom>
          <a:solidFill>
            <a:srgbClr val="E9EE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card-right"/>
          <p:cNvSpPr/>
          <p:nvPr/>
        </p:nvSpPr>
        <p:spPr>
          <a:xfrm>
            <a:off x="6540500" y="1473200"/>
            <a:ext cx="4127500" cy="1041400"/>
          </a:xfrm>
          <a:custGeom>
            <a:avLst/>
            <a:gdLst/>
            <a:ahLst/>
            <a:cxnLst/>
            <a:rect l="0" t="0" r="r" b="b"/>
            <a:pathLst>
              <a:path w="4127500" h="1041400">
                <a:moveTo>
                  <a:pt x="127000" y="0"/>
                </a:moveTo>
                <a:lnTo>
                  <a:pt x="4000500" y="0"/>
                </a:lnTo>
                <a:cubicBezTo>
                  <a:pt x="4070667" y="0"/>
                  <a:pt x="4127500" y="56832"/>
                  <a:pt x="4127500" y="127000"/>
                </a:cubicBezTo>
                <a:lnTo>
                  <a:pt x="4127500" y="914400"/>
                </a:lnTo>
                <a:cubicBezTo>
                  <a:pt x="4127500" y="984568"/>
                  <a:pt x="4070667" y="1041400"/>
                  <a:pt x="4000500" y="1041400"/>
                </a:cubicBezTo>
                <a:lnTo>
                  <a:pt x="127000" y="1041400"/>
                </a:lnTo>
                <a:cubicBezTo>
                  <a:pt x="56833" y="1041400"/>
                  <a:pt x="0" y="984568"/>
                  <a:pt x="0" y="9144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chip"/>
          <p:cNvSpPr/>
          <p:nvPr/>
        </p:nvSpPr>
        <p:spPr>
          <a:xfrm>
            <a:off x="1828800" y="1765300"/>
            <a:ext cx="457200" cy="457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chip-ring"/>
          <p:cNvSpPr/>
          <p:nvPr/>
        </p:nvSpPr>
        <p:spPr>
          <a:xfrm>
            <a:off x="1828800" y="1765300"/>
            <a:ext cx="457200" cy="457200"/>
          </a:xfrm>
          <a:prstGeom prst="ellipse">
            <a:avLst/>
          </a:prstGeom>
          <a:noFill/>
          <a:ln w="6350" cap="rnd">
            <a:solidFill>
              <a:srgbClr val="8AA0BC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icon-process"/>
          <p:cNvSpPr/>
          <p:nvPr/>
        </p:nvSpPr>
        <p:spPr>
          <a:xfrm>
            <a:off x="1986915" y="1955800"/>
            <a:ext cx="140970" cy="76200"/>
          </a:xfrm>
          <a:custGeom>
            <a:avLst/>
            <a:gdLst/>
            <a:ahLst/>
            <a:cxnLst/>
            <a:rect l="0" t="0" r="r" b="b"/>
            <a:pathLst>
              <a:path w="140970" h="76200">
                <a:moveTo>
                  <a:pt x="0" y="0"/>
                </a:moveTo>
                <a:lnTo>
                  <a:pt x="49530" y="0"/>
                </a:lnTo>
                <a:lnTo>
                  <a:pt x="49530" y="49530"/>
                </a:lnTo>
                <a:lnTo>
                  <a:pt x="0" y="49530"/>
                </a:lnTo>
                <a:close/>
                <a:moveTo>
                  <a:pt x="91440" y="26670"/>
                </a:moveTo>
                <a:lnTo>
                  <a:pt x="140970" y="26670"/>
                </a:lnTo>
                <a:lnTo>
                  <a:pt x="140970" y="76200"/>
                </a:lnTo>
                <a:lnTo>
                  <a:pt x="91440" y="76200"/>
                </a:lnTo>
                <a:close/>
                <a:moveTo>
                  <a:pt x="49530" y="24765"/>
                </a:moveTo>
                <a:lnTo>
                  <a:pt x="91440" y="24765"/>
                </a:lnTo>
              </a:path>
            </a:pathLst>
          </a:custGeom>
          <a:noFill/>
          <a:ln w="12065" cap="rnd">
            <a:solidFill>
              <a:srgbClr val="8AA0B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chip-r"/>
          <p:cNvSpPr/>
          <p:nvPr/>
        </p:nvSpPr>
        <p:spPr>
          <a:xfrm>
            <a:off x="6845300" y="1765300"/>
            <a:ext cx="457200" cy="457200"/>
          </a:xfrm>
          <a:prstGeom prst="ellipse">
            <a:avLst/>
          </a:prstGeom>
          <a:solidFill>
            <a:srgbClr val="FFFFF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icon-cloud"/>
          <p:cNvSpPr/>
          <p:nvPr/>
        </p:nvSpPr>
        <p:spPr>
          <a:xfrm>
            <a:off x="6991160" y="1933784"/>
            <a:ext cx="170879" cy="117710"/>
          </a:xfrm>
          <a:custGeom>
            <a:avLst/>
            <a:gdLst/>
            <a:ahLst/>
            <a:cxnLst/>
            <a:rect l="0" t="0" r="r" b="b"/>
            <a:pathLst>
              <a:path w="170879" h="117710">
                <a:moveTo>
                  <a:pt x="39561" y="117710"/>
                </a:moveTo>
                <a:cubicBezTo>
                  <a:pt x="18669" y="118663"/>
                  <a:pt x="952" y="102597"/>
                  <a:pt x="0" y="81706"/>
                </a:cubicBezTo>
                <a:cubicBezTo>
                  <a:pt x="-1016" y="60814"/>
                  <a:pt x="15113" y="43098"/>
                  <a:pt x="35941" y="42145"/>
                </a:cubicBezTo>
                <a:cubicBezTo>
                  <a:pt x="38925" y="20111"/>
                  <a:pt x="56451" y="2902"/>
                  <a:pt x="78549" y="299"/>
                </a:cubicBezTo>
                <a:cubicBezTo>
                  <a:pt x="100647" y="-2241"/>
                  <a:pt x="121602" y="10522"/>
                  <a:pt x="129540" y="31350"/>
                </a:cubicBezTo>
                <a:cubicBezTo>
                  <a:pt x="153352" y="32303"/>
                  <a:pt x="171894" y="52432"/>
                  <a:pt x="170879" y="76308"/>
                </a:cubicBezTo>
                <a:cubicBezTo>
                  <a:pt x="169926" y="100184"/>
                  <a:pt x="149796" y="118663"/>
                  <a:pt x="125920" y="117710"/>
                </a:cubicBezTo>
                <a:close/>
              </a:path>
            </a:pathLst>
          </a:custGeom>
          <a:noFill/>
          <a:ln w="1143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left-name"/>
          <p:cNvSpPr txBox="1"/>
          <p:nvPr/>
        </p:nvSpPr>
        <p:spPr>
          <a:xfrm>
            <a:off x="2429002" y="1690275"/>
            <a:ext cx="1346835" cy="3222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50" b="1" spc="100">
                <a:solidFill>
                  <a:srgbClr val="45607F"/>
                </a:solidFill>
                <a:latin typeface="微软雅黑"/>
                <a:ea typeface="微软雅黑"/>
                <a:cs typeface="微软雅黑"/>
              </a:rPr>
              <a:t>传统人工模式</a:t>
            </a:r>
          </a:p>
        </p:txBody>
      </p:sp>
      <p:sp>
        <p:nvSpPr>
          <p:cNvPr id="19" name="left-desc"/>
          <p:cNvSpPr txBox="1"/>
          <p:nvPr/>
        </p:nvSpPr>
        <p:spPr>
          <a:xfrm>
            <a:off x="2437765" y="2034461"/>
            <a:ext cx="13573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7A8EA8"/>
                </a:solidFill>
                <a:latin typeface="微软雅黑"/>
                <a:ea typeface="微软雅黑"/>
                <a:cs typeface="微软雅黑"/>
              </a:rPr>
              <a:t>依赖线下流程与人工核对</a:t>
            </a:r>
          </a:p>
        </p:txBody>
      </p:sp>
      <p:sp>
        <p:nvSpPr>
          <p:cNvPr id="20" name="right-name"/>
          <p:cNvSpPr txBox="1"/>
          <p:nvPr/>
        </p:nvSpPr>
        <p:spPr>
          <a:xfrm>
            <a:off x="7445502" y="1690275"/>
            <a:ext cx="1543685" cy="3222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数字化平台方案</a:t>
            </a:r>
          </a:p>
        </p:txBody>
      </p:sp>
      <p:sp>
        <p:nvSpPr>
          <p:cNvPr id="21" name="right-desc"/>
          <p:cNvSpPr txBox="1"/>
          <p:nvPr/>
        </p:nvSpPr>
        <p:spPr>
          <a:xfrm>
            <a:off x="7454265" y="2034461"/>
            <a:ext cx="14716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C7DAF2"/>
                </a:solidFill>
                <a:latin typeface="微软雅黑"/>
                <a:ea typeface="微软雅黑"/>
                <a:cs typeface="微软雅黑"/>
              </a:rPr>
              <a:t>全流程在线协同与自动核算</a:t>
            </a:r>
          </a:p>
        </p:txBody>
      </p:sp>
      <p:sp>
        <p:nvSpPr>
          <p:cNvPr id="22" name="tag-1"/>
          <p:cNvSpPr/>
          <p:nvPr/>
        </p:nvSpPr>
        <p:spPr>
          <a:xfrm>
            <a:off x="5486400" y="3035300"/>
            <a:ext cx="1219200" cy="304800"/>
          </a:xfrm>
          <a:custGeom>
            <a:avLst/>
            <a:gdLst/>
            <a:ahLst/>
            <a:cxnLst/>
            <a:rect l="0" t="0" r="r" b="b"/>
            <a:pathLst>
              <a:path w="1219200" h="304800">
                <a:moveTo>
                  <a:pt x="152400" y="0"/>
                </a:moveTo>
                <a:lnTo>
                  <a:pt x="1066800" y="0"/>
                </a:lnTo>
                <a:cubicBezTo>
                  <a:pt x="1151001" y="0"/>
                  <a:pt x="1219200" y="68199"/>
                  <a:pt x="1219200" y="152400"/>
                </a:cubicBezTo>
                <a:lnTo>
                  <a:pt x="1219200" y="152400"/>
                </a:lnTo>
                <a:cubicBezTo>
                  <a:pt x="1219200" y="236601"/>
                  <a:pt x="1151001" y="304800"/>
                  <a:pt x="1066800" y="304800"/>
                </a:cubicBezTo>
                <a:lnTo>
                  <a:pt x="152400" y="304800"/>
                </a:lnTo>
                <a:cubicBezTo>
                  <a:pt x="68199" y="304800"/>
                  <a:pt x="0" y="236601"/>
                  <a:pt x="0" y="1524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1B5AA8">
                <a:alpha val="2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tag-t-1"/>
          <p:cNvSpPr txBox="1"/>
          <p:nvPr/>
        </p:nvSpPr>
        <p:spPr>
          <a:xfrm>
            <a:off x="5781358" y="3076797"/>
            <a:ext cx="629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7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处理效率</a:t>
            </a:r>
          </a:p>
        </p:txBody>
      </p:sp>
      <p:sp>
        <p:nvSpPr>
          <p:cNvPr id="24" name="lv-1"/>
          <p:cNvSpPr txBox="1"/>
          <p:nvPr/>
        </p:nvSpPr>
        <p:spPr>
          <a:xfrm>
            <a:off x="2094865" y="2990914"/>
            <a:ext cx="661543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700" b="1" spc="25">
                <a:solidFill>
                  <a:srgbClr val="8FA3BC"/>
                </a:solidFill>
                <a:latin typeface="微软雅黑"/>
                <a:ea typeface="微软雅黑"/>
                <a:cs typeface="微软雅黑"/>
              </a:rPr>
              <a:t>3 天</a:t>
            </a:r>
          </a:p>
        </p:txBody>
      </p:sp>
      <p:sp>
        <p:nvSpPr>
          <p:cNvPr id="25" name="ldot-1"/>
          <p:cNvSpPr/>
          <p:nvPr/>
        </p:nvSpPr>
        <p:spPr>
          <a:xfrm>
            <a:off x="5270500" y="3162300"/>
            <a:ext cx="50800" cy="50800"/>
          </a:xfrm>
          <a:prstGeom prst="ellipse">
            <a:avLst/>
          </a:prstGeom>
          <a:solidFill>
            <a:srgbClr val="A7B8C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l-1"/>
          <p:cNvSpPr txBox="1"/>
          <p:nvPr/>
        </p:nvSpPr>
        <p:spPr>
          <a:xfrm>
            <a:off x="4086670" y="3080718"/>
            <a:ext cx="107092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19" b="0" spc="25">
                <a:solidFill>
                  <a:srgbClr val="7A8EA8"/>
                </a:solidFill>
                <a:latin typeface="微软雅黑"/>
                <a:ea typeface="微软雅黑"/>
                <a:cs typeface="微软雅黑"/>
              </a:rPr>
              <a:t>单据线下逐级流转</a:t>
            </a:r>
          </a:p>
        </p:txBody>
      </p:sp>
      <p:sp>
        <p:nvSpPr>
          <p:cNvPr id="27" name="icon-check"/>
          <p:cNvSpPr/>
          <p:nvPr/>
        </p:nvSpPr>
        <p:spPr>
          <a:xfrm>
            <a:off x="6927406" y="3165602"/>
            <a:ext cx="64389" cy="45212"/>
          </a:xfrm>
          <a:custGeom>
            <a:avLst/>
            <a:gdLst/>
            <a:ahLst/>
            <a:cxnLst/>
            <a:rect l="0" t="0" r="r" b="b"/>
            <a:pathLst>
              <a:path w="64389" h="45212">
                <a:moveTo>
                  <a:pt x="0" y="24130"/>
                </a:moveTo>
                <a:lnTo>
                  <a:pt x="21145" y="45212"/>
                </a:lnTo>
                <a:lnTo>
                  <a:pt x="64389" y="0"/>
                </a:lnTo>
              </a:path>
            </a:pathLst>
          </a:custGeom>
          <a:noFill/>
          <a:ln w="1397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r-1"/>
          <p:cNvSpPr txBox="1"/>
          <p:nvPr/>
        </p:nvSpPr>
        <p:spPr>
          <a:xfrm>
            <a:off x="7110603" y="3080718"/>
            <a:ext cx="107092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在线提交即时闭环</a:t>
            </a:r>
          </a:p>
        </p:txBody>
      </p:sp>
      <p:sp>
        <p:nvSpPr>
          <p:cNvPr id="29" name="rv-1"/>
          <p:cNvSpPr txBox="1"/>
          <p:nvPr/>
        </p:nvSpPr>
        <p:spPr>
          <a:xfrm>
            <a:off x="9435592" y="2990914"/>
            <a:ext cx="785622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30 分</a:t>
            </a:r>
          </a:p>
        </p:txBody>
      </p:sp>
      <p:cxnSp>
        <p:nvCxnSpPr>
          <p:cNvPr id="30" name="ldiv-1"/>
          <p:cNvCxnSpPr/>
          <p:nvPr/>
        </p:nvCxnSpPr>
        <p:spPr>
          <a:xfrm>
            <a:off x="1905000" y="3492500"/>
            <a:ext cx="34925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rdiv-1"/>
          <p:cNvCxnSpPr/>
          <p:nvPr/>
        </p:nvCxnSpPr>
        <p:spPr>
          <a:xfrm>
            <a:off x="6794500" y="3492500"/>
            <a:ext cx="34925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ag-2"/>
          <p:cNvSpPr/>
          <p:nvPr/>
        </p:nvSpPr>
        <p:spPr>
          <a:xfrm>
            <a:off x="5486400" y="3644900"/>
            <a:ext cx="1219200" cy="304800"/>
          </a:xfrm>
          <a:custGeom>
            <a:avLst/>
            <a:gdLst/>
            <a:ahLst/>
            <a:cxnLst/>
            <a:rect l="0" t="0" r="r" b="b"/>
            <a:pathLst>
              <a:path w="1219200" h="304800">
                <a:moveTo>
                  <a:pt x="152400" y="0"/>
                </a:moveTo>
                <a:lnTo>
                  <a:pt x="1066800" y="0"/>
                </a:lnTo>
                <a:cubicBezTo>
                  <a:pt x="1151001" y="0"/>
                  <a:pt x="1219200" y="68199"/>
                  <a:pt x="1219200" y="152400"/>
                </a:cubicBezTo>
                <a:lnTo>
                  <a:pt x="1219200" y="152400"/>
                </a:lnTo>
                <a:cubicBezTo>
                  <a:pt x="1219200" y="236601"/>
                  <a:pt x="1151001" y="304800"/>
                  <a:pt x="1066800" y="304800"/>
                </a:cubicBezTo>
                <a:lnTo>
                  <a:pt x="152400" y="304800"/>
                </a:lnTo>
                <a:cubicBezTo>
                  <a:pt x="68199" y="304800"/>
                  <a:pt x="0" y="236601"/>
                  <a:pt x="0" y="1524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1B5AA8">
                <a:alpha val="2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tag-t-2"/>
          <p:cNvSpPr txBox="1"/>
          <p:nvPr/>
        </p:nvSpPr>
        <p:spPr>
          <a:xfrm>
            <a:off x="5781358" y="3686397"/>
            <a:ext cx="629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7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数据准确</a:t>
            </a:r>
          </a:p>
        </p:txBody>
      </p:sp>
      <p:sp>
        <p:nvSpPr>
          <p:cNvPr id="34" name="lv-2"/>
          <p:cNvSpPr txBox="1"/>
          <p:nvPr/>
        </p:nvSpPr>
        <p:spPr>
          <a:xfrm>
            <a:off x="2189861" y="3600514"/>
            <a:ext cx="566547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700" b="1" spc="25">
                <a:solidFill>
                  <a:srgbClr val="8FA3BC"/>
                </a:solidFill>
                <a:latin typeface="微软雅黑"/>
                <a:ea typeface="微软雅黑"/>
                <a:cs typeface="微软雅黑"/>
              </a:rPr>
              <a:t>92%</a:t>
            </a:r>
          </a:p>
        </p:txBody>
      </p:sp>
      <p:sp>
        <p:nvSpPr>
          <p:cNvPr id="35" name="ldot-2"/>
          <p:cNvSpPr/>
          <p:nvPr/>
        </p:nvSpPr>
        <p:spPr>
          <a:xfrm>
            <a:off x="5270500" y="3771900"/>
            <a:ext cx="50800" cy="50800"/>
          </a:xfrm>
          <a:prstGeom prst="ellipse">
            <a:avLst/>
          </a:prstGeom>
          <a:solidFill>
            <a:srgbClr val="A7B8C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l-2"/>
          <p:cNvSpPr txBox="1"/>
          <p:nvPr/>
        </p:nvSpPr>
        <p:spPr>
          <a:xfrm>
            <a:off x="4086670" y="3690318"/>
            <a:ext cx="107092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19" b="0" spc="25">
                <a:solidFill>
                  <a:srgbClr val="7A8EA8"/>
                </a:solidFill>
                <a:latin typeface="微软雅黑"/>
                <a:ea typeface="微软雅黑"/>
                <a:cs typeface="微软雅黑"/>
              </a:rPr>
              <a:t>多处录入易出偏差</a:t>
            </a:r>
          </a:p>
        </p:txBody>
      </p:sp>
      <p:sp>
        <p:nvSpPr>
          <p:cNvPr id="37" name="icon-check"/>
          <p:cNvSpPr/>
          <p:nvPr/>
        </p:nvSpPr>
        <p:spPr>
          <a:xfrm>
            <a:off x="6927406" y="3775202"/>
            <a:ext cx="64389" cy="45212"/>
          </a:xfrm>
          <a:custGeom>
            <a:avLst/>
            <a:gdLst/>
            <a:ahLst/>
            <a:cxnLst/>
            <a:rect l="0" t="0" r="r" b="b"/>
            <a:pathLst>
              <a:path w="64389" h="45212">
                <a:moveTo>
                  <a:pt x="0" y="24130"/>
                </a:moveTo>
                <a:lnTo>
                  <a:pt x="21145" y="45212"/>
                </a:lnTo>
                <a:lnTo>
                  <a:pt x="64389" y="0"/>
                </a:lnTo>
              </a:path>
            </a:pathLst>
          </a:custGeom>
          <a:noFill/>
          <a:ln w="1397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r-2"/>
          <p:cNvSpPr txBox="1"/>
          <p:nvPr/>
        </p:nvSpPr>
        <p:spPr>
          <a:xfrm>
            <a:off x="7110603" y="3690318"/>
            <a:ext cx="107092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一次录入全链同步</a:t>
            </a:r>
          </a:p>
        </p:txBody>
      </p:sp>
      <p:sp>
        <p:nvSpPr>
          <p:cNvPr id="39" name="rv-2"/>
          <p:cNvSpPr txBox="1"/>
          <p:nvPr/>
        </p:nvSpPr>
        <p:spPr>
          <a:xfrm>
            <a:off x="9435592" y="3600514"/>
            <a:ext cx="814705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99.8%</a:t>
            </a:r>
          </a:p>
        </p:txBody>
      </p:sp>
      <p:cxnSp>
        <p:nvCxnSpPr>
          <p:cNvPr id="40" name="ldiv-2"/>
          <p:cNvCxnSpPr/>
          <p:nvPr/>
        </p:nvCxnSpPr>
        <p:spPr>
          <a:xfrm>
            <a:off x="1905000" y="4102100"/>
            <a:ext cx="34925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rdiv-2"/>
          <p:cNvCxnSpPr/>
          <p:nvPr/>
        </p:nvCxnSpPr>
        <p:spPr>
          <a:xfrm>
            <a:off x="6794500" y="4102100"/>
            <a:ext cx="34925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tag-3"/>
          <p:cNvSpPr/>
          <p:nvPr/>
        </p:nvSpPr>
        <p:spPr>
          <a:xfrm>
            <a:off x="5486400" y="4254500"/>
            <a:ext cx="1219200" cy="304800"/>
          </a:xfrm>
          <a:custGeom>
            <a:avLst/>
            <a:gdLst/>
            <a:ahLst/>
            <a:cxnLst/>
            <a:rect l="0" t="0" r="r" b="b"/>
            <a:pathLst>
              <a:path w="1219200" h="304800">
                <a:moveTo>
                  <a:pt x="152400" y="0"/>
                </a:moveTo>
                <a:lnTo>
                  <a:pt x="1066800" y="0"/>
                </a:lnTo>
                <a:cubicBezTo>
                  <a:pt x="1151001" y="0"/>
                  <a:pt x="1219200" y="68199"/>
                  <a:pt x="1219200" y="152400"/>
                </a:cubicBezTo>
                <a:lnTo>
                  <a:pt x="1219200" y="152400"/>
                </a:lnTo>
                <a:cubicBezTo>
                  <a:pt x="1219200" y="236601"/>
                  <a:pt x="1151001" y="304800"/>
                  <a:pt x="1066800" y="304800"/>
                </a:cubicBezTo>
                <a:lnTo>
                  <a:pt x="152400" y="304800"/>
                </a:lnTo>
                <a:cubicBezTo>
                  <a:pt x="68199" y="304800"/>
                  <a:pt x="0" y="236601"/>
                  <a:pt x="0" y="1524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1B5AA8">
                <a:alpha val="2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tag-t-3"/>
          <p:cNvSpPr txBox="1"/>
          <p:nvPr/>
        </p:nvSpPr>
        <p:spPr>
          <a:xfrm>
            <a:off x="5781358" y="4295997"/>
            <a:ext cx="629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7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成本投入</a:t>
            </a:r>
          </a:p>
        </p:txBody>
      </p:sp>
      <p:sp>
        <p:nvSpPr>
          <p:cNvPr id="44" name="lv-3"/>
          <p:cNvSpPr txBox="1"/>
          <p:nvPr/>
        </p:nvSpPr>
        <p:spPr>
          <a:xfrm>
            <a:off x="2065782" y="4210114"/>
            <a:ext cx="690626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700" b="1" spc="25">
                <a:solidFill>
                  <a:srgbClr val="8FA3BC"/>
                </a:solidFill>
                <a:latin typeface="微软雅黑"/>
                <a:ea typeface="微软雅黑"/>
                <a:cs typeface="微软雅黑"/>
              </a:rPr>
              <a:t>100%</a:t>
            </a:r>
          </a:p>
        </p:txBody>
      </p:sp>
      <p:sp>
        <p:nvSpPr>
          <p:cNvPr id="45" name="ldot-3"/>
          <p:cNvSpPr/>
          <p:nvPr/>
        </p:nvSpPr>
        <p:spPr>
          <a:xfrm>
            <a:off x="5270500" y="4381500"/>
            <a:ext cx="50800" cy="50800"/>
          </a:xfrm>
          <a:prstGeom prst="ellipse">
            <a:avLst/>
          </a:prstGeom>
          <a:solidFill>
            <a:srgbClr val="A7B8C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l-3"/>
          <p:cNvSpPr txBox="1"/>
          <p:nvPr/>
        </p:nvSpPr>
        <p:spPr>
          <a:xfrm>
            <a:off x="4086670" y="4299918"/>
            <a:ext cx="107092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19" b="0" spc="25">
                <a:solidFill>
                  <a:srgbClr val="7A8EA8"/>
                </a:solidFill>
                <a:latin typeface="微软雅黑"/>
                <a:ea typeface="微软雅黑"/>
                <a:cs typeface="微软雅黑"/>
              </a:rPr>
              <a:t>人力成本逐年攀升</a:t>
            </a:r>
          </a:p>
        </p:txBody>
      </p:sp>
      <p:sp>
        <p:nvSpPr>
          <p:cNvPr id="47" name="icon-check"/>
          <p:cNvSpPr/>
          <p:nvPr/>
        </p:nvSpPr>
        <p:spPr>
          <a:xfrm>
            <a:off x="6927406" y="4384802"/>
            <a:ext cx="64389" cy="45212"/>
          </a:xfrm>
          <a:custGeom>
            <a:avLst/>
            <a:gdLst/>
            <a:ahLst/>
            <a:cxnLst/>
            <a:rect l="0" t="0" r="r" b="b"/>
            <a:pathLst>
              <a:path w="64389" h="45212">
                <a:moveTo>
                  <a:pt x="0" y="24130"/>
                </a:moveTo>
                <a:lnTo>
                  <a:pt x="21145" y="45212"/>
                </a:lnTo>
                <a:lnTo>
                  <a:pt x="64389" y="0"/>
                </a:lnTo>
              </a:path>
            </a:pathLst>
          </a:custGeom>
          <a:noFill/>
          <a:ln w="1397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r-3"/>
          <p:cNvSpPr txBox="1"/>
          <p:nvPr/>
        </p:nvSpPr>
        <p:spPr>
          <a:xfrm>
            <a:off x="7110603" y="4299918"/>
            <a:ext cx="1105472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人均产出提升 40%</a:t>
            </a:r>
          </a:p>
        </p:txBody>
      </p:sp>
      <p:sp>
        <p:nvSpPr>
          <p:cNvPr id="49" name="rv-3"/>
          <p:cNvSpPr txBox="1"/>
          <p:nvPr/>
        </p:nvSpPr>
        <p:spPr>
          <a:xfrm>
            <a:off x="9435592" y="4210114"/>
            <a:ext cx="566547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68%</a:t>
            </a:r>
          </a:p>
        </p:txBody>
      </p:sp>
      <p:cxnSp>
        <p:nvCxnSpPr>
          <p:cNvPr id="50" name="ldiv-3"/>
          <p:cNvCxnSpPr/>
          <p:nvPr/>
        </p:nvCxnSpPr>
        <p:spPr>
          <a:xfrm>
            <a:off x="1905000" y="4711700"/>
            <a:ext cx="34925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rdiv-3"/>
          <p:cNvCxnSpPr/>
          <p:nvPr/>
        </p:nvCxnSpPr>
        <p:spPr>
          <a:xfrm>
            <a:off x="6794500" y="4711700"/>
            <a:ext cx="34925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tag-4"/>
          <p:cNvSpPr/>
          <p:nvPr/>
        </p:nvSpPr>
        <p:spPr>
          <a:xfrm>
            <a:off x="5486400" y="4864100"/>
            <a:ext cx="1219200" cy="304800"/>
          </a:xfrm>
          <a:custGeom>
            <a:avLst/>
            <a:gdLst/>
            <a:ahLst/>
            <a:cxnLst/>
            <a:rect l="0" t="0" r="r" b="b"/>
            <a:pathLst>
              <a:path w="1219200" h="304800">
                <a:moveTo>
                  <a:pt x="152400" y="0"/>
                </a:moveTo>
                <a:lnTo>
                  <a:pt x="1066800" y="0"/>
                </a:lnTo>
                <a:cubicBezTo>
                  <a:pt x="1151001" y="0"/>
                  <a:pt x="1219200" y="68199"/>
                  <a:pt x="1219200" y="152400"/>
                </a:cubicBezTo>
                <a:lnTo>
                  <a:pt x="1219200" y="152400"/>
                </a:lnTo>
                <a:cubicBezTo>
                  <a:pt x="1219200" y="236601"/>
                  <a:pt x="1151001" y="304800"/>
                  <a:pt x="1066800" y="304800"/>
                </a:cubicBezTo>
                <a:lnTo>
                  <a:pt x="152400" y="304800"/>
                </a:lnTo>
                <a:cubicBezTo>
                  <a:pt x="68199" y="304800"/>
                  <a:pt x="0" y="236601"/>
                  <a:pt x="0" y="1524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FFFFFF"/>
          </a:solidFill>
          <a:ln w="6350" cap="rnd">
            <a:solidFill>
              <a:srgbClr val="1B5AA8">
                <a:alpha val="20000"/>
              </a:srgbClr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tag-t-4"/>
          <p:cNvSpPr txBox="1"/>
          <p:nvPr/>
        </p:nvSpPr>
        <p:spPr>
          <a:xfrm>
            <a:off x="5781358" y="4905597"/>
            <a:ext cx="629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7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管理决策</a:t>
            </a:r>
          </a:p>
        </p:txBody>
      </p:sp>
      <p:sp>
        <p:nvSpPr>
          <p:cNvPr id="54" name="lv-4"/>
          <p:cNvSpPr txBox="1"/>
          <p:nvPr/>
        </p:nvSpPr>
        <p:spPr>
          <a:xfrm>
            <a:off x="2123948" y="4819714"/>
            <a:ext cx="632460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700" b="1" spc="25">
                <a:solidFill>
                  <a:srgbClr val="8FA3BC"/>
                </a:solidFill>
                <a:latin typeface="微软雅黑"/>
                <a:ea typeface="微软雅黑"/>
                <a:cs typeface="微软雅黑"/>
              </a:rPr>
              <a:t>月度</a:t>
            </a:r>
          </a:p>
        </p:txBody>
      </p:sp>
      <p:sp>
        <p:nvSpPr>
          <p:cNvPr id="55" name="ldot-4"/>
          <p:cNvSpPr/>
          <p:nvPr/>
        </p:nvSpPr>
        <p:spPr>
          <a:xfrm>
            <a:off x="5270500" y="4991100"/>
            <a:ext cx="50800" cy="50800"/>
          </a:xfrm>
          <a:prstGeom prst="ellipse">
            <a:avLst/>
          </a:prstGeom>
          <a:solidFill>
            <a:srgbClr val="A7B8C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l-4"/>
          <p:cNvSpPr txBox="1"/>
          <p:nvPr/>
        </p:nvSpPr>
        <p:spPr>
          <a:xfrm>
            <a:off x="4086670" y="4909518"/>
            <a:ext cx="107092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19" b="0" spc="25">
                <a:solidFill>
                  <a:srgbClr val="7A8EA8"/>
                </a:solidFill>
                <a:latin typeface="微软雅黑"/>
                <a:ea typeface="微软雅黑"/>
                <a:cs typeface="微软雅黑"/>
              </a:rPr>
              <a:t>月底才能看到结果</a:t>
            </a:r>
          </a:p>
        </p:txBody>
      </p:sp>
      <p:sp>
        <p:nvSpPr>
          <p:cNvPr id="57" name="icon-check"/>
          <p:cNvSpPr/>
          <p:nvPr/>
        </p:nvSpPr>
        <p:spPr>
          <a:xfrm>
            <a:off x="6927406" y="4994402"/>
            <a:ext cx="64389" cy="45212"/>
          </a:xfrm>
          <a:custGeom>
            <a:avLst/>
            <a:gdLst/>
            <a:ahLst/>
            <a:cxnLst/>
            <a:rect l="0" t="0" r="r" b="b"/>
            <a:pathLst>
              <a:path w="64389" h="45212">
                <a:moveTo>
                  <a:pt x="0" y="24130"/>
                </a:moveTo>
                <a:lnTo>
                  <a:pt x="21145" y="45212"/>
                </a:lnTo>
                <a:lnTo>
                  <a:pt x="64389" y="0"/>
                </a:lnTo>
              </a:path>
            </a:pathLst>
          </a:custGeom>
          <a:noFill/>
          <a:ln w="1397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r-4"/>
          <p:cNvSpPr txBox="1"/>
          <p:nvPr/>
        </p:nvSpPr>
        <p:spPr>
          <a:xfrm>
            <a:off x="7110603" y="4909518"/>
            <a:ext cx="107092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经营数据随时可视</a:t>
            </a:r>
          </a:p>
        </p:txBody>
      </p:sp>
      <p:sp>
        <p:nvSpPr>
          <p:cNvPr id="59" name="rv-4"/>
          <p:cNvSpPr txBox="1"/>
          <p:nvPr/>
        </p:nvSpPr>
        <p:spPr>
          <a:xfrm>
            <a:off x="9435592" y="4819714"/>
            <a:ext cx="632460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实时</a:t>
            </a:r>
          </a:p>
        </p:txBody>
      </p:sp>
      <p:sp>
        <p:nvSpPr>
          <p:cNvPr id="60" name="sum-panel"/>
          <p:cNvSpPr/>
          <p:nvPr/>
        </p:nvSpPr>
        <p:spPr>
          <a:xfrm>
            <a:off x="1524000" y="5575300"/>
            <a:ext cx="9144000" cy="635000"/>
          </a:xfrm>
          <a:custGeom>
            <a:avLst/>
            <a:gdLst/>
            <a:ahLst/>
            <a:cxnLst/>
            <a:rect l="0" t="0" r="r" b="b"/>
            <a:pathLst>
              <a:path w="9144000" h="635000">
                <a:moveTo>
                  <a:pt x="114300" y="0"/>
                </a:moveTo>
                <a:lnTo>
                  <a:pt x="9029700" y="0"/>
                </a:lnTo>
                <a:cubicBezTo>
                  <a:pt x="9092819" y="0"/>
                  <a:pt x="9144000" y="51181"/>
                  <a:pt x="9144000" y="114300"/>
                </a:cubicBezTo>
                <a:lnTo>
                  <a:pt x="9144000" y="520700"/>
                </a:lnTo>
                <a:cubicBezTo>
                  <a:pt x="9144000" y="583819"/>
                  <a:pt x="9092819" y="635000"/>
                  <a:pt x="9029700" y="635000"/>
                </a:cubicBezTo>
                <a:lnTo>
                  <a:pt x="114300" y="635000"/>
                </a:lnTo>
                <a:cubicBezTo>
                  <a:pt x="51181" y="635000"/>
                  <a:pt x="0" y="583819"/>
                  <a:pt x="0" y="520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sum-bar"/>
          <p:cNvSpPr/>
          <p:nvPr/>
        </p:nvSpPr>
        <p:spPr>
          <a:xfrm>
            <a:off x="1524000" y="5575300"/>
            <a:ext cx="38100" cy="635000"/>
          </a:xfrm>
          <a:custGeom>
            <a:avLst/>
            <a:gdLst/>
            <a:ahLst/>
            <a:cxnLst/>
            <a:rect l="0" t="0" r="r" b="b"/>
            <a:pathLst>
              <a:path w="38100" h="635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15950"/>
                </a:lnTo>
                <a:cubicBezTo>
                  <a:pt x="38100" y="626491"/>
                  <a:pt x="29591" y="635000"/>
                  <a:pt x="19050" y="635000"/>
                </a:cubicBezTo>
                <a:lnTo>
                  <a:pt x="19050" y="635000"/>
                </a:lnTo>
                <a:cubicBezTo>
                  <a:pt x="8509" y="635000"/>
                  <a:pt x="0" y="626491"/>
                  <a:pt x="0" y="615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sum-title"/>
          <p:cNvSpPr txBox="1"/>
          <p:nvPr/>
        </p:nvSpPr>
        <p:spPr>
          <a:xfrm>
            <a:off x="1774698" y="5791613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综合结论</a:t>
            </a:r>
          </a:p>
        </p:txBody>
      </p:sp>
      <p:cxnSp>
        <p:nvCxnSpPr>
          <p:cNvPr id="63" name="sum-div"/>
          <p:cNvCxnSpPr/>
          <p:nvPr/>
        </p:nvCxnSpPr>
        <p:spPr>
          <a:xfrm>
            <a:off x="2667000" y="5753100"/>
            <a:ext cx="0" cy="279400"/>
          </a:xfrm>
          <a:prstGeom prst="line">
            <a:avLst/>
          </a:prstGeom>
          <a:ln w="635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sum-text"/>
          <p:cNvSpPr txBox="1"/>
          <p:nvPr/>
        </p:nvSpPr>
        <p:spPr>
          <a:xfrm>
            <a:off x="2881884" y="5815140"/>
            <a:ext cx="4332351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在相同业务量下，数字化方案的综合运营成本下降 32%，决策响应速度提升 6 倍</a:t>
            </a:r>
          </a:p>
        </p:txBody>
      </p:sp>
      <p:cxnSp>
        <p:nvCxnSpPr>
          <p:cNvPr id="65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方案对比 · 四维度评估</a:t>
            </a:r>
          </a:p>
        </p:txBody>
      </p:sp>
      <p:sp>
        <p:nvSpPr>
          <p:cNvPr id="67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7998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SWOT 战略分析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2637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SWOT ANALYSIS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237599" y="673132"/>
            <a:ext cx="23831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内外部四个维度，识别优势与风险并匹配对策</a:t>
            </a:r>
          </a:p>
        </p:txBody>
      </p:sp>
      <p:sp>
        <p:nvSpPr>
          <p:cNvPr id="10" name="ax-1"/>
          <p:cNvSpPr txBox="1"/>
          <p:nvPr/>
        </p:nvSpPr>
        <p:spPr>
          <a:xfrm>
            <a:off x="5345049" y="11493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10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积极因素</a:t>
            </a:r>
          </a:p>
        </p:txBody>
      </p:sp>
      <p:sp>
        <p:nvSpPr>
          <p:cNvPr id="11" name="ax-2"/>
          <p:cNvSpPr txBox="1"/>
          <p:nvPr/>
        </p:nvSpPr>
        <p:spPr>
          <a:xfrm>
            <a:off x="6178296" y="11493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消极因素</a:t>
            </a:r>
          </a:p>
        </p:txBody>
      </p:sp>
      <p:sp>
        <p:nvSpPr>
          <p:cNvPr id="12" name="ax-dot"/>
          <p:cNvSpPr/>
          <p:nvPr/>
        </p:nvSpPr>
        <p:spPr>
          <a:xfrm>
            <a:off x="6026150" y="1219200"/>
            <a:ext cx="50800" cy="50800"/>
          </a:xfrm>
          <a:prstGeom prst="ellipse">
            <a:avLst/>
          </a:prstGeom>
          <a:solidFill>
            <a:srgbClr val="0B2545">
              <a:alpha val="2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ax-3"/>
          <p:cNvSpPr txBox="1"/>
          <p:nvPr/>
        </p:nvSpPr>
        <p:spPr>
          <a:xfrm>
            <a:off x="11278108" y="2287524"/>
            <a:ext cx="3200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内部</a:t>
            </a:r>
          </a:p>
        </p:txBody>
      </p:sp>
      <p:sp>
        <p:nvSpPr>
          <p:cNvPr id="14" name="ax-4"/>
          <p:cNvSpPr txBox="1"/>
          <p:nvPr/>
        </p:nvSpPr>
        <p:spPr>
          <a:xfrm>
            <a:off x="11278108" y="4306824"/>
            <a:ext cx="3200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外部</a:t>
            </a:r>
          </a:p>
        </p:txBody>
      </p:sp>
      <p:cxnSp>
        <p:nvCxnSpPr>
          <p:cNvPr id="15" name="ax-v"/>
          <p:cNvCxnSpPr/>
          <p:nvPr/>
        </p:nvCxnSpPr>
        <p:spPr>
          <a:xfrm>
            <a:off x="6051550" y="1358900"/>
            <a:ext cx="0" cy="3962400"/>
          </a:xfrm>
          <a:prstGeom prst="line">
            <a:avLst/>
          </a:prstGeom>
          <a:ln w="6350" cap="rnd">
            <a:solidFill>
              <a:srgbClr val="0B2545">
                <a:alpha val="14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ax-h"/>
          <p:cNvCxnSpPr/>
          <p:nvPr/>
        </p:nvCxnSpPr>
        <p:spPr>
          <a:xfrm>
            <a:off x="863600" y="3384550"/>
            <a:ext cx="10375900" cy="0"/>
          </a:xfrm>
          <a:prstGeom prst="line">
            <a:avLst/>
          </a:prstGeom>
          <a:ln w="6350" cap="rnd">
            <a:solidFill>
              <a:srgbClr val="0B2545">
                <a:alpha val="14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cell-S"/>
          <p:cNvSpPr/>
          <p:nvPr/>
        </p:nvSpPr>
        <p:spPr>
          <a:xfrm>
            <a:off x="952500" y="1447800"/>
            <a:ext cx="5016500" cy="1854200"/>
          </a:xfrm>
          <a:custGeom>
            <a:avLst/>
            <a:gdLst/>
            <a:ahLst/>
            <a:cxnLst/>
            <a:rect l="0" t="0" r="r" b="b"/>
            <a:pathLst>
              <a:path w="5016500" h="1854200">
                <a:moveTo>
                  <a:pt x="127000" y="0"/>
                </a:moveTo>
                <a:lnTo>
                  <a:pt x="4889500" y="0"/>
                </a:lnTo>
                <a:cubicBezTo>
                  <a:pt x="4959668" y="0"/>
                  <a:pt x="5016500" y="56832"/>
                  <a:pt x="5016500" y="127000"/>
                </a:cubicBezTo>
                <a:lnTo>
                  <a:pt x="5016500" y="1727200"/>
                </a:lnTo>
                <a:cubicBezTo>
                  <a:pt x="5016500" y="1797368"/>
                  <a:pt x="4959668" y="1854200"/>
                  <a:pt x="4889500" y="1854200"/>
                </a:cubicBezTo>
                <a:lnTo>
                  <a:pt x="127000" y="1854200"/>
                </a:lnTo>
                <a:cubicBezTo>
                  <a:pt x="56832" y="1854200"/>
                  <a:pt x="0" y="1797368"/>
                  <a:pt x="0" y="1727200"/>
                </a:cubicBezTo>
                <a:lnTo>
                  <a:pt x="0" y="127000"/>
                </a:lnTo>
                <a:cubicBezTo>
                  <a:pt x="0" y="56832"/>
                  <a:pt x="56832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134C9C"/>
              </a:gs>
              <a:gs pos="100000">
                <a:srgbClr val="0B3E8F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wm-S"/>
          <p:cNvSpPr txBox="1"/>
          <p:nvPr/>
        </p:nvSpPr>
        <p:spPr>
          <a:xfrm>
            <a:off x="4868164" y="1406906"/>
            <a:ext cx="964184" cy="1155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5200" b="1">
                <a:solidFill>
                  <a:srgbClr val="FFFFFF">
                    <a:alpha val="18000"/>
                  </a:srgbClr>
                </a:solidFill>
                <a:latin typeface="Arial"/>
                <a:ea typeface="Arial"/>
                <a:cs typeface="Arial"/>
              </a:rPr>
              <a:t>S</a:t>
            </a:r>
          </a:p>
        </p:txBody>
      </p:sp>
      <p:sp>
        <p:nvSpPr>
          <p:cNvPr id="19" name="icon-shield"/>
          <p:cNvSpPr/>
          <p:nvPr/>
        </p:nvSpPr>
        <p:spPr>
          <a:xfrm>
            <a:off x="1187450" y="1709738"/>
            <a:ext cx="114300" cy="136525"/>
          </a:xfrm>
          <a:custGeom>
            <a:avLst/>
            <a:gdLst/>
            <a:ahLst/>
            <a:cxnLst/>
            <a:rect l="0" t="0" r="r" b="b"/>
            <a:pathLst>
              <a:path w="114300" h="136525">
                <a:moveTo>
                  <a:pt x="57150" y="0"/>
                </a:moveTo>
                <a:lnTo>
                  <a:pt x="114300" y="22225"/>
                </a:lnTo>
                <a:lnTo>
                  <a:pt x="114300" y="66675"/>
                </a:lnTo>
                <a:cubicBezTo>
                  <a:pt x="114300" y="100012"/>
                  <a:pt x="90488" y="125412"/>
                  <a:pt x="57150" y="136525"/>
                </a:cubicBezTo>
                <a:cubicBezTo>
                  <a:pt x="23812" y="125412"/>
                  <a:pt x="0" y="100012"/>
                  <a:pt x="0" y="66675"/>
                </a:cubicBezTo>
                <a:lnTo>
                  <a:pt x="0" y="22225"/>
                </a:lnTo>
                <a:close/>
                <a:moveTo>
                  <a:pt x="33338" y="68262"/>
                </a:moveTo>
                <a:lnTo>
                  <a:pt x="50800" y="85725"/>
                </a:lnTo>
                <a:lnTo>
                  <a:pt x="84138" y="52388"/>
                </a:lnTo>
              </a:path>
            </a:pathLst>
          </a:custGeom>
          <a:noFill/>
          <a:ln w="1206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cn-S"/>
          <p:cNvSpPr txBox="1"/>
          <p:nvPr/>
        </p:nvSpPr>
        <p:spPr>
          <a:xfrm>
            <a:off x="1453388" y="1523302"/>
            <a:ext cx="8724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内部优势</a:t>
            </a:r>
          </a:p>
        </p:txBody>
      </p:sp>
      <p:sp>
        <p:nvSpPr>
          <p:cNvPr id="21" name="en-S"/>
          <p:cNvSpPr txBox="1"/>
          <p:nvPr/>
        </p:nvSpPr>
        <p:spPr>
          <a:xfrm>
            <a:off x="1462532" y="1782508"/>
            <a:ext cx="69951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FFFFFF">
                    <a:alpha val="60000"/>
                  </a:srgbClr>
                </a:solidFill>
                <a:latin typeface="Arial"/>
                <a:ea typeface="Arial"/>
                <a:cs typeface="Arial"/>
              </a:rPr>
              <a:t>STRENGTHS</a:t>
            </a:r>
          </a:p>
        </p:txBody>
      </p:sp>
      <p:sp>
        <p:nvSpPr>
          <p:cNvPr id="22" name="rule-S"/>
          <p:cNvSpPr/>
          <p:nvPr/>
        </p:nvSpPr>
        <p:spPr>
          <a:xfrm>
            <a:off x="1244600" y="2044700"/>
            <a:ext cx="304800" cy="1524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d-S-1"/>
          <p:cNvSpPr/>
          <p:nvPr/>
        </p:nvSpPr>
        <p:spPr>
          <a:xfrm>
            <a:off x="1261110" y="2277110"/>
            <a:ext cx="43180" cy="43180"/>
          </a:xfrm>
          <a:prstGeom prst="ellipse">
            <a:avLst/>
          </a:prstGeom>
          <a:solidFill>
            <a:srgbClr val="FFFFF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p-S-1"/>
          <p:cNvSpPr txBox="1"/>
          <p:nvPr/>
        </p:nvSpPr>
        <p:spPr>
          <a:xfrm>
            <a:off x="1383665" y="2199561"/>
            <a:ext cx="149574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5000"/>
                  </a:srgbClr>
                </a:solidFill>
                <a:latin typeface="微软雅黑"/>
                <a:ea typeface="微软雅黑"/>
                <a:cs typeface="微软雅黑"/>
              </a:rPr>
              <a:t>自研技术壁垒，专利 86 项</a:t>
            </a:r>
          </a:p>
        </p:txBody>
      </p:sp>
      <p:sp>
        <p:nvSpPr>
          <p:cNvPr id="25" name="d-S-2"/>
          <p:cNvSpPr/>
          <p:nvPr/>
        </p:nvSpPr>
        <p:spPr>
          <a:xfrm>
            <a:off x="1261110" y="2569210"/>
            <a:ext cx="43180" cy="43180"/>
          </a:xfrm>
          <a:prstGeom prst="ellipse">
            <a:avLst/>
          </a:prstGeom>
          <a:solidFill>
            <a:srgbClr val="FFFFF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p-S-2"/>
          <p:cNvSpPr txBox="1"/>
          <p:nvPr/>
        </p:nvSpPr>
        <p:spPr>
          <a:xfrm>
            <a:off x="1383665" y="2491661"/>
            <a:ext cx="160940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5000"/>
                  </a:srgbClr>
                </a:solidFill>
                <a:latin typeface="微软雅黑"/>
                <a:ea typeface="微软雅黑"/>
                <a:cs typeface="微软雅黑"/>
              </a:rPr>
              <a:t>渠道覆盖 28 省，网点超千家</a:t>
            </a:r>
          </a:p>
        </p:txBody>
      </p:sp>
      <p:sp>
        <p:nvSpPr>
          <p:cNvPr id="27" name="d-S-3"/>
          <p:cNvSpPr/>
          <p:nvPr/>
        </p:nvSpPr>
        <p:spPr>
          <a:xfrm>
            <a:off x="1261110" y="2861310"/>
            <a:ext cx="43180" cy="43180"/>
          </a:xfrm>
          <a:prstGeom prst="ellipse">
            <a:avLst/>
          </a:prstGeom>
          <a:solidFill>
            <a:srgbClr val="FFFFF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p-S-3"/>
          <p:cNvSpPr txBox="1"/>
          <p:nvPr/>
        </p:nvSpPr>
        <p:spPr>
          <a:xfrm>
            <a:off x="1383665" y="2783761"/>
            <a:ext cx="156051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5000"/>
                  </a:srgbClr>
                </a:solidFill>
                <a:latin typeface="微软雅黑"/>
                <a:ea typeface="微软雅黑"/>
                <a:cs typeface="微软雅黑"/>
              </a:rPr>
              <a:t>核心团队稳定，司龄 6.2 年</a:t>
            </a:r>
          </a:p>
        </p:txBody>
      </p:sp>
      <p:sp>
        <p:nvSpPr>
          <p:cNvPr id="29" name="cell-W"/>
          <p:cNvSpPr/>
          <p:nvPr/>
        </p:nvSpPr>
        <p:spPr>
          <a:xfrm>
            <a:off x="6134100" y="1447800"/>
            <a:ext cx="5016500" cy="1854200"/>
          </a:xfrm>
          <a:custGeom>
            <a:avLst/>
            <a:gdLst/>
            <a:ahLst/>
            <a:cxnLst/>
            <a:rect l="0" t="0" r="r" b="b"/>
            <a:pathLst>
              <a:path w="5016500" h="1854200">
                <a:moveTo>
                  <a:pt x="127000" y="0"/>
                </a:moveTo>
                <a:lnTo>
                  <a:pt x="4889500" y="0"/>
                </a:lnTo>
                <a:cubicBezTo>
                  <a:pt x="4959668" y="0"/>
                  <a:pt x="5016500" y="56832"/>
                  <a:pt x="5016500" y="127000"/>
                </a:cubicBezTo>
                <a:lnTo>
                  <a:pt x="5016500" y="1727200"/>
                </a:lnTo>
                <a:cubicBezTo>
                  <a:pt x="5016500" y="1797368"/>
                  <a:pt x="4959668" y="1854200"/>
                  <a:pt x="4889500" y="1854200"/>
                </a:cubicBezTo>
                <a:lnTo>
                  <a:pt x="127000" y="1854200"/>
                </a:lnTo>
                <a:cubicBezTo>
                  <a:pt x="56833" y="1854200"/>
                  <a:pt x="0" y="1797368"/>
                  <a:pt x="0" y="17272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E7EDF5"/>
              </a:gs>
              <a:gs pos="100000">
                <a:srgbClr val="DDE5F0"/>
              </a:gs>
            </a:gsLst>
            <a:lin ang="744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wm-W"/>
          <p:cNvSpPr txBox="1"/>
          <p:nvPr/>
        </p:nvSpPr>
        <p:spPr>
          <a:xfrm>
            <a:off x="10049764" y="1406906"/>
            <a:ext cx="964184" cy="1155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5200" b="1">
                <a:solidFill>
                  <a:srgbClr val="9FB2C9">
                    <a:alpha val="34000"/>
                  </a:srgbClr>
                </a:solidFill>
                <a:latin typeface="Arial"/>
                <a:ea typeface="Arial"/>
                <a:cs typeface="Arial"/>
              </a:rPr>
              <a:t>W</a:t>
            </a:r>
          </a:p>
        </p:txBody>
      </p:sp>
      <p:sp>
        <p:nvSpPr>
          <p:cNvPr id="31" name="icon-search"/>
          <p:cNvSpPr/>
          <p:nvPr/>
        </p:nvSpPr>
        <p:spPr>
          <a:xfrm>
            <a:off x="6453188" y="1804988"/>
            <a:ext cx="31750" cy="31750"/>
          </a:xfrm>
          <a:custGeom>
            <a:avLst/>
            <a:gdLst/>
            <a:ahLst/>
            <a:cxnLst/>
            <a:rect l="0" t="0" r="r" b="b"/>
            <a:pathLst>
              <a:path w="31750" h="31750">
                <a:moveTo>
                  <a:pt x="31750" y="31750"/>
                </a:moveTo>
                <a:lnTo>
                  <a:pt x="0" y="0"/>
                </a:lnTo>
              </a:path>
            </a:pathLst>
          </a:custGeom>
          <a:noFill/>
          <a:ln w="12065" cap="rnd">
            <a:solidFill>
              <a:srgbClr val="41587A">
                <a:alpha val="8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icon-search"/>
          <p:cNvSpPr/>
          <p:nvPr/>
        </p:nvSpPr>
        <p:spPr>
          <a:xfrm>
            <a:off x="6367462" y="1719262"/>
            <a:ext cx="101600" cy="101600"/>
          </a:xfrm>
          <a:prstGeom prst="ellipse">
            <a:avLst/>
          </a:prstGeom>
          <a:noFill/>
          <a:ln w="12065" cap="rnd">
            <a:solidFill>
              <a:srgbClr val="41587A">
                <a:alpha val="8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cn-W"/>
          <p:cNvSpPr txBox="1"/>
          <p:nvPr/>
        </p:nvSpPr>
        <p:spPr>
          <a:xfrm>
            <a:off x="6634988" y="1523302"/>
            <a:ext cx="8724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25">
                <a:solidFill>
                  <a:srgbClr val="41587A"/>
                </a:solidFill>
                <a:latin typeface="微软雅黑"/>
                <a:ea typeface="微软雅黑"/>
                <a:cs typeface="微软雅黑"/>
              </a:rPr>
              <a:t>内部劣势</a:t>
            </a:r>
          </a:p>
        </p:txBody>
      </p:sp>
      <p:sp>
        <p:nvSpPr>
          <p:cNvPr id="34" name="en-W"/>
          <p:cNvSpPr txBox="1"/>
          <p:nvPr/>
        </p:nvSpPr>
        <p:spPr>
          <a:xfrm>
            <a:off x="6644132" y="1782508"/>
            <a:ext cx="76835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41587A">
                    <a:alpha val="60000"/>
                  </a:srgbClr>
                </a:solidFill>
                <a:latin typeface="Arial"/>
                <a:ea typeface="Arial"/>
                <a:cs typeface="Arial"/>
              </a:rPr>
              <a:t>WEAKNESSES</a:t>
            </a:r>
          </a:p>
        </p:txBody>
      </p:sp>
      <p:sp>
        <p:nvSpPr>
          <p:cNvPr id="35" name="rule-W"/>
          <p:cNvSpPr/>
          <p:nvPr/>
        </p:nvSpPr>
        <p:spPr>
          <a:xfrm>
            <a:off x="6426200" y="2044700"/>
            <a:ext cx="304800" cy="15240"/>
          </a:xfrm>
          <a:prstGeom prst="roundRect">
            <a:avLst>
              <a:gd name="adj" fmla="val 50000"/>
            </a:avLst>
          </a:prstGeom>
          <a:solidFill>
            <a:srgbClr val="41587A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d-W-1"/>
          <p:cNvSpPr/>
          <p:nvPr/>
        </p:nvSpPr>
        <p:spPr>
          <a:xfrm>
            <a:off x="6442710" y="2277110"/>
            <a:ext cx="43180" cy="43180"/>
          </a:xfrm>
          <a:prstGeom prst="ellipse">
            <a:avLst/>
          </a:prstGeom>
          <a:solidFill>
            <a:srgbClr val="41587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p-W-1"/>
          <p:cNvSpPr txBox="1"/>
          <p:nvPr/>
        </p:nvSpPr>
        <p:spPr>
          <a:xfrm>
            <a:off x="6565265" y="21995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41587A">
                    <a:alpha val="85000"/>
                  </a:srgbClr>
                </a:solidFill>
                <a:latin typeface="微软雅黑"/>
                <a:ea typeface="微软雅黑"/>
                <a:cs typeface="微软雅黑"/>
              </a:rPr>
              <a:t>海外市场经验不足</a:t>
            </a:r>
          </a:p>
        </p:txBody>
      </p:sp>
      <p:sp>
        <p:nvSpPr>
          <p:cNvPr id="38" name="d-W-2"/>
          <p:cNvSpPr/>
          <p:nvPr/>
        </p:nvSpPr>
        <p:spPr>
          <a:xfrm>
            <a:off x="6442710" y="2569210"/>
            <a:ext cx="43180" cy="43180"/>
          </a:xfrm>
          <a:prstGeom prst="ellipse">
            <a:avLst/>
          </a:prstGeom>
          <a:solidFill>
            <a:srgbClr val="41587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p-W-2"/>
          <p:cNvSpPr txBox="1"/>
          <p:nvPr/>
        </p:nvSpPr>
        <p:spPr>
          <a:xfrm>
            <a:off x="6565265" y="2491661"/>
            <a:ext cx="12366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41587A">
                    <a:alpha val="85000"/>
                  </a:srgbClr>
                </a:solidFill>
                <a:latin typeface="微软雅黑"/>
                <a:ea typeface="微软雅黑"/>
                <a:cs typeface="微软雅黑"/>
              </a:rPr>
              <a:t>高端产线产能仍有缺口</a:t>
            </a:r>
          </a:p>
        </p:txBody>
      </p:sp>
      <p:sp>
        <p:nvSpPr>
          <p:cNvPr id="40" name="d-W-3"/>
          <p:cNvSpPr/>
          <p:nvPr/>
        </p:nvSpPr>
        <p:spPr>
          <a:xfrm>
            <a:off x="6442710" y="2861310"/>
            <a:ext cx="43180" cy="43180"/>
          </a:xfrm>
          <a:prstGeom prst="ellipse">
            <a:avLst/>
          </a:prstGeom>
          <a:solidFill>
            <a:srgbClr val="41587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p-W-3"/>
          <p:cNvSpPr txBox="1"/>
          <p:nvPr/>
        </p:nvSpPr>
        <p:spPr>
          <a:xfrm>
            <a:off x="6565265" y="2783761"/>
            <a:ext cx="135032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41587A">
                    <a:alpha val="85000"/>
                  </a:srgbClr>
                </a:solidFill>
                <a:latin typeface="微软雅黑"/>
                <a:ea typeface="微软雅黑"/>
                <a:cs typeface="微软雅黑"/>
              </a:rPr>
              <a:t>品牌认知集中在华东地区</a:t>
            </a:r>
          </a:p>
        </p:txBody>
      </p:sp>
      <p:sp>
        <p:nvSpPr>
          <p:cNvPr id="42" name="cell-O"/>
          <p:cNvSpPr/>
          <p:nvPr/>
        </p:nvSpPr>
        <p:spPr>
          <a:xfrm>
            <a:off x="952500" y="3467100"/>
            <a:ext cx="5016500" cy="1854200"/>
          </a:xfrm>
          <a:custGeom>
            <a:avLst/>
            <a:gdLst/>
            <a:ahLst/>
            <a:cxnLst/>
            <a:rect l="0" t="0" r="r" b="b"/>
            <a:pathLst>
              <a:path w="5016500" h="1854200">
                <a:moveTo>
                  <a:pt x="127000" y="0"/>
                </a:moveTo>
                <a:lnTo>
                  <a:pt x="4889500" y="0"/>
                </a:lnTo>
                <a:cubicBezTo>
                  <a:pt x="4959668" y="0"/>
                  <a:pt x="5016500" y="56833"/>
                  <a:pt x="5016500" y="127000"/>
                </a:cubicBezTo>
                <a:lnTo>
                  <a:pt x="5016500" y="1727200"/>
                </a:lnTo>
                <a:cubicBezTo>
                  <a:pt x="5016500" y="1797367"/>
                  <a:pt x="4959668" y="1854200"/>
                  <a:pt x="4889500" y="1854200"/>
                </a:cubicBezTo>
                <a:lnTo>
                  <a:pt x="127000" y="1854200"/>
                </a:lnTo>
                <a:cubicBezTo>
                  <a:pt x="56832" y="1854200"/>
                  <a:pt x="0" y="1797367"/>
                  <a:pt x="0" y="1727200"/>
                </a:cubicBezTo>
                <a:lnTo>
                  <a:pt x="0" y="127000"/>
                </a:lnTo>
                <a:cubicBezTo>
                  <a:pt x="0" y="56833"/>
                  <a:pt x="56832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2E77C2"/>
              </a:gs>
              <a:gs pos="100000">
                <a:srgbClr val="1B5AA8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wm-O"/>
          <p:cNvSpPr txBox="1"/>
          <p:nvPr/>
        </p:nvSpPr>
        <p:spPr>
          <a:xfrm>
            <a:off x="4868164" y="3426206"/>
            <a:ext cx="964184" cy="1155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5200" b="1">
                <a:solidFill>
                  <a:srgbClr val="FFFFFF">
                    <a:alpha val="18000"/>
                  </a:srgbClr>
                </a:solidFill>
                <a:latin typeface="Arial"/>
                <a:ea typeface="Arial"/>
                <a:cs typeface="Arial"/>
              </a:rPr>
              <a:t>O</a:t>
            </a:r>
          </a:p>
        </p:txBody>
      </p:sp>
      <p:sp>
        <p:nvSpPr>
          <p:cNvPr id="44" name="icon-rocket"/>
          <p:cNvSpPr/>
          <p:nvPr/>
        </p:nvSpPr>
        <p:spPr>
          <a:xfrm>
            <a:off x="1192212" y="3727450"/>
            <a:ext cx="104775" cy="131762"/>
          </a:xfrm>
          <a:custGeom>
            <a:avLst/>
            <a:gdLst/>
            <a:ahLst/>
            <a:cxnLst/>
            <a:rect l="0" t="0" r="r" b="b"/>
            <a:pathLst>
              <a:path w="104775" h="131762">
                <a:moveTo>
                  <a:pt x="52388" y="0"/>
                </a:moveTo>
                <a:cubicBezTo>
                  <a:pt x="76200" y="17462"/>
                  <a:pt x="88900" y="44450"/>
                  <a:pt x="88900" y="73025"/>
                </a:cubicBezTo>
                <a:lnTo>
                  <a:pt x="71438" y="101600"/>
                </a:lnTo>
                <a:lnTo>
                  <a:pt x="33338" y="101600"/>
                </a:lnTo>
                <a:lnTo>
                  <a:pt x="15875" y="73025"/>
                </a:lnTo>
                <a:cubicBezTo>
                  <a:pt x="15875" y="44450"/>
                  <a:pt x="28575" y="17462"/>
                  <a:pt x="52388" y="0"/>
                </a:cubicBezTo>
                <a:close/>
                <a:moveTo>
                  <a:pt x="15875" y="95250"/>
                </a:moveTo>
                <a:lnTo>
                  <a:pt x="0" y="131762"/>
                </a:lnTo>
                <a:lnTo>
                  <a:pt x="33338" y="119062"/>
                </a:lnTo>
                <a:moveTo>
                  <a:pt x="88900" y="95250"/>
                </a:moveTo>
                <a:lnTo>
                  <a:pt x="104775" y="131762"/>
                </a:lnTo>
                <a:lnTo>
                  <a:pt x="71438" y="119062"/>
                </a:lnTo>
              </a:path>
            </a:pathLst>
          </a:custGeom>
          <a:noFill/>
          <a:ln w="1206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cn-O"/>
          <p:cNvSpPr txBox="1"/>
          <p:nvPr/>
        </p:nvSpPr>
        <p:spPr>
          <a:xfrm>
            <a:off x="1453388" y="3542602"/>
            <a:ext cx="8724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外部机会</a:t>
            </a:r>
          </a:p>
        </p:txBody>
      </p:sp>
      <p:sp>
        <p:nvSpPr>
          <p:cNvPr id="46" name="en-O"/>
          <p:cNvSpPr txBox="1"/>
          <p:nvPr/>
        </p:nvSpPr>
        <p:spPr>
          <a:xfrm>
            <a:off x="1462532" y="3801808"/>
            <a:ext cx="97485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FFFFFF">
                    <a:alpha val="60000"/>
                  </a:srgbClr>
                </a:solidFill>
                <a:latin typeface="Arial"/>
                <a:ea typeface="Arial"/>
                <a:cs typeface="Arial"/>
              </a:rPr>
              <a:t>OPPORTUNITIES</a:t>
            </a:r>
          </a:p>
        </p:txBody>
      </p:sp>
      <p:sp>
        <p:nvSpPr>
          <p:cNvPr id="47" name="rule-O"/>
          <p:cNvSpPr/>
          <p:nvPr/>
        </p:nvSpPr>
        <p:spPr>
          <a:xfrm>
            <a:off x="1244600" y="4064000"/>
            <a:ext cx="304800" cy="1524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d-O-1"/>
          <p:cNvSpPr/>
          <p:nvPr/>
        </p:nvSpPr>
        <p:spPr>
          <a:xfrm>
            <a:off x="1261110" y="4296410"/>
            <a:ext cx="43180" cy="43180"/>
          </a:xfrm>
          <a:prstGeom prst="ellipse">
            <a:avLst/>
          </a:prstGeom>
          <a:solidFill>
            <a:srgbClr val="FFFFF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p-O-1"/>
          <p:cNvSpPr txBox="1"/>
          <p:nvPr/>
        </p:nvSpPr>
        <p:spPr>
          <a:xfrm>
            <a:off x="1383665" y="4218861"/>
            <a:ext cx="146399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5000"/>
                  </a:srgbClr>
                </a:solidFill>
                <a:latin typeface="微软雅黑"/>
                <a:ea typeface="微软雅黑"/>
                <a:cs typeface="微软雅黑"/>
              </a:rPr>
              <a:t>行业数字化渗透率快速提升</a:t>
            </a:r>
          </a:p>
        </p:txBody>
      </p:sp>
      <p:sp>
        <p:nvSpPr>
          <p:cNvPr id="50" name="d-O-2"/>
          <p:cNvSpPr/>
          <p:nvPr/>
        </p:nvSpPr>
        <p:spPr>
          <a:xfrm>
            <a:off x="1261110" y="4588510"/>
            <a:ext cx="43180" cy="43180"/>
          </a:xfrm>
          <a:prstGeom prst="ellipse">
            <a:avLst/>
          </a:prstGeom>
          <a:solidFill>
            <a:srgbClr val="FFFFF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p-O-2"/>
          <p:cNvSpPr txBox="1"/>
          <p:nvPr/>
        </p:nvSpPr>
        <p:spPr>
          <a:xfrm>
            <a:off x="1383665" y="4510961"/>
            <a:ext cx="135032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5000"/>
                  </a:srgbClr>
                </a:solidFill>
                <a:latin typeface="微软雅黑"/>
                <a:ea typeface="微软雅黑"/>
                <a:cs typeface="微软雅黑"/>
              </a:rPr>
              <a:t>政策补贴向智能制造倾斜</a:t>
            </a:r>
          </a:p>
        </p:txBody>
      </p:sp>
      <p:sp>
        <p:nvSpPr>
          <p:cNvPr id="52" name="d-O-3"/>
          <p:cNvSpPr/>
          <p:nvPr/>
        </p:nvSpPr>
        <p:spPr>
          <a:xfrm>
            <a:off x="1261110" y="4880610"/>
            <a:ext cx="43180" cy="43180"/>
          </a:xfrm>
          <a:prstGeom prst="ellipse">
            <a:avLst/>
          </a:prstGeom>
          <a:solidFill>
            <a:srgbClr val="FFFFF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p-O-3"/>
          <p:cNvSpPr txBox="1"/>
          <p:nvPr/>
        </p:nvSpPr>
        <p:spPr>
          <a:xfrm>
            <a:off x="1383665" y="4803061"/>
            <a:ext cx="12366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5000"/>
                  </a:srgbClr>
                </a:solidFill>
                <a:latin typeface="微软雅黑"/>
                <a:ea typeface="微软雅黑"/>
                <a:cs typeface="微软雅黑"/>
              </a:rPr>
              <a:t>下沉市场需求持续释放</a:t>
            </a:r>
          </a:p>
        </p:txBody>
      </p:sp>
      <p:sp>
        <p:nvSpPr>
          <p:cNvPr id="54" name="cell-T"/>
          <p:cNvSpPr/>
          <p:nvPr/>
        </p:nvSpPr>
        <p:spPr>
          <a:xfrm>
            <a:off x="6134100" y="3467100"/>
            <a:ext cx="5016500" cy="1854200"/>
          </a:xfrm>
          <a:custGeom>
            <a:avLst/>
            <a:gdLst/>
            <a:ahLst/>
            <a:cxnLst/>
            <a:rect l="0" t="0" r="r" b="b"/>
            <a:pathLst>
              <a:path w="5016500" h="1854200">
                <a:moveTo>
                  <a:pt x="127000" y="0"/>
                </a:moveTo>
                <a:lnTo>
                  <a:pt x="4889500" y="0"/>
                </a:lnTo>
                <a:cubicBezTo>
                  <a:pt x="4959668" y="0"/>
                  <a:pt x="5016500" y="56833"/>
                  <a:pt x="5016500" y="127000"/>
                </a:cubicBezTo>
                <a:lnTo>
                  <a:pt x="5016500" y="1727200"/>
                </a:lnTo>
                <a:cubicBezTo>
                  <a:pt x="5016500" y="1797367"/>
                  <a:pt x="4959668" y="1854200"/>
                  <a:pt x="4889500" y="1854200"/>
                </a:cubicBezTo>
                <a:lnTo>
                  <a:pt x="127000" y="1854200"/>
                </a:lnTo>
                <a:cubicBezTo>
                  <a:pt x="56833" y="1854200"/>
                  <a:pt x="0" y="1797367"/>
                  <a:pt x="0" y="17272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EDF1F7"/>
              </a:gs>
              <a:gs pos="100000">
                <a:srgbClr val="E2E9F3"/>
              </a:gs>
            </a:gsLst>
            <a:lin ang="744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wm-T"/>
          <p:cNvSpPr txBox="1"/>
          <p:nvPr/>
        </p:nvSpPr>
        <p:spPr>
          <a:xfrm>
            <a:off x="10049764" y="3426206"/>
            <a:ext cx="964184" cy="1155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5200" b="1">
                <a:solidFill>
                  <a:srgbClr val="9FB2C9">
                    <a:alpha val="34000"/>
                  </a:srgbClr>
                </a:solidFill>
                <a:latin typeface="Arial"/>
                <a:ea typeface="Arial"/>
                <a:cs typeface="Arial"/>
              </a:rPr>
              <a:t>T</a:t>
            </a:r>
          </a:p>
        </p:txBody>
      </p:sp>
      <p:sp>
        <p:nvSpPr>
          <p:cNvPr id="56" name="icon-flag"/>
          <p:cNvSpPr/>
          <p:nvPr/>
        </p:nvSpPr>
        <p:spPr>
          <a:xfrm>
            <a:off x="6378575" y="3735388"/>
            <a:ext cx="76200" cy="130175"/>
          </a:xfrm>
          <a:custGeom>
            <a:avLst/>
            <a:gdLst/>
            <a:ahLst/>
            <a:cxnLst/>
            <a:rect l="0" t="0" r="r" b="b"/>
            <a:pathLst>
              <a:path w="76200" h="130175">
                <a:moveTo>
                  <a:pt x="0" y="130175"/>
                </a:moveTo>
                <a:lnTo>
                  <a:pt x="0" y="0"/>
                </a:lnTo>
                <a:moveTo>
                  <a:pt x="0" y="6350"/>
                </a:moveTo>
                <a:lnTo>
                  <a:pt x="76200" y="6350"/>
                </a:lnTo>
                <a:lnTo>
                  <a:pt x="63500" y="31750"/>
                </a:lnTo>
                <a:lnTo>
                  <a:pt x="76200" y="57150"/>
                </a:lnTo>
                <a:lnTo>
                  <a:pt x="0" y="57150"/>
                </a:lnTo>
              </a:path>
            </a:pathLst>
          </a:custGeom>
          <a:noFill/>
          <a:ln w="12065" cap="rnd">
            <a:solidFill>
              <a:srgbClr val="41587A">
                <a:alpha val="8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cn-T"/>
          <p:cNvSpPr txBox="1"/>
          <p:nvPr/>
        </p:nvSpPr>
        <p:spPr>
          <a:xfrm>
            <a:off x="6634988" y="3542602"/>
            <a:ext cx="8724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25">
                <a:solidFill>
                  <a:srgbClr val="41587A"/>
                </a:solidFill>
                <a:latin typeface="微软雅黑"/>
                <a:ea typeface="微软雅黑"/>
                <a:cs typeface="微软雅黑"/>
              </a:rPr>
              <a:t>外部威胁</a:t>
            </a:r>
          </a:p>
        </p:txBody>
      </p:sp>
      <p:sp>
        <p:nvSpPr>
          <p:cNvPr id="58" name="en-T"/>
          <p:cNvSpPr txBox="1"/>
          <p:nvPr/>
        </p:nvSpPr>
        <p:spPr>
          <a:xfrm>
            <a:off x="6644132" y="3801808"/>
            <a:ext cx="56184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41587A">
                    <a:alpha val="60000"/>
                  </a:srgbClr>
                </a:solidFill>
                <a:latin typeface="Arial"/>
                <a:ea typeface="Arial"/>
                <a:cs typeface="Arial"/>
              </a:rPr>
              <a:t>THREATS</a:t>
            </a:r>
          </a:p>
        </p:txBody>
      </p:sp>
      <p:sp>
        <p:nvSpPr>
          <p:cNvPr id="59" name="rule-T"/>
          <p:cNvSpPr/>
          <p:nvPr/>
        </p:nvSpPr>
        <p:spPr>
          <a:xfrm>
            <a:off x="6426200" y="4064000"/>
            <a:ext cx="304800" cy="15240"/>
          </a:xfrm>
          <a:prstGeom prst="roundRect">
            <a:avLst>
              <a:gd name="adj" fmla="val 50000"/>
            </a:avLst>
          </a:prstGeom>
          <a:solidFill>
            <a:srgbClr val="41587A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d-T-1"/>
          <p:cNvSpPr/>
          <p:nvPr/>
        </p:nvSpPr>
        <p:spPr>
          <a:xfrm>
            <a:off x="6442710" y="4296410"/>
            <a:ext cx="43180" cy="43180"/>
          </a:xfrm>
          <a:prstGeom prst="ellipse">
            <a:avLst/>
          </a:prstGeom>
          <a:solidFill>
            <a:srgbClr val="41587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p-T-1"/>
          <p:cNvSpPr txBox="1"/>
          <p:nvPr/>
        </p:nvSpPr>
        <p:spPr>
          <a:xfrm>
            <a:off x="6565265" y="42188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41587A">
                    <a:alpha val="85000"/>
                  </a:srgbClr>
                </a:solidFill>
                <a:latin typeface="微软雅黑"/>
                <a:ea typeface="微软雅黑"/>
                <a:cs typeface="微软雅黑"/>
              </a:rPr>
              <a:t>头部厂商价格战加剧</a:t>
            </a:r>
          </a:p>
        </p:txBody>
      </p:sp>
      <p:sp>
        <p:nvSpPr>
          <p:cNvPr id="62" name="d-T-2"/>
          <p:cNvSpPr/>
          <p:nvPr/>
        </p:nvSpPr>
        <p:spPr>
          <a:xfrm>
            <a:off x="6442710" y="4588510"/>
            <a:ext cx="43180" cy="43180"/>
          </a:xfrm>
          <a:prstGeom prst="ellipse">
            <a:avLst/>
          </a:prstGeom>
          <a:solidFill>
            <a:srgbClr val="41587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p-T-2"/>
          <p:cNvSpPr txBox="1"/>
          <p:nvPr/>
        </p:nvSpPr>
        <p:spPr>
          <a:xfrm>
            <a:off x="6565265" y="45109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41587A">
                    <a:alpha val="85000"/>
                  </a:srgbClr>
                </a:solidFill>
                <a:latin typeface="微软雅黑"/>
                <a:ea typeface="微软雅黑"/>
                <a:cs typeface="微软雅黑"/>
              </a:rPr>
              <a:t>上游原材料成本波动</a:t>
            </a:r>
          </a:p>
        </p:txBody>
      </p:sp>
      <p:sp>
        <p:nvSpPr>
          <p:cNvPr id="64" name="d-T-3"/>
          <p:cNvSpPr/>
          <p:nvPr/>
        </p:nvSpPr>
        <p:spPr>
          <a:xfrm>
            <a:off x="6442710" y="4880610"/>
            <a:ext cx="43180" cy="43180"/>
          </a:xfrm>
          <a:prstGeom prst="ellipse">
            <a:avLst/>
          </a:prstGeom>
          <a:solidFill>
            <a:srgbClr val="41587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p-T-3"/>
          <p:cNvSpPr txBox="1"/>
          <p:nvPr/>
        </p:nvSpPr>
        <p:spPr>
          <a:xfrm>
            <a:off x="6565265" y="48030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41587A">
                    <a:alpha val="85000"/>
                  </a:srgbClr>
                </a:solidFill>
                <a:latin typeface="微软雅黑"/>
                <a:ea typeface="微软雅黑"/>
                <a:cs typeface="微软雅黑"/>
              </a:rPr>
              <a:t>同类产品同质化明显</a:t>
            </a:r>
          </a:p>
        </p:txBody>
      </p:sp>
      <p:sp>
        <p:nvSpPr>
          <p:cNvPr id="66" name="st-panel"/>
          <p:cNvSpPr/>
          <p:nvPr/>
        </p:nvSpPr>
        <p:spPr>
          <a:xfrm>
            <a:off x="952500" y="5511800"/>
            <a:ext cx="10198100" cy="609600"/>
          </a:xfrm>
          <a:custGeom>
            <a:avLst/>
            <a:gdLst/>
            <a:ahLst/>
            <a:cxnLst/>
            <a:rect l="0" t="0" r="r" b="b"/>
            <a:pathLst>
              <a:path w="10198100" h="609600">
                <a:moveTo>
                  <a:pt x="101600" y="0"/>
                </a:moveTo>
                <a:lnTo>
                  <a:pt x="10096500" y="0"/>
                </a:lnTo>
                <a:cubicBezTo>
                  <a:pt x="10152634" y="0"/>
                  <a:pt x="10198100" y="45466"/>
                  <a:pt x="10198100" y="101600"/>
                </a:cubicBezTo>
                <a:lnTo>
                  <a:pt x="10198100" y="508000"/>
                </a:lnTo>
                <a:cubicBezTo>
                  <a:pt x="10198100" y="564134"/>
                  <a:pt x="10152634" y="609600"/>
                  <a:pt x="10096500" y="609600"/>
                </a:cubicBezTo>
                <a:lnTo>
                  <a:pt x="101600" y="609600"/>
                </a:lnTo>
                <a:cubicBezTo>
                  <a:pt x="45466" y="609600"/>
                  <a:pt x="0" y="564134"/>
                  <a:pt x="0" y="508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st-bar-1"/>
          <p:cNvSpPr/>
          <p:nvPr/>
        </p:nvSpPr>
        <p:spPr>
          <a:xfrm>
            <a:off x="1143000" y="5676900"/>
            <a:ext cx="25400" cy="279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st-h-1"/>
          <p:cNvSpPr txBox="1"/>
          <p:nvPr/>
        </p:nvSpPr>
        <p:spPr>
          <a:xfrm>
            <a:off x="1244346" y="5670582"/>
            <a:ext cx="52616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SO 进攻</a:t>
            </a:r>
          </a:p>
        </p:txBody>
      </p:sp>
      <p:sp>
        <p:nvSpPr>
          <p:cNvPr id="69" name="st-p-1"/>
          <p:cNvSpPr txBox="1"/>
          <p:nvPr/>
        </p:nvSpPr>
        <p:spPr>
          <a:xfrm>
            <a:off x="1246632" y="5859208"/>
            <a:ext cx="126047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以技术优势抢占政策红利市场</a:t>
            </a:r>
          </a:p>
        </p:txBody>
      </p:sp>
      <p:sp>
        <p:nvSpPr>
          <p:cNvPr id="70" name="st-bar-2"/>
          <p:cNvSpPr/>
          <p:nvPr/>
        </p:nvSpPr>
        <p:spPr>
          <a:xfrm>
            <a:off x="3629025" y="5676900"/>
            <a:ext cx="25400" cy="279400"/>
          </a:xfrm>
          <a:prstGeom prst="roundRect">
            <a:avLst>
              <a:gd name="adj" fmla="val 50000"/>
            </a:avLst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st-h-2"/>
          <p:cNvSpPr txBox="1"/>
          <p:nvPr/>
        </p:nvSpPr>
        <p:spPr>
          <a:xfrm>
            <a:off x="3730371" y="5670582"/>
            <a:ext cx="52616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WO 改善</a:t>
            </a:r>
          </a:p>
        </p:txBody>
      </p:sp>
      <p:sp>
        <p:nvSpPr>
          <p:cNvPr id="72" name="st-p-2"/>
          <p:cNvSpPr txBox="1"/>
          <p:nvPr/>
        </p:nvSpPr>
        <p:spPr>
          <a:xfrm>
            <a:off x="3732657" y="5859208"/>
            <a:ext cx="11696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补齐产能短板承接下沉需求</a:t>
            </a:r>
          </a:p>
        </p:txBody>
      </p:sp>
      <p:sp>
        <p:nvSpPr>
          <p:cNvPr id="73" name="st-bar-3"/>
          <p:cNvSpPr/>
          <p:nvPr/>
        </p:nvSpPr>
        <p:spPr>
          <a:xfrm>
            <a:off x="6115050" y="5676900"/>
            <a:ext cx="25400" cy="279400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st-h-3"/>
          <p:cNvSpPr txBox="1"/>
          <p:nvPr/>
        </p:nvSpPr>
        <p:spPr>
          <a:xfrm>
            <a:off x="6216396" y="5670582"/>
            <a:ext cx="52616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ST 防御</a:t>
            </a:r>
          </a:p>
        </p:txBody>
      </p:sp>
      <p:sp>
        <p:nvSpPr>
          <p:cNvPr id="75" name="st-p-3"/>
          <p:cNvSpPr txBox="1"/>
          <p:nvPr/>
        </p:nvSpPr>
        <p:spPr>
          <a:xfrm>
            <a:off x="6218682" y="5859208"/>
            <a:ext cx="107886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以渠道深度对冲价格竞争</a:t>
            </a:r>
          </a:p>
        </p:txBody>
      </p:sp>
      <p:sp>
        <p:nvSpPr>
          <p:cNvPr id="76" name="st-bar-4"/>
          <p:cNvSpPr/>
          <p:nvPr/>
        </p:nvSpPr>
        <p:spPr>
          <a:xfrm>
            <a:off x="8601075" y="5676900"/>
            <a:ext cx="25400" cy="279400"/>
          </a:xfrm>
          <a:prstGeom prst="roundRect">
            <a:avLst>
              <a:gd name="adj" fmla="val 50000"/>
            </a:avLst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st-h-4"/>
          <p:cNvSpPr txBox="1"/>
          <p:nvPr/>
        </p:nvSpPr>
        <p:spPr>
          <a:xfrm>
            <a:off x="8702421" y="5670582"/>
            <a:ext cx="52616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WT 规避</a:t>
            </a:r>
          </a:p>
        </p:txBody>
      </p:sp>
      <p:sp>
        <p:nvSpPr>
          <p:cNvPr id="78" name="st-p-4"/>
          <p:cNvSpPr txBox="1"/>
          <p:nvPr/>
        </p:nvSpPr>
        <p:spPr>
          <a:xfrm>
            <a:off x="8704707" y="5859208"/>
            <a:ext cx="126047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收缩非优势区域，聚焦主航道</a:t>
            </a:r>
          </a:p>
        </p:txBody>
      </p:sp>
      <p:cxnSp>
        <p:nvCxnSpPr>
          <p:cNvPr id="79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0" name="foot-l"/>
          <p:cNvSpPr txBox="1"/>
          <p:nvPr/>
        </p:nvSpPr>
        <p:spPr>
          <a:xfrm>
            <a:off x="573532" y="6532308"/>
            <a:ext cx="108572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SWOT · 四维战略定位</a:t>
            </a:r>
          </a:p>
        </p:txBody>
      </p:sp>
      <p:sp>
        <p:nvSpPr>
          <p:cNvPr id="81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实施方案评估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44589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PLAN COMPARISON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351899" y="673132"/>
            <a:ext cx="22688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三套方案在投入、周期与收益上的差异对照</a:t>
            </a:r>
          </a:p>
        </p:txBody>
      </p:sp>
      <p:sp>
        <p:nvSpPr>
          <p:cNvPr id="10" name="plan-1"/>
          <p:cNvSpPr/>
          <p:nvPr/>
        </p:nvSpPr>
        <p:spPr>
          <a:xfrm>
            <a:off x="1244600" y="1485900"/>
            <a:ext cx="3048000" cy="4064000"/>
          </a:xfrm>
          <a:custGeom>
            <a:avLst/>
            <a:gdLst/>
            <a:ahLst/>
            <a:cxnLst/>
            <a:rect l="0" t="0" r="r" b="b"/>
            <a:pathLst>
              <a:path w="3048000" h="4064000">
                <a:moveTo>
                  <a:pt x="139700" y="0"/>
                </a:moveTo>
                <a:lnTo>
                  <a:pt x="2908300" y="0"/>
                </a:lnTo>
                <a:cubicBezTo>
                  <a:pt x="2985452" y="0"/>
                  <a:pt x="3048000" y="62547"/>
                  <a:pt x="3048000" y="139700"/>
                </a:cubicBezTo>
                <a:lnTo>
                  <a:pt x="3048000" y="3924300"/>
                </a:lnTo>
                <a:cubicBezTo>
                  <a:pt x="3048000" y="4001452"/>
                  <a:pt x="2985452" y="4064000"/>
                  <a:pt x="2908300" y="4064000"/>
                </a:cubicBezTo>
                <a:lnTo>
                  <a:pt x="139700" y="4064000"/>
                </a:lnTo>
                <a:cubicBezTo>
                  <a:pt x="62547" y="4064000"/>
                  <a:pt x="0" y="4001452"/>
                  <a:pt x="0" y="3924300"/>
                </a:cubicBezTo>
                <a:lnTo>
                  <a:pt x="0" y="139700"/>
                </a:lnTo>
                <a:cubicBezTo>
                  <a:pt x="0" y="62547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cap-1"/>
          <p:cNvSpPr/>
          <p:nvPr/>
        </p:nvSpPr>
        <p:spPr>
          <a:xfrm>
            <a:off x="1244600" y="1485900"/>
            <a:ext cx="3048000" cy="44450"/>
          </a:xfrm>
          <a:custGeom>
            <a:avLst/>
            <a:gdLst/>
            <a:ahLst/>
            <a:cxnLst/>
            <a:rect l="0" t="0" r="r" b="b"/>
            <a:pathLst>
              <a:path w="3048000" h="44450">
                <a:moveTo>
                  <a:pt x="22225" y="0"/>
                </a:moveTo>
                <a:lnTo>
                  <a:pt x="3025775" y="0"/>
                </a:lnTo>
                <a:cubicBezTo>
                  <a:pt x="3038030" y="0"/>
                  <a:pt x="3048000" y="9969"/>
                  <a:pt x="3048000" y="22225"/>
                </a:cubicBezTo>
                <a:lnTo>
                  <a:pt x="3048000" y="22225"/>
                </a:lnTo>
                <a:cubicBezTo>
                  <a:pt x="3048000" y="34481"/>
                  <a:pt x="3038030" y="44450"/>
                  <a:pt x="3025775" y="44450"/>
                </a:cubicBezTo>
                <a:lnTo>
                  <a:pt x="22225" y="44450"/>
                </a:lnTo>
                <a:cubicBezTo>
                  <a:pt x="9969" y="44450"/>
                  <a:pt x="0" y="34481"/>
                  <a:pt x="0" y="22225"/>
                </a:cubicBezTo>
                <a:lnTo>
                  <a:pt x="0" y="22225"/>
                </a:lnTo>
                <a:cubicBezTo>
                  <a:pt x="0" y="9969"/>
                  <a:pt x="9969" y="0"/>
                  <a:pt x="2222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cn-1"/>
          <p:cNvSpPr txBox="1"/>
          <p:nvPr/>
        </p:nvSpPr>
        <p:spPr>
          <a:xfrm>
            <a:off x="2368550" y="1720532"/>
            <a:ext cx="80010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基础版</a:t>
            </a:r>
          </a:p>
        </p:txBody>
      </p:sp>
      <p:sp>
        <p:nvSpPr>
          <p:cNvPr id="13" name="en-1"/>
          <p:cNvSpPr txBox="1"/>
          <p:nvPr/>
        </p:nvSpPr>
        <p:spPr>
          <a:xfrm>
            <a:off x="2548572" y="2023808"/>
            <a:ext cx="44005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75">
                <a:solidFill>
                  <a:srgbClr val="64748B"/>
                </a:solidFill>
                <a:latin typeface="Arial"/>
                <a:ea typeface="Arial"/>
                <a:cs typeface="Arial"/>
              </a:rPr>
              <a:t>BASIC</a:t>
            </a:r>
          </a:p>
        </p:txBody>
      </p:sp>
      <p:sp>
        <p:nvSpPr>
          <p:cNvPr id="14" name="price-1"/>
          <p:cNvSpPr txBox="1"/>
          <p:nvPr/>
        </p:nvSpPr>
        <p:spPr>
          <a:xfrm>
            <a:off x="2015490" y="2154618"/>
            <a:ext cx="705358" cy="6000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700" b="1" spc="50">
                <a:solidFill>
                  <a:srgbClr val="0B2545"/>
                </a:solidFill>
                <a:latin typeface="Arial"/>
                <a:ea typeface="Arial"/>
                <a:cs typeface="Arial"/>
              </a:rPr>
              <a:t>68</a:t>
            </a:r>
          </a:p>
        </p:txBody>
      </p:sp>
      <p:sp>
        <p:nvSpPr>
          <p:cNvPr id="15" name="unit-1"/>
          <p:cNvSpPr txBox="1"/>
          <p:nvPr/>
        </p:nvSpPr>
        <p:spPr>
          <a:xfrm>
            <a:off x="2730246" y="2444782"/>
            <a:ext cx="3130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万元</a:t>
            </a:r>
          </a:p>
        </p:txBody>
      </p:sp>
      <p:sp>
        <p:nvSpPr>
          <p:cNvPr id="16" name="weeks-1"/>
          <p:cNvSpPr txBox="1"/>
          <p:nvPr/>
        </p:nvSpPr>
        <p:spPr>
          <a:xfrm>
            <a:off x="2370836" y="2655824"/>
            <a:ext cx="7955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交付周期 6 周</a:t>
            </a:r>
          </a:p>
        </p:txBody>
      </p:sp>
      <p:cxnSp>
        <p:nvCxnSpPr>
          <p:cNvPr id="17" name="div-1"/>
          <p:cNvCxnSpPr/>
          <p:nvPr/>
        </p:nvCxnSpPr>
        <p:spPr>
          <a:xfrm>
            <a:off x="1524000" y="2959100"/>
            <a:ext cx="24892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icon-check"/>
          <p:cNvSpPr/>
          <p:nvPr/>
        </p:nvSpPr>
        <p:spPr>
          <a:xfrm>
            <a:off x="1593406" y="3178302"/>
            <a:ext cx="64389" cy="45212"/>
          </a:xfrm>
          <a:custGeom>
            <a:avLst/>
            <a:gdLst/>
            <a:ahLst/>
            <a:cxnLst/>
            <a:rect l="0" t="0" r="r" b="b"/>
            <a:pathLst>
              <a:path w="64389" h="45212">
                <a:moveTo>
                  <a:pt x="0" y="24130"/>
                </a:moveTo>
                <a:lnTo>
                  <a:pt x="21145" y="45212"/>
                </a:lnTo>
                <a:lnTo>
                  <a:pt x="64389" y="0"/>
                </a:lnTo>
              </a:path>
            </a:pathLst>
          </a:custGeom>
          <a:noFill/>
          <a:ln w="1397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ft-1-1"/>
          <p:cNvSpPr txBox="1"/>
          <p:nvPr/>
        </p:nvSpPr>
        <p:spPr>
          <a:xfrm>
            <a:off x="1790827" y="3109103"/>
            <a:ext cx="73818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现有系统改造</a:t>
            </a:r>
          </a:p>
        </p:txBody>
      </p:sp>
      <p:sp>
        <p:nvSpPr>
          <p:cNvPr id="20" name="x-1-2"/>
          <p:cNvSpPr/>
          <p:nvPr/>
        </p:nvSpPr>
        <p:spPr>
          <a:xfrm>
            <a:off x="1581150" y="3448050"/>
            <a:ext cx="88900" cy="88900"/>
          </a:xfrm>
          <a:custGeom>
            <a:avLst/>
            <a:gdLst/>
            <a:ahLst/>
            <a:cxnLst/>
            <a:rect l="0" t="0" r="r" b="b"/>
            <a:pathLst>
              <a:path w="88900" h="88900">
                <a:moveTo>
                  <a:pt x="0" y="0"/>
                </a:moveTo>
                <a:lnTo>
                  <a:pt x="88900" y="88900"/>
                </a:lnTo>
                <a:moveTo>
                  <a:pt x="88900" y="0"/>
                </a:moveTo>
                <a:lnTo>
                  <a:pt x="0" y="88900"/>
                </a:lnTo>
              </a:path>
            </a:pathLst>
          </a:custGeom>
          <a:noFill/>
          <a:ln w="12700" cap="rnd">
            <a:solidFill>
              <a:srgbClr val="B8C6D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ft-1-2"/>
          <p:cNvSpPr txBox="1"/>
          <p:nvPr/>
        </p:nvSpPr>
        <p:spPr>
          <a:xfrm>
            <a:off x="1790827" y="3401203"/>
            <a:ext cx="73818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A9B8CA">
                    <a:alpha val="85000"/>
                  </a:srgbClr>
                </a:solidFill>
                <a:latin typeface="微软雅黑"/>
                <a:ea typeface="微软雅黑"/>
                <a:cs typeface="微软雅黑"/>
              </a:rPr>
              <a:t>全新平台搭建</a:t>
            </a:r>
          </a:p>
        </p:txBody>
      </p:sp>
      <p:sp>
        <p:nvSpPr>
          <p:cNvPr id="22" name="icon-check"/>
          <p:cNvSpPr/>
          <p:nvPr/>
        </p:nvSpPr>
        <p:spPr>
          <a:xfrm>
            <a:off x="1593406" y="3762502"/>
            <a:ext cx="64389" cy="45212"/>
          </a:xfrm>
          <a:custGeom>
            <a:avLst/>
            <a:gdLst/>
            <a:ahLst/>
            <a:cxnLst/>
            <a:rect l="0" t="0" r="r" b="b"/>
            <a:pathLst>
              <a:path w="64389" h="45212">
                <a:moveTo>
                  <a:pt x="0" y="24130"/>
                </a:moveTo>
                <a:lnTo>
                  <a:pt x="21145" y="45212"/>
                </a:lnTo>
                <a:lnTo>
                  <a:pt x="64389" y="0"/>
                </a:lnTo>
              </a:path>
            </a:pathLst>
          </a:custGeom>
          <a:noFill/>
          <a:ln w="1397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ft-1-3"/>
          <p:cNvSpPr txBox="1"/>
          <p:nvPr/>
        </p:nvSpPr>
        <p:spPr>
          <a:xfrm>
            <a:off x="1790827" y="3693303"/>
            <a:ext cx="73818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数据迁移支持</a:t>
            </a:r>
          </a:p>
        </p:txBody>
      </p:sp>
      <p:sp>
        <p:nvSpPr>
          <p:cNvPr id="24" name="x-1-4"/>
          <p:cNvSpPr/>
          <p:nvPr/>
        </p:nvSpPr>
        <p:spPr>
          <a:xfrm>
            <a:off x="1581150" y="4032250"/>
            <a:ext cx="88900" cy="88900"/>
          </a:xfrm>
          <a:custGeom>
            <a:avLst/>
            <a:gdLst/>
            <a:ahLst/>
            <a:cxnLst/>
            <a:rect l="0" t="0" r="r" b="b"/>
            <a:pathLst>
              <a:path w="88900" h="88900">
                <a:moveTo>
                  <a:pt x="0" y="0"/>
                </a:moveTo>
                <a:lnTo>
                  <a:pt x="88900" y="88900"/>
                </a:lnTo>
                <a:moveTo>
                  <a:pt x="88900" y="0"/>
                </a:moveTo>
                <a:lnTo>
                  <a:pt x="0" y="88900"/>
                </a:lnTo>
              </a:path>
            </a:pathLst>
          </a:custGeom>
          <a:noFill/>
          <a:ln w="12700" cap="rnd">
            <a:solidFill>
              <a:srgbClr val="B8C6D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ft-1-4"/>
          <p:cNvSpPr txBox="1"/>
          <p:nvPr/>
        </p:nvSpPr>
        <p:spPr>
          <a:xfrm>
            <a:off x="1790827" y="3985403"/>
            <a:ext cx="73818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A9B8CA">
                    <a:alpha val="85000"/>
                  </a:srgbClr>
                </a:solidFill>
                <a:latin typeface="微软雅黑"/>
                <a:ea typeface="微软雅黑"/>
                <a:cs typeface="微软雅黑"/>
              </a:rPr>
              <a:t>定制开发能力</a:t>
            </a:r>
          </a:p>
        </p:txBody>
      </p:sp>
      <p:sp>
        <p:nvSpPr>
          <p:cNvPr id="26" name="x-1-5"/>
          <p:cNvSpPr/>
          <p:nvPr/>
        </p:nvSpPr>
        <p:spPr>
          <a:xfrm>
            <a:off x="1581150" y="4324350"/>
            <a:ext cx="88900" cy="88900"/>
          </a:xfrm>
          <a:custGeom>
            <a:avLst/>
            <a:gdLst/>
            <a:ahLst/>
            <a:cxnLst/>
            <a:rect l="0" t="0" r="r" b="b"/>
            <a:pathLst>
              <a:path w="88900" h="88900">
                <a:moveTo>
                  <a:pt x="0" y="0"/>
                </a:moveTo>
                <a:lnTo>
                  <a:pt x="88900" y="88900"/>
                </a:lnTo>
                <a:moveTo>
                  <a:pt x="88900" y="0"/>
                </a:moveTo>
                <a:lnTo>
                  <a:pt x="0" y="88900"/>
                </a:lnTo>
              </a:path>
            </a:pathLst>
          </a:custGeom>
          <a:noFill/>
          <a:ln w="12700" cap="rnd">
            <a:solidFill>
              <a:srgbClr val="B8C6D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ft-1-5"/>
          <p:cNvSpPr txBox="1"/>
          <p:nvPr/>
        </p:nvSpPr>
        <p:spPr>
          <a:xfrm>
            <a:off x="1790827" y="4277503"/>
            <a:ext cx="82962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A9B8CA">
                    <a:alpha val="85000"/>
                  </a:srgbClr>
                </a:solidFill>
                <a:latin typeface="微软雅黑"/>
                <a:ea typeface="微软雅黑"/>
                <a:cs typeface="微软雅黑"/>
              </a:rPr>
              <a:t>7×24 运维值守</a:t>
            </a:r>
          </a:p>
        </p:txBody>
      </p:sp>
      <p:sp>
        <p:nvSpPr>
          <p:cNvPr id="28" name="x-1-6"/>
          <p:cNvSpPr/>
          <p:nvPr/>
        </p:nvSpPr>
        <p:spPr>
          <a:xfrm>
            <a:off x="1581150" y="4616450"/>
            <a:ext cx="88900" cy="88900"/>
          </a:xfrm>
          <a:custGeom>
            <a:avLst/>
            <a:gdLst/>
            <a:ahLst/>
            <a:cxnLst/>
            <a:rect l="0" t="0" r="r" b="b"/>
            <a:pathLst>
              <a:path w="88900" h="88900">
                <a:moveTo>
                  <a:pt x="0" y="0"/>
                </a:moveTo>
                <a:lnTo>
                  <a:pt x="88900" y="88900"/>
                </a:lnTo>
                <a:moveTo>
                  <a:pt x="88900" y="0"/>
                </a:moveTo>
                <a:lnTo>
                  <a:pt x="0" y="88900"/>
                </a:lnTo>
              </a:path>
            </a:pathLst>
          </a:custGeom>
          <a:noFill/>
          <a:ln w="12700" cap="rnd">
            <a:solidFill>
              <a:srgbClr val="B8C6D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ft-1-6"/>
          <p:cNvSpPr txBox="1"/>
          <p:nvPr/>
        </p:nvSpPr>
        <p:spPr>
          <a:xfrm>
            <a:off x="1790827" y="4569603"/>
            <a:ext cx="73818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A9B8CA">
                    <a:alpha val="85000"/>
                  </a:srgbClr>
                </a:solidFill>
                <a:latin typeface="微软雅黑"/>
                <a:ea typeface="微软雅黑"/>
                <a:cs typeface="微软雅黑"/>
              </a:rPr>
              <a:t>三年免费升级</a:t>
            </a:r>
          </a:p>
        </p:txBody>
      </p:sp>
      <p:cxnSp>
        <p:nvCxnSpPr>
          <p:cNvPr id="30" name="div2-1"/>
          <p:cNvCxnSpPr/>
          <p:nvPr/>
        </p:nvCxnSpPr>
        <p:spPr>
          <a:xfrm>
            <a:off x="1524000" y="4800600"/>
            <a:ext cx="24892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score-1"/>
          <p:cNvSpPr txBox="1"/>
          <p:nvPr/>
        </p:nvSpPr>
        <p:spPr>
          <a:xfrm>
            <a:off x="1501140" y="4819332"/>
            <a:ext cx="501015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 spc="25">
                <a:solidFill>
                  <a:srgbClr val="0B2545"/>
                </a:solidFill>
                <a:latin typeface="Arial"/>
                <a:ea typeface="Arial"/>
                <a:cs typeface="Arial"/>
              </a:rPr>
              <a:t>3.2</a:t>
            </a:r>
          </a:p>
        </p:txBody>
      </p:sp>
      <p:sp>
        <p:nvSpPr>
          <p:cNvPr id="32" name="score5-1"/>
          <p:cNvSpPr txBox="1"/>
          <p:nvPr/>
        </p:nvSpPr>
        <p:spPr>
          <a:xfrm>
            <a:off x="1875282" y="4944808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/ 5.0</a:t>
            </a:r>
          </a:p>
        </p:txBody>
      </p:sp>
      <p:sp>
        <p:nvSpPr>
          <p:cNvPr id="33" name="who-1"/>
          <p:cNvSpPr txBox="1"/>
          <p:nvPr/>
        </p:nvSpPr>
        <p:spPr>
          <a:xfrm>
            <a:off x="1512951" y="5144087"/>
            <a:ext cx="13985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预算有限、流程相对简单的团队</a:t>
            </a:r>
          </a:p>
        </p:txBody>
      </p:sp>
      <p:sp>
        <p:nvSpPr>
          <p:cNvPr id="34" name="icon-star"/>
          <p:cNvSpPr/>
          <p:nvPr/>
        </p:nvSpPr>
        <p:spPr>
          <a:xfrm>
            <a:off x="3206242" y="4946650"/>
            <a:ext cx="89916" cy="85725"/>
          </a:xfrm>
          <a:custGeom>
            <a:avLst/>
            <a:gdLst/>
            <a:ahLst/>
            <a:cxnLst/>
            <a:rect l="0" t="0" r="r" b="b"/>
            <a:pathLst>
              <a:path w="89916" h="85725">
                <a:moveTo>
                  <a:pt x="44958" y="0"/>
                </a:moveTo>
                <a:lnTo>
                  <a:pt x="58737" y="28575"/>
                </a:lnTo>
                <a:lnTo>
                  <a:pt x="89916" y="32829"/>
                </a:lnTo>
                <a:lnTo>
                  <a:pt x="67183" y="54483"/>
                </a:lnTo>
                <a:lnTo>
                  <a:pt x="73025" y="85725"/>
                </a:lnTo>
                <a:lnTo>
                  <a:pt x="44958" y="70358"/>
                </a:lnTo>
                <a:lnTo>
                  <a:pt x="16891" y="85725"/>
                </a:lnTo>
                <a:lnTo>
                  <a:pt x="22733" y="54483"/>
                </a:lnTo>
                <a:lnTo>
                  <a:pt x="0" y="32829"/>
                </a:lnTo>
                <a:lnTo>
                  <a:pt x="31178" y="28575"/>
                </a:ln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icon-star"/>
          <p:cNvSpPr/>
          <p:nvPr/>
        </p:nvSpPr>
        <p:spPr>
          <a:xfrm>
            <a:off x="3396742" y="4946650"/>
            <a:ext cx="89916" cy="85725"/>
          </a:xfrm>
          <a:custGeom>
            <a:avLst/>
            <a:gdLst/>
            <a:ahLst/>
            <a:cxnLst/>
            <a:rect l="0" t="0" r="r" b="b"/>
            <a:pathLst>
              <a:path w="89916" h="85725">
                <a:moveTo>
                  <a:pt x="44958" y="0"/>
                </a:moveTo>
                <a:lnTo>
                  <a:pt x="58738" y="28575"/>
                </a:lnTo>
                <a:lnTo>
                  <a:pt x="89916" y="32829"/>
                </a:lnTo>
                <a:lnTo>
                  <a:pt x="67183" y="54483"/>
                </a:lnTo>
                <a:lnTo>
                  <a:pt x="73025" y="85725"/>
                </a:lnTo>
                <a:lnTo>
                  <a:pt x="44958" y="70358"/>
                </a:lnTo>
                <a:lnTo>
                  <a:pt x="16891" y="85725"/>
                </a:lnTo>
                <a:lnTo>
                  <a:pt x="22733" y="54483"/>
                </a:lnTo>
                <a:lnTo>
                  <a:pt x="0" y="32829"/>
                </a:lnTo>
                <a:lnTo>
                  <a:pt x="31179" y="28575"/>
                </a:ln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icon-star"/>
          <p:cNvSpPr/>
          <p:nvPr/>
        </p:nvSpPr>
        <p:spPr>
          <a:xfrm>
            <a:off x="3587242" y="4946650"/>
            <a:ext cx="89916" cy="85725"/>
          </a:xfrm>
          <a:custGeom>
            <a:avLst/>
            <a:gdLst/>
            <a:ahLst/>
            <a:cxnLst/>
            <a:rect l="0" t="0" r="r" b="b"/>
            <a:pathLst>
              <a:path w="89916" h="85725">
                <a:moveTo>
                  <a:pt x="44958" y="0"/>
                </a:moveTo>
                <a:lnTo>
                  <a:pt x="58738" y="28575"/>
                </a:lnTo>
                <a:lnTo>
                  <a:pt x="89916" y="32829"/>
                </a:lnTo>
                <a:lnTo>
                  <a:pt x="67183" y="54483"/>
                </a:lnTo>
                <a:lnTo>
                  <a:pt x="73025" y="85725"/>
                </a:lnTo>
                <a:lnTo>
                  <a:pt x="44958" y="70358"/>
                </a:lnTo>
                <a:lnTo>
                  <a:pt x="16891" y="85725"/>
                </a:lnTo>
                <a:lnTo>
                  <a:pt x="22733" y="54483"/>
                </a:lnTo>
                <a:lnTo>
                  <a:pt x="0" y="32829"/>
                </a:lnTo>
                <a:lnTo>
                  <a:pt x="31179" y="28575"/>
                </a:ln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icon-star"/>
          <p:cNvSpPr/>
          <p:nvPr/>
        </p:nvSpPr>
        <p:spPr>
          <a:xfrm>
            <a:off x="3777742" y="4946650"/>
            <a:ext cx="89916" cy="85725"/>
          </a:xfrm>
          <a:custGeom>
            <a:avLst/>
            <a:gdLst/>
            <a:ahLst/>
            <a:cxnLst/>
            <a:rect l="0" t="0" r="r" b="b"/>
            <a:pathLst>
              <a:path w="89916" h="85725">
                <a:moveTo>
                  <a:pt x="44958" y="0"/>
                </a:moveTo>
                <a:lnTo>
                  <a:pt x="58738" y="28575"/>
                </a:lnTo>
                <a:lnTo>
                  <a:pt x="89916" y="32829"/>
                </a:lnTo>
                <a:lnTo>
                  <a:pt x="67183" y="54483"/>
                </a:lnTo>
                <a:lnTo>
                  <a:pt x="73025" y="85725"/>
                </a:lnTo>
                <a:lnTo>
                  <a:pt x="44958" y="70358"/>
                </a:lnTo>
                <a:lnTo>
                  <a:pt x="16891" y="85725"/>
                </a:lnTo>
                <a:lnTo>
                  <a:pt x="22733" y="54483"/>
                </a:lnTo>
                <a:lnTo>
                  <a:pt x="0" y="32829"/>
                </a:lnTo>
                <a:lnTo>
                  <a:pt x="31179" y="28575"/>
                </a:lnTo>
                <a:close/>
              </a:path>
            </a:pathLst>
          </a:custGeom>
          <a:noFill/>
          <a:ln w="10160" cap="rnd">
            <a:solidFill>
              <a:srgbClr val="CBD7E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icon-star"/>
          <p:cNvSpPr/>
          <p:nvPr/>
        </p:nvSpPr>
        <p:spPr>
          <a:xfrm>
            <a:off x="3968242" y="4946650"/>
            <a:ext cx="89916" cy="85725"/>
          </a:xfrm>
          <a:custGeom>
            <a:avLst/>
            <a:gdLst/>
            <a:ahLst/>
            <a:cxnLst/>
            <a:rect l="0" t="0" r="r" b="b"/>
            <a:pathLst>
              <a:path w="89916" h="85725">
                <a:moveTo>
                  <a:pt x="44958" y="0"/>
                </a:moveTo>
                <a:lnTo>
                  <a:pt x="58738" y="28575"/>
                </a:lnTo>
                <a:lnTo>
                  <a:pt x="89916" y="32829"/>
                </a:lnTo>
                <a:lnTo>
                  <a:pt x="67183" y="54483"/>
                </a:lnTo>
                <a:lnTo>
                  <a:pt x="73025" y="85725"/>
                </a:lnTo>
                <a:lnTo>
                  <a:pt x="44958" y="70358"/>
                </a:lnTo>
                <a:lnTo>
                  <a:pt x="16891" y="85725"/>
                </a:lnTo>
                <a:lnTo>
                  <a:pt x="22733" y="54483"/>
                </a:lnTo>
                <a:lnTo>
                  <a:pt x="0" y="32829"/>
                </a:lnTo>
                <a:lnTo>
                  <a:pt x="31179" y="28575"/>
                </a:lnTo>
                <a:close/>
              </a:path>
            </a:pathLst>
          </a:custGeom>
          <a:noFill/>
          <a:ln w="10160" cap="rnd">
            <a:solidFill>
              <a:srgbClr val="CBD7E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plan-2"/>
          <p:cNvSpPr/>
          <p:nvPr/>
        </p:nvSpPr>
        <p:spPr>
          <a:xfrm>
            <a:off x="4559300" y="1346200"/>
            <a:ext cx="3048000" cy="4343400"/>
          </a:xfrm>
          <a:custGeom>
            <a:avLst/>
            <a:gdLst/>
            <a:ahLst/>
            <a:cxnLst/>
            <a:rect l="0" t="0" r="r" b="b"/>
            <a:pathLst>
              <a:path w="3048000" h="4343400">
                <a:moveTo>
                  <a:pt x="139700" y="0"/>
                </a:moveTo>
                <a:lnTo>
                  <a:pt x="2908300" y="0"/>
                </a:lnTo>
                <a:cubicBezTo>
                  <a:pt x="2985453" y="0"/>
                  <a:pt x="3048000" y="62547"/>
                  <a:pt x="3048000" y="139700"/>
                </a:cubicBezTo>
                <a:lnTo>
                  <a:pt x="3048000" y="4203700"/>
                </a:lnTo>
                <a:cubicBezTo>
                  <a:pt x="3048000" y="4280852"/>
                  <a:pt x="2985453" y="4343400"/>
                  <a:pt x="2908300" y="4343400"/>
                </a:cubicBezTo>
                <a:lnTo>
                  <a:pt x="139700" y="4343400"/>
                </a:lnTo>
                <a:cubicBezTo>
                  <a:pt x="62548" y="4343400"/>
                  <a:pt x="0" y="4280852"/>
                  <a:pt x="0" y="4203700"/>
                </a:cubicBezTo>
                <a:lnTo>
                  <a:pt x="0" y="139700"/>
                </a:lnTo>
                <a:cubicBezTo>
                  <a:pt x="0" y="62547"/>
                  <a:pt x="62548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0B3E8F"/>
              </a:gs>
            </a:gsLst>
            <a:lin ang="7440000" scaled="0"/>
          </a:gra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best-tag"/>
          <p:cNvSpPr/>
          <p:nvPr/>
        </p:nvSpPr>
        <p:spPr>
          <a:xfrm>
            <a:off x="5588000" y="1219200"/>
            <a:ext cx="990600" cy="254000"/>
          </a:xfrm>
          <a:custGeom>
            <a:avLst/>
            <a:gdLst/>
            <a:ahLst/>
            <a:cxnLst/>
            <a:rect l="0" t="0" r="r" b="b"/>
            <a:pathLst>
              <a:path w="990600" h="254000">
                <a:moveTo>
                  <a:pt x="127000" y="0"/>
                </a:moveTo>
                <a:lnTo>
                  <a:pt x="863600" y="0"/>
                </a:lnTo>
                <a:cubicBezTo>
                  <a:pt x="933767" y="0"/>
                  <a:pt x="990600" y="56832"/>
                  <a:pt x="990600" y="127000"/>
                </a:cubicBezTo>
                <a:lnTo>
                  <a:pt x="990600" y="127000"/>
                </a:lnTo>
                <a:cubicBezTo>
                  <a:pt x="990600" y="197168"/>
                  <a:pt x="933767" y="254000"/>
                  <a:pt x="863600" y="254000"/>
                </a:cubicBezTo>
                <a:lnTo>
                  <a:pt x="127000" y="254000"/>
                </a:lnTo>
                <a:cubicBezTo>
                  <a:pt x="56833" y="254000"/>
                  <a:pt x="0" y="197168"/>
                  <a:pt x="0" y="127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best-t"/>
          <p:cNvSpPr txBox="1"/>
          <p:nvPr/>
        </p:nvSpPr>
        <p:spPr>
          <a:xfrm>
            <a:off x="5793422" y="12509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推荐方案</a:t>
            </a:r>
          </a:p>
        </p:txBody>
      </p:sp>
      <p:sp>
        <p:nvSpPr>
          <p:cNvPr id="42" name="cn-2"/>
          <p:cNvSpPr txBox="1"/>
          <p:nvPr/>
        </p:nvSpPr>
        <p:spPr>
          <a:xfrm>
            <a:off x="5683250" y="1580832"/>
            <a:ext cx="80010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专业版</a:t>
            </a:r>
          </a:p>
        </p:txBody>
      </p:sp>
      <p:sp>
        <p:nvSpPr>
          <p:cNvPr id="43" name="en-2"/>
          <p:cNvSpPr txBox="1"/>
          <p:nvPr/>
        </p:nvSpPr>
        <p:spPr>
          <a:xfrm>
            <a:off x="5611241" y="1884108"/>
            <a:ext cx="94411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75">
                <a:solidFill>
                  <a:srgbClr val="BFD6F0"/>
                </a:solidFill>
                <a:latin typeface="Arial"/>
                <a:ea typeface="Arial"/>
                <a:cs typeface="Arial"/>
              </a:rPr>
              <a:t>PROFESSIONAL</a:t>
            </a:r>
          </a:p>
        </p:txBody>
      </p:sp>
      <p:sp>
        <p:nvSpPr>
          <p:cNvPr id="44" name="price-2"/>
          <p:cNvSpPr txBox="1"/>
          <p:nvPr/>
        </p:nvSpPr>
        <p:spPr>
          <a:xfrm>
            <a:off x="5131816" y="2014918"/>
            <a:ext cx="903732" cy="6000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700" b="1" spc="50">
                <a:solidFill>
                  <a:srgbClr val="FFFFFF"/>
                </a:solidFill>
                <a:latin typeface="Arial"/>
                <a:ea typeface="Arial"/>
                <a:cs typeface="Arial"/>
              </a:rPr>
              <a:t>168</a:t>
            </a:r>
          </a:p>
        </p:txBody>
      </p:sp>
      <p:sp>
        <p:nvSpPr>
          <p:cNvPr id="45" name="unit-2"/>
          <p:cNvSpPr txBox="1"/>
          <p:nvPr/>
        </p:nvSpPr>
        <p:spPr>
          <a:xfrm>
            <a:off x="6044946" y="2305082"/>
            <a:ext cx="3130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万元</a:t>
            </a:r>
          </a:p>
        </p:txBody>
      </p:sp>
      <p:sp>
        <p:nvSpPr>
          <p:cNvPr id="46" name="weeks-2"/>
          <p:cNvSpPr txBox="1"/>
          <p:nvPr/>
        </p:nvSpPr>
        <p:spPr>
          <a:xfrm>
            <a:off x="5655500" y="2516124"/>
            <a:ext cx="855599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5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交付周期 12 周</a:t>
            </a:r>
          </a:p>
        </p:txBody>
      </p:sp>
      <p:cxnSp>
        <p:nvCxnSpPr>
          <p:cNvPr id="47" name="div-2"/>
          <p:cNvCxnSpPr/>
          <p:nvPr/>
        </p:nvCxnSpPr>
        <p:spPr>
          <a:xfrm>
            <a:off x="4838700" y="2819400"/>
            <a:ext cx="2489200" cy="0"/>
          </a:xfrm>
          <a:prstGeom prst="line">
            <a:avLst/>
          </a:prstGeom>
          <a:ln w="6350" cap="rnd">
            <a:solidFill>
              <a:srgbClr val="FFFFFF">
                <a:alpha val="2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icon-check"/>
          <p:cNvSpPr/>
          <p:nvPr/>
        </p:nvSpPr>
        <p:spPr>
          <a:xfrm>
            <a:off x="4908106" y="3038602"/>
            <a:ext cx="64389" cy="45212"/>
          </a:xfrm>
          <a:custGeom>
            <a:avLst/>
            <a:gdLst/>
            <a:ahLst/>
            <a:cxnLst/>
            <a:rect l="0" t="0" r="r" b="b"/>
            <a:pathLst>
              <a:path w="64389" h="45212">
                <a:moveTo>
                  <a:pt x="0" y="24130"/>
                </a:moveTo>
                <a:lnTo>
                  <a:pt x="21146" y="45212"/>
                </a:lnTo>
                <a:lnTo>
                  <a:pt x="64389" y="0"/>
                </a:ln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ft-2-1"/>
          <p:cNvSpPr txBox="1"/>
          <p:nvPr/>
        </p:nvSpPr>
        <p:spPr>
          <a:xfrm>
            <a:off x="5105527" y="2969403"/>
            <a:ext cx="73818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现有系统改造</a:t>
            </a:r>
          </a:p>
        </p:txBody>
      </p:sp>
      <p:sp>
        <p:nvSpPr>
          <p:cNvPr id="50" name="icon-check"/>
          <p:cNvSpPr/>
          <p:nvPr/>
        </p:nvSpPr>
        <p:spPr>
          <a:xfrm>
            <a:off x="4908106" y="3330702"/>
            <a:ext cx="64389" cy="45212"/>
          </a:xfrm>
          <a:custGeom>
            <a:avLst/>
            <a:gdLst/>
            <a:ahLst/>
            <a:cxnLst/>
            <a:rect l="0" t="0" r="r" b="b"/>
            <a:pathLst>
              <a:path w="64389" h="45212">
                <a:moveTo>
                  <a:pt x="0" y="24130"/>
                </a:moveTo>
                <a:lnTo>
                  <a:pt x="21146" y="45212"/>
                </a:lnTo>
                <a:lnTo>
                  <a:pt x="64389" y="0"/>
                </a:ln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ft-2-2"/>
          <p:cNvSpPr txBox="1"/>
          <p:nvPr/>
        </p:nvSpPr>
        <p:spPr>
          <a:xfrm>
            <a:off x="5105527" y="3261503"/>
            <a:ext cx="73818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全新平台搭建</a:t>
            </a:r>
          </a:p>
        </p:txBody>
      </p:sp>
      <p:sp>
        <p:nvSpPr>
          <p:cNvPr id="52" name="icon-check"/>
          <p:cNvSpPr/>
          <p:nvPr/>
        </p:nvSpPr>
        <p:spPr>
          <a:xfrm>
            <a:off x="4908106" y="3622802"/>
            <a:ext cx="64389" cy="45212"/>
          </a:xfrm>
          <a:custGeom>
            <a:avLst/>
            <a:gdLst/>
            <a:ahLst/>
            <a:cxnLst/>
            <a:rect l="0" t="0" r="r" b="b"/>
            <a:pathLst>
              <a:path w="64389" h="45212">
                <a:moveTo>
                  <a:pt x="0" y="24130"/>
                </a:moveTo>
                <a:lnTo>
                  <a:pt x="21146" y="45212"/>
                </a:lnTo>
                <a:lnTo>
                  <a:pt x="64389" y="0"/>
                </a:ln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ft-2-3"/>
          <p:cNvSpPr txBox="1"/>
          <p:nvPr/>
        </p:nvSpPr>
        <p:spPr>
          <a:xfrm>
            <a:off x="5105527" y="3553603"/>
            <a:ext cx="73818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数据迁移支持</a:t>
            </a:r>
          </a:p>
        </p:txBody>
      </p:sp>
      <p:sp>
        <p:nvSpPr>
          <p:cNvPr id="54" name="icon-check"/>
          <p:cNvSpPr/>
          <p:nvPr/>
        </p:nvSpPr>
        <p:spPr>
          <a:xfrm>
            <a:off x="4908106" y="3914902"/>
            <a:ext cx="64389" cy="45212"/>
          </a:xfrm>
          <a:custGeom>
            <a:avLst/>
            <a:gdLst/>
            <a:ahLst/>
            <a:cxnLst/>
            <a:rect l="0" t="0" r="r" b="b"/>
            <a:pathLst>
              <a:path w="64389" h="45212">
                <a:moveTo>
                  <a:pt x="0" y="24130"/>
                </a:moveTo>
                <a:lnTo>
                  <a:pt x="21146" y="45212"/>
                </a:lnTo>
                <a:lnTo>
                  <a:pt x="64389" y="0"/>
                </a:ln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ft-2-4"/>
          <p:cNvSpPr txBox="1"/>
          <p:nvPr/>
        </p:nvSpPr>
        <p:spPr>
          <a:xfrm>
            <a:off x="5105527" y="3845703"/>
            <a:ext cx="73818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定制开发能力</a:t>
            </a:r>
          </a:p>
        </p:txBody>
      </p:sp>
      <p:sp>
        <p:nvSpPr>
          <p:cNvPr id="56" name="icon-check"/>
          <p:cNvSpPr/>
          <p:nvPr/>
        </p:nvSpPr>
        <p:spPr>
          <a:xfrm>
            <a:off x="4908106" y="4207002"/>
            <a:ext cx="64389" cy="45212"/>
          </a:xfrm>
          <a:custGeom>
            <a:avLst/>
            <a:gdLst/>
            <a:ahLst/>
            <a:cxnLst/>
            <a:rect l="0" t="0" r="r" b="b"/>
            <a:pathLst>
              <a:path w="64389" h="45212">
                <a:moveTo>
                  <a:pt x="0" y="24130"/>
                </a:moveTo>
                <a:lnTo>
                  <a:pt x="21146" y="45212"/>
                </a:lnTo>
                <a:lnTo>
                  <a:pt x="64389" y="0"/>
                </a:ln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ft-2-5"/>
          <p:cNvSpPr txBox="1"/>
          <p:nvPr/>
        </p:nvSpPr>
        <p:spPr>
          <a:xfrm>
            <a:off x="5105527" y="4137803"/>
            <a:ext cx="82962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7×24 运维值守</a:t>
            </a:r>
          </a:p>
        </p:txBody>
      </p:sp>
      <p:sp>
        <p:nvSpPr>
          <p:cNvPr id="58" name="x-2-6"/>
          <p:cNvSpPr/>
          <p:nvPr/>
        </p:nvSpPr>
        <p:spPr>
          <a:xfrm>
            <a:off x="4895850" y="4476750"/>
            <a:ext cx="88900" cy="88900"/>
          </a:xfrm>
          <a:custGeom>
            <a:avLst/>
            <a:gdLst/>
            <a:ahLst/>
            <a:cxnLst/>
            <a:rect l="0" t="0" r="r" b="b"/>
            <a:pathLst>
              <a:path w="88900" h="88900">
                <a:moveTo>
                  <a:pt x="0" y="0"/>
                </a:moveTo>
                <a:lnTo>
                  <a:pt x="88900" y="88900"/>
                </a:lnTo>
                <a:moveTo>
                  <a:pt x="88900" y="0"/>
                </a:moveTo>
                <a:lnTo>
                  <a:pt x="0" y="88900"/>
                </a:lnTo>
              </a:path>
            </a:pathLst>
          </a:custGeom>
          <a:noFill/>
          <a:ln w="12700" cap="rnd">
            <a:solidFill>
              <a:srgbClr val="BFD6F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ft-2-6"/>
          <p:cNvSpPr txBox="1"/>
          <p:nvPr/>
        </p:nvSpPr>
        <p:spPr>
          <a:xfrm>
            <a:off x="5105527" y="4429903"/>
            <a:ext cx="73818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8FA8C6">
                    <a:alpha val="85000"/>
                  </a:srgbClr>
                </a:solidFill>
                <a:latin typeface="微软雅黑"/>
                <a:ea typeface="微软雅黑"/>
                <a:cs typeface="微软雅黑"/>
              </a:rPr>
              <a:t>三年免费升级</a:t>
            </a:r>
          </a:p>
        </p:txBody>
      </p:sp>
      <p:cxnSp>
        <p:nvCxnSpPr>
          <p:cNvPr id="60" name="div2-2"/>
          <p:cNvCxnSpPr/>
          <p:nvPr/>
        </p:nvCxnSpPr>
        <p:spPr>
          <a:xfrm>
            <a:off x="4838700" y="4940300"/>
            <a:ext cx="2489200" cy="0"/>
          </a:xfrm>
          <a:prstGeom prst="line">
            <a:avLst/>
          </a:prstGeom>
          <a:ln w="6350" cap="rnd">
            <a:solidFill>
              <a:srgbClr val="FFFFFF">
                <a:alpha val="2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score-2"/>
          <p:cNvSpPr txBox="1"/>
          <p:nvPr/>
        </p:nvSpPr>
        <p:spPr>
          <a:xfrm>
            <a:off x="4815840" y="4959032"/>
            <a:ext cx="501015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4.6</a:t>
            </a:r>
          </a:p>
        </p:txBody>
      </p:sp>
      <p:sp>
        <p:nvSpPr>
          <p:cNvPr id="62" name="score5-2"/>
          <p:cNvSpPr txBox="1"/>
          <p:nvPr/>
        </p:nvSpPr>
        <p:spPr>
          <a:xfrm>
            <a:off x="5189982" y="5084508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BFD6F0"/>
                </a:solidFill>
                <a:latin typeface="Arial"/>
                <a:ea typeface="Arial"/>
                <a:cs typeface="Arial"/>
              </a:rPr>
              <a:t>/ 5.0</a:t>
            </a:r>
          </a:p>
        </p:txBody>
      </p:sp>
      <p:sp>
        <p:nvSpPr>
          <p:cNvPr id="63" name="who-2"/>
          <p:cNvSpPr txBox="1"/>
          <p:nvPr/>
        </p:nvSpPr>
        <p:spPr>
          <a:xfrm>
            <a:off x="4827651" y="5283787"/>
            <a:ext cx="149256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多部门协同、需要深度定制的组织</a:t>
            </a:r>
          </a:p>
        </p:txBody>
      </p:sp>
      <p:sp>
        <p:nvSpPr>
          <p:cNvPr id="64" name="icon-star"/>
          <p:cNvSpPr/>
          <p:nvPr/>
        </p:nvSpPr>
        <p:spPr>
          <a:xfrm>
            <a:off x="6520942" y="5086350"/>
            <a:ext cx="89916" cy="85725"/>
          </a:xfrm>
          <a:custGeom>
            <a:avLst/>
            <a:gdLst/>
            <a:ahLst/>
            <a:cxnLst/>
            <a:rect l="0" t="0" r="r" b="b"/>
            <a:pathLst>
              <a:path w="89916" h="85725">
                <a:moveTo>
                  <a:pt x="44958" y="0"/>
                </a:moveTo>
                <a:lnTo>
                  <a:pt x="58738" y="28575"/>
                </a:lnTo>
                <a:lnTo>
                  <a:pt x="89916" y="32829"/>
                </a:lnTo>
                <a:lnTo>
                  <a:pt x="67183" y="54483"/>
                </a:lnTo>
                <a:lnTo>
                  <a:pt x="73025" y="85725"/>
                </a:lnTo>
                <a:lnTo>
                  <a:pt x="44958" y="70358"/>
                </a:lnTo>
                <a:lnTo>
                  <a:pt x="16891" y="85725"/>
                </a:lnTo>
                <a:lnTo>
                  <a:pt x="22733" y="54483"/>
                </a:lnTo>
                <a:lnTo>
                  <a:pt x="0" y="32829"/>
                </a:lnTo>
                <a:lnTo>
                  <a:pt x="31178" y="2857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icon-star"/>
          <p:cNvSpPr/>
          <p:nvPr/>
        </p:nvSpPr>
        <p:spPr>
          <a:xfrm>
            <a:off x="6711442" y="5086350"/>
            <a:ext cx="89916" cy="85725"/>
          </a:xfrm>
          <a:custGeom>
            <a:avLst/>
            <a:gdLst/>
            <a:ahLst/>
            <a:cxnLst/>
            <a:rect l="0" t="0" r="r" b="b"/>
            <a:pathLst>
              <a:path w="89916" h="85725">
                <a:moveTo>
                  <a:pt x="44958" y="0"/>
                </a:moveTo>
                <a:lnTo>
                  <a:pt x="58738" y="28575"/>
                </a:lnTo>
                <a:lnTo>
                  <a:pt x="89916" y="32829"/>
                </a:lnTo>
                <a:lnTo>
                  <a:pt x="67183" y="54483"/>
                </a:lnTo>
                <a:lnTo>
                  <a:pt x="73025" y="85725"/>
                </a:lnTo>
                <a:lnTo>
                  <a:pt x="44958" y="70358"/>
                </a:lnTo>
                <a:lnTo>
                  <a:pt x="16891" y="85725"/>
                </a:lnTo>
                <a:lnTo>
                  <a:pt x="22733" y="54483"/>
                </a:lnTo>
                <a:lnTo>
                  <a:pt x="0" y="32829"/>
                </a:lnTo>
                <a:lnTo>
                  <a:pt x="31178" y="2857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icon-star"/>
          <p:cNvSpPr/>
          <p:nvPr/>
        </p:nvSpPr>
        <p:spPr>
          <a:xfrm>
            <a:off x="6901942" y="5086350"/>
            <a:ext cx="89916" cy="85725"/>
          </a:xfrm>
          <a:custGeom>
            <a:avLst/>
            <a:gdLst/>
            <a:ahLst/>
            <a:cxnLst/>
            <a:rect l="0" t="0" r="r" b="b"/>
            <a:pathLst>
              <a:path w="89916" h="85725">
                <a:moveTo>
                  <a:pt x="44958" y="0"/>
                </a:moveTo>
                <a:lnTo>
                  <a:pt x="58738" y="28575"/>
                </a:lnTo>
                <a:lnTo>
                  <a:pt x="89916" y="32829"/>
                </a:lnTo>
                <a:lnTo>
                  <a:pt x="67183" y="54483"/>
                </a:lnTo>
                <a:lnTo>
                  <a:pt x="73025" y="85725"/>
                </a:lnTo>
                <a:lnTo>
                  <a:pt x="44958" y="70358"/>
                </a:lnTo>
                <a:lnTo>
                  <a:pt x="16891" y="85725"/>
                </a:lnTo>
                <a:lnTo>
                  <a:pt x="22733" y="54483"/>
                </a:lnTo>
                <a:lnTo>
                  <a:pt x="0" y="32829"/>
                </a:lnTo>
                <a:lnTo>
                  <a:pt x="31178" y="2857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icon-star"/>
          <p:cNvSpPr/>
          <p:nvPr/>
        </p:nvSpPr>
        <p:spPr>
          <a:xfrm>
            <a:off x="7092442" y="5086350"/>
            <a:ext cx="89916" cy="85725"/>
          </a:xfrm>
          <a:custGeom>
            <a:avLst/>
            <a:gdLst/>
            <a:ahLst/>
            <a:cxnLst/>
            <a:rect l="0" t="0" r="r" b="b"/>
            <a:pathLst>
              <a:path w="89916" h="85725">
                <a:moveTo>
                  <a:pt x="44958" y="0"/>
                </a:moveTo>
                <a:lnTo>
                  <a:pt x="58738" y="28575"/>
                </a:lnTo>
                <a:lnTo>
                  <a:pt x="89916" y="32829"/>
                </a:lnTo>
                <a:lnTo>
                  <a:pt x="67183" y="54483"/>
                </a:lnTo>
                <a:lnTo>
                  <a:pt x="73025" y="85725"/>
                </a:lnTo>
                <a:lnTo>
                  <a:pt x="44958" y="70358"/>
                </a:lnTo>
                <a:lnTo>
                  <a:pt x="16891" y="85725"/>
                </a:lnTo>
                <a:lnTo>
                  <a:pt x="22733" y="54483"/>
                </a:lnTo>
                <a:lnTo>
                  <a:pt x="0" y="32829"/>
                </a:lnTo>
                <a:lnTo>
                  <a:pt x="31178" y="2857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icon-star"/>
          <p:cNvSpPr/>
          <p:nvPr/>
        </p:nvSpPr>
        <p:spPr>
          <a:xfrm>
            <a:off x="7282942" y="5086350"/>
            <a:ext cx="89916" cy="85725"/>
          </a:xfrm>
          <a:custGeom>
            <a:avLst/>
            <a:gdLst/>
            <a:ahLst/>
            <a:cxnLst/>
            <a:rect l="0" t="0" r="r" b="b"/>
            <a:pathLst>
              <a:path w="89916" h="85725">
                <a:moveTo>
                  <a:pt x="44958" y="0"/>
                </a:moveTo>
                <a:lnTo>
                  <a:pt x="58738" y="28575"/>
                </a:lnTo>
                <a:lnTo>
                  <a:pt x="89916" y="32829"/>
                </a:lnTo>
                <a:lnTo>
                  <a:pt x="67183" y="54483"/>
                </a:lnTo>
                <a:lnTo>
                  <a:pt x="73025" y="85725"/>
                </a:lnTo>
                <a:lnTo>
                  <a:pt x="44958" y="70358"/>
                </a:lnTo>
                <a:lnTo>
                  <a:pt x="16891" y="85725"/>
                </a:lnTo>
                <a:lnTo>
                  <a:pt x="22733" y="54483"/>
                </a:lnTo>
                <a:lnTo>
                  <a:pt x="0" y="32829"/>
                </a:lnTo>
                <a:lnTo>
                  <a:pt x="31178" y="2857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plan-3"/>
          <p:cNvSpPr/>
          <p:nvPr/>
        </p:nvSpPr>
        <p:spPr>
          <a:xfrm>
            <a:off x="7874000" y="1485900"/>
            <a:ext cx="3048000" cy="4064000"/>
          </a:xfrm>
          <a:custGeom>
            <a:avLst/>
            <a:gdLst/>
            <a:ahLst/>
            <a:cxnLst/>
            <a:rect l="0" t="0" r="r" b="b"/>
            <a:pathLst>
              <a:path w="3048000" h="4064000">
                <a:moveTo>
                  <a:pt x="139700" y="0"/>
                </a:moveTo>
                <a:lnTo>
                  <a:pt x="2908300" y="0"/>
                </a:lnTo>
                <a:cubicBezTo>
                  <a:pt x="2985453" y="0"/>
                  <a:pt x="3048000" y="62547"/>
                  <a:pt x="3048000" y="139700"/>
                </a:cubicBezTo>
                <a:lnTo>
                  <a:pt x="3048000" y="3924300"/>
                </a:lnTo>
                <a:cubicBezTo>
                  <a:pt x="3048000" y="4001452"/>
                  <a:pt x="2985453" y="4064000"/>
                  <a:pt x="2908300" y="4064000"/>
                </a:cubicBezTo>
                <a:lnTo>
                  <a:pt x="139700" y="4064000"/>
                </a:lnTo>
                <a:cubicBezTo>
                  <a:pt x="62547" y="4064000"/>
                  <a:pt x="0" y="4001452"/>
                  <a:pt x="0" y="3924300"/>
                </a:cubicBezTo>
                <a:lnTo>
                  <a:pt x="0" y="139700"/>
                </a:lnTo>
                <a:cubicBezTo>
                  <a:pt x="0" y="62547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cap-3"/>
          <p:cNvSpPr/>
          <p:nvPr/>
        </p:nvSpPr>
        <p:spPr>
          <a:xfrm>
            <a:off x="7874000" y="1485900"/>
            <a:ext cx="3048000" cy="44450"/>
          </a:xfrm>
          <a:custGeom>
            <a:avLst/>
            <a:gdLst/>
            <a:ahLst/>
            <a:cxnLst/>
            <a:rect l="0" t="0" r="r" b="b"/>
            <a:pathLst>
              <a:path w="3048000" h="44450">
                <a:moveTo>
                  <a:pt x="22225" y="0"/>
                </a:moveTo>
                <a:lnTo>
                  <a:pt x="3025775" y="0"/>
                </a:lnTo>
                <a:cubicBezTo>
                  <a:pt x="3038031" y="0"/>
                  <a:pt x="3048000" y="9969"/>
                  <a:pt x="3048000" y="22225"/>
                </a:cubicBezTo>
                <a:lnTo>
                  <a:pt x="3048000" y="22225"/>
                </a:lnTo>
                <a:cubicBezTo>
                  <a:pt x="3048000" y="34481"/>
                  <a:pt x="3038031" y="44450"/>
                  <a:pt x="3025775" y="44450"/>
                </a:cubicBezTo>
                <a:lnTo>
                  <a:pt x="22225" y="44450"/>
                </a:lnTo>
                <a:cubicBezTo>
                  <a:pt x="9969" y="44450"/>
                  <a:pt x="0" y="34481"/>
                  <a:pt x="0" y="22225"/>
                </a:cubicBezTo>
                <a:lnTo>
                  <a:pt x="0" y="22225"/>
                </a:lnTo>
                <a:cubicBezTo>
                  <a:pt x="0" y="9969"/>
                  <a:pt x="9969" y="0"/>
                  <a:pt x="22225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cn-3"/>
          <p:cNvSpPr txBox="1"/>
          <p:nvPr/>
        </p:nvSpPr>
        <p:spPr>
          <a:xfrm>
            <a:off x="8997950" y="1720532"/>
            <a:ext cx="80010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旗舰版</a:t>
            </a:r>
          </a:p>
        </p:txBody>
      </p:sp>
      <p:sp>
        <p:nvSpPr>
          <p:cNvPr id="72" name="en-3"/>
          <p:cNvSpPr txBox="1"/>
          <p:nvPr/>
        </p:nvSpPr>
        <p:spPr>
          <a:xfrm>
            <a:off x="8997950" y="2023808"/>
            <a:ext cx="80010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75">
                <a:solidFill>
                  <a:srgbClr val="64748B"/>
                </a:solidFill>
                <a:latin typeface="Arial"/>
                <a:ea typeface="Arial"/>
                <a:cs typeface="Arial"/>
              </a:rPr>
              <a:t>ENTERPRISE</a:t>
            </a:r>
          </a:p>
        </p:txBody>
      </p:sp>
      <p:sp>
        <p:nvSpPr>
          <p:cNvPr id="73" name="price-3"/>
          <p:cNvSpPr txBox="1"/>
          <p:nvPr/>
        </p:nvSpPr>
        <p:spPr>
          <a:xfrm>
            <a:off x="8446516" y="2154618"/>
            <a:ext cx="903732" cy="6000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700" b="1" spc="50">
                <a:solidFill>
                  <a:srgbClr val="0B2545"/>
                </a:solidFill>
                <a:latin typeface="Arial"/>
                <a:ea typeface="Arial"/>
                <a:cs typeface="Arial"/>
              </a:rPr>
              <a:t>320</a:t>
            </a:r>
          </a:p>
        </p:txBody>
      </p:sp>
      <p:sp>
        <p:nvSpPr>
          <p:cNvPr id="74" name="unit-3"/>
          <p:cNvSpPr txBox="1"/>
          <p:nvPr/>
        </p:nvSpPr>
        <p:spPr>
          <a:xfrm>
            <a:off x="9359646" y="2444782"/>
            <a:ext cx="3130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万元</a:t>
            </a:r>
          </a:p>
        </p:txBody>
      </p:sp>
      <p:sp>
        <p:nvSpPr>
          <p:cNvPr id="75" name="weeks-3"/>
          <p:cNvSpPr txBox="1"/>
          <p:nvPr/>
        </p:nvSpPr>
        <p:spPr>
          <a:xfrm>
            <a:off x="8970200" y="2655824"/>
            <a:ext cx="855599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交付周期 20 周</a:t>
            </a:r>
          </a:p>
        </p:txBody>
      </p:sp>
      <p:cxnSp>
        <p:nvCxnSpPr>
          <p:cNvPr id="76" name="div-3"/>
          <p:cNvCxnSpPr/>
          <p:nvPr/>
        </p:nvCxnSpPr>
        <p:spPr>
          <a:xfrm>
            <a:off x="8153400" y="2959100"/>
            <a:ext cx="24892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7" name="icon-check"/>
          <p:cNvSpPr/>
          <p:nvPr/>
        </p:nvSpPr>
        <p:spPr>
          <a:xfrm>
            <a:off x="8222806" y="3178302"/>
            <a:ext cx="64389" cy="45212"/>
          </a:xfrm>
          <a:custGeom>
            <a:avLst/>
            <a:gdLst/>
            <a:ahLst/>
            <a:cxnLst/>
            <a:rect l="0" t="0" r="r" b="b"/>
            <a:pathLst>
              <a:path w="64389" h="45212">
                <a:moveTo>
                  <a:pt x="0" y="24130"/>
                </a:moveTo>
                <a:lnTo>
                  <a:pt x="21145" y="45212"/>
                </a:lnTo>
                <a:lnTo>
                  <a:pt x="64389" y="0"/>
                </a:lnTo>
              </a:path>
            </a:pathLst>
          </a:custGeom>
          <a:noFill/>
          <a:ln w="1397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ft-3-1"/>
          <p:cNvSpPr txBox="1"/>
          <p:nvPr/>
        </p:nvSpPr>
        <p:spPr>
          <a:xfrm>
            <a:off x="8420227" y="3109103"/>
            <a:ext cx="73818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现有系统改造</a:t>
            </a:r>
          </a:p>
        </p:txBody>
      </p:sp>
      <p:sp>
        <p:nvSpPr>
          <p:cNvPr id="79" name="icon-check"/>
          <p:cNvSpPr/>
          <p:nvPr/>
        </p:nvSpPr>
        <p:spPr>
          <a:xfrm>
            <a:off x="8222806" y="3470402"/>
            <a:ext cx="64389" cy="45212"/>
          </a:xfrm>
          <a:custGeom>
            <a:avLst/>
            <a:gdLst/>
            <a:ahLst/>
            <a:cxnLst/>
            <a:rect l="0" t="0" r="r" b="b"/>
            <a:pathLst>
              <a:path w="64389" h="45212">
                <a:moveTo>
                  <a:pt x="0" y="24130"/>
                </a:moveTo>
                <a:lnTo>
                  <a:pt x="21145" y="45212"/>
                </a:lnTo>
                <a:lnTo>
                  <a:pt x="64389" y="0"/>
                </a:lnTo>
              </a:path>
            </a:pathLst>
          </a:custGeom>
          <a:noFill/>
          <a:ln w="1397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ft-3-2"/>
          <p:cNvSpPr txBox="1"/>
          <p:nvPr/>
        </p:nvSpPr>
        <p:spPr>
          <a:xfrm>
            <a:off x="8420227" y="3401203"/>
            <a:ext cx="73818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全新平台搭建</a:t>
            </a:r>
          </a:p>
        </p:txBody>
      </p:sp>
      <p:sp>
        <p:nvSpPr>
          <p:cNvPr id="81" name="icon-check"/>
          <p:cNvSpPr/>
          <p:nvPr/>
        </p:nvSpPr>
        <p:spPr>
          <a:xfrm>
            <a:off x="8222806" y="3762502"/>
            <a:ext cx="64389" cy="45212"/>
          </a:xfrm>
          <a:custGeom>
            <a:avLst/>
            <a:gdLst/>
            <a:ahLst/>
            <a:cxnLst/>
            <a:rect l="0" t="0" r="r" b="b"/>
            <a:pathLst>
              <a:path w="64389" h="45212">
                <a:moveTo>
                  <a:pt x="0" y="24130"/>
                </a:moveTo>
                <a:lnTo>
                  <a:pt x="21145" y="45212"/>
                </a:lnTo>
                <a:lnTo>
                  <a:pt x="64389" y="0"/>
                </a:lnTo>
              </a:path>
            </a:pathLst>
          </a:custGeom>
          <a:noFill/>
          <a:ln w="1397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ft-3-3"/>
          <p:cNvSpPr txBox="1"/>
          <p:nvPr/>
        </p:nvSpPr>
        <p:spPr>
          <a:xfrm>
            <a:off x="8420227" y="3693303"/>
            <a:ext cx="73818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数据迁移支持</a:t>
            </a:r>
          </a:p>
        </p:txBody>
      </p:sp>
      <p:sp>
        <p:nvSpPr>
          <p:cNvPr id="83" name="icon-check"/>
          <p:cNvSpPr/>
          <p:nvPr/>
        </p:nvSpPr>
        <p:spPr>
          <a:xfrm>
            <a:off x="8222806" y="4054602"/>
            <a:ext cx="64389" cy="45212"/>
          </a:xfrm>
          <a:custGeom>
            <a:avLst/>
            <a:gdLst/>
            <a:ahLst/>
            <a:cxnLst/>
            <a:rect l="0" t="0" r="r" b="b"/>
            <a:pathLst>
              <a:path w="64389" h="45212">
                <a:moveTo>
                  <a:pt x="0" y="24130"/>
                </a:moveTo>
                <a:lnTo>
                  <a:pt x="21145" y="45212"/>
                </a:lnTo>
                <a:lnTo>
                  <a:pt x="64389" y="0"/>
                </a:lnTo>
              </a:path>
            </a:pathLst>
          </a:custGeom>
          <a:noFill/>
          <a:ln w="1397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ft-3-4"/>
          <p:cNvSpPr txBox="1"/>
          <p:nvPr/>
        </p:nvSpPr>
        <p:spPr>
          <a:xfrm>
            <a:off x="8420227" y="3985403"/>
            <a:ext cx="73818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定制开发能力</a:t>
            </a:r>
          </a:p>
        </p:txBody>
      </p:sp>
      <p:sp>
        <p:nvSpPr>
          <p:cNvPr id="85" name="icon-check"/>
          <p:cNvSpPr/>
          <p:nvPr/>
        </p:nvSpPr>
        <p:spPr>
          <a:xfrm>
            <a:off x="8222806" y="4346702"/>
            <a:ext cx="64389" cy="45212"/>
          </a:xfrm>
          <a:custGeom>
            <a:avLst/>
            <a:gdLst/>
            <a:ahLst/>
            <a:cxnLst/>
            <a:rect l="0" t="0" r="r" b="b"/>
            <a:pathLst>
              <a:path w="64389" h="45212">
                <a:moveTo>
                  <a:pt x="0" y="24130"/>
                </a:moveTo>
                <a:lnTo>
                  <a:pt x="21145" y="45212"/>
                </a:lnTo>
                <a:lnTo>
                  <a:pt x="64389" y="0"/>
                </a:lnTo>
              </a:path>
            </a:pathLst>
          </a:custGeom>
          <a:noFill/>
          <a:ln w="1397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ft-3-5"/>
          <p:cNvSpPr txBox="1"/>
          <p:nvPr/>
        </p:nvSpPr>
        <p:spPr>
          <a:xfrm>
            <a:off x="8420227" y="4277503"/>
            <a:ext cx="82962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7×24 运维值守</a:t>
            </a:r>
          </a:p>
        </p:txBody>
      </p:sp>
      <p:sp>
        <p:nvSpPr>
          <p:cNvPr id="87" name="icon-check"/>
          <p:cNvSpPr/>
          <p:nvPr/>
        </p:nvSpPr>
        <p:spPr>
          <a:xfrm>
            <a:off x="8222806" y="4638802"/>
            <a:ext cx="64389" cy="45212"/>
          </a:xfrm>
          <a:custGeom>
            <a:avLst/>
            <a:gdLst/>
            <a:ahLst/>
            <a:cxnLst/>
            <a:rect l="0" t="0" r="r" b="b"/>
            <a:pathLst>
              <a:path w="64389" h="45212">
                <a:moveTo>
                  <a:pt x="0" y="24130"/>
                </a:moveTo>
                <a:lnTo>
                  <a:pt x="21145" y="45212"/>
                </a:lnTo>
                <a:lnTo>
                  <a:pt x="64389" y="0"/>
                </a:lnTo>
              </a:path>
            </a:pathLst>
          </a:custGeom>
          <a:noFill/>
          <a:ln w="1397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ft-3-6"/>
          <p:cNvSpPr txBox="1"/>
          <p:nvPr/>
        </p:nvSpPr>
        <p:spPr>
          <a:xfrm>
            <a:off x="8420227" y="4569603"/>
            <a:ext cx="73818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三年免费升级</a:t>
            </a:r>
          </a:p>
        </p:txBody>
      </p:sp>
      <p:cxnSp>
        <p:nvCxnSpPr>
          <p:cNvPr id="89" name="div2-3"/>
          <p:cNvCxnSpPr/>
          <p:nvPr/>
        </p:nvCxnSpPr>
        <p:spPr>
          <a:xfrm>
            <a:off x="8153400" y="4800600"/>
            <a:ext cx="24892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0" name="score-3"/>
          <p:cNvSpPr txBox="1"/>
          <p:nvPr/>
        </p:nvSpPr>
        <p:spPr>
          <a:xfrm>
            <a:off x="8130540" y="4819332"/>
            <a:ext cx="501015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 spc="25">
                <a:solidFill>
                  <a:srgbClr val="0B2545"/>
                </a:solidFill>
                <a:latin typeface="Arial"/>
                <a:ea typeface="Arial"/>
                <a:cs typeface="Arial"/>
              </a:rPr>
              <a:t>4.9</a:t>
            </a:r>
          </a:p>
        </p:txBody>
      </p:sp>
      <p:sp>
        <p:nvSpPr>
          <p:cNvPr id="91" name="score5-3"/>
          <p:cNvSpPr txBox="1"/>
          <p:nvPr/>
        </p:nvSpPr>
        <p:spPr>
          <a:xfrm>
            <a:off x="8504682" y="4944808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/ 5.0</a:t>
            </a:r>
          </a:p>
        </p:txBody>
      </p:sp>
      <p:sp>
        <p:nvSpPr>
          <p:cNvPr id="92" name="who-3"/>
          <p:cNvSpPr txBox="1"/>
          <p:nvPr/>
        </p:nvSpPr>
        <p:spPr>
          <a:xfrm>
            <a:off x="8142351" y="5144087"/>
            <a:ext cx="13985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集团级统一管控与长期演进需求</a:t>
            </a:r>
          </a:p>
        </p:txBody>
      </p:sp>
      <p:sp>
        <p:nvSpPr>
          <p:cNvPr id="93" name="icon-star"/>
          <p:cNvSpPr/>
          <p:nvPr/>
        </p:nvSpPr>
        <p:spPr>
          <a:xfrm>
            <a:off x="9835642" y="4946650"/>
            <a:ext cx="89916" cy="85725"/>
          </a:xfrm>
          <a:custGeom>
            <a:avLst/>
            <a:gdLst/>
            <a:ahLst/>
            <a:cxnLst/>
            <a:rect l="0" t="0" r="r" b="b"/>
            <a:pathLst>
              <a:path w="89916" h="85725">
                <a:moveTo>
                  <a:pt x="44958" y="0"/>
                </a:moveTo>
                <a:lnTo>
                  <a:pt x="58738" y="28575"/>
                </a:lnTo>
                <a:lnTo>
                  <a:pt x="89916" y="32829"/>
                </a:lnTo>
                <a:lnTo>
                  <a:pt x="67183" y="54483"/>
                </a:lnTo>
                <a:lnTo>
                  <a:pt x="73025" y="85725"/>
                </a:lnTo>
                <a:lnTo>
                  <a:pt x="44958" y="70358"/>
                </a:lnTo>
                <a:lnTo>
                  <a:pt x="16891" y="85725"/>
                </a:lnTo>
                <a:lnTo>
                  <a:pt x="22733" y="54483"/>
                </a:lnTo>
                <a:lnTo>
                  <a:pt x="0" y="32829"/>
                </a:lnTo>
                <a:lnTo>
                  <a:pt x="31178" y="28575"/>
                </a:ln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icon-star"/>
          <p:cNvSpPr/>
          <p:nvPr/>
        </p:nvSpPr>
        <p:spPr>
          <a:xfrm>
            <a:off x="10026142" y="4946650"/>
            <a:ext cx="89916" cy="85725"/>
          </a:xfrm>
          <a:custGeom>
            <a:avLst/>
            <a:gdLst/>
            <a:ahLst/>
            <a:cxnLst/>
            <a:rect l="0" t="0" r="r" b="b"/>
            <a:pathLst>
              <a:path w="89916" h="85725">
                <a:moveTo>
                  <a:pt x="44958" y="0"/>
                </a:moveTo>
                <a:lnTo>
                  <a:pt x="58738" y="28575"/>
                </a:lnTo>
                <a:lnTo>
                  <a:pt x="89916" y="32829"/>
                </a:lnTo>
                <a:lnTo>
                  <a:pt x="67183" y="54483"/>
                </a:lnTo>
                <a:lnTo>
                  <a:pt x="73025" y="85725"/>
                </a:lnTo>
                <a:lnTo>
                  <a:pt x="44958" y="70358"/>
                </a:lnTo>
                <a:lnTo>
                  <a:pt x="16891" y="85725"/>
                </a:lnTo>
                <a:lnTo>
                  <a:pt x="22733" y="54483"/>
                </a:lnTo>
                <a:lnTo>
                  <a:pt x="0" y="32829"/>
                </a:lnTo>
                <a:lnTo>
                  <a:pt x="31178" y="28575"/>
                </a:ln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icon-star"/>
          <p:cNvSpPr/>
          <p:nvPr/>
        </p:nvSpPr>
        <p:spPr>
          <a:xfrm>
            <a:off x="10216642" y="4946650"/>
            <a:ext cx="89916" cy="85725"/>
          </a:xfrm>
          <a:custGeom>
            <a:avLst/>
            <a:gdLst/>
            <a:ahLst/>
            <a:cxnLst/>
            <a:rect l="0" t="0" r="r" b="b"/>
            <a:pathLst>
              <a:path w="89916" h="85725">
                <a:moveTo>
                  <a:pt x="44958" y="0"/>
                </a:moveTo>
                <a:lnTo>
                  <a:pt x="58738" y="28575"/>
                </a:lnTo>
                <a:lnTo>
                  <a:pt x="89916" y="32829"/>
                </a:lnTo>
                <a:lnTo>
                  <a:pt x="67183" y="54483"/>
                </a:lnTo>
                <a:lnTo>
                  <a:pt x="73025" y="85725"/>
                </a:lnTo>
                <a:lnTo>
                  <a:pt x="44958" y="70358"/>
                </a:lnTo>
                <a:lnTo>
                  <a:pt x="16891" y="85725"/>
                </a:lnTo>
                <a:lnTo>
                  <a:pt x="22733" y="54483"/>
                </a:lnTo>
                <a:lnTo>
                  <a:pt x="0" y="32829"/>
                </a:lnTo>
                <a:lnTo>
                  <a:pt x="31178" y="28575"/>
                </a:ln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icon-star"/>
          <p:cNvSpPr/>
          <p:nvPr/>
        </p:nvSpPr>
        <p:spPr>
          <a:xfrm>
            <a:off x="10407142" y="4946650"/>
            <a:ext cx="89916" cy="85725"/>
          </a:xfrm>
          <a:custGeom>
            <a:avLst/>
            <a:gdLst/>
            <a:ahLst/>
            <a:cxnLst/>
            <a:rect l="0" t="0" r="r" b="b"/>
            <a:pathLst>
              <a:path w="89916" h="85725">
                <a:moveTo>
                  <a:pt x="44958" y="0"/>
                </a:moveTo>
                <a:lnTo>
                  <a:pt x="58738" y="28575"/>
                </a:lnTo>
                <a:lnTo>
                  <a:pt x="89916" y="32829"/>
                </a:lnTo>
                <a:lnTo>
                  <a:pt x="67183" y="54483"/>
                </a:lnTo>
                <a:lnTo>
                  <a:pt x="73025" y="85725"/>
                </a:lnTo>
                <a:lnTo>
                  <a:pt x="44958" y="70358"/>
                </a:lnTo>
                <a:lnTo>
                  <a:pt x="16891" y="85725"/>
                </a:lnTo>
                <a:lnTo>
                  <a:pt x="22733" y="54483"/>
                </a:lnTo>
                <a:lnTo>
                  <a:pt x="0" y="32829"/>
                </a:lnTo>
                <a:lnTo>
                  <a:pt x="31178" y="28575"/>
                </a:ln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icon-star"/>
          <p:cNvSpPr/>
          <p:nvPr/>
        </p:nvSpPr>
        <p:spPr>
          <a:xfrm>
            <a:off x="10597642" y="4946650"/>
            <a:ext cx="89916" cy="85725"/>
          </a:xfrm>
          <a:custGeom>
            <a:avLst/>
            <a:gdLst/>
            <a:ahLst/>
            <a:cxnLst/>
            <a:rect l="0" t="0" r="r" b="b"/>
            <a:pathLst>
              <a:path w="89916" h="85725">
                <a:moveTo>
                  <a:pt x="44958" y="0"/>
                </a:moveTo>
                <a:lnTo>
                  <a:pt x="58738" y="28575"/>
                </a:lnTo>
                <a:lnTo>
                  <a:pt x="89916" y="32829"/>
                </a:lnTo>
                <a:lnTo>
                  <a:pt x="67183" y="54483"/>
                </a:lnTo>
                <a:lnTo>
                  <a:pt x="73025" y="85725"/>
                </a:lnTo>
                <a:lnTo>
                  <a:pt x="44958" y="70358"/>
                </a:lnTo>
                <a:lnTo>
                  <a:pt x="16891" y="85725"/>
                </a:lnTo>
                <a:lnTo>
                  <a:pt x="22733" y="54483"/>
                </a:lnTo>
                <a:lnTo>
                  <a:pt x="0" y="32829"/>
                </a:lnTo>
                <a:lnTo>
                  <a:pt x="31178" y="28575"/>
                </a:ln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98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方案评估 · 三版对照</a:t>
            </a:r>
          </a:p>
        </p:txBody>
      </p:sp>
      <p:sp>
        <p:nvSpPr>
          <p:cNvPr id="100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数字化改造成效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35483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BEFORE &amp; AFTER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351899" y="673132"/>
            <a:ext cx="22688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同口径统计，改造前后四项核心指标的变化</a:t>
            </a:r>
          </a:p>
        </p:txBody>
      </p:sp>
      <p:sp>
        <p:nvSpPr>
          <p:cNvPr id="10" name="head-1"/>
          <p:cNvSpPr/>
          <p:nvPr/>
        </p:nvSpPr>
        <p:spPr>
          <a:xfrm>
            <a:off x="952500" y="1549400"/>
            <a:ext cx="4699000" cy="736600"/>
          </a:xfrm>
          <a:custGeom>
            <a:avLst/>
            <a:gdLst/>
            <a:ahLst/>
            <a:cxnLst/>
            <a:rect l="0" t="0" r="r" b="b"/>
            <a:pathLst>
              <a:path w="4699000" h="736600">
                <a:moveTo>
                  <a:pt x="114300" y="0"/>
                </a:moveTo>
                <a:lnTo>
                  <a:pt x="4584700" y="0"/>
                </a:lnTo>
                <a:cubicBezTo>
                  <a:pt x="4647819" y="0"/>
                  <a:pt x="4699000" y="51181"/>
                  <a:pt x="4699000" y="114300"/>
                </a:cubicBezTo>
                <a:lnTo>
                  <a:pt x="4699000" y="622300"/>
                </a:lnTo>
                <a:cubicBezTo>
                  <a:pt x="4699000" y="685419"/>
                  <a:pt x="4647819" y="736600"/>
                  <a:pt x="4584700" y="736600"/>
                </a:cubicBezTo>
                <a:lnTo>
                  <a:pt x="114300" y="736600"/>
                </a:lnTo>
                <a:cubicBezTo>
                  <a:pt x="51181" y="736600"/>
                  <a:pt x="0" y="685419"/>
                  <a:pt x="0" y="622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E9EE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h-cn-1"/>
          <p:cNvSpPr txBox="1"/>
          <p:nvPr/>
        </p:nvSpPr>
        <p:spPr>
          <a:xfrm>
            <a:off x="1209040" y="1669732"/>
            <a:ext cx="80010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 spc="150">
                <a:solidFill>
                  <a:srgbClr val="45607F"/>
                </a:solidFill>
                <a:latin typeface="微软雅黑"/>
                <a:ea typeface="微软雅黑"/>
                <a:cs typeface="微软雅黑"/>
              </a:rPr>
              <a:t>改造前</a:t>
            </a:r>
          </a:p>
        </p:txBody>
      </p:sp>
      <p:sp>
        <p:nvSpPr>
          <p:cNvPr id="12" name="h-en-1"/>
          <p:cNvSpPr txBox="1"/>
          <p:nvPr/>
        </p:nvSpPr>
        <p:spPr>
          <a:xfrm>
            <a:off x="1221232" y="1985708"/>
            <a:ext cx="51206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75">
                <a:solidFill>
                  <a:srgbClr val="7A8EA8"/>
                </a:solidFill>
                <a:latin typeface="Arial"/>
                <a:ea typeface="Arial"/>
                <a:cs typeface="Arial"/>
              </a:rPr>
              <a:t>BEFORE</a:t>
            </a:r>
          </a:p>
        </p:txBody>
      </p:sp>
      <p:sp>
        <p:nvSpPr>
          <p:cNvPr id="13" name="h-note-1"/>
          <p:cNvSpPr txBox="1"/>
          <p:nvPr/>
        </p:nvSpPr>
        <p:spPr>
          <a:xfrm>
            <a:off x="4678172" y="1855724"/>
            <a:ext cx="7061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25">
                <a:solidFill>
                  <a:srgbClr val="7A8EA8"/>
                </a:solidFill>
                <a:latin typeface="微软雅黑"/>
                <a:ea typeface="微软雅黑"/>
                <a:cs typeface="微软雅黑"/>
              </a:rPr>
              <a:t>2024 年基线</a:t>
            </a:r>
          </a:p>
        </p:txBody>
      </p:sp>
      <p:sp>
        <p:nvSpPr>
          <p:cNvPr id="14" name="head-2"/>
          <p:cNvSpPr/>
          <p:nvPr/>
        </p:nvSpPr>
        <p:spPr>
          <a:xfrm>
            <a:off x="6540500" y="1549400"/>
            <a:ext cx="4699000" cy="736600"/>
          </a:xfrm>
          <a:custGeom>
            <a:avLst/>
            <a:gdLst/>
            <a:ahLst/>
            <a:cxnLst/>
            <a:rect l="0" t="0" r="r" b="b"/>
            <a:pathLst>
              <a:path w="4699000" h="736600">
                <a:moveTo>
                  <a:pt x="114300" y="0"/>
                </a:moveTo>
                <a:lnTo>
                  <a:pt x="4584700" y="0"/>
                </a:lnTo>
                <a:cubicBezTo>
                  <a:pt x="4647819" y="0"/>
                  <a:pt x="4699000" y="51181"/>
                  <a:pt x="4699000" y="114300"/>
                </a:cubicBezTo>
                <a:lnTo>
                  <a:pt x="4699000" y="622300"/>
                </a:lnTo>
                <a:cubicBezTo>
                  <a:pt x="4699000" y="685419"/>
                  <a:pt x="4647819" y="736600"/>
                  <a:pt x="4584700" y="736600"/>
                </a:cubicBezTo>
                <a:lnTo>
                  <a:pt x="114300" y="736600"/>
                </a:lnTo>
                <a:cubicBezTo>
                  <a:pt x="51181" y="736600"/>
                  <a:pt x="0" y="685419"/>
                  <a:pt x="0" y="622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h-cn-2"/>
          <p:cNvSpPr txBox="1"/>
          <p:nvPr/>
        </p:nvSpPr>
        <p:spPr>
          <a:xfrm>
            <a:off x="6797040" y="1669732"/>
            <a:ext cx="80010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改造后</a:t>
            </a:r>
          </a:p>
        </p:txBody>
      </p:sp>
      <p:sp>
        <p:nvSpPr>
          <p:cNvPr id="16" name="h-en-2"/>
          <p:cNvSpPr txBox="1"/>
          <p:nvPr/>
        </p:nvSpPr>
        <p:spPr>
          <a:xfrm>
            <a:off x="6809232" y="1985708"/>
            <a:ext cx="44005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75">
                <a:solidFill>
                  <a:srgbClr val="C7DAF2"/>
                </a:solidFill>
                <a:latin typeface="Arial"/>
                <a:ea typeface="Arial"/>
                <a:cs typeface="Arial"/>
              </a:rPr>
              <a:t>AFTER</a:t>
            </a:r>
          </a:p>
        </p:txBody>
      </p:sp>
      <p:sp>
        <p:nvSpPr>
          <p:cNvPr id="17" name="h-note-2"/>
          <p:cNvSpPr txBox="1"/>
          <p:nvPr/>
        </p:nvSpPr>
        <p:spPr>
          <a:xfrm>
            <a:off x="10266172" y="1855724"/>
            <a:ext cx="7061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25">
                <a:solidFill>
                  <a:srgbClr val="C7DAF2"/>
                </a:solidFill>
                <a:latin typeface="微软雅黑"/>
                <a:ea typeface="微软雅黑"/>
                <a:cs typeface="微软雅黑"/>
              </a:rPr>
              <a:t>2026 年现状</a:t>
            </a:r>
          </a:p>
        </p:txBody>
      </p:sp>
      <p:cxnSp>
        <p:nvCxnSpPr>
          <p:cNvPr id="18" name="axis"/>
          <p:cNvCxnSpPr/>
          <p:nvPr/>
        </p:nvCxnSpPr>
        <p:spPr>
          <a:xfrm>
            <a:off x="6096000" y="2413000"/>
            <a:ext cx="0" cy="3213100"/>
          </a:xfrm>
          <a:prstGeom prst="line">
            <a:avLst/>
          </a:prstGeom>
          <a:ln w="6350" cap="rnd">
            <a:solidFill>
              <a:srgbClr val="0B2545">
                <a:alpha val="1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lcard-1"/>
          <p:cNvSpPr/>
          <p:nvPr/>
        </p:nvSpPr>
        <p:spPr>
          <a:xfrm>
            <a:off x="952500" y="2540000"/>
            <a:ext cx="4699000" cy="609600"/>
          </a:xfrm>
          <a:custGeom>
            <a:avLst/>
            <a:gdLst/>
            <a:ahLst/>
            <a:cxnLst/>
            <a:rect l="0" t="0" r="r" b="b"/>
            <a:pathLst>
              <a:path w="4699000" h="609600">
                <a:moveTo>
                  <a:pt x="101600" y="0"/>
                </a:moveTo>
                <a:lnTo>
                  <a:pt x="4597400" y="0"/>
                </a:lnTo>
                <a:cubicBezTo>
                  <a:pt x="4653534" y="0"/>
                  <a:pt x="4699000" y="45466"/>
                  <a:pt x="4699000" y="101600"/>
                </a:cubicBezTo>
                <a:lnTo>
                  <a:pt x="4699000" y="508000"/>
                </a:lnTo>
                <a:cubicBezTo>
                  <a:pt x="4699000" y="564134"/>
                  <a:pt x="4653534" y="609600"/>
                  <a:pt x="4597400" y="609600"/>
                </a:cubicBezTo>
                <a:lnTo>
                  <a:pt x="101600" y="609600"/>
                </a:lnTo>
                <a:cubicBezTo>
                  <a:pt x="45466" y="609600"/>
                  <a:pt x="0" y="564134"/>
                  <a:pt x="0" y="508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icon-clock"/>
          <p:cNvSpPr/>
          <p:nvPr/>
        </p:nvSpPr>
        <p:spPr>
          <a:xfrm>
            <a:off x="1257300" y="2783840"/>
            <a:ext cx="23685" cy="49657"/>
          </a:xfrm>
          <a:custGeom>
            <a:avLst/>
            <a:gdLst/>
            <a:ahLst/>
            <a:cxnLst/>
            <a:rect l="0" t="0" r="r" b="b"/>
            <a:pathLst>
              <a:path w="23685" h="49657">
                <a:moveTo>
                  <a:pt x="0" y="0"/>
                </a:moveTo>
                <a:lnTo>
                  <a:pt x="0" y="35560"/>
                </a:lnTo>
                <a:lnTo>
                  <a:pt x="23685" y="49657"/>
                </a:lnTo>
              </a:path>
            </a:pathLst>
          </a:custGeom>
          <a:noFill/>
          <a:ln w="11430" cap="rnd">
            <a:solidFill>
              <a:srgbClr val="8FA3B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icon-clock"/>
          <p:cNvSpPr/>
          <p:nvPr/>
        </p:nvSpPr>
        <p:spPr>
          <a:xfrm>
            <a:off x="1193588" y="2755688"/>
            <a:ext cx="127423" cy="127423"/>
          </a:xfrm>
          <a:prstGeom prst="ellipse">
            <a:avLst/>
          </a:prstGeom>
          <a:noFill/>
          <a:ln w="11430" cap="rnd">
            <a:solidFill>
              <a:srgbClr val="8FA3B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lnm-1"/>
          <p:cNvSpPr txBox="1"/>
          <p:nvPr/>
        </p:nvSpPr>
        <p:spPr>
          <a:xfrm>
            <a:off x="1496822" y="2632297"/>
            <a:ext cx="86296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40">
                <a:solidFill>
                  <a:srgbClr val="5C728E"/>
                </a:solidFill>
                <a:latin typeface="微软雅黑"/>
                <a:ea typeface="微软雅黑"/>
                <a:cs typeface="微软雅黑"/>
              </a:rPr>
              <a:t>订单处理时效</a:t>
            </a:r>
          </a:p>
        </p:txBody>
      </p:sp>
      <p:sp>
        <p:nvSpPr>
          <p:cNvPr id="23" name="llb-1"/>
          <p:cNvSpPr txBox="1"/>
          <p:nvPr/>
        </p:nvSpPr>
        <p:spPr>
          <a:xfrm>
            <a:off x="1500632" y="2849308"/>
            <a:ext cx="35242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9CAFC6"/>
                </a:solidFill>
                <a:latin typeface="微软雅黑"/>
                <a:ea typeface="微软雅黑"/>
                <a:cs typeface="微软雅黑"/>
              </a:rPr>
              <a:t>改造前</a:t>
            </a:r>
          </a:p>
        </p:txBody>
      </p:sp>
      <p:sp>
        <p:nvSpPr>
          <p:cNvPr id="24" name="lv-1"/>
          <p:cNvSpPr txBox="1"/>
          <p:nvPr/>
        </p:nvSpPr>
        <p:spPr>
          <a:xfrm>
            <a:off x="4393311" y="2628964"/>
            <a:ext cx="1004697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700" b="1" spc="25">
                <a:solidFill>
                  <a:srgbClr val="8FA3BC"/>
                </a:solidFill>
                <a:latin typeface="微软雅黑"/>
                <a:ea typeface="微软雅黑"/>
                <a:cs typeface="微软雅黑"/>
              </a:rPr>
              <a:t>72 小时</a:t>
            </a:r>
          </a:p>
        </p:txBody>
      </p:sp>
      <p:sp>
        <p:nvSpPr>
          <p:cNvPr id="25" name="rcard-1"/>
          <p:cNvSpPr/>
          <p:nvPr/>
        </p:nvSpPr>
        <p:spPr>
          <a:xfrm>
            <a:off x="6540500" y="2540000"/>
            <a:ext cx="4699000" cy="609600"/>
          </a:xfrm>
          <a:custGeom>
            <a:avLst/>
            <a:gdLst/>
            <a:ahLst/>
            <a:cxnLst/>
            <a:rect l="0" t="0" r="r" b="b"/>
            <a:pathLst>
              <a:path w="4699000" h="609600">
                <a:moveTo>
                  <a:pt x="101600" y="0"/>
                </a:moveTo>
                <a:lnTo>
                  <a:pt x="4597400" y="0"/>
                </a:lnTo>
                <a:cubicBezTo>
                  <a:pt x="4653534" y="0"/>
                  <a:pt x="4699000" y="45466"/>
                  <a:pt x="4699000" y="101600"/>
                </a:cubicBezTo>
                <a:lnTo>
                  <a:pt x="4699000" y="508000"/>
                </a:lnTo>
                <a:cubicBezTo>
                  <a:pt x="4699000" y="564134"/>
                  <a:pt x="4653534" y="609600"/>
                  <a:pt x="4597400" y="609600"/>
                </a:cubicBezTo>
                <a:lnTo>
                  <a:pt x="101600" y="609600"/>
                </a:lnTo>
                <a:cubicBezTo>
                  <a:pt x="45466" y="609600"/>
                  <a:pt x="0" y="564134"/>
                  <a:pt x="0" y="508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rbar-1"/>
          <p:cNvSpPr/>
          <p:nvPr/>
        </p:nvSpPr>
        <p:spPr>
          <a:xfrm>
            <a:off x="6540500" y="2540000"/>
            <a:ext cx="31750" cy="609600"/>
          </a:xfrm>
          <a:custGeom>
            <a:avLst/>
            <a:gdLst/>
            <a:ahLst/>
            <a:cxnLst/>
            <a:rect l="0" t="0" r="r" b="b"/>
            <a:pathLst>
              <a:path w="31750" h="6096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593725"/>
                </a:lnTo>
                <a:cubicBezTo>
                  <a:pt x="31750" y="602488"/>
                  <a:pt x="24638" y="609600"/>
                  <a:pt x="15875" y="609600"/>
                </a:cubicBezTo>
                <a:lnTo>
                  <a:pt x="15875" y="609600"/>
                </a:lnTo>
                <a:cubicBezTo>
                  <a:pt x="7112" y="609600"/>
                  <a:pt x="0" y="602488"/>
                  <a:pt x="0" y="5937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rnm-1"/>
          <p:cNvSpPr txBox="1"/>
          <p:nvPr/>
        </p:nvSpPr>
        <p:spPr>
          <a:xfrm>
            <a:off x="6805422" y="2632297"/>
            <a:ext cx="86296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订单处理时效</a:t>
            </a:r>
          </a:p>
        </p:txBody>
      </p:sp>
      <p:sp>
        <p:nvSpPr>
          <p:cNvPr id="28" name="rlb-1"/>
          <p:cNvSpPr txBox="1"/>
          <p:nvPr/>
        </p:nvSpPr>
        <p:spPr>
          <a:xfrm>
            <a:off x="6809232" y="2849308"/>
            <a:ext cx="35242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改造后</a:t>
            </a:r>
          </a:p>
        </p:txBody>
      </p:sp>
      <p:sp>
        <p:nvSpPr>
          <p:cNvPr id="29" name="rv-1"/>
          <p:cNvSpPr txBox="1"/>
          <p:nvPr/>
        </p:nvSpPr>
        <p:spPr>
          <a:xfrm>
            <a:off x="9432290" y="2628964"/>
            <a:ext cx="880618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7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8 小时</a:t>
            </a:r>
          </a:p>
        </p:txBody>
      </p:sp>
      <p:sp>
        <p:nvSpPr>
          <p:cNvPr id="30" name="dtag-1"/>
          <p:cNvSpPr/>
          <p:nvPr/>
        </p:nvSpPr>
        <p:spPr>
          <a:xfrm>
            <a:off x="10401300" y="2692400"/>
            <a:ext cx="584200" cy="254000"/>
          </a:xfrm>
          <a:custGeom>
            <a:avLst/>
            <a:gdLst/>
            <a:ahLst/>
            <a:cxnLst/>
            <a:rect l="0" t="0" r="r" b="b"/>
            <a:pathLst>
              <a:path w="584200" h="254000">
                <a:moveTo>
                  <a:pt x="127000" y="0"/>
                </a:moveTo>
                <a:lnTo>
                  <a:pt x="457200" y="0"/>
                </a:lnTo>
                <a:cubicBezTo>
                  <a:pt x="527367" y="0"/>
                  <a:pt x="584200" y="56832"/>
                  <a:pt x="584200" y="127000"/>
                </a:cubicBezTo>
                <a:lnTo>
                  <a:pt x="584200" y="127000"/>
                </a:lnTo>
                <a:cubicBezTo>
                  <a:pt x="584200" y="197168"/>
                  <a:pt x="527367" y="254000"/>
                  <a:pt x="457200" y="254000"/>
                </a:cubicBezTo>
                <a:lnTo>
                  <a:pt x="127000" y="254000"/>
                </a:lnTo>
                <a:cubicBezTo>
                  <a:pt x="56833" y="254000"/>
                  <a:pt x="0" y="197168"/>
                  <a:pt x="0" y="127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dt-1"/>
          <p:cNvSpPr txBox="1"/>
          <p:nvPr/>
        </p:nvSpPr>
        <p:spPr>
          <a:xfrm>
            <a:off x="10517568" y="2724182"/>
            <a:ext cx="35166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25">
                <a:solidFill>
                  <a:srgbClr val="E0703A"/>
                </a:solidFill>
                <a:latin typeface="Arial"/>
                <a:ea typeface="Arial"/>
                <a:cs typeface="Arial"/>
              </a:rPr>
              <a:t>-89%</a:t>
            </a:r>
          </a:p>
        </p:txBody>
      </p:sp>
      <p:sp>
        <p:nvSpPr>
          <p:cNvPr id="32" name="arr-l-1"/>
          <p:cNvSpPr/>
          <p:nvPr/>
        </p:nvSpPr>
        <p:spPr>
          <a:xfrm>
            <a:off x="5918200" y="2819400"/>
            <a:ext cx="355600" cy="3175"/>
          </a:xfrm>
          <a:custGeom>
            <a:avLst/>
            <a:gdLst/>
            <a:ahLst/>
            <a:cxnLst/>
            <a:rect l="0" t="0" r="r" b="b"/>
            <a:pathLst>
              <a:path w="355600" h="3175">
                <a:moveTo>
                  <a:pt x="0" y="0"/>
                </a:moveTo>
                <a:lnTo>
                  <a:pt x="355600" y="0"/>
                </a:lnTo>
              </a:path>
            </a:pathLst>
          </a:custGeom>
          <a:noFill/>
          <a:ln w="12700" cap="rnd">
            <a:solidFill>
              <a:srgbClr val="1B5AA8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arr-h-1"/>
          <p:cNvSpPr/>
          <p:nvPr/>
        </p:nvSpPr>
        <p:spPr>
          <a:xfrm>
            <a:off x="6210300" y="2774950"/>
            <a:ext cx="76200" cy="88900"/>
          </a:xfrm>
          <a:custGeom>
            <a:avLst/>
            <a:gdLst/>
            <a:ahLst/>
            <a:cxnLst/>
            <a:rect l="0" t="0" r="r" b="b"/>
            <a:pathLst>
              <a:path w="76200" h="88900">
                <a:moveTo>
                  <a:pt x="0" y="0"/>
                </a:moveTo>
                <a:lnTo>
                  <a:pt x="76200" y="44450"/>
                </a:lnTo>
                <a:lnTo>
                  <a:pt x="0" y="88900"/>
                </a:lnTo>
              </a:path>
            </a:pathLst>
          </a:custGeom>
          <a:noFill/>
          <a:ln w="12700" cap="rnd">
            <a:solidFill>
              <a:srgbClr val="1B5AA8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lcard-2"/>
          <p:cNvSpPr/>
          <p:nvPr/>
        </p:nvSpPr>
        <p:spPr>
          <a:xfrm>
            <a:off x="952500" y="3352800"/>
            <a:ext cx="4699000" cy="609600"/>
          </a:xfrm>
          <a:custGeom>
            <a:avLst/>
            <a:gdLst/>
            <a:ahLst/>
            <a:cxnLst/>
            <a:rect l="0" t="0" r="r" b="b"/>
            <a:pathLst>
              <a:path w="4699000" h="609600">
                <a:moveTo>
                  <a:pt x="101600" y="0"/>
                </a:moveTo>
                <a:lnTo>
                  <a:pt x="4597400" y="0"/>
                </a:lnTo>
                <a:cubicBezTo>
                  <a:pt x="4653534" y="0"/>
                  <a:pt x="4699000" y="45466"/>
                  <a:pt x="4699000" y="101600"/>
                </a:cubicBezTo>
                <a:lnTo>
                  <a:pt x="4699000" y="508000"/>
                </a:lnTo>
                <a:cubicBezTo>
                  <a:pt x="4699000" y="564134"/>
                  <a:pt x="4653534" y="609600"/>
                  <a:pt x="4597400" y="609600"/>
                </a:cubicBezTo>
                <a:lnTo>
                  <a:pt x="101600" y="609600"/>
                </a:lnTo>
                <a:cubicBezTo>
                  <a:pt x="45466" y="609600"/>
                  <a:pt x="0" y="564134"/>
                  <a:pt x="0" y="508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icon-grow"/>
          <p:cNvSpPr/>
          <p:nvPr/>
        </p:nvSpPr>
        <p:spPr>
          <a:xfrm>
            <a:off x="1195070" y="3604070"/>
            <a:ext cx="111125" cy="69596"/>
          </a:xfrm>
          <a:custGeom>
            <a:avLst/>
            <a:gdLst/>
            <a:ahLst/>
            <a:cxnLst/>
            <a:rect l="0" t="0" r="r" b="b"/>
            <a:pathLst>
              <a:path w="111125" h="69596">
                <a:moveTo>
                  <a:pt x="0" y="69596"/>
                </a:moveTo>
                <a:lnTo>
                  <a:pt x="37021" y="29591"/>
                </a:lnTo>
                <a:lnTo>
                  <a:pt x="63691" y="51816"/>
                </a:lnTo>
                <a:lnTo>
                  <a:pt x="108140" y="0"/>
                </a:lnTo>
                <a:moveTo>
                  <a:pt x="90361" y="0"/>
                </a:moveTo>
                <a:lnTo>
                  <a:pt x="111125" y="0"/>
                </a:lnTo>
                <a:lnTo>
                  <a:pt x="111125" y="20701"/>
                </a:lnTo>
              </a:path>
            </a:pathLst>
          </a:custGeom>
          <a:noFill/>
          <a:ln w="11430" cap="rnd">
            <a:solidFill>
              <a:srgbClr val="8FA3B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lnm-2"/>
          <p:cNvSpPr txBox="1"/>
          <p:nvPr/>
        </p:nvSpPr>
        <p:spPr>
          <a:xfrm>
            <a:off x="1496822" y="3445097"/>
            <a:ext cx="61150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40">
                <a:solidFill>
                  <a:srgbClr val="5C728E"/>
                </a:solidFill>
                <a:latin typeface="微软雅黑"/>
                <a:ea typeface="微软雅黑"/>
                <a:cs typeface="微软雅黑"/>
              </a:rPr>
              <a:t>人均产出</a:t>
            </a:r>
          </a:p>
        </p:txBody>
      </p:sp>
      <p:sp>
        <p:nvSpPr>
          <p:cNvPr id="37" name="llb-2"/>
          <p:cNvSpPr txBox="1"/>
          <p:nvPr/>
        </p:nvSpPr>
        <p:spPr>
          <a:xfrm>
            <a:off x="1500632" y="3662108"/>
            <a:ext cx="35242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9CAFC6"/>
                </a:solidFill>
                <a:latin typeface="微软雅黑"/>
                <a:ea typeface="微软雅黑"/>
                <a:cs typeface="微软雅黑"/>
              </a:rPr>
              <a:t>改造前</a:t>
            </a:r>
          </a:p>
        </p:txBody>
      </p:sp>
      <p:sp>
        <p:nvSpPr>
          <p:cNvPr id="38" name="lv-2"/>
          <p:cNvSpPr txBox="1"/>
          <p:nvPr/>
        </p:nvSpPr>
        <p:spPr>
          <a:xfrm>
            <a:off x="4269232" y="3441764"/>
            <a:ext cx="1128776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700" b="1" spc="25">
                <a:solidFill>
                  <a:srgbClr val="8FA3BC"/>
                </a:solidFill>
                <a:latin typeface="微软雅黑"/>
                <a:ea typeface="微软雅黑"/>
                <a:cs typeface="微软雅黑"/>
              </a:rPr>
              <a:t>18 万/年</a:t>
            </a:r>
          </a:p>
        </p:txBody>
      </p:sp>
      <p:sp>
        <p:nvSpPr>
          <p:cNvPr id="39" name="rcard-2"/>
          <p:cNvSpPr/>
          <p:nvPr/>
        </p:nvSpPr>
        <p:spPr>
          <a:xfrm>
            <a:off x="6540500" y="3352800"/>
            <a:ext cx="4699000" cy="609600"/>
          </a:xfrm>
          <a:custGeom>
            <a:avLst/>
            <a:gdLst/>
            <a:ahLst/>
            <a:cxnLst/>
            <a:rect l="0" t="0" r="r" b="b"/>
            <a:pathLst>
              <a:path w="4699000" h="609600">
                <a:moveTo>
                  <a:pt x="101600" y="0"/>
                </a:moveTo>
                <a:lnTo>
                  <a:pt x="4597400" y="0"/>
                </a:lnTo>
                <a:cubicBezTo>
                  <a:pt x="4653534" y="0"/>
                  <a:pt x="4699000" y="45466"/>
                  <a:pt x="4699000" y="101600"/>
                </a:cubicBezTo>
                <a:lnTo>
                  <a:pt x="4699000" y="508000"/>
                </a:lnTo>
                <a:cubicBezTo>
                  <a:pt x="4699000" y="564134"/>
                  <a:pt x="4653534" y="609600"/>
                  <a:pt x="4597400" y="609600"/>
                </a:cubicBezTo>
                <a:lnTo>
                  <a:pt x="101600" y="609600"/>
                </a:lnTo>
                <a:cubicBezTo>
                  <a:pt x="45466" y="609600"/>
                  <a:pt x="0" y="564134"/>
                  <a:pt x="0" y="508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rbar-2"/>
          <p:cNvSpPr/>
          <p:nvPr/>
        </p:nvSpPr>
        <p:spPr>
          <a:xfrm>
            <a:off x="6540500" y="3352800"/>
            <a:ext cx="31750" cy="609600"/>
          </a:xfrm>
          <a:custGeom>
            <a:avLst/>
            <a:gdLst/>
            <a:ahLst/>
            <a:cxnLst/>
            <a:rect l="0" t="0" r="r" b="b"/>
            <a:pathLst>
              <a:path w="31750" h="6096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593725"/>
                </a:lnTo>
                <a:cubicBezTo>
                  <a:pt x="31750" y="602488"/>
                  <a:pt x="24638" y="609600"/>
                  <a:pt x="15875" y="609600"/>
                </a:cubicBezTo>
                <a:lnTo>
                  <a:pt x="15875" y="609600"/>
                </a:lnTo>
                <a:cubicBezTo>
                  <a:pt x="7112" y="609600"/>
                  <a:pt x="0" y="602488"/>
                  <a:pt x="0" y="5937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rnm-2"/>
          <p:cNvSpPr txBox="1"/>
          <p:nvPr/>
        </p:nvSpPr>
        <p:spPr>
          <a:xfrm>
            <a:off x="6805422" y="3445097"/>
            <a:ext cx="61150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人均产出</a:t>
            </a:r>
          </a:p>
        </p:txBody>
      </p:sp>
      <p:sp>
        <p:nvSpPr>
          <p:cNvPr id="42" name="rlb-2"/>
          <p:cNvSpPr txBox="1"/>
          <p:nvPr/>
        </p:nvSpPr>
        <p:spPr>
          <a:xfrm>
            <a:off x="6809232" y="3662108"/>
            <a:ext cx="35242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改造后</a:t>
            </a:r>
          </a:p>
        </p:txBody>
      </p:sp>
      <p:sp>
        <p:nvSpPr>
          <p:cNvPr id="43" name="rv-2"/>
          <p:cNvSpPr txBox="1"/>
          <p:nvPr/>
        </p:nvSpPr>
        <p:spPr>
          <a:xfrm>
            <a:off x="9184132" y="3441764"/>
            <a:ext cx="1128776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7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31 万/年</a:t>
            </a:r>
          </a:p>
        </p:txBody>
      </p:sp>
      <p:sp>
        <p:nvSpPr>
          <p:cNvPr id="44" name="dtag-2"/>
          <p:cNvSpPr/>
          <p:nvPr/>
        </p:nvSpPr>
        <p:spPr>
          <a:xfrm>
            <a:off x="10401300" y="3505200"/>
            <a:ext cx="584200" cy="254000"/>
          </a:xfrm>
          <a:custGeom>
            <a:avLst/>
            <a:gdLst/>
            <a:ahLst/>
            <a:cxnLst/>
            <a:rect l="0" t="0" r="r" b="b"/>
            <a:pathLst>
              <a:path w="584200" h="254000">
                <a:moveTo>
                  <a:pt x="127000" y="0"/>
                </a:moveTo>
                <a:lnTo>
                  <a:pt x="457200" y="0"/>
                </a:lnTo>
                <a:cubicBezTo>
                  <a:pt x="527367" y="0"/>
                  <a:pt x="584200" y="56833"/>
                  <a:pt x="584200" y="127000"/>
                </a:cubicBezTo>
                <a:lnTo>
                  <a:pt x="584200" y="127000"/>
                </a:lnTo>
                <a:cubicBezTo>
                  <a:pt x="584200" y="197167"/>
                  <a:pt x="527367" y="254000"/>
                  <a:pt x="457200" y="254000"/>
                </a:cubicBezTo>
                <a:lnTo>
                  <a:pt x="127000" y="254000"/>
                </a:lnTo>
                <a:cubicBezTo>
                  <a:pt x="56833" y="254000"/>
                  <a:pt x="0" y="197167"/>
                  <a:pt x="0" y="127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dt-2"/>
          <p:cNvSpPr txBox="1"/>
          <p:nvPr/>
        </p:nvSpPr>
        <p:spPr>
          <a:xfrm>
            <a:off x="10517568" y="3536982"/>
            <a:ext cx="35166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25">
                <a:solidFill>
                  <a:srgbClr val="E0703A"/>
                </a:solidFill>
                <a:latin typeface="Arial"/>
                <a:ea typeface="Arial"/>
                <a:cs typeface="Arial"/>
              </a:rPr>
              <a:t>+72%</a:t>
            </a:r>
          </a:p>
        </p:txBody>
      </p:sp>
      <p:sp>
        <p:nvSpPr>
          <p:cNvPr id="46" name="arr-l-2"/>
          <p:cNvSpPr/>
          <p:nvPr/>
        </p:nvSpPr>
        <p:spPr>
          <a:xfrm>
            <a:off x="5918200" y="3632200"/>
            <a:ext cx="355600" cy="3175"/>
          </a:xfrm>
          <a:custGeom>
            <a:avLst/>
            <a:gdLst/>
            <a:ahLst/>
            <a:cxnLst/>
            <a:rect l="0" t="0" r="r" b="b"/>
            <a:pathLst>
              <a:path w="355600" h="3175">
                <a:moveTo>
                  <a:pt x="0" y="0"/>
                </a:moveTo>
                <a:lnTo>
                  <a:pt x="355600" y="0"/>
                </a:lnTo>
              </a:path>
            </a:pathLst>
          </a:custGeom>
          <a:noFill/>
          <a:ln w="12700" cap="rnd">
            <a:solidFill>
              <a:srgbClr val="1B5AA8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arr-h-2"/>
          <p:cNvSpPr/>
          <p:nvPr/>
        </p:nvSpPr>
        <p:spPr>
          <a:xfrm>
            <a:off x="6210300" y="3587750"/>
            <a:ext cx="76200" cy="88900"/>
          </a:xfrm>
          <a:custGeom>
            <a:avLst/>
            <a:gdLst/>
            <a:ahLst/>
            <a:cxnLst/>
            <a:rect l="0" t="0" r="r" b="b"/>
            <a:pathLst>
              <a:path w="76200" h="88900">
                <a:moveTo>
                  <a:pt x="0" y="0"/>
                </a:moveTo>
                <a:lnTo>
                  <a:pt x="76200" y="44450"/>
                </a:lnTo>
                <a:lnTo>
                  <a:pt x="0" y="88900"/>
                </a:lnTo>
              </a:path>
            </a:pathLst>
          </a:custGeom>
          <a:noFill/>
          <a:ln w="12700" cap="rnd">
            <a:solidFill>
              <a:srgbClr val="1B5AA8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lcard-3"/>
          <p:cNvSpPr/>
          <p:nvPr/>
        </p:nvSpPr>
        <p:spPr>
          <a:xfrm>
            <a:off x="952500" y="4165600"/>
            <a:ext cx="4699000" cy="609600"/>
          </a:xfrm>
          <a:custGeom>
            <a:avLst/>
            <a:gdLst/>
            <a:ahLst/>
            <a:cxnLst/>
            <a:rect l="0" t="0" r="r" b="b"/>
            <a:pathLst>
              <a:path w="4699000" h="609600">
                <a:moveTo>
                  <a:pt x="101600" y="0"/>
                </a:moveTo>
                <a:lnTo>
                  <a:pt x="4597400" y="0"/>
                </a:lnTo>
                <a:cubicBezTo>
                  <a:pt x="4653534" y="0"/>
                  <a:pt x="4699000" y="45466"/>
                  <a:pt x="4699000" y="101600"/>
                </a:cubicBezTo>
                <a:lnTo>
                  <a:pt x="4699000" y="508000"/>
                </a:lnTo>
                <a:cubicBezTo>
                  <a:pt x="4699000" y="564134"/>
                  <a:pt x="4653534" y="609600"/>
                  <a:pt x="4597400" y="609600"/>
                </a:cubicBezTo>
                <a:lnTo>
                  <a:pt x="101600" y="609600"/>
                </a:lnTo>
                <a:cubicBezTo>
                  <a:pt x="45466" y="609600"/>
                  <a:pt x="0" y="564134"/>
                  <a:pt x="0" y="508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icon-shield"/>
          <p:cNvSpPr/>
          <p:nvPr/>
        </p:nvSpPr>
        <p:spPr>
          <a:xfrm>
            <a:off x="1203960" y="4381310"/>
            <a:ext cx="106680" cy="127381"/>
          </a:xfrm>
          <a:custGeom>
            <a:avLst/>
            <a:gdLst/>
            <a:ahLst/>
            <a:cxnLst/>
            <a:rect l="0" t="0" r="r" b="b"/>
            <a:pathLst>
              <a:path w="106680" h="127381">
                <a:moveTo>
                  <a:pt x="53340" y="0"/>
                </a:moveTo>
                <a:lnTo>
                  <a:pt x="106680" y="20701"/>
                </a:lnTo>
                <a:lnTo>
                  <a:pt x="106680" y="62230"/>
                </a:lnTo>
                <a:cubicBezTo>
                  <a:pt x="106680" y="93345"/>
                  <a:pt x="84455" y="117030"/>
                  <a:pt x="53340" y="127381"/>
                </a:cubicBezTo>
                <a:cubicBezTo>
                  <a:pt x="22225" y="117030"/>
                  <a:pt x="0" y="93345"/>
                  <a:pt x="0" y="62230"/>
                </a:cubicBezTo>
                <a:lnTo>
                  <a:pt x="0" y="20701"/>
                </a:lnTo>
                <a:close/>
                <a:moveTo>
                  <a:pt x="31115" y="63690"/>
                </a:moveTo>
                <a:lnTo>
                  <a:pt x="47434" y="80010"/>
                </a:lnTo>
                <a:lnTo>
                  <a:pt x="78550" y="48895"/>
                </a:lnTo>
              </a:path>
            </a:pathLst>
          </a:custGeom>
          <a:noFill/>
          <a:ln w="11430" cap="rnd">
            <a:solidFill>
              <a:srgbClr val="8FA3B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lnm-3"/>
          <p:cNvSpPr txBox="1"/>
          <p:nvPr/>
        </p:nvSpPr>
        <p:spPr>
          <a:xfrm>
            <a:off x="1496822" y="4257897"/>
            <a:ext cx="48577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40">
                <a:solidFill>
                  <a:srgbClr val="5C728E"/>
                </a:solidFill>
                <a:latin typeface="微软雅黑"/>
                <a:ea typeface="微软雅黑"/>
                <a:cs typeface="微软雅黑"/>
              </a:rPr>
              <a:t>差错率</a:t>
            </a:r>
          </a:p>
        </p:txBody>
      </p:sp>
      <p:sp>
        <p:nvSpPr>
          <p:cNvPr id="51" name="llb-3"/>
          <p:cNvSpPr txBox="1"/>
          <p:nvPr/>
        </p:nvSpPr>
        <p:spPr>
          <a:xfrm>
            <a:off x="1500632" y="4474908"/>
            <a:ext cx="35242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9CAFC6"/>
                </a:solidFill>
                <a:latin typeface="微软雅黑"/>
                <a:ea typeface="微软雅黑"/>
                <a:cs typeface="微软雅黑"/>
              </a:rPr>
              <a:t>改造前</a:t>
            </a:r>
          </a:p>
        </p:txBody>
      </p:sp>
      <p:sp>
        <p:nvSpPr>
          <p:cNvPr id="52" name="lv-3"/>
          <p:cNvSpPr txBox="1"/>
          <p:nvPr/>
        </p:nvSpPr>
        <p:spPr>
          <a:xfrm>
            <a:off x="4707382" y="4254564"/>
            <a:ext cx="690626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700" b="1" spc="25">
                <a:solidFill>
                  <a:srgbClr val="8FA3BC"/>
                </a:solidFill>
                <a:latin typeface="微软雅黑"/>
                <a:ea typeface="微软雅黑"/>
                <a:cs typeface="微软雅黑"/>
              </a:rPr>
              <a:t>3.6%</a:t>
            </a:r>
          </a:p>
        </p:txBody>
      </p:sp>
      <p:sp>
        <p:nvSpPr>
          <p:cNvPr id="53" name="rcard-3"/>
          <p:cNvSpPr/>
          <p:nvPr/>
        </p:nvSpPr>
        <p:spPr>
          <a:xfrm>
            <a:off x="6540500" y="4165600"/>
            <a:ext cx="4699000" cy="609600"/>
          </a:xfrm>
          <a:custGeom>
            <a:avLst/>
            <a:gdLst/>
            <a:ahLst/>
            <a:cxnLst/>
            <a:rect l="0" t="0" r="r" b="b"/>
            <a:pathLst>
              <a:path w="4699000" h="609600">
                <a:moveTo>
                  <a:pt x="101600" y="0"/>
                </a:moveTo>
                <a:lnTo>
                  <a:pt x="4597400" y="0"/>
                </a:lnTo>
                <a:cubicBezTo>
                  <a:pt x="4653534" y="0"/>
                  <a:pt x="4699000" y="45466"/>
                  <a:pt x="4699000" y="101600"/>
                </a:cubicBezTo>
                <a:lnTo>
                  <a:pt x="4699000" y="508000"/>
                </a:lnTo>
                <a:cubicBezTo>
                  <a:pt x="4699000" y="564134"/>
                  <a:pt x="4653534" y="609600"/>
                  <a:pt x="4597400" y="609600"/>
                </a:cubicBezTo>
                <a:lnTo>
                  <a:pt x="101600" y="609600"/>
                </a:lnTo>
                <a:cubicBezTo>
                  <a:pt x="45466" y="609600"/>
                  <a:pt x="0" y="564134"/>
                  <a:pt x="0" y="508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rbar-3"/>
          <p:cNvSpPr/>
          <p:nvPr/>
        </p:nvSpPr>
        <p:spPr>
          <a:xfrm>
            <a:off x="6540500" y="4165600"/>
            <a:ext cx="31750" cy="609600"/>
          </a:xfrm>
          <a:custGeom>
            <a:avLst/>
            <a:gdLst/>
            <a:ahLst/>
            <a:cxnLst/>
            <a:rect l="0" t="0" r="r" b="b"/>
            <a:pathLst>
              <a:path w="31750" h="6096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593725"/>
                </a:lnTo>
                <a:cubicBezTo>
                  <a:pt x="31750" y="602488"/>
                  <a:pt x="24638" y="609600"/>
                  <a:pt x="15875" y="609600"/>
                </a:cubicBezTo>
                <a:lnTo>
                  <a:pt x="15875" y="609600"/>
                </a:lnTo>
                <a:cubicBezTo>
                  <a:pt x="7112" y="609600"/>
                  <a:pt x="0" y="602488"/>
                  <a:pt x="0" y="5937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rnm-3"/>
          <p:cNvSpPr txBox="1"/>
          <p:nvPr/>
        </p:nvSpPr>
        <p:spPr>
          <a:xfrm>
            <a:off x="6805422" y="4257897"/>
            <a:ext cx="48577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差错率</a:t>
            </a:r>
          </a:p>
        </p:txBody>
      </p:sp>
      <p:sp>
        <p:nvSpPr>
          <p:cNvPr id="56" name="rlb-3"/>
          <p:cNvSpPr txBox="1"/>
          <p:nvPr/>
        </p:nvSpPr>
        <p:spPr>
          <a:xfrm>
            <a:off x="6809232" y="4474908"/>
            <a:ext cx="35242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改造后</a:t>
            </a:r>
          </a:p>
        </p:txBody>
      </p:sp>
      <p:sp>
        <p:nvSpPr>
          <p:cNvPr id="57" name="rv-3"/>
          <p:cNvSpPr txBox="1"/>
          <p:nvPr/>
        </p:nvSpPr>
        <p:spPr>
          <a:xfrm>
            <a:off x="9622282" y="4254564"/>
            <a:ext cx="690626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7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0.4%</a:t>
            </a:r>
          </a:p>
        </p:txBody>
      </p:sp>
      <p:sp>
        <p:nvSpPr>
          <p:cNvPr id="58" name="dtag-3"/>
          <p:cNvSpPr/>
          <p:nvPr/>
        </p:nvSpPr>
        <p:spPr>
          <a:xfrm>
            <a:off x="10401300" y="4318000"/>
            <a:ext cx="584200" cy="254000"/>
          </a:xfrm>
          <a:custGeom>
            <a:avLst/>
            <a:gdLst/>
            <a:ahLst/>
            <a:cxnLst/>
            <a:rect l="0" t="0" r="r" b="b"/>
            <a:pathLst>
              <a:path w="584200" h="254000">
                <a:moveTo>
                  <a:pt x="127000" y="0"/>
                </a:moveTo>
                <a:lnTo>
                  <a:pt x="457200" y="0"/>
                </a:lnTo>
                <a:cubicBezTo>
                  <a:pt x="527367" y="0"/>
                  <a:pt x="584200" y="56833"/>
                  <a:pt x="584200" y="127000"/>
                </a:cubicBezTo>
                <a:lnTo>
                  <a:pt x="584200" y="127000"/>
                </a:lnTo>
                <a:cubicBezTo>
                  <a:pt x="584200" y="197167"/>
                  <a:pt x="527367" y="254000"/>
                  <a:pt x="457200" y="254000"/>
                </a:cubicBezTo>
                <a:lnTo>
                  <a:pt x="127000" y="254000"/>
                </a:lnTo>
                <a:cubicBezTo>
                  <a:pt x="56833" y="254000"/>
                  <a:pt x="0" y="197167"/>
                  <a:pt x="0" y="127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dt-3"/>
          <p:cNvSpPr txBox="1"/>
          <p:nvPr/>
        </p:nvSpPr>
        <p:spPr>
          <a:xfrm>
            <a:off x="10517568" y="4349782"/>
            <a:ext cx="35166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25">
                <a:solidFill>
                  <a:srgbClr val="E0703A"/>
                </a:solidFill>
                <a:latin typeface="Arial"/>
                <a:ea typeface="Arial"/>
                <a:cs typeface="Arial"/>
              </a:rPr>
              <a:t>-89%</a:t>
            </a:r>
          </a:p>
        </p:txBody>
      </p:sp>
      <p:sp>
        <p:nvSpPr>
          <p:cNvPr id="60" name="arr-l-3"/>
          <p:cNvSpPr/>
          <p:nvPr/>
        </p:nvSpPr>
        <p:spPr>
          <a:xfrm>
            <a:off x="5918200" y="4445000"/>
            <a:ext cx="355600" cy="3175"/>
          </a:xfrm>
          <a:custGeom>
            <a:avLst/>
            <a:gdLst/>
            <a:ahLst/>
            <a:cxnLst/>
            <a:rect l="0" t="0" r="r" b="b"/>
            <a:pathLst>
              <a:path w="355600" h="3175">
                <a:moveTo>
                  <a:pt x="0" y="0"/>
                </a:moveTo>
                <a:lnTo>
                  <a:pt x="355600" y="0"/>
                </a:lnTo>
              </a:path>
            </a:pathLst>
          </a:custGeom>
          <a:noFill/>
          <a:ln w="12700" cap="rnd">
            <a:solidFill>
              <a:srgbClr val="1B5AA8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arr-h-3"/>
          <p:cNvSpPr/>
          <p:nvPr/>
        </p:nvSpPr>
        <p:spPr>
          <a:xfrm>
            <a:off x="6210300" y="4400550"/>
            <a:ext cx="76200" cy="88900"/>
          </a:xfrm>
          <a:custGeom>
            <a:avLst/>
            <a:gdLst/>
            <a:ahLst/>
            <a:cxnLst/>
            <a:rect l="0" t="0" r="r" b="b"/>
            <a:pathLst>
              <a:path w="76200" h="88900">
                <a:moveTo>
                  <a:pt x="0" y="0"/>
                </a:moveTo>
                <a:lnTo>
                  <a:pt x="76200" y="44450"/>
                </a:lnTo>
                <a:lnTo>
                  <a:pt x="0" y="88900"/>
                </a:lnTo>
              </a:path>
            </a:pathLst>
          </a:custGeom>
          <a:noFill/>
          <a:ln w="12700" cap="rnd">
            <a:solidFill>
              <a:srgbClr val="1B5AA8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lcard-4"/>
          <p:cNvSpPr/>
          <p:nvPr/>
        </p:nvSpPr>
        <p:spPr>
          <a:xfrm>
            <a:off x="952500" y="4978400"/>
            <a:ext cx="4699000" cy="609600"/>
          </a:xfrm>
          <a:custGeom>
            <a:avLst/>
            <a:gdLst/>
            <a:ahLst/>
            <a:cxnLst/>
            <a:rect l="0" t="0" r="r" b="b"/>
            <a:pathLst>
              <a:path w="4699000" h="609600">
                <a:moveTo>
                  <a:pt x="101600" y="0"/>
                </a:moveTo>
                <a:lnTo>
                  <a:pt x="4597400" y="0"/>
                </a:lnTo>
                <a:cubicBezTo>
                  <a:pt x="4653534" y="0"/>
                  <a:pt x="4699000" y="45466"/>
                  <a:pt x="4699000" y="101600"/>
                </a:cubicBezTo>
                <a:lnTo>
                  <a:pt x="4699000" y="508000"/>
                </a:lnTo>
                <a:cubicBezTo>
                  <a:pt x="4699000" y="564134"/>
                  <a:pt x="4653534" y="609600"/>
                  <a:pt x="4597400" y="609600"/>
                </a:cubicBezTo>
                <a:lnTo>
                  <a:pt x="101600" y="609600"/>
                </a:lnTo>
                <a:cubicBezTo>
                  <a:pt x="45466" y="609600"/>
                  <a:pt x="0" y="564134"/>
                  <a:pt x="0" y="508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icon-star"/>
          <p:cNvSpPr/>
          <p:nvPr/>
        </p:nvSpPr>
        <p:spPr>
          <a:xfrm>
            <a:off x="1194308" y="5195570"/>
            <a:ext cx="125984" cy="120015"/>
          </a:xfrm>
          <a:custGeom>
            <a:avLst/>
            <a:gdLst/>
            <a:ahLst/>
            <a:cxnLst/>
            <a:rect l="0" t="0" r="r" b="b"/>
            <a:pathLst>
              <a:path w="125984" h="120015">
                <a:moveTo>
                  <a:pt x="62992" y="0"/>
                </a:moveTo>
                <a:lnTo>
                  <a:pt x="82232" y="40005"/>
                </a:lnTo>
                <a:lnTo>
                  <a:pt x="125984" y="45910"/>
                </a:lnTo>
                <a:lnTo>
                  <a:pt x="94107" y="76327"/>
                </a:lnTo>
                <a:lnTo>
                  <a:pt x="102235" y="120015"/>
                </a:lnTo>
                <a:lnTo>
                  <a:pt x="62992" y="98552"/>
                </a:lnTo>
                <a:lnTo>
                  <a:pt x="23749" y="120015"/>
                </a:lnTo>
                <a:lnTo>
                  <a:pt x="31877" y="76327"/>
                </a:lnTo>
                <a:lnTo>
                  <a:pt x="0" y="45910"/>
                </a:lnTo>
                <a:lnTo>
                  <a:pt x="43751" y="40005"/>
                </a:lnTo>
                <a:close/>
              </a:path>
            </a:pathLst>
          </a:custGeom>
          <a:noFill/>
          <a:ln w="11430" cap="rnd">
            <a:solidFill>
              <a:srgbClr val="8FA3B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lnm-4"/>
          <p:cNvSpPr txBox="1"/>
          <p:nvPr/>
        </p:nvSpPr>
        <p:spPr>
          <a:xfrm>
            <a:off x="1496822" y="5070697"/>
            <a:ext cx="7372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40">
                <a:solidFill>
                  <a:srgbClr val="5C728E"/>
                </a:solidFill>
                <a:latin typeface="微软雅黑"/>
                <a:ea typeface="微软雅黑"/>
                <a:cs typeface="微软雅黑"/>
              </a:rPr>
              <a:t>客户满意度</a:t>
            </a:r>
          </a:p>
        </p:txBody>
      </p:sp>
      <p:sp>
        <p:nvSpPr>
          <p:cNvPr id="65" name="llb-4"/>
          <p:cNvSpPr txBox="1"/>
          <p:nvPr/>
        </p:nvSpPr>
        <p:spPr>
          <a:xfrm>
            <a:off x="1500632" y="5287708"/>
            <a:ext cx="35242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9CAFC6"/>
                </a:solidFill>
                <a:latin typeface="微软雅黑"/>
                <a:ea typeface="微软雅黑"/>
                <a:cs typeface="微软雅黑"/>
              </a:rPr>
              <a:t>改造前</a:t>
            </a:r>
          </a:p>
        </p:txBody>
      </p:sp>
      <p:sp>
        <p:nvSpPr>
          <p:cNvPr id="66" name="lv-4"/>
          <p:cNvSpPr txBox="1"/>
          <p:nvPr/>
        </p:nvSpPr>
        <p:spPr>
          <a:xfrm>
            <a:off x="4612386" y="5067364"/>
            <a:ext cx="785622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700" b="1" spc="25">
                <a:solidFill>
                  <a:srgbClr val="8FA3BC"/>
                </a:solidFill>
                <a:latin typeface="微软雅黑"/>
                <a:ea typeface="微软雅黑"/>
                <a:cs typeface="微软雅黑"/>
              </a:rPr>
              <a:t>76 分</a:t>
            </a:r>
          </a:p>
        </p:txBody>
      </p:sp>
      <p:sp>
        <p:nvSpPr>
          <p:cNvPr id="67" name="rcard-4"/>
          <p:cNvSpPr/>
          <p:nvPr/>
        </p:nvSpPr>
        <p:spPr>
          <a:xfrm>
            <a:off x="6540500" y="4978400"/>
            <a:ext cx="4699000" cy="609600"/>
          </a:xfrm>
          <a:custGeom>
            <a:avLst/>
            <a:gdLst/>
            <a:ahLst/>
            <a:cxnLst/>
            <a:rect l="0" t="0" r="r" b="b"/>
            <a:pathLst>
              <a:path w="4699000" h="609600">
                <a:moveTo>
                  <a:pt x="101600" y="0"/>
                </a:moveTo>
                <a:lnTo>
                  <a:pt x="4597400" y="0"/>
                </a:lnTo>
                <a:cubicBezTo>
                  <a:pt x="4653534" y="0"/>
                  <a:pt x="4699000" y="45466"/>
                  <a:pt x="4699000" y="101600"/>
                </a:cubicBezTo>
                <a:lnTo>
                  <a:pt x="4699000" y="508000"/>
                </a:lnTo>
                <a:cubicBezTo>
                  <a:pt x="4699000" y="564134"/>
                  <a:pt x="4653534" y="609600"/>
                  <a:pt x="4597400" y="609600"/>
                </a:cubicBezTo>
                <a:lnTo>
                  <a:pt x="101600" y="609600"/>
                </a:lnTo>
                <a:cubicBezTo>
                  <a:pt x="45466" y="609600"/>
                  <a:pt x="0" y="564134"/>
                  <a:pt x="0" y="508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rbar-4"/>
          <p:cNvSpPr/>
          <p:nvPr/>
        </p:nvSpPr>
        <p:spPr>
          <a:xfrm>
            <a:off x="6540500" y="4978400"/>
            <a:ext cx="31750" cy="609600"/>
          </a:xfrm>
          <a:custGeom>
            <a:avLst/>
            <a:gdLst/>
            <a:ahLst/>
            <a:cxnLst/>
            <a:rect l="0" t="0" r="r" b="b"/>
            <a:pathLst>
              <a:path w="31750" h="6096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593725"/>
                </a:lnTo>
                <a:cubicBezTo>
                  <a:pt x="31750" y="602488"/>
                  <a:pt x="24638" y="609600"/>
                  <a:pt x="15875" y="609600"/>
                </a:cubicBezTo>
                <a:lnTo>
                  <a:pt x="15875" y="609600"/>
                </a:lnTo>
                <a:cubicBezTo>
                  <a:pt x="7112" y="609600"/>
                  <a:pt x="0" y="602488"/>
                  <a:pt x="0" y="5937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rnm-4"/>
          <p:cNvSpPr txBox="1"/>
          <p:nvPr/>
        </p:nvSpPr>
        <p:spPr>
          <a:xfrm>
            <a:off x="6805422" y="5070697"/>
            <a:ext cx="7372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客户满意度</a:t>
            </a:r>
          </a:p>
        </p:txBody>
      </p:sp>
      <p:sp>
        <p:nvSpPr>
          <p:cNvPr id="70" name="rlb-4"/>
          <p:cNvSpPr txBox="1"/>
          <p:nvPr/>
        </p:nvSpPr>
        <p:spPr>
          <a:xfrm>
            <a:off x="6809232" y="5287708"/>
            <a:ext cx="35242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改造后</a:t>
            </a:r>
          </a:p>
        </p:txBody>
      </p:sp>
      <p:sp>
        <p:nvSpPr>
          <p:cNvPr id="71" name="rv-4"/>
          <p:cNvSpPr txBox="1"/>
          <p:nvPr/>
        </p:nvSpPr>
        <p:spPr>
          <a:xfrm>
            <a:off x="9527286" y="5067364"/>
            <a:ext cx="785622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7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93 分</a:t>
            </a:r>
          </a:p>
        </p:txBody>
      </p:sp>
      <p:sp>
        <p:nvSpPr>
          <p:cNvPr id="72" name="dtag-4"/>
          <p:cNvSpPr/>
          <p:nvPr/>
        </p:nvSpPr>
        <p:spPr>
          <a:xfrm>
            <a:off x="10401300" y="5130800"/>
            <a:ext cx="584200" cy="254000"/>
          </a:xfrm>
          <a:custGeom>
            <a:avLst/>
            <a:gdLst/>
            <a:ahLst/>
            <a:cxnLst/>
            <a:rect l="0" t="0" r="r" b="b"/>
            <a:pathLst>
              <a:path w="584200" h="254000">
                <a:moveTo>
                  <a:pt x="127000" y="0"/>
                </a:moveTo>
                <a:lnTo>
                  <a:pt x="457200" y="0"/>
                </a:lnTo>
                <a:cubicBezTo>
                  <a:pt x="527367" y="0"/>
                  <a:pt x="584200" y="56833"/>
                  <a:pt x="584200" y="127000"/>
                </a:cubicBezTo>
                <a:lnTo>
                  <a:pt x="584200" y="127000"/>
                </a:lnTo>
                <a:cubicBezTo>
                  <a:pt x="584200" y="197167"/>
                  <a:pt x="527367" y="254000"/>
                  <a:pt x="457200" y="254000"/>
                </a:cubicBezTo>
                <a:lnTo>
                  <a:pt x="127000" y="254000"/>
                </a:lnTo>
                <a:cubicBezTo>
                  <a:pt x="56833" y="254000"/>
                  <a:pt x="0" y="197167"/>
                  <a:pt x="0" y="127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dt-4"/>
          <p:cNvSpPr txBox="1"/>
          <p:nvPr/>
        </p:nvSpPr>
        <p:spPr>
          <a:xfrm>
            <a:off x="10517568" y="5162582"/>
            <a:ext cx="35166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25">
                <a:solidFill>
                  <a:srgbClr val="E0703A"/>
                </a:solidFill>
                <a:latin typeface="Arial"/>
                <a:ea typeface="Arial"/>
                <a:cs typeface="Arial"/>
              </a:rPr>
              <a:t>+22%</a:t>
            </a:r>
          </a:p>
        </p:txBody>
      </p:sp>
      <p:sp>
        <p:nvSpPr>
          <p:cNvPr id="74" name="arr-l-4"/>
          <p:cNvSpPr/>
          <p:nvPr/>
        </p:nvSpPr>
        <p:spPr>
          <a:xfrm>
            <a:off x="5918200" y="5257800"/>
            <a:ext cx="355600" cy="3175"/>
          </a:xfrm>
          <a:custGeom>
            <a:avLst/>
            <a:gdLst/>
            <a:ahLst/>
            <a:cxnLst/>
            <a:rect l="0" t="0" r="r" b="b"/>
            <a:pathLst>
              <a:path w="355600" h="3175">
                <a:moveTo>
                  <a:pt x="0" y="0"/>
                </a:moveTo>
                <a:lnTo>
                  <a:pt x="355600" y="0"/>
                </a:lnTo>
              </a:path>
            </a:pathLst>
          </a:custGeom>
          <a:noFill/>
          <a:ln w="12700" cap="rnd">
            <a:solidFill>
              <a:srgbClr val="1B5AA8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arr-h-4"/>
          <p:cNvSpPr/>
          <p:nvPr/>
        </p:nvSpPr>
        <p:spPr>
          <a:xfrm>
            <a:off x="6210300" y="5213350"/>
            <a:ext cx="76200" cy="88900"/>
          </a:xfrm>
          <a:custGeom>
            <a:avLst/>
            <a:gdLst/>
            <a:ahLst/>
            <a:cxnLst/>
            <a:rect l="0" t="0" r="r" b="b"/>
            <a:pathLst>
              <a:path w="76200" h="88900">
                <a:moveTo>
                  <a:pt x="0" y="0"/>
                </a:moveTo>
                <a:lnTo>
                  <a:pt x="76200" y="44450"/>
                </a:lnTo>
                <a:lnTo>
                  <a:pt x="0" y="88900"/>
                </a:lnTo>
              </a:path>
            </a:pathLst>
          </a:custGeom>
          <a:noFill/>
          <a:ln w="12700" cap="rnd">
            <a:solidFill>
              <a:srgbClr val="1B5AA8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sum"/>
          <p:cNvSpPr/>
          <p:nvPr/>
        </p:nvSpPr>
        <p:spPr>
          <a:xfrm>
            <a:off x="952500" y="5842000"/>
            <a:ext cx="10541000" cy="609600"/>
          </a:xfrm>
          <a:custGeom>
            <a:avLst/>
            <a:gdLst/>
            <a:ahLst/>
            <a:cxnLst/>
            <a:rect l="0" t="0" r="r" b="b"/>
            <a:pathLst>
              <a:path w="10541000" h="609600">
                <a:moveTo>
                  <a:pt x="101600" y="0"/>
                </a:moveTo>
                <a:lnTo>
                  <a:pt x="10439400" y="0"/>
                </a:lnTo>
                <a:cubicBezTo>
                  <a:pt x="10495534" y="0"/>
                  <a:pt x="10541000" y="45466"/>
                  <a:pt x="10541000" y="101600"/>
                </a:cubicBezTo>
                <a:lnTo>
                  <a:pt x="10541000" y="508000"/>
                </a:lnTo>
                <a:cubicBezTo>
                  <a:pt x="10541000" y="564134"/>
                  <a:pt x="10495534" y="609600"/>
                  <a:pt x="10439400" y="609600"/>
                </a:cubicBezTo>
                <a:lnTo>
                  <a:pt x="101600" y="609600"/>
                </a:lnTo>
                <a:cubicBezTo>
                  <a:pt x="45466" y="609600"/>
                  <a:pt x="0" y="564134"/>
                  <a:pt x="0" y="508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sum-bar"/>
          <p:cNvSpPr/>
          <p:nvPr/>
        </p:nvSpPr>
        <p:spPr>
          <a:xfrm>
            <a:off x="952500" y="5842000"/>
            <a:ext cx="38100" cy="609600"/>
          </a:xfrm>
          <a:custGeom>
            <a:avLst/>
            <a:gdLst/>
            <a:ahLst/>
            <a:cxnLst/>
            <a:rect l="0" t="0" r="r" b="b"/>
            <a:pathLst>
              <a:path w="38100" h="6096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590550"/>
                </a:lnTo>
                <a:cubicBezTo>
                  <a:pt x="38100" y="601091"/>
                  <a:pt x="29591" y="609600"/>
                  <a:pt x="19050" y="609600"/>
                </a:cubicBezTo>
                <a:lnTo>
                  <a:pt x="19050" y="609600"/>
                </a:lnTo>
                <a:cubicBezTo>
                  <a:pt x="8509" y="609600"/>
                  <a:pt x="0" y="601091"/>
                  <a:pt x="0" y="5905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sum-h"/>
          <p:cNvSpPr txBox="1"/>
          <p:nvPr/>
        </p:nvSpPr>
        <p:spPr>
          <a:xfrm>
            <a:off x="1191260" y="6053455"/>
            <a:ext cx="6731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综合结论</a:t>
            </a:r>
          </a:p>
        </p:txBody>
      </p:sp>
      <p:cxnSp>
        <p:nvCxnSpPr>
          <p:cNvPr id="79" name="sum-div"/>
          <p:cNvCxnSpPr/>
          <p:nvPr/>
        </p:nvCxnSpPr>
        <p:spPr>
          <a:xfrm>
            <a:off x="2070100" y="6007100"/>
            <a:ext cx="0" cy="279400"/>
          </a:xfrm>
          <a:prstGeom prst="line">
            <a:avLst/>
          </a:prstGeom>
          <a:ln w="635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0" name="sum-t"/>
          <p:cNvSpPr txBox="1"/>
          <p:nvPr/>
        </p:nvSpPr>
        <p:spPr>
          <a:xfrm>
            <a:off x="2285746" y="6076982"/>
            <a:ext cx="394677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同等人力配置下，整体运营效率提升 3.8 倍，年度综合成本下降 2,180 万元</a:t>
            </a:r>
          </a:p>
        </p:txBody>
      </p:sp>
      <p:cxnSp>
        <p:nvCxnSpPr>
          <p:cNvPr id="81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改造成效 · 四项指标</a:t>
            </a:r>
          </a:p>
        </p:txBody>
      </p:sp>
      <p:sp>
        <p:nvSpPr>
          <p:cNvPr id="83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竞品能力评估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53695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CAPABILITY RADAR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856091" y="673132"/>
            <a:ext cx="276466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六个维度与两家主要竞品的量化对照（满分 10 分）</a:t>
            </a:r>
          </a:p>
        </p:txBody>
      </p:sp>
      <p:sp>
        <p:nvSpPr>
          <p:cNvPr id="10" name="grid-1"/>
          <p:cNvSpPr/>
          <p:nvPr/>
        </p:nvSpPr>
        <p:spPr>
          <a:xfrm>
            <a:off x="4137025" y="3429000"/>
            <a:ext cx="615950" cy="711200"/>
          </a:xfrm>
          <a:custGeom>
            <a:avLst/>
            <a:gdLst/>
            <a:ahLst/>
            <a:cxnLst/>
            <a:rect l="0" t="0" r="r" b="b"/>
            <a:pathLst>
              <a:path w="615950" h="711200">
                <a:moveTo>
                  <a:pt x="307975" y="0"/>
                </a:moveTo>
                <a:lnTo>
                  <a:pt x="615950" y="177800"/>
                </a:lnTo>
                <a:lnTo>
                  <a:pt x="615950" y="533400"/>
                </a:lnTo>
                <a:lnTo>
                  <a:pt x="307975" y="711200"/>
                </a:lnTo>
                <a:lnTo>
                  <a:pt x="0" y="533400"/>
                </a:lnTo>
                <a:lnTo>
                  <a:pt x="0" y="177800"/>
                </a:lnTo>
                <a:close/>
              </a:path>
            </a:pathLst>
          </a:custGeom>
          <a:noFill/>
          <a:ln w="6350" cap="rnd">
            <a:solidFill>
              <a:srgbClr val="0B2545">
                <a:alpha val="9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grid-2"/>
          <p:cNvSpPr/>
          <p:nvPr/>
        </p:nvSpPr>
        <p:spPr>
          <a:xfrm>
            <a:off x="3829114" y="3073400"/>
            <a:ext cx="1231773" cy="1422400"/>
          </a:xfrm>
          <a:custGeom>
            <a:avLst/>
            <a:gdLst/>
            <a:ahLst/>
            <a:cxnLst/>
            <a:rect l="0" t="0" r="r" b="b"/>
            <a:pathLst>
              <a:path w="1231773" h="1422400">
                <a:moveTo>
                  <a:pt x="615886" y="0"/>
                </a:moveTo>
                <a:lnTo>
                  <a:pt x="1231773" y="355600"/>
                </a:lnTo>
                <a:lnTo>
                  <a:pt x="1231773" y="1066800"/>
                </a:lnTo>
                <a:lnTo>
                  <a:pt x="615886" y="1422400"/>
                </a:lnTo>
                <a:lnTo>
                  <a:pt x="0" y="1066800"/>
                </a:lnTo>
                <a:lnTo>
                  <a:pt x="0" y="355600"/>
                </a:lnTo>
                <a:close/>
              </a:path>
            </a:pathLst>
          </a:custGeom>
          <a:noFill/>
          <a:ln w="6350" cap="rnd">
            <a:solidFill>
              <a:srgbClr val="0B2545">
                <a:alpha val="9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grid-3"/>
          <p:cNvSpPr/>
          <p:nvPr/>
        </p:nvSpPr>
        <p:spPr>
          <a:xfrm>
            <a:off x="3521138" y="2717800"/>
            <a:ext cx="1847723" cy="2133600"/>
          </a:xfrm>
          <a:custGeom>
            <a:avLst/>
            <a:gdLst/>
            <a:ahLst/>
            <a:cxnLst/>
            <a:rect l="0" t="0" r="r" b="b"/>
            <a:pathLst>
              <a:path w="1847723" h="2133600">
                <a:moveTo>
                  <a:pt x="923862" y="0"/>
                </a:moveTo>
                <a:lnTo>
                  <a:pt x="1847723" y="533400"/>
                </a:lnTo>
                <a:lnTo>
                  <a:pt x="1847723" y="1600200"/>
                </a:lnTo>
                <a:lnTo>
                  <a:pt x="923862" y="2133600"/>
                </a:lnTo>
                <a:lnTo>
                  <a:pt x="0" y="1600200"/>
                </a:lnTo>
                <a:lnTo>
                  <a:pt x="0" y="533400"/>
                </a:lnTo>
                <a:close/>
              </a:path>
            </a:pathLst>
          </a:custGeom>
          <a:noFill/>
          <a:ln w="6350" cap="rnd">
            <a:solidFill>
              <a:srgbClr val="0B2545">
                <a:alpha val="9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grid-4"/>
          <p:cNvSpPr/>
          <p:nvPr/>
        </p:nvSpPr>
        <p:spPr>
          <a:xfrm>
            <a:off x="3213164" y="2362200"/>
            <a:ext cx="2463673" cy="2844800"/>
          </a:xfrm>
          <a:custGeom>
            <a:avLst/>
            <a:gdLst/>
            <a:ahLst/>
            <a:cxnLst/>
            <a:rect l="0" t="0" r="r" b="b"/>
            <a:pathLst>
              <a:path w="2463673" h="2844800">
                <a:moveTo>
                  <a:pt x="1231836" y="0"/>
                </a:moveTo>
                <a:lnTo>
                  <a:pt x="2463673" y="711200"/>
                </a:lnTo>
                <a:lnTo>
                  <a:pt x="2463673" y="2133600"/>
                </a:lnTo>
                <a:lnTo>
                  <a:pt x="1231836" y="2844800"/>
                </a:lnTo>
                <a:lnTo>
                  <a:pt x="0" y="2133600"/>
                </a:lnTo>
                <a:lnTo>
                  <a:pt x="0" y="711200"/>
                </a:lnTo>
                <a:close/>
              </a:path>
            </a:pathLst>
          </a:custGeom>
          <a:noFill/>
          <a:ln w="6350" cap="rnd">
            <a:solidFill>
              <a:srgbClr val="0B2545">
                <a:alpha val="9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grid-5"/>
          <p:cNvSpPr/>
          <p:nvPr/>
        </p:nvSpPr>
        <p:spPr>
          <a:xfrm>
            <a:off x="2905188" y="2006600"/>
            <a:ext cx="3079623" cy="3556000"/>
          </a:xfrm>
          <a:custGeom>
            <a:avLst/>
            <a:gdLst/>
            <a:ahLst/>
            <a:cxnLst/>
            <a:rect l="0" t="0" r="r" b="b"/>
            <a:pathLst>
              <a:path w="3079623" h="3556000">
                <a:moveTo>
                  <a:pt x="1539812" y="0"/>
                </a:moveTo>
                <a:lnTo>
                  <a:pt x="3079623" y="889000"/>
                </a:lnTo>
                <a:lnTo>
                  <a:pt x="3079623" y="2667000"/>
                </a:lnTo>
                <a:lnTo>
                  <a:pt x="1539812" y="3556000"/>
                </a:lnTo>
                <a:lnTo>
                  <a:pt x="0" y="2667000"/>
                </a:lnTo>
                <a:lnTo>
                  <a:pt x="0" y="889000"/>
                </a:lnTo>
                <a:close/>
              </a:path>
            </a:pathLst>
          </a:custGeom>
          <a:solidFill>
            <a:srgbClr val="FFFFFF">
              <a:alpha val="50000"/>
            </a:srgbClr>
          </a:solidFill>
          <a:ln w="6350" cap="rnd">
            <a:solidFill>
              <a:srgbClr val="0B2545">
                <a:alpha val="1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5" name="axis-1"/>
          <p:cNvCxnSpPr/>
          <p:nvPr/>
        </p:nvCxnSpPr>
        <p:spPr>
          <a:xfrm flipV="1">
            <a:off x="4445000" y="2006600"/>
            <a:ext cx="0" cy="1778000"/>
          </a:xfrm>
          <a:prstGeom prst="line">
            <a:avLst/>
          </a:prstGeom>
          <a:ln w="635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axl-1"/>
          <p:cNvSpPr txBox="1"/>
          <p:nvPr/>
        </p:nvSpPr>
        <p:spPr>
          <a:xfrm>
            <a:off x="4162584" y="1577261"/>
            <a:ext cx="56483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产品性能</a:t>
            </a:r>
          </a:p>
        </p:txBody>
      </p:sp>
      <p:cxnSp>
        <p:nvCxnSpPr>
          <p:cNvPr id="17" name="axis-2"/>
          <p:cNvCxnSpPr/>
          <p:nvPr/>
        </p:nvCxnSpPr>
        <p:spPr>
          <a:xfrm flipV="1">
            <a:off x="4445000" y="2895600"/>
            <a:ext cx="1539793" cy="889000"/>
          </a:xfrm>
          <a:prstGeom prst="line">
            <a:avLst/>
          </a:prstGeom>
          <a:ln w="635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axl-2"/>
          <p:cNvSpPr txBox="1"/>
          <p:nvPr/>
        </p:nvSpPr>
        <p:spPr>
          <a:xfrm>
            <a:off x="6257420" y="2631361"/>
            <a:ext cx="68103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价格竞争力</a:t>
            </a:r>
          </a:p>
        </p:txBody>
      </p:sp>
      <p:cxnSp>
        <p:nvCxnSpPr>
          <p:cNvPr id="19" name="axis-3"/>
          <p:cNvCxnSpPr/>
          <p:nvPr/>
        </p:nvCxnSpPr>
        <p:spPr>
          <a:xfrm>
            <a:off x="4445000" y="3784600"/>
            <a:ext cx="1539793" cy="889000"/>
          </a:xfrm>
          <a:prstGeom prst="line">
            <a:avLst/>
          </a:prstGeom>
          <a:ln w="635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axl-3"/>
          <p:cNvSpPr txBox="1"/>
          <p:nvPr/>
        </p:nvSpPr>
        <p:spPr>
          <a:xfrm>
            <a:off x="6257420" y="4739561"/>
            <a:ext cx="56483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交付速度</a:t>
            </a:r>
          </a:p>
        </p:txBody>
      </p:sp>
      <p:cxnSp>
        <p:nvCxnSpPr>
          <p:cNvPr id="21" name="axis-4"/>
          <p:cNvCxnSpPr/>
          <p:nvPr/>
        </p:nvCxnSpPr>
        <p:spPr>
          <a:xfrm>
            <a:off x="4445000" y="3784600"/>
            <a:ext cx="0" cy="1778000"/>
          </a:xfrm>
          <a:prstGeom prst="line">
            <a:avLst/>
          </a:prstGeom>
          <a:ln w="635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axl-4"/>
          <p:cNvSpPr txBox="1"/>
          <p:nvPr/>
        </p:nvSpPr>
        <p:spPr>
          <a:xfrm>
            <a:off x="4162584" y="5793661"/>
            <a:ext cx="56483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服务响应</a:t>
            </a:r>
          </a:p>
        </p:txBody>
      </p:sp>
      <p:cxnSp>
        <p:nvCxnSpPr>
          <p:cNvPr id="23" name="axis-5"/>
          <p:cNvCxnSpPr/>
          <p:nvPr/>
        </p:nvCxnSpPr>
        <p:spPr>
          <a:xfrm flipH="1">
            <a:off x="2905207" y="3784600"/>
            <a:ext cx="1539793" cy="889000"/>
          </a:xfrm>
          <a:prstGeom prst="line">
            <a:avLst/>
          </a:prstGeom>
          <a:ln w="635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axl-5"/>
          <p:cNvSpPr txBox="1"/>
          <p:nvPr/>
        </p:nvSpPr>
        <p:spPr>
          <a:xfrm>
            <a:off x="2067748" y="4739561"/>
            <a:ext cx="56483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生态开放</a:t>
            </a:r>
          </a:p>
        </p:txBody>
      </p:sp>
      <p:cxnSp>
        <p:nvCxnSpPr>
          <p:cNvPr id="25" name="axis-6"/>
          <p:cNvCxnSpPr/>
          <p:nvPr/>
        </p:nvCxnSpPr>
        <p:spPr>
          <a:xfrm flipH="1" flipV="1">
            <a:off x="2905207" y="2895600"/>
            <a:ext cx="1539793" cy="889000"/>
          </a:xfrm>
          <a:prstGeom prst="line">
            <a:avLst/>
          </a:prstGeom>
          <a:ln w="635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axl-6"/>
          <p:cNvSpPr txBox="1"/>
          <p:nvPr/>
        </p:nvSpPr>
        <p:spPr>
          <a:xfrm>
            <a:off x="2067748" y="2631361"/>
            <a:ext cx="56483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品牌影响</a:t>
            </a:r>
          </a:p>
        </p:txBody>
      </p:sp>
      <p:sp>
        <p:nvSpPr>
          <p:cNvPr id="27" name="area-1"/>
          <p:cNvSpPr/>
          <p:nvPr/>
        </p:nvSpPr>
        <p:spPr>
          <a:xfrm>
            <a:off x="3151568" y="2362200"/>
            <a:ext cx="2617660" cy="2702560"/>
          </a:xfrm>
          <a:custGeom>
            <a:avLst/>
            <a:gdLst/>
            <a:ahLst/>
            <a:cxnLst/>
            <a:rect l="0" t="0" r="r" b="b"/>
            <a:pathLst>
              <a:path w="2617660" h="2702560">
                <a:moveTo>
                  <a:pt x="1293432" y="0"/>
                </a:moveTo>
                <a:lnTo>
                  <a:pt x="2617660" y="657860"/>
                </a:lnTo>
                <a:lnTo>
                  <a:pt x="2278888" y="1991360"/>
                </a:lnTo>
                <a:lnTo>
                  <a:pt x="1293432" y="2702560"/>
                </a:lnTo>
                <a:lnTo>
                  <a:pt x="400368" y="1938020"/>
                </a:lnTo>
                <a:lnTo>
                  <a:pt x="0" y="675640"/>
                </a:lnTo>
                <a:close/>
              </a:path>
            </a:pathLst>
          </a:custGeom>
          <a:solidFill>
            <a:srgbClr val="3985CD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line-1"/>
          <p:cNvSpPr/>
          <p:nvPr/>
        </p:nvSpPr>
        <p:spPr>
          <a:xfrm>
            <a:off x="3151568" y="2362200"/>
            <a:ext cx="2617660" cy="2702560"/>
          </a:xfrm>
          <a:custGeom>
            <a:avLst/>
            <a:gdLst/>
            <a:ahLst/>
            <a:cxnLst/>
            <a:rect l="0" t="0" r="r" b="b"/>
            <a:pathLst>
              <a:path w="2617660" h="2702560">
                <a:moveTo>
                  <a:pt x="1293432" y="0"/>
                </a:moveTo>
                <a:lnTo>
                  <a:pt x="2617660" y="657860"/>
                </a:lnTo>
                <a:lnTo>
                  <a:pt x="2278888" y="1991360"/>
                </a:lnTo>
                <a:lnTo>
                  <a:pt x="1293432" y="2702560"/>
                </a:lnTo>
                <a:lnTo>
                  <a:pt x="400368" y="1938020"/>
                </a:lnTo>
                <a:lnTo>
                  <a:pt x="0" y="675640"/>
                </a:lnTo>
                <a:close/>
              </a:path>
            </a:pathLst>
          </a:custGeom>
          <a:noFill/>
          <a:ln w="1651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pt-1-1"/>
          <p:cNvSpPr/>
          <p:nvPr/>
        </p:nvSpPr>
        <p:spPr>
          <a:xfrm>
            <a:off x="4406900" y="2324100"/>
            <a:ext cx="76200" cy="762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pt-1-2"/>
          <p:cNvSpPr/>
          <p:nvPr/>
        </p:nvSpPr>
        <p:spPr>
          <a:xfrm>
            <a:off x="5731122" y="2981960"/>
            <a:ext cx="76200" cy="762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pt-1-3"/>
          <p:cNvSpPr/>
          <p:nvPr/>
        </p:nvSpPr>
        <p:spPr>
          <a:xfrm>
            <a:off x="5392368" y="4315460"/>
            <a:ext cx="76200" cy="762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pt-1-4"/>
          <p:cNvSpPr/>
          <p:nvPr/>
        </p:nvSpPr>
        <p:spPr>
          <a:xfrm>
            <a:off x="4406900" y="5026660"/>
            <a:ext cx="76200" cy="762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pt-1-5"/>
          <p:cNvSpPr/>
          <p:nvPr/>
        </p:nvSpPr>
        <p:spPr>
          <a:xfrm>
            <a:off x="3513820" y="4262120"/>
            <a:ext cx="76200" cy="762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pt-1-6"/>
          <p:cNvSpPr/>
          <p:nvPr/>
        </p:nvSpPr>
        <p:spPr>
          <a:xfrm>
            <a:off x="3113474" y="2999740"/>
            <a:ext cx="76200" cy="762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area-2"/>
          <p:cNvSpPr/>
          <p:nvPr/>
        </p:nvSpPr>
        <p:spPr>
          <a:xfrm>
            <a:off x="3182366" y="2148840"/>
            <a:ext cx="2617660" cy="3235960"/>
          </a:xfrm>
          <a:custGeom>
            <a:avLst/>
            <a:gdLst/>
            <a:ahLst/>
            <a:cxnLst/>
            <a:rect l="0" t="0" r="r" b="b"/>
            <a:pathLst>
              <a:path w="2617660" h="3235960">
                <a:moveTo>
                  <a:pt x="1262634" y="0"/>
                </a:moveTo>
                <a:lnTo>
                  <a:pt x="2402078" y="977900"/>
                </a:lnTo>
                <a:lnTo>
                  <a:pt x="2617660" y="2418080"/>
                </a:lnTo>
                <a:lnTo>
                  <a:pt x="1262634" y="3235960"/>
                </a:lnTo>
                <a:lnTo>
                  <a:pt x="0" y="2364740"/>
                </a:lnTo>
                <a:lnTo>
                  <a:pt x="184785" y="1013460"/>
                </a:lnTo>
                <a:close/>
              </a:path>
            </a:pathLst>
          </a:custGeom>
          <a:solidFill>
            <a:srgbClr val="0B3E8F">
              <a:alpha val="3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line-2"/>
          <p:cNvSpPr/>
          <p:nvPr/>
        </p:nvSpPr>
        <p:spPr>
          <a:xfrm>
            <a:off x="3182366" y="2148840"/>
            <a:ext cx="2617660" cy="3235960"/>
          </a:xfrm>
          <a:custGeom>
            <a:avLst/>
            <a:gdLst/>
            <a:ahLst/>
            <a:cxnLst/>
            <a:rect l="0" t="0" r="r" b="b"/>
            <a:pathLst>
              <a:path w="2617660" h="3235960">
                <a:moveTo>
                  <a:pt x="1262634" y="0"/>
                </a:moveTo>
                <a:lnTo>
                  <a:pt x="2402078" y="977900"/>
                </a:lnTo>
                <a:lnTo>
                  <a:pt x="2617660" y="2418080"/>
                </a:lnTo>
                <a:lnTo>
                  <a:pt x="1262634" y="3235960"/>
                </a:lnTo>
                <a:lnTo>
                  <a:pt x="0" y="2364740"/>
                </a:lnTo>
                <a:lnTo>
                  <a:pt x="184785" y="1013460"/>
                </a:lnTo>
                <a:close/>
              </a:path>
            </a:pathLst>
          </a:custGeom>
          <a:noFill/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pt-2-1"/>
          <p:cNvSpPr/>
          <p:nvPr/>
        </p:nvSpPr>
        <p:spPr>
          <a:xfrm>
            <a:off x="4406900" y="2110740"/>
            <a:ext cx="76200" cy="762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pt-2-2"/>
          <p:cNvSpPr/>
          <p:nvPr/>
        </p:nvSpPr>
        <p:spPr>
          <a:xfrm>
            <a:off x="5546347" y="3088640"/>
            <a:ext cx="76200" cy="762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pt-2-3"/>
          <p:cNvSpPr/>
          <p:nvPr/>
        </p:nvSpPr>
        <p:spPr>
          <a:xfrm>
            <a:off x="5761918" y="4528820"/>
            <a:ext cx="76200" cy="762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pt-2-4"/>
          <p:cNvSpPr/>
          <p:nvPr/>
        </p:nvSpPr>
        <p:spPr>
          <a:xfrm>
            <a:off x="4406900" y="5346700"/>
            <a:ext cx="76200" cy="762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pt-2-5"/>
          <p:cNvSpPr/>
          <p:nvPr/>
        </p:nvSpPr>
        <p:spPr>
          <a:xfrm>
            <a:off x="3144270" y="4475480"/>
            <a:ext cx="76200" cy="762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pt-2-6"/>
          <p:cNvSpPr/>
          <p:nvPr/>
        </p:nvSpPr>
        <p:spPr>
          <a:xfrm>
            <a:off x="3329045" y="3124200"/>
            <a:ext cx="76200" cy="762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tickbg-2"/>
          <p:cNvSpPr/>
          <p:nvPr/>
        </p:nvSpPr>
        <p:spPr>
          <a:xfrm>
            <a:off x="4470400" y="2990850"/>
            <a:ext cx="215900" cy="152400"/>
          </a:xfrm>
          <a:custGeom>
            <a:avLst/>
            <a:gdLst/>
            <a:ahLst/>
            <a:cxnLst/>
            <a:rect l="0" t="0" r="r" b="b"/>
            <a:pathLst>
              <a:path w="215900" h="152400">
                <a:moveTo>
                  <a:pt x="76200" y="0"/>
                </a:moveTo>
                <a:lnTo>
                  <a:pt x="139700" y="0"/>
                </a:lnTo>
                <a:cubicBezTo>
                  <a:pt x="181800" y="0"/>
                  <a:pt x="215900" y="34100"/>
                  <a:pt x="215900" y="76200"/>
                </a:cubicBezTo>
                <a:lnTo>
                  <a:pt x="215900" y="76200"/>
                </a:lnTo>
                <a:cubicBezTo>
                  <a:pt x="215900" y="118300"/>
                  <a:pt x="181800" y="152400"/>
                  <a:pt x="139700" y="152400"/>
                </a:cubicBezTo>
                <a:lnTo>
                  <a:pt x="76200" y="152400"/>
                </a:lnTo>
                <a:cubicBezTo>
                  <a:pt x="34100" y="152400"/>
                  <a:pt x="0" y="118300"/>
                  <a:pt x="0" y="762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FFFFFF">
              <a:alpha val="8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tick-2"/>
          <p:cNvSpPr txBox="1"/>
          <p:nvPr/>
        </p:nvSpPr>
        <p:spPr>
          <a:xfrm>
            <a:off x="4513453" y="299535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45" name="tickbg-4"/>
          <p:cNvSpPr/>
          <p:nvPr/>
        </p:nvSpPr>
        <p:spPr>
          <a:xfrm>
            <a:off x="4470400" y="2279650"/>
            <a:ext cx="215900" cy="152400"/>
          </a:xfrm>
          <a:custGeom>
            <a:avLst/>
            <a:gdLst/>
            <a:ahLst/>
            <a:cxnLst/>
            <a:rect l="0" t="0" r="r" b="b"/>
            <a:pathLst>
              <a:path w="215900" h="152400">
                <a:moveTo>
                  <a:pt x="76200" y="0"/>
                </a:moveTo>
                <a:lnTo>
                  <a:pt x="139700" y="0"/>
                </a:lnTo>
                <a:cubicBezTo>
                  <a:pt x="181800" y="0"/>
                  <a:pt x="215900" y="34100"/>
                  <a:pt x="215900" y="76200"/>
                </a:cubicBezTo>
                <a:lnTo>
                  <a:pt x="215900" y="76200"/>
                </a:lnTo>
                <a:cubicBezTo>
                  <a:pt x="215900" y="118300"/>
                  <a:pt x="181800" y="152400"/>
                  <a:pt x="139700" y="152400"/>
                </a:cubicBezTo>
                <a:lnTo>
                  <a:pt x="76200" y="152400"/>
                </a:lnTo>
                <a:cubicBezTo>
                  <a:pt x="34100" y="152400"/>
                  <a:pt x="0" y="118300"/>
                  <a:pt x="0" y="762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FFFFFF">
              <a:alpha val="8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tick-4"/>
          <p:cNvSpPr txBox="1"/>
          <p:nvPr/>
        </p:nvSpPr>
        <p:spPr>
          <a:xfrm>
            <a:off x="4513453" y="228415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8</a:t>
            </a:r>
          </a:p>
        </p:txBody>
      </p:sp>
      <p:sp>
        <p:nvSpPr>
          <p:cNvPr id="47" name="side-bar"/>
          <p:cNvSpPr/>
          <p:nvPr/>
        </p:nvSpPr>
        <p:spPr>
          <a:xfrm>
            <a:off x="7937500" y="1612900"/>
            <a:ext cx="31750" cy="660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side-h"/>
          <p:cNvSpPr txBox="1"/>
          <p:nvPr/>
        </p:nvSpPr>
        <p:spPr>
          <a:xfrm>
            <a:off x="8121650" y="16327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综合评分</a:t>
            </a:r>
          </a:p>
        </p:txBody>
      </p:sp>
      <p:sp>
        <p:nvSpPr>
          <p:cNvPr id="49" name="lg-1"/>
          <p:cNvSpPr/>
          <p:nvPr/>
        </p:nvSpPr>
        <p:spPr>
          <a:xfrm>
            <a:off x="8140700" y="2006600"/>
            <a:ext cx="127000" cy="635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lgt-1"/>
          <p:cNvSpPr txBox="1"/>
          <p:nvPr/>
        </p:nvSpPr>
        <p:spPr>
          <a:xfrm>
            <a:off x="8318627" y="1940703"/>
            <a:ext cx="416242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本公司</a:t>
            </a:r>
          </a:p>
        </p:txBody>
      </p:sp>
      <p:sp>
        <p:nvSpPr>
          <p:cNvPr id="51" name="avg-1"/>
          <p:cNvSpPr txBox="1"/>
          <p:nvPr/>
        </p:nvSpPr>
        <p:spPr>
          <a:xfrm>
            <a:off x="8114792" y="2108264"/>
            <a:ext cx="566547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8.3</a:t>
            </a:r>
          </a:p>
        </p:txBody>
      </p:sp>
      <p:sp>
        <p:nvSpPr>
          <p:cNvPr id="52" name="lg-2"/>
          <p:cNvSpPr/>
          <p:nvPr/>
        </p:nvSpPr>
        <p:spPr>
          <a:xfrm>
            <a:off x="9613900" y="2006600"/>
            <a:ext cx="127000" cy="63500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lgt-2"/>
          <p:cNvSpPr txBox="1"/>
          <p:nvPr/>
        </p:nvSpPr>
        <p:spPr>
          <a:xfrm>
            <a:off x="9791827" y="1940703"/>
            <a:ext cx="431355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竞品 A</a:t>
            </a:r>
          </a:p>
        </p:txBody>
      </p:sp>
      <p:sp>
        <p:nvSpPr>
          <p:cNvPr id="54" name="avg-2"/>
          <p:cNvSpPr txBox="1"/>
          <p:nvPr/>
        </p:nvSpPr>
        <p:spPr>
          <a:xfrm>
            <a:off x="9587992" y="2108264"/>
            <a:ext cx="566547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25">
                <a:solidFill>
                  <a:srgbClr val="3985CD"/>
                </a:solidFill>
                <a:latin typeface="Arial"/>
                <a:ea typeface="Arial"/>
                <a:cs typeface="Arial"/>
              </a:rPr>
              <a:t>7.4</a:t>
            </a:r>
          </a:p>
        </p:txBody>
      </p:sp>
      <p:cxnSp>
        <p:nvCxnSpPr>
          <p:cNvPr id="55" name="div"/>
          <p:cNvCxnSpPr/>
          <p:nvPr/>
        </p:nvCxnSpPr>
        <p:spPr>
          <a:xfrm>
            <a:off x="7937500" y="2616200"/>
            <a:ext cx="35687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6" name="rl-1"/>
          <p:cNvSpPr txBox="1"/>
          <p:nvPr/>
        </p:nvSpPr>
        <p:spPr>
          <a:xfrm>
            <a:off x="7924927" y="2791603"/>
            <a:ext cx="52609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产品性能</a:t>
            </a:r>
          </a:p>
        </p:txBody>
      </p:sp>
      <p:sp>
        <p:nvSpPr>
          <p:cNvPr id="57" name="bg-1-1"/>
          <p:cNvSpPr/>
          <p:nvPr/>
        </p:nvSpPr>
        <p:spPr>
          <a:xfrm>
            <a:off x="9118600" y="3022600"/>
            <a:ext cx="19050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bar-1-1"/>
          <p:cNvSpPr/>
          <p:nvPr/>
        </p:nvSpPr>
        <p:spPr>
          <a:xfrm>
            <a:off x="9118600" y="3022600"/>
            <a:ext cx="1752600" cy="635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bv-1-1"/>
          <p:cNvSpPr txBox="1"/>
          <p:nvPr/>
        </p:nvSpPr>
        <p:spPr>
          <a:xfrm>
            <a:off x="11279696" y="2972387"/>
            <a:ext cx="23755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9.2</a:t>
            </a:r>
          </a:p>
        </p:txBody>
      </p:sp>
      <p:sp>
        <p:nvSpPr>
          <p:cNvPr id="60" name="bg-1-2"/>
          <p:cNvSpPr/>
          <p:nvPr/>
        </p:nvSpPr>
        <p:spPr>
          <a:xfrm>
            <a:off x="9118600" y="3149600"/>
            <a:ext cx="19050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bar-1-2"/>
          <p:cNvSpPr/>
          <p:nvPr/>
        </p:nvSpPr>
        <p:spPr>
          <a:xfrm>
            <a:off x="9118600" y="3149600"/>
            <a:ext cx="1524000" cy="63500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bv-1-2"/>
          <p:cNvSpPr txBox="1"/>
          <p:nvPr/>
        </p:nvSpPr>
        <p:spPr>
          <a:xfrm>
            <a:off x="11279696" y="3099387"/>
            <a:ext cx="23755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8.0</a:t>
            </a:r>
          </a:p>
        </p:txBody>
      </p:sp>
      <p:sp>
        <p:nvSpPr>
          <p:cNvPr id="63" name="rl-2"/>
          <p:cNvSpPr txBox="1"/>
          <p:nvPr/>
        </p:nvSpPr>
        <p:spPr>
          <a:xfrm>
            <a:off x="7924927" y="3325003"/>
            <a:ext cx="63404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价格竞争力</a:t>
            </a:r>
          </a:p>
        </p:txBody>
      </p:sp>
      <p:sp>
        <p:nvSpPr>
          <p:cNvPr id="64" name="bg-2-1"/>
          <p:cNvSpPr/>
          <p:nvPr/>
        </p:nvSpPr>
        <p:spPr>
          <a:xfrm>
            <a:off x="9118600" y="3556000"/>
            <a:ext cx="19050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bar-2-1"/>
          <p:cNvSpPr/>
          <p:nvPr/>
        </p:nvSpPr>
        <p:spPr>
          <a:xfrm>
            <a:off x="9118600" y="3556000"/>
            <a:ext cx="1409700" cy="635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bv-2-1"/>
          <p:cNvSpPr txBox="1"/>
          <p:nvPr/>
        </p:nvSpPr>
        <p:spPr>
          <a:xfrm>
            <a:off x="11279696" y="3505787"/>
            <a:ext cx="23755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7.4</a:t>
            </a:r>
          </a:p>
        </p:txBody>
      </p:sp>
      <p:sp>
        <p:nvSpPr>
          <p:cNvPr id="67" name="bg-2-2"/>
          <p:cNvSpPr/>
          <p:nvPr/>
        </p:nvSpPr>
        <p:spPr>
          <a:xfrm>
            <a:off x="9118600" y="3683000"/>
            <a:ext cx="19050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bar-2-2"/>
          <p:cNvSpPr/>
          <p:nvPr/>
        </p:nvSpPr>
        <p:spPr>
          <a:xfrm>
            <a:off x="9118600" y="3683000"/>
            <a:ext cx="1638300" cy="63500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bv-2-2"/>
          <p:cNvSpPr txBox="1"/>
          <p:nvPr/>
        </p:nvSpPr>
        <p:spPr>
          <a:xfrm>
            <a:off x="11279696" y="3632787"/>
            <a:ext cx="23755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8.6</a:t>
            </a:r>
          </a:p>
        </p:txBody>
      </p:sp>
      <p:sp>
        <p:nvSpPr>
          <p:cNvPr id="70" name="rl-3"/>
          <p:cNvSpPr txBox="1"/>
          <p:nvPr/>
        </p:nvSpPr>
        <p:spPr>
          <a:xfrm>
            <a:off x="7924927" y="3858403"/>
            <a:ext cx="52609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交付速度</a:t>
            </a:r>
          </a:p>
        </p:txBody>
      </p:sp>
      <p:sp>
        <p:nvSpPr>
          <p:cNvPr id="71" name="bg-3-1"/>
          <p:cNvSpPr/>
          <p:nvPr/>
        </p:nvSpPr>
        <p:spPr>
          <a:xfrm>
            <a:off x="9118600" y="4089400"/>
            <a:ext cx="19050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bar-3-1"/>
          <p:cNvSpPr/>
          <p:nvPr/>
        </p:nvSpPr>
        <p:spPr>
          <a:xfrm>
            <a:off x="9118600" y="4089400"/>
            <a:ext cx="1676400" cy="635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bv-3-1"/>
          <p:cNvSpPr txBox="1"/>
          <p:nvPr/>
        </p:nvSpPr>
        <p:spPr>
          <a:xfrm>
            <a:off x="11279696" y="4039187"/>
            <a:ext cx="23755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8.8</a:t>
            </a:r>
          </a:p>
        </p:txBody>
      </p:sp>
      <p:sp>
        <p:nvSpPr>
          <p:cNvPr id="74" name="bg-3-2"/>
          <p:cNvSpPr/>
          <p:nvPr/>
        </p:nvSpPr>
        <p:spPr>
          <a:xfrm>
            <a:off x="9118600" y="4216400"/>
            <a:ext cx="19050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bar-3-2"/>
          <p:cNvSpPr/>
          <p:nvPr/>
        </p:nvSpPr>
        <p:spPr>
          <a:xfrm>
            <a:off x="9118600" y="4216400"/>
            <a:ext cx="1219200" cy="63500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bv-3-2"/>
          <p:cNvSpPr txBox="1"/>
          <p:nvPr/>
        </p:nvSpPr>
        <p:spPr>
          <a:xfrm>
            <a:off x="11279696" y="4166187"/>
            <a:ext cx="23755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6.4</a:t>
            </a:r>
          </a:p>
        </p:txBody>
      </p:sp>
      <p:sp>
        <p:nvSpPr>
          <p:cNvPr id="77" name="rl-4"/>
          <p:cNvSpPr txBox="1"/>
          <p:nvPr/>
        </p:nvSpPr>
        <p:spPr>
          <a:xfrm>
            <a:off x="7924927" y="4391803"/>
            <a:ext cx="52609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服务响应</a:t>
            </a:r>
          </a:p>
        </p:txBody>
      </p:sp>
      <p:sp>
        <p:nvSpPr>
          <p:cNvPr id="78" name="bg-4-1"/>
          <p:cNvSpPr/>
          <p:nvPr/>
        </p:nvSpPr>
        <p:spPr>
          <a:xfrm>
            <a:off x="9118600" y="4622800"/>
            <a:ext cx="19050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bar-4-1"/>
          <p:cNvSpPr/>
          <p:nvPr/>
        </p:nvSpPr>
        <p:spPr>
          <a:xfrm>
            <a:off x="9118600" y="4622800"/>
            <a:ext cx="1714500" cy="635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bv-4-1"/>
          <p:cNvSpPr txBox="1"/>
          <p:nvPr/>
        </p:nvSpPr>
        <p:spPr>
          <a:xfrm>
            <a:off x="11279696" y="4572587"/>
            <a:ext cx="23755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9.0</a:t>
            </a:r>
          </a:p>
        </p:txBody>
      </p:sp>
      <p:sp>
        <p:nvSpPr>
          <p:cNvPr id="81" name="bg-4-2"/>
          <p:cNvSpPr/>
          <p:nvPr/>
        </p:nvSpPr>
        <p:spPr>
          <a:xfrm>
            <a:off x="9118600" y="4749800"/>
            <a:ext cx="19050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bar-4-2"/>
          <p:cNvSpPr/>
          <p:nvPr/>
        </p:nvSpPr>
        <p:spPr>
          <a:xfrm>
            <a:off x="9118600" y="4749800"/>
            <a:ext cx="1371600" cy="63500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bv-4-2"/>
          <p:cNvSpPr txBox="1"/>
          <p:nvPr/>
        </p:nvSpPr>
        <p:spPr>
          <a:xfrm>
            <a:off x="11279696" y="4699587"/>
            <a:ext cx="23755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7.2</a:t>
            </a:r>
          </a:p>
        </p:txBody>
      </p:sp>
      <p:sp>
        <p:nvSpPr>
          <p:cNvPr id="84" name="rl-5"/>
          <p:cNvSpPr txBox="1"/>
          <p:nvPr/>
        </p:nvSpPr>
        <p:spPr>
          <a:xfrm>
            <a:off x="7924927" y="4925203"/>
            <a:ext cx="52609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生态开放</a:t>
            </a:r>
          </a:p>
        </p:txBody>
      </p:sp>
      <p:sp>
        <p:nvSpPr>
          <p:cNvPr id="85" name="bg-5-1"/>
          <p:cNvSpPr/>
          <p:nvPr/>
        </p:nvSpPr>
        <p:spPr>
          <a:xfrm>
            <a:off x="9118600" y="5156200"/>
            <a:ext cx="19050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bar-5-1"/>
          <p:cNvSpPr/>
          <p:nvPr/>
        </p:nvSpPr>
        <p:spPr>
          <a:xfrm>
            <a:off x="9118600" y="5156200"/>
            <a:ext cx="1562100" cy="635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bv-5-1"/>
          <p:cNvSpPr txBox="1"/>
          <p:nvPr/>
        </p:nvSpPr>
        <p:spPr>
          <a:xfrm>
            <a:off x="11279696" y="5105987"/>
            <a:ext cx="23755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8.2</a:t>
            </a:r>
          </a:p>
        </p:txBody>
      </p:sp>
      <p:sp>
        <p:nvSpPr>
          <p:cNvPr id="88" name="bg-5-2"/>
          <p:cNvSpPr/>
          <p:nvPr/>
        </p:nvSpPr>
        <p:spPr>
          <a:xfrm>
            <a:off x="9118600" y="5283200"/>
            <a:ext cx="19050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bar-5-2"/>
          <p:cNvSpPr/>
          <p:nvPr/>
        </p:nvSpPr>
        <p:spPr>
          <a:xfrm>
            <a:off x="9118600" y="5283200"/>
            <a:ext cx="1104900" cy="63500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bv-5-2"/>
          <p:cNvSpPr txBox="1"/>
          <p:nvPr/>
        </p:nvSpPr>
        <p:spPr>
          <a:xfrm>
            <a:off x="11279696" y="5232987"/>
            <a:ext cx="23755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5.8</a:t>
            </a:r>
          </a:p>
        </p:txBody>
      </p:sp>
      <p:sp>
        <p:nvSpPr>
          <p:cNvPr id="91" name="rl-6"/>
          <p:cNvSpPr txBox="1"/>
          <p:nvPr/>
        </p:nvSpPr>
        <p:spPr>
          <a:xfrm>
            <a:off x="7924927" y="5458603"/>
            <a:ext cx="52609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品牌影响</a:t>
            </a:r>
          </a:p>
        </p:txBody>
      </p:sp>
      <p:sp>
        <p:nvSpPr>
          <p:cNvPr id="92" name="bg-6-1"/>
          <p:cNvSpPr/>
          <p:nvPr/>
        </p:nvSpPr>
        <p:spPr>
          <a:xfrm>
            <a:off x="9118600" y="5689600"/>
            <a:ext cx="19050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bar-6-1"/>
          <p:cNvSpPr/>
          <p:nvPr/>
        </p:nvSpPr>
        <p:spPr>
          <a:xfrm>
            <a:off x="9118600" y="5689600"/>
            <a:ext cx="1333500" cy="635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bv-6-1"/>
          <p:cNvSpPr txBox="1"/>
          <p:nvPr/>
        </p:nvSpPr>
        <p:spPr>
          <a:xfrm>
            <a:off x="11279696" y="5639387"/>
            <a:ext cx="23755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7.0</a:t>
            </a:r>
          </a:p>
        </p:txBody>
      </p:sp>
      <p:sp>
        <p:nvSpPr>
          <p:cNvPr id="95" name="bg-6-2"/>
          <p:cNvSpPr/>
          <p:nvPr/>
        </p:nvSpPr>
        <p:spPr>
          <a:xfrm>
            <a:off x="9118600" y="5816600"/>
            <a:ext cx="19050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bar-6-2"/>
          <p:cNvSpPr/>
          <p:nvPr/>
        </p:nvSpPr>
        <p:spPr>
          <a:xfrm>
            <a:off x="9118600" y="5816600"/>
            <a:ext cx="1600200" cy="63500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bv-6-2"/>
          <p:cNvSpPr txBox="1"/>
          <p:nvPr/>
        </p:nvSpPr>
        <p:spPr>
          <a:xfrm>
            <a:off x="11279696" y="5766387"/>
            <a:ext cx="23755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8.4</a:t>
            </a:r>
          </a:p>
        </p:txBody>
      </p:sp>
      <p:cxnSp>
        <p:nvCxnSpPr>
          <p:cNvPr id="98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竞品评估 · 六维雷达</a:t>
            </a:r>
          </a:p>
        </p:txBody>
      </p:sp>
      <p:sp>
        <p:nvSpPr>
          <p:cNvPr id="100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供应商综合评估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35483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SCORING MATRIX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122793" y="673132"/>
            <a:ext cx="349796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六个维度的加权打分，色块越深代表该维度表现越强（满分 5 分）</a:t>
            </a:r>
          </a:p>
        </p:txBody>
      </p:sp>
      <p:sp>
        <p:nvSpPr>
          <p:cNvPr id="10" name="th-name"/>
          <p:cNvSpPr txBox="1"/>
          <p:nvPr/>
        </p:nvSpPr>
        <p:spPr>
          <a:xfrm>
            <a:off x="966470" y="1698466"/>
            <a:ext cx="4095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供应商</a:t>
            </a:r>
          </a:p>
        </p:txBody>
      </p:sp>
      <p:sp>
        <p:nvSpPr>
          <p:cNvPr id="11" name="thc-1"/>
          <p:cNvSpPr/>
          <p:nvPr/>
        </p:nvSpPr>
        <p:spPr>
          <a:xfrm>
            <a:off x="3251200" y="1536700"/>
            <a:ext cx="1003300" cy="355600"/>
          </a:xfrm>
          <a:custGeom>
            <a:avLst/>
            <a:gdLst/>
            <a:ahLst/>
            <a:cxnLst/>
            <a:rect l="0" t="0" r="r" b="b"/>
            <a:pathLst>
              <a:path w="1003300" h="355600">
                <a:moveTo>
                  <a:pt x="76200" y="0"/>
                </a:moveTo>
                <a:lnTo>
                  <a:pt x="927100" y="0"/>
                </a:lnTo>
                <a:cubicBezTo>
                  <a:pt x="969200" y="0"/>
                  <a:pt x="1003300" y="34100"/>
                  <a:pt x="1003300" y="76200"/>
                </a:cubicBezTo>
                <a:lnTo>
                  <a:pt x="1003300" y="279400"/>
                </a:lnTo>
                <a:cubicBezTo>
                  <a:pt x="1003300" y="321500"/>
                  <a:pt x="969200" y="355600"/>
                  <a:pt x="927100" y="355600"/>
                </a:cubicBezTo>
                <a:lnTo>
                  <a:pt x="76200" y="355600"/>
                </a:lnTo>
                <a:cubicBezTo>
                  <a:pt x="34100" y="355600"/>
                  <a:pt x="0" y="321500"/>
                  <a:pt x="0" y="2794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0B3E8F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thd-1"/>
          <p:cNvSpPr txBox="1"/>
          <p:nvPr/>
        </p:nvSpPr>
        <p:spPr>
          <a:xfrm>
            <a:off x="3568383" y="1565497"/>
            <a:ext cx="3689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质量</a:t>
            </a:r>
          </a:p>
        </p:txBody>
      </p:sp>
      <p:sp>
        <p:nvSpPr>
          <p:cNvPr id="13" name="thw-1"/>
          <p:cNvSpPr txBox="1"/>
          <p:nvPr/>
        </p:nvSpPr>
        <p:spPr>
          <a:xfrm>
            <a:off x="3516757" y="1731708"/>
            <a:ext cx="47218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权重 20%</a:t>
            </a:r>
          </a:p>
        </p:txBody>
      </p:sp>
      <p:sp>
        <p:nvSpPr>
          <p:cNvPr id="14" name="thc-2"/>
          <p:cNvSpPr/>
          <p:nvPr/>
        </p:nvSpPr>
        <p:spPr>
          <a:xfrm>
            <a:off x="4330700" y="1536700"/>
            <a:ext cx="1003300" cy="355600"/>
          </a:xfrm>
          <a:custGeom>
            <a:avLst/>
            <a:gdLst/>
            <a:ahLst/>
            <a:cxnLst/>
            <a:rect l="0" t="0" r="r" b="b"/>
            <a:pathLst>
              <a:path w="1003300" h="355600">
                <a:moveTo>
                  <a:pt x="76200" y="0"/>
                </a:moveTo>
                <a:lnTo>
                  <a:pt x="927100" y="0"/>
                </a:lnTo>
                <a:cubicBezTo>
                  <a:pt x="969200" y="0"/>
                  <a:pt x="1003300" y="34100"/>
                  <a:pt x="1003300" y="76200"/>
                </a:cubicBezTo>
                <a:lnTo>
                  <a:pt x="1003300" y="279400"/>
                </a:lnTo>
                <a:cubicBezTo>
                  <a:pt x="1003300" y="321500"/>
                  <a:pt x="969200" y="355600"/>
                  <a:pt x="927100" y="355600"/>
                </a:cubicBezTo>
                <a:lnTo>
                  <a:pt x="76200" y="355600"/>
                </a:lnTo>
                <a:cubicBezTo>
                  <a:pt x="34100" y="355600"/>
                  <a:pt x="0" y="321500"/>
                  <a:pt x="0" y="2794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0B3E8F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thd-2"/>
          <p:cNvSpPr txBox="1"/>
          <p:nvPr/>
        </p:nvSpPr>
        <p:spPr>
          <a:xfrm>
            <a:off x="4647882" y="1565497"/>
            <a:ext cx="3689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交期</a:t>
            </a:r>
          </a:p>
        </p:txBody>
      </p:sp>
      <p:sp>
        <p:nvSpPr>
          <p:cNvPr id="16" name="thw-2"/>
          <p:cNvSpPr txBox="1"/>
          <p:nvPr/>
        </p:nvSpPr>
        <p:spPr>
          <a:xfrm>
            <a:off x="4596257" y="1731708"/>
            <a:ext cx="47218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权重 20%</a:t>
            </a:r>
          </a:p>
        </p:txBody>
      </p:sp>
      <p:sp>
        <p:nvSpPr>
          <p:cNvPr id="17" name="thc-3"/>
          <p:cNvSpPr/>
          <p:nvPr/>
        </p:nvSpPr>
        <p:spPr>
          <a:xfrm>
            <a:off x="5410200" y="1536700"/>
            <a:ext cx="1003300" cy="355600"/>
          </a:xfrm>
          <a:custGeom>
            <a:avLst/>
            <a:gdLst/>
            <a:ahLst/>
            <a:cxnLst/>
            <a:rect l="0" t="0" r="r" b="b"/>
            <a:pathLst>
              <a:path w="1003300" h="355600">
                <a:moveTo>
                  <a:pt x="76200" y="0"/>
                </a:moveTo>
                <a:lnTo>
                  <a:pt x="927100" y="0"/>
                </a:lnTo>
                <a:cubicBezTo>
                  <a:pt x="969200" y="0"/>
                  <a:pt x="1003300" y="34100"/>
                  <a:pt x="1003300" y="76200"/>
                </a:cubicBezTo>
                <a:lnTo>
                  <a:pt x="1003300" y="279400"/>
                </a:lnTo>
                <a:cubicBezTo>
                  <a:pt x="1003300" y="321500"/>
                  <a:pt x="969200" y="355600"/>
                  <a:pt x="927100" y="355600"/>
                </a:cubicBezTo>
                <a:lnTo>
                  <a:pt x="76200" y="355600"/>
                </a:lnTo>
                <a:cubicBezTo>
                  <a:pt x="34100" y="355600"/>
                  <a:pt x="0" y="321500"/>
                  <a:pt x="0" y="2794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0B3E8F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thd-3"/>
          <p:cNvSpPr txBox="1"/>
          <p:nvPr/>
        </p:nvSpPr>
        <p:spPr>
          <a:xfrm>
            <a:off x="5727382" y="1565497"/>
            <a:ext cx="3689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价格</a:t>
            </a:r>
          </a:p>
        </p:txBody>
      </p:sp>
      <p:sp>
        <p:nvSpPr>
          <p:cNvPr id="19" name="thw-3"/>
          <p:cNvSpPr txBox="1"/>
          <p:nvPr/>
        </p:nvSpPr>
        <p:spPr>
          <a:xfrm>
            <a:off x="5675757" y="1731708"/>
            <a:ext cx="47218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权重 15%</a:t>
            </a:r>
          </a:p>
        </p:txBody>
      </p:sp>
      <p:sp>
        <p:nvSpPr>
          <p:cNvPr id="20" name="thc-4"/>
          <p:cNvSpPr/>
          <p:nvPr/>
        </p:nvSpPr>
        <p:spPr>
          <a:xfrm>
            <a:off x="6489700" y="1536700"/>
            <a:ext cx="1003300" cy="355600"/>
          </a:xfrm>
          <a:custGeom>
            <a:avLst/>
            <a:gdLst/>
            <a:ahLst/>
            <a:cxnLst/>
            <a:rect l="0" t="0" r="r" b="b"/>
            <a:pathLst>
              <a:path w="1003300" h="355600">
                <a:moveTo>
                  <a:pt x="76200" y="0"/>
                </a:moveTo>
                <a:lnTo>
                  <a:pt x="927100" y="0"/>
                </a:lnTo>
                <a:cubicBezTo>
                  <a:pt x="969201" y="0"/>
                  <a:pt x="1003300" y="34100"/>
                  <a:pt x="1003300" y="76200"/>
                </a:cubicBezTo>
                <a:lnTo>
                  <a:pt x="1003300" y="279400"/>
                </a:lnTo>
                <a:cubicBezTo>
                  <a:pt x="1003300" y="321500"/>
                  <a:pt x="969201" y="355600"/>
                  <a:pt x="927100" y="355600"/>
                </a:cubicBezTo>
                <a:lnTo>
                  <a:pt x="76200" y="355600"/>
                </a:lnTo>
                <a:cubicBezTo>
                  <a:pt x="34099" y="355600"/>
                  <a:pt x="0" y="321500"/>
                  <a:pt x="0" y="2794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0B3E8F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thd-4"/>
          <p:cNvSpPr txBox="1"/>
          <p:nvPr/>
        </p:nvSpPr>
        <p:spPr>
          <a:xfrm>
            <a:off x="6806882" y="1565497"/>
            <a:ext cx="3689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产能</a:t>
            </a:r>
          </a:p>
        </p:txBody>
      </p:sp>
      <p:sp>
        <p:nvSpPr>
          <p:cNvPr id="22" name="thw-4"/>
          <p:cNvSpPr txBox="1"/>
          <p:nvPr/>
        </p:nvSpPr>
        <p:spPr>
          <a:xfrm>
            <a:off x="6755257" y="1731708"/>
            <a:ext cx="47218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权重 15%</a:t>
            </a:r>
          </a:p>
        </p:txBody>
      </p:sp>
      <p:sp>
        <p:nvSpPr>
          <p:cNvPr id="23" name="thc-5"/>
          <p:cNvSpPr/>
          <p:nvPr/>
        </p:nvSpPr>
        <p:spPr>
          <a:xfrm>
            <a:off x="7569200" y="1536700"/>
            <a:ext cx="1003300" cy="355600"/>
          </a:xfrm>
          <a:custGeom>
            <a:avLst/>
            <a:gdLst/>
            <a:ahLst/>
            <a:cxnLst/>
            <a:rect l="0" t="0" r="r" b="b"/>
            <a:pathLst>
              <a:path w="1003300" h="355600">
                <a:moveTo>
                  <a:pt x="76200" y="0"/>
                </a:moveTo>
                <a:lnTo>
                  <a:pt x="927100" y="0"/>
                </a:lnTo>
                <a:cubicBezTo>
                  <a:pt x="969201" y="0"/>
                  <a:pt x="1003300" y="34100"/>
                  <a:pt x="1003300" y="76200"/>
                </a:cubicBezTo>
                <a:lnTo>
                  <a:pt x="1003300" y="279400"/>
                </a:lnTo>
                <a:cubicBezTo>
                  <a:pt x="1003300" y="321500"/>
                  <a:pt x="969201" y="355600"/>
                  <a:pt x="927100" y="355600"/>
                </a:cubicBezTo>
                <a:lnTo>
                  <a:pt x="76200" y="355600"/>
                </a:lnTo>
                <a:cubicBezTo>
                  <a:pt x="34099" y="355600"/>
                  <a:pt x="0" y="321500"/>
                  <a:pt x="0" y="2794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0B3E8F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thd-5"/>
          <p:cNvSpPr txBox="1"/>
          <p:nvPr/>
        </p:nvSpPr>
        <p:spPr>
          <a:xfrm>
            <a:off x="7886382" y="1565497"/>
            <a:ext cx="3689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服务</a:t>
            </a:r>
          </a:p>
        </p:txBody>
      </p:sp>
      <p:sp>
        <p:nvSpPr>
          <p:cNvPr id="25" name="thw-5"/>
          <p:cNvSpPr txBox="1"/>
          <p:nvPr/>
        </p:nvSpPr>
        <p:spPr>
          <a:xfrm>
            <a:off x="7834757" y="1731708"/>
            <a:ext cx="47218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权重 15%</a:t>
            </a:r>
          </a:p>
        </p:txBody>
      </p:sp>
      <p:sp>
        <p:nvSpPr>
          <p:cNvPr id="26" name="thc-6"/>
          <p:cNvSpPr/>
          <p:nvPr/>
        </p:nvSpPr>
        <p:spPr>
          <a:xfrm>
            <a:off x="8648700" y="1536700"/>
            <a:ext cx="1003300" cy="355600"/>
          </a:xfrm>
          <a:custGeom>
            <a:avLst/>
            <a:gdLst/>
            <a:ahLst/>
            <a:cxnLst/>
            <a:rect l="0" t="0" r="r" b="b"/>
            <a:pathLst>
              <a:path w="1003300" h="355600">
                <a:moveTo>
                  <a:pt x="76200" y="0"/>
                </a:moveTo>
                <a:lnTo>
                  <a:pt x="927100" y="0"/>
                </a:lnTo>
                <a:cubicBezTo>
                  <a:pt x="969201" y="0"/>
                  <a:pt x="1003300" y="34100"/>
                  <a:pt x="1003300" y="76200"/>
                </a:cubicBezTo>
                <a:lnTo>
                  <a:pt x="1003300" y="279400"/>
                </a:lnTo>
                <a:cubicBezTo>
                  <a:pt x="1003300" y="321500"/>
                  <a:pt x="969201" y="355600"/>
                  <a:pt x="927100" y="355600"/>
                </a:cubicBezTo>
                <a:lnTo>
                  <a:pt x="76200" y="355600"/>
                </a:lnTo>
                <a:cubicBezTo>
                  <a:pt x="34099" y="355600"/>
                  <a:pt x="0" y="321500"/>
                  <a:pt x="0" y="2794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0B3E8F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thd-6"/>
          <p:cNvSpPr txBox="1"/>
          <p:nvPr/>
        </p:nvSpPr>
        <p:spPr>
          <a:xfrm>
            <a:off x="8965882" y="1565497"/>
            <a:ext cx="3689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合规</a:t>
            </a:r>
          </a:p>
        </p:txBody>
      </p:sp>
      <p:sp>
        <p:nvSpPr>
          <p:cNvPr id="28" name="thw-6"/>
          <p:cNvSpPr txBox="1"/>
          <p:nvPr/>
        </p:nvSpPr>
        <p:spPr>
          <a:xfrm>
            <a:off x="8914257" y="1731708"/>
            <a:ext cx="47218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权重 15%</a:t>
            </a:r>
          </a:p>
        </p:txBody>
      </p:sp>
      <p:sp>
        <p:nvSpPr>
          <p:cNvPr id="29" name="th-score"/>
          <p:cNvSpPr txBox="1"/>
          <p:nvPr/>
        </p:nvSpPr>
        <p:spPr>
          <a:xfrm>
            <a:off x="10047288" y="1634966"/>
            <a:ext cx="5175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加权总分</a:t>
            </a:r>
          </a:p>
        </p:txBody>
      </p:sp>
      <p:sp>
        <p:nvSpPr>
          <p:cNvPr id="30" name="rowbg-1"/>
          <p:cNvSpPr/>
          <p:nvPr/>
        </p:nvSpPr>
        <p:spPr>
          <a:xfrm>
            <a:off x="838200" y="1943100"/>
            <a:ext cx="10287000" cy="685800"/>
          </a:xfrm>
          <a:custGeom>
            <a:avLst/>
            <a:gdLst/>
            <a:ahLst/>
            <a:cxnLst/>
            <a:rect l="0" t="0" r="r" b="b"/>
            <a:pathLst>
              <a:path w="10287000" h="685800">
                <a:moveTo>
                  <a:pt x="114300" y="0"/>
                </a:moveTo>
                <a:lnTo>
                  <a:pt x="10172700" y="0"/>
                </a:lnTo>
                <a:cubicBezTo>
                  <a:pt x="10235819" y="0"/>
                  <a:pt x="10287000" y="51181"/>
                  <a:pt x="10287000" y="114300"/>
                </a:cubicBezTo>
                <a:lnTo>
                  <a:pt x="10287000" y="571500"/>
                </a:lnTo>
                <a:cubicBezTo>
                  <a:pt x="10287000" y="634619"/>
                  <a:pt x="10235819" y="685800"/>
                  <a:pt x="10172700" y="685800"/>
                </a:cubicBezTo>
                <a:lnTo>
                  <a:pt x="114300" y="685800"/>
                </a:lnTo>
                <a:cubicBezTo>
                  <a:pt x="51181" y="685800"/>
                  <a:pt x="0" y="634619"/>
                  <a:pt x="0" y="571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rowbar-1"/>
          <p:cNvSpPr/>
          <p:nvPr/>
        </p:nvSpPr>
        <p:spPr>
          <a:xfrm>
            <a:off x="838200" y="1943100"/>
            <a:ext cx="38100" cy="685800"/>
          </a:xfrm>
          <a:custGeom>
            <a:avLst/>
            <a:gdLst/>
            <a:ahLst/>
            <a:cxnLst/>
            <a:rect l="0" t="0" r="r" b="b"/>
            <a:pathLst>
              <a:path w="38100" h="6858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66750"/>
                </a:lnTo>
                <a:cubicBezTo>
                  <a:pt x="38100" y="677291"/>
                  <a:pt x="29591" y="685800"/>
                  <a:pt x="19050" y="685800"/>
                </a:cubicBezTo>
                <a:lnTo>
                  <a:pt x="19050" y="685800"/>
                </a:lnTo>
                <a:cubicBezTo>
                  <a:pt x="8509" y="685800"/>
                  <a:pt x="0" y="677291"/>
                  <a:pt x="0" y="6667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rn-1"/>
          <p:cNvSpPr txBox="1"/>
          <p:nvPr/>
        </p:nvSpPr>
        <p:spPr>
          <a:xfrm>
            <a:off x="958850" y="2077244"/>
            <a:ext cx="82359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9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恒泰精密</a:t>
            </a:r>
          </a:p>
        </p:txBody>
      </p:sp>
      <p:sp>
        <p:nvSpPr>
          <p:cNvPr id="33" name="rp-1"/>
          <p:cNvSpPr txBox="1"/>
          <p:nvPr/>
        </p:nvSpPr>
        <p:spPr>
          <a:xfrm>
            <a:off x="966851" y="2350087"/>
            <a:ext cx="87357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华东 · 合作 6 年</a:t>
            </a:r>
          </a:p>
        </p:txBody>
      </p:sp>
      <p:sp>
        <p:nvSpPr>
          <p:cNvPr id="34" name="rbadge-1"/>
          <p:cNvSpPr/>
          <p:nvPr/>
        </p:nvSpPr>
        <p:spPr>
          <a:xfrm>
            <a:off x="2425700" y="2120900"/>
            <a:ext cx="609600" cy="203200"/>
          </a:xfrm>
          <a:custGeom>
            <a:avLst/>
            <a:gdLst/>
            <a:ahLst/>
            <a:cxnLst/>
            <a:rect l="0" t="0" r="r" b="b"/>
            <a:pathLst>
              <a:path w="609600" h="203200">
                <a:moveTo>
                  <a:pt x="101600" y="0"/>
                </a:moveTo>
                <a:lnTo>
                  <a:pt x="508000" y="0"/>
                </a:lnTo>
                <a:cubicBezTo>
                  <a:pt x="564134" y="0"/>
                  <a:pt x="609600" y="45466"/>
                  <a:pt x="609600" y="101600"/>
                </a:cubicBezTo>
                <a:lnTo>
                  <a:pt x="609600" y="101600"/>
                </a:lnTo>
                <a:cubicBezTo>
                  <a:pt x="609600" y="157734"/>
                  <a:pt x="564134" y="203200"/>
                  <a:pt x="5080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rbt-1"/>
          <p:cNvSpPr txBox="1"/>
          <p:nvPr/>
        </p:nvSpPr>
        <p:spPr>
          <a:xfrm>
            <a:off x="2582862" y="2142966"/>
            <a:ext cx="2952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7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推荐</a:t>
            </a:r>
          </a:p>
        </p:txBody>
      </p:sp>
      <p:sp>
        <p:nvSpPr>
          <p:cNvPr id="36" name="cell-1-1"/>
          <p:cNvSpPr/>
          <p:nvPr/>
        </p:nvSpPr>
        <p:spPr>
          <a:xfrm>
            <a:off x="3251200" y="2006600"/>
            <a:ext cx="1003300" cy="558800"/>
          </a:xfrm>
          <a:custGeom>
            <a:avLst/>
            <a:gdLst/>
            <a:ahLst/>
            <a:cxnLst/>
            <a:rect l="0" t="0" r="r" b="b"/>
            <a:pathLst>
              <a:path w="1003300" h="558800">
                <a:moveTo>
                  <a:pt x="88900" y="0"/>
                </a:moveTo>
                <a:lnTo>
                  <a:pt x="914400" y="0"/>
                </a:lnTo>
                <a:cubicBezTo>
                  <a:pt x="963486" y="0"/>
                  <a:pt x="1003300" y="39814"/>
                  <a:pt x="1003300" y="88900"/>
                </a:cubicBezTo>
                <a:lnTo>
                  <a:pt x="1003300" y="469900"/>
                </a:lnTo>
                <a:cubicBezTo>
                  <a:pt x="1003300" y="518986"/>
                  <a:pt x="963486" y="558800"/>
                  <a:pt x="914400" y="558800"/>
                </a:cubicBezTo>
                <a:lnTo>
                  <a:pt x="88900" y="558800"/>
                </a:lnTo>
                <a:cubicBezTo>
                  <a:pt x="39814" y="558800"/>
                  <a:pt x="0" y="518986"/>
                  <a:pt x="0" y="469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1E4E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cv-1-1"/>
          <p:cNvSpPr txBox="1"/>
          <p:nvPr/>
        </p:nvSpPr>
        <p:spPr>
          <a:xfrm>
            <a:off x="3526917" y="21504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4.8</a:t>
            </a:r>
          </a:p>
        </p:txBody>
      </p:sp>
      <p:sp>
        <p:nvSpPr>
          <p:cNvPr id="38" name="cell-1-2"/>
          <p:cNvSpPr/>
          <p:nvPr/>
        </p:nvSpPr>
        <p:spPr>
          <a:xfrm>
            <a:off x="4330700" y="2006600"/>
            <a:ext cx="1003300" cy="558800"/>
          </a:xfrm>
          <a:custGeom>
            <a:avLst/>
            <a:gdLst/>
            <a:ahLst/>
            <a:cxnLst/>
            <a:rect l="0" t="0" r="r" b="b"/>
            <a:pathLst>
              <a:path w="1003300" h="558800">
                <a:moveTo>
                  <a:pt x="88900" y="0"/>
                </a:moveTo>
                <a:lnTo>
                  <a:pt x="914400" y="0"/>
                </a:lnTo>
                <a:cubicBezTo>
                  <a:pt x="963486" y="0"/>
                  <a:pt x="1003300" y="39814"/>
                  <a:pt x="1003300" y="88900"/>
                </a:cubicBezTo>
                <a:lnTo>
                  <a:pt x="1003300" y="469900"/>
                </a:lnTo>
                <a:cubicBezTo>
                  <a:pt x="1003300" y="518986"/>
                  <a:pt x="963486" y="558800"/>
                  <a:pt x="914400" y="558800"/>
                </a:cubicBezTo>
                <a:lnTo>
                  <a:pt x="88900" y="558800"/>
                </a:lnTo>
                <a:cubicBezTo>
                  <a:pt x="39814" y="558800"/>
                  <a:pt x="0" y="518986"/>
                  <a:pt x="0" y="469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315E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cv-1-2"/>
          <p:cNvSpPr txBox="1"/>
          <p:nvPr/>
        </p:nvSpPr>
        <p:spPr>
          <a:xfrm>
            <a:off x="4606417" y="21504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4.6</a:t>
            </a:r>
          </a:p>
        </p:txBody>
      </p:sp>
      <p:sp>
        <p:nvSpPr>
          <p:cNvPr id="40" name="cell-1-3"/>
          <p:cNvSpPr/>
          <p:nvPr/>
        </p:nvSpPr>
        <p:spPr>
          <a:xfrm>
            <a:off x="5410200" y="2006600"/>
            <a:ext cx="1003300" cy="558800"/>
          </a:xfrm>
          <a:custGeom>
            <a:avLst/>
            <a:gdLst/>
            <a:ahLst/>
            <a:cxnLst/>
            <a:rect l="0" t="0" r="r" b="b"/>
            <a:pathLst>
              <a:path w="1003300" h="558800">
                <a:moveTo>
                  <a:pt x="88900" y="0"/>
                </a:moveTo>
                <a:lnTo>
                  <a:pt x="914400" y="0"/>
                </a:lnTo>
                <a:cubicBezTo>
                  <a:pt x="963486" y="0"/>
                  <a:pt x="1003300" y="39814"/>
                  <a:pt x="1003300" y="88900"/>
                </a:cubicBezTo>
                <a:lnTo>
                  <a:pt x="1003300" y="469900"/>
                </a:lnTo>
                <a:cubicBezTo>
                  <a:pt x="1003300" y="518986"/>
                  <a:pt x="963486" y="558800"/>
                  <a:pt x="914400" y="558800"/>
                </a:cubicBezTo>
                <a:lnTo>
                  <a:pt x="88900" y="558800"/>
                </a:lnTo>
                <a:cubicBezTo>
                  <a:pt x="39814" y="558800"/>
                  <a:pt x="0" y="518986"/>
                  <a:pt x="0" y="469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91AD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cv-1-3"/>
          <p:cNvSpPr txBox="1"/>
          <p:nvPr/>
        </p:nvSpPr>
        <p:spPr>
          <a:xfrm>
            <a:off x="5685917" y="21504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3.6</a:t>
            </a:r>
          </a:p>
        </p:txBody>
      </p:sp>
      <p:sp>
        <p:nvSpPr>
          <p:cNvPr id="42" name="cell-1-4"/>
          <p:cNvSpPr/>
          <p:nvPr/>
        </p:nvSpPr>
        <p:spPr>
          <a:xfrm>
            <a:off x="6489700" y="2006600"/>
            <a:ext cx="1003300" cy="558800"/>
          </a:xfrm>
          <a:custGeom>
            <a:avLst/>
            <a:gdLst/>
            <a:ahLst/>
            <a:cxnLst/>
            <a:rect l="0" t="0" r="r" b="b"/>
            <a:pathLst>
              <a:path w="1003300" h="558800">
                <a:moveTo>
                  <a:pt x="88900" y="0"/>
                </a:moveTo>
                <a:lnTo>
                  <a:pt x="914400" y="0"/>
                </a:lnTo>
                <a:cubicBezTo>
                  <a:pt x="963486" y="0"/>
                  <a:pt x="1003300" y="39814"/>
                  <a:pt x="1003300" y="88900"/>
                </a:cubicBezTo>
                <a:lnTo>
                  <a:pt x="1003300" y="469900"/>
                </a:lnTo>
                <a:cubicBezTo>
                  <a:pt x="1003300" y="518986"/>
                  <a:pt x="963486" y="558800"/>
                  <a:pt x="914400" y="558800"/>
                </a:cubicBezTo>
                <a:lnTo>
                  <a:pt x="88900" y="558800"/>
                </a:lnTo>
                <a:cubicBezTo>
                  <a:pt x="39814" y="558800"/>
                  <a:pt x="0" y="518986"/>
                  <a:pt x="0" y="469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456EA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cv-1-4"/>
          <p:cNvSpPr txBox="1"/>
          <p:nvPr/>
        </p:nvSpPr>
        <p:spPr>
          <a:xfrm>
            <a:off x="6765417" y="21504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4.4</a:t>
            </a:r>
          </a:p>
        </p:txBody>
      </p:sp>
      <p:sp>
        <p:nvSpPr>
          <p:cNvPr id="44" name="cell-1-5"/>
          <p:cNvSpPr/>
          <p:nvPr/>
        </p:nvSpPr>
        <p:spPr>
          <a:xfrm>
            <a:off x="7569200" y="2006600"/>
            <a:ext cx="1003300" cy="558800"/>
          </a:xfrm>
          <a:custGeom>
            <a:avLst/>
            <a:gdLst/>
            <a:ahLst/>
            <a:cxnLst/>
            <a:rect l="0" t="0" r="r" b="b"/>
            <a:pathLst>
              <a:path w="1003300" h="558800">
                <a:moveTo>
                  <a:pt x="88900" y="0"/>
                </a:moveTo>
                <a:lnTo>
                  <a:pt x="914400" y="0"/>
                </a:lnTo>
                <a:cubicBezTo>
                  <a:pt x="963486" y="0"/>
                  <a:pt x="1003300" y="39814"/>
                  <a:pt x="1003300" y="88900"/>
                </a:cubicBezTo>
                <a:lnTo>
                  <a:pt x="1003300" y="469900"/>
                </a:lnTo>
                <a:cubicBezTo>
                  <a:pt x="1003300" y="518986"/>
                  <a:pt x="963486" y="558800"/>
                  <a:pt x="914400" y="558800"/>
                </a:cubicBezTo>
                <a:lnTo>
                  <a:pt x="88900" y="558800"/>
                </a:lnTo>
                <a:cubicBezTo>
                  <a:pt x="39814" y="558800"/>
                  <a:pt x="0" y="518986"/>
                  <a:pt x="0" y="469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28569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cv-1-5"/>
          <p:cNvSpPr txBox="1"/>
          <p:nvPr/>
        </p:nvSpPr>
        <p:spPr>
          <a:xfrm>
            <a:off x="7844917" y="21504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4.7</a:t>
            </a:r>
          </a:p>
        </p:txBody>
      </p:sp>
      <p:sp>
        <p:nvSpPr>
          <p:cNvPr id="46" name="cell-1-6"/>
          <p:cNvSpPr/>
          <p:nvPr/>
        </p:nvSpPr>
        <p:spPr>
          <a:xfrm>
            <a:off x="8648700" y="2006600"/>
            <a:ext cx="1003300" cy="558800"/>
          </a:xfrm>
          <a:custGeom>
            <a:avLst/>
            <a:gdLst/>
            <a:ahLst/>
            <a:cxnLst/>
            <a:rect l="0" t="0" r="r" b="b"/>
            <a:pathLst>
              <a:path w="1003300" h="558800">
                <a:moveTo>
                  <a:pt x="88900" y="0"/>
                </a:moveTo>
                <a:lnTo>
                  <a:pt x="914400" y="0"/>
                </a:lnTo>
                <a:cubicBezTo>
                  <a:pt x="963486" y="0"/>
                  <a:pt x="1003300" y="39814"/>
                  <a:pt x="1003300" y="88900"/>
                </a:cubicBezTo>
                <a:lnTo>
                  <a:pt x="1003300" y="469900"/>
                </a:lnTo>
                <a:cubicBezTo>
                  <a:pt x="1003300" y="518986"/>
                  <a:pt x="963486" y="558800"/>
                  <a:pt x="914400" y="558800"/>
                </a:cubicBezTo>
                <a:lnTo>
                  <a:pt x="88900" y="558800"/>
                </a:lnTo>
                <a:cubicBezTo>
                  <a:pt x="39814" y="558800"/>
                  <a:pt x="0" y="518986"/>
                  <a:pt x="0" y="469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15469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cv-1-6"/>
          <p:cNvSpPr txBox="1"/>
          <p:nvPr/>
        </p:nvSpPr>
        <p:spPr>
          <a:xfrm>
            <a:off x="8924417" y="21504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4.9</a:t>
            </a:r>
          </a:p>
        </p:txBody>
      </p:sp>
      <p:sp>
        <p:nvSpPr>
          <p:cNvPr id="48" name="tot-1"/>
          <p:cNvSpPr txBox="1"/>
          <p:nvPr/>
        </p:nvSpPr>
        <p:spPr>
          <a:xfrm>
            <a:off x="9624568" y="2016379"/>
            <a:ext cx="730504" cy="4000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8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4.52</a:t>
            </a:r>
          </a:p>
        </p:txBody>
      </p:sp>
      <p:sp>
        <p:nvSpPr>
          <p:cNvPr id="49" name="tl-1"/>
          <p:cNvSpPr txBox="1"/>
          <p:nvPr/>
        </p:nvSpPr>
        <p:spPr>
          <a:xfrm>
            <a:off x="10326370" y="2168366"/>
            <a:ext cx="4171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/ 5.00</a:t>
            </a:r>
          </a:p>
        </p:txBody>
      </p:sp>
      <p:sp>
        <p:nvSpPr>
          <p:cNvPr id="50" name="tb-1"/>
          <p:cNvSpPr/>
          <p:nvPr/>
        </p:nvSpPr>
        <p:spPr>
          <a:xfrm>
            <a:off x="9652000" y="2425700"/>
            <a:ext cx="13081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tbf-1"/>
          <p:cNvSpPr/>
          <p:nvPr/>
        </p:nvSpPr>
        <p:spPr>
          <a:xfrm>
            <a:off x="9652000" y="2425700"/>
            <a:ext cx="1182522" cy="635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rn-2"/>
          <p:cNvSpPr txBox="1"/>
          <p:nvPr/>
        </p:nvSpPr>
        <p:spPr>
          <a:xfrm>
            <a:off x="958850" y="2851944"/>
            <a:ext cx="82359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9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中远智造</a:t>
            </a:r>
          </a:p>
        </p:txBody>
      </p:sp>
      <p:sp>
        <p:nvSpPr>
          <p:cNvPr id="53" name="rp-2"/>
          <p:cNvSpPr txBox="1"/>
          <p:nvPr/>
        </p:nvSpPr>
        <p:spPr>
          <a:xfrm>
            <a:off x="966851" y="3124787"/>
            <a:ext cx="87357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华南 · 合作 4 年</a:t>
            </a:r>
          </a:p>
        </p:txBody>
      </p:sp>
      <p:sp>
        <p:nvSpPr>
          <p:cNvPr id="54" name="cell-2-1"/>
          <p:cNvSpPr/>
          <p:nvPr/>
        </p:nvSpPr>
        <p:spPr>
          <a:xfrm>
            <a:off x="3251200" y="2781300"/>
            <a:ext cx="1003300" cy="558800"/>
          </a:xfrm>
          <a:custGeom>
            <a:avLst/>
            <a:gdLst/>
            <a:ahLst/>
            <a:cxnLst/>
            <a:rect l="0" t="0" r="r" b="b"/>
            <a:pathLst>
              <a:path w="1003300" h="558800">
                <a:moveTo>
                  <a:pt x="88900" y="0"/>
                </a:moveTo>
                <a:lnTo>
                  <a:pt x="914400" y="0"/>
                </a:lnTo>
                <a:cubicBezTo>
                  <a:pt x="963486" y="0"/>
                  <a:pt x="1003300" y="39814"/>
                  <a:pt x="1003300" y="88900"/>
                </a:cubicBezTo>
                <a:lnTo>
                  <a:pt x="1003300" y="469900"/>
                </a:lnTo>
                <a:cubicBezTo>
                  <a:pt x="1003300" y="518986"/>
                  <a:pt x="963486" y="558800"/>
                  <a:pt x="914400" y="558800"/>
                </a:cubicBezTo>
                <a:lnTo>
                  <a:pt x="88900" y="558800"/>
                </a:lnTo>
                <a:cubicBezTo>
                  <a:pt x="39814" y="558800"/>
                  <a:pt x="0" y="518986"/>
                  <a:pt x="0" y="469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3B66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cv-2-1"/>
          <p:cNvSpPr txBox="1"/>
          <p:nvPr/>
        </p:nvSpPr>
        <p:spPr>
          <a:xfrm>
            <a:off x="3526917" y="29251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4.5</a:t>
            </a:r>
          </a:p>
        </p:txBody>
      </p:sp>
      <p:sp>
        <p:nvSpPr>
          <p:cNvPr id="56" name="cell-2-2"/>
          <p:cNvSpPr/>
          <p:nvPr/>
        </p:nvSpPr>
        <p:spPr>
          <a:xfrm>
            <a:off x="4330700" y="2781300"/>
            <a:ext cx="1003300" cy="558800"/>
          </a:xfrm>
          <a:custGeom>
            <a:avLst/>
            <a:gdLst/>
            <a:ahLst/>
            <a:cxnLst/>
            <a:rect l="0" t="0" r="r" b="b"/>
            <a:pathLst>
              <a:path w="1003300" h="558800">
                <a:moveTo>
                  <a:pt x="88900" y="0"/>
                </a:moveTo>
                <a:lnTo>
                  <a:pt x="914400" y="0"/>
                </a:lnTo>
                <a:cubicBezTo>
                  <a:pt x="963486" y="0"/>
                  <a:pt x="1003300" y="39814"/>
                  <a:pt x="1003300" y="88900"/>
                </a:cubicBezTo>
                <a:lnTo>
                  <a:pt x="1003300" y="469900"/>
                </a:lnTo>
                <a:cubicBezTo>
                  <a:pt x="1003300" y="518986"/>
                  <a:pt x="963486" y="558800"/>
                  <a:pt x="914400" y="558800"/>
                </a:cubicBezTo>
                <a:lnTo>
                  <a:pt x="88900" y="558800"/>
                </a:lnTo>
                <a:cubicBezTo>
                  <a:pt x="39814" y="558800"/>
                  <a:pt x="0" y="518986"/>
                  <a:pt x="0" y="469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1E4E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cv-2-2"/>
          <p:cNvSpPr txBox="1"/>
          <p:nvPr/>
        </p:nvSpPr>
        <p:spPr>
          <a:xfrm>
            <a:off x="4606417" y="29251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4.8</a:t>
            </a:r>
          </a:p>
        </p:txBody>
      </p:sp>
      <p:sp>
        <p:nvSpPr>
          <p:cNvPr id="58" name="cell-2-3"/>
          <p:cNvSpPr/>
          <p:nvPr/>
        </p:nvSpPr>
        <p:spPr>
          <a:xfrm>
            <a:off x="5410200" y="2781300"/>
            <a:ext cx="1003300" cy="558800"/>
          </a:xfrm>
          <a:custGeom>
            <a:avLst/>
            <a:gdLst/>
            <a:ahLst/>
            <a:cxnLst/>
            <a:rect l="0" t="0" r="r" b="b"/>
            <a:pathLst>
              <a:path w="1003300" h="558800">
                <a:moveTo>
                  <a:pt x="88900" y="0"/>
                </a:moveTo>
                <a:lnTo>
                  <a:pt x="914400" y="0"/>
                </a:lnTo>
                <a:cubicBezTo>
                  <a:pt x="963486" y="0"/>
                  <a:pt x="1003300" y="39814"/>
                  <a:pt x="1003300" y="88900"/>
                </a:cubicBezTo>
                <a:lnTo>
                  <a:pt x="1003300" y="469900"/>
                </a:lnTo>
                <a:cubicBezTo>
                  <a:pt x="1003300" y="518986"/>
                  <a:pt x="963486" y="558800"/>
                  <a:pt x="914400" y="558800"/>
                </a:cubicBezTo>
                <a:lnTo>
                  <a:pt x="88900" y="558800"/>
                </a:lnTo>
                <a:cubicBezTo>
                  <a:pt x="39814" y="558800"/>
                  <a:pt x="0" y="518986"/>
                  <a:pt x="0" y="469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6B8EC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cv-2-3"/>
          <p:cNvSpPr txBox="1"/>
          <p:nvPr/>
        </p:nvSpPr>
        <p:spPr>
          <a:xfrm>
            <a:off x="5685917" y="29251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4.0</a:t>
            </a:r>
          </a:p>
        </p:txBody>
      </p:sp>
      <p:sp>
        <p:nvSpPr>
          <p:cNvPr id="60" name="cell-2-4"/>
          <p:cNvSpPr/>
          <p:nvPr/>
        </p:nvSpPr>
        <p:spPr>
          <a:xfrm>
            <a:off x="6489700" y="2781300"/>
            <a:ext cx="1003300" cy="558800"/>
          </a:xfrm>
          <a:custGeom>
            <a:avLst/>
            <a:gdLst/>
            <a:ahLst/>
            <a:cxnLst/>
            <a:rect l="0" t="0" r="r" b="b"/>
            <a:pathLst>
              <a:path w="1003300" h="558800">
                <a:moveTo>
                  <a:pt x="88900" y="0"/>
                </a:moveTo>
                <a:lnTo>
                  <a:pt x="914400" y="0"/>
                </a:lnTo>
                <a:cubicBezTo>
                  <a:pt x="963486" y="0"/>
                  <a:pt x="1003300" y="39814"/>
                  <a:pt x="1003300" y="88900"/>
                </a:cubicBezTo>
                <a:lnTo>
                  <a:pt x="1003300" y="469900"/>
                </a:lnTo>
                <a:cubicBezTo>
                  <a:pt x="1003300" y="518986"/>
                  <a:pt x="963486" y="558800"/>
                  <a:pt x="914400" y="558800"/>
                </a:cubicBezTo>
                <a:lnTo>
                  <a:pt x="88900" y="558800"/>
                </a:lnTo>
                <a:cubicBezTo>
                  <a:pt x="39814" y="558800"/>
                  <a:pt x="0" y="518986"/>
                  <a:pt x="0" y="469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315E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cv-2-4"/>
          <p:cNvSpPr txBox="1"/>
          <p:nvPr/>
        </p:nvSpPr>
        <p:spPr>
          <a:xfrm>
            <a:off x="6765417" y="29251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4.6</a:t>
            </a:r>
          </a:p>
        </p:txBody>
      </p:sp>
      <p:sp>
        <p:nvSpPr>
          <p:cNvPr id="62" name="cell-2-5"/>
          <p:cNvSpPr/>
          <p:nvPr/>
        </p:nvSpPr>
        <p:spPr>
          <a:xfrm>
            <a:off x="7569200" y="2781300"/>
            <a:ext cx="1003300" cy="558800"/>
          </a:xfrm>
          <a:custGeom>
            <a:avLst/>
            <a:gdLst/>
            <a:ahLst/>
            <a:cxnLst/>
            <a:rect l="0" t="0" r="r" b="b"/>
            <a:pathLst>
              <a:path w="1003300" h="558800">
                <a:moveTo>
                  <a:pt x="88900" y="0"/>
                </a:moveTo>
                <a:lnTo>
                  <a:pt x="914400" y="0"/>
                </a:lnTo>
                <a:cubicBezTo>
                  <a:pt x="963486" y="0"/>
                  <a:pt x="1003300" y="39814"/>
                  <a:pt x="1003300" y="88900"/>
                </a:cubicBezTo>
                <a:lnTo>
                  <a:pt x="1003300" y="469900"/>
                </a:lnTo>
                <a:cubicBezTo>
                  <a:pt x="1003300" y="518986"/>
                  <a:pt x="963486" y="558800"/>
                  <a:pt x="914400" y="558800"/>
                </a:cubicBezTo>
                <a:lnTo>
                  <a:pt x="88900" y="558800"/>
                </a:lnTo>
                <a:cubicBezTo>
                  <a:pt x="39814" y="558800"/>
                  <a:pt x="0" y="518986"/>
                  <a:pt x="0" y="469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6B8EC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cv-2-5"/>
          <p:cNvSpPr txBox="1"/>
          <p:nvPr/>
        </p:nvSpPr>
        <p:spPr>
          <a:xfrm>
            <a:off x="7844917" y="29251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4.0</a:t>
            </a:r>
          </a:p>
        </p:txBody>
      </p:sp>
      <p:sp>
        <p:nvSpPr>
          <p:cNvPr id="64" name="cell-2-6"/>
          <p:cNvSpPr/>
          <p:nvPr/>
        </p:nvSpPr>
        <p:spPr>
          <a:xfrm>
            <a:off x="8648700" y="2781300"/>
            <a:ext cx="1003300" cy="558800"/>
          </a:xfrm>
          <a:custGeom>
            <a:avLst/>
            <a:gdLst/>
            <a:ahLst/>
            <a:cxnLst/>
            <a:rect l="0" t="0" r="r" b="b"/>
            <a:pathLst>
              <a:path w="1003300" h="558800">
                <a:moveTo>
                  <a:pt x="88900" y="0"/>
                </a:moveTo>
                <a:lnTo>
                  <a:pt x="914400" y="0"/>
                </a:lnTo>
                <a:cubicBezTo>
                  <a:pt x="963486" y="0"/>
                  <a:pt x="1003300" y="39814"/>
                  <a:pt x="1003300" y="88900"/>
                </a:cubicBezTo>
                <a:lnTo>
                  <a:pt x="1003300" y="469900"/>
                </a:lnTo>
                <a:cubicBezTo>
                  <a:pt x="1003300" y="518986"/>
                  <a:pt x="963486" y="558800"/>
                  <a:pt x="914400" y="558800"/>
                </a:cubicBezTo>
                <a:lnTo>
                  <a:pt x="88900" y="558800"/>
                </a:lnTo>
                <a:cubicBezTo>
                  <a:pt x="39814" y="558800"/>
                  <a:pt x="0" y="518986"/>
                  <a:pt x="0" y="469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587E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cv-2-6"/>
          <p:cNvSpPr txBox="1"/>
          <p:nvPr/>
        </p:nvSpPr>
        <p:spPr>
          <a:xfrm>
            <a:off x="8924417" y="29251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4.2</a:t>
            </a:r>
          </a:p>
        </p:txBody>
      </p:sp>
      <p:sp>
        <p:nvSpPr>
          <p:cNvPr id="66" name="tot-2"/>
          <p:cNvSpPr txBox="1"/>
          <p:nvPr/>
        </p:nvSpPr>
        <p:spPr>
          <a:xfrm>
            <a:off x="9624568" y="2791079"/>
            <a:ext cx="730504" cy="4000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8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4.38</a:t>
            </a:r>
          </a:p>
        </p:txBody>
      </p:sp>
      <p:sp>
        <p:nvSpPr>
          <p:cNvPr id="67" name="tl-2"/>
          <p:cNvSpPr txBox="1"/>
          <p:nvPr/>
        </p:nvSpPr>
        <p:spPr>
          <a:xfrm>
            <a:off x="10326370" y="2943066"/>
            <a:ext cx="4171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/ 5.00</a:t>
            </a:r>
          </a:p>
        </p:txBody>
      </p:sp>
      <p:sp>
        <p:nvSpPr>
          <p:cNvPr id="68" name="tb-2"/>
          <p:cNvSpPr/>
          <p:nvPr/>
        </p:nvSpPr>
        <p:spPr>
          <a:xfrm>
            <a:off x="9652000" y="3200400"/>
            <a:ext cx="13081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tbf-2"/>
          <p:cNvSpPr/>
          <p:nvPr/>
        </p:nvSpPr>
        <p:spPr>
          <a:xfrm>
            <a:off x="9652000" y="3200400"/>
            <a:ext cx="1145896" cy="63500"/>
          </a:xfrm>
          <a:prstGeom prst="roundRect">
            <a:avLst>
              <a:gd name="adj" fmla="val 50000"/>
            </a:avLst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70" name="rl-2"/>
          <p:cNvCxnSpPr/>
          <p:nvPr/>
        </p:nvCxnSpPr>
        <p:spPr>
          <a:xfrm>
            <a:off x="952500" y="34290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rn-3"/>
          <p:cNvSpPr txBox="1"/>
          <p:nvPr/>
        </p:nvSpPr>
        <p:spPr>
          <a:xfrm>
            <a:off x="958850" y="3626644"/>
            <a:ext cx="82359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9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联众科技</a:t>
            </a:r>
          </a:p>
        </p:txBody>
      </p:sp>
      <p:sp>
        <p:nvSpPr>
          <p:cNvPr id="72" name="rp-3"/>
          <p:cNvSpPr txBox="1"/>
          <p:nvPr/>
        </p:nvSpPr>
        <p:spPr>
          <a:xfrm>
            <a:off x="966851" y="3899487"/>
            <a:ext cx="87357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华北 · 合作 3 年</a:t>
            </a:r>
          </a:p>
        </p:txBody>
      </p:sp>
      <p:sp>
        <p:nvSpPr>
          <p:cNvPr id="73" name="cell-3-1"/>
          <p:cNvSpPr/>
          <p:nvPr/>
        </p:nvSpPr>
        <p:spPr>
          <a:xfrm>
            <a:off x="3251200" y="3556000"/>
            <a:ext cx="1003300" cy="558800"/>
          </a:xfrm>
          <a:custGeom>
            <a:avLst/>
            <a:gdLst/>
            <a:ahLst/>
            <a:cxnLst/>
            <a:rect l="0" t="0" r="r" b="b"/>
            <a:pathLst>
              <a:path w="1003300" h="558800">
                <a:moveTo>
                  <a:pt x="88900" y="0"/>
                </a:moveTo>
                <a:lnTo>
                  <a:pt x="914400" y="0"/>
                </a:lnTo>
                <a:cubicBezTo>
                  <a:pt x="963486" y="0"/>
                  <a:pt x="1003300" y="39814"/>
                  <a:pt x="1003300" y="88900"/>
                </a:cubicBezTo>
                <a:lnTo>
                  <a:pt x="1003300" y="469900"/>
                </a:lnTo>
                <a:cubicBezTo>
                  <a:pt x="1003300" y="518986"/>
                  <a:pt x="963486" y="558800"/>
                  <a:pt x="914400" y="558800"/>
                </a:cubicBezTo>
                <a:lnTo>
                  <a:pt x="88900" y="558800"/>
                </a:lnTo>
                <a:cubicBezTo>
                  <a:pt x="39814" y="558800"/>
                  <a:pt x="0" y="518986"/>
                  <a:pt x="0" y="469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587E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cv-3-1"/>
          <p:cNvSpPr txBox="1"/>
          <p:nvPr/>
        </p:nvSpPr>
        <p:spPr>
          <a:xfrm>
            <a:off x="3526917" y="36998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4.2</a:t>
            </a:r>
          </a:p>
        </p:txBody>
      </p:sp>
      <p:sp>
        <p:nvSpPr>
          <p:cNvPr id="75" name="cell-3-2"/>
          <p:cNvSpPr/>
          <p:nvPr/>
        </p:nvSpPr>
        <p:spPr>
          <a:xfrm>
            <a:off x="4330700" y="3556000"/>
            <a:ext cx="1003300" cy="558800"/>
          </a:xfrm>
          <a:custGeom>
            <a:avLst/>
            <a:gdLst/>
            <a:ahLst/>
            <a:cxnLst/>
            <a:rect l="0" t="0" r="r" b="b"/>
            <a:pathLst>
              <a:path w="1003300" h="558800">
                <a:moveTo>
                  <a:pt x="88900" y="0"/>
                </a:moveTo>
                <a:lnTo>
                  <a:pt x="914400" y="0"/>
                </a:lnTo>
                <a:cubicBezTo>
                  <a:pt x="963486" y="0"/>
                  <a:pt x="1003300" y="39814"/>
                  <a:pt x="1003300" y="88900"/>
                </a:cubicBezTo>
                <a:lnTo>
                  <a:pt x="1003300" y="469900"/>
                </a:lnTo>
                <a:cubicBezTo>
                  <a:pt x="1003300" y="518986"/>
                  <a:pt x="963486" y="558800"/>
                  <a:pt x="914400" y="558800"/>
                </a:cubicBezTo>
                <a:lnTo>
                  <a:pt x="88900" y="558800"/>
                </a:lnTo>
                <a:cubicBezTo>
                  <a:pt x="39814" y="558800"/>
                  <a:pt x="0" y="518986"/>
                  <a:pt x="0" y="469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7E9D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cv-3-2"/>
          <p:cNvSpPr txBox="1"/>
          <p:nvPr/>
        </p:nvSpPr>
        <p:spPr>
          <a:xfrm>
            <a:off x="4606417" y="36998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3.8</a:t>
            </a:r>
          </a:p>
        </p:txBody>
      </p:sp>
      <p:sp>
        <p:nvSpPr>
          <p:cNvPr id="77" name="cell-3-3"/>
          <p:cNvSpPr/>
          <p:nvPr/>
        </p:nvSpPr>
        <p:spPr>
          <a:xfrm>
            <a:off x="5410200" y="3556000"/>
            <a:ext cx="1003300" cy="558800"/>
          </a:xfrm>
          <a:custGeom>
            <a:avLst/>
            <a:gdLst/>
            <a:ahLst/>
            <a:cxnLst/>
            <a:rect l="0" t="0" r="r" b="b"/>
            <a:pathLst>
              <a:path w="1003300" h="558800">
                <a:moveTo>
                  <a:pt x="88900" y="0"/>
                </a:moveTo>
                <a:lnTo>
                  <a:pt x="914400" y="0"/>
                </a:lnTo>
                <a:cubicBezTo>
                  <a:pt x="963486" y="0"/>
                  <a:pt x="1003300" y="39814"/>
                  <a:pt x="1003300" y="88900"/>
                </a:cubicBezTo>
                <a:lnTo>
                  <a:pt x="1003300" y="469900"/>
                </a:lnTo>
                <a:cubicBezTo>
                  <a:pt x="1003300" y="518986"/>
                  <a:pt x="963486" y="558800"/>
                  <a:pt x="914400" y="558800"/>
                </a:cubicBezTo>
                <a:lnTo>
                  <a:pt x="88900" y="558800"/>
                </a:lnTo>
                <a:cubicBezTo>
                  <a:pt x="39814" y="558800"/>
                  <a:pt x="0" y="518986"/>
                  <a:pt x="0" y="469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315E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cv-3-3"/>
          <p:cNvSpPr txBox="1"/>
          <p:nvPr/>
        </p:nvSpPr>
        <p:spPr>
          <a:xfrm>
            <a:off x="5685917" y="36998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4.6</a:t>
            </a:r>
          </a:p>
        </p:txBody>
      </p:sp>
      <p:sp>
        <p:nvSpPr>
          <p:cNvPr id="79" name="cell-3-4"/>
          <p:cNvSpPr/>
          <p:nvPr/>
        </p:nvSpPr>
        <p:spPr>
          <a:xfrm>
            <a:off x="6489700" y="3556000"/>
            <a:ext cx="1003300" cy="558800"/>
          </a:xfrm>
          <a:custGeom>
            <a:avLst/>
            <a:gdLst/>
            <a:ahLst/>
            <a:cxnLst/>
            <a:rect l="0" t="0" r="r" b="b"/>
            <a:pathLst>
              <a:path w="1003300" h="558800">
                <a:moveTo>
                  <a:pt x="88900" y="0"/>
                </a:moveTo>
                <a:lnTo>
                  <a:pt x="914400" y="0"/>
                </a:lnTo>
                <a:cubicBezTo>
                  <a:pt x="963486" y="0"/>
                  <a:pt x="1003300" y="39814"/>
                  <a:pt x="1003300" y="88900"/>
                </a:cubicBezTo>
                <a:lnTo>
                  <a:pt x="1003300" y="469900"/>
                </a:lnTo>
                <a:cubicBezTo>
                  <a:pt x="1003300" y="518986"/>
                  <a:pt x="963486" y="558800"/>
                  <a:pt x="914400" y="558800"/>
                </a:cubicBezTo>
                <a:lnTo>
                  <a:pt x="88900" y="558800"/>
                </a:lnTo>
                <a:cubicBezTo>
                  <a:pt x="39814" y="558800"/>
                  <a:pt x="0" y="518986"/>
                  <a:pt x="0" y="469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7595C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cv-3-4"/>
          <p:cNvSpPr txBox="1"/>
          <p:nvPr/>
        </p:nvSpPr>
        <p:spPr>
          <a:xfrm>
            <a:off x="6765417" y="36998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3.9</a:t>
            </a:r>
          </a:p>
        </p:txBody>
      </p:sp>
      <p:sp>
        <p:nvSpPr>
          <p:cNvPr id="81" name="cell-3-5"/>
          <p:cNvSpPr/>
          <p:nvPr/>
        </p:nvSpPr>
        <p:spPr>
          <a:xfrm>
            <a:off x="7569200" y="3556000"/>
            <a:ext cx="1003300" cy="558800"/>
          </a:xfrm>
          <a:custGeom>
            <a:avLst/>
            <a:gdLst/>
            <a:ahLst/>
            <a:cxnLst/>
            <a:rect l="0" t="0" r="r" b="b"/>
            <a:pathLst>
              <a:path w="1003300" h="558800">
                <a:moveTo>
                  <a:pt x="88900" y="0"/>
                </a:moveTo>
                <a:lnTo>
                  <a:pt x="914400" y="0"/>
                </a:lnTo>
                <a:cubicBezTo>
                  <a:pt x="963486" y="0"/>
                  <a:pt x="1003300" y="39814"/>
                  <a:pt x="1003300" y="88900"/>
                </a:cubicBezTo>
                <a:lnTo>
                  <a:pt x="1003300" y="469900"/>
                </a:lnTo>
                <a:cubicBezTo>
                  <a:pt x="1003300" y="518986"/>
                  <a:pt x="963486" y="558800"/>
                  <a:pt x="914400" y="558800"/>
                </a:cubicBezTo>
                <a:lnTo>
                  <a:pt x="88900" y="558800"/>
                </a:lnTo>
                <a:cubicBezTo>
                  <a:pt x="39814" y="558800"/>
                  <a:pt x="0" y="518986"/>
                  <a:pt x="0" y="469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4E76B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cv-3-5"/>
          <p:cNvSpPr txBox="1"/>
          <p:nvPr/>
        </p:nvSpPr>
        <p:spPr>
          <a:xfrm>
            <a:off x="7844917" y="36998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4.3</a:t>
            </a:r>
          </a:p>
        </p:txBody>
      </p:sp>
      <p:sp>
        <p:nvSpPr>
          <p:cNvPr id="83" name="cell-3-6"/>
          <p:cNvSpPr/>
          <p:nvPr/>
        </p:nvSpPr>
        <p:spPr>
          <a:xfrm>
            <a:off x="8648700" y="3556000"/>
            <a:ext cx="1003300" cy="558800"/>
          </a:xfrm>
          <a:custGeom>
            <a:avLst/>
            <a:gdLst/>
            <a:ahLst/>
            <a:cxnLst/>
            <a:rect l="0" t="0" r="r" b="b"/>
            <a:pathLst>
              <a:path w="1003300" h="558800">
                <a:moveTo>
                  <a:pt x="88900" y="0"/>
                </a:moveTo>
                <a:lnTo>
                  <a:pt x="914400" y="0"/>
                </a:lnTo>
                <a:cubicBezTo>
                  <a:pt x="963486" y="0"/>
                  <a:pt x="1003300" y="39814"/>
                  <a:pt x="1003300" y="88900"/>
                </a:cubicBezTo>
                <a:lnTo>
                  <a:pt x="1003300" y="469900"/>
                </a:lnTo>
                <a:cubicBezTo>
                  <a:pt x="1003300" y="518986"/>
                  <a:pt x="963486" y="558800"/>
                  <a:pt x="914400" y="558800"/>
                </a:cubicBezTo>
                <a:lnTo>
                  <a:pt x="88900" y="558800"/>
                </a:lnTo>
                <a:cubicBezTo>
                  <a:pt x="39814" y="558800"/>
                  <a:pt x="0" y="518986"/>
                  <a:pt x="0" y="469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6B8EC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cv-3-6"/>
          <p:cNvSpPr txBox="1"/>
          <p:nvPr/>
        </p:nvSpPr>
        <p:spPr>
          <a:xfrm>
            <a:off x="8924417" y="36998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4.0</a:t>
            </a:r>
          </a:p>
        </p:txBody>
      </p:sp>
      <p:sp>
        <p:nvSpPr>
          <p:cNvPr id="85" name="tot-3"/>
          <p:cNvSpPr txBox="1"/>
          <p:nvPr/>
        </p:nvSpPr>
        <p:spPr>
          <a:xfrm>
            <a:off x="9624568" y="3565779"/>
            <a:ext cx="730504" cy="4000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8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4.14</a:t>
            </a:r>
          </a:p>
        </p:txBody>
      </p:sp>
      <p:sp>
        <p:nvSpPr>
          <p:cNvPr id="86" name="tl-3"/>
          <p:cNvSpPr txBox="1"/>
          <p:nvPr/>
        </p:nvSpPr>
        <p:spPr>
          <a:xfrm>
            <a:off x="10326370" y="3717766"/>
            <a:ext cx="4171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/ 5.00</a:t>
            </a:r>
          </a:p>
        </p:txBody>
      </p:sp>
      <p:sp>
        <p:nvSpPr>
          <p:cNvPr id="87" name="tb-3"/>
          <p:cNvSpPr/>
          <p:nvPr/>
        </p:nvSpPr>
        <p:spPr>
          <a:xfrm>
            <a:off x="9652000" y="3975100"/>
            <a:ext cx="13081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tbf-3"/>
          <p:cNvSpPr/>
          <p:nvPr/>
        </p:nvSpPr>
        <p:spPr>
          <a:xfrm>
            <a:off x="9652000" y="3975100"/>
            <a:ext cx="1083107" cy="63500"/>
          </a:xfrm>
          <a:prstGeom prst="roundRect">
            <a:avLst>
              <a:gd name="adj" fmla="val 50000"/>
            </a:avLst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89" name="rl-3"/>
          <p:cNvCxnSpPr/>
          <p:nvPr/>
        </p:nvCxnSpPr>
        <p:spPr>
          <a:xfrm>
            <a:off x="952500" y="42037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0" name="rn-4"/>
          <p:cNvSpPr txBox="1"/>
          <p:nvPr/>
        </p:nvSpPr>
        <p:spPr>
          <a:xfrm>
            <a:off x="958850" y="4401344"/>
            <a:ext cx="82359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9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新捷工业</a:t>
            </a:r>
          </a:p>
        </p:txBody>
      </p:sp>
      <p:sp>
        <p:nvSpPr>
          <p:cNvPr id="91" name="rp-4"/>
          <p:cNvSpPr txBox="1"/>
          <p:nvPr/>
        </p:nvSpPr>
        <p:spPr>
          <a:xfrm>
            <a:off x="966851" y="4674187"/>
            <a:ext cx="87357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华中 · 合作 2 年</a:t>
            </a:r>
          </a:p>
        </p:txBody>
      </p:sp>
      <p:sp>
        <p:nvSpPr>
          <p:cNvPr id="92" name="cell-4-1"/>
          <p:cNvSpPr/>
          <p:nvPr/>
        </p:nvSpPr>
        <p:spPr>
          <a:xfrm>
            <a:off x="3251200" y="4330700"/>
            <a:ext cx="1003300" cy="558800"/>
          </a:xfrm>
          <a:custGeom>
            <a:avLst/>
            <a:gdLst/>
            <a:ahLst/>
            <a:cxnLst/>
            <a:rect l="0" t="0" r="r" b="b"/>
            <a:pathLst>
              <a:path w="1003300" h="558800">
                <a:moveTo>
                  <a:pt x="88900" y="0"/>
                </a:moveTo>
                <a:lnTo>
                  <a:pt x="914400" y="0"/>
                </a:lnTo>
                <a:cubicBezTo>
                  <a:pt x="963486" y="0"/>
                  <a:pt x="1003300" y="39814"/>
                  <a:pt x="1003300" y="88900"/>
                </a:cubicBezTo>
                <a:lnTo>
                  <a:pt x="1003300" y="469900"/>
                </a:lnTo>
                <a:cubicBezTo>
                  <a:pt x="1003300" y="518986"/>
                  <a:pt x="963486" y="558800"/>
                  <a:pt x="914400" y="558800"/>
                </a:cubicBezTo>
                <a:lnTo>
                  <a:pt x="88900" y="558800"/>
                </a:lnTo>
                <a:cubicBezTo>
                  <a:pt x="39814" y="558800"/>
                  <a:pt x="0" y="518986"/>
                  <a:pt x="0" y="469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7595C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cv-4-1"/>
          <p:cNvSpPr txBox="1"/>
          <p:nvPr/>
        </p:nvSpPr>
        <p:spPr>
          <a:xfrm>
            <a:off x="3526917" y="44745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3.9</a:t>
            </a:r>
          </a:p>
        </p:txBody>
      </p:sp>
      <p:sp>
        <p:nvSpPr>
          <p:cNvPr id="94" name="cell-4-2"/>
          <p:cNvSpPr/>
          <p:nvPr/>
        </p:nvSpPr>
        <p:spPr>
          <a:xfrm>
            <a:off x="4330700" y="4330700"/>
            <a:ext cx="1003300" cy="558800"/>
          </a:xfrm>
          <a:custGeom>
            <a:avLst/>
            <a:gdLst/>
            <a:ahLst/>
            <a:cxnLst/>
            <a:rect l="0" t="0" r="r" b="b"/>
            <a:pathLst>
              <a:path w="1003300" h="558800">
                <a:moveTo>
                  <a:pt x="88900" y="0"/>
                </a:moveTo>
                <a:lnTo>
                  <a:pt x="914400" y="0"/>
                </a:lnTo>
                <a:cubicBezTo>
                  <a:pt x="963486" y="0"/>
                  <a:pt x="1003300" y="39814"/>
                  <a:pt x="1003300" y="88900"/>
                </a:cubicBezTo>
                <a:lnTo>
                  <a:pt x="1003300" y="469900"/>
                </a:lnTo>
                <a:cubicBezTo>
                  <a:pt x="1003300" y="518986"/>
                  <a:pt x="963486" y="558800"/>
                  <a:pt x="914400" y="558800"/>
                </a:cubicBezTo>
                <a:lnTo>
                  <a:pt x="88900" y="558800"/>
                </a:lnTo>
                <a:cubicBezTo>
                  <a:pt x="39814" y="558800"/>
                  <a:pt x="0" y="518986"/>
                  <a:pt x="0" y="469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6B8EC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cv-4-2"/>
          <p:cNvSpPr txBox="1"/>
          <p:nvPr/>
        </p:nvSpPr>
        <p:spPr>
          <a:xfrm>
            <a:off x="4606417" y="44745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4.0</a:t>
            </a:r>
          </a:p>
        </p:txBody>
      </p:sp>
      <p:sp>
        <p:nvSpPr>
          <p:cNvPr id="96" name="cell-4-3"/>
          <p:cNvSpPr/>
          <p:nvPr/>
        </p:nvSpPr>
        <p:spPr>
          <a:xfrm>
            <a:off x="5410200" y="4330700"/>
            <a:ext cx="1003300" cy="558800"/>
          </a:xfrm>
          <a:custGeom>
            <a:avLst/>
            <a:gdLst/>
            <a:ahLst/>
            <a:cxnLst/>
            <a:rect l="0" t="0" r="r" b="b"/>
            <a:pathLst>
              <a:path w="1003300" h="558800">
                <a:moveTo>
                  <a:pt x="88900" y="0"/>
                </a:moveTo>
                <a:lnTo>
                  <a:pt x="914400" y="0"/>
                </a:lnTo>
                <a:cubicBezTo>
                  <a:pt x="963486" y="0"/>
                  <a:pt x="1003300" y="39814"/>
                  <a:pt x="1003300" y="88900"/>
                </a:cubicBezTo>
                <a:lnTo>
                  <a:pt x="1003300" y="469900"/>
                </a:lnTo>
                <a:cubicBezTo>
                  <a:pt x="1003300" y="518986"/>
                  <a:pt x="963486" y="558800"/>
                  <a:pt x="914400" y="558800"/>
                </a:cubicBezTo>
                <a:lnTo>
                  <a:pt x="88900" y="558800"/>
                </a:lnTo>
                <a:cubicBezTo>
                  <a:pt x="39814" y="558800"/>
                  <a:pt x="0" y="518986"/>
                  <a:pt x="0" y="469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1E4E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cv-4-3"/>
          <p:cNvSpPr txBox="1"/>
          <p:nvPr/>
        </p:nvSpPr>
        <p:spPr>
          <a:xfrm>
            <a:off x="5685917" y="44745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4.8</a:t>
            </a:r>
          </a:p>
        </p:txBody>
      </p:sp>
      <p:sp>
        <p:nvSpPr>
          <p:cNvPr id="98" name="cell-4-4"/>
          <p:cNvSpPr/>
          <p:nvPr/>
        </p:nvSpPr>
        <p:spPr>
          <a:xfrm>
            <a:off x="6489700" y="4330700"/>
            <a:ext cx="1003300" cy="558800"/>
          </a:xfrm>
          <a:custGeom>
            <a:avLst/>
            <a:gdLst/>
            <a:ahLst/>
            <a:cxnLst/>
            <a:rect l="0" t="0" r="r" b="b"/>
            <a:pathLst>
              <a:path w="1003300" h="558800">
                <a:moveTo>
                  <a:pt x="88900" y="0"/>
                </a:moveTo>
                <a:lnTo>
                  <a:pt x="914400" y="0"/>
                </a:lnTo>
                <a:cubicBezTo>
                  <a:pt x="963486" y="0"/>
                  <a:pt x="1003300" y="39814"/>
                  <a:pt x="1003300" y="88900"/>
                </a:cubicBezTo>
                <a:lnTo>
                  <a:pt x="1003300" y="469900"/>
                </a:lnTo>
                <a:cubicBezTo>
                  <a:pt x="1003300" y="518986"/>
                  <a:pt x="963486" y="558800"/>
                  <a:pt x="914400" y="558800"/>
                </a:cubicBezTo>
                <a:lnTo>
                  <a:pt x="88900" y="558800"/>
                </a:lnTo>
                <a:cubicBezTo>
                  <a:pt x="39814" y="558800"/>
                  <a:pt x="0" y="518986"/>
                  <a:pt x="0" y="469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91AD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9" name="cv-4-4"/>
          <p:cNvSpPr txBox="1"/>
          <p:nvPr/>
        </p:nvSpPr>
        <p:spPr>
          <a:xfrm>
            <a:off x="6765417" y="44745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3.6</a:t>
            </a:r>
          </a:p>
        </p:txBody>
      </p:sp>
      <p:sp>
        <p:nvSpPr>
          <p:cNvPr id="100" name="cell-4-5"/>
          <p:cNvSpPr/>
          <p:nvPr/>
        </p:nvSpPr>
        <p:spPr>
          <a:xfrm>
            <a:off x="7569200" y="4330700"/>
            <a:ext cx="1003300" cy="558800"/>
          </a:xfrm>
          <a:custGeom>
            <a:avLst/>
            <a:gdLst/>
            <a:ahLst/>
            <a:cxnLst/>
            <a:rect l="0" t="0" r="r" b="b"/>
            <a:pathLst>
              <a:path w="1003300" h="558800">
                <a:moveTo>
                  <a:pt x="88900" y="0"/>
                </a:moveTo>
                <a:lnTo>
                  <a:pt x="914400" y="0"/>
                </a:lnTo>
                <a:cubicBezTo>
                  <a:pt x="963486" y="0"/>
                  <a:pt x="1003300" y="39814"/>
                  <a:pt x="1003300" y="88900"/>
                </a:cubicBezTo>
                <a:lnTo>
                  <a:pt x="1003300" y="469900"/>
                </a:lnTo>
                <a:cubicBezTo>
                  <a:pt x="1003300" y="518986"/>
                  <a:pt x="963486" y="558800"/>
                  <a:pt x="914400" y="558800"/>
                </a:cubicBezTo>
                <a:lnTo>
                  <a:pt x="88900" y="558800"/>
                </a:lnTo>
                <a:cubicBezTo>
                  <a:pt x="39814" y="558800"/>
                  <a:pt x="0" y="518986"/>
                  <a:pt x="0" y="469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7E9D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cv-4-5"/>
          <p:cNvSpPr txBox="1"/>
          <p:nvPr/>
        </p:nvSpPr>
        <p:spPr>
          <a:xfrm>
            <a:off x="7844917" y="44745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3.8</a:t>
            </a:r>
          </a:p>
        </p:txBody>
      </p:sp>
      <p:sp>
        <p:nvSpPr>
          <p:cNvPr id="102" name="cell-4-6"/>
          <p:cNvSpPr/>
          <p:nvPr/>
        </p:nvSpPr>
        <p:spPr>
          <a:xfrm>
            <a:off x="8648700" y="4330700"/>
            <a:ext cx="1003300" cy="558800"/>
          </a:xfrm>
          <a:custGeom>
            <a:avLst/>
            <a:gdLst/>
            <a:ahLst/>
            <a:cxnLst/>
            <a:rect l="0" t="0" r="r" b="b"/>
            <a:pathLst>
              <a:path w="1003300" h="558800">
                <a:moveTo>
                  <a:pt x="88900" y="0"/>
                </a:moveTo>
                <a:lnTo>
                  <a:pt x="914400" y="0"/>
                </a:lnTo>
                <a:cubicBezTo>
                  <a:pt x="963486" y="0"/>
                  <a:pt x="1003300" y="39814"/>
                  <a:pt x="1003300" y="88900"/>
                </a:cubicBezTo>
                <a:lnTo>
                  <a:pt x="1003300" y="469900"/>
                </a:lnTo>
                <a:cubicBezTo>
                  <a:pt x="1003300" y="518986"/>
                  <a:pt x="963486" y="558800"/>
                  <a:pt x="914400" y="558800"/>
                </a:cubicBezTo>
                <a:lnTo>
                  <a:pt x="88900" y="558800"/>
                </a:lnTo>
                <a:cubicBezTo>
                  <a:pt x="39814" y="558800"/>
                  <a:pt x="0" y="518986"/>
                  <a:pt x="0" y="469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7595C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cv-4-6"/>
          <p:cNvSpPr txBox="1"/>
          <p:nvPr/>
        </p:nvSpPr>
        <p:spPr>
          <a:xfrm>
            <a:off x="8924417" y="44745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3.9</a:t>
            </a:r>
          </a:p>
        </p:txBody>
      </p:sp>
      <p:sp>
        <p:nvSpPr>
          <p:cNvPr id="104" name="tot-4"/>
          <p:cNvSpPr txBox="1"/>
          <p:nvPr/>
        </p:nvSpPr>
        <p:spPr>
          <a:xfrm>
            <a:off x="9624568" y="4340479"/>
            <a:ext cx="730504" cy="4000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8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4.00</a:t>
            </a:r>
          </a:p>
        </p:txBody>
      </p:sp>
      <p:sp>
        <p:nvSpPr>
          <p:cNvPr id="105" name="tl-4"/>
          <p:cNvSpPr txBox="1"/>
          <p:nvPr/>
        </p:nvSpPr>
        <p:spPr>
          <a:xfrm>
            <a:off x="10326370" y="4492466"/>
            <a:ext cx="4171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/ 5.00</a:t>
            </a:r>
          </a:p>
        </p:txBody>
      </p:sp>
      <p:sp>
        <p:nvSpPr>
          <p:cNvPr id="106" name="tb-4"/>
          <p:cNvSpPr/>
          <p:nvPr/>
        </p:nvSpPr>
        <p:spPr>
          <a:xfrm>
            <a:off x="9652000" y="4749800"/>
            <a:ext cx="13081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7" name="tbf-4"/>
          <p:cNvSpPr/>
          <p:nvPr/>
        </p:nvSpPr>
        <p:spPr>
          <a:xfrm>
            <a:off x="9652000" y="4749800"/>
            <a:ext cx="1046480" cy="63500"/>
          </a:xfrm>
          <a:prstGeom prst="roundRect">
            <a:avLst>
              <a:gd name="adj" fmla="val 50000"/>
            </a:avLst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08" name="rl-4"/>
          <p:cNvCxnSpPr/>
          <p:nvPr/>
        </p:nvCxnSpPr>
        <p:spPr>
          <a:xfrm>
            <a:off x="952500" y="49784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9" name="rn-5"/>
          <p:cNvSpPr txBox="1"/>
          <p:nvPr/>
        </p:nvSpPr>
        <p:spPr>
          <a:xfrm>
            <a:off x="958850" y="5176044"/>
            <a:ext cx="82359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9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锦程制造</a:t>
            </a:r>
          </a:p>
        </p:txBody>
      </p:sp>
      <p:sp>
        <p:nvSpPr>
          <p:cNvPr id="110" name="rp-5"/>
          <p:cNvSpPr txBox="1"/>
          <p:nvPr/>
        </p:nvSpPr>
        <p:spPr>
          <a:xfrm>
            <a:off x="966851" y="5448887"/>
            <a:ext cx="71316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西南 · 新引入</a:t>
            </a:r>
          </a:p>
        </p:txBody>
      </p:sp>
      <p:sp>
        <p:nvSpPr>
          <p:cNvPr id="111" name="cell-5-1"/>
          <p:cNvSpPr/>
          <p:nvPr/>
        </p:nvSpPr>
        <p:spPr>
          <a:xfrm>
            <a:off x="3251200" y="5105400"/>
            <a:ext cx="1003300" cy="558800"/>
          </a:xfrm>
          <a:custGeom>
            <a:avLst/>
            <a:gdLst/>
            <a:ahLst/>
            <a:cxnLst/>
            <a:rect l="0" t="0" r="r" b="b"/>
            <a:pathLst>
              <a:path w="1003300" h="558800">
                <a:moveTo>
                  <a:pt x="88900" y="0"/>
                </a:moveTo>
                <a:lnTo>
                  <a:pt x="914400" y="0"/>
                </a:lnTo>
                <a:cubicBezTo>
                  <a:pt x="963486" y="0"/>
                  <a:pt x="1003300" y="39814"/>
                  <a:pt x="1003300" y="88900"/>
                </a:cubicBezTo>
                <a:lnTo>
                  <a:pt x="1003300" y="469900"/>
                </a:lnTo>
                <a:cubicBezTo>
                  <a:pt x="1003300" y="518986"/>
                  <a:pt x="963486" y="558800"/>
                  <a:pt x="914400" y="558800"/>
                </a:cubicBezTo>
                <a:lnTo>
                  <a:pt x="88900" y="558800"/>
                </a:lnTo>
                <a:cubicBezTo>
                  <a:pt x="39814" y="558800"/>
                  <a:pt x="0" y="518986"/>
                  <a:pt x="0" y="469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A5BDD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2" name="cv-5-1"/>
          <p:cNvSpPr txBox="1"/>
          <p:nvPr/>
        </p:nvSpPr>
        <p:spPr>
          <a:xfrm>
            <a:off x="3526917" y="52492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3.4</a:t>
            </a:r>
          </a:p>
        </p:txBody>
      </p:sp>
      <p:sp>
        <p:nvSpPr>
          <p:cNvPr id="113" name="cell-5-2"/>
          <p:cNvSpPr/>
          <p:nvPr/>
        </p:nvSpPr>
        <p:spPr>
          <a:xfrm>
            <a:off x="4330700" y="5105400"/>
            <a:ext cx="1003300" cy="558800"/>
          </a:xfrm>
          <a:custGeom>
            <a:avLst/>
            <a:gdLst/>
            <a:ahLst/>
            <a:cxnLst/>
            <a:rect l="0" t="0" r="r" b="b"/>
            <a:pathLst>
              <a:path w="1003300" h="558800">
                <a:moveTo>
                  <a:pt x="88900" y="0"/>
                </a:moveTo>
                <a:lnTo>
                  <a:pt x="914400" y="0"/>
                </a:lnTo>
                <a:cubicBezTo>
                  <a:pt x="963486" y="0"/>
                  <a:pt x="1003300" y="39814"/>
                  <a:pt x="1003300" y="88900"/>
                </a:cubicBezTo>
                <a:lnTo>
                  <a:pt x="1003300" y="469900"/>
                </a:lnTo>
                <a:cubicBezTo>
                  <a:pt x="1003300" y="518986"/>
                  <a:pt x="963486" y="558800"/>
                  <a:pt x="914400" y="558800"/>
                </a:cubicBezTo>
                <a:lnTo>
                  <a:pt x="88900" y="558800"/>
                </a:lnTo>
                <a:cubicBezTo>
                  <a:pt x="39814" y="558800"/>
                  <a:pt x="0" y="518986"/>
                  <a:pt x="0" y="469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91AD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4" name="cv-5-2"/>
          <p:cNvSpPr txBox="1"/>
          <p:nvPr/>
        </p:nvSpPr>
        <p:spPr>
          <a:xfrm>
            <a:off x="4606417" y="52492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3.6</a:t>
            </a:r>
          </a:p>
        </p:txBody>
      </p:sp>
      <p:sp>
        <p:nvSpPr>
          <p:cNvPr id="115" name="cell-5-3"/>
          <p:cNvSpPr/>
          <p:nvPr/>
        </p:nvSpPr>
        <p:spPr>
          <a:xfrm>
            <a:off x="5410200" y="5105400"/>
            <a:ext cx="1003300" cy="558800"/>
          </a:xfrm>
          <a:custGeom>
            <a:avLst/>
            <a:gdLst/>
            <a:ahLst/>
            <a:cxnLst/>
            <a:rect l="0" t="0" r="r" b="b"/>
            <a:pathLst>
              <a:path w="1003300" h="558800">
                <a:moveTo>
                  <a:pt x="88900" y="0"/>
                </a:moveTo>
                <a:lnTo>
                  <a:pt x="914400" y="0"/>
                </a:lnTo>
                <a:cubicBezTo>
                  <a:pt x="963486" y="0"/>
                  <a:pt x="1003300" y="39814"/>
                  <a:pt x="1003300" y="88900"/>
                </a:cubicBezTo>
                <a:lnTo>
                  <a:pt x="1003300" y="469900"/>
                </a:lnTo>
                <a:cubicBezTo>
                  <a:pt x="1003300" y="518986"/>
                  <a:pt x="963486" y="558800"/>
                  <a:pt x="914400" y="558800"/>
                </a:cubicBezTo>
                <a:lnTo>
                  <a:pt x="88900" y="558800"/>
                </a:lnTo>
                <a:cubicBezTo>
                  <a:pt x="39814" y="558800"/>
                  <a:pt x="0" y="518986"/>
                  <a:pt x="0" y="469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456EA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6" name="cv-5-3"/>
          <p:cNvSpPr txBox="1"/>
          <p:nvPr/>
        </p:nvSpPr>
        <p:spPr>
          <a:xfrm>
            <a:off x="5685917" y="52492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4.4</a:t>
            </a:r>
          </a:p>
        </p:txBody>
      </p:sp>
      <p:sp>
        <p:nvSpPr>
          <p:cNvPr id="117" name="cell-5-4"/>
          <p:cNvSpPr/>
          <p:nvPr/>
        </p:nvSpPr>
        <p:spPr>
          <a:xfrm>
            <a:off x="6489700" y="5105400"/>
            <a:ext cx="1003300" cy="558800"/>
          </a:xfrm>
          <a:custGeom>
            <a:avLst/>
            <a:gdLst/>
            <a:ahLst/>
            <a:cxnLst/>
            <a:rect l="0" t="0" r="r" b="b"/>
            <a:pathLst>
              <a:path w="1003300" h="558800">
                <a:moveTo>
                  <a:pt x="88900" y="0"/>
                </a:moveTo>
                <a:lnTo>
                  <a:pt x="914400" y="0"/>
                </a:lnTo>
                <a:cubicBezTo>
                  <a:pt x="963486" y="0"/>
                  <a:pt x="1003300" y="39814"/>
                  <a:pt x="1003300" y="88900"/>
                </a:cubicBezTo>
                <a:lnTo>
                  <a:pt x="1003300" y="469900"/>
                </a:lnTo>
                <a:cubicBezTo>
                  <a:pt x="1003300" y="518986"/>
                  <a:pt x="963486" y="558800"/>
                  <a:pt x="914400" y="558800"/>
                </a:cubicBezTo>
                <a:lnTo>
                  <a:pt x="88900" y="558800"/>
                </a:lnTo>
                <a:cubicBezTo>
                  <a:pt x="39814" y="558800"/>
                  <a:pt x="0" y="518986"/>
                  <a:pt x="0" y="469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B8CDE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8" name="cv-5-4"/>
          <p:cNvSpPr txBox="1"/>
          <p:nvPr/>
        </p:nvSpPr>
        <p:spPr>
          <a:xfrm>
            <a:off x="6765417" y="52492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3.2</a:t>
            </a:r>
          </a:p>
        </p:txBody>
      </p:sp>
      <p:sp>
        <p:nvSpPr>
          <p:cNvPr id="119" name="cell-5-5"/>
          <p:cNvSpPr/>
          <p:nvPr/>
        </p:nvSpPr>
        <p:spPr>
          <a:xfrm>
            <a:off x="7569200" y="5105400"/>
            <a:ext cx="1003300" cy="558800"/>
          </a:xfrm>
          <a:custGeom>
            <a:avLst/>
            <a:gdLst/>
            <a:ahLst/>
            <a:cxnLst/>
            <a:rect l="0" t="0" r="r" b="b"/>
            <a:pathLst>
              <a:path w="1003300" h="558800">
                <a:moveTo>
                  <a:pt x="88900" y="0"/>
                </a:moveTo>
                <a:lnTo>
                  <a:pt x="914400" y="0"/>
                </a:lnTo>
                <a:cubicBezTo>
                  <a:pt x="963486" y="0"/>
                  <a:pt x="1003300" y="39814"/>
                  <a:pt x="1003300" y="88900"/>
                </a:cubicBezTo>
                <a:lnTo>
                  <a:pt x="1003300" y="469900"/>
                </a:lnTo>
                <a:cubicBezTo>
                  <a:pt x="1003300" y="518986"/>
                  <a:pt x="963486" y="558800"/>
                  <a:pt x="914400" y="558800"/>
                </a:cubicBezTo>
                <a:lnTo>
                  <a:pt x="88900" y="558800"/>
                </a:lnTo>
                <a:cubicBezTo>
                  <a:pt x="39814" y="558800"/>
                  <a:pt x="0" y="518986"/>
                  <a:pt x="0" y="469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9BB5D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0" name="cv-5-5"/>
          <p:cNvSpPr txBox="1"/>
          <p:nvPr/>
        </p:nvSpPr>
        <p:spPr>
          <a:xfrm>
            <a:off x="7844917" y="52492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3.5</a:t>
            </a:r>
          </a:p>
        </p:txBody>
      </p:sp>
      <p:sp>
        <p:nvSpPr>
          <p:cNvPr id="121" name="cell-5-6"/>
          <p:cNvSpPr/>
          <p:nvPr/>
        </p:nvSpPr>
        <p:spPr>
          <a:xfrm>
            <a:off x="8648700" y="5105400"/>
            <a:ext cx="1003300" cy="558800"/>
          </a:xfrm>
          <a:custGeom>
            <a:avLst/>
            <a:gdLst/>
            <a:ahLst/>
            <a:cxnLst/>
            <a:rect l="0" t="0" r="r" b="b"/>
            <a:pathLst>
              <a:path w="1003300" h="558800">
                <a:moveTo>
                  <a:pt x="88900" y="0"/>
                </a:moveTo>
                <a:lnTo>
                  <a:pt x="914400" y="0"/>
                </a:lnTo>
                <a:cubicBezTo>
                  <a:pt x="963486" y="0"/>
                  <a:pt x="1003300" y="39814"/>
                  <a:pt x="1003300" y="88900"/>
                </a:cubicBezTo>
                <a:lnTo>
                  <a:pt x="1003300" y="469900"/>
                </a:lnTo>
                <a:cubicBezTo>
                  <a:pt x="1003300" y="518986"/>
                  <a:pt x="963486" y="558800"/>
                  <a:pt x="914400" y="558800"/>
                </a:cubicBezTo>
                <a:lnTo>
                  <a:pt x="88900" y="558800"/>
                </a:lnTo>
                <a:cubicBezTo>
                  <a:pt x="39814" y="558800"/>
                  <a:pt x="0" y="518986"/>
                  <a:pt x="0" y="469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88A5C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2" name="cv-5-6"/>
          <p:cNvSpPr txBox="1"/>
          <p:nvPr/>
        </p:nvSpPr>
        <p:spPr>
          <a:xfrm>
            <a:off x="8924417" y="5249259"/>
            <a:ext cx="451866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3.7</a:t>
            </a:r>
          </a:p>
        </p:txBody>
      </p:sp>
      <p:sp>
        <p:nvSpPr>
          <p:cNvPr id="123" name="tot-5"/>
          <p:cNvSpPr txBox="1"/>
          <p:nvPr/>
        </p:nvSpPr>
        <p:spPr>
          <a:xfrm>
            <a:off x="9624568" y="5115179"/>
            <a:ext cx="730504" cy="4000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8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3.63</a:t>
            </a:r>
          </a:p>
        </p:txBody>
      </p:sp>
      <p:sp>
        <p:nvSpPr>
          <p:cNvPr id="124" name="tl-5"/>
          <p:cNvSpPr txBox="1"/>
          <p:nvPr/>
        </p:nvSpPr>
        <p:spPr>
          <a:xfrm>
            <a:off x="10326370" y="5267166"/>
            <a:ext cx="4171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/ 5.00</a:t>
            </a:r>
          </a:p>
        </p:txBody>
      </p:sp>
      <p:sp>
        <p:nvSpPr>
          <p:cNvPr id="125" name="tb-5"/>
          <p:cNvSpPr/>
          <p:nvPr/>
        </p:nvSpPr>
        <p:spPr>
          <a:xfrm>
            <a:off x="9652000" y="5524500"/>
            <a:ext cx="13081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6" name="tbf-5"/>
          <p:cNvSpPr/>
          <p:nvPr/>
        </p:nvSpPr>
        <p:spPr>
          <a:xfrm>
            <a:off x="9652000" y="5524500"/>
            <a:ext cx="949681" cy="63500"/>
          </a:xfrm>
          <a:prstGeom prst="roundRect">
            <a:avLst>
              <a:gd name="adj" fmla="val 50000"/>
            </a:avLst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7" name="lg-h"/>
          <p:cNvSpPr txBox="1"/>
          <p:nvPr/>
        </p:nvSpPr>
        <p:spPr>
          <a:xfrm>
            <a:off x="941070" y="5876766"/>
            <a:ext cx="5048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评分色阶</a:t>
            </a:r>
          </a:p>
        </p:txBody>
      </p:sp>
      <p:sp>
        <p:nvSpPr>
          <p:cNvPr id="128" name="lg-1"/>
          <p:cNvSpPr/>
          <p:nvPr/>
        </p:nvSpPr>
        <p:spPr>
          <a:xfrm>
            <a:off x="1625600" y="5867400"/>
            <a:ext cx="292100" cy="152400"/>
          </a:xfrm>
          <a:custGeom>
            <a:avLst/>
            <a:gdLst/>
            <a:ahLst/>
            <a:cxnLst/>
            <a:rect l="0" t="0" r="r" b="b"/>
            <a:pathLst>
              <a:path w="292100" h="152400">
                <a:moveTo>
                  <a:pt x="50800" y="0"/>
                </a:moveTo>
                <a:lnTo>
                  <a:pt x="241300" y="0"/>
                </a:lnTo>
                <a:cubicBezTo>
                  <a:pt x="269367" y="0"/>
                  <a:pt x="292100" y="22733"/>
                  <a:pt x="292100" y="50800"/>
                </a:cubicBezTo>
                <a:lnTo>
                  <a:pt x="292100" y="101600"/>
                </a:lnTo>
                <a:cubicBezTo>
                  <a:pt x="292100" y="129667"/>
                  <a:pt x="269367" y="152400"/>
                  <a:pt x="241300" y="152400"/>
                </a:cubicBezTo>
                <a:lnTo>
                  <a:pt x="50800" y="152400"/>
                </a:lnTo>
                <a:cubicBezTo>
                  <a:pt x="22733" y="152400"/>
                  <a:pt x="0" y="129667"/>
                  <a:pt x="0" y="1016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CBDD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9" name="lg-2"/>
          <p:cNvSpPr/>
          <p:nvPr/>
        </p:nvSpPr>
        <p:spPr>
          <a:xfrm>
            <a:off x="1955800" y="5867400"/>
            <a:ext cx="292100" cy="152400"/>
          </a:xfrm>
          <a:custGeom>
            <a:avLst/>
            <a:gdLst/>
            <a:ahLst/>
            <a:cxnLst/>
            <a:rect l="0" t="0" r="r" b="b"/>
            <a:pathLst>
              <a:path w="292100" h="152400">
                <a:moveTo>
                  <a:pt x="50800" y="0"/>
                </a:moveTo>
                <a:lnTo>
                  <a:pt x="241300" y="0"/>
                </a:lnTo>
                <a:cubicBezTo>
                  <a:pt x="269367" y="0"/>
                  <a:pt x="292100" y="22733"/>
                  <a:pt x="292100" y="50800"/>
                </a:cubicBezTo>
                <a:lnTo>
                  <a:pt x="292100" y="101600"/>
                </a:lnTo>
                <a:cubicBezTo>
                  <a:pt x="292100" y="129667"/>
                  <a:pt x="269367" y="152400"/>
                  <a:pt x="241300" y="152400"/>
                </a:cubicBezTo>
                <a:lnTo>
                  <a:pt x="50800" y="152400"/>
                </a:lnTo>
                <a:cubicBezTo>
                  <a:pt x="22733" y="152400"/>
                  <a:pt x="0" y="129667"/>
                  <a:pt x="0" y="1016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A5BDD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0" name="lg-3"/>
          <p:cNvSpPr/>
          <p:nvPr/>
        </p:nvSpPr>
        <p:spPr>
          <a:xfrm>
            <a:off x="2286000" y="5867400"/>
            <a:ext cx="292100" cy="152400"/>
          </a:xfrm>
          <a:custGeom>
            <a:avLst/>
            <a:gdLst/>
            <a:ahLst/>
            <a:cxnLst/>
            <a:rect l="0" t="0" r="r" b="b"/>
            <a:pathLst>
              <a:path w="292100" h="152400">
                <a:moveTo>
                  <a:pt x="50800" y="0"/>
                </a:moveTo>
                <a:lnTo>
                  <a:pt x="241300" y="0"/>
                </a:lnTo>
                <a:cubicBezTo>
                  <a:pt x="269367" y="0"/>
                  <a:pt x="292100" y="22733"/>
                  <a:pt x="292100" y="50800"/>
                </a:cubicBezTo>
                <a:lnTo>
                  <a:pt x="292100" y="101600"/>
                </a:lnTo>
                <a:cubicBezTo>
                  <a:pt x="292100" y="129667"/>
                  <a:pt x="269367" y="152400"/>
                  <a:pt x="241300" y="152400"/>
                </a:cubicBezTo>
                <a:lnTo>
                  <a:pt x="50800" y="152400"/>
                </a:lnTo>
                <a:cubicBezTo>
                  <a:pt x="22733" y="152400"/>
                  <a:pt x="0" y="129667"/>
                  <a:pt x="0" y="1016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7E9D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1" name="lg-4"/>
          <p:cNvSpPr/>
          <p:nvPr/>
        </p:nvSpPr>
        <p:spPr>
          <a:xfrm>
            <a:off x="2616200" y="5867400"/>
            <a:ext cx="292100" cy="152400"/>
          </a:xfrm>
          <a:custGeom>
            <a:avLst/>
            <a:gdLst/>
            <a:ahLst/>
            <a:cxnLst/>
            <a:rect l="0" t="0" r="r" b="b"/>
            <a:pathLst>
              <a:path w="292100" h="152400">
                <a:moveTo>
                  <a:pt x="50800" y="0"/>
                </a:moveTo>
                <a:lnTo>
                  <a:pt x="241300" y="0"/>
                </a:lnTo>
                <a:cubicBezTo>
                  <a:pt x="269367" y="0"/>
                  <a:pt x="292100" y="22733"/>
                  <a:pt x="292100" y="50800"/>
                </a:cubicBezTo>
                <a:lnTo>
                  <a:pt x="292100" y="101600"/>
                </a:lnTo>
                <a:cubicBezTo>
                  <a:pt x="292100" y="129667"/>
                  <a:pt x="269367" y="152400"/>
                  <a:pt x="241300" y="152400"/>
                </a:cubicBezTo>
                <a:lnTo>
                  <a:pt x="50800" y="152400"/>
                </a:lnTo>
                <a:cubicBezTo>
                  <a:pt x="22733" y="152400"/>
                  <a:pt x="0" y="129667"/>
                  <a:pt x="0" y="1016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587E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2" name="lg-5"/>
          <p:cNvSpPr/>
          <p:nvPr/>
        </p:nvSpPr>
        <p:spPr>
          <a:xfrm>
            <a:off x="2946400" y="5867400"/>
            <a:ext cx="292100" cy="152400"/>
          </a:xfrm>
          <a:custGeom>
            <a:avLst/>
            <a:gdLst/>
            <a:ahLst/>
            <a:cxnLst/>
            <a:rect l="0" t="0" r="r" b="b"/>
            <a:pathLst>
              <a:path w="292100" h="152400">
                <a:moveTo>
                  <a:pt x="50800" y="0"/>
                </a:moveTo>
                <a:lnTo>
                  <a:pt x="241300" y="0"/>
                </a:lnTo>
                <a:cubicBezTo>
                  <a:pt x="269367" y="0"/>
                  <a:pt x="292100" y="22733"/>
                  <a:pt x="292100" y="50800"/>
                </a:cubicBezTo>
                <a:lnTo>
                  <a:pt x="292100" y="101600"/>
                </a:lnTo>
                <a:cubicBezTo>
                  <a:pt x="292100" y="129667"/>
                  <a:pt x="269367" y="152400"/>
                  <a:pt x="241300" y="152400"/>
                </a:cubicBezTo>
                <a:lnTo>
                  <a:pt x="50800" y="152400"/>
                </a:lnTo>
                <a:cubicBezTo>
                  <a:pt x="22733" y="152400"/>
                  <a:pt x="0" y="129667"/>
                  <a:pt x="0" y="1016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315E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3" name="lg-6"/>
          <p:cNvSpPr/>
          <p:nvPr/>
        </p:nvSpPr>
        <p:spPr>
          <a:xfrm>
            <a:off x="3276600" y="5867400"/>
            <a:ext cx="292100" cy="152400"/>
          </a:xfrm>
          <a:custGeom>
            <a:avLst/>
            <a:gdLst/>
            <a:ahLst/>
            <a:cxnLst/>
            <a:rect l="0" t="0" r="r" b="b"/>
            <a:pathLst>
              <a:path w="292100" h="152400">
                <a:moveTo>
                  <a:pt x="50800" y="0"/>
                </a:moveTo>
                <a:lnTo>
                  <a:pt x="241300" y="0"/>
                </a:lnTo>
                <a:cubicBezTo>
                  <a:pt x="269367" y="0"/>
                  <a:pt x="292100" y="22733"/>
                  <a:pt x="292100" y="50800"/>
                </a:cubicBezTo>
                <a:lnTo>
                  <a:pt x="292100" y="101600"/>
                </a:lnTo>
                <a:cubicBezTo>
                  <a:pt x="292100" y="129667"/>
                  <a:pt x="269367" y="152400"/>
                  <a:pt x="241300" y="152400"/>
                </a:cubicBezTo>
                <a:lnTo>
                  <a:pt x="50800" y="152400"/>
                </a:lnTo>
                <a:cubicBezTo>
                  <a:pt x="22733" y="152400"/>
                  <a:pt x="0" y="129667"/>
                  <a:pt x="0" y="1016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4" name="lg-min"/>
          <p:cNvSpPr txBox="1"/>
          <p:nvPr/>
        </p:nvSpPr>
        <p:spPr>
          <a:xfrm>
            <a:off x="1614932" y="60624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3.0</a:t>
            </a:r>
          </a:p>
        </p:txBody>
      </p:sp>
      <p:sp>
        <p:nvSpPr>
          <p:cNvPr id="135" name="lg-max"/>
          <p:cNvSpPr txBox="1"/>
          <p:nvPr/>
        </p:nvSpPr>
        <p:spPr>
          <a:xfrm>
            <a:off x="3350006" y="60624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5.0</a:t>
            </a:r>
          </a:p>
        </p:txBody>
      </p:sp>
      <p:sp>
        <p:nvSpPr>
          <p:cNvPr id="136" name="con-bar"/>
          <p:cNvSpPr/>
          <p:nvPr/>
        </p:nvSpPr>
        <p:spPr>
          <a:xfrm>
            <a:off x="3937000" y="5803900"/>
            <a:ext cx="25400" cy="3556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7" name="con-h"/>
          <p:cNvSpPr txBox="1"/>
          <p:nvPr/>
        </p:nvSpPr>
        <p:spPr>
          <a:xfrm>
            <a:off x="4088384" y="5802440"/>
            <a:ext cx="60579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9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评估结论</a:t>
            </a:r>
          </a:p>
        </p:txBody>
      </p:sp>
      <p:sp>
        <p:nvSpPr>
          <p:cNvPr id="138" name="con-p"/>
          <p:cNvSpPr txBox="1"/>
          <p:nvPr/>
        </p:nvSpPr>
        <p:spPr>
          <a:xfrm>
            <a:off x="4088765" y="5996861"/>
            <a:ext cx="53286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恒泰精密在质量与合规两项权重最高的维度领先，建议列为主供；中远智造交期最优，作为第二供应源。</a:t>
            </a:r>
          </a:p>
        </p:txBody>
      </p:sp>
      <p:cxnSp>
        <p:nvCxnSpPr>
          <p:cNvPr id="139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0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供应商评估 · 六维打分</a:t>
            </a:r>
          </a:p>
        </p:txBody>
      </p:sp>
      <p:sp>
        <p:nvSpPr>
          <p:cNvPr id="141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自建还是外采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08165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PROS &amp; CONS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894699" y="673132"/>
            <a:ext cx="27260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两条路径的收益与代价逐条对照，右侧给出加权结论</a:t>
            </a:r>
          </a:p>
        </p:txBody>
      </p:sp>
      <p:sp>
        <p:nvSpPr>
          <p:cNvPr id="10" name="opt-1"/>
          <p:cNvSpPr/>
          <p:nvPr/>
        </p:nvSpPr>
        <p:spPr>
          <a:xfrm>
            <a:off x="952500" y="1587500"/>
            <a:ext cx="3937000" cy="3937000"/>
          </a:xfrm>
          <a:custGeom>
            <a:avLst/>
            <a:gdLst/>
            <a:ahLst/>
            <a:cxnLst/>
            <a:rect l="0" t="0" r="r" b="b"/>
            <a:pathLst>
              <a:path w="3937000" h="3937000">
                <a:moveTo>
                  <a:pt x="139700" y="0"/>
                </a:moveTo>
                <a:lnTo>
                  <a:pt x="3797300" y="0"/>
                </a:lnTo>
                <a:cubicBezTo>
                  <a:pt x="3874452" y="0"/>
                  <a:pt x="3937000" y="62548"/>
                  <a:pt x="3937000" y="139700"/>
                </a:cubicBezTo>
                <a:lnTo>
                  <a:pt x="3937000" y="3797300"/>
                </a:lnTo>
                <a:cubicBezTo>
                  <a:pt x="3937000" y="3874452"/>
                  <a:pt x="3874452" y="3937000"/>
                  <a:pt x="3797300" y="3937000"/>
                </a:cubicBezTo>
                <a:lnTo>
                  <a:pt x="139700" y="3937000"/>
                </a:lnTo>
                <a:cubicBezTo>
                  <a:pt x="62547" y="3937000"/>
                  <a:pt x="0" y="3874452"/>
                  <a:pt x="0" y="37973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optcap-1"/>
          <p:cNvSpPr/>
          <p:nvPr/>
        </p:nvSpPr>
        <p:spPr>
          <a:xfrm>
            <a:off x="952500" y="1587500"/>
            <a:ext cx="3937000" cy="50800"/>
          </a:xfrm>
          <a:custGeom>
            <a:avLst/>
            <a:gdLst/>
            <a:ahLst/>
            <a:cxnLst/>
            <a:rect l="0" t="0" r="r" b="b"/>
            <a:pathLst>
              <a:path w="3937000" h="50800">
                <a:moveTo>
                  <a:pt x="25400" y="0"/>
                </a:moveTo>
                <a:lnTo>
                  <a:pt x="3911600" y="0"/>
                </a:lnTo>
                <a:cubicBezTo>
                  <a:pt x="3925634" y="0"/>
                  <a:pt x="3937000" y="11366"/>
                  <a:pt x="3937000" y="25400"/>
                </a:cubicBezTo>
                <a:lnTo>
                  <a:pt x="3937000" y="25400"/>
                </a:lnTo>
                <a:cubicBezTo>
                  <a:pt x="3937000" y="39433"/>
                  <a:pt x="3925634" y="50800"/>
                  <a:pt x="3911600" y="50800"/>
                </a:cubicBezTo>
                <a:lnTo>
                  <a:pt x="25400" y="50800"/>
                </a:lnTo>
                <a:cubicBezTo>
                  <a:pt x="11366" y="50800"/>
                  <a:pt x="0" y="39433"/>
                  <a:pt x="0" y="25400"/>
                </a:cubicBezTo>
                <a:lnTo>
                  <a:pt x="0" y="25400"/>
                </a:lnTo>
                <a:cubicBezTo>
                  <a:pt x="0" y="11366"/>
                  <a:pt x="11366" y="0"/>
                  <a:pt x="254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icon-tools"/>
          <p:cNvSpPr/>
          <p:nvPr/>
        </p:nvSpPr>
        <p:spPr>
          <a:xfrm>
            <a:off x="1277890" y="1959435"/>
            <a:ext cx="127682" cy="126540"/>
          </a:xfrm>
          <a:custGeom>
            <a:avLst/>
            <a:gdLst/>
            <a:ahLst/>
            <a:cxnLst/>
            <a:rect l="0" t="0" r="r" b="b"/>
            <a:pathLst>
              <a:path w="127682" h="126540">
                <a:moveTo>
                  <a:pt x="23352" y="4176"/>
                </a:moveTo>
                <a:lnTo>
                  <a:pt x="50339" y="31163"/>
                </a:lnTo>
                <a:lnTo>
                  <a:pt x="30527" y="50975"/>
                </a:lnTo>
                <a:lnTo>
                  <a:pt x="3540" y="23988"/>
                </a:lnTo>
                <a:cubicBezTo>
                  <a:pt x="-2937" y="37513"/>
                  <a:pt x="-397" y="53706"/>
                  <a:pt x="10080" y="64501"/>
                </a:cubicBezTo>
                <a:cubicBezTo>
                  <a:pt x="20494" y="75359"/>
                  <a:pt x="36560" y="78534"/>
                  <a:pt x="50339" y="72565"/>
                </a:cubicBezTo>
                <a:lnTo>
                  <a:pt x="104314" y="126540"/>
                </a:lnTo>
                <a:lnTo>
                  <a:pt x="127682" y="103172"/>
                </a:lnTo>
                <a:lnTo>
                  <a:pt x="73707" y="49197"/>
                </a:lnTo>
                <a:cubicBezTo>
                  <a:pt x="79232" y="35164"/>
                  <a:pt x="75422" y="19162"/>
                  <a:pt x="64182" y="9129"/>
                </a:cubicBezTo>
                <a:cubicBezTo>
                  <a:pt x="52943" y="-904"/>
                  <a:pt x="36623" y="-2873"/>
                  <a:pt x="23352" y="4176"/>
                </a:cubicBezTo>
                <a:close/>
              </a:path>
            </a:pathLst>
          </a:custGeom>
          <a:noFill/>
          <a:ln w="1333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optn-1"/>
          <p:cNvSpPr txBox="1"/>
          <p:nvPr/>
        </p:nvSpPr>
        <p:spPr>
          <a:xfrm>
            <a:off x="1590802" y="1791875"/>
            <a:ext cx="978535" cy="3222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自主建设</a:t>
            </a:r>
          </a:p>
        </p:txBody>
      </p:sp>
      <p:sp>
        <p:nvSpPr>
          <p:cNvPr id="14" name="opten-1"/>
          <p:cNvSpPr txBox="1"/>
          <p:nvPr/>
        </p:nvSpPr>
        <p:spPr>
          <a:xfrm>
            <a:off x="1614932" y="2100008"/>
            <a:ext cx="104368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7E93AE"/>
                </a:solidFill>
                <a:latin typeface="Arial"/>
                <a:ea typeface="Arial"/>
                <a:cs typeface="Arial"/>
              </a:rPr>
              <a:t>BUILD IN-HOUSE</a:t>
            </a:r>
          </a:p>
        </p:txBody>
      </p:sp>
      <p:sp>
        <p:nvSpPr>
          <p:cNvPr id="15" name="optno-1"/>
          <p:cNvSpPr txBox="1"/>
          <p:nvPr/>
        </p:nvSpPr>
        <p:spPr>
          <a:xfrm>
            <a:off x="4046220" y="1687703"/>
            <a:ext cx="667004" cy="5778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600" b="1">
                <a:solidFill>
                  <a:srgbClr val="0B3E8F">
                    <a:alpha val="12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cxnSp>
        <p:nvCxnSpPr>
          <p:cNvPr id="16" name="optline-1"/>
          <p:cNvCxnSpPr/>
          <p:nvPr/>
        </p:nvCxnSpPr>
        <p:spPr>
          <a:xfrm>
            <a:off x="1168400" y="2400300"/>
            <a:ext cx="3505200" cy="0"/>
          </a:xfrm>
          <a:prstGeom prst="line">
            <a:avLst/>
          </a:prstGeom>
          <a:ln w="6350" cap="rnd">
            <a:solidFill>
              <a:srgbClr val="0B2545">
                <a:alpha val="9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blk-1-1"/>
          <p:cNvSpPr/>
          <p:nvPr/>
        </p:nvSpPr>
        <p:spPr>
          <a:xfrm>
            <a:off x="1130300" y="2578100"/>
            <a:ext cx="3581400" cy="1422400"/>
          </a:xfrm>
          <a:custGeom>
            <a:avLst/>
            <a:gdLst/>
            <a:ahLst/>
            <a:cxnLst/>
            <a:rect l="0" t="0" r="r" b="b"/>
            <a:pathLst>
              <a:path w="3581400" h="1422400">
                <a:moveTo>
                  <a:pt x="101600" y="0"/>
                </a:moveTo>
                <a:lnTo>
                  <a:pt x="3479800" y="0"/>
                </a:lnTo>
                <a:cubicBezTo>
                  <a:pt x="3535934" y="0"/>
                  <a:pt x="3581400" y="45466"/>
                  <a:pt x="3581400" y="101600"/>
                </a:cubicBezTo>
                <a:lnTo>
                  <a:pt x="3581400" y="1320800"/>
                </a:lnTo>
                <a:cubicBezTo>
                  <a:pt x="3581400" y="1376934"/>
                  <a:pt x="3535934" y="1422400"/>
                  <a:pt x="3479800" y="1422400"/>
                </a:cubicBezTo>
                <a:lnTo>
                  <a:pt x="101600" y="1422400"/>
                </a:lnTo>
                <a:cubicBezTo>
                  <a:pt x="45466" y="1422400"/>
                  <a:pt x="0" y="1376934"/>
                  <a:pt x="0" y="1320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blkb-1-1"/>
          <p:cNvSpPr/>
          <p:nvPr/>
        </p:nvSpPr>
        <p:spPr>
          <a:xfrm>
            <a:off x="1130300" y="2578100"/>
            <a:ext cx="31750" cy="1422400"/>
          </a:xfrm>
          <a:custGeom>
            <a:avLst/>
            <a:gdLst/>
            <a:ahLst/>
            <a:cxnLst/>
            <a:rect l="0" t="0" r="r" b="b"/>
            <a:pathLst>
              <a:path w="31750" h="14224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1406525"/>
                </a:lnTo>
                <a:cubicBezTo>
                  <a:pt x="31750" y="1415288"/>
                  <a:pt x="24638" y="1422400"/>
                  <a:pt x="15875" y="1422400"/>
                </a:cubicBezTo>
                <a:lnTo>
                  <a:pt x="15875" y="1422400"/>
                </a:lnTo>
                <a:cubicBezTo>
                  <a:pt x="7112" y="1422400"/>
                  <a:pt x="0" y="1415288"/>
                  <a:pt x="0" y="14065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blkc-1-1"/>
          <p:cNvSpPr/>
          <p:nvPr/>
        </p:nvSpPr>
        <p:spPr>
          <a:xfrm>
            <a:off x="1276350" y="2711450"/>
            <a:ext cx="190500" cy="190500"/>
          </a:xfrm>
          <a:prstGeom prst="ellipse">
            <a:avLst/>
          </a:prstGeom>
          <a:solidFill>
            <a:srgbClr val="0B3E8F">
              <a:alpha val="1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blks-1-1"/>
          <p:cNvSpPr txBox="1"/>
          <p:nvPr/>
        </p:nvSpPr>
        <p:spPr>
          <a:xfrm>
            <a:off x="1269048" y="2717832"/>
            <a:ext cx="205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＋</a:t>
            </a:r>
          </a:p>
        </p:txBody>
      </p:sp>
      <p:sp>
        <p:nvSpPr>
          <p:cNvPr id="21" name="blkt-1-1"/>
          <p:cNvSpPr txBox="1"/>
          <p:nvPr/>
        </p:nvSpPr>
        <p:spPr>
          <a:xfrm>
            <a:off x="1521460" y="2700655"/>
            <a:ext cx="3937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优势</a:t>
            </a:r>
          </a:p>
        </p:txBody>
      </p:sp>
      <p:sp>
        <p:nvSpPr>
          <p:cNvPr id="22" name="blkn-1-1"/>
          <p:cNvSpPr txBox="1"/>
          <p:nvPr/>
        </p:nvSpPr>
        <p:spPr>
          <a:xfrm>
            <a:off x="4266565" y="2735008"/>
            <a:ext cx="27800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3 条</a:t>
            </a:r>
          </a:p>
        </p:txBody>
      </p:sp>
      <p:sp>
        <p:nvSpPr>
          <p:cNvPr id="23" name="d-1-1-1"/>
          <p:cNvSpPr/>
          <p:nvPr/>
        </p:nvSpPr>
        <p:spPr>
          <a:xfrm>
            <a:off x="1348740" y="3101340"/>
            <a:ext cx="45720" cy="4572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it-1-1-1"/>
          <p:cNvSpPr txBox="1"/>
          <p:nvPr/>
        </p:nvSpPr>
        <p:spPr>
          <a:xfrm>
            <a:off x="1472565" y="30250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能力沉淀在自己团队</a:t>
            </a:r>
          </a:p>
        </p:txBody>
      </p:sp>
      <p:sp>
        <p:nvSpPr>
          <p:cNvPr id="25" name="d-1-1-2"/>
          <p:cNvSpPr/>
          <p:nvPr/>
        </p:nvSpPr>
        <p:spPr>
          <a:xfrm>
            <a:off x="1348740" y="3393440"/>
            <a:ext cx="45720" cy="4572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it-1-1-2"/>
          <p:cNvSpPr txBox="1"/>
          <p:nvPr/>
        </p:nvSpPr>
        <p:spPr>
          <a:xfrm>
            <a:off x="1472565" y="33171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需求响应不依赖外部</a:t>
            </a:r>
          </a:p>
        </p:txBody>
      </p:sp>
      <p:sp>
        <p:nvSpPr>
          <p:cNvPr id="27" name="d-1-1-3"/>
          <p:cNvSpPr/>
          <p:nvPr/>
        </p:nvSpPr>
        <p:spPr>
          <a:xfrm>
            <a:off x="1348740" y="3685540"/>
            <a:ext cx="45720" cy="4572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it-1-1-3"/>
          <p:cNvSpPr txBox="1"/>
          <p:nvPr/>
        </p:nvSpPr>
        <p:spPr>
          <a:xfrm>
            <a:off x="1472565" y="36092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长期边际成本更低</a:t>
            </a:r>
          </a:p>
        </p:txBody>
      </p:sp>
      <p:sp>
        <p:nvSpPr>
          <p:cNvPr id="29" name="blk-1-2"/>
          <p:cNvSpPr/>
          <p:nvPr/>
        </p:nvSpPr>
        <p:spPr>
          <a:xfrm>
            <a:off x="1130300" y="4152900"/>
            <a:ext cx="3581400" cy="1422400"/>
          </a:xfrm>
          <a:custGeom>
            <a:avLst/>
            <a:gdLst/>
            <a:ahLst/>
            <a:cxnLst/>
            <a:rect l="0" t="0" r="r" b="b"/>
            <a:pathLst>
              <a:path w="3581400" h="1422400">
                <a:moveTo>
                  <a:pt x="101600" y="0"/>
                </a:moveTo>
                <a:lnTo>
                  <a:pt x="3479800" y="0"/>
                </a:lnTo>
                <a:cubicBezTo>
                  <a:pt x="3535934" y="0"/>
                  <a:pt x="3581400" y="45466"/>
                  <a:pt x="3581400" y="101600"/>
                </a:cubicBezTo>
                <a:lnTo>
                  <a:pt x="3581400" y="1320800"/>
                </a:lnTo>
                <a:cubicBezTo>
                  <a:pt x="3581400" y="1376934"/>
                  <a:pt x="3535934" y="1422400"/>
                  <a:pt x="3479800" y="1422400"/>
                </a:cubicBezTo>
                <a:lnTo>
                  <a:pt x="101600" y="1422400"/>
                </a:lnTo>
                <a:cubicBezTo>
                  <a:pt x="45466" y="1422400"/>
                  <a:pt x="0" y="1376934"/>
                  <a:pt x="0" y="1320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6EFE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blkb-1-2"/>
          <p:cNvSpPr/>
          <p:nvPr/>
        </p:nvSpPr>
        <p:spPr>
          <a:xfrm>
            <a:off x="1130300" y="4152900"/>
            <a:ext cx="31750" cy="1422400"/>
          </a:xfrm>
          <a:custGeom>
            <a:avLst/>
            <a:gdLst/>
            <a:ahLst/>
            <a:cxnLst/>
            <a:rect l="0" t="0" r="r" b="b"/>
            <a:pathLst>
              <a:path w="31750" h="14224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1406525"/>
                </a:lnTo>
                <a:cubicBezTo>
                  <a:pt x="31750" y="1415288"/>
                  <a:pt x="24638" y="1422400"/>
                  <a:pt x="15875" y="1422400"/>
                </a:cubicBezTo>
                <a:lnTo>
                  <a:pt x="15875" y="1422400"/>
                </a:lnTo>
                <a:cubicBezTo>
                  <a:pt x="7112" y="1422400"/>
                  <a:pt x="0" y="1415288"/>
                  <a:pt x="0" y="14065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blkc-1-2"/>
          <p:cNvSpPr/>
          <p:nvPr/>
        </p:nvSpPr>
        <p:spPr>
          <a:xfrm>
            <a:off x="1276350" y="4286250"/>
            <a:ext cx="190500" cy="190500"/>
          </a:xfrm>
          <a:prstGeom prst="ellipse">
            <a:avLst/>
          </a:prstGeom>
          <a:solidFill>
            <a:srgbClr val="E0703A">
              <a:alpha val="1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blks-1-2"/>
          <p:cNvSpPr txBox="1"/>
          <p:nvPr/>
        </p:nvSpPr>
        <p:spPr>
          <a:xfrm>
            <a:off x="1269048" y="4292632"/>
            <a:ext cx="205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－</a:t>
            </a:r>
          </a:p>
        </p:txBody>
      </p:sp>
      <p:sp>
        <p:nvSpPr>
          <p:cNvPr id="33" name="blkt-1-2"/>
          <p:cNvSpPr txBox="1"/>
          <p:nvPr/>
        </p:nvSpPr>
        <p:spPr>
          <a:xfrm>
            <a:off x="1521460" y="4275455"/>
            <a:ext cx="3937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代价</a:t>
            </a:r>
          </a:p>
        </p:txBody>
      </p:sp>
      <p:sp>
        <p:nvSpPr>
          <p:cNvPr id="34" name="blkn-1-2"/>
          <p:cNvSpPr txBox="1"/>
          <p:nvPr/>
        </p:nvSpPr>
        <p:spPr>
          <a:xfrm>
            <a:off x="4266565" y="4309808"/>
            <a:ext cx="27800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3 条</a:t>
            </a:r>
          </a:p>
        </p:txBody>
      </p:sp>
      <p:sp>
        <p:nvSpPr>
          <p:cNvPr id="35" name="d-1-2-1"/>
          <p:cNvSpPr/>
          <p:nvPr/>
        </p:nvSpPr>
        <p:spPr>
          <a:xfrm>
            <a:off x="1348740" y="4676140"/>
            <a:ext cx="45720" cy="4572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it-1-2-1"/>
          <p:cNvSpPr txBox="1"/>
          <p:nvPr/>
        </p:nvSpPr>
        <p:spPr>
          <a:xfrm>
            <a:off x="1472565" y="4599861"/>
            <a:ext cx="121951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首年投入高出 2.4 倍</a:t>
            </a:r>
          </a:p>
        </p:txBody>
      </p:sp>
      <p:sp>
        <p:nvSpPr>
          <p:cNvPr id="37" name="d-1-2-2"/>
          <p:cNvSpPr/>
          <p:nvPr/>
        </p:nvSpPr>
        <p:spPr>
          <a:xfrm>
            <a:off x="1348740" y="4968240"/>
            <a:ext cx="45720" cy="4572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it-1-2-2"/>
          <p:cNvSpPr txBox="1"/>
          <p:nvPr/>
        </p:nvSpPr>
        <p:spPr>
          <a:xfrm>
            <a:off x="1472565" y="4891961"/>
            <a:ext cx="120364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上线周期延长 5 个月</a:t>
            </a:r>
          </a:p>
        </p:txBody>
      </p:sp>
      <p:sp>
        <p:nvSpPr>
          <p:cNvPr id="39" name="d-1-2-3"/>
          <p:cNvSpPr/>
          <p:nvPr/>
        </p:nvSpPr>
        <p:spPr>
          <a:xfrm>
            <a:off x="1348740" y="5260340"/>
            <a:ext cx="45720" cy="4572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it-1-2-3"/>
          <p:cNvSpPr txBox="1"/>
          <p:nvPr/>
        </p:nvSpPr>
        <p:spPr>
          <a:xfrm>
            <a:off x="1472565" y="51840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关键人员流失风险</a:t>
            </a:r>
          </a:p>
        </p:txBody>
      </p:sp>
      <p:sp>
        <p:nvSpPr>
          <p:cNvPr id="41" name="opt-2"/>
          <p:cNvSpPr/>
          <p:nvPr/>
        </p:nvSpPr>
        <p:spPr>
          <a:xfrm>
            <a:off x="5105400" y="1587500"/>
            <a:ext cx="3937000" cy="3937000"/>
          </a:xfrm>
          <a:custGeom>
            <a:avLst/>
            <a:gdLst/>
            <a:ahLst/>
            <a:cxnLst/>
            <a:rect l="0" t="0" r="r" b="b"/>
            <a:pathLst>
              <a:path w="3937000" h="3937000">
                <a:moveTo>
                  <a:pt x="139700" y="0"/>
                </a:moveTo>
                <a:lnTo>
                  <a:pt x="3797300" y="0"/>
                </a:lnTo>
                <a:cubicBezTo>
                  <a:pt x="3874453" y="0"/>
                  <a:pt x="3937000" y="62548"/>
                  <a:pt x="3937000" y="139700"/>
                </a:cubicBezTo>
                <a:lnTo>
                  <a:pt x="3937000" y="3797300"/>
                </a:lnTo>
                <a:cubicBezTo>
                  <a:pt x="3937000" y="3874452"/>
                  <a:pt x="3874453" y="3937000"/>
                  <a:pt x="3797300" y="3937000"/>
                </a:cubicBezTo>
                <a:lnTo>
                  <a:pt x="139700" y="3937000"/>
                </a:lnTo>
                <a:cubicBezTo>
                  <a:pt x="62548" y="3937000"/>
                  <a:pt x="0" y="3874452"/>
                  <a:pt x="0" y="37973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optcap-2"/>
          <p:cNvSpPr/>
          <p:nvPr/>
        </p:nvSpPr>
        <p:spPr>
          <a:xfrm>
            <a:off x="5105400" y="1587500"/>
            <a:ext cx="3937000" cy="50800"/>
          </a:xfrm>
          <a:custGeom>
            <a:avLst/>
            <a:gdLst/>
            <a:ahLst/>
            <a:cxnLst/>
            <a:rect l="0" t="0" r="r" b="b"/>
            <a:pathLst>
              <a:path w="3937000" h="50800">
                <a:moveTo>
                  <a:pt x="25400" y="0"/>
                </a:moveTo>
                <a:lnTo>
                  <a:pt x="3911600" y="0"/>
                </a:lnTo>
                <a:cubicBezTo>
                  <a:pt x="3925634" y="0"/>
                  <a:pt x="3937000" y="11366"/>
                  <a:pt x="3937000" y="25400"/>
                </a:cubicBezTo>
                <a:lnTo>
                  <a:pt x="3937000" y="25400"/>
                </a:lnTo>
                <a:cubicBezTo>
                  <a:pt x="3937000" y="39433"/>
                  <a:pt x="3925634" y="50800"/>
                  <a:pt x="3911600" y="50800"/>
                </a:cubicBezTo>
                <a:lnTo>
                  <a:pt x="25400" y="50800"/>
                </a:lnTo>
                <a:cubicBezTo>
                  <a:pt x="11366" y="50800"/>
                  <a:pt x="0" y="39433"/>
                  <a:pt x="0" y="25400"/>
                </a:cubicBezTo>
                <a:lnTo>
                  <a:pt x="0" y="25400"/>
                </a:lnTo>
                <a:cubicBezTo>
                  <a:pt x="0" y="11366"/>
                  <a:pt x="11366" y="0"/>
                  <a:pt x="25400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icon-cart"/>
          <p:cNvSpPr/>
          <p:nvPr/>
        </p:nvSpPr>
        <p:spPr>
          <a:xfrm>
            <a:off x="5419916" y="1965452"/>
            <a:ext cx="143065" cy="84519"/>
          </a:xfrm>
          <a:custGeom>
            <a:avLst/>
            <a:gdLst/>
            <a:ahLst/>
            <a:cxnLst/>
            <a:rect l="0" t="0" r="r" b="b"/>
            <a:pathLst>
              <a:path w="143065" h="84519">
                <a:moveTo>
                  <a:pt x="0" y="0"/>
                </a:moveTo>
                <a:lnTo>
                  <a:pt x="20701" y="0"/>
                </a:lnTo>
                <a:lnTo>
                  <a:pt x="41402" y="84519"/>
                </a:lnTo>
                <a:lnTo>
                  <a:pt x="125984" y="84519"/>
                </a:lnTo>
                <a:lnTo>
                  <a:pt x="143065" y="25146"/>
                </a:lnTo>
                <a:lnTo>
                  <a:pt x="26988" y="25146"/>
                </a:lnTo>
              </a:path>
            </a:pathLst>
          </a:custGeom>
          <a:noFill/>
          <a:ln w="13335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icon-cart"/>
          <p:cNvSpPr/>
          <p:nvPr/>
        </p:nvSpPr>
        <p:spPr>
          <a:xfrm>
            <a:off x="5463117" y="2076979"/>
            <a:ext cx="25188" cy="25188"/>
          </a:xfrm>
          <a:prstGeom prst="ellipse">
            <a:avLst/>
          </a:prstGeom>
          <a:noFill/>
          <a:ln w="13335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icon-cart"/>
          <p:cNvSpPr/>
          <p:nvPr/>
        </p:nvSpPr>
        <p:spPr>
          <a:xfrm>
            <a:off x="5527887" y="2076979"/>
            <a:ext cx="25188" cy="25188"/>
          </a:xfrm>
          <a:prstGeom prst="ellipse">
            <a:avLst/>
          </a:prstGeom>
          <a:noFill/>
          <a:ln w="13335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optn-2"/>
          <p:cNvSpPr txBox="1"/>
          <p:nvPr/>
        </p:nvSpPr>
        <p:spPr>
          <a:xfrm>
            <a:off x="5743702" y="1791875"/>
            <a:ext cx="978535" cy="3222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外部采购</a:t>
            </a:r>
          </a:p>
        </p:txBody>
      </p:sp>
      <p:sp>
        <p:nvSpPr>
          <p:cNvPr id="47" name="opten-2"/>
          <p:cNvSpPr txBox="1"/>
          <p:nvPr/>
        </p:nvSpPr>
        <p:spPr>
          <a:xfrm>
            <a:off x="5767832" y="2100008"/>
            <a:ext cx="83718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7E93AE"/>
                </a:solidFill>
                <a:latin typeface="Arial"/>
                <a:ea typeface="Arial"/>
                <a:cs typeface="Arial"/>
              </a:rPr>
              <a:t>BUY OUTSIDE</a:t>
            </a:r>
          </a:p>
        </p:txBody>
      </p:sp>
      <p:sp>
        <p:nvSpPr>
          <p:cNvPr id="48" name="optno-2"/>
          <p:cNvSpPr txBox="1"/>
          <p:nvPr/>
        </p:nvSpPr>
        <p:spPr>
          <a:xfrm>
            <a:off x="8199120" y="1687703"/>
            <a:ext cx="667004" cy="5778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600" b="1">
                <a:solidFill>
                  <a:srgbClr val="2468B6">
                    <a:alpha val="12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cxnSp>
        <p:nvCxnSpPr>
          <p:cNvPr id="49" name="optline-2"/>
          <p:cNvCxnSpPr/>
          <p:nvPr/>
        </p:nvCxnSpPr>
        <p:spPr>
          <a:xfrm>
            <a:off x="5321300" y="2400300"/>
            <a:ext cx="3505200" cy="0"/>
          </a:xfrm>
          <a:prstGeom prst="line">
            <a:avLst/>
          </a:prstGeom>
          <a:ln w="6350" cap="rnd">
            <a:solidFill>
              <a:srgbClr val="0B2545">
                <a:alpha val="9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" name="blk-2-1"/>
          <p:cNvSpPr/>
          <p:nvPr/>
        </p:nvSpPr>
        <p:spPr>
          <a:xfrm>
            <a:off x="5283200" y="2578100"/>
            <a:ext cx="3581400" cy="1422400"/>
          </a:xfrm>
          <a:custGeom>
            <a:avLst/>
            <a:gdLst/>
            <a:ahLst/>
            <a:cxnLst/>
            <a:rect l="0" t="0" r="r" b="b"/>
            <a:pathLst>
              <a:path w="3581400" h="1422400">
                <a:moveTo>
                  <a:pt x="101600" y="0"/>
                </a:moveTo>
                <a:lnTo>
                  <a:pt x="3479800" y="0"/>
                </a:lnTo>
                <a:cubicBezTo>
                  <a:pt x="3535934" y="0"/>
                  <a:pt x="3581400" y="45466"/>
                  <a:pt x="3581400" y="101600"/>
                </a:cubicBezTo>
                <a:lnTo>
                  <a:pt x="3581400" y="1320800"/>
                </a:lnTo>
                <a:cubicBezTo>
                  <a:pt x="3581400" y="1376934"/>
                  <a:pt x="3535934" y="1422400"/>
                  <a:pt x="3479800" y="1422400"/>
                </a:cubicBezTo>
                <a:lnTo>
                  <a:pt x="101600" y="1422400"/>
                </a:lnTo>
                <a:cubicBezTo>
                  <a:pt x="45466" y="1422400"/>
                  <a:pt x="0" y="1376934"/>
                  <a:pt x="0" y="1320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blkb-2-1"/>
          <p:cNvSpPr/>
          <p:nvPr/>
        </p:nvSpPr>
        <p:spPr>
          <a:xfrm>
            <a:off x="5283200" y="2578100"/>
            <a:ext cx="31750" cy="1422400"/>
          </a:xfrm>
          <a:custGeom>
            <a:avLst/>
            <a:gdLst/>
            <a:ahLst/>
            <a:cxnLst/>
            <a:rect l="0" t="0" r="r" b="b"/>
            <a:pathLst>
              <a:path w="31750" h="14224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1406525"/>
                </a:lnTo>
                <a:cubicBezTo>
                  <a:pt x="31750" y="1415288"/>
                  <a:pt x="24638" y="1422400"/>
                  <a:pt x="15875" y="1422400"/>
                </a:cubicBezTo>
                <a:lnTo>
                  <a:pt x="15875" y="1422400"/>
                </a:lnTo>
                <a:cubicBezTo>
                  <a:pt x="7112" y="1422400"/>
                  <a:pt x="0" y="1415288"/>
                  <a:pt x="0" y="14065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blkc-2-1"/>
          <p:cNvSpPr/>
          <p:nvPr/>
        </p:nvSpPr>
        <p:spPr>
          <a:xfrm>
            <a:off x="5429250" y="2711450"/>
            <a:ext cx="190500" cy="190500"/>
          </a:xfrm>
          <a:prstGeom prst="ellipse">
            <a:avLst/>
          </a:prstGeom>
          <a:solidFill>
            <a:srgbClr val="2468B6">
              <a:alpha val="1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blks-2-1"/>
          <p:cNvSpPr txBox="1"/>
          <p:nvPr/>
        </p:nvSpPr>
        <p:spPr>
          <a:xfrm>
            <a:off x="5421948" y="2717832"/>
            <a:ext cx="205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2468B6"/>
                </a:solidFill>
                <a:latin typeface="微软雅黑"/>
                <a:ea typeface="微软雅黑"/>
                <a:cs typeface="微软雅黑"/>
              </a:rPr>
              <a:t>＋</a:t>
            </a:r>
          </a:p>
        </p:txBody>
      </p:sp>
      <p:sp>
        <p:nvSpPr>
          <p:cNvPr id="54" name="blkt-2-1"/>
          <p:cNvSpPr txBox="1"/>
          <p:nvPr/>
        </p:nvSpPr>
        <p:spPr>
          <a:xfrm>
            <a:off x="5674360" y="2700655"/>
            <a:ext cx="3937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优势</a:t>
            </a:r>
          </a:p>
        </p:txBody>
      </p:sp>
      <p:sp>
        <p:nvSpPr>
          <p:cNvPr id="55" name="blkn-2-1"/>
          <p:cNvSpPr txBox="1"/>
          <p:nvPr/>
        </p:nvSpPr>
        <p:spPr>
          <a:xfrm>
            <a:off x="8419465" y="2735008"/>
            <a:ext cx="27800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3 条</a:t>
            </a:r>
          </a:p>
        </p:txBody>
      </p:sp>
      <p:sp>
        <p:nvSpPr>
          <p:cNvPr id="56" name="d-2-1-1"/>
          <p:cNvSpPr/>
          <p:nvPr/>
        </p:nvSpPr>
        <p:spPr>
          <a:xfrm>
            <a:off x="5501640" y="3101340"/>
            <a:ext cx="45720" cy="45720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it-2-1-1"/>
          <p:cNvSpPr txBox="1"/>
          <p:nvPr/>
        </p:nvSpPr>
        <p:spPr>
          <a:xfrm>
            <a:off x="5625465" y="3025061"/>
            <a:ext cx="102520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8 周即可投入使用</a:t>
            </a:r>
          </a:p>
        </p:txBody>
      </p:sp>
      <p:sp>
        <p:nvSpPr>
          <p:cNvPr id="58" name="d-2-1-2"/>
          <p:cNvSpPr/>
          <p:nvPr/>
        </p:nvSpPr>
        <p:spPr>
          <a:xfrm>
            <a:off x="5501640" y="3393440"/>
            <a:ext cx="45720" cy="45720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it-2-1-2"/>
          <p:cNvSpPr txBox="1"/>
          <p:nvPr/>
        </p:nvSpPr>
        <p:spPr>
          <a:xfrm>
            <a:off x="5625465" y="33171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供应商承担运维责任</a:t>
            </a:r>
          </a:p>
        </p:txBody>
      </p:sp>
      <p:sp>
        <p:nvSpPr>
          <p:cNvPr id="60" name="d-2-1-3"/>
          <p:cNvSpPr/>
          <p:nvPr/>
        </p:nvSpPr>
        <p:spPr>
          <a:xfrm>
            <a:off x="5501640" y="3685540"/>
            <a:ext cx="45720" cy="45720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it-2-1-3"/>
          <p:cNvSpPr txBox="1"/>
          <p:nvPr/>
        </p:nvSpPr>
        <p:spPr>
          <a:xfrm>
            <a:off x="5625465" y="36092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先期投入可按年摊销</a:t>
            </a:r>
          </a:p>
        </p:txBody>
      </p:sp>
      <p:sp>
        <p:nvSpPr>
          <p:cNvPr id="62" name="blk-2-2"/>
          <p:cNvSpPr/>
          <p:nvPr/>
        </p:nvSpPr>
        <p:spPr>
          <a:xfrm>
            <a:off x="5283200" y="4152900"/>
            <a:ext cx="3581400" cy="1422400"/>
          </a:xfrm>
          <a:custGeom>
            <a:avLst/>
            <a:gdLst/>
            <a:ahLst/>
            <a:cxnLst/>
            <a:rect l="0" t="0" r="r" b="b"/>
            <a:pathLst>
              <a:path w="3581400" h="1422400">
                <a:moveTo>
                  <a:pt x="101600" y="0"/>
                </a:moveTo>
                <a:lnTo>
                  <a:pt x="3479800" y="0"/>
                </a:lnTo>
                <a:cubicBezTo>
                  <a:pt x="3535934" y="0"/>
                  <a:pt x="3581400" y="45466"/>
                  <a:pt x="3581400" y="101600"/>
                </a:cubicBezTo>
                <a:lnTo>
                  <a:pt x="3581400" y="1320800"/>
                </a:lnTo>
                <a:cubicBezTo>
                  <a:pt x="3581400" y="1376934"/>
                  <a:pt x="3535934" y="1422400"/>
                  <a:pt x="3479800" y="1422400"/>
                </a:cubicBezTo>
                <a:lnTo>
                  <a:pt x="101600" y="1422400"/>
                </a:lnTo>
                <a:cubicBezTo>
                  <a:pt x="45466" y="1422400"/>
                  <a:pt x="0" y="1376934"/>
                  <a:pt x="0" y="1320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6EFE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blkb-2-2"/>
          <p:cNvSpPr/>
          <p:nvPr/>
        </p:nvSpPr>
        <p:spPr>
          <a:xfrm>
            <a:off x="5283200" y="4152900"/>
            <a:ext cx="31750" cy="1422400"/>
          </a:xfrm>
          <a:custGeom>
            <a:avLst/>
            <a:gdLst/>
            <a:ahLst/>
            <a:cxnLst/>
            <a:rect l="0" t="0" r="r" b="b"/>
            <a:pathLst>
              <a:path w="31750" h="14224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1406525"/>
                </a:lnTo>
                <a:cubicBezTo>
                  <a:pt x="31750" y="1415288"/>
                  <a:pt x="24638" y="1422400"/>
                  <a:pt x="15875" y="1422400"/>
                </a:cubicBezTo>
                <a:lnTo>
                  <a:pt x="15875" y="1422400"/>
                </a:lnTo>
                <a:cubicBezTo>
                  <a:pt x="7112" y="1422400"/>
                  <a:pt x="0" y="1415288"/>
                  <a:pt x="0" y="14065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blkc-2-2"/>
          <p:cNvSpPr/>
          <p:nvPr/>
        </p:nvSpPr>
        <p:spPr>
          <a:xfrm>
            <a:off x="5429250" y="4286250"/>
            <a:ext cx="190500" cy="190500"/>
          </a:xfrm>
          <a:prstGeom prst="ellipse">
            <a:avLst/>
          </a:prstGeom>
          <a:solidFill>
            <a:srgbClr val="E0703A">
              <a:alpha val="1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blks-2-2"/>
          <p:cNvSpPr txBox="1"/>
          <p:nvPr/>
        </p:nvSpPr>
        <p:spPr>
          <a:xfrm>
            <a:off x="5421948" y="4292632"/>
            <a:ext cx="205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－</a:t>
            </a:r>
          </a:p>
        </p:txBody>
      </p:sp>
      <p:sp>
        <p:nvSpPr>
          <p:cNvPr id="66" name="blkt-2-2"/>
          <p:cNvSpPr txBox="1"/>
          <p:nvPr/>
        </p:nvSpPr>
        <p:spPr>
          <a:xfrm>
            <a:off x="5674360" y="4275455"/>
            <a:ext cx="3937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代价</a:t>
            </a:r>
          </a:p>
        </p:txBody>
      </p:sp>
      <p:sp>
        <p:nvSpPr>
          <p:cNvPr id="67" name="blkn-2-2"/>
          <p:cNvSpPr txBox="1"/>
          <p:nvPr/>
        </p:nvSpPr>
        <p:spPr>
          <a:xfrm>
            <a:off x="8419465" y="4309808"/>
            <a:ext cx="27800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3 条</a:t>
            </a:r>
          </a:p>
        </p:txBody>
      </p:sp>
      <p:sp>
        <p:nvSpPr>
          <p:cNvPr id="68" name="d-2-2-1"/>
          <p:cNvSpPr/>
          <p:nvPr/>
        </p:nvSpPr>
        <p:spPr>
          <a:xfrm>
            <a:off x="5501640" y="4676140"/>
            <a:ext cx="45720" cy="4572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it-2-2-1"/>
          <p:cNvSpPr txBox="1"/>
          <p:nvPr/>
        </p:nvSpPr>
        <p:spPr>
          <a:xfrm>
            <a:off x="5625465" y="45998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定制能力受产品限制</a:t>
            </a:r>
          </a:p>
        </p:txBody>
      </p:sp>
      <p:sp>
        <p:nvSpPr>
          <p:cNvPr id="70" name="d-2-2-2"/>
          <p:cNvSpPr/>
          <p:nvPr/>
        </p:nvSpPr>
        <p:spPr>
          <a:xfrm>
            <a:off x="5501640" y="4968240"/>
            <a:ext cx="45720" cy="4572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it-2-2-2"/>
          <p:cNvSpPr txBox="1"/>
          <p:nvPr/>
        </p:nvSpPr>
        <p:spPr>
          <a:xfrm>
            <a:off x="5625465" y="48919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数据出域需额外评审</a:t>
            </a:r>
          </a:p>
        </p:txBody>
      </p:sp>
      <p:sp>
        <p:nvSpPr>
          <p:cNvPr id="72" name="d-2-2-3"/>
          <p:cNvSpPr/>
          <p:nvPr/>
        </p:nvSpPr>
        <p:spPr>
          <a:xfrm>
            <a:off x="5501640" y="5260340"/>
            <a:ext cx="45720" cy="4572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it-2-2-3"/>
          <p:cNvSpPr txBox="1"/>
          <p:nvPr/>
        </p:nvSpPr>
        <p:spPr>
          <a:xfrm>
            <a:off x="5625465" y="51840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五年总成本反超自建</a:t>
            </a:r>
          </a:p>
        </p:txBody>
      </p:sp>
      <p:sp>
        <p:nvSpPr>
          <p:cNvPr id="74" name="verdict"/>
          <p:cNvSpPr/>
          <p:nvPr/>
        </p:nvSpPr>
        <p:spPr>
          <a:xfrm>
            <a:off x="9042400" y="1587500"/>
            <a:ext cx="2197100" cy="3937000"/>
          </a:xfrm>
          <a:custGeom>
            <a:avLst/>
            <a:gdLst/>
            <a:ahLst/>
            <a:cxnLst/>
            <a:rect l="0" t="0" r="r" b="b"/>
            <a:pathLst>
              <a:path w="2197100" h="3937000">
                <a:moveTo>
                  <a:pt x="139700" y="0"/>
                </a:moveTo>
                <a:lnTo>
                  <a:pt x="2057400" y="0"/>
                </a:lnTo>
                <a:cubicBezTo>
                  <a:pt x="2134553" y="0"/>
                  <a:pt x="2197100" y="62548"/>
                  <a:pt x="2197100" y="139700"/>
                </a:cubicBezTo>
                <a:lnTo>
                  <a:pt x="2197100" y="3797300"/>
                </a:lnTo>
                <a:cubicBezTo>
                  <a:pt x="2197100" y="3874452"/>
                  <a:pt x="2134553" y="3937000"/>
                  <a:pt x="2057400" y="3937000"/>
                </a:cubicBezTo>
                <a:lnTo>
                  <a:pt x="139700" y="3937000"/>
                </a:lnTo>
                <a:cubicBezTo>
                  <a:pt x="62547" y="3937000"/>
                  <a:pt x="0" y="3874452"/>
                  <a:pt x="0" y="37973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0A3A88"/>
              </a:gs>
            </a:gsLst>
            <a:lin ang="7560000" scaled="0"/>
          </a:gra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icon-target"/>
          <p:cNvSpPr/>
          <p:nvPr/>
        </p:nvSpPr>
        <p:spPr>
          <a:xfrm>
            <a:off x="10140950" y="1974532"/>
            <a:ext cx="73342" cy="95568"/>
          </a:xfrm>
          <a:custGeom>
            <a:avLst/>
            <a:gdLst/>
            <a:ahLst/>
            <a:cxnLst/>
            <a:rect l="0" t="0" r="r" b="b"/>
            <a:pathLst>
              <a:path w="73342" h="95568">
                <a:moveTo>
                  <a:pt x="0" y="55562"/>
                </a:moveTo>
                <a:lnTo>
                  <a:pt x="0" y="0"/>
                </a:lnTo>
                <a:moveTo>
                  <a:pt x="0" y="95568"/>
                </a:moveTo>
                <a:lnTo>
                  <a:pt x="73342" y="22225"/>
                </a:lnTo>
              </a:path>
            </a:pathLst>
          </a:custGeom>
          <a:noFill/>
          <a:ln w="1397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icon-target"/>
          <p:cNvSpPr/>
          <p:nvPr/>
        </p:nvSpPr>
        <p:spPr>
          <a:xfrm>
            <a:off x="10045382" y="1974532"/>
            <a:ext cx="191135" cy="191135"/>
          </a:xfrm>
          <a:prstGeom prst="ellipse">
            <a:avLst/>
          </a:prstGeom>
          <a:noFill/>
          <a:ln w="1397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icon-target"/>
          <p:cNvSpPr/>
          <p:nvPr/>
        </p:nvSpPr>
        <p:spPr>
          <a:xfrm>
            <a:off x="10092055" y="2021205"/>
            <a:ext cx="97790" cy="97790"/>
          </a:xfrm>
          <a:prstGeom prst="ellipse">
            <a:avLst/>
          </a:prstGeom>
          <a:noFill/>
          <a:ln w="1397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v-h"/>
          <p:cNvSpPr txBox="1"/>
          <p:nvPr/>
        </p:nvSpPr>
        <p:spPr>
          <a:xfrm>
            <a:off x="9667240" y="2295017"/>
            <a:ext cx="9474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加权结论</a:t>
            </a:r>
          </a:p>
        </p:txBody>
      </p:sp>
      <p:sp>
        <p:nvSpPr>
          <p:cNvPr id="79" name="v-rule"/>
          <p:cNvSpPr/>
          <p:nvPr/>
        </p:nvSpPr>
        <p:spPr>
          <a:xfrm>
            <a:off x="9925050" y="2654300"/>
            <a:ext cx="431800" cy="19050"/>
          </a:xfrm>
          <a:prstGeom prst="roundRect">
            <a:avLst>
              <a:gd name="adj" fmla="val 50000"/>
            </a:avLst>
          </a:prstGeom>
          <a:solidFill>
            <a:srgbClr val="FFFFFF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v-t"/>
          <p:cNvSpPr txBox="1"/>
          <p:nvPr/>
        </p:nvSpPr>
        <p:spPr>
          <a:xfrm>
            <a:off x="9544685" y="2773870"/>
            <a:ext cx="11925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先外采，再自建</a:t>
            </a:r>
          </a:p>
        </p:txBody>
      </p:sp>
      <p:sp>
        <p:nvSpPr>
          <p:cNvPr id="81" name="v-c-1"/>
          <p:cNvSpPr/>
          <p:nvPr/>
        </p:nvSpPr>
        <p:spPr>
          <a:xfrm>
            <a:off x="9232900" y="3289300"/>
            <a:ext cx="1816100" cy="393700"/>
          </a:xfrm>
          <a:custGeom>
            <a:avLst/>
            <a:gdLst/>
            <a:ahLst/>
            <a:cxnLst/>
            <a:rect l="0" t="0" r="r" b="b"/>
            <a:pathLst>
              <a:path w="1816100" h="393700">
                <a:moveTo>
                  <a:pt x="88900" y="0"/>
                </a:moveTo>
                <a:lnTo>
                  <a:pt x="1727200" y="0"/>
                </a:lnTo>
                <a:cubicBezTo>
                  <a:pt x="1776286" y="0"/>
                  <a:pt x="1816100" y="39814"/>
                  <a:pt x="1816100" y="88900"/>
                </a:cubicBezTo>
                <a:lnTo>
                  <a:pt x="1816100" y="304800"/>
                </a:lnTo>
                <a:cubicBezTo>
                  <a:pt x="1816100" y="353886"/>
                  <a:pt x="1776286" y="393700"/>
                  <a:pt x="1727200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13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v-l-1"/>
          <p:cNvSpPr txBox="1"/>
          <p:nvPr/>
        </p:nvSpPr>
        <p:spPr>
          <a:xfrm>
            <a:off x="9361932" y="3344608"/>
            <a:ext cx="4610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50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首年投入</a:t>
            </a:r>
          </a:p>
        </p:txBody>
      </p:sp>
      <p:sp>
        <p:nvSpPr>
          <p:cNvPr id="83" name="v-v-1"/>
          <p:cNvSpPr txBox="1"/>
          <p:nvPr/>
        </p:nvSpPr>
        <p:spPr>
          <a:xfrm>
            <a:off x="9358122" y="3457797"/>
            <a:ext cx="71437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省 1.6 亿</a:t>
            </a:r>
          </a:p>
        </p:txBody>
      </p:sp>
      <p:sp>
        <p:nvSpPr>
          <p:cNvPr id="84" name="v-c-2"/>
          <p:cNvSpPr/>
          <p:nvPr/>
        </p:nvSpPr>
        <p:spPr>
          <a:xfrm>
            <a:off x="9232900" y="3810000"/>
            <a:ext cx="1816100" cy="393700"/>
          </a:xfrm>
          <a:custGeom>
            <a:avLst/>
            <a:gdLst/>
            <a:ahLst/>
            <a:cxnLst/>
            <a:rect l="0" t="0" r="r" b="b"/>
            <a:pathLst>
              <a:path w="1816100" h="393700">
                <a:moveTo>
                  <a:pt x="88900" y="0"/>
                </a:moveTo>
                <a:lnTo>
                  <a:pt x="1727200" y="0"/>
                </a:lnTo>
                <a:cubicBezTo>
                  <a:pt x="1776286" y="0"/>
                  <a:pt x="1816100" y="39814"/>
                  <a:pt x="1816100" y="88900"/>
                </a:cubicBezTo>
                <a:lnTo>
                  <a:pt x="1816100" y="304800"/>
                </a:lnTo>
                <a:cubicBezTo>
                  <a:pt x="1816100" y="353886"/>
                  <a:pt x="1776286" y="393700"/>
                  <a:pt x="1727200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13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v-l-2"/>
          <p:cNvSpPr txBox="1"/>
          <p:nvPr/>
        </p:nvSpPr>
        <p:spPr>
          <a:xfrm>
            <a:off x="9361932" y="3865308"/>
            <a:ext cx="4610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50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上线时间</a:t>
            </a:r>
          </a:p>
        </p:txBody>
      </p:sp>
      <p:sp>
        <p:nvSpPr>
          <p:cNvPr id="86" name="v-v-2"/>
          <p:cNvSpPr txBox="1"/>
          <p:nvPr/>
        </p:nvSpPr>
        <p:spPr>
          <a:xfrm>
            <a:off x="9358122" y="3978497"/>
            <a:ext cx="82054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提前 5 个月</a:t>
            </a:r>
          </a:p>
        </p:txBody>
      </p:sp>
      <p:sp>
        <p:nvSpPr>
          <p:cNvPr id="87" name="v-c-3"/>
          <p:cNvSpPr/>
          <p:nvPr/>
        </p:nvSpPr>
        <p:spPr>
          <a:xfrm>
            <a:off x="9232900" y="4330700"/>
            <a:ext cx="1816100" cy="393700"/>
          </a:xfrm>
          <a:custGeom>
            <a:avLst/>
            <a:gdLst/>
            <a:ahLst/>
            <a:cxnLst/>
            <a:rect l="0" t="0" r="r" b="b"/>
            <a:pathLst>
              <a:path w="1816100" h="393700">
                <a:moveTo>
                  <a:pt x="88900" y="0"/>
                </a:moveTo>
                <a:lnTo>
                  <a:pt x="1727200" y="0"/>
                </a:lnTo>
                <a:cubicBezTo>
                  <a:pt x="1776286" y="0"/>
                  <a:pt x="1816100" y="39814"/>
                  <a:pt x="1816100" y="88900"/>
                </a:cubicBezTo>
                <a:lnTo>
                  <a:pt x="1816100" y="304800"/>
                </a:lnTo>
                <a:cubicBezTo>
                  <a:pt x="1816100" y="353886"/>
                  <a:pt x="1776286" y="393700"/>
                  <a:pt x="1727200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13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v-l-3"/>
          <p:cNvSpPr txBox="1"/>
          <p:nvPr/>
        </p:nvSpPr>
        <p:spPr>
          <a:xfrm>
            <a:off x="9361932" y="4386008"/>
            <a:ext cx="5562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50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五年总成本</a:t>
            </a:r>
          </a:p>
        </p:txBody>
      </p:sp>
      <p:sp>
        <p:nvSpPr>
          <p:cNvPr id="89" name="v-v-3"/>
          <p:cNvSpPr txBox="1"/>
          <p:nvPr/>
        </p:nvSpPr>
        <p:spPr>
          <a:xfrm>
            <a:off x="9358122" y="4499197"/>
            <a:ext cx="518541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高 12%</a:t>
            </a:r>
          </a:p>
        </p:txBody>
      </p:sp>
      <p:sp>
        <p:nvSpPr>
          <p:cNvPr id="90" name="v-c-4"/>
          <p:cNvSpPr/>
          <p:nvPr/>
        </p:nvSpPr>
        <p:spPr>
          <a:xfrm>
            <a:off x="9232900" y="4851400"/>
            <a:ext cx="1816100" cy="393700"/>
          </a:xfrm>
          <a:custGeom>
            <a:avLst/>
            <a:gdLst/>
            <a:ahLst/>
            <a:cxnLst/>
            <a:rect l="0" t="0" r="r" b="b"/>
            <a:pathLst>
              <a:path w="1816100" h="393700">
                <a:moveTo>
                  <a:pt x="88900" y="0"/>
                </a:moveTo>
                <a:lnTo>
                  <a:pt x="1727200" y="0"/>
                </a:lnTo>
                <a:cubicBezTo>
                  <a:pt x="1776286" y="0"/>
                  <a:pt x="1816100" y="39814"/>
                  <a:pt x="1816100" y="88900"/>
                </a:cubicBezTo>
                <a:lnTo>
                  <a:pt x="1816100" y="304800"/>
                </a:lnTo>
                <a:cubicBezTo>
                  <a:pt x="1816100" y="353886"/>
                  <a:pt x="1776286" y="393700"/>
                  <a:pt x="1727200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13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v-l-4"/>
          <p:cNvSpPr txBox="1"/>
          <p:nvPr/>
        </p:nvSpPr>
        <p:spPr>
          <a:xfrm>
            <a:off x="9361932" y="4906708"/>
            <a:ext cx="4610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50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能力沉淀</a:t>
            </a:r>
          </a:p>
        </p:txBody>
      </p:sp>
      <p:sp>
        <p:nvSpPr>
          <p:cNvPr id="92" name="v-v-4"/>
          <p:cNvSpPr txBox="1"/>
          <p:nvPr/>
        </p:nvSpPr>
        <p:spPr>
          <a:xfrm>
            <a:off x="9358122" y="5019897"/>
            <a:ext cx="82054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第 3 年补齐</a:t>
            </a:r>
          </a:p>
        </p:txBody>
      </p:sp>
      <p:sp>
        <p:nvSpPr>
          <p:cNvPr id="93" name="v-foot"/>
          <p:cNvSpPr txBox="1"/>
          <p:nvPr/>
        </p:nvSpPr>
        <p:spPr>
          <a:xfrm>
            <a:off x="9591040" y="5236908"/>
            <a:ext cx="109982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30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两年后按能力成熟度复评</a:t>
            </a:r>
          </a:p>
        </p:txBody>
      </p:sp>
      <p:sp>
        <p:nvSpPr>
          <p:cNvPr id="94" name="note-bar"/>
          <p:cNvSpPr/>
          <p:nvPr/>
        </p:nvSpPr>
        <p:spPr>
          <a:xfrm>
            <a:off x="952500" y="5753100"/>
            <a:ext cx="2540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note-h"/>
          <p:cNvSpPr txBox="1"/>
          <p:nvPr/>
        </p:nvSpPr>
        <p:spPr>
          <a:xfrm>
            <a:off x="1103122" y="58072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决策口径</a:t>
            </a:r>
          </a:p>
        </p:txBody>
      </p:sp>
      <p:sp>
        <p:nvSpPr>
          <p:cNvPr id="96" name="note-p"/>
          <p:cNvSpPr txBox="1"/>
          <p:nvPr/>
        </p:nvSpPr>
        <p:spPr>
          <a:xfrm>
            <a:off x="1104265" y="6022261"/>
            <a:ext cx="503396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按首年现金流、上线时间、五年总成本、能力沉淀四项加权，权重依次为 30%、30%、25%、15%。</a:t>
            </a:r>
          </a:p>
        </p:txBody>
      </p:sp>
      <p:cxnSp>
        <p:nvCxnSpPr>
          <p:cNvPr id="97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8" name="foot-l"/>
          <p:cNvSpPr txBox="1"/>
          <p:nvPr/>
        </p:nvSpPr>
        <p:spPr>
          <a:xfrm>
            <a:off x="573532" y="6532308"/>
            <a:ext cx="128257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利弊权衡 · 自建 vs 外采</a:t>
            </a:r>
          </a:p>
        </p:txBody>
      </p:sp>
      <p:sp>
        <p:nvSpPr>
          <p:cNvPr id="99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市场竞争定位图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44589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POSITIONING MAP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551799" y="673132"/>
            <a:ext cx="30689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横轴为综合能力，纵轴为价格水平，气泡大小代表市场份额</a:t>
            </a:r>
          </a:p>
        </p:txBody>
      </p:sp>
      <p:sp>
        <p:nvSpPr>
          <p:cNvPr id="10" name="plot"/>
          <p:cNvSpPr/>
          <p:nvPr/>
        </p:nvSpPr>
        <p:spPr>
          <a:xfrm>
            <a:off x="1663700" y="1638300"/>
            <a:ext cx="6045200" cy="3683000"/>
          </a:xfrm>
          <a:custGeom>
            <a:avLst/>
            <a:gdLst/>
            <a:ahLst/>
            <a:cxnLst/>
            <a:rect l="0" t="0" r="r" b="b"/>
            <a:pathLst>
              <a:path w="6045200" h="3683000">
                <a:moveTo>
                  <a:pt x="114300" y="0"/>
                </a:moveTo>
                <a:lnTo>
                  <a:pt x="5930900" y="0"/>
                </a:lnTo>
                <a:cubicBezTo>
                  <a:pt x="5994019" y="0"/>
                  <a:pt x="6045200" y="51181"/>
                  <a:pt x="6045200" y="114300"/>
                </a:cubicBezTo>
                <a:lnTo>
                  <a:pt x="6045200" y="3568700"/>
                </a:lnTo>
                <a:cubicBezTo>
                  <a:pt x="6045200" y="3631819"/>
                  <a:pt x="5994019" y="3683000"/>
                  <a:pt x="5930900" y="3683000"/>
                </a:cubicBezTo>
                <a:lnTo>
                  <a:pt x="114300" y="3683000"/>
                </a:lnTo>
                <a:cubicBezTo>
                  <a:pt x="51181" y="3683000"/>
                  <a:pt x="0" y="3631819"/>
                  <a:pt x="0" y="3568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>
              <a:alpha val="6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q-null"/>
          <p:cNvSpPr/>
          <p:nvPr/>
        </p:nvSpPr>
        <p:spPr>
          <a:xfrm>
            <a:off x="4686300" y="3479800"/>
            <a:ext cx="3022600" cy="1841500"/>
          </a:xfrm>
          <a:custGeom>
            <a:avLst/>
            <a:gdLst/>
            <a:ahLst/>
            <a:cxnLst/>
            <a:rect l="0" t="0" r="r" b="b"/>
            <a:pathLst>
              <a:path w="3022600" h="1841500">
                <a:moveTo>
                  <a:pt x="0" y="0"/>
                </a:moveTo>
                <a:lnTo>
                  <a:pt x="3022600" y="0"/>
                </a:lnTo>
                <a:cubicBezTo>
                  <a:pt x="3022600" y="0"/>
                  <a:pt x="3022600" y="0"/>
                  <a:pt x="3022600" y="0"/>
                </a:cubicBezTo>
                <a:lnTo>
                  <a:pt x="3022600" y="1841500"/>
                </a:lnTo>
                <a:cubicBezTo>
                  <a:pt x="3022600" y="1841500"/>
                  <a:pt x="3022600" y="1841500"/>
                  <a:pt x="3022600" y="1841500"/>
                </a:cubicBezTo>
                <a:lnTo>
                  <a:pt x="0" y="1841500"/>
                </a:lnTo>
                <a:cubicBezTo>
                  <a:pt x="0" y="1841500"/>
                  <a:pt x="0" y="1841500"/>
                  <a:pt x="0" y="1841500"/>
                </a:cubicBezTo>
                <a:lnTo>
                  <a:pt x="0" y="0"/>
                </a:ln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1B5AA8">
              <a:alpha val="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q-hi"/>
          <p:cNvSpPr/>
          <p:nvPr/>
        </p:nvSpPr>
        <p:spPr>
          <a:xfrm>
            <a:off x="4686300" y="1638300"/>
            <a:ext cx="3022600" cy="1841500"/>
          </a:xfrm>
          <a:custGeom>
            <a:avLst/>
            <a:gdLst/>
            <a:ahLst/>
            <a:cxnLst/>
            <a:rect l="0" t="0" r="r" b="b"/>
            <a:pathLst>
              <a:path w="3022600" h="1841500">
                <a:moveTo>
                  <a:pt x="0" y="0"/>
                </a:moveTo>
                <a:lnTo>
                  <a:pt x="3022600" y="0"/>
                </a:lnTo>
                <a:cubicBezTo>
                  <a:pt x="3022600" y="0"/>
                  <a:pt x="3022600" y="0"/>
                  <a:pt x="3022600" y="0"/>
                </a:cubicBezTo>
                <a:lnTo>
                  <a:pt x="3022600" y="1841500"/>
                </a:lnTo>
                <a:cubicBezTo>
                  <a:pt x="3022600" y="1841500"/>
                  <a:pt x="3022600" y="1841500"/>
                  <a:pt x="3022600" y="1841500"/>
                </a:cubicBezTo>
                <a:lnTo>
                  <a:pt x="0" y="1841500"/>
                </a:lnTo>
                <a:cubicBezTo>
                  <a:pt x="0" y="1841500"/>
                  <a:pt x="0" y="1841500"/>
                  <a:pt x="0" y="1841500"/>
                </a:cubicBezTo>
                <a:lnTo>
                  <a:pt x="0" y="0"/>
                </a:ln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1B5AA8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q-value"/>
          <p:cNvSpPr/>
          <p:nvPr/>
        </p:nvSpPr>
        <p:spPr>
          <a:xfrm>
            <a:off x="4686300" y="3479800"/>
            <a:ext cx="3022600" cy="1841500"/>
          </a:xfrm>
          <a:custGeom>
            <a:avLst/>
            <a:gdLst/>
            <a:ahLst/>
            <a:cxnLst/>
            <a:rect l="0" t="0" r="r" b="b"/>
            <a:pathLst>
              <a:path w="3022600" h="1841500">
                <a:moveTo>
                  <a:pt x="0" y="0"/>
                </a:moveTo>
                <a:lnTo>
                  <a:pt x="3022600" y="0"/>
                </a:lnTo>
                <a:cubicBezTo>
                  <a:pt x="3022600" y="0"/>
                  <a:pt x="3022600" y="0"/>
                  <a:pt x="3022600" y="0"/>
                </a:cubicBezTo>
                <a:lnTo>
                  <a:pt x="3022600" y="1841500"/>
                </a:lnTo>
                <a:cubicBezTo>
                  <a:pt x="3022600" y="1841500"/>
                  <a:pt x="3022600" y="1841500"/>
                  <a:pt x="3022600" y="1841500"/>
                </a:cubicBezTo>
                <a:lnTo>
                  <a:pt x="0" y="1841500"/>
                </a:lnTo>
                <a:cubicBezTo>
                  <a:pt x="0" y="1841500"/>
                  <a:pt x="0" y="1841500"/>
                  <a:pt x="0" y="1841500"/>
                </a:cubicBezTo>
                <a:lnTo>
                  <a:pt x="0" y="0"/>
                </a:ln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E0703A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4" name="gx-1"/>
          <p:cNvCxnSpPr/>
          <p:nvPr/>
        </p:nvCxnSpPr>
        <p:spPr>
          <a:xfrm>
            <a:off x="2268220" y="1638300"/>
            <a:ext cx="0" cy="368300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gy-1"/>
          <p:cNvCxnSpPr/>
          <p:nvPr/>
        </p:nvCxnSpPr>
        <p:spPr>
          <a:xfrm>
            <a:off x="1663700" y="4953000"/>
            <a:ext cx="60452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gx-2"/>
          <p:cNvCxnSpPr/>
          <p:nvPr/>
        </p:nvCxnSpPr>
        <p:spPr>
          <a:xfrm>
            <a:off x="2872740" y="1638300"/>
            <a:ext cx="0" cy="368300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gy-2"/>
          <p:cNvCxnSpPr/>
          <p:nvPr/>
        </p:nvCxnSpPr>
        <p:spPr>
          <a:xfrm>
            <a:off x="1663700" y="4584700"/>
            <a:ext cx="60452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gx-3"/>
          <p:cNvCxnSpPr/>
          <p:nvPr/>
        </p:nvCxnSpPr>
        <p:spPr>
          <a:xfrm>
            <a:off x="3477260" y="1638300"/>
            <a:ext cx="0" cy="368300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gy-3"/>
          <p:cNvCxnSpPr/>
          <p:nvPr/>
        </p:nvCxnSpPr>
        <p:spPr>
          <a:xfrm>
            <a:off x="1663700" y="4216400"/>
            <a:ext cx="60452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gx-4"/>
          <p:cNvCxnSpPr/>
          <p:nvPr/>
        </p:nvCxnSpPr>
        <p:spPr>
          <a:xfrm>
            <a:off x="4081780" y="1638300"/>
            <a:ext cx="0" cy="368300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gy-4"/>
          <p:cNvCxnSpPr/>
          <p:nvPr/>
        </p:nvCxnSpPr>
        <p:spPr>
          <a:xfrm>
            <a:off x="1663700" y="3848100"/>
            <a:ext cx="60452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gx-5"/>
          <p:cNvCxnSpPr/>
          <p:nvPr/>
        </p:nvCxnSpPr>
        <p:spPr>
          <a:xfrm>
            <a:off x="4686300" y="1638300"/>
            <a:ext cx="0" cy="368300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gy-5"/>
          <p:cNvCxnSpPr/>
          <p:nvPr/>
        </p:nvCxnSpPr>
        <p:spPr>
          <a:xfrm>
            <a:off x="1663700" y="3479800"/>
            <a:ext cx="60452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gx-6"/>
          <p:cNvCxnSpPr/>
          <p:nvPr/>
        </p:nvCxnSpPr>
        <p:spPr>
          <a:xfrm>
            <a:off x="5290820" y="1638300"/>
            <a:ext cx="0" cy="368300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gy-6"/>
          <p:cNvCxnSpPr/>
          <p:nvPr/>
        </p:nvCxnSpPr>
        <p:spPr>
          <a:xfrm>
            <a:off x="1663700" y="3111500"/>
            <a:ext cx="60452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gx-7"/>
          <p:cNvCxnSpPr/>
          <p:nvPr/>
        </p:nvCxnSpPr>
        <p:spPr>
          <a:xfrm>
            <a:off x="5895340" y="1638300"/>
            <a:ext cx="0" cy="368300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gy-7"/>
          <p:cNvCxnSpPr/>
          <p:nvPr/>
        </p:nvCxnSpPr>
        <p:spPr>
          <a:xfrm>
            <a:off x="1663700" y="2743200"/>
            <a:ext cx="60452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gx-8"/>
          <p:cNvCxnSpPr/>
          <p:nvPr/>
        </p:nvCxnSpPr>
        <p:spPr>
          <a:xfrm>
            <a:off x="6499860" y="1638300"/>
            <a:ext cx="0" cy="368300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gy-8"/>
          <p:cNvCxnSpPr/>
          <p:nvPr/>
        </p:nvCxnSpPr>
        <p:spPr>
          <a:xfrm>
            <a:off x="1663700" y="2374900"/>
            <a:ext cx="60452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gx-9"/>
          <p:cNvCxnSpPr/>
          <p:nvPr/>
        </p:nvCxnSpPr>
        <p:spPr>
          <a:xfrm>
            <a:off x="7104380" y="1638300"/>
            <a:ext cx="0" cy="368300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gy-9"/>
          <p:cNvCxnSpPr/>
          <p:nvPr/>
        </p:nvCxnSpPr>
        <p:spPr>
          <a:xfrm>
            <a:off x="1663700" y="2006600"/>
            <a:ext cx="60452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axis-x"/>
          <p:cNvCxnSpPr/>
          <p:nvPr/>
        </p:nvCxnSpPr>
        <p:spPr>
          <a:xfrm>
            <a:off x="1663700" y="3479800"/>
            <a:ext cx="6235700" cy="0"/>
          </a:xfrm>
          <a:prstGeom prst="line">
            <a:avLst/>
          </a:prstGeom>
          <a:ln w="10160" cap="rnd">
            <a:solidFill>
              <a:srgbClr val="0B2545">
                <a:alpha val="2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axis-y"/>
          <p:cNvCxnSpPr/>
          <p:nvPr/>
        </p:nvCxnSpPr>
        <p:spPr>
          <a:xfrm>
            <a:off x="4686300" y="1498600"/>
            <a:ext cx="0" cy="3822700"/>
          </a:xfrm>
          <a:prstGeom prst="line">
            <a:avLst/>
          </a:prstGeom>
          <a:ln w="10160" cap="rnd">
            <a:solidFill>
              <a:srgbClr val="0B2545">
                <a:alpha val="2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axis-xh"/>
          <p:cNvSpPr/>
          <p:nvPr/>
        </p:nvSpPr>
        <p:spPr>
          <a:xfrm>
            <a:off x="7835900" y="3435350"/>
            <a:ext cx="88900" cy="88900"/>
          </a:xfrm>
          <a:custGeom>
            <a:avLst/>
            <a:gdLst/>
            <a:ahLst/>
            <a:cxnLst/>
            <a:rect l="0" t="0" r="r" b="b"/>
            <a:pathLst>
              <a:path w="88900" h="88900">
                <a:moveTo>
                  <a:pt x="0" y="0"/>
                </a:moveTo>
                <a:lnTo>
                  <a:pt x="88900" y="44450"/>
                </a:lnTo>
                <a:lnTo>
                  <a:pt x="0" y="88900"/>
                </a:lnTo>
              </a:path>
            </a:pathLst>
          </a:custGeom>
          <a:solidFill>
            <a:srgbClr val="0B2545">
              <a:alpha val="3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axis-yh"/>
          <p:cNvSpPr/>
          <p:nvPr/>
        </p:nvSpPr>
        <p:spPr>
          <a:xfrm>
            <a:off x="4641850" y="1473200"/>
            <a:ext cx="88900" cy="88900"/>
          </a:xfrm>
          <a:custGeom>
            <a:avLst/>
            <a:gdLst/>
            <a:ahLst/>
            <a:cxnLst/>
            <a:rect l="0" t="0" r="r" b="b"/>
            <a:pathLst>
              <a:path w="88900" h="88900">
                <a:moveTo>
                  <a:pt x="0" y="88900"/>
                </a:moveTo>
                <a:lnTo>
                  <a:pt x="44450" y="0"/>
                </a:lnTo>
                <a:lnTo>
                  <a:pt x="88900" y="88900"/>
                </a:lnTo>
              </a:path>
            </a:pathLst>
          </a:custGeom>
          <a:solidFill>
            <a:srgbClr val="0B2545">
              <a:alpha val="3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axis-xt"/>
          <p:cNvSpPr txBox="1"/>
          <p:nvPr/>
        </p:nvSpPr>
        <p:spPr>
          <a:xfrm>
            <a:off x="7950708" y="3392424"/>
            <a:ext cx="3073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能力</a:t>
            </a:r>
          </a:p>
        </p:txBody>
      </p:sp>
      <p:sp>
        <p:nvSpPr>
          <p:cNvPr id="37" name="axis-yt"/>
          <p:cNvSpPr txBox="1"/>
          <p:nvPr/>
        </p:nvSpPr>
        <p:spPr>
          <a:xfrm>
            <a:off x="4532630" y="1271524"/>
            <a:ext cx="3073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价格</a:t>
            </a:r>
          </a:p>
        </p:txBody>
      </p:sp>
      <p:sp>
        <p:nvSpPr>
          <p:cNvPr id="38" name="q-高价低能力"/>
          <p:cNvSpPr txBox="1"/>
          <p:nvPr/>
        </p:nvSpPr>
        <p:spPr>
          <a:xfrm>
            <a:off x="1838960" y="1773555"/>
            <a:ext cx="8128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00">
                <a:solidFill>
                  <a:srgbClr val="7E93AE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高价低能力</a:t>
            </a:r>
          </a:p>
        </p:txBody>
      </p:sp>
      <p:sp>
        <p:nvSpPr>
          <p:cNvPr id="39" name="qn-高价低能力"/>
          <p:cNvSpPr txBox="1"/>
          <p:nvPr/>
        </p:nvSpPr>
        <p:spPr>
          <a:xfrm>
            <a:off x="1843532" y="1985708"/>
            <a:ext cx="5372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性价比洼地</a:t>
            </a:r>
          </a:p>
        </p:txBody>
      </p:sp>
      <p:sp>
        <p:nvSpPr>
          <p:cNvPr id="40" name="q-高端标杆"/>
          <p:cNvSpPr txBox="1"/>
          <p:nvPr/>
        </p:nvSpPr>
        <p:spPr>
          <a:xfrm>
            <a:off x="4861560" y="1773555"/>
            <a:ext cx="6731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00">
                <a:solidFill>
                  <a:srgbClr val="7E93AE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高端标杆</a:t>
            </a:r>
          </a:p>
        </p:txBody>
      </p:sp>
      <p:sp>
        <p:nvSpPr>
          <p:cNvPr id="41" name="qn-高端标杆"/>
          <p:cNvSpPr txBox="1"/>
          <p:nvPr/>
        </p:nvSpPr>
        <p:spPr>
          <a:xfrm>
            <a:off x="4866132" y="1985708"/>
            <a:ext cx="7200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能力与溢价双高</a:t>
            </a:r>
          </a:p>
        </p:txBody>
      </p:sp>
      <p:sp>
        <p:nvSpPr>
          <p:cNvPr id="42" name="q-低价低能力"/>
          <p:cNvSpPr txBox="1"/>
          <p:nvPr/>
        </p:nvSpPr>
        <p:spPr>
          <a:xfrm>
            <a:off x="1838960" y="4821555"/>
            <a:ext cx="8128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00">
                <a:solidFill>
                  <a:srgbClr val="7E93AE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低价低能力</a:t>
            </a:r>
          </a:p>
        </p:txBody>
      </p:sp>
      <p:sp>
        <p:nvSpPr>
          <p:cNvPr id="43" name="qn-低价低能力"/>
          <p:cNvSpPr txBox="1"/>
          <p:nvPr/>
        </p:nvSpPr>
        <p:spPr>
          <a:xfrm>
            <a:off x="1843532" y="5033708"/>
            <a:ext cx="5372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价格竞争区</a:t>
            </a:r>
          </a:p>
        </p:txBody>
      </p:sp>
      <p:sp>
        <p:nvSpPr>
          <p:cNvPr id="44" name="q-高性价比"/>
          <p:cNvSpPr txBox="1"/>
          <p:nvPr/>
        </p:nvSpPr>
        <p:spPr>
          <a:xfrm>
            <a:off x="4861560" y="4821555"/>
            <a:ext cx="6731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00">
                <a:solidFill>
                  <a:srgbClr val="E0703A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高性价比</a:t>
            </a:r>
          </a:p>
        </p:txBody>
      </p:sp>
      <p:sp>
        <p:nvSpPr>
          <p:cNvPr id="45" name="qn-高性价比"/>
          <p:cNvSpPr txBox="1"/>
          <p:nvPr/>
        </p:nvSpPr>
        <p:spPr>
          <a:xfrm>
            <a:off x="4866132" y="5033708"/>
            <a:ext cx="7200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我们所在的位置</a:t>
            </a:r>
          </a:p>
        </p:txBody>
      </p:sp>
      <p:sp>
        <p:nvSpPr>
          <p:cNvPr id="46" name="halo-2"/>
          <p:cNvSpPr/>
          <p:nvPr/>
        </p:nvSpPr>
        <p:spPr>
          <a:xfrm>
            <a:off x="6749415" y="1604391"/>
            <a:ext cx="951738" cy="951738"/>
          </a:xfrm>
          <a:prstGeom prst="ellipse">
            <a:avLst/>
          </a:prstGeom>
          <a:solidFill>
            <a:srgbClr val="134C9C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bub-2"/>
          <p:cNvSpPr/>
          <p:nvPr/>
        </p:nvSpPr>
        <p:spPr>
          <a:xfrm>
            <a:off x="6812915" y="1667891"/>
            <a:ext cx="824738" cy="824738"/>
          </a:xfrm>
          <a:prstGeom prst="ellipse">
            <a:avLst/>
          </a:prstGeom>
          <a:gradFill rotWithShape="1">
            <a:gsLst>
              <a:gs pos="0">
                <a:srgbClr val="4773B2"/>
              </a:gs>
              <a:gs pos="100000">
                <a:srgbClr val="134C9C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bubv-2"/>
          <p:cNvSpPr txBox="1"/>
          <p:nvPr/>
        </p:nvSpPr>
        <p:spPr>
          <a:xfrm>
            <a:off x="7051992" y="1991392"/>
            <a:ext cx="34658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22.6</a:t>
            </a:r>
          </a:p>
        </p:txBody>
      </p:sp>
      <p:sp>
        <p:nvSpPr>
          <p:cNvPr id="49" name="bubn-2"/>
          <p:cNvSpPr txBox="1"/>
          <p:nvPr/>
        </p:nvSpPr>
        <p:spPr>
          <a:xfrm>
            <a:off x="6995604" y="1432973"/>
            <a:ext cx="4593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竞品 A</a:t>
            </a:r>
          </a:p>
        </p:txBody>
      </p:sp>
      <p:sp>
        <p:nvSpPr>
          <p:cNvPr id="50" name="halo-3"/>
          <p:cNvSpPr/>
          <p:nvPr/>
        </p:nvSpPr>
        <p:spPr>
          <a:xfrm>
            <a:off x="5634482" y="2214118"/>
            <a:ext cx="763524" cy="763524"/>
          </a:xfrm>
          <a:prstGeom prst="ellipse">
            <a:avLst/>
          </a:pr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bub-3"/>
          <p:cNvSpPr/>
          <p:nvPr/>
        </p:nvSpPr>
        <p:spPr>
          <a:xfrm>
            <a:off x="5697982" y="2277618"/>
            <a:ext cx="636524" cy="636524"/>
          </a:xfrm>
          <a:prstGeom prst="ellipse">
            <a:avLst/>
          </a:prstGeom>
          <a:gradFill rotWithShape="1">
            <a:gsLst>
              <a:gs pos="0">
                <a:srgbClr val="4D7EBB"/>
              </a:gs>
              <a:gs pos="100000">
                <a:srgbClr val="1B5AA8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bubv-3"/>
          <p:cNvSpPr txBox="1"/>
          <p:nvPr/>
        </p:nvSpPr>
        <p:spPr>
          <a:xfrm>
            <a:off x="5842953" y="2507012"/>
            <a:ext cx="34658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14.8</a:t>
            </a:r>
          </a:p>
        </p:txBody>
      </p:sp>
      <p:sp>
        <p:nvSpPr>
          <p:cNvPr id="53" name="bubn-3"/>
          <p:cNvSpPr txBox="1"/>
          <p:nvPr/>
        </p:nvSpPr>
        <p:spPr>
          <a:xfrm>
            <a:off x="5786565" y="2042700"/>
            <a:ext cx="4593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竞品 B</a:t>
            </a:r>
          </a:p>
        </p:txBody>
      </p:sp>
      <p:sp>
        <p:nvSpPr>
          <p:cNvPr id="54" name="halo-4"/>
          <p:cNvSpPr/>
          <p:nvPr/>
        </p:nvSpPr>
        <p:spPr>
          <a:xfrm>
            <a:off x="4830382" y="2698305"/>
            <a:ext cx="679069" cy="679069"/>
          </a:xfrm>
          <a:prstGeom prst="ellipse">
            <a:avLst/>
          </a:prstGeom>
          <a:solidFill>
            <a:srgbClr val="2468B6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bub-4"/>
          <p:cNvSpPr/>
          <p:nvPr/>
        </p:nvSpPr>
        <p:spPr>
          <a:xfrm>
            <a:off x="4893882" y="2761805"/>
            <a:ext cx="552069" cy="552069"/>
          </a:xfrm>
          <a:prstGeom prst="ellipse">
            <a:avLst/>
          </a:prstGeom>
          <a:gradFill rotWithShape="1">
            <a:gsLst>
              <a:gs pos="0">
                <a:srgbClr val="5489C6"/>
              </a:gs>
              <a:gs pos="100000">
                <a:srgbClr val="2468B6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bubv-4"/>
          <p:cNvSpPr txBox="1"/>
          <p:nvPr/>
        </p:nvSpPr>
        <p:spPr>
          <a:xfrm>
            <a:off x="4996624" y="2948972"/>
            <a:ext cx="34658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11.3</a:t>
            </a:r>
          </a:p>
        </p:txBody>
      </p:sp>
      <p:sp>
        <p:nvSpPr>
          <p:cNvPr id="57" name="bubn-4"/>
          <p:cNvSpPr txBox="1"/>
          <p:nvPr/>
        </p:nvSpPr>
        <p:spPr>
          <a:xfrm>
            <a:off x="4940236" y="2526887"/>
            <a:ext cx="4593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竞品 C</a:t>
            </a:r>
          </a:p>
        </p:txBody>
      </p:sp>
      <p:sp>
        <p:nvSpPr>
          <p:cNvPr id="58" name="halo-5"/>
          <p:cNvSpPr/>
          <p:nvPr/>
        </p:nvSpPr>
        <p:spPr>
          <a:xfrm>
            <a:off x="3896932" y="3763328"/>
            <a:ext cx="611505" cy="611505"/>
          </a:xfrm>
          <a:prstGeom prst="ellipse">
            <a:avLst/>
          </a:pr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bub-5"/>
          <p:cNvSpPr/>
          <p:nvPr/>
        </p:nvSpPr>
        <p:spPr>
          <a:xfrm>
            <a:off x="3960432" y="3826828"/>
            <a:ext cx="484505" cy="484505"/>
          </a:xfrm>
          <a:prstGeom prst="ellipse">
            <a:avLst/>
          </a:prstGeom>
          <a:gradFill rotWithShape="1">
            <a:gsLst>
              <a:gs pos="0">
                <a:srgbClr val="5C95CF"/>
              </a:gs>
              <a:gs pos="100000">
                <a:srgbClr val="2E77C2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bubv-5"/>
          <p:cNvSpPr txBox="1"/>
          <p:nvPr/>
        </p:nvSpPr>
        <p:spPr>
          <a:xfrm>
            <a:off x="4060571" y="3980212"/>
            <a:ext cx="28422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8.5</a:t>
            </a:r>
          </a:p>
        </p:txBody>
      </p:sp>
      <p:sp>
        <p:nvSpPr>
          <p:cNvPr id="61" name="bubn-5"/>
          <p:cNvSpPr txBox="1"/>
          <p:nvPr/>
        </p:nvSpPr>
        <p:spPr>
          <a:xfrm>
            <a:off x="3973005" y="3591909"/>
            <a:ext cx="4593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竞品 D</a:t>
            </a:r>
          </a:p>
        </p:txBody>
      </p:sp>
      <p:sp>
        <p:nvSpPr>
          <p:cNvPr id="62" name="halo-6"/>
          <p:cNvSpPr/>
          <p:nvPr/>
        </p:nvSpPr>
        <p:spPr>
          <a:xfrm>
            <a:off x="2735453" y="4011041"/>
            <a:ext cx="999998" cy="999998"/>
          </a:xfrm>
          <a:prstGeom prst="ellipse">
            <a:avLst/>
          </a:prstGeom>
          <a:solidFill>
            <a:srgbClr val="3985CD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bub-6"/>
          <p:cNvSpPr/>
          <p:nvPr/>
        </p:nvSpPr>
        <p:spPr>
          <a:xfrm>
            <a:off x="2798953" y="4074541"/>
            <a:ext cx="872998" cy="872998"/>
          </a:xfrm>
          <a:prstGeom prst="ellipse">
            <a:avLst/>
          </a:prstGeom>
          <a:gradFill rotWithShape="1">
            <a:gsLst>
              <a:gs pos="0">
                <a:srgbClr val="65A0D8"/>
              </a:gs>
              <a:gs pos="100000">
                <a:srgbClr val="3985CD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bubv-6"/>
          <p:cNvSpPr txBox="1"/>
          <p:nvPr/>
        </p:nvSpPr>
        <p:spPr>
          <a:xfrm>
            <a:off x="3062160" y="4422172"/>
            <a:ext cx="34658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24.6</a:t>
            </a:r>
          </a:p>
        </p:txBody>
      </p:sp>
      <p:sp>
        <p:nvSpPr>
          <p:cNvPr id="65" name="bubn-6"/>
          <p:cNvSpPr txBox="1"/>
          <p:nvPr/>
        </p:nvSpPr>
        <p:spPr>
          <a:xfrm>
            <a:off x="2958275" y="3839623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长尾厂商</a:t>
            </a:r>
          </a:p>
        </p:txBody>
      </p:sp>
      <p:sp>
        <p:nvSpPr>
          <p:cNvPr id="66" name="halo-1"/>
          <p:cNvSpPr/>
          <p:nvPr/>
        </p:nvSpPr>
        <p:spPr>
          <a:xfrm>
            <a:off x="6318885" y="3204337"/>
            <a:ext cx="845566" cy="845566"/>
          </a:xfrm>
          <a:prstGeom prst="ellipse">
            <a:avLst/>
          </a:pr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bub-1"/>
          <p:cNvSpPr/>
          <p:nvPr/>
        </p:nvSpPr>
        <p:spPr>
          <a:xfrm>
            <a:off x="6382385" y="3267837"/>
            <a:ext cx="718566" cy="718566"/>
          </a:xfrm>
          <a:prstGeom prst="ellipse">
            <a:avLst/>
          </a:prstGeom>
          <a:gradFill rotWithShape="1">
            <a:gsLst>
              <a:gs pos="0">
                <a:srgbClr val="E78F65"/>
              </a:gs>
              <a:gs pos="100000">
                <a:srgbClr val="E0703A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bubv-1"/>
          <p:cNvSpPr txBox="1"/>
          <p:nvPr/>
        </p:nvSpPr>
        <p:spPr>
          <a:xfrm>
            <a:off x="6568377" y="3538252"/>
            <a:ext cx="34658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18.2</a:t>
            </a:r>
          </a:p>
        </p:txBody>
      </p:sp>
      <p:sp>
        <p:nvSpPr>
          <p:cNvPr id="69" name="bubn-1"/>
          <p:cNvSpPr txBox="1"/>
          <p:nvPr/>
        </p:nvSpPr>
        <p:spPr>
          <a:xfrm>
            <a:off x="6521640" y="3032919"/>
            <a:ext cx="4400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本公司</a:t>
            </a:r>
          </a:p>
        </p:txBody>
      </p:sp>
      <p:sp>
        <p:nvSpPr>
          <p:cNvPr id="70" name="side-bar"/>
          <p:cNvSpPr/>
          <p:nvPr/>
        </p:nvSpPr>
        <p:spPr>
          <a:xfrm>
            <a:off x="8255000" y="15621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side-h"/>
          <p:cNvSpPr txBox="1"/>
          <p:nvPr/>
        </p:nvSpPr>
        <p:spPr>
          <a:xfrm>
            <a:off x="8413750" y="15692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对手画像</a:t>
            </a:r>
          </a:p>
        </p:txBody>
      </p:sp>
      <p:sp>
        <p:nvSpPr>
          <p:cNvPr id="72" name="side-p"/>
          <p:cNvSpPr txBox="1"/>
          <p:nvPr/>
        </p:nvSpPr>
        <p:spPr>
          <a:xfrm>
            <a:off x="8419465" y="1843961"/>
            <a:ext cx="117062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能力 / 价格 / 份额</a:t>
            </a:r>
          </a:p>
        </p:txBody>
      </p:sp>
      <p:sp>
        <p:nvSpPr>
          <p:cNvPr id="73" name="r-1"/>
          <p:cNvSpPr/>
          <p:nvPr/>
        </p:nvSpPr>
        <p:spPr>
          <a:xfrm>
            <a:off x="8255000" y="2260600"/>
            <a:ext cx="2984500" cy="482600"/>
          </a:xfrm>
          <a:custGeom>
            <a:avLst/>
            <a:gdLst/>
            <a:ahLst/>
            <a:cxnLst/>
            <a:rect l="0" t="0" r="r" b="b"/>
            <a:pathLst>
              <a:path w="2984500" h="482600">
                <a:moveTo>
                  <a:pt x="88900" y="0"/>
                </a:moveTo>
                <a:lnTo>
                  <a:pt x="2895600" y="0"/>
                </a:lnTo>
                <a:cubicBezTo>
                  <a:pt x="2944686" y="0"/>
                  <a:pt x="2984500" y="39814"/>
                  <a:pt x="2984500" y="88900"/>
                </a:cubicBezTo>
                <a:lnTo>
                  <a:pt x="2984500" y="393700"/>
                </a:lnTo>
                <a:cubicBezTo>
                  <a:pt x="2984500" y="442786"/>
                  <a:pt x="2944686" y="482600"/>
                  <a:pt x="2895600" y="482600"/>
                </a:cubicBezTo>
                <a:lnTo>
                  <a:pt x="88900" y="482600"/>
                </a:lnTo>
                <a:cubicBezTo>
                  <a:pt x="39814" y="482600"/>
                  <a:pt x="0" y="442786"/>
                  <a:pt x="0" y="3937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rb-1"/>
          <p:cNvSpPr/>
          <p:nvPr/>
        </p:nvSpPr>
        <p:spPr>
          <a:xfrm>
            <a:off x="8255000" y="2260600"/>
            <a:ext cx="31750" cy="482600"/>
          </a:xfrm>
          <a:custGeom>
            <a:avLst/>
            <a:gdLst/>
            <a:ahLst/>
            <a:cxnLst/>
            <a:rect l="0" t="0" r="r" b="b"/>
            <a:pathLst>
              <a:path w="31750" h="4826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66725"/>
                </a:lnTo>
                <a:cubicBezTo>
                  <a:pt x="31750" y="475488"/>
                  <a:pt x="24638" y="482600"/>
                  <a:pt x="15875" y="482600"/>
                </a:cubicBezTo>
                <a:lnTo>
                  <a:pt x="15875" y="482600"/>
                </a:lnTo>
                <a:cubicBezTo>
                  <a:pt x="7112" y="482600"/>
                  <a:pt x="0" y="475488"/>
                  <a:pt x="0" y="4667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rd-1"/>
          <p:cNvSpPr/>
          <p:nvPr/>
        </p:nvSpPr>
        <p:spPr>
          <a:xfrm>
            <a:off x="8439150" y="2419350"/>
            <a:ext cx="165100" cy="165100"/>
          </a:xfrm>
          <a:prstGeom prst="ellipse">
            <a:avLst/>
          </a:prstGeom>
          <a:solidFill>
            <a:srgbClr val="E0703A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rdt-1"/>
          <p:cNvSpPr txBox="1"/>
          <p:nvPr/>
        </p:nvSpPr>
        <p:spPr>
          <a:xfrm>
            <a:off x="8456803" y="24302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77" name="rn-1"/>
          <p:cNvSpPr txBox="1"/>
          <p:nvPr/>
        </p:nvSpPr>
        <p:spPr>
          <a:xfrm>
            <a:off x="8696960" y="2395855"/>
            <a:ext cx="52387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本公司</a:t>
            </a:r>
          </a:p>
        </p:txBody>
      </p:sp>
      <p:sp>
        <p:nvSpPr>
          <p:cNvPr id="78" name="rl-1-1"/>
          <p:cNvSpPr txBox="1"/>
          <p:nvPr/>
        </p:nvSpPr>
        <p:spPr>
          <a:xfrm>
            <a:off x="9620885" y="2341308"/>
            <a:ext cx="2654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能力</a:t>
            </a:r>
          </a:p>
        </p:txBody>
      </p:sp>
      <p:sp>
        <p:nvSpPr>
          <p:cNvPr id="79" name="rv-1-1"/>
          <p:cNvSpPr txBox="1"/>
          <p:nvPr/>
        </p:nvSpPr>
        <p:spPr>
          <a:xfrm>
            <a:off x="9611487" y="2482882"/>
            <a:ext cx="28422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8.4</a:t>
            </a:r>
          </a:p>
        </p:txBody>
      </p:sp>
      <p:sp>
        <p:nvSpPr>
          <p:cNvPr id="80" name="rl-1-2"/>
          <p:cNvSpPr txBox="1"/>
          <p:nvPr/>
        </p:nvSpPr>
        <p:spPr>
          <a:xfrm>
            <a:off x="10141585" y="2341308"/>
            <a:ext cx="2654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价格</a:t>
            </a:r>
          </a:p>
        </p:txBody>
      </p:sp>
      <p:sp>
        <p:nvSpPr>
          <p:cNvPr id="81" name="rv-1-2"/>
          <p:cNvSpPr txBox="1"/>
          <p:nvPr/>
        </p:nvSpPr>
        <p:spPr>
          <a:xfrm>
            <a:off x="10132187" y="2482882"/>
            <a:ext cx="28422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4.6</a:t>
            </a:r>
          </a:p>
        </p:txBody>
      </p:sp>
      <p:sp>
        <p:nvSpPr>
          <p:cNvPr id="82" name="rl-1-3"/>
          <p:cNvSpPr txBox="1"/>
          <p:nvPr/>
        </p:nvSpPr>
        <p:spPr>
          <a:xfrm>
            <a:off x="10662285" y="2341308"/>
            <a:ext cx="2654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份额</a:t>
            </a:r>
          </a:p>
        </p:txBody>
      </p:sp>
      <p:sp>
        <p:nvSpPr>
          <p:cNvPr id="83" name="rv-1-3"/>
          <p:cNvSpPr txBox="1"/>
          <p:nvPr/>
        </p:nvSpPr>
        <p:spPr>
          <a:xfrm>
            <a:off x="10590530" y="2482882"/>
            <a:ext cx="40894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18.2%</a:t>
            </a:r>
          </a:p>
        </p:txBody>
      </p:sp>
      <p:sp>
        <p:nvSpPr>
          <p:cNvPr id="84" name="r-2"/>
          <p:cNvSpPr/>
          <p:nvPr/>
        </p:nvSpPr>
        <p:spPr>
          <a:xfrm>
            <a:off x="8255000" y="2844800"/>
            <a:ext cx="2984500" cy="482600"/>
          </a:xfrm>
          <a:custGeom>
            <a:avLst/>
            <a:gdLst/>
            <a:ahLst/>
            <a:cxnLst/>
            <a:rect l="0" t="0" r="r" b="b"/>
            <a:pathLst>
              <a:path w="2984500" h="482600">
                <a:moveTo>
                  <a:pt x="88900" y="0"/>
                </a:moveTo>
                <a:lnTo>
                  <a:pt x="2895600" y="0"/>
                </a:lnTo>
                <a:cubicBezTo>
                  <a:pt x="2944686" y="0"/>
                  <a:pt x="2984500" y="39814"/>
                  <a:pt x="2984500" y="88900"/>
                </a:cubicBezTo>
                <a:lnTo>
                  <a:pt x="2984500" y="393700"/>
                </a:lnTo>
                <a:cubicBezTo>
                  <a:pt x="2984500" y="442786"/>
                  <a:pt x="2944686" y="482600"/>
                  <a:pt x="2895600" y="482600"/>
                </a:cubicBezTo>
                <a:lnTo>
                  <a:pt x="88900" y="482600"/>
                </a:lnTo>
                <a:cubicBezTo>
                  <a:pt x="39814" y="482600"/>
                  <a:pt x="0" y="442786"/>
                  <a:pt x="0" y="3937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rb-2"/>
          <p:cNvSpPr/>
          <p:nvPr/>
        </p:nvSpPr>
        <p:spPr>
          <a:xfrm>
            <a:off x="8255000" y="2844800"/>
            <a:ext cx="31750" cy="482600"/>
          </a:xfrm>
          <a:custGeom>
            <a:avLst/>
            <a:gdLst/>
            <a:ahLst/>
            <a:cxnLst/>
            <a:rect l="0" t="0" r="r" b="b"/>
            <a:pathLst>
              <a:path w="31750" h="4826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66725"/>
                </a:lnTo>
                <a:cubicBezTo>
                  <a:pt x="31750" y="475488"/>
                  <a:pt x="24638" y="482600"/>
                  <a:pt x="15875" y="482600"/>
                </a:cubicBezTo>
                <a:lnTo>
                  <a:pt x="15875" y="482600"/>
                </a:lnTo>
                <a:cubicBezTo>
                  <a:pt x="7112" y="482600"/>
                  <a:pt x="0" y="475488"/>
                  <a:pt x="0" y="4667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rd-2"/>
          <p:cNvSpPr/>
          <p:nvPr/>
        </p:nvSpPr>
        <p:spPr>
          <a:xfrm>
            <a:off x="8439150" y="3003550"/>
            <a:ext cx="165100" cy="165100"/>
          </a:xfrm>
          <a:prstGeom prst="ellipse">
            <a:avLst/>
          </a:prstGeom>
          <a:solidFill>
            <a:srgbClr val="134C9C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rdt-2"/>
          <p:cNvSpPr txBox="1"/>
          <p:nvPr/>
        </p:nvSpPr>
        <p:spPr>
          <a:xfrm>
            <a:off x="8456803" y="30144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88" name="rn-2"/>
          <p:cNvSpPr txBox="1"/>
          <p:nvPr/>
        </p:nvSpPr>
        <p:spPr>
          <a:xfrm>
            <a:off x="8696960" y="2980055"/>
            <a:ext cx="5486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竞品 A</a:t>
            </a:r>
          </a:p>
        </p:txBody>
      </p:sp>
      <p:sp>
        <p:nvSpPr>
          <p:cNvPr id="89" name="rl-2-1"/>
          <p:cNvSpPr txBox="1"/>
          <p:nvPr/>
        </p:nvSpPr>
        <p:spPr>
          <a:xfrm>
            <a:off x="9620885" y="2925508"/>
            <a:ext cx="2654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能力</a:t>
            </a:r>
          </a:p>
        </p:txBody>
      </p:sp>
      <p:sp>
        <p:nvSpPr>
          <p:cNvPr id="90" name="rv-2-1"/>
          <p:cNvSpPr txBox="1"/>
          <p:nvPr/>
        </p:nvSpPr>
        <p:spPr>
          <a:xfrm>
            <a:off x="9611487" y="3067082"/>
            <a:ext cx="28422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9.2</a:t>
            </a:r>
          </a:p>
        </p:txBody>
      </p:sp>
      <p:sp>
        <p:nvSpPr>
          <p:cNvPr id="91" name="rl-2-2"/>
          <p:cNvSpPr txBox="1"/>
          <p:nvPr/>
        </p:nvSpPr>
        <p:spPr>
          <a:xfrm>
            <a:off x="10141585" y="2925508"/>
            <a:ext cx="2654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价格</a:t>
            </a:r>
          </a:p>
        </p:txBody>
      </p:sp>
      <p:sp>
        <p:nvSpPr>
          <p:cNvPr id="92" name="rv-2-2"/>
          <p:cNvSpPr txBox="1"/>
          <p:nvPr/>
        </p:nvSpPr>
        <p:spPr>
          <a:xfrm>
            <a:off x="10132187" y="3067082"/>
            <a:ext cx="28422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8.8</a:t>
            </a:r>
          </a:p>
        </p:txBody>
      </p:sp>
      <p:sp>
        <p:nvSpPr>
          <p:cNvPr id="93" name="rl-2-3"/>
          <p:cNvSpPr txBox="1"/>
          <p:nvPr/>
        </p:nvSpPr>
        <p:spPr>
          <a:xfrm>
            <a:off x="10662285" y="2925508"/>
            <a:ext cx="2654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份额</a:t>
            </a:r>
          </a:p>
        </p:txBody>
      </p:sp>
      <p:sp>
        <p:nvSpPr>
          <p:cNvPr id="94" name="rv-2-3"/>
          <p:cNvSpPr txBox="1"/>
          <p:nvPr/>
        </p:nvSpPr>
        <p:spPr>
          <a:xfrm>
            <a:off x="10590530" y="3067082"/>
            <a:ext cx="40894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22.6%</a:t>
            </a:r>
          </a:p>
        </p:txBody>
      </p:sp>
      <p:sp>
        <p:nvSpPr>
          <p:cNvPr id="95" name="r-3"/>
          <p:cNvSpPr/>
          <p:nvPr/>
        </p:nvSpPr>
        <p:spPr>
          <a:xfrm>
            <a:off x="8255000" y="3429000"/>
            <a:ext cx="2984500" cy="482600"/>
          </a:xfrm>
          <a:custGeom>
            <a:avLst/>
            <a:gdLst/>
            <a:ahLst/>
            <a:cxnLst/>
            <a:rect l="0" t="0" r="r" b="b"/>
            <a:pathLst>
              <a:path w="2984500" h="482600">
                <a:moveTo>
                  <a:pt x="88900" y="0"/>
                </a:moveTo>
                <a:lnTo>
                  <a:pt x="2895600" y="0"/>
                </a:lnTo>
                <a:cubicBezTo>
                  <a:pt x="2944686" y="0"/>
                  <a:pt x="2984500" y="39814"/>
                  <a:pt x="2984500" y="88900"/>
                </a:cubicBezTo>
                <a:lnTo>
                  <a:pt x="2984500" y="393700"/>
                </a:lnTo>
                <a:cubicBezTo>
                  <a:pt x="2984500" y="442786"/>
                  <a:pt x="2944686" y="482600"/>
                  <a:pt x="2895600" y="482600"/>
                </a:cubicBezTo>
                <a:lnTo>
                  <a:pt x="88900" y="482600"/>
                </a:lnTo>
                <a:cubicBezTo>
                  <a:pt x="39814" y="482600"/>
                  <a:pt x="0" y="442786"/>
                  <a:pt x="0" y="3937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rb-3"/>
          <p:cNvSpPr/>
          <p:nvPr/>
        </p:nvSpPr>
        <p:spPr>
          <a:xfrm>
            <a:off x="8255000" y="3429000"/>
            <a:ext cx="31750" cy="482600"/>
          </a:xfrm>
          <a:custGeom>
            <a:avLst/>
            <a:gdLst/>
            <a:ahLst/>
            <a:cxnLst/>
            <a:rect l="0" t="0" r="r" b="b"/>
            <a:pathLst>
              <a:path w="31750" h="4826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66725"/>
                </a:lnTo>
                <a:cubicBezTo>
                  <a:pt x="31750" y="475488"/>
                  <a:pt x="24638" y="482600"/>
                  <a:pt x="15875" y="482600"/>
                </a:cubicBezTo>
                <a:lnTo>
                  <a:pt x="15875" y="482600"/>
                </a:lnTo>
                <a:cubicBezTo>
                  <a:pt x="7112" y="482600"/>
                  <a:pt x="0" y="475488"/>
                  <a:pt x="0" y="4667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rd-3"/>
          <p:cNvSpPr/>
          <p:nvPr/>
        </p:nvSpPr>
        <p:spPr>
          <a:xfrm>
            <a:off x="8439150" y="3587750"/>
            <a:ext cx="165100" cy="165100"/>
          </a:xfrm>
          <a:prstGeom prst="ellipse">
            <a:avLst/>
          </a:prstGeom>
          <a:solidFill>
            <a:srgbClr val="1B5AA8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rdt-3"/>
          <p:cNvSpPr txBox="1"/>
          <p:nvPr/>
        </p:nvSpPr>
        <p:spPr>
          <a:xfrm>
            <a:off x="8456803" y="35986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1B5AA8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99" name="rn-3"/>
          <p:cNvSpPr txBox="1"/>
          <p:nvPr/>
        </p:nvSpPr>
        <p:spPr>
          <a:xfrm>
            <a:off x="8696960" y="3564255"/>
            <a:ext cx="5486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竞品 B</a:t>
            </a:r>
          </a:p>
        </p:txBody>
      </p:sp>
      <p:sp>
        <p:nvSpPr>
          <p:cNvPr id="100" name="rl-3-1"/>
          <p:cNvSpPr txBox="1"/>
          <p:nvPr/>
        </p:nvSpPr>
        <p:spPr>
          <a:xfrm>
            <a:off x="9620885" y="3509708"/>
            <a:ext cx="2654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能力</a:t>
            </a:r>
          </a:p>
        </p:txBody>
      </p:sp>
      <p:sp>
        <p:nvSpPr>
          <p:cNvPr id="101" name="rv-3-1"/>
          <p:cNvSpPr txBox="1"/>
          <p:nvPr/>
        </p:nvSpPr>
        <p:spPr>
          <a:xfrm>
            <a:off x="9611487" y="3651282"/>
            <a:ext cx="28422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7.2</a:t>
            </a:r>
          </a:p>
        </p:txBody>
      </p:sp>
      <p:sp>
        <p:nvSpPr>
          <p:cNvPr id="102" name="rl-3-2"/>
          <p:cNvSpPr txBox="1"/>
          <p:nvPr/>
        </p:nvSpPr>
        <p:spPr>
          <a:xfrm>
            <a:off x="10141585" y="3509708"/>
            <a:ext cx="2654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价格</a:t>
            </a:r>
          </a:p>
        </p:txBody>
      </p:sp>
      <p:sp>
        <p:nvSpPr>
          <p:cNvPr id="103" name="rv-3-2"/>
          <p:cNvSpPr txBox="1"/>
          <p:nvPr/>
        </p:nvSpPr>
        <p:spPr>
          <a:xfrm>
            <a:off x="10132187" y="3651282"/>
            <a:ext cx="28422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7.4</a:t>
            </a:r>
          </a:p>
        </p:txBody>
      </p:sp>
      <p:sp>
        <p:nvSpPr>
          <p:cNvPr id="104" name="rl-3-3"/>
          <p:cNvSpPr txBox="1"/>
          <p:nvPr/>
        </p:nvSpPr>
        <p:spPr>
          <a:xfrm>
            <a:off x="10662285" y="3509708"/>
            <a:ext cx="2654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份额</a:t>
            </a:r>
          </a:p>
        </p:txBody>
      </p:sp>
      <p:sp>
        <p:nvSpPr>
          <p:cNvPr id="105" name="rv-3-3"/>
          <p:cNvSpPr txBox="1"/>
          <p:nvPr/>
        </p:nvSpPr>
        <p:spPr>
          <a:xfrm>
            <a:off x="10590530" y="3651282"/>
            <a:ext cx="40894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14.8%</a:t>
            </a:r>
          </a:p>
        </p:txBody>
      </p:sp>
      <p:sp>
        <p:nvSpPr>
          <p:cNvPr id="106" name="r-4"/>
          <p:cNvSpPr/>
          <p:nvPr/>
        </p:nvSpPr>
        <p:spPr>
          <a:xfrm>
            <a:off x="8255000" y="4013200"/>
            <a:ext cx="2984500" cy="482600"/>
          </a:xfrm>
          <a:custGeom>
            <a:avLst/>
            <a:gdLst/>
            <a:ahLst/>
            <a:cxnLst/>
            <a:rect l="0" t="0" r="r" b="b"/>
            <a:pathLst>
              <a:path w="2984500" h="482600">
                <a:moveTo>
                  <a:pt x="88900" y="0"/>
                </a:moveTo>
                <a:lnTo>
                  <a:pt x="2895600" y="0"/>
                </a:lnTo>
                <a:cubicBezTo>
                  <a:pt x="2944686" y="0"/>
                  <a:pt x="2984500" y="39814"/>
                  <a:pt x="2984500" y="88900"/>
                </a:cubicBezTo>
                <a:lnTo>
                  <a:pt x="2984500" y="393700"/>
                </a:lnTo>
                <a:cubicBezTo>
                  <a:pt x="2984500" y="442786"/>
                  <a:pt x="2944686" y="482600"/>
                  <a:pt x="2895600" y="482600"/>
                </a:cubicBezTo>
                <a:lnTo>
                  <a:pt x="88900" y="482600"/>
                </a:lnTo>
                <a:cubicBezTo>
                  <a:pt x="39814" y="482600"/>
                  <a:pt x="0" y="442786"/>
                  <a:pt x="0" y="3937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7" name="rb-4"/>
          <p:cNvSpPr/>
          <p:nvPr/>
        </p:nvSpPr>
        <p:spPr>
          <a:xfrm>
            <a:off x="8255000" y="4013200"/>
            <a:ext cx="31750" cy="482600"/>
          </a:xfrm>
          <a:custGeom>
            <a:avLst/>
            <a:gdLst/>
            <a:ahLst/>
            <a:cxnLst/>
            <a:rect l="0" t="0" r="r" b="b"/>
            <a:pathLst>
              <a:path w="31750" h="4826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66725"/>
                </a:lnTo>
                <a:cubicBezTo>
                  <a:pt x="31750" y="475488"/>
                  <a:pt x="24638" y="482600"/>
                  <a:pt x="15875" y="482600"/>
                </a:cubicBezTo>
                <a:lnTo>
                  <a:pt x="15875" y="482600"/>
                </a:lnTo>
                <a:cubicBezTo>
                  <a:pt x="7112" y="482600"/>
                  <a:pt x="0" y="475488"/>
                  <a:pt x="0" y="4667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8" name="rd-4"/>
          <p:cNvSpPr/>
          <p:nvPr/>
        </p:nvSpPr>
        <p:spPr>
          <a:xfrm>
            <a:off x="8439150" y="4171950"/>
            <a:ext cx="165100" cy="165100"/>
          </a:xfrm>
          <a:prstGeom prst="ellipse">
            <a:avLst/>
          </a:prstGeom>
          <a:solidFill>
            <a:srgbClr val="2468B6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rdt-4"/>
          <p:cNvSpPr txBox="1"/>
          <p:nvPr/>
        </p:nvSpPr>
        <p:spPr>
          <a:xfrm>
            <a:off x="8456803" y="41828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110" name="rn-4"/>
          <p:cNvSpPr txBox="1"/>
          <p:nvPr/>
        </p:nvSpPr>
        <p:spPr>
          <a:xfrm>
            <a:off x="8696960" y="4148455"/>
            <a:ext cx="5486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竞品 C</a:t>
            </a:r>
          </a:p>
        </p:txBody>
      </p:sp>
      <p:sp>
        <p:nvSpPr>
          <p:cNvPr id="111" name="rl-4-1"/>
          <p:cNvSpPr txBox="1"/>
          <p:nvPr/>
        </p:nvSpPr>
        <p:spPr>
          <a:xfrm>
            <a:off x="9620885" y="4093908"/>
            <a:ext cx="2654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能力</a:t>
            </a:r>
          </a:p>
        </p:txBody>
      </p:sp>
      <p:sp>
        <p:nvSpPr>
          <p:cNvPr id="112" name="rv-4-1"/>
          <p:cNvSpPr txBox="1"/>
          <p:nvPr/>
        </p:nvSpPr>
        <p:spPr>
          <a:xfrm>
            <a:off x="9611487" y="4235482"/>
            <a:ext cx="28422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5.8</a:t>
            </a:r>
          </a:p>
        </p:txBody>
      </p:sp>
      <p:sp>
        <p:nvSpPr>
          <p:cNvPr id="113" name="rl-4-2"/>
          <p:cNvSpPr txBox="1"/>
          <p:nvPr/>
        </p:nvSpPr>
        <p:spPr>
          <a:xfrm>
            <a:off x="10141585" y="4093908"/>
            <a:ext cx="2654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价格</a:t>
            </a:r>
          </a:p>
        </p:txBody>
      </p:sp>
      <p:sp>
        <p:nvSpPr>
          <p:cNvPr id="114" name="rv-4-2"/>
          <p:cNvSpPr txBox="1"/>
          <p:nvPr/>
        </p:nvSpPr>
        <p:spPr>
          <a:xfrm>
            <a:off x="10132187" y="4235482"/>
            <a:ext cx="28422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6.2</a:t>
            </a:r>
          </a:p>
        </p:txBody>
      </p:sp>
      <p:sp>
        <p:nvSpPr>
          <p:cNvPr id="115" name="rl-4-3"/>
          <p:cNvSpPr txBox="1"/>
          <p:nvPr/>
        </p:nvSpPr>
        <p:spPr>
          <a:xfrm>
            <a:off x="10662285" y="4093908"/>
            <a:ext cx="2654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份额</a:t>
            </a:r>
          </a:p>
        </p:txBody>
      </p:sp>
      <p:sp>
        <p:nvSpPr>
          <p:cNvPr id="116" name="rv-4-3"/>
          <p:cNvSpPr txBox="1"/>
          <p:nvPr/>
        </p:nvSpPr>
        <p:spPr>
          <a:xfrm>
            <a:off x="10590530" y="4235482"/>
            <a:ext cx="40894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11.3%</a:t>
            </a:r>
          </a:p>
        </p:txBody>
      </p:sp>
      <p:sp>
        <p:nvSpPr>
          <p:cNvPr id="117" name="r-5"/>
          <p:cNvSpPr/>
          <p:nvPr/>
        </p:nvSpPr>
        <p:spPr>
          <a:xfrm>
            <a:off x="8255000" y="4597400"/>
            <a:ext cx="2984500" cy="482600"/>
          </a:xfrm>
          <a:custGeom>
            <a:avLst/>
            <a:gdLst/>
            <a:ahLst/>
            <a:cxnLst/>
            <a:rect l="0" t="0" r="r" b="b"/>
            <a:pathLst>
              <a:path w="2984500" h="482600">
                <a:moveTo>
                  <a:pt x="88900" y="0"/>
                </a:moveTo>
                <a:lnTo>
                  <a:pt x="2895600" y="0"/>
                </a:lnTo>
                <a:cubicBezTo>
                  <a:pt x="2944686" y="0"/>
                  <a:pt x="2984500" y="39814"/>
                  <a:pt x="2984500" y="88900"/>
                </a:cubicBezTo>
                <a:lnTo>
                  <a:pt x="2984500" y="393700"/>
                </a:lnTo>
                <a:cubicBezTo>
                  <a:pt x="2984500" y="442786"/>
                  <a:pt x="2944686" y="482600"/>
                  <a:pt x="2895600" y="482600"/>
                </a:cubicBezTo>
                <a:lnTo>
                  <a:pt x="88900" y="482600"/>
                </a:lnTo>
                <a:cubicBezTo>
                  <a:pt x="39814" y="482600"/>
                  <a:pt x="0" y="442786"/>
                  <a:pt x="0" y="3937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8" name="rb-5"/>
          <p:cNvSpPr/>
          <p:nvPr/>
        </p:nvSpPr>
        <p:spPr>
          <a:xfrm>
            <a:off x="8255000" y="4597400"/>
            <a:ext cx="31750" cy="482600"/>
          </a:xfrm>
          <a:custGeom>
            <a:avLst/>
            <a:gdLst/>
            <a:ahLst/>
            <a:cxnLst/>
            <a:rect l="0" t="0" r="r" b="b"/>
            <a:pathLst>
              <a:path w="31750" h="4826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66725"/>
                </a:lnTo>
                <a:cubicBezTo>
                  <a:pt x="31750" y="475488"/>
                  <a:pt x="24638" y="482600"/>
                  <a:pt x="15875" y="482600"/>
                </a:cubicBezTo>
                <a:lnTo>
                  <a:pt x="15875" y="482600"/>
                </a:lnTo>
                <a:cubicBezTo>
                  <a:pt x="7112" y="482600"/>
                  <a:pt x="0" y="475488"/>
                  <a:pt x="0" y="4667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9" name="rd-5"/>
          <p:cNvSpPr/>
          <p:nvPr/>
        </p:nvSpPr>
        <p:spPr>
          <a:xfrm>
            <a:off x="8439150" y="4756150"/>
            <a:ext cx="165100" cy="165100"/>
          </a:xfrm>
          <a:prstGeom prst="ellipse">
            <a:avLst/>
          </a:prstGeom>
          <a:solidFill>
            <a:srgbClr val="2E77C2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0" name="rdt-5"/>
          <p:cNvSpPr txBox="1"/>
          <p:nvPr/>
        </p:nvSpPr>
        <p:spPr>
          <a:xfrm>
            <a:off x="8456803" y="47670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  <p:sp>
        <p:nvSpPr>
          <p:cNvPr id="121" name="rn-5"/>
          <p:cNvSpPr txBox="1"/>
          <p:nvPr/>
        </p:nvSpPr>
        <p:spPr>
          <a:xfrm>
            <a:off x="8696960" y="4732655"/>
            <a:ext cx="5486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竞品 D</a:t>
            </a:r>
          </a:p>
        </p:txBody>
      </p:sp>
      <p:sp>
        <p:nvSpPr>
          <p:cNvPr id="122" name="rl-5-1"/>
          <p:cNvSpPr txBox="1"/>
          <p:nvPr/>
        </p:nvSpPr>
        <p:spPr>
          <a:xfrm>
            <a:off x="9620885" y="4678108"/>
            <a:ext cx="2654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能力</a:t>
            </a:r>
          </a:p>
        </p:txBody>
      </p:sp>
      <p:sp>
        <p:nvSpPr>
          <p:cNvPr id="123" name="rv-5-1"/>
          <p:cNvSpPr txBox="1"/>
          <p:nvPr/>
        </p:nvSpPr>
        <p:spPr>
          <a:xfrm>
            <a:off x="9611487" y="4819682"/>
            <a:ext cx="28422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4.2</a:t>
            </a:r>
          </a:p>
        </p:txBody>
      </p:sp>
      <p:sp>
        <p:nvSpPr>
          <p:cNvPr id="124" name="rl-5-2"/>
          <p:cNvSpPr txBox="1"/>
          <p:nvPr/>
        </p:nvSpPr>
        <p:spPr>
          <a:xfrm>
            <a:off x="10141585" y="4678108"/>
            <a:ext cx="2654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价格</a:t>
            </a:r>
          </a:p>
        </p:txBody>
      </p:sp>
      <p:sp>
        <p:nvSpPr>
          <p:cNvPr id="125" name="rv-5-2"/>
          <p:cNvSpPr txBox="1"/>
          <p:nvPr/>
        </p:nvSpPr>
        <p:spPr>
          <a:xfrm>
            <a:off x="10132187" y="4819682"/>
            <a:ext cx="28422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3.4</a:t>
            </a:r>
          </a:p>
        </p:txBody>
      </p:sp>
      <p:sp>
        <p:nvSpPr>
          <p:cNvPr id="126" name="rl-5-3"/>
          <p:cNvSpPr txBox="1"/>
          <p:nvPr/>
        </p:nvSpPr>
        <p:spPr>
          <a:xfrm>
            <a:off x="10662285" y="4678108"/>
            <a:ext cx="2654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份额</a:t>
            </a:r>
          </a:p>
        </p:txBody>
      </p:sp>
      <p:sp>
        <p:nvSpPr>
          <p:cNvPr id="127" name="rv-5-3"/>
          <p:cNvSpPr txBox="1"/>
          <p:nvPr/>
        </p:nvSpPr>
        <p:spPr>
          <a:xfrm>
            <a:off x="10621708" y="4819682"/>
            <a:ext cx="34658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8.5%</a:t>
            </a:r>
          </a:p>
        </p:txBody>
      </p:sp>
      <p:sp>
        <p:nvSpPr>
          <p:cNvPr id="128" name="r-6"/>
          <p:cNvSpPr/>
          <p:nvPr/>
        </p:nvSpPr>
        <p:spPr>
          <a:xfrm>
            <a:off x="8255000" y="5181600"/>
            <a:ext cx="2984500" cy="482600"/>
          </a:xfrm>
          <a:custGeom>
            <a:avLst/>
            <a:gdLst/>
            <a:ahLst/>
            <a:cxnLst/>
            <a:rect l="0" t="0" r="r" b="b"/>
            <a:pathLst>
              <a:path w="2984500" h="482600">
                <a:moveTo>
                  <a:pt x="88900" y="0"/>
                </a:moveTo>
                <a:lnTo>
                  <a:pt x="2895600" y="0"/>
                </a:lnTo>
                <a:cubicBezTo>
                  <a:pt x="2944686" y="0"/>
                  <a:pt x="2984500" y="39814"/>
                  <a:pt x="2984500" y="88900"/>
                </a:cubicBezTo>
                <a:lnTo>
                  <a:pt x="2984500" y="393700"/>
                </a:lnTo>
                <a:cubicBezTo>
                  <a:pt x="2984500" y="442786"/>
                  <a:pt x="2944686" y="482600"/>
                  <a:pt x="2895600" y="482600"/>
                </a:cubicBezTo>
                <a:lnTo>
                  <a:pt x="88900" y="482600"/>
                </a:lnTo>
                <a:cubicBezTo>
                  <a:pt x="39814" y="482600"/>
                  <a:pt x="0" y="442786"/>
                  <a:pt x="0" y="3937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9" name="rb-6"/>
          <p:cNvSpPr/>
          <p:nvPr/>
        </p:nvSpPr>
        <p:spPr>
          <a:xfrm>
            <a:off x="8255000" y="5181600"/>
            <a:ext cx="31750" cy="482600"/>
          </a:xfrm>
          <a:custGeom>
            <a:avLst/>
            <a:gdLst/>
            <a:ahLst/>
            <a:cxnLst/>
            <a:rect l="0" t="0" r="r" b="b"/>
            <a:pathLst>
              <a:path w="31750" h="4826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66725"/>
                </a:lnTo>
                <a:cubicBezTo>
                  <a:pt x="31750" y="475488"/>
                  <a:pt x="24638" y="482600"/>
                  <a:pt x="15875" y="482600"/>
                </a:cubicBezTo>
                <a:lnTo>
                  <a:pt x="15875" y="482600"/>
                </a:lnTo>
                <a:cubicBezTo>
                  <a:pt x="7112" y="482600"/>
                  <a:pt x="0" y="475488"/>
                  <a:pt x="0" y="4667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0" name="rd-6"/>
          <p:cNvSpPr/>
          <p:nvPr/>
        </p:nvSpPr>
        <p:spPr>
          <a:xfrm>
            <a:off x="8439150" y="5340350"/>
            <a:ext cx="165100" cy="165100"/>
          </a:xfrm>
          <a:prstGeom prst="ellipse">
            <a:avLst/>
          </a:prstGeom>
          <a:solidFill>
            <a:srgbClr val="3985CD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1" name="rdt-6"/>
          <p:cNvSpPr txBox="1"/>
          <p:nvPr/>
        </p:nvSpPr>
        <p:spPr>
          <a:xfrm>
            <a:off x="8456803" y="53512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6</a:t>
            </a:r>
          </a:p>
        </p:txBody>
      </p:sp>
      <p:sp>
        <p:nvSpPr>
          <p:cNvPr id="132" name="rn-6"/>
          <p:cNvSpPr txBox="1"/>
          <p:nvPr/>
        </p:nvSpPr>
        <p:spPr>
          <a:xfrm>
            <a:off x="8696960" y="5316855"/>
            <a:ext cx="6604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长尾厂商</a:t>
            </a:r>
          </a:p>
        </p:txBody>
      </p:sp>
      <p:sp>
        <p:nvSpPr>
          <p:cNvPr id="133" name="rl-6-1"/>
          <p:cNvSpPr txBox="1"/>
          <p:nvPr/>
        </p:nvSpPr>
        <p:spPr>
          <a:xfrm>
            <a:off x="9620885" y="5262308"/>
            <a:ext cx="2654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能力</a:t>
            </a:r>
          </a:p>
        </p:txBody>
      </p:sp>
      <p:sp>
        <p:nvSpPr>
          <p:cNvPr id="134" name="rv-6-1"/>
          <p:cNvSpPr txBox="1"/>
          <p:nvPr/>
        </p:nvSpPr>
        <p:spPr>
          <a:xfrm>
            <a:off x="9611487" y="5403882"/>
            <a:ext cx="28422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2.6</a:t>
            </a:r>
          </a:p>
        </p:txBody>
      </p:sp>
      <p:sp>
        <p:nvSpPr>
          <p:cNvPr id="135" name="rl-6-2"/>
          <p:cNvSpPr txBox="1"/>
          <p:nvPr/>
        </p:nvSpPr>
        <p:spPr>
          <a:xfrm>
            <a:off x="10141585" y="5262308"/>
            <a:ext cx="2654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价格</a:t>
            </a:r>
          </a:p>
        </p:txBody>
      </p:sp>
      <p:sp>
        <p:nvSpPr>
          <p:cNvPr id="136" name="rv-6-2"/>
          <p:cNvSpPr txBox="1"/>
          <p:nvPr/>
        </p:nvSpPr>
        <p:spPr>
          <a:xfrm>
            <a:off x="10132187" y="5403882"/>
            <a:ext cx="28422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2.2</a:t>
            </a:r>
          </a:p>
        </p:txBody>
      </p:sp>
      <p:sp>
        <p:nvSpPr>
          <p:cNvPr id="137" name="rl-6-3"/>
          <p:cNvSpPr txBox="1"/>
          <p:nvPr/>
        </p:nvSpPr>
        <p:spPr>
          <a:xfrm>
            <a:off x="10662285" y="5262308"/>
            <a:ext cx="2654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份额</a:t>
            </a:r>
          </a:p>
        </p:txBody>
      </p:sp>
      <p:sp>
        <p:nvSpPr>
          <p:cNvPr id="138" name="rv-6-3"/>
          <p:cNvSpPr txBox="1"/>
          <p:nvPr/>
        </p:nvSpPr>
        <p:spPr>
          <a:xfrm>
            <a:off x="10590530" y="5403882"/>
            <a:ext cx="40894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24.6%</a:t>
            </a:r>
          </a:p>
        </p:txBody>
      </p:sp>
      <p:sp>
        <p:nvSpPr>
          <p:cNvPr id="139" name="sum"/>
          <p:cNvSpPr/>
          <p:nvPr/>
        </p:nvSpPr>
        <p:spPr>
          <a:xfrm>
            <a:off x="952500" y="5727700"/>
            <a:ext cx="10287000" cy="558800"/>
          </a:xfrm>
          <a:custGeom>
            <a:avLst/>
            <a:gdLst/>
            <a:ahLst/>
            <a:cxnLst/>
            <a:rect l="0" t="0" r="r" b="b"/>
            <a:pathLst>
              <a:path w="10287000" h="5588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57200"/>
                </a:lnTo>
                <a:cubicBezTo>
                  <a:pt x="10287000" y="513334"/>
                  <a:pt x="10241534" y="558800"/>
                  <a:pt x="10185400" y="558800"/>
                </a:cubicBezTo>
                <a:lnTo>
                  <a:pt x="101600" y="558800"/>
                </a:lnTo>
                <a:cubicBezTo>
                  <a:pt x="45466" y="558800"/>
                  <a:pt x="0" y="513334"/>
                  <a:pt x="0" y="457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0" name="sum-bar"/>
          <p:cNvSpPr/>
          <p:nvPr/>
        </p:nvSpPr>
        <p:spPr>
          <a:xfrm>
            <a:off x="952500" y="5727700"/>
            <a:ext cx="31750" cy="5588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1" name="sum-h"/>
          <p:cNvSpPr txBox="1"/>
          <p:nvPr/>
        </p:nvSpPr>
        <p:spPr>
          <a:xfrm>
            <a:off x="1141222" y="58199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定位判断</a:t>
            </a:r>
          </a:p>
        </p:txBody>
      </p:sp>
      <p:sp>
        <p:nvSpPr>
          <p:cNvPr id="142" name="sum-p"/>
          <p:cNvSpPr txBox="1"/>
          <p:nvPr/>
        </p:nvSpPr>
        <p:spPr>
          <a:xfrm>
            <a:off x="1142365" y="6034961"/>
            <a:ext cx="604234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我们处在高性价比象限：能力接近头部，价格低 27%；下一步要么向上补齐能力溢价，要么用规模把长尾份额吃下来。</a:t>
            </a:r>
          </a:p>
        </p:txBody>
      </p:sp>
      <p:cxnSp>
        <p:nvCxnSpPr>
          <p:cNvPr id="143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4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竞争定位 · 能力与价格</a:t>
            </a:r>
          </a:p>
        </p:txBody>
      </p:sp>
      <p:sp>
        <p:nvSpPr>
          <p:cNvPr id="145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现状与目标差距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17271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GAP ANALYSIS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123299" y="673132"/>
            <a:ext cx="24974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六项关键指标的当前水平、目标水平与待补差距</a:t>
            </a:r>
          </a:p>
        </p:txBody>
      </p:sp>
      <p:sp>
        <p:nvSpPr>
          <p:cNvPr id="10" name="th-1"/>
          <p:cNvSpPr txBox="1"/>
          <p:nvPr/>
        </p:nvSpPr>
        <p:spPr>
          <a:xfrm>
            <a:off x="966851" y="1600787"/>
            <a:ext cx="28987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9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指标</a:t>
            </a:r>
          </a:p>
        </p:txBody>
      </p:sp>
      <p:sp>
        <p:nvSpPr>
          <p:cNvPr id="11" name="th-2"/>
          <p:cNvSpPr txBox="1"/>
          <p:nvPr/>
        </p:nvSpPr>
        <p:spPr>
          <a:xfrm>
            <a:off x="3544951" y="1600787"/>
            <a:ext cx="68586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9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现状 → 目标</a:t>
            </a:r>
          </a:p>
        </p:txBody>
      </p:sp>
      <p:sp>
        <p:nvSpPr>
          <p:cNvPr id="12" name="th-3"/>
          <p:cNvSpPr txBox="1"/>
          <p:nvPr/>
        </p:nvSpPr>
        <p:spPr>
          <a:xfrm>
            <a:off x="9530556" y="1600787"/>
            <a:ext cx="4968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9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待补差距</a:t>
            </a:r>
          </a:p>
        </p:txBody>
      </p:sp>
      <p:cxnSp>
        <p:nvCxnSpPr>
          <p:cNvPr id="13" name="th-line"/>
          <p:cNvCxnSpPr/>
          <p:nvPr/>
        </p:nvCxnSpPr>
        <p:spPr>
          <a:xfrm>
            <a:off x="952500" y="18161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1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nm-1"/>
          <p:cNvSpPr txBox="1"/>
          <p:nvPr/>
        </p:nvSpPr>
        <p:spPr>
          <a:xfrm>
            <a:off x="961136" y="2011870"/>
            <a:ext cx="871855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交付准时率</a:t>
            </a:r>
          </a:p>
        </p:txBody>
      </p:sp>
      <p:sp>
        <p:nvSpPr>
          <p:cNvPr id="15" name="pri-1"/>
          <p:cNvSpPr/>
          <p:nvPr/>
        </p:nvSpPr>
        <p:spPr>
          <a:xfrm>
            <a:off x="977900" y="2273300"/>
            <a:ext cx="469900" cy="177800"/>
          </a:xfrm>
          <a:custGeom>
            <a:avLst/>
            <a:gdLst/>
            <a:ahLst/>
            <a:cxnLst/>
            <a:rect l="0" t="0" r="r" b="b"/>
            <a:pathLst>
              <a:path w="469900" h="177800">
                <a:moveTo>
                  <a:pt x="88900" y="0"/>
                </a:moveTo>
                <a:lnTo>
                  <a:pt x="381000" y="0"/>
                </a:lnTo>
                <a:cubicBezTo>
                  <a:pt x="430085" y="0"/>
                  <a:pt x="469900" y="39814"/>
                  <a:pt x="469900" y="88900"/>
                </a:cubicBezTo>
                <a:lnTo>
                  <a:pt x="469900" y="88900"/>
                </a:lnTo>
                <a:cubicBezTo>
                  <a:pt x="469900" y="137986"/>
                  <a:pt x="430085" y="177800"/>
                  <a:pt x="381000" y="177800"/>
                </a:cubicBezTo>
                <a:lnTo>
                  <a:pt x="88900" y="177800"/>
                </a:lnTo>
                <a:cubicBezTo>
                  <a:pt x="39815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0703A">
              <a:alpha val="13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prit-1"/>
          <p:cNvSpPr txBox="1"/>
          <p:nvPr/>
        </p:nvSpPr>
        <p:spPr>
          <a:xfrm>
            <a:off x="1034732" y="2290508"/>
            <a:ext cx="35623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高优先</a:t>
            </a:r>
          </a:p>
        </p:txBody>
      </p:sp>
      <p:sp>
        <p:nvSpPr>
          <p:cNvPr id="17" name="track-1"/>
          <p:cNvSpPr/>
          <p:nvPr/>
        </p:nvSpPr>
        <p:spPr>
          <a:xfrm>
            <a:off x="3556000" y="2089150"/>
            <a:ext cx="4826000" cy="215900"/>
          </a:xfrm>
          <a:prstGeom prst="roundRect">
            <a:avLst>
              <a:gd name="adj" fmla="val 50000"/>
            </a:avLst>
          </a:prstGeom>
          <a:solidFill>
            <a:srgbClr val="0B2545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gap-1"/>
          <p:cNvSpPr/>
          <p:nvPr/>
        </p:nvSpPr>
        <p:spPr>
          <a:xfrm>
            <a:off x="7596696" y="2089150"/>
            <a:ext cx="258826" cy="215900"/>
          </a:xfrm>
          <a:custGeom>
            <a:avLst/>
            <a:gdLst/>
            <a:ahLst/>
            <a:cxnLst/>
            <a:rect l="0" t="0" r="r" b="b"/>
            <a:pathLst>
              <a:path w="258826" h="215900">
                <a:moveTo>
                  <a:pt x="107950" y="0"/>
                </a:moveTo>
                <a:lnTo>
                  <a:pt x="150876" y="0"/>
                </a:lnTo>
                <a:cubicBezTo>
                  <a:pt x="210503" y="0"/>
                  <a:pt x="258826" y="48324"/>
                  <a:pt x="258826" y="107950"/>
                </a:cubicBezTo>
                <a:lnTo>
                  <a:pt x="258826" y="107950"/>
                </a:lnTo>
                <a:cubicBezTo>
                  <a:pt x="258826" y="167576"/>
                  <a:pt x="210503" y="215900"/>
                  <a:pt x="150876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E0703A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cur-1"/>
          <p:cNvSpPr/>
          <p:nvPr/>
        </p:nvSpPr>
        <p:spPr>
          <a:xfrm>
            <a:off x="3556000" y="2089150"/>
            <a:ext cx="4040695" cy="215900"/>
          </a:xfrm>
          <a:custGeom>
            <a:avLst/>
            <a:gdLst/>
            <a:ahLst/>
            <a:cxnLst/>
            <a:rect l="0" t="0" r="r" b="b"/>
            <a:pathLst>
              <a:path w="4040695" h="215900">
                <a:moveTo>
                  <a:pt x="107950" y="0"/>
                </a:moveTo>
                <a:lnTo>
                  <a:pt x="3932745" y="0"/>
                </a:lnTo>
                <a:cubicBezTo>
                  <a:pt x="3992372" y="0"/>
                  <a:pt x="4040695" y="48324"/>
                  <a:pt x="4040695" y="107950"/>
                </a:cubicBezTo>
                <a:lnTo>
                  <a:pt x="4040695" y="107950"/>
                </a:lnTo>
                <a:cubicBezTo>
                  <a:pt x="4040695" y="167576"/>
                  <a:pt x="3992372" y="215900"/>
                  <a:pt x="3932745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gradFill rotWithShape="1">
            <a:gsLst>
              <a:gs pos="0">
                <a:srgbClr val="4168A8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curv-1"/>
          <p:cNvSpPr txBox="1"/>
          <p:nvPr/>
        </p:nvSpPr>
        <p:spPr>
          <a:xfrm>
            <a:off x="7127032" y="2100390"/>
            <a:ext cx="36906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0">
                <a:solidFill>
                  <a:srgbClr val="FFFFFF"/>
                </a:solidFill>
                <a:latin typeface="Arial"/>
                <a:ea typeface="Arial"/>
                <a:cs typeface="Arial"/>
              </a:rPr>
              <a:t>92.1</a:t>
            </a:r>
          </a:p>
        </p:txBody>
      </p:sp>
      <p:cxnSp>
        <p:nvCxnSpPr>
          <p:cNvPr id="21" name="tgt-1"/>
          <p:cNvCxnSpPr/>
          <p:nvPr/>
        </p:nvCxnSpPr>
        <p:spPr>
          <a:xfrm>
            <a:off x="7855527" y="2019300"/>
            <a:ext cx="0" cy="355600"/>
          </a:xfrm>
          <a:prstGeom prst="line">
            <a:avLst/>
          </a:prstGeom>
          <a:ln w="13970" cap="rnd">
            <a:solidFill>
              <a:srgbClr val="0B2545">
                <a:alpha val="5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gtc-1"/>
          <p:cNvSpPr/>
          <p:nvPr/>
        </p:nvSpPr>
        <p:spPr>
          <a:xfrm>
            <a:off x="7576121" y="1866900"/>
            <a:ext cx="558800" cy="177800"/>
          </a:xfrm>
          <a:custGeom>
            <a:avLst/>
            <a:gdLst/>
            <a:ahLst/>
            <a:cxnLst/>
            <a:rect l="0" t="0" r="r" b="b"/>
            <a:pathLst>
              <a:path w="558800" h="177800">
                <a:moveTo>
                  <a:pt x="88900" y="0"/>
                </a:moveTo>
                <a:lnTo>
                  <a:pt x="469900" y="0"/>
                </a:lnTo>
                <a:cubicBezTo>
                  <a:pt x="518986" y="0"/>
                  <a:pt x="558800" y="39814"/>
                  <a:pt x="558800" y="88900"/>
                </a:cubicBezTo>
                <a:lnTo>
                  <a:pt x="558800" y="88900"/>
                </a:lnTo>
                <a:cubicBezTo>
                  <a:pt x="558800" y="137986"/>
                  <a:pt x="518986" y="177800"/>
                  <a:pt x="4699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0B2545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tgtt-1"/>
          <p:cNvSpPr txBox="1"/>
          <p:nvPr/>
        </p:nvSpPr>
        <p:spPr>
          <a:xfrm>
            <a:off x="7645596" y="1884108"/>
            <a:ext cx="4198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目标 98</a:t>
            </a:r>
          </a:p>
        </p:txBody>
      </p:sp>
      <p:sp>
        <p:nvSpPr>
          <p:cNvPr id="24" name="gv-1"/>
          <p:cNvSpPr/>
          <p:nvPr/>
        </p:nvSpPr>
        <p:spPr>
          <a:xfrm>
            <a:off x="9017000" y="2044700"/>
            <a:ext cx="1524000" cy="304800"/>
          </a:xfrm>
          <a:custGeom>
            <a:avLst/>
            <a:gdLst/>
            <a:ahLst/>
            <a:cxnLst/>
            <a:rect l="0" t="0" r="r" b="b"/>
            <a:pathLst>
              <a:path w="1524000" h="304800">
                <a:moveTo>
                  <a:pt x="88900" y="0"/>
                </a:moveTo>
                <a:lnTo>
                  <a:pt x="1435100" y="0"/>
                </a:lnTo>
                <a:cubicBezTo>
                  <a:pt x="1484186" y="0"/>
                  <a:pt x="1524000" y="39814"/>
                  <a:pt x="1524000" y="88900"/>
                </a:cubicBezTo>
                <a:lnTo>
                  <a:pt x="1524000" y="215900"/>
                </a:lnTo>
                <a:cubicBezTo>
                  <a:pt x="1524000" y="264986"/>
                  <a:pt x="1484186" y="304800"/>
                  <a:pt x="1435100" y="304800"/>
                </a:cubicBezTo>
                <a:lnTo>
                  <a:pt x="88900" y="304800"/>
                </a:lnTo>
                <a:cubicBezTo>
                  <a:pt x="39814" y="304800"/>
                  <a:pt x="0" y="264986"/>
                  <a:pt x="0" y="215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E0703A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gvt-1"/>
          <p:cNvSpPr txBox="1"/>
          <p:nvPr/>
        </p:nvSpPr>
        <p:spPr>
          <a:xfrm>
            <a:off x="9151112" y="2066036"/>
            <a:ext cx="488696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20">
                <a:solidFill>
                  <a:srgbClr val="E0703A"/>
                </a:solidFill>
                <a:latin typeface="Arial"/>
                <a:ea typeface="Arial"/>
                <a:cs typeface="Arial"/>
              </a:rPr>
              <a:t>+5.9</a:t>
            </a:r>
          </a:p>
        </p:txBody>
      </p:sp>
      <p:sp>
        <p:nvSpPr>
          <p:cNvPr id="26" name="gvu-1"/>
          <p:cNvSpPr txBox="1"/>
          <p:nvPr/>
        </p:nvSpPr>
        <p:spPr>
          <a:xfrm>
            <a:off x="10258425" y="2130266"/>
            <a:ext cx="1416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%</a:t>
            </a:r>
          </a:p>
        </p:txBody>
      </p:sp>
      <p:sp>
        <p:nvSpPr>
          <p:cNvPr id="27" name="gvp-1"/>
          <p:cNvSpPr txBox="1"/>
          <p:nvPr/>
        </p:nvSpPr>
        <p:spPr>
          <a:xfrm>
            <a:off x="10682351" y="2134187"/>
            <a:ext cx="5290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需提升 6%</a:t>
            </a:r>
          </a:p>
        </p:txBody>
      </p:sp>
      <p:cxnSp>
        <p:nvCxnSpPr>
          <p:cNvPr id="28" name="rl-1"/>
          <p:cNvCxnSpPr/>
          <p:nvPr/>
        </p:nvCxnSpPr>
        <p:spPr>
          <a:xfrm>
            <a:off x="952500" y="24892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nm-2"/>
          <p:cNvSpPr txBox="1"/>
          <p:nvPr/>
        </p:nvSpPr>
        <p:spPr>
          <a:xfrm>
            <a:off x="961136" y="2672270"/>
            <a:ext cx="573405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毛利率</a:t>
            </a:r>
          </a:p>
        </p:txBody>
      </p:sp>
      <p:sp>
        <p:nvSpPr>
          <p:cNvPr id="30" name="pri-2"/>
          <p:cNvSpPr/>
          <p:nvPr/>
        </p:nvSpPr>
        <p:spPr>
          <a:xfrm>
            <a:off x="977900" y="2933700"/>
            <a:ext cx="469900" cy="177800"/>
          </a:xfrm>
          <a:custGeom>
            <a:avLst/>
            <a:gdLst/>
            <a:ahLst/>
            <a:cxnLst/>
            <a:rect l="0" t="0" r="r" b="b"/>
            <a:pathLst>
              <a:path w="469900" h="177800">
                <a:moveTo>
                  <a:pt x="88900" y="0"/>
                </a:moveTo>
                <a:lnTo>
                  <a:pt x="381000" y="0"/>
                </a:lnTo>
                <a:cubicBezTo>
                  <a:pt x="430085" y="0"/>
                  <a:pt x="469900" y="39814"/>
                  <a:pt x="469900" y="88900"/>
                </a:cubicBezTo>
                <a:lnTo>
                  <a:pt x="469900" y="88900"/>
                </a:lnTo>
                <a:cubicBezTo>
                  <a:pt x="469900" y="137986"/>
                  <a:pt x="430085" y="177800"/>
                  <a:pt x="381000" y="177800"/>
                </a:cubicBezTo>
                <a:lnTo>
                  <a:pt x="88900" y="177800"/>
                </a:lnTo>
                <a:cubicBezTo>
                  <a:pt x="39815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0703A">
              <a:alpha val="13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prit-2"/>
          <p:cNvSpPr txBox="1"/>
          <p:nvPr/>
        </p:nvSpPr>
        <p:spPr>
          <a:xfrm>
            <a:off x="1034732" y="2950908"/>
            <a:ext cx="35623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高优先</a:t>
            </a:r>
          </a:p>
        </p:txBody>
      </p:sp>
      <p:sp>
        <p:nvSpPr>
          <p:cNvPr id="32" name="track-2"/>
          <p:cNvSpPr/>
          <p:nvPr/>
        </p:nvSpPr>
        <p:spPr>
          <a:xfrm>
            <a:off x="3556000" y="2749550"/>
            <a:ext cx="4826000" cy="215900"/>
          </a:xfrm>
          <a:prstGeom prst="roundRect">
            <a:avLst>
              <a:gd name="adj" fmla="val 50000"/>
            </a:avLst>
          </a:prstGeom>
          <a:solidFill>
            <a:srgbClr val="0B2545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gap-2"/>
          <p:cNvSpPr/>
          <p:nvPr/>
        </p:nvSpPr>
        <p:spPr>
          <a:xfrm>
            <a:off x="5240718" y="2749550"/>
            <a:ext cx="157925" cy="215900"/>
          </a:xfrm>
          <a:custGeom>
            <a:avLst/>
            <a:gdLst/>
            <a:ahLst/>
            <a:cxnLst/>
            <a:rect l="0" t="0" r="r" b="b"/>
            <a:pathLst>
              <a:path w="157925" h="215900">
                <a:moveTo>
                  <a:pt x="78994" y="0"/>
                </a:moveTo>
                <a:lnTo>
                  <a:pt x="78994" y="0"/>
                </a:lnTo>
                <a:cubicBezTo>
                  <a:pt x="122555" y="0"/>
                  <a:pt x="157925" y="35369"/>
                  <a:pt x="157925" y="78994"/>
                </a:cubicBezTo>
                <a:lnTo>
                  <a:pt x="157925" y="136906"/>
                </a:lnTo>
                <a:cubicBezTo>
                  <a:pt x="157925" y="180531"/>
                  <a:pt x="122555" y="215900"/>
                  <a:pt x="78994" y="215900"/>
                </a:cubicBezTo>
                <a:lnTo>
                  <a:pt x="78994" y="215900"/>
                </a:lnTo>
                <a:cubicBezTo>
                  <a:pt x="35370" y="215900"/>
                  <a:pt x="0" y="180531"/>
                  <a:pt x="0" y="136906"/>
                </a:cubicBezTo>
                <a:lnTo>
                  <a:pt x="0" y="78994"/>
                </a:lnTo>
                <a:cubicBezTo>
                  <a:pt x="0" y="35369"/>
                  <a:pt x="35370" y="0"/>
                  <a:pt x="78994" y="0"/>
                </a:cubicBezTo>
                <a:close/>
              </a:path>
            </a:pathLst>
          </a:custGeom>
          <a:solidFill>
            <a:srgbClr val="E0703A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cur-2"/>
          <p:cNvSpPr/>
          <p:nvPr/>
        </p:nvSpPr>
        <p:spPr>
          <a:xfrm>
            <a:off x="3556000" y="2749550"/>
            <a:ext cx="1684718" cy="215900"/>
          </a:xfrm>
          <a:custGeom>
            <a:avLst/>
            <a:gdLst/>
            <a:ahLst/>
            <a:cxnLst/>
            <a:rect l="0" t="0" r="r" b="b"/>
            <a:pathLst>
              <a:path w="1684718" h="215900">
                <a:moveTo>
                  <a:pt x="107950" y="0"/>
                </a:moveTo>
                <a:lnTo>
                  <a:pt x="1576768" y="0"/>
                </a:lnTo>
                <a:cubicBezTo>
                  <a:pt x="1636395" y="0"/>
                  <a:pt x="1684718" y="48324"/>
                  <a:pt x="1684718" y="107950"/>
                </a:cubicBezTo>
                <a:lnTo>
                  <a:pt x="1684718" y="107950"/>
                </a:lnTo>
                <a:cubicBezTo>
                  <a:pt x="1684718" y="167576"/>
                  <a:pt x="1636395" y="215900"/>
                  <a:pt x="1576768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gradFill rotWithShape="1">
            <a:gsLst>
              <a:gs pos="0">
                <a:srgbClr val="4773B2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curv-2"/>
          <p:cNvSpPr txBox="1"/>
          <p:nvPr/>
        </p:nvSpPr>
        <p:spPr>
          <a:xfrm>
            <a:off x="4771067" y="2760790"/>
            <a:ext cx="36906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0">
                <a:solidFill>
                  <a:srgbClr val="FFFFFF"/>
                </a:solidFill>
                <a:latin typeface="Arial"/>
                <a:ea typeface="Arial"/>
                <a:cs typeface="Arial"/>
              </a:rPr>
              <a:t>38.4</a:t>
            </a:r>
          </a:p>
        </p:txBody>
      </p:sp>
      <p:cxnSp>
        <p:nvCxnSpPr>
          <p:cNvPr id="36" name="tgt-2"/>
          <p:cNvCxnSpPr/>
          <p:nvPr/>
        </p:nvCxnSpPr>
        <p:spPr>
          <a:xfrm>
            <a:off x="5398655" y="2679700"/>
            <a:ext cx="0" cy="355600"/>
          </a:xfrm>
          <a:prstGeom prst="line">
            <a:avLst/>
          </a:prstGeom>
          <a:ln w="13970" cap="rnd">
            <a:solidFill>
              <a:srgbClr val="0B2545">
                <a:alpha val="5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tgtc-2"/>
          <p:cNvSpPr/>
          <p:nvPr/>
        </p:nvSpPr>
        <p:spPr>
          <a:xfrm>
            <a:off x="5119243" y="2527300"/>
            <a:ext cx="558800" cy="177800"/>
          </a:xfrm>
          <a:custGeom>
            <a:avLst/>
            <a:gdLst/>
            <a:ahLst/>
            <a:cxnLst/>
            <a:rect l="0" t="0" r="r" b="b"/>
            <a:pathLst>
              <a:path w="558800" h="177800">
                <a:moveTo>
                  <a:pt x="88900" y="0"/>
                </a:moveTo>
                <a:lnTo>
                  <a:pt x="469900" y="0"/>
                </a:lnTo>
                <a:cubicBezTo>
                  <a:pt x="518986" y="0"/>
                  <a:pt x="558800" y="39814"/>
                  <a:pt x="558800" y="88900"/>
                </a:cubicBezTo>
                <a:lnTo>
                  <a:pt x="558800" y="88900"/>
                </a:lnTo>
                <a:cubicBezTo>
                  <a:pt x="558800" y="137986"/>
                  <a:pt x="518986" y="177800"/>
                  <a:pt x="469900" y="177800"/>
                </a:cubicBezTo>
                <a:lnTo>
                  <a:pt x="88900" y="177800"/>
                </a:lnTo>
                <a:cubicBezTo>
                  <a:pt x="39815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0B2545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tgtt-2"/>
          <p:cNvSpPr txBox="1"/>
          <p:nvPr/>
        </p:nvSpPr>
        <p:spPr>
          <a:xfrm>
            <a:off x="5188724" y="2544508"/>
            <a:ext cx="4198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目标 42</a:t>
            </a:r>
          </a:p>
        </p:txBody>
      </p:sp>
      <p:sp>
        <p:nvSpPr>
          <p:cNvPr id="39" name="gv-2"/>
          <p:cNvSpPr/>
          <p:nvPr/>
        </p:nvSpPr>
        <p:spPr>
          <a:xfrm>
            <a:off x="9017000" y="2705100"/>
            <a:ext cx="1524000" cy="304800"/>
          </a:xfrm>
          <a:custGeom>
            <a:avLst/>
            <a:gdLst/>
            <a:ahLst/>
            <a:cxnLst/>
            <a:rect l="0" t="0" r="r" b="b"/>
            <a:pathLst>
              <a:path w="1524000" h="304800">
                <a:moveTo>
                  <a:pt x="88900" y="0"/>
                </a:moveTo>
                <a:lnTo>
                  <a:pt x="1435100" y="0"/>
                </a:lnTo>
                <a:cubicBezTo>
                  <a:pt x="1484186" y="0"/>
                  <a:pt x="1524000" y="39814"/>
                  <a:pt x="1524000" y="88900"/>
                </a:cubicBezTo>
                <a:lnTo>
                  <a:pt x="1524000" y="215900"/>
                </a:lnTo>
                <a:cubicBezTo>
                  <a:pt x="1524000" y="264986"/>
                  <a:pt x="1484186" y="304800"/>
                  <a:pt x="1435100" y="304800"/>
                </a:cubicBezTo>
                <a:lnTo>
                  <a:pt x="88900" y="304800"/>
                </a:lnTo>
                <a:cubicBezTo>
                  <a:pt x="39814" y="304800"/>
                  <a:pt x="0" y="264986"/>
                  <a:pt x="0" y="215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E0703A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gvt-2"/>
          <p:cNvSpPr txBox="1"/>
          <p:nvPr/>
        </p:nvSpPr>
        <p:spPr>
          <a:xfrm>
            <a:off x="9151112" y="2726436"/>
            <a:ext cx="488696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20">
                <a:solidFill>
                  <a:srgbClr val="E0703A"/>
                </a:solidFill>
                <a:latin typeface="Arial"/>
                <a:ea typeface="Arial"/>
                <a:cs typeface="Arial"/>
              </a:rPr>
              <a:t>+3.6</a:t>
            </a:r>
          </a:p>
        </p:txBody>
      </p:sp>
      <p:sp>
        <p:nvSpPr>
          <p:cNvPr id="41" name="gvu-2"/>
          <p:cNvSpPr txBox="1"/>
          <p:nvPr/>
        </p:nvSpPr>
        <p:spPr>
          <a:xfrm>
            <a:off x="10258425" y="2790666"/>
            <a:ext cx="1416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%</a:t>
            </a:r>
          </a:p>
        </p:txBody>
      </p:sp>
      <p:sp>
        <p:nvSpPr>
          <p:cNvPr id="42" name="gvp-2"/>
          <p:cNvSpPr txBox="1"/>
          <p:nvPr/>
        </p:nvSpPr>
        <p:spPr>
          <a:xfrm>
            <a:off x="10682351" y="2794587"/>
            <a:ext cx="5290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需提升 9%</a:t>
            </a:r>
          </a:p>
        </p:txBody>
      </p:sp>
      <p:cxnSp>
        <p:nvCxnSpPr>
          <p:cNvPr id="43" name="rl-2"/>
          <p:cNvCxnSpPr/>
          <p:nvPr/>
        </p:nvCxnSpPr>
        <p:spPr>
          <a:xfrm>
            <a:off x="952500" y="31496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nm-3"/>
          <p:cNvSpPr txBox="1"/>
          <p:nvPr/>
        </p:nvSpPr>
        <p:spPr>
          <a:xfrm>
            <a:off x="961136" y="3332671"/>
            <a:ext cx="7226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人均产值</a:t>
            </a:r>
          </a:p>
        </p:txBody>
      </p:sp>
      <p:sp>
        <p:nvSpPr>
          <p:cNvPr id="45" name="pri-3"/>
          <p:cNvSpPr/>
          <p:nvPr/>
        </p:nvSpPr>
        <p:spPr>
          <a:xfrm>
            <a:off x="977900" y="3594100"/>
            <a:ext cx="469900" cy="177800"/>
          </a:xfrm>
          <a:custGeom>
            <a:avLst/>
            <a:gdLst/>
            <a:ahLst/>
            <a:cxnLst/>
            <a:rect l="0" t="0" r="r" b="b"/>
            <a:pathLst>
              <a:path w="469900" h="177800">
                <a:moveTo>
                  <a:pt x="88900" y="0"/>
                </a:moveTo>
                <a:lnTo>
                  <a:pt x="381000" y="0"/>
                </a:lnTo>
                <a:cubicBezTo>
                  <a:pt x="430085" y="0"/>
                  <a:pt x="469900" y="39814"/>
                  <a:pt x="469900" y="88900"/>
                </a:cubicBezTo>
                <a:lnTo>
                  <a:pt x="469900" y="88900"/>
                </a:lnTo>
                <a:cubicBezTo>
                  <a:pt x="469900" y="137986"/>
                  <a:pt x="430085" y="177800"/>
                  <a:pt x="381000" y="177800"/>
                </a:cubicBezTo>
                <a:lnTo>
                  <a:pt x="88900" y="177800"/>
                </a:lnTo>
                <a:cubicBezTo>
                  <a:pt x="39815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1B5AA8">
              <a:alpha val="13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prit-3"/>
          <p:cNvSpPr txBox="1"/>
          <p:nvPr/>
        </p:nvSpPr>
        <p:spPr>
          <a:xfrm>
            <a:off x="1034732" y="3611308"/>
            <a:ext cx="35623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5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中优先</a:t>
            </a:r>
          </a:p>
        </p:txBody>
      </p:sp>
      <p:sp>
        <p:nvSpPr>
          <p:cNvPr id="47" name="track-3"/>
          <p:cNvSpPr/>
          <p:nvPr/>
        </p:nvSpPr>
        <p:spPr>
          <a:xfrm>
            <a:off x="3556000" y="3409950"/>
            <a:ext cx="4826000" cy="215900"/>
          </a:xfrm>
          <a:prstGeom prst="roundRect">
            <a:avLst>
              <a:gd name="adj" fmla="val 50000"/>
            </a:avLst>
          </a:prstGeom>
          <a:solidFill>
            <a:srgbClr val="0B2545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gap-3"/>
          <p:cNvSpPr/>
          <p:nvPr/>
        </p:nvSpPr>
        <p:spPr>
          <a:xfrm>
            <a:off x="7351014" y="3409950"/>
            <a:ext cx="1030986" cy="215900"/>
          </a:xfrm>
          <a:custGeom>
            <a:avLst/>
            <a:gdLst/>
            <a:ahLst/>
            <a:cxnLst/>
            <a:rect l="0" t="0" r="r" b="b"/>
            <a:pathLst>
              <a:path w="1030986" h="215900">
                <a:moveTo>
                  <a:pt x="107950" y="0"/>
                </a:moveTo>
                <a:lnTo>
                  <a:pt x="923036" y="0"/>
                </a:lnTo>
                <a:cubicBezTo>
                  <a:pt x="982662" y="0"/>
                  <a:pt x="1030986" y="48324"/>
                  <a:pt x="1030986" y="107950"/>
                </a:cubicBezTo>
                <a:lnTo>
                  <a:pt x="1030986" y="107950"/>
                </a:lnTo>
                <a:cubicBezTo>
                  <a:pt x="1030986" y="167576"/>
                  <a:pt x="982662" y="215900"/>
                  <a:pt x="923036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1B5AA8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cur-3"/>
          <p:cNvSpPr/>
          <p:nvPr/>
        </p:nvSpPr>
        <p:spPr>
          <a:xfrm>
            <a:off x="3556000" y="3409950"/>
            <a:ext cx="3795014" cy="215900"/>
          </a:xfrm>
          <a:custGeom>
            <a:avLst/>
            <a:gdLst/>
            <a:ahLst/>
            <a:cxnLst/>
            <a:rect l="0" t="0" r="r" b="b"/>
            <a:pathLst>
              <a:path w="3795014" h="215900">
                <a:moveTo>
                  <a:pt x="107950" y="0"/>
                </a:moveTo>
                <a:lnTo>
                  <a:pt x="3687064" y="0"/>
                </a:lnTo>
                <a:cubicBezTo>
                  <a:pt x="3746690" y="0"/>
                  <a:pt x="3795014" y="48324"/>
                  <a:pt x="3795014" y="107950"/>
                </a:cubicBezTo>
                <a:lnTo>
                  <a:pt x="3795014" y="107950"/>
                </a:lnTo>
                <a:cubicBezTo>
                  <a:pt x="3795014" y="167576"/>
                  <a:pt x="3746690" y="215900"/>
                  <a:pt x="3687064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gradFill rotWithShape="1">
            <a:gsLst>
              <a:gs pos="0">
                <a:srgbClr val="4D7EBB"/>
              </a:gs>
              <a:gs pos="100000">
                <a:srgbClr val="1B5AA8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curv-3"/>
          <p:cNvSpPr txBox="1"/>
          <p:nvPr/>
        </p:nvSpPr>
        <p:spPr>
          <a:xfrm>
            <a:off x="6881345" y="3421190"/>
            <a:ext cx="36906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0">
                <a:solidFill>
                  <a:srgbClr val="FFFFFF"/>
                </a:solidFill>
                <a:latin typeface="Arial"/>
                <a:ea typeface="Arial"/>
                <a:cs typeface="Arial"/>
              </a:rPr>
              <a:t>86.5</a:t>
            </a:r>
          </a:p>
        </p:txBody>
      </p:sp>
      <p:cxnSp>
        <p:nvCxnSpPr>
          <p:cNvPr id="51" name="tgt-3"/>
          <p:cNvCxnSpPr/>
          <p:nvPr/>
        </p:nvCxnSpPr>
        <p:spPr>
          <a:xfrm>
            <a:off x="8382000" y="3340100"/>
            <a:ext cx="0" cy="355600"/>
          </a:xfrm>
          <a:prstGeom prst="line">
            <a:avLst/>
          </a:prstGeom>
          <a:ln w="13970" cap="rnd">
            <a:solidFill>
              <a:srgbClr val="0B2545">
                <a:alpha val="5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tgtc-3"/>
          <p:cNvSpPr/>
          <p:nvPr/>
        </p:nvSpPr>
        <p:spPr>
          <a:xfrm>
            <a:off x="8102600" y="3187700"/>
            <a:ext cx="558800" cy="177800"/>
          </a:xfrm>
          <a:custGeom>
            <a:avLst/>
            <a:gdLst/>
            <a:ahLst/>
            <a:cxnLst/>
            <a:rect l="0" t="0" r="r" b="b"/>
            <a:pathLst>
              <a:path w="558800" h="177800">
                <a:moveTo>
                  <a:pt x="88900" y="0"/>
                </a:moveTo>
                <a:lnTo>
                  <a:pt x="469900" y="0"/>
                </a:lnTo>
                <a:cubicBezTo>
                  <a:pt x="518986" y="0"/>
                  <a:pt x="558800" y="39814"/>
                  <a:pt x="558800" y="88900"/>
                </a:cubicBezTo>
                <a:lnTo>
                  <a:pt x="558800" y="88900"/>
                </a:lnTo>
                <a:cubicBezTo>
                  <a:pt x="558800" y="137986"/>
                  <a:pt x="518986" y="177800"/>
                  <a:pt x="4699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0B2545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tgtt-3"/>
          <p:cNvSpPr txBox="1"/>
          <p:nvPr/>
        </p:nvSpPr>
        <p:spPr>
          <a:xfrm>
            <a:off x="8145907" y="3204908"/>
            <a:ext cx="47218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目标 110</a:t>
            </a:r>
          </a:p>
        </p:txBody>
      </p:sp>
      <p:sp>
        <p:nvSpPr>
          <p:cNvPr id="54" name="gv-3"/>
          <p:cNvSpPr/>
          <p:nvPr/>
        </p:nvSpPr>
        <p:spPr>
          <a:xfrm>
            <a:off x="9017000" y="3365500"/>
            <a:ext cx="1524000" cy="304800"/>
          </a:xfrm>
          <a:custGeom>
            <a:avLst/>
            <a:gdLst/>
            <a:ahLst/>
            <a:cxnLst/>
            <a:rect l="0" t="0" r="r" b="b"/>
            <a:pathLst>
              <a:path w="1524000" h="304800">
                <a:moveTo>
                  <a:pt x="88900" y="0"/>
                </a:moveTo>
                <a:lnTo>
                  <a:pt x="1435100" y="0"/>
                </a:lnTo>
                <a:cubicBezTo>
                  <a:pt x="1484186" y="0"/>
                  <a:pt x="1524000" y="39814"/>
                  <a:pt x="1524000" y="88900"/>
                </a:cubicBezTo>
                <a:lnTo>
                  <a:pt x="1524000" y="215900"/>
                </a:lnTo>
                <a:cubicBezTo>
                  <a:pt x="1524000" y="264986"/>
                  <a:pt x="1484186" y="304800"/>
                  <a:pt x="1435100" y="304800"/>
                </a:cubicBezTo>
                <a:lnTo>
                  <a:pt x="88900" y="304800"/>
                </a:lnTo>
                <a:cubicBezTo>
                  <a:pt x="39814" y="304800"/>
                  <a:pt x="0" y="264986"/>
                  <a:pt x="0" y="215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1B5AA8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gvt-3"/>
          <p:cNvSpPr txBox="1"/>
          <p:nvPr/>
        </p:nvSpPr>
        <p:spPr>
          <a:xfrm>
            <a:off x="9151112" y="3386836"/>
            <a:ext cx="57658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20">
                <a:solidFill>
                  <a:srgbClr val="1B5AA8"/>
                </a:solidFill>
                <a:latin typeface="Arial"/>
                <a:ea typeface="Arial"/>
                <a:cs typeface="Arial"/>
              </a:rPr>
              <a:t>+23.5</a:t>
            </a:r>
          </a:p>
        </p:txBody>
      </p:sp>
      <p:sp>
        <p:nvSpPr>
          <p:cNvPr id="56" name="gvu-3"/>
          <p:cNvSpPr txBox="1"/>
          <p:nvPr/>
        </p:nvSpPr>
        <p:spPr>
          <a:xfrm>
            <a:off x="10118725" y="3451066"/>
            <a:ext cx="2813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万元</a:t>
            </a:r>
          </a:p>
        </p:txBody>
      </p:sp>
      <p:sp>
        <p:nvSpPr>
          <p:cNvPr id="57" name="gvp-3"/>
          <p:cNvSpPr txBox="1"/>
          <p:nvPr/>
        </p:nvSpPr>
        <p:spPr>
          <a:xfrm>
            <a:off x="10682351" y="3454987"/>
            <a:ext cx="58312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需提升 27%</a:t>
            </a:r>
          </a:p>
        </p:txBody>
      </p:sp>
      <p:cxnSp>
        <p:nvCxnSpPr>
          <p:cNvPr id="58" name="rl-3"/>
          <p:cNvCxnSpPr/>
          <p:nvPr/>
        </p:nvCxnSpPr>
        <p:spPr>
          <a:xfrm>
            <a:off x="952500" y="38100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nm-4"/>
          <p:cNvSpPr txBox="1"/>
          <p:nvPr/>
        </p:nvSpPr>
        <p:spPr>
          <a:xfrm>
            <a:off x="961136" y="3993071"/>
            <a:ext cx="871855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客户续约率</a:t>
            </a:r>
          </a:p>
        </p:txBody>
      </p:sp>
      <p:sp>
        <p:nvSpPr>
          <p:cNvPr id="60" name="pri-4"/>
          <p:cNvSpPr/>
          <p:nvPr/>
        </p:nvSpPr>
        <p:spPr>
          <a:xfrm>
            <a:off x="977900" y="4254500"/>
            <a:ext cx="469900" cy="177800"/>
          </a:xfrm>
          <a:custGeom>
            <a:avLst/>
            <a:gdLst/>
            <a:ahLst/>
            <a:cxnLst/>
            <a:rect l="0" t="0" r="r" b="b"/>
            <a:pathLst>
              <a:path w="469900" h="177800">
                <a:moveTo>
                  <a:pt x="88900" y="0"/>
                </a:moveTo>
                <a:lnTo>
                  <a:pt x="381000" y="0"/>
                </a:lnTo>
                <a:cubicBezTo>
                  <a:pt x="430085" y="0"/>
                  <a:pt x="469900" y="39814"/>
                  <a:pt x="469900" y="88900"/>
                </a:cubicBezTo>
                <a:lnTo>
                  <a:pt x="469900" y="88900"/>
                </a:lnTo>
                <a:cubicBezTo>
                  <a:pt x="469900" y="137986"/>
                  <a:pt x="430085" y="177800"/>
                  <a:pt x="381000" y="177800"/>
                </a:cubicBezTo>
                <a:lnTo>
                  <a:pt x="88900" y="177800"/>
                </a:lnTo>
                <a:cubicBezTo>
                  <a:pt x="39815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1B5AA8">
              <a:alpha val="13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prit-4"/>
          <p:cNvSpPr txBox="1"/>
          <p:nvPr/>
        </p:nvSpPr>
        <p:spPr>
          <a:xfrm>
            <a:off x="1034732" y="4271708"/>
            <a:ext cx="35623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5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中优先</a:t>
            </a:r>
          </a:p>
        </p:txBody>
      </p:sp>
      <p:sp>
        <p:nvSpPr>
          <p:cNvPr id="62" name="track-4"/>
          <p:cNvSpPr/>
          <p:nvPr/>
        </p:nvSpPr>
        <p:spPr>
          <a:xfrm>
            <a:off x="3556000" y="4070350"/>
            <a:ext cx="4826000" cy="215900"/>
          </a:xfrm>
          <a:prstGeom prst="roundRect">
            <a:avLst>
              <a:gd name="adj" fmla="val 50000"/>
            </a:avLst>
          </a:prstGeom>
          <a:solidFill>
            <a:srgbClr val="0B2545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gap-4"/>
          <p:cNvSpPr/>
          <p:nvPr/>
        </p:nvSpPr>
        <p:spPr>
          <a:xfrm>
            <a:off x="7785354" y="4070350"/>
            <a:ext cx="70167" cy="215900"/>
          </a:xfrm>
          <a:custGeom>
            <a:avLst/>
            <a:gdLst/>
            <a:ahLst/>
            <a:cxnLst/>
            <a:rect l="0" t="0" r="r" b="b"/>
            <a:pathLst>
              <a:path w="70167" h="215900">
                <a:moveTo>
                  <a:pt x="35052" y="0"/>
                </a:moveTo>
                <a:lnTo>
                  <a:pt x="35052" y="0"/>
                </a:lnTo>
                <a:cubicBezTo>
                  <a:pt x="54483" y="0"/>
                  <a:pt x="70167" y="15685"/>
                  <a:pt x="70167" y="35115"/>
                </a:cubicBezTo>
                <a:lnTo>
                  <a:pt x="70167" y="180785"/>
                </a:lnTo>
                <a:cubicBezTo>
                  <a:pt x="70167" y="200215"/>
                  <a:pt x="54483" y="215900"/>
                  <a:pt x="35052" y="215900"/>
                </a:cubicBezTo>
                <a:lnTo>
                  <a:pt x="35052" y="215900"/>
                </a:lnTo>
                <a:cubicBezTo>
                  <a:pt x="15685" y="215900"/>
                  <a:pt x="0" y="200215"/>
                  <a:pt x="0" y="180785"/>
                </a:cubicBezTo>
                <a:lnTo>
                  <a:pt x="0" y="35115"/>
                </a:lnTo>
                <a:cubicBezTo>
                  <a:pt x="0" y="15685"/>
                  <a:pt x="15685" y="0"/>
                  <a:pt x="35052" y="0"/>
                </a:cubicBezTo>
                <a:close/>
              </a:path>
            </a:pathLst>
          </a:custGeom>
          <a:solidFill>
            <a:srgbClr val="1B5AA8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cur-4"/>
          <p:cNvSpPr/>
          <p:nvPr/>
        </p:nvSpPr>
        <p:spPr>
          <a:xfrm>
            <a:off x="3556000" y="4070350"/>
            <a:ext cx="4229354" cy="215900"/>
          </a:xfrm>
          <a:custGeom>
            <a:avLst/>
            <a:gdLst/>
            <a:ahLst/>
            <a:cxnLst/>
            <a:rect l="0" t="0" r="r" b="b"/>
            <a:pathLst>
              <a:path w="4229354" h="215900">
                <a:moveTo>
                  <a:pt x="107950" y="0"/>
                </a:moveTo>
                <a:lnTo>
                  <a:pt x="4121404" y="0"/>
                </a:lnTo>
                <a:cubicBezTo>
                  <a:pt x="4181031" y="0"/>
                  <a:pt x="4229354" y="48324"/>
                  <a:pt x="4229354" y="107950"/>
                </a:cubicBezTo>
                <a:lnTo>
                  <a:pt x="4229354" y="107950"/>
                </a:lnTo>
                <a:cubicBezTo>
                  <a:pt x="4229354" y="167576"/>
                  <a:pt x="4181031" y="215900"/>
                  <a:pt x="4121404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gradFill rotWithShape="1">
            <a:gsLst>
              <a:gs pos="0">
                <a:srgbClr val="5489C6"/>
              </a:gs>
              <a:gs pos="100000">
                <a:srgbClr val="2468B6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curv-4"/>
          <p:cNvSpPr txBox="1"/>
          <p:nvPr/>
        </p:nvSpPr>
        <p:spPr>
          <a:xfrm>
            <a:off x="7315685" y="4081590"/>
            <a:ext cx="36906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0">
                <a:solidFill>
                  <a:srgbClr val="FFFFFF"/>
                </a:solidFill>
                <a:latin typeface="Arial"/>
                <a:ea typeface="Arial"/>
                <a:cs typeface="Arial"/>
              </a:rPr>
              <a:t>96.4</a:t>
            </a:r>
          </a:p>
        </p:txBody>
      </p:sp>
      <p:cxnSp>
        <p:nvCxnSpPr>
          <p:cNvPr id="66" name="tgt-4"/>
          <p:cNvCxnSpPr/>
          <p:nvPr/>
        </p:nvCxnSpPr>
        <p:spPr>
          <a:xfrm>
            <a:off x="7855527" y="4000500"/>
            <a:ext cx="0" cy="355600"/>
          </a:xfrm>
          <a:prstGeom prst="line">
            <a:avLst/>
          </a:prstGeom>
          <a:ln w="13970" cap="rnd">
            <a:solidFill>
              <a:srgbClr val="0B2545">
                <a:alpha val="5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7" name="tgtc-4"/>
          <p:cNvSpPr/>
          <p:nvPr/>
        </p:nvSpPr>
        <p:spPr>
          <a:xfrm>
            <a:off x="7576121" y="3848100"/>
            <a:ext cx="558800" cy="177800"/>
          </a:xfrm>
          <a:custGeom>
            <a:avLst/>
            <a:gdLst/>
            <a:ahLst/>
            <a:cxnLst/>
            <a:rect l="0" t="0" r="r" b="b"/>
            <a:pathLst>
              <a:path w="558800" h="177800">
                <a:moveTo>
                  <a:pt x="88900" y="0"/>
                </a:moveTo>
                <a:lnTo>
                  <a:pt x="469900" y="0"/>
                </a:lnTo>
                <a:cubicBezTo>
                  <a:pt x="518986" y="0"/>
                  <a:pt x="558800" y="39814"/>
                  <a:pt x="558800" y="88900"/>
                </a:cubicBezTo>
                <a:lnTo>
                  <a:pt x="558800" y="88900"/>
                </a:lnTo>
                <a:cubicBezTo>
                  <a:pt x="558800" y="137986"/>
                  <a:pt x="518986" y="177800"/>
                  <a:pt x="4699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0B2545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tgtt-4"/>
          <p:cNvSpPr txBox="1"/>
          <p:nvPr/>
        </p:nvSpPr>
        <p:spPr>
          <a:xfrm>
            <a:off x="7645596" y="3865308"/>
            <a:ext cx="4198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目标 98</a:t>
            </a:r>
          </a:p>
        </p:txBody>
      </p:sp>
      <p:sp>
        <p:nvSpPr>
          <p:cNvPr id="69" name="gv-4"/>
          <p:cNvSpPr/>
          <p:nvPr/>
        </p:nvSpPr>
        <p:spPr>
          <a:xfrm>
            <a:off x="9017000" y="4025900"/>
            <a:ext cx="1524000" cy="304800"/>
          </a:xfrm>
          <a:custGeom>
            <a:avLst/>
            <a:gdLst/>
            <a:ahLst/>
            <a:cxnLst/>
            <a:rect l="0" t="0" r="r" b="b"/>
            <a:pathLst>
              <a:path w="1524000" h="304800">
                <a:moveTo>
                  <a:pt x="88900" y="0"/>
                </a:moveTo>
                <a:lnTo>
                  <a:pt x="1435100" y="0"/>
                </a:lnTo>
                <a:cubicBezTo>
                  <a:pt x="1484186" y="0"/>
                  <a:pt x="1524000" y="39814"/>
                  <a:pt x="1524000" y="88900"/>
                </a:cubicBezTo>
                <a:lnTo>
                  <a:pt x="1524000" y="215900"/>
                </a:lnTo>
                <a:cubicBezTo>
                  <a:pt x="1524000" y="264986"/>
                  <a:pt x="1484186" y="304800"/>
                  <a:pt x="1435100" y="304800"/>
                </a:cubicBezTo>
                <a:lnTo>
                  <a:pt x="88900" y="304800"/>
                </a:lnTo>
                <a:cubicBezTo>
                  <a:pt x="39814" y="304800"/>
                  <a:pt x="0" y="264986"/>
                  <a:pt x="0" y="215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1B5AA8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gvt-4"/>
          <p:cNvSpPr txBox="1"/>
          <p:nvPr/>
        </p:nvSpPr>
        <p:spPr>
          <a:xfrm>
            <a:off x="9151112" y="4047236"/>
            <a:ext cx="488696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20">
                <a:solidFill>
                  <a:srgbClr val="1B5AA8"/>
                </a:solidFill>
                <a:latin typeface="Arial"/>
                <a:ea typeface="Arial"/>
                <a:cs typeface="Arial"/>
              </a:rPr>
              <a:t>+1.6</a:t>
            </a:r>
          </a:p>
        </p:txBody>
      </p:sp>
      <p:sp>
        <p:nvSpPr>
          <p:cNvPr id="71" name="gvu-4"/>
          <p:cNvSpPr txBox="1"/>
          <p:nvPr/>
        </p:nvSpPr>
        <p:spPr>
          <a:xfrm>
            <a:off x="10258425" y="4111466"/>
            <a:ext cx="1416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%</a:t>
            </a:r>
          </a:p>
        </p:txBody>
      </p:sp>
      <p:sp>
        <p:nvSpPr>
          <p:cNvPr id="72" name="gvp-4"/>
          <p:cNvSpPr txBox="1"/>
          <p:nvPr/>
        </p:nvSpPr>
        <p:spPr>
          <a:xfrm>
            <a:off x="10682351" y="4115387"/>
            <a:ext cx="5290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需提升 2%</a:t>
            </a:r>
          </a:p>
        </p:txBody>
      </p:sp>
      <p:cxnSp>
        <p:nvCxnSpPr>
          <p:cNvPr id="73" name="rl-4"/>
          <p:cNvCxnSpPr/>
          <p:nvPr/>
        </p:nvCxnSpPr>
        <p:spPr>
          <a:xfrm>
            <a:off x="952500" y="44704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nm-5"/>
          <p:cNvSpPr txBox="1"/>
          <p:nvPr/>
        </p:nvSpPr>
        <p:spPr>
          <a:xfrm>
            <a:off x="961136" y="4653470"/>
            <a:ext cx="102108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新品营收占比</a:t>
            </a:r>
          </a:p>
        </p:txBody>
      </p:sp>
      <p:sp>
        <p:nvSpPr>
          <p:cNvPr id="75" name="pri-5"/>
          <p:cNvSpPr/>
          <p:nvPr/>
        </p:nvSpPr>
        <p:spPr>
          <a:xfrm>
            <a:off x="977900" y="4914900"/>
            <a:ext cx="469900" cy="177800"/>
          </a:xfrm>
          <a:custGeom>
            <a:avLst/>
            <a:gdLst/>
            <a:ahLst/>
            <a:cxnLst/>
            <a:rect l="0" t="0" r="r" b="b"/>
            <a:pathLst>
              <a:path w="469900" h="177800">
                <a:moveTo>
                  <a:pt x="88900" y="0"/>
                </a:moveTo>
                <a:lnTo>
                  <a:pt x="381000" y="0"/>
                </a:lnTo>
                <a:cubicBezTo>
                  <a:pt x="430085" y="0"/>
                  <a:pt x="469900" y="39814"/>
                  <a:pt x="469900" y="88900"/>
                </a:cubicBezTo>
                <a:lnTo>
                  <a:pt x="469900" y="88900"/>
                </a:lnTo>
                <a:cubicBezTo>
                  <a:pt x="469900" y="137986"/>
                  <a:pt x="430085" y="177800"/>
                  <a:pt x="381000" y="177800"/>
                </a:cubicBezTo>
                <a:lnTo>
                  <a:pt x="88900" y="177800"/>
                </a:lnTo>
                <a:cubicBezTo>
                  <a:pt x="39815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0703A">
              <a:alpha val="13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prit-5"/>
          <p:cNvSpPr txBox="1"/>
          <p:nvPr/>
        </p:nvSpPr>
        <p:spPr>
          <a:xfrm>
            <a:off x="1034732" y="4932108"/>
            <a:ext cx="35623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高优先</a:t>
            </a:r>
          </a:p>
        </p:txBody>
      </p:sp>
      <p:sp>
        <p:nvSpPr>
          <p:cNvPr id="77" name="track-5"/>
          <p:cNvSpPr/>
          <p:nvPr/>
        </p:nvSpPr>
        <p:spPr>
          <a:xfrm>
            <a:off x="3556000" y="4730750"/>
            <a:ext cx="4826000" cy="215900"/>
          </a:xfrm>
          <a:prstGeom prst="roundRect">
            <a:avLst>
              <a:gd name="adj" fmla="val 50000"/>
            </a:avLst>
          </a:prstGeom>
          <a:solidFill>
            <a:srgbClr val="0B2545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gap-5"/>
          <p:cNvSpPr/>
          <p:nvPr/>
        </p:nvSpPr>
        <p:spPr>
          <a:xfrm>
            <a:off x="4372038" y="4730750"/>
            <a:ext cx="500126" cy="215900"/>
          </a:xfrm>
          <a:custGeom>
            <a:avLst/>
            <a:gdLst/>
            <a:ahLst/>
            <a:cxnLst/>
            <a:rect l="0" t="0" r="r" b="b"/>
            <a:pathLst>
              <a:path w="500126" h="215900">
                <a:moveTo>
                  <a:pt x="107950" y="0"/>
                </a:moveTo>
                <a:lnTo>
                  <a:pt x="392176" y="0"/>
                </a:lnTo>
                <a:cubicBezTo>
                  <a:pt x="451802" y="0"/>
                  <a:pt x="500126" y="48324"/>
                  <a:pt x="500126" y="107950"/>
                </a:cubicBezTo>
                <a:lnTo>
                  <a:pt x="500126" y="107950"/>
                </a:lnTo>
                <a:cubicBezTo>
                  <a:pt x="500126" y="167576"/>
                  <a:pt x="451802" y="215900"/>
                  <a:pt x="392176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E0703A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cur-5"/>
          <p:cNvSpPr/>
          <p:nvPr/>
        </p:nvSpPr>
        <p:spPr>
          <a:xfrm>
            <a:off x="3556000" y="4730750"/>
            <a:ext cx="816038" cy="215900"/>
          </a:xfrm>
          <a:custGeom>
            <a:avLst/>
            <a:gdLst/>
            <a:ahLst/>
            <a:cxnLst/>
            <a:rect l="0" t="0" r="r" b="b"/>
            <a:pathLst>
              <a:path w="816038" h="215900">
                <a:moveTo>
                  <a:pt x="107950" y="0"/>
                </a:moveTo>
                <a:lnTo>
                  <a:pt x="708088" y="0"/>
                </a:lnTo>
                <a:cubicBezTo>
                  <a:pt x="767715" y="0"/>
                  <a:pt x="816038" y="48324"/>
                  <a:pt x="816038" y="107950"/>
                </a:cubicBezTo>
                <a:lnTo>
                  <a:pt x="816038" y="107950"/>
                </a:lnTo>
                <a:cubicBezTo>
                  <a:pt x="816038" y="167576"/>
                  <a:pt x="767715" y="215900"/>
                  <a:pt x="708088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gradFill rotWithShape="1">
            <a:gsLst>
              <a:gs pos="0">
                <a:srgbClr val="5C95CF"/>
              </a:gs>
              <a:gs pos="100000">
                <a:srgbClr val="2E77C2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curv-5"/>
          <p:cNvSpPr txBox="1"/>
          <p:nvPr/>
        </p:nvSpPr>
        <p:spPr>
          <a:xfrm>
            <a:off x="3902387" y="4741990"/>
            <a:ext cx="36906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0">
                <a:solidFill>
                  <a:srgbClr val="FFFFFF"/>
                </a:solidFill>
                <a:latin typeface="Arial"/>
                <a:ea typeface="Arial"/>
                <a:cs typeface="Arial"/>
              </a:rPr>
              <a:t>18.6</a:t>
            </a:r>
          </a:p>
        </p:txBody>
      </p:sp>
      <p:cxnSp>
        <p:nvCxnSpPr>
          <p:cNvPr id="81" name="tgt-5"/>
          <p:cNvCxnSpPr/>
          <p:nvPr/>
        </p:nvCxnSpPr>
        <p:spPr>
          <a:xfrm>
            <a:off x="4872182" y="4660900"/>
            <a:ext cx="0" cy="355600"/>
          </a:xfrm>
          <a:prstGeom prst="line">
            <a:avLst/>
          </a:prstGeom>
          <a:ln w="13970" cap="rnd">
            <a:solidFill>
              <a:srgbClr val="0B2545">
                <a:alpha val="5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tgtc-5"/>
          <p:cNvSpPr/>
          <p:nvPr/>
        </p:nvSpPr>
        <p:spPr>
          <a:xfrm>
            <a:off x="4592764" y="4508500"/>
            <a:ext cx="558800" cy="177800"/>
          </a:xfrm>
          <a:custGeom>
            <a:avLst/>
            <a:gdLst/>
            <a:ahLst/>
            <a:cxnLst/>
            <a:rect l="0" t="0" r="r" b="b"/>
            <a:pathLst>
              <a:path w="558800" h="177800">
                <a:moveTo>
                  <a:pt x="88900" y="0"/>
                </a:moveTo>
                <a:lnTo>
                  <a:pt x="469900" y="0"/>
                </a:lnTo>
                <a:cubicBezTo>
                  <a:pt x="518986" y="0"/>
                  <a:pt x="558800" y="39814"/>
                  <a:pt x="558800" y="88900"/>
                </a:cubicBezTo>
                <a:lnTo>
                  <a:pt x="558800" y="88900"/>
                </a:lnTo>
                <a:cubicBezTo>
                  <a:pt x="558800" y="137986"/>
                  <a:pt x="518986" y="177800"/>
                  <a:pt x="4699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0B2545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tgtt-5"/>
          <p:cNvSpPr txBox="1"/>
          <p:nvPr/>
        </p:nvSpPr>
        <p:spPr>
          <a:xfrm>
            <a:off x="4662251" y="4525708"/>
            <a:ext cx="4198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目标 30</a:t>
            </a:r>
          </a:p>
        </p:txBody>
      </p:sp>
      <p:sp>
        <p:nvSpPr>
          <p:cNvPr id="84" name="gv-5"/>
          <p:cNvSpPr/>
          <p:nvPr/>
        </p:nvSpPr>
        <p:spPr>
          <a:xfrm>
            <a:off x="9017000" y="4686300"/>
            <a:ext cx="1524000" cy="304800"/>
          </a:xfrm>
          <a:custGeom>
            <a:avLst/>
            <a:gdLst/>
            <a:ahLst/>
            <a:cxnLst/>
            <a:rect l="0" t="0" r="r" b="b"/>
            <a:pathLst>
              <a:path w="1524000" h="304800">
                <a:moveTo>
                  <a:pt x="88900" y="0"/>
                </a:moveTo>
                <a:lnTo>
                  <a:pt x="1435100" y="0"/>
                </a:lnTo>
                <a:cubicBezTo>
                  <a:pt x="1484186" y="0"/>
                  <a:pt x="1524000" y="39814"/>
                  <a:pt x="1524000" y="88900"/>
                </a:cubicBezTo>
                <a:lnTo>
                  <a:pt x="1524000" y="215900"/>
                </a:lnTo>
                <a:cubicBezTo>
                  <a:pt x="1524000" y="264986"/>
                  <a:pt x="1484186" y="304800"/>
                  <a:pt x="1435100" y="304800"/>
                </a:cubicBezTo>
                <a:lnTo>
                  <a:pt x="88900" y="304800"/>
                </a:lnTo>
                <a:cubicBezTo>
                  <a:pt x="39814" y="304800"/>
                  <a:pt x="0" y="264986"/>
                  <a:pt x="0" y="215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E0703A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gvt-5"/>
          <p:cNvSpPr txBox="1"/>
          <p:nvPr/>
        </p:nvSpPr>
        <p:spPr>
          <a:xfrm>
            <a:off x="9151112" y="4707636"/>
            <a:ext cx="57658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20">
                <a:solidFill>
                  <a:srgbClr val="E0703A"/>
                </a:solidFill>
                <a:latin typeface="Arial"/>
                <a:ea typeface="Arial"/>
                <a:cs typeface="Arial"/>
              </a:rPr>
              <a:t>+11.4</a:t>
            </a:r>
          </a:p>
        </p:txBody>
      </p:sp>
      <p:sp>
        <p:nvSpPr>
          <p:cNvPr id="86" name="gvu-5"/>
          <p:cNvSpPr txBox="1"/>
          <p:nvPr/>
        </p:nvSpPr>
        <p:spPr>
          <a:xfrm>
            <a:off x="10258425" y="4771866"/>
            <a:ext cx="1416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%</a:t>
            </a:r>
          </a:p>
        </p:txBody>
      </p:sp>
      <p:sp>
        <p:nvSpPr>
          <p:cNvPr id="87" name="gvp-5"/>
          <p:cNvSpPr txBox="1"/>
          <p:nvPr/>
        </p:nvSpPr>
        <p:spPr>
          <a:xfrm>
            <a:off x="10682351" y="4775787"/>
            <a:ext cx="58312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需提升 61%</a:t>
            </a:r>
          </a:p>
        </p:txBody>
      </p:sp>
      <p:cxnSp>
        <p:nvCxnSpPr>
          <p:cNvPr id="88" name="rl-5"/>
          <p:cNvCxnSpPr/>
          <p:nvPr/>
        </p:nvCxnSpPr>
        <p:spPr>
          <a:xfrm>
            <a:off x="952500" y="51308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9" name="nm-6"/>
          <p:cNvSpPr txBox="1"/>
          <p:nvPr/>
        </p:nvSpPr>
        <p:spPr>
          <a:xfrm>
            <a:off x="961136" y="5313870"/>
            <a:ext cx="102108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库存周转次数</a:t>
            </a:r>
          </a:p>
        </p:txBody>
      </p:sp>
      <p:sp>
        <p:nvSpPr>
          <p:cNvPr id="90" name="pri-6"/>
          <p:cNvSpPr/>
          <p:nvPr/>
        </p:nvSpPr>
        <p:spPr>
          <a:xfrm>
            <a:off x="977900" y="5575300"/>
            <a:ext cx="469900" cy="177800"/>
          </a:xfrm>
          <a:custGeom>
            <a:avLst/>
            <a:gdLst/>
            <a:ahLst/>
            <a:cxnLst/>
            <a:rect l="0" t="0" r="r" b="b"/>
            <a:pathLst>
              <a:path w="469900" h="177800">
                <a:moveTo>
                  <a:pt x="88900" y="0"/>
                </a:moveTo>
                <a:lnTo>
                  <a:pt x="381000" y="0"/>
                </a:lnTo>
                <a:cubicBezTo>
                  <a:pt x="430085" y="0"/>
                  <a:pt x="469900" y="39814"/>
                  <a:pt x="469900" y="88900"/>
                </a:cubicBezTo>
                <a:lnTo>
                  <a:pt x="469900" y="88900"/>
                </a:lnTo>
                <a:cubicBezTo>
                  <a:pt x="469900" y="137986"/>
                  <a:pt x="430085" y="177800"/>
                  <a:pt x="381000" y="177800"/>
                </a:cubicBezTo>
                <a:lnTo>
                  <a:pt x="88900" y="177800"/>
                </a:lnTo>
                <a:cubicBezTo>
                  <a:pt x="39815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9AB0C8">
              <a:alpha val="13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prit-6"/>
          <p:cNvSpPr txBox="1"/>
          <p:nvPr/>
        </p:nvSpPr>
        <p:spPr>
          <a:xfrm>
            <a:off x="1034732" y="5592508"/>
            <a:ext cx="35623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5">
                <a:solidFill>
                  <a:srgbClr val="9AB0C8"/>
                </a:solidFill>
                <a:latin typeface="微软雅黑"/>
                <a:ea typeface="微软雅黑"/>
                <a:cs typeface="微软雅黑"/>
              </a:rPr>
              <a:t>低优先</a:t>
            </a:r>
          </a:p>
        </p:txBody>
      </p:sp>
      <p:sp>
        <p:nvSpPr>
          <p:cNvPr id="92" name="track-6"/>
          <p:cNvSpPr/>
          <p:nvPr/>
        </p:nvSpPr>
        <p:spPr>
          <a:xfrm>
            <a:off x="3556000" y="5391150"/>
            <a:ext cx="4826000" cy="215900"/>
          </a:xfrm>
          <a:prstGeom prst="roundRect">
            <a:avLst>
              <a:gd name="adj" fmla="val 50000"/>
            </a:avLst>
          </a:prstGeom>
          <a:solidFill>
            <a:srgbClr val="0B2545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gap-6"/>
          <p:cNvSpPr/>
          <p:nvPr/>
        </p:nvSpPr>
        <p:spPr>
          <a:xfrm>
            <a:off x="3828034" y="5391150"/>
            <a:ext cx="122809" cy="215900"/>
          </a:xfrm>
          <a:custGeom>
            <a:avLst/>
            <a:gdLst/>
            <a:ahLst/>
            <a:cxnLst/>
            <a:rect l="0" t="0" r="r" b="b"/>
            <a:pathLst>
              <a:path w="122809" h="215900">
                <a:moveTo>
                  <a:pt x="61404" y="0"/>
                </a:moveTo>
                <a:lnTo>
                  <a:pt x="61404" y="0"/>
                </a:lnTo>
                <a:cubicBezTo>
                  <a:pt x="95313" y="0"/>
                  <a:pt x="122809" y="27496"/>
                  <a:pt x="122809" y="61404"/>
                </a:cubicBezTo>
                <a:lnTo>
                  <a:pt x="122809" y="154496"/>
                </a:lnTo>
                <a:cubicBezTo>
                  <a:pt x="122809" y="188404"/>
                  <a:pt x="95313" y="215900"/>
                  <a:pt x="61404" y="215900"/>
                </a:cubicBezTo>
                <a:lnTo>
                  <a:pt x="61404" y="215900"/>
                </a:lnTo>
                <a:cubicBezTo>
                  <a:pt x="27495" y="215900"/>
                  <a:pt x="0" y="188404"/>
                  <a:pt x="0" y="154496"/>
                </a:cubicBezTo>
                <a:lnTo>
                  <a:pt x="0" y="61404"/>
                </a:lnTo>
                <a:cubicBezTo>
                  <a:pt x="0" y="27496"/>
                  <a:pt x="27495" y="0"/>
                  <a:pt x="61404" y="0"/>
                </a:cubicBezTo>
                <a:close/>
              </a:path>
            </a:pathLst>
          </a:custGeom>
          <a:solidFill>
            <a:srgbClr val="9AB0C8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cur-6"/>
          <p:cNvSpPr/>
          <p:nvPr/>
        </p:nvSpPr>
        <p:spPr>
          <a:xfrm>
            <a:off x="3556000" y="5391150"/>
            <a:ext cx="272034" cy="215900"/>
          </a:xfrm>
          <a:custGeom>
            <a:avLst/>
            <a:gdLst/>
            <a:ahLst/>
            <a:cxnLst/>
            <a:rect l="0" t="0" r="r" b="b"/>
            <a:pathLst>
              <a:path w="272034" h="215900">
                <a:moveTo>
                  <a:pt x="107950" y="0"/>
                </a:moveTo>
                <a:lnTo>
                  <a:pt x="164084" y="0"/>
                </a:lnTo>
                <a:cubicBezTo>
                  <a:pt x="223711" y="0"/>
                  <a:pt x="272034" y="48324"/>
                  <a:pt x="272034" y="107950"/>
                </a:cubicBezTo>
                <a:lnTo>
                  <a:pt x="272034" y="107950"/>
                </a:lnTo>
                <a:cubicBezTo>
                  <a:pt x="272034" y="167576"/>
                  <a:pt x="223711" y="215900"/>
                  <a:pt x="164084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gradFill rotWithShape="1">
            <a:gsLst>
              <a:gs pos="0">
                <a:srgbClr val="65A0D8"/>
              </a:gs>
              <a:gs pos="100000">
                <a:srgbClr val="3985CD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curv-6"/>
          <p:cNvSpPr txBox="1"/>
          <p:nvPr/>
        </p:nvSpPr>
        <p:spPr>
          <a:xfrm>
            <a:off x="3915895" y="5402390"/>
            <a:ext cx="30251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20">
                <a:solidFill>
                  <a:srgbClr val="3985CD"/>
                </a:solidFill>
                <a:latin typeface="Arial"/>
                <a:ea typeface="Arial"/>
                <a:cs typeface="Arial"/>
              </a:rPr>
              <a:t>6.2</a:t>
            </a:r>
          </a:p>
        </p:txBody>
      </p:sp>
      <p:cxnSp>
        <p:nvCxnSpPr>
          <p:cNvPr id="96" name="tgt-6"/>
          <p:cNvCxnSpPr/>
          <p:nvPr/>
        </p:nvCxnSpPr>
        <p:spPr>
          <a:xfrm>
            <a:off x="3950855" y="5321300"/>
            <a:ext cx="0" cy="355600"/>
          </a:xfrm>
          <a:prstGeom prst="line">
            <a:avLst/>
          </a:prstGeom>
          <a:ln w="13970" cap="rnd">
            <a:solidFill>
              <a:srgbClr val="0B2545">
                <a:alpha val="5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7" name="tgtc-6"/>
          <p:cNvSpPr/>
          <p:nvPr/>
        </p:nvSpPr>
        <p:spPr>
          <a:xfrm>
            <a:off x="3671443" y="5168900"/>
            <a:ext cx="558800" cy="177800"/>
          </a:xfrm>
          <a:custGeom>
            <a:avLst/>
            <a:gdLst/>
            <a:ahLst/>
            <a:cxnLst/>
            <a:rect l="0" t="0" r="r" b="b"/>
            <a:pathLst>
              <a:path w="558800" h="177800">
                <a:moveTo>
                  <a:pt x="88900" y="0"/>
                </a:moveTo>
                <a:lnTo>
                  <a:pt x="469900" y="0"/>
                </a:lnTo>
                <a:cubicBezTo>
                  <a:pt x="518986" y="0"/>
                  <a:pt x="558800" y="39814"/>
                  <a:pt x="558800" y="88900"/>
                </a:cubicBezTo>
                <a:lnTo>
                  <a:pt x="558800" y="88900"/>
                </a:lnTo>
                <a:cubicBezTo>
                  <a:pt x="558800" y="137986"/>
                  <a:pt x="518986" y="177800"/>
                  <a:pt x="469900" y="177800"/>
                </a:cubicBezTo>
                <a:lnTo>
                  <a:pt x="88900" y="177800"/>
                </a:lnTo>
                <a:cubicBezTo>
                  <a:pt x="39815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0B2545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tgtt-6"/>
          <p:cNvSpPr txBox="1"/>
          <p:nvPr/>
        </p:nvSpPr>
        <p:spPr>
          <a:xfrm>
            <a:off x="3767086" y="5186108"/>
            <a:ext cx="36753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目标 9</a:t>
            </a:r>
          </a:p>
        </p:txBody>
      </p:sp>
      <p:sp>
        <p:nvSpPr>
          <p:cNvPr id="99" name="gv-6"/>
          <p:cNvSpPr/>
          <p:nvPr/>
        </p:nvSpPr>
        <p:spPr>
          <a:xfrm>
            <a:off x="9017000" y="5346700"/>
            <a:ext cx="1524000" cy="304800"/>
          </a:xfrm>
          <a:custGeom>
            <a:avLst/>
            <a:gdLst/>
            <a:ahLst/>
            <a:cxnLst/>
            <a:rect l="0" t="0" r="r" b="b"/>
            <a:pathLst>
              <a:path w="1524000" h="304800">
                <a:moveTo>
                  <a:pt x="88900" y="0"/>
                </a:moveTo>
                <a:lnTo>
                  <a:pt x="1435100" y="0"/>
                </a:lnTo>
                <a:cubicBezTo>
                  <a:pt x="1484186" y="0"/>
                  <a:pt x="1524000" y="39814"/>
                  <a:pt x="1524000" y="88900"/>
                </a:cubicBezTo>
                <a:lnTo>
                  <a:pt x="1524000" y="215900"/>
                </a:lnTo>
                <a:cubicBezTo>
                  <a:pt x="1524000" y="264986"/>
                  <a:pt x="1484186" y="304800"/>
                  <a:pt x="1435100" y="304800"/>
                </a:cubicBezTo>
                <a:lnTo>
                  <a:pt x="88900" y="304800"/>
                </a:lnTo>
                <a:cubicBezTo>
                  <a:pt x="39814" y="304800"/>
                  <a:pt x="0" y="264986"/>
                  <a:pt x="0" y="215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9AB0C8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gvt-6"/>
          <p:cNvSpPr txBox="1"/>
          <p:nvPr/>
        </p:nvSpPr>
        <p:spPr>
          <a:xfrm>
            <a:off x="9151112" y="5368036"/>
            <a:ext cx="488696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20">
                <a:solidFill>
                  <a:srgbClr val="9AB0C8"/>
                </a:solidFill>
                <a:latin typeface="Arial"/>
                <a:ea typeface="Arial"/>
                <a:cs typeface="Arial"/>
              </a:rPr>
              <a:t>+2.8</a:t>
            </a:r>
          </a:p>
        </p:txBody>
      </p:sp>
      <p:sp>
        <p:nvSpPr>
          <p:cNvPr id="101" name="gvu-6"/>
          <p:cNvSpPr txBox="1"/>
          <p:nvPr/>
        </p:nvSpPr>
        <p:spPr>
          <a:xfrm>
            <a:off x="10216515" y="5432266"/>
            <a:ext cx="1835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次</a:t>
            </a:r>
          </a:p>
        </p:txBody>
      </p:sp>
      <p:sp>
        <p:nvSpPr>
          <p:cNvPr id="102" name="gvp-6"/>
          <p:cNvSpPr txBox="1"/>
          <p:nvPr/>
        </p:nvSpPr>
        <p:spPr>
          <a:xfrm>
            <a:off x="10682351" y="5436187"/>
            <a:ext cx="58312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需提升 45%</a:t>
            </a:r>
          </a:p>
        </p:txBody>
      </p:sp>
      <p:sp>
        <p:nvSpPr>
          <p:cNvPr id="103" name="lg-1"/>
          <p:cNvSpPr/>
          <p:nvPr/>
        </p:nvSpPr>
        <p:spPr>
          <a:xfrm>
            <a:off x="958850" y="5886450"/>
            <a:ext cx="88900" cy="889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4" name="lgt-1"/>
          <p:cNvSpPr txBox="1"/>
          <p:nvPr/>
        </p:nvSpPr>
        <p:spPr>
          <a:xfrm>
            <a:off x="1106170" y="5851366"/>
            <a:ext cx="4768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高优先级</a:t>
            </a:r>
          </a:p>
        </p:txBody>
      </p:sp>
      <p:sp>
        <p:nvSpPr>
          <p:cNvPr id="105" name="lg-2"/>
          <p:cNvSpPr/>
          <p:nvPr/>
        </p:nvSpPr>
        <p:spPr>
          <a:xfrm>
            <a:off x="1847850" y="5886450"/>
            <a:ext cx="88900" cy="8890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6" name="lgt-2"/>
          <p:cNvSpPr txBox="1"/>
          <p:nvPr/>
        </p:nvSpPr>
        <p:spPr>
          <a:xfrm>
            <a:off x="1995170" y="5851366"/>
            <a:ext cx="4768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中优先级</a:t>
            </a:r>
          </a:p>
        </p:txBody>
      </p:sp>
      <p:sp>
        <p:nvSpPr>
          <p:cNvPr id="107" name="lg-3"/>
          <p:cNvSpPr/>
          <p:nvPr/>
        </p:nvSpPr>
        <p:spPr>
          <a:xfrm>
            <a:off x="2736850" y="5886450"/>
            <a:ext cx="88900" cy="88900"/>
          </a:xfrm>
          <a:prstGeom prst="ellipse">
            <a:avLst/>
          </a:prstGeom>
          <a:solidFill>
            <a:srgbClr val="9AB0C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8" name="lgt-3"/>
          <p:cNvSpPr txBox="1"/>
          <p:nvPr/>
        </p:nvSpPr>
        <p:spPr>
          <a:xfrm>
            <a:off x="2884170" y="5851366"/>
            <a:ext cx="4768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低优先级</a:t>
            </a:r>
          </a:p>
        </p:txBody>
      </p:sp>
      <p:sp>
        <p:nvSpPr>
          <p:cNvPr id="109" name="con-bar"/>
          <p:cNvSpPr/>
          <p:nvPr/>
        </p:nvSpPr>
        <p:spPr>
          <a:xfrm>
            <a:off x="3848100" y="5753100"/>
            <a:ext cx="25400" cy="3556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0" name="con-h"/>
          <p:cNvSpPr txBox="1"/>
          <p:nvPr/>
        </p:nvSpPr>
        <p:spPr>
          <a:xfrm>
            <a:off x="3999484" y="5751640"/>
            <a:ext cx="60579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9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补差重点</a:t>
            </a:r>
          </a:p>
        </p:txBody>
      </p:sp>
      <p:sp>
        <p:nvSpPr>
          <p:cNvPr id="111" name="con-p"/>
          <p:cNvSpPr txBox="1"/>
          <p:nvPr/>
        </p:nvSpPr>
        <p:spPr>
          <a:xfrm>
            <a:off x="3999865" y="5933361"/>
            <a:ext cx="547401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新品营收占比差距最大（需提升 61%），交付准时率与毛利率虽差距小但权重最高，列为本年度三项攻坚。</a:t>
            </a:r>
          </a:p>
        </p:txBody>
      </p:sp>
      <p:cxnSp>
        <p:nvCxnSpPr>
          <p:cNvPr id="112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3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差距分析 · 六项指标</a:t>
            </a:r>
          </a:p>
        </p:txBody>
      </p:sp>
      <p:sp>
        <p:nvSpPr>
          <p:cNvPr id="114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32994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两套实施方案排期对比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810131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SCHEDULE COMPARISON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198991" y="673132"/>
            <a:ext cx="242176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同一目标的两条路径：快速上线 vs 一步到位</a:t>
            </a:r>
          </a:p>
        </p:txBody>
      </p:sp>
      <p:sp>
        <p:nvSpPr>
          <p:cNvPr id="10" name="pc-1"/>
          <p:cNvSpPr/>
          <p:nvPr/>
        </p:nvSpPr>
        <p:spPr>
          <a:xfrm>
            <a:off x="952500" y="1727200"/>
            <a:ext cx="1841500" cy="1803400"/>
          </a:xfrm>
          <a:custGeom>
            <a:avLst/>
            <a:gdLst/>
            <a:ahLst/>
            <a:cxnLst/>
            <a:rect l="0" t="0" r="r" b="b"/>
            <a:pathLst>
              <a:path w="1841500" h="1803400">
                <a:moveTo>
                  <a:pt x="114300" y="0"/>
                </a:moveTo>
                <a:lnTo>
                  <a:pt x="1727200" y="0"/>
                </a:lnTo>
                <a:cubicBezTo>
                  <a:pt x="1790319" y="0"/>
                  <a:pt x="1841500" y="51181"/>
                  <a:pt x="1841500" y="114300"/>
                </a:cubicBezTo>
                <a:lnTo>
                  <a:pt x="1841500" y="1689100"/>
                </a:lnTo>
                <a:cubicBezTo>
                  <a:pt x="1841500" y="1752219"/>
                  <a:pt x="1790319" y="1803400"/>
                  <a:pt x="1727200" y="1803400"/>
                </a:cubicBezTo>
                <a:lnTo>
                  <a:pt x="114300" y="1803400"/>
                </a:lnTo>
                <a:cubicBezTo>
                  <a:pt x="51181" y="1803400"/>
                  <a:pt x="0" y="1752219"/>
                  <a:pt x="0" y="16891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icon-rocket"/>
          <p:cNvSpPr/>
          <p:nvPr/>
        </p:nvSpPr>
        <p:spPr>
          <a:xfrm>
            <a:off x="1179512" y="1936750"/>
            <a:ext cx="104775" cy="131762"/>
          </a:xfrm>
          <a:custGeom>
            <a:avLst/>
            <a:gdLst/>
            <a:ahLst/>
            <a:cxnLst/>
            <a:rect l="0" t="0" r="r" b="b"/>
            <a:pathLst>
              <a:path w="104775" h="131762">
                <a:moveTo>
                  <a:pt x="52388" y="0"/>
                </a:moveTo>
                <a:cubicBezTo>
                  <a:pt x="76200" y="17462"/>
                  <a:pt x="88900" y="44450"/>
                  <a:pt x="88900" y="73025"/>
                </a:cubicBezTo>
                <a:lnTo>
                  <a:pt x="71438" y="101600"/>
                </a:lnTo>
                <a:lnTo>
                  <a:pt x="33338" y="101600"/>
                </a:lnTo>
                <a:lnTo>
                  <a:pt x="15875" y="73025"/>
                </a:lnTo>
                <a:cubicBezTo>
                  <a:pt x="15875" y="44450"/>
                  <a:pt x="28575" y="17462"/>
                  <a:pt x="52388" y="0"/>
                </a:cubicBezTo>
                <a:close/>
                <a:moveTo>
                  <a:pt x="15875" y="95250"/>
                </a:moveTo>
                <a:lnTo>
                  <a:pt x="0" y="131762"/>
                </a:lnTo>
                <a:lnTo>
                  <a:pt x="33338" y="119062"/>
                </a:lnTo>
                <a:moveTo>
                  <a:pt x="88900" y="95250"/>
                </a:moveTo>
                <a:lnTo>
                  <a:pt x="104775" y="131762"/>
                </a:lnTo>
                <a:lnTo>
                  <a:pt x="71438" y="119062"/>
                </a:lnTo>
              </a:path>
            </a:pathLst>
          </a:custGeom>
          <a:noFill/>
          <a:ln w="1333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pn-1"/>
          <p:cNvSpPr txBox="1"/>
          <p:nvPr/>
        </p:nvSpPr>
        <p:spPr>
          <a:xfrm>
            <a:off x="1428750" y="18613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快速上线</a:t>
            </a:r>
          </a:p>
        </p:txBody>
      </p:sp>
      <p:sp>
        <p:nvSpPr>
          <p:cNvPr id="13" name="pl-1"/>
          <p:cNvSpPr txBox="1"/>
          <p:nvPr/>
        </p:nvSpPr>
        <p:spPr>
          <a:xfrm>
            <a:off x="1132332" y="2188908"/>
            <a:ext cx="39801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8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方案 A</a:t>
            </a:r>
          </a:p>
        </p:txBody>
      </p:sp>
      <p:sp>
        <p:nvSpPr>
          <p:cNvPr id="14" name="pp-1"/>
          <p:cNvSpPr txBox="1"/>
          <p:nvPr/>
        </p:nvSpPr>
        <p:spPr>
          <a:xfrm>
            <a:off x="1129665" y="2428161"/>
            <a:ext cx="146399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分两期交付，先跑通再补全</a:t>
            </a:r>
          </a:p>
        </p:txBody>
      </p:sp>
      <p:sp>
        <p:nvSpPr>
          <p:cNvPr id="15" name="pk-1-1"/>
          <p:cNvSpPr txBox="1"/>
          <p:nvPr/>
        </p:nvSpPr>
        <p:spPr>
          <a:xfrm>
            <a:off x="1132332" y="2760408"/>
            <a:ext cx="3695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6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总周期</a:t>
            </a:r>
          </a:p>
        </p:txBody>
      </p:sp>
      <p:sp>
        <p:nvSpPr>
          <p:cNvPr id="16" name="pv-1-1"/>
          <p:cNvSpPr txBox="1"/>
          <p:nvPr/>
        </p:nvSpPr>
        <p:spPr>
          <a:xfrm>
            <a:off x="1125474" y="2880328"/>
            <a:ext cx="538099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18 周</a:t>
            </a:r>
          </a:p>
        </p:txBody>
      </p:sp>
      <p:sp>
        <p:nvSpPr>
          <p:cNvPr id="17" name="pk-1-2"/>
          <p:cNvSpPr txBox="1"/>
          <p:nvPr/>
        </p:nvSpPr>
        <p:spPr>
          <a:xfrm>
            <a:off x="1132332" y="3116008"/>
            <a:ext cx="4660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6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上线时点</a:t>
            </a:r>
          </a:p>
        </p:txBody>
      </p:sp>
      <p:sp>
        <p:nvSpPr>
          <p:cNvPr id="18" name="pv-1-2"/>
          <p:cNvSpPr txBox="1"/>
          <p:nvPr/>
        </p:nvSpPr>
        <p:spPr>
          <a:xfrm>
            <a:off x="1125474" y="3235928"/>
            <a:ext cx="687959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第 9 周</a:t>
            </a:r>
          </a:p>
        </p:txBody>
      </p:sp>
      <p:sp>
        <p:nvSpPr>
          <p:cNvPr id="19" name="t-1-1"/>
          <p:cNvSpPr/>
          <p:nvPr/>
        </p:nvSpPr>
        <p:spPr>
          <a:xfrm>
            <a:off x="2984500" y="1905000"/>
            <a:ext cx="666750" cy="190500"/>
          </a:xfrm>
          <a:custGeom>
            <a:avLst/>
            <a:gdLst/>
            <a:ahLst/>
            <a:cxnLst/>
            <a:rect l="0" t="0" r="r" b="b"/>
            <a:pathLst>
              <a:path w="666750" h="190500">
                <a:moveTo>
                  <a:pt x="76200" y="0"/>
                </a:moveTo>
                <a:lnTo>
                  <a:pt x="590550" y="0"/>
                </a:lnTo>
                <a:cubicBezTo>
                  <a:pt x="632650" y="0"/>
                  <a:pt x="666750" y="34100"/>
                  <a:pt x="666750" y="76200"/>
                </a:cubicBezTo>
                <a:lnTo>
                  <a:pt x="666750" y="114300"/>
                </a:lnTo>
                <a:cubicBezTo>
                  <a:pt x="666750" y="156400"/>
                  <a:pt x="632650" y="190500"/>
                  <a:pt x="590550" y="190500"/>
                </a:cubicBezTo>
                <a:lnTo>
                  <a:pt x="76200" y="190500"/>
                </a:lnTo>
                <a:cubicBezTo>
                  <a:pt x="34100" y="190500"/>
                  <a:pt x="0" y="156400"/>
                  <a:pt x="0" y="1143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4B70AC"/>
              </a:gs>
              <a:gs pos="100000">
                <a:srgbClr val="23519A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tl-1-1"/>
          <p:cNvSpPr txBox="1"/>
          <p:nvPr/>
        </p:nvSpPr>
        <p:spPr>
          <a:xfrm>
            <a:off x="3716401" y="1924637"/>
            <a:ext cx="46132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需求确认</a:t>
            </a:r>
          </a:p>
        </p:txBody>
      </p:sp>
      <p:sp>
        <p:nvSpPr>
          <p:cNvPr id="21" name="t-1-2"/>
          <p:cNvSpPr/>
          <p:nvPr/>
        </p:nvSpPr>
        <p:spPr>
          <a:xfrm>
            <a:off x="3651250" y="2184400"/>
            <a:ext cx="2000250" cy="190500"/>
          </a:xfrm>
          <a:custGeom>
            <a:avLst/>
            <a:gdLst/>
            <a:ahLst/>
            <a:cxnLst/>
            <a:rect l="0" t="0" r="r" b="b"/>
            <a:pathLst>
              <a:path w="2000250" h="190500">
                <a:moveTo>
                  <a:pt x="76200" y="0"/>
                </a:moveTo>
                <a:lnTo>
                  <a:pt x="1924050" y="0"/>
                </a:lnTo>
                <a:cubicBezTo>
                  <a:pt x="1966150" y="0"/>
                  <a:pt x="2000250" y="34100"/>
                  <a:pt x="2000250" y="76200"/>
                </a:cubicBezTo>
                <a:lnTo>
                  <a:pt x="2000250" y="114300"/>
                </a:lnTo>
                <a:cubicBezTo>
                  <a:pt x="2000250" y="156400"/>
                  <a:pt x="1966150" y="190500"/>
                  <a:pt x="1924050" y="190500"/>
                </a:cubicBezTo>
                <a:lnTo>
                  <a:pt x="76200" y="190500"/>
                </a:lnTo>
                <a:cubicBezTo>
                  <a:pt x="34100" y="190500"/>
                  <a:pt x="0" y="156400"/>
                  <a:pt x="0" y="1143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5D7FB4"/>
              </a:gs>
              <a:gs pos="100000">
                <a:srgbClr val="3963A4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tl-1-2"/>
          <p:cNvSpPr txBox="1"/>
          <p:nvPr/>
        </p:nvSpPr>
        <p:spPr>
          <a:xfrm>
            <a:off x="3741801" y="2204037"/>
            <a:ext cx="65055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核心模块实施</a:t>
            </a:r>
          </a:p>
        </p:txBody>
      </p:sp>
      <p:sp>
        <p:nvSpPr>
          <p:cNvPr id="23" name="t-1-3"/>
          <p:cNvSpPr/>
          <p:nvPr/>
        </p:nvSpPr>
        <p:spPr>
          <a:xfrm>
            <a:off x="5651500" y="2463800"/>
            <a:ext cx="333375" cy="190500"/>
          </a:xfrm>
          <a:custGeom>
            <a:avLst/>
            <a:gdLst/>
            <a:ahLst/>
            <a:cxnLst/>
            <a:rect l="0" t="0" r="r" b="b"/>
            <a:pathLst>
              <a:path w="333375" h="190500">
                <a:moveTo>
                  <a:pt x="76200" y="0"/>
                </a:moveTo>
                <a:lnTo>
                  <a:pt x="257175" y="0"/>
                </a:lnTo>
                <a:cubicBezTo>
                  <a:pt x="299276" y="0"/>
                  <a:pt x="333375" y="34100"/>
                  <a:pt x="333375" y="76200"/>
                </a:cubicBezTo>
                <a:lnTo>
                  <a:pt x="333375" y="114300"/>
                </a:lnTo>
                <a:cubicBezTo>
                  <a:pt x="333375" y="156400"/>
                  <a:pt x="299276" y="190500"/>
                  <a:pt x="257175" y="190500"/>
                </a:cubicBezTo>
                <a:lnTo>
                  <a:pt x="76200" y="190500"/>
                </a:lnTo>
                <a:cubicBezTo>
                  <a:pt x="34100" y="190500"/>
                  <a:pt x="0" y="156400"/>
                  <a:pt x="0" y="1143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6F8DBD"/>
              </a:gs>
              <a:gs pos="100000">
                <a:srgbClr val="4F74AE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tl-1-3"/>
          <p:cNvSpPr txBox="1"/>
          <p:nvPr/>
        </p:nvSpPr>
        <p:spPr>
          <a:xfrm>
            <a:off x="6050026" y="2483437"/>
            <a:ext cx="46132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一期上线</a:t>
            </a:r>
          </a:p>
        </p:txBody>
      </p:sp>
      <p:sp>
        <p:nvSpPr>
          <p:cNvPr id="25" name="ms-1-3"/>
          <p:cNvSpPr/>
          <p:nvPr/>
        </p:nvSpPr>
        <p:spPr>
          <a:xfrm>
            <a:off x="5764204" y="2300827"/>
            <a:ext cx="107967" cy="96298"/>
          </a:xfrm>
          <a:custGeom>
            <a:avLst/>
            <a:gdLst/>
            <a:ahLst/>
            <a:cxnLst/>
            <a:rect l="0" t="0" r="r" b="b"/>
            <a:pathLst>
              <a:path w="107967" h="96298">
                <a:moveTo>
                  <a:pt x="44204" y="8477"/>
                </a:moveTo>
                <a:quadBezTo>
                  <a:pt x="53983" y="-8477"/>
                  <a:pt x="63762" y="8477"/>
                </a:quadBezTo>
                <a:lnTo>
                  <a:pt x="104720" y="79343"/>
                </a:lnTo>
                <a:quadBezTo>
                  <a:pt x="114499" y="96298"/>
                  <a:pt x="94941" y="96298"/>
                </a:quadBezTo>
                <a:lnTo>
                  <a:pt x="13026" y="96298"/>
                </a:lnTo>
                <a:quadBezTo>
                  <a:pt x="-6532" y="96298"/>
                  <a:pt x="3247" y="79343"/>
                </a:quad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t-1-4"/>
          <p:cNvSpPr/>
          <p:nvPr/>
        </p:nvSpPr>
        <p:spPr>
          <a:xfrm>
            <a:off x="5984875" y="2743200"/>
            <a:ext cx="1000125" cy="190500"/>
          </a:xfrm>
          <a:custGeom>
            <a:avLst/>
            <a:gdLst/>
            <a:ahLst/>
            <a:cxnLst/>
            <a:rect l="0" t="0" r="r" b="b"/>
            <a:pathLst>
              <a:path w="1000125" h="190500">
                <a:moveTo>
                  <a:pt x="76200" y="0"/>
                </a:moveTo>
                <a:lnTo>
                  <a:pt x="923925" y="0"/>
                </a:lnTo>
                <a:cubicBezTo>
                  <a:pt x="966026" y="0"/>
                  <a:pt x="1000125" y="34100"/>
                  <a:pt x="1000125" y="76200"/>
                </a:cubicBezTo>
                <a:lnTo>
                  <a:pt x="1000125" y="114300"/>
                </a:lnTo>
                <a:cubicBezTo>
                  <a:pt x="1000125" y="156400"/>
                  <a:pt x="966026" y="190500"/>
                  <a:pt x="923925" y="190500"/>
                </a:cubicBezTo>
                <a:lnTo>
                  <a:pt x="76200" y="190500"/>
                </a:lnTo>
                <a:cubicBezTo>
                  <a:pt x="34100" y="190500"/>
                  <a:pt x="0" y="156400"/>
                  <a:pt x="0" y="1143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819BC5"/>
              </a:gs>
              <a:gs pos="100000">
                <a:srgbClr val="6585B8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tl-1-4"/>
          <p:cNvSpPr txBox="1"/>
          <p:nvPr/>
        </p:nvSpPr>
        <p:spPr>
          <a:xfrm>
            <a:off x="6075426" y="2762837"/>
            <a:ext cx="55594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试运行调优</a:t>
            </a:r>
          </a:p>
        </p:txBody>
      </p:sp>
      <p:sp>
        <p:nvSpPr>
          <p:cNvPr id="28" name="t-1-5"/>
          <p:cNvSpPr/>
          <p:nvPr/>
        </p:nvSpPr>
        <p:spPr>
          <a:xfrm>
            <a:off x="6985000" y="3022600"/>
            <a:ext cx="1666875" cy="190500"/>
          </a:xfrm>
          <a:custGeom>
            <a:avLst/>
            <a:gdLst/>
            <a:ahLst/>
            <a:cxnLst/>
            <a:rect l="0" t="0" r="r" b="b"/>
            <a:pathLst>
              <a:path w="1666875" h="190500">
                <a:moveTo>
                  <a:pt x="76200" y="0"/>
                </a:moveTo>
                <a:lnTo>
                  <a:pt x="1590675" y="0"/>
                </a:lnTo>
                <a:cubicBezTo>
                  <a:pt x="1632776" y="0"/>
                  <a:pt x="1666875" y="34100"/>
                  <a:pt x="1666875" y="76200"/>
                </a:cubicBezTo>
                <a:lnTo>
                  <a:pt x="1666875" y="114300"/>
                </a:lnTo>
                <a:cubicBezTo>
                  <a:pt x="1666875" y="156400"/>
                  <a:pt x="1632776" y="190500"/>
                  <a:pt x="1590675" y="190500"/>
                </a:cubicBezTo>
                <a:lnTo>
                  <a:pt x="76200" y="190500"/>
                </a:lnTo>
                <a:cubicBezTo>
                  <a:pt x="34099" y="190500"/>
                  <a:pt x="0" y="156400"/>
                  <a:pt x="0" y="1143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93AACE"/>
              </a:gs>
              <a:gs pos="100000">
                <a:srgbClr val="7B97C3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tl-1-5"/>
          <p:cNvSpPr txBox="1"/>
          <p:nvPr/>
        </p:nvSpPr>
        <p:spPr>
          <a:xfrm>
            <a:off x="7075551" y="3042237"/>
            <a:ext cx="46132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二期补全</a:t>
            </a:r>
          </a:p>
        </p:txBody>
      </p:sp>
      <p:sp>
        <p:nvSpPr>
          <p:cNvPr id="30" name="t-1-6"/>
          <p:cNvSpPr/>
          <p:nvPr/>
        </p:nvSpPr>
        <p:spPr>
          <a:xfrm>
            <a:off x="8651875" y="3302000"/>
            <a:ext cx="333375" cy="190500"/>
          </a:xfrm>
          <a:custGeom>
            <a:avLst/>
            <a:gdLst/>
            <a:ahLst/>
            <a:cxnLst/>
            <a:rect l="0" t="0" r="r" b="b"/>
            <a:pathLst>
              <a:path w="333375" h="190500">
                <a:moveTo>
                  <a:pt x="76200" y="0"/>
                </a:moveTo>
                <a:lnTo>
                  <a:pt x="257175" y="0"/>
                </a:lnTo>
                <a:cubicBezTo>
                  <a:pt x="299276" y="0"/>
                  <a:pt x="333375" y="34100"/>
                  <a:pt x="333375" y="76200"/>
                </a:cubicBezTo>
                <a:lnTo>
                  <a:pt x="333375" y="114300"/>
                </a:lnTo>
                <a:cubicBezTo>
                  <a:pt x="333375" y="156400"/>
                  <a:pt x="299276" y="190500"/>
                  <a:pt x="257175" y="190500"/>
                </a:cubicBezTo>
                <a:lnTo>
                  <a:pt x="76200" y="190500"/>
                </a:lnTo>
                <a:cubicBezTo>
                  <a:pt x="34099" y="190500"/>
                  <a:pt x="0" y="156400"/>
                  <a:pt x="0" y="1143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A5B8D6"/>
              </a:gs>
              <a:gs pos="100000">
                <a:srgbClr val="91A8CD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tl-1-6"/>
          <p:cNvSpPr txBox="1"/>
          <p:nvPr/>
        </p:nvSpPr>
        <p:spPr>
          <a:xfrm>
            <a:off x="9050401" y="3321637"/>
            <a:ext cx="46132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全量上线</a:t>
            </a:r>
          </a:p>
        </p:txBody>
      </p:sp>
      <p:sp>
        <p:nvSpPr>
          <p:cNvPr id="32" name="ms-1-6"/>
          <p:cNvSpPr/>
          <p:nvPr/>
        </p:nvSpPr>
        <p:spPr>
          <a:xfrm>
            <a:off x="8764579" y="3139027"/>
            <a:ext cx="107967" cy="96298"/>
          </a:xfrm>
          <a:custGeom>
            <a:avLst/>
            <a:gdLst/>
            <a:ahLst/>
            <a:cxnLst/>
            <a:rect l="0" t="0" r="r" b="b"/>
            <a:pathLst>
              <a:path w="107967" h="96298">
                <a:moveTo>
                  <a:pt x="44204" y="8477"/>
                </a:moveTo>
                <a:quadBezTo>
                  <a:pt x="53983" y="-8477"/>
                  <a:pt x="63762" y="8477"/>
                </a:quadBezTo>
                <a:lnTo>
                  <a:pt x="104720" y="79343"/>
                </a:lnTo>
                <a:quadBezTo>
                  <a:pt x="114499" y="96298"/>
                  <a:pt x="94941" y="96298"/>
                </a:quadBezTo>
                <a:lnTo>
                  <a:pt x="13026" y="96298"/>
                </a:lnTo>
                <a:quadBezTo>
                  <a:pt x="-6532" y="96298"/>
                  <a:pt x="3247" y="79343"/>
                </a:quad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pc-2"/>
          <p:cNvSpPr/>
          <p:nvPr/>
        </p:nvSpPr>
        <p:spPr>
          <a:xfrm>
            <a:off x="952500" y="3848100"/>
            <a:ext cx="1841500" cy="1803400"/>
          </a:xfrm>
          <a:custGeom>
            <a:avLst/>
            <a:gdLst/>
            <a:ahLst/>
            <a:cxnLst/>
            <a:rect l="0" t="0" r="r" b="b"/>
            <a:pathLst>
              <a:path w="1841500" h="1803400">
                <a:moveTo>
                  <a:pt x="114300" y="0"/>
                </a:moveTo>
                <a:lnTo>
                  <a:pt x="1727200" y="0"/>
                </a:lnTo>
                <a:cubicBezTo>
                  <a:pt x="1790319" y="0"/>
                  <a:pt x="1841500" y="51181"/>
                  <a:pt x="1841500" y="114300"/>
                </a:cubicBezTo>
                <a:lnTo>
                  <a:pt x="1841500" y="1689100"/>
                </a:lnTo>
                <a:cubicBezTo>
                  <a:pt x="1841500" y="1752219"/>
                  <a:pt x="1790319" y="1803400"/>
                  <a:pt x="1727200" y="1803400"/>
                </a:cubicBezTo>
                <a:lnTo>
                  <a:pt x="114300" y="1803400"/>
                </a:lnTo>
                <a:cubicBezTo>
                  <a:pt x="51181" y="1803400"/>
                  <a:pt x="0" y="1752219"/>
                  <a:pt x="0" y="16891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 w="9525" cap="rnd">
            <a:solidFill>
              <a:srgbClr val="2E77C2">
                <a:alpha val="30000"/>
              </a:srgbClr>
            </a:solidFill>
            <a:round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icon-shield"/>
          <p:cNvSpPr/>
          <p:nvPr/>
        </p:nvSpPr>
        <p:spPr>
          <a:xfrm>
            <a:off x="1174750" y="4059238"/>
            <a:ext cx="114300" cy="136525"/>
          </a:xfrm>
          <a:custGeom>
            <a:avLst/>
            <a:gdLst/>
            <a:ahLst/>
            <a:cxnLst/>
            <a:rect l="0" t="0" r="r" b="b"/>
            <a:pathLst>
              <a:path w="114300" h="136525">
                <a:moveTo>
                  <a:pt x="57150" y="0"/>
                </a:moveTo>
                <a:lnTo>
                  <a:pt x="114300" y="22225"/>
                </a:lnTo>
                <a:lnTo>
                  <a:pt x="114300" y="66675"/>
                </a:lnTo>
                <a:cubicBezTo>
                  <a:pt x="114300" y="100012"/>
                  <a:pt x="90488" y="125412"/>
                  <a:pt x="57150" y="136525"/>
                </a:cubicBezTo>
                <a:cubicBezTo>
                  <a:pt x="23812" y="125412"/>
                  <a:pt x="0" y="100012"/>
                  <a:pt x="0" y="66675"/>
                </a:cubicBezTo>
                <a:lnTo>
                  <a:pt x="0" y="22225"/>
                </a:lnTo>
                <a:close/>
                <a:moveTo>
                  <a:pt x="33338" y="68262"/>
                </a:moveTo>
                <a:lnTo>
                  <a:pt x="50800" y="85725"/>
                </a:lnTo>
                <a:lnTo>
                  <a:pt x="84138" y="52388"/>
                </a:lnTo>
              </a:path>
            </a:pathLst>
          </a:custGeom>
          <a:noFill/>
          <a:ln w="13335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pn-2"/>
          <p:cNvSpPr txBox="1"/>
          <p:nvPr/>
        </p:nvSpPr>
        <p:spPr>
          <a:xfrm>
            <a:off x="1428750" y="39822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一步到位</a:t>
            </a:r>
          </a:p>
        </p:txBody>
      </p:sp>
      <p:sp>
        <p:nvSpPr>
          <p:cNvPr id="36" name="pl-2"/>
          <p:cNvSpPr txBox="1"/>
          <p:nvPr/>
        </p:nvSpPr>
        <p:spPr>
          <a:xfrm>
            <a:off x="1132332" y="4309808"/>
            <a:ext cx="39801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8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方案 B</a:t>
            </a:r>
          </a:p>
        </p:txBody>
      </p:sp>
      <p:sp>
        <p:nvSpPr>
          <p:cNvPr id="37" name="pp-2"/>
          <p:cNvSpPr txBox="1"/>
          <p:nvPr/>
        </p:nvSpPr>
        <p:spPr>
          <a:xfrm>
            <a:off x="1129665" y="4549061"/>
            <a:ext cx="146399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一次性完整交付，周期更长</a:t>
            </a:r>
          </a:p>
        </p:txBody>
      </p:sp>
      <p:sp>
        <p:nvSpPr>
          <p:cNvPr id="38" name="pk-2-1"/>
          <p:cNvSpPr txBox="1"/>
          <p:nvPr/>
        </p:nvSpPr>
        <p:spPr>
          <a:xfrm>
            <a:off x="1132332" y="4881308"/>
            <a:ext cx="3695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6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总周期</a:t>
            </a:r>
          </a:p>
        </p:txBody>
      </p:sp>
      <p:sp>
        <p:nvSpPr>
          <p:cNvPr id="39" name="pv-2-1"/>
          <p:cNvSpPr txBox="1"/>
          <p:nvPr/>
        </p:nvSpPr>
        <p:spPr>
          <a:xfrm>
            <a:off x="1125474" y="5001228"/>
            <a:ext cx="538099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24 周</a:t>
            </a:r>
          </a:p>
        </p:txBody>
      </p:sp>
      <p:sp>
        <p:nvSpPr>
          <p:cNvPr id="40" name="pk-2-2"/>
          <p:cNvSpPr txBox="1"/>
          <p:nvPr/>
        </p:nvSpPr>
        <p:spPr>
          <a:xfrm>
            <a:off x="1132332" y="5236908"/>
            <a:ext cx="4660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6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上线时点</a:t>
            </a:r>
          </a:p>
        </p:txBody>
      </p:sp>
      <p:sp>
        <p:nvSpPr>
          <p:cNvPr id="41" name="pv-2-2"/>
          <p:cNvSpPr txBox="1"/>
          <p:nvPr/>
        </p:nvSpPr>
        <p:spPr>
          <a:xfrm>
            <a:off x="1125474" y="5356828"/>
            <a:ext cx="773557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第 20 周</a:t>
            </a:r>
          </a:p>
        </p:txBody>
      </p:sp>
      <p:sp>
        <p:nvSpPr>
          <p:cNvPr id="42" name="t-2-1"/>
          <p:cNvSpPr/>
          <p:nvPr/>
        </p:nvSpPr>
        <p:spPr>
          <a:xfrm>
            <a:off x="2984500" y="4025900"/>
            <a:ext cx="1000125" cy="190500"/>
          </a:xfrm>
          <a:custGeom>
            <a:avLst/>
            <a:gdLst/>
            <a:ahLst/>
            <a:cxnLst/>
            <a:rect l="0" t="0" r="r" b="b"/>
            <a:pathLst>
              <a:path w="1000125" h="190500">
                <a:moveTo>
                  <a:pt x="76200" y="0"/>
                </a:moveTo>
                <a:lnTo>
                  <a:pt x="923925" y="0"/>
                </a:lnTo>
                <a:cubicBezTo>
                  <a:pt x="966026" y="0"/>
                  <a:pt x="1000125" y="34100"/>
                  <a:pt x="1000125" y="76200"/>
                </a:cubicBezTo>
                <a:lnTo>
                  <a:pt x="1000125" y="114300"/>
                </a:lnTo>
                <a:cubicBezTo>
                  <a:pt x="1000125" y="156400"/>
                  <a:pt x="966026" y="190500"/>
                  <a:pt x="923925" y="190500"/>
                </a:cubicBezTo>
                <a:lnTo>
                  <a:pt x="76200" y="190500"/>
                </a:lnTo>
                <a:cubicBezTo>
                  <a:pt x="34100" y="190500"/>
                  <a:pt x="0" y="156400"/>
                  <a:pt x="0" y="1143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659BD2"/>
              </a:gs>
              <a:gs pos="100000">
                <a:srgbClr val="4385C8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tl-2-1"/>
          <p:cNvSpPr txBox="1"/>
          <p:nvPr/>
        </p:nvSpPr>
        <p:spPr>
          <a:xfrm>
            <a:off x="3075051" y="4045537"/>
            <a:ext cx="46132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需求确认</a:t>
            </a:r>
          </a:p>
        </p:txBody>
      </p:sp>
      <p:sp>
        <p:nvSpPr>
          <p:cNvPr id="44" name="t-2-2"/>
          <p:cNvSpPr/>
          <p:nvPr/>
        </p:nvSpPr>
        <p:spPr>
          <a:xfrm>
            <a:off x="3984625" y="4305300"/>
            <a:ext cx="1333500" cy="190500"/>
          </a:xfrm>
          <a:custGeom>
            <a:avLst/>
            <a:gdLst/>
            <a:ahLst/>
            <a:cxnLst/>
            <a:rect l="0" t="0" r="r" b="b"/>
            <a:pathLst>
              <a:path w="1333500" h="190500">
                <a:moveTo>
                  <a:pt x="76200" y="0"/>
                </a:moveTo>
                <a:lnTo>
                  <a:pt x="1257300" y="0"/>
                </a:lnTo>
                <a:cubicBezTo>
                  <a:pt x="1299400" y="0"/>
                  <a:pt x="1333500" y="34100"/>
                  <a:pt x="1333500" y="76200"/>
                </a:cubicBezTo>
                <a:lnTo>
                  <a:pt x="1333500" y="114300"/>
                </a:lnTo>
                <a:cubicBezTo>
                  <a:pt x="1333500" y="156400"/>
                  <a:pt x="1299400" y="190500"/>
                  <a:pt x="1257300" y="190500"/>
                </a:cubicBezTo>
                <a:lnTo>
                  <a:pt x="76200" y="190500"/>
                </a:lnTo>
                <a:cubicBezTo>
                  <a:pt x="34100" y="190500"/>
                  <a:pt x="0" y="156400"/>
                  <a:pt x="0" y="1143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74A5D7"/>
              </a:gs>
              <a:gs pos="100000">
                <a:srgbClr val="5691CE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tl-2-2"/>
          <p:cNvSpPr txBox="1"/>
          <p:nvPr/>
        </p:nvSpPr>
        <p:spPr>
          <a:xfrm>
            <a:off x="4075176" y="4324937"/>
            <a:ext cx="65055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全量方案设计</a:t>
            </a:r>
          </a:p>
        </p:txBody>
      </p:sp>
      <p:sp>
        <p:nvSpPr>
          <p:cNvPr id="46" name="t-2-3"/>
          <p:cNvSpPr/>
          <p:nvPr/>
        </p:nvSpPr>
        <p:spPr>
          <a:xfrm>
            <a:off x="5318125" y="4584700"/>
            <a:ext cx="3000375" cy="190500"/>
          </a:xfrm>
          <a:custGeom>
            <a:avLst/>
            <a:gdLst/>
            <a:ahLst/>
            <a:cxnLst/>
            <a:rect l="0" t="0" r="r" b="b"/>
            <a:pathLst>
              <a:path w="3000375" h="190500">
                <a:moveTo>
                  <a:pt x="76200" y="0"/>
                </a:moveTo>
                <a:lnTo>
                  <a:pt x="2924175" y="0"/>
                </a:lnTo>
                <a:cubicBezTo>
                  <a:pt x="2966276" y="0"/>
                  <a:pt x="3000375" y="34100"/>
                  <a:pt x="3000375" y="76200"/>
                </a:cubicBezTo>
                <a:lnTo>
                  <a:pt x="3000375" y="114300"/>
                </a:lnTo>
                <a:cubicBezTo>
                  <a:pt x="3000375" y="156400"/>
                  <a:pt x="2966276" y="190500"/>
                  <a:pt x="2924175" y="190500"/>
                </a:cubicBezTo>
                <a:lnTo>
                  <a:pt x="76200" y="190500"/>
                </a:lnTo>
                <a:cubicBezTo>
                  <a:pt x="34100" y="190500"/>
                  <a:pt x="0" y="156400"/>
                  <a:pt x="0" y="1143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84AFDB"/>
              </a:gs>
              <a:gs pos="100000">
                <a:srgbClr val="699DD3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tl-2-3"/>
          <p:cNvSpPr txBox="1"/>
          <p:nvPr/>
        </p:nvSpPr>
        <p:spPr>
          <a:xfrm>
            <a:off x="5408676" y="4604337"/>
            <a:ext cx="46132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系统实施</a:t>
            </a:r>
          </a:p>
        </p:txBody>
      </p:sp>
      <p:sp>
        <p:nvSpPr>
          <p:cNvPr id="48" name="t-2-4"/>
          <p:cNvSpPr/>
          <p:nvPr/>
        </p:nvSpPr>
        <p:spPr>
          <a:xfrm>
            <a:off x="8318500" y="4864100"/>
            <a:ext cx="1000125" cy="190500"/>
          </a:xfrm>
          <a:custGeom>
            <a:avLst/>
            <a:gdLst/>
            <a:ahLst/>
            <a:cxnLst/>
            <a:rect l="0" t="0" r="r" b="b"/>
            <a:pathLst>
              <a:path w="1000125" h="190500">
                <a:moveTo>
                  <a:pt x="76200" y="0"/>
                </a:moveTo>
                <a:lnTo>
                  <a:pt x="923925" y="0"/>
                </a:lnTo>
                <a:cubicBezTo>
                  <a:pt x="966026" y="0"/>
                  <a:pt x="1000125" y="34100"/>
                  <a:pt x="1000125" y="76200"/>
                </a:cubicBezTo>
                <a:lnTo>
                  <a:pt x="1000125" y="114300"/>
                </a:lnTo>
                <a:cubicBezTo>
                  <a:pt x="1000125" y="156400"/>
                  <a:pt x="966026" y="190500"/>
                  <a:pt x="923925" y="190500"/>
                </a:cubicBezTo>
                <a:lnTo>
                  <a:pt x="76200" y="190500"/>
                </a:lnTo>
                <a:cubicBezTo>
                  <a:pt x="34099" y="190500"/>
                  <a:pt x="0" y="156400"/>
                  <a:pt x="0" y="1143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93B8E0"/>
              </a:gs>
              <a:gs pos="100000">
                <a:srgbClr val="7BA9D9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tl-2-4"/>
          <p:cNvSpPr txBox="1"/>
          <p:nvPr/>
        </p:nvSpPr>
        <p:spPr>
          <a:xfrm>
            <a:off x="8409051" y="4883737"/>
            <a:ext cx="46132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集成测试</a:t>
            </a:r>
          </a:p>
        </p:txBody>
      </p:sp>
      <p:sp>
        <p:nvSpPr>
          <p:cNvPr id="50" name="t-2-5"/>
          <p:cNvSpPr/>
          <p:nvPr/>
        </p:nvSpPr>
        <p:spPr>
          <a:xfrm>
            <a:off x="9318625" y="5143500"/>
            <a:ext cx="333375" cy="190500"/>
          </a:xfrm>
          <a:custGeom>
            <a:avLst/>
            <a:gdLst/>
            <a:ahLst/>
            <a:cxnLst/>
            <a:rect l="0" t="0" r="r" b="b"/>
            <a:pathLst>
              <a:path w="333375" h="190500">
                <a:moveTo>
                  <a:pt x="76200" y="0"/>
                </a:moveTo>
                <a:lnTo>
                  <a:pt x="257175" y="0"/>
                </a:lnTo>
                <a:cubicBezTo>
                  <a:pt x="299276" y="0"/>
                  <a:pt x="333375" y="34100"/>
                  <a:pt x="333375" y="76200"/>
                </a:cubicBezTo>
                <a:lnTo>
                  <a:pt x="333375" y="114300"/>
                </a:lnTo>
                <a:cubicBezTo>
                  <a:pt x="333375" y="156400"/>
                  <a:pt x="299276" y="190500"/>
                  <a:pt x="257175" y="190500"/>
                </a:cubicBezTo>
                <a:lnTo>
                  <a:pt x="76200" y="190500"/>
                </a:lnTo>
                <a:cubicBezTo>
                  <a:pt x="34099" y="190500"/>
                  <a:pt x="0" y="156400"/>
                  <a:pt x="0" y="1143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A2C3E4"/>
              </a:gs>
              <a:gs pos="100000">
                <a:srgbClr val="8EB6DE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tl-2-5"/>
          <p:cNvSpPr txBox="1"/>
          <p:nvPr/>
        </p:nvSpPr>
        <p:spPr>
          <a:xfrm>
            <a:off x="9717151" y="5163137"/>
            <a:ext cx="46132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全量上线</a:t>
            </a:r>
          </a:p>
        </p:txBody>
      </p:sp>
      <p:sp>
        <p:nvSpPr>
          <p:cNvPr id="52" name="ms-2-5"/>
          <p:cNvSpPr/>
          <p:nvPr/>
        </p:nvSpPr>
        <p:spPr>
          <a:xfrm>
            <a:off x="9431329" y="4980527"/>
            <a:ext cx="107967" cy="96298"/>
          </a:xfrm>
          <a:custGeom>
            <a:avLst/>
            <a:gdLst/>
            <a:ahLst/>
            <a:cxnLst/>
            <a:rect l="0" t="0" r="r" b="b"/>
            <a:pathLst>
              <a:path w="107967" h="96298">
                <a:moveTo>
                  <a:pt x="44204" y="8477"/>
                </a:moveTo>
                <a:quadBezTo>
                  <a:pt x="53983" y="-8477"/>
                  <a:pt x="63762" y="8477"/>
                </a:quadBezTo>
                <a:lnTo>
                  <a:pt x="104720" y="79343"/>
                </a:lnTo>
                <a:quadBezTo>
                  <a:pt x="114499" y="96298"/>
                  <a:pt x="94941" y="96298"/>
                </a:quadBezTo>
                <a:lnTo>
                  <a:pt x="13026" y="96298"/>
                </a:lnTo>
                <a:quadBezTo>
                  <a:pt x="-6532" y="96298"/>
                  <a:pt x="3247" y="79343"/>
                </a:quad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t-2-6"/>
          <p:cNvSpPr/>
          <p:nvPr/>
        </p:nvSpPr>
        <p:spPr>
          <a:xfrm>
            <a:off x="9652000" y="5422900"/>
            <a:ext cx="1333500" cy="190500"/>
          </a:xfrm>
          <a:custGeom>
            <a:avLst/>
            <a:gdLst/>
            <a:ahLst/>
            <a:cxnLst/>
            <a:rect l="0" t="0" r="r" b="b"/>
            <a:pathLst>
              <a:path w="1333500" h="190500">
                <a:moveTo>
                  <a:pt x="76200" y="0"/>
                </a:moveTo>
                <a:lnTo>
                  <a:pt x="1257300" y="0"/>
                </a:lnTo>
                <a:cubicBezTo>
                  <a:pt x="1299401" y="0"/>
                  <a:pt x="1333500" y="34100"/>
                  <a:pt x="1333500" y="76200"/>
                </a:cubicBezTo>
                <a:lnTo>
                  <a:pt x="1333500" y="114300"/>
                </a:lnTo>
                <a:cubicBezTo>
                  <a:pt x="1333500" y="156400"/>
                  <a:pt x="1299401" y="190500"/>
                  <a:pt x="1257300" y="190500"/>
                </a:cubicBezTo>
                <a:lnTo>
                  <a:pt x="76200" y="190500"/>
                </a:lnTo>
                <a:cubicBezTo>
                  <a:pt x="34099" y="190500"/>
                  <a:pt x="0" y="156400"/>
                  <a:pt x="0" y="1143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B2CDE9"/>
              </a:gs>
              <a:gs pos="100000">
                <a:srgbClr val="A1C2E4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tl-2-6"/>
          <p:cNvSpPr txBox="1"/>
          <p:nvPr/>
        </p:nvSpPr>
        <p:spPr>
          <a:xfrm>
            <a:off x="9742551" y="5442537"/>
            <a:ext cx="55594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稳定期陪跑</a:t>
            </a:r>
          </a:p>
        </p:txBody>
      </p:sp>
      <p:cxnSp>
        <p:nvCxnSpPr>
          <p:cNvPr id="55" name="gx-0"/>
          <p:cNvCxnSpPr/>
          <p:nvPr/>
        </p:nvCxnSpPr>
        <p:spPr>
          <a:xfrm>
            <a:off x="2984500" y="1638300"/>
            <a:ext cx="0" cy="397510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6" name="gt-0"/>
          <p:cNvSpPr txBox="1"/>
          <p:nvPr/>
        </p:nvSpPr>
        <p:spPr>
          <a:xfrm>
            <a:off x="2853055" y="1452308"/>
            <a:ext cx="2628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启动</a:t>
            </a:r>
          </a:p>
        </p:txBody>
      </p:sp>
      <p:cxnSp>
        <p:nvCxnSpPr>
          <p:cNvPr id="57" name="gx-4"/>
          <p:cNvCxnSpPr/>
          <p:nvPr/>
        </p:nvCxnSpPr>
        <p:spPr>
          <a:xfrm>
            <a:off x="4318000" y="1638300"/>
            <a:ext cx="0" cy="397510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gt-4"/>
          <p:cNvSpPr txBox="1"/>
          <p:nvPr/>
        </p:nvSpPr>
        <p:spPr>
          <a:xfrm>
            <a:off x="4108069" y="1452308"/>
            <a:ext cx="4198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第 4 周</a:t>
            </a:r>
          </a:p>
        </p:txBody>
      </p:sp>
      <p:cxnSp>
        <p:nvCxnSpPr>
          <p:cNvPr id="59" name="gx-8"/>
          <p:cNvCxnSpPr/>
          <p:nvPr/>
        </p:nvCxnSpPr>
        <p:spPr>
          <a:xfrm>
            <a:off x="5651500" y="1638300"/>
            <a:ext cx="0" cy="397510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gt-8"/>
          <p:cNvSpPr txBox="1"/>
          <p:nvPr/>
        </p:nvSpPr>
        <p:spPr>
          <a:xfrm>
            <a:off x="5441569" y="1452308"/>
            <a:ext cx="4198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第 8 周</a:t>
            </a:r>
          </a:p>
        </p:txBody>
      </p:sp>
      <p:cxnSp>
        <p:nvCxnSpPr>
          <p:cNvPr id="61" name="gx-12"/>
          <p:cNvCxnSpPr/>
          <p:nvPr/>
        </p:nvCxnSpPr>
        <p:spPr>
          <a:xfrm>
            <a:off x="6985000" y="1638300"/>
            <a:ext cx="0" cy="397510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gt-12"/>
          <p:cNvSpPr txBox="1"/>
          <p:nvPr/>
        </p:nvSpPr>
        <p:spPr>
          <a:xfrm>
            <a:off x="6748907" y="1452308"/>
            <a:ext cx="47218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第 12 周</a:t>
            </a:r>
          </a:p>
        </p:txBody>
      </p:sp>
      <p:cxnSp>
        <p:nvCxnSpPr>
          <p:cNvPr id="63" name="gx-16"/>
          <p:cNvCxnSpPr/>
          <p:nvPr/>
        </p:nvCxnSpPr>
        <p:spPr>
          <a:xfrm>
            <a:off x="8318500" y="1638300"/>
            <a:ext cx="0" cy="397510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gt-16"/>
          <p:cNvSpPr txBox="1"/>
          <p:nvPr/>
        </p:nvSpPr>
        <p:spPr>
          <a:xfrm>
            <a:off x="8082407" y="1452308"/>
            <a:ext cx="47218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第 16 周</a:t>
            </a:r>
          </a:p>
        </p:txBody>
      </p:sp>
      <p:cxnSp>
        <p:nvCxnSpPr>
          <p:cNvPr id="65" name="gx-20"/>
          <p:cNvCxnSpPr/>
          <p:nvPr/>
        </p:nvCxnSpPr>
        <p:spPr>
          <a:xfrm>
            <a:off x="9652000" y="1638300"/>
            <a:ext cx="0" cy="397510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" name="gt-20"/>
          <p:cNvSpPr txBox="1"/>
          <p:nvPr/>
        </p:nvSpPr>
        <p:spPr>
          <a:xfrm>
            <a:off x="9415907" y="1452308"/>
            <a:ext cx="47218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第 20 周</a:t>
            </a:r>
          </a:p>
        </p:txBody>
      </p:sp>
      <p:cxnSp>
        <p:nvCxnSpPr>
          <p:cNvPr id="67" name="gx-24"/>
          <p:cNvCxnSpPr/>
          <p:nvPr/>
        </p:nvCxnSpPr>
        <p:spPr>
          <a:xfrm>
            <a:off x="10985500" y="1638300"/>
            <a:ext cx="0" cy="397510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8" name="gt-24"/>
          <p:cNvSpPr txBox="1"/>
          <p:nvPr/>
        </p:nvSpPr>
        <p:spPr>
          <a:xfrm>
            <a:off x="10749407" y="1452308"/>
            <a:ext cx="47218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第 24 周</a:t>
            </a:r>
          </a:p>
        </p:txBody>
      </p:sp>
      <p:cxnSp>
        <p:nvCxnSpPr>
          <p:cNvPr id="69" name="mark-a"/>
          <p:cNvCxnSpPr/>
          <p:nvPr/>
        </p:nvCxnSpPr>
        <p:spPr>
          <a:xfrm>
            <a:off x="5984875" y="1714500"/>
            <a:ext cx="0" cy="3898900"/>
          </a:xfrm>
          <a:prstGeom prst="line">
            <a:avLst/>
          </a:prstGeom>
          <a:ln w="12700" cap="rnd">
            <a:solidFill>
              <a:srgbClr val="E0703A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mark-b"/>
          <p:cNvCxnSpPr/>
          <p:nvPr/>
        </p:nvCxnSpPr>
        <p:spPr>
          <a:xfrm>
            <a:off x="9652000" y="1714500"/>
            <a:ext cx="0" cy="3898900"/>
          </a:xfrm>
          <a:prstGeom prst="line">
            <a:avLst/>
          </a:prstGeom>
          <a:ln w="12700" cap="rnd">
            <a:solidFill>
              <a:srgbClr val="E0703A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gapband"/>
          <p:cNvSpPr/>
          <p:nvPr/>
        </p:nvSpPr>
        <p:spPr>
          <a:xfrm>
            <a:off x="5984875" y="3619500"/>
            <a:ext cx="3667125" cy="203200"/>
          </a:xfrm>
          <a:custGeom>
            <a:avLst/>
            <a:gdLst/>
            <a:ahLst/>
            <a:cxnLst/>
            <a:rect l="0" t="0" r="r" b="b"/>
            <a:pathLst>
              <a:path w="3667125" h="203200">
                <a:moveTo>
                  <a:pt x="101600" y="0"/>
                </a:moveTo>
                <a:lnTo>
                  <a:pt x="3565525" y="0"/>
                </a:lnTo>
                <a:cubicBezTo>
                  <a:pt x="3621659" y="0"/>
                  <a:pt x="3667125" y="45466"/>
                  <a:pt x="3667125" y="101600"/>
                </a:cubicBezTo>
                <a:lnTo>
                  <a:pt x="3667125" y="101600"/>
                </a:lnTo>
                <a:cubicBezTo>
                  <a:pt x="3667125" y="157734"/>
                  <a:pt x="3621659" y="203200"/>
                  <a:pt x="3565525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0703A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gaptext"/>
          <p:cNvSpPr txBox="1"/>
          <p:nvPr/>
        </p:nvSpPr>
        <p:spPr>
          <a:xfrm>
            <a:off x="7307580" y="3641566"/>
            <a:ext cx="10217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4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首次可用相差 11 周</a:t>
            </a:r>
          </a:p>
        </p:txBody>
      </p:sp>
      <p:sp>
        <p:nvSpPr>
          <p:cNvPr id="73" name="sum"/>
          <p:cNvSpPr/>
          <p:nvPr/>
        </p:nvSpPr>
        <p:spPr>
          <a:xfrm>
            <a:off x="952500" y="5829300"/>
            <a:ext cx="10287000" cy="495300"/>
          </a:xfrm>
          <a:custGeom>
            <a:avLst/>
            <a:gdLst/>
            <a:ahLst/>
            <a:cxnLst/>
            <a:rect l="0" t="0" r="r" b="b"/>
            <a:pathLst>
              <a:path w="10287000" h="4953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393700"/>
                </a:lnTo>
                <a:cubicBezTo>
                  <a:pt x="10287000" y="449834"/>
                  <a:pt x="10241534" y="495300"/>
                  <a:pt x="10185400" y="495300"/>
                </a:cubicBezTo>
                <a:lnTo>
                  <a:pt x="101600" y="495300"/>
                </a:lnTo>
                <a:cubicBezTo>
                  <a:pt x="45466" y="495300"/>
                  <a:pt x="0" y="449834"/>
                  <a:pt x="0" y="3937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sum-bar"/>
          <p:cNvSpPr/>
          <p:nvPr/>
        </p:nvSpPr>
        <p:spPr>
          <a:xfrm>
            <a:off x="952500" y="58293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sum-h"/>
          <p:cNvSpPr txBox="1"/>
          <p:nvPr/>
        </p:nvSpPr>
        <p:spPr>
          <a:xfrm>
            <a:off x="1141222" y="59723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排期结论</a:t>
            </a:r>
          </a:p>
        </p:txBody>
      </p:sp>
      <p:sp>
        <p:nvSpPr>
          <p:cNvPr id="76" name="sum-p"/>
          <p:cNvSpPr txBox="1"/>
          <p:nvPr/>
        </p:nvSpPr>
        <p:spPr>
          <a:xfrm>
            <a:off x="2082165" y="5984161"/>
            <a:ext cx="602392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方案 A 第 9 周即可投入使用，总周期短 6 周；方案 B 少一次切换、返工风险低。预算紧张选 A，容错优先选 B。</a:t>
            </a:r>
          </a:p>
        </p:txBody>
      </p:sp>
      <p:cxnSp>
        <p:nvCxnSpPr>
          <p:cNvPr id="77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8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排期对比 · 两套方案</a:t>
            </a:r>
          </a:p>
        </p:txBody>
      </p:sp>
      <p:sp>
        <p:nvSpPr>
          <p:cNvPr id="79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项目风险矩阵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08165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RISK MATRIX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551799" y="673132"/>
            <a:ext cx="30689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按发生概率与影响程度定级，红区风险必须有责任人与预案</a:t>
            </a:r>
          </a:p>
        </p:txBody>
      </p:sp>
      <p:sp>
        <p:nvSpPr>
          <p:cNvPr id="10" name="cell-1-1"/>
          <p:cNvSpPr/>
          <p:nvPr/>
        </p:nvSpPr>
        <p:spPr>
          <a:xfrm>
            <a:off x="2565400" y="1930400"/>
            <a:ext cx="1130300" cy="660400"/>
          </a:xfrm>
          <a:custGeom>
            <a:avLst/>
            <a:gdLst/>
            <a:ahLst/>
            <a:cxnLst/>
            <a:rect l="0" t="0" r="r" b="b"/>
            <a:pathLst>
              <a:path w="1130300" h="660400">
                <a:moveTo>
                  <a:pt x="76200" y="0"/>
                </a:moveTo>
                <a:lnTo>
                  <a:pt x="1054100" y="0"/>
                </a:lnTo>
                <a:cubicBezTo>
                  <a:pt x="1096200" y="0"/>
                  <a:pt x="1130300" y="34100"/>
                  <a:pt x="1130300" y="76200"/>
                </a:cubicBezTo>
                <a:lnTo>
                  <a:pt x="1130300" y="584200"/>
                </a:lnTo>
                <a:cubicBezTo>
                  <a:pt x="1130300" y="626300"/>
                  <a:pt x="1096200" y="660400"/>
                  <a:pt x="1054100" y="660400"/>
                </a:cubicBezTo>
                <a:lnTo>
                  <a:pt x="76200" y="660400"/>
                </a:lnTo>
                <a:cubicBezTo>
                  <a:pt x="34100" y="660400"/>
                  <a:pt x="0" y="626300"/>
                  <a:pt x="0" y="5842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DDE7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cs-1-1"/>
          <p:cNvSpPr txBox="1"/>
          <p:nvPr/>
        </p:nvSpPr>
        <p:spPr>
          <a:xfrm>
            <a:off x="3474974" y="23921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>
                    <a:alpha val="80000"/>
                  </a:srgbClr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  <p:sp>
        <p:nvSpPr>
          <p:cNvPr id="12" name="cell-1-2"/>
          <p:cNvSpPr/>
          <p:nvPr/>
        </p:nvSpPr>
        <p:spPr>
          <a:xfrm>
            <a:off x="3746500" y="1930400"/>
            <a:ext cx="1130300" cy="660400"/>
          </a:xfrm>
          <a:custGeom>
            <a:avLst/>
            <a:gdLst/>
            <a:ahLst/>
            <a:cxnLst/>
            <a:rect l="0" t="0" r="r" b="b"/>
            <a:pathLst>
              <a:path w="1130300" h="660400">
                <a:moveTo>
                  <a:pt x="76200" y="0"/>
                </a:moveTo>
                <a:lnTo>
                  <a:pt x="1054100" y="0"/>
                </a:lnTo>
                <a:cubicBezTo>
                  <a:pt x="1096200" y="0"/>
                  <a:pt x="1130300" y="34100"/>
                  <a:pt x="1130300" y="76200"/>
                </a:cubicBezTo>
                <a:lnTo>
                  <a:pt x="1130300" y="584200"/>
                </a:lnTo>
                <a:cubicBezTo>
                  <a:pt x="1130300" y="626300"/>
                  <a:pt x="1096200" y="660400"/>
                  <a:pt x="1054100" y="660400"/>
                </a:cubicBezTo>
                <a:lnTo>
                  <a:pt x="76200" y="660400"/>
                </a:lnTo>
                <a:cubicBezTo>
                  <a:pt x="34100" y="660400"/>
                  <a:pt x="0" y="626300"/>
                  <a:pt x="0" y="5842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CBDC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cs-1-2"/>
          <p:cNvSpPr txBox="1"/>
          <p:nvPr/>
        </p:nvSpPr>
        <p:spPr>
          <a:xfrm>
            <a:off x="4606290" y="239210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>
                    <a:alpha val="80000"/>
                  </a:srgbClr>
                </a:solidFill>
                <a:latin typeface="Arial"/>
                <a:ea typeface="Arial"/>
                <a:cs typeface="Arial"/>
              </a:rPr>
              <a:t>10</a:t>
            </a:r>
          </a:p>
        </p:txBody>
      </p:sp>
      <p:sp>
        <p:nvSpPr>
          <p:cNvPr id="14" name="cell-1-3"/>
          <p:cNvSpPr/>
          <p:nvPr/>
        </p:nvSpPr>
        <p:spPr>
          <a:xfrm>
            <a:off x="4927600" y="1930400"/>
            <a:ext cx="1130300" cy="660400"/>
          </a:xfrm>
          <a:custGeom>
            <a:avLst/>
            <a:gdLst/>
            <a:ahLst/>
            <a:cxnLst/>
            <a:rect l="0" t="0" r="r" b="b"/>
            <a:pathLst>
              <a:path w="1130300" h="660400">
                <a:moveTo>
                  <a:pt x="76200" y="0"/>
                </a:moveTo>
                <a:lnTo>
                  <a:pt x="1054100" y="0"/>
                </a:lnTo>
                <a:cubicBezTo>
                  <a:pt x="1096200" y="0"/>
                  <a:pt x="1130300" y="34100"/>
                  <a:pt x="1130300" y="76200"/>
                </a:cubicBezTo>
                <a:lnTo>
                  <a:pt x="1130300" y="584200"/>
                </a:lnTo>
                <a:cubicBezTo>
                  <a:pt x="1130300" y="626300"/>
                  <a:pt x="1096200" y="660400"/>
                  <a:pt x="1054100" y="660400"/>
                </a:cubicBezTo>
                <a:lnTo>
                  <a:pt x="76200" y="660400"/>
                </a:lnTo>
                <a:cubicBezTo>
                  <a:pt x="34100" y="660400"/>
                  <a:pt x="0" y="626300"/>
                  <a:pt x="0" y="5842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F3C9B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cs-1-3"/>
          <p:cNvSpPr txBox="1"/>
          <p:nvPr/>
        </p:nvSpPr>
        <p:spPr>
          <a:xfrm>
            <a:off x="5787390" y="239210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FFFFFF">
                    <a:alpha val="80000"/>
                  </a:srgbClr>
                </a:solidFill>
                <a:latin typeface="Arial"/>
                <a:ea typeface="Arial"/>
                <a:cs typeface="Arial"/>
              </a:rPr>
              <a:t>15</a:t>
            </a:r>
          </a:p>
        </p:txBody>
      </p:sp>
      <p:sp>
        <p:nvSpPr>
          <p:cNvPr id="16" name="cell-1-4"/>
          <p:cNvSpPr/>
          <p:nvPr/>
        </p:nvSpPr>
        <p:spPr>
          <a:xfrm>
            <a:off x="6108700" y="1930400"/>
            <a:ext cx="1130300" cy="660400"/>
          </a:xfrm>
          <a:custGeom>
            <a:avLst/>
            <a:gdLst/>
            <a:ahLst/>
            <a:cxnLst/>
            <a:rect l="0" t="0" r="r" b="b"/>
            <a:pathLst>
              <a:path w="1130300" h="660400">
                <a:moveTo>
                  <a:pt x="76200" y="0"/>
                </a:moveTo>
                <a:lnTo>
                  <a:pt x="1054100" y="0"/>
                </a:lnTo>
                <a:cubicBezTo>
                  <a:pt x="1096201" y="0"/>
                  <a:pt x="1130300" y="34100"/>
                  <a:pt x="1130300" y="76200"/>
                </a:cubicBezTo>
                <a:lnTo>
                  <a:pt x="1130300" y="584200"/>
                </a:lnTo>
                <a:cubicBezTo>
                  <a:pt x="1130300" y="626300"/>
                  <a:pt x="1096201" y="660400"/>
                  <a:pt x="1054100" y="660400"/>
                </a:cubicBezTo>
                <a:lnTo>
                  <a:pt x="76200" y="660400"/>
                </a:lnTo>
                <a:cubicBezTo>
                  <a:pt x="34100" y="660400"/>
                  <a:pt x="0" y="626300"/>
                  <a:pt x="0" y="5842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EA9C7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cs-1-4"/>
          <p:cNvSpPr txBox="1"/>
          <p:nvPr/>
        </p:nvSpPr>
        <p:spPr>
          <a:xfrm>
            <a:off x="6968490" y="239210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FFFFFF">
                    <a:alpha val="80000"/>
                  </a:srgbClr>
                </a:solidFill>
                <a:latin typeface="Arial"/>
                <a:ea typeface="Arial"/>
                <a:cs typeface="Arial"/>
              </a:rPr>
              <a:t>20</a:t>
            </a:r>
          </a:p>
        </p:txBody>
      </p:sp>
      <p:sp>
        <p:nvSpPr>
          <p:cNvPr id="18" name="cell-1-5"/>
          <p:cNvSpPr/>
          <p:nvPr/>
        </p:nvSpPr>
        <p:spPr>
          <a:xfrm>
            <a:off x="7289800" y="1930400"/>
            <a:ext cx="1130300" cy="660400"/>
          </a:xfrm>
          <a:custGeom>
            <a:avLst/>
            <a:gdLst/>
            <a:ahLst/>
            <a:cxnLst/>
            <a:rect l="0" t="0" r="r" b="b"/>
            <a:pathLst>
              <a:path w="1130300" h="660400">
                <a:moveTo>
                  <a:pt x="76200" y="0"/>
                </a:moveTo>
                <a:lnTo>
                  <a:pt x="1054100" y="0"/>
                </a:lnTo>
                <a:cubicBezTo>
                  <a:pt x="1096201" y="0"/>
                  <a:pt x="1130300" y="34100"/>
                  <a:pt x="1130300" y="76200"/>
                </a:cubicBezTo>
                <a:lnTo>
                  <a:pt x="1130300" y="584200"/>
                </a:lnTo>
                <a:cubicBezTo>
                  <a:pt x="1130300" y="626300"/>
                  <a:pt x="1096201" y="660400"/>
                  <a:pt x="1054100" y="660400"/>
                </a:cubicBezTo>
                <a:lnTo>
                  <a:pt x="76200" y="660400"/>
                </a:lnTo>
                <a:cubicBezTo>
                  <a:pt x="34099" y="660400"/>
                  <a:pt x="0" y="626300"/>
                  <a:pt x="0" y="5842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cs-1-5"/>
          <p:cNvSpPr txBox="1"/>
          <p:nvPr/>
        </p:nvSpPr>
        <p:spPr>
          <a:xfrm>
            <a:off x="8149590" y="239210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FFFFFF">
                    <a:alpha val="80000"/>
                  </a:srgbClr>
                </a:solidFill>
                <a:latin typeface="Arial"/>
                <a:ea typeface="Arial"/>
                <a:cs typeface="Arial"/>
              </a:rPr>
              <a:t>25</a:t>
            </a:r>
          </a:p>
        </p:txBody>
      </p:sp>
      <p:sp>
        <p:nvSpPr>
          <p:cNvPr id="20" name="cell-2-1"/>
          <p:cNvSpPr/>
          <p:nvPr/>
        </p:nvSpPr>
        <p:spPr>
          <a:xfrm>
            <a:off x="2565400" y="2641600"/>
            <a:ext cx="1130300" cy="660400"/>
          </a:xfrm>
          <a:custGeom>
            <a:avLst/>
            <a:gdLst/>
            <a:ahLst/>
            <a:cxnLst/>
            <a:rect l="0" t="0" r="r" b="b"/>
            <a:pathLst>
              <a:path w="1130300" h="660400">
                <a:moveTo>
                  <a:pt x="76200" y="0"/>
                </a:moveTo>
                <a:lnTo>
                  <a:pt x="1054100" y="0"/>
                </a:lnTo>
                <a:cubicBezTo>
                  <a:pt x="1096200" y="0"/>
                  <a:pt x="1130300" y="34100"/>
                  <a:pt x="1130300" y="76200"/>
                </a:cubicBezTo>
                <a:lnTo>
                  <a:pt x="1130300" y="584200"/>
                </a:lnTo>
                <a:cubicBezTo>
                  <a:pt x="1130300" y="626300"/>
                  <a:pt x="1096200" y="660400"/>
                  <a:pt x="1054100" y="660400"/>
                </a:cubicBezTo>
                <a:lnTo>
                  <a:pt x="76200" y="660400"/>
                </a:lnTo>
                <a:cubicBezTo>
                  <a:pt x="34100" y="660400"/>
                  <a:pt x="0" y="626300"/>
                  <a:pt x="0" y="5842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E1E9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cs-2-1"/>
          <p:cNvSpPr txBox="1"/>
          <p:nvPr/>
        </p:nvSpPr>
        <p:spPr>
          <a:xfrm>
            <a:off x="3474974" y="31033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>
                    <a:alpha val="80000"/>
                  </a:srgbClr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22" name="cell-2-2"/>
          <p:cNvSpPr/>
          <p:nvPr/>
        </p:nvSpPr>
        <p:spPr>
          <a:xfrm>
            <a:off x="3746500" y="2641600"/>
            <a:ext cx="1130300" cy="660400"/>
          </a:xfrm>
          <a:custGeom>
            <a:avLst/>
            <a:gdLst/>
            <a:ahLst/>
            <a:cxnLst/>
            <a:rect l="0" t="0" r="r" b="b"/>
            <a:pathLst>
              <a:path w="1130300" h="660400">
                <a:moveTo>
                  <a:pt x="76200" y="0"/>
                </a:moveTo>
                <a:lnTo>
                  <a:pt x="1054100" y="0"/>
                </a:lnTo>
                <a:cubicBezTo>
                  <a:pt x="1096200" y="0"/>
                  <a:pt x="1130300" y="34100"/>
                  <a:pt x="1130300" y="76200"/>
                </a:cubicBezTo>
                <a:lnTo>
                  <a:pt x="1130300" y="584200"/>
                </a:lnTo>
                <a:cubicBezTo>
                  <a:pt x="1130300" y="626300"/>
                  <a:pt x="1096200" y="660400"/>
                  <a:pt x="1054100" y="660400"/>
                </a:cubicBezTo>
                <a:lnTo>
                  <a:pt x="76200" y="660400"/>
                </a:lnTo>
                <a:cubicBezTo>
                  <a:pt x="34100" y="660400"/>
                  <a:pt x="0" y="626300"/>
                  <a:pt x="0" y="5842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D2E0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cs-2-2"/>
          <p:cNvSpPr txBox="1"/>
          <p:nvPr/>
        </p:nvSpPr>
        <p:spPr>
          <a:xfrm>
            <a:off x="4656074" y="31033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>
                    <a:alpha val="80000"/>
                  </a:srgbClr>
                </a:solidFill>
                <a:latin typeface="Arial"/>
                <a:ea typeface="Arial"/>
                <a:cs typeface="Arial"/>
              </a:rPr>
              <a:t>8</a:t>
            </a:r>
          </a:p>
        </p:txBody>
      </p:sp>
      <p:sp>
        <p:nvSpPr>
          <p:cNvPr id="24" name="cell-2-3"/>
          <p:cNvSpPr/>
          <p:nvPr/>
        </p:nvSpPr>
        <p:spPr>
          <a:xfrm>
            <a:off x="4927600" y="2641600"/>
            <a:ext cx="1130300" cy="660400"/>
          </a:xfrm>
          <a:custGeom>
            <a:avLst/>
            <a:gdLst/>
            <a:ahLst/>
            <a:cxnLst/>
            <a:rect l="0" t="0" r="r" b="b"/>
            <a:pathLst>
              <a:path w="1130300" h="660400">
                <a:moveTo>
                  <a:pt x="76200" y="0"/>
                </a:moveTo>
                <a:lnTo>
                  <a:pt x="1054100" y="0"/>
                </a:lnTo>
                <a:cubicBezTo>
                  <a:pt x="1096200" y="0"/>
                  <a:pt x="1130300" y="34100"/>
                  <a:pt x="1130300" y="76200"/>
                </a:cubicBezTo>
                <a:lnTo>
                  <a:pt x="1130300" y="584200"/>
                </a:lnTo>
                <a:cubicBezTo>
                  <a:pt x="1130300" y="626300"/>
                  <a:pt x="1096200" y="660400"/>
                  <a:pt x="1054100" y="660400"/>
                </a:cubicBezTo>
                <a:lnTo>
                  <a:pt x="76200" y="660400"/>
                </a:lnTo>
                <a:cubicBezTo>
                  <a:pt x="34100" y="660400"/>
                  <a:pt x="0" y="626300"/>
                  <a:pt x="0" y="5842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C4D7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cs-2-3"/>
          <p:cNvSpPr txBox="1"/>
          <p:nvPr/>
        </p:nvSpPr>
        <p:spPr>
          <a:xfrm>
            <a:off x="5787390" y="310330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>
                    <a:alpha val="80000"/>
                  </a:srgbClr>
                </a:solidFill>
                <a:latin typeface="Arial"/>
                <a:ea typeface="Arial"/>
                <a:cs typeface="Arial"/>
              </a:rPr>
              <a:t>12</a:t>
            </a:r>
          </a:p>
        </p:txBody>
      </p:sp>
      <p:sp>
        <p:nvSpPr>
          <p:cNvPr id="26" name="cell-2-4"/>
          <p:cNvSpPr/>
          <p:nvPr/>
        </p:nvSpPr>
        <p:spPr>
          <a:xfrm>
            <a:off x="6108700" y="2641600"/>
            <a:ext cx="1130300" cy="660400"/>
          </a:xfrm>
          <a:custGeom>
            <a:avLst/>
            <a:gdLst/>
            <a:ahLst/>
            <a:cxnLst/>
            <a:rect l="0" t="0" r="r" b="b"/>
            <a:pathLst>
              <a:path w="1130300" h="660400">
                <a:moveTo>
                  <a:pt x="76200" y="0"/>
                </a:moveTo>
                <a:lnTo>
                  <a:pt x="1054100" y="0"/>
                </a:lnTo>
                <a:cubicBezTo>
                  <a:pt x="1096201" y="0"/>
                  <a:pt x="1130300" y="34100"/>
                  <a:pt x="1130300" y="76200"/>
                </a:cubicBezTo>
                <a:lnTo>
                  <a:pt x="1130300" y="584200"/>
                </a:lnTo>
                <a:cubicBezTo>
                  <a:pt x="1130300" y="626300"/>
                  <a:pt x="1096201" y="660400"/>
                  <a:pt x="1054100" y="660400"/>
                </a:cubicBezTo>
                <a:lnTo>
                  <a:pt x="76200" y="660400"/>
                </a:lnTo>
                <a:cubicBezTo>
                  <a:pt x="34100" y="660400"/>
                  <a:pt x="0" y="626300"/>
                  <a:pt x="0" y="5842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F1C0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cs-2-4"/>
          <p:cNvSpPr txBox="1"/>
          <p:nvPr/>
        </p:nvSpPr>
        <p:spPr>
          <a:xfrm>
            <a:off x="6968490" y="310330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FFFFFF">
                    <a:alpha val="80000"/>
                  </a:srgbClr>
                </a:solidFill>
                <a:latin typeface="Arial"/>
                <a:ea typeface="Arial"/>
                <a:cs typeface="Arial"/>
              </a:rPr>
              <a:t>16</a:t>
            </a:r>
          </a:p>
        </p:txBody>
      </p:sp>
      <p:sp>
        <p:nvSpPr>
          <p:cNvPr id="28" name="cell-2-5"/>
          <p:cNvSpPr/>
          <p:nvPr/>
        </p:nvSpPr>
        <p:spPr>
          <a:xfrm>
            <a:off x="7289800" y="2641600"/>
            <a:ext cx="1130300" cy="660400"/>
          </a:xfrm>
          <a:custGeom>
            <a:avLst/>
            <a:gdLst/>
            <a:ahLst/>
            <a:cxnLst/>
            <a:rect l="0" t="0" r="r" b="b"/>
            <a:pathLst>
              <a:path w="1130300" h="660400">
                <a:moveTo>
                  <a:pt x="76200" y="0"/>
                </a:moveTo>
                <a:lnTo>
                  <a:pt x="1054100" y="0"/>
                </a:lnTo>
                <a:cubicBezTo>
                  <a:pt x="1096201" y="0"/>
                  <a:pt x="1130300" y="34100"/>
                  <a:pt x="1130300" y="76200"/>
                </a:cubicBezTo>
                <a:lnTo>
                  <a:pt x="1130300" y="584200"/>
                </a:lnTo>
                <a:cubicBezTo>
                  <a:pt x="1130300" y="626300"/>
                  <a:pt x="1096201" y="660400"/>
                  <a:pt x="1054100" y="660400"/>
                </a:cubicBezTo>
                <a:lnTo>
                  <a:pt x="76200" y="660400"/>
                </a:lnTo>
                <a:cubicBezTo>
                  <a:pt x="34099" y="660400"/>
                  <a:pt x="0" y="626300"/>
                  <a:pt x="0" y="5842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EA9C7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cs-2-5"/>
          <p:cNvSpPr txBox="1"/>
          <p:nvPr/>
        </p:nvSpPr>
        <p:spPr>
          <a:xfrm>
            <a:off x="8149590" y="310330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FFFFFF">
                    <a:alpha val="80000"/>
                  </a:srgbClr>
                </a:solidFill>
                <a:latin typeface="Arial"/>
                <a:ea typeface="Arial"/>
                <a:cs typeface="Arial"/>
              </a:rPr>
              <a:t>20</a:t>
            </a:r>
          </a:p>
        </p:txBody>
      </p:sp>
      <p:sp>
        <p:nvSpPr>
          <p:cNvPr id="30" name="cell-3-1"/>
          <p:cNvSpPr/>
          <p:nvPr/>
        </p:nvSpPr>
        <p:spPr>
          <a:xfrm>
            <a:off x="2565400" y="3352800"/>
            <a:ext cx="1130300" cy="660400"/>
          </a:xfrm>
          <a:custGeom>
            <a:avLst/>
            <a:gdLst/>
            <a:ahLst/>
            <a:cxnLst/>
            <a:rect l="0" t="0" r="r" b="b"/>
            <a:pathLst>
              <a:path w="1130300" h="660400">
                <a:moveTo>
                  <a:pt x="76200" y="0"/>
                </a:moveTo>
                <a:lnTo>
                  <a:pt x="1054100" y="0"/>
                </a:lnTo>
                <a:cubicBezTo>
                  <a:pt x="1096200" y="0"/>
                  <a:pt x="1130300" y="34100"/>
                  <a:pt x="1130300" y="76200"/>
                </a:cubicBezTo>
                <a:lnTo>
                  <a:pt x="1130300" y="584200"/>
                </a:lnTo>
                <a:cubicBezTo>
                  <a:pt x="1130300" y="626300"/>
                  <a:pt x="1096200" y="660400"/>
                  <a:pt x="1054100" y="660400"/>
                </a:cubicBezTo>
                <a:lnTo>
                  <a:pt x="76200" y="660400"/>
                </a:lnTo>
                <a:cubicBezTo>
                  <a:pt x="34100" y="660400"/>
                  <a:pt x="0" y="626300"/>
                  <a:pt x="0" y="5842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E4EC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cs-3-1"/>
          <p:cNvSpPr txBox="1"/>
          <p:nvPr/>
        </p:nvSpPr>
        <p:spPr>
          <a:xfrm>
            <a:off x="3474974" y="38145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>
                    <a:alpha val="80000"/>
                  </a:srgbClr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32" name="cell-3-2"/>
          <p:cNvSpPr/>
          <p:nvPr/>
        </p:nvSpPr>
        <p:spPr>
          <a:xfrm>
            <a:off x="3746500" y="3352800"/>
            <a:ext cx="1130300" cy="660400"/>
          </a:xfrm>
          <a:custGeom>
            <a:avLst/>
            <a:gdLst/>
            <a:ahLst/>
            <a:cxnLst/>
            <a:rect l="0" t="0" r="r" b="b"/>
            <a:pathLst>
              <a:path w="1130300" h="660400">
                <a:moveTo>
                  <a:pt x="76200" y="0"/>
                </a:moveTo>
                <a:lnTo>
                  <a:pt x="1054100" y="0"/>
                </a:lnTo>
                <a:cubicBezTo>
                  <a:pt x="1096200" y="0"/>
                  <a:pt x="1130300" y="34100"/>
                  <a:pt x="1130300" y="76200"/>
                </a:cubicBezTo>
                <a:lnTo>
                  <a:pt x="1130300" y="584200"/>
                </a:lnTo>
                <a:cubicBezTo>
                  <a:pt x="1130300" y="626300"/>
                  <a:pt x="1096200" y="660400"/>
                  <a:pt x="1054100" y="660400"/>
                </a:cubicBezTo>
                <a:lnTo>
                  <a:pt x="76200" y="660400"/>
                </a:lnTo>
                <a:cubicBezTo>
                  <a:pt x="34100" y="660400"/>
                  <a:pt x="0" y="626300"/>
                  <a:pt x="0" y="5842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D9E5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cs-3-2"/>
          <p:cNvSpPr txBox="1"/>
          <p:nvPr/>
        </p:nvSpPr>
        <p:spPr>
          <a:xfrm>
            <a:off x="4656074" y="38145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>
                    <a:alpha val="80000"/>
                  </a:srgbClr>
                </a:solidFill>
                <a:latin typeface="Arial"/>
                <a:ea typeface="Arial"/>
                <a:cs typeface="Arial"/>
              </a:rPr>
              <a:t>6</a:t>
            </a:r>
          </a:p>
        </p:txBody>
      </p:sp>
      <p:sp>
        <p:nvSpPr>
          <p:cNvPr id="34" name="cell-3-3"/>
          <p:cNvSpPr/>
          <p:nvPr/>
        </p:nvSpPr>
        <p:spPr>
          <a:xfrm>
            <a:off x="4927600" y="3352800"/>
            <a:ext cx="1130300" cy="660400"/>
          </a:xfrm>
          <a:custGeom>
            <a:avLst/>
            <a:gdLst/>
            <a:ahLst/>
            <a:cxnLst/>
            <a:rect l="0" t="0" r="r" b="b"/>
            <a:pathLst>
              <a:path w="1130300" h="660400">
                <a:moveTo>
                  <a:pt x="76200" y="0"/>
                </a:moveTo>
                <a:lnTo>
                  <a:pt x="1054100" y="0"/>
                </a:lnTo>
                <a:cubicBezTo>
                  <a:pt x="1096200" y="0"/>
                  <a:pt x="1130300" y="34100"/>
                  <a:pt x="1130300" y="76200"/>
                </a:cubicBezTo>
                <a:lnTo>
                  <a:pt x="1130300" y="584200"/>
                </a:lnTo>
                <a:cubicBezTo>
                  <a:pt x="1130300" y="626300"/>
                  <a:pt x="1096200" y="660400"/>
                  <a:pt x="1054100" y="660400"/>
                </a:cubicBezTo>
                <a:lnTo>
                  <a:pt x="76200" y="660400"/>
                </a:lnTo>
                <a:cubicBezTo>
                  <a:pt x="34100" y="660400"/>
                  <a:pt x="0" y="626300"/>
                  <a:pt x="0" y="5842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CED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cs-3-3"/>
          <p:cNvSpPr txBox="1"/>
          <p:nvPr/>
        </p:nvSpPr>
        <p:spPr>
          <a:xfrm>
            <a:off x="5837174" y="38145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>
                    <a:alpha val="80000"/>
                  </a:srgbClr>
                </a:solidFill>
                <a:latin typeface="Arial"/>
                <a:ea typeface="Arial"/>
                <a:cs typeface="Arial"/>
              </a:rPr>
              <a:t>9</a:t>
            </a:r>
          </a:p>
        </p:txBody>
      </p:sp>
      <p:sp>
        <p:nvSpPr>
          <p:cNvPr id="36" name="cell-3-4"/>
          <p:cNvSpPr/>
          <p:nvPr/>
        </p:nvSpPr>
        <p:spPr>
          <a:xfrm>
            <a:off x="6108700" y="3352800"/>
            <a:ext cx="1130300" cy="660400"/>
          </a:xfrm>
          <a:custGeom>
            <a:avLst/>
            <a:gdLst/>
            <a:ahLst/>
            <a:cxnLst/>
            <a:rect l="0" t="0" r="r" b="b"/>
            <a:pathLst>
              <a:path w="1130300" h="660400">
                <a:moveTo>
                  <a:pt x="76200" y="0"/>
                </a:moveTo>
                <a:lnTo>
                  <a:pt x="1054100" y="0"/>
                </a:lnTo>
                <a:cubicBezTo>
                  <a:pt x="1096201" y="0"/>
                  <a:pt x="1130300" y="34100"/>
                  <a:pt x="1130300" y="76200"/>
                </a:cubicBezTo>
                <a:lnTo>
                  <a:pt x="1130300" y="584200"/>
                </a:lnTo>
                <a:cubicBezTo>
                  <a:pt x="1130300" y="626300"/>
                  <a:pt x="1096201" y="660400"/>
                  <a:pt x="1054100" y="660400"/>
                </a:cubicBezTo>
                <a:lnTo>
                  <a:pt x="76200" y="660400"/>
                </a:lnTo>
                <a:cubicBezTo>
                  <a:pt x="34100" y="660400"/>
                  <a:pt x="0" y="626300"/>
                  <a:pt x="0" y="5842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C4D7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cs-3-4"/>
          <p:cNvSpPr txBox="1"/>
          <p:nvPr/>
        </p:nvSpPr>
        <p:spPr>
          <a:xfrm>
            <a:off x="6968490" y="381450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>
                    <a:alpha val="80000"/>
                  </a:srgbClr>
                </a:solidFill>
                <a:latin typeface="Arial"/>
                <a:ea typeface="Arial"/>
                <a:cs typeface="Arial"/>
              </a:rPr>
              <a:t>12</a:t>
            </a:r>
          </a:p>
        </p:txBody>
      </p:sp>
      <p:sp>
        <p:nvSpPr>
          <p:cNvPr id="38" name="cell-3-5"/>
          <p:cNvSpPr/>
          <p:nvPr/>
        </p:nvSpPr>
        <p:spPr>
          <a:xfrm>
            <a:off x="7289800" y="3352800"/>
            <a:ext cx="1130300" cy="660400"/>
          </a:xfrm>
          <a:custGeom>
            <a:avLst/>
            <a:gdLst/>
            <a:ahLst/>
            <a:cxnLst/>
            <a:rect l="0" t="0" r="r" b="b"/>
            <a:pathLst>
              <a:path w="1130300" h="660400">
                <a:moveTo>
                  <a:pt x="76200" y="0"/>
                </a:moveTo>
                <a:lnTo>
                  <a:pt x="1054100" y="0"/>
                </a:lnTo>
                <a:cubicBezTo>
                  <a:pt x="1096201" y="0"/>
                  <a:pt x="1130300" y="34100"/>
                  <a:pt x="1130300" y="76200"/>
                </a:cubicBezTo>
                <a:lnTo>
                  <a:pt x="1130300" y="584200"/>
                </a:lnTo>
                <a:cubicBezTo>
                  <a:pt x="1130300" y="626300"/>
                  <a:pt x="1096201" y="660400"/>
                  <a:pt x="1054100" y="660400"/>
                </a:cubicBezTo>
                <a:lnTo>
                  <a:pt x="76200" y="660400"/>
                </a:lnTo>
                <a:cubicBezTo>
                  <a:pt x="34099" y="660400"/>
                  <a:pt x="0" y="626300"/>
                  <a:pt x="0" y="5842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F3C9B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cs-3-5"/>
          <p:cNvSpPr txBox="1"/>
          <p:nvPr/>
        </p:nvSpPr>
        <p:spPr>
          <a:xfrm>
            <a:off x="8149590" y="381450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FFFFFF">
                    <a:alpha val="80000"/>
                  </a:srgbClr>
                </a:solidFill>
                <a:latin typeface="Arial"/>
                <a:ea typeface="Arial"/>
                <a:cs typeface="Arial"/>
              </a:rPr>
              <a:t>15</a:t>
            </a:r>
          </a:p>
        </p:txBody>
      </p:sp>
      <p:sp>
        <p:nvSpPr>
          <p:cNvPr id="40" name="cell-4-1"/>
          <p:cNvSpPr/>
          <p:nvPr/>
        </p:nvSpPr>
        <p:spPr>
          <a:xfrm>
            <a:off x="2565400" y="4064000"/>
            <a:ext cx="1130300" cy="660400"/>
          </a:xfrm>
          <a:custGeom>
            <a:avLst/>
            <a:gdLst/>
            <a:ahLst/>
            <a:cxnLst/>
            <a:rect l="0" t="0" r="r" b="b"/>
            <a:pathLst>
              <a:path w="1130300" h="660400">
                <a:moveTo>
                  <a:pt x="76200" y="0"/>
                </a:moveTo>
                <a:lnTo>
                  <a:pt x="1054100" y="0"/>
                </a:lnTo>
                <a:cubicBezTo>
                  <a:pt x="1096200" y="0"/>
                  <a:pt x="1130300" y="34100"/>
                  <a:pt x="1130300" y="76200"/>
                </a:cubicBezTo>
                <a:lnTo>
                  <a:pt x="1130300" y="584200"/>
                </a:lnTo>
                <a:cubicBezTo>
                  <a:pt x="1130300" y="626300"/>
                  <a:pt x="1096200" y="660400"/>
                  <a:pt x="1054100" y="660400"/>
                </a:cubicBezTo>
                <a:lnTo>
                  <a:pt x="76200" y="660400"/>
                </a:lnTo>
                <a:cubicBezTo>
                  <a:pt x="34100" y="660400"/>
                  <a:pt x="0" y="626300"/>
                  <a:pt x="0" y="5842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E8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cs-4-1"/>
          <p:cNvSpPr txBox="1"/>
          <p:nvPr/>
        </p:nvSpPr>
        <p:spPr>
          <a:xfrm>
            <a:off x="3474974" y="45257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>
                    <a:alpha val="80000"/>
                  </a:srgbClr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42" name="cell-4-2"/>
          <p:cNvSpPr/>
          <p:nvPr/>
        </p:nvSpPr>
        <p:spPr>
          <a:xfrm>
            <a:off x="3746500" y="4064000"/>
            <a:ext cx="1130300" cy="660400"/>
          </a:xfrm>
          <a:custGeom>
            <a:avLst/>
            <a:gdLst/>
            <a:ahLst/>
            <a:cxnLst/>
            <a:rect l="0" t="0" r="r" b="b"/>
            <a:pathLst>
              <a:path w="1130300" h="660400">
                <a:moveTo>
                  <a:pt x="76200" y="0"/>
                </a:moveTo>
                <a:lnTo>
                  <a:pt x="1054100" y="0"/>
                </a:lnTo>
                <a:cubicBezTo>
                  <a:pt x="1096200" y="0"/>
                  <a:pt x="1130300" y="34100"/>
                  <a:pt x="1130300" y="76200"/>
                </a:cubicBezTo>
                <a:lnTo>
                  <a:pt x="1130300" y="584200"/>
                </a:lnTo>
                <a:cubicBezTo>
                  <a:pt x="1130300" y="626300"/>
                  <a:pt x="1096200" y="660400"/>
                  <a:pt x="1054100" y="660400"/>
                </a:cubicBezTo>
                <a:lnTo>
                  <a:pt x="76200" y="660400"/>
                </a:lnTo>
                <a:cubicBezTo>
                  <a:pt x="34100" y="660400"/>
                  <a:pt x="0" y="626300"/>
                  <a:pt x="0" y="5842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E1E9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cs-4-2"/>
          <p:cNvSpPr txBox="1"/>
          <p:nvPr/>
        </p:nvSpPr>
        <p:spPr>
          <a:xfrm>
            <a:off x="4656074" y="45257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>
                    <a:alpha val="80000"/>
                  </a:srgbClr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44" name="cell-4-3"/>
          <p:cNvSpPr/>
          <p:nvPr/>
        </p:nvSpPr>
        <p:spPr>
          <a:xfrm>
            <a:off x="4927600" y="4064000"/>
            <a:ext cx="1130300" cy="660400"/>
          </a:xfrm>
          <a:custGeom>
            <a:avLst/>
            <a:gdLst/>
            <a:ahLst/>
            <a:cxnLst/>
            <a:rect l="0" t="0" r="r" b="b"/>
            <a:pathLst>
              <a:path w="1130300" h="660400">
                <a:moveTo>
                  <a:pt x="76200" y="0"/>
                </a:moveTo>
                <a:lnTo>
                  <a:pt x="1054100" y="0"/>
                </a:lnTo>
                <a:cubicBezTo>
                  <a:pt x="1096200" y="0"/>
                  <a:pt x="1130300" y="34100"/>
                  <a:pt x="1130300" y="76200"/>
                </a:cubicBezTo>
                <a:lnTo>
                  <a:pt x="1130300" y="584200"/>
                </a:lnTo>
                <a:cubicBezTo>
                  <a:pt x="1130300" y="626300"/>
                  <a:pt x="1096200" y="660400"/>
                  <a:pt x="1054100" y="660400"/>
                </a:cubicBezTo>
                <a:lnTo>
                  <a:pt x="76200" y="660400"/>
                </a:lnTo>
                <a:cubicBezTo>
                  <a:pt x="34100" y="660400"/>
                  <a:pt x="0" y="626300"/>
                  <a:pt x="0" y="5842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D9E5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cs-4-3"/>
          <p:cNvSpPr txBox="1"/>
          <p:nvPr/>
        </p:nvSpPr>
        <p:spPr>
          <a:xfrm>
            <a:off x="5837174" y="45257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>
                    <a:alpha val="80000"/>
                  </a:srgbClr>
                </a:solidFill>
                <a:latin typeface="Arial"/>
                <a:ea typeface="Arial"/>
                <a:cs typeface="Arial"/>
              </a:rPr>
              <a:t>6</a:t>
            </a:r>
          </a:p>
        </p:txBody>
      </p:sp>
      <p:sp>
        <p:nvSpPr>
          <p:cNvPr id="46" name="cell-4-4"/>
          <p:cNvSpPr/>
          <p:nvPr/>
        </p:nvSpPr>
        <p:spPr>
          <a:xfrm>
            <a:off x="6108700" y="4064000"/>
            <a:ext cx="1130300" cy="660400"/>
          </a:xfrm>
          <a:custGeom>
            <a:avLst/>
            <a:gdLst/>
            <a:ahLst/>
            <a:cxnLst/>
            <a:rect l="0" t="0" r="r" b="b"/>
            <a:pathLst>
              <a:path w="1130300" h="660400">
                <a:moveTo>
                  <a:pt x="76200" y="0"/>
                </a:moveTo>
                <a:lnTo>
                  <a:pt x="1054100" y="0"/>
                </a:lnTo>
                <a:cubicBezTo>
                  <a:pt x="1096201" y="0"/>
                  <a:pt x="1130300" y="34100"/>
                  <a:pt x="1130300" y="76200"/>
                </a:cubicBezTo>
                <a:lnTo>
                  <a:pt x="1130300" y="584200"/>
                </a:lnTo>
                <a:cubicBezTo>
                  <a:pt x="1130300" y="626300"/>
                  <a:pt x="1096201" y="660400"/>
                  <a:pt x="1054100" y="660400"/>
                </a:cubicBezTo>
                <a:lnTo>
                  <a:pt x="76200" y="660400"/>
                </a:lnTo>
                <a:cubicBezTo>
                  <a:pt x="34100" y="660400"/>
                  <a:pt x="0" y="626300"/>
                  <a:pt x="0" y="5842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D2E0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cs-4-4"/>
          <p:cNvSpPr txBox="1"/>
          <p:nvPr/>
        </p:nvSpPr>
        <p:spPr>
          <a:xfrm>
            <a:off x="7018274" y="45257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>
                    <a:alpha val="80000"/>
                  </a:srgbClr>
                </a:solidFill>
                <a:latin typeface="Arial"/>
                <a:ea typeface="Arial"/>
                <a:cs typeface="Arial"/>
              </a:rPr>
              <a:t>8</a:t>
            </a:r>
          </a:p>
        </p:txBody>
      </p:sp>
      <p:sp>
        <p:nvSpPr>
          <p:cNvPr id="48" name="cell-4-5"/>
          <p:cNvSpPr/>
          <p:nvPr/>
        </p:nvSpPr>
        <p:spPr>
          <a:xfrm>
            <a:off x="7289800" y="4064000"/>
            <a:ext cx="1130300" cy="660400"/>
          </a:xfrm>
          <a:custGeom>
            <a:avLst/>
            <a:gdLst/>
            <a:ahLst/>
            <a:cxnLst/>
            <a:rect l="0" t="0" r="r" b="b"/>
            <a:pathLst>
              <a:path w="1130300" h="660400">
                <a:moveTo>
                  <a:pt x="76200" y="0"/>
                </a:moveTo>
                <a:lnTo>
                  <a:pt x="1054100" y="0"/>
                </a:lnTo>
                <a:cubicBezTo>
                  <a:pt x="1096201" y="0"/>
                  <a:pt x="1130300" y="34100"/>
                  <a:pt x="1130300" y="76200"/>
                </a:cubicBezTo>
                <a:lnTo>
                  <a:pt x="1130300" y="584200"/>
                </a:lnTo>
                <a:cubicBezTo>
                  <a:pt x="1130300" y="626300"/>
                  <a:pt x="1096201" y="660400"/>
                  <a:pt x="1054100" y="660400"/>
                </a:cubicBezTo>
                <a:lnTo>
                  <a:pt x="76200" y="660400"/>
                </a:lnTo>
                <a:cubicBezTo>
                  <a:pt x="34099" y="660400"/>
                  <a:pt x="0" y="626300"/>
                  <a:pt x="0" y="5842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CBDC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cs-4-5"/>
          <p:cNvSpPr txBox="1"/>
          <p:nvPr/>
        </p:nvSpPr>
        <p:spPr>
          <a:xfrm>
            <a:off x="8149590" y="452570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>
                    <a:alpha val="80000"/>
                  </a:srgbClr>
                </a:solidFill>
                <a:latin typeface="Arial"/>
                <a:ea typeface="Arial"/>
                <a:cs typeface="Arial"/>
              </a:rPr>
              <a:t>10</a:t>
            </a:r>
          </a:p>
        </p:txBody>
      </p:sp>
      <p:sp>
        <p:nvSpPr>
          <p:cNvPr id="50" name="cell-5-1"/>
          <p:cNvSpPr/>
          <p:nvPr/>
        </p:nvSpPr>
        <p:spPr>
          <a:xfrm>
            <a:off x="2565400" y="4775200"/>
            <a:ext cx="1130300" cy="660400"/>
          </a:xfrm>
          <a:custGeom>
            <a:avLst/>
            <a:gdLst/>
            <a:ahLst/>
            <a:cxnLst/>
            <a:rect l="0" t="0" r="r" b="b"/>
            <a:pathLst>
              <a:path w="1130300" h="660400">
                <a:moveTo>
                  <a:pt x="76200" y="0"/>
                </a:moveTo>
                <a:lnTo>
                  <a:pt x="1054100" y="0"/>
                </a:lnTo>
                <a:cubicBezTo>
                  <a:pt x="1096200" y="0"/>
                  <a:pt x="1130300" y="34100"/>
                  <a:pt x="1130300" y="76200"/>
                </a:cubicBezTo>
                <a:lnTo>
                  <a:pt x="1130300" y="584200"/>
                </a:lnTo>
                <a:cubicBezTo>
                  <a:pt x="1130300" y="626300"/>
                  <a:pt x="1096200" y="660400"/>
                  <a:pt x="1054100" y="660400"/>
                </a:cubicBezTo>
                <a:lnTo>
                  <a:pt x="76200" y="660400"/>
                </a:lnTo>
                <a:cubicBezTo>
                  <a:pt x="34100" y="660400"/>
                  <a:pt x="0" y="626300"/>
                  <a:pt x="0" y="5842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E8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cs-5-1"/>
          <p:cNvSpPr txBox="1"/>
          <p:nvPr/>
        </p:nvSpPr>
        <p:spPr>
          <a:xfrm>
            <a:off x="3474974" y="52369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>
                    <a:alpha val="80000"/>
                  </a:srgbClr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52" name="cell-5-2"/>
          <p:cNvSpPr/>
          <p:nvPr/>
        </p:nvSpPr>
        <p:spPr>
          <a:xfrm>
            <a:off x="3746500" y="4775200"/>
            <a:ext cx="1130300" cy="660400"/>
          </a:xfrm>
          <a:custGeom>
            <a:avLst/>
            <a:gdLst/>
            <a:ahLst/>
            <a:cxnLst/>
            <a:rect l="0" t="0" r="r" b="b"/>
            <a:pathLst>
              <a:path w="1130300" h="660400">
                <a:moveTo>
                  <a:pt x="76200" y="0"/>
                </a:moveTo>
                <a:lnTo>
                  <a:pt x="1054100" y="0"/>
                </a:lnTo>
                <a:cubicBezTo>
                  <a:pt x="1096200" y="0"/>
                  <a:pt x="1130300" y="34100"/>
                  <a:pt x="1130300" y="76200"/>
                </a:cubicBezTo>
                <a:lnTo>
                  <a:pt x="1130300" y="584200"/>
                </a:lnTo>
                <a:cubicBezTo>
                  <a:pt x="1130300" y="626300"/>
                  <a:pt x="1096200" y="660400"/>
                  <a:pt x="1054100" y="660400"/>
                </a:cubicBezTo>
                <a:lnTo>
                  <a:pt x="76200" y="660400"/>
                </a:lnTo>
                <a:cubicBezTo>
                  <a:pt x="34100" y="660400"/>
                  <a:pt x="0" y="626300"/>
                  <a:pt x="0" y="5842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E8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cs-5-2"/>
          <p:cNvSpPr txBox="1"/>
          <p:nvPr/>
        </p:nvSpPr>
        <p:spPr>
          <a:xfrm>
            <a:off x="4656074" y="52369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>
                    <a:alpha val="80000"/>
                  </a:srgbClr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54" name="cell-5-3"/>
          <p:cNvSpPr/>
          <p:nvPr/>
        </p:nvSpPr>
        <p:spPr>
          <a:xfrm>
            <a:off x="4927600" y="4775200"/>
            <a:ext cx="1130300" cy="660400"/>
          </a:xfrm>
          <a:custGeom>
            <a:avLst/>
            <a:gdLst/>
            <a:ahLst/>
            <a:cxnLst/>
            <a:rect l="0" t="0" r="r" b="b"/>
            <a:pathLst>
              <a:path w="1130300" h="660400">
                <a:moveTo>
                  <a:pt x="76200" y="0"/>
                </a:moveTo>
                <a:lnTo>
                  <a:pt x="1054100" y="0"/>
                </a:lnTo>
                <a:cubicBezTo>
                  <a:pt x="1096200" y="0"/>
                  <a:pt x="1130300" y="34100"/>
                  <a:pt x="1130300" y="76200"/>
                </a:cubicBezTo>
                <a:lnTo>
                  <a:pt x="1130300" y="584200"/>
                </a:lnTo>
                <a:cubicBezTo>
                  <a:pt x="1130300" y="626300"/>
                  <a:pt x="1096200" y="660400"/>
                  <a:pt x="1054100" y="660400"/>
                </a:cubicBezTo>
                <a:lnTo>
                  <a:pt x="76200" y="660400"/>
                </a:lnTo>
                <a:cubicBezTo>
                  <a:pt x="34100" y="660400"/>
                  <a:pt x="0" y="626300"/>
                  <a:pt x="0" y="5842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E4EC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cs-5-3"/>
          <p:cNvSpPr txBox="1"/>
          <p:nvPr/>
        </p:nvSpPr>
        <p:spPr>
          <a:xfrm>
            <a:off x="5837174" y="52369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>
                    <a:alpha val="80000"/>
                  </a:srgbClr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56" name="cell-5-4"/>
          <p:cNvSpPr/>
          <p:nvPr/>
        </p:nvSpPr>
        <p:spPr>
          <a:xfrm>
            <a:off x="6108700" y="4775200"/>
            <a:ext cx="1130300" cy="660400"/>
          </a:xfrm>
          <a:custGeom>
            <a:avLst/>
            <a:gdLst/>
            <a:ahLst/>
            <a:cxnLst/>
            <a:rect l="0" t="0" r="r" b="b"/>
            <a:pathLst>
              <a:path w="1130300" h="660400">
                <a:moveTo>
                  <a:pt x="76200" y="0"/>
                </a:moveTo>
                <a:lnTo>
                  <a:pt x="1054100" y="0"/>
                </a:lnTo>
                <a:cubicBezTo>
                  <a:pt x="1096201" y="0"/>
                  <a:pt x="1130300" y="34100"/>
                  <a:pt x="1130300" y="76200"/>
                </a:cubicBezTo>
                <a:lnTo>
                  <a:pt x="1130300" y="584200"/>
                </a:lnTo>
                <a:cubicBezTo>
                  <a:pt x="1130300" y="626300"/>
                  <a:pt x="1096201" y="660400"/>
                  <a:pt x="1054100" y="660400"/>
                </a:cubicBezTo>
                <a:lnTo>
                  <a:pt x="76200" y="660400"/>
                </a:lnTo>
                <a:cubicBezTo>
                  <a:pt x="34100" y="660400"/>
                  <a:pt x="0" y="626300"/>
                  <a:pt x="0" y="5842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E1E9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cs-5-4"/>
          <p:cNvSpPr txBox="1"/>
          <p:nvPr/>
        </p:nvSpPr>
        <p:spPr>
          <a:xfrm>
            <a:off x="7018274" y="52369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>
                    <a:alpha val="80000"/>
                  </a:srgbClr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58" name="cell-5-5"/>
          <p:cNvSpPr/>
          <p:nvPr/>
        </p:nvSpPr>
        <p:spPr>
          <a:xfrm>
            <a:off x="7289800" y="4775200"/>
            <a:ext cx="1130300" cy="660400"/>
          </a:xfrm>
          <a:custGeom>
            <a:avLst/>
            <a:gdLst/>
            <a:ahLst/>
            <a:cxnLst/>
            <a:rect l="0" t="0" r="r" b="b"/>
            <a:pathLst>
              <a:path w="1130300" h="660400">
                <a:moveTo>
                  <a:pt x="76200" y="0"/>
                </a:moveTo>
                <a:lnTo>
                  <a:pt x="1054100" y="0"/>
                </a:lnTo>
                <a:cubicBezTo>
                  <a:pt x="1096201" y="0"/>
                  <a:pt x="1130300" y="34100"/>
                  <a:pt x="1130300" y="76200"/>
                </a:cubicBezTo>
                <a:lnTo>
                  <a:pt x="1130300" y="584200"/>
                </a:lnTo>
                <a:cubicBezTo>
                  <a:pt x="1130300" y="626300"/>
                  <a:pt x="1096201" y="660400"/>
                  <a:pt x="1054100" y="660400"/>
                </a:cubicBezTo>
                <a:lnTo>
                  <a:pt x="76200" y="660400"/>
                </a:lnTo>
                <a:cubicBezTo>
                  <a:pt x="34099" y="660400"/>
                  <a:pt x="0" y="626300"/>
                  <a:pt x="0" y="5842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DDE7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cs-5-5"/>
          <p:cNvSpPr txBox="1"/>
          <p:nvPr/>
        </p:nvSpPr>
        <p:spPr>
          <a:xfrm>
            <a:off x="8199374" y="52369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>
                    <a:alpha val="80000"/>
                  </a:srgbClr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  <p:sp>
        <p:nvSpPr>
          <p:cNvPr id="60" name="ix-1"/>
          <p:cNvSpPr txBox="1"/>
          <p:nvPr/>
        </p:nvSpPr>
        <p:spPr>
          <a:xfrm>
            <a:off x="2987358" y="1673066"/>
            <a:ext cx="2863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4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轻微</a:t>
            </a:r>
          </a:p>
        </p:txBody>
      </p:sp>
      <p:sp>
        <p:nvSpPr>
          <p:cNvPr id="61" name="ix-2"/>
          <p:cNvSpPr txBox="1"/>
          <p:nvPr/>
        </p:nvSpPr>
        <p:spPr>
          <a:xfrm>
            <a:off x="4168458" y="1673066"/>
            <a:ext cx="2863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4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较小</a:t>
            </a:r>
          </a:p>
        </p:txBody>
      </p:sp>
      <p:sp>
        <p:nvSpPr>
          <p:cNvPr id="62" name="ix-3"/>
          <p:cNvSpPr txBox="1"/>
          <p:nvPr/>
        </p:nvSpPr>
        <p:spPr>
          <a:xfrm>
            <a:off x="5349558" y="1673066"/>
            <a:ext cx="2863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4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中等</a:t>
            </a:r>
          </a:p>
        </p:txBody>
      </p:sp>
      <p:sp>
        <p:nvSpPr>
          <p:cNvPr id="63" name="ix-4"/>
          <p:cNvSpPr txBox="1"/>
          <p:nvPr/>
        </p:nvSpPr>
        <p:spPr>
          <a:xfrm>
            <a:off x="6530658" y="1673066"/>
            <a:ext cx="2863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4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较大</a:t>
            </a:r>
          </a:p>
        </p:txBody>
      </p:sp>
      <p:sp>
        <p:nvSpPr>
          <p:cNvPr id="64" name="ix-5"/>
          <p:cNvSpPr txBox="1"/>
          <p:nvPr/>
        </p:nvSpPr>
        <p:spPr>
          <a:xfrm>
            <a:off x="7711758" y="1673066"/>
            <a:ext cx="2863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4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严重</a:t>
            </a:r>
          </a:p>
        </p:txBody>
      </p:sp>
      <p:sp>
        <p:nvSpPr>
          <p:cNvPr id="65" name="iy-1"/>
          <p:cNvSpPr txBox="1"/>
          <p:nvPr/>
        </p:nvSpPr>
        <p:spPr>
          <a:xfrm>
            <a:off x="2112645" y="2181066"/>
            <a:ext cx="2863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4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很高</a:t>
            </a:r>
          </a:p>
        </p:txBody>
      </p:sp>
      <p:sp>
        <p:nvSpPr>
          <p:cNvPr id="66" name="iy-2"/>
          <p:cNvSpPr txBox="1"/>
          <p:nvPr/>
        </p:nvSpPr>
        <p:spPr>
          <a:xfrm>
            <a:off x="2112645" y="2892266"/>
            <a:ext cx="2863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4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较高</a:t>
            </a:r>
          </a:p>
        </p:txBody>
      </p:sp>
      <p:sp>
        <p:nvSpPr>
          <p:cNvPr id="67" name="iy-3"/>
          <p:cNvSpPr txBox="1"/>
          <p:nvPr/>
        </p:nvSpPr>
        <p:spPr>
          <a:xfrm>
            <a:off x="2112645" y="3603466"/>
            <a:ext cx="2863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4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中等</a:t>
            </a:r>
          </a:p>
        </p:txBody>
      </p:sp>
      <p:sp>
        <p:nvSpPr>
          <p:cNvPr id="68" name="iy-4"/>
          <p:cNvSpPr txBox="1"/>
          <p:nvPr/>
        </p:nvSpPr>
        <p:spPr>
          <a:xfrm>
            <a:off x="2112645" y="4314666"/>
            <a:ext cx="2863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4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较低</a:t>
            </a:r>
          </a:p>
        </p:txBody>
      </p:sp>
      <p:sp>
        <p:nvSpPr>
          <p:cNvPr id="69" name="iy-5"/>
          <p:cNvSpPr txBox="1"/>
          <p:nvPr/>
        </p:nvSpPr>
        <p:spPr>
          <a:xfrm>
            <a:off x="2112645" y="5025866"/>
            <a:ext cx="2863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4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很低</a:t>
            </a:r>
          </a:p>
        </p:txBody>
      </p:sp>
      <p:sp>
        <p:nvSpPr>
          <p:cNvPr id="70" name="axis-x"/>
          <p:cNvSpPr txBox="1"/>
          <p:nvPr/>
        </p:nvSpPr>
        <p:spPr>
          <a:xfrm>
            <a:off x="5158359" y="1449324"/>
            <a:ext cx="66878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影响程度 →</a:t>
            </a:r>
          </a:p>
        </p:txBody>
      </p:sp>
      <p:sp>
        <p:nvSpPr>
          <p:cNvPr id="71" name="axis-y"/>
          <p:cNvSpPr txBox="1"/>
          <p:nvPr/>
        </p:nvSpPr>
        <p:spPr>
          <a:xfrm>
            <a:off x="1731010" y="1449324"/>
            <a:ext cx="66878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↑ 发生概率</a:t>
            </a:r>
          </a:p>
        </p:txBody>
      </p:sp>
      <p:sp>
        <p:nvSpPr>
          <p:cNvPr id="72" name="pt-R1"/>
          <p:cNvSpPr/>
          <p:nvPr/>
        </p:nvSpPr>
        <p:spPr>
          <a:xfrm>
            <a:off x="7683500" y="3448050"/>
            <a:ext cx="342900" cy="3429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ptr-R1"/>
          <p:cNvSpPr/>
          <p:nvPr/>
        </p:nvSpPr>
        <p:spPr>
          <a:xfrm>
            <a:off x="7683500" y="3448050"/>
            <a:ext cx="342900" cy="342900"/>
          </a:xfrm>
          <a:prstGeom prst="ellipse">
            <a:avLst/>
          </a:prstGeom>
          <a:noFill/>
          <a:ln w="1651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ptt-R1"/>
          <p:cNvSpPr txBox="1"/>
          <p:nvPr/>
        </p:nvSpPr>
        <p:spPr>
          <a:xfrm>
            <a:off x="7744016" y="3536982"/>
            <a:ext cx="22186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E0703A"/>
                </a:solidFill>
                <a:latin typeface="Arial"/>
                <a:ea typeface="Arial"/>
                <a:cs typeface="Arial"/>
              </a:rPr>
              <a:t>R1</a:t>
            </a:r>
          </a:p>
        </p:txBody>
      </p:sp>
      <p:sp>
        <p:nvSpPr>
          <p:cNvPr id="75" name="ptn-R1"/>
          <p:cNvSpPr txBox="1"/>
          <p:nvPr/>
        </p:nvSpPr>
        <p:spPr>
          <a:xfrm>
            <a:off x="7497128" y="3801808"/>
            <a:ext cx="71564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核心供应商断供</a:t>
            </a:r>
          </a:p>
        </p:txBody>
      </p:sp>
      <p:sp>
        <p:nvSpPr>
          <p:cNvPr id="76" name="pt-R2"/>
          <p:cNvSpPr/>
          <p:nvPr/>
        </p:nvSpPr>
        <p:spPr>
          <a:xfrm>
            <a:off x="6502400" y="2736850"/>
            <a:ext cx="342900" cy="3429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ptr-R2"/>
          <p:cNvSpPr/>
          <p:nvPr/>
        </p:nvSpPr>
        <p:spPr>
          <a:xfrm>
            <a:off x="6502400" y="2736850"/>
            <a:ext cx="342900" cy="342900"/>
          </a:xfrm>
          <a:prstGeom prst="ellipse">
            <a:avLst/>
          </a:prstGeom>
          <a:noFill/>
          <a:ln w="1651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ptt-R2"/>
          <p:cNvSpPr txBox="1"/>
          <p:nvPr/>
        </p:nvSpPr>
        <p:spPr>
          <a:xfrm>
            <a:off x="6562916" y="2825782"/>
            <a:ext cx="22186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E0703A"/>
                </a:solidFill>
                <a:latin typeface="Arial"/>
                <a:ea typeface="Arial"/>
                <a:cs typeface="Arial"/>
              </a:rPr>
              <a:t>R2</a:t>
            </a:r>
          </a:p>
        </p:txBody>
      </p:sp>
      <p:sp>
        <p:nvSpPr>
          <p:cNvPr id="79" name="ptn-R2"/>
          <p:cNvSpPr txBox="1"/>
          <p:nvPr/>
        </p:nvSpPr>
        <p:spPr>
          <a:xfrm>
            <a:off x="6361430" y="3090608"/>
            <a:ext cx="6248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关键人员离职</a:t>
            </a:r>
          </a:p>
        </p:txBody>
      </p:sp>
      <p:sp>
        <p:nvSpPr>
          <p:cNvPr id="80" name="pt-R3"/>
          <p:cNvSpPr/>
          <p:nvPr/>
        </p:nvSpPr>
        <p:spPr>
          <a:xfrm>
            <a:off x="5321300" y="2025650"/>
            <a:ext cx="342900" cy="3429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ptr-R3"/>
          <p:cNvSpPr/>
          <p:nvPr/>
        </p:nvSpPr>
        <p:spPr>
          <a:xfrm>
            <a:off x="5321300" y="2025650"/>
            <a:ext cx="342900" cy="342900"/>
          </a:xfrm>
          <a:prstGeom prst="ellipse">
            <a:avLst/>
          </a:prstGeom>
          <a:noFill/>
          <a:ln w="1651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ptt-R3"/>
          <p:cNvSpPr txBox="1"/>
          <p:nvPr/>
        </p:nvSpPr>
        <p:spPr>
          <a:xfrm>
            <a:off x="5381816" y="2114582"/>
            <a:ext cx="22186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E0703A"/>
                </a:solidFill>
                <a:latin typeface="Arial"/>
                <a:ea typeface="Arial"/>
                <a:cs typeface="Arial"/>
              </a:rPr>
              <a:t>R3</a:t>
            </a:r>
          </a:p>
        </p:txBody>
      </p:sp>
      <p:sp>
        <p:nvSpPr>
          <p:cNvPr id="83" name="ptn-R3"/>
          <p:cNvSpPr txBox="1"/>
          <p:nvPr/>
        </p:nvSpPr>
        <p:spPr>
          <a:xfrm>
            <a:off x="5180330" y="2379408"/>
            <a:ext cx="6248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客户需求反复</a:t>
            </a:r>
          </a:p>
        </p:txBody>
      </p:sp>
      <p:sp>
        <p:nvSpPr>
          <p:cNvPr id="84" name="pt-R4"/>
          <p:cNvSpPr/>
          <p:nvPr/>
        </p:nvSpPr>
        <p:spPr>
          <a:xfrm>
            <a:off x="6502400" y="3448050"/>
            <a:ext cx="342900" cy="3429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ptr-R4"/>
          <p:cNvSpPr/>
          <p:nvPr/>
        </p:nvSpPr>
        <p:spPr>
          <a:xfrm>
            <a:off x="6502400" y="3448050"/>
            <a:ext cx="342900" cy="342900"/>
          </a:xfrm>
          <a:prstGeom prst="ellipse">
            <a:avLst/>
          </a:prstGeom>
          <a:noFill/>
          <a:ln w="1651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ptt-R4"/>
          <p:cNvSpPr txBox="1"/>
          <p:nvPr/>
        </p:nvSpPr>
        <p:spPr>
          <a:xfrm>
            <a:off x="6562916" y="3536982"/>
            <a:ext cx="22186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134C9C"/>
                </a:solidFill>
                <a:latin typeface="Arial"/>
                <a:ea typeface="Arial"/>
                <a:cs typeface="Arial"/>
              </a:rPr>
              <a:t>R4</a:t>
            </a:r>
          </a:p>
        </p:txBody>
      </p:sp>
      <p:sp>
        <p:nvSpPr>
          <p:cNvPr id="87" name="ptn-R4"/>
          <p:cNvSpPr txBox="1"/>
          <p:nvPr/>
        </p:nvSpPr>
        <p:spPr>
          <a:xfrm>
            <a:off x="6361430" y="3801808"/>
            <a:ext cx="6248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系统上线延期</a:t>
            </a:r>
          </a:p>
        </p:txBody>
      </p:sp>
      <p:sp>
        <p:nvSpPr>
          <p:cNvPr id="88" name="pt-R5"/>
          <p:cNvSpPr/>
          <p:nvPr/>
        </p:nvSpPr>
        <p:spPr>
          <a:xfrm>
            <a:off x="5321300" y="4159250"/>
            <a:ext cx="342900" cy="3429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ptr-R5"/>
          <p:cNvSpPr/>
          <p:nvPr/>
        </p:nvSpPr>
        <p:spPr>
          <a:xfrm>
            <a:off x="5321300" y="4159250"/>
            <a:ext cx="342900" cy="342900"/>
          </a:xfrm>
          <a:prstGeom prst="ellipse">
            <a:avLst/>
          </a:prstGeom>
          <a:noFill/>
          <a:ln w="1651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ptt-R5"/>
          <p:cNvSpPr txBox="1"/>
          <p:nvPr/>
        </p:nvSpPr>
        <p:spPr>
          <a:xfrm>
            <a:off x="5381816" y="4248182"/>
            <a:ext cx="22186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134C9C"/>
                </a:solidFill>
                <a:latin typeface="Arial"/>
                <a:ea typeface="Arial"/>
                <a:cs typeface="Arial"/>
              </a:rPr>
              <a:t>R5</a:t>
            </a:r>
          </a:p>
        </p:txBody>
      </p:sp>
      <p:sp>
        <p:nvSpPr>
          <p:cNvPr id="91" name="ptn-R5"/>
          <p:cNvSpPr txBox="1"/>
          <p:nvPr/>
        </p:nvSpPr>
        <p:spPr>
          <a:xfrm>
            <a:off x="5180330" y="4513008"/>
            <a:ext cx="6248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汇率大幅波动</a:t>
            </a:r>
          </a:p>
        </p:txBody>
      </p:sp>
      <p:sp>
        <p:nvSpPr>
          <p:cNvPr id="92" name="pt-R6"/>
          <p:cNvSpPr/>
          <p:nvPr/>
        </p:nvSpPr>
        <p:spPr>
          <a:xfrm>
            <a:off x="7683500" y="4159250"/>
            <a:ext cx="342900" cy="3429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ptr-R6"/>
          <p:cNvSpPr/>
          <p:nvPr/>
        </p:nvSpPr>
        <p:spPr>
          <a:xfrm>
            <a:off x="7683500" y="4159250"/>
            <a:ext cx="342900" cy="342900"/>
          </a:xfrm>
          <a:prstGeom prst="ellipse">
            <a:avLst/>
          </a:prstGeom>
          <a:noFill/>
          <a:ln w="1651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ptt-R6"/>
          <p:cNvSpPr txBox="1"/>
          <p:nvPr/>
        </p:nvSpPr>
        <p:spPr>
          <a:xfrm>
            <a:off x="7744016" y="4248182"/>
            <a:ext cx="22186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134C9C"/>
                </a:solidFill>
                <a:latin typeface="Arial"/>
                <a:ea typeface="Arial"/>
                <a:cs typeface="Arial"/>
              </a:rPr>
              <a:t>R6</a:t>
            </a:r>
          </a:p>
        </p:txBody>
      </p:sp>
      <p:sp>
        <p:nvSpPr>
          <p:cNvPr id="95" name="ptn-R6"/>
          <p:cNvSpPr txBox="1"/>
          <p:nvPr/>
        </p:nvSpPr>
        <p:spPr>
          <a:xfrm>
            <a:off x="7542530" y="4513008"/>
            <a:ext cx="6248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合规审查趋严</a:t>
            </a:r>
          </a:p>
        </p:txBody>
      </p:sp>
      <p:sp>
        <p:nvSpPr>
          <p:cNvPr id="96" name="pt-R7"/>
          <p:cNvSpPr/>
          <p:nvPr/>
        </p:nvSpPr>
        <p:spPr>
          <a:xfrm>
            <a:off x="4140200" y="2736850"/>
            <a:ext cx="342900" cy="3429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ptr-R7"/>
          <p:cNvSpPr/>
          <p:nvPr/>
        </p:nvSpPr>
        <p:spPr>
          <a:xfrm>
            <a:off x="4140200" y="2736850"/>
            <a:ext cx="342900" cy="342900"/>
          </a:xfrm>
          <a:prstGeom prst="ellipse">
            <a:avLst/>
          </a:prstGeom>
          <a:noFill/>
          <a:ln w="1651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ptt-R7"/>
          <p:cNvSpPr txBox="1"/>
          <p:nvPr/>
        </p:nvSpPr>
        <p:spPr>
          <a:xfrm>
            <a:off x="4200716" y="2825782"/>
            <a:ext cx="22186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134C9C"/>
                </a:solidFill>
                <a:latin typeface="Arial"/>
                <a:ea typeface="Arial"/>
                <a:cs typeface="Arial"/>
              </a:rPr>
              <a:t>R7</a:t>
            </a:r>
          </a:p>
        </p:txBody>
      </p:sp>
      <p:sp>
        <p:nvSpPr>
          <p:cNvPr id="99" name="ptn-R7"/>
          <p:cNvSpPr txBox="1"/>
          <p:nvPr/>
        </p:nvSpPr>
        <p:spPr>
          <a:xfrm>
            <a:off x="3999230" y="3090608"/>
            <a:ext cx="6248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竞品大幅降价</a:t>
            </a:r>
          </a:p>
        </p:txBody>
      </p:sp>
      <p:sp>
        <p:nvSpPr>
          <p:cNvPr id="100" name="pt-R8"/>
          <p:cNvSpPr/>
          <p:nvPr/>
        </p:nvSpPr>
        <p:spPr>
          <a:xfrm>
            <a:off x="4140200" y="3448050"/>
            <a:ext cx="342900" cy="3429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ptr-R8"/>
          <p:cNvSpPr/>
          <p:nvPr/>
        </p:nvSpPr>
        <p:spPr>
          <a:xfrm>
            <a:off x="4140200" y="3448050"/>
            <a:ext cx="342900" cy="342900"/>
          </a:xfrm>
          <a:prstGeom prst="ellipse">
            <a:avLst/>
          </a:prstGeom>
          <a:noFill/>
          <a:ln w="1651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2" name="ptt-R8"/>
          <p:cNvSpPr txBox="1"/>
          <p:nvPr/>
        </p:nvSpPr>
        <p:spPr>
          <a:xfrm>
            <a:off x="4200716" y="3536982"/>
            <a:ext cx="22186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134C9C"/>
                </a:solidFill>
                <a:latin typeface="Arial"/>
                <a:ea typeface="Arial"/>
                <a:cs typeface="Arial"/>
              </a:rPr>
              <a:t>R8</a:t>
            </a:r>
          </a:p>
        </p:txBody>
      </p:sp>
      <p:sp>
        <p:nvSpPr>
          <p:cNvPr id="103" name="ptn-R8"/>
          <p:cNvSpPr txBox="1"/>
          <p:nvPr/>
        </p:nvSpPr>
        <p:spPr>
          <a:xfrm>
            <a:off x="3999230" y="3801808"/>
            <a:ext cx="6248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设备故障停机</a:t>
            </a:r>
          </a:p>
        </p:txBody>
      </p:sp>
      <p:sp>
        <p:nvSpPr>
          <p:cNvPr id="104" name="lg-h"/>
          <p:cNvSpPr txBox="1"/>
          <p:nvPr/>
        </p:nvSpPr>
        <p:spPr>
          <a:xfrm>
            <a:off x="938784" y="1700340"/>
            <a:ext cx="6108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分级标准</a:t>
            </a:r>
          </a:p>
        </p:txBody>
      </p:sp>
      <p:sp>
        <p:nvSpPr>
          <p:cNvPr id="105" name="lg-1"/>
          <p:cNvSpPr/>
          <p:nvPr/>
        </p:nvSpPr>
        <p:spPr>
          <a:xfrm>
            <a:off x="952500" y="21336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50800" y="0"/>
                </a:moveTo>
                <a:lnTo>
                  <a:pt x="139700" y="0"/>
                </a:lnTo>
                <a:cubicBezTo>
                  <a:pt x="167767" y="0"/>
                  <a:pt x="190500" y="22733"/>
                  <a:pt x="190500" y="50800"/>
                </a:cubicBezTo>
                <a:lnTo>
                  <a:pt x="190500" y="139700"/>
                </a:lnTo>
                <a:cubicBezTo>
                  <a:pt x="190500" y="167767"/>
                  <a:pt x="167767" y="190500"/>
                  <a:pt x="139700" y="190500"/>
                </a:cubicBezTo>
                <a:lnTo>
                  <a:pt x="50800" y="190500"/>
                </a:lnTo>
                <a:cubicBezTo>
                  <a:pt x="22733" y="190500"/>
                  <a:pt x="0" y="167767"/>
                  <a:pt x="0" y="1397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6" name="lgl-1"/>
          <p:cNvSpPr txBox="1"/>
          <p:nvPr/>
        </p:nvSpPr>
        <p:spPr>
          <a:xfrm>
            <a:off x="1206246" y="2139982"/>
            <a:ext cx="325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红区</a:t>
            </a:r>
          </a:p>
        </p:txBody>
      </p:sp>
      <p:sp>
        <p:nvSpPr>
          <p:cNvPr id="107" name="lgn-1"/>
          <p:cNvSpPr txBox="1"/>
          <p:nvPr/>
        </p:nvSpPr>
        <p:spPr>
          <a:xfrm>
            <a:off x="941832" y="2366708"/>
            <a:ext cx="9740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得分 ≥ 15，须有预案</a:t>
            </a:r>
          </a:p>
        </p:txBody>
      </p:sp>
      <p:sp>
        <p:nvSpPr>
          <p:cNvPr id="108" name="lg-2"/>
          <p:cNvSpPr/>
          <p:nvPr/>
        </p:nvSpPr>
        <p:spPr>
          <a:xfrm>
            <a:off x="952500" y="2667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50800" y="0"/>
                </a:moveTo>
                <a:lnTo>
                  <a:pt x="139700" y="0"/>
                </a:lnTo>
                <a:cubicBezTo>
                  <a:pt x="167767" y="0"/>
                  <a:pt x="190500" y="22733"/>
                  <a:pt x="190500" y="50800"/>
                </a:cubicBezTo>
                <a:lnTo>
                  <a:pt x="190500" y="139700"/>
                </a:lnTo>
                <a:cubicBezTo>
                  <a:pt x="190500" y="167767"/>
                  <a:pt x="167767" y="190500"/>
                  <a:pt x="139700" y="190500"/>
                </a:cubicBezTo>
                <a:lnTo>
                  <a:pt x="50800" y="190500"/>
                </a:lnTo>
                <a:cubicBezTo>
                  <a:pt x="22733" y="190500"/>
                  <a:pt x="0" y="167767"/>
                  <a:pt x="0" y="1397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9FC0E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lgl-2"/>
          <p:cNvSpPr txBox="1"/>
          <p:nvPr/>
        </p:nvSpPr>
        <p:spPr>
          <a:xfrm>
            <a:off x="1206246" y="2673382"/>
            <a:ext cx="325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黄区</a:t>
            </a:r>
          </a:p>
        </p:txBody>
      </p:sp>
      <p:sp>
        <p:nvSpPr>
          <p:cNvPr id="110" name="lgn-2"/>
          <p:cNvSpPr txBox="1"/>
          <p:nvPr/>
        </p:nvSpPr>
        <p:spPr>
          <a:xfrm>
            <a:off x="941832" y="2900108"/>
            <a:ext cx="9740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得分 8–14，季度复评</a:t>
            </a:r>
          </a:p>
        </p:txBody>
      </p:sp>
      <p:sp>
        <p:nvSpPr>
          <p:cNvPr id="111" name="lg-3"/>
          <p:cNvSpPr/>
          <p:nvPr/>
        </p:nvSpPr>
        <p:spPr>
          <a:xfrm>
            <a:off x="952500" y="32004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50800" y="0"/>
                </a:moveTo>
                <a:lnTo>
                  <a:pt x="139700" y="0"/>
                </a:lnTo>
                <a:cubicBezTo>
                  <a:pt x="167767" y="0"/>
                  <a:pt x="190500" y="22733"/>
                  <a:pt x="190500" y="50800"/>
                </a:cubicBezTo>
                <a:lnTo>
                  <a:pt x="190500" y="139700"/>
                </a:lnTo>
                <a:cubicBezTo>
                  <a:pt x="190500" y="167767"/>
                  <a:pt x="167767" y="190500"/>
                  <a:pt x="139700" y="190500"/>
                </a:cubicBezTo>
                <a:lnTo>
                  <a:pt x="50800" y="190500"/>
                </a:lnTo>
                <a:cubicBezTo>
                  <a:pt x="22733" y="190500"/>
                  <a:pt x="0" y="167767"/>
                  <a:pt x="0" y="1397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E8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2" name="lgl-3"/>
          <p:cNvSpPr txBox="1"/>
          <p:nvPr/>
        </p:nvSpPr>
        <p:spPr>
          <a:xfrm>
            <a:off x="1206246" y="3206782"/>
            <a:ext cx="325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蓝区</a:t>
            </a:r>
          </a:p>
        </p:txBody>
      </p:sp>
      <p:sp>
        <p:nvSpPr>
          <p:cNvPr id="113" name="lgn-3"/>
          <p:cNvSpPr txBox="1"/>
          <p:nvPr/>
        </p:nvSpPr>
        <p:spPr>
          <a:xfrm>
            <a:off x="941832" y="3433508"/>
            <a:ext cx="922401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得分 &lt; 8，登记观察</a:t>
            </a:r>
          </a:p>
        </p:txBody>
      </p:sp>
      <p:sp>
        <p:nvSpPr>
          <p:cNvPr id="114" name="lg-f"/>
          <p:cNvSpPr txBox="1"/>
          <p:nvPr/>
        </p:nvSpPr>
        <p:spPr>
          <a:xfrm>
            <a:off x="941451" y="3899487"/>
            <a:ext cx="99041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评分 = 概率 × 影响</a:t>
            </a:r>
          </a:p>
        </p:txBody>
      </p:sp>
      <p:sp>
        <p:nvSpPr>
          <p:cNvPr id="115" name="side-bar"/>
          <p:cNvSpPr/>
          <p:nvPr/>
        </p:nvSpPr>
        <p:spPr>
          <a:xfrm>
            <a:off x="9017000" y="15875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6" name="side-h"/>
          <p:cNvSpPr txBox="1"/>
          <p:nvPr/>
        </p:nvSpPr>
        <p:spPr>
          <a:xfrm>
            <a:off x="9175750" y="15946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红区风险</a:t>
            </a:r>
          </a:p>
        </p:txBody>
      </p:sp>
      <p:sp>
        <p:nvSpPr>
          <p:cNvPr id="117" name="side-p"/>
          <p:cNvSpPr txBox="1"/>
          <p:nvPr/>
        </p:nvSpPr>
        <p:spPr>
          <a:xfrm>
            <a:off x="9181465" y="1869361"/>
            <a:ext cx="12366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必须指定责任人与预案</a:t>
            </a:r>
          </a:p>
        </p:txBody>
      </p:sp>
      <p:sp>
        <p:nvSpPr>
          <p:cNvPr id="118" name="rc-1"/>
          <p:cNvSpPr/>
          <p:nvPr/>
        </p:nvSpPr>
        <p:spPr>
          <a:xfrm>
            <a:off x="9017000" y="2286000"/>
            <a:ext cx="2222500" cy="647700"/>
          </a:xfrm>
          <a:custGeom>
            <a:avLst/>
            <a:gdLst/>
            <a:ahLst/>
            <a:cxnLst/>
            <a:rect l="0" t="0" r="r" b="b"/>
            <a:pathLst>
              <a:path w="2222500" h="647700">
                <a:moveTo>
                  <a:pt x="101600" y="0"/>
                </a:moveTo>
                <a:lnTo>
                  <a:pt x="2120900" y="0"/>
                </a:lnTo>
                <a:cubicBezTo>
                  <a:pt x="2177034" y="0"/>
                  <a:pt x="2222500" y="45466"/>
                  <a:pt x="2222500" y="101600"/>
                </a:cubicBezTo>
                <a:lnTo>
                  <a:pt x="2222500" y="546100"/>
                </a:lnTo>
                <a:cubicBezTo>
                  <a:pt x="2222500" y="602234"/>
                  <a:pt x="2177034" y="647700"/>
                  <a:pt x="2120900" y="647700"/>
                </a:cubicBezTo>
                <a:lnTo>
                  <a:pt x="101600" y="647700"/>
                </a:lnTo>
                <a:cubicBezTo>
                  <a:pt x="45466" y="647700"/>
                  <a:pt x="0" y="602234"/>
                  <a:pt x="0" y="5461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9" name="rcb-1"/>
          <p:cNvSpPr/>
          <p:nvPr/>
        </p:nvSpPr>
        <p:spPr>
          <a:xfrm>
            <a:off x="9017000" y="2286000"/>
            <a:ext cx="31750" cy="647700"/>
          </a:xfrm>
          <a:custGeom>
            <a:avLst/>
            <a:gdLst/>
            <a:ahLst/>
            <a:cxnLst/>
            <a:rect l="0" t="0" r="r" b="b"/>
            <a:pathLst>
              <a:path w="31750" h="6477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631825"/>
                </a:lnTo>
                <a:cubicBezTo>
                  <a:pt x="31750" y="640588"/>
                  <a:pt x="24638" y="647700"/>
                  <a:pt x="15875" y="647700"/>
                </a:cubicBezTo>
                <a:lnTo>
                  <a:pt x="15875" y="647700"/>
                </a:lnTo>
                <a:cubicBezTo>
                  <a:pt x="7112" y="647700"/>
                  <a:pt x="0" y="640588"/>
                  <a:pt x="0" y="6318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0" name="rcid-1"/>
          <p:cNvSpPr txBox="1"/>
          <p:nvPr/>
        </p:nvSpPr>
        <p:spPr>
          <a:xfrm>
            <a:off x="9181846" y="2406682"/>
            <a:ext cx="22567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30">
                <a:solidFill>
                  <a:srgbClr val="E0703A"/>
                </a:solidFill>
                <a:latin typeface="Arial"/>
                <a:ea typeface="Arial"/>
                <a:cs typeface="Arial"/>
              </a:rPr>
              <a:t>R1</a:t>
            </a:r>
          </a:p>
        </p:txBody>
      </p:sp>
      <p:sp>
        <p:nvSpPr>
          <p:cNvPr id="121" name="rcn-1"/>
          <p:cNvSpPr txBox="1"/>
          <p:nvPr/>
        </p:nvSpPr>
        <p:spPr>
          <a:xfrm>
            <a:off x="9458960" y="2383155"/>
            <a:ext cx="10566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核心供应商断供</a:t>
            </a:r>
          </a:p>
        </p:txBody>
      </p:sp>
      <p:sp>
        <p:nvSpPr>
          <p:cNvPr id="122" name="rco-1"/>
          <p:cNvSpPr txBox="1"/>
          <p:nvPr/>
        </p:nvSpPr>
        <p:spPr>
          <a:xfrm>
            <a:off x="9183751" y="2654887"/>
            <a:ext cx="83470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责任部门：供应链</a:t>
            </a:r>
          </a:p>
        </p:txBody>
      </p:sp>
      <p:sp>
        <p:nvSpPr>
          <p:cNvPr id="123" name="rcs-1"/>
          <p:cNvSpPr/>
          <p:nvPr/>
        </p:nvSpPr>
        <p:spPr>
          <a:xfrm>
            <a:off x="10706100" y="2641600"/>
            <a:ext cx="393700" cy="190500"/>
          </a:xfrm>
          <a:custGeom>
            <a:avLst/>
            <a:gdLst/>
            <a:ahLst/>
            <a:cxnLst/>
            <a:rect l="0" t="0" r="r" b="b"/>
            <a:pathLst>
              <a:path w="393700" h="190500">
                <a:moveTo>
                  <a:pt x="95250" y="0"/>
                </a:moveTo>
                <a:lnTo>
                  <a:pt x="298450" y="0"/>
                </a:lnTo>
                <a:cubicBezTo>
                  <a:pt x="351028" y="0"/>
                  <a:pt x="393700" y="42672"/>
                  <a:pt x="393700" y="95250"/>
                </a:cubicBezTo>
                <a:lnTo>
                  <a:pt x="393700" y="95250"/>
                </a:lnTo>
                <a:cubicBezTo>
                  <a:pt x="393700" y="147828"/>
                  <a:pt x="351028" y="190500"/>
                  <a:pt x="2984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4" name="rcst-1"/>
          <p:cNvSpPr txBox="1"/>
          <p:nvPr/>
        </p:nvSpPr>
        <p:spPr>
          <a:xfrm>
            <a:off x="10800334" y="26431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15</a:t>
            </a:r>
          </a:p>
        </p:txBody>
      </p:sp>
      <p:sp>
        <p:nvSpPr>
          <p:cNvPr id="125" name="rc-2"/>
          <p:cNvSpPr/>
          <p:nvPr/>
        </p:nvSpPr>
        <p:spPr>
          <a:xfrm>
            <a:off x="9017000" y="3048000"/>
            <a:ext cx="2222500" cy="647700"/>
          </a:xfrm>
          <a:custGeom>
            <a:avLst/>
            <a:gdLst/>
            <a:ahLst/>
            <a:cxnLst/>
            <a:rect l="0" t="0" r="r" b="b"/>
            <a:pathLst>
              <a:path w="2222500" h="647700">
                <a:moveTo>
                  <a:pt x="101600" y="0"/>
                </a:moveTo>
                <a:lnTo>
                  <a:pt x="2120900" y="0"/>
                </a:lnTo>
                <a:cubicBezTo>
                  <a:pt x="2177034" y="0"/>
                  <a:pt x="2222500" y="45466"/>
                  <a:pt x="2222500" y="101600"/>
                </a:cubicBezTo>
                <a:lnTo>
                  <a:pt x="2222500" y="546100"/>
                </a:lnTo>
                <a:cubicBezTo>
                  <a:pt x="2222500" y="602234"/>
                  <a:pt x="2177034" y="647700"/>
                  <a:pt x="2120900" y="647700"/>
                </a:cubicBezTo>
                <a:lnTo>
                  <a:pt x="101600" y="647700"/>
                </a:lnTo>
                <a:cubicBezTo>
                  <a:pt x="45466" y="647700"/>
                  <a:pt x="0" y="602234"/>
                  <a:pt x="0" y="5461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6" name="rcb-2"/>
          <p:cNvSpPr/>
          <p:nvPr/>
        </p:nvSpPr>
        <p:spPr>
          <a:xfrm>
            <a:off x="9017000" y="3048000"/>
            <a:ext cx="31750" cy="647700"/>
          </a:xfrm>
          <a:custGeom>
            <a:avLst/>
            <a:gdLst/>
            <a:ahLst/>
            <a:cxnLst/>
            <a:rect l="0" t="0" r="r" b="b"/>
            <a:pathLst>
              <a:path w="31750" h="6477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631825"/>
                </a:lnTo>
                <a:cubicBezTo>
                  <a:pt x="31750" y="640588"/>
                  <a:pt x="24638" y="647700"/>
                  <a:pt x="15875" y="647700"/>
                </a:cubicBezTo>
                <a:lnTo>
                  <a:pt x="15875" y="647700"/>
                </a:lnTo>
                <a:cubicBezTo>
                  <a:pt x="7112" y="647700"/>
                  <a:pt x="0" y="640588"/>
                  <a:pt x="0" y="6318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7" name="rcid-2"/>
          <p:cNvSpPr txBox="1"/>
          <p:nvPr/>
        </p:nvSpPr>
        <p:spPr>
          <a:xfrm>
            <a:off x="9181846" y="3168682"/>
            <a:ext cx="22567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30">
                <a:solidFill>
                  <a:srgbClr val="E0703A"/>
                </a:solidFill>
                <a:latin typeface="Arial"/>
                <a:ea typeface="Arial"/>
                <a:cs typeface="Arial"/>
              </a:rPr>
              <a:t>R2</a:t>
            </a:r>
          </a:p>
        </p:txBody>
      </p:sp>
      <p:sp>
        <p:nvSpPr>
          <p:cNvPr id="128" name="rcn-2"/>
          <p:cNvSpPr txBox="1"/>
          <p:nvPr/>
        </p:nvSpPr>
        <p:spPr>
          <a:xfrm>
            <a:off x="9458960" y="3145155"/>
            <a:ext cx="92202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关键人员离职</a:t>
            </a:r>
          </a:p>
        </p:txBody>
      </p:sp>
      <p:sp>
        <p:nvSpPr>
          <p:cNvPr id="129" name="rco-2"/>
          <p:cNvSpPr txBox="1"/>
          <p:nvPr/>
        </p:nvSpPr>
        <p:spPr>
          <a:xfrm>
            <a:off x="9183751" y="3416887"/>
            <a:ext cx="74072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责任部门：人力</a:t>
            </a:r>
          </a:p>
        </p:txBody>
      </p:sp>
      <p:sp>
        <p:nvSpPr>
          <p:cNvPr id="130" name="rcs-2"/>
          <p:cNvSpPr/>
          <p:nvPr/>
        </p:nvSpPr>
        <p:spPr>
          <a:xfrm>
            <a:off x="10706100" y="3403600"/>
            <a:ext cx="393700" cy="190500"/>
          </a:xfrm>
          <a:custGeom>
            <a:avLst/>
            <a:gdLst/>
            <a:ahLst/>
            <a:cxnLst/>
            <a:rect l="0" t="0" r="r" b="b"/>
            <a:pathLst>
              <a:path w="393700" h="190500">
                <a:moveTo>
                  <a:pt x="95250" y="0"/>
                </a:moveTo>
                <a:lnTo>
                  <a:pt x="298450" y="0"/>
                </a:lnTo>
                <a:cubicBezTo>
                  <a:pt x="351028" y="0"/>
                  <a:pt x="393700" y="42672"/>
                  <a:pt x="393700" y="95250"/>
                </a:cubicBezTo>
                <a:lnTo>
                  <a:pt x="393700" y="95250"/>
                </a:lnTo>
                <a:cubicBezTo>
                  <a:pt x="393700" y="147828"/>
                  <a:pt x="351028" y="190500"/>
                  <a:pt x="2984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1" name="rcst-2"/>
          <p:cNvSpPr txBox="1"/>
          <p:nvPr/>
        </p:nvSpPr>
        <p:spPr>
          <a:xfrm>
            <a:off x="10800334" y="34051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16</a:t>
            </a:r>
          </a:p>
        </p:txBody>
      </p:sp>
      <p:sp>
        <p:nvSpPr>
          <p:cNvPr id="132" name="rc-3"/>
          <p:cNvSpPr/>
          <p:nvPr/>
        </p:nvSpPr>
        <p:spPr>
          <a:xfrm>
            <a:off x="9017000" y="3810000"/>
            <a:ext cx="2222500" cy="647700"/>
          </a:xfrm>
          <a:custGeom>
            <a:avLst/>
            <a:gdLst/>
            <a:ahLst/>
            <a:cxnLst/>
            <a:rect l="0" t="0" r="r" b="b"/>
            <a:pathLst>
              <a:path w="2222500" h="647700">
                <a:moveTo>
                  <a:pt x="101600" y="0"/>
                </a:moveTo>
                <a:lnTo>
                  <a:pt x="2120900" y="0"/>
                </a:lnTo>
                <a:cubicBezTo>
                  <a:pt x="2177034" y="0"/>
                  <a:pt x="2222500" y="45466"/>
                  <a:pt x="2222500" y="101600"/>
                </a:cubicBezTo>
                <a:lnTo>
                  <a:pt x="2222500" y="546100"/>
                </a:lnTo>
                <a:cubicBezTo>
                  <a:pt x="2222500" y="602234"/>
                  <a:pt x="2177034" y="647700"/>
                  <a:pt x="2120900" y="647700"/>
                </a:cubicBezTo>
                <a:lnTo>
                  <a:pt x="101600" y="647700"/>
                </a:lnTo>
                <a:cubicBezTo>
                  <a:pt x="45466" y="647700"/>
                  <a:pt x="0" y="602234"/>
                  <a:pt x="0" y="5461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3" name="rcb-3"/>
          <p:cNvSpPr/>
          <p:nvPr/>
        </p:nvSpPr>
        <p:spPr>
          <a:xfrm>
            <a:off x="9017000" y="3810000"/>
            <a:ext cx="31750" cy="647700"/>
          </a:xfrm>
          <a:custGeom>
            <a:avLst/>
            <a:gdLst/>
            <a:ahLst/>
            <a:cxnLst/>
            <a:rect l="0" t="0" r="r" b="b"/>
            <a:pathLst>
              <a:path w="31750" h="6477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631825"/>
                </a:lnTo>
                <a:cubicBezTo>
                  <a:pt x="31750" y="640588"/>
                  <a:pt x="24638" y="647700"/>
                  <a:pt x="15875" y="647700"/>
                </a:cubicBezTo>
                <a:lnTo>
                  <a:pt x="15875" y="647700"/>
                </a:lnTo>
                <a:cubicBezTo>
                  <a:pt x="7112" y="647700"/>
                  <a:pt x="0" y="640588"/>
                  <a:pt x="0" y="6318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4" name="rcid-3"/>
          <p:cNvSpPr txBox="1"/>
          <p:nvPr/>
        </p:nvSpPr>
        <p:spPr>
          <a:xfrm>
            <a:off x="9181846" y="3930682"/>
            <a:ext cx="22567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30">
                <a:solidFill>
                  <a:srgbClr val="E0703A"/>
                </a:solidFill>
                <a:latin typeface="Arial"/>
                <a:ea typeface="Arial"/>
                <a:cs typeface="Arial"/>
              </a:rPr>
              <a:t>R3</a:t>
            </a:r>
          </a:p>
        </p:txBody>
      </p:sp>
      <p:sp>
        <p:nvSpPr>
          <p:cNvPr id="135" name="rcn-3"/>
          <p:cNvSpPr txBox="1"/>
          <p:nvPr/>
        </p:nvSpPr>
        <p:spPr>
          <a:xfrm>
            <a:off x="9458960" y="3907155"/>
            <a:ext cx="92202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客户需求反复</a:t>
            </a:r>
          </a:p>
        </p:txBody>
      </p:sp>
      <p:sp>
        <p:nvSpPr>
          <p:cNvPr id="136" name="rco-3"/>
          <p:cNvSpPr txBox="1"/>
          <p:nvPr/>
        </p:nvSpPr>
        <p:spPr>
          <a:xfrm>
            <a:off x="9183751" y="4178887"/>
            <a:ext cx="74072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责任部门：产品</a:t>
            </a:r>
          </a:p>
        </p:txBody>
      </p:sp>
      <p:sp>
        <p:nvSpPr>
          <p:cNvPr id="137" name="rcs-3"/>
          <p:cNvSpPr/>
          <p:nvPr/>
        </p:nvSpPr>
        <p:spPr>
          <a:xfrm>
            <a:off x="10706100" y="4165600"/>
            <a:ext cx="393700" cy="190500"/>
          </a:xfrm>
          <a:custGeom>
            <a:avLst/>
            <a:gdLst/>
            <a:ahLst/>
            <a:cxnLst/>
            <a:rect l="0" t="0" r="r" b="b"/>
            <a:pathLst>
              <a:path w="393700" h="190500">
                <a:moveTo>
                  <a:pt x="95250" y="0"/>
                </a:moveTo>
                <a:lnTo>
                  <a:pt x="298450" y="0"/>
                </a:lnTo>
                <a:cubicBezTo>
                  <a:pt x="351028" y="0"/>
                  <a:pt x="393700" y="42672"/>
                  <a:pt x="393700" y="95250"/>
                </a:cubicBezTo>
                <a:lnTo>
                  <a:pt x="393700" y="95250"/>
                </a:lnTo>
                <a:cubicBezTo>
                  <a:pt x="393700" y="147828"/>
                  <a:pt x="351028" y="190500"/>
                  <a:pt x="2984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8" name="rcst-3"/>
          <p:cNvSpPr txBox="1"/>
          <p:nvPr/>
        </p:nvSpPr>
        <p:spPr>
          <a:xfrm>
            <a:off x="10800334" y="41671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15</a:t>
            </a:r>
          </a:p>
        </p:txBody>
      </p:sp>
      <p:sp>
        <p:nvSpPr>
          <p:cNvPr id="139" name="sum"/>
          <p:cNvSpPr/>
          <p:nvPr/>
        </p:nvSpPr>
        <p:spPr>
          <a:xfrm>
            <a:off x="952500" y="5537200"/>
            <a:ext cx="10287000" cy="584200"/>
          </a:xfrm>
          <a:custGeom>
            <a:avLst/>
            <a:gdLst/>
            <a:ahLst/>
            <a:cxnLst/>
            <a:rect l="0" t="0" r="r" b="b"/>
            <a:pathLst>
              <a:path w="10287000" h="5842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82600"/>
                </a:lnTo>
                <a:cubicBezTo>
                  <a:pt x="10287000" y="538734"/>
                  <a:pt x="10241534" y="584200"/>
                  <a:pt x="10185400" y="584200"/>
                </a:cubicBezTo>
                <a:lnTo>
                  <a:pt x="101600" y="584200"/>
                </a:lnTo>
                <a:cubicBezTo>
                  <a:pt x="45466" y="584200"/>
                  <a:pt x="0" y="538734"/>
                  <a:pt x="0" y="482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0" name="sum-bar"/>
          <p:cNvSpPr/>
          <p:nvPr/>
        </p:nvSpPr>
        <p:spPr>
          <a:xfrm>
            <a:off x="952500" y="5537200"/>
            <a:ext cx="31750" cy="5842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1" name="sum-h"/>
          <p:cNvSpPr txBox="1"/>
          <p:nvPr/>
        </p:nvSpPr>
        <p:spPr>
          <a:xfrm>
            <a:off x="1141222" y="56421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管控机制</a:t>
            </a:r>
          </a:p>
        </p:txBody>
      </p:sp>
      <p:sp>
        <p:nvSpPr>
          <p:cNvPr id="142" name="sum-p"/>
          <p:cNvSpPr txBox="1"/>
          <p:nvPr/>
        </p:nvSpPr>
        <p:spPr>
          <a:xfrm>
            <a:off x="1142365" y="5857161"/>
            <a:ext cx="521493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红区风险每两周在经营例会复盘一次并更新预案；黄区按季度复评；风险等级变化须同步更新责任人。</a:t>
            </a:r>
          </a:p>
        </p:txBody>
      </p:sp>
      <p:sp>
        <p:nvSpPr>
          <p:cNvPr id="143" name="sv-1"/>
          <p:cNvSpPr txBox="1"/>
          <p:nvPr/>
        </p:nvSpPr>
        <p:spPr>
          <a:xfrm>
            <a:off x="8586660" y="5653786"/>
            <a:ext cx="225679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8</a:t>
            </a:r>
          </a:p>
        </p:txBody>
      </p:sp>
      <p:sp>
        <p:nvSpPr>
          <p:cNvPr id="144" name="sl-1"/>
          <p:cNvSpPr txBox="1"/>
          <p:nvPr/>
        </p:nvSpPr>
        <p:spPr>
          <a:xfrm>
            <a:off x="8476615" y="5910008"/>
            <a:ext cx="4457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登记风险</a:t>
            </a:r>
          </a:p>
        </p:txBody>
      </p:sp>
      <p:sp>
        <p:nvSpPr>
          <p:cNvPr id="145" name="sv-2"/>
          <p:cNvSpPr txBox="1"/>
          <p:nvPr/>
        </p:nvSpPr>
        <p:spPr>
          <a:xfrm>
            <a:off x="9539160" y="5653786"/>
            <a:ext cx="225679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3</a:t>
            </a:r>
          </a:p>
        </p:txBody>
      </p:sp>
      <p:sp>
        <p:nvSpPr>
          <p:cNvPr id="146" name="sl-2"/>
          <p:cNvSpPr txBox="1"/>
          <p:nvPr/>
        </p:nvSpPr>
        <p:spPr>
          <a:xfrm>
            <a:off x="9429115" y="5910008"/>
            <a:ext cx="4457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红区风险</a:t>
            </a:r>
          </a:p>
        </p:txBody>
      </p:sp>
      <p:sp>
        <p:nvSpPr>
          <p:cNvPr id="147" name="sv-3"/>
          <p:cNvSpPr txBox="1"/>
          <p:nvPr/>
        </p:nvSpPr>
        <p:spPr>
          <a:xfrm>
            <a:off x="10369614" y="5653786"/>
            <a:ext cx="469773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2 周</a:t>
            </a:r>
          </a:p>
        </p:txBody>
      </p:sp>
      <p:sp>
        <p:nvSpPr>
          <p:cNvPr id="148" name="sl-3"/>
          <p:cNvSpPr txBox="1"/>
          <p:nvPr/>
        </p:nvSpPr>
        <p:spPr>
          <a:xfrm>
            <a:off x="10381615" y="5910008"/>
            <a:ext cx="4457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复盘频次</a:t>
            </a:r>
          </a:p>
        </p:txBody>
      </p:sp>
      <p:cxnSp>
        <p:nvCxnSpPr>
          <p:cNvPr id="149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0" name="foot-l"/>
          <p:cNvSpPr txBox="1"/>
          <p:nvPr/>
        </p:nvSpPr>
        <p:spPr>
          <a:xfrm>
            <a:off x="573532" y="6532308"/>
            <a:ext cx="11046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风险矩阵 · 概率×影响</a:t>
            </a:r>
          </a:p>
        </p:txBody>
      </p:sp>
      <p:sp>
        <p:nvSpPr>
          <p:cNvPr id="151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三层增长地平线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35483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THREE HORIZONS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551799" y="673132"/>
            <a:ext cx="30689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守住现金流、做大第二曲线、押注第三曲线，三件事同时做</a:t>
            </a:r>
          </a:p>
        </p:txBody>
      </p:sp>
      <p:cxnSp>
        <p:nvCxnSpPr>
          <p:cNvPr id="10" name="axis-x"/>
          <p:cNvCxnSpPr/>
          <p:nvPr/>
        </p:nvCxnSpPr>
        <p:spPr>
          <a:xfrm>
            <a:off x="1104900" y="4775200"/>
            <a:ext cx="6578600" cy="0"/>
          </a:xfrm>
          <a:prstGeom prst="line">
            <a:avLst/>
          </a:prstGeom>
          <a:ln w="1016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axis-y"/>
          <p:cNvCxnSpPr/>
          <p:nvPr/>
        </p:nvCxnSpPr>
        <p:spPr>
          <a:xfrm>
            <a:off x="1104900" y="1663700"/>
            <a:ext cx="0" cy="3111500"/>
          </a:xfrm>
          <a:prstGeom prst="line">
            <a:avLst/>
          </a:prstGeom>
          <a:ln w="1016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" name="axis-yt"/>
          <p:cNvSpPr txBox="1"/>
          <p:nvPr/>
        </p:nvSpPr>
        <p:spPr>
          <a:xfrm>
            <a:off x="1017651" y="1486487"/>
            <a:ext cx="46640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3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营收贡献</a:t>
            </a:r>
          </a:p>
        </p:txBody>
      </p:sp>
      <p:sp>
        <p:nvSpPr>
          <p:cNvPr id="13" name="xt-1"/>
          <p:cNvSpPr txBox="1"/>
          <p:nvPr/>
        </p:nvSpPr>
        <p:spPr>
          <a:xfrm>
            <a:off x="2100739" y="4879261"/>
            <a:ext cx="32988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今年</a:t>
            </a:r>
          </a:p>
        </p:txBody>
      </p:sp>
      <p:cxnSp>
        <p:nvCxnSpPr>
          <p:cNvPr id="14" name="xtick-1"/>
          <p:cNvCxnSpPr/>
          <p:nvPr/>
        </p:nvCxnSpPr>
        <p:spPr>
          <a:xfrm>
            <a:off x="2265680" y="4775200"/>
            <a:ext cx="0" cy="63500"/>
          </a:xfrm>
          <a:prstGeom prst="line">
            <a:avLst/>
          </a:prstGeom>
          <a:ln w="889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xt-2"/>
          <p:cNvSpPr txBox="1"/>
          <p:nvPr/>
        </p:nvSpPr>
        <p:spPr>
          <a:xfrm>
            <a:off x="4266406" y="4879261"/>
            <a:ext cx="47910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1–2 年</a:t>
            </a:r>
          </a:p>
        </p:txBody>
      </p:sp>
      <p:cxnSp>
        <p:nvCxnSpPr>
          <p:cNvPr id="16" name="xtick-2"/>
          <p:cNvCxnSpPr/>
          <p:nvPr/>
        </p:nvCxnSpPr>
        <p:spPr>
          <a:xfrm>
            <a:off x="4505960" y="4775200"/>
            <a:ext cx="0" cy="63500"/>
          </a:xfrm>
          <a:prstGeom prst="line">
            <a:avLst/>
          </a:prstGeom>
          <a:ln w="889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xt-3"/>
          <p:cNvSpPr txBox="1"/>
          <p:nvPr/>
        </p:nvSpPr>
        <p:spPr>
          <a:xfrm>
            <a:off x="6457791" y="4879261"/>
            <a:ext cx="5768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3 年以上</a:t>
            </a:r>
          </a:p>
        </p:txBody>
      </p:sp>
      <p:cxnSp>
        <p:nvCxnSpPr>
          <p:cNvPr id="18" name="xtick-3"/>
          <p:cNvCxnSpPr/>
          <p:nvPr/>
        </p:nvCxnSpPr>
        <p:spPr>
          <a:xfrm>
            <a:off x="6746240" y="4775200"/>
            <a:ext cx="0" cy="63500"/>
          </a:xfrm>
          <a:prstGeom prst="line">
            <a:avLst/>
          </a:prstGeom>
          <a:ln w="889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area-1"/>
          <p:cNvSpPr/>
          <p:nvPr/>
        </p:nvSpPr>
        <p:spPr>
          <a:xfrm>
            <a:off x="1270000" y="2263227"/>
            <a:ext cx="6223000" cy="2511973"/>
          </a:xfrm>
          <a:custGeom>
            <a:avLst/>
            <a:gdLst/>
            <a:ahLst/>
            <a:cxnLst/>
            <a:rect l="0" t="0" r="r" b="b"/>
            <a:pathLst>
              <a:path w="6223000" h="2511973">
                <a:moveTo>
                  <a:pt x="0" y="1288899"/>
                </a:moveTo>
                <a:cubicBezTo>
                  <a:pt x="12954" y="1276390"/>
                  <a:pt x="51879" y="1238798"/>
                  <a:pt x="77788" y="1213652"/>
                </a:cubicBezTo>
                <a:cubicBezTo>
                  <a:pt x="103696" y="1188506"/>
                  <a:pt x="129667" y="1163233"/>
                  <a:pt x="155575" y="1138087"/>
                </a:cubicBezTo>
                <a:cubicBezTo>
                  <a:pt x="181483" y="1112941"/>
                  <a:pt x="207454" y="1087731"/>
                  <a:pt x="233362" y="1062712"/>
                </a:cubicBezTo>
                <a:cubicBezTo>
                  <a:pt x="259271" y="1037693"/>
                  <a:pt x="285242" y="1012738"/>
                  <a:pt x="311150" y="988036"/>
                </a:cubicBezTo>
                <a:cubicBezTo>
                  <a:pt x="337058" y="963271"/>
                  <a:pt x="363030" y="938697"/>
                  <a:pt x="388938" y="914440"/>
                </a:cubicBezTo>
                <a:cubicBezTo>
                  <a:pt x="414845" y="890183"/>
                  <a:pt x="440817" y="866053"/>
                  <a:pt x="466725" y="842367"/>
                </a:cubicBezTo>
                <a:cubicBezTo>
                  <a:pt x="492633" y="818682"/>
                  <a:pt x="518605" y="795250"/>
                  <a:pt x="544512" y="772263"/>
                </a:cubicBezTo>
                <a:cubicBezTo>
                  <a:pt x="570420" y="749276"/>
                  <a:pt x="596392" y="726670"/>
                  <a:pt x="622300" y="704445"/>
                </a:cubicBezTo>
                <a:cubicBezTo>
                  <a:pt x="648208" y="682284"/>
                  <a:pt x="674180" y="660503"/>
                  <a:pt x="700088" y="639231"/>
                </a:cubicBezTo>
                <a:cubicBezTo>
                  <a:pt x="725995" y="617958"/>
                  <a:pt x="751967" y="597130"/>
                  <a:pt x="777875" y="576810"/>
                </a:cubicBezTo>
                <a:cubicBezTo>
                  <a:pt x="803783" y="556490"/>
                  <a:pt x="829755" y="536678"/>
                  <a:pt x="855662" y="517438"/>
                </a:cubicBezTo>
                <a:cubicBezTo>
                  <a:pt x="881570" y="498134"/>
                  <a:pt x="907542" y="479401"/>
                  <a:pt x="933450" y="461177"/>
                </a:cubicBezTo>
                <a:cubicBezTo>
                  <a:pt x="959358" y="442952"/>
                  <a:pt x="985330" y="425236"/>
                  <a:pt x="1011238" y="408154"/>
                </a:cubicBezTo>
                <a:cubicBezTo>
                  <a:pt x="1037145" y="391009"/>
                  <a:pt x="1063117" y="374436"/>
                  <a:pt x="1089025" y="358370"/>
                </a:cubicBezTo>
                <a:cubicBezTo>
                  <a:pt x="1114933" y="342368"/>
                  <a:pt x="1140904" y="326874"/>
                  <a:pt x="1166812" y="311888"/>
                </a:cubicBezTo>
                <a:cubicBezTo>
                  <a:pt x="1192720" y="296902"/>
                  <a:pt x="1218692" y="282488"/>
                  <a:pt x="1244600" y="268581"/>
                </a:cubicBezTo>
                <a:cubicBezTo>
                  <a:pt x="1270508" y="254738"/>
                  <a:pt x="1296480" y="241340"/>
                  <a:pt x="1322388" y="228449"/>
                </a:cubicBezTo>
                <a:cubicBezTo>
                  <a:pt x="1348296" y="215622"/>
                  <a:pt x="1374267" y="203240"/>
                  <a:pt x="1400175" y="191365"/>
                </a:cubicBezTo>
                <a:cubicBezTo>
                  <a:pt x="1426083" y="179491"/>
                  <a:pt x="1452054" y="168124"/>
                  <a:pt x="1477962" y="157202"/>
                </a:cubicBezTo>
                <a:cubicBezTo>
                  <a:pt x="1503870" y="146217"/>
                  <a:pt x="1529842" y="135803"/>
                  <a:pt x="1555750" y="125770"/>
                </a:cubicBezTo>
                <a:cubicBezTo>
                  <a:pt x="1581658" y="115737"/>
                  <a:pt x="1607630" y="106148"/>
                  <a:pt x="1633538" y="96941"/>
                </a:cubicBezTo>
                <a:cubicBezTo>
                  <a:pt x="1659446" y="87797"/>
                  <a:pt x="1685417" y="79034"/>
                  <a:pt x="1711325" y="70652"/>
                </a:cubicBezTo>
                <a:cubicBezTo>
                  <a:pt x="1737233" y="62270"/>
                  <a:pt x="1763204" y="54269"/>
                  <a:pt x="1789112" y="46649"/>
                </a:cubicBezTo>
                <a:cubicBezTo>
                  <a:pt x="1815020" y="38965"/>
                  <a:pt x="1840992" y="31726"/>
                  <a:pt x="1866900" y="24741"/>
                </a:cubicBezTo>
                <a:cubicBezTo>
                  <a:pt x="1892808" y="17820"/>
                  <a:pt x="1918780" y="8866"/>
                  <a:pt x="1944688" y="4929"/>
                </a:cubicBezTo>
                <a:cubicBezTo>
                  <a:pt x="1970596" y="929"/>
                  <a:pt x="1996567" y="-1484"/>
                  <a:pt x="2022475" y="992"/>
                </a:cubicBezTo>
                <a:cubicBezTo>
                  <a:pt x="2048383" y="3469"/>
                  <a:pt x="2074354" y="13375"/>
                  <a:pt x="2100262" y="19915"/>
                </a:cubicBezTo>
                <a:cubicBezTo>
                  <a:pt x="2126171" y="26519"/>
                  <a:pt x="2152142" y="33377"/>
                  <a:pt x="2178050" y="40426"/>
                </a:cubicBezTo>
                <a:cubicBezTo>
                  <a:pt x="2203958" y="47538"/>
                  <a:pt x="2229929" y="54840"/>
                  <a:pt x="2255838" y="62397"/>
                </a:cubicBezTo>
                <a:cubicBezTo>
                  <a:pt x="2281746" y="69890"/>
                  <a:pt x="2307717" y="77637"/>
                  <a:pt x="2333625" y="85574"/>
                </a:cubicBezTo>
                <a:cubicBezTo>
                  <a:pt x="2359533" y="93575"/>
                  <a:pt x="2385504" y="101703"/>
                  <a:pt x="2411412" y="110022"/>
                </a:cubicBezTo>
                <a:cubicBezTo>
                  <a:pt x="2437321" y="118340"/>
                  <a:pt x="2463292" y="126849"/>
                  <a:pt x="2489200" y="135485"/>
                </a:cubicBezTo>
                <a:cubicBezTo>
                  <a:pt x="2515108" y="144185"/>
                  <a:pt x="2541079" y="153011"/>
                  <a:pt x="2566988" y="161965"/>
                </a:cubicBezTo>
                <a:cubicBezTo>
                  <a:pt x="2592896" y="170982"/>
                  <a:pt x="2618867" y="180062"/>
                  <a:pt x="2644775" y="189333"/>
                </a:cubicBezTo>
                <a:cubicBezTo>
                  <a:pt x="2670683" y="198604"/>
                  <a:pt x="2696654" y="208002"/>
                  <a:pt x="2722562" y="217527"/>
                </a:cubicBezTo>
                <a:cubicBezTo>
                  <a:pt x="2748471" y="226989"/>
                  <a:pt x="2774442" y="236641"/>
                  <a:pt x="2800350" y="246356"/>
                </a:cubicBezTo>
                <a:cubicBezTo>
                  <a:pt x="2826258" y="256135"/>
                  <a:pt x="2852229" y="265978"/>
                  <a:pt x="2878138" y="275884"/>
                </a:cubicBezTo>
                <a:cubicBezTo>
                  <a:pt x="2904046" y="285853"/>
                  <a:pt x="2930017" y="295886"/>
                  <a:pt x="2955925" y="306046"/>
                </a:cubicBezTo>
                <a:cubicBezTo>
                  <a:pt x="2981833" y="316143"/>
                  <a:pt x="3007804" y="326366"/>
                  <a:pt x="3033712" y="336717"/>
                </a:cubicBezTo>
                <a:cubicBezTo>
                  <a:pt x="3059621" y="347004"/>
                  <a:pt x="3085592" y="357354"/>
                  <a:pt x="3111500" y="367832"/>
                </a:cubicBezTo>
                <a:cubicBezTo>
                  <a:pt x="3137408" y="378246"/>
                  <a:pt x="3163379" y="388787"/>
                  <a:pt x="3189288" y="399391"/>
                </a:cubicBezTo>
                <a:cubicBezTo>
                  <a:pt x="3215196" y="409996"/>
                  <a:pt x="3241167" y="420600"/>
                  <a:pt x="3267075" y="431332"/>
                </a:cubicBezTo>
                <a:cubicBezTo>
                  <a:pt x="3292983" y="442063"/>
                  <a:pt x="3318954" y="452795"/>
                  <a:pt x="3344862" y="463653"/>
                </a:cubicBezTo>
                <a:cubicBezTo>
                  <a:pt x="3370771" y="474448"/>
                  <a:pt x="3396742" y="485307"/>
                  <a:pt x="3422650" y="496229"/>
                </a:cubicBezTo>
                <a:cubicBezTo>
                  <a:pt x="3448558" y="507151"/>
                  <a:pt x="3474529" y="518136"/>
                  <a:pt x="3500438" y="529122"/>
                </a:cubicBezTo>
                <a:cubicBezTo>
                  <a:pt x="3526346" y="540107"/>
                  <a:pt x="3552317" y="551156"/>
                  <a:pt x="3578225" y="562269"/>
                </a:cubicBezTo>
                <a:cubicBezTo>
                  <a:pt x="3604133" y="573318"/>
                  <a:pt x="3630104" y="584494"/>
                  <a:pt x="3656012" y="595606"/>
                </a:cubicBezTo>
                <a:cubicBezTo>
                  <a:pt x="3681921" y="606782"/>
                  <a:pt x="3707892" y="617958"/>
                  <a:pt x="3733800" y="629198"/>
                </a:cubicBezTo>
                <a:cubicBezTo>
                  <a:pt x="3759708" y="640374"/>
                  <a:pt x="3785679" y="651613"/>
                  <a:pt x="3811588" y="662916"/>
                </a:cubicBezTo>
                <a:cubicBezTo>
                  <a:pt x="3837496" y="674219"/>
                  <a:pt x="3863467" y="685522"/>
                  <a:pt x="3889375" y="696825"/>
                </a:cubicBezTo>
                <a:cubicBezTo>
                  <a:pt x="3915283" y="708128"/>
                  <a:pt x="3941254" y="719495"/>
                  <a:pt x="3967162" y="730861"/>
                </a:cubicBezTo>
                <a:cubicBezTo>
                  <a:pt x="3993071" y="742228"/>
                  <a:pt x="4019042" y="753658"/>
                  <a:pt x="4044950" y="765024"/>
                </a:cubicBezTo>
                <a:cubicBezTo>
                  <a:pt x="4070858" y="776454"/>
                  <a:pt x="4096829" y="787884"/>
                  <a:pt x="4122738" y="799314"/>
                </a:cubicBezTo>
                <a:cubicBezTo>
                  <a:pt x="4148646" y="810808"/>
                  <a:pt x="4174617" y="822238"/>
                  <a:pt x="4200525" y="833731"/>
                </a:cubicBezTo>
                <a:cubicBezTo>
                  <a:pt x="4226433" y="845225"/>
                  <a:pt x="4252404" y="856718"/>
                  <a:pt x="4278312" y="868212"/>
                </a:cubicBezTo>
                <a:cubicBezTo>
                  <a:pt x="4304220" y="879705"/>
                  <a:pt x="4330192" y="891262"/>
                  <a:pt x="4356100" y="902819"/>
                </a:cubicBezTo>
                <a:cubicBezTo>
                  <a:pt x="4382008" y="914313"/>
                  <a:pt x="4407980" y="925870"/>
                  <a:pt x="4433888" y="937427"/>
                </a:cubicBezTo>
                <a:cubicBezTo>
                  <a:pt x="4459796" y="948984"/>
                  <a:pt x="4485767" y="960541"/>
                  <a:pt x="4511675" y="972161"/>
                </a:cubicBezTo>
                <a:cubicBezTo>
                  <a:pt x="4537583" y="983718"/>
                  <a:pt x="4563554" y="995339"/>
                  <a:pt x="4589462" y="1006896"/>
                </a:cubicBezTo>
                <a:cubicBezTo>
                  <a:pt x="4615370" y="1018516"/>
                  <a:pt x="4641342" y="1030137"/>
                  <a:pt x="4667250" y="1041757"/>
                </a:cubicBezTo>
                <a:cubicBezTo>
                  <a:pt x="4693158" y="1053378"/>
                  <a:pt x="4719130" y="1064998"/>
                  <a:pt x="4745038" y="1076619"/>
                </a:cubicBezTo>
                <a:cubicBezTo>
                  <a:pt x="4770946" y="1088239"/>
                  <a:pt x="4796917" y="1099860"/>
                  <a:pt x="4822825" y="1111544"/>
                </a:cubicBezTo>
                <a:cubicBezTo>
                  <a:pt x="4848733" y="1123164"/>
                  <a:pt x="4874704" y="1134848"/>
                  <a:pt x="4900612" y="1146469"/>
                </a:cubicBezTo>
                <a:cubicBezTo>
                  <a:pt x="4926520" y="1158153"/>
                  <a:pt x="4952492" y="1169773"/>
                  <a:pt x="4978400" y="1181457"/>
                </a:cubicBezTo>
                <a:cubicBezTo>
                  <a:pt x="5004308" y="1193141"/>
                  <a:pt x="5030280" y="1204825"/>
                  <a:pt x="5056188" y="1216509"/>
                </a:cubicBezTo>
                <a:cubicBezTo>
                  <a:pt x="5082096" y="1228130"/>
                  <a:pt x="5108067" y="1239814"/>
                  <a:pt x="5133975" y="1251498"/>
                </a:cubicBezTo>
                <a:cubicBezTo>
                  <a:pt x="5159883" y="1263182"/>
                  <a:pt x="5185854" y="1274866"/>
                  <a:pt x="5211762" y="1286613"/>
                </a:cubicBezTo>
                <a:cubicBezTo>
                  <a:pt x="5237670" y="1298297"/>
                  <a:pt x="5263642" y="1309981"/>
                  <a:pt x="5289550" y="1321665"/>
                </a:cubicBezTo>
                <a:cubicBezTo>
                  <a:pt x="5315458" y="1333349"/>
                  <a:pt x="5341430" y="1345097"/>
                  <a:pt x="5367338" y="1356781"/>
                </a:cubicBezTo>
                <a:cubicBezTo>
                  <a:pt x="5393246" y="1368465"/>
                  <a:pt x="5419217" y="1380212"/>
                  <a:pt x="5445125" y="1391896"/>
                </a:cubicBezTo>
                <a:cubicBezTo>
                  <a:pt x="5471033" y="1403644"/>
                  <a:pt x="5497004" y="1415328"/>
                  <a:pt x="5522912" y="1427075"/>
                </a:cubicBezTo>
                <a:cubicBezTo>
                  <a:pt x="5548820" y="1438759"/>
                  <a:pt x="5574792" y="1450507"/>
                  <a:pt x="5600700" y="1462191"/>
                </a:cubicBezTo>
                <a:cubicBezTo>
                  <a:pt x="5626608" y="1473938"/>
                  <a:pt x="5652580" y="1485622"/>
                  <a:pt x="5678488" y="1497370"/>
                </a:cubicBezTo>
                <a:cubicBezTo>
                  <a:pt x="5704396" y="1509117"/>
                  <a:pt x="5730367" y="1520801"/>
                  <a:pt x="5756275" y="1532549"/>
                </a:cubicBezTo>
                <a:cubicBezTo>
                  <a:pt x="5782183" y="1544296"/>
                  <a:pt x="5808154" y="1555980"/>
                  <a:pt x="5834062" y="1567728"/>
                </a:cubicBezTo>
                <a:cubicBezTo>
                  <a:pt x="5859970" y="1579475"/>
                  <a:pt x="5885942" y="1591223"/>
                  <a:pt x="5911850" y="1602907"/>
                </a:cubicBezTo>
                <a:cubicBezTo>
                  <a:pt x="5937758" y="1614654"/>
                  <a:pt x="5963730" y="1626402"/>
                  <a:pt x="5989638" y="1638149"/>
                </a:cubicBezTo>
                <a:cubicBezTo>
                  <a:pt x="6015546" y="1649897"/>
                  <a:pt x="6041517" y="1661644"/>
                  <a:pt x="6067425" y="1673328"/>
                </a:cubicBezTo>
                <a:cubicBezTo>
                  <a:pt x="6093333" y="1685076"/>
                  <a:pt x="6119304" y="1696823"/>
                  <a:pt x="6145212" y="1708571"/>
                </a:cubicBezTo>
                <a:cubicBezTo>
                  <a:pt x="6171120" y="1720318"/>
                  <a:pt x="6210046" y="1737908"/>
                  <a:pt x="6223000" y="1743813"/>
                </a:cubicBezTo>
                <a:lnTo>
                  <a:pt x="6223000" y="2511973"/>
                </a:lnTo>
                <a:lnTo>
                  <a:pt x="0" y="2511973"/>
                </a:lnTo>
                <a:close/>
              </a:path>
            </a:pathLst>
          </a:custGeom>
          <a:gradFill rotWithShape="1">
            <a:gsLst>
              <a:gs pos="0">
                <a:srgbClr val="0B3E8F">
                  <a:alpha val="26000"/>
                </a:srgbClr>
              </a:gs>
              <a:gs pos="100000">
                <a:srgbClr val="0B3E8F">
                  <a:alpha val="300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curve-1"/>
          <p:cNvSpPr/>
          <p:nvPr/>
        </p:nvSpPr>
        <p:spPr>
          <a:xfrm>
            <a:off x="1270000" y="2263227"/>
            <a:ext cx="6223000" cy="1743813"/>
          </a:xfrm>
          <a:custGeom>
            <a:avLst/>
            <a:gdLst/>
            <a:ahLst/>
            <a:cxnLst/>
            <a:rect l="0" t="0" r="r" b="b"/>
            <a:pathLst>
              <a:path w="6223000" h="1743813">
                <a:moveTo>
                  <a:pt x="0" y="1288899"/>
                </a:moveTo>
                <a:cubicBezTo>
                  <a:pt x="12954" y="1276390"/>
                  <a:pt x="51879" y="1238798"/>
                  <a:pt x="77788" y="1213652"/>
                </a:cubicBezTo>
                <a:cubicBezTo>
                  <a:pt x="103696" y="1188506"/>
                  <a:pt x="129667" y="1163233"/>
                  <a:pt x="155575" y="1138087"/>
                </a:cubicBezTo>
                <a:cubicBezTo>
                  <a:pt x="181483" y="1112941"/>
                  <a:pt x="207454" y="1087731"/>
                  <a:pt x="233362" y="1062712"/>
                </a:cubicBezTo>
                <a:cubicBezTo>
                  <a:pt x="259271" y="1037693"/>
                  <a:pt x="285242" y="1012738"/>
                  <a:pt x="311150" y="988036"/>
                </a:cubicBezTo>
                <a:cubicBezTo>
                  <a:pt x="337058" y="963271"/>
                  <a:pt x="363030" y="938697"/>
                  <a:pt x="388938" y="914440"/>
                </a:cubicBezTo>
                <a:cubicBezTo>
                  <a:pt x="414845" y="890183"/>
                  <a:pt x="440817" y="866053"/>
                  <a:pt x="466725" y="842367"/>
                </a:cubicBezTo>
                <a:cubicBezTo>
                  <a:pt x="492633" y="818682"/>
                  <a:pt x="518605" y="795250"/>
                  <a:pt x="544512" y="772263"/>
                </a:cubicBezTo>
                <a:cubicBezTo>
                  <a:pt x="570420" y="749276"/>
                  <a:pt x="596392" y="726670"/>
                  <a:pt x="622300" y="704445"/>
                </a:cubicBezTo>
                <a:cubicBezTo>
                  <a:pt x="648208" y="682284"/>
                  <a:pt x="674180" y="660503"/>
                  <a:pt x="700088" y="639231"/>
                </a:cubicBezTo>
                <a:cubicBezTo>
                  <a:pt x="725995" y="617958"/>
                  <a:pt x="751967" y="597130"/>
                  <a:pt x="777875" y="576810"/>
                </a:cubicBezTo>
                <a:cubicBezTo>
                  <a:pt x="803783" y="556490"/>
                  <a:pt x="829755" y="536678"/>
                  <a:pt x="855662" y="517438"/>
                </a:cubicBezTo>
                <a:cubicBezTo>
                  <a:pt x="881570" y="498134"/>
                  <a:pt x="907542" y="479401"/>
                  <a:pt x="933450" y="461177"/>
                </a:cubicBezTo>
                <a:cubicBezTo>
                  <a:pt x="959358" y="442952"/>
                  <a:pt x="985330" y="425236"/>
                  <a:pt x="1011238" y="408154"/>
                </a:cubicBezTo>
                <a:cubicBezTo>
                  <a:pt x="1037145" y="391009"/>
                  <a:pt x="1063117" y="374436"/>
                  <a:pt x="1089025" y="358370"/>
                </a:cubicBezTo>
                <a:cubicBezTo>
                  <a:pt x="1114933" y="342368"/>
                  <a:pt x="1140904" y="326874"/>
                  <a:pt x="1166812" y="311888"/>
                </a:cubicBezTo>
                <a:cubicBezTo>
                  <a:pt x="1192720" y="296902"/>
                  <a:pt x="1218692" y="282488"/>
                  <a:pt x="1244600" y="268581"/>
                </a:cubicBezTo>
                <a:cubicBezTo>
                  <a:pt x="1270508" y="254738"/>
                  <a:pt x="1296480" y="241340"/>
                  <a:pt x="1322388" y="228449"/>
                </a:cubicBezTo>
                <a:cubicBezTo>
                  <a:pt x="1348296" y="215622"/>
                  <a:pt x="1374267" y="203240"/>
                  <a:pt x="1400175" y="191365"/>
                </a:cubicBezTo>
                <a:cubicBezTo>
                  <a:pt x="1426083" y="179491"/>
                  <a:pt x="1452054" y="168124"/>
                  <a:pt x="1477962" y="157202"/>
                </a:cubicBezTo>
                <a:cubicBezTo>
                  <a:pt x="1503870" y="146217"/>
                  <a:pt x="1529842" y="135803"/>
                  <a:pt x="1555750" y="125770"/>
                </a:cubicBezTo>
                <a:cubicBezTo>
                  <a:pt x="1581658" y="115737"/>
                  <a:pt x="1607630" y="106148"/>
                  <a:pt x="1633538" y="96941"/>
                </a:cubicBezTo>
                <a:cubicBezTo>
                  <a:pt x="1659446" y="87797"/>
                  <a:pt x="1685417" y="79034"/>
                  <a:pt x="1711325" y="70652"/>
                </a:cubicBezTo>
                <a:cubicBezTo>
                  <a:pt x="1737233" y="62270"/>
                  <a:pt x="1763204" y="54269"/>
                  <a:pt x="1789112" y="46649"/>
                </a:cubicBezTo>
                <a:cubicBezTo>
                  <a:pt x="1815020" y="38965"/>
                  <a:pt x="1840992" y="31726"/>
                  <a:pt x="1866900" y="24741"/>
                </a:cubicBezTo>
                <a:cubicBezTo>
                  <a:pt x="1892808" y="17820"/>
                  <a:pt x="1918780" y="8866"/>
                  <a:pt x="1944688" y="4929"/>
                </a:cubicBezTo>
                <a:cubicBezTo>
                  <a:pt x="1970596" y="929"/>
                  <a:pt x="1996567" y="-1484"/>
                  <a:pt x="2022475" y="992"/>
                </a:cubicBezTo>
                <a:cubicBezTo>
                  <a:pt x="2048383" y="3469"/>
                  <a:pt x="2074354" y="13375"/>
                  <a:pt x="2100262" y="19915"/>
                </a:cubicBezTo>
                <a:cubicBezTo>
                  <a:pt x="2126171" y="26519"/>
                  <a:pt x="2152142" y="33377"/>
                  <a:pt x="2178050" y="40426"/>
                </a:cubicBezTo>
                <a:cubicBezTo>
                  <a:pt x="2203958" y="47538"/>
                  <a:pt x="2229929" y="54840"/>
                  <a:pt x="2255838" y="62397"/>
                </a:cubicBezTo>
                <a:cubicBezTo>
                  <a:pt x="2281746" y="69890"/>
                  <a:pt x="2307717" y="77637"/>
                  <a:pt x="2333625" y="85574"/>
                </a:cubicBezTo>
                <a:cubicBezTo>
                  <a:pt x="2359533" y="93575"/>
                  <a:pt x="2385504" y="101703"/>
                  <a:pt x="2411412" y="110022"/>
                </a:cubicBezTo>
                <a:cubicBezTo>
                  <a:pt x="2437321" y="118340"/>
                  <a:pt x="2463292" y="126849"/>
                  <a:pt x="2489200" y="135485"/>
                </a:cubicBezTo>
                <a:cubicBezTo>
                  <a:pt x="2515108" y="144185"/>
                  <a:pt x="2541079" y="153011"/>
                  <a:pt x="2566988" y="161965"/>
                </a:cubicBezTo>
                <a:cubicBezTo>
                  <a:pt x="2592896" y="170982"/>
                  <a:pt x="2618867" y="180062"/>
                  <a:pt x="2644775" y="189333"/>
                </a:cubicBezTo>
                <a:cubicBezTo>
                  <a:pt x="2670683" y="198604"/>
                  <a:pt x="2696654" y="208002"/>
                  <a:pt x="2722562" y="217527"/>
                </a:cubicBezTo>
                <a:cubicBezTo>
                  <a:pt x="2748471" y="226989"/>
                  <a:pt x="2774442" y="236641"/>
                  <a:pt x="2800350" y="246356"/>
                </a:cubicBezTo>
                <a:cubicBezTo>
                  <a:pt x="2826258" y="256135"/>
                  <a:pt x="2852229" y="265978"/>
                  <a:pt x="2878138" y="275884"/>
                </a:cubicBezTo>
                <a:cubicBezTo>
                  <a:pt x="2904046" y="285853"/>
                  <a:pt x="2930017" y="295886"/>
                  <a:pt x="2955925" y="306046"/>
                </a:cubicBezTo>
                <a:cubicBezTo>
                  <a:pt x="2981833" y="316143"/>
                  <a:pt x="3007804" y="326366"/>
                  <a:pt x="3033712" y="336717"/>
                </a:cubicBezTo>
                <a:cubicBezTo>
                  <a:pt x="3059621" y="347004"/>
                  <a:pt x="3085592" y="357354"/>
                  <a:pt x="3111500" y="367832"/>
                </a:cubicBezTo>
                <a:cubicBezTo>
                  <a:pt x="3137408" y="378246"/>
                  <a:pt x="3163379" y="388787"/>
                  <a:pt x="3189288" y="399391"/>
                </a:cubicBezTo>
                <a:cubicBezTo>
                  <a:pt x="3215196" y="409996"/>
                  <a:pt x="3241167" y="420600"/>
                  <a:pt x="3267075" y="431332"/>
                </a:cubicBezTo>
                <a:cubicBezTo>
                  <a:pt x="3292983" y="442063"/>
                  <a:pt x="3318954" y="452795"/>
                  <a:pt x="3344862" y="463653"/>
                </a:cubicBezTo>
                <a:cubicBezTo>
                  <a:pt x="3370771" y="474448"/>
                  <a:pt x="3396742" y="485307"/>
                  <a:pt x="3422650" y="496229"/>
                </a:cubicBezTo>
                <a:cubicBezTo>
                  <a:pt x="3448558" y="507151"/>
                  <a:pt x="3474529" y="518136"/>
                  <a:pt x="3500438" y="529122"/>
                </a:cubicBezTo>
                <a:cubicBezTo>
                  <a:pt x="3526346" y="540107"/>
                  <a:pt x="3552317" y="551156"/>
                  <a:pt x="3578225" y="562269"/>
                </a:cubicBezTo>
                <a:cubicBezTo>
                  <a:pt x="3604133" y="573318"/>
                  <a:pt x="3630104" y="584494"/>
                  <a:pt x="3656012" y="595606"/>
                </a:cubicBezTo>
                <a:cubicBezTo>
                  <a:pt x="3681921" y="606782"/>
                  <a:pt x="3707892" y="617958"/>
                  <a:pt x="3733800" y="629198"/>
                </a:cubicBezTo>
                <a:cubicBezTo>
                  <a:pt x="3759708" y="640374"/>
                  <a:pt x="3785679" y="651613"/>
                  <a:pt x="3811588" y="662916"/>
                </a:cubicBezTo>
                <a:cubicBezTo>
                  <a:pt x="3837496" y="674219"/>
                  <a:pt x="3863467" y="685522"/>
                  <a:pt x="3889375" y="696825"/>
                </a:cubicBezTo>
                <a:cubicBezTo>
                  <a:pt x="3915283" y="708128"/>
                  <a:pt x="3941254" y="719495"/>
                  <a:pt x="3967162" y="730861"/>
                </a:cubicBezTo>
                <a:cubicBezTo>
                  <a:pt x="3993071" y="742228"/>
                  <a:pt x="4019042" y="753658"/>
                  <a:pt x="4044950" y="765024"/>
                </a:cubicBezTo>
                <a:cubicBezTo>
                  <a:pt x="4070858" y="776454"/>
                  <a:pt x="4096829" y="787884"/>
                  <a:pt x="4122738" y="799314"/>
                </a:cubicBezTo>
                <a:cubicBezTo>
                  <a:pt x="4148646" y="810808"/>
                  <a:pt x="4174617" y="822238"/>
                  <a:pt x="4200525" y="833731"/>
                </a:cubicBezTo>
                <a:cubicBezTo>
                  <a:pt x="4226433" y="845225"/>
                  <a:pt x="4252404" y="856718"/>
                  <a:pt x="4278312" y="868212"/>
                </a:cubicBezTo>
                <a:cubicBezTo>
                  <a:pt x="4304220" y="879705"/>
                  <a:pt x="4330192" y="891262"/>
                  <a:pt x="4356100" y="902819"/>
                </a:cubicBezTo>
                <a:cubicBezTo>
                  <a:pt x="4382008" y="914313"/>
                  <a:pt x="4407980" y="925870"/>
                  <a:pt x="4433888" y="937427"/>
                </a:cubicBezTo>
                <a:cubicBezTo>
                  <a:pt x="4459796" y="948984"/>
                  <a:pt x="4485767" y="960541"/>
                  <a:pt x="4511675" y="972161"/>
                </a:cubicBezTo>
                <a:cubicBezTo>
                  <a:pt x="4537583" y="983718"/>
                  <a:pt x="4563554" y="995339"/>
                  <a:pt x="4589462" y="1006896"/>
                </a:cubicBezTo>
                <a:cubicBezTo>
                  <a:pt x="4615370" y="1018516"/>
                  <a:pt x="4641342" y="1030137"/>
                  <a:pt x="4667250" y="1041757"/>
                </a:cubicBezTo>
                <a:cubicBezTo>
                  <a:pt x="4693158" y="1053378"/>
                  <a:pt x="4719130" y="1064998"/>
                  <a:pt x="4745038" y="1076619"/>
                </a:cubicBezTo>
                <a:cubicBezTo>
                  <a:pt x="4770946" y="1088239"/>
                  <a:pt x="4796917" y="1099860"/>
                  <a:pt x="4822825" y="1111544"/>
                </a:cubicBezTo>
                <a:cubicBezTo>
                  <a:pt x="4848733" y="1123164"/>
                  <a:pt x="4874704" y="1134848"/>
                  <a:pt x="4900612" y="1146469"/>
                </a:cubicBezTo>
                <a:cubicBezTo>
                  <a:pt x="4926520" y="1158153"/>
                  <a:pt x="4952492" y="1169773"/>
                  <a:pt x="4978400" y="1181457"/>
                </a:cubicBezTo>
                <a:cubicBezTo>
                  <a:pt x="5004308" y="1193141"/>
                  <a:pt x="5030280" y="1204825"/>
                  <a:pt x="5056188" y="1216509"/>
                </a:cubicBezTo>
                <a:cubicBezTo>
                  <a:pt x="5082096" y="1228130"/>
                  <a:pt x="5108067" y="1239814"/>
                  <a:pt x="5133975" y="1251498"/>
                </a:cubicBezTo>
                <a:cubicBezTo>
                  <a:pt x="5159883" y="1263182"/>
                  <a:pt x="5185854" y="1274866"/>
                  <a:pt x="5211762" y="1286613"/>
                </a:cubicBezTo>
                <a:cubicBezTo>
                  <a:pt x="5237670" y="1298297"/>
                  <a:pt x="5263642" y="1309981"/>
                  <a:pt x="5289550" y="1321665"/>
                </a:cubicBezTo>
                <a:cubicBezTo>
                  <a:pt x="5315458" y="1333349"/>
                  <a:pt x="5341430" y="1345097"/>
                  <a:pt x="5367338" y="1356781"/>
                </a:cubicBezTo>
                <a:cubicBezTo>
                  <a:pt x="5393246" y="1368465"/>
                  <a:pt x="5419217" y="1380212"/>
                  <a:pt x="5445125" y="1391896"/>
                </a:cubicBezTo>
                <a:cubicBezTo>
                  <a:pt x="5471033" y="1403644"/>
                  <a:pt x="5497004" y="1415328"/>
                  <a:pt x="5522912" y="1427075"/>
                </a:cubicBezTo>
                <a:cubicBezTo>
                  <a:pt x="5548820" y="1438759"/>
                  <a:pt x="5574792" y="1450507"/>
                  <a:pt x="5600700" y="1462191"/>
                </a:cubicBezTo>
                <a:cubicBezTo>
                  <a:pt x="5626608" y="1473938"/>
                  <a:pt x="5652580" y="1485622"/>
                  <a:pt x="5678488" y="1497370"/>
                </a:cubicBezTo>
                <a:cubicBezTo>
                  <a:pt x="5704396" y="1509117"/>
                  <a:pt x="5730367" y="1520801"/>
                  <a:pt x="5756275" y="1532549"/>
                </a:cubicBezTo>
                <a:cubicBezTo>
                  <a:pt x="5782183" y="1544296"/>
                  <a:pt x="5808154" y="1555980"/>
                  <a:pt x="5834062" y="1567728"/>
                </a:cubicBezTo>
                <a:cubicBezTo>
                  <a:pt x="5859970" y="1579475"/>
                  <a:pt x="5885942" y="1591223"/>
                  <a:pt x="5911850" y="1602907"/>
                </a:cubicBezTo>
                <a:cubicBezTo>
                  <a:pt x="5937758" y="1614654"/>
                  <a:pt x="5963730" y="1626402"/>
                  <a:pt x="5989638" y="1638149"/>
                </a:cubicBezTo>
                <a:cubicBezTo>
                  <a:pt x="6015546" y="1649897"/>
                  <a:pt x="6041517" y="1661644"/>
                  <a:pt x="6067425" y="1673328"/>
                </a:cubicBezTo>
                <a:cubicBezTo>
                  <a:pt x="6093333" y="1685076"/>
                  <a:pt x="6119304" y="1696823"/>
                  <a:pt x="6145212" y="1708571"/>
                </a:cubicBezTo>
                <a:cubicBezTo>
                  <a:pt x="6171120" y="1720318"/>
                  <a:pt x="6210046" y="1737908"/>
                  <a:pt x="6223000" y="1743813"/>
                </a:cubicBezTo>
              </a:path>
            </a:pathLst>
          </a:custGeom>
          <a:noFill/>
          <a:ln w="2286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ctag-1"/>
          <p:cNvSpPr/>
          <p:nvPr/>
        </p:nvSpPr>
        <p:spPr>
          <a:xfrm>
            <a:off x="2949575" y="1870520"/>
            <a:ext cx="685800" cy="254000"/>
          </a:xfrm>
          <a:custGeom>
            <a:avLst/>
            <a:gdLst/>
            <a:ahLst/>
            <a:cxnLst/>
            <a:rect l="0" t="0" r="r" b="b"/>
            <a:pathLst>
              <a:path w="685800" h="254000">
                <a:moveTo>
                  <a:pt x="127000" y="0"/>
                </a:moveTo>
                <a:lnTo>
                  <a:pt x="558800" y="0"/>
                </a:lnTo>
                <a:cubicBezTo>
                  <a:pt x="628967" y="0"/>
                  <a:pt x="685800" y="56832"/>
                  <a:pt x="685800" y="127000"/>
                </a:cubicBezTo>
                <a:lnTo>
                  <a:pt x="685800" y="127000"/>
                </a:lnTo>
                <a:cubicBezTo>
                  <a:pt x="685800" y="197168"/>
                  <a:pt x="628967" y="254000"/>
                  <a:pt x="558800" y="254000"/>
                </a:cubicBezTo>
                <a:lnTo>
                  <a:pt x="127000" y="254000"/>
                </a:lnTo>
                <a:cubicBezTo>
                  <a:pt x="56832" y="254000"/>
                  <a:pt x="0" y="197168"/>
                  <a:pt x="0" y="127000"/>
                </a:cubicBezTo>
                <a:lnTo>
                  <a:pt x="0" y="127000"/>
                </a:lnTo>
                <a:cubicBezTo>
                  <a:pt x="0" y="56832"/>
                  <a:pt x="56832" y="0"/>
                  <a:pt x="1270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ctagt-1"/>
          <p:cNvSpPr txBox="1"/>
          <p:nvPr/>
        </p:nvSpPr>
        <p:spPr>
          <a:xfrm>
            <a:off x="3157855" y="1885126"/>
            <a:ext cx="2692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50">
                <a:solidFill>
                  <a:srgbClr val="FFFFFF"/>
                </a:solidFill>
                <a:latin typeface="Arial"/>
                <a:ea typeface="Arial"/>
                <a:cs typeface="Arial"/>
              </a:rPr>
              <a:t>H1</a:t>
            </a:r>
          </a:p>
        </p:txBody>
      </p:sp>
      <p:sp>
        <p:nvSpPr>
          <p:cNvPr id="23" name="area-2"/>
          <p:cNvSpPr/>
          <p:nvPr/>
        </p:nvSpPr>
        <p:spPr>
          <a:xfrm>
            <a:off x="1270000" y="2681542"/>
            <a:ext cx="6223000" cy="2093658"/>
          </a:xfrm>
          <a:custGeom>
            <a:avLst/>
            <a:gdLst/>
            <a:ahLst/>
            <a:cxnLst/>
            <a:rect l="0" t="0" r="r" b="b"/>
            <a:pathLst>
              <a:path w="6223000" h="2093658">
                <a:moveTo>
                  <a:pt x="0" y="2037715"/>
                </a:moveTo>
                <a:cubicBezTo>
                  <a:pt x="12954" y="2036635"/>
                  <a:pt x="51879" y="2033524"/>
                  <a:pt x="77788" y="2031238"/>
                </a:cubicBezTo>
                <a:cubicBezTo>
                  <a:pt x="103696" y="2029016"/>
                  <a:pt x="129667" y="2026603"/>
                  <a:pt x="155575" y="2024062"/>
                </a:cubicBezTo>
                <a:cubicBezTo>
                  <a:pt x="181483" y="2021522"/>
                  <a:pt x="207454" y="2018919"/>
                  <a:pt x="233362" y="2016125"/>
                </a:cubicBezTo>
                <a:cubicBezTo>
                  <a:pt x="259271" y="2013268"/>
                  <a:pt x="285242" y="2010346"/>
                  <a:pt x="311150" y="2007235"/>
                </a:cubicBezTo>
                <a:cubicBezTo>
                  <a:pt x="337058" y="2004123"/>
                  <a:pt x="363030" y="2000885"/>
                  <a:pt x="388938" y="1997392"/>
                </a:cubicBezTo>
                <a:cubicBezTo>
                  <a:pt x="414845" y="1993963"/>
                  <a:pt x="440817" y="1990344"/>
                  <a:pt x="466725" y="1986534"/>
                </a:cubicBezTo>
                <a:cubicBezTo>
                  <a:pt x="492633" y="1982724"/>
                  <a:pt x="518605" y="1978723"/>
                  <a:pt x="544512" y="1974532"/>
                </a:cubicBezTo>
                <a:cubicBezTo>
                  <a:pt x="570420" y="1970278"/>
                  <a:pt x="596392" y="1965896"/>
                  <a:pt x="622300" y="1961197"/>
                </a:cubicBezTo>
                <a:cubicBezTo>
                  <a:pt x="648208" y="1956562"/>
                  <a:pt x="674180" y="1951672"/>
                  <a:pt x="700088" y="1946529"/>
                </a:cubicBezTo>
                <a:cubicBezTo>
                  <a:pt x="725995" y="1941385"/>
                  <a:pt x="751967" y="1936051"/>
                  <a:pt x="777875" y="1930400"/>
                </a:cubicBezTo>
                <a:cubicBezTo>
                  <a:pt x="803783" y="1924748"/>
                  <a:pt x="829755" y="1918843"/>
                  <a:pt x="855662" y="1912620"/>
                </a:cubicBezTo>
                <a:cubicBezTo>
                  <a:pt x="881570" y="1906397"/>
                  <a:pt x="907542" y="1899920"/>
                  <a:pt x="933450" y="1893125"/>
                </a:cubicBezTo>
                <a:cubicBezTo>
                  <a:pt x="959358" y="1886331"/>
                  <a:pt x="985330" y="1879219"/>
                  <a:pt x="1011238" y="1871789"/>
                </a:cubicBezTo>
                <a:cubicBezTo>
                  <a:pt x="1037145" y="1864296"/>
                  <a:pt x="1063117" y="1856549"/>
                  <a:pt x="1089025" y="1848421"/>
                </a:cubicBezTo>
                <a:cubicBezTo>
                  <a:pt x="1114933" y="1840294"/>
                  <a:pt x="1140904" y="1831848"/>
                  <a:pt x="1166812" y="1822958"/>
                </a:cubicBezTo>
                <a:cubicBezTo>
                  <a:pt x="1192720" y="1814132"/>
                  <a:pt x="1218692" y="1804924"/>
                  <a:pt x="1244600" y="1795335"/>
                </a:cubicBezTo>
                <a:cubicBezTo>
                  <a:pt x="1270508" y="1785747"/>
                  <a:pt x="1296480" y="1775714"/>
                  <a:pt x="1322388" y="1765363"/>
                </a:cubicBezTo>
                <a:cubicBezTo>
                  <a:pt x="1348296" y="1754949"/>
                  <a:pt x="1374267" y="1744154"/>
                  <a:pt x="1400175" y="1732979"/>
                </a:cubicBezTo>
                <a:cubicBezTo>
                  <a:pt x="1426083" y="1721739"/>
                  <a:pt x="1452054" y="1710118"/>
                  <a:pt x="1477962" y="1698117"/>
                </a:cubicBezTo>
                <a:cubicBezTo>
                  <a:pt x="1503870" y="1686052"/>
                  <a:pt x="1529842" y="1673606"/>
                  <a:pt x="1555750" y="1660716"/>
                </a:cubicBezTo>
                <a:cubicBezTo>
                  <a:pt x="1581658" y="1647825"/>
                  <a:pt x="1607630" y="1634490"/>
                  <a:pt x="1633538" y="1620710"/>
                </a:cubicBezTo>
                <a:cubicBezTo>
                  <a:pt x="1659446" y="1606994"/>
                  <a:pt x="1685417" y="1592834"/>
                  <a:pt x="1711325" y="1578229"/>
                </a:cubicBezTo>
                <a:cubicBezTo>
                  <a:pt x="1737233" y="1563624"/>
                  <a:pt x="1763204" y="1548638"/>
                  <a:pt x="1789112" y="1533208"/>
                </a:cubicBezTo>
                <a:cubicBezTo>
                  <a:pt x="1815020" y="1517777"/>
                  <a:pt x="1840992" y="1501966"/>
                  <a:pt x="1866900" y="1485773"/>
                </a:cubicBezTo>
                <a:cubicBezTo>
                  <a:pt x="1892808" y="1469580"/>
                  <a:pt x="1918780" y="1452944"/>
                  <a:pt x="1944688" y="1435989"/>
                </a:cubicBezTo>
                <a:cubicBezTo>
                  <a:pt x="1970596" y="1419034"/>
                  <a:pt x="1996567" y="1401699"/>
                  <a:pt x="2022475" y="1384109"/>
                </a:cubicBezTo>
                <a:cubicBezTo>
                  <a:pt x="2048383" y="1366520"/>
                  <a:pt x="2074354" y="1348486"/>
                  <a:pt x="2100262" y="1330261"/>
                </a:cubicBezTo>
                <a:cubicBezTo>
                  <a:pt x="2126171" y="1312100"/>
                  <a:pt x="2152142" y="1293495"/>
                  <a:pt x="2178050" y="1274762"/>
                </a:cubicBezTo>
                <a:cubicBezTo>
                  <a:pt x="2203958" y="1256030"/>
                  <a:pt x="2229929" y="1237044"/>
                  <a:pt x="2255838" y="1217867"/>
                </a:cubicBezTo>
                <a:cubicBezTo>
                  <a:pt x="2281746" y="1198753"/>
                  <a:pt x="2307717" y="1179322"/>
                  <a:pt x="2333625" y="1159891"/>
                </a:cubicBezTo>
                <a:cubicBezTo>
                  <a:pt x="2359533" y="1140460"/>
                  <a:pt x="2385504" y="1120838"/>
                  <a:pt x="2411412" y="1101217"/>
                </a:cubicBezTo>
                <a:cubicBezTo>
                  <a:pt x="2437321" y="1081532"/>
                  <a:pt x="2463292" y="1061783"/>
                  <a:pt x="2489200" y="1042098"/>
                </a:cubicBezTo>
                <a:cubicBezTo>
                  <a:pt x="2515108" y="1022413"/>
                  <a:pt x="2541079" y="1002665"/>
                  <a:pt x="2566988" y="982980"/>
                </a:cubicBezTo>
                <a:cubicBezTo>
                  <a:pt x="2592896" y="963358"/>
                  <a:pt x="2618867" y="943737"/>
                  <a:pt x="2644775" y="924306"/>
                </a:cubicBezTo>
                <a:cubicBezTo>
                  <a:pt x="2670683" y="904875"/>
                  <a:pt x="2696654" y="885444"/>
                  <a:pt x="2722562" y="866330"/>
                </a:cubicBezTo>
                <a:cubicBezTo>
                  <a:pt x="2748471" y="847154"/>
                  <a:pt x="2774442" y="828167"/>
                  <a:pt x="2800350" y="809434"/>
                </a:cubicBezTo>
                <a:cubicBezTo>
                  <a:pt x="2826258" y="790702"/>
                  <a:pt x="2852229" y="772096"/>
                  <a:pt x="2878138" y="753935"/>
                </a:cubicBezTo>
                <a:cubicBezTo>
                  <a:pt x="2904046" y="735711"/>
                  <a:pt x="2930017" y="717677"/>
                  <a:pt x="2955925" y="700087"/>
                </a:cubicBezTo>
                <a:cubicBezTo>
                  <a:pt x="2981833" y="682498"/>
                  <a:pt x="3007804" y="665162"/>
                  <a:pt x="3033712" y="648208"/>
                </a:cubicBezTo>
                <a:cubicBezTo>
                  <a:pt x="3059621" y="631254"/>
                  <a:pt x="3085592" y="614617"/>
                  <a:pt x="3111500" y="598424"/>
                </a:cubicBezTo>
                <a:cubicBezTo>
                  <a:pt x="3137408" y="582232"/>
                  <a:pt x="3163379" y="566420"/>
                  <a:pt x="3189288" y="550989"/>
                </a:cubicBezTo>
                <a:cubicBezTo>
                  <a:pt x="3215196" y="535559"/>
                  <a:pt x="3241167" y="520573"/>
                  <a:pt x="3267075" y="505968"/>
                </a:cubicBezTo>
                <a:cubicBezTo>
                  <a:pt x="3292983" y="491363"/>
                  <a:pt x="3318954" y="477202"/>
                  <a:pt x="3344862" y="463486"/>
                </a:cubicBezTo>
                <a:cubicBezTo>
                  <a:pt x="3370771" y="449707"/>
                  <a:pt x="3396742" y="436372"/>
                  <a:pt x="3422650" y="423482"/>
                </a:cubicBezTo>
                <a:cubicBezTo>
                  <a:pt x="3448558" y="410591"/>
                  <a:pt x="3474529" y="398145"/>
                  <a:pt x="3500438" y="386080"/>
                </a:cubicBezTo>
                <a:cubicBezTo>
                  <a:pt x="3526346" y="374078"/>
                  <a:pt x="3552317" y="362458"/>
                  <a:pt x="3578225" y="351218"/>
                </a:cubicBezTo>
                <a:cubicBezTo>
                  <a:pt x="3604133" y="340042"/>
                  <a:pt x="3630104" y="329247"/>
                  <a:pt x="3656012" y="318833"/>
                </a:cubicBezTo>
                <a:cubicBezTo>
                  <a:pt x="3681921" y="308483"/>
                  <a:pt x="3707892" y="298450"/>
                  <a:pt x="3733800" y="288861"/>
                </a:cubicBezTo>
                <a:cubicBezTo>
                  <a:pt x="3759708" y="279273"/>
                  <a:pt x="3785679" y="270065"/>
                  <a:pt x="3811588" y="261239"/>
                </a:cubicBezTo>
                <a:cubicBezTo>
                  <a:pt x="3837496" y="252349"/>
                  <a:pt x="3863467" y="243903"/>
                  <a:pt x="3889375" y="235775"/>
                </a:cubicBezTo>
                <a:cubicBezTo>
                  <a:pt x="3915283" y="227647"/>
                  <a:pt x="3941254" y="219900"/>
                  <a:pt x="3967162" y="212407"/>
                </a:cubicBezTo>
                <a:cubicBezTo>
                  <a:pt x="3993071" y="204978"/>
                  <a:pt x="4019042" y="197866"/>
                  <a:pt x="4044950" y="191071"/>
                </a:cubicBezTo>
                <a:cubicBezTo>
                  <a:pt x="4070858" y="184277"/>
                  <a:pt x="4096829" y="177800"/>
                  <a:pt x="4122738" y="171577"/>
                </a:cubicBezTo>
                <a:cubicBezTo>
                  <a:pt x="4148646" y="165354"/>
                  <a:pt x="4174617" y="159448"/>
                  <a:pt x="4200525" y="153797"/>
                </a:cubicBezTo>
                <a:cubicBezTo>
                  <a:pt x="4226433" y="148145"/>
                  <a:pt x="4252404" y="142811"/>
                  <a:pt x="4278312" y="137668"/>
                </a:cubicBezTo>
                <a:cubicBezTo>
                  <a:pt x="4304220" y="132525"/>
                  <a:pt x="4330192" y="127635"/>
                  <a:pt x="4356100" y="123000"/>
                </a:cubicBezTo>
                <a:cubicBezTo>
                  <a:pt x="4382008" y="118300"/>
                  <a:pt x="4407980" y="113919"/>
                  <a:pt x="4433888" y="109664"/>
                </a:cubicBezTo>
                <a:cubicBezTo>
                  <a:pt x="4459796" y="105473"/>
                  <a:pt x="4485767" y="101473"/>
                  <a:pt x="4511675" y="97663"/>
                </a:cubicBezTo>
                <a:cubicBezTo>
                  <a:pt x="4537583" y="93853"/>
                  <a:pt x="4563554" y="90233"/>
                  <a:pt x="4589462" y="86804"/>
                </a:cubicBezTo>
                <a:cubicBezTo>
                  <a:pt x="4615370" y="83312"/>
                  <a:pt x="4641342" y="80073"/>
                  <a:pt x="4667250" y="76962"/>
                </a:cubicBezTo>
                <a:cubicBezTo>
                  <a:pt x="4693158" y="73850"/>
                  <a:pt x="4719130" y="70929"/>
                  <a:pt x="4745038" y="68072"/>
                </a:cubicBezTo>
                <a:cubicBezTo>
                  <a:pt x="4770946" y="65278"/>
                  <a:pt x="4796917" y="62675"/>
                  <a:pt x="4822825" y="60134"/>
                </a:cubicBezTo>
                <a:cubicBezTo>
                  <a:pt x="4848733" y="57594"/>
                  <a:pt x="4874704" y="55181"/>
                  <a:pt x="4900612" y="52959"/>
                </a:cubicBezTo>
                <a:cubicBezTo>
                  <a:pt x="4926520" y="50673"/>
                  <a:pt x="4952492" y="48514"/>
                  <a:pt x="4978400" y="46482"/>
                </a:cubicBezTo>
                <a:cubicBezTo>
                  <a:pt x="5004308" y="44450"/>
                  <a:pt x="5030280" y="42481"/>
                  <a:pt x="5056188" y="40640"/>
                </a:cubicBezTo>
                <a:cubicBezTo>
                  <a:pt x="5082096" y="38798"/>
                  <a:pt x="5108067" y="37084"/>
                  <a:pt x="5133975" y="35433"/>
                </a:cubicBezTo>
                <a:cubicBezTo>
                  <a:pt x="5159883" y="33782"/>
                  <a:pt x="5185854" y="32258"/>
                  <a:pt x="5211762" y="30734"/>
                </a:cubicBezTo>
                <a:cubicBezTo>
                  <a:pt x="5237670" y="29273"/>
                  <a:pt x="5263642" y="27876"/>
                  <a:pt x="5289550" y="26543"/>
                </a:cubicBezTo>
                <a:cubicBezTo>
                  <a:pt x="5315458" y="25209"/>
                  <a:pt x="5341430" y="24003"/>
                  <a:pt x="5367338" y="22796"/>
                </a:cubicBezTo>
                <a:cubicBezTo>
                  <a:pt x="5393246" y="21590"/>
                  <a:pt x="5419217" y="20447"/>
                  <a:pt x="5445125" y="19367"/>
                </a:cubicBezTo>
                <a:cubicBezTo>
                  <a:pt x="5471033" y="18351"/>
                  <a:pt x="5497004" y="17335"/>
                  <a:pt x="5522912" y="16383"/>
                </a:cubicBezTo>
                <a:cubicBezTo>
                  <a:pt x="5548820" y="15431"/>
                  <a:pt x="5574792" y="14478"/>
                  <a:pt x="5600700" y="13652"/>
                </a:cubicBezTo>
                <a:cubicBezTo>
                  <a:pt x="5626608" y="12763"/>
                  <a:pt x="5652580" y="12001"/>
                  <a:pt x="5678488" y="11239"/>
                </a:cubicBezTo>
                <a:cubicBezTo>
                  <a:pt x="5704396" y="10414"/>
                  <a:pt x="5730367" y="9715"/>
                  <a:pt x="5756275" y="9017"/>
                </a:cubicBezTo>
                <a:cubicBezTo>
                  <a:pt x="5782183" y="8319"/>
                  <a:pt x="5808154" y="7683"/>
                  <a:pt x="5834062" y="7048"/>
                </a:cubicBezTo>
                <a:cubicBezTo>
                  <a:pt x="5859970" y="6477"/>
                  <a:pt x="5885942" y="5906"/>
                  <a:pt x="5911850" y="5334"/>
                </a:cubicBezTo>
                <a:cubicBezTo>
                  <a:pt x="5937758" y="4762"/>
                  <a:pt x="5963730" y="4254"/>
                  <a:pt x="5989638" y="3746"/>
                </a:cubicBezTo>
                <a:cubicBezTo>
                  <a:pt x="6015546" y="3302"/>
                  <a:pt x="6041517" y="2794"/>
                  <a:pt x="6067425" y="2350"/>
                </a:cubicBezTo>
                <a:cubicBezTo>
                  <a:pt x="6093333" y="1905"/>
                  <a:pt x="6119304" y="1524"/>
                  <a:pt x="6145212" y="1143"/>
                </a:cubicBezTo>
                <a:cubicBezTo>
                  <a:pt x="6171120" y="698"/>
                  <a:pt x="6210046" y="190"/>
                  <a:pt x="6223000" y="0"/>
                </a:cubicBezTo>
                <a:lnTo>
                  <a:pt x="6223000" y="2093658"/>
                </a:lnTo>
                <a:lnTo>
                  <a:pt x="0" y="2093658"/>
                </a:lnTo>
                <a:close/>
              </a:path>
            </a:pathLst>
          </a:custGeom>
          <a:gradFill rotWithShape="1">
            <a:gsLst>
              <a:gs pos="0">
                <a:srgbClr val="2468B6">
                  <a:alpha val="26000"/>
                </a:srgbClr>
              </a:gs>
              <a:gs pos="100000">
                <a:srgbClr val="2468B6">
                  <a:alpha val="300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curve-2"/>
          <p:cNvSpPr/>
          <p:nvPr/>
        </p:nvSpPr>
        <p:spPr>
          <a:xfrm>
            <a:off x="1270000" y="2681542"/>
            <a:ext cx="6223000" cy="2037715"/>
          </a:xfrm>
          <a:custGeom>
            <a:avLst/>
            <a:gdLst/>
            <a:ahLst/>
            <a:cxnLst/>
            <a:rect l="0" t="0" r="r" b="b"/>
            <a:pathLst>
              <a:path w="6223000" h="2037715">
                <a:moveTo>
                  <a:pt x="0" y="2037715"/>
                </a:moveTo>
                <a:cubicBezTo>
                  <a:pt x="12954" y="2036635"/>
                  <a:pt x="51879" y="2033524"/>
                  <a:pt x="77788" y="2031238"/>
                </a:cubicBezTo>
                <a:cubicBezTo>
                  <a:pt x="103696" y="2029016"/>
                  <a:pt x="129667" y="2026603"/>
                  <a:pt x="155575" y="2024062"/>
                </a:cubicBezTo>
                <a:cubicBezTo>
                  <a:pt x="181483" y="2021522"/>
                  <a:pt x="207454" y="2018919"/>
                  <a:pt x="233362" y="2016125"/>
                </a:cubicBezTo>
                <a:cubicBezTo>
                  <a:pt x="259271" y="2013268"/>
                  <a:pt x="285242" y="2010346"/>
                  <a:pt x="311150" y="2007235"/>
                </a:cubicBezTo>
                <a:cubicBezTo>
                  <a:pt x="337058" y="2004123"/>
                  <a:pt x="363030" y="2000885"/>
                  <a:pt x="388938" y="1997392"/>
                </a:cubicBezTo>
                <a:cubicBezTo>
                  <a:pt x="414845" y="1993963"/>
                  <a:pt x="440817" y="1990344"/>
                  <a:pt x="466725" y="1986534"/>
                </a:cubicBezTo>
                <a:cubicBezTo>
                  <a:pt x="492633" y="1982724"/>
                  <a:pt x="518605" y="1978723"/>
                  <a:pt x="544512" y="1974532"/>
                </a:cubicBezTo>
                <a:cubicBezTo>
                  <a:pt x="570420" y="1970278"/>
                  <a:pt x="596392" y="1965896"/>
                  <a:pt x="622300" y="1961197"/>
                </a:cubicBezTo>
                <a:cubicBezTo>
                  <a:pt x="648208" y="1956562"/>
                  <a:pt x="674180" y="1951672"/>
                  <a:pt x="700088" y="1946529"/>
                </a:cubicBezTo>
                <a:cubicBezTo>
                  <a:pt x="725995" y="1941385"/>
                  <a:pt x="751967" y="1936051"/>
                  <a:pt x="777875" y="1930400"/>
                </a:cubicBezTo>
                <a:cubicBezTo>
                  <a:pt x="803783" y="1924748"/>
                  <a:pt x="829755" y="1918843"/>
                  <a:pt x="855662" y="1912620"/>
                </a:cubicBezTo>
                <a:cubicBezTo>
                  <a:pt x="881570" y="1906397"/>
                  <a:pt x="907542" y="1899920"/>
                  <a:pt x="933450" y="1893125"/>
                </a:cubicBezTo>
                <a:cubicBezTo>
                  <a:pt x="959358" y="1886331"/>
                  <a:pt x="985330" y="1879219"/>
                  <a:pt x="1011238" y="1871789"/>
                </a:cubicBezTo>
                <a:cubicBezTo>
                  <a:pt x="1037145" y="1864296"/>
                  <a:pt x="1063117" y="1856549"/>
                  <a:pt x="1089025" y="1848421"/>
                </a:cubicBezTo>
                <a:cubicBezTo>
                  <a:pt x="1114933" y="1840294"/>
                  <a:pt x="1140904" y="1831848"/>
                  <a:pt x="1166812" y="1822958"/>
                </a:cubicBezTo>
                <a:cubicBezTo>
                  <a:pt x="1192720" y="1814132"/>
                  <a:pt x="1218692" y="1804924"/>
                  <a:pt x="1244600" y="1795335"/>
                </a:cubicBezTo>
                <a:cubicBezTo>
                  <a:pt x="1270508" y="1785747"/>
                  <a:pt x="1296480" y="1775714"/>
                  <a:pt x="1322388" y="1765363"/>
                </a:cubicBezTo>
                <a:cubicBezTo>
                  <a:pt x="1348296" y="1754949"/>
                  <a:pt x="1374267" y="1744154"/>
                  <a:pt x="1400175" y="1732979"/>
                </a:cubicBezTo>
                <a:cubicBezTo>
                  <a:pt x="1426083" y="1721739"/>
                  <a:pt x="1452054" y="1710118"/>
                  <a:pt x="1477962" y="1698117"/>
                </a:cubicBezTo>
                <a:cubicBezTo>
                  <a:pt x="1503870" y="1686052"/>
                  <a:pt x="1529842" y="1673606"/>
                  <a:pt x="1555750" y="1660716"/>
                </a:cubicBezTo>
                <a:cubicBezTo>
                  <a:pt x="1581658" y="1647825"/>
                  <a:pt x="1607630" y="1634490"/>
                  <a:pt x="1633538" y="1620710"/>
                </a:cubicBezTo>
                <a:cubicBezTo>
                  <a:pt x="1659446" y="1606994"/>
                  <a:pt x="1685417" y="1592834"/>
                  <a:pt x="1711325" y="1578229"/>
                </a:cubicBezTo>
                <a:cubicBezTo>
                  <a:pt x="1737233" y="1563624"/>
                  <a:pt x="1763204" y="1548638"/>
                  <a:pt x="1789112" y="1533208"/>
                </a:cubicBezTo>
                <a:cubicBezTo>
                  <a:pt x="1815020" y="1517777"/>
                  <a:pt x="1840992" y="1501966"/>
                  <a:pt x="1866900" y="1485773"/>
                </a:cubicBezTo>
                <a:cubicBezTo>
                  <a:pt x="1892808" y="1469580"/>
                  <a:pt x="1918780" y="1452944"/>
                  <a:pt x="1944688" y="1435989"/>
                </a:cubicBezTo>
                <a:cubicBezTo>
                  <a:pt x="1970596" y="1419034"/>
                  <a:pt x="1996567" y="1401699"/>
                  <a:pt x="2022475" y="1384109"/>
                </a:cubicBezTo>
                <a:cubicBezTo>
                  <a:pt x="2048383" y="1366520"/>
                  <a:pt x="2074354" y="1348486"/>
                  <a:pt x="2100262" y="1330261"/>
                </a:cubicBezTo>
                <a:cubicBezTo>
                  <a:pt x="2126171" y="1312100"/>
                  <a:pt x="2152142" y="1293495"/>
                  <a:pt x="2178050" y="1274762"/>
                </a:cubicBezTo>
                <a:cubicBezTo>
                  <a:pt x="2203958" y="1256030"/>
                  <a:pt x="2229929" y="1237044"/>
                  <a:pt x="2255838" y="1217867"/>
                </a:cubicBezTo>
                <a:cubicBezTo>
                  <a:pt x="2281746" y="1198753"/>
                  <a:pt x="2307717" y="1179322"/>
                  <a:pt x="2333625" y="1159891"/>
                </a:cubicBezTo>
                <a:cubicBezTo>
                  <a:pt x="2359533" y="1140460"/>
                  <a:pt x="2385504" y="1120838"/>
                  <a:pt x="2411412" y="1101217"/>
                </a:cubicBezTo>
                <a:cubicBezTo>
                  <a:pt x="2437321" y="1081532"/>
                  <a:pt x="2463292" y="1061783"/>
                  <a:pt x="2489200" y="1042098"/>
                </a:cubicBezTo>
                <a:cubicBezTo>
                  <a:pt x="2515108" y="1022413"/>
                  <a:pt x="2541079" y="1002665"/>
                  <a:pt x="2566988" y="982980"/>
                </a:cubicBezTo>
                <a:cubicBezTo>
                  <a:pt x="2592896" y="963358"/>
                  <a:pt x="2618867" y="943737"/>
                  <a:pt x="2644775" y="924306"/>
                </a:cubicBezTo>
                <a:cubicBezTo>
                  <a:pt x="2670683" y="904875"/>
                  <a:pt x="2696654" y="885444"/>
                  <a:pt x="2722562" y="866330"/>
                </a:cubicBezTo>
                <a:cubicBezTo>
                  <a:pt x="2748471" y="847154"/>
                  <a:pt x="2774442" y="828167"/>
                  <a:pt x="2800350" y="809434"/>
                </a:cubicBezTo>
                <a:cubicBezTo>
                  <a:pt x="2826258" y="790702"/>
                  <a:pt x="2852229" y="772096"/>
                  <a:pt x="2878138" y="753935"/>
                </a:cubicBezTo>
                <a:cubicBezTo>
                  <a:pt x="2904046" y="735711"/>
                  <a:pt x="2930017" y="717677"/>
                  <a:pt x="2955925" y="700087"/>
                </a:cubicBezTo>
                <a:cubicBezTo>
                  <a:pt x="2981833" y="682498"/>
                  <a:pt x="3007804" y="665162"/>
                  <a:pt x="3033712" y="648208"/>
                </a:cubicBezTo>
                <a:cubicBezTo>
                  <a:pt x="3059621" y="631254"/>
                  <a:pt x="3085592" y="614617"/>
                  <a:pt x="3111500" y="598424"/>
                </a:cubicBezTo>
                <a:cubicBezTo>
                  <a:pt x="3137408" y="582232"/>
                  <a:pt x="3163379" y="566420"/>
                  <a:pt x="3189288" y="550989"/>
                </a:cubicBezTo>
                <a:cubicBezTo>
                  <a:pt x="3215196" y="535559"/>
                  <a:pt x="3241167" y="520573"/>
                  <a:pt x="3267075" y="505968"/>
                </a:cubicBezTo>
                <a:cubicBezTo>
                  <a:pt x="3292983" y="491363"/>
                  <a:pt x="3318954" y="477202"/>
                  <a:pt x="3344862" y="463486"/>
                </a:cubicBezTo>
                <a:cubicBezTo>
                  <a:pt x="3370771" y="449707"/>
                  <a:pt x="3396742" y="436372"/>
                  <a:pt x="3422650" y="423482"/>
                </a:cubicBezTo>
                <a:cubicBezTo>
                  <a:pt x="3448558" y="410591"/>
                  <a:pt x="3474529" y="398145"/>
                  <a:pt x="3500438" y="386080"/>
                </a:cubicBezTo>
                <a:cubicBezTo>
                  <a:pt x="3526346" y="374078"/>
                  <a:pt x="3552317" y="362458"/>
                  <a:pt x="3578225" y="351218"/>
                </a:cubicBezTo>
                <a:cubicBezTo>
                  <a:pt x="3604133" y="340042"/>
                  <a:pt x="3630104" y="329247"/>
                  <a:pt x="3656012" y="318833"/>
                </a:cubicBezTo>
                <a:cubicBezTo>
                  <a:pt x="3681921" y="308483"/>
                  <a:pt x="3707892" y="298450"/>
                  <a:pt x="3733800" y="288861"/>
                </a:cubicBezTo>
                <a:cubicBezTo>
                  <a:pt x="3759708" y="279273"/>
                  <a:pt x="3785679" y="270065"/>
                  <a:pt x="3811588" y="261239"/>
                </a:cubicBezTo>
                <a:cubicBezTo>
                  <a:pt x="3837496" y="252349"/>
                  <a:pt x="3863467" y="243903"/>
                  <a:pt x="3889375" y="235775"/>
                </a:cubicBezTo>
                <a:cubicBezTo>
                  <a:pt x="3915283" y="227647"/>
                  <a:pt x="3941254" y="219900"/>
                  <a:pt x="3967162" y="212407"/>
                </a:cubicBezTo>
                <a:cubicBezTo>
                  <a:pt x="3993071" y="204978"/>
                  <a:pt x="4019042" y="197866"/>
                  <a:pt x="4044950" y="191071"/>
                </a:cubicBezTo>
                <a:cubicBezTo>
                  <a:pt x="4070858" y="184277"/>
                  <a:pt x="4096829" y="177800"/>
                  <a:pt x="4122738" y="171577"/>
                </a:cubicBezTo>
                <a:cubicBezTo>
                  <a:pt x="4148646" y="165354"/>
                  <a:pt x="4174617" y="159448"/>
                  <a:pt x="4200525" y="153797"/>
                </a:cubicBezTo>
                <a:cubicBezTo>
                  <a:pt x="4226433" y="148145"/>
                  <a:pt x="4252404" y="142811"/>
                  <a:pt x="4278312" y="137668"/>
                </a:cubicBezTo>
                <a:cubicBezTo>
                  <a:pt x="4304220" y="132525"/>
                  <a:pt x="4330192" y="127635"/>
                  <a:pt x="4356100" y="123000"/>
                </a:cubicBezTo>
                <a:cubicBezTo>
                  <a:pt x="4382008" y="118300"/>
                  <a:pt x="4407980" y="113919"/>
                  <a:pt x="4433888" y="109664"/>
                </a:cubicBezTo>
                <a:cubicBezTo>
                  <a:pt x="4459796" y="105473"/>
                  <a:pt x="4485767" y="101473"/>
                  <a:pt x="4511675" y="97663"/>
                </a:cubicBezTo>
                <a:cubicBezTo>
                  <a:pt x="4537583" y="93853"/>
                  <a:pt x="4563554" y="90233"/>
                  <a:pt x="4589462" y="86804"/>
                </a:cubicBezTo>
                <a:cubicBezTo>
                  <a:pt x="4615370" y="83312"/>
                  <a:pt x="4641342" y="80073"/>
                  <a:pt x="4667250" y="76962"/>
                </a:cubicBezTo>
                <a:cubicBezTo>
                  <a:pt x="4693158" y="73850"/>
                  <a:pt x="4719130" y="70929"/>
                  <a:pt x="4745038" y="68072"/>
                </a:cubicBezTo>
                <a:cubicBezTo>
                  <a:pt x="4770946" y="65278"/>
                  <a:pt x="4796917" y="62675"/>
                  <a:pt x="4822825" y="60134"/>
                </a:cubicBezTo>
                <a:cubicBezTo>
                  <a:pt x="4848733" y="57594"/>
                  <a:pt x="4874704" y="55181"/>
                  <a:pt x="4900612" y="52959"/>
                </a:cubicBezTo>
                <a:cubicBezTo>
                  <a:pt x="4926520" y="50673"/>
                  <a:pt x="4952492" y="48514"/>
                  <a:pt x="4978400" y="46482"/>
                </a:cubicBezTo>
                <a:cubicBezTo>
                  <a:pt x="5004308" y="44450"/>
                  <a:pt x="5030280" y="42481"/>
                  <a:pt x="5056188" y="40640"/>
                </a:cubicBezTo>
                <a:cubicBezTo>
                  <a:pt x="5082096" y="38798"/>
                  <a:pt x="5108067" y="37084"/>
                  <a:pt x="5133975" y="35433"/>
                </a:cubicBezTo>
                <a:cubicBezTo>
                  <a:pt x="5159883" y="33782"/>
                  <a:pt x="5185854" y="32258"/>
                  <a:pt x="5211762" y="30734"/>
                </a:cubicBezTo>
                <a:cubicBezTo>
                  <a:pt x="5237670" y="29273"/>
                  <a:pt x="5263642" y="27876"/>
                  <a:pt x="5289550" y="26543"/>
                </a:cubicBezTo>
                <a:cubicBezTo>
                  <a:pt x="5315458" y="25209"/>
                  <a:pt x="5341430" y="24003"/>
                  <a:pt x="5367338" y="22796"/>
                </a:cubicBezTo>
                <a:cubicBezTo>
                  <a:pt x="5393246" y="21590"/>
                  <a:pt x="5419217" y="20447"/>
                  <a:pt x="5445125" y="19367"/>
                </a:cubicBezTo>
                <a:cubicBezTo>
                  <a:pt x="5471033" y="18351"/>
                  <a:pt x="5497004" y="17335"/>
                  <a:pt x="5522912" y="16383"/>
                </a:cubicBezTo>
                <a:cubicBezTo>
                  <a:pt x="5548820" y="15431"/>
                  <a:pt x="5574792" y="14478"/>
                  <a:pt x="5600700" y="13652"/>
                </a:cubicBezTo>
                <a:cubicBezTo>
                  <a:pt x="5626608" y="12763"/>
                  <a:pt x="5652580" y="12001"/>
                  <a:pt x="5678488" y="11239"/>
                </a:cubicBezTo>
                <a:cubicBezTo>
                  <a:pt x="5704396" y="10414"/>
                  <a:pt x="5730367" y="9715"/>
                  <a:pt x="5756275" y="9017"/>
                </a:cubicBezTo>
                <a:cubicBezTo>
                  <a:pt x="5782183" y="8319"/>
                  <a:pt x="5808154" y="7683"/>
                  <a:pt x="5834062" y="7048"/>
                </a:cubicBezTo>
                <a:cubicBezTo>
                  <a:pt x="5859970" y="6477"/>
                  <a:pt x="5885942" y="5906"/>
                  <a:pt x="5911850" y="5334"/>
                </a:cubicBezTo>
                <a:cubicBezTo>
                  <a:pt x="5937758" y="4762"/>
                  <a:pt x="5963730" y="4254"/>
                  <a:pt x="5989638" y="3746"/>
                </a:cubicBezTo>
                <a:cubicBezTo>
                  <a:pt x="6015546" y="3302"/>
                  <a:pt x="6041517" y="2794"/>
                  <a:pt x="6067425" y="2350"/>
                </a:cubicBezTo>
                <a:cubicBezTo>
                  <a:pt x="6093333" y="1905"/>
                  <a:pt x="6119304" y="1524"/>
                  <a:pt x="6145212" y="1143"/>
                </a:cubicBezTo>
                <a:cubicBezTo>
                  <a:pt x="6171120" y="698"/>
                  <a:pt x="6210046" y="190"/>
                  <a:pt x="6223000" y="0"/>
                </a:cubicBezTo>
              </a:path>
            </a:pathLst>
          </a:custGeom>
          <a:noFill/>
          <a:ln w="2286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ctag-2"/>
          <p:cNvSpPr/>
          <p:nvPr/>
        </p:nvSpPr>
        <p:spPr>
          <a:xfrm>
            <a:off x="7150100" y="2287842"/>
            <a:ext cx="685800" cy="254000"/>
          </a:xfrm>
          <a:custGeom>
            <a:avLst/>
            <a:gdLst/>
            <a:ahLst/>
            <a:cxnLst/>
            <a:rect l="0" t="0" r="r" b="b"/>
            <a:pathLst>
              <a:path w="685800" h="254000">
                <a:moveTo>
                  <a:pt x="127000" y="0"/>
                </a:moveTo>
                <a:lnTo>
                  <a:pt x="558800" y="0"/>
                </a:lnTo>
                <a:cubicBezTo>
                  <a:pt x="628967" y="0"/>
                  <a:pt x="685800" y="56832"/>
                  <a:pt x="685800" y="127000"/>
                </a:cubicBezTo>
                <a:lnTo>
                  <a:pt x="685800" y="127000"/>
                </a:lnTo>
                <a:cubicBezTo>
                  <a:pt x="685800" y="197167"/>
                  <a:pt x="628967" y="254000"/>
                  <a:pt x="558800" y="254000"/>
                </a:cubicBezTo>
                <a:lnTo>
                  <a:pt x="127000" y="254000"/>
                </a:lnTo>
                <a:cubicBezTo>
                  <a:pt x="56833" y="254000"/>
                  <a:pt x="0" y="197167"/>
                  <a:pt x="0" y="127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ctagt-2"/>
          <p:cNvSpPr txBox="1"/>
          <p:nvPr/>
        </p:nvSpPr>
        <p:spPr>
          <a:xfrm>
            <a:off x="7358380" y="2302441"/>
            <a:ext cx="2692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50">
                <a:solidFill>
                  <a:srgbClr val="FFFFFF"/>
                </a:solidFill>
                <a:latin typeface="Arial"/>
                <a:ea typeface="Arial"/>
                <a:cs typeface="Arial"/>
              </a:rPr>
              <a:t>H2</a:t>
            </a:r>
          </a:p>
        </p:txBody>
      </p:sp>
      <p:sp>
        <p:nvSpPr>
          <p:cNvPr id="27" name="area-3"/>
          <p:cNvSpPr/>
          <p:nvPr/>
        </p:nvSpPr>
        <p:spPr>
          <a:xfrm>
            <a:off x="1270000" y="3549586"/>
            <a:ext cx="6223000" cy="1225614"/>
          </a:xfrm>
          <a:custGeom>
            <a:avLst/>
            <a:gdLst/>
            <a:ahLst/>
            <a:cxnLst/>
            <a:rect l="0" t="0" r="r" b="b"/>
            <a:pathLst>
              <a:path w="6223000" h="1225614">
                <a:moveTo>
                  <a:pt x="0" y="1223899"/>
                </a:moveTo>
                <a:cubicBezTo>
                  <a:pt x="12954" y="1223836"/>
                  <a:pt x="51879" y="1223772"/>
                  <a:pt x="77788" y="1223709"/>
                </a:cubicBezTo>
                <a:cubicBezTo>
                  <a:pt x="103696" y="1223645"/>
                  <a:pt x="129667" y="1223518"/>
                  <a:pt x="155575" y="1223454"/>
                </a:cubicBezTo>
                <a:cubicBezTo>
                  <a:pt x="181483" y="1223391"/>
                  <a:pt x="207454" y="1223264"/>
                  <a:pt x="233362" y="1223200"/>
                </a:cubicBezTo>
                <a:cubicBezTo>
                  <a:pt x="259271" y="1223137"/>
                  <a:pt x="285242" y="1223010"/>
                  <a:pt x="311150" y="1222947"/>
                </a:cubicBezTo>
                <a:cubicBezTo>
                  <a:pt x="337058" y="1222819"/>
                  <a:pt x="363030" y="1222692"/>
                  <a:pt x="388938" y="1222629"/>
                </a:cubicBezTo>
                <a:cubicBezTo>
                  <a:pt x="414845" y="1222502"/>
                  <a:pt x="440817" y="1222375"/>
                  <a:pt x="466725" y="1222248"/>
                </a:cubicBezTo>
                <a:cubicBezTo>
                  <a:pt x="492633" y="1222121"/>
                  <a:pt x="518605" y="1221994"/>
                  <a:pt x="544512" y="1221867"/>
                </a:cubicBezTo>
                <a:cubicBezTo>
                  <a:pt x="570420" y="1221676"/>
                  <a:pt x="596392" y="1221550"/>
                  <a:pt x="622300" y="1221423"/>
                </a:cubicBezTo>
                <a:cubicBezTo>
                  <a:pt x="648208" y="1221232"/>
                  <a:pt x="674180" y="1221041"/>
                  <a:pt x="700088" y="1220914"/>
                </a:cubicBezTo>
                <a:cubicBezTo>
                  <a:pt x="725995" y="1220724"/>
                  <a:pt x="751967" y="1220534"/>
                  <a:pt x="777875" y="1220343"/>
                </a:cubicBezTo>
                <a:cubicBezTo>
                  <a:pt x="803783" y="1220152"/>
                  <a:pt x="829755" y="1219898"/>
                  <a:pt x="855662" y="1219708"/>
                </a:cubicBezTo>
                <a:cubicBezTo>
                  <a:pt x="881570" y="1219454"/>
                  <a:pt x="907542" y="1219264"/>
                  <a:pt x="933450" y="1219010"/>
                </a:cubicBezTo>
                <a:cubicBezTo>
                  <a:pt x="959358" y="1218755"/>
                  <a:pt x="985330" y="1218502"/>
                  <a:pt x="1011238" y="1218248"/>
                </a:cubicBezTo>
                <a:cubicBezTo>
                  <a:pt x="1037145" y="1217930"/>
                  <a:pt x="1063117" y="1217676"/>
                  <a:pt x="1089025" y="1217359"/>
                </a:cubicBezTo>
                <a:cubicBezTo>
                  <a:pt x="1114933" y="1217041"/>
                  <a:pt x="1140904" y="1216724"/>
                  <a:pt x="1166812" y="1216342"/>
                </a:cubicBezTo>
                <a:cubicBezTo>
                  <a:pt x="1192720" y="1216025"/>
                  <a:pt x="1218692" y="1215644"/>
                  <a:pt x="1244600" y="1215263"/>
                </a:cubicBezTo>
                <a:cubicBezTo>
                  <a:pt x="1270508" y="1214882"/>
                  <a:pt x="1296480" y="1214501"/>
                  <a:pt x="1322388" y="1214056"/>
                </a:cubicBezTo>
                <a:cubicBezTo>
                  <a:pt x="1348296" y="1213612"/>
                  <a:pt x="1374267" y="1213167"/>
                  <a:pt x="1400175" y="1212723"/>
                </a:cubicBezTo>
                <a:cubicBezTo>
                  <a:pt x="1426083" y="1212215"/>
                  <a:pt x="1452054" y="1211707"/>
                  <a:pt x="1477962" y="1211199"/>
                </a:cubicBezTo>
                <a:cubicBezTo>
                  <a:pt x="1503870" y="1210627"/>
                  <a:pt x="1529842" y="1210056"/>
                  <a:pt x="1555750" y="1209485"/>
                </a:cubicBezTo>
                <a:cubicBezTo>
                  <a:pt x="1581658" y="1208850"/>
                  <a:pt x="1607630" y="1208278"/>
                  <a:pt x="1633538" y="1207579"/>
                </a:cubicBezTo>
                <a:cubicBezTo>
                  <a:pt x="1659446" y="1206944"/>
                  <a:pt x="1685417" y="1206183"/>
                  <a:pt x="1711325" y="1205484"/>
                </a:cubicBezTo>
                <a:cubicBezTo>
                  <a:pt x="1737233" y="1204722"/>
                  <a:pt x="1763204" y="1203960"/>
                  <a:pt x="1789112" y="1203135"/>
                </a:cubicBezTo>
                <a:cubicBezTo>
                  <a:pt x="1815020" y="1202246"/>
                  <a:pt x="1840992" y="1201420"/>
                  <a:pt x="1866900" y="1200467"/>
                </a:cubicBezTo>
                <a:cubicBezTo>
                  <a:pt x="1892808" y="1199578"/>
                  <a:pt x="1918780" y="1198562"/>
                  <a:pt x="1944688" y="1197547"/>
                </a:cubicBezTo>
                <a:cubicBezTo>
                  <a:pt x="1970596" y="1196530"/>
                  <a:pt x="1996567" y="1195451"/>
                  <a:pt x="2022475" y="1194308"/>
                </a:cubicBezTo>
                <a:cubicBezTo>
                  <a:pt x="2048383" y="1193165"/>
                  <a:pt x="2074354" y="1191959"/>
                  <a:pt x="2100262" y="1190625"/>
                </a:cubicBezTo>
                <a:cubicBezTo>
                  <a:pt x="2126171" y="1189355"/>
                  <a:pt x="2152142" y="1188022"/>
                  <a:pt x="2178050" y="1186624"/>
                </a:cubicBezTo>
                <a:cubicBezTo>
                  <a:pt x="2203958" y="1185164"/>
                  <a:pt x="2229929" y="1183703"/>
                  <a:pt x="2255838" y="1182116"/>
                </a:cubicBezTo>
                <a:cubicBezTo>
                  <a:pt x="2281746" y="1180528"/>
                  <a:pt x="2307717" y="1178877"/>
                  <a:pt x="2333625" y="1177100"/>
                </a:cubicBezTo>
                <a:cubicBezTo>
                  <a:pt x="2359533" y="1175385"/>
                  <a:pt x="2385504" y="1173543"/>
                  <a:pt x="2411412" y="1171575"/>
                </a:cubicBezTo>
                <a:cubicBezTo>
                  <a:pt x="2437321" y="1169606"/>
                  <a:pt x="2463292" y="1167574"/>
                  <a:pt x="2489200" y="1165415"/>
                </a:cubicBezTo>
                <a:cubicBezTo>
                  <a:pt x="2515108" y="1163256"/>
                  <a:pt x="2541079" y="1161034"/>
                  <a:pt x="2566988" y="1158621"/>
                </a:cubicBezTo>
                <a:cubicBezTo>
                  <a:pt x="2592896" y="1156208"/>
                  <a:pt x="2618867" y="1153731"/>
                  <a:pt x="2644775" y="1151064"/>
                </a:cubicBezTo>
                <a:cubicBezTo>
                  <a:pt x="2670683" y="1148461"/>
                  <a:pt x="2696654" y="1145667"/>
                  <a:pt x="2722562" y="1142746"/>
                </a:cubicBezTo>
                <a:cubicBezTo>
                  <a:pt x="2748471" y="1139825"/>
                  <a:pt x="2774442" y="1136777"/>
                  <a:pt x="2800350" y="1133602"/>
                </a:cubicBezTo>
                <a:cubicBezTo>
                  <a:pt x="2826258" y="1130364"/>
                  <a:pt x="2852229" y="1126998"/>
                  <a:pt x="2878138" y="1123442"/>
                </a:cubicBezTo>
                <a:cubicBezTo>
                  <a:pt x="2904046" y="1119886"/>
                  <a:pt x="2930017" y="1116203"/>
                  <a:pt x="2955925" y="1112329"/>
                </a:cubicBezTo>
                <a:cubicBezTo>
                  <a:pt x="2981833" y="1108392"/>
                  <a:pt x="3007804" y="1104328"/>
                  <a:pt x="3033712" y="1100074"/>
                </a:cubicBezTo>
                <a:cubicBezTo>
                  <a:pt x="3059621" y="1095819"/>
                  <a:pt x="3085592" y="1091374"/>
                  <a:pt x="3111500" y="1086676"/>
                </a:cubicBezTo>
                <a:cubicBezTo>
                  <a:pt x="3137408" y="1081976"/>
                  <a:pt x="3163379" y="1077150"/>
                  <a:pt x="3189288" y="1072007"/>
                </a:cubicBezTo>
                <a:cubicBezTo>
                  <a:pt x="3215196" y="1066927"/>
                  <a:pt x="3241167" y="1061593"/>
                  <a:pt x="3267075" y="1056068"/>
                </a:cubicBezTo>
                <a:cubicBezTo>
                  <a:pt x="3292983" y="1050480"/>
                  <a:pt x="3318954" y="1044702"/>
                  <a:pt x="3344862" y="1038669"/>
                </a:cubicBezTo>
                <a:cubicBezTo>
                  <a:pt x="3370771" y="1032637"/>
                  <a:pt x="3396742" y="1026350"/>
                  <a:pt x="3422650" y="1019810"/>
                </a:cubicBezTo>
                <a:cubicBezTo>
                  <a:pt x="3448558" y="1013269"/>
                  <a:pt x="3474529" y="1006475"/>
                  <a:pt x="3500438" y="999426"/>
                </a:cubicBezTo>
                <a:cubicBezTo>
                  <a:pt x="3526346" y="992378"/>
                  <a:pt x="3552317" y="985076"/>
                  <a:pt x="3578225" y="977455"/>
                </a:cubicBezTo>
                <a:cubicBezTo>
                  <a:pt x="3604133" y="969899"/>
                  <a:pt x="3630104" y="962025"/>
                  <a:pt x="3656012" y="953897"/>
                </a:cubicBezTo>
                <a:cubicBezTo>
                  <a:pt x="3681921" y="945769"/>
                  <a:pt x="3707892" y="937387"/>
                  <a:pt x="3733800" y="928688"/>
                </a:cubicBezTo>
                <a:cubicBezTo>
                  <a:pt x="3759708" y="920051"/>
                  <a:pt x="3785679" y="911098"/>
                  <a:pt x="3811588" y="901890"/>
                </a:cubicBezTo>
                <a:cubicBezTo>
                  <a:pt x="3837496" y="892619"/>
                  <a:pt x="3863467" y="883158"/>
                  <a:pt x="3889375" y="873442"/>
                </a:cubicBezTo>
                <a:cubicBezTo>
                  <a:pt x="3915283" y="863664"/>
                  <a:pt x="3941254" y="853630"/>
                  <a:pt x="3967162" y="843407"/>
                </a:cubicBezTo>
                <a:cubicBezTo>
                  <a:pt x="3993071" y="833184"/>
                  <a:pt x="4019042" y="822642"/>
                  <a:pt x="4044950" y="811911"/>
                </a:cubicBezTo>
                <a:cubicBezTo>
                  <a:pt x="4070858" y="801179"/>
                  <a:pt x="4096829" y="790194"/>
                  <a:pt x="4122738" y="779018"/>
                </a:cubicBezTo>
                <a:cubicBezTo>
                  <a:pt x="4148646" y="767842"/>
                  <a:pt x="4174617" y="756412"/>
                  <a:pt x="4200525" y="744855"/>
                </a:cubicBezTo>
                <a:cubicBezTo>
                  <a:pt x="4226433" y="733298"/>
                  <a:pt x="4252404" y="721550"/>
                  <a:pt x="4278312" y="709612"/>
                </a:cubicBezTo>
                <a:cubicBezTo>
                  <a:pt x="4304220" y="697738"/>
                  <a:pt x="4330192" y="685610"/>
                  <a:pt x="4356100" y="673417"/>
                </a:cubicBezTo>
                <a:cubicBezTo>
                  <a:pt x="4382008" y="661226"/>
                  <a:pt x="4407980" y="648906"/>
                  <a:pt x="4433888" y="636524"/>
                </a:cubicBezTo>
                <a:cubicBezTo>
                  <a:pt x="4459796" y="624078"/>
                  <a:pt x="4485767" y="611568"/>
                  <a:pt x="4511675" y="599059"/>
                </a:cubicBezTo>
                <a:cubicBezTo>
                  <a:pt x="4537583" y="586550"/>
                  <a:pt x="4563554" y="573913"/>
                  <a:pt x="4589462" y="561340"/>
                </a:cubicBezTo>
                <a:cubicBezTo>
                  <a:pt x="4615370" y="548767"/>
                  <a:pt x="4641342" y="536130"/>
                  <a:pt x="4667250" y="523558"/>
                </a:cubicBezTo>
                <a:cubicBezTo>
                  <a:pt x="4693158" y="510985"/>
                  <a:pt x="4719130" y="498475"/>
                  <a:pt x="4745038" y="485965"/>
                </a:cubicBezTo>
                <a:cubicBezTo>
                  <a:pt x="4770946" y="473519"/>
                  <a:pt x="4796917" y="461137"/>
                  <a:pt x="4822825" y="448818"/>
                </a:cubicBezTo>
                <a:cubicBezTo>
                  <a:pt x="4848733" y="436562"/>
                  <a:pt x="4874704" y="424371"/>
                  <a:pt x="4900612" y="412305"/>
                </a:cubicBezTo>
                <a:cubicBezTo>
                  <a:pt x="4926520" y="400304"/>
                  <a:pt x="4952492" y="388366"/>
                  <a:pt x="4978400" y="376682"/>
                </a:cubicBezTo>
                <a:cubicBezTo>
                  <a:pt x="5004308" y="364935"/>
                  <a:pt x="5030280" y="353377"/>
                  <a:pt x="5056188" y="342074"/>
                </a:cubicBezTo>
                <a:cubicBezTo>
                  <a:pt x="5082096" y="330708"/>
                  <a:pt x="5108067" y="319532"/>
                  <a:pt x="5133975" y="308674"/>
                </a:cubicBezTo>
                <a:cubicBezTo>
                  <a:pt x="5159883" y="297751"/>
                  <a:pt x="5185854" y="287020"/>
                  <a:pt x="5211762" y="276606"/>
                </a:cubicBezTo>
                <a:cubicBezTo>
                  <a:pt x="5237670" y="266128"/>
                  <a:pt x="5263642" y="255905"/>
                  <a:pt x="5289550" y="245936"/>
                </a:cubicBezTo>
                <a:cubicBezTo>
                  <a:pt x="5315458" y="236029"/>
                  <a:pt x="5341430" y="226314"/>
                  <a:pt x="5367338" y="216916"/>
                </a:cubicBezTo>
                <a:cubicBezTo>
                  <a:pt x="5393246" y="207454"/>
                  <a:pt x="5419217" y="198311"/>
                  <a:pt x="5445125" y="189421"/>
                </a:cubicBezTo>
                <a:cubicBezTo>
                  <a:pt x="5471033" y="180530"/>
                  <a:pt x="5497004" y="171894"/>
                  <a:pt x="5522912" y="163576"/>
                </a:cubicBezTo>
                <a:cubicBezTo>
                  <a:pt x="5548820" y="155194"/>
                  <a:pt x="5574792" y="147129"/>
                  <a:pt x="5600700" y="139319"/>
                </a:cubicBezTo>
                <a:cubicBezTo>
                  <a:pt x="5626608" y="131509"/>
                  <a:pt x="5652580" y="124015"/>
                  <a:pt x="5678488" y="116713"/>
                </a:cubicBezTo>
                <a:cubicBezTo>
                  <a:pt x="5704396" y="109474"/>
                  <a:pt x="5730367" y="102489"/>
                  <a:pt x="5756275" y="95694"/>
                </a:cubicBezTo>
                <a:cubicBezTo>
                  <a:pt x="5782183" y="88963"/>
                  <a:pt x="5808154" y="82487"/>
                  <a:pt x="5834062" y="76263"/>
                </a:cubicBezTo>
                <a:cubicBezTo>
                  <a:pt x="5859970" y="70040"/>
                  <a:pt x="5885942" y="64072"/>
                  <a:pt x="5911850" y="58293"/>
                </a:cubicBezTo>
                <a:cubicBezTo>
                  <a:pt x="5937758" y="52578"/>
                  <a:pt x="5963730" y="47053"/>
                  <a:pt x="5989638" y="41783"/>
                </a:cubicBezTo>
                <a:cubicBezTo>
                  <a:pt x="6015546" y="36512"/>
                  <a:pt x="6041517" y="31433"/>
                  <a:pt x="6067425" y="26606"/>
                </a:cubicBezTo>
                <a:cubicBezTo>
                  <a:pt x="6093333" y="21780"/>
                  <a:pt x="6119304" y="17145"/>
                  <a:pt x="6145212" y="12700"/>
                </a:cubicBezTo>
                <a:cubicBezTo>
                  <a:pt x="6171120" y="8255"/>
                  <a:pt x="6210046" y="2159"/>
                  <a:pt x="6223000" y="0"/>
                </a:cubicBezTo>
                <a:lnTo>
                  <a:pt x="6223000" y="1225614"/>
                </a:lnTo>
                <a:lnTo>
                  <a:pt x="0" y="1225614"/>
                </a:lnTo>
                <a:close/>
              </a:path>
            </a:pathLst>
          </a:custGeom>
          <a:gradFill rotWithShape="1">
            <a:gsLst>
              <a:gs pos="0">
                <a:srgbClr val="4694D7">
                  <a:alpha val="26000"/>
                </a:srgbClr>
              </a:gs>
              <a:gs pos="100000">
                <a:srgbClr val="4694D7">
                  <a:alpha val="300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curve-3"/>
          <p:cNvSpPr/>
          <p:nvPr/>
        </p:nvSpPr>
        <p:spPr>
          <a:xfrm>
            <a:off x="1270000" y="3549586"/>
            <a:ext cx="6223000" cy="1223899"/>
          </a:xfrm>
          <a:custGeom>
            <a:avLst/>
            <a:gdLst/>
            <a:ahLst/>
            <a:cxnLst/>
            <a:rect l="0" t="0" r="r" b="b"/>
            <a:pathLst>
              <a:path w="6223000" h="1223899">
                <a:moveTo>
                  <a:pt x="0" y="1223899"/>
                </a:moveTo>
                <a:cubicBezTo>
                  <a:pt x="12954" y="1223836"/>
                  <a:pt x="51879" y="1223772"/>
                  <a:pt x="77788" y="1223709"/>
                </a:cubicBezTo>
                <a:cubicBezTo>
                  <a:pt x="103696" y="1223645"/>
                  <a:pt x="129667" y="1223518"/>
                  <a:pt x="155575" y="1223454"/>
                </a:cubicBezTo>
                <a:cubicBezTo>
                  <a:pt x="181483" y="1223391"/>
                  <a:pt x="207454" y="1223264"/>
                  <a:pt x="233362" y="1223200"/>
                </a:cubicBezTo>
                <a:cubicBezTo>
                  <a:pt x="259271" y="1223137"/>
                  <a:pt x="285242" y="1223010"/>
                  <a:pt x="311150" y="1222947"/>
                </a:cubicBezTo>
                <a:cubicBezTo>
                  <a:pt x="337058" y="1222819"/>
                  <a:pt x="363030" y="1222692"/>
                  <a:pt x="388938" y="1222629"/>
                </a:cubicBezTo>
                <a:cubicBezTo>
                  <a:pt x="414845" y="1222502"/>
                  <a:pt x="440817" y="1222375"/>
                  <a:pt x="466725" y="1222248"/>
                </a:cubicBezTo>
                <a:cubicBezTo>
                  <a:pt x="492633" y="1222121"/>
                  <a:pt x="518605" y="1221994"/>
                  <a:pt x="544512" y="1221867"/>
                </a:cubicBezTo>
                <a:cubicBezTo>
                  <a:pt x="570420" y="1221676"/>
                  <a:pt x="596392" y="1221550"/>
                  <a:pt x="622300" y="1221423"/>
                </a:cubicBezTo>
                <a:cubicBezTo>
                  <a:pt x="648208" y="1221232"/>
                  <a:pt x="674180" y="1221041"/>
                  <a:pt x="700088" y="1220914"/>
                </a:cubicBezTo>
                <a:cubicBezTo>
                  <a:pt x="725995" y="1220724"/>
                  <a:pt x="751967" y="1220534"/>
                  <a:pt x="777875" y="1220343"/>
                </a:cubicBezTo>
                <a:cubicBezTo>
                  <a:pt x="803783" y="1220152"/>
                  <a:pt x="829755" y="1219898"/>
                  <a:pt x="855662" y="1219708"/>
                </a:cubicBezTo>
                <a:cubicBezTo>
                  <a:pt x="881570" y="1219454"/>
                  <a:pt x="907542" y="1219264"/>
                  <a:pt x="933450" y="1219010"/>
                </a:cubicBezTo>
                <a:cubicBezTo>
                  <a:pt x="959358" y="1218755"/>
                  <a:pt x="985330" y="1218502"/>
                  <a:pt x="1011238" y="1218248"/>
                </a:cubicBezTo>
                <a:cubicBezTo>
                  <a:pt x="1037145" y="1217930"/>
                  <a:pt x="1063117" y="1217676"/>
                  <a:pt x="1089025" y="1217359"/>
                </a:cubicBezTo>
                <a:cubicBezTo>
                  <a:pt x="1114933" y="1217041"/>
                  <a:pt x="1140904" y="1216724"/>
                  <a:pt x="1166812" y="1216342"/>
                </a:cubicBezTo>
                <a:cubicBezTo>
                  <a:pt x="1192720" y="1216025"/>
                  <a:pt x="1218692" y="1215644"/>
                  <a:pt x="1244600" y="1215263"/>
                </a:cubicBezTo>
                <a:cubicBezTo>
                  <a:pt x="1270508" y="1214882"/>
                  <a:pt x="1296480" y="1214501"/>
                  <a:pt x="1322388" y="1214056"/>
                </a:cubicBezTo>
                <a:cubicBezTo>
                  <a:pt x="1348296" y="1213612"/>
                  <a:pt x="1374267" y="1213167"/>
                  <a:pt x="1400175" y="1212723"/>
                </a:cubicBezTo>
                <a:cubicBezTo>
                  <a:pt x="1426083" y="1212215"/>
                  <a:pt x="1452054" y="1211707"/>
                  <a:pt x="1477962" y="1211199"/>
                </a:cubicBezTo>
                <a:cubicBezTo>
                  <a:pt x="1503870" y="1210627"/>
                  <a:pt x="1529842" y="1210056"/>
                  <a:pt x="1555750" y="1209485"/>
                </a:cubicBezTo>
                <a:cubicBezTo>
                  <a:pt x="1581658" y="1208850"/>
                  <a:pt x="1607630" y="1208278"/>
                  <a:pt x="1633538" y="1207579"/>
                </a:cubicBezTo>
                <a:cubicBezTo>
                  <a:pt x="1659446" y="1206944"/>
                  <a:pt x="1685417" y="1206183"/>
                  <a:pt x="1711325" y="1205484"/>
                </a:cubicBezTo>
                <a:cubicBezTo>
                  <a:pt x="1737233" y="1204722"/>
                  <a:pt x="1763204" y="1203960"/>
                  <a:pt x="1789112" y="1203135"/>
                </a:cubicBezTo>
                <a:cubicBezTo>
                  <a:pt x="1815020" y="1202246"/>
                  <a:pt x="1840992" y="1201420"/>
                  <a:pt x="1866900" y="1200467"/>
                </a:cubicBezTo>
                <a:cubicBezTo>
                  <a:pt x="1892808" y="1199578"/>
                  <a:pt x="1918780" y="1198562"/>
                  <a:pt x="1944688" y="1197547"/>
                </a:cubicBezTo>
                <a:cubicBezTo>
                  <a:pt x="1970596" y="1196530"/>
                  <a:pt x="1996567" y="1195451"/>
                  <a:pt x="2022475" y="1194308"/>
                </a:cubicBezTo>
                <a:cubicBezTo>
                  <a:pt x="2048383" y="1193165"/>
                  <a:pt x="2074354" y="1191959"/>
                  <a:pt x="2100262" y="1190625"/>
                </a:cubicBezTo>
                <a:cubicBezTo>
                  <a:pt x="2126171" y="1189355"/>
                  <a:pt x="2152142" y="1188022"/>
                  <a:pt x="2178050" y="1186624"/>
                </a:cubicBezTo>
                <a:cubicBezTo>
                  <a:pt x="2203958" y="1185164"/>
                  <a:pt x="2229929" y="1183703"/>
                  <a:pt x="2255838" y="1182116"/>
                </a:cubicBezTo>
                <a:cubicBezTo>
                  <a:pt x="2281746" y="1180528"/>
                  <a:pt x="2307717" y="1178877"/>
                  <a:pt x="2333625" y="1177100"/>
                </a:cubicBezTo>
                <a:cubicBezTo>
                  <a:pt x="2359533" y="1175385"/>
                  <a:pt x="2385504" y="1173543"/>
                  <a:pt x="2411412" y="1171575"/>
                </a:cubicBezTo>
                <a:cubicBezTo>
                  <a:pt x="2437321" y="1169606"/>
                  <a:pt x="2463292" y="1167574"/>
                  <a:pt x="2489200" y="1165415"/>
                </a:cubicBezTo>
                <a:cubicBezTo>
                  <a:pt x="2515108" y="1163256"/>
                  <a:pt x="2541079" y="1161034"/>
                  <a:pt x="2566988" y="1158621"/>
                </a:cubicBezTo>
                <a:cubicBezTo>
                  <a:pt x="2592896" y="1156208"/>
                  <a:pt x="2618867" y="1153731"/>
                  <a:pt x="2644775" y="1151064"/>
                </a:cubicBezTo>
                <a:cubicBezTo>
                  <a:pt x="2670683" y="1148461"/>
                  <a:pt x="2696654" y="1145667"/>
                  <a:pt x="2722562" y="1142746"/>
                </a:cubicBezTo>
                <a:cubicBezTo>
                  <a:pt x="2748471" y="1139825"/>
                  <a:pt x="2774442" y="1136777"/>
                  <a:pt x="2800350" y="1133602"/>
                </a:cubicBezTo>
                <a:cubicBezTo>
                  <a:pt x="2826258" y="1130364"/>
                  <a:pt x="2852229" y="1126998"/>
                  <a:pt x="2878138" y="1123442"/>
                </a:cubicBezTo>
                <a:cubicBezTo>
                  <a:pt x="2904046" y="1119886"/>
                  <a:pt x="2930017" y="1116203"/>
                  <a:pt x="2955925" y="1112329"/>
                </a:cubicBezTo>
                <a:cubicBezTo>
                  <a:pt x="2981833" y="1108392"/>
                  <a:pt x="3007804" y="1104328"/>
                  <a:pt x="3033712" y="1100074"/>
                </a:cubicBezTo>
                <a:cubicBezTo>
                  <a:pt x="3059621" y="1095819"/>
                  <a:pt x="3085592" y="1091374"/>
                  <a:pt x="3111500" y="1086676"/>
                </a:cubicBezTo>
                <a:cubicBezTo>
                  <a:pt x="3137408" y="1081976"/>
                  <a:pt x="3163379" y="1077150"/>
                  <a:pt x="3189288" y="1072007"/>
                </a:cubicBezTo>
                <a:cubicBezTo>
                  <a:pt x="3215196" y="1066927"/>
                  <a:pt x="3241167" y="1061593"/>
                  <a:pt x="3267075" y="1056068"/>
                </a:cubicBezTo>
                <a:cubicBezTo>
                  <a:pt x="3292983" y="1050480"/>
                  <a:pt x="3318954" y="1044702"/>
                  <a:pt x="3344862" y="1038669"/>
                </a:cubicBezTo>
                <a:cubicBezTo>
                  <a:pt x="3370771" y="1032637"/>
                  <a:pt x="3396742" y="1026350"/>
                  <a:pt x="3422650" y="1019810"/>
                </a:cubicBezTo>
                <a:cubicBezTo>
                  <a:pt x="3448558" y="1013269"/>
                  <a:pt x="3474529" y="1006475"/>
                  <a:pt x="3500438" y="999426"/>
                </a:cubicBezTo>
                <a:cubicBezTo>
                  <a:pt x="3526346" y="992378"/>
                  <a:pt x="3552317" y="985076"/>
                  <a:pt x="3578225" y="977455"/>
                </a:cubicBezTo>
                <a:cubicBezTo>
                  <a:pt x="3604133" y="969899"/>
                  <a:pt x="3630104" y="962025"/>
                  <a:pt x="3656012" y="953897"/>
                </a:cubicBezTo>
                <a:cubicBezTo>
                  <a:pt x="3681921" y="945769"/>
                  <a:pt x="3707892" y="937387"/>
                  <a:pt x="3733800" y="928688"/>
                </a:cubicBezTo>
                <a:cubicBezTo>
                  <a:pt x="3759708" y="920051"/>
                  <a:pt x="3785679" y="911098"/>
                  <a:pt x="3811588" y="901890"/>
                </a:cubicBezTo>
                <a:cubicBezTo>
                  <a:pt x="3837496" y="892619"/>
                  <a:pt x="3863467" y="883158"/>
                  <a:pt x="3889375" y="873442"/>
                </a:cubicBezTo>
                <a:cubicBezTo>
                  <a:pt x="3915283" y="863664"/>
                  <a:pt x="3941254" y="853630"/>
                  <a:pt x="3967162" y="843407"/>
                </a:cubicBezTo>
                <a:cubicBezTo>
                  <a:pt x="3993071" y="833184"/>
                  <a:pt x="4019042" y="822642"/>
                  <a:pt x="4044950" y="811911"/>
                </a:cubicBezTo>
                <a:cubicBezTo>
                  <a:pt x="4070858" y="801179"/>
                  <a:pt x="4096829" y="790194"/>
                  <a:pt x="4122738" y="779018"/>
                </a:cubicBezTo>
                <a:cubicBezTo>
                  <a:pt x="4148646" y="767842"/>
                  <a:pt x="4174617" y="756412"/>
                  <a:pt x="4200525" y="744855"/>
                </a:cubicBezTo>
                <a:cubicBezTo>
                  <a:pt x="4226433" y="733298"/>
                  <a:pt x="4252404" y="721550"/>
                  <a:pt x="4278312" y="709612"/>
                </a:cubicBezTo>
                <a:cubicBezTo>
                  <a:pt x="4304220" y="697738"/>
                  <a:pt x="4330192" y="685610"/>
                  <a:pt x="4356100" y="673417"/>
                </a:cubicBezTo>
                <a:cubicBezTo>
                  <a:pt x="4382008" y="661226"/>
                  <a:pt x="4407980" y="648906"/>
                  <a:pt x="4433888" y="636524"/>
                </a:cubicBezTo>
                <a:cubicBezTo>
                  <a:pt x="4459796" y="624078"/>
                  <a:pt x="4485767" y="611568"/>
                  <a:pt x="4511675" y="599059"/>
                </a:cubicBezTo>
                <a:cubicBezTo>
                  <a:pt x="4537583" y="586550"/>
                  <a:pt x="4563554" y="573913"/>
                  <a:pt x="4589462" y="561340"/>
                </a:cubicBezTo>
                <a:cubicBezTo>
                  <a:pt x="4615370" y="548767"/>
                  <a:pt x="4641342" y="536130"/>
                  <a:pt x="4667250" y="523558"/>
                </a:cubicBezTo>
                <a:cubicBezTo>
                  <a:pt x="4693158" y="510985"/>
                  <a:pt x="4719130" y="498475"/>
                  <a:pt x="4745038" y="485965"/>
                </a:cubicBezTo>
                <a:cubicBezTo>
                  <a:pt x="4770946" y="473519"/>
                  <a:pt x="4796917" y="461137"/>
                  <a:pt x="4822825" y="448818"/>
                </a:cubicBezTo>
                <a:cubicBezTo>
                  <a:pt x="4848733" y="436562"/>
                  <a:pt x="4874704" y="424371"/>
                  <a:pt x="4900612" y="412305"/>
                </a:cubicBezTo>
                <a:cubicBezTo>
                  <a:pt x="4926520" y="400304"/>
                  <a:pt x="4952492" y="388366"/>
                  <a:pt x="4978400" y="376682"/>
                </a:cubicBezTo>
                <a:cubicBezTo>
                  <a:pt x="5004308" y="364935"/>
                  <a:pt x="5030280" y="353377"/>
                  <a:pt x="5056188" y="342074"/>
                </a:cubicBezTo>
                <a:cubicBezTo>
                  <a:pt x="5082096" y="330708"/>
                  <a:pt x="5108067" y="319532"/>
                  <a:pt x="5133975" y="308674"/>
                </a:cubicBezTo>
                <a:cubicBezTo>
                  <a:pt x="5159883" y="297751"/>
                  <a:pt x="5185854" y="287020"/>
                  <a:pt x="5211762" y="276606"/>
                </a:cubicBezTo>
                <a:cubicBezTo>
                  <a:pt x="5237670" y="266128"/>
                  <a:pt x="5263642" y="255905"/>
                  <a:pt x="5289550" y="245936"/>
                </a:cubicBezTo>
                <a:cubicBezTo>
                  <a:pt x="5315458" y="236029"/>
                  <a:pt x="5341430" y="226314"/>
                  <a:pt x="5367338" y="216916"/>
                </a:cubicBezTo>
                <a:cubicBezTo>
                  <a:pt x="5393246" y="207454"/>
                  <a:pt x="5419217" y="198311"/>
                  <a:pt x="5445125" y="189421"/>
                </a:cubicBezTo>
                <a:cubicBezTo>
                  <a:pt x="5471033" y="180530"/>
                  <a:pt x="5497004" y="171894"/>
                  <a:pt x="5522912" y="163576"/>
                </a:cubicBezTo>
                <a:cubicBezTo>
                  <a:pt x="5548820" y="155194"/>
                  <a:pt x="5574792" y="147129"/>
                  <a:pt x="5600700" y="139319"/>
                </a:cubicBezTo>
                <a:cubicBezTo>
                  <a:pt x="5626608" y="131509"/>
                  <a:pt x="5652580" y="124015"/>
                  <a:pt x="5678488" y="116713"/>
                </a:cubicBezTo>
                <a:cubicBezTo>
                  <a:pt x="5704396" y="109474"/>
                  <a:pt x="5730367" y="102489"/>
                  <a:pt x="5756275" y="95694"/>
                </a:cubicBezTo>
                <a:cubicBezTo>
                  <a:pt x="5782183" y="88963"/>
                  <a:pt x="5808154" y="82487"/>
                  <a:pt x="5834062" y="76263"/>
                </a:cubicBezTo>
                <a:cubicBezTo>
                  <a:pt x="5859970" y="70040"/>
                  <a:pt x="5885942" y="64072"/>
                  <a:pt x="5911850" y="58293"/>
                </a:cubicBezTo>
                <a:cubicBezTo>
                  <a:pt x="5937758" y="52578"/>
                  <a:pt x="5963730" y="47053"/>
                  <a:pt x="5989638" y="41783"/>
                </a:cubicBezTo>
                <a:cubicBezTo>
                  <a:pt x="6015546" y="36512"/>
                  <a:pt x="6041517" y="31433"/>
                  <a:pt x="6067425" y="26606"/>
                </a:cubicBezTo>
                <a:cubicBezTo>
                  <a:pt x="6093333" y="21780"/>
                  <a:pt x="6119304" y="17145"/>
                  <a:pt x="6145212" y="12700"/>
                </a:cubicBezTo>
                <a:cubicBezTo>
                  <a:pt x="6171120" y="8255"/>
                  <a:pt x="6210046" y="2159"/>
                  <a:pt x="6223000" y="0"/>
                </a:cubicBezTo>
              </a:path>
            </a:pathLst>
          </a:custGeom>
          <a:noFill/>
          <a:ln w="2286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ctag-3"/>
          <p:cNvSpPr/>
          <p:nvPr/>
        </p:nvSpPr>
        <p:spPr>
          <a:xfrm>
            <a:off x="7150100" y="3155886"/>
            <a:ext cx="685800" cy="254000"/>
          </a:xfrm>
          <a:custGeom>
            <a:avLst/>
            <a:gdLst/>
            <a:ahLst/>
            <a:cxnLst/>
            <a:rect l="0" t="0" r="r" b="b"/>
            <a:pathLst>
              <a:path w="685800" h="254000">
                <a:moveTo>
                  <a:pt x="127000" y="0"/>
                </a:moveTo>
                <a:lnTo>
                  <a:pt x="558800" y="0"/>
                </a:lnTo>
                <a:cubicBezTo>
                  <a:pt x="628967" y="0"/>
                  <a:pt x="685800" y="56896"/>
                  <a:pt x="685800" y="127000"/>
                </a:cubicBezTo>
                <a:lnTo>
                  <a:pt x="685800" y="127000"/>
                </a:lnTo>
                <a:cubicBezTo>
                  <a:pt x="685800" y="197167"/>
                  <a:pt x="628967" y="254000"/>
                  <a:pt x="558800" y="254000"/>
                </a:cubicBezTo>
                <a:lnTo>
                  <a:pt x="127000" y="254000"/>
                </a:lnTo>
                <a:cubicBezTo>
                  <a:pt x="56833" y="254000"/>
                  <a:pt x="0" y="197167"/>
                  <a:pt x="0" y="127000"/>
                </a:cubicBezTo>
                <a:lnTo>
                  <a:pt x="0" y="127000"/>
                </a:lnTo>
                <a:cubicBezTo>
                  <a:pt x="0" y="56896"/>
                  <a:pt x="56833" y="0"/>
                  <a:pt x="1270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ctagt-3"/>
          <p:cNvSpPr txBox="1"/>
          <p:nvPr/>
        </p:nvSpPr>
        <p:spPr>
          <a:xfrm>
            <a:off x="7358380" y="3170504"/>
            <a:ext cx="2692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50">
                <a:solidFill>
                  <a:srgbClr val="FFFFFF"/>
                </a:solidFill>
                <a:latin typeface="Arial"/>
                <a:ea typeface="Arial"/>
                <a:cs typeface="Arial"/>
              </a:rPr>
              <a:t>H3</a:t>
            </a:r>
          </a:p>
        </p:txBody>
      </p:sp>
      <p:sp>
        <p:nvSpPr>
          <p:cNvPr id="31" name="hc-1"/>
          <p:cNvSpPr/>
          <p:nvPr/>
        </p:nvSpPr>
        <p:spPr>
          <a:xfrm>
            <a:off x="7937500" y="1587500"/>
            <a:ext cx="3302000" cy="1371600"/>
          </a:xfrm>
          <a:custGeom>
            <a:avLst/>
            <a:gdLst/>
            <a:ahLst/>
            <a:cxnLst/>
            <a:rect l="0" t="0" r="r" b="b"/>
            <a:pathLst>
              <a:path w="3302000" h="1371600">
                <a:moveTo>
                  <a:pt x="127000" y="0"/>
                </a:moveTo>
                <a:lnTo>
                  <a:pt x="3175000" y="0"/>
                </a:lnTo>
                <a:cubicBezTo>
                  <a:pt x="3245167" y="0"/>
                  <a:pt x="3302000" y="56832"/>
                  <a:pt x="3302000" y="127000"/>
                </a:cubicBezTo>
                <a:lnTo>
                  <a:pt x="3302000" y="1244600"/>
                </a:lnTo>
                <a:cubicBezTo>
                  <a:pt x="3302000" y="1314768"/>
                  <a:pt x="3245167" y="1371600"/>
                  <a:pt x="3175000" y="1371600"/>
                </a:cubicBezTo>
                <a:lnTo>
                  <a:pt x="127000" y="1371600"/>
                </a:lnTo>
                <a:cubicBezTo>
                  <a:pt x="56833" y="1371600"/>
                  <a:pt x="0" y="1314768"/>
                  <a:pt x="0" y="12446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hcc-1"/>
          <p:cNvSpPr/>
          <p:nvPr/>
        </p:nvSpPr>
        <p:spPr>
          <a:xfrm>
            <a:off x="7937500" y="1587500"/>
            <a:ext cx="3302000" cy="44450"/>
          </a:xfrm>
          <a:custGeom>
            <a:avLst/>
            <a:gdLst/>
            <a:ahLst/>
            <a:cxnLst/>
            <a:rect l="0" t="0" r="r" b="b"/>
            <a:pathLst>
              <a:path w="3302000" h="44450">
                <a:moveTo>
                  <a:pt x="22225" y="0"/>
                </a:moveTo>
                <a:lnTo>
                  <a:pt x="3279775" y="0"/>
                </a:lnTo>
                <a:cubicBezTo>
                  <a:pt x="3292031" y="0"/>
                  <a:pt x="3302000" y="9969"/>
                  <a:pt x="3302000" y="22225"/>
                </a:cubicBezTo>
                <a:lnTo>
                  <a:pt x="3302000" y="22225"/>
                </a:lnTo>
                <a:cubicBezTo>
                  <a:pt x="3302000" y="34481"/>
                  <a:pt x="3292031" y="44450"/>
                  <a:pt x="3279775" y="44450"/>
                </a:cubicBezTo>
                <a:lnTo>
                  <a:pt x="22225" y="44450"/>
                </a:lnTo>
                <a:cubicBezTo>
                  <a:pt x="9969" y="44450"/>
                  <a:pt x="0" y="34481"/>
                  <a:pt x="0" y="22225"/>
                </a:cubicBezTo>
                <a:lnTo>
                  <a:pt x="0" y="22225"/>
                </a:lnTo>
                <a:cubicBezTo>
                  <a:pt x="0" y="9969"/>
                  <a:pt x="9969" y="0"/>
                  <a:pt x="2222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hcb-1"/>
          <p:cNvSpPr/>
          <p:nvPr/>
        </p:nvSpPr>
        <p:spPr>
          <a:xfrm>
            <a:off x="8128000" y="1790700"/>
            <a:ext cx="330200" cy="330200"/>
          </a:xfrm>
          <a:prstGeom prst="ellipse">
            <a:avLst/>
          </a:pr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hcid-1"/>
          <p:cNvSpPr txBox="1"/>
          <p:nvPr/>
        </p:nvSpPr>
        <p:spPr>
          <a:xfrm>
            <a:off x="8161020" y="1849755"/>
            <a:ext cx="26416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30">
                <a:solidFill>
                  <a:srgbClr val="0B3E8F"/>
                </a:solidFill>
                <a:latin typeface="Arial"/>
                <a:ea typeface="Arial"/>
                <a:cs typeface="Arial"/>
              </a:rPr>
              <a:t>H1</a:t>
            </a:r>
          </a:p>
        </p:txBody>
      </p:sp>
      <p:sp>
        <p:nvSpPr>
          <p:cNvPr id="35" name="icon-coin"/>
          <p:cNvSpPr/>
          <p:nvPr/>
        </p:nvSpPr>
        <p:spPr>
          <a:xfrm>
            <a:off x="8630094" y="1866456"/>
            <a:ext cx="88011" cy="77089"/>
          </a:xfrm>
          <a:custGeom>
            <a:avLst/>
            <a:gdLst/>
            <a:ahLst/>
            <a:cxnLst/>
            <a:rect l="0" t="0" r="r" b="b"/>
            <a:pathLst>
              <a:path w="88011" h="77089">
                <a:moveTo>
                  <a:pt x="44006" y="0"/>
                </a:moveTo>
                <a:cubicBezTo>
                  <a:pt x="19240" y="0"/>
                  <a:pt x="0" y="6921"/>
                  <a:pt x="0" y="16510"/>
                </a:cubicBezTo>
                <a:cubicBezTo>
                  <a:pt x="0" y="26162"/>
                  <a:pt x="19240" y="33020"/>
                  <a:pt x="44006" y="33020"/>
                </a:cubicBezTo>
                <a:cubicBezTo>
                  <a:pt x="68771" y="33020"/>
                  <a:pt x="88011" y="26162"/>
                  <a:pt x="88011" y="16510"/>
                </a:cubicBezTo>
                <a:cubicBezTo>
                  <a:pt x="88011" y="6921"/>
                  <a:pt x="68771" y="0"/>
                  <a:pt x="44006" y="0"/>
                </a:cubicBezTo>
                <a:close/>
                <a:moveTo>
                  <a:pt x="0" y="16510"/>
                </a:moveTo>
                <a:lnTo>
                  <a:pt x="0" y="60579"/>
                </a:lnTo>
                <a:cubicBezTo>
                  <a:pt x="0" y="70168"/>
                  <a:pt x="19240" y="77089"/>
                  <a:pt x="44006" y="77089"/>
                </a:cubicBezTo>
                <a:cubicBezTo>
                  <a:pt x="68771" y="77089"/>
                  <a:pt x="88011" y="70168"/>
                  <a:pt x="88011" y="60579"/>
                </a:cubicBezTo>
                <a:lnTo>
                  <a:pt x="88011" y="16510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hcn-1"/>
          <p:cNvSpPr txBox="1"/>
          <p:nvPr/>
        </p:nvSpPr>
        <p:spPr>
          <a:xfrm>
            <a:off x="8859774" y="1775428"/>
            <a:ext cx="7664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核心业务</a:t>
            </a:r>
          </a:p>
        </p:txBody>
      </p:sp>
      <p:sp>
        <p:nvSpPr>
          <p:cNvPr id="37" name="hcp-1"/>
          <p:cNvSpPr txBox="1"/>
          <p:nvPr/>
        </p:nvSpPr>
        <p:spPr>
          <a:xfrm>
            <a:off x="8660765" y="20217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守住现金流与利润</a:t>
            </a:r>
          </a:p>
        </p:txBody>
      </p:sp>
      <p:sp>
        <p:nvSpPr>
          <p:cNvPr id="38" name="hcr-1"/>
          <p:cNvSpPr/>
          <p:nvPr/>
        </p:nvSpPr>
        <p:spPr>
          <a:xfrm>
            <a:off x="10477500" y="1778000"/>
            <a:ext cx="609600" cy="393700"/>
          </a:xfrm>
          <a:custGeom>
            <a:avLst/>
            <a:gdLst/>
            <a:ahLst/>
            <a:cxnLst/>
            <a:rect l="0" t="0" r="r" b="b"/>
            <a:pathLst>
              <a:path w="609600" h="393700">
                <a:moveTo>
                  <a:pt x="88900" y="0"/>
                </a:moveTo>
                <a:lnTo>
                  <a:pt x="520700" y="0"/>
                </a:lnTo>
                <a:cubicBezTo>
                  <a:pt x="569786" y="0"/>
                  <a:pt x="609600" y="39814"/>
                  <a:pt x="609600" y="88900"/>
                </a:cubicBezTo>
                <a:lnTo>
                  <a:pt x="609600" y="304800"/>
                </a:lnTo>
                <a:cubicBezTo>
                  <a:pt x="609600" y="353886"/>
                  <a:pt x="569786" y="393700"/>
                  <a:pt x="520700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hcrv-1"/>
          <p:cNvSpPr txBox="1"/>
          <p:nvPr/>
        </p:nvSpPr>
        <p:spPr>
          <a:xfrm>
            <a:off x="10581894" y="1805686"/>
            <a:ext cx="400812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20">
                <a:solidFill>
                  <a:srgbClr val="0B3E8F"/>
                </a:solidFill>
                <a:latin typeface="Arial"/>
                <a:ea typeface="Arial"/>
                <a:cs typeface="Arial"/>
              </a:rPr>
              <a:t>80%</a:t>
            </a:r>
          </a:p>
        </p:txBody>
      </p:sp>
      <p:sp>
        <p:nvSpPr>
          <p:cNvPr id="40" name="hcrl-1"/>
          <p:cNvSpPr txBox="1"/>
          <p:nvPr/>
        </p:nvSpPr>
        <p:spPr>
          <a:xfrm>
            <a:off x="10559415" y="2011108"/>
            <a:ext cx="4457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资源占比</a:t>
            </a:r>
          </a:p>
        </p:txBody>
      </p:sp>
      <p:sp>
        <p:nvSpPr>
          <p:cNvPr id="41" name="hcd-1-1"/>
          <p:cNvSpPr/>
          <p:nvPr/>
        </p:nvSpPr>
        <p:spPr>
          <a:xfrm>
            <a:off x="8144510" y="2334260"/>
            <a:ext cx="43180" cy="43180"/>
          </a:xfrm>
          <a:prstGeom prst="ellipse">
            <a:avLst/>
          </a:prstGeom>
          <a:solidFill>
            <a:srgbClr val="0B3E8F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hci-1-1"/>
          <p:cNvSpPr txBox="1"/>
          <p:nvPr/>
        </p:nvSpPr>
        <p:spPr>
          <a:xfrm>
            <a:off x="8268589" y="2266045"/>
            <a:ext cx="49244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智能装备</a:t>
            </a:r>
          </a:p>
        </p:txBody>
      </p:sp>
      <p:sp>
        <p:nvSpPr>
          <p:cNvPr id="43" name="hct-1-1"/>
          <p:cNvSpPr txBox="1"/>
          <p:nvPr/>
        </p:nvSpPr>
        <p:spPr>
          <a:xfrm>
            <a:off x="10481374" y="2273887"/>
            <a:ext cx="578676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占营收 62%</a:t>
            </a:r>
          </a:p>
        </p:txBody>
      </p:sp>
      <p:sp>
        <p:nvSpPr>
          <p:cNvPr id="44" name="hcd-1-2"/>
          <p:cNvSpPr/>
          <p:nvPr/>
        </p:nvSpPr>
        <p:spPr>
          <a:xfrm>
            <a:off x="8144510" y="2524760"/>
            <a:ext cx="43180" cy="43180"/>
          </a:xfrm>
          <a:prstGeom prst="ellipse">
            <a:avLst/>
          </a:prstGeom>
          <a:solidFill>
            <a:srgbClr val="0B3E8F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hci-1-2"/>
          <p:cNvSpPr txBox="1"/>
          <p:nvPr/>
        </p:nvSpPr>
        <p:spPr>
          <a:xfrm>
            <a:off x="8268589" y="2456545"/>
            <a:ext cx="49244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配件耗材</a:t>
            </a:r>
          </a:p>
        </p:txBody>
      </p:sp>
      <p:sp>
        <p:nvSpPr>
          <p:cNvPr id="46" name="hct-1-2"/>
          <p:cNvSpPr txBox="1"/>
          <p:nvPr/>
        </p:nvSpPr>
        <p:spPr>
          <a:xfrm>
            <a:off x="10601262" y="2464387"/>
            <a:ext cx="458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毛利稳定</a:t>
            </a:r>
          </a:p>
        </p:txBody>
      </p:sp>
      <p:sp>
        <p:nvSpPr>
          <p:cNvPr id="47" name="hcd-1-3"/>
          <p:cNvSpPr/>
          <p:nvPr/>
        </p:nvSpPr>
        <p:spPr>
          <a:xfrm>
            <a:off x="8144510" y="2715260"/>
            <a:ext cx="43180" cy="43180"/>
          </a:xfrm>
          <a:prstGeom prst="ellipse">
            <a:avLst/>
          </a:prstGeom>
          <a:solidFill>
            <a:srgbClr val="0B3E8F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hci-1-3"/>
          <p:cNvSpPr txBox="1"/>
          <p:nvPr/>
        </p:nvSpPr>
        <p:spPr>
          <a:xfrm>
            <a:off x="8268589" y="2647045"/>
            <a:ext cx="69437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存量客户维护</a:t>
            </a:r>
          </a:p>
        </p:txBody>
      </p:sp>
      <p:sp>
        <p:nvSpPr>
          <p:cNvPr id="49" name="hct-1-3"/>
          <p:cNvSpPr txBox="1"/>
          <p:nvPr/>
        </p:nvSpPr>
        <p:spPr>
          <a:xfrm>
            <a:off x="10481374" y="2654887"/>
            <a:ext cx="578676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续约率 96%</a:t>
            </a:r>
          </a:p>
        </p:txBody>
      </p:sp>
      <p:sp>
        <p:nvSpPr>
          <p:cNvPr id="50" name="hc-2"/>
          <p:cNvSpPr/>
          <p:nvPr/>
        </p:nvSpPr>
        <p:spPr>
          <a:xfrm>
            <a:off x="7937500" y="3086100"/>
            <a:ext cx="3302000" cy="1371600"/>
          </a:xfrm>
          <a:custGeom>
            <a:avLst/>
            <a:gdLst/>
            <a:ahLst/>
            <a:cxnLst/>
            <a:rect l="0" t="0" r="r" b="b"/>
            <a:pathLst>
              <a:path w="3302000" h="1371600">
                <a:moveTo>
                  <a:pt x="127000" y="0"/>
                </a:moveTo>
                <a:lnTo>
                  <a:pt x="3175000" y="0"/>
                </a:lnTo>
                <a:cubicBezTo>
                  <a:pt x="3245167" y="0"/>
                  <a:pt x="3302000" y="56832"/>
                  <a:pt x="3302000" y="127000"/>
                </a:cubicBezTo>
                <a:lnTo>
                  <a:pt x="3302000" y="1244600"/>
                </a:lnTo>
                <a:cubicBezTo>
                  <a:pt x="3302000" y="1314767"/>
                  <a:pt x="3245167" y="1371600"/>
                  <a:pt x="3175000" y="1371600"/>
                </a:cubicBezTo>
                <a:lnTo>
                  <a:pt x="127000" y="1371600"/>
                </a:lnTo>
                <a:cubicBezTo>
                  <a:pt x="56833" y="1371600"/>
                  <a:pt x="0" y="1314767"/>
                  <a:pt x="0" y="12446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hcc-2"/>
          <p:cNvSpPr/>
          <p:nvPr/>
        </p:nvSpPr>
        <p:spPr>
          <a:xfrm>
            <a:off x="7937500" y="3086100"/>
            <a:ext cx="3302000" cy="44450"/>
          </a:xfrm>
          <a:custGeom>
            <a:avLst/>
            <a:gdLst/>
            <a:ahLst/>
            <a:cxnLst/>
            <a:rect l="0" t="0" r="r" b="b"/>
            <a:pathLst>
              <a:path w="3302000" h="44450">
                <a:moveTo>
                  <a:pt x="22225" y="0"/>
                </a:moveTo>
                <a:lnTo>
                  <a:pt x="3279775" y="0"/>
                </a:lnTo>
                <a:cubicBezTo>
                  <a:pt x="3292031" y="0"/>
                  <a:pt x="3302000" y="9969"/>
                  <a:pt x="3302000" y="22225"/>
                </a:cubicBezTo>
                <a:lnTo>
                  <a:pt x="3302000" y="22225"/>
                </a:lnTo>
                <a:cubicBezTo>
                  <a:pt x="3302000" y="34481"/>
                  <a:pt x="3292031" y="44450"/>
                  <a:pt x="3279775" y="44450"/>
                </a:cubicBezTo>
                <a:lnTo>
                  <a:pt x="22225" y="44450"/>
                </a:lnTo>
                <a:cubicBezTo>
                  <a:pt x="9969" y="44450"/>
                  <a:pt x="0" y="34481"/>
                  <a:pt x="0" y="22225"/>
                </a:cubicBezTo>
                <a:lnTo>
                  <a:pt x="0" y="22225"/>
                </a:lnTo>
                <a:cubicBezTo>
                  <a:pt x="0" y="9969"/>
                  <a:pt x="9969" y="0"/>
                  <a:pt x="22225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hcb-2"/>
          <p:cNvSpPr/>
          <p:nvPr/>
        </p:nvSpPr>
        <p:spPr>
          <a:xfrm>
            <a:off x="8128000" y="3289300"/>
            <a:ext cx="330200" cy="330200"/>
          </a:xfrm>
          <a:prstGeom prst="ellipse">
            <a:avLst/>
          </a:prstGeom>
          <a:solidFill>
            <a:srgbClr val="2468B6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hcid-2"/>
          <p:cNvSpPr txBox="1"/>
          <p:nvPr/>
        </p:nvSpPr>
        <p:spPr>
          <a:xfrm>
            <a:off x="8161020" y="3348355"/>
            <a:ext cx="26416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30">
                <a:solidFill>
                  <a:srgbClr val="2468B6"/>
                </a:solidFill>
                <a:latin typeface="Arial"/>
                <a:ea typeface="Arial"/>
                <a:cs typeface="Arial"/>
              </a:rPr>
              <a:t>H2</a:t>
            </a:r>
          </a:p>
        </p:txBody>
      </p:sp>
      <p:sp>
        <p:nvSpPr>
          <p:cNvPr id="54" name="icon-grow"/>
          <p:cNvSpPr/>
          <p:nvPr/>
        </p:nvSpPr>
        <p:spPr>
          <a:xfrm>
            <a:off x="8616315" y="3377438"/>
            <a:ext cx="103188" cy="64707"/>
          </a:xfrm>
          <a:custGeom>
            <a:avLst/>
            <a:gdLst/>
            <a:ahLst/>
            <a:cxnLst/>
            <a:rect l="0" t="0" r="r" b="b"/>
            <a:pathLst>
              <a:path w="103188" h="64707">
                <a:moveTo>
                  <a:pt x="0" y="64707"/>
                </a:moveTo>
                <a:lnTo>
                  <a:pt x="34417" y="27559"/>
                </a:lnTo>
                <a:lnTo>
                  <a:pt x="59182" y="48197"/>
                </a:lnTo>
                <a:lnTo>
                  <a:pt x="100457" y="0"/>
                </a:lnTo>
                <a:moveTo>
                  <a:pt x="83947" y="0"/>
                </a:moveTo>
                <a:lnTo>
                  <a:pt x="103188" y="0"/>
                </a:lnTo>
                <a:lnTo>
                  <a:pt x="103188" y="19304"/>
                </a:lnTo>
              </a:path>
            </a:pathLst>
          </a:cu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hcn-2"/>
          <p:cNvSpPr txBox="1"/>
          <p:nvPr/>
        </p:nvSpPr>
        <p:spPr>
          <a:xfrm>
            <a:off x="8859774" y="3274028"/>
            <a:ext cx="7664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新兴业务</a:t>
            </a:r>
          </a:p>
        </p:txBody>
      </p:sp>
      <p:sp>
        <p:nvSpPr>
          <p:cNvPr id="56" name="hcp-2"/>
          <p:cNvSpPr txBox="1"/>
          <p:nvPr/>
        </p:nvSpPr>
        <p:spPr>
          <a:xfrm>
            <a:off x="8660765" y="35203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把第二曲线做成规模</a:t>
            </a:r>
          </a:p>
        </p:txBody>
      </p:sp>
      <p:sp>
        <p:nvSpPr>
          <p:cNvPr id="57" name="hcr-2"/>
          <p:cNvSpPr/>
          <p:nvPr/>
        </p:nvSpPr>
        <p:spPr>
          <a:xfrm>
            <a:off x="10477500" y="3276600"/>
            <a:ext cx="609600" cy="393700"/>
          </a:xfrm>
          <a:custGeom>
            <a:avLst/>
            <a:gdLst/>
            <a:ahLst/>
            <a:cxnLst/>
            <a:rect l="0" t="0" r="r" b="b"/>
            <a:pathLst>
              <a:path w="609600" h="393700">
                <a:moveTo>
                  <a:pt x="88900" y="0"/>
                </a:moveTo>
                <a:lnTo>
                  <a:pt x="520700" y="0"/>
                </a:lnTo>
                <a:cubicBezTo>
                  <a:pt x="569786" y="0"/>
                  <a:pt x="609600" y="39814"/>
                  <a:pt x="609600" y="88900"/>
                </a:cubicBezTo>
                <a:lnTo>
                  <a:pt x="609600" y="304800"/>
                </a:lnTo>
                <a:cubicBezTo>
                  <a:pt x="609600" y="353886"/>
                  <a:pt x="569786" y="393700"/>
                  <a:pt x="520700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2468B6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hcrv-2"/>
          <p:cNvSpPr txBox="1"/>
          <p:nvPr/>
        </p:nvSpPr>
        <p:spPr>
          <a:xfrm>
            <a:off x="10581894" y="3304286"/>
            <a:ext cx="400812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20">
                <a:solidFill>
                  <a:srgbClr val="2468B6"/>
                </a:solidFill>
                <a:latin typeface="Arial"/>
                <a:ea typeface="Arial"/>
                <a:cs typeface="Arial"/>
              </a:rPr>
              <a:t>15%</a:t>
            </a:r>
          </a:p>
        </p:txBody>
      </p:sp>
      <p:sp>
        <p:nvSpPr>
          <p:cNvPr id="59" name="hcrl-2"/>
          <p:cNvSpPr txBox="1"/>
          <p:nvPr/>
        </p:nvSpPr>
        <p:spPr>
          <a:xfrm>
            <a:off x="10559415" y="3509708"/>
            <a:ext cx="4457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资源占比</a:t>
            </a:r>
          </a:p>
        </p:txBody>
      </p:sp>
      <p:sp>
        <p:nvSpPr>
          <p:cNvPr id="60" name="hcd-2-1"/>
          <p:cNvSpPr/>
          <p:nvPr/>
        </p:nvSpPr>
        <p:spPr>
          <a:xfrm>
            <a:off x="8144510" y="3832860"/>
            <a:ext cx="43180" cy="43180"/>
          </a:xfrm>
          <a:prstGeom prst="ellipse">
            <a:avLst/>
          </a:prstGeom>
          <a:solidFill>
            <a:srgbClr val="2468B6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hci-2-1"/>
          <p:cNvSpPr txBox="1"/>
          <p:nvPr/>
        </p:nvSpPr>
        <p:spPr>
          <a:xfrm>
            <a:off x="8268589" y="3764645"/>
            <a:ext cx="49244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软件订阅</a:t>
            </a:r>
          </a:p>
        </p:txBody>
      </p:sp>
      <p:sp>
        <p:nvSpPr>
          <p:cNvPr id="62" name="hct-2-1"/>
          <p:cNvSpPr txBox="1"/>
          <p:nvPr/>
        </p:nvSpPr>
        <p:spPr>
          <a:xfrm>
            <a:off x="10521886" y="3772487"/>
            <a:ext cx="53816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年增 115%</a:t>
            </a:r>
          </a:p>
        </p:txBody>
      </p:sp>
      <p:sp>
        <p:nvSpPr>
          <p:cNvPr id="63" name="hcd-2-2"/>
          <p:cNvSpPr/>
          <p:nvPr/>
        </p:nvSpPr>
        <p:spPr>
          <a:xfrm>
            <a:off x="8144510" y="4023360"/>
            <a:ext cx="43180" cy="43180"/>
          </a:xfrm>
          <a:prstGeom prst="ellipse">
            <a:avLst/>
          </a:prstGeom>
          <a:solidFill>
            <a:srgbClr val="2468B6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hci-2-2"/>
          <p:cNvSpPr txBox="1"/>
          <p:nvPr/>
        </p:nvSpPr>
        <p:spPr>
          <a:xfrm>
            <a:off x="8268589" y="3955145"/>
            <a:ext cx="49244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运维服务</a:t>
            </a:r>
          </a:p>
        </p:txBody>
      </p:sp>
      <p:sp>
        <p:nvSpPr>
          <p:cNvPr id="65" name="hct-2-2"/>
          <p:cNvSpPr txBox="1"/>
          <p:nvPr/>
        </p:nvSpPr>
        <p:spPr>
          <a:xfrm>
            <a:off x="10333926" y="3962987"/>
            <a:ext cx="72612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覆盖 38% 客户</a:t>
            </a:r>
          </a:p>
        </p:txBody>
      </p:sp>
      <p:sp>
        <p:nvSpPr>
          <p:cNvPr id="66" name="hcd-2-3"/>
          <p:cNvSpPr/>
          <p:nvPr/>
        </p:nvSpPr>
        <p:spPr>
          <a:xfrm>
            <a:off x="8144510" y="4213860"/>
            <a:ext cx="43180" cy="43180"/>
          </a:xfrm>
          <a:prstGeom prst="ellipse">
            <a:avLst/>
          </a:prstGeom>
          <a:solidFill>
            <a:srgbClr val="2468B6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hci-2-3"/>
          <p:cNvSpPr txBox="1"/>
          <p:nvPr/>
        </p:nvSpPr>
        <p:spPr>
          <a:xfrm>
            <a:off x="8268589" y="4145645"/>
            <a:ext cx="49244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渠道生态</a:t>
            </a:r>
          </a:p>
        </p:txBody>
      </p:sp>
      <p:sp>
        <p:nvSpPr>
          <p:cNvPr id="68" name="hct-2-3"/>
          <p:cNvSpPr txBox="1"/>
          <p:nvPr/>
        </p:nvSpPr>
        <p:spPr>
          <a:xfrm>
            <a:off x="10427906" y="4153487"/>
            <a:ext cx="63214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伙伴 460 家</a:t>
            </a:r>
          </a:p>
        </p:txBody>
      </p:sp>
      <p:sp>
        <p:nvSpPr>
          <p:cNvPr id="69" name="hc-3"/>
          <p:cNvSpPr/>
          <p:nvPr/>
        </p:nvSpPr>
        <p:spPr>
          <a:xfrm>
            <a:off x="7937500" y="4584700"/>
            <a:ext cx="3302000" cy="1371600"/>
          </a:xfrm>
          <a:custGeom>
            <a:avLst/>
            <a:gdLst/>
            <a:ahLst/>
            <a:cxnLst/>
            <a:rect l="0" t="0" r="r" b="b"/>
            <a:pathLst>
              <a:path w="3302000" h="1371600">
                <a:moveTo>
                  <a:pt x="127000" y="0"/>
                </a:moveTo>
                <a:lnTo>
                  <a:pt x="3175000" y="0"/>
                </a:lnTo>
                <a:cubicBezTo>
                  <a:pt x="3245167" y="0"/>
                  <a:pt x="3302000" y="56833"/>
                  <a:pt x="3302000" y="127000"/>
                </a:cubicBezTo>
                <a:lnTo>
                  <a:pt x="3302000" y="1244600"/>
                </a:lnTo>
                <a:cubicBezTo>
                  <a:pt x="3302000" y="1314767"/>
                  <a:pt x="3245167" y="1371600"/>
                  <a:pt x="3175000" y="1371600"/>
                </a:cubicBezTo>
                <a:lnTo>
                  <a:pt x="127000" y="1371600"/>
                </a:lnTo>
                <a:cubicBezTo>
                  <a:pt x="56833" y="1371600"/>
                  <a:pt x="0" y="1314767"/>
                  <a:pt x="0" y="12446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hcc-3"/>
          <p:cNvSpPr/>
          <p:nvPr/>
        </p:nvSpPr>
        <p:spPr>
          <a:xfrm>
            <a:off x="7937500" y="4584700"/>
            <a:ext cx="3302000" cy="44450"/>
          </a:xfrm>
          <a:custGeom>
            <a:avLst/>
            <a:gdLst/>
            <a:ahLst/>
            <a:cxnLst/>
            <a:rect l="0" t="0" r="r" b="b"/>
            <a:pathLst>
              <a:path w="3302000" h="44450">
                <a:moveTo>
                  <a:pt x="22225" y="0"/>
                </a:moveTo>
                <a:lnTo>
                  <a:pt x="3279775" y="0"/>
                </a:lnTo>
                <a:cubicBezTo>
                  <a:pt x="3292031" y="0"/>
                  <a:pt x="3302000" y="9970"/>
                  <a:pt x="3302000" y="22225"/>
                </a:cubicBezTo>
                <a:lnTo>
                  <a:pt x="3302000" y="22225"/>
                </a:lnTo>
                <a:cubicBezTo>
                  <a:pt x="3302000" y="34480"/>
                  <a:pt x="3292031" y="44450"/>
                  <a:pt x="3279775" y="44450"/>
                </a:cubicBezTo>
                <a:lnTo>
                  <a:pt x="22225" y="44450"/>
                </a:lnTo>
                <a:cubicBezTo>
                  <a:pt x="9969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70"/>
                  <a:pt x="9969" y="0"/>
                  <a:pt x="22225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hcb-3"/>
          <p:cNvSpPr/>
          <p:nvPr/>
        </p:nvSpPr>
        <p:spPr>
          <a:xfrm>
            <a:off x="8128000" y="4787900"/>
            <a:ext cx="330200" cy="330200"/>
          </a:xfrm>
          <a:prstGeom prst="ellipse">
            <a:avLst/>
          </a:prstGeom>
          <a:solidFill>
            <a:srgbClr val="4694D7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hcid-3"/>
          <p:cNvSpPr txBox="1"/>
          <p:nvPr/>
        </p:nvSpPr>
        <p:spPr>
          <a:xfrm>
            <a:off x="8161020" y="4846955"/>
            <a:ext cx="26416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30">
                <a:solidFill>
                  <a:srgbClr val="4694D7"/>
                </a:solidFill>
                <a:latin typeface="Arial"/>
                <a:ea typeface="Arial"/>
                <a:cs typeface="Arial"/>
              </a:rPr>
              <a:t>H3</a:t>
            </a:r>
          </a:p>
        </p:txBody>
      </p:sp>
      <p:sp>
        <p:nvSpPr>
          <p:cNvPr id="73" name="icon-bulb"/>
          <p:cNvSpPr/>
          <p:nvPr/>
        </p:nvSpPr>
        <p:spPr>
          <a:xfrm>
            <a:off x="8635123" y="4843018"/>
            <a:ext cx="77954" cy="115570"/>
          </a:xfrm>
          <a:custGeom>
            <a:avLst/>
            <a:gdLst/>
            <a:ahLst/>
            <a:cxnLst/>
            <a:rect l="0" t="0" r="r" b="b"/>
            <a:pathLst>
              <a:path w="77954" h="115570">
                <a:moveTo>
                  <a:pt x="22467" y="96330"/>
                </a:moveTo>
                <a:lnTo>
                  <a:pt x="55487" y="96330"/>
                </a:lnTo>
                <a:moveTo>
                  <a:pt x="26595" y="115570"/>
                </a:moveTo>
                <a:lnTo>
                  <a:pt x="51360" y="115570"/>
                </a:lnTo>
                <a:moveTo>
                  <a:pt x="38977" y="0"/>
                </a:moveTo>
                <a:cubicBezTo>
                  <a:pt x="55678" y="-190"/>
                  <a:pt x="70600" y="10414"/>
                  <a:pt x="75934" y="26225"/>
                </a:cubicBezTo>
                <a:cubicBezTo>
                  <a:pt x="81268" y="42100"/>
                  <a:pt x="75807" y="59563"/>
                  <a:pt x="62345" y="69469"/>
                </a:cubicBezTo>
                <a:cubicBezTo>
                  <a:pt x="57519" y="73597"/>
                  <a:pt x="55487" y="77724"/>
                  <a:pt x="55487" y="83947"/>
                </a:cubicBezTo>
                <a:lnTo>
                  <a:pt x="22467" y="83947"/>
                </a:lnTo>
                <a:cubicBezTo>
                  <a:pt x="22467" y="77724"/>
                  <a:pt x="20435" y="73597"/>
                  <a:pt x="15609" y="69469"/>
                </a:cubicBezTo>
                <a:cubicBezTo>
                  <a:pt x="2147" y="59563"/>
                  <a:pt x="-3314" y="42100"/>
                  <a:pt x="2020" y="26225"/>
                </a:cubicBezTo>
                <a:cubicBezTo>
                  <a:pt x="7354" y="10414"/>
                  <a:pt x="22277" y="-190"/>
                  <a:pt x="38977" y="0"/>
                </a:cubicBezTo>
                <a:close/>
              </a:path>
            </a:pathLst>
          </a:cu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hcn-3"/>
          <p:cNvSpPr txBox="1"/>
          <p:nvPr/>
        </p:nvSpPr>
        <p:spPr>
          <a:xfrm>
            <a:off x="8859774" y="4772628"/>
            <a:ext cx="7664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种子业务</a:t>
            </a:r>
          </a:p>
        </p:txBody>
      </p:sp>
      <p:sp>
        <p:nvSpPr>
          <p:cNvPr id="75" name="hcp-3"/>
          <p:cNvSpPr txBox="1"/>
          <p:nvPr/>
        </p:nvSpPr>
        <p:spPr>
          <a:xfrm>
            <a:off x="8660765" y="50189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押注三年后的可能性</a:t>
            </a:r>
          </a:p>
        </p:txBody>
      </p:sp>
      <p:sp>
        <p:nvSpPr>
          <p:cNvPr id="76" name="hcr-3"/>
          <p:cNvSpPr/>
          <p:nvPr/>
        </p:nvSpPr>
        <p:spPr>
          <a:xfrm>
            <a:off x="10477500" y="4775200"/>
            <a:ext cx="609600" cy="393700"/>
          </a:xfrm>
          <a:custGeom>
            <a:avLst/>
            <a:gdLst/>
            <a:ahLst/>
            <a:cxnLst/>
            <a:rect l="0" t="0" r="r" b="b"/>
            <a:pathLst>
              <a:path w="609600" h="393700">
                <a:moveTo>
                  <a:pt x="88900" y="0"/>
                </a:moveTo>
                <a:lnTo>
                  <a:pt x="520700" y="0"/>
                </a:lnTo>
                <a:cubicBezTo>
                  <a:pt x="569786" y="0"/>
                  <a:pt x="609600" y="39814"/>
                  <a:pt x="609600" y="88900"/>
                </a:cubicBezTo>
                <a:lnTo>
                  <a:pt x="609600" y="304800"/>
                </a:lnTo>
                <a:cubicBezTo>
                  <a:pt x="609600" y="353886"/>
                  <a:pt x="569786" y="393700"/>
                  <a:pt x="520700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4694D7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hcrv-3"/>
          <p:cNvSpPr txBox="1"/>
          <p:nvPr/>
        </p:nvSpPr>
        <p:spPr>
          <a:xfrm>
            <a:off x="10625836" y="4802886"/>
            <a:ext cx="312928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20">
                <a:solidFill>
                  <a:srgbClr val="4694D7"/>
                </a:solidFill>
                <a:latin typeface="Arial"/>
                <a:ea typeface="Arial"/>
                <a:cs typeface="Arial"/>
              </a:rPr>
              <a:t>5%</a:t>
            </a:r>
          </a:p>
        </p:txBody>
      </p:sp>
      <p:sp>
        <p:nvSpPr>
          <p:cNvPr id="78" name="hcrl-3"/>
          <p:cNvSpPr txBox="1"/>
          <p:nvPr/>
        </p:nvSpPr>
        <p:spPr>
          <a:xfrm>
            <a:off x="10559415" y="5008308"/>
            <a:ext cx="4457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资源占比</a:t>
            </a:r>
          </a:p>
        </p:txBody>
      </p:sp>
      <p:sp>
        <p:nvSpPr>
          <p:cNvPr id="79" name="hcd-3-1"/>
          <p:cNvSpPr/>
          <p:nvPr/>
        </p:nvSpPr>
        <p:spPr>
          <a:xfrm>
            <a:off x="8144510" y="5331460"/>
            <a:ext cx="43180" cy="43180"/>
          </a:xfrm>
          <a:prstGeom prst="ellipse">
            <a:avLst/>
          </a:prstGeom>
          <a:solidFill>
            <a:srgbClr val="4694D7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hci-3-1"/>
          <p:cNvSpPr txBox="1"/>
          <p:nvPr/>
        </p:nvSpPr>
        <p:spPr>
          <a:xfrm>
            <a:off x="8268589" y="5263245"/>
            <a:ext cx="665416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AI 工艺优化</a:t>
            </a:r>
          </a:p>
        </p:txBody>
      </p:sp>
      <p:sp>
        <p:nvSpPr>
          <p:cNvPr id="81" name="hct-3-1"/>
          <p:cNvSpPr txBox="1"/>
          <p:nvPr/>
        </p:nvSpPr>
        <p:spPr>
          <a:xfrm>
            <a:off x="10601262" y="5271087"/>
            <a:ext cx="458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两个试点</a:t>
            </a:r>
          </a:p>
        </p:txBody>
      </p:sp>
      <p:sp>
        <p:nvSpPr>
          <p:cNvPr id="82" name="hcd-3-2"/>
          <p:cNvSpPr/>
          <p:nvPr/>
        </p:nvSpPr>
        <p:spPr>
          <a:xfrm>
            <a:off x="8144510" y="5521960"/>
            <a:ext cx="43180" cy="43180"/>
          </a:xfrm>
          <a:prstGeom prst="ellipse">
            <a:avLst/>
          </a:prstGeom>
          <a:solidFill>
            <a:srgbClr val="4694D7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hci-3-2"/>
          <p:cNvSpPr txBox="1"/>
          <p:nvPr/>
        </p:nvSpPr>
        <p:spPr>
          <a:xfrm>
            <a:off x="8268589" y="5453745"/>
            <a:ext cx="49244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海外市场</a:t>
            </a:r>
          </a:p>
        </p:txBody>
      </p:sp>
      <p:sp>
        <p:nvSpPr>
          <p:cNvPr id="84" name="hct-3-2"/>
          <p:cNvSpPr txBox="1"/>
          <p:nvPr/>
        </p:nvSpPr>
        <p:spPr>
          <a:xfrm>
            <a:off x="10507282" y="5461587"/>
            <a:ext cx="55276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东南亚验证</a:t>
            </a:r>
          </a:p>
        </p:txBody>
      </p:sp>
      <p:sp>
        <p:nvSpPr>
          <p:cNvPr id="85" name="hcd-3-3"/>
          <p:cNvSpPr/>
          <p:nvPr/>
        </p:nvSpPr>
        <p:spPr>
          <a:xfrm>
            <a:off x="8144510" y="5712460"/>
            <a:ext cx="43180" cy="43180"/>
          </a:xfrm>
          <a:prstGeom prst="ellipse">
            <a:avLst/>
          </a:prstGeom>
          <a:solidFill>
            <a:srgbClr val="4694D7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hci-3-3"/>
          <p:cNvSpPr txBox="1"/>
          <p:nvPr/>
        </p:nvSpPr>
        <p:spPr>
          <a:xfrm>
            <a:off x="8268589" y="5644245"/>
            <a:ext cx="49244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能源管理</a:t>
            </a:r>
          </a:p>
        </p:txBody>
      </p:sp>
      <p:sp>
        <p:nvSpPr>
          <p:cNvPr id="87" name="hct-3-3"/>
          <p:cNvSpPr txBox="1"/>
          <p:nvPr/>
        </p:nvSpPr>
        <p:spPr>
          <a:xfrm>
            <a:off x="10507282" y="5652087"/>
            <a:ext cx="55276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概念验证中</a:t>
            </a:r>
          </a:p>
        </p:txBody>
      </p:sp>
      <p:sp>
        <p:nvSpPr>
          <p:cNvPr id="88" name="sum"/>
          <p:cNvSpPr/>
          <p:nvPr/>
        </p:nvSpPr>
        <p:spPr>
          <a:xfrm>
            <a:off x="952500" y="5257800"/>
            <a:ext cx="6667500" cy="482600"/>
          </a:xfrm>
          <a:custGeom>
            <a:avLst/>
            <a:gdLst/>
            <a:ahLst/>
            <a:cxnLst/>
            <a:rect l="0" t="0" r="r" b="b"/>
            <a:pathLst>
              <a:path w="6667500" h="482600">
                <a:moveTo>
                  <a:pt x="101600" y="0"/>
                </a:moveTo>
                <a:lnTo>
                  <a:pt x="6565900" y="0"/>
                </a:lnTo>
                <a:cubicBezTo>
                  <a:pt x="6622034" y="0"/>
                  <a:pt x="6667500" y="45466"/>
                  <a:pt x="6667500" y="101600"/>
                </a:cubicBezTo>
                <a:lnTo>
                  <a:pt x="6667500" y="381000"/>
                </a:lnTo>
                <a:cubicBezTo>
                  <a:pt x="6667500" y="437134"/>
                  <a:pt x="6622034" y="482600"/>
                  <a:pt x="65659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sum-bar"/>
          <p:cNvSpPr/>
          <p:nvPr/>
        </p:nvSpPr>
        <p:spPr>
          <a:xfrm>
            <a:off x="952500" y="5257800"/>
            <a:ext cx="31750" cy="4826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sum-h"/>
          <p:cNvSpPr txBox="1"/>
          <p:nvPr/>
        </p:nvSpPr>
        <p:spPr>
          <a:xfrm>
            <a:off x="1141984" y="5319840"/>
            <a:ext cx="8648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资源分配纪律</a:t>
            </a:r>
          </a:p>
        </p:txBody>
      </p:sp>
      <p:sp>
        <p:nvSpPr>
          <p:cNvPr id="91" name="sum-p"/>
          <p:cNvSpPr txBox="1"/>
          <p:nvPr/>
        </p:nvSpPr>
        <p:spPr>
          <a:xfrm>
            <a:off x="1142365" y="5501561"/>
            <a:ext cx="430434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H3 的钱不能从 H1 的利润里临时挪，必须年初单列预算；否则永远只有第一曲线。</a:t>
            </a:r>
          </a:p>
        </p:txBody>
      </p:sp>
      <p:sp>
        <p:nvSpPr>
          <p:cNvPr id="92" name="src-h"/>
          <p:cNvSpPr txBox="1"/>
          <p:nvPr/>
        </p:nvSpPr>
        <p:spPr>
          <a:xfrm>
            <a:off x="941070" y="5889466"/>
            <a:ext cx="5175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判断口径</a:t>
            </a:r>
          </a:p>
        </p:txBody>
      </p:sp>
      <p:sp>
        <p:nvSpPr>
          <p:cNvPr id="93" name="src-p"/>
          <p:cNvSpPr txBox="1"/>
          <p:nvPr/>
        </p:nvSpPr>
        <p:spPr>
          <a:xfrm>
            <a:off x="1652270" y="5889466"/>
            <a:ext cx="440245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H1 看利润与现金流，H2 看增速与市占，H3 只看验证进度，三层用三套考核标准，不混在一起评。</a:t>
            </a:r>
          </a:p>
        </p:txBody>
      </p:sp>
      <p:cxnSp>
        <p:nvCxnSpPr>
          <p:cNvPr id="94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5" name="foot-l"/>
          <p:cNvSpPr txBox="1"/>
          <p:nvPr/>
        </p:nvSpPr>
        <p:spPr>
          <a:xfrm>
            <a:off x="573532" y="6532308"/>
            <a:ext cx="112610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三层增长 · H1/H2/H3</a:t>
            </a:r>
          </a:p>
        </p:txBody>
      </p:sp>
      <p:sp>
        <p:nvSpPr>
          <p:cNvPr id="96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自研还是合作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62801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TRADE-OFF BALANCE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437499" y="673132"/>
            <a:ext cx="31832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把两边的筹码摆上天平，右盘更重是因为多了三年的时间成本</a:t>
            </a:r>
          </a:p>
        </p:txBody>
      </p:sp>
      <p:sp>
        <p:nvSpPr>
          <p:cNvPr id="10" name="post"/>
          <p:cNvSpPr/>
          <p:nvPr/>
        </p:nvSpPr>
        <p:spPr>
          <a:xfrm>
            <a:off x="4102100" y="2667000"/>
            <a:ext cx="177800" cy="1905000"/>
          </a:xfrm>
          <a:custGeom>
            <a:avLst/>
            <a:gdLst/>
            <a:ahLst/>
            <a:cxnLst/>
            <a:rect l="0" t="0" r="r" b="b"/>
            <a:pathLst>
              <a:path w="177800" h="1905000">
                <a:moveTo>
                  <a:pt x="88900" y="0"/>
                </a:moveTo>
                <a:lnTo>
                  <a:pt x="88900" y="0"/>
                </a:lnTo>
                <a:cubicBezTo>
                  <a:pt x="137986" y="0"/>
                  <a:pt x="177800" y="39814"/>
                  <a:pt x="177800" y="88900"/>
                </a:cubicBezTo>
                <a:lnTo>
                  <a:pt x="177800" y="1816100"/>
                </a:lnTo>
                <a:cubicBezTo>
                  <a:pt x="177800" y="1865186"/>
                  <a:pt x="137986" y="1905000"/>
                  <a:pt x="88900" y="1905000"/>
                </a:cubicBezTo>
                <a:lnTo>
                  <a:pt x="88900" y="1905000"/>
                </a:lnTo>
                <a:cubicBezTo>
                  <a:pt x="39814" y="1905000"/>
                  <a:pt x="0" y="1865186"/>
                  <a:pt x="0" y="18161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9DB7D4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base"/>
          <p:cNvSpPr/>
          <p:nvPr/>
        </p:nvSpPr>
        <p:spPr>
          <a:xfrm>
            <a:off x="3352800" y="4521200"/>
            <a:ext cx="1676400" cy="165100"/>
          </a:xfrm>
          <a:custGeom>
            <a:avLst/>
            <a:gdLst/>
            <a:ahLst/>
            <a:cxnLst/>
            <a:rect l="0" t="0" r="r" b="b"/>
            <a:pathLst>
              <a:path w="1676400" h="165100">
                <a:moveTo>
                  <a:pt x="82550" y="0"/>
                </a:moveTo>
                <a:lnTo>
                  <a:pt x="1593850" y="0"/>
                </a:lnTo>
                <a:cubicBezTo>
                  <a:pt x="1639443" y="0"/>
                  <a:pt x="1676400" y="36957"/>
                  <a:pt x="1676400" y="82550"/>
                </a:cubicBezTo>
                <a:lnTo>
                  <a:pt x="1676400" y="82550"/>
                </a:lnTo>
                <a:cubicBezTo>
                  <a:pt x="1676400" y="128143"/>
                  <a:pt x="1639443" y="165100"/>
                  <a:pt x="1593850" y="165100"/>
                </a:cubicBezTo>
                <a:lnTo>
                  <a:pt x="82550" y="165100"/>
                </a:lnTo>
                <a:cubicBezTo>
                  <a:pt x="36957" y="165100"/>
                  <a:pt x="0" y="128143"/>
                  <a:pt x="0" y="825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7E9BC2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base2"/>
          <p:cNvSpPr/>
          <p:nvPr/>
        </p:nvSpPr>
        <p:spPr>
          <a:xfrm>
            <a:off x="3606800" y="4686300"/>
            <a:ext cx="1168400" cy="88900"/>
          </a:xfrm>
          <a:custGeom>
            <a:avLst/>
            <a:gdLst/>
            <a:ahLst/>
            <a:cxnLst/>
            <a:rect l="0" t="0" r="r" b="b"/>
            <a:pathLst>
              <a:path w="1168400" h="88900">
                <a:moveTo>
                  <a:pt x="44450" y="0"/>
                </a:moveTo>
                <a:lnTo>
                  <a:pt x="1123950" y="0"/>
                </a:lnTo>
                <a:cubicBezTo>
                  <a:pt x="1148524" y="0"/>
                  <a:pt x="1168400" y="19875"/>
                  <a:pt x="1168400" y="44450"/>
                </a:cubicBezTo>
                <a:lnTo>
                  <a:pt x="1168400" y="44450"/>
                </a:lnTo>
                <a:cubicBezTo>
                  <a:pt x="1168400" y="69025"/>
                  <a:pt x="1148524" y="88900"/>
                  <a:pt x="1123950" y="88900"/>
                </a:cubicBezTo>
                <a:lnTo>
                  <a:pt x="44450" y="88900"/>
                </a:lnTo>
                <a:cubicBezTo>
                  <a:pt x="19875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7E9BC2">
              <a:alpha val="4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beam"/>
          <p:cNvSpPr/>
          <p:nvPr/>
        </p:nvSpPr>
        <p:spPr>
          <a:xfrm>
            <a:off x="2426272" y="2398698"/>
            <a:ext cx="3529457" cy="536605"/>
          </a:xfrm>
          <a:custGeom>
            <a:avLst/>
            <a:gdLst/>
            <a:ahLst/>
            <a:cxnLst/>
            <a:rect l="0" t="0" r="r" b="b"/>
            <a:pathLst>
              <a:path w="3529457" h="536605">
                <a:moveTo>
                  <a:pt x="0" y="45290"/>
                </a:moveTo>
                <a:quadBezTo>
                  <a:pt x="0" y="-5510"/>
                  <a:pt x="50419" y="650"/>
                </a:quadBezTo>
                <a:lnTo>
                  <a:pt x="3479038" y="421655"/>
                </a:lnTo>
                <a:quadBezTo>
                  <a:pt x="3529457" y="427814"/>
                  <a:pt x="3529457" y="478614"/>
                </a:quadBezTo>
                <a:lnTo>
                  <a:pt x="3529457" y="491314"/>
                </a:lnTo>
                <a:quadBezTo>
                  <a:pt x="3529457" y="542114"/>
                  <a:pt x="3479038" y="535955"/>
                </a:quadBezTo>
                <a:lnTo>
                  <a:pt x="50419" y="114950"/>
                </a:lnTo>
                <a:quadBezTo>
                  <a:pt x="0" y="108790"/>
                  <a:pt x="0" y="57990"/>
                </a:quad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0A3A88"/>
              </a:gs>
            </a:gsLst>
            <a:lin ang="0" scaled="0"/>
          </a:gra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pivot"/>
          <p:cNvSpPr/>
          <p:nvPr/>
        </p:nvSpPr>
        <p:spPr>
          <a:xfrm>
            <a:off x="4038600" y="2514600"/>
            <a:ext cx="304800" cy="3048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0B3E8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pivot-c"/>
          <p:cNvSpPr/>
          <p:nvPr/>
        </p:nvSpPr>
        <p:spPr>
          <a:xfrm>
            <a:off x="4140200" y="2616200"/>
            <a:ext cx="101600" cy="1016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6" name="rope-1a"/>
          <p:cNvCxnSpPr/>
          <p:nvPr/>
        </p:nvCxnSpPr>
        <p:spPr>
          <a:xfrm flipH="1">
            <a:off x="1956353" y="2501116"/>
            <a:ext cx="469900" cy="558800"/>
          </a:xfrm>
          <a:prstGeom prst="line">
            <a:avLst/>
          </a:prstGeom>
          <a:ln w="12700" cap="rnd">
            <a:solidFill>
              <a:srgbClr val="9DB7D4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rope-1b"/>
          <p:cNvCxnSpPr/>
          <p:nvPr/>
        </p:nvCxnSpPr>
        <p:spPr>
          <a:xfrm>
            <a:off x="2426253" y="2501116"/>
            <a:ext cx="469900" cy="558800"/>
          </a:xfrm>
          <a:prstGeom prst="line">
            <a:avLst/>
          </a:prstGeom>
          <a:ln w="12700" cap="rnd">
            <a:solidFill>
              <a:srgbClr val="9DB7D4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pan-1"/>
          <p:cNvSpPr/>
          <p:nvPr/>
        </p:nvSpPr>
        <p:spPr>
          <a:xfrm>
            <a:off x="1816653" y="3059916"/>
            <a:ext cx="1219200" cy="317500"/>
          </a:xfrm>
          <a:custGeom>
            <a:avLst/>
            <a:gdLst/>
            <a:ahLst/>
            <a:cxnLst/>
            <a:rect l="0" t="0" r="r" b="b"/>
            <a:pathLst>
              <a:path w="1219200" h="317500">
                <a:moveTo>
                  <a:pt x="0" y="0"/>
                </a:moveTo>
                <a:lnTo>
                  <a:pt x="1219200" y="0"/>
                </a:lnTo>
                <a:quadBezTo>
                  <a:pt x="1155700" y="292100"/>
                  <a:pt x="609600" y="317500"/>
                </a:quadBezTo>
                <a:quadBezTo>
                  <a:pt x="63500" y="292100"/>
                  <a:pt x="0" y="0"/>
                </a:quadBezTo>
                <a:close/>
              </a:path>
            </a:pathLst>
          </a:custGeom>
          <a:gradFill rotWithShape="1">
            <a:gsLst>
              <a:gs pos="0">
                <a:srgbClr val="3D6CAE"/>
              </a:gs>
              <a:gs pos="100000">
                <a:srgbClr val="134C9C"/>
              </a:gs>
            </a:gsLst>
            <a:lin ang="54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icon-tools"/>
          <p:cNvSpPr/>
          <p:nvPr/>
        </p:nvSpPr>
        <p:spPr>
          <a:xfrm>
            <a:off x="2365963" y="2017989"/>
            <a:ext cx="112696" cy="111674"/>
          </a:xfrm>
          <a:custGeom>
            <a:avLst/>
            <a:gdLst/>
            <a:ahLst/>
            <a:cxnLst/>
            <a:rect l="0" t="0" r="r" b="b"/>
            <a:pathLst>
              <a:path w="112696" h="111674">
                <a:moveTo>
                  <a:pt x="20621" y="3724"/>
                </a:moveTo>
                <a:lnTo>
                  <a:pt x="44434" y="27536"/>
                </a:lnTo>
                <a:lnTo>
                  <a:pt x="26971" y="44999"/>
                </a:lnTo>
                <a:lnTo>
                  <a:pt x="3159" y="21186"/>
                </a:lnTo>
                <a:cubicBezTo>
                  <a:pt x="-2620" y="33124"/>
                  <a:pt x="-334" y="47348"/>
                  <a:pt x="8874" y="56937"/>
                </a:cubicBezTo>
                <a:cubicBezTo>
                  <a:pt x="18081" y="66462"/>
                  <a:pt x="32242" y="69319"/>
                  <a:pt x="44434" y="64049"/>
                </a:cubicBezTo>
                <a:lnTo>
                  <a:pt x="92059" y="111674"/>
                </a:lnTo>
                <a:lnTo>
                  <a:pt x="112696" y="91036"/>
                </a:lnTo>
                <a:lnTo>
                  <a:pt x="65071" y="43411"/>
                </a:lnTo>
                <a:cubicBezTo>
                  <a:pt x="69961" y="31029"/>
                  <a:pt x="66595" y="16932"/>
                  <a:pt x="56689" y="8042"/>
                </a:cubicBezTo>
                <a:cubicBezTo>
                  <a:pt x="46720" y="-785"/>
                  <a:pt x="32369" y="-2563"/>
                  <a:pt x="20621" y="3724"/>
                </a:cubicBezTo>
                <a:close/>
              </a:path>
            </a:pathLst>
          </a:custGeom>
          <a:noFill/>
          <a:ln w="1333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pn-1"/>
          <p:cNvSpPr txBox="1"/>
          <p:nvPr/>
        </p:nvSpPr>
        <p:spPr>
          <a:xfrm>
            <a:off x="2158600" y="2098876"/>
            <a:ext cx="535305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自研</a:t>
            </a:r>
          </a:p>
        </p:txBody>
      </p:sp>
      <p:sp>
        <p:nvSpPr>
          <p:cNvPr id="21" name="pw-1"/>
          <p:cNvSpPr txBox="1"/>
          <p:nvPr/>
        </p:nvSpPr>
        <p:spPr>
          <a:xfrm>
            <a:off x="2202669" y="3101414"/>
            <a:ext cx="44716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12 分</a:t>
            </a:r>
          </a:p>
        </p:txBody>
      </p:sp>
      <p:cxnSp>
        <p:nvCxnSpPr>
          <p:cNvPr id="22" name="rope-2a"/>
          <p:cNvCxnSpPr/>
          <p:nvPr/>
        </p:nvCxnSpPr>
        <p:spPr>
          <a:xfrm flipH="1">
            <a:off x="5485847" y="2934484"/>
            <a:ext cx="469900" cy="558800"/>
          </a:xfrm>
          <a:prstGeom prst="line">
            <a:avLst/>
          </a:prstGeom>
          <a:ln w="12700" cap="rnd">
            <a:solidFill>
              <a:srgbClr val="9DB7D4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rope-2b"/>
          <p:cNvCxnSpPr/>
          <p:nvPr/>
        </p:nvCxnSpPr>
        <p:spPr>
          <a:xfrm>
            <a:off x="5955747" y="2934484"/>
            <a:ext cx="469900" cy="558800"/>
          </a:xfrm>
          <a:prstGeom prst="line">
            <a:avLst/>
          </a:prstGeom>
          <a:ln w="12700" cap="rnd">
            <a:solidFill>
              <a:srgbClr val="9DB7D4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pan-2"/>
          <p:cNvSpPr/>
          <p:nvPr/>
        </p:nvSpPr>
        <p:spPr>
          <a:xfrm>
            <a:off x="5346147" y="3493284"/>
            <a:ext cx="1219200" cy="317500"/>
          </a:xfrm>
          <a:custGeom>
            <a:avLst/>
            <a:gdLst/>
            <a:ahLst/>
            <a:cxnLst/>
            <a:rect l="0" t="0" r="r" b="b"/>
            <a:pathLst>
              <a:path w="1219200" h="317500">
                <a:moveTo>
                  <a:pt x="0" y="0"/>
                </a:moveTo>
                <a:lnTo>
                  <a:pt x="1219200" y="0"/>
                </a:lnTo>
                <a:quadBezTo>
                  <a:pt x="1155700" y="292100"/>
                  <a:pt x="609600" y="317500"/>
                </a:quadBezTo>
                <a:quadBezTo>
                  <a:pt x="63500" y="292100"/>
                  <a:pt x="0" y="0"/>
                </a:quadBezTo>
                <a:close/>
              </a:path>
            </a:pathLst>
          </a:custGeom>
          <a:gradFill rotWithShape="1">
            <a:gsLst>
              <a:gs pos="0">
                <a:srgbClr val="548FCD"/>
              </a:gs>
              <a:gs pos="100000">
                <a:srgbClr val="2E77C2"/>
              </a:gs>
            </a:gsLst>
            <a:lin ang="54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icon-chain"/>
          <p:cNvSpPr/>
          <p:nvPr/>
        </p:nvSpPr>
        <p:spPr>
          <a:xfrm>
            <a:off x="5893197" y="2452827"/>
            <a:ext cx="125103" cy="125130"/>
          </a:xfrm>
          <a:custGeom>
            <a:avLst/>
            <a:gdLst/>
            <a:ahLst/>
            <a:cxnLst/>
            <a:rect l="0" t="0" r="r" b="b"/>
            <a:pathLst>
              <a:path w="125103" h="125130">
                <a:moveTo>
                  <a:pt x="49832" y="75235"/>
                </a:moveTo>
                <a:cubicBezTo>
                  <a:pt x="55801" y="81331"/>
                  <a:pt x="63992" y="84760"/>
                  <a:pt x="72501" y="84760"/>
                </a:cubicBezTo>
                <a:cubicBezTo>
                  <a:pt x="80947" y="84760"/>
                  <a:pt x="89138" y="81331"/>
                  <a:pt x="95107" y="75235"/>
                </a:cubicBezTo>
                <a:lnTo>
                  <a:pt x="115745" y="54597"/>
                </a:lnTo>
                <a:cubicBezTo>
                  <a:pt x="123809" y="46533"/>
                  <a:pt x="126984" y="34785"/>
                  <a:pt x="124000" y="23736"/>
                </a:cubicBezTo>
                <a:cubicBezTo>
                  <a:pt x="121079" y="12687"/>
                  <a:pt x="112443" y="4051"/>
                  <a:pt x="101394" y="1067"/>
                </a:cubicBezTo>
                <a:cubicBezTo>
                  <a:pt x="90345" y="-1854"/>
                  <a:pt x="78597" y="1321"/>
                  <a:pt x="70469" y="9385"/>
                </a:cubicBezTo>
                <a:lnTo>
                  <a:pt x="60182" y="19672"/>
                </a:lnTo>
                <a:moveTo>
                  <a:pt x="75232" y="49835"/>
                </a:moveTo>
                <a:cubicBezTo>
                  <a:pt x="69263" y="43802"/>
                  <a:pt x="61135" y="40373"/>
                  <a:pt x="52626" y="40373"/>
                </a:cubicBezTo>
                <a:cubicBezTo>
                  <a:pt x="44117" y="40373"/>
                  <a:pt x="35989" y="43802"/>
                  <a:pt x="30020" y="49835"/>
                </a:cubicBezTo>
                <a:lnTo>
                  <a:pt x="9382" y="70472"/>
                </a:lnTo>
                <a:cubicBezTo>
                  <a:pt x="-3127" y="82982"/>
                  <a:pt x="-3127" y="103238"/>
                  <a:pt x="9382" y="115748"/>
                </a:cubicBezTo>
                <a:cubicBezTo>
                  <a:pt x="21892" y="128257"/>
                  <a:pt x="42148" y="128257"/>
                  <a:pt x="54594" y="115748"/>
                </a:cubicBezTo>
                <a:lnTo>
                  <a:pt x="64945" y="105397"/>
                </a:lnTo>
              </a:path>
            </a:pathLst>
          </a:custGeom>
          <a:noFill/>
          <a:ln w="13335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pn-2"/>
          <p:cNvSpPr txBox="1"/>
          <p:nvPr/>
        </p:nvSpPr>
        <p:spPr>
          <a:xfrm>
            <a:off x="5688095" y="2532243"/>
            <a:ext cx="535305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合作</a:t>
            </a:r>
          </a:p>
        </p:txBody>
      </p:sp>
      <p:sp>
        <p:nvSpPr>
          <p:cNvPr id="27" name="pw-2"/>
          <p:cNvSpPr txBox="1"/>
          <p:nvPr/>
        </p:nvSpPr>
        <p:spPr>
          <a:xfrm>
            <a:off x="5732164" y="3534781"/>
            <a:ext cx="44716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16 分</a:t>
            </a:r>
          </a:p>
        </p:txBody>
      </p:sp>
      <p:sp>
        <p:nvSpPr>
          <p:cNvPr id="28" name="win"/>
          <p:cNvSpPr/>
          <p:nvPr/>
        </p:nvSpPr>
        <p:spPr>
          <a:xfrm>
            <a:off x="5206428" y="4001262"/>
            <a:ext cx="1498600" cy="279400"/>
          </a:xfrm>
          <a:custGeom>
            <a:avLst/>
            <a:gdLst/>
            <a:ahLst/>
            <a:cxnLst/>
            <a:rect l="0" t="0" r="r" b="b"/>
            <a:pathLst>
              <a:path w="1498600" h="279400">
                <a:moveTo>
                  <a:pt x="139700" y="0"/>
                </a:moveTo>
                <a:lnTo>
                  <a:pt x="1358900" y="0"/>
                </a:lnTo>
                <a:cubicBezTo>
                  <a:pt x="1436052" y="0"/>
                  <a:pt x="1498600" y="62548"/>
                  <a:pt x="1498600" y="139700"/>
                </a:cubicBezTo>
                <a:lnTo>
                  <a:pt x="1498600" y="139700"/>
                </a:lnTo>
                <a:cubicBezTo>
                  <a:pt x="1498600" y="216852"/>
                  <a:pt x="1436052" y="279400"/>
                  <a:pt x="1358900" y="279400"/>
                </a:cubicBezTo>
                <a:lnTo>
                  <a:pt x="139700" y="279400"/>
                </a:lnTo>
                <a:cubicBezTo>
                  <a:pt x="62548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solidFill>
            <a:srgbClr val="E0703A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win-t"/>
          <p:cNvSpPr txBox="1"/>
          <p:nvPr/>
        </p:nvSpPr>
        <p:spPr>
          <a:xfrm>
            <a:off x="5589987" y="4059958"/>
            <a:ext cx="7315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4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合作方案更重</a:t>
            </a:r>
          </a:p>
        </p:txBody>
      </p:sp>
      <p:sp>
        <p:nvSpPr>
          <p:cNvPr id="30" name="side-bar-1"/>
          <p:cNvSpPr/>
          <p:nvPr/>
        </p:nvSpPr>
        <p:spPr>
          <a:xfrm>
            <a:off x="952500" y="4572000"/>
            <a:ext cx="31750" cy="431800"/>
          </a:xfrm>
          <a:prstGeom prst="roundRect">
            <a:avLst>
              <a:gd name="adj" fmla="val 50000"/>
            </a:avLst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side-h-1"/>
          <p:cNvSpPr txBox="1"/>
          <p:nvPr/>
        </p:nvSpPr>
        <p:spPr>
          <a:xfrm>
            <a:off x="1102360" y="4605655"/>
            <a:ext cx="8128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自研方筹码</a:t>
            </a:r>
          </a:p>
        </p:txBody>
      </p:sp>
      <p:sp>
        <p:nvSpPr>
          <p:cNvPr id="32" name="side-p-1"/>
          <p:cNvSpPr txBox="1"/>
          <p:nvPr/>
        </p:nvSpPr>
        <p:spPr>
          <a:xfrm>
            <a:off x="1106551" y="4826587"/>
            <a:ext cx="58312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合计 12 分</a:t>
            </a:r>
          </a:p>
        </p:txBody>
      </p:sp>
      <p:sp>
        <p:nvSpPr>
          <p:cNvPr id="33" name="it-1-1"/>
          <p:cNvSpPr txBox="1"/>
          <p:nvPr/>
        </p:nvSpPr>
        <p:spPr>
          <a:xfrm>
            <a:off x="977265" y="5006261"/>
            <a:ext cx="7820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技术自主可控</a:t>
            </a:r>
          </a:p>
        </p:txBody>
      </p:sp>
      <p:sp>
        <p:nvSpPr>
          <p:cNvPr id="34" name="dot-1-1-1"/>
          <p:cNvSpPr/>
          <p:nvPr/>
        </p:nvSpPr>
        <p:spPr>
          <a:xfrm>
            <a:off x="3143250" y="5060950"/>
            <a:ext cx="88900" cy="889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dot-1-1-2"/>
          <p:cNvSpPr/>
          <p:nvPr/>
        </p:nvSpPr>
        <p:spPr>
          <a:xfrm>
            <a:off x="3295650" y="5060950"/>
            <a:ext cx="88900" cy="889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dot-1-1-3"/>
          <p:cNvSpPr/>
          <p:nvPr/>
        </p:nvSpPr>
        <p:spPr>
          <a:xfrm>
            <a:off x="3448050" y="5060950"/>
            <a:ext cx="88900" cy="889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dot-1-1-4"/>
          <p:cNvSpPr/>
          <p:nvPr/>
        </p:nvSpPr>
        <p:spPr>
          <a:xfrm>
            <a:off x="3600450" y="5060950"/>
            <a:ext cx="88900" cy="889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dot-1-1-5"/>
          <p:cNvSpPr/>
          <p:nvPr/>
        </p:nvSpPr>
        <p:spPr>
          <a:xfrm>
            <a:off x="3752850" y="5060950"/>
            <a:ext cx="88900" cy="889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it-1-2"/>
          <p:cNvSpPr txBox="1"/>
          <p:nvPr/>
        </p:nvSpPr>
        <p:spPr>
          <a:xfrm>
            <a:off x="977265" y="5298361"/>
            <a:ext cx="7820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长期成本更低</a:t>
            </a:r>
          </a:p>
        </p:txBody>
      </p:sp>
      <p:sp>
        <p:nvSpPr>
          <p:cNvPr id="40" name="dot-1-2-1"/>
          <p:cNvSpPr/>
          <p:nvPr/>
        </p:nvSpPr>
        <p:spPr>
          <a:xfrm>
            <a:off x="3143250" y="5353050"/>
            <a:ext cx="88900" cy="889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dot-1-2-2"/>
          <p:cNvSpPr/>
          <p:nvPr/>
        </p:nvSpPr>
        <p:spPr>
          <a:xfrm>
            <a:off x="3295650" y="5353050"/>
            <a:ext cx="88900" cy="889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dot-1-2-3"/>
          <p:cNvSpPr/>
          <p:nvPr/>
        </p:nvSpPr>
        <p:spPr>
          <a:xfrm>
            <a:off x="3448050" y="5353050"/>
            <a:ext cx="88900" cy="889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dot-1-2-4"/>
          <p:cNvSpPr/>
          <p:nvPr/>
        </p:nvSpPr>
        <p:spPr>
          <a:xfrm>
            <a:off x="3600450" y="5353050"/>
            <a:ext cx="88900" cy="889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dot-1-2-5"/>
          <p:cNvSpPr/>
          <p:nvPr/>
        </p:nvSpPr>
        <p:spPr>
          <a:xfrm>
            <a:off x="3752850" y="5353050"/>
            <a:ext cx="88900" cy="88900"/>
          </a:xfrm>
          <a:prstGeom prst="ellipse">
            <a:avLst/>
          </a:prstGeom>
          <a:solidFill>
            <a:srgbClr val="0B2545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it-1-3"/>
          <p:cNvSpPr txBox="1"/>
          <p:nvPr/>
        </p:nvSpPr>
        <p:spPr>
          <a:xfrm>
            <a:off x="977265" y="5590461"/>
            <a:ext cx="7820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人才梯队沉淀</a:t>
            </a:r>
          </a:p>
        </p:txBody>
      </p:sp>
      <p:sp>
        <p:nvSpPr>
          <p:cNvPr id="46" name="dot-1-3-1"/>
          <p:cNvSpPr/>
          <p:nvPr/>
        </p:nvSpPr>
        <p:spPr>
          <a:xfrm>
            <a:off x="3143250" y="5645150"/>
            <a:ext cx="88900" cy="889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dot-1-3-2"/>
          <p:cNvSpPr/>
          <p:nvPr/>
        </p:nvSpPr>
        <p:spPr>
          <a:xfrm>
            <a:off x="3295650" y="5645150"/>
            <a:ext cx="88900" cy="889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dot-1-3-3"/>
          <p:cNvSpPr/>
          <p:nvPr/>
        </p:nvSpPr>
        <p:spPr>
          <a:xfrm>
            <a:off x="3448050" y="5645150"/>
            <a:ext cx="88900" cy="889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dot-1-3-4"/>
          <p:cNvSpPr/>
          <p:nvPr/>
        </p:nvSpPr>
        <p:spPr>
          <a:xfrm>
            <a:off x="3600450" y="5645150"/>
            <a:ext cx="88900" cy="88900"/>
          </a:xfrm>
          <a:prstGeom prst="ellipse">
            <a:avLst/>
          </a:prstGeom>
          <a:solidFill>
            <a:srgbClr val="0B2545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dot-1-3-5"/>
          <p:cNvSpPr/>
          <p:nvPr/>
        </p:nvSpPr>
        <p:spPr>
          <a:xfrm>
            <a:off x="3752850" y="5645150"/>
            <a:ext cx="88900" cy="88900"/>
          </a:xfrm>
          <a:prstGeom prst="ellipse">
            <a:avLst/>
          </a:prstGeom>
          <a:solidFill>
            <a:srgbClr val="0B2545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side-bar-2"/>
          <p:cNvSpPr/>
          <p:nvPr/>
        </p:nvSpPr>
        <p:spPr>
          <a:xfrm>
            <a:off x="7620000" y="4572000"/>
            <a:ext cx="31750" cy="431800"/>
          </a:xfrm>
          <a:prstGeom prst="roundRect">
            <a:avLst>
              <a:gd name="adj" fmla="val 50000"/>
            </a:avLst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side-h-2"/>
          <p:cNvSpPr txBox="1"/>
          <p:nvPr/>
        </p:nvSpPr>
        <p:spPr>
          <a:xfrm>
            <a:off x="7769860" y="4605655"/>
            <a:ext cx="8128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合作方筹码</a:t>
            </a:r>
          </a:p>
        </p:txBody>
      </p:sp>
      <p:sp>
        <p:nvSpPr>
          <p:cNvPr id="53" name="side-p-2"/>
          <p:cNvSpPr txBox="1"/>
          <p:nvPr/>
        </p:nvSpPr>
        <p:spPr>
          <a:xfrm>
            <a:off x="7774051" y="4826587"/>
            <a:ext cx="58312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合计 16 分</a:t>
            </a:r>
          </a:p>
        </p:txBody>
      </p:sp>
      <p:sp>
        <p:nvSpPr>
          <p:cNvPr id="54" name="it-2-1"/>
          <p:cNvSpPr txBox="1"/>
          <p:nvPr/>
        </p:nvSpPr>
        <p:spPr>
          <a:xfrm>
            <a:off x="7644765" y="5006261"/>
            <a:ext cx="120364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18 个月抢下市场窗口</a:t>
            </a:r>
          </a:p>
        </p:txBody>
      </p:sp>
      <p:sp>
        <p:nvSpPr>
          <p:cNvPr id="55" name="dot-2-1-1"/>
          <p:cNvSpPr/>
          <p:nvPr/>
        </p:nvSpPr>
        <p:spPr>
          <a:xfrm>
            <a:off x="9810750" y="5060950"/>
            <a:ext cx="88900" cy="889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dot-2-1-2"/>
          <p:cNvSpPr/>
          <p:nvPr/>
        </p:nvSpPr>
        <p:spPr>
          <a:xfrm>
            <a:off x="9963150" y="5060950"/>
            <a:ext cx="88900" cy="889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dot-2-1-3"/>
          <p:cNvSpPr/>
          <p:nvPr/>
        </p:nvSpPr>
        <p:spPr>
          <a:xfrm>
            <a:off x="10115550" y="5060950"/>
            <a:ext cx="88900" cy="889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dot-2-1-4"/>
          <p:cNvSpPr/>
          <p:nvPr/>
        </p:nvSpPr>
        <p:spPr>
          <a:xfrm>
            <a:off x="10267950" y="5060950"/>
            <a:ext cx="88900" cy="889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dot-2-1-5"/>
          <p:cNvSpPr/>
          <p:nvPr/>
        </p:nvSpPr>
        <p:spPr>
          <a:xfrm>
            <a:off x="10420350" y="5060950"/>
            <a:ext cx="88900" cy="889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it-2-2"/>
          <p:cNvSpPr txBox="1"/>
          <p:nvPr/>
        </p:nvSpPr>
        <p:spPr>
          <a:xfrm>
            <a:off x="7644765" y="5298361"/>
            <a:ext cx="7820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共担研发风险</a:t>
            </a:r>
          </a:p>
        </p:txBody>
      </p:sp>
      <p:sp>
        <p:nvSpPr>
          <p:cNvPr id="61" name="dot-2-2-1"/>
          <p:cNvSpPr/>
          <p:nvPr/>
        </p:nvSpPr>
        <p:spPr>
          <a:xfrm>
            <a:off x="9810750" y="5353050"/>
            <a:ext cx="88900" cy="889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dot-2-2-2"/>
          <p:cNvSpPr/>
          <p:nvPr/>
        </p:nvSpPr>
        <p:spPr>
          <a:xfrm>
            <a:off x="9963150" y="5353050"/>
            <a:ext cx="88900" cy="889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dot-2-2-3"/>
          <p:cNvSpPr/>
          <p:nvPr/>
        </p:nvSpPr>
        <p:spPr>
          <a:xfrm>
            <a:off x="10115550" y="5353050"/>
            <a:ext cx="88900" cy="889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dot-2-2-4"/>
          <p:cNvSpPr/>
          <p:nvPr/>
        </p:nvSpPr>
        <p:spPr>
          <a:xfrm>
            <a:off x="10267950" y="5353050"/>
            <a:ext cx="88900" cy="889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dot-2-2-5"/>
          <p:cNvSpPr/>
          <p:nvPr/>
        </p:nvSpPr>
        <p:spPr>
          <a:xfrm>
            <a:off x="10420350" y="5353050"/>
            <a:ext cx="88900" cy="88900"/>
          </a:xfrm>
          <a:prstGeom prst="ellipse">
            <a:avLst/>
          </a:prstGeom>
          <a:solidFill>
            <a:srgbClr val="0B2545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it-2-3"/>
          <p:cNvSpPr txBox="1"/>
          <p:nvPr/>
        </p:nvSpPr>
        <p:spPr>
          <a:xfrm>
            <a:off x="7644765" y="55904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对方渠道可直接用</a:t>
            </a:r>
          </a:p>
        </p:txBody>
      </p:sp>
      <p:sp>
        <p:nvSpPr>
          <p:cNvPr id="67" name="dot-2-3-1"/>
          <p:cNvSpPr/>
          <p:nvPr/>
        </p:nvSpPr>
        <p:spPr>
          <a:xfrm>
            <a:off x="9810750" y="5645150"/>
            <a:ext cx="88900" cy="889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dot-2-3-2"/>
          <p:cNvSpPr/>
          <p:nvPr/>
        </p:nvSpPr>
        <p:spPr>
          <a:xfrm>
            <a:off x="9963150" y="5645150"/>
            <a:ext cx="88900" cy="889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dot-2-3-3"/>
          <p:cNvSpPr/>
          <p:nvPr/>
        </p:nvSpPr>
        <p:spPr>
          <a:xfrm>
            <a:off x="10115550" y="5645150"/>
            <a:ext cx="88900" cy="889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dot-2-3-4"/>
          <p:cNvSpPr/>
          <p:nvPr/>
        </p:nvSpPr>
        <p:spPr>
          <a:xfrm>
            <a:off x="10267950" y="5645150"/>
            <a:ext cx="88900" cy="889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dot-2-3-5"/>
          <p:cNvSpPr/>
          <p:nvPr/>
        </p:nvSpPr>
        <p:spPr>
          <a:xfrm>
            <a:off x="10420350" y="5645150"/>
            <a:ext cx="88900" cy="88900"/>
          </a:xfrm>
          <a:prstGeom prst="ellipse">
            <a:avLst/>
          </a:prstGeom>
          <a:solidFill>
            <a:srgbClr val="0B2545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it-2-4"/>
          <p:cNvSpPr txBox="1"/>
          <p:nvPr/>
        </p:nvSpPr>
        <p:spPr>
          <a:xfrm>
            <a:off x="7644765" y="5882561"/>
            <a:ext cx="7820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现金流压力小</a:t>
            </a:r>
          </a:p>
        </p:txBody>
      </p:sp>
      <p:sp>
        <p:nvSpPr>
          <p:cNvPr id="73" name="dot-2-4-1"/>
          <p:cNvSpPr/>
          <p:nvPr/>
        </p:nvSpPr>
        <p:spPr>
          <a:xfrm>
            <a:off x="9810750" y="5937250"/>
            <a:ext cx="88900" cy="889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dot-2-4-2"/>
          <p:cNvSpPr/>
          <p:nvPr/>
        </p:nvSpPr>
        <p:spPr>
          <a:xfrm>
            <a:off x="9963150" y="5937250"/>
            <a:ext cx="88900" cy="889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dot-2-4-3"/>
          <p:cNvSpPr/>
          <p:nvPr/>
        </p:nvSpPr>
        <p:spPr>
          <a:xfrm>
            <a:off x="10115550" y="5937250"/>
            <a:ext cx="88900" cy="889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dot-2-4-4"/>
          <p:cNvSpPr/>
          <p:nvPr/>
        </p:nvSpPr>
        <p:spPr>
          <a:xfrm>
            <a:off x="10267950" y="5937250"/>
            <a:ext cx="88900" cy="88900"/>
          </a:xfrm>
          <a:prstGeom prst="ellipse">
            <a:avLst/>
          </a:prstGeom>
          <a:solidFill>
            <a:srgbClr val="0B2545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dot-2-4-5"/>
          <p:cNvSpPr/>
          <p:nvPr/>
        </p:nvSpPr>
        <p:spPr>
          <a:xfrm>
            <a:off x="10420350" y="5937250"/>
            <a:ext cx="88900" cy="88900"/>
          </a:xfrm>
          <a:prstGeom prst="ellipse">
            <a:avLst/>
          </a:prstGeom>
          <a:solidFill>
            <a:srgbClr val="0B2545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note-bar"/>
          <p:cNvSpPr/>
          <p:nvPr/>
        </p:nvSpPr>
        <p:spPr>
          <a:xfrm>
            <a:off x="952500" y="6159500"/>
            <a:ext cx="25400" cy="2540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note-h"/>
          <p:cNvSpPr txBox="1"/>
          <p:nvPr/>
        </p:nvSpPr>
        <p:spPr>
          <a:xfrm>
            <a:off x="1105408" y="6186424"/>
            <a:ext cx="3200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口径</a:t>
            </a:r>
          </a:p>
        </p:txBody>
      </p:sp>
      <p:sp>
        <p:nvSpPr>
          <p:cNvPr id="80" name="note-p"/>
          <p:cNvSpPr txBox="1"/>
          <p:nvPr/>
        </p:nvSpPr>
        <p:spPr>
          <a:xfrm>
            <a:off x="1588770" y="6194266"/>
            <a:ext cx="35921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每条筹码按对三年经营结果的影响打 1–5 分，由经营班子独立打分后取中位数。</a:t>
            </a:r>
          </a:p>
        </p:txBody>
      </p:sp>
      <p:cxnSp>
        <p:nvCxnSpPr>
          <p:cNvPr id="81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foot-l"/>
          <p:cNvSpPr txBox="1"/>
          <p:nvPr/>
        </p:nvSpPr>
        <p:spPr>
          <a:xfrm>
            <a:off x="573532" y="6532308"/>
            <a:ext cx="128257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天平权衡 · 自研 vs 合作</a:t>
            </a:r>
          </a:p>
        </p:txBody>
      </p:sp>
      <p:sp>
        <p:nvSpPr>
          <p:cNvPr id="83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359918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客户门户改版 A/B 测试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44589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A/B TEST RESULT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646795" y="673132"/>
            <a:ext cx="29739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两周实验、两万次会话，B 版在三项核心指标上全面胜出</a:t>
            </a:r>
          </a:p>
        </p:txBody>
      </p:sp>
      <p:sp>
        <p:nvSpPr>
          <p:cNvPr id="10" name="v-1"/>
          <p:cNvSpPr/>
          <p:nvPr/>
        </p:nvSpPr>
        <p:spPr>
          <a:xfrm>
            <a:off x="952500" y="1409700"/>
            <a:ext cx="2921000" cy="825500"/>
          </a:xfrm>
          <a:custGeom>
            <a:avLst/>
            <a:gdLst/>
            <a:ahLst/>
            <a:cxnLst/>
            <a:rect l="0" t="0" r="r" b="b"/>
            <a:pathLst>
              <a:path w="2921000" h="825500">
                <a:moveTo>
                  <a:pt x="127000" y="0"/>
                </a:moveTo>
                <a:lnTo>
                  <a:pt x="2794000" y="0"/>
                </a:lnTo>
                <a:cubicBezTo>
                  <a:pt x="2864167" y="0"/>
                  <a:pt x="2921000" y="56832"/>
                  <a:pt x="2921000" y="127000"/>
                </a:cubicBezTo>
                <a:lnTo>
                  <a:pt x="2921000" y="698500"/>
                </a:lnTo>
                <a:cubicBezTo>
                  <a:pt x="2921000" y="768668"/>
                  <a:pt x="2864167" y="825500"/>
                  <a:pt x="2794000" y="825500"/>
                </a:cubicBezTo>
                <a:lnTo>
                  <a:pt x="127000" y="825500"/>
                </a:lnTo>
                <a:cubicBezTo>
                  <a:pt x="56832" y="825500"/>
                  <a:pt x="0" y="768668"/>
                  <a:pt x="0" y="698500"/>
                </a:cubicBezTo>
                <a:lnTo>
                  <a:pt x="0" y="127000"/>
                </a:lnTo>
                <a:cubicBezTo>
                  <a:pt x="0" y="56832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 w="10160" cap="rnd">
            <a:solidFill>
              <a:srgbClr val="3985CD">
                <a:alpha val="30000"/>
              </a:srgbClr>
            </a:solidFill>
            <a:round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vn-1"/>
          <p:cNvSpPr txBox="1"/>
          <p:nvPr/>
        </p:nvSpPr>
        <p:spPr>
          <a:xfrm>
            <a:off x="1144016" y="1539748"/>
            <a:ext cx="670814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60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A 版</a:t>
            </a:r>
          </a:p>
        </p:txBody>
      </p:sp>
      <p:sp>
        <p:nvSpPr>
          <p:cNvPr id="12" name="vs-1"/>
          <p:cNvSpPr txBox="1"/>
          <p:nvPr/>
        </p:nvSpPr>
        <p:spPr>
          <a:xfrm>
            <a:off x="1155065" y="1869361"/>
            <a:ext cx="55467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现有版本</a:t>
            </a:r>
          </a:p>
        </p:txBody>
      </p:sp>
      <p:sp>
        <p:nvSpPr>
          <p:cNvPr id="13" name="vg-1"/>
          <p:cNvSpPr/>
          <p:nvPr/>
        </p:nvSpPr>
        <p:spPr>
          <a:xfrm>
            <a:off x="2857500" y="1587500"/>
            <a:ext cx="825500" cy="215900"/>
          </a:xfrm>
          <a:custGeom>
            <a:avLst/>
            <a:gdLst/>
            <a:ahLst/>
            <a:cxnLst/>
            <a:rect l="0" t="0" r="r" b="b"/>
            <a:pathLst>
              <a:path w="825500" h="215900">
                <a:moveTo>
                  <a:pt x="107950" y="0"/>
                </a:moveTo>
                <a:lnTo>
                  <a:pt x="717550" y="0"/>
                </a:lnTo>
                <a:cubicBezTo>
                  <a:pt x="777176" y="0"/>
                  <a:pt x="825500" y="48324"/>
                  <a:pt x="825500" y="107950"/>
                </a:cubicBezTo>
                <a:lnTo>
                  <a:pt x="825500" y="107950"/>
                </a:lnTo>
                <a:cubicBezTo>
                  <a:pt x="825500" y="167576"/>
                  <a:pt x="777176" y="215900"/>
                  <a:pt x="717550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3985CD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vgt-1"/>
          <p:cNvSpPr txBox="1"/>
          <p:nvPr/>
        </p:nvSpPr>
        <p:spPr>
          <a:xfrm>
            <a:off x="3089275" y="1617408"/>
            <a:ext cx="36195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40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对照组</a:t>
            </a:r>
          </a:p>
        </p:txBody>
      </p:sp>
      <p:sp>
        <p:nvSpPr>
          <p:cNvPr id="15" name="vn2-1"/>
          <p:cNvSpPr txBox="1"/>
          <p:nvPr/>
        </p:nvSpPr>
        <p:spPr>
          <a:xfrm>
            <a:off x="3043238" y="1905587"/>
            <a:ext cx="65081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10,248 会话</a:t>
            </a:r>
          </a:p>
        </p:txBody>
      </p:sp>
      <p:sp>
        <p:nvSpPr>
          <p:cNvPr id="16" name="v-2"/>
          <p:cNvSpPr/>
          <p:nvPr/>
        </p:nvSpPr>
        <p:spPr>
          <a:xfrm>
            <a:off x="4127500" y="1409700"/>
            <a:ext cx="2921000" cy="825500"/>
          </a:xfrm>
          <a:custGeom>
            <a:avLst/>
            <a:gdLst/>
            <a:ahLst/>
            <a:cxnLst/>
            <a:rect l="0" t="0" r="r" b="b"/>
            <a:pathLst>
              <a:path w="2921000" h="825500">
                <a:moveTo>
                  <a:pt x="127000" y="0"/>
                </a:moveTo>
                <a:lnTo>
                  <a:pt x="2794000" y="0"/>
                </a:lnTo>
                <a:cubicBezTo>
                  <a:pt x="2864167" y="0"/>
                  <a:pt x="2921000" y="56832"/>
                  <a:pt x="2921000" y="127000"/>
                </a:cubicBezTo>
                <a:lnTo>
                  <a:pt x="2921000" y="698500"/>
                </a:lnTo>
                <a:cubicBezTo>
                  <a:pt x="2921000" y="768668"/>
                  <a:pt x="2864167" y="825500"/>
                  <a:pt x="2794000" y="825500"/>
                </a:cubicBezTo>
                <a:lnTo>
                  <a:pt x="127000" y="825500"/>
                </a:lnTo>
                <a:cubicBezTo>
                  <a:pt x="56833" y="825500"/>
                  <a:pt x="0" y="768668"/>
                  <a:pt x="0" y="6985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vn-2"/>
          <p:cNvSpPr txBox="1"/>
          <p:nvPr/>
        </p:nvSpPr>
        <p:spPr>
          <a:xfrm>
            <a:off x="4319016" y="1539748"/>
            <a:ext cx="670814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6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B 版</a:t>
            </a:r>
          </a:p>
        </p:txBody>
      </p:sp>
      <p:sp>
        <p:nvSpPr>
          <p:cNvPr id="18" name="vs-2"/>
          <p:cNvSpPr txBox="1"/>
          <p:nvPr/>
        </p:nvSpPr>
        <p:spPr>
          <a:xfrm>
            <a:off x="4330065" y="1869361"/>
            <a:ext cx="66833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新交互版本</a:t>
            </a:r>
          </a:p>
        </p:txBody>
      </p:sp>
      <p:sp>
        <p:nvSpPr>
          <p:cNvPr id="19" name="vg-2"/>
          <p:cNvSpPr/>
          <p:nvPr/>
        </p:nvSpPr>
        <p:spPr>
          <a:xfrm>
            <a:off x="6032500" y="1587500"/>
            <a:ext cx="825500" cy="215900"/>
          </a:xfrm>
          <a:custGeom>
            <a:avLst/>
            <a:gdLst/>
            <a:ahLst/>
            <a:cxnLst/>
            <a:rect l="0" t="0" r="r" b="b"/>
            <a:pathLst>
              <a:path w="825500" h="215900">
                <a:moveTo>
                  <a:pt x="107950" y="0"/>
                </a:moveTo>
                <a:lnTo>
                  <a:pt x="717550" y="0"/>
                </a:lnTo>
                <a:cubicBezTo>
                  <a:pt x="777177" y="0"/>
                  <a:pt x="825500" y="48324"/>
                  <a:pt x="825500" y="107950"/>
                </a:cubicBezTo>
                <a:lnTo>
                  <a:pt x="825500" y="107950"/>
                </a:lnTo>
                <a:cubicBezTo>
                  <a:pt x="825500" y="167576"/>
                  <a:pt x="777177" y="215900"/>
                  <a:pt x="717550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FFFFFF">
              <a:alpha val="2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vgt-2"/>
          <p:cNvSpPr txBox="1"/>
          <p:nvPr/>
        </p:nvSpPr>
        <p:spPr>
          <a:xfrm>
            <a:off x="6264275" y="1617408"/>
            <a:ext cx="36195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4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实验组</a:t>
            </a:r>
          </a:p>
        </p:txBody>
      </p:sp>
      <p:sp>
        <p:nvSpPr>
          <p:cNvPr id="21" name="vn2-2"/>
          <p:cNvSpPr txBox="1"/>
          <p:nvPr/>
        </p:nvSpPr>
        <p:spPr>
          <a:xfrm>
            <a:off x="6218238" y="1905587"/>
            <a:ext cx="65081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0" spc="2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10,126 会话</a:t>
            </a:r>
          </a:p>
        </p:txBody>
      </p:sp>
      <p:sp>
        <p:nvSpPr>
          <p:cNvPr id="22" name="judge"/>
          <p:cNvSpPr/>
          <p:nvPr/>
        </p:nvSpPr>
        <p:spPr>
          <a:xfrm>
            <a:off x="7302500" y="1409700"/>
            <a:ext cx="3937000" cy="825500"/>
          </a:xfrm>
          <a:custGeom>
            <a:avLst/>
            <a:gdLst/>
            <a:ahLst/>
            <a:cxnLst/>
            <a:rect l="0" t="0" r="r" b="b"/>
            <a:pathLst>
              <a:path w="3937000" h="825500">
                <a:moveTo>
                  <a:pt x="127000" y="0"/>
                </a:moveTo>
                <a:lnTo>
                  <a:pt x="3810000" y="0"/>
                </a:lnTo>
                <a:cubicBezTo>
                  <a:pt x="3880167" y="0"/>
                  <a:pt x="3937000" y="56832"/>
                  <a:pt x="3937000" y="127000"/>
                </a:cubicBezTo>
                <a:lnTo>
                  <a:pt x="3937000" y="698500"/>
                </a:lnTo>
                <a:cubicBezTo>
                  <a:pt x="3937000" y="768668"/>
                  <a:pt x="3880167" y="825500"/>
                  <a:pt x="3810000" y="825500"/>
                </a:cubicBezTo>
                <a:lnTo>
                  <a:pt x="127000" y="825500"/>
                </a:lnTo>
                <a:cubicBezTo>
                  <a:pt x="56833" y="825500"/>
                  <a:pt x="0" y="768668"/>
                  <a:pt x="0" y="6985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E0703A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judge-bar"/>
          <p:cNvSpPr/>
          <p:nvPr/>
        </p:nvSpPr>
        <p:spPr>
          <a:xfrm>
            <a:off x="7302500" y="1409700"/>
            <a:ext cx="38100" cy="825500"/>
          </a:xfrm>
          <a:custGeom>
            <a:avLst/>
            <a:gdLst/>
            <a:ahLst/>
            <a:cxnLst/>
            <a:rect l="0" t="0" r="r" b="b"/>
            <a:pathLst>
              <a:path w="38100" h="8255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806450"/>
                </a:lnTo>
                <a:cubicBezTo>
                  <a:pt x="38100" y="816991"/>
                  <a:pt x="29591" y="825500"/>
                  <a:pt x="19050" y="825500"/>
                </a:cubicBezTo>
                <a:lnTo>
                  <a:pt x="19050" y="825500"/>
                </a:lnTo>
                <a:cubicBezTo>
                  <a:pt x="8509" y="825500"/>
                  <a:pt x="0" y="816991"/>
                  <a:pt x="0" y="8064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judge-o"/>
          <p:cNvSpPr/>
          <p:nvPr/>
        </p:nvSpPr>
        <p:spPr>
          <a:xfrm>
            <a:off x="7543800" y="1581150"/>
            <a:ext cx="482600" cy="482600"/>
          </a:xfrm>
          <a:prstGeom prst="ellipse">
            <a:avLst/>
          </a:prstGeom>
          <a:solidFill>
            <a:srgbClr val="E0703A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icon-check"/>
          <p:cNvSpPr/>
          <p:nvPr/>
        </p:nvSpPr>
        <p:spPr>
          <a:xfrm>
            <a:off x="7727506" y="1782890"/>
            <a:ext cx="115189" cy="80962"/>
          </a:xfrm>
          <a:custGeom>
            <a:avLst/>
            <a:gdLst/>
            <a:ahLst/>
            <a:cxnLst/>
            <a:rect l="0" t="0" r="r" b="b"/>
            <a:pathLst>
              <a:path w="115189" h="80962">
                <a:moveTo>
                  <a:pt x="0" y="43180"/>
                </a:moveTo>
                <a:lnTo>
                  <a:pt x="37783" y="80962"/>
                </a:lnTo>
                <a:lnTo>
                  <a:pt x="115189" y="0"/>
                </a:lnTo>
              </a:path>
            </a:pathLst>
          </a:custGeom>
          <a:noFill/>
          <a:ln w="1778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judge-l"/>
          <p:cNvSpPr txBox="1"/>
          <p:nvPr/>
        </p:nvSpPr>
        <p:spPr>
          <a:xfrm>
            <a:off x="8180451" y="1588087"/>
            <a:ext cx="4968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9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实验判定</a:t>
            </a:r>
          </a:p>
        </p:txBody>
      </p:sp>
      <p:sp>
        <p:nvSpPr>
          <p:cNvPr id="27" name="judge-t"/>
          <p:cNvSpPr txBox="1"/>
          <p:nvPr/>
        </p:nvSpPr>
        <p:spPr>
          <a:xfrm>
            <a:off x="8165592" y="1727264"/>
            <a:ext cx="1179068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1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B 版胜出</a:t>
            </a:r>
          </a:p>
        </p:txBody>
      </p:sp>
      <p:sp>
        <p:nvSpPr>
          <p:cNvPr id="28" name="judge-p1"/>
          <p:cNvSpPr txBox="1"/>
          <p:nvPr/>
        </p:nvSpPr>
        <p:spPr>
          <a:xfrm>
            <a:off x="10260012" y="1653461"/>
            <a:ext cx="80232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3 项显著改善</a:t>
            </a:r>
          </a:p>
        </p:txBody>
      </p:sp>
      <p:sp>
        <p:nvSpPr>
          <p:cNvPr id="29" name="judge-p2"/>
          <p:cNvSpPr txBox="1"/>
          <p:nvPr/>
        </p:nvSpPr>
        <p:spPr>
          <a:xfrm>
            <a:off x="10276522" y="1869361"/>
            <a:ext cx="7858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建议全量发布</a:t>
            </a:r>
          </a:p>
        </p:txBody>
      </p:sp>
      <p:sp>
        <p:nvSpPr>
          <p:cNvPr id="30" name="th-1"/>
          <p:cNvSpPr txBox="1"/>
          <p:nvPr/>
        </p:nvSpPr>
        <p:spPr>
          <a:xfrm>
            <a:off x="966851" y="2273887"/>
            <a:ext cx="4968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9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核心指标</a:t>
            </a:r>
          </a:p>
        </p:txBody>
      </p:sp>
      <p:sp>
        <p:nvSpPr>
          <p:cNvPr id="31" name="th-2"/>
          <p:cNvSpPr txBox="1"/>
          <p:nvPr/>
        </p:nvSpPr>
        <p:spPr>
          <a:xfrm>
            <a:off x="4433951" y="2273887"/>
            <a:ext cx="73082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9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A 版 ▸ B 版</a:t>
            </a:r>
          </a:p>
        </p:txBody>
      </p:sp>
      <p:sp>
        <p:nvSpPr>
          <p:cNvPr id="32" name="th-3"/>
          <p:cNvSpPr txBox="1"/>
          <p:nvPr/>
        </p:nvSpPr>
        <p:spPr>
          <a:xfrm>
            <a:off x="9554051" y="2273887"/>
            <a:ext cx="70389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9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变化与显著性</a:t>
            </a:r>
          </a:p>
        </p:txBody>
      </p:sp>
      <p:cxnSp>
        <p:nvCxnSpPr>
          <p:cNvPr id="33" name="th-line"/>
          <p:cNvCxnSpPr/>
          <p:nvPr/>
        </p:nvCxnSpPr>
        <p:spPr>
          <a:xfrm>
            <a:off x="952500" y="24892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1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nm-1"/>
          <p:cNvSpPr txBox="1"/>
          <p:nvPr/>
        </p:nvSpPr>
        <p:spPr>
          <a:xfrm>
            <a:off x="961136" y="2672270"/>
            <a:ext cx="871855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自助完成率</a:t>
            </a:r>
          </a:p>
        </p:txBody>
      </p:sp>
      <p:sp>
        <p:nvSpPr>
          <p:cNvPr id="35" name="nd-1"/>
          <p:cNvSpPr txBox="1"/>
          <p:nvPr/>
        </p:nvSpPr>
        <p:spPr>
          <a:xfrm>
            <a:off x="967232" y="2925508"/>
            <a:ext cx="4483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越高越好</a:t>
            </a:r>
          </a:p>
        </p:txBody>
      </p:sp>
      <p:sp>
        <p:nvSpPr>
          <p:cNvPr id="36" name="bar-1-1"/>
          <p:cNvSpPr/>
          <p:nvPr/>
        </p:nvSpPr>
        <p:spPr>
          <a:xfrm>
            <a:off x="4445000" y="2667000"/>
            <a:ext cx="2783332" cy="177800"/>
          </a:xfrm>
          <a:custGeom>
            <a:avLst/>
            <a:gdLst/>
            <a:ahLst/>
            <a:cxnLst/>
            <a:rect l="0" t="0" r="r" b="b"/>
            <a:pathLst>
              <a:path w="2783332" h="177800">
                <a:moveTo>
                  <a:pt x="88900" y="0"/>
                </a:moveTo>
                <a:lnTo>
                  <a:pt x="2694432" y="0"/>
                </a:lnTo>
                <a:cubicBezTo>
                  <a:pt x="2743517" y="0"/>
                  <a:pt x="2783332" y="39814"/>
                  <a:pt x="2783332" y="88900"/>
                </a:cubicBezTo>
                <a:lnTo>
                  <a:pt x="2783332" y="88900"/>
                </a:lnTo>
                <a:cubicBezTo>
                  <a:pt x="2783332" y="137986"/>
                  <a:pt x="2743517" y="177800"/>
                  <a:pt x="2694432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65A0D8"/>
              </a:gs>
              <a:gs pos="100000">
                <a:srgbClr val="3985CD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barv-1-1"/>
          <p:cNvSpPr txBox="1"/>
          <p:nvPr/>
        </p:nvSpPr>
        <p:spPr>
          <a:xfrm>
            <a:off x="7305049" y="2668524"/>
            <a:ext cx="385445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15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62.4%</a:t>
            </a:r>
          </a:p>
        </p:txBody>
      </p:sp>
      <p:sp>
        <p:nvSpPr>
          <p:cNvPr id="38" name="barl-1-1"/>
          <p:cNvSpPr txBox="1"/>
          <p:nvPr/>
        </p:nvSpPr>
        <p:spPr>
          <a:xfrm>
            <a:off x="4236974" y="26842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39" name="bar-1-2"/>
          <p:cNvSpPr/>
          <p:nvPr/>
        </p:nvSpPr>
        <p:spPr>
          <a:xfrm>
            <a:off x="4445000" y="2895600"/>
            <a:ext cx="3336417" cy="177800"/>
          </a:xfrm>
          <a:custGeom>
            <a:avLst/>
            <a:gdLst/>
            <a:ahLst/>
            <a:cxnLst/>
            <a:rect l="0" t="0" r="r" b="b"/>
            <a:pathLst>
              <a:path w="3336417" h="177800">
                <a:moveTo>
                  <a:pt x="88900" y="0"/>
                </a:moveTo>
                <a:lnTo>
                  <a:pt x="3247517" y="0"/>
                </a:lnTo>
                <a:cubicBezTo>
                  <a:pt x="3296666" y="0"/>
                  <a:pt x="3336417" y="39814"/>
                  <a:pt x="3336417" y="88900"/>
                </a:cubicBezTo>
                <a:lnTo>
                  <a:pt x="3336417" y="88900"/>
                </a:lnTo>
                <a:cubicBezTo>
                  <a:pt x="3336417" y="137986"/>
                  <a:pt x="3296666" y="177800"/>
                  <a:pt x="3247517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4168A8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barv-1-2"/>
          <p:cNvSpPr txBox="1"/>
          <p:nvPr/>
        </p:nvSpPr>
        <p:spPr>
          <a:xfrm>
            <a:off x="7858149" y="2897124"/>
            <a:ext cx="385445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74.8%</a:t>
            </a:r>
          </a:p>
        </p:txBody>
      </p:sp>
      <p:sp>
        <p:nvSpPr>
          <p:cNvPr id="41" name="barl-1-2"/>
          <p:cNvSpPr txBox="1"/>
          <p:nvPr/>
        </p:nvSpPr>
        <p:spPr>
          <a:xfrm>
            <a:off x="4236974" y="29128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B</a:t>
            </a:r>
          </a:p>
        </p:txBody>
      </p:sp>
      <p:sp>
        <p:nvSpPr>
          <p:cNvPr id="42" name="dl-1"/>
          <p:cNvSpPr/>
          <p:nvPr/>
        </p:nvSpPr>
        <p:spPr>
          <a:xfrm>
            <a:off x="9271000" y="2717800"/>
            <a:ext cx="1092200" cy="330200"/>
          </a:xfrm>
          <a:custGeom>
            <a:avLst/>
            <a:gdLst/>
            <a:ahLst/>
            <a:cxnLst/>
            <a:rect l="0" t="0" r="r" b="b"/>
            <a:pathLst>
              <a:path w="1092200" h="330200">
                <a:moveTo>
                  <a:pt x="101600" y="0"/>
                </a:moveTo>
                <a:lnTo>
                  <a:pt x="990600" y="0"/>
                </a:lnTo>
                <a:cubicBezTo>
                  <a:pt x="1046734" y="0"/>
                  <a:pt x="1092200" y="45466"/>
                  <a:pt x="1092200" y="101600"/>
                </a:cubicBezTo>
                <a:lnTo>
                  <a:pt x="1092200" y="228600"/>
                </a:lnTo>
                <a:cubicBezTo>
                  <a:pt x="1092200" y="284734"/>
                  <a:pt x="1046734" y="330200"/>
                  <a:pt x="990600" y="330200"/>
                </a:cubicBezTo>
                <a:lnTo>
                  <a:pt x="101600" y="330200"/>
                </a:lnTo>
                <a:cubicBezTo>
                  <a:pt x="45466" y="330200"/>
                  <a:pt x="0" y="284734"/>
                  <a:pt x="0" y="228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134C9C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dlv-1"/>
          <p:cNvSpPr txBox="1"/>
          <p:nvPr/>
        </p:nvSpPr>
        <p:spPr>
          <a:xfrm>
            <a:off x="9511919" y="2761170"/>
            <a:ext cx="610362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 spc="20">
                <a:solidFill>
                  <a:srgbClr val="134C9C"/>
                </a:solidFill>
                <a:latin typeface="Arial"/>
                <a:ea typeface="Arial"/>
                <a:cs typeface="Arial"/>
              </a:rPr>
              <a:t>+19.9%</a:t>
            </a:r>
          </a:p>
        </p:txBody>
      </p:sp>
      <p:sp>
        <p:nvSpPr>
          <p:cNvPr id="44" name="sg-1"/>
          <p:cNvSpPr/>
          <p:nvPr/>
        </p:nvSpPr>
        <p:spPr>
          <a:xfrm>
            <a:off x="10477500" y="2717800"/>
            <a:ext cx="749300" cy="330200"/>
          </a:xfrm>
          <a:custGeom>
            <a:avLst/>
            <a:gdLst/>
            <a:ahLst/>
            <a:cxnLst/>
            <a:rect l="0" t="0" r="r" b="b"/>
            <a:pathLst>
              <a:path w="749300" h="330200">
                <a:moveTo>
                  <a:pt x="101600" y="0"/>
                </a:moveTo>
                <a:lnTo>
                  <a:pt x="647700" y="0"/>
                </a:lnTo>
                <a:cubicBezTo>
                  <a:pt x="703834" y="0"/>
                  <a:pt x="749300" y="45466"/>
                  <a:pt x="749300" y="101600"/>
                </a:cubicBezTo>
                <a:lnTo>
                  <a:pt x="749300" y="228600"/>
                </a:lnTo>
                <a:cubicBezTo>
                  <a:pt x="749300" y="284734"/>
                  <a:pt x="703834" y="330200"/>
                  <a:pt x="647700" y="330200"/>
                </a:cubicBezTo>
                <a:lnTo>
                  <a:pt x="101600" y="330200"/>
                </a:lnTo>
                <a:cubicBezTo>
                  <a:pt x="45466" y="330200"/>
                  <a:pt x="0" y="284734"/>
                  <a:pt x="0" y="228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sgv-1"/>
          <p:cNvSpPr txBox="1"/>
          <p:nvPr/>
        </p:nvSpPr>
        <p:spPr>
          <a:xfrm>
            <a:off x="10718228" y="274472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134C9C"/>
                </a:solidFill>
                <a:latin typeface="Arial"/>
                <a:ea typeface="Arial"/>
                <a:cs typeface="Arial"/>
              </a:rPr>
              <a:t>99%</a:t>
            </a:r>
          </a:p>
        </p:txBody>
      </p:sp>
      <p:sp>
        <p:nvSpPr>
          <p:cNvPr id="46" name="sgl-1"/>
          <p:cNvSpPr txBox="1"/>
          <p:nvPr/>
        </p:nvSpPr>
        <p:spPr>
          <a:xfrm>
            <a:off x="10720705" y="2887408"/>
            <a:ext cx="2628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显著</a:t>
            </a:r>
          </a:p>
        </p:txBody>
      </p:sp>
      <p:cxnSp>
        <p:nvCxnSpPr>
          <p:cNvPr id="47" name="rl-1"/>
          <p:cNvCxnSpPr/>
          <p:nvPr/>
        </p:nvCxnSpPr>
        <p:spPr>
          <a:xfrm>
            <a:off x="952500" y="32512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nm-2"/>
          <p:cNvSpPr txBox="1"/>
          <p:nvPr/>
        </p:nvSpPr>
        <p:spPr>
          <a:xfrm>
            <a:off x="961136" y="3446971"/>
            <a:ext cx="102108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平均完成时长</a:t>
            </a:r>
          </a:p>
        </p:txBody>
      </p:sp>
      <p:sp>
        <p:nvSpPr>
          <p:cNvPr id="49" name="nd-2"/>
          <p:cNvSpPr txBox="1"/>
          <p:nvPr/>
        </p:nvSpPr>
        <p:spPr>
          <a:xfrm>
            <a:off x="967232" y="3700208"/>
            <a:ext cx="4483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越低越好</a:t>
            </a:r>
          </a:p>
        </p:txBody>
      </p:sp>
      <p:sp>
        <p:nvSpPr>
          <p:cNvPr id="50" name="bar-2-1"/>
          <p:cNvSpPr/>
          <p:nvPr/>
        </p:nvSpPr>
        <p:spPr>
          <a:xfrm>
            <a:off x="4445000" y="3441700"/>
            <a:ext cx="3336417" cy="177800"/>
          </a:xfrm>
          <a:custGeom>
            <a:avLst/>
            <a:gdLst/>
            <a:ahLst/>
            <a:cxnLst/>
            <a:rect l="0" t="0" r="r" b="b"/>
            <a:pathLst>
              <a:path w="3336417" h="177800">
                <a:moveTo>
                  <a:pt x="88900" y="0"/>
                </a:moveTo>
                <a:lnTo>
                  <a:pt x="3247517" y="0"/>
                </a:lnTo>
                <a:cubicBezTo>
                  <a:pt x="3296666" y="0"/>
                  <a:pt x="3336417" y="39814"/>
                  <a:pt x="3336417" y="88900"/>
                </a:cubicBezTo>
                <a:lnTo>
                  <a:pt x="3336417" y="88900"/>
                </a:lnTo>
                <a:cubicBezTo>
                  <a:pt x="3336417" y="137986"/>
                  <a:pt x="3296666" y="177800"/>
                  <a:pt x="3247517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65A0D8"/>
              </a:gs>
              <a:gs pos="100000">
                <a:srgbClr val="3985CD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barv-2-1"/>
          <p:cNvSpPr txBox="1"/>
          <p:nvPr/>
        </p:nvSpPr>
        <p:spPr>
          <a:xfrm>
            <a:off x="7858149" y="3443224"/>
            <a:ext cx="37134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15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268秒</a:t>
            </a:r>
          </a:p>
        </p:txBody>
      </p:sp>
      <p:sp>
        <p:nvSpPr>
          <p:cNvPr id="52" name="barl-2-1"/>
          <p:cNvSpPr txBox="1"/>
          <p:nvPr/>
        </p:nvSpPr>
        <p:spPr>
          <a:xfrm>
            <a:off x="4236974" y="34589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53" name="bar-2-2"/>
          <p:cNvSpPr/>
          <p:nvPr/>
        </p:nvSpPr>
        <p:spPr>
          <a:xfrm>
            <a:off x="4445000" y="3670300"/>
            <a:ext cx="2315591" cy="177800"/>
          </a:xfrm>
          <a:custGeom>
            <a:avLst/>
            <a:gdLst/>
            <a:ahLst/>
            <a:cxnLst/>
            <a:rect l="0" t="0" r="r" b="b"/>
            <a:pathLst>
              <a:path w="2315591" h="177800">
                <a:moveTo>
                  <a:pt x="88900" y="0"/>
                </a:moveTo>
                <a:lnTo>
                  <a:pt x="2226691" y="0"/>
                </a:lnTo>
                <a:cubicBezTo>
                  <a:pt x="2275777" y="0"/>
                  <a:pt x="2315591" y="39814"/>
                  <a:pt x="2315591" y="88900"/>
                </a:cubicBezTo>
                <a:lnTo>
                  <a:pt x="2315591" y="88900"/>
                </a:lnTo>
                <a:cubicBezTo>
                  <a:pt x="2315591" y="137986"/>
                  <a:pt x="2275777" y="177800"/>
                  <a:pt x="2226691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4168A8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barv-2-2"/>
          <p:cNvSpPr txBox="1"/>
          <p:nvPr/>
        </p:nvSpPr>
        <p:spPr>
          <a:xfrm>
            <a:off x="6837297" y="3671824"/>
            <a:ext cx="37134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186秒</a:t>
            </a:r>
          </a:p>
        </p:txBody>
      </p:sp>
      <p:sp>
        <p:nvSpPr>
          <p:cNvPr id="55" name="barl-2-2"/>
          <p:cNvSpPr txBox="1"/>
          <p:nvPr/>
        </p:nvSpPr>
        <p:spPr>
          <a:xfrm>
            <a:off x="4236974" y="36875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B</a:t>
            </a:r>
          </a:p>
        </p:txBody>
      </p:sp>
      <p:sp>
        <p:nvSpPr>
          <p:cNvPr id="56" name="dl-2"/>
          <p:cNvSpPr/>
          <p:nvPr/>
        </p:nvSpPr>
        <p:spPr>
          <a:xfrm>
            <a:off x="9271000" y="3492500"/>
            <a:ext cx="1092200" cy="330200"/>
          </a:xfrm>
          <a:custGeom>
            <a:avLst/>
            <a:gdLst/>
            <a:ahLst/>
            <a:cxnLst/>
            <a:rect l="0" t="0" r="r" b="b"/>
            <a:pathLst>
              <a:path w="1092200" h="330200">
                <a:moveTo>
                  <a:pt x="101600" y="0"/>
                </a:moveTo>
                <a:lnTo>
                  <a:pt x="990600" y="0"/>
                </a:lnTo>
                <a:cubicBezTo>
                  <a:pt x="1046734" y="0"/>
                  <a:pt x="1092200" y="45466"/>
                  <a:pt x="1092200" y="101600"/>
                </a:cubicBezTo>
                <a:lnTo>
                  <a:pt x="1092200" y="228600"/>
                </a:lnTo>
                <a:cubicBezTo>
                  <a:pt x="1092200" y="284734"/>
                  <a:pt x="1046734" y="330200"/>
                  <a:pt x="990600" y="330200"/>
                </a:cubicBezTo>
                <a:lnTo>
                  <a:pt x="101600" y="330200"/>
                </a:lnTo>
                <a:cubicBezTo>
                  <a:pt x="45466" y="330200"/>
                  <a:pt x="0" y="284734"/>
                  <a:pt x="0" y="228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134C9C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dlv-2"/>
          <p:cNvSpPr txBox="1"/>
          <p:nvPr/>
        </p:nvSpPr>
        <p:spPr>
          <a:xfrm>
            <a:off x="9511919" y="3535871"/>
            <a:ext cx="610362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 spc="20">
                <a:solidFill>
                  <a:srgbClr val="134C9C"/>
                </a:solidFill>
                <a:latin typeface="Arial"/>
                <a:ea typeface="Arial"/>
                <a:cs typeface="Arial"/>
              </a:rPr>
              <a:t>-30.6%</a:t>
            </a:r>
          </a:p>
        </p:txBody>
      </p:sp>
      <p:sp>
        <p:nvSpPr>
          <p:cNvPr id="58" name="sg-2"/>
          <p:cNvSpPr/>
          <p:nvPr/>
        </p:nvSpPr>
        <p:spPr>
          <a:xfrm>
            <a:off x="10477500" y="3492500"/>
            <a:ext cx="749300" cy="330200"/>
          </a:xfrm>
          <a:custGeom>
            <a:avLst/>
            <a:gdLst/>
            <a:ahLst/>
            <a:cxnLst/>
            <a:rect l="0" t="0" r="r" b="b"/>
            <a:pathLst>
              <a:path w="749300" h="330200">
                <a:moveTo>
                  <a:pt x="101600" y="0"/>
                </a:moveTo>
                <a:lnTo>
                  <a:pt x="647700" y="0"/>
                </a:lnTo>
                <a:cubicBezTo>
                  <a:pt x="703834" y="0"/>
                  <a:pt x="749300" y="45466"/>
                  <a:pt x="749300" y="101600"/>
                </a:cubicBezTo>
                <a:lnTo>
                  <a:pt x="749300" y="228600"/>
                </a:lnTo>
                <a:cubicBezTo>
                  <a:pt x="749300" y="284734"/>
                  <a:pt x="703834" y="330200"/>
                  <a:pt x="647700" y="330200"/>
                </a:cubicBezTo>
                <a:lnTo>
                  <a:pt x="101600" y="330200"/>
                </a:lnTo>
                <a:cubicBezTo>
                  <a:pt x="45466" y="330200"/>
                  <a:pt x="0" y="284734"/>
                  <a:pt x="0" y="228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sgv-2"/>
          <p:cNvSpPr txBox="1"/>
          <p:nvPr/>
        </p:nvSpPr>
        <p:spPr>
          <a:xfrm>
            <a:off x="10718228" y="351942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134C9C"/>
                </a:solidFill>
                <a:latin typeface="Arial"/>
                <a:ea typeface="Arial"/>
                <a:cs typeface="Arial"/>
              </a:rPr>
              <a:t>99%</a:t>
            </a:r>
          </a:p>
        </p:txBody>
      </p:sp>
      <p:sp>
        <p:nvSpPr>
          <p:cNvPr id="60" name="sgl-2"/>
          <p:cNvSpPr txBox="1"/>
          <p:nvPr/>
        </p:nvSpPr>
        <p:spPr>
          <a:xfrm>
            <a:off x="10720705" y="3662108"/>
            <a:ext cx="2628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显著</a:t>
            </a:r>
          </a:p>
        </p:txBody>
      </p:sp>
      <p:cxnSp>
        <p:nvCxnSpPr>
          <p:cNvPr id="61" name="rl-2"/>
          <p:cNvCxnSpPr/>
          <p:nvPr/>
        </p:nvCxnSpPr>
        <p:spPr>
          <a:xfrm>
            <a:off x="952500" y="40259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nm-3"/>
          <p:cNvSpPr txBox="1"/>
          <p:nvPr/>
        </p:nvSpPr>
        <p:spPr>
          <a:xfrm>
            <a:off x="961136" y="4221670"/>
            <a:ext cx="102108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工单转人工率</a:t>
            </a:r>
          </a:p>
        </p:txBody>
      </p:sp>
      <p:sp>
        <p:nvSpPr>
          <p:cNvPr id="63" name="nd-3"/>
          <p:cNvSpPr txBox="1"/>
          <p:nvPr/>
        </p:nvSpPr>
        <p:spPr>
          <a:xfrm>
            <a:off x="967232" y="4474908"/>
            <a:ext cx="4483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越低越好</a:t>
            </a:r>
          </a:p>
        </p:txBody>
      </p:sp>
      <p:sp>
        <p:nvSpPr>
          <p:cNvPr id="64" name="bar-3-1"/>
          <p:cNvSpPr/>
          <p:nvPr/>
        </p:nvSpPr>
        <p:spPr>
          <a:xfrm>
            <a:off x="4445000" y="4216400"/>
            <a:ext cx="3336417" cy="177800"/>
          </a:xfrm>
          <a:custGeom>
            <a:avLst/>
            <a:gdLst/>
            <a:ahLst/>
            <a:cxnLst/>
            <a:rect l="0" t="0" r="r" b="b"/>
            <a:pathLst>
              <a:path w="3336417" h="177800">
                <a:moveTo>
                  <a:pt x="88900" y="0"/>
                </a:moveTo>
                <a:lnTo>
                  <a:pt x="3247517" y="0"/>
                </a:lnTo>
                <a:cubicBezTo>
                  <a:pt x="3296666" y="0"/>
                  <a:pt x="3336417" y="39814"/>
                  <a:pt x="3336417" y="88900"/>
                </a:cubicBezTo>
                <a:lnTo>
                  <a:pt x="3336417" y="88900"/>
                </a:lnTo>
                <a:cubicBezTo>
                  <a:pt x="3336417" y="137986"/>
                  <a:pt x="3296666" y="177800"/>
                  <a:pt x="3247517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65A0D8"/>
              </a:gs>
              <a:gs pos="100000">
                <a:srgbClr val="3985CD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barv-3-1"/>
          <p:cNvSpPr txBox="1"/>
          <p:nvPr/>
        </p:nvSpPr>
        <p:spPr>
          <a:xfrm>
            <a:off x="7858149" y="4217924"/>
            <a:ext cx="385445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15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18.6%</a:t>
            </a:r>
          </a:p>
        </p:txBody>
      </p:sp>
      <p:sp>
        <p:nvSpPr>
          <p:cNvPr id="66" name="barl-3-1"/>
          <p:cNvSpPr txBox="1"/>
          <p:nvPr/>
        </p:nvSpPr>
        <p:spPr>
          <a:xfrm>
            <a:off x="4236974" y="42336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67" name="bar-3-2"/>
          <p:cNvSpPr/>
          <p:nvPr/>
        </p:nvSpPr>
        <p:spPr>
          <a:xfrm>
            <a:off x="4445000" y="4445000"/>
            <a:ext cx="2009013" cy="177800"/>
          </a:xfrm>
          <a:custGeom>
            <a:avLst/>
            <a:gdLst/>
            <a:ahLst/>
            <a:cxnLst/>
            <a:rect l="0" t="0" r="r" b="b"/>
            <a:pathLst>
              <a:path w="2009013" h="177800">
                <a:moveTo>
                  <a:pt x="88900" y="0"/>
                </a:moveTo>
                <a:lnTo>
                  <a:pt x="1920113" y="0"/>
                </a:lnTo>
                <a:cubicBezTo>
                  <a:pt x="1969262" y="0"/>
                  <a:pt x="2009013" y="39814"/>
                  <a:pt x="2009013" y="88900"/>
                </a:cubicBezTo>
                <a:lnTo>
                  <a:pt x="2009013" y="88900"/>
                </a:lnTo>
                <a:cubicBezTo>
                  <a:pt x="2009013" y="137986"/>
                  <a:pt x="1969262" y="177800"/>
                  <a:pt x="1920113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4168A8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barv-3-2"/>
          <p:cNvSpPr txBox="1"/>
          <p:nvPr/>
        </p:nvSpPr>
        <p:spPr>
          <a:xfrm>
            <a:off x="6530748" y="4446524"/>
            <a:ext cx="385445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11.2%</a:t>
            </a:r>
          </a:p>
        </p:txBody>
      </p:sp>
      <p:sp>
        <p:nvSpPr>
          <p:cNvPr id="69" name="barl-3-2"/>
          <p:cNvSpPr txBox="1"/>
          <p:nvPr/>
        </p:nvSpPr>
        <p:spPr>
          <a:xfrm>
            <a:off x="4236974" y="44622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B</a:t>
            </a:r>
          </a:p>
        </p:txBody>
      </p:sp>
      <p:sp>
        <p:nvSpPr>
          <p:cNvPr id="70" name="dl-3"/>
          <p:cNvSpPr/>
          <p:nvPr/>
        </p:nvSpPr>
        <p:spPr>
          <a:xfrm>
            <a:off x="9271000" y="4267200"/>
            <a:ext cx="1092200" cy="330200"/>
          </a:xfrm>
          <a:custGeom>
            <a:avLst/>
            <a:gdLst/>
            <a:ahLst/>
            <a:cxnLst/>
            <a:rect l="0" t="0" r="r" b="b"/>
            <a:pathLst>
              <a:path w="1092200" h="330200">
                <a:moveTo>
                  <a:pt x="101600" y="0"/>
                </a:moveTo>
                <a:lnTo>
                  <a:pt x="990600" y="0"/>
                </a:lnTo>
                <a:cubicBezTo>
                  <a:pt x="1046734" y="0"/>
                  <a:pt x="1092200" y="45466"/>
                  <a:pt x="1092200" y="101600"/>
                </a:cubicBezTo>
                <a:lnTo>
                  <a:pt x="1092200" y="228600"/>
                </a:lnTo>
                <a:cubicBezTo>
                  <a:pt x="1092200" y="284734"/>
                  <a:pt x="1046734" y="330200"/>
                  <a:pt x="990600" y="330200"/>
                </a:cubicBezTo>
                <a:lnTo>
                  <a:pt x="101600" y="330200"/>
                </a:lnTo>
                <a:cubicBezTo>
                  <a:pt x="45466" y="330200"/>
                  <a:pt x="0" y="284734"/>
                  <a:pt x="0" y="228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134C9C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dlv-3"/>
          <p:cNvSpPr txBox="1"/>
          <p:nvPr/>
        </p:nvSpPr>
        <p:spPr>
          <a:xfrm>
            <a:off x="9511919" y="4310570"/>
            <a:ext cx="610362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 spc="20">
                <a:solidFill>
                  <a:srgbClr val="134C9C"/>
                </a:solidFill>
                <a:latin typeface="Arial"/>
                <a:ea typeface="Arial"/>
                <a:cs typeface="Arial"/>
              </a:rPr>
              <a:t>-39.8%</a:t>
            </a:r>
          </a:p>
        </p:txBody>
      </p:sp>
      <p:sp>
        <p:nvSpPr>
          <p:cNvPr id="72" name="sg-3"/>
          <p:cNvSpPr/>
          <p:nvPr/>
        </p:nvSpPr>
        <p:spPr>
          <a:xfrm>
            <a:off x="10477500" y="4267200"/>
            <a:ext cx="749300" cy="330200"/>
          </a:xfrm>
          <a:custGeom>
            <a:avLst/>
            <a:gdLst/>
            <a:ahLst/>
            <a:cxnLst/>
            <a:rect l="0" t="0" r="r" b="b"/>
            <a:pathLst>
              <a:path w="749300" h="330200">
                <a:moveTo>
                  <a:pt x="101600" y="0"/>
                </a:moveTo>
                <a:lnTo>
                  <a:pt x="647700" y="0"/>
                </a:lnTo>
                <a:cubicBezTo>
                  <a:pt x="703834" y="0"/>
                  <a:pt x="749300" y="45466"/>
                  <a:pt x="749300" y="101600"/>
                </a:cubicBezTo>
                <a:lnTo>
                  <a:pt x="749300" y="228600"/>
                </a:lnTo>
                <a:cubicBezTo>
                  <a:pt x="749300" y="284734"/>
                  <a:pt x="703834" y="330200"/>
                  <a:pt x="647700" y="330200"/>
                </a:cubicBezTo>
                <a:lnTo>
                  <a:pt x="101600" y="330200"/>
                </a:lnTo>
                <a:cubicBezTo>
                  <a:pt x="45466" y="330200"/>
                  <a:pt x="0" y="284734"/>
                  <a:pt x="0" y="228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sgv-3"/>
          <p:cNvSpPr txBox="1"/>
          <p:nvPr/>
        </p:nvSpPr>
        <p:spPr>
          <a:xfrm>
            <a:off x="10718228" y="429412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134C9C"/>
                </a:solidFill>
                <a:latin typeface="Arial"/>
                <a:ea typeface="Arial"/>
                <a:cs typeface="Arial"/>
              </a:rPr>
              <a:t>97%</a:t>
            </a:r>
          </a:p>
        </p:txBody>
      </p:sp>
      <p:sp>
        <p:nvSpPr>
          <p:cNvPr id="74" name="sgl-3"/>
          <p:cNvSpPr txBox="1"/>
          <p:nvPr/>
        </p:nvSpPr>
        <p:spPr>
          <a:xfrm>
            <a:off x="10720705" y="4436808"/>
            <a:ext cx="2628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显著</a:t>
            </a:r>
          </a:p>
        </p:txBody>
      </p:sp>
      <p:cxnSp>
        <p:nvCxnSpPr>
          <p:cNvPr id="75" name="rl-3"/>
          <p:cNvCxnSpPr/>
          <p:nvPr/>
        </p:nvCxnSpPr>
        <p:spPr>
          <a:xfrm>
            <a:off x="952500" y="48006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nm-4"/>
          <p:cNvSpPr txBox="1"/>
          <p:nvPr/>
        </p:nvSpPr>
        <p:spPr>
          <a:xfrm>
            <a:off x="961136" y="4996370"/>
            <a:ext cx="871855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满意度评分</a:t>
            </a:r>
          </a:p>
        </p:txBody>
      </p:sp>
      <p:sp>
        <p:nvSpPr>
          <p:cNvPr id="77" name="nd-4"/>
          <p:cNvSpPr txBox="1"/>
          <p:nvPr/>
        </p:nvSpPr>
        <p:spPr>
          <a:xfrm>
            <a:off x="967232" y="5249608"/>
            <a:ext cx="4483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越高越好</a:t>
            </a:r>
          </a:p>
        </p:txBody>
      </p:sp>
      <p:sp>
        <p:nvSpPr>
          <p:cNvPr id="78" name="bar-4-1"/>
          <p:cNvSpPr/>
          <p:nvPr/>
        </p:nvSpPr>
        <p:spPr>
          <a:xfrm>
            <a:off x="4445000" y="4991100"/>
            <a:ext cx="3114040" cy="177800"/>
          </a:xfrm>
          <a:custGeom>
            <a:avLst/>
            <a:gdLst/>
            <a:ahLst/>
            <a:cxnLst/>
            <a:rect l="0" t="0" r="r" b="b"/>
            <a:pathLst>
              <a:path w="3114040" h="177800">
                <a:moveTo>
                  <a:pt x="88900" y="0"/>
                </a:moveTo>
                <a:lnTo>
                  <a:pt x="3025140" y="0"/>
                </a:lnTo>
                <a:cubicBezTo>
                  <a:pt x="3074226" y="0"/>
                  <a:pt x="3114040" y="39814"/>
                  <a:pt x="3114040" y="88900"/>
                </a:cubicBezTo>
                <a:lnTo>
                  <a:pt x="3114040" y="88900"/>
                </a:lnTo>
                <a:cubicBezTo>
                  <a:pt x="3114040" y="137986"/>
                  <a:pt x="3074226" y="177800"/>
                  <a:pt x="302514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65A0D8"/>
              </a:gs>
              <a:gs pos="100000">
                <a:srgbClr val="3985CD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barv-4-1"/>
          <p:cNvSpPr txBox="1"/>
          <p:nvPr/>
        </p:nvSpPr>
        <p:spPr>
          <a:xfrm>
            <a:off x="7635719" y="4992624"/>
            <a:ext cx="37134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15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4.2分</a:t>
            </a:r>
          </a:p>
        </p:txBody>
      </p:sp>
      <p:sp>
        <p:nvSpPr>
          <p:cNvPr id="80" name="barl-4-1"/>
          <p:cNvSpPr txBox="1"/>
          <p:nvPr/>
        </p:nvSpPr>
        <p:spPr>
          <a:xfrm>
            <a:off x="4236974" y="50083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81" name="bar-4-2"/>
          <p:cNvSpPr/>
          <p:nvPr/>
        </p:nvSpPr>
        <p:spPr>
          <a:xfrm>
            <a:off x="4445000" y="5219700"/>
            <a:ext cx="3336417" cy="177800"/>
          </a:xfrm>
          <a:custGeom>
            <a:avLst/>
            <a:gdLst/>
            <a:ahLst/>
            <a:cxnLst/>
            <a:rect l="0" t="0" r="r" b="b"/>
            <a:pathLst>
              <a:path w="3336417" h="177800">
                <a:moveTo>
                  <a:pt x="88900" y="0"/>
                </a:moveTo>
                <a:lnTo>
                  <a:pt x="3247517" y="0"/>
                </a:lnTo>
                <a:cubicBezTo>
                  <a:pt x="3296666" y="0"/>
                  <a:pt x="3336417" y="39814"/>
                  <a:pt x="3336417" y="88900"/>
                </a:cubicBezTo>
                <a:lnTo>
                  <a:pt x="3336417" y="88900"/>
                </a:lnTo>
                <a:cubicBezTo>
                  <a:pt x="3336417" y="137986"/>
                  <a:pt x="3296666" y="177800"/>
                  <a:pt x="3247517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4168A8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barv-4-2"/>
          <p:cNvSpPr txBox="1"/>
          <p:nvPr/>
        </p:nvSpPr>
        <p:spPr>
          <a:xfrm>
            <a:off x="7858149" y="5221224"/>
            <a:ext cx="37134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4.5分</a:t>
            </a:r>
          </a:p>
        </p:txBody>
      </p:sp>
      <p:sp>
        <p:nvSpPr>
          <p:cNvPr id="83" name="barl-4-2"/>
          <p:cNvSpPr txBox="1"/>
          <p:nvPr/>
        </p:nvSpPr>
        <p:spPr>
          <a:xfrm>
            <a:off x="4236974" y="52369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B</a:t>
            </a:r>
          </a:p>
        </p:txBody>
      </p:sp>
      <p:sp>
        <p:nvSpPr>
          <p:cNvPr id="84" name="dl-4"/>
          <p:cNvSpPr/>
          <p:nvPr/>
        </p:nvSpPr>
        <p:spPr>
          <a:xfrm>
            <a:off x="9271000" y="5041900"/>
            <a:ext cx="1092200" cy="330200"/>
          </a:xfrm>
          <a:custGeom>
            <a:avLst/>
            <a:gdLst/>
            <a:ahLst/>
            <a:cxnLst/>
            <a:rect l="0" t="0" r="r" b="b"/>
            <a:pathLst>
              <a:path w="1092200" h="330200">
                <a:moveTo>
                  <a:pt x="101600" y="0"/>
                </a:moveTo>
                <a:lnTo>
                  <a:pt x="990600" y="0"/>
                </a:lnTo>
                <a:cubicBezTo>
                  <a:pt x="1046734" y="0"/>
                  <a:pt x="1092200" y="45466"/>
                  <a:pt x="1092200" y="101600"/>
                </a:cubicBezTo>
                <a:lnTo>
                  <a:pt x="1092200" y="228600"/>
                </a:lnTo>
                <a:cubicBezTo>
                  <a:pt x="1092200" y="284734"/>
                  <a:pt x="1046734" y="330200"/>
                  <a:pt x="990600" y="330200"/>
                </a:cubicBezTo>
                <a:lnTo>
                  <a:pt x="101600" y="330200"/>
                </a:lnTo>
                <a:cubicBezTo>
                  <a:pt x="45466" y="330200"/>
                  <a:pt x="0" y="284734"/>
                  <a:pt x="0" y="228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134C9C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dlv-4"/>
          <p:cNvSpPr txBox="1"/>
          <p:nvPr/>
        </p:nvSpPr>
        <p:spPr>
          <a:xfrm>
            <a:off x="9552305" y="5085270"/>
            <a:ext cx="52959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 spc="20">
                <a:solidFill>
                  <a:srgbClr val="134C9C"/>
                </a:solidFill>
                <a:latin typeface="Arial"/>
                <a:ea typeface="Arial"/>
                <a:cs typeface="Arial"/>
              </a:rPr>
              <a:t>+7.1%</a:t>
            </a:r>
          </a:p>
        </p:txBody>
      </p:sp>
      <p:sp>
        <p:nvSpPr>
          <p:cNvPr id="86" name="sg-4"/>
          <p:cNvSpPr/>
          <p:nvPr/>
        </p:nvSpPr>
        <p:spPr>
          <a:xfrm>
            <a:off x="10477500" y="5041900"/>
            <a:ext cx="749300" cy="330200"/>
          </a:xfrm>
          <a:custGeom>
            <a:avLst/>
            <a:gdLst/>
            <a:ahLst/>
            <a:cxnLst/>
            <a:rect l="0" t="0" r="r" b="b"/>
            <a:pathLst>
              <a:path w="749300" h="330200">
                <a:moveTo>
                  <a:pt x="101600" y="0"/>
                </a:moveTo>
                <a:lnTo>
                  <a:pt x="647700" y="0"/>
                </a:lnTo>
                <a:cubicBezTo>
                  <a:pt x="703834" y="0"/>
                  <a:pt x="749300" y="45466"/>
                  <a:pt x="749300" y="101600"/>
                </a:cubicBezTo>
                <a:lnTo>
                  <a:pt x="749300" y="228600"/>
                </a:lnTo>
                <a:cubicBezTo>
                  <a:pt x="749300" y="284734"/>
                  <a:pt x="703834" y="330200"/>
                  <a:pt x="647700" y="330200"/>
                </a:cubicBezTo>
                <a:lnTo>
                  <a:pt x="101600" y="330200"/>
                </a:lnTo>
                <a:cubicBezTo>
                  <a:pt x="45466" y="330200"/>
                  <a:pt x="0" y="284734"/>
                  <a:pt x="0" y="228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A9BBD0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sgv-4"/>
          <p:cNvSpPr txBox="1"/>
          <p:nvPr/>
        </p:nvSpPr>
        <p:spPr>
          <a:xfrm>
            <a:off x="10718228" y="506882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82%</a:t>
            </a:r>
          </a:p>
        </p:txBody>
      </p:sp>
      <p:sp>
        <p:nvSpPr>
          <p:cNvPr id="88" name="sgl-4"/>
          <p:cNvSpPr txBox="1"/>
          <p:nvPr/>
        </p:nvSpPr>
        <p:spPr>
          <a:xfrm>
            <a:off x="10674985" y="5211508"/>
            <a:ext cx="3543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不显著</a:t>
            </a:r>
          </a:p>
        </p:txBody>
      </p:sp>
      <p:sp>
        <p:nvSpPr>
          <p:cNvPr id="89" name="sum"/>
          <p:cNvSpPr/>
          <p:nvPr/>
        </p:nvSpPr>
        <p:spPr>
          <a:xfrm>
            <a:off x="952500" y="5765800"/>
            <a:ext cx="10287000" cy="558800"/>
          </a:xfrm>
          <a:custGeom>
            <a:avLst/>
            <a:gdLst/>
            <a:ahLst/>
            <a:cxnLst/>
            <a:rect l="0" t="0" r="r" b="b"/>
            <a:pathLst>
              <a:path w="10287000" h="5588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57200"/>
                </a:lnTo>
                <a:cubicBezTo>
                  <a:pt x="10287000" y="513334"/>
                  <a:pt x="10241534" y="558800"/>
                  <a:pt x="10185400" y="558800"/>
                </a:cubicBezTo>
                <a:lnTo>
                  <a:pt x="101600" y="558800"/>
                </a:lnTo>
                <a:cubicBezTo>
                  <a:pt x="45466" y="558800"/>
                  <a:pt x="0" y="513334"/>
                  <a:pt x="0" y="457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sum-bar"/>
          <p:cNvSpPr/>
          <p:nvPr/>
        </p:nvSpPr>
        <p:spPr>
          <a:xfrm>
            <a:off x="952500" y="5765800"/>
            <a:ext cx="31750" cy="5588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sum-h"/>
          <p:cNvSpPr txBox="1"/>
          <p:nvPr/>
        </p:nvSpPr>
        <p:spPr>
          <a:xfrm>
            <a:off x="1141222" y="58580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实验结论</a:t>
            </a:r>
          </a:p>
        </p:txBody>
      </p:sp>
      <p:sp>
        <p:nvSpPr>
          <p:cNvPr id="92" name="sum-p"/>
          <p:cNvSpPr txBox="1"/>
          <p:nvPr/>
        </p:nvSpPr>
        <p:spPr>
          <a:xfrm>
            <a:off x="1142365" y="6073061"/>
            <a:ext cx="561943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B 版在三项指标上显著优于 A 版，建议全量发布；满意度差异未达显著（82%），下个周期单独做一次验证。</a:t>
            </a:r>
          </a:p>
        </p:txBody>
      </p:sp>
      <p:sp>
        <p:nvSpPr>
          <p:cNvPr id="93" name="sv-1"/>
          <p:cNvSpPr txBox="1"/>
          <p:nvPr/>
        </p:nvSpPr>
        <p:spPr>
          <a:xfrm>
            <a:off x="8084820" y="5888355"/>
            <a:ext cx="46736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14 天</a:t>
            </a:r>
          </a:p>
        </p:txBody>
      </p:sp>
      <p:sp>
        <p:nvSpPr>
          <p:cNvPr id="94" name="sl-1"/>
          <p:cNvSpPr txBox="1"/>
          <p:nvPr/>
        </p:nvSpPr>
        <p:spPr>
          <a:xfrm>
            <a:off x="8095615" y="6100508"/>
            <a:ext cx="4457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实验周期</a:t>
            </a:r>
          </a:p>
        </p:txBody>
      </p:sp>
      <p:sp>
        <p:nvSpPr>
          <p:cNvPr id="95" name="sv-2"/>
          <p:cNvSpPr txBox="1"/>
          <p:nvPr/>
        </p:nvSpPr>
        <p:spPr>
          <a:xfrm>
            <a:off x="9029065" y="5888355"/>
            <a:ext cx="56007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20,374</a:t>
            </a:r>
          </a:p>
        </p:txBody>
      </p:sp>
      <p:sp>
        <p:nvSpPr>
          <p:cNvPr id="96" name="sl-2"/>
          <p:cNvSpPr txBox="1"/>
          <p:nvPr/>
        </p:nvSpPr>
        <p:spPr>
          <a:xfrm>
            <a:off x="9086215" y="6100508"/>
            <a:ext cx="4457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总会话数</a:t>
            </a:r>
          </a:p>
        </p:txBody>
      </p:sp>
      <p:sp>
        <p:nvSpPr>
          <p:cNvPr id="97" name="sv-3"/>
          <p:cNvSpPr txBox="1"/>
          <p:nvPr/>
        </p:nvSpPr>
        <p:spPr>
          <a:xfrm>
            <a:off x="10056812" y="5888355"/>
            <a:ext cx="48577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3 / 4</a:t>
            </a:r>
          </a:p>
        </p:txBody>
      </p:sp>
      <p:sp>
        <p:nvSpPr>
          <p:cNvPr id="98" name="sl-3"/>
          <p:cNvSpPr txBox="1"/>
          <p:nvPr/>
        </p:nvSpPr>
        <p:spPr>
          <a:xfrm>
            <a:off x="10076815" y="6100508"/>
            <a:ext cx="4457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显著指标</a:t>
            </a:r>
          </a:p>
        </p:txBody>
      </p:sp>
      <p:cxnSp>
        <p:nvCxnSpPr>
          <p:cNvPr id="99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0" name="foot-l"/>
          <p:cNvSpPr txBox="1"/>
          <p:nvPr/>
        </p:nvSpPr>
        <p:spPr>
          <a:xfrm>
            <a:off x="573532" y="6532308"/>
            <a:ext cx="108572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A/B 测试 · 四项指标</a:t>
            </a:r>
          </a:p>
        </p:txBody>
      </p:sp>
      <p:sp>
        <p:nvSpPr>
          <p:cNvPr id="101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数字化成熟度评估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810131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MATURITY ASSESSMENT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780399" y="673132"/>
            <a:ext cx="2840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六个维度的现状与两年目标，差距越长越需要优先投入</a:t>
            </a:r>
          </a:p>
        </p:txBody>
      </p:sp>
      <p:sp>
        <p:nvSpPr>
          <p:cNvPr id="10" name="lv-1"/>
          <p:cNvSpPr/>
          <p:nvPr/>
        </p:nvSpPr>
        <p:spPr>
          <a:xfrm>
            <a:off x="3327400" y="1778000"/>
            <a:ext cx="1016000" cy="279400"/>
          </a:xfrm>
          <a:custGeom>
            <a:avLst/>
            <a:gdLst/>
            <a:ahLst/>
            <a:cxnLst/>
            <a:rect l="0" t="0" r="r" b="b"/>
            <a:pathLst>
              <a:path w="1016000" h="279400">
                <a:moveTo>
                  <a:pt x="76200" y="0"/>
                </a:moveTo>
                <a:lnTo>
                  <a:pt x="939800" y="0"/>
                </a:lnTo>
                <a:cubicBezTo>
                  <a:pt x="981900" y="0"/>
                  <a:pt x="1016000" y="34100"/>
                  <a:pt x="1016000" y="76200"/>
                </a:cubicBezTo>
                <a:lnTo>
                  <a:pt x="1016000" y="203200"/>
                </a:lnTo>
                <a:cubicBezTo>
                  <a:pt x="1016000" y="245300"/>
                  <a:pt x="981900" y="279400"/>
                  <a:pt x="939800" y="279400"/>
                </a:cubicBezTo>
                <a:lnTo>
                  <a:pt x="76200" y="279400"/>
                </a:lnTo>
                <a:cubicBezTo>
                  <a:pt x="34100" y="279400"/>
                  <a:pt x="0" y="245300"/>
                  <a:pt x="0" y="2032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6EB0E4"/>
              </a:gs>
              <a:gs pos="100000">
                <a:srgbClr val="54A2DF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lvt-1"/>
          <p:cNvSpPr txBox="1"/>
          <p:nvPr/>
        </p:nvSpPr>
        <p:spPr>
          <a:xfrm>
            <a:off x="3518979" y="1860582"/>
            <a:ext cx="63284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4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L1 初始级</a:t>
            </a:r>
          </a:p>
        </p:txBody>
      </p:sp>
      <p:sp>
        <p:nvSpPr>
          <p:cNvPr id="12" name="colbg-1"/>
          <p:cNvSpPr/>
          <p:nvPr/>
        </p:nvSpPr>
        <p:spPr>
          <a:xfrm>
            <a:off x="3302000" y="2133600"/>
            <a:ext cx="1066800" cy="3187700"/>
          </a:xfrm>
          <a:prstGeom prst="rect">
            <a:avLst/>
          </a:prstGeom>
          <a:solidFill>
            <a:srgbClr val="F1F6FC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3" name="vg-1"/>
          <p:cNvCxnSpPr/>
          <p:nvPr/>
        </p:nvCxnSpPr>
        <p:spPr>
          <a:xfrm>
            <a:off x="3835400" y="2159000"/>
            <a:ext cx="0" cy="312420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lv-2"/>
          <p:cNvSpPr/>
          <p:nvPr/>
        </p:nvSpPr>
        <p:spPr>
          <a:xfrm>
            <a:off x="4394200" y="1676400"/>
            <a:ext cx="1016000" cy="381000"/>
          </a:xfrm>
          <a:custGeom>
            <a:avLst/>
            <a:gdLst/>
            <a:ahLst/>
            <a:cxnLst/>
            <a:rect l="0" t="0" r="r" b="b"/>
            <a:pathLst>
              <a:path w="1016000" h="381000">
                <a:moveTo>
                  <a:pt x="76200" y="0"/>
                </a:moveTo>
                <a:lnTo>
                  <a:pt x="939800" y="0"/>
                </a:lnTo>
                <a:cubicBezTo>
                  <a:pt x="981900" y="0"/>
                  <a:pt x="1016000" y="34100"/>
                  <a:pt x="1016000" y="76200"/>
                </a:cubicBezTo>
                <a:lnTo>
                  <a:pt x="1016000" y="304800"/>
                </a:lnTo>
                <a:cubicBezTo>
                  <a:pt x="1016000" y="346900"/>
                  <a:pt x="981900" y="381000"/>
                  <a:pt x="939800" y="381000"/>
                </a:cubicBezTo>
                <a:lnTo>
                  <a:pt x="76200" y="381000"/>
                </a:lnTo>
                <a:cubicBezTo>
                  <a:pt x="34100" y="381000"/>
                  <a:pt x="0" y="346900"/>
                  <a:pt x="0" y="3048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62A4DD"/>
              </a:gs>
              <a:gs pos="100000">
                <a:srgbClr val="4694D7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lvt-2"/>
          <p:cNvSpPr txBox="1"/>
          <p:nvPr/>
        </p:nvSpPr>
        <p:spPr>
          <a:xfrm>
            <a:off x="4585780" y="1860582"/>
            <a:ext cx="63284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4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L2 可重复</a:t>
            </a:r>
          </a:p>
        </p:txBody>
      </p:sp>
      <p:cxnSp>
        <p:nvCxnSpPr>
          <p:cNvPr id="16" name="vg-2"/>
          <p:cNvCxnSpPr/>
          <p:nvPr/>
        </p:nvCxnSpPr>
        <p:spPr>
          <a:xfrm>
            <a:off x="4902200" y="2159000"/>
            <a:ext cx="0" cy="312420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lv-3"/>
          <p:cNvSpPr/>
          <p:nvPr/>
        </p:nvSpPr>
        <p:spPr>
          <a:xfrm>
            <a:off x="5461000" y="1574800"/>
            <a:ext cx="1016000" cy="482600"/>
          </a:xfrm>
          <a:custGeom>
            <a:avLst/>
            <a:gdLst/>
            <a:ahLst/>
            <a:cxnLst/>
            <a:rect l="0" t="0" r="r" b="b"/>
            <a:pathLst>
              <a:path w="1016000" h="482600">
                <a:moveTo>
                  <a:pt x="76200" y="0"/>
                </a:moveTo>
                <a:lnTo>
                  <a:pt x="939800" y="0"/>
                </a:lnTo>
                <a:cubicBezTo>
                  <a:pt x="981900" y="0"/>
                  <a:pt x="1016000" y="34100"/>
                  <a:pt x="1016000" y="76200"/>
                </a:cubicBezTo>
                <a:lnTo>
                  <a:pt x="1016000" y="406400"/>
                </a:lnTo>
                <a:cubicBezTo>
                  <a:pt x="1016000" y="448500"/>
                  <a:pt x="981900" y="482600"/>
                  <a:pt x="939800" y="482600"/>
                </a:cubicBezTo>
                <a:lnTo>
                  <a:pt x="76200" y="482600"/>
                </a:lnTo>
                <a:cubicBezTo>
                  <a:pt x="34100" y="482600"/>
                  <a:pt x="0" y="448500"/>
                  <a:pt x="0" y="4064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5797D4"/>
              </a:gs>
              <a:gs pos="100000">
                <a:srgbClr val="3985CD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lvt-3"/>
          <p:cNvSpPr txBox="1"/>
          <p:nvPr/>
        </p:nvSpPr>
        <p:spPr>
          <a:xfrm>
            <a:off x="5652580" y="1860582"/>
            <a:ext cx="63284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4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L3 已定义</a:t>
            </a:r>
          </a:p>
        </p:txBody>
      </p:sp>
      <p:sp>
        <p:nvSpPr>
          <p:cNvPr id="19" name="colbg-3"/>
          <p:cNvSpPr/>
          <p:nvPr/>
        </p:nvSpPr>
        <p:spPr>
          <a:xfrm>
            <a:off x="5435600" y="2133600"/>
            <a:ext cx="1066800" cy="3187700"/>
          </a:xfrm>
          <a:prstGeom prst="rect">
            <a:avLst/>
          </a:prstGeom>
          <a:solidFill>
            <a:srgbClr val="F1F6FC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20" name="vg-3"/>
          <p:cNvCxnSpPr/>
          <p:nvPr/>
        </p:nvCxnSpPr>
        <p:spPr>
          <a:xfrm>
            <a:off x="5969000" y="2159000"/>
            <a:ext cx="0" cy="312420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lv-4"/>
          <p:cNvSpPr/>
          <p:nvPr/>
        </p:nvSpPr>
        <p:spPr>
          <a:xfrm>
            <a:off x="6527800" y="1473200"/>
            <a:ext cx="1016000" cy="584200"/>
          </a:xfrm>
          <a:custGeom>
            <a:avLst/>
            <a:gdLst/>
            <a:ahLst/>
            <a:cxnLst/>
            <a:rect l="0" t="0" r="r" b="b"/>
            <a:pathLst>
              <a:path w="1016000" h="584200">
                <a:moveTo>
                  <a:pt x="76200" y="0"/>
                </a:moveTo>
                <a:lnTo>
                  <a:pt x="939800" y="0"/>
                </a:lnTo>
                <a:cubicBezTo>
                  <a:pt x="981901" y="0"/>
                  <a:pt x="1016000" y="34100"/>
                  <a:pt x="1016000" y="76200"/>
                </a:cubicBezTo>
                <a:lnTo>
                  <a:pt x="1016000" y="508000"/>
                </a:lnTo>
                <a:cubicBezTo>
                  <a:pt x="1016000" y="550100"/>
                  <a:pt x="981901" y="584200"/>
                  <a:pt x="939800" y="584200"/>
                </a:cubicBezTo>
                <a:lnTo>
                  <a:pt x="76200" y="584200"/>
                </a:lnTo>
                <a:cubicBezTo>
                  <a:pt x="34099" y="584200"/>
                  <a:pt x="0" y="550100"/>
                  <a:pt x="0" y="5080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4D8BCB"/>
              </a:gs>
              <a:gs pos="100000">
                <a:srgbClr val="2E77C2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lvt-4"/>
          <p:cNvSpPr txBox="1"/>
          <p:nvPr/>
        </p:nvSpPr>
        <p:spPr>
          <a:xfrm>
            <a:off x="6662864" y="1860582"/>
            <a:ext cx="74587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4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L4 量化管理</a:t>
            </a:r>
          </a:p>
        </p:txBody>
      </p:sp>
      <p:cxnSp>
        <p:nvCxnSpPr>
          <p:cNvPr id="23" name="vg-4"/>
          <p:cNvCxnSpPr/>
          <p:nvPr/>
        </p:nvCxnSpPr>
        <p:spPr>
          <a:xfrm>
            <a:off x="7035800" y="2159000"/>
            <a:ext cx="0" cy="312420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lv-5"/>
          <p:cNvSpPr/>
          <p:nvPr/>
        </p:nvSpPr>
        <p:spPr>
          <a:xfrm>
            <a:off x="7594600" y="1371600"/>
            <a:ext cx="1016000" cy="685800"/>
          </a:xfrm>
          <a:custGeom>
            <a:avLst/>
            <a:gdLst/>
            <a:ahLst/>
            <a:cxnLst/>
            <a:rect l="0" t="0" r="r" b="b"/>
            <a:pathLst>
              <a:path w="1016000" h="685800">
                <a:moveTo>
                  <a:pt x="76200" y="0"/>
                </a:moveTo>
                <a:lnTo>
                  <a:pt x="939800" y="0"/>
                </a:lnTo>
                <a:cubicBezTo>
                  <a:pt x="981901" y="0"/>
                  <a:pt x="1016000" y="34100"/>
                  <a:pt x="1016000" y="76200"/>
                </a:cubicBezTo>
                <a:lnTo>
                  <a:pt x="1016000" y="609600"/>
                </a:lnTo>
                <a:cubicBezTo>
                  <a:pt x="1016000" y="651700"/>
                  <a:pt x="981901" y="685800"/>
                  <a:pt x="939800" y="685800"/>
                </a:cubicBezTo>
                <a:lnTo>
                  <a:pt x="76200" y="685800"/>
                </a:lnTo>
                <a:cubicBezTo>
                  <a:pt x="34099" y="685800"/>
                  <a:pt x="0" y="651700"/>
                  <a:pt x="0" y="6096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gradFill rotWithShape="1">
            <a:gsLst>
              <a:gs pos="0">
                <a:srgbClr val="457FC1"/>
              </a:gs>
              <a:gs pos="100000">
                <a:srgbClr val="2468B6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lvt-5"/>
          <p:cNvSpPr txBox="1"/>
          <p:nvPr/>
        </p:nvSpPr>
        <p:spPr>
          <a:xfrm>
            <a:off x="7729664" y="1860582"/>
            <a:ext cx="74587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4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L5 持续优化</a:t>
            </a:r>
          </a:p>
        </p:txBody>
      </p:sp>
      <p:sp>
        <p:nvSpPr>
          <p:cNvPr id="26" name="colbg-5"/>
          <p:cNvSpPr/>
          <p:nvPr/>
        </p:nvSpPr>
        <p:spPr>
          <a:xfrm>
            <a:off x="7569200" y="2133600"/>
            <a:ext cx="1066800" cy="3187700"/>
          </a:xfrm>
          <a:prstGeom prst="rect">
            <a:avLst/>
          </a:prstGeom>
          <a:solidFill>
            <a:srgbClr val="F1F6FC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27" name="vg-5"/>
          <p:cNvCxnSpPr/>
          <p:nvPr/>
        </p:nvCxnSpPr>
        <p:spPr>
          <a:xfrm>
            <a:off x="8102600" y="2159000"/>
            <a:ext cx="0" cy="312420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h"/>
          <p:cNvSpPr txBox="1"/>
          <p:nvPr/>
        </p:nvSpPr>
        <p:spPr>
          <a:xfrm>
            <a:off x="941070" y="1863566"/>
            <a:ext cx="5175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评估维度</a:t>
            </a:r>
          </a:p>
        </p:txBody>
      </p:sp>
      <p:sp>
        <p:nvSpPr>
          <p:cNvPr id="29" name="chip"/>
          <p:cNvSpPr/>
          <p:nvPr/>
        </p:nvSpPr>
        <p:spPr>
          <a:xfrm>
            <a:off x="965200" y="2279650"/>
            <a:ext cx="304800" cy="304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chip-ring"/>
          <p:cNvSpPr/>
          <p:nvPr/>
        </p:nvSpPr>
        <p:spPr>
          <a:xfrm>
            <a:off x="965200" y="2279650"/>
            <a:ext cx="304800" cy="304800"/>
          </a:xfrm>
          <a:prstGeom prst="ellipse">
            <a:avLst/>
          </a:prstGeom>
          <a:noFill/>
          <a:ln w="6350" cap="rnd">
            <a:solidFill>
              <a:srgbClr val="0B3E8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icon-target"/>
          <p:cNvSpPr/>
          <p:nvPr/>
        </p:nvSpPr>
        <p:spPr>
          <a:xfrm>
            <a:off x="1117600" y="2377440"/>
            <a:ext cx="41910" cy="54610"/>
          </a:xfrm>
          <a:custGeom>
            <a:avLst/>
            <a:gdLst/>
            <a:ahLst/>
            <a:cxnLst/>
            <a:rect l="0" t="0" r="r" b="b"/>
            <a:pathLst>
              <a:path w="41910" h="54610">
                <a:moveTo>
                  <a:pt x="0" y="31750"/>
                </a:moveTo>
                <a:lnTo>
                  <a:pt x="0" y="0"/>
                </a:lnTo>
                <a:moveTo>
                  <a:pt x="0" y="54610"/>
                </a:moveTo>
                <a:lnTo>
                  <a:pt x="41910" y="12700"/>
                </a:lnTo>
              </a:path>
            </a:pathLst>
          </a:custGeom>
          <a:noFill/>
          <a:ln w="1206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icon-target"/>
          <p:cNvSpPr/>
          <p:nvPr/>
        </p:nvSpPr>
        <p:spPr>
          <a:xfrm>
            <a:off x="1062990" y="2377440"/>
            <a:ext cx="109220" cy="109220"/>
          </a:xfrm>
          <a:prstGeom prst="ellipse">
            <a:avLst/>
          </a:prstGeom>
          <a:noFill/>
          <a:ln w="1206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icon-target"/>
          <p:cNvSpPr/>
          <p:nvPr/>
        </p:nvSpPr>
        <p:spPr>
          <a:xfrm>
            <a:off x="1089660" y="2404110"/>
            <a:ext cx="55880" cy="55880"/>
          </a:xfrm>
          <a:prstGeom prst="ellipse">
            <a:avLst/>
          </a:prstGeom>
          <a:noFill/>
          <a:ln w="1206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dn-1"/>
          <p:cNvSpPr txBox="1"/>
          <p:nvPr/>
        </p:nvSpPr>
        <p:spPr>
          <a:xfrm>
            <a:off x="1355598" y="225466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战略规划</a:t>
            </a:r>
          </a:p>
        </p:txBody>
      </p:sp>
      <p:sp>
        <p:nvSpPr>
          <p:cNvPr id="35" name="dd-1"/>
          <p:cNvSpPr txBox="1"/>
          <p:nvPr/>
        </p:nvSpPr>
        <p:spPr>
          <a:xfrm>
            <a:off x="1360551" y="2470737"/>
            <a:ext cx="934403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数字化目标与路线图</a:t>
            </a:r>
          </a:p>
        </p:txBody>
      </p:sp>
      <p:cxnSp>
        <p:nvCxnSpPr>
          <p:cNvPr id="36" name="rl-1"/>
          <p:cNvCxnSpPr/>
          <p:nvPr/>
        </p:nvCxnSpPr>
        <p:spPr>
          <a:xfrm>
            <a:off x="952500" y="2692400"/>
            <a:ext cx="7683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gap-1"/>
          <p:cNvSpPr/>
          <p:nvPr/>
        </p:nvSpPr>
        <p:spPr>
          <a:xfrm>
            <a:off x="5969000" y="2374900"/>
            <a:ext cx="1066800" cy="114300"/>
          </a:xfrm>
          <a:custGeom>
            <a:avLst/>
            <a:gdLst/>
            <a:ahLst/>
            <a:cxnLst/>
            <a:rect l="0" t="0" r="r" b="b"/>
            <a:pathLst>
              <a:path w="1066800" h="114300">
                <a:moveTo>
                  <a:pt x="57150" y="0"/>
                </a:moveTo>
                <a:lnTo>
                  <a:pt x="1009650" y="0"/>
                </a:lnTo>
                <a:cubicBezTo>
                  <a:pt x="1041210" y="0"/>
                  <a:pt x="1066800" y="25590"/>
                  <a:pt x="1066800" y="57150"/>
                </a:cubicBezTo>
                <a:lnTo>
                  <a:pt x="1066800" y="57150"/>
                </a:lnTo>
                <a:cubicBezTo>
                  <a:pt x="1066800" y="88710"/>
                  <a:pt x="1041210" y="114300"/>
                  <a:pt x="1009650" y="114300"/>
                </a:cubicBezTo>
                <a:lnTo>
                  <a:pt x="57150" y="114300"/>
                </a:lnTo>
                <a:cubicBezTo>
                  <a:pt x="25590" y="114300"/>
                  <a:pt x="0" y="88710"/>
                  <a:pt x="0" y="57150"/>
                </a:cubicBezTo>
                <a:lnTo>
                  <a:pt x="0" y="57150"/>
                </a:lnTo>
                <a:cubicBezTo>
                  <a:pt x="0" y="25590"/>
                  <a:pt x="25590" y="0"/>
                  <a:pt x="57150" y="0"/>
                </a:cubicBezTo>
                <a:close/>
              </a:path>
            </a:pathLst>
          </a:custGeom>
          <a:gradFill rotWithShape="1">
            <a:gsLst>
              <a:gs pos="0">
                <a:srgbClr val="134C9C">
                  <a:alpha val="30000"/>
                </a:srgbClr>
              </a:gs>
              <a:gs pos="100000">
                <a:srgbClr val="E0703A">
                  <a:alpha val="55000"/>
                </a:srgbClr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arr-1"/>
          <p:cNvSpPr/>
          <p:nvPr/>
        </p:nvSpPr>
        <p:spPr>
          <a:xfrm>
            <a:off x="6781800" y="2368550"/>
            <a:ext cx="76200" cy="127000"/>
          </a:xfrm>
          <a:custGeom>
            <a:avLst/>
            <a:gdLst/>
            <a:ahLst/>
            <a:cxnLst/>
            <a:rect l="0" t="0" r="r" b="b"/>
            <a:pathLst>
              <a:path w="76200" h="127000">
                <a:moveTo>
                  <a:pt x="0" y="0"/>
                </a:moveTo>
                <a:lnTo>
                  <a:pt x="76200" y="63500"/>
                </a:lnTo>
                <a:lnTo>
                  <a:pt x="0" y="127000"/>
                </a:lnTo>
              </a:path>
            </a:pathLst>
          </a:custGeom>
          <a:noFill/>
          <a:ln w="1524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tg-1"/>
          <p:cNvSpPr/>
          <p:nvPr/>
        </p:nvSpPr>
        <p:spPr>
          <a:xfrm>
            <a:off x="6883400" y="2279650"/>
            <a:ext cx="304800" cy="3048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E0703A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tgt-1"/>
          <p:cNvSpPr txBox="1"/>
          <p:nvPr/>
        </p:nvSpPr>
        <p:spPr>
          <a:xfrm>
            <a:off x="6952361" y="233534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41" name="cur-1"/>
          <p:cNvSpPr/>
          <p:nvPr/>
        </p:nvSpPr>
        <p:spPr>
          <a:xfrm>
            <a:off x="5816600" y="2279650"/>
            <a:ext cx="304800" cy="304800"/>
          </a:xfrm>
          <a:prstGeom prst="ellipse">
            <a:avLst/>
          </a:pr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curt-1"/>
          <p:cNvSpPr txBox="1"/>
          <p:nvPr/>
        </p:nvSpPr>
        <p:spPr>
          <a:xfrm>
            <a:off x="5885561" y="233534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43" name="chip"/>
          <p:cNvSpPr/>
          <p:nvPr/>
        </p:nvSpPr>
        <p:spPr>
          <a:xfrm>
            <a:off x="965200" y="2800350"/>
            <a:ext cx="304800" cy="304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chip-ring"/>
          <p:cNvSpPr/>
          <p:nvPr/>
        </p:nvSpPr>
        <p:spPr>
          <a:xfrm>
            <a:off x="965200" y="2800350"/>
            <a:ext cx="304800" cy="304800"/>
          </a:xfrm>
          <a:prstGeom prst="ellipse">
            <a:avLst/>
          </a:prstGeom>
          <a:noFill/>
          <a:ln w="6350" cap="rnd">
            <a:solidFill>
              <a:srgbClr val="134C9C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icon-process"/>
          <p:cNvSpPr/>
          <p:nvPr/>
        </p:nvSpPr>
        <p:spPr>
          <a:xfrm>
            <a:off x="1070610" y="2927350"/>
            <a:ext cx="93980" cy="50800"/>
          </a:xfrm>
          <a:custGeom>
            <a:avLst/>
            <a:gdLst/>
            <a:ahLst/>
            <a:cxnLst/>
            <a:rect l="0" t="0" r="r" b="b"/>
            <a:pathLst>
              <a:path w="93980" h="50800">
                <a:moveTo>
                  <a:pt x="0" y="0"/>
                </a:moveTo>
                <a:lnTo>
                  <a:pt x="33020" y="0"/>
                </a:lnTo>
                <a:lnTo>
                  <a:pt x="33020" y="33020"/>
                </a:lnTo>
                <a:lnTo>
                  <a:pt x="0" y="33020"/>
                </a:lnTo>
                <a:close/>
                <a:moveTo>
                  <a:pt x="60960" y="17780"/>
                </a:moveTo>
                <a:lnTo>
                  <a:pt x="93980" y="17780"/>
                </a:lnTo>
                <a:lnTo>
                  <a:pt x="93980" y="50800"/>
                </a:lnTo>
                <a:lnTo>
                  <a:pt x="60960" y="50800"/>
                </a:lnTo>
                <a:close/>
                <a:moveTo>
                  <a:pt x="33020" y="16510"/>
                </a:moveTo>
                <a:lnTo>
                  <a:pt x="60960" y="16510"/>
                </a:lnTo>
              </a:path>
            </a:pathLst>
          </a:custGeom>
          <a:noFill/>
          <a:ln w="1206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dn-2"/>
          <p:cNvSpPr txBox="1"/>
          <p:nvPr/>
        </p:nvSpPr>
        <p:spPr>
          <a:xfrm>
            <a:off x="1355598" y="277536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流程管理</a:t>
            </a:r>
          </a:p>
        </p:txBody>
      </p:sp>
      <p:sp>
        <p:nvSpPr>
          <p:cNvPr id="47" name="dd-2"/>
          <p:cNvSpPr txBox="1"/>
          <p:nvPr/>
        </p:nvSpPr>
        <p:spPr>
          <a:xfrm>
            <a:off x="1360551" y="2991437"/>
            <a:ext cx="839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端到端流程在线化</a:t>
            </a:r>
          </a:p>
        </p:txBody>
      </p:sp>
      <p:cxnSp>
        <p:nvCxnSpPr>
          <p:cNvPr id="48" name="rl-2"/>
          <p:cNvCxnSpPr/>
          <p:nvPr/>
        </p:nvCxnSpPr>
        <p:spPr>
          <a:xfrm>
            <a:off x="952500" y="3213100"/>
            <a:ext cx="7683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gap-2"/>
          <p:cNvSpPr/>
          <p:nvPr/>
        </p:nvSpPr>
        <p:spPr>
          <a:xfrm>
            <a:off x="5969000" y="2895600"/>
            <a:ext cx="1066800" cy="114300"/>
          </a:xfrm>
          <a:custGeom>
            <a:avLst/>
            <a:gdLst/>
            <a:ahLst/>
            <a:cxnLst/>
            <a:rect l="0" t="0" r="r" b="b"/>
            <a:pathLst>
              <a:path w="1066800" h="114300">
                <a:moveTo>
                  <a:pt x="57150" y="0"/>
                </a:moveTo>
                <a:lnTo>
                  <a:pt x="1009650" y="0"/>
                </a:lnTo>
                <a:cubicBezTo>
                  <a:pt x="1041210" y="0"/>
                  <a:pt x="1066800" y="25590"/>
                  <a:pt x="1066800" y="57150"/>
                </a:cubicBezTo>
                <a:lnTo>
                  <a:pt x="1066800" y="57150"/>
                </a:lnTo>
                <a:cubicBezTo>
                  <a:pt x="1066800" y="88710"/>
                  <a:pt x="1041210" y="114300"/>
                  <a:pt x="1009650" y="114300"/>
                </a:cubicBezTo>
                <a:lnTo>
                  <a:pt x="57150" y="114300"/>
                </a:lnTo>
                <a:cubicBezTo>
                  <a:pt x="25590" y="114300"/>
                  <a:pt x="0" y="88710"/>
                  <a:pt x="0" y="57150"/>
                </a:cubicBezTo>
                <a:lnTo>
                  <a:pt x="0" y="57150"/>
                </a:lnTo>
                <a:cubicBezTo>
                  <a:pt x="0" y="25590"/>
                  <a:pt x="25590" y="0"/>
                  <a:pt x="57150" y="0"/>
                </a:cubicBezTo>
                <a:close/>
              </a:path>
            </a:pathLst>
          </a:custGeom>
          <a:gradFill rotWithShape="1">
            <a:gsLst>
              <a:gs pos="0">
                <a:srgbClr val="134C9C">
                  <a:alpha val="30000"/>
                </a:srgbClr>
              </a:gs>
              <a:gs pos="100000">
                <a:srgbClr val="E0703A">
                  <a:alpha val="55000"/>
                </a:srgbClr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arr-2"/>
          <p:cNvSpPr/>
          <p:nvPr/>
        </p:nvSpPr>
        <p:spPr>
          <a:xfrm>
            <a:off x="6781800" y="2889250"/>
            <a:ext cx="76200" cy="127000"/>
          </a:xfrm>
          <a:custGeom>
            <a:avLst/>
            <a:gdLst/>
            <a:ahLst/>
            <a:cxnLst/>
            <a:rect l="0" t="0" r="r" b="b"/>
            <a:pathLst>
              <a:path w="76200" h="127000">
                <a:moveTo>
                  <a:pt x="0" y="0"/>
                </a:moveTo>
                <a:lnTo>
                  <a:pt x="76200" y="63500"/>
                </a:lnTo>
                <a:lnTo>
                  <a:pt x="0" y="127000"/>
                </a:lnTo>
              </a:path>
            </a:pathLst>
          </a:custGeom>
          <a:noFill/>
          <a:ln w="1524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tg-2"/>
          <p:cNvSpPr/>
          <p:nvPr/>
        </p:nvSpPr>
        <p:spPr>
          <a:xfrm>
            <a:off x="6883400" y="2800350"/>
            <a:ext cx="304800" cy="3048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E0703A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tgt-2"/>
          <p:cNvSpPr txBox="1"/>
          <p:nvPr/>
        </p:nvSpPr>
        <p:spPr>
          <a:xfrm>
            <a:off x="6952361" y="285604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53" name="cur-2"/>
          <p:cNvSpPr/>
          <p:nvPr/>
        </p:nvSpPr>
        <p:spPr>
          <a:xfrm>
            <a:off x="5816600" y="2800350"/>
            <a:ext cx="304800" cy="304800"/>
          </a:xfrm>
          <a:prstGeom prst="ellipse">
            <a:avLst/>
          </a:pr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curt-2"/>
          <p:cNvSpPr txBox="1"/>
          <p:nvPr/>
        </p:nvSpPr>
        <p:spPr>
          <a:xfrm>
            <a:off x="5885561" y="285604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55" name="chip"/>
          <p:cNvSpPr/>
          <p:nvPr/>
        </p:nvSpPr>
        <p:spPr>
          <a:xfrm>
            <a:off x="965200" y="3321050"/>
            <a:ext cx="304800" cy="304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chip-ring"/>
          <p:cNvSpPr/>
          <p:nvPr/>
        </p:nvSpPr>
        <p:spPr>
          <a:xfrm>
            <a:off x="965200" y="3321050"/>
            <a:ext cx="304800" cy="304800"/>
          </a:xfrm>
          <a:prstGeom prst="ellipse">
            <a:avLst/>
          </a:prstGeom>
          <a:noFill/>
          <a:ln w="6350" cap="rnd">
            <a:solidFill>
              <a:srgbClr val="1B5AA8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icon-db"/>
          <p:cNvSpPr/>
          <p:nvPr/>
        </p:nvSpPr>
        <p:spPr>
          <a:xfrm>
            <a:off x="1070610" y="3416300"/>
            <a:ext cx="93980" cy="114300"/>
          </a:xfrm>
          <a:custGeom>
            <a:avLst/>
            <a:gdLst/>
            <a:ahLst/>
            <a:cxnLst/>
            <a:rect l="0" t="0" r="r" b="b"/>
            <a:pathLst>
              <a:path w="93980" h="114300">
                <a:moveTo>
                  <a:pt x="46990" y="27940"/>
                </a:moveTo>
                <a:cubicBezTo>
                  <a:pt x="73025" y="27940"/>
                  <a:pt x="93980" y="21590"/>
                  <a:pt x="93980" y="13970"/>
                </a:cubicBezTo>
                <a:cubicBezTo>
                  <a:pt x="93980" y="6350"/>
                  <a:pt x="73025" y="0"/>
                  <a:pt x="46990" y="0"/>
                </a:cubicBezTo>
                <a:cubicBezTo>
                  <a:pt x="20955" y="0"/>
                  <a:pt x="0" y="6350"/>
                  <a:pt x="0" y="13970"/>
                </a:cubicBezTo>
                <a:cubicBezTo>
                  <a:pt x="0" y="21590"/>
                  <a:pt x="20955" y="27940"/>
                  <a:pt x="46990" y="27940"/>
                </a:cubicBezTo>
                <a:close/>
                <a:moveTo>
                  <a:pt x="0" y="13970"/>
                </a:moveTo>
                <a:lnTo>
                  <a:pt x="0" y="100330"/>
                </a:lnTo>
                <a:cubicBezTo>
                  <a:pt x="0" y="107950"/>
                  <a:pt x="20955" y="114300"/>
                  <a:pt x="46990" y="114300"/>
                </a:cubicBezTo>
                <a:cubicBezTo>
                  <a:pt x="73025" y="114300"/>
                  <a:pt x="93980" y="107950"/>
                  <a:pt x="93980" y="100330"/>
                </a:cubicBezTo>
                <a:lnTo>
                  <a:pt x="93980" y="13970"/>
                </a:lnTo>
                <a:moveTo>
                  <a:pt x="0" y="57150"/>
                </a:moveTo>
                <a:cubicBezTo>
                  <a:pt x="0" y="64770"/>
                  <a:pt x="20955" y="71120"/>
                  <a:pt x="46990" y="71120"/>
                </a:cubicBezTo>
                <a:cubicBezTo>
                  <a:pt x="73025" y="71120"/>
                  <a:pt x="93980" y="64770"/>
                  <a:pt x="93980" y="57150"/>
                </a:cubicBezTo>
              </a:path>
            </a:pathLst>
          </a:custGeom>
          <a:noFill/>
          <a:ln w="1206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dn-3"/>
          <p:cNvSpPr txBox="1"/>
          <p:nvPr/>
        </p:nvSpPr>
        <p:spPr>
          <a:xfrm>
            <a:off x="1355598" y="329606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数据治理</a:t>
            </a:r>
          </a:p>
        </p:txBody>
      </p:sp>
      <p:sp>
        <p:nvSpPr>
          <p:cNvPr id="59" name="dd-3"/>
          <p:cNvSpPr txBox="1"/>
          <p:nvPr/>
        </p:nvSpPr>
        <p:spPr>
          <a:xfrm>
            <a:off x="1360551" y="3512137"/>
            <a:ext cx="934403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口径统一与数据质量</a:t>
            </a:r>
          </a:p>
        </p:txBody>
      </p:sp>
      <p:cxnSp>
        <p:nvCxnSpPr>
          <p:cNvPr id="60" name="rl-3"/>
          <p:cNvCxnSpPr/>
          <p:nvPr/>
        </p:nvCxnSpPr>
        <p:spPr>
          <a:xfrm>
            <a:off x="952500" y="3733800"/>
            <a:ext cx="7683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gap-3"/>
          <p:cNvSpPr/>
          <p:nvPr/>
        </p:nvSpPr>
        <p:spPr>
          <a:xfrm>
            <a:off x="3835400" y="3416300"/>
            <a:ext cx="3200400" cy="114300"/>
          </a:xfrm>
          <a:custGeom>
            <a:avLst/>
            <a:gdLst/>
            <a:ahLst/>
            <a:cxnLst/>
            <a:rect l="0" t="0" r="r" b="b"/>
            <a:pathLst>
              <a:path w="3200400" h="114300">
                <a:moveTo>
                  <a:pt x="57150" y="0"/>
                </a:moveTo>
                <a:lnTo>
                  <a:pt x="3143250" y="0"/>
                </a:lnTo>
                <a:cubicBezTo>
                  <a:pt x="3174810" y="0"/>
                  <a:pt x="3200400" y="25590"/>
                  <a:pt x="3200400" y="57150"/>
                </a:cubicBezTo>
                <a:lnTo>
                  <a:pt x="3200400" y="57150"/>
                </a:lnTo>
                <a:cubicBezTo>
                  <a:pt x="3200400" y="88710"/>
                  <a:pt x="3174810" y="114300"/>
                  <a:pt x="3143250" y="114300"/>
                </a:cubicBezTo>
                <a:lnTo>
                  <a:pt x="57150" y="114300"/>
                </a:lnTo>
                <a:cubicBezTo>
                  <a:pt x="25590" y="114300"/>
                  <a:pt x="0" y="88710"/>
                  <a:pt x="0" y="57150"/>
                </a:cubicBezTo>
                <a:lnTo>
                  <a:pt x="0" y="57150"/>
                </a:lnTo>
                <a:cubicBezTo>
                  <a:pt x="0" y="25590"/>
                  <a:pt x="25590" y="0"/>
                  <a:pt x="57150" y="0"/>
                </a:cubicBezTo>
                <a:close/>
              </a:path>
            </a:pathLst>
          </a:custGeom>
          <a:gradFill rotWithShape="1">
            <a:gsLst>
              <a:gs pos="0">
                <a:srgbClr val="134C9C">
                  <a:alpha val="30000"/>
                </a:srgbClr>
              </a:gs>
              <a:gs pos="100000">
                <a:srgbClr val="E0703A">
                  <a:alpha val="55000"/>
                </a:srgbClr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arr-3"/>
          <p:cNvSpPr/>
          <p:nvPr/>
        </p:nvSpPr>
        <p:spPr>
          <a:xfrm>
            <a:off x="6781800" y="3409950"/>
            <a:ext cx="76200" cy="127000"/>
          </a:xfrm>
          <a:custGeom>
            <a:avLst/>
            <a:gdLst/>
            <a:ahLst/>
            <a:cxnLst/>
            <a:rect l="0" t="0" r="r" b="b"/>
            <a:pathLst>
              <a:path w="76200" h="127000">
                <a:moveTo>
                  <a:pt x="0" y="0"/>
                </a:moveTo>
                <a:lnTo>
                  <a:pt x="76200" y="63500"/>
                </a:lnTo>
                <a:lnTo>
                  <a:pt x="0" y="127000"/>
                </a:lnTo>
              </a:path>
            </a:pathLst>
          </a:custGeom>
          <a:noFill/>
          <a:ln w="1524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tg-3"/>
          <p:cNvSpPr/>
          <p:nvPr/>
        </p:nvSpPr>
        <p:spPr>
          <a:xfrm>
            <a:off x="6883400" y="3321050"/>
            <a:ext cx="304800" cy="3048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E0703A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tgt-3"/>
          <p:cNvSpPr txBox="1"/>
          <p:nvPr/>
        </p:nvSpPr>
        <p:spPr>
          <a:xfrm>
            <a:off x="6952361" y="337674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65" name="cur-3"/>
          <p:cNvSpPr/>
          <p:nvPr/>
        </p:nvSpPr>
        <p:spPr>
          <a:xfrm>
            <a:off x="3683000" y="3321050"/>
            <a:ext cx="304800" cy="304800"/>
          </a:xfrm>
          <a:prstGeom prst="ellipse">
            <a:avLst/>
          </a:pr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curt-3"/>
          <p:cNvSpPr txBox="1"/>
          <p:nvPr/>
        </p:nvSpPr>
        <p:spPr>
          <a:xfrm>
            <a:off x="3751961" y="337674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67" name="chip"/>
          <p:cNvSpPr/>
          <p:nvPr/>
        </p:nvSpPr>
        <p:spPr>
          <a:xfrm>
            <a:off x="965200" y="3841750"/>
            <a:ext cx="304800" cy="304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chip-ring"/>
          <p:cNvSpPr/>
          <p:nvPr/>
        </p:nvSpPr>
        <p:spPr>
          <a:xfrm>
            <a:off x="965200" y="3841750"/>
            <a:ext cx="304800" cy="304800"/>
          </a:xfrm>
          <a:prstGeom prst="ellipse">
            <a:avLst/>
          </a:prstGeom>
          <a:noFill/>
          <a:ln w="6350" cap="rnd">
            <a:solidFill>
              <a:srgbClr val="2468B6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icon-layers"/>
          <p:cNvSpPr/>
          <p:nvPr/>
        </p:nvSpPr>
        <p:spPr>
          <a:xfrm>
            <a:off x="1066800" y="3942080"/>
            <a:ext cx="101600" cy="105410"/>
          </a:xfrm>
          <a:custGeom>
            <a:avLst/>
            <a:gdLst/>
            <a:ahLst/>
            <a:cxnLst/>
            <a:rect l="0" t="0" r="r" b="b"/>
            <a:pathLst>
              <a:path w="101600" h="105410">
                <a:moveTo>
                  <a:pt x="50800" y="0"/>
                </a:moveTo>
                <a:lnTo>
                  <a:pt x="101600" y="26670"/>
                </a:lnTo>
                <a:lnTo>
                  <a:pt x="50800" y="53340"/>
                </a:lnTo>
                <a:lnTo>
                  <a:pt x="0" y="26670"/>
                </a:lnTo>
                <a:close/>
                <a:moveTo>
                  <a:pt x="0" y="53340"/>
                </a:moveTo>
                <a:lnTo>
                  <a:pt x="50800" y="80010"/>
                </a:lnTo>
                <a:lnTo>
                  <a:pt x="101600" y="53340"/>
                </a:lnTo>
                <a:moveTo>
                  <a:pt x="0" y="78740"/>
                </a:moveTo>
                <a:lnTo>
                  <a:pt x="50800" y="105410"/>
                </a:lnTo>
                <a:lnTo>
                  <a:pt x="101600" y="78740"/>
                </a:lnTo>
              </a:path>
            </a:pathLst>
          </a:custGeom>
          <a:noFill/>
          <a:ln w="12065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dn-4"/>
          <p:cNvSpPr txBox="1"/>
          <p:nvPr/>
        </p:nvSpPr>
        <p:spPr>
          <a:xfrm>
            <a:off x="1355598" y="381676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技术平台</a:t>
            </a:r>
          </a:p>
        </p:txBody>
      </p:sp>
      <p:sp>
        <p:nvSpPr>
          <p:cNvPr id="71" name="dd-4"/>
          <p:cNvSpPr txBox="1"/>
          <p:nvPr/>
        </p:nvSpPr>
        <p:spPr>
          <a:xfrm>
            <a:off x="1360551" y="4032837"/>
            <a:ext cx="74517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中台与系统集成</a:t>
            </a:r>
          </a:p>
        </p:txBody>
      </p:sp>
      <p:cxnSp>
        <p:nvCxnSpPr>
          <p:cNvPr id="72" name="rl-4"/>
          <p:cNvCxnSpPr/>
          <p:nvPr/>
        </p:nvCxnSpPr>
        <p:spPr>
          <a:xfrm>
            <a:off x="952500" y="4254500"/>
            <a:ext cx="7683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gap-4"/>
          <p:cNvSpPr/>
          <p:nvPr/>
        </p:nvSpPr>
        <p:spPr>
          <a:xfrm>
            <a:off x="5969000" y="3937000"/>
            <a:ext cx="2133600" cy="114300"/>
          </a:xfrm>
          <a:custGeom>
            <a:avLst/>
            <a:gdLst/>
            <a:ahLst/>
            <a:cxnLst/>
            <a:rect l="0" t="0" r="r" b="b"/>
            <a:pathLst>
              <a:path w="2133600" h="114300">
                <a:moveTo>
                  <a:pt x="57150" y="0"/>
                </a:moveTo>
                <a:lnTo>
                  <a:pt x="2076450" y="0"/>
                </a:lnTo>
                <a:cubicBezTo>
                  <a:pt x="2108010" y="0"/>
                  <a:pt x="2133600" y="25590"/>
                  <a:pt x="2133600" y="57150"/>
                </a:cubicBezTo>
                <a:lnTo>
                  <a:pt x="2133600" y="57150"/>
                </a:lnTo>
                <a:cubicBezTo>
                  <a:pt x="2133600" y="88710"/>
                  <a:pt x="2108010" y="114300"/>
                  <a:pt x="2076450" y="114300"/>
                </a:cubicBezTo>
                <a:lnTo>
                  <a:pt x="57150" y="114300"/>
                </a:lnTo>
                <a:cubicBezTo>
                  <a:pt x="25590" y="114300"/>
                  <a:pt x="0" y="88710"/>
                  <a:pt x="0" y="57150"/>
                </a:cubicBezTo>
                <a:lnTo>
                  <a:pt x="0" y="57150"/>
                </a:lnTo>
                <a:cubicBezTo>
                  <a:pt x="0" y="25590"/>
                  <a:pt x="25590" y="0"/>
                  <a:pt x="57150" y="0"/>
                </a:cubicBezTo>
                <a:close/>
              </a:path>
            </a:pathLst>
          </a:custGeom>
          <a:gradFill rotWithShape="1">
            <a:gsLst>
              <a:gs pos="0">
                <a:srgbClr val="134C9C">
                  <a:alpha val="30000"/>
                </a:srgbClr>
              </a:gs>
              <a:gs pos="100000">
                <a:srgbClr val="E0703A">
                  <a:alpha val="55000"/>
                </a:srgbClr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arr-4"/>
          <p:cNvSpPr/>
          <p:nvPr/>
        </p:nvSpPr>
        <p:spPr>
          <a:xfrm>
            <a:off x="7848600" y="3930650"/>
            <a:ext cx="76200" cy="127000"/>
          </a:xfrm>
          <a:custGeom>
            <a:avLst/>
            <a:gdLst/>
            <a:ahLst/>
            <a:cxnLst/>
            <a:rect l="0" t="0" r="r" b="b"/>
            <a:pathLst>
              <a:path w="76200" h="127000">
                <a:moveTo>
                  <a:pt x="0" y="0"/>
                </a:moveTo>
                <a:lnTo>
                  <a:pt x="76200" y="63500"/>
                </a:lnTo>
                <a:lnTo>
                  <a:pt x="0" y="127000"/>
                </a:lnTo>
              </a:path>
            </a:pathLst>
          </a:custGeom>
          <a:noFill/>
          <a:ln w="1524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tg-4"/>
          <p:cNvSpPr/>
          <p:nvPr/>
        </p:nvSpPr>
        <p:spPr>
          <a:xfrm>
            <a:off x="7950200" y="3841750"/>
            <a:ext cx="304800" cy="3048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E0703A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tgt-4"/>
          <p:cNvSpPr txBox="1"/>
          <p:nvPr/>
        </p:nvSpPr>
        <p:spPr>
          <a:xfrm>
            <a:off x="8019161" y="389744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  <p:sp>
        <p:nvSpPr>
          <p:cNvPr id="77" name="cur-4"/>
          <p:cNvSpPr/>
          <p:nvPr/>
        </p:nvSpPr>
        <p:spPr>
          <a:xfrm>
            <a:off x="5816600" y="3841750"/>
            <a:ext cx="304800" cy="304800"/>
          </a:xfrm>
          <a:prstGeom prst="ellipse">
            <a:avLst/>
          </a:pr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curt-4"/>
          <p:cNvSpPr txBox="1"/>
          <p:nvPr/>
        </p:nvSpPr>
        <p:spPr>
          <a:xfrm>
            <a:off x="5885561" y="389744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79" name="chip"/>
          <p:cNvSpPr/>
          <p:nvPr/>
        </p:nvSpPr>
        <p:spPr>
          <a:xfrm>
            <a:off x="965200" y="4362450"/>
            <a:ext cx="304800" cy="304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chip-ring"/>
          <p:cNvSpPr/>
          <p:nvPr/>
        </p:nvSpPr>
        <p:spPr>
          <a:xfrm>
            <a:off x="965200" y="4362450"/>
            <a:ext cx="304800" cy="304800"/>
          </a:xfrm>
          <a:prstGeom prst="ellipse">
            <a:avLst/>
          </a:prstGeom>
          <a:noFill/>
          <a:ln w="6350" cap="rnd">
            <a:solidFill>
              <a:srgbClr val="2E77C2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icon-people"/>
          <p:cNvSpPr/>
          <p:nvPr/>
        </p:nvSpPr>
        <p:spPr>
          <a:xfrm>
            <a:off x="1064260" y="4531360"/>
            <a:ext cx="107950" cy="30480"/>
          </a:xfrm>
          <a:custGeom>
            <a:avLst/>
            <a:gdLst/>
            <a:ahLst/>
            <a:cxnLst/>
            <a:rect l="0" t="0" r="r" b="b"/>
            <a:pathLst>
              <a:path w="107950" h="30480">
                <a:moveTo>
                  <a:pt x="0" y="30480"/>
                </a:moveTo>
                <a:cubicBezTo>
                  <a:pt x="0" y="11430"/>
                  <a:pt x="15875" y="0"/>
                  <a:pt x="34290" y="0"/>
                </a:cubicBezTo>
                <a:cubicBezTo>
                  <a:pt x="52705" y="0"/>
                  <a:pt x="68580" y="11430"/>
                  <a:pt x="68580" y="30480"/>
                </a:cubicBezTo>
                <a:moveTo>
                  <a:pt x="81280" y="2540"/>
                </a:moveTo>
                <a:cubicBezTo>
                  <a:pt x="97790" y="4445"/>
                  <a:pt x="107950" y="15875"/>
                  <a:pt x="107950" y="30480"/>
                </a:cubicBezTo>
              </a:path>
            </a:pathLst>
          </a:custGeom>
          <a:noFill/>
          <a:ln w="12065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icon-people"/>
          <p:cNvSpPr/>
          <p:nvPr/>
        </p:nvSpPr>
        <p:spPr>
          <a:xfrm>
            <a:off x="1078230" y="4476750"/>
            <a:ext cx="40640" cy="40640"/>
          </a:xfrm>
          <a:prstGeom prst="ellipse">
            <a:avLst/>
          </a:prstGeom>
          <a:noFill/>
          <a:ln w="12065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icon-people"/>
          <p:cNvSpPr/>
          <p:nvPr/>
        </p:nvSpPr>
        <p:spPr>
          <a:xfrm>
            <a:off x="1132840" y="4476750"/>
            <a:ext cx="33020" cy="33020"/>
          </a:xfrm>
          <a:prstGeom prst="ellipse">
            <a:avLst/>
          </a:prstGeom>
          <a:noFill/>
          <a:ln w="12065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dn-5"/>
          <p:cNvSpPr txBox="1"/>
          <p:nvPr/>
        </p:nvSpPr>
        <p:spPr>
          <a:xfrm>
            <a:off x="1355598" y="433746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人才能力</a:t>
            </a:r>
          </a:p>
        </p:txBody>
      </p:sp>
      <p:sp>
        <p:nvSpPr>
          <p:cNvPr id="85" name="dd-5"/>
          <p:cNvSpPr txBox="1"/>
          <p:nvPr/>
        </p:nvSpPr>
        <p:spPr>
          <a:xfrm>
            <a:off x="1360551" y="4553537"/>
            <a:ext cx="74517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数字化人才占比</a:t>
            </a:r>
          </a:p>
        </p:txBody>
      </p:sp>
      <p:cxnSp>
        <p:nvCxnSpPr>
          <p:cNvPr id="86" name="rl-5"/>
          <p:cNvCxnSpPr/>
          <p:nvPr/>
        </p:nvCxnSpPr>
        <p:spPr>
          <a:xfrm>
            <a:off x="952500" y="4775200"/>
            <a:ext cx="7683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gap-5"/>
          <p:cNvSpPr/>
          <p:nvPr/>
        </p:nvSpPr>
        <p:spPr>
          <a:xfrm>
            <a:off x="4902200" y="4457700"/>
            <a:ext cx="1066800" cy="114300"/>
          </a:xfrm>
          <a:custGeom>
            <a:avLst/>
            <a:gdLst/>
            <a:ahLst/>
            <a:cxnLst/>
            <a:rect l="0" t="0" r="r" b="b"/>
            <a:pathLst>
              <a:path w="1066800" h="114300">
                <a:moveTo>
                  <a:pt x="57150" y="0"/>
                </a:moveTo>
                <a:lnTo>
                  <a:pt x="1009650" y="0"/>
                </a:lnTo>
                <a:cubicBezTo>
                  <a:pt x="1041210" y="0"/>
                  <a:pt x="1066800" y="25590"/>
                  <a:pt x="1066800" y="57150"/>
                </a:cubicBezTo>
                <a:lnTo>
                  <a:pt x="1066800" y="57150"/>
                </a:lnTo>
                <a:cubicBezTo>
                  <a:pt x="1066800" y="88710"/>
                  <a:pt x="1041210" y="114300"/>
                  <a:pt x="1009650" y="114300"/>
                </a:cubicBezTo>
                <a:lnTo>
                  <a:pt x="57150" y="114300"/>
                </a:lnTo>
                <a:cubicBezTo>
                  <a:pt x="25590" y="114300"/>
                  <a:pt x="0" y="88710"/>
                  <a:pt x="0" y="57150"/>
                </a:cubicBezTo>
                <a:lnTo>
                  <a:pt x="0" y="57150"/>
                </a:lnTo>
                <a:cubicBezTo>
                  <a:pt x="0" y="25590"/>
                  <a:pt x="25590" y="0"/>
                  <a:pt x="57150" y="0"/>
                </a:cubicBezTo>
                <a:close/>
              </a:path>
            </a:pathLst>
          </a:custGeom>
          <a:gradFill rotWithShape="1">
            <a:gsLst>
              <a:gs pos="0">
                <a:srgbClr val="134C9C">
                  <a:alpha val="30000"/>
                </a:srgbClr>
              </a:gs>
              <a:gs pos="100000">
                <a:srgbClr val="E0703A">
                  <a:alpha val="55000"/>
                </a:srgbClr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arr-5"/>
          <p:cNvSpPr/>
          <p:nvPr/>
        </p:nvSpPr>
        <p:spPr>
          <a:xfrm>
            <a:off x="5715000" y="4451350"/>
            <a:ext cx="76200" cy="127000"/>
          </a:xfrm>
          <a:custGeom>
            <a:avLst/>
            <a:gdLst/>
            <a:ahLst/>
            <a:cxnLst/>
            <a:rect l="0" t="0" r="r" b="b"/>
            <a:pathLst>
              <a:path w="76200" h="127000">
                <a:moveTo>
                  <a:pt x="0" y="0"/>
                </a:moveTo>
                <a:lnTo>
                  <a:pt x="76200" y="63500"/>
                </a:lnTo>
                <a:lnTo>
                  <a:pt x="0" y="127000"/>
                </a:lnTo>
              </a:path>
            </a:pathLst>
          </a:custGeom>
          <a:noFill/>
          <a:ln w="1524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tg-5"/>
          <p:cNvSpPr/>
          <p:nvPr/>
        </p:nvSpPr>
        <p:spPr>
          <a:xfrm>
            <a:off x="5816600" y="4362450"/>
            <a:ext cx="304800" cy="3048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E0703A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tgt-5"/>
          <p:cNvSpPr txBox="1"/>
          <p:nvPr/>
        </p:nvSpPr>
        <p:spPr>
          <a:xfrm>
            <a:off x="5885561" y="441814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91" name="cur-5"/>
          <p:cNvSpPr/>
          <p:nvPr/>
        </p:nvSpPr>
        <p:spPr>
          <a:xfrm>
            <a:off x="4749800" y="4362450"/>
            <a:ext cx="304800" cy="304800"/>
          </a:xfrm>
          <a:prstGeom prst="ellipse">
            <a:avLst/>
          </a:pr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curt-5"/>
          <p:cNvSpPr txBox="1"/>
          <p:nvPr/>
        </p:nvSpPr>
        <p:spPr>
          <a:xfrm>
            <a:off x="4818761" y="441814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93" name="chip"/>
          <p:cNvSpPr/>
          <p:nvPr/>
        </p:nvSpPr>
        <p:spPr>
          <a:xfrm>
            <a:off x="965200" y="4883150"/>
            <a:ext cx="304800" cy="304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chip-ring"/>
          <p:cNvSpPr/>
          <p:nvPr/>
        </p:nvSpPr>
        <p:spPr>
          <a:xfrm>
            <a:off x="965200" y="4883150"/>
            <a:ext cx="304800" cy="304800"/>
          </a:xfrm>
          <a:prstGeom prst="ellipse">
            <a:avLst/>
          </a:prstGeom>
          <a:noFill/>
          <a:ln w="6350" cap="rnd">
            <a:solidFill>
              <a:srgbClr val="3985CD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icon-chart"/>
          <p:cNvSpPr/>
          <p:nvPr/>
        </p:nvSpPr>
        <p:spPr>
          <a:xfrm>
            <a:off x="1064260" y="5016500"/>
            <a:ext cx="106680" cy="69850"/>
          </a:xfrm>
          <a:custGeom>
            <a:avLst/>
            <a:gdLst/>
            <a:ahLst/>
            <a:cxnLst/>
            <a:rect l="0" t="0" r="r" b="b"/>
            <a:pathLst>
              <a:path w="106680" h="69850">
                <a:moveTo>
                  <a:pt x="0" y="69850"/>
                </a:moveTo>
                <a:lnTo>
                  <a:pt x="106680" y="69850"/>
                </a:lnTo>
                <a:moveTo>
                  <a:pt x="24130" y="69850"/>
                </a:moveTo>
                <a:lnTo>
                  <a:pt x="24130" y="29210"/>
                </a:lnTo>
                <a:moveTo>
                  <a:pt x="53340" y="69850"/>
                </a:moveTo>
                <a:lnTo>
                  <a:pt x="53340" y="0"/>
                </a:lnTo>
                <a:moveTo>
                  <a:pt x="82550" y="69850"/>
                </a:moveTo>
                <a:lnTo>
                  <a:pt x="82550" y="43180"/>
                </a:lnTo>
              </a:path>
            </a:pathLst>
          </a:custGeom>
          <a:noFill/>
          <a:ln w="12065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dn-6"/>
          <p:cNvSpPr txBox="1"/>
          <p:nvPr/>
        </p:nvSpPr>
        <p:spPr>
          <a:xfrm>
            <a:off x="1355598" y="485816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客户运营</a:t>
            </a:r>
          </a:p>
        </p:txBody>
      </p:sp>
      <p:sp>
        <p:nvSpPr>
          <p:cNvPr id="97" name="dd-6"/>
          <p:cNvSpPr txBox="1"/>
          <p:nvPr/>
        </p:nvSpPr>
        <p:spPr>
          <a:xfrm>
            <a:off x="1360551" y="5074237"/>
            <a:ext cx="74517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全渠道客户洞察</a:t>
            </a:r>
          </a:p>
        </p:txBody>
      </p:sp>
      <p:sp>
        <p:nvSpPr>
          <p:cNvPr id="98" name="gap-6"/>
          <p:cNvSpPr/>
          <p:nvPr/>
        </p:nvSpPr>
        <p:spPr>
          <a:xfrm>
            <a:off x="4902200" y="4978400"/>
            <a:ext cx="2133600" cy="114300"/>
          </a:xfrm>
          <a:custGeom>
            <a:avLst/>
            <a:gdLst/>
            <a:ahLst/>
            <a:cxnLst/>
            <a:rect l="0" t="0" r="r" b="b"/>
            <a:pathLst>
              <a:path w="2133600" h="114300">
                <a:moveTo>
                  <a:pt x="57150" y="0"/>
                </a:moveTo>
                <a:lnTo>
                  <a:pt x="2076450" y="0"/>
                </a:lnTo>
                <a:cubicBezTo>
                  <a:pt x="2108010" y="0"/>
                  <a:pt x="2133600" y="25590"/>
                  <a:pt x="2133600" y="57150"/>
                </a:cubicBezTo>
                <a:lnTo>
                  <a:pt x="2133600" y="57150"/>
                </a:lnTo>
                <a:cubicBezTo>
                  <a:pt x="2133600" y="88710"/>
                  <a:pt x="2108010" y="114300"/>
                  <a:pt x="2076450" y="114300"/>
                </a:cubicBezTo>
                <a:lnTo>
                  <a:pt x="57150" y="114300"/>
                </a:lnTo>
                <a:cubicBezTo>
                  <a:pt x="25590" y="114300"/>
                  <a:pt x="0" y="88710"/>
                  <a:pt x="0" y="57150"/>
                </a:cubicBezTo>
                <a:lnTo>
                  <a:pt x="0" y="57150"/>
                </a:lnTo>
                <a:cubicBezTo>
                  <a:pt x="0" y="25590"/>
                  <a:pt x="25590" y="0"/>
                  <a:pt x="57150" y="0"/>
                </a:cubicBezTo>
                <a:close/>
              </a:path>
            </a:pathLst>
          </a:custGeom>
          <a:gradFill rotWithShape="1">
            <a:gsLst>
              <a:gs pos="0">
                <a:srgbClr val="134C9C">
                  <a:alpha val="30000"/>
                </a:srgbClr>
              </a:gs>
              <a:gs pos="100000">
                <a:srgbClr val="E0703A">
                  <a:alpha val="55000"/>
                </a:srgbClr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9" name="arr-6"/>
          <p:cNvSpPr/>
          <p:nvPr/>
        </p:nvSpPr>
        <p:spPr>
          <a:xfrm>
            <a:off x="6781800" y="4972050"/>
            <a:ext cx="76200" cy="127000"/>
          </a:xfrm>
          <a:custGeom>
            <a:avLst/>
            <a:gdLst/>
            <a:ahLst/>
            <a:cxnLst/>
            <a:rect l="0" t="0" r="r" b="b"/>
            <a:pathLst>
              <a:path w="76200" h="127000">
                <a:moveTo>
                  <a:pt x="0" y="0"/>
                </a:moveTo>
                <a:lnTo>
                  <a:pt x="76200" y="63500"/>
                </a:lnTo>
                <a:lnTo>
                  <a:pt x="0" y="127000"/>
                </a:lnTo>
              </a:path>
            </a:pathLst>
          </a:custGeom>
          <a:noFill/>
          <a:ln w="1524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tg-6"/>
          <p:cNvSpPr/>
          <p:nvPr/>
        </p:nvSpPr>
        <p:spPr>
          <a:xfrm>
            <a:off x="6883400" y="4883150"/>
            <a:ext cx="304800" cy="3048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E0703A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tgt-6"/>
          <p:cNvSpPr txBox="1"/>
          <p:nvPr/>
        </p:nvSpPr>
        <p:spPr>
          <a:xfrm>
            <a:off x="6952361" y="493884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102" name="cur-6"/>
          <p:cNvSpPr/>
          <p:nvPr/>
        </p:nvSpPr>
        <p:spPr>
          <a:xfrm>
            <a:off x="4749800" y="4883150"/>
            <a:ext cx="304800" cy="304800"/>
          </a:xfrm>
          <a:prstGeom prst="ellipse">
            <a:avLst/>
          </a:pr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curt-6"/>
          <p:cNvSpPr txBox="1"/>
          <p:nvPr/>
        </p:nvSpPr>
        <p:spPr>
          <a:xfrm>
            <a:off x="4818761" y="493884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104" name="lg-cur"/>
          <p:cNvSpPr/>
          <p:nvPr/>
        </p:nvSpPr>
        <p:spPr>
          <a:xfrm>
            <a:off x="3314700" y="5422900"/>
            <a:ext cx="152400" cy="1524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lg-curt"/>
          <p:cNvSpPr txBox="1"/>
          <p:nvPr/>
        </p:nvSpPr>
        <p:spPr>
          <a:xfrm>
            <a:off x="3519170" y="5419566"/>
            <a:ext cx="2889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现状</a:t>
            </a:r>
          </a:p>
        </p:txBody>
      </p:sp>
      <p:sp>
        <p:nvSpPr>
          <p:cNvPr id="106" name="lg-tg"/>
          <p:cNvSpPr/>
          <p:nvPr/>
        </p:nvSpPr>
        <p:spPr>
          <a:xfrm>
            <a:off x="4013200" y="5422900"/>
            <a:ext cx="152400" cy="15240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7" name="lg-tgt"/>
          <p:cNvSpPr txBox="1"/>
          <p:nvPr/>
        </p:nvSpPr>
        <p:spPr>
          <a:xfrm>
            <a:off x="4217670" y="5419566"/>
            <a:ext cx="4921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两年目标</a:t>
            </a:r>
          </a:p>
        </p:txBody>
      </p:sp>
      <p:sp>
        <p:nvSpPr>
          <p:cNvPr id="108" name="lg-gap"/>
          <p:cNvSpPr/>
          <p:nvPr/>
        </p:nvSpPr>
        <p:spPr>
          <a:xfrm>
            <a:off x="4889500" y="5448300"/>
            <a:ext cx="406400" cy="101600"/>
          </a:xfrm>
          <a:custGeom>
            <a:avLst/>
            <a:gdLst/>
            <a:ahLst/>
            <a:cxnLst/>
            <a:rect l="0" t="0" r="r" b="b"/>
            <a:pathLst>
              <a:path w="406400" h="101600">
                <a:moveTo>
                  <a:pt x="50800" y="0"/>
                </a:moveTo>
                <a:lnTo>
                  <a:pt x="355600" y="0"/>
                </a:lnTo>
                <a:cubicBezTo>
                  <a:pt x="383667" y="0"/>
                  <a:pt x="406400" y="22733"/>
                  <a:pt x="406400" y="50800"/>
                </a:cubicBezTo>
                <a:lnTo>
                  <a:pt x="406400" y="50800"/>
                </a:lnTo>
                <a:cubicBezTo>
                  <a:pt x="406400" y="78867"/>
                  <a:pt x="383667" y="101600"/>
                  <a:pt x="3556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134C9C">
                  <a:alpha val="30000"/>
                </a:srgbClr>
              </a:gs>
              <a:gs pos="100000">
                <a:srgbClr val="E0703A">
                  <a:alpha val="55000"/>
                </a:srgbClr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lg-gapt"/>
          <p:cNvSpPr txBox="1"/>
          <p:nvPr/>
        </p:nvSpPr>
        <p:spPr>
          <a:xfrm>
            <a:off x="5360670" y="5419566"/>
            <a:ext cx="5937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待提升差距</a:t>
            </a:r>
          </a:p>
        </p:txBody>
      </p:sp>
      <p:sp>
        <p:nvSpPr>
          <p:cNvPr id="110" name="side-bar"/>
          <p:cNvSpPr/>
          <p:nvPr/>
        </p:nvSpPr>
        <p:spPr>
          <a:xfrm>
            <a:off x="9017000" y="14986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1" name="side-h"/>
          <p:cNvSpPr txBox="1"/>
          <p:nvPr/>
        </p:nvSpPr>
        <p:spPr>
          <a:xfrm>
            <a:off x="9175750" y="15057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差距排序</a:t>
            </a:r>
          </a:p>
        </p:txBody>
      </p:sp>
      <p:sp>
        <p:nvSpPr>
          <p:cNvPr id="112" name="side-p"/>
          <p:cNvSpPr txBox="1"/>
          <p:nvPr/>
        </p:nvSpPr>
        <p:spPr>
          <a:xfrm>
            <a:off x="9181465" y="1780461"/>
            <a:ext cx="8956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按需提升的级数</a:t>
            </a:r>
          </a:p>
        </p:txBody>
      </p:sp>
      <p:sp>
        <p:nvSpPr>
          <p:cNvPr id="113" name="or-1"/>
          <p:cNvSpPr txBox="1"/>
          <p:nvPr/>
        </p:nvSpPr>
        <p:spPr>
          <a:xfrm>
            <a:off x="9027922" y="2238597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数据治理</a:t>
            </a:r>
          </a:p>
        </p:txBody>
      </p:sp>
      <p:sp>
        <p:nvSpPr>
          <p:cNvPr id="114" name="os-1-1"/>
          <p:cNvSpPr/>
          <p:nvPr/>
        </p:nvSpPr>
        <p:spPr>
          <a:xfrm>
            <a:off x="9766300" y="2286000"/>
            <a:ext cx="317500" cy="127000"/>
          </a:xfrm>
          <a:custGeom>
            <a:avLst/>
            <a:gdLst/>
            <a:ahLst/>
            <a:cxnLst/>
            <a:rect l="0" t="0" r="r" b="b"/>
            <a:pathLst>
              <a:path w="317500" h="127000">
                <a:moveTo>
                  <a:pt x="63500" y="0"/>
                </a:moveTo>
                <a:lnTo>
                  <a:pt x="254000" y="0"/>
                </a:lnTo>
                <a:cubicBezTo>
                  <a:pt x="289052" y="0"/>
                  <a:pt x="317500" y="28448"/>
                  <a:pt x="317500" y="63500"/>
                </a:cubicBezTo>
                <a:lnTo>
                  <a:pt x="317500" y="63500"/>
                </a:lnTo>
                <a:cubicBezTo>
                  <a:pt x="317500" y="98552"/>
                  <a:pt x="289052" y="127000"/>
                  <a:pt x="2540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5" name="os-1-2"/>
          <p:cNvSpPr/>
          <p:nvPr/>
        </p:nvSpPr>
        <p:spPr>
          <a:xfrm>
            <a:off x="10134600" y="2286000"/>
            <a:ext cx="317500" cy="127000"/>
          </a:xfrm>
          <a:custGeom>
            <a:avLst/>
            <a:gdLst/>
            <a:ahLst/>
            <a:cxnLst/>
            <a:rect l="0" t="0" r="r" b="b"/>
            <a:pathLst>
              <a:path w="317500" h="127000">
                <a:moveTo>
                  <a:pt x="63500" y="0"/>
                </a:moveTo>
                <a:lnTo>
                  <a:pt x="254000" y="0"/>
                </a:lnTo>
                <a:cubicBezTo>
                  <a:pt x="289052" y="0"/>
                  <a:pt x="317500" y="28448"/>
                  <a:pt x="317500" y="63500"/>
                </a:cubicBezTo>
                <a:lnTo>
                  <a:pt x="317500" y="63500"/>
                </a:lnTo>
                <a:cubicBezTo>
                  <a:pt x="317500" y="98552"/>
                  <a:pt x="289052" y="127000"/>
                  <a:pt x="2540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6" name="os-1-3"/>
          <p:cNvSpPr/>
          <p:nvPr/>
        </p:nvSpPr>
        <p:spPr>
          <a:xfrm>
            <a:off x="10502900" y="2286000"/>
            <a:ext cx="317500" cy="127000"/>
          </a:xfrm>
          <a:custGeom>
            <a:avLst/>
            <a:gdLst/>
            <a:ahLst/>
            <a:cxnLst/>
            <a:rect l="0" t="0" r="r" b="b"/>
            <a:pathLst>
              <a:path w="317500" h="127000">
                <a:moveTo>
                  <a:pt x="63500" y="0"/>
                </a:moveTo>
                <a:lnTo>
                  <a:pt x="254000" y="0"/>
                </a:lnTo>
                <a:cubicBezTo>
                  <a:pt x="289052" y="0"/>
                  <a:pt x="317500" y="28448"/>
                  <a:pt x="317500" y="63500"/>
                </a:cubicBezTo>
                <a:lnTo>
                  <a:pt x="317500" y="63500"/>
                </a:lnTo>
                <a:cubicBezTo>
                  <a:pt x="317500" y="98552"/>
                  <a:pt x="289052" y="127000"/>
                  <a:pt x="2540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7" name="ov-1"/>
          <p:cNvSpPr txBox="1"/>
          <p:nvPr/>
        </p:nvSpPr>
        <p:spPr>
          <a:xfrm>
            <a:off x="10833862" y="2246440"/>
            <a:ext cx="41935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+3 级</a:t>
            </a:r>
          </a:p>
        </p:txBody>
      </p:sp>
      <p:sp>
        <p:nvSpPr>
          <p:cNvPr id="118" name="or-2"/>
          <p:cNvSpPr txBox="1"/>
          <p:nvPr/>
        </p:nvSpPr>
        <p:spPr>
          <a:xfrm>
            <a:off x="9027922" y="2683097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技术平台</a:t>
            </a:r>
          </a:p>
        </p:txBody>
      </p:sp>
      <p:sp>
        <p:nvSpPr>
          <p:cNvPr id="119" name="os-2-1"/>
          <p:cNvSpPr/>
          <p:nvPr/>
        </p:nvSpPr>
        <p:spPr>
          <a:xfrm>
            <a:off x="9766300" y="2730500"/>
            <a:ext cx="317500" cy="127000"/>
          </a:xfrm>
          <a:custGeom>
            <a:avLst/>
            <a:gdLst/>
            <a:ahLst/>
            <a:cxnLst/>
            <a:rect l="0" t="0" r="r" b="b"/>
            <a:pathLst>
              <a:path w="317500" h="127000">
                <a:moveTo>
                  <a:pt x="63500" y="0"/>
                </a:moveTo>
                <a:lnTo>
                  <a:pt x="254000" y="0"/>
                </a:lnTo>
                <a:cubicBezTo>
                  <a:pt x="289052" y="0"/>
                  <a:pt x="317500" y="28448"/>
                  <a:pt x="317500" y="63500"/>
                </a:cubicBezTo>
                <a:lnTo>
                  <a:pt x="317500" y="63500"/>
                </a:lnTo>
                <a:cubicBezTo>
                  <a:pt x="317500" y="98552"/>
                  <a:pt x="289052" y="127000"/>
                  <a:pt x="2540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0" name="os-2-2"/>
          <p:cNvSpPr/>
          <p:nvPr/>
        </p:nvSpPr>
        <p:spPr>
          <a:xfrm>
            <a:off x="10134600" y="2730500"/>
            <a:ext cx="317500" cy="127000"/>
          </a:xfrm>
          <a:custGeom>
            <a:avLst/>
            <a:gdLst/>
            <a:ahLst/>
            <a:cxnLst/>
            <a:rect l="0" t="0" r="r" b="b"/>
            <a:pathLst>
              <a:path w="317500" h="127000">
                <a:moveTo>
                  <a:pt x="63500" y="0"/>
                </a:moveTo>
                <a:lnTo>
                  <a:pt x="254000" y="0"/>
                </a:lnTo>
                <a:cubicBezTo>
                  <a:pt x="289052" y="0"/>
                  <a:pt x="317500" y="28448"/>
                  <a:pt x="317500" y="63500"/>
                </a:cubicBezTo>
                <a:lnTo>
                  <a:pt x="317500" y="63500"/>
                </a:lnTo>
                <a:cubicBezTo>
                  <a:pt x="317500" y="98552"/>
                  <a:pt x="289052" y="127000"/>
                  <a:pt x="2540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1" name="os-2-3"/>
          <p:cNvSpPr/>
          <p:nvPr/>
        </p:nvSpPr>
        <p:spPr>
          <a:xfrm>
            <a:off x="10502900" y="2730500"/>
            <a:ext cx="317500" cy="127000"/>
          </a:xfrm>
          <a:custGeom>
            <a:avLst/>
            <a:gdLst/>
            <a:ahLst/>
            <a:cxnLst/>
            <a:rect l="0" t="0" r="r" b="b"/>
            <a:pathLst>
              <a:path w="317500" h="127000">
                <a:moveTo>
                  <a:pt x="63500" y="0"/>
                </a:moveTo>
                <a:lnTo>
                  <a:pt x="254000" y="0"/>
                </a:lnTo>
                <a:cubicBezTo>
                  <a:pt x="289052" y="0"/>
                  <a:pt x="317500" y="28448"/>
                  <a:pt x="317500" y="63500"/>
                </a:cubicBezTo>
                <a:lnTo>
                  <a:pt x="317500" y="63500"/>
                </a:lnTo>
                <a:cubicBezTo>
                  <a:pt x="317500" y="98552"/>
                  <a:pt x="289052" y="127000"/>
                  <a:pt x="2540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2" name="ov-2"/>
          <p:cNvSpPr txBox="1"/>
          <p:nvPr/>
        </p:nvSpPr>
        <p:spPr>
          <a:xfrm>
            <a:off x="10833862" y="2690940"/>
            <a:ext cx="41935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+2 级</a:t>
            </a:r>
          </a:p>
        </p:txBody>
      </p:sp>
      <p:sp>
        <p:nvSpPr>
          <p:cNvPr id="123" name="or-3"/>
          <p:cNvSpPr txBox="1"/>
          <p:nvPr/>
        </p:nvSpPr>
        <p:spPr>
          <a:xfrm>
            <a:off x="9027922" y="3127597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客户运营</a:t>
            </a:r>
          </a:p>
        </p:txBody>
      </p:sp>
      <p:sp>
        <p:nvSpPr>
          <p:cNvPr id="124" name="os-3-1"/>
          <p:cNvSpPr/>
          <p:nvPr/>
        </p:nvSpPr>
        <p:spPr>
          <a:xfrm>
            <a:off x="9766300" y="3175000"/>
            <a:ext cx="317500" cy="127000"/>
          </a:xfrm>
          <a:custGeom>
            <a:avLst/>
            <a:gdLst/>
            <a:ahLst/>
            <a:cxnLst/>
            <a:rect l="0" t="0" r="r" b="b"/>
            <a:pathLst>
              <a:path w="317500" h="127000">
                <a:moveTo>
                  <a:pt x="63500" y="0"/>
                </a:moveTo>
                <a:lnTo>
                  <a:pt x="254000" y="0"/>
                </a:lnTo>
                <a:cubicBezTo>
                  <a:pt x="289052" y="0"/>
                  <a:pt x="317500" y="28448"/>
                  <a:pt x="317500" y="63500"/>
                </a:cubicBezTo>
                <a:lnTo>
                  <a:pt x="317500" y="63500"/>
                </a:lnTo>
                <a:cubicBezTo>
                  <a:pt x="317500" y="98552"/>
                  <a:pt x="289052" y="127000"/>
                  <a:pt x="2540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5" name="os-3-2"/>
          <p:cNvSpPr/>
          <p:nvPr/>
        </p:nvSpPr>
        <p:spPr>
          <a:xfrm>
            <a:off x="10134600" y="3175000"/>
            <a:ext cx="317500" cy="127000"/>
          </a:xfrm>
          <a:custGeom>
            <a:avLst/>
            <a:gdLst/>
            <a:ahLst/>
            <a:cxnLst/>
            <a:rect l="0" t="0" r="r" b="b"/>
            <a:pathLst>
              <a:path w="317500" h="127000">
                <a:moveTo>
                  <a:pt x="63500" y="0"/>
                </a:moveTo>
                <a:lnTo>
                  <a:pt x="254000" y="0"/>
                </a:lnTo>
                <a:cubicBezTo>
                  <a:pt x="289052" y="0"/>
                  <a:pt x="317500" y="28448"/>
                  <a:pt x="317500" y="63500"/>
                </a:cubicBezTo>
                <a:lnTo>
                  <a:pt x="317500" y="63500"/>
                </a:lnTo>
                <a:cubicBezTo>
                  <a:pt x="317500" y="98552"/>
                  <a:pt x="289052" y="127000"/>
                  <a:pt x="2540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6" name="os-3-3"/>
          <p:cNvSpPr/>
          <p:nvPr/>
        </p:nvSpPr>
        <p:spPr>
          <a:xfrm>
            <a:off x="10502900" y="3175000"/>
            <a:ext cx="317500" cy="127000"/>
          </a:xfrm>
          <a:custGeom>
            <a:avLst/>
            <a:gdLst/>
            <a:ahLst/>
            <a:cxnLst/>
            <a:rect l="0" t="0" r="r" b="b"/>
            <a:pathLst>
              <a:path w="317500" h="127000">
                <a:moveTo>
                  <a:pt x="63500" y="0"/>
                </a:moveTo>
                <a:lnTo>
                  <a:pt x="254000" y="0"/>
                </a:lnTo>
                <a:cubicBezTo>
                  <a:pt x="289052" y="0"/>
                  <a:pt x="317500" y="28448"/>
                  <a:pt x="317500" y="63500"/>
                </a:cubicBezTo>
                <a:lnTo>
                  <a:pt x="317500" y="63500"/>
                </a:lnTo>
                <a:cubicBezTo>
                  <a:pt x="317500" y="98552"/>
                  <a:pt x="289052" y="127000"/>
                  <a:pt x="2540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7" name="ov-3"/>
          <p:cNvSpPr txBox="1"/>
          <p:nvPr/>
        </p:nvSpPr>
        <p:spPr>
          <a:xfrm>
            <a:off x="10833862" y="3135440"/>
            <a:ext cx="41935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+2 级</a:t>
            </a:r>
          </a:p>
        </p:txBody>
      </p:sp>
      <p:sp>
        <p:nvSpPr>
          <p:cNvPr id="128" name="or-4"/>
          <p:cNvSpPr txBox="1"/>
          <p:nvPr/>
        </p:nvSpPr>
        <p:spPr>
          <a:xfrm>
            <a:off x="9027922" y="3572097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战略规划</a:t>
            </a:r>
          </a:p>
        </p:txBody>
      </p:sp>
      <p:sp>
        <p:nvSpPr>
          <p:cNvPr id="129" name="os-4-1"/>
          <p:cNvSpPr/>
          <p:nvPr/>
        </p:nvSpPr>
        <p:spPr>
          <a:xfrm>
            <a:off x="9766300" y="3619500"/>
            <a:ext cx="317500" cy="127000"/>
          </a:xfrm>
          <a:custGeom>
            <a:avLst/>
            <a:gdLst/>
            <a:ahLst/>
            <a:cxnLst/>
            <a:rect l="0" t="0" r="r" b="b"/>
            <a:pathLst>
              <a:path w="317500" h="127000">
                <a:moveTo>
                  <a:pt x="63500" y="0"/>
                </a:moveTo>
                <a:lnTo>
                  <a:pt x="254000" y="0"/>
                </a:lnTo>
                <a:cubicBezTo>
                  <a:pt x="289052" y="0"/>
                  <a:pt x="317500" y="28448"/>
                  <a:pt x="317500" y="63500"/>
                </a:cubicBezTo>
                <a:lnTo>
                  <a:pt x="317500" y="63500"/>
                </a:lnTo>
                <a:cubicBezTo>
                  <a:pt x="317500" y="98552"/>
                  <a:pt x="289052" y="127000"/>
                  <a:pt x="2540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0" name="os-4-2"/>
          <p:cNvSpPr/>
          <p:nvPr/>
        </p:nvSpPr>
        <p:spPr>
          <a:xfrm>
            <a:off x="10134600" y="3619500"/>
            <a:ext cx="317500" cy="127000"/>
          </a:xfrm>
          <a:custGeom>
            <a:avLst/>
            <a:gdLst/>
            <a:ahLst/>
            <a:cxnLst/>
            <a:rect l="0" t="0" r="r" b="b"/>
            <a:pathLst>
              <a:path w="317500" h="127000">
                <a:moveTo>
                  <a:pt x="63500" y="0"/>
                </a:moveTo>
                <a:lnTo>
                  <a:pt x="254000" y="0"/>
                </a:lnTo>
                <a:cubicBezTo>
                  <a:pt x="289052" y="0"/>
                  <a:pt x="317500" y="28448"/>
                  <a:pt x="317500" y="63500"/>
                </a:cubicBezTo>
                <a:lnTo>
                  <a:pt x="317500" y="63500"/>
                </a:lnTo>
                <a:cubicBezTo>
                  <a:pt x="317500" y="98552"/>
                  <a:pt x="289052" y="127000"/>
                  <a:pt x="2540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1" name="os-4-3"/>
          <p:cNvSpPr/>
          <p:nvPr/>
        </p:nvSpPr>
        <p:spPr>
          <a:xfrm>
            <a:off x="10502900" y="3619500"/>
            <a:ext cx="317500" cy="127000"/>
          </a:xfrm>
          <a:custGeom>
            <a:avLst/>
            <a:gdLst/>
            <a:ahLst/>
            <a:cxnLst/>
            <a:rect l="0" t="0" r="r" b="b"/>
            <a:pathLst>
              <a:path w="317500" h="127000">
                <a:moveTo>
                  <a:pt x="63500" y="0"/>
                </a:moveTo>
                <a:lnTo>
                  <a:pt x="254000" y="0"/>
                </a:lnTo>
                <a:cubicBezTo>
                  <a:pt x="289052" y="0"/>
                  <a:pt x="317500" y="28448"/>
                  <a:pt x="317500" y="63500"/>
                </a:cubicBezTo>
                <a:lnTo>
                  <a:pt x="317500" y="63500"/>
                </a:lnTo>
                <a:cubicBezTo>
                  <a:pt x="317500" y="98552"/>
                  <a:pt x="289052" y="127000"/>
                  <a:pt x="2540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2" name="ov-4"/>
          <p:cNvSpPr txBox="1"/>
          <p:nvPr/>
        </p:nvSpPr>
        <p:spPr>
          <a:xfrm>
            <a:off x="10833862" y="3579940"/>
            <a:ext cx="41935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+1 级</a:t>
            </a:r>
          </a:p>
        </p:txBody>
      </p:sp>
      <p:sp>
        <p:nvSpPr>
          <p:cNvPr id="133" name="or-5"/>
          <p:cNvSpPr txBox="1"/>
          <p:nvPr/>
        </p:nvSpPr>
        <p:spPr>
          <a:xfrm>
            <a:off x="9027922" y="4016597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流程管理</a:t>
            </a:r>
          </a:p>
        </p:txBody>
      </p:sp>
      <p:sp>
        <p:nvSpPr>
          <p:cNvPr id="134" name="os-5-1"/>
          <p:cNvSpPr/>
          <p:nvPr/>
        </p:nvSpPr>
        <p:spPr>
          <a:xfrm>
            <a:off x="9766300" y="4064000"/>
            <a:ext cx="317500" cy="127000"/>
          </a:xfrm>
          <a:custGeom>
            <a:avLst/>
            <a:gdLst/>
            <a:ahLst/>
            <a:cxnLst/>
            <a:rect l="0" t="0" r="r" b="b"/>
            <a:pathLst>
              <a:path w="317500" h="127000">
                <a:moveTo>
                  <a:pt x="63500" y="0"/>
                </a:moveTo>
                <a:lnTo>
                  <a:pt x="254000" y="0"/>
                </a:lnTo>
                <a:cubicBezTo>
                  <a:pt x="289052" y="0"/>
                  <a:pt x="317500" y="28448"/>
                  <a:pt x="317500" y="63500"/>
                </a:cubicBezTo>
                <a:lnTo>
                  <a:pt x="317500" y="63500"/>
                </a:lnTo>
                <a:cubicBezTo>
                  <a:pt x="317500" y="98552"/>
                  <a:pt x="289052" y="127000"/>
                  <a:pt x="2540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5" name="os-5-2"/>
          <p:cNvSpPr/>
          <p:nvPr/>
        </p:nvSpPr>
        <p:spPr>
          <a:xfrm>
            <a:off x="10134600" y="4064000"/>
            <a:ext cx="317500" cy="127000"/>
          </a:xfrm>
          <a:custGeom>
            <a:avLst/>
            <a:gdLst/>
            <a:ahLst/>
            <a:cxnLst/>
            <a:rect l="0" t="0" r="r" b="b"/>
            <a:pathLst>
              <a:path w="317500" h="127000">
                <a:moveTo>
                  <a:pt x="63500" y="0"/>
                </a:moveTo>
                <a:lnTo>
                  <a:pt x="254000" y="0"/>
                </a:lnTo>
                <a:cubicBezTo>
                  <a:pt x="289052" y="0"/>
                  <a:pt x="317500" y="28448"/>
                  <a:pt x="317500" y="63500"/>
                </a:cubicBezTo>
                <a:lnTo>
                  <a:pt x="317500" y="63500"/>
                </a:lnTo>
                <a:cubicBezTo>
                  <a:pt x="317500" y="98552"/>
                  <a:pt x="289052" y="127000"/>
                  <a:pt x="2540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6" name="os-5-3"/>
          <p:cNvSpPr/>
          <p:nvPr/>
        </p:nvSpPr>
        <p:spPr>
          <a:xfrm>
            <a:off x="10502900" y="4064000"/>
            <a:ext cx="317500" cy="127000"/>
          </a:xfrm>
          <a:custGeom>
            <a:avLst/>
            <a:gdLst/>
            <a:ahLst/>
            <a:cxnLst/>
            <a:rect l="0" t="0" r="r" b="b"/>
            <a:pathLst>
              <a:path w="317500" h="127000">
                <a:moveTo>
                  <a:pt x="63500" y="0"/>
                </a:moveTo>
                <a:lnTo>
                  <a:pt x="254000" y="0"/>
                </a:lnTo>
                <a:cubicBezTo>
                  <a:pt x="289052" y="0"/>
                  <a:pt x="317500" y="28448"/>
                  <a:pt x="317500" y="63500"/>
                </a:cubicBezTo>
                <a:lnTo>
                  <a:pt x="317500" y="63500"/>
                </a:lnTo>
                <a:cubicBezTo>
                  <a:pt x="317500" y="98552"/>
                  <a:pt x="289052" y="127000"/>
                  <a:pt x="2540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7" name="ov-5"/>
          <p:cNvSpPr txBox="1"/>
          <p:nvPr/>
        </p:nvSpPr>
        <p:spPr>
          <a:xfrm>
            <a:off x="10833862" y="4024440"/>
            <a:ext cx="41935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+1 级</a:t>
            </a:r>
          </a:p>
        </p:txBody>
      </p:sp>
      <p:sp>
        <p:nvSpPr>
          <p:cNvPr id="138" name="or-6"/>
          <p:cNvSpPr txBox="1"/>
          <p:nvPr/>
        </p:nvSpPr>
        <p:spPr>
          <a:xfrm>
            <a:off x="9027922" y="4461097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人才能力</a:t>
            </a:r>
          </a:p>
        </p:txBody>
      </p:sp>
      <p:sp>
        <p:nvSpPr>
          <p:cNvPr id="139" name="os-6-1"/>
          <p:cNvSpPr/>
          <p:nvPr/>
        </p:nvSpPr>
        <p:spPr>
          <a:xfrm>
            <a:off x="9766300" y="4508500"/>
            <a:ext cx="317500" cy="127000"/>
          </a:xfrm>
          <a:custGeom>
            <a:avLst/>
            <a:gdLst/>
            <a:ahLst/>
            <a:cxnLst/>
            <a:rect l="0" t="0" r="r" b="b"/>
            <a:pathLst>
              <a:path w="317500" h="127000">
                <a:moveTo>
                  <a:pt x="63500" y="0"/>
                </a:moveTo>
                <a:lnTo>
                  <a:pt x="254000" y="0"/>
                </a:lnTo>
                <a:cubicBezTo>
                  <a:pt x="289052" y="0"/>
                  <a:pt x="317500" y="28448"/>
                  <a:pt x="317500" y="63500"/>
                </a:cubicBezTo>
                <a:lnTo>
                  <a:pt x="317500" y="63500"/>
                </a:lnTo>
                <a:cubicBezTo>
                  <a:pt x="317500" y="98552"/>
                  <a:pt x="289052" y="127000"/>
                  <a:pt x="2540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0" name="os-6-2"/>
          <p:cNvSpPr/>
          <p:nvPr/>
        </p:nvSpPr>
        <p:spPr>
          <a:xfrm>
            <a:off x="10134600" y="4508500"/>
            <a:ext cx="317500" cy="127000"/>
          </a:xfrm>
          <a:custGeom>
            <a:avLst/>
            <a:gdLst/>
            <a:ahLst/>
            <a:cxnLst/>
            <a:rect l="0" t="0" r="r" b="b"/>
            <a:pathLst>
              <a:path w="317500" h="127000">
                <a:moveTo>
                  <a:pt x="63500" y="0"/>
                </a:moveTo>
                <a:lnTo>
                  <a:pt x="254000" y="0"/>
                </a:lnTo>
                <a:cubicBezTo>
                  <a:pt x="289052" y="0"/>
                  <a:pt x="317500" y="28448"/>
                  <a:pt x="317500" y="63500"/>
                </a:cubicBezTo>
                <a:lnTo>
                  <a:pt x="317500" y="63500"/>
                </a:lnTo>
                <a:cubicBezTo>
                  <a:pt x="317500" y="98552"/>
                  <a:pt x="289052" y="127000"/>
                  <a:pt x="2540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1" name="os-6-3"/>
          <p:cNvSpPr/>
          <p:nvPr/>
        </p:nvSpPr>
        <p:spPr>
          <a:xfrm>
            <a:off x="10502900" y="4508500"/>
            <a:ext cx="317500" cy="127000"/>
          </a:xfrm>
          <a:custGeom>
            <a:avLst/>
            <a:gdLst/>
            <a:ahLst/>
            <a:cxnLst/>
            <a:rect l="0" t="0" r="r" b="b"/>
            <a:pathLst>
              <a:path w="317500" h="127000">
                <a:moveTo>
                  <a:pt x="63500" y="0"/>
                </a:moveTo>
                <a:lnTo>
                  <a:pt x="254000" y="0"/>
                </a:lnTo>
                <a:cubicBezTo>
                  <a:pt x="289052" y="0"/>
                  <a:pt x="317500" y="28448"/>
                  <a:pt x="317500" y="63500"/>
                </a:cubicBezTo>
                <a:lnTo>
                  <a:pt x="317500" y="63500"/>
                </a:lnTo>
                <a:cubicBezTo>
                  <a:pt x="317500" y="98552"/>
                  <a:pt x="289052" y="127000"/>
                  <a:pt x="2540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2" name="ov-6"/>
          <p:cNvSpPr txBox="1"/>
          <p:nvPr/>
        </p:nvSpPr>
        <p:spPr>
          <a:xfrm>
            <a:off x="10833862" y="4468940"/>
            <a:ext cx="41935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+1 级</a:t>
            </a:r>
          </a:p>
        </p:txBody>
      </p:sp>
      <p:sp>
        <p:nvSpPr>
          <p:cNvPr id="143" name="avg"/>
          <p:cNvSpPr/>
          <p:nvPr/>
        </p:nvSpPr>
        <p:spPr>
          <a:xfrm>
            <a:off x="9017000" y="4902200"/>
            <a:ext cx="2222500" cy="444500"/>
          </a:xfrm>
          <a:custGeom>
            <a:avLst/>
            <a:gdLst/>
            <a:ahLst/>
            <a:cxnLst/>
            <a:rect l="0" t="0" r="r" b="b"/>
            <a:pathLst>
              <a:path w="2222500" h="444500">
                <a:moveTo>
                  <a:pt x="101600" y="0"/>
                </a:moveTo>
                <a:lnTo>
                  <a:pt x="2120900" y="0"/>
                </a:lnTo>
                <a:cubicBezTo>
                  <a:pt x="2177034" y="0"/>
                  <a:pt x="2222500" y="45466"/>
                  <a:pt x="2222500" y="101600"/>
                </a:cubicBezTo>
                <a:lnTo>
                  <a:pt x="2222500" y="342900"/>
                </a:lnTo>
                <a:cubicBezTo>
                  <a:pt x="2222500" y="399034"/>
                  <a:pt x="2177034" y="444500"/>
                  <a:pt x="2120900" y="444500"/>
                </a:cubicBezTo>
                <a:lnTo>
                  <a:pt x="101600" y="444500"/>
                </a:lnTo>
                <a:cubicBezTo>
                  <a:pt x="45466" y="444500"/>
                  <a:pt x="0" y="399034"/>
                  <a:pt x="0" y="3429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0703A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4" name="avg-h"/>
          <p:cNvSpPr txBox="1"/>
          <p:nvPr/>
        </p:nvSpPr>
        <p:spPr>
          <a:xfrm>
            <a:off x="9157208" y="5056124"/>
            <a:ext cx="3073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平均</a:t>
            </a:r>
          </a:p>
        </p:txBody>
      </p:sp>
      <p:sp>
        <p:nvSpPr>
          <p:cNvPr id="145" name="avg-v"/>
          <p:cNvSpPr txBox="1"/>
          <p:nvPr/>
        </p:nvSpPr>
        <p:spPr>
          <a:xfrm>
            <a:off x="9555988" y="4990402"/>
            <a:ext cx="1009269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25">
                <a:solidFill>
                  <a:srgbClr val="E0703A"/>
                </a:solidFill>
                <a:latin typeface="Arial"/>
                <a:ea typeface="Arial"/>
                <a:cs typeface="Arial"/>
              </a:rPr>
              <a:t>2.3 → 4.0</a:t>
            </a:r>
          </a:p>
        </p:txBody>
      </p:sp>
      <p:sp>
        <p:nvSpPr>
          <p:cNvPr id="146" name="sum"/>
          <p:cNvSpPr/>
          <p:nvPr/>
        </p:nvSpPr>
        <p:spPr>
          <a:xfrm>
            <a:off x="952500" y="5791200"/>
            <a:ext cx="10287000" cy="533400"/>
          </a:xfrm>
          <a:custGeom>
            <a:avLst/>
            <a:gdLst/>
            <a:ahLst/>
            <a:cxnLst/>
            <a:rect l="0" t="0" r="r" b="b"/>
            <a:pathLst>
              <a:path w="10287000" h="5334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31800"/>
                </a:lnTo>
                <a:cubicBezTo>
                  <a:pt x="10287000" y="487934"/>
                  <a:pt x="10241534" y="533400"/>
                  <a:pt x="10185400" y="533400"/>
                </a:cubicBezTo>
                <a:lnTo>
                  <a:pt x="101600" y="533400"/>
                </a:lnTo>
                <a:cubicBezTo>
                  <a:pt x="45466" y="533400"/>
                  <a:pt x="0" y="487934"/>
                  <a:pt x="0" y="431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7" name="sum-bar"/>
          <p:cNvSpPr/>
          <p:nvPr/>
        </p:nvSpPr>
        <p:spPr>
          <a:xfrm>
            <a:off x="952500" y="57912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8" name="sum-h"/>
          <p:cNvSpPr txBox="1"/>
          <p:nvPr/>
        </p:nvSpPr>
        <p:spPr>
          <a:xfrm>
            <a:off x="1141222" y="59596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投入建议</a:t>
            </a:r>
          </a:p>
        </p:txBody>
      </p:sp>
      <p:sp>
        <p:nvSpPr>
          <p:cNvPr id="149" name="sum-p"/>
          <p:cNvSpPr txBox="1"/>
          <p:nvPr/>
        </p:nvSpPr>
        <p:spPr>
          <a:xfrm>
            <a:off x="1891665" y="5971461"/>
            <a:ext cx="472598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数据治理差 3 级、是其他维度的地基——第一年预算的 40% 先投给数据口径与主数据建设。</a:t>
            </a:r>
          </a:p>
        </p:txBody>
      </p:sp>
      <p:cxnSp>
        <p:nvCxnSpPr>
          <p:cNvPr id="150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1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成熟度评估 · 六个维度</a:t>
            </a:r>
          </a:p>
        </p:txBody>
      </p:sp>
      <p:sp>
        <p:nvSpPr>
          <p:cNvPr id="152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竞品功能对比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71907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FEATURE COMPARISON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894699" y="673132"/>
            <a:ext cx="27260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八项关键能力逐项对照，我方唯一的短板在智能推荐</a:t>
            </a:r>
          </a:p>
        </p:txBody>
      </p:sp>
      <p:sp>
        <p:nvSpPr>
          <p:cNvPr id="10" name="us-col"/>
          <p:cNvSpPr/>
          <p:nvPr/>
        </p:nvSpPr>
        <p:spPr>
          <a:xfrm>
            <a:off x="4102100" y="1244600"/>
            <a:ext cx="1003300" cy="4038600"/>
          </a:xfrm>
          <a:custGeom>
            <a:avLst/>
            <a:gdLst/>
            <a:ahLst/>
            <a:cxnLst/>
            <a:rect l="0" t="0" r="r" b="b"/>
            <a:pathLst>
              <a:path w="1003300" h="4038600">
                <a:moveTo>
                  <a:pt x="139700" y="0"/>
                </a:moveTo>
                <a:lnTo>
                  <a:pt x="863600" y="0"/>
                </a:lnTo>
                <a:cubicBezTo>
                  <a:pt x="940752" y="0"/>
                  <a:pt x="1003300" y="62547"/>
                  <a:pt x="1003300" y="139700"/>
                </a:cubicBezTo>
                <a:lnTo>
                  <a:pt x="1003300" y="3898900"/>
                </a:lnTo>
                <a:cubicBezTo>
                  <a:pt x="1003300" y="3976052"/>
                  <a:pt x="940752" y="4038600"/>
                  <a:pt x="863600" y="4038600"/>
                </a:cubicBezTo>
                <a:lnTo>
                  <a:pt x="139700" y="4038600"/>
                </a:lnTo>
                <a:cubicBezTo>
                  <a:pt x="62548" y="4038600"/>
                  <a:pt x="0" y="3976052"/>
                  <a:pt x="0" y="3898900"/>
                </a:cubicBezTo>
                <a:lnTo>
                  <a:pt x="0" y="139700"/>
                </a:lnTo>
                <a:cubicBezTo>
                  <a:pt x="0" y="62547"/>
                  <a:pt x="62548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60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us-tag"/>
          <p:cNvSpPr/>
          <p:nvPr/>
        </p:nvSpPr>
        <p:spPr>
          <a:xfrm>
            <a:off x="4349750" y="1168400"/>
            <a:ext cx="508000" cy="165100"/>
          </a:xfrm>
          <a:custGeom>
            <a:avLst/>
            <a:gdLst/>
            <a:ahLst/>
            <a:cxnLst/>
            <a:rect l="0" t="0" r="r" b="b"/>
            <a:pathLst>
              <a:path w="508000" h="165100">
                <a:moveTo>
                  <a:pt x="82550" y="0"/>
                </a:moveTo>
                <a:lnTo>
                  <a:pt x="425450" y="0"/>
                </a:lnTo>
                <a:cubicBezTo>
                  <a:pt x="471043" y="0"/>
                  <a:pt x="508000" y="36957"/>
                  <a:pt x="508000" y="82550"/>
                </a:cubicBezTo>
                <a:lnTo>
                  <a:pt x="508000" y="82550"/>
                </a:lnTo>
                <a:cubicBezTo>
                  <a:pt x="508000" y="128143"/>
                  <a:pt x="471043" y="165100"/>
                  <a:pt x="425450" y="165100"/>
                </a:cubicBezTo>
                <a:lnTo>
                  <a:pt x="82550" y="165100"/>
                </a:lnTo>
                <a:cubicBezTo>
                  <a:pt x="36957" y="165100"/>
                  <a:pt x="0" y="128143"/>
                  <a:pt x="0" y="825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us-tagt"/>
          <p:cNvSpPr txBox="1"/>
          <p:nvPr/>
        </p:nvSpPr>
        <p:spPr>
          <a:xfrm>
            <a:off x="4465320" y="1172908"/>
            <a:ext cx="2768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7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推荐</a:t>
            </a:r>
          </a:p>
        </p:txBody>
      </p:sp>
      <p:sp>
        <p:nvSpPr>
          <p:cNvPr id="13" name="th-f"/>
          <p:cNvSpPr txBox="1"/>
          <p:nvPr/>
        </p:nvSpPr>
        <p:spPr>
          <a:xfrm>
            <a:off x="1830070" y="1546066"/>
            <a:ext cx="5175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关键能力</a:t>
            </a:r>
          </a:p>
        </p:txBody>
      </p:sp>
      <p:sp>
        <p:nvSpPr>
          <p:cNvPr id="14" name="th-1"/>
          <p:cNvSpPr txBox="1"/>
          <p:nvPr/>
        </p:nvSpPr>
        <p:spPr>
          <a:xfrm>
            <a:off x="4261802" y="1473613"/>
            <a:ext cx="68389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6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我方方案</a:t>
            </a:r>
          </a:p>
        </p:txBody>
      </p:sp>
      <p:sp>
        <p:nvSpPr>
          <p:cNvPr id="15" name="th-2"/>
          <p:cNvSpPr txBox="1"/>
          <p:nvPr/>
        </p:nvSpPr>
        <p:spPr>
          <a:xfrm>
            <a:off x="5425504" y="1489297"/>
            <a:ext cx="51549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竞品 A</a:t>
            </a:r>
          </a:p>
        </p:txBody>
      </p:sp>
      <p:sp>
        <p:nvSpPr>
          <p:cNvPr id="16" name="th-3"/>
          <p:cNvSpPr txBox="1"/>
          <p:nvPr/>
        </p:nvSpPr>
        <p:spPr>
          <a:xfrm>
            <a:off x="6505004" y="1489297"/>
            <a:ext cx="51549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竞品 B</a:t>
            </a:r>
          </a:p>
        </p:txBody>
      </p:sp>
      <p:sp>
        <p:nvSpPr>
          <p:cNvPr id="17" name="th-4"/>
          <p:cNvSpPr txBox="1"/>
          <p:nvPr/>
        </p:nvSpPr>
        <p:spPr>
          <a:xfrm>
            <a:off x="7584504" y="1489297"/>
            <a:ext cx="51549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竞品 C</a:t>
            </a:r>
          </a:p>
        </p:txBody>
      </p:sp>
      <p:cxnSp>
        <p:nvCxnSpPr>
          <p:cNvPr id="18" name="th-line"/>
          <p:cNvCxnSpPr/>
          <p:nvPr/>
        </p:nvCxnSpPr>
        <p:spPr>
          <a:xfrm>
            <a:off x="952500" y="1828800"/>
            <a:ext cx="7429500" cy="0"/>
          </a:xfrm>
          <a:prstGeom prst="line">
            <a:avLst/>
          </a:prstGeom>
          <a:ln w="7620" cap="rnd">
            <a:solidFill>
              <a:srgbClr val="0B2545">
                <a:alpha val="1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grp-1"/>
          <p:cNvSpPr/>
          <p:nvPr/>
        </p:nvSpPr>
        <p:spPr>
          <a:xfrm>
            <a:off x="952500" y="1955800"/>
            <a:ext cx="749300" cy="1117600"/>
          </a:xfrm>
          <a:custGeom>
            <a:avLst/>
            <a:gdLst/>
            <a:ahLst/>
            <a:cxnLst/>
            <a:rect l="0" t="0" r="r" b="b"/>
            <a:pathLst>
              <a:path w="749300" h="1117600">
                <a:moveTo>
                  <a:pt x="88900" y="0"/>
                </a:moveTo>
                <a:lnTo>
                  <a:pt x="660400" y="0"/>
                </a:lnTo>
                <a:cubicBezTo>
                  <a:pt x="709486" y="0"/>
                  <a:pt x="749300" y="39814"/>
                  <a:pt x="749300" y="88900"/>
                </a:cubicBezTo>
                <a:lnTo>
                  <a:pt x="749300" y="1028700"/>
                </a:lnTo>
                <a:cubicBezTo>
                  <a:pt x="749300" y="1077786"/>
                  <a:pt x="709486" y="1117600"/>
                  <a:pt x="660400" y="1117600"/>
                </a:cubicBezTo>
                <a:lnTo>
                  <a:pt x="88900" y="1117600"/>
                </a:lnTo>
                <a:cubicBezTo>
                  <a:pt x="39815" y="1117600"/>
                  <a:pt x="0" y="1077786"/>
                  <a:pt x="0" y="10287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grpb-1"/>
          <p:cNvSpPr/>
          <p:nvPr/>
        </p:nvSpPr>
        <p:spPr>
          <a:xfrm>
            <a:off x="952500" y="1955800"/>
            <a:ext cx="31750" cy="11176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grpt-1"/>
          <p:cNvSpPr txBox="1"/>
          <p:nvPr/>
        </p:nvSpPr>
        <p:spPr>
          <a:xfrm>
            <a:off x="1062672" y="2425732"/>
            <a:ext cx="5670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7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基础能力</a:t>
            </a:r>
          </a:p>
        </p:txBody>
      </p:sp>
      <p:sp>
        <p:nvSpPr>
          <p:cNvPr id="22" name="grp-2"/>
          <p:cNvSpPr/>
          <p:nvPr/>
        </p:nvSpPr>
        <p:spPr>
          <a:xfrm>
            <a:off x="952500" y="3175000"/>
            <a:ext cx="749300" cy="711200"/>
          </a:xfrm>
          <a:custGeom>
            <a:avLst/>
            <a:gdLst/>
            <a:ahLst/>
            <a:cxnLst/>
            <a:rect l="0" t="0" r="r" b="b"/>
            <a:pathLst>
              <a:path w="749300" h="711200">
                <a:moveTo>
                  <a:pt x="88900" y="0"/>
                </a:moveTo>
                <a:lnTo>
                  <a:pt x="660400" y="0"/>
                </a:lnTo>
                <a:cubicBezTo>
                  <a:pt x="709486" y="0"/>
                  <a:pt x="749300" y="39814"/>
                  <a:pt x="749300" y="88900"/>
                </a:cubicBezTo>
                <a:lnTo>
                  <a:pt x="749300" y="622300"/>
                </a:lnTo>
                <a:cubicBezTo>
                  <a:pt x="749300" y="671386"/>
                  <a:pt x="709486" y="711200"/>
                  <a:pt x="660400" y="711200"/>
                </a:cubicBezTo>
                <a:lnTo>
                  <a:pt x="88900" y="711200"/>
                </a:lnTo>
                <a:cubicBezTo>
                  <a:pt x="39815" y="711200"/>
                  <a:pt x="0" y="671386"/>
                  <a:pt x="0" y="6223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2468B6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grpb-2"/>
          <p:cNvSpPr/>
          <p:nvPr/>
        </p:nvSpPr>
        <p:spPr>
          <a:xfrm>
            <a:off x="952500" y="3175000"/>
            <a:ext cx="31750" cy="711200"/>
          </a:xfrm>
          <a:prstGeom prst="roundRect">
            <a:avLst>
              <a:gd name="adj" fmla="val 50000"/>
            </a:avLst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grpt-2"/>
          <p:cNvSpPr txBox="1"/>
          <p:nvPr/>
        </p:nvSpPr>
        <p:spPr>
          <a:xfrm>
            <a:off x="1121410" y="3441732"/>
            <a:ext cx="44958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75">
                <a:solidFill>
                  <a:srgbClr val="2468B6"/>
                </a:solidFill>
                <a:latin typeface="微软雅黑"/>
                <a:ea typeface="微软雅黑"/>
                <a:cs typeface="微软雅黑"/>
              </a:rPr>
              <a:t>智能化</a:t>
            </a:r>
          </a:p>
        </p:txBody>
      </p:sp>
      <p:sp>
        <p:nvSpPr>
          <p:cNvPr id="25" name="grp-3"/>
          <p:cNvSpPr/>
          <p:nvPr/>
        </p:nvSpPr>
        <p:spPr>
          <a:xfrm>
            <a:off x="952500" y="3987800"/>
            <a:ext cx="749300" cy="1117600"/>
          </a:xfrm>
          <a:custGeom>
            <a:avLst/>
            <a:gdLst/>
            <a:ahLst/>
            <a:cxnLst/>
            <a:rect l="0" t="0" r="r" b="b"/>
            <a:pathLst>
              <a:path w="749300" h="1117600">
                <a:moveTo>
                  <a:pt x="88900" y="0"/>
                </a:moveTo>
                <a:lnTo>
                  <a:pt x="660400" y="0"/>
                </a:lnTo>
                <a:cubicBezTo>
                  <a:pt x="709486" y="0"/>
                  <a:pt x="749300" y="39814"/>
                  <a:pt x="749300" y="88900"/>
                </a:cubicBezTo>
                <a:lnTo>
                  <a:pt x="749300" y="1028700"/>
                </a:lnTo>
                <a:cubicBezTo>
                  <a:pt x="749300" y="1077786"/>
                  <a:pt x="709486" y="1117600"/>
                  <a:pt x="660400" y="1117600"/>
                </a:cubicBezTo>
                <a:lnTo>
                  <a:pt x="88900" y="1117600"/>
                </a:lnTo>
                <a:cubicBezTo>
                  <a:pt x="39815" y="1117600"/>
                  <a:pt x="0" y="1077786"/>
                  <a:pt x="0" y="10287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4694D7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grpb-3"/>
          <p:cNvSpPr/>
          <p:nvPr/>
        </p:nvSpPr>
        <p:spPr>
          <a:xfrm>
            <a:off x="952500" y="3987800"/>
            <a:ext cx="31750" cy="1117600"/>
          </a:xfrm>
          <a:prstGeom prst="roundRect">
            <a:avLst>
              <a:gd name="adj" fmla="val 50000"/>
            </a:avLst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grpt-3"/>
          <p:cNvSpPr txBox="1"/>
          <p:nvPr/>
        </p:nvSpPr>
        <p:spPr>
          <a:xfrm>
            <a:off x="1180148" y="4457732"/>
            <a:ext cx="332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75">
                <a:solidFill>
                  <a:srgbClr val="4694D7"/>
                </a:solidFill>
                <a:latin typeface="微软雅黑"/>
                <a:ea typeface="微软雅黑"/>
                <a:cs typeface="微软雅黑"/>
              </a:rPr>
              <a:t>服务</a:t>
            </a:r>
          </a:p>
        </p:txBody>
      </p:sp>
      <p:sp>
        <p:nvSpPr>
          <p:cNvPr id="28" name="fn-1"/>
          <p:cNvSpPr txBox="1"/>
          <p:nvPr/>
        </p:nvSpPr>
        <p:spPr>
          <a:xfrm>
            <a:off x="1826260" y="1938655"/>
            <a:ext cx="6477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多端同步</a:t>
            </a:r>
          </a:p>
        </p:txBody>
      </p:sp>
      <p:sp>
        <p:nvSpPr>
          <p:cNvPr id="29" name="fd-1"/>
          <p:cNvSpPr txBox="1"/>
          <p:nvPr/>
        </p:nvSpPr>
        <p:spPr>
          <a:xfrm>
            <a:off x="1830832" y="2138108"/>
            <a:ext cx="95580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PC / 移动 / 小程序</a:t>
            </a:r>
          </a:p>
        </p:txBody>
      </p:sp>
      <p:cxnSp>
        <p:nvCxnSpPr>
          <p:cNvPr id="30" name="rl-1"/>
          <p:cNvCxnSpPr/>
          <p:nvPr/>
        </p:nvCxnSpPr>
        <p:spPr>
          <a:xfrm>
            <a:off x="1841500" y="2311400"/>
            <a:ext cx="6540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m-1-1"/>
          <p:cNvSpPr/>
          <p:nvPr/>
        </p:nvSpPr>
        <p:spPr>
          <a:xfrm>
            <a:off x="4508500" y="2012950"/>
            <a:ext cx="190500" cy="19050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m-1-1-ck"/>
          <p:cNvSpPr/>
          <p:nvPr/>
        </p:nvSpPr>
        <p:spPr>
          <a:xfrm>
            <a:off x="4565650" y="2076450"/>
            <a:ext cx="82550" cy="63500"/>
          </a:xfrm>
          <a:custGeom>
            <a:avLst/>
            <a:gdLst/>
            <a:ahLst/>
            <a:cxnLst/>
            <a:rect l="0" t="0" r="r" b="b"/>
            <a:pathLst>
              <a:path w="82550" h="63500">
                <a:moveTo>
                  <a:pt x="0" y="31750"/>
                </a:moveTo>
                <a:lnTo>
                  <a:pt x="28575" y="63500"/>
                </a:lnTo>
                <a:lnTo>
                  <a:pt x="82550" y="0"/>
                </a:lnTo>
              </a:path>
            </a:pathLst>
          </a:custGeom>
          <a:noFill/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m-1-2"/>
          <p:cNvSpPr/>
          <p:nvPr/>
        </p:nvSpPr>
        <p:spPr>
          <a:xfrm>
            <a:off x="5588000" y="2012950"/>
            <a:ext cx="190500" cy="19050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m-1-2-ck"/>
          <p:cNvSpPr/>
          <p:nvPr/>
        </p:nvSpPr>
        <p:spPr>
          <a:xfrm>
            <a:off x="5645150" y="2076450"/>
            <a:ext cx="82550" cy="63500"/>
          </a:xfrm>
          <a:custGeom>
            <a:avLst/>
            <a:gdLst/>
            <a:ahLst/>
            <a:cxnLst/>
            <a:rect l="0" t="0" r="r" b="b"/>
            <a:pathLst>
              <a:path w="82550" h="63500">
                <a:moveTo>
                  <a:pt x="0" y="31750"/>
                </a:moveTo>
                <a:lnTo>
                  <a:pt x="28575" y="63500"/>
                </a:lnTo>
                <a:lnTo>
                  <a:pt x="82550" y="0"/>
                </a:lnTo>
              </a:path>
            </a:pathLst>
          </a:custGeom>
          <a:noFill/>
          <a:ln w="1651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m-1-3"/>
          <p:cNvSpPr/>
          <p:nvPr/>
        </p:nvSpPr>
        <p:spPr>
          <a:xfrm>
            <a:off x="6667500" y="2012950"/>
            <a:ext cx="190500" cy="19050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m-1-3-ck"/>
          <p:cNvSpPr/>
          <p:nvPr/>
        </p:nvSpPr>
        <p:spPr>
          <a:xfrm>
            <a:off x="6724650" y="2076450"/>
            <a:ext cx="82550" cy="63500"/>
          </a:xfrm>
          <a:custGeom>
            <a:avLst/>
            <a:gdLst/>
            <a:ahLst/>
            <a:cxnLst/>
            <a:rect l="0" t="0" r="r" b="b"/>
            <a:pathLst>
              <a:path w="82550" h="63500">
                <a:moveTo>
                  <a:pt x="0" y="31750"/>
                </a:moveTo>
                <a:lnTo>
                  <a:pt x="28575" y="63500"/>
                </a:lnTo>
                <a:lnTo>
                  <a:pt x="82550" y="0"/>
                </a:lnTo>
              </a:path>
            </a:pathLst>
          </a:custGeom>
          <a:noFill/>
          <a:ln w="1651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m-1-4"/>
          <p:cNvSpPr/>
          <p:nvPr/>
        </p:nvSpPr>
        <p:spPr>
          <a:xfrm>
            <a:off x="7753350" y="2019300"/>
            <a:ext cx="177800" cy="177800"/>
          </a:xfrm>
          <a:prstGeom prst="ellipse">
            <a:avLst/>
          </a:prstGeom>
          <a:noFill/>
          <a:ln w="1524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m-1-4-half"/>
          <p:cNvSpPr/>
          <p:nvPr/>
        </p:nvSpPr>
        <p:spPr>
          <a:xfrm>
            <a:off x="7753350" y="2019300"/>
            <a:ext cx="88900" cy="177800"/>
          </a:xfrm>
          <a:custGeom>
            <a:avLst/>
            <a:gdLst/>
            <a:ahLst/>
            <a:cxnLst/>
            <a:rect l="0" t="0" r="r" b="b"/>
            <a:pathLst>
              <a:path w="88900" h="177800">
                <a:moveTo>
                  <a:pt x="88900" y="0"/>
                </a:moveTo>
                <a:cubicBezTo>
                  <a:pt x="40005" y="0"/>
                  <a:pt x="0" y="40005"/>
                  <a:pt x="0" y="88900"/>
                </a:cubicBezTo>
                <a:cubicBezTo>
                  <a:pt x="0" y="137795"/>
                  <a:pt x="40005" y="177800"/>
                  <a:pt x="88900" y="17780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fn-2"/>
          <p:cNvSpPr txBox="1"/>
          <p:nvPr/>
        </p:nvSpPr>
        <p:spPr>
          <a:xfrm>
            <a:off x="1826260" y="2345055"/>
            <a:ext cx="6477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权限管理</a:t>
            </a:r>
          </a:p>
        </p:txBody>
      </p:sp>
      <p:sp>
        <p:nvSpPr>
          <p:cNvPr id="40" name="fd-2"/>
          <p:cNvSpPr txBox="1"/>
          <p:nvPr/>
        </p:nvSpPr>
        <p:spPr>
          <a:xfrm>
            <a:off x="1830832" y="2544508"/>
            <a:ext cx="8770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角色 + 数据级权限</a:t>
            </a:r>
          </a:p>
        </p:txBody>
      </p:sp>
      <p:cxnSp>
        <p:nvCxnSpPr>
          <p:cNvPr id="41" name="rl-2"/>
          <p:cNvCxnSpPr/>
          <p:nvPr/>
        </p:nvCxnSpPr>
        <p:spPr>
          <a:xfrm>
            <a:off x="1841500" y="2717800"/>
            <a:ext cx="6540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m-2-1"/>
          <p:cNvSpPr/>
          <p:nvPr/>
        </p:nvSpPr>
        <p:spPr>
          <a:xfrm>
            <a:off x="4508500" y="2419350"/>
            <a:ext cx="190500" cy="19050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m-2-1-ck"/>
          <p:cNvSpPr/>
          <p:nvPr/>
        </p:nvSpPr>
        <p:spPr>
          <a:xfrm>
            <a:off x="4565650" y="2482850"/>
            <a:ext cx="82550" cy="63500"/>
          </a:xfrm>
          <a:custGeom>
            <a:avLst/>
            <a:gdLst/>
            <a:ahLst/>
            <a:cxnLst/>
            <a:rect l="0" t="0" r="r" b="b"/>
            <a:pathLst>
              <a:path w="82550" h="63500">
                <a:moveTo>
                  <a:pt x="0" y="31750"/>
                </a:moveTo>
                <a:lnTo>
                  <a:pt x="28575" y="63500"/>
                </a:lnTo>
                <a:lnTo>
                  <a:pt x="82550" y="0"/>
                </a:lnTo>
              </a:path>
            </a:pathLst>
          </a:custGeom>
          <a:noFill/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m-2-2"/>
          <p:cNvSpPr/>
          <p:nvPr/>
        </p:nvSpPr>
        <p:spPr>
          <a:xfrm>
            <a:off x="5588000" y="2419350"/>
            <a:ext cx="190500" cy="19050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m-2-2-ck"/>
          <p:cNvSpPr/>
          <p:nvPr/>
        </p:nvSpPr>
        <p:spPr>
          <a:xfrm>
            <a:off x="5645150" y="2482850"/>
            <a:ext cx="82550" cy="63500"/>
          </a:xfrm>
          <a:custGeom>
            <a:avLst/>
            <a:gdLst/>
            <a:ahLst/>
            <a:cxnLst/>
            <a:rect l="0" t="0" r="r" b="b"/>
            <a:pathLst>
              <a:path w="82550" h="63500">
                <a:moveTo>
                  <a:pt x="0" y="31750"/>
                </a:moveTo>
                <a:lnTo>
                  <a:pt x="28575" y="63500"/>
                </a:lnTo>
                <a:lnTo>
                  <a:pt x="82550" y="0"/>
                </a:lnTo>
              </a:path>
            </a:pathLst>
          </a:custGeom>
          <a:noFill/>
          <a:ln w="1651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m-2-3"/>
          <p:cNvSpPr/>
          <p:nvPr/>
        </p:nvSpPr>
        <p:spPr>
          <a:xfrm>
            <a:off x="6673850" y="2425700"/>
            <a:ext cx="177800" cy="177800"/>
          </a:xfrm>
          <a:prstGeom prst="ellipse">
            <a:avLst/>
          </a:prstGeom>
          <a:noFill/>
          <a:ln w="1524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m-2-3-half"/>
          <p:cNvSpPr/>
          <p:nvPr/>
        </p:nvSpPr>
        <p:spPr>
          <a:xfrm>
            <a:off x="6673850" y="2425700"/>
            <a:ext cx="88900" cy="177800"/>
          </a:xfrm>
          <a:custGeom>
            <a:avLst/>
            <a:gdLst/>
            <a:ahLst/>
            <a:cxnLst/>
            <a:rect l="0" t="0" r="r" b="b"/>
            <a:pathLst>
              <a:path w="88900" h="177800">
                <a:moveTo>
                  <a:pt x="88900" y="0"/>
                </a:moveTo>
                <a:cubicBezTo>
                  <a:pt x="40005" y="0"/>
                  <a:pt x="0" y="40005"/>
                  <a:pt x="0" y="88900"/>
                </a:cubicBezTo>
                <a:cubicBezTo>
                  <a:pt x="0" y="137795"/>
                  <a:pt x="40005" y="177800"/>
                  <a:pt x="88900" y="17780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m-2-4"/>
          <p:cNvSpPr/>
          <p:nvPr/>
        </p:nvSpPr>
        <p:spPr>
          <a:xfrm>
            <a:off x="7753350" y="2425700"/>
            <a:ext cx="177800" cy="177800"/>
          </a:xfrm>
          <a:prstGeom prst="ellipse">
            <a:avLst/>
          </a:prstGeom>
          <a:noFill/>
          <a:ln w="1524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m-2-4-half"/>
          <p:cNvSpPr/>
          <p:nvPr/>
        </p:nvSpPr>
        <p:spPr>
          <a:xfrm>
            <a:off x="7753350" y="2425700"/>
            <a:ext cx="88900" cy="177800"/>
          </a:xfrm>
          <a:custGeom>
            <a:avLst/>
            <a:gdLst/>
            <a:ahLst/>
            <a:cxnLst/>
            <a:rect l="0" t="0" r="r" b="b"/>
            <a:pathLst>
              <a:path w="88900" h="177800">
                <a:moveTo>
                  <a:pt x="88900" y="0"/>
                </a:moveTo>
                <a:cubicBezTo>
                  <a:pt x="40005" y="0"/>
                  <a:pt x="0" y="40005"/>
                  <a:pt x="0" y="88900"/>
                </a:cubicBezTo>
                <a:cubicBezTo>
                  <a:pt x="0" y="137795"/>
                  <a:pt x="40005" y="177800"/>
                  <a:pt x="88900" y="17780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fn-3"/>
          <p:cNvSpPr txBox="1"/>
          <p:nvPr/>
        </p:nvSpPr>
        <p:spPr>
          <a:xfrm>
            <a:off x="1826260" y="2751455"/>
            <a:ext cx="6477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数据导出</a:t>
            </a:r>
          </a:p>
        </p:txBody>
      </p:sp>
      <p:sp>
        <p:nvSpPr>
          <p:cNvPr id="51" name="fd-3"/>
          <p:cNvSpPr txBox="1"/>
          <p:nvPr/>
        </p:nvSpPr>
        <p:spPr>
          <a:xfrm>
            <a:off x="1830832" y="2950908"/>
            <a:ext cx="8907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Excel / API 导出</a:t>
            </a:r>
          </a:p>
        </p:txBody>
      </p:sp>
      <p:cxnSp>
        <p:nvCxnSpPr>
          <p:cNvPr id="52" name="rl-3"/>
          <p:cNvCxnSpPr/>
          <p:nvPr/>
        </p:nvCxnSpPr>
        <p:spPr>
          <a:xfrm>
            <a:off x="1841500" y="3124200"/>
            <a:ext cx="6540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m-3-1"/>
          <p:cNvSpPr/>
          <p:nvPr/>
        </p:nvSpPr>
        <p:spPr>
          <a:xfrm>
            <a:off x="4508500" y="2825750"/>
            <a:ext cx="190500" cy="19050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m-3-1-ck"/>
          <p:cNvSpPr/>
          <p:nvPr/>
        </p:nvSpPr>
        <p:spPr>
          <a:xfrm>
            <a:off x="4565650" y="2889250"/>
            <a:ext cx="82550" cy="63500"/>
          </a:xfrm>
          <a:custGeom>
            <a:avLst/>
            <a:gdLst/>
            <a:ahLst/>
            <a:cxnLst/>
            <a:rect l="0" t="0" r="r" b="b"/>
            <a:pathLst>
              <a:path w="82550" h="63500">
                <a:moveTo>
                  <a:pt x="0" y="31750"/>
                </a:moveTo>
                <a:lnTo>
                  <a:pt x="28575" y="63500"/>
                </a:lnTo>
                <a:lnTo>
                  <a:pt x="82550" y="0"/>
                </a:lnTo>
              </a:path>
            </a:pathLst>
          </a:custGeom>
          <a:noFill/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m-3-2"/>
          <p:cNvSpPr/>
          <p:nvPr/>
        </p:nvSpPr>
        <p:spPr>
          <a:xfrm>
            <a:off x="5594350" y="2832100"/>
            <a:ext cx="177800" cy="177800"/>
          </a:xfrm>
          <a:prstGeom prst="ellipse">
            <a:avLst/>
          </a:prstGeom>
          <a:noFill/>
          <a:ln w="1524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m-3-2-half"/>
          <p:cNvSpPr/>
          <p:nvPr/>
        </p:nvSpPr>
        <p:spPr>
          <a:xfrm>
            <a:off x="5594350" y="2832100"/>
            <a:ext cx="88900" cy="177800"/>
          </a:xfrm>
          <a:custGeom>
            <a:avLst/>
            <a:gdLst/>
            <a:ahLst/>
            <a:cxnLst/>
            <a:rect l="0" t="0" r="r" b="b"/>
            <a:pathLst>
              <a:path w="88900" h="177800">
                <a:moveTo>
                  <a:pt x="88900" y="0"/>
                </a:moveTo>
                <a:cubicBezTo>
                  <a:pt x="40005" y="0"/>
                  <a:pt x="0" y="40005"/>
                  <a:pt x="0" y="88900"/>
                </a:cubicBezTo>
                <a:cubicBezTo>
                  <a:pt x="0" y="137795"/>
                  <a:pt x="40005" y="177800"/>
                  <a:pt x="88900" y="17780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m-3-3"/>
          <p:cNvSpPr/>
          <p:nvPr/>
        </p:nvSpPr>
        <p:spPr>
          <a:xfrm>
            <a:off x="6667500" y="2825750"/>
            <a:ext cx="190500" cy="19050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m-3-3-ck"/>
          <p:cNvSpPr/>
          <p:nvPr/>
        </p:nvSpPr>
        <p:spPr>
          <a:xfrm>
            <a:off x="6724650" y="2889250"/>
            <a:ext cx="82550" cy="63500"/>
          </a:xfrm>
          <a:custGeom>
            <a:avLst/>
            <a:gdLst/>
            <a:ahLst/>
            <a:cxnLst/>
            <a:rect l="0" t="0" r="r" b="b"/>
            <a:pathLst>
              <a:path w="82550" h="63500">
                <a:moveTo>
                  <a:pt x="0" y="31750"/>
                </a:moveTo>
                <a:lnTo>
                  <a:pt x="28575" y="63500"/>
                </a:lnTo>
                <a:lnTo>
                  <a:pt x="82550" y="0"/>
                </a:lnTo>
              </a:path>
            </a:pathLst>
          </a:custGeom>
          <a:noFill/>
          <a:ln w="1651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m-3-4"/>
          <p:cNvSpPr/>
          <p:nvPr/>
        </p:nvSpPr>
        <p:spPr>
          <a:xfrm>
            <a:off x="7753350" y="2832100"/>
            <a:ext cx="177800" cy="177800"/>
          </a:xfrm>
          <a:prstGeom prst="ellipse">
            <a:avLst/>
          </a:prstGeom>
          <a:noFill/>
          <a:ln w="12700" cap="rnd">
            <a:solidFill>
              <a:srgbClr val="0B2545">
                <a:alpha val="1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60" name="m-3-4-dash"/>
          <p:cNvCxnSpPr/>
          <p:nvPr/>
        </p:nvCxnSpPr>
        <p:spPr>
          <a:xfrm>
            <a:off x="7804150" y="2921000"/>
            <a:ext cx="76200" cy="0"/>
          </a:xfrm>
          <a:prstGeom prst="line">
            <a:avLst/>
          </a:prstGeom>
          <a:ln w="12700" cap="rnd">
            <a:solidFill>
              <a:srgbClr val="0B2545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fn-4"/>
          <p:cNvSpPr txBox="1"/>
          <p:nvPr/>
        </p:nvSpPr>
        <p:spPr>
          <a:xfrm>
            <a:off x="1826260" y="3157855"/>
            <a:ext cx="61341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AI 生成</a:t>
            </a:r>
          </a:p>
        </p:txBody>
      </p:sp>
      <p:sp>
        <p:nvSpPr>
          <p:cNvPr id="62" name="fd-4"/>
          <p:cNvSpPr txBox="1"/>
          <p:nvPr/>
        </p:nvSpPr>
        <p:spPr>
          <a:xfrm>
            <a:off x="1830832" y="3357308"/>
            <a:ext cx="9029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一键生成报告与方案</a:t>
            </a:r>
          </a:p>
        </p:txBody>
      </p:sp>
      <p:cxnSp>
        <p:nvCxnSpPr>
          <p:cNvPr id="63" name="rl-4"/>
          <p:cNvCxnSpPr/>
          <p:nvPr/>
        </p:nvCxnSpPr>
        <p:spPr>
          <a:xfrm>
            <a:off x="1841500" y="3530600"/>
            <a:ext cx="6540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m-4-1"/>
          <p:cNvSpPr/>
          <p:nvPr/>
        </p:nvSpPr>
        <p:spPr>
          <a:xfrm>
            <a:off x="4508500" y="3232150"/>
            <a:ext cx="190500" cy="19050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m-4-1-ck"/>
          <p:cNvSpPr/>
          <p:nvPr/>
        </p:nvSpPr>
        <p:spPr>
          <a:xfrm>
            <a:off x="4565650" y="3295650"/>
            <a:ext cx="82550" cy="63500"/>
          </a:xfrm>
          <a:custGeom>
            <a:avLst/>
            <a:gdLst/>
            <a:ahLst/>
            <a:cxnLst/>
            <a:rect l="0" t="0" r="r" b="b"/>
            <a:pathLst>
              <a:path w="82550" h="63500">
                <a:moveTo>
                  <a:pt x="0" y="31750"/>
                </a:moveTo>
                <a:lnTo>
                  <a:pt x="28575" y="63500"/>
                </a:lnTo>
                <a:lnTo>
                  <a:pt x="82550" y="0"/>
                </a:lnTo>
              </a:path>
            </a:pathLst>
          </a:custGeom>
          <a:noFill/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m-4-2"/>
          <p:cNvSpPr/>
          <p:nvPr/>
        </p:nvSpPr>
        <p:spPr>
          <a:xfrm>
            <a:off x="5594350" y="3238500"/>
            <a:ext cx="177800" cy="177800"/>
          </a:xfrm>
          <a:prstGeom prst="ellipse">
            <a:avLst/>
          </a:prstGeom>
          <a:noFill/>
          <a:ln w="1524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m-4-2-half"/>
          <p:cNvSpPr/>
          <p:nvPr/>
        </p:nvSpPr>
        <p:spPr>
          <a:xfrm>
            <a:off x="5594350" y="3238500"/>
            <a:ext cx="88900" cy="177800"/>
          </a:xfrm>
          <a:custGeom>
            <a:avLst/>
            <a:gdLst/>
            <a:ahLst/>
            <a:cxnLst/>
            <a:rect l="0" t="0" r="r" b="b"/>
            <a:pathLst>
              <a:path w="88900" h="177800">
                <a:moveTo>
                  <a:pt x="88900" y="0"/>
                </a:moveTo>
                <a:cubicBezTo>
                  <a:pt x="40005" y="0"/>
                  <a:pt x="0" y="40005"/>
                  <a:pt x="0" y="88900"/>
                </a:cubicBezTo>
                <a:cubicBezTo>
                  <a:pt x="0" y="137795"/>
                  <a:pt x="40005" y="177800"/>
                  <a:pt x="88900" y="17780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m-4-3"/>
          <p:cNvSpPr/>
          <p:nvPr/>
        </p:nvSpPr>
        <p:spPr>
          <a:xfrm>
            <a:off x="6673850" y="3238500"/>
            <a:ext cx="177800" cy="177800"/>
          </a:xfrm>
          <a:prstGeom prst="ellipse">
            <a:avLst/>
          </a:prstGeom>
          <a:noFill/>
          <a:ln w="12700" cap="rnd">
            <a:solidFill>
              <a:srgbClr val="0B2545">
                <a:alpha val="1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69" name="m-4-3-dash"/>
          <p:cNvCxnSpPr/>
          <p:nvPr/>
        </p:nvCxnSpPr>
        <p:spPr>
          <a:xfrm>
            <a:off x="6724650" y="3327400"/>
            <a:ext cx="76200" cy="0"/>
          </a:xfrm>
          <a:prstGeom prst="line">
            <a:avLst/>
          </a:prstGeom>
          <a:ln w="12700" cap="rnd">
            <a:solidFill>
              <a:srgbClr val="0B2545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m-4-4"/>
          <p:cNvSpPr/>
          <p:nvPr/>
        </p:nvSpPr>
        <p:spPr>
          <a:xfrm>
            <a:off x="7753350" y="3238500"/>
            <a:ext cx="177800" cy="177800"/>
          </a:xfrm>
          <a:prstGeom prst="ellipse">
            <a:avLst/>
          </a:prstGeom>
          <a:noFill/>
          <a:ln w="12700" cap="rnd">
            <a:solidFill>
              <a:srgbClr val="0B2545">
                <a:alpha val="1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71" name="m-4-4-dash"/>
          <p:cNvCxnSpPr/>
          <p:nvPr/>
        </p:nvCxnSpPr>
        <p:spPr>
          <a:xfrm>
            <a:off x="7804150" y="3327400"/>
            <a:ext cx="76200" cy="0"/>
          </a:xfrm>
          <a:prstGeom prst="line">
            <a:avLst/>
          </a:prstGeom>
          <a:ln w="12700" cap="rnd">
            <a:solidFill>
              <a:srgbClr val="0B2545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2" name="fn-5"/>
          <p:cNvSpPr txBox="1"/>
          <p:nvPr/>
        </p:nvSpPr>
        <p:spPr>
          <a:xfrm>
            <a:off x="1826260" y="3564255"/>
            <a:ext cx="6477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智能推荐</a:t>
            </a:r>
          </a:p>
        </p:txBody>
      </p:sp>
      <p:sp>
        <p:nvSpPr>
          <p:cNvPr id="73" name="fd-5"/>
          <p:cNvSpPr txBox="1"/>
          <p:nvPr/>
        </p:nvSpPr>
        <p:spPr>
          <a:xfrm>
            <a:off x="1830832" y="3763708"/>
            <a:ext cx="9029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基于行为的内容推荐</a:t>
            </a:r>
          </a:p>
        </p:txBody>
      </p:sp>
      <p:cxnSp>
        <p:nvCxnSpPr>
          <p:cNvPr id="74" name="rl-5"/>
          <p:cNvCxnSpPr/>
          <p:nvPr/>
        </p:nvCxnSpPr>
        <p:spPr>
          <a:xfrm>
            <a:off x="1841500" y="3937000"/>
            <a:ext cx="6540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5" name="m-5-1"/>
          <p:cNvSpPr/>
          <p:nvPr/>
        </p:nvSpPr>
        <p:spPr>
          <a:xfrm>
            <a:off x="4514850" y="3644900"/>
            <a:ext cx="177800" cy="177800"/>
          </a:xfrm>
          <a:prstGeom prst="ellipse">
            <a:avLst/>
          </a:prstGeom>
          <a:noFill/>
          <a:ln w="1524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m-5-1-half"/>
          <p:cNvSpPr/>
          <p:nvPr/>
        </p:nvSpPr>
        <p:spPr>
          <a:xfrm>
            <a:off x="4514850" y="3644900"/>
            <a:ext cx="88900" cy="177800"/>
          </a:xfrm>
          <a:custGeom>
            <a:avLst/>
            <a:gdLst/>
            <a:ahLst/>
            <a:cxnLst/>
            <a:rect l="0" t="0" r="r" b="b"/>
            <a:pathLst>
              <a:path w="88900" h="177800">
                <a:moveTo>
                  <a:pt x="88900" y="0"/>
                </a:moveTo>
                <a:cubicBezTo>
                  <a:pt x="40005" y="0"/>
                  <a:pt x="0" y="40005"/>
                  <a:pt x="0" y="88900"/>
                </a:cubicBezTo>
                <a:cubicBezTo>
                  <a:pt x="0" y="137795"/>
                  <a:pt x="40005" y="177800"/>
                  <a:pt x="88900" y="17780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m-5-2"/>
          <p:cNvSpPr/>
          <p:nvPr/>
        </p:nvSpPr>
        <p:spPr>
          <a:xfrm>
            <a:off x="5588000" y="3638550"/>
            <a:ext cx="190500" cy="19050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m-5-2-ck"/>
          <p:cNvSpPr/>
          <p:nvPr/>
        </p:nvSpPr>
        <p:spPr>
          <a:xfrm>
            <a:off x="5645150" y="3702050"/>
            <a:ext cx="82550" cy="63500"/>
          </a:xfrm>
          <a:custGeom>
            <a:avLst/>
            <a:gdLst/>
            <a:ahLst/>
            <a:cxnLst/>
            <a:rect l="0" t="0" r="r" b="b"/>
            <a:pathLst>
              <a:path w="82550" h="63500">
                <a:moveTo>
                  <a:pt x="0" y="31750"/>
                </a:moveTo>
                <a:lnTo>
                  <a:pt x="28575" y="63500"/>
                </a:lnTo>
                <a:lnTo>
                  <a:pt x="82550" y="0"/>
                </a:lnTo>
              </a:path>
            </a:pathLst>
          </a:custGeom>
          <a:noFill/>
          <a:ln w="1651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m-5-3"/>
          <p:cNvSpPr/>
          <p:nvPr/>
        </p:nvSpPr>
        <p:spPr>
          <a:xfrm>
            <a:off x="6673850" y="3644900"/>
            <a:ext cx="177800" cy="177800"/>
          </a:xfrm>
          <a:prstGeom prst="ellipse">
            <a:avLst/>
          </a:prstGeom>
          <a:noFill/>
          <a:ln w="12700" cap="rnd">
            <a:solidFill>
              <a:srgbClr val="0B2545">
                <a:alpha val="1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80" name="m-5-3-dash"/>
          <p:cNvCxnSpPr/>
          <p:nvPr/>
        </p:nvCxnSpPr>
        <p:spPr>
          <a:xfrm>
            <a:off x="6724650" y="3733800"/>
            <a:ext cx="76200" cy="0"/>
          </a:xfrm>
          <a:prstGeom prst="line">
            <a:avLst/>
          </a:prstGeom>
          <a:ln w="12700" cap="rnd">
            <a:solidFill>
              <a:srgbClr val="0B2545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m-5-4"/>
          <p:cNvSpPr/>
          <p:nvPr/>
        </p:nvSpPr>
        <p:spPr>
          <a:xfrm>
            <a:off x="7753350" y="3644900"/>
            <a:ext cx="177800" cy="177800"/>
          </a:xfrm>
          <a:prstGeom prst="ellipse">
            <a:avLst/>
          </a:prstGeom>
          <a:noFill/>
          <a:ln w="12700" cap="rnd">
            <a:solidFill>
              <a:srgbClr val="0B2545">
                <a:alpha val="1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82" name="m-5-4-dash"/>
          <p:cNvCxnSpPr/>
          <p:nvPr/>
        </p:nvCxnSpPr>
        <p:spPr>
          <a:xfrm>
            <a:off x="7804150" y="3733800"/>
            <a:ext cx="76200" cy="0"/>
          </a:xfrm>
          <a:prstGeom prst="line">
            <a:avLst/>
          </a:prstGeom>
          <a:ln w="12700" cap="rnd">
            <a:solidFill>
              <a:srgbClr val="0B2545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3" name="fn-6"/>
          <p:cNvSpPr txBox="1"/>
          <p:nvPr/>
        </p:nvSpPr>
        <p:spPr>
          <a:xfrm>
            <a:off x="1826260" y="3970655"/>
            <a:ext cx="78105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私有化部署</a:t>
            </a:r>
          </a:p>
        </p:txBody>
      </p:sp>
      <p:sp>
        <p:nvSpPr>
          <p:cNvPr id="84" name="fd-6"/>
          <p:cNvSpPr txBox="1"/>
          <p:nvPr/>
        </p:nvSpPr>
        <p:spPr>
          <a:xfrm>
            <a:off x="1830832" y="4170108"/>
            <a:ext cx="8115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支持本地机房部署</a:t>
            </a:r>
          </a:p>
        </p:txBody>
      </p:sp>
      <p:cxnSp>
        <p:nvCxnSpPr>
          <p:cNvPr id="85" name="rl-6"/>
          <p:cNvCxnSpPr/>
          <p:nvPr/>
        </p:nvCxnSpPr>
        <p:spPr>
          <a:xfrm>
            <a:off x="1841500" y="4343400"/>
            <a:ext cx="6540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6" name="m-6-1"/>
          <p:cNvSpPr/>
          <p:nvPr/>
        </p:nvSpPr>
        <p:spPr>
          <a:xfrm>
            <a:off x="4508500" y="4044950"/>
            <a:ext cx="190500" cy="19050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m-6-1-ck"/>
          <p:cNvSpPr/>
          <p:nvPr/>
        </p:nvSpPr>
        <p:spPr>
          <a:xfrm>
            <a:off x="4565650" y="4108450"/>
            <a:ext cx="82550" cy="63500"/>
          </a:xfrm>
          <a:custGeom>
            <a:avLst/>
            <a:gdLst/>
            <a:ahLst/>
            <a:cxnLst/>
            <a:rect l="0" t="0" r="r" b="b"/>
            <a:pathLst>
              <a:path w="82550" h="63500">
                <a:moveTo>
                  <a:pt x="0" y="31750"/>
                </a:moveTo>
                <a:lnTo>
                  <a:pt x="28575" y="63500"/>
                </a:lnTo>
                <a:lnTo>
                  <a:pt x="82550" y="0"/>
                </a:lnTo>
              </a:path>
            </a:pathLst>
          </a:custGeom>
          <a:noFill/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m-6-2"/>
          <p:cNvSpPr/>
          <p:nvPr/>
        </p:nvSpPr>
        <p:spPr>
          <a:xfrm>
            <a:off x="5594350" y="4051300"/>
            <a:ext cx="177800" cy="177800"/>
          </a:xfrm>
          <a:prstGeom prst="ellipse">
            <a:avLst/>
          </a:prstGeom>
          <a:noFill/>
          <a:ln w="12700" cap="rnd">
            <a:solidFill>
              <a:srgbClr val="0B2545">
                <a:alpha val="1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89" name="m-6-2-dash"/>
          <p:cNvCxnSpPr/>
          <p:nvPr/>
        </p:nvCxnSpPr>
        <p:spPr>
          <a:xfrm>
            <a:off x="5645150" y="4140200"/>
            <a:ext cx="76200" cy="0"/>
          </a:xfrm>
          <a:prstGeom prst="line">
            <a:avLst/>
          </a:prstGeom>
          <a:ln w="12700" cap="rnd">
            <a:solidFill>
              <a:srgbClr val="0B2545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0" name="m-6-3"/>
          <p:cNvSpPr/>
          <p:nvPr/>
        </p:nvSpPr>
        <p:spPr>
          <a:xfrm>
            <a:off x="6673850" y="4051300"/>
            <a:ext cx="177800" cy="177800"/>
          </a:xfrm>
          <a:prstGeom prst="ellipse">
            <a:avLst/>
          </a:prstGeom>
          <a:noFill/>
          <a:ln w="1524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m-6-3-half"/>
          <p:cNvSpPr/>
          <p:nvPr/>
        </p:nvSpPr>
        <p:spPr>
          <a:xfrm>
            <a:off x="6673850" y="4051300"/>
            <a:ext cx="88900" cy="177800"/>
          </a:xfrm>
          <a:custGeom>
            <a:avLst/>
            <a:gdLst/>
            <a:ahLst/>
            <a:cxnLst/>
            <a:rect l="0" t="0" r="r" b="b"/>
            <a:pathLst>
              <a:path w="88900" h="177800">
                <a:moveTo>
                  <a:pt x="88900" y="0"/>
                </a:moveTo>
                <a:cubicBezTo>
                  <a:pt x="40005" y="0"/>
                  <a:pt x="0" y="40005"/>
                  <a:pt x="0" y="88900"/>
                </a:cubicBezTo>
                <a:cubicBezTo>
                  <a:pt x="0" y="137795"/>
                  <a:pt x="40005" y="177800"/>
                  <a:pt x="88900" y="17780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m-6-4"/>
          <p:cNvSpPr/>
          <p:nvPr/>
        </p:nvSpPr>
        <p:spPr>
          <a:xfrm>
            <a:off x="7747000" y="4044950"/>
            <a:ext cx="190500" cy="19050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m-6-4-ck"/>
          <p:cNvSpPr/>
          <p:nvPr/>
        </p:nvSpPr>
        <p:spPr>
          <a:xfrm>
            <a:off x="7804150" y="4108450"/>
            <a:ext cx="82550" cy="63500"/>
          </a:xfrm>
          <a:custGeom>
            <a:avLst/>
            <a:gdLst/>
            <a:ahLst/>
            <a:cxnLst/>
            <a:rect l="0" t="0" r="r" b="b"/>
            <a:pathLst>
              <a:path w="82550" h="63500">
                <a:moveTo>
                  <a:pt x="0" y="31750"/>
                </a:moveTo>
                <a:lnTo>
                  <a:pt x="28575" y="63500"/>
                </a:lnTo>
                <a:lnTo>
                  <a:pt x="82550" y="0"/>
                </a:lnTo>
              </a:path>
            </a:pathLst>
          </a:custGeom>
          <a:noFill/>
          <a:ln w="1651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fn-7"/>
          <p:cNvSpPr txBox="1"/>
          <p:nvPr/>
        </p:nvSpPr>
        <p:spPr>
          <a:xfrm>
            <a:off x="1826260" y="4377055"/>
            <a:ext cx="76835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7×24 支持</a:t>
            </a:r>
          </a:p>
        </p:txBody>
      </p:sp>
      <p:sp>
        <p:nvSpPr>
          <p:cNvPr id="95" name="fd-7"/>
          <p:cNvSpPr txBox="1"/>
          <p:nvPr/>
        </p:nvSpPr>
        <p:spPr>
          <a:xfrm>
            <a:off x="1830832" y="4576508"/>
            <a:ext cx="7200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全天候专属客服</a:t>
            </a:r>
          </a:p>
        </p:txBody>
      </p:sp>
      <p:cxnSp>
        <p:nvCxnSpPr>
          <p:cNvPr id="96" name="rl-7"/>
          <p:cNvCxnSpPr/>
          <p:nvPr/>
        </p:nvCxnSpPr>
        <p:spPr>
          <a:xfrm>
            <a:off x="1841500" y="4749800"/>
            <a:ext cx="6540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7" name="m-7-1"/>
          <p:cNvSpPr/>
          <p:nvPr/>
        </p:nvSpPr>
        <p:spPr>
          <a:xfrm>
            <a:off x="4508500" y="4451350"/>
            <a:ext cx="190500" cy="19050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m-7-1-ck"/>
          <p:cNvSpPr/>
          <p:nvPr/>
        </p:nvSpPr>
        <p:spPr>
          <a:xfrm>
            <a:off x="4565650" y="4514850"/>
            <a:ext cx="82550" cy="63500"/>
          </a:xfrm>
          <a:custGeom>
            <a:avLst/>
            <a:gdLst/>
            <a:ahLst/>
            <a:cxnLst/>
            <a:rect l="0" t="0" r="r" b="b"/>
            <a:pathLst>
              <a:path w="82550" h="63500">
                <a:moveTo>
                  <a:pt x="0" y="31750"/>
                </a:moveTo>
                <a:lnTo>
                  <a:pt x="28575" y="63500"/>
                </a:lnTo>
                <a:lnTo>
                  <a:pt x="82550" y="0"/>
                </a:lnTo>
              </a:path>
            </a:pathLst>
          </a:custGeom>
          <a:noFill/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9" name="m-7-2"/>
          <p:cNvSpPr/>
          <p:nvPr/>
        </p:nvSpPr>
        <p:spPr>
          <a:xfrm>
            <a:off x="5594350" y="4457700"/>
            <a:ext cx="177800" cy="177800"/>
          </a:xfrm>
          <a:prstGeom prst="ellipse">
            <a:avLst/>
          </a:prstGeom>
          <a:noFill/>
          <a:ln w="1524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m-7-2-half"/>
          <p:cNvSpPr/>
          <p:nvPr/>
        </p:nvSpPr>
        <p:spPr>
          <a:xfrm>
            <a:off x="5594350" y="4457700"/>
            <a:ext cx="88900" cy="177800"/>
          </a:xfrm>
          <a:custGeom>
            <a:avLst/>
            <a:gdLst/>
            <a:ahLst/>
            <a:cxnLst/>
            <a:rect l="0" t="0" r="r" b="b"/>
            <a:pathLst>
              <a:path w="88900" h="177800">
                <a:moveTo>
                  <a:pt x="88900" y="0"/>
                </a:moveTo>
                <a:cubicBezTo>
                  <a:pt x="40005" y="0"/>
                  <a:pt x="0" y="40005"/>
                  <a:pt x="0" y="88900"/>
                </a:cubicBezTo>
                <a:cubicBezTo>
                  <a:pt x="0" y="137795"/>
                  <a:pt x="40005" y="177800"/>
                  <a:pt x="88900" y="17780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m-7-3"/>
          <p:cNvSpPr/>
          <p:nvPr/>
        </p:nvSpPr>
        <p:spPr>
          <a:xfrm>
            <a:off x="6673850" y="4457700"/>
            <a:ext cx="177800" cy="177800"/>
          </a:xfrm>
          <a:prstGeom prst="ellipse">
            <a:avLst/>
          </a:prstGeom>
          <a:noFill/>
          <a:ln w="1524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2" name="m-7-3-half"/>
          <p:cNvSpPr/>
          <p:nvPr/>
        </p:nvSpPr>
        <p:spPr>
          <a:xfrm>
            <a:off x="6673850" y="4457700"/>
            <a:ext cx="88900" cy="177800"/>
          </a:xfrm>
          <a:custGeom>
            <a:avLst/>
            <a:gdLst/>
            <a:ahLst/>
            <a:cxnLst/>
            <a:rect l="0" t="0" r="r" b="b"/>
            <a:pathLst>
              <a:path w="88900" h="177800">
                <a:moveTo>
                  <a:pt x="88900" y="0"/>
                </a:moveTo>
                <a:cubicBezTo>
                  <a:pt x="40005" y="0"/>
                  <a:pt x="0" y="40005"/>
                  <a:pt x="0" y="88900"/>
                </a:cubicBezTo>
                <a:cubicBezTo>
                  <a:pt x="0" y="137795"/>
                  <a:pt x="40005" y="177800"/>
                  <a:pt x="88900" y="17780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m-7-4"/>
          <p:cNvSpPr/>
          <p:nvPr/>
        </p:nvSpPr>
        <p:spPr>
          <a:xfrm>
            <a:off x="7753350" y="4457700"/>
            <a:ext cx="177800" cy="177800"/>
          </a:xfrm>
          <a:prstGeom prst="ellipse">
            <a:avLst/>
          </a:prstGeom>
          <a:noFill/>
          <a:ln w="12700" cap="rnd">
            <a:solidFill>
              <a:srgbClr val="0B2545">
                <a:alpha val="1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04" name="m-7-4-dash"/>
          <p:cNvCxnSpPr/>
          <p:nvPr/>
        </p:nvCxnSpPr>
        <p:spPr>
          <a:xfrm>
            <a:off x="7804150" y="4546600"/>
            <a:ext cx="76200" cy="0"/>
          </a:xfrm>
          <a:prstGeom prst="line">
            <a:avLst/>
          </a:prstGeom>
          <a:ln w="12700" cap="rnd">
            <a:solidFill>
              <a:srgbClr val="0B2545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" name="fn-8"/>
          <p:cNvSpPr txBox="1"/>
          <p:nvPr/>
        </p:nvSpPr>
        <p:spPr>
          <a:xfrm>
            <a:off x="1826260" y="4783455"/>
            <a:ext cx="6477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定制开发</a:t>
            </a:r>
          </a:p>
        </p:txBody>
      </p:sp>
      <p:sp>
        <p:nvSpPr>
          <p:cNvPr id="106" name="fd-8"/>
          <p:cNvSpPr txBox="1"/>
          <p:nvPr/>
        </p:nvSpPr>
        <p:spPr>
          <a:xfrm>
            <a:off x="1830832" y="4982908"/>
            <a:ext cx="8115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按需开发专属功能</a:t>
            </a:r>
          </a:p>
        </p:txBody>
      </p:sp>
      <p:sp>
        <p:nvSpPr>
          <p:cNvPr id="107" name="m-8-1"/>
          <p:cNvSpPr/>
          <p:nvPr/>
        </p:nvSpPr>
        <p:spPr>
          <a:xfrm>
            <a:off x="4508500" y="4857750"/>
            <a:ext cx="190500" cy="19050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8" name="m-8-1-ck"/>
          <p:cNvSpPr/>
          <p:nvPr/>
        </p:nvSpPr>
        <p:spPr>
          <a:xfrm>
            <a:off x="4565650" y="4921250"/>
            <a:ext cx="82550" cy="63500"/>
          </a:xfrm>
          <a:custGeom>
            <a:avLst/>
            <a:gdLst/>
            <a:ahLst/>
            <a:cxnLst/>
            <a:rect l="0" t="0" r="r" b="b"/>
            <a:pathLst>
              <a:path w="82550" h="63500">
                <a:moveTo>
                  <a:pt x="0" y="31750"/>
                </a:moveTo>
                <a:lnTo>
                  <a:pt x="28575" y="63500"/>
                </a:lnTo>
                <a:lnTo>
                  <a:pt x="82550" y="0"/>
                </a:lnTo>
              </a:path>
            </a:pathLst>
          </a:custGeom>
          <a:noFill/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m-8-2"/>
          <p:cNvSpPr/>
          <p:nvPr/>
        </p:nvSpPr>
        <p:spPr>
          <a:xfrm>
            <a:off x="5594350" y="4864100"/>
            <a:ext cx="177800" cy="177800"/>
          </a:xfrm>
          <a:prstGeom prst="ellipse">
            <a:avLst/>
          </a:prstGeom>
          <a:noFill/>
          <a:ln w="12700" cap="rnd">
            <a:solidFill>
              <a:srgbClr val="0B2545">
                <a:alpha val="1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10" name="m-8-2-dash"/>
          <p:cNvCxnSpPr/>
          <p:nvPr/>
        </p:nvCxnSpPr>
        <p:spPr>
          <a:xfrm>
            <a:off x="5645150" y="4953000"/>
            <a:ext cx="76200" cy="0"/>
          </a:xfrm>
          <a:prstGeom prst="line">
            <a:avLst/>
          </a:prstGeom>
          <a:ln w="12700" cap="rnd">
            <a:solidFill>
              <a:srgbClr val="0B2545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1" name="m-8-3"/>
          <p:cNvSpPr/>
          <p:nvPr/>
        </p:nvSpPr>
        <p:spPr>
          <a:xfrm>
            <a:off x="6673850" y="4864100"/>
            <a:ext cx="177800" cy="177800"/>
          </a:xfrm>
          <a:prstGeom prst="ellipse">
            <a:avLst/>
          </a:prstGeom>
          <a:noFill/>
          <a:ln w="12700" cap="rnd">
            <a:solidFill>
              <a:srgbClr val="0B2545">
                <a:alpha val="1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12" name="m-8-3-dash"/>
          <p:cNvCxnSpPr/>
          <p:nvPr/>
        </p:nvCxnSpPr>
        <p:spPr>
          <a:xfrm>
            <a:off x="6724650" y="4953000"/>
            <a:ext cx="76200" cy="0"/>
          </a:xfrm>
          <a:prstGeom prst="line">
            <a:avLst/>
          </a:prstGeom>
          <a:ln w="12700" cap="rnd">
            <a:solidFill>
              <a:srgbClr val="0B2545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3" name="m-8-4"/>
          <p:cNvSpPr/>
          <p:nvPr/>
        </p:nvSpPr>
        <p:spPr>
          <a:xfrm>
            <a:off x="7753350" y="4864100"/>
            <a:ext cx="177800" cy="177800"/>
          </a:xfrm>
          <a:prstGeom prst="ellipse">
            <a:avLst/>
          </a:prstGeom>
          <a:noFill/>
          <a:ln w="1524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4" name="m-8-4-half"/>
          <p:cNvSpPr/>
          <p:nvPr/>
        </p:nvSpPr>
        <p:spPr>
          <a:xfrm>
            <a:off x="7753350" y="4864100"/>
            <a:ext cx="88900" cy="177800"/>
          </a:xfrm>
          <a:custGeom>
            <a:avLst/>
            <a:gdLst/>
            <a:ahLst/>
            <a:cxnLst/>
            <a:rect l="0" t="0" r="r" b="b"/>
            <a:pathLst>
              <a:path w="88900" h="177800">
                <a:moveTo>
                  <a:pt x="88900" y="0"/>
                </a:moveTo>
                <a:cubicBezTo>
                  <a:pt x="40005" y="0"/>
                  <a:pt x="0" y="40005"/>
                  <a:pt x="0" y="88900"/>
                </a:cubicBezTo>
                <a:cubicBezTo>
                  <a:pt x="0" y="137795"/>
                  <a:pt x="40005" y="177800"/>
                  <a:pt x="88900" y="17780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5" name="lg-1"/>
          <p:cNvSpPr/>
          <p:nvPr/>
        </p:nvSpPr>
        <p:spPr>
          <a:xfrm>
            <a:off x="1835150" y="5340350"/>
            <a:ext cx="190500" cy="19050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6" name="lg-1-ck"/>
          <p:cNvSpPr/>
          <p:nvPr/>
        </p:nvSpPr>
        <p:spPr>
          <a:xfrm>
            <a:off x="1892300" y="5403850"/>
            <a:ext cx="82550" cy="63500"/>
          </a:xfrm>
          <a:custGeom>
            <a:avLst/>
            <a:gdLst/>
            <a:ahLst/>
            <a:cxnLst/>
            <a:rect l="0" t="0" r="r" b="b"/>
            <a:pathLst>
              <a:path w="82550" h="63500">
                <a:moveTo>
                  <a:pt x="0" y="31750"/>
                </a:moveTo>
                <a:lnTo>
                  <a:pt x="28575" y="63500"/>
                </a:lnTo>
                <a:lnTo>
                  <a:pt x="82550" y="0"/>
                </a:lnTo>
              </a:path>
            </a:pathLst>
          </a:custGeom>
          <a:noFill/>
          <a:ln w="1651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7" name="lgt-1"/>
          <p:cNvSpPr txBox="1"/>
          <p:nvPr/>
        </p:nvSpPr>
        <p:spPr>
          <a:xfrm>
            <a:off x="2084070" y="5356066"/>
            <a:ext cx="4870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4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完整支持</a:t>
            </a:r>
          </a:p>
        </p:txBody>
      </p:sp>
      <p:sp>
        <p:nvSpPr>
          <p:cNvPr id="118" name="lg-2"/>
          <p:cNvSpPr/>
          <p:nvPr/>
        </p:nvSpPr>
        <p:spPr>
          <a:xfrm>
            <a:off x="2794000" y="5346700"/>
            <a:ext cx="177800" cy="177800"/>
          </a:xfrm>
          <a:prstGeom prst="ellipse">
            <a:avLst/>
          </a:prstGeom>
          <a:noFill/>
          <a:ln w="1524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9" name="lg-2-half"/>
          <p:cNvSpPr/>
          <p:nvPr/>
        </p:nvSpPr>
        <p:spPr>
          <a:xfrm>
            <a:off x="2794000" y="5346700"/>
            <a:ext cx="88900" cy="177800"/>
          </a:xfrm>
          <a:custGeom>
            <a:avLst/>
            <a:gdLst/>
            <a:ahLst/>
            <a:cxnLst/>
            <a:rect l="0" t="0" r="r" b="b"/>
            <a:pathLst>
              <a:path w="88900" h="177800">
                <a:moveTo>
                  <a:pt x="88900" y="0"/>
                </a:moveTo>
                <a:cubicBezTo>
                  <a:pt x="40005" y="0"/>
                  <a:pt x="0" y="40005"/>
                  <a:pt x="0" y="88900"/>
                </a:cubicBezTo>
                <a:cubicBezTo>
                  <a:pt x="0" y="137795"/>
                  <a:pt x="40005" y="177800"/>
                  <a:pt x="88900" y="17780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0" name="lgt-2"/>
          <p:cNvSpPr txBox="1"/>
          <p:nvPr/>
        </p:nvSpPr>
        <p:spPr>
          <a:xfrm>
            <a:off x="3036570" y="5356066"/>
            <a:ext cx="4870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4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部分支持</a:t>
            </a:r>
          </a:p>
        </p:txBody>
      </p:sp>
      <p:sp>
        <p:nvSpPr>
          <p:cNvPr id="121" name="lg-3"/>
          <p:cNvSpPr/>
          <p:nvPr/>
        </p:nvSpPr>
        <p:spPr>
          <a:xfrm>
            <a:off x="3746500" y="5346700"/>
            <a:ext cx="177800" cy="177800"/>
          </a:xfrm>
          <a:prstGeom prst="ellipse">
            <a:avLst/>
          </a:prstGeom>
          <a:noFill/>
          <a:ln w="12700" cap="rnd">
            <a:solidFill>
              <a:srgbClr val="0B2545">
                <a:alpha val="1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22" name="lg-3-dash"/>
          <p:cNvCxnSpPr/>
          <p:nvPr/>
        </p:nvCxnSpPr>
        <p:spPr>
          <a:xfrm>
            <a:off x="3797300" y="5435600"/>
            <a:ext cx="76200" cy="0"/>
          </a:xfrm>
          <a:prstGeom prst="line">
            <a:avLst/>
          </a:prstGeom>
          <a:ln w="12700" cap="rnd">
            <a:solidFill>
              <a:srgbClr val="0B2545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3" name="lgt-3"/>
          <p:cNvSpPr txBox="1"/>
          <p:nvPr/>
        </p:nvSpPr>
        <p:spPr>
          <a:xfrm>
            <a:off x="3989070" y="5356066"/>
            <a:ext cx="3867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4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不支持</a:t>
            </a:r>
          </a:p>
        </p:txBody>
      </p:sp>
      <p:sp>
        <p:nvSpPr>
          <p:cNvPr id="124" name="side-bar"/>
          <p:cNvSpPr/>
          <p:nvPr/>
        </p:nvSpPr>
        <p:spPr>
          <a:xfrm>
            <a:off x="8890000" y="14986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5" name="side-h"/>
          <p:cNvSpPr txBox="1"/>
          <p:nvPr/>
        </p:nvSpPr>
        <p:spPr>
          <a:xfrm>
            <a:off x="9048750" y="15057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综合得分</a:t>
            </a:r>
          </a:p>
        </p:txBody>
      </p:sp>
      <p:sp>
        <p:nvSpPr>
          <p:cNvPr id="126" name="side-p"/>
          <p:cNvSpPr txBox="1"/>
          <p:nvPr/>
        </p:nvSpPr>
        <p:spPr>
          <a:xfrm>
            <a:off x="9054465" y="1780461"/>
            <a:ext cx="190023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完整 2 分 · 部分 1 分，满分 16</a:t>
            </a:r>
          </a:p>
        </p:txBody>
      </p:sp>
      <p:sp>
        <p:nvSpPr>
          <p:cNvPr id="127" name="sn-1"/>
          <p:cNvSpPr txBox="1"/>
          <p:nvPr/>
        </p:nvSpPr>
        <p:spPr>
          <a:xfrm>
            <a:off x="8901684" y="2221040"/>
            <a:ext cx="585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我方方案</a:t>
            </a:r>
          </a:p>
        </p:txBody>
      </p:sp>
      <p:sp>
        <p:nvSpPr>
          <p:cNvPr id="128" name="sv-1"/>
          <p:cNvSpPr txBox="1"/>
          <p:nvPr/>
        </p:nvSpPr>
        <p:spPr>
          <a:xfrm>
            <a:off x="10901680" y="2155317"/>
            <a:ext cx="359156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4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15</a:t>
            </a:r>
          </a:p>
        </p:txBody>
      </p:sp>
      <p:sp>
        <p:nvSpPr>
          <p:cNvPr id="129" name="sbg-1"/>
          <p:cNvSpPr/>
          <p:nvPr/>
        </p:nvSpPr>
        <p:spPr>
          <a:xfrm>
            <a:off x="8915400" y="2463800"/>
            <a:ext cx="2324100" cy="101600"/>
          </a:xfrm>
          <a:custGeom>
            <a:avLst/>
            <a:gdLst/>
            <a:ahLst/>
            <a:cxnLst/>
            <a:rect l="0" t="0" r="r" b="b"/>
            <a:pathLst>
              <a:path w="2324100" h="101600">
                <a:moveTo>
                  <a:pt x="50800" y="0"/>
                </a:moveTo>
                <a:lnTo>
                  <a:pt x="2273300" y="0"/>
                </a:lnTo>
                <a:cubicBezTo>
                  <a:pt x="2301367" y="0"/>
                  <a:pt x="2324100" y="22733"/>
                  <a:pt x="2324100" y="50800"/>
                </a:cubicBezTo>
                <a:lnTo>
                  <a:pt x="2324100" y="50800"/>
                </a:lnTo>
                <a:cubicBezTo>
                  <a:pt x="2324100" y="78867"/>
                  <a:pt x="2301367" y="101600"/>
                  <a:pt x="22733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0" name="sbar-1"/>
          <p:cNvSpPr/>
          <p:nvPr/>
        </p:nvSpPr>
        <p:spPr>
          <a:xfrm>
            <a:off x="8915400" y="2463800"/>
            <a:ext cx="2178812" cy="101600"/>
          </a:xfrm>
          <a:custGeom>
            <a:avLst/>
            <a:gdLst/>
            <a:ahLst/>
            <a:cxnLst/>
            <a:rect l="0" t="0" r="r" b="b"/>
            <a:pathLst>
              <a:path w="2178812" h="101600">
                <a:moveTo>
                  <a:pt x="50800" y="0"/>
                </a:moveTo>
                <a:lnTo>
                  <a:pt x="2128012" y="0"/>
                </a:lnTo>
                <a:cubicBezTo>
                  <a:pt x="2156079" y="0"/>
                  <a:pt x="2178812" y="22733"/>
                  <a:pt x="2178812" y="50800"/>
                </a:cubicBezTo>
                <a:lnTo>
                  <a:pt x="2178812" y="50800"/>
                </a:lnTo>
                <a:cubicBezTo>
                  <a:pt x="2178812" y="78867"/>
                  <a:pt x="2156079" y="101600"/>
                  <a:pt x="2128012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3C65A5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1" name="sn-2"/>
          <p:cNvSpPr txBox="1"/>
          <p:nvPr/>
        </p:nvSpPr>
        <p:spPr>
          <a:xfrm>
            <a:off x="8901684" y="2779840"/>
            <a:ext cx="484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竞品 A</a:t>
            </a:r>
          </a:p>
        </p:txBody>
      </p:sp>
      <p:sp>
        <p:nvSpPr>
          <p:cNvPr id="132" name="sv-2"/>
          <p:cNvSpPr txBox="1"/>
          <p:nvPr/>
        </p:nvSpPr>
        <p:spPr>
          <a:xfrm>
            <a:off x="11052302" y="2761170"/>
            <a:ext cx="203962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9</a:t>
            </a:r>
          </a:p>
        </p:txBody>
      </p:sp>
      <p:sp>
        <p:nvSpPr>
          <p:cNvPr id="133" name="sbg-2"/>
          <p:cNvSpPr/>
          <p:nvPr/>
        </p:nvSpPr>
        <p:spPr>
          <a:xfrm>
            <a:off x="8915400" y="3022600"/>
            <a:ext cx="2324100" cy="101600"/>
          </a:xfrm>
          <a:custGeom>
            <a:avLst/>
            <a:gdLst/>
            <a:ahLst/>
            <a:cxnLst/>
            <a:rect l="0" t="0" r="r" b="b"/>
            <a:pathLst>
              <a:path w="2324100" h="101600">
                <a:moveTo>
                  <a:pt x="50800" y="0"/>
                </a:moveTo>
                <a:lnTo>
                  <a:pt x="2273300" y="0"/>
                </a:lnTo>
                <a:cubicBezTo>
                  <a:pt x="2301367" y="0"/>
                  <a:pt x="2324100" y="22733"/>
                  <a:pt x="2324100" y="50800"/>
                </a:cubicBezTo>
                <a:lnTo>
                  <a:pt x="2324100" y="50800"/>
                </a:lnTo>
                <a:cubicBezTo>
                  <a:pt x="2324100" y="78867"/>
                  <a:pt x="2301367" y="101600"/>
                  <a:pt x="22733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4" name="sbar-2"/>
          <p:cNvSpPr/>
          <p:nvPr/>
        </p:nvSpPr>
        <p:spPr>
          <a:xfrm>
            <a:off x="8915400" y="3022600"/>
            <a:ext cx="1307338" cy="101600"/>
          </a:xfrm>
          <a:custGeom>
            <a:avLst/>
            <a:gdLst/>
            <a:ahLst/>
            <a:cxnLst/>
            <a:rect l="0" t="0" r="r" b="b"/>
            <a:pathLst>
              <a:path w="1307338" h="101600">
                <a:moveTo>
                  <a:pt x="50800" y="0"/>
                </a:moveTo>
                <a:lnTo>
                  <a:pt x="1256538" y="0"/>
                </a:lnTo>
                <a:cubicBezTo>
                  <a:pt x="1284541" y="0"/>
                  <a:pt x="1307338" y="22733"/>
                  <a:pt x="1307338" y="50800"/>
                </a:cubicBezTo>
                <a:lnTo>
                  <a:pt x="1307338" y="50800"/>
                </a:lnTo>
                <a:cubicBezTo>
                  <a:pt x="1307338" y="78867"/>
                  <a:pt x="1284541" y="101600"/>
                  <a:pt x="1256538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619DD7"/>
              </a:gs>
              <a:gs pos="100000">
                <a:srgbClr val="3985CD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5" name="sn-3"/>
          <p:cNvSpPr txBox="1"/>
          <p:nvPr/>
        </p:nvSpPr>
        <p:spPr>
          <a:xfrm>
            <a:off x="8901684" y="3338640"/>
            <a:ext cx="484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竞品 B</a:t>
            </a:r>
          </a:p>
        </p:txBody>
      </p:sp>
      <p:sp>
        <p:nvSpPr>
          <p:cNvPr id="136" name="sv-3"/>
          <p:cNvSpPr txBox="1"/>
          <p:nvPr/>
        </p:nvSpPr>
        <p:spPr>
          <a:xfrm>
            <a:off x="11052302" y="3319971"/>
            <a:ext cx="203962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7</a:t>
            </a:r>
          </a:p>
        </p:txBody>
      </p:sp>
      <p:sp>
        <p:nvSpPr>
          <p:cNvPr id="137" name="sbg-3"/>
          <p:cNvSpPr/>
          <p:nvPr/>
        </p:nvSpPr>
        <p:spPr>
          <a:xfrm>
            <a:off x="8915400" y="3581400"/>
            <a:ext cx="2324100" cy="101600"/>
          </a:xfrm>
          <a:custGeom>
            <a:avLst/>
            <a:gdLst/>
            <a:ahLst/>
            <a:cxnLst/>
            <a:rect l="0" t="0" r="r" b="b"/>
            <a:pathLst>
              <a:path w="2324100" h="101600">
                <a:moveTo>
                  <a:pt x="50800" y="0"/>
                </a:moveTo>
                <a:lnTo>
                  <a:pt x="2273300" y="0"/>
                </a:lnTo>
                <a:cubicBezTo>
                  <a:pt x="2301367" y="0"/>
                  <a:pt x="2324100" y="22733"/>
                  <a:pt x="2324100" y="50800"/>
                </a:cubicBezTo>
                <a:lnTo>
                  <a:pt x="2324100" y="50800"/>
                </a:lnTo>
                <a:cubicBezTo>
                  <a:pt x="2324100" y="78867"/>
                  <a:pt x="2301367" y="101600"/>
                  <a:pt x="22733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8" name="sbar-3"/>
          <p:cNvSpPr/>
          <p:nvPr/>
        </p:nvSpPr>
        <p:spPr>
          <a:xfrm>
            <a:off x="8915400" y="3581400"/>
            <a:ext cx="1016762" cy="101600"/>
          </a:xfrm>
          <a:custGeom>
            <a:avLst/>
            <a:gdLst/>
            <a:ahLst/>
            <a:cxnLst/>
            <a:rect l="0" t="0" r="r" b="b"/>
            <a:pathLst>
              <a:path w="1016762" h="101600">
                <a:moveTo>
                  <a:pt x="50800" y="0"/>
                </a:moveTo>
                <a:lnTo>
                  <a:pt x="965962" y="0"/>
                </a:lnTo>
                <a:cubicBezTo>
                  <a:pt x="994029" y="0"/>
                  <a:pt x="1016762" y="22733"/>
                  <a:pt x="1016762" y="50800"/>
                </a:cubicBezTo>
                <a:lnTo>
                  <a:pt x="1016762" y="50800"/>
                </a:lnTo>
                <a:cubicBezTo>
                  <a:pt x="1016762" y="78867"/>
                  <a:pt x="994029" y="101600"/>
                  <a:pt x="965962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6BA9DF"/>
              </a:gs>
              <a:gs pos="100000">
                <a:srgbClr val="4694D7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9" name="sn-4"/>
          <p:cNvSpPr txBox="1"/>
          <p:nvPr/>
        </p:nvSpPr>
        <p:spPr>
          <a:xfrm>
            <a:off x="8901684" y="3897440"/>
            <a:ext cx="484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竞品 C</a:t>
            </a:r>
          </a:p>
        </p:txBody>
      </p:sp>
      <p:sp>
        <p:nvSpPr>
          <p:cNvPr id="140" name="sv-4"/>
          <p:cNvSpPr txBox="1"/>
          <p:nvPr/>
        </p:nvSpPr>
        <p:spPr>
          <a:xfrm>
            <a:off x="11052302" y="3878771"/>
            <a:ext cx="203962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  <p:sp>
        <p:nvSpPr>
          <p:cNvPr id="141" name="sbg-4"/>
          <p:cNvSpPr/>
          <p:nvPr/>
        </p:nvSpPr>
        <p:spPr>
          <a:xfrm>
            <a:off x="8915400" y="4140200"/>
            <a:ext cx="2324100" cy="101600"/>
          </a:xfrm>
          <a:custGeom>
            <a:avLst/>
            <a:gdLst/>
            <a:ahLst/>
            <a:cxnLst/>
            <a:rect l="0" t="0" r="r" b="b"/>
            <a:pathLst>
              <a:path w="2324100" h="101600">
                <a:moveTo>
                  <a:pt x="50800" y="0"/>
                </a:moveTo>
                <a:lnTo>
                  <a:pt x="2273300" y="0"/>
                </a:lnTo>
                <a:cubicBezTo>
                  <a:pt x="2301367" y="0"/>
                  <a:pt x="2324100" y="22733"/>
                  <a:pt x="2324100" y="50800"/>
                </a:cubicBezTo>
                <a:lnTo>
                  <a:pt x="2324100" y="50800"/>
                </a:lnTo>
                <a:cubicBezTo>
                  <a:pt x="2324100" y="78867"/>
                  <a:pt x="2301367" y="101600"/>
                  <a:pt x="22733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2" name="sbar-4"/>
          <p:cNvSpPr/>
          <p:nvPr/>
        </p:nvSpPr>
        <p:spPr>
          <a:xfrm>
            <a:off x="8915400" y="4140200"/>
            <a:ext cx="726313" cy="101600"/>
          </a:xfrm>
          <a:custGeom>
            <a:avLst/>
            <a:gdLst/>
            <a:ahLst/>
            <a:cxnLst/>
            <a:rect l="0" t="0" r="r" b="b"/>
            <a:pathLst>
              <a:path w="726313" h="101600">
                <a:moveTo>
                  <a:pt x="50800" y="0"/>
                </a:moveTo>
                <a:lnTo>
                  <a:pt x="675513" y="0"/>
                </a:lnTo>
                <a:cubicBezTo>
                  <a:pt x="703516" y="0"/>
                  <a:pt x="726313" y="22733"/>
                  <a:pt x="726313" y="50800"/>
                </a:cubicBezTo>
                <a:lnTo>
                  <a:pt x="726313" y="50800"/>
                </a:lnTo>
                <a:cubicBezTo>
                  <a:pt x="726313" y="78867"/>
                  <a:pt x="703516" y="101600"/>
                  <a:pt x="675513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76B5E5"/>
              </a:gs>
              <a:gs pos="100000">
                <a:srgbClr val="54A2D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3" name="gap-card"/>
          <p:cNvSpPr/>
          <p:nvPr/>
        </p:nvSpPr>
        <p:spPr>
          <a:xfrm>
            <a:off x="8890000" y="4546600"/>
            <a:ext cx="2349500" cy="927100"/>
          </a:xfrm>
          <a:custGeom>
            <a:avLst/>
            <a:gdLst/>
            <a:ahLst/>
            <a:cxnLst/>
            <a:rect l="0" t="0" r="r" b="b"/>
            <a:pathLst>
              <a:path w="2349500" h="927100">
                <a:moveTo>
                  <a:pt x="114300" y="0"/>
                </a:moveTo>
                <a:lnTo>
                  <a:pt x="2235200" y="0"/>
                </a:lnTo>
                <a:cubicBezTo>
                  <a:pt x="2298319" y="0"/>
                  <a:pt x="2349500" y="51181"/>
                  <a:pt x="2349500" y="114300"/>
                </a:cubicBezTo>
                <a:lnTo>
                  <a:pt x="2349500" y="812800"/>
                </a:lnTo>
                <a:cubicBezTo>
                  <a:pt x="2349500" y="875919"/>
                  <a:pt x="2298319" y="927100"/>
                  <a:pt x="2235200" y="927100"/>
                </a:cubicBezTo>
                <a:lnTo>
                  <a:pt x="114300" y="927100"/>
                </a:lnTo>
                <a:cubicBezTo>
                  <a:pt x="51181" y="927100"/>
                  <a:pt x="0" y="875919"/>
                  <a:pt x="0" y="8128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4" name="gap-bar"/>
          <p:cNvSpPr/>
          <p:nvPr/>
        </p:nvSpPr>
        <p:spPr>
          <a:xfrm>
            <a:off x="8890000" y="4546600"/>
            <a:ext cx="38100" cy="927100"/>
          </a:xfrm>
          <a:custGeom>
            <a:avLst/>
            <a:gdLst/>
            <a:ahLst/>
            <a:cxnLst/>
            <a:rect l="0" t="0" r="r" b="b"/>
            <a:pathLst>
              <a:path w="38100" h="9271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908050"/>
                </a:lnTo>
                <a:cubicBezTo>
                  <a:pt x="38100" y="918591"/>
                  <a:pt x="29591" y="927100"/>
                  <a:pt x="19050" y="927100"/>
                </a:cubicBezTo>
                <a:lnTo>
                  <a:pt x="19050" y="927100"/>
                </a:lnTo>
                <a:cubicBezTo>
                  <a:pt x="8509" y="927100"/>
                  <a:pt x="0" y="918591"/>
                  <a:pt x="0" y="908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5" name="gap-h"/>
          <p:cNvSpPr txBox="1"/>
          <p:nvPr/>
        </p:nvSpPr>
        <p:spPr>
          <a:xfrm>
            <a:off x="9066784" y="4672140"/>
            <a:ext cx="5981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7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唯一短板</a:t>
            </a:r>
          </a:p>
        </p:txBody>
      </p:sp>
      <p:sp>
        <p:nvSpPr>
          <p:cNvPr id="146" name="gap-p1"/>
          <p:cNvSpPr txBox="1"/>
          <p:nvPr/>
        </p:nvSpPr>
        <p:spPr>
          <a:xfrm>
            <a:off x="9067165" y="49173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智能推荐仅部分支持</a:t>
            </a:r>
          </a:p>
        </p:txBody>
      </p:sp>
      <p:sp>
        <p:nvSpPr>
          <p:cNvPr id="147" name="gap-p2"/>
          <p:cNvSpPr txBox="1"/>
          <p:nvPr/>
        </p:nvSpPr>
        <p:spPr>
          <a:xfrm>
            <a:off x="9067165" y="5120561"/>
            <a:ext cx="108997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Q3 版本上线后补齐</a:t>
            </a:r>
          </a:p>
        </p:txBody>
      </p:sp>
      <p:sp>
        <p:nvSpPr>
          <p:cNvPr id="148" name="sum"/>
          <p:cNvSpPr/>
          <p:nvPr/>
        </p:nvSpPr>
        <p:spPr>
          <a:xfrm>
            <a:off x="952500" y="5867400"/>
            <a:ext cx="10287000" cy="457200"/>
          </a:xfrm>
          <a:custGeom>
            <a:avLst/>
            <a:gdLst/>
            <a:ahLst/>
            <a:cxnLst/>
            <a:rect l="0" t="0" r="r" b="b"/>
            <a:pathLst>
              <a:path w="10287000" h="4572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68300"/>
                </a:lnTo>
                <a:cubicBezTo>
                  <a:pt x="10287000" y="417386"/>
                  <a:pt x="10247186" y="457200"/>
                  <a:pt x="10198100" y="457200"/>
                </a:cubicBezTo>
                <a:lnTo>
                  <a:pt x="88900" y="457200"/>
                </a:lnTo>
                <a:cubicBezTo>
                  <a:pt x="39815" y="457200"/>
                  <a:pt x="0" y="417386"/>
                  <a:pt x="0" y="3683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9" name="sum-bar"/>
          <p:cNvSpPr/>
          <p:nvPr/>
        </p:nvSpPr>
        <p:spPr>
          <a:xfrm>
            <a:off x="952500" y="5867400"/>
            <a:ext cx="31750" cy="4572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0" name="sum-h"/>
          <p:cNvSpPr txBox="1"/>
          <p:nvPr/>
        </p:nvSpPr>
        <p:spPr>
          <a:xfrm>
            <a:off x="1142746" y="60261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销售话术</a:t>
            </a:r>
          </a:p>
        </p:txBody>
      </p:sp>
      <p:sp>
        <p:nvSpPr>
          <p:cNvPr id="151" name="sum-p"/>
          <p:cNvSpPr txBox="1"/>
          <p:nvPr/>
        </p:nvSpPr>
        <p:spPr>
          <a:xfrm>
            <a:off x="1891665" y="6022261"/>
            <a:ext cx="462946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对标竞品 A 时主打私有化部署与定制开发——这两项它都不支持，而正是大客户最看重的。</a:t>
            </a:r>
          </a:p>
        </p:txBody>
      </p:sp>
      <p:cxnSp>
        <p:nvCxnSpPr>
          <p:cNvPr id="152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3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功能对比 · 四家八项</a:t>
            </a:r>
          </a:p>
        </p:txBody>
      </p:sp>
      <p:sp>
        <p:nvSpPr>
          <p:cNvPr id="154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32994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自建团队还是外包合作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62801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TRADE-OFF SLIDERS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894699" y="673132"/>
            <a:ext cx="27260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六个维度逐一拉开刻度，看两种方案各自站在哪一端</a:t>
            </a:r>
          </a:p>
        </p:txBody>
      </p:sp>
      <p:sp>
        <p:nvSpPr>
          <p:cNvPr id="10" name="opt-1"/>
          <p:cNvSpPr/>
          <p:nvPr/>
        </p:nvSpPr>
        <p:spPr>
          <a:xfrm>
            <a:off x="3314700" y="1308100"/>
            <a:ext cx="254000" cy="254000"/>
          </a:xfrm>
          <a:prstGeom prst="ellipse">
            <a:avLst/>
          </a:prstGeom>
          <a:solidFill>
            <a:srgbClr val="0B3E8F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optc-1"/>
          <p:cNvSpPr txBox="1"/>
          <p:nvPr/>
        </p:nvSpPr>
        <p:spPr>
          <a:xfrm>
            <a:off x="3358261" y="133839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12" name="optn-1"/>
          <p:cNvSpPr txBox="1"/>
          <p:nvPr/>
        </p:nvSpPr>
        <p:spPr>
          <a:xfrm>
            <a:off x="3629660" y="1329055"/>
            <a:ext cx="130175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方案 A · 自建团队</a:t>
            </a:r>
          </a:p>
        </p:txBody>
      </p:sp>
      <p:sp>
        <p:nvSpPr>
          <p:cNvPr id="13" name="opt-2"/>
          <p:cNvSpPr/>
          <p:nvPr/>
        </p:nvSpPr>
        <p:spPr>
          <a:xfrm>
            <a:off x="4902200" y="1308100"/>
            <a:ext cx="254000" cy="2540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optc-2"/>
          <p:cNvSpPr txBox="1"/>
          <p:nvPr/>
        </p:nvSpPr>
        <p:spPr>
          <a:xfrm>
            <a:off x="4945761" y="133839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B</a:t>
            </a:r>
          </a:p>
        </p:txBody>
      </p:sp>
      <p:sp>
        <p:nvSpPr>
          <p:cNvPr id="15" name="optn-2"/>
          <p:cNvSpPr txBox="1"/>
          <p:nvPr/>
        </p:nvSpPr>
        <p:spPr>
          <a:xfrm>
            <a:off x="5217160" y="1329055"/>
            <a:ext cx="130175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方案 B · 外包合作</a:t>
            </a:r>
          </a:p>
        </p:txBody>
      </p:sp>
      <p:sp>
        <p:nvSpPr>
          <p:cNvPr id="16" name="win-h"/>
          <p:cNvSpPr txBox="1"/>
          <p:nvPr/>
        </p:nvSpPr>
        <p:spPr>
          <a:xfrm>
            <a:off x="10069512" y="1368266"/>
            <a:ext cx="6254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该维度更优</a:t>
            </a:r>
          </a:p>
        </p:txBody>
      </p:sp>
      <p:sp>
        <p:nvSpPr>
          <p:cNvPr id="17" name="band-1"/>
          <p:cNvSpPr/>
          <p:nvPr/>
        </p:nvSpPr>
        <p:spPr>
          <a:xfrm>
            <a:off x="889000" y="1905000"/>
            <a:ext cx="10414000" cy="558800"/>
          </a:xfrm>
          <a:custGeom>
            <a:avLst/>
            <a:gdLst/>
            <a:ahLst/>
            <a:cxnLst/>
            <a:rect l="0" t="0" r="r" b="b"/>
            <a:pathLst>
              <a:path w="10414000" h="558800">
                <a:moveTo>
                  <a:pt x="101600" y="0"/>
                </a:moveTo>
                <a:lnTo>
                  <a:pt x="10312400" y="0"/>
                </a:lnTo>
                <a:cubicBezTo>
                  <a:pt x="10368534" y="0"/>
                  <a:pt x="10414000" y="45466"/>
                  <a:pt x="10414000" y="101600"/>
                </a:cubicBezTo>
                <a:lnTo>
                  <a:pt x="10414000" y="457200"/>
                </a:lnTo>
                <a:cubicBezTo>
                  <a:pt x="10414000" y="513334"/>
                  <a:pt x="10368534" y="558800"/>
                  <a:pt x="10312400" y="558800"/>
                </a:cubicBezTo>
                <a:lnTo>
                  <a:pt x="101600" y="558800"/>
                </a:lnTo>
                <a:cubicBezTo>
                  <a:pt x="45466" y="558800"/>
                  <a:pt x="0" y="513334"/>
                  <a:pt x="0" y="457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1F6FC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dn-1"/>
          <p:cNvSpPr txBox="1"/>
          <p:nvPr/>
        </p:nvSpPr>
        <p:spPr>
          <a:xfrm>
            <a:off x="999236" y="1973770"/>
            <a:ext cx="7226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投入成本</a:t>
            </a:r>
          </a:p>
        </p:txBody>
      </p:sp>
      <p:sp>
        <p:nvSpPr>
          <p:cNvPr id="19" name="dd-1"/>
          <p:cNvSpPr txBox="1"/>
          <p:nvPr/>
        </p:nvSpPr>
        <p:spPr>
          <a:xfrm>
            <a:off x="1004570" y="2206466"/>
            <a:ext cx="5746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三年总成本</a:t>
            </a:r>
          </a:p>
        </p:txBody>
      </p:sp>
      <p:sp>
        <p:nvSpPr>
          <p:cNvPr id="20" name="track-1"/>
          <p:cNvSpPr/>
          <p:nvPr/>
        </p:nvSpPr>
        <p:spPr>
          <a:xfrm>
            <a:off x="3302000" y="2114550"/>
            <a:ext cx="5842000" cy="88900"/>
          </a:xfrm>
          <a:custGeom>
            <a:avLst/>
            <a:gdLst/>
            <a:ahLst/>
            <a:cxnLst/>
            <a:rect l="0" t="0" r="r" b="b"/>
            <a:pathLst>
              <a:path w="5842000" h="88900">
                <a:moveTo>
                  <a:pt x="44450" y="0"/>
                </a:moveTo>
                <a:lnTo>
                  <a:pt x="5797550" y="0"/>
                </a:lnTo>
                <a:cubicBezTo>
                  <a:pt x="5822124" y="0"/>
                  <a:pt x="5842000" y="19875"/>
                  <a:pt x="5842000" y="44450"/>
                </a:cubicBezTo>
                <a:lnTo>
                  <a:pt x="5842000" y="44450"/>
                </a:lnTo>
                <a:cubicBezTo>
                  <a:pt x="5842000" y="69025"/>
                  <a:pt x="5822124" y="88900"/>
                  <a:pt x="5797550" y="88900"/>
                </a:cubicBezTo>
                <a:lnTo>
                  <a:pt x="44450" y="88900"/>
                </a:lnTo>
                <a:cubicBezTo>
                  <a:pt x="19875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gradFill rotWithShape="1">
            <a:gsLst>
              <a:gs pos="0">
                <a:srgbClr val="1B5AA8">
                  <a:alpha val="35000"/>
                </a:srgbClr>
              </a:gs>
              <a:gs pos="100000">
                <a:srgbClr val="0B2545">
                  <a:alpha val="6000"/>
                </a:srgbClr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21" name="tick-1-0"/>
          <p:cNvCxnSpPr/>
          <p:nvPr/>
        </p:nvCxnSpPr>
        <p:spPr>
          <a:xfrm>
            <a:off x="3302000" y="22352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tick-1-1"/>
          <p:cNvCxnSpPr/>
          <p:nvPr/>
        </p:nvCxnSpPr>
        <p:spPr>
          <a:xfrm>
            <a:off x="3886200" y="22352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tick-1-2"/>
          <p:cNvCxnSpPr/>
          <p:nvPr/>
        </p:nvCxnSpPr>
        <p:spPr>
          <a:xfrm>
            <a:off x="4470400" y="22352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tick-1-3"/>
          <p:cNvCxnSpPr/>
          <p:nvPr/>
        </p:nvCxnSpPr>
        <p:spPr>
          <a:xfrm>
            <a:off x="5054600" y="22352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tick-1-4"/>
          <p:cNvCxnSpPr/>
          <p:nvPr/>
        </p:nvCxnSpPr>
        <p:spPr>
          <a:xfrm>
            <a:off x="5638800" y="22352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tick-1-5"/>
          <p:cNvCxnSpPr/>
          <p:nvPr/>
        </p:nvCxnSpPr>
        <p:spPr>
          <a:xfrm>
            <a:off x="6223000" y="22352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tick-1-6"/>
          <p:cNvCxnSpPr/>
          <p:nvPr/>
        </p:nvCxnSpPr>
        <p:spPr>
          <a:xfrm>
            <a:off x="6807200" y="22352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tick-1-7"/>
          <p:cNvCxnSpPr/>
          <p:nvPr/>
        </p:nvCxnSpPr>
        <p:spPr>
          <a:xfrm>
            <a:off x="7391400" y="22352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tick-1-8"/>
          <p:cNvCxnSpPr/>
          <p:nvPr/>
        </p:nvCxnSpPr>
        <p:spPr>
          <a:xfrm>
            <a:off x="7975600" y="22352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tick-1-9"/>
          <p:cNvCxnSpPr/>
          <p:nvPr/>
        </p:nvCxnSpPr>
        <p:spPr>
          <a:xfrm>
            <a:off x="8559800" y="22352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tick-1-10"/>
          <p:cNvCxnSpPr/>
          <p:nvPr/>
        </p:nvCxnSpPr>
        <p:spPr>
          <a:xfrm>
            <a:off x="9144000" y="22352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lp-1"/>
          <p:cNvSpPr txBox="1"/>
          <p:nvPr/>
        </p:nvSpPr>
        <p:spPr>
          <a:xfrm>
            <a:off x="3008249" y="2070132"/>
            <a:ext cx="205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低</a:t>
            </a:r>
          </a:p>
        </p:txBody>
      </p:sp>
      <p:sp>
        <p:nvSpPr>
          <p:cNvPr id="33" name="rp-1"/>
          <p:cNvSpPr txBox="1"/>
          <p:nvPr/>
        </p:nvSpPr>
        <p:spPr>
          <a:xfrm>
            <a:off x="9232646" y="2070132"/>
            <a:ext cx="205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高</a:t>
            </a:r>
          </a:p>
        </p:txBody>
      </p:sp>
      <p:cxnSp>
        <p:nvCxnSpPr>
          <p:cNvPr id="34" name="gap-1"/>
          <p:cNvCxnSpPr/>
          <p:nvPr/>
        </p:nvCxnSpPr>
        <p:spPr>
          <a:xfrm>
            <a:off x="5638800" y="2159000"/>
            <a:ext cx="2336800" cy="0"/>
          </a:xfrm>
          <a:prstGeom prst="line">
            <a:avLst/>
          </a:prstGeom>
          <a:ln w="12700" cap="rnd">
            <a:solidFill>
              <a:srgbClr val="0B2545">
                <a:alpha val="3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mk-1-A"/>
          <p:cNvSpPr/>
          <p:nvPr/>
        </p:nvSpPr>
        <p:spPr>
          <a:xfrm>
            <a:off x="7848600" y="2032000"/>
            <a:ext cx="254000" cy="254000"/>
          </a:xfrm>
          <a:prstGeom prst="ellipse">
            <a:avLst/>
          </a:prstGeom>
          <a:solidFill>
            <a:srgbClr val="0B3E8F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mkt-1-A"/>
          <p:cNvSpPr txBox="1"/>
          <p:nvPr/>
        </p:nvSpPr>
        <p:spPr>
          <a:xfrm>
            <a:off x="7896796" y="2070132"/>
            <a:ext cx="15760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37" name="mk-1-B"/>
          <p:cNvSpPr/>
          <p:nvPr/>
        </p:nvSpPr>
        <p:spPr>
          <a:xfrm>
            <a:off x="5511800" y="2032000"/>
            <a:ext cx="254000" cy="2540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mkt-1-B"/>
          <p:cNvSpPr txBox="1"/>
          <p:nvPr/>
        </p:nvSpPr>
        <p:spPr>
          <a:xfrm>
            <a:off x="5559996" y="2070132"/>
            <a:ext cx="15760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B</a:t>
            </a:r>
          </a:p>
        </p:txBody>
      </p:sp>
      <p:sp>
        <p:nvSpPr>
          <p:cNvPr id="39" name="win-1"/>
          <p:cNvSpPr/>
          <p:nvPr/>
        </p:nvSpPr>
        <p:spPr>
          <a:xfrm>
            <a:off x="9969500" y="2032000"/>
            <a:ext cx="825500" cy="254000"/>
          </a:xfrm>
          <a:custGeom>
            <a:avLst/>
            <a:gdLst/>
            <a:ahLst/>
            <a:cxnLst/>
            <a:rect l="0" t="0" r="r" b="b"/>
            <a:pathLst>
              <a:path w="825500" h="254000">
                <a:moveTo>
                  <a:pt x="127000" y="0"/>
                </a:moveTo>
                <a:lnTo>
                  <a:pt x="698500" y="0"/>
                </a:lnTo>
                <a:cubicBezTo>
                  <a:pt x="768667" y="0"/>
                  <a:pt x="825500" y="56832"/>
                  <a:pt x="825500" y="127000"/>
                </a:cubicBezTo>
                <a:lnTo>
                  <a:pt x="825500" y="127000"/>
                </a:lnTo>
                <a:cubicBezTo>
                  <a:pt x="825500" y="197168"/>
                  <a:pt x="768667" y="254000"/>
                  <a:pt x="698500" y="254000"/>
                </a:cubicBezTo>
                <a:lnTo>
                  <a:pt x="127000" y="254000"/>
                </a:lnTo>
                <a:cubicBezTo>
                  <a:pt x="56833" y="254000"/>
                  <a:pt x="0" y="197168"/>
                  <a:pt x="0" y="127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wint-1"/>
          <p:cNvSpPr txBox="1"/>
          <p:nvPr/>
        </p:nvSpPr>
        <p:spPr>
          <a:xfrm>
            <a:off x="10139807" y="2062290"/>
            <a:ext cx="484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方案 B</a:t>
            </a:r>
          </a:p>
        </p:txBody>
      </p:sp>
      <p:sp>
        <p:nvSpPr>
          <p:cNvPr id="41" name="dn-2"/>
          <p:cNvSpPr txBox="1"/>
          <p:nvPr/>
        </p:nvSpPr>
        <p:spPr>
          <a:xfrm>
            <a:off x="999236" y="2583370"/>
            <a:ext cx="7226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上线速度</a:t>
            </a:r>
          </a:p>
        </p:txBody>
      </p:sp>
      <p:sp>
        <p:nvSpPr>
          <p:cNvPr id="42" name="dd-2"/>
          <p:cNvSpPr txBox="1"/>
          <p:nvPr/>
        </p:nvSpPr>
        <p:spPr>
          <a:xfrm>
            <a:off x="1004570" y="2816066"/>
            <a:ext cx="6724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首版上线时间</a:t>
            </a:r>
          </a:p>
        </p:txBody>
      </p:sp>
      <p:sp>
        <p:nvSpPr>
          <p:cNvPr id="43" name="track-2"/>
          <p:cNvSpPr/>
          <p:nvPr/>
        </p:nvSpPr>
        <p:spPr>
          <a:xfrm>
            <a:off x="3302000" y="2724150"/>
            <a:ext cx="5842000" cy="88900"/>
          </a:xfrm>
          <a:custGeom>
            <a:avLst/>
            <a:gdLst/>
            <a:ahLst/>
            <a:cxnLst/>
            <a:rect l="0" t="0" r="r" b="b"/>
            <a:pathLst>
              <a:path w="5842000" h="88900">
                <a:moveTo>
                  <a:pt x="44450" y="0"/>
                </a:moveTo>
                <a:lnTo>
                  <a:pt x="5797550" y="0"/>
                </a:lnTo>
                <a:cubicBezTo>
                  <a:pt x="5822124" y="0"/>
                  <a:pt x="5842000" y="19875"/>
                  <a:pt x="5842000" y="44450"/>
                </a:cubicBezTo>
                <a:lnTo>
                  <a:pt x="5842000" y="44450"/>
                </a:lnTo>
                <a:cubicBezTo>
                  <a:pt x="5842000" y="69025"/>
                  <a:pt x="5822124" y="88900"/>
                  <a:pt x="5797550" y="88900"/>
                </a:cubicBezTo>
                <a:lnTo>
                  <a:pt x="44450" y="88900"/>
                </a:lnTo>
                <a:cubicBezTo>
                  <a:pt x="19875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gradFill rotWithShape="1">
            <a:gsLst>
              <a:gs pos="0">
                <a:srgbClr val="0B2545">
                  <a:alpha val="6000"/>
                </a:srgbClr>
              </a:gs>
              <a:gs pos="100000">
                <a:srgbClr val="1B5AA8">
                  <a:alpha val="35000"/>
                </a:srgbClr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44" name="tick-2-0"/>
          <p:cNvCxnSpPr/>
          <p:nvPr/>
        </p:nvCxnSpPr>
        <p:spPr>
          <a:xfrm>
            <a:off x="3302000" y="28448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tick-2-1"/>
          <p:cNvCxnSpPr/>
          <p:nvPr/>
        </p:nvCxnSpPr>
        <p:spPr>
          <a:xfrm>
            <a:off x="3886200" y="28448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tick-2-2"/>
          <p:cNvCxnSpPr/>
          <p:nvPr/>
        </p:nvCxnSpPr>
        <p:spPr>
          <a:xfrm>
            <a:off x="4470400" y="28448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tick-2-3"/>
          <p:cNvCxnSpPr/>
          <p:nvPr/>
        </p:nvCxnSpPr>
        <p:spPr>
          <a:xfrm>
            <a:off x="5054600" y="28448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tick-2-4"/>
          <p:cNvCxnSpPr/>
          <p:nvPr/>
        </p:nvCxnSpPr>
        <p:spPr>
          <a:xfrm>
            <a:off x="5638800" y="28448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tick-2-5"/>
          <p:cNvCxnSpPr/>
          <p:nvPr/>
        </p:nvCxnSpPr>
        <p:spPr>
          <a:xfrm>
            <a:off x="6223000" y="28448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tick-2-6"/>
          <p:cNvCxnSpPr/>
          <p:nvPr/>
        </p:nvCxnSpPr>
        <p:spPr>
          <a:xfrm>
            <a:off x="6807200" y="28448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tick-2-7"/>
          <p:cNvCxnSpPr/>
          <p:nvPr/>
        </p:nvCxnSpPr>
        <p:spPr>
          <a:xfrm>
            <a:off x="7391400" y="28448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tick-2-8"/>
          <p:cNvCxnSpPr/>
          <p:nvPr/>
        </p:nvCxnSpPr>
        <p:spPr>
          <a:xfrm>
            <a:off x="7975600" y="28448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tick-2-9"/>
          <p:cNvCxnSpPr/>
          <p:nvPr/>
        </p:nvCxnSpPr>
        <p:spPr>
          <a:xfrm>
            <a:off x="8559800" y="28448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tick-2-10"/>
          <p:cNvCxnSpPr/>
          <p:nvPr/>
        </p:nvCxnSpPr>
        <p:spPr>
          <a:xfrm>
            <a:off x="9144000" y="28448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lp-2"/>
          <p:cNvSpPr txBox="1"/>
          <p:nvPr/>
        </p:nvSpPr>
        <p:spPr>
          <a:xfrm>
            <a:off x="3008249" y="2679732"/>
            <a:ext cx="205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慢</a:t>
            </a:r>
          </a:p>
        </p:txBody>
      </p:sp>
      <p:sp>
        <p:nvSpPr>
          <p:cNvPr id="56" name="rp-2"/>
          <p:cNvSpPr txBox="1"/>
          <p:nvPr/>
        </p:nvSpPr>
        <p:spPr>
          <a:xfrm>
            <a:off x="9232646" y="2679732"/>
            <a:ext cx="205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快</a:t>
            </a:r>
          </a:p>
        </p:txBody>
      </p:sp>
      <p:cxnSp>
        <p:nvCxnSpPr>
          <p:cNvPr id="57" name="gap-2"/>
          <p:cNvCxnSpPr/>
          <p:nvPr/>
        </p:nvCxnSpPr>
        <p:spPr>
          <a:xfrm>
            <a:off x="5054600" y="2768600"/>
            <a:ext cx="2921000" cy="0"/>
          </a:xfrm>
          <a:prstGeom prst="line">
            <a:avLst/>
          </a:prstGeom>
          <a:ln w="12700" cap="rnd">
            <a:solidFill>
              <a:srgbClr val="0B2545">
                <a:alpha val="3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mk-2-A"/>
          <p:cNvSpPr/>
          <p:nvPr/>
        </p:nvSpPr>
        <p:spPr>
          <a:xfrm>
            <a:off x="4927600" y="2641600"/>
            <a:ext cx="254000" cy="254000"/>
          </a:xfrm>
          <a:prstGeom prst="ellipse">
            <a:avLst/>
          </a:prstGeom>
          <a:solidFill>
            <a:srgbClr val="0B3E8F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mkt-2-A"/>
          <p:cNvSpPr txBox="1"/>
          <p:nvPr/>
        </p:nvSpPr>
        <p:spPr>
          <a:xfrm>
            <a:off x="4975796" y="2679732"/>
            <a:ext cx="15760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60" name="mk-2-B"/>
          <p:cNvSpPr/>
          <p:nvPr/>
        </p:nvSpPr>
        <p:spPr>
          <a:xfrm>
            <a:off x="7848600" y="2641600"/>
            <a:ext cx="254000" cy="2540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mkt-2-B"/>
          <p:cNvSpPr txBox="1"/>
          <p:nvPr/>
        </p:nvSpPr>
        <p:spPr>
          <a:xfrm>
            <a:off x="7896796" y="2679732"/>
            <a:ext cx="15760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B</a:t>
            </a:r>
          </a:p>
        </p:txBody>
      </p:sp>
      <p:sp>
        <p:nvSpPr>
          <p:cNvPr id="62" name="win-2"/>
          <p:cNvSpPr/>
          <p:nvPr/>
        </p:nvSpPr>
        <p:spPr>
          <a:xfrm>
            <a:off x="9969500" y="2641600"/>
            <a:ext cx="825500" cy="254000"/>
          </a:xfrm>
          <a:custGeom>
            <a:avLst/>
            <a:gdLst/>
            <a:ahLst/>
            <a:cxnLst/>
            <a:rect l="0" t="0" r="r" b="b"/>
            <a:pathLst>
              <a:path w="825500" h="254000">
                <a:moveTo>
                  <a:pt x="127000" y="0"/>
                </a:moveTo>
                <a:lnTo>
                  <a:pt x="698500" y="0"/>
                </a:lnTo>
                <a:cubicBezTo>
                  <a:pt x="768667" y="0"/>
                  <a:pt x="825500" y="56832"/>
                  <a:pt x="825500" y="127000"/>
                </a:cubicBezTo>
                <a:lnTo>
                  <a:pt x="825500" y="127000"/>
                </a:lnTo>
                <a:cubicBezTo>
                  <a:pt x="825500" y="197168"/>
                  <a:pt x="768667" y="254000"/>
                  <a:pt x="698500" y="254000"/>
                </a:cubicBezTo>
                <a:lnTo>
                  <a:pt x="127000" y="254000"/>
                </a:lnTo>
                <a:cubicBezTo>
                  <a:pt x="56833" y="254000"/>
                  <a:pt x="0" y="197168"/>
                  <a:pt x="0" y="127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wint-2"/>
          <p:cNvSpPr txBox="1"/>
          <p:nvPr/>
        </p:nvSpPr>
        <p:spPr>
          <a:xfrm>
            <a:off x="10139807" y="2671890"/>
            <a:ext cx="484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方案 B</a:t>
            </a:r>
          </a:p>
        </p:txBody>
      </p:sp>
      <p:sp>
        <p:nvSpPr>
          <p:cNvPr id="64" name="band-3"/>
          <p:cNvSpPr/>
          <p:nvPr/>
        </p:nvSpPr>
        <p:spPr>
          <a:xfrm>
            <a:off x="889000" y="3124200"/>
            <a:ext cx="10414000" cy="558800"/>
          </a:xfrm>
          <a:custGeom>
            <a:avLst/>
            <a:gdLst/>
            <a:ahLst/>
            <a:cxnLst/>
            <a:rect l="0" t="0" r="r" b="b"/>
            <a:pathLst>
              <a:path w="10414000" h="558800">
                <a:moveTo>
                  <a:pt x="101600" y="0"/>
                </a:moveTo>
                <a:lnTo>
                  <a:pt x="10312400" y="0"/>
                </a:lnTo>
                <a:cubicBezTo>
                  <a:pt x="10368534" y="0"/>
                  <a:pt x="10414000" y="45466"/>
                  <a:pt x="10414000" y="101600"/>
                </a:cubicBezTo>
                <a:lnTo>
                  <a:pt x="10414000" y="457200"/>
                </a:lnTo>
                <a:cubicBezTo>
                  <a:pt x="10414000" y="513334"/>
                  <a:pt x="10368534" y="558800"/>
                  <a:pt x="10312400" y="558800"/>
                </a:cubicBezTo>
                <a:lnTo>
                  <a:pt x="101600" y="558800"/>
                </a:lnTo>
                <a:cubicBezTo>
                  <a:pt x="45466" y="558800"/>
                  <a:pt x="0" y="513334"/>
                  <a:pt x="0" y="457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1F6FC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dn-3"/>
          <p:cNvSpPr txBox="1"/>
          <p:nvPr/>
        </p:nvSpPr>
        <p:spPr>
          <a:xfrm>
            <a:off x="999236" y="3192971"/>
            <a:ext cx="7226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质量可控</a:t>
            </a:r>
          </a:p>
        </p:txBody>
      </p:sp>
      <p:sp>
        <p:nvSpPr>
          <p:cNvPr id="66" name="dd-3"/>
          <p:cNvSpPr txBox="1"/>
          <p:nvPr/>
        </p:nvSpPr>
        <p:spPr>
          <a:xfrm>
            <a:off x="1004570" y="3425666"/>
            <a:ext cx="5746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缺陷与返工</a:t>
            </a:r>
          </a:p>
        </p:txBody>
      </p:sp>
      <p:sp>
        <p:nvSpPr>
          <p:cNvPr id="67" name="track-3"/>
          <p:cNvSpPr/>
          <p:nvPr/>
        </p:nvSpPr>
        <p:spPr>
          <a:xfrm>
            <a:off x="3302000" y="3333750"/>
            <a:ext cx="5842000" cy="88900"/>
          </a:xfrm>
          <a:custGeom>
            <a:avLst/>
            <a:gdLst/>
            <a:ahLst/>
            <a:cxnLst/>
            <a:rect l="0" t="0" r="r" b="b"/>
            <a:pathLst>
              <a:path w="5842000" h="88900">
                <a:moveTo>
                  <a:pt x="44450" y="0"/>
                </a:moveTo>
                <a:lnTo>
                  <a:pt x="5797550" y="0"/>
                </a:lnTo>
                <a:cubicBezTo>
                  <a:pt x="5822124" y="0"/>
                  <a:pt x="5842000" y="19875"/>
                  <a:pt x="5842000" y="44450"/>
                </a:cubicBezTo>
                <a:lnTo>
                  <a:pt x="5842000" y="44450"/>
                </a:lnTo>
                <a:cubicBezTo>
                  <a:pt x="5842000" y="69025"/>
                  <a:pt x="5822124" y="88900"/>
                  <a:pt x="5797550" y="88900"/>
                </a:cubicBezTo>
                <a:lnTo>
                  <a:pt x="44450" y="88900"/>
                </a:lnTo>
                <a:cubicBezTo>
                  <a:pt x="19875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gradFill rotWithShape="1">
            <a:gsLst>
              <a:gs pos="0">
                <a:srgbClr val="0B2545">
                  <a:alpha val="6000"/>
                </a:srgbClr>
              </a:gs>
              <a:gs pos="100000">
                <a:srgbClr val="1B5AA8">
                  <a:alpha val="35000"/>
                </a:srgbClr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68" name="tick-3-0"/>
          <p:cNvCxnSpPr/>
          <p:nvPr/>
        </p:nvCxnSpPr>
        <p:spPr>
          <a:xfrm>
            <a:off x="3302000" y="34544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tick-3-1"/>
          <p:cNvCxnSpPr/>
          <p:nvPr/>
        </p:nvCxnSpPr>
        <p:spPr>
          <a:xfrm>
            <a:off x="3886200" y="34544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tick-3-2"/>
          <p:cNvCxnSpPr/>
          <p:nvPr/>
        </p:nvCxnSpPr>
        <p:spPr>
          <a:xfrm>
            <a:off x="4470400" y="34544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tick-3-3"/>
          <p:cNvCxnSpPr/>
          <p:nvPr/>
        </p:nvCxnSpPr>
        <p:spPr>
          <a:xfrm>
            <a:off x="5054600" y="34544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tick-3-4"/>
          <p:cNvCxnSpPr/>
          <p:nvPr/>
        </p:nvCxnSpPr>
        <p:spPr>
          <a:xfrm>
            <a:off x="5638800" y="34544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tick-3-5"/>
          <p:cNvCxnSpPr/>
          <p:nvPr/>
        </p:nvCxnSpPr>
        <p:spPr>
          <a:xfrm>
            <a:off x="6223000" y="34544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tick-3-6"/>
          <p:cNvCxnSpPr/>
          <p:nvPr/>
        </p:nvCxnSpPr>
        <p:spPr>
          <a:xfrm>
            <a:off x="6807200" y="34544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tick-3-7"/>
          <p:cNvCxnSpPr/>
          <p:nvPr/>
        </p:nvCxnSpPr>
        <p:spPr>
          <a:xfrm>
            <a:off x="7391400" y="34544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tick-3-8"/>
          <p:cNvCxnSpPr/>
          <p:nvPr/>
        </p:nvCxnSpPr>
        <p:spPr>
          <a:xfrm>
            <a:off x="7975600" y="34544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tick-3-9"/>
          <p:cNvCxnSpPr/>
          <p:nvPr/>
        </p:nvCxnSpPr>
        <p:spPr>
          <a:xfrm>
            <a:off x="8559800" y="34544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tick-3-10"/>
          <p:cNvCxnSpPr/>
          <p:nvPr/>
        </p:nvCxnSpPr>
        <p:spPr>
          <a:xfrm>
            <a:off x="9144000" y="34544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lp-3"/>
          <p:cNvSpPr txBox="1"/>
          <p:nvPr/>
        </p:nvSpPr>
        <p:spPr>
          <a:xfrm>
            <a:off x="3008249" y="3289332"/>
            <a:ext cx="205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弱</a:t>
            </a:r>
          </a:p>
        </p:txBody>
      </p:sp>
      <p:sp>
        <p:nvSpPr>
          <p:cNvPr id="80" name="rp-3"/>
          <p:cNvSpPr txBox="1"/>
          <p:nvPr/>
        </p:nvSpPr>
        <p:spPr>
          <a:xfrm>
            <a:off x="9232646" y="3289332"/>
            <a:ext cx="205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强</a:t>
            </a:r>
          </a:p>
        </p:txBody>
      </p:sp>
      <p:cxnSp>
        <p:nvCxnSpPr>
          <p:cNvPr id="81" name="gap-3"/>
          <p:cNvCxnSpPr/>
          <p:nvPr/>
        </p:nvCxnSpPr>
        <p:spPr>
          <a:xfrm>
            <a:off x="6223000" y="3378200"/>
            <a:ext cx="1752600" cy="0"/>
          </a:xfrm>
          <a:prstGeom prst="line">
            <a:avLst/>
          </a:prstGeom>
          <a:ln w="12700" cap="rnd">
            <a:solidFill>
              <a:srgbClr val="0B2545">
                <a:alpha val="3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mk-3-A"/>
          <p:cNvSpPr/>
          <p:nvPr/>
        </p:nvSpPr>
        <p:spPr>
          <a:xfrm>
            <a:off x="7848600" y="3251200"/>
            <a:ext cx="254000" cy="254000"/>
          </a:xfrm>
          <a:prstGeom prst="ellipse">
            <a:avLst/>
          </a:prstGeom>
          <a:solidFill>
            <a:srgbClr val="0B3E8F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mkt-3-A"/>
          <p:cNvSpPr txBox="1"/>
          <p:nvPr/>
        </p:nvSpPr>
        <p:spPr>
          <a:xfrm>
            <a:off x="7896796" y="3289332"/>
            <a:ext cx="15760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84" name="mk-3-B"/>
          <p:cNvSpPr/>
          <p:nvPr/>
        </p:nvSpPr>
        <p:spPr>
          <a:xfrm>
            <a:off x="6096000" y="3251200"/>
            <a:ext cx="254000" cy="2540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mkt-3-B"/>
          <p:cNvSpPr txBox="1"/>
          <p:nvPr/>
        </p:nvSpPr>
        <p:spPr>
          <a:xfrm>
            <a:off x="6144196" y="3289332"/>
            <a:ext cx="15760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B</a:t>
            </a:r>
          </a:p>
        </p:txBody>
      </p:sp>
      <p:sp>
        <p:nvSpPr>
          <p:cNvPr id="86" name="win-3"/>
          <p:cNvSpPr/>
          <p:nvPr/>
        </p:nvSpPr>
        <p:spPr>
          <a:xfrm>
            <a:off x="9969500" y="3251200"/>
            <a:ext cx="825500" cy="254000"/>
          </a:xfrm>
          <a:custGeom>
            <a:avLst/>
            <a:gdLst/>
            <a:ahLst/>
            <a:cxnLst/>
            <a:rect l="0" t="0" r="r" b="b"/>
            <a:pathLst>
              <a:path w="825500" h="254000">
                <a:moveTo>
                  <a:pt x="127000" y="0"/>
                </a:moveTo>
                <a:lnTo>
                  <a:pt x="698500" y="0"/>
                </a:lnTo>
                <a:cubicBezTo>
                  <a:pt x="768667" y="0"/>
                  <a:pt x="825500" y="56833"/>
                  <a:pt x="825500" y="127000"/>
                </a:cubicBezTo>
                <a:lnTo>
                  <a:pt x="825500" y="127000"/>
                </a:lnTo>
                <a:cubicBezTo>
                  <a:pt x="825500" y="197167"/>
                  <a:pt x="768667" y="254000"/>
                  <a:pt x="698500" y="254000"/>
                </a:cubicBezTo>
                <a:lnTo>
                  <a:pt x="127000" y="254000"/>
                </a:lnTo>
                <a:cubicBezTo>
                  <a:pt x="56833" y="254000"/>
                  <a:pt x="0" y="197167"/>
                  <a:pt x="0" y="127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wint-3"/>
          <p:cNvSpPr txBox="1"/>
          <p:nvPr/>
        </p:nvSpPr>
        <p:spPr>
          <a:xfrm>
            <a:off x="10139807" y="3281490"/>
            <a:ext cx="484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方案 A</a:t>
            </a:r>
          </a:p>
        </p:txBody>
      </p:sp>
      <p:sp>
        <p:nvSpPr>
          <p:cNvPr id="88" name="dn-4"/>
          <p:cNvSpPr txBox="1"/>
          <p:nvPr/>
        </p:nvSpPr>
        <p:spPr>
          <a:xfrm>
            <a:off x="999236" y="3802571"/>
            <a:ext cx="871855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需求灵活度</a:t>
            </a:r>
          </a:p>
        </p:txBody>
      </p:sp>
      <p:sp>
        <p:nvSpPr>
          <p:cNvPr id="89" name="dd-4"/>
          <p:cNvSpPr txBox="1"/>
          <p:nvPr/>
        </p:nvSpPr>
        <p:spPr>
          <a:xfrm>
            <a:off x="1004570" y="4035266"/>
            <a:ext cx="6724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变更响应速度</a:t>
            </a:r>
          </a:p>
        </p:txBody>
      </p:sp>
      <p:sp>
        <p:nvSpPr>
          <p:cNvPr id="90" name="track-4"/>
          <p:cNvSpPr/>
          <p:nvPr/>
        </p:nvSpPr>
        <p:spPr>
          <a:xfrm>
            <a:off x="3302000" y="3943350"/>
            <a:ext cx="5842000" cy="88900"/>
          </a:xfrm>
          <a:custGeom>
            <a:avLst/>
            <a:gdLst/>
            <a:ahLst/>
            <a:cxnLst/>
            <a:rect l="0" t="0" r="r" b="b"/>
            <a:pathLst>
              <a:path w="5842000" h="88900">
                <a:moveTo>
                  <a:pt x="44450" y="0"/>
                </a:moveTo>
                <a:lnTo>
                  <a:pt x="5797550" y="0"/>
                </a:lnTo>
                <a:cubicBezTo>
                  <a:pt x="5822124" y="0"/>
                  <a:pt x="5842000" y="19875"/>
                  <a:pt x="5842000" y="44450"/>
                </a:cubicBezTo>
                <a:lnTo>
                  <a:pt x="5842000" y="44450"/>
                </a:lnTo>
                <a:cubicBezTo>
                  <a:pt x="5842000" y="69025"/>
                  <a:pt x="5822124" y="88900"/>
                  <a:pt x="5797550" y="88900"/>
                </a:cubicBezTo>
                <a:lnTo>
                  <a:pt x="44450" y="88900"/>
                </a:lnTo>
                <a:cubicBezTo>
                  <a:pt x="19875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gradFill rotWithShape="1">
            <a:gsLst>
              <a:gs pos="0">
                <a:srgbClr val="0B2545">
                  <a:alpha val="6000"/>
                </a:srgbClr>
              </a:gs>
              <a:gs pos="100000">
                <a:srgbClr val="1B5AA8">
                  <a:alpha val="35000"/>
                </a:srgbClr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91" name="tick-4-0"/>
          <p:cNvCxnSpPr/>
          <p:nvPr/>
        </p:nvCxnSpPr>
        <p:spPr>
          <a:xfrm>
            <a:off x="3302000" y="40640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tick-4-1"/>
          <p:cNvCxnSpPr/>
          <p:nvPr/>
        </p:nvCxnSpPr>
        <p:spPr>
          <a:xfrm>
            <a:off x="3886200" y="40640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tick-4-2"/>
          <p:cNvCxnSpPr/>
          <p:nvPr/>
        </p:nvCxnSpPr>
        <p:spPr>
          <a:xfrm>
            <a:off x="4470400" y="40640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tick-4-3"/>
          <p:cNvCxnSpPr/>
          <p:nvPr/>
        </p:nvCxnSpPr>
        <p:spPr>
          <a:xfrm>
            <a:off x="5054600" y="40640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tick-4-4"/>
          <p:cNvCxnSpPr/>
          <p:nvPr/>
        </p:nvCxnSpPr>
        <p:spPr>
          <a:xfrm>
            <a:off x="5638800" y="40640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tick-4-5"/>
          <p:cNvCxnSpPr/>
          <p:nvPr/>
        </p:nvCxnSpPr>
        <p:spPr>
          <a:xfrm>
            <a:off x="6223000" y="40640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tick-4-6"/>
          <p:cNvCxnSpPr/>
          <p:nvPr/>
        </p:nvCxnSpPr>
        <p:spPr>
          <a:xfrm>
            <a:off x="6807200" y="40640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tick-4-7"/>
          <p:cNvCxnSpPr/>
          <p:nvPr/>
        </p:nvCxnSpPr>
        <p:spPr>
          <a:xfrm>
            <a:off x="7391400" y="40640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tick-4-8"/>
          <p:cNvCxnSpPr/>
          <p:nvPr/>
        </p:nvCxnSpPr>
        <p:spPr>
          <a:xfrm>
            <a:off x="7975600" y="40640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tick-4-9"/>
          <p:cNvCxnSpPr/>
          <p:nvPr/>
        </p:nvCxnSpPr>
        <p:spPr>
          <a:xfrm>
            <a:off x="8559800" y="40640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tick-4-10"/>
          <p:cNvCxnSpPr/>
          <p:nvPr/>
        </p:nvCxnSpPr>
        <p:spPr>
          <a:xfrm>
            <a:off x="9144000" y="40640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2" name="lp-4"/>
          <p:cNvSpPr txBox="1"/>
          <p:nvPr/>
        </p:nvSpPr>
        <p:spPr>
          <a:xfrm>
            <a:off x="3008249" y="3898932"/>
            <a:ext cx="205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低</a:t>
            </a:r>
          </a:p>
        </p:txBody>
      </p:sp>
      <p:sp>
        <p:nvSpPr>
          <p:cNvPr id="103" name="rp-4"/>
          <p:cNvSpPr txBox="1"/>
          <p:nvPr/>
        </p:nvSpPr>
        <p:spPr>
          <a:xfrm>
            <a:off x="9232646" y="3898932"/>
            <a:ext cx="205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高</a:t>
            </a:r>
          </a:p>
        </p:txBody>
      </p:sp>
      <p:cxnSp>
        <p:nvCxnSpPr>
          <p:cNvPr id="104" name="gap-4"/>
          <p:cNvCxnSpPr/>
          <p:nvPr/>
        </p:nvCxnSpPr>
        <p:spPr>
          <a:xfrm>
            <a:off x="5638800" y="3987800"/>
            <a:ext cx="1752600" cy="0"/>
          </a:xfrm>
          <a:prstGeom prst="line">
            <a:avLst/>
          </a:prstGeom>
          <a:ln w="12700" cap="rnd">
            <a:solidFill>
              <a:srgbClr val="0B2545">
                <a:alpha val="3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" name="mk-4-A"/>
          <p:cNvSpPr/>
          <p:nvPr/>
        </p:nvSpPr>
        <p:spPr>
          <a:xfrm>
            <a:off x="7264400" y="3860800"/>
            <a:ext cx="254000" cy="254000"/>
          </a:xfrm>
          <a:prstGeom prst="ellipse">
            <a:avLst/>
          </a:prstGeom>
          <a:solidFill>
            <a:srgbClr val="0B3E8F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6" name="mkt-4-A"/>
          <p:cNvSpPr txBox="1"/>
          <p:nvPr/>
        </p:nvSpPr>
        <p:spPr>
          <a:xfrm>
            <a:off x="7312596" y="3898932"/>
            <a:ext cx="15760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107" name="mk-4-B"/>
          <p:cNvSpPr/>
          <p:nvPr/>
        </p:nvSpPr>
        <p:spPr>
          <a:xfrm>
            <a:off x="5511800" y="3860800"/>
            <a:ext cx="254000" cy="2540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8" name="mkt-4-B"/>
          <p:cNvSpPr txBox="1"/>
          <p:nvPr/>
        </p:nvSpPr>
        <p:spPr>
          <a:xfrm>
            <a:off x="5559996" y="3898932"/>
            <a:ext cx="15760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B</a:t>
            </a:r>
          </a:p>
        </p:txBody>
      </p:sp>
      <p:sp>
        <p:nvSpPr>
          <p:cNvPr id="109" name="win-4"/>
          <p:cNvSpPr/>
          <p:nvPr/>
        </p:nvSpPr>
        <p:spPr>
          <a:xfrm>
            <a:off x="9969500" y="3860800"/>
            <a:ext cx="825500" cy="254000"/>
          </a:xfrm>
          <a:custGeom>
            <a:avLst/>
            <a:gdLst/>
            <a:ahLst/>
            <a:cxnLst/>
            <a:rect l="0" t="0" r="r" b="b"/>
            <a:pathLst>
              <a:path w="825500" h="254000">
                <a:moveTo>
                  <a:pt x="127000" y="0"/>
                </a:moveTo>
                <a:lnTo>
                  <a:pt x="698500" y="0"/>
                </a:lnTo>
                <a:cubicBezTo>
                  <a:pt x="768667" y="0"/>
                  <a:pt x="825500" y="56833"/>
                  <a:pt x="825500" y="127000"/>
                </a:cubicBezTo>
                <a:lnTo>
                  <a:pt x="825500" y="127000"/>
                </a:lnTo>
                <a:cubicBezTo>
                  <a:pt x="825500" y="197167"/>
                  <a:pt x="768667" y="254000"/>
                  <a:pt x="698500" y="254000"/>
                </a:cubicBezTo>
                <a:lnTo>
                  <a:pt x="127000" y="254000"/>
                </a:lnTo>
                <a:cubicBezTo>
                  <a:pt x="56833" y="254000"/>
                  <a:pt x="0" y="197167"/>
                  <a:pt x="0" y="127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0" name="wint-4"/>
          <p:cNvSpPr txBox="1"/>
          <p:nvPr/>
        </p:nvSpPr>
        <p:spPr>
          <a:xfrm>
            <a:off x="10139807" y="3891090"/>
            <a:ext cx="484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方案 A</a:t>
            </a:r>
          </a:p>
        </p:txBody>
      </p:sp>
      <p:sp>
        <p:nvSpPr>
          <p:cNvPr id="111" name="band-5"/>
          <p:cNvSpPr/>
          <p:nvPr/>
        </p:nvSpPr>
        <p:spPr>
          <a:xfrm>
            <a:off x="889000" y="4343400"/>
            <a:ext cx="10414000" cy="558800"/>
          </a:xfrm>
          <a:custGeom>
            <a:avLst/>
            <a:gdLst/>
            <a:ahLst/>
            <a:cxnLst/>
            <a:rect l="0" t="0" r="r" b="b"/>
            <a:pathLst>
              <a:path w="10414000" h="558800">
                <a:moveTo>
                  <a:pt x="101600" y="0"/>
                </a:moveTo>
                <a:lnTo>
                  <a:pt x="10312400" y="0"/>
                </a:lnTo>
                <a:cubicBezTo>
                  <a:pt x="10368534" y="0"/>
                  <a:pt x="10414000" y="45466"/>
                  <a:pt x="10414000" y="101600"/>
                </a:cubicBezTo>
                <a:lnTo>
                  <a:pt x="10414000" y="457200"/>
                </a:lnTo>
                <a:cubicBezTo>
                  <a:pt x="10414000" y="513334"/>
                  <a:pt x="10368534" y="558800"/>
                  <a:pt x="10312400" y="558800"/>
                </a:cubicBezTo>
                <a:lnTo>
                  <a:pt x="101600" y="558800"/>
                </a:lnTo>
                <a:cubicBezTo>
                  <a:pt x="45466" y="558800"/>
                  <a:pt x="0" y="513334"/>
                  <a:pt x="0" y="457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1F6FC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2" name="dn-5"/>
          <p:cNvSpPr txBox="1"/>
          <p:nvPr/>
        </p:nvSpPr>
        <p:spPr>
          <a:xfrm>
            <a:off x="999236" y="4412170"/>
            <a:ext cx="7226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知识沉淀</a:t>
            </a:r>
          </a:p>
        </p:txBody>
      </p:sp>
      <p:sp>
        <p:nvSpPr>
          <p:cNvPr id="113" name="dd-5"/>
          <p:cNvSpPr txBox="1"/>
          <p:nvPr/>
        </p:nvSpPr>
        <p:spPr>
          <a:xfrm>
            <a:off x="1004570" y="4644866"/>
            <a:ext cx="6724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团队能力积累</a:t>
            </a:r>
          </a:p>
        </p:txBody>
      </p:sp>
      <p:sp>
        <p:nvSpPr>
          <p:cNvPr id="114" name="track-5"/>
          <p:cNvSpPr/>
          <p:nvPr/>
        </p:nvSpPr>
        <p:spPr>
          <a:xfrm>
            <a:off x="3302000" y="4552950"/>
            <a:ext cx="5842000" cy="88900"/>
          </a:xfrm>
          <a:custGeom>
            <a:avLst/>
            <a:gdLst/>
            <a:ahLst/>
            <a:cxnLst/>
            <a:rect l="0" t="0" r="r" b="b"/>
            <a:pathLst>
              <a:path w="5842000" h="88900">
                <a:moveTo>
                  <a:pt x="44450" y="0"/>
                </a:moveTo>
                <a:lnTo>
                  <a:pt x="5797550" y="0"/>
                </a:lnTo>
                <a:cubicBezTo>
                  <a:pt x="5822124" y="0"/>
                  <a:pt x="5842000" y="19875"/>
                  <a:pt x="5842000" y="44450"/>
                </a:cubicBezTo>
                <a:lnTo>
                  <a:pt x="5842000" y="44450"/>
                </a:lnTo>
                <a:cubicBezTo>
                  <a:pt x="5842000" y="69025"/>
                  <a:pt x="5822124" y="88900"/>
                  <a:pt x="5797550" y="88900"/>
                </a:cubicBezTo>
                <a:lnTo>
                  <a:pt x="44450" y="88900"/>
                </a:lnTo>
                <a:cubicBezTo>
                  <a:pt x="19875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gradFill rotWithShape="1">
            <a:gsLst>
              <a:gs pos="0">
                <a:srgbClr val="0B2545">
                  <a:alpha val="6000"/>
                </a:srgbClr>
              </a:gs>
              <a:gs pos="100000">
                <a:srgbClr val="1B5AA8">
                  <a:alpha val="35000"/>
                </a:srgbClr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15" name="tick-5-0"/>
          <p:cNvCxnSpPr/>
          <p:nvPr/>
        </p:nvCxnSpPr>
        <p:spPr>
          <a:xfrm>
            <a:off x="3302000" y="46736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tick-5-1"/>
          <p:cNvCxnSpPr/>
          <p:nvPr/>
        </p:nvCxnSpPr>
        <p:spPr>
          <a:xfrm>
            <a:off x="3886200" y="46736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tick-5-2"/>
          <p:cNvCxnSpPr/>
          <p:nvPr/>
        </p:nvCxnSpPr>
        <p:spPr>
          <a:xfrm>
            <a:off x="4470400" y="46736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tick-5-3"/>
          <p:cNvCxnSpPr/>
          <p:nvPr/>
        </p:nvCxnSpPr>
        <p:spPr>
          <a:xfrm>
            <a:off x="5054600" y="46736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tick-5-4"/>
          <p:cNvCxnSpPr/>
          <p:nvPr/>
        </p:nvCxnSpPr>
        <p:spPr>
          <a:xfrm>
            <a:off x="5638800" y="46736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tick-5-5"/>
          <p:cNvCxnSpPr/>
          <p:nvPr/>
        </p:nvCxnSpPr>
        <p:spPr>
          <a:xfrm>
            <a:off x="6223000" y="46736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tick-5-6"/>
          <p:cNvCxnSpPr/>
          <p:nvPr/>
        </p:nvCxnSpPr>
        <p:spPr>
          <a:xfrm>
            <a:off x="6807200" y="46736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tick-5-7"/>
          <p:cNvCxnSpPr/>
          <p:nvPr/>
        </p:nvCxnSpPr>
        <p:spPr>
          <a:xfrm>
            <a:off x="7391400" y="46736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tick-5-8"/>
          <p:cNvCxnSpPr/>
          <p:nvPr/>
        </p:nvCxnSpPr>
        <p:spPr>
          <a:xfrm>
            <a:off x="7975600" y="46736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tick-5-9"/>
          <p:cNvCxnSpPr/>
          <p:nvPr/>
        </p:nvCxnSpPr>
        <p:spPr>
          <a:xfrm>
            <a:off x="8559800" y="46736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tick-5-10"/>
          <p:cNvCxnSpPr/>
          <p:nvPr/>
        </p:nvCxnSpPr>
        <p:spPr>
          <a:xfrm>
            <a:off x="9144000" y="46736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6" name="lp-5"/>
          <p:cNvSpPr txBox="1"/>
          <p:nvPr/>
        </p:nvSpPr>
        <p:spPr>
          <a:xfrm>
            <a:off x="3008249" y="4508532"/>
            <a:ext cx="205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少</a:t>
            </a:r>
          </a:p>
        </p:txBody>
      </p:sp>
      <p:sp>
        <p:nvSpPr>
          <p:cNvPr id="127" name="rp-5"/>
          <p:cNvSpPr txBox="1"/>
          <p:nvPr/>
        </p:nvSpPr>
        <p:spPr>
          <a:xfrm>
            <a:off x="9232646" y="4508532"/>
            <a:ext cx="205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多</a:t>
            </a:r>
          </a:p>
        </p:txBody>
      </p:sp>
      <p:cxnSp>
        <p:nvCxnSpPr>
          <p:cNvPr id="128" name="gap-5"/>
          <p:cNvCxnSpPr/>
          <p:nvPr/>
        </p:nvCxnSpPr>
        <p:spPr>
          <a:xfrm>
            <a:off x="4470400" y="4597400"/>
            <a:ext cx="4089400" cy="0"/>
          </a:xfrm>
          <a:prstGeom prst="line">
            <a:avLst/>
          </a:prstGeom>
          <a:ln w="12700" cap="rnd">
            <a:solidFill>
              <a:srgbClr val="0B2545">
                <a:alpha val="3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9" name="mk-5-A"/>
          <p:cNvSpPr/>
          <p:nvPr/>
        </p:nvSpPr>
        <p:spPr>
          <a:xfrm>
            <a:off x="8432800" y="4470400"/>
            <a:ext cx="254000" cy="254000"/>
          </a:xfrm>
          <a:prstGeom prst="ellipse">
            <a:avLst/>
          </a:prstGeom>
          <a:solidFill>
            <a:srgbClr val="0B3E8F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0" name="mkt-5-A"/>
          <p:cNvSpPr txBox="1"/>
          <p:nvPr/>
        </p:nvSpPr>
        <p:spPr>
          <a:xfrm>
            <a:off x="8480996" y="4508532"/>
            <a:ext cx="15760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131" name="mk-5-B"/>
          <p:cNvSpPr/>
          <p:nvPr/>
        </p:nvSpPr>
        <p:spPr>
          <a:xfrm>
            <a:off x="4343400" y="4470400"/>
            <a:ext cx="254000" cy="2540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2" name="mkt-5-B"/>
          <p:cNvSpPr txBox="1"/>
          <p:nvPr/>
        </p:nvSpPr>
        <p:spPr>
          <a:xfrm>
            <a:off x="4391596" y="4508532"/>
            <a:ext cx="15760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B</a:t>
            </a:r>
          </a:p>
        </p:txBody>
      </p:sp>
      <p:sp>
        <p:nvSpPr>
          <p:cNvPr id="133" name="win-5"/>
          <p:cNvSpPr/>
          <p:nvPr/>
        </p:nvSpPr>
        <p:spPr>
          <a:xfrm>
            <a:off x="9969500" y="4470400"/>
            <a:ext cx="825500" cy="254000"/>
          </a:xfrm>
          <a:custGeom>
            <a:avLst/>
            <a:gdLst/>
            <a:ahLst/>
            <a:cxnLst/>
            <a:rect l="0" t="0" r="r" b="b"/>
            <a:pathLst>
              <a:path w="825500" h="254000">
                <a:moveTo>
                  <a:pt x="127000" y="0"/>
                </a:moveTo>
                <a:lnTo>
                  <a:pt x="698500" y="0"/>
                </a:lnTo>
                <a:cubicBezTo>
                  <a:pt x="768667" y="0"/>
                  <a:pt x="825500" y="56833"/>
                  <a:pt x="825500" y="127000"/>
                </a:cubicBezTo>
                <a:lnTo>
                  <a:pt x="825500" y="127000"/>
                </a:lnTo>
                <a:cubicBezTo>
                  <a:pt x="825500" y="197167"/>
                  <a:pt x="768667" y="254000"/>
                  <a:pt x="698500" y="254000"/>
                </a:cubicBezTo>
                <a:lnTo>
                  <a:pt x="127000" y="254000"/>
                </a:lnTo>
                <a:cubicBezTo>
                  <a:pt x="56833" y="254000"/>
                  <a:pt x="0" y="197167"/>
                  <a:pt x="0" y="127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4" name="wint-5"/>
          <p:cNvSpPr txBox="1"/>
          <p:nvPr/>
        </p:nvSpPr>
        <p:spPr>
          <a:xfrm>
            <a:off x="10139807" y="4500690"/>
            <a:ext cx="484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方案 A</a:t>
            </a:r>
          </a:p>
        </p:txBody>
      </p:sp>
      <p:sp>
        <p:nvSpPr>
          <p:cNvPr id="135" name="dn-6"/>
          <p:cNvSpPr txBox="1"/>
          <p:nvPr/>
        </p:nvSpPr>
        <p:spPr>
          <a:xfrm>
            <a:off x="999236" y="5021770"/>
            <a:ext cx="7226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交付风险</a:t>
            </a:r>
          </a:p>
        </p:txBody>
      </p:sp>
      <p:sp>
        <p:nvSpPr>
          <p:cNvPr id="136" name="dd-6"/>
          <p:cNvSpPr txBox="1"/>
          <p:nvPr/>
        </p:nvSpPr>
        <p:spPr>
          <a:xfrm>
            <a:off x="1004570" y="5254466"/>
            <a:ext cx="77025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延期与人员流失</a:t>
            </a:r>
          </a:p>
        </p:txBody>
      </p:sp>
      <p:sp>
        <p:nvSpPr>
          <p:cNvPr id="137" name="track-6"/>
          <p:cNvSpPr/>
          <p:nvPr/>
        </p:nvSpPr>
        <p:spPr>
          <a:xfrm>
            <a:off x="3302000" y="5162550"/>
            <a:ext cx="5842000" cy="88900"/>
          </a:xfrm>
          <a:custGeom>
            <a:avLst/>
            <a:gdLst/>
            <a:ahLst/>
            <a:cxnLst/>
            <a:rect l="0" t="0" r="r" b="b"/>
            <a:pathLst>
              <a:path w="5842000" h="88900">
                <a:moveTo>
                  <a:pt x="44450" y="0"/>
                </a:moveTo>
                <a:lnTo>
                  <a:pt x="5797550" y="0"/>
                </a:lnTo>
                <a:cubicBezTo>
                  <a:pt x="5822124" y="0"/>
                  <a:pt x="5842000" y="19875"/>
                  <a:pt x="5842000" y="44450"/>
                </a:cubicBezTo>
                <a:lnTo>
                  <a:pt x="5842000" y="44450"/>
                </a:lnTo>
                <a:cubicBezTo>
                  <a:pt x="5842000" y="69025"/>
                  <a:pt x="5822124" y="88900"/>
                  <a:pt x="5797550" y="88900"/>
                </a:cubicBezTo>
                <a:lnTo>
                  <a:pt x="44450" y="88900"/>
                </a:lnTo>
                <a:cubicBezTo>
                  <a:pt x="19875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gradFill rotWithShape="1">
            <a:gsLst>
              <a:gs pos="0">
                <a:srgbClr val="1B5AA8">
                  <a:alpha val="35000"/>
                </a:srgbClr>
              </a:gs>
              <a:gs pos="100000">
                <a:srgbClr val="0B2545">
                  <a:alpha val="6000"/>
                </a:srgbClr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38" name="tick-6-0"/>
          <p:cNvCxnSpPr/>
          <p:nvPr/>
        </p:nvCxnSpPr>
        <p:spPr>
          <a:xfrm>
            <a:off x="3302000" y="52832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9" name="tick-6-1"/>
          <p:cNvCxnSpPr/>
          <p:nvPr/>
        </p:nvCxnSpPr>
        <p:spPr>
          <a:xfrm>
            <a:off x="3886200" y="52832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0" name="tick-6-2"/>
          <p:cNvCxnSpPr/>
          <p:nvPr/>
        </p:nvCxnSpPr>
        <p:spPr>
          <a:xfrm>
            <a:off x="4470400" y="52832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1" name="tick-6-3"/>
          <p:cNvCxnSpPr/>
          <p:nvPr/>
        </p:nvCxnSpPr>
        <p:spPr>
          <a:xfrm>
            <a:off x="5054600" y="52832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2" name="tick-6-4"/>
          <p:cNvCxnSpPr/>
          <p:nvPr/>
        </p:nvCxnSpPr>
        <p:spPr>
          <a:xfrm>
            <a:off x="5638800" y="52832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3" name="tick-6-5"/>
          <p:cNvCxnSpPr/>
          <p:nvPr/>
        </p:nvCxnSpPr>
        <p:spPr>
          <a:xfrm>
            <a:off x="6223000" y="52832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4" name="tick-6-6"/>
          <p:cNvCxnSpPr/>
          <p:nvPr/>
        </p:nvCxnSpPr>
        <p:spPr>
          <a:xfrm>
            <a:off x="6807200" y="52832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5" name="tick-6-7"/>
          <p:cNvCxnSpPr/>
          <p:nvPr/>
        </p:nvCxnSpPr>
        <p:spPr>
          <a:xfrm>
            <a:off x="7391400" y="52832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6" name="tick-6-8"/>
          <p:cNvCxnSpPr/>
          <p:nvPr/>
        </p:nvCxnSpPr>
        <p:spPr>
          <a:xfrm>
            <a:off x="7975600" y="52832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7" name="tick-6-9"/>
          <p:cNvCxnSpPr/>
          <p:nvPr/>
        </p:nvCxnSpPr>
        <p:spPr>
          <a:xfrm>
            <a:off x="8559800" y="52832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8" name="tick-6-10"/>
          <p:cNvCxnSpPr/>
          <p:nvPr/>
        </p:nvCxnSpPr>
        <p:spPr>
          <a:xfrm>
            <a:off x="9144000" y="5283200"/>
            <a:ext cx="0" cy="381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9" name="lp-6"/>
          <p:cNvSpPr txBox="1"/>
          <p:nvPr/>
        </p:nvSpPr>
        <p:spPr>
          <a:xfrm>
            <a:off x="3008249" y="5118132"/>
            <a:ext cx="205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低</a:t>
            </a:r>
          </a:p>
        </p:txBody>
      </p:sp>
      <p:sp>
        <p:nvSpPr>
          <p:cNvPr id="150" name="rp-6"/>
          <p:cNvSpPr txBox="1"/>
          <p:nvPr/>
        </p:nvSpPr>
        <p:spPr>
          <a:xfrm>
            <a:off x="9232646" y="5118132"/>
            <a:ext cx="205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高</a:t>
            </a:r>
          </a:p>
        </p:txBody>
      </p:sp>
      <p:cxnSp>
        <p:nvCxnSpPr>
          <p:cNvPr id="151" name="gap-6"/>
          <p:cNvCxnSpPr/>
          <p:nvPr/>
        </p:nvCxnSpPr>
        <p:spPr>
          <a:xfrm>
            <a:off x="5638800" y="5207000"/>
            <a:ext cx="1168400" cy="0"/>
          </a:xfrm>
          <a:prstGeom prst="line">
            <a:avLst/>
          </a:prstGeom>
          <a:ln w="12700" cap="rnd">
            <a:solidFill>
              <a:srgbClr val="0B2545">
                <a:alpha val="3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" name="mk-6-A"/>
          <p:cNvSpPr/>
          <p:nvPr/>
        </p:nvSpPr>
        <p:spPr>
          <a:xfrm>
            <a:off x="6680200" y="5080000"/>
            <a:ext cx="254000" cy="254000"/>
          </a:xfrm>
          <a:prstGeom prst="ellipse">
            <a:avLst/>
          </a:prstGeom>
          <a:solidFill>
            <a:srgbClr val="0B3E8F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3" name="mkt-6-A"/>
          <p:cNvSpPr txBox="1"/>
          <p:nvPr/>
        </p:nvSpPr>
        <p:spPr>
          <a:xfrm>
            <a:off x="6728396" y="5118132"/>
            <a:ext cx="15760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154" name="mk-6-B"/>
          <p:cNvSpPr/>
          <p:nvPr/>
        </p:nvSpPr>
        <p:spPr>
          <a:xfrm>
            <a:off x="5511800" y="5080000"/>
            <a:ext cx="254000" cy="2540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5" name="mkt-6-B"/>
          <p:cNvSpPr txBox="1"/>
          <p:nvPr/>
        </p:nvSpPr>
        <p:spPr>
          <a:xfrm>
            <a:off x="5559996" y="5118132"/>
            <a:ext cx="15760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B</a:t>
            </a:r>
          </a:p>
        </p:txBody>
      </p:sp>
      <p:sp>
        <p:nvSpPr>
          <p:cNvPr id="156" name="win-6"/>
          <p:cNvSpPr/>
          <p:nvPr/>
        </p:nvSpPr>
        <p:spPr>
          <a:xfrm>
            <a:off x="9969500" y="5080000"/>
            <a:ext cx="825500" cy="254000"/>
          </a:xfrm>
          <a:custGeom>
            <a:avLst/>
            <a:gdLst/>
            <a:ahLst/>
            <a:cxnLst/>
            <a:rect l="0" t="0" r="r" b="b"/>
            <a:pathLst>
              <a:path w="825500" h="254000">
                <a:moveTo>
                  <a:pt x="127000" y="0"/>
                </a:moveTo>
                <a:lnTo>
                  <a:pt x="698500" y="0"/>
                </a:lnTo>
                <a:cubicBezTo>
                  <a:pt x="768667" y="0"/>
                  <a:pt x="825500" y="56833"/>
                  <a:pt x="825500" y="127000"/>
                </a:cubicBezTo>
                <a:lnTo>
                  <a:pt x="825500" y="127000"/>
                </a:lnTo>
                <a:cubicBezTo>
                  <a:pt x="825500" y="197167"/>
                  <a:pt x="768667" y="254000"/>
                  <a:pt x="698500" y="254000"/>
                </a:cubicBezTo>
                <a:lnTo>
                  <a:pt x="127000" y="254000"/>
                </a:lnTo>
                <a:cubicBezTo>
                  <a:pt x="56833" y="254000"/>
                  <a:pt x="0" y="197167"/>
                  <a:pt x="0" y="127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7" name="wint-6"/>
          <p:cNvSpPr txBox="1"/>
          <p:nvPr/>
        </p:nvSpPr>
        <p:spPr>
          <a:xfrm>
            <a:off x="10139807" y="5110290"/>
            <a:ext cx="484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方案 B</a:t>
            </a:r>
          </a:p>
        </p:txBody>
      </p:sp>
      <p:sp>
        <p:nvSpPr>
          <p:cNvPr id="158" name="sum"/>
          <p:cNvSpPr/>
          <p:nvPr/>
        </p:nvSpPr>
        <p:spPr>
          <a:xfrm>
            <a:off x="952500" y="5689600"/>
            <a:ext cx="10287000" cy="635000"/>
          </a:xfrm>
          <a:custGeom>
            <a:avLst/>
            <a:gdLst/>
            <a:ahLst/>
            <a:cxnLst/>
            <a:rect l="0" t="0" r="r" b="b"/>
            <a:pathLst>
              <a:path w="10287000" h="6350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533400"/>
                </a:lnTo>
                <a:cubicBezTo>
                  <a:pt x="10287000" y="589534"/>
                  <a:pt x="10241534" y="635000"/>
                  <a:pt x="10185400" y="635000"/>
                </a:cubicBezTo>
                <a:lnTo>
                  <a:pt x="101600" y="635000"/>
                </a:lnTo>
                <a:cubicBezTo>
                  <a:pt x="45466" y="635000"/>
                  <a:pt x="0" y="589534"/>
                  <a:pt x="0" y="5334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9" name="sum-bar"/>
          <p:cNvSpPr/>
          <p:nvPr/>
        </p:nvSpPr>
        <p:spPr>
          <a:xfrm>
            <a:off x="952500" y="5689600"/>
            <a:ext cx="31750" cy="6350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0" name="sum-v"/>
          <p:cNvSpPr txBox="1"/>
          <p:nvPr/>
        </p:nvSpPr>
        <p:spPr>
          <a:xfrm>
            <a:off x="1132840" y="5721032"/>
            <a:ext cx="73660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 spc="50">
                <a:solidFill>
                  <a:srgbClr val="0B3E8F"/>
                </a:solidFill>
                <a:latin typeface="Arial"/>
                <a:ea typeface="Arial"/>
                <a:cs typeface="Arial"/>
              </a:rPr>
              <a:t>3 : 3</a:t>
            </a:r>
          </a:p>
        </p:txBody>
      </p:sp>
      <p:sp>
        <p:nvSpPr>
          <p:cNvPr id="161" name="sum-l"/>
          <p:cNvSpPr txBox="1"/>
          <p:nvPr/>
        </p:nvSpPr>
        <p:spPr>
          <a:xfrm>
            <a:off x="1144270" y="6054566"/>
            <a:ext cx="4921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维度打平</a:t>
            </a:r>
          </a:p>
        </p:txBody>
      </p:sp>
      <p:sp>
        <p:nvSpPr>
          <p:cNvPr id="162" name="sum-h"/>
          <p:cNvSpPr txBox="1"/>
          <p:nvPr/>
        </p:nvSpPr>
        <p:spPr>
          <a:xfrm>
            <a:off x="2081022" y="5807297"/>
            <a:ext cx="997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打平时看战略：</a:t>
            </a:r>
          </a:p>
        </p:txBody>
      </p:sp>
      <p:sp>
        <p:nvSpPr>
          <p:cNvPr id="163" name="sum-p"/>
          <p:cNvSpPr txBox="1"/>
          <p:nvPr/>
        </p:nvSpPr>
        <p:spPr>
          <a:xfrm>
            <a:off x="2082165" y="6034961"/>
            <a:ext cx="537622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若这套系统是公司的核心能力，选方案 A 并接受更长的上线周期；若只是支撑工具，选方案 B 抢时间。</a:t>
            </a:r>
          </a:p>
        </p:txBody>
      </p:sp>
      <p:cxnSp>
        <p:nvCxnSpPr>
          <p:cNvPr id="164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5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取舍滑杆 · 六个维度</a:t>
            </a:r>
          </a:p>
        </p:txBody>
      </p:sp>
      <p:sp>
        <p:nvSpPr>
          <p:cNvPr id="166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未来三年营收情景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62801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SCENARIO FORECAST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560689" y="673132"/>
            <a:ext cx="306006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同一个起点，三种假设，决定了三年后相差 7.6 亿的结局</a:t>
            </a:r>
          </a:p>
        </p:txBody>
      </p:sp>
      <p:sp>
        <p:nvSpPr>
          <p:cNvPr id="10" name="fzone"/>
          <p:cNvSpPr/>
          <p:nvPr/>
        </p:nvSpPr>
        <p:spPr>
          <a:xfrm>
            <a:off x="4989258" y="1587500"/>
            <a:ext cx="2694242" cy="3492500"/>
          </a:xfrm>
          <a:custGeom>
            <a:avLst/>
            <a:gdLst/>
            <a:ahLst/>
            <a:cxnLst/>
            <a:rect l="0" t="0" r="r" b="b"/>
            <a:pathLst>
              <a:path w="2694242" h="3492500">
                <a:moveTo>
                  <a:pt x="101600" y="0"/>
                </a:moveTo>
                <a:lnTo>
                  <a:pt x="2592642" y="0"/>
                </a:lnTo>
                <a:cubicBezTo>
                  <a:pt x="2648775" y="0"/>
                  <a:pt x="2694242" y="45466"/>
                  <a:pt x="2694242" y="101600"/>
                </a:cubicBezTo>
                <a:lnTo>
                  <a:pt x="2694242" y="3390900"/>
                </a:lnTo>
                <a:cubicBezTo>
                  <a:pt x="2694242" y="3447034"/>
                  <a:pt x="2648775" y="3492500"/>
                  <a:pt x="2592642" y="3492500"/>
                </a:cubicBezTo>
                <a:lnTo>
                  <a:pt x="101600" y="3492500"/>
                </a:lnTo>
                <a:cubicBezTo>
                  <a:pt x="45529" y="3492500"/>
                  <a:pt x="0" y="3447034"/>
                  <a:pt x="0" y="3390900"/>
                </a:cubicBezTo>
                <a:lnTo>
                  <a:pt x="0" y="101600"/>
                </a:lnTo>
                <a:cubicBezTo>
                  <a:pt x="0" y="45466"/>
                  <a:pt x="45529" y="0"/>
                  <a:pt x="10160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1" name="fdiv"/>
          <p:cNvCxnSpPr/>
          <p:nvPr/>
        </p:nvCxnSpPr>
        <p:spPr>
          <a:xfrm>
            <a:off x="4989286" y="1587500"/>
            <a:ext cx="0" cy="3492500"/>
          </a:xfrm>
          <a:prstGeom prst="line">
            <a:avLst/>
          </a:prstGeom>
          <a:ln w="8890" cap="rnd">
            <a:solidFill>
              <a:srgbClr val="0B2545">
                <a:alpha val="2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" name="lab-act"/>
          <p:cNvSpPr txBox="1"/>
          <p:nvPr/>
        </p:nvSpPr>
        <p:spPr>
          <a:xfrm>
            <a:off x="4610191" y="1622266"/>
            <a:ext cx="3016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实际</a:t>
            </a:r>
          </a:p>
        </p:txBody>
      </p:sp>
      <p:sp>
        <p:nvSpPr>
          <p:cNvPr id="13" name="lab-fc"/>
          <p:cNvSpPr txBox="1"/>
          <p:nvPr/>
        </p:nvSpPr>
        <p:spPr>
          <a:xfrm>
            <a:off x="5066756" y="1622266"/>
            <a:ext cx="3016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预测</a:t>
            </a:r>
          </a:p>
        </p:txBody>
      </p:sp>
      <p:cxnSp>
        <p:nvCxnSpPr>
          <p:cNvPr id="14" name="g-0"/>
          <p:cNvCxnSpPr/>
          <p:nvPr/>
        </p:nvCxnSpPr>
        <p:spPr>
          <a:xfrm>
            <a:off x="1460500" y="5080000"/>
            <a:ext cx="6223000" cy="0"/>
          </a:xfrm>
          <a:prstGeom prst="line">
            <a:avLst/>
          </a:prstGeom>
          <a:ln w="6350" cap="rnd">
            <a:solidFill>
              <a:srgbClr val="0B2545">
                <a:alpha val="1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gt-0"/>
          <p:cNvSpPr txBox="1"/>
          <p:nvPr/>
        </p:nvSpPr>
        <p:spPr>
          <a:xfrm>
            <a:off x="1235456" y="49926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0</a:t>
            </a:r>
          </a:p>
        </p:txBody>
      </p:sp>
      <p:cxnSp>
        <p:nvCxnSpPr>
          <p:cNvPr id="16" name="g-4"/>
          <p:cNvCxnSpPr/>
          <p:nvPr/>
        </p:nvCxnSpPr>
        <p:spPr>
          <a:xfrm>
            <a:off x="1460500" y="4479636"/>
            <a:ext cx="62230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gt-4"/>
          <p:cNvSpPr txBox="1"/>
          <p:nvPr/>
        </p:nvSpPr>
        <p:spPr>
          <a:xfrm>
            <a:off x="1235456" y="4392260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cxnSp>
        <p:nvCxnSpPr>
          <p:cNvPr id="18" name="g-8"/>
          <p:cNvCxnSpPr/>
          <p:nvPr/>
        </p:nvCxnSpPr>
        <p:spPr>
          <a:xfrm>
            <a:off x="1460500" y="3879273"/>
            <a:ext cx="62230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gt-8"/>
          <p:cNvSpPr txBox="1"/>
          <p:nvPr/>
        </p:nvSpPr>
        <p:spPr>
          <a:xfrm>
            <a:off x="1235456" y="3791897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8</a:t>
            </a:r>
          </a:p>
        </p:txBody>
      </p:sp>
      <p:cxnSp>
        <p:nvCxnSpPr>
          <p:cNvPr id="20" name="g-12"/>
          <p:cNvCxnSpPr/>
          <p:nvPr/>
        </p:nvCxnSpPr>
        <p:spPr>
          <a:xfrm>
            <a:off x="1460500" y="3278909"/>
            <a:ext cx="62230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gt-12"/>
          <p:cNvSpPr txBox="1"/>
          <p:nvPr/>
        </p:nvSpPr>
        <p:spPr>
          <a:xfrm>
            <a:off x="1178560" y="3191533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12</a:t>
            </a:r>
          </a:p>
        </p:txBody>
      </p:sp>
      <p:cxnSp>
        <p:nvCxnSpPr>
          <p:cNvPr id="22" name="g-16"/>
          <p:cNvCxnSpPr/>
          <p:nvPr/>
        </p:nvCxnSpPr>
        <p:spPr>
          <a:xfrm>
            <a:off x="1460500" y="2678545"/>
            <a:ext cx="62230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gt-16"/>
          <p:cNvSpPr txBox="1"/>
          <p:nvPr/>
        </p:nvSpPr>
        <p:spPr>
          <a:xfrm>
            <a:off x="1178560" y="2591169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16</a:t>
            </a:r>
          </a:p>
        </p:txBody>
      </p:sp>
      <p:cxnSp>
        <p:nvCxnSpPr>
          <p:cNvPr id="24" name="g-20"/>
          <p:cNvCxnSpPr/>
          <p:nvPr/>
        </p:nvCxnSpPr>
        <p:spPr>
          <a:xfrm>
            <a:off x="1460500" y="2078182"/>
            <a:ext cx="62230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gt-20"/>
          <p:cNvSpPr txBox="1"/>
          <p:nvPr/>
        </p:nvSpPr>
        <p:spPr>
          <a:xfrm>
            <a:off x="1178560" y="1990806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20</a:t>
            </a:r>
          </a:p>
        </p:txBody>
      </p:sp>
      <p:sp>
        <p:nvSpPr>
          <p:cNvPr id="26" name="unit"/>
          <p:cNvSpPr txBox="1"/>
          <p:nvPr/>
        </p:nvSpPr>
        <p:spPr>
          <a:xfrm>
            <a:off x="1124458" y="1452308"/>
            <a:ext cx="2578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亿元</a:t>
            </a:r>
          </a:p>
        </p:txBody>
      </p:sp>
      <p:sp>
        <p:nvSpPr>
          <p:cNvPr id="27" name="xt-0"/>
          <p:cNvSpPr txBox="1"/>
          <p:nvPr/>
        </p:nvSpPr>
        <p:spPr>
          <a:xfrm>
            <a:off x="1491488" y="5183124"/>
            <a:ext cx="3190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2021</a:t>
            </a:r>
          </a:p>
        </p:txBody>
      </p:sp>
      <p:sp>
        <p:nvSpPr>
          <p:cNvPr id="28" name="xt-1"/>
          <p:cNvSpPr txBox="1"/>
          <p:nvPr/>
        </p:nvSpPr>
        <p:spPr>
          <a:xfrm>
            <a:off x="2326059" y="5183124"/>
            <a:ext cx="3190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2022</a:t>
            </a:r>
          </a:p>
        </p:txBody>
      </p:sp>
      <p:sp>
        <p:nvSpPr>
          <p:cNvPr id="29" name="xt-2"/>
          <p:cNvSpPr txBox="1"/>
          <p:nvPr/>
        </p:nvSpPr>
        <p:spPr>
          <a:xfrm>
            <a:off x="3160631" y="5183124"/>
            <a:ext cx="3190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2023</a:t>
            </a:r>
          </a:p>
        </p:txBody>
      </p:sp>
      <p:sp>
        <p:nvSpPr>
          <p:cNvPr id="30" name="xt-3"/>
          <p:cNvSpPr txBox="1"/>
          <p:nvPr/>
        </p:nvSpPr>
        <p:spPr>
          <a:xfrm>
            <a:off x="3995202" y="5183124"/>
            <a:ext cx="3190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2024</a:t>
            </a:r>
          </a:p>
        </p:txBody>
      </p:sp>
      <p:sp>
        <p:nvSpPr>
          <p:cNvPr id="31" name="xt-4"/>
          <p:cNvSpPr txBox="1"/>
          <p:nvPr/>
        </p:nvSpPr>
        <p:spPr>
          <a:xfrm>
            <a:off x="4829774" y="5183124"/>
            <a:ext cx="3190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2025</a:t>
            </a:r>
          </a:p>
        </p:txBody>
      </p:sp>
      <p:sp>
        <p:nvSpPr>
          <p:cNvPr id="32" name="xt-5"/>
          <p:cNvSpPr txBox="1"/>
          <p:nvPr/>
        </p:nvSpPr>
        <p:spPr>
          <a:xfrm>
            <a:off x="5664345" y="5183124"/>
            <a:ext cx="3190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1B5AA8"/>
                </a:solidFill>
                <a:latin typeface="Arial"/>
                <a:ea typeface="Arial"/>
                <a:cs typeface="Arial"/>
              </a:rPr>
              <a:t>2026</a:t>
            </a:r>
          </a:p>
        </p:txBody>
      </p:sp>
      <p:sp>
        <p:nvSpPr>
          <p:cNvPr id="33" name="xt-6"/>
          <p:cNvSpPr txBox="1"/>
          <p:nvPr/>
        </p:nvSpPr>
        <p:spPr>
          <a:xfrm>
            <a:off x="6498917" y="5183124"/>
            <a:ext cx="3190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1B5AA8"/>
                </a:solidFill>
                <a:latin typeface="Arial"/>
                <a:ea typeface="Arial"/>
                <a:cs typeface="Arial"/>
              </a:rPr>
              <a:t>2027</a:t>
            </a:r>
          </a:p>
        </p:txBody>
      </p:sp>
      <p:sp>
        <p:nvSpPr>
          <p:cNvPr id="34" name="xt-7"/>
          <p:cNvSpPr txBox="1"/>
          <p:nvPr/>
        </p:nvSpPr>
        <p:spPr>
          <a:xfrm>
            <a:off x="7333488" y="5183124"/>
            <a:ext cx="3190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1B5AA8"/>
                </a:solidFill>
                <a:latin typeface="Arial"/>
                <a:ea typeface="Arial"/>
                <a:cs typeface="Arial"/>
              </a:rPr>
              <a:t>2028</a:t>
            </a:r>
          </a:p>
        </p:txBody>
      </p:sp>
      <p:sp>
        <p:nvSpPr>
          <p:cNvPr id="35" name="cone"/>
          <p:cNvSpPr/>
          <p:nvPr/>
        </p:nvSpPr>
        <p:spPr>
          <a:xfrm>
            <a:off x="4989258" y="2153222"/>
            <a:ext cx="2503742" cy="1425892"/>
          </a:xfrm>
          <a:custGeom>
            <a:avLst/>
            <a:gdLst/>
            <a:ahLst/>
            <a:cxnLst/>
            <a:rect l="0" t="0" r="r" b="b"/>
            <a:pathLst>
              <a:path w="2503742" h="1425892">
                <a:moveTo>
                  <a:pt x="0" y="1425892"/>
                </a:moveTo>
                <a:lnTo>
                  <a:pt x="834580" y="1035622"/>
                </a:lnTo>
                <a:lnTo>
                  <a:pt x="1669161" y="555371"/>
                </a:lnTo>
                <a:lnTo>
                  <a:pt x="2503742" y="0"/>
                </a:lnTo>
                <a:lnTo>
                  <a:pt x="2503742" y="1140714"/>
                </a:lnTo>
                <a:lnTo>
                  <a:pt x="1669161" y="1245743"/>
                </a:lnTo>
                <a:lnTo>
                  <a:pt x="834580" y="1335786"/>
                </a:lnTo>
                <a:close/>
              </a:path>
            </a:pathLst>
          </a:custGeom>
          <a:gradFill rotWithShape="1">
            <a:gsLst>
              <a:gs pos="0">
                <a:srgbClr val="2E77C2">
                  <a:alpha val="22000"/>
                </a:srgbClr>
              </a:gs>
              <a:gs pos="100000">
                <a:srgbClr val="2E77C2">
                  <a:alpha val="6000"/>
                </a:srgbClr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h-area"/>
          <p:cNvSpPr/>
          <p:nvPr/>
        </p:nvSpPr>
        <p:spPr>
          <a:xfrm>
            <a:off x="1651000" y="3579114"/>
            <a:ext cx="3338286" cy="1500886"/>
          </a:xfrm>
          <a:custGeom>
            <a:avLst/>
            <a:gdLst/>
            <a:ahLst/>
            <a:cxnLst/>
            <a:rect l="0" t="0" r="r" b="b"/>
            <a:pathLst>
              <a:path w="3338286" h="1500886">
                <a:moveTo>
                  <a:pt x="0" y="720408"/>
                </a:moveTo>
                <a:cubicBezTo>
                  <a:pt x="83439" y="706882"/>
                  <a:pt x="667639" y="616839"/>
                  <a:pt x="834580" y="585343"/>
                </a:cubicBezTo>
                <a:cubicBezTo>
                  <a:pt x="1001458" y="553784"/>
                  <a:pt x="1502220" y="442722"/>
                  <a:pt x="1669161" y="405194"/>
                </a:cubicBezTo>
                <a:cubicBezTo>
                  <a:pt x="1836039" y="367728"/>
                  <a:pt x="2336800" y="250635"/>
                  <a:pt x="2503742" y="210122"/>
                </a:cubicBezTo>
                <a:cubicBezTo>
                  <a:pt x="2670620" y="169609"/>
                  <a:pt x="3254820" y="21019"/>
                  <a:pt x="3338258" y="0"/>
                </a:cubicBezTo>
                <a:lnTo>
                  <a:pt x="3338286" y="1500886"/>
                </a:lnTo>
                <a:lnTo>
                  <a:pt x="0" y="1500886"/>
                </a:lnTo>
                <a:close/>
              </a:path>
            </a:pathLst>
          </a:custGeom>
          <a:gradFill rotWithShape="1">
            <a:gsLst>
              <a:gs pos="0">
                <a:srgbClr val="1B5AA8">
                  <a:alpha val="20000"/>
                </a:srgbClr>
              </a:gs>
              <a:gs pos="100000">
                <a:srgbClr val="1B5AA8">
                  <a:alpha val="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h-line"/>
          <p:cNvSpPr/>
          <p:nvPr/>
        </p:nvSpPr>
        <p:spPr>
          <a:xfrm>
            <a:off x="1651000" y="3579114"/>
            <a:ext cx="3338258" cy="720408"/>
          </a:xfrm>
          <a:custGeom>
            <a:avLst/>
            <a:gdLst/>
            <a:ahLst/>
            <a:cxnLst/>
            <a:rect l="0" t="0" r="r" b="b"/>
            <a:pathLst>
              <a:path w="3338258" h="720408">
                <a:moveTo>
                  <a:pt x="0" y="720408"/>
                </a:moveTo>
                <a:cubicBezTo>
                  <a:pt x="83439" y="706882"/>
                  <a:pt x="667639" y="616839"/>
                  <a:pt x="834580" y="585343"/>
                </a:cubicBezTo>
                <a:cubicBezTo>
                  <a:pt x="1001458" y="553784"/>
                  <a:pt x="1502220" y="442722"/>
                  <a:pt x="1669161" y="405194"/>
                </a:cubicBezTo>
                <a:cubicBezTo>
                  <a:pt x="1836039" y="367728"/>
                  <a:pt x="2336800" y="250635"/>
                  <a:pt x="2503742" y="210122"/>
                </a:cubicBezTo>
                <a:cubicBezTo>
                  <a:pt x="2670620" y="169609"/>
                  <a:pt x="3254820" y="21019"/>
                  <a:pt x="3338258" y="0"/>
                </a:cubicBezTo>
              </a:path>
            </a:pathLst>
          </a:custGeom>
          <a:noFill/>
          <a:ln w="2857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hp-0"/>
          <p:cNvSpPr/>
          <p:nvPr/>
        </p:nvSpPr>
        <p:spPr>
          <a:xfrm>
            <a:off x="1606550" y="4255077"/>
            <a:ext cx="88900" cy="889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hv-0"/>
          <p:cNvSpPr txBox="1"/>
          <p:nvPr/>
        </p:nvSpPr>
        <p:spPr>
          <a:xfrm>
            <a:off x="1528128" y="4067594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5.2</a:t>
            </a:r>
          </a:p>
        </p:txBody>
      </p:sp>
      <p:sp>
        <p:nvSpPr>
          <p:cNvPr id="40" name="hp-1"/>
          <p:cNvSpPr/>
          <p:nvPr/>
        </p:nvSpPr>
        <p:spPr>
          <a:xfrm>
            <a:off x="2441121" y="4119995"/>
            <a:ext cx="88900" cy="889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hv-1"/>
          <p:cNvSpPr txBox="1"/>
          <p:nvPr/>
        </p:nvSpPr>
        <p:spPr>
          <a:xfrm>
            <a:off x="2362699" y="3932512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6.1</a:t>
            </a:r>
          </a:p>
        </p:txBody>
      </p:sp>
      <p:sp>
        <p:nvSpPr>
          <p:cNvPr id="42" name="hp-2"/>
          <p:cNvSpPr/>
          <p:nvPr/>
        </p:nvSpPr>
        <p:spPr>
          <a:xfrm>
            <a:off x="3275693" y="3939886"/>
            <a:ext cx="88900" cy="889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hv-2"/>
          <p:cNvSpPr txBox="1"/>
          <p:nvPr/>
        </p:nvSpPr>
        <p:spPr>
          <a:xfrm>
            <a:off x="3197270" y="3752403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7.3</a:t>
            </a:r>
          </a:p>
        </p:txBody>
      </p:sp>
      <p:sp>
        <p:nvSpPr>
          <p:cNvPr id="44" name="hp-3"/>
          <p:cNvSpPr/>
          <p:nvPr/>
        </p:nvSpPr>
        <p:spPr>
          <a:xfrm>
            <a:off x="4110264" y="3744768"/>
            <a:ext cx="88900" cy="889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hv-3"/>
          <p:cNvSpPr txBox="1"/>
          <p:nvPr/>
        </p:nvSpPr>
        <p:spPr>
          <a:xfrm>
            <a:off x="4031842" y="3557284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8.6</a:t>
            </a:r>
          </a:p>
        </p:txBody>
      </p:sp>
      <p:sp>
        <p:nvSpPr>
          <p:cNvPr id="46" name="hp-4"/>
          <p:cNvSpPr/>
          <p:nvPr/>
        </p:nvSpPr>
        <p:spPr>
          <a:xfrm>
            <a:off x="4944836" y="3534641"/>
            <a:ext cx="88900" cy="889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hv-4"/>
          <p:cNvSpPr txBox="1"/>
          <p:nvPr/>
        </p:nvSpPr>
        <p:spPr>
          <a:xfrm>
            <a:off x="4839743" y="3347157"/>
            <a:ext cx="2990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10.0</a:t>
            </a:r>
          </a:p>
        </p:txBody>
      </p:sp>
      <p:sp>
        <p:nvSpPr>
          <p:cNvPr id="48" name="sc-1"/>
          <p:cNvSpPr/>
          <p:nvPr/>
        </p:nvSpPr>
        <p:spPr>
          <a:xfrm>
            <a:off x="4989258" y="2153222"/>
            <a:ext cx="2503742" cy="1425892"/>
          </a:xfrm>
          <a:custGeom>
            <a:avLst/>
            <a:gdLst/>
            <a:ahLst/>
            <a:cxnLst/>
            <a:rect l="0" t="0" r="r" b="b"/>
            <a:pathLst>
              <a:path w="2503742" h="1425892">
                <a:moveTo>
                  <a:pt x="0" y="1425892"/>
                </a:moveTo>
                <a:cubicBezTo>
                  <a:pt x="83502" y="1386840"/>
                  <a:pt x="667702" y="1122680"/>
                  <a:pt x="834580" y="1035622"/>
                </a:cubicBezTo>
                <a:cubicBezTo>
                  <a:pt x="1001522" y="948563"/>
                  <a:pt x="1502283" y="658876"/>
                  <a:pt x="1669161" y="555371"/>
                </a:cubicBezTo>
                <a:cubicBezTo>
                  <a:pt x="1836102" y="451803"/>
                  <a:pt x="2420302" y="55562"/>
                  <a:pt x="2503742" y="0"/>
                </a:cubicBezTo>
              </a:path>
            </a:pathLst>
          </a:custGeom>
          <a:noFill/>
          <a:ln w="22225" cap="rnd">
            <a:solidFill>
              <a:srgbClr val="2E77C2"/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sp-1-0"/>
          <p:cNvSpPr/>
          <p:nvPr/>
        </p:nvSpPr>
        <p:spPr>
          <a:xfrm>
            <a:off x="5785757" y="3150755"/>
            <a:ext cx="76200" cy="76200"/>
          </a:xfrm>
          <a:prstGeom prst="ellipse">
            <a:avLst/>
          </a:prstGeom>
          <a:solidFill>
            <a:srgbClr val="2E77C2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sp-1-1"/>
          <p:cNvSpPr/>
          <p:nvPr/>
        </p:nvSpPr>
        <p:spPr>
          <a:xfrm>
            <a:off x="6620329" y="2670464"/>
            <a:ext cx="76200" cy="76200"/>
          </a:xfrm>
          <a:prstGeom prst="ellipse">
            <a:avLst/>
          </a:prstGeom>
          <a:solidFill>
            <a:srgbClr val="2E77C2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sp-1-2"/>
          <p:cNvSpPr/>
          <p:nvPr/>
        </p:nvSpPr>
        <p:spPr>
          <a:xfrm>
            <a:off x="7454900" y="2115127"/>
            <a:ext cx="76200" cy="76200"/>
          </a:xfrm>
          <a:prstGeom prst="ellipse">
            <a:avLst/>
          </a:prstGeom>
          <a:solidFill>
            <a:srgbClr val="2E77C2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end-1"/>
          <p:cNvSpPr/>
          <p:nvPr/>
        </p:nvSpPr>
        <p:spPr>
          <a:xfrm>
            <a:off x="7594600" y="2038921"/>
            <a:ext cx="609600" cy="228600"/>
          </a:xfrm>
          <a:custGeom>
            <a:avLst/>
            <a:gdLst/>
            <a:ahLst/>
            <a:cxnLst/>
            <a:rect l="0" t="0" r="r" b="b"/>
            <a:pathLst>
              <a:path w="609600" h="228600">
                <a:moveTo>
                  <a:pt x="114300" y="0"/>
                </a:moveTo>
                <a:lnTo>
                  <a:pt x="495300" y="0"/>
                </a:lnTo>
                <a:cubicBezTo>
                  <a:pt x="558419" y="0"/>
                  <a:pt x="609600" y="51181"/>
                  <a:pt x="609600" y="114300"/>
                </a:cubicBezTo>
                <a:lnTo>
                  <a:pt x="609600" y="114300"/>
                </a:lnTo>
                <a:cubicBezTo>
                  <a:pt x="609600" y="177419"/>
                  <a:pt x="558419" y="228600"/>
                  <a:pt x="4953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endt-1"/>
          <p:cNvSpPr txBox="1"/>
          <p:nvPr/>
        </p:nvSpPr>
        <p:spPr>
          <a:xfrm>
            <a:off x="7719949" y="2056517"/>
            <a:ext cx="35890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19.5</a:t>
            </a:r>
          </a:p>
        </p:txBody>
      </p:sp>
      <p:sp>
        <p:nvSpPr>
          <p:cNvPr id="54" name="sc-2"/>
          <p:cNvSpPr/>
          <p:nvPr/>
        </p:nvSpPr>
        <p:spPr>
          <a:xfrm>
            <a:off x="4989258" y="2648522"/>
            <a:ext cx="2503742" cy="930593"/>
          </a:xfrm>
          <a:custGeom>
            <a:avLst/>
            <a:gdLst/>
            <a:ahLst/>
            <a:cxnLst/>
            <a:rect l="0" t="0" r="r" b="b"/>
            <a:pathLst>
              <a:path w="2503742" h="930593">
                <a:moveTo>
                  <a:pt x="0" y="930593"/>
                </a:moveTo>
                <a:cubicBezTo>
                  <a:pt x="83502" y="903542"/>
                  <a:pt x="667702" y="718947"/>
                  <a:pt x="834580" y="660400"/>
                </a:cubicBezTo>
                <a:cubicBezTo>
                  <a:pt x="1001522" y="601853"/>
                  <a:pt x="1502283" y="411226"/>
                  <a:pt x="1669161" y="345186"/>
                </a:cubicBezTo>
                <a:cubicBezTo>
                  <a:pt x="1836102" y="279146"/>
                  <a:pt x="2420302" y="34544"/>
                  <a:pt x="2503742" y="0"/>
                </a:cubicBezTo>
              </a:path>
            </a:pathLst>
          </a:custGeom>
          <a:noFill/>
          <a:ln w="22225" cap="rnd">
            <a:solidFill>
              <a:srgbClr val="0B3E8F"/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sp-2-0"/>
          <p:cNvSpPr/>
          <p:nvPr/>
        </p:nvSpPr>
        <p:spPr>
          <a:xfrm>
            <a:off x="5785757" y="3270827"/>
            <a:ext cx="76200" cy="76200"/>
          </a:xfrm>
          <a:prstGeom prst="ellipse">
            <a:avLst/>
          </a:prstGeom>
          <a:solidFill>
            <a:srgbClr val="0B3E8F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sp-2-1"/>
          <p:cNvSpPr/>
          <p:nvPr/>
        </p:nvSpPr>
        <p:spPr>
          <a:xfrm>
            <a:off x="6620329" y="2955636"/>
            <a:ext cx="76200" cy="76200"/>
          </a:xfrm>
          <a:prstGeom prst="ellipse">
            <a:avLst/>
          </a:prstGeom>
          <a:solidFill>
            <a:srgbClr val="0B3E8F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sp-2-2"/>
          <p:cNvSpPr/>
          <p:nvPr/>
        </p:nvSpPr>
        <p:spPr>
          <a:xfrm>
            <a:off x="7454900" y="2610427"/>
            <a:ext cx="76200" cy="76200"/>
          </a:xfrm>
          <a:prstGeom prst="ellipse">
            <a:avLst/>
          </a:prstGeom>
          <a:solidFill>
            <a:srgbClr val="0B3E8F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end-2"/>
          <p:cNvSpPr/>
          <p:nvPr/>
        </p:nvSpPr>
        <p:spPr>
          <a:xfrm>
            <a:off x="7594600" y="2534222"/>
            <a:ext cx="609600" cy="228600"/>
          </a:xfrm>
          <a:custGeom>
            <a:avLst/>
            <a:gdLst/>
            <a:ahLst/>
            <a:cxnLst/>
            <a:rect l="0" t="0" r="r" b="b"/>
            <a:pathLst>
              <a:path w="609600" h="228600">
                <a:moveTo>
                  <a:pt x="114300" y="0"/>
                </a:moveTo>
                <a:lnTo>
                  <a:pt x="495300" y="0"/>
                </a:lnTo>
                <a:cubicBezTo>
                  <a:pt x="558419" y="0"/>
                  <a:pt x="609600" y="51181"/>
                  <a:pt x="609600" y="114300"/>
                </a:cubicBezTo>
                <a:lnTo>
                  <a:pt x="609600" y="114300"/>
                </a:lnTo>
                <a:cubicBezTo>
                  <a:pt x="609600" y="177419"/>
                  <a:pt x="558419" y="228600"/>
                  <a:pt x="4953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endt-2"/>
          <p:cNvSpPr txBox="1"/>
          <p:nvPr/>
        </p:nvSpPr>
        <p:spPr>
          <a:xfrm>
            <a:off x="7719949" y="2551817"/>
            <a:ext cx="35890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16.2</a:t>
            </a:r>
          </a:p>
        </p:txBody>
      </p:sp>
      <p:sp>
        <p:nvSpPr>
          <p:cNvPr id="60" name="sc-3"/>
          <p:cNvSpPr/>
          <p:nvPr/>
        </p:nvSpPr>
        <p:spPr>
          <a:xfrm>
            <a:off x="4989258" y="3293936"/>
            <a:ext cx="2503742" cy="285178"/>
          </a:xfrm>
          <a:custGeom>
            <a:avLst/>
            <a:gdLst/>
            <a:ahLst/>
            <a:cxnLst/>
            <a:rect l="0" t="0" r="r" b="b"/>
            <a:pathLst>
              <a:path w="2503742" h="285178">
                <a:moveTo>
                  <a:pt x="0" y="285178"/>
                </a:moveTo>
                <a:cubicBezTo>
                  <a:pt x="83502" y="276162"/>
                  <a:pt x="667702" y="213106"/>
                  <a:pt x="834580" y="195072"/>
                </a:cubicBezTo>
                <a:cubicBezTo>
                  <a:pt x="1001522" y="177101"/>
                  <a:pt x="1502283" y="124587"/>
                  <a:pt x="1669161" y="105029"/>
                </a:cubicBezTo>
                <a:cubicBezTo>
                  <a:pt x="1836102" y="85535"/>
                  <a:pt x="2420302" y="10477"/>
                  <a:pt x="2503742" y="0"/>
                </a:cubicBezTo>
              </a:path>
            </a:pathLst>
          </a:custGeom>
          <a:noFill/>
          <a:ln w="22225" cap="rnd">
            <a:solidFill>
              <a:srgbClr val="E0703A"/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sp-3-0"/>
          <p:cNvSpPr/>
          <p:nvPr/>
        </p:nvSpPr>
        <p:spPr>
          <a:xfrm>
            <a:off x="5785757" y="3450936"/>
            <a:ext cx="76200" cy="76200"/>
          </a:xfrm>
          <a:prstGeom prst="ellipse">
            <a:avLst/>
          </a:prstGeom>
          <a:solidFill>
            <a:srgbClr val="E0703A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sp-3-1"/>
          <p:cNvSpPr/>
          <p:nvPr/>
        </p:nvSpPr>
        <p:spPr>
          <a:xfrm>
            <a:off x="6620329" y="3360882"/>
            <a:ext cx="76200" cy="76200"/>
          </a:xfrm>
          <a:prstGeom prst="ellipse">
            <a:avLst/>
          </a:prstGeom>
          <a:solidFill>
            <a:srgbClr val="E0703A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sp-3-2"/>
          <p:cNvSpPr/>
          <p:nvPr/>
        </p:nvSpPr>
        <p:spPr>
          <a:xfrm>
            <a:off x="7454900" y="3255818"/>
            <a:ext cx="76200" cy="76200"/>
          </a:xfrm>
          <a:prstGeom prst="ellipse">
            <a:avLst/>
          </a:prstGeom>
          <a:solidFill>
            <a:srgbClr val="E0703A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end-3"/>
          <p:cNvSpPr/>
          <p:nvPr/>
        </p:nvSpPr>
        <p:spPr>
          <a:xfrm>
            <a:off x="7594600" y="3179636"/>
            <a:ext cx="609600" cy="228600"/>
          </a:xfrm>
          <a:custGeom>
            <a:avLst/>
            <a:gdLst/>
            <a:ahLst/>
            <a:cxnLst/>
            <a:rect l="0" t="0" r="r" b="b"/>
            <a:pathLst>
              <a:path w="609600" h="228600">
                <a:moveTo>
                  <a:pt x="114300" y="0"/>
                </a:moveTo>
                <a:lnTo>
                  <a:pt x="495300" y="0"/>
                </a:lnTo>
                <a:cubicBezTo>
                  <a:pt x="558419" y="0"/>
                  <a:pt x="609600" y="51181"/>
                  <a:pt x="609600" y="114300"/>
                </a:cubicBezTo>
                <a:lnTo>
                  <a:pt x="609600" y="114300"/>
                </a:lnTo>
                <a:cubicBezTo>
                  <a:pt x="609600" y="177419"/>
                  <a:pt x="558419" y="228600"/>
                  <a:pt x="4953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endt-3"/>
          <p:cNvSpPr txBox="1"/>
          <p:nvPr/>
        </p:nvSpPr>
        <p:spPr>
          <a:xfrm>
            <a:off x="7719949" y="3197208"/>
            <a:ext cx="35890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11.9</a:t>
            </a:r>
          </a:p>
        </p:txBody>
      </p:sp>
      <p:sp>
        <p:nvSpPr>
          <p:cNvPr id="66" name="card-1"/>
          <p:cNvSpPr/>
          <p:nvPr/>
        </p:nvSpPr>
        <p:spPr>
          <a:xfrm>
            <a:off x="8445500" y="1587500"/>
            <a:ext cx="2794000" cy="1079500"/>
          </a:xfrm>
          <a:custGeom>
            <a:avLst/>
            <a:gdLst/>
            <a:ahLst/>
            <a:cxnLst/>
            <a:rect l="0" t="0" r="r" b="b"/>
            <a:pathLst>
              <a:path w="2794000" h="1079500">
                <a:moveTo>
                  <a:pt x="127000" y="0"/>
                </a:moveTo>
                <a:lnTo>
                  <a:pt x="2667000" y="0"/>
                </a:lnTo>
                <a:cubicBezTo>
                  <a:pt x="2737167" y="0"/>
                  <a:pt x="2794000" y="56832"/>
                  <a:pt x="2794000" y="127000"/>
                </a:cubicBezTo>
                <a:lnTo>
                  <a:pt x="2794000" y="952500"/>
                </a:lnTo>
                <a:cubicBezTo>
                  <a:pt x="2794000" y="1022668"/>
                  <a:pt x="2737167" y="1079500"/>
                  <a:pt x="2667000" y="1079500"/>
                </a:cubicBezTo>
                <a:lnTo>
                  <a:pt x="127000" y="1079500"/>
                </a:lnTo>
                <a:cubicBezTo>
                  <a:pt x="56833" y="1079500"/>
                  <a:pt x="0" y="1022668"/>
                  <a:pt x="0" y="9525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cardb-1"/>
          <p:cNvSpPr/>
          <p:nvPr/>
        </p:nvSpPr>
        <p:spPr>
          <a:xfrm>
            <a:off x="8445500" y="1587500"/>
            <a:ext cx="38100" cy="1079500"/>
          </a:xfrm>
          <a:custGeom>
            <a:avLst/>
            <a:gdLst/>
            <a:ahLst/>
            <a:cxnLst/>
            <a:rect l="0" t="0" r="r" b="b"/>
            <a:pathLst>
              <a:path w="38100" h="10795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060450"/>
                </a:lnTo>
                <a:cubicBezTo>
                  <a:pt x="38100" y="1070991"/>
                  <a:pt x="29591" y="1079500"/>
                  <a:pt x="19050" y="1079500"/>
                </a:cubicBezTo>
                <a:lnTo>
                  <a:pt x="19050" y="1079500"/>
                </a:lnTo>
                <a:cubicBezTo>
                  <a:pt x="8509" y="1079500"/>
                  <a:pt x="0" y="1070991"/>
                  <a:pt x="0" y="10604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cn-1"/>
          <p:cNvSpPr txBox="1"/>
          <p:nvPr/>
        </p:nvSpPr>
        <p:spPr>
          <a:xfrm>
            <a:off x="8629650" y="16962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乐观情景</a:t>
            </a:r>
          </a:p>
        </p:txBody>
      </p:sp>
      <p:sp>
        <p:nvSpPr>
          <p:cNvPr id="69" name="cp-1"/>
          <p:cNvSpPr/>
          <p:nvPr/>
        </p:nvSpPr>
        <p:spPr>
          <a:xfrm>
            <a:off x="10350500" y="1739900"/>
            <a:ext cx="711200" cy="203200"/>
          </a:xfrm>
          <a:custGeom>
            <a:avLst/>
            <a:gdLst/>
            <a:ahLst/>
            <a:cxnLst/>
            <a:rect l="0" t="0" r="r" b="b"/>
            <a:pathLst>
              <a:path w="711200" h="203200">
                <a:moveTo>
                  <a:pt x="101600" y="0"/>
                </a:moveTo>
                <a:lnTo>
                  <a:pt x="609600" y="0"/>
                </a:lnTo>
                <a:cubicBezTo>
                  <a:pt x="665734" y="0"/>
                  <a:pt x="711200" y="45466"/>
                  <a:pt x="711200" y="101600"/>
                </a:cubicBezTo>
                <a:lnTo>
                  <a:pt x="711200" y="101600"/>
                </a:lnTo>
                <a:cubicBezTo>
                  <a:pt x="711200" y="157734"/>
                  <a:pt x="665734" y="203200"/>
                  <a:pt x="6096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cpt-1"/>
          <p:cNvSpPr txBox="1"/>
          <p:nvPr/>
        </p:nvSpPr>
        <p:spPr>
          <a:xfrm>
            <a:off x="10449878" y="1761966"/>
            <a:ext cx="5124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30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概率 25%</a:t>
            </a:r>
          </a:p>
        </p:txBody>
      </p:sp>
      <p:sp>
        <p:nvSpPr>
          <p:cNvPr id="71" name="cv-1"/>
          <p:cNvSpPr txBox="1"/>
          <p:nvPr/>
        </p:nvSpPr>
        <p:spPr>
          <a:xfrm>
            <a:off x="8618220" y="1934210"/>
            <a:ext cx="81026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 spc="25">
                <a:solidFill>
                  <a:srgbClr val="2E77C2"/>
                </a:solidFill>
                <a:latin typeface="Arial"/>
                <a:ea typeface="Arial"/>
                <a:cs typeface="Arial"/>
              </a:rPr>
              <a:t>19.5</a:t>
            </a:r>
          </a:p>
        </p:txBody>
      </p:sp>
      <p:sp>
        <p:nvSpPr>
          <p:cNvPr id="72" name="cu-1"/>
          <p:cNvSpPr txBox="1"/>
          <p:nvPr/>
        </p:nvSpPr>
        <p:spPr>
          <a:xfrm>
            <a:off x="9272270" y="2130266"/>
            <a:ext cx="5746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亿 · 2028</a:t>
            </a:r>
          </a:p>
        </p:txBody>
      </p:sp>
      <p:sp>
        <p:nvSpPr>
          <p:cNvPr id="73" name="ca-1"/>
          <p:cNvSpPr txBox="1"/>
          <p:nvPr/>
        </p:nvSpPr>
        <p:spPr>
          <a:xfrm>
            <a:off x="8636889" y="2393045"/>
            <a:ext cx="1620965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海外市场如期突破，年增速约 25%</a:t>
            </a:r>
          </a:p>
        </p:txBody>
      </p:sp>
      <p:sp>
        <p:nvSpPr>
          <p:cNvPr id="74" name="card-2"/>
          <p:cNvSpPr/>
          <p:nvPr/>
        </p:nvSpPr>
        <p:spPr>
          <a:xfrm>
            <a:off x="8445500" y="2794000"/>
            <a:ext cx="2794000" cy="1079500"/>
          </a:xfrm>
          <a:custGeom>
            <a:avLst/>
            <a:gdLst/>
            <a:ahLst/>
            <a:cxnLst/>
            <a:rect l="0" t="0" r="r" b="b"/>
            <a:pathLst>
              <a:path w="2794000" h="1079500">
                <a:moveTo>
                  <a:pt x="127000" y="0"/>
                </a:moveTo>
                <a:lnTo>
                  <a:pt x="2667000" y="0"/>
                </a:lnTo>
                <a:cubicBezTo>
                  <a:pt x="2737167" y="0"/>
                  <a:pt x="2794000" y="56832"/>
                  <a:pt x="2794000" y="127000"/>
                </a:cubicBezTo>
                <a:lnTo>
                  <a:pt x="2794000" y="952500"/>
                </a:lnTo>
                <a:cubicBezTo>
                  <a:pt x="2794000" y="1022667"/>
                  <a:pt x="2737167" y="1079500"/>
                  <a:pt x="2667000" y="1079500"/>
                </a:cubicBezTo>
                <a:lnTo>
                  <a:pt x="127000" y="1079500"/>
                </a:lnTo>
                <a:cubicBezTo>
                  <a:pt x="56833" y="1079500"/>
                  <a:pt x="0" y="1022667"/>
                  <a:pt x="0" y="9525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 w="12700" cap="rnd">
            <a:solidFill>
              <a:srgbClr val="0B3E8F"/>
            </a:solidFill>
            <a:round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cardb-2"/>
          <p:cNvSpPr/>
          <p:nvPr/>
        </p:nvSpPr>
        <p:spPr>
          <a:xfrm>
            <a:off x="8445500" y="2794000"/>
            <a:ext cx="38100" cy="1079500"/>
          </a:xfrm>
          <a:custGeom>
            <a:avLst/>
            <a:gdLst/>
            <a:ahLst/>
            <a:cxnLst/>
            <a:rect l="0" t="0" r="r" b="b"/>
            <a:pathLst>
              <a:path w="38100" h="10795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060450"/>
                </a:lnTo>
                <a:cubicBezTo>
                  <a:pt x="38100" y="1070991"/>
                  <a:pt x="29591" y="1079500"/>
                  <a:pt x="19050" y="1079500"/>
                </a:cubicBezTo>
                <a:lnTo>
                  <a:pt x="19050" y="1079500"/>
                </a:lnTo>
                <a:cubicBezTo>
                  <a:pt x="8509" y="1079500"/>
                  <a:pt x="0" y="1070991"/>
                  <a:pt x="0" y="10604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cn-2"/>
          <p:cNvSpPr txBox="1"/>
          <p:nvPr/>
        </p:nvSpPr>
        <p:spPr>
          <a:xfrm>
            <a:off x="8629650" y="29027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基准情景</a:t>
            </a:r>
          </a:p>
        </p:txBody>
      </p:sp>
      <p:sp>
        <p:nvSpPr>
          <p:cNvPr id="77" name="cp-2"/>
          <p:cNvSpPr/>
          <p:nvPr/>
        </p:nvSpPr>
        <p:spPr>
          <a:xfrm>
            <a:off x="10350500" y="2946400"/>
            <a:ext cx="711200" cy="203200"/>
          </a:xfrm>
          <a:custGeom>
            <a:avLst/>
            <a:gdLst/>
            <a:ahLst/>
            <a:cxnLst/>
            <a:rect l="0" t="0" r="r" b="b"/>
            <a:pathLst>
              <a:path w="711200" h="203200">
                <a:moveTo>
                  <a:pt x="101600" y="0"/>
                </a:moveTo>
                <a:lnTo>
                  <a:pt x="609600" y="0"/>
                </a:lnTo>
                <a:cubicBezTo>
                  <a:pt x="665734" y="0"/>
                  <a:pt x="711200" y="45466"/>
                  <a:pt x="711200" y="101600"/>
                </a:cubicBezTo>
                <a:lnTo>
                  <a:pt x="711200" y="101600"/>
                </a:lnTo>
                <a:cubicBezTo>
                  <a:pt x="711200" y="157734"/>
                  <a:pt x="665734" y="203200"/>
                  <a:pt x="6096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cpt-2"/>
          <p:cNvSpPr txBox="1"/>
          <p:nvPr/>
        </p:nvSpPr>
        <p:spPr>
          <a:xfrm>
            <a:off x="10449878" y="2968466"/>
            <a:ext cx="5124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3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概率 55%</a:t>
            </a:r>
          </a:p>
        </p:txBody>
      </p:sp>
      <p:sp>
        <p:nvSpPr>
          <p:cNvPr id="79" name="cv-2"/>
          <p:cNvSpPr txBox="1"/>
          <p:nvPr/>
        </p:nvSpPr>
        <p:spPr>
          <a:xfrm>
            <a:off x="8618220" y="3140710"/>
            <a:ext cx="81026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16.2</a:t>
            </a:r>
          </a:p>
        </p:txBody>
      </p:sp>
      <p:sp>
        <p:nvSpPr>
          <p:cNvPr id="80" name="cu-2"/>
          <p:cNvSpPr txBox="1"/>
          <p:nvPr/>
        </p:nvSpPr>
        <p:spPr>
          <a:xfrm>
            <a:off x="9272270" y="3336766"/>
            <a:ext cx="5746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亿 · 2028</a:t>
            </a:r>
          </a:p>
        </p:txBody>
      </p:sp>
      <p:sp>
        <p:nvSpPr>
          <p:cNvPr id="81" name="ca-2"/>
          <p:cNvSpPr txBox="1"/>
          <p:nvPr/>
        </p:nvSpPr>
        <p:spPr>
          <a:xfrm>
            <a:off x="8636889" y="3599545"/>
            <a:ext cx="1620965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国内份额稳步提升，年增速约 17%</a:t>
            </a:r>
          </a:p>
        </p:txBody>
      </p:sp>
      <p:sp>
        <p:nvSpPr>
          <p:cNvPr id="82" name="card-3"/>
          <p:cNvSpPr/>
          <p:nvPr/>
        </p:nvSpPr>
        <p:spPr>
          <a:xfrm>
            <a:off x="8445500" y="4000500"/>
            <a:ext cx="2794000" cy="1079500"/>
          </a:xfrm>
          <a:custGeom>
            <a:avLst/>
            <a:gdLst/>
            <a:ahLst/>
            <a:cxnLst/>
            <a:rect l="0" t="0" r="r" b="b"/>
            <a:pathLst>
              <a:path w="2794000" h="1079500">
                <a:moveTo>
                  <a:pt x="127000" y="0"/>
                </a:moveTo>
                <a:lnTo>
                  <a:pt x="2667000" y="0"/>
                </a:lnTo>
                <a:cubicBezTo>
                  <a:pt x="2737167" y="0"/>
                  <a:pt x="2794000" y="56833"/>
                  <a:pt x="2794000" y="127000"/>
                </a:cubicBezTo>
                <a:lnTo>
                  <a:pt x="2794000" y="952500"/>
                </a:lnTo>
                <a:cubicBezTo>
                  <a:pt x="2794000" y="1022667"/>
                  <a:pt x="2737167" y="1079500"/>
                  <a:pt x="2667000" y="1079500"/>
                </a:cubicBezTo>
                <a:lnTo>
                  <a:pt x="127000" y="1079500"/>
                </a:lnTo>
                <a:cubicBezTo>
                  <a:pt x="56833" y="1079500"/>
                  <a:pt x="0" y="1022667"/>
                  <a:pt x="0" y="9525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cardb-3"/>
          <p:cNvSpPr/>
          <p:nvPr/>
        </p:nvSpPr>
        <p:spPr>
          <a:xfrm>
            <a:off x="8445500" y="4000500"/>
            <a:ext cx="38100" cy="1079500"/>
          </a:xfrm>
          <a:custGeom>
            <a:avLst/>
            <a:gdLst/>
            <a:ahLst/>
            <a:cxnLst/>
            <a:rect l="0" t="0" r="r" b="b"/>
            <a:pathLst>
              <a:path w="38100" h="10795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060450"/>
                </a:lnTo>
                <a:cubicBezTo>
                  <a:pt x="38100" y="1070991"/>
                  <a:pt x="29591" y="1079500"/>
                  <a:pt x="19050" y="1079500"/>
                </a:cubicBezTo>
                <a:lnTo>
                  <a:pt x="19050" y="1079500"/>
                </a:lnTo>
                <a:cubicBezTo>
                  <a:pt x="8509" y="1079500"/>
                  <a:pt x="0" y="1070991"/>
                  <a:pt x="0" y="10604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cn-3"/>
          <p:cNvSpPr txBox="1"/>
          <p:nvPr/>
        </p:nvSpPr>
        <p:spPr>
          <a:xfrm>
            <a:off x="8629650" y="41092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悲观情景</a:t>
            </a:r>
          </a:p>
        </p:txBody>
      </p:sp>
      <p:sp>
        <p:nvSpPr>
          <p:cNvPr id="85" name="cp-3"/>
          <p:cNvSpPr/>
          <p:nvPr/>
        </p:nvSpPr>
        <p:spPr>
          <a:xfrm>
            <a:off x="10350500" y="4152900"/>
            <a:ext cx="711200" cy="203200"/>
          </a:xfrm>
          <a:custGeom>
            <a:avLst/>
            <a:gdLst/>
            <a:ahLst/>
            <a:cxnLst/>
            <a:rect l="0" t="0" r="r" b="b"/>
            <a:pathLst>
              <a:path w="711200" h="203200">
                <a:moveTo>
                  <a:pt x="101600" y="0"/>
                </a:moveTo>
                <a:lnTo>
                  <a:pt x="609600" y="0"/>
                </a:lnTo>
                <a:cubicBezTo>
                  <a:pt x="665734" y="0"/>
                  <a:pt x="711200" y="45466"/>
                  <a:pt x="711200" y="101600"/>
                </a:cubicBezTo>
                <a:lnTo>
                  <a:pt x="711200" y="101600"/>
                </a:lnTo>
                <a:cubicBezTo>
                  <a:pt x="711200" y="157734"/>
                  <a:pt x="665734" y="203200"/>
                  <a:pt x="6096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cpt-3"/>
          <p:cNvSpPr txBox="1"/>
          <p:nvPr/>
        </p:nvSpPr>
        <p:spPr>
          <a:xfrm>
            <a:off x="10449878" y="4174966"/>
            <a:ext cx="5124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3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概率 20%</a:t>
            </a:r>
          </a:p>
        </p:txBody>
      </p:sp>
      <p:sp>
        <p:nvSpPr>
          <p:cNvPr id="87" name="cv-3"/>
          <p:cNvSpPr txBox="1"/>
          <p:nvPr/>
        </p:nvSpPr>
        <p:spPr>
          <a:xfrm>
            <a:off x="8618220" y="4347210"/>
            <a:ext cx="81026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 spc="25">
                <a:solidFill>
                  <a:srgbClr val="E0703A"/>
                </a:solidFill>
                <a:latin typeface="Arial"/>
                <a:ea typeface="Arial"/>
                <a:cs typeface="Arial"/>
              </a:rPr>
              <a:t>11.9</a:t>
            </a:r>
          </a:p>
        </p:txBody>
      </p:sp>
      <p:sp>
        <p:nvSpPr>
          <p:cNvPr id="88" name="cu-3"/>
          <p:cNvSpPr txBox="1"/>
          <p:nvPr/>
        </p:nvSpPr>
        <p:spPr>
          <a:xfrm>
            <a:off x="9272270" y="4543266"/>
            <a:ext cx="5746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亿 · 2028</a:t>
            </a:r>
          </a:p>
        </p:txBody>
      </p:sp>
      <p:sp>
        <p:nvSpPr>
          <p:cNvPr id="89" name="ca-3"/>
          <p:cNvSpPr txBox="1"/>
          <p:nvPr/>
        </p:nvSpPr>
        <p:spPr>
          <a:xfrm>
            <a:off x="8636889" y="4806045"/>
            <a:ext cx="176460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行业需求放缓，价格战压缩增速至 6%</a:t>
            </a:r>
          </a:p>
        </p:txBody>
      </p:sp>
      <p:sp>
        <p:nvSpPr>
          <p:cNvPr id="90" name="sum"/>
          <p:cNvSpPr/>
          <p:nvPr/>
        </p:nvSpPr>
        <p:spPr>
          <a:xfrm>
            <a:off x="952500" y="5588000"/>
            <a:ext cx="10287000" cy="635000"/>
          </a:xfrm>
          <a:custGeom>
            <a:avLst/>
            <a:gdLst/>
            <a:ahLst/>
            <a:cxnLst/>
            <a:rect l="0" t="0" r="r" b="b"/>
            <a:pathLst>
              <a:path w="10287000" h="6350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533400"/>
                </a:lnTo>
                <a:cubicBezTo>
                  <a:pt x="10287000" y="589534"/>
                  <a:pt x="10241534" y="635000"/>
                  <a:pt x="10185400" y="635000"/>
                </a:cubicBezTo>
                <a:lnTo>
                  <a:pt x="101600" y="635000"/>
                </a:lnTo>
                <a:cubicBezTo>
                  <a:pt x="45466" y="635000"/>
                  <a:pt x="0" y="589534"/>
                  <a:pt x="0" y="5334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sum-bar"/>
          <p:cNvSpPr/>
          <p:nvPr/>
        </p:nvSpPr>
        <p:spPr>
          <a:xfrm>
            <a:off x="952500" y="5588000"/>
            <a:ext cx="31750" cy="6350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sum-h"/>
          <p:cNvSpPr txBox="1"/>
          <p:nvPr/>
        </p:nvSpPr>
        <p:spPr>
          <a:xfrm>
            <a:off x="1141222" y="57056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规划口径</a:t>
            </a:r>
          </a:p>
        </p:txBody>
      </p:sp>
      <p:sp>
        <p:nvSpPr>
          <p:cNvPr id="93" name="sum-p"/>
          <p:cNvSpPr txBox="1"/>
          <p:nvPr/>
        </p:nvSpPr>
        <p:spPr>
          <a:xfrm>
            <a:off x="1142365" y="5933361"/>
            <a:ext cx="534193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预算按基准情景 16.2 亿编制；同时准备悲观预案——若上半年增速低于 8%，冻结 30% 的扩张性投入。</a:t>
            </a:r>
          </a:p>
        </p:txBody>
      </p:sp>
      <p:cxnSp>
        <p:nvCxnSpPr>
          <p:cNvPr id="94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5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情景预测 · 三种假设</a:t>
            </a:r>
          </a:p>
        </p:txBody>
      </p:sp>
      <p:sp>
        <p:nvSpPr>
          <p:cNvPr id="96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行业排名六年变化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99060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BUMP CHART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094599" y="673132"/>
            <a:ext cx="35261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从第五名到第一名，我们用了六年；每一次超越都对应一个关键动作</a:t>
            </a:r>
          </a:p>
        </p:txBody>
      </p:sp>
      <p:cxnSp>
        <p:nvCxnSpPr>
          <p:cNvPr id="10" name="vg-2021"/>
          <p:cNvCxnSpPr/>
          <p:nvPr/>
        </p:nvCxnSpPr>
        <p:spPr>
          <a:xfrm>
            <a:off x="2095500" y="1651000"/>
            <a:ext cx="0" cy="35560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yr-2021"/>
          <p:cNvSpPr txBox="1"/>
          <p:nvPr/>
        </p:nvSpPr>
        <p:spPr>
          <a:xfrm>
            <a:off x="1916049" y="1382840"/>
            <a:ext cx="35890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2021</a:t>
            </a:r>
          </a:p>
        </p:txBody>
      </p:sp>
      <p:cxnSp>
        <p:nvCxnSpPr>
          <p:cNvPr id="12" name="vg-2022"/>
          <p:cNvCxnSpPr/>
          <p:nvPr/>
        </p:nvCxnSpPr>
        <p:spPr>
          <a:xfrm>
            <a:off x="3187700" y="1651000"/>
            <a:ext cx="0" cy="35560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yr-2022"/>
          <p:cNvSpPr txBox="1"/>
          <p:nvPr/>
        </p:nvSpPr>
        <p:spPr>
          <a:xfrm>
            <a:off x="3008249" y="1382840"/>
            <a:ext cx="35890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2022</a:t>
            </a:r>
          </a:p>
        </p:txBody>
      </p:sp>
      <p:cxnSp>
        <p:nvCxnSpPr>
          <p:cNvPr id="14" name="vg-2023"/>
          <p:cNvCxnSpPr/>
          <p:nvPr/>
        </p:nvCxnSpPr>
        <p:spPr>
          <a:xfrm>
            <a:off x="4279900" y="1651000"/>
            <a:ext cx="0" cy="35560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yr-2023"/>
          <p:cNvSpPr txBox="1"/>
          <p:nvPr/>
        </p:nvSpPr>
        <p:spPr>
          <a:xfrm>
            <a:off x="4100449" y="1382840"/>
            <a:ext cx="35890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2023</a:t>
            </a:r>
          </a:p>
        </p:txBody>
      </p:sp>
      <p:cxnSp>
        <p:nvCxnSpPr>
          <p:cNvPr id="16" name="vg-2024"/>
          <p:cNvCxnSpPr/>
          <p:nvPr/>
        </p:nvCxnSpPr>
        <p:spPr>
          <a:xfrm>
            <a:off x="5372100" y="1651000"/>
            <a:ext cx="0" cy="35560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yr-2024"/>
          <p:cNvSpPr txBox="1"/>
          <p:nvPr/>
        </p:nvSpPr>
        <p:spPr>
          <a:xfrm>
            <a:off x="5192649" y="1382840"/>
            <a:ext cx="35890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2024</a:t>
            </a:r>
          </a:p>
        </p:txBody>
      </p:sp>
      <p:cxnSp>
        <p:nvCxnSpPr>
          <p:cNvPr id="18" name="vg-2025"/>
          <p:cNvCxnSpPr/>
          <p:nvPr/>
        </p:nvCxnSpPr>
        <p:spPr>
          <a:xfrm>
            <a:off x="6464300" y="1651000"/>
            <a:ext cx="0" cy="35560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yr-2025"/>
          <p:cNvSpPr txBox="1"/>
          <p:nvPr/>
        </p:nvSpPr>
        <p:spPr>
          <a:xfrm>
            <a:off x="6284849" y="1382840"/>
            <a:ext cx="35890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2025</a:t>
            </a:r>
          </a:p>
        </p:txBody>
      </p:sp>
      <p:cxnSp>
        <p:nvCxnSpPr>
          <p:cNvPr id="20" name="vg-2026"/>
          <p:cNvCxnSpPr/>
          <p:nvPr/>
        </p:nvCxnSpPr>
        <p:spPr>
          <a:xfrm>
            <a:off x="7556500" y="1651000"/>
            <a:ext cx="0" cy="35560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yr-2026"/>
          <p:cNvSpPr txBox="1"/>
          <p:nvPr/>
        </p:nvSpPr>
        <p:spPr>
          <a:xfrm>
            <a:off x="7377049" y="1382840"/>
            <a:ext cx="35890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2026</a:t>
            </a:r>
          </a:p>
        </p:txBody>
      </p:sp>
      <p:sp>
        <p:nvSpPr>
          <p:cNvPr id="22" name="rk-1"/>
          <p:cNvSpPr txBox="1"/>
          <p:nvPr/>
        </p:nvSpPr>
        <p:spPr>
          <a:xfrm>
            <a:off x="1131570" y="1831816"/>
            <a:ext cx="2990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No.1</a:t>
            </a:r>
          </a:p>
        </p:txBody>
      </p:sp>
      <p:sp>
        <p:nvSpPr>
          <p:cNvPr id="23" name="rk-2"/>
          <p:cNvSpPr txBox="1"/>
          <p:nvPr/>
        </p:nvSpPr>
        <p:spPr>
          <a:xfrm>
            <a:off x="1131570" y="2441416"/>
            <a:ext cx="2990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No.2</a:t>
            </a:r>
          </a:p>
        </p:txBody>
      </p:sp>
      <p:sp>
        <p:nvSpPr>
          <p:cNvPr id="24" name="rk-3"/>
          <p:cNvSpPr txBox="1"/>
          <p:nvPr/>
        </p:nvSpPr>
        <p:spPr>
          <a:xfrm>
            <a:off x="1131570" y="3051016"/>
            <a:ext cx="2990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No.3</a:t>
            </a:r>
          </a:p>
        </p:txBody>
      </p:sp>
      <p:sp>
        <p:nvSpPr>
          <p:cNvPr id="25" name="rk-4"/>
          <p:cNvSpPr txBox="1"/>
          <p:nvPr/>
        </p:nvSpPr>
        <p:spPr>
          <a:xfrm>
            <a:off x="1131570" y="3660616"/>
            <a:ext cx="2990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No.4</a:t>
            </a:r>
          </a:p>
        </p:txBody>
      </p:sp>
      <p:sp>
        <p:nvSpPr>
          <p:cNvPr id="26" name="rk-5"/>
          <p:cNvSpPr txBox="1"/>
          <p:nvPr/>
        </p:nvSpPr>
        <p:spPr>
          <a:xfrm>
            <a:off x="1131570" y="4270216"/>
            <a:ext cx="2990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No.5</a:t>
            </a:r>
          </a:p>
        </p:txBody>
      </p:sp>
      <p:sp>
        <p:nvSpPr>
          <p:cNvPr id="27" name="rk-6"/>
          <p:cNvSpPr txBox="1"/>
          <p:nvPr/>
        </p:nvSpPr>
        <p:spPr>
          <a:xfrm>
            <a:off x="1131570" y="4879816"/>
            <a:ext cx="2990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No.6</a:t>
            </a:r>
          </a:p>
        </p:txBody>
      </p:sp>
      <p:sp>
        <p:nvSpPr>
          <p:cNvPr id="28" name="ln-2"/>
          <p:cNvSpPr/>
          <p:nvPr/>
        </p:nvSpPr>
        <p:spPr>
          <a:xfrm>
            <a:off x="2095500" y="1905000"/>
            <a:ext cx="5461000" cy="609600"/>
          </a:xfrm>
          <a:custGeom>
            <a:avLst/>
            <a:gdLst/>
            <a:ahLst/>
            <a:cxnLst/>
            <a:rect l="0" t="0" r="r" b="b"/>
            <a:pathLst>
              <a:path w="5461000" h="609600">
                <a:moveTo>
                  <a:pt x="0" y="0"/>
                </a:moveTo>
                <a:cubicBezTo>
                  <a:pt x="546100" y="0"/>
                  <a:pt x="546100" y="0"/>
                  <a:pt x="1092200" y="0"/>
                </a:cubicBezTo>
                <a:cubicBezTo>
                  <a:pt x="1638300" y="0"/>
                  <a:pt x="1638300" y="0"/>
                  <a:pt x="2184400" y="0"/>
                </a:cubicBezTo>
                <a:cubicBezTo>
                  <a:pt x="2730500" y="0"/>
                  <a:pt x="2730500" y="609600"/>
                  <a:pt x="3276600" y="609600"/>
                </a:cubicBezTo>
                <a:cubicBezTo>
                  <a:pt x="3822700" y="609600"/>
                  <a:pt x="3822700" y="0"/>
                  <a:pt x="4368800" y="0"/>
                </a:cubicBezTo>
                <a:cubicBezTo>
                  <a:pt x="4914900" y="0"/>
                  <a:pt x="4914900" y="609600"/>
                  <a:pt x="5461000" y="609600"/>
                </a:cubicBezTo>
              </a:path>
            </a:pathLst>
          </a:custGeom>
          <a:noFill/>
          <a:ln w="31750" cap="rnd">
            <a:solidFill>
              <a:srgbClr val="3985CD">
                <a:alpha val="7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pt-2-0"/>
          <p:cNvSpPr/>
          <p:nvPr/>
        </p:nvSpPr>
        <p:spPr>
          <a:xfrm>
            <a:off x="2000250" y="1809750"/>
            <a:ext cx="190500" cy="1905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ptv-2-0"/>
          <p:cNvSpPr txBox="1"/>
          <p:nvPr/>
        </p:nvSpPr>
        <p:spPr>
          <a:xfrm>
            <a:off x="2030603" y="18333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31" name="pt-2-1"/>
          <p:cNvSpPr/>
          <p:nvPr/>
        </p:nvSpPr>
        <p:spPr>
          <a:xfrm>
            <a:off x="3092450" y="1809750"/>
            <a:ext cx="190500" cy="1905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ptv-2-1"/>
          <p:cNvSpPr txBox="1"/>
          <p:nvPr/>
        </p:nvSpPr>
        <p:spPr>
          <a:xfrm>
            <a:off x="3122803" y="18333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33" name="pt-2-2"/>
          <p:cNvSpPr/>
          <p:nvPr/>
        </p:nvSpPr>
        <p:spPr>
          <a:xfrm>
            <a:off x="4184650" y="1809750"/>
            <a:ext cx="190500" cy="1905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ptv-2-2"/>
          <p:cNvSpPr txBox="1"/>
          <p:nvPr/>
        </p:nvSpPr>
        <p:spPr>
          <a:xfrm>
            <a:off x="4215003" y="18333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35" name="pt-2-3"/>
          <p:cNvSpPr/>
          <p:nvPr/>
        </p:nvSpPr>
        <p:spPr>
          <a:xfrm>
            <a:off x="5276850" y="2419350"/>
            <a:ext cx="190500" cy="1905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ptv-2-3"/>
          <p:cNvSpPr txBox="1"/>
          <p:nvPr/>
        </p:nvSpPr>
        <p:spPr>
          <a:xfrm>
            <a:off x="5307203" y="24429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37" name="pt-2-4"/>
          <p:cNvSpPr/>
          <p:nvPr/>
        </p:nvSpPr>
        <p:spPr>
          <a:xfrm>
            <a:off x="6369050" y="1809750"/>
            <a:ext cx="190500" cy="1905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ptv-2-4"/>
          <p:cNvSpPr txBox="1"/>
          <p:nvPr/>
        </p:nvSpPr>
        <p:spPr>
          <a:xfrm>
            <a:off x="6399403" y="18333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39" name="pt-2-5"/>
          <p:cNvSpPr/>
          <p:nvPr/>
        </p:nvSpPr>
        <p:spPr>
          <a:xfrm>
            <a:off x="7461250" y="2419350"/>
            <a:ext cx="190500" cy="1905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ptv-2-5"/>
          <p:cNvSpPr txBox="1"/>
          <p:nvPr/>
        </p:nvSpPr>
        <p:spPr>
          <a:xfrm>
            <a:off x="7491603" y="24429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41" name="nl-2"/>
          <p:cNvSpPr txBox="1"/>
          <p:nvPr/>
        </p:nvSpPr>
        <p:spPr>
          <a:xfrm>
            <a:off x="1395730" y="1808290"/>
            <a:ext cx="484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品牌 A</a:t>
            </a:r>
          </a:p>
        </p:txBody>
      </p:sp>
      <p:sp>
        <p:nvSpPr>
          <p:cNvPr id="42" name="nr-2"/>
          <p:cNvSpPr txBox="1"/>
          <p:nvPr/>
        </p:nvSpPr>
        <p:spPr>
          <a:xfrm>
            <a:off x="7771384" y="2417890"/>
            <a:ext cx="484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品牌 A</a:t>
            </a:r>
          </a:p>
        </p:txBody>
      </p:sp>
      <p:sp>
        <p:nvSpPr>
          <p:cNvPr id="43" name="sh-2"/>
          <p:cNvSpPr txBox="1"/>
          <p:nvPr/>
        </p:nvSpPr>
        <p:spPr>
          <a:xfrm>
            <a:off x="8305546" y="242573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21%</a:t>
            </a:r>
          </a:p>
        </p:txBody>
      </p:sp>
      <p:sp>
        <p:nvSpPr>
          <p:cNvPr id="44" name="ln-3"/>
          <p:cNvSpPr/>
          <p:nvPr/>
        </p:nvSpPr>
        <p:spPr>
          <a:xfrm>
            <a:off x="2095500" y="1905000"/>
            <a:ext cx="5461000" cy="1219200"/>
          </a:xfrm>
          <a:custGeom>
            <a:avLst/>
            <a:gdLst/>
            <a:ahLst/>
            <a:cxnLst/>
            <a:rect l="0" t="0" r="r" b="b"/>
            <a:pathLst>
              <a:path w="5461000" h="1219200">
                <a:moveTo>
                  <a:pt x="0" y="609600"/>
                </a:moveTo>
                <a:cubicBezTo>
                  <a:pt x="546100" y="609600"/>
                  <a:pt x="546100" y="609600"/>
                  <a:pt x="1092200" y="609600"/>
                </a:cubicBezTo>
                <a:cubicBezTo>
                  <a:pt x="1638300" y="609600"/>
                  <a:pt x="1638300" y="609600"/>
                  <a:pt x="2184400" y="609600"/>
                </a:cubicBezTo>
                <a:cubicBezTo>
                  <a:pt x="2730500" y="609600"/>
                  <a:pt x="2730500" y="0"/>
                  <a:pt x="3276600" y="0"/>
                </a:cubicBezTo>
                <a:cubicBezTo>
                  <a:pt x="3822700" y="0"/>
                  <a:pt x="3822700" y="1219200"/>
                  <a:pt x="4368800" y="1219200"/>
                </a:cubicBezTo>
                <a:cubicBezTo>
                  <a:pt x="4914900" y="1219200"/>
                  <a:pt x="4914900" y="1219200"/>
                  <a:pt x="5461000" y="1219200"/>
                </a:cubicBezTo>
              </a:path>
            </a:pathLst>
          </a:custGeom>
          <a:noFill/>
          <a:ln w="31750" cap="rnd">
            <a:solidFill>
              <a:srgbClr val="2468B6">
                <a:alpha val="7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pt-3-0"/>
          <p:cNvSpPr/>
          <p:nvPr/>
        </p:nvSpPr>
        <p:spPr>
          <a:xfrm>
            <a:off x="2000250" y="2419350"/>
            <a:ext cx="190500" cy="1905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ptv-3-0"/>
          <p:cNvSpPr txBox="1"/>
          <p:nvPr/>
        </p:nvSpPr>
        <p:spPr>
          <a:xfrm>
            <a:off x="2030603" y="24429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47" name="pt-3-1"/>
          <p:cNvSpPr/>
          <p:nvPr/>
        </p:nvSpPr>
        <p:spPr>
          <a:xfrm>
            <a:off x="3092450" y="2419350"/>
            <a:ext cx="190500" cy="1905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ptv-3-1"/>
          <p:cNvSpPr txBox="1"/>
          <p:nvPr/>
        </p:nvSpPr>
        <p:spPr>
          <a:xfrm>
            <a:off x="3122803" y="24429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49" name="pt-3-2"/>
          <p:cNvSpPr/>
          <p:nvPr/>
        </p:nvSpPr>
        <p:spPr>
          <a:xfrm>
            <a:off x="4184650" y="2419350"/>
            <a:ext cx="190500" cy="1905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ptv-3-2"/>
          <p:cNvSpPr txBox="1"/>
          <p:nvPr/>
        </p:nvSpPr>
        <p:spPr>
          <a:xfrm>
            <a:off x="4215003" y="24429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51" name="pt-3-3"/>
          <p:cNvSpPr/>
          <p:nvPr/>
        </p:nvSpPr>
        <p:spPr>
          <a:xfrm>
            <a:off x="5276850" y="1809750"/>
            <a:ext cx="190500" cy="1905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ptv-3-3"/>
          <p:cNvSpPr txBox="1"/>
          <p:nvPr/>
        </p:nvSpPr>
        <p:spPr>
          <a:xfrm>
            <a:off x="5307203" y="18333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53" name="pt-3-4"/>
          <p:cNvSpPr/>
          <p:nvPr/>
        </p:nvSpPr>
        <p:spPr>
          <a:xfrm>
            <a:off x="6369050" y="3028950"/>
            <a:ext cx="190500" cy="1905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ptv-3-4"/>
          <p:cNvSpPr txBox="1"/>
          <p:nvPr/>
        </p:nvSpPr>
        <p:spPr>
          <a:xfrm>
            <a:off x="6399403" y="30525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55" name="pt-3-5"/>
          <p:cNvSpPr/>
          <p:nvPr/>
        </p:nvSpPr>
        <p:spPr>
          <a:xfrm>
            <a:off x="7461250" y="3028950"/>
            <a:ext cx="190500" cy="1905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ptv-3-5"/>
          <p:cNvSpPr txBox="1"/>
          <p:nvPr/>
        </p:nvSpPr>
        <p:spPr>
          <a:xfrm>
            <a:off x="7491603" y="30525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57" name="nl-3"/>
          <p:cNvSpPr txBox="1"/>
          <p:nvPr/>
        </p:nvSpPr>
        <p:spPr>
          <a:xfrm>
            <a:off x="1395730" y="2417890"/>
            <a:ext cx="484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品牌 B</a:t>
            </a:r>
          </a:p>
        </p:txBody>
      </p:sp>
      <p:sp>
        <p:nvSpPr>
          <p:cNvPr id="58" name="nr-3"/>
          <p:cNvSpPr txBox="1"/>
          <p:nvPr/>
        </p:nvSpPr>
        <p:spPr>
          <a:xfrm>
            <a:off x="7771384" y="3027490"/>
            <a:ext cx="484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品牌 B</a:t>
            </a:r>
          </a:p>
        </p:txBody>
      </p:sp>
      <p:sp>
        <p:nvSpPr>
          <p:cNvPr id="59" name="sh-3"/>
          <p:cNvSpPr txBox="1"/>
          <p:nvPr/>
        </p:nvSpPr>
        <p:spPr>
          <a:xfrm>
            <a:off x="8305546" y="303533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17%</a:t>
            </a:r>
          </a:p>
        </p:txBody>
      </p:sp>
      <p:sp>
        <p:nvSpPr>
          <p:cNvPr id="60" name="ln-4"/>
          <p:cNvSpPr/>
          <p:nvPr/>
        </p:nvSpPr>
        <p:spPr>
          <a:xfrm>
            <a:off x="2095500" y="3124200"/>
            <a:ext cx="5461000" cy="609600"/>
          </a:xfrm>
          <a:custGeom>
            <a:avLst/>
            <a:gdLst/>
            <a:ahLst/>
            <a:cxnLst/>
            <a:rect l="0" t="0" r="r" b="b"/>
            <a:pathLst>
              <a:path w="5461000" h="609600">
                <a:moveTo>
                  <a:pt x="0" y="0"/>
                </a:moveTo>
                <a:cubicBezTo>
                  <a:pt x="546100" y="0"/>
                  <a:pt x="546100" y="0"/>
                  <a:pt x="1092200" y="0"/>
                </a:cubicBezTo>
                <a:cubicBezTo>
                  <a:pt x="1638300" y="0"/>
                  <a:pt x="1638300" y="609600"/>
                  <a:pt x="2184400" y="609600"/>
                </a:cubicBezTo>
                <a:cubicBezTo>
                  <a:pt x="2730500" y="609600"/>
                  <a:pt x="2730500" y="609600"/>
                  <a:pt x="3276600" y="609600"/>
                </a:cubicBezTo>
                <a:cubicBezTo>
                  <a:pt x="3822700" y="609600"/>
                  <a:pt x="3822700" y="609600"/>
                  <a:pt x="4368800" y="609600"/>
                </a:cubicBezTo>
                <a:cubicBezTo>
                  <a:pt x="4914900" y="609600"/>
                  <a:pt x="4914900" y="609600"/>
                  <a:pt x="5461000" y="609600"/>
                </a:cubicBezTo>
              </a:path>
            </a:pathLst>
          </a:custGeom>
          <a:noFill/>
          <a:ln w="31750" cap="rnd">
            <a:solidFill>
              <a:srgbClr val="4694D7">
                <a:alpha val="7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pt-4-0"/>
          <p:cNvSpPr/>
          <p:nvPr/>
        </p:nvSpPr>
        <p:spPr>
          <a:xfrm>
            <a:off x="2000250" y="3028950"/>
            <a:ext cx="190500" cy="1905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ptv-4-0"/>
          <p:cNvSpPr txBox="1"/>
          <p:nvPr/>
        </p:nvSpPr>
        <p:spPr>
          <a:xfrm>
            <a:off x="2030603" y="30525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4694D7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63" name="pt-4-1"/>
          <p:cNvSpPr/>
          <p:nvPr/>
        </p:nvSpPr>
        <p:spPr>
          <a:xfrm>
            <a:off x="3092450" y="3028950"/>
            <a:ext cx="190500" cy="1905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ptv-4-1"/>
          <p:cNvSpPr txBox="1"/>
          <p:nvPr/>
        </p:nvSpPr>
        <p:spPr>
          <a:xfrm>
            <a:off x="3122803" y="30525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4694D7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65" name="pt-4-2"/>
          <p:cNvSpPr/>
          <p:nvPr/>
        </p:nvSpPr>
        <p:spPr>
          <a:xfrm>
            <a:off x="4184650" y="3638550"/>
            <a:ext cx="190500" cy="1905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ptv-4-2"/>
          <p:cNvSpPr txBox="1"/>
          <p:nvPr/>
        </p:nvSpPr>
        <p:spPr>
          <a:xfrm>
            <a:off x="4215003" y="36621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4694D7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67" name="pt-4-3"/>
          <p:cNvSpPr/>
          <p:nvPr/>
        </p:nvSpPr>
        <p:spPr>
          <a:xfrm>
            <a:off x="5276850" y="3638550"/>
            <a:ext cx="190500" cy="1905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ptv-4-3"/>
          <p:cNvSpPr txBox="1"/>
          <p:nvPr/>
        </p:nvSpPr>
        <p:spPr>
          <a:xfrm>
            <a:off x="5307203" y="36621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4694D7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69" name="pt-4-4"/>
          <p:cNvSpPr/>
          <p:nvPr/>
        </p:nvSpPr>
        <p:spPr>
          <a:xfrm>
            <a:off x="6369050" y="3638550"/>
            <a:ext cx="190500" cy="1905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ptv-4-4"/>
          <p:cNvSpPr txBox="1"/>
          <p:nvPr/>
        </p:nvSpPr>
        <p:spPr>
          <a:xfrm>
            <a:off x="6399403" y="36621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4694D7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71" name="pt-4-5"/>
          <p:cNvSpPr/>
          <p:nvPr/>
        </p:nvSpPr>
        <p:spPr>
          <a:xfrm>
            <a:off x="7461250" y="3638550"/>
            <a:ext cx="190500" cy="1905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ptv-4-5"/>
          <p:cNvSpPr txBox="1"/>
          <p:nvPr/>
        </p:nvSpPr>
        <p:spPr>
          <a:xfrm>
            <a:off x="7491603" y="36621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4694D7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73" name="nl-4"/>
          <p:cNvSpPr txBox="1"/>
          <p:nvPr/>
        </p:nvSpPr>
        <p:spPr>
          <a:xfrm>
            <a:off x="1395730" y="3027490"/>
            <a:ext cx="484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品牌 C</a:t>
            </a:r>
          </a:p>
        </p:txBody>
      </p:sp>
      <p:sp>
        <p:nvSpPr>
          <p:cNvPr id="74" name="nr-4"/>
          <p:cNvSpPr txBox="1"/>
          <p:nvPr/>
        </p:nvSpPr>
        <p:spPr>
          <a:xfrm>
            <a:off x="7771384" y="3637090"/>
            <a:ext cx="484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品牌 C</a:t>
            </a:r>
          </a:p>
        </p:txBody>
      </p:sp>
      <p:sp>
        <p:nvSpPr>
          <p:cNvPr id="75" name="sh-4"/>
          <p:cNvSpPr txBox="1"/>
          <p:nvPr/>
        </p:nvSpPr>
        <p:spPr>
          <a:xfrm>
            <a:off x="8305546" y="364493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12%</a:t>
            </a:r>
          </a:p>
        </p:txBody>
      </p:sp>
      <p:sp>
        <p:nvSpPr>
          <p:cNvPr id="76" name="ln-5"/>
          <p:cNvSpPr/>
          <p:nvPr/>
        </p:nvSpPr>
        <p:spPr>
          <a:xfrm>
            <a:off x="2095500" y="3733800"/>
            <a:ext cx="5461000" cy="1219200"/>
          </a:xfrm>
          <a:custGeom>
            <a:avLst/>
            <a:gdLst/>
            <a:ahLst/>
            <a:cxnLst/>
            <a:rect l="0" t="0" r="r" b="b"/>
            <a:pathLst>
              <a:path w="5461000" h="1219200">
                <a:moveTo>
                  <a:pt x="0" y="0"/>
                </a:moveTo>
                <a:cubicBezTo>
                  <a:pt x="546100" y="0"/>
                  <a:pt x="546100" y="609600"/>
                  <a:pt x="1092200" y="609600"/>
                </a:cubicBezTo>
                <a:cubicBezTo>
                  <a:pt x="1638300" y="609600"/>
                  <a:pt x="1638300" y="609600"/>
                  <a:pt x="2184400" y="609600"/>
                </a:cubicBezTo>
                <a:cubicBezTo>
                  <a:pt x="2730500" y="609600"/>
                  <a:pt x="2730500" y="609600"/>
                  <a:pt x="3276600" y="609600"/>
                </a:cubicBezTo>
                <a:cubicBezTo>
                  <a:pt x="3822700" y="609600"/>
                  <a:pt x="3822700" y="609600"/>
                  <a:pt x="4368800" y="609600"/>
                </a:cubicBezTo>
                <a:cubicBezTo>
                  <a:pt x="4914900" y="609600"/>
                  <a:pt x="4914900" y="1219200"/>
                  <a:pt x="5461000" y="1219200"/>
                </a:cubicBezTo>
              </a:path>
            </a:pathLst>
          </a:custGeom>
          <a:noFill/>
          <a:ln w="31750" cap="rnd">
            <a:solidFill>
              <a:srgbClr val="9DB2CC">
                <a:alpha val="7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pt-5-0"/>
          <p:cNvSpPr/>
          <p:nvPr/>
        </p:nvSpPr>
        <p:spPr>
          <a:xfrm>
            <a:off x="2000250" y="3638550"/>
            <a:ext cx="190500" cy="1905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9DB2C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ptv-5-0"/>
          <p:cNvSpPr txBox="1"/>
          <p:nvPr/>
        </p:nvSpPr>
        <p:spPr>
          <a:xfrm>
            <a:off x="2030603" y="36621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9DB2CC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79" name="pt-5-1"/>
          <p:cNvSpPr/>
          <p:nvPr/>
        </p:nvSpPr>
        <p:spPr>
          <a:xfrm>
            <a:off x="3092450" y="4248150"/>
            <a:ext cx="190500" cy="1905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9DB2C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ptv-5-1"/>
          <p:cNvSpPr txBox="1"/>
          <p:nvPr/>
        </p:nvSpPr>
        <p:spPr>
          <a:xfrm>
            <a:off x="3122803" y="42717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9DB2CC"/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  <p:sp>
        <p:nvSpPr>
          <p:cNvPr id="81" name="pt-5-2"/>
          <p:cNvSpPr/>
          <p:nvPr/>
        </p:nvSpPr>
        <p:spPr>
          <a:xfrm>
            <a:off x="4184650" y="4248150"/>
            <a:ext cx="190500" cy="1905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9DB2C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ptv-5-2"/>
          <p:cNvSpPr txBox="1"/>
          <p:nvPr/>
        </p:nvSpPr>
        <p:spPr>
          <a:xfrm>
            <a:off x="4215003" y="42717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9DB2CC"/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  <p:sp>
        <p:nvSpPr>
          <p:cNvPr id="83" name="pt-5-3"/>
          <p:cNvSpPr/>
          <p:nvPr/>
        </p:nvSpPr>
        <p:spPr>
          <a:xfrm>
            <a:off x="5276850" y="4248150"/>
            <a:ext cx="190500" cy="1905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9DB2C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ptv-5-3"/>
          <p:cNvSpPr txBox="1"/>
          <p:nvPr/>
        </p:nvSpPr>
        <p:spPr>
          <a:xfrm>
            <a:off x="5307203" y="42717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9DB2CC"/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  <p:sp>
        <p:nvSpPr>
          <p:cNvPr id="85" name="pt-5-4"/>
          <p:cNvSpPr/>
          <p:nvPr/>
        </p:nvSpPr>
        <p:spPr>
          <a:xfrm>
            <a:off x="6369050" y="4248150"/>
            <a:ext cx="190500" cy="1905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9DB2C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ptv-5-4"/>
          <p:cNvSpPr txBox="1"/>
          <p:nvPr/>
        </p:nvSpPr>
        <p:spPr>
          <a:xfrm>
            <a:off x="6399403" y="42717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9DB2CC"/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  <p:sp>
        <p:nvSpPr>
          <p:cNvPr id="87" name="pt-5-5"/>
          <p:cNvSpPr/>
          <p:nvPr/>
        </p:nvSpPr>
        <p:spPr>
          <a:xfrm>
            <a:off x="7461250" y="4857750"/>
            <a:ext cx="190500" cy="1905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9DB2C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ptv-5-5"/>
          <p:cNvSpPr txBox="1"/>
          <p:nvPr/>
        </p:nvSpPr>
        <p:spPr>
          <a:xfrm>
            <a:off x="7491603" y="48813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9DB2CC"/>
                </a:solidFill>
                <a:latin typeface="Arial"/>
                <a:ea typeface="Arial"/>
                <a:cs typeface="Arial"/>
              </a:rPr>
              <a:t>6</a:t>
            </a:r>
          </a:p>
        </p:txBody>
      </p:sp>
      <p:sp>
        <p:nvSpPr>
          <p:cNvPr id="89" name="nl-5"/>
          <p:cNvSpPr txBox="1"/>
          <p:nvPr/>
        </p:nvSpPr>
        <p:spPr>
          <a:xfrm>
            <a:off x="1395730" y="3637090"/>
            <a:ext cx="484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品牌 D</a:t>
            </a:r>
          </a:p>
        </p:txBody>
      </p:sp>
      <p:sp>
        <p:nvSpPr>
          <p:cNvPr id="90" name="nr-5"/>
          <p:cNvSpPr txBox="1"/>
          <p:nvPr/>
        </p:nvSpPr>
        <p:spPr>
          <a:xfrm>
            <a:off x="7771384" y="4856290"/>
            <a:ext cx="484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品牌 D</a:t>
            </a:r>
          </a:p>
        </p:txBody>
      </p:sp>
      <p:sp>
        <p:nvSpPr>
          <p:cNvPr id="91" name="sh-5"/>
          <p:cNvSpPr txBox="1"/>
          <p:nvPr/>
        </p:nvSpPr>
        <p:spPr>
          <a:xfrm>
            <a:off x="8305546" y="486413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8%</a:t>
            </a:r>
          </a:p>
        </p:txBody>
      </p:sp>
      <p:sp>
        <p:nvSpPr>
          <p:cNvPr id="92" name="ln-6"/>
          <p:cNvSpPr/>
          <p:nvPr/>
        </p:nvSpPr>
        <p:spPr>
          <a:xfrm>
            <a:off x="2095500" y="4343400"/>
            <a:ext cx="5461000" cy="609600"/>
          </a:xfrm>
          <a:custGeom>
            <a:avLst/>
            <a:gdLst/>
            <a:ahLst/>
            <a:cxnLst/>
            <a:rect l="0" t="0" r="r" b="b"/>
            <a:pathLst>
              <a:path w="5461000" h="609600">
                <a:moveTo>
                  <a:pt x="0" y="609600"/>
                </a:moveTo>
                <a:cubicBezTo>
                  <a:pt x="546100" y="609600"/>
                  <a:pt x="546100" y="609600"/>
                  <a:pt x="1092200" y="609600"/>
                </a:cubicBezTo>
                <a:cubicBezTo>
                  <a:pt x="1638300" y="609600"/>
                  <a:pt x="1638300" y="609600"/>
                  <a:pt x="2184400" y="609600"/>
                </a:cubicBezTo>
                <a:cubicBezTo>
                  <a:pt x="2730500" y="609600"/>
                  <a:pt x="2730500" y="609600"/>
                  <a:pt x="3276600" y="609600"/>
                </a:cubicBezTo>
                <a:cubicBezTo>
                  <a:pt x="3822700" y="609600"/>
                  <a:pt x="3822700" y="609600"/>
                  <a:pt x="4368800" y="609600"/>
                </a:cubicBezTo>
                <a:cubicBezTo>
                  <a:pt x="4914900" y="609600"/>
                  <a:pt x="4914900" y="0"/>
                  <a:pt x="5461000" y="0"/>
                </a:cubicBezTo>
              </a:path>
            </a:pathLst>
          </a:custGeom>
          <a:noFill/>
          <a:ln w="31750" cap="rnd">
            <a:solidFill>
              <a:srgbClr val="B7C7DB">
                <a:alpha val="7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pt-6-0"/>
          <p:cNvSpPr/>
          <p:nvPr/>
        </p:nvSpPr>
        <p:spPr>
          <a:xfrm>
            <a:off x="2000250" y="4857750"/>
            <a:ext cx="190500" cy="1905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B7C7DB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ptv-6-0"/>
          <p:cNvSpPr txBox="1"/>
          <p:nvPr/>
        </p:nvSpPr>
        <p:spPr>
          <a:xfrm>
            <a:off x="2030603" y="48813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B7C7DB"/>
                </a:solidFill>
                <a:latin typeface="Arial"/>
                <a:ea typeface="Arial"/>
                <a:cs typeface="Arial"/>
              </a:rPr>
              <a:t>6</a:t>
            </a:r>
          </a:p>
        </p:txBody>
      </p:sp>
      <p:sp>
        <p:nvSpPr>
          <p:cNvPr id="95" name="pt-6-1"/>
          <p:cNvSpPr/>
          <p:nvPr/>
        </p:nvSpPr>
        <p:spPr>
          <a:xfrm>
            <a:off x="3092450" y="4857750"/>
            <a:ext cx="190500" cy="1905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B7C7DB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ptv-6-1"/>
          <p:cNvSpPr txBox="1"/>
          <p:nvPr/>
        </p:nvSpPr>
        <p:spPr>
          <a:xfrm>
            <a:off x="3122803" y="48813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B7C7DB"/>
                </a:solidFill>
                <a:latin typeface="Arial"/>
                <a:ea typeface="Arial"/>
                <a:cs typeface="Arial"/>
              </a:rPr>
              <a:t>6</a:t>
            </a:r>
          </a:p>
        </p:txBody>
      </p:sp>
      <p:sp>
        <p:nvSpPr>
          <p:cNvPr id="97" name="pt-6-2"/>
          <p:cNvSpPr/>
          <p:nvPr/>
        </p:nvSpPr>
        <p:spPr>
          <a:xfrm>
            <a:off x="4184650" y="4857750"/>
            <a:ext cx="190500" cy="1905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B7C7DB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ptv-6-2"/>
          <p:cNvSpPr txBox="1"/>
          <p:nvPr/>
        </p:nvSpPr>
        <p:spPr>
          <a:xfrm>
            <a:off x="4215003" y="48813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B7C7DB"/>
                </a:solidFill>
                <a:latin typeface="Arial"/>
                <a:ea typeface="Arial"/>
                <a:cs typeface="Arial"/>
              </a:rPr>
              <a:t>6</a:t>
            </a:r>
          </a:p>
        </p:txBody>
      </p:sp>
      <p:sp>
        <p:nvSpPr>
          <p:cNvPr id="99" name="pt-6-3"/>
          <p:cNvSpPr/>
          <p:nvPr/>
        </p:nvSpPr>
        <p:spPr>
          <a:xfrm>
            <a:off x="5276850" y="4857750"/>
            <a:ext cx="190500" cy="1905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B7C7DB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ptv-6-3"/>
          <p:cNvSpPr txBox="1"/>
          <p:nvPr/>
        </p:nvSpPr>
        <p:spPr>
          <a:xfrm>
            <a:off x="5307203" y="48813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B7C7DB"/>
                </a:solidFill>
                <a:latin typeface="Arial"/>
                <a:ea typeface="Arial"/>
                <a:cs typeface="Arial"/>
              </a:rPr>
              <a:t>6</a:t>
            </a:r>
          </a:p>
        </p:txBody>
      </p:sp>
      <p:sp>
        <p:nvSpPr>
          <p:cNvPr id="101" name="pt-6-4"/>
          <p:cNvSpPr/>
          <p:nvPr/>
        </p:nvSpPr>
        <p:spPr>
          <a:xfrm>
            <a:off x="6369050" y="4857750"/>
            <a:ext cx="190500" cy="1905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B7C7DB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2" name="ptv-6-4"/>
          <p:cNvSpPr txBox="1"/>
          <p:nvPr/>
        </p:nvSpPr>
        <p:spPr>
          <a:xfrm>
            <a:off x="6399403" y="48813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B7C7DB"/>
                </a:solidFill>
                <a:latin typeface="Arial"/>
                <a:ea typeface="Arial"/>
                <a:cs typeface="Arial"/>
              </a:rPr>
              <a:t>6</a:t>
            </a:r>
          </a:p>
        </p:txBody>
      </p:sp>
      <p:sp>
        <p:nvSpPr>
          <p:cNvPr id="103" name="pt-6-5"/>
          <p:cNvSpPr/>
          <p:nvPr/>
        </p:nvSpPr>
        <p:spPr>
          <a:xfrm>
            <a:off x="7461250" y="4248150"/>
            <a:ext cx="190500" cy="1905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B7C7DB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4" name="ptv-6-5"/>
          <p:cNvSpPr txBox="1"/>
          <p:nvPr/>
        </p:nvSpPr>
        <p:spPr>
          <a:xfrm>
            <a:off x="7491603" y="42717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B7C7DB"/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  <p:sp>
        <p:nvSpPr>
          <p:cNvPr id="105" name="nl-6"/>
          <p:cNvSpPr txBox="1"/>
          <p:nvPr/>
        </p:nvSpPr>
        <p:spPr>
          <a:xfrm>
            <a:off x="1395730" y="4856290"/>
            <a:ext cx="484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品牌 E</a:t>
            </a:r>
          </a:p>
        </p:txBody>
      </p:sp>
      <p:sp>
        <p:nvSpPr>
          <p:cNvPr id="106" name="nr-6"/>
          <p:cNvSpPr txBox="1"/>
          <p:nvPr/>
        </p:nvSpPr>
        <p:spPr>
          <a:xfrm>
            <a:off x="7771384" y="4246690"/>
            <a:ext cx="484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品牌 E</a:t>
            </a:r>
          </a:p>
        </p:txBody>
      </p:sp>
      <p:sp>
        <p:nvSpPr>
          <p:cNvPr id="107" name="sh-6"/>
          <p:cNvSpPr txBox="1"/>
          <p:nvPr/>
        </p:nvSpPr>
        <p:spPr>
          <a:xfrm>
            <a:off x="8305546" y="425453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9%</a:t>
            </a:r>
          </a:p>
        </p:txBody>
      </p:sp>
      <p:sp>
        <p:nvSpPr>
          <p:cNvPr id="108" name="ln-1"/>
          <p:cNvSpPr/>
          <p:nvPr/>
        </p:nvSpPr>
        <p:spPr>
          <a:xfrm>
            <a:off x="2095500" y="1905000"/>
            <a:ext cx="5461000" cy="2438400"/>
          </a:xfrm>
          <a:custGeom>
            <a:avLst/>
            <a:gdLst/>
            <a:ahLst/>
            <a:cxnLst/>
            <a:rect l="0" t="0" r="r" b="b"/>
            <a:pathLst>
              <a:path w="5461000" h="2438400">
                <a:moveTo>
                  <a:pt x="0" y="2438400"/>
                </a:moveTo>
                <a:cubicBezTo>
                  <a:pt x="546100" y="2438400"/>
                  <a:pt x="546100" y="1828800"/>
                  <a:pt x="1092200" y="1828800"/>
                </a:cubicBezTo>
                <a:cubicBezTo>
                  <a:pt x="1638300" y="1828800"/>
                  <a:pt x="1638300" y="1219200"/>
                  <a:pt x="2184400" y="1219200"/>
                </a:cubicBezTo>
                <a:cubicBezTo>
                  <a:pt x="2730500" y="1219200"/>
                  <a:pt x="2730500" y="1219200"/>
                  <a:pt x="3276600" y="1219200"/>
                </a:cubicBezTo>
                <a:cubicBezTo>
                  <a:pt x="3822700" y="1219200"/>
                  <a:pt x="3822700" y="609600"/>
                  <a:pt x="4368800" y="609600"/>
                </a:cubicBezTo>
                <a:cubicBezTo>
                  <a:pt x="4914900" y="609600"/>
                  <a:pt x="4914900" y="0"/>
                  <a:pt x="5461000" y="0"/>
                </a:cubicBezTo>
              </a:path>
            </a:pathLst>
          </a:custGeom>
          <a:noFill/>
          <a:ln w="6350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pt-1-0"/>
          <p:cNvSpPr/>
          <p:nvPr/>
        </p:nvSpPr>
        <p:spPr>
          <a:xfrm>
            <a:off x="1968500" y="4216400"/>
            <a:ext cx="254000" cy="2540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0" name="ptv-1-0"/>
          <p:cNvSpPr txBox="1"/>
          <p:nvPr/>
        </p:nvSpPr>
        <p:spPr>
          <a:xfrm>
            <a:off x="2021332" y="42560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  <p:sp>
        <p:nvSpPr>
          <p:cNvPr id="111" name="pt-1-1"/>
          <p:cNvSpPr/>
          <p:nvPr/>
        </p:nvSpPr>
        <p:spPr>
          <a:xfrm>
            <a:off x="3060700" y="3606800"/>
            <a:ext cx="254000" cy="2540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2" name="ptv-1-1"/>
          <p:cNvSpPr txBox="1"/>
          <p:nvPr/>
        </p:nvSpPr>
        <p:spPr>
          <a:xfrm>
            <a:off x="3113532" y="36464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113" name="pt-1-2"/>
          <p:cNvSpPr/>
          <p:nvPr/>
        </p:nvSpPr>
        <p:spPr>
          <a:xfrm>
            <a:off x="4152900" y="2997200"/>
            <a:ext cx="254000" cy="2540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4" name="ptv-1-2"/>
          <p:cNvSpPr txBox="1"/>
          <p:nvPr/>
        </p:nvSpPr>
        <p:spPr>
          <a:xfrm>
            <a:off x="4205732" y="30368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115" name="pt-1-3"/>
          <p:cNvSpPr/>
          <p:nvPr/>
        </p:nvSpPr>
        <p:spPr>
          <a:xfrm>
            <a:off x="5245100" y="2997200"/>
            <a:ext cx="254000" cy="2540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6" name="ptv-1-3"/>
          <p:cNvSpPr txBox="1"/>
          <p:nvPr/>
        </p:nvSpPr>
        <p:spPr>
          <a:xfrm>
            <a:off x="5297932" y="30368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117" name="pt-1-4"/>
          <p:cNvSpPr/>
          <p:nvPr/>
        </p:nvSpPr>
        <p:spPr>
          <a:xfrm>
            <a:off x="6337300" y="2387600"/>
            <a:ext cx="254000" cy="2540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8" name="ptv-1-4"/>
          <p:cNvSpPr txBox="1"/>
          <p:nvPr/>
        </p:nvSpPr>
        <p:spPr>
          <a:xfrm>
            <a:off x="6390132" y="24272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119" name="pt-1-5"/>
          <p:cNvSpPr/>
          <p:nvPr/>
        </p:nvSpPr>
        <p:spPr>
          <a:xfrm>
            <a:off x="7429500" y="1778000"/>
            <a:ext cx="254000" cy="2540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0" name="ptv-1-5"/>
          <p:cNvSpPr txBox="1"/>
          <p:nvPr/>
        </p:nvSpPr>
        <p:spPr>
          <a:xfrm>
            <a:off x="7482332" y="18176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121" name="nl-1"/>
          <p:cNvSpPr txBox="1"/>
          <p:nvPr/>
        </p:nvSpPr>
        <p:spPr>
          <a:xfrm>
            <a:off x="1536446" y="4246690"/>
            <a:ext cx="3441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我方</a:t>
            </a:r>
          </a:p>
        </p:txBody>
      </p:sp>
      <p:sp>
        <p:nvSpPr>
          <p:cNvPr id="122" name="nr-1"/>
          <p:cNvSpPr txBox="1"/>
          <p:nvPr/>
        </p:nvSpPr>
        <p:spPr>
          <a:xfrm>
            <a:off x="7771384" y="1808290"/>
            <a:ext cx="3441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我方</a:t>
            </a:r>
          </a:p>
        </p:txBody>
      </p:sp>
      <p:sp>
        <p:nvSpPr>
          <p:cNvPr id="123" name="sh-1"/>
          <p:cNvSpPr txBox="1"/>
          <p:nvPr/>
        </p:nvSpPr>
        <p:spPr>
          <a:xfrm>
            <a:off x="8102346" y="181613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24%</a:t>
            </a:r>
          </a:p>
        </p:txBody>
      </p:sp>
      <p:sp>
        <p:nvSpPr>
          <p:cNvPr id="124" name="mv-2022"/>
          <p:cNvSpPr/>
          <p:nvPr/>
        </p:nvSpPr>
        <p:spPr>
          <a:xfrm>
            <a:off x="2908300" y="3340100"/>
            <a:ext cx="558800" cy="190500"/>
          </a:xfrm>
          <a:custGeom>
            <a:avLst/>
            <a:gdLst/>
            <a:ahLst/>
            <a:cxnLst/>
            <a:rect l="0" t="0" r="r" b="b"/>
            <a:pathLst>
              <a:path w="558800" h="190500">
                <a:moveTo>
                  <a:pt x="95250" y="0"/>
                </a:moveTo>
                <a:lnTo>
                  <a:pt x="463550" y="0"/>
                </a:lnTo>
                <a:cubicBezTo>
                  <a:pt x="516128" y="0"/>
                  <a:pt x="558800" y="42672"/>
                  <a:pt x="558800" y="95250"/>
                </a:cubicBezTo>
                <a:lnTo>
                  <a:pt x="558800" y="95250"/>
                </a:lnTo>
                <a:cubicBezTo>
                  <a:pt x="558800" y="147828"/>
                  <a:pt x="516128" y="190500"/>
                  <a:pt x="4635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5" name="mvt-2022"/>
          <p:cNvSpPr txBox="1"/>
          <p:nvPr/>
        </p:nvSpPr>
        <p:spPr>
          <a:xfrm>
            <a:off x="2955766" y="3359737"/>
            <a:ext cx="46386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2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进入华南</a:t>
            </a:r>
          </a:p>
        </p:txBody>
      </p:sp>
      <p:sp>
        <p:nvSpPr>
          <p:cNvPr id="126" name="mv-2023"/>
          <p:cNvSpPr/>
          <p:nvPr/>
        </p:nvSpPr>
        <p:spPr>
          <a:xfrm>
            <a:off x="3762375" y="2730500"/>
            <a:ext cx="1035050" cy="190500"/>
          </a:xfrm>
          <a:custGeom>
            <a:avLst/>
            <a:gdLst/>
            <a:ahLst/>
            <a:cxnLst/>
            <a:rect l="0" t="0" r="r" b="b"/>
            <a:pathLst>
              <a:path w="1035050" h="190500">
                <a:moveTo>
                  <a:pt x="95250" y="0"/>
                </a:moveTo>
                <a:lnTo>
                  <a:pt x="939800" y="0"/>
                </a:lnTo>
                <a:cubicBezTo>
                  <a:pt x="992378" y="0"/>
                  <a:pt x="1035050" y="42672"/>
                  <a:pt x="1035050" y="95250"/>
                </a:cubicBezTo>
                <a:lnTo>
                  <a:pt x="1035050" y="95250"/>
                </a:lnTo>
                <a:cubicBezTo>
                  <a:pt x="1035050" y="147828"/>
                  <a:pt x="992378" y="190500"/>
                  <a:pt x="93980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7" name="mvt-2023"/>
          <p:cNvSpPr txBox="1"/>
          <p:nvPr/>
        </p:nvSpPr>
        <p:spPr>
          <a:xfrm>
            <a:off x="3931380" y="2750137"/>
            <a:ext cx="69704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2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推出 SaaS 版</a:t>
            </a:r>
          </a:p>
        </p:txBody>
      </p:sp>
      <p:sp>
        <p:nvSpPr>
          <p:cNvPr id="128" name="mv-2025"/>
          <p:cNvSpPr/>
          <p:nvPr/>
        </p:nvSpPr>
        <p:spPr>
          <a:xfrm>
            <a:off x="6042025" y="2120900"/>
            <a:ext cx="844550" cy="190500"/>
          </a:xfrm>
          <a:custGeom>
            <a:avLst/>
            <a:gdLst/>
            <a:ahLst/>
            <a:cxnLst/>
            <a:rect l="0" t="0" r="r" b="b"/>
            <a:pathLst>
              <a:path w="844550" h="190500">
                <a:moveTo>
                  <a:pt x="95250" y="0"/>
                </a:moveTo>
                <a:lnTo>
                  <a:pt x="749300" y="0"/>
                </a:lnTo>
                <a:cubicBezTo>
                  <a:pt x="801878" y="0"/>
                  <a:pt x="844550" y="42672"/>
                  <a:pt x="844550" y="95250"/>
                </a:cubicBezTo>
                <a:lnTo>
                  <a:pt x="844550" y="95250"/>
                </a:lnTo>
                <a:cubicBezTo>
                  <a:pt x="844550" y="147828"/>
                  <a:pt x="801878" y="190500"/>
                  <a:pt x="74930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9" name="mvt-2025"/>
          <p:cNvSpPr txBox="1"/>
          <p:nvPr/>
        </p:nvSpPr>
        <p:spPr>
          <a:xfrm>
            <a:off x="6150261" y="2140537"/>
            <a:ext cx="62807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2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AI 功能上线</a:t>
            </a:r>
          </a:p>
        </p:txBody>
      </p:sp>
      <p:sp>
        <p:nvSpPr>
          <p:cNvPr id="130" name="mv-2026"/>
          <p:cNvSpPr/>
          <p:nvPr/>
        </p:nvSpPr>
        <p:spPr>
          <a:xfrm>
            <a:off x="7277100" y="2095500"/>
            <a:ext cx="558800" cy="190500"/>
          </a:xfrm>
          <a:custGeom>
            <a:avLst/>
            <a:gdLst/>
            <a:ahLst/>
            <a:cxnLst/>
            <a:rect l="0" t="0" r="r" b="b"/>
            <a:pathLst>
              <a:path w="558800" h="190500">
                <a:moveTo>
                  <a:pt x="95250" y="0"/>
                </a:moveTo>
                <a:lnTo>
                  <a:pt x="463550" y="0"/>
                </a:lnTo>
                <a:cubicBezTo>
                  <a:pt x="516128" y="0"/>
                  <a:pt x="558800" y="42672"/>
                  <a:pt x="558800" y="95250"/>
                </a:cubicBezTo>
                <a:lnTo>
                  <a:pt x="558800" y="95250"/>
                </a:lnTo>
                <a:cubicBezTo>
                  <a:pt x="558800" y="147828"/>
                  <a:pt x="516128" y="190500"/>
                  <a:pt x="4635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1" name="mvt-2026"/>
          <p:cNvSpPr txBox="1"/>
          <p:nvPr/>
        </p:nvSpPr>
        <p:spPr>
          <a:xfrm>
            <a:off x="7324566" y="2115137"/>
            <a:ext cx="46386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2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海外突破</a:t>
            </a:r>
          </a:p>
        </p:txBody>
      </p:sp>
      <p:sp>
        <p:nvSpPr>
          <p:cNvPr id="132" name="hero"/>
          <p:cNvSpPr/>
          <p:nvPr/>
        </p:nvSpPr>
        <p:spPr>
          <a:xfrm>
            <a:off x="8890000" y="1587500"/>
            <a:ext cx="2349500" cy="1587500"/>
          </a:xfrm>
          <a:custGeom>
            <a:avLst/>
            <a:gdLst/>
            <a:ahLst/>
            <a:cxnLst/>
            <a:rect l="0" t="0" r="r" b="b"/>
            <a:pathLst>
              <a:path w="2349500" h="1587500">
                <a:moveTo>
                  <a:pt x="139700" y="0"/>
                </a:moveTo>
                <a:lnTo>
                  <a:pt x="2209800" y="0"/>
                </a:lnTo>
                <a:cubicBezTo>
                  <a:pt x="2286953" y="0"/>
                  <a:pt x="2349500" y="62548"/>
                  <a:pt x="2349500" y="139700"/>
                </a:cubicBezTo>
                <a:lnTo>
                  <a:pt x="2349500" y="1447800"/>
                </a:lnTo>
                <a:cubicBezTo>
                  <a:pt x="2349500" y="1524952"/>
                  <a:pt x="2286953" y="1587500"/>
                  <a:pt x="2209800" y="1587500"/>
                </a:cubicBezTo>
                <a:lnTo>
                  <a:pt x="139700" y="1587500"/>
                </a:lnTo>
                <a:cubicBezTo>
                  <a:pt x="62547" y="1587500"/>
                  <a:pt x="0" y="1524952"/>
                  <a:pt x="0" y="14478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3" name="hero-h"/>
          <p:cNvSpPr txBox="1"/>
          <p:nvPr/>
        </p:nvSpPr>
        <p:spPr>
          <a:xfrm>
            <a:off x="9078722" y="1755997"/>
            <a:ext cx="629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我方排名</a:t>
            </a:r>
          </a:p>
        </p:txBody>
      </p:sp>
      <p:sp>
        <p:nvSpPr>
          <p:cNvPr id="134" name="hero-a"/>
          <p:cNvSpPr txBox="1"/>
          <p:nvPr/>
        </p:nvSpPr>
        <p:spPr>
          <a:xfrm>
            <a:off x="9038336" y="1924558"/>
            <a:ext cx="667512" cy="8001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600" b="1">
                <a:solidFill>
                  <a:srgbClr val="9CC6F0"/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  <p:sp>
        <p:nvSpPr>
          <p:cNvPr id="135" name="hero-ar"/>
          <p:cNvSpPr txBox="1"/>
          <p:nvPr/>
        </p:nvSpPr>
        <p:spPr>
          <a:xfrm>
            <a:off x="9558020" y="2099310"/>
            <a:ext cx="37084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>
                <a:solidFill>
                  <a:srgbClr val="CFE0F4"/>
                </a:solidFill>
                <a:latin typeface="Arial"/>
                <a:ea typeface="Arial"/>
                <a:cs typeface="Arial"/>
              </a:rPr>
              <a:t>→</a:t>
            </a:r>
          </a:p>
        </p:txBody>
      </p:sp>
      <p:sp>
        <p:nvSpPr>
          <p:cNvPr id="136" name="hero-b"/>
          <p:cNvSpPr txBox="1"/>
          <p:nvPr/>
        </p:nvSpPr>
        <p:spPr>
          <a:xfrm>
            <a:off x="9978136" y="1924558"/>
            <a:ext cx="667512" cy="8001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6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137" name="hero-p"/>
          <p:cNvSpPr txBox="1"/>
          <p:nvPr/>
        </p:nvSpPr>
        <p:spPr>
          <a:xfrm>
            <a:off x="9081008" y="2744724"/>
            <a:ext cx="166776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2026 年市场份额 24%，首次登顶</a:t>
            </a:r>
          </a:p>
        </p:txBody>
      </p:sp>
      <p:sp>
        <p:nvSpPr>
          <p:cNvPr id="138" name="warn"/>
          <p:cNvSpPr/>
          <p:nvPr/>
        </p:nvSpPr>
        <p:spPr>
          <a:xfrm>
            <a:off x="8890000" y="3365500"/>
            <a:ext cx="2349500" cy="1905000"/>
          </a:xfrm>
          <a:custGeom>
            <a:avLst/>
            <a:gdLst/>
            <a:ahLst/>
            <a:cxnLst/>
            <a:rect l="0" t="0" r="r" b="b"/>
            <a:pathLst>
              <a:path w="2349500" h="1905000">
                <a:moveTo>
                  <a:pt x="139700" y="0"/>
                </a:moveTo>
                <a:lnTo>
                  <a:pt x="2209800" y="0"/>
                </a:lnTo>
                <a:cubicBezTo>
                  <a:pt x="2286953" y="0"/>
                  <a:pt x="2349500" y="62548"/>
                  <a:pt x="2349500" y="139700"/>
                </a:cubicBezTo>
                <a:lnTo>
                  <a:pt x="2349500" y="1765300"/>
                </a:lnTo>
                <a:cubicBezTo>
                  <a:pt x="2349500" y="1842452"/>
                  <a:pt x="2286953" y="1905000"/>
                  <a:pt x="2209800" y="1905000"/>
                </a:cubicBezTo>
                <a:lnTo>
                  <a:pt x="139700" y="1905000"/>
                </a:lnTo>
                <a:cubicBezTo>
                  <a:pt x="62547" y="1905000"/>
                  <a:pt x="0" y="1842452"/>
                  <a:pt x="0" y="17653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9" name="warn-bar"/>
          <p:cNvSpPr/>
          <p:nvPr/>
        </p:nvSpPr>
        <p:spPr>
          <a:xfrm>
            <a:off x="8890000" y="3365500"/>
            <a:ext cx="38100" cy="1905000"/>
          </a:xfrm>
          <a:custGeom>
            <a:avLst/>
            <a:gdLst/>
            <a:ahLst/>
            <a:cxnLst/>
            <a:rect l="0" t="0" r="r" b="b"/>
            <a:pathLst>
              <a:path w="38100" h="1905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885950"/>
                </a:lnTo>
                <a:cubicBezTo>
                  <a:pt x="38100" y="1896491"/>
                  <a:pt x="29591" y="1905000"/>
                  <a:pt x="19050" y="1905000"/>
                </a:cubicBezTo>
                <a:lnTo>
                  <a:pt x="19050" y="1905000"/>
                </a:lnTo>
                <a:cubicBezTo>
                  <a:pt x="8509" y="1905000"/>
                  <a:pt x="0" y="1896491"/>
                  <a:pt x="0" y="1885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0" name="warn-h"/>
          <p:cNvSpPr txBox="1"/>
          <p:nvPr/>
        </p:nvSpPr>
        <p:spPr>
          <a:xfrm>
            <a:off x="9077198" y="3492913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需要警惕</a:t>
            </a:r>
          </a:p>
        </p:txBody>
      </p:sp>
      <p:sp>
        <p:nvSpPr>
          <p:cNvPr id="141" name="warn-1"/>
          <p:cNvSpPr txBox="1"/>
          <p:nvPr/>
        </p:nvSpPr>
        <p:spPr>
          <a:xfrm>
            <a:off x="9080246" y="3829082"/>
            <a:ext cx="178955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品牌 A 与我方份额只差 3 个点，</a:t>
            </a:r>
          </a:p>
        </p:txBody>
      </p:sp>
      <p:sp>
        <p:nvSpPr>
          <p:cNvPr id="142" name="warn-2"/>
          <p:cNvSpPr txBox="1"/>
          <p:nvPr/>
        </p:nvSpPr>
        <p:spPr>
          <a:xfrm>
            <a:off x="9080246" y="4044982"/>
            <a:ext cx="141541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且在大客户市场仍然领先；</a:t>
            </a:r>
          </a:p>
        </p:txBody>
      </p:sp>
      <p:sp>
        <p:nvSpPr>
          <p:cNvPr id="143" name="warn-3"/>
          <p:cNvSpPr txBox="1"/>
          <p:nvPr/>
        </p:nvSpPr>
        <p:spPr>
          <a:xfrm>
            <a:off x="9080246" y="4349782"/>
            <a:ext cx="138277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品牌 E 近一年上升一位，</a:t>
            </a:r>
          </a:p>
        </p:txBody>
      </p:sp>
      <p:sp>
        <p:nvSpPr>
          <p:cNvPr id="144" name="warn-4"/>
          <p:cNvSpPr txBox="1"/>
          <p:nvPr/>
        </p:nvSpPr>
        <p:spPr>
          <a:xfrm>
            <a:off x="9080246" y="4565682"/>
            <a:ext cx="152527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低价策略正在吃掉长尾客户。</a:t>
            </a:r>
          </a:p>
        </p:txBody>
      </p:sp>
      <p:sp>
        <p:nvSpPr>
          <p:cNvPr id="145" name="sum"/>
          <p:cNvSpPr/>
          <p:nvPr/>
        </p:nvSpPr>
        <p:spPr>
          <a:xfrm>
            <a:off x="952500" y="5715000"/>
            <a:ext cx="10287000" cy="533400"/>
          </a:xfrm>
          <a:custGeom>
            <a:avLst/>
            <a:gdLst/>
            <a:ahLst/>
            <a:cxnLst/>
            <a:rect l="0" t="0" r="r" b="b"/>
            <a:pathLst>
              <a:path w="10287000" h="5334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31800"/>
                </a:lnTo>
                <a:cubicBezTo>
                  <a:pt x="10287000" y="487934"/>
                  <a:pt x="10241534" y="533400"/>
                  <a:pt x="10185400" y="533400"/>
                </a:cubicBezTo>
                <a:lnTo>
                  <a:pt x="101600" y="533400"/>
                </a:lnTo>
                <a:cubicBezTo>
                  <a:pt x="45466" y="533400"/>
                  <a:pt x="0" y="487934"/>
                  <a:pt x="0" y="431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6" name="sum-bar"/>
          <p:cNvSpPr/>
          <p:nvPr/>
        </p:nvSpPr>
        <p:spPr>
          <a:xfrm>
            <a:off x="952500" y="57150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7" name="sum-h"/>
          <p:cNvSpPr txBox="1"/>
          <p:nvPr/>
        </p:nvSpPr>
        <p:spPr>
          <a:xfrm>
            <a:off x="1141222" y="5883497"/>
            <a:ext cx="5086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下一步</a:t>
            </a:r>
          </a:p>
        </p:txBody>
      </p:sp>
      <p:sp>
        <p:nvSpPr>
          <p:cNvPr id="148" name="sum-p"/>
          <p:cNvSpPr txBox="1"/>
          <p:nvPr/>
        </p:nvSpPr>
        <p:spPr>
          <a:xfrm>
            <a:off x="1891665" y="5895261"/>
            <a:ext cx="42872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守住第一靠大客户：明年把大客户份额从 18% 提到 25%，拉开与品牌 A 的差距。</a:t>
            </a:r>
          </a:p>
        </p:txBody>
      </p:sp>
      <p:cxnSp>
        <p:nvCxnSpPr>
          <p:cNvPr id="149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0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排名变化图 · 六个品牌</a:t>
            </a:r>
          </a:p>
        </p:txBody>
      </p:sp>
      <p:sp>
        <p:nvSpPr>
          <p:cNvPr id="151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7998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Kano 需求分类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99060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KANO MODEL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780399" y="673132"/>
            <a:ext cx="2840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同样是做功能，有的只能避免不满，有的才能带来惊喜</a:t>
            </a:r>
          </a:p>
        </p:txBody>
      </p:sp>
      <p:sp>
        <p:nvSpPr>
          <p:cNvPr id="10" name="q-up"/>
          <p:cNvSpPr/>
          <p:nvPr/>
        </p:nvSpPr>
        <p:spPr>
          <a:xfrm>
            <a:off x="2032000" y="1714500"/>
            <a:ext cx="5080000" cy="1841500"/>
          </a:xfrm>
          <a:custGeom>
            <a:avLst/>
            <a:gdLst/>
            <a:ahLst/>
            <a:cxnLst/>
            <a:rect l="0" t="0" r="r" b="b"/>
            <a:pathLst>
              <a:path w="5080000" h="1841500">
                <a:moveTo>
                  <a:pt x="114300" y="0"/>
                </a:moveTo>
                <a:lnTo>
                  <a:pt x="4965700" y="0"/>
                </a:lnTo>
                <a:cubicBezTo>
                  <a:pt x="5028819" y="0"/>
                  <a:pt x="5080000" y="51181"/>
                  <a:pt x="5080000" y="114300"/>
                </a:cubicBezTo>
                <a:lnTo>
                  <a:pt x="5080000" y="1727200"/>
                </a:lnTo>
                <a:cubicBezTo>
                  <a:pt x="5080000" y="1790319"/>
                  <a:pt x="5028819" y="1841500"/>
                  <a:pt x="4965700" y="1841500"/>
                </a:cubicBezTo>
                <a:lnTo>
                  <a:pt x="114300" y="1841500"/>
                </a:lnTo>
                <a:cubicBezTo>
                  <a:pt x="51181" y="1841500"/>
                  <a:pt x="0" y="1790319"/>
                  <a:pt x="0" y="17272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2E77C2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q-dn"/>
          <p:cNvSpPr/>
          <p:nvPr/>
        </p:nvSpPr>
        <p:spPr>
          <a:xfrm>
            <a:off x="2032000" y="3556000"/>
            <a:ext cx="5080000" cy="1841500"/>
          </a:xfrm>
          <a:custGeom>
            <a:avLst/>
            <a:gdLst/>
            <a:ahLst/>
            <a:cxnLst/>
            <a:rect l="0" t="0" r="r" b="b"/>
            <a:pathLst>
              <a:path w="5080000" h="1841500">
                <a:moveTo>
                  <a:pt x="114300" y="0"/>
                </a:moveTo>
                <a:lnTo>
                  <a:pt x="4965700" y="0"/>
                </a:lnTo>
                <a:cubicBezTo>
                  <a:pt x="5028819" y="0"/>
                  <a:pt x="5080000" y="51181"/>
                  <a:pt x="5080000" y="114300"/>
                </a:cubicBezTo>
                <a:lnTo>
                  <a:pt x="5080000" y="1727200"/>
                </a:lnTo>
                <a:cubicBezTo>
                  <a:pt x="5080000" y="1790319"/>
                  <a:pt x="5028819" y="1841500"/>
                  <a:pt x="4965700" y="1841500"/>
                </a:cubicBezTo>
                <a:lnTo>
                  <a:pt x="114300" y="1841500"/>
                </a:lnTo>
                <a:cubicBezTo>
                  <a:pt x="51181" y="1841500"/>
                  <a:pt x="0" y="1790319"/>
                  <a:pt x="0" y="17272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E0703A">
              <a:alpha val="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2" name="ax-x"/>
          <p:cNvCxnSpPr/>
          <p:nvPr/>
        </p:nvCxnSpPr>
        <p:spPr>
          <a:xfrm>
            <a:off x="1968500" y="3556000"/>
            <a:ext cx="5308600" cy="0"/>
          </a:xfrm>
          <a:prstGeom prst="line">
            <a:avLst/>
          </a:prstGeom>
          <a:ln w="12700" cap="rnd">
            <a:solidFill>
              <a:srgbClr val="0B2545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ax-xa"/>
          <p:cNvSpPr/>
          <p:nvPr/>
        </p:nvSpPr>
        <p:spPr>
          <a:xfrm>
            <a:off x="7213600" y="3505200"/>
            <a:ext cx="88900" cy="101600"/>
          </a:xfrm>
          <a:custGeom>
            <a:avLst/>
            <a:gdLst/>
            <a:ahLst/>
            <a:cxnLst/>
            <a:rect l="0" t="0" r="r" b="b"/>
            <a:pathLst>
              <a:path w="88900" h="101600">
                <a:moveTo>
                  <a:pt x="0" y="0"/>
                </a:moveTo>
                <a:lnTo>
                  <a:pt x="88900" y="50800"/>
                </a:lnTo>
                <a:lnTo>
                  <a:pt x="0" y="101600"/>
                </a:lnTo>
                <a:close/>
              </a:path>
            </a:pathLst>
          </a:custGeom>
          <a:solidFill>
            <a:srgbClr val="0B2545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4" name="ax-y"/>
          <p:cNvCxnSpPr/>
          <p:nvPr/>
        </p:nvCxnSpPr>
        <p:spPr>
          <a:xfrm flipV="1">
            <a:off x="4572000" y="1549400"/>
            <a:ext cx="0" cy="3911600"/>
          </a:xfrm>
          <a:prstGeom prst="line">
            <a:avLst/>
          </a:prstGeom>
          <a:ln w="12700" cap="rnd">
            <a:solidFill>
              <a:srgbClr val="0B2545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ax-ya"/>
          <p:cNvSpPr/>
          <p:nvPr/>
        </p:nvSpPr>
        <p:spPr>
          <a:xfrm>
            <a:off x="4521200" y="1524000"/>
            <a:ext cx="101600" cy="88900"/>
          </a:xfrm>
          <a:custGeom>
            <a:avLst/>
            <a:gdLst/>
            <a:ahLst/>
            <a:cxnLst/>
            <a:rect l="0" t="0" r="r" b="b"/>
            <a:pathLst>
              <a:path w="101600" h="88900">
                <a:moveTo>
                  <a:pt x="0" y="88900"/>
                </a:moveTo>
                <a:lnTo>
                  <a:pt x="50800" y="0"/>
                </a:lnTo>
                <a:lnTo>
                  <a:pt x="101600" y="88900"/>
                </a:lnTo>
                <a:close/>
              </a:path>
            </a:pathLst>
          </a:custGeom>
          <a:solidFill>
            <a:srgbClr val="0B2545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ax-y1"/>
          <p:cNvSpPr txBox="1"/>
          <p:nvPr/>
        </p:nvSpPr>
        <p:spPr>
          <a:xfrm>
            <a:off x="4661408" y="1500124"/>
            <a:ext cx="5359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75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用户满意</a:t>
            </a:r>
          </a:p>
        </p:txBody>
      </p:sp>
      <p:sp>
        <p:nvSpPr>
          <p:cNvPr id="17" name="ax-y2"/>
          <p:cNvSpPr txBox="1"/>
          <p:nvPr/>
        </p:nvSpPr>
        <p:spPr>
          <a:xfrm>
            <a:off x="4661408" y="5259324"/>
            <a:ext cx="5359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7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用户不满</a:t>
            </a:r>
          </a:p>
        </p:txBody>
      </p:sp>
      <p:sp>
        <p:nvSpPr>
          <p:cNvPr id="18" name="ax-x2"/>
          <p:cNvSpPr txBox="1"/>
          <p:nvPr/>
        </p:nvSpPr>
        <p:spPr>
          <a:xfrm>
            <a:off x="6651752" y="3646424"/>
            <a:ext cx="5359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7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充分具备</a:t>
            </a:r>
          </a:p>
        </p:txBody>
      </p:sp>
      <p:sp>
        <p:nvSpPr>
          <p:cNvPr id="19" name="ax-x1"/>
          <p:cNvSpPr txBox="1"/>
          <p:nvPr/>
        </p:nvSpPr>
        <p:spPr>
          <a:xfrm>
            <a:off x="2057908" y="3646424"/>
            <a:ext cx="647065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7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完全不具备</a:t>
            </a:r>
          </a:p>
        </p:txBody>
      </p:sp>
      <p:sp>
        <p:nvSpPr>
          <p:cNvPr id="20" name="ax-xl"/>
          <p:cNvSpPr txBox="1"/>
          <p:nvPr/>
        </p:nvSpPr>
        <p:spPr>
          <a:xfrm>
            <a:off x="2059432" y="1795208"/>
            <a:ext cx="7637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功能实现程度 →</a:t>
            </a:r>
          </a:p>
        </p:txBody>
      </p:sp>
      <p:sp>
        <p:nvSpPr>
          <p:cNvPr id="21" name="cv-1"/>
          <p:cNvSpPr/>
          <p:nvPr/>
        </p:nvSpPr>
        <p:spPr>
          <a:xfrm>
            <a:off x="2032000" y="1714500"/>
            <a:ext cx="5080000" cy="1826324"/>
          </a:xfrm>
          <a:custGeom>
            <a:avLst/>
            <a:gdLst/>
            <a:ahLst/>
            <a:cxnLst/>
            <a:rect l="0" t="0" r="r" b="b"/>
            <a:pathLst>
              <a:path w="5080000" h="1826324">
                <a:moveTo>
                  <a:pt x="0" y="1826324"/>
                </a:moveTo>
                <a:cubicBezTo>
                  <a:pt x="21145" y="1826006"/>
                  <a:pt x="84645" y="1825117"/>
                  <a:pt x="127000" y="1824418"/>
                </a:cubicBezTo>
                <a:cubicBezTo>
                  <a:pt x="169355" y="1823720"/>
                  <a:pt x="211645" y="1823022"/>
                  <a:pt x="254000" y="1822260"/>
                </a:cubicBezTo>
                <a:cubicBezTo>
                  <a:pt x="296355" y="1821434"/>
                  <a:pt x="338645" y="1820672"/>
                  <a:pt x="381000" y="1819783"/>
                </a:cubicBezTo>
                <a:cubicBezTo>
                  <a:pt x="423355" y="1818894"/>
                  <a:pt x="465645" y="1818005"/>
                  <a:pt x="508000" y="1816989"/>
                </a:cubicBezTo>
                <a:cubicBezTo>
                  <a:pt x="550355" y="1816036"/>
                  <a:pt x="592645" y="1815021"/>
                  <a:pt x="635000" y="1813877"/>
                </a:cubicBezTo>
                <a:cubicBezTo>
                  <a:pt x="677355" y="1812798"/>
                  <a:pt x="719645" y="1811591"/>
                  <a:pt x="762000" y="1810385"/>
                </a:cubicBezTo>
                <a:cubicBezTo>
                  <a:pt x="804355" y="1809115"/>
                  <a:pt x="846645" y="1807782"/>
                  <a:pt x="889000" y="1806385"/>
                </a:cubicBezTo>
                <a:cubicBezTo>
                  <a:pt x="931355" y="1804988"/>
                  <a:pt x="973645" y="1803527"/>
                  <a:pt x="1016000" y="1801940"/>
                </a:cubicBezTo>
                <a:cubicBezTo>
                  <a:pt x="1058354" y="1800352"/>
                  <a:pt x="1100646" y="1798638"/>
                  <a:pt x="1143000" y="1796860"/>
                </a:cubicBezTo>
                <a:cubicBezTo>
                  <a:pt x="1185354" y="1795082"/>
                  <a:pt x="1227646" y="1793176"/>
                  <a:pt x="1270000" y="1791208"/>
                </a:cubicBezTo>
                <a:cubicBezTo>
                  <a:pt x="1312354" y="1789176"/>
                  <a:pt x="1354646" y="1787017"/>
                  <a:pt x="1397000" y="1784795"/>
                </a:cubicBezTo>
                <a:cubicBezTo>
                  <a:pt x="1439354" y="1782509"/>
                  <a:pt x="1481646" y="1780096"/>
                  <a:pt x="1524000" y="1777555"/>
                </a:cubicBezTo>
                <a:cubicBezTo>
                  <a:pt x="1566354" y="1774952"/>
                  <a:pt x="1608646" y="1772285"/>
                  <a:pt x="1651000" y="1769364"/>
                </a:cubicBezTo>
                <a:cubicBezTo>
                  <a:pt x="1693354" y="1766507"/>
                  <a:pt x="1735646" y="1763459"/>
                  <a:pt x="1778000" y="1760157"/>
                </a:cubicBezTo>
                <a:cubicBezTo>
                  <a:pt x="1820354" y="1756918"/>
                  <a:pt x="1862646" y="1753489"/>
                  <a:pt x="1905000" y="1749806"/>
                </a:cubicBezTo>
                <a:cubicBezTo>
                  <a:pt x="1947354" y="1746123"/>
                  <a:pt x="1989646" y="1742250"/>
                  <a:pt x="2032000" y="1738122"/>
                </a:cubicBezTo>
                <a:cubicBezTo>
                  <a:pt x="2074354" y="1733995"/>
                  <a:pt x="2116646" y="1729613"/>
                  <a:pt x="2159000" y="1724977"/>
                </a:cubicBezTo>
                <a:cubicBezTo>
                  <a:pt x="2201354" y="1720278"/>
                  <a:pt x="2243646" y="1715389"/>
                  <a:pt x="2286000" y="1710118"/>
                </a:cubicBezTo>
                <a:cubicBezTo>
                  <a:pt x="2328354" y="1704848"/>
                  <a:pt x="2370646" y="1699260"/>
                  <a:pt x="2413000" y="1693354"/>
                </a:cubicBezTo>
                <a:cubicBezTo>
                  <a:pt x="2455354" y="1687386"/>
                  <a:pt x="2497646" y="1681162"/>
                  <a:pt x="2540000" y="1674432"/>
                </a:cubicBezTo>
                <a:cubicBezTo>
                  <a:pt x="2582354" y="1667764"/>
                  <a:pt x="2624646" y="1660715"/>
                  <a:pt x="2667000" y="1653159"/>
                </a:cubicBezTo>
                <a:cubicBezTo>
                  <a:pt x="2709354" y="1645602"/>
                  <a:pt x="2751646" y="1637665"/>
                  <a:pt x="2794000" y="1629156"/>
                </a:cubicBezTo>
                <a:cubicBezTo>
                  <a:pt x="2836354" y="1620584"/>
                  <a:pt x="2878646" y="1611630"/>
                  <a:pt x="2921000" y="1602041"/>
                </a:cubicBezTo>
                <a:cubicBezTo>
                  <a:pt x="2963354" y="1592453"/>
                  <a:pt x="3005646" y="1582357"/>
                  <a:pt x="3048000" y="1571498"/>
                </a:cubicBezTo>
                <a:cubicBezTo>
                  <a:pt x="3090354" y="1560703"/>
                  <a:pt x="3132646" y="1549336"/>
                  <a:pt x="3175000" y="1537081"/>
                </a:cubicBezTo>
                <a:cubicBezTo>
                  <a:pt x="3217354" y="1524889"/>
                  <a:pt x="3259646" y="1512062"/>
                  <a:pt x="3302000" y="1498282"/>
                </a:cubicBezTo>
                <a:cubicBezTo>
                  <a:pt x="3344354" y="1484503"/>
                  <a:pt x="3386646" y="1470025"/>
                  <a:pt x="3429000" y="1454531"/>
                </a:cubicBezTo>
                <a:cubicBezTo>
                  <a:pt x="3471354" y="1439037"/>
                  <a:pt x="3513646" y="1422718"/>
                  <a:pt x="3556000" y="1405192"/>
                </a:cubicBezTo>
                <a:cubicBezTo>
                  <a:pt x="3598354" y="1387729"/>
                  <a:pt x="3640646" y="1369314"/>
                  <a:pt x="3683000" y="1349565"/>
                </a:cubicBezTo>
                <a:cubicBezTo>
                  <a:pt x="3725354" y="1329817"/>
                  <a:pt x="3767646" y="1309116"/>
                  <a:pt x="3810000" y="1286827"/>
                </a:cubicBezTo>
                <a:cubicBezTo>
                  <a:pt x="3852354" y="1264602"/>
                  <a:pt x="3894646" y="1241235"/>
                  <a:pt x="3937000" y="1216152"/>
                </a:cubicBezTo>
                <a:cubicBezTo>
                  <a:pt x="3979354" y="1191070"/>
                  <a:pt x="4021646" y="1164654"/>
                  <a:pt x="4064000" y="1136396"/>
                </a:cubicBezTo>
                <a:cubicBezTo>
                  <a:pt x="4106354" y="1108138"/>
                  <a:pt x="4148646" y="1078357"/>
                  <a:pt x="4191000" y="1046480"/>
                </a:cubicBezTo>
                <a:cubicBezTo>
                  <a:pt x="4233354" y="1014603"/>
                  <a:pt x="4275646" y="981075"/>
                  <a:pt x="4318000" y="945134"/>
                </a:cubicBezTo>
                <a:cubicBezTo>
                  <a:pt x="4360354" y="909193"/>
                  <a:pt x="4402646" y="871411"/>
                  <a:pt x="4445000" y="830834"/>
                </a:cubicBezTo>
                <a:cubicBezTo>
                  <a:pt x="4487354" y="790321"/>
                  <a:pt x="4529646" y="747712"/>
                  <a:pt x="4572000" y="701993"/>
                </a:cubicBezTo>
                <a:cubicBezTo>
                  <a:pt x="4614354" y="656336"/>
                  <a:pt x="4656646" y="608267"/>
                  <a:pt x="4699000" y="556705"/>
                </a:cubicBezTo>
                <a:cubicBezTo>
                  <a:pt x="4741354" y="505206"/>
                  <a:pt x="4783646" y="450977"/>
                  <a:pt x="4826000" y="392938"/>
                </a:cubicBezTo>
                <a:cubicBezTo>
                  <a:pt x="4868354" y="334836"/>
                  <a:pt x="4910646" y="273749"/>
                  <a:pt x="4953000" y="208217"/>
                </a:cubicBezTo>
                <a:cubicBezTo>
                  <a:pt x="4995354" y="142748"/>
                  <a:pt x="5058854" y="34735"/>
                  <a:pt x="5080000" y="0"/>
                </a:cubicBezTo>
              </a:path>
            </a:pathLst>
          </a:custGeom>
          <a:noFill/>
          <a:ln w="3175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cvl-1"/>
          <p:cNvSpPr txBox="1"/>
          <p:nvPr/>
        </p:nvSpPr>
        <p:spPr>
          <a:xfrm>
            <a:off x="7186422" y="1463897"/>
            <a:ext cx="5086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兴奋型</a:t>
            </a:r>
          </a:p>
        </p:txBody>
      </p:sp>
      <p:sp>
        <p:nvSpPr>
          <p:cNvPr id="23" name="ft-1-1"/>
          <p:cNvSpPr/>
          <p:nvPr/>
        </p:nvSpPr>
        <p:spPr>
          <a:xfrm>
            <a:off x="6483350" y="2400064"/>
            <a:ext cx="139700" cy="1397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0B3E8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ftb-1-1"/>
          <p:cNvSpPr/>
          <p:nvPr/>
        </p:nvSpPr>
        <p:spPr>
          <a:xfrm>
            <a:off x="6667500" y="2374646"/>
            <a:ext cx="889000" cy="190500"/>
          </a:xfrm>
          <a:custGeom>
            <a:avLst/>
            <a:gdLst/>
            <a:ahLst/>
            <a:cxnLst/>
            <a:rect l="0" t="0" r="r" b="b"/>
            <a:pathLst>
              <a:path w="889000" h="190500">
                <a:moveTo>
                  <a:pt x="95250" y="0"/>
                </a:moveTo>
                <a:lnTo>
                  <a:pt x="793750" y="0"/>
                </a:lnTo>
                <a:cubicBezTo>
                  <a:pt x="846328" y="0"/>
                  <a:pt x="889000" y="42672"/>
                  <a:pt x="889000" y="95250"/>
                </a:cubicBezTo>
                <a:lnTo>
                  <a:pt x="889000" y="95250"/>
                </a:lnTo>
                <a:cubicBezTo>
                  <a:pt x="889000" y="147892"/>
                  <a:pt x="846328" y="190500"/>
                  <a:pt x="793750" y="190500"/>
                </a:cubicBezTo>
                <a:lnTo>
                  <a:pt x="95250" y="190500"/>
                </a:lnTo>
                <a:cubicBezTo>
                  <a:pt x="42672" y="190500"/>
                  <a:pt x="0" y="147892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ftt-1-1"/>
          <p:cNvSpPr txBox="1"/>
          <p:nvPr/>
        </p:nvSpPr>
        <p:spPr>
          <a:xfrm>
            <a:off x="6789738" y="2390380"/>
            <a:ext cx="6445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AI 一键生成</a:t>
            </a:r>
          </a:p>
        </p:txBody>
      </p:sp>
      <p:sp>
        <p:nvSpPr>
          <p:cNvPr id="26" name="ft-1-2"/>
          <p:cNvSpPr/>
          <p:nvPr/>
        </p:nvSpPr>
        <p:spPr>
          <a:xfrm>
            <a:off x="5391150" y="3099184"/>
            <a:ext cx="139700" cy="1397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0B3E8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ftb-1-2"/>
          <p:cNvSpPr/>
          <p:nvPr/>
        </p:nvSpPr>
        <p:spPr>
          <a:xfrm>
            <a:off x="5575300" y="3073781"/>
            <a:ext cx="584200" cy="190500"/>
          </a:xfrm>
          <a:custGeom>
            <a:avLst/>
            <a:gdLst/>
            <a:ahLst/>
            <a:cxnLst/>
            <a:rect l="0" t="0" r="r" b="b"/>
            <a:pathLst>
              <a:path w="584200" h="190500">
                <a:moveTo>
                  <a:pt x="95250" y="0"/>
                </a:moveTo>
                <a:lnTo>
                  <a:pt x="488950" y="0"/>
                </a:lnTo>
                <a:cubicBezTo>
                  <a:pt x="541528" y="0"/>
                  <a:pt x="584200" y="42672"/>
                  <a:pt x="584200" y="95250"/>
                </a:cubicBezTo>
                <a:lnTo>
                  <a:pt x="584200" y="95250"/>
                </a:lnTo>
                <a:cubicBezTo>
                  <a:pt x="584200" y="147892"/>
                  <a:pt x="541528" y="190500"/>
                  <a:pt x="488950" y="190500"/>
                </a:cubicBezTo>
                <a:lnTo>
                  <a:pt x="95250" y="190500"/>
                </a:lnTo>
                <a:cubicBezTo>
                  <a:pt x="42672" y="190500"/>
                  <a:pt x="0" y="147892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ftt-1-2"/>
          <p:cNvSpPr txBox="1"/>
          <p:nvPr/>
        </p:nvSpPr>
        <p:spPr>
          <a:xfrm>
            <a:off x="5628958" y="3089501"/>
            <a:ext cx="4768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智能配色</a:t>
            </a:r>
          </a:p>
        </p:txBody>
      </p:sp>
      <p:sp>
        <p:nvSpPr>
          <p:cNvPr id="29" name="cv-2"/>
          <p:cNvSpPr/>
          <p:nvPr/>
        </p:nvSpPr>
        <p:spPr>
          <a:xfrm>
            <a:off x="2032000" y="1898650"/>
            <a:ext cx="5080000" cy="3314700"/>
          </a:xfrm>
          <a:custGeom>
            <a:avLst/>
            <a:gdLst/>
            <a:ahLst/>
            <a:cxnLst/>
            <a:rect l="0" t="0" r="r" b="b"/>
            <a:pathLst>
              <a:path w="5080000" h="3314700">
                <a:moveTo>
                  <a:pt x="0" y="3314700"/>
                </a:moveTo>
                <a:cubicBezTo>
                  <a:pt x="21145" y="3300921"/>
                  <a:pt x="84645" y="3259455"/>
                  <a:pt x="127000" y="3231833"/>
                </a:cubicBezTo>
                <a:cubicBezTo>
                  <a:pt x="169355" y="3204210"/>
                  <a:pt x="211645" y="3176588"/>
                  <a:pt x="254000" y="3148965"/>
                </a:cubicBezTo>
                <a:cubicBezTo>
                  <a:pt x="296355" y="3121342"/>
                  <a:pt x="338645" y="3093720"/>
                  <a:pt x="381000" y="3066098"/>
                </a:cubicBezTo>
                <a:cubicBezTo>
                  <a:pt x="423355" y="3038475"/>
                  <a:pt x="465645" y="3010852"/>
                  <a:pt x="508000" y="2983230"/>
                </a:cubicBezTo>
                <a:cubicBezTo>
                  <a:pt x="550355" y="2955608"/>
                  <a:pt x="592645" y="2927985"/>
                  <a:pt x="635000" y="2900362"/>
                </a:cubicBezTo>
                <a:cubicBezTo>
                  <a:pt x="677355" y="2872740"/>
                  <a:pt x="719645" y="2845117"/>
                  <a:pt x="762000" y="2817495"/>
                </a:cubicBezTo>
                <a:cubicBezTo>
                  <a:pt x="804355" y="2789872"/>
                  <a:pt x="846645" y="2762250"/>
                  <a:pt x="889000" y="2734628"/>
                </a:cubicBezTo>
                <a:cubicBezTo>
                  <a:pt x="931355" y="2707005"/>
                  <a:pt x="973645" y="2679383"/>
                  <a:pt x="1016000" y="2651760"/>
                </a:cubicBezTo>
                <a:cubicBezTo>
                  <a:pt x="1058354" y="2624138"/>
                  <a:pt x="1100646" y="2596515"/>
                  <a:pt x="1143000" y="2568892"/>
                </a:cubicBezTo>
                <a:cubicBezTo>
                  <a:pt x="1185354" y="2541270"/>
                  <a:pt x="1227646" y="2513648"/>
                  <a:pt x="1270000" y="2486025"/>
                </a:cubicBezTo>
                <a:cubicBezTo>
                  <a:pt x="1312354" y="2458402"/>
                  <a:pt x="1354646" y="2430780"/>
                  <a:pt x="1397000" y="2403158"/>
                </a:cubicBezTo>
                <a:cubicBezTo>
                  <a:pt x="1439354" y="2375535"/>
                  <a:pt x="1481646" y="2347912"/>
                  <a:pt x="1524000" y="2320290"/>
                </a:cubicBezTo>
                <a:cubicBezTo>
                  <a:pt x="1566354" y="2292667"/>
                  <a:pt x="1608646" y="2265045"/>
                  <a:pt x="1651000" y="2237422"/>
                </a:cubicBezTo>
                <a:cubicBezTo>
                  <a:pt x="1693354" y="2209800"/>
                  <a:pt x="1735646" y="2182178"/>
                  <a:pt x="1778000" y="2154555"/>
                </a:cubicBezTo>
                <a:cubicBezTo>
                  <a:pt x="1820354" y="2126933"/>
                  <a:pt x="1862646" y="2099310"/>
                  <a:pt x="1905000" y="2071688"/>
                </a:cubicBezTo>
                <a:cubicBezTo>
                  <a:pt x="1947354" y="2044065"/>
                  <a:pt x="1989646" y="2016442"/>
                  <a:pt x="2032000" y="1988820"/>
                </a:cubicBezTo>
                <a:cubicBezTo>
                  <a:pt x="2074354" y="1961198"/>
                  <a:pt x="2116646" y="1933575"/>
                  <a:pt x="2159000" y="1905952"/>
                </a:cubicBezTo>
                <a:cubicBezTo>
                  <a:pt x="2201354" y="1878330"/>
                  <a:pt x="2243646" y="1850708"/>
                  <a:pt x="2286000" y="1823085"/>
                </a:cubicBezTo>
                <a:cubicBezTo>
                  <a:pt x="2328354" y="1795462"/>
                  <a:pt x="2370646" y="1767840"/>
                  <a:pt x="2413000" y="1740217"/>
                </a:cubicBezTo>
                <a:cubicBezTo>
                  <a:pt x="2455354" y="1712595"/>
                  <a:pt x="2497646" y="1684973"/>
                  <a:pt x="2540000" y="1657350"/>
                </a:cubicBezTo>
                <a:cubicBezTo>
                  <a:pt x="2582354" y="1629727"/>
                  <a:pt x="2624646" y="1602105"/>
                  <a:pt x="2667000" y="1574483"/>
                </a:cubicBezTo>
                <a:cubicBezTo>
                  <a:pt x="2709354" y="1546860"/>
                  <a:pt x="2751646" y="1519238"/>
                  <a:pt x="2794000" y="1491615"/>
                </a:cubicBezTo>
                <a:cubicBezTo>
                  <a:pt x="2836354" y="1463992"/>
                  <a:pt x="2878646" y="1436370"/>
                  <a:pt x="2921000" y="1408748"/>
                </a:cubicBezTo>
                <a:cubicBezTo>
                  <a:pt x="2963354" y="1381125"/>
                  <a:pt x="3005646" y="1353502"/>
                  <a:pt x="3048000" y="1325880"/>
                </a:cubicBezTo>
                <a:cubicBezTo>
                  <a:pt x="3090354" y="1298258"/>
                  <a:pt x="3132646" y="1270635"/>
                  <a:pt x="3175000" y="1243012"/>
                </a:cubicBezTo>
                <a:cubicBezTo>
                  <a:pt x="3217354" y="1215390"/>
                  <a:pt x="3259646" y="1187768"/>
                  <a:pt x="3302000" y="1160145"/>
                </a:cubicBezTo>
                <a:cubicBezTo>
                  <a:pt x="3344354" y="1132523"/>
                  <a:pt x="3386646" y="1104900"/>
                  <a:pt x="3429000" y="1077277"/>
                </a:cubicBezTo>
                <a:cubicBezTo>
                  <a:pt x="3471354" y="1049655"/>
                  <a:pt x="3513646" y="1022032"/>
                  <a:pt x="3556000" y="994410"/>
                </a:cubicBezTo>
                <a:cubicBezTo>
                  <a:pt x="3598354" y="966788"/>
                  <a:pt x="3640646" y="939165"/>
                  <a:pt x="3683000" y="911543"/>
                </a:cubicBezTo>
                <a:cubicBezTo>
                  <a:pt x="3725354" y="883920"/>
                  <a:pt x="3767646" y="856298"/>
                  <a:pt x="3810000" y="828675"/>
                </a:cubicBezTo>
                <a:cubicBezTo>
                  <a:pt x="3852354" y="801052"/>
                  <a:pt x="3894646" y="773430"/>
                  <a:pt x="3937000" y="745807"/>
                </a:cubicBezTo>
                <a:cubicBezTo>
                  <a:pt x="3979354" y="718185"/>
                  <a:pt x="4021646" y="690562"/>
                  <a:pt x="4064000" y="662940"/>
                </a:cubicBezTo>
                <a:cubicBezTo>
                  <a:pt x="4106354" y="635318"/>
                  <a:pt x="4148646" y="607695"/>
                  <a:pt x="4191000" y="580073"/>
                </a:cubicBezTo>
                <a:cubicBezTo>
                  <a:pt x="4233354" y="552450"/>
                  <a:pt x="4275646" y="524827"/>
                  <a:pt x="4318000" y="497205"/>
                </a:cubicBezTo>
                <a:cubicBezTo>
                  <a:pt x="4360354" y="469582"/>
                  <a:pt x="4402646" y="441960"/>
                  <a:pt x="4445000" y="414338"/>
                </a:cubicBezTo>
                <a:cubicBezTo>
                  <a:pt x="4487354" y="386715"/>
                  <a:pt x="4529646" y="359093"/>
                  <a:pt x="4572000" y="331470"/>
                </a:cubicBezTo>
                <a:cubicBezTo>
                  <a:pt x="4614354" y="303848"/>
                  <a:pt x="4656646" y="276225"/>
                  <a:pt x="4699000" y="248602"/>
                </a:cubicBezTo>
                <a:cubicBezTo>
                  <a:pt x="4741354" y="220980"/>
                  <a:pt x="4783646" y="193357"/>
                  <a:pt x="4826000" y="165735"/>
                </a:cubicBezTo>
                <a:cubicBezTo>
                  <a:pt x="4868354" y="138112"/>
                  <a:pt x="4910646" y="110490"/>
                  <a:pt x="4953000" y="82868"/>
                </a:cubicBezTo>
                <a:cubicBezTo>
                  <a:pt x="4995354" y="55245"/>
                  <a:pt x="5058854" y="13843"/>
                  <a:pt x="5080000" y="0"/>
                </a:cubicBezTo>
              </a:path>
            </a:pathLst>
          </a:custGeom>
          <a:noFill/>
          <a:ln w="3175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cvl-2"/>
          <p:cNvSpPr txBox="1"/>
          <p:nvPr/>
        </p:nvSpPr>
        <p:spPr>
          <a:xfrm>
            <a:off x="7186422" y="1648047"/>
            <a:ext cx="5086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期望型</a:t>
            </a:r>
          </a:p>
        </p:txBody>
      </p:sp>
      <p:sp>
        <p:nvSpPr>
          <p:cNvPr id="31" name="ft-2-1"/>
          <p:cNvSpPr/>
          <p:nvPr/>
        </p:nvSpPr>
        <p:spPr>
          <a:xfrm>
            <a:off x="5899150" y="2574608"/>
            <a:ext cx="139700" cy="1397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3985CD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ftb-2-1"/>
          <p:cNvSpPr/>
          <p:nvPr/>
        </p:nvSpPr>
        <p:spPr>
          <a:xfrm>
            <a:off x="5676900" y="2365058"/>
            <a:ext cx="584200" cy="190500"/>
          </a:xfrm>
          <a:custGeom>
            <a:avLst/>
            <a:gdLst/>
            <a:ahLst/>
            <a:cxnLst/>
            <a:rect l="0" t="0" r="r" b="b"/>
            <a:pathLst>
              <a:path w="584200" h="190500">
                <a:moveTo>
                  <a:pt x="95250" y="0"/>
                </a:moveTo>
                <a:lnTo>
                  <a:pt x="488950" y="0"/>
                </a:lnTo>
                <a:cubicBezTo>
                  <a:pt x="541528" y="0"/>
                  <a:pt x="584200" y="42672"/>
                  <a:pt x="584200" y="95250"/>
                </a:cubicBezTo>
                <a:lnTo>
                  <a:pt x="584200" y="95250"/>
                </a:lnTo>
                <a:cubicBezTo>
                  <a:pt x="584200" y="147828"/>
                  <a:pt x="541528" y="190500"/>
                  <a:pt x="4889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3985CD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ftt-2-1"/>
          <p:cNvSpPr txBox="1"/>
          <p:nvPr/>
        </p:nvSpPr>
        <p:spPr>
          <a:xfrm>
            <a:off x="5730558" y="2380774"/>
            <a:ext cx="4768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加载速度</a:t>
            </a:r>
          </a:p>
        </p:txBody>
      </p:sp>
      <p:sp>
        <p:nvSpPr>
          <p:cNvPr id="34" name="ft-2-2"/>
          <p:cNvSpPr/>
          <p:nvPr/>
        </p:nvSpPr>
        <p:spPr>
          <a:xfrm>
            <a:off x="4248150" y="3651885"/>
            <a:ext cx="139700" cy="1397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3985CD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ftb-2-2"/>
          <p:cNvSpPr/>
          <p:nvPr/>
        </p:nvSpPr>
        <p:spPr>
          <a:xfrm>
            <a:off x="4025900" y="3848735"/>
            <a:ext cx="584200" cy="190500"/>
          </a:xfrm>
          <a:custGeom>
            <a:avLst/>
            <a:gdLst/>
            <a:ahLst/>
            <a:cxnLst/>
            <a:rect l="0" t="0" r="r" b="b"/>
            <a:pathLst>
              <a:path w="584200" h="190500">
                <a:moveTo>
                  <a:pt x="95250" y="0"/>
                </a:moveTo>
                <a:lnTo>
                  <a:pt x="488950" y="0"/>
                </a:lnTo>
                <a:cubicBezTo>
                  <a:pt x="541528" y="0"/>
                  <a:pt x="584200" y="42672"/>
                  <a:pt x="584200" y="95250"/>
                </a:cubicBezTo>
                <a:lnTo>
                  <a:pt x="584200" y="95250"/>
                </a:lnTo>
                <a:cubicBezTo>
                  <a:pt x="584200" y="147828"/>
                  <a:pt x="541528" y="190500"/>
                  <a:pt x="4889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3985CD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ftt-2-2"/>
          <p:cNvSpPr txBox="1"/>
          <p:nvPr/>
        </p:nvSpPr>
        <p:spPr>
          <a:xfrm>
            <a:off x="4079558" y="3864451"/>
            <a:ext cx="4768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模板数量</a:t>
            </a:r>
          </a:p>
        </p:txBody>
      </p:sp>
      <p:sp>
        <p:nvSpPr>
          <p:cNvPr id="37" name="cv-3"/>
          <p:cNvSpPr/>
          <p:nvPr/>
        </p:nvSpPr>
        <p:spPr>
          <a:xfrm>
            <a:off x="2032000" y="3571176"/>
            <a:ext cx="5080000" cy="1826324"/>
          </a:xfrm>
          <a:custGeom>
            <a:avLst/>
            <a:gdLst/>
            <a:ahLst/>
            <a:cxnLst/>
            <a:rect l="0" t="0" r="r" b="b"/>
            <a:pathLst>
              <a:path w="5080000" h="1826324">
                <a:moveTo>
                  <a:pt x="0" y="1826324"/>
                </a:moveTo>
                <a:cubicBezTo>
                  <a:pt x="21145" y="1791589"/>
                  <a:pt x="84645" y="1683576"/>
                  <a:pt x="127000" y="1618107"/>
                </a:cubicBezTo>
                <a:cubicBezTo>
                  <a:pt x="169355" y="1552575"/>
                  <a:pt x="211645" y="1491488"/>
                  <a:pt x="254000" y="1433386"/>
                </a:cubicBezTo>
                <a:cubicBezTo>
                  <a:pt x="296355" y="1375347"/>
                  <a:pt x="338645" y="1321118"/>
                  <a:pt x="381000" y="1269619"/>
                </a:cubicBezTo>
                <a:cubicBezTo>
                  <a:pt x="423355" y="1218057"/>
                  <a:pt x="465645" y="1169988"/>
                  <a:pt x="508000" y="1124331"/>
                </a:cubicBezTo>
                <a:cubicBezTo>
                  <a:pt x="550355" y="1078611"/>
                  <a:pt x="592645" y="1036002"/>
                  <a:pt x="635000" y="995489"/>
                </a:cubicBezTo>
                <a:cubicBezTo>
                  <a:pt x="677355" y="954913"/>
                  <a:pt x="719645" y="917131"/>
                  <a:pt x="762000" y="881189"/>
                </a:cubicBezTo>
                <a:cubicBezTo>
                  <a:pt x="804355" y="845249"/>
                  <a:pt x="846645" y="811721"/>
                  <a:pt x="889000" y="779844"/>
                </a:cubicBezTo>
                <a:cubicBezTo>
                  <a:pt x="931355" y="747966"/>
                  <a:pt x="973645" y="718185"/>
                  <a:pt x="1016000" y="689927"/>
                </a:cubicBezTo>
                <a:cubicBezTo>
                  <a:pt x="1058354" y="661670"/>
                  <a:pt x="1100646" y="635254"/>
                  <a:pt x="1143000" y="610172"/>
                </a:cubicBezTo>
                <a:cubicBezTo>
                  <a:pt x="1185354" y="585089"/>
                  <a:pt x="1227646" y="561721"/>
                  <a:pt x="1270000" y="539496"/>
                </a:cubicBezTo>
                <a:cubicBezTo>
                  <a:pt x="1312354" y="517208"/>
                  <a:pt x="1354646" y="496507"/>
                  <a:pt x="1397000" y="476758"/>
                </a:cubicBezTo>
                <a:cubicBezTo>
                  <a:pt x="1439354" y="457010"/>
                  <a:pt x="1481646" y="438595"/>
                  <a:pt x="1524000" y="421132"/>
                </a:cubicBezTo>
                <a:cubicBezTo>
                  <a:pt x="1566354" y="403606"/>
                  <a:pt x="1608646" y="387287"/>
                  <a:pt x="1651000" y="371793"/>
                </a:cubicBezTo>
                <a:cubicBezTo>
                  <a:pt x="1693354" y="356299"/>
                  <a:pt x="1735646" y="341821"/>
                  <a:pt x="1778000" y="328041"/>
                </a:cubicBezTo>
                <a:cubicBezTo>
                  <a:pt x="1820354" y="314262"/>
                  <a:pt x="1862646" y="301435"/>
                  <a:pt x="1905000" y="289243"/>
                </a:cubicBezTo>
                <a:cubicBezTo>
                  <a:pt x="1947354" y="276987"/>
                  <a:pt x="1989646" y="265621"/>
                  <a:pt x="2032000" y="254825"/>
                </a:cubicBezTo>
                <a:cubicBezTo>
                  <a:pt x="2074354" y="243967"/>
                  <a:pt x="2116646" y="233871"/>
                  <a:pt x="2159000" y="224282"/>
                </a:cubicBezTo>
                <a:cubicBezTo>
                  <a:pt x="2201354" y="214694"/>
                  <a:pt x="2243646" y="205740"/>
                  <a:pt x="2286000" y="197168"/>
                </a:cubicBezTo>
                <a:cubicBezTo>
                  <a:pt x="2328354" y="188659"/>
                  <a:pt x="2370646" y="180721"/>
                  <a:pt x="2413000" y="173164"/>
                </a:cubicBezTo>
                <a:cubicBezTo>
                  <a:pt x="2455354" y="165608"/>
                  <a:pt x="2497646" y="158560"/>
                  <a:pt x="2540000" y="151892"/>
                </a:cubicBezTo>
                <a:cubicBezTo>
                  <a:pt x="2582354" y="145161"/>
                  <a:pt x="2624646" y="138938"/>
                  <a:pt x="2667000" y="132969"/>
                </a:cubicBezTo>
                <a:cubicBezTo>
                  <a:pt x="2709354" y="127063"/>
                  <a:pt x="2751646" y="121475"/>
                  <a:pt x="2794000" y="116205"/>
                </a:cubicBezTo>
                <a:cubicBezTo>
                  <a:pt x="2836354" y="110935"/>
                  <a:pt x="2878646" y="106045"/>
                  <a:pt x="2921000" y="101346"/>
                </a:cubicBezTo>
                <a:cubicBezTo>
                  <a:pt x="2963354" y="96711"/>
                  <a:pt x="3005646" y="92329"/>
                  <a:pt x="3048000" y="88201"/>
                </a:cubicBezTo>
                <a:cubicBezTo>
                  <a:pt x="3090354" y="84074"/>
                  <a:pt x="3132646" y="80200"/>
                  <a:pt x="3175000" y="76518"/>
                </a:cubicBezTo>
                <a:cubicBezTo>
                  <a:pt x="3217354" y="72835"/>
                  <a:pt x="3259646" y="69406"/>
                  <a:pt x="3302000" y="66167"/>
                </a:cubicBezTo>
                <a:cubicBezTo>
                  <a:pt x="3344354" y="62865"/>
                  <a:pt x="3386646" y="59817"/>
                  <a:pt x="3429000" y="56960"/>
                </a:cubicBezTo>
                <a:cubicBezTo>
                  <a:pt x="3471354" y="54038"/>
                  <a:pt x="3513646" y="51372"/>
                  <a:pt x="3556000" y="48768"/>
                </a:cubicBezTo>
                <a:cubicBezTo>
                  <a:pt x="3598354" y="46228"/>
                  <a:pt x="3640646" y="43815"/>
                  <a:pt x="3683000" y="41529"/>
                </a:cubicBezTo>
                <a:cubicBezTo>
                  <a:pt x="3725354" y="39307"/>
                  <a:pt x="3767646" y="37148"/>
                  <a:pt x="3810000" y="35115"/>
                </a:cubicBezTo>
                <a:cubicBezTo>
                  <a:pt x="3852354" y="33147"/>
                  <a:pt x="3894646" y="31242"/>
                  <a:pt x="3937000" y="29464"/>
                </a:cubicBezTo>
                <a:cubicBezTo>
                  <a:pt x="3979354" y="27686"/>
                  <a:pt x="4021646" y="25972"/>
                  <a:pt x="4064000" y="24384"/>
                </a:cubicBezTo>
                <a:cubicBezTo>
                  <a:pt x="4106354" y="22797"/>
                  <a:pt x="4148646" y="21336"/>
                  <a:pt x="4191000" y="19939"/>
                </a:cubicBezTo>
                <a:cubicBezTo>
                  <a:pt x="4233354" y="18542"/>
                  <a:pt x="4275646" y="17209"/>
                  <a:pt x="4318000" y="15938"/>
                </a:cubicBezTo>
                <a:cubicBezTo>
                  <a:pt x="4360354" y="14732"/>
                  <a:pt x="4402646" y="13525"/>
                  <a:pt x="4445000" y="12446"/>
                </a:cubicBezTo>
                <a:cubicBezTo>
                  <a:pt x="4487354" y="11303"/>
                  <a:pt x="4529646" y="10287"/>
                  <a:pt x="4572000" y="9335"/>
                </a:cubicBezTo>
                <a:cubicBezTo>
                  <a:pt x="4614354" y="8319"/>
                  <a:pt x="4656646" y="7429"/>
                  <a:pt x="4699000" y="6540"/>
                </a:cubicBezTo>
                <a:cubicBezTo>
                  <a:pt x="4741354" y="5651"/>
                  <a:pt x="4783646" y="4889"/>
                  <a:pt x="4826000" y="4064"/>
                </a:cubicBezTo>
                <a:cubicBezTo>
                  <a:pt x="4868354" y="3302"/>
                  <a:pt x="4910646" y="2603"/>
                  <a:pt x="4953000" y="1905"/>
                </a:cubicBezTo>
                <a:cubicBezTo>
                  <a:pt x="4995354" y="1207"/>
                  <a:pt x="5058854" y="318"/>
                  <a:pt x="5080000" y="0"/>
                </a:cubicBezTo>
              </a:path>
            </a:pathLst>
          </a:custGeom>
          <a:noFill/>
          <a:ln w="3175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cvl-3"/>
          <p:cNvSpPr txBox="1"/>
          <p:nvPr/>
        </p:nvSpPr>
        <p:spPr>
          <a:xfrm>
            <a:off x="7376922" y="3466602"/>
            <a:ext cx="5086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基本型</a:t>
            </a:r>
          </a:p>
        </p:txBody>
      </p:sp>
      <p:sp>
        <p:nvSpPr>
          <p:cNvPr id="39" name="ft-3-1"/>
          <p:cNvSpPr/>
          <p:nvPr/>
        </p:nvSpPr>
        <p:spPr>
          <a:xfrm>
            <a:off x="3359150" y="3978080"/>
            <a:ext cx="139700" cy="1397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E0703A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ftb-3-1"/>
          <p:cNvSpPr/>
          <p:nvPr/>
        </p:nvSpPr>
        <p:spPr>
          <a:xfrm>
            <a:off x="2717800" y="3679634"/>
            <a:ext cx="685800" cy="190500"/>
          </a:xfrm>
          <a:custGeom>
            <a:avLst/>
            <a:gdLst/>
            <a:ahLst/>
            <a:cxnLst/>
            <a:rect l="0" t="0" r="r" b="b"/>
            <a:pathLst>
              <a:path w="685800" h="190500">
                <a:moveTo>
                  <a:pt x="95250" y="0"/>
                </a:moveTo>
                <a:lnTo>
                  <a:pt x="590550" y="0"/>
                </a:lnTo>
                <a:cubicBezTo>
                  <a:pt x="643128" y="0"/>
                  <a:pt x="685800" y="42608"/>
                  <a:pt x="685800" y="95250"/>
                </a:cubicBezTo>
                <a:lnTo>
                  <a:pt x="685800" y="95250"/>
                </a:lnTo>
                <a:cubicBezTo>
                  <a:pt x="685800" y="147828"/>
                  <a:pt x="643128" y="190500"/>
                  <a:pt x="5905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08"/>
                  <a:pt x="42672" y="0"/>
                  <a:pt x="9525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ftt-3-1"/>
          <p:cNvSpPr txBox="1"/>
          <p:nvPr/>
        </p:nvSpPr>
        <p:spPr>
          <a:xfrm>
            <a:off x="2773362" y="3695346"/>
            <a:ext cx="5746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数据不丢失</a:t>
            </a:r>
          </a:p>
        </p:txBody>
      </p:sp>
      <p:sp>
        <p:nvSpPr>
          <p:cNvPr id="42" name="ft-3-2"/>
          <p:cNvSpPr/>
          <p:nvPr/>
        </p:nvSpPr>
        <p:spPr>
          <a:xfrm>
            <a:off x="2673350" y="4426579"/>
            <a:ext cx="139700" cy="1397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E0703A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ftb-3-2"/>
          <p:cNvSpPr/>
          <p:nvPr/>
        </p:nvSpPr>
        <p:spPr>
          <a:xfrm>
            <a:off x="2133600" y="4128135"/>
            <a:ext cx="584200" cy="190500"/>
          </a:xfrm>
          <a:custGeom>
            <a:avLst/>
            <a:gdLst/>
            <a:ahLst/>
            <a:cxnLst/>
            <a:rect l="0" t="0" r="r" b="b"/>
            <a:pathLst>
              <a:path w="584200" h="190500">
                <a:moveTo>
                  <a:pt x="95250" y="0"/>
                </a:moveTo>
                <a:lnTo>
                  <a:pt x="488950" y="0"/>
                </a:lnTo>
                <a:cubicBezTo>
                  <a:pt x="541528" y="0"/>
                  <a:pt x="584200" y="42608"/>
                  <a:pt x="584200" y="95250"/>
                </a:cubicBezTo>
                <a:lnTo>
                  <a:pt x="584200" y="95250"/>
                </a:lnTo>
                <a:cubicBezTo>
                  <a:pt x="584200" y="147828"/>
                  <a:pt x="541528" y="190500"/>
                  <a:pt x="4889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08"/>
                  <a:pt x="42672" y="0"/>
                  <a:pt x="9525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ftt-3-2"/>
          <p:cNvSpPr txBox="1"/>
          <p:nvPr/>
        </p:nvSpPr>
        <p:spPr>
          <a:xfrm>
            <a:off x="2187258" y="4143845"/>
            <a:ext cx="4768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权限控制</a:t>
            </a:r>
          </a:p>
        </p:txBody>
      </p:sp>
      <p:sp>
        <p:nvSpPr>
          <p:cNvPr id="45" name="card-1"/>
          <p:cNvSpPr/>
          <p:nvPr/>
        </p:nvSpPr>
        <p:spPr>
          <a:xfrm>
            <a:off x="7937500" y="1498600"/>
            <a:ext cx="3302000" cy="1308100"/>
          </a:xfrm>
          <a:custGeom>
            <a:avLst/>
            <a:gdLst/>
            <a:ahLst/>
            <a:cxnLst/>
            <a:rect l="0" t="0" r="r" b="b"/>
            <a:pathLst>
              <a:path w="3302000" h="1308100">
                <a:moveTo>
                  <a:pt x="127000" y="0"/>
                </a:moveTo>
                <a:lnTo>
                  <a:pt x="3175000" y="0"/>
                </a:lnTo>
                <a:cubicBezTo>
                  <a:pt x="3245167" y="0"/>
                  <a:pt x="3302000" y="56832"/>
                  <a:pt x="3302000" y="127000"/>
                </a:cubicBezTo>
                <a:lnTo>
                  <a:pt x="3302000" y="1181100"/>
                </a:lnTo>
                <a:cubicBezTo>
                  <a:pt x="3302000" y="1251268"/>
                  <a:pt x="3245167" y="1308100"/>
                  <a:pt x="3175000" y="1308100"/>
                </a:cubicBezTo>
                <a:lnTo>
                  <a:pt x="127000" y="1308100"/>
                </a:lnTo>
                <a:cubicBezTo>
                  <a:pt x="56833" y="1308100"/>
                  <a:pt x="0" y="1251268"/>
                  <a:pt x="0" y="11811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cardb-1"/>
          <p:cNvSpPr/>
          <p:nvPr/>
        </p:nvSpPr>
        <p:spPr>
          <a:xfrm>
            <a:off x="7937500" y="1498600"/>
            <a:ext cx="38100" cy="1308100"/>
          </a:xfrm>
          <a:custGeom>
            <a:avLst/>
            <a:gdLst/>
            <a:ahLst/>
            <a:cxnLst/>
            <a:rect l="0" t="0" r="r" b="b"/>
            <a:pathLst>
              <a:path w="38100" h="13081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289050"/>
                </a:lnTo>
                <a:cubicBezTo>
                  <a:pt x="38100" y="1299591"/>
                  <a:pt x="29591" y="1308100"/>
                  <a:pt x="19050" y="1308100"/>
                </a:cubicBezTo>
                <a:lnTo>
                  <a:pt x="19050" y="1308100"/>
                </a:lnTo>
                <a:cubicBezTo>
                  <a:pt x="8509" y="1308100"/>
                  <a:pt x="0" y="1299591"/>
                  <a:pt x="0" y="128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cn-1"/>
          <p:cNvSpPr txBox="1"/>
          <p:nvPr/>
        </p:nvSpPr>
        <p:spPr>
          <a:xfrm>
            <a:off x="8121650" y="1607344"/>
            <a:ext cx="6572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兴奋型</a:t>
            </a:r>
          </a:p>
        </p:txBody>
      </p:sp>
      <p:sp>
        <p:nvSpPr>
          <p:cNvPr id="48" name="ce-1"/>
          <p:cNvSpPr txBox="1"/>
          <p:nvPr/>
        </p:nvSpPr>
        <p:spPr>
          <a:xfrm>
            <a:off x="8720582" y="1680908"/>
            <a:ext cx="76835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7E93AE"/>
                </a:solidFill>
                <a:latin typeface="Arial"/>
                <a:ea typeface="Arial"/>
                <a:cs typeface="Arial"/>
              </a:rPr>
              <a:t>ATTRACTIVE</a:t>
            </a:r>
          </a:p>
        </p:txBody>
      </p:sp>
      <p:sp>
        <p:nvSpPr>
          <p:cNvPr id="49" name="cd-1"/>
          <p:cNvSpPr txBox="1"/>
          <p:nvPr/>
        </p:nvSpPr>
        <p:spPr>
          <a:xfrm>
            <a:off x="8127365" y="1920161"/>
            <a:ext cx="16824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没有也不会不满，有了就是惊喜</a:t>
            </a:r>
          </a:p>
        </p:txBody>
      </p:sp>
      <p:sp>
        <p:nvSpPr>
          <p:cNvPr id="50" name="csep-1"/>
          <p:cNvSpPr/>
          <p:nvPr/>
        </p:nvSpPr>
        <p:spPr>
          <a:xfrm>
            <a:off x="8140700" y="2184400"/>
            <a:ext cx="2895600" cy="6350"/>
          </a:xfrm>
          <a:custGeom>
            <a:avLst/>
            <a:gdLst/>
            <a:ahLst/>
            <a:cxnLst/>
            <a:rect l="0" t="0" r="r" b="b"/>
            <a:pathLst>
              <a:path w="2895600" h="6350">
                <a:moveTo>
                  <a:pt x="0" y="0"/>
                </a:moveTo>
                <a:lnTo>
                  <a:pt x="2895600" y="0"/>
                </a:lnTo>
                <a:cubicBezTo>
                  <a:pt x="2895600" y="0"/>
                  <a:pt x="2895600" y="0"/>
                  <a:pt x="2895600" y="0"/>
                </a:cubicBezTo>
                <a:lnTo>
                  <a:pt x="2895600" y="6350"/>
                </a:lnTo>
                <a:cubicBezTo>
                  <a:pt x="2895600" y="6350"/>
                  <a:pt x="2895600" y="6350"/>
                  <a:pt x="2895600" y="6350"/>
                </a:cubicBezTo>
                <a:lnTo>
                  <a:pt x="0" y="6350"/>
                </a:lnTo>
                <a:cubicBezTo>
                  <a:pt x="0" y="6350"/>
                  <a:pt x="0" y="6350"/>
                  <a:pt x="0" y="6350"/>
                </a:cubicBezTo>
                <a:lnTo>
                  <a:pt x="0" y="0"/>
                </a:ln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0B2545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cst-1"/>
          <p:cNvSpPr txBox="1"/>
          <p:nvPr/>
        </p:nvSpPr>
        <p:spPr>
          <a:xfrm>
            <a:off x="8129270" y="2308066"/>
            <a:ext cx="3016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策略</a:t>
            </a:r>
          </a:p>
        </p:txBody>
      </p:sp>
      <p:sp>
        <p:nvSpPr>
          <p:cNvPr id="52" name="cs-1"/>
          <p:cNvSpPr txBox="1"/>
          <p:nvPr/>
        </p:nvSpPr>
        <p:spPr>
          <a:xfrm>
            <a:off x="8482965" y="2288461"/>
            <a:ext cx="156940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适量投入，打造差异化记忆点</a:t>
            </a:r>
          </a:p>
        </p:txBody>
      </p:sp>
      <p:sp>
        <p:nvSpPr>
          <p:cNvPr id="53" name="cf-1"/>
          <p:cNvSpPr txBox="1"/>
          <p:nvPr/>
        </p:nvSpPr>
        <p:spPr>
          <a:xfrm>
            <a:off x="8128889" y="2532745"/>
            <a:ext cx="166427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代表功能：AI 一键生成、智能配色</a:t>
            </a:r>
          </a:p>
        </p:txBody>
      </p:sp>
      <p:sp>
        <p:nvSpPr>
          <p:cNvPr id="54" name="card-2"/>
          <p:cNvSpPr/>
          <p:nvPr/>
        </p:nvSpPr>
        <p:spPr>
          <a:xfrm>
            <a:off x="7937500" y="2946400"/>
            <a:ext cx="3302000" cy="1308100"/>
          </a:xfrm>
          <a:custGeom>
            <a:avLst/>
            <a:gdLst/>
            <a:ahLst/>
            <a:cxnLst/>
            <a:rect l="0" t="0" r="r" b="b"/>
            <a:pathLst>
              <a:path w="3302000" h="1308100">
                <a:moveTo>
                  <a:pt x="127000" y="0"/>
                </a:moveTo>
                <a:lnTo>
                  <a:pt x="3175000" y="0"/>
                </a:lnTo>
                <a:cubicBezTo>
                  <a:pt x="3245167" y="0"/>
                  <a:pt x="3302000" y="56832"/>
                  <a:pt x="3302000" y="127000"/>
                </a:cubicBezTo>
                <a:lnTo>
                  <a:pt x="3302000" y="1181100"/>
                </a:lnTo>
                <a:cubicBezTo>
                  <a:pt x="3302000" y="1251267"/>
                  <a:pt x="3245167" y="1308100"/>
                  <a:pt x="3175000" y="1308100"/>
                </a:cubicBezTo>
                <a:lnTo>
                  <a:pt x="127000" y="1308100"/>
                </a:lnTo>
                <a:cubicBezTo>
                  <a:pt x="56833" y="1308100"/>
                  <a:pt x="0" y="1251267"/>
                  <a:pt x="0" y="11811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cardb-2"/>
          <p:cNvSpPr/>
          <p:nvPr/>
        </p:nvSpPr>
        <p:spPr>
          <a:xfrm>
            <a:off x="7937500" y="2946400"/>
            <a:ext cx="38100" cy="1308100"/>
          </a:xfrm>
          <a:custGeom>
            <a:avLst/>
            <a:gdLst/>
            <a:ahLst/>
            <a:cxnLst/>
            <a:rect l="0" t="0" r="r" b="b"/>
            <a:pathLst>
              <a:path w="38100" h="13081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289050"/>
                </a:lnTo>
                <a:cubicBezTo>
                  <a:pt x="38100" y="1299591"/>
                  <a:pt x="29591" y="1308100"/>
                  <a:pt x="19050" y="1308100"/>
                </a:cubicBezTo>
                <a:lnTo>
                  <a:pt x="19050" y="1308100"/>
                </a:lnTo>
                <a:cubicBezTo>
                  <a:pt x="8509" y="1308100"/>
                  <a:pt x="0" y="1299591"/>
                  <a:pt x="0" y="128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cn-2"/>
          <p:cNvSpPr txBox="1"/>
          <p:nvPr/>
        </p:nvSpPr>
        <p:spPr>
          <a:xfrm>
            <a:off x="8121650" y="3055144"/>
            <a:ext cx="6572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期望型</a:t>
            </a:r>
          </a:p>
        </p:txBody>
      </p:sp>
      <p:sp>
        <p:nvSpPr>
          <p:cNvPr id="57" name="ce-2"/>
          <p:cNvSpPr txBox="1"/>
          <p:nvPr/>
        </p:nvSpPr>
        <p:spPr>
          <a:xfrm>
            <a:off x="8720582" y="3128708"/>
            <a:ext cx="83718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7E93AE"/>
                </a:solidFill>
                <a:latin typeface="Arial"/>
                <a:ea typeface="Arial"/>
                <a:cs typeface="Arial"/>
              </a:rPr>
              <a:t>PERFORMANCE</a:t>
            </a:r>
          </a:p>
        </p:txBody>
      </p:sp>
      <p:sp>
        <p:nvSpPr>
          <p:cNvPr id="58" name="cd-2"/>
          <p:cNvSpPr txBox="1"/>
          <p:nvPr/>
        </p:nvSpPr>
        <p:spPr>
          <a:xfrm>
            <a:off x="8127365" y="3367961"/>
            <a:ext cx="145637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做得越好越满意，线性回报</a:t>
            </a:r>
          </a:p>
        </p:txBody>
      </p:sp>
      <p:sp>
        <p:nvSpPr>
          <p:cNvPr id="59" name="csep-2"/>
          <p:cNvSpPr/>
          <p:nvPr/>
        </p:nvSpPr>
        <p:spPr>
          <a:xfrm>
            <a:off x="8140700" y="3632200"/>
            <a:ext cx="2895600" cy="6350"/>
          </a:xfrm>
          <a:custGeom>
            <a:avLst/>
            <a:gdLst/>
            <a:ahLst/>
            <a:cxnLst/>
            <a:rect l="0" t="0" r="r" b="b"/>
            <a:pathLst>
              <a:path w="2895600" h="6350">
                <a:moveTo>
                  <a:pt x="0" y="0"/>
                </a:moveTo>
                <a:lnTo>
                  <a:pt x="2895600" y="0"/>
                </a:lnTo>
                <a:cubicBezTo>
                  <a:pt x="2895600" y="0"/>
                  <a:pt x="2895600" y="0"/>
                  <a:pt x="2895600" y="0"/>
                </a:cubicBezTo>
                <a:lnTo>
                  <a:pt x="2895600" y="6350"/>
                </a:lnTo>
                <a:cubicBezTo>
                  <a:pt x="2895600" y="6350"/>
                  <a:pt x="2895600" y="6350"/>
                  <a:pt x="2895600" y="6350"/>
                </a:cubicBezTo>
                <a:lnTo>
                  <a:pt x="0" y="6350"/>
                </a:lnTo>
                <a:cubicBezTo>
                  <a:pt x="0" y="6350"/>
                  <a:pt x="0" y="6350"/>
                  <a:pt x="0" y="6350"/>
                </a:cubicBezTo>
                <a:lnTo>
                  <a:pt x="0" y="0"/>
                </a:ln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0B2545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cst-2"/>
          <p:cNvSpPr txBox="1"/>
          <p:nvPr/>
        </p:nvSpPr>
        <p:spPr>
          <a:xfrm>
            <a:off x="8129270" y="3755866"/>
            <a:ext cx="3016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策略</a:t>
            </a:r>
          </a:p>
        </p:txBody>
      </p:sp>
      <p:sp>
        <p:nvSpPr>
          <p:cNvPr id="61" name="cs-2"/>
          <p:cNvSpPr txBox="1"/>
          <p:nvPr/>
        </p:nvSpPr>
        <p:spPr>
          <a:xfrm>
            <a:off x="8482965" y="3736261"/>
            <a:ext cx="156940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持续投入，对标竞品做到领先</a:t>
            </a:r>
          </a:p>
        </p:txBody>
      </p:sp>
      <p:sp>
        <p:nvSpPr>
          <p:cNvPr id="62" name="cf-2"/>
          <p:cNvSpPr txBox="1"/>
          <p:nvPr/>
        </p:nvSpPr>
        <p:spPr>
          <a:xfrm>
            <a:off x="8128889" y="3980545"/>
            <a:ext cx="1493203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代表功能：加载速度、模板数量</a:t>
            </a:r>
          </a:p>
        </p:txBody>
      </p:sp>
      <p:sp>
        <p:nvSpPr>
          <p:cNvPr id="63" name="card-3"/>
          <p:cNvSpPr/>
          <p:nvPr/>
        </p:nvSpPr>
        <p:spPr>
          <a:xfrm>
            <a:off x="7937500" y="4394200"/>
            <a:ext cx="3302000" cy="1308100"/>
          </a:xfrm>
          <a:custGeom>
            <a:avLst/>
            <a:gdLst/>
            <a:ahLst/>
            <a:cxnLst/>
            <a:rect l="0" t="0" r="r" b="b"/>
            <a:pathLst>
              <a:path w="3302000" h="1308100">
                <a:moveTo>
                  <a:pt x="127000" y="0"/>
                </a:moveTo>
                <a:lnTo>
                  <a:pt x="3175000" y="0"/>
                </a:lnTo>
                <a:cubicBezTo>
                  <a:pt x="3245167" y="0"/>
                  <a:pt x="3302000" y="56833"/>
                  <a:pt x="3302000" y="127000"/>
                </a:cubicBezTo>
                <a:lnTo>
                  <a:pt x="3302000" y="1181100"/>
                </a:lnTo>
                <a:cubicBezTo>
                  <a:pt x="3302000" y="1251267"/>
                  <a:pt x="3245167" y="1308100"/>
                  <a:pt x="3175000" y="1308100"/>
                </a:cubicBezTo>
                <a:lnTo>
                  <a:pt x="127000" y="1308100"/>
                </a:lnTo>
                <a:cubicBezTo>
                  <a:pt x="56833" y="1308100"/>
                  <a:pt x="0" y="1251267"/>
                  <a:pt x="0" y="11811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cardb-3"/>
          <p:cNvSpPr/>
          <p:nvPr/>
        </p:nvSpPr>
        <p:spPr>
          <a:xfrm>
            <a:off x="7937500" y="4394200"/>
            <a:ext cx="38100" cy="1308100"/>
          </a:xfrm>
          <a:custGeom>
            <a:avLst/>
            <a:gdLst/>
            <a:ahLst/>
            <a:cxnLst/>
            <a:rect l="0" t="0" r="r" b="b"/>
            <a:pathLst>
              <a:path w="38100" h="13081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289050"/>
                </a:lnTo>
                <a:cubicBezTo>
                  <a:pt x="38100" y="1299591"/>
                  <a:pt x="29591" y="1308100"/>
                  <a:pt x="19050" y="1308100"/>
                </a:cubicBezTo>
                <a:lnTo>
                  <a:pt x="19050" y="1308100"/>
                </a:lnTo>
                <a:cubicBezTo>
                  <a:pt x="8509" y="1308100"/>
                  <a:pt x="0" y="1299591"/>
                  <a:pt x="0" y="128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cn-3"/>
          <p:cNvSpPr txBox="1"/>
          <p:nvPr/>
        </p:nvSpPr>
        <p:spPr>
          <a:xfrm>
            <a:off x="8121650" y="4502944"/>
            <a:ext cx="6572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基本型</a:t>
            </a:r>
          </a:p>
        </p:txBody>
      </p:sp>
      <p:sp>
        <p:nvSpPr>
          <p:cNvPr id="66" name="ce-3"/>
          <p:cNvSpPr txBox="1"/>
          <p:nvPr/>
        </p:nvSpPr>
        <p:spPr>
          <a:xfrm>
            <a:off x="8720582" y="4576508"/>
            <a:ext cx="56184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7E93AE"/>
                </a:solidFill>
                <a:latin typeface="Arial"/>
                <a:ea typeface="Arial"/>
                <a:cs typeface="Arial"/>
              </a:rPr>
              <a:t>MUST-BE</a:t>
            </a:r>
          </a:p>
        </p:txBody>
      </p:sp>
      <p:sp>
        <p:nvSpPr>
          <p:cNvPr id="67" name="cd-3"/>
          <p:cNvSpPr txBox="1"/>
          <p:nvPr/>
        </p:nvSpPr>
        <p:spPr>
          <a:xfrm>
            <a:off x="8127365" y="4815761"/>
            <a:ext cx="16824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做到了理所当然，缺了就会不满</a:t>
            </a:r>
          </a:p>
        </p:txBody>
      </p:sp>
      <p:sp>
        <p:nvSpPr>
          <p:cNvPr id="68" name="csep-3"/>
          <p:cNvSpPr/>
          <p:nvPr/>
        </p:nvSpPr>
        <p:spPr>
          <a:xfrm>
            <a:off x="8140700" y="5080000"/>
            <a:ext cx="2895600" cy="6350"/>
          </a:xfrm>
          <a:custGeom>
            <a:avLst/>
            <a:gdLst/>
            <a:ahLst/>
            <a:cxnLst/>
            <a:rect l="0" t="0" r="r" b="b"/>
            <a:pathLst>
              <a:path w="2895600" h="6350">
                <a:moveTo>
                  <a:pt x="0" y="0"/>
                </a:moveTo>
                <a:lnTo>
                  <a:pt x="2895600" y="0"/>
                </a:lnTo>
                <a:cubicBezTo>
                  <a:pt x="2895600" y="0"/>
                  <a:pt x="2895600" y="0"/>
                  <a:pt x="2895600" y="0"/>
                </a:cubicBezTo>
                <a:lnTo>
                  <a:pt x="2895600" y="6350"/>
                </a:lnTo>
                <a:cubicBezTo>
                  <a:pt x="2895600" y="6350"/>
                  <a:pt x="2895600" y="6350"/>
                  <a:pt x="2895600" y="6350"/>
                </a:cubicBezTo>
                <a:lnTo>
                  <a:pt x="0" y="6350"/>
                </a:lnTo>
                <a:cubicBezTo>
                  <a:pt x="0" y="6350"/>
                  <a:pt x="0" y="6350"/>
                  <a:pt x="0" y="6350"/>
                </a:cubicBezTo>
                <a:lnTo>
                  <a:pt x="0" y="0"/>
                </a:ln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0B2545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cst-3"/>
          <p:cNvSpPr txBox="1"/>
          <p:nvPr/>
        </p:nvSpPr>
        <p:spPr>
          <a:xfrm>
            <a:off x="8129270" y="5203666"/>
            <a:ext cx="3016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策略</a:t>
            </a:r>
          </a:p>
        </p:txBody>
      </p:sp>
      <p:sp>
        <p:nvSpPr>
          <p:cNvPr id="70" name="cs-3"/>
          <p:cNvSpPr txBox="1"/>
          <p:nvPr/>
        </p:nvSpPr>
        <p:spPr>
          <a:xfrm>
            <a:off x="8482965" y="5184061"/>
            <a:ext cx="145637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必须达标，不追求超额投入</a:t>
            </a:r>
          </a:p>
        </p:txBody>
      </p:sp>
      <p:sp>
        <p:nvSpPr>
          <p:cNvPr id="71" name="cf-3"/>
          <p:cNvSpPr txBox="1"/>
          <p:nvPr/>
        </p:nvSpPr>
        <p:spPr>
          <a:xfrm>
            <a:off x="8128889" y="5428345"/>
            <a:ext cx="1593533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代表功能：数据不丢失、权限控制</a:t>
            </a:r>
          </a:p>
        </p:txBody>
      </p:sp>
      <p:cxnSp>
        <p:nvCxnSpPr>
          <p:cNvPr id="72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foot-l"/>
          <p:cNvSpPr txBox="1"/>
          <p:nvPr/>
        </p:nvSpPr>
        <p:spPr>
          <a:xfrm>
            <a:off x="573532" y="6532308"/>
            <a:ext cx="114503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Kano 模型 · 三类需求</a:t>
            </a:r>
          </a:p>
        </p:txBody>
      </p:sp>
      <p:sp>
        <p:nvSpPr>
          <p:cNvPr id="74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3540252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业务组合 · 波士顿矩阵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99060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BCG MATRIX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666099" y="673132"/>
            <a:ext cx="29546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横轴相对市场份额、纵轴市场增长率，气泡大小代表营收</a:t>
            </a:r>
          </a:p>
        </p:txBody>
      </p:sp>
      <p:sp>
        <p:nvSpPr>
          <p:cNvPr id="10" name="qd-1"/>
          <p:cNvSpPr/>
          <p:nvPr/>
        </p:nvSpPr>
        <p:spPr>
          <a:xfrm>
            <a:off x="1930400" y="1612900"/>
            <a:ext cx="2743200" cy="2054352"/>
          </a:xfrm>
          <a:custGeom>
            <a:avLst/>
            <a:gdLst/>
            <a:ahLst/>
            <a:cxnLst/>
            <a:rect l="0" t="0" r="r" b="b"/>
            <a:pathLst>
              <a:path w="2743200" h="2054352">
                <a:moveTo>
                  <a:pt x="114300" y="0"/>
                </a:moveTo>
                <a:lnTo>
                  <a:pt x="2628900" y="0"/>
                </a:lnTo>
                <a:cubicBezTo>
                  <a:pt x="2692019" y="0"/>
                  <a:pt x="2743200" y="51181"/>
                  <a:pt x="2743200" y="114300"/>
                </a:cubicBezTo>
                <a:lnTo>
                  <a:pt x="2743200" y="1940052"/>
                </a:lnTo>
                <a:cubicBezTo>
                  <a:pt x="2743200" y="2003171"/>
                  <a:pt x="2692019" y="2054352"/>
                  <a:pt x="2628900" y="2054352"/>
                </a:cubicBezTo>
                <a:lnTo>
                  <a:pt x="114300" y="2054352"/>
                </a:lnTo>
                <a:cubicBezTo>
                  <a:pt x="51181" y="2054352"/>
                  <a:pt x="0" y="2003171"/>
                  <a:pt x="0" y="1940052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0B3E8F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qn-1"/>
          <p:cNvSpPr txBox="1"/>
          <p:nvPr/>
        </p:nvSpPr>
        <p:spPr>
          <a:xfrm>
            <a:off x="2036064" y="1685417"/>
            <a:ext cx="5664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200">
                <a:solidFill>
                  <a:srgbClr val="0B3E8F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明星</a:t>
            </a:r>
          </a:p>
        </p:txBody>
      </p:sp>
      <p:sp>
        <p:nvSpPr>
          <p:cNvPr id="12" name="qe-1"/>
          <p:cNvSpPr txBox="1"/>
          <p:nvPr/>
        </p:nvSpPr>
        <p:spPr>
          <a:xfrm>
            <a:off x="2046732" y="1960308"/>
            <a:ext cx="3553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0B3E8F"/>
                </a:solidFill>
                <a:latin typeface="Arial"/>
                <a:ea typeface="Arial"/>
                <a:cs typeface="Arial"/>
              </a:rPr>
              <a:t>STAR</a:t>
            </a:r>
          </a:p>
        </p:txBody>
      </p:sp>
      <p:sp>
        <p:nvSpPr>
          <p:cNvPr id="13" name="qd-2"/>
          <p:cNvSpPr/>
          <p:nvPr/>
        </p:nvSpPr>
        <p:spPr>
          <a:xfrm>
            <a:off x="4724400" y="1612900"/>
            <a:ext cx="2743200" cy="2054352"/>
          </a:xfrm>
          <a:custGeom>
            <a:avLst/>
            <a:gdLst/>
            <a:ahLst/>
            <a:cxnLst/>
            <a:rect l="0" t="0" r="r" b="b"/>
            <a:pathLst>
              <a:path w="2743200" h="2054352">
                <a:moveTo>
                  <a:pt x="114300" y="0"/>
                </a:moveTo>
                <a:lnTo>
                  <a:pt x="2628900" y="0"/>
                </a:lnTo>
                <a:cubicBezTo>
                  <a:pt x="2692019" y="0"/>
                  <a:pt x="2743200" y="51181"/>
                  <a:pt x="2743200" y="114300"/>
                </a:cubicBezTo>
                <a:lnTo>
                  <a:pt x="2743200" y="1940052"/>
                </a:lnTo>
                <a:cubicBezTo>
                  <a:pt x="2743200" y="2003171"/>
                  <a:pt x="2692019" y="2054352"/>
                  <a:pt x="2628900" y="2054352"/>
                </a:cubicBezTo>
                <a:lnTo>
                  <a:pt x="114300" y="2054352"/>
                </a:lnTo>
                <a:cubicBezTo>
                  <a:pt x="51181" y="2054352"/>
                  <a:pt x="0" y="2003171"/>
                  <a:pt x="0" y="1940052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3985CD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qn-2"/>
          <p:cNvSpPr txBox="1"/>
          <p:nvPr/>
        </p:nvSpPr>
        <p:spPr>
          <a:xfrm>
            <a:off x="6795516" y="1685417"/>
            <a:ext cx="5664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400" b="1" spc="200">
                <a:solidFill>
                  <a:srgbClr val="3985CD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问号</a:t>
            </a:r>
          </a:p>
        </p:txBody>
      </p:sp>
      <p:sp>
        <p:nvSpPr>
          <p:cNvPr id="15" name="qe-2"/>
          <p:cNvSpPr txBox="1"/>
          <p:nvPr/>
        </p:nvSpPr>
        <p:spPr>
          <a:xfrm>
            <a:off x="6720586" y="1960308"/>
            <a:ext cx="6306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150">
                <a:solidFill>
                  <a:srgbClr val="3985CD"/>
                </a:solidFill>
                <a:latin typeface="Arial"/>
                <a:ea typeface="Arial"/>
                <a:cs typeface="Arial"/>
              </a:rPr>
              <a:t>QUESTION</a:t>
            </a:r>
          </a:p>
        </p:txBody>
      </p:sp>
      <p:sp>
        <p:nvSpPr>
          <p:cNvPr id="16" name="qd-3"/>
          <p:cNvSpPr/>
          <p:nvPr/>
        </p:nvSpPr>
        <p:spPr>
          <a:xfrm>
            <a:off x="1930400" y="3718052"/>
            <a:ext cx="2743200" cy="1717548"/>
          </a:xfrm>
          <a:custGeom>
            <a:avLst/>
            <a:gdLst/>
            <a:ahLst/>
            <a:cxnLst/>
            <a:rect l="0" t="0" r="r" b="b"/>
            <a:pathLst>
              <a:path w="2743200" h="1717548">
                <a:moveTo>
                  <a:pt x="114300" y="0"/>
                </a:moveTo>
                <a:lnTo>
                  <a:pt x="2628900" y="0"/>
                </a:lnTo>
                <a:cubicBezTo>
                  <a:pt x="2692019" y="0"/>
                  <a:pt x="2743200" y="51181"/>
                  <a:pt x="2743200" y="114300"/>
                </a:cubicBezTo>
                <a:lnTo>
                  <a:pt x="2743200" y="1603248"/>
                </a:lnTo>
                <a:cubicBezTo>
                  <a:pt x="2743200" y="1666367"/>
                  <a:pt x="2692019" y="1717548"/>
                  <a:pt x="2628900" y="1717548"/>
                </a:cubicBezTo>
                <a:lnTo>
                  <a:pt x="114300" y="1717548"/>
                </a:lnTo>
                <a:cubicBezTo>
                  <a:pt x="51181" y="1717548"/>
                  <a:pt x="0" y="1666367"/>
                  <a:pt x="0" y="1603248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1B5AA8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qn-3"/>
          <p:cNvSpPr txBox="1"/>
          <p:nvPr/>
        </p:nvSpPr>
        <p:spPr>
          <a:xfrm>
            <a:off x="2036064" y="3790580"/>
            <a:ext cx="5664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200">
                <a:solidFill>
                  <a:srgbClr val="1B5AA8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金牛</a:t>
            </a:r>
          </a:p>
        </p:txBody>
      </p:sp>
      <p:sp>
        <p:nvSpPr>
          <p:cNvPr id="18" name="qe-3"/>
          <p:cNvSpPr txBox="1"/>
          <p:nvPr/>
        </p:nvSpPr>
        <p:spPr>
          <a:xfrm>
            <a:off x="2046732" y="4065472"/>
            <a:ext cx="6306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1B5AA8"/>
                </a:solidFill>
                <a:latin typeface="Arial"/>
                <a:ea typeface="Arial"/>
                <a:cs typeface="Arial"/>
              </a:rPr>
              <a:t>CASH COW</a:t>
            </a:r>
          </a:p>
        </p:txBody>
      </p:sp>
      <p:sp>
        <p:nvSpPr>
          <p:cNvPr id="19" name="qd-4"/>
          <p:cNvSpPr/>
          <p:nvPr/>
        </p:nvSpPr>
        <p:spPr>
          <a:xfrm>
            <a:off x="4724400" y="3718052"/>
            <a:ext cx="2743200" cy="1717548"/>
          </a:xfrm>
          <a:custGeom>
            <a:avLst/>
            <a:gdLst/>
            <a:ahLst/>
            <a:cxnLst/>
            <a:rect l="0" t="0" r="r" b="b"/>
            <a:pathLst>
              <a:path w="2743200" h="1717548">
                <a:moveTo>
                  <a:pt x="114300" y="0"/>
                </a:moveTo>
                <a:lnTo>
                  <a:pt x="2628900" y="0"/>
                </a:lnTo>
                <a:cubicBezTo>
                  <a:pt x="2692019" y="0"/>
                  <a:pt x="2743200" y="51181"/>
                  <a:pt x="2743200" y="114300"/>
                </a:cubicBezTo>
                <a:lnTo>
                  <a:pt x="2743200" y="1603248"/>
                </a:lnTo>
                <a:cubicBezTo>
                  <a:pt x="2743200" y="1666367"/>
                  <a:pt x="2692019" y="1717548"/>
                  <a:pt x="2628900" y="1717548"/>
                </a:cubicBezTo>
                <a:lnTo>
                  <a:pt x="114300" y="1717548"/>
                </a:lnTo>
                <a:cubicBezTo>
                  <a:pt x="51181" y="1717548"/>
                  <a:pt x="0" y="1666367"/>
                  <a:pt x="0" y="1603248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9DB2CC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qn-4"/>
          <p:cNvSpPr txBox="1"/>
          <p:nvPr/>
        </p:nvSpPr>
        <p:spPr>
          <a:xfrm>
            <a:off x="6795516" y="3790580"/>
            <a:ext cx="5664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400" b="1" spc="200">
                <a:solidFill>
                  <a:srgbClr val="9DB2CC">
                    <a:alpha val="90000"/>
                  </a:srgbClr>
                </a:solidFill>
                <a:latin typeface="微软雅黑"/>
                <a:ea typeface="微软雅黑"/>
                <a:cs typeface="微软雅黑"/>
              </a:rPr>
              <a:t>瘦狗</a:t>
            </a:r>
          </a:p>
        </p:txBody>
      </p:sp>
      <p:sp>
        <p:nvSpPr>
          <p:cNvPr id="21" name="qe-4"/>
          <p:cNvSpPr txBox="1"/>
          <p:nvPr/>
        </p:nvSpPr>
        <p:spPr>
          <a:xfrm>
            <a:off x="7064756" y="4065472"/>
            <a:ext cx="2865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150">
                <a:solidFill>
                  <a:srgbClr val="9DB2CC"/>
                </a:solidFill>
                <a:latin typeface="Arial"/>
                <a:ea typeface="Arial"/>
                <a:cs typeface="Arial"/>
              </a:rPr>
              <a:t>DOG</a:t>
            </a:r>
          </a:p>
        </p:txBody>
      </p:sp>
      <p:cxnSp>
        <p:nvCxnSpPr>
          <p:cNvPr id="22" name="ax"/>
          <p:cNvCxnSpPr/>
          <p:nvPr/>
        </p:nvCxnSpPr>
        <p:spPr>
          <a:xfrm>
            <a:off x="1905000" y="5524500"/>
            <a:ext cx="5588000" cy="0"/>
          </a:xfrm>
          <a:prstGeom prst="line">
            <a:avLst/>
          </a:prstGeom>
          <a:ln w="9525" cap="rnd">
            <a:solidFill>
              <a:srgbClr val="0B2545">
                <a:alpha val="3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ax-t"/>
          <p:cNvSpPr txBox="1"/>
          <p:nvPr/>
        </p:nvSpPr>
        <p:spPr>
          <a:xfrm>
            <a:off x="1893570" y="5597366"/>
            <a:ext cx="12566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高 ← 相对市场份额 → 低</a:t>
            </a:r>
          </a:p>
        </p:txBody>
      </p:sp>
      <p:sp>
        <p:nvSpPr>
          <p:cNvPr id="24" name="ax-s"/>
          <p:cNvSpPr txBox="1"/>
          <p:nvPr/>
        </p:nvSpPr>
        <p:spPr>
          <a:xfrm>
            <a:off x="6143625" y="5605208"/>
            <a:ext cx="136004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分界：份额 1.0× · 增长 15%</a:t>
            </a:r>
          </a:p>
        </p:txBody>
      </p:sp>
      <p:sp>
        <p:nvSpPr>
          <p:cNvPr id="25" name="gy-0"/>
          <p:cNvSpPr txBox="1"/>
          <p:nvPr/>
        </p:nvSpPr>
        <p:spPr>
          <a:xfrm>
            <a:off x="1647190" y="4877719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0%</a:t>
            </a:r>
          </a:p>
        </p:txBody>
      </p:sp>
      <p:sp>
        <p:nvSpPr>
          <p:cNvPr id="26" name="gy-15"/>
          <p:cNvSpPr txBox="1"/>
          <p:nvPr/>
        </p:nvSpPr>
        <p:spPr>
          <a:xfrm>
            <a:off x="1597406" y="3614622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15%</a:t>
            </a:r>
          </a:p>
        </p:txBody>
      </p:sp>
      <p:sp>
        <p:nvSpPr>
          <p:cNvPr id="27" name="gy-30"/>
          <p:cNvSpPr txBox="1"/>
          <p:nvPr/>
        </p:nvSpPr>
        <p:spPr>
          <a:xfrm>
            <a:off x="1597406" y="2351524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30%</a:t>
            </a:r>
          </a:p>
        </p:txBody>
      </p:sp>
      <p:sp>
        <p:nvSpPr>
          <p:cNvPr id="28" name="gy-h"/>
          <p:cNvSpPr txBox="1"/>
          <p:nvPr/>
        </p:nvSpPr>
        <p:spPr>
          <a:xfrm>
            <a:off x="1480058" y="1515808"/>
            <a:ext cx="3467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增长率</a:t>
            </a:r>
          </a:p>
        </p:txBody>
      </p:sp>
      <p:sp>
        <p:nvSpPr>
          <p:cNvPr id="29" name="b-1"/>
          <p:cNvSpPr/>
          <p:nvPr/>
        </p:nvSpPr>
        <p:spPr>
          <a:xfrm>
            <a:off x="2650100" y="4078021"/>
            <a:ext cx="745001" cy="745001"/>
          </a:xfrm>
          <a:prstGeom prst="ellipse">
            <a:avLst/>
          </a:prstGeom>
          <a:gradFill rotWithShape="1">
            <a:gsLst>
              <a:gs pos="0">
                <a:srgbClr val="497BB9">
                  <a:alpha val="92000"/>
                </a:srgbClr>
              </a:gs>
              <a:gs pos="100000">
                <a:srgbClr val="1B5AA8">
                  <a:alpha val="92000"/>
                </a:srgbClr>
              </a:gs>
            </a:gsLst>
            <a:lin ang="7200000" scaled="0"/>
          </a:gradFill>
          <a:ln w="19050" cap="rnd">
            <a:solidFill>
              <a:srgbClr val="FFFFFF"/>
            </a:solidFill>
            <a:round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bn-1"/>
          <p:cNvSpPr txBox="1"/>
          <p:nvPr/>
        </p:nvSpPr>
        <p:spPr>
          <a:xfrm>
            <a:off x="2729865" y="4296661"/>
            <a:ext cx="585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企业软件</a:t>
            </a:r>
          </a:p>
        </p:txBody>
      </p:sp>
      <p:sp>
        <p:nvSpPr>
          <p:cNvPr id="31" name="bv-1"/>
          <p:cNvSpPr txBox="1"/>
          <p:nvPr/>
        </p:nvSpPr>
        <p:spPr>
          <a:xfrm>
            <a:off x="2798762" y="4485288"/>
            <a:ext cx="4476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18.2 亿</a:t>
            </a:r>
          </a:p>
        </p:txBody>
      </p:sp>
      <p:sp>
        <p:nvSpPr>
          <p:cNvPr id="32" name="b-2"/>
          <p:cNvSpPr/>
          <p:nvPr/>
        </p:nvSpPr>
        <p:spPr>
          <a:xfrm>
            <a:off x="3562452" y="2299631"/>
            <a:ext cx="596695" cy="596695"/>
          </a:xfrm>
          <a:prstGeom prst="ellipse">
            <a:avLst/>
          </a:prstGeom>
          <a:gradFill rotWithShape="1">
            <a:gsLst>
              <a:gs pos="0">
                <a:srgbClr val="3C65A5">
                  <a:alpha val="92000"/>
                </a:srgbClr>
              </a:gs>
              <a:gs pos="100000">
                <a:srgbClr val="0B3E8F">
                  <a:alpha val="92000"/>
                </a:srgbClr>
              </a:gs>
            </a:gsLst>
            <a:lin ang="7200000" scaled="0"/>
          </a:gradFill>
          <a:ln w="19050" cap="rnd">
            <a:solidFill>
              <a:srgbClr val="FFFFFF"/>
            </a:solidFill>
            <a:round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bn-2"/>
          <p:cNvSpPr txBox="1"/>
          <p:nvPr/>
        </p:nvSpPr>
        <p:spPr>
          <a:xfrm>
            <a:off x="3628390" y="2444118"/>
            <a:ext cx="46482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云服务</a:t>
            </a:r>
          </a:p>
        </p:txBody>
      </p:sp>
      <p:sp>
        <p:nvSpPr>
          <p:cNvPr id="34" name="bv-2"/>
          <p:cNvSpPr txBox="1"/>
          <p:nvPr/>
        </p:nvSpPr>
        <p:spPr>
          <a:xfrm>
            <a:off x="3663633" y="2632745"/>
            <a:ext cx="3943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9.6 亿</a:t>
            </a:r>
          </a:p>
        </p:txBody>
      </p:sp>
      <p:sp>
        <p:nvSpPr>
          <p:cNvPr id="35" name="b-3"/>
          <p:cNvSpPr/>
          <p:nvPr/>
        </p:nvSpPr>
        <p:spPr>
          <a:xfrm>
            <a:off x="5446722" y="2030974"/>
            <a:ext cx="460355" cy="460355"/>
          </a:xfrm>
          <a:prstGeom prst="ellipse">
            <a:avLst/>
          </a:prstGeom>
          <a:gradFill rotWithShape="1">
            <a:gsLst>
              <a:gs pos="0">
                <a:srgbClr val="619DD7">
                  <a:alpha val="92000"/>
                </a:srgbClr>
              </a:gs>
              <a:gs pos="100000">
                <a:srgbClr val="3985CD">
                  <a:alpha val="92000"/>
                </a:srgbClr>
              </a:gs>
            </a:gsLst>
            <a:lin ang="7200000" scaled="0"/>
          </a:gradFill>
          <a:ln w="19050" cap="rnd">
            <a:solidFill>
              <a:srgbClr val="FFFFFF"/>
            </a:solidFill>
            <a:round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bn-3"/>
          <p:cNvSpPr txBox="1"/>
          <p:nvPr/>
        </p:nvSpPr>
        <p:spPr>
          <a:xfrm>
            <a:off x="5957624" y="2115134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数据服务</a:t>
            </a:r>
          </a:p>
        </p:txBody>
      </p:sp>
      <p:sp>
        <p:nvSpPr>
          <p:cNvPr id="37" name="bv-3"/>
          <p:cNvSpPr txBox="1"/>
          <p:nvPr/>
        </p:nvSpPr>
        <p:spPr>
          <a:xfrm>
            <a:off x="5959910" y="2291061"/>
            <a:ext cx="71653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4.1 亿 · +32%</a:t>
            </a:r>
          </a:p>
        </p:txBody>
      </p:sp>
      <p:sp>
        <p:nvSpPr>
          <p:cNvPr id="38" name="b-4"/>
          <p:cNvSpPr/>
          <p:nvPr/>
        </p:nvSpPr>
        <p:spPr>
          <a:xfrm>
            <a:off x="6299908" y="2972232"/>
            <a:ext cx="430385" cy="430385"/>
          </a:xfrm>
          <a:prstGeom prst="ellipse">
            <a:avLst/>
          </a:prstGeom>
          <a:gradFill rotWithShape="1">
            <a:gsLst>
              <a:gs pos="0">
                <a:srgbClr val="619DD7">
                  <a:alpha val="92000"/>
                </a:srgbClr>
              </a:gs>
              <a:gs pos="100000">
                <a:srgbClr val="3985CD">
                  <a:alpha val="92000"/>
                </a:srgbClr>
              </a:gs>
            </a:gsLst>
            <a:lin ang="7200000" scaled="0"/>
          </a:gradFill>
          <a:ln w="19050" cap="rnd">
            <a:solidFill>
              <a:srgbClr val="FFFFFF"/>
            </a:solidFill>
            <a:round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bn-4"/>
          <p:cNvSpPr txBox="1"/>
          <p:nvPr/>
        </p:nvSpPr>
        <p:spPr>
          <a:xfrm>
            <a:off x="6780838" y="3041406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智能硬件</a:t>
            </a:r>
          </a:p>
        </p:txBody>
      </p:sp>
      <p:sp>
        <p:nvSpPr>
          <p:cNvPr id="40" name="bv-4"/>
          <p:cNvSpPr txBox="1"/>
          <p:nvPr/>
        </p:nvSpPr>
        <p:spPr>
          <a:xfrm>
            <a:off x="6783124" y="3217332"/>
            <a:ext cx="71653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3.2 亿 · +21%</a:t>
            </a:r>
          </a:p>
        </p:txBody>
      </p:sp>
      <p:sp>
        <p:nvSpPr>
          <p:cNvPr id="41" name="b-5"/>
          <p:cNvSpPr/>
          <p:nvPr/>
        </p:nvSpPr>
        <p:spPr>
          <a:xfrm>
            <a:off x="5337226" y="4334754"/>
            <a:ext cx="399948" cy="399948"/>
          </a:xfrm>
          <a:prstGeom prst="ellipse">
            <a:avLst/>
          </a:prstGeom>
          <a:gradFill rotWithShape="1">
            <a:gsLst>
              <a:gs pos="0">
                <a:srgbClr val="98A9BE">
                  <a:alpha val="92000"/>
                </a:srgbClr>
              </a:gs>
              <a:gs pos="100000">
                <a:srgbClr val="7E93AE">
                  <a:alpha val="92000"/>
                </a:srgbClr>
              </a:gs>
            </a:gsLst>
            <a:lin ang="7200000" scaled="0"/>
          </a:gradFill>
          <a:ln w="19050" cap="rnd">
            <a:solidFill>
              <a:srgbClr val="FFFFFF"/>
            </a:solidFill>
            <a:round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bn-5"/>
          <p:cNvSpPr txBox="1"/>
          <p:nvPr/>
        </p:nvSpPr>
        <p:spPr>
          <a:xfrm>
            <a:off x="5787720" y="4388710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咨询服务</a:t>
            </a:r>
          </a:p>
        </p:txBody>
      </p:sp>
      <p:sp>
        <p:nvSpPr>
          <p:cNvPr id="43" name="bv-5"/>
          <p:cNvSpPr txBox="1"/>
          <p:nvPr/>
        </p:nvSpPr>
        <p:spPr>
          <a:xfrm>
            <a:off x="5790006" y="4564637"/>
            <a:ext cx="66675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2.4 亿 · +5%</a:t>
            </a:r>
          </a:p>
        </p:txBody>
      </p:sp>
      <p:sp>
        <p:nvSpPr>
          <p:cNvPr id="44" name="b-6"/>
          <p:cNvSpPr/>
          <p:nvPr/>
        </p:nvSpPr>
        <p:spPr>
          <a:xfrm>
            <a:off x="6475429" y="4944803"/>
            <a:ext cx="358743" cy="358743"/>
          </a:xfrm>
          <a:prstGeom prst="ellipse">
            <a:avLst/>
          </a:prstGeom>
          <a:gradFill rotWithShape="1">
            <a:gsLst>
              <a:gs pos="0">
                <a:srgbClr val="98A9BE">
                  <a:alpha val="92000"/>
                </a:srgbClr>
              </a:gs>
              <a:gs pos="100000">
                <a:srgbClr val="7E93AE">
                  <a:alpha val="92000"/>
                </a:srgbClr>
              </a:gs>
            </a:gsLst>
            <a:lin ang="7200000" scaled="0"/>
          </a:gradFill>
          <a:ln w="19050" cap="rnd">
            <a:solidFill>
              <a:srgbClr val="FFFFFF"/>
            </a:solidFill>
            <a:round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bn-6"/>
          <p:cNvSpPr txBox="1"/>
          <p:nvPr/>
        </p:nvSpPr>
        <p:spPr>
          <a:xfrm>
            <a:off x="6884717" y="4978156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运维外包</a:t>
            </a:r>
          </a:p>
        </p:txBody>
      </p:sp>
      <p:sp>
        <p:nvSpPr>
          <p:cNvPr id="46" name="bv-6"/>
          <p:cNvSpPr txBox="1"/>
          <p:nvPr/>
        </p:nvSpPr>
        <p:spPr>
          <a:xfrm>
            <a:off x="6887003" y="5154082"/>
            <a:ext cx="66675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1.5 亿 · -2%</a:t>
            </a:r>
          </a:p>
        </p:txBody>
      </p:sp>
      <p:sp>
        <p:nvSpPr>
          <p:cNvPr id="47" name="st-1"/>
          <p:cNvSpPr/>
          <p:nvPr/>
        </p:nvSpPr>
        <p:spPr>
          <a:xfrm>
            <a:off x="7937500" y="1587500"/>
            <a:ext cx="3302000" cy="863600"/>
          </a:xfrm>
          <a:custGeom>
            <a:avLst/>
            <a:gdLst/>
            <a:ahLst/>
            <a:cxnLst/>
            <a:rect l="0" t="0" r="r" b="b"/>
            <a:pathLst>
              <a:path w="3302000" h="863600">
                <a:moveTo>
                  <a:pt x="127000" y="0"/>
                </a:moveTo>
                <a:lnTo>
                  <a:pt x="3175000" y="0"/>
                </a:lnTo>
                <a:cubicBezTo>
                  <a:pt x="3245167" y="0"/>
                  <a:pt x="3302000" y="56832"/>
                  <a:pt x="3302000" y="127000"/>
                </a:cubicBezTo>
                <a:lnTo>
                  <a:pt x="3302000" y="736600"/>
                </a:lnTo>
                <a:cubicBezTo>
                  <a:pt x="3302000" y="806768"/>
                  <a:pt x="3245167" y="863600"/>
                  <a:pt x="3175000" y="863600"/>
                </a:cubicBezTo>
                <a:lnTo>
                  <a:pt x="127000" y="863600"/>
                </a:lnTo>
                <a:cubicBezTo>
                  <a:pt x="56833" y="863600"/>
                  <a:pt x="0" y="806768"/>
                  <a:pt x="0" y="7366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stb-1"/>
          <p:cNvSpPr/>
          <p:nvPr/>
        </p:nvSpPr>
        <p:spPr>
          <a:xfrm>
            <a:off x="7937500" y="1587500"/>
            <a:ext cx="38100" cy="863600"/>
          </a:xfrm>
          <a:custGeom>
            <a:avLst/>
            <a:gdLst/>
            <a:ahLst/>
            <a:cxnLst/>
            <a:rect l="0" t="0" r="r" b="b"/>
            <a:pathLst>
              <a:path w="38100" h="8636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844550"/>
                </a:lnTo>
                <a:cubicBezTo>
                  <a:pt x="38100" y="855091"/>
                  <a:pt x="29591" y="863600"/>
                  <a:pt x="19050" y="863600"/>
                </a:cubicBezTo>
                <a:lnTo>
                  <a:pt x="19050" y="863600"/>
                </a:lnTo>
                <a:cubicBezTo>
                  <a:pt x="8509" y="863600"/>
                  <a:pt x="0" y="855091"/>
                  <a:pt x="0" y="8445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chip"/>
          <p:cNvSpPr/>
          <p:nvPr/>
        </p:nvSpPr>
        <p:spPr>
          <a:xfrm>
            <a:off x="8102600" y="1739900"/>
            <a:ext cx="330200" cy="330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chip-ring"/>
          <p:cNvSpPr/>
          <p:nvPr/>
        </p:nvSpPr>
        <p:spPr>
          <a:xfrm>
            <a:off x="8102600" y="1739900"/>
            <a:ext cx="330200" cy="330200"/>
          </a:xfrm>
          <a:prstGeom prst="ellipse">
            <a:avLst/>
          </a:prstGeom>
          <a:noFill/>
          <a:ln w="6350" cap="rnd">
            <a:solidFill>
              <a:srgbClr val="0B3E8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icon-star"/>
          <p:cNvSpPr/>
          <p:nvPr/>
        </p:nvSpPr>
        <p:spPr>
          <a:xfrm>
            <a:off x="8213725" y="1851660"/>
            <a:ext cx="107950" cy="102870"/>
          </a:xfrm>
          <a:custGeom>
            <a:avLst/>
            <a:gdLst/>
            <a:ahLst/>
            <a:cxnLst/>
            <a:rect l="0" t="0" r="r" b="b"/>
            <a:pathLst>
              <a:path w="107950" h="102870">
                <a:moveTo>
                  <a:pt x="53975" y="0"/>
                </a:moveTo>
                <a:lnTo>
                  <a:pt x="70485" y="34290"/>
                </a:lnTo>
                <a:lnTo>
                  <a:pt x="107950" y="39370"/>
                </a:lnTo>
                <a:lnTo>
                  <a:pt x="80645" y="65405"/>
                </a:lnTo>
                <a:lnTo>
                  <a:pt x="87630" y="102870"/>
                </a:lnTo>
                <a:lnTo>
                  <a:pt x="53975" y="84455"/>
                </a:lnTo>
                <a:lnTo>
                  <a:pt x="20320" y="102870"/>
                </a:lnTo>
                <a:lnTo>
                  <a:pt x="27305" y="65405"/>
                </a:lnTo>
                <a:lnTo>
                  <a:pt x="0" y="39370"/>
                </a:lnTo>
                <a:lnTo>
                  <a:pt x="37465" y="34290"/>
                </a:lnTo>
                <a:close/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stn-1"/>
          <p:cNvSpPr txBox="1"/>
          <p:nvPr/>
        </p:nvSpPr>
        <p:spPr>
          <a:xfrm>
            <a:off x="8515350" y="17597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明星</a:t>
            </a:r>
          </a:p>
        </p:txBody>
      </p:sp>
      <p:sp>
        <p:nvSpPr>
          <p:cNvPr id="53" name="sts-1"/>
          <p:cNvSpPr txBox="1"/>
          <p:nvPr/>
        </p:nvSpPr>
        <p:spPr>
          <a:xfrm>
            <a:off x="9067165" y="1818561"/>
            <a:ext cx="111728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加大投入，抢占份额</a:t>
            </a:r>
          </a:p>
        </p:txBody>
      </p:sp>
      <p:sp>
        <p:nvSpPr>
          <p:cNvPr id="54" name="stw-1"/>
          <p:cNvSpPr txBox="1"/>
          <p:nvPr/>
        </p:nvSpPr>
        <p:spPr>
          <a:xfrm>
            <a:off x="8521446" y="2114582"/>
            <a:ext cx="42672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云服务</a:t>
            </a:r>
          </a:p>
        </p:txBody>
      </p:sp>
      <p:sp>
        <p:nvSpPr>
          <p:cNvPr id="55" name="st-2"/>
          <p:cNvSpPr/>
          <p:nvPr/>
        </p:nvSpPr>
        <p:spPr>
          <a:xfrm>
            <a:off x="7937500" y="2552700"/>
            <a:ext cx="3302000" cy="863600"/>
          </a:xfrm>
          <a:custGeom>
            <a:avLst/>
            <a:gdLst/>
            <a:ahLst/>
            <a:cxnLst/>
            <a:rect l="0" t="0" r="r" b="b"/>
            <a:pathLst>
              <a:path w="3302000" h="863600">
                <a:moveTo>
                  <a:pt x="127000" y="0"/>
                </a:moveTo>
                <a:lnTo>
                  <a:pt x="3175000" y="0"/>
                </a:lnTo>
                <a:cubicBezTo>
                  <a:pt x="3245167" y="0"/>
                  <a:pt x="3302000" y="56832"/>
                  <a:pt x="3302000" y="127000"/>
                </a:cubicBezTo>
                <a:lnTo>
                  <a:pt x="3302000" y="736600"/>
                </a:lnTo>
                <a:cubicBezTo>
                  <a:pt x="3302000" y="806767"/>
                  <a:pt x="3245167" y="863600"/>
                  <a:pt x="3175000" y="863600"/>
                </a:cubicBezTo>
                <a:lnTo>
                  <a:pt x="127000" y="863600"/>
                </a:lnTo>
                <a:cubicBezTo>
                  <a:pt x="56833" y="863600"/>
                  <a:pt x="0" y="806767"/>
                  <a:pt x="0" y="7366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stb-2"/>
          <p:cNvSpPr/>
          <p:nvPr/>
        </p:nvSpPr>
        <p:spPr>
          <a:xfrm>
            <a:off x="7937500" y="2552700"/>
            <a:ext cx="38100" cy="863600"/>
          </a:xfrm>
          <a:custGeom>
            <a:avLst/>
            <a:gdLst/>
            <a:ahLst/>
            <a:cxnLst/>
            <a:rect l="0" t="0" r="r" b="b"/>
            <a:pathLst>
              <a:path w="38100" h="8636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844550"/>
                </a:lnTo>
                <a:cubicBezTo>
                  <a:pt x="38100" y="855091"/>
                  <a:pt x="29591" y="863600"/>
                  <a:pt x="19050" y="863600"/>
                </a:cubicBezTo>
                <a:lnTo>
                  <a:pt x="19050" y="863600"/>
                </a:lnTo>
                <a:cubicBezTo>
                  <a:pt x="8509" y="863600"/>
                  <a:pt x="0" y="855091"/>
                  <a:pt x="0" y="8445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chip"/>
          <p:cNvSpPr/>
          <p:nvPr/>
        </p:nvSpPr>
        <p:spPr>
          <a:xfrm>
            <a:off x="8102600" y="2705100"/>
            <a:ext cx="330200" cy="330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chip-ring"/>
          <p:cNvSpPr/>
          <p:nvPr/>
        </p:nvSpPr>
        <p:spPr>
          <a:xfrm>
            <a:off x="8102600" y="2705100"/>
            <a:ext cx="330200" cy="330200"/>
          </a:xfrm>
          <a:prstGeom prst="ellipse">
            <a:avLst/>
          </a:prstGeom>
          <a:noFill/>
          <a:ln w="6350" cap="rnd">
            <a:solidFill>
              <a:srgbClr val="1B5AA8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icon-coin"/>
          <p:cNvSpPr/>
          <p:nvPr/>
        </p:nvSpPr>
        <p:spPr>
          <a:xfrm>
            <a:off x="8227060" y="2834640"/>
            <a:ext cx="81280" cy="71120"/>
          </a:xfrm>
          <a:custGeom>
            <a:avLst/>
            <a:gdLst/>
            <a:ahLst/>
            <a:cxnLst/>
            <a:rect l="0" t="0" r="r" b="b"/>
            <a:pathLst>
              <a:path w="81280" h="71120">
                <a:moveTo>
                  <a:pt x="40640" y="0"/>
                </a:moveTo>
                <a:cubicBezTo>
                  <a:pt x="17780" y="0"/>
                  <a:pt x="0" y="6350"/>
                  <a:pt x="0" y="15240"/>
                </a:cubicBezTo>
                <a:cubicBezTo>
                  <a:pt x="0" y="24130"/>
                  <a:pt x="17780" y="30480"/>
                  <a:pt x="40640" y="30480"/>
                </a:cubicBezTo>
                <a:cubicBezTo>
                  <a:pt x="63500" y="30480"/>
                  <a:pt x="81280" y="24130"/>
                  <a:pt x="81280" y="15240"/>
                </a:cubicBezTo>
                <a:cubicBezTo>
                  <a:pt x="81280" y="6350"/>
                  <a:pt x="63500" y="0"/>
                  <a:pt x="40640" y="0"/>
                </a:cubicBezTo>
                <a:close/>
                <a:moveTo>
                  <a:pt x="0" y="15240"/>
                </a:moveTo>
                <a:lnTo>
                  <a:pt x="0" y="55880"/>
                </a:lnTo>
                <a:cubicBezTo>
                  <a:pt x="0" y="64770"/>
                  <a:pt x="17780" y="71120"/>
                  <a:pt x="40640" y="71120"/>
                </a:cubicBezTo>
                <a:cubicBezTo>
                  <a:pt x="63500" y="71120"/>
                  <a:pt x="81280" y="64770"/>
                  <a:pt x="81280" y="55880"/>
                </a:cubicBezTo>
                <a:lnTo>
                  <a:pt x="81280" y="15240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stn-2"/>
          <p:cNvSpPr txBox="1"/>
          <p:nvPr/>
        </p:nvSpPr>
        <p:spPr>
          <a:xfrm>
            <a:off x="8515350" y="27249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金牛</a:t>
            </a:r>
          </a:p>
        </p:txBody>
      </p:sp>
      <p:sp>
        <p:nvSpPr>
          <p:cNvPr id="61" name="sts-2"/>
          <p:cNvSpPr txBox="1"/>
          <p:nvPr/>
        </p:nvSpPr>
        <p:spPr>
          <a:xfrm>
            <a:off x="9067165" y="2783761"/>
            <a:ext cx="111728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稳住利润，回收现金</a:t>
            </a:r>
          </a:p>
        </p:txBody>
      </p:sp>
      <p:sp>
        <p:nvSpPr>
          <p:cNvPr id="62" name="stw-2"/>
          <p:cNvSpPr txBox="1"/>
          <p:nvPr/>
        </p:nvSpPr>
        <p:spPr>
          <a:xfrm>
            <a:off x="8521446" y="3079782"/>
            <a:ext cx="53657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企业软件</a:t>
            </a:r>
          </a:p>
        </p:txBody>
      </p:sp>
      <p:sp>
        <p:nvSpPr>
          <p:cNvPr id="63" name="st-3"/>
          <p:cNvSpPr/>
          <p:nvPr/>
        </p:nvSpPr>
        <p:spPr>
          <a:xfrm>
            <a:off x="7937500" y="3517900"/>
            <a:ext cx="3302000" cy="863600"/>
          </a:xfrm>
          <a:custGeom>
            <a:avLst/>
            <a:gdLst/>
            <a:ahLst/>
            <a:cxnLst/>
            <a:rect l="0" t="0" r="r" b="b"/>
            <a:pathLst>
              <a:path w="3302000" h="863600">
                <a:moveTo>
                  <a:pt x="127000" y="0"/>
                </a:moveTo>
                <a:lnTo>
                  <a:pt x="3175000" y="0"/>
                </a:lnTo>
                <a:cubicBezTo>
                  <a:pt x="3245167" y="0"/>
                  <a:pt x="3302000" y="56833"/>
                  <a:pt x="3302000" y="127000"/>
                </a:cubicBezTo>
                <a:lnTo>
                  <a:pt x="3302000" y="736600"/>
                </a:lnTo>
                <a:cubicBezTo>
                  <a:pt x="3302000" y="806767"/>
                  <a:pt x="3245167" y="863600"/>
                  <a:pt x="3175000" y="863600"/>
                </a:cubicBezTo>
                <a:lnTo>
                  <a:pt x="127000" y="863600"/>
                </a:lnTo>
                <a:cubicBezTo>
                  <a:pt x="56833" y="863600"/>
                  <a:pt x="0" y="806767"/>
                  <a:pt x="0" y="7366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stb-3"/>
          <p:cNvSpPr/>
          <p:nvPr/>
        </p:nvSpPr>
        <p:spPr>
          <a:xfrm>
            <a:off x="7937500" y="3517900"/>
            <a:ext cx="38100" cy="863600"/>
          </a:xfrm>
          <a:custGeom>
            <a:avLst/>
            <a:gdLst/>
            <a:ahLst/>
            <a:cxnLst/>
            <a:rect l="0" t="0" r="r" b="b"/>
            <a:pathLst>
              <a:path w="38100" h="8636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844550"/>
                </a:lnTo>
                <a:cubicBezTo>
                  <a:pt x="38100" y="855091"/>
                  <a:pt x="29591" y="863600"/>
                  <a:pt x="19050" y="863600"/>
                </a:cubicBezTo>
                <a:lnTo>
                  <a:pt x="19050" y="863600"/>
                </a:lnTo>
                <a:cubicBezTo>
                  <a:pt x="8509" y="863600"/>
                  <a:pt x="0" y="855091"/>
                  <a:pt x="0" y="8445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chip"/>
          <p:cNvSpPr/>
          <p:nvPr/>
        </p:nvSpPr>
        <p:spPr>
          <a:xfrm>
            <a:off x="8102600" y="3670300"/>
            <a:ext cx="330200" cy="330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chip-ring"/>
          <p:cNvSpPr/>
          <p:nvPr/>
        </p:nvSpPr>
        <p:spPr>
          <a:xfrm>
            <a:off x="8102600" y="3670300"/>
            <a:ext cx="330200" cy="330200"/>
          </a:xfrm>
          <a:prstGeom prst="ellipse">
            <a:avLst/>
          </a:prstGeom>
          <a:noFill/>
          <a:ln w="6350" cap="rnd">
            <a:solidFill>
              <a:srgbClr val="3985CD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icon-search"/>
          <p:cNvSpPr/>
          <p:nvPr/>
        </p:nvSpPr>
        <p:spPr>
          <a:xfrm>
            <a:off x="8289290" y="3856990"/>
            <a:ext cx="25400" cy="25400"/>
          </a:xfrm>
          <a:custGeom>
            <a:avLst/>
            <a:gdLst/>
            <a:ahLst/>
            <a:cxnLst/>
            <a:rect l="0" t="0" r="r" b="b"/>
            <a:pathLst>
              <a:path w="25400" h="25400">
                <a:moveTo>
                  <a:pt x="25400" y="25400"/>
                </a:moveTo>
                <a:lnTo>
                  <a:pt x="0" y="0"/>
                </a:lnTo>
              </a:path>
            </a:pathLst>
          </a:custGeom>
          <a:noFill/>
          <a:ln w="1270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icon-search"/>
          <p:cNvSpPr/>
          <p:nvPr/>
        </p:nvSpPr>
        <p:spPr>
          <a:xfrm>
            <a:off x="8220710" y="3788410"/>
            <a:ext cx="81280" cy="81280"/>
          </a:xfrm>
          <a:prstGeom prst="ellipse">
            <a:avLst/>
          </a:prstGeom>
          <a:noFill/>
          <a:ln w="1270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stn-3"/>
          <p:cNvSpPr txBox="1"/>
          <p:nvPr/>
        </p:nvSpPr>
        <p:spPr>
          <a:xfrm>
            <a:off x="8515350" y="36901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问号</a:t>
            </a:r>
          </a:p>
        </p:txBody>
      </p:sp>
      <p:sp>
        <p:nvSpPr>
          <p:cNvPr id="70" name="sts-3"/>
          <p:cNvSpPr txBox="1"/>
          <p:nvPr/>
        </p:nvSpPr>
        <p:spPr>
          <a:xfrm>
            <a:off x="9067165" y="3748961"/>
            <a:ext cx="134334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选择性下注，一年后复盘</a:t>
            </a:r>
          </a:p>
        </p:txBody>
      </p:sp>
      <p:sp>
        <p:nvSpPr>
          <p:cNvPr id="71" name="stw-3"/>
          <p:cNvSpPr txBox="1"/>
          <p:nvPr/>
        </p:nvSpPr>
        <p:spPr>
          <a:xfrm>
            <a:off x="8521446" y="4044982"/>
            <a:ext cx="108585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数据服务、智能硬件</a:t>
            </a:r>
          </a:p>
        </p:txBody>
      </p:sp>
      <p:sp>
        <p:nvSpPr>
          <p:cNvPr id="72" name="st-4"/>
          <p:cNvSpPr/>
          <p:nvPr/>
        </p:nvSpPr>
        <p:spPr>
          <a:xfrm>
            <a:off x="7937500" y="4483100"/>
            <a:ext cx="3302000" cy="863600"/>
          </a:xfrm>
          <a:custGeom>
            <a:avLst/>
            <a:gdLst/>
            <a:ahLst/>
            <a:cxnLst/>
            <a:rect l="0" t="0" r="r" b="b"/>
            <a:pathLst>
              <a:path w="3302000" h="863600">
                <a:moveTo>
                  <a:pt x="127000" y="0"/>
                </a:moveTo>
                <a:lnTo>
                  <a:pt x="3175000" y="0"/>
                </a:lnTo>
                <a:cubicBezTo>
                  <a:pt x="3245167" y="0"/>
                  <a:pt x="3302000" y="56833"/>
                  <a:pt x="3302000" y="127000"/>
                </a:cubicBezTo>
                <a:lnTo>
                  <a:pt x="3302000" y="736600"/>
                </a:lnTo>
                <a:cubicBezTo>
                  <a:pt x="3302000" y="806767"/>
                  <a:pt x="3245167" y="863600"/>
                  <a:pt x="3175000" y="863600"/>
                </a:cubicBezTo>
                <a:lnTo>
                  <a:pt x="127000" y="863600"/>
                </a:lnTo>
                <a:cubicBezTo>
                  <a:pt x="56833" y="863600"/>
                  <a:pt x="0" y="806767"/>
                  <a:pt x="0" y="7366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stb-4"/>
          <p:cNvSpPr/>
          <p:nvPr/>
        </p:nvSpPr>
        <p:spPr>
          <a:xfrm>
            <a:off x="7937500" y="4483100"/>
            <a:ext cx="38100" cy="863600"/>
          </a:xfrm>
          <a:custGeom>
            <a:avLst/>
            <a:gdLst/>
            <a:ahLst/>
            <a:cxnLst/>
            <a:rect l="0" t="0" r="r" b="b"/>
            <a:pathLst>
              <a:path w="38100" h="8636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844550"/>
                </a:lnTo>
                <a:cubicBezTo>
                  <a:pt x="38100" y="855091"/>
                  <a:pt x="29591" y="863600"/>
                  <a:pt x="19050" y="863600"/>
                </a:cubicBezTo>
                <a:lnTo>
                  <a:pt x="19050" y="863600"/>
                </a:lnTo>
                <a:cubicBezTo>
                  <a:pt x="8509" y="863600"/>
                  <a:pt x="0" y="855091"/>
                  <a:pt x="0" y="8445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7E93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chip"/>
          <p:cNvSpPr/>
          <p:nvPr/>
        </p:nvSpPr>
        <p:spPr>
          <a:xfrm>
            <a:off x="8102600" y="4635500"/>
            <a:ext cx="330200" cy="3302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chip-ring"/>
          <p:cNvSpPr/>
          <p:nvPr/>
        </p:nvSpPr>
        <p:spPr>
          <a:xfrm>
            <a:off x="8102600" y="4635500"/>
            <a:ext cx="330200" cy="330200"/>
          </a:xfrm>
          <a:prstGeom prst="ellipse">
            <a:avLst/>
          </a:prstGeom>
          <a:noFill/>
          <a:ln w="6350" cap="rnd">
            <a:solidFill>
              <a:srgbClr val="7E93AE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icon-clock"/>
          <p:cNvSpPr/>
          <p:nvPr/>
        </p:nvSpPr>
        <p:spPr>
          <a:xfrm>
            <a:off x="8267700" y="4770120"/>
            <a:ext cx="20320" cy="42545"/>
          </a:xfrm>
          <a:custGeom>
            <a:avLst/>
            <a:gdLst/>
            <a:ahLst/>
            <a:cxnLst/>
            <a:rect l="0" t="0" r="r" b="b"/>
            <a:pathLst>
              <a:path w="20320" h="42545">
                <a:moveTo>
                  <a:pt x="0" y="0"/>
                </a:moveTo>
                <a:lnTo>
                  <a:pt x="0" y="30480"/>
                </a:lnTo>
                <a:lnTo>
                  <a:pt x="20320" y="42545"/>
                </a:lnTo>
              </a:path>
            </a:pathLst>
          </a:custGeom>
          <a:noFill/>
          <a:ln w="12700" cap="rnd">
            <a:solidFill>
              <a:srgbClr val="7E93AE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icon-clock"/>
          <p:cNvSpPr/>
          <p:nvPr/>
        </p:nvSpPr>
        <p:spPr>
          <a:xfrm>
            <a:off x="8213090" y="4745990"/>
            <a:ext cx="109220" cy="109220"/>
          </a:xfrm>
          <a:prstGeom prst="ellipse">
            <a:avLst/>
          </a:prstGeom>
          <a:noFill/>
          <a:ln w="12700" cap="rnd">
            <a:solidFill>
              <a:srgbClr val="7E93AE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stn-4"/>
          <p:cNvSpPr txBox="1"/>
          <p:nvPr/>
        </p:nvSpPr>
        <p:spPr>
          <a:xfrm>
            <a:off x="8515350" y="46553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瘦狗</a:t>
            </a:r>
          </a:p>
        </p:txBody>
      </p:sp>
      <p:sp>
        <p:nvSpPr>
          <p:cNvPr id="79" name="sts-4"/>
          <p:cNvSpPr txBox="1"/>
          <p:nvPr/>
        </p:nvSpPr>
        <p:spPr>
          <a:xfrm>
            <a:off x="9067165" y="4714161"/>
            <a:ext cx="66516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收缩或出售</a:t>
            </a:r>
          </a:p>
        </p:txBody>
      </p:sp>
      <p:sp>
        <p:nvSpPr>
          <p:cNvPr id="80" name="stw-4"/>
          <p:cNvSpPr txBox="1"/>
          <p:nvPr/>
        </p:nvSpPr>
        <p:spPr>
          <a:xfrm>
            <a:off x="8521446" y="5010182"/>
            <a:ext cx="108585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咨询服务、运维外包</a:t>
            </a:r>
          </a:p>
        </p:txBody>
      </p:sp>
      <p:sp>
        <p:nvSpPr>
          <p:cNvPr id="81" name="sum"/>
          <p:cNvSpPr/>
          <p:nvPr/>
        </p:nvSpPr>
        <p:spPr>
          <a:xfrm>
            <a:off x="952500" y="5918200"/>
            <a:ext cx="10287000" cy="406400"/>
          </a:xfrm>
          <a:custGeom>
            <a:avLst/>
            <a:gdLst/>
            <a:ahLst/>
            <a:cxnLst/>
            <a:rect l="0" t="0" r="r" b="b"/>
            <a:pathLst>
              <a:path w="10287000" h="4064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17500"/>
                </a:lnTo>
                <a:cubicBezTo>
                  <a:pt x="10287000" y="366586"/>
                  <a:pt x="10247186" y="406400"/>
                  <a:pt x="10198100" y="406400"/>
                </a:cubicBezTo>
                <a:lnTo>
                  <a:pt x="88900" y="406400"/>
                </a:lnTo>
                <a:cubicBezTo>
                  <a:pt x="39815" y="406400"/>
                  <a:pt x="0" y="366586"/>
                  <a:pt x="0" y="3175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sum-bar"/>
          <p:cNvSpPr/>
          <p:nvPr/>
        </p:nvSpPr>
        <p:spPr>
          <a:xfrm>
            <a:off x="952500" y="5918200"/>
            <a:ext cx="31750" cy="4064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sum-h"/>
          <p:cNvSpPr txBox="1"/>
          <p:nvPr/>
        </p:nvSpPr>
        <p:spPr>
          <a:xfrm>
            <a:off x="1142746" y="604523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资源配置</a:t>
            </a:r>
          </a:p>
        </p:txBody>
      </p:sp>
      <p:sp>
        <p:nvSpPr>
          <p:cNvPr id="84" name="sum-p"/>
          <p:cNvSpPr txBox="1"/>
          <p:nvPr/>
        </p:nvSpPr>
        <p:spPr>
          <a:xfrm>
            <a:off x="1891665" y="6041311"/>
            <a:ext cx="497046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金牛业务的现金流反哺明星与问号；两条瘦狗业务明年内完成剥离，释放约 120 人投入云服务。</a:t>
            </a:r>
          </a:p>
        </p:txBody>
      </p:sp>
      <p:cxnSp>
        <p:nvCxnSpPr>
          <p:cNvPr id="85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6" name="foot-l"/>
          <p:cNvSpPr txBox="1"/>
          <p:nvPr/>
        </p:nvSpPr>
        <p:spPr>
          <a:xfrm>
            <a:off x="573532" y="6532308"/>
            <a:ext cx="124218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波士顿矩阵 · 六条业务线</a:t>
            </a:r>
          </a:p>
        </p:txBody>
      </p:sp>
      <p:sp>
        <p:nvSpPr>
          <p:cNvPr id="87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9946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数字化转型力场分析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9011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FORCE FIELD ANALYSIS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075295" y="673132"/>
            <a:ext cx="35454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左边推着我们往前走，右边拉着我们往后退——先削弱最大的两股阻力</a:t>
            </a:r>
          </a:p>
        </p:txBody>
      </p:sp>
      <p:sp>
        <p:nvSpPr>
          <p:cNvPr id="10" name="axis"/>
          <p:cNvSpPr/>
          <p:nvPr/>
        </p:nvSpPr>
        <p:spPr>
          <a:xfrm>
            <a:off x="5715000" y="1422400"/>
            <a:ext cx="762000" cy="3492500"/>
          </a:xfrm>
          <a:custGeom>
            <a:avLst/>
            <a:gdLst/>
            <a:ahLst/>
            <a:cxnLst/>
            <a:rect l="0" t="0" r="r" b="b"/>
            <a:pathLst>
              <a:path w="762000" h="3492500">
                <a:moveTo>
                  <a:pt x="127000" y="0"/>
                </a:moveTo>
                <a:lnTo>
                  <a:pt x="635000" y="0"/>
                </a:lnTo>
                <a:cubicBezTo>
                  <a:pt x="705167" y="0"/>
                  <a:pt x="762000" y="56832"/>
                  <a:pt x="762000" y="127000"/>
                </a:cubicBezTo>
                <a:lnTo>
                  <a:pt x="762000" y="3365500"/>
                </a:lnTo>
                <a:cubicBezTo>
                  <a:pt x="762000" y="3435667"/>
                  <a:pt x="705167" y="3492500"/>
                  <a:pt x="635000" y="3492500"/>
                </a:cubicBezTo>
                <a:lnTo>
                  <a:pt x="127000" y="3492500"/>
                </a:lnTo>
                <a:cubicBezTo>
                  <a:pt x="56833" y="3492500"/>
                  <a:pt x="0" y="3435667"/>
                  <a:pt x="0" y="33655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axis-l"/>
          <p:cNvSpPr/>
          <p:nvPr/>
        </p:nvSpPr>
        <p:spPr>
          <a:xfrm>
            <a:off x="6070600" y="1587500"/>
            <a:ext cx="50800" cy="3175000"/>
          </a:xfrm>
          <a:custGeom>
            <a:avLst/>
            <a:gdLst/>
            <a:ahLst/>
            <a:cxnLst/>
            <a:rect l="0" t="0" r="r" b="b"/>
            <a:pathLst>
              <a:path w="50800" h="3175000">
                <a:moveTo>
                  <a:pt x="25400" y="0"/>
                </a:moveTo>
                <a:lnTo>
                  <a:pt x="25400" y="0"/>
                </a:lnTo>
                <a:cubicBezTo>
                  <a:pt x="39434" y="0"/>
                  <a:pt x="50800" y="11366"/>
                  <a:pt x="50800" y="25400"/>
                </a:cubicBezTo>
                <a:lnTo>
                  <a:pt x="50800" y="3149600"/>
                </a:lnTo>
                <a:cubicBezTo>
                  <a:pt x="50800" y="3163634"/>
                  <a:pt x="39434" y="3175000"/>
                  <a:pt x="25400" y="3175000"/>
                </a:cubicBezTo>
                <a:lnTo>
                  <a:pt x="25400" y="3175000"/>
                </a:lnTo>
                <a:cubicBezTo>
                  <a:pt x="11366" y="3175000"/>
                  <a:pt x="0" y="3163634"/>
                  <a:pt x="0" y="3149600"/>
                </a:cubicBezTo>
                <a:lnTo>
                  <a:pt x="0" y="25400"/>
                </a:lnTo>
                <a:cubicBezTo>
                  <a:pt x="0" y="11366"/>
                  <a:pt x="11366" y="0"/>
                  <a:pt x="254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axis-t"/>
          <p:cNvSpPr txBox="1"/>
          <p:nvPr/>
        </p:nvSpPr>
        <p:spPr>
          <a:xfrm>
            <a:off x="5904865" y="1205040"/>
            <a:ext cx="3822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现状</a:t>
            </a:r>
          </a:p>
        </p:txBody>
      </p:sp>
      <p:sp>
        <p:nvSpPr>
          <p:cNvPr id="13" name="hd-l"/>
          <p:cNvSpPr txBox="1"/>
          <p:nvPr/>
        </p:nvSpPr>
        <p:spPr>
          <a:xfrm>
            <a:off x="4869815" y="1197197"/>
            <a:ext cx="66916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100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推动力 →</a:t>
            </a:r>
          </a:p>
        </p:txBody>
      </p:sp>
      <p:sp>
        <p:nvSpPr>
          <p:cNvPr id="14" name="hd-r"/>
          <p:cNvSpPr txBox="1"/>
          <p:nvPr/>
        </p:nvSpPr>
        <p:spPr>
          <a:xfrm>
            <a:off x="6653022" y="1197197"/>
            <a:ext cx="5358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← 阻力</a:t>
            </a:r>
          </a:p>
        </p:txBody>
      </p:sp>
      <p:sp>
        <p:nvSpPr>
          <p:cNvPr id="15" name="da-1"/>
          <p:cNvSpPr/>
          <p:nvPr/>
        </p:nvSpPr>
        <p:spPr>
          <a:xfrm>
            <a:off x="2819400" y="1758950"/>
            <a:ext cx="2857500" cy="292100"/>
          </a:xfrm>
          <a:custGeom>
            <a:avLst/>
            <a:gdLst/>
            <a:ahLst/>
            <a:cxnLst/>
            <a:rect l="0" t="0" r="r" b="b"/>
            <a:pathLst>
              <a:path w="2857500" h="292100">
                <a:moveTo>
                  <a:pt x="0" y="55499"/>
                </a:moveTo>
                <a:lnTo>
                  <a:pt x="2641600" y="55499"/>
                </a:lnTo>
                <a:lnTo>
                  <a:pt x="2641600" y="0"/>
                </a:lnTo>
                <a:lnTo>
                  <a:pt x="2857500" y="146050"/>
                </a:lnTo>
                <a:lnTo>
                  <a:pt x="2641600" y="292100"/>
                </a:lnTo>
                <a:lnTo>
                  <a:pt x="2641600" y="236601"/>
                </a:lnTo>
                <a:lnTo>
                  <a:pt x="0" y="236601"/>
                </a:lnTo>
                <a:close/>
              </a:path>
            </a:pathLst>
          </a:custGeom>
          <a:gradFill rotWithShape="1">
            <a:gsLst>
              <a:gs pos="0">
                <a:srgbClr val="668BBF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dv-1"/>
          <p:cNvSpPr txBox="1"/>
          <p:nvPr/>
        </p:nvSpPr>
        <p:spPr>
          <a:xfrm>
            <a:off x="2931922" y="1800447"/>
            <a:ext cx="17614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  <p:sp>
        <p:nvSpPr>
          <p:cNvPr id="17" name="dn-1"/>
          <p:cNvSpPr txBox="1"/>
          <p:nvPr/>
        </p:nvSpPr>
        <p:spPr>
          <a:xfrm>
            <a:off x="1923796" y="1808290"/>
            <a:ext cx="80772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管理层决心强</a:t>
            </a:r>
          </a:p>
        </p:txBody>
      </p:sp>
      <p:sp>
        <p:nvSpPr>
          <p:cNvPr id="18" name="ra-1"/>
          <p:cNvSpPr/>
          <p:nvPr/>
        </p:nvSpPr>
        <p:spPr>
          <a:xfrm>
            <a:off x="6515100" y="1758950"/>
            <a:ext cx="2857500" cy="292100"/>
          </a:xfrm>
          <a:custGeom>
            <a:avLst/>
            <a:gdLst/>
            <a:ahLst/>
            <a:cxnLst/>
            <a:rect l="0" t="0" r="r" b="b"/>
            <a:pathLst>
              <a:path w="2857500" h="292100">
                <a:moveTo>
                  <a:pt x="2857500" y="55499"/>
                </a:moveTo>
                <a:lnTo>
                  <a:pt x="215900" y="55499"/>
                </a:lnTo>
                <a:lnTo>
                  <a:pt x="215900" y="0"/>
                </a:lnTo>
                <a:lnTo>
                  <a:pt x="0" y="146050"/>
                </a:lnTo>
                <a:lnTo>
                  <a:pt x="215900" y="292100"/>
                </a:lnTo>
                <a:lnTo>
                  <a:pt x="215900" y="236601"/>
                </a:lnTo>
                <a:lnTo>
                  <a:pt x="2857500" y="236601"/>
                </a:lnTo>
                <a:close/>
              </a:path>
            </a:pathLst>
          </a:custGeom>
          <a:gradFill rotWithShape="1">
            <a:gsLst>
              <a:gs pos="0">
                <a:srgbClr val="EBA27F"/>
              </a:gs>
              <a:gs pos="100000">
                <a:srgbClr val="E0703A"/>
              </a:gs>
            </a:gsLst>
            <a:lin ang="108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rv-1"/>
          <p:cNvSpPr txBox="1"/>
          <p:nvPr/>
        </p:nvSpPr>
        <p:spPr>
          <a:xfrm>
            <a:off x="9083929" y="1800447"/>
            <a:ext cx="17614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  <p:sp>
        <p:nvSpPr>
          <p:cNvPr id="20" name="rn-1"/>
          <p:cNvSpPr txBox="1"/>
          <p:nvPr/>
        </p:nvSpPr>
        <p:spPr>
          <a:xfrm>
            <a:off x="9460484" y="1808290"/>
            <a:ext cx="10426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员工数字技能不足</a:t>
            </a:r>
          </a:p>
        </p:txBody>
      </p:sp>
      <p:sp>
        <p:nvSpPr>
          <p:cNvPr id="21" name="rt-1"/>
          <p:cNvSpPr/>
          <p:nvPr/>
        </p:nvSpPr>
        <p:spPr>
          <a:xfrm>
            <a:off x="10477500" y="1816100"/>
            <a:ext cx="406400" cy="177800"/>
          </a:xfrm>
          <a:custGeom>
            <a:avLst/>
            <a:gdLst/>
            <a:ahLst/>
            <a:cxnLst/>
            <a:rect l="0" t="0" r="r" b="b"/>
            <a:pathLst>
              <a:path w="406400" h="177800">
                <a:moveTo>
                  <a:pt x="88900" y="0"/>
                </a:moveTo>
                <a:lnTo>
                  <a:pt x="317500" y="0"/>
                </a:lnTo>
                <a:cubicBezTo>
                  <a:pt x="366586" y="0"/>
                  <a:pt x="406400" y="39814"/>
                  <a:pt x="406400" y="88900"/>
                </a:cubicBezTo>
                <a:lnTo>
                  <a:pt x="406400" y="88900"/>
                </a:lnTo>
                <a:cubicBezTo>
                  <a:pt x="406400" y="137986"/>
                  <a:pt x="366586" y="177800"/>
                  <a:pt x="3175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E0703A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rtt-1"/>
          <p:cNvSpPr txBox="1"/>
          <p:nvPr/>
        </p:nvSpPr>
        <p:spPr>
          <a:xfrm>
            <a:off x="10545445" y="1826958"/>
            <a:ext cx="2705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优先</a:t>
            </a:r>
          </a:p>
        </p:txBody>
      </p:sp>
      <p:sp>
        <p:nvSpPr>
          <p:cNvPr id="23" name="da-2"/>
          <p:cNvSpPr/>
          <p:nvPr/>
        </p:nvSpPr>
        <p:spPr>
          <a:xfrm>
            <a:off x="3390900" y="2393950"/>
            <a:ext cx="2286000" cy="292100"/>
          </a:xfrm>
          <a:custGeom>
            <a:avLst/>
            <a:gdLst/>
            <a:ahLst/>
            <a:cxnLst/>
            <a:rect l="0" t="0" r="r" b="b"/>
            <a:pathLst>
              <a:path w="2286000" h="292100">
                <a:moveTo>
                  <a:pt x="0" y="55499"/>
                </a:moveTo>
                <a:lnTo>
                  <a:pt x="2070100" y="55499"/>
                </a:lnTo>
                <a:lnTo>
                  <a:pt x="2070100" y="0"/>
                </a:lnTo>
                <a:lnTo>
                  <a:pt x="2286000" y="146050"/>
                </a:lnTo>
                <a:lnTo>
                  <a:pt x="2070100" y="292100"/>
                </a:lnTo>
                <a:lnTo>
                  <a:pt x="2070100" y="236601"/>
                </a:lnTo>
                <a:lnTo>
                  <a:pt x="0" y="236601"/>
                </a:lnTo>
                <a:close/>
              </a:path>
            </a:pathLst>
          </a:custGeom>
          <a:gradFill rotWithShape="1">
            <a:gsLst>
              <a:gs pos="0">
                <a:srgbClr val="668BBF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dv-2"/>
          <p:cNvSpPr txBox="1"/>
          <p:nvPr/>
        </p:nvSpPr>
        <p:spPr>
          <a:xfrm>
            <a:off x="3503422" y="2435447"/>
            <a:ext cx="17614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25" name="dn-2"/>
          <p:cNvSpPr txBox="1"/>
          <p:nvPr/>
        </p:nvSpPr>
        <p:spPr>
          <a:xfrm>
            <a:off x="2377821" y="2443290"/>
            <a:ext cx="925195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客户要求线上化</a:t>
            </a:r>
          </a:p>
        </p:txBody>
      </p:sp>
      <p:sp>
        <p:nvSpPr>
          <p:cNvPr id="26" name="ra-2"/>
          <p:cNvSpPr/>
          <p:nvPr/>
        </p:nvSpPr>
        <p:spPr>
          <a:xfrm>
            <a:off x="6515100" y="2393950"/>
            <a:ext cx="2286000" cy="292100"/>
          </a:xfrm>
          <a:custGeom>
            <a:avLst/>
            <a:gdLst/>
            <a:ahLst/>
            <a:cxnLst/>
            <a:rect l="0" t="0" r="r" b="b"/>
            <a:pathLst>
              <a:path w="2286000" h="292100">
                <a:moveTo>
                  <a:pt x="2286000" y="55499"/>
                </a:moveTo>
                <a:lnTo>
                  <a:pt x="215900" y="55499"/>
                </a:lnTo>
                <a:lnTo>
                  <a:pt x="215900" y="0"/>
                </a:lnTo>
                <a:lnTo>
                  <a:pt x="0" y="146050"/>
                </a:lnTo>
                <a:lnTo>
                  <a:pt x="215900" y="292100"/>
                </a:lnTo>
                <a:lnTo>
                  <a:pt x="215900" y="236601"/>
                </a:lnTo>
                <a:lnTo>
                  <a:pt x="2286000" y="236601"/>
                </a:lnTo>
                <a:close/>
              </a:path>
            </a:pathLst>
          </a:custGeom>
          <a:gradFill rotWithShape="1">
            <a:gsLst>
              <a:gs pos="0">
                <a:srgbClr val="EBA27F"/>
              </a:gs>
              <a:gs pos="100000">
                <a:srgbClr val="E0703A"/>
              </a:gs>
            </a:gsLst>
            <a:lin ang="108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rv-2"/>
          <p:cNvSpPr txBox="1"/>
          <p:nvPr/>
        </p:nvSpPr>
        <p:spPr>
          <a:xfrm>
            <a:off x="8512429" y="2435447"/>
            <a:ext cx="17614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28" name="rn-2"/>
          <p:cNvSpPr txBox="1"/>
          <p:nvPr/>
        </p:nvSpPr>
        <p:spPr>
          <a:xfrm>
            <a:off x="8888984" y="2443290"/>
            <a:ext cx="925195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旧系统难以迁移</a:t>
            </a:r>
          </a:p>
        </p:txBody>
      </p:sp>
      <p:sp>
        <p:nvSpPr>
          <p:cNvPr id="29" name="rt-2"/>
          <p:cNvSpPr/>
          <p:nvPr/>
        </p:nvSpPr>
        <p:spPr>
          <a:xfrm>
            <a:off x="9788525" y="2451100"/>
            <a:ext cx="406400" cy="177800"/>
          </a:xfrm>
          <a:custGeom>
            <a:avLst/>
            <a:gdLst/>
            <a:ahLst/>
            <a:cxnLst/>
            <a:rect l="0" t="0" r="r" b="b"/>
            <a:pathLst>
              <a:path w="406400" h="177800">
                <a:moveTo>
                  <a:pt x="88900" y="0"/>
                </a:moveTo>
                <a:lnTo>
                  <a:pt x="317500" y="0"/>
                </a:lnTo>
                <a:cubicBezTo>
                  <a:pt x="366586" y="0"/>
                  <a:pt x="406400" y="39814"/>
                  <a:pt x="406400" y="88900"/>
                </a:cubicBezTo>
                <a:lnTo>
                  <a:pt x="406400" y="88900"/>
                </a:lnTo>
                <a:cubicBezTo>
                  <a:pt x="406400" y="137986"/>
                  <a:pt x="366586" y="177800"/>
                  <a:pt x="3175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E0703A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rtt-2"/>
          <p:cNvSpPr txBox="1"/>
          <p:nvPr/>
        </p:nvSpPr>
        <p:spPr>
          <a:xfrm>
            <a:off x="9856470" y="2461958"/>
            <a:ext cx="2705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优先</a:t>
            </a:r>
          </a:p>
        </p:txBody>
      </p:sp>
      <p:sp>
        <p:nvSpPr>
          <p:cNvPr id="31" name="da-3"/>
          <p:cNvSpPr/>
          <p:nvPr/>
        </p:nvSpPr>
        <p:spPr>
          <a:xfrm>
            <a:off x="3390900" y="3028950"/>
            <a:ext cx="2286000" cy="292100"/>
          </a:xfrm>
          <a:custGeom>
            <a:avLst/>
            <a:gdLst/>
            <a:ahLst/>
            <a:cxnLst/>
            <a:rect l="0" t="0" r="r" b="b"/>
            <a:pathLst>
              <a:path w="2286000" h="292100">
                <a:moveTo>
                  <a:pt x="0" y="55499"/>
                </a:moveTo>
                <a:lnTo>
                  <a:pt x="2070100" y="55499"/>
                </a:lnTo>
                <a:lnTo>
                  <a:pt x="2070100" y="0"/>
                </a:lnTo>
                <a:lnTo>
                  <a:pt x="2286000" y="146050"/>
                </a:lnTo>
                <a:lnTo>
                  <a:pt x="2070100" y="292100"/>
                </a:lnTo>
                <a:lnTo>
                  <a:pt x="2070100" y="236601"/>
                </a:lnTo>
                <a:lnTo>
                  <a:pt x="0" y="236601"/>
                </a:lnTo>
                <a:close/>
              </a:path>
            </a:pathLst>
          </a:custGeom>
          <a:gradFill rotWithShape="1">
            <a:gsLst>
              <a:gs pos="0">
                <a:srgbClr val="668BBF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dv-3"/>
          <p:cNvSpPr txBox="1"/>
          <p:nvPr/>
        </p:nvSpPr>
        <p:spPr>
          <a:xfrm>
            <a:off x="3503422" y="3070447"/>
            <a:ext cx="17614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33" name="dn-3"/>
          <p:cNvSpPr txBox="1"/>
          <p:nvPr/>
        </p:nvSpPr>
        <p:spPr>
          <a:xfrm>
            <a:off x="2377821" y="3078290"/>
            <a:ext cx="925195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竞争对手已上线</a:t>
            </a:r>
          </a:p>
        </p:txBody>
      </p:sp>
      <p:sp>
        <p:nvSpPr>
          <p:cNvPr id="34" name="ra-3"/>
          <p:cNvSpPr/>
          <p:nvPr/>
        </p:nvSpPr>
        <p:spPr>
          <a:xfrm>
            <a:off x="6515100" y="3028950"/>
            <a:ext cx="1714500" cy="292100"/>
          </a:xfrm>
          <a:custGeom>
            <a:avLst/>
            <a:gdLst/>
            <a:ahLst/>
            <a:cxnLst/>
            <a:rect l="0" t="0" r="r" b="b"/>
            <a:pathLst>
              <a:path w="1714500" h="292100">
                <a:moveTo>
                  <a:pt x="1714500" y="55499"/>
                </a:moveTo>
                <a:lnTo>
                  <a:pt x="215900" y="55499"/>
                </a:lnTo>
                <a:lnTo>
                  <a:pt x="215900" y="0"/>
                </a:lnTo>
                <a:lnTo>
                  <a:pt x="0" y="146050"/>
                </a:lnTo>
                <a:lnTo>
                  <a:pt x="215900" y="292100"/>
                </a:lnTo>
                <a:lnTo>
                  <a:pt x="215900" y="236601"/>
                </a:lnTo>
                <a:lnTo>
                  <a:pt x="1714500" y="236601"/>
                </a:lnTo>
                <a:close/>
              </a:path>
            </a:pathLst>
          </a:custGeom>
          <a:gradFill rotWithShape="1">
            <a:gsLst>
              <a:gs pos="0">
                <a:srgbClr val="F0C3AA"/>
              </a:gs>
              <a:gs pos="100000">
                <a:srgbClr val="E8A27C"/>
              </a:gs>
            </a:gsLst>
            <a:lin ang="108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rv-3"/>
          <p:cNvSpPr txBox="1"/>
          <p:nvPr/>
        </p:nvSpPr>
        <p:spPr>
          <a:xfrm>
            <a:off x="7940929" y="3070447"/>
            <a:ext cx="17614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36" name="rn-3"/>
          <p:cNvSpPr txBox="1"/>
          <p:nvPr/>
        </p:nvSpPr>
        <p:spPr>
          <a:xfrm>
            <a:off x="8317484" y="3078290"/>
            <a:ext cx="5727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预算有限</a:t>
            </a:r>
          </a:p>
        </p:txBody>
      </p:sp>
      <p:sp>
        <p:nvSpPr>
          <p:cNvPr id="37" name="da-4"/>
          <p:cNvSpPr/>
          <p:nvPr/>
        </p:nvSpPr>
        <p:spPr>
          <a:xfrm>
            <a:off x="3962400" y="3663950"/>
            <a:ext cx="1714500" cy="292100"/>
          </a:xfrm>
          <a:custGeom>
            <a:avLst/>
            <a:gdLst/>
            <a:ahLst/>
            <a:cxnLst/>
            <a:rect l="0" t="0" r="r" b="b"/>
            <a:pathLst>
              <a:path w="1714500" h="292100">
                <a:moveTo>
                  <a:pt x="0" y="55499"/>
                </a:moveTo>
                <a:lnTo>
                  <a:pt x="1498600" y="55499"/>
                </a:lnTo>
                <a:lnTo>
                  <a:pt x="1498600" y="0"/>
                </a:lnTo>
                <a:lnTo>
                  <a:pt x="1714500" y="146050"/>
                </a:lnTo>
                <a:lnTo>
                  <a:pt x="1498600" y="292100"/>
                </a:lnTo>
                <a:lnTo>
                  <a:pt x="1498600" y="236601"/>
                </a:lnTo>
                <a:lnTo>
                  <a:pt x="0" y="236601"/>
                </a:lnTo>
                <a:close/>
              </a:path>
            </a:pathLst>
          </a:custGeom>
          <a:gradFill rotWithShape="1">
            <a:gsLst>
              <a:gs pos="0">
                <a:srgbClr val="668BBF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dv-4"/>
          <p:cNvSpPr txBox="1"/>
          <p:nvPr/>
        </p:nvSpPr>
        <p:spPr>
          <a:xfrm>
            <a:off x="4074922" y="3705447"/>
            <a:ext cx="17614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39" name="dn-4"/>
          <p:cNvSpPr txBox="1"/>
          <p:nvPr/>
        </p:nvSpPr>
        <p:spPr>
          <a:xfrm>
            <a:off x="2831846" y="3713290"/>
            <a:ext cx="10426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人工成本持续上涨</a:t>
            </a:r>
          </a:p>
        </p:txBody>
      </p:sp>
      <p:sp>
        <p:nvSpPr>
          <p:cNvPr id="40" name="ra-4"/>
          <p:cNvSpPr/>
          <p:nvPr/>
        </p:nvSpPr>
        <p:spPr>
          <a:xfrm>
            <a:off x="6515100" y="3663950"/>
            <a:ext cx="1714500" cy="292100"/>
          </a:xfrm>
          <a:custGeom>
            <a:avLst/>
            <a:gdLst/>
            <a:ahLst/>
            <a:cxnLst/>
            <a:rect l="0" t="0" r="r" b="b"/>
            <a:pathLst>
              <a:path w="1714500" h="292100">
                <a:moveTo>
                  <a:pt x="1714500" y="55499"/>
                </a:moveTo>
                <a:lnTo>
                  <a:pt x="215900" y="55499"/>
                </a:lnTo>
                <a:lnTo>
                  <a:pt x="215900" y="0"/>
                </a:lnTo>
                <a:lnTo>
                  <a:pt x="0" y="146050"/>
                </a:lnTo>
                <a:lnTo>
                  <a:pt x="215900" y="292100"/>
                </a:lnTo>
                <a:lnTo>
                  <a:pt x="215900" y="236601"/>
                </a:lnTo>
                <a:lnTo>
                  <a:pt x="1714500" y="236601"/>
                </a:lnTo>
                <a:close/>
              </a:path>
            </a:pathLst>
          </a:custGeom>
          <a:gradFill rotWithShape="1">
            <a:gsLst>
              <a:gs pos="0">
                <a:srgbClr val="F0C3AA"/>
              </a:gs>
              <a:gs pos="100000">
                <a:srgbClr val="E8A27C"/>
              </a:gs>
            </a:gsLst>
            <a:lin ang="108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rv-4"/>
          <p:cNvSpPr txBox="1"/>
          <p:nvPr/>
        </p:nvSpPr>
        <p:spPr>
          <a:xfrm>
            <a:off x="7940929" y="3705447"/>
            <a:ext cx="17614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42" name="rn-4"/>
          <p:cNvSpPr txBox="1"/>
          <p:nvPr/>
        </p:nvSpPr>
        <p:spPr>
          <a:xfrm>
            <a:off x="8317484" y="3713290"/>
            <a:ext cx="10426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部门数据不愿共享</a:t>
            </a:r>
          </a:p>
        </p:txBody>
      </p:sp>
      <p:sp>
        <p:nvSpPr>
          <p:cNvPr id="43" name="da-5"/>
          <p:cNvSpPr/>
          <p:nvPr/>
        </p:nvSpPr>
        <p:spPr>
          <a:xfrm>
            <a:off x="3962400" y="4298950"/>
            <a:ext cx="1714500" cy="292100"/>
          </a:xfrm>
          <a:custGeom>
            <a:avLst/>
            <a:gdLst/>
            <a:ahLst/>
            <a:cxnLst/>
            <a:rect l="0" t="0" r="r" b="b"/>
            <a:pathLst>
              <a:path w="1714500" h="292100">
                <a:moveTo>
                  <a:pt x="0" y="55499"/>
                </a:moveTo>
                <a:lnTo>
                  <a:pt x="1498600" y="55499"/>
                </a:lnTo>
                <a:lnTo>
                  <a:pt x="1498600" y="0"/>
                </a:lnTo>
                <a:lnTo>
                  <a:pt x="1714500" y="146050"/>
                </a:lnTo>
                <a:lnTo>
                  <a:pt x="1498600" y="292100"/>
                </a:lnTo>
                <a:lnTo>
                  <a:pt x="1498600" y="236601"/>
                </a:lnTo>
                <a:lnTo>
                  <a:pt x="0" y="236601"/>
                </a:lnTo>
                <a:close/>
              </a:path>
            </a:pathLst>
          </a:custGeom>
          <a:gradFill rotWithShape="1">
            <a:gsLst>
              <a:gs pos="0">
                <a:srgbClr val="668BBF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dv-5"/>
          <p:cNvSpPr txBox="1"/>
          <p:nvPr/>
        </p:nvSpPr>
        <p:spPr>
          <a:xfrm>
            <a:off x="4074922" y="4340447"/>
            <a:ext cx="17614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45" name="dn-5"/>
          <p:cNvSpPr txBox="1"/>
          <p:nvPr/>
        </p:nvSpPr>
        <p:spPr>
          <a:xfrm>
            <a:off x="3066796" y="4348290"/>
            <a:ext cx="80772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政策补贴支持</a:t>
            </a:r>
          </a:p>
        </p:txBody>
      </p:sp>
      <p:sp>
        <p:nvSpPr>
          <p:cNvPr id="46" name="ra-5"/>
          <p:cNvSpPr/>
          <p:nvPr/>
        </p:nvSpPr>
        <p:spPr>
          <a:xfrm>
            <a:off x="6515100" y="4298950"/>
            <a:ext cx="1143000" cy="292100"/>
          </a:xfrm>
          <a:custGeom>
            <a:avLst/>
            <a:gdLst/>
            <a:ahLst/>
            <a:cxnLst/>
            <a:rect l="0" t="0" r="r" b="b"/>
            <a:pathLst>
              <a:path w="1143000" h="292100">
                <a:moveTo>
                  <a:pt x="1143000" y="55499"/>
                </a:moveTo>
                <a:lnTo>
                  <a:pt x="215900" y="55499"/>
                </a:lnTo>
                <a:lnTo>
                  <a:pt x="215900" y="0"/>
                </a:lnTo>
                <a:lnTo>
                  <a:pt x="0" y="146050"/>
                </a:lnTo>
                <a:lnTo>
                  <a:pt x="215900" y="292100"/>
                </a:lnTo>
                <a:lnTo>
                  <a:pt x="215900" y="236601"/>
                </a:lnTo>
                <a:lnTo>
                  <a:pt x="1143000" y="236601"/>
                </a:lnTo>
                <a:close/>
              </a:path>
            </a:pathLst>
          </a:custGeom>
          <a:gradFill rotWithShape="1">
            <a:gsLst>
              <a:gs pos="0">
                <a:srgbClr val="F0C3AA"/>
              </a:gs>
              <a:gs pos="100000">
                <a:srgbClr val="E8A27C"/>
              </a:gs>
            </a:gsLst>
            <a:lin ang="108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rv-5"/>
          <p:cNvSpPr txBox="1"/>
          <p:nvPr/>
        </p:nvSpPr>
        <p:spPr>
          <a:xfrm>
            <a:off x="7369429" y="4340447"/>
            <a:ext cx="17614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48" name="rn-5"/>
          <p:cNvSpPr txBox="1"/>
          <p:nvPr/>
        </p:nvSpPr>
        <p:spPr>
          <a:xfrm>
            <a:off x="7745984" y="4348290"/>
            <a:ext cx="925195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担心岗位被替代</a:t>
            </a:r>
          </a:p>
        </p:txBody>
      </p:sp>
      <p:sp>
        <p:nvSpPr>
          <p:cNvPr id="49" name="sum-d"/>
          <p:cNvSpPr txBox="1"/>
          <p:nvPr/>
        </p:nvSpPr>
        <p:spPr>
          <a:xfrm>
            <a:off x="4431538" y="5021770"/>
            <a:ext cx="1109726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推动力合计 19</a:t>
            </a:r>
          </a:p>
        </p:txBody>
      </p:sp>
      <p:sp>
        <p:nvSpPr>
          <p:cNvPr id="50" name="sum-r"/>
          <p:cNvSpPr txBox="1"/>
          <p:nvPr/>
        </p:nvSpPr>
        <p:spPr>
          <a:xfrm>
            <a:off x="6650736" y="5021770"/>
            <a:ext cx="963676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阻力合计 17</a:t>
            </a:r>
          </a:p>
        </p:txBody>
      </p:sp>
      <p:sp>
        <p:nvSpPr>
          <p:cNvPr id="51" name="sum-gt"/>
          <p:cNvSpPr txBox="1"/>
          <p:nvPr/>
        </p:nvSpPr>
        <p:spPr>
          <a:xfrm>
            <a:off x="5984748" y="5006086"/>
            <a:ext cx="222504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&gt;</a:t>
            </a:r>
          </a:p>
        </p:txBody>
      </p:sp>
      <p:sp>
        <p:nvSpPr>
          <p:cNvPr id="52" name="band"/>
          <p:cNvSpPr/>
          <p:nvPr/>
        </p:nvSpPr>
        <p:spPr>
          <a:xfrm>
            <a:off x="952500" y="5791200"/>
            <a:ext cx="10287000" cy="533400"/>
          </a:xfrm>
          <a:custGeom>
            <a:avLst/>
            <a:gdLst/>
            <a:ahLst/>
            <a:cxnLst/>
            <a:rect l="0" t="0" r="r" b="b"/>
            <a:pathLst>
              <a:path w="10287000" h="5334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31800"/>
                </a:lnTo>
                <a:cubicBezTo>
                  <a:pt x="10287000" y="487934"/>
                  <a:pt x="10241534" y="533400"/>
                  <a:pt x="10185400" y="533400"/>
                </a:cubicBezTo>
                <a:lnTo>
                  <a:pt x="101600" y="533400"/>
                </a:lnTo>
                <a:cubicBezTo>
                  <a:pt x="45466" y="533400"/>
                  <a:pt x="0" y="487934"/>
                  <a:pt x="0" y="431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band-bar"/>
          <p:cNvSpPr/>
          <p:nvPr/>
        </p:nvSpPr>
        <p:spPr>
          <a:xfrm>
            <a:off x="952500" y="57912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band-h"/>
          <p:cNvSpPr txBox="1"/>
          <p:nvPr/>
        </p:nvSpPr>
        <p:spPr>
          <a:xfrm>
            <a:off x="1141222" y="59596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行动方向</a:t>
            </a:r>
          </a:p>
        </p:txBody>
      </p:sp>
      <p:sp>
        <p:nvSpPr>
          <p:cNvPr id="55" name="band-p"/>
          <p:cNvSpPr txBox="1"/>
          <p:nvPr/>
        </p:nvSpPr>
        <p:spPr>
          <a:xfrm>
            <a:off x="1891665" y="5971461"/>
            <a:ext cx="506698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与其再加推力，不如先减阻力：全员数字技能培训 + 旧系统分三批迁移，阻力可从 17 降到 10。</a:t>
            </a:r>
          </a:p>
        </p:txBody>
      </p:sp>
      <p:cxnSp>
        <p:nvCxnSpPr>
          <p:cNvPr id="56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7" name="foot-l"/>
          <p:cNvSpPr txBox="1"/>
          <p:nvPr/>
        </p:nvSpPr>
        <p:spPr>
          <a:xfrm>
            <a:off x="573532" y="6532308"/>
            <a:ext cx="138099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力场分析 · 推动力 vs 阻力</a:t>
            </a:r>
          </a:p>
        </p:txBody>
      </p:sp>
      <p:sp>
        <p:nvSpPr>
          <p:cNvPr id="58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32994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三个方案的投资回收期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71907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PAYBACK COMPARISON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7903083" y="673132"/>
            <a:ext cx="371767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累计现金流穿过零线的那一刻就是回本点——方案 B 最快，方案 C 最赚</a:t>
            </a:r>
          </a:p>
        </p:txBody>
      </p:sp>
      <p:sp>
        <p:nvSpPr>
          <p:cNvPr id="10" name="z-pos"/>
          <p:cNvSpPr/>
          <p:nvPr/>
        </p:nvSpPr>
        <p:spPr>
          <a:xfrm>
            <a:off x="1714500" y="1587500"/>
            <a:ext cx="5842000" cy="1490382"/>
          </a:xfrm>
          <a:prstGeom prst="rect">
            <a:avLst/>
          </a:prstGeom>
          <a:solidFill>
            <a:srgbClr val="2E77C2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z-neg"/>
          <p:cNvSpPr/>
          <p:nvPr/>
        </p:nvSpPr>
        <p:spPr>
          <a:xfrm>
            <a:off x="1714500" y="3077882"/>
            <a:ext cx="5842000" cy="2129118"/>
          </a:xfrm>
          <a:prstGeom prst="rect">
            <a:avLst/>
          </a:prstGeom>
          <a:solidFill>
            <a:srgbClr val="E0703A">
              <a:alpha val="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2" name="g--2000"/>
          <p:cNvCxnSpPr/>
          <p:nvPr/>
        </p:nvCxnSpPr>
        <p:spPr>
          <a:xfrm>
            <a:off x="1714500" y="5207000"/>
            <a:ext cx="58420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gt--2000"/>
          <p:cNvSpPr txBox="1"/>
          <p:nvPr/>
        </p:nvSpPr>
        <p:spPr>
          <a:xfrm>
            <a:off x="1257554" y="5135308"/>
            <a:ext cx="37871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-2,000</a:t>
            </a:r>
          </a:p>
        </p:txBody>
      </p:sp>
      <p:cxnSp>
        <p:nvCxnSpPr>
          <p:cNvPr id="14" name="g--1600"/>
          <p:cNvCxnSpPr/>
          <p:nvPr/>
        </p:nvCxnSpPr>
        <p:spPr>
          <a:xfrm>
            <a:off x="1714500" y="4781176"/>
            <a:ext cx="58420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gt--1600"/>
          <p:cNvSpPr txBox="1"/>
          <p:nvPr/>
        </p:nvSpPr>
        <p:spPr>
          <a:xfrm>
            <a:off x="1257554" y="4709485"/>
            <a:ext cx="37871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-1,600</a:t>
            </a:r>
          </a:p>
        </p:txBody>
      </p:sp>
      <p:cxnSp>
        <p:nvCxnSpPr>
          <p:cNvPr id="16" name="g--1200"/>
          <p:cNvCxnSpPr/>
          <p:nvPr/>
        </p:nvCxnSpPr>
        <p:spPr>
          <a:xfrm>
            <a:off x="1714500" y="4355353"/>
            <a:ext cx="58420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gt--1200"/>
          <p:cNvSpPr txBox="1"/>
          <p:nvPr/>
        </p:nvSpPr>
        <p:spPr>
          <a:xfrm>
            <a:off x="1257554" y="4283661"/>
            <a:ext cx="37871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-1,200</a:t>
            </a:r>
          </a:p>
        </p:txBody>
      </p:sp>
      <p:cxnSp>
        <p:nvCxnSpPr>
          <p:cNvPr id="18" name="g--800"/>
          <p:cNvCxnSpPr/>
          <p:nvPr/>
        </p:nvCxnSpPr>
        <p:spPr>
          <a:xfrm>
            <a:off x="1714500" y="3929529"/>
            <a:ext cx="58420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gt--800"/>
          <p:cNvSpPr txBox="1"/>
          <p:nvPr/>
        </p:nvSpPr>
        <p:spPr>
          <a:xfrm>
            <a:off x="1357122" y="3857838"/>
            <a:ext cx="2791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-800</a:t>
            </a:r>
          </a:p>
        </p:txBody>
      </p:sp>
      <p:cxnSp>
        <p:nvCxnSpPr>
          <p:cNvPr id="20" name="g--400"/>
          <p:cNvCxnSpPr/>
          <p:nvPr/>
        </p:nvCxnSpPr>
        <p:spPr>
          <a:xfrm>
            <a:off x="1714500" y="3503706"/>
            <a:ext cx="58420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gt--400"/>
          <p:cNvSpPr txBox="1"/>
          <p:nvPr/>
        </p:nvSpPr>
        <p:spPr>
          <a:xfrm>
            <a:off x="1357122" y="3432014"/>
            <a:ext cx="2791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-400</a:t>
            </a:r>
          </a:p>
        </p:txBody>
      </p:sp>
      <p:cxnSp>
        <p:nvCxnSpPr>
          <p:cNvPr id="22" name="g-0"/>
          <p:cNvCxnSpPr/>
          <p:nvPr/>
        </p:nvCxnSpPr>
        <p:spPr>
          <a:xfrm>
            <a:off x="1714500" y="3077882"/>
            <a:ext cx="5842000" cy="0"/>
          </a:xfrm>
          <a:prstGeom prst="line">
            <a:avLst/>
          </a:prstGeom>
          <a:ln w="12700" cap="rnd">
            <a:solidFill>
              <a:srgbClr val="0B2545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gt-0"/>
          <p:cNvSpPr txBox="1"/>
          <p:nvPr/>
        </p:nvSpPr>
        <p:spPr>
          <a:xfrm>
            <a:off x="1506474" y="3006191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0</a:t>
            </a:r>
          </a:p>
        </p:txBody>
      </p:sp>
      <p:cxnSp>
        <p:nvCxnSpPr>
          <p:cNvPr id="24" name="g-400"/>
          <p:cNvCxnSpPr/>
          <p:nvPr/>
        </p:nvCxnSpPr>
        <p:spPr>
          <a:xfrm>
            <a:off x="1714500" y="2652059"/>
            <a:ext cx="58420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gt-400"/>
          <p:cNvSpPr txBox="1"/>
          <p:nvPr/>
        </p:nvSpPr>
        <p:spPr>
          <a:xfrm>
            <a:off x="1406906" y="2580367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400</a:t>
            </a:r>
          </a:p>
        </p:txBody>
      </p:sp>
      <p:cxnSp>
        <p:nvCxnSpPr>
          <p:cNvPr id="26" name="g-800"/>
          <p:cNvCxnSpPr/>
          <p:nvPr/>
        </p:nvCxnSpPr>
        <p:spPr>
          <a:xfrm>
            <a:off x="1714500" y="2226235"/>
            <a:ext cx="58420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gt-800"/>
          <p:cNvSpPr txBox="1"/>
          <p:nvPr/>
        </p:nvSpPr>
        <p:spPr>
          <a:xfrm>
            <a:off x="1406906" y="2154544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800</a:t>
            </a:r>
          </a:p>
        </p:txBody>
      </p:sp>
      <p:cxnSp>
        <p:nvCxnSpPr>
          <p:cNvPr id="28" name="g-1200"/>
          <p:cNvCxnSpPr/>
          <p:nvPr/>
        </p:nvCxnSpPr>
        <p:spPr>
          <a:xfrm>
            <a:off x="1714500" y="1800412"/>
            <a:ext cx="58420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gt-1200"/>
          <p:cNvSpPr txBox="1"/>
          <p:nvPr/>
        </p:nvSpPr>
        <p:spPr>
          <a:xfrm>
            <a:off x="1307338" y="1728720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1,200</a:t>
            </a:r>
          </a:p>
        </p:txBody>
      </p:sp>
      <p:sp>
        <p:nvSpPr>
          <p:cNvPr id="30" name="unit"/>
          <p:cNvSpPr txBox="1"/>
          <p:nvPr/>
        </p:nvSpPr>
        <p:spPr>
          <a:xfrm>
            <a:off x="1703832" y="1350708"/>
            <a:ext cx="8801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累计现金流（万元）</a:t>
            </a:r>
          </a:p>
        </p:txBody>
      </p:sp>
      <p:sp>
        <p:nvSpPr>
          <p:cNvPr id="31" name="zero-t"/>
          <p:cNvSpPr txBox="1"/>
          <p:nvPr/>
        </p:nvSpPr>
        <p:spPr>
          <a:xfrm>
            <a:off x="7137908" y="2891891"/>
            <a:ext cx="3657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回本线</a:t>
            </a:r>
          </a:p>
        </p:txBody>
      </p:sp>
      <p:sp>
        <p:nvSpPr>
          <p:cNvPr id="32" name="xt-0"/>
          <p:cNvSpPr txBox="1"/>
          <p:nvPr/>
        </p:nvSpPr>
        <p:spPr>
          <a:xfrm>
            <a:off x="1576388" y="5279866"/>
            <a:ext cx="276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投入</a:t>
            </a:r>
          </a:p>
        </p:txBody>
      </p:sp>
      <p:sp>
        <p:nvSpPr>
          <p:cNvPr id="33" name="xt-1"/>
          <p:cNvSpPr txBox="1"/>
          <p:nvPr/>
        </p:nvSpPr>
        <p:spPr>
          <a:xfrm>
            <a:off x="2664778" y="5279866"/>
            <a:ext cx="4362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第 1 年</a:t>
            </a:r>
          </a:p>
        </p:txBody>
      </p:sp>
      <p:sp>
        <p:nvSpPr>
          <p:cNvPr id="34" name="xt-2"/>
          <p:cNvSpPr txBox="1"/>
          <p:nvPr/>
        </p:nvSpPr>
        <p:spPr>
          <a:xfrm>
            <a:off x="3833178" y="5279866"/>
            <a:ext cx="4362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第 2 年</a:t>
            </a:r>
          </a:p>
        </p:txBody>
      </p:sp>
      <p:sp>
        <p:nvSpPr>
          <p:cNvPr id="35" name="xt-3"/>
          <p:cNvSpPr txBox="1"/>
          <p:nvPr/>
        </p:nvSpPr>
        <p:spPr>
          <a:xfrm>
            <a:off x="5001578" y="5279866"/>
            <a:ext cx="4362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第 3 年</a:t>
            </a:r>
          </a:p>
        </p:txBody>
      </p:sp>
      <p:sp>
        <p:nvSpPr>
          <p:cNvPr id="36" name="xt-4"/>
          <p:cNvSpPr txBox="1"/>
          <p:nvPr/>
        </p:nvSpPr>
        <p:spPr>
          <a:xfrm>
            <a:off x="6169978" y="5279866"/>
            <a:ext cx="4362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第 4 年</a:t>
            </a:r>
          </a:p>
        </p:txBody>
      </p:sp>
      <p:sp>
        <p:nvSpPr>
          <p:cNvPr id="37" name="xt-5"/>
          <p:cNvSpPr txBox="1"/>
          <p:nvPr/>
        </p:nvSpPr>
        <p:spPr>
          <a:xfrm>
            <a:off x="7338378" y="5279866"/>
            <a:ext cx="4362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第 5 年</a:t>
            </a:r>
          </a:p>
        </p:txBody>
      </p:sp>
      <p:sp>
        <p:nvSpPr>
          <p:cNvPr id="38" name="ln-1"/>
          <p:cNvSpPr/>
          <p:nvPr/>
        </p:nvSpPr>
        <p:spPr>
          <a:xfrm>
            <a:off x="1714500" y="2290128"/>
            <a:ext cx="5842000" cy="1639380"/>
          </a:xfrm>
          <a:custGeom>
            <a:avLst/>
            <a:gdLst/>
            <a:ahLst/>
            <a:cxnLst/>
            <a:rect l="0" t="0" r="r" b="b"/>
            <a:pathLst>
              <a:path w="5842000" h="1639380">
                <a:moveTo>
                  <a:pt x="0" y="1639380"/>
                </a:moveTo>
                <a:cubicBezTo>
                  <a:pt x="97345" y="1616329"/>
                  <a:pt x="973645" y="1412303"/>
                  <a:pt x="1168400" y="1362647"/>
                </a:cubicBezTo>
                <a:cubicBezTo>
                  <a:pt x="1363154" y="1312926"/>
                  <a:pt x="2142046" y="1098233"/>
                  <a:pt x="2336800" y="1043242"/>
                </a:cubicBezTo>
                <a:cubicBezTo>
                  <a:pt x="2531554" y="988250"/>
                  <a:pt x="3310446" y="760286"/>
                  <a:pt x="3505200" y="702564"/>
                </a:cubicBezTo>
                <a:cubicBezTo>
                  <a:pt x="3699954" y="644906"/>
                  <a:pt x="4478846" y="409829"/>
                  <a:pt x="4673600" y="351282"/>
                </a:cubicBezTo>
                <a:cubicBezTo>
                  <a:pt x="4868354" y="292735"/>
                  <a:pt x="5744654" y="29274"/>
                  <a:pt x="5842000" y="0"/>
                </a:cubicBezTo>
              </a:path>
            </a:pathLst>
          </a:custGeom>
          <a:noFill/>
          <a:ln w="28575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pt-1-0"/>
          <p:cNvSpPr/>
          <p:nvPr/>
        </p:nvSpPr>
        <p:spPr>
          <a:xfrm>
            <a:off x="1676400" y="3891429"/>
            <a:ext cx="76200" cy="762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pt-1-1"/>
          <p:cNvSpPr/>
          <p:nvPr/>
        </p:nvSpPr>
        <p:spPr>
          <a:xfrm>
            <a:off x="2844800" y="3614644"/>
            <a:ext cx="76200" cy="762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pt-1-2"/>
          <p:cNvSpPr/>
          <p:nvPr/>
        </p:nvSpPr>
        <p:spPr>
          <a:xfrm>
            <a:off x="4013200" y="3295276"/>
            <a:ext cx="76200" cy="762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pt-1-3"/>
          <p:cNvSpPr/>
          <p:nvPr/>
        </p:nvSpPr>
        <p:spPr>
          <a:xfrm>
            <a:off x="5181600" y="2954618"/>
            <a:ext cx="76200" cy="762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pt-1-4"/>
          <p:cNvSpPr/>
          <p:nvPr/>
        </p:nvSpPr>
        <p:spPr>
          <a:xfrm>
            <a:off x="6350000" y="2603313"/>
            <a:ext cx="76200" cy="762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pt-1-5"/>
          <p:cNvSpPr/>
          <p:nvPr/>
        </p:nvSpPr>
        <p:spPr>
          <a:xfrm>
            <a:off x="7518400" y="2252009"/>
            <a:ext cx="76200" cy="762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pb-1"/>
          <p:cNvSpPr/>
          <p:nvPr/>
        </p:nvSpPr>
        <p:spPr>
          <a:xfrm>
            <a:off x="4857750" y="3008032"/>
            <a:ext cx="139700" cy="139700"/>
          </a:xfrm>
          <a:prstGeom prst="ellipse">
            <a:avLst/>
          </a:prstGeom>
          <a:solidFill>
            <a:srgbClr val="3985CD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46" name="pbl-1"/>
          <p:cNvCxnSpPr/>
          <p:nvPr/>
        </p:nvCxnSpPr>
        <p:spPr>
          <a:xfrm>
            <a:off x="4927600" y="3154082"/>
            <a:ext cx="0" cy="1773518"/>
          </a:xfrm>
          <a:prstGeom prst="line">
            <a:avLst/>
          </a:prstGeom>
          <a:ln w="9525" cap="rnd">
            <a:solidFill>
              <a:srgbClr val="3985CD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pbb-1"/>
          <p:cNvSpPr/>
          <p:nvPr/>
        </p:nvSpPr>
        <p:spPr>
          <a:xfrm>
            <a:off x="4597400" y="4927600"/>
            <a:ext cx="660400" cy="190500"/>
          </a:xfrm>
          <a:custGeom>
            <a:avLst/>
            <a:gdLst/>
            <a:ahLst/>
            <a:cxnLst/>
            <a:rect l="0" t="0" r="r" b="b"/>
            <a:pathLst>
              <a:path w="660400" h="190500">
                <a:moveTo>
                  <a:pt x="95250" y="0"/>
                </a:moveTo>
                <a:lnTo>
                  <a:pt x="565150" y="0"/>
                </a:lnTo>
                <a:cubicBezTo>
                  <a:pt x="617728" y="0"/>
                  <a:pt x="660400" y="42672"/>
                  <a:pt x="660400" y="95250"/>
                </a:cubicBezTo>
                <a:lnTo>
                  <a:pt x="660400" y="95250"/>
                </a:lnTo>
                <a:cubicBezTo>
                  <a:pt x="660400" y="147828"/>
                  <a:pt x="617728" y="190500"/>
                  <a:pt x="5651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pbt-1"/>
          <p:cNvSpPr txBox="1"/>
          <p:nvPr/>
        </p:nvSpPr>
        <p:spPr>
          <a:xfrm>
            <a:off x="4644930" y="4947237"/>
            <a:ext cx="56534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2.8 年回本</a:t>
            </a:r>
          </a:p>
        </p:txBody>
      </p:sp>
      <p:sp>
        <p:nvSpPr>
          <p:cNvPr id="49" name="end-1"/>
          <p:cNvSpPr txBox="1"/>
          <p:nvPr/>
        </p:nvSpPr>
        <p:spPr>
          <a:xfrm>
            <a:off x="7645146" y="2271091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740</a:t>
            </a:r>
          </a:p>
        </p:txBody>
      </p:sp>
      <p:sp>
        <p:nvSpPr>
          <p:cNvPr id="50" name="ln-2"/>
          <p:cNvSpPr/>
          <p:nvPr/>
        </p:nvSpPr>
        <p:spPr>
          <a:xfrm>
            <a:off x="1714500" y="2215578"/>
            <a:ext cx="5842000" cy="1394587"/>
          </a:xfrm>
          <a:custGeom>
            <a:avLst/>
            <a:gdLst/>
            <a:ahLst/>
            <a:cxnLst/>
            <a:rect l="0" t="0" r="r" b="b"/>
            <a:pathLst>
              <a:path w="5842000" h="1394587">
                <a:moveTo>
                  <a:pt x="0" y="1394587"/>
                </a:moveTo>
                <a:cubicBezTo>
                  <a:pt x="97345" y="1373314"/>
                  <a:pt x="973645" y="1183449"/>
                  <a:pt x="1168400" y="1139063"/>
                </a:cubicBezTo>
                <a:cubicBezTo>
                  <a:pt x="1363154" y="1094740"/>
                  <a:pt x="2142046" y="909320"/>
                  <a:pt x="2336800" y="862330"/>
                </a:cubicBezTo>
                <a:cubicBezTo>
                  <a:pt x="2531554" y="815276"/>
                  <a:pt x="3310446" y="622808"/>
                  <a:pt x="3505200" y="574865"/>
                </a:cubicBezTo>
                <a:cubicBezTo>
                  <a:pt x="3699954" y="526986"/>
                  <a:pt x="4478846" y="335344"/>
                  <a:pt x="4673600" y="287464"/>
                </a:cubicBezTo>
                <a:cubicBezTo>
                  <a:pt x="4868354" y="239522"/>
                  <a:pt x="5744654" y="23939"/>
                  <a:pt x="5842000" y="0"/>
                </a:cubicBezTo>
              </a:path>
            </a:pathLst>
          </a:custGeom>
          <a:noFill/>
          <a:ln w="2857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pt-2-0"/>
          <p:cNvSpPr/>
          <p:nvPr/>
        </p:nvSpPr>
        <p:spPr>
          <a:xfrm>
            <a:off x="1676400" y="3572062"/>
            <a:ext cx="76200" cy="762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pt-2-1"/>
          <p:cNvSpPr/>
          <p:nvPr/>
        </p:nvSpPr>
        <p:spPr>
          <a:xfrm>
            <a:off x="2844800" y="3316568"/>
            <a:ext cx="76200" cy="762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pt-2-2"/>
          <p:cNvSpPr/>
          <p:nvPr/>
        </p:nvSpPr>
        <p:spPr>
          <a:xfrm>
            <a:off x="4013200" y="3039782"/>
            <a:ext cx="76200" cy="762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pt-2-3"/>
          <p:cNvSpPr/>
          <p:nvPr/>
        </p:nvSpPr>
        <p:spPr>
          <a:xfrm>
            <a:off x="5181600" y="2752351"/>
            <a:ext cx="76200" cy="762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pt-2-4"/>
          <p:cNvSpPr/>
          <p:nvPr/>
        </p:nvSpPr>
        <p:spPr>
          <a:xfrm>
            <a:off x="6350000" y="2464921"/>
            <a:ext cx="76200" cy="762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pt-2-5"/>
          <p:cNvSpPr/>
          <p:nvPr/>
        </p:nvSpPr>
        <p:spPr>
          <a:xfrm>
            <a:off x="7518400" y="2177490"/>
            <a:ext cx="76200" cy="762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pb-2"/>
          <p:cNvSpPr/>
          <p:nvPr/>
        </p:nvSpPr>
        <p:spPr>
          <a:xfrm>
            <a:off x="3981450" y="3008032"/>
            <a:ext cx="139700" cy="139700"/>
          </a:xfrm>
          <a:prstGeom prst="ellipse">
            <a:avLst/>
          </a:prstGeom>
          <a:solidFill>
            <a:srgbClr val="134C9C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58" name="pbl-2"/>
          <p:cNvCxnSpPr/>
          <p:nvPr/>
        </p:nvCxnSpPr>
        <p:spPr>
          <a:xfrm>
            <a:off x="4051300" y="3154082"/>
            <a:ext cx="0" cy="1773518"/>
          </a:xfrm>
          <a:prstGeom prst="line">
            <a:avLst/>
          </a:prstGeom>
          <a:ln w="9525" cap="rnd">
            <a:solidFill>
              <a:srgbClr val="134C9C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pbb-2"/>
          <p:cNvSpPr/>
          <p:nvPr/>
        </p:nvSpPr>
        <p:spPr>
          <a:xfrm>
            <a:off x="3721100" y="4927600"/>
            <a:ext cx="660400" cy="190500"/>
          </a:xfrm>
          <a:custGeom>
            <a:avLst/>
            <a:gdLst/>
            <a:ahLst/>
            <a:cxnLst/>
            <a:rect l="0" t="0" r="r" b="b"/>
            <a:pathLst>
              <a:path w="660400" h="190500">
                <a:moveTo>
                  <a:pt x="95250" y="0"/>
                </a:moveTo>
                <a:lnTo>
                  <a:pt x="565150" y="0"/>
                </a:lnTo>
                <a:cubicBezTo>
                  <a:pt x="617728" y="0"/>
                  <a:pt x="660400" y="42672"/>
                  <a:pt x="660400" y="95250"/>
                </a:cubicBezTo>
                <a:lnTo>
                  <a:pt x="660400" y="95250"/>
                </a:lnTo>
                <a:cubicBezTo>
                  <a:pt x="660400" y="147828"/>
                  <a:pt x="617728" y="190500"/>
                  <a:pt x="5651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pbt-2"/>
          <p:cNvSpPr txBox="1"/>
          <p:nvPr/>
        </p:nvSpPr>
        <p:spPr>
          <a:xfrm>
            <a:off x="3768630" y="4947237"/>
            <a:ext cx="56534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2.0 年回本</a:t>
            </a:r>
          </a:p>
        </p:txBody>
      </p:sp>
      <p:sp>
        <p:nvSpPr>
          <p:cNvPr id="61" name="end-2"/>
          <p:cNvSpPr txBox="1"/>
          <p:nvPr/>
        </p:nvSpPr>
        <p:spPr>
          <a:xfrm>
            <a:off x="7645146" y="2082271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810</a:t>
            </a:r>
          </a:p>
        </p:txBody>
      </p:sp>
      <p:sp>
        <p:nvSpPr>
          <p:cNvPr id="62" name="ln-3"/>
          <p:cNvSpPr/>
          <p:nvPr/>
        </p:nvSpPr>
        <p:spPr>
          <a:xfrm>
            <a:off x="1714500" y="1928177"/>
            <a:ext cx="5842000" cy="3065907"/>
          </a:xfrm>
          <a:custGeom>
            <a:avLst/>
            <a:gdLst/>
            <a:ahLst/>
            <a:cxnLst/>
            <a:rect l="0" t="0" r="r" b="b"/>
            <a:pathLst>
              <a:path w="5842000" h="3065907">
                <a:moveTo>
                  <a:pt x="0" y="3065907"/>
                </a:moveTo>
                <a:cubicBezTo>
                  <a:pt x="97345" y="3039300"/>
                  <a:pt x="973645" y="2819273"/>
                  <a:pt x="1168400" y="2746566"/>
                </a:cubicBezTo>
                <a:cubicBezTo>
                  <a:pt x="1363154" y="2673795"/>
                  <a:pt x="2142046" y="2295906"/>
                  <a:pt x="2336800" y="2192972"/>
                </a:cubicBezTo>
                <a:cubicBezTo>
                  <a:pt x="2531554" y="2090039"/>
                  <a:pt x="3310446" y="1630553"/>
                  <a:pt x="3505200" y="1511681"/>
                </a:cubicBezTo>
                <a:cubicBezTo>
                  <a:pt x="3699954" y="1392809"/>
                  <a:pt x="4478846" y="892429"/>
                  <a:pt x="4673600" y="766445"/>
                </a:cubicBezTo>
                <a:cubicBezTo>
                  <a:pt x="4868354" y="640461"/>
                  <a:pt x="5744654" y="63881"/>
                  <a:pt x="5842000" y="0"/>
                </a:cubicBezTo>
              </a:path>
            </a:pathLst>
          </a:custGeom>
          <a:noFill/>
          <a:ln w="28575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pt-3-0"/>
          <p:cNvSpPr/>
          <p:nvPr/>
        </p:nvSpPr>
        <p:spPr>
          <a:xfrm>
            <a:off x="1676400" y="4955988"/>
            <a:ext cx="76200" cy="762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pt-3-1"/>
          <p:cNvSpPr/>
          <p:nvPr/>
        </p:nvSpPr>
        <p:spPr>
          <a:xfrm>
            <a:off x="2844800" y="4636621"/>
            <a:ext cx="76200" cy="762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pt-3-2"/>
          <p:cNvSpPr/>
          <p:nvPr/>
        </p:nvSpPr>
        <p:spPr>
          <a:xfrm>
            <a:off x="4013200" y="4083050"/>
            <a:ext cx="76200" cy="762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pt-3-3"/>
          <p:cNvSpPr/>
          <p:nvPr/>
        </p:nvSpPr>
        <p:spPr>
          <a:xfrm>
            <a:off x="5181600" y="3401732"/>
            <a:ext cx="76200" cy="762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pt-3-4"/>
          <p:cNvSpPr/>
          <p:nvPr/>
        </p:nvSpPr>
        <p:spPr>
          <a:xfrm>
            <a:off x="6350000" y="2656541"/>
            <a:ext cx="76200" cy="762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pt-3-5"/>
          <p:cNvSpPr/>
          <p:nvPr/>
        </p:nvSpPr>
        <p:spPr>
          <a:xfrm>
            <a:off x="7518400" y="1890059"/>
            <a:ext cx="76200" cy="762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pb-3"/>
          <p:cNvSpPr/>
          <p:nvPr/>
        </p:nvSpPr>
        <p:spPr>
          <a:xfrm>
            <a:off x="5717359" y="3008032"/>
            <a:ext cx="139700" cy="1397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70" name="pbl-3"/>
          <p:cNvCxnSpPr/>
          <p:nvPr/>
        </p:nvCxnSpPr>
        <p:spPr>
          <a:xfrm>
            <a:off x="5787209" y="3154082"/>
            <a:ext cx="0" cy="1773518"/>
          </a:xfrm>
          <a:prstGeom prst="line">
            <a:avLst/>
          </a:prstGeom>
          <a:ln w="9525" cap="rnd">
            <a:solidFill>
              <a:srgbClr val="E0703A">
                <a:alpha val="5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pbb-3"/>
          <p:cNvSpPr/>
          <p:nvPr/>
        </p:nvSpPr>
        <p:spPr>
          <a:xfrm>
            <a:off x="5457000" y="4927600"/>
            <a:ext cx="660400" cy="190500"/>
          </a:xfrm>
          <a:custGeom>
            <a:avLst/>
            <a:gdLst/>
            <a:ahLst/>
            <a:cxnLst/>
            <a:rect l="0" t="0" r="r" b="b"/>
            <a:pathLst>
              <a:path w="660400" h="190500">
                <a:moveTo>
                  <a:pt x="95250" y="0"/>
                </a:moveTo>
                <a:lnTo>
                  <a:pt x="565150" y="0"/>
                </a:lnTo>
                <a:cubicBezTo>
                  <a:pt x="617791" y="0"/>
                  <a:pt x="660400" y="42672"/>
                  <a:pt x="660400" y="95250"/>
                </a:cubicBezTo>
                <a:lnTo>
                  <a:pt x="660400" y="95250"/>
                </a:lnTo>
                <a:cubicBezTo>
                  <a:pt x="660400" y="147828"/>
                  <a:pt x="617791" y="190500"/>
                  <a:pt x="5651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pbt-3"/>
          <p:cNvSpPr txBox="1"/>
          <p:nvPr/>
        </p:nvSpPr>
        <p:spPr>
          <a:xfrm>
            <a:off x="5504538" y="4947237"/>
            <a:ext cx="56534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3.5 年回本</a:t>
            </a:r>
          </a:p>
        </p:txBody>
      </p:sp>
      <p:sp>
        <p:nvSpPr>
          <p:cNvPr id="73" name="end-3"/>
          <p:cNvSpPr txBox="1"/>
          <p:nvPr/>
        </p:nvSpPr>
        <p:spPr>
          <a:xfrm>
            <a:off x="7645146" y="1832941"/>
            <a:ext cx="39941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1,080</a:t>
            </a:r>
          </a:p>
        </p:txBody>
      </p:sp>
      <p:sp>
        <p:nvSpPr>
          <p:cNvPr id="74" name="card-1"/>
          <p:cNvSpPr/>
          <p:nvPr/>
        </p:nvSpPr>
        <p:spPr>
          <a:xfrm>
            <a:off x="8064500" y="1587500"/>
            <a:ext cx="3175000" cy="1117600"/>
          </a:xfrm>
          <a:custGeom>
            <a:avLst/>
            <a:gdLst/>
            <a:ahLst/>
            <a:cxnLst/>
            <a:rect l="0" t="0" r="r" b="b"/>
            <a:pathLst>
              <a:path w="3175000" h="1117600">
                <a:moveTo>
                  <a:pt x="127000" y="0"/>
                </a:moveTo>
                <a:lnTo>
                  <a:pt x="3048000" y="0"/>
                </a:lnTo>
                <a:cubicBezTo>
                  <a:pt x="3118167" y="0"/>
                  <a:pt x="3175000" y="56832"/>
                  <a:pt x="3175000" y="127000"/>
                </a:cubicBezTo>
                <a:lnTo>
                  <a:pt x="3175000" y="990600"/>
                </a:lnTo>
                <a:cubicBezTo>
                  <a:pt x="3175000" y="1060768"/>
                  <a:pt x="3118167" y="1117600"/>
                  <a:pt x="3048000" y="1117600"/>
                </a:cubicBezTo>
                <a:lnTo>
                  <a:pt x="127000" y="1117600"/>
                </a:lnTo>
                <a:cubicBezTo>
                  <a:pt x="56833" y="1117600"/>
                  <a:pt x="0" y="1060768"/>
                  <a:pt x="0" y="9906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cardb-1"/>
          <p:cNvSpPr/>
          <p:nvPr/>
        </p:nvSpPr>
        <p:spPr>
          <a:xfrm>
            <a:off x="8064500" y="1587500"/>
            <a:ext cx="38100" cy="1117600"/>
          </a:xfrm>
          <a:custGeom>
            <a:avLst/>
            <a:gdLst/>
            <a:ahLst/>
            <a:cxnLst/>
            <a:rect l="0" t="0" r="r" b="b"/>
            <a:pathLst>
              <a:path w="38100" h="11176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098550"/>
                </a:lnTo>
                <a:cubicBezTo>
                  <a:pt x="38100" y="1109091"/>
                  <a:pt x="29591" y="1117600"/>
                  <a:pt x="19050" y="1117600"/>
                </a:cubicBezTo>
                <a:lnTo>
                  <a:pt x="19050" y="1117600"/>
                </a:lnTo>
                <a:cubicBezTo>
                  <a:pt x="8509" y="1117600"/>
                  <a:pt x="0" y="1109091"/>
                  <a:pt x="0" y="10985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cn-1"/>
          <p:cNvSpPr txBox="1"/>
          <p:nvPr/>
        </p:nvSpPr>
        <p:spPr>
          <a:xfrm>
            <a:off x="8238998" y="1714913"/>
            <a:ext cx="136334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方案 A · 租赁设备</a:t>
            </a:r>
          </a:p>
        </p:txBody>
      </p:sp>
      <p:sp>
        <p:nvSpPr>
          <p:cNvPr id="77" name="cl-1-0"/>
          <p:cNvSpPr txBox="1"/>
          <p:nvPr/>
        </p:nvSpPr>
        <p:spPr>
          <a:xfrm>
            <a:off x="8243951" y="2070687"/>
            <a:ext cx="46386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初始投入</a:t>
            </a:r>
          </a:p>
        </p:txBody>
      </p:sp>
      <p:sp>
        <p:nvSpPr>
          <p:cNvPr id="78" name="cv-1-0"/>
          <p:cNvSpPr txBox="1"/>
          <p:nvPr/>
        </p:nvSpPr>
        <p:spPr>
          <a:xfrm>
            <a:off x="8811260" y="2040255"/>
            <a:ext cx="53530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5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800 万</a:t>
            </a:r>
          </a:p>
        </p:txBody>
      </p:sp>
      <p:sp>
        <p:nvSpPr>
          <p:cNvPr id="79" name="cl-1-1"/>
          <p:cNvSpPr txBox="1"/>
          <p:nvPr/>
        </p:nvSpPr>
        <p:spPr>
          <a:xfrm>
            <a:off x="9767951" y="2070687"/>
            <a:ext cx="3686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回收期</a:t>
            </a:r>
          </a:p>
        </p:txBody>
      </p:sp>
      <p:sp>
        <p:nvSpPr>
          <p:cNvPr id="80" name="cv-1-1"/>
          <p:cNvSpPr txBox="1"/>
          <p:nvPr/>
        </p:nvSpPr>
        <p:spPr>
          <a:xfrm>
            <a:off x="10335260" y="2040255"/>
            <a:ext cx="53530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5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2.8 年</a:t>
            </a:r>
          </a:p>
        </p:txBody>
      </p:sp>
      <p:sp>
        <p:nvSpPr>
          <p:cNvPr id="81" name="cl-1-2"/>
          <p:cNvSpPr txBox="1"/>
          <p:nvPr/>
        </p:nvSpPr>
        <p:spPr>
          <a:xfrm>
            <a:off x="8243951" y="2388187"/>
            <a:ext cx="4780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5 年累计</a:t>
            </a:r>
          </a:p>
        </p:txBody>
      </p:sp>
      <p:sp>
        <p:nvSpPr>
          <p:cNvPr id="82" name="cv-1-2"/>
          <p:cNvSpPr txBox="1"/>
          <p:nvPr/>
        </p:nvSpPr>
        <p:spPr>
          <a:xfrm>
            <a:off x="8811260" y="2357755"/>
            <a:ext cx="53530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5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740 万</a:t>
            </a:r>
          </a:p>
        </p:txBody>
      </p:sp>
      <p:sp>
        <p:nvSpPr>
          <p:cNvPr id="83" name="cl-1-3"/>
          <p:cNvSpPr txBox="1"/>
          <p:nvPr/>
        </p:nvSpPr>
        <p:spPr>
          <a:xfrm>
            <a:off x="9767951" y="2388187"/>
            <a:ext cx="50654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5 年 ROI</a:t>
            </a:r>
          </a:p>
        </p:txBody>
      </p:sp>
      <p:sp>
        <p:nvSpPr>
          <p:cNvPr id="84" name="cv-1-3"/>
          <p:cNvSpPr txBox="1"/>
          <p:nvPr/>
        </p:nvSpPr>
        <p:spPr>
          <a:xfrm>
            <a:off x="10335260" y="2357755"/>
            <a:ext cx="33337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5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92%</a:t>
            </a:r>
          </a:p>
        </p:txBody>
      </p:sp>
      <p:sp>
        <p:nvSpPr>
          <p:cNvPr id="85" name="card-2"/>
          <p:cNvSpPr/>
          <p:nvPr/>
        </p:nvSpPr>
        <p:spPr>
          <a:xfrm>
            <a:off x="8064500" y="2832100"/>
            <a:ext cx="3175000" cy="1117600"/>
          </a:xfrm>
          <a:custGeom>
            <a:avLst/>
            <a:gdLst/>
            <a:ahLst/>
            <a:cxnLst/>
            <a:rect l="0" t="0" r="r" b="b"/>
            <a:pathLst>
              <a:path w="3175000" h="1117600">
                <a:moveTo>
                  <a:pt x="127000" y="0"/>
                </a:moveTo>
                <a:lnTo>
                  <a:pt x="3048000" y="0"/>
                </a:lnTo>
                <a:cubicBezTo>
                  <a:pt x="3118167" y="0"/>
                  <a:pt x="3175000" y="56832"/>
                  <a:pt x="3175000" y="127000"/>
                </a:cubicBezTo>
                <a:lnTo>
                  <a:pt x="3175000" y="990600"/>
                </a:lnTo>
                <a:cubicBezTo>
                  <a:pt x="3175000" y="1060767"/>
                  <a:pt x="3118167" y="1117600"/>
                  <a:pt x="3048000" y="1117600"/>
                </a:cubicBezTo>
                <a:lnTo>
                  <a:pt x="127000" y="1117600"/>
                </a:lnTo>
                <a:cubicBezTo>
                  <a:pt x="56833" y="1117600"/>
                  <a:pt x="0" y="1060767"/>
                  <a:pt x="0" y="9906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 w="12700" cap="rnd">
            <a:solidFill>
              <a:srgbClr val="134C9C"/>
            </a:solidFill>
            <a:round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cardb-2"/>
          <p:cNvSpPr/>
          <p:nvPr/>
        </p:nvSpPr>
        <p:spPr>
          <a:xfrm>
            <a:off x="8064500" y="2832100"/>
            <a:ext cx="38100" cy="1117600"/>
          </a:xfrm>
          <a:custGeom>
            <a:avLst/>
            <a:gdLst/>
            <a:ahLst/>
            <a:cxnLst/>
            <a:rect l="0" t="0" r="r" b="b"/>
            <a:pathLst>
              <a:path w="38100" h="11176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098550"/>
                </a:lnTo>
                <a:cubicBezTo>
                  <a:pt x="38100" y="1109091"/>
                  <a:pt x="29591" y="1117600"/>
                  <a:pt x="19050" y="1117600"/>
                </a:cubicBezTo>
                <a:lnTo>
                  <a:pt x="19050" y="1117600"/>
                </a:lnTo>
                <a:cubicBezTo>
                  <a:pt x="8509" y="1117600"/>
                  <a:pt x="0" y="1109091"/>
                  <a:pt x="0" y="10985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cn-2"/>
          <p:cNvSpPr txBox="1"/>
          <p:nvPr/>
        </p:nvSpPr>
        <p:spPr>
          <a:xfrm>
            <a:off x="8238998" y="2959513"/>
            <a:ext cx="136334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方案 B · 外包产线</a:t>
            </a:r>
          </a:p>
        </p:txBody>
      </p:sp>
      <p:sp>
        <p:nvSpPr>
          <p:cNvPr id="88" name="cl-2-0"/>
          <p:cNvSpPr txBox="1"/>
          <p:nvPr/>
        </p:nvSpPr>
        <p:spPr>
          <a:xfrm>
            <a:off x="8243951" y="3315287"/>
            <a:ext cx="46386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初始投入</a:t>
            </a:r>
          </a:p>
        </p:txBody>
      </p:sp>
      <p:sp>
        <p:nvSpPr>
          <p:cNvPr id="89" name="cv-2-0"/>
          <p:cNvSpPr txBox="1"/>
          <p:nvPr/>
        </p:nvSpPr>
        <p:spPr>
          <a:xfrm>
            <a:off x="8811260" y="3284855"/>
            <a:ext cx="53530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5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500 万</a:t>
            </a:r>
          </a:p>
        </p:txBody>
      </p:sp>
      <p:sp>
        <p:nvSpPr>
          <p:cNvPr id="90" name="cl-2-1"/>
          <p:cNvSpPr txBox="1"/>
          <p:nvPr/>
        </p:nvSpPr>
        <p:spPr>
          <a:xfrm>
            <a:off x="9767951" y="3315287"/>
            <a:ext cx="3686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回收期</a:t>
            </a:r>
          </a:p>
        </p:txBody>
      </p:sp>
      <p:sp>
        <p:nvSpPr>
          <p:cNvPr id="91" name="cv-2-1"/>
          <p:cNvSpPr txBox="1"/>
          <p:nvPr/>
        </p:nvSpPr>
        <p:spPr>
          <a:xfrm>
            <a:off x="10335260" y="3284855"/>
            <a:ext cx="53530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5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2.0 年</a:t>
            </a:r>
          </a:p>
        </p:txBody>
      </p:sp>
      <p:sp>
        <p:nvSpPr>
          <p:cNvPr id="92" name="cl-2-2"/>
          <p:cNvSpPr txBox="1"/>
          <p:nvPr/>
        </p:nvSpPr>
        <p:spPr>
          <a:xfrm>
            <a:off x="8243951" y="3632787"/>
            <a:ext cx="4780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5 年累计</a:t>
            </a:r>
          </a:p>
        </p:txBody>
      </p:sp>
      <p:sp>
        <p:nvSpPr>
          <p:cNvPr id="93" name="cv-2-2"/>
          <p:cNvSpPr txBox="1"/>
          <p:nvPr/>
        </p:nvSpPr>
        <p:spPr>
          <a:xfrm>
            <a:off x="8811260" y="3602355"/>
            <a:ext cx="53530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5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810 万</a:t>
            </a:r>
          </a:p>
        </p:txBody>
      </p:sp>
      <p:sp>
        <p:nvSpPr>
          <p:cNvPr id="94" name="cl-2-3"/>
          <p:cNvSpPr txBox="1"/>
          <p:nvPr/>
        </p:nvSpPr>
        <p:spPr>
          <a:xfrm>
            <a:off x="9767951" y="3632787"/>
            <a:ext cx="50654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5 年 ROI</a:t>
            </a:r>
          </a:p>
        </p:txBody>
      </p:sp>
      <p:sp>
        <p:nvSpPr>
          <p:cNvPr id="95" name="cv-2-3"/>
          <p:cNvSpPr txBox="1"/>
          <p:nvPr/>
        </p:nvSpPr>
        <p:spPr>
          <a:xfrm>
            <a:off x="10335260" y="3602355"/>
            <a:ext cx="4064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5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162%</a:t>
            </a:r>
          </a:p>
        </p:txBody>
      </p:sp>
      <p:sp>
        <p:nvSpPr>
          <p:cNvPr id="96" name="card-3"/>
          <p:cNvSpPr/>
          <p:nvPr/>
        </p:nvSpPr>
        <p:spPr>
          <a:xfrm>
            <a:off x="8064500" y="4076700"/>
            <a:ext cx="3175000" cy="1117600"/>
          </a:xfrm>
          <a:custGeom>
            <a:avLst/>
            <a:gdLst/>
            <a:ahLst/>
            <a:cxnLst/>
            <a:rect l="0" t="0" r="r" b="b"/>
            <a:pathLst>
              <a:path w="3175000" h="1117600">
                <a:moveTo>
                  <a:pt x="127000" y="0"/>
                </a:moveTo>
                <a:lnTo>
                  <a:pt x="3048000" y="0"/>
                </a:lnTo>
                <a:cubicBezTo>
                  <a:pt x="3118167" y="0"/>
                  <a:pt x="3175000" y="56833"/>
                  <a:pt x="3175000" y="127000"/>
                </a:cubicBezTo>
                <a:lnTo>
                  <a:pt x="3175000" y="990600"/>
                </a:lnTo>
                <a:cubicBezTo>
                  <a:pt x="3175000" y="1060767"/>
                  <a:pt x="3118167" y="1117600"/>
                  <a:pt x="3048000" y="1117600"/>
                </a:cubicBezTo>
                <a:lnTo>
                  <a:pt x="127000" y="1117600"/>
                </a:lnTo>
                <a:cubicBezTo>
                  <a:pt x="56833" y="1117600"/>
                  <a:pt x="0" y="1060767"/>
                  <a:pt x="0" y="9906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cardb-3"/>
          <p:cNvSpPr/>
          <p:nvPr/>
        </p:nvSpPr>
        <p:spPr>
          <a:xfrm>
            <a:off x="8064500" y="4076700"/>
            <a:ext cx="38100" cy="1117600"/>
          </a:xfrm>
          <a:custGeom>
            <a:avLst/>
            <a:gdLst/>
            <a:ahLst/>
            <a:cxnLst/>
            <a:rect l="0" t="0" r="r" b="b"/>
            <a:pathLst>
              <a:path w="38100" h="11176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098550"/>
                </a:lnTo>
                <a:cubicBezTo>
                  <a:pt x="38100" y="1109091"/>
                  <a:pt x="29591" y="1117600"/>
                  <a:pt x="19050" y="1117600"/>
                </a:cubicBezTo>
                <a:lnTo>
                  <a:pt x="19050" y="1117600"/>
                </a:lnTo>
                <a:cubicBezTo>
                  <a:pt x="8509" y="1117600"/>
                  <a:pt x="0" y="1109091"/>
                  <a:pt x="0" y="10985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cn-3"/>
          <p:cNvSpPr txBox="1"/>
          <p:nvPr/>
        </p:nvSpPr>
        <p:spPr>
          <a:xfrm>
            <a:off x="8238998" y="4204113"/>
            <a:ext cx="136334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方案 C · 自建工厂</a:t>
            </a:r>
          </a:p>
        </p:txBody>
      </p:sp>
      <p:sp>
        <p:nvSpPr>
          <p:cNvPr id="99" name="cl-3-0"/>
          <p:cNvSpPr txBox="1"/>
          <p:nvPr/>
        </p:nvSpPr>
        <p:spPr>
          <a:xfrm>
            <a:off x="8243951" y="4559887"/>
            <a:ext cx="46386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初始投入</a:t>
            </a:r>
          </a:p>
        </p:txBody>
      </p:sp>
      <p:sp>
        <p:nvSpPr>
          <p:cNvPr id="100" name="cv-3-0"/>
          <p:cNvSpPr txBox="1"/>
          <p:nvPr/>
        </p:nvSpPr>
        <p:spPr>
          <a:xfrm>
            <a:off x="8811260" y="4529455"/>
            <a:ext cx="68135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1,800 万</a:t>
            </a:r>
          </a:p>
        </p:txBody>
      </p:sp>
      <p:sp>
        <p:nvSpPr>
          <p:cNvPr id="101" name="cl-3-1"/>
          <p:cNvSpPr txBox="1"/>
          <p:nvPr/>
        </p:nvSpPr>
        <p:spPr>
          <a:xfrm>
            <a:off x="9767951" y="4559887"/>
            <a:ext cx="3686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回收期</a:t>
            </a:r>
          </a:p>
        </p:txBody>
      </p:sp>
      <p:sp>
        <p:nvSpPr>
          <p:cNvPr id="102" name="cv-3-1"/>
          <p:cNvSpPr txBox="1"/>
          <p:nvPr/>
        </p:nvSpPr>
        <p:spPr>
          <a:xfrm>
            <a:off x="10335260" y="4529455"/>
            <a:ext cx="53530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3.5 年</a:t>
            </a:r>
          </a:p>
        </p:txBody>
      </p:sp>
      <p:sp>
        <p:nvSpPr>
          <p:cNvPr id="103" name="cl-3-2"/>
          <p:cNvSpPr txBox="1"/>
          <p:nvPr/>
        </p:nvSpPr>
        <p:spPr>
          <a:xfrm>
            <a:off x="8243951" y="4877387"/>
            <a:ext cx="4780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5 年累计</a:t>
            </a:r>
          </a:p>
        </p:txBody>
      </p:sp>
      <p:sp>
        <p:nvSpPr>
          <p:cNvPr id="104" name="cv-3-2"/>
          <p:cNvSpPr txBox="1"/>
          <p:nvPr/>
        </p:nvSpPr>
        <p:spPr>
          <a:xfrm>
            <a:off x="8811260" y="4846955"/>
            <a:ext cx="68135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1,080 万</a:t>
            </a:r>
          </a:p>
        </p:txBody>
      </p:sp>
      <p:sp>
        <p:nvSpPr>
          <p:cNvPr id="105" name="cl-3-3"/>
          <p:cNvSpPr txBox="1"/>
          <p:nvPr/>
        </p:nvSpPr>
        <p:spPr>
          <a:xfrm>
            <a:off x="9767951" y="4877387"/>
            <a:ext cx="50654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5 年 ROI</a:t>
            </a:r>
          </a:p>
        </p:txBody>
      </p:sp>
      <p:sp>
        <p:nvSpPr>
          <p:cNvPr id="106" name="cv-3-3"/>
          <p:cNvSpPr txBox="1"/>
          <p:nvPr/>
        </p:nvSpPr>
        <p:spPr>
          <a:xfrm>
            <a:off x="10335260" y="4846955"/>
            <a:ext cx="33337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60%</a:t>
            </a:r>
          </a:p>
        </p:txBody>
      </p:sp>
      <p:sp>
        <p:nvSpPr>
          <p:cNvPr id="107" name="sum"/>
          <p:cNvSpPr/>
          <p:nvPr/>
        </p:nvSpPr>
        <p:spPr>
          <a:xfrm>
            <a:off x="952500" y="5715000"/>
            <a:ext cx="10287000" cy="533400"/>
          </a:xfrm>
          <a:custGeom>
            <a:avLst/>
            <a:gdLst/>
            <a:ahLst/>
            <a:cxnLst/>
            <a:rect l="0" t="0" r="r" b="b"/>
            <a:pathLst>
              <a:path w="10287000" h="5334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31800"/>
                </a:lnTo>
                <a:cubicBezTo>
                  <a:pt x="10287000" y="487934"/>
                  <a:pt x="10241534" y="533400"/>
                  <a:pt x="10185400" y="533400"/>
                </a:cubicBezTo>
                <a:lnTo>
                  <a:pt x="101600" y="533400"/>
                </a:lnTo>
                <a:cubicBezTo>
                  <a:pt x="45466" y="533400"/>
                  <a:pt x="0" y="487934"/>
                  <a:pt x="0" y="431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8" name="sum-bar"/>
          <p:cNvSpPr/>
          <p:nvPr/>
        </p:nvSpPr>
        <p:spPr>
          <a:xfrm>
            <a:off x="952500" y="57150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sum-h"/>
          <p:cNvSpPr txBox="1"/>
          <p:nvPr/>
        </p:nvSpPr>
        <p:spPr>
          <a:xfrm>
            <a:off x="1141222" y="58834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决策建议</a:t>
            </a:r>
          </a:p>
        </p:txBody>
      </p:sp>
      <p:sp>
        <p:nvSpPr>
          <p:cNvPr id="110" name="sum-p"/>
          <p:cNvSpPr txBox="1"/>
          <p:nvPr/>
        </p:nvSpPr>
        <p:spPr>
          <a:xfrm>
            <a:off x="1891665" y="5895261"/>
            <a:ext cx="547147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现金紧就选 B（两年回本）；订单确定后再上 C——C 投产后每年现金流是 B 的 2.7 倍，5 年累计最高。</a:t>
            </a:r>
          </a:p>
        </p:txBody>
      </p:sp>
      <p:cxnSp>
        <p:nvCxnSpPr>
          <p:cNvPr id="111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" name="foot-l"/>
          <p:cNvSpPr txBox="1"/>
          <p:nvPr/>
        </p:nvSpPr>
        <p:spPr>
          <a:xfrm>
            <a:off x="573532" y="6532308"/>
            <a:ext cx="124218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投资回收对比 · 三个方案</a:t>
            </a:r>
          </a:p>
        </p:txBody>
      </p:sp>
      <p:sp>
        <p:nvSpPr>
          <p:cNvPr id="113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本季度事项四象限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62801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EISENHOWER MATRIX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094599" y="673132"/>
            <a:ext cx="35261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按重要与紧急分四类处理：马上做、排进计划、交给别人、直接放弃</a:t>
            </a:r>
          </a:p>
        </p:txBody>
      </p:sp>
      <p:sp>
        <p:nvSpPr>
          <p:cNvPr id="10" name="ax-imp"/>
          <p:cNvSpPr txBox="1"/>
          <p:nvPr/>
        </p:nvSpPr>
        <p:spPr>
          <a:xfrm>
            <a:off x="1465834" y="2291270"/>
            <a:ext cx="4559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重要</a:t>
            </a:r>
          </a:p>
        </p:txBody>
      </p:sp>
      <p:sp>
        <p:nvSpPr>
          <p:cNvPr id="11" name="ax-nimp"/>
          <p:cNvSpPr txBox="1"/>
          <p:nvPr/>
        </p:nvSpPr>
        <p:spPr>
          <a:xfrm>
            <a:off x="1300734" y="4323270"/>
            <a:ext cx="6210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2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不重要</a:t>
            </a:r>
          </a:p>
        </p:txBody>
      </p:sp>
      <p:sp>
        <p:nvSpPr>
          <p:cNvPr id="12" name="ax-urg"/>
          <p:cNvSpPr txBox="1"/>
          <p:nvPr/>
        </p:nvSpPr>
        <p:spPr>
          <a:xfrm>
            <a:off x="3645535" y="5504370"/>
            <a:ext cx="4559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紧急</a:t>
            </a:r>
          </a:p>
        </p:txBody>
      </p:sp>
      <p:sp>
        <p:nvSpPr>
          <p:cNvPr id="13" name="ax-nurg"/>
          <p:cNvSpPr txBox="1"/>
          <p:nvPr/>
        </p:nvSpPr>
        <p:spPr>
          <a:xfrm>
            <a:off x="7245985" y="5504370"/>
            <a:ext cx="6210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 spc="2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不紧急</a:t>
            </a:r>
          </a:p>
        </p:txBody>
      </p:sp>
      <p:sp>
        <p:nvSpPr>
          <p:cNvPr id="14" name="q-1"/>
          <p:cNvSpPr/>
          <p:nvPr/>
        </p:nvSpPr>
        <p:spPr>
          <a:xfrm>
            <a:off x="2095500" y="1460500"/>
            <a:ext cx="3556000" cy="1905000"/>
          </a:xfrm>
          <a:custGeom>
            <a:avLst/>
            <a:gdLst/>
            <a:ahLst/>
            <a:cxnLst/>
            <a:rect l="0" t="0" r="r" b="b"/>
            <a:pathLst>
              <a:path w="3556000" h="1905000">
                <a:moveTo>
                  <a:pt x="152400" y="0"/>
                </a:moveTo>
                <a:lnTo>
                  <a:pt x="3403600" y="0"/>
                </a:lnTo>
                <a:cubicBezTo>
                  <a:pt x="3487801" y="0"/>
                  <a:pt x="3556000" y="68199"/>
                  <a:pt x="3556000" y="152400"/>
                </a:cubicBezTo>
                <a:lnTo>
                  <a:pt x="3556000" y="1752600"/>
                </a:lnTo>
                <a:cubicBezTo>
                  <a:pt x="3556000" y="1836801"/>
                  <a:pt x="3487801" y="1905000"/>
                  <a:pt x="3403600" y="1905000"/>
                </a:cubicBezTo>
                <a:lnTo>
                  <a:pt x="152400" y="1905000"/>
                </a:lnTo>
                <a:cubicBezTo>
                  <a:pt x="68199" y="1905000"/>
                  <a:pt x="0" y="1836801"/>
                  <a:pt x="0" y="17526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qb-1"/>
          <p:cNvSpPr/>
          <p:nvPr/>
        </p:nvSpPr>
        <p:spPr>
          <a:xfrm>
            <a:off x="2095500" y="1460500"/>
            <a:ext cx="3556000" cy="50800"/>
          </a:xfrm>
          <a:custGeom>
            <a:avLst/>
            <a:gdLst/>
            <a:ahLst/>
            <a:cxnLst/>
            <a:rect l="0" t="0" r="r" b="b"/>
            <a:pathLst>
              <a:path w="3556000" h="50800">
                <a:moveTo>
                  <a:pt x="25400" y="0"/>
                </a:moveTo>
                <a:lnTo>
                  <a:pt x="3530600" y="0"/>
                </a:lnTo>
                <a:cubicBezTo>
                  <a:pt x="3544634" y="0"/>
                  <a:pt x="3556000" y="11366"/>
                  <a:pt x="3556000" y="25400"/>
                </a:cubicBezTo>
                <a:lnTo>
                  <a:pt x="3556000" y="25400"/>
                </a:lnTo>
                <a:cubicBezTo>
                  <a:pt x="3556000" y="39434"/>
                  <a:pt x="3544634" y="50800"/>
                  <a:pt x="3530600" y="50800"/>
                </a:cubicBezTo>
                <a:lnTo>
                  <a:pt x="25400" y="50800"/>
                </a:lnTo>
                <a:cubicBezTo>
                  <a:pt x="11367" y="50800"/>
                  <a:pt x="0" y="39434"/>
                  <a:pt x="0" y="25400"/>
                </a:cubicBezTo>
                <a:lnTo>
                  <a:pt x="0" y="25400"/>
                </a:lnTo>
                <a:cubicBezTo>
                  <a:pt x="0" y="11366"/>
                  <a:pt x="11367" y="0"/>
                  <a:pt x="254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qn-1"/>
          <p:cNvSpPr txBox="1"/>
          <p:nvPr/>
        </p:nvSpPr>
        <p:spPr>
          <a:xfrm>
            <a:off x="2279650" y="1645444"/>
            <a:ext cx="10001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重要且紧急</a:t>
            </a:r>
          </a:p>
        </p:txBody>
      </p:sp>
      <p:sp>
        <p:nvSpPr>
          <p:cNvPr id="17" name="qa-1"/>
          <p:cNvSpPr/>
          <p:nvPr/>
        </p:nvSpPr>
        <p:spPr>
          <a:xfrm>
            <a:off x="2298700" y="1955800"/>
            <a:ext cx="685800" cy="215900"/>
          </a:xfrm>
          <a:custGeom>
            <a:avLst/>
            <a:gdLst/>
            <a:ahLst/>
            <a:cxnLst/>
            <a:rect l="0" t="0" r="r" b="b"/>
            <a:pathLst>
              <a:path w="685800" h="215900">
                <a:moveTo>
                  <a:pt x="107950" y="0"/>
                </a:moveTo>
                <a:lnTo>
                  <a:pt x="577850" y="0"/>
                </a:lnTo>
                <a:cubicBezTo>
                  <a:pt x="637476" y="0"/>
                  <a:pt x="685800" y="48324"/>
                  <a:pt x="685800" y="107950"/>
                </a:cubicBezTo>
                <a:lnTo>
                  <a:pt x="685800" y="107950"/>
                </a:lnTo>
                <a:cubicBezTo>
                  <a:pt x="685800" y="167576"/>
                  <a:pt x="637476" y="215900"/>
                  <a:pt x="577850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E0703A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qat-1"/>
          <p:cNvSpPr txBox="1"/>
          <p:nvPr/>
        </p:nvSpPr>
        <p:spPr>
          <a:xfrm>
            <a:off x="2429192" y="1976374"/>
            <a:ext cx="424815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7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马上做</a:t>
            </a:r>
          </a:p>
        </p:txBody>
      </p:sp>
      <p:sp>
        <p:nvSpPr>
          <p:cNvPr id="19" name="qe-1"/>
          <p:cNvSpPr txBox="1"/>
          <p:nvPr/>
        </p:nvSpPr>
        <p:spPr>
          <a:xfrm>
            <a:off x="4729734" y="1544256"/>
            <a:ext cx="753618" cy="5111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300" b="1">
                <a:solidFill>
                  <a:srgbClr val="E0703A">
                    <a:alpha val="95000"/>
                  </a:srgbClr>
                </a:solidFill>
                <a:latin typeface="Arial"/>
                <a:ea typeface="Arial"/>
                <a:cs typeface="Arial"/>
              </a:rPr>
              <a:t>25%</a:t>
            </a:r>
          </a:p>
        </p:txBody>
      </p:sp>
      <p:sp>
        <p:nvSpPr>
          <p:cNvPr id="20" name="qel-1"/>
          <p:cNvSpPr txBox="1"/>
          <p:nvPr/>
        </p:nvSpPr>
        <p:spPr>
          <a:xfrm>
            <a:off x="4997958" y="1985708"/>
            <a:ext cx="4610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精力占比</a:t>
            </a:r>
          </a:p>
        </p:txBody>
      </p:sp>
      <p:sp>
        <p:nvSpPr>
          <p:cNvPr id="21" name="it-1-1"/>
          <p:cNvSpPr/>
          <p:nvPr/>
        </p:nvSpPr>
        <p:spPr>
          <a:xfrm>
            <a:off x="2298700" y="2413000"/>
            <a:ext cx="1524000" cy="279400"/>
          </a:xfrm>
          <a:custGeom>
            <a:avLst/>
            <a:gdLst/>
            <a:ahLst/>
            <a:cxnLst/>
            <a:rect l="0" t="0" r="r" b="b"/>
            <a:pathLst>
              <a:path w="1524000" h="279400">
                <a:moveTo>
                  <a:pt x="88900" y="0"/>
                </a:moveTo>
                <a:lnTo>
                  <a:pt x="1435100" y="0"/>
                </a:lnTo>
                <a:cubicBezTo>
                  <a:pt x="1484186" y="0"/>
                  <a:pt x="1524000" y="39814"/>
                  <a:pt x="1524000" y="88900"/>
                </a:cubicBezTo>
                <a:lnTo>
                  <a:pt x="1524000" y="190500"/>
                </a:lnTo>
                <a:cubicBezTo>
                  <a:pt x="1524000" y="239586"/>
                  <a:pt x="1484186" y="279400"/>
                  <a:pt x="1435100" y="279400"/>
                </a:cubicBezTo>
                <a:lnTo>
                  <a:pt x="88900" y="279400"/>
                </a:lnTo>
                <a:cubicBezTo>
                  <a:pt x="39814" y="279400"/>
                  <a:pt x="0" y="239586"/>
                  <a:pt x="0" y="190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itd-1-1"/>
          <p:cNvSpPr/>
          <p:nvPr/>
        </p:nvSpPr>
        <p:spPr>
          <a:xfrm>
            <a:off x="2406650" y="2520950"/>
            <a:ext cx="63500" cy="635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itt-1-1"/>
          <p:cNvSpPr txBox="1"/>
          <p:nvPr/>
        </p:nvSpPr>
        <p:spPr>
          <a:xfrm>
            <a:off x="2540127" y="2461403"/>
            <a:ext cx="845502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大客户续约谈判</a:t>
            </a:r>
          </a:p>
        </p:txBody>
      </p:sp>
      <p:sp>
        <p:nvSpPr>
          <p:cNvPr id="24" name="it-1-2"/>
          <p:cNvSpPr/>
          <p:nvPr/>
        </p:nvSpPr>
        <p:spPr>
          <a:xfrm>
            <a:off x="3949700" y="2413000"/>
            <a:ext cx="1524000" cy="279400"/>
          </a:xfrm>
          <a:custGeom>
            <a:avLst/>
            <a:gdLst/>
            <a:ahLst/>
            <a:cxnLst/>
            <a:rect l="0" t="0" r="r" b="b"/>
            <a:pathLst>
              <a:path w="1524000" h="279400">
                <a:moveTo>
                  <a:pt x="88900" y="0"/>
                </a:moveTo>
                <a:lnTo>
                  <a:pt x="1435100" y="0"/>
                </a:lnTo>
                <a:cubicBezTo>
                  <a:pt x="1484186" y="0"/>
                  <a:pt x="1524000" y="39814"/>
                  <a:pt x="1524000" y="88900"/>
                </a:cubicBezTo>
                <a:lnTo>
                  <a:pt x="1524000" y="190500"/>
                </a:lnTo>
                <a:cubicBezTo>
                  <a:pt x="1524000" y="239586"/>
                  <a:pt x="1484186" y="279400"/>
                  <a:pt x="1435100" y="279400"/>
                </a:cubicBezTo>
                <a:lnTo>
                  <a:pt x="88900" y="279400"/>
                </a:lnTo>
                <a:cubicBezTo>
                  <a:pt x="39814" y="279400"/>
                  <a:pt x="0" y="239586"/>
                  <a:pt x="0" y="190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itd-1-2"/>
          <p:cNvSpPr/>
          <p:nvPr/>
        </p:nvSpPr>
        <p:spPr>
          <a:xfrm>
            <a:off x="4057650" y="2520950"/>
            <a:ext cx="63500" cy="635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itt-1-2"/>
          <p:cNvSpPr txBox="1"/>
          <p:nvPr/>
        </p:nvSpPr>
        <p:spPr>
          <a:xfrm>
            <a:off x="4191127" y="2461403"/>
            <a:ext cx="73818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系统宕机复盘</a:t>
            </a:r>
          </a:p>
        </p:txBody>
      </p:sp>
      <p:sp>
        <p:nvSpPr>
          <p:cNvPr id="27" name="it-1-3"/>
          <p:cNvSpPr/>
          <p:nvPr/>
        </p:nvSpPr>
        <p:spPr>
          <a:xfrm>
            <a:off x="2298700" y="2781300"/>
            <a:ext cx="1524000" cy="279400"/>
          </a:xfrm>
          <a:custGeom>
            <a:avLst/>
            <a:gdLst/>
            <a:ahLst/>
            <a:cxnLst/>
            <a:rect l="0" t="0" r="r" b="b"/>
            <a:pathLst>
              <a:path w="1524000" h="279400">
                <a:moveTo>
                  <a:pt x="88900" y="0"/>
                </a:moveTo>
                <a:lnTo>
                  <a:pt x="1435100" y="0"/>
                </a:lnTo>
                <a:cubicBezTo>
                  <a:pt x="1484186" y="0"/>
                  <a:pt x="1524000" y="39814"/>
                  <a:pt x="1524000" y="88900"/>
                </a:cubicBezTo>
                <a:lnTo>
                  <a:pt x="1524000" y="190500"/>
                </a:lnTo>
                <a:cubicBezTo>
                  <a:pt x="1524000" y="239586"/>
                  <a:pt x="1484186" y="279400"/>
                  <a:pt x="1435100" y="279400"/>
                </a:cubicBezTo>
                <a:lnTo>
                  <a:pt x="88900" y="279400"/>
                </a:lnTo>
                <a:cubicBezTo>
                  <a:pt x="39814" y="279400"/>
                  <a:pt x="0" y="239586"/>
                  <a:pt x="0" y="190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itd-1-3"/>
          <p:cNvSpPr/>
          <p:nvPr/>
        </p:nvSpPr>
        <p:spPr>
          <a:xfrm>
            <a:off x="2406650" y="2889250"/>
            <a:ext cx="63500" cy="635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itt-1-3"/>
          <p:cNvSpPr txBox="1"/>
          <p:nvPr/>
        </p:nvSpPr>
        <p:spPr>
          <a:xfrm>
            <a:off x="2540127" y="2829703"/>
            <a:ext cx="707200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Q4 预算定稿</a:t>
            </a:r>
          </a:p>
        </p:txBody>
      </p:sp>
      <p:sp>
        <p:nvSpPr>
          <p:cNvPr id="30" name="q-2"/>
          <p:cNvSpPr/>
          <p:nvPr/>
        </p:nvSpPr>
        <p:spPr>
          <a:xfrm>
            <a:off x="5778500" y="1460500"/>
            <a:ext cx="3556000" cy="1905000"/>
          </a:xfrm>
          <a:custGeom>
            <a:avLst/>
            <a:gdLst/>
            <a:ahLst/>
            <a:cxnLst/>
            <a:rect l="0" t="0" r="r" b="b"/>
            <a:pathLst>
              <a:path w="3556000" h="1905000">
                <a:moveTo>
                  <a:pt x="152400" y="0"/>
                </a:moveTo>
                <a:lnTo>
                  <a:pt x="3403600" y="0"/>
                </a:lnTo>
                <a:cubicBezTo>
                  <a:pt x="3487801" y="0"/>
                  <a:pt x="3556000" y="68199"/>
                  <a:pt x="3556000" y="152400"/>
                </a:cubicBezTo>
                <a:lnTo>
                  <a:pt x="3556000" y="1752600"/>
                </a:lnTo>
                <a:cubicBezTo>
                  <a:pt x="3556000" y="1836801"/>
                  <a:pt x="3487801" y="1905000"/>
                  <a:pt x="3403600" y="1905000"/>
                </a:cubicBezTo>
                <a:lnTo>
                  <a:pt x="152400" y="1905000"/>
                </a:lnTo>
                <a:cubicBezTo>
                  <a:pt x="68199" y="1905000"/>
                  <a:pt x="0" y="1836801"/>
                  <a:pt x="0" y="17526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gradFill rotWithShape="1">
            <a:gsLst>
              <a:gs pos="0">
                <a:srgbClr val="23519A"/>
              </a:gs>
              <a:gs pos="100000">
                <a:srgbClr val="0B3E8F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qn-2"/>
          <p:cNvSpPr txBox="1"/>
          <p:nvPr/>
        </p:nvSpPr>
        <p:spPr>
          <a:xfrm>
            <a:off x="5962650" y="1645444"/>
            <a:ext cx="10001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重要不紧急</a:t>
            </a:r>
          </a:p>
        </p:txBody>
      </p:sp>
      <p:sp>
        <p:nvSpPr>
          <p:cNvPr id="32" name="qa-2"/>
          <p:cNvSpPr/>
          <p:nvPr/>
        </p:nvSpPr>
        <p:spPr>
          <a:xfrm>
            <a:off x="5981700" y="1955800"/>
            <a:ext cx="685800" cy="215900"/>
          </a:xfrm>
          <a:custGeom>
            <a:avLst/>
            <a:gdLst/>
            <a:ahLst/>
            <a:cxnLst/>
            <a:rect l="0" t="0" r="r" b="b"/>
            <a:pathLst>
              <a:path w="685800" h="215900">
                <a:moveTo>
                  <a:pt x="107950" y="0"/>
                </a:moveTo>
                <a:lnTo>
                  <a:pt x="577850" y="0"/>
                </a:lnTo>
                <a:cubicBezTo>
                  <a:pt x="637477" y="0"/>
                  <a:pt x="685800" y="48324"/>
                  <a:pt x="685800" y="107950"/>
                </a:cubicBezTo>
                <a:lnTo>
                  <a:pt x="685800" y="107950"/>
                </a:lnTo>
                <a:cubicBezTo>
                  <a:pt x="685800" y="167576"/>
                  <a:pt x="637477" y="215900"/>
                  <a:pt x="577850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FFFFFF">
              <a:alpha val="2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qat-2"/>
          <p:cNvSpPr txBox="1"/>
          <p:nvPr/>
        </p:nvSpPr>
        <p:spPr>
          <a:xfrm>
            <a:off x="6056630" y="1976374"/>
            <a:ext cx="5359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7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排进计划</a:t>
            </a:r>
          </a:p>
        </p:txBody>
      </p:sp>
      <p:sp>
        <p:nvSpPr>
          <p:cNvPr id="34" name="qe-2"/>
          <p:cNvSpPr txBox="1"/>
          <p:nvPr/>
        </p:nvSpPr>
        <p:spPr>
          <a:xfrm>
            <a:off x="8412734" y="1544256"/>
            <a:ext cx="753618" cy="5111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300" b="1">
                <a:solidFill>
                  <a:srgbClr val="FFFFFF">
                    <a:alpha val="95000"/>
                  </a:srgbClr>
                </a:solidFill>
                <a:latin typeface="Arial"/>
                <a:ea typeface="Arial"/>
                <a:cs typeface="Arial"/>
              </a:rPr>
              <a:t>50%</a:t>
            </a:r>
          </a:p>
        </p:txBody>
      </p:sp>
      <p:sp>
        <p:nvSpPr>
          <p:cNvPr id="35" name="qel-2"/>
          <p:cNvSpPr txBox="1"/>
          <p:nvPr/>
        </p:nvSpPr>
        <p:spPr>
          <a:xfrm>
            <a:off x="8680958" y="1985708"/>
            <a:ext cx="4610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5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精力占比</a:t>
            </a:r>
          </a:p>
        </p:txBody>
      </p:sp>
      <p:sp>
        <p:nvSpPr>
          <p:cNvPr id="36" name="it-2-1"/>
          <p:cNvSpPr/>
          <p:nvPr/>
        </p:nvSpPr>
        <p:spPr>
          <a:xfrm>
            <a:off x="5981700" y="2413000"/>
            <a:ext cx="1524000" cy="279400"/>
          </a:xfrm>
          <a:custGeom>
            <a:avLst/>
            <a:gdLst/>
            <a:ahLst/>
            <a:cxnLst/>
            <a:rect l="0" t="0" r="r" b="b"/>
            <a:pathLst>
              <a:path w="1524000" h="279400">
                <a:moveTo>
                  <a:pt x="88900" y="0"/>
                </a:moveTo>
                <a:lnTo>
                  <a:pt x="1435100" y="0"/>
                </a:lnTo>
                <a:cubicBezTo>
                  <a:pt x="1484186" y="0"/>
                  <a:pt x="1524000" y="39814"/>
                  <a:pt x="1524000" y="88900"/>
                </a:cubicBezTo>
                <a:lnTo>
                  <a:pt x="1524000" y="190500"/>
                </a:lnTo>
                <a:cubicBezTo>
                  <a:pt x="1524000" y="239586"/>
                  <a:pt x="1484186" y="279400"/>
                  <a:pt x="1435100" y="279400"/>
                </a:cubicBezTo>
                <a:lnTo>
                  <a:pt x="88900" y="279400"/>
                </a:lnTo>
                <a:cubicBezTo>
                  <a:pt x="39814" y="279400"/>
                  <a:pt x="0" y="239586"/>
                  <a:pt x="0" y="190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1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itd-2-1"/>
          <p:cNvSpPr/>
          <p:nvPr/>
        </p:nvSpPr>
        <p:spPr>
          <a:xfrm>
            <a:off x="6089650" y="2520950"/>
            <a:ext cx="63500" cy="6350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itt-2-1"/>
          <p:cNvSpPr txBox="1"/>
          <p:nvPr/>
        </p:nvSpPr>
        <p:spPr>
          <a:xfrm>
            <a:off x="6223127" y="2461403"/>
            <a:ext cx="73818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数据中台建设</a:t>
            </a:r>
          </a:p>
        </p:txBody>
      </p:sp>
      <p:sp>
        <p:nvSpPr>
          <p:cNvPr id="39" name="it-2-2"/>
          <p:cNvSpPr/>
          <p:nvPr/>
        </p:nvSpPr>
        <p:spPr>
          <a:xfrm>
            <a:off x="7632700" y="2413000"/>
            <a:ext cx="1524000" cy="279400"/>
          </a:xfrm>
          <a:custGeom>
            <a:avLst/>
            <a:gdLst/>
            <a:ahLst/>
            <a:cxnLst/>
            <a:rect l="0" t="0" r="r" b="b"/>
            <a:pathLst>
              <a:path w="1524000" h="279400">
                <a:moveTo>
                  <a:pt x="88900" y="0"/>
                </a:moveTo>
                <a:lnTo>
                  <a:pt x="1435100" y="0"/>
                </a:lnTo>
                <a:cubicBezTo>
                  <a:pt x="1484186" y="0"/>
                  <a:pt x="1524000" y="39814"/>
                  <a:pt x="1524000" y="88900"/>
                </a:cubicBezTo>
                <a:lnTo>
                  <a:pt x="1524000" y="190500"/>
                </a:lnTo>
                <a:cubicBezTo>
                  <a:pt x="1524000" y="239586"/>
                  <a:pt x="1484186" y="279400"/>
                  <a:pt x="1435100" y="279400"/>
                </a:cubicBezTo>
                <a:lnTo>
                  <a:pt x="88900" y="279400"/>
                </a:lnTo>
                <a:cubicBezTo>
                  <a:pt x="39814" y="279400"/>
                  <a:pt x="0" y="239586"/>
                  <a:pt x="0" y="190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1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itd-2-2"/>
          <p:cNvSpPr/>
          <p:nvPr/>
        </p:nvSpPr>
        <p:spPr>
          <a:xfrm>
            <a:off x="7740650" y="2520950"/>
            <a:ext cx="63500" cy="6350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itt-2-2"/>
          <p:cNvSpPr txBox="1"/>
          <p:nvPr/>
        </p:nvSpPr>
        <p:spPr>
          <a:xfrm>
            <a:off x="7874127" y="2461403"/>
            <a:ext cx="73818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干部梯队培养</a:t>
            </a:r>
          </a:p>
        </p:txBody>
      </p:sp>
      <p:sp>
        <p:nvSpPr>
          <p:cNvPr id="42" name="it-2-3"/>
          <p:cNvSpPr/>
          <p:nvPr/>
        </p:nvSpPr>
        <p:spPr>
          <a:xfrm>
            <a:off x="5981700" y="2781300"/>
            <a:ext cx="1524000" cy="279400"/>
          </a:xfrm>
          <a:custGeom>
            <a:avLst/>
            <a:gdLst/>
            <a:ahLst/>
            <a:cxnLst/>
            <a:rect l="0" t="0" r="r" b="b"/>
            <a:pathLst>
              <a:path w="1524000" h="279400">
                <a:moveTo>
                  <a:pt x="88900" y="0"/>
                </a:moveTo>
                <a:lnTo>
                  <a:pt x="1435100" y="0"/>
                </a:lnTo>
                <a:cubicBezTo>
                  <a:pt x="1484186" y="0"/>
                  <a:pt x="1524000" y="39814"/>
                  <a:pt x="1524000" y="88900"/>
                </a:cubicBezTo>
                <a:lnTo>
                  <a:pt x="1524000" y="190500"/>
                </a:lnTo>
                <a:cubicBezTo>
                  <a:pt x="1524000" y="239586"/>
                  <a:pt x="1484186" y="279400"/>
                  <a:pt x="1435100" y="279400"/>
                </a:cubicBezTo>
                <a:lnTo>
                  <a:pt x="88900" y="279400"/>
                </a:lnTo>
                <a:cubicBezTo>
                  <a:pt x="39814" y="279400"/>
                  <a:pt x="0" y="239586"/>
                  <a:pt x="0" y="190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1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itd-2-3"/>
          <p:cNvSpPr/>
          <p:nvPr/>
        </p:nvSpPr>
        <p:spPr>
          <a:xfrm>
            <a:off x="6089650" y="2889250"/>
            <a:ext cx="63500" cy="6350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itt-2-3"/>
          <p:cNvSpPr txBox="1"/>
          <p:nvPr/>
        </p:nvSpPr>
        <p:spPr>
          <a:xfrm>
            <a:off x="6223127" y="2829703"/>
            <a:ext cx="73818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海外市场调研</a:t>
            </a:r>
          </a:p>
        </p:txBody>
      </p:sp>
      <p:sp>
        <p:nvSpPr>
          <p:cNvPr id="45" name="it-2-4"/>
          <p:cNvSpPr/>
          <p:nvPr/>
        </p:nvSpPr>
        <p:spPr>
          <a:xfrm>
            <a:off x="7632700" y="2781300"/>
            <a:ext cx="1524000" cy="279400"/>
          </a:xfrm>
          <a:custGeom>
            <a:avLst/>
            <a:gdLst/>
            <a:ahLst/>
            <a:cxnLst/>
            <a:rect l="0" t="0" r="r" b="b"/>
            <a:pathLst>
              <a:path w="1524000" h="279400">
                <a:moveTo>
                  <a:pt x="88900" y="0"/>
                </a:moveTo>
                <a:lnTo>
                  <a:pt x="1435100" y="0"/>
                </a:lnTo>
                <a:cubicBezTo>
                  <a:pt x="1484186" y="0"/>
                  <a:pt x="1524000" y="39814"/>
                  <a:pt x="1524000" y="88900"/>
                </a:cubicBezTo>
                <a:lnTo>
                  <a:pt x="1524000" y="190500"/>
                </a:lnTo>
                <a:cubicBezTo>
                  <a:pt x="1524000" y="239586"/>
                  <a:pt x="1484186" y="279400"/>
                  <a:pt x="1435100" y="279400"/>
                </a:cubicBezTo>
                <a:lnTo>
                  <a:pt x="88900" y="279400"/>
                </a:lnTo>
                <a:cubicBezTo>
                  <a:pt x="39814" y="279400"/>
                  <a:pt x="0" y="239586"/>
                  <a:pt x="0" y="190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>
              <a:alpha val="1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itd-2-4"/>
          <p:cNvSpPr/>
          <p:nvPr/>
        </p:nvSpPr>
        <p:spPr>
          <a:xfrm>
            <a:off x="7740650" y="2889250"/>
            <a:ext cx="63500" cy="6350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itt-2-4"/>
          <p:cNvSpPr txBox="1"/>
          <p:nvPr/>
        </p:nvSpPr>
        <p:spPr>
          <a:xfrm>
            <a:off x="7874127" y="2829703"/>
            <a:ext cx="630872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产品路线图</a:t>
            </a:r>
          </a:p>
        </p:txBody>
      </p:sp>
      <p:sp>
        <p:nvSpPr>
          <p:cNvPr id="48" name="q-3"/>
          <p:cNvSpPr/>
          <p:nvPr/>
        </p:nvSpPr>
        <p:spPr>
          <a:xfrm>
            <a:off x="2095500" y="3492500"/>
            <a:ext cx="3556000" cy="1905000"/>
          </a:xfrm>
          <a:custGeom>
            <a:avLst/>
            <a:gdLst/>
            <a:ahLst/>
            <a:cxnLst/>
            <a:rect l="0" t="0" r="r" b="b"/>
            <a:pathLst>
              <a:path w="3556000" h="1905000">
                <a:moveTo>
                  <a:pt x="152400" y="0"/>
                </a:moveTo>
                <a:lnTo>
                  <a:pt x="3403600" y="0"/>
                </a:lnTo>
                <a:cubicBezTo>
                  <a:pt x="3487801" y="0"/>
                  <a:pt x="3556000" y="68199"/>
                  <a:pt x="3556000" y="152400"/>
                </a:cubicBezTo>
                <a:lnTo>
                  <a:pt x="3556000" y="1752600"/>
                </a:lnTo>
                <a:cubicBezTo>
                  <a:pt x="3556000" y="1836801"/>
                  <a:pt x="3487801" y="1905000"/>
                  <a:pt x="3403600" y="1905000"/>
                </a:cubicBezTo>
                <a:lnTo>
                  <a:pt x="152400" y="1905000"/>
                </a:lnTo>
                <a:cubicBezTo>
                  <a:pt x="68199" y="1905000"/>
                  <a:pt x="0" y="1836801"/>
                  <a:pt x="0" y="17526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qb-3"/>
          <p:cNvSpPr/>
          <p:nvPr/>
        </p:nvSpPr>
        <p:spPr>
          <a:xfrm>
            <a:off x="2095500" y="3492500"/>
            <a:ext cx="3556000" cy="50800"/>
          </a:xfrm>
          <a:custGeom>
            <a:avLst/>
            <a:gdLst/>
            <a:ahLst/>
            <a:cxnLst/>
            <a:rect l="0" t="0" r="r" b="b"/>
            <a:pathLst>
              <a:path w="3556000" h="50800">
                <a:moveTo>
                  <a:pt x="25400" y="0"/>
                </a:moveTo>
                <a:lnTo>
                  <a:pt x="3530600" y="0"/>
                </a:lnTo>
                <a:cubicBezTo>
                  <a:pt x="3544634" y="0"/>
                  <a:pt x="3556000" y="11366"/>
                  <a:pt x="3556000" y="25400"/>
                </a:cubicBezTo>
                <a:lnTo>
                  <a:pt x="3556000" y="25400"/>
                </a:lnTo>
                <a:cubicBezTo>
                  <a:pt x="3556000" y="39434"/>
                  <a:pt x="3544634" y="50800"/>
                  <a:pt x="3530600" y="50800"/>
                </a:cubicBezTo>
                <a:lnTo>
                  <a:pt x="25400" y="50800"/>
                </a:lnTo>
                <a:cubicBezTo>
                  <a:pt x="11367" y="50800"/>
                  <a:pt x="0" y="39434"/>
                  <a:pt x="0" y="25400"/>
                </a:cubicBezTo>
                <a:lnTo>
                  <a:pt x="0" y="25400"/>
                </a:lnTo>
                <a:cubicBezTo>
                  <a:pt x="0" y="11366"/>
                  <a:pt x="11367" y="0"/>
                  <a:pt x="2540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qn-3"/>
          <p:cNvSpPr txBox="1"/>
          <p:nvPr/>
        </p:nvSpPr>
        <p:spPr>
          <a:xfrm>
            <a:off x="2279650" y="3677444"/>
            <a:ext cx="10001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紧急不重要</a:t>
            </a:r>
          </a:p>
        </p:txBody>
      </p:sp>
      <p:sp>
        <p:nvSpPr>
          <p:cNvPr id="51" name="qa-3"/>
          <p:cNvSpPr/>
          <p:nvPr/>
        </p:nvSpPr>
        <p:spPr>
          <a:xfrm>
            <a:off x="2298700" y="3987800"/>
            <a:ext cx="685800" cy="215900"/>
          </a:xfrm>
          <a:custGeom>
            <a:avLst/>
            <a:gdLst/>
            <a:ahLst/>
            <a:cxnLst/>
            <a:rect l="0" t="0" r="r" b="b"/>
            <a:pathLst>
              <a:path w="685800" h="215900">
                <a:moveTo>
                  <a:pt x="107950" y="0"/>
                </a:moveTo>
                <a:lnTo>
                  <a:pt x="577850" y="0"/>
                </a:lnTo>
                <a:cubicBezTo>
                  <a:pt x="637476" y="0"/>
                  <a:pt x="685800" y="48324"/>
                  <a:pt x="685800" y="107950"/>
                </a:cubicBezTo>
                <a:lnTo>
                  <a:pt x="685800" y="107950"/>
                </a:lnTo>
                <a:cubicBezTo>
                  <a:pt x="685800" y="167576"/>
                  <a:pt x="637476" y="215900"/>
                  <a:pt x="577850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3985CD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qat-3"/>
          <p:cNvSpPr txBox="1"/>
          <p:nvPr/>
        </p:nvSpPr>
        <p:spPr>
          <a:xfrm>
            <a:off x="2373630" y="4008374"/>
            <a:ext cx="5359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75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交给别人</a:t>
            </a:r>
          </a:p>
        </p:txBody>
      </p:sp>
      <p:sp>
        <p:nvSpPr>
          <p:cNvPr id="53" name="qe-3"/>
          <p:cNvSpPr txBox="1"/>
          <p:nvPr/>
        </p:nvSpPr>
        <p:spPr>
          <a:xfrm>
            <a:off x="4729734" y="3576257"/>
            <a:ext cx="753618" cy="5111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300" b="1">
                <a:solidFill>
                  <a:srgbClr val="3985CD">
                    <a:alpha val="95000"/>
                  </a:srgbClr>
                </a:solidFill>
                <a:latin typeface="Arial"/>
                <a:ea typeface="Arial"/>
                <a:cs typeface="Arial"/>
              </a:rPr>
              <a:t>15%</a:t>
            </a:r>
          </a:p>
        </p:txBody>
      </p:sp>
      <p:sp>
        <p:nvSpPr>
          <p:cNvPr id="54" name="qel-3"/>
          <p:cNvSpPr txBox="1"/>
          <p:nvPr/>
        </p:nvSpPr>
        <p:spPr>
          <a:xfrm>
            <a:off x="4997958" y="4017708"/>
            <a:ext cx="4610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精力占比</a:t>
            </a:r>
          </a:p>
        </p:txBody>
      </p:sp>
      <p:sp>
        <p:nvSpPr>
          <p:cNvPr id="55" name="it-3-1"/>
          <p:cNvSpPr/>
          <p:nvPr/>
        </p:nvSpPr>
        <p:spPr>
          <a:xfrm>
            <a:off x="2298700" y="4445000"/>
            <a:ext cx="1524000" cy="279400"/>
          </a:xfrm>
          <a:custGeom>
            <a:avLst/>
            <a:gdLst/>
            <a:ahLst/>
            <a:cxnLst/>
            <a:rect l="0" t="0" r="r" b="b"/>
            <a:pathLst>
              <a:path w="1524000" h="279400">
                <a:moveTo>
                  <a:pt x="88900" y="0"/>
                </a:moveTo>
                <a:lnTo>
                  <a:pt x="1435100" y="0"/>
                </a:lnTo>
                <a:cubicBezTo>
                  <a:pt x="1484186" y="0"/>
                  <a:pt x="1524000" y="39814"/>
                  <a:pt x="1524000" y="88900"/>
                </a:cubicBezTo>
                <a:lnTo>
                  <a:pt x="1524000" y="190500"/>
                </a:lnTo>
                <a:cubicBezTo>
                  <a:pt x="1524000" y="239586"/>
                  <a:pt x="1484186" y="279400"/>
                  <a:pt x="1435100" y="279400"/>
                </a:cubicBezTo>
                <a:lnTo>
                  <a:pt x="88900" y="279400"/>
                </a:lnTo>
                <a:cubicBezTo>
                  <a:pt x="39814" y="279400"/>
                  <a:pt x="0" y="239586"/>
                  <a:pt x="0" y="190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itd-3-1"/>
          <p:cNvSpPr/>
          <p:nvPr/>
        </p:nvSpPr>
        <p:spPr>
          <a:xfrm>
            <a:off x="2406650" y="4552950"/>
            <a:ext cx="63500" cy="63500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itt-3-1"/>
          <p:cNvSpPr txBox="1"/>
          <p:nvPr/>
        </p:nvSpPr>
        <p:spPr>
          <a:xfrm>
            <a:off x="2540127" y="4493403"/>
            <a:ext cx="73818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例行报表汇总</a:t>
            </a:r>
          </a:p>
        </p:txBody>
      </p:sp>
      <p:sp>
        <p:nvSpPr>
          <p:cNvPr id="58" name="it-3-2"/>
          <p:cNvSpPr/>
          <p:nvPr/>
        </p:nvSpPr>
        <p:spPr>
          <a:xfrm>
            <a:off x="3949700" y="4445000"/>
            <a:ext cx="1524000" cy="279400"/>
          </a:xfrm>
          <a:custGeom>
            <a:avLst/>
            <a:gdLst/>
            <a:ahLst/>
            <a:cxnLst/>
            <a:rect l="0" t="0" r="r" b="b"/>
            <a:pathLst>
              <a:path w="1524000" h="279400">
                <a:moveTo>
                  <a:pt x="88900" y="0"/>
                </a:moveTo>
                <a:lnTo>
                  <a:pt x="1435100" y="0"/>
                </a:lnTo>
                <a:cubicBezTo>
                  <a:pt x="1484186" y="0"/>
                  <a:pt x="1524000" y="39814"/>
                  <a:pt x="1524000" y="88900"/>
                </a:cubicBezTo>
                <a:lnTo>
                  <a:pt x="1524000" y="190500"/>
                </a:lnTo>
                <a:cubicBezTo>
                  <a:pt x="1524000" y="239586"/>
                  <a:pt x="1484186" y="279400"/>
                  <a:pt x="1435100" y="279400"/>
                </a:cubicBezTo>
                <a:lnTo>
                  <a:pt x="88900" y="279400"/>
                </a:lnTo>
                <a:cubicBezTo>
                  <a:pt x="39814" y="279400"/>
                  <a:pt x="0" y="239586"/>
                  <a:pt x="0" y="190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itd-3-2"/>
          <p:cNvSpPr/>
          <p:nvPr/>
        </p:nvSpPr>
        <p:spPr>
          <a:xfrm>
            <a:off x="4057650" y="4552950"/>
            <a:ext cx="63500" cy="63500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itt-3-2"/>
          <p:cNvSpPr txBox="1"/>
          <p:nvPr/>
        </p:nvSpPr>
        <p:spPr>
          <a:xfrm>
            <a:off x="4191127" y="4493403"/>
            <a:ext cx="845502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供应商临时来访</a:t>
            </a:r>
          </a:p>
        </p:txBody>
      </p:sp>
      <p:sp>
        <p:nvSpPr>
          <p:cNvPr id="61" name="it-3-3"/>
          <p:cNvSpPr/>
          <p:nvPr/>
        </p:nvSpPr>
        <p:spPr>
          <a:xfrm>
            <a:off x="2298700" y="4813300"/>
            <a:ext cx="1524000" cy="279400"/>
          </a:xfrm>
          <a:custGeom>
            <a:avLst/>
            <a:gdLst/>
            <a:ahLst/>
            <a:cxnLst/>
            <a:rect l="0" t="0" r="r" b="b"/>
            <a:pathLst>
              <a:path w="1524000" h="279400">
                <a:moveTo>
                  <a:pt x="88900" y="0"/>
                </a:moveTo>
                <a:lnTo>
                  <a:pt x="1435100" y="0"/>
                </a:lnTo>
                <a:cubicBezTo>
                  <a:pt x="1484186" y="0"/>
                  <a:pt x="1524000" y="39814"/>
                  <a:pt x="1524000" y="88900"/>
                </a:cubicBezTo>
                <a:lnTo>
                  <a:pt x="1524000" y="190500"/>
                </a:lnTo>
                <a:cubicBezTo>
                  <a:pt x="1524000" y="239586"/>
                  <a:pt x="1484186" y="279400"/>
                  <a:pt x="1435100" y="279400"/>
                </a:cubicBezTo>
                <a:lnTo>
                  <a:pt x="88900" y="279400"/>
                </a:lnTo>
                <a:cubicBezTo>
                  <a:pt x="39814" y="279400"/>
                  <a:pt x="0" y="239586"/>
                  <a:pt x="0" y="190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itd-3-3"/>
          <p:cNvSpPr/>
          <p:nvPr/>
        </p:nvSpPr>
        <p:spPr>
          <a:xfrm>
            <a:off x="2406650" y="4921250"/>
            <a:ext cx="63500" cy="63500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itt-3-3"/>
          <p:cNvSpPr txBox="1"/>
          <p:nvPr/>
        </p:nvSpPr>
        <p:spPr>
          <a:xfrm>
            <a:off x="2540127" y="4861703"/>
            <a:ext cx="523557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会务安排</a:t>
            </a:r>
          </a:p>
        </p:txBody>
      </p:sp>
      <p:sp>
        <p:nvSpPr>
          <p:cNvPr id="64" name="q-4"/>
          <p:cNvSpPr/>
          <p:nvPr/>
        </p:nvSpPr>
        <p:spPr>
          <a:xfrm>
            <a:off x="5778500" y="3492500"/>
            <a:ext cx="3556000" cy="1905000"/>
          </a:xfrm>
          <a:custGeom>
            <a:avLst/>
            <a:gdLst/>
            <a:ahLst/>
            <a:cxnLst/>
            <a:rect l="0" t="0" r="r" b="b"/>
            <a:pathLst>
              <a:path w="3556000" h="1905000">
                <a:moveTo>
                  <a:pt x="152400" y="0"/>
                </a:moveTo>
                <a:lnTo>
                  <a:pt x="3403600" y="0"/>
                </a:lnTo>
                <a:cubicBezTo>
                  <a:pt x="3487801" y="0"/>
                  <a:pt x="3556000" y="68199"/>
                  <a:pt x="3556000" y="152400"/>
                </a:cubicBezTo>
                <a:lnTo>
                  <a:pt x="3556000" y="1752600"/>
                </a:lnTo>
                <a:cubicBezTo>
                  <a:pt x="3556000" y="1836801"/>
                  <a:pt x="3487801" y="1905000"/>
                  <a:pt x="3403600" y="1905000"/>
                </a:cubicBezTo>
                <a:lnTo>
                  <a:pt x="152400" y="1905000"/>
                </a:lnTo>
                <a:cubicBezTo>
                  <a:pt x="68199" y="1905000"/>
                  <a:pt x="0" y="1836801"/>
                  <a:pt x="0" y="17526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qb-4"/>
          <p:cNvSpPr/>
          <p:nvPr/>
        </p:nvSpPr>
        <p:spPr>
          <a:xfrm>
            <a:off x="5778500" y="3492500"/>
            <a:ext cx="3556000" cy="50800"/>
          </a:xfrm>
          <a:custGeom>
            <a:avLst/>
            <a:gdLst/>
            <a:ahLst/>
            <a:cxnLst/>
            <a:rect l="0" t="0" r="r" b="b"/>
            <a:pathLst>
              <a:path w="3556000" h="50800">
                <a:moveTo>
                  <a:pt x="25400" y="0"/>
                </a:moveTo>
                <a:lnTo>
                  <a:pt x="3530600" y="0"/>
                </a:lnTo>
                <a:cubicBezTo>
                  <a:pt x="3544634" y="0"/>
                  <a:pt x="3556000" y="11366"/>
                  <a:pt x="3556000" y="25400"/>
                </a:cubicBezTo>
                <a:lnTo>
                  <a:pt x="3556000" y="25400"/>
                </a:lnTo>
                <a:cubicBezTo>
                  <a:pt x="3556000" y="39434"/>
                  <a:pt x="3544634" y="50800"/>
                  <a:pt x="3530600" y="50800"/>
                </a:cubicBezTo>
                <a:lnTo>
                  <a:pt x="25400" y="50800"/>
                </a:lnTo>
                <a:cubicBezTo>
                  <a:pt x="11366" y="50800"/>
                  <a:pt x="0" y="39434"/>
                  <a:pt x="0" y="25400"/>
                </a:cubicBezTo>
                <a:lnTo>
                  <a:pt x="0" y="25400"/>
                </a:lnTo>
                <a:cubicBezTo>
                  <a:pt x="0" y="11366"/>
                  <a:pt x="11366" y="0"/>
                  <a:pt x="25400" y="0"/>
                </a:cubicBezTo>
                <a:close/>
              </a:path>
            </a:pathLst>
          </a:custGeom>
          <a:solidFill>
            <a:srgbClr val="9DB2C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qn-4"/>
          <p:cNvSpPr txBox="1"/>
          <p:nvPr/>
        </p:nvSpPr>
        <p:spPr>
          <a:xfrm>
            <a:off x="5962650" y="3677444"/>
            <a:ext cx="11715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不重要不紧急</a:t>
            </a:r>
          </a:p>
        </p:txBody>
      </p:sp>
      <p:sp>
        <p:nvSpPr>
          <p:cNvPr id="67" name="qa-4"/>
          <p:cNvSpPr/>
          <p:nvPr/>
        </p:nvSpPr>
        <p:spPr>
          <a:xfrm>
            <a:off x="5981700" y="3987800"/>
            <a:ext cx="685800" cy="215900"/>
          </a:xfrm>
          <a:custGeom>
            <a:avLst/>
            <a:gdLst/>
            <a:ahLst/>
            <a:cxnLst/>
            <a:rect l="0" t="0" r="r" b="b"/>
            <a:pathLst>
              <a:path w="685800" h="215900">
                <a:moveTo>
                  <a:pt x="107950" y="0"/>
                </a:moveTo>
                <a:lnTo>
                  <a:pt x="577850" y="0"/>
                </a:lnTo>
                <a:cubicBezTo>
                  <a:pt x="637477" y="0"/>
                  <a:pt x="685800" y="48324"/>
                  <a:pt x="685800" y="107950"/>
                </a:cubicBezTo>
                <a:lnTo>
                  <a:pt x="685800" y="107950"/>
                </a:lnTo>
                <a:cubicBezTo>
                  <a:pt x="685800" y="167576"/>
                  <a:pt x="637477" y="215900"/>
                  <a:pt x="577850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9DB2CC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qat-4"/>
          <p:cNvSpPr txBox="1"/>
          <p:nvPr/>
        </p:nvSpPr>
        <p:spPr>
          <a:xfrm>
            <a:off x="6056630" y="4008374"/>
            <a:ext cx="5359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75">
                <a:solidFill>
                  <a:srgbClr val="9DB2CC"/>
                </a:solidFill>
                <a:latin typeface="微软雅黑"/>
                <a:ea typeface="微软雅黑"/>
                <a:cs typeface="微软雅黑"/>
              </a:rPr>
              <a:t>直接放弃</a:t>
            </a:r>
          </a:p>
        </p:txBody>
      </p:sp>
      <p:sp>
        <p:nvSpPr>
          <p:cNvPr id="69" name="qe-4"/>
          <p:cNvSpPr txBox="1"/>
          <p:nvPr/>
        </p:nvSpPr>
        <p:spPr>
          <a:xfrm>
            <a:off x="8412734" y="3576257"/>
            <a:ext cx="753618" cy="5111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300" b="1">
                <a:solidFill>
                  <a:srgbClr val="9DB2CC">
                    <a:alpha val="95000"/>
                  </a:srgbClr>
                </a:solidFill>
                <a:latin typeface="Arial"/>
                <a:ea typeface="Arial"/>
                <a:cs typeface="Arial"/>
              </a:rPr>
              <a:t>10%</a:t>
            </a:r>
          </a:p>
        </p:txBody>
      </p:sp>
      <p:sp>
        <p:nvSpPr>
          <p:cNvPr id="70" name="qel-4"/>
          <p:cNvSpPr txBox="1"/>
          <p:nvPr/>
        </p:nvSpPr>
        <p:spPr>
          <a:xfrm>
            <a:off x="8680958" y="4017708"/>
            <a:ext cx="4610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精力占比</a:t>
            </a:r>
          </a:p>
        </p:txBody>
      </p:sp>
      <p:sp>
        <p:nvSpPr>
          <p:cNvPr id="71" name="it-4-1"/>
          <p:cNvSpPr/>
          <p:nvPr/>
        </p:nvSpPr>
        <p:spPr>
          <a:xfrm>
            <a:off x="5981700" y="4445000"/>
            <a:ext cx="1524000" cy="279400"/>
          </a:xfrm>
          <a:custGeom>
            <a:avLst/>
            <a:gdLst/>
            <a:ahLst/>
            <a:cxnLst/>
            <a:rect l="0" t="0" r="r" b="b"/>
            <a:pathLst>
              <a:path w="1524000" h="279400">
                <a:moveTo>
                  <a:pt x="88900" y="0"/>
                </a:moveTo>
                <a:lnTo>
                  <a:pt x="1435100" y="0"/>
                </a:lnTo>
                <a:cubicBezTo>
                  <a:pt x="1484186" y="0"/>
                  <a:pt x="1524000" y="39814"/>
                  <a:pt x="1524000" y="88900"/>
                </a:cubicBezTo>
                <a:lnTo>
                  <a:pt x="1524000" y="190500"/>
                </a:lnTo>
                <a:cubicBezTo>
                  <a:pt x="1524000" y="239586"/>
                  <a:pt x="1484186" y="279400"/>
                  <a:pt x="1435100" y="279400"/>
                </a:cubicBezTo>
                <a:lnTo>
                  <a:pt x="88900" y="279400"/>
                </a:lnTo>
                <a:cubicBezTo>
                  <a:pt x="39814" y="279400"/>
                  <a:pt x="0" y="239586"/>
                  <a:pt x="0" y="190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itd-4-1"/>
          <p:cNvSpPr/>
          <p:nvPr/>
        </p:nvSpPr>
        <p:spPr>
          <a:xfrm>
            <a:off x="6089650" y="4552950"/>
            <a:ext cx="63500" cy="63500"/>
          </a:xfrm>
          <a:prstGeom prst="ellipse">
            <a:avLst/>
          </a:prstGeom>
          <a:solidFill>
            <a:srgbClr val="9DB2C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itt-4-1"/>
          <p:cNvSpPr txBox="1"/>
          <p:nvPr/>
        </p:nvSpPr>
        <p:spPr>
          <a:xfrm>
            <a:off x="6223127" y="4493403"/>
            <a:ext cx="630872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低价值周会</a:t>
            </a:r>
          </a:p>
        </p:txBody>
      </p:sp>
      <p:sp>
        <p:nvSpPr>
          <p:cNvPr id="74" name="it-4-2"/>
          <p:cNvSpPr/>
          <p:nvPr/>
        </p:nvSpPr>
        <p:spPr>
          <a:xfrm>
            <a:off x="7632700" y="4445000"/>
            <a:ext cx="1524000" cy="279400"/>
          </a:xfrm>
          <a:custGeom>
            <a:avLst/>
            <a:gdLst/>
            <a:ahLst/>
            <a:cxnLst/>
            <a:rect l="0" t="0" r="r" b="b"/>
            <a:pathLst>
              <a:path w="1524000" h="279400">
                <a:moveTo>
                  <a:pt x="88900" y="0"/>
                </a:moveTo>
                <a:lnTo>
                  <a:pt x="1435100" y="0"/>
                </a:lnTo>
                <a:cubicBezTo>
                  <a:pt x="1484186" y="0"/>
                  <a:pt x="1524000" y="39814"/>
                  <a:pt x="1524000" y="88900"/>
                </a:cubicBezTo>
                <a:lnTo>
                  <a:pt x="1524000" y="190500"/>
                </a:lnTo>
                <a:cubicBezTo>
                  <a:pt x="1524000" y="239586"/>
                  <a:pt x="1484186" y="279400"/>
                  <a:pt x="1435100" y="279400"/>
                </a:cubicBezTo>
                <a:lnTo>
                  <a:pt x="88900" y="279400"/>
                </a:lnTo>
                <a:cubicBezTo>
                  <a:pt x="39814" y="279400"/>
                  <a:pt x="0" y="239586"/>
                  <a:pt x="0" y="190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itd-4-2"/>
          <p:cNvSpPr/>
          <p:nvPr/>
        </p:nvSpPr>
        <p:spPr>
          <a:xfrm>
            <a:off x="7740650" y="4552950"/>
            <a:ext cx="63500" cy="63500"/>
          </a:xfrm>
          <a:prstGeom prst="ellipse">
            <a:avLst/>
          </a:prstGeom>
          <a:solidFill>
            <a:srgbClr val="9DB2C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itt-4-2"/>
          <p:cNvSpPr txBox="1"/>
          <p:nvPr/>
        </p:nvSpPr>
        <p:spPr>
          <a:xfrm>
            <a:off x="7874127" y="4493403"/>
            <a:ext cx="845502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重复的审批环节</a:t>
            </a:r>
          </a:p>
        </p:txBody>
      </p:sp>
      <p:sp>
        <p:nvSpPr>
          <p:cNvPr id="77" name="side-bar"/>
          <p:cNvSpPr/>
          <p:nvPr/>
        </p:nvSpPr>
        <p:spPr>
          <a:xfrm>
            <a:off x="9652000" y="14986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side-h"/>
          <p:cNvSpPr txBox="1"/>
          <p:nvPr/>
        </p:nvSpPr>
        <p:spPr>
          <a:xfrm>
            <a:off x="9810750" y="15057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三条原则</a:t>
            </a:r>
          </a:p>
        </p:txBody>
      </p:sp>
      <p:sp>
        <p:nvSpPr>
          <p:cNvPr id="79" name="side-p"/>
          <p:cNvSpPr txBox="1"/>
          <p:nvPr/>
        </p:nvSpPr>
        <p:spPr>
          <a:xfrm>
            <a:off x="9816465" y="1780461"/>
            <a:ext cx="8956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来自管理层周会</a:t>
            </a:r>
          </a:p>
        </p:txBody>
      </p:sp>
      <p:sp>
        <p:nvSpPr>
          <p:cNvPr id="80" name="r-n1"/>
          <p:cNvSpPr txBox="1"/>
          <p:nvPr/>
        </p:nvSpPr>
        <p:spPr>
          <a:xfrm>
            <a:off x="9616948" y="2179256"/>
            <a:ext cx="590042" cy="5111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300" b="1">
                <a:solidFill>
                  <a:srgbClr val="0B3E8F">
                    <a:alpha val="25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81" name="r-a1"/>
          <p:cNvSpPr txBox="1"/>
          <p:nvPr/>
        </p:nvSpPr>
        <p:spPr>
          <a:xfrm>
            <a:off x="10146284" y="2271840"/>
            <a:ext cx="80391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第二象限要占</a:t>
            </a:r>
          </a:p>
        </p:txBody>
      </p:sp>
      <p:sp>
        <p:nvSpPr>
          <p:cNvPr id="82" name="r-b1"/>
          <p:cNvSpPr txBox="1"/>
          <p:nvPr/>
        </p:nvSpPr>
        <p:spPr>
          <a:xfrm>
            <a:off x="10146665" y="2478961"/>
            <a:ext cx="7820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一半以上精力</a:t>
            </a:r>
          </a:p>
        </p:txBody>
      </p:sp>
      <p:cxnSp>
        <p:nvCxnSpPr>
          <p:cNvPr id="83" name="r-sep1"/>
          <p:cNvCxnSpPr/>
          <p:nvPr/>
        </p:nvCxnSpPr>
        <p:spPr>
          <a:xfrm>
            <a:off x="9652000" y="2921000"/>
            <a:ext cx="15875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r-n2"/>
          <p:cNvSpPr txBox="1"/>
          <p:nvPr/>
        </p:nvSpPr>
        <p:spPr>
          <a:xfrm>
            <a:off x="9616948" y="3258757"/>
            <a:ext cx="590042" cy="5111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300" b="1">
                <a:solidFill>
                  <a:srgbClr val="1B5AA8">
                    <a:alpha val="25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85" name="r-a2"/>
          <p:cNvSpPr txBox="1"/>
          <p:nvPr/>
        </p:nvSpPr>
        <p:spPr>
          <a:xfrm>
            <a:off x="10146284" y="3351340"/>
            <a:ext cx="80391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第一象限的事</a:t>
            </a:r>
          </a:p>
        </p:txBody>
      </p:sp>
      <p:sp>
        <p:nvSpPr>
          <p:cNvPr id="86" name="r-b2"/>
          <p:cNvSpPr txBox="1"/>
          <p:nvPr/>
        </p:nvSpPr>
        <p:spPr>
          <a:xfrm>
            <a:off x="10146665" y="35584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要追问为什么变急</a:t>
            </a:r>
          </a:p>
        </p:txBody>
      </p:sp>
      <p:cxnSp>
        <p:nvCxnSpPr>
          <p:cNvPr id="87" name="r-sep2"/>
          <p:cNvCxnSpPr/>
          <p:nvPr/>
        </p:nvCxnSpPr>
        <p:spPr>
          <a:xfrm>
            <a:off x="9652000" y="4000500"/>
            <a:ext cx="15875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r-n3"/>
          <p:cNvSpPr txBox="1"/>
          <p:nvPr/>
        </p:nvSpPr>
        <p:spPr>
          <a:xfrm>
            <a:off x="9616948" y="4338256"/>
            <a:ext cx="590042" cy="5111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300" b="1">
                <a:solidFill>
                  <a:srgbClr val="2E77C2">
                    <a:alpha val="25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89" name="r-a3"/>
          <p:cNvSpPr txBox="1"/>
          <p:nvPr/>
        </p:nvSpPr>
        <p:spPr>
          <a:xfrm>
            <a:off x="10146284" y="4430840"/>
            <a:ext cx="57023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第四象限</a:t>
            </a:r>
          </a:p>
        </p:txBody>
      </p:sp>
      <p:sp>
        <p:nvSpPr>
          <p:cNvPr id="90" name="r-b3"/>
          <p:cNvSpPr txBox="1"/>
          <p:nvPr/>
        </p:nvSpPr>
        <p:spPr>
          <a:xfrm>
            <a:off x="10146665" y="4637961"/>
            <a:ext cx="8956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每季度清理一次</a:t>
            </a:r>
          </a:p>
        </p:txBody>
      </p:sp>
      <p:sp>
        <p:nvSpPr>
          <p:cNvPr id="91" name="sum"/>
          <p:cNvSpPr/>
          <p:nvPr/>
        </p:nvSpPr>
        <p:spPr>
          <a:xfrm>
            <a:off x="952500" y="5829300"/>
            <a:ext cx="10287000" cy="444500"/>
          </a:xfrm>
          <a:custGeom>
            <a:avLst/>
            <a:gdLst/>
            <a:ahLst/>
            <a:cxnLst/>
            <a:rect l="0" t="0" r="r" b="b"/>
            <a:pathLst>
              <a:path w="10287000" h="4445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55600"/>
                </a:lnTo>
                <a:cubicBezTo>
                  <a:pt x="10287000" y="404686"/>
                  <a:pt x="10247186" y="444500"/>
                  <a:pt x="10198100" y="444500"/>
                </a:cubicBezTo>
                <a:lnTo>
                  <a:pt x="88900" y="444500"/>
                </a:lnTo>
                <a:cubicBezTo>
                  <a:pt x="39815" y="444500"/>
                  <a:pt x="0" y="404686"/>
                  <a:pt x="0" y="3556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sum-bar"/>
          <p:cNvSpPr/>
          <p:nvPr/>
        </p:nvSpPr>
        <p:spPr>
          <a:xfrm>
            <a:off x="952500" y="5829300"/>
            <a:ext cx="31750" cy="4445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sum-h"/>
          <p:cNvSpPr txBox="1"/>
          <p:nvPr/>
        </p:nvSpPr>
        <p:spPr>
          <a:xfrm>
            <a:off x="1142746" y="598173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本季变化</a:t>
            </a:r>
          </a:p>
        </p:txBody>
      </p:sp>
      <p:sp>
        <p:nvSpPr>
          <p:cNvPr id="94" name="sum-p"/>
          <p:cNvSpPr txBox="1"/>
          <p:nvPr/>
        </p:nvSpPr>
        <p:spPr>
          <a:xfrm>
            <a:off x="1891665" y="5977811"/>
            <a:ext cx="38973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第二象限精力占比从上季度的 32% 提到 50%，救火类事项减少了 11 件。</a:t>
            </a:r>
          </a:p>
        </p:txBody>
      </p:sp>
      <p:cxnSp>
        <p:nvCxnSpPr>
          <p:cNvPr id="95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foot-l"/>
          <p:cNvSpPr txBox="1"/>
          <p:nvPr/>
        </p:nvSpPr>
        <p:spPr>
          <a:xfrm>
            <a:off x="573532" y="6532308"/>
            <a:ext cx="112483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四象限 · 重要 × 紧急</a:t>
            </a:r>
          </a:p>
        </p:txBody>
      </p:sp>
      <p:sp>
        <p:nvSpPr>
          <p:cNvPr id="97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报销流程瘦身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208330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PROCESS BEFORE / AFTER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7692263" y="673132"/>
            <a:ext cx="392849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9 个环节合并成 5 个，审批从 5 级降到 2 级，周期从 12 天缩到 4 天</a:t>
            </a:r>
          </a:p>
        </p:txBody>
      </p:sp>
      <p:sp>
        <p:nvSpPr>
          <p:cNvPr id="10" name="lab-优化前"/>
          <p:cNvSpPr txBox="1"/>
          <p:nvPr/>
        </p:nvSpPr>
        <p:spPr>
          <a:xfrm>
            <a:off x="932688" y="1891602"/>
            <a:ext cx="70104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优化前</a:t>
            </a:r>
          </a:p>
        </p:txBody>
      </p:sp>
      <p:sp>
        <p:nvSpPr>
          <p:cNvPr id="11" name="sub-优化前"/>
          <p:cNvSpPr txBox="1"/>
          <p:nvPr/>
        </p:nvSpPr>
        <p:spPr>
          <a:xfrm>
            <a:off x="941070" y="2181066"/>
            <a:ext cx="9315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9 个环节 · 12 天</a:t>
            </a:r>
          </a:p>
        </p:txBody>
      </p:sp>
      <p:sp>
        <p:nvSpPr>
          <p:cNvPr id="12" name="lab-优化后"/>
          <p:cNvSpPr txBox="1"/>
          <p:nvPr/>
        </p:nvSpPr>
        <p:spPr>
          <a:xfrm>
            <a:off x="932688" y="3860102"/>
            <a:ext cx="70104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优化后</a:t>
            </a:r>
          </a:p>
        </p:txBody>
      </p:sp>
      <p:sp>
        <p:nvSpPr>
          <p:cNvPr id="13" name="sub-优化后"/>
          <p:cNvSpPr txBox="1"/>
          <p:nvPr/>
        </p:nvSpPr>
        <p:spPr>
          <a:xfrm>
            <a:off x="941070" y="4149566"/>
            <a:ext cx="87503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5 个环节 · 4 天</a:t>
            </a:r>
          </a:p>
        </p:txBody>
      </p:sp>
      <p:sp>
        <p:nvSpPr>
          <p:cNvPr id="14" name="b-1"/>
          <p:cNvSpPr/>
          <p:nvPr/>
        </p:nvSpPr>
        <p:spPr>
          <a:xfrm>
            <a:off x="2133600" y="1905000"/>
            <a:ext cx="939800" cy="444500"/>
          </a:xfrm>
          <a:custGeom>
            <a:avLst/>
            <a:gdLst/>
            <a:ahLst/>
            <a:cxnLst/>
            <a:rect l="0" t="0" r="r" b="b"/>
            <a:pathLst>
              <a:path w="939800" h="444500">
                <a:moveTo>
                  <a:pt x="101600" y="0"/>
                </a:moveTo>
                <a:lnTo>
                  <a:pt x="838200" y="0"/>
                </a:lnTo>
                <a:cubicBezTo>
                  <a:pt x="894334" y="0"/>
                  <a:pt x="939800" y="45466"/>
                  <a:pt x="939800" y="101600"/>
                </a:cubicBezTo>
                <a:lnTo>
                  <a:pt x="939800" y="342900"/>
                </a:lnTo>
                <a:cubicBezTo>
                  <a:pt x="939800" y="399034"/>
                  <a:pt x="894334" y="444500"/>
                  <a:pt x="838200" y="444500"/>
                </a:cubicBezTo>
                <a:lnTo>
                  <a:pt x="101600" y="444500"/>
                </a:lnTo>
                <a:cubicBezTo>
                  <a:pt x="45466" y="444500"/>
                  <a:pt x="0" y="399034"/>
                  <a:pt x="0" y="3429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 w="10160" cap="rnd">
            <a:solidFill>
              <a:srgbClr val="C9D5E4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bt-1"/>
          <p:cNvSpPr txBox="1"/>
          <p:nvPr/>
        </p:nvSpPr>
        <p:spPr>
          <a:xfrm>
            <a:off x="2350770" y="2046224"/>
            <a:ext cx="50546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提交申请</a:t>
            </a:r>
          </a:p>
        </p:txBody>
      </p:sp>
      <p:sp>
        <p:nvSpPr>
          <p:cNvPr id="16" name="ba-1"/>
          <p:cNvSpPr/>
          <p:nvPr/>
        </p:nvSpPr>
        <p:spPr>
          <a:xfrm>
            <a:off x="3098800" y="2127250"/>
            <a:ext cx="25400" cy="3175"/>
          </a:xfrm>
          <a:custGeom>
            <a:avLst/>
            <a:gdLst/>
            <a:ahLst/>
            <a:cxnLst/>
            <a:rect l="0" t="0" r="r" b="b"/>
            <a:pathLst>
              <a:path w="25400" h="3175">
                <a:moveTo>
                  <a:pt x="0" y="0"/>
                </a:moveTo>
                <a:lnTo>
                  <a:pt x="25400" y="0"/>
                </a:lnTo>
              </a:path>
            </a:pathLst>
          </a:custGeom>
          <a:noFill/>
          <a:ln w="10160" cap="rnd">
            <a:solidFill>
              <a:srgbClr val="7E93AE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b-2"/>
          <p:cNvSpPr/>
          <p:nvPr/>
        </p:nvSpPr>
        <p:spPr>
          <a:xfrm>
            <a:off x="3149600" y="1905000"/>
            <a:ext cx="939800" cy="444500"/>
          </a:xfrm>
          <a:custGeom>
            <a:avLst/>
            <a:gdLst/>
            <a:ahLst/>
            <a:cxnLst/>
            <a:rect l="0" t="0" r="r" b="b"/>
            <a:pathLst>
              <a:path w="939800" h="444500">
                <a:moveTo>
                  <a:pt x="101600" y="0"/>
                </a:moveTo>
                <a:lnTo>
                  <a:pt x="838200" y="0"/>
                </a:lnTo>
                <a:cubicBezTo>
                  <a:pt x="894334" y="0"/>
                  <a:pt x="939800" y="45466"/>
                  <a:pt x="939800" y="101600"/>
                </a:cubicBezTo>
                <a:lnTo>
                  <a:pt x="939800" y="342900"/>
                </a:lnTo>
                <a:cubicBezTo>
                  <a:pt x="939800" y="399034"/>
                  <a:pt x="894334" y="444500"/>
                  <a:pt x="838200" y="444500"/>
                </a:cubicBezTo>
                <a:lnTo>
                  <a:pt x="101600" y="444500"/>
                </a:lnTo>
                <a:cubicBezTo>
                  <a:pt x="45466" y="444500"/>
                  <a:pt x="0" y="399034"/>
                  <a:pt x="0" y="3429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 w="10160" cap="rnd">
            <a:solidFill>
              <a:srgbClr val="C9D5E4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bt-2"/>
          <p:cNvSpPr txBox="1"/>
          <p:nvPr/>
        </p:nvSpPr>
        <p:spPr>
          <a:xfrm>
            <a:off x="3366770" y="2046224"/>
            <a:ext cx="50546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部门审批</a:t>
            </a:r>
          </a:p>
        </p:txBody>
      </p:sp>
      <p:sp>
        <p:nvSpPr>
          <p:cNvPr id="19" name="ba-2"/>
          <p:cNvSpPr/>
          <p:nvPr/>
        </p:nvSpPr>
        <p:spPr>
          <a:xfrm>
            <a:off x="4114800" y="2127250"/>
            <a:ext cx="25400" cy="3175"/>
          </a:xfrm>
          <a:custGeom>
            <a:avLst/>
            <a:gdLst/>
            <a:ahLst/>
            <a:cxnLst/>
            <a:rect l="0" t="0" r="r" b="b"/>
            <a:pathLst>
              <a:path w="25400" h="3175">
                <a:moveTo>
                  <a:pt x="0" y="0"/>
                </a:moveTo>
                <a:lnTo>
                  <a:pt x="25400" y="0"/>
                </a:lnTo>
              </a:path>
            </a:pathLst>
          </a:custGeom>
          <a:noFill/>
          <a:ln w="10160" cap="rnd">
            <a:solidFill>
              <a:srgbClr val="7E93AE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b-3"/>
          <p:cNvSpPr/>
          <p:nvPr/>
        </p:nvSpPr>
        <p:spPr>
          <a:xfrm>
            <a:off x="4165600" y="1905000"/>
            <a:ext cx="939800" cy="444500"/>
          </a:xfrm>
          <a:custGeom>
            <a:avLst/>
            <a:gdLst/>
            <a:ahLst/>
            <a:cxnLst/>
            <a:rect l="0" t="0" r="r" b="b"/>
            <a:pathLst>
              <a:path w="939800" h="444500">
                <a:moveTo>
                  <a:pt x="101600" y="0"/>
                </a:moveTo>
                <a:lnTo>
                  <a:pt x="838200" y="0"/>
                </a:lnTo>
                <a:cubicBezTo>
                  <a:pt x="894334" y="0"/>
                  <a:pt x="939800" y="45466"/>
                  <a:pt x="939800" y="101600"/>
                </a:cubicBezTo>
                <a:lnTo>
                  <a:pt x="939800" y="342900"/>
                </a:lnTo>
                <a:cubicBezTo>
                  <a:pt x="939800" y="399034"/>
                  <a:pt x="894334" y="444500"/>
                  <a:pt x="838200" y="444500"/>
                </a:cubicBezTo>
                <a:lnTo>
                  <a:pt x="101600" y="444500"/>
                </a:lnTo>
                <a:cubicBezTo>
                  <a:pt x="45466" y="444500"/>
                  <a:pt x="0" y="399034"/>
                  <a:pt x="0" y="3429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 w="10160" cap="rnd">
            <a:solidFill>
              <a:srgbClr val="C9D5E4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bt-3"/>
          <p:cNvSpPr txBox="1"/>
          <p:nvPr/>
        </p:nvSpPr>
        <p:spPr>
          <a:xfrm>
            <a:off x="4382770" y="2046224"/>
            <a:ext cx="50546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财务初审</a:t>
            </a:r>
          </a:p>
        </p:txBody>
      </p:sp>
      <p:sp>
        <p:nvSpPr>
          <p:cNvPr id="22" name="ba-3"/>
          <p:cNvSpPr/>
          <p:nvPr/>
        </p:nvSpPr>
        <p:spPr>
          <a:xfrm>
            <a:off x="5130800" y="2127250"/>
            <a:ext cx="25400" cy="3175"/>
          </a:xfrm>
          <a:custGeom>
            <a:avLst/>
            <a:gdLst/>
            <a:ahLst/>
            <a:cxnLst/>
            <a:rect l="0" t="0" r="r" b="b"/>
            <a:pathLst>
              <a:path w="25400" h="3175">
                <a:moveTo>
                  <a:pt x="0" y="0"/>
                </a:moveTo>
                <a:lnTo>
                  <a:pt x="25400" y="0"/>
                </a:lnTo>
              </a:path>
            </a:pathLst>
          </a:custGeom>
          <a:noFill/>
          <a:ln w="10160" cap="rnd">
            <a:solidFill>
              <a:srgbClr val="7E93AE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b-4"/>
          <p:cNvSpPr/>
          <p:nvPr/>
        </p:nvSpPr>
        <p:spPr>
          <a:xfrm>
            <a:off x="5181600" y="1905000"/>
            <a:ext cx="939800" cy="444500"/>
          </a:xfrm>
          <a:custGeom>
            <a:avLst/>
            <a:gdLst/>
            <a:ahLst/>
            <a:cxnLst/>
            <a:rect l="0" t="0" r="r" b="b"/>
            <a:pathLst>
              <a:path w="939800" h="444500">
                <a:moveTo>
                  <a:pt x="101600" y="0"/>
                </a:moveTo>
                <a:lnTo>
                  <a:pt x="838200" y="0"/>
                </a:lnTo>
                <a:cubicBezTo>
                  <a:pt x="894334" y="0"/>
                  <a:pt x="939800" y="45466"/>
                  <a:pt x="939800" y="101600"/>
                </a:cubicBezTo>
                <a:lnTo>
                  <a:pt x="939800" y="342900"/>
                </a:lnTo>
                <a:cubicBezTo>
                  <a:pt x="939800" y="399034"/>
                  <a:pt x="894334" y="444500"/>
                  <a:pt x="838200" y="444500"/>
                </a:cubicBezTo>
                <a:lnTo>
                  <a:pt x="101600" y="444500"/>
                </a:lnTo>
                <a:cubicBezTo>
                  <a:pt x="45466" y="444500"/>
                  <a:pt x="0" y="399034"/>
                  <a:pt x="0" y="3429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4F6FA"/>
          </a:solidFill>
          <a:ln w="10160" cap="rnd">
            <a:solidFill>
              <a:srgbClr val="E0703A"/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bt-4"/>
          <p:cNvSpPr txBox="1"/>
          <p:nvPr/>
        </p:nvSpPr>
        <p:spPr>
          <a:xfrm>
            <a:off x="5398770" y="2046224"/>
            <a:ext cx="50546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财务复审</a:t>
            </a:r>
          </a:p>
        </p:txBody>
      </p:sp>
      <p:sp>
        <p:nvSpPr>
          <p:cNvPr id="25" name="bx-4"/>
          <p:cNvSpPr/>
          <p:nvPr/>
        </p:nvSpPr>
        <p:spPr>
          <a:xfrm>
            <a:off x="5930900" y="1828800"/>
            <a:ext cx="228600" cy="152400"/>
          </a:xfrm>
          <a:custGeom>
            <a:avLst/>
            <a:gdLst/>
            <a:ahLst/>
            <a:cxnLst/>
            <a:rect l="0" t="0" r="r" b="b"/>
            <a:pathLst>
              <a:path w="228600" h="152400">
                <a:moveTo>
                  <a:pt x="76200" y="0"/>
                </a:moveTo>
                <a:lnTo>
                  <a:pt x="152400" y="0"/>
                </a:lnTo>
                <a:cubicBezTo>
                  <a:pt x="194500" y="0"/>
                  <a:pt x="228600" y="34100"/>
                  <a:pt x="228600" y="76200"/>
                </a:cubicBezTo>
                <a:lnTo>
                  <a:pt x="228600" y="76200"/>
                </a:lnTo>
                <a:cubicBezTo>
                  <a:pt x="228600" y="118300"/>
                  <a:pt x="194500" y="152400"/>
                  <a:pt x="152400" y="152400"/>
                </a:cubicBezTo>
                <a:lnTo>
                  <a:pt x="76200" y="152400"/>
                </a:lnTo>
                <a:cubicBezTo>
                  <a:pt x="34100" y="152400"/>
                  <a:pt x="0" y="118300"/>
                  <a:pt x="0" y="762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bxt-4"/>
          <p:cNvSpPr txBox="1"/>
          <p:nvPr/>
        </p:nvSpPr>
        <p:spPr>
          <a:xfrm>
            <a:off x="5916295" y="1826958"/>
            <a:ext cx="2578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合并</a:t>
            </a:r>
          </a:p>
        </p:txBody>
      </p:sp>
      <p:sp>
        <p:nvSpPr>
          <p:cNvPr id="27" name="ba-4"/>
          <p:cNvSpPr/>
          <p:nvPr/>
        </p:nvSpPr>
        <p:spPr>
          <a:xfrm>
            <a:off x="6146800" y="2127250"/>
            <a:ext cx="25400" cy="3175"/>
          </a:xfrm>
          <a:custGeom>
            <a:avLst/>
            <a:gdLst/>
            <a:ahLst/>
            <a:cxnLst/>
            <a:rect l="0" t="0" r="r" b="b"/>
            <a:pathLst>
              <a:path w="25400" h="3175">
                <a:moveTo>
                  <a:pt x="0" y="0"/>
                </a:moveTo>
                <a:lnTo>
                  <a:pt x="25400" y="0"/>
                </a:lnTo>
              </a:path>
            </a:pathLst>
          </a:custGeom>
          <a:noFill/>
          <a:ln w="10160" cap="rnd">
            <a:solidFill>
              <a:srgbClr val="7E93AE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b-5"/>
          <p:cNvSpPr/>
          <p:nvPr/>
        </p:nvSpPr>
        <p:spPr>
          <a:xfrm>
            <a:off x="6197600" y="1905000"/>
            <a:ext cx="939800" cy="444500"/>
          </a:xfrm>
          <a:custGeom>
            <a:avLst/>
            <a:gdLst/>
            <a:ahLst/>
            <a:cxnLst/>
            <a:rect l="0" t="0" r="r" b="b"/>
            <a:pathLst>
              <a:path w="939800" h="444500">
                <a:moveTo>
                  <a:pt x="101600" y="0"/>
                </a:moveTo>
                <a:lnTo>
                  <a:pt x="838200" y="0"/>
                </a:lnTo>
                <a:cubicBezTo>
                  <a:pt x="894334" y="0"/>
                  <a:pt x="939800" y="45466"/>
                  <a:pt x="939800" y="101600"/>
                </a:cubicBezTo>
                <a:lnTo>
                  <a:pt x="939800" y="342900"/>
                </a:lnTo>
                <a:cubicBezTo>
                  <a:pt x="939800" y="399034"/>
                  <a:pt x="894334" y="444500"/>
                  <a:pt x="838200" y="444500"/>
                </a:cubicBezTo>
                <a:lnTo>
                  <a:pt x="101600" y="444500"/>
                </a:lnTo>
                <a:cubicBezTo>
                  <a:pt x="45466" y="444500"/>
                  <a:pt x="0" y="399034"/>
                  <a:pt x="0" y="3429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 w="10160" cap="rnd">
            <a:solidFill>
              <a:srgbClr val="C9D5E4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bt-5"/>
          <p:cNvSpPr txBox="1"/>
          <p:nvPr/>
        </p:nvSpPr>
        <p:spPr>
          <a:xfrm>
            <a:off x="6414770" y="2046224"/>
            <a:ext cx="50546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分管副总</a:t>
            </a:r>
          </a:p>
        </p:txBody>
      </p:sp>
      <p:sp>
        <p:nvSpPr>
          <p:cNvPr id="30" name="ba-5"/>
          <p:cNvSpPr/>
          <p:nvPr/>
        </p:nvSpPr>
        <p:spPr>
          <a:xfrm>
            <a:off x="7162800" y="2127250"/>
            <a:ext cx="25400" cy="3175"/>
          </a:xfrm>
          <a:custGeom>
            <a:avLst/>
            <a:gdLst/>
            <a:ahLst/>
            <a:cxnLst/>
            <a:rect l="0" t="0" r="r" b="b"/>
            <a:pathLst>
              <a:path w="25400" h="3175">
                <a:moveTo>
                  <a:pt x="0" y="0"/>
                </a:moveTo>
                <a:lnTo>
                  <a:pt x="25400" y="0"/>
                </a:lnTo>
              </a:path>
            </a:pathLst>
          </a:custGeom>
          <a:noFill/>
          <a:ln w="10160" cap="rnd">
            <a:solidFill>
              <a:srgbClr val="7E93AE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b-6"/>
          <p:cNvSpPr/>
          <p:nvPr/>
        </p:nvSpPr>
        <p:spPr>
          <a:xfrm>
            <a:off x="7213600" y="1905000"/>
            <a:ext cx="939800" cy="444500"/>
          </a:xfrm>
          <a:custGeom>
            <a:avLst/>
            <a:gdLst/>
            <a:ahLst/>
            <a:cxnLst/>
            <a:rect l="0" t="0" r="r" b="b"/>
            <a:pathLst>
              <a:path w="939800" h="444500">
                <a:moveTo>
                  <a:pt x="101600" y="0"/>
                </a:moveTo>
                <a:lnTo>
                  <a:pt x="838200" y="0"/>
                </a:lnTo>
                <a:cubicBezTo>
                  <a:pt x="894334" y="0"/>
                  <a:pt x="939800" y="45466"/>
                  <a:pt x="939800" y="101600"/>
                </a:cubicBezTo>
                <a:lnTo>
                  <a:pt x="939800" y="342900"/>
                </a:lnTo>
                <a:cubicBezTo>
                  <a:pt x="939800" y="399034"/>
                  <a:pt x="894334" y="444500"/>
                  <a:pt x="838200" y="444500"/>
                </a:cubicBezTo>
                <a:lnTo>
                  <a:pt x="101600" y="444500"/>
                </a:lnTo>
                <a:cubicBezTo>
                  <a:pt x="45466" y="444500"/>
                  <a:pt x="0" y="399034"/>
                  <a:pt x="0" y="3429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4F6FA"/>
          </a:solidFill>
          <a:ln w="10160" cap="rnd">
            <a:solidFill>
              <a:srgbClr val="E0703A"/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bt-6"/>
          <p:cNvSpPr txBox="1"/>
          <p:nvPr/>
        </p:nvSpPr>
        <p:spPr>
          <a:xfrm>
            <a:off x="7379018" y="2046224"/>
            <a:ext cx="608965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总经理审批</a:t>
            </a:r>
          </a:p>
        </p:txBody>
      </p:sp>
      <p:sp>
        <p:nvSpPr>
          <p:cNvPr id="33" name="bx-6"/>
          <p:cNvSpPr/>
          <p:nvPr/>
        </p:nvSpPr>
        <p:spPr>
          <a:xfrm>
            <a:off x="7962900" y="1828800"/>
            <a:ext cx="228600" cy="152400"/>
          </a:xfrm>
          <a:custGeom>
            <a:avLst/>
            <a:gdLst/>
            <a:ahLst/>
            <a:cxnLst/>
            <a:rect l="0" t="0" r="r" b="b"/>
            <a:pathLst>
              <a:path w="228600" h="152400">
                <a:moveTo>
                  <a:pt x="76200" y="0"/>
                </a:moveTo>
                <a:lnTo>
                  <a:pt x="152400" y="0"/>
                </a:lnTo>
                <a:cubicBezTo>
                  <a:pt x="194501" y="0"/>
                  <a:pt x="228600" y="34100"/>
                  <a:pt x="228600" y="76200"/>
                </a:cubicBezTo>
                <a:lnTo>
                  <a:pt x="228600" y="76200"/>
                </a:lnTo>
                <a:cubicBezTo>
                  <a:pt x="228600" y="118300"/>
                  <a:pt x="194501" y="152400"/>
                  <a:pt x="152400" y="152400"/>
                </a:cubicBezTo>
                <a:lnTo>
                  <a:pt x="76200" y="152400"/>
                </a:lnTo>
                <a:cubicBezTo>
                  <a:pt x="34099" y="152400"/>
                  <a:pt x="0" y="118300"/>
                  <a:pt x="0" y="762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bxt-6"/>
          <p:cNvSpPr txBox="1"/>
          <p:nvPr/>
        </p:nvSpPr>
        <p:spPr>
          <a:xfrm>
            <a:off x="7948295" y="1826958"/>
            <a:ext cx="2578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合并</a:t>
            </a:r>
          </a:p>
        </p:txBody>
      </p:sp>
      <p:sp>
        <p:nvSpPr>
          <p:cNvPr id="35" name="ba-6"/>
          <p:cNvSpPr/>
          <p:nvPr/>
        </p:nvSpPr>
        <p:spPr>
          <a:xfrm>
            <a:off x="8178800" y="2127250"/>
            <a:ext cx="25400" cy="3175"/>
          </a:xfrm>
          <a:custGeom>
            <a:avLst/>
            <a:gdLst/>
            <a:ahLst/>
            <a:cxnLst/>
            <a:rect l="0" t="0" r="r" b="b"/>
            <a:pathLst>
              <a:path w="25400" h="3175">
                <a:moveTo>
                  <a:pt x="0" y="0"/>
                </a:moveTo>
                <a:lnTo>
                  <a:pt x="25400" y="0"/>
                </a:lnTo>
              </a:path>
            </a:pathLst>
          </a:custGeom>
          <a:noFill/>
          <a:ln w="10160" cap="rnd">
            <a:solidFill>
              <a:srgbClr val="7E93AE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b-7"/>
          <p:cNvSpPr/>
          <p:nvPr/>
        </p:nvSpPr>
        <p:spPr>
          <a:xfrm>
            <a:off x="8229600" y="1905000"/>
            <a:ext cx="939800" cy="444500"/>
          </a:xfrm>
          <a:custGeom>
            <a:avLst/>
            <a:gdLst/>
            <a:ahLst/>
            <a:cxnLst/>
            <a:rect l="0" t="0" r="r" b="b"/>
            <a:pathLst>
              <a:path w="939800" h="444500">
                <a:moveTo>
                  <a:pt x="101600" y="0"/>
                </a:moveTo>
                <a:lnTo>
                  <a:pt x="838200" y="0"/>
                </a:lnTo>
                <a:cubicBezTo>
                  <a:pt x="894334" y="0"/>
                  <a:pt x="939800" y="45466"/>
                  <a:pt x="939800" y="101600"/>
                </a:cubicBezTo>
                <a:lnTo>
                  <a:pt x="939800" y="342900"/>
                </a:lnTo>
                <a:cubicBezTo>
                  <a:pt x="939800" y="399034"/>
                  <a:pt x="894334" y="444500"/>
                  <a:pt x="838200" y="444500"/>
                </a:cubicBezTo>
                <a:lnTo>
                  <a:pt x="101600" y="444500"/>
                </a:lnTo>
                <a:cubicBezTo>
                  <a:pt x="45466" y="444500"/>
                  <a:pt x="0" y="399034"/>
                  <a:pt x="0" y="3429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 w="10160" cap="rnd">
            <a:solidFill>
              <a:srgbClr val="C9D5E4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bt-7"/>
          <p:cNvSpPr txBox="1"/>
          <p:nvPr/>
        </p:nvSpPr>
        <p:spPr>
          <a:xfrm>
            <a:off x="8446770" y="2046224"/>
            <a:ext cx="50546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出纳付款</a:t>
            </a:r>
          </a:p>
        </p:txBody>
      </p:sp>
      <p:sp>
        <p:nvSpPr>
          <p:cNvPr id="38" name="ba-7"/>
          <p:cNvSpPr/>
          <p:nvPr/>
        </p:nvSpPr>
        <p:spPr>
          <a:xfrm>
            <a:off x="9194800" y="2127250"/>
            <a:ext cx="25400" cy="3175"/>
          </a:xfrm>
          <a:custGeom>
            <a:avLst/>
            <a:gdLst/>
            <a:ahLst/>
            <a:cxnLst/>
            <a:rect l="0" t="0" r="r" b="b"/>
            <a:pathLst>
              <a:path w="25400" h="3175">
                <a:moveTo>
                  <a:pt x="0" y="0"/>
                </a:moveTo>
                <a:lnTo>
                  <a:pt x="25400" y="0"/>
                </a:lnTo>
              </a:path>
            </a:pathLst>
          </a:custGeom>
          <a:noFill/>
          <a:ln w="10160" cap="rnd">
            <a:solidFill>
              <a:srgbClr val="7E93AE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b-8"/>
          <p:cNvSpPr/>
          <p:nvPr/>
        </p:nvSpPr>
        <p:spPr>
          <a:xfrm>
            <a:off x="9245600" y="1905000"/>
            <a:ext cx="939800" cy="444500"/>
          </a:xfrm>
          <a:custGeom>
            <a:avLst/>
            <a:gdLst/>
            <a:ahLst/>
            <a:cxnLst/>
            <a:rect l="0" t="0" r="r" b="b"/>
            <a:pathLst>
              <a:path w="939800" h="444500">
                <a:moveTo>
                  <a:pt x="101600" y="0"/>
                </a:moveTo>
                <a:lnTo>
                  <a:pt x="838200" y="0"/>
                </a:lnTo>
                <a:cubicBezTo>
                  <a:pt x="894334" y="0"/>
                  <a:pt x="939800" y="45466"/>
                  <a:pt x="939800" y="101600"/>
                </a:cubicBezTo>
                <a:lnTo>
                  <a:pt x="939800" y="342900"/>
                </a:lnTo>
                <a:cubicBezTo>
                  <a:pt x="939800" y="399034"/>
                  <a:pt x="894334" y="444500"/>
                  <a:pt x="838200" y="444500"/>
                </a:cubicBezTo>
                <a:lnTo>
                  <a:pt x="101600" y="444500"/>
                </a:lnTo>
                <a:cubicBezTo>
                  <a:pt x="45466" y="444500"/>
                  <a:pt x="0" y="399034"/>
                  <a:pt x="0" y="3429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4F6FA"/>
          </a:solidFill>
          <a:ln w="10160" cap="rnd">
            <a:solidFill>
              <a:srgbClr val="E0703A"/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bt-8"/>
          <p:cNvSpPr txBox="1"/>
          <p:nvPr/>
        </p:nvSpPr>
        <p:spPr>
          <a:xfrm>
            <a:off x="9462770" y="2046224"/>
            <a:ext cx="50546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票据归档</a:t>
            </a:r>
          </a:p>
        </p:txBody>
      </p:sp>
      <p:sp>
        <p:nvSpPr>
          <p:cNvPr id="41" name="bx-8"/>
          <p:cNvSpPr/>
          <p:nvPr/>
        </p:nvSpPr>
        <p:spPr>
          <a:xfrm>
            <a:off x="9994900" y="1828800"/>
            <a:ext cx="228600" cy="152400"/>
          </a:xfrm>
          <a:custGeom>
            <a:avLst/>
            <a:gdLst/>
            <a:ahLst/>
            <a:cxnLst/>
            <a:rect l="0" t="0" r="r" b="b"/>
            <a:pathLst>
              <a:path w="228600" h="152400">
                <a:moveTo>
                  <a:pt x="76200" y="0"/>
                </a:moveTo>
                <a:lnTo>
                  <a:pt x="152400" y="0"/>
                </a:lnTo>
                <a:cubicBezTo>
                  <a:pt x="194501" y="0"/>
                  <a:pt x="228600" y="34100"/>
                  <a:pt x="228600" y="76200"/>
                </a:cubicBezTo>
                <a:lnTo>
                  <a:pt x="228600" y="76200"/>
                </a:lnTo>
                <a:cubicBezTo>
                  <a:pt x="228600" y="118300"/>
                  <a:pt x="194501" y="152400"/>
                  <a:pt x="152400" y="152400"/>
                </a:cubicBezTo>
                <a:lnTo>
                  <a:pt x="76200" y="152400"/>
                </a:lnTo>
                <a:cubicBezTo>
                  <a:pt x="34099" y="152400"/>
                  <a:pt x="0" y="118300"/>
                  <a:pt x="0" y="762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bxt-8"/>
          <p:cNvSpPr txBox="1"/>
          <p:nvPr/>
        </p:nvSpPr>
        <p:spPr>
          <a:xfrm>
            <a:off x="9980295" y="1826958"/>
            <a:ext cx="2578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合并</a:t>
            </a:r>
          </a:p>
        </p:txBody>
      </p:sp>
      <p:sp>
        <p:nvSpPr>
          <p:cNvPr id="43" name="ba-8"/>
          <p:cNvSpPr/>
          <p:nvPr/>
        </p:nvSpPr>
        <p:spPr>
          <a:xfrm>
            <a:off x="10210800" y="2127250"/>
            <a:ext cx="25400" cy="3175"/>
          </a:xfrm>
          <a:custGeom>
            <a:avLst/>
            <a:gdLst/>
            <a:ahLst/>
            <a:cxnLst/>
            <a:rect l="0" t="0" r="r" b="b"/>
            <a:pathLst>
              <a:path w="25400" h="3175">
                <a:moveTo>
                  <a:pt x="0" y="0"/>
                </a:moveTo>
                <a:lnTo>
                  <a:pt x="25400" y="0"/>
                </a:lnTo>
              </a:path>
            </a:pathLst>
          </a:custGeom>
          <a:noFill/>
          <a:ln w="10160" cap="rnd">
            <a:solidFill>
              <a:srgbClr val="7E93AE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b-9"/>
          <p:cNvSpPr/>
          <p:nvPr/>
        </p:nvSpPr>
        <p:spPr>
          <a:xfrm>
            <a:off x="10261600" y="1905000"/>
            <a:ext cx="939800" cy="444500"/>
          </a:xfrm>
          <a:custGeom>
            <a:avLst/>
            <a:gdLst/>
            <a:ahLst/>
            <a:cxnLst/>
            <a:rect l="0" t="0" r="r" b="b"/>
            <a:pathLst>
              <a:path w="939800" h="444500">
                <a:moveTo>
                  <a:pt x="101600" y="0"/>
                </a:moveTo>
                <a:lnTo>
                  <a:pt x="838200" y="0"/>
                </a:lnTo>
                <a:cubicBezTo>
                  <a:pt x="894334" y="0"/>
                  <a:pt x="939800" y="45466"/>
                  <a:pt x="939800" y="101600"/>
                </a:cubicBezTo>
                <a:lnTo>
                  <a:pt x="939800" y="342900"/>
                </a:lnTo>
                <a:cubicBezTo>
                  <a:pt x="939800" y="399034"/>
                  <a:pt x="894334" y="444500"/>
                  <a:pt x="838200" y="444500"/>
                </a:cubicBezTo>
                <a:lnTo>
                  <a:pt x="101600" y="444500"/>
                </a:lnTo>
                <a:cubicBezTo>
                  <a:pt x="45466" y="444500"/>
                  <a:pt x="0" y="399034"/>
                  <a:pt x="0" y="3429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4F6FA"/>
          </a:solidFill>
          <a:ln w="10160" cap="rnd">
            <a:solidFill>
              <a:srgbClr val="E0703A"/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bt-9"/>
          <p:cNvSpPr txBox="1"/>
          <p:nvPr/>
        </p:nvSpPr>
        <p:spPr>
          <a:xfrm>
            <a:off x="10478770" y="2046224"/>
            <a:ext cx="50546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凭证录入</a:t>
            </a:r>
          </a:p>
        </p:txBody>
      </p:sp>
      <p:sp>
        <p:nvSpPr>
          <p:cNvPr id="46" name="bx-9"/>
          <p:cNvSpPr/>
          <p:nvPr/>
        </p:nvSpPr>
        <p:spPr>
          <a:xfrm>
            <a:off x="11010900" y="1828800"/>
            <a:ext cx="228600" cy="152400"/>
          </a:xfrm>
          <a:custGeom>
            <a:avLst/>
            <a:gdLst/>
            <a:ahLst/>
            <a:cxnLst/>
            <a:rect l="0" t="0" r="r" b="b"/>
            <a:pathLst>
              <a:path w="228600" h="152400">
                <a:moveTo>
                  <a:pt x="76200" y="0"/>
                </a:moveTo>
                <a:lnTo>
                  <a:pt x="152400" y="0"/>
                </a:lnTo>
                <a:cubicBezTo>
                  <a:pt x="194501" y="0"/>
                  <a:pt x="228600" y="34100"/>
                  <a:pt x="228600" y="76200"/>
                </a:cubicBezTo>
                <a:lnTo>
                  <a:pt x="228600" y="76200"/>
                </a:lnTo>
                <a:cubicBezTo>
                  <a:pt x="228600" y="118300"/>
                  <a:pt x="194501" y="152400"/>
                  <a:pt x="152400" y="152400"/>
                </a:cubicBezTo>
                <a:lnTo>
                  <a:pt x="76200" y="152400"/>
                </a:lnTo>
                <a:cubicBezTo>
                  <a:pt x="34099" y="152400"/>
                  <a:pt x="0" y="118300"/>
                  <a:pt x="0" y="762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bxt-9"/>
          <p:cNvSpPr txBox="1"/>
          <p:nvPr/>
        </p:nvSpPr>
        <p:spPr>
          <a:xfrm>
            <a:off x="10996295" y="1826958"/>
            <a:ext cx="2578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合并</a:t>
            </a:r>
          </a:p>
        </p:txBody>
      </p:sp>
      <p:sp>
        <p:nvSpPr>
          <p:cNvPr id="48" name="mg-1-410"/>
          <p:cNvSpPr/>
          <p:nvPr/>
        </p:nvSpPr>
        <p:spPr>
          <a:xfrm>
            <a:off x="2603500" y="2374900"/>
            <a:ext cx="3175" cy="1460500"/>
          </a:xfrm>
          <a:custGeom>
            <a:avLst/>
            <a:gdLst/>
            <a:ahLst/>
            <a:cxnLst/>
            <a:rect l="0" t="0" r="r" b="b"/>
            <a:pathLst>
              <a:path w="3175" h="1460500">
                <a:moveTo>
                  <a:pt x="0" y="0"/>
                </a:moveTo>
                <a:cubicBezTo>
                  <a:pt x="0" y="673100"/>
                  <a:pt x="0" y="800100"/>
                  <a:pt x="0" y="1460500"/>
                </a:cubicBezTo>
              </a:path>
            </a:pathLst>
          </a:custGeom>
          <a:noFill/>
          <a:ln w="12700" cap="rnd">
            <a:solidFill>
              <a:srgbClr val="2E77C2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a-1"/>
          <p:cNvSpPr/>
          <p:nvPr/>
        </p:nvSpPr>
        <p:spPr>
          <a:xfrm>
            <a:off x="2127250" y="3873500"/>
            <a:ext cx="952500" cy="508000"/>
          </a:xfrm>
          <a:custGeom>
            <a:avLst/>
            <a:gdLst/>
            <a:ahLst/>
            <a:cxnLst/>
            <a:rect l="0" t="0" r="r" b="b"/>
            <a:pathLst>
              <a:path w="952500" h="508000">
                <a:moveTo>
                  <a:pt x="114300" y="0"/>
                </a:moveTo>
                <a:lnTo>
                  <a:pt x="838200" y="0"/>
                </a:lnTo>
                <a:cubicBezTo>
                  <a:pt x="901319" y="0"/>
                  <a:pt x="952500" y="51181"/>
                  <a:pt x="952500" y="114300"/>
                </a:cubicBezTo>
                <a:lnTo>
                  <a:pt x="952500" y="393700"/>
                </a:lnTo>
                <a:cubicBezTo>
                  <a:pt x="952500" y="456819"/>
                  <a:pt x="901319" y="508000"/>
                  <a:pt x="838200" y="508000"/>
                </a:cubicBezTo>
                <a:lnTo>
                  <a:pt x="114300" y="508000"/>
                </a:lnTo>
                <a:cubicBezTo>
                  <a:pt x="51181" y="508000"/>
                  <a:pt x="0" y="456819"/>
                  <a:pt x="0" y="393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at-1"/>
          <p:cNvSpPr txBox="1"/>
          <p:nvPr/>
        </p:nvSpPr>
        <p:spPr>
          <a:xfrm>
            <a:off x="2295208" y="3953097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线上提交</a:t>
            </a:r>
          </a:p>
        </p:txBody>
      </p:sp>
      <p:sp>
        <p:nvSpPr>
          <p:cNvPr id="51" name="ad-1"/>
          <p:cNvSpPr txBox="1"/>
          <p:nvPr/>
        </p:nvSpPr>
        <p:spPr>
          <a:xfrm>
            <a:off x="2291080" y="4157408"/>
            <a:ext cx="6248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DCE9F8"/>
                </a:solidFill>
                <a:latin typeface="微软雅黑"/>
                <a:ea typeface="微软雅黑"/>
                <a:cs typeface="微软雅黑"/>
              </a:rPr>
              <a:t>拍票自动识别</a:t>
            </a:r>
          </a:p>
        </p:txBody>
      </p:sp>
      <p:sp>
        <p:nvSpPr>
          <p:cNvPr id="52" name="mg-2-570"/>
          <p:cNvSpPr/>
          <p:nvPr/>
        </p:nvSpPr>
        <p:spPr>
          <a:xfrm>
            <a:off x="3619500" y="2374900"/>
            <a:ext cx="3175" cy="1460500"/>
          </a:xfrm>
          <a:custGeom>
            <a:avLst/>
            <a:gdLst/>
            <a:ahLst/>
            <a:cxnLst/>
            <a:rect l="0" t="0" r="r" b="b"/>
            <a:pathLst>
              <a:path w="3175" h="1460500">
                <a:moveTo>
                  <a:pt x="0" y="0"/>
                </a:moveTo>
                <a:cubicBezTo>
                  <a:pt x="0" y="673100"/>
                  <a:pt x="0" y="800100"/>
                  <a:pt x="0" y="1460500"/>
                </a:cubicBezTo>
              </a:path>
            </a:pathLst>
          </a:custGeom>
          <a:noFill/>
          <a:ln w="12700" cap="rnd">
            <a:solidFill>
              <a:srgbClr val="2E77C2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a-2"/>
          <p:cNvSpPr/>
          <p:nvPr/>
        </p:nvSpPr>
        <p:spPr>
          <a:xfrm>
            <a:off x="3143250" y="3873500"/>
            <a:ext cx="952500" cy="508000"/>
          </a:xfrm>
          <a:custGeom>
            <a:avLst/>
            <a:gdLst/>
            <a:ahLst/>
            <a:cxnLst/>
            <a:rect l="0" t="0" r="r" b="b"/>
            <a:pathLst>
              <a:path w="952500" h="508000">
                <a:moveTo>
                  <a:pt x="114300" y="0"/>
                </a:moveTo>
                <a:lnTo>
                  <a:pt x="838200" y="0"/>
                </a:lnTo>
                <a:cubicBezTo>
                  <a:pt x="901319" y="0"/>
                  <a:pt x="952500" y="51181"/>
                  <a:pt x="952500" y="114300"/>
                </a:cubicBezTo>
                <a:lnTo>
                  <a:pt x="952500" y="393700"/>
                </a:lnTo>
                <a:cubicBezTo>
                  <a:pt x="952500" y="456819"/>
                  <a:pt x="901319" y="508000"/>
                  <a:pt x="838200" y="508000"/>
                </a:cubicBezTo>
                <a:lnTo>
                  <a:pt x="114300" y="508000"/>
                </a:lnTo>
                <a:cubicBezTo>
                  <a:pt x="51181" y="508000"/>
                  <a:pt x="0" y="456819"/>
                  <a:pt x="0" y="393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2F61A8"/>
              </a:gs>
              <a:gs pos="100000">
                <a:srgbClr val="134C9C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at-2"/>
          <p:cNvSpPr txBox="1"/>
          <p:nvPr/>
        </p:nvSpPr>
        <p:spPr>
          <a:xfrm>
            <a:off x="3311208" y="3953097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部门审批</a:t>
            </a:r>
          </a:p>
        </p:txBody>
      </p:sp>
      <p:sp>
        <p:nvSpPr>
          <p:cNvPr id="55" name="ad-2"/>
          <p:cNvSpPr txBox="1"/>
          <p:nvPr/>
        </p:nvSpPr>
        <p:spPr>
          <a:xfrm>
            <a:off x="3307080" y="4157408"/>
            <a:ext cx="6248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DCE9F8"/>
                </a:solidFill>
                <a:latin typeface="微软雅黑"/>
                <a:ea typeface="微软雅黑"/>
                <a:cs typeface="微软雅黑"/>
              </a:rPr>
              <a:t>移动端一键审</a:t>
            </a:r>
          </a:p>
        </p:txBody>
      </p:sp>
      <p:sp>
        <p:nvSpPr>
          <p:cNvPr id="56" name="mg-3-730"/>
          <p:cNvSpPr/>
          <p:nvPr/>
        </p:nvSpPr>
        <p:spPr>
          <a:xfrm>
            <a:off x="4635500" y="2374900"/>
            <a:ext cx="508000" cy="1460500"/>
          </a:xfrm>
          <a:custGeom>
            <a:avLst/>
            <a:gdLst/>
            <a:ahLst/>
            <a:cxnLst/>
            <a:rect l="0" t="0" r="r" b="b"/>
            <a:pathLst>
              <a:path w="508000" h="1460500">
                <a:moveTo>
                  <a:pt x="0" y="0"/>
                </a:moveTo>
                <a:cubicBezTo>
                  <a:pt x="0" y="673100"/>
                  <a:pt x="508000" y="800100"/>
                  <a:pt x="508000" y="1460500"/>
                </a:cubicBezTo>
              </a:path>
            </a:pathLst>
          </a:custGeom>
          <a:noFill/>
          <a:ln w="12700" cap="rnd">
            <a:solidFill>
              <a:srgbClr val="2E77C2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mg-3-890"/>
          <p:cNvSpPr/>
          <p:nvPr/>
        </p:nvSpPr>
        <p:spPr>
          <a:xfrm>
            <a:off x="5143500" y="2374900"/>
            <a:ext cx="508000" cy="1460500"/>
          </a:xfrm>
          <a:custGeom>
            <a:avLst/>
            <a:gdLst/>
            <a:ahLst/>
            <a:cxnLst/>
            <a:rect l="0" t="0" r="r" b="b"/>
            <a:pathLst>
              <a:path w="508000" h="1460500">
                <a:moveTo>
                  <a:pt x="508000" y="0"/>
                </a:moveTo>
                <a:cubicBezTo>
                  <a:pt x="508000" y="673100"/>
                  <a:pt x="0" y="800100"/>
                  <a:pt x="0" y="1460500"/>
                </a:cubicBezTo>
              </a:path>
            </a:pathLst>
          </a:custGeom>
          <a:noFill/>
          <a:ln w="12700" cap="rnd">
            <a:solidFill>
              <a:srgbClr val="2E77C2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a-3"/>
          <p:cNvSpPr/>
          <p:nvPr/>
        </p:nvSpPr>
        <p:spPr>
          <a:xfrm>
            <a:off x="4445000" y="3873500"/>
            <a:ext cx="1397000" cy="508000"/>
          </a:xfrm>
          <a:custGeom>
            <a:avLst/>
            <a:gdLst/>
            <a:ahLst/>
            <a:cxnLst/>
            <a:rect l="0" t="0" r="r" b="b"/>
            <a:pathLst>
              <a:path w="1397000" h="508000">
                <a:moveTo>
                  <a:pt x="114300" y="0"/>
                </a:moveTo>
                <a:lnTo>
                  <a:pt x="1282700" y="0"/>
                </a:lnTo>
                <a:cubicBezTo>
                  <a:pt x="1345819" y="0"/>
                  <a:pt x="1397000" y="51181"/>
                  <a:pt x="1397000" y="114300"/>
                </a:cubicBezTo>
                <a:lnTo>
                  <a:pt x="1397000" y="393700"/>
                </a:lnTo>
                <a:cubicBezTo>
                  <a:pt x="1397000" y="456819"/>
                  <a:pt x="1345819" y="508000"/>
                  <a:pt x="1282700" y="508000"/>
                </a:cubicBezTo>
                <a:lnTo>
                  <a:pt x="114300" y="508000"/>
                </a:lnTo>
                <a:cubicBezTo>
                  <a:pt x="51181" y="508000"/>
                  <a:pt x="0" y="456819"/>
                  <a:pt x="0" y="393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366EB2"/>
              </a:gs>
              <a:gs pos="100000">
                <a:srgbClr val="1B5AA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at-3"/>
          <p:cNvSpPr txBox="1"/>
          <p:nvPr/>
        </p:nvSpPr>
        <p:spPr>
          <a:xfrm>
            <a:off x="4835208" y="3953097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财务审核</a:t>
            </a:r>
          </a:p>
        </p:txBody>
      </p:sp>
      <p:sp>
        <p:nvSpPr>
          <p:cNvPr id="60" name="ad-3"/>
          <p:cNvSpPr txBox="1"/>
          <p:nvPr/>
        </p:nvSpPr>
        <p:spPr>
          <a:xfrm>
            <a:off x="4831080" y="4157408"/>
            <a:ext cx="6248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DCE9F8"/>
                </a:solidFill>
                <a:latin typeface="微软雅黑"/>
                <a:ea typeface="微软雅黑"/>
                <a:cs typeface="微软雅黑"/>
              </a:rPr>
              <a:t>初审复审合一</a:t>
            </a:r>
          </a:p>
        </p:txBody>
      </p:sp>
      <p:sp>
        <p:nvSpPr>
          <p:cNvPr id="61" name="am-3"/>
          <p:cNvSpPr/>
          <p:nvPr/>
        </p:nvSpPr>
        <p:spPr>
          <a:xfrm>
            <a:off x="4889500" y="3581400"/>
            <a:ext cx="508000" cy="165100"/>
          </a:xfrm>
          <a:custGeom>
            <a:avLst/>
            <a:gdLst/>
            <a:ahLst/>
            <a:cxnLst/>
            <a:rect l="0" t="0" r="r" b="b"/>
            <a:pathLst>
              <a:path w="508000" h="165100">
                <a:moveTo>
                  <a:pt x="82550" y="0"/>
                </a:moveTo>
                <a:lnTo>
                  <a:pt x="425450" y="0"/>
                </a:lnTo>
                <a:cubicBezTo>
                  <a:pt x="471043" y="0"/>
                  <a:pt x="508000" y="36957"/>
                  <a:pt x="508000" y="82550"/>
                </a:cubicBezTo>
                <a:lnTo>
                  <a:pt x="508000" y="82550"/>
                </a:lnTo>
                <a:cubicBezTo>
                  <a:pt x="508000" y="128143"/>
                  <a:pt x="471043" y="165100"/>
                  <a:pt x="425450" y="165100"/>
                </a:cubicBezTo>
                <a:lnTo>
                  <a:pt x="82550" y="165100"/>
                </a:lnTo>
                <a:cubicBezTo>
                  <a:pt x="36957" y="165100"/>
                  <a:pt x="0" y="128143"/>
                  <a:pt x="0" y="825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2E77C2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amt-3"/>
          <p:cNvSpPr txBox="1"/>
          <p:nvPr/>
        </p:nvSpPr>
        <p:spPr>
          <a:xfrm>
            <a:off x="4959477" y="3585908"/>
            <a:ext cx="3680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2468B6"/>
                </a:solidFill>
                <a:latin typeface="微软雅黑"/>
                <a:ea typeface="微软雅黑"/>
                <a:cs typeface="微软雅黑"/>
              </a:rPr>
              <a:t>2 合 1</a:t>
            </a:r>
          </a:p>
        </p:txBody>
      </p:sp>
      <p:sp>
        <p:nvSpPr>
          <p:cNvPr id="63" name="mg-4-1050"/>
          <p:cNvSpPr/>
          <p:nvPr/>
        </p:nvSpPr>
        <p:spPr>
          <a:xfrm>
            <a:off x="6667500" y="2374900"/>
            <a:ext cx="508000" cy="1460500"/>
          </a:xfrm>
          <a:custGeom>
            <a:avLst/>
            <a:gdLst/>
            <a:ahLst/>
            <a:cxnLst/>
            <a:rect l="0" t="0" r="r" b="b"/>
            <a:pathLst>
              <a:path w="508000" h="1460500">
                <a:moveTo>
                  <a:pt x="0" y="0"/>
                </a:moveTo>
                <a:cubicBezTo>
                  <a:pt x="0" y="673100"/>
                  <a:pt x="508000" y="800100"/>
                  <a:pt x="508000" y="1460500"/>
                </a:cubicBezTo>
              </a:path>
            </a:pathLst>
          </a:custGeom>
          <a:noFill/>
          <a:ln w="12700" cap="rnd">
            <a:solidFill>
              <a:srgbClr val="2E77C2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mg-4-1210"/>
          <p:cNvSpPr/>
          <p:nvPr/>
        </p:nvSpPr>
        <p:spPr>
          <a:xfrm>
            <a:off x="7175500" y="2374900"/>
            <a:ext cx="508000" cy="1460500"/>
          </a:xfrm>
          <a:custGeom>
            <a:avLst/>
            <a:gdLst/>
            <a:ahLst/>
            <a:cxnLst/>
            <a:rect l="0" t="0" r="r" b="b"/>
            <a:pathLst>
              <a:path w="508000" h="1460500">
                <a:moveTo>
                  <a:pt x="508000" y="0"/>
                </a:moveTo>
                <a:cubicBezTo>
                  <a:pt x="508000" y="673100"/>
                  <a:pt x="0" y="800100"/>
                  <a:pt x="0" y="1460500"/>
                </a:cubicBezTo>
              </a:path>
            </a:pathLst>
          </a:custGeom>
          <a:noFill/>
          <a:ln w="12700" cap="rnd">
            <a:solidFill>
              <a:srgbClr val="2E77C2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a-4"/>
          <p:cNvSpPr/>
          <p:nvPr/>
        </p:nvSpPr>
        <p:spPr>
          <a:xfrm>
            <a:off x="6477000" y="3873500"/>
            <a:ext cx="1397000" cy="508000"/>
          </a:xfrm>
          <a:custGeom>
            <a:avLst/>
            <a:gdLst/>
            <a:ahLst/>
            <a:cxnLst/>
            <a:rect l="0" t="0" r="r" b="b"/>
            <a:pathLst>
              <a:path w="1397000" h="508000">
                <a:moveTo>
                  <a:pt x="114300" y="0"/>
                </a:moveTo>
                <a:lnTo>
                  <a:pt x="1282700" y="0"/>
                </a:lnTo>
                <a:cubicBezTo>
                  <a:pt x="1345819" y="0"/>
                  <a:pt x="1397000" y="51181"/>
                  <a:pt x="1397000" y="114300"/>
                </a:cubicBezTo>
                <a:lnTo>
                  <a:pt x="1397000" y="393700"/>
                </a:lnTo>
                <a:cubicBezTo>
                  <a:pt x="1397000" y="456819"/>
                  <a:pt x="1345819" y="508000"/>
                  <a:pt x="1282700" y="508000"/>
                </a:cubicBezTo>
                <a:lnTo>
                  <a:pt x="114300" y="508000"/>
                </a:lnTo>
                <a:cubicBezTo>
                  <a:pt x="51181" y="508000"/>
                  <a:pt x="0" y="456819"/>
                  <a:pt x="0" y="393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3E7ABF"/>
              </a:gs>
              <a:gs pos="100000">
                <a:srgbClr val="2468B6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at-4"/>
          <p:cNvSpPr txBox="1"/>
          <p:nvPr/>
        </p:nvSpPr>
        <p:spPr>
          <a:xfrm>
            <a:off x="6867208" y="3953097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分级审批</a:t>
            </a:r>
          </a:p>
        </p:txBody>
      </p:sp>
      <p:sp>
        <p:nvSpPr>
          <p:cNvPr id="67" name="ad-4"/>
          <p:cNvSpPr txBox="1"/>
          <p:nvPr/>
        </p:nvSpPr>
        <p:spPr>
          <a:xfrm>
            <a:off x="6811391" y="4157408"/>
            <a:ext cx="72821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DCE9F8"/>
                </a:solidFill>
                <a:latin typeface="微软雅黑"/>
                <a:ea typeface="微软雅黑"/>
                <a:cs typeface="微软雅黑"/>
              </a:rPr>
              <a:t>5 千以上才上报</a:t>
            </a:r>
          </a:p>
        </p:txBody>
      </p:sp>
      <p:sp>
        <p:nvSpPr>
          <p:cNvPr id="68" name="am-4"/>
          <p:cNvSpPr/>
          <p:nvPr/>
        </p:nvSpPr>
        <p:spPr>
          <a:xfrm>
            <a:off x="6921500" y="3581400"/>
            <a:ext cx="508000" cy="165100"/>
          </a:xfrm>
          <a:custGeom>
            <a:avLst/>
            <a:gdLst/>
            <a:ahLst/>
            <a:cxnLst/>
            <a:rect l="0" t="0" r="r" b="b"/>
            <a:pathLst>
              <a:path w="508000" h="165100">
                <a:moveTo>
                  <a:pt x="82550" y="0"/>
                </a:moveTo>
                <a:lnTo>
                  <a:pt x="425450" y="0"/>
                </a:lnTo>
                <a:cubicBezTo>
                  <a:pt x="471043" y="0"/>
                  <a:pt x="508000" y="36957"/>
                  <a:pt x="508000" y="82550"/>
                </a:cubicBezTo>
                <a:lnTo>
                  <a:pt x="508000" y="82550"/>
                </a:lnTo>
                <a:cubicBezTo>
                  <a:pt x="508000" y="128143"/>
                  <a:pt x="471043" y="165100"/>
                  <a:pt x="425450" y="165100"/>
                </a:cubicBezTo>
                <a:lnTo>
                  <a:pt x="82550" y="165100"/>
                </a:lnTo>
                <a:cubicBezTo>
                  <a:pt x="36957" y="165100"/>
                  <a:pt x="0" y="128143"/>
                  <a:pt x="0" y="825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2E77C2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amt-4"/>
          <p:cNvSpPr txBox="1"/>
          <p:nvPr/>
        </p:nvSpPr>
        <p:spPr>
          <a:xfrm>
            <a:off x="6991477" y="3585908"/>
            <a:ext cx="3680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2468B6"/>
                </a:solidFill>
                <a:latin typeface="微软雅黑"/>
                <a:ea typeface="微软雅黑"/>
                <a:cs typeface="微软雅黑"/>
              </a:rPr>
              <a:t>2 合 1</a:t>
            </a:r>
          </a:p>
        </p:txBody>
      </p:sp>
      <p:sp>
        <p:nvSpPr>
          <p:cNvPr id="70" name="mg-5-1370"/>
          <p:cNvSpPr/>
          <p:nvPr/>
        </p:nvSpPr>
        <p:spPr>
          <a:xfrm>
            <a:off x="8699500" y="2374900"/>
            <a:ext cx="1016000" cy="1460500"/>
          </a:xfrm>
          <a:custGeom>
            <a:avLst/>
            <a:gdLst/>
            <a:ahLst/>
            <a:cxnLst/>
            <a:rect l="0" t="0" r="r" b="b"/>
            <a:pathLst>
              <a:path w="1016000" h="1460500">
                <a:moveTo>
                  <a:pt x="0" y="0"/>
                </a:moveTo>
                <a:cubicBezTo>
                  <a:pt x="0" y="673100"/>
                  <a:pt x="1016000" y="800100"/>
                  <a:pt x="1016000" y="1460500"/>
                </a:cubicBezTo>
              </a:path>
            </a:pathLst>
          </a:custGeom>
          <a:noFill/>
          <a:ln w="12700" cap="rnd">
            <a:solidFill>
              <a:srgbClr val="2E77C2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mg-5-1530"/>
          <p:cNvSpPr/>
          <p:nvPr/>
        </p:nvSpPr>
        <p:spPr>
          <a:xfrm>
            <a:off x="9715500" y="2374900"/>
            <a:ext cx="3175" cy="1460500"/>
          </a:xfrm>
          <a:custGeom>
            <a:avLst/>
            <a:gdLst/>
            <a:ahLst/>
            <a:cxnLst/>
            <a:rect l="0" t="0" r="r" b="b"/>
            <a:pathLst>
              <a:path w="3175" h="1460500">
                <a:moveTo>
                  <a:pt x="0" y="0"/>
                </a:moveTo>
                <a:cubicBezTo>
                  <a:pt x="0" y="673100"/>
                  <a:pt x="0" y="800100"/>
                  <a:pt x="0" y="1460500"/>
                </a:cubicBezTo>
              </a:path>
            </a:pathLst>
          </a:custGeom>
          <a:noFill/>
          <a:ln w="12700" cap="rnd">
            <a:solidFill>
              <a:srgbClr val="2E77C2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mg-5-1690"/>
          <p:cNvSpPr/>
          <p:nvPr/>
        </p:nvSpPr>
        <p:spPr>
          <a:xfrm>
            <a:off x="9715500" y="2374900"/>
            <a:ext cx="1016000" cy="1460500"/>
          </a:xfrm>
          <a:custGeom>
            <a:avLst/>
            <a:gdLst/>
            <a:ahLst/>
            <a:cxnLst/>
            <a:rect l="0" t="0" r="r" b="b"/>
            <a:pathLst>
              <a:path w="1016000" h="1460500">
                <a:moveTo>
                  <a:pt x="1016000" y="0"/>
                </a:moveTo>
                <a:cubicBezTo>
                  <a:pt x="1016000" y="673100"/>
                  <a:pt x="0" y="800100"/>
                  <a:pt x="0" y="1460500"/>
                </a:cubicBezTo>
              </a:path>
            </a:pathLst>
          </a:custGeom>
          <a:noFill/>
          <a:ln w="12700" cap="rnd">
            <a:solidFill>
              <a:srgbClr val="2E77C2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a-5"/>
          <p:cNvSpPr/>
          <p:nvPr/>
        </p:nvSpPr>
        <p:spPr>
          <a:xfrm>
            <a:off x="8794750" y="3873500"/>
            <a:ext cx="1841500" cy="508000"/>
          </a:xfrm>
          <a:custGeom>
            <a:avLst/>
            <a:gdLst/>
            <a:ahLst/>
            <a:cxnLst/>
            <a:rect l="0" t="0" r="r" b="b"/>
            <a:pathLst>
              <a:path w="1841500" h="508000">
                <a:moveTo>
                  <a:pt x="114300" y="0"/>
                </a:moveTo>
                <a:lnTo>
                  <a:pt x="1727200" y="0"/>
                </a:lnTo>
                <a:cubicBezTo>
                  <a:pt x="1790319" y="0"/>
                  <a:pt x="1841500" y="51181"/>
                  <a:pt x="1841500" y="114300"/>
                </a:cubicBezTo>
                <a:lnTo>
                  <a:pt x="1841500" y="393700"/>
                </a:lnTo>
                <a:cubicBezTo>
                  <a:pt x="1841500" y="456819"/>
                  <a:pt x="1790319" y="508000"/>
                  <a:pt x="1727200" y="508000"/>
                </a:cubicBezTo>
                <a:lnTo>
                  <a:pt x="114300" y="508000"/>
                </a:lnTo>
                <a:cubicBezTo>
                  <a:pt x="51181" y="508000"/>
                  <a:pt x="0" y="456819"/>
                  <a:pt x="0" y="393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4787C9"/>
              </a:gs>
              <a:gs pos="100000">
                <a:srgbClr val="2E77C2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at-5"/>
          <p:cNvSpPr txBox="1"/>
          <p:nvPr/>
        </p:nvSpPr>
        <p:spPr>
          <a:xfrm>
            <a:off x="9280208" y="3953097"/>
            <a:ext cx="870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自动付款归档</a:t>
            </a:r>
          </a:p>
        </p:txBody>
      </p:sp>
      <p:sp>
        <p:nvSpPr>
          <p:cNvPr id="75" name="ad-5"/>
          <p:cNvSpPr txBox="1"/>
          <p:nvPr/>
        </p:nvSpPr>
        <p:spPr>
          <a:xfrm>
            <a:off x="9403080" y="4157408"/>
            <a:ext cx="6248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DCE9F8"/>
                </a:solidFill>
                <a:latin typeface="微软雅黑"/>
                <a:ea typeface="微软雅黑"/>
                <a:cs typeface="微软雅黑"/>
              </a:rPr>
              <a:t>系统直连银行</a:t>
            </a:r>
          </a:p>
        </p:txBody>
      </p:sp>
      <p:sp>
        <p:nvSpPr>
          <p:cNvPr id="76" name="am-5"/>
          <p:cNvSpPr/>
          <p:nvPr/>
        </p:nvSpPr>
        <p:spPr>
          <a:xfrm>
            <a:off x="9461500" y="3581400"/>
            <a:ext cx="508000" cy="165100"/>
          </a:xfrm>
          <a:custGeom>
            <a:avLst/>
            <a:gdLst/>
            <a:ahLst/>
            <a:cxnLst/>
            <a:rect l="0" t="0" r="r" b="b"/>
            <a:pathLst>
              <a:path w="508000" h="165100">
                <a:moveTo>
                  <a:pt x="82550" y="0"/>
                </a:moveTo>
                <a:lnTo>
                  <a:pt x="425450" y="0"/>
                </a:lnTo>
                <a:cubicBezTo>
                  <a:pt x="471043" y="0"/>
                  <a:pt x="508000" y="36957"/>
                  <a:pt x="508000" y="82550"/>
                </a:cubicBezTo>
                <a:lnTo>
                  <a:pt x="508000" y="82550"/>
                </a:lnTo>
                <a:cubicBezTo>
                  <a:pt x="508000" y="128143"/>
                  <a:pt x="471043" y="165100"/>
                  <a:pt x="425450" y="165100"/>
                </a:cubicBezTo>
                <a:lnTo>
                  <a:pt x="82550" y="165100"/>
                </a:lnTo>
                <a:cubicBezTo>
                  <a:pt x="36957" y="165100"/>
                  <a:pt x="0" y="128143"/>
                  <a:pt x="0" y="825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2E77C2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amt-5"/>
          <p:cNvSpPr txBox="1"/>
          <p:nvPr/>
        </p:nvSpPr>
        <p:spPr>
          <a:xfrm>
            <a:off x="9531477" y="3585908"/>
            <a:ext cx="3680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2468B6"/>
                </a:solidFill>
                <a:latin typeface="微软雅黑"/>
                <a:ea typeface="微软雅黑"/>
                <a:cs typeface="微软雅黑"/>
              </a:rPr>
              <a:t>3 合 1</a:t>
            </a:r>
          </a:p>
        </p:txBody>
      </p:sp>
      <p:sp>
        <p:nvSpPr>
          <p:cNvPr id="78" name="m-1"/>
          <p:cNvSpPr/>
          <p:nvPr/>
        </p:nvSpPr>
        <p:spPr>
          <a:xfrm>
            <a:off x="952500" y="5016500"/>
            <a:ext cx="2476500" cy="762000"/>
          </a:xfrm>
          <a:custGeom>
            <a:avLst/>
            <a:gdLst/>
            <a:ahLst/>
            <a:cxnLst/>
            <a:rect l="0" t="0" r="r" b="b"/>
            <a:pathLst>
              <a:path w="2476500" h="762000">
                <a:moveTo>
                  <a:pt x="127000" y="0"/>
                </a:moveTo>
                <a:lnTo>
                  <a:pt x="2349500" y="0"/>
                </a:lnTo>
                <a:cubicBezTo>
                  <a:pt x="2419667" y="0"/>
                  <a:pt x="2476500" y="56833"/>
                  <a:pt x="2476500" y="127000"/>
                </a:cubicBezTo>
                <a:lnTo>
                  <a:pt x="2476500" y="635000"/>
                </a:lnTo>
                <a:cubicBezTo>
                  <a:pt x="2476500" y="705167"/>
                  <a:pt x="2419667" y="762000"/>
                  <a:pt x="2349500" y="762000"/>
                </a:cubicBezTo>
                <a:lnTo>
                  <a:pt x="127000" y="762000"/>
                </a:lnTo>
                <a:cubicBezTo>
                  <a:pt x="56832" y="762000"/>
                  <a:pt x="0" y="705167"/>
                  <a:pt x="0" y="635000"/>
                </a:cubicBezTo>
                <a:lnTo>
                  <a:pt x="0" y="127000"/>
                </a:lnTo>
                <a:cubicBezTo>
                  <a:pt x="0" y="56833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mb-1"/>
          <p:cNvSpPr/>
          <p:nvPr/>
        </p:nvSpPr>
        <p:spPr>
          <a:xfrm>
            <a:off x="952500" y="5016500"/>
            <a:ext cx="38100" cy="762000"/>
          </a:xfrm>
          <a:custGeom>
            <a:avLst/>
            <a:gdLst/>
            <a:ahLst/>
            <a:cxnLst/>
            <a:rect l="0" t="0" r="r" b="b"/>
            <a:pathLst>
              <a:path w="38100" h="762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742950"/>
                </a:lnTo>
                <a:cubicBezTo>
                  <a:pt x="38100" y="753491"/>
                  <a:pt x="29591" y="762000"/>
                  <a:pt x="19050" y="762000"/>
                </a:cubicBezTo>
                <a:lnTo>
                  <a:pt x="19050" y="762000"/>
                </a:lnTo>
                <a:cubicBezTo>
                  <a:pt x="8509" y="762000"/>
                  <a:pt x="0" y="753491"/>
                  <a:pt x="0" y="742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mn-1"/>
          <p:cNvSpPr txBox="1"/>
          <p:nvPr/>
        </p:nvSpPr>
        <p:spPr>
          <a:xfrm>
            <a:off x="1130046" y="5149882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处理周期</a:t>
            </a:r>
          </a:p>
        </p:txBody>
      </p:sp>
      <p:sp>
        <p:nvSpPr>
          <p:cNvPr id="81" name="ma-1"/>
          <p:cNvSpPr txBox="1"/>
          <p:nvPr/>
        </p:nvSpPr>
        <p:spPr>
          <a:xfrm>
            <a:off x="1126236" y="5428170"/>
            <a:ext cx="507746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12 天</a:t>
            </a:r>
          </a:p>
        </p:txBody>
      </p:sp>
      <p:sp>
        <p:nvSpPr>
          <p:cNvPr id="82" name="mar-1"/>
          <p:cNvSpPr txBox="1"/>
          <p:nvPr/>
        </p:nvSpPr>
        <p:spPr>
          <a:xfrm>
            <a:off x="1803019" y="5415470"/>
            <a:ext cx="203962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→</a:t>
            </a:r>
          </a:p>
        </p:txBody>
      </p:sp>
      <p:sp>
        <p:nvSpPr>
          <p:cNvPr id="83" name="mv-1"/>
          <p:cNvSpPr txBox="1"/>
          <p:nvPr/>
        </p:nvSpPr>
        <p:spPr>
          <a:xfrm>
            <a:off x="2606675" y="5346764"/>
            <a:ext cx="657733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7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4 天</a:t>
            </a:r>
          </a:p>
        </p:txBody>
      </p:sp>
      <p:sp>
        <p:nvSpPr>
          <p:cNvPr id="84" name="m-2"/>
          <p:cNvSpPr/>
          <p:nvPr/>
        </p:nvSpPr>
        <p:spPr>
          <a:xfrm>
            <a:off x="3556000" y="5016500"/>
            <a:ext cx="2476500" cy="762000"/>
          </a:xfrm>
          <a:custGeom>
            <a:avLst/>
            <a:gdLst/>
            <a:ahLst/>
            <a:cxnLst/>
            <a:rect l="0" t="0" r="r" b="b"/>
            <a:pathLst>
              <a:path w="2476500" h="762000">
                <a:moveTo>
                  <a:pt x="127000" y="0"/>
                </a:moveTo>
                <a:lnTo>
                  <a:pt x="2349500" y="0"/>
                </a:lnTo>
                <a:cubicBezTo>
                  <a:pt x="2419667" y="0"/>
                  <a:pt x="2476500" y="56833"/>
                  <a:pt x="2476500" y="127000"/>
                </a:cubicBezTo>
                <a:lnTo>
                  <a:pt x="2476500" y="635000"/>
                </a:lnTo>
                <a:cubicBezTo>
                  <a:pt x="2476500" y="705167"/>
                  <a:pt x="2419667" y="762000"/>
                  <a:pt x="2349500" y="762000"/>
                </a:cubicBezTo>
                <a:lnTo>
                  <a:pt x="127000" y="762000"/>
                </a:lnTo>
                <a:cubicBezTo>
                  <a:pt x="56833" y="762000"/>
                  <a:pt x="0" y="705167"/>
                  <a:pt x="0" y="635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mb-2"/>
          <p:cNvSpPr/>
          <p:nvPr/>
        </p:nvSpPr>
        <p:spPr>
          <a:xfrm>
            <a:off x="3556000" y="5016500"/>
            <a:ext cx="38100" cy="762000"/>
          </a:xfrm>
          <a:custGeom>
            <a:avLst/>
            <a:gdLst/>
            <a:ahLst/>
            <a:cxnLst/>
            <a:rect l="0" t="0" r="r" b="b"/>
            <a:pathLst>
              <a:path w="38100" h="762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742950"/>
                </a:lnTo>
                <a:cubicBezTo>
                  <a:pt x="38100" y="753491"/>
                  <a:pt x="29591" y="762000"/>
                  <a:pt x="19050" y="762000"/>
                </a:cubicBezTo>
                <a:lnTo>
                  <a:pt x="19050" y="762000"/>
                </a:lnTo>
                <a:cubicBezTo>
                  <a:pt x="8509" y="762000"/>
                  <a:pt x="0" y="753491"/>
                  <a:pt x="0" y="742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mn-2"/>
          <p:cNvSpPr txBox="1"/>
          <p:nvPr/>
        </p:nvSpPr>
        <p:spPr>
          <a:xfrm>
            <a:off x="3733546" y="5149882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审批层级</a:t>
            </a:r>
          </a:p>
        </p:txBody>
      </p:sp>
      <p:sp>
        <p:nvSpPr>
          <p:cNvPr id="87" name="ma-2"/>
          <p:cNvSpPr txBox="1"/>
          <p:nvPr/>
        </p:nvSpPr>
        <p:spPr>
          <a:xfrm>
            <a:off x="3729736" y="5428170"/>
            <a:ext cx="427609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5 级</a:t>
            </a:r>
          </a:p>
        </p:txBody>
      </p:sp>
      <p:sp>
        <p:nvSpPr>
          <p:cNvPr id="88" name="mar-2"/>
          <p:cNvSpPr txBox="1"/>
          <p:nvPr/>
        </p:nvSpPr>
        <p:spPr>
          <a:xfrm>
            <a:off x="4406519" y="5415470"/>
            <a:ext cx="203962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→</a:t>
            </a:r>
          </a:p>
        </p:txBody>
      </p:sp>
      <p:sp>
        <p:nvSpPr>
          <p:cNvPr id="89" name="mv-2"/>
          <p:cNvSpPr txBox="1"/>
          <p:nvPr/>
        </p:nvSpPr>
        <p:spPr>
          <a:xfrm>
            <a:off x="5210175" y="5346764"/>
            <a:ext cx="657733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7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2 级</a:t>
            </a:r>
          </a:p>
        </p:txBody>
      </p:sp>
      <p:sp>
        <p:nvSpPr>
          <p:cNvPr id="90" name="m-3"/>
          <p:cNvSpPr/>
          <p:nvPr/>
        </p:nvSpPr>
        <p:spPr>
          <a:xfrm>
            <a:off x="6159500" y="5016500"/>
            <a:ext cx="2476500" cy="762000"/>
          </a:xfrm>
          <a:custGeom>
            <a:avLst/>
            <a:gdLst/>
            <a:ahLst/>
            <a:cxnLst/>
            <a:rect l="0" t="0" r="r" b="b"/>
            <a:pathLst>
              <a:path w="2476500" h="762000">
                <a:moveTo>
                  <a:pt x="127000" y="0"/>
                </a:moveTo>
                <a:lnTo>
                  <a:pt x="2349500" y="0"/>
                </a:lnTo>
                <a:cubicBezTo>
                  <a:pt x="2419667" y="0"/>
                  <a:pt x="2476500" y="56833"/>
                  <a:pt x="2476500" y="127000"/>
                </a:cubicBezTo>
                <a:lnTo>
                  <a:pt x="2476500" y="635000"/>
                </a:lnTo>
                <a:cubicBezTo>
                  <a:pt x="2476500" y="705167"/>
                  <a:pt x="2419667" y="762000"/>
                  <a:pt x="2349500" y="762000"/>
                </a:cubicBezTo>
                <a:lnTo>
                  <a:pt x="127000" y="762000"/>
                </a:lnTo>
                <a:cubicBezTo>
                  <a:pt x="56833" y="762000"/>
                  <a:pt x="0" y="705167"/>
                  <a:pt x="0" y="635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mb-3"/>
          <p:cNvSpPr/>
          <p:nvPr/>
        </p:nvSpPr>
        <p:spPr>
          <a:xfrm>
            <a:off x="6159500" y="5016500"/>
            <a:ext cx="38100" cy="762000"/>
          </a:xfrm>
          <a:custGeom>
            <a:avLst/>
            <a:gdLst/>
            <a:ahLst/>
            <a:cxnLst/>
            <a:rect l="0" t="0" r="r" b="b"/>
            <a:pathLst>
              <a:path w="38100" h="762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742950"/>
                </a:lnTo>
                <a:cubicBezTo>
                  <a:pt x="38100" y="753491"/>
                  <a:pt x="29591" y="762000"/>
                  <a:pt x="19050" y="762000"/>
                </a:cubicBezTo>
                <a:lnTo>
                  <a:pt x="19050" y="762000"/>
                </a:lnTo>
                <a:cubicBezTo>
                  <a:pt x="8509" y="762000"/>
                  <a:pt x="0" y="753491"/>
                  <a:pt x="0" y="742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mn-3"/>
          <p:cNvSpPr txBox="1"/>
          <p:nvPr/>
        </p:nvSpPr>
        <p:spPr>
          <a:xfrm>
            <a:off x="6337046" y="5149882"/>
            <a:ext cx="6686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单据差错率</a:t>
            </a:r>
          </a:p>
        </p:txBody>
      </p:sp>
      <p:sp>
        <p:nvSpPr>
          <p:cNvPr id="93" name="ma-3"/>
          <p:cNvSpPr txBox="1"/>
          <p:nvPr/>
        </p:nvSpPr>
        <p:spPr>
          <a:xfrm>
            <a:off x="6333236" y="5428170"/>
            <a:ext cx="446278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6.2%</a:t>
            </a:r>
          </a:p>
        </p:txBody>
      </p:sp>
      <p:sp>
        <p:nvSpPr>
          <p:cNvPr id="94" name="mar-3"/>
          <p:cNvSpPr txBox="1"/>
          <p:nvPr/>
        </p:nvSpPr>
        <p:spPr>
          <a:xfrm>
            <a:off x="7010019" y="5415470"/>
            <a:ext cx="203962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→</a:t>
            </a:r>
          </a:p>
        </p:txBody>
      </p:sp>
      <p:sp>
        <p:nvSpPr>
          <p:cNvPr id="95" name="mv-3"/>
          <p:cNvSpPr txBox="1"/>
          <p:nvPr/>
        </p:nvSpPr>
        <p:spPr>
          <a:xfrm>
            <a:off x="7785862" y="5346764"/>
            <a:ext cx="685546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7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0.8%</a:t>
            </a:r>
          </a:p>
        </p:txBody>
      </p:sp>
      <p:sp>
        <p:nvSpPr>
          <p:cNvPr id="96" name="m-4"/>
          <p:cNvSpPr/>
          <p:nvPr/>
        </p:nvSpPr>
        <p:spPr>
          <a:xfrm>
            <a:off x="8763000" y="5016500"/>
            <a:ext cx="2476500" cy="762000"/>
          </a:xfrm>
          <a:custGeom>
            <a:avLst/>
            <a:gdLst/>
            <a:ahLst/>
            <a:cxnLst/>
            <a:rect l="0" t="0" r="r" b="b"/>
            <a:pathLst>
              <a:path w="2476500" h="762000">
                <a:moveTo>
                  <a:pt x="127000" y="0"/>
                </a:moveTo>
                <a:lnTo>
                  <a:pt x="2349500" y="0"/>
                </a:lnTo>
                <a:cubicBezTo>
                  <a:pt x="2419667" y="0"/>
                  <a:pt x="2476500" y="56833"/>
                  <a:pt x="2476500" y="127000"/>
                </a:cubicBezTo>
                <a:lnTo>
                  <a:pt x="2476500" y="635000"/>
                </a:lnTo>
                <a:cubicBezTo>
                  <a:pt x="2476500" y="705167"/>
                  <a:pt x="2419667" y="762000"/>
                  <a:pt x="2349500" y="762000"/>
                </a:cubicBezTo>
                <a:lnTo>
                  <a:pt x="127000" y="762000"/>
                </a:lnTo>
                <a:cubicBezTo>
                  <a:pt x="56833" y="762000"/>
                  <a:pt x="0" y="705167"/>
                  <a:pt x="0" y="635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mb-4"/>
          <p:cNvSpPr/>
          <p:nvPr/>
        </p:nvSpPr>
        <p:spPr>
          <a:xfrm>
            <a:off x="8763000" y="5016500"/>
            <a:ext cx="38100" cy="762000"/>
          </a:xfrm>
          <a:custGeom>
            <a:avLst/>
            <a:gdLst/>
            <a:ahLst/>
            <a:cxnLst/>
            <a:rect l="0" t="0" r="r" b="b"/>
            <a:pathLst>
              <a:path w="38100" h="762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742950"/>
                </a:lnTo>
                <a:cubicBezTo>
                  <a:pt x="38100" y="753491"/>
                  <a:pt x="29591" y="762000"/>
                  <a:pt x="19050" y="762000"/>
                </a:cubicBezTo>
                <a:lnTo>
                  <a:pt x="19050" y="762000"/>
                </a:lnTo>
                <a:cubicBezTo>
                  <a:pt x="8509" y="762000"/>
                  <a:pt x="0" y="753491"/>
                  <a:pt x="0" y="742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mn-4"/>
          <p:cNvSpPr txBox="1"/>
          <p:nvPr/>
        </p:nvSpPr>
        <p:spPr>
          <a:xfrm>
            <a:off x="8940546" y="5149882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财务人力</a:t>
            </a:r>
          </a:p>
        </p:txBody>
      </p:sp>
      <p:sp>
        <p:nvSpPr>
          <p:cNvPr id="99" name="ma-4"/>
          <p:cNvSpPr txBox="1"/>
          <p:nvPr/>
        </p:nvSpPr>
        <p:spPr>
          <a:xfrm>
            <a:off x="8936736" y="5428170"/>
            <a:ext cx="427609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8 人</a:t>
            </a:r>
          </a:p>
        </p:txBody>
      </p:sp>
      <p:sp>
        <p:nvSpPr>
          <p:cNvPr id="100" name="mar-4"/>
          <p:cNvSpPr txBox="1"/>
          <p:nvPr/>
        </p:nvSpPr>
        <p:spPr>
          <a:xfrm>
            <a:off x="9613519" y="5415470"/>
            <a:ext cx="203962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→</a:t>
            </a:r>
          </a:p>
        </p:txBody>
      </p:sp>
      <p:sp>
        <p:nvSpPr>
          <p:cNvPr id="101" name="mv-4"/>
          <p:cNvSpPr txBox="1"/>
          <p:nvPr/>
        </p:nvSpPr>
        <p:spPr>
          <a:xfrm>
            <a:off x="10417175" y="5346764"/>
            <a:ext cx="657733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7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5 人</a:t>
            </a:r>
          </a:p>
        </p:txBody>
      </p:sp>
      <p:cxnSp>
        <p:nvCxnSpPr>
          <p:cNvPr id="102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3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流程瘦身 · 优化前后</a:t>
            </a:r>
          </a:p>
        </p:txBody>
      </p:sp>
      <p:sp>
        <p:nvSpPr>
          <p:cNvPr id="104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经营指标对标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17271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BENCHMARKING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7523099" y="673132"/>
            <a:ext cx="40976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每一行都统一成「越往右越好」：蓝点是我们，灰菱形是行业平均，橙旗是标杆</a:t>
            </a:r>
          </a:p>
        </p:txBody>
      </p:sp>
      <p:sp>
        <p:nvSpPr>
          <p:cNvPr id="10" name="ax-l"/>
          <p:cNvSpPr txBox="1"/>
          <p:nvPr/>
        </p:nvSpPr>
        <p:spPr>
          <a:xfrm>
            <a:off x="2973070" y="1533366"/>
            <a:ext cx="4083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← 较差</a:t>
            </a:r>
          </a:p>
        </p:txBody>
      </p:sp>
      <p:sp>
        <p:nvSpPr>
          <p:cNvPr id="11" name="ax-r"/>
          <p:cNvSpPr txBox="1"/>
          <p:nvPr/>
        </p:nvSpPr>
        <p:spPr>
          <a:xfrm>
            <a:off x="7159625" y="1533366"/>
            <a:ext cx="4083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较好 →</a:t>
            </a:r>
          </a:p>
        </p:txBody>
      </p:sp>
      <p:sp>
        <p:nvSpPr>
          <p:cNvPr id="12" name="band-1"/>
          <p:cNvSpPr/>
          <p:nvPr/>
        </p:nvSpPr>
        <p:spPr>
          <a:xfrm>
            <a:off x="889000" y="1841500"/>
            <a:ext cx="10350500" cy="558800"/>
          </a:xfrm>
          <a:custGeom>
            <a:avLst/>
            <a:gdLst/>
            <a:ahLst/>
            <a:cxnLst/>
            <a:rect l="0" t="0" r="r" b="b"/>
            <a:pathLst>
              <a:path w="10350500" h="558800">
                <a:moveTo>
                  <a:pt x="101600" y="0"/>
                </a:moveTo>
                <a:lnTo>
                  <a:pt x="10248900" y="0"/>
                </a:lnTo>
                <a:cubicBezTo>
                  <a:pt x="10305034" y="0"/>
                  <a:pt x="10350500" y="45466"/>
                  <a:pt x="10350500" y="101600"/>
                </a:cubicBezTo>
                <a:lnTo>
                  <a:pt x="10350500" y="457200"/>
                </a:lnTo>
                <a:cubicBezTo>
                  <a:pt x="10350500" y="513334"/>
                  <a:pt x="10305034" y="558800"/>
                  <a:pt x="10248900" y="558800"/>
                </a:cubicBezTo>
                <a:lnTo>
                  <a:pt x="101600" y="558800"/>
                </a:lnTo>
                <a:cubicBezTo>
                  <a:pt x="45466" y="558800"/>
                  <a:pt x="0" y="513334"/>
                  <a:pt x="0" y="457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1F6FC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n-1"/>
          <p:cNvSpPr txBox="1"/>
          <p:nvPr/>
        </p:nvSpPr>
        <p:spPr>
          <a:xfrm>
            <a:off x="999998" y="19435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人均营收</a:t>
            </a:r>
          </a:p>
        </p:txBody>
      </p:sp>
      <p:sp>
        <p:nvSpPr>
          <p:cNvPr id="14" name="u-1"/>
          <p:cNvSpPr txBox="1"/>
          <p:nvPr/>
        </p:nvSpPr>
        <p:spPr>
          <a:xfrm>
            <a:off x="1005332" y="2163508"/>
            <a:ext cx="791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万元 · 越高越好</a:t>
            </a:r>
          </a:p>
        </p:txBody>
      </p:sp>
      <p:cxnSp>
        <p:nvCxnSpPr>
          <p:cNvPr id="15" name="trk-1"/>
          <p:cNvCxnSpPr/>
          <p:nvPr/>
        </p:nvCxnSpPr>
        <p:spPr>
          <a:xfrm>
            <a:off x="2984500" y="2095500"/>
            <a:ext cx="4572000" cy="0"/>
          </a:xfrm>
          <a:prstGeom prst="line">
            <a:avLst/>
          </a:prstGeom>
          <a:ln w="3810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gap-1"/>
          <p:cNvCxnSpPr/>
          <p:nvPr/>
        </p:nvCxnSpPr>
        <p:spPr>
          <a:xfrm>
            <a:off x="4635500" y="2095500"/>
            <a:ext cx="2159000" cy="0"/>
          </a:xfrm>
          <a:prstGeom prst="line">
            <a:avLst/>
          </a:prstGeom>
          <a:ln w="38100" cap="rnd">
            <a:solidFill>
              <a:srgbClr val="E0703A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avg-1"/>
          <p:cNvSpPr/>
          <p:nvPr/>
        </p:nvSpPr>
        <p:spPr>
          <a:xfrm>
            <a:off x="3670300" y="2019300"/>
            <a:ext cx="152400" cy="152400"/>
          </a:xfrm>
          <a:custGeom>
            <a:avLst/>
            <a:gdLst/>
            <a:ahLst/>
            <a:cxnLst/>
            <a:rect l="0" t="0" r="r" b="b"/>
            <a:pathLst>
              <a:path w="152400" h="152400">
                <a:moveTo>
                  <a:pt x="76200" y="0"/>
                </a:moveTo>
                <a:lnTo>
                  <a:pt x="152400" y="76200"/>
                </a:lnTo>
                <a:lnTo>
                  <a:pt x="76200" y="152400"/>
                </a:lnTo>
                <a:lnTo>
                  <a:pt x="0" y="76200"/>
                </a:lnTo>
                <a:close/>
              </a:path>
            </a:pathLst>
          </a:custGeom>
          <a:solidFill>
            <a:srgbClr val="9DB2CC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avgv-1"/>
          <p:cNvSpPr txBox="1"/>
          <p:nvPr/>
        </p:nvSpPr>
        <p:spPr>
          <a:xfrm>
            <a:off x="3656711" y="221430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72</a:t>
            </a:r>
          </a:p>
        </p:txBody>
      </p:sp>
      <p:cxnSp>
        <p:nvCxnSpPr>
          <p:cNvPr id="19" name="bp-1"/>
          <p:cNvCxnSpPr/>
          <p:nvPr/>
        </p:nvCxnSpPr>
        <p:spPr>
          <a:xfrm flipV="1">
            <a:off x="6794500" y="1905000"/>
            <a:ext cx="0" cy="266700"/>
          </a:xfrm>
          <a:prstGeom prst="line">
            <a:avLst/>
          </a:prstGeom>
          <a:ln w="15240" cap="rnd">
            <a:solidFill>
              <a:srgbClr val="E0703A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bf-1"/>
          <p:cNvSpPr/>
          <p:nvPr/>
        </p:nvSpPr>
        <p:spPr>
          <a:xfrm>
            <a:off x="6794500" y="1905000"/>
            <a:ext cx="139700" cy="88900"/>
          </a:xfrm>
          <a:custGeom>
            <a:avLst/>
            <a:gdLst/>
            <a:ahLst/>
            <a:cxnLst/>
            <a:rect l="0" t="0" r="r" b="b"/>
            <a:pathLst>
              <a:path w="139700" h="88900">
                <a:moveTo>
                  <a:pt x="0" y="0"/>
                </a:moveTo>
                <a:lnTo>
                  <a:pt x="139700" y="38100"/>
                </a:lnTo>
                <a:lnTo>
                  <a:pt x="0" y="88900"/>
                </a:ln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bv-1"/>
          <p:cNvSpPr txBox="1"/>
          <p:nvPr/>
        </p:nvSpPr>
        <p:spPr>
          <a:xfrm>
            <a:off x="6948170" y="1876266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120</a:t>
            </a:r>
          </a:p>
        </p:txBody>
      </p:sp>
      <p:sp>
        <p:nvSpPr>
          <p:cNvPr id="22" name="me-1"/>
          <p:cNvSpPr/>
          <p:nvPr/>
        </p:nvSpPr>
        <p:spPr>
          <a:xfrm>
            <a:off x="4546600" y="2006600"/>
            <a:ext cx="177800" cy="177800"/>
          </a:xfrm>
          <a:prstGeom prst="ellipse">
            <a:avLst/>
          </a:prstGeom>
          <a:solidFill>
            <a:srgbClr val="0B3E8F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mev-1"/>
          <p:cNvSpPr txBox="1"/>
          <p:nvPr/>
        </p:nvSpPr>
        <p:spPr>
          <a:xfrm>
            <a:off x="4520057" y="180194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86</a:t>
            </a:r>
          </a:p>
        </p:txBody>
      </p:sp>
      <p:sp>
        <p:nvSpPr>
          <p:cNvPr id="24" name="g-1"/>
          <p:cNvSpPr txBox="1"/>
          <p:nvPr/>
        </p:nvSpPr>
        <p:spPr>
          <a:xfrm>
            <a:off x="7757541" y="2012982"/>
            <a:ext cx="44691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差 28%</a:t>
            </a:r>
          </a:p>
        </p:txBody>
      </p:sp>
      <p:sp>
        <p:nvSpPr>
          <p:cNvPr id="25" name="n-2"/>
          <p:cNvSpPr txBox="1"/>
          <p:nvPr/>
        </p:nvSpPr>
        <p:spPr>
          <a:xfrm>
            <a:off x="999998" y="2553113"/>
            <a:ext cx="548640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毛利率</a:t>
            </a:r>
          </a:p>
        </p:txBody>
      </p:sp>
      <p:sp>
        <p:nvSpPr>
          <p:cNvPr id="26" name="u-2"/>
          <p:cNvSpPr txBox="1"/>
          <p:nvPr/>
        </p:nvSpPr>
        <p:spPr>
          <a:xfrm>
            <a:off x="1005332" y="2773108"/>
            <a:ext cx="6601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% · 越高越好</a:t>
            </a:r>
          </a:p>
        </p:txBody>
      </p:sp>
      <p:cxnSp>
        <p:nvCxnSpPr>
          <p:cNvPr id="27" name="trk-2"/>
          <p:cNvCxnSpPr/>
          <p:nvPr/>
        </p:nvCxnSpPr>
        <p:spPr>
          <a:xfrm>
            <a:off x="2984500" y="2705100"/>
            <a:ext cx="4572000" cy="0"/>
          </a:xfrm>
          <a:prstGeom prst="line">
            <a:avLst/>
          </a:prstGeom>
          <a:ln w="3810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gap-2"/>
          <p:cNvCxnSpPr/>
          <p:nvPr/>
        </p:nvCxnSpPr>
        <p:spPr>
          <a:xfrm>
            <a:off x="5153269" y="2705100"/>
            <a:ext cx="1641231" cy="0"/>
          </a:xfrm>
          <a:prstGeom prst="line">
            <a:avLst/>
          </a:prstGeom>
          <a:ln w="38100" cap="rnd">
            <a:solidFill>
              <a:srgbClr val="E0703A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avg-2"/>
          <p:cNvSpPr/>
          <p:nvPr/>
        </p:nvSpPr>
        <p:spPr>
          <a:xfrm>
            <a:off x="3670300" y="2628900"/>
            <a:ext cx="152400" cy="152400"/>
          </a:xfrm>
          <a:custGeom>
            <a:avLst/>
            <a:gdLst/>
            <a:ahLst/>
            <a:cxnLst/>
            <a:rect l="0" t="0" r="r" b="b"/>
            <a:pathLst>
              <a:path w="152400" h="152400">
                <a:moveTo>
                  <a:pt x="76200" y="0"/>
                </a:moveTo>
                <a:lnTo>
                  <a:pt x="152400" y="76200"/>
                </a:lnTo>
                <a:lnTo>
                  <a:pt x="76200" y="152400"/>
                </a:lnTo>
                <a:lnTo>
                  <a:pt x="0" y="76200"/>
                </a:lnTo>
                <a:close/>
              </a:path>
            </a:pathLst>
          </a:custGeom>
          <a:solidFill>
            <a:srgbClr val="9DB2CC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avgv-2"/>
          <p:cNvSpPr txBox="1"/>
          <p:nvPr/>
        </p:nvSpPr>
        <p:spPr>
          <a:xfrm>
            <a:off x="3656711" y="282390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32</a:t>
            </a:r>
          </a:p>
        </p:txBody>
      </p:sp>
      <p:cxnSp>
        <p:nvCxnSpPr>
          <p:cNvPr id="31" name="bp-2"/>
          <p:cNvCxnSpPr/>
          <p:nvPr/>
        </p:nvCxnSpPr>
        <p:spPr>
          <a:xfrm flipV="1">
            <a:off x="6794500" y="2514600"/>
            <a:ext cx="0" cy="266700"/>
          </a:xfrm>
          <a:prstGeom prst="line">
            <a:avLst/>
          </a:prstGeom>
          <a:ln w="15240" cap="rnd">
            <a:solidFill>
              <a:srgbClr val="E0703A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bf-2"/>
          <p:cNvSpPr/>
          <p:nvPr/>
        </p:nvSpPr>
        <p:spPr>
          <a:xfrm>
            <a:off x="6794500" y="2514600"/>
            <a:ext cx="139700" cy="88900"/>
          </a:xfrm>
          <a:custGeom>
            <a:avLst/>
            <a:gdLst/>
            <a:ahLst/>
            <a:cxnLst/>
            <a:rect l="0" t="0" r="r" b="b"/>
            <a:pathLst>
              <a:path w="139700" h="88900">
                <a:moveTo>
                  <a:pt x="0" y="0"/>
                </a:moveTo>
                <a:lnTo>
                  <a:pt x="139700" y="38100"/>
                </a:lnTo>
                <a:lnTo>
                  <a:pt x="0" y="88900"/>
                </a:ln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bv-2"/>
          <p:cNvSpPr txBox="1"/>
          <p:nvPr/>
        </p:nvSpPr>
        <p:spPr>
          <a:xfrm>
            <a:off x="6948170" y="248586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45</a:t>
            </a:r>
          </a:p>
        </p:txBody>
      </p:sp>
      <p:sp>
        <p:nvSpPr>
          <p:cNvPr id="34" name="me-2"/>
          <p:cNvSpPr/>
          <p:nvPr/>
        </p:nvSpPr>
        <p:spPr>
          <a:xfrm>
            <a:off x="5064369" y="2616200"/>
            <a:ext cx="177800" cy="177800"/>
          </a:xfrm>
          <a:prstGeom prst="ellipse">
            <a:avLst/>
          </a:prstGeom>
          <a:solidFill>
            <a:srgbClr val="0B3E8F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mev-2"/>
          <p:cNvSpPr txBox="1"/>
          <p:nvPr/>
        </p:nvSpPr>
        <p:spPr>
          <a:xfrm>
            <a:off x="5037826" y="241154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38</a:t>
            </a:r>
          </a:p>
        </p:txBody>
      </p:sp>
      <p:sp>
        <p:nvSpPr>
          <p:cNvPr id="36" name="g-2"/>
          <p:cNvSpPr txBox="1"/>
          <p:nvPr/>
        </p:nvSpPr>
        <p:spPr>
          <a:xfrm>
            <a:off x="7757541" y="2622582"/>
            <a:ext cx="44691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差 16%</a:t>
            </a:r>
          </a:p>
        </p:txBody>
      </p:sp>
      <p:sp>
        <p:nvSpPr>
          <p:cNvPr id="37" name="band-3"/>
          <p:cNvSpPr/>
          <p:nvPr/>
        </p:nvSpPr>
        <p:spPr>
          <a:xfrm>
            <a:off x="889000" y="3060700"/>
            <a:ext cx="10350500" cy="558800"/>
          </a:xfrm>
          <a:custGeom>
            <a:avLst/>
            <a:gdLst/>
            <a:ahLst/>
            <a:cxnLst/>
            <a:rect l="0" t="0" r="r" b="b"/>
            <a:pathLst>
              <a:path w="10350500" h="558800">
                <a:moveTo>
                  <a:pt x="101600" y="0"/>
                </a:moveTo>
                <a:lnTo>
                  <a:pt x="10248900" y="0"/>
                </a:lnTo>
                <a:cubicBezTo>
                  <a:pt x="10305034" y="0"/>
                  <a:pt x="10350500" y="45466"/>
                  <a:pt x="10350500" y="101600"/>
                </a:cubicBezTo>
                <a:lnTo>
                  <a:pt x="10350500" y="457200"/>
                </a:lnTo>
                <a:cubicBezTo>
                  <a:pt x="10350500" y="513334"/>
                  <a:pt x="10305034" y="558800"/>
                  <a:pt x="10248900" y="558800"/>
                </a:cubicBezTo>
                <a:lnTo>
                  <a:pt x="101600" y="558800"/>
                </a:lnTo>
                <a:cubicBezTo>
                  <a:pt x="45466" y="558800"/>
                  <a:pt x="0" y="513334"/>
                  <a:pt x="0" y="457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1F6FC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n-3"/>
          <p:cNvSpPr txBox="1"/>
          <p:nvPr/>
        </p:nvSpPr>
        <p:spPr>
          <a:xfrm>
            <a:off x="999998" y="3162713"/>
            <a:ext cx="742569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 NPS</a:t>
            </a:r>
          </a:p>
        </p:txBody>
      </p:sp>
      <p:sp>
        <p:nvSpPr>
          <p:cNvPr id="39" name="u-3"/>
          <p:cNvSpPr txBox="1"/>
          <p:nvPr/>
        </p:nvSpPr>
        <p:spPr>
          <a:xfrm>
            <a:off x="1005332" y="3382708"/>
            <a:ext cx="6992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分 · 越高越好</a:t>
            </a:r>
          </a:p>
        </p:txBody>
      </p:sp>
      <p:cxnSp>
        <p:nvCxnSpPr>
          <p:cNvPr id="40" name="trk-3"/>
          <p:cNvCxnSpPr/>
          <p:nvPr/>
        </p:nvCxnSpPr>
        <p:spPr>
          <a:xfrm>
            <a:off x="2984500" y="3314700"/>
            <a:ext cx="4572000" cy="0"/>
          </a:xfrm>
          <a:prstGeom prst="line">
            <a:avLst/>
          </a:prstGeom>
          <a:ln w="3810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gap-3"/>
          <p:cNvCxnSpPr/>
          <p:nvPr/>
        </p:nvCxnSpPr>
        <p:spPr>
          <a:xfrm>
            <a:off x="5270500" y="3314700"/>
            <a:ext cx="1524000" cy="0"/>
          </a:xfrm>
          <a:prstGeom prst="line">
            <a:avLst/>
          </a:prstGeom>
          <a:ln w="38100" cap="rnd">
            <a:solidFill>
              <a:srgbClr val="E0703A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avg-3"/>
          <p:cNvSpPr/>
          <p:nvPr/>
        </p:nvSpPr>
        <p:spPr>
          <a:xfrm>
            <a:off x="3670300" y="3238500"/>
            <a:ext cx="152400" cy="152400"/>
          </a:xfrm>
          <a:custGeom>
            <a:avLst/>
            <a:gdLst/>
            <a:ahLst/>
            <a:cxnLst/>
            <a:rect l="0" t="0" r="r" b="b"/>
            <a:pathLst>
              <a:path w="152400" h="152400">
                <a:moveTo>
                  <a:pt x="76200" y="0"/>
                </a:moveTo>
                <a:lnTo>
                  <a:pt x="152400" y="76200"/>
                </a:lnTo>
                <a:lnTo>
                  <a:pt x="76200" y="152400"/>
                </a:lnTo>
                <a:lnTo>
                  <a:pt x="0" y="76200"/>
                </a:lnTo>
                <a:close/>
              </a:path>
            </a:pathLst>
          </a:custGeom>
          <a:solidFill>
            <a:srgbClr val="9DB2CC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avgv-3"/>
          <p:cNvSpPr txBox="1"/>
          <p:nvPr/>
        </p:nvSpPr>
        <p:spPr>
          <a:xfrm>
            <a:off x="3656711" y="343350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30</a:t>
            </a:r>
          </a:p>
        </p:txBody>
      </p:sp>
      <p:cxnSp>
        <p:nvCxnSpPr>
          <p:cNvPr id="44" name="bp-3"/>
          <p:cNvCxnSpPr/>
          <p:nvPr/>
        </p:nvCxnSpPr>
        <p:spPr>
          <a:xfrm flipV="1">
            <a:off x="6794500" y="3124200"/>
            <a:ext cx="0" cy="266700"/>
          </a:xfrm>
          <a:prstGeom prst="line">
            <a:avLst/>
          </a:prstGeom>
          <a:ln w="15240" cap="rnd">
            <a:solidFill>
              <a:srgbClr val="E0703A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bf-3"/>
          <p:cNvSpPr/>
          <p:nvPr/>
        </p:nvSpPr>
        <p:spPr>
          <a:xfrm>
            <a:off x="6794500" y="3124200"/>
            <a:ext cx="139700" cy="88900"/>
          </a:xfrm>
          <a:custGeom>
            <a:avLst/>
            <a:gdLst/>
            <a:ahLst/>
            <a:cxnLst/>
            <a:rect l="0" t="0" r="r" b="b"/>
            <a:pathLst>
              <a:path w="139700" h="88900">
                <a:moveTo>
                  <a:pt x="0" y="0"/>
                </a:moveTo>
                <a:lnTo>
                  <a:pt x="139700" y="38100"/>
                </a:lnTo>
                <a:lnTo>
                  <a:pt x="0" y="88900"/>
                </a:ln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bv-3"/>
          <p:cNvSpPr txBox="1"/>
          <p:nvPr/>
        </p:nvSpPr>
        <p:spPr>
          <a:xfrm>
            <a:off x="6948170" y="309546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62</a:t>
            </a:r>
          </a:p>
        </p:txBody>
      </p:sp>
      <p:sp>
        <p:nvSpPr>
          <p:cNvPr id="47" name="me-3"/>
          <p:cNvSpPr/>
          <p:nvPr/>
        </p:nvSpPr>
        <p:spPr>
          <a:xfrm>
            <a:off x="5181600" y="3225800"/>
            <a:ext cx="177800" cy="177800"/>
          </a:xfrm>
          <a:prstGeom prst="ellipse">
            <a:avLst/>
          </a:prstGeom>
          <a:solidFill>
            <a:srgbClr val="0B3E8F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mev-3"/>
          <p:cNvSpPr txBox="1"/>
          <p:nvPr/>
        </p:nvSpPr>
        <p:spPr>
          <a:xfrm>
            <a:off x="5155057" y="302114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46</a:t>
            </a:r>
          </a:p>
        </p:txBody>
      </p:sp>
      <p:sp>
        <p:nvSpPr>
          <p:cNvPr id="49" name="g-3"/>
          <p:cNvSpPr txBox="1"/>
          <p:nvPr/>
        </p:nvSpPr>
        <p:spPr>
          <a:xfrm>
            <a:off x="7757541" y="3232182"/>
            <a:ext cx="44691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差 26%</a:t>
            </a:r>
          </a:p>
        </p:txBody>
      </p:sp>
      <p:sp>
        <p:nvSpPr>
          <p:cNvPr id="50" name="n-4"/>
          <p:cNvSpPr txBox="1"/>
          <p:nvPr/>
        </p:nvSpPr>
        <p:spPr>
          <a:xfrm>
            <a:off x="999998" y="3772313"/>
            <a:ext cx="97726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研发投入占比</a:t>
            </a:r>
          </a:p>
        </p:txBody>
      </p:sp>
      <p:sp>
        <p:nvSpPr>
          <p:cNvPr id="51" name="u-4"/>
          <p:cNvSpPr txBox="1"/>
          <p:nvPr/>
        </p:nvSpPr>
        <p:spPr>
          <a:xfrm>
            <a:off x="1005332" y="3992308"/>
            <a:ext cx="6601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% · 越高越好</a:t>
            </a:r>
          </a:p>
        </p:txBody>
      </p:sp>
      <p:cxnSp>
        <p:nvCxnSpPr>
          <p:cNvPr id="52" name="trk-4"/>
          <p:cNvCxnSpPr/>
          <p:nvPr/>
        </p:nvCxnSpPr>
        <p:spPr>
          <a:xfrm>
            <a:off x="2984500" y="3924300"/>
            <a:ext cx="4572000" cy="0"/>
          </a:xfrm>
          <a:prstGeom prst="line">
            <a:avLst/>
          </a:prstGeom>
          <a:ln w="3810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gap-4"/>
          <p:cNvCxnSpPr/>
          <p:nvPr/>
        </p:nvCxnSpPr>
        <p:spPr>
          <a:xfrm>
            <a:off x="4955190" y="3924300"/>
            <a:ext cx="1839310" cy="0"/>
          </a:xfrm>
          <a:prstGeom prst="line">
            <a:avLst/>
          </a:prstGeom>
          <a:ln w="38100" cap="rnd">
            <a:solidFill>
              <a:srgbClr val="E0703A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avg-4"/>
          <p:cNvSpPr/>
          <p:nvPr/>
        </p:nvSpPr>
        <p:spPr>
          <a:xfrm>
            <a:off x="3670300" y="3848100"/>
            <a:ext cx="152400" cy="152400"/>
          </a:xfrm>
          <a:custGeom>
            <a:avLst/>
            <a:gdLst/>
            <a:ahLst/>
            <a:cxnLst/>
            <a:rect l="0" t="0" r="r" b="b"/>
            <a:pathLst>
              <a:path w="152400" h="152400">
                <a:moveTo>
                  <a:pt x="76200" y="0"/>
                </a:moveTo>
                <a:lnTo>
                  <a:pt x="152400" y="76200"/>
                </a:lnTo>
                <a:lnTo>
                  <a:pt x="76200" y="152400"/>
                </a:lnTo>
                <a:lnTo>
                  <a:pt x="0" y="76200"/>
                </a:lnTo>
                <a:close/>
              </a:path>
            </a:pathLst>
          </a:custGeom>
          <a:solidFill>
            <a:srgbClr val="9DB2CC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avgv-4"/>
          <p:cNvSpPr txBox="1"/>
          <p:nvPr/>
        </p:nvSpPr>
        <p:spPr>
          <a:xfrm>
            <a:off x="3631819" y="40431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6.2</a:t>
            </a:r>
          </a:p>
        </p:txBody>
      </p:sp>
      <p:cxnSp>
        <p:nvCxnSpPr>
          <p:cNvPr id="56" name="bp-4"/>
          <p:cNvCxnSpPr/>
          <p:nvPr/>
        </p:nvCxnSpPr>
        <p:spPr>
          <a:xfrm flipV="1">
            <a:off x="6794500" y="3733800"/>
            <a:ext cx="0" cy="266700"/>
          </a:xfrm>
          <a:prstGeom prst="line">
            <a:avLst/>
          </a:prstGeom>
          <a:ln w="15240" cap="rnd">
            <a:solidFill>
              <a:srgbClr val="E0703A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7" name="bf-4"/>
          <p:cNvSpPr/>
          <p:nvPr/>
        </p:nvSpPr>
        <p:spPr>
          <a:xfrm>
            <a:off x="6794500" y="3733800"/>
            <a:ext cx="139700" cy="88900"/>
          </a:xfrm>
          <a:custGeom>
            <a:avLst/>
            <a:gdLst/>
            <a:ahLst/>
            <a:cxnLst/>
            <a:rect l="0" t="0" r="r" b="b"/>
            <a:pathLst>
              <a:path w="139700" h="88900">
                <a:moveTo>
                  <a:pt x="0" y="0"/>
                </a:moveTo>
                <a:lnTo>
                  <a:pt x="139700" y="38100"/>
                </a:lnTo>
                <a:lnTo>
                  <a:pt x="0" y="88900"/>
                </a:ln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bv-4"/>
          <p:cNvSpPr txBox="1"/>
          <p:nvPr/>
        </p:nvSpPr>
        <p:spPr>
          <a:xfrm>
            <a:off x="6948170" y="370506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12</a:t>
            </a:r>
          </a:p>
        </p:txBody>
      </p:sp>
      <p:sp>
        <p:nvSpPr>
          <p:cNvPr id="59" name="me-4"/>
          <p:cNvSpPr/>
          <p:nvPr/>
        </p:nvSpPr>
        <p:spPr>
          <a:xfrm>
            <a:off x="4866290" y="3835400"/>
            <a:ext cx="177800" cy="177800"/>
          </a:xfrm>
          <a:prstGeom prst="ellipse">
            <a:avLst/>
          </a:prstGeom>
          <a:solidFill>
            <a:srgbClr val="0B3E8F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mev-4"/>
          <p:cNvSpPr txBox="1"/>
          <p:nvPr/>
        </p:nvSpPr>
        <p:spPr>
          <a:xfrm>
            <a:off x="4807743" y="3630740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8.5</a:t>
            </a:r>
          </a:p>
        </p:txBody>
      </p:sp>
      <p:sp>
        <p:nvSpPr>
          <p:cNvPr id="61" name="g-4"/>
          <p:cNvSpPr txBox="1"/>
          <p:nvPr/>
        </p:nvSpPr>
        <p:spPr>
          <a:xfrm>
            <a:off x="7757541" y="3841782"/>
            <a:ext cx="44691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差 29%</a:t>
            </a:r>
          </a:p>
        </p:txBody>
      </p:sp>
      <p:sp>
        <p:nvSpPr>
          <p:cNvPr id="62" name="band-5"/>
          <p:cNvSpPr/>
          <p:nvPr/>
        </p:nvSpPr>
        <p:spPr>
          <a:xfrm>
            <a:off x="889000" y="4279900"/>
            <a:ext cx="10350500" cy="558800"/>
          </a:xfrm>
          <a:custGeom>
            <a:avLst/>
            <a:gdLst/>
            <a:ahLst/>
            <a:cxnLst/>
            <a:rect l="0" t="0" r="r" b="b"/>
            <a:pathLst>
              <a:path w="10350500" h="558800">
                <a:moveTo>
                  <a:pt x="101600" y="0"/>
                </a:moveTo>
                <a:lnTo>
                  <a:pt x="10248900" y="0"/>
                </a:lnTo>
                <a:cubicBezTo>
                  <a:pt x="10305034" y="0"/>
                  <a:pt x="10350500" y="45466"/>
                  <a:pt x="10350500" y="101600"/>
                </a:cubicBezTo>
                <a:lnTo>
                  <a:pt x="10350500" y="457200"/>
                </a:lnTo>
                <a:cubicBezTo>
                  <a:pt x="10350500" y="513334"/>
                  <a:pt x="10305034" y="558800"/>
                  <a:pt x="10248900" y="558800"/>
                </a:cubicBezTo>
                <a:lnTo>
                  <a:pt x="101600" y="558800"/>
                </a:lnTo>
                <a:cubicBezTo>
                  <a:pt x="45466" y="558800"/>
                  <a:pt x="0" y="513334"/>
                  <a:pt x="0" y="457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1F6FC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n-5"/>
          <p:cNvSpPr txBox="1"/>
          <p:nvPr/>
        </p:nvSpPr>
        <p:spPr>
          <a:xfrm>
            <a:off x="999998" y="43819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库存周转</a:t>
            </a:r>
          </a:p>
        </p:txBody>
      </p:sp>
      <p:sp>
        <p:nvSpPr>
          <p:cNvPr id="64" name="u-5"/>
          <p:cNvSpPr txBox="1"/>
          <p:nvPr/>
        </p:nvSpPr>
        <p:spPr>
          <a:xfrm>
            <a:off x="1005332" y="4601908"/>
            <a:ext cx="6992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天 · 越低越好</a:t>
            </a:r>
          </a:p>
        </p:txBody>
      </p:sp>
      <p:cxnSp>
        <p:nvCxnSpPr>
          <p:cNvPr id="65" name="trk-5"/>
          <p:cNvCxnSpPr/>
          <p:nvPr/>
        </p:nvCxnSpPr>
        <p:spPr>
          <a:xfrm>
            <a:off x="2984500" y="4533900"/>
            <a:ext cx="4572000" cy="0"/>
          </a:xfrm>
          <a:prstGeom prst="line">
            <a:avLst/>
          </a:prstGeom>
          <a:ln w="3810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gap-5"/>
          <p:cNvCxnSpPr/>
          <p:nvPr/>
        </p:nvCxnSpPr>
        <p:spPr>
          <a:xfrm>
            <a:off x="5214056" y="4533900"/>
            <a:ext cx="1580444" cy="0"/>
          </a:xfrm>
          <a:prstGeom prst="line">
            <a:avLst/>
          </a:prstGeom>
          <a:ln w="38100" cap="rnd">
            <a:solidFill>
              <a:srgbClr val="E0703A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7" name="avg-5"/>
          <p:cNvSpPr/>
          <p:nvPr/>
        </p:nvSpPr>
        <p:spPr>
          <a:xfrm>
            <a:off x="3670300" y="4457700"/>
            <a:ext cx="152400" cy="152400"/>
          </a:xfrm>
          <a:custGeom>
            <a:avLst/>
            <a:gdLst/>
            <a:ahLst/>
            <a:cxnLst/>
            <a:rect l="0" t="0" r="r" b="b"/>
            <a:pathLst>
              <a:path w="152400" h="152400">
                <a:moveTo>
                  <a:pt x="76200" y="0"/>
                </a:moveTo>
                <a:lnTo>
                  <a:pt x="152400" y="76200"/>
                </a:lnTo>
                <a:lnTo>
                  <a:pt x="76200" y="152400"/>
                </a:lnTo>
                <a:lnTo>
                  <a:pt x="0" y="76200"/>
                </a:lnTo>
                <a:close/>
              </a:path>
            </a:pathLst>
          </a:custGeom>
          <a:solidFill>
            <a:srgbClr val="9DB2CC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avgv-5"/>
          <p:cNvSpPr txBox="1"/>
          <p:nvPr/>
        </p:nvSpPr>
        <p:spPr>
          <a:xfrm>
            <a:off x="3656711" y="465270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55</a:t>
            </a:r>
          </a:p>
        </p:txBody>
      </p:sp>
      <p:cxnSp>
        <p:nvCxnSpPr>
          <p:cNvPr id="69" name="bp-5"/>
          <p:cNvCxnSpPr/>
          <p:nvPr/>
        </p:nvCxnSpPr>
        <p:spPr>
          <a:xfrm flipV="1">
            <a:off x="6794500" y="4343400"/>
            <a:ext cx="0" cy="266700"/>
          </a:xfrm>
          <a:prstGeom prst="line">
            <a:avLst/>
          </a:prstGeom>
          <a:ln w="15240" cap="rnd">
            <a:solidFill>
              <a:srgbClr val="E0703A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bf-5"/>
          <p:cNvSpPr/>
          <p:nvPr/>
        </p:nvSpPr>
        <p:spPr>
          <a:xfrm>
            <a:off x="6794500" y="4343400"/>
            <a:ext cx="139700" cy="88900"/>
          </a:xfrm>
          <a:custGeom>
            <a:avLst/>
            <a:gdLst/>
            <a:ahLst/>
            <a:cxnLst/>
            <a:rect l="0" t="0" r="r" b="b"/>
            <a:pathLst>
              <a:path w="139700" h="88900">
                <a:moveTo>
                  <a:pt x="0" y="0"/>
                </a:moveTo>
                <a:lnTo>
                  <a:pt x="139700" y="38100"/>
                </a:lnTo>
                <a:lnTo>
                  <a:pt x="0" y="88900"/>
                </a:ln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bv-5"/>
          <p:cNvSpPr txBox="1"/>
          <p:nvPr/>
        </p:nvSpPr>
        <p:spPr>
          <a:xfrm>
            <a:off x="6948170" y="431466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28</a:t>
            </a:r>
          </a:p>
        </p:txBody>
      </p:sp>
      <p:sp>
        <p:nvSpPr>
          <p:cNvPr id="72" name="me-5"/>
          <p:cNvSpPr/>
          <p:nvPr/>
        </p:nvSpPr>
        <p:spPr>
          <a:xfrm>
            <a:off x="5125156" y="4445000"/>
            <a:ext cx="177800" cy="177800"/>
          </a:xfrm>
          <a:prstGeom prst="ellipse">
            <a:avLst/>
          </a:prstGeom>
          <a:solidFill>
            <a:srgbClr val="0B3E8F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mev-5"/>
          <p:cNvSpPr txBox="1"/>
          <p:nvPr/>
        </p:nvSpPr>
        <p:spPr>
          <a:xfrm>
            <a:off x="5098613" y="424034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42</a:t>
            </a:r>
          </a:p>
        </p:txBody>
      </p:sp>
      <p:sp>
        <p:nvSpPr>
          <p:cNvPr id="74" name="g-5"/>
          <p:cNvSpPr txBox="1"/>
          <p:nvPr/>
        </p:nvSpPr>
        <p:spPr>
          <a:xfrm>
            <a:off x="7757541" y="4451382"/>
            <a:ext cx="44691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差 50%</a:t>
            </a:r>
          </a:p>
        </p:txBody>
      </p:sp>
      <p:sp>
        <p:nvSpPr>
          <p:cNvPr id="75" name="n-6"/>
          <p:cNvSpPr txBox="1"/>
          <p:nvPr/>
        </p:nvSpPr>
        <p:spPr>
          <a:xfrm>
            <a:off x="999998" y="4991513"/>
            <a:ext cx="97726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订单交付周期</a:t>
            </a:r>
          </a:p>
        </p:txBody>
      </p:sp>
      <p:sp>
        <p:nvSpPr>
          <p:cNvPr id="76" name="u-6"/>
          <p:cNvSpPr txBox="1"/>
          <p:nvPr/>
        </p:nvSpPr>
        <p:spPr>
          <a:xfrm>
            <a:off x="1005332" y="5211508"/>
            <a:ext cx="6992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天 · 越低越好</a:t>
            </a:r>
          </a:p>
        </p:txBody>
      </p:sp>
      <p:cxnSp>
        <p:nvCxnSpPr>
          <p:cNvPr id="77" name="trk-6"/>
          <p:cNvCxnSpPr/>
          <p:nvPr/>
        </p:nvCxnSpPr>
        <p:spPr>
          <a:xfrm>
            <a:off x="2984500" y="5143500"/>
            <a:ext cx="4572000" cy="0"/>
          </a:xfrm>
          <a:prstGeom prst="line">
            <a:avLst/>
          </a:prstGeom>
          <a:ln w="3810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gap-6"/>
          <p:cNvCxnSpPr/>
          <p:nvPr/>
        </p:nvCxnSpPr>
        <p:spPr>
          <a:xfrm>
            <a:off x="4889500" y="5143500"/>
            <a:ext cx="1905000" cy="0"/>
          </a:xfrm>
          <a:prstGeom prst="line">
            <a:avLst/>
          </a:prstGeom>
          <a:ln w="38100" cap="rnd">
            <a:solidFill>
              <a:srgbClr val="E0703A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avg-6"/>
          <p:cNvSpPr/>
          <p:nvPr/>
        </p:nvSpPr>
        <p:spPr>
          <a:xfrm>
            <a:off x="3670300" y="5067300"/>
            <a:ext cx="152400" cy="152400"/>
          </a:xfrm>
          <a:custGeom>
            <a:avLst/>
            <a:gdLst/>
            <a:ahLst/>
            <a:cxnLst/>
            <a:rect l="0" t="0" r="r" b="b"/>
            <a:pathLst>
              <a:path w="152400" h="152400">
                <a:moveTo>
                  <a:pt x="76200" y="0"/>
                </a:moveTo>
                <a:lnTo>
                  <a:pt x="152400" y="76200"/>
                </a:lnTo>
                <a:lnTo>
                  <a:pt x="76200" y="152400"/>
                </a:lnTo>
                <a:lnTo>
                  <a:pt x="0" y="76200"/>
                </a:lnTo>
                <a:close/>
              </a:path>
            </a:pathLst>
          </a:custGeom>
          <a:solidFill>
            <a:srgbClr val="9DB2CC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avgv-6"/>
          <p:cNvSpPr txBox="1"/>
          <p:nvPr/>
        </p:nvSpPr>
        <p:spPr>
          <a:xfrm>
            <a:off x="3656711" y="526230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15</a:t>
            </a:r>
          </a:p>
        </p:txBody>
      </p:sp>
      <p:cxnSp>
        <p:nvCxnSpPr>
          <p:cNvPr id="81" name="bp-6"/>
          <p:cNvCxnSpPr/>
          <p:nvPr/>
        </p:nvCxnSpPr>
        <p:spPr>
          <a:xfrm flipV="1">
            <a:off x="6794500" y="4953000"/>
            <a:ext cx="0" cy="266700"/>
          </a:xfrm>
          <a:prstGeom prst="line">
            <a:avLst/>
          </a:prstGeom>
          <a:ln w="15240" cap="rnd">
            <a:solidFill>
              <a:srgbClr val="E0703A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bf-6"/>
          <p:cNvSpPr/>
          <p:nvPr/>
        </p:nvSpPr>
        <p:spPr>
          <a:xfrm>
            <a:off x="6794500" y="4953000"/>
            <a:ext cx="139700" cy="88900"/>
          </a:xfrm>
          <a:custGeom>
            <a:avLst/>
            <a:gdLst/>
            <a:ahLst/>
            <a:cxnLst/>
            <a:rect l="0" t="0" r="r" b="b"/>
            <a:pathLst>
              <a:path w="139700" h="88900">
                <a:moveTo>
                  <a:pt x="0" y="0"/>
                </a:moveTo>
                <a:lnTo>
                  <a:pt x="139700" y="38100"/>
                </a:lnTo>
                <a:lnTo>
                  <a:pt x="0" y="88900"/>
                </a:ln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bv-6"/>
          <p:cNvSpPr txBox="1"/>
          <p:nvPr/>
        </p:nvSpPr>
        <p:spPr>
          <a:xfrm>
            <a:off x="6948170" y="492426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7</a:t>
            </a:r>
          </a:p>
        </p:txBody>
      </p:sp>
      <p:sp>
        <p:nvSpPr>
          <p:cNvPr id="84" name="me-6"/>
          <p:cNvSpPr/>
          <p:nvPr/>
        </p:nvSpPr>
        <p:spPr>
          <a:xfrm>
            <a:off x="4800600" y="5054600"/>
            <a:ext cx="177800" cy="177800"/>
          </a:xfrm>
          <a:prstGeom prst="ellipse">
            <a:avLst/>
          </a:prstGeom>
          <a:solidFill>
            <a:srgbClr val="0B3E8F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mev-6"/>
          <p:cNvSpPr txBox="1"/>
          <p:nvPr/>
        </p:nvSpPr>
        <p:spPr>
          <a:xfrm>
            <a:off x="4774057" y="484994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12</a:t>
            </a:r>
          </a:p>
        </p:txBody>
      </p:sp>
      <p:sp>
        <p:nvSpPr>
          <p:cNvPr id="86" name="g-6"/>
          <p:cNvSpPr txBox="1"/>
          <p:nvPr/>
        </p:nvSpPr>
        <p:spPr>
          <a:xfrm>
            <a:off x="7757541" y="5060982"/>
            <a:ext cx="44691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差 71%</a:t>
            </a:r>
          </a:p>
        </p:txBody>
      </p:sp>
      <p:sp>
        <p:nvSpPr>
          <p:cNvPr id="87" name="kpi"/>
          <p:cNvSpPr/>
          <p:nvPr/>
        </p:nvSpPr>
        <p:spPr>
          <a:xfrm>
            <a:off x="8445500" y="1651000"/>
            <a:ext cx="2794000" cy="1587500"/>
          </a:xfrm>
          <a:custGeom>
            <a:avLst/>
            <a:gdLst/>
            <a:ahLst/>
            <a:cxnLst/>
            <a:rect l="0" t="0" r="r" b="b"/>
            <a:pathLst>
              <a:path w="2794000" h="1587500">
                <a:moveTo>
                  <a:pt x="139700" y="0"/>
                </a:moveTo>
                <a:lnTo>
                  <a:pt x="2654300" y="0"/>
                </a:lnTo>
                <a:cubicBezTo>
                  <a:pt x="2731453" y="0"/>
                  <a:pt x="2794000" y="62548"/>
                  <a:pt x="2794000" y="139700"/>
                </a:cubicBezTo>
                <a:lnTo>
                  <a:pt x="2794000" y="1447800"/>
                </a:lnTo>
                <a:cubicBezTo>
                  <a:pt x="2794000" y="1524952"/>
                  <a:pt x="2731453" y="1587500"/>
                  <a:pt x="2654300" y="1587500"/>
                </a:cubicBezTo>
                <a:lnTo>
                  <a:pt x="139700" y="1587500"/>
                </a:lnTo>
                <a:cubicBezTo>
                  <a:pt x="62547" y="1587500"/>
                  <a:pt x="0" y="1524952"/>
                  <a:pt x="0" y="14478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kpi-h"/>
          <p:cNvSpPr txBox="1"/>
          <p:nvPr/>
        </p:nvSpPr>
        <p:spPr>
          <a:xfrm>
            <a:off x="8622284" y="1801940"/>
            <a:ext cx="13093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六项全部高于行业平均</a:t>
            </a:r>
          </a:p>
        </p:txBody>
      </p:sp>
      <p:sp>
        <p:nvSpPr>
          <p:cNvPr id="89" name="kpi-v"/>
          <p:cNvSpPr txBox="1"/>
          <p:nvPr/>
        </p:nvSpPr>
        <p:spPr>
          <a:xfrm>
            <a:off x="8590280" y="2018665"/>
            <a:ext cx="1409700" cy="6667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0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6 / 6</a:t>
            </a:r>
          </a:p>
        </p:txBody>
      </p:sp>
      <p:sp>
        <p:nvSpPr>
          <p:cNvPr id="90" name="kpi-p"/>
          <p:cNvSpPr txBox="1"/>
          <p:nvPr/>
        </p:nvSpPr>
        <p:spPr>
          <a:xfrm>
            <a:off x="8623808" y="2668524"/>
            <a:ext cx="14747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但与标杆的平均差距仍有 37%</a:t>
            </a:r>
          </a:p>
        </p:txBody>
      </p:sp>
      <p:sp>
        <p:nvSpPr>
          <p:cNvPr id="91" name="kpi-n"/>
          <p:cNvSpPr txBox="1"/>
          <p:nvPr/>
        </p:nvSpPr>
        <p:spPr>
          <a:xfrm>
            <a:off x="8625332" y="2874708"/>
            <a:ext cx="13247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9DB9DD"/>
                </a:solidFill>
                <a:latin typeface="微软雅黑"/>
                <a:ea typeface="微软雅黑"/>
                <a:cs typeface="微软雅黑"/>
              </a:rPr>
              <a:t>（差距 = 与标杆值的相对差）</a:t>
            </a:r>
          </a:p>
        </p:txBody>
      </p:sp>
      <p:sp>
        <p:nvSpPr>
          <p:cNvPr id="92" name="w-h"/>
          <p:cNvSpPr txBox="1"/>
          <p:nvPr/>
        </p:nvSpPr>
        <p:spPr>
          <a:xfrm>
            <a:off x="8431022" y="3406997"/>
            <a:ext cx="1019810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差距最大的三项</a:t>
            </a:r>
          </a:p>
        </p:txBody>
      </p:sp>
      <p:sp>
        <p:nvSpPr>
          <p:cNvPr id="93" name="w-1"/>
          <p:cNvSpPr/>
          <p:nvPr/>
        </p:nvSpPr>
        <p:spPr>
          <a:xfrm>
            <a:off x="8445500" y="3810000"/>
            <a:ext cx="2794000" cy="355600"/>
          </a:xfrm>
          <a:custGeom>
            <a:avLst/>
            <a:gdLst/>
            <a:ahLst/>
            <a:cxnLst/>
            <a:rect l="0" t="0" r="r" b="b"/>
            <a:pathLst>
              <a:path w="2794000" h="355600">
                <a:moveTo>
                  <a:pt x="88900" y="0"/>
                </a:moveTo>
                <a:lnTo>
                  <a:pt x="2705100" y="0"/>
                </a:lnTo>
                <a:cubicBezTo>
                  <a:pt x="2754186" y="0"/>
                  <a:pt x="2794000" y="39814"/>
                  <a:pt x="2794000" y="88900"/>
                </a:cubicBezTo>
                <a:lnTo>
                  <a:pt x="2794000" y="266700"/>
                </a:lnTo>
                <a:cubicBezTo>
                  <a:pt x="2794000" y="315786"/>
                  <a:pt x="2754186" y="355600"/>
                  <a:pt x="2705100" y="355600"/>
                </a:cubicBezTo>
                <a:lnTo>
                  <a:pt x="88900" y="355600"/>
                </a:lnTo>
                <a:cubicBezTo>
                  <a:pt x="39814" y="355600"/>
                  <a:pt x="0" y="315786"/>
                  <a:pt x="0" y="2667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wn-1"/>
          <p:cNvSpPr txBox="1"/>
          <p:nvPr/>
        </p:nvSpPr>
        <p:spPr>
          <a:xfrm>
            <a:off x="8584946" y="3905282"/>
            <a:ext cx="95478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1. 订单交付周期</a:t>
            </a:r>
          </a:p>
        </p:txBody>
      </p:sp>
      <p:sp>
        <p:nvSpPr>
          <p:cNvPr id="95" name="wv-1"/>
          <p:cNvSpPr txBox="1"/>
          <p:nvPr/>
        </p:nvSpPr>
        <p:spPr>
          <a:xfrm>
            <a:off x="10627614" y="3903790"/>
            <a:ext cx="47320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差 71%</a:t>
            </a:r>
          </a:p>
        </p:txBody>
      </p:sp>
      <p:sp>
        <p:nvSpPr>
          <p:cNvPr id="96" name="w-2"/>
          <p:cNvSpPr/>
          <p:nvPr/>
        </p:nvSpPr>
        <p:spPr>
          <a:xfrm>
            <a:off x="8445500" y="4254500"/>
            <a:ext cx="2794000" cy="355600"/>
          </a:xfrm>
          <a:custGeom>
            <a:avLst/>
            <a:gdLst/>
            <a:ahLst/>
            <a:cxnLst/>
            <a:rect l="0" t="0" r="r" b="b"/>
            <a:pathLst>
              <a:path w="2794000" h="355600">
                <a:moveTo>
                  <a:pt x="88900" y="0"/>
                </a:moveTo>
                <a:lnTo>
                  <a:pt x="2705100" y="0"/>
                </a:lnTo>
                <a:cubicBezTo>
                  <a:pt x="2754186" y="0"/>
                  <a:pt x="2794000" y="39814"/>
                  <a:pt x="2794000" y="88900"/>
                </a:cubicBezTo>
                <a:lnTo>
                  <a:pt x="2794000" y="266700"/>
                </a:lnTo>
                <a:cubicBezTo>
                  <a:pt x="2794000" y="315786"/>
                  <a:pt x="2754186" y="355600"/>
                  <a:pt x="2705100" y="355600"/>
                </a:cubicBezTo>
                <a:lnTo>
                  <a:pt x="88900" y="355600"/>
                </a:lnTo>
                <a:cubicBezTo>
                  <a:pt x="39814" y="355600"/>
                  <a:pt x="0" y="315786"/>
                  <a:pt x="0" y="2667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wn-2"/>
          <p:cNvSpPr txBox="1"/>
          <p:nvPr/>
        </p:nvSpPr>
        <p:spPr>
          <a:xfrm>
            <a:off x="8584946" y="4349782"/>
            <a:ext cx="73253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2. 库存周转</a:t>
            </a:r>
          </a:p>
        </p:txBody>
      </p:sp>
      <p:sp>
        <p:nvSpPr>
          <p:cNvPr id="98" name="wv-2"/>
          <p:cNvSpPr txBox="1"/>
          <p:nvPr/>
        </p:nvSpPr>
        <p:spPr>
          <a:xfrm>
            <a:off x="10627614" y="4348290"/>
            <a:ext cx="47320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差 50%</a:t>
            </a:r>
          </a:p>
        </p:txBody>
      </p:sp>
      <p:sp>
        <p:nvSpPr>
          <p:cNvPr id="99" name="w-3"/>
          <p:cNvSpPr/>
          <p:nvPr/>
        </p:nvSpPr>
        <p:spPr>
          <a:xfrm>
            <a:off x="8445500" y="4699000"/>
            <a:ext cx="2794000" cy="355600"/>
          </a:xfrm>
          <a:custGeom>
            <a:avLst/>
            <a:gdLst/>
            <a:ahLst/>
            <a:cxnLst/>
            <a:rect l="0" t="0" r="r" b="b"/>
            <a:pathLst>
              <a:path w="2794000" h="355600">
                <a:moveTo>
                  <a:pt x="88900" y="0"/>
                </a:moveTo>
                <a:lnTo>
                  <a:pt x="2705100" y="0"/>
                </a:lnTo>
                <a:cubicBezTo>
                  <a:pt x="2754186" y="0"/>
                  <a:pt x="2794000" y="39814"/>
                  <a:pt x="2794000" y="88900"/>
                </a:cubicBezTo>
                <a:lnTo>
                  <a:pt x="2794000" y="266700"/>
                </a:lnTo>
                <a:cubicBezTo>
                  <a:pt x="2794000" y="315786"/>
                  <a:pt x="2754186" y="355600"/>
                  <a:pt x="2705100" y="355600"/>
                </a:cubicBezTo>
                <a:lnTo>
                  <a:pt x="88900" y="355600"/>
                </a:lnTo>
                <a:cubicBezTo>
                  <a:pt x="39814" y="355600"/>
                  <a:pt x="0" y="315786"/>
                  <a:pt x="0" y="2667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wn-3"/>
          <p:cNvSpPr txBox="1"/>
          <p:nvPr/>
        </p:nvSpPr>
        <p:spPr>
          <a:xfrm>
            <a:off x="8584946" y="4794282"/>
            <a:ext cx="95478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3. 研发投入占比</a:t>
            </a:r>
          </a:p>
        </p:txBody>
      </p:sp>
      <p:sp>
        <p:nvSpPr>
          <p:cNvPr id="101" name="wv-3"/>
          <p:cNvSpPr txBox="1"/>
          <p:nvPr/>
        </p:nvSpPr>
        <p:spPr>
          <a:xfrm>
            <a:off x="10627614" y="4792790"/>
            <a:ext cx="47320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差 29%</a:t>
            </a:r>
          </a:p>
        </p:txBody>
      </p:sp>
      <p:sp>
        <p:nvSpPr>
          <p:cNvPr id="102" name="lg-me"/>
          <p:cNvSpPr/>
          <p:nvPr/>
        </p:nvSpPr>
        <p:spPr>
          <a:xfrm>
            <a:off x="965200" y="5588000"/>
            <a:ext cx="127000" cy="1270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lg-met"/>
          <p:cNvSpPr txBox="1"/>
          <p:nvPr/>
        </p:nvSpPr>
        <p:spPr>
          <a:xfrm>
            <a:off x="1131570" y="5571966"/>
            <a:ext cx="276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我方</a:t>
            </a:r>
          </a:p>
        </p:txBody>
      </p:sp>
      <p:sp>
        <p:nvSpPr>
          <p:cNvPr id="104" name="lg-avg"/>
          <p:cNvSpPr/>
          <p:nvPr/>
        </p:nvSpPr>
        <p:spPr>
          <a:xfrm>
            <a:off x="1600200" y="5588000"/>
            <a:ext cx="127000" cy="127000"/>
          </a:xfrm>
          <a:custGeom>
            <a:avLst/>
            <a:gdLst/>
            <a:ahLst/>
            <a:cxnLst/>
            <a:rect l="0" t="0" r="r" b="b"/>
            <a:pathLst>
              <a:path w="127000" h="127000">
                <a:moveTo>
                  <a:pt x="63500" y="0"/>
                </a:moveTo>
                <a:lnTo>
                  <a:pt x="127000" y="63500"/>
                </a:lnTo>
                <a:lnTo>
                  <a:pt x="63500" y="127000"/>
                </a:lnTo>
                <a:lnTo>
                  <a:pt x="0" y="63500"/>
                </a:lnTo>
                <a:close/>
              </a:path>
            </a:pathLst>
          </a:custGeom>
          <a:solidFill>
            <a:srgbClr val="9DB2C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lg-avgt"/>
          <p:cNvSpPr txBox="1"/>
          <p:nvPr/>
        </p:nvSpPr>
        <p:spPr>
          <a:xfrm>
            <a:off x="1779270" y="5571966"/>
            <a:ext cx="4667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行业平均</a:t>
            </a:r>
          </a:p>
        </p:txBody>
      </p:sp>
      <p:sp>
        <p:nvSpPr>
          <p:cNvPr id="106" name="lg-best"/>
          <p:cNvSpPr/>
          <p:nvPr/>
        </p:nvSpPr>
        <p:spPr>
          <a:xfrm>
            <a:off x="2425700" y="5562600"/>
            <a:ext cx="114300" cy="76200"/>
          </a:xfrm>
          <a:custGeom>
            <a:avLst/>
            <a:gdLst/>
            <a:ahLst/>
            <a:cxnLst/>
            <a:rect l="0" t="0" r="r" b="b"/>
            <a:pathLst>
              <a:path w="114300" h="76200">
                <a:moveTo>
                  <a:pt x="0" y="0"/>
                </a:moveTo>
                <a:lnTo>
                  <a:pt x="114300" y="31750"/>
                </a:lnTo>
                <a:lnTo>
                  <a:pt x="0" y="76200"/>
                </a:ln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7" name="lg-bestt"/>
          <p:cNvSpPr txBox="1"/>
          <p:nvPr/>
        </p:nvSpPr>
        <p:spPr>
          <a:xfrm>
            <a:off x="2579370" y="5571966"/>
            <a:ext cx="4667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行业标杆</a:t>
            </a:r>
          </a:p>
        </p:txBody>
      </p:sp>
      <p:sp>
        <p:nvSpPr>
          <p:cNvPr id="108" name="sum"/>
          <p:cNvSpPr/>
          <p:nvPr/>
        </p:nvSpPr>
        <p:spPr>
          <a:xfrm>
            <a:off x="952500" y="5854700"/>
            <a:ext cx="10287000" cy="419100"/>
          </a:xfrm>
          <a:custGeom>
            <a:avLst/>
            <a:gdLst/>
            <a:ahLst/>
            <a:cxnLst/>
            <a:rect l="0" t="0" r="r" b="b"/>
            <a:pathLst>
              <a:path w="10287000" h="4191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30200"/>
                </a:lnTo>
                <a:cubicBezTo>
                  <a:pt x="10287000" y="379286"/>
                  <a:pt x="10247186" y="419100"/>
                  <a:pt x="10198100" y="419100"/>
                </a:cubicBezTo>
                <a:lnTo>
                  <a:pt x="88900" y="419100"/>
                </a:lnTo>
                <a:cubicBezTo>
                  <a:pt x="39815" y="419100"/>
                  <a:pt x="0" y="379286"/>
                  <a:pt x="0" y="3302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sum-bar"/>
          <p:cNvSpPr/>
          <p:nvPr/>
        </p:nvSpPr>
        <p:spPr>
          <a:xfrm>
            <a:off x="952500" y="5854700"/>
            <a:ext cx="31750" cy="4191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0" name="sum-h"/>
          <p:cNvSpPr txBox="1"/>
          <p:nvPr/>
        </p:nvSpPr>
        <p:spPr>
          <a:xfrm>
            <a:off x="1142746" y="59880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追赶重点</a:t>
            </a:r>
          </a:p>
        </p:txBody>
      </p:sp>
      <p:sp>
        <p:nvSpPr>
          <p:cNvPr id="111" name="sum-p"/>
          <p:cNvSpPr txBox="1"/>
          <p:nvPr/>
        </p:nvSpPr>
        <p:spPr>
          <a:xfrm>
            <a:off x="1891665" y="5984161"/>
            <a:ext cx="445103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差距集中在运营效率：交付周期与库存周转明年各压缩 30%，财务指标差距随之收窄。</a:t>
            </a:r>
          </a:p>
        </p:txBody>
      </p:sp>
      <p:cxnSp>
        <p:nvCxnSpPr>
          <p:cNvPr id="112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3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对标分析 · 六项指标</a:t>
            </a:r>
          </a:p>
        </p:txBody>
      </p:sp>
      <p:sp>
        <p:nvSpPr>
          <p:cNvPr id="114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三档订阅方案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2637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PRICING TIERS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446389" y="673132"/>
            <a:ext cx="317436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按团队规模选择，年付享 8 折——超过七成客户选择了专业版</a:t>
            </a:r>
          </a:p>
        </p:txBody>
      </p:sp>
      <p:sp>
        <p:nvSpPr>
          <p:cNvPr id="10" name="card-1"/>
          <p:cNvSpPr/>
          <p:nvPr/>
        </p:nvSpPr>
        <p:spPr>
          <a:xfrm>
            <a:off x="952500" y="1587500"/>
            <a:ext cx="3321050" cy="4381500"/>
          </a:xfrm>
          <a:custGeom>
            <a:avLst/>
            <a:gdLst/>
            <a:ahLst/>
            <a:cxnLst/>
            <a:rect l="0" t="0" r="r" b="b"/>
            <a:pathLst>
              <a:path w="3321050" h="4381500">
                <a:moveTo>
                  <a:pt x="165100" y="0"/>
                </a:moveTo>
                <a:lnTo>
                  <a:pt x="3155950" y="0"/>
                </a:lnTo>
                <a:cubicBezTo>
                  <a:pt x="3247136" y="0"/>
                  <a:pt x="3321050" y="73914"/>
                  <a:pt x="3321050" y="165100"/>
                </a:cubicBezTo>
                <a:lnTo>
                  <a:pt x="3321050" y="4216400"/>
                </a:lnTo>
                <a:cubicBezTo>
                  <a:pt x="3321050" y="4307586"/>
                  <a:pt x="3247136" y="4381500"/>
                  <a:pt x="3155950" y="4381500"/>
                </a:cubicBezTo>
                <a:lnTo>
                  <a:pt x="165100" y="4381500"/>
                </a:lnTo>
                <a:cubicBezTo>
                  <a:pt x="73914" y="4381500"/>
                  <a:pt x="0" y="4307586"/>
                  <a:pt x="0" y="42164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en-1"/>
          <p:cNvSpPr txBox="1"/>
          <p:nvPr/>
        </p:nvSpPr>
        <p:spPr>
          <a:xfrm>
            <a:off x="1195832" y="1871408"/>
            <a:ext cx="455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200">
                <a:solidFill>
                  <a:srgbClr val="64748B"/>
                </a:solidFill>
                <a:latin typeface="Arial"/>
                <a:ea typeface="Arial"/>
                <a:cs typeface="Arial"/>
              </a:rPr>
              <a:t>BASIC</a:t>
            </a:r>
          </a:p>
        </p:txBody>
      </p:sp>
      <p:sp>
        <p:nvSpPr>
          <p:cNvPr id="12" name="nm-1"/>
          <p:cNvSpPr txBox="1"/>
          <p:nvPr/>
        </p:nvSpPr>
        <p:spPr>
          <a:xfrm>
            <a:off x="1182116" y="2035048"/>
            <a:ext cx="868680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6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基础版</a:t>
            </a:r>
          </a:p>
        </p:txBody>
      </p:sp>
      <p:sp>
        <p:nvSpPr>
          <p:cNvPr id="13" name="who-1"/>
          <p:cNvSpPr txBox="1"/>
          <p:nvPr/>
        </p:nvSpPr>
        <p:spPr>
          <a:xfrm>
            <a:off x="1193165" y="2377361"/>
            <a:ext cx="6715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小团队起步</a:t>
            </a:r>
          </a:p>
        </p:txBody>
      </p:sp>
      <p:sp>
        <p:nvSpPr>
          <p:cNvPr id="14" name="cur-1"/>
          <p:cNvSpPr txBox="1"/>
          <p:nvPr/>
        </p:nvSpPr>
        <p:spPr>
          <a:xfrm>
            <a:off x="1185164" y="2891917"/>
            <a:ext cx="259588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¥</a:t>
            </a:r>
          </a:p>
        </p:txBody>
      </p:sp>
      <p:sp>
        <p:nvSpPr>
          <p:cNvPr id="15" name="pr-1"/>
          <p:cNvSpPr txBox="1"/>
          <p:nvPr/>
        </p:nvSpPr>
        <p:spPr>
          <a:xfrm>
            <a:off x="1316736" y="2546858"/>
            <a:ext cx="923544" cy="8001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6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99</a:t>
            </a:r>
          </a:p>
        </p:txBody>
      </p:sp>
      <p:sp>
        <p:nvSpPr>
          <p:cNvPr id="16" name="pru-1"/>
          <p:cNvSpPr txBox="1"/>
          <p:nvPr/>
        </p:nvSpPr>
        <p:spPr>
          <a:xfrm>
            <a:off x="1994408" y="2986024"/>
            <a:ext cx="76047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元 / 人 / 月</a:t>
            </a:r>
          </a:p>
        </p:txBody>
      </p:sp>
      <p:cxnSp>
        <p:nvCxnSpPr>
          <p:cNvPr id="17" name="sep-1"/>
          <p:cNvCxnSpPr/>
          <p:nvPr/>
        </p:nvCxnSpPr>
        <p:spPr>
          <a:xfrm>
            <a:off x="1206500" y="3365500"/>
            <a:ext cx="281305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ok-1-5 个账号"/>
          <p:cNvSpPr/>
          <p:nvPr/>
        </p:nvSpPr>
        <p:spPr>
          <a:xfrm>
            <a:off x="1225550" y="3549650"/>
            <a:ext cx="139700" cy="139700"/>
          </a:xfrm>
          <a:prstGeom prst="ellipse">
            <a:avLst/>
          </a:prstGeom>
          <a:solidFill>
            <a:srgbClr val="3985CD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okc-1-5 个账号"/>
          <p:cNvSpPr/>
          <p:nvPr/>
        </p:nvSpPr>
        <p:spPr>
          <a:xfrm>
            <a:off x="1257300" y="3587750"/>
            <a:ext cx="76200" cy="57150"/>
          </a:xfrm>
          <a:custGeom>
            <a:avLst/>
            <a:gdLst/>
            <a:ahLst/>
            <a:cxnLst/>
            <a:rect l="0" t="0" r="r" b="b"/>
            <a:pathLst>
              <a:path w="76200" h="57150">
                <a:moveTo>
                  <a:pt x="0" y="31750"/>
                </a:moveTo>
                <a:lnTo>
                  <a:pt x="25400" y="57150"/>
                </a:lnTo>
                <a:lnTo>
                  <a:pt x="76200" y="0"/>
                </a:lnTo>
              </a:path>
            </a:pathLst>
          </a:custGeom>
          <a:noFill/>
          <a:ln w="1524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inc-1-5 个账号"/>
          <p:cNvSpPr txBox="1"/>
          <p:nvPr/>
        </p:nvSpPr>
        <p:spPr>
          <a:xfrm>
            <a:off x="1434084" y="3516440"/>
            <a:ext cx="5864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5 个账号</a:t>
            </a:r>
          </a:p>
        </p:txBody>
      </p:sp>
      <p:sp>
        <p:nvSpPr>
          <p:cNvPr id="21" name="ok-1-基础模板 300+"/>
          <p:cNvSpPr/>
          <p:nvPr/>
        </p:nvSpPr>
        <p:spPr>
          <a:xfrm>
            <a:off x="1225550" y="3841750"/>
            <a:ext cx="139700" cy="139700"/>
          </a:xfrm>
          <a:prstGeom prst="ellipse">
            <a:avLst/>
          </a:prstGeom>
          <a:solidFill>
            <a:srgbClr val="3985CD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okc-1-基础模板 300+"/>
          <p:cNvSpPr/>
          <p:nvPr/>
        </p:nvSpPr>
        <p:spPr>
          <a:xfrm>
            <a:off x="1257300" y="3879850"/>
            <a:ext cx="76200" cy="57150"/>
          </a:xfrm>
          <a:custGeom>
            <a:avLst/>
            <a:gdLst/>
            <a:ahLst/>
            <a:cxnLst/>
            <a:rect l="0" t="0" r="r" b="b"/>
            <a:pathLst>
              <a:path w="76200" h="57150">
                <a:moveTo>
                  <a:pt x="0" y="31750"/>
                </a:moveTo>
                <a:lnTo>
                  <a:pt x="25400" y="57150"/>
                </a:lnTo>
                <a:lnTo>
                  <a:pt x="76200" y="0"/>
                </a:lnTo>
              </a:path>
            </a:pathLst>
          </a:custGeom>
          <a:noFill/>
          <a:ln w="1524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inc-1-基础模板 300+"/>
          <p:cNvSpPr txBox="1"/>
          <p:nvPr/>
        </p:nvSpPr>
        <p:spPr>
          <a:xfrm>
            <a:off x="1434084" y="3808540"/>
            <a:ext cx="9029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基础模板 300+</a:t>
            </a:r>
          </a:p>
        </p:txBody>
      </p:sp>
      <p:sp>
        <p:nvSpPr>
          <p:cNvPr id="24" name="ok-1-10 GB 存储"/>
          <p:cNvSpPr/>
          <p:nvPr/>
        </p:nvSpPr>
        <p:spPr>
          <a:xfrm>
            <a:off x="1225550" y="4133850"/>
            <a:ext cx="139700" cy="139700"/>
          </a:xfrm>
          <a:prstGeom prst="ellipse">
            <a:avLst/>
          </a:prstGeom>
          <a:solidFill>
            <a:srgbClr val="3985CD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okc-1-10 GB 存储"/>
          <p:cNvSpPr/>
          <p:nvPr/>
        </p:nvSpPr>
        <p:spPr>
          <a:xfrm>
            <a:off x="1257300" y="4171950"/>
            <a:ext cx="76200" cy="57150"/>
          </a:xfrm>
          <a:custGeom>
            <a:avLst/>
            <a:gdLst/>
            <a:ahLst/>
            <a:cxnLst/>
            <a:rect l="0" t="0" r="r" b="b"/>
            <a:pathLst>
              <a:path w="76200" h="57150">
                <a:moveTo>
                  <a:pt x="0" y="31750"/>
                </a:moveTo>
                <a:lnTo>
                  <a:pt x="25400" y="57150"/>
                </a:lnTo>
                <a:lnTo>
                  <a:pt x="76200" y="0"/>
                </a:lnTo>
              </a:path>
            </a:pathLst>
          </a:custGeom>
          <a:noFill/>
          <a:ln w="1524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inc-1-10 GB 存储"/>
          <p:cNvSpPr txBox="1"/>
          <p:nvPr/>
        </p:nvSpPr>
        <p:spPr>
          <a:xfrm>
            <a:off x="1434084" y="4100640"/>
            <a:ext cx="73583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10 GB 存储</a:t>
            </a:r>
          </a:p>
        </p:txBody>
      </p:sp>
      <p:sp>
        <p:nvSpPr>
          <p:cNvPr id="27" name="ok-1-邮件支持"/>
          <p:cNvSpPr/>
          <p:nvPr/>
        </p:nvSpPr>
        <p:spPr>
          <a:xfrm>
            <a:off x="1225550" y="4425950"/>
            <a:ext cx="139700" cy="139700"/>
          </a:xfrm>
          <a:prstGeom prst="ellipse">
            <a:avLst/>
          </a:prstGeom>
          <a:solidFill>
            <a:srgbClr val="3985CD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okc-1-邮件支持"/>
          <p:cNvSpPr/>
          <p:nvPr/>
        </p:nvSpPr>
        <p:spPr>
          <a:xfrm>
            <a:off x="1257300" y="4464050"/>
            <a:ext cx="76200" cy="57150"/>
          </a:xfrm>
          <a:custGeom>
            <a:avLst/>
            <a:gdLst/>
            <a:ahLst/>
            <a:cxnLst/>
            <a:rect l="0" t="0" r="r" b="b"/>
            <a:pathLst>
              <a:path w="76200" h="57150">
                <a:moveTo>
                  <a:pt x="0" y="31750"/>
                </a:moveTo>
                <a:lnTo>
                  <a:pt x="25400" y="57150"/>
                </a:lnTo>
                <a:lnTo>
                  <a:pt x="76200" y="0"/>
                </a:lnTo>
              </a:path>
            </a:pathLst>
          </a:custGeom>
          <a:noFill/>
          <a:ln w="1524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inc-1-邮件支持"/>
          <p:cNvSpPr txBox="1"/>
          <p:nvPr/>
        </p:nvSpPr>
        <p:spPr>
          <a:xfrm>
            <a:off x="1434084" y="4392740"/>
            <a:ext cx="57023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邮件支持</a:t>
            </a:r>
          </a:p>
        </p:txBody>
      </p:sp>
      <p:cxnSp>
        <p:nvCxnSpPr>
          <p:cNvPr id="30" name="no-1-数据分析看板"/>
          <p:cNvCxnSpPr/>
          <p:nvPr/>
        </p:nvCxnSpPr>
        <p:spPr>
          <a:xfrm>
            <a:off x="1257300" y="4787900"/>
            <a:ext cx="76200" cy="0"/>
          </a:xfrm>
          <a:prstGeom prst="line">
            <a:avLst/>
          </a:prstGeom>
          <a:ln w="12700" cap="rnd">
            <a:solidFill>
              <a:srgbClr val="0B2545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exc-1-数据分析看板"/>
          <p:cNvSpPr txBox="1"/>
          <p:nvPr/>
        </p:nvSpPr>
        <p:spPr>
          <a:xfrm>
            <a:off x="1434084" y="4684840"/>
            <a:ext cx="80391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数据分析看板</a:t>
            </a:r>
          </a:p>
        </p:txBody>
      </p:sp>
      <p:cxnSp>
        <p:nvCxnSpPr>
          <p:cNvPr id="32" name="no-1-专属客户经理"/>
          <p:cNvCxnSpPr/>
          <p:nvPr/>
        </p:nvCxnSpPr>
        <p:spPr>
          <a:xfrm>
            <a:off x="1257300" y="5080000"/>
            <a:ext cx="76200" cy="0"/>
          </a:xfrm>
          <a:prstGeom prst="line">
            <a:avLst/>
          </a:prstGeom>
          <a:ln w="12700" cap="rnd">
            <a:solidFill>
              <a:srgbClr val="0B2545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exc-1-专属客户经理"/>
          <p:cNvSpPr txBox="1"/>
          <p:nvPr/>
        </p:nvSpPr>
        <p:spPr>
          <a:xfrm>
            <a:off x="1434084" y="4976940"/>
            <a:ext cx="80391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专属客户经理</a:t>
            </a:r>
          </a:p>
        </p:txBody>
      </p:sp>
      <p:sp>
        <p:nvSpPr>
          <p:cNvPr id="34" name="sh-1"/>
          <p:cNvSpPr/>
          <p:nvPr/>
        </p:nvSpPr>
        <p:spPr>
          <a:xfrm>
            <a:off x="1143000" y="5308600"/>
            <a:ext cx="2940050" cy="469900"/>
          </a:xfrm>
          <a:custGeom>
            <a:avLst/>
            <a:gdLst/>
            <a:ahLst/>
            <a:cxnLst/>
            <a:rect l="0" t="0" r="r" b="b"/>
            <a:pathLst>
              <a:path w="2940050" h="469900">
                <a:moveTo>
                  <a:pt x="114300" y="0"/>
                </a:moveTo>
                <a:lnTo>
                  <a:pt x="2825750" y="0"/>
                </a:lnTo>
                <a:cubicBezTo>
                  <a:pt x="2888869" y="0"/>
                  <a:pt x="2940050" y="51181"/>
                  <a:pt x="2940050" y="114300"/>
                </a:cubicBezTo>
                <a:lnTo>
                  <a:pt x="2940050" y="355600"/>
                </a:lnTo>
                <a:cubicBezTo>
                  <a:pt x="2940050" y="418719"/>
                  <a:pt x="2888869" y="469900"/>
                  <a:pt x="2825750" y="469900"/>
                </a:cubicBezTo>
                <a:lnTo>
                  <a:pt x="114300" y="469900"/>
                </a:lnTo>
                <a:cubicBezTo>
                  <a:pt x="51181" y="469900"/>
                  <a:pt x="0" y="418719"/>
                  <a:pt x="0" y="3556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shl-1"/>
          <p:cNvSpPr txBox="1"/>
          <p:nvPr/>
        </p:nvSpPr>
        <p:spPr>
          <a:xfrm>
            <a:off x="1295908" y="5475224"/>
            <a:ext cx="7391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客户选择占比</a:t>
            </a:r>
          </a:p>
        </p:txBody>
      </p:sp>
      <p:sp>
        <p:nvSpPr>
          <p:cNvPr id="36" name="shv-1"/>
          <p:cNvSpPr txBox="1"/>
          <p:nvPr/>
        </p:nvSpPr>
        <p:spPr>
          <a:xfrm>
            <a:off x="3418078" y="5375148"/>
            <a:ext cx="524256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6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18%</a:t>
            </a:r>
          </a:p>
        </p:txBody>
      </p:sp>
      <p:sp>
        <p:nvSpPr>
          <p:cNvPr id="37" name="card-2"/>
          <p:cNvSpPr/>
          <p:nvPr/>
        </p:nvSpPr>
        <p:spPr>
          <a:xfrm>
            <a:off x="4432300" y="1371600"/>
            <a:ext cx="3321050" cy="4813300"/>
          </a:xfrm>
          <a:custGeom>
            <a:avLst/>
            <a:gdLst/>
            <a:ahLst/>
            <a:cxnLst/>
            <a:rect l="0" t="0" r="r" b="b"/>
            <a:pathLst>
              <a:path w="3321050" h="4813300">
                <a:moveTo>
                  <a:pt x="165100" y="0"/>
                </a:moveTo>
                <a:lnTo>
                  <a:pt x="3155950" y="0"/>
                </a:lnTo>
                <a:cubicBezTo>
                  <a:pt x="3247136" y="0"/>
                  <a:pt x="3321050" y="73914"/>
                  <a:pt x="3321050" y="165100"/>
                </a:cubicBezTo>
                <a:lnTo>
                  <a:pt x="3321050" y="4648200"/>
                </a:lnTo>
                <a:cubicBezTo>
                  <a:pt x="3321050" y="4739386"/>
                  <a:pt x="3247136" y="4813300"/>
                  <a:pt x="3155950" y="4813300"/>
                </a:cubicBezTo>
                <a:lnTo>
                  <a:pt x="165100" y="4813300"/>
                </a:lnTo>
                <a:cubicBezTo>
                  <a:pt x="73914" y="4813300"/>
                  <a:pt x="0" y="4739386"/>
                  <a:pt x="0" y="46482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hot"/>
          <p:cNvSpPr/>
          <p:nvPr/>
        </p:nvSpPr>
        <p:spPr>
          <a:xfrm>
            <a:off x="6800850" y="1562100"/>
            <a:ext cx="762000" cy="215900"/>
          </a:xfrm>
          <a:custGeom>
            <a:avLst/>
            <a:gdLst/>
            <a:ahLst/>
            <a:cxnLst/>
            <a:rect l="0" t="0" r="r" b="b"/>
            <a:pathLst>
              <a:path w="762000" h="215900">
                <a:moveTo>
                  <a:pt x="107950" y="0"/>
                </a:moveTo>
                <a:lnTo>
                  <a:pt x="654050" y="0"/>
                </a:lnTo>
                <a:cubicBezTo>
                  <a:pt x="713677" y="0"/>
                  <a:pt x="762000" y="48324"/>
                  <a:pt x="762000" y="107950"/>
                </a:cubicBezTo>
                <a:lnTo>
                  <a:pt x="762000" y="107950"/>
                </a:lnTo>
                <a:cubicBezTo>
                  <a:pt x="762000" y="167576"/>
                  <a:pt x="713677" y="215900"/>
                  <a:pt x="6540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hot-t"/>
          <p:cNvSpPr txBox="1"/>
          <p:nvPr/>
        </p:nvSpPr>
        <p:spPr>
          <a:xfrm>
            <a:off x="6929438" y="1590516"/>
            <a:ext cx="5048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7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最受欢迎</a:t>
            </a:r>
          </a:p>
        </p:txBody>
      </p:sp>
      <p:sp>
        <p:nvSpPr>
          <p:cNvPr id="40" name="en-2"/>
          <p:cNvSpPr txBox="1"/>
          <p:nvPr/>
        </p:nvSpPr>
        <p:spPr>
          <a:xfrm>
            <a:off x="4675632" y="1655508"/>
            <a:ext cx="3055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200">
                <a:solidFill>
                  <a:srgbClr val="CFE0F4"/>
                </a:solidFill>
                <a:latin typeface="Arial"/>
                <a:ea typeface="Arial"/>
                <a:cs typeface="Arial"/>
              </a:rPr>
              <a:t>PRO</a:t>
            </a:r>
          </a:p>
        </p:txBody>
      </p:sp>
      <p:sp>
        <p:nvSpPr>
          <p:cNvPr id="41" name="nm-2"/>
          <p:cNvSpPr txBox="1"/>
          <p:nvPr/>
        </p:nvSpPr>
        <p:spPr>
          <a:xfrm>
            <a:off x="4661916" y="1819148"/>
            <a:ext cx="868680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60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专业版</a:t>
            </a:r>
          </a:p>
        </p:txBody>
      </p:sp>
      <p:sp>
        <p:nvSpPr>
          <p:cNvPr id="42" name="who-2"/>
          <p:cNvSpPr txBox="1"/>
          <p:nvPr/>
        </p:nvSpPr>
        <p:spPr>
          <a:xfrm>
            <a:off x="4672965" y="2161461"/>
            <a:ext cx="9001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成长型企业首选</a:t>
            </a:r>
          </a:p>
        </p:txBody>
      </p:sp>
      <p:sp>
        <p:nvSpPr>
          <p:cNvPr id="43" name="cur-2"/>
          <p:cNvSpPr txBox="1"/>
          <p:nvPr/>
        </p:nvSpPr>
        <p:spPr>
          <a:xfrm>
            <a:off x="4664964" y="2676017"/>
            <a:ext cx="259588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¥</a:t>
            </a:r>
          </a:p>
        </p:txBody>
      </p:sp>
      <p:sp>
        <p:nvSpPr>
          <p:cNvPr id="44" name="pr-2"/>
          <p:cNvSpPr txBox="1"/>
          <p:nvPr/>
        </p:nvSpPr>
        <p:spPr>
          <a:xfrm>
            <a:off x="4796536" y="2330958"/>
            <a:ext cx="1179576" cy="8001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6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299</a:t>
            </a:r>
          </a:p>
        </p:txBody>
      </p:sp>
      <p:sp>
        <p:nvSpPr>
          <p:cNvPr id="45" name="pru-2"/>
          <p:cNvSpPr txBox="1"/>
          <p:nvPr/>
        </p:nvSpPr>
        <p:spPr>
          <a:xfrm>
            <a:off x="5753608" y="2770124"/>
            <a:ext cx="76047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元 / 人 / 月</a:t>
            </a:r>
          </a:p>
        </p:txBody>
      </p:sp>
      <p:cxnSp>
        <p:nvCxnSpPr>
          <p:cNvPr id="46" name="sep-2"/>
          <p:cNvCxnSpPr/>
          <p:nvPr/>
        </p:nvCxnSpPr>
        <p:spPr>
          <a:xfrm>
            <a:off x="4686300" y="3149600"/>
            <a:ext cx="2813050" cy="0"/>
          </a:xfrm>
          <a:prstGeom prst="line">
            <a:avLst/>
          </a:prstGeom>
          <a:ln w="6350" cap="rnd">
            <a:solidFill>
              <a:srgbClr val="FFFFFF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ok-2-30 个账号"/>
          <p:cNvSpPr/>
          <p:nvPr/>
        </p:nvSpPr>
        <p:spPr>
          <a:xfrm>
            <a:off x="4705350" y="3333750"/>
            <a:ext cx="139700" cy="139700"/>
          </a:xfrm>
          <a:prstGeom prst="ellipse">
            <a:avLst/>
          </a:pr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okc-2-30 个账号"/>
          <p:cNvSpPr/>
          <p:nvPr/>
        </p:nvSpPr>
        <p:spPr>
          <a:xfrm>
            <a:off x="4737100" y="3371850"/>
            <a:ext cx="76200" cy="57150"/>
          </a:xfrm>
          <a:custGeom>
            <a:avLst/>
            <a:gdLst/>
            <a:ahLst/>
            <a:cxnLst/>
            <a:rect l="0" t="0" r="r" b="b"/>
            <a:pathLst>
              <a:path w="76200" h="57150">
                <a:moveTo>
                  <a:pt x="0" y="31750"/>
                </a:moveTo>
                <a:lnTo>
                  <a:pt x="25400" y="57150"/>
                </a:lnTo>
                <a:lnTo>
                  <a:pt x="76200" y="0"/>
                </a:lnTo>
              </a:path>
            </a:pathLst>
          </a:custGeom>
          <a:noFill/>
          <a:ln w="1524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inc-2-30 个账号"/>
          <p:cNvSpPr txBox="1"/>
          <p:nvPr/>
        </p:nvSpPr>
        <p:spPr>
          <a:xfrm>
            <a:off x="4913884" y="3300540"/>
            <a:ext cx="65303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30 个账号</a:t>
            </a:r>
          </a:p>
        </p:txBody>
      </p:sp>
      <p:sp>
        <p:nvSpPr>
          <p:cNvPr id="50" name="ok-2-全部模板 2,000+"/>
          <p:cNvSpPr/>
          <p:nvPr/>
        </p:nvSpPr>
        <p:spPr>
          <a:xfrm>
            <a:off x="4705350" y="3625850"/>
            <a:ext cx="139700" cy="139700"/>
          </a:xfrm>
          <a:prstGeom prst="ellipse">
            <a:avLst/>
          </a:pr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okc-2-全部模板 2,000+"/>
          <p:cNvSpPr/>
          <p:nvPr/>
        </p:nvSpPr>
        <p:spPr>
          <a:xfrm>
            <a:off x="4737100" y="3663950"/>
            <a:ext cx="76200" cy="57150"/>
          </a:xfrm>
          <a:custGeom>
            <a:avLst/>
            <a:gdLst/>
            <a:ahLst/>
            <a:cxnLst/>
            <a:rect l="0" t="0" r="r" b="b"/>
            <a:pathLst>
              <a:path w="76200" h="57150">
                <a:moveTo>
                  <a:pt x="0" y="31750"/>
                </a:moveTo>
                <a:lnTo>
                  <a:pt x="25400" y="57150"/>
                </a:lnTo>
                <a:lnTo>
                  <a:pt x="76200" y="0"/>
                </a:lnTo>
              </a:path>
            </a:pathLst>
          </a:custGeom>
          <a:noFill/>
          <a:ln w="1524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inc-2-全部模板 2,000+"/>
          <p:cNvSpPr txBox="1"/>
          <p:nvPr/>
        </p:nvSpPr>
        <p:spPr>
          <a:xfrm>
            <a:off x="4913884" y="3592640"/>
            <a:ext cx="103606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全部模板 2,000+</a:t>
            </a:r>
          </a:p>
        </p:txBody>
      </p:sp>
      <p:sp>
        <p:nvSpPr>
          <p:cNvPr id="53" name="ok-2-200 GB 存储"/>
          <p:cNvSpPr/>
          <p:nvPr/>
        </p:nvSpPr>
        <p:spPr>
          <a:xfrm>
            <a:off x="4705350" y="3917950"/>
            <a:ext cx="139700" cy="139700"/>
          </a:xfrm>
          <a:prstGeom prst="ellipse">
            <a:avLst/>
          </a:pr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okc-2-200 GB 存储"/>
          <p:cNvSpPr/>
          <p:nvPr/>
        </p:nvSpPr>
        <p:spPr>
          <a:xfrm>
            <a:off x="4737100" y="3956050"/>
            <a:ext cx="76200" cy="57150"/>
          </a:xfrm>
          <a:custGeom>
            <a:avLst/>
            <a:gdLst/>
            <a:ahLst/>
            <a:cxnLst/>
            <a:rect l="0" t="0" r="r" b="b"/>
            <a:pathLst>
              <a:path w="76200" h="57150">
                <a:moveTo>
                  <a:pt x="0" y="31750"/>
                </a:moveTo>
                <a:lnTo>
                  <a:pt x="25400" y="57150"/>
                </a:lnTo>
                <a:lnTo>
                  <a:pt x="76200" y="0"/>
                </a:lnTo>
              </a:path>
            </a:pathLst>
          </a:custGeom>
          <a:noFill/>
          <a:ln w="1524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inc-2-200 GB 存储"/>
          <p:cNvSpPr txBox="1"/>
          <p:nvPr/>
        </p:nvSpPr>
        <p:spPr>
          <a:xfrm>
            <a:off x="4913884" y="3884740"/>
            <a:ext cx="8023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200 GB 存储</a:t>
            </a:r>
          </a:p>
        </p:txBody>
      </p:sp>
      <p:sp>
        <p:nvSpPr>
          <p:cNvPr id="56" name="ok-2-数据分析看板"/>
          <p:cNvSpPr/>
          <p:nvPr/>
        </p:nvSpPr>
        <p:spPr>
          <a:xfrm>
            <a:off x="4705350" y="4210050"/>
            <a:ext cx="139700" cy="139700"/>
          </a:xfrm>
          <a:prstGeom prst="ellipse">
            <a:avLst/>
          </a:pr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okc-2-数据分析看板"/>
          <p:cNvSpPr/>
          <p:nvPr/>
        </p:nvSpPr>
        <p:spPr>
          <a:xfrm>
            <a:off x="4737100" y="4248150"/>
            <a:ext cx="76200" cy="57150"/>
          </a:xfrm>
          <a:custGeom>
            <a:avLst/>
            <a:gdLst/>
            <a:ahLst/>
            <a:cxnLst/>
            <a:rect l="0" t="0" r="r" b="b"/>
            <a:pathLst>
              <a:path w="76200" h="57150">
                <a:moveTo>
                  <a:pt x="0" y="31750"/>
                </a:moveTo>
                <a:lnTo>
                  <a:pt x="25400" y="57150"/>
                </a:lnTo>
                <a:lnTo>
                  <a:pt x="76200" y="0"/>
                </a:lnTo>
              </a:path>
            </a:pathLst>
          </a:custGeom>
          <a:noFill/>
          <a:ln w="1524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inc-2-数据分析看板"/>
          <p:cNvSpPr txBox="1"/>
          <p:nvPr/>
        </p:nvSpPr>
        <p:spPr>
          <a:xfrm>
            <a:off x="4913884" y="4176840"/>
            <a:ext cx="80391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数据分析看板</a:t>
            </a:r>
          </a:p>
        </p:txBody>
      </p:sp>
      <p:sp>
        <p:nvSpPr>
          <p:cNvPr id="59" name="ok-2-7×12 在线支持"/>
          <p:cNvSpPr/>
          <p:nvPr/>
        </p:nvSpPr>
        <p:spPr>
          <a:xfrm>
            <a:off x="4705350" y="4502150"/>
            <a:ext cx="139700" cy="139700"/>
          </a:xfrm>
          <a:prstGeom prst="ellipse">
            <a:avLst/>
          </a:pr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okc-2-7×12 在线支持"/>
          <p:cNvSpPr/>
          <p:nvPr/>
        </p:nvSpPr>
        <p:spPr>
          <a:xfrm>
            <a:off x="4737100" y="4540250"/>
            <a:ext cx="76200" cy="57150"/>
          </a:xfrm>
          <a:custGeom>
            <a:avLst/>
            <a:gdLst/>
            <a:ahLst/>
            <a:cxnLst/>
            <a:rect l="0" t="0" r="r" b="b"/>
            <a:pathLst>
              <a:path w="76200" h="57150">
                <a:moveTo>
                  <a:pt x="0" y="31750"/>
                </a:moveTo>
                <a:lnTo>
                  <a:pt x="25400" y="57150"/>
                </a:lnTo>
                <a:lnTo>
                  <a:pt x="76200" y="0"/>
                </a:lnTo>
              </a:path>
            </a:pathLst>
          </a:custGeom>
          <a:noFill/>
          <a:ln w="1524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inc-2-7×12 在线支持"/>
          <p:cNvSpPr txBox="1"/>
          <p:nvPr/>
        </p:nvSpPr>
        <p:spPr>
          <a:xfrm>
            <a:off x="4913884" y="4468940"/>
            <a:ext cx="9029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7×12 在线支持</a:t>
            </a:r>
          </a:p>
        </p:txBody>
      </p:sp>
      <p:cxnSp>
        <p:nvCxnSpPr>
          <p:cNvPr id="62" name="no-2-专属客户经理"/>
          <p:cNvCxnSpPr/>
          <p:nvPr/>
        </p:nvCxnSpPr>
        <p:spPr>
          <a:xfrm>
            <a:off x="4737100" y="4864100"/>
            <a:ext cx="76200" cy="0"/>
          </a:xfrm>
          <a:prstGeom prst="line">
            <a:avLst/>
          </a:prstGeom>
          <a:ln w="12700" cap="rnd">
            <a:solidFill>
              <a:srgbClr val="FFFFFF">
                <a:alpha val="4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exc-2-专属客户经理"/>
          <p:cNvSpPr txBox="1"/>
          <p:nvPr/>
        </p:nvSpPr>
        <p:spPr>
          <a:xfrm>
            <a:off x="4913884" y="4761040"/>
            <a:ext cx="80391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20">
                <a:solidFill>
                  <a:srgbClr val="8FB0D8"/>
                </a:solidFill>
                <a:latin typeface="微软雅黑"/>
                <a:ea typeface="微软雅黑"/>
                <a:cs typeface="微软雅黑"/>
              </a:rPr>
              <a:t>专属客户经理</a:t>
            </a:r>
          </a:p>
        </p:txBody>
      </p:sp>
      <p:sp>
        <p:nvSpPr>
          <p:cNvPr id="64" name="sh-2"/>
          <p:cNvSpPr/>
          <p:nvPr/>
        </p:nvSpPr>
        <p:spPr>
          <a:xfrm>
            <a:off x="4622800" y="5524500"/>
            <a:ext cx="2940050" cy="469900"/>
          </a:xfrm>
          <a:custGeom>
            <a:avLst/>
            <a:gdLst/>
            <a:ahLst/>
            <a:cxnLst/>
            <a:rect l="0" t="0" r="r" b="b"/>
            <a:pathLst>
              <a:path w="2940050" h="469900">
                <a:moveTo>
                  <a:pt x="114300" y="0"/>
                </a:moveTo>
                <a:lnTo>
                  <a:pt x="2825750" y="0"/>
                </a:lnTo>
                <a:cubicBezTo>
                  <a:pt x="2888869" y="0"/>
                  <a:pt x="2940050" y="51181"/>
                  <a:pt x="2940050" y="114300"/>
                </a:cubicBezTo>
                <a:lnTo>
                  <a:pt x="2940050" y="355600"/>
                </a:lnTo>
                <a:cubicBezTo>
                  <a:pt x="2940050" y="418719"/>
                  <a:pt x="2888869" y="469900"/>
                  <a:pt x="2825750" y="469900"/>
                </a:cubicBezTo>
                <a:lnTo>
                  <a:pt x="114300" y="469900"/>
                </a:lnTo>
                <a:cubicBezTo>
                  <a:pt x="51181" y="469900"/>
                  <a:pt x="0" y="418719"/>
                  <a:pt x="0" y="3556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shl-2"/>
          <p:cNvSpPr txBox="1"/>
          <p:nvPr/>
        </p:nvSpPr>
        <p:spPr>
          <a:xfrm>
            <a:off x="4775708" y="5691124"/>
            <a:ext cx="7391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客户选择占比</a:t>
            </a:r>
          </a:p>
        </p:txBody>
      </p:sp>
      <p:sp>
        <p:nvSpPr>
          <p:cNvPr id="66" name="shv-2"/>
          <p:cNvSpPr txBox="1"/>
          <p:nvPr/>
        </p:nvSpPr>
        <p:spPr>
          <a:xfrm>
            <a:off x="6897878" y="5591048"/>
            <a:ext cx="524256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6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71%</a:t>
            </a:r>
          </a:p>
        </p:txBody>
      </p:sp>
      <p:sp>
        <p:nvSpPr>
          <p:cNvPr id="67" name="card-3"/>
          <p:cNvSpPr/>
          <p:nvPr/>
        </p:nvSpPr>
        <p:spPr>
          <a:xfrm>
            <a:off x="7912100" y="1587500"/>
            <a:ext cx="3321050" cy="4381500"/>
          </a:xfrm>
          <a:custGeom>
            <a:avLst/>
            <a:gdLst/>
            <a:ahLst/>
            <a:cxnLst/>
            <a:rect l="0" t="0" r="r" b="b"/>
            <a:pathLst>
              <a:path w="3321050" h="4381500">
                <a:moveTo>
                  <a:pt x="165100" y="0"/>
                </a:moveTo>
                <a:lnTo>
                  <a:pt x="3155950" y="0"/>
                </a:lnTo>
                <a:cubicBezTo>
                  <a:pt x="3247136" y="0"/>
                  <a:pt x="3321050" y="73914"/>
                  <a:pt x="3321050" y="165100"/>
                </a:cubicBezTo>
                <a:lnTo>
                  <a:pt x="3321050" y="4216400"/>
                </a:lnTo>
                <a:cubicBezTo>
                  <a:pt x="3321050" y="4307586"/>
                  <a:pt x="3247136" y="4381500"/>
                  <a:pt x="3155950" y="4381500"/>
                </a:cubicBezTo>
                <a:lnTo>
                  <a:pt x="165100" y="4381500"/>
                </a:lnTo>
                <a:cubicBezTo>
                  <a:pt x="73914" y="4381500"/>
                  <a:pt x="0" y="4307586"/>
                  <a:pt x="0" y="42164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en-3"/>
          <p:cNvSpPr txBox="1"/>
          <p:nvPr/>
        </p:nvSpPr>
        <p:spPr>
          <a:xfrm>
            <a:off x="8155432" y="1871408"/>
            <a:ext cx="83185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200">
                <a:solidFill>
                  <a:srgbClr val="64748B"/>
                </a:solidFill>
                <a:latin typeface="Arial"/>
                <a:ea typeface="Arial"/>
                <a:cs typeface="Arial"/>
              </a:rPr>
              <a:t>ENTERPRISE</a:t>
            </a:r>
          </a:p>
        </p:txBody>
      </p:sp>
      <p:sp>
        <p:nvSpPr>
          <p:cNvPr id="69" name="nm-3"/>
          <p:cNvSpPr txBox="1"/>
          <p:nvPr/>
        </p:nvSpPr>
        <p:spPr>
          <a:xfrm>
            <a:off x="8141716" y="2035048"/>
            <a:ext cx="868680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6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旗舰版</a:t>
            </a:r>
          </a:p>
        </p:txBody>
      </p:sp>
      <p:sp>
        <p:nvSpPr>
          <p:cNvPr id="70" name="who-3"/>
          <p:cNvSpPr txBox="1"/>
          <p:nvPr/>
        </p:nvSpPr>
        <p:spPr>
          <a:xfrm>
            <a:off x="8152765" y="2377361"/>
            <a:ext cx="7858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集团与大客户</a:t>
            </a:r>
          </a:p>
        </p:txBody>
      </p:sp>
      <p:sp>
        <p:nvSpPr>
          <p:cNvPr id="71" name="cur-3"/>
          <p:cNvSpPr txBox="1"/>
          <p:nvPr/>
        </p:nvSpPr>
        <p:spPr>
          <a:xfrm>
            <a:off x="8144764" y="2891917"/>
            <a:ext cx="259588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¥</a:t>
            </a:r>
          </a:p>
        </p:txBody>
      </p:sp>
      <p:sp>
        <p:nvSpPr>
          <p:cNvPr id="72" name="pr-3"/>
          <p:cNvSpPr txBox="1"/>
          <p:nvPr/>
        </p:nvSpPr>
        <p:spPr>
          <a:xfrm>
            <a:off x="8276336" y="2546858"/>
            <a:ext cx="1179576" cy="8001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6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899</a:t>
            </a:r>
          </a:p>
        </p:txBody>
      </p:sp>
      <p:sp>
        <p:nvSpPr>
          <p:cNvPr id="73" name="pru-3"/>
          <p:cNvSpPr txBox="1"/>
          <p:nvPr/>
        </p:nvSpPr>
        <p:spPr>
          <a:xfrm>
            <a:off x="9233408" y="2986024"/>
            <a:ext cx="76047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元 / 人 / 月</a:t>
            </a:r>
          </a:p>
        </p:txBody>
      </p:sp>
      <p:cxnSp>
        <p:nvCxnSpPr>
          <p:cNvPr id="74" name="sep-3"/>
          <p:cNvCxnSpPr/>
          <p:nvPr/>
        </p:nvCxnSpPr>
        <p:spPr>
          <a:xfrm>
            <a:off x="8166100" y="3365500"/>
            <a:ext cx="281305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5" name="ok-3-不限账号"/>
          <p:cNvSpPr/>
          <p:nvPr/>
        </p:nvSpPr>
        <p:spPr>
          <a:xfrm>
            <a:off x="8185150" y="3549650"/>
            <a:ext cx="139700" cy="139700"/>
          </a:xfrm>
          <a:prstGeom prst="ellipse">
            <a:avLst/>
          </a:prstGeom>
          <a:solidFill>
            <a:srgbClr val="3985CD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okc-3-不限账号"/>
          <p:cNvSpPr/>
          <p:nvPr/>
        </p:nvSpPr>
        <p:spPr>
          <a:xfrm>
            <a:off x="8216900" y="3587750"/>
            <a:ext cx="76200" cy="57150"/>
          </a:xfrm>
          <a:custGeom>
            <a:avLst/>
            <a:gdLst/>
            <a:ahLst/>
            <a:cxnLst/>
            <a:rect l="0" t="0" r="r" b="b"/>
            <a:pathLst>
              <a:path w="76200" h="57150">
                <a:moveTo>
                  <a:pt x="0" y="31750"/>
                </a:moveTo>
                <a:lnTo>
                  <a:pt x="25400" y="57150"/>
                </a:lnTo>
                <a:lnTo>
                  <a:pt x="76200" y="0"/>
                </a:lnTo>
              </a:path>
            </a:pathLst>
          </a:custGeom>
          <a:noFill/>
          <a:ln w="1524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inc-3-不限账号"/>
          <p:cNvSpPr txBox="1"/>
          <p:nvPr/>
        </p:nvSpPr>
        <p:spPr>
          <a:xfrm>
            <a:off x="8393684" y="3516440"/>
            <a:ext cx="57023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不限账号</a:t>
            </a:r>
          </a:p>
        </p:txBody>
      </p:sp>
      <p:sp>
        <p:nvSpPr>
          <p:cNvPr id="78" name="ok-3-全部模板 + 定制"/>
          <p:cNvSpPr/>
          <p:nvPr/>
        </p:nvSpPr>
        <p:spPr>
          <a:xfrm>
            <a:off x="8185150" y="3841750"/>
            <a:ext cx="139700" cy="139700"/>
          </a:xfrm>
          <a:prstGeom prst="ellipse">
            <a:avLst/>
          </a:prstGeom>
          <a:solidFill>
            <a:srgbClr val="3985CD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okc-3-全部模板 + 定制"/>
          <p:cNvSpPr/>
          <p:nvPr/>
        </p:nvSpPr>
        <p:spPr>
          <a:xfrm>
            <a:off x="8216900" y="3879850"/>
            <a:ext cx="76200" cy="57150"/>
          </a:xfrm>
          <a:custGeom>
            <a:avLst/>
            <a:gdLst/>
            <a:ahLst/>
            <a:cxnLst/>
            <a:rect l="0" t="0" r="r" b="b"/>
            <a:pathLst>
              <a:path w="76200" h="57150">
                <a:moveTo>
                  <a:pt x="0" y="31750"/>
                </a:moveTo>
                <a:lnTo>
                  <a:pt x="25400" y="57150"/>
                </a:lnTo>
                <a:lnTo>
                  <a:pt x="76200" y="0"/>
                </a:lnTo>
              </a:path>
            </a:pathLst>
          </a:custGeom>
          <a:noFill/>
          <a:ln w="1524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inc-3-全部模板 + 定制"/>
          <p:cNvSpPr txBox="1"/>
          <p:nvPr/>
        </p:nvSpPr>
        <p:spPr>
          <a:xfrm>
            <a:off x="8393684" y="3808540"/>
            <a:ext cx="100355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全部模板 + 定制</a:t>
            </a:r>
          </a:p>
        </p:txBody>
      </p:sp>
      <p:sp>
        <p:nvSpPr>
          <p:cNvPr id="81" name="ok-3-不限存储"/>
          <p:cNvSpPr/>
          <p:nvPr/>
        </p:nvSpPr>
        <p:spPr>
          <a:xfrm>
            <a:off x="8185150" y="4133850"/>
            <a:ext cx="139700" cy="139700"/>
          </a:xfrm>
          <a:prstGeom prst="ellipse">
            <a:avLst/>
          </a:prstGeom>
          <a:solidFill>
            <a:srgbClr val="3985CD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okc-3-不限存储"/>
          <p:cNvSpPr/>
          <p:nvPr/>
        </p:nvSpPr>
        <p:spPr>
          <a:xfrm>
            <a:off x="8216900" y="4171950"/>
            <a:ext cx="76200" cy="57150"/>
          </a:xfrm>
          <a:custGeom>
            <a:avLst/>
            <a:gdLst/>
            <a:ahLst/>
            <a:cxnLst/>
            <a:rect l="0" t="0" r="r" b="b"/>
            <a:pathLst>
              <a:path w="76200" h="57150">
                <a:moveTo>
                  <a:pt x="0" y="31750"/>
                </a:moveTo>
                <a:lnTo>
                  <a:pt x="25400" y="57150"/>
                </a:lnTo>
                <a:lnTo>
                  <a:pt x="76200" y="0"/>
                </a:lnTo>
              </a:path>
            </a:pathLst>
          </a:custGeom>
          <a:noFill/>
          <a:ln w="1524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inc-3-不限存储"/>
          <p:cNvSpPr txBox="1"/>
          <p:nvPr/>
        </p:nvSpPr>
        <p:spPr>
          <a:xfrm>
            <a:off x="8393684" y="4100640"/>
            <a:ext cx="57023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不限存储</a:t>
            </a:r>
          </a:p>
        </p:txBody>
      </p:sp>
      <p:sp>
        <p:nvSpPr>
          <p:cNvPr id="84" name="ok-3-数据分析看板"/>
          <p:cNvSpPr/>
          <p:nvPr/>
        </p:nvSpPr>
        <p:spPr>
          <a:xfrm>
            <a:off x="8185150" y="4425950"/>
            <a:ext cx="139700" cy="139700"/>
          </a:xfrm>
          <a:prstGeom prst="ellipse">
            <a:avLst/>
          </a:prstGeom>
          <a:solidFill>
            <a:srgbClr val="3985CD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okc-3-数据分析看板"/>
          <p:cNvSpPr/>
          <p:nvPr/>
        </p:nvSpPr>
        <p:spPr>
          <a:xfrm>
            <a:off x="8216900" y="4464050"/>
            <a:ext cx="76200" cy="57150"/>
          </a:xfrm>
          <a:custGeom>
            <a:avLst/>
            <a:gdLst/>
            <a:ahLst/>
            <a:cxnLst/>
            <a:rect l="0" t="0" r="r" b="b"/>
            <a:pathLst>
              <a:path w="76200" h="57150">
                <a:moveTo>
                  <a:pt x="0" y="31750"/>
                </a:moveTo>
                <a:lnTo>
                  <a:pt x="25400" y="57150"/>
                </a:lnTo>
                <a:lnTo>
                  <a:pt x="76200" y="0"/>
                </a:lnTo>
              </a:path>
            </a:pathLst>
          </a:custGeom>
          <a:noFill/>
          <a:ln w="1524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inc-3-数据分析看板"/>
          <p:cNvSpPr txBox="1"/>
          <p:nvPr/>
        </p:nvSpPr>
        <p:spPr>
          <a:xfrm>
            <a:off x="8393684" y="4392740"/>
            <a:ext cx="80391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数据分析看板</a:t>
            </a:r>
          </a:p>
        </p:txBody>
      </p:sp>
      <p:sp>
        <p:nvSpPr>
          <p:cNvPr id="87" name="ok-3-专属客户经理"/>
          <p:cNvSpPr/>
          <p:nvPr/>
        </p:nvSpPr>
        <p:spPr>
          <a:xfrm>
            <a:off x="8185150" y="4718050"/>
            <a:ext cx="139700" cy="139700"/>
          </a:xfrm>
          <a:prstGeom prst="ellipse">
            <a:avLst/>
          </a:prstGeom>
          <a:solidFill>
            <a:srgbClr val="3985CD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okc-3-专属客户经理"/>
          <p:cNvSpPr/>
          <p:nvPr/>
        </p:nvSpPr>
        <p:spPr>
          <a:xfrm>
            <a:off x="8216900" y="4756150"/>
            <a:ext cx="76200" cy="57150"/>
          </a:xfrm>
          <a:custGeom>
            <a:avLst/>
            <a:gdLst/>
            <a:ahLst/>
            <a:cxnLst/>
            <a:rect l="0" t="0" r="r" b="b"/>
            <a:pathLst>
              <a:path w="76200" h="57150">
                <a:moveTo>
                  <a:pt x="0" y="31750"/>
                </a:moveTo>
                <a:lnTo>
                  <a:pt x="25400" y="57150"/>
                </a:lnTo>
                <a:lnTo>
                  <a:pt x="76200" y="0"/>
                </a:lnTo>
              </a:path>
            </a:pathLst>
          </a:custGeom>
          <a:noFill/>
          <a:ln w="1524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inc-3-专属客户经理"/>
          <p:cNvSpPr txBox="1"/>
          <p:nvPr/>
        </p:nvSpPr>
        <p:spPr>
          <a:xfrm>
            <a:off x="8393684" y="4684840"/>
            <a:ext cx="80391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专属客户经理</a:t>
            </a:r>
          </a:p>
        </p:txBody>
      </p:sp>
      <p:sp>
        <p:nvSpPr>
          <p:cNvPr id="90" name="sh-3"/>
          <p:cNvSpPr/>
          <p:nvPr/>
        </p:nvSpPr>
        <p:spPr>
          <a:xfrm>
            <a:off x="8102600" y="5308600"/>
            <a:ext cx="2940050" cy="469900"/>
          </a:xfrm>
          <a:custGeom>
            <a:avLst/>
            <a:gdLst/>
            <a:ahLst/>
            <a:cxnLst/>
            <a:rect l="0" t="0" r="r" b="b"/>
            <a:pathLst>
              <a:path w="2940050" h="469900">
                <a:moveTo>
                  <a:pt x="114300" y="0"/>
                </a:moveTo>
                <a:lnTo>
                  <a:pt x="2825750" y="0"/>
                </a:lnTo>
                <a:cubicBezTo>
                  <a:pt x="2888869" y="0"/>
                  <a:pt x="2940050" y="51181"/>
                  <a:pt x="2940050" y="114300"/>
                </a:cubicBezTo>
                <a:lnTo>
                  <a:pt x="2940050" y="355600"/>
                </a:lnTo>
                <a:cubicBezTo>
                  <a:pt x="2940050" y="418719"/>
                  <a:pt x="2888869" y="469900"/>
                  <a:pt x="2825750" y="469900"/>
                </a:cubicBezTo>
                <a:lnTo>
                  <a:pt x="114300" y="469900"/>
                </a:lnTo>
                <a:cubicBezTo>
                  <a:pt x="51181" y="469900"/>
                  <a:pt x="0" y="418719"/>
                  <a:pt x="0" y="3556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shl-3"/>
          <p:cNvSpPr txBox="1"/>
          <p:nvPr/>
        </p:nvSpPr>
        <p:spPr>
          <a:xfrm>
            <a:off x="8255508" y="5475224"/>
            <a:ext cx="7391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客户选择占比</a:t>
            </a:r>
          </a:p>
        </p:txBody>
      </p:sp>
      <p:sp>
        <p:nvSpPr>
          <p:cNvPr id="92" name="shv-3"/>
          <p:cNvSpPr txBox="1"/>
          <p:nvPr/>
        </p:nvSpPr>
        <p:spPr>
          <a:xfrm>
            <a:off x="10377678" y="5375148"/>
            <a:ext cx="524256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6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11%</a:t>
            </a:r>
          </a:p>
        </p:txBody>
      </p:sp>
      <p:cxnSp>
        <p:nvCxnSpPr>
          <p:cNvPr id="93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4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价格方案 · 三档订阅</a:t>
            </a:r>
          </a:p>
        </p:txBody>
      </p:sp>
      <p:sp>
        <p:nvSpPr>
          <p:cNvPr id="95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能力获取决策树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2637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DECISION TREE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7275195" y="673132"/>
            <a:ext cx="43455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三个问题决定一项能力是自己做、买现成的，还是找伙伴——每个结论都附周期与投入</a:t>
            </a:r>
          </a:p>
        </p:txBody>
      </p:sp>
      <p:sp>
        <p:nvSpPr>
          <p:cNvPr id="10" name="e-q1-q2"/>
          <p:cNvSpPr/>
          <p:nvPr/>
        </p:nvSpPr>
        <p:spPr>
          <a:xfrm>
            <a:off x="3302000" y="2413000"/>
            <a:ext cx="1727200" cy="1143000"/>
          </a:xfrm>
          <a:custGeom>
            <a:avLst/>
            <a:gdLst/>
            <a:ahLst/>
            <a:cxnLst/>
            <a:rect l="0" t="0" r="r" b="b"/>
            <a:pathLst>
              <a:path w="1727200" h="1143000">
                <a:moveTo>
                  <a:pt x="0" y="1143000"/>
                </a:moveTo>
                <a:cubicBezTo>
                  <a:pt x="889000" y="1143000"/>
                  <a:pt x="889000" y="0"/>
                  <a:pt x="1727200" y="0"/>
                </a:cubicBezTo>
              </a:path>
            </a:pathLst>
          </a:custGeom>
          <a:noFill/>
          <a:ln w="2540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eh-q1-q2"/>
          <p:cNvSpPr/>
          <p:nvPr/>
        </p:nvSpPr>
        <p:spPr>
          <a:xfrm>
            <a:off x="4965700" y="2362200"/>
            <a:ext cx="88900" cy="101600"/>
          </a:xfrm>
          <a:custGeom>
            <a:avLst/>
            <a:gdLst/>
            <a:ahLst/>
            <a:cxnLst/>
            <a:rect l="0" t="0" r="r" b="b"/>
            <a:pathLst>
              <a:path w="88900" h="101600">
                <a:moveTo>
                  <a:pt x="0" y="0"/>
                </a:moveTo>
                <a:lnTo>
                  <a:pt x="88900" y="50800"/>
                </a:lnTo>
                <a:lnTo>
                  <a:pt x="0" y="101600"/>
                </a:ln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el-q1-q2"/>
          <p:cNvSpPr/>
          <p:nvPr/>
        </p:nvSpPr>
        <p:spPr>
          <a:xfrm>
            <a:off x="3975100" y="2876550"/>
            <a:ext cx="431800" cy="215900"/>
          </a:xfrm>
          <a:custGeom>
            <a:avLst/>
            <a:gdLst/>
            <a:ahLst/>
            <a:cxnLst/>
            <a:rect l="0" t="0" r="r" b="b"/>
            <a:pathLst>
              <a:path w="431800" h="215900">
                <a:moveTo>
                  <a:pt x="107950" y="0"/>
                </a:moveTo>
                <a:lnTo>
                  <a:pt x="323850" y="0"/>
                </a:lnTo>
                <a:cubicBezTo>
                  <a:pt x="383476" y="0"/>
                  <a:pt x="431800" y="48324"/>
                  <a:pt x="431800" y="107950"/>
                </a:cubicBezTo>
                <a:lnTo>
                  <a:pt x="431800" y="107950"/>
                </a:lnTo>
                <a:cubicBezTo>
                  <a:pt x="431800" y="167576"/>
                  <a:pt x="383476" y="215900"/>
                  <a:pt x="323850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FFFFFF"/>
          </a:solidFill>
          <a:ln w="10160" cap="rnd">
            <a:solidFill>
              <a:srgbClr val="E0703A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elt-q1-q2"/>
          <p:cNvSpPr txBox="1"/>
          <p:nvPr/>
        </p:nvSpPr>
        <p:spPr>
          <a:xfrm>
            <a:off x="4094480" y="2897124"/>
            <a:ext cx="1930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是</a:t>
            </a:r>
          </a:p>
        </p:txBody>
      </p:sp>
      <p:sp>
        <p:nvSpPr>
          <p:cNvPr id="14" name="e-q1-q3"/>
          <p:cNvSpPr/>
          <p:nvPr/>
        </p:nvSpPr>
        <p:spPr>
          <a:xfrm>
            <a:off x="3302000" y="3556000"/>
            <a:ext cx="1727200" cy="1143000"/>
          </a:xfrm>
          <a:custGeom>
            <a:avLst/>
            <a:gdLst/>
            <a:ahLst/>
            <a:cxnLst/>
            <a:rect l="0" t="0" r="r" b="b"/>
            <a:pathLst>
              <a:path w="1727200" h="1143000">
                <a:moveTo>
                  <a:pt x="0" y="0"/>
                </a:moveTo>
                <a:cubicBezTo>
                  <a:pt x="889000" y="0"/>
                  <a:pt x="889000" y="1143000"/>
                  <a:pt x="1727200" y="1143000"/>
                </a:cubicBezTo>
              </a:path>
            </a:pathLst>
          </a:custGeom>
          <a:noFill/>
          <a:ln w="152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eh-q1-q3"/>
          <p:cNvSpPr/>
          <p:nvPr/>
        </p:nvSpPr>
        <p:spPr>
          <a:xfrm>
            <a:off x="4965700" y="4648200"/>
            <a:ext cx="88900" cy="101600"/>
          </a:xfrm>
          <a:custGeom>
            <a:avLst/>
            <a:gdLst/>
            <a:ahLst/>
            <a:cxnLst/>
            <a:rect l="0" t="0" r="r" b="b"/>
            <a:pathLst>
              <a:path w="88900" h="101600">
                <a:moveTo>
                  <a:pt x="0" y="0"/>
                </a:moveTo>
                <a:lnTo>
                  <a:pt x="88900" y="50800"/>
                </a:lnTo>
                <a:lnTo>
                  <a:pt x="0" y="101600"/>
                </a:lnTo>
                <a:close/>
              </a:path>
            </a:pathLst>
          </a:custGeom>
          <a:solidFill>
            <a:srgbClr val="A9BB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el-q1-q3"/>
          <p:cNvSpPr/>
          <p:nvPr/>
        </p:nvSpPr>
        <p:spPr>
          <a:xfrm>
            <a:off x="3975100" y="4019550"/>
            <a:ext cx="431800" cy="215900"/>
          </a:xfrm>
          <a:custGeom>
            <a:avLst/>
            <a:gdLst/>
            <a:ahLst/>
            <a:cxnLst/>
            <a:rect l="0" t="0" r="r" b="b"/>
            <a:pathLst>
              <a:path w="431800" h="215900">
                <a:moveTo>
                  <a:pt x="107950" y="0"/>
                </a:moveTo>
                <a:lnTo>
                  <a:pt x="323850" y="0"/>
                </a:lnTo>
                <a:cubicBezTo>
                  <a:pt x="383476" y="0"/>
                  <a:pt x="431800" y="48324"/>
                  <a:pt x="431800" y="107950"/>
                </a:cubicBezTo>
                <a:lnTo>
                  <a:pt x="431800" y="107950"/>
                </a:lnTo>
                <a:cubicBezTo>
                  <a:pt x="431800" y="167576"/>
                  <a:pt x="383476" y="215900"/>
                  <a:pt x="323850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FFFFFF"/>
          </a:solidFill>
          <a:ln w="10160" cap="rnd">
            <a:solidFill>
              <a:srgbClr val="A9BBD0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elt-q1-q3"/>
          <p:cNvSpPr txBox="1"/>
          <p:nvPr/>
        </p:nvSpPr>
        <p:spPr>
          <a:xfrm>
            <a:off x="4094480" y="4040124"/>
            <a:ext cx="1930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否</a:t>
            </a:r>
          </a:p>
        </p:txBody>
      </p:sp>
      <p:sp>
        <p:nvSpPr>
          <p:cNvPr id="18" name="e-q2-r1"/>
          <p:cNvSpPr/>
          <p:nvPr/>
        </p:nvSpPr>
        <p:spPr>
          <a:xfrm>
            <a:off x="7112000" y="1778000"/>
            <a:ext cx="1282700" cy="635000"/>
          </a:xfrm>
          <a:custGeom>
            <a:avLst/>
            <a:gdLst/>
            <a:ahLst/>
            <a:cxnLst/>
            <a:rect l="0" t="0" r="r" b="b"/>
            <a:pathLst>
              <a:path w="1282700" h="635000">
                <a:moveTo>
                  <a:pt x="0" y="635000"/>
                </a:moveTo>
                <a:cubicBezTo>
                  <a:pt x="666750" y="635000"/>
                  <a:pt x="666750" y="0"/>
                  <a:pt x="1282700" y="0"/>
                </a:cubicBezTo>
              </a:path>
            </a:pathLst>
          </a:custGeom>
          <a:noFill/>
          <a:ln w="152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eh-q2-r1"/>
          <p:cNvSpPr/>
          <p:nvPr/>
        </p:nvSpPr>
        <p:spPr>
          <a:xfrm>
            <a:off x="8331200" y="1727200"/>
            <a:ext cx="88900" cy="101600"/>
          </a:xfrm>
          <a:custGeom>
            <a:avLst/>
            <a:gdLst/>
            <a:ahLst/>
            <a:cxnLst/>
            <a:rect l="0" t="0" r="r" b="b"/>
            <a:pathLst>
              <a:path w="88900" h="101600">
                <a:moveTo>
                  <a:pt x="0" y="0"/>
                </a:moveTo>
                <a:lnTo>
                  <a:pt x="88900" y="50800"/>
                </a:lnTo>
                <a:lnTo>
                  <a:pt x="0" y="101600"/>
                </a:lnTo>
                <a:close/>
              </a:path>
            </a:pathLst>
          </a:custGeom>
          <a:solidFill>
            <a:srgbClr val="A9BB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el-q2-r1"/>
          <p:cNvSpPr/>
          <p:nvPr/>
        </p:nvSpPr>
        <p:spPr>
          <a:xfrm>
            <a:off x="7562850" y="1987550"/>
            <a:ext cx="431800" cy="215900"/>
          </a:xfrm>
          <a:custGeom>
            <a:avLst/>
            <a:gdLst/>
            <a:ahLst/>
            <a:cxnLst/>
            <a:rect l="0" t="0" r="r" b="b"/>
            <a:pathLst>
              <a:path w="431800" h="215900">
                <a:moveTo>
                  <a:pt x="107950" y="0"/>
                </a:moveTo>
                <a:lnTo>
                  <a:pt x="323850" y="0"/>
                </a:lnTo>
                <a:cubicBezTo>
                  <a:pt x="383477" y="0"/>
                  <a:pt x="431800" y="48324"/>
                  <a:pt x="431800" y="107950"/>
                </a:cubicBezTo>
                <a:lnTo>
                  <a:pt x="431800" y="107950"/>
                </a:lnTo>
                <a:cubicBezTo>
                  <a:pt x="431800" y="167576"/>
                  <a:pt x="383477" y="215900"/>
                  <a:pt x="3238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FFFFFF"/>
          </a:solidFill>
          <a:ln w="10160" cap="rnd">
            <a:solidFill>
              <a:srgbClr val="A9BBD0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elt-q2-r1"/>
          <p:cNvSpPr txBox="1"/>
          <p:nvPr/>
        </p:nvSpPr>
        <p:spPr>
          <a:xfrm>
            <a:off x="7682230" y="2008124"/>
            <a:ext cx="1930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有</a:t>
            </a:r>
          </a:p>
        </p:txBody>
      </p:sp>
      <p:sp>
        <p:nvSpPr>
          <p:cNvPr id="22" name="e-q2-r2"/>
          <p:cNvSpPr/>
          <p:nvPr/>
        </p:nvSpPr>
        <p:spPr>
          <a:xfrm>
            <a:off x="7112000" y="2413000"/>
            <a:ext cx="1282700" cy="635000"/>
          </a:xfrm>
          <a:custGeom>
            <a:avLst/>
            <a:gdLst/>
            <a:ahLst/>
            <a:cxnLst/>
            <a:rect l="0" t="0" r="r" b="b"/>
            <a:pathLst>
              <a:path w="1282700" h="635000">
                <a:moveTo>
                  <a:pt x="0" y="0"/>
                </a:moveTo>
                <a:cubicBezTo>
                  <a:pt x="666750" y="0"/>
                  <a:pt x="666750" y="635000"/>
                  <a:pt x="1282700" y="635000"/>
                </a:cubicBezTo>
              </a:path>
            </a:pathLst>
          </a:custGeom>
          <a:noFill/>
          <a:ln w="2540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eh-q2-r2"/>
          <p:cNvSpPr/>
          <p:nvPr/>
        </p:nvSpPr>
        <p:spPr>
          <a:xfrm>
            <a:off x="8331200" y="2997200"/>
            <a:ext cx="88900" cy="101600"/>
          </a:xfrm>
          <a:custGeom>
            <a:avLst/>
            <a:gdLst/>
            <a:ahLst/>
            <a:cxnLst/>
            <a:rect l="0" t="0" r="r" b="b"/>
            <a:pathLst>
              <a:path w="88900" h="101600">
                <a:moveTo>
                  <a:pt x="0" y="0"/>
                </a:moveTo>
                <a:lnTo>
                  <a:pt x="88900" y="50800"/>
                </a:lnTo>
                <a:lnTo>
                  <a:pt x="0" y="101600"/>
                </a:ln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el-q2-r2"/>
          <p:cNvSpPr/>
          <p:nvPr/>
        </p:nvSpPr>
        <p:spPr>
          <a:xfrm>
            <a:off x="7562850" y="2622550"/>
            <a:ext cx="431800" cy="215900"/>
          </a:xfrm>
          <a:custGeom>
            <a:avLst/>
            <a:gdLst/>
            <a:ahLst/>
            <a:cxnLst/>
            <a:rect l="0" t="0" r="r" b="b"/>
            <a:pathLst>
              <a:path w="431800" h="215900">
                <a:moveTo>
                  <a:pt x="107950" y="0"/>
                </a:moveTo>
                <a:lnTo>
                  <a:pt x="323850" y="0"/>
                </a:lnTo>
                <a:cubicBezTo>
                  <a:pt x="383477" y="0"/>
                  <a:pt x="431800" y="48324"/>
                  <a:pt x="431800" y="107950"/>
                </a:cubicBezTo>
                <a:lnTo>
                  <a:pt x="431800" y="107950"/>
                </a:lnTo>
                <a:cubicBezTo>
                  <a:pt x="431800" y="167576"/>
                  <a:pt x="383477" y="215900"/>
                  <a:pt x="3238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FFFFFF"/>
          </a:solidFill>
          <a:ln w="10160" cap="rnd">
            <a:solidFill>
              <a:srgbClr val="E0703A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elt-q2-r2"/>
          <p:cNvSpPr txBox="1"/>
          <p:nvPr/>
        </p:nvSpPr>
        <p:spPr>
          <a:xfrm>
            <a:off x="7631430" y="2643124"/>
            <a:ext cx="2946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没有</a:t>
            </a:r>
          </a:p>
        </p:txBody>
      </p:sp>
      <p:sp>
        <p:nvSpPr>
          <p:cNvPr id="26" name="e-q3-r3"/>
          <p:cNvSpPr/>
          <p:nvPr/>
        </p:nvSpPr>
        <p:spPr>
          <a:xfrm>
            <a:off x="7112000" y="4191000"/>
            <a:ext cx="1282700" cy="508000"/>
          </a:xfrm>
          <a:custGeom>
            <a:avLst/>
            <a:gdLst/>
            <a:ahLst/>
            <a:cxnLst/>
            <a:rect l="0" t="0" r="r" b="b"/>
            <a:pathLst>
              <a:path w="1282700" h="508000">
                <a:moveTo>
                  <a:pt x="0" y="508000"/>
                </a:moveTo>
                <a:cubicBezTo>
                  <a:pt x="666750" y="508000"/>
                  <a:pt x="666750" y="0"/>
                  <a:pt x="1282700" y="0"/>
                </a:cubicBezTo>
              </a:path>
            </a:pathLst>
          </a:custGeom>
          <a:noFill/>
          <a:ln w="152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eh-q3-r3"/>
          <p:cNvSpPr/>
          <p:nvPr/>
        </p:nvSpPr>
        <p:spPr>
          <a:xfrm>
            <a:off x="8331200" y="4140200"/>
            <a:ext cx="88900" cy="101600"/>
          </a:xfrm>
          <a:custGeom>
            <a:avLst/>
            <a:gdLst/>
            <a:ahLst/>
            <a:cxnLst/>
            <a:rect l="0" t="0" r="r" b="b"/>
            <a:pathLst>
              <a:path w="88900" h="101600">
                <a:moveTo>
                  <a:pt x="0" y="0"/>
                </a:moveTo>
                <a:lnTo>
                  <a:pt x="88900" y="50800"/>
                </a:lnTo>
                <a:lnTo>
                  <a:pt x="0" y="101600"/>
                </a:lnTo>
                <a:close/>
              </a:path>
            </a:pathLst>
          </a:custGeom>
          <a:solidFill>
            <a:srgbClr val="A9BB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el-q3-r3"/>
          <p:cNvSpPr/>
          <p:nvPr/>
        </p:nvSpPr>
        <p:spPr>
          <a:xfrm>
            <a:off x="7562850" y="4337050"/>
            <a:ext cx="431800" cy="215900"/>
          </a:xfrm>
          <a:custGeom>
            <a:avLst/>
            <a:gdLst/>
            <a:ahLst/>
            <a:cxnLst/>
            <a:rect l="0" t="0" r="r" b="b"/>
            <a:pathLst>
              <a:path w="431800" h="215900">
                <a:moveTo>
                  <a:pt x="107950" y="0"/>
                </a:moveTo>
                <a:lnTo>
                  <a:pt x="323850" y="0"/>
                </a:lnTo>
                <a:cubicBezTo>
                  <a:pt x="383477" y="0"/>
                  <a:pt x="431800" y="48324"/>
                  <a:pt x="431800" y="107950"/>
                </a:cubicBezTo>
                <a:lnTo>
                  <a:pt x="431800" y="107950"/>
                </a:lnTo>
                <a:cubicBezTo>
                  <a:pt x="431800" y="167576"/>
                  <a:pt x="383477" y="215900"/>
                  <a:pt x="3238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FFFFFF"/>
          </a:solidFill>
          <a:ln w="10160" cap="rnd">
            <a:solidFill>
              <a:srgbClr val="A9BBD0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elt-q3-r3"/>
          <p:cNvSpPr txBox="1"/>
          <p:nvPr/>
        </p:nvSpPr>
        <p:spPr>
          <a:xfrm>
            <a:off x="7682230" y="4357624"/>
            <a:ext cx="1930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有</a:t>
            </a:r>
          </a:p>
        </p:txBody>
      </p:sp>
      <p:sp>
        <p:nvSpPr>
          <p:cNvPr id="30" name="e-q3-r4"/>
          <p:cNvSpPr/>
          <p:nvPr/>
        </p:nvSpPr>
        <p:spPr>
          <a:xfrm>
            <a:off x="7112000" y="4699000"/>
            <a:ext cx="1282700" cy="635000"/>
          </a:xfrm>
          <a:custGeom>
            <a:avLst/>
            <a:gdLst/>
            <a:ahLst/>
            <a:cxnLst/>
            <a:rect l="0" t="0" r="r" b="b"/>
            <a:pathLst>
              <a:path w="1282700" h="635000">
                <a:moveTo>
                  <a:pt x="0" y="0"/>
                </a:moveTo>
                <a:cubicBezTo>
                  <a:pt x="666750" y="0"/>
                  <a:pt x="666750" y="635000"/>
                  <a:pt x="1282700" y="635000"/>
                </a:cubicBezTo>
              </a:path>
            </a:pathLst>
          </a:custGeom>
          <a:noFill/>
          <a:ln w="152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eh-q3-r4"/>
          <p:cNvSpPr/>
          <p:nvPr/>
        </p:nvSpPr>
        <p:spPr>
          <a:xfrm>
            <a:off x="8331200" y="5283200"/>
            <a:ext cx="88900" cy="101600"/>
          </a:xfrm>
          <a:custGeom>
            <a:avLst/>
            <a:gdLst/>
            <a:ahLst/>
            <a:cxnLst/>
            <a:rect l="0" t="0" r="r" b="b"/>
            <a:pathLst>
              <a:path w="88900" h="101600">
                <a:moveTo>
                  <a:pt x="0" y="0"/>
                </a:moveTo>
                <a:lnTo>
                  <a:pt x="88900" y="50800"/>
                </a:lnTo>
                <a:lnTo>
                  <a:pt x="0" y="101600"/>
                </a:lnTo>
                <a:close/>
              </a:path>
            </a:pathLst>
          </a:custGeom>
          <a:solidFill>
            <a:srgbClr val="A9BB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el-q3-r4"/>
          <p:cNvSpPr/>
          <p:nvPr/>
        </p:nvSpPr>
        <p:spPr>
          <a:xfrm>
            <a:off x="7562850" y="4908550"/>
            <a:ext cx="431800" cy="215900"/>
          </a:xfrm>
          <a:custGeom>
            <a:avLst/>
            <a:gdLst/>
            <a:ahLst/>
            <a:cxnLst/>
            <a:rect l="0" t="0" r="r" b="b"/>
            <a:pathLst>
              <a:path w="431800" h="215900">
                <a:moveTo>
                  <a:pt x="107950" y="0"/>
                </a:moveTo>
                <a:lnTo>
                  <a:pt x="323850" y="0"/>
                </a:lnTo>
                <a:cubicBezTo>
                  <a:pt x="383477" y="0"/>
                  <a:pt x="431800" y="48324"/>
                  <a:pt x="431800" y="107950"/>
                </a:cubicBezTo>
                <a:lnTo>
                  <a:pt x="431800" y="107950"/>
                </a:lnTo>
                <a:cubicBezTo>
                  <a:pt x="431800" y="167576"/>
                  <a:pt x="383477" y="215900"/>
                  <a:pt x="3238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FFFFFF"/>
          </a:solidFill>
          <a:ln w="10160" cap="rnd">
            <a:solidFill>
              <a:srgbClr val="A9BBD0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elt-q3-r4"/>
          <p:cNvSpPr txBox="1"/>
          <p:nvPr/>
        </p:nvSpPr>
        <p:spPr>
          <a:xfrm>
            <a:off x="7631430" y="4929124"/>
            <a:ext cx="2946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没有</a:t>
            </a:r>
          </a:p>
        </p:txBody>
      </p:sp>
      <p:sp>
        <p:nvSpPr>
          <p:cNvPr id="34" name="n-q1"/>
          <p:cNvSpPr/>
          <p:nvPr/>
        </p:nvSpPr>
        <p:spPr>
          <a:xfrm>
            <a:off x="1270000" y="3251200"/>
            <a:ext cx="2032000" cy="609600"/>
          </a:xfrm>
          <a:custGeom>
            <a:avLst/>
            <a:gdLst/>
            <a:ahLst/>
            <a:cxnLst/>
            <a:rect l="0" t="0" r="r" b="b"/>
            <a:pathLst>
              <a:path w="2032000" h="609600">
                <a:moveTo>
                  <a:pt x="304800" y="0"/>
                </a:moveTo>
                <a:lnTo>
                  <a:pt x="1727200" y="0"/>
                </a:lnTo>
                <a:cubicBezTo>
                  <a:pt x="1895538" y="0"/>
                  <a:pt x="2032000" y="136462"/>
                  <a:pt x="2032000" y="304800"/>
                </a:cubicBezTo>
                <a:lnTo>
                  <a:pt x="2032000" y="304800"/>
                </a:lnTo>
                <a:cubicBezTo>
                  <a:pt x="2032000" y="473138"/>
                  <a:pt x="1895538" y="609600"/>
                  <a:pt x="1727200" y="609600"/>
                </a:cubicBezTo>
                <a:lnTo>
                  <a:pt x="304800" y="609600"/>
                </a:lnTo>
                <a:cubicBezTo>
                  <a:pt x="136462" y="609600"/>
                  <a:pt x="0" y="473138"/>
                  <a:pt x="0" y="304800"/>
                </a:cubicBezTo>
                <a:lnTo>
                  <a:pt x="0" y="304800"/>
                </a:lnTo>
                <a:cubicBezTo>
                  <a:pt x="0" y="136462"/>
                  <a:pt x="136462" y="0"/>
                  <a:pt x="3048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nt-q1"/>
          <p:cNvSpPr txBox="1"/>
          <p:nvPr/>
        </p:nvSpPr>
        <p:spPr>
          <a:xfrm>
            <a:off x="1695450" y="3449955"/>
            <a:ext cx="11811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是核心竞争力吗？</a:t>
            </a:r>
          </a:p>
        </p:txBody>
      </p:sp>
      <p:sp>
        <p:nvSpPr>
          <p:cNvPr id="36" name="n-q2"/>
          <p:cNvSpPr/>
          <p:nvPr/>
        </p:nvSpPr>
        <p:spPr>
          <a:xfrm>
            <a:off x="5080000" y="2108200"/>
            <a:ext cx="2032000" cy="609600"/>
          </a:xfrm>
          <a:custGeom>
            <a:avLst/>
            <a:gdLst/>
            <a:ahLst/>
            <a:cxnLst/>
            <a:rect l="0" t="0" r="r" b="b"/>
            <a:pathLst>
              <a:path w="2032000" h="609600">
                <a:moveTo>
                  <a:pt x="304800" y="0"/>
                </a:moveTo>
                <a:lnTo>
                  <a:pt x="1727200" y="0"/>
                </a:lnTo>
                <a:cubicBezTo>
                  <a:pt x="1895538" y="0"/>
                  <a:pt x="2032000" y="136462"/>
                  <a:pt x="2032000" y="304800"/>
                </a:cubicBezTo>
                <a:lnTo>
                  <a:pt x="2032000" y="304800"/>
                </a:lnTo>
                <a:cubicBezTo>
                  <a:pt x="2032000" y="473138"/>
                  <a:pt x="1895538" y="609600"/>
                  <a:pt x="1727200" y="609600"/>
                </a:cubicBezTo>
                <a:lnTo>
                  <a:pt x="304800" y="609600"/>
                </a:lnTo>
                <a:cubicBezTo>
                  <a:pt x="136462" y="609600"/>
                  <a:pt x="0" y="473138"/>
                  <a:pt x="0" y="304800"/>
                </a:cubicBezTo>
                <a:lnTo>
                  <a:pt x="0" y="304800"/>
                </a:lnTo>
                <a:cubicBezTo>
                  <a:pt x="0" y="136462"/>
                  <a:pt x="136462" y="0"/>
                  <a:pt x="3048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nt-q2"/>
          <p:cNvSpPr txBox="1"/>
          <p:nvPr/>
        </p:nvSpPr>
        <p:spPr>
          <a:xfrm>
            <a:off x="5372100" y="2306955"/>
            <a:ext cx="14478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市场上有成熟方案吗？</a:t>
            </a:r>
          </a:p>
        </p:txBody>
      </p:sp>
      <p:sp>
        <p:nvSpPr>
          <p:cNvPr id="38" name="n-q3"/>
          <p:cNvSpPr/>
          <p:nvPr/>
        </p:nvSpPr>
        <p:spPr>
          <a:xfrm>
            <a:off x="5080000" y="4394200"/>
            <a:ext cx="2032000" cy="609600"/>
          </a:xfrm>
          <a:custGeom>
            <a:avLst/>
            <a:gdLst/>
            <a:ahLst/>
            <a:cxnLst/>
            <a:rect l="0" t="0" r="r" b="b"/>
            <a:pathLst>
              <a:path w="2032000" h="609600">
                <a:moveTo>
                  <a:pt x="304800" y="0"/>
                </a:moveTo>
                <a:lnTo>
                  <a:pt x="1727200" y="0"/>
                </a:lnTo>
                <a:cubicBezTo>
                  <a:pt x="1895538" y="0"/>
                  <a:pt x="2032000" y="136462"/>
                  <a:pt x="2032000" y="304800"/>
                </a:cubicBezTo>
                <a:lnTo>
                  <a:pt x="2032000" y="304800"/>
                </a:lnTo>
                <a:cubicBezTo>
                  <a:pt x="2032000" y="473138"/>
                  <a:pt x="1895538" y="609600"/>
                  <a:pt x="1727200" y="609600"/>
                </a:cubicBezTo>
                <a:lnTo>
                  <a:pt x="304800" y="609600"/>
                </a:lnTo>
                <a:cubicBezTo>
                  <a:pt x="136462" y="609600"/>
                  <a:pt x="0" y="473138"/>
                  <a:pt x="0" y="304800"/>
                </a:cubicBezTo>
                <a:lnTo>
                  <a:pt x="0" y="304800"/>
                </a:lnTo>
                <a:cubicBezTo>
                  <a:pt x="0" y="136462"/>
                  <a:pt x="136462" y="0"/>
                  <a:pt x="304800" y="0"/>
                </a:cubicBezTo>
                <a:close/>
              </a:path>
            </a:pathLst>
          </a:custGeom>
          <a:solidFill>
            <a:srgbClr val="FFFFFF"/>
          </a:solidFill>
          <a:ln w="12700" cap="rnd">
            <a:solidFill>
              <a:srgbClr val="1B5AA8"/>
            </a:solidFill>
            <a:round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nt-q3"/>
          <p:cNvSpPr txBox="1"/>
          <p:nvPr/>
        </p:nvSpPr>
        <p:spPr>
          <a:xfrm>
            <a:off x="5372100" y="4592955"/>
            <a:ext cx="14478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有合适的合作伙伴吗？</a:t>
            </a:r>
          </a:p>
        </p:txBody>
      </p:sp>
      <p:sp>
        <p:nvSpPr>
          <p:cNvPr id="40" name="n-r1"/>
          <p:cNvSpPr/>
          <p:nvPr/>
        </p:nvSpPr>
        <p:spPr>
          <a:xfrm>
            <a:off x="8445500" y="1409700"/>
            <a:ext cx="2667000" cy="736600"/>
          </a:xfrm>
          <a:custGeom>
            <a:avLst/>
            <a:gdLst/>
            <a:ahLst/>
            <a:cxnLst/>
            <a:rect l="0" t="0" r="r" b="b"/>
            <a:pathLst>
              <a:path w="2667000" h="736600">
                <a:moveTo>
                  <a:pt x="114300" y="0"/>
                </a:moveTo>
                <a:lnTo>
                  <a:pt x="2552700" y="0"/>
                </a:lnTo>
                <a:cubicBezTo>
                  <a:pt x="2615819" y="0"/>
                  <a:pt x="2667000" y="51181"/>
                  <a:pt x="2667000" y="114300"/>
                </a:cubicBezTo>
                <a:lnTo>
                  <a:pt x="2667000" y="622300"/>
                </a:lnTo>
                <a:cubicBezTo>
                  <a:pt x="2667000" y="685419"/>
                  <a:pt x="2615819" y="736600"/>
                  <a:pt x="2552700" y="736600"/>
                </a:cubicBezTo>
                <a:lnTo>
                  <a:pt x="114300" y="736600"/>
                </a:lnTo>
                <a:cubicBezTo>
                  <a:pt x="51181" y="736600"/>
                  <a:pt x="0" y="685419"/>
                  <a:pt x="0" y="622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nb-r1"/>
          <p:cNvSpPr/>
          <p:nvPr/>
        </p:nvSpPr>
        <p:spPr>
          <a:xfrm>
            <a:off x="8445500" y="1409700"/>
            <a:ext cx="38100" cy="736600"/>
          </a:xfrm>
          <a:custGeom>
            <a:avLst/>
            <a:gdLst/>
            <a:ahLst/>
            <a:cxnLst/>
            <a:rect l="0" t="0" r="r" b="b"/>
            <a:pathLst>
              <a:path w="38100" h="7366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717550"/>
                </a:lnTo>
                <a:cubicBezTo>
                  <a:pt x="38100" y="728091"/>
                  <a:pt x="29591" y="736600"/>
                  <a:pt x="19050" y="736600"/>
                </a:cubicBezTo>
                <a:lnTo>
                  <a:pt x="19050" y="736600"/>
                </a:lnTo>
                <a:cubicBezTo>
                  <a:pt x="8509" y="736600"/>
                  <a:pt x="0" y="728091"/>
                  <a:pt x="0" y="7175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nt-r1"/>
          <p:cNvSpPr txBox="1"/>
          <p:nvPr/>
        </p:nvSpPr>
        <p:spPr>
          <a:xfrm>
            <a:off x="8596122" y="1565497"/>
            <a:ext cx="1559052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采购成熟方案 + 深度定制</a:t>
            </a:r>
          </a:p>
        </p:txBody>
      </p:sp>
      <p:sp>
        <p:nvSpPr>
          <p:cNvPr id="43" name="nd-r1"/>
          <p:cNvSpPr txBox="1"/>
          <p:nvPr/>
        </p:nvSpPr>
        <p:spPr>
          <a:xfrm>
            <a:off x="8599170" y="1838166"/>
            <a:ext cx="142875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周期 6 个月 · 投入 ¥800 万</a:t>
            </a:r>
          </a:p>
        </p:txBody>
      </p:sp>
      <p:sp>
        <p:nvSpPr>
          <p:cNvPr id="44" name="n-r2"/>
          <p:cNvSpPr/>
          <p:nvPr/>
        </p:nvSpPr>
        <p:spPr>
          <a:xfrm>
            <a:off x="8445500" y="2679700"/>
            <a:ext cx="2667000" cy="736600"/>
          </a:xfrm>
          <a:custGeom>
            <a:avLst/>
            <a:gdLst/>
            <a:ahLst/>
            <a:cxnLst/>
            <a:rect l="0" t="0" r="r" b="b"/>
            <a:pathLst>
              <a:path w="2667000" h="736600">
                <a:moveTo>
                  <a:pt x="114300" y="0"/>
                </a:moveTo>
                <a:lnTo>
                  <a:pt x="2552700" y="0"/>
                </a:lnTo>
                <a:cubicBezTo>
                  <a:pt x="2615819" y="0"/>
                  <a:pt x="2667000" y="51181"/>
                  <a:pt x="2667000" y="114300"/>
                </a:cubicBezTo>
                <a:lnTo>
                  <a:pt x="2667000" y="622300"/>
                </a:lnTo>
                <a:cubicBezTo>
                  <a:pt x="2667000" y="685419"/>
                  <a:pt x="2615819" y="736600"/>
                  <a:pt x="2552700" y="736600"/>
                </a:cubicBezTo>
                <a:lnTo>
                  <a:pt x="114300" y="736600"/>
                </a:lnTo>
                <a:cubicBezTo>
                  <a:pt x="51181" y="736600"/>
                  <a:pt x="0" y="685419"/>
                  <a:pt x="0" y="622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 w="15240" cap="rnd">
            <a:noFill/>
            <a:round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nb-r2"/>
          <p:cNvSpPr/>
          <p:nvPr/>
        </p:nvSpPr>
        <p:spPr>
          <a:xfrm>
            <a:off x="8445500" y="2679700"/>
            <a:ext cx="38100" cy="736600"/>
          </a:xfrm>
          <a:custGeom>
            <a:avLst/>
            <a:gdLst/>
            <a:ahLst/>
            <a:cxnLst/>
            <a:rect l="0" t="0" r="r" b="b"/>
            <a:pathLst>
              <a:path w="38100" h="7366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717550"/>
                </a:lnTo>
                <a:cubicBezTo>
                  <a:pt x="38100" y="728091"/>
                  <a:pt x="29591" y="736600"/>
                  <a:pt x="19050" y="736600"/>
                </a:cubicBezTo>
                <a:lnTo>
                  <a:pt x="19050" y="736600"/>
                </a:lnTo>
                <a:cubicBezTo>
                  <a:pt x="8509" y="736600"/>
                  <a:pt x="0" y="728091"/>
                  <a:pt x="0" y="7175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DA6E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nt-r2"/>
          <p:cNvSpPr txBox="1"/>
          <p:nvPr/>
        </p:nvSpPr>
        <p:spPr>
          <a:xfrm>
            <a:off x="8596122" y="2835497"/>
            <a:ext cx="1223010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自建团队，长期投入</a:t>
            </a:r>
          </a:p>
        </p:txBody>
      </p:sp>
      <p:sp>
        <p:nvSpPr>
          <p:cNvPr id="47" name="nd-r2"/>
          <p:cNvSpPr txBox="1"/>
          <p:nvPr/>
        </p:nvSpPr>
        <p:spPr>
          <a:xfrm>
            <a:off x="8599170" y="3108166"/>
            <a:ext cx="15944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周期 18 个月 · 投入 ¥2,400 万</a:t>
            </a:r>
          </a:p>
        </p:txBody>
      </p:sp>
      <p:sp>
        <p:nvSpPr>
          <p:cNvPr id="48" name="pick"/>
          <p:cNvSpPr/>
          <p:nvPr/>
        </p:nvSpPr>
        <p:spPr>
          <a:xfrm>
            <a:off x="10541000" y="2578100"/>
            <a:ext cx="508000" cy="190500"/>
          </a:xfrm>
          <a:custGeom>
            <a:avLst/>
            <a:gdLst/>
            <a:ahLst/>
            <a:cxnLst/>
            <a:rect l="0" t="0" r="r" b="b"/>
            <a:pathLst>
              <a:path w="508000" h="190500">
                <a:moveTo>
                  <a:pt x="95250" y="0"/>
                </a:moveTo>
                <a:lnTo>
                  <a:pt x="412750" y="0"/>
                </a:lnTo>
                <a:cubicBezTo>
                  <a:pt x="465328" y="0"/>
                  <a:pt x="508000" y="42672"/>
                  <a:pt x="508000" y="95250"/>
                </a:cubicBezTo>
                <a:lnTo>
                  <a:pt x="508000" y="95250"/>
                </a:lnTo>
                <a:cubicBezTo>
                  <a:pt x="508000" y="147828"/>
                  <a:pt x="465328" y="190500"/>
                  <a:pt x="4127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pick-t"/>
          <p:cNvSpPr txBox="1"/>
          <p:nvPr/>
        </p:nvSpPr>
        <p:spPr>
          <a:xfrm>
            <a:off x="10577195" y="2601658"/>
            <a:ext cx="4356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本次结论</a:t>
            </a:r>
          </a:p>
        </p:txBody>
      </p:sp>
      <p:sp>
        <p:nvSpPr>
          <p:cNvPr id="50" name="n-r3"/>
          <p:cNvSpPr/>
          <p:nvPr/>
        </p:nvSpPr>
        <p:spPr>
          <a:xfrm>
            <a:off x="8445500" y="3822700"/>
            <a:ext cx="2667000" cy="736600"/>
          </a:xfrm>
          <a:custGeom>
            <a:avLst/>
            <a:gdLst/>
            <a:ahLst/>
            <a:cxnLst/>
            <a:rect l="0" t="0" r="r" b="b"/>
            <a:pathLst>
              <a:path w="2667000" h="736600">
                <a:moveTo>
                  <a:pt x="114300" y="0"/>
                </a:moveTo>
                <a:lnTo>
                  <a:pt x="2552700" y="0"/>
                </a:lnTo>
                <a:cubicBezTo>
                  <a:pt x="2615819" y="0"/>
                  <a:pt x="2667000" y="51181"/>
                  <a:pt x="2667000" y="114300"/>
                </a:cubicBezTo>
                <a:lnTo>
                  <a:pt x="2667000" y="622300"/>
                </a:lnTo>
                <a:cubicBezTo>
                  <a:pt x="2667000" y="685419"/>
                  <a:pt x="2615819" y="736600"/>
                  <a:pt x="2552700" y="736600"/>
                </a:cubicBezTo>
                <a:lnTo>
                  <a:pt x="114300" y="736600"/>
                </a:lnTo>
                <a:cubicBezTo>
                  <a:pt x="51181" y="736600"/>
                  <a:pt x="0" y="685419"/>
                  <a:pt x="0" y="622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nb-r3"/>
          <p:cNvSpPr/>
          <p:nvPr/>
        </p:nvSpPr>
        <p:spPr>
          <a:xfrm>
            <a:off x="8445500" y="3822700"/>
            <a:ext cx="38100" cy="736600"/>
          </a:xfrm>
          <a:custGeom>
            <a:avLst/>
            <a:gdLst/>
            <a:ahLst/>
            <a:cxnLst/>
            <a:rect l="0" t="0" r="r" b="b"/>
            <a:pathLst>
              <a:path w="38100" h="7366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717550"/>
                </a:lnTo>
                <a:cubicBezTo>
                  <a:pt x="38100" y="728091"/>
                  <a:pt x="29591" y="736600"/>
                  <a:pt x="19050" y="736600"/>
                </a:cubicBezTo>
                <a:lnTo>
                  <a:pt x="19050" y="736600"/>
                </a:lnTo>
                <a:cubicBezTo>
                  <a:pt x="8509" y="736600"/>
                  <a:pt x="0" y="728091"/>
                  <a:pt x="0" y="7175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nt-r3"/>
          <p:cNvSpPr txBox="1"/>
          <p:nvPr/>
        </p:nvSpPr>
        <p:spPr>
          <a:xfrm>
            <a:off x="8596122" y="3978497"/>
            <a:ext cx="1223010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战略合作，共担风险</a:t>
            </a:r>
          </a:p>
        </p:txBody>
      </p:sp>
      <p:sp>
        <p:nvSpPr>
          <p:cNvPr id="53" name="nd-r3"/>
          <p:cNvSpPr txBox="1"/>
          <p:nvPr/>
        </p:nvSpPr>
        <p:spPr>
          <a:xfrm>
            <a:off x="8599170" y="4251166"/>
            <a:ext cx="142875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周期 9 个月 · 投入 ¥600 万</a:t>
            </a:r>
          </a:p>
        </p:txBody>
      </p:sp>
      <p:sp>
        <p:nvSpPr>
          <p:cNvPr id="54" name="n-r4"/>
          <p:cNvSpPr/>
          <p:nvPr/>
        </p:nvSpPr>
        <p:spPr>
          <a:xfrm>
            <a:off x="8445500" y="4965700"/>
            <a:ext cx="2667000" cy="736600"/>
          </a:xfrm>
          <a:custGeom>
            <a:avLst/>
            <a:gdLst/>
            <a:ahLst/>
            <a:cxnLst/>
            <a:rect l="0" t="0" r="r" b="b"/>
            <a:pathLst>
              <a:path w="2667000" h="736600">
                <a:moveTo>
                  <a:pt x="114300" y="0"/>
                </a:moveTo>
                <a:lnTo>
                  <a:pt x="2552700" y="0"/>
                </a:lnTo>
                <a:cubicBezTo>
                  <a:pt x="2615819" y="0"/>
                  <a:pt x="2667000" y="51181"/>
                  <a:pt x="2667000" y="114300"/>
                </a:cubicBezTo>
                <a:lnTo>
                  <a:pt x="2667000" y="622300"/>
                </a:lnTo>
                <a:cubicBezTo>
                  <a:pt x="2667000" y="685419"/>
                  <a:pt x="2615819" y="736600"/>
                  <a:pt x="2552700" y="736600"/>
                </a:cubicBezTo>
                <a:lnTo>
                  <a:pt x="114300" y="736600"/>
                </a:lnTo>
                <a:cubicBezTo>
                  <a:pt x="51181" y="736600"/>
                  <a:pt x="0" y="685419"/>
                  <a:pt x="0" y="622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nb-r4"/>
          <p:cNvSpPr/>
          <p:nvPr/>
        </p:nvSpPr>
        <p:spPr>
          <a:xfrm>
            <a:off x="8445500" y="4965700"/>
            <a:ext cx="38100" cy="736600"/>
          </a:xfrm>
          <a:custGeom>
            <a:avLst/>
            <a:gdLst/>
            <a:ahLst/>
            <a:cxnLst/>
            <a:rect l="0" t="0" r="r" b="b"/>
            <a:pathLst>
              <a:path w="38100" h="7366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717550"/>
                </a:lnTo>
                <a:cubicBezTo>
                  <a:pt x="38100" y="728091"/>
                  <a:pt x="29591" y="736600"/>
                  <a:pt x="19050" y="736600"/>
                </a:cubicBezTo>
                <a:lnTo>
                  <a:pt x="19050" y="736600"/>
                </a:lnTo>
                <a:cubicBezTo>
                  <a:pt x="8509" y="736600"/>
                  <a:pt x="0" y="728091"/>
                  <a:pt x="0" y="7175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7E93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nt-r4"/>
          <p:cNvSpPr txBox="1"/>
          <p:nvPr/>
        </p:nvSpPr>
        <p:spPr>
          <a:xfrm>
            <a:off x="8596122" y="5121497"/>
            <a:ext cx="1223010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直接外包，按量付费</a:t>
            </a:r>
          </a:p>
        </p:txBody>
      </p:sp>
      <p:sp>
        <p:nvSpPr>
          <p:cNvPr id="57" name="nd-r4"/>
          <p:cNvSpPr txBox="1"/>
          <p:nvPr/>
        </p:nvSpPr>
        <p:spPr>
          <a:xfrm>
            <a:off x="8599170" y="5394166"/>
            <a:ext cx="142875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周期 3 个月 · 投入 ¥200 万</a:t>
            </a:r>
          </a:p>
        </p:txBody>
      </p:sp>
      <p:sp>
        <p:nvSpPr>
          <p:cNvPr id="58" name="case"/>
          <p:cNvSpPr/>
          <p:nvPr/>
        </p:nvSpPr>
        <p:spPr>
          <a:xfrm>
            <a:off x="952500" y="1587500"/>
            <a:ext cx="2667000" cy="952500"/>
          </a:xfrm>
          <a:custGeom>
            <a:avLst/>
            <a:gdLst/>
            <a:ahLst/>
            <a:cxnLst/>
            <a:rect l="0" t="0" r="r" b="b"/>
            <a:pathLst>
              <a:path w="2667000" h="952500">
                <a:moveTo>
                  <a:pt x="127000" y="0"/>
                </a:moveTo>
                <a:lnTo>
                  <a:pt x="2540000" y="0"/>
                </a:lnTo>
                <a:cubicBezTo>
                  <a:pt x="2610167" y="0"/>
                  <a:pt x="2667000" y="56832"/>
                  <a:pt x="2667000" y="127000"/>
                </a:cubicBezTo>
                <a:lnTo>
                  <a:pt x="2667000" y="825500"/>
                </a:lnTo>
                <a:cubicBezTo>
                  <a:pt x="2667000" y="895668"/>
                  <a:pt x="2610167" y="952500"/>
                  <a:pt x="2540000" y="952500"/>
                </a:cubicBezTo>
                <a:lnTo>
                  <a:pt x="127000" y="952500"/>
                </a:lnTo>
                <a:cubicBezTo>
                  <a:pt x="56832" y="952500"/>
                  <a:pt x="0" y="895668"/>
                  <a:pt x="0" y="825500"/>
                </a:cubicBezTo>
                <a:lnTo>
                  <a:pt x="0" y="127000"/>
                </a:lnTo>
                <a:cubicBezTo>
                  <a:pt x="0" y="56832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case-b"/>
          <p:cNvSpPr/>
          <p:nvPr/>
        </p:nvSpPr>
        <p:spPr>
          <a:xfrm>
            <a:off x="952500" y="1587500"/>
            <a:ext cx="38100" cy="952500"/>
          </a:xfrm>
          <a:custGeom>
            <a:avLst/>
            <a:gdLst/>
            <a:ahLst/>
            <a:cxnLst/>
            <a:rect l="0" t="0" r="r" b="b"/>
            <a:pathLst>
              <a:path w="38100" h="9525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933450"/>
                </a:lnTo>
                <a:cubicBezTo>
                  <a:pt x="38100" y="943991"/>
                  <a:pt x="29591" y="952500"/>
                  <a:pt x="19050" y="952500"/>
                </a:cubicBezTo>
                <a:lnTo>
                  <a:pt x="19050" y="952500"/>
                </a:lnTo>
                <a:cubicBezTo>
                  <a:pt x="8509" y="952500"/>
                  <a:pt x="0" y="943991"/>
                  <a:pt x="0" y="9334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case-h"/>
          <p:cNvSpPr txBox="1"/>
          <p:nvPr/>
        </p:nvSpPr>
        <p:spPr>
          <a:xfrm>
            <a:off x="1131570" y="1736566"/>
            <a:ext cx="5175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本次评估</a:t>
            </a:r>
          </a:p>
        </p:txBody>
      </p:sp>
      <p:sp>
        <p:nvSpPr>
          <p:cNvPr id="61" name="case-t"/>
          <p:cNvSpPr txBox="1"/>
          <p:nvPr/>
        </p:nvSpPr>
        <p:spPr>
          <a:xfrm>
            <a:off x="1124712" y="1919986"/>
            <a:ext cx="1393317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AI 排产算法能力</a:t>
            </a:r>
          </a:p>
        </p:txBody>
      </p:sp>
      <p:sp>
        <p:nvSpPr>
          <p:cNvPr id="62" name="case-p"/>
          <p:cNvSpPr txBox="1"/>
          <p:nvPr/>
        </p:nvSpPr>
        <p:spPr>
          <a:xfrm>
            <a:off x="1131189" y="2227945"/>
            <a:ext cx="156394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核心竞争力 · 市场暂无成熟方案</a:t>
            </a:r>
          </a:p>
        </p:txBody>
      </p:sp>
      <p:cxnSp>
        <p:nvCxnSpPr>
          <p:cNvPr id="63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foot-l"/>
          <p:cNvSpPr txBox="1"/>
          <p:nvPr/>
        </p:nvSpPr>
        <p:spPr>
          <a:xfrm>
            <a:off x="573532" y="6532308"/>
            <a:ext cx="13406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决策树 · 三个问题四个结论</a:t>
            </a:r>
          </a:p>
        </p:txBody>
      </p:sp>
      <p:sp>
        <p:nvSpPr>
          <p:cNvPr id="65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两类核心用户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71907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PERSONA COMPARISON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532495" y="673132"/>
            <a:ext cx="30882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同一个产品，决策者看结果、使用者看效率——卖点要分开讲</a:t>
            </a:r>
          </a:p>
        </p:txBody>
      </p:sp>
      <p:sp>
        <p:nvSpPr>
          <p:cNvPr id="10" name="card-1"/>
          <p:cNvSpPr/>
          <p:nvPr/>
        </p:nvSpPr>
        <p:spPr>
          <a:xfrm>
            <a:off x="952500" y="1358900"/>
            <a:ext cx="5016500" cy="4699000"/>
          </a:xfrm>
          <a:custGeom>
            <a:avLst/>
            <a:gdLst/>
            <a:ahLst/>
            <a:cxnLst/>
            <a:rect l="0" t="0" r="r" b="b"/>
            <a:pathLst>
              <a:path w="5016500" h="4699000">
                <a:moveTo>
                  <a:pt x="165100" y="0"/>
                </a:moveTo>
                <a:lnTo>
                  <a:pt x="4851400" y="0"/>
                </a:lnTo>
                <a:cubicBezTo>
                  <a:pt x="4942586" y="0"/>
                  <a:pt x="5016500" y="73914"/>
                  <a:pt x="5016500" y="165100"/>
                </a:cubicBezTo>
                <a:lnTo>
                  <a:pt x="5016500" y="4533900"/>
                </a:lnTo>
                <a:cubicBezTo>
                  <a:pt x="5016500" y="4625086"/>
                  <a:pt x="4942586" y="4699000"/>
                  <a:pt x="4851400" y="4699000"/>
                </a:cubicBezTo>
                <a:lnTo>
                  <a:pt x="165100" y="4699000"/>
                </a:lnTo>
                <a:cubicBezTo>
                  <a:pt x="73914" y="4699000"/>
                  <a:pt x="0" y="4625086"/>
                  <a:pt x="0" y="45339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hd-1"/>
          <p:cNvSpPr/>
          <p:nvPr/>
        </p:nvSpPr>
        <p:spPr>
          <a:xfrm>
            <a:off x="952500" y="1358900"/>
            <a:ext cx="5016500" cy="1079500"/>
          </a:xfrm>
          <a:custGeom>
            <a:avLst/>
            <a:gdLst/>
            <a:ahLst/>
            <a:cxnLst/>
            <a:rect l="0" t="0" r="r" b="b"/>
            <a:pathLst>
              <a:path w="5016500" h="1079500">
                <a:moveTo>
                  <a:pt x="165100" y="0"/>
                </a:moveTo>
                <a:lnTo>
                  <a:pt x="4851400" y="0"/>
                </a:lnTo>
                <a:cubicBezTo>
                  <a:pt x="4942586" y="0"/>
                  <a:pt x="5016500" y="73914"/>
                  <a:pt x="5016500" y="165100"/>
                </a:cubicBezTo>
                <a:lnTo>
                  <a:pt x="5016500" y="914400"/>
                </a:lnTo>
                <a:cubicBezTo>
                  <a:pt x="5016500" y="1005586"/>
                  <a:pt x="4942586" y="1079500"/>
                  <a:pt x="4851400" y="1079500"/>
                </a:cubicBezTo>
                <a:lnTo>
                  <a:pt x="165100" y="1079500"/>
                </a:lnTo>
                <a:cubicBezTo>
                  <a:pt x="73914" y="1079500"/>
                  <a:pt x="0" y="1005586"/>
                  <a:pt x="0" y="9144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hd2-1"/>
          <p:cNvSpPr/>
          <p:nvPr/>
        </p:nvSpPr>
        <p:spPr>
          <a:xfrm>
            <a:off x="952500" y="2247900"/>
            <a:ext cx="5016500" cy="190500"/>
          </a:xfrm>
          <a:prstGeom prst="rect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av-1"/>
          <p:cNvSpPr/>
          <p:nvPr/>
        </p:nvSpPr>
        <p:spPr>
          <a:xfrm>
            <a:off x="1206500" y="1549400"/>
            <a:ext cx="711200" cy="711200"/>
          </a:xfrm>
          <a:prstGeom prst="ellipse">
            <a:avLst/>
          </a:pr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avt-1"/>
          <p:cNvSpPr txBox="1"/>
          <p:nvPr/>
        </p:nvSpPr>
        <p:spPr>
          <a:xfrm>
            <a:off x="1320800" y="1692910"/>
            <a:ext cx="48260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0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林</a:t>
            </a:r>
          </a:p>
        </p:txBody>
      </p:sp>
      <p:sp>
        <p:nvSpPr>
          <p:cNvPr id="15" name="role-1"/>
          <p:cNvSpPr txBox="1"/>
          <p:nvPr/>
        </p:nvSpPr>
        <p:spPr>
          <a:xfrm>
            <a:off x="2069592" y="1536764"/>
            <a:ext cx="937260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2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决策者</a:t>
            </a:r>
          </a:p>
        </p:txBody>
      </p:sp>
      <p:sp>
        <p:nvSpPr>
          <p:cNvPr id="16" name="sub-1"/>
          <p:cNvSpPr txBox="1"/>
          <p:nvPr/>
        </p:nvSpPr>
        <p:spPr>
          <a:xfrm>
            <a:off x="2082546" y="1911382"/>
            <a:ext cx="86906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50">
                <a:solidFill>
                  <a:srgbClr val="F1F4F8"/>
                </a:solidFill>
                <a:latin typeface="微软雅黑"/>
                <a:ea typeface="微软雅黑"/>
                <a:cs typeface="微软雅黑"/>
              </a:rPr>
              <a:t>老板 / 总经理</a:t>
            </a:r>
          </a:p>
        </p:txBody>
      </p:sp>
      <p:sp>
        <p:nvSpPr>
          <p:cNvPr id="17" name="nm-1"/>
          <p:cNvSpPr txBox="1"/>
          <p:nvPr/>
        </p:nvSpPr>
        <p:spPr>
          <a:xfrm>
            <a:off x="5339334" y="1630870"/>
            <a:ext cx="4305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林总</a:t>
            </a:r>
          </a:p>
        </p:txBody>
      </p:sp>
      <p:sp>
        <p:nvSpPr>
          <p:cNvPr id="18" name="meta-1"/>
          <p:cNvSpPr txBox="1"/>
          <p:nvPr/>
        </p:nvSpPr>
        <p:spPr>
          <a:xfrm>
            <a:off x="4552315" y="1901666"/>
            <a:ext cx="12122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25">
                <a:solidFill>
                  <a:srgbClr val="F1F4F8"/>
                </a:solidFill>
                <a:latin typeface="微软雅黑"/>
                <a:ea typeface="微软雅黑"/>
                <a:cs typeface="微软雅黑"/>
              </a:rPr>
              <a:t>48 岁 · 制造企业创始人</a:t>
            </a:r>
          </a:p>
        </p:txBody>
      </p:sp>
      <p:sp>
        <p:nvSpPr>
          <p:cNvPr id="19" name="h-1-0"/>
          <p:cNvSpPr txBox="1"/>
          <p:nvPr/>
        </p:nvSpPr>
        <p:spPr>
          <a:xfrm>
            <a:off x="1153922" y="2619597"/>
            <a:ext cx="387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痛点</a:t>
            </a:r>
          </a:p>
        </p:txBody>
      </p:sp>
      <p:sp>
        <p:nvSpPr>
          <p:cNvPr id="20" name="it-1-0-0"/>
          <p:cNvSpPr/>
          <p:nvPr/>
        </p:nvSpPr>
        <p:spPr>
          <a:xfrm>
            <a:off x="1168400" y="2870200"/>
            <a:ext cx="2159000" cy="254000"/>
          </a:xfrm>
          <a:custGeom>
            <a:avLst/>
            <a:gdLst/>
            <a:ahLst/>
            <a:cxnLst/>
            <a:rect l="0" t="0" r="r" b="b"/>
            <a:pathLst>
              <a:path w="2159000" h="254000">
                <a:moveTo>
                  <a:pt x="76200" y="0"/>
                </a:moveTo>
                <a:lnTo>
                  <a:pt x="2082800" y="0"/>
                </a:lnTo>
                <a:cubicBezTo>
                  <a:pt x="2124900" y="0"/>
                  <a:pt x="2159000" y="34100"/>
                  <a:pt x="2159000" y="76200"/>
                </a:cubicBezTo>
                <a:lnTo>
                  <a:pt x="2159000" y="177800"/>
                </a:lnTo>
                <a:cubicBezTo>
                  <a:pt x="2159000" y="219900"/>
                  <a:pt x="2124900" y="254000"/>
                  <a:pt x="2082800" y="254000"/>
                </a:cubicBezTo>
                <a:lnTo>
                  <a:pt x="76200" y="254000"/>
                </a:lnTo>
                <a:cubicBezTo>
                  <a:pt x="34100" y="254000"/>
                  <a:pt x="0" y="219900"/>
                  <a:pt x="0" y="1778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E0703A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itt-1-0-0"/>
          <p:cNvSpPr txBox="1"/>
          <p:nvPr/>
        </p:nvSpPr>
        <p:spPr>
          <a:xfrm>
            <a:off x="1269746" y="2901982"/>
            <a:ext cx="87058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经营数据看不清</a:t>
            </a:r>
          </a:p>
        </p:txBody>
      </p:sp>
      <p:sp>
        <p:nvSpPr>
          <p:cNvPr id="22" name="it-1-0-1"/>
          <p:cNvSpPr/>
          <p:nvPr/>
        </p:nvSpPr>
        <p:spPr>
          <a:xfrm>
            <a:off x="1168400" y="3187700"/>
            <a:ext cx="2159000" cy="254000"/>
          </a:xfrm>
          <a:custGeom>
            <a:avLst/>
            <a:gdLst/>
            <a:ahLst/>
            <a:cxnLst/>
            <a:rect l="0" t="0" r="r" b="b"/>
            <a:pathLst>
              <a:path w="2159000" h="254000">
                <a:moveTo>
                  <a:pt x="76200" y="0"/>
                </a:moveTo>
                <a:lnTo>
                  <a:pt x="2082800" y="0"/>
                </a:lnTo>
                <a:cubicBezTo>
                  <a:pt x="2124900" y="0"/>
                  <a:pt x="2159000" y="34100"/>
                  <a:pt x="2159000" y="76200"/>
                </a:cubicBezTo>
                <a:lnTo>
                  <a:pt x="2159000" y="177800"/>
                </a:lnTo>
                <a:cubicBezTo>
                  <a:pt x="2159000" y="219900"/>
                  <a:pt x="2124900" y="254000"/>
                  <a:pt x="2082800" y="254000"/>
                </a:cubicBezTo>
                <a:lnTo>
                  <a:pt x="76200" y="254000"/>
                </a:lnTo>
                <a:cubicBezTo>
                  <a:pt x="34100" y="254000"/>
                  <a:pt x="0" y="219900"/>
                  <a:pt x="0" y="1778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E0703A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itt-1-0-1"/>
          <p:cNvSpPr txBox="1"/>
          <p:nvPr/>
        </p:nvSpPr>
        <p:spPr>
          <a:xfrm>
            <a:off x="1269746" y="3219482"/>
            <a:ext cx="113804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管理层汇报靠 Excel</a:t>
            </a:r>
          </a:p>
        </p:txBody>
      </p:sp>
      <p:sp>
        <p:nvSpPr>
          <p:cNvPr id="24" name="h-1-1"/>
          <p:cNvSpPr txBox="1"/>
          <p:nvPr/>
        </p:nvSpPr>
        <p:spPr>
          <a:xfrm>
            <a:off x="3503422" y="2619597"/>
            <a:ext cx="387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50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期望</a:t>
            </a:r>
          </a:p>
        </p:txBody>
      </p:sp>
      <p:sp>
        <p:nvSpPr>
          <p:cNvPr id="25" name="it-1-1-0"/>
          <p:cNvSpPr/>
          <p:nvPr/>
        </p:nvSpPr>
        <p:spPr>
          <a:xfrm>
            <a:off x="3517900" y="2870200"/>
            <a:ext cx="2159000" cy="254000"/>
          </a:xfrm>
          <a:custGeom>
            <a:avLst/>
            <a:gdLst/>
            <a:ahLst/>
            <a:cxnLst/>
            <a:rect l="0" t="0" r="r" b="b"/>
            <a:pathLst>
              <a:path w="2159000" h="254000">
                <a:moveTo>
                  <a:pt x="76200" y="0"/>
                </a:moveTo>
                <a:lnTo>
                  <a:pt x="2082800" y="0"/>
                </a:lnTo>
                <a:cubicBezTo>
                  <a:pt x="2124900" y="0"/>
                  <a:pt x="2159000" y="34100"/>
                  <a:pt x="2159000" y="76200"/>
                </a:cubicBezTo>
                <a:lnTo>
                  <a:pt x="2159000" y="177800"/>
                </a:lnTo>
                <a:cubicBezTo>
                  <a:pt x="2159000" y="219900"/>
                  <a:pt x="2124900" y="254000"/>
                  <a:pt x="2082800" y="254000"/>
                </a:cubicBezTo>
                <a:lnTo>
                  <a:pt x="76200" y="254000"/>
                </a:lnTo>
                <a:cubicBezTo>
                  <a:pt x="34100" y="254000"/>
                  <a:pt x="0" y="219900"/>
                  <a:pt x="0" y="1778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134C9C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itt-1-1-0"/>
          <p:cNvSpPr txBox="1"/>
          <p:nvPr/>
        </p:nvSpPr>
        <p:spPr>
          <a:xfrm>
            <a:off x="3619246" y="2901982"/>
            <a:ext cx="87058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一张图看全公司</a:t>
            </a:r>
          </a:p>
        </p:txBody>
      </p:sp>
      <p:sp>
        <p:nvSpPr>
          <p:cNvPr id="27" name="it-1-1-1"/>
          <p:cNvSpPr/>
          <p:nvPr/>
        </p:nvSpPr>
        <p:spPr>
          <a:xfrm>
            <a:off x="3517900" y="3187700"/>
            <a:ext cx="2159000" cy="254000"/>
          </a:xfrm>
          <a:custGeom>
            <a:avLst/>
            <a:gdLst/>
            <a:ahLst/>
            <a:cxnLst/>
            <a:rect l="0" t="0" r="r" b="b"/>
            <a:pathLst>
              <a:path w="2159000" h="254000">
                <a:moveTo>
                  <a:pt x="76200" y="0"/>
                </a:moveTo>
                <a:lnTo>
                  <a:pt x="2082800" y="0"/>
                </a:lnTo>
                <a:cubicBezTo>
                  <a:pt x="2124900" y="0"/>
                  <a:pt x="2159000" y="34100"/>
                  <a:pt x="2159000" y="76200"/>
                </a:cubicBezTo>
                <a:lnTo>
                  <a:pt x="2159000" y="177800"/>
                </a:lnTo>
                <a:cubicBezTo>
                  <a:pt x="2159000" y="219900"/>
                  <a:pt x="2124900" y="254000"/>
                  <a:pt x="2082800" y="254000"/>
                </a:cubicBezTo>
                <a:lnTo>
                  <a:pt x="76200" y="254000"/>
                </a:lnTo>
                <a:cubicBezTo>
                  <a:pt x="34100" y="254000"/>
                  <a:pt x="0" y="219900"/>
                  <a:pt x="0" y="1778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134C9C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itt-1-1-1"/>
          <p:cNvSpPr txBox="1"/>
          <p:nvPr/>
        </p:nvSpPr>
        <p:spPr>
          <a:xfrm>
            <a:off x="3619246" y="3219482"/>
            <a:ext cx="87058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手机随时看经营</a:t>
            </a:r>
          </a:p>
        </p:txBody>
      </p:sp>
      <p:sp>
        <p:nvSpPr>
          <p:cNvPr id="29" name="ah-1"/>
          <p:cNvSpPr txBox="1"/>
          <p:nvPr/>
        </p:nvSpPr>
        <p:spPr>
          <a:xfrm>
            <a:off x="1153922" y="3749897"/>
            <a:ext cx="6673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决策偏好</a:t>
            </a:r>
          </a:p>
        </p:txBody>
      </p:sp>
      <p:sp>
        <p:nvSpPr>
          <p:cNvPr id="30" name="al-1-0"/>
          <p:cNvSpPr txBox="1"/>
          <p:nvPr/>
        </p:nvSpPr>
        <p:spPr>
          <a:xfrm>
            <a:off x="1155446" y="4057682"/>
            <a:ext cx="57391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关注 ROI</a:t>
            </a:r>
          </a:p>
        </p:txBody>
      </p:sp>
      <p:sp>
        <p:nvSpPr>
          <p:cNvPr id="31" name="ab-1-0"/>
          <p:cNvSpPr/>
          <p:nvPr/>
        </p:nvSpPr>
        <p:spPr>
          <a:xfrm>
            <a:off x="1905000" y="4102100"/>
            <a:ext cx="3302000" cy="88900"/>
          </a:xfrm>
          <a:custGeom>
            <a:avLst/>
            <a:gdLst/>
            <a:ahLst/>
            <a:cxnLst/>
            <a:rect l="0" t="0" r="r" b="b"/>
            <a:pathLst>
              <a:path w="3302000" h="88900">
                <a:moveTo>
                  <a:pt x="44450" y="0"/>
                </a:moveTo>
                <a:lnTo>
                  <a:pt x="3257550" y="0"/>
                </a:lnTo>
                <a:cubicBezTo>
                  <a:pt x="3282124" y="0"/>
                  <a:pt x="3302000" y="19875"/>
                  <a:pt x="3302000" y="44450"/>
                </a:cubicBezTo>
                <a:lnTo>
                  <a:pt x="3302000" y="44450"/>
                </a:lnTo>
                <a:cubicBezTo>
                  <a:pt x="3302000" y="69025"/>
                  <a:pt x="3282124" y="88900"/>
                  <a:pt x="3257550" y="88900"/>
                </a:cubicBezTo>
                <a:lnTo>
                  <a:pt x="44450" y="88900"/>
                </a:lnTo>
                <a:cubicBezTo>
                  <a:pt x="19875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af-1-0"/>
          <p:cNvSpPr/>
          <p:nvPr/>
        </p:nvSpPr>
        <p:spPr>
          <a:xfrm>
            <a:off x="1905000" y="4102100"/>
            <a:ext cx="3037840" cy="88900"/>
          </a:xfrm>
          <a:custGeom>
            <a:avLst/>
            <a:gdLst/>
            <a:ahLst/>
            <a:cxnLst/>
            <a:rect l="0" t="0" r="r" b="b"/>
            <a:pathLst>
              <a:path w="3037840" h="88900">
                <a:moveTo>
                  <a:pt x="44450" y="0"/>
                </a:moveTo>
                <a:lnTo>
                  <a:pt x="2993390" y="0"/>
                </a:lnTo>
                <a:cubicBezTo>
                  <a:pt x="3017964" y="0"/>
                  <a:pt x="3037840" y="19875"/>
                  <a:pt x="3037840" y="44450"/>
                </a:cubicBezTo>
                <a:lnTo>
                  <a:pt x="3037840" y="44450"/>
                </a:lnTo>
                <a:cubicBezTo>
                  <a:pt x="3037840" y="69025"/>
                  <a:pt x="3017964" y="88900"/>
                  <a:pt x="2993390" y="88900"/>
                </a:cubicBezTo>
                <a:lnTo>
                  <a:pt x="44450" y="88900"/>
                </a:lnTo>
                <a:cubicBezTo>
                  <a:pt x="19875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av-1-0"/>
          <p:cNvSpPr txBox="1"/>
          <p:nvPr/>
        </p:nvSpPr>
        <p:spPr>
          <a:xfrm>
            <a:off x="5547995" y="40576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92</a:t>
            </a:r>
          </a:p>
        </p:txBody>
      </p:sp>
      <p:sp>
        <p:nvSpPr>
          <p:cNvPr id="34" name="al-1-1"/>
          <p:cNvSpPr txBox="1"/>
          <p:nvPr/>
        </p:nvSpPr>
        <p:spPr>
          <a:xfrm>
            <a:off x="1155446" y="4362482"/>
            <a:ext cx="5416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在意品牌</a:t>
            </a:r>
          </a:p>
        </p:txBody>
      </p:sp>
      <p:sp>
        <p:nvSpPr>
          <p:cNvPr id="35" name="ab-1-1"/>
          <p:cNvSpPr/>
          <p:nvPr/>
        </p:nvSpPr>
        <p:spPr>
          <a:xfrm>
            <a:off x="1905000" y="4406900"/>
            <a:ext cx="3302000" cy="88900"/>
          </a:xfrm>
          <a:custGeom>
            <a:avLst/>
            <a:gdLst/>
            <a:ahLst/>
            <a:cxnLst/>
            <a:rect l="0" t="0" r="r" b="b"/>
            <a:pathLst>
              <a:path w="3302000" h="88900">
                <a:moveTo>
                  <a:pt x="44450" y="0"/>
                </a:moveTo>
                <a:lnTo>
                  <a:pt x="3257550" y="0"/>
                </a:lnTo>
                <a:cubicBezTo>
                  <a:pt x="3282124" y="0"/>
                  <a:pt x="3302000" y="19875"/>
                  <a:pt x="3302000" y="44450"/>
                </a:cubicBezTo>
                <a:lnTo>
                  <a:pt x="3302000" y="44450"/>
                </a:lnTo>
                <a:cubicBezTo>
                  <a:pt x="3302000" y="69025"/>
                  <a:pt x="3282124" y="88900"/>
                  <a:pt x="3257550" y="88900"/>
                </a:cubicBezTo>
                <a:lnTo>
                  <a:pt x="44450" y="88900"/>
                </a:lnTo>
                <a:cubicBezTo>
                  <a:pt x="19875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af-1-1"/>
          <p:cNvSpPr/>
          <p:nvPr/>
        </p:nvSpPr>
        <p:spPr>
          <a:xfrm>
            <a:off x="1905000" y="4406900"/>
            <a:ext cx="2311400" cy="88900"/>
          </a:xfrm>
          <a:custGeom>
            <a:avLst/>
            <a:gdLst/>
            <a:ahLst/>
            <a:cxnLst/>
            <a:rect l="0" t="0" r="r" b="b"/>
            <a:pathLst>
              <a:path w="2311400" h="88900">
                <a:moveTo>
                  <a:pt x="44450" y="0"/>
                </a:moveTo>
                <a:lnTo>
                  <a:pt x="2266950" y="0"/>
                </a:lnTo>
                <a:cubicBezTo>
                  <a:pt x="2291524" y="0"/>
                  <a:pt x="2311400" y="19875"/>
                  <a:pt x="2311400" y="44450"/>
                </a:cubicBezTo>
                <a:lnTo>
                  <a:pt x="2311400" y="44450"/>
                </a:lnTo>
                <a:cubicBezTo>
                  <a:pt x="2311400" y="69025"/>
                  <a:pt x="2291524" y="88900"/>
                  <a:pt x="2266950" y="88900"/>
                </a:cubicBezTo>
                <a:lnTo>
                  <a:pt x="44450" y="88900"/>
                </a:lnTo>
                <a:cubicBezTo>
                  <a:pt x="19875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av-1-1"/>
          <p:cNvSpPr txBox="1"/>
          <p:nvPr/>
        </p:nvSpPr>
        <p:spPr>
          <a:xfrm>
            <a:off x="5547995" y="43624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70</a:t>
            </a:r>
          </a:p>
        </p:txBody>
      </p:sp>
      <p:sp>
        <p:nvSpPr>
          <p:cNvPr id="38" name="al-1-2"/>
          <p:cNvSpPr txBox="1"/>
          <p:nvPr/>
        </p:nvSpPr>
        <p:spPr>
          <a:xfrm>
            <a:off x="1155446" y="4667282"/>
            <a:ext cx="5416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价格敏感</a:t>
            </a:r>
          </a:p>
        </p:txBody>
      </p:sp>
      <p:sp>
        <p:nvSpPr>
          <p:cNvPr id="39" name="ab-1-2"/>
          <p:cNvSpPr/>
          <p:nvPr/>
        </p:nvSpPr>
        <p:spPr>
          <a:xfrm>
            <a:off x="1905000" y="4711700"/>
            <a:ext cx="3302000" cy="88900"/>
          </a:xfrm>
          <a:custGeom>
            <a:avLst/>
            <a:gdLst/>
            <a:ahLst/>
            <a:cxnLst/>
            <a:rect l="0" t="0" r="r" b="b"/>
            <a:pathLst>
              <a:path w="3302000" h="88900">
                <a:moveTo>
                  <a:pt x="44450" y="0"/>
                </a:moveTo>
                <a:lnTo>
                  <a:pt x="3257550" y="0"/>
                </a:lnTo>
                <a:cubicBezTo>
                  <a:pt x="3282124" y="0"/>
                  <a:pt x="3302000" y="19875"/>
                  <a:pt x="3302000" y="44450"/>
                </a:cubicBezTo>
                <a:lnTo>
                  <a:pt x="3302000" y="44450"/>
                </a:lnTo>
                <a:cubicBezTo>
                  <a:pt x="3302000" y="69025"/>
                  <a:pt x="3282124" y="88900"/>
                  <a:pt x="3257550" y="88900"/>
                </a:cubicBezTo>
                <a:lnTo>
                  <a:pt x="44450" y="88900"/>
                </a:lnTo>
                <a:cubicBezTo>
                  <a:pt x="19875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af-1-2"/>
          <p:cNvSpPr/>
          <p:nvPr/>
        </p:nvSpPr>
        <p:spPr>
          <a:xfrm>
            <a:off x="1905000" y="4711700"/>
            <a:ext cx="1254760" cy="88900"/>
          </a:xfrm>
          <a:custGeom>
            <a:avLst/>
            <a:gdLst/>
            <a:ahLst/>
            <a:cxnLst/>
            <a:rect l="0" t="0" r="r" b="b"/>
            <a:pathLst>
              <a:path w="1254760" h="88900">
                <a:moveTo>
                  <a:pt x="44450" y="0"/>
                </a:moveTo>
                <a:lnTo>
                  <a:pt x="1210310" y="0"/>
                </a:lnTo>
                <a:cubicBezTo>
                  <a:pt x="1234885" y="0"/>
                  <a:pt x="1254760" y="19875"/>
                  <a:pt x="1254760" y="44450"/>
                </a:cubicBezTo>
                <a:lnTo>
                  <a:pt x="1254760" y="44450"/>
                </a:lnTo>
                <a:cubicBezTo>
                  <a:pt x="1254760" y="69025"/>
                  <a:pt x="1234885" y="88900"/>
                  <a:pt x="1210310" y="88900"/>
                </a:cubicBezTo>
                <a:lnTo>
                  <a:pt x="44450" y="88900"/>
                </a:lnTo>
                <a:cubicBezTo>
                  <a:pt x="19875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av-1-2"/>
          <p:cNvSpPr txBox="1"/>
          <p:nvPr/>
        </p:nvSpPr>
        <p:spPr>
          <a:xfrm>
            <a:off x="5547995" y="46672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38</a:t>
            </a:r>
          </a:p>
        </p:txBody>
      </p:sp>
      <p:sp>
        <p:nvSpPr>
          <p:cNvPr id="42" name="q-1"/>
          <p:cNvSpPr/>
          <p:nvPr/>
        </p:nvSpPr>
        <p:spPr>
          <a:xfrm>
            <a:off x="1143000" y="5207000"/>
            <a:ext cx="4635500" cy="635000"/>
          </a:xfrm>
          <a:custGeom>
            <a:avLst/>
            <a:gdLst/>
            <a:ahLst/>
            <a:cxnLst/>
            <a:rect l="0" t="0" r="r" b="b"/>
            <a:pathLst>
              <a:path w="4635500" h="635000">
                <a:moveTo>
                  <a:pt x="127000" y="0"/>
                </a:moveTo>
                <a:lnTo>
                  <a:pt x="4508500" y="0"/>
                </a:lnTo>
                <a:cubicBezTo>
                  <a:pt x="4578668" y="0"/>
                  <a:pt x="4635500" y="56833"/>
                  <a:pt x="4635500" y="127000"/>
                </a:cubicBezTo>
                <a:lnTo>
                  <a:pt x="4635500" y="508000"/>
                </a:lnTo>
                <a:cubicBezTo>
                  <a:pt x="4635500" y="578167"/>
                  <a:pt x="4578668" y="635000"/>
                  <a:pt x="4508500" y="635000"/>
                </a:cubicBezTo>
                <a:lnTo>
                  <a:pt x="127000" y="635000"/>
                </a:lnTo>
                <a:cubicBezTo>
                  <a:pt x="56832" y="635000"/>
                  <a:pt x="0" y="578167"/>
                  <a:pt x="0" y="508000"/>
                </a:cubicBezTo>
                <a:lnTo>
                  <a:pt x="0" y="127000"/>
                </a:lnTo>
                <a:cubicBezTo>
                  <a:pt x="0" y="56833"/>
                  <a:pt x="56832" y="0"/>
                  <a:pt x="12700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qt-1"/>
          <p:cNvSpPr txBox="1"/>
          <p:nvPr/>
        </p:nvSpPr>
        <p:spPr>
          <a:xfrm>
            <a:off x="1315974" y="5420328"/>
            <a:ext cx="2492121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7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“我要的是结果，不是功能清单。”</a:t>
            </a:r>
          </a:p>
        </p:txBody>
      </p:sp>
      <p:sp>
        <p:nvSpPr>
          <p:cNvPr id="44" name="card-2"/>
          <p:cNvSpPr/>
          <p:nvPr/>
        </p:nvSpPr>
        <p:spPr>
          <a:xfrm>
            <a:off x="6223000" y="1358900"/>
            <a:ext cx="5016500" cy="4699000"/>
          </a:xfrm>
          <a:custGeom>
            <a:avLst/>
            <a:gdLst/>
            <a:ahLst/>
            <a:cxnLst/>
            <a:rect l="0" t="0" r="r" b="b"/>
            <a:pathLst>
              <a:path w="5016500" h="4699000">
                <a:moveTo>
                  <a:pt x="165100" y="0"/>
                </a:moveTo>
                <a:lnTo>
                  <a:pt x="4851400" y="0"/>
                </a:lnTo>
                <a:cubicBezTo>
                  <a:pt x="4942586" y="0"/>
                  <a:pt x="5016500" y="73914"/>
                  <a:pt x="5016500" y="165100"/>
                </a:cubicBezTo>
                <a:lnTo>
                  <a:pt x="5016500" y="4533900"/>
                </a:lnTo>
                <a:cubicBezTo>
                  <a:pt x="5016500" y="4625086"/>
                  <a:pt x="4942586" y="4699000"/>
                  <a:pt x="4851400" y="4699000"/>
                </a:cubicBezTo>
                <a:lnTo>
                  <a:pt x="165100" y="4699000"/>
                </a:lnTo>
                <a:cubicBezTo>
                  <a:pt x="73914" y="4699000"/>
                  <a:pt x="0" y="4625086"/>
                  <a:pt x="0" y="45339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hd-2"/>
          <p:cNvSpPr/>
          <p:nvPr/>
        </p:nvSpPr>
        <p:spPr>
          <a:xfrm>
            <a:off x="6223000" y="1358900"/>
            <a:ext cx="5016500" cy="1079500"/>
          </a:xfrm>
          <a:custGeom>
            <a:avLst/>
            <a:gdLst/>
            <a:ahLst/>
            <a:cxnLst/>
            <a:rect l="0" t="0" r="r" b="b"/>
            <a:pathLst>
              <a:path w="5016500" h="1079500">
                <a:moveTo>
                  <a:pt x="165100" y="0"/>
                </a:moveTo>
                <a:lnTo>
                  <a:pt x="4851400" y="0"/>
                </a:lnTo>
                <a:cubicBezTo>
                  <a:pt x="4942586" y="0"/>
                  <a:pt x="5016500" y="73914"/>
                  <a:pt x="5016500" y="165100"/>
                </a:cubicBezTo>
                <a:lnTo>
                  <a:pt x="5016500" y="914400"/>
                </a:lnTo>
                <a:cubicBezTo>
                  <a:pt x="5016500" y="1005586"/>
                  <a:pt x="4942586" y="1079500"/>
                  <a:pt x="4851400" y="1079500"/>
                </a:cubicBezTo>
                <a:lnTo>
                  <a:pt x="165100" y="1079500"/>
                </a:lnTo>
                <a:cubicBezTo>
                  <a:pt x="73914" y="1079500"/>
                  <a:pt x="0" y="1005586"/>
                  <a:pt x="0" y="9144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gradFill rotWithShape="1">
            <a:gsLst>
              <a:gs pos="0">
                <a:srgbClr val="E48152"/>
              </a:gs>
              <a:gs pos="100000">
                <a:srgbClr val="E0703A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hd2-2"/>
          <p:cNvSpPr/>
          <p:nvPr/>
        </p:nvSpPr>
        <p:spPr>
          <a:xfrm>
            <a:off x="6223000" y="2247900"/>
            <a:ext cx="5016500" cy="190500"/>
          </a:xfrm>
          <a:prstGeom prst="rect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av-2"/>
          <p:cNvSpPr/>
          <p:nvPr/>
        </p:nvSpPr>
        <p:spPr>
          <a:xfrm>
            <a:off x="6477000" y="1549400"/>
            <a:ext cx="711200" cy="711200"/>
          </a:xfrm>
          <a:prstGeom prst="ellipse">
            <a:avLst/>
          </a:pr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avt-2"/>
          <p:cNvSpPr txBox="1"/>
          <p:nvPr/>
        </p:nvSpPr>
        <p:spPr>
          <a:xfrm>
            <a:off x="6591300" y="1692910"/>
            <a:ext cx="48260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0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周</a:t>
            </a:r>
          </a:p>
        </p:txBody>
      </p:sp>
      <p:sp>
        <p:nvSpPr>
          <p:cNvPr id="49" name="role-2"/>
          <p:cNvSpPr txBox="1"/>
          <p:nvPr/>
        </p:nvSpPr>
        <p:spPr>
          <a:xfrm>
            <a:off x="7340092" y="1536764"/>
            <a:ext cx="937260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2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使用者</a:t>
            </a:r>
          </a:p>
        </p:txBody>
      </p:sp>
      <p:sp>
        <p:nvSpPr>
          <p:cNvPr id="50" name="sub-2"/>
          <p:cNvSpPr txBox="1"/>
          <p:nvPr/>
        </p:nvSpPr>
        <p:spPr>
          <a:xfrm>
            <a:off x="7353046" y="1911382"/>
            <a:ext cx="98336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50">
                <a:solidFill>
                  <a:srgbClr val="F1F4F8"/>
                </a:solidFill>
                <a:latin typeface="微软雅黑"/>
                <a:ea typeface="微软雅黑"/>
                <a:cs typeface="微软雅黑"/>
              </a:rPr>
              <a:t>运营 / 计划专员</a:t>
            </a:r>
          </a:p>
        </p:txBody>
      </p:sp>
      <p:sp>
        <p:nvSpPr>
          <p:cNvPr id="51" name="nm-2"/>
          <p:cNvSpPr txBox="1"/>
          <p:nvPr/>
        </p:nvSpPr>
        <p:spPr>
          <a:xfrm>
            <a:off x="10609834" y="1630870"/>
            <a:ext cx="4305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小周</a:t>
            </a:r>
          </a:p>
        </p:txBody>
      </p:sp>
      <p:sp>
        <p:nvSpPr>
          <p:cNvPr id="52" name="meta-2"/>
          <p:cNvSpPr txBox="1"/>
          <p:nvPr/>
        </p:nvSpPr>
        <p:spPr>
          <a:xfrm>
            <a:off x="10019665" y="1901666"/>
            <a:ext cx="10153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25">
                <a:solidFill>
                  <a:srgbClr val="F1F4F8"/>
                </a:solidFill>
                <a:latin typeface="微软雅黑"/>
                <a:ea typeface="微软雅黑"/>
                <a:cs typeface="微软雅黑"/>
              </a:rPr>
              <a:t>28 岁 · 计划部专员</a:t>
            </a:r>
          </a:p>
        </p:txBody>
      </p:sp>
      <p:sp>
        <p:nvSpPr>
          <p:cNvPr id="53" name="h-2-0"/>
          <p:cNvSpPr txBox="1"/>
          <p:nvPr/>
        </p:nvSpPr>
        <p:spPr>
          <a:xfrm>
            <a:off x="6424422" y="2619597"/>
            <a:ext cx="387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痛点</a:t>
            </a:r>
          </a:p>
        </p:txBody>
      </p:sp>
      <p:sp>
        <p:nvSpPr>
          <p:cNvPr id="54" name="it-2-0-0"/>
          <p:cNvSpPr/>
          <p:nvPr/>
        </p:nvSpPr>
        <p:spPr>
          <a:xfrm>
            <a:off x="6438900" y="2870200"/>
            <a:ext cx="2159000" cy="254000"/>
          </a:xfrm>
          <a:custGeom>
            <a:avLst/>
            <a:gdLst/>
            <a:ahLst/>
            <a:cxnLst/>
            <a:rect l="0" t="0" r="r" b="b"/>
            <a:pathLst>
              <a:path w="2159000" h="254000">
                <a:moveTo>
                  <a:pt x="76200" y="0"/>
                </a:moveTo>
                <a:lnTo>
                  <a:pt x="2082800" y="0"/>
                </a:lnTo>
                <a:cubicBezTo>
                  <a:pt x="2124901" y="0"/>
                  <a:pt x="2159000" y="34100"/>
                  <a:pt x="2159000" y="76200"/>
                </a:cubicBezTo>
                <a:lnTo>
                  <a:pt x="2159000" y="177800"/>
                </a:lnTo>
                <a:cubicBezTo>
                  <a:pt x="2159000" y="219900"/>
                  <a:pt x="2124901" y="254000"/>
                  <a:pt x="2082800" y="254000"/>
                </a:cubicBezTo>
                <a:lnTo>
                  <a:pt x="76200" y="254000"/>
                </a:lnTo>
                <a:cubicBezTo>
                  <a:pt x="34100" y="254000"/>
                  <a:pt x="0" y="219900"/>
                  <a:pt x="0" y="1778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E0703A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itt-2-0-0"/>
          <p:cNvSpPr txBox="1"/>
          <p:nvPr/>
        </p:nvSpPr>
        <p:spPr>
          <a:xfrm>
            <a:off x="6540246" y="2901982"/>
            <a:ext cx="117005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每天手工汇总 3 小时</a:t>
            </a:r>
          </a:p>
        </p:txBody>
      </p:sp>
      <p:sp>
        <p:nvSpPr>
          <p:cNvPr id="56" name="it-2-0-1"/>
          <p:cNvSpPr/>
          <p:nvPr/>
        </p:nvSpPr>
        <p:spPr>
          <a:xfrm>
            <a:off x="6438900" y="3187700"/>
            <a:ext cx="2159000" cy="254000"/>
          </a:xfrm>
          <a:custGeom>
            <a:avLst/>
            <a:gdLst/>
            <a:ahLst/>
            <a:cxnLst/>
            <a:rect l="0" t="0" r="r" b="b"/>
            <a:pathLst>
              <a:path w="2159000" h="254000">
                <a:moveTo>
                  <a:pt x="76200" y="0"/>
                </a:moveTo>
                <a:lnTo>
                  <a:pt x="2082800" y="0"/>
                </a:lnTo>
                <a:cubicBezTo>
                  <a:pt x="2124901" y="0"/>
                  <a:pt x="2159000" y="34100"/>
                  <a:pt x="2159000" y="76200"/>
                </a:cubicBezTo>
                <a:lnTo>
                  <a:pt x="2159000" y="177800"/>
                </a:lnTo>
                <a:cubicBezTo>
                  <a:pt x="2159000" y="219900"/>
                  <a:pt x="2124901" y="254000"/>
                  <a:pt x="2082800" y="254000"/>
                </a:cubicBezTo>
                <a:lnTo>
                  <a:pt x="76200" y="254000"/>
                </a:lnTo>
                <a:cubicBezTo>
                  <a:pt x="34100" y="254000"/>
                  <a:pt x="0" y="219900"/>
                  <a:pt x="0" y="1778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E0703A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itt-2-0-1"/>
          <p:cNvSpPr txBox="1"/>
          <p:nvPr/>
        </p:nvSpPr>
        <p:spPr>
          <a:xfrm>
            <a:off x="6540246" y="3219482"/>
            <a:ext cx="109156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改一次计划全表重排</a:t>
            </a:r>
          </a:p>
        </p:txBody>
      </p:sp>
      <p:sp>
        <p:nvSpPr>
          <p:cNvPr id="58" name="h-2-1"/>
          <p:cNvSpPr txBox="1"/>
          <p:nvPr/>
        </p:nvSpPr>
        <p:spPr>
          <a:xfrm>
            <a:off x="8773922" y="2619597"/>
            <a:ext cx="387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50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期望</a:t>
            </a:r>
          </a:p>
        </p:txBody>
      </p:sp>
      <p:sp>
        <p:nvSpPr>
          <p:cNvPr id="59" name="it-2-1-0"/>
          <p:cNvSpPr/>
          <p:nvPr/>
        </p:nvSpPr>
        <p:spPr>
          <a:xfrm>
            <a:off x="8788400" y="2870200"/>
            <a:ext cx="2159000" cy="254000"/>
          </a:xfrm>
          <a:custGeom>
            <a:avLst/>
            <a:gdLst/>
            <a:ahLst/>
            <a:cxnLst/>
            <a:rect l="0" t="0" r="r" b="b"/>
            <a:pathLst>
              <a:path w="2159000" h="254000">
                <a:moveTo>
                  <a:pt x="76200" y="0"/>
                </a:moveTo>
                <a:lnTo>
                  <a:pt x="2082800" y="0"/>
                </a:lnTo>
                <a:cubicBezTo>
                  <a:pt x="2124901" y="0"/>
                  <a:pt x="2159000" y="34100"/>
                  <a:pt x="2159000" y="76200"/>
                </a:cubicBezTo>
                <a:lnTo>
                  <a:pt x="2159000" y="177800"/>
                </a:lnTo>
                <a:cubicBezTo>
                  <a:pt x="2159000" y="219900"/>
                  <a:pt x="2124901" y="254000"/>
                  <a:pt x="2082800" y="254000"/>
                </a:cubicBezTo>
                <a:lnTo>
                  <a:pt x="76200" y="254000"/>
                </a:lnTo>
                <a:cubicBezTo>
                  <a:pt x="34099" y="254000"/>
                  <a:pt x="0" y="219900"/>
                  <a:pt x="0" y="1778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134C9C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itt-2-1-0"/>
          <p:cNvSpPr txBox="1"/>
          <p:nvPr/>
        </p:nvSpPr>
        <p:spPr>
          <a:xfrm>
            <a:off x="8889746" y="2901982"/>
            <a:ext cx="76009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数据自动汇总</a:t>
            </a:r>
          </a:p>
        </p:txBody>
      </p:sp>
      <p:sp>
        <p:nvSpPr>
          <p:cNvPr id="61" name="it-2-1-1"/>
          <p:cNvSpPr/>
          <p:nvPr/>
        </p:nvSpPr>
        <p:spPr>
          <a:xfrm>
            <a:off x="8788400" y="3187700"/>
            <a:ext cx="2159000" cy="254000"/>
          </a:xfrm>
          <a:custGeom>
            <a:avLst/>
            <a:gdLst/>
            <a:ahLst/>
            <a:cxnLst/>
            <a:rect l="0" t="0" r="r" b="b"/>
            <a:pathLst>
              <a:path w="2159000" h="254000">
                <a:moveTo>
                  <a:pt x="76200" y="0"/>
                </a:moveTo>
                <a:lnTo>
                  <a:pt x="2082800" y="0"/>
                </a:lnTo>
                <a:cubicBezTo>
                  <a:pt x="2124901" y="0"/>
                  <a:pt x="2159000" y="34100"/>
                  <a:pt x="2159000" y="76200"/>
                </a:cubicBezTo>
                <a:lnTo>
                  <a:pt x="2159000" y="177800"/>
                </a:lnTo>
                <a:cubicBezTo>
                  <a:pt x="2159000" y="219900"/>
                  <a:pt x="2124901" y="254000"/>
                  <a:pt x="2082800" y="254000"/>
                </a:cubicBezTo>
                <a:lnTo>
                  <a:pt x="76200" y="254000"/>
                </a:lnTo>
                <a:cubicBezTo>
                  <a:pt x="34099" y="254000"/>
                  <a:pt x="0" y="219900"/>
                  <a:pt x="0" y="1778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134C9C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itt-2-1-1"/>
          <p:cNvSpPr txBox="1"/>
          <p:nvPr/>
        </p:nvSpPr>
        <p:spPr>
          <a:xfrm>
            <a:off x="8889746" y="3219482"/>
            <a:ext cx="98107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拖拽即可调整计划</a:t>
            </a:r>
          </a:p>
        </p:txBody>
      </p:sp>
      <p:sp>
        <p:nvSpPr>
          <p:cNvPr id="63" name="ah-2"/>
          <p:cNvSpPr txBox="1"/>
          <p:nvPr/>
        </p:nvSpPr>
        <p:spPr>
          <a:xfrm>
            <a:off x="6424422" y="3749897"/>
            <a:ext cx="6673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决策偏好</a:t>
            </a:r>
          </a:p>
        </p:txBody>
      </p:sp>
      <p:sp>
        <p:nvSpPr>
          <p:cNvPr id="64" name="al-2-0"/>
          <p:cNvSpPr txBox="1"/>
          <p:nvPr/>
        </p:nvSpPr>
        <p:spPr>
          <a:xfrm>
            <a:off x="6425946" y="4057682"/>
            <a:ext cx="5416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关注效率</a:t>
            </a:r>
          </a:p>
        </p:txBody>
      </p:sp>
      <p:sp>
        <p:nvSpPr>
          <p:cNvPr id="65" name="ab-2-0"/>
          <p:cNvSpPr/>
          <p:nvPr/>
        </p:nvSpPr>
        <p:spPr>
          <a:xfrm>
            <a:off x="7175500" y="4102100"/>
            <a:ext cx="3302000" cy="88900"/>
          </a:xfrm>
          <a:custGeom>
            <a:avLst/>
            <a:gdLst/>
            <a:ahLst/>
            <a:cxnLst/>
            <a:rect l="0" t="0" r="r" b="b"/>
            <a:pathLst>
              <a:path w="3302000" h="88900">
                <a:moveTo>
                  <a:pt x="44450" y="0"/>
                </a:moveTo>
                <a:lnTo>
                  <a:pt x="3257550" y="0"/>
                </a:lnTo>
                <a:cubicBezTo>
                  <a:pt x="3282124" y="0"/>
                  <a:pt x="3302000" y="19875"/>
                  <a:pt x="3302000" y="44450"/>
                </a:cubicBezTo>
                <a:lnTo>
                  <a:pt x="3302000" y="44450"/>
                </a:lnTo>
                <a:cubicBezTo>
                  <a:pt x="3302000" y="69025"/>
                  <a:pt x="3282124" y="88900"/>
                  <a:pt x="3257550" y="88900"/>
                </a:cubicBezTo>
                <a:lnTo>
                  <a:pt x="44450" y="88900"/>
                </a:lnTo>
                <a:cubicBezTo>
                  <a:pt x="19876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af-2-0"/>
          <p:cNvSpPr/>
          <p:nvPr/>
        </p:nvSpPr>
        <p:spPr>
          <a:xfrm>
            <a:off x="7175500" y="4102100"/>
            <a:ext cx="3136900" cy="88900"/>
          </a:xfrm>
          <a:custGeom>
            <a:avLst/>
            <a:gdLst/>
            <a:ahLst/>
            <a:cxnLst/>
            <a:rect l="0" t="0" r="r" b="b"/>
            <a:pathLst>
              <a:path w="3136900" h="88900">
                <a:moveTo>
                  <a:pt x="44450" y="0"/>
                </a:moveTo>
                <a:lnTo>
                  <a:pt x="3092450" y="0"/>
                </a:lnTo>
                <a:cubicBezTo>
                  <a:pt x="3117024" y="0"/>
                  <a:pt x="3136900" y="19875"/>
                  <a:pt x="3136900" y="44450"/>
                </a:cubicBezTo>
                <a:lnTo>
                  <a:pt x="3136900" y="44450"/>
                </a:lnTo>
                <a:cubicBezTo>
                  <a:pt x="3136900" y="69025"/>
                  <a:pt x="3117024" y="88900"/>
                  <a:pt x="3092450" y="88900"/>
                </a:cubicBezTo>
                <a:lnTo>
                  <a:pt x="44450" y="88900"/>
                </a:lnTo>
                <a:cubicBezTo>
                  <a:pt x="19876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av-2-0"/>
          <p:cNvSpPr txBox="1"/>
          <p:nvPr/>
        </p:nvSpPr>
        <p:spPr>
          <a:xfrm>
            <a:off x="10818495" y="40576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95</a:t>
            </a:r>
          </a:p>
        </p:txBody>
      </p:sp>
      <p:sp>
        <p:nvSpPr>
          <p:cNvPr id="68" name="al-2-1"/>
          <p:cNvSpPr txBox="1"/>
          <p:nvPr/>
        </p:nvSpPr>
        <p:spPr>
          <a:xfrm>
            <a:off x="6425946" y="4362482"/>
            <a:ext cx="5416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在意易用</a:t>
            </a:r>
          </a:p>
        </p:txBody>
      </p:sp>
      <p:sp>
        <p:nvSpPr>
          <p:cNvPr id="69" name="ab-2-1"/>
          <p:cNvSpPr/>
          <p:nvPr/>
        </p:nvSpPr>
        <p:spPr>
          <a:xfrm>
            <a:off x="7175500" y="4406900"/>
            <a:ext cx="3302000" cy="88900"/>
          </a:xfrm>
          <a:custGeom>
            <a:avLst/>
            <a:gdLst/>
            <a:ahLst/>
            <a:cxnLst/>
            <a:rect l="0" t="0" r="r" b="b"/>
            <a:pathLst>
              <a:path w="3302000" h="88900">
                <a:moveTo>
                  <a:pt x="44450" y="0"/>
                </a:moveTo>
                <a:lnTo>
                  <a:pt x="3257550" y="0"/>
                </a:lnTo>
                <a:cubicBezTo>
                  <a:pt x="3282124" y="0"/>
                  <a:pt x="3302000" y="19875"/>
                  <a:pt x="3302000" y="44450"/>
                </a:cubicBezTo>
                <a:lnTo>
                  <a:pt x="3302000" y="44450"/>
                </a:lnTo>
                <a:cubicBezTo>
                  <a:pt x="3302000" y="69025"/>
                  <a:pt x="3282124" y="88900"/>
                  <a:pt x="3257550" y="88900"/>
                </a:cubicBezTo>
                <a:lnTo>
                  <a:pt x="44450" y="88900"/>
                </a:lnTo>
                <a:cubicBezTo>
                  <a:pt x="19876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af-2-1"/>
          <p:cNvSpPr/>
          <p:nvPr/>
        </p:nvSpPr>
        <p:spPr>
          <a:xfrm>
            <a:off x="7175500" y="4406900"/>
            <a:ext cx="2905760" cy="88900"/>
          </a:xfrm>
          <a:custGeom>
            <a:avLst/>
            <a:gdLst/>
            <a:ahLst/>
            <a:cxnLst/>
            <a:rect l="0" t="0" r="r" b="b"/>
            <a:pathLst>
              <a:path w="2905760" h="88900">
                <a:moveTo>
                  <a:pt x="44450" y="0"/>
                </a:moveTo>
                <a:lnTo>
                  <a:pt x="2861310" y="0"/>
                </a:lnTo>
                <a:cubicBezTo>
                  <a:pt x="2885884" y="0"/>
                  <a:pt x="2905760" y="19875"/>
                  <a:pt x="2905760" y="44450"/>
                </a:cubicBezTo>
                <a:lnTo>
                  <a:pt x="2905760" y="44450"/>
                </a:lnTo>
                <a:cubicBezTo>
                  <a:pt x="2905760" y="69025"/>
                  <a:pt x="2885884" y="88900"/>
                  <a:pt x="2861310" y="88900"/>
                </a:cubicBezTo>
                <a:lnTo>
                  <a:pt x="44450" y="88900"/>
                </a:lnTo>
                <a:cubicBezTo>
                  <a:pt x="19876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av-2-1"/>
          <p:cNvSpPr txBox="1"/>
          <p:nvPr/>
        </p:nvSpPr>
        <p:spPr>
          <a:xfrm>
            <a:off x="10818495" y="43624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88</a:t>
            </a:r>
          </a:p>
        </p:txBody>
      </p:sp>
      <p:sp>
        <p:nvSpPr>
          <p:cNvPr id="72" name="al-2-2"/>
          <p:cNvSpPr txBox="1"/>
          <p:nvPr/>
        </p:nvSpPr>
        <p:spPr>
          <a:xfrm>
            <a:off x="6425946" y="4667282"/>
            <a:ext cx="5416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价格敏感</a:t>
            </a:r>
          </a:p>
        </p:txBody>
      </p:sp>
      <p:sp>
        <p:nvSpPr>
          <p:cNvPr id="73" name="ab-2-2"/>
          <p:cNvSpPr/>
          <p:nvPr/>
        </p:nvSpPr>
        <p:spPr>
          <a:xfrm>
            <a:off x="7175500" y="4711700"/>
            <a:ext cx="3302000" cy="88900"/>
          </a:xfrm>
          <a:custGeom>
            <a:avLst/>
            <a:gdLst/>
            <a:ahLst/>
            <a:cxnLst/>
            <a:rect l="0" t="0" r="r" b="b"/>
            <a:pathLst>
              <a:path w="3302000" h="88900">
                <a:moveTo>
                  <a:pt x="44450" y="0"/>
                </a:moveTo>
                <a:lnTo>
                  <a:pt x="3257550" y="0"/>
                </a:lnTo>
                <a:cubicBezTo>
                  <a:pt x="3282124" y="0"/>
                  <a:pt x="3302000" y="19875"/>
                  <a:pt x="3302000" y="44450"/>
                </a:cubicBezTo>
                <a:lnTo>
                  <a:pt x="3302000" y="44450"/>
                </a:lnTo>
                <a:cubicBezTo>
                  <a:pt x="3302000" y="69025"/>
                  <a:pt x="3282124" y="88900"/>
                  <a:pt x="3257550" y="88900"/>
                </a:cubicBezTo>
                <a:lnTo>
                  <a:pt x="44450" y="88900"/>
                </a:lnTo>
                <a:cubicBezTo>
                  <a:pt x="19876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af-2-2"/>
          <p:cNvSpPr/>
          <p:nvPr/>
        </p:nvSpPr>
        <p:spPr>
          <a:xfrm>
            <a:off x="7175500" y="4711700"/>
            <a:ext cx="660400" cy="88900"/>
          </a:xfrm>
          <a:custGeom>
            <a:avLst/>
            <a:gdLst/>
            <a:ahLst/>
            <a:cxnLst/>
            <a:rect l="0" t="0" r="r" b="b"/>
            <a:pathLst>
              <a:path w="660400" h="88900">
                <a:moveTo>
                  <a:pt x="44450" y="0"/>
                </a:moveTo>
                <a:lnTo>
                  <a:pt x="615950" y="0"/>
                </a:lnTo>
                <a:cubicBezTo>
                  <a:pt x="640524" y="0"/>
                  <a:pt x="660400" y="19875"/>
                  <a:pt x="660400" y="44450"/>
                </a:cubicBezTo>
                <a:lnTo>
                  <a:pt x="660400" y="44450"/>
                </a:lnTo>
                <a:cubicBezTo>
                  <a:pt x="660400" y="69025"/>
                  <a:pt x="640524" y="88900"/>
                  <a:pt x="615950" y="88900"/>
                </a:cubicBezTo>
                <a:lnTo>
                  <a:pt x="44450" y="88900"/>
                </a:lnTo>
                <a:cubicBezTo>
                  <a:pt x="19876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av-2-2"/>
          <p:cNvSpPr txBox="1"/>
          <p:nvPr/>
        </p:nvSpPr>
        <p:spPr>
          <a:xfrm>
            <a:off x="10818495" y="46672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20</a:t>
            </a:r>
          </a:p>
        </p:txBody>
      </p:sp>
      <p:sp>
        <p:nvSpPr>
          <p:cNvPr id="76" name="q-2"/>
          <p:cNvSpPr/>
          <p:nvPr/>
        </p:nvSpPr>
        <p:spPr>
          <a:xfrm>
            <a:off x="6413500" y="5207000"/>
            <a:ext cx="4635500" cy="635000"/>
          </a:xfrm>
          <a:custGeom>
            <a:avLst/>
            <a:gdLst/>
            <a:ahLst/>
            <a:cxnLst/>
            <a:rect l="0" t="0" r="r" b="b"/>
            <a:pathLst>
              <a:path w="4635500" h="635000">
                <a:moveTo>
                  <a:pt x="127000" y="0"/>
                </a:moveTo>
                <a:lnTo>
                  <a:pt x="4508500" y="0"/>
                </a:lnTo>
                <a:cubicBezTo>
                  <a:pt x="4578668" y="0"/>
                  <a:pt x="4635500" y="56833"/>
                  <a:pt x="4635500" y="127000"/>
                </a:cubicBezTo>
                <a:lnTo>
                  <a:pt x="4635500" y="508000"/>
                </a:lnTo>
                <a:cubicBezTo>
                  <a:pt x="4635500" y="578167"/>
                  <a:pt x="4578668" y="635000"/>
                  <a:pt x="4508500" y="635000"/>
                </a:cubicBezTo>
                <a:lnTo>
                  <a:pt x="127000" y="635000"/>
                </a:lnTo>
                <a:cubicBezTo>
                  <a:pt x="56833" y="635000"/>
                  <a:pt x="0" y="578167"/>
                  <a:pt x="0" y="508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qt-2"/>
          <p:cNvSpPr txBox="1"/>
          <p:nvPr/>
        </p:nvSpPr>
        <p:spPr>
          <a:xfrm>
            <a:off x="6586474" y="5420328"/>
            <a:ext cx="2336546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7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“能让我早点下班就是好工具。”</a:t>
            </a:r>
          </a:p>
        </p:txBody>
      </p:sp>
      <p:cxnSp>
        <p:nvCxnSpPr>
          <p:cNvPr id="78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foot-l"/>
          <p:cNvSpPr txBox="1"/>
          <p:nvPr/>
        </p:nvSpPr>
        <p:spPr>
          <a:xfrm>
            <a:off x="573532" y="6532308"/>
            <a:ext cx="167627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用户画像对比 · 决策者 vs 使用者</a:t>
            </a:r>
          </a:p>
        </p:txBody>
      </p:sp>
      <p:sp>
        <p:nvSpPr>
          <p:cNvPr id="80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需求优先级矩阵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44589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VALUE VS EFFORT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7294499" y="673132"/>
            <a:ext cx="43262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左上角是低投入高价值的「快赢」，先做；右下角是高投入低价值的「陷阱」，不做</a:t>
            </a:r>
          </a:p>
        </p:txBody>
      </p:sp>
      <p:sp>
        <p:nvSpPr>
          <p:cNvPr id="10" name="q-快赢"/>
          <p:cNvSpPr/>
          <p:nvPr/>
        </p:nvSpPr>
        <p:spPr>
          <a:xfrm>
            <a:off x="1676400" y="1612900"/>
            <a:ext cx="2438400" cy="1663700"/>
          </a:xfrm>
          <a:custGeom>
            <a:avLst/>
            <a:gdLst/>
            <a:ahLst/>
            <a:cxnLst/>
            <a:rect l="0" t="0" r="r" b="b"/>
            <a:pathLst>
              <a:path w="2438400" h="1663700">
                <a:moveTo>
                  <a:pt x="101600" y="0"/>
                </a:moveTo>
                <a:lnTo>
                  <a:pt x="2336800" y="0"/>
                </a:lnTo>
                <a:cubicBezTo>
                  <a:pt x="2392934" y="0"/>
                  <a:pt x="2438400" y="45466"/>
                  <a:pt x="2438400" y="101600"/>
                </a:cubicBezTo>
                <a:lnTo>
                  <a:pt x="2438400" y="1562100"/>
                </a:lnTo>
                <a:cubicBezTo>
                  <a:pt x="2438400" y="1618234"/>
                  <a:pt x="2392934" y="1663700"/>
                  <a:pt x="2336800" y="1663700"/>
                </a:cubicBezTo>
                <a:lnTo>
                  <a:pt x="101600" y="1663700"/>
                </a:lnTo>
                <a:cubicBezTo>
                  <a:pt x="45466" y="1663700"/>
                  <a:pt x="0" y="1618234"/>
                  <a:pt x="0" y="15621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134C9C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qn-快赢"/>
          <p:cNvSpPr txBox="1"/>
          <p:nvPr/>
        </p:nvSpPr>
        <p:spPr>
          <a:xfrm>
            <a:off x="1770888" y="1663002"/>
            <a:ext cx="5295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200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快赢</a:t>
            </a:r>
          </a:p>
        </p:txBody>
      </p:sp>
      <p:sp>
        <p:nvSpPr>
          <p:cNvPr id="12" name="qa-快赢"/>
          <p:cNvSpPr txBox="1"/>
          <p:nvPr/>
        </p:nvSpPr>
        <p:spPr>
          <a:xfrm>
            <a:off x="1779270" y="1927066"/>
            <a:ext cx="4095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马上做</a:t>
            </a:r>
          </a:p>
        </p:txBody>
      </p:sp>
      <p:sp>
        <p:nvSpPr>
          <p:cNvPr id="13" name="q-大项目"/>
          <p:cNvSpPr/>
          <p:nvPr/>
        </p:nvSpPr>
        <p:spPr>
          <a:xfrm>
            <a:off x="4165600" y="1612900"/>
            <a:ext cx="3683000" cy="1663700"/>
          </a:xfrm>
          <a:custGeom>
            <a:avLst/>
            <a:gdLst/>
            <a:ahLst/>
            <a:cxnLst/>
            <a:rect l="0" t="0" r="r" b="b"/>
            <a:pathLst>
              <a:path w="3683000" h="1663700">
                <a:moveTo>
                  <a:pt x="101600" y="0"/>
                </a:moveTo>
                <a:lnTo>
                  <a:pt x="3581400" y="0"/>
                </a:lnTo>
                <a:cubicBezTo>
                  <a:pt x="3637534" y="0"/>
                  <a:pt x="3683000" y="45466"/>
                  <a:pt x="3683000" y="101600"/>
                </a:cubicBezTo>
                <a:lnTo>
                  <a:pt x="3683000" y="1562100"/>
                </a:lnTo>
                <a:cubicBezTo>
                  <a:pt x="3683000" y="1618234"/>
                  <a:pt x="3637534" y="1663700"/>
                  <a:pt x="3581400" y="1663700"/>
                </a:cubicBezTo>
                <a:lnTo>
                  <a:pt x="101600" y="1663700"/>
                </a:lnTo>
                <a:cubicBezTo>
                  <a:pt x="45466" y="1663700"/>
                  <a:pt x="0" y="1618234"/>
                  <a:pt x="0" y="15621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2E77C2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qn-大项目"/>
          <p:cNvSpPr txBox="1"/>
          <p:nvPr/>
        </p:nvSpPr>
        <p:spPr>
          <a:xfrm>
            <a:off x="7034022" y="1663002"/>
            <a:ext cx="7200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300" b="1" spc="200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大项目</a:t>
            </a:r>
          </a:p>
        </p:txBody>
      </p:sp>
      <p:sp>
        <p:nvSpPr>
          <p:cNvPr id="15" name="qa-大项目"/>
          <p:cNvSpPr txBox="1"/>
          <p:nvPr/>
        </p:nvSpPr>
        <p:spPr>
          <a:xfrm>
            <a:off x="7336155" y="1927066"/>
            <a:ext cx="4095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100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排计划</a:t>
            </a:r>
          </a:p>
        </p:txBody>
      </p:sp>
      <p:sp>
        <p:nvSpPr>
          <p:cNvPr id="16" name="q-顺手做"/>
          <p:cNvSpPr/>
          <p:nvPr/>
        </p:nvSpPr>
        <p:spPr>
          <a:xfrm>
            <a:off x="1676400" y="3327400"/>
            <a:ext cx="2438400" cy="2044700"/>
          </a:xfrm>
          <a:custGeom>
            <a:avLst/>
            <a:gdLst/>
            <a:ahLst/>
            <a:cxnLst/>
            <a:rect l="0" t="0" r="r" b="b"/>
            <a:pathLst>
              <a:path w="2438400" h="2044700">
                <a:moveTo>
                  <a:pt x="101600" y="0"/>
                </a:moveTo>
                <a:lnTo>
                  <a:pt x="2336800" y="0"/>
                </a:lnTo>
                <a:cubicBezTo>
                  <a:pt x="2392934" y="0"/>
                  <a:pt x="2438400" y="45466"/>
                  <a:pt x="2438400" y="101600"/>
                </a:cubicBezTo>
                <a:lnTo>
                  <a:pt x="2438400" y="1943100"/>
                </a:lnTo>
                <a:cubicBezTo>
                  <a:pt x="2438400" y="1999234"/>
                  <a:pt x="2392934" y="2044700"/>
                  <a:pt x="2336800" y="2044700"/>
                </a:cubicBezTo>
                <a:lnTo>
                  <a:pt x="101600" y="2044700"/>
                </a:lnTo>
                <a:cubicBezTo>
                  <a:pt x="45466" y="2044700"/>
                  <a:pt x="0" y="1999234"/>
                  <a:pt x="0" y="19431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9DB2CC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qn-顺手做"/>
          <p:cNvSpPr txBox="1"/>
          <p:nvPr/>
        </p:nvSpPr>
        <p:spPr>
          <a:xfrm>
            <a:off x="1770888" y="5053902"/>
            <a:ext cx="7200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200">
                <a:solidFill>
                  <a:srgbClr val="9DB2CC"/>
                </a:solidFill>
                <a:latin typeface="微软雅黑"/>
                <a:ea typeface="微软雅黑"/>
                <a:cs typeface="微软雅黑"/>
              </a:rPr>
              <a:t>顺手做</a:t>
            </a:r>
          </a:p>
        </p:txBody>
      </p:sp>
      <p:sp>
        <p:nvSpPr>
          <p:cNvPr id="18" name="qa-顺手做"/>
          <p:cNvSpPr txBox="1"/>
          <p:nvPr/>
        </p:nvSpPr>
        <p:spPr>
          <a:xfrm>
            <a:off x="1779270" y="4886166"/>
            <a:ext cx="4095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9DB2CC"/>
                </a:solidFill>
                <a:latin typeface="微软雅黑"/>
                <a:ea typeface="微软雅黑"/>
                <a:cs typeface="微软雅黑"/>
              </a:rPr>
              <a:t>有空做</a:t>
            </a:r>
          </a:p>
        </p:txBody>
      </p:sp>
      <p:sp>
        <p:nvSpPr>
          <p:cNvPr id="19" name="q-陷阱"/>
          <p:cNvSpPr/>
          <p:nvPr/>
        </p:nvSpPr>
        <p:spPr>
          <a:xfrm>
            <a:off x="4165600" y="3327400"/>
            <a:ext cx="3683000" cy="2044700"/>
          </a:xfrm>
          <a:custGeom>
            <a:avLst/>
            <a:gdLst/>
            <a:ahLst/>
            <a:cxnLst/>
            <a:rect l="0" t="0" r="r" b="b"/>
            <a:pathLst>
              <a:path w="3683000" h="2044700">
                <a:moveTo>
                  <a:pt x="101600" y="0"/>
                </a:moveTo>
                <a:lnTo>
                  <a:pt x="3581400" y="0"/>
                </a:lnTo>
                <a:cubicBezTo>
                  <a:pt x="3637534" y="0"/>
                  <a:pt x="3683000" y="45466"/>
                  <a:pt x="3683000" y="101600"/>
                </a:cubicBezTo>
                <a:lnTo>
                  <a:pt x="3683000" y="1943100"/>
                </a:lnTo>
                <a:cubicBezTo>
                  <a:pt x="3683000" y="1999234"/>
                  <a:pt x="3637534" y="2044700"/>
                  <a:pt x="3581400" y="2044700"/>
                </a:cubicBezTo>
                <a:lnTo>
                  <a:pt x="101600" y="2044700"/>
                </a:lnTo>
                <a:cubicBezTo>
                  <a:pt x="45466" y="2044700"/>
                  <a:pt x="0" y="1999234"/>
                  <a:pt x="0" y="19431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0703A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qn-陷阱"/>
          <p:cNvSpPr txBox="1"/>
          <p:nvPr/>
        </p:nvSpPr>
        <p:spPr>
          <a:xfrm>
            <a:off x="7224522" y="5053902"/>
            <a:ext cx="5295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300" b="1" spc="20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陷阱</a:t>
            </a:r>
          </a:p>
        </p:txBody>
      </p:sp>
      <p:sp>
        <p:nvSpPr>
          <p:cNvPr id="21" name="qa-陷阱"/>
          <p:cNvSpPr txBox="1"/>
          <p:nvPr/>
        </p:nvSpPr>
        <p:spPr>
          <a:xfrm>
            <a:off x="7444105" y="4886166"/>
            <a:ext cx="3016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10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不做</a:t>
            </a:r>
          </a:p>
        </p:txBody>
      </p:sp>
      <p:sp>
        <p:nvSpPr>
          <p:cNvPr id="22" name="x0"/>
          <p:cNvSpPr txBox="1"/>
          <p:nvPr/>
        </p:nvSpPr>
        <p:spPr>
          <a:xfrm>
            <a:off x="1639570" y="5508466"/>
            <a:ext cx="3714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低投入</a:t>
            </a:r>
          </a:p>
        </p:txBody>
      </p:sp>
      <p:sp>
        <p:nvSpPr>
          <p:cNvPr id="23" name="x1"/>
          <p:cNvSpPr txBox="1"/>
          <p:nvPr/>
        </p:nvSpPr>
        <p:spPr>
          <a:xfrm>
            <a:off x="7079615" y="5508466"/>
            <a:ext cx="8058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高投入（人周）→</a:t>
            </a:r>
          </a:p>
        </p:txBody>
      </p:sp>
      <p:sp>
        <p:nvSpPr>
          <p:cNvPr id="24" name="y1"/>
          <p:cNvSpPr txBox="1"/>
          <p:nvPr/>
        </p:nvSpPr>
        <p:spPr>
          <a:xfrm>
            <a:off x="1189355" y="1546066"/>
            <a:ext cx="3714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高价值</a:t>
            </a:r>
          </a:p>
        </p:txBody>
      </p:sp>
      <p:sp>
        <p:nvSpPr>
          <p:cNvPr id="25" name="y0"/>
          <p:cNvSpPr txBox="1"/>
          <p:nvPr/>
        </p:nvSpPr>
        <p:spPr>
          <a:xfrm>
            <a:off x="1189355" y="5279866"/>
            <a:ext cx="3714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低价值</a:t>
            </a:r>
          </a:p>
        </p:txBody>
      </p:sp>
      <p:sp>
        <p:nvSpPr>
          <p:cNvPr id="26" name="b-批量导出"/>
          <p:cNvSpPr/>
          <p:nvPr/>
        </p:nvSpPr>
        <p:spPr>
          <a:xfrm>
            <a:off x="2064614" y="2393544"/>
            <a:ext cx="292912" cy="292912"/>
          </a:xfrm>
          <a:prstGeom prst="ellipse">
            <a:avLst/>
          </a:prstGeom>
          <a:solidFill>
            <a:srgbClr val="134C9C">
              <a:alpha val="85000"/>
            </a:srgbClr>
          </a:solidFill>
          <a:ln w="15875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bt-批量导出"/>
          <p:cNvSpPr txBox="1"/>
          <p:nvPr/>
        </p:nvSpPr>
        <p:spPr>
          <a:xfrm>
            <a:off x="2396134" y="2452624"/>
            <a:ext cx="5105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批量导出</a:t>
            </a:r>
          </a:p>
        </p:txBody>
      </p:sp>
      <p:sp>
        <p:nvSpPr>
          <p:cNvPr id="28" name="b-移动审批"/>
          <p:cNvSpPr/>
          <p:nvPr/>
        </p:nvSpPr>
        <p:spPr>
          <a:xfrm>
            <a:off x="2730500" y="1879600"/>
            <a:ext cx="330200" cy="330200"/>
          </a:xfrm>
          <a:prstGeom prst="ellipse">
            <a:avLst/>
          </a:prstGeom>
          <a:solidFill>
            <a:srgbClr val="134C9C">
              <a:alpha val="85000"/>
            </a:srgbClr>
          </a:solidFill>
          <a:ln w="15875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bt-移动审批"/>
          <p:cNvSpPr txBox="1"/>
          <p:nvPr/>
        </p:nvSpPr>
        <p:spPr>
          <a:xfrm>
            <a:off x="3099308" y="1957324"/>
            <a:ext cx="5105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移动审批</a:t>
            </a:r>
          </a:p>
        </p:txBody>
      </p:sp>
      <p:sp>
        <p:nvSpPr>
          <p:cNvPr id="30" name="b-自定义报表"/>
          <p:cNvSpPr/>
          <p:nvPr/>
        </p:nvSpPr>
        <p:spPr>
          <a:xfrm>
            <a:off x="4295102" y="1736052"/>
            <a:ext cx="312495" cy="312495"/>
          </a:xfrm>
          <a:prstGeom prst="ellipse">
            <a:avLst/>
          </a:prstGeom>
          <a:solidFill>
            <a:srgbClr val="2E77C2">
              <a:alpha val="85000"/>
            </a:srgbClr>
          </a:solidFill>
          <a:ln w="15875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bt-自定义报表"/>
          <p:cNvSpPr txBox="1"/>
          <p:nvPr/>
        </p:nvSpPr>
        <p:spPr>
          <a:xfrm>
            <a:off x="4646206" y="1804924"/>
            <a:ext cx="615315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自定义报表</a:t>
            </a:r>
          </a:p>
        </p:txBody>
      </p:sp>
      <p:sp>
        <p:nvSpPr>
          <p:cNvPr id="32" name="b-多语言"/>
          <p:cNvSpPr/>
          <p:nvPr/>
        </p:nvSpPr>
        <p:spPr>
          <a:xfrm>
            <a:off x="5273405" y="2809605"/>
            <a:ext cx="222789" cy="222789"/>
          </a:xfrm>
          <a:prstGeom prst="ellipse">
            <a:avLst/>
          </a:prstGeom>
          <a:solidFill>
            <a:srgbClr val="2E77C2">
              <a:alpha val="85000"/>
            </a:srgbClr>
          </a:solidFill>
          <a:ln w="15875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bt-多语言"/>
          <p:cNvSpPr txBox="1"/>
          <p:nvPr/>
        </p:nvSpPr>
        <p:spPr>
          <a:xfrm>
            <a:off x="5534803" y="2833624"/>
            <a:ext cx="405765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多语言</a:t>
            </a:r>
          </a:p>
        </p:txBody>
      </p:sp>
      <p:sp>
        <p:nvSpPr>
          <p:cNvPr id="34" name="b-AI 助手"/>
          <p:cNvSpPr/>
          <p:nvPr/>
        </p:nvSpPr>
        <p:spPr>
          <a:xfrm>
            <a:off x="6494058" y="2137958"/>
            <a:ext cx="270684" cy="270684"/>
          </a:xfrm>
          <a:prstGeom prst="ellipse">
            <a:avLst/>
          </a:prstGeom>
          <a:solidFill>
            <a:srgbClr val="2E77C2">
              <a:alpha val="85000"/>
            </a:srgbClr>
          </a:solidFill>
          <a:ln w="15875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bt-AI 助手"/>
          <p:cNvSpPr txBox="1"/>
          <p:nvPr/>
        </p:nvSpPr>
        <p:spPr>
          <a:xfrm>
            <a:off x="6803350" y="2185924"/>
            <a:ext cx="48120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AI 助手</a:t>
            </a:r>
          </a:p>
        </p:txBody>
      </p:sp>
      <p:sp>
        <p:nvSpPr>
          <p:cNvPr id="36" name="b-深色模式"/>
          <p:cNvSpPr/>
          <p:nvPr/>
        </p:nvSpPr>
        <p:spPr>
          <a:xfrm>
            <a:off x="2462291" y="3941841"/>
            <a:ext cx="244318" cy="244318"/>
          </a:xfrm>
          <a:prstGeom prst="ellipse">
            <a:avLst/>
          </a:prstGeom>
          <a:solidFill>
            <a:srgbClr val="8FA6C2">
              <a:alpha val="85000"/>
            </a:srgbClr>
          </a:solidFill>
          <a:ln w="15875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bt-深色模式"/>
          <p:cNvSpPr txBox="1"/>
          <p:nvPr/>
        </p:nvSpPr>
        <p:spPr>
          <a:xfrm>
            <a:off x="2745217" y="3976624"/>
            <a:ext cx="5105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深色模式</a:t>
            </a:r>
          </a:p>
        </p:txBody>
      </p:sp>
      <p:sp>
        <p:nvSpPr>
          <p:cNvPr id="38" name="b-老系统迁移"/>
          <p:cNvSpPr/>
          <p:nvPr/>
        </p:nvSpPr>
        <p:spPr>
          <a:xfrm>
            <a:off x="7161967" y="4088567"/>
            <a:ext cx="179466" cy="179466"/>
          </a:xfrm>
          <a:prstGeom prst="ellipse">
            <a:avLst/>
          </a:prstGeom>
          <a:solidFill>
            <a:srgbClr val="E0703A">
              <a:alpha val="85000"/>
            </a:srgbClr>
          </a:solidFill>
          <a:ln w="15875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bt-老系统迁移"/>
          <p:cNvSpPr txBox="1"/>
          <p:nvPr/>
        </p:nvSpPr>
        <p:spPr>
          <a:xfrm>
            <a:off x="7380041" y="4090924"/>
            <a:ext cx="615315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老系统迁移</a:t>
            </a:r>
          </a:p>
        </p:txBody>
      </p:sp>
      <p:sp>
        <p:nvSpPr>
          <p:cNvPr id="40" name="b-消息提醒"/>
          <p:cNvSpPr/>
          <p:nvPr/>
        </p:nvSpPr>
        <p:spPr>
          <a:xfrm>
            <a:off x="1990866" y="2908441"/>
            <a:ext cx="253717" cy="253717"/>
          </a:xfrm>
          <a:prstGeom prst="ellipse">
            <a:avLst/>
          </a:prstGeom>
          <a:solidFill>
            <a:srgbClr val="134C9C">
              <a:alpha val="85000"/>
            </a:srgbClr>
          </a:solidFill>
          <a:ln w="15875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bt-消息提醒"/>
          <p:cNvSpPr txBox="1"/>
          <p:nvPr/>
        </p:nvSpPr>
        <p:spPr>
          <a:xfrm>
            <a:off x="2283192" y="2947924"/>
            <a:ext cx="5105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消息提醒</a:t>
            </a:r>
          </a:p>
        </p:txBody>
      </p:sp>
      <p:sp>
        <p:nvSpPr>
          <p:cNvPr id="42" name="b-权限细分"/>
          <p:cNvSpPr/>
          <p:nvPr/>
        </p:nvSpPr>
        <p:spPr>
          <a:xfrm>
            <a:off x="3384582" y="2444782"/>
            <a:ext cx="266636" cy="266636"/>
          </a:xfrm>
          <a:prstGeom prst="ellipse">
            <a:avLst/>
          </a:prstGeom>
          <a:solidFill>
            <a:srgbClr val="134C9C">
              <a:alpha val="85000"/>
            </a:srgbClr>
          </a:solidFill>
          <a:ln w="15875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bt-权限细分"/>
          <p:cNvSpPr txBox="1"/>
          <p:nvPr/>
        </p:nvSpPr>
        <p:spPr>
          <a:xfrm>
            <a:off x="3689826" y="2490724"/>
            <a:ext cx="5105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权限细分</a:t>
            </a:r>
          </a:p>
        </p:txBody>
      </p:sp>
      <p:sp>
        <p:nvSpPr>
          <p:cNvPr id="44" name="b-主题皮肤"/>
          <p:cNvSpPr/>
          <p:nvPr/>
        </p:nvSpPr>
        <p:spPr>
          <a:xfrm>
            <a:off x="3105386" y="4381736"/>
            <a:ext cx="202728" cy="202728"/>
          </a:xfrm>
          <a:prstGeom prst="ellipse">
            <a:avLst/>
          </a:prstGeom>
          <a:solidFill>
            <a:srgbClr val="8FA6C2">
              <a:alpha val="85000"/>
            </a:srgbClr>
          </a:solidFill>
          <a:ln w="15875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bt-主题皮肤"/>
          <p:cNvSpPr txBox="1"/>
          <p:nvPr/>
        </p:nvSpPr>
        <p:spPr>
          <a:xfrm>
            <a:off x="3346722" y="4395724"/>
            <a:ext cx="5105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主题皮肤</a:t>
            </a:r>
          </a:p>
        </p:txBody>
      </p:sp>
      <p:sp>
        <p:nvSpPr>
          <p:cNvPr id="46" name="side-bar"/>
          <p:cNvSpPr/>
          <p:nvPr/>
        </p:nvSpPr>
        <p:spPr>
          <a:xfrm>
            <a:off x="8445500" y="15875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side-h"/>
          <p:cNvSpPr txBox="1"/>
          <p:nvPr/>
        </p:nvSpPr>
        <p:spPr>
          <a:xfrm>
            <a:off x="8604250" y="1594644"/>
            <a:ext cx="10001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下季度排期</a:t>
            </a:r>
          </a:p>
        </p:txBody>
      </p:sp>
      <p:sp>
        <p:nvSpPr>
          <p:cNvPr id="48" name="side-p"/>
          <p:cNvSpPr txBox="1"/>
          <p:nvPr/>
        </p:nvSpPr>
        <p:spPr>
          <a:xfrm>
            <a:off x="8610727" y="1877203"/>
            <a:ext cx="1556195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气泡大小 = 提出需求的客户数</a:t>
            </a:r>
          </a:p>
        </p:txBody>
      </p:sp>
      <p:sp>
        <p:nvSpPr>
          <p:cNvPr id="49" name="pl-快赢 · 本月完成"/>
          <p:cNvSpPr/>
          <p:nvPr/>
        </p:nvSpPr>
        <p:spPr>
          <a:xfrm>
            <a:off x="8445500" y="2260600"/>
            <a:ext cx="2794000" cy="1219200"/>
          </a:xfrm>
          <a:custGeom>
            <a:avLst/>
            <a:gdLst/>
            <a:ahLst/>
            <a:cxnLst/>
            <a:rect l="0" t="0" r="r" b="b"/>
            <a:pathLst>
              <a:path w="2794000" h="1219200">
                <a:moveTo>
                  <a:pt x="114300" y="0"/>
                </a:moveTo>
                <a:lnTo>
                  <a:pt x="2679700" y="0"/>
                </a:lnTo>
                <a:cubicBezTo>
                  <a:pt x="2742819" y="0"/>
                  <a:pt x="2794000" y="51181"/>
                  <a:pt x="2794000" y="114300"/>
                </a:cubicBezTo>
                <a:lnTo>
                  <a:pt x="2794000" y="1104900"/>
                </a:lnTo>
                <a:cubicBezTo>
                  <a:pt x="2794000" y="1168019"/>
                  <a:pt x="2742819" y="1219200"/>
                  <a:pt x="2679700" y="1219200"/>
                </a:cubicBezTo>
                <a:lnTo>
                  <a:pt x="114300" y="1219200"/>
                </a:lnTo>
                <a:cubicBezTo>
                  <a:pt x="51181" y="1219200"/>
                  <a:pt x="0" y="1168019"/>
                  <a:pt x="0" y="1104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plb-快赢 · 本月完成"/>
          <p:cNvSpPr/>
          <p:nvPr/>
        </p:nvSpPr>
        <p:spPr>
          <a:xfrm>
            <a:off x="8445500" y="2260600"/>
            <a:ext cx="38100" cy="1219200"/>
          </a:xfrm>
          <a:custGeom>
            <a:avLst/>
            <a:gdLst/>
            <a:ahLst/>
            <a:cxnLst/>
            <a:rect l="0" t="0" r="r" b="b"/>
            <a:pathLst>
              <a:path w="38100" h="12192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200150"/>
                </a:lnTo>
                <a:cubicBezTo>
                  <a:pt x="38100" y="1210691"/>
                  <a:pt x="29591" y="1219200"/>
                  <a:pt x="19050" y="1219200"/>
                </a:cubicBezTo>
                <a:lnTo>
                  <a:pt x="19050" y="1219200"/>
                </a:lnTo>
                <a:cubicBezTo>
                  <a:pt x="8509" y="1219200"/>
                  <a:pt x="0" y="1210691"/>
                  <a:pt x="0" y="12001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plh-快赢 · 本月完成"/>
          <p:cNvSpPr txBox="1"/>
          <p:nvPr/>
        </p:nvSpPr>
        <p:spPr>
          <a:xfrm>
            <a:off x="8609584" y="2360740"/>
            <a:ext cx="103784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快赢 · 本月完成</a:t>
            </a:r>
          </a:p>
        </p:txBody>
      </p:sp>
      <p:sp>
        <p:nvSpPr>
          <p:cNvPr id="52" name="pli-快赢 · 本月完成-0"/>
          <p:cNvSpPr txBox="1"/>
          <p:nvPr/>
        </p:nvSpPr>
        <p:spPr>
          <a:xfrm>
            <a:off x="8610727" y="2613803"/>
            <a:ext cx="645986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· 移动审批</a:t>
            </a:r>
          </a:p>
        </p:txBody>
      </p:sp>
      <p:sp>
        <p:nvSpPr>
          <p:cNvPr id="53" name="pli-快赢 · 本月完成-1"/>
          <p:cNvSpPr txBox="1"/>
          <p:nvPr/>
        </p:nvSpPr>
        <p:spPr>
          <a:xfrm>
            <a:off x="8610727" y="2829703"/>
            <a:ext cx="645986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· 批量导出</a:t>
            </a:r>
          </a:p>
        </p:txBody>
      </p:sp>
      <p:sp>
        <p:nvSpPr>
          <p:cNvPr id="54" name="pli-快赢 · 本月完成-2"/>
          <p:cNvSpPr txBox="1"/>
          <p:nvPr/>
        </p:nvSpPr>
        <p:spPr>
          <a:xfrm>
            <a:off x="8610727" y="3045603"/>
            <a:ext cx="645986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· 消息提醒</a:t>
            </a:r>
          </a:p>
        </p:txBody>
      </p:sp>
      <p:sp>
        <p:nvSpPr>
          <p:cNvPr id="55" name="pli-快赢 · 本月完成-3"/>
          <p:cNvSpPr txBox="1"/>
          <p:nvPr/>
        </p:nvSpPr>
        <p:spPr>
          <a:xfrm>
            <a:off x="8610727" y="3261503"/>
            <a:ext cx="645986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· 权限细分</a:t>
            </a:r>
          </a:p>
        </p:txBody>
      </p:sp>
      <p:sp>
        <p:nvSpPr>
          <p:cNvPr id="56" name="pl-大项目 · 立项排期"/>
          <p:cNvSpPr/>
          <p:nvPr/>
        </p:nvSpPr>
        <p:spPr>
          <a:xfrm>
            <a:off x="8445500" y="3606800"/>
            <a:ext cx="2794000" cy="1003300"/>
          </a:xfrm>
          <a:custGeom>
            <a:avLst/>
            <a:gdLst/>
            <a:ahLst/>
            <a:cxnLst/>
            <a:rect l="0" t="0" r="r" b="b"/>
            <a:pathLst>
              <a:path w="2794000" h="1003300">
                <a:moveTo>
                  <a:pt x="114300" y="0"/>
                </a:moveTo>
                <a:lnTo>
                  <a:pt x="2679700" y="0"/>
                </a:lnTo>
                <a:cubicBezTo>
                  <a:pt x="2742819" y="0"/>
                  <a:pt x="2794000" y="51181"/>
                  <a:pt x="2794000" y="114300"/>
                </a:cubicBezTo>
                <a:lnTo>
                  <a:pt x="2794000" y="889000"/>
                </a:lnTo>
                <a:cubicBezTo>
                  <a:pt x="2794000" y="952119"/>
                  <a:pt x="2742819" y="1003300"/>
                  <a:pt x="2679700" y="1003300"/>
                </a:cubicBezTo>
                <a:lnTo>
                  <a:pt x="114300" y="1003300"/>
                </a:lnTo>
                <a:cubicBezTo>
                  <a:pt x="51181" y="1003300"/>
                  <a:pt x="0" y="952119"/>
                  <a:pt x="0" y="8890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plb-大项目 · 立项排期"/>
          <p:cNvSpPr/>
          <p:nvPr/>
        </p:nvSpPr>
        <p:spPr>
          <a:xfrm>
            <a:off x="8445500" y="3606800"/>
            <a:ext cx="38100" cy="1003300"/>
          </a:xfrm>
          <a:custGeom>
            <a:avLst/>
            <a:gdLst/>
            <a:ahLst/>
            <a:cxnLst/>
            <a:rect l="0" t="0" r="r" b="b"/>
            <a:pathLst>
              <a:path w="38100" h="10033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984250"/>
                </a:lnTo>
                <a:cubicBezTo>
                  <a:pt x="38100" y="994791"/>
                  <a:pt x="29591" y="1003300"/>
                  <a:pt x="19050" y="1003300"/>
                </a:cubicBezTo>
                <a:lnTo>
                  <a:pt x="19050" y="1003300"/>
                </a:lnTo>
                <a:cubicBezTo>
                  <a:pt x="8509" y="1003300"/>
                  <a:pt x="0" y="994791"/>
                  <a:pt x="0" y="9842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plh-大项目 · 立项排期"/>
          <p:cNvSpPr txBox="1"/>
          <p:nvPr/>
        </p:nvSpPr>
        <p:spPr>
          <a:xfrm>
            <a:off x="8609584" y="3706940"/>
            <a:ext cx="11584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大项目 · 立项排期</a:t>
            </a:r>
          </a:p>
        </p:txBody>
      </p:sp>
      <p:sp>
        <p:nvSpPr>
          <p:cNvPr id="59" name="pli-大项目 · 立项排期-0"/>
          <p:cNvSpPr txBox="1"/>
          <p:nvPr/>
        </p:nvSpPr>
        <p:spPr>
          <a:xfrm>
            <a:off x="8610727" y="3960003"/>
            <a:ext cx="753301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· 自定义报表</a:t>
            </a:r>
          </a:p>
        </p:txBody>
      </p:sp>
      <p:sp>
        <p:nvSpPr>
          <p:cNvPr id="60" name="pli-大项目 · 立项排期-1"/>
          <p:cNvSpPr txBox="1"/>
          <p:nvPr/>
        </p:nvSpPr>
        <p:spPr>
          <a:xfrm>
            <a:off x="8610727" y="4175903"/>
            <a:ext cx="61499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· AI 助手</a:t>
            </a:r>
          </a:p>
        </p:txBody>
      </p:sp>
      <p:sp>
        <p:nvSpPr>
          <p:cNvPr id="61" name="pli-大项目 · 立项排期-2"/>
          <p:cNvSpPr txBox="1"/>
          <p:nvPr/>
        </p:nvSpPr>
        <p:spPr>
          <a:xfrm>
            <a:off x="8610727" y="4391803"/>
            <a:ext cx="538670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· 多语言</a:t>
            </a:r>
          </a:p>
        </p:txBody>
      </p:sp>
      <p:sp>
        <p:nvSpPr>
          <p:cNvPr id="62" name="pl-暂不做 · 陷阱与低价值"/>
          <p:cNvSpPr/>
          <p:nvPr/>
        </p:nvSpPr>
        <p:spPr>
          <a:xfrm>
            <a:off x="8445500" y="4737100"/>
            <a:ext cx="2794000" cy="1003300"/>
          </a:xfrm>
          <a:custGeom>
            <a:avLst/>
            <a:gdLst/>
            <a:ahLst/>
            <a:cxnLst/>
            <a:rect l="0" t="0" r="r" b="b"/>
            <a:pathLst>
              <a:path w="2794000" h="1003300">
                <a:moveTo>
                  <a:pt x="114300" y="0"/>
                </a:moveTo>
                <a:lnTo>
                  <a:pt x="2679700" y="0"/>
                </a:lnTo>
                <a:cubicBezTo>
                  <a:pt x="2742819" y="0"/>
                  <a:pt x="2794000" y="51181"/>
                  <a:pt x="2794000" y="114300"/>
                </a:cubicBezTo>
                <a:lnTo>
                  <a:pt x="2794000" y="889000"/>
                </a:lnTo>
                <a:cubicBezTo>
                  <a:pt x="2794000" y="952119"/>
                  <a:pt x="2742819" y="1003300"/>
                  <a:pt x="2679700" y="1003300"/>
                </a:cubicBezTo>
                <a:lnTo>
                  <a:pt x="114300" y="1003300"/>
                </a:lnTo>
                <a:cubicBezTo>
                  <a:pt x="51181" y="1003300"/>
                  <a:pt x="0" y="952119"/>
                  <a:pt x="0" y="8890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plb-暂不做 · 陷阱与低价值"/>
          <p:cNvSpPr/>
          <p:nvPr/>
        </p:nvSpPr>
        <p:spPr>
          <a:xfrm>
            <a:off x="8445500" y="4737100"/>
            <a:ext cx="38100" cy="1003300"/>
          </a:xfrm>
          <a:custGeom>
            <a:avLst/>
            <a:gdLst/>
            <a:ahLst/>
            <a:cxnLst/>
            <a:rect l="0" t="0" r="r" b="b"/>
            <a:pathLst>
              <a:path w="38100" h="10033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984250"/>
                </a:lnTo>
                <a:cubicBezTo>
                  <a:pt x="38100" y="994791"/>
                  <a:pt x="29591" y="1003300"/>
                  <a:pt x="19050" y="1003300"/>
                </a:cubicBezTo>
                <a:lnTo>
                  <a:pt x="19050" y="1003300"/>
                </a:lnTo>
                <a:cubicBezTo>
                  <a:pt x="8509" y="1003300"/>
                  <a:pt x="0" y="994791"/>
                  <a:pt x="0" y="9842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plh-暂不做 · 陷阱与低价值"/>
          <p:cNvSpPr txBox="1"/>
          <p:nvPr/>
        </p:nvSpPr>
        <p:spPr>
          <a:xfrm>
            <a:off x="8609584" y="4837240"/>
            <a:ext cx="13997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暂不做 · 陷阱与低价值</a:t>
            </a:r>
          </a:p>
        </p:txBody>
      </p:sp>
      <p:sp>
        <p:nvSpPr>
          <p:cNvPr id="65" name="pli-暂不做 · 陷阱与低价值-0"/>
          <p:cNvSpPr txBox="1"/>
          <p:nvPr/>
        </p:nvSpPr>
        <p:spPr>
          <a:xfrm>
            <a:off x="8610727" y="5090303"/>
            <a:ext cx="753301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· 老系统迁移</a:t>
            </a:r>
          </a:p>
        </p:txBody>
      </p:sp>
      <p:sp>
        <p:nvSpPr>
          <p:cNvPr id="66" name="pli-暂不做 · 陷阱与低价值-1"/>
          <p:cNvSpPr txBox="1"/>
          <p:nvPr/>
        </p:nvSpPr>
        <p:spPr>
          <a:xfrm>
            <a:off x="8610727" y="5306203"/>
            <a:ext cx="645986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· 主题皮肤</a:t>
            </a:r>
          </a:p>
        </p:txBody>
      </p:sp>
      <p:sp>
        <p:nvSpPr>
          <p:cNvPr id="67" name="pli-暂不做 · 陷阱与低价值-2"/>
          <p:cNvSpPr txBox="1"/>
          <p:nvPr/>
        </p:nvSpPr>
        <p:spPr>
          <a:xfrm>
            <a:off x="8610727" y="5522103"/>
            <a:ext cx="645986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· 深色模式</a:t>
            </a:r>
          </a:p>
        </p:txBody>
      </p:sp>
      <p:cxnSp>
        <p:nvCxnSpPr>
          <p:cNvPr id="68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9" name="foot-l"/>
          <p:cNvSpPr txBox="1"/>
          <p:nvPr/>
        </p:nvSpPr>
        <p:spPr>
          <a:xfrm>
            <a:off x="573532" y="6532308"/>
            <a:ext cx="132168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需求优先级 · 价值 × 投入</a:t>
            </a:r>
          </a:p>
        </p:txBody>
      </p:sp>
      <p:sp>
        <p:nvSpPr>
          <p:cNvPr id="70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品牌感知对比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99224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SEMANTIC DIFFERENTIAL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131683" y="673132"/>
            <a:ext cx="348907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六组反义词各打 −3 到 +3 分，看清我们和竞品在用户心里的位置</a:t>
            </a:r>
          </a:p>
        </p:txBody>
      </p:sp>
      <p:sp>
        <p:nvSpPr>
          <p:cNvPr id="10" name="lg-我们"/>
          <p:cNvSpPr/>
          <p:nvPr/>
        </p:nvSpPr>
        <p:spPr>
          <a:xfrm>
            <a:off x="2787650" y="1428750"/>
            <a:ext cx="139700" cy="139700"/>
          </a:xfrm>
          <a:prstGeom prst="ellipse">
            <a:avLst/>
          </a:prstGeom>
          <a:solidFill>
            <a:srgbClr val="E0703A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lgt-我们"/>
          <p:cNvSpPr txBox="1"/>
          <p:nvPr/>
        </p:nvSpPr>
        <p:spPr>
          <a:xfrm>
            <a:off x="2959608" y="1411224"/>
            <a:ext cx="2946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我们</a:t>
            </a:r>
          </a:p>
        </p:txBody>
      </p:sp>
      <p:sp>
        <p:nvSpPr>
          <p:cNvPr id="12" name="lg-竞品 A"/>
          <p:cNvSpPr/>
          <p:nvPr/>
        </p:nvSpPr>
        <p:spPr>
          <a:xfrm>
            <a:off x="3625850" y="1441450"/>
            <a:ext cx="114300" cy="114300"/>
          </a:xfrm>
          <a:prstGeom prst="ellipse">
            <a:avLst/>
          </a:prstGeom>
          <a:solidFill>
            <a:srgbClr val="134C9C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lgt-竞品 A"/>
          <p:cNvSpPr txBox="1"/>
          <p:nvPr/>
        </p:nvSpPr>
        <p:spPr>
          <a:xfrm>
            <a:off x="3785108" y="1411224"/>
            <a:ext cx="4084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竞品 A</a:t>
            </a:r>
          </a:p>
        </p:txBody>
      </p:sp>
      <p:sp>
        <p:nvSpPr>
          <p:cNvPr id="14" name="lg-竞品 B"/>
          <p:cNvSpPr/>
          <p:nvPr/>
        </p:nvSpPr>
        <p:spPr>
          <a:xfrm>
            <a:off x="4451350" y="1441450"/>
            <a:ext cx="114300" cy="114300"/>
          </a:xfrm>
          <a:prstGeom prst="ellipse">
            <a:avLst/>
          </a:prstGeom>
          <a:solidFill>
            <a:srgbClr val="8FA6C2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lgt-竞品 B"/>
          <p:cNvSpPr txBox="1"/>
          <p:nvPr/>
        </p:nvSpPr>
        <p:spPr>
          <a:xfrm>
            <a:off x="4610608" y="1411224"/>
            <a:ext cx="4084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竞品 B</a:t>
            </a:r>
          </a:p>
        </p:txBody>
      </p:sp>
      <p:cxnSp>
        <p:nvCxnSpPr>
          <p:cNvPr id="16" name="g-3"/>
          <p:cNvCxnSpPr/>
          <p:nvPr/>
        </p:nvCxnSpPr>
        <p:spPr>
          <a:xfrm>
            <a:off x="2794000" y="1714500"/>
            <a:ext cx="0" cy="34290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gt-3"/>
          <p:cNvSpPr txBox="1"/>
          <p:nvPr/>
        </p:nvSpPr>
        <p:spPr>
          <a:xfrm>
            <a:off x="2697798" y="521636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-3</a:t>
            </a:r>
          </a:p>
        </p:txBody>
      </p:sp>
      <p:cxnSp>
        <p:nvCxnSpPr>
          <p:cNvPr id="18" name="g-2"/>
          <p:cNvCxnSpPr/>
          <p:nvPr/>
        </p:nvCxnSpPr>
        <p:spPr>
          <a:xfrm>
            <a:off x="3619500" y="1714500"/>
            <a:ext cx="0" cy="34290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gt-2"/>
          <p:cNvSpPr txBox="1"/>
          <p:nvPr/>
        </p:nvSpPr>
        <p:spPr>
          <a:xfrm>
            <a:off x="3523298" y="521636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-2</a:t>
            </a:r>
          </a:p>
        </p:txBody>
      </p:sp>
      <p:cxnSp>
        <p:nvCxnSpPr>
          <p:cNvPr id="20" name="g-1"/>
          <p:cNvCxnSpPr/>
          <p:nvPr/>
        </p:nvCxnSpPr>
        <p:spPr>
          <a:xfrm>
            <a:off x="4445000" y="1714500"/>
            <a:ext cx="0" cy="34290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gt-1"/>
          <p:cNvSpPr txBox="1"/>
          <p:nvPr/>
        </p:nvSpPr>
        <p:spPr>
          <a:xfrm>
            <a:off x="4348798" y="521636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-1</a:t>
            </a:r>
          </a:p>
        </p:txBody>
      </p:sp>
      <p:cxnSp>
        <p:nvCxnSpPr>
          <p:cNvPr id="22" name="g0"/>
          <p:cNvCxnSpPr/>
          <p:nvPr/>
        </p:nvCxnSpPr>
        <p:spPr>
          <a:xfrm>
            <a:off x="5270500" y="1714500"/>
            <a:ext cx="0" cy="3429000"/>
          </a:xfrm>
          <a:prstGeom prst="line">
            <a:avLst/>
          </a:prstGeom>
          <a:ln w="8890" cap="rnd">
            <a:solidFill>
              <a:srgbClr val="0B2545">
                <a:alpha val="1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gt0"/>
          <p:cNvSpPr txBox="1"/>
          <p:nvPr/>
        </p:nvSpPr>
        <p:spPr>
          <a:xfrm>
            <a:off x="5200968" y="521636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0</a:t>
            </a:r>
          </a:p>
        </p:txBody>
      </p:sp>
      <p:cxnSp>
        <p:nvCxnSpPr>
          <p:cNvPr id="24" name="g1"/>
          <p:cNvCxnSpPr/>
          <p:nvPr/>
        </p:nvCxnSpPr>
        <p:spPr>
          <a:xfrm>
            <a:off x="6096000" y="1714500"/>
            <a:ext cx="0" cy="34290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gt1"/>
          <p:cNvSpPr txBox="1"/>
          <p:nvPr/>
        </p:nvSpPr>
        <p:spPr>
          <a:xfrm>
            <a:off x="5999798" y="521636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+1</a:t>
            </a:r>
          </a:p>
        </p:txBody>
      </p:sp>
      <p:cxnSp>
        <p:nvCxnSpPr>
          <p:cNvPr id="26" name="g2"/>
          <p:cNvCxnSpPr/>
          <p:nvPr/>
        </p:nvCxnSpPr>
        <p:spPr>
          <a:xfrm>
            <a:off x="6921500" y="1714500"/>
            <a:ext cx="0" cy="34290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gt2"/>
          <p:cNvSpPr txBox="1"/>
          <p:nvPr/>
        </p:nvSpPr>
        <p:spPr>
          <a:xfrm>
            <a:off x="6825297" y="521636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+2</a:t>
            </a:r>
          </a:p>
        </p:txBody>
      </p:sp>
      <p:cxnSp>
        <p:nvCxnSpPr>
          <p:cNvPr id="28" name="g3"/>
          <p:cNvCxnSpPr/>
          <p:nvPr/>
        </p:nvCxnSpPr>
        <p:spPr>
          <a:xfrm>
            <a:off x="7747000" y="1714500"/>
            <a:ext cx="0" cy="34290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gt3"/>
          <p:cNvSpPr txBox="1"/>
          <p:nvPr/>
        </p:nvSpPr>
        <p:spPr>
          <a:xfrm>
            <a:off x="7650797" y="521636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+3</a:t>
            </a:r>
          </a:p>
        </p:txBody>
      </p:sp>
      <p:sp>
        <p:nvSpPr>
          <p:cNvPr id="30" name="tr-0"/>
          <p:cNvSpPr/>
          <p:nvPr/>
        </p:nvSpPr>
        <p:spPr>
          <a:xfrm>
            <a:off x="2730500" y="1854200"/>
            <a:ext cx="5080000" cy="101600"/>
          </a:xfrm>
          <a:custGeom>
            <a:avLst/>
            <a:gdLst/>
            <a:ahLst/>
            <a:cxnLst/>
            <a:rect l="0" t="0" r="r" b="b"/>
            <a:pathLst>
              <a:path w="5080000" h="101600">
                <a:moveTo>
                  <a:pt x="50800" y="0"/>
                </a:moveTo>
                <a:lnTo>
                  <a:pt x="5029200" y="0"/>
                </a:lnTo>
                <a:cubicBezTo>
                  <a:pt x="5057267" y="0"/>
                  <a:pt x="5080000" y="22733"/>
                  <a:pt x="5080000" y="50800"/>
                </a:cubicBezTo>
                <a:lnTo>
                  <a:pt x="5080000" y="50800"/>
                </a:lnTo>
                <a:cubicBezTo>
                  <a:pt x="5080000" y="78867"/>
                  <a:pt x="5057267" y="101600"/>
                  <a:pt x="50292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DCE7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la-0"/>
          <p:cNvSpPr txBox="1"/>
          <p:nvPr/>
        </p:nvSpPr>
        <p:spPr>
          <a:xfrm>
            <a:off x="2103628" y="1773936"/>
            <a:ext cx="4800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 spc="1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传统</a:t>
            </a:r>
          </a:p>
        </p:txBody>
      </p:sp>
      <p:sp>
        <p:nvSpPr>
          <p:cNvPr id="32" name="lb-0"/>
          <p:cNvSpPr txBox="1"/>
          <p:nvPr/>
        </p:nvSpPr>
        <p:spPr>
          <a:xfrm>
            <a:off x="7957312" y="1773936"/>
            <a:ext cx="4800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创新</a:t>
            </a:r>
          </a:p>
        </p:txBody>
      </p:sp>
      <p:cxnSp>
        <p:nvCxnSpPr>
          <p:cNvPr id="33" name="gap-0"/>
          <p:cNvCxnSpPr/>
          <p:nvPr/>
        </p:nvCxnSpPr>
        <p:spPr>
          <a:xfrm flipH="1">
            <a:off x="4610100" y="1905000"/>
            <a:ext cx="2393950" cy="0"/>
          </a:xfrm>
          <a:prstGeom prst="line">
            <a:avLst/>
          </a:prstGeom>
          <a:ln w="25400" cap="rnd">
            <a:solidFill>
              <a:srgbClr val="E0703A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m-0-2"/>
          <p:cNvSpPr/>
          <p:nvPr/>
        </p:nvSpPr>
        <p:spPr>
          <a:xfrm>
            <a:off x="5695950" y="1835150"/>
            <a:ext cx="139700" cy="139700"/>
          </a:xfrm>
          <a:prstGeom prst="ellipse">
            <a:avLst/>
          </a:prstGeom>
          <a:solidFill>
            <a:srgbClr val="8FA6C2"/>
          </a:solidFill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m-0-1"/>
          <p:cNvSpPr/>
          <p:nvPr/>
        </p:nvSpPr>
        <p:spPr>
          <a:xfrm>
            <a:off x="4540250" y="1835150"/>
            <a:ext cx="139700" cy="139700"/>
          </a:xfrm>
          <a:prstGeom prst="ellipse">
            <a:avLst/>
          </a:prstGeom>
          <a:solidFill>
            <a:srgbClr val="134C9C"/>
          </a:solidFill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m-0-0"/>
          <p:cNvSpPr/>
          <p:nvPr/>
        </p:nvSpPr>
        <p:spPr>
          <a:xfrm>
            <a:off x="6908800" y="1809750"/>
            <a:ext cx="190500" cy="1905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mv-0"/>
          <p:cNvSpPr txBox="1"/>
          <p:nvPr/>
        </p:nvSpPr>
        <p:spPr>
          <a:xfrm>
            <a:off x="6864477" y="1642808"/>
            <a:ext cx="2791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+2.1</a:t>
            </a:r>
          </a:p>
        </p:txBody>
      </p:sp>
      <p:sp>
        <p:nvSpPr>
          <p:cNvPr id="38" name="tr-1"/>
          <p:cNvSpPr/>
          <p:nvPr/>
        </p:nvSpPr>
        <p:spPr>
          <a:xfrm>
            <a:off x="2730500" y="2463800"/>
            <a:ext cx="5080000" cy="101600"/>
          </a:xfrm>
          <a:custGeom>
            <a:avLst/>
            <a:gdLst/>
            <a:ahLst/>
            <a:cxnLst/>
            <a:rect l="0" t="0" r="r" b="b"/>
            <a:pathLst>
              <a:path w="5080000" h="101600">
                <a:moveTo>
                  <a:pt x="50800" y="0"/>
                </a:moveTo>
                <a:lnTo>
                  <a:pt x="5029200" y="0"/>
                </a:lnTo>
                <a:cubicBezTo>
                  <a:pt x="5057267" y="0"/>
                  <a:pt x="5080000" y="22733"/>
                  <a:pt x="5080000" y="50800"/>
                </a:cubicBezTo>
                <a:lnTo>
                  <a:pt x="5080000" y="50800"/>
                </a:lnTo>
                <a:cubicBezTo>
                  <a:pt x="5080000" y="78867"/>
                  <a:pt x="5057267" y="101600"/>
                  <a:pt x="50292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DCE7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la-1"/>
          <p:cNvSpPr txBox="1"/>
          <p:nvPr/>
        </p:nvSpPr>
        <p:spPr>
          <a:xfrm>
            <a:off x="2103628" y="2383536"/>
            <a:ext cx="4800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 spc="1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高价</a:t>
            </a:r>
          </a:p>
        </p:txBody>
      </p:sp>
      <p:sp>
        <p:nvSpPr>
          <p:cNvPr id="40" name="lb-1"/>
          <p:cNvSpPr txBox="1"/>
          <p:nvPr/>
        </p:nvSpPr>
        <p:spPr>
          <a:xfrm>
            <a:off x="7957312" y="2383536"/>
            <a:ext cx="4800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亲民</a:t>
            </a:r>
          </a:p>
        </p:txBody>
      </p:sp>
      <p:cxnSp>
        <p:nvCxnSpPr>
          <p:cNvPr id="41" name="gap-1"/>
          <p:cNvCxnSpPr/>
          <p:nvPr/>
        </p:nvCxnSpPr>
        <p:spPr>
          <a:xfrm>
            <a:off x="4279900" y="2514600"/>
            <a:ext cx="1403350" cy="0"/>
          </a:xfrm>
          <a:prstGeom prst="line">
            <a:avLst/>
          </a:prstGeom>
          <a:ln w="25400" cap="rnd">
            <a:solidFill>
              <a:srgbClr val="E0703A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m-1-2"/>
          <p:cNvSpPr/>
          <p:nvPr/>
        </p:nvSpPr>
        <p:spPr>
          <a:xfrm>
            <a:off x="6686550" y="2444750"/>
            <a:ext cx="139700" cy="139700"/>
          </a:xfrm>
          <a:prstGeom prst="ellipse">
            <a:avLst/>
          </a:prstGeom>
          <a:solidFill>
            <a:srgbClr val="8FA6C2"/>
          </a:solidFill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m-1-1"/>
          <p:cNvSpPr/>
          <p:nvPr/>
        </p:nvSpPr>
        <p:spPr>
          <a:xfrm>
            <a:off x="5613400" y="2444750"/>
            <a:ext cx="139700" cy="139700"/>
          </a:xfrm>
          <a:prstGeom prst="ellipse">
            <a:avLst/>
          </a:prstGeom>
          <a:solidFill>
            <a:srgbClr val="134C9C"/>
          </a:solidFill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m-1-0"/>
          <p:cNvSpPr/>
          <p:nvPr/>
        </p:nvSpPr>
        <p:spPr>
          <a:xfrm>
            <a:off x="4184650" y="2419350"/>
            <a:ext cx="190500" cy="1905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mv-1"/>
          <p:cNvSpPr txBox="1"/>
          <p:nvPr/>
        </p:nvSpPr>
        <p:spPr>
          <a:xfrm>
            <a:off x="4140327" y="2252408"/>
            <a:ext cx="2791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-1.2</a:t>
            </a:r>
          </a:p>
        </p:txBody>
      </p:sp>
      <p:sp>
        <p:nvSpPr>
          <p:cNvPr id="46" name="tr-2"/>
          <p:cNvSpPr/>
          <p:nvPr/>
        </p:nvSpPr>
        <p:spPr>
          <a:xfrm>
            <a:off x="2730500" y="3073400"/>
            <a:ext cx="5080000" cy="101600"/>
          </a:xfrm>
          <a:custGeom>
            <a:avLst/>
            <a:gdLst/>
            <a:ahLst/>
            <a:cxnLst/>
            <a:rect l="0" t="0" r="r" b="b"/>
            <a:pathLst>
              <a:path w="5080000" h="101600">
                <a:moveTo>
                  <a:pt x="50800" y="0"/>
                </a:moveTo>
                <a:lnTo>
                  <a:pt x="5029200" y="0"/>
                </a:lnTo>
                <a:cubicBezTo>
                  <a:pt x="5057267" y="0"/>
                  <a:pt x="5080000" y="22733"/>
                  <a:pt x="5080000" y="50800"/>
                </a:cubicBezTo>
                <a:lnTo>
                  <a:pt x="5080000" y="50800"/>
                </a:lnTo>
                <a:cubicBezTo>
                  <a:pt x="5080000" y="78867"/>
                  <a:pt x="5057267" y="101600"/>
                  <a:pt x="50292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DCE7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la-2"/>
          <p:cNvSpPr txBox="1"/>
          <p:nvPr/>
        </p:nvSpPr>
        <p:spPr>
          <a:xfrm>
            <a:off x="2103628" y="2993136"/>
            <a:ext cx="4800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 spc="1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专业</a:t>
            </a:r>
          </a:p>
        </p:txBody>
      </p:sp>
      <p:sp>
        <p:nvSpPr>
          <p:cNvPr id="48" name="lb-2"/>
          <p:cNvSpPr txBox="1"/>
          <p:nvPr/>
        </p:nvSpPr>
        <p:spPr>
          <a:xfrm>
            <a:off x="7957312" y="2993136"/>
            <a:ext cx="4800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易用</a:t>
            </a:r>
          </a:p>
        </p:txBody>
      </p:sp>
      <p:cxnSp>
        <p:nvCxnSpPr>
          <p:cNvPr id="49" name="gap-2"/>
          <p:cNvCxnSpPr/>
          <p:nvPr/>
        </p:nvCxnSpPr>
        <p:spPr>
          <a:xfrm flipH="1">
            <a:off x="4032250" y="3124200"/>
            <a:ext cx="1568450" cy="0"/>
          </a:xfrm>
          <a:prstGeom prst="line">
            <a:avLst/>
          </a:prstGeom>
          <a:ln w="25400" cap="rnd">
            <a:solidFill>
              <a:srgbClr val="E0703A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" name="m-2-2"/>
          <p:cNvSpPr/>
          <p:nvPr/>
        </p:nvSpPr>
        <p:spPr>
          <a:xfrm>
            <a:off x="6191250" y="3054350"/>
            <a:ext cx="139700" cy="139700"/>
          </a:xfrm>
          <a:prstGeom prst="ellipse">
            <a:avLst/>
          </a:prstGeom>
          <a:solidFill>
            <a:srgbClr val="8FA6C2"/>
          </a:solidFill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m-2-1"/>
          <p:cNvSpPr/>
          <p:nvPr/>
        </p:nvSpPr>
        <p:spPr>
          <a:xfrm>
            <a:off x="3962400" y="3054350"/>
            <a:ext cx="139700" cy="139700"/>
          </a:xfrm>
          <a:prstGeom prst="ellipse">
            <a:avLst/>
          </a:prstGeom>
          <a:solidFill>
            <a:srgbClr val="134C9C"/>
          </a:solidFill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m-2-0"/>
          <p:cNvSpPr/>
          <p:nvPr/>
        </p:nvSpPr>
        <p:spPr>
          <a:xfrm>
            <a:off x="5505450" y="3028950"/>
            <a:ext cx="190500" cy="1905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mv-2"/>
          <p:cNvSpPr txBox="1"/>
          <p:nvPr/>
        </p:nvSpPr>
        <p:spPr>
          <a:xfrm>
            <a:off x="5461127" y="2862008"/>
            <a:ext cx="2791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+0.4</a:t>
            </a:r>
          </a:p>
        </p:txBody>
      </p:sp>
      <p:sp>
        <p:nvSpPr>
          <p:cNvPr id="54" name="tr-3"/>
          <p:cNvSpPr/>
          <p:nvPr/>
        </p:nvSpPr>
        <p:spPr>
          <a:xfrm>
            <a:off x="2730500" y="3683000"/>
            <a:ext cx="5080000" cy="101600"/>
          </a:xfrm>
          <a:custGeom>
            <a:avLst/>
            <a:gdLst/>
            <a:ahLst/>
            <a:cxnLst/>
            <a:rect l="0" t="0" r="r" b="b"/>
            <a:pathLst>
              <a:path w="5080000" h="101600">
                <a:moveTo>
                  <a:pt x="50800" y="0"/>
                </a:moveTo>
                <a:lnTo>
                  <a:pt x="5029200" y="0"/>
                </a:lnTo>
                <a:cubicBezTo>
                  <a:pt x="5057267" y="0"/>
                  <a:pt x="5080000" y="22733"/>
                  <a:pt x="5080000" y="50800"/>
                </a:cubicBezTo>
                <a:lnTo>
                  <a:pt x="5080000" y="50800"/>
                </a:lnTo>
                <a:cubicBezTo>
                  <a:pt x="5080000" y="78867"/>
                  <a:pt x="5057267" y="101600"/>
                  <a:pt x="50292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DCE7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la-3"/>
          <p:cNvSpPr txBox="1"/>
          <p:nvPr/>
        </p:nvSpPr>
        <p:spPr>
          <a:xfrm>
            <a:off x="2103628" y="3602736"/>
            <a:ext cx="4800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 spc="1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冷静</a:t>
            </a:r>
          </a:p>
        </p:txBody>
      </p:sp>
      <p:sp>
        <p:nvSpPr>
          <p:cNvPr id="56" name="lb-3"/>
          <p:cNvSpPr txBox="1"/>
          <p:nvPr/>
        </p:nvSpPr>
        <p:spPr>
          <a:xfrm>
            <a:off x="7957312" y="3602736"/>
            <a:ext cx="4800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温暖</a:t>
            </a:r>
          </a:p>
        </p:txBody>
      </p:sp>
      <p:cxnSp>
        <p:nvCxnSpPr>
          <p:cNvPr id="57" name="gap-3"/>
          <p:cNvCxnSpPr/>
          <p:nvPr/>
        </p:nvCxnSpPr>
        <p:spPr>
          <a:xfrm flipH="1">
            <a:off x="4445000" y="3733800"/>
            <a:ext cx="577850" cy="0"/>
          </a:xfrm>
          <a:prstGeom prst="line">
            <a:avLst/>
          </a:prstGeom>
          <a:ln w="25400" cap="rnd">
            <a:solidFill>
              <a:srgbClr val="E0703A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m-3-2"/>
          <p:cNvSpPr/>
          <p:nvPr/>
        </p:nvSpPr>
        <p:spPr>
          <a:xfrm>
            <a:off x="5861050" y="3663950"/>
            <a:ext cx="139700" cy="139700"/>
          </a:xfrm>
          <a:prstGeom prst="ellipse">
            <a:avLst/>
          </a:prstGeom>
          <a:solidFill>
            <a:srgbClr val="8FA6C2"/>
          </a:solidFill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m-3-1"/>
          <p:cNvSpPr/>
          <p:nvPr/>
        </p:nvSpPr>
        <p:spPr>
          <a:xfrm>
            <a:off x="4375150" y="3663950"/>
            <a:ext cx="139700" cy="139700"/>
          </a:xfrm>
          <a:prstGeom prst="ellipse">
            <a:avLst/>
          </a:prstGeom>
          <a:solidFill>
            <a:srgbClr val="134C9C"/>
          </a:solidFill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m-3-0"/>
          <p:cNvSpPr/>
          <p:nvPr/>
        </p:nvSpPr>
        <p:spPr>
          <a:xfrm>
            <a:off x="4927600" y="3638550"/>
            <a:ext cx="190500" cy="1905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mv-3"/>
          <p:cNvSpPr txBox="1"/>
          <p:nvPr/>
        </p:nvSpPr>
        <p:spPr>
          <a:xfrm>
            <a:off x="4883277" y="3471608"/>
            <a:ext cx="2791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-0.3</a:t>
            </a:r>
          </a:p>
        </p:txBody>
      </p:sp>
      <p:sp>
        <p:nvSpPr>
          <p:cNvPr id="62" name="tr-4"/>
          <p:cNvSpPr/>
          <p:nvPr/>
        </p:nvSpPr>
        <p:spPr>
          <a:xfrm>
            <a:off x="2730500" y="4292600"/>
            <a:ext cx="5080000" cy="101600"/>
          </a:xfrm>
          <a:custGeom>
            <a:avLst/>
            <a:gdLst/>
            <a:ahLst/>
            <a:cxnLst/>
            <a:rect l="0" t="0" r="r" b="b"/>
            <a:pathLst>
              <a:path w="5080000" h="101600">
                <a:moveTo>
                  <a:pt x="50800" y="0"/>
                </a:moveTo>
                <a:lnTo>
                  <a:pt x="5029200" y="0"/>
                </a:lnTo>
                <a:cubicBezTo>
                  <a:pt x="5057267" y="0"/>
                  <a:pt x="5080000" y="22733"/>
                  <a:pt x="5080000" y="50800"/>
                </a:cubicBezTo>
                <a:lnTo>
                  <a:pt x="5080000" y="50800"/>
                </a:lnTo>
                <a:cubicBezTo>
                  <a:pt x="5080000" y="78867"/>
                  <a:pt x="5057267" y="101600"/>
                  <a:pt x="50292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DCE7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la-4"/>
          <p:cNvSpPr txBox="1"/>
          <p:nvPr/>
        </p:nvSpPr>
        <p:spPr>
          <a:xfrm>
            <a:off x="2103628" y="4212336"/>
            <a:ext cx="4800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 spc="1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本土</a:t>
            </a:r>
          </a:p>
        </p:txBody>
      </p:sp>
      <p:sp>
        <p:nvSpPr>
          <p:cNvPr id="64" name="lb-4"/>
          <p:cNvSpPr txBox="1"/>
          <p:nvPr/>
        </p:nvSpPr>
        <p:spPr>
          <a:xfrm>
            <a:off x="7957312" y="4212336"/>
            <a:ext cx="4800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国际</a:t>
            </a:r>
          </a:p>
        </p:txBody>
      </p:sp>
      <p:cxnSp>
        <p:nvCxnSpPr>
          <p:cNvPr id="65" name="gap-4"/>
          <p:cNvCxnSpPr/>
          <p:nvPr/>
        </p:nvCxnSpPr>
        <p:spPr>
          <a:xfrm>
            <a:off x="4857750" y="4343400"/>
            <a:ext cx="1733550" cy="0"/>
          </a:xfrm>
          <a:prstGeom prst="line">
            <a:avLst/>
          </a:prstGeom>
          <a:ln w="25400" cap="rnd">
            <a:solidFill>
              <a:srgbClr val="E0703A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" name="m-4-2"/>
          <p:cNvSpPr/>
          <p:nvPr/>
        </p:nvSpPr>
        <p:spPr>
          <a:xfrm>
            <a:off x="4210050" y="4273550"/>
            <a:ext cx="139700" cy="139700"/>
          </a:xfrm>
          <a:prstGeom prst="ellipse">
            <a:avLst/>
          </a:prstGeom>
          <a:solidFill>
            <a:srgbClr val="8FA6C2"/>
          </a:solidFill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m-4-1"/>
          <p:cNvSpPr/>
          <p:nvPr/>
        </p:nvSpPr>
        <p:spPr>
          <a:xfrm>
            <a:off x="6521450" y="4273550"/>
            <a:ext cx="139700" cy="139700"/>
          </a:xfrm>
          <a:prstGeom prst="ellipse">
            <a:avLst/>
          </a:prstGeom>
          <a:solidFill>
            <a:srgbClr val="134C9C"/>
          </a:solidFill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m-4-0"/>
          <p:cNvSpPr/>
          <p:nvPr/>
        </p:nvSpPr>
        <p:spPr>
          <a:xfrm>
            <a:off x="4762500" y="4248150"/>
            <a:ext cx="190500" cy="1905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mv-4"/>
          <p:cNvSpPr txBox="1"/>
          <p:nvPr/>
        </p:nvSpPr>
        <p:spPr>
          <a:xfrm>
            <a:off x="4718177" y="4081208"/>
            <a:ext cx="2791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-0.5</a:t>
            </a:r>
          </a:p>
        </p:txBody>
      </p:sp>
      <p:sp>
        <p:nvSpPr>
          <p:cNvPr id="70" name="tr-5"/>
          <p:cNvSpPr/>
          <p:nvPr/>
        </p:nvSpPr>
        <p:spPr>
          <a:xfrm>
            <a:off x="2730500" y="4902200"/>
            <a:ext cx="5080000" cy="101600"/>
          </a:xfrm>
          <a:custGeom>
            <a:avLst/>
            <a:gdLst/>
            <a:ahLst/>
            <a:cxnLst/>
            <a:rect l="0" t="0" r="r" b="b"/>
            <a:pathLst>
              <a:path w="5080000" h="101600">
                <a:moveTo>
                  <a:pt x="50800" y="0"/>
                </a:moveTo>
                <a:lnTo>
                  <a:pt x="5029200" y="0"/>
                </a:lnTo>
                <a:cubicBezTo>
                  <a:pt x="5057267" y="0"/>
                  <a:pt x="5080000" y="22733"/>
                  <a:pt x="5080000" y="50800"/>
                </a:cubicBezTo>
                <a:lnTo>
                  <a:pt x="5080000" y="50800"/>
                </a:lnTo>
                <a:cubicBezTo>
                  <a:pt x="5080000" y="78867"/>
                  <a:pt x="5057267" y="101600"/>
                  <a:pt x="50292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DCE7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la-5"/>
          <p:cNvSpPr txBox="1"/>
          <p:nvPr/>
        </p:nvSpPr>
        <p:spPr>
          <a:xfrm>
            <a:off x="2103628" y="4821936"/>
            <a:ext cx="4800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 spc="1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小众</a:t>
            </a:r>
          </a:p>
        </p:txBody>
      </p:sp>
      <p:sp>
        <p:nvSpPr>
          <p:cNvPr id="72" name="lb-5"/>
          <p:cNvSpPr txBox="1"/>
          <p:nvPr/>
        </p:nvSpPr>
        <p:spPr>
          <a:xfrm>
            <a:off x="7957312" y="4821936"/>
            <a:ext cx="4800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大众</a:t>
            </a:r>
          </a:p>
        </p:txBody>
      </p:sp>
      <p:cxnSp>
        <p:nvCxnSpPr>
          <p:cNvPr id="73" name="gap-5"/>
          <p:cNvCxnSpPr/>
          <p:nvPr/>
        </p:nvCxnSpPr>
        <p:spPr>
          <a:xfrm>
            <a:off x="4114800" y="4953000"/>
            <a:ext cx="2146300" cy="0"/>
          </a:xfrm>
          <a:prstGeom prst="line">
            <a:avLst/>
          </a:prstGeom>
          <a:ln w="25400" cap="rnd">
            <a:solidFill>
              <a:srgbClr val="E0703A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m-5-2"/>
          <p:cNvSpPr/>
          <p:nvPr/>
        </p:nvSpPr>
        <p:spPr>
          <a:xfrm>
            <a:off x="6851650" y="4883150"/>
            <a:ext cx="139700" cy="139700"/>
          </a:xfrm>
          <a:prstGeom prst="ellipse">
            <a:avLst/>
          </a:prstGeom>
          <a:solidFill>
            <a:srgbClr val="8FA6C2"/>
          </a:solidFill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m-5-1"/>
          <p:cNvSpPr/>
          <p:nvPr/>
        </p:nvSpPr>
        <p:spPr>
          <a:xfrm>
            <a:off x="6191250" y="4883150"/>
            <a:ext cx="139700" cy="139700"/>
          </a:xfrm>
          <a:prstGeom prst="ellipse">
            <a:avLst/>
          </a:prstGeom>
          <a:solidFill>
            <a:srgbClr val="134C9C"/>
          </a:solidFill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m-5-0"/>
          <p:cNvSpPr/>
          <p:nvPr/>
        </p:nvSpPr>
        <p:spPr>
          <a:xfrm>
            <a:off x="4019550" y="4857750"/>
            <a:ext cx="190500" cy="1905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mv-5"/>
          <p:cNvSpPr txBox="1"/>
          <p:nvPr/>
        </p:nvSpPr>
        <p:spPr>
          <a:xfrm>
            <a:off x="3975227" y="4690808"/>
            <a:ext cx="2791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-1.4</a:t>
            </a:r>
          </a:p>
        </p:txBody>
      </p:sp>
      <p:sp>
        <p:nvSpPr>
          <p:cNvPr id="78" name="prof"/>
          <p:cNvSpPr/>
          <p:nvPr/>
        </p:nvSpPr>
        <p:spPr>
          <a:xfrm>
            <a:off x="4114800" y="1905000"/>
            <a:ext cx="2889250" cy="3048000"/>
          </a:xfrm>
          <a:custGeom>
            <a:avLst/>
            <a:gdLst/>
            <a:ahLst/>
            <a:cxnLst/>
            <a:rect l="0" t="0" r="r" b="b"/>
            <a:pathLst>
              <a:path w="2889250" h="3048000">
                <a:moveTo>
                  <a:pt x="2889250" y="0"/>
                </a:moveTo>
                <a:cubicBezTo>
                  <a:pt x="2616835" y="60960"/>
                  <a:pt x="305435" y="487680"/>
                  <a:pt x="165100" y="609600"/>
                </a:cubicBezTo>
                <a:cubicBezTo>
                  <a:pt x="24765" y="731520"/>
                  <a:pt x="1411605" y="1097280"/>
                  <a:pt x="1485900" y="1219200"/>
                </a:cubicBezTo>
                <a:cubicBezTo>
                  <a:pt x="1560195" y="1341120"/>
                  <a:pt x="982345" y="1706880"/>
                  <a:pt x="908050" y="1828800"/>
                </a:cubicBezTo>
                <a:cubicBezTo>
                  <a:pt x="833755" y="1950720"/>
                  <a:pt x="833755" y="2316480"/>
                  <a:pt x="742950" y="2438400"/>
                </a:cubicBezTo>
                <a:cubicBezTo>
                  <a:pt x="652145" y="2560320"/>
                  <a:pt x="74295" y="2987040"/>
                  <a:pt x="0" y="3048000"/>
                </a:cubicBezTo>
              </a:path>
            </a:pathLst>
          </a:custGeom>
          <a:noFill/>
          <a:ln w="12700" cap="rnd">
            <a:solidFill>
              <a:srgbClr val="E0703A">
                <a:alpha val="5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side-bar"/>
          <p:cNvSpPr/>
          <p:nvPr/>
        </p:nvSpPr>
        <p:spPr>
          <a:xfrm>
            <a:off x="9144000" y="15875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side-h"/>
          <p:cNvSpPr txBox="1"/>
          <p:nvPr/>
        </p:nvSpPr>
        <p:spPr>
          <a:xfrm>
            <a:off x="9302750" y="15946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读图结论</a:t>
            </a:r>
          </a:p>
        </p:txBody>
      </p:sp>
      <p:sp>
        <p:nvSpPr>
          <p:cNvPr id="81" name="side-p"/>
          <p:cNvSpPr txBox="1"/>
          <p:nvPr/>
        </p:nvSpPr>
        <p:spPr>
          <a:xfrm>
            <a:off x="9309989" y="1885045"/>
            <a:ext cx="1434021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橙色连线 = 与竞品 A 的差距</a:t>
            </a:r>
          </a:p>
        </p:txBody>
      </p:sp>
      <p:sp>
        <p:nvSpPr>
          <p:cNvPr id="82" name="k-1"/>
          <p:cNvSpPr/>
          <p:nvPr/>
        </p:nvSpPr>
        <p:spPr>
          <a:xfrm>
            <a:off x="9144000" y="2260600"/>
            <a:ext cx="2095500" cy="889000"/>
          </a:xfrm>
          <a:custGeom>
            <a:avLst/>
            <a:gdLst/>
            <a:ahLst/>
            <a:cxnLst/>
            <a:rect l="0" t="0" r="r" b="b"/>
            <a:pathLst>
              <a:path w="2095500" h="889000">
                <a:moveTo>
                  <a:pt x="127000" y="0"/>
                </a:moveTo>
                <a:lnTo>
                  <a:pt x="1968500" y="0"/>
                </a:lnTo>
                <a:cubicBezTo>
                  <a:pt x="2038667" y="0"/>
                  <a:pt x="2095500" y="56832"/>
                  <a:pt x="2095500" y="127000"/>
                </a:cubicBezTo>
                <a:lnTo>
                  <a:pt x="2095500" y="762000"/>
                </a:lnTo>
                <a:cubicBezTo>
                  <a:pt x="2095500" y="832168"/>
                  <a:pt x="2038667" y="889000"/>
                  <a:pt x="1968500" y="889000"/>
                </a:cubicBezTo>
                <a:lnTo>
                  <a:pt x="127000" y="889000"/>
                </a:lnTo>
                <a:cubicBezTo>
                  <a:pt x="56833" y="889000"/>
                  <a:pt x="0" y="832168"/>
                  <a:pt x="0" y="762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kh-1"/>
          <p:cNvSpPr txBox="1"/>
          <p:nvPr/>
        </p:nvSpPr>
        <p:spPr>
          <a:xfrm>
            <a:off x="9309608" y="2389124"/>
            <a:ext cx="41529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5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最鲜明</a:t>
            </a:r>
          </a:p>
        </p:txBody>
      </p:sp>
      <p:sp>
        <p:nvSpPr>
          <p:cNvPr id="84" name="kv-1"/>
          <p:cNvSpPr txBox="1"/>
          <p:nvPr/>
        </p:nvSpPr>
        <p:spPr>
          <a:xfrm>
            <a:off x="9300464" y="2587117"/>
            <a:ext cx="105791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创新 +2.1</a:t>
            </a:r>
          </a:p>
        </p:txBody>
      </p:sp>
      <p:sp>
        <p:nvSpPr>
          <p:cNvPr id="85" name="kd-1"/>
          <p:cNvSpPr txBox="1"/>
          <p:nvPr/>
        </p:nvSpPr>
        <p:spPr>
          <a:xfrm>
            <a:off x="9310370" y="2904966"/>
            <a:ext cx="9582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领先竞品 A 2.9 分</a:t>
            </a:r>
          </a:p>
        </p:txBody>
      </p:sp>
      <p:sp>
        <p:nvSpPr>
          <p:cNvPr id="86" name="k-2"/>
          <p:cNvSpPr/>
          <p:nvPr/>
        </p:nvSpPr>
        <p:spPr>
          <a:xfrm>
            <a:off x="9144000" y="3276600"/>
            <a:ext cx="2095500" cy="889000"/>
          </a:xfrm>
          <a:custGeom>
            <a:avLst/>
            <a:gdLst/>
            <a:ahLst/>
            <a:cxnLst/>
            <a:rect l="0" t="0" r="r" b="b"/>
            <a:pathLst>
              <a:path w="2095500" h="889000">
                <a:moveTo>
                  <a:pt x="127000" y="0"/>
                </a:moveTo>
                <a:lnTo>
                  <a:pt x="1968500" y="0"/>
                </a:lnTo>
                <a:cubicBezTo>
                  <a:pt x="2038667" y="0"/>
                  <a:pt x="2095500" y="56833"/>
                  <a:pt x="2095500" y="127000"/>
                </a:cubicBezTo>
                <a:lnTo>
                  <a:pt x="2095500" y="762000"/>
                </a:lnTo>
                <a:cubicBezTo>
                  <a:pt x="2095500" y="832167"/>
                  <a:pt x="2038667" y="889000"/>
                  <a:pt x="1968500" y="889000"/>
                </a:cubicBezTo>
                <a:lnTo>
                  <a:pt x="127000" y="889000"/>
                </a:lnTo>
                <a:cubicBezTo>
                  <a:pt x="56833" y="889000"/>
                  <a:pt x="0" y="832167"/>
                  <a:pt x="0" y="762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kh-2"/>
          <p:cNvSpPr txBox="1"/>
          <p:nvPr/>
        </p:nvSpPr>
        <p:spPr>
          <a:xfrm>
            <a:off x="9309608" y="3405124"/>
            <a:ext cx="5232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没记忆点</a:t>
            </a:r>
          </a:p>
        </p:txBody>
      </p:sp>
      <p:sp>
        <p:nvSpPr>
          <p:cNvPr id="88" name="kv-2"/>
          <p:cNvSpPr txBox="1"/>
          <p:nvPr/>
        </p:nvSpPr>
        <p:spPr>
          <a:xfrm>
            <a:off x="9300464" y="3603117"/>
            <a:ext cx="1214374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易用 / 温暖</a:t>
            </a:r>
          </a:p>
        </p:txBody>
      </p:sp>
      <p:sp>
        <p:nvSpPr>
          <p:cNvPr id="89" name="kd-2"/>
          <p:cNvSpPr txBox="1"/>
          <p:nvPr/>
        </p:nvSpPr>
        <p:spPr>
          <a:xfrm>
            <a:off x="9310370" y="3920966"/>
            <a:ext cx="7372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都落在 0 附近</a:t>
            </a:r>
          </a:p>
        </p:txBody>
      </p:sp>
      <p:sp>
        <p:nvSpPr>
          <p:cNvPr id="90" name="k-3"/>
          <p:cNvSpPr/>
          <p:nvPr/>
        </p:nvSpPr>
        <p:spPr>
          <a:xfrm>
            <a:off x="9144000" y="4292600"/>
            <a:ext cx="2095500" cy="889000"/>
          </a:xfrm>
          <a:custGeom>
            <a:avLst/>
            <a:gdLst/>
            <a:ahLst/>
            <a:cxnLst/>
            <a:rect l="0" t="0" r="r" b="b"/>
            <a:pathLst>
              <a:path w="2095500" h="889000">
                <a:moveTo>
                  <a:pt x="127000" y="0"/>
                </a:moveTo>
                <a:lnTo>
                  <a:pt x="1968500" y="0"/>
                </a:lnTo>
                <a:cubicBezTo>
                  <a:pt x="2038667" y="0"/>
                  <a:pt x="2095500" y="56833"/>
                  <a:pt x="2095500" y="127000"/>
                </a:cubicBezTo>
                <a:lnTo>
                  <a:pt x="2095500" y="762000"/>
                </a:lnTo>
                <a:cubicBezTo>
                  <a:pt x="2095500" y="832167"/>
                  <a:pt x="2038667" y="889000"/>
                  <a:pt x="1968500" y="889000"/>
                </a:cubicBezTo>
                <a:lnTo>
                  <a:pt x="127000" y="889000"/>
                </a:lnTo>
                <a:cubicBezTo>
                  <a:pt x="56833" y="889000"/>
                  <a:pt x="0" y="832167"/>
                  <a:pt x="0" y="762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kh-3"/>
          <p:cNvSpPr txBox="1"/>
          <p:nvPr/>
        </p:nvSpPr>
        <p:spPr>
          <a:xfrm>
            <a:off x="9309608" y="4421124"/>
            <a:ext cx="41529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别去挤</a:t>
            </a:r>
          </a:p>
        </p:txBody>
      </p:sp>
      <p:sp>
        <p:nvSpPr>
          <p:cNvPr id="92" name="kv-3"/>
          <p:cNvSpPr txBox="1"/>
          <p:nvPr/>
        </p:nvSpPr>
        <p:spPr>
          <a:xfrm>
            <a:off x="9300464" y="4619117"/>
            <a:ext cx="1214374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亲民 · 大众</a:t>
            </a:r>
          </a:p>
        </p:txBody>
      </p:sp>
      <p:sp>
        <p:nvSpPr>
          <p:cNvPr id="93" name="kd-3"/>
          <p:cNvSpPr txBox="1"/>
          <p:nvPr/>
        </p:nvSpPr>
        <p:spPr>
          <a:xfrm>
            <a:off x="9310370" y="4936966"/>
            <a:ext cx="83439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已被竞品 B 占住</a:t>
            </a:r>
          </a:p>
        </p:txBody>
      </p:sp>
      <p:sp>
        <p:nvSpPr>
          <p:cNvPr id="94" name="sum"/>
          <p:cNvSpPr/>
          <p:nvPr/>
        </p:nvSpPr>
        <p:spPr>
          <a:xfrm>
            <a:off x="952500" y="5715000"/>
            <a:ext cx="10287000" cy="444500"/>
          </a:xfrm>
          <a:custGeom>
            <a:avLst/>
            <a:gdLst/>
            <a:ahLst/>
            <a:cxnLst/>
            <a:rect l="0" t="0" r="r" b="b"/>
            <a:pathLst>
              <a:path w="10287000" h="4445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55600"/>
                </a:lnTo>
                <a:cubicBezTo>
                  <a:pt x="10287000" y="404686"/>
                  <a:pt x="10247186" y="444500"/>
                  <a:pt x="10198100" y="444500"/>
                </a:cubicBezTo>
                <a:lnTo>
                  <a:pt x="88900" y="444500"/>
                </a:lnTo>
                <a:cubicBezTo>
                  <a:pt x="39815" y="444500"/>
                  <a:pt x="0" y="404686"/>
                  <a:pt x="0" y="3556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sum-bar"/>
          <p:cNvSpPr/>
          <p:nvPr/>
        </p:nvSpPr>
        <p:spPr>
          <a:xfrm>
            <a:off x="952500" y="5715000"/>
            <a:ext cx="31750" cy="4445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sum-h"/>
          <p:cNvSpPr txBox="1"/>
          <p:nvPr/>
        </p:nvSpPr>
        <p:spPr>
          <a:xfrm>
            <a:off x="1142746" y="586743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定位建议</a:t>
            </a:r>
          </a:p>
        </p:txBody>
      </p:sp>
      <p:sp>
        <p:nvSpPr>
          <p:cNvPr id="97" name="sum-p"/>
          <p:cNvSpPr txBox="1"/>
          <p:nvPr/>
        </p:nvSpPr>
        <p:spPr>
          <a:xfrm>
            <a:off x="1891665" y="5863511"/>
            <a:ext cx="378491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守住“创新”这一格，再把“易用”做成第二个记忆点；价格战留给竞品 B。</a:t>
            </a:r>
          </a:p>
        </p:txBody>
      </p:sp>
      <p:cxnSp>
        <p:nvCxnSpPr>
          <p:cNvPr id="98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foot-l"/>
          <p:cNvSpPr txBox="1"/>
          <p:nvPr/>
        </p:nvSpPr>
        <p:spPr>
          <a:xfrm>
            <a:off x="573532" y="6532308"/>
            <a:ext cx="149961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语义差异 · 1,200 份用户问卷</a:t>
            </a:r>
          </a:p>
        </p:txBody>
      </p:sp>
      <p:sp>
        <p:nvSpPr>
          <p:cNvPr id="100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五年总拥有成本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35483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TCO COMPARISON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017383" y="673132"/>
            <a:ext cx="360337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自建和 SaaS 把五年所有花费摊开比——订阅费贵，但省下了人和硬件</a:t>
            </a:r>
          </a:p>
        </p:txBody>
      </p:sp>
      <p:cxnSp>
        <p:nvCxnSpPr>
          <p:cNvPr id="10" name="axis"/>
          <p:cNvCxnSpPr/>
          <p:nvPr/>
        </p:nvCxnSpPr>
        <p:spPr>
          <a:xfrm>
            <a:off x="2921000" y="5461000"/>
            <a:ext cx="4826000" cy="0"/>
          </a:xfrm>
          <a:prstGeom prst="line">
            <a:avLst/>
          </a:prstGeom>
          <a:ln w="9525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band-1"/>
          <p:cNvSpPr/>
          <p:nvPr/>
        </p:nvSpPr>
        <p:spPr>
          <a:xfrm>
            <a:off x="4445000" y="4447540"/>
            <a:ext cx="1778000" cy="1013460"/>
          </a:xfrm>
          <a:custGeom>
            <a:avLst/>
            <a:gdLst/>
            <a:ahLst/>
            <a:cxnLst/>
            <a:rect l="0" t="0" r="r" b="b"/>
            <a:pathLst>
              <a:path w="1778000" h="1013460">
                <a:moveTo>
                  <a:pt x="0" y="0"/>
                </a:moveTo>
                <a:cubicBezTo>
                  <a:pt x="952500" y="0"/>
                  <a:pt x="825500" y="916940"/>
                  <a:pt x="1778000" y="916940"/>
                </a:cubicBezTo>
                <a:lnTo>
                  <a:pt x="1778000" y="1013460"/>
                </a:lnTo>
                <a:cubicBezTo>
                  <a:pt x="825500" y="1013460"/>
                  <a:pt x="952500" y="1013460"/>
                  <a:pt x="0" y="1013460"/>
                </a:cubicBezTo>
                <a:close/>
              </a:path>
            </a:pathLst>
          </a:custGeom>
          <a:solidFill>
            <a:srgbClr val="0B3E8F">
              <a:alpha val="1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a-1"/>
          <p:cNvSpPr/>
          <p:nvPr/>
        </p:nvSpPr>
        <p:spPr>
          <a:xfrm>
            <a:off x="3175000" y="4460240"/>
            <a:ext cx="1270000" cy="988060"/>
          </a:xfrm>
          <a:custGeom>
            <a:avLst/>
            <a:gdLst/>
            <a:ahLst/>
            <a:cxnLst/>
            <a:rect l="0" t="0" r="r" b="b"/>
            <a:pathLst>
              <a:path w="1270000" h="988060">
                <a:moveTo>
                  <a:pt x="50800" y="0"/>
                </a:moveTo>
                <a:lnTo>
                  <a:pt x="1219200" y="0"/>
                </a:lnTo>
                <a:cubicBezTo>
                  <a:pt x="1247267" y="0"/>
                  <a:pt x="1270000" y="22733"/>
                  <a:pt x="1270000" y="50800"/>
                </a:cubicBezTo>
                <a:lnTo>
                  <a:pt x="1270000" y="937260"/>
                </a:lnTo>
                <a:cubicBezTo>
                  <a:pt x="1270000" y="965327"/>
                  <a:pt x="1247267" y="988060"/>
                  <a:pt x="1219200" y="988060"/>
                </a:cubicBezTo>
                <a:lnTo>
                  <a:pt x="50800" y="988060"/>
                </a:lnTo>
                <a:cubicBezTo>
                  <a:pt x="22733" y="988060"/>
                  <a:pt x="0" y="965327"/>
                  <a:pt x="0" y="93726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av-1"/>
          <p:cNvSpPr txBox="1"/>
          <p:nvPr/>
        </p:nvSpPr>
        <p:spPr>
          <a:xfrm>
            <a:off x="1827720" y="4877165"/>
            <a:ext cx="1206691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硬件与初始投入  420 万</a:t>
            </a:r>
          </a:p>
        </p:txBody>
      </p:sp>
      <p:sp>
        <p:nvSpPr>
          <p:cNvPr id="14" name="b-1"/>
          <p:cNvSpPr/>
          <p:nvPr/>
        </p:nvSpPr>
        <p:spPr>
          <a:xfrm>
            <a:off x="6223000" y="5377180"/>
            <a:ext cx="1270000" cy="71120"/>
          </a:xfrm>
          <a:custGeom>
            <a:avLst/>
            <a:gdLst/>
            <a:ahLst/>
            <a:cxnLst/>
            <a:rect l="0" t="0" r="r" b="b"/>
            <a:pathLst>
              <a:path w="1270000" h="71120">
                <a:moveTo>
                  <a:pt x="25400" y="0"/>
                </a:moveTo>
                <a:lnTo>
                  <a:pt x="1244600" y="0"/>
                </a:lnTo>
                <a:cubicBezTo>
                  <a:pt x="1258634" y="0"/>
                  <a:pt x="1270000" y="11367"/>
                  <a:pt x="1270000" y="25400"/>
                </a:cubicBezTo>
                <a:lnTo>
                  <a:pt x="1270000" y="45720"/>
                </a:lnTo>
                <a:cubicBezTo>
                  <a:pt x="1270000" y="59754"/>
                  <a:pt x="1258634" y="71120"/>
                  <a:pt x="1244600" y="71120"/>
                </a:cubicBezTo>
                <a:lnTo>
                  <a:pt x="25400" y="71120"/>
                </a:lnTo>
                <a:cubicBezTo>
                  <a:pt x="11366" y="71120"/>
                  <a:pt x="0" y="59754"/>
                  <a:pt x="0" y="45720"/>
                </a:cubicBezTo>
                <a:lnTo>
                  <a:pt x="0" y="25400"/>
                </a:lnTo>
                <a:cubicBezTo>
                  <a:pt x="0" y="11367"/>
                  <a:pt x="11366" y="0"/>
                  <a:pt x="254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bv-1"/>
          <p:cNvSpPr txBox="1"/>
          <p:nvPr/>
        </p:nvSpPr>
        <p:spPr>
          <a:xfrm>
            <a:off x="7633589" y="5335635"/>
            <a:ext cx="1151573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硬件与初始投入  40 万</a:t>
            </a:r>
          </a:p>
        </p:txBody>
      </p:sp>
      <p:sp>
        <p:nvSpPr>
          <p:cNvPr id="16" name="band-2"/>
          <p:cNvSpPr/>
          <p:nvPr/>
        </p:nvSpPr>
        <p:spPr>
          <a:xfrm>
            <a:off x="4445000" y="4013200"/>
            <a:ext cx="1778000" cy="1351280"/>
          </a:xfrm>
          <a:custGeom>
            <a:avLst/>
            <a:gdLst/>
            <a:ahLst/>
            <a:cxnLst/>
            <a:rect l="0" t="0" r="r" b="b"/>
            <a:pathLst>
              <a:path w="1778000" h="1351280">
                <a:moveTo>
                  <a:pt x="0" y="0"/>
                </a:moveTo>
                <a:cubicBezTo>
                  <a:pt x="952500" y="0"/>
                  <a:pt x="825500" y="1061720"/>
                  <a:pt x="1778000" y="1061720"/>
                </a:cubicBezTo>
                <a:lnTo>
                  <a:pt x="1778000" y="1351280"/>
                </a:lnTo>
                <a:cubicBezTo>
                  <a:pt x="825500" y="1351280"/>
                  <a:pt x="952500" y="434340"/>
                  <a:pt x="0" y="434340"/>
                </a:cubicBezTo>
                <a:close/>
              </a:path>
            </a:pathLst>
          </a:custGeom>
          <a:solidFill>
            <a:srgbClr val="1B5AA8">
              <a:alpha val="1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a-2"/>
          <p:cNvSpPr/>
          <p:nvPr/>
        </p:nvSpPr>
        <p:spPr>
          <a:xfrm>
            <a:off x="3175000" y="4025900"/>
            <a:ext cx="1270000" cy="408940"/>
          </a:xfrm>
          <a:custGeom>
            <a:avLst/>
            <a:gdLst/>
            <a:ahLst/>
            <a:cxnLst/>
            <a:rect l="0" t="0" r="r" b="b"/>
            <a:pathLst>
              <a:path w="1270000" h="408940">
                <a:moveTo>
                  <a:pt x="50800" y="0"/>
                </a:moveTo>
                <a:lnTo>
                  <a:pt x="1219200" y="0"/>
                </a:lnTo>
                <a:cubicBezTo>
                  <a:pt x="1247267" y="0"/>
                  <a:pt x="1270000" y="22733"/>
                  <a:pt x="1270000" y="50800"/>
                </a:cubicBezTo>
                <a:lnTo>
                  <a:pt x="1270000" y="358140"/>
                </a:lnTo>
                <a:cubicBezTo>
                  <a:pt x="1270000" y="386207"/>
                  <a:pt x="1247267" y="408940"/>
                  <a:pt x="1219200" y="408940"/>
                </a:cubicBezTo>
                <a:lnTo>
                  <a:pt x="50800" y="408940"/>
                </a:lnTo>
                <a:cubicBezTo>
                  <a:pt x="22733" y="408940"/>
                  <a:pt x="0" y="386207"/>
                  <a:pt x="0" y="35814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av-2"/>
          <p:cNvSpPr txBox="1"/>
          <p:nvPr/>
        </p:nvSpPr>
        <p:spPr>
          <a:xfrm>
            <a:off x="2024570" y="4153265"/>
            <a:ext cx="1009841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实施与迁移  180 万</a:t>
            </a:r>
          </a:p>
        </p:txBody>
      </p:sp>
      <p:sp>
        <p:nvSpPr>
          <p:cNvPr id="19" name="b-2"/>
          <p:cNvSpPr/>
          <p:nvPr/>
        </p:nvSpPr>
        <p:spPr>
          <a:xfrm>
            <a:off x="6223000" y="5087620"/>
            <a:ext cx="1270000" cy="264160"/>
          </a:xfrm>
          <a:custGeom>
            <a:avLst/>
            <a:gdLst/>
            <a:ahLst/>
            <a:cxnLst/>
            <a:rect l="0" t="0" r="r" b="b"/>
            <a:pathLst>
              <a:path w="1270000" h="264160">
                <a:moveTo>
                  <a:pt x="50800" y="0"/>
                </a:moveTo>
                <a:lnTo>
                  <a:pt x="1219200" y="0"/>
                </a:lnTo>
                <a:cubicBezTo>
                  <a:pt x="1247267" y="0"/>
                  <a:pt x="1270000" y="22733"/>
                  <a:pt x="1270000" y="50800"/>
                </a:cubicBezTo>
                <a:lnTo>
                  <a:pt x="1270000" y="213360"/>
                </a:lnTo>
                <a:cubicBezTo>
                  <a:pt x="1270000" y="241427"/>
                  <a:pt x="1247267" y="264160"/>
                  <a:pt x="1219200" y="264160"/>
                </a:cubicBezTo>
                <a:lnTo>
                  <a:pt x="50800" y="264160"/>
                </a:lnTo>
                <a:cubicBezTo>
                  <a:pt x="22733" y="264160"/>
                  <a:pt x="0" y="241427"/>
                  <a:pt x="0" y="21336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bv-2"/>
          <p:cNvSpPr txBox="1"/>
          <p:nvPr/>
        </p:nvSpPr>
        <p:spPr>
          <a:xfrm>
            <a:off x="7633589" y="5142595"/>
            <a:ext cx="1009841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实施与迁移  120 万</a:t>
            </a:r>
          </a:p>
        </p:txBody>
      </p:sp>
      <p:sp>
        <p:nvSpPr>
          <p:cNvPr id="21" name="band-3"/>
          <p:cNvSpPr/>
          <p:nvPr/>
        </p:nvSpPr>
        <p:spPr>
          <a:xfrm>
            <a:off x="4445000" y="3265170"/>
            <a:ext cx="1778000" cy="1809750"/>
          </a:xfrm>
          <a:custGeom>
            <a:avLst/>
            <a:gdLst/>
            <a:ahLst/>
            <a:cxnLst/>
            <a:rect l="0" t="0" r="r" b="b"/>
            <a:pathLst>
              <a:path w="1778000" h="1809750">
                <a:moveTo>
                  <a:pt x="0" y="603250"/>
                </a:moveTo>
                <a:cubicBezTo>
                  <a:pt x="952500" y="603250"/>
                  <a:pt x="825500" y="0"/>
                  <a:pt x="1778000" y="0"/>
                </a:cubicBezTo>
                <a:lnTo>
                  <a:pt x="1778000" y="1809750"/>
                </a:lnTo>
                <a:cubicBezTo>
                  <a:pt x="825500" y="1809750"/>
                  <a:pt x="952500" y="748030"/>
                  <a:pt x="0" y="748030"/>
                </a:cubicBezTo>
                <a:close/>
              </a:path>
            </a:pathLst>
          </a:custGeom>
          <a:solidFill>
            <a:srgbClr val="E0703A">
              <a:alpha val="1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a-3"/>
          <p:cNvSpPr/>
          <p:nvPr/>
        </p:nvSpPr>
        <p:spPr>
          <a:xfrm>
            <a:off x="3175000" y="3881120"/>
            <a:ext cx="1270000" cy="119380"/>
          </a:xfrm>
          <a:custGeom>
            <a:avLst/>
            <a:gdLst/>
            <a:ahLst/>
            <a:cxnLst/>
            <a:rect l="0" t="0" r="r" b="b"/>
            <a:pathLst>
              <a:path w="1270000" h="119380">
                <a:moveTo>
                  <a:pt x="50800" y="0"/>
                </a:moveTo>
                <a:lnTo>
                  <a:pt x="1219200" y="0"/>
                </a:lnTo>
                <a:cubicBezTo>
                  <a:pt x="1247267" y="0"/>
                  <a:pt x="1270000" y="22733"/>
                  <a:pt x="1270000" y="50800"/>
                </a:cubicBezTo>
                <a:lnTo>
                  <a:pt x="1270000" y="68580"/>
                </a:lnTo>
                <a:cubicBezTo>
                  <a:pt x="1270000" y="96647"/>
                  <a:pt x="1247267" y="119380"/>
                  <a:pt x="1219200" y="119380"/>
                </a:cubicBezTo>
                <a:lnTo>
                  <a:pt x="50800" y="119380"/>
                </a:lnTo>
                <a:cubicBezTo>
                  <a:pt x="22733" y="119380"/>
                  <a:pt x="0" y="96647"/>
                  <a:pt x="0" y="6858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av-3"/>
          <p:cNvSpPr txBox="1"/>
          <p:nvPr/>
        </p:nvSpPr>
        <p:spPr>
          <a:xfrm>
            <a:off x="2079688" y="3863705"/>
            <a:ext cx="954723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许可与订阅  60 万</a:t>
            </a:r>
          </a:p>
        </p:txBody>
      </p:sp>
      <p:sp>
        <p:nvSpPr>
          <p:cNvPr id="24" name="b-3"/>
          <p:cNvSpPr/>
          <p:nvPr/>
        </p:nvSpPr>
        <p:spPr>
          <a:xfrm>
            <a:off x="6223000" y="3277870"/>
            <a:ext cx="1270000" cy="1784350"/>
          </a:xfrm>
          <a:custGeom>
            <a:avLst/>
            <a:gdLst/>
            <a:ahLst/>
            <a:cxnLst/>
            <a:rect l="0" t="0" r="r" b="b"/>
            <a:pathLst>
              <a:path w="1270000" h="1784350">
                <a:moveTo>
                  <a:pt x="50800" y="0"/>
                </a:moveTo>
                <a:lnTo>
                  <a:pt x="1219200" y="0"/>
                </a:lnTo>
                <a:cubicBezTo>
                  <a:pt x="1247267" y="0"/>
                  <a:pt x="1270000" y="22733"/>
                  <a:pt x="1270000" y="50800"/>
                </a:cubicBezTo>
                <a:lnTo>
                  <a:pt x="1270000" y="1733550"/>
                </a:lnTo>
                <a:cubicBezTo>
                  <a:pt x="1270000" y="1761617"/>
                  <a:pt x="1247267" y="1784350"/>
                  <a:pt x="1219200" y="1784350"/>
                </a:cubicBezTo>
                <a:lnTo>
                  <a:pt x="50800" y="1784350"/>
                </a:lnTo>
                <a:cubicBezTo>
                  <a:pt x="22733" y="1784350"/>
                  <a:pt x="0" y="1761617"/>
                  <a:pt x="0" y="173355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bv-3"/>
          <p:cNvSpPr txBox="1"/>
          <p:nvPr/>
        </p:nvSpPr>
        <p:spPr>
          <a:xfrm>
            <a:off x="7633589" y="4092940"/>
            <a:ext cx="1009841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许可与订阅  750 万</a:t>
            </a:r>
          </a:p>
        </p:txBody>
      </p:sp>
      <p:sp>
        <p:nvSpPr>
          <p:cNvPr id="26" name="band-4"/>
          <p:cNvSpPr/>
          <p:nvPr/>
        </p:nvSpPr>
        <p:spPr>
          <a:xfrm>
            <a:off x="4445000" y="2420620"/>
            <a:ext cx="1778000" cy="1447800"/>
          </a:xfrm>
          <a:custGeom>
            <a:avLst/>
            <a:gdLst/>
            <a:ahLst/>
            <a:cxnLst/>
            <a:rect l="0" t="0" r="r" b="b"/>
            <a:pathLst>
              <a:path w="1778000" h="1447800">
                <a:moveTo>
                  <a:pt x="0" y="0"/>
                </a:moveTo>
                <a:cubicBezTo>
                  <a:pt x="952500" y="0"/>
                  <a:pt x="825500" y="410210"/>
                  <a:pt x="1778000" y="410210"/>
                </a:cubicBezTo>
                <a:lnTo>
                  <a:pt x="1778000" y="844550"/>
                </a:lnTo>
                <a:cubicBezTo>
                  <a:pt x="825500" y="844550"/>
                  <a:pt x="952500" y="1447800"/>
                  <a:pt x="0" y="1447800"/>
                </a:cubicBezTo>
                <a:close/>
              </a:path>
            </a:pathLst>
          </a:custGeom>
          <a:solidFill>
            <a:srgbClr val="2E77C2">
              <a:alpha val="1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a-4"/>
          <p:cNvSpPr/>
          <p:nvPr/>
        </p:nvSpPr>
        <p:spPr>
          <a:xfrm>
            <a:off x="3175000" y="2433320"/>
            <a:ext cx="1270000" cy="1422400"/>
          </a:xfrm>
          <a:custGeom>
            <a:avLst/>
            <a:gdLst/>
            <a:ahLst/>
            <a:cxnLst/>
            <a:rect l="0" t="0" r="r" b="b"/>
            <a:pathLst>
              <a:path w="1270000" h="1422400">
                <a:moveTo>
                  <a:pt x="50800" y="0"/>
                </a:moveTo>
                <a:lnTo>
                  <a:pt x="1219200" y="0"/>
                </a:lnTo>
                <a:cubicBezTo>
                  <a:pt x="1247267" y="0"/>
                  <a:pt x="1270000" y="22733"/>
                  <a:pt x="1270000" y="50800"/>
                </a:cubicBezTo>
                <a:lnTo>
                  <a:pt x="1270000" y="1371600"/>
                </a:lnTo>
                <a:cubicBezTo>
                  <a:pt x="1270000" y="1399667"/>
                  <a:pt x="1247267" y="1422400"/>
                  <a:pt x="1219200" y="1422400"/>
                </a:cubicBezTo>
                <a:lnTo>
                  <a:pt x="50800" y="1422400"/>
                </a:lnTo>
                <a:cubicBezTo>
                  <a:pt x="22733" y="1422400"/>
                  <a:pt x="0" y="1399667"/>
                  <a:pt x="0" y="13716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av-4"/>
          <p:cNvSpPr txBox="1"/>
          <p:nvPr/>
        </p:nvSpPr>
        <p:spPr>
          <a:xfrm>
            <a:off x="2122996" y="3067415"/>
            <a:ext cx="911416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8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运维人力  600 万</a:t>
            </a:r>
          </a:p>
        </p:txBody>
      </p:sp>
      <p:sp>
        <p:nvSpPr>
          <p:cNvPr id="29" name="b-4"/>
          <p:cNvSpPr/>
          <p:nvPr/>
        </p:nvSpPr>
        <p:spPr>
          <a:xfrm>
            <a:off x="6223000" y="2843530"/>
            <a:ext cx="1270000" cy="408940"/>
          </a:xfrm>
          <a:custGeom>
            <a:avLst/>
            <a:gdLst/>
            <a:ahLst/>
            <a:cxnLst/>
            <a:rect l="0" t="0" r="r" b="b"/>
            <a:pathLst>
              <a:path w="1270000" h="408940">
                <a:moveTo>
                  <a:pt x="50800" y="0"/>
                </a:moveTo>
                <a:lnTo>
                  <a:pt x="1219200" y="0"/>
                </a:lnTo>
                <a:cubicBezTo>
                  <a:pt x="1247267" y="0"/>
                  <a:pt x="1270000" y="22733"/>
                  <a:pt x="1270000" y="50800"/>
                </a:cubicBezTo>
                <a:lnTo>
                  <a:pt x="1270000" y="358140"/>
                </a:lnTo>
                <a:cubicBezTo>
                  <a:pt x="1270000" y="386207"/>
                  <a:pt x="1247267" y="408940"/>
                  <a:pt x="1219200" y="408940"/>
                </a:cubicBezTo>
                <a:lnTo>
                  <a:pt x="50800" y="408940"/>
                </a:lnTo>
                <a:cubicBezTo>
                  <a:pt x="22733" y="408940"/>
                  <a:pt x="0" y="386207"/>
                  <a:pt x="0" y="35814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bv-4"/>
          <p:cNvSpPr txBox="1"/>
          <p:nvPr/>
        </p:nvSpPr>
        <p:spPr>
          <a:xfrm>
            <a:off x="7633589" y="2970895"/>
            <a:ext cx="911416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运维人力  180 万</a:t>
            </a:r>
          </a:p>
        </p:txBody>
      </p:sp>
      <p:sp>
        <p:nvSpPr>
          <p:cNvPr id="31" name="band-5"/>
          <p:cNvSpPr/>
          <p:nvPr/>
        </p:nvSpPr>
        <p:spPr>
          <a:xfrm>
            <a:off x="4445000" y="1841500"/>
            <a:ext cx="1778000" cy="989330"/>
          </a:xfrm>
          <a:custGeom>
            <a:avLst/>
            <a:gdLst/>
            <a:ahLst/>
            <a:cxnLst/>
            <a:rect l="0" t="0" r="r" b="b"/>
            <a:pathLst>
              <a:path w="1778000" h="989330">
                <a:moveTo>
                  <a:pt x="0" y="0"/>
                </a:moveTo>
                <a:cubicBezTo>
                  <a:pt x="952500" y="0"/>
                  <a:pt x="825500" y="989330"/>
                  <a:pt x="1778000" y="989330"/>
                </a:cubicBezTo>
                <a:lnTo>
                  <a:pt x="1778000" y="989330"/>
                </a:lnTo>
                <a:cubicBezTo>
                  <a:pt x="825500" y="989330"/>
                  <a:pt x="952500" y="579120"/>
                  <a:pt x="0" y="579120"/>
                </a:cubicBezTo>
                <a:close/>
              </a:path>
            </a:pathLst>
          </a:custGeom>
          <a:solidFill>
            <a:srgbClr val="4694D7">
              <a:alpha val="1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a-5"/>
          <p:cNvSpPr/>
          <p:nvPr/>
        </p:nvSpPr>
        <p:spPr>
          <a:xfrm>
            <a:off x="3175000" y="1854200"/>
            <a:ext cx="1270000" cy="553720"/>
          </a:xfrm>
          <a:custGeom>
            <a:avLst/>
            <a:gdLst/>
            <a:ahLst/>
            <a:cxnLst/>
            <a:rect l="0" t="0" r="r" b="b"/>
            <a:pathLst>
              <a:path w="1270000" h="553720">
                <a:moveTo>
                  <a:pt x="50800" y="0"/>
                </a:moveTo>
                <a:lnTo>
                  <a:pt x="1219200" y="0"/>
                </a:lnTo>
                <a:cubicBezTo>
                  <a:pt x="1247267" y="0"/>
                  <a:pt x="1270000" y="22733"/>
                  <a:pt x="1270000" y="50800"/>
                </a:cubicBezTo>
                <a:lnTo>
                  <a:pt x="1270000" y="502920"/>
                </a:lnTo>
                <a:cubicBezTo>
                  <a:pt x="1270000" y="530987"/>
                  <a:pt x="1247267" y="553720"/>
                  <a:pt x="1219200" y="553720"/>
                </a:cubicBezTo>
                <a:lnTo>
                  <a:pt x="50800" y="553720"/>
                </a:lnTo>
                <a:cubicBezTo>
                  <a:pt x="22733" y="553720"/>
                  <a:pt x="0" y="530987"/>
                  <a:pt x="0" y="50292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av-5"/>
          <p:cNvSpPr txBox="1"/>
          <p:nvPr/>
        </p:nvSpPr>
        <p:spPr>
          <a:xfrm>
            <a:off x="2122996" y="2053955"/>
            <a:ext cx="911416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升级迭代  240 万</a:t>
            </a:r>
          </a:p>
        </p:txBody>
      </p:sp>
      <p:sp>
        <p:nvSpPr>
          <p:cNvPr id="34" name="tot-自建部署"/>
          <p:cNvSpPr/>
          <p:nvPr/>
        </p:nvSpPr>
        <p:spPr>
          <a:xfrm>
            <a:off x="3238500" y="1422400"/>
            <a:ext cx="1143000" cy="304800"/>
          </a:xfrm>
          <a:custGeom>
            <a:avLst/>
            <a:gdLst/>
            <a:ahLst/>
            <a:cxnLst/>
            <a:rect l="0" t="0" r="r" b="b"/>
            <a:pathLst>
              <a:path w="1143000" h="304800">
                <a:moveTo>
                  <a:pt x="152400" y="0"/>
                </a:moveTo>
                <a:lnTo>
                  <a:pt x="990600" y="0"/>
                </a:lnTo>
                <a:cubicBezTo>
                  <a:pt x="1074801" y="0"/>
                  <a:pt x="1143000" y="68199"/>
                  <a:pt x="1143000" y="152400"/>
                </a:cubicBezTo>
                <a:lnTo>
                  <a:pt x="1143000" y="152400"/>
                </a:lnTo>
                <a:cubicBezTo>
                  <a:pt x="1143000" y="236601"/>
                  <a:pt x="1074801" y="304800"/>
                  <a:pt x="990600" y="304800"/>
                </a:cubicBezTo>
                <a:lnTo>
                  <a:pt x="152400" y="304800"/>
                </a:lnTo>
                <a:cubicBezTo>
                  <a:pt x="68199" y="304800"/>
                  <a:pt x="0" y="236601"/>
                  <a:pt x="0" y="1524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tott-自建部署"/>
          <p:cNvSpPr txBox="1"/>
          <p:nvPr/>
        </p:nvSpPr>
        <p:spPr>
          <a:xfrm>
            <a:off x="3475990" y="1468755"/>
            <a:ext cx="66802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1,500 万</a:t>
            </a:r>
          </a:p>
        </p:txBody>
      </p:sp>
      <p:sp>
        <p:nvSpPr>
          <p:cNvPr id="36" name="cn-自建部署"/>
          <p:cNvSpPr txBox="1"/>
          <p:nvPr/>
        </p:nvSpPr>
        <p:spPr>
          <a:xfrm>
            <a:off x="3411220" y="5552186"/>
            <a:ext cx="7975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自建部署</a:t>
            </a:r>
          </a:p>
        </p:txBody>
      </p:sp>
      <p:sp>
        <p:nvSpPr>
          <p:cNvPr id="37" name="tot-SaaS 订阅"/>
          <p:cNvSpPr/>
          <p:nvPr/>
        </p:nvSpPr>
        <p:spPr>
          <a:xfrm>
            <a:off x="6286500" y="2411730"/>
            <a:ext cx="1143000" cy="304800"/>
          </a:xfrm>
          <a:custGeom>
            <a:avLst/>
            <a:gdLst/>
            <a:ahLst/>
            <a:cxnLst/>
            <a:rect l="0" t="0" r="r" b="b"/>
            <a:pathLst>
              <a:path w="1143000" h="304800">
                <a:moveTo>
                  <a:pt x="152400" y="0"/>
                </a:moveTo>
                <a:lnTo>
                  <a:pt x="990600" y="0"/>
                </a:lnTo>
                <a:cubicBezTo>
                  <a:pt x="1074801" y="0"/>
                  <a:pt x="1143000" y="68199"/>
                  <a:pt x="1143000" y="152400"/>
                </a:cubicBezTo>
                <a:lnTo>
                  <a:pt x="1143000" y="152400"/>
                </a:lnTo>
                <a:cubicBezTo>
                  <a:pt x="1143000" y="236601"/>
                  <a:pt x="1074801" y="304800"/>
                  <a:pt x="990600" y="304800"/>
                </a:cubicBezTo>
                <a:lnTo>
                  <a:pt x="152400" y="304800"/>
                </a:lnTo>
                <a:cubicBezTo>
                  <a:pt x="68199" y="304800"/>
                  <a:pt x="0" y="236601"/>
                  <a:pt x="0" y="1524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tott-SaaS 订阅"/>
          <p:cNvSpPr txBox="1"/>
          <p:nvPr/>
        </p:nvSpPr>
        <p:spPr>
          <a:xfrm>
            <a:off x="6523990" y="2458085"/>
            <a:ext cx="66802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1,090 万</a:t>
            </a:r>
          </a:p>
        </p:txBody>
      </p:sp>
      <p:sp>
        <p:nvSpPr>
          <p:cNvPr id="39" name="cn-SaaS 订阅"/>
          <p:cNvSpPr txBox="1"/>
          <p:nvPr/>
        </p:nvSpPr>
        <p:spPr>
          <a:xfrm>
            <a:off x="6379210" y="5552186"/>
            <a:ext cx="95758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SaaS 订阅</a:t>
            </a:r>
          </a:p>
        </p:txBody>
      </p:sp>
      <p:sp>
        <p:nvSpPr>
          <p:cNvPr id="40" name="hero"/>
          <p:cNvSpPr/>
          <p:nvPr/>
        </p:nvSpPr>
        <p:spPr>
          <a:xfrm>
            <a:off x="9017000" y="1587500"/>
            <a:ext cx="2222500" cy="1587500"/>
          </a:xfrm>
          <a:custGeom>
            <a:avLst/>
            <a:gdLst/>
            <a:ahLst/>
            <a:cxnLst/>
            <a:rect l="0" t="0" r="r" b="b"/>
            <a:pathLst>
              <a:path w="2222500" h="1587500">
                <a:moveTo>
                  <a:pt x="152400" y="0"/>
                </a:moveTo>
                <a:lnTo>
                  <a:pt x="2070100" y="0"/>
                </a:lnTo>
                <a:cubicBezTo>
                  <a:pt x="2154301" y="0"/>
                  <a:pt x="2222500" y="68199"/>
                  <a:pt x="2222500" y="152400"/>
                </a:cubicBezTo>
                <a:lnTo>
                  <a:pt x="2222500" y="1435100"/>
                </a:lnTo>
                <a:cubicBezTo>
                  <a:pt x="2222500" y="1519301"/>
                  <a:pt x="2154301" y="1587500"/>
                  <a:pt x="2070100" y="1587500"/>
                </a:cubicBezTo>
                <a:lnTo>
                  <a:pt x="152400" y="1587500"/>
                </a:lnTo>
                <a:cubicBezTo>
                  <a:pt x="68199" y="1587500"/>
                  <a:pt x="0" y="1519301"/>
                  <a:pt x="0" y="14351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hero-h"/>
          <p:cNvSpPr txBox="1"/>
          <p:nvPr/>
        </p:nvSpPr>
        <p:spPr>
          <a:xfrm>
            <a:off x="9193784" y="1738440"/>
            <a:ext cx="6108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10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五年省下</a:t>
            </a:r>
          </a:p>
        </p:txBody>
      </p:sp>
      <p:sp>
        <p:nvSpPr>
          <p:cNvPr id="42" name="hero-v"/>
          <p:cNvSpPr txBox="1"/>
          <p:nvPr/>
        </p:nvSpPr>
        <p:spPr>
          <a:xfrm>
            <a:off x="9152636" y="1848358"/>
            <a:ext cx="1179576" cy="8001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6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410</a:t>
            </a:r>
          </a:p>
        </p:txBody>
      </p:sp>
      <p:sp>
        <p:nvSpPr>
          <p:cNvPr id="43" name="hero-u"/>
          <p:cNvSpPr txBox="1"/>
          <p:nvPr/>
        </p:nvSpPr>
        <p:spPr>
          <a:xfrm>
            <a:off x="10051288" y="2196402"/>
            <a:ext cx="3136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万</a:t>
            </a:r>
          </a:p>
        </p:txBody>
      </p:sp>
      <p:sp>
        <p:nvSpPr>
          <p:cNvPr id="44" name="hero-d"/>
          <p:cNvSpPr txBox="1"/>
          <p:nvPr/>
        </p:nvSpPr>
        <p:spPr>
          <a:xfrm>
            <a:off x="9193784" y="2678240"/>
            <a:ext cx="113614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SaaS 比自建低 27%</a:t>
            </a:r>
          </a:p>
        </p:txBody>
      </p:sp>
      <p:sp>
        <p:nvSpPr>
          <p:cNvPr id="45" name="n-1"/>
          <p:cNvSpPr/>
          <p:nvPr/>
        </p:nvSpPr>
        <p:spPr>
          <a:xfrm>
            <a:off x="9017000" y="3365500"/>
            <a:ext cx="2222500" cy="609600"/>
          </a:xfrm>
          <a:custGeom>
            <a:avLst/>
            <a:gdLst/>
            <a:ahLst/>
            <a:cxnLst/>
            <a:rect l="0" t="0" r="r" b="b"/>
            <a:pathLst>
              <a:path w="2222500" h="609600">
                <a:moveTo>
                  <a:pt x="114300" y="0"/>
                </a:moveTo>
                <a:lnTo>
                  <a:pt x="2108200" y="0"/>
                </a:lnTo>
                <a:cubicBezTo>
                  <a:pt x="2171319" y="0"/>
                  <a:pt x="2222500" y="51181"/>
                  <a:pt x="2222500" y="114300"/>
                </a:cubicBezTo>
                <a:lnTo>
                  <a:pt x="2222500" y="495300"/>
                </a:lnTo>
                <a:cubicBezTo>
                  <a:pt x="2222500" y="558419"/>
                  <a:pt x="2171319" y="609600"/>
                  <a:pt x="2108200" y="609600"/>
                </a:cubicBezTo>
                <a:lnTo>
                  <a:pt x="114300" y="609600"/>
                </a:lnTo>
                <a:cubicBezTo>
                  <a:pt x="51181" y="609600"/>
                  <a:pt x="0" y="558419"/>
                  <a:pt x="0" y="495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nb-1"/>
          <p:cNvSpPr/>
          <p:nvPr/>
        </p:nvSpPr>
        <p:spPr>
          <a:xfrm>
            <a:off x="9017000" y="3365500"/>
            <a:ext cx="38100" cy="609600"/>
          </a:xfrm>
          <a:custGeom>
            <a:avLst/>
            <a:gdLst/>
            <a:ahLst/>
            <a:cxnLst/>
            <a:rect l="0" t="0" r="r" b="b"/>
            <a:pathLst>
              <a:path w="38100" h="6096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590550"/>
                </a:lnTo>
                <a:cubicBezTo>
                  <a:pt x="38100" y="601091"/>
                  <a:pt x="29591" y="609600"/>
                  <a:pt x="19050" y="609600"/>
                </a:cubicBezTo>
                <a:lnTo>
                  <a:pt x="19050" y="609600"/>
                </a:lnTo>
                <a:cubicBezTo>
                  <a:pt x="8509" y="609600"/>
                  <a:pt x="0" y="601091"/>
                  <a:pt x="0" y="5905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nh-1"/>
          <p:cNvSpPr txBox="1"/>
          <p:nvPr/>
        </p:nvSpPr>
        <p:spPr>
          <a:xfrm>
            <a:off x="9181084" y="3478340"/>
            <a:ext cx="585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最大单项</a:t>
            </a:r>
          </a:p>
        </p:txBody>
      </p:sp>
      <p:sp>
        <p:nvSpPr>
          <p:cNvPr id="48" name="nt-1"/>
          <p:cNvSpPr txBox="1"/>
          <p:nvPr/>
        </p:nvSpPr>
        <p:spPr>
          <a:xfrm>
            <a:off x="9183370" y="3705066"/>
            <a:ext cx="17189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SaaS 订阅 750 万，占其总成本 69%</a:t>
            </a:r>
          </a:p>
        </p:txBody>
      </p:sp>
      <p:sp>
        <p:nvSpPr>
          <p:cNvPr id="49" name="n-2"/>
          <p:cNvSpPr/>
          <p:nvPr/>
        </p:nvSpPr>
        <p:spPr>
          <a:xfrm>
            <a:off x="9017000" y="4076700"/>
            <a:ext cx="2222500" cy="609600"/>
          </a:xfrm>
          <a:custGeom>
            <a:avLst/>
            <a:gdLst/>
            <a:ahLst/>
            <a:cxnLst/>
            <a:rect l="0" t="0" r="r" b="b"/>
            <a:pathLst>
              <a:path w="2222500" h="609600">
                <a:moveTo>
                  <a:pt x="114300" y="0"/>
                </a:moveTo>
                <a:lnTo>
                  <a:pt x="2108200" y="0"/>
                </a:lnTo>
                <a:cubicBezTo>
                  <a:pt x="2171319" y="0"/>
                  <a:pt x="2222500" y="51181"/>
                  <a:pt x="2222500" y="114300"/>
                </a:cubicBezTo>
                <a:lnTo>
                  <a:pt x="2222500" y="495300"/>
                </a:lnTo>
                <a:cubicBezTo>
                  <a:pt x="2222500" y="558419"/>
                  <a:pt x="2171319" y="609600"/>
                  <a:pt x="2108200" y="609600"/>
                </a:cubicBezTo>
                <a:lnTo>
                  <a:pt x="114300" y="609600"/>
                </a:lnTo>
                <a:cubicBezTo>
                  <a:pt x="51181" y="609600"/>
                  <a:pt x="0" y="558419"/>
                  <a:pt x="0" y="495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nb-2"/>
          <p:cNvSpPr/>
          <p:nvPr/>
        </p:nvSpPr>
        <p:spPr>
          <a:xfrm>
            <a:off x="9017000" y="4076700"/>
            <a:ext cx="38100" cy="609600"/>
          </a:xfrm>
          <a:custGeom>
            <a:avLst/>
            <a:gdLst/>
            <a:ahLst/>
            <a:cxnLst/>
            <a:rect l="0" t="0" r="r" b="b"/>
            <a:pathLst>
              <a:path w="38100" h="6096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590550"/>
                </a:lnTo>
                <a:cubicBezTo>
                  <a:pt x="38100" y="601091"/>
                  <a:pt x="29591" y="609600"/>
                  <a:pt x="19050" y="609600"/>
                </a:cubicBezTo>
                <a:lnTo>
                  <a:pt x="19050" y="609600"/>
                </a:lnTo>
                <a:cubicBezTo>
                  <a:pt x="8509" y="609600"/>
                  <a:pt x="0" y="601091"/>
                  <a:pt x="0" y="5905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nh-2"/>
          <p:cNvSpPr txBox="1"/>
          <p:nvPr/>
        </p:nvSpPr>
        <p:spPr>
          <a:xfrm>
            <a:off x="9181084" y="4189540"/>
            <a:ext cx="585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最重负担</a:t>
            </a:r>
          </a:p>
        </p:txBody>
      </p:sp>
      <p:sp>
        <p:nvSpPr>
          <p:cNvPr id="52" name="nt-2"/>
          <p:cNvSpPr txBox="1"/>
          <p:nvPr/>
        </p:nvSpPr>
        <p:spPr>
          <a:xfrm>
            <a:off x="9183370" y="4416266"/>
            <a:ext cx="16808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自建运维人力 600 万，要 4 个专职</a:t>
            </a:r>
          </a:p>
        </p:txBody>
      </p:sp>
      <p:sp>
        <p:nvSpPr>
          <p:cNvPr id="53" name="n-3"/>
          <p:cNvSpPr/>
          <p:nvPr/>
        </p:nvSpPr>
        <p:spPr>
          <a:xfrm>
            <a:off x="9017000" y="4787900"/>
            <a:ext cx="2222500" cy="609600"/>
          </a:xfrm>
          <a:custGeom>
            <a:avLst/>
            <a:gdLst/>
            <a:ahLst/>
            <a:cxnLst/>
            <a:rect l="0" t="0" r="r" b="b"/>
            <a:pathLst>
              <a:path w="2222500" h="609600">
                <a:moveTo>
                  <a:pt x="114300" y="0"/>
                </a:moveTo>
                <a:lnTo>
                  <a:pt x="2108200" y="0"/>
                </a:lnTo>
                <a:cubicBezTo>
                  <a:pt x="2171319" y="0"/>
                  <a:pt x="2222500" y="51181"/>
                  <a:pt x="2222500" y="114300"/>
                </a:cubicBezTo>
                <a:lnTo>
                  <a:pt x="2222500" y="495300"/>
                </a:lnTo>
                <a:cubicBezTo>
                  <a:pt x="2222500" y="558419"/>
                  <a:pt x="2171319" y="609600"/>
                  <a:pt x="2108200" y="609600"/>
                </a:cubicBezTo>
                <a:lnTo>
                  <a:pt x="114300" y="609600"/>
                </a:lnTo>
                <a:cubicBezTo>
                  <a:pt x="51181" y="609600"/>
                  <a:pt x="0" y="558419"/>
                  <a:pt x="0" y="495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nb-3"/>
          <p:cNvSpPr/>
          <p:nvPr/>
        </p:nvSpPr>
        <p:spPr>
          <a:xfrm>
            <a:off x="9017000" y="4787900"/>
            <a:ext cx="38100" cy="609600"/>
          </a:xfrm>
          <a:custGeom>
            <a:avLst/>
            <a:gdLst/>
            <a:ahLst/>
            <a:cxnLst/>
            <a:rect l="0" t="0" r="r" b="b"/>
            <a:pathLst>
              <a:path w="38100" h="6096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590550"/>
                </a:lnTo>
                <a:cubicBezTo>
                  <a:pt x="38100" y="601091"/>
                  <a:pt x="29591" y="609600"/>
                  <a:pt x="19050" y="609600"/>
                </a:cubicBezTo>
                <a:lnTo>
                  <a:pt x="19050" y="609600"/>
                </a:lnTo>
                <a:cubicBezTo>
                  <a:pt x="8509" y="609600"/>
                  <a:pt x="0" y="601091"/>
                  <a:pt x="0" y="5905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nh-3"/>
          <p:cNvSpPr txBox="1"/>
          <p:nvPr/>
        </p:nvSpPr>
        <p:spPr>
          <a:xfrm>
            <a:off x="9181084" y="4900740"/>
            <a:ext cx="585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打平条件</a:t>
            </a:r>
          </a:p>
        </p:txBody>
      </p:sp>
      <p:sp>
        <p:nvSpPr>
          <p:cNvPr id="56" name="nt-3"/>
          <p:cNvSpPr txBox="1"/>
          <p:nvPr/>
        </p:nvSpPr>
        <p:spPr>
          <a:xfrm>
            <a:off x="9183370" y="5127466"/>
            <a:ext cx="13785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用户规模到现在的约 1.55 倍</a:t>
            </a:r>
          </a:p>
        </p:txBody>
      </p:sp>
      <p:sp>
        <p:nvSpPr>
          <p:cNvPr id="57" name="sum"/>
          <p:cNvSpPr/>
          <p:nvPr/>
        </p:nvSpPr>
        <p:spPr>
          <a:xfrm>
            <a:off x="952500" y="5905500"/>
            <a:ext cx="10287000" cy="393700"/>
          </a:xfrm>
          <a:custGeom>
            <a:avLst/>
            <a:gdLst/>
            <a:ahLst/>
            <a:cxnLst/>
            <a:rect l="0" t="0" r="r" b="b"/>
            <a:pathLst>
              <a:path w="10287000" h="3937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04800"/>
                </a:lnTo>
                <a:cubicBezTo>
                  <a:pt x="10287000" y="353886"/>
                  <a:pt x="10247186" y="393700"/>
                  <a:pt x="10198100" y="393700"/>
                </a:cubicBezTo>
                <a:lnTo>
                  <a:pt x="88900" y="393700"/>
                </a:lnTo>
                <a:cubicBezTo>
                  <a:pt x="39815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sum-bar"/>
          <p:cNvSpPr/>
          <p:nvPr/>
        </p:nvSpPr>
        <p:spPr>
          <a:xfrm>
            <a:off x="952500" y="5905500"/>
            <a:ext cx="31750" cy="3937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sum-h"/>
          <p:cNvSpPr txBox="1"/>
          <p:nvPr/>
        </p:nvSpPr>
        <p:spPr>
          <a:xfrm>
            <a:off x="1142746" y="6026182"/>
            <a:ext cx="3384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建议</a:t>
            </a:r>
          </a:p>
        </p:txBody>
      </p:sp>
      <p:sp>
        <p:nvSpPr>
          <p:cNvPr id="60" name="sum-p"/>
          <p:cNvSpPr txBox="1"/>
          <p:nvPr/>
        </p:nvSpPr>
        <p:spPr>
          <a:xfrm>
            <a:off x="1637665" y="6022261"/>
            <a:ext cx="45793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只要五年内用户规模涨不到 1.5 倍，就选 SaaS；合同里锁定订阅单价涨幅不超过 5%。</a:t>
            </a:r>
          </a:p>
        </p:txBody>
      </p:sp>
      <p:cxnSp>
        <p:nvCxnSpPr>
          <p:cNvPr id="61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总拥有成本 · 五年口径</a:t>
            </a:r>
          </a:p>
        </p:txBody>
      </p:sp>
      <p:sp>
        <p:nvSpPr>
          <p:cNvPr id="63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四家供应商怎么选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71907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HARVEY BALL MATRIX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217789" y="673132"/>
            <a:ext cx="340296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六个维度用哈维球打分，满球 4 分——一眼看出谁强在哪、短在哪</a:t>
            </a:r>
          </a:p>
        </p:txBody>
      </p:sp>
      <p:sp>
        <p:nvSpPr>
          <p:cNvPr id="10" name="best"/>
          <p:cNvSpPr/>
          <p:nvPr/>
        </p:nvSpPr>
        <p:spPr>
          <a:xfrm>
            <a:off x="3860800" y="1409700"/>
            <a:ext cx="1200150" cy="4381500"/>
          </a:xfrm>
          <a:custGeom>
            <a:avLst/>
            <a:gdLst/>
            <a:ahLst/>
            <a:cxnLst/>
            <a:rect l="0" t="0" r="r" b="b"/>
            <a:pathLst>
              <a:path w="1200150" h="4381500">
                <a:moveTo>
                  <a:pt x="152400" y="0"/>
                </a:moveTo>
                <a:lnTo>
                  <a:pt x="1047750" y="0"/>
                </a:lnTo>
                <a:cubicBezTo>
                  <a:pt x="1131951" y="0"/>
                  <a:pt x="1200150" y="68199"/>
                  <a:pt x="1200150" y="152400"/>
                </a:cubicBezTo>
                <a:lnTo>
                  <a:pt x="1200150" y="4229100"/>
                </a:lnTo>
                <a:cubicBezTo>
                  <a:pt x="1200150" y="4313301"/>
                  <a:pt x="1131951" y="4381500"/>
                  <a:pt x="1047750" y="4381500"/>
                </a:cubicBezTo>
                <a:lnTo>
                  <a:pt x="152400" y="4381500"/>
                </a:lnTo>
                <a:cubicBezTo>
                  <a:pt x="68199" y="4381500"/>
                  <a:pt x="0" y="4313301"/>
                  <a:pt x="0" y="42291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FFFFFF"/>
          </a:solidFill>
          <a:ln w="12700" cap="rnd">
            <a:solidFill>
              <a:srgbClr val="E0703A"/>
            </a:solidFill>
            <a:round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best-b"/>
          <p:cNvSpPr/>
          <p:nvPr/>
        </p:nvSpPr>
        <p:spPr>
          <a:xfrm>
            <a:off x="4206875" y="1320800"/>
            <a:ext cx="508000" cy="177800"/>
          </a:xfrm>
          <a:custGeom>
            <a:avLst/>
            <a:gdLst/>
            <a:ahLst/>
            <a:cxnLst/>
            <a:rect l="0" t="0" r="r" b="b"/>
            <a:pathLst>
              <a:path w="508000" h="177800">
                <a:moveTo>
                  <a:pt x="88900" y="0"/>
                </a:moveTo>
                <a:lnTo>
                  <a:pt x="419100" y="0"/>
                </a:lnTo>
                <a:cubicBezTo>
                  <a:pt x="468186" y="0"/>
                  <a:pt x="508000" y="39815"/>
                  <a:pt x="508000" y="88900"/>
                </a:cubicBezTo>
                <a:lnTo>
                  <a:pt x="508000" y="88900"/>
                </a:lnTo>
                <a:cubicBezTo>
                  <a:pt x="508000" y="137985"/>
                  <a:pt x="468186" y="177800"/>
                  <a:pt x="419100" y="177800"/>
                </a:cubicBezTo>
                <a:lnTo>
                  <a:pt x="88900" y="177800"/>
                </a:lnTo>
                <a:cubicBezTo>
                  <a:pt x="39814" y="177800"/>
                  <a:pt x="0" y="137985"/>
                  <a:pt x="0" y="88900"/>
                </a:cubicBezTo>
                <a:lnTo>
                  <a:pt x="0" y="88900"/>
                </a:lnTo>
                <a:cubicBezTo>
                  <a:pt x="0" y="39815"/>
                  <a:pt x="39814" y="0"/>
                  <a:pt x="889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best-t"/>
          <p:cNvSpPr txBox="1"/>
          <p:nvPr/>
        </p:nvSpPr>
        <p:spPr>
          <a:xfrm>
            <a:off x="4331970" y="1338008"/>
            <a:ext cx="2578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推荐</a:t>
            </a:r>
          </a:p>
        </p:txBody>
      </p:sp>
      <p:sp>
        <p:nvSpPr>
          <p:cNvPr id="13" name="h-c"/>
          <p:cNvSpPr txBox="1"/>
          <p:nvPr/>
        </p:nvSpPr>
        <p:spPr>
          <a:xfrm>
            <a:off x="941070" y="1558766"/>
            <a:ext cx="5175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评估维度</a:t>
            </a:r>
          </a:p>
        </p:txBody>
      </p:sp>
      <p:sp>
        <p:nvSpPr>
          <p:cNvPr id="14" name="h-w"/>
          <p:cNvSpPr txBox="1"/>
          <p:nvPr/>
        </p:nvSpPr>
        <p:spPr>
          <a:xfrm>
            <a:off x="3202305" y="1558766"/>
            <a:ext cx="3016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权重</a:t>
            </a:r>
          </a:p>
        </p:txBody>
      </p:sp>
      <p:sp>
        <p:nvSpPr>
          <p:cNvPr id="15" name="vn-0"/>
          <p:cNvSpPr txBox="1"/>
          <p:nvPr/>
        </p:nvSpPr>
        <p:spPr>
          <a:xfrm>
            <a:off x="4152583" y="1552797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云帆科技</a:t>
            </a:r>
          </a:p>
        </p:txBody>
      </p:sp>
      <p:sp>
        <p:nvSpPr>
          <p:cNvPr id="16" name="vn-1"/>
          <p:cNvSpPr txBox="1"/>
          <p:nvPr/>
        </p:nvSpPr>
        <p:spPr>
          <a:xfrm>
            <a:off x="5454332" y="1552797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北辰软件</a:t>
            </a:r>
          </a:p>
        </p:txBody>
      </p:sp>
      <p:sp>
        <p:nvSpPr>
          <p:cNvPr id="17" name="vn-2"/>
          <p:cNvSpPr txBox="1"/>
          <p:nvPr/>
        </p:nvSpPr>
        <p:spPr>
          <a:xfrm>
            <a:off x="6756082" y="1552797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启明数据</a:t>
            </a:r>
          </a:p>
        </p:txBody>
      </p:sp>
      <p:sp>
        <p:nvSpPr>
          <p:cNvPr id="18" name="vn-3"/>
          <p:cNvSpPr txBox="1"/>
          <p:nvPr/>
        </p:nvSpPr>
        <p:spPr>
          <a:xfrm>
            <a:off x="8057832" y="1552797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海石系统</a:t>
            </a:r>
          </a:p>
        </p:txBody>
      </p:sp>
      <p:sp>
        <p:nvSpPr>
          <p:cNvPr id="19" name="row-0"/>
          <p:cNvSpPr/>
          <p:nvPr/>
        </p:nvSpPr>
        <p:spPr>
          <a:xfrm>
            <a:off x="952500" y="1905000"/>
            <a:ext cx="8204200" cy="482600"/>
          </a:xfrm>
          <a:custGeom>
            <a:avLst/>
            <a:gdLst/>
            <a:ahLst/>
            <a:cxnLst/>
            <a:rect l="0" t="0" r="r" b="b"/>
            <a:pathLst>
              <a:path w="8204200" h="482600">
                <a:moveTo>
                  <a:pt x="101600" y="0"/>
                </a:moveTo>
                <a:lnTo>
                  <a:pt x="8102600" y="0"/>
                </a:lnTo>
                <a:cubicBezTo>
                  <a:pt x="8158734" y="0"/>
                  <a:pt x="8204200" y="45466"/>
                  <a:pt x="8204200" y="101600"/>
                </a:cubicBezTo>
                <a:lnTo>
                  <a:pt x="8204200" y="381000"/>
                </a:lnTo>
                <a:cubicBezTo>
                  <a:pt x="8204200" y="437134"/>
                  <a:pt x="8158734" y="482600"/>
                  <a:pt x="81026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EF3FA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cn-0"/>
          <p:cNvSpPr txBox="1"/>
          <p:nvPr/>
        </p:nvSpPr>
        <p:spPr>
          <a:xfrm>
            <a:off x="1090803" y="2045668"/>
            <a:ext cx="724852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功能完整度</a:t>
            </a:r>
          </a:p>
        </p:txBody>
      </p:sp>
      <p:sp>
        <p:nvSpPr>
          <p:cNvPr id="21" name="cw-0"/>
          <p:cNvSpPr txBox="1"/>
          <p:nvPr/>
        </p:nvSpPr>
        <p:spPr>
          <a:xfrm>
            <a:off x="3242564" y="206527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25%</a:t>
            </a:r>
          </a:p>
        </p:txBody>
      </p:sp>
      <p:sp>
        <p:nvSpPr>
          <p:cNvPr id="22" name="hb-0-0-o"/>
          <p:cNvSpPr/>
          <p:nvPr/>
        </p:nvSpPr>
        <p:spPr>
          <a:xfrm>
            <a:off x="4321175" y="2006600"/>
            <a:ext cx="279400" cy="2794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hb-0-0-f"/>
          <p:cNvSpPr/>
          <p:nvPr/>
        </p:nvSpPr>
        <p:spPr>
          <a:xfrm>
            <a:off x="4352925" y="2038350"/>
            <a:ext cx="215900" cy="2159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hb-0-1-o"/>
          <p:cNvSpPr/>
          <p:nvPr/>
        </p:nvSpPr>
        <p:spPr>
          <a:xfrm>
            <a:off x="5622925" y="2006600"/>
            <a:ext cx="279400" cy="2794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hb-0-1-f"/>
          <p:cNvSpPr/>
          <p:nvPr/>
        </p:nvSpPr>
        <p:spPr>
          <a:xfrm>
            <a:off x="5654675" y="2038350"/>
            <a:ext cx="215900" cy="215900"/>
          </a:xfrm>
          <a:custGeom>
            <a:avLst/>
            <a:gdLst/>
            <a:ahLst/>
            <a:cxnLst/>
            <a:rect l="0" t="0" r="r" b="b"/>
            <a:pathLst>
              <a:path w="215900" h="215900">
                <a:moveTo>
                  <a:pt x="107950" y="107950"/>
                </a:moveTo>
                <a:lnTo>
                  <a:pt x="107950" y="0"/>
                </a:lnTo>
                <a:cubicBezTo>
                  <a:pt x="167640" y="0"/>
                  <a:pt x="215900" y="48260"/>
                  <a:pt x="215900" y="107950"/>
                </a:cubicBezTo>
                <a:cubicBezTo>
                  <a:pt x="215900" y="167640"/>
                  <a:pt x="167640" y="215900"/>
                  <a:pt x="107950" y="215900"/>
                </a:cubicBezTo>
                <a:cubicBezTo>
                  <a:pt x="48260" y="215900"/>
                  <a:pt x="0" y="167640"/>
                  <a:pt x="0" y="10795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hb-0-2-o"/>
          <p:cNvSpPr/>
          <p:nvPr/>
        </p:nvSpPr>
        <p:spPr>
          <a:xfrm>
            <a:off x="6924675" y="2006600"/>
            <a:ext cx="279400" cy="2794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hb-0-2-f"/>
          <p:cNvSpPr/>
          <p:nvPr/>
        </p:nvSpPr>
        <p:spPr>
          <a:xfrm>
            <a:off x="6956425" y="2038350"/>
            <a:ext cx="215900" cy="215900"/>
          </a:xfrm>
          <a:custGeom>
            <a:avLst/>
            <a:gdLst/>
            <a:ahLst/>
            <a:cxnLst/>
            <a:rect l="0" t="0" r="r" b="b"/>
            <a:pathLst>
              <a:path w="215900" h="215900">
                <a:moveTo>
                  <a:pt x="107950" y="107950"/>
                </a:moveTo>
                <a:lnTo>
                  <a:pt x="107950" y="0"/>
                </a:lnTo>
                <a:cubicBezTo>
                  <a:pt x="167640" y="0"/>
                  <a:pt x="215900" y="48260"/>
                  <a:pt x="215900" y="107950"/>
                </a:cubicBezTo>
                <a:cubicBezTo>
                  <a:pt x="215900" y="167640"/>
                  <a:pt x="167640" y="215900"/>
                  <a:pt x="107950" y="215900"/>
                </a:cubicBezTo>
                <a:cubicBezTo>
                  <a:pt x="48260" y="215900"/>
                  <a:pt x="0" y="167640"/>
                  <a:pt x="0" y="10795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hb-0-3-o"/>
          <p:cNvSpPr/>
          <p:nvPr/>
        </p:nvSpPr>
        <p:spPr>
          <a:xfrm>
            <a:off x="8226425" y="2006600"/>
            <a:ext cx="279400" cy="2794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hb-0-3-f"/>
          <p:cNvSpPr/>
          <p:nvPr/>
        </p:nvSpPr>
        <p:spPr>
          <a:xfrm>
            <a:off x="8366125" y="2038350"/>
            <a:ext cx="107950" cy="215900"/>
          </a:xfrm>
          <a:custGeom>
            <a:avLst/>
            <a:gdLst/>
            <a:ahLst/>
            <a:cxnLst/>
            <a:rect l="0" t="0" r="r" b="b"/>
            <a:pathLst>
              <a:path w="107950" h="215900">
                <a:moveTo>
                  <a:pt x="0" y="107950"/>
                </a:moveTo>
                <a:lnTo>
                  <a:pt x="0" y="0"/>
                </a:lnTo>
                <a:cubicBezTo>
                  <a:pt x="59690" y="0"/>
                  <a:pt x="107950" y="48260"/>
                  <a:pt x="107950" y="107950"/>
                </a:cubicBezTo>
                <a:cubicBezTo>
                  <a:pt x="107950" y="167640"/>
                  <a:pt x="59690" y="215900"/>
                  <a:pt x="0" y="21590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cn-1"/>
          <p:cNvSpPr txBox="1"/>
          <p:nvPr/>
        </p:nvSpPr>
        <p:spPr>
          <a:xfrm>
            <a:off x="1090803" y="2579068"/>
            <a:ext cx="60102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实施周期</a:t>
            </a:r>
          </a:p>
        </p:txBody>
      </p:sp>
      <p:sp>
        <p:nvSpPr>
          <p:cNvPr id="31" name="cw-1"/>
          <p:cNvSpPr txBox="1"/>
          <p:nvPr/>
        </p:nvSpPr>
        <p:spPr>
          <a:xfrm>
            <a:off x="3242564" y="259867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15%</a:t>
            </a:r>
          </a:p>
        </p:txBody>
      </p:sp>
      <p:sp>
        <p:nvSpPr>
          <p:cNvPr id="32" name="hb-1-0-o"/>
          <p:cNvSpPr/>
          <p:nvPr/>
        </p:nvSpPr>
        <p:spPr>
          <a:xfrm>
            <a:off x="4321175" y="2540000"/>
            <a:ext cx="279400" cy="2794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hb-1-0-f"/>
          <p:cNvSpPr/>
          <p:nvPr/>
        </p:nvSpPr>
        <p:spPr>
          <a:xfrm>
            <a:off x="4352925" y="2571750"/>
            <a:ext cx="215900" cy="215900"/>
          </a:xfrm>
          <a:custGeom>
            <a:avLst/>
            <a:gdLst/>
            <a:ahLst/>
            <a:cxnLst/>
            <a:rect l="0" t="0" r="r" b="b"/>
            <a:pathLst>
              <a:path w="215900" h="215900">
                <a:moveTo>
                  <a:pt x="107950" y="107950"/>
                </a:moveTo>
                <a:lnTo>
                  <a:pt x="107950" y="0"/>
                </a:lnTo>
                <a:cubicBezTo>
                  <a:pt x="167640" y="0"/>
                  <a:pt x="215900" y="48260"/>
                  <a:pt x="215900" y="107950"/>
                </a:cubicBezTo>
                <a:cubicBezTo>
                  <a:pt x="215900" y="167640"/>
                  <a:pt x="167640" y="215900"/>
                  <a:pt x="107950" y="215900"/>
                </a:cubicBezTo>
                <a:cubicBezTo>
                  <a:pt x="48260" y="215900"/>
                  <a:pt x="0" y="167640"/>
                  <a:pt x="0" y="10795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hb-1-1-o"/>
          <p:cNvSpPr/>
          <p:nvPr/>
        </p:nvSpPr>
        <p:spPr>
          <a:xfrm>
            <a:off x="5622925" y="2540000"/>
            <a:ext cx="279400" cy="2794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hb-1-1-f"/>
          <p:cNvSpPr/>
          <p:nvPr/>
        </p:nvSpPr>
        <p:spPr>
          <a:xfrm>
            <a:off x="5762625" y="2571750"/>
            <a:ext cx="107950" cy="215900"/>
          </a:xfrm>
          <a:custGeom>
            <a:avLst/>
            <a:gdLst/>
            <a:ahLst/>
            <a:cxnLst/>
            <a:rect l="0" t="0" r="r" b="b"/>
            <a:pathLst>
              <a:path w="107950" h="215900">
                <a:moveTo>
                  <a:pt x="0" y="107950"/>
                </a:moveTo>
                <a:lnTo>
                  <a:pt x="0" y="0"/>
                </a:lnTo>
                <a:cubicBezTo>
                  <a:pt x="59690" y="0"/>
                  <a:pt x="107950" y="48260"/>
                  <a:pt x="107950" y="107950"/>
                </a:cubicBezTo>
                <a:cubicBezTo>
                  <a:pt x="107950" y="167640"/>
                  <a:pt x="59690" y="215900"/>
                  <a:pt x="0" y="21590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hb-1-2-o"/>
          <p:cNvSpPr/>
          <p:nvPr/>
        </p:nvSpPr>
        <p:spPr>
          <a:xfrm>
            <a:off x="6924675" y="2540000"/>
            <a:ext cx="279400" cy="2794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hb-1-2-f"/>
          <p:cNvSpPr/>
          <p:nvPr/>
        </p:nvSpPr>
        <p:spPr>
          <a:xfrm>
            <a:off x="6956425" y="2571750"/>
            <a:ext cx="215900" cy="2159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hb-1-3-o"/>
          <p:cNvSpPr/>
          <p:nvPr/>
        </p:nvSpPr>
        <p:spPr>
          <a:xfrm>
            <a:off x="8226425" y="2540000"/>
            <a:ext cx="279400" cy="2794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hb-1-3-f"/>
          <p:cNvSpPr/>
          <p:nvPr/>
        </p:nvSpPr>
        <p:spPr>
          <a:xfrm>
            <a:off x="8258175" y="2571750"/>
            <a:ext cx="215900" cy="215900"/>
          </a:xfrm>
          <a:custGeom>
            <a:avLst/>
            <a:gdLst/>
            <a:ahLst/>
            <a:cxnLst/>
            <a:rect l="0" t="0" r="r" b="b"/>
            <a:pathLst>
              <a:path w="215900" h="215900">
                <a:moveTo>
                  <a:pt x="107950" y="107950"/>
                </a:moveTo>
                <a:lnTo>
                  <a:pt x="107950" y="0"/>
                </a:lnTo>
                <a:cubicBezTo>
                  <a:pt x="167640" y="0"/>
                  <a:pt x="215900" y="48260"/>
                  <a:pt x="215900" y="107950"/>
                </a:cubicBezTo>
                <a:cubicBezTo>
                  <a:pt x="215900" y="167640"/>
                  <a:pt x="167640" y="215900"/>
                  <a:pt x="107950" y="215900"/>
                </a:cubicBezTo>
                <a:cubicBezTo>
                  <a:pt x="48260" y="215900"/>
                  <a:pt x="0" y="167640"/>
                  <a:pt x="0" y="10795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row-2"/>
          <p:cNvSpPr/>
          <p:nvPr/>
        </p:nvSpPr>
        <p:spPr>
          <a:xfrm>
            <a:off x="952500" y="2971800"/>
            <a:ext cx="8204200" cy="482600"/>
          </a:xfrm>
          <a:custGeom>
            <a:avLst/>
            <a:gdLst/>
            <a:ahLst/>
            <a:cxnLst/>
            <a:rect l="0" t="0" r="r" b="b"/>
            <a:pathLst>
              <a:path w="8204200" h="482600">
                <a:moveTo>
                  <a:pt x="101600" y="0"/>
                </a:moveTo>
                <a:lnTo>
                  <a:pt x="8102600" y="0"/>
                </a:lnTo>
                <a:cubicBezTo>
                  <a:pt x="8158734" y="0"/>
                  <a:pt x="8204200" y="45466"/>
                  <a:pt x="8204200" y="101600"/>
                </a:cubicBezTo>
                <a:lnTo>
                  <a:pt x="8204200" y="381000"/>
                </a:lnTo>
                <a:cubicBezTo>
                  <a:pt x="8204200" y="437134"/>
                  <a:pt x="8158734" y="482600"/>
                  <a:pt x="81026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EF3FA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cn-2"/>
          <p:cNvSpPr txBox="1"/>
          <p:nvPr/>
        </p:nvSpPr>
        <p:spPr>
          <a:xfrm>
            <a:off x="1090803" y="3112468"/>
            <a:ext cx="35337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价格</a:t>
            </a:r>
          </a:p>
        </p:txBody>
      </p:sp>
      <p:sp>
        <p:nvSpPr>
          <p:cNvPr id="42" name="cw-2"/>
          <p:cNvSpPr txBox="1"/>
          <p:nvPr/>
        </p:nvSpPr>
        <p:spPr>
          <a:xfrm>
            <a:off x="3242564" y="313207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20%</a:t>
            </a:r>
          </a:p>
        </p:txBody>
      </p:sp>
      <p:sp>
        <p:nvSpPr>
          <p:cNvPr id="43" name="hb-2-0-o"/>
          <p:cNvSpPr/>
          <p:nvPr/>
        </p:nvSpPr>
        <p:spPr>
          <a:xfrm>
            <a:off x="4321175" y="3073400"/>
            <a:ext cx="279400" cy="2794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hb-2-0-f"/>
          <p:cNvSpPr/>
          <p:nvPr/>
        </p:nvSpPr>
        <p:spPr>
          <a:xfrm>
            <a:off x="4460875" y="3105150"/>
            <a:ext cx="107950" cy="215900"/>
          </a:xfrm>
          <a:custGeom>
            <a:avLst/>
            <a:gdLst/>
            <a:ahLst/>
            <a:cxnLst/>
            <a:rect l="0" t="0" r="r" b="b"/>
            <a:pathLst>
              <a:path w="107950" h="215900">
                <a:moveTo>
                  <a:pt x="0" y="107950"/>
                </a:moveTo>
                <a:lnTo>
                  <a:pt x="0" y="0"/>
                </a:lnTo>
                <a:cubicBezTo>
                  <a:pt x="59690" y="0"/>
                  <a:pt x="107950" y="48260"/>
                  <a:pt x="107950" y="107950"/>
                </a:cubicBezTo>
                <a:cubicBezTo>
                  <a:pt x="107950" y="167640"/>
                  <a:pt x="59690" y="215900"/>
                  <a:pt x="0" y="21590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hb-2-1-o"/>
          <p:cNvSpPr/>
          <p:nvPr/>
        </p:nvSpPr>
        <p:spPr>
          <a:xfrm>
            <a:off x="5622925" y="3073400"/>
            <a:ext cx="279400" cy="2794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hb-2-1-f"/>
          <p:cNvSpPr/>
          <p:nvPr/>
        </p:nvSpPr>
        <p:spPr>
          <a:xfrm>
            <a:off x="5654675" y="3105150"/>
            <a:ext cx="215900" cy="215900"/>
          </a:xfrm>
          <a:custGeom>
            <a:avLst/>
            <a:gdLst/>
            <a:ahLst/>
            <a:cxnLst/>
            <a:rect l="0" t="0" r="r" b="b"/>
            <a:pathLst>
              <a:path w="215900" h="215900">
                <a:moveTo>
                  <a:pt x="107950" y="107950"/>
                </a:moveTo>
                <a:lnTo>
                  <a:pt x="107950" y="0"/>
                </a:lnTo>
                <a:cubicBezTo>
                  <a:pt x="167640" y="0"/>
                  <a:pt x="215900" y="48260"/>
                  <a:pt x="215900" y="107950"/>
                </a:cubicBezTo>
                <a:cubicBezTo>
                  <a:pt x="215900" y="167640"/>
                  <a:pt x="167640" y="215900"/>
                  <a:pt x="107950" y="215900"/>
                </a:cubicBezTo>
                <a:cubicBezTo>
                  <a:pt x="48260" y="215900"/>
                  <a:pt x="0" y="167640"/>
                  <a:pt x="0" y="10795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hb-2-2-o"/>
          <p:cNvSpPr/>
          <p:nvPr/>
        </p:nvSpPr>
        <p:spPr>
          <a:xfrm>
            <a:off x="6924675" y="3073400"/>
            <a:ext cx="279400" cy="2794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hb-2-2-f"/>
          <p:cNvSpPr/>
          <p:nvPr/>
        </p:nvSpPr>
        <p:spPr>
          <a:xfrm>
            <a:off x="6956425" y="3105150"/>
            <a:ext cx="215900" cy="215900"/>
          </a:xfrm>
          <a:custGeom>
            <a:avLst/>
            <a:gdLst/>
            <a:ahLst/>
            <a:cxnLst/>
            <a:rect l="0" t="0" r="r" b="b"/>
            <a:pathLst>
              <a:path w="215900" h="215900">
                <a:moveTo>
                  <a:pt x="107950" y="107950"/>
                </a:moveTo>
                <a:lnTo>
                  <a:pt x="107950" y="0"/>
                </a:lnTo>
                <a:cubicBezTo>
                  <a:pt x="167640" y="0"/>
                  <a:pt x="215900" y="48260"/>
                  <a:pt x="215900" y="107950"/>
                </a:cubicBezTo>
                <a:cubicBezTo>
                  <a:pt x="215900" y="167640"/>
                  <a:pt x="167640" y="215900"/>
                  <a:pt x="107950" y="215900"/>
                </a:cubicBezTo>
                <a:cubicBezTo>
                  <a:pt x="48260" y="215900"/>
                  <a:pt x="0" y="167640"/>
                  <a:pt x="0" y="10795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hb-2-3-o"/>
          <p:cNvSpPr/>
          <p:nvPr/>
        </p:nvSpPr>
        <p:spPr>
          <a:xfrm>
            <a:off x="8226425" y="3073400"/>
            <a:ext cx="279400" cy="2794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hb-2-3-f"/>
          <p:cNvSpPr/>
          <p:nvPr/>
        </p:nvSpPr>
        <p:spPr>
          <a:xfrm>
            <a:off x="8258175" y="3105150"/>
            <a:ext cx="215900" cy="2159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cn-3"/>
          <p:cNvSpPr txBox="1"/>
          <p:nvPr/>
        </p:nvSpPr>
        <p:spPr>
          <a:xfrm>
            <a:off x="1090803" y="3645868"/>
            <a:ext cx="60102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扩展能力</a:t>
            </a:r>
          </a:p>
        </p:txBody>
      </p:sp>
      <p:sp>
        <p:nvSpPr>
          <p:cNvPr id="52" name="cw-3"/>
          <p:cNvSpPr txBox="1"/>
          <p:nvPr/>
        </p:nvSpPr>
        <p:spPr>
          <a:xfrm>
            <a:off x="3242564" y="366547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15%</a:t>
            </a:r>
          </a:p>
        </p:txBody>
      </p:sp>
      <p:sp>
        <p:nvSpPr>
          <p:cNvPr id="53" name="hb-3-0-o"/>
          <p:cNvSpPr/>
          <p:nvPr/>
        </p:nvSpPr>
        <p:spPr>
          <a:xfrm>
            <a:off x="4321175" y="3606800"/>
            <a:ext cx="279400" cy="2794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hb-3-0-f"/>
          <p:cNvSpPr/>
          <p:nvPr/>
        </p:nvSpPr>
        <p:spPr>
          <a:xfrm>
            <a:off x="4352925" y="3638550"/>
            <a:ext cx="215900" cy="2159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hb-3-1-o"/>
          <p:cNvSpPr/>
          <p:nvPr/>
        </p:nvSpPr>
        <p:spPr>
          <a:xfrm>
            <a:off x="5622925" y="3606800"/>
            <a:ext cx="279400" cy="2794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hb-3-1-f"/>
          <p:cNvSpPr/>
          <p:nvPr/>
        </p:nvSpPr>
        <p:spPr>
          <a:xfrm>
            <a:off x="5654675" y="3638550"/>
            <a:ext cx="215900" cy="215900"/>
          </a:xfrm>
          <a:custGeom>
            <a:avLst/>
            <a:gdLst/>
            <a:ahLst/>
            <a:cxnLst/>
            <a:rect l="0" t="0" r="r" b="b"/>
            <a:pathLst>
              <a:path w="215900" h="215900">
                <a:moveTo>
                  <a:pt x="107950" y="107950"/>
                </a:moveTo>
                <a:lnTo>
                  <a:pt x="107950" y="0"/>
                </a:lnTo>
                <a:cubicBezTo>
                  <a:pt x="167640" y="0"/>
                  <a:pt x="215900" y="48260"/>
                  <a:pt x="215900" y="107950"/>
                </a:cubicBezTo>
                <a:cubicBezTo>
                  <a:pt x="215900" y="167640"/>
                  <a:pt x="167640" y="215900"/>
                  <a:pt x="107950" y="215900"/>
                </a:cubicBezTo>
                <a:cubicBezTo>
                  <a:pt x="48260" y="215900"/>
                  <a:pt x="0" y="167640"/>
                  <a:pt x="0" y="10795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hb-3-2-o"/>
          <p:cNvSpPr/>
          <p:nvPr/>
        </p:nvSpPr>
        <p:spPr>
          <a:xfrm>
            <a:off x="6924675" y="3606800"/>
            <a:ext cx="279400" cy="2794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hb-3-2-f"/>
          <p:cNvSpPr/>
          <p:nvPr/>
        </p:nvSpPr>
        <p:spPr>
          <a:xfrm>
            <a:off x="7064375" y="3638550"/>
            <a:ext cx="107950" cy="215900"/>
          </a:xfrm>
          <a:custGeom>
            <a:avLst/>
            <a:gdLst/>
            <a:ahLst/>
            <a:cxnLst/>
            <a:rect l="0" t="0" r="r" b="b"/>
            <a:pathLst>
              <a:path w="107950" h="215900">
                <a:moveTo>
                  <a:pt x="0" y="107950"/>
                </a:moveTo>
                <a:lnTo>
                  <a:pt x="0" y="0"/>
                </a:lnTo>
                <a:cubicBezTo>
                  <a:pt x="59690" y="0"/>
                  <a:pt x="107950" y="48260"/>
                  <a:pt x="107950" y="107950"/>
                </a:cubicBezTo>
                <a:cubicBezTo>
                  <a:pt x="107950" y="167640"/>
                  <a:pt x="59690" y="215900"/>
                  <a:pt x="0" y="21590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hb-3-3-o"/>
          <p:cNvSpPr/>
          <p:nvPr/>
        </p:nvSpPr>
        <p:spPr>
          <a:xfrm>
            <a:off x="8226425" y="3606800"/>
            <a:ext cx="279400" cy="2794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hb-3-3-f"/>
          <p:cNvSpPr/>
          <p:nvPr/>
        </p:nvSpPr>
        <p:spPr>
          <a:xfrm>
            <a:off x="8366125" y="3638550"/>
            <a:ext cx="107950" cy="215900"/>
          </a:xfrm>
          <a:custGeom>
            <a:avLst/>
            <a:gdLst/>
            <a:ahLst/>
            <a:cxnLst/>
            <a:rect l="0" t="0" r="r" b="b"/>
            <a:pathLst>
              <a:path w="107950" h="215900">
                <a:moveTo>
                  <a:pt x="0" y="107950"/>
                </a:moveTo>
                <a:lnTo>
                  <a:pt x="0" y="0"/>
                </a:lnTo>
                <a:cubicBezTo>
                  <a:pt x="59690" y="0"/>
                  <a:pt x="107950" y="48260"/>
                  <a:pt x="107950" y="107950"/>
                </a:cubicBezTo>
                <a:cubicBezTo>
                  <a:pt x="107950" y="167640"/>
                  <a:pt x="59690" y="215900"/>
                  <a:pt x="0" y="21590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row-4"/>
          <p:cNvSpPr/>
          <p:nvPr/>
        </p:nvSpPr>
        <p:spPr>
          <a:xfrm>
            <a:off x="952500" y="4038600"/>
            <a:ext cx="8204200" cy="482600"/>
          </a:xfrm>
          <a:custGeom>
            <a:avLst/>
            <a:gdLst/>
            <a:ahLst/>
            <a:cxnLst/>
            <a:rect l="0" t="0" r="r" b="b"/>
            <a:pathLst>
              <a:path w="8204200" h="482600">
                <a:moveTo>
                  <a:pt x="101600" y="0"/>
                </a:moveTo>
                <a:lnTo>
                  <a:pt x="8102600" y="0"/>
                </a:lnTo>
                <a:cubicBezTo>
                  <a:pt x="8158734" y="0"/>
                  <a:pt x="8204200" y="45466"/>
                  <a:pt x="8204200" y="101600"/>
                </a:cubicBezTo>
                <a:lnTo>
                  <a:pt x="8204200" y="381000"/>
                </a:lnTo>
                <a:cubicBezTo>
                  <a:pt x="8204200" y="437134"/>
                  <a:pt x="8158734" y="482600"/>
                  <a:pt x="81026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EF3FA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cn-4"/>
          <p:cNvSpPr txBox="1"/>
          <p:nvPr/>
        </p:nvSpPr>
        <p:spPr>
          <a:xfrm>
            <a:off x="1090803" y="4179268"/>
            <a:ext cx="60102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本地服务</a:t>
            </a:r>
          </a:p>
        </p:txBody>
      </p:sp>
      <p:sp>
        <p:nvSpPr>
          <p:cNvPr id="63" name="cw-4"/>
          <p:cNvSpPr txBox="1"/>
          <p:nvPr/>
        </p:nvSpPr>
        <p:spPr>
          <a:xfrm>
            <a:off x="3242564" y="419887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15%</a:t>
            </a:r>
          </a:p>
        </p:txBody>
      </p:sp>
      <p:sp>
        <p:nvSpPr>
          <p:cNvPr id="64" name="hb-4-0-o"/>
          <p:cNvSpPr/>
          <p:nvPr/>
        </p:nvSpPr>
        <p:spPr>
          <a:xfrm>
            <a:off x="4321175" y="4140200"/>
            <a:ext cx="279400" cy="2794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hb-4-0-f"/>
          <p:cNvSpPr/>
          <p:nvPr/>
        </p:nvSpPr>
        <p:spPr>
          <a:xfrm>
            <a:off x="4352925" y="4171950"/>
            <a:ext cx="215900" cy="215900"/>
          </a:xfrm>
          <a:custGeom>
            <a:avLst/>
            <a:gdLst/>
            <a:ahLst/>
            <a:cxnLst/>
            <a:rect l="0" t="0" r="r" b="b"/>
            <a:pathLst>
              <a:path w="215900" h="215900">
                <a:moveTo>
                  <a:pt x="107950" y="107950"/>
                </a:moveTo>
                <a:lnTo>
                  <a:pt x="107950" y="0"/>
                </a:lnTo>
                <a:cubicBezTo>
                  <a:pt x="167640" y="0"/>
                  <a:pt x="215900" y="48260"/>
                  <a:pt x="215900" y="107950"/>
                </a:cubicBezTo>
                <a:cubicBezTo>
                  <a:pt x="215900" y="167640"/>
                  <a:pt x="167640" y="215900"/>
                  <a:pt x="107950" y="215900"/>
                </a:cubicBezTo>
                <a:cubicBezTo>
                  <a:pt x="48260" y="215900"/>
                  <a:pt x="0" y="167640"/>
                  <a:pt x="0" y="10795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hb-4-1-o"/>
          <p:cNvSpPr/>
          <p:nvPr/>
        </p:nvSpPr>
        <p:spPr>
          <a:xfrm>
            <a:off x="5622925" y="4140200"/>
            <a:ext cx="279400" cy="2794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hb-4-1-f"/>
          <p:cNvSpPr/>
          <p:nvPr/>
        </p:nvSpPr>
        <p:spPr>
          <a:xfrm>
            <a:off x="5654675" y="4171950"/>
            <a:ext cx="215900" cy="2159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hb-4-2-o"/>
          <p:cNvSpPr/>
          <p:nvPr/>
        </p:nvSpPr>
        <p:spPr>
          <a:xfrm>
            <a:off x="6924675" y="4140200"/>
            <a:ext cx="279400" cy="2794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hb-4-2-f"/>
          <p:cNvSpPr/>
          <p:nvPr/>
        </p:nvSpPr>
        <p:spPr>
          <a:xfrm>
            <a:off x="7064375" y="4171950"/>
            <a:ext cx="107950" cy="215900"/>
          </a:xfrm>
          <a:custGeom>
            <a:avLst/>
            <a:gdLst/>
            <a:ahLst/>
            <a:cxnLst/>
            <a:rect l="0" t="0" r="r" b="b"/>
            <a:pathLst>
              <a:path w="107950" h="215900">
                <a:moveTo>
                  <a:pt x="0" y="107950"/>
                </a:moveTo>
                <a:lnTo>
                  <a:pt x="0" y="0"/>
                </a:lnTo>
                <a:cubicBezTo>
                  <a:pt x="59690" y="0"/>
                  <a:pt x="107950" y="48260"/>
                  <a:pt x="107950" y="107950"/>
                </a:cubicBezTo>
                <a:cubicBezTo>
                  <a:pt x="107950" y="167640"/>
                  <a:pt x="59690" y="215900"/>
                  <a:pt x="0" y="21590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hb-4-3-o"/>
          <p:cNvSpPr/>
          <p:nvPr/>
        </p:nvSpPr>
        <p:spPr>
          <a:xfrm>
            <a:off x="8226425" y="4140200"/>
            <a:ext cx="279400" cy="2794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hb-4-3-f"/>
          <p:cNvSpPr/>
          <p:nvPr/>
        </p:nvSpPr>
        <p:spPr>
          <a:xfrm>
            <a:off x="8258175" y="4171950"/>
            <a:ext cx="215900" cy="215900"/>
          </a:xfrm>
          <a:custGeom>
            <a:avLst/>
            <a:gdLst/>
            <a:ahLst/>
            <a:cxnLst/>
            <a:rect l="0" t="0" r="r" b="b"/>
            <a:pathLst>
              <a:path w="215900" h="215900">
                <a:moveTo>
                  <a:pt x="107950" y="107950"/>
                </a:moveTo>
                <a:lnTo>
                  <a:pt x="107950" y="0"/>
                </a:lnTo>
                <a:cubicBezTo>
                  <a:pt x="167640" y="0"/>
                  <a:pt x="215900" y="48260"/>
                  <a:pt x="215900" y="107950"/>
                </a:cubicBezTo>
                <a:cubicBezTo>
                  <a:pt x="215900" y="167640"/>
                  <a:pt x="167640" y="215900"/>
                  <a:pt x="107950" y="215900"/>
                </a:cubicBezTo>
                <a:cubicBezTo>
                  <a:pt x="48260" y="215900"/>
                  <a:pt x="0" y="167640"/>
                  <a:pt x="0" y="10795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cn-5"/>
          <p:cNvSpPr txBox="1"/>
          <p:nvPr/>
        </p:nvSpPr>
        <p:spPr>
          <a:xfrm>
            <a:off x="1090803" y="4712668"/>
            <a:ext cx="60102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行业案例</a:t>
            </a:r>
          </a:p>
        </p:txBody>
      </p:sp>
      <p:sp>
        <p:nvSpPr>
          <p:cNvPr id="73" name="cw-5"/>
          <p:cNvSpPr txBox="1"/>
          <p:nvPr/>
        </p:nvSpPr>
        <p:spPr>
          <a:xfrm>
            <a:off x="3242564" y="473227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10%</a:t>
            </a:r>
          </a:p>
        </p:txBody>
      </p:sp>
      <p:sp>
        <p:nvSpPr>
          <p:cNvPr id="74" name="hb-5-0-o"/>
          <p:cNvSpPr/>
          <p:nvPr/>
        </p:nvSpPr>
        <p:spPr>
          <a:xfrm>
            <a:off x="4321175" y="4673600"/>
            <a:ext cx="279400" cy="2794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hb-5-0-f"/>
          <p:cNvSpPr/>
          <p:nvPr/>
        </p:nvSpPr>
        <p:spPr>
          <a:xfrm>
            <a:off x="4352925" y="4705350"/>
            <a:ext cx="215900" cy="2159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hb-5-1-o"/>
          <p:cNvSpPr/>
          <p:nvPr/>
        </p:nvSpPr>
        <p:spPr>
          <a:xfrm>
            <a:off x="5622925" y="4673600"/>
            <a:ext cx="279400" cy="2794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hb-5-1-f"/>
          <p:cNvSpPr/>
          <p:nvPr/>
        </p:nvSpPr>
        <p:spPr>
          <a:xfrm>
            <a:off x="5654675" y="4705350"/>
            <a:ext cx="215900" cy="215900"/>
          </a:xfrm>
          <a:custGeom>
            <a:avLst/>
            <a:gdLst/>
            <a:ahLst/>
            <a:cxnLst/>
            <a:rect l="0" t="0" r="r" b="b"/>
            <a:pathLst>
              <a:path w="215900" h="215900">
                <a:moveTo>
                  <a:pt x="107950" y="107950"/>
                </a:moveTo>
                <a:lnTo>
                  <a:pt x="107950" y="0"/>
                </a:lnTo>
                <a:cubicBezTo>
                  <a:pt x="167640" y="0"/>
                  <a:pt x="215900" y="48260"/>
                  <a:pt x="215900" y="107950"/>
                </a:cubicBezTo>
                <a:cubicBezTo>
                  <a:pt x="215900" y="167640"/>
                  <a:pt x="167640" y="215900"/>
                  <a:pt x="107950" y="215900"/>
                </a:cubicBezTo>
                <a:cubicBezTo>
                  <a:pt x="48260" y="215900"/>
                  <a:pt x="0" y="167640"/>
                  <a:pt x="0" y="10795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hb-5-2-o"/>
          <p:cNvSpPr/>
          <p:nvPr/>
        </p:nvSpPr>
        <p:spPr>
          <a:xfrm>
            <a:off x="6924675" y="4673600"/>
            <a:ext cx="279400" cy="2794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hb-5-2-f"/>
          <p:cNvSpPr/>
          <p:nvPr/>
        </p:nvSpPr>
        <p:spPr>
          <a:xfrm>
            <a:off x="7064375" y="4705350"/>
            <a:ext cx="107950" cy="215900"/>
          </a:xfrm>
          <a:custGeom>
            <a:avLst/>
            <a:gdLst/>
            <a:ahLst/>
            <a:cxnLst/>
            <a:rect l="0" t="0" r="r" b="b"/>
            <a:pathLst>
              <a:path w="107950" h="215900">
                <a:moveTo>
                  <a:pt x="0" y="107950"/>
                </a:moveTo>
                <a:lnTo>
                  <a:pt x="0" y="0"/>
                </a:lnTo>
                <a:cubicBezTo>
                  <a:pt x="59690" y="0"/>
                  <a:pt x="107950" y="48260"/>
                  <a:pt x="107950" y="107950"/>
                </a:cubicBezTo>
                <a:cubicBezTo>
                  <a:pt x="107950" y="167640"/>
                  <a:pt x="59690" y="215900"/>
                  <a:pt x="0" y="21590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hb-5-3-o"/>
          <p:cNvSpPr/>
          <p:nvPr/>
        </p:nvSpPr>
        <p:spPr>
          <a:xfrm>
            <a:off x="8226425" y="4673600"/>
            <a:ext cx="279400" cy="2794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hb-5-3-f"/>
          <p:cNvSpPr/>
          <p:nvPr/>
        </p:nvSpPr>
        <p:spPr>
          <a:xfrm>
            <a:off x="8366125" y="4705350"/>
            <a:ext cx="107950" cy="107950"/>
          </a:xfrm>
          <a:custGeom>
            <a:avLst/>
            <a:gdLst/>
            <a:ahLst/>
            <a:cxnLst/>
            <a:rect l="0" t="0" r="r" b="b"/>
            <a:pathLst>
              <a:path w="107950" h="107950">
                <a:moveTo>
                  <a:pt x="0" y="107950"/>
                </a:moveTo>
                <a:lnTo>
                  <a:pt x="0" y="0"/>
                </a:lnTo>
                <a:cubicBezTo>
                  <a:pt x="59690" y="0"/>
                  <a:pt x="107950" y="48260"/>
                  <a:pt x="107950" y="10795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tot-h"/>
          <p:cNvSpPr txBox="1"/>
          <p:nvPr/>
        </p:nvSpPr>
        <p:spPr>
          <a:xfrm>
            <a:off x="1088136" y="5339270"/>
            <a:ext cx="7353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加权总分</a:t>
            </a:r>
          </a:p>
        </p:txBody>
      </p:sp>
      <p:sp>
        <p:nvSpPr>
          <p:cNvPr id="83" name="tot-0"/>
          <p:cNvSpPr txBox="1"/>
          <p:nvPr/>
        </p:nvSpPr>
        <p:spPr>
          <a:xfrm>
            <a:off x="4082034" y="5251894"/>
            <a:ext cx="757682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9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82.5</a:t>
            </a:r>
          </a:p>
        </p:txBody>
      </p:sp>
      <p:sp>
        <p:nvSpPr>
          <p:cNvPr id="84" name="tot-1"/>
          <p:cNvSpPr txBox="1"/>
          <p:nvPr/>
        </p:nvSpPr>
        <p:spPr>
          <a:xfrm>
            <a:off x="5518912" y="5251894"/>
            <a:ext cx="487426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9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75</a:t>
            </a:r>
          </a:p>
        </p:txBody>
      </p:sp>
      <p:sp>
        <p:nvSpPr>
          <p:cNvPr id="85" name="tot-2"/>
          <p:cNvSpPr txBox="1"/>
          <p:nvPr/>
        </p:nvSpPr>
        <p:spPr>
          <a:xfrm>
            <a:off x="6685534" y="5251894"/>
            <a:ext cx="757682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9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68.8</a:t>
            </a:r>
          </a:p>
        </p:txBody>
      </p:sp>
      <p:sp>
        <p:nvSpPr>
          <p:cNvPr id="86" name="tot-3"/>
          <p:cNvSpPr txBox="1"/>
          <p:nvPr/>
        </p:nvSpPr>
        <p:spPr>
          <a:xfrm>
            <a:off x="8122412" y="5251894"/>
            <a:ext cx="487426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9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65</a:t>
            </a:r>
          </a:p>
        </p:txBody>
      </p:sp>
      <p:sp>
        <p:nvSpPr>
          <p:cNvPr id="87" name="side-bar"/>
          <p:cNvSpPr/>
          <p:nvPr/>
        </p:nvSpPr>
        <p:spPr>
          <a:xfrm>
            <a:off x="9398000" y="15875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side-h"/>
          <p:cNvSpPr txBox="1"/>
          <p:nvPr/>
        </p:nvSpPr>
        <p:spPr>
          <a:xfrm>
            <a:off x="9556750" y="1594644"/>
            <a:ext cx="6572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怎么读</a:t>
            </a:r>
          </a:p>
        </p:txBody>
      </p:sp>
      <p:sp>
        <p:nvSpPr>
          <p:cNvPr id="89" name="side-p"/>
          <p:cNvSpPr txBox="1"/>
          <p:nvPr/>
        </p:nvSpPr>
        <p:spPr>
          <a:xfrm>
            <a:off x="9563989" y="1885045"/>
            <a:ext cx="974407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球越满，这一项越强</a:t>
            </a:r>
          </a:p>
        </p:txBody>
      </p:sp>
      <p:sp>
        <p:nvSpPr>
          <p:cNvPr id="90" name="lg-0-o"/>
          <p:cNvSpPr/>
          <p:nvPr/>
        </p:nvSpPr>
        <p:spPr>
          <a:xfrm>
            <a:off x="9499600" y="2247900"/>
            <a:ext cx="228600" cy="2286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lgt-0"/>
          <p:cNvSpPr txBox="1"/>
          <p:nvPr/>
        </p:nvSpPr>
        <p:spPr>
          <a:xfrm>
            <a:off x="9817608" y="2281174"/>
            <a:ext cx="6807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0 分 · 缺失</a:t>
            </a:r>
          </a:p>
        </p:txBody>
      </p:sp>
      <p:sp>
        <p:nvSpPr>
          <p:cNvPr id="92" name="lg-1-o"/>
          <p:cNvSpPr/>
          <p:nvPr/>
        </p:nvSpPr>
        <p:spPr>
          <a:xfrm>
            <a:off x="9499600" y="2616200"/>
            <a:ext cx="228600" cy="2286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lg-1-f"/>
          <p:cNvSpPr/>
          <p:nvPr/>
        </p:nvSpPr>
        <p:spPr>
          <a:xfrm>
            <a:off x="9613900" y="2647950"/>
            <a:ext cx="82550" cy="82550"/>
          </a:xfrm>
          <a:custGeom>
            <a:avLst/>
            <a:gdLst/>
            <a:ahLst/>
            <a:cxnLst/>
            <a:rect l="0" t="0" r="r" b="b"/>
            <a:pathLst>
              <a:path w="82550" h="82550">
                <a:moveTo>
                  <a:pt x="0" y="82550"/>
                </a:moveTo>
                <a:lnTo>
                  <a:pt x="0" y="0"/>
                </a:lnTo>
                <a:cubicBezTo>
                  <a:pt x="45720" y="0"/>
                  <a:pt x="82550" y="36830"/>
                  <a:pt x="82550" y="8255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lgt-1"/>
          <p:cNvSpPr txBox="1"/>
          <p:nvPr/>
        </p:nvSpPr>
        <p:spPr>
          <a:xfrm>
            <a:off x="9817608" y="2649474"/>
            <a:ext cx="6807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1 分 · 较弱</a:t>
            </a:r>
          </a:p>
        </p:txBody>
      </p:sp>
      <p:sp>
        <p:nvSpPr>
          <p:cNvPr id="95" name="lg-2-o"/>
          <p:cNvSpPr/>
          <p:nvPr/>
        </p:nvSpPr>
        <p:spPr>
          <a:xfrm>
            <a:off x="9499600" y="2984500"/>
            <a:ext cx="228600" cy="2286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lg-2-f"/>
          <p:cNvSpPr/>
          <p:nvPr/>
        </p:nvSpPr>
        <p:spPr>
          <a:xfrm>
            <a:off x="9613900" y="3016250"/>
            <a:ext cx="82550" cy="165100"/>
          </a:xfrm>
          <a:custGeom>
            <a:avLst/>
            <a:gdLst/>
            <a:ahLst/>
            <a:cxnLst/>
            <a:rect l="0" t="0" r="r" b="b"/>
            <a:pathLst>
              <a:path w="82550" h="165100">
                <a:moveTo>
                  <a:pt x="0" y="82550"/>
                </a:moveTo>
                <a:lnTo>
                  <a:pt x="0" y="0"/>
                </a:lnTo>
                <a:cubicBezTo>
                  <a:pt x="45720" y="0"/>
                  <a:pt x="82550" y="36830"/>
                  <a:pt x="82550" y="82550"/>
                </a:cubicBezTo>
                <a:cubicBezTo>
                  <a:pt x="82550" y="128270"/>
                  <a:pt x="45720" y="165100"/>
                  <a:pt x="0" y="16510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lgt-2"/>
          <p:cNvSpPr txBox="1"/>
          <p:nvPr/>
        </p:nvSpPr>
        <p:spPr>
          <a:xfrm>
            <a:off x="9817608" y="3017774"/>
            <a:ext cx="6807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2 分 · 一般</a:t>
            </a:r>
          </a:p>
        </p:txBody>
      </p:sp>
      <p:sp>
        <p:nvSpPr>
          <p:cNvPr id="98" name="lg-3-o"/>
          <p:cNvSpPr/>
          <p:nvPr/>
        </p:nvSpPr>
        <p:spPr>
          <a:xfrm>
            <a:off x="9499600" y="3352800"/>
            <a:ext cx="228600" cy="2286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9" name="lg-3-f"/>
          <p:cNvSpPr/>
          <p:nvPr/>
        </p:nvSpPr>
        <p:spPr>
          <a:xfrm>
            <a:off x="9531350" y="33845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82550" y="82550"/>
                </a:moveTo>
                <a:lnTo>
                  <a:pt x="82550" y="0"/>
                </a:lnTo>
                <a:cubicBezTo>
                  <a:pt x="128270" y="0"/>
                  <a:pt x="165100" y="36830"/>
                  <a:pt x="165100" y="82550"/>
                </a:cubicBezTo>
                <a:cubicBezTo>
                  <a:pt x="165100" y="128270"/>
                  <a:pt x="128270" y="165100"/>
                  <a:pt x="82550" y="165100"/>
                </a:cubicBezTo>
                <a:cubicBezTo>
                  <a:pt x="36830" y="165100"/>
                  <a:pt x="0" y="128270"/>
                  <a:pt x="0" y="8255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lgt-3"/>
          <p:cNvSpPr txBox="1"/>
          <p:nvPr/>
        </p:nvSpPr>
        <p:spPr>
          <a:xfrm>
            <a:off x="9817608" y="3386074"/>
            <a:ext cx="6807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3 分 · 良好</a:t>
            </a:r>
          </a:p>
        </p:txBody>
      </p:sp>
      <p:sp>
        <p:nvSpPr>
          <p:cNvPr id="101" name="lg-4-o"/>
          <p:cNvSpPr/>
          <p:nvPr/>
        </p:nvSpPr>
        <p:spPr>
          <a:xfrm>
            <a:off x="9499600" y="3721100"/>
            <a:ext cx="228600" cy="2286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2" name="lg-4-f"/>
          <p:cNvSpPr/>
          <p:nvPr/>
        </p:nvSpPr>
        <p:spPr>
          <a:xfrm>
            <a:off x="9531350" y="3752850"/>
            <a:ext cx="165100" cy="1651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lgt-4"/>
          <p:cNvSpPr txBox="1"/>
          <p:nvPr/>
        </p:nvSpPr>
        <p:spPr>
          <a:xfrm>
            <a:off x="9817608" y="3754374"/>
            <a:ext cx="6807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4 分 · 领先</a:t>
            </a:r>
          </a:p>
        </p:txBody>
      </p:sp>
      <p:sp>
        <p:nvSpPr>
          <p:cNvPr id="104" name="note"/>
          <p:cNvSpPr/>
          <p:nvPr/>
        </p:nvSpPr>
        <p:spPr>
          <a:xfrm>
            <a:off x="9398000" y="4318000"/>
            <a:ext cx="1841500" cy="1270000"/>
          </a:xfrm>
          <a:custGeom>
            <a:avLst/>
            <a:gdLst/>
            <a:ahLst/>
            <a:cxnLst/>
            <a:rect l="0" t="0" r="r" b="b"/>
            <a:pathLst>
              <a:path w="1841500" h="1270000">
                <a:moveTo>
                  <a:pt x="127000" y="0"/>
                </a:moveTo>
                <a:lnTo>
                  <a:pt x="1714500" y="0"/>
                </a:lnTo>
                <a:cubicBezTo>
                  <a:pt x="1784667" y="0"/>
                  <a:pt x="1841500" y="56833"/>
                  <a:pt x="1841500" y="127000"/>
                </a:cubicBezTo>
                <a:lnTo>
                  <a:pt x="1841500" y="1143000"/>
                </a:lnTo>
                <a:cubicBezTo>
                  <a:pt x="1841500" y="1213167"/>
                  <a:pt x="1784667" y="1270000"/>
                  <a:pt x="1714500" y="1270000"/>
                </a:cubicBezTo>
                <a:lnTo>
                  <a:pt x="127000" y="1270000"/>
                </a:lnTo>
                <a:cubicBezTo>
                  <a:pt x="56833" y="1270000"/>
                  <a:pt x="0" y="1213167"/>
                  <a:pt x="0" y="1143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note-h"/>
          <p:cNvSpPr txBox="1"/>
          <p:nvPr/>
        </p:nvSpPr>
        <p:spPr>
          <a:xfrm>
            <a:off x="9550908" y="4471924"/>
            <a:ext cx="5232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5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选型结论</a:t>
            </a:r>
          </a:p>
        </p:txBody>
      </p:sp>
      <p:sp>
        <p:nvSpPr>
          <p:cNvPr id="106" name="note-v"/>
          <p:cNvSpPr txBox="1"/>
          <p:nvPr/>
        </p:nvSpPr>
        <p:spPr>
          <a:xfrm>
            <a:off x="9540240" y="4666932"/>
            <a:ext cx="98425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云帆科技</a:t>
            </a:r>
          </a:p>
        </p:txBody>
      </p:sp>
      <p:sp>
        <p:nvSpPr>
          <p:cNvPr id="107" name="note-d1"/>
          <p:cNvSpPr txBox="1"/>
          <p:nvPr/>
        </p:nvSpPr>
        <p:spPr>
          <a:xfrm>
            <a:off x="9550908" y="5030724"/>
            <a:ext cx="8026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功能和案例领先</a:t>
            </a:r>
          </a:p>
        </p:txBody>
      </p:sp>
      <p:sp>
        <p:nvSpPr>
          <p:cNvPr id="108" name="note-d2"/>
          <p:cNvSpPr txBox="1"/>
          <p:nvPr/>
        </p:nvSpPr>
        <p:spPr>
          <a:xfrm>
            <a:off x="9550908" y="5221224"/>
            <a:ext cx="11318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价格偏高，谈判压 10%</a:t>
            </a:r>
          </a:p>
        </p:txBody>
      </p:sp>
      <p:cxnSp>
        <p:nvCxnSpPr>
          <p:cNvPr id="109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0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哈维球 · 供应商选型</a:t>
            </a:r>
          </a:p>
        </p:txBody>
      </p:sp>
      <p:sp>
        <p:nvSpPr>
          <p:cNvPr id="111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3171444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开始 · 停止 · 继续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810131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START STOP CONTINUE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646795" y="673132"/>
            <a:ext cx="29739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季度复盘后团队的三张清单——停止清单最难写，也最值钱</a:t>
            </a:r>
          </a:p>
        </p:txBody>
      </p:sp>
      <p:sp>
        <p:nvSpPr>
          <p:cNvPr id="10" name="c-0"/>
          <p:cNvSpPr/>
          <p:nvPr/>
        </p:nvSpPr>
        <p:spPr>
          <a:xfrm>
            <a:off x="952500" y="1524000"/>
            <a:ext cx="3302000" cy="4064000"/>
          </a:xfrm>
          <a:custGeom>
            <a:avLst/>
            <a:gdLst/>
            <a:ahLst/>
            <a:cxnLst/>
            <a:rect l="0" t="0" r="r" b="b"/>
            <a:pathLst>
              <a:path w="3302000" h="4064000">
                <a:moveTo>
                  <a:pt x="165100" y="0"/>
                </a:moveTo>
                <a:lnTo>
                  <a:pt x="3136900" y="0"/>
                </a:lnTo>
                <a:cubicBezTo>
                  <a:pt x="3228086" y="0"/>
                  <a:pt x="3302000" y="73914"/>
                  <a:pt x="3302000" y="165100"/>
                </a:cubicBezTo>
                <a:lnTo>
                  <a:pt x="3302000" y="3898900"/>
                </a:lnTo>
                <a:cubicBezTo>
                  <a:pt x="3302000" y="3990086"/>
                  <a:pt x="3228086" y="4064000"/>
                  <a:pt x="3136900" y="4064000"/>
                </a:cubicBezTo>
                <a:lnTo>
                  <a:pt x="165100" y="4064000"/>
                </a:lnTo>
                <a:cubicBezTo>
                  <a:pt x="73914" y="4064000"/>
                  <a:pt x="0" y="3990086"/>
                  <a:pt x="0" y="38989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h-0"/>
          <p:cNvSpPr/>
          <p:nvPr/>
        </p:nvSpPr>
        <p:spPr>
          <a:xfrm>
            <a:off x="952500" y="1524000"/>
            <a:ext cx="3302000" cy="863600"/>
          </a:xfrm>
          <a:custGeom>
            <a:avLst/>
            <a:gdLst/>
            <a:ahLst/>
            <a:cxnLst/>
            <a:rect l="0" t="0" r="r" b="b"/>
            <a:pathLst>
              <a:path w="3302000" h="863600">
                <a:moveTo>
                  <a:pt x="0" y="165100"/>
                </a:moveTo>
                <a:cubicBezTo>
                  <a:pt x="0" y="76200"/>
                  <a:pt x="76200" y="0"/>
                  <a:pt x="165100" y="0"/>
                </a:cubicBezTo>
                <a:lnTo>
                  <a:pt x="3136900" y="0"/>
                </a:lnTo>
                <a:cubicBezTo>
                  <a:pt x="3225800" y="0"/>
                  <a:pt x="3302000" y="76200"/>
                  <a:pt x="3302000" y="165100"/>
                </a:cubicBezTo>
                <a:lnTo>
                  <a:pt x="3302000" y="762000"/>
                </a:lnTo>
                <a:cubicBezTo>
                  <a:pt x="1981200" y="952500"/>
                  <a:pt x="990600" y="635000"/>
                  <a:pt x="0" y="863600"/>
                </a:cubic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hc-0"/>
          <p:cNvSpPr/>
          <p:nvPr/>
        </p:nvSpPr>
        <p:spPr>
          <a:xfrm>
            <a:off x="1155700" y="1701800"/>
            <a:ext cx="482600" cy="482600"/>
          </a:xfrm>
          <a:prstGeom prst="ellipse">
            <a:avLst/>
          </a:pr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icon-rocket"/>
          <p:cNvSpPr/>
          <p:nvPr/>
        </p:nvSpPr>
        <p:spPr>
          <a:xfrm>
            <a:off x="1337628" y="1863915"/>
            <a:ext cx="118745" cy="149352"/>
          </a:xfrm>
          <a:custGeom>
            <a:avLst/>
            <a:gdLst/>
            <a:ahLst/>
            <a:cxnLst/>
            <a:rect l="0" t="0" r="r" b="b"/>
            <a:pathLst>
              <a:path w="118745" h="149352">
                <a:moveTo>
                  <a:pt x="59372" y="0"/>
                </a:moveTo>
                <a:cubicBezTo>
                  <a:pt x="86360" y="19812"/>
                  <a:pt x="100775" y="50419"/>
                  <a:pt x="100775" y="82804"/>
                </a:cubicBezTo>
                <a:lnTo>
                  <a:pt x="80962" y="115189"/>
                </a:lnTo>
                <a:lnTo>
                  <a:pt x="37782" y="115189"/>
                </a:lnTo>
                <a:lnTo>
                  <a:pt x="17970" y="82804"/>
                </a:lnTo>
                <a:cubicBezTo>
                  <a:pt x="17970" y="50419"/>
                  <a:pt x="32385" y="19812"/>
                  <a:pt x="59372" y="0"/>
                </a:cubicBezTo>
                <a:close/>
                <a:moveTo>
                  <a:pt x="17970" y="107950"/>
                </a:moveTo>
                <a:lnTo>
                  <a:pt x="0" y="149352"/>
                </a:lnTo>
                <a:lnTo>
                  <a:pt x="37782" y="134938"/>
                </a:lnTo>
                <a:moveTo>
                  <a:pt x="100775" y="107950"/>
                </a:moveTo>
                <a:lnTo>
                  <a:pt x="118745" y="149352"/>
                </a:lnTo>
                <a:lnTo>
                  <a:pt x="80962" y="134938"/>
                </a:ln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cn-0"/>
          <p:cNvSpPr txBox="1"/>
          <p:nvPr/>
        </p:nvSpPr>
        <p:spPr>
          <a:xfrm>
            <a:off x="1737868" y="1686179"/>
            <a:ext cx="739140" cy="4000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800" b="1" spc="3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开始</a:t>
            </a:r>
          </a:p>
        </p:txBody>
      </p:sp>
      <p:sp>
        <p:nvSpPr>
          <p:cNvPr id="15" name="en-0"/>
          <p:cNvSpPr txBox="1"/>
          <p:nvPr/>
        </p:nvSpPr>
        <p:spPr>
          <a:xfrm>
            <a:off x="1767332" y="2049208"/>
            <a:ext cx="455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200">
                <a:solidFill>
                  <a:srgbClr val="E3EDF9"/>
                </a:solidFill>
                <a:latin typeface="Arial"/>
                <a:ea typeface="Arial"/>
                <a:cs typeface="Arial"/>
              </a:rPr>
              <a:t>START</a:t>
            </a:r>
          </a:p>
        </p:txBody>
      </p:sp>
      <p:sp>
        <p:nvSpPr>
          <p:cNvPr id="16" name="n-0"/>
          <p:cNvSpPr txBox="1"/>
          <p:nvPr/>
        </p:nvSpPr>
        <p:spPr>
          <a:xfrm>
            <a:off x="3587496" y="1618234"/>
            <a:ext cx="519176" cy="6223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8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17" name="it-0-0"/>
          <p:cNvSpPr/>
          <p:nvPr/>
        </p:nvSpPr>
        <p:spPr>
          <a:xfrm>
            <a:off x="1117600" y="2616200"/>
            <a:ext cx="2971800" cy="609600"/>
          </a:xfrm>
          <a:custGeom>
            <a:avLst/>
            <a:gdLst/>
            <a:ahLst/>
            <a:cxnLst/>
            <a:rect l="0" t="0" r="r" b="b"/>
            <a:pathLst>
              <a:path w="2971800" h="609600">
                <a:moveTo>
                  <a:pt x="114300" y="0"/>
                </a:moveTo>
                <a:lnTo>
                  <a:pt x="2857500" y="0"/>
                </a:lnTo>
                <a:cubicBezTo>
                  <a:pt x="2920619" y="0"/>
                  <a:pt x="2971800" y="51181"/>
                  <a:pt x="2971800" y="114300"/>
                </a:cubicBezTo>
                <a:lnTo>
                  <a:pt x="2971800" y="495300"/>
                </a:lnTo>
                <a:cubicBezTo>
                  <a:pt x="2971800" y="558419"/>
                  <a:pt x="2920619" y="609600"/>
                  <a:pt x="2857500" y="609600"/>
                </a:cubicBezTo>
                <a:lnTo>
                  <a:pt x="114300" y="609600"/>
                </a:lnTo>
                <a:cubicBezTo>
                  <a:pt x="51181" y="609600"/>
                  <a:pt x="0" y="558419"/>
                  <a:pt x="0" y="495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2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itb-0-0"/>
          <p:cNvSpPr/>
          <p:nvPr/>
        </p:nvSpPr>
        <p:spPr>
          <a:xfrm>
            <a:off x="1117600" y="2755900"/>
            <a:ext cx="31750" cy="3302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ia-0-0"/>
          <p:cNvSpPr txBox="1"/>
          <p:nvPr/>
        </p:nvSpPr>
        <p:spPr>
          <a:xfrm>
            <a:off x="1279398" y="2718213"/>
            <a:ext cx="958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每周客户回访</a:t>
            </a:r>
          </a:p>
        </p:txBody>
      </p:sp>
      <p:sp>
        <p:nvSpPr>
          <p:cNvPr id="20" name="ib-0-0"/>
          <p:cNvSpPr txBox="1"/>
          <p:nvPr/>
        </p:nvSpPr>
        <p:spPr>
          <a:xfrm>
            <a:off x="1282446" y="2952782"/>
            <a:ext cx="83350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每人至少 3 通</a:t>
            </a:r>
          </a:p>
        </p:txBody>
      </p:sp>
      <p:sp>
        <p:nvSpPr>
          <p:cNvPr id="21" name="it-0-1"/>
          <p:cNvSpPr/>
          <p:nvPr/>
        </p:nvSpPr>
        <p:spPr>
          <a:xfrm>
            <a:off x="1117600" y="3327400"/>
            <a:ext cx="2971800" cy="609600"/>
          </a:xfrm>
          <a:custGeom>
            <a:avLst/>
            <a:gdLst/>
            <a:ahLst/>
            <a:cxnLst/>
            <a:rect l="0" t="0" r="r" b="b"/>
            <a:pathLst>
              <a:path w="2971800" h="609600">
                <a:moveTo>
                  <a:pt x="114300" y="0"/>
                </a:moveTo>
                <a:lnTo>
                  <a:pt x="2857500" y="0"/>
                </a:lnTo>
                <a:cubicBezTo>
                  <a:pt x="2920619" y="0"/>
                  <a:pt x="2971800" y="51181"/>
                  <a:pt x="2971800" y="114300"/>
                </a:cubicBezTo>
                <a:lnTo>
                  <a:pt x="2971800" y="495300"/>
                </a:lnTo>
                <a:cubicBezTo>
                  <a:pt x="2971800" y="558419"/>
                  <a:pt x="2920619" y="609600"/>
                  <a:pt x="2857500" y="609600"/>
                </a:cubicBezTo>
                <a:lnTo>
                  <a:pt x="114300" y="609600"/>
                </a:lnTo>
                <a:cubicBezTo>
                  <a:pt x="51181" y="609600"/>
                  <a:pt x="0" y="558419"/>
                  <a:pt x="0" y="495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2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itb-0-1"/>
          <p:cNvSpPr/>
          <p:nvPr/>
        </p:nvSpPr>
        <p:spPr>
          <a:xfrm>
            <a:off x="1117600" y="3467100"/>
            <a:ext cx="31750" cy="3302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ia-0-1"/>
          <p:cNvSpPr txBox="1"/>
          <p:nvPr/>
        </p:nvSpPr>
        <p:spPr>
          <a:xfrm>
            <a:off x="1279398" y="3429413"/>
            <a:ext cx="958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需求评审前置</a:t>
            </a:r>
          </a:p>
        </p:txBody>
      </p:sp>
      <p:sp>
        <p:nvSpPr>
          <p:cNvPr id="24" name="ib-0-1"/>
          <p:cNvSpPr txBox="1"/>
          <p:nvPr/>
        </p:nvSpPr>
        <p:spPr>
          <a:xfrm>
            <a:off x="1282446" y="3663982"/>
            <a:ext cx="86614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开发前先过评审</a:t>
            </a:r>
          </a:p>
        </p:txBody>
      </p:sp>
      <p:sp>
        <p:nvSpPr>
          <p:cNvPr id="25" name="it-0-2"/>
          <p:cNvSpPr/>
          <p:nvPr/>
        </p:nvSpPr>
        <p:spPr>
          <a:xfrm>
            <a:off x="1117600" y="4038600"/>
            <a:ext cx="2971800" cy="609600"/>
          </a:xfrm>
          <a:custGeom>
            <a:avLst/>
            <a:gdLst/>
            <a:ahLst/>
            <a:cxnLst/>
            <a:rect l="0" t="0" r="r" b="b"/>
            <a:pathLst>
              <a:path w="2971800" h="609600">
                <a:moveTo>
                  <a:pt x="114300" y="0"/>
                </a:moveTo>
                <a:lnTo>
                  <a:pt x="2857500" y="0"/>
                </a:lnTo>
                <a:cubicBezTo>
                  <a:pt x="2920619" y="0"/>
                  <a:pt x="2971800" y="51181"/>
                  <a:pt x="2971800" y="114300"/>
                </a:cubicBezTo>
                <a:lnTo>
                  <a:pt x="2971800" y="495300"/>
                </a:lnTo>
                <a:cubicBezTo>
                  <a:pt x="2971800" y="558419"/>
                  <a:pt x="2920619" y="609600"/>
                  <a:pt x="2857500" y="609600"/>
                </a:cubicBezTo>
                <a:lnTo>
                  <a:pt x="114300" y="609600"/>
                </a:lnTo>
                <a:cubicBezTo>
                  <a:pt x="51181" y="609600"/>
                  <a:pt x="0" y="558419"/>
                  <a:pt x="0" y="495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2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itb-0-2"/>
          <p:cNvSpPr/>
          <p:nvPr/>
        </p:nvSpPr>
        <p:spPr>
          <a:xfrm>
            <a:off x="1117600" y="4178300"/>
            <a:ext cx="31750" cy="3302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ia-0-2"/>
          <p:cNvSpPr txBox="1"/>
          <p:nvPr/>
        </p:nvSpPr>
        <p:spPr>
          <a:xfrm>
            <a:off x="1279398" y="4140613"/>
            <a:ext cx="10979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数据周报自动化</a:t>
            </a:r>
          </a:p>
        </p:txBody>
      </p:sp>
      <p:sp>
        <p:nvSpPr>
          <p:cNvPr id="28" name="ib-0-2"/>
          <p:cNvSpPr txBox="1"/>
          <p:nvPr/>
        </p:nvSpPr>
        <p:spPr>
          <a:xfrm>
            <a:off x="1282446" y="4375182"/>
            <a:ext cx="91071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替代手工 Excel</a:t>
            </a:r>
          </a:p>
        </p:txBody>
      </p:sp>
      <p:sp>
        <p:nvSpPr>
          <p:cNvPr id="29" name="it-0-3"/>
          <p:cNvSpPr/>
          <p:nvPr/>
        </p:nvSpPr>
        <p:spPr>
          <a:xfrm>
            <a:off x="1117600" y="4749800"/>
            <a:ext cx="2971800" cy="609600"/>
          </a:xfrm>
          <a:custGeom>
            <a:avLst/>
            <a:gdLst/>
            <a:ahLst/>
            <a:cxnLst/>
            <a:rect l="0" t="0" r="r" b="b"/>
            <a:pathLst>
              <a:path w="2971800" h="609600">
                <a:moveTo>
                  <a:pt x="114300" y="0"/>
                </a:moveTo>
                <a:lnTo>
                  <a:pt x="2857500" y="0"/>
                </a:lnTo>
                <a:cubicBezTo>
                  <a:pt x="2920619" y="0"/>
                  <a:pt x="2971800" y="51181"/>
                  <a:pt x="2971800" y="114300"/>
                </a:cubicBezTo>
                <a:lnTo>
                  <a:pt x="2971800" y="495300"/>
                </a:lnTo>
                <a:cubicBezTo>
                  <a:pt x="2971800" y="558419"/>
                  <a:pt x="2920619" y="609600"/>
                  <a:pt x="2857500" y="609600"/>
                </a:cubicBezTo>
                <a:lnTo>
                  <a:pt x="114300" y="609600"/>
                </a:lnTo>
                <a:cubicBezTo>
                  <a:pt x="51181" y="609600"/>
                  <a:pt x="0" y="558419"/>
                  <a:pt x="0" y="495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2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itb-0-3"/>
          <p:cNvSpPr/>
          <p:nvPr/>
        </p:nvSpPr>
        <p:spPr>
          <a:xfrm>
            <a:off x="1117600" y="4889500"/>
            <a:ext cx="31750" cy="3302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ia-0-3"/>
          <p:cNvSpPr txBox="1"/>
          <p:nvPr/>
        </p:nvSpPr>
        <p:spPr>
          <a:xfrm>
            <a:off x="1279398" y="4851813"/>
            <a:ext cx="818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新人带教制</a:t>
            </a:r>
          </a:p>
        </p:txBody>
      </p:sp>
      <p:sp>
        <p:nvSpPr>
          <p:cNvPr id="32" name="ib-0-3"/>
          <p:cNvSpPr txBox="1"/>
          <p:nvPr/>
        </p:nvSpPr>
        <p:spPr>
          <a:xfrm>
            <a:off x="1282446" y="5086382"/>
            <a:ext cx="100571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一对一带满 90 天</a:t>
            </a:r>
          </a:p>
        </p:txBody>
      </p:sp>
      <p:sp>
        <p:nvSpPr>
          <p:cNvPr id="33" name="c-1"/>
          <p:cNvSpPr/>
          <p:nvPr/>
        </p:nvSpPr>
        <p:spPr>
          <a:xfrm>
            <a:off x="4445000" y="1524000"/>
            <a:ext cx="3302000" cy="4064000"/>
          </a:xfrm>
          <a:custGeom>
            <a:avLst/>
            <a:gdLst/>
            <a:ahLst/>
            <a:cxnLst/>
            <a:rect l="0" t="0" r="r" b="b"/>
            <a:pathLst>
              <a:path w="3302000" h="4064000">
                <a:moveTo>
                  <a:pt x="165100" y="0"/>
                </a:moveTo>
                <a:lnTo>
                  <a:pt x="3136900" y="0"/>
                </a:lnTo>
                <a:cubicBezTo>
                  <a:pt x="3228086" y="0"/>
                  <a:pt x="3302000" y="73914"/>
                  <a:pt x="3302000" y="165100"/>
                </a:cubicBezTo>
                <a:lnTo>
                  <a:pt x="3302000" y="3898900"/>
                </a:lnTo>
                <a:cubicBezTo>
                  <a:pt x="3302000" y="3990086"/>
                  <a:pt x="3228086" y="4064000"/>
                  <a:pt x="3136900" y="4064000"/>
                </a:cubicBezTo>
                <a:lnTo>
                  <a:pt x="165100" y="4064000"/>
                </a:lnTo>
                <a:cubicBezTo>
                  <a:pt x="73914" y="4064000"/>
                  <a:pt x="0" y="3990086"/>
                  <a:pt x="0" y="38989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h-1"/>
          <p:cNvSpPr/>
          <p:nvPr/>
        </p:nvSpPr>
        <p:spPr>
          <a:xfrm>
            <a:off x="4445000" y="1524000"/>
            <a:ext cx="3302000" cy="863600"/>
          </a:xfrm>
          <a:custGeom>
            <a:avLst/>
            <a:gdLst/>
            <a:ahLst/>
            <a:cxnLst/>
            <a:rect l="0" t="0" r="r" b="b"/>
            <a:pathLst>
              <a:path w="3302000" h="863600">
                <a:moveTo>
                  <a:pt x="0" y="165100"/>
                </a:moveTo>
                <a:cubicBezTo>
                  <a:pt x="0" y="76200"/>
                  <a:pt x="76200" y="0"/>
                  <a:pt x="165100" y="0"/>
                </a:cubicBezTo>
                <a:lnTo>
                  <a:pt x="3136900" y="0"/>
                </a:lnTo>
                <a:cubicBezTo>
                  <a:pt x="3225800" y="0"/>
                  <a:pt x="3302000" y="76200"/>
                  <a:pt x="3302000" y="165100"/>
                </a:cubicBezTo>
                <a:lnTo>
                  <a:pt x="3302000" y="762000"/>
                </a:lnTo>
                <a:cubicBezTo>
                  <a:pt x="1981200" y="952500"/>
                  <a:pt x="990600" y="635000"/>
                  <a:pt x="0" y="863600"/>
                </a:cubicBezTo>
                <a:close/>
              </a:path>
            </a:pathLst>
          </a:custGeom>
          <a:gradFill rotWithShape="1">
            <a:gsLst>
              <a:gs pos="0">
                <a:srgbClr val="E48152"/>
              </a:gs>
              <a:gs pos="100000">
                <a:srgbClr val="E0703A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hc-1"/>
          <p:cNvSpPr/>
          <p:nvPr/>
        </p:nvSpPr>
        <p:spPr>
          <a:xfrm>
            <a:off x="4648200" y="1701800"/>
            <a:ext cx="482600" cy="482600"/>
          </a:xfrm>
          <a:prstGeom prst="ellipse">
            <a:avLst/>
          </a:pr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stop-1"/>
          <p:cNvSpPr/>
          <p:nvPr/>
        </p:nvSpPr>
        <p:spPr>
          <a:xfrm>
            <a:off x="4800600" y="1854200"/>
            <a:ext cx="177800" cy="177800"/>
          </a:xfrm>
          <a:custGeom>
            <a:avLst/>
            <a:gdLst/>
            <a:ahLst/>
            <a:cxnLst/>
            <a:rect l="0" t="0" r="r" b="b"/>
            <a:pathLst>
              <a:path w="177800" h="177800">
                <a:moveTo>
                  <a:pt x="38100" y="0"/>
                </a:moveTo>
                <a:lnTo>
                  <a:pt x="139700" y="0"/>
                </a:lnTo>
                <a:cubicBezTo>
                  <a:pt x="160718" y="0"/>
                  <a:pt x="177800" y="17081"/>
                  <a:pt x="177800" y="38100"/>
                </a:cubicBezTo>
                <a:lnTo>
                  <a:pt x="177800" y="139700"/>
                </a:lnTo>
                <a:cubicBezTo>
                  <a:pt x="177800" y="160718"/>
                  <a:pt x="160718" y="177800"/>
                  <a:pt x="139700" y="177800"/>
                </a:cubicBezTo>
                <a:lnTo>
                  <a:pt x="38100" y="177800"/>
                </a:lnTo>
                <a:cubicBezTo>
                  <a:pt x="17082" y="177800"/>
                  <a:pt x="0" y="160718"/>
                  <a:pt x="0" y="1397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cn-1"/>
          <p:cNvSpPr txBox="1"/>
          <p:nvPr/>
        </p:nvSpPr>
        <p:spPr>
          <a:xfrm>
            <a:off x="5230368" y="1686179"/>
            <a:ext cx="739140" cy="4000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800" b="1" spc="3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停止</a:t>
            </a:r>
          </a:p>
        </p:txBody>
      </p:sp>
      <p:sp>
        <p:nvSpPr>
          <p:cNvPr id="38" name="en-1"/>
          <p:cNvSpPr txBox="1"/>
          <p:nvPr/>
        </p:nvSpPr>
        <p:spPr>
          <a:xfrm>
            <a:off x="5259832" y="2049208"/>
            <a:ext cx="3807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200">
                <a:solidFill>
                  <a:srgbClr val="E3EDF9"/>
                </a:solidFill>
                <a:latin typeface="Arial"/>
                <a:ea typeface="Arial"/>
                <a:cs typeface="Arial"/>
              </a:rPr>
              <a:t>STOP</a:t>
            </a:r>
          </a:p>
        </p:txBody>
      </p:sp>
      <p:sp>
        <p:nvSpPr>
          <p:cNvPr id="39" name="n-1"/>
          <p:cNvSpPr txBox="1"/>
          <p:nvPr/>
        </p:nvSpPr>
        <p:spPr>
          <a:xfrm>
            <a:off x="7079996" y="1618234"/>
            <a:ext cx="519176" cy="6223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8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40" name="it-1-0"/>
          <p:cNvSpPr/>
          <p:nvPr/>
        </p:nvSpPr>
        <p:spPr>
          <a:xfrm>
            <a:off x="4610100" y="2616200"/>
            <a:ext cx="2971800" cy="609600"/>
          </a:xfrm>
          <a:custGeom>
            <a:avLst/>
            <a:gdLst/>
            <a:ahLst/>
            <a:cxnLst/>
            <a:rect l="0" t="0" r="r" b="b"/>
            <a:pathLst>
              <a:path w="2971800" h="609600">
                <a:moveTo>
                  <a:pt x="114300" y="0"/>
                </a:moveTo>
                <a:lnTo>
                  <a:pt x="2857500" y="0"/>
                </a:lnTo>
                <a:cubicBezTo>
                  <a:pt x="2920619" y="0"/>
                  <a:pt x="2971800" y="51181"/>
                  <a:pt x="2971800" y="114300"/>
                </a:cubicBezTo>
                <a:lnTo>
                  <a:pt x="2971800" y="495300"/>
                </a:lnTo>
                <a:cubicBezTo>
                  <a:pt x="2971800" y="558419"/>
                  <a:pt x="2920619" y="609600"/>
                  <a:pt x="2857500" y="609600"/>
                </a:cubicBezTo>
                <a:lnTo>
                  <a:pt x="114300" y="609600"/>
                </a:lnTo>
                <a:cubicBezTo>
                  <a:pt x="51181" y="609600"/>
                  <a:pt x="0" y="558419"/>
                  <a:pt x="0" y="495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DF3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itb-1-0"/>
          <p:cNvSpPr/>
          <p:nvPr/>
        </p:nvSpPr>
        <p:spPr>
          <a:xfrm>
            <a:off x="4610100" y="2755900"/>
            <a:ext cx="31750" cy="3302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ia-1-0"/>
          <p:cNvSpPr txBox="1"/>
          <p:nvPr/>
        </p:nvSpPr>
        <p:spPr>
          <a:xfrm>
            <a:off x="4771898" y="2718213"/>
            <a:ext cx="6788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临时插单</a:t>
            </a:r>
          </a:p>
        </p:txBody>
      </p:sp>
      <p:sp>
        <p:nvSpPr>
          <p:cNvPr id="43" name="ib-1-0"/>
          <p:cNvSpPr txBox="1"/>
          <p:nvPr/>
        </p:nvSpPr>
        <p:spPr>
          <a:xfrm>
            <a:off x="4774946" y="2952782"/>
            <a:ext cx="97599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冲刺中不再加需求</a:t>
            </a:r>
          </a:p>
        </p:txBody>
      </p:sp>
      <p:sp>
        <p:nvSpPr>
          <p:cNvPr id="44" name="it-1-1"/>
          <p:cNvSpPr/>
          <p:nvPr/>
        </p:nvSpPr>
        <p:spPr>
          <a:xfrm>
            <a:off x="4610100" y="3327400"/>
            <a:ext cx="2971800" cy="609600"/>
          </a:xfrm>
          <a:custGeom>
            <a:avLst/>
            <a:gdLst/>
            <a:ahLst/>
            <a:cxnLst/>
            <a:rect l="0" t="0" r="r" b="b"/>
            <a:pathLst>
              <a:path w="2971800" h="609600">
                <a:moveTo>
                  <a:pt x="114300" y="0"/>
                </a:moveTo>
                <a:lnTo>
                  <a:pt x="2857500" y="0"/>
                </a:lnTo>
                <a:cubicBezTo>
                  <a:pt x="2920619" y="0"/>
                  <a:pt x="2971800" y="51181"/>
                  <a:pt x="2971800" y="114300"/>
                </a:cubicBezTo>
                <a:lnTo>
                  <a:pt x="2971800" y="495300"/>
                </a:lnTo>
                <a:cubicBezTo>
                  <a:pt x="2971800" y="558419"/>
                  <a:pt x="2920619" y="609600"/>
                  <a:pt x="2857500" y="609600"/>
                </a:cubicBezTo>
                <a:lnTo>
                  <a:pt x="114300" y="609600"/>
                </a:lnTo>
                <a:cubicBezTo>
                  <a:pt x="51181" y="609600"/>
                  <a:pt x="0" y="558419"/>
                  <a:pt x="0" y="495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DF3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itb-1-1"/>
          <p:cNvSpPr/>
          <p:nvPr/>
        </p:nvSpPr>
        <p:spPr>
          <a:xfrm>
            <a:off x="4610100" y="3467100"/>
            <a:ext cx="31750" cy="3302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ia-1-1"/>
          <p:cNvSpPr txBox="1"/>
          <p:nvPr/>
        </p:nvSpPr>
        <p:spPr>
          <a:xfrm>
            <a:off x="4771898" y="3429413"/>
            <a:ext cx="818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无议程的会</a:t>
            </a:r>
          </a:p>
        </p:txBody>
      </p:sp>
      <p:sp>
        <p:nvSpPr>
          <p:cNvPr id="47" name="ib-1-1"/>
          <p:cNvSpPr txBox="1"/>
          <p:nvPr/>
        </p:nvSpPr>
        <p:spPr>
          <a:xfrm>
            <a:off x="4774946" y="3663982"/>
            <a:ext cx="86614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没有议程就取消</a:t>
            </a:r>
          </a:p>
        </p:txBody>
      </p:sp>
      <p:sp>
        <p:nvSpPr>
          <p:cNvPr id="48" name="it-1-2"/>
          <p:cNvSpPr/>
          <p:nvPr/>
        </p:nvSpPr>
        <p:spPr>
          <a:xfrm>
            <a:off x="4610100" y="4038600"/>
            <a:ext cx="2971800" cy="609600"/>
          </a:xfrm>
          <a:custGeom>
            <a:avLst/>
            <a:gdLst/>
            <a:ahLst/>
            <a:cxnLst/>
            <a:rect l="0" t="0" r="r" b="b"/>
            <a:pathLst>
              <a:path w="2971800" h="609600">
                <a:moveTo>
                  <a:pt x="114300" y="0"/>
                </a:moveTo>
                <a:lnTo>
                  <a:pt x="2857500" y="0"/>
                </a:lnTo>
                <a:cubicBezTo>
                  <a:pt x="2920619" y="0"/>
                  <a:pt x="2971800" y="51181"/>
                  <a:pt x="2971800" y="114300"/>
                </a:cubicBezTo>
                <a:lnTo>
                  <a:pt x="2971800" y="495300"/>
                </a:lnTo>
                <a:cubicBezTo>
                  <a:pt x="2971800" y="558419"/>
                  <a:pt x="2920619" y="609600"/>
                  <a:pt x="2857500" y="609600"/>
                </a:cubicBezTo>
                <a:lnTo>
                  <a:pt x="114300" y="609600"/>
                </a:lnTo>
                <a:cubicBezTo>
                  <a:pt x="51181" y="609600"/>
                  <a:pt x="0" y="558419"/>
                  <a:pt x="0" y="495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DF3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itb-1-2"/>
          <p:cNvSpPr/>
          <p:nvPr/>
        </p:nvSpPr>
        <p:spPr>
          <a:xfrm>
            <a:off x="4610100" y="4178300"/>
            <a:ext cx="31750" cy="3302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ia-1-2"/>
          <p:cNvSpPr txBox="1"/>
          <p:nvPr/>
        </p:nvSpPr>
        <p:spPr>
          <a:xfrm>
            <a:off x="4771898" y="4140613"/>
            <a:ext cx="10979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低毛利定制项目</a:t>
            </a:r>
          </a:p>
        </p:txBody>
      </p:sp>
      <p:sp>
        <p:nvSpPr>
          <p:cNvPr id="51" name="ib-1-2"/>
          <p:cNvSpPr txBox="1"/>
          <p:nvPr/>
        </p:nvSpPr>
        <p:spPr>
          <a:xfrm>
            <a:off x="4774946" y="4375182"/>
            <a:ext cx="106807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毛利低于 20% 不接</a:t>
            </a:r>
          </a:p>
        </p:txBody>
      </p:sp>
      <p:sp>
        <p:nvSpPr>
          <p:cNvPr id="52" name="stop-more"/>
          <p:cNvSpPr/>
          <p:nvPr/>
        </p:nvSpPr>
        <p:spPr>
          <a:xfrm>
            <a:off x="4610100" y="4749800"/>
            <a:ext cx="2971800" cy="609600"/>
          </a:xfrm>
          <a:custGeom>
            <a:avLst/>
            <a:gdLst/>
            <a:ahLst/>
            <a:cxnLst/>
            <a:rect l="0" t="0" r="r" b="b"/>
            <a:pathLst>
              <a:path w="2971800" h="609600">
                <a:moveTo>
                  <a:pt x="114300" y="0"/>
                </a:moveTo>
                <a:lnTo>
                  <a:pt x="2857500" y="0"/>
                </a:lnTo>
                <a:cubicBezTo>
                  <a:pt x="2920619" y="0"/>
                  <a:pt x="2971800" y="51181"/>
                  <a:pt x="2971800" y="114300"/>
                </a:cubicBezTo>
                <a:lnTo>
                  <a:pt x="2971800" y="495300"/>
                </a:lnTo>
                <a:cubicBezTo>
                  <a:pt x="2971800" y="558419"/>
                  <a:pt x="2920619" y="609600"/>
                  <a:pt x="2857500" y="609600"/>
                </a:cubicBezTo>
                <a:lnTo>
                  <a:pt x="114300" y="609600"/>
                </a:lnTo>
                <a:cubicBezTo>
                  <a:pt x="51181" y="609600"/>
                  <a:pt x="0" y="558419"/>
                  <a:pt x="0" y="495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noFill/>
          <a:ln w="10160" cap="rnd">
            <a:solidFill>
              <a:srgbClr val="E0703A"/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stop-more-t"/>
          <p:cNvSpPr txBox="1"/>
          <p:nvPr/>
        </p:nvSpPr>
        <p:spPr>
          <a:xfrm>
            <a:off x="5309044" y="4972082"/>
            <a:ext cx="15739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三件合计，每周省下约 6 人天</a:t>
            </a:r>
          </a:p>
        </p:txBody>
      </p:sp>
      <p:sp>
        <p:nvSpPr>
          <p:cNvPr id="54" name="c-2"/>
          <p:cNvSpPr/>
          <p:nvPr/>
        </p:nvSpPr>
        <p:spPr>
          <a:xfrm>
            <a:off x="7937500" y="1524000"/>
            <a:ext cx="3302000" cy="4064000"/>
          </a:xfrm>
          <a:custGeom>
            <a:avLst/>
            <a:gdLst/>
            <a:ahLst/>
            <a:cxnLst/>
            <a:rect l="0" t="0" r="r" b="b"/>
            <a:pathLst>
              <a:path w="3302000" h="4064000">
                <a:moveTo>
                  <a:pt x="165100" y="0"/>
                </a:moveTo>
                <a:lnTo>
                  <a:pt x="3136900" y="0"/>
                </a:lnTo>
                <a:cubicBezTo>
                  <a:pt x="3228086" y="0"/>
                  <a:pt x="3302000" y="73914"/>
                  <a:pt x="3302000" y="165100"/>
                </a:cubicBezTo>
                <a:lnTo>
                  <a:pt x="3302000" y="3898900"/>
                </a:lnTo>
                <a:cubicBezTo>
                  <a:pt x="3302000" y="3990086"/>
                  <a:pt x="3228086" y="4064000"/>
                  <a:pt x="3136900" y="4064000"/>
                </a:cubicBezTo>
                <a:lnTo>
                  <a:pt x="165100" y="4064000"/>
                </a:lnTo>
                <a:cubicBezTo>
                  <a:pt x="73914" y="4064000"/>
                  <a:pt x="0" y="3990086"/>
                  <a:pt x="0" y="38989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h-2"/>
          <p:cNvSpPr/>
          <p:nvPr/>
        </p:nvSpPr>
        <p:spPr>
          <a:xfrm>
            <a:off x="7937500" y="1524000"/>
            <a:ext cx="3302000" cy="863600"/>
          </a:xfrm>
          <a:custGeom>
            <a:avLst/>
            <a:gdLst/>
            <a:ahLst/>
            <a:cxnLst/>
            <a:rect l="0" t="0" r="r" b="b"/>
            <a:pathLst>
              <a:path w="3302000" h="863600">
                <a:moveTo>
                  <a:pt x="0" y="165100"/>
                </a:moveTo>
                <a:cubicBezTo>
                  <a:pt x="0" y="76200"/>
                  <a:pt x="76200" y="0"/>
                  <a:pt x="165100" y="0"/>
                </a:cubicBezTo>
                <a:lnTo>
                  <a:pt x="3136900" y="0"/>
                </a:lnTo>
                <a:cubicBezTo>
                  <a:pt x="3225800" y="0"/>
                  <a:pt x="3302000" y="76200"/>
                  <a:pt x="3302000" y="165100"/>
                </a:cubicBezTo>
                <a:lnTo>
                  <a:pt x="3302000" y="762000"/>
                </a:lnTo>
                <a:cubicBezTo>
                  <a:pt x="1981200" y="952500"/>
                  <a:pt x="990600" y="635000"/>
                  <a:pt x="0" y="863600"/>
                </a:cubicBezTo>
                <a:close/>
              </a:path>
            </a:pathLst>
          </a:custGeom>
          <a:gradFill rotWithShape="1">
            <a:gsLst>
              <a:gs pos="0">
                <a:srgbClr val="4787C9"/>
              </a:gs>
              <a:gs pos="100000">
                <a:srgbClr val="2E77C2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hc-2"/>
          <p:cNvSpPr/>
          <p:nvPr/>
        </p:nvSpPr>
        <p:spPr>
          <a:xfrm>
            <a:off x="8140700" y="1701800"/>
            <a:ext cx="482600" cy="482600"/>
          </a:xfrm>
          <a:prstGeom prst="ellipse">
            <a:avLst/>
          </a:pr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loop-2"/>
          <p:cNvSpPr/>
          <p:nvPr/>
        </p:nvSpPr>
        <p:spPr>
          <a:xfrm>
            <a:off x="8265368" y="1860278"/>
            <a:ext cx="224583" cy="190729"/>
          </a:xfrm>
          <a:custGeom>
            <a:avLst/>
            <a:gdLst/>
            <a:ahLst/>
            <a:cxnLst/>
            <a:rect l="0" t="0" r="r" b="b"/>
            <a:pathLst>
              <a:path w="224583" h="190729">
                <a:moveTo>
                  <a:pt x="210231" y="29037"/>
                </a:moveTo>
                <a:cubicBezTo>
                  <a:pt x="236694" y="75087"/>
                  <a:pt x="225728" y="133545"/>
                  <a:pt x="184375" y="166873"/>
                </a:cubicBezTo>
                <a:cubicBezTo>
                  <a:pt x="143022" y="200202"/>
                  <a:pt x="83570" y="198499"/>
                  <a:pt x="44193" y="162857"/>
                </a:cubicBezTo>
                <a:cubicBezTo>
                  <a:pt x="4816" y="127215"/>
                  <a:pt x="-2785" y="68226"/>
                  <a:pt x="26271" y="23767"/>
                </a:cubicBezTo>
                <a:lnTo>
                  <a:pt x="2332" y="8146"/>
                </a:lnTo>
                <a:quadBezTo>
                  <a:pt x="-5606" y="2939"/>
                  <a:pt x="13381" y="2177"/>
                </a:quadBezTo>
                <a:lnTo>
                  <a:pt x="67165" y="18"/>
                </a:lnTo>
                <a:quadBezTo>
                  <a:pt x="86215" y="-744"/>
                  <a:pt x="87295" y="18306"/>
                </a:quadBezTo>
                <a:lnTo>
                  <a:pt x="88946" y="46436"/>
                </a:lnTo>
                <a:quadBezTo>
                  <a:pt x="90025" y="65423"/>
                  <a:pt x="82088" y="60216"/>
                </a:quadBezTo>
                <a:lnTo>
                  <a:pt x="58148" y="44595"/>
                </a:lnTo>
                <a:cubicBezTo>
                  <a:pt x="39817" y="72654"/>
                  <a:pt x="43999" y="109779"/>
                  <a:pt x="68115" y="133056"/>
                </a:cubicBezTo>
                <a:cubicBezTo>
                  <a:pt x="92230" y="156333"/>
                  <a:pt x="129480" y="159199"/>
                  <a:pt x="156873" y="139887"/>
                </a:cubicBezTo>
                <a:cubicBezTo>
                  <a:pt x="184266" y="120574"/>
                  <a:pt x="194081" y="84527"/>
                  <a:pt x="180259" y="53993"/>
                </a:cubicBezTo>
                <a:quadBezTo>
                  <a:pt x="170162" y="37927"/>
                  <a:pt x="184704" y="25672"/>
                </a:quadBezTo>
                <a:lnTo>
                  <a:pt x="184704" y="25672"/>
                </a:lnTo>
                <a:quadBezTo>
                  <a:pt x="199309" y="13416"/>
                  <a:pt x="210231" y="29037"/>
                </a:quad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cn-2"/>
          <p:cNvSpPr txBox="1"/>
          <p:nvPr/>
        </p:nvSpPr>
        <p:spPr>
          <a:xfrm>
            <a:off x="8722868" y="1686179"/>
            <a:ext cx="739140" cy="4000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800" b="1" spc="3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继续</a:t>
            </a:r>
          </a:p>
        </p:txBody>
      </p:sp>
      <p:sp>
        <p:nvSpPr>
          <p:cNvPr id="59" name="en-2"/>
          <p:cNvSpPr txBox="1"/>
          <p:nvPr/>
        </p:nvSpPr>
        <p:spPr>
          <a:xfrm>
            <a:off x="8752332" y="2049208"/>
            <a:ext cx="6814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200">
                <a:solidFill>
                  <a:srgbClr val="E3EDF9"/>
                </a:solidFill>
                <a:latin typeface="Arial"/>
                <a:ea typeface="Arial"/>
                <a:cs typeface="Arial"/>
              </a:rPr>
              <a:t>CONTINUE</a:t>
            </a:r>
          </a:p>
        </p:txBody>
      </p:sp>
      <p:sp>
        <p:nvSpPr>
          <p:cNvPr id="60" name="n-2"/>
          <p:cNvSpPr txBox="1"/>
          <p:nvPr/>
        </p:nvSpPr>
        <p:spPr>
          <a:xfrm>
            <a:off x="10572496" y="1618234"/>
            <a:ext cx="519176" cy="6223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8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61" name="it-2-0"/>
          <p:cNvSpPr/>
          <p:nvPr/>
        </p:nvSpPr>
        <p:spPr>
          <a:xfrm>
            <a:off x="8102600" y="2616200"/>
            <a:ext cx="2971800" cy="609600"/>
          </a:xfrm>
          <a:custGeom>
            <a:avLst/>
            <a:gdLst/>
            <a:ahLst/>
            <a:cxnLst/>
            <a:rect l="0" t="0" r="r" b="b"/>
            <a:pathLst>
              <a:path w="2971800" h="609600">
                <a:moveTo>
                  <a:pt x="114300" y="0"/>
                </a:moveTo>
                <a:lnTo>
                  <a:pt x="2857500" y="0"/>
                </a:lnTo>
                <a:cubicBezTo>
                  <a:pt x="2920619" y="0"/>
                  <a:pt x="2971800" y="51181"/>
                  <a:pt x="2971800" y="114300"/>
                </a:cubicBezTo>
                <a:lnTo>
                  <a:pt x="2971800" y="495300"/>
                </a:lnTo>
                <a:cubicBezTo>
                  <a:pt x="2971800" y="558419"/>
                  <a:pt x="2920619" y="609600"/>
                  <a:pt x="2857500" y="609600"/>
                </a:cubicBezTo>
                <a:lnTo>
                  <a:pt x="114300" y="609600"/>
                </a:lnTo>
                <a:cubicBezTo>
                  <a:pt x="51181" y="609600"/>
                  <a:pt x="0" y="558419"/>
                  <a:pt x="0" y="495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2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itb-2-0"/>
          <p:cNvSpPr/>
          <p:nvPr/>
        </p:nvSpPr>
        <p:spPr>
          <a:xfrm>
            <a:off x="8102600" y="2755900"/>
            <a:ext cx="31750" cy="330200"/>
          </a:xfrm>
          <a:prstGeom prst="roundRect">
            <a:avLst>
              <a:gd name="adj" fmla="val 50000"/>
            </a:avLst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ia-2-0"/>
          <p:cNvSpPr txBox="1"/>
          <p:nvPr/>
        </p:nvSpPr>
        <p:spPr>
          <a:xfrm>
            <a:off x="8264398" y="2718213"/>
            <a:ext cx="6788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双周迭代</a:t>
            </a:r>
          </a:p>
        </p:txBody>
      </p:sp>
      <p:sp>
        <p:nvSpPr>
          <p:cNvPr id="64" name="ib-2-0"/>
          <p:cNvSpPr txBox="1"/>
          <p:nvPr/>
        </p:nvSpPr>
        <p:spPr>
          <a:xfrm>
            <a:off x="8267446" y="2952782"/>
            <a:ext cx="75628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保持交付节奏</a:t>
            </a:r>
          </a:p>
        </p:txBody>
      </p:sp>
      <p:sp>
        <p:nvSpPr>
          <p:cNvPr id="65" name="it-2-1"/>
          <p:cNvSpPr/>
          <p:nvPr/>
        </p:nvSpPr>
        <p:spPr>
          <a:xfrm>
            <a:off x="8102600" y="3327400"/>
            <a:ext cx="2971800" cy="609600"/>
          </a:xfrm>
          <a:custGeom>
            <a:avLst/>
            <a:gdLst/>
            <a:ahLst/>
            <a:cxnLst/>
            <a:rect l="0" t="0" r="r" b="b"/>
            <a:pathLst>
              <a:path w="2971800" h="609600">
                <a:moveTo>
                  <a:pt x="114300" y="0"/>
                </a:moveTo>
                <a:lnTo>
                  <a:pt x="2857500" y="0"/>
                </a:lnTo>
                <a:cubicBezTo>
                  <a:pt x="2920619" y="0"/>
                  <a:pt x="2971800" y="51181"/>
                  <a:pt x="2971800" y="114300"/>
                </a:cubicBezTo>
                <a:lnTo>
                  <a:pt x="2971800" y="495300"/>
                </a:lnTo>
                <a:cubicBezTo>
                  <a:pt x="2971800" y="558419"/>
                  <a:pt x="2920619" y="609600"/>
                  <a:pt x="2857500" y="609600"/>
                </a:cubicBezTo>
                <a:lnTo>
                  <a:pt x="114300" y="609600"/>
                </a:lnTo>
                <a:cubicBezTo>
                  <a:pt x="51181" y="609600"/>
                  <a:pt x="0" y="558419"/>
                  <a:pt x="0" y="495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2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itb-2-1"/>
          <p:cNvSpPr/>
          <p:nvPr/>
        </p:nvSpPr>
        <p:spPr>
          <a:xfrm>
            <a:off x="8102600" y="3467100"/>
            <a:ext cx="31750" cy="330200"/>
          </a:xfrm>
          <a:prstGeom prst="roundRect">
            <a:avLst>
              <a:gd name="adj" fmla="val 50000"/>
            </a:avLst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ia-2-1"/>
          <p:cNvSpPr txBox="1"/>
          <p:nvPr/>
        </p:nvSpPr>
        <p:spPr>
          <a:xfrm>
            <a:off x="8264398" y="3429413"/>
            <a:ext cx="6788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线上复盘</a:t>
            </a:r>
          </a:p>
        </p:txBody>
      </p:sp>
      <p:sp>
        <p:nvSpPr>
          <p:cNvPr id="68" name="ib-2-1"/>
          <p:cNvSpPr txBox="1"/>
          <p:nvPr/>
        </p:nvSpPr>
        <p:spPr>
          <a:xfrm>
            <a:off x="8267446" y="3663982"/>
            <a:ext cx="97599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每个项目结束必做</a:t>
            </a:r>
          </a:p>
        </p:txBody>
      </p:sp>
      <p:sp>
        <p:nvSpPr>
          <p:cNvPr id="69" name="it-2-2"/>
          <p:cNvSpPr/>
          <p:nvPr/>
        </p:nvSpPr>
        <p:spPr>
          <a:xfrm>
            <a:off x="8102600" y="4038600"/>
            <a:ext cx="2971800" cy="609600"/>
          </a:xfrm>
          <a:custGeom>
            <a:avLst/>
            <a:gdLst/>
            <a:ahLst/>
            <a:cxnLst/>
            <a:rect l="0" t="0" r="r" b="b"/>
            <a:pathLst>
              <a:path w="2971800" h="609600">
                <a:moveTo>
                  <a:pt x="114300" y="0"/>
                </a:moveTo>
                <a:lnTo>
                  <a:pt x="2857500" y="0"/>
                </a:lnTo>
                <a:cubicBezTo>
                  <a:pt x="2920619" y="0"/>
                  <a:pt x="2971800" y="51181"/>
                  <a:pt x="2971800" y="114300"/>
                </a:cubicBezTo>
                <a:lnTo>
                  <a:pt x="2971800" y="495300"/>
                </a:lnTo>
                <a:cubicBezTo>
                  <a:pt x="2971800" y="558419"/>
                  <a:pt x="2920619" y="609600"/>
                  <a:pt x="2857500" y="609600"/>
                </a:cubicBezTo>
                <a:lnTo>
                  <a:pt x="114300" y="609600"/>
                </a:lnTo>
                <a:cubicBezTo>
                  <a:pt x="51181" y="609600"/>
                  <a:pt x="0" y="558419"/>
                  <a:pt x="0" y="495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2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itb-2-2"/>
          <p:cNvSpPr/>
          <p:nvPr/>
        </p:nvSpPr>
        <p:spPr>
          <a:xfrm>
            <a:off x="8102600" y="4178300"/>
            <a:ext cx="31750" cy="330200"/>
          </a:xfrm>
          <a:prstGeom prst="roundRect">
            <a:avLst>
              <a:gd name="adj" fmla="val 50000"/>
            </a:avLst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ia-2-2"/>
          <p:cNvSpPr txBox="1"/>
          <p:nvPr/>
        </p:nvSpPr>
        <p:spPr>
          <a:xfrm>
            <a:off x="8264398" y="4140613"/>
            <a:ext cx="10979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客户成功分享会</a:t>
            </a:r>
          </a:p>
        </p:txBody>
      </p:sp>
      <p:sp>
        <p:nvSpPr>
          <p:cNvPr id="72" name="ib-2-2"/>
          <p:cNvSpPr txBox="1"/>
          <p:nvPr/>
        </p:nvSpPr>
        <p:spPr>
          <a:xfrm>
            <a:off x="8267446" y="4375182"/>
            <a:ext cx="53657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每月一次</a:t>
            </a:r>
          </a:p>
        </p:txBody>
      </p:sp>
      <p:sp>
        <p:nvSpPr>
          <p:cNvPr id="73" name="it-2-3"/>
          <p:cNvSpPr/>
          <p:nvPr/>
        </p:nvSpPr>
        <p:spPr>
          <a:xfrm>
            <a:off x="8102600" y="4749800"/>
            <a:ext cx="2971800" cy="609600"/>
          </a:xfrm>
          <a:custGeom>
            <a:avLst/>
            <a:gdLst/>
            <a:ahLst/>
            <a:cxnLst/>
            <a:rect l="0" t="0" r="r" b="b"/>
            <a:pathLst>
              <a:path w="2971800" h="609600">
                <a:moveTo>
                  <a:pt x="114300" y="0"/>
                </a:moveTo>
                <a:lnTo>
                  <a:pt x="2857500" y="0"/>
                </a:lnTo>
                <a:cubicBezTo>
                  <a:pt x="2920619" y="0"/>
                  <a:pt x="2971800" y="51181"/>
                  <a:pt x="2971800" y="114300"/>
                </a:cubicBezTo>
                <a:lnTo>
                  <a:pt x="2971800" y="495300"/>
                </a:lnTo>
                <a:cubicBezTo>
                  <a:pt x="2971800" y="558419"/>
                  <a:pt x="2920619" y="609600"/>
                  <a:pt x="2857500" y="609600"/>
                </a:cubicBezTo>
                <a:lnTo>
                  <a:pt x="114300" y="609600"/>
                </a:lnTo>
                <a:cubicBezTo>
                  <a:pt x="51181" y="609600"/>
                  <a:pt x="0" y="558419"/>
                  <a:pt x="0" y="495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2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itb-2-3"/>
          <p:cNvSpPr/>
          <p:nvPr/>
        </p:nvSpPr>
        <p:spPr>
          <a:xfrm>
            <a:off x="8102600" y="4889500"/>
            <a:ext cx="31750" cy="330200"/>
          </a:xfrm>
          <a:prstGeom prst="roundRect">
            <a:avLst>
              <a:gd name="adj" fmla="val 50000"/>
            </a:avLst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ia-2-3"/>
          <p:cNvSpPr txBox="1"/>
          <p:nvPr/>
        </p:nvSpPr>
        <p:spPr>
          <a:xfrm>
            <a:off x="8264398" y="4851813"/>
            <a:ext cx="6788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代码评审</a:t>
            </a:r>
          </a:p>
        </p:txBody>
      </p:sp>
      <p:sp>
        <p:nvSpPr>
          <p:cNvPr id="76" name="ib-2-3"/>
          <p:cNvSpPr txBox="1"/>
          <p:nvPr/>
        </p:nvSpPr>
        <p:spPr>
          <a:xfrm>
            <a:off x="8267446" y="5086382"/>
            <a:ext cx="95821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覆盖率保持 100%</a:t>
            </a:r>
          </a:p>
        </p:txBody>
      </p:sp>
      <p:sp>
        <p:nvSpPr>
          <p:cNvPr id="77" name="sum"/>
          <p:cNvSpPr/>
          <p:nvPr/>
        </p:nvSpPr>
        <p:spPr>
          <a:xfrm>
            <a:off x="952500" y="5727700"/>
            <a:ext cx="10287000" cy="431800"/>
          </a:xfrm>
          <a:custGeom>
            <a:avLst/>
            <a:gdLst/>
            <a:ahLst/>
            <a:cxnLst/>
            <a:rect l="0" t="0" r="r" b="b"/>
            <a:pathLst>
              <a:path w="10287000" h="4318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42900"/>
                </a:lnTo>
                <a:cubicBezTo>
                  <a:pt x="10287000" y="391986"/>
                  <a:pt x="10247186" y="431800"/>
                  <a:pt x="10198100" y="431800"/>
                </a:cubicBezTo>
                <a:lnTo>
                  <a:pt x="88900" y="431800"/>
                </a:lnTo>
                <a:cubicBezTo>
                  <a:pt x="39815" y="431800"/>
                  <a:pt x="0" y="391986"/>
                  <a:pt x="0" y="3429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sum-bar"/>
          <p:cNvSpPr/>
          <p:nvPr/>
        </p:nvSpPr>
        <p:spPr>
          <a:xfrm>
            <a:off x="952500" y="5727700"/>
            <a:ext cx="31750" cy="4318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sum-h"/>
          <p:cNvSpPr txBox="1"/>
          <p:nvPr/>
        </p:nvSpPr>
        <p:spPr>
          <a:xfrm>
            <a:off x="1142746" y="58737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执行规则</a:t>
            </a:r>
          </a:p>
        </p:txBody>
      </p:sp>
      <p:sp>
        <p:nvSpPr>
          <p:cNvPr id="80" name="sum-p"/>
          <p:cNvSpPr txBox="1"/>
          <p:nvPr/>
        </p:nvSpPr>
        <p:spPr>
          <a:xfrm>
            <a:off x="1891665" y="5869861"/>
            <a:ext cx="453294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每张清单指定一名负责人，下次复盘逐条打勾；停止清单做到了，开始清单才有时间做。</a:t>
            </a:r>
          </a:p>
        </p:txBody>
      </p:sp>
      <p:cxnSp>
        <p:nvCxnSpPr>
          <p:cNvPr id="81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foot-l"/>
          <p:cNvSpPr txBox="1"/>
          <p:nvPr/>
        </p:nvSpPr>
        <p:spPr>
          <a:xfrm>
            <a:off x="573532" y="6532308"/>
            <a:ext cx="102641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开始 · 停止 · 继续</a:t>
            </a:r>
          </a:p>
        </p:txBody>
      </p:sp>
      <p:sp>
        <p:nvSpPr>
          <p:cNvPr id="83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14706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战略画布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44589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STRATEGY CANVAS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7846695" y="673132"/>
            <a:ext cx="3774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八个竞争要素上画出三条价值曲线——我们不跟着行业走，而是换一条曲线</a:t>
            </a:r>
          </a:p>
        </p:txBody>
      </p:sp>
      <p:cxnSp>
        <p:nvCxnSpPr>
          <p:cNvPr id="10" name="gy-0"/>
          <p:cNvCxnSpPr/>
          <p:nvPr/>
        </p:nvCxnSpPr>
        <p:spPr>
          <a:xfrm>
            <a:off x="1587500" y="5080000"/>
            <a:ext cx="5905500" cy="0"/>
          </a:xfrm>
          <a:prstGeom prst="line">
            <a:avLst/>
          </a:prstGeom>
          <a:ln w="635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gy-1"/>
          <p:cNvCxnSpPr/>
          <p:nvPr/>
        </p:nvCxnSpPr>
        <p:spPr>
          <a:xfrm>
            <a:off x="1587500" y="4457700"/>
            <a:ext cx="59055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gy-2"/>
          <p:cNvCxnSpPr/>
          <p:nvPr/>
        </p:nvCxnSpPr>
        <p:spPr>
          <a:xfrm>
            <a:off x="1587500" y="3835400"/>
            <a:ext cx="59055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gy-3"/>
          <p:cNvCxnSpPr/>
          <p:nvPr/>
        </p:nvCxnSpPr>
        <p:spPr>
          <a:xfrm>
            <a:off x="1587500" y="3213100"/>
            <a:ext cx="59055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gy-4"/>
          <p:cNvCxnSpPr/>
          <p:nvPr/>
        </p:nvCxnSpPr>
        <p:spPr>
          <a:xfrm>
            <a:off x="1587500" y="2590800"/>
            <a:ext cx="59055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gy-5"/>
          <p:cNvCxnSpPr/>
          <p:nvPr/>
        </p:nvCxnSpPr>
        <p:spPr>
          <a:xfrm>
            <a:off x="1587500" y="1968500"/>
            <a:ext cx="59055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hi"/>
          <p:cNvSpPr txBox="1"/>
          <p:nvPr/>
        </p:nvSpPr>
        <p:spPr>
          <a:xfrm>
            <a:off x="1316355" y="1888966"/>
            <a:ext cx="1809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高</a:t>
            </a:r>
          </a:p>
        </p:txBody>
      </p:sp>
      <p:sp>
        <p:nvSpPr>
          <p:cNvPr id="17" name="lo"/>
          <p:cNvSpPr txBox="1"/>
          <p:nvPr/>
        </p:nvSpPr>
        <p:spPr>
          <a:xfrm>
            <a:off x="1316355" y="5000466"/>
            <a:ext cx="1809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低</a:t>
            </a:r>
          </a:p>
        </p:txBody>
      </p:sp>
      <p:cxnSp>
        <p:nvCxnSpPr>
          <p:cNvPr id="18" name="gx-0"/>
          <p:cNvCxnSpPr/>
          <p:nvPr/>
        </p:nvCxnSpPr>
        <p:spPr>
          <a:xfrm>
            <a:off x="1841500" y="1968500"/>
            <a:ext cx="0" cy="311150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f-0"/>
          <p:cNvSpPr txBox="1"/>
          <p:nvPr/>
        </p:nvSpPr>
        <p:spPr>
          <a:xfrm>
            <a:off x="1592580" y="5183124"/>
            <a:ext cx="4978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价格水平</a:t>
            </a:r>
          </a:p>
        </p:txBody>
      </p:sp>
      <p:cxnSp>
        <p:nvCxnSpPr>
          <p:cNvPr id="20" name="gx-1"/>
          <p:cNvCxnSpPr/>
          <p:nvPr/>
        </p:nvCxnSpPr>
        <p:spPr>
          <a:xfrm>
            <a:off x="2612571" y="1968500"/>
            <a:ext cx="0" cy="311150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f-1"/>
          <p:cNvSpPr txBox="1"/>
          <p:nvPr/>
        </p:nvSpPr>
        <p:spPr>
          <a:xfrm>
            <a:off x="2363651" y="5183124"/>
            <a:ext cx="4978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功能数量</a:t>
            </a:r>
          </a:p>
        </p:txBody>
      </p:sp>
      <p:cxnSp>
        <p:nvCxnSpPr>
          <p:cNvPr id="22" name="gx-2"/>
          <p:cNvCxnSpPr/>
          <p:nvPr/>
        </p:nvCxnSpPr>
        <p:spPr>
          <a:xfrm>
            <a:off x="3383643" y="1968500"/>
            <a:ext cx="0" cy="311150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f-2"/>
          <p:cNvSpPr txBox="1"/>
          <p:nvPr/>
        </p:nvSpPr>
        <p:spPr>
          <a:xfrm>
            <a:off x="3134723" y="5183124"/>
            <a:ext cx="4978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定制服务</a:t>
            </a:r>
          </a:p>
        </p:txBody>
      </p:sp>
      <p:cxnSp>
        <p:nvCxnSpPr>
          <p:cNvPr id="24" name="gx-3"/>
          <p:cNvCxnSpPr/>
          <p:nvPr/>
        </p:nvCxnSpPr>
        <p:spPr>
          <a:xfrm>
            <a:off x="4154714" y="1968500"/>
            <a:ext cx="0" cy="311150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f-3"/>
          <p:cNvSpPr txBox="1"/>
          <p:nvPr/>
        </p:nvSpPr>
        <p:spPr>
          <a:xfrm>
            <a:off x="3854994" y="5183124"/>
            <a:ext cx="5994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移动端体验</a:t>
            </a:r>
          </a:p>
        </p:txBody>
      </p:sp>
      <p:cxnSp>
        <p:nvCxnSpPr>
          <p:cNvPr id="26" name="gx-4"/>
          <p:cNvCxnSpPr/>
          <p:nvPr/>
        </p:nvCxnSpPr>
        <p:spPr>
          <a:xfrm>
            <a:off x="4925786" y="1968500"/>
            <a:ext cx="0" cy="311150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-4"/>
          <p:cNvSpPr txBox="1"/>
          <p:nvPr/>
        </p:nvSpPr>
        <p:spPr>
          <a:xfrm>
            <a:off x="4676866" y="5183124"/>
            <a:ext cx="4978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上手速度</a:t>
            </a:r>
          </a:p>
        </p:txBody>
      </p:sp>
      <p:cxnSp>
        <p:nvCxnSpPr>
          <p:cNvPr id="28" name="gx-5"/>
          <p:cNvCxnSpPr/>
          <p:nvPr/>
        </p:nvCxnSpPr>
        <p:spPr>
          <a:xfrm>
            <a:off x="5696857" y="1968500"/>
            <a:ext cx="0" cy="311150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f-5"/>
          <p:cNvSpPr txBox="1"/>
          <p:nvPr/>
        </p:nvSpPr>
        <p:spPr>
          <a:xfrm>
            <a:off x="5397137" y="5183124"/>
            <a:ext cx="5994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本地化支持</a:t>
            </a:r>
          </a:p>
        </p:txBody>
      </p:sp>
      <p:cxnSp>
        <p:nvCxnSpPr>
          <p:cNvPr id="30" name="gx-6"/>
          <p:cNvCxnSpPr/>
          <p:nvPr/>
        </p:nvCxnSpPr>
        <p:spPr>
          <a:xfrm>
            <a:off x="6467929" y="1968500"/>
            <a:ext cx="0" cy="311150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f-6"/>
          <p:cNvSpPr txBox="1"/>
          <p:nvPr/>
        </p:nvSpPr>
        <p:spPr>
          <a:xfrm>
            <a:off x="6219009" y="5183124"/>
            <a:ext cx="4978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数据洞察</a:t>
            </a:r>
          </a:p>
        </p:txBody>
      </p:sp>
      <p:cxnSp>
        <p:nvCxnSpPr>
          <p:cNvPr id="32" name="gx-7"/>
          <p:cNvCxnSpPr/>
          <p:nvPr/>
        </p:nvCxnSpPr>
        <p:spPr>
          <a:xfrm>
            <a:off x="7239000" y="1968500"/>
            <a:ext cx="0" cy="311150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f-7"/>
          <p:cNvSpPr txBox="1"/>
          <p:nvPr/>
        </p:nvSpPr>
        <p:spPr>
          <a:xfrm>
            <a:off x="6990080" y="5183124"/>
            <a:ext cx="4978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社区生态</a:t>
            </a:r>
          </a:p>
        </p:txBody>
      </p:sp>
      <p:sp>
        <p:nvSpPr>
          <p:cNvPr id="34" name="ln-0"/>
          <p:cNvSpPr/>
          <p:nvPr/>
        </p:nvSpPr>
        <p:spPr>
          <a:xfrm>
            <a:off x="1841500" y="2581599"/>
            <a:ext cx="5397500" cy="2187251"/>
          </a:xfrm>
          <a:custGeom>
            <a:avLst/>
            <a:gdLst/>
            <a:ahLst/>
            <a:cxnLst/>
            <a:rect l="0" t="0" r="r" b="b"/>
            <a:pathLst>
              <a:path w="5397500" h="2187251">
                <a:moveTo>
                  <a:pt x="0" y="9201"/>
                </a:moveTo>
                <a:cubicBezTo>
                  <a:pt x="51435" y="9201"/>
                  <a:pt x="668274" y="-11563"/>
                  <a:pt x="771080" y="9201"/>
                </a:cubicBezTo>
                <a:cubicBezTo>
                  <a:pt x="873887" y="29966"/>
                  <a:pt x="1439354" y="278886"/>
                  <a:pt x="1542161" y="320351"/>
                </a:cubicBezTo>
                <a:cubicBezTo>
                  <a:pt x="1644967" y="361817"/>
                  <a:pt x="2210435" y="590036"/>
                  <a:pt x="2313242" y="631501"/>
                </a:cubicBezTo>
                <a:cubicBezTo>
                  <a:pt x="2416048" y="672967"/>
                  <a:pt x="2981452" y="921887"/>
                  <a:pt x="3084258" y="942651"/>
                </a:cubicBezTo>
                <a:cubicBezTo>
                  <a:pt x="3187065" y="963416"/>
                  <a:pt x="3752533" y="880421"/>
                  <a:pt x="3855339" y="942651"/>
                </a:cubicBezTo>
                <a:cubicBezTo>
                  <a:pt x="3958146" y="1004881"/>
                  <a:pt x="4523613" y="1793107"/>
                  <a:pt x="4626420" y="1876101"/>
                </a:cubicBezTo>
                <a:cubicBezTo>
                  <a:pt x="4729226" y="1959096"/>
                  <a:pt x="5346065" y="2166487"/>
                  <a:pt x="5397500" y="2187251"/>
                </a:cubicBezTo>
              </a:path>
            </a:pathLst>
          </a:custGeom>
          <a:noFill/>
          <a:ln w="19050" cap="rnd">
            <a:solidFill>
              <a:srgbClr val="9DB2CC"/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pt-0-0"/>
          <p:cNvSpPr/>
          <p:nvPr/>
        </p:nvSpPr>
        <p:spPr>
          <a:xfrm>
            <a:off x="1803400" y="2552700"/>
            <a:ext cx="76200" cy="762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9DB2C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pt-0-1"/>
          <p:cNvSpPr/>
          <p:nvPr/>
        </p:nvSpPr>
        <p:spPr>
          <a:xfrm>
            <a:off x="2574471" y="2552700"/>
            <a:ext cx="76200" cy="762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9DB2C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pt-0-2"/>
          <p:cNvSpPr/>
          <p:nvPr/>
        </p:nvSpPr>
        <p:spPr>
          <a:xfrm>
            <a:off x="3345543" y="2863850"/>
            <a:ext cx="76200" cy="762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9DB2C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pt-0-3"/>
          <p:cNvSpPr/>
          <p:nvPr/>
        </p:nvSpPr>
        <p:spPr>
          <a:xfrm>
            <a:off x="4116614" y="3175000"/>
            <a:ext cx="76200" cy="762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9DB2C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pt-0-4"/>
          <p:cNvSpPr/>
          <p:nvPr/>
        </p:nvSpPr>
        <p:spPr>
          <a:xfrm>
            <a:off x="4887686" y="3486150"/>
            <a:ext cx="76200" cy="762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9DB2C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pt-0-5"/>
          <p:cNvSpPr/>
          <p:nvPr/>
        </p:nvSpPr>
        <p:spPr>
          <a:xfrm>
            <a:off x="5658757" y="3486150"/>
            <a:ext cx="76200" cy="762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9DB2C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pt-0-6"/>
          <p:cNvSpPr/>
          <p:nvPr/>
        </p:nvSpPr>
        <p:spPr>
          <a:xfrm>
            <a:off x="6429829" y="4419600"/>
            <a:ext cx="76200" cy="762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9DB2C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pt-0-7"/>
          <p:cNvSpPr/>
          <p:nvPr/>
        </p:nvSpPr>
        <p:spPr>
          <a:xfrm>
            <a:off x="7200900" y="4730750"/>
            <a:ext cx="76200" cy="762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9DB2C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43" name="lg-0"/>
          <p:cNvCxnSpPr/>
          <p:nvPr/>
        </p:nvCxnSpPr>
        <p:spPr>
          <a:xfrm>
            <a:off x="1587500" y="1587500"/>
            <a:ext cx="215900" cy="0"/>
          </a:xfrm>
          <a:prstGeom prst="line">
            <a:avLst/>
          </a:prstGeom>
          <a:ln w="25400" cap="rnd">
            <a:solidFill>
              <a:srgbClr val="9DB2CC"/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lgt-0"/>
          <p:cNvSpPr txBox="1"/>
          <p:nvPr/>
        </p:nvSpPr>
        <p:spPr>
          <a:xfrm>
            <a:off x="1854708" y="1500124"/>
            <a:ext cx="4978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行业平均</a:t>
            </a:r>
          </a:p>
        </p:txBody>
      </p:sp>
      <p:sp>
        <p:nvSpPr>
          <p:cNvPr id="45" name="ln-1"/>
          <p:cNvSpPr/>
          <p:nvPr/>
        </p:nvSpPr>
        <p:spPr>
          <a:xfrm>
            <a:off x="1841500" y="2270449"/>
            <a:ext cx="5397500" cy="2187251"/>
          </a:xfrm>
          <a:custGeom>
            <a:avLst/>
            <a:gdLst/>
            <a:ahLst/>
            <a:cxnLst/>
            <a:rect l="0" t="0" r="r" b="b"/>
            <a:pathLst>
              <a:path w="5397500" h="2187251">
                <a:moveTo>
                  <a:pt x="0" y="9201"/>
                </a:moveTo>
                <a:cubicBezTo>
                  <a:pt x="51435" y="9201"/>
                  <a:pt x="668274" y="-11563"/>
                  <a:pt x="771080" y="9201"/>
                </a:cubicBezTo>
                <a:cubicBezTo>
                  <a:pt x="873887" y="29966"/>
                  <a:pt x="1439354" y="278886"/>
                  <a:pt x="1542161" y="320351"/>
                </a:cubicBezTo>
                <a:cubicBezTo>
                  <a:pt x="1644967" y="361817"/>
                  <a:pt x="2210435" y="548507"/>
                  <a:pt x="2313242" y="631501"/>
                </a:cubicBezTo>
                <a:cubicBezTo>
                  <a:pt x="2416048" y="714496"/>
                  <a:pt x="2981452" y="1502721"/>
                  <a:pt x="3084258" y="1564951"/>
                </a:cubicBezTo>
                <a:cubicBezTo>
                  <a:pt x="3187065" y="1627181"/>
                  <a:pt x="3752533" y="1544187"/>
                  <a:pt x="3855339" y="1564951"/>
                </a:cubicBezTo>
                <a:cubicBezTo>
                  <a:pt x="3958146" y="1585716"/>
                  <a:pt x="4523613" y="1834636"/>
                  <a:pt x="4626420" y="1876101"/>
                </a:cubicBezTo>
                <a:cubicBezTo>
                  <a:pt x="4729226" y="1917567"/>
                  <a:pt x="5346065" y="2166487"/>
                  <a:pt x="5397500" y="2187251"/>
                </a:cubicBezTo>
              </a:path>
            </a:pathLst>
          </a:custGeom>
          <a:noFill/>
          <a:ln w="1905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pt-1-0"/>
          <p:cNvSpPr/>
          <p:nvPr/>
        </p:nvSpPr>
        <p:spPr>
          <a:xfrm>
            <a:off x="1803400" y="2241550"/>
            <a:ext cx="76200" cy="76200"/>
          </a:xfrm>
          <a:prstGeom prst="ellipse">
            <a:avLst/>
          </a:prstGeom>
          <a:solidFill>
            <a:srgbClr val="2468B6"/>
          </a:solidFill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pt-1-1"/>
          <p:cNvSpPr/>
          <p:nvPr/>
        </p:nvSpPr>
        <p:spPr>
          <a:xfrm>
            <a:off x="2574471" y="2241550"/>
            <a:ext cx="76200" cy="76200"/>
          </a:xfrm>
          <a:prstGeom prst="ellipse">
            <a:avLst/>
          </a:prstGeom>
          <a:solidFill>
            <a:srgbClr val="2468B6"/>
          </a:solidFill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pt-1-2"/>
          <p:cNvSpPr/>
          <p:nvPr/>
        </p:nvSpPr>
        <p:spPr>
          <a:xfrm>
            <a:off x="3345543" y="2552700"/>
            <a:ext cx="76200" cy="76200"/>
          </a:xfrm>
          <a:prstGeom prst="ellipse">
            <a:avLst/>
          </a:prstGeom>
          <a:solidFill>
            <a:srgbClr val="2468B6"/>
          </a:solidFill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pt-1-3"/>
          <p:cNvSpPr/>
          <p:nvPr/>
        </p:nvSpPr>
        <p:spPr>
          <a:xfrm>
            <a:off x="4116614" y="2863850"/>
            <a:ext cx="76200" cy="76200"/>
          </a:xfrm>
          <a:prstGeom prst="ellipse">
            <a:avLst/>
          </a:prstGeom>
          <a:solidFill>
            <a:srgbClr val="2468B6"/>
          </a:solidFill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pt-1-4"/>
          <p:cNvSpPr/>
          <p:nvPr/>
        </p:nvSpPr>
        <p:spPr>
          <a:xfrm>
            <a:off x="4887686" y="3797300"/>
            <a:ext cx="76200" cy="76200"/>
          </a:xfrm>
          <a:prstGeom prst="ellipse">
            <a:avLst/>
          </a:prstGeom>
          <a:solidFill>
            <a:srgbClr val="2468B6"/>
          </a:solidFill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pt-1-5"/>
          <p:cNvSpPr/>
          <p:nvPr/>
        </p:nvSpPr>
        <p:spPr>
          <a:xfrm>
            <a:off x="5658757" y="3797300"/>
            <a:ext cx="76200" cy="76200"/>
          </a:xfrm>
          <a:prstGeom prst="ellipse">
            <a:avLst/>
          </a:prstGeom>
          <a:solidFill>
            <a:srgbClr val="2468B6"/>
          </a:solidFill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pt-1-6"/>
          <p:cNvSpPr/>
          <p:nvPr/>
        </p:nvSpPr>
        <p:spPr>
          <a:xfrm>
            <a:off x="6429829" y="4108450"/>
            <a:ext cx="76200" cy="76200"/>
          </a:xfrm>
          <a:prstGeom prst="ellipse">
            <a:avLst/>
          </a:prstGeom>
          <a:solidFill>
            <a:srgbClr val="2468B6"/>
          </a:solidFill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pt-1-7"/>
          <p:cNvSpPr/>
          <p:nvPr/>
        </p:nvSpPr>
        <p:spPr>
          <a:xfrm>
            <a:off x="7200900" y="4419600"/>
            <a:ext cx="76200" cy="76200"/>
          </a:xfrm>
          <a:prstGeom prst="ellipse">
            <a:avLst/>
          </a:prstGeom>
          <a:solidFill>
            <a:srgbClr val="2468B6"/>
          </a:solidFill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54" name="lg-1"/>
          <p:cNvCxnSpPr/>
          <p:nvPr/>
        </p:nvCxnSpPr>
        <p:spPr>
          <a:xfrm>
            <a:off x="2667000" y="1587500"/>
            <a:ext cx="215900" cy="0"/>
          </a:xfrm>
          <a:prstGeom prst="line">
            <a:avLst/>
          </a:prstGeom>
          <a:ln w="25400" cap="rnd">
            <a:solidFill>
              <a:srgbClr val="2468B6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lgt-1"/>
          <p:cNvSpPr txBox="1"/>
          <p:nvPr/>
        </p:nvSpPr>
        <p:spPr>
          <a:xfrm>
            <a:off x="2934208" y="1500124"/>
            <a:ext cx="4084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竞品 A</a:t>
            </a:r>
          </a:p>
        </p:txBody>
      </p:sp>
      <p:sp>
        <p:nvSpPr>
          <p:cNvPr id="56" name="ln-2"/>
          <p:cNvSpPr/>
          <p:nvPr/>
        </p:nvSpPr>
        <p:spPr>
          <a:xfrm>
            <a:off x="1841500" y="2270449"/>
            <a:ext cx="5397500" cy="2498401"/>
          </a:xfrm>
          <a:custGeom>
            <a:avLst/>
            <a:gdLst/>
            <a:ahLst/>
            <a:cxnLst/>
            <a:rect l="0" t="0" r="r" b="b"/>
            <a:pathLst>
              <a:path w="5397500" h="2498401">
                <a:moveTo>
                  <a:pt x="0" y="1253801"/>
                </a:moveTo>
                <a:cubicBezTo>
                  <a:pt x="51435" y="1253801"/>
                  <a:pt x="668274" y="1170807"/>
                  <a:pt x="771080" y="1253801"/>
                </a:cubicBezTo>
                <a:cubicBezTo>
                  <a:pt x="873887" y="1336796"/>
                  <a:pt x="1439354" y="2560631"/>
                  <a:pt x="1542161" y="2498401"/>
                </a:cubicBezTo>
                <a:cubicBezTo>
                  <a:pt x="1644967" y="2436171"/>
                  <a:pt x="2210435" y="486277"/>
                  <a:pt x="2313242" y="320351"/>
                </a:cubicBezTo>
                <a:cubicBezTo>
                  <a:pt x="2416048" y="154426"/>
                  <a:pt x="2981452" y="29966"/>
                  <a:pt x="3084258" y="9201"/>
                </a:cubicBezTo>
                <a:cubicBezTo>
                  <a:pt x="3187065" y="-11563"/>
                  <a:pt x="3752533" y="9201"/>
                  <a:pt x="3855339" y="9201"/>
                </a:cubicBezTo>
                <a:cubicBezTo>
                  <a:pt x="3958146" y="9201"/>
                  <a:pt x="4523613" y="-11563"/>
                  <a:pt x="4626420" y="9201"/>
                </a:cubicBezTo>
                <a:cubicBezTo>
                  <a:pt x="4729226" y="29966"/>
                  <a:pt x="5346065" y="299587"/>
                  <a:pt x="5397500" y="320351"/>
                </a:cubicBezTo>
              </a:path>
            </a:pathLst>
          </a:custGeom>
          <a:noFill/>
          <a:ln w="3175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pt-2-0"/>
          <p:cNvSpPr/>
          <p:nvPr/>
        </p:nvSpPr>
        <p:spPr>
          <a:xfrm>
            <a:off x="1784350" y="3467100"/>
            <a:ext cx="114300" cy="1143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pt-2-1"/>
          <p:cNvSpPr/>
          <p:nvPr/>
        </p:nvSpPr>
        <p:spPr>
          <a:xfrm>
            <a:off x="2555421" y="3467100"/>
            <a:ext cx="114300" cy="1143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pt-2-2"/>
          <p:cNvSpPr/>
          <p:nvPr/>
        </p:nvSpPr>
        <p:spPr>
          <a:xfrm>
            <a:off x="3326493" y="4711700"/>
            <a:ext cx="114300" cy="1143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pt-2-3"/>
          <p:cNvSpPr/>
          <p:nvPr/>
        </p:nvSpPr>
        <p:spPr>
          <a:xfrm>
            <a:off x="4097564" y="2533650"/>
            <a:ext cx="114300" cy="1143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pt-2-4"/>
          <p:cNvSpPr/>
          <p:nvPr/>
        </p:nvSpPr>
        <p:spPr>
          <a:xfrm>
            <a:off x="4868636" y="2222500"/>
            <a:ext cx="114300" cy="1143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pt-2-5"/>
          <p:cNvSpPr/>
          <p:nvPr/>
        </p:nvSpPr>
        <p:spPr>
          <a:xfrm>
            <a:off x="5639707" y="2222500"/>
            <a:ext cx="114300" cy="1143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pt-2-6"/>
          <p:cNvSpPr/>
          <p:nvPr/>
        </p:nvSpPr>
        <p:spPr>
          <a:xfrm>
            <a:off x="6410779" y="2222500"/>
            <a:ext cx="114300" cy="1143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pt-2-7"/>
          <p:cNvSpPr/>
          <p:nvPr/>
        </p:nvSpPr>
        <p:spPr>
          <a:xfrm>
            <a:off x="7181850" y="2533650"/>
            <a:ext cx="114300" cy="1143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65" name="lg-2"/>
          <p:cNvCxnSpPr/>
          <p:nvPr/>
        </p:nvCxnSpPr>
        <p:spPr>
          <a:xfrm>
            <a:off x="3746500" y="1587500"/>
            <a:ext cx="215900" cy="0"/>
          </a:xfrm>
          <a:prstGeom prst="line">
            <a:avLst/>
          </a:prstGeom>
          <a:ln w="25400" cap="rnd">
            <a:solidFill>
              <a:srgbClr val="E0703A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" name="lgt-2"/>
          <p:cNvSpPr txBox="1"/>
          <p:nvPr/>
        </p:nvSpPr>
        <p:spPr>
          <a:xfrm>
            <a:off x="4013708" y="1500124"/>
            <a:ext cx="2946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我们</a:t>
            </a:r>
          </a:p>
        </p:txBody>
      </p:sp>
      <p:sp>
        <p:nvSpPr>
          <p:cNvPr id="67" name="new"/>
          <p:cNvSpPr/>
          <p:nvPr/>
        </p:nvSpPr>
        <p:spPr>
          <a:xfrm>
            <a:off x="4544758" y="1917700"/>
            <a:ext cx="3075242" cy="292100"/>
          </a:xfrm>
          <a:custGeom>
            <a:avLst/>
            <a:gdLst/>
            <a:ahLst/>
            <a:cxnLst/>
            <a:rect l="0" t="0" r="r" b="b"/>
            <a:pathLst>
              <a:path w="3075242" h="292100">
                <a:moveTo>
                  <a:pt x="146050" y="0"/>
                </a:moveTo>
                <a:lnTo>
                  <a:pt x="2929192" y="0"/>
                </a:lnTo>
                <a:cubicBezTo>
                  <a:pt x="3009836" y="0"/>
                  <a:pt x="3075242" y="65405"/>
                  <a:pt x="3075242" y="146050"/>
                </a:cubicBezTo>
                <a:lnTo>
                  <a:pt x="3075242" y="146050"/>
                </a:lnTo>
                <a:cubicBezTo>
                  <a:pt x="3075242" y="226695"/>
                  <a:pt x="3009836" y="292100"/>
                  <a:pt x="2929192" y="292100"/>
                </a:cubicBezTo>
                <a:lnTo>
                  <a:pt x="146050" y="292100"/>
                </a:lnTo>
                <a:cubicBezTo>
                  <a:pt x="65405" y="292100"/>
                  <a:pt x="0" y="226695"/>
                  <a:pt x="0" y="146050"/>
                </a:cubicBezTo>
                <a:lnTo>
                  <a:pt x="0" y="146050"/>
                </a:lnTo>
                <a:cubicBezTo>
                  <a:pt x="0" y="65405"/>
                  <a:pt x="65405" y="0"/>
                  <a:pt x="146050" y="0"/>
                </a:cubicBezTo>
                <a:close/>
              </a:path>
            </a:pathLst>
          </a:custGeom>
          <a:solidFill>
            <a:srgbClr val="FCEFE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new-t"/>
          <p:cNvSpPr txBox="1"/>
          <p:nvPr/>
        </p:nvSpPr>
        <p:spPr>
          <a:xfrm>
            <a:off x="5515655" y="1990566"/>
            <a:ext cx="11334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B8531F"/>
                </a:solidFill>
                <a:latin typeface="微软雅黑"/>
                <a:ea typeface="微软雅黑"/>
                <a:cs typeface="微软雅黑"/>
              </a:rPr>
              <a:t>新价值区：行业没人做好</a:t>
            </a:r>
          </a:p>
        </p:txBody>
      </p:sp>
      <p:sp>
        <p:nvSpPr>
          <p:cNvPr id="69" name="e-h"/>
          <p:cNvSpPr txBox="1"/>
          <p:nvPr/>
        </p:nvSpPr>
        <p:spPr>
          <a:xfrm>
            <a:off x="8046212" y="1475486"/>
            <a:ext cx="11277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四步动作框架</a:t>
            </a:r>
          </a:p>
        </p:txBody>
      </p:sp>
      <p:sp>
        <p:nvSpPr>
          <p:cNvPr id="70" name="e-0"/>
          <p:cNvSpPr/>
          <p:nvPr/>
        </p:nvSpPr>
        <p:spPr>
          <a:xfrm>
            <a:off x="8064500" y="1866900"/>
            <a:ext cx="1555750" cy="1701800"/>
          </a:xfrm>
          <a:custGeom>
            <a:avLst/>
            <a:gdLst/>
            <a:ahLst/>
            <a:cxnLst/>
            <a:rect l="0" t="0" r="r" b="b"/>
            <a:pathLst>
              <a:path w="1555750" h="1701800">
                <a:moveTo>
                  <a:pt x="139700" y="0"/>
                </a:moveTo>
                <a:lnTo>
                  <a:pt x="1416050" y="0"/>
                </a:lnTo>
                <a:cubicBezTo>
                  <a:pt x="1493203" y="0"/>
                  <a:pt x="1555750" y="62548"/>
                  <a:pt x="1555750" y="139700"/>
                </a:cubicBezTo>
                <a:lnTo>
                  <a:pt x="1555750" y="1562100"/>
                </a:lnTo>
                <a:cubicBezTo>
                  <a:pt x="1555750" y="1639252"/>
                  <a:pt x="1493203" y="1701800"/>
                  <a:pt x="1416050" y="1701800"/>
                </a:cubicBezTo>
                <a:lnTo>
                  <a:pt x="139700" y="1701800"/>
                </a:lnTo>
                <a:cubicBezTo>
                  <a:pt x="62547" y="1701800"/>
                  <a:pt x="0" y="1639252"/>
                  <a:pt x="0" y="15621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eh-0"/>
          <p:cNvSpPr/>
          <p:nvPr/>
        </p:nvSpPr>
        <p:spPr>
          <a:xfrm>
            <a:off x="8064500" y="1866900"/>
            <a:ext cx="1555750" cy="546100"/>
          </a:xfrm>
          <a:custGeom>
            <a:avLst/>
            <a:gdLst/>
            <a:ahLst/>
            <a:cxnLst/>
            <a:rect l="0" t="0" r="r" b="b"/>
            <a:pathLst>
              <a:path w="1555750" h="546100">
                <a:moveTo>
                  <a:pt x="0" y="139700"/>
                </a:moveTo>
                <a:cubicBezTo>
                  <a:pt x="0" y="63500"/>
                  <a:pt x="63500" y="0"/>
                  <a:pt x="139700" y="0"/>
                </a:cubicBezTo>
                <a:lnTo>
                  <a:pt x="1416050" y="0"/>
                </a:lnTo>
                <a:cubicBezTo>
                  <a:pt x="1492250" y="0"/>
                  <a:pt x="1555750" y="63500"/>
                  <a:pt x="1555750" y="139700"/>
                </a:cubicBezTo>
                <a:lnTo>
                  <a:pt x="1555750" y="546100"/>
                </a:lnTo>
                <a:lnTo>
                  <a:pt x="0" y="546100"/>
                </a:lnTo>
                <a:close/>
              </a:path>
            </a:pathLst>
          </a:custGeom>
          <a:solidFill>
            <a:srgbClr val="8FA6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ec-0"/>
          <p:cNvSpPr txBox="1"/>
          <p:nvPr/>
        </p:nvSpPr>
        <p:spPr>
          <a:xfrm>
            <a:off x="8195564" y="1964817"/>
            <a:ext cx="5664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剔除</a:t>
            </a:r>
          </a:p>
        </p:txBody>
      </p:sp>
      <p:sp>
        <p:nvSpPr>
          <p:cNvPr id="73" name="ee-0"/>
          <p:cNvSpPr txBox="1"/>
          <p:nvPr/>
        </p:nvSpPr>
        <p:spPr>
          <a:xfrm>
            <a:off x="8206232" y="2227008"/>
            <a:ext cx="64236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00">
                <a:solidFill>
                  <a:srgbClr val="F2F6FC"/>
                </a:solidFill>
                <a:latin typeface="Arial"/>
                <a:ea typeface="Arial"/>
                <a:cs typeface="Arial"/>
              </a:rPr>
              <a:t>ELIMINATE</a:t>
            </a:r>
          </a:p>
        </p:txBody>
      </p:sp>
      <p:sp>
        <p:nvSpPr>
          <p:cNvPr id="74" name="ed-0-0"/>
          <p:cNvSpPr/>
          <p:nvPr/>
        </p:nvSpPr>
        <p:spPr>
          <a:xfrm>
            <a:off x="8235950" y="2609850"/>
            <a:ext cx="63500" cy="63500"/>
          </a:xfrm>
          <a:prstGeom prst="ellipse">
            <a:avLst/>
          </a:prstGeom>
          <a:solidFill>
            <a:srgbClr val="8FA6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et-0-0"/>
          <p:cNvSpPr txBox="1"/>
          <p:nvPr/>
        </p:nvSpPr>
        <p:spPr>
          <a:xfrm>
            <a:off x="8355203" y="2534618"/>
            <a:ext cx="57562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定制服务</a:t>
            </a:r>
          </a:p>
        </p:txBody>
      </p:sp>
      <p:sp>
        <p:nvSpPr>
          <p:cNvPr id="76" name="es-0-0"/>
          <p:cNvSpPr txBox="1"/>
          <p:nvPr/>
        </p:nvSpPr>
        <p:spPr>
          <a:xfrm>
            <a:off x="8357870" y="2739866"/>
            <a:ext cx="7524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只做标准化产品</a:t>
            </a:r>
          </a:p>
        </p:txBody>
      </p:sp>
      <p:sp>
        <p:nvSpPr>
          <p:cNvPr id="77" name="e-1"/>
          <p:cNvSpPr/>
          <p:nvPr/>
        </p:nvSpPr>
        <p:spPr>
          <a:xfrm>
            <a:off x="9683750" y="1866900"/>
            <a:ext cx="1555750" cy="1701800"/>
          </a:xfrm>
          <a:custGeom>
            <a:avLst/>
            <a:gdLst/>
            <a:ahLst/>
            <a:cxnLst/>
            <a:rect l="0" t="0" r="r" b="b"/>
            <a:pathLst>
              <a:path w="1555750" h="1701800">
                <a:moveTo>
                  <a:pt x="139700" y="0"/>
                </a:moveTo>
                <a:lnTo>
                  <a:pt x="1416050" y="0"/>
                </a:lnTo>
                <a:cubicBezTo>
                  <a:pt x="1493203" y="0"/>
                  <a:pt x="1555750" y="62548"/>
                  <a:pt x="1555750" y="139700"/>
                </a:cubicBezTo>
                <a:lnTo>
                  <a:pt x="1555750" y="1562100"/>
                </a:lnTo>
                <a:cubicBezTo>
                  <a:pt x="1555750" y="1639252"/>
                  <a:pt x="1493203" y="1701800"/>
                  <a:pt x="1416050" y="1701800"/>
                </a:cubicBezTo>
                <a:lnTo>
                  <a:pt x="139700" y="1701800"/>
                </a:lnTo>
                <a:cubicBezTo>
                  <a:pt x="62547" y="1701800"/>
                  <a:pt x="0" y="1639252"/>
                  <a:pt x="0" y="15621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eh-1"/>
          <p:cNvSpPr/>
          <p:nvPr/>
        </p:nvSpPr>
        <p:spPr>
          <a:xfrm>
            <a:off x="9683750" y="1866900"/>
            <a:ext cx="1555750" cy="546100"/>
          </a:xfrm>
          <a:custGeom>
            <a:avLst/>
            <a:gdLst/>
            <a:ahLst/>
            <a:cxnLst/>
            <a:rect l="0" t="0" r="r" b="b"/>
            <a:pathLst>
              <a:path w="1555750" h="546100">
                <a:moveTo>
                  <a:pt x="0" y="139700"/>
                </a:moveTo>
                <a:cubicBezTo>
                  <a:pt x="0" y="63500"/>
                  <a:pt x="63500" y="0"/>
                  <a:pt x="139700" y="0"/>
                </a:cubicBezTo>
                <a:lnTo>
                  <a:pt x="1416050" y="0"/>
                </a:lnTo>
                <a:cubicBezTo>
                  <a:pt x="1492250" y="0"/>
                  <a:pt x="1555750" y="63500"/>
                  <a:pt x="1555750" y="139700"/>
                </a:cubicBezTo>
                <a:lnTo>
                  <a:pt x="1555750" y="546100"/>
                </a:lnTo>
                <a:lnTo>
                  <a:pt x="0" y="546100"/>
                </a:ln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ec-1"/>
          <p:cNvSpPr txBox="1"/>
          <p:nvPr/>
        </p:nvSpPr>
        <p:spPr>
          <a:xfrm>
            <a:off x="9814814" y="1964817"/>
            <a:ext cx="5664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减少</a:t>
            </a:r>
          </a:p>
        </p:txBody>
      </p:sp>
      <p:sp>
        <p:nvSpPr>
          <p:cNvPr id="80" name="ee-1"/>
          <p:cNvSpPr txBox="1"/>
          <p:nvPr/>
        </p:nvSpPr>
        <p:spPr>
          <a:xfrm>
            <a:off x="9825482" y="2227008"/>
            <a:ext cx="45491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00">
                <a:solidFill>
                  <a:srgbClr val="F2F6FC"/>
                </a:solidFill>
                <a:latin typeface="Arial"/>
                <a:ea typeface="Arial"/>
                <a:cs typeface="Arial"/>
              </a:rPr>
              <a:t>REDUCE</a:t>
            </a:r>
          </a:p>
        </p:txBody>
      </p:sp>
      <p:sp>
        <p:nvSpPr>
          <p:cNvPr id="81" name="ed-1-0"/>
          <p:cNvSpPr/>
          <p:nvPr/>
        </p:nvSpPr>
        <p:spPr>
          <a:xfrm>
            <a:off x="9855200" y="2609850"/>
            <a:ext cx="63500" cy="635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et-1-0"/>
          <p:cNvSpPr txBox="1"/>
          <p:nvPr/>
        </p:nvSpPr>
        <p:spPr>
          <a:xfrm>
            <a:off x="9974453" y="2534618"/>
            <a:ext cx="57562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功能数量</a:t>
            </a:r>
          </a:p>
        </p:txBody>
      </p:sp>
      <p:sp>
        <p:nvSpPr>
          <p:cNvPr id="83" name="es-1-0"/>
          <p:cNvSpPr txBox="1"/>
          <p:nvPr/>
        </p:nvSpPr>
        <p:spPr>
          <a:xfrm>
            <a:off x="9977120" y="2739866"/>
            <a:ext cx="9239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砍掉 30% 低频功能</a:t>
            </a:r>
          </a:p>
        </p:txBody>
      </p:sp>
      <p:sp>
        <p:nvSpPr>
          <p:cNvPr id="84" name="ed-1-1"/>
          <p:cNvSpPr/>
          <p:nvPr/>
        </p:nvSpPr>
        <p:spPr>
          <a:xfrm>
            <a:off x="9855200" y="3092450"/>
            <a:ext cx="63500" cy="635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et-1-1"/>
          <p:cNvSpPr txBox="1"/>
          <p:nvPr/>
        </p:nvSpPr>
        <p:spPr>
          <a:xfrm>
            <a:off x="9974453" y="3017218"/>
            <a:ext cx="57562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价格水平</a:t>
            </a:r>
          </a:p>
        </p:txBody>
      </p:sp>
      <p:sp>
        <p:nvSpPr>
          <p:cNvPr id="86" name="es-1-1"/>
          <p:cNvSpPr txBox="1"/>
          <p:nvPr/>
        </p:nvSpPr>
        <p:spPr>
          <a:xfrm>
            <a:off x="9977120" y="3222466"/>
            <a:ext cx="8401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比竞品 A 低 40%</a:t>
            </a:r>
          </a:p>
        </p:txBody>
      </p:sp>
      <p:sp>
        <p:nvSpPr>
          <p:cNvPr id="87" name="e-2"/>
          <p:cNvSpPr/>
          <p:nvPr/>
        </p:nvSpPr>
        <p:spPr>
          <a:xfrm>
            <a:off x="8064500" y="3670300"/>
            <a:ext cx="1555750" cy="1701800"/>
          </a:xfrm>
          <a:custGeom>
            <a:avLst/>
            <a:gdLst/>
            <a:ahLst/>
            <a:cxnLst/>
            <a:rect l="0" t="0" r="r" b="b"/>
            <a:pathLst>
              <a:path w="1555750" h="1701800">
                <a:moveTo>
                  <a:pt x="139700" y="0"/>
                </a:moveTo>
                <a:lnTo>
                  <a:pt x="1416050" y="0"/>
                </a:lnTo>
                <a:cubicBezTo>
                  <a:pt x="1493203" y="0"/>
                  <a:pt x="1555750" y="62548"/>
                  <a:pt x="1555750" y="139700"/>
                </a:cubicBezTo>
                <a:lnTo>
                  <a:pt x="1555750" y="1562100"/>
                </a:lnTo>
                <a:cubicBezTo>
                  <a:pt x="1555750" y="1639252"/>
                  <a:pt x="1493203" y="1701800"/>
                  <a:pt x="1416050" y="1701800"/>
                </a:cubicBezTo>
                <a:lnTo>
                  <a:pt x="139700" y="1701800"/>
                </a:lnTo>
                <a:cubicBezTo>
                  <a:pt x="62547" y="1701800"/>
                  <a:pt x="0" y="1639252"/>
                  <a:pt x="0" y="15621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eh-2"/>
          <p:cNvSpPr/>
          <p:nvPr/>
        </p:nvSpPr>
        <p:spPr>
          <a:xfrm>
            <a:off x="8064500" y="3670300"/>
            <a:ext cx="1555750" cy="546100"/>
          </a:xfrm>
          <a:custGeom>
            <a:avLst/>
            <a:gdLst/>
            <a:ahLst/>
            <a:cxnLst/>
            <a:rect l="0" t="0" r="r" b="b"/>
            <a:pathLst>
              <a:path w="1555750" h="546100">
                <a:moveTo>
                  <a:pt x="0" y="139700"/>
                </a:moveTo>
                <a:cubicBezTo>
                  <a:pt x="0" y="63500"/>
                  <a:pt x="63500" y="0"/>
                  <a:pt x="139700" y="0"/>
                </a:cubicBezTo>
                <a:lnTo>
                  <a:pt x="1416050" y="0"/>
                </a:lnTo>
                <a:cubicBezTo>
                  <a:pt x="1492250" y="0"/>
                  <a:pt x="1555750" y="63500"/>
                  <a:pt x="1555750" y="139700"/>
                </a:cubicBezTo>
                <a:lnTo>
                  <a:pt x="1555750" y="546100"/>
                </a:lnTo>
                <a:lnTo>
                  <a:pt x="0" y="546100"/>
                </a:ln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ec-2"/>
          <p:cNvSpPr txBox="1"/>
          <p:nvPr/>
        </p:nvSpPr>
        <p:spPr>
          <a:xfrm>
            <a:off x="8195564" y="3768217"/>
            <a:ext cx="5664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增加</a:t>
            </a:r>
          </a:p>
        </p:txBody>
      </p:sp>
      <p:sp>
        <p:nvSpPr>
          <p:cNvPr id="90" name="ee-2"/>
          <p:cNvSpPr txBox="1"/>
          <p:nvPr/>
        </p:nvSpPr>
        <p:spPr>
          <a:xfrm>
            <a:off x="8206232" y="4030408"/>
            <a:ext cx="3924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00">
                <a:solidFill>
                  <a:srgbClr val="F2F6FC"/>
                </a:solidFill>
                <a:latin typeface="Arial"/>
                <a:ea typeface="Arial"/>
                <a:cs typeface="Arial"/>
              </a:rPr>
              <a:t>RAISE</a:t>
            </a:r>
          </a:p>
        </p:txBody>
      </p:sp>
      <p:sp>
        <p:nvSpPr>
          <p:cNvPr id="91" name="ed-2-0"/>
          <p:cNvSpPr/>
          <p:nvPr/>
        </p:nvSpPr>
        <p:spPr>
          <a:xfrm>
            <a:off x="8235950" y="4413250"/>
            <a:ext cx="63500" cy="635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et-2-0"/>
          <p:cNvSpPr txBox="1"/>
          <p:nvPr/>
        </p:nvSpPr>
        <p:spPr>
          <a:xfrm>
            <a:off x="8355203" y="4338018"/>
            <a:ext cx="57562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上手速度</a:t>
            </a:r>
          </a:p>
        </p:txBody>
      </p:sp>
      <p:sp>
        <p:nvSpPr>
          <p:cNvPr id="93" name="es-2-0"/>
          <p:cNvSpPr txBox="1"/>
          <p:nvPr/>
        </p:nvSpPr>
        <p:spPr>
          <a:xfrm>
            <a:off x="8357870" y="4543266"/>
            <a:ext cx="47815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 天上线</a:t>
            </a:r>
          </a:p>
        </p:txBody>
      </p:sp>
      <p:sp>
        <p:nvSpPr>
          <p:cNvPr id="94" name="ed-2-1"/>
          <p:cNvSpPr/>
          <p:nvPr/>
        </p:nvSpPr>
        <p:spPr>
          <a:xfrm>
            <a:off x="8235950" y="4895850"/>
            <a:ext cx="63500" cy="635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et-2-1"/>
          <p:cNvSpPr txBox="1"/>
          <p:nvPr/>
        </p:nvSpPr>
        <p:spPr>
          <a:xfrm>
            <a:off x="8355203" y="4820618"/>
            <a:ext cx="693102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本地化支持</a:t>
            </a:r>
          </a:p>
        </p:txBody>
      </p:sp>
      <p:sp>
        <p:nvSpPr>
          <p:cNvPr id="96" name="es-2-1"/>
          <p:cNvSpPr txBox="1"/>
          <p:nvPr/>
        </p:nvSpPr>
        <p:spPr>
          <a:xfrm>
            <a:off x="8357870" y="5025866"/>
            <a:ext cx="7219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28 省驻点服务</a:t>
            </a:r>
          </a:p>
        </p:txBody>
      </p:sp>
      <p:sp>
        <p:nvSpPr>
          <p:cNvPr id="97" name="e-3"/>
          <p:cNvSpPr/>
          <p:nvPr/>
        </p:nvSpPr>
        <p:spPr>
          <a:xfrm>
            <a:off x="9683750" y="3670300"/>
            <a:ext cx="1555750" cy="1701800"/>
          </a:xfrm>
          <a:custGeom>
            <a:avLst/>
            <a:gdLst/>
            <a:ahLst/>
            <a:cxnLst/>
            <a:rect l="0" t="0" r="r" b="b"/>
            <a:pathLst>
              <a:path w="1555750" h="1701800">
                <a:moveTo>
                  <a:pt x="139700" y="0"/>
                </a:moveTo>
                <a:lnTo>
                  <a:pt x="1416050" y="0"/>
                </a:lnTo>
                <a:cubicBezTo>
                  <a:pt x="1493203" y="0"/>
                  <a:pt x="1555750" y="62548"/>
                  <a:pt x="1555750" y="139700"/>
                </a:cubicBezTo>
                <a:lnTo>
                  <a:pt x="1555750" y="1562100"/>
                </a:lnTo>
                <a:cubicBezTo>
                  <a:pt x="1555750" y="1639252"/>
                  <a:pt x="1493203" y="1701800"/>
                  <a:pt x="1416050" y="1701800"/>
                </a:cubicBezTo>
                <a:lnTo>
                  <a:pt x="139700" y="1701800"/>
                </a:lnTo>
                <a:cubicBezTo>
                  <a:pt x="62547" y="1701800"/>
                  <a:pt x="0" y="1639252"/>
                  <a:pt x="0" y="15621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eh-3"/>
          <p:cNvSpPr/>
          <p:nvPr/>
        </p:nvSpPr>
        <p:spPr>
          <a:xfrm>
            <a:off x="9683750" y="3670300"/>
            <a:ext cx="1555750" cy="546100"/>
          </a:xfrm>
          <a:custGeom>
            <a:avLst/>
            <a:gdLst/>
            <a:ahLst/>
            <a:cxnLst/>
            <a:rect l="0" t="0" r="r" b="b"/>
            <a:pathLst>
              <a:path w="1555750" h="546100">
                <a:moveTo>
                  <a:pt x="0" y="139700"/>
                </a:moveTo>
                <a:cubicBezTo>
                  <a:pt x="0" y="63500"/>
                  <a:pt x="63500" y="0"/>
                  <a:pt x="139700" y="0"/>
                </a:cubicBezTo>
                <a:lnTo>
                  <a:pt x="1416050" y="0"/>
                </a:lnTo>
                <a:cubicBezTo>
                  <a:pt x="1492250" y="0"/>
                  <a:pt x="1555750" y="63500"/>
                  <a:pt x="1555750" y="139700"/>
                </a:cubicBezTo>
                <a:lnTo>
                  <a:pt x="1555750" y="546100"/>
                </a:lnTo>
                <a:lnTo>
                  <a:pt x="0" y="546100"/>
                </a:ln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9" name="ec-3"/>
          <p:cNvSpPr txBox="1"/>
          <p:nvPr/>
        </p:nvSpPr>
        <p:spPr>
          <a:xfrm>
            <a:off x="9814814" y="3768217"/>
            <a:ext cx="5664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创造</a:t>
            </a:r>
          </a:p>
        </p:txBody>
      </p:sp>
      <p:sp>
        <p:nvSpPr>
          <p:cNvPr id="100" name="ee-3"/>
          <p:cNvSpPr txBox="1"/>
          <p:nvPr/>
        </p:nvSpPr>
        <p:spPr>
          <a:xfrm>
            <a:off x="9825482" y="4030408"/>
            <a:ext cx="45491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00">
                <a:solidFill>
                  <a:srgbClr val="F2F6FC"/>
                </a:solidFill>
                <a:latin typeface="Arial"/>
                <a:ea typeface="Arial"/>
                <a:cs typeface="Arial"/>
              </a:rPr>
              <a:t>CREATE</a:t>
            </a:r>
          </a:p>
        </p:txBody>
      </p:sp>
      <p:sp>
        <p:nvSpPr>
          <p:cNvPr id="101" name="ed-3-0"/>
          <p:cNvSpPr/>
          <p:nvPr/>
        </p:nvSpPr>
        <p:spPr>
          <a:xfrm>
            <a:off x="9855200" y="4413250"/>
            <a:ext cx="63500" cy="635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2" name="et-3-0"/>
          <p:cNvSpPr txBox="1"/>
          <p:nvPr/>
        </p:nvSpPr>
        <p:spPr>
          <a:xfrm>
            <a:off x="9974453" y="4338018"/>
            <a:ext cx="57562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数据洞察</a:t>
            </a:r>
          </a:p>
        </p:txBody>
      </p:sp>
      <p:sp>
        <p:nvSpPr>
          <p:cNvPr id="103" name="es-3-0"/>
          <p:cNvSpPr txBox="1"/>
          <p:nvPr/>
        </p:nvSpPr>
        <p:spPr>
          <a:xfrm>
            <a:off x="9977120" y="4543266"/>
            <a:ext cx="657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自带行业看板</a:t>
            </a:r>
          </a:p>
        </p:txBody>
      </p:sp>
      <p:sp>
        <p:nvSpPr>
          <p:cNvPr id="104" name="ed-3-1"/>
          <p:cNvSpPr/>
          <p:nvPr/>
        </p:nvSpPr>
        <p:spPr>
          <a:xfrm>
            <a:off x="9855200" y="4895850"/>
            <a:ext cx="63500" cy="635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et-3-1"/>
          <p:cNvSpPr txBox="1"/>
          <p:nvPr/>
        </p:nvSpPr>
        <p:spPr>
          <a:xfrm>
            <a:off x="9974453" y="4820618"/>
            <a:ext cx="57562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社区生态</a:t>
            </a:r>
          </a:p>
        </p:txBody>
      </p:sp>
      <p:sp>
        <p:nvSpPr>
          <p:cNvPr id="106" name="es-3-1"/>
          <p:cNvSpPr txBox="1"/>
          <p:nvPr/>
        </p:nvSpPr>
        <p:spPr>
          <a:xfrm>
            <a:off x="9977120" y="5025866"/>
            <a:ext cx="657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用户互助社区</a:t>
            </a:r>
          </a:p>
        </p:txBody>
      </p:sp>
      <p:sp>
        <p:nvSpPr>
          <p:cNvPr id="107" name="sum"/>
          <p:cNvSpPr/>
          <p:nvPr/>
        </p:nvSpPr>
        <p:spPr>
          <a:xfrm>
            <a:off x="952500" y="5651500"/>
            <a:ext cx="10287000" cy="444500"/>
          </a:xfrm>
          <a:custGeom>
            <a:avLst/>
            <a:gdLst/>
            <a:ahLst/>
            <a:cxnLst/>
            <a:rect l="0" t="0" r="r" b="b"/>
            <a:pathLst>
              <a:path w="10287000" h="4445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55600"/>
                </a:lnTo>
                <a:cubicBezTo>
                  <a:pt x="10287000" y="404686"/>
                  <a:pt x="10247186" y="444500"/>
                  <a:pt x="10198100" y="444500"/>
                </a:cubicBezTo>
                <a:lnTo>
                  <a:pt x="88900" y="444500"/>
                </a:lnTo>
                <a:cubicBezTo>
                  <a:pt x="39815" y="444500"/>
                  <a:pt x="0" y="404686"/>
                  <a:pt x="0" y="3556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8" name="sum-bar"/>
          <p:cNvSpPr/>
          <p:nvPr/>
        </p:nvSpPr>
        <p:spPr>
          <a:xfrm>
            <a:off x="952500" y="5651500"/>
            <a:ext cx="31750" cy="4445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sum-h"/>
          <p:cNvSpPr txBox="1"/>
          <p:nvPr/>
        </p:nvSpPr>
        <p:spPr>
          <a:xfrm>
            <a:off x="1142746" y="580393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蓝海判断</a:t>
            </a:r>
          </a:p>
        </p:txBody>
      </p:sp>
      <p:sp>
        <p:nvSpPr>
          <p:cNvPr id="110" name="sum-p"/>
          <p:cNvSpPr txBox="1"/>
          <p:nvPr/>
        </p:nvSpPr>
        <p:spPr>
          <a:xfrm>
            <a:off x="1891665" y="5800011"/>
            <a:ext cx="371697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放弃定制、少做功能来降价，把资源压到上手速度、数据洞察和社区上。</a:t>
            </a:r>
          </a:p>
        </p:txBody>
      </p:sp>
      <p:cxnSp>
        <p:nvCxnSpPr>
          <p:cNvPr id="111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战略画布 · 价值曲线</a:t>
            </a:r>
          </a:p>
        </p:txBody>
      </p:sp>
      <p:sp>
        <p:nvSpPr>
          <p:cNvPr id="113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262124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价格-价值地图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44589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PRICE-VALUE MAP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284591" y="673132"/>
            <a:ext cx="333616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对角线是“一分钱一分货”——线下方性价比高，线上方就是卖贵了</a:t>
            </a:r>
          </a:p>
        </p:txBody>
      </p:sp>
      <p:sp>
        <p:nvSpPr>
          <p:cNvPr id="10" name="z-good"/>
          <p:cNvSpPr/>
          <p:nvPr/>
        </p:nvSpPr>
        <p:spPr>
          <a:xfrm>
            <a:off x="1714500" y="1587500"/>
            <a:ext cx="5588000" cy="3810000"/>
          </a:xfrm>
          <a:custGeom>
            <a:avLst/>
            <a:gdLst/>
            <a:ahLst/>
            <a:cxnLst/>
            <a:rect l="0" t="0" r="r" b="b"/>
            <a:pathLst>
              <a:path w="5588000" h="3810000">
                <a:moveTo>
                  <a:pt x="0" y="3810000"/>
                </a:moveTo>
                <a:lnTo>
                  <a:pt x="5588000" y="0"/>
                </a:lnTo>
                <a:lnTo>
                  <a:pt x="5588000" y="3810000"/>
                </a:lnTo>
                <a:close/>
              </a:path>
            </a:pathLst>
          </a:custGeom>
          <a:solidFill>
            <a:srgbClr val="2E77C2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z-bad"/>
          <p:cNvSpPr/>
          <p:nvPr/>
        </p:nvSpPr>
        <p:spPr>
          <a:xfrm>
            <a:off x="1714500" y="1587500"/>
            <a:ext cx="5588000" cy="3810000"/>
          </a:xfrm>
          <a:custGeom>
            <a:avLst/>
            <a:gdLst/>
            <a:ahLst/>
            <a:cxnLst/>
            <a:rect l="0" t="0" r="r" b="b"/>
            <a:pathLst>
              <a:path w="5588000" h="3810000">
                <a:moveTo>
                  <a:pt x="0" y="3810000"/>
                </a:moveTo>
                <a:lnTo>
                  <a:pt x="5588000" y="0"/>
                </a:lnTo>
                <a:lnTo>
                  <a:pt x="0" y="0"/>
                </a:lnTo>
                <a:close/>
              </a:path>
            </a:pathLst>
          </a:custGeom>
          <a:solidFill>
            <a:srgbClr val="E0703A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fair-band"/>
          <p:cNvSpPr/>
          <p:nvPr/>
        </p:nvSpPr>
        <p:spPr>
          <a:xfrm>
            <a:off x="1714500" y="1587500"/>
            <a:ext cx="5588000" cy="3810000"/>
          </a:xfrm>
          <a:custGeom>
            <a:avLst/>
            <a:gdLst/>
            <a:ahLst/>
            <a:cxnLst/>
            <a:rect l="0" t="0" r="r" b="b"/>
            <a:pathLst>
              <a:path w="5588000" h="3810000">
                <a:moveTo>
                  <a:pt x="0" y="3524250"/>
                </a:moveTo>
                <a:lnTo>
                  <a:pt x="5168900" y="0"/>
                </a:lnTo>
                <a:lnTo>
                  <a:pt x="5588000" y="0"/>
                </a:lnTo>
                <a:lnTo>
                  <a:pt x="5588000" y="285750"/>
                </a:lnTo>
                <a:lnTo>
                  <a:pt x="419100" y="3810000"/>
                </a:lnTo>
                <a:lnTo>
                  <a:pt x="0" y="3810000"/>
                </a:lnTo>
                <a:close/>
              </a:path>
            </a:pathLst>
          </a:custGeom>
          <a:solidFill>
            <a:srgbClr val="FFFFFF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3" name="fair"/>
          <p:cNvCxnSpPr/>
          <p:nvPr/>
        </p:nvCxnSpPr>
        <p:spPr>
          <a:xfrm flipV="1">
            <a:off x="1714500" y="1587500"/>
            <a:ext cx="5588000" cy="3810000"/>
          </a:xfrm>
          <a:prstGeom prst="line">
            <a:avLst/>
          </a:prstGeom>
          <a:ln w="12700" cap="rnd">
            <a:solidFill>
              <a:srgbClr val="0B2545">
                <a:alpha val="3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fair-t"/>
          <p:cNvSpPr txBox="1"/>
          <p:nvPr/>
        </p:nvSpPr>
        <p:spPr>
          <a:xfrm>
            <a:off x="6579108" y="2122234"/>
            <a:ext cx="5245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公允价值线</a:t>
            </a:r>
          </a:p>
        </p:txBody>
      </p:sp>
      <p:sp>
        <p:nvSpPr>
          <p:cNvPr id="15" name="zb-t"/>
          <p:cNvSpPr txBox="1"/>
          <p:nvPr/>
        </p:nvSpPr>
        <p:spPr>
          <a:xfrm>
            <a:off x="1851660" y="1646555"/>
            <a:ext cx="106426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0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溢价区 · 贵了</a:t>
            </a:r>
          </a:p>
        </p:txBody>
      </p:sp>
      <p:sp>
        <p:nvSpPr>
          <p:cNvPr id="16" name="zg-t"/>
          <p:cNvSpPr txBox="1"/>
          <p:nvPr/>
        </p:nvSpPr>
        <p:spPr>
          <a:xfrm>
            <a:off x="6101080" y="5100955"/>
            <a:ext cx="106426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00" b="1" spc="10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性价比区 · 值</a:t>
            </a:r>
          </a:p>
        </p:txBody>
      </p:sp>
      <p:sp>
        <p:nvSpPr>
          <p:cNvPr id="17" name="frame"/>
          <p:cNvSpPr/>
          <p:nvPr/>
        </p:nvSpPr>
        <p:spPr>
          <a:xfrm>
            <a:off x="1714500" y="1587500"/>
            <a:ext cx="5588000" cy="3810000"/>
          </a:xfrm>
          <a:prstGeom prst="rect">
            <a:avLst/>
          </a:prstGeom>
          <a:noFill/>
          <a:ln w="6350" cap="rnd">
            <a:solidFill>
              <a:srgbClr val="0B2545">
                <a:alpha val="12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gx-2"/>
          <p:cNvSpPr txBox="1"/>
          <p:nvPr/>
        </p:nvSpPr>
        <p:spPr>
          <a:xfrm>
            <a:off x="1640332" y="54625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19" name="gy-2"/>
          <p:cNvSpPr txBox="1"/>
          <p:nvPr/>
        </p:nvSpPr>
        <p:spPr>
          <a:xfrm>
            <a:off x="1489456" y="53101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20" name="gx-4"/>
          <p:cNvSpPr txBox="1"/>
          <p:nvPr/>
        </p:nvSpPr>
        <p:spPr>
          <a:xfrm>
            <a:off x="3037332" y="54625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21" name="gy-4"/>
          <p:cNvSpPr txBox="1"/>
          <p:nvPr/>
        </p:nvSpPr>
        <p:spPr>
          <a:xfrm>
            <a:off x="1489456" y="43576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22" name="gx-6"/>
          <p:cNvSpPr txBox="1"/>
          <p:nvPr/>
        </p:nvSpPr>
        <p:spPr>
          <a:xfrm>
            <a:off x="4434332" y="54625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6</a:t>
            </a:r>
          </a:p>
        </p:txBody>
      </p:sp>
      <p:sp>
        <p:nvSpPr>
          <p:cNvPr id="23" name="gy-6"/>
          <p:cNvSpPr txBox="1"/>
          <p:nvPr/>
        </p:nvSpPr>
        <p:spPr>
          <a:xfrm>
            <a:off x="1489456" y="34051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6</a:t>
            </a:r>
          </a:p>
        </p:txBody>
      </p:sp>
      <p:sp>
        <p:nvSpPr>
          <p:cNvPr id="24" name="gx-8"/>
          <p:cNvSpPr txBox="1"/>
          <p:nvPr/>
        </p:nvSpPr>
        <p:spPr>
          <a:xfrm>
            <a:off x="5831332" y="54625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8</a:t>
            </a:r>
          </a:p>
        </p:txBody>
      </p:sp>
      <p:sp>
        <p:nvSpPr>
          <p:cNvPr id="25" name="gy-8"/>
          <p:cNvSpPr txBox="1"/>
          <p:nvPr/>
        </p:nvSpPr>
        <p:spPr>
          <a:xfrm>
            <a:off x="1489456" y="24526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8</a:t>
            </a:r>
          </a:p>
        </p:txBody>
      </p:sp>
      <p:sp>
        <p:nvSpPr>
          <p:cNvPr id="26" name="gx-10"/>
          <p:cNvSpPr txBox="1"/>
          <p:nvPr/>
        </p:nvSpPr>
        <p:spPr>
          <a:xfrm>
            <a:off x="7199884" y="54625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10</a:t>
            </a:r>
          </a:p>
        </p:txBody>
      </p:sp>
      <p:sp>
        <p:nvSpPr>
          <p:cNvPr id="27" name="gy-10"/>
          <p:cNvSpPr txBox="1"/>
          <p:nvPr/>
        </p:nvSpPr>
        <p:spPr>
          <a:xfrm>
            <a:off x="1432560" y="15001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10</a:t>
            </a:r>
          </a:p>
        </p:txBody>
      </p:sp>
      <p:sp>
        <p:nvSpPr>
          <p:cNvPr id="28" name="ax"/>
          <p:cNvSpPr txBox="1"/>
          <p:nvPr/>
        </p:nvSpPr>
        <p:spPr>
          <a:xfrm>
            <a:off x="4202684" y="5665724"/>
            <a:ext cx="6116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感知价值 →</a:t>
            </a:r>
          </a:p>
        </p:txBody>
      </p:sp>
      <p:sp>
        <p:nvSpPr>
          <p:cNvPr id="29" name="ay"/>
          <p:cNvSpPr txBox="1"/>
          <p:nvPr/>
        </p:nvSpPr>
        <p:spPr>
          <a:xfrm>
            <a:off x="1384808" y="1360424"/>
            <a:ext cx="6116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价格指数 ↑</a:t>
            </a:r>
          </a:p>
        </p:txBody>
      </p:sp>
      <p:cxnSp>
        <p:nvCxnSpPr>
          <p:cNvPr id="30" name="mv"/>
          <p:cNvCxnSpPr/>
          <p:nvPr/>
        </p:nvCxnSpPr>
        <p:spPr>
          <a:xfrm flipV="1">
            <a:off x="5257800" y="3517900"/>
            <a:ext cx="393700" cy="317500"/>
          </a:xfrm>
          <a:prstGeom prst="line">
            <a:avLst/>
          </a:prstGeom>
          <a:ln w="19050" cap="rnd">
            <a:solidFill>
              <a:srgbClr val="E0703A"/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mv-h"/>
          <p:cNvSpPr/>
          <p:nvPr/>
        </p:nvSpPr>
        <p:spPr>
          <a:xfrm>
            <a:off x="5624744" y="3474879"/>
            <a:ext cx="94147" cy="96325"/>
          </a:xfrm>
          <a:custGeom>
            <a:avLst/>
            <a:gdLst/>
            <a:ahLst/>
            <a:cxnLst/>
            <a:rect l="0" t="0" r="r" b="b"/>
            <a:pathLst>
              <a:path w="94147" h="96325">
                <a:moveTo>
                  <a:pt x="84668" y="24352"/>
                </a:moveTo>
                <a:quadBezTo>
                  <a:pt x="101559" y="29813"/>
                  <a:pt x="88351" y="41688"/>
                </a:quadBezTo>
                <a:lnTo>
                  <a:pt x="33043" y="91535"/>
                </a:lnTo>
                <a:quadBezTo>
                  <a:pt x="19835" y="103410"/>
                  <a:pt x="16152" y="86011"/>
                </a:quadBezTo>
                <a:lnTo>
                  <a:pt x="658" y="13240"/>
                </a:lnTo>
                <a:quadBezTo>
                  <a:pt x="-3025" y="-4159"/>
                  <a:pt x="13866" y="1302"/>
                </a:quad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tgt"/>
          <p:cNvSpPr/>
          <p:nvPr/>
        </p:nvSpPr>
        <p:spPr>
          <a:xfrm>
            <a:off x="5664200" y="3390900"/>
            <a:ext cx="203200" cy="20320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E0703A"/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tgt-t"/>
          <p:cNvSpPr txBox="1"/>
          <p:nvPr/>
        </p:nvSpPr>
        <p:spPr>
          <a:xfrm>
            <a:off x="5919470" y="3412966"/>
            <a:ext cx="4667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三年目标</a:t>
            </a:r>
          </a:p>
        </p:txBody>
      </p:sp>
      <p:sp>
        <p:nvSpPr>
          <p:cNvPr id="34" name="b-0"/>
          <p:cNvSpPr/>
          <p:nvPr/>
        </p:nvSpPr>
        <p:spPr>
          <a:xfrm>
            <a:off x="4874260" y="3680460"/>
            <a:ext cx="386080" cy="386080"/>
          </a:xfrm>
          <a:prstGeom prst="ellipse">
            <a:avLst/>
          </a:prstGeom>
          <a:solidFill>
            <a:srgbClr val="E0703A">
              <a:alpha val="90000"/>
            </a:srgbClr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bn-0"/>
          <p:cNvSpPr txBox="1"/>
          <p:nvPr/>
        </p:nvSpPr>
        <p:spPr>
          <a:xfrm>
            <a:off x="4910772" y="3483642"/>
            <a:ext cx="3130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我们</a:t>
            </a:r>
          </a:p>
        </p:txBody>
      </p:sp>
      <p:sp>
        <p:nvSpPr>
          <p:cNvPr id="36" name="bs-0"/>
          <p:cNvSpPr txBox="1"/>
          <p:nvPr/>
        </p:nvSpPr>
        <p:spPr>
          <a:xfrm>
            <a:off x="4952619" y="38018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14%</a:t>
            </a:r>
          </a:p>
        </p:txBody>
      </p:sp>
      <p:sp>
        <p:nvSpPr>
          <p:cNvPr id="37" name="b-1"/>
          <p:cNvSpPr/>
          <p:nvPr/>
        </p:nvSpPr>
        <p:spPr>
          <a:xfrm>
            <a:off x="5770880" y="1979930"/>
            <a:ext cx="548640" cy="548640"/>
          </a:xfrm>
          <a:prstGeom prst="ellipse">
            <a:avLst/>
          </a:prstGeom>
          <a:solidFill>
            <a:srgbClr val="8FA6C2">
              <a:alpha val="75000"/>
            </a:srgbClr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bn-1"/>
          <p:cNvSpPr txBox="1"/>
          <p:nvPr/>
        </p:nvSpPr>
        <p:spPr>
          <a:xfrm>
            <a:off x="5853747" y="1798796"/>
            <a:ext cx="3829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品牌 A</a:t>
            </a:r>
          </a:p>
        </p:txBody>
      </p:sp>
      <p:sp>
        <p:nvSpPr>
          <p:cNvPr id="39" name="bs-1"/>
          <p:cNvSpPr txBox="1"/>
          <p:nvPr/>
        </p:nvSpPr>
        <p:spPr>
          <a:xfrm>
            <a:off x="5930519" y="218255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22%</a:t>
            </a:r>
          </a:p>
        </p:txBody>
      </p:sp>
      <p:sp>
        <p:nvSpPr>
          <p:cNvPr id="40" name="b-2"/>
          <p:cNvSpPr/>
          <p:nvPr/>
        </p:nvSpPr>
        <p:spPr>
          <a:xfrm>
            <a:off x="3637280" y="3081655"/>
            <a:ext cx="345440" cy="345440"/>
          </a:xfrm>
          <a:prstGeom prst="ellipse">
            <a:avLst/>
          </a:prstGeom>
          <a:solidFill>
            <a:srgbClr val="8FA6C2">
              <a:alpha val="75000"/>
            </a:srgbClr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bn-2"/>
          <p:cNvSpPr txBox="1"/>
          <p:nvPr/>
        </p:nvSpPr>
        <p:spPr>
          <a:xfrm>
            <a:off x="3618548" y="2900521"/>
            <a:ext cx="3829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品牌 B</a:t>
            </a:r>
          </a:p>
        </p:txBody>
      </p:sp>
      <p:sp>
        <p:nvSpPr>
          <p:cNvPr id="42" name="bs-2"/>
          <p:cNvSpPr txBox="1"/>
          <p:nvPr/>
        </p:nvSpPr>
        <p:spPr>
          <a:xfrm>
            <a:off x="3695319" y="3182684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12%</a:t>
            </a:r>
          </a:p>
        </p:txBody>
      </p:sp>
      <p:sp>
        <p:nvSpPr>
          <p:cNvPr id="43" name="b-3"/>
          <p:cNvSpPr/>
          <p:nvPr/>
        </p:nvSpPr>
        <p:spPr>
          <a:xfrm>
            <a:off x="4973320" y="2687320"/>
            <a:ext cx="467360" cy="467360"/>
          </a:xfrm>
          <a:prstGeom prst="ellipse">
            <a:avLst/>
          </a:prstGeom>
          <a:solidFill>
            <a:srgbClr val="8FA6C2">
              <a:alpha val="75000"/>
            </a:srgbClr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bn-3"/>
          <p:cNvSpPr txBox="1"/>
          <p:nvPr/>
        </p:nvSpPr>
        <p:spPr>
          <a:xfrm>
            <a:off x="5015548" y="2506186"/>
            <a:ext cx="3829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品牌 C</a:t>
            </a:r>
          </a:p>
        </p:txBody>
      </p:sp>
      <p:sp>
        <p:nvSpPr>
          <p:cNvPr id="45" name="bs-3"/>
          <p:cNvSpPr txBox="1"/>
          <p:nvPr/>
        </p:nvSpPr>
        <p:spPr>
          <a:xfrm>
            <a:off x="5092319" y="28493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18%</a:t>
            </a:r>
          </a:p>
        </p:txBody>
      </p:sp>
      <p:sp>
        <p:nvSpPr>
          <p:cNvPr id="46" name="b-4"/>
          <p:cNvSpPr/>
          <p:nvPr/>
        </p:nvSpPr>
        <p:spPr>
          <a:xfrm>
            <a:off x="3037840" y="4326890"/>
            <a:ext cx="426720" cy="426720"/>
          </a:xfrm>
          <a:prstGeom prst="ellipse">
            <a:avLst/>
          </a:prstGeom>
          <a:solidFill>
            <a:srgbClr val="3985CD">
              <a:alpha val="75000"/>
            </a:srgbClr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bn-4"/>
          <p:cNvSpPr txBox="1"/>
          <p:nvPr/>
        </p:nvSpPr>
        <p:spPr>
          <a:xfrm>
            <a:off x="3059748" y="4145756"/>
            <a:ext cx="3829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品牌 D</a:t>
            </a:r>
          </a:p>
        </p:txBody>
      </p:sp>
      <p:sp>
        <p:nvSpPr>
          <p:cNvPr id="48" name="bs-4"/>
          <p:cNvSpPr txBox="1"/>
          <p:nvPr/>
        </p:nvSpPr>
        <p:spPr>
          <a:xfrm>
            <a:off x="3136519" y="446855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16%</a:t>
            </a:r>
          </a:p>
        </p:txBody>
      </p:sp>
      <p:sp>
        <p:nvSpPr>
          <p:cNvPr id="49" name="b-5"/>
          <p:cNvSpPr/>
          <p:nvPr/>
        </p:nvSpPr>
        <p:spPr>
          <a:xfrm>
            <a:off x="2280920" y="4027170"/>
            <a:ext cx="264160" cy="264160"/>
          </a:xfrm>
          <a:prstGeom prst="ellipse">
            <a:avLst/>
          </a:prstGeom>
          <a:solidFill>
            <a:srgbClr val="8FA6C2">
              <a:alpha val="75000"/>
            </a:srgbClr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bn-5"/>
          <p:cNvSpPr txBox="1"/>
          <p:nvPr/>
        </p:nvSpPr>
        <p:spPr>
          <a:xfrm>
            <a:off x="2221548" y="3846036"/>
            <a:ext cx="3829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品牌 E</a:t>
            </a:r>
          </a:p>
        </p:txBody>
      </p:sp>
      <p:sp>
        <p:nvSpPr>
          <p:cNvPr id="51" name="bs-5"/>
          <p:cNvSpPr txBox="1"/>
          <p:nvPr/>
        </p:nvSpPr>
        <p:spPr>
          <a:xfrm>
            <a:off x="2323211" y="408755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8%</a:t>
            </a:r>
          </a:p>
        </p:txBody>
      </p:sp>
      <p:sp>
        <p:nvSpPr>
          <p:cNvPr id="52" name="b-6"/>
          <p:cNvSpPr/>
          <p:nvPr/>
        </p:nvSpPr>
        <p:spPr>
          <a:xfrm>
            <a:off x="4356100" y="3435350"/>
            <a:ext cx="304800" cy="304800"/>
          </a:xfrm>
          <a:prstGeom prst="ellipse">
            <a:avLst/>
          </a:prstGeom>
          <a:solidFill>
            <a:srgbClr val="3985CD">
              <a:alpha val="75000"/>
            </a:srgbClr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bn-6"/>
          <p:cNvSpPr txBox="1"/>
          <p:nvPr/>
        </p:nvSpPr>
        <p:spPr>
          <a:xfrm>
            <a:off x="4317048" y="3254216"/>
            <a:ext cx="3829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品牌 F</a:t>
            </a:r>
          </a:p>
        </p:txBody>
      </p:sp>
      <p:sp>
        <p:nvSpPr>
          <p:cNvPr id="54" name="bs-6"/>
          <p:cNvSpPr txBox="1"/>
          <p:nvPr/>
        </p:nvSpPr>
        <p:spPr>
          <a:xfrm>
            <a:off x="4393819" y="351605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10%</a:t>
            </a:r>
          </a:p>
        </p:txBody>
      </p:sp>
      <p:sp>
        <p:nvSpPr>
          <p:cNvPr id="55" name="side-bar"/>
          <p:cNvSpPr/>
          <p:nvPr/>
        </p:nvSpPr>
        <p:spPr>
          <a:xfrm>
            <a:off x="8191500" y="15875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side-h"/>
          <p:cNvSpPr txBox="1"/>
          <p:nvPr/>
        </p:nvSpPr>
        <p:spPr>
          <a:xfrm>
            <a:off x="8350250" y="15946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位置解读</a:t>
            </a:r>
          </a:p>
        </p:txBody>
      </p:sp>
      <p:sp>
        <p:nvSpPr>
          <p:cNvPr id="57" name="side-p"/>
          <p:cNvSpPr txBox="1"/>
          <p:nvPr/>
        </p:nvSpPr>
        <p:spPr>
          <a:xfrm>
            <a:off x="8357489" y="1885045"/>
            <a:ext cx="94291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圆大小 = 市场份额</a:t>
            </a:r>
          </a:p>
        </p:txBody>
      </p:sp>
      <p:sp>
        <p:nvSpPr>
          <p:cNvPr id="58" name="k-0"/>
          <p:cNvSpPr/>
          <p:nvPr/>
        </p:nvSpPr>
        <p:spPr>
          <a:xfrm>
            <a:off x="8191500" y="2260600"/>
            <a:ext cx="3048000" cy="952500"/>
          </a:xfrm>
          <a:custGeom>
            <a:avLst/>
            <a:gdLst/>
            <a:ahLst/>
            <a:cxnLst/>
            <a:rect l="0" t="0" r="r" b="b"/>
            <a:pathLst>
              <a:path w="3048000" h="952500">
                <a:moveTo>
                  <a:pt x="127000" y="0"/>
                </a:moveTo>
                <a:lnTo>
                  <a:pt x="2921000" y="0"/>
                </a:lnTo>
                <a:cubicBezTo>
                  <a:pt x="2991167" y="0"/>
                  <a:pt x="3048000" y="56832"/>
                  <a:pt x="3048000" y="127000"/>
                </a:cubicBezTo>
                <a:lnTo>
                  <a:pt x="3048000" y="825500"/>
                </a:lnTo>
                <a:cubicBezTo>
                  <a:pt x="3048000" y="895668"/>
                  <a:pt x="2991167" y="952500"/>
                  <a:pt x="2921000" y="952500"/>
                </a:cubicBezTo>
                <a:lnTo>
                  <a:pt x="127000" y="952500"/>
                </a:lnTo>
                <a:cubicBezTo>
                  <a:pt x="56833" y="952500"/>
                  <a:pt x="0" y="895668"/>
                  <a:pt x="0" y="8255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kh-0"/>
          <p:cNvSpPr txBox="1"/>
          <p:nvPr/>
        </p:nvSpPr>
        <p:spPr>
          <a:xfrm>
            <a:off x="8357108" y="2401824"/>
            <a:ext cx="3073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5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我们</a:t>
            </a:r>
          </a:p>
        </p:txBody>
      </p:sp>
      <p:sp>
        <p:nvSpPr>
          <p:cNvPr id="60" name="kv-0"/>
          <p:cNvSpPr txBox="1"/>
          <p:nvPr/>
        </p:nvSpPr>
        <p:spPr>
          <a:xfrm>
            <a:off x="8347964" y="2612517"/>
            <a:ext cx="1625092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价值高出价格 1.6</a:t>
            </a:r>
          </a:p>
        </p:txBody>
      </p:sp>
      <p:sp>
        <p:nvSpPr>
          <p:cNvPr id="61" name="kd-0"/>
          <p:cNvSpPr txBox="1"/>
          <p:nvPr/>
        </p:nvSpPr>
        <p:spPr>
          <a:xfrm>
            <a:off x="8357489" y="2939145"/>
            <a:ext cx="1238186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有 1 个点左右的提价空间</a:t>
            </a:r>
          </a:p>
        </p:txBody>
      </p:sp>
      <p:sp>
        <p:nvSpPr>
          <p:cNvPr id="62" name="k-1"/>
          <p:cNvSpPr/>
          <p:nvPr/>
        </p:nvSpPr>
        <p:spPr>
          <a:xfrm>
            <a:off x="8191500" y="3340100"/>
            <a:ext cx="3048000" cy="952500"/>
          </a:xfrm>
          <a:custGeom>
            <a:avLst/>
            <a:gdLst/>
            <a:ahLst/>
            <a:cxnLst/>
            <a:rect l="0" t="0" r="r" b="b"/>
            <a:pathLst>
              <a:path w="3048000" h="952500">
                <a:moveTo>
                  <a:pt x="127000" y="0"/>
                </a:moveTo>
                <a:lnTo>
                  <a:pt x="2921000" y="0"/>
                </a:lnTo>
                <a:cubicBezTo>
                  <a:pt x="2991167" y="0"/>
                  <a:pt x="3048000" y="56833"/>
                  <a:pt x="3048000" y="127000"/>
                </a:cubicBezTo>
                <a:lnTo>
                  <a:pt x="3048000" y="825500"/>
                </a:lnTo>
                <a:cubicBezTo>
                  <a:pt x="3048000" y="895667"/>
                  <a:pt x="2991167" y="952500"/>
                  <a:pt x="2921000" y="952500"/>
                </a:cubicBezTo>
                <a:lnTo>
                  <a:pt x="127000" y="952500"/>
                </a:lnTo>
                <a:cubicBezTo>
                  <a:pt x="56833" y="952500"/>
                  <a:pt x="0" y="895667"/>
                  <a:pt x="0" y="8255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kh-1"/>
          <p:cNvSpPr txBox="1"/>
          <p:nvPr/>
        </p:nvSpPr>
        <p:spPr>
          <a:xfrm>
            <a:off x="8357108" y="3481324"/>
            <a:ext cx="6050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品牌 B、E</a:t>
            </a:r>
          </a:p>
        </p:txBody>
      </p:sp>
      <p:sp>
        <p:nvSpPr>
          <p:cNvPr id="64" name="kv-1"/>
          <p:cNvSpPr txBox="1"/>
          <p:nvPr/>
        </p:nvSpPr>
        <p:spPr>
          <a:xfrm>
            <a:off x="8347964" y="3692017"/>
            <a:ext cx="12268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价格高于价值</a:t>
            </a:r>
          </a:p>
        </p:txBody>
      </p:sp>
      <p:sp>
        <p:nvSpPr>
          <p:cNvPr id="65" name="kd-1"/>
          <p:cNvSpPr txBox="1"/>
          <p:nvPr/>
        </p:nvSpPr>
        <p:spPr>
          <a:xfrm>
            <a:off x="8357489" y="4018645"/>
            <a:ext cx="1293304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份额合计 20%，最容易被抢</a:t>
            </a:r>
          </a:p>
        </p:txBody>
      </p:sp>
      <p:sp>
        <p:nvSpPr>
          <p:cNvPr id="66" name="k-2"/>
          <p:cNvSpPr/>
          <p:nvPr/>
        </p:nvSpPr>
        <p:spPr>
          <a:xfrm>
            <a:off x="8191500" y="4419600"/>
            <a:ext cx="3048000" cy="952500"/>
          </a:xfrm>
          <a:custGeom>
            <a:avLst/>
            <a:gdLst/>
            <a:ahLst/>
            <a:cxnLst/>
            <a:rect l="0" t="0" r="r" b="b"/>
            <a:pathLst>
              <a:path w="3048000" h="952500">
                <a:moveTo>
                  <a:pt x="127000" y="0"/>
                </a:moveTo>
                <a:lnTo>
                  <a:pt x="2921000" y="0"/>
                </a:lnTo>
                <a:cubicBezTo>
                  <a:pt x="2991167" y="0"/>
                  <a:pt x="3048000" y="56833"/>
                  <a:pt x="3048000" y="127000"/>
                </a:cubicBezTo>
                <a:lnTo>
                  <a:pt x="3048000" y="825500"/>
                </a:lnTo>
                <a:cubicBezTo>
                  <a:pt x="3048000" y="895667"/>
                  <a:pt x="2991167" y="952500"/>
                  <a:pt x="2921000" y="952500"/>
                </a:cubicBezTo>
                <a:lnTo>
                  <a:pt x="127000" y="952500"/>
                </a:lnTo>
                <a:cubicBezTo>
                  <a:pt x="56833" y="952500"/>
                  <a:pt x="0" y="895667"/>
                  <a:pt x="0" y="8255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kh-2"/>
          <p:cNvSpPr txBox="1"/>
          <p:nvPr/>
        </p:nvSpPr>
        <p:spPr>
          <a:xfrm>
            <a:off x="8357108" y="4560824"/>
            <a:ext cx="5232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三年路径</a:t>
            </a:r>
          </a:p>
        </p:txBody>
      </p:sp>
      <p:sp>
        <p:nvSpPr>
          <p:cNvPr id="68" name="kv-2"/>
          <p:cNvSpPr txBox="1"/>
          <p:nvPr/>
        </p:nvSpPr>
        <p:spPr>
          <a:xfrm>
            <a:off x="8347964" y="4771517"/>
            <a:ext cx="151130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价值 6.8 → 7.8</a:t>
            </a:r>
          </a:p>
        </p:txBody>
      </p:sp>
      <p:sp>
        <p:nvSpPr>
          <p:cNvPr id="69" name="kd-2"/>
          <p:cNvSpPr txBox="1"/>
          <p:nvPr/>
        </p:nvSpPr>
        <p:spPr>
          <a:xfrm>
            <a:off x="8357489" y="5098145"/>
            <a:ext cx="1687004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价格指数只跟到 6.0，保持在线下方</a:t>
            </a:r>
          </a:p>
        </p:txBody>
      </p:sp>
      <p:cxnSp>
        <p:nvCxnSpPr>
          <p:cNvPr id="70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foot-l"/>
          <p:cNvSpPr txBox="1"/>
          <p:nvPr/>
        </p:nvSpPr>
        <p:spPr>
          <a:xfrm>
            <a:off x="573532" y="6532308"/>
            <a:ext cx="130149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价格-价值地图 · 七个品牌</a:t>
            </a:r>
          </a:p>
        </p:txBody>
      </p:sp>
      <p:sp>
        <p:nvSpPr>
          <p:cNvPr id="72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上半年经营数据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217436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H1 BUSINESS PERFORMANCE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466199" y="673132"/>
            <a:ext cx="21545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营业收入与同比增长率（单位：百万元）</a:t>
            </a:r>
          </a:p>
        </p:txBody>
      </p:sp>
      <p:cxnSp>
        <p:nvCxnSpPr>
          <p:cNvPr id="10" name="grid-0"/>
          <p:cNvCxnSpPr/>
          <p:nvPr/>
        </p:nvCxnSpPr>
        <p:spPr>
          <a:xfrm>
            <a:off x="1066800" y="5194300"/>
            <a:ext cx="6985000" cy="0"/>
          </a:xfrm>
          <a:prstGeom prst="line">
            <a:avLst/>
          </a:prstGeom>
          <a:ln w="6350" cap="rnd">
            <a:solidFill>
              <a:srgbClr val="0B2545">
                <a:alpha val="1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gl-0"/>
          <p:cNvSpPr txBox="1"/>
          <p:nvPr/>
        </p:nvSpPr>
        <p:spPr>
          <a:xfrm>
            <a:off x="817436" y="5104495"/>
            <a:ext cx="146876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80" b="0" spc="25">
                <a:solidFill>
                  <a:srgbClr val="7E93AE"/>
                </a:solidFill>
                <a:latin typeface="Arial"/>
                <a:ea typeface="Arial"/>
                <a:cs typeface="Arial"/>
              </a:rPr>
              <a:t>0</a:t>
            </a:r>
          </a:p>
        </p:txBody>
      </p:sp>
      <p:cxnSp>
        <p:nvCxnSpPr>
          <p:cNvPr id="12" name="grid-65"/>
          <p:cNvCxnSpPr/>
          <p:nvPr/>
        </p:nvCxnSpPr>
        <p:spPr>
          <a:xfrm>
            <a:off x="1066800" y="4572000"/>
            <a:ext cx="69850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gl-65"/>
          <p:cNvSpPr txBox="1"/>
          <p:nvPr/>
        </p:nvSpPr>
        <p:spPr>
          <a:xfrm>
            <a:off x="759142" y="4482195"/>
            <a:ext cx="205168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80" b="0" spc="25">
                <a:solidFill>
                  <a:srgbClr val="7E93AE"/>
                </a:solidFill>
                <a:latin typeface="Arial"/>
                <a:ea typeface="Arial"/>
                <a:cs typeface="Arial"/>
              </a:rPr>
              <a:t>65</a:t>
            </a:r>
          </a:p>
        </p:txBody>
      </p:sp>
      <p:cxnSp>
        <p:nvCxnSpPr>
          <p:cNvPr id="14" name="grid-130"/>
          <p:cNvCxnSpPr/>
          <p:nvPr/>
        </p:nvCxnSpPr>
        <p:spPr>
          <a:xfrm>
            <a:off x="1066800" y="3949700"/>
            <a:ext cx="69850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gl-130"/>
          <p:cNvSpPr txBox="1"/>
          <p:nvPr/>
        </p:nvSpPr>
        <p:spPr>
          <a:xfrm>
            <a:off x="700849" y="3859895"/>
            <a:ext cx="26346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80" b="0" spc="25">
                <a:solidFill>
                  <a:srgbClr val="7E93AE"/>
                </a:solidFill>
                <a:latin typeface="Arial"/>
                <a:ea typeface="Arial"/>
                <a:cs typeface="Arial"/>
              </a:rPr>
              <a:t>130</a:t>
            </a:r>
          </a:p>
        </p:txBody>
      </p:sp>
      <p:cxnSp>
        <p:nvCxnSpPr>
          <p:cNvPr id="16" name="grid-195"/>
          <p:cNvCxnSpPr/>
          <p:nvPr/>
        </p:nvCxnSpPr>
        <p:spPr>
          <a:xfrm>
            <a:off x="1066800" y="3327400"/>
            <a:ext cx="69850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gl-195"/>
          <p:cNvSpPr txBox="1"/>
          <p:nvPr/>
        </p:nvSpPr>
        <p:spPr>
          <a:xfrm>
            <a:off x="700849" y="3237595"/>
            <a:ext cx="26346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80" b="0" spc="25">
                <a:solidFill>
                  <a:srgbClr val="7E93AE"/>
                </a:solidFill>
                <a:latin typeface="Arial"/>
                <a:ea typeface="Arial"/>
                <a:cs typeface="Arial"/>
              </a:rPr>
              <a:t>195</a:t>
            </a:r>
          </a:p>
        </p:txBody>
      </p:sp>
      <p:cxnSp>
        <p:nvCxnSpPr>
          <p:cNvPr id="18" name="grid-260"/>
          <p:cNvCxnSpPr/>
          <p:nvPr/>
        </p:nvCxnSpPr>
        <p:spPr>
          <a:xfrm>
            <a:off x="1066800" y="2705100"/>
            <a:ext cx="69850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gl-260"/>
          <p:cNvSpPr txBox="1"/>
          <p:nvPr/>
        </p:nvSpPr>
        <p:spPr>
          <a:xfrm>
            <a:off x="700849" y="2615295"/>
            <a:ext cx="26346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80" b="0" spc="25">
                <a:solidFill>
                  <a:srgbClr val="7E93AE"/>
                </a:solidFill>
                <a:latin typeface="Arial"/>
                <a:ea typeface="Arial"/>
                <a:cs typeface="Arial"/>
              </a:rPr>
              <a:t>260</a:t>
            </a:r>
          </a:p>
        </p:txBody>
      </p:sp>
      <p:sp>
        <p:nvSpPr>
          <p:cNvPr id="20" name="bar-1"/>
          <p:cNvSpPr/>
          <p:nvPr/>
        </p:nvSpPr>
        <p:spPr>
          <a:xfrm>
            <a:off x="1369504" y="3968877"/>
            <a:ext cx="558800" cy="1225423"/>
          </a:xfrm>
          <a:custGeom>
            <a:avLst/>
            <a:gdLst/>
            <a:ahLst/>
            <a:cxnLst/>
            <a:rect l="0" t="0" r="r" b="b"/>
            <a:pathLst>
              <a:path w="558800" h="1225423">
                <a:moveTo>
                  <a:pt x="0" y="1225423"/>
                </a:moveTo>
                <a:lnTo>
                  <a:pt x="0" y="63500"/>
                </a:lnTo>
                <a:cubicBezTo>
                  <a:pt x="0" y="28385"/>
                  <a:pt x="28384" y="0"/>
                  <a:pt x="63500" y="0"/>
                </a:cubicBezTo>
                <a:lnTo>
                  <a:pt x="495300" y="0"/>
                </a:lnTo>
                <a:cubicBezTo>
                  <a:pt x="530352" y="0"/>
                  <a:pt x="558800" y="28385"/>
                  <a:pt x="558800" y="63500"/>
                </a:cubicBezTo>
                <a:lnTo>
                  <a:pt x="558800" y="1225423"/>
                </a:lnTo>
                <a:close/>
              </a:path>
            </a:pathLst>
          </a:custGeom>
          <a:gradFill rotWithShape="1">
            <a:gsLst>
              <a:gs pos="0">
                <a:srgbClr val="4168A8"/>
              </a:gs>
              <a:gs pos="100000">
                <a:srgbClr val="0B3E8F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val-1"/>
          <p:cNvSpPr txBox="1"/>
          <p:nvPr/>
        </p:nvSpPr>
        <p:spPr>
          <a:xfrm>
            <a:off x="1480291" y="3697703"/>
            <a:ext cx="33718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128</a:t>
            </a:r>
          </a:p>
        </p:txBody>
      </p:sp>
      <p:sp>
        <p:nvSpPr>
          <p:cNvPr id="22" name="x-1"/>
          <p:cNvSpPr txBox="1"/>
          <p:nvPr/>
        </p:nvSpPr>
        <p:spPr>
          <a:xfrm>
            <a:off x="1509025" y="5298361"/>
            <a:ext cx="27971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1月</a:t>
            </a:r>
          </a:p>
        </p:txBody>
      </p:sp>
      <p:sp>
        <p:nvSpPr>
          <p:cNvPr id="23" name="bar-2"/>
          <p:cNvSpPr/>
          <p:nvPr/>
        </p:nvSpPr>
        <p:spPr>
          <a:xfrm>
            <a:off x="2533650" y="3700780"/>
            <a:ext cx="558800" cy="1493520"/>
          </a:xfrm>
          <a:custGeom>
            <a:avLst/>
            <a:gdLst/>
            <a:ahLst/>
            <a:cxnLst/>
            <a:rect l="0" t="0" r="r" b="b"/>
            <a:pathLst>
              <a:path w="558800" h="1493520">
                <a:moveTo>
                  <a:pt x="0" y="1493520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495300" y="0"/>
                </a:lnTo>
                <a:cubicBezTo>
                  <a:pt x="530352" y="0"/>
                  <a:pt x="558800" y="28448"/>
                  <a:pt x="558800" y="63500"/>
                </a:cubicBezTo>
                <a:lnTo>
                  <a:pt x="558800" y="1493520"/>
                </a:lnTo>
                <a:close/>
              </a:path>
            </a:pathLst>
          </a:custGeom>
          <a:gradFill rotWithShape="1">
            <a:gsLst>
              <a:gs pos="0">
                <a:srgbClr val="4773B2"/>
              </a:gs>
              <a:gs pos="100000">
                <a:srgbClr val="134C9C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val-2"/>
          <p:cNvSpPr txBox="1"/>
          <p:nvPr/>
        </p:nvSpPr>
        <p:spPr>
          <a:xfrm>
            <a:off x="2644458" y="3429635"/>
            <a:ext cx="33718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156</a:t>
            </a:r>
          </a:p>
        </p:txBody>
      </p:sp>
      <p:sp>
        <p:nvSpPr>
          <p:cNvPr id="25" name="x-2"/>
          <p:cNvSpPr txBox="1"/>
          <p:nvPr/>
        </p:nvSpPr>
        <p:spPr>
          <a:xfrm>
            <a:off x="2673191" y="5298361"/>
            <a:ext cx="27971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2月</a:t>
            </a:r>
          </a:p>
        </p:txBody>
      </p:sp>
      <p:sp>
        <p:nvSpPr>
          <p:cNvPr id="26" name="bar-3"/>
          <p:cNvSpPr/>
          <p:nvPr/>
        </p:nvSpPr>
        <p:spPr>
          <a:xfrm>
            <a:off x="3697796" y="3767772"/>
            <a:ext cx="558800" cy="1426527"/>
          </a:xfrm>
          <a:custGeom>
            <a:avLst/>
            <a:gdLst/>
            <a:ahLst/>
            <a:cxnLst/>
            <a:rect l="0" t="0" r="r" b="b"/>
            <a:pathLst>
              <a:path w="558800" h="1426527">
                <a:moveTo>
                  <a:pt x="0" y="1426527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495300" y="0"/>
                </a:lnTo>
                <a:cubicBezTo>
                  <a:pt x="530415" y="0"/>
                  <a:pt x="558800" y="28448"/>
                  <a:pt x="558800" y="63500"/>
                </a:cubicBezTo>
                <a:lnTo>
                  <a:pt x="558800" y="1426527"/>
                </a:lnTo>
                <a:close/>
              </a:path>
            </a:pathLst>
          </a:custGeom>
          <a:gradFill rotWithShape="1">
            <a:gsLst>
              <a:gs pos="0">
                <a:srgbClr val="5489C6"/>
              </a:gs>
              <a:gs pos="100000">
                <a:srgbClr val="2468B6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val-3"/>
          <p:cNvSpPr txBox="1"/>
          <p:nvPr/>
        </p:nvSpPr>
        <p:spPr>
          <a:xfrm>
            <a:off x="3808624" y="3496652"/>
            <a:ext cx="33718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149</a:t>
            </a:r>
          </a:p>
        </p:txBody>
      </p:sp>
      <p:sp>
        <p:nvSpPr>
          <p:cNvPr id="28" name="x-3"/>
          <p:cNvSpPr txBox="1"/>
          <p:nvPr/>
        </p:nvSpPr>
        <p:spPr>
          <a:xfrm>
            <a:off x="3837358" y="5298361"/>
            <a:ext cx="27971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3月</a:t>
            </a:r>
          </a:p>
        </p:txBody>
      </p:sp>
      <p:sp>
        <p:nvSpPr>
          <p:cNvPr id="29" name="bar-4"/>
          <p:cNvSpPr/>
          <p:nvPr/>
        </p:nvSpPr>
        <p:spPr>
          <a:xfrm>
            <a:off x="4862004" y="3403981"/>
            <a:ext cx="558800" cy="1790319"/>
          </a:xfrm>
          <a:custGeom>
            <a:avLst/>
            <a:gdLst/>
            <a:ahLst/>
            <a:cxnLst/>
            <a:rect l="0" t="0" r="r" b="b"/>
            <a:pathLst>
              <a:path w="558800" h="1790319">
                <a:moveTo>
                  <a:pt x="0" y="1790319"/>
                </a:moveTo>
                <a:lnTo>
                  <a:pt x="0" y="63500"/>
                </a:lnTo>
                <a:cubicBezTo>
                  <a:pt x="0" y="28448"/>
                  <a:pt x="28385" y="0"/>
                  <a:pt x="63500" y="0"/>
                </a:cubicBezTo>
                <a:lnTo>
                  <a:pt x="495300" y="0"/>
                </a:lnTo>
                <a:cubicBezTo>
                  <a:pt x="530352" y="0"/>
                  <a:pt x="558800" y="28448"/>
                  <a:pt x="558800" y="63500"/>
                </a:cubicBezTo>
                <a:lnTo>
                  <a:pt x="558800" y="1790319"/>
                </a:lnTo>
                <a:close/>
              </a:path>
            </a:pathLst>
          </a:custGeom>
          <a:gradFill rotWithShape="1">
            <a:gsLst>
              <a:gs pos="0">
                <a:srgbClr val="5C95CF"/>
              </a:gs>
              <a:gs pos="100000">
                <a:srgbClr val="2E77C2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val-4"/>
          <p:cNvSpPr txBox="1"/>
          <p:nvPr/>
        </p:nvSpPr>
        <p:spPr>
          <a:xfrm>
            <a:off x="4972791" y="3132846"/>
            <a:ext cx="33718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187</a:t>
            </a:r>
          </a:p>
        </p:txBody>
      </p:sp>
      <p:sp>
        <p:nvSpPr>
          <p:cNvPr id="31" name="x-4"/>
          <p:cNvSpPr txBox="1"/>
          <p:nvPr/>
        </p:nvSpPr>
        <p:spPr>
          <a:xfrm>
            <a:off x="5001525" y="5298361"/>
            <a:ext cx="27971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4月</a:t>
            </a:r>
          </a:p>
        </p:txBody>
      </p:sp>
      <p:sp>
        <p:nvSpPr>
          <p:cNvPr id="32" name="bar-5"/>
          <p:cNvSpPr/>
          <p:nvPr/>
        </p:nvSpPr>
        <p:spPr>
          <a:xfrm>
            <a:off x="6026150" y="3250819"/>
            <a:ext cx="558800" cy="1943481"/>
          </a:xfrm>
          <a:custGeom>
            <a:avLst/>
            <a:gdLst/>
            <a:ahLst/>
            <a:cxnLst/>
            <a:rect l="0" t="0" r="r" b="b"/>
            <a:pathLst>
              <a:path w="558800" h="1943481">
                <a:moveTo>
                  <a:pt x="0" y="1943481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495300" y="0"/>
                </a:lnTo>
                <a:cubicBezTo>
                  <a:pt x="530352" y="0"/>
                  <a:pt x="558800" y="28448"/>
                  <a:pt x="558800" y="63500"/>
                </a:cubicBezTo>
                <a:lnTo>
                  <a:pt x="558800" y="1943481"/>
                </a:lnTo>
                <a:close/>
              </a:path>
            </a:pathLst>
          </a:custGeom>
          <a:gradFill rotWithShape="1">
            <a:gsLst>
              <a:gs pos="0">
                <a:srgbClr val="6FACE0"/>
              </a:gs>
              <a:gs pos="100000">
                <a:srgbClr val="4694D7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val-5"/>
          <p:cNvSpPr txBox="1"/>
          <p:nvPr/>
        </p:nvSpPr>
        <p:spPr>
          <a:xfrm>
            <a:off x="6136958" y="2979664"/>
            <a:ext cx="33718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203</a:t>
            </a:r>
          </a:p>
        </p:txBody>
      </p:sp>
      <p:sp>
        <p:nvSpPr>
          <p:cNvPr id="34" name="x-5"/>
          <p:cNvSpPr txBox="1"/>
          <p:nvPr/>
        </p:nvSpPr>
        <p:spPr>
          <a:xfrm>
            <a:off x="6165691" y="5298361"/>
            <a:ext cx="27971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5月</a:t>
            </a:r>
          </a:p>
        </p:txBody>
      </p:sp>
      <p:sp>
        <p:nvSpPr>
          <p:cNvPr id="35" name="bar-6"/>
          <p:cNvSpPr/>
          <p:nvPr/>
        </p:nvSpPr>
        <p:spPr>
          <a:xfrm>
            <a:off x="7190296" y="2934843"/>
            <a:ext cx="558800" cy="2259457"/>
          </a:xfrm>
          <a:custGeom>
            <a:avLst/>
            <a:gdLst/>
            <a:ahLst/>
            <a:cxnLst/>
            <a:rect l="0" t="0" r="r" b="b"/>
            <a:pathLst>
              <a:path w="558800" h="2259457">
                <a:moveTo>
                  <a:pt x="0" y="2259457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495300" y="0"/>
                </a:lnTo>
                <a:cubicBezTo>
                  <a:pt x="530415" y="0"/>
                  <a:pt x="558800" y="28448"/>
                  <a:pt x="558800" y="63500"/>
                </a:cubicBezTo>
                <a:lnTo>
                  <a:pt x="558800" y="2259457"/>
                </a:lnTo>
                <a:close/>
              </a:path>
            </a:pathLst>
          </a:custGeom>
          <a:gradFill rotWithShape="1">
            <a:gsLst>
              <a:gs pos="0">
                <a:srgbClr val="7AB6E6"/>
              </a:gs>
              <a:gs pos="100000">
                <a:srgbClr val="54A2DF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val-6"/>
          <p:cNvSpPr txBox="1"/>
          <p:nvPr/>
        </p:nvSpPr>
        <p:spPr>
          <a:xfrm>
            <a:off x="7301124" y="2663727"/>
            <a:ext cx="33718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236</a:t>
            </a:r>
          </a:p>
        </p:txBody>
      </p:sp>
      <p:sp>
        <p:nvSpPr>
          <p:cNvPr id="37" name="x-6"/>
          <p:cNvSpPr txBox="1"/>
          <p:nvPr/>
        </p:nvSpPr>
        <p:spPr>
          <a:xfrm>
            <a:off x="7329858" y="5298361"/>
            <a:ext cx="27971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6月</a:t>
            </a:r>
          </a:p>
        </p:txBody>
      </p:sp>
      <p:sp>
        <p:nvSpPr>
          <p:cNvPr id="38" name="line-growth"/>
          <p:cNvSpPr/>
          <p:nvPr/>
        </p:nvSpPr>
        <p:spPr>
          <a:xfrm>
            <a:off x="1648904" y="2086938"/>
            <a:ext cx="5820791" cy="481002"/>
          </a:xfrm>
          <a:custGeom>
            <a:avLst/>
            <a:gdLst/>
            <a:ahLst/>
            <a:cxnLst/>
            <a:rect l="0" t="0" r="r" b="b"/>
            <a:pathLst>
              <a:path w="5820791" h="481002">
                <a:moveTo>
                  <a:pt x="0" y="216842"/>
                </a:moveTo>
                <a:cubicBezTo>
                  <a:pt x="162941" y="193728"/>
                  <a:pt x="838200" y="14785"/>
                  <a:pt x="1164146" y="51742"/>
                </a:cubicBezTo>
                <a:cubicBezTo>
                  <a:pt x="1490091" y="88699"/>
                  <a:pt x="2002346" y="487923"/>
                  <a:pt x="2328291" y="481002"/>
                </a:cubicBezTo>
                <a:cubicBezTo>
                  <a:pt x="2654300" y="474080"/>
                  <a:pt x="3166491" y="32247"/>
                  <a:pt x="3492500" y="2212"/>
                </a:cubicBezTo>
                <a:cubicBezTo>
                  <a:pt x="3818445" y="-27824"/>
                  <a:pt x="4330700" y="245544"/>
                  <a:pt x="4656646" y="266372"/>
                </a:cubicBezTo>
                <a:cubicBezTo>
                  <a:pt x="4982591" y="287200"/>
                  <a:pt x="5657850" y="166994"/>
                  <a:pt x="5820791" y="150802"/>
                </a:cubicBezTo>
              </a:path>
            </a:pathLst>
          </a:custGeom>
          <a:noFill/>
          <a:ln w="1524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lp-1"/>
          <p:cNvSpPr/>
          <p:nvPr/>
        </p:nvSpPr>
        <p:spPr>
          <a:xfrm>
            <a:off x="1607608" y="2262505"/>
            <a:ext cx="82550" cy="8255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lv-1"/>
          <p:cNvSpPr txBox="1"/>
          <p:nvPr/>
        </p:nvSpPr>
        <p:spPr>
          <a:xfrm>
            <a:off x="1494261" y="2059146"/>
            <a:ext cx="3092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E0703A"/>
                </a:solidFill>
                <a:latin typeface="Arial"/>
                <a:ea typeface="Arial"/>
                <a:cs typeface="Arial"/>
              </a:rPr>
              <a:t>+12%</a:t>
            </a:r>
          </a:p>
        </p:txBody>
      </p:sp>
      <p:sp>
        <p:nvSpPr>
          <p:cNvPr id="41" name="lp-2"/>
          <p:cNvSpPr/>
          <p:nvPr/>
        </p:nvSpPr>
        <p:spPr>
          <a:xfrm>
            <a:off x="2771775" y="2097405"/>
            <a:ext cx="82550" cy="8255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lv-2"/>
          <p:cNvSpPr txBox="1"/>
          <p:nvPr/>
        </p:nvSpPr>
        <p:spPr>
          <a:xfrm>
            <a:off x="2658428" y="1894046"/>
            <a:ext cx="3092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E0703A"/>
                </a:solidFill>
                <a:latin typeface="Arial"/>
                <a:ea typeface="Arial"/>
                <a:cs typeface="Arial"/>
              </a:rPr>
              <a:t>+22%</a:t>
            </a:r>
          </a:p>
        </p:txBody>
      </p:sp>
      <p:sp>
        <p:nvSpPr>
          <p:cNvPr id="43" name="lp-3"/>
          <p:cNvSpPr/>
          <p:nvPr/>
        </p:nvSpPr>
        <p:spPr>
          <a:xfrm>
            <a:off x="3935942" y="2526665"/>
            <a:ext cx="82550" cy="8255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lv-3"/>
          <p:cNvSpPr txBox="1"/>
          <p:nvPr/>
        </p:nvSpPr>
        <p:spPr>
          <a:xfrm>
            <a:off x="3850534" y="2323306"/>
            <a:ext cx="2533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E0703A"/>
                </a:solidFill>
                <a:latin typeface="Arial"/>
                <a:ea typeface="Arial"/>
                <a:cs typeface="Arial"/>
              </a:rPr>
              <a:t>-4%</a:t>
            </a:r>
          </a:p>
        </p:txBody>
      </p:sp>
      <p:sp>
        <p:nvSpPr>
          <p:cNvPr id="45" name="lp-4"/>
          <p:cNvSpPr/>
          <p:nvPr/>
        </p:nvSpPr>
        <p:spPr>
          <a:xfrm>
            <a:off x="5100108" y="2047875"/>
            <a:ext cx="82550" cy="8255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lv-4"/>
          <p:cNvSpPr txBox="1"/>
          <p:nvPr/>
        </p:nvSpPr>
        <p:spPr>
          <a:xfrm>
            <a:off x="4986761" y="1844516"/>
            <a:ext cx="3092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E0703A"/>
                </a:solidFill>
                <a:latin typeface="Arial"/>
                <a:ea typeface="Arial"/>
                <a:cs typeface="Arial"/>
              </a:rPr>
              <a:t>+25%</a:t>
            </a:r>
          </a:p>
        </p:txBody>
      </p:sp>
      <p:sp>
        <p:nvSpPr>
          <p:cNvPr id="47" name="lp-5"/>
          <p:cNvSpPr/>
          <p:nvPr/>
        </p:nvSpPr>
        <p:spPr>
          <a:xfrm>
            <a:off x="6264275" y="2312035"/>
            <a:ext cx="82550" cy="8255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lv-5"/>
          <p:cNvSpPr txBox="1"/>
          <p:nvPr/>
        </p:nvSpPr>
        <p:spPr>
          <a:xfrm>
            <a:off x="6178868" y="2108676"/>
            <a:ext cx="2533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E0703A"/>
                </a:solidFill>
                <a:latin typeface="Arial"/>
                <a:ea typeface="Arial"/>
                <a:cs typeface="Arial"/>
              </a:rPr>
              <a:t>+9%</a:t>
            </a:r>
          </a:p>
        </p:txBody>
      </p:sp>
      <p:sp>
        <p:nvSpPr>
          <p:cNvPr id="49" name="lp-6"/>
          <p:cNvSpPr/>
          <p:nvPr/>
        </p:nvSpPr>
        <p:spPr>
          <a:xfrm>
            <a:off x="7428442" y="2196465"/>
            <a:ext cx="82550" cy="8255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lv-6"/>
          <p:cNvSpPr txBox="1"/>
          <p:nvPr/>
        </p:nvSpPr>
        <p:spPr>
          <a:xfrm>
            <a:off x="7315094" y="1993106"/>
            <a:ext cx="3092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E0703A"/>
                </a:solidFill>
                <a:latin typeface="Arial"/>
                <a:ea typeface="Arial"/>
                <a:cs typeface="Arial"/>
              </a:rPr>
              <a:t>+16%</a:t>
            </a:r>
          </a:p>
        </p:txBody>
      </p:sp>
      <p:sp>
        <p:nvSpPr>
          <p:cNvPr id="51" name="legend"/>
          <p:cNvSpPr/>
          <p:nvPr/>
        </p:nvSpPr>
        <p:spPr>
          <a:xfrm>
            <a:off x="6172200" y="1409700"/>
            <a:ext cx="1879600" cy="279400"/>
          </a:xfrm>
          <a:custGeom>
            <a:avLst/>
            <a:gdLst/>
            <a:ahLst/>
            <a:cxnLst/>
            <a:rect l="0" t="0" r="r" b="b"/>
            <a:pathLst>
              <a:path w="1879600" h="279400">
                <a:moveTo>
                  <a:pt x="139700" y="0"/>
                </a:moveTo>
                <a:lnTo>
                  <a:pt x="1739900" y="0"/>
                </a:lnTo>
                <a:cubicBezTo>
                  <a:pt x="1817053" y="0"/>
                  <a:pt x="1879600" y="62547"/>
                  <a:pt x="1879600" y="139700"/>
                </a:cubicBezTo>
                <a:lnTo>
                  <a:pt x="1879600" y="139700"/>
                </a:lnTo>
                <a:cubicBezTo>
                  <a:pt x="1879600" y="216852"/>
                  <a:pt x="1817053" y="279400"/>
                  <a:pt x="1739900" y="279400"/>
                </a:cubicBezTo>
                <a:lnTo>
                  <a:pt x="139700" y="279400"/>
                </a:lnTo>
                <a:cubicBezTo>
                  <a:pt x="62548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7"/>
                  <a:pt x="62548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lg-1"/>
          <p:cNvSpPr/>
          <p:nvPr/>
        </p:nvSpPr>
        <p:spPr>
          <a:xfrm>
            <a:off x="6337300" y="1498600"/>
            <a:ext cx="107950" cy="107950"/>
          </a:xfrm>
          <a:custGeom>
            <a:avLst/>
            <a:gdLst/>
            <a:ahLst/>
            <a:cxnLst/>
            <a:rect l="0" t="0" r="r" b="b"/>
            <a:pathLst>
              <a:path w="107950" h="107950">
                <a:moveTo>
                  <a:pt x="25400" y="0"/>
                </a:moveTo>
                <a:lnTo>
                  <a:pt x="82550" y="0"/>
                </a:lnTo>
                <a:cubicBezTo>
                  <a:pt x="96584" y="0"/>
                  <a:pt x="107950" y="11366"/>
                  <a:pt x="107950" y="25400"/>
                </a:cubicBezTo>
                <a:lnTo>
                  <a:pt x="107950" y="82550"/>
                </a:lnTo>
                <a:cubicBezTo>
                  <a:pt x="107950" y="96584"/>
                  <a:pt x="96584" y="107950"/>
                  <a:pt x="82550" y="107950"/>
                </a:cubicBezTo>
                <a:lnTo>
                  <a:pt x="25400" y="107950"/>
                </a:lnTo>
                <a:cubicBezTo>
                  <a:pt x="11366" y="107950"/>
                  <a:pt x="0" y="96584"/>
                  <a:pt x="0" y="82550"/>
                </a:cubicBezTo>
                <a:lnTo>
                  <a:pt x="0" y="25400"/>
                </a:lnTo>
                <a:cubicBezTo>
                  <a:pt x="0" y="11366"/>
                  <a:pt x="11366" y="0"/>
                  <a:pt x="254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lg-t1"/>
          <p:cNvSpPr txBox="1"/>
          <p:nvPr/>
        </p:nvSpPr>
        <p:spPr>
          <a:xfrm>
            <a:off x="6489827" y="1464453"/>
            <a:ext cx="513397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营业收入</a:t>
            </a:r>
          </a:p>
        </p:txBody>
      </p:sp>
      <p:cxnSp>
        <p:nvCxnSpPr>
          <p:cNvPr id="54" name="lg-2"/>
          <p:cNvCxnSpPr/>
          <p:nvPr/>
        </p:nvCxnSpPr>
        <p:spPr>
          <a:xfrm>
            <a:off x="7162800" y="1549400"/>
            <a:ext cx="165100" cy="0"/>
          </a:xfrm>
          <a:prstGeom prst="line">
            <a:avLst/>
          </a:prstGeom>
          <a:ln w="15240" cap="rnd">
            <a:solidFill>
              <a:srgbClr val="E0703A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lg-2d"/>
          <p:cNvSpPr/>
          <p:nvPr/>
        </p:nvSpPr>
        <p:spPr>
          <a:xfrm>
            <a:off x="7210425" y="1514475"/>
            <a:ext cx="69850" cy="69850"/>
          </a:xfrm>
          <a:prstGeom prst="ellipse">
            <a:avLst/>
          </a:prstGeom>
          <a:solidFill>
            <a:srgbClr val="FFFFFF"/>
          </a:solidFill>
          <a:ln w="1270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lg-t2"/>
          <p:cNvSpPr txBox="1"/>
          <p:nvPr/>
        </p:nvSpPr>
        <p:spPr>
          <a:xfrm>
            <a:off x="7378827" y="1464453"/>
            <a:ext cx="513397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同比增长</a:t>
            </a:r>
          </a:p>
        </p:txBody>
      </p:sp>
      <p:sp>
        <p:nvSpPr>
          <p:cNvPr id="57" name="kpi-1"/>
          <p:cNvSpPr/>
          <p:nvPr/>
        </p:nvSpPr>
        <p:spPr>
          <a:xfrm>
            <a:off x="8559800" y="1435100"/>
            <a:ext cx="2806700" cy="1066800"/>
          </a:xfrm>
          <a:custGeom>
            <a:avLst/>
            <a:gdLst/>
            <a:ahLst/>
            <a:cxnLst/>
            <a:rect l="0" t="0" r="r" b="b"/>
            <a:pathLst>
              <a:path w="2806700" h="1066800">
                <a:moveTo>
                  <a:pt x="114300" y="0"/>
                </a:moveTo>
                <a:lnTo>
                  <a:pt x="2692400" y="0"/>
                </a:lnTo>
                <a:cubicBezTo>
                  <a:pt x="2755519" y="0"/>
                  <a:pt x="2806700" y="51181"/>
                  <a:pt x="2806700" y="114300"/>
                </a:cubicBezTo>
                <a:lnTo>
                  <a:pt x="2806700" y="952500"/>
                </a:lnTo>
                <a:cubicBezTo>
                  <a:pt x="2806700" y="1015619"/>
                  <a:pt x="2755519" y="1066800"/>
                  <a:pt x="2692400" y="1066800"/>
                </a:cubicBezTo>
                <a:lnTo>
                  <a:pt x="114300" y="1066800"/>
                </a:lnTo>
                <a:cubicBezTo>
                  <a:pt x="51181" y="1066800"/>
                  <a:pt x="0" y="1015619"/>
                  <a:pt x="0" y="952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kpi-bar-1"/>
          <p:cNvSpPr/>
          <p:nvPr/>
        </p:nvSpPr>
        <p:spPr>
          <a:xfrm>
            <a:off x="8559800" y="1435100"/>
            <a:ext cx="31750" cy="1066800"/>
          </a:xfrm>
          <a:custGeom>
            <a:avLst/>
            <a:gdLst/>
            <a:ahLst/>
            <a:cxnLst/>
            <a:rect l="0" t="0" r="r" b="b"/>
            <a:pathLst>
              <a:path w="31750" h="10668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1050925"/>
                </a:lnTo>
                <a:cubicBezTo>
                  <a:pt x="31750" y="1059688"/>
                  <a:pt x="24638" y="1066800"/>
                  <a:pt x="15875" y="1066800"/>
                </a:cubicBezTo>
                <a:lnTo>
                  <a:pt x="15875" y="1066800"/>
                </a:lnTo>
                <a:cubicBezTo>
                  <a:pt x="7112" y="1066800"/>
                  <a:pt x="0" y="1059688"/>
                  <a:pt x="0" y="10509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icon-coin"/>
          <p:cNvSpPr/>
          <p:nvPr/>
        </p:nvSpPr>
        <p:spPr>
          <a:xfrm>
            <a:off x="10947400" y="1758950"/>
            <a:ext cx="101600" cy="88900"/>
          </a:xfrm>
          <a:custGeom>
            <a:avLst/>
            <a:gdLst/>
            <a:ahLst/>
            <a:cxnLst/>
            <a:rect l="0" t="0" r="r" b="b"/>
            <a:pathLst>
              <a:path w="101600" h="88900">
                <a:moveTo>
                  <a:pt x="50800" y="0"/>
                </a:moveTo>
                <a:cubicBezTo>
                  <a:pt x="22225" y="0"/>
                  <a:pt x="0" y="7938"/>
                  <a:pt x="0" y="19050"/>
                </a:cubicBezTo>
                <a:cubicBezTo>
                  <a:pt x="0" y="30162"/>
                  <a:pt x="22225" y="38100"/>
                  <a:pt x="50800" y="38100"/>
                </a:cubicBezTo>
                <a:cubicBezTo>
                  <a:pt x="79375" y="38100"/>
                  <a:pt x="101600" y="30162"/>
                  <a:pt x="101600" y="19050"/>
                </a:cubicBezTo>
                <a:cubicBezTo>
                  <a:pt x="101600" y="7938"/>
                  <a:pt x="79375" y="0"/>
                  <a:pt x="50800" y="0"/>
                </a:cubicBezTo>
                <a:close/>
                <a:moveTo>
                  <a:pt x="0" y="19050"/>
                </a:moveTo>
                <a:lnTo>
                  <a:pt x="0" y="69850"/>
                </a:lnTo>
                <a:cubicBezTo>
                  <a:pt x="0" y="80962"/>
                  <a:pt x="22225" y="88900"/>
                  <a:pt x="50800" y="88900"/>
                </a:cubicBezTo>
                <a:cubicBezTo>
                  <a:pt x="79375" y="88900"/>
                  <a:pt x="101600" y="80962"/>
                  <a:pt x="101600" y="69850"/>
                </a:cubicBezTo>
                <a:lnTo>
                  <a:pt x="101600" y="19050"/>
                </a:lnTo>
              </a:path>
            </a:pathLst>
          </a:custGeom>
          <a:noFill/>
          <a:ln w="11430" cap="rnd">
            <a:solidFill>
              <a:srgbClr val="0B3E8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kpi-v-1"/>
          <p:cNvSpPr txBox="1"/>
          <p:nvPr/>
        </p:nvSpPr>
        <p:spPr>
          <a:xfrm>
            <a:off x="8777224" y="1579372"/>
            <a:ext cx="1159510" cy="533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400" b="1" spc="50">
                <a:solidFill>
                  <a:srgbClr val="0B3E8F"/>
                </a:solidFill>
                <a:latin typeface="Arial"/>
                <a:ea typeface="Arial"/>
                <a:cs typeface="Arial"/>
              </a:rPr>
              <a:t>1,059</a:t>
            </a:r>
          </a:p>
        </p:txBody>
      </p:sp>
      <p:sp>
        <p:nvSpPr>
          <p:cNvPr id="61" name="kpi-u-1"/>
          <p:cNvSpPr txBox="1"/>
          <p:nvPr/>
        </p:nvSpPr>
        <p:spPr>
          <a:xfrm>
            <a:off x="9657334" y="1814640"/>
            <a:ext cx="331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百万</a:t>
            </a:r>
          </a:p>
        </p:txBody>
      </p:sp>
      <p:sp>
        <p:nvSpPr>
          <p:cNvPr id="62" name="kpi-l-1"/>
          <p:cNvSpPr txBox="1"/>
          <p:nvPr/>
        </p:nvSpPr>
        <p:spPr>
          <a:xfrm>
            <a:off x="8800465" y="2072561"/>
            <a:ext cx="9001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上半年累计营收</a:t>
            </a:r>
          </a:p>
        </p:txBody>
      </p:sp>
      <p:sp>
        <p:nvSpPr>
          <p:cNvPr id="63" name="kpi-2"/>
          <p:cNvSpPr/>
          <p:nvPr/>
        </p:nvSpPr>
        <p:spPr>
          <a:xfrm>
            <a:off x="8559800" y="2679700"/>
            <a:ext cx="2806700" cy="1066800"/>
          </a:xfrm>
          <a:custGeom>
            <a:avLst/>
            <a:gdLst/>
            <a:ahLst/>
            <a:cxnLst/>
            <a:rect l="0" t="0" r="r" b="b"/>
            <a:pathLst>
              <a:path w="2806700" h="1066800">
                <a:moveTo>
                  <a:pt x="114300" y="0"/>
                </a:moveTo>
                <a:lnTo>
                  <a:pt x="2692400" y="0"/>
                </a:lnTo>
                <a:cubicBezTo>
                  <a:pt x="2755519" y="0"/>
                  <a:pt x="2806700" y="51181"/>
                  <a:pt x="2806700" y="114300"/>
                </a:cubicBezTo>
                <a:lnTo>
                  <a:pt x="2806700" y="952500"/>
                </a:lnTo>
                <a:cubicBezTo>
                  <a:pt x="2806700" y="1015619"/>
                  <a:pt x="2755519" y="1066800"/>
                  <a:pt x="2692400" y="1066800"/>
                </a:cubicBezTo>
                <a:lnTo>
                  <a:pt x="114300" y="1066800"/>
                </a:lnTo>
                <a:cubicBezTo>
                  <a:pt x="51181" y="1066800"/>
                  <a:pt x="0" y="1015619"/>
                  <a:pt x="0" y="952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kpi-bar-2"/>
          <p:cNvSpPr/>
          <p:nvPr/>
        </p:nvSpPr>
        <p:spPr>
          <a:xfrm>
            <a:off x="8559800" y="2679700"/>
            <a:ext cx="31750" cy="1066800"/>
          </a:xfrm>
          <a:custGeom>
            <a:avLst/>
            <a:gdLst/>
            <a:ahLst/>
            <a:cxnLst/>
            <a:rect l="0" t="0" r="r" b="b"/>
            <a:pathLst>
              <a:path w="31750" h="10668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1050925"/>
                </a:lnTo>
                <a:cubicBezTo>
                  <a:pt x="31750" y="1059688"/>
                  <a:pt x="24638" y="1066800"/>
                  <a:pt x="15875" y="1066800"/>
                </a:cubicBezTo>
                <a:lnTo>
                  <a:pt x="15875" y="1066800"/>
                </a:lnTo>
                <a:cubicBezTo>
                  <a:pt x="7112" y="1066800"/>
                  <a:pt x="0" y="1059688"/>
                  <a:pt x="0" y="10509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icon-target"/>
          <p:cNvSpPr/>
          <p:nvPr/>
        </p:nvSpPr>
        <p:spPr>
          <a:xfrm>
            <a:off x="10998200" y="2979738"/>
            <a:ext cx="52388" cy="68262"/>
          </a:xfrm>
          <a:custGeom>
            <a:avLst/>
            <a:gdLst/>
            <a:ahLst/>
            <a:cxnLst/>
            <a:rect l="0" t="0" r="r" b="b"/>
            <a:pathLst>
              <a:path w="52388" h="68262">
                <a:moveTo>
                  <a:pt x="0" y="39688"/>
                </a:moveTo>
                <a:lnTo>
                  <a:pt x="0" y="0"/>
                </a:lnTo>
                <a:moveTo>
                  <a:pt x="0" y="68262"/>
                </a:moveTo>
                <a:lnTo>
                  <a:pt x="52388" y="15875"/>
                </a:lnTo>
              </a:path>
            </a:pathLst>
          </a:custGeom>
          <a:noFill/>
          <a:ln w="11430" cap="rnd">
            <a:solidFill>
              <a:srgbClr val="2E77C2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icon-target"/>
          <p:cNvSpPr/>
          <p:nvPr/>
        </p:nvSpPr>
        <p:spPr>
          <a:xfrm>
            <a:off x="10929938" y="2979738"/>
            <a:ext cx="136525" cy="136525"/>
          </a:xfrm>
          <a:prstGeom prst="ellipse">
            <a:avLst/>
          </a:prstGeom>
          <a:noFill/>
          <a:ln w="11430" cap="rnd">
            <a:solidFill>
              <a:srgbClr val="2E77C2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icon-target"/>
          <p:cNvSpPr/>
          <p:nvPr/>
        </p:nvSpPr>
        <p:spPr>
          <a:xfrm>
            <a:off x="10963275" y="3013075"/>
            <a:ext cx="69850" cy="69850"/>
          </a:xfrm>
          <a:prstGeom prst="ellipse">
            <a:avLst/>
          </a:prstGeom>
          <a:noFill/>
          <a:ln w="11430" cap="rnd">
            <a:solidFill>
              <a:srgbClr val="2E77C2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kpi-v-2"/>
          <p:cNvSpPr txBox="1"/>
          <p:nvPr/>
        </p:nvSpPr>
        <p:spPr>
          <a:xfrm>
            <a:off x="8777224" y="2823972"/>
            <a:ext cx="805434" cy="533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400" b="1" spc="50">
                <a:solidFill>
                  <a:srgbClr val="0B3E8F"/>
                </a:solidFill>
                <a:latin typeface="Arial"/>
                <a:ea typeface="Arial"/>
                <a:cs typeface="Arial"/>
              </a:rPr>
              <a:t>78%</a:t>
            </a:r>
          </a:p>
        </p:txBody>
      </p:sp>
      <p:sp>
        <p:nvSpPr>
          <p:cNvPr id="69" name="kpi-l-2"/>
          <p:cNvSpPr txBox="1"/>
          <p:nvPr/>
        </p:nvSpPr>
        <p:spPr>
          <a:xfrm>
            <a:off x="8800465" y="3317161"/>
            <a:ext cx="9001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年度目标完成率</a:t>
            </a:r>
          </a:p>
        </p:txBody>
      </p:sp>
      <p:sp>
        <p:nvSpPr>
          <p:cNvPr id="70" name="kpi-3"/>
          <p:cNvSpPr/>
          <p:nvPr/>
        </p:nvSpPr>
        <p:spPr>
          <a:xfrm>
            <a:off x="8559800" y="3924300"/>
            <a:ext cx="2806700" cy="1066800"/>
          </a:xfrm>
          <a:custGeom>
            <a:avLst/>
            <a:gdLst/>
            <a:ahLst/>
            <a:cxnLst/>
            <a:rect l="0" t="0" r="r" b="b"/>
            <a:pathLst>
              <a:path w="2806700" h="1066800">
                <a:moveTo>
                  <a:pt x="114300" y="0"/>
                </a:moveTo>
                <a:lnTo>
                  <a:pt x="2692400" y="0"/>
                </a:lnTo>
                <a:cubicBezTo>
                  <a:pt x="2755519" y="0"/>
                  <a:pt x="2806700" y="51181"/>
                  <a:pt x="2806700" y="114300"/>
                </a:cubicBezTo>
                <a:lnTo>
                  <a:pt x="2806700" y="952500"/>
                </a:lnTo>
                <a:cubicBezTo>
                  <a:pt x="2806700" y="1015619"/>
                  <a:pt x="2755519" y="1066800"/>
                  <a:pt x="2692400" y="1066800"/>
                </a:cubicBezTo>
                <a:lnTo>
                  <a:pt x="114300" y="1066800"/>
                </a:lnTo>
                <a:cubicBezTo>
                  <a:pt x="51181" y="1066800"/>
                  <a:pt x="0" y="1015619"/>
                  <a:pt x="0" y="952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kpi-bar-3"/>
          <p:cNvSpPr/>
          <p:nvPr/>
        </p:nvSpPr>
        <p:spPr>
          <a:xfrm>
            <a:off x="8559800" y="3924300"/>
            <a:ext cx="31750" cy="1066800"/>
          </a:xfrm>
          <a:custGeom>
            <a:avLst/>
            <a:gdLst/>
            <a:ahLst/>
            <a:cxnLst/>
            <a:rect l="0" t="0" r="r" b="b"/>
            <a:pathLst>
              <a:path w="31750" h="10668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1050925"/>
                </a:lnTo>
                <a:cubicBezTo>
                  <a:pt x="31750" y="1059688"/>
                  <a:pt x="24638" y="1066800"/>
                  <a:pt x="15875" y="1066800"/>
                </a:cubicBezTo>
                <a:lnTo>
                  <a:pt x="15875" y="1066800"/>
                </a:lnTo>
                <a:cubicBezTo>
                  <a:pt x="7112" y="1066800"/>
                  <a:pt x="0" y="1059688"/>
                  <a:pt x="0" y="10509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icon-grow"/>
          <p:cNvSpPr/>
          <p:nvPr/>
        </p:nvSpPr>
        <p:spPr>
          <a:xfrm>
            <a:off x="10931525" y="4262438"/>
            <a:ext cx="119062" cy="74612"/>
          </a:xfrm>
          <a:custGeom>
            <a:avLst/>
            <a:gdLst/>
            <a:ahLst/>
            <a:cxnLst/>
            <a:rect l="0" t="0" r="r" b="b"/>
            <a:pathLst>
              <a:path w="119062" h="74612">
                <a:moveTo>
                  <a:pt x="0" y="74612"/>
                </a:moveTo>
                <a:lnTo>
                  <a:pt x="39688" y="31750"/>
                </a:lnTo>
                <a:lnTo>
                  <a:pt x="68262" y="55562"/>
                </a:lnTo>
                <a:lnTo>
                  <a:pt x="115888" y="0"/>
                </a:lnTo>
                <a:moveTo>
                  <a:pt x="96838" y="0"/>
                </a:moveTo>
                <a:lnTo>
                  <a:pt x="119062" y="0"/>
                </a:lnTo>
                <a:lnTo>
                  <a:pt x="119062" y="22225"/>
                </a:lnTo>
              </a:path>
            </a:pathLst>
          </a:custGeom>
          <a:noFill/>
          <a:ln w="11430" cap="rnd">
            <a:solidFill>
              <a:srgbClr val="54A2D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kpi-v-3"/>
          <p:cNvSpPr txBox="1"/>
          <p:nvPr/>
        </p:nvSpPr>
        <p:spPr>
          <a:xfrm>
            <a:off x="8777224" y="4068572"/>
            <a:ext cx="1336548" cy="533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400" b="1" spc="50">
                <a:solidFill>
                  <a:srgbClr val="0B3E8F"/>
                </a:solidFill>
                <a:latin typeface="Arial"/>
                <a:ea typeface="Arial"/>
                <a:cs typeface="Arial"/>
              </a:rPr>
              <a:t>+16.8%</a:t>
            </a:r>
          </a:p>
        </p:txBody>
      </p:sp>
      <p:sp>
        <p:nvSpPr>
          <p:cNvPr id="74" name="kpi-l-3"/>
          <p:cNvSpPr txBox="1"/>
          <p:nvPr/>
        </p:nvSpPr>
        <p:spPr>
          <a:xfrm>
            <a:off x="8800465" y="4561761"/>
            <a:ext cx="7858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平均同比增速</a:t>
            </a:r>
          </a:p>
        </p:txBody>
      </p:sp>
      <p:sp>
        <p:nvSpPr>
          <p:cNvPr id="75" name="note"/>
          <p:cNvSpPr/>
          <p:nvPr/>
        </p:nvSpPr>
        <p:spPr>
          <a:xfrm>
            <a:off x="952500" y="5753100"/>
            <a:ext cx="10414000" cy="546100"/>
          </a:xfrm>
          <a:custGeom>
            <a:avLst/>
            <a:gdLst/>
            <a:ahLst/>
            <a:cxnLst/>
            <a:rect l="0" t="0" r="r" b="b"/>
            <a:pathLst>
              <a:path w="10414000" h="546100">
                <a:moveTo>
                  <a:pt x="101600" y="0"/>
                </a:moveTo>
                <a:lnTo>
                  <a:pt x="10312400" y="0"/>
                </a:lnTo>
                <a:cubicBezTo>
                  <a:pt x="10368534" y="0"/>
                  <a:pt x="10414000" y="45466"/>
                  <a:pt x="10414000" y="101600"/>
                </a:cubicBezTo>
                <a:lnTo>
                  <a:pt x="10414000" y="444500"/>
                </a:lnTo>
                <a:cubicBezTo>
                  <a:pt x="10414000" y="500634"/>
                  <a:pt x="10368534" y="546100"/>
                  <a:pt x="10312400" y="546100"/>
                </a:cubicBezTo>
                <a:lnTo>
                  <a:pt x="101600" y="546100"/>
                </a:lnTo>
                <a:cubicBezTo>
                  <a:pt x="45466" y="546100"/>
                  <a:pt x="0" y="500634"/>
                  <a:pt x="0" y="4445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icon-grow"/>
          <p:cNvSpPr/>
          <p:nvPr/>
        </p:nvSpPr>
        <p:spPr>
          <a:xfrm>
            <a:off x="1212215" y="5999988"/>
            <a:ext cx="103188" cy="64707"/>
          </a:xfrm>
          <a:custGeom>
            <a:avLst/>
            <a:gdLst/>
            <a:ahLst/>
            <a:cxnLst/>
            <a:rect l="0" t="0" r="r" b="b"/>
            <a:pathLst>
              <a:path w="103188" h="64707">
                <a:moveTo>
                  <a:pt x="0" y="64707"/>
                </a:moveTo>
                <a:lnTo>
                  <a:pt x="34417" y="27559"/>
                </a:lnTo>
                <a:lnTo>
                  <a:pt x="59182" y="48197"/>
                </a:lnTo>
                <a:lnTo>
                  <a:pt x="100457" y="0"/>
                </a:lnTo>
                <a:moveTo>
                  <a:pt x="83947" y="0"/>
                </a:moveTo>
                <a:lnTo>
                  <a:pt x="103188" y="0"/>
                </a:lnTo>
                <a:lnTo>
                  <a:pt x="103188" y="19304"/>
                </a:lnTo>
              </a:path>
            </a:pathLst>
          </a:custGeom>
          <a:noFill/>
          <a:ln w="1143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note-1"/>
          <p:cNvSpPr txBox="1"/>
          <p:nvPr/>
        </p:nvSpPr>
        <p:spPr>
          <a:xfrm>
            <a:off x="1435227" y="5941203"/>
            <a:ext cx="2041081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二季度环比提速，4 月起连续三月创新高</a:t>
            </a:r>
          </a:p>
        </p:txBody>
      </p:sp>
      <p:cxnSp>
        <p:nvCxnSpPr>
          <p:cNvPr id="78" name="note-div-1"/>
          <p:cNvCxnSpPr/>
          <p:nvPr/>
        </p:nvCxnSpPr>
        <p:spPr>
          <a:xfrm>
            <a:off x="4635500" y="5905500"/>
            <a:ext cx="0" cy="2413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icon-target"/>
          <p:cNvSpPr/>
          <p:nvPr/>
        </p:nvSpPr>
        <p:spPr>
          <a:xfrm>
            <a:off x="4953000" y="5966968"/>
            <a:ext cx="45402" cy="59182"/>
          </a:xfrm>
          <a:custGeom>
            <a:avLst/>
            <a:gdLst/>
            <a:ahLst/>
            <a:cxnLst/>
            <a:rect l="0" t="0" r="r" b="b"/>
            <a:pathLst>
              <a:path w="45402" h="59182">
                <a:moveTo>
                  <a:pt x="0" y="34417"/>
                </a:moveTo>
                <a:lnTo>
                  <a:pt x="0" y="0"/>
                </a:lnTo>
                <a:moveTo>
                  <a:pt x="0" y="59182"/>
                </a:moveTo>
                <a:lnTo>
                  <a:pt x="45402" y="13780"/>
                </a:lnTo>
              </a:path>
            </a:pathLst>
          </a:custGeom>
          <a:noFill/>
          <a:ln w="1143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icon-target"/>
          <p:cNvSpPr/>
          <p:nvPr/>
        </p:nvSpPr>
        <p:spPr>
          <a:xfrm>
            <a:off x="4893839" y="5966989"/>
            <a:ext cx="118322" cy="118322"/>
          </a:xfrm>
          <a:prstGeom prst="ellipse">
            <a:avLst/>
          </a:prstGeom>
          <a:noFill/>
          <a:ln w="1143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icon-target"/>
          <p:cNvSpPr/>
          <p:nvPr/>
        </p:nvSpPr>
        <p:spPr>
          <a:xfrm>
            <a:off x="4922732" y="5995882"/>
            <a:ext cx="60537" cy="60537"/>
          </a:xfrm>
          <a:prstGeom prst="ellipse">
            <a:avLst/>
          </a:prstGeom>
          <a:noFill/>
          <a:ln w="1143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note-2"/>
          <p:cNvSpPr txBox="1"/>
          <p:nvPr/>
        </p:nvSpPr>
        <p:spPr>
          <a:xfrm>
            <a:off x="5118227" y="5941203"/>
            <a:ext cx="1917891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全年目标 1,360 百万，进度符合预期</a:t>
            </a:r>
          </a:p>
        </p:txBody>
      </p:sp>
      <p:cxnSp>
        <p:nvCxnSpPr>
          <p:cNvPr id="83" name="note-div-2"/>
          <p:cNvCxnSpPr/>
          <p:nvPr/>
        </p:nvCxnSpPr>
        <p:spPr>
          <a:xfrm>
            <a:off x="8318500" y="5905500"/>
            <a:ext cx="0" cy="2413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icon-shield"/>
          <p:cNvSpPr/>
          <p:nvPr/>
        </p:nvSpPr>
        <p:spPr>
          <a:xfrm>
            <a:off x="8586470" y="5966968"/>
            <a:ext cx="99060" cy="118364"/>
          </a:xfrm>
          <a:custGeom>
            <a:avLst/>
            <a:gdLst/>
            <a:ahLst/>
            <a:cxnLst/>
            <a:rect l="0" t="0" r="r" b="b"/>
            <a:pathLst>
              <a:path w="99060" h="118364">
                <a:moveTo>
                  <a:pt x="49530" y="0"/>
                </a:moveTo>
                <a:lnTo>
                  <a:pt x="99060" y="19304"/>
                </a:lnTo>
                <a:lnTo>
                  <a:pt x="99060" y="57785"/>
                </a:lnTo>
                <a:cubicBezTo>
                  <a:pt x="99060" y="86678"/>
                  <a:pt x="78422" y="108712"/>
                  <a:pt x="49530" y="118364"/>
                </a:cubicBezTo>
                <a:cubicBezTo>
                  <a:pt x="20638" y="108712"/>
                  <a:pt x="0" y="86678"/>
                  <a:pt x="0" y="57785"/>
                </a:cubicBezTo>
                <a:lnTo>
                  <a:pt x="0" y="19304"/>
                </a:lnTo>
                <a:close/>
                <a:moveTo>
                  <a:pt x="28892" y="59182"/>
                </a:moveTo>
                <a:lnTo>
                  <a:pt x="44006" y="74295"/>
                </a:lnTo>
                <a:lnTo>
                  <a:pt x="72898" y="45403"/>
                </a:lnTo>
              </a:path>
            </a:pathLst>
          </a:custGeom>
          <a:noFill/>
          <a:ln w="1143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note-3"/>
          <p:cNvSpPr txBox="1"/>
          <p:nvPr/>
        </p:nvSpPr>
        <p:spPr>
          <a:xfrm>
            <a:off x="8801227" y="5941203"/>
            <a:ext cx="1933766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3 月受季节性因素影响，已于次月修复</a:t>
            </a:r>
          </a:p>
        </p:txBody>
      </p:sp>
      <p:cxnSp>
        <p:nvCxnSpPr>
          <p:cNvPr id="86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foot-l"/>
          <p:cNvSpPr txBox="1"/>
          <p:nvPr/>
        </p:nvSpPr>
        <p:spPr>
          <a:xfrm>
            <a:off x="573532" y="6532308"/>
            <a:ext cx="9469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经营数据 · 上半年</a:t>
            </a:r>
          </a:p>
        </p:txBody>
      </p:sp>
      <p:sp>
        <p:nvSpPr>
          <p:cNvPr id="88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年度目标完成度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44589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ANNUAL PROGRESS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694799" y="673132"/>
            <a:ext cx="19259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总体进度与四项关键指标的完成情况</a:t>
            </a:r>
          </a:p>
        </p:txBody>
      </p:sp>
      <p:sp>
        <p:nvSpPr>
          <p:cNvPr id="10" name="main-bg"/>
          <p:cNvSpPr/>
          <p:nvPr/>
        </p:nvSpPr>
        <p:spPr>
          <a:xfrm>
            <a:off x="2082800" y="2438400"/>
            <a:ext cx="2692400" cy="26924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main-track"/>
          <p:cNvSpPr/>
          <p:nvPr/>
        </p:nvSpPr>
        <p:spPr>
          <a:xfrm>
            <a:off x="2298700" y="2654300"/>
            <a:ext cx="2260600" cy="2260600"/>
          </a:xfrm>
          <a:prstGeom prst="ellipse">
            <a:avLst/>
          </a:prstGeom>
          <a:noFill/>
          <a:ln w="190500" cap="rnd">
            <a:solidFill>
              <a:srgbClr val="E3EBF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main-arc"/>
          <p:cNvSpPr/>
          <p:nvPr/>
        </p:nvSpPr>
        <p:spPr>
          <a:xfrm>
            <a:off x="2299222" y="2654300"/>
            <a:ext cx="2259404" cy="2260602"/>
          </a:xfrm>
          <a:custGeom>
            <a:avLst/>
            <a:gdLst/>
            <a:ahLst/>
            <a:cxnLst/>
            <a:rect l="0" t="0" r="r" b="b"/>
            <a:pathLst>
              <a:path w="2259404" h="2260602">
                <a:moveTo>
                  <a:pt x="1129778" y="0"/>
                </a:moveTo>
                <a:cubicBezTo>
                  <a:pt x="1606397" y="6"/>
                  <a:pt x="2031795" y="298986"/>
                  <a:pt x="2193243" y="747428"/>
                </a:cubicBezTo>
                <a:cubicBezTo>
                  <a:pt x="2354690" y="1195870"/>
                  <a:pt x="2217489" y="1697397"/>
                  <a:pt x="1850249" y="2001207"/>
                </a:cubicBezTo>
                <a:cubicBezTo>
                  <a:pt x="1483009" y="2305018"/>
                  <a:pt x="964657" y="2345818"/>
                  <a:pt x="554408" y="2103205"/>
                </a:cubicBezTo>
                <a:cubicBezTo>
                  <a:pt x="144158" y="1860591"/>
                  <a:pt x="-69819" y="1386706"/>
                  <a:pt x="19480" y="918528"/>
                </a:cubicBezTo>
              </a:path>
            </a:pathLst>
          </a:custGeom>
          <a:noFill/>
          <a:ln w="1905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main-line"/>
          <p:cNvSpPr/>
          <p:nvPr/>
        </p:nvSpPr>
        <p:spPr>
          <a:xfrm>
            <a:off x="2476500" y="2832100"/>
            <a:ext cx="1905000" cy="1905000"/>
          </a:xfrm>
          <a:prstGeom prst="ellipse">
            <a:avLst/>
          </a:prstGeom>
          <a:noFill/>
          <a:ln w="6350" cap="rnd">
            <a:solidFill>
              <a:srgbClr val="1B5AA8">
                <a:alpha val="1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main-v"/>
          <p:cNvSpPr txBox="1"/>
          <p:nvPr/>
        </p:nvSpPr>
        <p:spPr>
          <a:xfrm>
            <a:off x="2283460" y="3171444"/>
            <a:ext cx="1244092" cy="1066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4800" b="1" spc="50">
                <a:solidFill>
                  <a:srgbClr val="0B3E8F"/>
                </a:solidFill>
                <a:latin typeface="Arial"/>
                <a:ea typeface="Arial"/>
                <a:cs typeface="Arial"/>
              </a:rPr>
              <a:t>78</a:t>
            </a:r>
          </a:p>
        </p:txBody>
      </p:sp>
      <p:sp>
        <p:nvSpPr>
          <p:cNvPr id="15" name="main-p"/>
          <p:cNvSpPr txBox="1"/>
          <p:nvPr/>
        </p:nvSpPr>
        <p:spPr>
          <a:xfrm>
            <a:off x="3482340" y="3435033"/>
            <a:ext cx="27813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>
                <a:solidFill>
                  <a:srgbClr val="1B5AA8"/>
                </a:solidFill>
                <a:latin typeface="Arial"/>
                <a:ea typeface="Arial"/>
                <a:cs typeface="Arial"/>
              </a:rPr>
              <a:t>%</a:t>
            </a:r>
          </a:p>
        </p:txBody>
      </p:sp>
      <p:sp>
        <p:nvSpPr>
          <p:cNvPr id="16" name="main-l"/>
          <p:cNvSpPr txBox="1"/>
          <p:nvPr/>
        </p:nvSpPr>
        <p:spPr>
          <a:xfrm>
            <a:off x="2919095" y="4041997"/>
            <a:ext cx="1019810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年度综合完成率</a:t>
            </a:r>
          </a:p>
        </p:txBody>
      </p:sp>
      <p:sp>
        <p:nvSpPr>
          <p:cNvPr id="17" name="main-dot"/>
          <p:cNvSpPr/>
          <p:nvPr/>
        </p:nvSpPr>
        <p:spPr>
          <a:xfrm>
            <a:off x="2248871" y="3502953"/>
            <a:ext cx="139700" cy="139700"/>
          </a:xfrm>
          <a:prstGeom prst="ellipse">
            <a:avLst/>
          </a:prstGeom>
          <a:solidFill>
            <a:srgbClr val="FFFFFF"/>
          </a:solidFill>
          <a:ln w="2159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main-note"/>
          <p:cNvSpPr txBox="1"/>
          <p:nvPr/>
        </p:nvSpPr>
        <p:spPr>
          <a:xfrm>
            <a:off x="2327148" y="5399024"/>
            <a:ext cx="220370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距离全年目标还差 22%，四季度为冲刺关键期</a:t>
            </a:r>
          </a:p>
        </p:txBody>
      </p:sp>
      <p:sp>
        <p:nvSpPr>
          <p:cNvPr id="19" name="card-1"/>
          <p:cNvSpPr/>
          <p:nvPr/>
        </p:nvSpPr>
        <p:spPr>
          <a:xfrm>
            <a:off x="6096000" y="2006600"/>
            <a:ext cx="2482850" cy="1562100"/>
          </a:xfrm>
          <a:custGeom>
            <a:avLst/>
            <a:gdLst/>
            <a:ahLst/>
            <a:cxnLst/>
            <a:rect l="0" t="0" r="r" b="b"/>
            <a:pathLst>
              <a:path w="2482850" h="1562100">
                <a:moveTo>
                  <a:pt x="114300" y="0"/>
                </a:moveTo>
                <a:lnTo>
                  <a:pt x="2368550" y="0"/>
                </a:lnTo>
                <a:cubicBezTo>
                  <a:pt x="2431669" y="0"/>
                  <a:pt x="2482850" y="51181"/>
                  <a:pt x="2482850" y="114300"/>
                </a:cubicBezTo>
                <a:lnTo>
                  <a:pt x="2482850" y="1447800"/>
                </a:lnTo>
                <a:cubicBezTo>
                  <a:pt x="2482850" y="1510919"/>
                  <a:pt x="2431669" y="1562100"/>
                  <a:pt x="2368550" y="1562100"/>
                </a:cubicBezTo>
                <a:lnTo>
                  <a:pt x="114300" y="1562100"/>
                </a:lnTo>
                <a:cubicBezTo>
                  <a:pt x="51181" y="1562100"/>
                  <a:pt x="0" y="1510919"/>
                  <a:pt x="0" y="14478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cap-1"/>
          <p:cNvSpPr/>
          <p:nvPr/>
        </p:nvSpPr>
        <p:spPr>
          <a:xfrm>
            <a:off x="6096000" y="2006600"/>
            <a:ext cx="2482850" cy="38100"/>
          </a:xfrm>
          <a:custGeom>
            <a:avLst/>
            <a:gdLst/>
            <a:ahLst/>
            <a:cxnLst/>
            <a:rect l="0" t="0" r="r" b="b"/>
            <a:pathLst>
              <a:path w="2482850" h="38100">
                <a:moveTo>
                  <a:pt x="19050" y="0"/>
                </a:moveTo>
                <a:lnTo>
                  <a:pt x="2463800" y="0"/>
                </a:lnTo>
                <a:cubicBezTo>
                  <a:pt x="2474341" y="0"/>
                  <a:pt x="2482850" y="8509"/>
                  <a:pt x="2482850" y="19050"/>
                </a:cubicBezTo>
                <a:lnTo>
                  <a:pt x="2482850" y="19050"/>
                </a:lnTo>
                <a:cubicBezTo>
                  <a:pt x="2482850" y="29591"/>
                  <a:pt x="2474341" y="38100"/>
                  <a:pt x="246380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tr-1"/>
          <p:cNvSpPr/>
          <p:nvPr/>
        </p:nvSpPr>
        <p:spPr>
          <a:xfrm>
            <a:off x="6324600" y="2438400"/>
            <a:ext cx="711200" cy="711200"/>
          </a:xfrm>
          <a:prstGeom prst="ellipse">
            <a:avLst/>
          </a:prstGeom>
          <a:noFill/>
          <a:ln w="95250" cap="rnd">
            <a:solidFill>
              <a:srgbClr val="E7EEF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arc-1"/>
          <p:cNvSpPr/>
          <p:nvPr/>
        </p:nvSpPr>
        <p:spPr>
          <a:xfrm>
            <a:off x="6324614" y="2438400"/>
            <a:ext cx="710935" cy="711194"/>
          </a:xfrm>
          <a:custGeom>
            <a:avLst/>
            <a:gdLst/>
            <a:ahLst/>
            <a:cxnLst/>
            <a:rect l="0" t="0" r="r" b="b"/>
            <a:pathLst>
              <a:path w="710935" h="711194">
                <a:moveTo>
                  <a:pt x="355586" y="0"/>
                </a:moveTo>
                <a:cubicBezTo>
                  <a:pt x="522090" y="14"/>
                  <a:pt x="666291" y="115562"/>
                  <a:pt x="702598" y="278059"/>
                </a:cubicBezTo>
                <a:cubicBezTo>
                  <a:pt x="738906" y="440557"/>
                  <a:pt x="657597" y="606490"/>
                  <a:pt x="506933" y="677370"/>
                </a:cubicBezTo>
                <a:cubicBezTo>
                  <a:pt x="356269" y="748251"/>
                  <a:pt x="176595" y="705097"/>
                  <a:pt x="74556" y="573523"/>
                </a:cubicBezTo>
                <a:cubicBezTo>
                  <a:pt x="-27483" y="441949"/>
                  <a:pt x="-24563" y="257188"/>
                  <a:pt x="81583" y="128905"/>
                </a:cubicBezTo>
              </a:path>
            </a:pathLst>
          </a:custGeom>
          <a:noFill/>
          <a:ln w="9525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v-1"/>
          <p:cNvSpPr txBox="1"/>
          <p:nvPr/>
        </p:nvSpPr>
        <p:spPr>
          <a:xfrm>
            <a:off x="6484493" y="2606548"/>
            <a:ext cx="416814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600" b="1" spc="25">
                <a:solidFill>
                  <a:srgbClr val="0B2545"/>
                </a:solidFill>
                <a:latin typeface="Arial"/>
                <a:ea typeface="Arial"/>
                <a:cs typeface="Arial"/>
              </a:rPr>
              <a:t>86</a:t>
            </a:r>
          </a:p>
        </p:txBody>
      </p:sp>
      <p:sp>
        <p:nvSpPr>
          <p:cNvPr id="24" name="p-1"/>
          <p:cNvSpPr txBox="1"/>
          <p:nvPr/>
        </p:nvSpPr>
        <p:spPr>
          <a:xfrm>
            <a:off x="6885432" y="26461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%</a:t>
            </a:r>
          </a:p>
        </p:txBody>
      </p:sp>
      <p:sp>
        <p:nvSpPr>
          <p:cNvPr id="25" name="icon-coin"/>
          <p:cNvSpPr/>
          <p:nvPr/>
        </p:nvSpPr>
        <p:spPr>
          <a:xfrm>
            <a:off x="8230044" y="2298256"/>
            <a:ext cx="88011" cy="77089"/>
          </a:xfrm>
          <a:custGeom>
            <a:avLst/>
            <a:gdLst/>
            <a:ahLst/>
            <a:cxnLst/>
            <a:rect l="0" t="0" r="r" b="b"/>
            <a:pathLst>
              <a:path w="88011" h="77089">
                <a:moveTo>
                  <a:pt x="44006" y="0"/>
                </a:moveTo>
                <a:cubicBezTo>
                  <a:pt x="19240" y="0"/>
                  <a:pt x="0" y="6921"/>
                  <a:pt x="0" y="16510"/>
                </a:cubicBezTo>
                <a:cubicBezTo>
                  <a:pt x="0" y="26162"/>
                  <a:pt x="19240" y="33020"/>
                  <a:pt x="44006" y="33020"/>
                </a:cubicBezTo>
                <a:cubicBezTo>
                  <a:pt x="68771" y="33020"/>
                  <a:pt x="88011" y="26162"/>
                  <a:pt x="88011" y="16510"/>
                </a:cubicBezTo>
                <a:cubicBezTo>
                  <a:pt x="88011" y="6921"/>
                  <a:pt x="68771" y="0"/>
                  <a:pt x="44006" y="0"/>
                </a:cubicBezTo>
                <a:close/>
                <a:moveTo>
                  <a:pt x="0" y="16510"/>
                </a:moveTo>
                <a:lnTo>
                  <a:pt x="0" y="60579"/>
                </a:lnTo>
                <a:cubicBezTo>
                  <a:pt x="0" y="70168"/>
                  <a:pt x="19240" y="77089"/>
                  <a:pt x="44006" y="77089"/>
                </a:cubicBezTo>
                <a:cubicBezTo>
                  <a:pt x="68771" y="77089"/>
                  <a:pt x="88011" y="70168"/>
                  <a:pt x="88011" y="60579"/>
                </a:cubicBezTo>
                <a:lnTo>
                  <a:pt x="88011" y="16510"/>
                </a:lnTo>
              </a:path>
            </a:pathLst>
          </a:custGeom>
          <a:noFill/>
          <a:ln w="11430" cap="rnd">
            <a:solidFill>
              <a:srgbClr val="0B3E8F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n-1"/>
          <p:cNvSpPr txBox="1"/>
          <p:nvPr/>
        </p:nvSpPr>
        <p:spPr>
          <a:xfrm>
            <a:off x="7169150" y="2521744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营收目标</a:t>
            </a:r>
          </a:p>
        </p:txBody>
      </p:sp>
      <p:sp>
        <p:nvSpPr>
          <p:cNvPr id="27" name="note-1"/>
          <p:cNvSpPr txBox="1"/>
          <p:nvPr/>
        </p:nvSpPr>
        <p:spPr>
          <a:xfrm>
            <a:off x="7174865" y="2796461"/>
            <a:ext cx="103981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17.2 亿 / 20 亿</a:t>
            </a:r>
          </a:p>
        </p:txBody>
      </p:sp>
      <p:sp>
        <p:nvSpPr>
          <p:cNvPr id="28" name="bg-1"/>
          <p:cNvSpPr/>
          <p:nvPr/>
        </p:nvSpPr>
        <p:spPr>
          <a:xfrm>
            <a:off x="7188200" y="3111500"/>
            <a:ext cx="1206500" cy="508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bar-1"/>
          <p:cNvSpPr/>
          <p:nvPr/>
        </p:nvSpPr>
        <p:spPr>
          <a:xfrm>
            <a:off x="7188200" y="3111500"/>
            <a:ext cx="1037590" cy="508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card-2"/>
          <p:cNvSpPr/>
          <p:nvPr/>
        </p:nvSpPr>
        <p:spPr>
          <a:xfrm>
            <a:off x="8756650" y="2006600"/>
            <a:ext cx="2482850" cy="1562100"/>
          </a:xfrm>
          <a:custGeom>
            <a:avLst/>
            <a:gdLst/>
            <a:ahLst/>
            <a:cxnLst/>
            <a:rect l="0" t="0" r="r" b="b"/>
            <a:pathLst>
              <a:path w="2482850" h="1562100">
                <a:moveTo>
                  <a:pt x="114300" y="0"/>
                </a:moveTo>
                <a:lnTo>
                  <a:pt x="2368550" y="0"/>
                </a:lnTo>
                <a:cubicBezTo>
                  <a:pt x="2431669" y="0"/>
                  <a:pt x="2482850" y="51181"/>
                  <a:pt x="2482850" y="114300"/>
                </a:cubicBezTo>
                <a:lnTo>
                  <a:pt x="2482850" y="1447800"/>
                </a:lnTo>
                <a:cubicBezTo>
                  <a:pt x="2482850" y="1510919"/>
                  <a:pt x="2431669" y="1562100"/>
                  <a:pt x="2368550" y="1562100"/>
                </a:cubicBezTo>
                <a:lnTo>
                  <a:pt x="114300" y="1562100"/>
                </a:lnTo>
                <a:cubicBezTo>
                  <a:pt x="51181" y="1562100"/>
                  <a:pt x="0" y="1510919"/>
                  <a:pt x="0" y="14478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cap-2"/>
          <p:cNvSpPr/>
          <p:nvPr/>
        </p:nvSpPr>
        <p:spPr>
          <a:xfrm>
            <a:off x="8756650" y="2006600"/>
            <a:ext cx="2482850" cy="38100"/>
          </a:xfrm>
          <a:custGeom>
            <a:avLst/>
            <a:gdLst/>
            <a:ahLst/>
            <a:cxnLst/>
            <a:rect l="0" t="0" r="r" b="b"/>
            <a:pathLst>
              <a:path w="2482850" h="38100">
                <a:moveTo>
                  <a:pt x="19050" y="0"/>
                </a:moveTo>
                <a:lnTo>
                  <a:pt x="2463800" y="0"/>
                </a:lnTo>
                <a:cubicBezTo>
                  <a:pt x="2474341" y="0"/>
                  <a:pt x="2482850" y="8509"/>
                  <a:pt x="2482850" y="19050"/>
                </a:cubicBezTo>
                <a:lnTo>
                  <a:pt x="2482850" y="19050"/>
                </a:lnTo>
                <a:cubicBezTo>
                  <a:pt x="2482850" y="29591"/>
                  <a:pt x="2474341" y="38100"/>
                  <a:pt x="246380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tr-2"/>
          <p:cNvSpPr/>
          <p:nvPr/>
        </p:nvSpPr>
        <p:spPr>
          <a:xfrm>
            <a:off x="8985250" y="2438400"/>
            <a:ext cx="711200" cy="711200"/>
          </a:xfrm>
          <a:prstGeom prst="ellipse">
            <a:avLst/>
          </a:prstGeom>
          <a:noFill/>
          <a:ln w="95250" cap="rnd">
            <a:solidFill>
              <a:srgbClr val="E7EEF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arc-2"/>
          <p:cNvSpPr/>
          <p:nvPr/>
        </p:nvSpPr>
        <p:spPr>
          <a:xfrm>
            <a:off x="8991536" y="2438400"/>
            <a:ext cx="704707" cy="711086"/>
          </a:xfrm>
          <a:custGeom>
            <a:avLst/>
            <a:gdLst/>
            <a:ahLst/>
            <a:cxnLst/>
            <a:rect l="0" t="0" r="r" b="b"/>
            <a:pathLst>
              <a:path w="704707" h="711086">
                <a:moveTo>
                  <a:pt x="349314" y="0"/>
                </a:moveTo>
                <a:cubicBezTo>
                  <a:pt x="537038" y="4"/>
                  <a:pt x="692424" y="145930"/>
                  <a:pt x="704205" y="333284"/>
                </a:cubicBezTo>
                <a:cubicBezTo>
                  <a:pt x="715985" y="520639"/>
                  <a:pt x="580102" y="684879"/>
                  <a:pt x="393857" y="708398"/>
                </a:cubicBezTo>
                <a:cubicBezTo>
                  <a:pt x="207612" y="731917"/>
                  <a:pt x="35165" y="606613"/>
                  <a:pt x="0" y="422212"/>
                </a:cubicBezTo>
              </a:path>
            </a:pathLst>
          </a:custGeom>
          <a:noFill/>
          <a:ln w="9525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v-2"/>
          <p:cNvSpPr txBox="1"/>
          <p:nvPr/>
        </p:nvSpPr>
        <p:spPr>
          <a:xfrm>
            <a:off x="9145143" y="2606548"/>
            <a:ext cx="416814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600" b="1" spc="25">
                <a:solidFill>
                  <a:srgbClr val="0B2545"/>
                </a:solidFill>
                <a:latin typeface="Arial"/>
                <a:ea typeface="Arial"/>
                <a:cs typeface="Arial"/>
              </a:rPr>
              <a:t>72</a:t>
            </a:r>
          </a:p>
        </p:txBody>
      </p:sp>
      <p:sp>
        <p:nvSpPr>
          <p:cNvPr id="35" name="p-2"/>
          <p:cNvSpPr txBox="1"/>
          <p:nvPr/>
        </p:nvSpPr>
        <p:spPr>
          <a:xfrm>
            <a:off x="9546082" y="26461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%</a:t>
            </a:r>
          </a:p>
        </p:txBody>
      </p:sp>
      <p:sp>
        <p:nvSpPr>
          <p:cNvPr id="36" name="icon-people"/>
          <p:cNvSpPr/>
          <p:nvPr/>
        </p:nvSpPr>
        <p:spPr>
          <a:xfrm>
            <a:off x="10876915" y="2354707"/>
            <a:ext cx="116967" cy="33020"/>
          </a:xfrm>
          <a:custGeom>
            <a:avLst/>
            <a:gdLst/>
            <a:ahLst/>
            <a:cxnLst/>
            <a:rect l="0" t="0" r="r" b="b"/>
            <a:pathLst>
              <a:path w="116967" h="33020">
                <a:moveTo>
                  <a:pt x="0" y="33020"/>
                </a:moveTo>
                <a:cubicBezTo>
                  <a:pt x="0" y="12382"/>
                  <a:pt x="17208" y="0"/>
                  <a:pt x="37147" y="0"/>
                </a:cubicBezTo>
                <a:cubicBezTo>
                  <a:pt x="57087" y="0"/>
                  <a:pt x="74295" y="12382"/>
                  <a:pt x="74295" y="33020"/>
                </a:cubicBezTo>
                <a:moveTo>
                  <a:pt x="88074" y="2731"/>
                </a:moveTo>
                <a:cubicBezTo>
                  <a:pt x="105918" y="4762"/>
                  <a:pt x="116967" y="17145"/>
                  <a:pt x="116967" y="33020"/>
                </a:cubicBezTo>
              </a:path>
            </a:pathLst>
          </a:custGeom>
          <a:noFill/>
          <a:ln w="11430" cap="rnd">
            <a:solidFill>
              <a:srgbClr val="1B5AA8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icon-people"/>
          <p:cNvSpPr/>
          <p:nvPr/>
        </p:nvSpPr>
        <p:spPr>
          <a:xfrm>
            <a:off x="10892049" y="2295525"/>
            <a:ext cx="44027" cy="44027"/>
          </a:xfrm>
          <a:prstGeom prst="ellipse">
            <a:avLst/>
          </a:prstGeom>
          <a:noFill/>
          <a:ln w="11430" cap="rnd">
            <a:solidFill>
              <a:srgbClr val="1B5AA8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icon-people"/>
          <p:cNvSpPr/>
          <p:nvPr/>
        </p:nvSpPr>
        <p:spPr>
          <a:xfrm>
            <a:off x="10951210" y="2295525"/>
            <a:ext cx="35772" cy="35772"/>
          </a:xfrm>
          <a:prstGeom prst="ellipse">
            <a:avLst/>
          </a:prstGeom>
          <a:noFill/>
          <a:ln w="11430" cap="rnd">
            <a:solidFill>
              <a:srgbClr val="1B5AA8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n-2"/>
          <p:cNvSpPr txBox="1"/>
          <p:nvPr/>
        </p:nvSpPr>
        <p:spPr>
          <a:xfrm>
            <a:off x="9829800" y="2521744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新客获取</a:t>
            </a:r>
          </a:p>
        </p:txBody>
      </p:sp>
      <p:sp>
        <p:nvSpPr>
          <p:cNvPr id="40" name="note-2"/>
          <p:cNvSpPr txBox="1"/>
          <p:nvPr/>
        </p:nvSpPr>
        <p:spPr>
          <a:xfrm>
            <a:off x="9835515" y="2796461"/>
            <a:ext cx="118522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8,640 / 12,000 家</a:t>
            </a:r>
          </a:p>
        </p:txBody>
      </p:sp>
      <p:sp>
        <p:nvSpPr>
          <p:cNvPr id="41" name="bg-2"/>
          <p:cNvSpPr/>
          <p:nvPr/>
        </p:nvSpPr>
        <p:spPr>
          <a:xfrm>
            <a:off x="9848850" y="3111500"/>
            <a:ext cx="1206500" cy="508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bar-2"/>
          <p:cNvSpPr/>
          <p:nvPr/>
        </p:nvSpPr>
        <p:spPr>
          <a:xfrm>
            <a:off x="9848850" y="3111500"/>
            <a:ext cx="868680" cy="50800"/>
          </a:xfrm>
          <a:prstGeom prst="roundRect">
            <a:avLst>
              <a:gd name="adj" fmla="val 50000"/>
            </a:avLst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card-3"/>
          <p:cNvSpPr/>
          <p:nvPr/>
        </p:nvSpPr>
        <p:spPr>
          <a:xfrm>
            <a:off x="6096000" y="3746500"/>
            <a:ext cx="2482850" cy="1562100"/>
          </a:xfrm>
          <a:custGeom>
            <a:avLst/>
            <a:gdLst/>
            <a:ahLst/>
            <a:cxnLst/>
            <a:rect l="0" t="0" r="r" b="b"/>
            <a:pathLst>
              <a:path w="2482850" h="1562100">
                <a:moveTo>
                  <a:pt x="114300" y="0"/>
                </a:moveTo>
                <a:lnTo>
                  <a:pt x="2368550" y="0"/>
                </a:lnTo>
                <a:cubicBezTo>
                  <a:pt x="2431669" y="0"/>
                  <a:pt x="2482850" y="51181"/>
                  <a:pt x="2482850" y="114300"/>
                </a:cubicBezTo>
                <a:lnTo>
                  <a:pt x="2482850" y="1447800"/>
                </a:lnTo>
                <a:cubicBezTo>
                  <a:pt x="2482850" y="1510919"/>
                  <a:pt x="2431669" y="1562100"/>
                  <a:pt x="2368550" y="1562100"/>
                </a:cubicBezTo>
                <a:lnTo>
                  <a:pt x="114300" y="1562100"/>
                </a:lnTo>
                <a:cubicBezTo>
                  <a:pt x="51181" y="1562100"/>
                  <a:pt x="0" y="1510919"/>
                  <a:pt x="0" y="14478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cap-3"/>
          <p:cNvSpPr/>
          <p:nvPr/>
        </p:nvSpPr>
        <p:spPr>
          <a:xfrm>
            <a:off x="6096000" y="3746500"/>
            <a:ext cx="2482850" cy="38100"/>
          </a:xfrm>
          <a:custGeom>
            <a:avLst/>
            <a:gdLst/>
            <a:ahLst/>
            <a:cxnLst/>
            <a:rect l="0" t="0" r="r" b="b"/>
            <a:pathLst>
              <a:path w="2482850" h="38100">
                <a:moveTo>
                  <a:pt x="19050" y="0"/>
                </a:moveTo>
                <a:lnTo>
                  <a:pt x="2463800" y="0"/>
                </a:lnTo>
                <a:cubicBezTo>
                  <a:pt x="2474341" y="0"/>
                  <a:pt x="2482850" y="8509"/>
                  <a:pt x="2482850" y="19050"/>
                </a:cubicBezTo>
                <a:lnTo>
                  <a:pt x="2482850" y="19050"/>
                </a:lnTo>
                <a:cubicBezTo>
                  <a:pt x="2482850" y="29591"/>
                  <a:pt x="2474341" y="38100"/>
                  <a:pt x="246380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tr-3"/>
          <p:cNvSpPr/>
          <p:nvPr/>
        </p:nvSpPr>
        <p:spPr>
          <a:xfrm>
            <a:off x="6324600" y="4178300"/>
            <a:ext cx="711200" cy="711200"/>
          </a:xfrm>
          <a:prstGeom prst="ellipse">
            <a:avLst/>
          </a:prstGeom>
          <a:noFill/>
          <a:ln w="95250" cap="rnd">
            <a:solidFill>
              <a:srgbClr val="E7EEF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arc-3"/>
          <p:cNvSpPr/>
          <p:nvPr/>
        </p:nvSpPr>
        <p:spPr>
          <a:xfrm>
            <a:off x="6324691" y="4178300"/>
            <a:ext cx="710832" cy="711239"/>
          </a:xfrm>
          <a:custGeom>
            <a:avLst/>
            <a:gdLst/>
            <a:ahLst/>
            <a:cxnLst/>
            <a:rect l="0" t="0" r="r" b="b"/>
            <a:pathLst>
              <a:path w="710832" h="711239">
                <a:moveTo>
                  <a:pt x="355509" y="0"/>
                </a:moveTo>
                <a:cubicBezTo>
                  <a:pt x="532541" y="0"/>
                  <a:pt x="682612" y="130222"/>
                  <a:pt x="707560" y="305488"/>
                </a:cubicBezTo>
                <a:cubicBezTo>
                  <a:pt x="732508" y="480755"/>
                  <a:pt x="624733" y="647679"/>
                  <a:pt x="454731" y="697077"/>
                </a:cubicBezTo>
                <a:cubicBezTo>
                  <a:pt x="284730" y="746474"/>
                  <a:pt x="104283" y="663298"/>
                  <a:pt x="31422" y="501954"/>
                </a:cubicBezTo>
                <a:cubicBezTo>
                  <a:pt x="-41439" y="340610"/>
                  <a:pt x="15479" y="150243"/>
                  <a:pt x="164945" y="55372"/>
                </a:cubicBezTo>
              </a:path>
            </a:pathLst>
          </a:custGeom>
          <a:noFill/>
          <a:ln w="9525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v-3"/>
          <p:cNvSpPr txBox="1"/>
          <p:nvPr/>
        </p:nvSpPr>
        <p:spPr>
          <a:xfrm>
            <a:off x="6484493" y="4346448"/>
            <a:ext cx="416814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600" b="1" spc="25">
                <a:solidFill>
                  <a:srgbClr val="0B2545"/>
                </a:solidFill>
                <a:latin typeface="Arial"/>
                <a:ea typeface="Arial"/>
                <a:cs typeface="Arial"/>
              </a:rPr>
              <a:t>91</a:t>
            </a:r>
          </a:p>
        </p:txBody>
      </p:sp>
      <p:sp>
        <p:nvSpPr>
          <p:cNvPr id="48" name="p-3"/>
          <p:cNvSpPr txBox="1"/>
          <p:nvPr/>
        </p:nvSpPr>
        <p:spPr>
          <a:xfrm>
            <a:off x="6885432" y="43860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%</a:t>
            </a:r>
          </a:p>
        </p:txBody>
      </p:sp>
      <p:sp>
        <p:nvSpPr>
          <p:cNvPr id="49" name="icon-truck"/>
          <p:cNvSpPr/>
          <p:nvPr/>
        </p:nvSpPr>
        <p:spPr>
          <a:xfrm>
            <a:off x="8216265" y="4039552"/>
            <a:ext cx="108712" cy="67437"/>
          </a:xfrm>
          <a:custGeom>
            <a:avLst/>
            <a:gdLst/>
            <a:ahLst/>
            <a:cxnLst/>
            <a:rect l="0" t="0" r="r" b="b"/>
            <a:pathLst>
              <a:path w="108712" h="67437">
                <a:moveTo>
                  <a:pt x="0" y="0"/>
                </a:moveTo>
                <a:lnTo>
                  <a:pt x="66040" y="0"/>
                </a:lnTo>
                <a:lnTo>
                  <a:pt x="66040" y="67437"/>
                </a:lnTo>
                <a:lnTo>
                  <a:pt x="0" y="67437"/>
                </a:lnTo>
                <a:close/>
                <a:moveTo>
                  <a:pt x="66040" y="24765"/>
                </a:moveTo>
                <a:lnTo>
                  <a:pt x="89408" y="24765"/>
                </a:lnTo>
                <a:lnTo>
                  <a:pt x="108712" y="45402"/>
                </a:lnTo>
                <a:lnTo>
                  <a:pt x="108712" y="67437"/>
                </a:lnTo>
                <a:lnTo>
                  <a:pt x="66040" y="67437"/>
                </a:lnTo>
                <a:close/>
              </a:path>
            </a:pathLst>
          </a:custGeom>
          <a:noFill/>
          <a:ln w="11430" cap="rnd">
            <a:solidFill>
              <a:srgbClr val="3985CD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n-3"/>
          <p:cNvSpPr txBox="1"/>
          <p:nvPr/>
        </p:nvSpPr>
        <p:spPr>
          <a:xfrm>
            <a:off x="7169150" y="4261644"/>
            <a:ext cx="8159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产品交付</a:t>
            </a:r>
          </a:p>
        </p:txBody>
      </p:sp>
      <p:sp>
        <p:nvSpPr>
          <p:cNvPr id="51" name="note-3"/>
          <p:cNvSpPr txBox="1"/>
          <p:nvPr/>
        </p:nvSpPr>
        <p:spPr>
          <a:xfrm>
            <a:off x="7174865" y="4536361"/>
            <a:ext cx="112045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1,092 / 1,200 台</a:t>
            </a:r>
          </a:p>
        </p:txBody>
      </p:sp>
      <p:sp>
        <p:nvSpPr>
          <p:cNvPr id="52" name="bg-3"/>
          <p:cNvSpPr/>
          <p:nvPr/>
        </p:nvSpPr>
        <p:spPr>
          <a:xfrm>
            <a:off x="7188200" y="4851400"/>
            <a:ext cx="1206500" cy="508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bar-3"/>
          <p:cNvSpPr/>
          <p:nvPr/>
        </p:nvSpPr>
        <p:spPr>
          <a:xfrm>
            <a:off x="7188200" y="4851400"/>
            <a:ext cx="1097915" cy="50800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card-4"/>
          <p:cNvSpPr/>
          <p:nvPr/>
        </p:nvSpPr>
        <p:spPr>
          <a:xfrm>
            <a:off x="8756650" y="3746500"/>
            <a:ext cx="2482850" cy="1562100"/>
          </a:xfrm>
          <a:custGeom>
            <a:avLst/>
            <a:gdLst/>
            <a:ahLst/>
            <a:cxnLst/>
            <a:rect l="0" t="0" r="r" b="b"/>
            <a:pathLst>
              <a:path w="2482850" h="1562100">
                <a:moveTo>
                  <a:pt x="114300" y="0"/>
                </a:moveTo>
                <a:lnTo>
                  <a:pt x="2368550" y="0"/>
                </a:lnTo>
                <a:cubicBezTo>
                  <a:pt x="2431669" y="0"/>
                  <a:pt x="2482850" y="51181"/>
                  <a:pt x="2482850" y="114300"/>
                </a:cubicBezTo>
                <a:lnTo>
                  <a:pt x="2482850" y="1447800"/>
                </a:lnTo>
                <a:cubicBezTo>
                  <a:pt x="2482850" y="1510919"/>
                  <a:pt x="2431669" y="1562100"/>
                  <a:pt x="2368550" y="1562100"/>
                </a:cubicBezTo>
                <a:lnTo>
                  <a:pt x="114300" y="1562100"/>
                </a:lnTo>
                <a:cubicBezTo>
                  <a:pt x="51181" y="1562100"/>
                  <a:pt x="0" y="1510919"/>
                  <a:pt x="0" y="14478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cap-4"/>
          <p:cNvSpPr/>
          <p:nvPr/>
        </p:nvSpPr>
        <p:spPr>
          <a:xfrm>
            <a:off x="8756650" y="3746500"/>
            <a:ext cx="2482850" cy="38100"/>
          </a:xfrm>
          <a:custGeom>
            <a:avLst/>
            <a:gdLst/>
            <a:ahLst/>
            <a:cxnLst/>
            <a:rect l="0" t="0" r="r" b="b"/>
            <a:pathLst>
              <a:path w="2482850" h="38100">
                <a:moveTo>
                  <a:pt x="19050" y="0"/>
                </a:moveTo>
                <a:lnTo>
                  <a:pt x="2463800" y="0"/>
                </a:lnTo>
                <a:cubicBezTo>
                  <a:pt x="2474341" y="0"/>
                  <a:pt x="2482850" y="8509"/>
                  <a:pt x="2482850" y="19050"/>
                </a:cubicBezTo>
                <a:lnTo>
                  <a:pt x="2482850" y="19050"/>
                </a:lnTo>
                <a:cubicBezTo>
                  <a:pt x="2482850" y="29591"/>
                  <a:pt x="2474341" y="38100"/>
                  <a:pt x="246380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tr-4"/>
          <p:cNvSpPr/>
          <p:nvPr/>
        </p:nvSpPr>
        <p:spPr>
          <a:xfrm>
            <a:off x="8985250" y="4178300"/>
            <a:ext cx="711200" cy="711200"/>
          </a:xfrm>
          <a:prstGeom prst="ellipse">
            <a:avLst/>
          </a:prstGeom>
          <a:noFill/>
          <a:ln w="95250" cap="rnd">
            <a:solidFill>
              <a:srgbClr val="E7EEF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arc-4"/>
          <p:cNvSpPr/>
          <p:nvPr/>
        </p:nvSpPr>
        <p:spPr>
          <a:xfrm>
            <a:off x="9066848" y="4178300"/>
            <a:ext cx="629492" cy="710967"/>
          </a:xfrm>
          <a:custGeom>
            <a:avLst/>
            <a:gdLst/>
            <a:ahLst/>
            <a:cxnLst/>
            <a:rect l="0" t="0" r="r" b="b"/>
            <a:pathLst>
              <a:path w="629492" h="710967">
                <a:moveTo>
                  <a:pt x="274003" y="0"/>
                </a:moveTo>
                <a:cubicBezTo>
                  <a:pt x="439105" y="14"/>
                  <a:pt x="582481" y="113665"/>
                  <a:pt x="620179" y="274407"/>
                </a:cubicBezTo>
                <a:cubicBezTo>
                  <a:pt x="657876" y="435148"/>
                  <a:pt x="579978" y="600693"/>
                  <a:pt x="432096" y="674109"/>
                </a:cubicBezTo>
                <a:cubicBezTo>
                  <a:pt x="284215" y="747525"/>
                  <a:pt x="105253" y="709498"/>
                  <a:pt x="0" y="582295"/>
                </a:cubicBezTo>
              </a:path>
            </a:pathLst>
          </a:custGeom>
          <a:noFill/>
          <a:ln w="9525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v-4"/>
          <p:cNvSpPr txBox="1"/>
          <p:nvPr/>
        </p:nvSpPr>
        <p:spPr>
          <a:xfrm>
            <a:off x="9145143" y="4346448"/>
            <a:ext cx="416814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600" b="1" spc="25">
                <a:solidFill>
                  <a:srgbClr val="0B2545"/>
                </a:solidFill>
                <a:latin typeface="Arial"/>
                <a:ea typeface="Arial"/>
                <a:cs typeface="Arial"/>
              </a:rPr>
              <a:t>64</a:t>
            </a:r>
          </a:p>
        </p:txBody>
      </p:sp>
      <p:sp>
        <p:nvSpPr>
          <p:cNvPr id="59" name="p-4"/>
          <p:cNvSpPr txBox="1"/>
          <p:nvPr/>
        </p:nvSpPr>
        <p:spPr>
          <a:xfrm>
            <a:off x="9546082" y="43860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%</a:t>
            </a:r>
          </a:p>
        </p:txBody>
      </p:sp>
      <p:sp>
        <p:nvSpPr>
          <p:cNvPr id="60" name="icon-star"/>
          <p:cNvSpPr/>
          <p:nvPr/>
        </p:nvSpPr>
        <p:spPr>
          <a:xfrm>
            <a:off x="10876216" y="4018915"/>
            <a:ext cx="116967" cy="111443"/>
          </a:xfrm>
          <a:custGeom>
            <a:avLst/>
            <a:gdLst/>
            <a:ahLst/>
            <a:cxnLst/>
            <a:rect l="0" t="0" r="r" b="b"/>
            <a:pathLst>
              <a:path w="116967" h="111443">
                <a:moveTo>
                  <a:pt x="58484" y="0"/>
                </a:moveTo>
                <a:lnTo>
                  <a:pt x="76390" y="37148"/>
                </a:lnTo>
                <a:lnTo>
                  <a:pt x="116967" y="42672"/>
                </a:lnTo>
                <a:lnTo>
                  <a:pt x="87376" y="70866"/>
                </a:lnTo>
                <a:lnTo>
                  <a:pt x="94933" y="111443"/>
                </a:lnTo>
                <a:lnTo>
                  <a:pt x="58484" y="91503"/>
                </a:lnTo>
                <a:lnTo>
                  <a:pt x="22035" y="111443"/>
                </a:lnTo>
                <a:lnTo>
                  <a:pt x="29591" y="70866"/>
                </a:lnTo>
                <a:lnTo>
                  <a:pt x="0" y="42672"/>
                </a:lnTo>
                <a:lnTo>
                  <a:pt x="40577" y="37148"/>
                </a:lnTo>
                <a:close/>
              </a:path>
            </a:pathLst>
          </a:custGeom>
          <a:noFill/>
          <a:ln w="11430" cap="rnd">
            <a:solidFill>
              <a:srgbClr val="54A2DF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n-4"/>
          <p:cNvSpPr txBox="1"/>
          <p:nvPr/>
        </p:nvSpPr>
        <p:spPr>
          <a:xfrm>
            <a:off x="9829800" y="4261644"/>
            <a:ext cx="647700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满意度</a:t>
            </a:r>
          </a:p>
        </p:txBody>
      </p:sp>
      <p:sp>
        <p:nvSpPr>
          <p:cNvPr id="62" name="note-4"/>
          <p:cNvSpPr txBox="1"/>
          <p:nvPr/>
        </p:nvSpPr>
        <p:spPr>
          <a:xfrm>
            <a:off x="9835515" y="4536361"/>
            <a:ext cx="110458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NPS 64 / 目标 80</a:t>
            </a:r>
          </a:p>
        </p:txBody>
      </p:sp>
      <p:sp>
        <p:nvSpPr>
          <p:cNvPr id="63" name="bg-4"/>
          <p:cNvSpPr/>
          <p:nvPr/>
        </p:nvSpPr>
        <p:spPr>
          <a:xfrm>
            <a:off x="9848850" y="4851400"/>
            <a:ext cx="1206500" cy="508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bar-4"/>
          <p:cNvSpPr/>
          <p:nvPr/>
        </p:nvSpPr>
        <p:spPr>
          <a:xfrm>
            <a:off x="9848850" y="4851400"/>
            <a:ext cx="772160" cy="50800"/>
          </a:xfrm>
          <a:prstGeom prst="roundRect">
            <a:avLst>
              <a:gd name="adj" fmla="val 50000"/>
            </a:avLst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q-panel"/>
          <p:cNvSpPr/>
          <p:nvPr/>
        </p:nvSpPr>
        <p:spPr>
          <a:xfrm>
            <a:off x="952500" y="5664200"/>
            <a:ext cx="10553700" cy="584200"/>
          </a:xfrm>
          <a:custGeom>
            <a:avLst/>
            <a:gdLst/>
            <a:ahLst/>
            <a:cxnLst/>
            <a:rect l="0" t="0" r="r" b="b"/>
            <a:pathLst>
              <a:path w="10553700" h="584200">
                <a:moveTo>
                  <a:pt x="101600" y="0"/>
                </a:moveTo>
                <a:lnTo>
                  <a:pt x="10452100" y="0"/>
                </a:lnTo>
                <a:cubicBezTo>
                  <a:pt x="10508234" y="0"/>
                  <a:pt x="10553700" y="45466"/>
                  <a:pt x="10553700" y="101600"/>
                </a:cubicBezTo>
                <a:lnTo>
                  <a:pt x="10553700" y="482600"/>
                </a:lnTo>
                <a:cubicBezTo>
                  <a:pt x="10553700" y="538734"/>
                  <a:pt x="10508234" y="584200"/>
                  <a:pt x="10452100" y="584200"/>
                </a:cubicBezTo>
                <a:lnTo>
                  <a:pt x="101600" y="584200"/>
                </a:lnTo>
                <a:cubicBezTo>
                  <a:pt x="45466" y="584200"/>
                  <a:pt x="0" y="538734"/>
                  <a:pt x="0" y="482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q-h"/>
          <p:cNvSpPr txBox="1"/>
          <p:nvPr/>
        </p:nvSpPr>
        <p:spPr>
          <a:xfrm>
            <a:off x="1204722" y="58707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季度累计</a:t>
            </a:r>
          </a:p>
        </p:txBody>
      </p:sp>
      <p:sp>
        <p:nvSpPr>
          <p:cNvPr id="67" name="q-track"/>
          <p:cNvSpPr/>
          <p:nvPr/>
        </p:nvSpPr>
        <p:spPr>
          <a:xfrm>
            <a:off x="2540000" y="5930900"/>
            <a:ext cx="7937500" cy="76200"/>
          </a:xfrm>
          <a:prstGeom prst="roundRect">
            <a:avLst>
              <a:gd name="adj" fmla="val 50000"/>
            </a:avLst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q-bar"/>
          <p:cNvSpPr/>
          <p:nvPr/>
        </p:nvSpPr>
        <p:spPr>
          <a:xfrm>
            <a:off x="2540000" y="5930900"/>
            <a:ext cx="6191250" cy="76200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2E77C2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q-dot-1"/>
          <p:cNvSpPr/>
          <p:nvPr/>
        </p:nvSpPr>
        <p:spPr>
          <a:xfrm>
            <a:off x="4229100" y="5911850"/>
            <a:ext cx="114300" cy="11430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q-t-1"/>
          <p:cNvSpPr txBox="1"/>
          <p:nvPr/>
        </p:nvSpPr>
        <p:spPr>
          <a:xfrm>
            <a:off x="4082510" y="5740987"/>
            <a:ext cx="40748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Q1 22%</a:t>
            </a:r>
          </a:p>
        </p:txBody>
      </p:sp>
      <p:sp>
        <p:nvSpPr>
          <p:cNvPr id="71" name="q-dot-2"/>
          <p:cNvSpPr/>
          <p:nvPr/>
        </p:nvSpPr>
        <p:spPr>
          <a:xfrm>
            <a:off x="5737225" y="5911850"/>
            <a:ext cx="114300" cy="11430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q-t-2"/>
          <p:cNvSpPr txBox="1"/>
          <p:nvPr/>
        </p:nvSpPr>
        <p:spPr>
          <a:xfrm>
            <a:off x="5590635" y="5740987"/>
            <a:ext cx="40748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Q2 41%</a:t>
            </a:r>
          </a:p>
        </p:txBody>
      </p:sp>
      <p:sp>
        <p:nvSpPr>
          <p:cNvPr id="73" name="q-dot-3"/>
          <p:cNvSpPr/>
          <p:nvPr/>
        </p:nvSpPr>
        <p:spPr>
          <a:xfrm>
            <a:off x="7404100" y="5911850"/>
            <a:ext cx="114300" cy="11430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q-t-3"/>
          <p:cNvSpPr txBox="1"/>
          <p:nvPr/>
        </p:nvSpPr>
        <p:spPr>
          <a:xfrm>
            <a:off x="7257510" y="5740987"/>
            <a:ext cx="40748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Q3 62%</a:t>
            </a:r>
          </a:p>
        </p:txBody>
      </p:sp>
      <p:sp>
        <p:nvSpPr>
          <p:cNvPr id="75" name="q-dot-4"/>
          <p:cNvSpPr/>
          <p:nvPr/>
        </p:nvSpPr>
        <p:spPr>
          <a:xfrm>
            <a:off x="8674100" y="5911850"/>
            <a:ext cx="114300" cy="11430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q-t-4"/>
          <p:cNvSpPr txBox="1"/>
          <p:nvPr/>
        </p:nvSpPr>
        <p:spPr>
          <a:xfrm>
            <a:off x="8527510" y="5740987"/>
            <a:ext cx="40748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Q4 78%</a:t>
            </a:r>
          </a:p>
        </p:txBody>
      </p:sp>
      <p:sp>
        <p:nvSpPr>
          <p:cNvPr id="77" name="q-end"/>
          <p:cNvSpPr txBox="1"/>
          <p:nvPr/>
        </p:nvSpPr>
        <p:spPr>
          <a:xfrm>
            <a:off x="10555351" y="5893387"/>
            <a:ext cx="54260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目标 100%</a:t>
            </a:r>
          </a:p>
        </p:txBody>
      </p:sp>
      <p:cxnSp>
        <p:nvCxnSpPr>
          <p:cNvPr id="78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foot-l"/>
          <p:cNvSpPr txBox="1"/>
          <p:nvPr/>
        </p:nvSpPr>
        <p:spPr>
          <a:xfrm>
            <a:off x="573532" y="6532308"/>
            <a:ext cx="13406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目标完成度 · 四项关键指标</a:t>
            </a:r>
          </a:p>
        </p:txBody>
      </p:sp>
      <p:sp>
        <p:nvSpPr>
          <p:cNvPr id="80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全年订单趋势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08165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ORDER TREND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351899" y="673132"/>
            <a:ext cx="22688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本年与上年同期订单量对比（单位：千单）</a:t>
            </a:r>
          </a:p>
        </p:txBody>
      </p:sp>
      <p:cxnSp>
        <p:nvCxnSpPr>
          <p:cNvPr id="10" name="grid-0"/>
          <p:cNvCxnSpPr/>
          <p:nvPr/>
        </p:nvCxnSpPr>
        <p:spPr>
          <a:xfrm>
            <a:off x="1066800" y="4749800"/>
            <a:ext cx="10236200" cy="0"/>
          </a:xfrm>
          <a:prstGeom prst="line">
            <a:avLst/>
          </a:prstGeom>
          <a:ln w="6350" cap="rnd">
            <a:solidFill>
              <a:srgbClr val="0B2545">
                <a:alpha val="1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gl-0"/>
          <p:cNvSpPr txBox="1"/>
          <p:nvPr/>
        </p:nvSpPr>
        <p:spPr>
          <a:xfrm>
            <a:off x="809625" y="4663916"/>
            <a:ext cx="1416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20">
                <a:solidFill>
                  <a:srgbClr val="7E93AE"/>
                </a:solidFill>
                <a:latin typeface="Arial"/>
                <a:ea typeface="Arial"/>
                <a:cs typeface="Arial"/>
              </a:rPr>
              <a:t>0</a:t>
            </a:r>
          </a:p>
        </p:txBody>
      </p:sp>
      <p:cxnSp>
        <p:nvCxnSpPr>
          <p:cNvPr id="12" name="grid-35"/>
          <p:cNvCxnSpPr/>
          <p:nvPr/>
        </p:nvCxnSpPr>
        <p:spPr>
          <a:xfrm>
            <a:off x="1066800" y="4038600"/>
            <a:ext cx="10236200" cy="0"/>
          </a:xfrm>
          <a:prstGeom prst="line">
            <a:avLst/>
          </a:prstGeom>
          <a:ln w="6350" cap="rnd">
            <a:solidFill>
              <a:srgbClr val="0B2545">
                <a:alpha val="9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gl-35"/>
          <p:cNvSpPr txBox="1"/>
          <p:nvPr/>
        </p:nvSpPr>
        <p:spPr>
          <a:xfrm>
            <a:off x="753745" y="3952716"/>
            <a:ext cx="1974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20">
                <a:solidFill>
                  <a:srgbClr val="7E93AE"/>
                </a:solidFill>
                <a:latin typeface="Arial"/>
                <a:ea typeface="Arial"/>
                <a:cs typeface="Arial"/>
              </a:rPr>
              <a:t>35</a:t>
            </a:r>
          </a:p>
        </p:txBody>
      </p:sp>
      <p:cxnSp>
        <p:nvCxnSpPr>
          <p:cNvPr id="14" name="grid-70"/>
          <p:cNvCxnSpPr/>
          <p:nvPr/>
        </p:nvCxnSpPr>
        <p:spPr>
          <a:xfrm>
            <a:off x="1066800" y="3327400"/>
            <a:ext cx="10236200" cy="0"/>
          </a:xfrm>
          <a:prstGeom prst="line">
            <a:avLst/>
          </a:prstGeom>
          <a:ln w="6350" cap="rnd">
            <a:solidFill>
              <a:srgbClr val="0B2545">
                <a:alpha val="9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gl-70"/>
          <p:cNvSpPr txBox="1"/>
          <p:nvPr/>
        </p:nvSpPr>
        <p:spPr>
          <a:xfrm>
            <a:off x="753745" y="3241516"/>
            <a:ext cx="1974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20">
                <a:solidFill>
                  <a:srgbClr val="7E93AE"/>
                </a:solidFill>
                <a:latin typeface="Arial"/>
                <a:ea typeface="Arial"/>
                <a:cs typeface="Arial"/>
              </a:rPr>
              <a:t>70</a:t>
            </a:r>
          </a:p>
        </p:txBody>
      </p:sp>
      <p:cxnSp>
        <p:nvCxnSpPr>
          <p:cNvPr id="16" name="grid-105"/>
          <p:cNvCxnSpPr/>
          <p:nvPr/>
        </p:nvCxnSpPr>
        <p:spPr>
          <a:xfrm>
            <a:off x="1066800" y="2616200"/>
            <a:ext cx="10236200" cy="0"/>
          </a:xfrm>
          <a:prstGeom prst="line">
            <a:avLst/>
          </a:prstGeom>
          <a:ln w="6350" cap="rnd">
            <a:solidFill>
              <a:srgbClr val="0B2545">
                <a:alpha val="9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gl-105"/>
          <p:cNvSpPr txBox="1"/>
          <p:nvPr/>
        </p:nvSpPr>
        <p:spPr>
          <a:xfrm>
            <a:off x="697865" y="2530316"/>
            <a:ext cx="2533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20">
                <a:solidFill>
                  <a:srgbClr val="7E93AE"/>
                </a:solidFill>
                <a:latin typeface="Arial"/>
                <a:ea typeface="Arial"/>
                <a:cs typeface="Arial"/>
              </a:rPr>
              <a:t>105</a:t>
            </a:r>
          </a:p>
        </p:txBody>
      </p:sp>
      <p:cxnSp>
        <p:nvCxnSpPr>
          <p:cNvPr id="18" name="grid-140"/>
          <p:cNvCxnSpPr/>
          <p:nvPr/>
        </p:nvCxnSpPr>
        <p:spPr>
          <a:xfrm>
            <a:off x="1066800" y="1905000"/>
            <a:ext cx="10236200" cy="0"/>
          </a:xfrm>
          <a:prstGeom prst="line">
            <a:avLst/>
          </a:prstGeom>
          <a:ln w="6350" cap="rnd">
            <a:solidFill>
              <a:srgbClr val="0B2545">
                <a:alpha val="9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gl-140"/>
          <p:cNvSpPr txBox="1"/>
          <p:nvPr/>
        </p:nvSpPr>
        <p:spPr>
          <a:xfrm>
            <a:off x="697865" y="1819116"/>
            <a:ext cx="2533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20">
                <a:solidFill>
                  <a:srgbClr val="7E93AE"/>
                </a:solidFill>
                <a:latin typeface="Arial"/>
                <a:ea typeface="Arial"/>
                <a:cs typeface="Arial"/>
              </a:rPr>
              <a:t>140</a:t>
            </a:r>
          </a:p>
        </p:txBody>
      </p:sp>
      <p:sp>
        <p:nvSpPr>
          <p:cNvPr id="20" name="area-pre"/>
          <p:cNvSpPr/>
          <p:nvPr/>
        </p:nvSpPr>
        <p:spPr>
          <a:xfrm>
            <a:off x="1066800" y="3103880"/>
            <a:ext cx="10236200" cy="1645920"/>
          </a:xfrm>
          <a:custGeom>
            <a:avLst/>
            <a:gdLst/>
            <a:ahLst/>
            <a:cxnLst/>
            <a:rect l="0" t="0" r="r" b="b"/>
            <a:pathLst>
              <a:path w="10236200" h="1645920">
                <a:moveTo>
                  <a:pt x="0" y="934720"/>
                </a:moveTo>
                <a:cubicBezTo>
                  <a:pt x="124079" y="940118"/>
                  <a:pt x="682435" y="991616"/>
                  <a:pt x="930593" y="975360"/>
                </a:cubicBezTo>
                <a:cubicBezTo>
                  <a:pt x="1178687" y="959104"/>
                  <a:pt x="1612964" y="848043"/>
                  <a:pt x="1861121" y="812800"/>
                </a:cubicBezTo>
                <a:cubicBezTo>
                  <a:pt x="2109280" y="777557"/>
                  <a:pt x="2543556" y="719328"/>
                  <a:pt x="2791714" y="711200"/>
                </a:cubicBezTo>
                <a:cubicBezTo>
                  <a:pt x="3039872" y="703072"/>
                  <a:pt x="3474085" y="768096"/>
                  <a:pt x="3722243" y="751840"/>
                </a:cubicBezTo>
                <a:cubicBezTo>
                  <a:pt x="3970401" y="735584"/>
                  <a:pt x="4404678" y="624522"/>
                  <a:pt x="4652836" y="589280"/>
                </a:cubicBezTo>
                <a:cubicBezTo>
                  <a:pt x="4900994" y="554037"/>
                  <a:pt x="5335206" y="509333"/>
                  <a:pt x="5583364" y="487680"/>
                </a:cubicBezTo>
                <a:cubicBezTo>
                  <a:pt x="5831522" y="466027"/>
                  <a:pt x="6265799" y="442976"/>
                  <a:pt x="6513957" y="426720"/>
                </a:cubicBezTo>
                <a:cubicBezTo>
                  <a:pt x="6762115" y="410464"/>
                  <a:pt x="7196328" y="387413"/>
                  <a:pt x="7444486" y="365760"/>
                </a:cubicBezTo>
                <a:cubicBezTo>
                  <a:pt x="7692644" y="344106"/>
                  <a:pt x="8126920" y="293942"/>
                  <a:pt x="8375079" y="264160"/>
                </a:cubicBezTo>
                <a:cubicBezTo>
                  <a:pt x="8623236" y="234379"/>
                  <a:pt x="9057513" y="177482"/>
                  <a:pt x="9305608" y="142240"/>
                </a:cubicBezTo>
                <a:cubicBezTo>
                  <a:pt x="9553766" y="106997"/>
                  <a:pt x="10112121" y="18987"/>
                  <a:pt x="10236200" y="0"/>
                </a:cubicBezTo>
                <a:lnTo>
                  <a:pt x="10236200" y="1645920"/>
                </a:lnTo>
                <a:lnTo>
                  <a:pt x="0" y="1645920"/>
                </a:lnTo>
                <a:close/>
              </a:path>
            </a:pathLst>
          </a:custGeom>
          <a:gradFill rotWithShape="1">
            <a:gsLst>
              <a:gs pos="0">
                <a:srgbClr val="BBD3EE">
                  <a:alpha val="75000"/>
                </a:srgbClr>
              </a:gs>
              <a:gs pos="100000">
                <a:srgbClr val="BBD3EE">
                  <a:alpha val="500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line-pre"/>
          <p:cNvSpPr/>
          <p:nvPr/>
        </p:nvSpPr>
        <p:spPr>
          <a:xfrm>
            <a:off x="1066800" y="3103880"/>
            <a:ext cx="10236200" cy="978502"/>
          </a:xfrm>
          <a:custGeom>
            <a:avLst/>
            <a:gdLst/>
            <a:ahLst/>
            <a:cxnLst/>
            <a:rect l="0" t="0" r="r" b="b"/>
            <a:pathLst>
              <a:path w="10236200" h="978502">
                <a:moveTo>
                  <a:pt x="0" y="934720"/>
                </a:moveTo>
                <a:cubicBezTo>
                  <a:pt x="124079" y="940118"/>
                  <a:pt x="682435" y="991616"/>
                  <a:pt x="930593" y="975360"/>
                </a:cubicBezTo>
                <a:cubicBezTo>
                  <a:pt x="1178687" y="959104"/>
                  <a:pt x="1612964" y="848043"/>
                  <a:pt x="1861121" y="812800"/>
                </a:cubicBezTo>
                <a:cubicBezTo>
                  <a:pt x="2109280" y="777557"/>
                  <a:pt x="2543556" y="719328"/>
                  <a:pt x="2791714" y="711200"/>
                </a:cubicBezTo>
                <a:cubicBezTo>
                  <a:pt x="3039872" y="703072"/>
                  <a:pt x="3474085" y="768096"/>
                  <a:pt x="3722243" y="751840"/>
                </a:cubicBezTo>
                <a:cubicBezTo>
                  <a:pt x="3970401" y="735584"/>
                  <a:pt x="4404678" y="624522"/>
                  <a:pt x="4652836" y="589280"/>
                </a:cubicBezTo>
                <a:cubicBezTo>
                  <a:pt x="4900994" y="554037"/>
                  <a:pt x="5335206" y="509333"/>
                  <a:pt x="5583364" y="487680"/>
                </a:cubicBezTo>
                <a:cubicBezTo>
                  <a:pt x="5831522" y="466027"/>
                  <a:pt x="6265799" y="442976"/>
                  <a:pt x="6513957" y="426720"/>
                </a:cubicBezTo>
                <a:cubicBezTo>
                  <a:pt x="6762115" y="410464"/>
                  <a:pt x="7196328" y="387413"/>
                  <a:pt x="7444486" y="365760"/>
                </a:cubicBezTo>
                <a:cubicBezTo>
                  <a:pt x="7692644" y="344106"/>
                  <a:pt x="8126920" y="293942"/>
                  <a:pt x="8375079" y="264160"/>
                </a:cubicBezTo>
                <a:cubicBezTo>
                  <a:pt x="8623236" y="234379"/>
                  <a:pt x="9057513" y="177482"/>
                  <a:pt x="9305608" y="142240"/>
                </a:cubicBezTo>
                <a:cubicBezTo>
                  <a:pt x="9553766" y="106997"/>
                  <a:pt x="10112121" y="18987"/>
                  <a:pt x="10236200" y="0"/>
                </a:cubicBezTo>
              </a:path>
            </a:pathLst>
          </a:custGeom>
          <a:noFill/>
          <a:ln w="12700" cap="rnd">
            <a:solidFill>
              <a:srgbClr val="8FB4DC"/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area-cur"/>
          <p:cNvSpPr/>
          <p:nvPr/>
        </p:nvSpPr>
        <p:spPr>
          <a:xfrm>
            <a:off x="1066800" y="2230120"/>
            <a:ext cx="10236200" cy="2519680"/>
          </a:xfrm>
          <a:custGeom>
            <a:avLst/>
            <a:gdLst/>
            <a:ahLst/>
            <a:cxnLst/>
            <a:rect l="0" t="0" r="r" b="b"/>
            <a:pathLst>
              <a:path w="10236200" h="2519680">
                <a:moveTo>
                  <a:pt x="0" y="1666240"/>
                </a:moveTo>
                <a:cubicBezTo>
                  <a:pt x="124079" y="1677098"/>
                  <a:pt x="682435" y="1782763"/>
                  <a:pt x="930593" y="1747520"/>
                </a:cubicBezTo>
                <a:cubicBezTo>
                  <a:pt x="1178687" y="1712278"/>
                  <a:pt x="1612964" y="1464373"/>
                  <a:pt x="1861121" y="1402080"/>
                </a:cubicBezTo>
                <a:cubicBezTo>
                  <a:pt x="2109280" y="1339787"/>
                  <a:pt x="2543556" y="1288288"/>
                  <a:pt x="2791714" y="1280160"/>
                </a:cubicBezTo>
                <a:cubicBezTo>
                  <a:pt x="3039872" y="1272032"/>
                  <a:pt x="3474085" y="1370902"/>
                  <a:pt x="3722243" y="1341120"/>
                </a:cubicBezTo>
                <a:cubicBezTo>
                  <a:pt x="3970401" y="1311339"/>
                  <a:pt x="4404678" y="1116267"/>
                  <a:pt x="4652836" y="1056640"/>
                </a:cubicBezTo>
                <a:cubicBezTo>
                  <a:pt x="4900994" y="997014"/>
                  <a:pt x="5335206" y="904938"/>
                  <a:pt x="5583364" y="894080"/>
                </a:cubicBezTo>
                <a:cubicBezTo>
                  <a:pt x="5831522" y="883222"/>
                  <a:pt x="6265799" y="997014"/>
                  <a:pt x="6513957" y="975360"/>
                </a:cubicBezTo>
                <a:cubicBezTo>
                  <a:pt x="6762115" y="953706"/>
                  <a:pt x="7196328" y="785686"/>
                  <a:pt x="7444486" y="731520"/>
                </a:cubicBezTo>
                <a:cubicBezTo>
                  <a:pt x="7692644" y="677355"/>
                  <a:pt x="8126920" y="633984"/>
                  <a:pt x="8375079" y="568960"/>
                </a:cubicBezTo>
                <a:cubicBezTo>
                  <a:pt x="8623236" y="503936"/>
                  <a:pt x="9057513" y="319723"/>
                  <a:pt x="9305608" y="243840"/>
                </a:cubicBezTo>
                <a:cubicBezTo>
                  <a:pt x="9553766" y="167957"/>
                  <a:pt x="10112121" y="32512"/>
                  <a:pt x="10236200" y="0"/>
                </a:cubicBezTo>
                <a:lnTo>
                  <a:pt x="10236200" y="2519680"/>
                </a:lnTo>
                <a:lnTo>
                  <a:pt x="0" y="2519680"/>
                </a:lnTo>
                <a:close/>
              </a:path>
            </a:pathLst>
          </a:custGeom>
          <a:gradFill rotWithShape="1">
            <a:gsLst>
              <a:gs pos="0">
                <a:srgbClr val="2E77C2">
                  <a:alpha val="55000"/>
                </a:srgbClr>
              </a:gs>
              <a:gs pos="100000">
                <a:srgbClr val="2E77C2">
                  <a:alpha val="400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line-cur"/>
          <p:cNvSpPr/>
          <p:nvPr/>
        </p:nvSpPr>
        <p:spPr>
          <a:xfrm>
            <a:off x="1066800" y="2230120"/>
            <a:ext cx="10236200" cy="1754591"/>
          </a:xfrm>
          <a:custGeom>
            <a:avLst/>
            <a:gdLst/>
            <a:ahLst/>
            <a:cxnLst/>
            <a:rect l="0" t="0" r="r" b="b"/>
            <a:pathLst>
              <a:path w="10236200" h="1754591">
                <a:moveTo>
                  <a:pt x="0" y="1666240"/>
                </a:moveTo>
                <a:cubicBezTo>
                  <a:pt x="124079" y="1677098"/>
                  <a:pt x="682435" y="1782763"/>
                  <a:pt x="930593" y="1747520"/>
                </a:cubicBezTo>
                <a:cubicBezTo>
                  <a:pt x="1178687" y="1712278"/>
                  <a:pt x="1612964" y="1464373"/>
                  <a:pt x="1861121" y="1402080"/>
                </a:cubicBezTo>
                <a:cubicBezTo>
                  <a:pt x="2109280" y="1339787"/>
                  <a:pt x="2543556" y="1288288"/>
                  <a:pt x="2791714" y="1280160"/>
                </a:cubicBezTo>
                <a:cubicBezTo>
                  <a:pt x="3039872" y="1272032"/>
                  <a:pt x="3474085" y="1370902"/>
                  <a:pt x="3722243" y="1341120"/>
                </a:cubicBezTo>
                <a:cubicBezTo>
                  <a:pt x="3970401" y="1311339"/>
                  <a:pt x="4404678" y="1116267"/>
                  <a:pt x="4652836" y="1056640"/>
                </a:cubicBezTo>
                <a:cubicBezTo>
                  <a:pt x="4900994" y="997014"/>
                  <a:pt x="5335206" y="904938"/>
                  <a:pt x="5583364" y="894080"/>
                </a:cubicBezTo>
                <a:cubicBezTo>
                  <a:pt x="5831522" y="883222"/>
                  <a:pt x="6265799" y="997014"/>
                  <a:pt x="6513957" y="975360"/>
                </a:cubicBezTo>
                <a:cubicBezTo>
                  <a:pt x="6762115" y="953706"/>
                  <a:pt x="7196328" y="785686"/>
                  <a:pt x="7444486" y="731520"/>
                </a:cubicBezTo>
                <a:cubicBezTo>
                  <a:pt x="7692644" y="677355"/>
                  <a:pt x="8126920" y="633984"/>
                  <a:pt x="8375079" y="568960"/>
                </a:cubicBezTo>
                <a:cubicBezTo>
                  <a:pt x="8623236" y="503936"/>
                  <a:pt x="9057513" y="319723"/>
                  <a:pt x="9305608" y="243840"/>
                </a:cubicBezTo>
                <a:cubicBezTo>
                  <a:pt x="9553766" y="167957"/>
                  <a:pt x="10112121" y="32512"/>
                  <a:pt x="10236200" y="0"/>
                </a:cubicBezTo>
              </a:path>
            </a:pathLst>
          </a:custGeom>
          <a:noFill/>
          <a:ln w="1905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dot-1"/>
          <p:cNvSpPr/>
          <p:nvPr/>
        </p:nvSpPr>
        <p:spPr>
          <a:xfrm>
            <a:off x="1031875" y="3861435"/>
            <a:ext cx="69850" cy="6985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x-1"/>
          <p:cNvSpPr txBox="1"/>
          <p:nvPr/>
        </p:nvSpPr>
        <p:spPr>
          <a:xfrm>
            <a:off x="939292" y="4865624"/>
            <a:ext cx="2550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1月</a:t>
            </a:r>
          </a:p>
        </p:txBody>
      </p:sp>
      <p:sp>
        <p:nvSpPr>
          <p:cNvPr id="26" name="dot-2"/>
          <p:cNvSpPr/>
          <p:nvPr/>
        </p:nvSpPr>
        <p:spPr>
          <a:xfrm>
            <a:off x="1962439" y="3942715"/>
            <a:ext cx="69850" cy="6985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x-2"/>
          <p:cNvSpPr txBox="1"/>
          <p:nvPr/>
        </p:nvSpPr>
        <p:spPr>
          <a:xfrm>
            <a:off x="1869856" y="4865624"/>
            <a:ext cx="2550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2月</a:t>
            </a:r>
          </a:p>
        </p:txBody>
      </p:sp>
      <p:sp>
        <p:nvSpPr>
          <p:cNvPr id="28" name="dot-3"/>
          <p:cNvSpPr/>
          <p:nvPr/>
        </p:nvSpPr>
        <p:spPr>
          <a:xfrm>
            <a:off x="2893002" y="3597275"/>
            <a:ext cx="69850" cy="6985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x-3"/>
          <p:cNvSpPr txBox="1"/>
          <p:nvPr/>
        </p:nvSpPr>
        <p:spPr>
          <a:xfrm>
            <a:off x="2800419" y="4865624"/>
            <a:ext cx="2550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3月</a:t>
            </a:r>
          </a:p>
        </p:txBody>
      </p:sp>
      <p:sp>
        <p:nvSpPr>
          <p:cNvPr id="30" name="dot-4"/>
          <p:cNvSpPr/>
          <p:nvPr/>
        </p:nvSpPr>
        <p:spPr>
          <a:xfrm>
            <a:off x="3823566" y="3475355"/>
            <a:ext cx="69850" cy="6985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x-4"/>
          <p:cNvSpPr txBox="1"/>
          <p:nvPr/>
        </p:nvSpPr>
        <p:spPr>
          <a:xfrm>
            <a:off x="3730983" y="4865624"/>
            <a:ext cx="2550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4月</a:t>
            </a:r>
          </a:p>
        </p:txBody>
      </p:sp>
      <p:sp>
        <p:nvSpPr>
          <p:cNvPr id="32" name="dot-5"/>
          <p:cNvSpPr/>
          <p:nvPr/>
        </p:nvSpPr>
        <p:spPr>
          <a:xfrm>
            <a:off x="4754130" y="3536315"/>
            <a:ext cx="69850" cy="6985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x-5"/>
          <p:cNvSpPr txBox="1"/>
          <p:nvPr/>
        </p:nvSpPr>
        <p:spPr>
          <a:xfrm>
            <a:off x="4661547" y="4865624"/>
            <a:ext cx="2550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5月</a:t>
            </a:r>
          </a:p>
        </p:txBody>
      </p:sp>
      <p:sp>
        <p:nvSpPr>
          <p:cNvPr id="34" name="dot-6"/>
          <p:cNvSpPr/>
          <p:nvPr/>
        </p:nvSpPr>
        <p:spPr>
          <a:xfrm>
            <a:off x="5684693" y="3251835"/>
            <a:ext cx="69850" cy="6985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x-6"/>
          <p:cNvSpPr txBox="1"/>
          <p:nvPr/>
        </p:nvSpPr>
        <p:spPr>
          <a:xfrm>
            <a:off x="5592110" y="4865624"/>
            <a:ext cx="2550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6月</a:t>
            </a:r>
          </a:p>
        </p:txBody>
      </p:sp>
      <p:sp>
        <p:nvSpPr>
          <p:cNvPr id="36" name="dot-7"/>
          <p:cNvSpPr/>
          <p:nvPr/>
        </p:nvSpPr>
        <p:spPr>
          <a:xfrm>
            <a:off x="6615257" y="3089275"/>
            <a:ext cx="69850" cy="6985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x-7"/>
          <p:cNvSpPr txBox="1"/>
          <p:nvPr/>
        </p:nvSpPr>
        <p:spPr>
          <a:xfrm>
            <a:off x="6522674" y="4865624"/>
            <a:ext cx="2550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7月</a:t>
            </a:r>
          </a:p>
        </p:txBody>
      </p:sp>
      <p:sp>
        <p:nvSpPr>
          <p:cNvPr id="38" name="dot-8"/>
          <p:cNvSpPr/>
          <p:nvPr/>
        </p:nvSpPr>
        <p:spPr>
          <a:xfrm>
            <a:off x="7545820" y="3170555"/>
            <a:ext cx="69850" cy="6985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x-8"/>
          <p:cNvSpPr txBox="1"/>
          <p:nvPr/>
        </p:nvSpPr>
        <p:spPr>
          <a:xfrm>
            <a:off x="7453237" y="4865624"/>
            <a:ext cx="2550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8月</a:t>
            </a:r>
          </a:p>
        </p:txBody>
      </p:sp>
      <p:sp>
        <p:nvSpPr>
          <p:cNvPr id="40" name="dot-9"/>
          <p:cNvSpPr/>
          <p:nvPr/>
        </p:nvSpPr>
        <p:spPr>
          <a:xfrm>
            <a:off x="8476384" y="2926715"/>
            <a:ext cx="69850" cy="6985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x-9"/>
          <p:cNvSpPr txBox="1"/>
          <p:nvPr/>
        </p:nvSpPr>
        <p:spPr>
          <a:xfrm>
            <a:off x="8383801" y="4865624"/>
            <a:ext cx="2550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9月</a:t>
            </a:r>
          </a:p>
        </p:txBody>
      </p:sp>
      <p:sp>
        <p:nvSpPr>
          <p:cNvPr id="42" name="dot-10"/>
          <p:cNvSpPr/>
          <p:nvPr/>
        </p:nvSpPr>
        <p:spPr>
          <a:xfrm>
            <a:off x="9406948" y="2764155"/>
            <a:ext cx="69850" cy="6985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x-10"/>
          <p:cNvSpPr txBox="1"/>
          <p:nvPr/>
        </p:nvSpPr>
        <p:spPr>
          <a:xfrm>
            <a:off x="9284647" y="4865624"/>
            <a:ext cx="31445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10月</a:t>
            </a:r>
          </a:p>
        </p:txBody>
      </p:sp>
      <p:sp>
        <p:nvSpPr>
          <p:cNvPr id="44" name="dot-11"/>
          <p:cNvSpPr/>
          <p:nvPr/>
        </p:nvSpPr>
        <p:spPr>
          <a:xfrm>
            <a:off x="10337511" y="2439035"/>
            <a:ext cx="69850" cy="6985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x-11"/>
          <p:cNvSpPr txBox="1"/>
          <p:nvPr/>
        </p:nvSpPr>
        <p:spPr>
          <a:xfrm>
            <a:off x="10215210" y="4865624"/>
            <a:ext cx="31445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11月</a:t>
            </a:r>
          </a:p>
        </p:txBody>
      </p:sp>
      <p:sp>
        <p:nvSpPr>
          <p:cNvPr id="46" name="dot-12"/>
          <p:cNvSpPr/>
          <p:nvPr/>
        </p:nvSpPr>
        <p:spPr>
          <a:xfrm>
            <a:off x="11252200" y="2179320"/>
            <a:ext cx="101600" cy="1016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x-12"/>
          <p:cNvSpPr txBox="1"/>
          <p:nvPr/>
        </p:nvSpPr>
        <p:spPr>
          <a:xfrm>
            <a:off x="11145774" y="4865624"/>
            <a:ext cx="31445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12月</a:t>
            </a:r>
          </a:p>
        </p:txBody>
      </p:sp>
      <p:cxnSp>
        <p:nvCxnSpPr>
          <p:cNvPr id="48" name="peak-stem"/>
          <p:cNvCxnSpPr/>
          <p:nvPr/>
        </p:nvCxnSpPr>
        <p:spPr>
          <a:xfrm flipV="1">
            <a:off x="11303000" y="1811020"/>
            <a:ext cx="0" cy="304800"/>
          </a:xfrm>
          <a:prstGeom prst="line">
            <a:avLst/>
          </a:prstGeom>
          <a:ln w="7620" cap="rnd">
            <a:solidFill>
              <a:srgbClr val="0B3E8F">
                <a:alpha val="4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peak-tag"/>
          <p:cNvSpPr/>
          <p:nvPr/>
        </p:nvSpPr>
        <p:spPr>
          <a:xfrm>
            <a:off x="10490200" y="1480820"/>
            <a:ext cx="812800" cy="342900"/>
          </a:xfrm>
          <a:custGeom>
            <a:avLst/>
            <a:gdLst/>
            <a:ahLst/>
            <a:cxnLst/>
            <a:rect l="0" t="0" r="r" b="b"/>
            <a:pathLst>
              <a:path w="812800" h="342900">
                <a:moveTo>
                  <a:pt x="88900" y="0"/>
                </a:moveTo>
                <a:lnTo>
                  <a:pt x="723900" y="0"/>
                </a:lnTo>
                <a:cubicBezTo>
                  <a:pt x="772986" y="0"/>
                  <a:pt x="812800" y="39815"/>
                  <a:pt x="812800" y="88900"/>
                </a:cubicBezTo>
                <a:lnTo>
                  <a:pt x="812800" y="254000"/>
                </a:lnTo>
                <a:cubicBezTo>
                  <a:pt x="812800" y="303086"/>
                  <a:pt x="772986" y="342900"/>
                  <a:pt x="723900" y="342900"/>
                </a:cubicBezTo>
                <a:lnTo>
                  <a:pt x="88900" y="342900"/>
                </a:lnTo>
                <a:cubicBezTo>
                  <a:pt x="39814" y="342900"/>
                  <a:pt x="0" y="303086"/>
                  <a:pt x="0" y="254000"/>
                </a:cubicBezTo>
                <a:lnTo>
                  <a:pt x="0" y="88900"/>
                </a:lnTo>
                <a:cubicBezTo>
                  <a:pt x="0" y="39815"/>
                  <a:pt x="39814" y="0"/>
                  <a:pt x="889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peak-t"/>
          <p:cNvSpPr txBox="1"/>
          <p:nvPr/>
        </p:nvSpPr>
        <p:spPr>
          <a:xfrm>
            <a:off x="10587609" y="1555560"/>
            <a:ext cx="61798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4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峰值 124</a:t>
            </a:r>
          </a:p>
        </p:txBody>
      </p:sp>
      <p:sp>
        <p:nvSpPr>
          <p:cNvPr id="51" name="legend"/>
          <p:cNvSpPr/>
          <p:nvPr/>
        </p:nvSpPr>
        <p:spPr>
          <a:xfrm>
            <a:off x="1117600" y="1435100"/>
            <a:ext cx="2095500" cy="292100"/>
          </a:xfrm>
          <a:custGeom>
            <a:avLst/>
            <a:gdLst/>
            <a:ahLst/>
            <a:cxnLst/>
            <a:rect l="0" t="0" r="r" b="b"/>
            <a:pathLst>
              <a:path w="2095500" h="292100">
                <a:moveTo>
                  <a:pt x="146050" y="0"/>
                </a:moveTo>
                <a:lnTo>
                  <a:pt x="1949450" y="0"/>
                </a:lnTo>
                <a:cubicBezTo>
                  <a:pt x="2030095" y="0"/>
                  <a:pt x="2095500" y="65405"/>
                  <a:pt x="2095500" y="146050"/>
                </a:cubicBezTo>
                <a:lnTo>
                  <a:pt x="2095500" y="146050"/>
                </a:lnTo>
                <a:cubicBezTo>
                  <a:pt x="2095500" y="226695"/>
                  <a:pt x="2030095" y="292100"/>
                  <a:pt x="1949450" y="292100"/>
                </a:cubicBezTo>
                <a:lnTo>
                  <a:pt x="146050" y="292100"/>
                </a:lnTo>
                <a:cubicBezTo>
                  <a:pt x="65405" y="292100"/>
                  <a:pt x="0" y="226695"/>
                  <a:pt x="0" y="146050"/>
                </a:cubicBezTo>
                <a:lnTo>
                  <a:pt x="0" y="146050"/>
                </a:lnTo>
                <a:cubicBezTo>
                  <a:pt x="0" y="65405"/>
                  <a:pt x="65405" y="0"/>
                  <a:pt x="14605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lg1"/>
          <p:cNvSpPr/>
          <p:nvPr/>
        </p:nvSpPr>
        <p:spPr>
          <a:xfrm>
            <a:off x="1282700" y="1555750"/>
            <a:ext cx="127000" cy="508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lgt1"/>
          <p:cNvSpPr txBox="1"/>
          <p:nvPr/>
        </p:nvSpPr>
        <p:spPr>
          <a:xfrm>
            <a:off x="1461008" y="1500124"/>
            <a:ext cx="4978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本年订单</a:t>
            </a:r>
          </a:p>
        </p:txBody>
      </p:sp>
      <p:sp>
        <p:nvSpPr>
          <p:cNvPr id="54" name="lg2"/>
          <p:cNvSpPr/>
          <p:nvPr/>
        </p:nvSpPr>
        <p:spPr>
          <a:xfrm>
            <a:off x="2197100" y="1555750"/>
            <a:ext cx="127000" cy="50800"/>
          </a:xfrm>
          <a:prstGeom prst="roundRect">
            <a:avLst>
              <a:gd name="adj" fmla="val 50000"/>
            </a:avLst>
          </a:prstGeom>
          <a:solidFill>
            <a:srgbClr val="8FB4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lgt2"/>
          <p:cNvSpPr txBox="1"/>
          <p:nvPr/>
        </p:nvSpPr>
        <p:spPr>
          <a:xfrm>
            <a:off x="2375408" y="1500124"/>
            <a:ext cx="4978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上年同期</a:t>
            </a:r>
          </a:p>
        </p:txBody>
      </p:sp>
      <p:sp>
        <p:nvSpPr>
          <p:cNvPr id="56" name="kpi-panel"/>
          <p:cNvSpPr/>
          <p:nvPr/>
        </p:nvSpPr>
        <p:spPr>
          <a:xfrm>
            <a:off x="952500" y="5232400"/>
            <a:ext cx="10553700" cy="685800"/>
          </a:xfrm>
          <a:custGeom>
            <a:avLst/>
            <a:gdLst/>
            <a:ahLst/>
            <a:cxnLst/>
            <a:rect l="0" t="0" r="r" b="b"/>
            <a:pathLst>
              <a:path w="10553700" h="685800">
                <a:moveTo>
                  <a:pt x="101600" y="0"/>
                </a:moveTo>
                <a:lnTo>
                  <a:pt x="10452100" y="0"/>
                </a:lnTo>
                <a:cubicBezTo>
                  <a:pt x="10508234" y="0"/>
                  <a:pt x="10553700" y="45466"/>
                  <a:pt x="10553700" y="101600"/>
                </a:cubicBezTo>
                <a:lnTo>
                  <a:pt x="10553700" y="584200"/>
                </a:lnTo>
                <a:cubicBezTo>
                  <a:pt x="10553700" y="640334"/>
                  <a:pt x="10508234" y="685800"/>
                  <a:pt x="10452100" y="685800"/>
                </a:cubicBezTo>
                <a:lnTo>
                  <a:pt x="101600" y="685800"/>
                </a:lnTo>
                <a:cubicBezTo>
                  <a:pt x="45466" y="685800"/>
                  <a:pt x="0" y="640334"/>
                  <a:pt x="0" y="584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k-v-1"/>
          <p:cNvSpPr txBox="1"/>
          <p:nvPr/>
        </p:nvSpPr>
        <p:spPr>
          <a:xfrm>
            <a:off x="1329944" y="5302694"/>
            <a:ext cx="637794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900" b="1" spc="40">
                <a:solidFill>
                  <a:srgbClr val="0B3E8F"/>
                </a:solidFill>
                <a:latin typeface="Arial"/>
                <a:ea typeface="Arial"/>
                <a:cs typeface="Arial"/>
              </a:rPr>
              <a:t>902</a:t>
            </a:r>
          </a:p>
        </p:txBody>
      </p:sp>
      <p:sp>
        <p:nvSpPr>
          <p:cNvPr id="58" name="k-u-1"/>
          <p:cNvSpPr txBox="1"/>
          <p:nvPr/>
        </p:nvSpPr>
        <p:spPr>
          <a:xfrm>
            <a:off x="1854708" y="5475224"/>
            <a:ext cx="2946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千单</a:t>
            </a:r>
          </a:p>
        </p:txBody>
      </p:sp>
      <p:sp>
        <p:nvSpPr>
          <p:cNvPr id="59" name="k-l-1"/>
          <p:cNvSpPr txBox="1"/>
          <p:nvPr/>
        </p:nvSpPr>
        <p:spPr>
          <a:xfrm>
            <a:off x="1346708" y="5665724"/>
            <a:ext cx="71628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全年累计订单</a:t>
            </a:r>
          </a:p>
        </p:txBody>
      </p:sp>
      <p:cxnSp>
        <p:nvCxnSpPr>
          <p:cNvPr id="60" name="k-d-1"/>
          <p:cNvCxnSpPr/>
          <p:nvPr/>
        </p:nvCxnSpPr>
        <p:spPr>
          <a:xfrm>
            <a:off x="3683000" y="5410200"/>
            <a:ext cx="0" cy="3302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k-v-2"/>
          <p:cNvSpPr txBox="1"/>
          <p:nvPr/>
        </p:nvSpPr>
        <p:spPr>
          <a:xfrm>
            <a:off x="3984244" y="5302694"/>
            <a:ext cx="1058418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900" b="1" spc="40">
                <a:solidFill>
                  <a:srgbClr val="0B3E8F"/>
                </a:solidFill>
                <a:latin typeface="Arial"/>
                <a:ea typeface="Arial"/>
                <a:cs typeface="Arial"/>
              </a:rPr>
              <a:t>+48.6%</a:t>
            </a:r>
          </a:p>
        </p:txBody>
      </p:sp>
      <p:sp>
        <p:nvSpPr>
          <p:cNvPr id="62" name="k-l-2"/>
          <p:cNvSpPr txBox="1"/>
          <p:nvPr/>
        </p:nvSpPr>
        <p:spPr>
          <a:xfrm>
            <a:off x="4001008" y="5665724"/>
            <a:ext cx="5080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同比增长</a:t>
            </a:r>
          </a:p>
        </p:txBody>
      </p:sp>
      <p:cxnSp>
        <p:nvCxnSpPr>
          <p:cNvPr id="63" name="k-d-2"/>
          <p:cNvCxnSpPr/>
          <p:nvPr/>
        </p:nvCxnSpPr>
        <p:spPr>
          <a:xfrm>
            <a:off x="6337300" y="5410200"/>
            <a:ext cx="0" cy="3302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k-v-3"/>
          <p:cNvSpPr txBox="1"/>
          <p:nvPr/>
        </p:nvSpPr>
        <p:spPr>
          <a:xfrm>
            <a:off x="6638544" y="5302694"/>
            <a:ext cx="637794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900" b="1" spc="40">
                <a:solidFill>
                  <a:srgbClr val="0B3E8F"/>
                </a:solidFill>
                <a:latin typeface="Arial"/>
                <a:ea typeface="Arial"/>
                <a:cs typeface="Arial"/>
              </a:rPr>
              <a:t>124</a:t>
            </a:r>
          </a:p>
        </p:txBody>
      </p:sp>
      <p:sp>
        <p:nvSpPr>
          <p:cNvPr id="65" name="k-u-3"/>
          <p:cNvSpPr txBox="1"/>
          <p:nvPr/>
        </p:nvSpPr>
        <p:spPr>
          <a:xfrm>
            <a:off x="7163308" y="5475224"/>
            <a:ext cx="2946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千单</a:t>
            </a:r>
          </a:p>
        </p:txBody>
      </p:sp>
      <p:sp>
        <p:nvSpPr>
          <p:cNvPr id="66" name="k-l-3"/>
          <p:cNvSpPr txBox="1"/>
          <p:nvPr/>
        </p:nvSpPr>
        <p:spPr>
          <a:xfrm>
            <a:off x="6655308" y="5665724"/>
            <a:ext cx="79044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12 月单月峰值</a:t>
            </a:r>
          </a:p>
        </p:txBody>
      </p:sp>
      <p:cxnSp>
        <p:nvCxnSpPr>
          <p:cNvPr id="67" name="k-d-3"/>
          <p:cNvCxnSpPr/>
          <p:nvPr/>
        </p:nvCxnSpPr>
        <p:spPr>
          <a:xfrm>
            <a:off x="8991600" y="5410200"/>
            <a:ext cx="0" cy="3302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8" name="k-v-4"/>
          <p:cNvSpPr txBox="1"/>
          <p:nvPr/>
        </p:nvSpPr>
        <p:spPr>
          <a:xfrm>
            <a:off x="9292844" y="5302694"/>
            <a:ext cx="743966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900" b="1" spc="40">
                <a:solidFill>
                  <a:srgbClr val="0B3E8F"/>
                </a:solidFill>
                <a:latin typeface="Arial"/>
                <a:ea typeface="Arial"/>
                <a:cs typeface="Arial"/>
              </a:rPr>
              <a:t>11月</a:t>
            </a:r>
          </a:p>
        </p:txBody>
      </p:sp>
      <p:sp>
        <p:nvSpPr>
          <p:cNvPr id="69" name="k-l-4"/>
          <p:cNvSpPr txBox="1"/>
          <p:nvPr/>
        </p:nvSpPr>
        <p:spPr>
          <a:xfrm>
            <a:off x="9309608" y="5665724"/>
            <a:ext cx="71628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环比增速最高</a:t>
            </a:r>
          </a:p>
        </p:txBody>
      </p:sp>
      <p:cxnSp>
        <p:nvCxnSpPr>
          <p:cNvPr id="70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foot-l"/>
          <p:cNvSpPr txBox="1"/>
          <p:nvPr/>
        </p:nvSpPr>
        <p:spPr>
          <a:xfrm>
            <a:off x="573532" y="6532308"/>
            <a:ext cx="124218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订单趋势 · 全年十二个月</a:t>
            </a:r>
          </a:p>
        </p:txBody>
      </p:sp>
      <p:sp>
        <p:nvSpPr>
          <p:cNvPr id="72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品类收入结构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08165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REVENUE MIX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551799" y="673132"/>
            <a:ext cx="30689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六个季度三大品类的收入构成与占比变化（单位：百万元）</a:t>
            </a:r>
          </a:p>
        </p:txBody>
      </p:sp>
      <p:cxnSp>
        <p:nvCxnSpPr>
          <p:cNvPr id="10" name="grid-0"/>
          <p:cNvCxnSpPr/>
          <p:nvPr/>
        </p:nvCxnSpPr>
        <p:spPr>
          <a:xfrm>
            <a:off x="1270000" y="5080000"/>
            <a:ext cx="6223000" cy="0"/>
          </a:xfrm>
          <a:prstGeom prst="line">
            <a:avLst/>
          </a:prstGeom>
          <a:ln w="6350" cap="rnd">
            <a:solidFill>
              <a:srgbClr val="0B2545">
                <a:alpha val="1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gl-0"/>
          <p:cNvSpPr txBox="1"/>
          <p:nvPr/>
        </p:nvSpPr>
        <p:spPr>
          <a:xfrm>
            <a:off x="1053465" y="499411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0</a:t>
            </a:r>
          </a:p>
        </p:txBody>
      </p:sp>
      <p:cxnSp>
        <p:nvCxnSpPr>
          <p:cNvPr id="12" name="grid-70"/>
          <p:cNvCxnSpPr/>
          <p:nvPr/>
        </p:nvCxnSpPr>
        <p:spPr>
          <a:xfrm>
            <a:off x="1270000" y="4286250"/>
            <a:ext cx="6223000" cy="0"/>
          </a:xfrm>
          <a:prstGeom prst="line">
            <a:avLst/>
          </a:prstGeom>
          <a:ln w="6350" cap="rnd">
            <a:solidFill>
              <a:srgbClr val="0B2545">
                <a:alpha val="9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gl-70"/>
          <p:cNvSpPr txBox="1"/>
          <p:nvPr/>
        </p:nvSpPr>
        <p:spPr>
          <a:xfrm>
            <a:off x="1000125" y="420036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70</a:t>
            </a:r>
          </a:p>
        </p:txBody>
      </p:sp>
      <p:cxnSp>
        <p:nvCxnSpPr>
          <p:cNvPr id="14" name="grid-140"/>
          <p:cNvCxnSpPr/>
          <p:nvPr/>
        </p:nvCxnSpPr>
        <p:spPr>
          <a:xfrm>
            <a:off x="1270000" y="3492500"/>
            <a:ext cx="6223000" cy="0"/>
          </a:xfrm>
          <a:prstGeom prst="line">
            <a:avLst/>
          </a:prstGeom>
          <a:ln w="6350" cap="rnd">
            <a:solidFill>
              <a:srgbClr val="0B2545">
                <a:alpha val="9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gl-140"/>
          <p:cNvSpPr txBox="1"/>
          <p:nvPr/>
        </p:nvSpPr>
        <p:spPr>
          <a:xfrm>
            <a:off x="946785" y="3406616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140</a:t>
            </a:r>
          </a:p>
        </p:txBody>
      </p:sp>
      <p:cxnSp>
        <p:nvCxnSpPr>
          <p:cNvPr id="16" name="grid-210"/>
          <p:cNvCxnSpPr/>
          <p:nvPr/>
        </p:nvCxnSpPr>
        <p:spPr>
          <a:xfrm>
            <a:off x="1270000" y="2698750"/>
            <a:ext cx="6223000" cy="0"/>
          </a:xfrm>
          <a:prstGeom prst="line">
            <a:avLst/>
          </a:prstGeom>
          <a:ln w="6350" cap="rnd">
            <a:solidFill>
              <a:srgbClr val="0B2545">
                <a:alpha val="9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gl-210"/>
          <p:cNvSpPr txBox="1"/>
          <p:nvPr/>
        </p:nvSpPr>
        <p:spPr>
          <a:xfrm>
            <a:off x="946785" y="2612866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210</a:t>
            </a:r>
          </a:p>
        </p:txBody>
      </p:sp>
      <p:cxnSp>
        <p:nvCxnSpPr>
          <p:cNvPr id="18" name="grid-280"/>
          <p:cNvCxnSpPr/>
          <p:nvPr/>
        </p:nvCxnSpPr>
        <p:spPr>
          <a:xfrm>
            <a:off x="1270000" y="1905000"/>
            <a:ext cx="6223000" cy="0"/>
          </a:xfrm>
          <a:prstGeom prst="line">
            <a:avLst/>
          </a:prstGeom>
          <a:ln w="6350" cap="rnd">
            <a:solidFill>
              <a:srgbClr val="0B2545">
                <a:alpha val="9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gl-280"/>
          <p:cNvSpPr txBox="1"/>
          <p:nvPr/>
        </p:nvSpPr>
        <p:spPr>
          <a:xfrm>
            <a:off x="946785" y="1819116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280</a:t>
            </a:r>
          </a:p>
        </p:txBody>
      </p:sp>
      <p:sp>
        <p:nvSpPr>
          <p:cNvPr id="20" name="seg-1-1"/>
          <p:cNvSpPr/>
          <p:nvPr/>
        </p:nvSpPr>
        <p:spPr>
          <a:xfrm>
            <a:off x="1658429" y="4104830"/>
            <a:ext cx="609600" cy="975170"/>
          </a:xfrm>
          <a:custGeom>
            <a:avLst/>
            <a:gdLst/>
            <a:ahLst/>
            <a:cxnLst/>
            <a:rect l="0" t="0" r="r" b="b"/>
            <a:pathLst>
              <a:path w="609600" h="975170">
                <a:moveTo>
                  <a:pt x="0" y="0"/>
                </a:moveTo>
                <a:lnTo>
                  <a:pt x="609600" y="0"/>
                </a:lnTo>
                <a:cubicBezTo>
                  <a:pt x="609600" y="0"/>
                  <a:pt x="609600" y="0"/>
                  <a:pt x="609600" y="0"/>
                </a:cubicBezTo>
                <a:lnTo>
                  <a:pt x="609600" y="975170"/>
                </a:lnTo>
                <a:cubicBezTo>
                  <a:pt x="609600" y="975170"/>
                  <a:pt x="609600" y="975170"/>
                  <a:pt x="609600" y="975170"/>
                </a:cubicBezTo>
                <a:lnTo>
                  <a:pt x="0" y="975170"/>
                </a:lnTo>
                <a:cubicBezTo>
                  <a:pt x="0" y="975170"/>
                  <a:pt x="0" y="975170"/>
                  <a:pt x="0" y="975170"/>
                </a:cubicBezTo>
                <a:lnTo>
                  <a:pt x="0" y="0"/>
                </a:ln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D599F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sv-1-1"/>
          <p:cNvSpPr txBox="1"/>
          <p:nvPr/>
        </p:nvSpPr>
        <p:spPr>
          <a:xfrm>
            <a:off x="1867006" y="4512877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86</a:t>
            </a:r>
          </a:p>
        </p:txBody>
      </p:sp>
      <p:sp>
        <p:nvSpPr>
          <p:cNvPr id="22" name="seg-1-2"/>
          <p:cNvSpPr/>
          <p:nvPr/>
        </p:nvSpPr>
        <p:spPr>
          <a:xfrm>
            <a:off x="1658429" y="3628580"/>
            <a:ext cx="609600" cy="476250"/>
          </a:xfrm>
          <a:custGeom>
            <a:avLst/>
            <a:gdLst/>
            <a:ahLst/>
            <a:cxnLst/>
            <a:rect l="0" t="0" r="r" b="b"/>
            <a:pathLst>
              <a:path w="609600" h="476250">
                <a:moveTo>
                  <a:pt x="0" y="0"/>
                </a:moveTo>
                <a:lnTo>
                  <a:pt x="609600" y="0"/>
                </a:lnTo>
                <a:cubicBezTo>
                  <a:pt x="609600" y="0"/>
                  <a:pt x="609600" y="0"/>
                  <a:pt x="609600" y="0"/>
                </a:cubicBezTo>
                <a:lnTo>
                  <a:pt x="609600" y="476250"/>
                </a:lnTo>
                <a:cubicBezTo>
                  <a:pt x="609600" y="476250"/>
                  <a:pt x="609600" y="476250"/>
                  <a:pt x="609600" y="476250"/>
                </a:cubicBezTo>
                <a:lnTo>
                  <a:pt x="0" y="476250"/>
                </a:lnTo>
                <a:cubicBezTo>
                  <a:pt x="0" y="476250"/>
                  <a:pt x="0" y="476250"/>
                  <a:pt x="0" y="476250"/>
                </a:cubicBezTo>
                <a:lnTo>
                  <a:pt x="0" y="0"/>
                </a:ln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437DC0"/>
              </a:gs>
              <a:gs pos="100000">
                <a:srgbClr val="2468B6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sv-1-2"/>
          <p:cNvSpPr txBox="1"/>
          <p:nvPr/>
        </p:nvSpPr>
        <p:spPr>
          <a:xfrm>
            <a:off x="1867006" y="3787163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42</a:t>
            </a:r>
          </a:p>
        </p:txBody>
      </p:sp>
      <p:sp>
        <p:nvSpPr>
          <p:cNvPr id="24" name="seg-1-3"/>
          <p:cNvSpPr/>
          <p:nvPr/>
        </p:nvSpPr>
        <p:spPr>
          <a:xfrm>
            <a:off x="1658430" y="3424492"/>
            <a:ext cx="609600" cy="204089"/>
          </a:xfrm>
          <a:custGeom>
            <a:avLst/>
            <a:gdLst/>
            <a:ahLst/>
            <a:cxnLst/>
            <a:rect l="0" t="0" r="r" b="b"/>
            <a:pathLst>
              <a:path w="609600" h="204089">
                <a:moveTo>
                  <a:pt x="0" y="204089"/>
                </a:moveTo>
                <a:lnTo>
                  <a:pt x="0" y="63500"/>
                </a:lnTo>
                <a:cubicBezTo>
                  <a:pt x="0" y="28385"/>
                  <a:pt x="28384" y="0"/>
                  <a:pt x="63500" y="0"/>
                </a:cubicBezTo>
                <a:lnTo>
                  <a:pt x="546100" y="0"/>
                </a:lnTo>
                <a:cubicBezTo>
                  <a:pt x="581152" y="0"/>
                  <a:pt x="609600" y="28385"/>
                  <a:pt x="609600" y="63500"/>
                </a:cubicBezTo>
                <a:lnTo>
                  <a:pt x="609600" y="204089"/>
                </a:lnTo>
                <a:close/>
              </a:path>
            </a:pathLst>
          </a:custGeom>
          <a:gradFill rotWithShape="1">
            <a:gsLst>
              <a:gs pos="0">
                <a:srgbClr val="60A3DD"/>
              </a:gs>
              <a:gs pos="100000">
                <a:srgbClr val="4694D7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sv-1-3"/>
          <p:cNvSpPr txBox="1"/>
          <p:nvPr/>
        </p:nvSpPr>
        <p:spPr>
          <a:xfrm>
            <a:off x="1867006" y="3446984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18</a:t>
            </a:r>
          </a:p>
        </p:txBody>
      </p:sp>
      <p:sp>
        <p:nvSpPr>
          <p:cNvPr id="26" name="tot-1"/>
          <p:cNvSpPr txBox="1"/>
          <p:nvPr/>
        </p:nvSpPr>
        <p:spPr>
          <a:xfrm>
            <a:off x="1807570" y="3148462"/>
            <a:ext cx="31127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146</a:t>
            </a:r>
          </a:p>
        </p:txBody>
      </p:sp>
      <p:sp>
        <p:nvSpPr>
          <p:cNvPr id="27" name="x-1"/>
          <p:cNvSpPr txBox="1"/>
          <p:nvPr/>
        </p:nvSpPr>
        <p:spPr>
          <a:xfrm>
            <a:off x="1798616" y="5195824"/>
            <a:ext cx="32918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Arial"/>
                <a:ea typeface="Arial"/>
                <a:cs typeface="Arial"/>
              </a:rPr>
              <a:t>24Q3</a:t>
            </a:r>
          </a:p>
        </p:txBody>
      </p:sp>
      <p:sp>
        <p:nvSpPr>
          <p:cNvPr id="28" name="seg-2-1"/>
          <p:cNvSpPr/>
          <p:nvPr/>
        </p:nvSpPr>
        <p:spPr>
          <a:xfrm>
            <a:off x="2663825" y="4036758"/>
            <a:ext cx="609600" cy="1043242"/>
          </a:xfrm>
          <a:custGeom>
            <a:avLst/>
            <a:gdLst/>
            <a:ahLst/>
            <a:cxnLst/>
            <a:rect l="0" t="0" r="r" b="b"/>
            <a:pathLst>
              <a:path w="609600" h="1043242">
                <a:moveTo>
                  <a:pt x="0" y="0"/>
                </a:moveTo>
                <a:lnTo>
                  <a:pt x="609600" y="0"/>
                </a:lnTo>
                <a:cubicBezTo>
                  <a:pt x="609600" y="0"/>
                  <a:pt x="609600" y="0"/>
                  <a:pt x="609600" y="0"/>
                </a:cubicBezTo>
                <a:lnTo>
                  <a:pt x="609600" y="1043242"/>
                </a:lnTo>
                <a:cubicBezTo>
                  <a:pt x="609600" y="1043242"/>
                  <a:pt x="609600" y="1043242"/>
                  <a:pt x="609600" y="1043242"/>
                </a:cubicBezTo>
                <a:lnTo>
                  <a:pt x="0" y="1043242"/>
                </a:lnTo>
                <a:cubicBezTo>
                  <a:pt x="0" y="1043242"/>
                  <a:pt x="0" y="1043242"/>
                  <a:pt x="0" y="1043242"/>
                </a:cubicBezTo>
                <a:lnTo>
                  <a:pt x="0" y="0"/>
                </a:ln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D599F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sv-2-1"/>
          <p:cNvSpPr txBox="1"/>
          <p:nvPr/>
        </p:nvSpPr>
        <p:spPr>
          <a:xfrm>
            <a:off x="2872422" y="4478859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92</a:t>
            </a:r>
          </a:p>
        </p:txBody>
      </p:sp>
      <p:sp>
        <p:nvSpPr>
          <p:cNvPr id="30" name="seg-2-2"/>
          <p:cNvSpPr/>
          <p:nvPr/>
        </p:nvSpPr>
        <p:spPr>
          <a:xfrm>
            <a:off x="2663825" y="3447161"/>
            <a:ext cx="609600" cy="589598"/>
          </a:xfrm>
          <a:custGeom>
            <a:avLst/>
            <a:gdLst/>
            <a:ahLst/>
            <a:cxnLst/>
            <a:rect l="0" t="0" r="r" b="b"/>
            <a:pathLst>
              <a:path w="609600" h="589598">
                <a:moveTo>
                  <a:pt x="0" y="0"/>
                </a:moveTo>
                <a:lnTo>
                  <a:pt x="609600" y="0"/>
                </a:lnTo>
                <a:cubicBezTo>
                  <a:pt x="609600" y="0"/>
                  <a:pt x="609600" y="0"/>
                  <a:pt x="609600" y="0"/>
                </a:cubicBezTo>
                <a:lnTo>
                  <a:pt x="609600" y="589598"/>
                </a:lnTo>
                <a:cubicBezTo>
                  <a:pt x="609600" y="589598"/>
                  <a:pt x="609600" y="589598"/>
                  <a:pt x="609600" y="589598"/>
                </a:cubicBezTo>
                <a:lnTo>
                  <a:pt x="0" y="589598"/>
                </a:lnTo>
                <a:cubicBezTo>
                  <a:pt x="0" y="589598"/>
                  <a:pt x="0" y="589598"/>
                  <a:pt x="0" y="589598"/>
                </a:cubicBezTo>
                <a:lnTo>
                  <a:pt x="0" y="0"/>
                </a:ln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437DC0"/>
              </a:gs>
              <a:gs pos="100000">
                <a:srgbClr val="2468B6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sv-2-2"/>
          <p:cNvSpPr txBox="1"/>
          <p:nvPr/>
        </p:nvSpPr>
        <p:spPr>
          <a:xfrm>
            <a:off x="2872422" y="3662431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52</a:t>
            </a:r>
          </a:p>
        </p:txBody>
      </p:sp>
      <p:sp>
        <p:nvSpPr>
          <p:cNvPr id="32" name="seg-2-3"/>
          <p:cNvSpPr/>
          <p:nvPr/>
        </p:nvSpPr>
        <p:spPr>
          <a:xfrm>
            <a:off x="2663825" y="3197670"/>
            <a:ext cx="609600" cy="249492"/>
          </a:xfrm>
          <a:custGeom>
            <a:avLst/>
            <a:gdLst/>
            <a:ahLst/>
            <a:cxnLst/>
            <a:rect l="0" t="0" r="r" b="b"/>
            <a:pathLst>
              <a:path w="609600" h="249492">
                <a:moveTo>
                  <a:pt x="0" y="249492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546100" y="0"/>
                </a:lnTo>
                <a:cubicBezTo>
                  <a:pt x="581152" y="0"/>
                  <a:pt x="609600" y="28448"/>
                  <a:pt x="609600" y="63500"/>
                </a:cubicBezTo>
                <a:lnTo>
                  <a:pt x="609600" y="249492"/>
                </a:lnTo>
                <a:close/>
              </a:path>
            </a:pathLst>
          </a:custGeom>
          <a:gradFill rotWithShape="1">
            <a:gsLst>
              <a:gs pos="0">
                <a:srgbClr val="60A3DD"/>
              </a:gs>
              <a:gs pos="100000">
                <a:srgbClr val="4694D7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sv-2-3"/>
          <p:cNvSpPr txBox="1"/>
          <p:nvPr/>
        </p:nvSpPr>
        <p:spPr>
          <a:xfrm>
            <a:off x="2872422" y="3242877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22</a:t>
            </a:r>
          </a:p>
        </p:txBody>
      </p:sp>
      <p:sp>
        <p:nvSpPr>
          <p:cNvPr id="34" name="tot-2"/>
          <p:cNvSpPr txBox="1"/>
          <p:nvPr/>
        </p:nvSpPr>
        <p:spPr>
          <a:xfrm>
            <a:off x="2812986" y="2921676"/>
            <a:ext cx="31127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166</a:t>
            </a:r>
          </a:p>
        </p:txBody>
      </p:sp>
      <p:sp>
        <p:nvSpPr>
          <p:cNvPr id="35" name="x-2"/>
          <p:cNvSpPr txBox="1"/>
          <p:nvPr/>
        </p:nvSpPr>
        <p:spPr>
          <a:xfrm>
            <a:off x="2804033" y="5195824"/>
            <a:ext cx="32918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Arial"/>
                <a:ea typeface="Arial"/>
                <a:cs typeface="Arial"/>
              </a:rPr>
              <a:t>24Q4</a:t>
            </a:r>
          </a:p>
        </p:txBody>
      </p:sp>
      <p:sp>
        <p:nvSpPr>
          <p:cNvPr id="36" name="seg-3-1"/>
          <p:cNvSpPr/>
          <p:nvPr/>
        </p:nvSpPr>
        <p:spPr>
          <a:xfrm>
            <a:off x="3669220" y="4082161"/>
            <a:ext cx="609600" cy="997839"/>
          </a:xfrm>
          <a:custGeom>
            <a:avLst/>
            <a:gdLst/>
            <a:ahLst/>
            <a:cxnLst/>
            <a:rect l="0" t="0" r="r" b="b"/>
            <a:pathLst>
              <a:path w="609600" h="997839">
                <a:moveTo>
                  <a:pt x="0" y="0"/>
                </a:moveTo>
                <a:lnTo>
                  <a:pt x="609600" y="0"/>
                </a:lnTo>
                <a:cubicBezTo>
                  <a:pt x="609600" y="0"/>
                  <a:pt x="609600" y="0"/>
                  <a:pt x="609600" y="0"/>
                </a:cubicBezTo>
                <a:lnTo>
                  <a:pt x="609600" y="997839"/>
                </a:lnTo>
                <a:cubicBezTo>
                  <a:pt x="609600" y="997839"/>
                  <a:pt x="609600" y="997839"/>
                  <a:pt x="609600" y="997839"/>
                </a:cubicBezTo>
                <a:lnTo>
                  <a:pt x="0" y="997839"/>
                </a:lnTo>
                <a:cubicBezTo>
                  <a:pt x="0" y="997839"/>
                  <a:pt x="0" y="997839"/>
                  <a:pt x="0" y="997839"/>
                </a:cubicBezTo>
                <a:lnTo>
                  <a:pt x="0" y="0"/>
                </a:ln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D599F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sv-3-1"/>
          <p:cNvSpPr txBox="1"/>
          <p:nvPr/>
        </p:nvSpPr>
        <p:spPr>
          <a:xfrm>
            <a:off x="3877839" y="4501538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88</a:t>
            </a:r>
          </a:p>
        </p:txBody>
      </p:sp>
      <p:sp>
        <p:nvSpPr>
          <p:cNvPr id="38" name="seg-3-2"/>
          <p:cNvSpPr/>
          <p:nvPr/>
        </p:nvSpPr>
        <p:spPr>
          <a:xfrm>
            <a:off x="3669220" y="3390455"/>
            <a:ext cx="609600" cy="691706"/>
          </a:xfrm>
          <a:custGeom>
            <a:avLst/>
            <a:gdLst/>
            <a:ahLst/>
            <a:cxnLst/>
            <a:rect l="0" t="0" r="r" b="b"/>
            <a:pathLst>
              <a:path w="609600" h="691706">
                <a:moveTo>
                  <a:pt x="0" y="0"/>
                </a:moveTo>
                <a:lnTo>
                  <a:pt x="609600" y="0"/>
                </a:lnTo>
                <a:cubicBezTo>
                  <a:pt x="609600" y="0"/>
                  <a:pt x="609600" y="0"/>
                  <a:pt x="609600" y="0"/>
                </a:cubicBezTo>
                <a:lnTo>
                  <a:pt x="609600" y="691706"/>
                </a:lnTo>
                <a:cubicBezTo>
                  <a:pt x="609600" y="691706"/>
                  <a:pt x="609600" y="691706"/>
                  <a:pt x="609600" y="691706"/>
                </a:cubicBezTo>
                <a:lnTo>
                  <a:pt x="0" y="691706"/>
                </a:lnTo>
                <a:cubicBezTo>
                  <a:pt x="0" y="691706"/>
                  <a:pt x="0" y="691706"/>
                  <a:pt x="0" y="691706"/>
                </a:cubicBezTo>
                <a:lnTo>
                  <a:pt x="0" y="0"/>
                </a:ln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437DC0"/>
              </a:gs>
              <a:gs pos="100000">
                <a:srgbClr val="2468B6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sv-3-2"/>
          <p:cNvSpPr txBox="1"/>
          <p:nvPr/>
        </p:nvSpPr>
        <p:spPr>
          <a:xfrm>
            <a:off x="3877839" y="3656761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61</a:t>
            </a:r>
          </a:p>
        </p:txBody>
      </p:sp>
      <p:sp>
        <p:nvSpPr>
          <p:cNvPr id="40" name="seg-3-3"/>
          <p:cNvSpPr/>
          <p:nvPr/>
        </p:nvSpPr>
        <p:spPr>
          <a:xfrm>
            <a:off x="3669221" y="3095625"/>
            <a:ext cx="609600" cy="294830"/>
          </a:xfrm>
          <a:custGeom>
            <a:avLst/>
            <a:gdLst/>
            <a:ahLst/>
            <a:cxnLst/>
            <a:rect l="0" t="0" r="r" b="b"/>
            <a:pathLst>
              <a:path w="609600" h="294830">
                <a:moveTo>
                  <a:pt x="0" y="294830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546100" y="0"/>
                </a:lnTo>
                <a:cubicBezTo>
                  <a:pt x="581215" y="0"/>
                  <a:pt x="609600" y="28448"/>
                  <a:pt x="609600" y="63500"/>
                </a:cubicBezTo>
                <a:lnTo>
                  <a:pt x="609600" y="294830"/>
                </a:lnTo>
                <a:close/>
              </a:path>
            </a:pathLst>
          </a:custGeom>
          <a:gradFill rotWithShape="1">
            <a:gsLst>
              <a:gs pos="0">
                <a:srgbClr val="60A3DD"/>
              </a:gs>
              <a:gs pos="100000">
                <a:srgbClr val="4694D7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sv-3-3"/>
          <p:cNvSpPr txBox="1"/>
          <p:nvPr/>
        </p:nvSpPr>
        <p:spPr>
          <a:xfrm>
            <a:off x="3877839" y="3163502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26</a:t>
            </a:r>
          </a:p>
        </p:txBody>
      </p:sp>
      <p:sp>
        <p:nvSpPr>
          <p:cNvPr id="42" name="tot-3"/>
          <p:cNvSpPr txBox="1"/>
          <p:nvPr/>
        </p:nvSpPr>
        <p:spPr>
          <a:xfrm>
            <a:off x="3818403" y="2819622"/>
            <a:ext cx="31127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175</a:t>
            </a:r>
          </a:p>
        </p:txBody>
      </p:sp>
      <p:sp>
        <p:nvSpPr>
          <p:cNvPr id="43" name="x-3"/>
          <p:cNvSpPr txBox="1"/>
          <p:nvPr/>
        </p:nvSpPr>
        <p:spPr>
          <a:xfrm>
            <a:off x="3809450" y="5195824"/>
            <a:ext cx="32918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Arial"/>
                <a:ea typeface="Arial"/>
                <a:cs typeface="Arial"/>
              </a:rPr>
              <a:t>25Q1</a:t>
            </a:r>
          </a:p>
        </p:txBody>
      </p:sp>
      <p:sp>
        <p:nvSpPr>
          <p:cNvPr id="44" name="seg-4-1"/>
          <p:cNvSpPr/>
          <p:nvPr/>
        </p:nvSpPr>
        <p:spPr>
          <a:xfrm>
            <a:off x="4674679" y="3991419"/>
            <a:ext cx="609600" cy="1088581"/>
          </a:xfrm>
          <a:custGeom>
            <a:avLst/>
            <a:gdLst/>
            <a:ahLst/>
            <a:cxnLst/>
            <a:rect l="0" t="0" r="r" b="b"/>
            <a:pathLst>
              <a:path w="609600" h="1088581">
                <a:moveTo>
                  <a:pt x="0" y="0"/>
                </a:moveTo>
                <a:lnTo>
                  <a:pt x="609600" y="0"/>
                </a:lnTo>
                <a:cubicBezTo>
                  <a:pt x="609600" y="0"/>
                  <a:pt x="609600" y="0"/>
                  <a:pt x="609600" y="0"/>
                </a:cubicBezTo>
                <a:lnTo>
                  <a:pt x="609600" y="1088581"/>
                </a:lnTo>
                <a:cubicBezTo>
                  <a:pt x="609600" y="1088581"/>
                  <a:pt x="609600" y="1088581"/>
                  <a:pt x="609600" y="1088581"/>
                </a:cubicBezTo>
                <a:lnTo>
                  <a:pt x="0" y="1088581"/>
                </a:lnTo>
                <a:cubicBezTo>
                  <a:pt x="0" y="1088581"/>
                  <a:pt x="0" y="1088581"/>
                  <a:pt x="0" y="1088581"/>
                </a:cubicBezTo>
                <a:lnTo>
                  <a:pt x="0" y="0"/>
                </a:ln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D599F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sv-4-1"/>
          <p:cNvSpPr txBox="1"/>
          <p:nvPr/>
        </p:nvSpPr>
        <p:spPr>
          <a:xfrm>
            <a:off x="4883256" y="4456181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96</a:t>
            </a:r>
          </a:p>
        </p:txBody>
      </p:sp>
      <p:sp>
        <p:nvSpPr>
          <p:cNvPr id="46" name="seg-4-2"/>
          <p:cNvSpPr/>
          <p:nvPr/>
        </p:nvSpPr>
        <p:spPr>
          <a:xfrm>
            <a:off x="4674679" y="3152330"/>
            <a:ext cx="609600" cy="839089"/>
          </a:xfrm>
          <a:custGeom>
            <a:avLst/>
            <a:gdLst/>
            <a:ahLst/>
            <a:cxnLst/>
            <a:rect l="0" t="0" r="r" b="b"/>
            <a:pathLst>
              <a:path w="609600" h="839089">
                <a:moveTo>
                  <a:pt x="0" y="0"/>
                </a:moveTo>
                <a:lnTo>
                  <a:pt x="609600" y="0"/>
                </a:lnTo>
                <a:cubicBezTo>
                  <a:pt x="609600" y="0"/>
                  <a:pt x="609600" y="0"/>
                  <a:pt x="609600" y="0"/>
                </a:cubicBezTo>
                <a:lnTo>
                  <a:pt x="609600" y="839089"/>
                </a:lnTo>
                <a:cubicBezTo>
                  <a:pt x="609600" y="839089"/>
                  <a:pt x="609600" y="839089"/>
                  <a:pt x="609600" y="839089"/>
                </a:cubicBezTo>
                <a:lnTo>
                  <a:pt x="0" y="839089"/>
                </a:lnTo>
                <a:cubicBezTo>
                  <a:pt x="0" y="839089"/>
                  <a:pt x="0" y="839089"/>
                  <a:pt x="0" y="839089"/>
                </a:cubicBezTo>
                <a:lnTo>
                  <a:pt x="0" y="0"/>
                </a:ln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437DC0"/>
              </a:gs>
              <a:gs pos="100000">
                <a:srgbClr val="2468B6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sv-4-2"/>
          <p:cNvSpPr txBox="1"/>
          <p:nvPr/>
        </p:nvSpPr>
        <p:spPr>
          <a:xfrm>
            <a:off x="4883256" y="3492341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74</a:t>
            </a:r>
          </a:p>
        </p:txBody>
      </p:sp>
      <p:sp>
        <p:nvSpPr>
          <p:cNvPr id="48" name="seg-4-3"/>
          <p:cNvSpPr/>
          <p:nvPr/>
        </p:nvSpPr>
        <p:spPr>
          <a:xfrm>
            <a:off x="4674680" y="2800794"/>
            <a:ext cx="609600" cy="351536"/>
          </a:xfrm>
          <a:custGeom>
            <a:avLst/>
            <a:gdLst/>
            <a:ahLst/>
            <a:cxnLst/>
            <a:rect l="0" t="0" r="r" b="b"/>
            <a:pathLst>
              <a:path w="609600" h="351536">
                <a:moveTo>
                  <a:pt x="0" y="351536"/>
                </a:moveTo>
                <a:lnTo>
                  <a:pt x="0" y="63500"/>
                </a:lnTo>
                <a:cubicBezTo>
                  <a:pt x="0" y="28448"/>
                  <a:pt x="28385" y="0"/>
                  <a:pt x="63500" y="0"/>
                </a:cubicBezTo>
                <a:lnTo>
                  <a:pt x="546100" y="0"/>
                </a:lnTo>
                <a:cubicBezTo>
                  <a:pt x="581152" y="0"/>
                  <a:pt x="609600" y="28448"/>
                  <a:pt x="609600" y="63500"/>
                </a:cubicBezTo>
                <a:lnTo>
                  <a:pt x="609600" y="351536"/>
                </a:lnTo>
                <a:close/>
              </a:path>
            </a:pathLst>
          </a:custGeom>
          <a:gradFill rotWithShape="1">
            <a:gsLst>
              <a:gs pos="0">
                <a:srgbClr val="60A3DD"/>
              </a:gs>
              <a:gs pos="100000">
                <a:srgbClr val="4694D7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sv-4-3"/>
          <p:cNvSpPr txBox="1"/>
          <p:nvPr/>
        </p:nvSpPr>
        <p:spPr>
          <a:xfrm>
            <a:off x="4883256" y="2897029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31</a:t>
            </a:r>
          </a:p>
        </p:txBody>
      </p:sp>
      <p:sp>
        <p:nvSpPr>
          <p:cNvPr id="50" name="tot-4"/>
          <p:cNvSpPr txBox="1"/>
          <p:nvPr/>
        </p:nvSpPr>
        <p:spPr>
          <a:xfrm>
            <a:off x="4823820" y="2524801"/>
            <a:ext cx="31127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201</a:t>
            </a:r>
          </a:p>
        </p:txBody>
      </p:sp>
      <p:sp>
        <p:nvSpPr>
          <p:cNvPr id="51" name="x-4"/>
          <p:cNvSpPr txBox="1"/>
          <p:nvPr/>
        </p:nvSpPr>
        <p:spPr>
          <a:xfrm>
            <a:off x="4814866" y="5195824"/>
            <a:ext cx="32918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Arial"/>
                <a:ea typeface="Arial"/>
                <a:cs typeface="Arial"/>
              </a:rPr>
              <a:t>25Q2</a:t>
            </a:r>
          </a:p>
        </p:txBody>
      </p:sp>
      <p:sp>
        <p:nvSpPr>
          <p:cNvPr id="52" name="seg-5-1"/>
          <p:cNvSpPr/>
          <p:nvPr/>
        </p:nvSpPr>
        <p:spPr>
          <a:xfrm>
            <a:off x="5680075" y="3923411"/>
            <a:ext cx="609600" cy="1156589"/>
          </a:xfrm>
          <a:custGeom>
            <a:avLst/>
            <a:gdLst/>
            <a:ahLst/>
            <a:cxnLst/>
            <a:rect l="0" t="0" r="r" b="b"/>
            <a:pathLst>
              <a:path w="609600" h="1156589">
                <a:moveTo>
                  <a:pt x="0" y="0"/>
                </a:moveTo>
                <a:lnTo>
                  <a:pt x="609600" y="0"/>
                </a:lnTo>
                <a:cubicBezTo>
                  <a:pt x="609600" y="0"/>
                  <a:pt x="609600" y="0"/>
                  <a:pt x="609600" y="0"/>
                </a:cubicBezTo>
                <a:lnTo>
                  <a:pt x="609600" y="1156589"/>
                </a:lnTo>
                <a:cubicBezTo>
                  <a:pt x="609600" y="1156589"/>
                  <a:pt x="609600" y="1156589"/>
                  <a:pt x="609600" y="1156589"/>
                </a:cubicBezTo>
                <a:lnTo>
                  <a:pt x="0" y="1156589"/>
                </a:lnTo>
                <a:cubicBezTo>
                  <a:pt x="0" y="1156589"/>
                  <a:pt x="0" y="1156589"/>
                  <a:pt x="0" y="1156589"/>
                </a:cubicBezTo>
                <a:lnTo>
                  <a:pt x="0" y="0"/>
                </a:ln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D599F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sv-5-1"/>
          <p:cNvSpPr txBox="1"/>
          <p:nvPr/>
        </p:nvSpPr>
        <p:spPr>
          <a:xfrm>
            <a:off x="5862002" y="4422163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102</a:t>
            </a:r>
          </a:p>
        </p:txBody>
      </p:sp>
      <p:sp>
        <p:nvSpPr>
          <p:cNvPr id="54" name="seg-5-2"/>
          <p:cNvSpPr/>
          <p:nvPr/>
        </p:nvSpPr>
        <p:spPr>
          <a:xfrm>
            <a:off x="5680075" y="2925508"/>
            <a:ext cx="609600" cy="997903"/>
          </a:xfrm>
          <a:custGeom>
            <a:avLst/>
            <a:gdLst/>
            <a:ahLst/>
            <a:cxnLst/>
            <a:rect l="0" t="0" r="r" b="b"/>
            <a:pathLst>
              <a:path w="609600" h="997903">
                <a:moveTo>
                  <a:pt x="0" y="0"/>
                </a:moveTo>
                <a:lnTo>
                  <a:pt x="609600" y="0"/>
                </a:lnTo>
                <a:cubicBezTo>
                  <a:pt x="609600" y="0"/>
                  <a:pt x="609600" y="0"/>
                  <a:pt x="609600" y="0"/>
                </a:cubicBezTo>
                <a:lnTo>
                  <a:pt x="609600" y="997903"/>
                </a:lnTo>
                <a:cubicBezTo>
                  <a:pt x="609600" y="997903"/>
                  <a:pt x="609600" y="997903"/>
                  <a:pt x="609600" y="997903"/>
                </a:cubicBezTo>
                <a:lnTo>
                  <a:pt x="0" y="997903"/>
                </a:lnTo>
                <a:cubicBezTo>
                  <a:pt x="0" y="997903"/>
                  <a:pt x="0" y="997903"/>
                  <a:pt x="0" y="997903"/>
                </a:cubicBezTo>
                <a:lnTo>
                  <a:pt x="0" y="0"/>
                </a:ln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437DC0"/>
              </a:gs>
              <a:gs pos="100000">
                <a:srgbClr val="2468B6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sv-5-2"/>
          <p:cNvSpPr txBox="1"/>
          <p:nvPr/>
        </p:nvSpPr>
        <p:spPr>
          <a:xfrm>
            <a:off x="5888672" y="3344931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88</a:t>
            </a:r>
          </a:p>
        </p:txBody>
      </p:sp>
      <p:sp>
        <p:nvSpPr>
          <p:cNvPr id="56" name="seg-5-3"/>
          <p:cNvSpPr/>
          <p:nvPr/>
        </p:nvSpPr>
        <p:spPr>
          <a:xfrm>
            <a:off x="5680075" y="2494661"/>
            <a:ext cx="609600" cy="430847"/>
          </a:xfrm>
          <a:custGeom>
            <a:avLst/>
            <a:gdLst/>
            <a:ahLst/>
            <a:cxnLst/>
            <a:rect l="0" t="0" r="r" b="b"/>
            <a:pathLst>
              <a:path w="609600" h="430847">
                <a:moveTo>
                  <a:pt x="0" y="430847"/>
                </a:moveTo>
                <a:lnTo>
                  <a:pt x="0" y="63500"/>
                </a:lnTo>
                <a:cubicBezTo>
                  <a:pt x="0" y="28384"/>
                  <a:pt x="28448" y="0"/>
                  <a:pt x="63500" y="0"/>
                </a:cubicBezTo>
                <a:lnTo>
                  <a:pt x="546100" y="0"/>
                </a:lnTo>
                <a:cubicBezTo>
                  <a:pt x="581152" y="0"/>
                  <a:pt x="609600" y="28384"/>
                  <a:pt x="609600" y="63500"/>
                </a:cubicBezTo>
                <a:lnTo>
                  <a:pt x="609600" y="430847"/>
                </a:lnTo>
                <a:close/>
              </a:path>
            </a:pathLst>
          </a:custGeom>
          <a:gradFill rotWithShape="1">
            <a:gsLst>
              <a:gs pos="0">
                <a:srgbClr val="60A3DD"/>
              </a:gs>
              <a:gs pos="100000">
                <a:srgbClr val="4694D7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sv-5-3"/>
          <p:cNvSpPr txBox="1"/>
          <p:nvPr/>
        </p:nvSpPr>
        <p:spPr>
          <a:xfrm>
            <a:off x="5888672" y="263055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38</a:t>
            </a:r>
          </a:p>
        </p:txBody>
      </p:sp>
      <p:sp>
        <p:nvSpPr>
          <p:cNvPr id="58" name="tot-5"/>
          <p:cNvSpPr txBox="1"/>
          <p:nvPr/>
        </p:nvSpPr>
        <p:spPr>
          <a:xfrm>
            <a:off x="5829236" y="2218640"/>
            <a:ext cx="31127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228</a:t>
            </a:r>
          </a:p>
        </p:txBody>
      </p:sp>
      <p:sp>
        <p:nvSpPr>
          <p:cNvPr id="59" name="x-5"/>
          <p:cNvSpPr txBox="1"/>
          <p:nvPr/>
        </p:nvSpPr>
        <p:spPr>
          <a:xfrm>
            <a:off x="5820283" y="5195824"/>
            <a:ext cx="32918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Arial"/>
                <a:ea typeface="Arial"/>
                <a:cs typeface="Arial"/>
              </a:rPr>
              <a:t>25Q3</a:t>
            </a:r>
          </a:p>
        </p:txBody>
      </p:sp>
      <p:sp>
        <p:nvSpPr>
          <p:cNvPr id="60" name="seg-6-1"/>
          <p:cNvSpPr/>
          <p:nvPr/>
        </p:nvSpPr>
        <p:spPr>
          <a:xfrm>
            <a:off x="6685470" y="3855339"/>
            <a:ext cx="609600" cy="1224661"/>
          </a:xfrm>
          <a:custGeom>
            <a:avLst/>
            <a:gdLst/>
            <a:ahLst/>
            <a:cxnLst/>
            <a:rect l="0" t="0" r="r" b="b"/>
            <a:pathLst>
              <a:path w="609600" h="1224661">
                <a:moveTo>
                  <a:pt x="0" y="0"/>
                </a:moveTo>
                <a:lnTo>
                  <a:pt x="609600" y="0"/>
                </a:lnTo>
                <a:cubicBezTo>
                  <a:pt x="609600" y="0"/>
                  <a:pt x="609600" y="0"/>
                  <a:pt x="609600" y="0"/>
                </a:cubicBezTo>
                <a:lnTo>
                  <a:pt x="609600" y="1224661"/>
                </a:lnTo>
                <a:cubicBezTo>
                  <a:pt x="609600" y="1224661"/>
                  <a:pt x="609600" y="1224661"/>
                  <a:pt x="609600" y="1224661"/>
                </a:cubicBezTo>
                <a:lnTo>
                  <a:pt x="0" y="1224661"/>
                </a:lnTo>
                <a:cubicBezTo>
                  <a:pt x="0" y="1224661"/>
                  <a:pt x="0" y="1224661"/>
                  <a:pt x="0" y="1224661"/>
                </a:cubicBezTo>
                <a:lnTo>
                  <a:pt x="0" y="0"/>
                </a:ln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D599F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sv-6-1"/>
          <p:cNvSpPr txBox="1"/>
          <p:nvPr/>
        </p:nvSpPr>
        <p:spPr>
          <a:xfrm>
            <a:off x="6867419" y="4388145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108</a:t>
            </a:r>
          </a:p>
        </p:txBody>
      </p:sp>
      <p:sp>
        <p:nvSpPr>
          <p:cNvPr id="62" name="seg-6-2"/>
          <p:cNvSpPr/>
          <p:nvPr/>
        </p:nvSpPr>
        <p:spPr>
          <a:xfrm>
            <a:off x="6685470" y="2653411"/>
            <a:ext cx="609600" cy="1201928"/>
          </a:xfrm>
          <a:custGeom>
            <a:avLst/>
            <a:gdLst/>
            <a:ahLst/>
            <a:cxnLst/>
            <a:rect l="0" t="0" r="r" b="b"/>
            <a:pathLst>
              <a:path w="609600" h="1201928">
                <a:moveTo>
                  <a:pt x="0" y="0"/>
                </a:moveTo>
                <a:lnTo>
                  <a:pt x="609600" y="0"/>
                </a:lnTo>
                <a:cubicBezTo>
                  <a:pt x="609600" y="0"/>
                  <a:pt x="609600" y="0"/>
                  <a:pt x="609600" y="0"/>
                </a:cubicBezTo>
                <a:lnTo>
                  <a:pt x="609600" y="1201928"/>
                </a:lnTo>
                <a:cubicBezTo>
                  <a:pt x="609600" y="1201928"/>
                  <a:pt x="609600" y="1201928"/>
                  <a:pt x="609600" y="1201928"/>
                </a:cubicBezTo>
                <a:lnTo>
                  <a:pt x="0" y="1201928"/>
                </a:lnTo>
                <a:cubicBezTo>
                  <a:pt x="0" y="1201928"/>
                  <a:pt x="0" y="1201928"/>
                  <a:pt x="0" y="1201928"/>
                </a:cubicBezTo>
                <a:lnTo>
                  <a:pt x="0" y="0"/>
                </a:ln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437DC0"/>
              </a:gs>
              <a:gs pos="100000">
                <a:srgbClr val="2468B6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sv-6-2"/>
          <p:cNvSpPr txBox="1"/>
          <p:nvPr/>
        </p:nvSpPr>
        <p:spPr>
          <a:xfrm>
            <a:off x="6867419" y="3174841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106</a:t>
            </a:r>
          </a:p>
        </p:txBody>
      </p:sp>
      <p:sp>
        <p:nvSpPr>
          <p:cNvPr id="64" name="seg-6-3"/>
          <p:cNvSpPr/>
          <p:nvPr/>
        </p:nvSpPr>
        <p:spPr>
          <a:xfrm>
            <a:off x="6685470" y="2120456"/>
            <a:ext cx="609600" cy="532956"/>
          </a:xfrm>
          <a:custGeom>
            <a:avLst/>
            <a:gdLst/>
            <a:ahLst/>
            <a:cxnLst/>
            <a:rect l="0" t="0" r="r" b="b"/>
            <a:pathLst>
              <a:path w="609600" h="532956">
                <a:moveTo>
                  <a:pt x="0" y="532956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546100" y="0"/>
                </a:lnTo>
                <a:cubicBezTo>
                  <a:pt x="581215" y="0"/>
                  <a:pt x="609600" y="28448"/>
                  <a:pt x="609600" y="63500"/>
                </a:cubicBezTo>
                <a:lnTo>
                  <a:pt x="609600" y="532956"/>
                </a:lnTo>
                <a:close/>
              </a:path>
            </a:pathLst>
          </a:custGeom>
          <a:gradFill rotWithShape="1">
            <a:gsLst>
              <a:gs pos="0">
                <a:srgbClr val="60A3DD"/>
              </a:gs>
              <a:gs pos="100000">
                <a:srgbClr val="4694D7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sv-6-3"/>
          <p:cNvSpPr txBox="1"/>
          <p:nvPr/>
        </p:nvSpPr>
        <p:spPr>
          <a:xfrm>
            <a:off x="6894089" y="230738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47</a:t>
            </a:r>
          </a:p>
        </p:txBody>
      </p:sp>
      <p:sp>
        <p:nvSpPr>
          <p:cNvPr id="66" name="tot-6"/>
          <p:cNvSpPr txBox="1"/>
          <p:nvPr/>
        </p:nvSpPr>
        <p:spPr>
          <a:xfrm>
            <a:off x="6834653" y="1844444"/>
            <a:ext cx="31127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261</a:t>
            </a:r>
          </a:p>
        </p:txBody>
      </p:sp>
      <p:sp>
        <p:nvSpPr>
          <p:cNvPr id="67" name="x-6"/>
          <p:cNvSpPr txBox="1"/>
          <p:nvPr/>
        </p:nvSpPr>
        <p:spPr>
          <a:xfrm>
            <a:off x="6825700" y="5195824"/>
            <a:ext cx="32918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Arial"/>
                <a:ea typeface="Arial"/>
                <a:cs typeface="Arial"/>
              </a:rPr>
              <a:t>25Q4</a:t>
            </a:r>
          </a:p>
        </p:txBody>
      </p:sp>
      <p:sp>
        <p:nvSpPr>
          <p:cNvPr id="68" name="lg-1"/>
          <p:cNvSpPr/>
          <p:nvPr/>
        </p:nvSpPr>
        <p:spPr>
          <a:xfrm>
            <a:off x="1460500" y="1422400"/>
            <a:ext cx="114300" cy="114300"/>
          </a:xfrm>
          <a:custGeom>
            <a:avLst/>
            <a:gdLst/>
            <a:ahLst/>
            <a:cxnLst/>
            <a:rect l="0" t="0" r="r" b="b"/>
            <a:pathLst>
              <a:path w="114300" h="114300">
                <a:moveTo>
                  <a:pt x="31750" y="0"/>
                </a:moveTo>
                <a:lnTo>
                  <a:pt x="82550" y="0"/>
                </a:lnTo>
                <a:cubicBezTo>
                  <a:pt x="100076" y="0"/>
                  <a:pt x="114300" y="14224"/>
                  <a:pt x="114300" y="31750"/>
                </a:cubicBezTo>
                <a:lnTo>
                  <a:pt x="114300" y="82550"/>
                </a:lnTo>
                <a:cubicBezTo>
                  <a:pt x="114300" y="100076"/>
                  <a:pt x="100076" y="114300"/>
                  <a:pt x="82550" y="114300"/>
                </a:cubicBezTo>
                <a:lnTo>
                  <a:pt x="31750" y="114300"/>
                </a:lnTo>
                <a:cubicBezTo>
                  <a:pt x="14224" y="114300"/>
                  <a:pt x="0" y="100076"/>
                  <a:pt x="0" y="825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lgt-1"/>
          <p:cNvSpPr txBox="1"/>
          <p:nvPr/>
        </p:nvSpPr>
        <p:spPr>
          <a:xfrm>
            <a:off x="1638427" y="1394603"/>
            <a:ext cx="513397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硬件产品</a:t>
            </a:r>
          </a:p>
        </p:txBody>
      </p:sp>
      <p:sp>
        <p:nvSpPr>
          <p:cNvPr id="70" name="lg-2"/>
          <p:cNvSpPr/>
          <p:nvPr/>
        </p:nvSpPr>
        <p:spPr>
          <a:xfrm>
            <a:off x="2794000" y="1422400"/>
            <a:ext cx="114300" cy="114300"/>
          </a:xfrm>
          <a:custGeom>
            <a:avLst/>
            <a:gdLst/>
            <a:ahLst/>
            <a:cxnLst/>
            <a:rect l="0" t="0" r="r" b="b"/>
            <a:pathLst>
              <a:path w="114300" h="114300">
                <a:moveTo>
                  <a:pt x="31750" y="0"/>
                </a:moveTo>
                <a:lnTo>
                  <a:pt x="82550" y="0"/>
                </a:lnTo>
                <a:cubicBezTo>
                  <a:pt x="100076" y="0"/>
                  <a:pt x="114300" y="14224"/>
                  <a:pt x="114300" y="31750"/>
                </a:cubicBezTo>
                <a:lnTo>
                  <a:pt x="114300" y="82550"/>
                </a:lnTo>
                <a:cubicBezTo>
                  <a:pt x="114300" y="100076"/>
                  <a:pt x="100076" y="114300"/>
                  <a:pt x="82550" y="114300"/>
                </a:cubicBezTo>
                <a:lnTo>
                  <a:pt x="31750" y="114300"/>
                </a:lnTo>
                <a:cubicBezTo>
                  <a:pt x="14224" y="114300"/>
                  <a:pt x="0" y="100076"/>
                  <a:pt x="0" y="825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lgt-2"/>
          <p:cNvSpPr txBox="1"/>
          <p:nvPr/>
        </p:nvSpPr>
        <p:spPr>
          <a:xfrm>
            <a:off x="2971927" y="1394603"/>
            <a:ext cx="513397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软件服务</a:t>
            </a:r>
          </a:p>
        </p:txBody>
      </p:sp>
      <p:sp>
        <p:nvSpPr>
          <p:cNvPr id="72" name="lg-3"/>
          <p:cNvSpPr/>
          <p:nvPr/>
        </p:nvSpPr>
        <p:spPr>
          <a:xfrm>
            <a:off x="4127500" y="1422400"/>
            <a:ext cx="114300" cy="114300"/>
          </a:xfrm>
          <a:custGeom>
            <a:avLst/>
            <a:gdLst/>
            <a:ahLst/>
            <a:cxnLst/>
            <a:rect l="0" t="0" r="r" b="b"/>
            <a:pathLst>
              <a:path w="114300" h="114300">
                <a:moveTo>
                  <a:pt x="31750" y="0"/>
                </a:moveTo>
                <a:lnTo>
                  <a:pt x="82550" y="0"/>
                </a:lnTo>
                <a:cubicBezTo>
                  <a:pt x="100076" y="0"/>
                  <a:pt x="114300" y="14224"/>
                  <a:pt x="114300" y="31750"/>
                </a:cubicBezTo>
                <a:lnTo>
                  <a:pt x="114300" y="82550"/>
                </a:lnTo>
                <a:cubicBezTo>
                  <a:pt x="114300" y="100076"/>
                  <a:pt x="100076" y="114300"/>
                  <a:pt x="82550" y="114300"/>
                </a:cubicBezTo>
                <a:lnTo>
                  <a:pt x="31750" y="114300"/>
                </a:lnTo>
                <a:cubicBezTo>
                  <a:pt x="14224" y="114300"/>
                  <a:pt x="0" y="100076"/>
                  <a:pt x="0" y="825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lgt-3"/>
          <p:cNvSpPr txBox="1"/>
          <p:nvPr/>
        </p:nvSpPr>
        <p:spPr>
          <a:xfrm>
            <a:off x="4305427" y="1394603"/>
            <a:ext cx="513397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增值运维</a:t>
            </a:r>
          </a:p>
        </p:txBody>
      </p:sp>
      <p:sp>
        <p:nvSpPr>
          <p:cNvPr id="74" name="side-bar"/>
          <p:cNvSpPr/>
          <p:nvPr/>
        </p:nvSpPr>
        <p:spPr>
          <a:xfrm>
            <a:off x="8255000" y="1663700"/>
            <a:ext cx="31750" cy="660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side-h"/>
          <p:cNvSpPr txBox="1"/>
          <p:nvPr/>
        </p:nvSpPr>
        <p:spPr>
          <a:xfrm>
            <a:off x="8426450" y="16835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结构变化</a:t>
            </a:r>
          </a:p>
        </p:txBody>
      </p:sp>
      <p:sp>
        <p:nvSpPr>
          <p:cNvPr id="76" name="side-p"/>
          <p:cNvSpPr txBox="1"/>
          <p:nvPr/>
        </p:nvSpPr>
        <p:spPr>
          <a:xfrm>
            <a:off x="8432165" y="1983661"/>
            <a:ext cx="204692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软件与运维合计占比从 41% 升至 59%</a:t>
            </a:r>
          </a:p>
        </p:txBody>
      </p:sp>
      <p:sp>
        <p:nvSpPr>
          <p:cNvPr id="77" name="ring-l-1"/>
          <p:cNvSpPr txBox="1"/>
          <p:nvPr/>
        </p:nvSpPr>
        <p:spPr>
          <a:xfrm>
            <a:off x="8241284" y="2525840"/>
            <a:ext cx="38430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Arial"/>
                <a:ea typeface="Arial"/>
                <a:cs typeface="Arial"/>
              </a:rPr>
              <a:t>24Q3</a:t>
            </a:r>
          </a:p>
        </p:txBody>
      </p:sp>
      <p:sp>
        <p:nvSpPr>
          <p:cNvPr id="78" name="pb-1-1"/>
          <p:cNvSpPr/>
          <p:nvPr/>
        </p:nvSpPr>
        <p:spPr>
          <a:xfrm>
            <a:off x="8255000" y="3640392"/>
            <a:ext cx="558800" cy="1096709"/>
          </a:xfrm>
          <a:custGeom>
            <a:avLst/>
            <a:gdLst/>
            <a:ahLst/>
            <a:cxnLst/>
            <a:rect l="0" t="0" r="r" b="b"/>
            <a:pathLst>
              <a:path w="558800" h="1096709">
                <a:moveTo>
                  <a:pt x="38100" y="0"/>
                </a:moveTo>
                <a:lnTo>
                  <a:pt x="520700" y="0"/>
                </a:lnTo>
                <a:cubicBezTo>
                  <a:pt x="541718" y="0"/>
                  <a:pt x="558800" y="17018"/>
                  <a:pt x="558800" y="38100"/>
                </a:cubicBezTo>
                <a:lnTo>
                  <a:pt x="558800" y="1058609"/>
                </a:lnTo>
                <a:cubicBezTo>
                  <a:pt x="558800" y="1079627"/>
                  <a:pt x="541718" y="1096709"/>
                  <a:pt x="520700" y="1096709"/>
                </a:cubicBezTo>
                <a:lnTo>
                  <a:pt x="38100" y="1096709"/>
                </a:lnTo>
                <a:cubicBezTo>
                  <a:pt x="17082" y="1096709"/>
                  <a:pt x="0" y="1079627"/>
                  <a:pt x="0" y="1058609"/>
                </a:cubicBezTo>
                <a:lnTo>
                  <a:pt x="0" y="38100"/>
                </a:lnTo>
                <a:cubicBezTo>
                  <a:pt x="0" y="17018"/>
                  <a:pt x="17082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pbt-1-1"/>
          <p:cNvSpPr txBox="1"/>
          <p:nvPr/>
        </p:nvSpPr>
        <p:spPr>
          <a:xfrm>
            <a:off x="8902446" y="4093520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59%</a:t>
            </a:r>
          </a:p>
        </p:txBody>
      </p:sp>
      <p:sp>
        <p:nvSpPr>
          <p:cNvPr id="80" name="pb-1-2"/>
          <p:cNvSpPr/>
          <p:nvPr/>
        </p:nvSpPr>
        <p:spPr>
          <a:xfrm>
            <a:off x="8255000" y="3092386"/>
            <a:ext cx="558800" cy="522605"/>
          </a:xfrm>
          <a:custGeom>
            <a:avLst/>
            <a:gdLst/>
            <a:ahLst/>
            <a:cxnLst/>
            <a:rect l="0" t="0" r="r" b="b"/>
            <a:pathLst>
              <a:path w="558800" h="522605">
                <a:moveTo>
                  <a:pt x="38100" y="0"/>
                </a:moveTo>
                <a:lnTo>
                  <a:pt x="520700" y="0"/>
                </a:lnTo>
                <a:cubicBezTo>
                  <a:pt x="541718" y="0"/>
                  <a:pt x="558800" y="17018"/>
                  <a:pt x="558800" y="38100"/>
                </a:cubicBezTo>
                <a:lnTo>
                  <a:pt x="558800" y="484505"/>
                </a:lnTo>
                <a:cubicBezTo>
                  <a:pt x="558800" y="505524"/>
                  <a:pt x="541718" y="522605"/>
                  <a:pt x="520700" y="522605"/>
                </a:cubicBezTo>
                <a:lnTo>
                  <a:pt x="38100" y="522605"/>
                </a:lnTo>
                <a:cubicBezTo>
                  <a:pt x="17082" y="522605"/>
                  <a:pt x="0" y="505524"/>
                  <a:pt x="0" y="484505"/>
                </a:cubicBezTo>
                <a:lnTo>
                  <a:pt x="0" y="38100"/>
                </a:lnTo>
                <a:cubicBezTo>
                  <a:pt x="0" y="17018"/>
                  <a:pt x="17082" y="0"/>
                  <a:pt x="38100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pbt-1-2"/>
          <p:cNvSpPr txBox="1"/>
          <p:nvPr/>
        </p:nvSpPr>
        <p:spPr>
          <a:xfrm>
            <a:off x="8902446" y="325845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29%</a:t>
            </a:r>
          </a:p>
        </p:txBody>
      </p:sp>
      <p:sp>
        <p:nvSpPr>
          <p:cNvPr id="82" name="pb-1-3"/>
          <p:cNvSpPr/>
          <p:nvPr/>
        </p:nvSpPr>
        <p:spPr>
          <a:xfrm>
            <a:off x="8255000" y="2857500"/>
            <a:ext cx="558800" cy="209487"/>
          </a:xfrm>
          <a:custGeom>
            <a:avLst/>
            <a:gdLst/>
            <a:ahLst/>
            <a:cxnLst/>
            <a:rect l="0" t="0" r="r" b="b"/>
            <a:pathLst>
              <a:path w="558800" h="209487">
                <a:moveTo>
                  <a:pt x="38100" y="0"/>
                </a:moveTo>
                <a:lnTo>
                  <a:pt x="520700" y="0"/>
                </a:lnTo>
                <a:cubicBezTo>
                  <a:pt x="541718" y="0"/>
                  <a:pt x="558800" y="17081"/>
                  <a:pt x="558800" y="38100"/>
                </a:cubicBezTo>
                <a:lnTo>
                  <a:pt x="558800" y="171387"/>
                </a:lnTo>
                <a:cubicBezTo>
                  <a:pt x="558800" y="192405"/>
                  <a:pt x="541718" y="209487"/>
                  <a:pt x="520700" y="209487"/>
                </a:cubicBezTo>
                <a:lnTo>
                  <a:pt x="38100" y="209487"/>
                </a:lnTo>
                <a:cubicBezTo>
                  <a:pt x="17082" y="209487"/>
                  <a:pt x="0" y="192405"/>
                  <a:pt x="0" y="171387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pbt-1-3"/>
          <p:cNvSpPr txBox="1"/>
          <p:nvPr/>
        </p:nvSpPr>
        <p:spPr>
          <a:xfrm>
            <a:off x="8902446" y="2867013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4694D7"/>
                </a:solidFill>
                <a:latin typeface="Arial"/>
                <a:ea typeface="Arial"/>
                <a:cs typeface="Arial"/>
              </a:rPr>
              <a:t>12%</a:t>
            </a:r>
          </a:p>
        </p:txBody>
      </p:sp>
      <p:sp>
        <p:nvSpPr>
          <p:cNvPr id="84" name="pbs-1"/>
          <p:cNvSpPr txBox="1"/>
          <p:nvPr/>
        </p:nvSpPr>
        <p:spPr>
          <a:xfrm>
            <a:off x="8243189" y="4806045"/>
            <a:ext cx="517334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合计 146</a:t>
            </a:r>
          </a:p>
        </p:txBody>
      </p:sp>
      <p:sp>
        <p:nvSpPr>
          <p:cNvPr id="85" name="ring-l-2"/>
          <p:cNvSpPr txBox="1"/>
          <p:nvPr/>
        </p:nvSpPr>
        <p:spPr>
          <a:xfrm>
            <a:off x="9943084" y="2525840"/>
            <a:ext cx="38430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Arial"/>
                <a:ea typeface="Arial"/>
                <a:cs typeface="Arial"/>
              </a:rPr>
              <a:t>25Q4</a:t>
            </a:r>
          </a:p>
        </p:txBody>
      </p:sp>
      <p:sp>
        <p:nvSpPr>
          <p:cNvPr id="86" name="pb-2-1"/>
          <p:cNvSpPr/>
          <p:nvPr/>
        </p:nvSpPr>
        <p:spPr>
          <a:xfrm>
            <a:off x="9956800" y="3974211"/>
            <a:ext cx="558800" cy="762889"/>
          </a:xfrm>
          <a:custGeom>
            <a:avLst/>
            <a:gdLst/>
            <a:ahLst/>
            <a:cxnLst/>
            <a:rect l="0" t="0" r="r" b="b"/>
            <a:pathLst>
              <a:path w="558800" h="762889">
                <a:moveTo>
                  <a:pt x="38100" y="0"/>
                </a:moveTo>
                <a:lnTo>
                  <a:pt x="520700" y="0"/>
                </a:lnTo>
                <a:cubicBezTo>
                  <a:pt x="541718" y="0"/>
                  <a:pt x="558800" y="17081"/>
                  <a:pt x="558800" y="38100"/>
                </a:cubicBezTo>
                <a:lnTo>
                  <a:pt x="558800" y="724789"/>
                </a:lnTo>
                <a:cubicBezTo>
                  <a:pt x="558800" y="745807"/>
                  <a:pt x="541718" y="762889"/>
                  <a:pt x="520700" y="762889"/>
                </a:cubicBezTo>
                <a:lnTo>
                  <a:pt x="38100" y="762889"/>
                </a:lnTo>
                <a:cubicBezTo>
                  <a:pt x="17082" y="762889"/>
                  <a:pt x="0" y="745807"/>
                  <a:pt x="0" y="724789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pbt-2-1"/>
          <p:cNvSpPr txBox="1"/>
          <p:nvPr/>
        </p:nvSpPr>
        <p:spPr>
          <a:xfrm>
            <a:off x="10604246" y="4260444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41%</a:t>
            </a:r>
          </a:p>
        </p:txBody>
      </p:sp>
      <p:sp>
        <p:nvSpPr>
          <p:cNvPr id="88" name="pb-2-2"/>
          <p:cNvSpPr/>
          <p:nvPr/>
        </p:nvSpPr>
        <p:spPr>
          <a:xfrm>
            <a:off x="9956800" y="3200527"/>
            <a:ext cx="558800" cy="748284"/>
          </a:xfrm>
          <a:custGeom>
            <a:avLst/>
            <a:gdLst/>
            <a:ahLst/>
            <a:cxnLst/>
            <a:rect l="0" t="0" r="r" b="b"/>
            <a:pathLst>
              <a:path w="558800" h="748284">
                <a:moveTo>
                  <a:pt x="38100" y="0"/>
                </a:moveTo>
                <a:lnTo>
                  <a:pt x="520700" y="0"/>
                </a:lnTo>
                <a:cubicBezTo>
                  <a:pt x="541718" y="0"/>
                  <a:pt x="558800" y="17081"/>
                  <a:pt x="558800" y="38100"/>
                </a:cubicBezTo>
                <a:lnTo>
                  <a:pt x="558800" y="710184"/>
                </a:lnTo>
                <a:cubicBezTo>
                  <a:pt x="558800" y="731266"/>
                  <a:pt x="541718" y="748284"/>
                  <a:pt x="520700" y="748284"/>
                </a:cubicBezTo>
                <a:lnTo>
                  <a:pt x="38100" y="748284"/>
                </a:lnTo>
                <a:cubicBezTo>
                  <a:pt x="17082" y="748284"/>
                  <a:pt x="0" y="731266"/>
                  <a:pt x="0" y="710184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pbt-2-2"/>
          <p:cNvSpPr txBox="1"/>
          <p:nvPr/>
        </p:nvSpPr>
        <p:spPr>
          <a:xfrm>
            <a:off x="10604246" y="3479467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41%</a:t>
            </a:r>
          </a:p>
        </p:txBody>
      </p:sp>
      <p:sp>
        <p:nvSpPr>
          <p:cNvPr id="90" name="pb-2-3"/>
          <p:cNvSpPr/>
          <p:nvPr/>
        </p:nvSpPr>
        <p:spPr>
          <a:xfrm>
            <a:off x="9956800" y="2857500"/>
            <a:ext cx="558800" cy="317627"/>
          </a:xfrm>
          <a:custGeom>
            <a:avLst/>
            <a:gdLst/>
            <a:ahLst/>
            <a:cxnLst/>
            <a:rect l="0" t="0" r="r" b="b"/>
            <a:pathLst>
              <a:path w="558800" h="317627">
                <a:moveTo>
                  <a:pt x="38100" y="0"/>
                </a:moveTo>
                <a:lnTo>
                  <a:pt x="520700" y="0"/>
                </a:lnTo>
                <a:cubicBezTo>
                  <a:pt x="541718" y="0"/>
                  <a:pt x="558800" y="17081"/>
                  <a:pt x="558800" y="38100"/>
                </a:cubicBezTo>
                <a:lnTo>
                  <a:pt x="558800" y="279527"/>
                </a:lnTo>
                <a:cubicBezTo>
                  <a:pt x="558800" y="300609"/>
                  <a:pt x="541718" y="317627"/>
                  <a:pt x="520700" y="317627"/>
                </a:cubicBezTo>
                <a:lnTo>
                  <a:pt x="38100" y="317627"/>
                </a:lnTo>
                <a:cubicBezTo>
                  <a:pt x="17082" y="317627"/>
                  <a:pt x="0" y="300609"/>
                  <a:pt x="0" y="279527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pbt-2-3"/>
          <p:cNvSpPr txBox="1"/>
          <p:nvPr/>
        </p:nvSpPr>
        <p:spPr>
          <a:xfrm>
            <a:off x="10604246" y="2921105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4694D7"/>
                </a:solidFill>
                <a:latin typeface="Arial"/>
                <a:ea typeface="Arial"/>
                <a:cs typeface="Arial"/>
              </a:rPr>
              <a:t>18%</a:t>
            </a:r>
          </a:p>
        </p:txBody>
      </p:sp>
      <p:sp>
        <p:nvSpPr>
          <p:cNvPr id="92" name="pbs-2"/>
          <p:cNvSpPr txBox="1"/>
          <p:nvPr/>
        </p:nvSpPr>
        <p:spPr>
          <a:xfrm>
            <a:off x="9944989" y="4806045"/>
            <a:ext cx="517334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合计 261</a:t>
            </a:r>
          </a:p>
        </p:txBody>
      </p:sp>
      <p:sp>
        <p:nvSpPr>
          <p:cNvPr id="93" name="cmp-ar"/>
          <p:cNvSpPr/>
          <p:nvPr/>
        </p:nvSpPr>
        <p:spPr>
          <a:xfrm>
            <a:off x="9296400" y="3683000"/>
            <a:ext cx="546100" cy="3175"/>
          </a:xfrm>
          <a:custGeom>
            <a:avLst/>
            <a:gdLst/>
            <a:ahLst/>
            <a:cxnLst/>
            <a:rect l="0" t="0" r="r" b="b"/>
            <a:pathLst>
              <a:path w="546100" h="3175">
                <a:moveTo>
                  <a:pt x="0" y="0"/>
                </a:moveTo>
                <a:lnTo>
                  <a:pt x="546100" y="0"/>
                </a:lnTo>
              </a:path>
            </a:pathLst>
          </a:custGeom>
          <a:noFill/>
          <a:ln w="15875" cap="rnd">
            <a:solidFill>
              <a:srgbClr val="E0703A"/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cmp-ah"/>
          <p:cNvSpPr/>
          <p:nvPr/>
        </p:nvSpPr>
        <p:spPr>
          <a:xfrm>
            <a:off x="9829800" y="3643745"/>
            <a:ext cx="70040" cy="78510"/>
          </a:xfrm>
          <a:custGeom>
            <a:avLst/>
            <a:gdLst/>
            <a:ahLst/>
            <a:cxnLst/>
            <a:rect l="0" t="0" r="r" b="b"/>
            <a:pathLst>
              <a:path w="70040" h="78510">
                <a:moveTo>
                  <a:pt x="63881" y="32143"/>
                </a:moveTo>
                <a:quadBezTo>
                  <a:pt x="76200" y="39255"/>
                  <a:pt x="63881" y="46367"/>
                </a:quadBezTo>
                <a:lnTo>
                  <a:pt x="12319" y="76148"/>
                </a:lnTo>
                <a:quadBezTo>
                  <a:pt x="0" y="83260"/>
                  <a:pt x="0" y="69036"/>
                </a:quadBezTo>
                <a:lnTo>
                  <a:pt x="0" y="9473"/>
                </a:lnTo>
                <a:quadBezTo>
                  <a:pt x="0" y="-4751"/>
                  <a:pt x="12319" y="2361"/>
                </a:quad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sum"/>
          <p:cNvSpPr/>
          <p:nvPr/>
        </p:nvSpPr>
        <p:spPr>
          <a:xfrm>
            <a:off x="952500" y="5727700"/>
            <a:ext cx="10287000" cy="419100"/>
          </a:xfrm>
          <a:custGeom>
            <a:avLst/>
            <a:gdLst/>
            <a:ahLst/>
            <a:cxnLst/>
            <a:rect l="0" t="0" r="r" b="b"/>
            <a:pathLst>
              <a:path w="10287000" h="4191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30200"/>
                </a:lnTo>
                <a:cubicBezTo>
                  <a:pt x="10287000" y="379286"/>
                  <a:pt x="10247186" y="419100"/>
                  <a:pt x="10198100" y="419100"/>
                </a:cubicBezTo>
                <a:lnTo>
                  <a:pt x="88900" y="419100"/>
                </a:lnTo>
                <a:cubicBezTo>
                  <a:pt x="39815" y="419100"/>
                  <a:pt x="0" y="379286"/>
                  <a:pt x="0" y="3302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sum-bar"/>
          <p:cNvSpPr/>
          <p:nvPr/>
        </p:nvSpPr>
        <p:spPr>
          <a:xfrm>
            <a:off x="952500" y="5727700"/>
            <a:ext cx="31750" cy="4191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sum-h"/>
          <p:cNvSpPr txBox="1"/>
          <p:nvPr/>
        </p:nvSpPr>
        <p:spPr>
          <a:xfrm>
            <a:off x="1142746" y="58610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结构判断</a:t>
            </a:r>
          </a:p>
        </p:txBody>
      </p:sp>
      <p:sp>
        <p:nvSpPr>
          <p:cNvPr id="98" name="sum-p"/>
          <p:cNvSpPr txBox="1"/>
          <p:nvPr/>
        </p:nvSpPr>
        <p:spPr>
          <a:xfrm>
            <a:off x="1891665" y="5857161"/>
            <a:ext cx="427005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六个季度收入从 146 增至 261；软件服务从 42 增至 106，已与硬件平分秋色。</a:t>
            </a:r>
          </a:p>
        </p:txBody>
      </p:sp>
      <p:cxnSp>
        <p:nvCxnSpPr>
          <p:cNvPr id="99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0" name="foot-l"/>
          <p:cNvSpPr txBox="1"/>
          <p:nvPr/>
        </p:nvSpPr>
        <p:spPr>
          <a:xfrm>
            <a:off x="573532" y="6532308"/>
            <a:ext cx="9469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收入结构 · 六季度</a:t>
            </a:r>
          </a:p>
        </p:txBody>
      </p:sp>
      <p:sp>
        <p:nvSpPr>
          <p:cNvPr id="101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客户结构分布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17271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CUSTOMER MIX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580499" y="673132"/>
            <a:ext cx="20402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按行业划分的客户数量与收入贡献占比</a:t>
            </a:r>
          </a:p>
        </p:txBody>
      </p:sp>
      <p:sp>
        <p:nvSpPr>
          <p:cNvPr id="10" name="guide"/>
          <p:cNvSpPr/>
          <p:nvPr/>
        </p:nvSpPr>
        <p:spPr>
          <a:xfrm>
            <a:off x="2070100" y="1968500"/>
            <a:ext cx="3733800" cy="3733800"/>
          </a:xfrm>
          <a:prstGeom prst="ellipse">
            <a:avLst/>
          </a:prstGeom>
          <a:noFill/>
          <a:ln w="6350" cap="rnd">
            <a:solidFill>
              <a:srgbClr val="0B2545">
                <a:alpha val="1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seg-1"/>
          <p:cNvSpPr/>
          <p:nvPr/>
        </p:nvSpPr>
        <p:spPr>
          <a:xfrm>
            <a:off x="3965575" y="2136775"/>
            <a:ext cx="1673248" cy="2561019"/>
          </a:xfrm>
          <a:custGeom>
            <a:avLst/>
            <a:gdLst/>
            <a:ahLst/>
            <a:cxnLst/>
            <a:rect l="0" t="0" r="r" b="b"/>
            <a:pathLst>
              <a:path w="1673248" h="2561019">
                <a:moveTo>
                  <a:pt x="76137" y="64"/>
                </a:moveTo>
                <a:cubicBezTo>
                  <a:pt x="658398" y="35950"/>
                  <a:pt x="1181702" y="367579"/>
                  <a:pt x="1462743" y="878785"/>
                </a:cubicBezTo>
                <a:cubicBezTo>
                  <a:pt x="1743784" y="1389992"/>
                  <a:pt x="1743393" y="2009527"/>
                  <a:pt x="1461706" y="2520379"/>
                </a:cubicBezTo>
                <a:quadBezTo>
                  <a:pt x="1423416" y="2586228"/>
                  <a:pt x="1359090" y="2545398"/>
                </a:quadBezTo>
                <a:lnTo>
                  <a:pt x="972947" y="2300351"/>
                </a:lnTo>
                <a:quadBezTo>
                  <a:pt x="887159" y="2245932"/>
                  <a:pt x="935038" y="2156333"/>
                </a:quadBezTo>
                <a:cubicBezTo>
                  <a:pt x="1082135" y="1846643"/>
                  <a:pt x="1071426" y="1485127"/>
                  <a:pt x="906255" y="1184687"/>
                </a:cubicBezTo>
                <a:cubicBezTo>
                  <a:pt x="741084" y="884247"/>
                  <a:pt x="441582" y="681500"/>
                  <a:pt x="101283" y="639763"/>
                </a:cubicBezTo>
                <a:quadBezTo>
                  <a:pt x="0" y="632206"/>
                  <a:pt x="0" y="530606"/>
                </a:quadBezTo>
                <a:lnTo>
                  <a:pt x="0" y="73279"/>
                </a:lnTo>
                <a:quadBezTo>
                  <a:pt x="0" y="-2921"/>
                  <a:pt x="76137" y="64"/>
                </a:quad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seg-2"/>
          <p:cNvSpPr/>
          <p:nvPr/>
        </p:nvSpPr>
        <p:spPr>
          <a:xfrm>
            <a:off x="3357459" y="4463681"/>
            <a:ext cx="1974953" cy="1073644"/>
          </a:xfrm>
          <a:custGeom>
            <a:avLst/>
            <a:gdLst/>
            <a:ahLst/>
            <a:cxnLst/>
            <a:rect l="0" t="0" r="r" b="b"/>
            <a:pathLst>
              <a:path w="1974953" h="1073644">
                <a:moveTo>
                  <a:pt x="1957618" y="370257"/>
                </a:moveTo>
                <a:cubicBezTo>
                  <a:pt x="1524090" y="968573"/>
                  <a:pt x="754017" y="1218790"/>
                  <a:pt x="51602" y="989572"/>
                </a:cubicBezTo>
                <a:quadBezTo>
                  <a:pt x="-20280" y="964299"/>
                  <a:pt x="7787" y="893433"/>
                </a:quadBezTo>
                <a:lnTo>
                  <a:pt x="176125" y="468237"/>
                </a:lnTo>
                <a:quadBezTo>
                  <a:pt x="213527" y="373749"/>
                  <a:pt x="310491" y="404039"/>
                </a:quadBezTo>
                <a:cubicBezTo>
                  <a:pt x="713077" y="508959"/>
                  <a:pt x="1139930" y="370269"/>
                  <a:pt x="1403961" y="48756"/>
                </a:cubicBezTo>
                <a:quadBezTo>
                  <a:pt x="1464604" y="-32714"/>
                  <a:pt x="1550392" y="21705"/>
                </a:quadBezTo>
                <a:lnTo>
                  <a:pt x="1936536" y="266752"/>
                </a:lnTo>
                <a:quadBezTo>
                  <a:pt x="2000925" y="307582"/>
                  <a:pt x="1957618" y="370257"/>
                </a:quadBezTo>
                <a:close/>
              </a:path>
            </a:pathLst>
          </a:custGeom>
          <a:gradFill rotWithShape="1">
            <a:gsLst>
              <a:gs pos="0">
                <a:srgbClr val="2F61A8"/>
              </a:gs>
              <a:gs pos="100000">
                <a:srgbClr val="134C9C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seg-3"/>
          <p:cNvSpPr/>
          <p:nvPr/>
        </p:nvSpPr>
        <p:spPr>
          <a:xfrm>
            <a:off x="2284941" y="4079324"/>
            <a:ext cx="1206294" cy="1306160"/>
          </a:xfrm>
          <a:custGeom>
            <a:avLst/>
            <a:gdLst/>
            <a:ahLst/>
            <a:cxnLst/>
            <a:rect l="0" t="0" r="r" b="b"/>
            <a:pathLst>
              <a:path w="1206294" h="1306160">
                <a:moveTo>
                  <a:pt x="929429" y="1296840"/>
                </a:moveTo>
                <a:cubicBezTo>
                  <a:pt x="468869" y="1080819"/>
                  <a:pt x="129097" y="670092"/>
                  <a:pt x="3218" y="177208"/>
                </a:cubicBezTo>
                <a:quadBezTo>
                  <a:pt x="-13990" y="102976"/>
                  <a:pt x="60813" y="88689"/>
                </a:quadBezTo>
                <a:lnTo>
                  <a:pt x="510075" y="3027"/>
                </a:lnTo>
                <a:quadBezTo>
                  <a:pt x="609897" y="-16023"/>
                  <a:pt x="636250" y="82021"/>
                </a:quadBezTo>
                <a:cubicBezTo>
                  <a:pt x="719983" y="342940"/>
                  <a:pt x="900907" y="561632"/>
                  <a:pt x="1141519" y="692764"/>
                </a:cubicBezTo>
                <a:quadBezTo>
                  <a:pt x="1232896" y="737087"/>
                  <a:pt x="1195494" y="831575"/>
                </a:quadBezTo>
                <a:lnTo>
                  <a:pt x="1027156" y="1256771"/>
                </a:lnTo>
                <a:quadBezTo>
                  <a:pt x="999089" y="1327637"/>
                  <a:pt x="929429" y="1296840"/>
                </a:quadBezTo>
                <a:close/>
              </a:path>
            </a:pathLst>
          </a:custGeom>
          <a:gradFill rotWithShape="1">
            <a:gsLst>
              <a:gs pos="0">
                <a:srgbClr val="3E7ABF"/>
              </a:gs>
              <a:gs pos="100000">
                <a:srgbClr val="2468B6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seg-4"/>
          <p:cNvSpPr/>
          <p:nvPr/>
        </p:nvSpPr>
        <p:spPr>
          <a:xfrm>
            <a:off x="2235267" y="2973006"/>
            <a:ext cx="755232" cy="1141080"/>
          </a:xfrm>
          <a:custGeom>
            <a:avLst/>
            <a:gdLst/>
            <a:ahLst/>
            <a:cxnLst/>
            <a:rect l="0" t="0" r="r" b="b"/>
            <a:pathLst>
              <a:path w="755232" h="1141080">
                <a:moveTo>
                  <a:pt x="13649" y="1077849"/>
                </a:moveTo>
                <a:cubicBezTo>
                  <a:pt x="-32056" y="719885"/>
                  <a:pt x="37214" y="356659"/>
                  <a:pt x="211451" y="40640"/>
                </a:cubicBezTo>
                <a:quadBezTo>
                  <a:pt x="249742" y="-25209"/>
                  <a:pt x="314067" y="15621"/>
                </a:quadBezTo>
                <a:lnTo>
                  <a:pt x="700211" y="260668"/>
                </a:lnTo>
                <a:quadBezTo>
                  <a:pt x="785999" y="315087"/>
                  <a:pt x="738120" y="404685"/>
                </a:quadBezTo>
                <a:cubicBezTo>
                  <a:pt x="659893" y="569366"/>
                  <a:pt x="625176" y="751346"/>
                  <a:pt x="637282" y="933259"/>
                </a:cubicBezTo>
                <a:quadBezTo>
                  <a:pt x="648839" y="1034161"/>
                  <a:pt x="549081" y="1053211"/>
                </a:quadBezTo>
                <a:lnTo>
                  <a:pt x="99818" y="1138872"/>
                </a:lnTo>
                <a:quadBezTo>
                  <a:pt x="24952" y="1153160"/>
                  <a:pt x="13649" y="1077849"/>
                </a:quadBezTo>
                <a:close/>
              </a:path>
            </a:pathLst>
          </a:custGeom>
          <a:gradFill rotWithShape="1">
            <a:gsLst>
              <a:gs pos="0">
                <a:srgbClr val="4787C9"/>
              </a:gs>
              <a:gs pos="100000">
                <a:srgbClr val="2E77C2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seg-5"/>
          <p:cNvSpPr/>
          <p:nvPr/>
        </p:nvSpPr>
        <p:spPr>
          <a:xfrm>
            <a:off x="2541588" y="2285316"/>
            <a:ext cx="949647" cy="921803"/>
          </a:xfrm>
          <a:custGeom>
            <a:avLst/>
            <a:gdLst/>
            <a:ahLst/>
            <a:cxnLst/>
            <a:rect l="0" t="0" r="r" b="b"/>
            <a:pathLst>
              <a:path w="949647" h="921803">
                <a:moveTo>
                  <a:pt x="17336" y="551547"/>
                </a:moveTo>
                <a:cubicBezTo>
                  <a:pt x="186394" y="318233"/>
                  <a:pt x="411922" y="131663"/>
                  <a:pt x="672782" y="9320"/>
                </a:cubicBezTo>
                <a:quadBezTo>
                  <a:pt x="742442" y="-21477"/>
                  <a:pt x="770509" y="49389"/>
                </a:quadBezTo>
                <a:lnTo>
                  <a:pt x="938848" y="474585"/>
                </a:lnTo>
                <a:quadBezTo>
                  <a:pt x="976249" y="569073"/>
                  <a:pt x="884873" y="613396"/>
                </a:quadBezTo>
                <a:cubicBezTo>
                  <a:pt x="764539" y="678982"/>
                  <a:pt x="657970" y="767139"/>
                  <a:pt x="570992" y="873047"/>
                </a:cubicBezTo>
                <a:quadBezTo>
                  <a:pt x="510350" y="954518"/>
                  <a:pt x="424561" y="900098"/>
                </a:quadBezTo>
                <a:lnTo>
                  <a:pt x="38418" y="655052"/>
                </a:lnTo>
                <a:quadBezTo>
                  <a:pt x="-25971" y="614221"/>
                  <a:pt x="17336" y="551547"/>
                </a:quadBezTo>
                <a:close/>
              </a:path>
            </a:pathLst>
          </a:custGeom>
          <a:gradFill rotWithShape="1">
            <a:gsLst>
              <a:gs pos="0">
                <a:srgbClr val="5CA1DC"/>
              </a:gs>
              <a:gs pos="100000">
                <a:srgbClr val="4694D7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seg-6"/>
          <p:cNvSpPr/>
          <p:nvPr/>
        </p:nvSpPr>
        <p:spPr>
          <a:xfrm>
            <a:off x="3357459" y="2136775"/>
            <a:ext cx="550966" cy="673652"/>
          </a:xfrm>
          <a:custGeom>
            <a:avLst/>
            <a:gdLst/>
            <a:ahLst/>
            <a:cxnLst/>
            <a:rect l="0" t="0" r="r" b="b"/>
            <a:pathLst>
              <a:path w="550966" h="673652">
                <a:moveTo>
                  <a:pt x="51602" y="80772"/>
                </a:moveTo>
                <a:cubicBezTo>
                  <a:pt x="188688" y="36047"/>
                  <a:pt x="330904" y="8927"/>
                  <a:pt x="474829" y="64"/>
                </a:cubicBezTo>
                <a:quadBezTo>
                  <a:pt x="550966" y="-2921"/>
                  <a:pt x="550966" y="73279"/>
                </a:quadBezTo>
                <a:lnTo>
                  <a:pt x="550966" y="530606"/>
                </a:lnTo>
                <a:quadBezTo>
                  <a:pt x="550966" y="632206"/>
                  <a:pt x="449683" y="639763"/>
                </a:quadBezTo>
                <a:cubicBezTo>
                  <a:pt x="402749" y="645516"/>
                  <a:pt x="356249" y="654383"/>
                  <a:pt x="310491" y="666306"/>
                </a:cubicBezTo>
                <a:quadBezTo>
                  <a:pt x="213527" y="696595"/>
                  <a:pt x="176125" y="602107"/>
                </a:quadBezTo>
                <a:lnTo>
                  <a:pt x="7787" y="176911"/>
                </a:lnTo>
                <a:quadBezTo>
                  <a:pt x="-20280" y="106045"/>
                  <a:pt x="51602" y="80772"/>
                </a:quadBezTo>
                <a:close/>
              </a:path>
            </a:pathLst>
          </a:custGeom>
          <a:gradFill rotWithShape="1">
            <a:gsLst>
              <a:gs pos="0">
                <a:srgbClr val="69ADE3"/>
              </a:gs>
              <a:gs pos="100000">
                <a:srgbClr val="54A2DF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pct-1"/>
          <p:cNvSpPr txBox="1"/>
          <p:nvPr/>
        </p:nvSpPr>
        <p:spPr>
          <a:xfrm>
            <a:off x="4973287" y="3054621"/>
            <a:ext cx="353568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34%</a:t>
            </a:r>
          </a:p>
        </p:txBody>
      </p:sp>
      <p:sp>
        <p:nvSpPr>
          <p:cNvPr id="18" name="pct-2"/>
          <p:cNvSpPr txBox="1"/>
          <p:nvPr/>
        </p:nvSpPr>
        <p:spPr>
          <a:xfrm>
            <a:off x="4187988" y="5038060"/>
            <a:ext cx="353568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22%</a:t>
            </a:r>
          </a:p>
        </p:txBody>
      </p:sp>
      <p:sp>
        <p:nvSpPr>
          <p:cNvPr id="19" name="pct-3"/>
          <p:cNvSpPr txBox="1"/>
          <p:nvPr/>
        </p:nvSpPr>
        <p:spPr>
          <a:xfrm>
            <a:off x="2693595" y="4603899"/>
            <a:ext cx="353568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16%</a:t>
            </a:r>
          </a:p>
        </p:txBody>
      </p:sp>
      <p:sp>
        <p:nvSpPr>
          <p:cNvPr id="20" name="pct-4"/>
          <p:cNvSpPr txBox="1"/>
          <p:nvPr/>
        </p:nvSpPr>
        <p:spPr>
          <a:xfrm>
            <a:off x="2400436" y="3462121"/>
            <a:ext cx="353568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12%</a:t>
            </a:r>
          </a:p>
        </p:txBody>
      </p:sp>
      <p:sp>
        <p:nvSpPr>
          <p:cNvPr id="21" name="pct-5"/>
          <p:cNvSpPr txBox="1"/>
          <p:nvPr/>
        </p:nvSpPr>
        <p:spPr>
          <a:xfrm>
            <a:off x="2877830" y="2654891"/>
            <a:ext cx="353568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10%</a:t>
            </a:r>
          </a:p>
        </p:txBody>
      </p:sp>
      <p:cxnSp>
        <p:nvCxnSpPr>
          <p:cNvPr id="22" name="pl-6"/>
          <p:cNvCxnSpPr/>
          <p:nvPr/>
        </p:nvCxnSpPr>
        <p:spPr>
          <a:xfrm flipH="1" flipV="1">
            <a:off x="3582418" y="1976618"/>
            <a:ext cx="28557" cy="149700"/>
          </a:xfrm>
          <a:prstGeom prst="line">
            <a:avLst/>
          </a:prstGeom>
          <a:ln w="8890" cap="rnd">
            <a:solidFill>
              <a:srgbClr val="54A2DF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pct-6"/>
          <p:cNvSpPr txBox="1"/>
          <p:nvPr/>
        </p:nvSpPr>
        <p:spPr>
          <a:xfrm>
            <a:off x="3453556" y="1794074"/>
            <a:ext cx="22440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25">
                <a:solidFill>
                  <a:srgbClr val="54A2DF"/>
                </a:solidFill>
                <a:latin typeface="Arial"/>
                <a:ea typeface="Arial"/>
                <a:cs typeface="Arial"/>
              </a:rPr>
              <a:t>6%</a:t>
            </a:r>
          </a:p>
        </p:txBody>
      </p:sp>
      <p:sp>
        <p:nvSpPr>
          <p:cNvPr id="24" name="core"/>
          <p:cNvSpPr/>
          <p:nvPr/>
        </p:nvSpPr>
        <p:spPr>
          <a:xfrm>
            <a:off x="2959100" y="2857500"/>
            <a:ext cx="1955800" cy="1955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core-ring"/>
          <p:cNvSpPr/>
          <p:nvPr/>
        </p:nvSpPr>
        <p:spPr>
          <a:xfrm>
            <a:off x="3035300" y="2933700"/>
            <a:ext cx="1803400" cy="1803400"/>
          </a:xfrm>
          <a:prstGeom prst="ellipse">
            <a:avLst/>
          </a:prstGeom>
          <a:noFill/>
          <a:ln w="6350" cap="rnd">
            <a:solidFill>
              <a:srgbClr val="0B3E8F">
                <a:alpha val="14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tot-v"/>
          <p:cNvSpPr txBox="1"/>
          <p:nvPr/>
        </p:nvSpPr>
        <p:spPr>
          <a:xfrm>
            <a:off x="3151124" y="3478403"/>
            <a:ext cx="1444752" cy="5778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600" b="1" spc="50">
                <a:solidFill>
                  <a:srgbClr val="0B3E8F"/>
                </a:solidFill>
                <a:latin typeface="Arial"/>
                <a:ea typeface="Arial"/>
                <a:cs typeface="Arial"/>
              </a:rPr>
              <a:t>12,600</a:t>
            </a:r>
          </a:p>
        </p:txBody>
      </p:sp>
      <p:sp>
        <p:nvSpPr>
          <p:cNvPr id="27" name="tot-u"/>
          <p:cNvSpPr txBox="1"/>
          <p:nvPr/>
        </p:nvSpPr>
        <p:spPr>
          <a:xfrm>
            <a:off x="4456684" y="3745040"/>
            <a:ext cx="2171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家</a:t>
            </a:r>
          </a:p>
        </p:txBody>
      </p:sp>
      <p:sp>
        <p:nvSpPr>
          <p:cNvPr id="28" name="tot-l"/>
          <p:cNvSpPr txBox="1"/>
          <p:nvPr/>
        </p:nvSpPr>
        <p:spPr>
          <a:xfrm>
            <a:off x="3571240" y="3989324"/>
            <a:ext cx="7315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4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累计服务客户</a:t>
            </a:r>
          </a:p>
        </p:txBody>
      </p:sp>
      <p:sp>
        <p:nvSpPr>
          <p:cNvPr id="29" name="side-bar"/>
          <p:cNvSpPr/>
          <p:nvPr/>
        </p:nvSpPr>
        <p:spPr>
          <a:xfrm>
            <a:off x="6832600" y="1600200"/>
            <a:ext cx="31750" cy="5588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side-h"/>
          <p:cNvSpPr txBox="1"/>
          <p:nvPr/>
        </p:nvSpPr>
        <p:spPr>
          <a:xfrm>
            <a:off x="7004050" y="16073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行业明细</a:t>
            </a:r>
          </a:p>
        </p:txBody>
      </p:sp>
      <p:sp>
        <p:nvSpPr>
          <p:cNvPr id="31" name="side-p"/>
          <p:cNvSpPr txBox="1"/>
          <p:nvPr/>
        </p:nvSpPr>
        <p:spPr>
          <a:xfrm>
            <a:off x="7009765" y="1894761"/>
            <a:ext cx="8956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按客户数量排序</a:t>
            </a:r>
          </a:p>
        </p:txBody>
      </p:sp>
      <p:sp>
        <p:nvSpPr>
          <p:cNvPr id="32" name="chip"/>
          <p:cNvSpPr/>
          <p:nvPr/>
        </p:nvSpPr>
        <p:spPr>
          <a:xfrm>
            <a:off x="6864350" y="2355850"/>
            <a:ext cx="342900" cy="3429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chip-ring"/>
          <p:cNvSpPr/>
          <p:nvPr/>
        </p:nvSpPr>
        <p:spPr>
          <a:xfrm>
            <a:off x="6864350" y="2355850"/>
            <a:ext cx="342900" cy="342900"/>
          </a:xfrm>
          <a:prstGeom prst="ellipse">
            <a:avLst/>
          </a:prstGeom>
          <a:noFill/>
          <a:ln w="6350" cap="rnd">
            <a:solidFill>
              <a:srgbClr val="0B3E8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icon-factory"/>
          <p:cNvSpPr/>
          <p:nvPr/>
        </p:nvSpPr>
        <p:spPr>
          <a:xfrm>
            <a:off x="6976618" y="2501138"/>
            <a:ext cx="118364" cy="79819"/>
          </a:xfrm>
          <a:custGeom>
            <a:avLst/>
            <a:gdLst/>
            <a:ahLst/>
            <a:cxnLst/>
            <a:rect l="0" t="0" r="r" b="b"/>
            <a:pathLst>
              <a:path w="118364" h="79819">
                <a:moveTo>
                  <a:pt x="0" y="79819"/>
                </a:moveTo>
                <a:lnTo>
                  <a:pt x="0" y="19304"/>
                </a:lnTo>
                <a:lnTo>
                  <a:pt x="34417" y="39942"/>
                </a:lnTo>
                <a:lnTo>
                  <a:pt x="34417" y="19304"/>
                </a:lnTo>
                <a:lnTo>
                  <a:pt x="68834" y="39942"/>
                </a:lnTo>
                <a:lnTo>
                  <a:pt x="68834" y="0"/>
                </a:lnTo>
                <a:lnTo>
                  <a:pt x="103188" y="20638"/>
                </a:lnTo>
                <a:lnTo>
                  <a:pt x="103188" y="72962"/>
                </a:lnTo>
                <a:close/>
                <a:moveTo>
                  <a:pt x="0" y="79819"/>
                </a:moveTo>
                <a:lnTo>
                  <a:pt x="118364" y="79819"/>
                </a:lnTo>
              </a:path>
            </a:pathLst>
          </a:custGeom>
          <a:noFill/>
          <a:ln w="1143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n-1"/>
          <p:cNvSpPr txBox="1"/>
          <p:nvPr/>
        </p:nvSpPr>
        <p:spPr>
          <a:xfrm>
            <a:off x="7325360" y="2332355"/>
            <a:ext cx="51816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制造业</a:t>
            </a:r>
          </a:p>
        </p:txBody>
      </p:sp>
      <p:sp>
        <p:nvSpPr>
          <p:cNvPr id="36" name="c-1"/>
          <p:cNvSpPr txBox="1"/>
          <p:nvPr/>
        </p:nvSpPr>
        <p:spPr>
          <a:xfrm>
            <a:off x="7329170" y="2549366"/>
            <a:ext cx="51435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4,284 家</a:t>
            </a:r>
          </a:p>
        </p:txBody>
      </p:sp>
      <p:sp>
        <p:nvSpPr>
          <p:cNvPr id="37" name="bg-1"/>
          <p:cNvSpPr/>
          <p:nvPr/>
        </p:nvSpPr>
        <p:spPr>
          <a:xfrm>
            <a:off x="8737600" y="2425700"/>
            <a:ext cx="21590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bar-1"/>
          <p:cNvSpPr/>
          <p:nvPr/>
        </p:nvSpPr>
        <p:spPr>
          <a:xfrm>
            <a:off x="8737600" y="2425700"/>
            <a:ext cx="2159000" cy="635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p-1"/>
          <p:cNvSpPr txBox="1"/>
          <p:nvPr/>
        </p:nvSpPr>
        <p:spPr>
          <a:xfrm>
            <a:off x="11153013" y="2329370"/>
            <a:ext cx="369951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34%</a:t>
            </a:r>
          </a:p>
        </p:txBody>
      </p:sp>
      <p:cxnSp>
        <p:nvCxnSpPr>
          <p:cNvPr id="40" name="d-1"/>
          <p:cNvCxnSpPr/>
          <p:nvPr/>
        </p:nvCxnSpPr>
        <p:spPr>
          <a:xfrm>
            <a:off x="7340600" y="2819400"/>
            <a:ext cx="41656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chip"/>
          <p:cNvSpPr/>
          <p:nvPr/>
        </p:nvSpPr>
        <p:spPr>
          <a:xfrm>
            <a:off x="6864350" y="2978150"/>
            <a:ext cx="342900" cy="3429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chip-ring"/>
          <p:cNvSpPr/>
          <p:nvPr/>
        </p:nvSpPr>
        <p:spPr>
          <a:xfrm>
            <a:off x="6864350" y="2978150"/>
            <a:ext cx="342900" cy="342900"/>
          </a:xfrm>
          <a:prstGeom prst="ellipse">
            <a:avLst/>
          </a:prstGeom>
          <a:noFill/>
          <a:ln w="6350" cap="rnd">
            <a:solidFill>
              <a:srgbClr val="134C9C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icon-cart"/>
          <p:cNvSpPr/>
          <p:nvPr/>
        </p:nvSpPr>
        <p:spPr>
          <a:xfrm>
            <a:off x="6975284" y="3098673"/>
            <a:ext cx="109347" cy="64706"/>
          </a:xfrm>
          <a:custGeom>
            <a:avLst/>
            <a:gdLst/>
            <a:ahLst/>
            <a:cxnLst/>
            <a:rect l="0" t="0" r="r" b="b"/>
            <a:pathLst>
              <a:path w="109347" h="64706">
                <a:moveTo>
                  <a:pt x="0" y="0"/>
                </a:moveTo>
                <a:lnTo>
                  <a:pt x="15812" y="0"/>
                </a:lnTo>
                <a:lnTo>
                  <a:pt x="31623" y="64706"/>
                </a:lnTo>
                <a:lnTo>
                  <a:pt x="96266" y="64706"/>
                </a:lnTo>
                <a:lnTo>
                  <a:pt x="109347" y="19304"/>
                </a:lnTo>
                <a:lnTo>
                  <a:pt x="20638" y="19304"/>
                </a:lnTo>
              </a:path>
            </a:pathLst>
          </a:custGeom>
          <a:noFill/>
          <a:ln w="1143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icon-cart"/>
          <p:cNvSpPr/>
          <p:nvPr/>
        </p:nvSpPr>
        <p:spPr>
          <a:xfrm>
            <a:off x="7008283" y="3183996"/>
            <a:ext cx="19262" cy="19262"/>
          </a:xfrm>
          <a:prstGeom prst="ellipse">
            <a:avLst/>
          </a:prstGeom>
          <a:noFill/>
          <a:ln w="1143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icon-cart"/>
          <p:cNvSpPr/>
          <p:nvPr/>
        </p:nvSpPr>
        <p:spPr>
          <a:xfrm>
            <a:off x="7057813" y="3183996"/>
            <a:ext cx="19262" cy="19262"/>
          </a:xfrm>
          <a:prstGeom prst="ellipse">
            <a:avLst/>
          </a:prstGeom>
          <a:noFill/>
          <a:ln w="1143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n-2"/>
          <p:cNvSpPr txBox="1"/>
          <p:nvPr/>
        </p:nvSpPr>
        <p:spPr>
          <a:xfrm>
            <a:off x="7325360" y="295465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零售连锁</a:t>
            </a:r>
          </a:p>
        </p:txBody>
      </p:sp>
      <p:sp>
        <p:nvSpPr>
          <p:cNvPr id="47" name="c-2"/>
          <p:cNvSpPr txBox="1"/>
          <p:nvPr/>
        </p:nvSpPr>
        <p:spPr>
          <a:xfrm>
            <a:off x="7329170" y="3171666"/>
            <a:ext cx="51435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2,772 家</a:t>
            </a:r>
          </a:p>
        </p:txBody>
      </p:sp>
      <p:sp>
        <p:nvSpPr>
          <p:cNvPr id="48" name="bg-2"/>
          <p:cNvSpPr/>
          <p:nvPr/>
        </p:nvSpPr>
        <p:spPr>
          <a:xfrm>
            <a:off x="8737600" y="3048000"/>
            <a:ext cx="21590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bar-2"/>
          <p:cNvSpPr/>
          <p:nvPr/>
        </p:nvSpPr>
        <p:spPr>
          <a:xfrm>
            <a:off x="8737600" y="3048000"/>
            <a:ext cx="1397000" cy="63500"/>
          </a:xfrm>
          <a:prstGeom prst="roundRect">
            <a:avLst>
              <a:gd name="adj" fmla="val 50000"/>
            </a:avLst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p-2"/>
          <p:cNvSpPr txBox="1"/>
          <p:nvPr/>
        </p:nvSpPr>
        <p:spPr>
          <a:xfrm>
            <a:off x="11153013" y="2951670"/>
            <a:ext cx="369951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25">
                <a:solidFill>
                  <a:srgbClr val="134C9C"/>
                </a:solidFill>
                <a:latin typeface="Arial"/>
                <a:ea typeface="Arial"/>
                <a:cs typeface="Arial"/>
              </a:rPr>
              <a:t>22%</a:t>
            </a:r>
          </a:p>
        </p:txBody>
      </p:sp>
      <p:cxnSp>
        <p:nvCxnSpPr>
          <p:cNvPr id="51" name="d-2"/>
          <p:cNvCxnSpPr/>
          <p:nvPr/>
        </p:nvCxnSpPr>
        <p:spPr>
          <a:xfrm>
            <a:off x="7340600" y="3441700"/>
            <a:ext cx="41656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chip"/>
          <p:cNvSpPr/>
          <p:nvPr/>
        </p:nvSpPr>
        <p:spPr>
          <a:xfrm>
            <a:off x="6864350" y="3600450"/>
            <a:ext cx="342900" cy="3429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chip-ring"/>
          <p:cNvSpPr/>
          <p:nvPr/>
        </p:nvSpPr>
        <p:spPr>
          <a:xfrm>
            <a:off x="6864350" y="3600450"/>
            <a:ext cx="342900" cy="342900"/>
          </a:xfrm>
          <a:prstGeom prst="ellipse">
            <a:avLst/>
          </a:prstGeom>
          <a:noFill/>
          <a:ln w="6350" cap="rnd">
            <a:solidFill>
              <a:srgbClr val="2468B6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icon-truck"/>
          <p:cNvSpPr/>
          <p:nvPr/>
        </p:nvSpPr>
        <p:spPr>
          <a:xfrm>
            <a:off x="6978015" y="3734752"/>
            <a:ext cx="108712" cy="67437"/>
          </a:xfrm>
          <a:custGeom>
            <a:avLst/>
            <a:gdLst/>
            <a:ahLst/>
            <a:cxnLst/>
            <a:rect l="0" t="0" r="r" b="b"/>
            <a:pathLst>
              <a:path w="108712" h="67437">
                <a:moveTo>
                  <a:pt x="0" y="0"/>
                </a:moveTo>
                <a:lnTo>
                  <a:pt x="66040" y="0"/>
                </a:lnTo>
                <a:lnTo>
                  <a:pt x="66040" y="67437"/>
                </a:lnTo>
                <a:lnTo>
                  <a:pt x="0" y="67437"/>
                </a:lnTo>
                <a:close/>
                <a:moveTo>
                  <a:pt x="66040" y="24765"/>
                </a:moveTo>
                <a:lnTo>
                  <a:pt x="89408" y="24765"/>
                </a:lnTo>
                <a:lnTo>
                  <a:pt x="108712" y="45402"/>
                </a:lnTo>
                <a:lnTo>
                  <a:pt x="108712" y="67437"/>
                </a:lnTo>
                <a:lnTo>
                  <a:pt x="66040" y="67437"/>
                </a:lnTo>
                <a:close/>
              </a:path>
            </a:pathLst>
          </a:custGeom>
          <a:noFill/>
          <a:ln w="1143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n-3"/>
          <p:cNvSpPr txBox="1"/>
          <p:nvPr/>
        </p:nvSpPr>
        <p:spPr>
          <a:xfrm>
            <a:off x="7325360" y="357695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物流仓储</a:t>
            </a:r>
          </a:p>
        </p:txBody>
      </p:sp>
      <p:sp>
        <p:nvSpPr>
          <p:cNvPr id="56" name="c-3"/>
          <p:cNvSpPr txBox="1"/>
          <p:nvPr/>
        </p:nvSpPr>
        <p:spPr>
          <a:xfrm>
            <a:off x="7329170" y="3793966"/>
            <a:ext cx="51435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2,016 家</a:t>
            </a:r>
          </a:p>
        </p:txBody>
      </p:sp>
      <p:sp>
        <p:nvSpPr>
          <p:cNvPr id="57" name="bg-3"/>
          <p:cNvSpPr/>
          <p:nvPr/>
        </p:nvSpPr>
        <p:spPr>
          <a:xfrm>
            <a:off x="8737600" y="3670300"/>
            <a:ext cx="21590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bar-3"/>
          <p:cNvSpPr/>
          <p:nvPr/>
        </p:nvSpPr>
        <p:spPr>
          <a:xfrm>
            <a:off x="8737600" y="3670300"/>
            <a:ext cx="1016000" cy="63500"/>
          </a:xfrm>
          <a:prstGeom prst="roundRect">
            <a:avLst>
              <a:gd name="adj" fmla="val 50000"/>
            </a:avLst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p-3"/>
          <p:cNvSpPr txBox="1"/>
          <p:nvPr/>
        </p:nvSpPr>
        <p:spPr>
          <a:xfrm>
            <a:off x="11153013" y="3573971"/>
            <a:ext cx="369951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25">
                <a:solidFill>
                  <a:srgbClr val="2468B6"/>
                </a:solidFill>
                <a:latin typeface="Arial"/>
                <a:ea typeface="Arial"/>
                <a:cs typeface="Arial"/>
              </a:rPr>
              <a:t>16%</a:t>
            </a:r>
          </a:p>
        </p:txBody>
      </p:sp>
      <p:cxnSp>
        <p:nvCxnSpPr>
          <p:cNvPr id="60" name="d-3"/>
          <p:cNvCxnSpPr/>
          <p:nvPr/>
        </p:nvCxnSpPr>
        <p:spPr>
          <a:xfrm>
            <a:off x="7340600" y="4064000"/>
            <a:ext cx="41656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chip"/>
          <p:cNvSpPr/>
          <p:nvPr/>
        </p:nvSpPr>
        <p:spPr>
          <a:xfrm>
            <a:off x="6864350" y="4222750"/>
            <a:ext cx="342900" cy="3429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chip-ring"/>
          <p:cNvSpPr/>
          <p:nvPr/>
        </p:nvSpPr>
        <p:spPr>
          <a:xfrm>
            <a:off x="6864350" y="4222750"/>
            <a:ext cx="342900" cy="342900"/>
          </a:xfrm>
          <a:prstGeom prst="ellipse">
            <a:avLst/>
          </a:prstGeom>
          <a:noFill/>
          <a:ln w="6350" cap="rnd">
            <a:solidFill>
              <a:srgbClr val="2E77C2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icon-coin"/>
          <p:cNvSpPr/>
          <p:nvPr/>
        </p:nvSpPr>
        <p:spPr>
          <a:xfrm>
            <a:off x="6991794" y="4355656"/>
            <a:ext cx="88011" cy="77089"/>
          </a:xfrm>
          <a:custGeom>
            <a:avLst/>
            <a:gdLst/>
            <a:ahLst/>
            <a:cxnLst/>
            <a:rect l="0" t="0" r="r" b="b"/>
            <a:pathLst>
              <a:path w="88011" h="77089">
                <a:moveTo>
                  <a:pt x="44006" y="0"/>
                </a:moveTo>
                <a:cubicBezTo>
                  <a:pt x="19240" y="0"/>
                  <a:pt x="0" y="6922"/>
                  <a:pt x="0" y="16510"/>
                </a:cubicBezTo>
                <a:cubicBezTo>
                  <a:pt x="0" y="26162"/>
                  <a:pt x="19240" y="33020"/>
                  <a:pt x="44006" y="33020"/>
                </a:cubicBezTo>
                <a:cubicBezTo>
                  <a:pt x="68771" y="33020"/>
                  <a:pt x="88011" y="26162"/>
                  <a:pt x="88011" y="16510"/>
                </a:cubicBezTo>
                <a:cubicBezTo>
                  <a:pt x="88011" y="6922"/>
                  <a:pt x="68771" y="0"/>
                  <a:pt x="44006" y="0"/>
                </a:cubicBezTo>
                <a:close/>
                <a:moveTo>
                  <a:pt x="0" y="16510"/>
                </a:moveTo>
                <a:lnTo>
                  <a:pt x="0" y="60579"/>
                </a:lnTo>
                <a:cubicBezTo>
                  <a:pt x="0" y="70168"/>
                  <a:pt x="19240" y="77089"/>
                  <a:pt x="44006" y="77089"/>
                </a:cubicBezTo>
                <a:cubicBezTo>
                  <a:pt x="68771" y="77089"/>
                  <a:pt x="88011" y="70168"/>
                  <a:pt x="88011" y="60579"/>
                </a:cubicBezTo>
                <a:lnTo>
                  <a:pt x="88011" y="16510"/>
                </a:lnTo>
              </a:path>
            </a:pathLst>
          </a:custGeom>
          <a:noFill/>
          <a:ln w="1143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n-4"/>
          <p:cNvSpPr txBox="1"/>
          <p:nvPr/>
        </p:nvSpPr>
        <p:spPr>
          <a:xfrm>
            <a:off x="7325360" y="419925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金融机构</a:t>
            </a:r>
          </a:p>
        </p:txBody>
      </p:sp>
      <p:sp>
        <p:nvSpPr>
          <p:cNvPr id="65" name="c-4"/>
          <p:cNvSpPr txBox="1"/>
          <p:nvPr/>
        </p:nvSpPr>
        <p:spPr>
          <a:xfrm>
            <a:off x="7329170" y="4416266"/>
            <a:ext cx="51435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1,512 家</a:t>
            </a:r>
          </a:p>
        </p:txBody>
      </p:sp>
      <p:sp>
        <p:nvSpPr>
          <p:cNvPr id="66" name="bg-4"/>
          <p:cNvSpPr/>
          <p:nvPr/>
        </p:nvSpPr>
        <p:spPr>
          <a:xfrm>
            <a:off x="8737600" y="4292600"/>
            <a:ext cx="21590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bar-4"/>
          <p:cNvSpPr/>
          <p:nvPr/>
        </p:nvSpPr>
        <p:spPr>
          <a:xfrm>
            <a:off x="8737600" y="4292600"/>
            <a:ext cx="762000" cy="63500"/>
          </a:xfrm>
          <a:prstGeom prst="roundRect">
            <a:avLst>
              <a:gd name="adj" fmla="val 50000"/>
            </a:avLst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p-4"/>
          <p:cNvSpPr txBox="1"/>
          <p:nvPr/>
        </p:nvSpPr>
        <p:spPr>
          <a:xfrm>
            <a:off x="11153013" y="4196270"/>
            <a:ext cx="369951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25">
                <a:solidFill>
                  <a:srgbClr val="2E77C2"/>
                </a:solidFill>
                <a:latin typeface="Arial"/>
                <a:ea typeface="Arial"/>
                <a:cs typeface="Arial"/>
              </a:rPr>
              <a:t>12%</a:t>
            </a:r>
          </a:p>
        </p:txBody>
      </p:sp>
      <p:cxnSp>
        <p:nvCxnSpPr>
          <p:cNvPr id="69" name="d-4"/>
          <p:cNvCxnSpPr/>
          <p:nvPr/>
        </p:nvCxnSpPr>
        <p:spPr>
          <a:xfrm>
            <a:off x="7340600" y="4686300"/>
            <a:ext cx="41656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chip"/>
          <p:cNvSpPr/>
          <p:nvPr/>
        </p:nvSpPr>
        <p:spPr>
          <a:xfrm>
            <a:off x="6864350" y="4845050"/>
            <a:ext cx="342900" cy="3429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chip-ring"/>
          <p:cNvSpPr/>
          <p:nvPr/>
        </p:nvSpPr>
        <p:spPr>
          <a:xfrm>
            <a:off x="6864350" y="4845050"/>
            <a:ext cx="342900" cy="342900"/>
          </a:xfrm>
          <a:prstGeom prst="ellipse">
            <a:avLst/>
          </a:prstGeom>
          <a:noFill/>
          <a:ln w="6350" cap="rnd">
            <a:solidFill>
              <a:srgbClr val="4694D7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icon-flag"/>
          <p:cNvSpPr/>
          <p:nvPr/>
        </p:nvSpPr>
        <p:spPr>
          <a:xfrm>
            <a:off x="6994525" y="4962842"/>
            <a:ext cx="66040" cy="112840"/>
          </a:xfrm>
          <a:custGeom>
            <a:avLst/>
            <a:gdLst/>
            <a:ahLst/>
            <a:cxnLst/>
            <a:rect l="0" t="0" r="r" b="b"/>
            <a:pathLst>
              <a:path w="66040" h="112840">
                <a:moveTo>
                  <a:pt x="0" y="112840"/>
                </a:moveTo>
                <a:lnTo>
                  <a:pt x="0" y="0"/>
                </a:lnTo>
                <a:moveTo>
                  <a:pt x="0" y="5525"/>
                </a:moveTo>
                <a:lnTo>
                  <a:pt x="66040" y="5525"/>
                </a:lnTo>
                <a:lnTo>
                  <a:pt x="55055" y="27496"/>
                </a:lnTo>
                <a:lnTo>
                  <a:pt x="66040" y="49530"/>
                </a:lnTo>
                <a:lnTo>
                  <a:pt x="0" y="49530"/>
                </a:lnTo>
              </a:path>
            </a:pathLst>
          </a:custGeom>
          <a:noFill/>
          <a:ln w="1143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n-5"/>
          <p:cNvSpPr txBox="1"/>
          <p:nvPr/>
        </p:nvSpPr>
        <p:spPr>
          <a:xfrm>
            <a:off x="7325360" y="4821555"/>
            <a:ext cx="7874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政府与公共</a:t>
            </a:r>
          </a:p>
        </p:txBody>
      </p:sp>
      <p:sp>
        <p:nvSpPr>
          <p:cNvPr id="74" name="c-5"/>
          <p:cNvSpPr txBox="1"/>
          <p:nvPr/>
        </p:nvSpPr>
        <p:spPr>
          <a:xfrm>
            <a:off x="7329170" y="5038566"/>
            <a:ext cx="51435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1,260 家</a:t>
            </a:r>
          </a:p>
        </p:txBody>
      </p:sp>
      <p:sp>
        <p:nvSpPr>
          <p:cNvPr id="75" name="bg-5"/>
          <p:cNvSpPr/>
          <p:nvPr/>
        </p:nvSpPr>
        <p:spPr>
          <a:xfrm>
            <a:off x="8737600" y="4914900"/>
            <a:ext cx="21590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bar-5"/>
          <p:cNvSpPr/>
          <p:nvPr/>
        </p:nvSpPr>
        <p:spPr>
          <a:xfrm>
            <a:off x="8737600" y="4914900"/>
            <a:ext cx="635000" cy="63500"/>
          </a:xfrm>
          <a:prstGeom prst="roundRect">
            <a:avLst>
              <a:gd name="adj" fmla="val 50000"/>
            </a:avLst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p-5"/>
          <p:cNvSpPr txBox="1"/>
          <p:nvPr/>
        </p:nvSpPr>
        <p:spPr>
          <a:xfrm>
            <a:off x="11153013" y="4818570"/>
            <a:ext cx="369951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25">
                <a:solidFill>
                  <a:srgbClr val="4694D7"/>
                </a:solidFill>
                <a:latin typeface="Arial"/>
                <a:ea typeface="Arial"/>
                <a:cs typeface="Arial"/>
              </a:rPr>
              <a:t>10%</a:t>
            </a:r>
          </a:p>
        </p:txBody>
      </p:sp>
      <p:cxnSp>
        <p:nvCxnSpPr>
          <p:cNvPr id="78" name="d-5"/>
          <p:cNvCxnSpPr/>
          <p:nvPr/>
        </p:nvCxnSpPr>
        <p:spPr>
          <a:xfrm>
            <a:off x="7340600" y="5308600"/>
            <a:ext cx="41656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chip"/>
          <p:cNvSpPr/>
          <p:nvPr/>
        </p:nvSpPr>
        <p:spPr>
          <a:xfrm>
            <a:off x="6864350" y="5467350"/>
            <a:ext cx="342900" cy="3429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chip-ring"/>
          <p:cNvSpPr/>
          <p:nvPr/>
        </p:nvSpPr>
        <p:spPr>
          <a:xfrm>
            <a:off x="6864350" y="5467350"/>
            <a:ext cx="342900" cy="342900"/>
          </a:xfrm>
          <a:prstGeom prst="ellipse">
            <a:avLst/>
          </a:prstGeom>
          <a:noFill/>
          <a:ln w="6350" cap="rnd">
            <a:solidFill>
              <a:srgbClr val="54A2D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icon-layers"/>
          <p:cNvSpPr/>
          <p:nvPr/>
        </p:nvSpPr>
        <p:spPr>
          <a:xfrm>
            <a:off x="6980746" y="5582412"/>
            <a:ext cx="110109" cy="114173"/>
          </a:xfrm>
          <a:custGeom>
            <a:avLst/>
            <a:gdLst/>
            <a:ahLst/>
            <a:cxnLst/>
            <a:rect l="0" t="0" r="r" b="b"/>
            <a:pathLst>
              <a:path w="110109" h="114173">
                <a:moveTo>
                  <a:pt x="55055" y="0"/>
                </a:moveTo>
                <a:lnTo>
                  <a:pt x="110109" y="28892"/>
                </a:lnTo>
                <a:lnTo>
                  <a:pt x="55055" y="57785"/>
                </a:lnTo>
                <a:lnTo>
                  <a:pt x="0" y="28892"/>
                </a:lnTo>
                <a:close/>
                <a:moveTo>
                  <a:pt x="0" y="57785"/>
                </a:moveTo>
                <a:lnTo>
                  <a:pt x="55055" y="86677"/>
                </a:lnTo>
                <a:lnTo>
                  <a:pt x="110109" y="57785"/>
                </a:lnTo>
                <a:moveTo>
                  <a:pt x="0" y="85280"/>
                </a:moveTo>
                <a:lnTo>
                  <a:pt x="55055" y="114173"/>
                </a:lnTo>
                <a:lnTo>
                  <a:pt x="110109" y="85280"/>
                </a:lnTo>
              </a:path>
            </a:pathLst>
          </a:custGeom>
          <a:noFill/>
          <a:ln w="1143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n-6"/>
          <p:cNvSpPr txBox="1"/>
          <p:nvPr/>
        </p:nvSpPr>
        <p:spPr>
          <a:xfrm>
            <a:off x="7325360" y="544385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其他行业</a:t>
            </a:r>
          </a:p>
        </p:txBody>
      </p:sp>
      <p:sp>
        <p:nvSpPr>
          <p:cNvPr id="83" name="c-6"/>
          <p:cNvSpPr txBox="1"/>
          <p:nvPr/>
        </p:nvSpPr>
        <p:spPr>
          <a:xfrm>
            <a:off x="7329170" y="5660866"/>
            <a:ext cx="40386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756 家</a:t>
            </a:r>
          </a:p>
        </p:txBody>
      </p:sp>
      <p:sp>
        <p:nvSpPr>
          <p:cNvPr id="84" name="bg-6"/>
          <p:cNvSpPr/>
          <p:nvPr/>
        </p:nvSpPr>
        <p:spPr>
          <a:xfrm>
            <a:off x="8737600" y="5537200"/>
            <a:ext cx="2159000" cy="63500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bar-6"/>
          <p:cNvSpPr/>
          <p:nvPr/>
        </p:nvSpPr>
        <p:spPr>
          <a:xfrm>
            <a:off x="8737600" y="5537200"/>
            <a:ext cx="381000" cy="63500"/>
          </a:xfrm>
          <a:prstGeom prst="roundRect">
            <a:avLst>
              <a:gd name="adj" fmla="val 50000"/>
            </a:avLst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p-6"/>
          <p:cNvSpPr txBox="1"/>
          <p:nvPr/>
        </p:nvSpPr>
        <p:spPr>
          <a:xfrm>
            <a:off x="11234420" y="5440870"/>
            <a:ext cx="288544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25">
                <a:solidFill>
                  <a:srgbClr val="54A2DF"/>
                </a:solidFill>
                <a:latin typeface="Arial"/>
                <a:ea typeface="Arial"/>
                <a:cs typeface="Arial"/>
              </a:rPr>
              <a:t>6%</a:t>
            </a:r>
          </a:p>
        </p:txBody>
      </p:sp>
      <p:cxnSp>
        <p:nvCxnSpPr>
          <p:cNvPr id="87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客户结构 · 六大行业</a:t>
            </a:r>
          </a:p>
        </p:txBody>
      </p:sp>
      <p:sp>
        <p:nvSpPr>
          <p:cNvPr id="89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区域业绩排行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53695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REGIONAL RANKING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894699" y="673132"/>
            <a:ext cx="27260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本年度各大区营收与同比增速对照（单位：百万元）</a:t>
            </a:r>
          </a:p>
        </p:txBody>
      </p:sp>
      <p:sp>
        <p:nvSpPr>
          <p:cNvPr id="10" name="rk-1"/>
          <p:cNvSpPr/>
          <p:nvPr/>
        </p:nvSpPr>
        <p:spPr>
          <a:xfrm>
            <a:off x="1104900" y="1841500"/>
            <a:ext cx="330200" cy="330200"/>
          </a:xfrm>
          <a:prstGeom prst="ellipse">
            <a:avLst/>
          </a:prstGeom>
          <a:gradFill rotWithShape="1">
            <a:gsLst>
              <a:gs pos="0">
                <a:srgbClr val="3761A3"/>
              </a:gs>
              <a:gs pos="100000">
                <a:srgbClr val="0B3E8F"/>
              </a:gs>
            </a:gsLst>
            <a:lin ang="720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rkt-1"/>
          <p:cNvSpPr txBox="1"/>
          <p:nvPr/>
        </p:nvSpPr>
        <p:spPr>
          <a:xfrm>
            <a:off x="1168019" y="1884870"/>
            <a:ext cx="203962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12" name="n-1"/>
          <p:cNvSpPr txBox="1"/>
          <p:nvPr/>
        </p:nvSpPr>
        <p:spPr>
          <a:xfrm>
            <a:off x="1546098" y="1816513"/>
            <a:ext cx="68389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华东大区</a:t>
            </a:r>
          </a:p>
        </p:txBody>
      </p:sp>
      <p:sp>
        <p:nvSpPr>
          <p:cNvPr id="13" name="p-1"/>
          <p:cNvSpPr txBox="1"/>
          <p:nvPr/>
        </p:nvSpPr>
        <p:spPr>
          <a:xfrm>
            <a:off x="1551432" y="2049208"/>
            <a:ext cx="93497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上海 · 江苏 · 浙江</a:t>
            </a:r>
          </a:p>
        </p:txBody>
      </p:sp>
      <p:sp>
        <p:nvSpPr>
          <p:cNvPr id="14" name="bg-1"/>
          <p:cNvSpPr/>
          <p:nvPr/>
        </p:nvSpPr>
        <p:spPr>
          <a:xfrm>
            <a:off x="3048000" y="1873250"/>
            <a:ext cx="6223000" cy="266700"/>
          </a:xfrm>
          <a:custGeom>
            <a:avLst/>
            <a:gdLst/>
            <a:ahLst/>
            <a:cxnLst/>
            <a:rect l="0" t="0" r="r" b="b"/>
            <a:pathLst>
              <a:path w="6223000" h="266700">
                <a:moveTo>
                  <a:pt x="133350" y="0"/>
                </a:moveTo>
                <a:lnTo>
                  <a:pt x="6089650" y="0"/>
                </a:lnTo>
                <a:cubicBezTo>
                  <a:pt x="6163310" y="0"/>
                  <a:pt x="6223000" y="59690"/>
                  <a:pt x="6223000" y="133350"/>
                </a:cubicBezTo>
                <a:lnTo>
                  <a:pt x="6223000" y="133350"/>
                </a:lnTo>
                <a:cubicBezTo>
                  <a:pt x="6223000" y="207010"/>
                  <a:pt x="6163310" y="266700"/>
                  <a:pt x="6089650" y="266700"/>
                </a:cubicBezTo>
                <a:lnTo>
                  <a:pt x="133350" y="266700"/>
                </a:lnTo>
                <a:cubicBezTo>
                  <a:pt x="59690" y="266700"/>
                  <a:pt x="0" y="207010"/>
                  <a:pt x="0" y="133350"/>
                </a:cubicBezTo>
                <a:lnTo>
                  <a:pt x="0" y="133350"/>
                </a:lnTo>
                <a:cubicBezTo>
                  <a:pt x="0" y="59690"/>
                  <a:pt x="59690" y="0"/>
                  <a:pt x="133350" y="0"/>
                </a:cubicBezTo>
                <a:close/>
              </a:path>
            </a:pathLst>
          </a:custGeom>
          <a:solidFill>
            <a:srgbClr val="0B2545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bar-1"/>
          <p:cNvSpPr/>
          <p:nvPr/>
        </p:nvSpPr>
        <p:spPr>
          <a:xfrm>
            <a:off x="3048000" y="1873250"/>
            <a:ext cx="6005195" cy="266700"/>
          </a:xfrm>
          <a:custGeom>
            <a:avLst/>
            <a:gdLst/>
            <a:ahLst/>
            <a:cxnLst/>
            <a:rect l="0" t="0" r="r" b="b"/>
            <a:pathLst>
              <a:path w="6005195" h="266700">
                <a:moveTo>
                  <a:pt x="133350" y="0"/>
                </a:moveTo>
                <a:lnTo>
                  <a:pt x="5871845" y="0"/>
                </a:lnTo>
                <a:cubicBezTo>
                  <a:pt x="5945505" y="0"/>
                  <a:pt x="6005195" y="59690"/>
                  <a:pt x="6005195" y="133350"/>
                </a:cubicBezTo>
                <a:lnTo>
                  <a:pt x="6005195" y="133350"/>
                </a:lnTo>
                <a:cubicBezTo>
                  <a:pt x="6005195" y="207010"/>
                  <a:pt x="5945505" y="266700"/>
                  <a:pt x="5871845" y="266700"/>
                </a:cubicBezTo>
                <a:lnTo>
                  <a:pt x="133350" y="266700"/>
                </a:lnTo>
                <a:cubicBezTo>
                  <a:pt x="59690" y="266700"/>
                  <a:pt x="0" y="207010"/>
                  <a:pt x="0" y="133350"/>
                </a:cubicBezTo>
                <a:lnTo>
                  <a:pt x="0" y="133350"/>
                </a:lnTo>
                <a:cubicBezTo>
                  <a:pt x="0" y="59690"/>
                  <a:pt x="59690" y="0"/>
                  <a:pt x="133350" y="0"/>
                </a:cubicBezTo>
                <a:close/>
              </a:path>
            </a:pathLst>
          </a:custGeom>
          <a:gradFill rotWithShape="1">
            <a:gsLst>
              <a:gs pos="0">
                <a:srgbClr val="3C65A5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v-1"/>
          <p:cNvSpPr txBox="1"/>
          <p:nvPr/>
        </p:nvSpPr>
        <p:spPr>
          <a:xfrm>
            <a:off x="8575929" y="1892713"/>
            <a:ext cx="353568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386</a:t>
            </a:r>
          </a:p>
        </p:txBody>
      </p:sp>
      <p:sp>
        <p:nvSpPr>
          <p:cNvPr id="17" name="icon-grow"/>
          <p:cNvSpPr/>
          <p:nvPr/>
        </p:nvSpPr>
        <p:spPr>
          <a:xfrm>
            <a:off x="9476105" y="1984502"/>
            <a:ext cx="87312" cy="54674"/>
          </a:xfrm>
          <a:custGeom>
            <a:avLst/>
            <a:gdLst/>
            <a:ahLst/>
            <a:cxnLst/>
            <a:rect l="0" t="0" r="r" b="b"/>
            <a:pathLst>
              <a:path w="87312" h="54674">
                <a:moveTo>
                  <a:pt x="0" y="54674"/>
                </a:moveTo>
                <a:lnTo>
                  <a:pt x="29083" y="23241"/>
                </a:lnTo>
                <a:lnTo>
                  <a:pt x="50038" y="40704"/>
                </a:lnTo>
                <a:lnTo>
                  <a:pt x="84963" y="0"/>
                </a:lnTo>
                <a:moveTo>
                  <a:pt x="70993" y="0"/>
                </a:moveTo>
                <a:lnTo>
                  <a:pt x="87312" y="0"/>
                </a:lnTo>
                <a:lnTo>
                  <a:pt x="87312" y="16256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g-1"/>
          <p:cNvSpPr txBox="1"/>
          <p:nvPr/>
        </p:nvSpPr>
        <p:spPr>
          <a:xfrm>
            <a:off x="9701022" y="1908397"/>
            <a:ext cx="53301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+24.6%</a:t>
            </a:r>
          </a:p>
        </p:txBody>
      </p:sp>
      <p:cxnSp>
        <p:nvCxnSpPr>
          <p:cNvPr id="19" name="d-1"/>
          <p:cNvCxnSpPr/>
          <p:nvPr/>
        </p:nvCxnSpPr>
        <p:spPr>
          <a:xfrm>
            <a:off x="1270000" y="2311400"/>
            <a:ext cx="99060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rk-2"/>
          <p:cNvSpPr/>
          <p:nvPr/>
        </p:nvSpPr>
        <p:spPr>
          <a:xfrm>
            <a:off x="1104900" y="2451100"/>
            <a:ext cx="330200" cy="330200"/>
          </a:xfrm>
          <a:prstGeom prst="ellipse">
            <a:avLst/>
          </a:prstGeom>
          <a:gradFill rotWithShape="1">
            <a:gsLst>
              <a:gs pos="0">
                <a:srgbClr val="3D6CAE"/>
              </a:gs>
              <a:gs pos="100000">
                <a:srgbClr val="134C9C"/>
              </a:gs>
            </a:gsLst>
            <a:lin ang="720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rkt-2"/>
          <p:cNvSpPr txBox="1"/>
          <p:nvPr/>
        </p:nvSpPr>
        <p:spPr>
          <a:xfrm>
            <a:off x="1168019" y="2494470"/>
            <a:ext cx="203962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22" name="n-2"/>
          <p:cNvSpPr txBox="1"/>
          <p:nvPr/>
        </p:nvSpPr>
        <p:spPr>
          <a:xfrm>
            <a:off x="1546098" y="2426113"/>
            <a:ext cx="68389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华南大区</a:t>
            </a:r>
          </a:p>
        </p:txBody>
      </p:sp>
      <p:sp>
        <p:nvSpPr>
          <p:cNvPr id="23" name="p-2"/>
          <p:cNvSpPr txBox="1"/>
          <p:nvPr/>
        </p:nvSpPr>
        <p:spPr>
          <a:xfrm>
            <a:off x="1551432" y="2658808"/>
            <a:ext cx="93497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广东 · 福建 · 广西</a:t>
            </a:r>
          </a:p>
        </p:txBody>
      </p:sp>
      <p:sp>
        <p:nvSpPr>
          <p:cNvPr id="24" name="bg-2"/>
          <p:cNvSpPr/>
          <p:nvPr/>
        </p:nvSpPr>
        <p:spPr>
          <a:xfrm>
            <a:off x="3048000" y="2482850"/>
            <a:ext cx="6223000" cy="266700"/>
          </a:xfrm>
          <a:custGeom>
            <a:avLst/>
            <a:gdLst/>
            <a:ahLst/>
            <a:cxnLst/>
            <a:rect l="0" t="0" r="r" b="b"/>
            <a:pathLst>
              <a:path w="6223000" h="266700">
                <a:moveTo>
                  <a:pt x="133350" y="0"/>
                </a:moveTo>
                <a:lnTo>
                  <a:pt x="6089650" y="0"/>
                </a:lnTo>
                <a:cubicBezTo>
                  <a:pt x="6163310" y="0"/>
                  <a:pt x="6223000" y="59690"/>
                  <a:pt x="6223000" y="133350"/>
                </a:cubicBezTo>
                <a:lnTo>
                  <a:pt x="6223000" y="133350"/>
                </a:lnTo>
                <a:cubicBezTo>
                  <a:pt x="6223000" y="207010"/>
                  <a:pt x="6163310" y="266700"/>
                  <a:pt x="6089650" y="266700"/>
                </a:cubicBezTo>
                <a:lnTo>
                  <a:pt x="133350" y="266700"/>
                </a:lnTo>
                <a:cubicBezTo>
                  <a:pt x="59690" y="266700"/>
                  <a:pt x="0" y="207010"/>
                  <a:pt x="0" y="133350"/>
                </a:cubicBezTo>
                <a:lnTo>
                  <a:pt x="0" y="133350"/>
                </a:lnTo>
                <a:cubicBezTo>
                  <a:pt x="0" y="59690"/>
                  <a:pt x="59690" y="0"/>
                  <a:pt x="133350" y="0"/>
                </a:cubicBezTo>
                <a:close/>
              </a:path>
            </a:pathLst>
          </a:custGeom>
          <a:solidFill>
            <a:srgbClr val="0B2545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bar-2"/>
          <p:cNvSpPr/>
          <p:nvPr/>
        </p:nvSpPr>
        <p:spPr>
          <a:xfrm>
            <a:off x="3048000" y="2482850"/>
            <a:ext cx="4853940" cy="266700"/>
          </a:xfrm>
          <a:custGeom>
            <a:avLst/>
            <a:gdLst/>
            <a:ahLst/>
            <a:cxnLst/>
            <a:rect l="0" t="0" r="r" b="b"/>
            <a:pathLst>
              <a:path w="4853940" h="266700">
                <a:moveTo>
                  <a:pt x="133350" y="0"/>
                </a:moveTo>
                <a:lnTo>
                  <a:pt x="4720590" y="0"/>
                </a:lnTo>
                <a:cubicBezTo>
                  <a:pt x="4794250" y="0"/>
                  <a:pt x="4853940" y="59690"/>
                  <a:pt x="4853940" y="133350"/>
                </a:cubicBezTo>
                <a:lnTo>
                  <a:pt x="4853940" y="133350"/>
                </a:lnTo>
                <a:cubicBezTo>
                  <a:pt x="4853940" y="207010"/>
                  <a:pt x="4794250" y="266700"/>
                  <a:pt x="4720590" y="266700"/>
                </a:cubicBezTo>
                <a:lnTo>
                  <a:pt x="133350" y="266700"/>
                </a:lnTo>
                <a:cubicBezTo>
                  <a:pt x="59690" y="266700"/>
                  <a:pt x="0" y="207010"/>
                  <a:pt x="0" y="133350"/>
                </a:cubicBezTo>
                <a:lnTo>
                  <a:pt x="0" y="133350"/>
                </a:lnTo>
                <a:cubicBezTo>
                  <a:pt x="0" y="59690"/>
                  <a:pt x="59690" y="0"/>
                  <a:pt x="133350" y="0"/>
                </a:cubicBezTo>
                <a:close/>
              </a:path>
            </a:pathLst>
          </a:custGeom>
          <a:gradFill rotWithShape="1">
            <a:gsLst>
              <a:gs pos="0">
                <a:srgbClr val="4270B0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v-2"/>
          <p:cNvSpPr txBox="1"/>
          <p:nvPr/>
        </p:nvSpPr>
        <p:spPr>
          <a:xfrm>
            <a:off x="7424674" y="2502313"/>
            <a:ext cx="353568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312</a:t>
            </a:r>
          </a:p>
        </p:txBody>
      </p:sp>
      <p:sp>
        <p:nvSpPr>
          <p:cNvPr id="27" name="icon-grow"/>
          <p:cNvSpPr/>
          <p:nvPr/>
        </p:nvSpPr>
        <p:spPr>
          <a:xfrm>
            <a:off x="9476105" y="2594102"/>
            <a:ext cx="87312" cy="54674"/>
          </a:xfrm>
          <a:custGeom>
            <a:avLst/>
            <a:gdLst/>
            <a:ahLst/>
            <a:cxnLst/>
            <a:rect l="0" t="0" r="r" b="b"/>
            <a:pathLst>
              <a:path w="87312" h="54674">
                <a:moveTo>
                  <a:pt x="0" y="54674"/>
                </a:moveTo>
                <a:lnTo>
                  <a:pt x="29083" y="23241"/>
                </a:lnTo>
                <a:lnTo>
                  <a:pt x="50038" y="40704"/>
                </a:lnTo>
                <a:lnTo>
                  <a:pt x="84963" y="0"/>
                </a:lnTo>
                <a:moveTo>
                  <a:pt x="70993" y="0"/>
                </a:moveTo>
                <a:lnTo>
                  <a:pt x="87312" y="0"/>
                </a:lnTo>
                <a:lnTo>
                  <a:pt x="87312" y="16256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g-2"/>
          <p:cNvSpPr txBox="1"/>
          <p:nvPr/>
        </p:nvSpPr>
        <p:spPr>
          <a:xfrm>
            <a:off x="9701022" y="2517997"/>
            <a:ext cx="53301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+31.2%</a:t>
            </a:r>
          </a:p>
        </p:txBody>
      </p:sp>
      <p:cxnSp>
        <p:nvCxnSpPr>
          <p:cNvPr id="29" name="d-2"/>
          <p:cNvCxnSpPr/>
          <p:nvPr/>
        </p:nvCxnSpPr>
        <p:spPr>
          <a:xfrm>
            <a:off x="1270000" y="2921000"/>
            <a:ext cx="99060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k-3"/>
          <p:cNvSpPr/>
          <p:nvPr/>
        </p:nvSpPr>
        <p:spPr>
          <a:xfrm>
            <a:off x="1104900" y="3060700"/>
            <a:ext cx="330200" cy="330200"/>
          </a:xfrm>
          <a:prstGeom prst="ellipse">
            <a:avLst/>
          </a:prstGeom>
          <a:gradFill rotWithShape="1">
            <a:gsLst>
              <a:gs pos="0">
                <a:srgbClr val="4478B8"/>
              </a:gs>
              <a:gs pos="100000">
                <a:srgbClr val="1B5AA8"/>
              </a:gs>
            </a:gsLst>
            <a:lin ang="720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rkt-3"/>
          <p:cNvSpPr txBox="1"/>
          <p:nvPr/>
        </p:nvSpPr>
        <p:spPr>
          <a:xfrm>
            <a:off x="1168019" y="3104070"/>
            <a:ext cx="203962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32" name="n-3"/>
          <p:cNvSpPr txBox="1"/>
          <p:nvPr/>
        </p:nvSpPr>
        <p:spPr>
          <a:xfrm>
            <a:off x="1546098" y="3035713"/>
            <a:ext cx="68389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华北大区</a:t>
            </a:r>
          </a:p>
        </p:txBody>
      </p:sp>
      <p:sp>
        <p:nvSpPr>
          <p:cNvPr id="33" name="p-3"/>
          <p:cNvSpPr txBox="1"/>
          <p:nvPr/>
        </p:nvSpPr>
        <p:spPr>
          <a:xfrm>
            <a:off x="1551432" y="3268408"/>
            <a:ext cx="93497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北京 · 天津 · 河北</a:t>
            </a:r>
          </a:p>
        </p:txBody>
      </p:sp>
      <p:sp>
        <p:nvSpPr>
          <p:cNvPr id="34" name="bg-3"/>
          <p:cNvSpPr/>
          <p:nvPr/>
        </p:nvSpPr>
        <p:spPr>
          <a:xfrm>
            <a:off x="3048000" y="3092450"/>
            <a:ext cx="6223000" cy="266700"/>
          </a:xfrm>
          <a:custGeom>
            <a:avLst/>
            <a:gdLst/>
            <a:ahLst/>
            <a:cxnLst/>
            <a:rect l="0" t="0" r="r" b="b"/>
            <a:pathLst>
              <a:path w="6223000" h="266700">
                <a:moveTo>
                  <a:pt x="133350" y="0"/>
                </a:moveTo>
                <a:lnTo>
                  <a:pt x="6089650" y="0"/>
                </a:lnTo>
                <a:cubicBezTo>
                  <a:pt x="6163310" y="0"/>
                  <a:pt x="6223000" y="59690"/>
                  <a:pt x="6223000" y="133350"/>
                </a:cubicBezTo>
                <a:lnTo>
                  <a:pt x="6223000" y="133350"/>
                </a:lnTo>
                <a:cubicBezTo>
                  <a:pt x="6223000" y="207010"/>
                  <a:pt x="6163310" y="266700"/>
                  <a:pt x="6089650" y="266700"/>
                </a:cubicBezTo>
                <a:lnTo>
                  <a:pt x="133350" y="266700"/>
                </a:lnTo>
                <a:cubicBezTo>
                  <a:pt x="59690" y="266700"/>
                  <a:pt x="0" y="207010"/>
                  <a:pt x="0" y="133350"/>
                </a:cubicBezTo>
                <a:lnTo>
                  <a:pt x="0" y="133350"/>
                </a:lnTo>
                <a:cubicBezTo>
                  <a:pt x="0" y="59690"/>
                  <a:pt x="59690" y="0"/>
                  <a:pt x="133350" y="0"/>
                </a:cubicBezTo>
                <a:close/>
              </a:path>
            </a:pathLst>
          </a:custGeom>
          <a:solidFill>
            <a:srgbClr val="0B2545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bar-3"/>
          <p:cNvSpPr/>
          <p:nvPr/>
        </p:nvSpPr>
        <p:spPr>
          <a:xfrm>
            <a:off x="3048000" y="3092450"/>
            <a:ext cx="4169410" cy="266700"/>
          </a:xfrm>
          <a:custGeom>
            <a:avLst/>
            <a:gdLst/>
            <a:ahLst/>
            <a:cxnLst/>
            <a:rect l="0" t="0" r="r" b="b"/>
            <a:pathLst>
              <a:path w="4169410" h="266700">
                <a:moveTo>
                  <a:pt x="133350" y="0"/>
                </a:moveTo>
                <a:lnTo>
                  <a:pt x="4036060" y="0"/>
                </a:lnTo>
                <a:cubicBezTo>
                  <a:pt x="4109720" y="0"/>
                  <a:pt x="4169410" y="59690"/>
                  <a:pt x="4169410" y="133350"/>
                </a:cubicBezTo>
                <a:lnTo>
                  <a:pt x="4169410" y="133350"/>
                </a:lnTo>
                <a:cubicBezTo>
                  <a:pt x="4169410" y="207010"/>
                  <a:pt x="4109720" y="266700"/>
                  <a:pt x="4036060" y="266700"/>
                </a:cubicBezTo>
                <a:lnTo>
                  <a:pt x="133350" y="266700"/>
                </a:lnTo>
                <a:cubicBezTo>
                  <a:pt x="59690" y="266700"/>
                  <a:pt x="0" y="207010"/>
                  <a:pt x="0" y="133350"/>
                </a:cubicBezTo>
                <a:lnTo>
                  <a:pt x="0" y="133350"/>
                </a:lnTo>
                <a:cubicBezTo>
                  <a:pt x="0" y="59690"/>
                  <a:pt x="59690" y="0"/>
                  <a:pt x="133350" y="0"/>
                </a:cubicBezTo>
                <a:close/>
              </a:path>
            </a:pathLst>
          </a:custGeom>
          <a:gradFill rotWithShape="1">
            <a:gsLst>
              <a:gs pos="0">
                <a:srgbClr val="497BB9"/>
              </a:gs>
              <a:gs pos="100000">
                <a:srgbClr val="1B5AA8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v-3"/>
          <p:cNvSpPr txBox="1"/>
          <p:nvPr/>
        </p:nvSpPr>
        <p:spPr>
          <a:xfrm>
            <a:off x="6740144" y="3111913"/>
            <a:ext cx="353568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268</a:t>
            </a:r>
          </a:p>
        </p:txBody>
      </p:sp>
      <p:sp>
        <p:nvSpPr>
          <p:cNvPr id="37" name="icon-grow"/>
          <p:cNvSpPr/>
          <p:nvPr/>
        </p:nvSpPr>
        <p:spPr>
          <a:xfrm>
            <a:off x="9476105" y="3203702"/>
            <a:ext cx="87312" cy="54674"/>
          </a:xfrm>
          <a:custGeom>
            <a:avLst/>
            <a:gdLst/>
            <a:ahLst/>
            <a:cxnLst/>
            <a:rect l="0" t="0" r="r" b="b"/>
            <a:pathLst>
              <a:path w="87312" h="54674">
                <a:moveTo>
                  <a:pt x="0" y="54674"/>
                </a:moveTo>
                <a:lnTo>
                  <a:pt x="29083" y="23241"/>
                </a:lnTo>
                <a:lnTo>
                  <a:pt x="50038" y="40704"/>
                </a:lnTo>
                <a:lnTo>
                  <a:pt x="84963" y="0"/>
                </a:lnTo>
                <a:moveTo>
                  <a:pt x="70993" y="0"/>
                </a:moveTo>
                <a:lnTo>
                  <a:pt x="87312" y="0"/>
                </a:lnTo>
                <a:lnTo>
                  <a:pt x="87312" y="16256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g-3"/>
          <p:cNvSpPr txBox="1"/>
          <p:nvPr/>
        </p:nvSpPr>
        <p:spPr>
          <a:xfrm>
            <a:off x="9701022" y="3127597"/>
            <a:ext cx="53301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+12.8%</a:t>
            </a:r>
          </a:p>
        </p:txBody>
      </p:sp>
      <p:cxnSp>
        <p:nvCxnSpPr>
          <p:cNvPr id="39" name="d-3"/>
          <p:cNvCxnSpPr/>
          <p:nvPr/>
        </p:nvCxnSpPr>
        <p:spPr>
          <a:xfrm>
            <a:off x="1270000" y="3530600"/>
            <a:ext cx="99060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rk-4"/>
          <p:cNvSpPr/>
          <p:nvPr/>
        </p:nvSpPr>
        <p:spPr>
          <a:xfrm>
            <a:off x="1117600" y="3683000"/>
            <a:ext cx="304800" cy="304800"/>
          </a:xfrm>
          <a:prstGeom prst="ellipse">
            <a:avLst/>
          </a:prstGeom>
          <a:solidFill>
            <a:srgbClr val="E7ED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rkt-4"/>
          <p:cNvSpPr txBox="1"/>
          <p:nvPr/>
        </p:nvSpPr>
        <p:spPr>
          <a:xfrm>
            <a:off x="1181926" y="3730847"/>
            <a:ext cx="17614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8FA3BC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42" name="n-4"/>
          <p:cNvSpPr txBox="1"/>
          <p:nvPr/>
        </p:nvSpPr>
        <p:spPr>
          <a:xfrm>
            <a:off x="1546098" y="3645313"/>
            <a:ext cx="68389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华中大区</a:t>
            </a:r>
          </a:p>
        </p:txBody>
      </p:sp>
      <p:sp>
        <p:nvSpPr>
          <p:cNvPr id="43" name="p-4"/>
          <p:cNvSpPr txBox="1"/>
          <p:nvPr/>
        </p:nvSpPr>
        <p:spPr>
          <a:xfrm>
            <a:off x="1551432" y="3878008"/>
            <a:ext cx="93497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湖北 · 湖南 · 河南</a:t>
            </a:r>
          </a:p>
        </p:txBody>
      </p:sp>
      <p:sp>
        <p:nvSpPr>
          <p:cNvPr id="44" name="bg-4"/>
          <p:cNvSpPr/>
          <p:nvPr/>
        </p:nvSpPr>
        <p:spPr>
          <a:xfrm>
            <a:off x="3048000" y="3702050"/>
            <a:ext cx="6223000" cy="266700"/>
          </a:xfrm>
          <a:custGeom>
            <a:avLst/>
            <a:gdLst/>
            <a:ahLst/>
            <a:cxnLst/>
            <a:rect l="0" t="0" r="r" b="b"/>
            <a:pathLst>
              <a:path w="6223000" h="266700">
                <a:moveTo>
                  <a:pt x="133350" y="0"/>
                </a:moveTo>
                <a:lnTo>
                  <a:pt x="6089650" y="0"/>
                </a:lnTo>
                <a:cubicBezTo>
                  <a:pt x="6163310" y="0"/>
                  <a:pt x="6223000" y="59690"/>
                  <a:pt x="6223000" y="133350"/>
                </a:cubicBezTo>
                <a:lnTo>
                  <a:pt x="6223000" y="133350"/>
                </a:lnTo>
                <a:cubicBezTo>
                  <a:pt x="6223000" y="207010"/>
                  <a:pt x="6163310" y="266700"/>
                  <a:pt x="6089650" y="266700"/>
                </a:cubicBezTo>
                <a:lnTo>
                  <a:pt x="133350" y="266700"/>
                </a:lnTo>
                <a:cubicBezTo>
                  <a:pt x="59690" y="266700"/>
                  <a:pt x="0" y="207010"/>
                  <a:pt x="0" y="133350"/>
                </a:cubicBezTo>
                <a:lnTo>
                  <a:pt x="0" y="133350"/>
                </a:lnTo>
                <a:cubicBezTo>
                  <a:pt x="0" y="59690"/>
                  <a:pt x="59690" y="0"/>
                  <a:pt x="133350" y="0"/>
                </a:cubicBezTo>
                <a:close/>
              </a:path>
            </a:pathLst>
          </a:custGeom>
          <a:solidFill>
            <a:srgbClr val="0B2545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bar-4"/>
          <p:cNvSpPr/>
          <p:nvPr/>
        </p:nvSpPr>
        <p:spPr>
          <a:xfrm>
            <a:off x="3048000" y="3702050"/>
            <a:ext cx="3329305" cy="266700"/>
          </a:xfrm>
          <a:custGeom>
            <a:avLst/>
            <a:gdLst/>
            <a:ahLst/>
            <a:cxnLst/>
            <a:rect l="0" t="0" r="r" b="b"/>
            <a:pathLst>
              <a:path w="3329305" h="266700">
                <a:moveTo>
                  <a:pt x="133350" y="0"/>
                </a:moveTo>
                <a:lnTo>
                  <a:pt x="3195955" y="0"/>
                </a:lnTo>
                <a:cubicBezTo>
                  <a:pt x="3269615" y="0"/>
                  <a:pt x="3329305" y="59690"/>
                  <a:pt x="3329305" y="133350"/>
                </a:cubicBezTo>
                <a:lnTo>
                  <a:pt x="3329305" y="133350"/>
                </a:lnTo>
                <a:cubicBezTo>
                  <a:pt x="3329305" y="207010"/>
                  <a:pt x="3269615" y="266700"/>
                  <a:pt x="3195955" y="266700"/>
                </a:cubicBezTo>
                <a:lnTo>
                  <a:pt x="133350" y="266700"/>
                </a:lnTo>
                <a:cubicBezTo>
                  <a:pt x="59690" y="266700"/>
                  <a:pt x="0" y="207010"/>
                  <a:pt x="0" y="133350"/>
                </a:cubicBezTo>
                <a:lnTo>
                  <a:pt x="0" y="133350"/>
                </a:lnTo>
                <a:cubicBezTo>
                  <a:pt x="0" y="59690"/>
                  <a:pt x="59690" y="0"/>
                  <a:pt x="133350" y="0"/>
                </a:cubicBezTo>
                <a:close/>
              </a:path>
            </a:pathLst>
          </a:custGeom>
          <a:gradFill rotWithShape="1">
            <a:gsLst>
              <a:gs pos="0">
                <a:srgbClr val="5892CE"/>
              </a:gs>
              <a:gs pos="100000">
                <a:srgbClr val="2E77C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v-4"/>
          <p:cNvSpPr txBox="1"/>
          <p:nvPr/>
        </p:nvSpPr>
        <p:spPr>
          <a:xfrm>
            <a:off x="5900039" y="3721513"/>
            <a:ext cx="353568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214</a:t>
            </a:r>
          </a:p>
        </p:txBody>
      </p:sp>
      <p:sp>
        <p:nvSpPr>
          <p:cNvPr id="47" name="icon-grow"/>
          <p:cNvSpPr/>
          <p:nvPr/>
        </p:nvSpPr>
        <p:spPr>
          <a:xfrm>
            <a:off x="9476105" y="3813302"/>
            <a:ext cx="87312" cy="54674"/>
          </a:xfrm>
          <a:custGeom>
            <a:avLst/>
            <a:gdLst/>
            <a:ahLst/>
            <a:cxnLst/>
            <a:rect l="0" t="0" r="r" b="b"/>
            <a:pathLst>
              <a:path w="87312" h="54674">
                <a:moveTo>
                  <a:pt x="0" y="54674"/>
                </a:moveTo>
                <a:lnTo>
                  <a:pt x="29083" y="23241"/>
                </a:lnTo>
                <a:lnTo>
                  <a:pt x="50038" y="40703"/>
                </a:lnTo>
                <a:lnTo>
                  <a:pt x="84963" y="0"/>
                </a:lnTo>
                <a:moveTo>
                  <a:pt x="70993" y="0"/>
                </a:moveTo>
                <a:lnTo>
                  <a:pt x="87312" y="0"/>
                </a:lnTo>
                <a:lnTo>
                  <a:pt x="87312" y="16256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g-4"/>
          <p:cNvSpPr txBox="1"/>
          <p:nvPr/>
        </p:nvSpPr>
        <p:spPr>
          <a:xfrm>
            <a:off x="9701022" y="3737197"/>
            <a:ext cx="53301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+18.4%</a:t>
            </a:r>
          </a:p>
        </p:txBody>
      </p:sp>
      <p:cxnSp>
        <p:nvCxnSpPr>
          <p:cNvPr id="49" name="d-4"/>
          <p:cNvCxnSpPr/>
          <p:nvPr/>
        </p:nvCxnSpPr>
        <p:spPr>
          <a:xfrm>
            <a:off x="1270000" y="4140200"/>
            <a:ext cx="99060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" name="rk-5"/>
          <p:cNvSpPr/>
          <p:nvPr/>
        </p:nvSpPr>
        <p:spPr>
          <a:xfrm>
            <a:off x="1117600" y="4292600"/>
            <a:ext cx="304800" cy="304800"/>
          </a:xfrm>
          <a:prstGeom prst="ellipse">
            <a:avLst/>
          </a:prstGeom>
          <a:solidFill>
            <a:srgbClr val="E7ED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rkt-5"/>
          <p:cNvSpPr txBox="1"/>
          <p:nvPr/>
        </p:nvSpPr>
        <p:spPr>
          <a:xfrm>
            <a:off x="1181926" y="4340447"/>
            <a:ext cx="17614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8FA3BC"/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  <p:sp>
        <p:nvSpPr>
          <p:cNvPr id="52" name="n-5"/>
          <p:cNvSpPr txBox="1"/>
          <p:nvPr/>
        </p:nvSpPr>
        <p:spPr>
          <a:xfrm>
            <a:off x="1546098" y="4254913"/>
            <a:ext cx="68389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西南大区</a:t>
            </a:r>
          </a:p>
        </p:txBody>
      </p:sp>
      <p:sp>
        <p:nvSpPr>
          <p:cNvPr id="53" name="p-5"/>
          <p:cNvSpPr txBox="1"/>
          <p:nvPr/>
        </p:nvSpPr>
        <p:spPr>
          <a:xfrm>
            <a:off x="1551432" y="4487608"/>
            <a:ext cx="93497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四川 · 重庆 · 云南</a:t>
            </a:r>
          </a:p>
        </p:txBody>
      </p:sp>
      <p:sp>
        <p:nvSpPr>
          <p:cNvPr id="54" name="bg-5"/>
          <p:cNvSpPr/>
          <p:nvPr/>
        </p:nvSpPr>
        <p:spPr>
          <a:xfrm>
            <a:off x="3048000" y="4311650"/>
            <a:ext cx="6223000" cy="266700"/>
          </a:xfrm>
          <a:custGeom>
            <a:avLst/>
            <a:gdLst/>
            <a:ahLst/>
            <a:cxnLst/>
            <a:rect l="0" t="0" r="r" b="b"/>
            <a:pathLst>
              <a:path w="6223000" h="266700">
                <a:moveTo>
                  <a:pt x="133350" y="0"/>
                </a:moveTo>
                <a:lnTo>
                  <a:pt x="6089650" y="0"/>
                </a:lnTo>
                <a:cubicBezTo>
                  <a:pt x="6163310" y="0"/>
                  <a:pt x="6223000" y="59690"/>
                  <a:pt x="6223000" y="133350"/>
                </a:cubicBezTo>
                <a:lnTo>
                  <a:pt x="6223000" y="133350"/>
                </a:lnTo>
                <a:cubicBezTo>
                  <a:pt x="6223000" y="207010"/>
                  <a:pt x="6163310" y="266700"/>
                  <a:pt x="6089650" y="266700"/>
                </a:cubicBezTo>
                <a:lnTo>
                  <a:pt x="133350" y="266700"/>
                </a:lnTo>
                <a:cubicBezTo>
                  <a:pt x="59690" y="266700"/>
                  <a:pt x="0" y="207010"/>
                  <a:pt x="0" y="133350"/>
                </a:cubicBezTo>
                <a:lnTo>
                  <a:pt x="0" y="133350"/>
                </a:lnTo>
                <a:cubicBezTo>
                  <a:pt x="0" y="59690"/>
                  <a:pt x="59690" y="0"/>
                  <a:pt x="133350" y="0"/>
                </a:cubicBezTo>
                <a:close/>
              </a:path>
            </a:pathLst>
          </a:custGeom>
          <a:solidFill>
            <a:srgbClr val="0B2545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bar-5"/>
          <p:cNvSpPr/>
          <p:nvPr/>
        </p:nvSpPr>
        <p:spPr>
          <a:xfrm>
            <a:off x="3048000" y="4311650"/>
            <a:ext cx="2738120" cy="266700"/>
          </a:xfrm>
          <a:custGeom>
            <a:avLst/>
            <a:gdLst/>
            <a:ahLst/>
            <a:cxnLst/>
            <a:rect l="0" t="0" r="r" b="b"/>
            <a:pathLst>
              <a:path w="2738120" h="266700">
                <a:moveTo>
                  <a:pt x="133350" y="0"/>
                </a:moveTo>
                <a:lnTo>
                  <a:pt x="2604770" y="0"/>
                </a:lnTo>
                <a:cubicBezTo>
                  <a:pt x="2678430" y="0"/>
                  <a:pt x="2738120" y="59690"/>
                  <a:pt x="2738120" y="133350"/>
                </a:cubicBezTo>
                <a:lnTo>
                  <a:pt x="2738120" y="133350"/>
                </a:lnTo>
                <a:cubicBezTo>
                  <a:pt x="2738120" y="207010"/>
                  <a:pt x="2678430" y="266700"/>
                  <a:pt x="2604770" y="266700"/>
                </a:cubicBezTo>
                <a:lnTo>
                  <a:pt x="133350" y="266700"/>
                </a:lnTo>
                <a:cubicBezTo>
                  <a:pt x="59690" y="266700"/>
                  <a:pt x="0" y="207010"/>
                  <a:pt x="0" y="133350"/>
                </a:cubicBezTo>
                <a:lnTo>
                  <a:pt x="0" y="133350"/>
                </a:lnTo>
                <a:cubicBezTo>
                  <a:pt x="0" y="59690"/>
                  <a:pt x="59690" y="0"/>
                  <a:pt x="133350" y="0"/>
                </a:cubicBezTo>
                <a:close/>
              </a:path>
            </a:pathLst>
          </a:custGeom>
          <a:gradFill rotWithShape="1">
            <a:gsLst>
              <a:gs pos="0">
                <a:srgbClr val="619DD7"/>
              </a:gs>
              <a:gs pos="100000">
                <a:srgbClr val="3985CD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v-5"/>
          <p:cNvSpPr txBox="1"/>
          <p:nvPr/>
        </p:nvSpPr>
        <p:spPr>
          <a:xfrm>
            <a:off x="5308854" y="4331113"/>
            <a:ext cx="353568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176</a:t>
            </a:r>
          </a:p>
        </p:txBody>
      </p:sp>
      <p:sp>
        <p:nvSpPr>
          <p:cNvPr id="57" name="icon-grow"/>
          <p:cNvSpPr/>
          <p:nvPr/>
        </p:nvSpPr>
        <p:spPr>
          <a:xfrm>
            <a:off x="9476105" y="4422902"/>
            <a:ext cx="87312" cy="54674"/>
          </a:xfrm>
          <a:custGeom>
            <a:avLst/>
            <a:gdLst/>
            <a:ahLst/>
            <a:cxnLst/>
            <a:rect l="0" t="0" r="r" b="b"/>
            <a:pathLst>
              <a:path w="87312" h="54674">
                <a:moveTo>
                  <a:pt x="0" y="54674"/>
                </a:moveTo>
                <a:lnTo>
                  <a:pt x="29083" y="23241"/>
                </a:lnTo>
                <a:lnTo>
                  <a:pt x="50038" y="40703"/>
                </a:lnTo>
                <a:lnTo>
                  <a:pt x="84963" y="0"/>
                </a:lnTo>
                <a:moveTo>
                  <a:pt x="70993" y="0"/>
                </a:moveTo>
                <a:lnTo>
                  <a:pt x="87312" y="0"/>
                </a:lnTo>
                <a:lnTo>
                  <a:pt x="87312" y="16256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g-5"/>
          <p:cNvSpPr txBox="1"/>
          <p:nvPr/>
        </p:nvSpPr>
        <p:spPr>
          <a:xfrm>
            <a:off x="9701022" y="4346797"/>
            <a:ext cx="53301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+27.5%</a:t>
            </a:r>
          </a:p>
        </p:txBody>
      </p:sp>
      <p:cxnSp>
        <p:nvCxnSpPr>
          <p:cNvPr id="59" name="d-5"/>
          <p:cNvCxnSpPr/>
          <p:nvPr/>
        </p:nvCxnSpPr>
        <p:spPr>
          <a:xfrm>
            <a:off x="1270000" y="4749800"/>
            <a:ext cx="99060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k-6"/>
          <p:cNvSpPr/>
          <p:nvPr/>
        </p:nvSpPr>
        <p:spPr>
          <a:xfrm>
            <a:off x="1117600" y="4902200"/>
            <a:ext cx="304800" cy="304800"/>
          </a:xfrm>
          <a:prstGeom prst="ellipse">
            <a:avLst/>
          </a:prstGeom>
          <a:solidFill>
            <a:srgbClr val="E7ED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rkt-6"/>
          <p:cNvSpPr txBox="1"/>
          <p:nvPr/>
        </p:nvSpPr>
        <p:spPr>
          <a:xfrm>
            <a:off x="1181926" y="4950047"/>
            <a:ext cx="17614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8FA3BC"/>
                </a:solidFill>
                <a:latin typeface="Arial"/>
                <a:ea typeface="Arial"/>
                <a:cs typeface="Arial"/>
              </a:rPr>
              <a:t>6</a:t>
            </a:r>
          </a:p>
        </p:txBody>
      </p:sp>
      <p:sp>
        <p:nvSpPr>
          <p:cNvPr id="62" name="n-6"/>
          <p:cNvSpPr txBox="1"/>
          <p:nvPr/>
        </p:nvSpPr>
        <p:spPr>
          <a:xfrm>
            <a:off x="1546098" y="4864513"/>
            <a:ext cx="68389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西北大区</a:t>
            </a:r>
          </a:p>
        </p:txBody>
      </p:sp>
      <p:sp>
        <p:nvSpPr>
          <p:cNvPr id="63" name="p-6"/>
          <p:cNvSpPr txBox="1"/>
          <p:nvPr/>
        </p:nvSpPr>
        <p:spPr>
          <a:xfrm>
            <a:off x="1551432" y="5097208"/>
            <a:ext cx="93497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陕西 · 甘肃 · 新疆</a:t>
            </a:r>
          </a:p>
        </p:txBody>
      </p:sp>
      <p:sp>
        <p:nvSpPr>
          <p:cNvPr id="64" name="bg-6"/>
          <p:cNvSpPr/>
          <p:nvPr/>
        </p:nvSpPr>
        <p:spPr>
          <a:xfrm>
            <a:off x="3048000" y="4921250"/>
            <a:ext cx="6223000" cy="266700"/>
          </a:xfrm>
          <a:custGeom>
            <a:avLst/>
            <a:gdLst/>
            <a:ahLst/>
            <a:cxnLst/>
            <a:rect l="0" t="0" r="r" b="b"/>
            <a:pathLst>
              <a:path w="6223000" h="266700">
                <a:moveTo>
                  <a:pt x="133350" y="0"/>
                </a:moveTo>
                <a:lnTo>
                  <a:pt x="6089650" y="0"/>
                </a:lnTo>
                <a:cubicBezTo>
                  <a:pt x="6163310" y="0"/>
                  <a:pt x="6223000" y="59690"/>
                  <a:pt x="6223000" y="133350"/>
                </a:cubicBezTo>
                <a:lnTo>
                  <a:pt x="6223000" y="133350"/>
                </a:lnTo>
                <a:cubicBezTo>
                  <a:pt x="6223000" y="207010"/>
                  <a:pt x="6163310" y="266700"/>
                  <a:pt x="6089650" y="266700"/>
                </a:cubicBezTo>
                <a:lnTo>
                  <a:pt x="133350" y="266700"/>
                </a:lnTo>
                <a:cubicBezTo>
                  <a:pt x="59690" y="266700"/>
                  <a:pt x="0" y="207010"/>
                  <a:pt x="0" y="133350"/>
                </a:cubicBezTo>
                <a:lnTo>
                  <a:pt x="0" y="133350"/>
                </a:lnTo>
                <a:cubicBezTo>
                  <a:pt x="0" y="59690"/>
                  <a:pt x="59690" y="0"/>
                  <a:pt x="133350" y="0"/>
                </a:cubicBezTo>
                <a:close/>
              </a:path>
            </a:pathLst>
          </a:custGeom>
          <a:solidFill>
            <a:srgbClr val="0B2545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bar-6"/>
          <p:cNvSpPr/>
          <p:nvPr/>
        </p:nvSpPr>
        <p:spPr>
          <a:xfrm>
            <a:off x="3048000" y="4921250"/>
            <a:ext cx="1524635" cy="266700"/>
          </a:xfrm>
          <a:custGeom>
            <a:avLst/>
            <a:gdLst/>
            <a:ahLst/>
            <a:cxnLst/>
            <a:rect l="0" t="0" r="r" b="b"/>
            <a:pathLst>
              <a:path w="1524635" h="266700">
                <a:moveTo>
                  <a:pt x="133350" y="0"/>
                </a:moveTo>
                <a:lnTo>
                  <a:pt x="1391285" y="0"/>
                </a:lnTo>
                <a:cubicBezTo>
                  <a:pt x="1464945" y="0"/>
                  <a:pt x="1524635" y="59690"/>
                  <a:pt x="1524635" y="133350"/>
                </a:cubicBezTo>
                <a:lnTo>
                  <a:pt x="1524635" y="133350"/>
                </a:lnTo>
                <a:cubicBezTo>
                  <a:pt x="1524635" y="207010"/>
                  <a:pt x="1464945" y="266700"/>
                  <a:pt x="1391285" y="266700"/>
                </a:cubicBezTo>
                <a:lnTo>
                  <a:pt x="133350" y="266700"/>
                </a:lnTo>
                <a:cubicBezTo>
                  <a:pt x="59690" y="266700"/>
                  <a:pt x="0" y="207010"/>
                  <a:pt x="0" y="133350"/>
                </a:cubicBezTo>
                <a:lnTo>
                  <a:pt x="0" y="133350"/>
                </a:lnTo>
                <a:cubicBezTo>
                  <a:pt x="0" y="59690"/>
                  <a:pt x="59690" y="0"/>
                  <a:pt x="133350" y="0"/>
                </a:cubicBezTo>
                <a:close/>
              </a:path>
            </a:pathLst>
          </a:custGeom>
          <a:gradFill rotWithShape="1">
            <a:gsLst>
              <a:gs pos="0">
                <a:srgbClr val="6BA9DF"/>
              </a:gs>
              <a:gs pos="100000">
                <a:srgbClr val="4694D7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v-6"/>
          <p:cNvSpPr txBox="1"/>
          <p:nvPr/>
        </p:nvSpPr>
        <p:spPr>
          <a:xfrm>
            <a:off x="4173220" y="4940713"/>
            <a:ext cx="275717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98</a:t>
            </a:r>
          </a:p>
        </p:txBody>
      </p:sp>
      <p:sp>
        <p:nvSpPr>
          <p:cNvPr id="67" name="icon-grow"/>
          <p:cNvSpPr/>
          <p:nvPr/>
        </p:nvSpPr>
        <p:spPr>
          <a:xfrm>
            <a:off x="9476105" y="5032502"/>
            <a:ext cx="87312" cy="54674"/>
          </a:xfrm>
          <a:custGeom>
            <a:avLst/>
            <a:gdLst/>
            <a:ahLst/>
            <a:cxnLst/>
            <a:rect l="0" t="0" r="r" b="b"/>
            <a:pathLst>
              <a:path w="87312" h="54674">
                <a:moveTo>
                  <a:pt x="0" y="54674"/>
                </a:moveTo>
                <a:lnTo>
                  <a:pt x="29083" y="23241"/>
                </a:lnTo>
                <a:lnTo>
                  <a:pt x="50038" y="40703"/>
                </a:lnTo>
                <a:lnTo>
                  <a:pt x="84963" y="0"/>
                </a:lnTo>
                <a:moveTo>
                  <a:pt x="70993" y="0"/>
                </a:moveTo>
                <a:lnTo>
                  <a:pt x="87312" y="0"/>
                </a:lnTo>
                <a:lnTo>
                  <a:pt x="87312" y="16256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g-6"/>
          <p:cNvSpPr txBox="1"/>
          <p:nvPr/>
        </p:nvSpPr>
        <p:spPr>
          <a:xfrm>
            <a:off x="9701022" y="4956397"/>
            <a:ext cx="462280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+9.6%</a:t>
            </a:r>
          </a:p>
        </p:txBody>
      </p:sp>
      <p:cxnSp>
        <p:nvCxnSpPr>
          <p:cNvPr id="69" name="d-6"/>
          <p:cNvCxnSpPr/>
          <p:nvPr/>
        </p:nvCxnSpPr>
        <p:spPr>
          <a:xfrm>
            <a:off x="1270000" y="5359400"/>
            <a:ext cx="99060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rk-7"/>
          <p:cNvSpPr/>
          <p:nvPr/>
        </p:nvSpPr>
        <p:spPr>
          <a:xfrm>
            <a:off x="1117600" y="5511800"/>
            <a:ext cx="304800" cy="304800"/>
          </a:xfrm>
          <a:prstGeom prst="ellipse">
            <a:avLst/>
          </a:prstGeom>
          <a:solidFill>
            <a:srgbClr val="E7ED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rkt-7"/>
          <p:cNvSpPr txBox="1"/>
          <p:nvPr/>
        </p:nvSpPr>
        <p:spPr>
          <a:xfrm>
            <a:off x="1181926" y="5559647"/>
            <a:ext cx="17614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8FA3BC"/>
                </a:solidFill>
                <a:latin typeface="Arial"/>
                <a:ea typeface="Arial"/>
                <a:cs typeface="Arial"/>
              </a:rPr>
              <a:t>7</a:t>
            </a:r>
          </a:p>
        </p:txBody>
      </p:sp>
      <p:sp>
        <p:nvSpPr>
          <p:cNvPr id="72" name="n-7"/>
          <p:cNvSpPr txBox="1"/>
          <p:nvPr/>
        </p:nvSpPr>
        <p:spPr>
          <a:xfrm>
            <a:off x="1546098" y="5474113"/>
            <a:ext cx="68389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东北大区</a:t>
            </a:r>
          </a:p>
        </p:txBody>
      </p:sp>
      <p:sp>
        <p:nvSpPr>
          <p:cNvPr id="73" name="p-7"/>
          <p:cNvSpPr txBox="1"/>
          <p:nvPr/>
        </p:nvSpPr>
        <p:spPr>
          <a:xfrm>
            <a:off x="1551432" y="5706808"/>
            <a:ext cx="102577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辽宁 · 吉林 · 黑龙江</a:t>
            </a:r>
          </a:p>
        </p:txBody>
      </p:sp>
      <p:sp>
        <p:nvSpPr>
          <p:cNvPr id="74" name="bg-7"/>
          <p:cNvSpPr/>
          <p:nvPr/>
        </p:nvSpPr>
        <p:spPr>
          <a:xfrm>
            <a:off x="3048000" y="5530850"/>
            <a:ext cx="6223000" cy="266700"/>
          </a:xfrm>
          <a:custGeom>
            <a:avLst/>
            <a:gdLst/>
            <a:ahLst/>
            <a:cxnLst/>
            <a:rect l="0" t="0" r="r" b="b"/>
            <a:pathLst>
              <a:path w="6223000" h="266700">
                <a:moveTo>
                  <a:pt x="133350" y="0"/>
                </a:moveTo>
                <a:lnTo>
                  <a:pt x="6089650" y="0"/>
                </a:lnTo>
                <a:cubicBezTo>
                  <a:pt x="6163310" y="0"/>
                  <a:pt x="6223000" y="59690"/>
                  <a:pt x="6223000" y="133350"/>
                </a:cubicBezTo>
                <a:lnTo>
                  <a:pt x="6223000" y="133350"/>
                </a:lnTo>
                <a:cubicBezTo>
                  <a:pt x="6223000" y="207010"/>
                  <a:pt x="6163310" y="266700"/>
                  <a:pt x="6089650" y="266700"/>
                </a:cubicBezTo>
                <a:lnTo>
                  <a:pt x="133350" y="266700"/>
                </a:lnTo>
                <a:cubicBezTo>
                  <a:pt x="59690" y="266700"/>
                  <a:pt x="0" y="207010"/>
                  <a:pt x="0" y="133350"/>
                </a:cubicBezTo>
                <a:lnTo>
                  <a:pt x="0" y="133350"/>
                </a:lnTo>
                <a:cubicBezTo>
                  <a:pt x="0" y="59690"/>
                  <a:pt x="59690" y="0"/>
                  <a:pt x="133350" y="0"/>
                </a:cubicBezTo>
                <a:close/>
              </a:path>
            </a:pathLst>
          </a:custGeom>
          <a:solidFill>
            <a:srgbClr val="0B2545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bar-7"/>
          <p:cNvSpPr/>
          <p:nvPr/>
        </p:nvSpPr>
        <p:spPr>
          <a:xfrm>
            <a:off x="3048000" y="5530850"/>
            <a:ext cx="1151255" cy="266700"/>
          </a:xfrm>
          <a:custGeom>
            <a:avLst/>
            <a:gdLst/>
            <a:ahLst/>
            <a:cxnLst/>
            <a:rect l="0" t="0" r="r" b="b"/>
            <a:pathLst>
              <a:path w="1151255" h="266700">
                <a:moveTo>
                  <a:pt x="133350" y="0"/>
                </a:moveTo>
                <a:lnTo>
                  <a:pt x="1017905" y="0"/>
                </a:lnTo>
                <a:cubicBezTo>
                  <a:pt x="1091565" y="0"/>
                  <a:pt x="1151255" y="59690"/>
                  <a:pt x="1151255" y="133350"/>
                </a:cubicBezTo>
                <a:lnTo>
                  <a:pt x="1151255" y="133350"/>
                </a:lnTo>
                <a:cubicBezTo>
                  <a:pt x="1151255" y="207010"/>
                  <a:pt x="1091565" y="266700"/>
                  <a:pt x="1017905" y="266700"/>
                </a:cubicBezTo>
                <a:lnTo>
                  <a:pt x="133350" y="266700"/>
                </a:lnTo>
                <a:cubicBezTo>
                  <a:pt x="59690" y="266700"/>
                  <a:pt x="0" y="207010"/>
                  <a:pt x="0" y="133350"/>
                </a:cubicBezTo>
                <a:lnTo>
                  <a:pt x="0" y="133350"/>
                </a:lnTo>
                <a:cubicBezTo>
                  <a:pt x="0" y="59690"/>
                  <a:pt x="59690" y="0"/>
                  <a:pt x="133350" y="0"/>
                </a:cubicBezTo>
                <a:close/>
              </a:path>
            </a:pathLst>
          </a:custGeom>
          <a:gradFill rotWithShape="1">
            <a:gsLst>
              <a:gs pos="0">
                <a:srgbClr val="76B5E5"/>
              </a:gs>
              <a:gs pos="100000">
                <a:srgbClr val="54A2D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v-7"/>
          <p:cNvSpPr txBox="1"/>
          <p:nvPr/>
        </p:nvSpPr>
        <p:spPr>
          <a:xfrm>
            <a:off x="3799840" y="5550313"/>
            <a:ext cx="275717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74</a:t>
            </a:r>
          </a:p>
        </p:txBody>
      </p:sp>
      <p:sp>
        <p:nvSpPr>
          <p:cNvPr id="77" name="icon-chart"/>
          <p:cNvSpPr/>
          <p:nvPr/>
        </p:nvSpPr>
        <p:spPr>
          <a:xfrm>
            <a:off x="9476105" y="5646738"/>
            <a:ext cx="97790" cy="64008"/>
          </a:xfrm>
          <a:custGeom>
            <a:avLst/>
            <a:gdLst/>
            <a:ahLst/>
            <a:cxnLst/>
            <a:rect l="0" t="0" r="r" b="b"/>
            <a:pathLst>
              <a:path w="97790" h="64008">
                <a:moveTo>
                  <a:pt x="0" y="64008"/>
                </a:moveTo>
                <a:lnTo>
                  <a:pt x="97790" y="64008"/>
                </a:lnTo>
                <a:moveTo>
                  <a:pt x="22098" y="64008"/>
                </a:moveTo>
                <a:lnTo>
                  <a:pt x="22098" y="26797"/>
                </a:lnTo>
                <a:moveTo>
                  <a:pt x="48895" y="64008"/>
                </a:moveTo>
                <a:lnTo>
                  <a:pt x="48895" y="0"/>
                </a:lnTo>
                <a:moveTo>
                  <a:pt x="75692" y="64008"/>
                </a:moveTo>
                <a:lnTo>
                  <a:pt x="75692" y="39561"/>
                </a:lnTo>
              </a:path>
            </a:pathLst>
          </a:custGeom>
          <a:noFill/>
          <a:ln w="12700" cap="rnd">
            <a:solidFill>
              <a:srgbClr val="A9B8C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g-7"/>
          <p:cNvSpPr txBox="1"/>
          <p:nvPr/>
        </p:nvSpPr>
        <p:spPr>
          <a:xfrm>
            <a:off x="9701022" y="5565997"/>
            <a:ext cx="462280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25">
                <a:solidFill>
                  <a:srgbClr val="8FA3BC"/>
                </a:solidFill>
                <a:latin typeface="Arial"/>
                <a:ea typeface="Arial"/>
                <a:cs typeface="Arial"/>
              </a:rPr>
              <a:t>-3.2%</a:t>
            </a:r>
          </a:p>
        </p:txBody>
      </p:sp>
      <p:sp>
        <p:nvSpPr>
          <p:cNvPr id="79" name="th-1"/>
          <p:cNvSpPr txBox="1"/>
          <p:nvPr/>
        </p:nvSpPr>
        <p:spPr>
          <a:xfrm>
            <a:off x="1550670" y="1533366"/>
            <a:ext cx="2952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大区</a:t>
            </a:r>
          </a:p>
        </p:txBody>
      </p:sp>
      <p:sp>
        <p:nvSpPr>
          <p:cNvPr id="80" name="th-2"/>
          <p:cNvSpPr txBox="1"/>
          <p:nvPr/>
        </p:nvSpPr>
        <p:spPr>
          <a:xfrm>
            <a:off x="3036570" y="1533366"/>
            <a:ext cx="5048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年度营收</a:t>
            </a:r>
          </a:p>
        </p:txBody>
      </p:sp>
      <p:sp>
        <p:nvSpPr>
          <p:cNvPr id="81" name="th-3"/>
          <p:cNvSpPr txBox="1"/>
          <p:nvPr/>
        </p:nvSpPr>
        <p:spPr>
          <a:xfrm>
            <a:off x="9513570" y="1533366"/>
            <a:ext cx="2952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同比</a:t>
            </a:r>
          </a:p>
        </p:txBody>
      </p:sp>
      <p:cxnSp>
        <p:nvCxnSpPr>
          <p:cNvPr id="82" name="th-line"/>
          <p:cNvCxnSpPr/>
          <p:nvPr/>
        </p:nvCxnSpPr>
        <p:spPr>
          <a:xfrm>
            <a:off x="1270000" y="1739900"/>
            <a:ext cx="9906000" cy="0"/>
          </a:xfrm>
          <a:prstGeom prst="line">
            <a:avLst/>
          </a:prstGeom>
          <a:ln w="6350" cap="rnd">
            <a:solidFill>
              <a:srgbClr val="0B2545">
                <a:alpha val="1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3" name="sum"/>
          <p:cNvSpPr/>
          <p:nvPr/>
        </p:nvSpPr>
        <p:spPr>
          <a:xfrm>
            <a:off x="1270000" y="6083300"/>
            <a:ext cx="9906000" cy="584200"/>
          </a:xfrm>
          <a:custGeom>
            <a:avLst/>
            <a:gdLst/>
            <a:ahLst/>
            <a:cxnLst/>
            <a:rect l="0" t="0" r="r" b="b"/>
            <a:pathLst>
              <a:path w="9906000" h="584200">
                <a:moveTo>
                  <a:pt x="101600" y="0"/>
                </a:moveTo>
                <a:lnTo>
                  <a:pt x="9804400" y="0"/>
                </a:lnTo>
                <a:cubicBezTo>
                  <a:pt x="9860534" y="0"/>
                  <a:pt x="9906000" y="45466"/>
                  <a:pt x="9906000" y="101600"/>
                </a:cubicBezTo>
                <a:lnTo>
                  <a:pt x="9906000" y="482600"/>
                </a:lnTo>
                <a:cubicBezTo>
                  <a:pt x="9906000" y="538734"/>
                  <a:pt x="9860534" y="584200"/>
                  <a:pt x="9804400" y="584200"/>
                </a:cubicBezTo>
                <a:lnTo>
                  <a:pt x="101600" y="584200"/>
                </a:lnTo>
                <a:cubicBezTo>
                  <a:pt x="45466" y="584200"/>
                  <a:pt x="0" y="538734"/>
                  <a:pt x="0" y="482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s-v-1"/>
          <p:cNvSpPr txBox="1"/>
          <p:nvPr/>
        </p:nvSpPr>
        <p:spPr>
          <a:xfrm>
            <a:off x="1553464" y="6219317"/>
            <a:ext cx="673735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1,528</a:t>
            </a:r>
          </a:p>
        </p:txBody>
      </p:sp>
      <p:sp>
        <p:nvSpPr>
          <p:cNvPr id="85" name="s-l-1"/>
          <p:cNvSpPr txBox="1"/>
          <p:nvPr/>
        </p:nvSpPr>
        <p:spPr>
          <a:xfrm>
            <a:off x="2196465" y="6321266"/>
            <a:ext cx="66865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全国合计营收</a:t>
            </a:r>
          </a:p>
        </p:txBody>
      </p:sp>
      <p:sp>
        <p:nvSpPr>
          <p:cNvPr id="86" name="s-v-2"/>
          <p:cNvSpPr txBox="1"/>
          <p:nvPr/>
        </p:nvSpPr>
        <p:spPr>
          <a:xfrm>
            <a:off x="4004564" y="6219317"/>
            <a:ext cx="776478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+19.8%</a:t>
            </a:r>
          </a:p>
        </p:txBody>
      </p:sp>
      <p:sp>
        <p:nvSpPr>
          <p:cNvPr id="87" name="s-l-2"/>
          <p:cNvSpPr txBox="1"/>
          <p:nvPr/>
        </p:nvSpPr>
        <p:spPr>
          <a:xfrm>
            <a:off x="4753864" y="6321266"/>
            <a:ext cx="66865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整体同比增速</a:t>
            </a:r>
          </a:p>
        </p:txBody>
      </p:sp>
      <p:sp>
        <p:nvSpPr>
          <p:cNvPr id="88" name="s-v-3"/>
          <p:cNvSpPr txBox="1"/>
          <p:nvPr/>
        </p:nvSpPr>
        <p:spPr>
          <a:xfrm>
            <a:off x="6455664" y="6219317"/>
            <a:ext cx="52197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华南</a:t>
            </a:r>
          </a:p>
        </p:txBody>
      </p:sp>
      <p:sp>
        <p:nvSpPr>
          <p:cNvPr id="89" name="s-l-3"/>
          <p:cNvSpPr txBox="1"/>
          <p:nvPr/>
        </p:nvSpPr>
        <p:spPr>
          <a:xfrm>
            <a:off x="6929120" y="6321266"/>
            <a:ext cx="66865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增速最快大区</a:t>
            </a:r>
          </a:p>
        </p:txBody>
      </p:sp>
      <p:sp>
        <p:nvSpPr>
          <p:cNvPr id="90" name="s-v-4"/>
          <p:cNvSpPr txBox="1"/>
          <p:nvPr/>
        </p:nvSpPr>
        <p:spPr>
          <a:xfrm>
            <a:off x="8906764" y="6219317"/>
            <a:ext cx="262763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</a:t>
            </a:r>
          </a:p>
        </p:txBody>
      </p:sp>
      <p:sp>
        <p:nvSpPr>
          <p:cNvPr id="91" name="s-l-4"/>
          <p:cNvSpPr txBox="1"/>
          <p:nvPr/>
        </p:nvSpPr>
        <p:spPr>
          <a:xfrm>
            <a:off x="9124569" y="6321266"/>
            <a:ext cx="66865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个大区负增长</a:t>
            </a:r>
          </a:p>
        </p:txBody>
      </p:sp>
      <p:cxnSp>
        <p:nvCxnSpPr>
          <p:cNvPr id="92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3" name="foot-l"/>
          <p:cNvSpPr txBox="1"/>
          <p:nvPr/>
        </p:nvSpPr>
        <p:spPr>
          <a:xfrm>
            <a:off x="573532" y="6532308"/>
            <a:ext cx="9469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区域排行 · 七大区</a:t>
            </a:r>
          </a:p>
        </p:txBody>
      </p:sp>
      <p:sp>
        <p:nvSpPr>
          <p:cNvPr id="94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9946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三条业务线月度走势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53695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TREND COMPARISON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959977" y="673132"/>
            <a:ext cx="266077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2026 年 1—12 月营收走势对照（单位：百万元）</a:t>
            </a:r>
          </a:p>
        </p:txBody>
      </p:sp>
      <p:cxnSp>
        <p:nvCxnSpPr>
          <p:cNvPr id="10" name="grid-0"/>
          <p:cNvCxnSpPr/>
          <p:nvPr/>
        </p:nvCxnSpPr>
        <p:spPr>
          <a:xfrm>
            <a:off x="1511300" y="5054600"/>
            <a:ext cx="7975600" cy="0"/>
          </a:xfrm>
          <a:prstGeom prst="line">
            <a:avLst/>
          </a:prstGeom>
          <a:ln w="6350" cap="rnd">
            <a:solidFill>
              <a:srgbClr val="0B2545">
                <a:alpha val="1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ytick-0"/>
          <p:cNvSpPr txBox="1"/>
          <p:nvPr/>
        </p:nvSpPr>
        <p:spPr>
          <a:xfrm>
            <a:off x="1271651" y="4967224"/>
            <a:ext cx="150241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0</a:t>
            </a:r>
          </a:p>
        </p:txBody>
      </p:sp>
      <p:cxnSp>
        <p:nvCxnSpPr>
          <p:cNvPr id="12" name="grid-20"/>
          <p:cNvCxnSpPr/>
          <p:nvPr/>
        </p:nvCxnSpPr>
        <p:spPr>
          <a:xfrm>
            <a:off x="1511300" y="4404360"/>
            <a:ext cx="7975600" cy="0"/>
          </a:xfrm>
          <a:prstGeom prst="line">
            <a:avLst/>
          </a:prstGeom>
          <a:ln w="6350" cap="rnd">
            <a:solidFill>
              <a:srgbClr val="0B2545">
                <a:alpha val="9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ytick-20"/>
          <p:cNvSpPr txBox="1"/>
          <p:nvPr/>
        </p:nvSpPr>
        <p:spPr>
          <a:xfrm>
            <a:off x="1212850" y="4316984"/>
            <a:ext cx="20904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20</a:t>
            </a:r>
          </a:p>
        </p:txBody>
      </p:sp>
      <p:cxnSp>
        <p:nvCxnSpPr>
          <p:cNvPr id="14" name="grid-40"/>
          <p:cNvCxnSpPr/>
          <p:nvPr/>
        </p:nvCxnSpPr>
        <p:spPr>
          <a:xfrm>
            <a:off x="1511300" y="3754120"/>
            <a:ext cx="7975600" cy="0"/>
          </a:xfrm>
          <a:prstGeom prst="line">
            <a:avLst/>
          </a:prstGeom>
          <a:ln w="6350" cap="rnd">
            <a:solidFill>
              <a:srgbClr val="0B2545">
                <a:alpha val="9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ytick-40"/>
          <p:cNvSpPr txBox="1"/>
          <p:nvPr/>
        </p:nvSpPr>
        <p:spPr>
          <a:xfrm>
            <a:off x="1212850" y="3666744"/>
            <a:ext cx="20904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40</a:t>
            </a:r>
          </a:p>
        </p:txBody>
      </p:sp>
      <p:cxnSp>
        <p:nvCxnSpPr>
          <p:cNvPr id="16" name="grid-60"/>
          <p:cNvCxnSpPr/>
          <p:nvPr/>
        </p:nvCxnSpPr>
        <p:spPr>
          <a:xfrm>
            <a:off x="1511300" y="3103880"/>
            <a:ext cx="7975600" cy="0"/>
          </a:xfrm>
          <a:prstGeom prst="line">
            <a:avLst/>
          </a:prstGeom>
          <a:ln w="6350" cap="rnd">
            <a:solidFill>
              <a:srgbClr val="0B2545">
                <a:alpha val="9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ytick-60"/>
          <p:cNvSpPr txBox="1"/>
          <p:nvPr/>
        </p:nvSpPr>
        <p:spPr>
          <a:xfrm>
            <a:off x="1212850" y="3016504"/>
            <a:ext cx="20904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60</a:t>
            </a:r>
          </a:p>
        </p:txBody>
      </p:sp>
      <p:cxnSp>
        <p:nvCxnSpPr>
          <p:cNvPr id="18" name="grid-80"/>
          <p:cNvCxnSpPr/>
          <p:nvPr/>
        </p:nvCxnSpPr>
        <p:spPr>
          <a:xfrm>
            <a:off x="1511300" y="2453640"/>
            <a:ext cx="7975600" cy="0"/>
          </a:xfrm>
          <a:prstGeom prst="line">
            <a:avLst/>
          </a:prstGeom>
          <a:ln w="6350" cap="rnd">
            <a:solidFill>
              <a:srgbClr val="0B2545">
                <a:alpha val="9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ytick-80"/>
          <p:cNvSpPr txBox="1"/>
          <p:nvPr/>
        </p:nvSpPr>
        <p:spPr>
          <a:xfrm>
            <a:off x="1212850" y="2366264"/>
            <a:ext cx="20904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80</a:t>
            </a:r>
          </a:p>
        </p:txBody>
      </p:sp>
      <p:cxnSp>
        <p:nvCxnSpPr>
          <p:cNvPr id="20" name="grid-100"/>
          <p:cNvCxnSpPr/>
          <p:nvPr/>
        </p:nvCxnSpPr>
        <p:spPr>
          <a:xfrm>
            <a:off x="1511300" y="1803400"/>
            <a:ext cx="7975600" cy="0"/>
          </a:xfrm>
          <a:prstGeom prst="line">
            <a:avLst/>
          </a:prstGeom>
          <a:ln w="6350" cap="rnd">
            <a:solidFill>
              <a:srgbClr val="0B2545">
                <a:alpha val="9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ytick-100"/>
          <p:cNvSpPr txBox="1"/>
          <p:nvPr/>
        </p:nvSpPr>
        <p:spPr>
          <a:xfrm>
            <a:off x="1154049" y="171602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100</a:t>
            </a:r>
          </a:p>
        </p:txBody>
      </p:sp>
      <p:sp>
        <p:nvSpPr>
          <p:cNvPr id="22" name="yunit"/>
          <p:cNvSpPr txBox="1"/>
          <p:nvPr/>
        </p:nvSpPr>
        <p:spPr>
          <a:xfrm>
            <a:off x="1064133" y="1477708"/>
            <a:ext cx="35623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百万元</a:t>
            </a:r>
          </a:p>
        </p:txBody>
      </p:sp>
      <p:sp>
        <p:nvSpPr>
          <p:cNvPr id="23" name="xtick-1"/>
          <p:cNvSpPr txBox="1"/>
          <p:nvPr/>
        </p:nvSpPr>
        <p:spPr>
          <a:xfrm>
            <a:off x="1536192" y="5183124"/>
            <a:ext cx="2550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1月</a:t>
            </a:r>
          </a:p>
        </p:txBody>
      </p:sp>
      <p:sp>
        <p:nvSpPr>
          <p:cNvPr id="24" name="xtick-2"/>
          <p:cNvSpPr txBox="1"/>
          <p:nvPr/>
        </p:nvSpPr>
        <p:spPr>
          <a:xfrm>
            <a:off x="2233537" y="5183124"/>
            <a:ext cx="2550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2月</a:t>
            </a:r>
          </a:p>
        </p:txBody>
      </p:sp>
      <p:sp>
        <p:nvSpPr>
          <p:cNvPr id="25" name="xtick-3"/>
          <p:cNvSpPr txBox="1"/>
          <p:nvPr/>
        </p:nvSpPr>
        <p:spPr>
          <a:xfrm>
            <a:off x="2930883" y="5183124"/>
            <a:ext cx="2550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3月</a:t>
            </a:r>
          </a:p>
        </p:txBody>
      </p:sp>
      <p:sp>
        <p:nvSpPr>
          <p:cNvPr id="26" name="xtick-4"/>
          <p:cNvSpPr txBox="1"/>
          <p:nvPr/>
        </p:nvSpPr>
        <p:spPr>
          <a:xfrm>
            <a:off x="3628228" y="5183124"/>
            <a:ext cx="2550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4月</a:t>
            </a:r>
          </a:p>
        </p:txBody>
      </p:sp>
      <p:sp>
        <p:nvSpPr>
          <p:cNvPr id="27" name="xtick-5"/>
          <p:cNvSpPr txBox="1"/>
          <p:nvPr/>
        </p:nvSpPr>
        <p:spPr>
          <a:xfrm>
            <a:off x="4325574" y="5183124"/>
            <a:ext cx="2550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5月</a:t>
            </a:r>
          </a:p>
        </p:txBody>
      </p:sp>
      <p:sp>
        <p:nvSpPr>
          <p:cNvPr id="28" name="xtick-6"/>
          <p:cNvSpPr txBox="1"/>
          <p:nvPr/>
        </p:nvSpPr>
        <p:spPr>
          <a:xfrm>
            <a:off x="5022919" y="5183124"/>
            <a:ext cx="2550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6月</a:t>
            </a:r>
          </a:p>
        </p:txBody>
      </p:sp>
      <p:sp>
        <p:nvSpPr>
          <p:cNvPr id="29" name="xtick-7"/>
          <p:cNvSpPr txBox="1"/>
          <p:nvPr/>
        </p:nvSpPr>
        <p:spPr>
          <a:xfrm>
            <a:off x="5720265" y="5183124"/>
            <a:ext cx="2550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7月</a:t>
            </a:r>
          </a:p>
        </p:txBody>
      </p:sp>
      <p:sp>
        <p:nvSpPr>
          <p:cNvPr id="30" name="xtick-8"/>
          <p:cNvSpPr txBox="1"/>
          <p:nvPr/>
        </p:nvSpPr>
        <p:spPr>
          <a:xfrm>
            <a:off x="6417610" y="5183124"/>
            <a:ext cx="2550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8月</a:t>
            </a:r>
          </a:p>
        </p:txBody>
      </p:sp>
      <p:sp>
        <p:nvSpPr>
          <p:cNvPr id="31" name="xtick-9"/>
          <p:cNvSpPr txBox="1"/>
          <p:nvPr/>
        </p:nvSpPr>
        <p:spPr>
          <a:xfrm>
            <a:off x="7114956" y="5183124"/>
            <a:ext cx="2550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9月</a:t>
            </a:r>
          </a:p>
        </p:txBody>
      </p:sp>
      <p:sp>
        <p:nvSpPr>
          <p:cNvPr id="32" name="xtick-10"/>
          <p:cNvSpPr txBox="1"/>
          <p:nvPr/>
        </p:nvSpPr>
        <p:spPr>
          <a:xfrm>
            <a:off x="7782583" y="5183124"/>
            <a:ext cx="31445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10月</a:t>
            </a:r>
          </a:p>
        </p:txBody>
      </p:sp>
      <p:sp>
        <p:nvSpPr>
          <p:cNvPr id="33" name="xtick-11"/>
          <p:cNvSpPr txBox="1"/>
          <p:nvPr/>
        </p:nvSpPr>
        <p:spPr>
          <a:xfrm>
            <a:off x="8479929" y="5183124"/>
            <a:ext cx="31445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11月</a:t>
            </a:r>
          </a:p>
        </p:txBody>
      </p:sp>
      <p:sp>
        <p:nvSpPr>
          <p:cNvPr id="34" name="xtick-12"/>
          <p:cNvSpPr txBox="1"/>
          <p:nvPr/>
        </p:nvSpPr>
        <p:spPr>
          <a:xfrm>
            <a:off x="9177274" y="5183124"/>
            <a:ext cx="31445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12月</a:t>
            </a:r>
          </a:p>
        </p:txBody>
      </p:sp>
      <p:sp>
        <p:nvSpPr>
          <p:cNvPr id="35" name="hl-band"/>
          <p:cNvSpPr/>
          <p:nvPr/>
        </p:nvSpPr>
        <p:spPr>
          <a:xfrm>
            <a:off x="7077392" y="1701800"/>
            <a:ext cx="2422208" cy="3352800"/>
          </a:xfrm>
          <a:custGeom>
            <a:avLst/>
            <a:gdLst/>
            <a:ahLst/>
            <a:cxnLst/>
            <a:rect l="0" t="0" r="r" b="b"/>
            <a:pathLst>
              <a:path w="2422208" h="3352800">
                <a:moveTo>
                  <a:pt x="88900" y="0"/>
                </a:moveTo>
                <a:lnTo>
                  <a:pt x="2333308" y="0"/>
                </a:lnTo>
                <a:cubicBezTo>
                  <a:pt x="2382393" y="0"/>
                  <a:pt x="2422208" y="39814"/>
                  <a:pt x="2422208" y="88900"/>
                </a:cubicBezTo>
                <a:lnTo>
                  <a:pt x="2422208" y="3263900"/>
                </a:lnTo>
                <a:cubicBezTo>
                  <a:pt x="2422208" y="3312986"/>
                  <a:pt x="2382393" y="3352800"/>
                  <a:pt x="2333308" y="3352800"/>
                </a:cubicBezTo>
                <a:lnTo>
                  <a:pt x="88900" y="3352800"/>
                </a:lnTo>
                <a:cubicBezTo>
                  <a:pt x="39751" y="3352800"/>
                  <a:pt x="0" y="3312986"/>
                  <a:pt x="0" y="3263900"/>
                </a:cubicBezTo>
                <a:lnTo>
                  <a:pt x="0" y="88900"/>
                </a:lnTo>
                <a:cubicBezTo>
                  <a:pt x="0" y="39814"/>
                  <a:pt x="39751" y="0"/>
                  <a:pt x="88900" y="0"/>
                </a:cubicBezTo>
                <a:close/>
              </a:path>
            </a:pathLst>
          </a:custGeom>
          <a:solidFill>
            <a:srgbClr val="1B5AA8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hl-t"/>
          <p:cNvSpPr txBox="1"/>
          <p:nvPr/>
        </p:nvSpPr>
        <p:spPr>
          <a:xfrm>
            <a:off x="7994159" y="1507966"/>
            <a:ext cx="5886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75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Q4 冲刺期</a:t>
            </a:r>
          </a:p>
        </p:txBody>
      </p:sp>
      <p:sp>
        <p:nvSpPr>
          <p:cNvPr id="37" name="line-1"/>
          <p:cNvSpPr/>
          <p:nvPr/>
        </p:nvSpPr>
        <p:spPr>
          <a:xfrm>
            <a:off x="1663700" y="1868424"/>
            <a:ext cx="7670800" cy="1958530"/>
          </a:xfrm>
          <a:custGeom>
            <a:avLst/>
            <a:gdLst/>
            <a:ahLst/>
            <a:cxnLst/>
            <a:rect l="0" t="0" r="r" b="b"/>
            <a:pathLst>
              <a:path w="7670800" h="1958530">
                <a:moveTo>
                  <a:pt x="0" y="1820672"/>
                </a:moveTo>
                <a:cubicBezTo>
                  <a:pt x="104585" y="1840166"/>
                  <a:pt x="488124" y="1994598"/>
                  <a:pt x="697357" y="1950720"/>
                </a:cubicBezTo>
                <a:cubicBezTo>
                  <a:pt x="906526" y="1906841"/>
                  <a:pt x="1185482" y="1620710"/>
                  <a:pt x="1394714" y="1528064"/>
                </a:cubicBezTo>
                <a:cubicBezTo>
                  <a:pt x="1603883" y="1435417"/>
                  <a:pt x="1882838" y="1386650"/>
                  <a:pt x="2092008" y="1332992"/>
                </a:cubicBezTo>
                <a:cubicBezTo>
                  <a:pt x="2301240" y="1279334"/>
                  <a:pt x="2580196" y="1224090"/>
                  <a:pt x="2789364" y="1170432"/>
                </a:cubicBezTo>
                <a:cubicBezTo>
                  <a:pt x="2998597" y="1116774"/>
                  <a:pt x="3277552" y="1019238"/>
                  <a:pt x="3486722" y="975360"/>
                </a:cubicBezTo>
                <a:cubicBezTo>
                  <a:pt x="3695954" y="931482"/>
                  <a:pt x="3974846" y="868045"/>
                  <a:pt x="4184078" y="877824"/>
                </a:cubicBezTo>
                <a:cubicBezTo>
                  <a:pt x="4393248" y="887603"/>
                  <a:pt x="4672203" y="1074547"/>
                  <a:pt x="4881436" y="1040384"/>
                </a:cubicBezTo>
                <a:cubicBezTo>
                  <a:pt x="5090604" y="1006221"/>
                  <a:pt x="5369560" y="747776"/>
                  <a:pt x="5578792" y="650240"/>
                </a:cubicBezTo>
                <a:cubicBezTo>
                  <a:pt x="5787962" y="552704"/>
                  <a:pt x="6066917" y="458406"/>
                  <a:pt x="6276086" y="390144"/>
                </a:cubicBezTo>
                <a:cubicBezTo>
                  <a:pt x="6485318" y="321882"/>
                  <a:pt x="6764274" y="253619"/>
                  <a:pt x="6973443" y="195072"/>
                </a:cubicBezTo>
                <a:cubicBezTo>
                  <a:pt x="7182676" y="136525"/>
                  <a:pt x="7566216" y="29274"/>
                  <a:pt x="7670800" y="0"/>
                </a:cubicBezTo>
              </a:path>
            </a:pathLst>
          </a:custGeom>
          <a:noFill/>
          <a:ln w="2159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dot-1-1"/>
          <p:cNvSpPr/>
          <p:nvPr/>
        </p:nvSpPr>
        <p:spPr>
          <a:xfrm>
            <a:off x="1628140" y="3653536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dot-1-2"/>
          <p:cNvSpPr/>
          <p:nvPr/>
        </p:nvSpPr>
        <p:spPr>
          <a:xfrm>
            <a:off x="2325485" y="3783584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dot-1-3"/>
          <p:cNvSpPr/>
          <p:nvPr/>
        </p:nvSpPr>
        <p:spPr>
          <a:xfrm>
            <a:off x="3022831" y="3360928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dot-1-4"/>
          <p:cNvSpPr/>
          <p:nvPr/>
        </p:nvSpPr>
        <p:spPr>
          <a:xfrm>
            <a:off x="3720176" y="3165856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dot-1-5"/>
          <p:cNvSpPr/>
          <p:nvPr/>
        </p:nvSpPr>
        <p:spPr>
          <a:xfrm>
            <a:off x="4417522" y="3003296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dot-1-6"/>
          <p:cNvSpPr/>
          <p:nvPr/>
        </p:nvSpPr>
        <p:spPr>
          <a:xfrm>
            <a:off x="5114867" y="2808224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dot-1-7"/>
          <p:cNvSpPr/>
          <p:nvPr/>
        </p:nvSpPr>
        <p:spPr>
          <a:xfrm>
            <a:off x="5812213" y="2710688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dot-1-8"/>
          <p:cNvSpPr/>
          <p:nvPr/>
        </p:nvSpPr>
        <p:spPr>
          <a:xfrm>
            <a:off x="6509558" y="2873248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dot-1-9"/>
          <p:cNvSpPr/>
          <p:nvPr/>
        </p:nvSpPr>
        <p:spPr>
          <a:xfrm>
            <a:off x="7206904" y="2483104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dot-1-10"/>
          <p:cNvSpPr/>
          <p:nvPr/>
        </p:nvSpPr>
        <p:spPr>
          <a:xfrm>
            <a:off x="7904249" y="2223008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dot-1-11"/>
          <p:cNvSpPr/>
          <p:nvPr/>
        </p:nvSpPr>
        <p:spPr>
          <a:xfrm>
            <a:off x="8601595" y="2027936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dot-1-12"/>
          <p:cNvSpPr/>
          <p:nvPr/>
        </p:nvSpPr>
        <p:spPr>
          <a:xfrm>
            <a:off x="9298940" y="1832864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endlab-1"/>
          <p:cNvSpPr/>
          <p:nvPr/>
        </p:nvSpPr>
        <p:spPr>
          <a:xfrm>
            <a:off x="8813800" y="1589024"/>
            <a:ext cx="482600" cy="215900"/>
          </a:xfrm>
          <a:custGeom>
            <a:avLst/>
            <a:gdLst/>
            <a:ahLst/>
            <a:cxnLst/>
            <a:rect l="0" t="0" r="r" b="b"/>
            <a:pathLst>
              <a:path w="482600" h="215900">
                <a:moveTo>
                  <a:pt x="63500" y="0"/>
                </a:moveTo>
                <a:lnTo>
                  <a:pt x="419100" y="0"/>
                </a:lnTo>
                <a:cubicBezTo>
                  <a:pt x="454152" y="0"/>
                  <a:pt x="482600" y="28448"/>
                  <a:pt x="482600" y="63500"/>
                </a:cubicBezTo>
                <a:lnTo>
                  <a:pt x="482600" y="152400"/>
                </a:lnTo>
                <a:cubicBezTo>
                  <a:pt x="482600" y="187452"/>
                  <a:pt x="454152" y="215900"/>
                  <a:pt x="419100" y="215900"/>
                </a:cubicBezTo>
                <a:lnTo>
                  <a:pt x="63500" y="215900"/>
                </a:lnTo>
                <a:cubicBezTo>
                  <a:pt x="28448" y="215900"/>
                  <a:pt x="0" y="187452"/>
                  <a:pt x="0" y="1524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endv-1"/>
          <p:cNvSpPr txBox="1"/>
          <p:nvPr/>
        </p:nvSpPr>
        <p:spPr>
          <a:xfrm>
            <a:off x="8930068" y="1592421"/>
            <a:ext cx="25006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98</a:t>
            </a:r>
          </a:p>
        </p:txBody>
      </p:sp>
      <p:sp>
        <p:nvSpPr>
          <p:cNvPr id="52" name="line-2"/>
          <p:cNvSpPr/>
          <p:nvPr/>
        </p:nvSpPr>
        <p:spPr>
          <a:xfrm>
            <a:off x="1663700" y="2388616"/>
            <a:ext cx="7670800" cy="1820672"/>
          </a:xfrm>
          <a:custGeom>
            <a:avLst/>
            <a:gdLst/>
            <a:ahLst/>
            <a:cxnLst/>
            <a:rect l="0" t="0" r="r" b="b"/>
            <a:pathLst>
              <a:path w="7670800" h="1820672">
                <a:moveTo>
                  <a:pt x="0" y="1820672"/>
                </a:moveTo>
                <a:cubicBezTo>
                  <a:pt x="104585" y="1806067"/>
                  <a:pt x="488124" y="1757299"/>
                  <a:pt x="697357" y="1723136"/>
                </a:cubicBezTo>
                <a:cubicBezTo>
                  <a:pt x="906526" y="1688973"/>
                  <a:pt x="1185482" y="1627251"/>
                  <a:pt x="1394714" y="1593088"/>
                </a:cubicBezTo>
                <a:cubicBezTo>
                  <a:pt x="1603883" y="1558925"/>
                  <a:pt x="1882838" y="1539430"/>
                  <a:pt x="2092008" y="1495552"/>
                </a:cubicBezTo>
                <a:cubicBezTo>
                  <a:pt x="2301240" y="1451673"/>
                  <a:pt x="2580196" y="1349248"/>
                  <a:pt x="2789364" y="1300480"/>
                </a:cubicBezTo>
                <a:cubicBezTo>
                  <a:pt x="2998597" y="1251712"/>
                  <a:pt x="3277552" y="1219200"/>
                  <a:pt x="3486722" y="1170432"/>
                </a:cubicBezTo>
                <a:cubicBezTo>
                  <a:pt x="3695954" y="1121664"/>
                  <a:pt x="3974846" y="1033907"/>
                  <a:pt x="4184078" y="975360"/>
                </a:cubicBezTo>
                <a:cubicBezTo>
                  <a:pt x="4393248" y="916813"/>
                  <a:pt x="4672203" y="824166"/>
                  <a:pt x="4881436" y="780288"/>
                </a:cubicBezTo>
                <a:cubicBezTo>
                  <a:pt x="5090604" y="736409"/>
                  <a:pt x="5369560" y="731520"/>
                  <a:pt x="5578792" y="682752"/>
                </a:cubicBezTo>
                <a:cubicBezTo>
                  <a:pt x="5787962" y="633984"/>
                  <a:pt x="6066917" y="518541"/>
                  <a:pt x="6276086" y="455168"/>
                </a:cubicBezTo>
                <a:cubicBezTo>
                  <a:pt x="6485318" y="391795"/>
                  <a:pt x="6764274" y="328358"/>
                  <a:pt x="6973443" y="260096"/>
                </a:cubicBezTo>
                <a:cubicBezTo>
                  <a:pt x="7182676" y="191833"/>
                  <a:pt x="7566216" y="38989"/>
                  <a:pt x="7670800" y="0"/>
                </a:cubicBezTo>
              </a:path>
            </a:pathLst>
          </a:custGeom>
          <a:noFill/>
          <a:ln w="2159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dot-2-1"/>
          <p:cNvSpPr/>
          <p:nvPr/>
        </p:nvSpPr>
        <p:spPr>
          <a:xfrm>
            <a:off x="1628140" y="4173728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dot-2-2"/>
          <p:cNvSpPr/>
          <p:nvPr/>
        </p:nvSpPr>
        <p:spPr>
          <a:xfrm>
            <a:off x="2325485" y="4076192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dot-2-3"/>
          <p:cNvSpPr/>
          <p:nvPr/>
        </p:nvSpPr>
        <p:spPr>
          <a:xfrm>
            <a:off x="3022831" y="3946144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dot-2-4"/>
          <p:cNvSpPr/>
          <p:nvPr/>
        </p:nvSpPr>
        <p:spPr>
          <a:xfrm>
            <a:off x="3720176" y="3848608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dot-2-5"/>
          <p:cNvSpPr/>
          <p:nvPr/>
        </p:nvSpPr>
        <p:spPr>
          <a:xfrm>
            <a:off x="4417522" y="3653536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dot-2-6"/>
          <p:cNvSpPr/>
          <p:nvPr/>
        </p:nvSpPr>
        <p:spPr>
          <a:xfrm>
            <a:off x="5114867" y="3523488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dot-2-7"/>
          <p:cNvSpPr/>
          <p:nvPr/>
        </p:nvSpPr>
        <p:spPr>
          <a:xfrm>
            <a:off x="5812213" y="3328416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dot-2-8"/>
          <p:cNvSpPr/>
          <p:nvPr/>
        </p:nvSpPr>
        <p:spPr>
          <a:xfrm>
            <a:off x="6509558" y="3133344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dot-2-9"/>
          <p:cNvSpPr/>
          <p:nvPr/>
        </p:nvSpPr>
        <p:spPr>
          <a:xfrm>
            <a:off x="7206904" y="3035808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dot-2-10"/>
          <p:cNvSpPr/>
          <p:nvPr/>
        </p:nvSpPr>
        <p:spPr>
          <a:xfrm>
            <a:off x="7904249" y="2808224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dot-2-11"/>
          <p:cNvSpPr/>
          <p:nvPr/>
        </p:nvSpPr>
        <p:spPr>
          <a:xfrm>
            <a:off x="8601595" y="2613152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dot-2-12"/>
          <p:cNvSpPr/>
          <p:nvPr/>
        </p:nvSpPr>
        <p:spPr>
          <a:xfrm>
            <a:off x="9298940" y="2353056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endlab-2"/>
          <p:cNvSpPr/>
          <p:nvPr/>
        </p:nvSpPr>
        <p:spPr>
          <a:xfrm>
            <a:off x="8813800" y="2109216"/>
            <a:ext cx="482600" cy="215900"/>
          </a:xfrm>
          <a:custGeom>
            <a:avLst/>
            <a:gdLst/>
            <a:ahLst/>
            <a:cxnLst/>
            <a:rect l="0" t="0" r="r" b="b"/>
            <a:pathLst>
              <a:path w="482600" h="215900">
                <a:moveTo>
                  <a:pt x="63500" y="0"/>
                </a:moveTo>
                <a:lnTo>
                  <a:pt x="419100" y="0"/>
                </a:lnTo>
                <a:cubicBezTo>
                  <a:pt x="454152" y="0"/>
                  <a:pt x="482600" y="28448"/>
                  <a:pt x="482600" y="63500"/>
                </a:cubicBezTo>
                <a:lnTo>
                  <a:pt x="482600" y="152400"/>
                </a:lnTo>
                <a:cubicBezTo>
                  <a:pt x="482600" y="187452"/>
                  <a:pt x="454152" y="215900"/>
                  <a:pt x="419100" y="215900"/>
                </a:cubicBezTo>
                <a:lnTo>
                  <a:pt x="63500" y="215900"/>
                </a:lnTo>
                <a:cubicBezTo>
                  <a:pt x="28448" y="215900"/>
                  <a:pt x="0" y="187452"/>
                  <a:pt x="0" y="1524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endv-2"/>
          <p:cNvSpPr txBox="1"/>
          <p:nvPr/>
        </p:nvSpPr>
        <p:spPr>
          <a:xfrm>
            <a:off x="8930068" y="2112613"/>
            <a:ext cx="25006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82</a:t>
            </a:r>
          </a:p>
        </p:txBody>
      </p:sp>
      <p:sp>
        <p:nvSpPr>
          <p:cNvPr id="67" name="line-3"/>
          <p:cNvSpPr/>
          <p:nvPr/>
        </p:nvSpPr>
        <p:spPr>
          <a:xfrm>
            <a:off x="1663700" y="3591560"/>
            <a:ext cx="7670800" cy="877824"/>
          </a:xfrm>
          <a:custGeom>
            <a:avLst/>
            <a:gdLst/>
            <a:ahLst/>
            <a:cxnLst/>
            <a:rect l="0" t="0" r="r" b="b"/>
            <a:pathLst>
              <a:path w="7670800" h="877824">
                <a:moveTo>
                  <a:pt x="0" y="877824"/>
                </a:moveTo>
                <a:cubicBezTo>
                  <a:pt x="104585" y="868045"/>
                  <a:pt x="488124" y="827405"/>
                  <a:pt x="697357" y="812800"/>
                </a:cubicBezTo>
                <a:cubicBezTo>
                  <a:pt x="906526" y="798195"/>
                  <a:pt x="1185482" y="799782"/>
                  <a:pt x="1394714" y="780288"/>
                </a:cubicBezTo>
                <a:cubicBezTo>
                  <a:pt x="1603883" y="760793"/>
                  <a:pt x="1882838" y="707136"/>
                  <a:pt x="2092008" y="682752"/>
                </a:cubicBezTo>
                <a:cubicBezTo>
                  <a:pt x="2301240" y="658368"/>
                  <a:pt x="2580196" y="632333"/>
                  <a:pt x="2789364" y="617728"/>
                </a:cubicBezTo>
                <a:cubicBezTo>
                  <a:pt x="2998597" y="603123"/>
                  <a:pt x="3277552" y="609600"/>
                  <a:pt x="3486722" y="585216"/>
                </a:cubicBezTo>
                <a:cubicBezTo>
                  <a:pt x="3695954" y="560832"/>
                  <a:pt x="3974846" y="484441"/>
                  <a:pt x="4184078" y="455168"/>
                </a:cubicBezTo>
                <a:cubicBezTo>
                  <a:pt x="4393248" y="425894"/>
                  <a:pt x="4672203" y="414528"/>
                  <a:pt x="4881436" y="390144"/>
                </a:cubicBezTo>
                <a:cubicBezTo>
                  <a:pt x="5090604" y="365760"/>
                  <a:pt x="5369560" y="316992"/>
                  <a:pt x="5578792" y="292608"/>
                </a:cubicBezTo>
                <a:cubicBezTo>
                  <a:pt x="5787962" y="268224"/>
                  <a:pt x="6066917" y="251968"/>
                  <a:pt x="6276086" y="227584"/>
                </a:cubicBezTo>
                <a:cubicBezTo>
                  <a:pt x="6485318" y="203200"/>
                  <a:pt x="6764274" y="164211"/>
                  <a:pt x="6973443" y="130048"/>
                </a:cubicBezTo>
                <a:cubicBezTo>
                  <a:pt x="7182676" y="95885"/>
                  <a:pt x="7566216" y="19494"/>
                  <a:pt x="7670800" y="0"/>
                </a:cubicBezTo>
              </a:path>
            </a:pathLst>
          </a:custGeom>
          <a:noFill/>
          <a:ln w="2159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dot-3-1"/>
          <p:cNvSpPr/>
          <p:nvPr/>
        </p:nvSpPr>
        <p:spPr>
          <a:xfrm>
            <a:off x="1628140" y="4433824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dot-3-2"/>
          <p:cNvSpPr/>
          <p:nvPr/>
        </p:nvSpPr>
        <p:spPr>
          <a:xfrm>
            <a:off x="2325485" y="4368800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dot-3-3"/>
          <p:cNvSpPr/>
          <p:nvPr/>
        </p:nvSpPr>
        <p:spPr>
          <a:xfrm>
            <a:off x="3022831" y="4336288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dot-3-4"/>
          <p:cNvSpPr/>
          <p:nvPr/>
        </p:nvSpPr>
        <p:spPr>
          <a:xfrm>
            <a:off x="3720176" y="4238752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dot-3-5"/>
          <p:cNvSpPr/>
          <p:nvPr/>
        </p:nvSpPr>
        <p:spPr>
          <a:xfrm>
            <a:off x="4417522" y="4173728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dot-3-6"/>
          <p:cNvSpPr/>
          <p:nvPr/>
        </p:nvSpPr>
        <p:spPr>
          <a:xfrm>
            <a:off x="5114867" y="4141216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dot-3-7"/>
          <p:cNvSpPr/>
          <p:nvPr/>
        </p:nvSpPr>
        <p:spPr>
          <a:xfrm>
            <a:off x="5812213" y="4011168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dot-3-8"/>
          <p:cNvSpPr/>
          <p:nvPr/>
        </p:nvSpPr>
        <p:spPr>
          <a:xfrm>
            <a:off x="6509558" y="3946144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dot-3-9"/>
          <p:cNvSpPr/>
          <p:nvPr/>
        </p:nvSpPr>
        <p:spPr>
          <a:xfrm>
            <a:off x="7206904" y="3848608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dot-3-10"/>
          <p:cNvSpPr/>
          <p:nvPr/>
        </p:nvSpPr>
        <p:spPr>
          <a:xfrm>
            <a:off x="7904249" y="3783584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dot-3-11"/>
          <p:cNvSpPr/>
          <p:nvPr/>
        </p:nvSpPr>
        <p:spPr>
          <a:xfrm>
            <a:off x="8601595" y="3686048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dot-3-12"/>
          <p:cNvSpPr/>
          <p:nvPr/>
        </p:nvSpPr>
        <p:spPr>
          <a:xfrm>
            <a:off x="9298940" y="3556000"/>
            <a:ext cx="71120" cy="7112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endlab-3"/>
          <p:cNvSpPr/>
          <p:nvPr/>
        </p:nvSpPr>
        <p:spPr>
          <a:xfrm>
            <a:off x="8813800" y="3312160"/>
            <a:ext cx="482600" cy="215900"/>
          </a:xfrm>
          <a:custGeom>
            <a:avLst/>
            <a:gdLst/>
            <a:ahLst/>
            <a:cxnLst/>
            <a:rect l="0" t="0" r="r" b="b"/>
            <a:pathLst>
              <a:path w="482600" h="215900">
                <a:moveTo>
                  <a:pt x="63500" y="0"/>
                </a:moveTo>
                <a:lnTo>
                  <a:pt x="419100" y="0"/>
                </a:lnTo>
                <a:cubicBezTo>
                  <a:pt x="454152" y="0"/>
                  <a:pt x="482600" y="28448"/>
                  <a:pt x="482600" y="63500"/>
                </a:cubicBezTo>
                <a:lnTo>
                  <a:pt x="482600" y="152400"/>
                </a:lnTo>
                <a:cubicBezTo>
                  <a:pt x="482600" y="187452"/>
                  <a:pt x="454152" y="215900"/>
                  <a:pt x="419100" y="215900"/>
                </a:cubicBezTo>
                <a:lnTo>
                  <a:pt x="63500" y="215900"/>
                </a:lnTo>
                <a:cubicBezTo>
                  <a:pt x="28448" y="215900"/>
                  <a:pt x="0" y="187452"/>
                  <a:pt x="0" y="1524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endv-3"/>
          <p:cNvSpPr txBox="1"/>
          <p:nvPr/>
        </p:nvSpPr>
        <p:spPr>
          <a:xfrm>
            <a:off x="8930068" y="3315557"/>
            <a:ext cx="25006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45</a:t>
            </a:r>
          </a:p>
        </p:txBody>
      </p:sp>
      <p:sp>
        <p:nvSpPr>
          <p:cNvPr id="82" name="side-bar"/>
          <p:cNvSpPr/>
          <p:nvPr/>
        </p:nvSpPr>
        <p:spPr>
          <a:xfrm>
            <a:off x="9677400" y="16256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side-h"/>
          <p:cNvSpPr txBox="1"/>
          <p:nvPr/>
        </p:nvSpPr>
        <p:spPr>
          <a:xfrm>
            <a:off x="9836150" y="1632744"/>
            <a:ext cx="10001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业务线表现</a:t>
            </a:r>
          </a:p>
        </p:txBody>
      </p:sp>
      <p:sp>
        <p:nvSpPr>
          <p:cNvPr id="84" name="side-p"/>
          <p:cNvSpPr txBox="1"/>
          <p:nvPr/>
        </p:nvSpPr>
        <p:spPr>
          <a:xfrm>
            <a:off x="9841865" y="1907461"/>
            <a:ext cx="8956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全年累计与增幅</a:t>
            </a:r>
          </a:p>
        </p:txBody>
      </p:sp>
      <p:sp>
        <p:nvSpPr>
          <p:cNvPr id="85" name="sc-1"/>
          <p:cNvSpPr/>
          <p:nvPr/>
        </p:nvSpPr>
        <p:spPr>
          <a:xfrm>
            <a:off x="9677400" y="2413000"/>
            <a:ext cx="1562100" cy="838200"/>
          </a:xfrm>
          <a:custGeom>
            <a:avLst/>
            <a:gdLst/>
            <a:ahLst/>
            <a:cxnLst/>
            <a:rect l="0" t="0" r="r" b="b"/>
            <a:pathLst>
              <a:path w="1562100" h="838200">
                <a:moveTo>
                  <a:pt x="101600" y="0"/>
                </a:moveTo>
                <a:lnTo>
                  <a:pt x="1460500" y="0"/>
                </a:lnTo>
                <a:cubicBezTo>
                  <a:pt x="1516634" y="0"/>
                  <a:pt x="1562100" y="45466"/>
                  <a:pt x="1562100" y="101600"/>
                </a:cubicBezTo>
                <a:lnTo>
                  <a:pt x="1562100" y="736600"/>
                </a:lnTo>
                <a:cubicBezTo>
                  <a:pt x="1562100" y="792734"/>
                  <a:pt x="1516634" y="838200"/>
                  <a:pt x="1460500" y="838200"/>
                </a:cubicBezTo>
                <a:lnTo>
                  <a:pt x="101600" y="838200"/>
                </a:lnTo>
                <a:cubicBezTo>
                  <a:pt x="45466" y="838200"/>
                  <a:pt x="0" y="792734"/>
                  <a:pt x="0" y="736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sccap-1"/>
          <p:cNvSpPr/>
          <p:nvPr/>
        </p:nvSpPr>
        <p:spPr>
          <a:xfrm>
            <a:off x="9677400" y="2413000"/>
            <a:ext cx="1562100" cy="38100"/>
          </a:xfrm>
          <a:custGeom>
            <a:avLst/>
            <a:gdLst/>
            <a:ahLst/>
            <a:cxnLst/>
            <a:rect l="0" t="0" r="r" b="b"/>
            <a:pathLst>
              <a:path w="1562100" h="38100">
                <a:moveTo>
                  <a:pt x="19050" y="0"/>
                </a:moveTo>
                <a:lnTo>
                  <a:pt x="1543050" y="0"/>
                </a:lnTo>
                <a:cubicBezTo>
                  <a:pt x="1553591" y="0"/>
                  <a:pt x="1562100" y="8509"/>
                  <a:pt x="1562100" y="19050"/>
                </a:cubicBezTo>
                <a:lnTo>
                  <a:pt x="1562100" y="19050"/>
                </a:lnTo>
                <a:cubicBezTo>
                  <a:pt x="1562100" y="29591"/>
                  <a:pt x="1553591" y="38100"/>
                  <a:pt x="15430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icon-factory"/>
          <p:cNvSpPr/>
          <p:nvPr/>
        </p:nvSpPr>
        <p:spPr>
          <a:xfrm>
            <a:off x="9846818" y="2666238"/>
            <a:ext cx="118364" cy="79819"/>
          </a:xfrm>
          <a:custGeom>
            <a:avLst/>
            <a:gdLst/>
            <a:ahLst/>
            <a:cxnLst/>
            <a:rect l="0" t="0" r="r" b="b"/>
            <a:pathLst>
              <a:path w="118364" h="79819">
                <a:moveTo>
                  <a:pt x="0" y="79819"/>
                </a:moveTo>
                <a:lnTo>
                  <a:pt x="0" y="19304"/>
                </a:lnTo>
                <a:lnTo>
                  <a:pt x="34417" y="39942"/>
                </a:lnTo>
                <a:lnTo>
                  <a:pt x="34417" y="19304"/>
                </a:lnTo>
                <a:lnTo>
                  <a:pt x="68834" y="39942"/>
                </a:lnTo>
                <a:lnTo>
                  <a:pt x="68834" y="0"/>
                </a:lnTo>
                <a:lnTo>
                  <a:pt x="103188" y="20638"/>
                </a:lnTo>
                <a:lnTo>
                  <a:pt x="103188" y="72962"/>
                </a:lnTo>
                <a:close/>
                <a:moveTo>
                  <a:pt x="0" y="79819"/>
                </a:moveTo>
                <a:lnTo>
                  <a:pt x="118364" y="79819"/>
                </a:lnTo>
              </a:path>
            </a:pathLst>
          </a:custGeom>
          <a:noFill/>
          <a:ln w="1206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scn-1"/>
          <p:cNvSpPr txBox="1"/>
          <p:nvPr/>
        </p:nvSpPr>
        <p:spPr>
          <a:xfrm>
            <a:off x="10068560" y="258635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智能装备</a:t>
            </a:r>
          </a:p>
        </p:txBody>
      </p:sp>
      <p:sp>
        <p:nvSpPr>
          <p:cNvPr id="89" name="scv-1"/>
          <p:cNvSpPr txBox="1"/>
          <p:nvPr/>
        </p:nvSpPr>
        <p:spPr>
          <a:xfrm>
            <a:off x="9819640" y="2787332"/>
            <a:ext cx="501015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809</a:t>
            </a:r>
          </a:p>
        </p:txBody>
      </p:sp>
      <p:sp>
        <p:nvSpPr>
          <p:cNvPr id="90" name="scu-1"/>
          <p:cNvSpPr txBox="1"/>
          <p:nvPr/>
        </p:nvSpPr>
        <p:spPr>
          <a:xfrm>
            <a:off x="10206482" y="2912808"/>
            <a:ext cx="2578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百万</a:t>
            </a:r>
          </a:p>
        </p:txBody>
      </p:sp>
      <p:sp>
        <p:nvSpPr>
          <p:cNvPr id="91" name="scg-1"/>
          <p:cNvSpPr/>
          <p:nvPr/>
        </p:nvSpPr>
        <p:spPr>
          <a:xfrm>
            <a:off x="10629900" y="2882900"/>
            <a:ext cx="482600" cy="190500"/>
          </a:xfrm>
          <a:custGeom>
            <a:avLst/>
            <a:gdLst/>
            <a:ahLst/>
            <a:cxnLst/>
            <a:rect l="0" t="0" r="r" b="b"/>
            <a:pathLst>
              <a:path w="482600" h="190500">
                <a:moveTo>
                  <a:pt x="95250" y="0"/>
                </a:moveTo>
                <a:lnTo>
                  <a:pt x="387350" y="0"/>
                </a:lnTo>
                <a:cubicBezTo>
                  <a:pt x="439928" y="0"/>
                  <a:pt x="482600" y="42672"/>
                  <a:pt x="482600" y="95250"/>
                </a:cubicBezTo>
                <a:lnTo>
                  <a:pt x="482600" y="95250"/>
                </a:lnTo>
                <a:cubicBezTo>
                  <a:pt x="482600" y="147828"/>
                  <a:pt x="439928" y="190500"/>
                  <a:pt x="3873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scgt-1"/>
          <p:cNvSpPr txBox="1"/>
          <p:nvPr/>
        </p:nvSpPr>
        <p:spPr>
          <a:xfrm>
            <a:off x="10694988" y="2892266"/>
            <a:ext cx="3524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+133%</a:t>
            </a:r>
          </a:p>
        </p:txBody>
      </p:sp>
      <p:sp>
        <p:nvSpPr>
          <p:cNvPr id="93" name="sc-2"/>
          <p:cNvSpPr/>
          <p:nvPr/>
        </p:nvSpPr>
        <p:spPr>
          <a:xfrm>
            <a:off x="9677400" y="3416300"/>
            <a:ext cx="1562100" cy="838200"/>
          </a:xfrm>
          <a:custGeom>
            <a:avLst/>
            <a:gdLst/>
            <a:ahLst/>
            <a:cxnLst/>
            <a:rect l="0" t="0" r="r" b="b"/>
            <a:pathLst>
              <a:path w="1562100" h="838200">
                <a:moveTo>
                  <a:pt x="101600" y="0"/>
                </a:moveTo>
                <a:lnTo>
                  <a:pt x="1460500" y="0"/>
                </a:lnTo>
                <a:cubicBezTo>
                  <a:pt x="1516634" y="0"/>
                  <a:pt x="1562100" y="45466"/>
                  <a:pt x="1562100" y="101600"/>
                </a:cubicBezTo>
                <a:lnTo>
                  <a:pt x="1562100" y="736600"/>
                </a:lnTo>
                <a:cubicBezTo>
                  <a:pt x="1562100" y="792734"/>
                  <a:pt x="1516634" y="838200"/>
                  <a:pt x="1460500" y="838200"/>
                </a:cubicBezTo>
                <a:lnTo>
                  <a:pt x="101600" y="838200"/>
                </a:lnTo>
                <a:cubicBezTo>
                  <a:pt x="45466" y="838200"/>
                  <a:pt x="0" y="792734"/>
                  <a:pt x="0" y="736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sccap-2"/>
          <p:cNvSpPr/>
          <p:nvPr/>
        </p:nvSpPr>
        <p:spPr>
          <a:xfrm>
            <a:off x="9677400" y="3416300"/>
            <a:ext cx="1562100" cy="38100"/>
          </a:xfrm>
          <a:custGeom>
            <a:avLst/>
            <a:gdLst/>
            <a:ahLst/>
            <a:cxnLst/>
            <a:rect l="0" t="0" r="r" b="b"/>
            <a:pathLst>
              <a:path w="1562100" h="38100">
                <a:moveTo>
                  <a:pt x="19050" y="0"/>
                </a:moveTo>
                <a:lnTo>
                  <a:pt x="1543050" y="0"/>
                </a:lnTo>
                <a:cubicBezTo>
                  <a:pt x="1553591" y="0"/>
                  <a:pt x="1562100" y="8509"/>
                  <a:pt x="1562100" y="19050"/>
                </a:cubicBezTo>
                <a:lnTo>
                  <a:pt x="1562100" y="19050"/>
                </a:lnTo>
                <a:cubicBezTo>
                  <a:pt x="1562100" y="29591"/>
                  <a:pt x="1553591" y="38100"/>
                  <a:pt x="15430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icon-cloud"/>
          <p:cNvSpPr/>
          <p:nvPr/>
        </p:nvSpPr>
        <p:spPr>
          <a:xfrm>
            <a:off x="9842690" y="3649747"/>
            <a:ext cx="130746" cy="89958"/>
          </a:xfrm>
          <a:custGeom>
            <a:avLst/>
            <a:gdLst/>
            <a:ahLst/>
            <a:cxnLst/>
            <a:rect l="0" t="0" r="r" b="b"/>
            <a:pathLst>
              <a:path w="130746" h="89958">
                <a:moveTo>
                  <a:pt x="30289" y="89958"/>
                </a:moveTo>
                <a:cubicBezTo>
                  <a:pt x="14351" y="90720"/>
                  <a:pt x="762" y="78401"/>
                  <a:pt x="0" y="62463"/>
                </a:cubicBezTo>
                <a:cubicBezTo>
                  <a:pt x="-762" y="46524"/>
                  <a:pt x="11557" y="32935"/>
                  <a:pt x="27559" y="32173"/>
                </a:cubicBezTo>
                <a:cubicBezTo>
                  <a:pt x="29782" y="15346"/>
                  <a:pt x="43180" y="2201"/>
                  <a:pt x="60071" y="233"/>
                </a:cubicBezTo>
                <a:cubicBezTo>
                  <a:pt x="76962" y="-1736"/>
                  <a:pt x="93028" y="8043"/>
                  <a:pt x="99060" y="23918"/>
                </a:cubicBezTo>
                <a:cubicBezTo>
                  <a:pt x="117348" y="24680"/>
                  <a:pt x="131509" y="40111"/>
                  <a:pt x="130746" y="58335"/>
                </a:cubicBezTo>
                <a:cubicBezTo>
                  <a:pt x="129985" y="76560"/>
                  <a:pt x="114554" y="90720"/>
                  <a:pt x="96330" y="89958"/>
                </a:cubicBezTo>
                <a:close/>
              </a:path>
            </a:pathLst>
          </a:custGeom>
          <a:noFill/>
          <a:ln w="12065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scn-2"/>
          <p:cNvSpPr txBox="1"/>
          <p:nvPr/>
        </p:nvSpPr>
        <p:spPr>
          <a:xfrm>
            <a:off x="10068560" y="358965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软件平台</a:t>
            </a:r>
          </a:p>
        </p:txBody>
      </p:sp>
      <p:sp>
        <p:nvSpPr>
          <p:cNvPr id="97" name="scv-2"/>
          <p:cNvSpPr txBox="1"/>
          <p:nvPr/>
        </p:nvSpPr>
        <p:spPr>
          <a:xfrm>
            <a:off x="9819640" y="3790633"/>
            <a:ext cx="501015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607</a:t>
            </a:r>
          </a:p>
        </p:txBody>
      </p:sp>
      <p:sp>
        <p:nvSpPr>
          <p:cNvPr id="98" name="scu-2"/>
          <p:cNvSpPr txBox="1"/>
          <p:nvPr/>
        </p:nvSpPr>
        <p:spPr>
          <a:xfrm>
            <a:off x="10206482" y="3916108"/>
            <a:ext cx="2578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百万</a:t>
            </a:r>
          </a:p>
        </p:txBody>
      </p:sp>
      <p:sp>
        <p:nvSpPr>
          <p:cNvPr id="99" name="scg-2"/>
          <p:cNvSpPr/>
          <p:nvPr/>
        </p:nvSpPr>
        <p:spPr>
          <a:xfrm>
            <a:off x="10629900" y="3886200"/>
            <a:ext cx="482600" cy="190500"/>
          </a:xfrm>
          <a:custGeom>
            <a:avLst/>
            <a:gdLst/>
            <a:ahLst/>
            <a:cxnLst/>
            <a:rect l="0" t="0" r="r" b="b"/>
            <a:pathLst>
              <a:path w="482600" h="190500">
                <a:moveTo>
                  <a:pt x="95250" y="0"/>
                </a:moveTo>
                <a:lnTo>
                  <a:pt x="387350" y="0"/>
                </a:lnTo>
                <a:cubicBezTo>
                  <a:pt x="439928" y="0"/>
                  <a:pt x="482600" y="42672"/>
                  <a:pt x="482600" y="95250"/>
                </a:cubicBezTo>
                <a:lnTo>
                  <a:pt x="482600" y="95250"/>
                </a:lnTo>
                <a:cubicBezTo>
                  <a:pt x="482600" y="147828"/>
                  <a:pt x="439928" y="190500"/>
                  <a:pt x="3873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2468B6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scgt-2"/>
          <p:cNvSpPr txBox="1"/>
          <p:nvPr/>
        </p:nvSpPr>
        <p:spPr>
          <a:xfrm>
            <a:off x="10694988" y="3895566"/>
            <a:ext cx="3524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+215%</a:t>
            </a:r>
          </a:p>
        </p:txBody>
      </p:sp>
      <p:sp>
        <p:nvSpPr>
          <p:cNvPr id="101" name="sc-3"/>
          <p:cNvSpPr/>
          <p:nvPr/>
        </p:nvSpPr>
        <p:spPr>
          <a:xfrm>
            <a:off x="9677400" y="4419600"/>
            <a:ext cx="1562100" cy="838200"/>
          </a:xfrm>
          <a:custGeom>
            <a:avLst/>
            <a:gdLst/>
            <a:ahLst/>
            <a:cxnLst/>
            <a:rect l="0" t="0" r="r" b="b"/>
            <a:pathLst>
              <a:path w="1562100" h="838200">
                <a:moveTo>
                  <a:pt x="101600" y="0"/>
                </a:moveTo>
                <a:lnTo>
                  <a:pt x="1460500" y="0"/>
                </a:lnTo>
                <a:cubicBezTo>
                  <a:pt x="1516634" y="0"/>
                  <a:pt x="1562100" y="45466"/>
                  <a:pt x="1562100" y="101600"/>
                </a:cubicBezTo>
                <a:lnTo>
                  <a:pt x="1562100" y="736600"/>
                </a:lnTo>
                <a:cubicBezTo>
                  <a:pt x="1562100" y="792734"/>
                  <a:pt x="1516634" y="838200"/>
                  <a:pt x="1460500" y="838200"/>
                </a:cubicBezTo>
                <a:lnTo>
                  <a:pt x="101600" y="838200"/>
                </a:lnTo>
                <a:cubicBezTo>
                  <a:pt x="45466" y="838200"/>
                  <a:pt x="0" y="792734"/>
                  <a:pt x="0" y="736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2" name="sccap-3"/>
          <p:cNvSpPr/>
          <p:nvPr/>
        </p:nvSpPr>
        <p:spPr>
          <a:xfrm>
            <a:off x="9677400" y="4419600"/>
            <a:ext cx="1562100" cy="38100"/>
          </a:xfrm>
          <a:custGeom>
            <a:avLst/>
            <a:gdLst/>
            <a:ahLst/>
            <a:cxnLst/>
            <a:rect l="0" t="0" r="r" b="b"/>
            <a:pathLst>
              <a:path w="1562100" h="38100">
                <a:moveTo>
                  <a:pt x="19050" y="0"/>
                </a:moveTo>
                <a:lnTo>
                  <a:pt x="1543050" y="0"/>
                </a:lnTo>
                <a:cubicBezTo>
                  <a:pt x="1553591" y="0"/>
                  <a:pt x="1562100" y="8509"/>
                  <a:pt x="1562100" y="19050"/>
                </a:cubicBezTo>
                <a:lnTo>
                  <a:pt x="1562100" y="19050"/>
                </a:lnTo>
                <a:cubicBezTo>
                  <a:pt x="1562100" y="29591"/>
                  <a:pt x="1553591" y="38100"/>
                  <a:pt x="15430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icon-hand"/>
          <p:cNvSpPr/>
          <p:nvPr/>
        </p:nvSpPr>
        <p:spPr>
          <a:xfrm>
            <a:off x="9853978" y="4639818"/>
            <a:ext cx="93297" cy="118364"/>
          </a:xfrm>
          <a:custGeom>
            <a:avLst/>
            <a:gdLst/>
            <a:ahLst/>
            <a:cxnLst/>
            <a:rect l="0" t="0" r="r" b="b"/>
            <a:pathLst>
              <a:path w="93297" h="118364">
                <a:moveTo>
                  <a:pt x="27257" y="63310"/>
                </a:moveTo>
                <a:lnTo>
                  <a:pt x="27257" y="19304"/>
                </a:lnTo>
                <a:cubicBezTo>
                  <a:pt x="27257" y="13208"/>
                  <a:pt x="32210" y="8255"/>
                  <a:pt x="38242" y="8255"/>
                </a:cubicBezTo>
                <a:cubicBezTo>
                  <a:pt x="44338" y="8255"/>
                  <a:pt x="49291" y="13208"/>
                  <a:pt x="49291" y="19304"/>
                </a:cubicBezTo>
                <a:lnTo>
                  <a:pt x="49291" y="53658"/>
                </a:lnTo>
                <a:moveTo>
                  <a:pt x="49291" y="53658"/>
                </a:moveTo>
                <a:lnTo>
                  <a:pt x="49291" y="11049"/>
                </a:lnTo>
                <a:cubicBezTo>
                  <a:pt x="49291" y="4953"/>
                  <a:pt x="54181" y="0"/>
                  <a:pt x="60277" y="0"/>
                </a:cubicBezTo>
                <a:cubicBezTo>
                  <a:pt x="66373" y="0"/>
                  <a:pt x="71262" y="4953"/>
                  <a:pt x="71262" y="11049"/>
                </a:cubicBezTo>
                <a:lnTo>
                  <a:pt x="71262" y="53658"/>
                </a:lnTo>
                <a:moveTo>
                  <a:pt x="71262" y="56452"/>
                </a:moveTo>
                <a:lnTo>
                  <a:pt x="71262" y="27559"/>
                </a:lnTo>
                <a:cubicBezTo>
                  <a:pt x="71262" y="21463"/>
                  <a:pt x="76215" y="16510"/>
                  <a:pt x="82311" y="16510"/>
                </a:cubicBezTo>
                <a:cubicBezTo>
                  <a:pt x="88344" y="16510"/>
                  <a:pt x="93297" y="21463"/>
                  <a:pt x="93297" y="27559"/>
                </a:cubicBezTo>
                <a:lnTo>
                  <a:pt x="93297" y="78423"/>
                </a:lnTo>
                <a:cubicBezTo>
                  <a:pt x="93297" y="100457"/>
                  <a:pt x="76787" y="118364"/>
                  <a:pt x="54752" y="118364"/>
                </a:cubicBezTo>
                <a:cubicBezTo>
                  <a:pt x="36909" y="118364"/>
                  <a:pt x="27257" y="110109"/>
                  <a:pt x="17605" y="96330"/>
                </a:cubicBezTo>
                <a:lnTo>
                  <a:pt x="1095" y="71565"/>
                </a:lnTo>
                <a:cubicBezTo>
                  <a:pt x="-1255" y="66675"/>
                  <a:pt x="269" y="60770"/>
                  <a:pt x="4778" y="57722"/>
                </a:cubicBezTo>
                <a:cubicBezTo>
                  <a:pt x="9223" y="54610"/>
                  <a:pt x="15255" y="55245"/>
                  <a:pt x="19002" y="59182"/>
                </a:cubicBezTo>
                <a:close/>
              </a:path>
            </a:pathLst>
          </a:custGeom>
          <a:noFill/>
          <a:ln w="12065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4" name="scn-3"/>
          <p:cNvSpPr txBox="1"/>
          <p:nvPr/>
        </p:nvSpPr>
        <p:spPr>
          <a:xfrm>
            <a:off x="10068560" y="459295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运维服务</a:t>
            </a:r>
          </a:p>
        </p:txBody>
      </p:sp>
      <p:sp>
        <p:nvSpPr>
          <p:cNvPr id="105" name="scv-3"/>
          <p:cNvSpPr txBox="1"/>
          <p:nvPr/>
        </p:nvSpPr>
        <p:spPr>
          <a:xfrm>
            <a:off x="9819640" y="4793932"/>
            <a:ext cx="501015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360</a:t>
            </a:r>
          </a:p>
        </p:txBody>
      </p:sp>
      <p:sp>
        <p:nvSpPr>
          <p:cNvPr id="106" name="scu-3"/>
          <p:cNvSpPr txBox="1"/>
          <p:nvPr/>
        </p:nvSpPr>
        <p:spPr>
          <a:xfrm>
            <a:off x="10206482" y="4919408"/>
            <a:ext cx="2578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百万</a:t>
            </a:r>
          </a:p>
        </p:txBody>
      </p:sp>
      <p:sp>
        <p:nvSpPr>
          <p:cNvPr id="107" name="scg-3"/>
          <p:cNvSpPr/>
          <p:nvPr/>
        </p:nvSpPr>
        <p:spPr>
          <a:xfrm>
            <a:off x="10629900" y="4889500"/>
            <a:ext cx="482600" cy="190500"/>
          </a:xfrm>
          <a:custGeom>
            <a:avLst/>
            <a:gdLst/>
            <a:ahLst/>
            <a:cxnLst/>
            <a:rect l="0" t="0" r="r" b="b"/>
            <a:pathLst>
              <a:path w="482600" h="190500">
                <a:moveTo>
                  <a:pt x="95250" y="0"/>
                </a:moveTo>
                <a:lnTo>
                  <a:pt x="387350" y="0"/>
                </a:lnTo>
                <a:cubicBezTo>
                  <a:pt x="439928" y="0"/>
                  <a:pt x="482600" y="42672"/>
                  <a:pt x="482600" y="95250"/>
                </a:cubicBezTo>
                <a:lnTo>
                  <a:pt x="482600" y="95250"/>
                </a:lnTo>
                <a:cubicBezTo>
                  <a:pt x="482600" y="147828"/>
                  <a:pt x="439928" y="190500"/>
                  <a:pt x="3873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4694D7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8" name="scgt-3"/>
          <p:cNvSpPr txBox="1"/>
          <p:nvPr/>
        </p:nvSpPr>
        <p:spPr>
          <a:xfrm>
            <a:off x="10694988" y="4898866"/>
            <a:ext cx="3524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4694D7"/>
                </a:solidFill>
                <a:latin typeface="Arial"/>
                <a:ea typeface="Arial"/>
                <a:cs typeface="Arial"/>
              </a:rPr>
              <a:t>+150%</a:t>
            </a:r>
          </a:p>
        </p:txBody>
      </p:sp>
      <p:sp>
        <p:nvSpPr>
          <p:cNvPr id="109" name="sum"/>
          <p:cNvSpPr/>
          <p:nvPr/>
        </p:nvSpPr>
        <p:spPr>
          <a:xfrm>
            <a:off x="952500" y="5575300"/>
            <a:ext cx="10287000" cy="558800"/>
          </a:xfrm>
          <a:custGeom>
            <a:avLst/>
            <a:gdLst/>
            <a:ahLst/>
            <a:cxnLst/>
            <a:rect l="0" t="0" r="r" b="b"/>
            <a:pathLst>
              <a:path w="10287000" h="5588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57200"/>
                </a:lnTo>
                <a:cubicBezTo>
                  <a:pt x="10287000" y="513334"/>
                  <a:pt x="10241534" y="558800"/>
                  <a:pt x="10185400" y="558800"/>
                </a:cubicBezTo>
                <a:lnTo>
                  <a:pt x="101600" y="558800"/>
                </a:lnTo>
                <a:cubicBezTo>
                  <a:pt x="45466" y="558800"/>
                  <a:pt x="0" y="513334"/>
                  <a:pt x="0" y="457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0" name="sum-bar"/>
          <p:cNvSpPr/>
          <p:nvPr/>
        </p:nvSpPr>
        <p:spPr>
          <a:xfrm>
            <a:off x="952500" y="5575300"/>
            <a:ext cx="31750" cy="5588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1" name="sum-h"/>
          <p:cNvSpPr txBox="1"/>
          <p:nvPr/>
        </p:nvSpPr>
        <p:spPr>
          <a:xfrm>
            <a:off x="1141222" y="56675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走势判断</a:t>
            </a:r>
          </a:p>
        </p:txBody>
      </p:sp>
      <p:sp>
        <p:nvSpPr>
          <p:cNvPr id="112" name="sum-p"/>
          <p:cNvSpPr txBox="1"/>
          <p:nvPr/>
        </p:nvSpPr>
        <p:spPr>
          <a:xfrm>
            <a:off x="1142365" y="5882561"/>
            <a:ext cx="503523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软件平台增速最快（全年 +215%），已成为第二增长曲线；运维服务稳定爬坡，为续约提供支撑。</a:t>
            </a:r>
          </a:p>
        </p:txBody>
      </p:sp>
      <p:sp>
        <p:nvSpPr>
          <p:cNvPr id="113" name="sv-1"/>
          <p:cNvSpPr txBox="1"/>
          <p:nvPr/>
        </p:nvSpPr>
        <p:spPr>
          <a:xfrm>
            <a:off x="6585776" y="5724017"/>
            <a:ext cx="468249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225</a:t>
            </a:r>
          </a:p>
        </p:txBody>
      </p:sp>
      <p:sp>
        <p:nvSpPr>
          <p:cNvPr id="114" name="sl-1"/>
          <p:cNvSpPr txBox="1"/>
          <p:nvPr/>
        </p:nvSpPr>
        <p:spPr>
          <a:xfrm>
            <a:off x="6564249" y="5998908"/>
            <a:ext cx="51130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12 月合计</a:t>
            </a:r>
          </a:p>
        </p:txBody>
      </p:sp>
      <p:sp>
        <p:nvSpPr>
          <p:cNvPr id="115" name="sv-2"/>
          <p:cNvSpPr txBox="1"/>
          <p:nvPr/>
        </p:nvSpPr>
        <p:spPr>
          <a:xfrm>
            <a:off x="8033004" y="5724017"/>
            <a:ext cx="570992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+72%</a:t>
            </a:r>
          </a:p>
        </p:txBody>
      </p:sp>
      <p:sp>
        <p:nvSpPr>
          <p:cNvPr id="116" name="sl-2"/>
          <p:cNvSpPr txBox="1"/>
          <p:nvPr/>
        </p:nvSpPr>
        <p:spPr>
          <a:xfrm>
            <a:off x="8095615" y="5998908"/>
            <a:ext cx="4457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同比增幅</a:t>
            </a:r>
          </a:p>
        </p:txBody>
      </p:sp>
      <p:sp>
        <p:nvSpPr>
          <p:cNvPr id="117" name="sv-3"/>
          <p:cNvSpPr txBox="1"/>
          <p:nvPr/>
        </p:nvSpPr>
        <p:spPr>
          <a:xfrm>
            <a:off x="9685718" y="5724017"/>
            <a:ext cx="262763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118" name="sl-3"/>
          <p:cNvSpPr txBox="1"/>
          <p:nvPr/>
        </p:nvSpPr>
        <p:spPr>
          <a:xfrm>
            <a:off x="9548495" y="5998908"/>
            <a:ext cx="5372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条增长曲线</a:t>
            </a:r>
          </a:p>
        </p:txBody>
      </p:sp>
      <p:cxnSp>
        <p:nvCxnSpPr>
          <p:cNvPr id="119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0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月度走势 · 三条业务线</a:t>
            </a:r>
          </a:p>
        </p:txBody>
      </p:sp>
      <p:sp>
        <p:nvSpPr>
          <p:cNvPr id="121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季度经营看板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2637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KPI DASHBOARD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123299" y="673132"/>
            <a:ext cx="24974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六项核心指标的当期值、环比变化与近六期走势</a:t>
            </a:r>
          </a:p>
        </p:txBody>
      </p:sp>
      <p:sp>
        <p:nvSpPr>
          <p:cNvPr id="10" name="topbar"/>
          <p:cNvSpPr/>
          <p:nvPr/>
        </p:nvSpPr>
        <p:spPr>
          <a:xfrm>
            <a:off x="952500" y="1371600"/>
            <a:ext cx="10287000" cy="533400"/>
          </a:xfrm>
          <a:custGeom>
            <a:avLst/>
            <a:gdLst/>
            <a:ahLst/>
            <a:cxnLst/>
            <a:rect l="0" t="0" r="r" b="b"/>
            <a:pathLst>
              <a:path w="10287000" h="5334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31800"/>
                </a:lnTo>
                <a:cubicBezTo>
                  <a:pt x="10287000" y="487934"/>
                  <a:pt x="10241534" y="533400"/>
                  <a:pt x="10185400" y="533400"/>
                </a:cubicBezTo>
                <a:lnTo>
                  <a:pt x="101600" y="533400"/>
                </a:lnTo>
                <a:cubicBezTo>
                  <a:pt x="45466" y="533400"/>
                  <a:pt x="0" y="487934"/>
                  <a:pt x="0" y="431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0A3A88"/>
              </a:gs>
            </a:gsLst>
            <a:lin ang="0" scaled="0"/>
          </a:gra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icon-target"/>
          <p:cNvSpPr/>
          <p:nvPr/>
        </p:nvSpPr>
        <p:spPr>
          <a:xfrm>
            <a:off x="1244600" y="1570038"/>
            <a:ext cx="52388" cy="68262"/>
          </a:xfrm>
          <a:custGeom>
            <a:avLst/>
            <a:gdLst/>
            <a:ahLst/>
            <a:cxnLst/>
            <a:rect l="0" t="0" r="r" b="b"/>
            <a:pathLst>
              <a:path w="52388" h="68262">
                <a:moveTo>
                  <a:pt x="0" y="39688"/>
                </a:moveTo>
                <a:lnTo>
                  <a:pt x="0" y="0"/>
                </a:lnTo>
                <a:moveTo>
                  <a:pt x="0" y="68262"/>
                </a:moveTo>
                <a:lnTo>
                  <a:pt x="52388" y="15875"/>
                </a:lnTo>
              </a:path>
            </a:pathLst>
          </a:custGeom>
          <a:noFill/>
          <a:ln w="1270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icon-target"/>
          <p:cNvSpPr/>
          <p:nvPr/>
        </p:nvSpPr>
        <p:spPr>
          <a:xfrm>
            <a:off x="1176338" y="1570038"/>
            <a:ext cx="136525" cy="136525"/>
          </a:xfrm>
          <a:prstGeom prst="ellipse">
            <a:avLst/>
          </a:prstGeom>
          <a:noFill/>
          <a:ln w="1270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icon-target"/>
          <p:cNvSpPr/>
          <p:nvPr/>
        </p:nvSpPr>
        <p:spPr>
          <a:xfrm>
            <a:off x="1209675" y="1603375"/>
            <a:ext cx="69850" cy="69850"/>
          </a:xfrm>
          <a:prstGeom prst="ellipse">
            <a:avLst/>
          </a:prstGeom>
          <a:noFill/>
          <a:ln w="1270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top-t"/>
          <p:cNvSpPr txBox="1"/>
          <p:nvPr/>
        </p:nvSpPr>
        <p:spPr>
          <a:xfrm>
            <a:off x="1443736" y="1516570"/>
            <a:ext cx="134239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2026 年第三季度</a:t>
            </a:r>
          </a:p>
        </p:txBody>
      </p:sp>
      <p:sp>
        <p:nvSpPr>
          <p:cNvPr id="15" name="tl-1"/>
          <p:cNvSpPr txBox="1"/>
          <p:nvPr/>
        </p:nvSpPr>
        <p:spPr>
          <a:xfrm>
            <a:off x="5386832" y="1490408"/>
            <a:ext cx="5499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40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目标完成度</a:t>
            </a:r>
          </a:p>
        </p:txBody>
      </p:sp>
      <p:sp>
        <p:nvSpPr>
          <p:cNvPr id="16" name="tv-1"/>
          <p:cNvSpPr txBox="1"/>
          <p:nvPr/>
        </p:nvSpPr>
        <p:spPr>
          <a:xfrm>
            <a:off x="5379212" y="1602486"/>
            <a:ext cx="668274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103.6%</a:t>
            </a:r>
          </a:p>
        </p:txBody>
      </p:sp>
      <p:cxnSp>
        <p:nvCxnSpPr>
          <p:cNvPr id="17" name="tsep-1"/>
          <p:cNvCxnSpPr/>
          <p:nvPr/>
        </p:nvCxnSpPr>
        <p:spPr>
          <a:xfrm>
            <a:off x="6985000" y="1511300"/>
            <a:ext cx="0" cy="254000"/>
          </a:xfrm>
          <a:prstGeom prst="line">
            <a:avLst/>
          </a:prstGeom>
          <a:ln w="6350" cap="rnd">
            <a:solidFill>
              <a:srgbClr val="FFFFFF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l-2"/>
          <p:cNvSpPr txBox="1"/>
          <p:nvPr/>
        </p:nvSpPr>
        <p:spPr>
          <a:xfrm>
            <a:off x="7291832" y="1490408"/>
            <a:ext cx="455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40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对比上季</a:t>
            </a:r>
          </a:p>
        </p:txBody>
      </p:sp>
      <p:sp>
        <p:nvSpPr>
          <p:cNvPr id="19" name="tv-2"/>
          <p:cNvSpPr txBox="1"/>
          <p:nvPr/>
        </p:nvSpPr>
        <p:spPr>
          <a:xfrm>
            <a:off x="7284212" y="1602486"/>
            <a:ext cx="668274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+12.4%</a:t>
            </a:r>
          </a:p>
        </p:txBody>
      </p:sp>
      <p:cxnSp>
        <p:nvCxnSpPr>
          <p:cNvPr id="20" name="tsep-2"/>
          <p:cNvCxnSpPr/>
          <p:nvPr/>
        </p:nvCxnSpPr>
        <p:spPr>
          <a:xfrm>
            <a:off x="8890000" y="1511300"/>
            <a:ext cx="0" cy="254000"/>
          </a:xfrm>
          <a:prstGeom prst="line">
            <a:avLst/>
          </a:prstGeom>
          <a:ln w="6350" cap="rnd">
            <a:solidFill>
              <a:srgbClr val="FFFFFF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tl-3"/>
          <p:cNvSpPr txBox="1"/>
          <p:nvPr/>
        </p:nvSpPr>
        <p:spPr>
          <a:xfrm>
            <a:off x="9196832" y="1490408"/>
            <a:ext cx="455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40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达标指标</a:t>
            </a:r>
          </a:p>
        </p:txBody>
      </p:sp>
      <p:sp>
        <p:nvSpPr>
          <p:cNvPr id="22" name="tv-3"/>
          <p:cNvSpPr txBox="1"/>
          <p:nvPr/>
        </p:nvSpPr>
        <p:spPr>
          <a:xfrm>
            <a:off x="9189212" y="1602486"/>
            <a:ext cx="579755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5 / 6</a:t>
            </a:r>
          </a:p>
        </p:txBody>
      </p:sp>
      <p:sp>
        <p:nvSpPr>
          <p:cNvPr id="23" name="card-1"/>
          <p:cNvSpPr/>
          <p:nvPr/>
        </p:nvSpPr>
        <p:spPr>
          <a:xfrm>
            <a:off x="952500" y="2108200"/>
            <a:ext cx="3403600" cy="1905000"/>
          </a:xfrm>
          <a:custGeom>
            <a:avLst/>
            <a:gdLst/>
            <a:ahLst/>
            <a:cxnLst/>
            <a:rect l="0" t="0" r="r" b="b"/>
            <a:pathLst>
              <a:path w="3403600" h="1905000">
                <a:moveTo>
                  <a:pt x="127000" y="0"/>
                </a:moveTo>
                <a:lnTo>
                  <a:pt x="3276600" y="0"/>
                </a:lnTo>
                <a:cubicBezTo>
                  <a:pt x="3346767" y="0"/>
                  <a:pt x="3403600" y="56832"/>
                  <a:pt x="3403600" y="127000"/>
                </a:cubicBezTo>
                <a:lnTo>
                  <a:pt x="3403600" y="1778000"/>
                </a:lnTo>
                <a:cubicBezTo>
                  <a:pt x="3403600" y="1848167"/>
                  <a:pt x="3346767" y="1905000"/>
                  <a:pt x="3276600" y="1905000"/>
                </a:cubicBezTo>
                <a:lnTo>
                  <a:pt x="127000" y="1905000"/>
                </a:lnTo>
                <a:cubicBezTo>
                  <a:pt x="56832" y="1905000"/>
                  <a:pt x="0" y="1848167"/>
                  <a:pt x="0" y="1778000"/>
                </a:cubicBezTo>
                <a:lnTo>
                  <a:pt x="0" y="127000"/>
                </a:lnTo>
                <a:cubicBezTo>
                  <a:pt x="0" y="56832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cap-1"/>
          <p:cNvSpPr/>
          <p:nvPr/>
        </p:nvSpPr>
        <p:spPr>
          <a:xfrm>
            <a:off x="952500" y="2108200"/>
            <a:ext cx="44450" cy="1905000"/>
          </a:xfrm>
          <a:custGeom>
            <a:avLst/>
            <a:gdLst/>
            <a:ahLst/>
            <a:cxnLst/>
            <a:rect l="0" t="0" r="r" b="b"/>
            <a:pathLst>
              <a:path w="44450" h="1905000">
                <a:moveTo>
                  <a:pt x="22225" y="0"/>
                </a:moveTo>
                <a:lnTo>
                  <a:pt x="22225" y="0"/>
                </a:lnTo>
                <a:cubicBezTo>
                  <a:pt x="34481" y="0"/>
                  <a:pt x="44450" y="9969"/>
                  <a:pt x="44450" y="22225"/>
                </a:cubicBezTo>
                <a:lnTo>
                  <a:pt x="44450" y="1882775"/>
                </a:lnTo>
                <a:cubicBezTo>
                  <a:pt x="44450" y="1895030"/>
                  <a:pt x="34481" y="1905000"/>
                  <a:pt x="22225" y="1905000"/>
                </a:cubicBezTo>
                <a:lnTo>
                  <a:pt x="22225" y="1905000"/>
                </a:lnTo>
                <a:cubicBezTo>
                  <a:pt x="9969" y="1905000"/>
                  <a:pt x="0" y="1895030"/>
                  <a:pt x="0" y="1882775"/>
                </a:cubicBezTo>
                <a:lnTo>
                  <a:pt x="0" y="22225"/>
                </a:lnTo>
                <a:cubicBezTo>
                  <a:pt x="0" y="9969"/>
                  <a:pt x="9969" y="0"/>
                  <a:pt x="2222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chip-1"/>
          <p:cNvSpPr/>
          <p:nvPr/>
        </p:nvSpPr>
        <p:spPr>
          <a:xfrm>
            <a:off x="1168400" y="2286000"/>
            <a:ext cx="330200" cy="330200"/>
          </a:xfrm>
          <a:prstGeom prst="ellipse">
            <a:avLst/>
          </a:pr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icon-coin"/>
          <p:cNvSpPr/>
          <p:nvPr/>
        </p:nvSpPr>
        <p:spPr>
          <a:xfrm>
            <a:off x="1286066" y="2409634"/>
            <a:ext cx="94869" cy="82931"/>
          </a:xfrm>
          <a:custGeom>
            <a:avLst/>
            <a:gdLst/>
            <a:ahLst/>
            <a:cxnLst/>
            <a:rect l="0" t="0" r="r" b="b"/>
            <a:pathLst>
              <a:path w="94869" h="82931">
                <a:moveTo>
                  <a:pt x="47434" y="0"/>
                </a:moveTo>
                <a:cubicBezTo>
                  <a:pt x="20765" y="0"/>
                  <a:pt x="0" y="7366"/>
                  <a:pt x="0" y="17780"/>
                </a:cubicBezTo>
                <a:cubicBezTo>
                  <a:pt x="0" y="28130"/>
                  <a:pt x="20765" y="35560"/>
                  <a:pt x="47434" y="35560"/>
                </a:cubicBezTo>
                <a:cubicBezTo>
                  <a:pt x="74104" y="35560"/>
                  <a:pt x="94869" y="28130"/>
                  <a:pt x="94869" y="17780"/>
                </a:cubicBezTo>
                <a:cubicBezTo>
                  <a:pt x="94869" y="7366"/>
                  <a:pt x="74104" y="0"/>
                  <a:pt x="47434" y="0"/>
                </a:cubicBezTo>
                <a:close/>
                <a:moveTo>
                  <a:pt x="0" y="17780"/>
                </a:moveTo>
                <a:lnTo>
                  <a:pt x="0" y="65151"/>
                </a:lnTo>
                <a:cubicBezTo>
                  <a:pt x="0" y="75565"/>
                  <a:pt x="20765" y="82931"/>
                  <a:pt x="47434" y="82931"/>
                </a:cubicBezTo>
                <a:cubicBezTo>
                  <a:pt x="74104" y="82931"/>
                  <a:pt x="94869" y="75565"/>
                  <a:pt x="94869" y="65151"/>
                </a:cubicBezTo>
                <a:lnTo>
                  <a:pt x="94869" y="17780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nm-1"/>
          <p:cNvSpPr txBox="1"/>
          <p:nvPr/>
        </p:nvSpPr>
        <p:spPr>
          <a:xfrm>
            <a:off x="1568450" y="23058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营业收入</a:t>
            </a:r>
          </a:p>
        </p:txBody>
      </p:sp>
      <p:sp>
        <p:nvSpPr>
          <p:cNvPr id="28" name="dlt-1"/>
          <p:cNvSpPr/>
          <p:nvPr/>
        </p:nvSpPr>
        <p:spPr>
          <a:xfrm>
            <a:off x="3479800" y="2324100"/>
            <a:ext cx="711200" cy="254000"/>
          </a:xfrm>
          <a:custGeom>
            <a:avLst/>
            <a:gdLst/>
            <a:ahLst/>
            <a:cxnLst/>
            <a:rect l="0" t="0" r="r" b="b"/>
            <a:pathLst>
              <a:path w="711200" h="254000">
                <a:moveTo>
                  <a:pt x="127000" y="0"/>
                </a:moveTo>
                <a:lnTo>
                  <a:pt x="584200" y="0"/>
                </a:lnTo>
                <a:cubicBezTo>
                  <a:pt x="654367" y="0"/>
                  <a:pt x="711200" y="56832"/>
                  <a:pt x="711200" y="127000"/>
                </a:cubicBezTo>
                <a:lnTo>
                  <a:pt x="711200" y="127000"/>
                </a:lnTo>
                <a:cubicBezTo>
                  <a:pt x="711200" y="197168"/>
                  <a:pt x="654367" y="254000"/>
                  <a:pt x="584200" y="254000"/>
                </a:cubicBezTo>
                <a:lnTo>
                  <a:pt x="127000" y="254000"/>
                </a:lnTo>
                <a:cubicBezTo>
                  <a:pt x="56833" y="254000"/>
                  <a:pt x="0" y="197168"/>
                  <a:pt x="0" y="127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icon-grow"/>
          <p:cNvSpPr/>
          <p:nvPr/>
        </p:nvSpPr>
        <p:spPr>
          <a:xfrm>
            <a:off x="3587750" y="2430970"/>
            <a:ext cx="79375" cy="49784"/>
          </a:xfrm>
          <a:custGeom>
            <a:avLst/>
            <a:gdLst/>
            <a:ahLst/>
            <a:cxnLst/>
            <a:rect l="0" t="0" r="r" b="b"/>
            <a:pathLst>
              <a:path w="79375" h="49784">
                <a:moveTo>
                  <a:pt x="0" y="49784"/>
                </a:moveTo>
                <a:lnTo>
                  <a:pt x="26479" y="21209"/>
                </a:lnTo>
                <a:lnTo>
                  <a:pt x="45529" y="37084"/>
                </a:lnTo>
                <a:lnTo>
                  <a:pt x="77279" y="0"/>
                </a:lnTo>
                <a:moveTo>
                  <a:pt x="64579" y="0"/>
                </a:moveTo>
                <a:lnTo>
                  <a:pt x="79375" y="0"/>
                </a:lnTo>
                <a:lnTo>
                  <a:pt x="79375" y="14859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dltt-1"/>
          <p:cNvSpPr txBox="1"/>
          <p:nvPr/>
        </p:nvSpPr>
        <p:spPr>
          <a:xfrm>
            <a:off x="3644646" y="2370074"/>
            <a:ext cx="44424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+18.6%</a:t>
            </a:r>
          </a:p>
        </p:txBody>
      </p:sp>
      <p:sp>
        <p:nvSpPr>
          <p:cNvPr id="31" name="v-1"/>
          <p:cNvSpPr txBox="1"/>
          <p:nvPr/>
        </p:nvSpPr>
        <p:spPr>
          <a:xfrm>
            <a:off x="1127252" y="2688018"/>
            <a:ext cx="1102106" cy="6000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700" b="1" spc="50">
                <a:solidFill>
                  <a:srgbClr val="0B2545"/>
                </a:solidFill>
                <a:latin typeface="Arial"/>
                <a:ea typeface="Arial"/>
                <a:cs typeface="Arial"/>
              </a:rPr>
              <a:t>4.82</a:t>
            </a:r>
          </a:p>
        </p:txBody>
      </p:sp>
      <p:sp>
        <p:nvSpPr>
          <p:cNvPr id="32" name="u-1"/>
          <p:cNvSpPr txBox="1"/>
          <p:nvPr/>
        </p:nvSpPr>
        <p:spPr>
          <a:xfrm>
            <a:off x="2026412" y="2970340"/>
            <a:ext cx="331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亿元</a:t>
            </a:r>
          </a:p>
        </p:txBody>
      </p:sp>
      <p:sp>
        <p:nvSpPr>
          <p:cNvPr id="33" name="sp-1-1"/>
          <p:cNvSpPr/>
          <p:nvPr/>
        </p:nvSpPr>
        <p:spPr>
          <a:xfrm>
            <a:off x="1168400" y="3547618"/>
            <a:ext cx="190500" cy="249682"/>
          </a:xfrm>
          <a:custGeom>
            <a:avLst/>
            <a:gdLst/>
            <a:ahLst/>
            <a:cxnLst/>
            <a:rect l="0" t="0" r="r" b="b"/>
            <a:pathLst>
              <a:path w="190500" h="249682">
                <a:moveTo>
                  <a:pt x="0" y="249682"/>
                </a:move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249682"/>
                </a:lnTo>
                <a:close/>
              </a:path>
            </a:pathLst>
          </a:custGeom>
          <a:solidFill>
            <a:srgbClr val="0B3E8F">
              <a:alpha val="2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sp-1-2"/>
          <p:cNvSpPr/>
          <p:nvPr/>
        </p:nvSpPr>
        <p:spPr>
          <a:xfrm>
            <a:off x="1435100" y="3518852"/>
            <a:ext cx="190500" cy="278448"/>
          </a:xfrm>
          <a:custGeom>
            <a:avLst/>
            <a:gdLst/>
            <a:ahLst/>
            <a:cxnLst/>
            <a:rect l="0" t="0" r="r" b="b"/>
            <a:pathLst>
              <a:path w="190500" h="278448">
                <a:moveTo>
                  <a:pt x="0" y="278448"/>
                </a:moveTo>
                <a:lnTo>
                  <a:pt x="0" y="38100"/>
                </a:lnTo>
                <a:cubicBezTo>
                  <a:pt x="0" y="17018"/>
                  <a:pt x="17081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18"/>
                  <a:pt x="190500" y="38100"/>
                </a:cubicBezTo>
                <a:lnTo>
                  <a:pt x="190500" y="278448"/>
                </a:lnTo>
                <a:close/>
              </a:path>
            </a:pathLst>
          </a:custGeom>
          <a:solidFill>
            <a:srgbClr val="0B3E8F">
              <a:alpha val="4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sp-1-3"/>
          <p:cNvSpPr/>
          <p:nvPr/>
        </p:nvSpPr>
        <p:spPr>
          <a:xfrm>
            <a:off x="1701800" y="3533204"/>
            <a:ext cx="190500" cy="264097"/>
          </a:xfrm>
          <a:custGeom>
            <a:avLst/>
            <a:gdLst/>
            <a:ahLst/>
            <a:cxnLst/>
            <a:rect l="0" t="0" r="r" b="b"/>
            <a:pathLst>
              <a:path w="190500" h="264097">
                <a:moveTo>
                  <a:pt x="0" y="264097"/>
                </a:move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264097"/>
                </a:lnTo>
                <a:close/>
              </a:path>
            </a:pathLst>
          </a:custGeom>
          <a:solidFill>
            <a:srgbClr val="0B3E8F">
              <a:alpha val="5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sp-1-4"/>
          <p:cNvSpPr/>
          <p:nvPr/>
        </p:nvSpPr>
        <p:spPr>
          <a:xfrm>
            <a:off x="1968500" y="3490024"/>
            <a:ext cx="190500" cy="307276"/>
          </a:xfrm>
          <a:custGeom>
            <a:avLst/>
            <a:gdLst/>
            <a:ahLst/>
            <a:cxnLst/>
            <a:rect l="0" t="0" r="r" b="b"/>
            <a:pathLst>
              <a:path w="190500" h="307276">
                <a:moveTo>
                  <a:pt x="0" y="307276"/>
                </a:move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307276"/>
                </a:lnTo>
                <a:close/>
              </a:path>
            </a:pathLst>
          </a:custGeom>
          <a:solidFill>
            <a:srgbClr val="0B3E8F">
              <a:alpha val="6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sp-1-5"/>
          <p:cNvSpPr/>
          <p:nvPr/>
        </p:nvSpPr>
        <p:spPr>
          <a:xfrm>
            <a:off x="2235200" y="3456432"/>
            <a:ext cx="190500" cy="340868"/>
          </a:xfrm>
          <a:custGeom>
            <a:avLst/>
            <a:gdLst/>
            <a:ahLst/>
            <a:cxnLst/>
            <a:rect l="0" t="0" r="r" b="b"/>
            <a:pathLst>
              <a:path w="190500" h="340868">
                <a:moveTo>
                  <a:pt x="0" y="340868"/>
                </a:moveTo>
                <a:lnTo>
                  <a:pt x="0" y="38100"/>
                </a:lnTo>
                <a:cubicBezTo>
                  <a:pt x="0" y="17018"/>
                  <a:pt x="17081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18"/>
                  <a:pt x="190500" y="38100"/>
                </a:cubicBezTo>
                <a:lnTo>
                  <a:pt x="190500" y="340868"/>
                </a:lnTo>
                <a:close/>
              </a:path>
            </a:pathLst>
          </a:custGeom>
          <a:solidFill>
            <a:srgbClr val="0B3E8F">
              <a:alpha val="7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sp-1-6"/>
          <p:cNvSpPr/>
          <p:nvPr/>
        </p:nvSpPr>
        <p:spPr>
          <a:xfrm>
            <a:off x="2501900" y="3403600"/>
            <a:ext cx="190500" cy="393700"/>
          </a:xfrm>
          <a:custGeom>
            <a:avLst/>
            <a:gdLst/>
            <a:ahLst/>
            <a:cxnLst/>
            <a:rect l="0" t="0" r="r" b="b"/>
            <a:pathLst>
              <a:path w="190500" h="393700">
                <a:moveTo>
                  <a:pt x="0" y="393700"/>
                </a:move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393700"/>
                </a:lnTo>
                <a:close/>
              </a:path>
            </a:pathLst>
          </a:custGeom>
          <a:solidFill>
            <a:srgbClr val="0B3E8F">
              <a:alpha val="8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39" name="spl-1"/>
          <p:cNvCxnSpPr/>
          <p:nvPr/>
        </p:nvCxnSpPr>
        <p:spPr>
          <a:xfrm>
            <a:off x="1168400" y="3848100"/>
            <a:ext cx="29718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spt-1"/>
          <p:cNvSpPr txBox="1"/>
          <p:nvPr/>
        </p:nvSpPr>
        <p:spPr>
          <a:xfrm>
            <a:off x="3731006" y="3433508"/>
            <a:ext cx="4198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近 6 期</a:t>
            </a:r>
          </a:p>
        </p:txBody>
      </p:sp>
      <p:sp>
        <p:nvSpPr>
          <p:cNvPr id="41" name="spt2-1"/>
          <p:cNvSpPr txBox="1"/>
          <p:nvPr/>
        </p:nvSpPr>
        <p:spPr>
          <a:xfrm>
            <a:off x="3705098" y="3662108"/>
            <a:ext cx="4457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环比走势</a:t>
            </a:r>
          </a:p>
        </p:txBody>
      </p:sp>
      <p:sp>
        <p:nvSpPr>
          <p:cNvPr id="42" name="card-2"/>
          <p:cNvSpPr/>
          <p:nvPr/>
        </p:nvSpPr>
        <p:spPr>
          <a:xfrm>
            <a:off x="4521200" y="2108200"/>
            <a:ext cx="3403600" cy="1905000"/>
          </a:xfrm>
          <a:custGeom>
            <a:avLst/>
            <a:gdLst/>
            <a:ahLst/>
            <a:cxnLst/>
            <a:rect l="0" t="0" r="r" b="b"/>
            <a:pathLst>
              <a:path w="3403600" h="1905000">
                <a:moveTo>
                  <a:pt x="127000" y="0"/>
                </a:moveTo>
                <a:lnTo>
                  <a:pt x="3276600" y="0"/>
                </a:lnTo>
                <a:cubicBezTo>
                  <a:pt x="3346767" y="0"/>
                  <a:pt x="3403600" y="56832"/>
                  <a:pt x="3403600" y="127000"/>
                </a:cubicBezTo>
                <a:lnTo>
                  <a:pt x="3403600" y="1778000"/>
                </a:lnTo>
                <a:cubicBezTo>
                  <a:pt x="3403600" y="1848167"/>
                  <a:pt x="3346767" y="1905000"/>
                  <a:pt x="3276600" y="1905000"/>
                </a:cubicBezTo>
                <a:lnTo>
                  <a:pt x="127000" y="1905000"/>
                </a:lnTo>
                <a:cubicBezTo>
                  <a:pt x="56833" y="1905000"/>
                  <a:pt x="0" y="1848167"/>
                  <a:pt x="0" y="1778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cap-2"/>
          <p:cNvSpPr/>
          <p:nvPr/>
        </p:nvSpPr>
        <p:spPr>
          <a:xfrm>
            <a:off x="4521200" y="2108200"/>
            <a:ext cx="44450" cy="1905000"/>
          </a:xfrm>
          <a:custGeom>
            <a:avLst/>
            <a:gdLst/>
            <a:ahLst/>
            <a:cxnLst/>
            <a:rect l="0" t="0" r="r" b="b"/>
            <a:pathLst>
              <a:path w="44450" h="1905000">
                <a:moveTo>
                  <a:pt x="22225" y="0"/>
                </a:moveTo>
                <a:lnTo>
                  <a:pt x="22225" y="0"/>
                </a:lnTo>
                <a:cubicBezTo>
                  <a:pt x="34480" y="0"/>
                  <a:pt x="44450" y="9969"/>
                  <a:pt x="44450" y="22225"/>
                </a:cubicBezTo>
                <a:lnTo>
                  <a:pt x="44450" y="1882775"/>
                </a:lnTo>
                <a:cubicBezTo>
                  <a:pt x="44450" y="1895030"/>
                  <a:pt x="34480" y="1905000"/>
                  <a:pt x="22225" y="1905000"/>
                </a:cubicBezTo>
                <a:lnTo>
                  <a:pt x="22225" y="1905000"/>
                </a:lnTo>
                <a:cubicBezTo>
                  <a:pt x="9970" y="1905000"/>
                  <a:pt x="0" y="1895030"/>
                  <a:pt x="0" y="1882775"/>
                </a:cubicBezTo>
                <a:lnTo>
                  <a:pt x="0" y="22225"/>
                </a:lnTo>
                <a:cubicBezTo>
                  <a:pt x="0" y="9969"/>
                  <a:pt x="9970" y="0"/>
                  <a:pt x="22225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chip-2"/>
          <p:cNvSpPr/>
          <p:nvPr/>
        </p:nvSpPr>
        <p:spPr>
          <a:xfrm>
            <a:off x="4737100" y="2286000"/>
            <a:ext cx="330200" cy="330200"/>
          </a:xfrm>
          <a:prstGeom prst="ellipse">
            <a:avLst/>
          </a:prstGeom>
          <a:solidFill>
            <a:srgbClr val="134C9C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icon-chart"/>
          <p:cNvSpPr/>
          <p:nvPr/>
        </p:nvSpPr>
        <p:spPr>
          <a:xfrm>
            <a:off x="4839970" y="2428875"/>
            <a:ext cx="124460" cy="81470"/>
          </a:xfrm>
          <a:custGeom>
            <a:avLst/>
            <a:gdLst/>
            <a:ahLst/>
            <a:cxnLst/>
            <a:rect l="0" t="0" r="r" b="b"/>
            <a:pathLst>
              <a:path w="124460" h="81470">
                <a:moveTo>
                  <a:pt x="0" y="81470"/>
                </a:moveTo>
                <a:lnTo>
                  <a:pt x="124460" y="81470"/>
                </a:lnTo>
                <a:moveTo>
                  <a:pt x="28130" y="81470"/>
                </a:moveTo>
                <a:lnTo>
                  <a:pt x="28130" y="34100"/>
                </a:lnTo>
                <a:moveTo>
                  <a:pt x="62230" y="81470"/>
                </a:moveTo>
                <a:lnTo>
                  <a:pt x="62230" y="0"/>
                </a:lnTo>
                <a:moveTo>
                  <a:pt x="96329" y="81470"/>
                </a:moveTo>
                <a:lnTo>
                  <a:pt x="96329" y="50356"/>
                </a:lnTo>
              </a:path>
            </a:pathLst>
          </a:cu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nm-2"/>
          <p:cNvSpPr txBox="1"/>
          <p:nvPr/>
        </p:nvSpPr>
        <p:spPr>
          <a:xfrm>
            <a:off x="5137150" y="2305844"/>
            <a:ext cx="6572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毛利率</a:t>
            </a:r>
          </a:p>
        </p:txBody>
      </p:sp>
      <p:sp>
        <p:nvSpPr>
          <p:cNvPr id="47" name="dlt-2"/>
          <p:cNvSpPr/>
          <p:nvPr/>
        </p:nvSpPr>
        <p:spPr>
          <a:xfrm>
            <a:off x="7048500" y="2324100"/>
            <a:ext cx="711200" cy="254000"/>
          </a:xfrm>
          <a:custGeom>
            <a:avLst/>
            <a:gdLst/>
            <a:ahLst/>
            <a:cxnLst/>
            <a:rect l="0" t="0" r="r" b="b"/>
            <a:pathLst>
              <a:path w="711200" h="254000">
                <a:moveTo>
                  <a:pt x="127000" y="0"/>
                </a:moveTo>
                <a:lnTo>
                  <a:pt x="584200" y="0"/>
                </a:lnTo>
                <a:cubicBezTo>
                  <a:pt x="654367" y="0"/>
                  <a:pt x="711200" y="56832"/>
                  <a:pt x="711200" y="127000"/>
                </a:cubicBezTo>
                <a:lnTo>
                  <a:pt x="711200" y="127000"/>
                </a:lnTo>
                <a:cubicBezTo>
                  <a:pt x="711200" y="197168"/>
                  <a:pt x="654367" y="254000"/>
                  <a:pt x="584200" y="254000"/>
                </a:cubicBezTo>
                <a:lnTo>
                  <a:pt x="127000" y="254000"/>
                </a:lnTo>
                <a:cubicBezTo>
                  <a:pt x="56833" y="254000"/>
                  <a:pt x="0" y="197168"/>
                  <a:pt x="0" y="127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icon-grow"/>
          <p:cNvSpPr/>
          <p:nvPr/>
        </p:nvSpPr>
        <p:spPr>
          <a:xfrm>
            <a:off x="7156450" y="2430970"/>
            <a:ext cx="79375" cy="49784"/>
          </a:xfrm>
          <a:custGeom>
            <a:avLst/>
            <a:gdLst/>
            <a:ahLst/>
            <a:cxnLst/>
            <a:rect l="0" t="0" r="r" b="b"/>
            <a:pathLst>
              <a:path w="79375" h="49784">
                <a:moveTo>
                  <a:pt x="0" y="49784"/>
                </a:moveTo>
                <a:lnTo>
                  <a:pt x="26480" y="21209"/>
                </a:lnTo>
                <a:lnTo>
                  <a:pt x="45530" y="37084"/>
                </a:lnTo>
                <a:lnTo>
                  <a:pt x="77280" y="0"/>
                </a:lnTo>
                <a:moveTo>
                  <a:pt x="64580" y="0"/>
                </a:moveTo>
                <a:lnTo>
                  <a:pt x="79375" y="0"/>
                </a:lnTo>
                <a:lnTo>
                  <a:pt x="79375" y="14859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dltt-2"/>
          <p:cNvSpPr txBox="1"/>
          <p:nvPr/>
        </p:nvSpPr>
        <p:spPr>
          <a:xfrm>
            <a:off x="7213346" y="2370074"/>
            <a:ext cx="44424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+2.1pt</a:t>
            </a:r>
          </a:p>
        </p:txBody>
      </p:sp>
      <p:sp>
        <p:nvSpPr>
          <p:cNvPr id="50" name="v-2"/>
          <p:cNvSpPr txBox="1"/>
          <p:nvPr/>
        </p:nvSpPr>
        <p:spPr>
          <a:xfrm>
            <a:off x="4695952" y="2688018"/>
            <a:ext cx="1102106" cy="6000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700" b="1" spc="50">
                <a:solidFill>
                  <a:srgbClr val="0B2545"/>
                </a:solidFill>
                <a:latin typeface="Arial"/>
                <a:ea typeface="Arial"/>
                <a:cs typeface="Arial"/>
              </a:rPr>
              <a:t>38.4</a:t>
            </a:r>
          </a:p>
        </p:txBody>
      </p:sp>
      <p:sp>
        <p:nvSpPr>
          <p:cNvPr id="51" name="u-2"/>
          <p:cNvSpPr txBox="1"/>
          <p:nvPr/>
        </p:nvSpPr>
        <p:spPr>
          <a:xfrm>
            <a:off x="5595112" y="297034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%</a:t>
            </a:r>
          </a:p>
        </p:txBody>
      </p:sp>
      <p:sp>
        <p:nvSpPr>
          <p:cNvPr id="52" name="sp-2-1"/>
          <p:cNvSpPr/>
          <p:nvPr/>
        </p:nvSpPr>
        <p:spPr>
          <a:xfrm>
            <a:off x="4737100" y="3455416"/>
            <a:ext cx="190500" cy="341884"/>
          </a:xfrm>
          <a:custGeom>
            <a:avLst/>
            <a:gdLst/>
            <a:ahLst/>
            <a:cxnLst/>
            <a:rect l="0" t="0" r="r" b="b"/>
            <a:pathLst>
              <a:path w="190500" h="341884">
                <a:moveTo>
                  <a:pt x="0" y="341884"/>
                </a:moveTo>
                <a:lnTo>
                  <a:pt x="0" y="38100"/>
                </a:lnTo>
                <a:cubicBezTo>
                  <a:pt x="0" y="17018"/>
                  <a:pt x="17082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18"/>
                  <a:pt x="190500" y="38100"/>
                </a:cubicBezTo>
                <a:lnTo>
                  <a:pt x="190500" y="341884"/>
                </a:lnTo>
                <a:close/>
              </a:path>
            </a:pathLst>
          </a:custGeom>
          <a:solidFill>
            <a:srgbClr val="134C9C">
              <a:alpha val="2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sp-2-2"/>
          <p:cNvSpPr/>
          <p:nvPr/>
        </p:nvSpPr>
        <p:spPr>
          <a:xfrm>
            <a:off x="5003800" y="3445066"/>
            <a:ext cx="190500" cy="352235"/>
          </a:xfrm>
          <a:custGeom>
            <a:avLst/>
            <a:gdLst/>
            <a:ahLst/>
            <a:cxnLst/>
            <a:rect l="0" t="0" r="r" b="b"/>
            <a:pathLst>
              <a:path w="190500" h="352235">
                <a:moveTo>
                  <a:pt x="0" y="352235"/>
                </a:moveTo>
                <a:lnTo>
                  <a:pt x="0" y="38100"/>
                </a:lnTo>
                <a:cubicBezTo>
                  <a:pt x="0" y="17018"/>
                  <a:pt x="17082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18"/>
                  <a:pt x="190500" y="38100"/>
                </a:cubicBezTo>
                <a:lnTo>
                  <a:pt x="190500" y="352235"/>
                </a:lnTo>
                <a:close/>
              </a:path>
            </a:pathLst>
          </a:custGeom>
          <a:solidFill>
            <a:srgbClr val="134C9C">
              <a:alpha val="4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sp-2-3"/>
          <p:cNvSpPr/>
          <p:nvPr/>
        </p:nvSpPr>
        <p:spPr>
          <a:xfrm>
            <a:off x="5270500" y="3434652"/>
            <a:ext cx="190500" cy="362649"/>
          </a:xfrm>
          <a:custGeom>
            <a:avLst/>
            <a:gdLst/>
            <a:ahLst/>
            <a:cxnLst/>
            <a:rect l="0" t="0" r="r" b="b"/>
            <a:pathLst>
              <a:path w="190500" h="362649">
                <a:moveTo>
                  <a:pt x="0" y="362649"/>
                </a:move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362649"/>
                </a:lnTo>
                <a:close/>
              </a:path>
            </a:pathLst>
          </a:custGeom>
          <a:solidFill>
            <a:srgbClr val="134C9C">
              <a:alpha val="5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sp-2-4"/>
          <p:cNvSpPr/>
          <p:nvPr/>
        </p:nvSpPr>
        <p:spPr>
          <a:xfrm>
            <a:off x="5537200" y="3424301"/>
            <a:ext cx="190500" cy="372999"/>
          </a:xfrm>
          <a:custGeom>
            <a:avLst/>
            <a:gdLst/>
            <a:ahLst/>
            <a:cxnLst/>
            <a:rect l="0" t="0" r="r" b="b"/>
            <a:pathLst>
              <a:path w="190500" h="372999">
                <a:moveTo>
                  <a:pt x="0" y="372999"/>
                </a:move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372999"/>
                </a:lnTo>
                <a:close/>
              </a:path>
            </a:pathLst>
          </a:custGeom>
          <a:solidFill>
            <a:srgbClr val="134C9C">
              <a:alpha val="6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sp-2-5"/>
          <p:cNvSpPr/>
          <p:nvPr/>
        </p:nvSpPr>
        <p:spPr>
          <a:xfrm>
            <a:off x="5803900" y="3413950"/>
            <a:ext cx="190500" cy="383350"/>
          </a:xfrm>
          <a:custGeom>
            <a:avLst/>
            <a:gdLst/>
            <a:ahLst/>
            <a:cxnLst/>
            <a:rect l="0" t="0" r="r" b="b"/>
            <a:pathLst>
              <a:path w="190500" h="383350">
                <a:moveTo>
                  <a:pt x="0" y="383350"/>
                </a:move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383350"/>
                </a:lnTo>
                <a:close/>
              </a:path>
            </a:pathLst>
          </a:custGeom>
          <a:solidFill>
            <a:srgbClr val="134C9C">
              <a:alpha val="7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sp-2-6"/>
          <p:cNvSpPr/>
          <p:nvPr/>
        </p:nvSpPr>
        <p:spPr>
          <a:xfrm>
            <a:off x="6070600" y="3403600"/>
            <a:ext cx="190500" cy="393700"/>
          </a:xfrm>
          <a:custGeom>
            <a:avLst/>
            <a:gdLst/>
            <a:ahLst/>
            <a:cxnLst/>
            <a:rect l="0" t="0" r="r" b="b"/>
            <a:pathLst>
              <a:path w="190500" h="393700">
                <a:moveTo>
                  <a:pt x="0" y="393700"/>
                </a:move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393700"/>
                </a:lnTo>
                <a:close/>
              </a:path>
            </a:pathLst>
          </a:custGeom>
          <a:solidFill>
            <a:srgbClr val="134C9C">
              <a:alpha val="8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58" name="spl-2"/>
          <p:cNvCxnSpPr/>
          <p:nvPr/>
        </p:nvCxnSpPr>
        <p:spPr>
          <a:xfrm>
            <a:off x="4737100" y="3848100"/>
            <a:ext cx="29718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spt-2"/>
          <p:cNvSpPr txBox="1"/>
          <p:nvPr/>
        </p:nvSpPr>
        <p:spPr>
          <a:xfrm>
            <a:off x="7299706" y="3433508"/>
            <a:ext cx="4198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近 6 期</a:t>
            </a:r>
          </a:p>
        </p:txBody>
      </p:sp>
      <p:sp>
        <p:nvSpPr>
          <p:cNvPr id="60" name="spt2-2"/>
          <p:cNvSpPr txBox="1"/>
          <p:nvPr/>
        </p:nvSpPr>
        <p:spPr>
          <a:xfrm>
            <a:off x="7273798" y="3662108"/>
            <a:ext cx="4457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环比走势</a:t>
            </a:r>
          </a:p>
        </p:txBody>
      </p:sp>
      <p:sp>
        <p:nvSpPr>
          <p:cNvPr id="61" name="card-3"/>
          <p:cNvSpPr/>
          <p:nvPr/>
        </p:nvSpPr>
        <p:spPr>
          <a:xfrm>
            <a:off x="8089900" y="2108200"/>
            <a:ext cx="3403600" cy="1905000"/>
          </a:xfrm>
          <a:custGeom>
            <a:avLst/>
            <a:gdLst/>
            <a:ahLst/>
            <a:cxnLst/>
            <a:rect l="0" t="0" r="r" b="b"/>
            <a:pathLst>
              <a:path w="3403600" h="1905000">
                <a:moveTo>
                  <a:pt x="127000" y="0"/>
                </a:moveTo>
                <a:lnTo>
                  <a:pt x="3276600" y="0"/>
                </a:lnTo>
                <a:cubicBezTo>
                  <a:pt x="3346767" y="0"/>
                  <a:pt x="3403600" y="56832"/>
                  <a:pt x="3403600" y="127000"/>
                </a:cubicBezTo>
                <a:lnTo>
                  <a:pt x="3403600" y="1778000"/>
                </a:lnTo>
                <a:cubicBezTo>
                  <a:pt x="3403600" y="1848167"/>
                  <a:pt x="3346767" y="1905000"/>
                  <a:pt x="3276600" y="1905000"/>
                </a:cubicBezTo>
                <a:lnTo>
                  <a:pt x="127000" y="1905000"/>
                </a:lnTo>
                <a:cubicBezTo>
                  <a:pt x="56833" y="1905000"/>
                  <a:pt x="0" y="1848167"/>
                  <a:pt x="0" y="1778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cap-3"/>
          <p:cNvSpPr/>
          <p:nvPr/>
        </p:nvSpPr>
        <p:spPr>
          <a:xfrm>
            <a:off x="8089900" y="2108200"/>
            <a:ext cx="44450" cy="1905000"/>
          </a:xfrm>
          <a:custGeom>
            <a:avLst/>
            <a:gdLst/>
            <a:ahLst/>
            <a:cxnLst/>
            <a:rect l="0" t="0" r="r" b="b"/>
            <a:pathLst>
              <a:path w="44450" h="1905000">
                <a:moveTo>
                  <a:pt x="22225" y="0"/>
                </a:moveTo>
                <a:lnTo>
                  <a:pt x="22225" y="0"/>
                </a:lnTo>
                <a:cubicBezTo>
                  <a:pt x="34481" y="0"/>
                  <a:pt x="44450" y="9969"/>
                  <a:pt x="44450" y="22225"/>
                </a:cubicBezTo>
                <a:lnTo>
                  <a:pt x="44450" y="1882775"/>
                </a:lnTo>
                <a:cubicBezTo>
                  <a:pt x="44450" y="1895030"/>
                  <a:pt x="34481" y="1905000"/>
                  <a:pt x="22225" y="1905000"/>
                </a:cubicBezTo>
                <a:lnTo>
                  <a:pt x="22225" y="1905000"/>
                </a:lnTo>
                <a:cubicBezTo>
                  <a:pt x="9969" y="1905000"/>
                  <a:pt x="0" y="1895030"/>
                  <a:pt x="0" y="1882775"/>
                </a:cubicBezTo>
                <a:lnTo>
                  <a:pt x="0" y="22225"/>
                </a:lnTo>
                <a:cubicBezTo>
                  <a:pt x="0" y="9969"/>
                  <a:pt x="9969" y="0"/>
                  <a:pt x="22225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chip-3"/>
          <p:cNvSpPr/>
          <p:nvPr/>
        </p:nvSpPr>
        <p:spPr>
          <a:xfrm>
            <a:off x="8305800" y="2286000"/>
            <a:ext cx="330200" cy="330200"/>
          </a:xfrm>
          <a:prstGeom prst="ellipse">
            <a:avLst/>
          </a:prstGeom>
          <a:solidFill>
            <a:srgbClr val="2468B6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icon-doc"/>
          <p:cNvSpPr/>
          <p:nvPr/>
        </p:nvSpPr>
        <p:spPr>
          <a:xfrm>
            <a:off x="8430895" y="2388870"/>
            <a:ext cx="82994" cy="124460"/>
          </a:xfrm>
          <a:custGeom>
            <a:avLst/>
            <a:gdLst/>
            <a:ahLst/>
            <a:cxnLst/>
            <a:rect l="0" t="0" r="r" b="b"/>
            <a:pathLst>
              <a:path w="82994" h="124460">
                <a:moveTo>
                  <a:pt x="0" y="0"/>
                </a:moveTo>
                <a:lnTo>
                  <a:pt x="53340" y="0"/>
                </a:lnTo>
                <a:lnTo>
                  <a:pt x="82994" y="29655"/>
                </a:lnTo>
                <a:lnTo>
                  <a:pt x="82994" y="124460"/>
                </a:lnTo>
                <a:lnTo>
                  <a:pt x="0" y="124460"/>
                </a:lnTo>
                <a:close/>
                <a:moveTo>
                  <a:pt x="53340" y="0"/>
                </a:moveTo>
                <a:lnTo>
                  <a:pt x="53340" y="29655"/>
                </a:lnTo>
                <a:lnTo>
                  <a:pt x="82994" y="29655"/>
                </a:lnTo>
                <a:moveTo>
                  <a:pt x="19240" y="65215"/>
                </a:moveTo>
                <a:lnTo>
                  <a:pt x="63690" y="65215"/>
                </a:lnTo>
                <a:moveTo>
                  <a:pt x="19240" y="90361"/>
                </a:moveTo>
                <a:lnTo>
                  <a:pt x="63690" y="90361"/>
                </a:lnTo>
              </a:path>
            </a:pathLst>
          </a:cu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nm-3"/>
          <p:cNvSpPr txBox="1"/>
          <p:nvPr/>
        </p:nvSpPr>
        <p:spPr>
          <a:xfrm>
            <a:off x="8705850" y="23058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新签订单</a:t>
            </a:r>
          </a:p>
        </p:txBody>
      </p:sp>
      <p:sp>
        <p:nvSpPr>
          <p:cNvPr id="66" name="dlt-3"/>
          <p:cNvSpPr/>
          <p:nvPr/>
        </p:nvSpPr>
        <p:spPr>
          <a:xfrm>
            <a:off x="10617200" y="2324100"/>
            <a:ext cx="711200" cy="254000"/>
          </a:xfrm>
          <a:custGeom>
            <a:avLst/>
            <a:gdLst/>
            <a:ahLst/>
            <a:cxnLst/>
            <a:rect l="0" t="0" r="r" b="b"/>
            <a:pathLst>
              <a:path w="711200" h="254000">
                <a:moveTo>
                  <a:pt x="127000" y="0"/>
                </a:moveTo>
                <a:lnTo>
                  <a:pt x="584200" y="0"/>
                </a:lnTo>
                <a:cubicBezTo>
                  <a:pt x="654367" y="0"/>
                  <a:pt x="711200" y="56832"/>
                  <a:pt x="711200" y="127000"/>
                </a:cubicBezTo>
                <a:lnTo>
                  <a:pt x="711200" y="127000"/>
                </a:lnTo>
                <a:cubicBezTo>
                  <a:pt x="711200" y="197168"/>
                  <a:pt x="654367" y="254000"/>
                  <a:pt x="584200" y="254000"/>
                </a:cubicBezTo>
                <a:lnTo>
                  <a:pt x="127000" y="254000"/>
                </a:lnTo>
                <a:cubicBezTo>
                  <a:pt x="56833" y="254000"/>
                  <a:pt x="0" y="197168"/>
                  <a:pt x="0" y="127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icon-grow"/>
          <p:cNvSpPr/>
          <p:nvPr/>
        </p:nvSpPr>
        <p:spPr>
          <a:xfrm>
            <a:off x="10725150" y="2430970"/>
            <a:ext cx="79375" cy="49784"/>
          </a:xfrm>
          <a:custGeom>
            <a:avLst/>
            <a:gdLst/>
            <a:ahLst/>
            <a:cxnLst/>
            <a:rect l="0" t="0" r="r" b="b"/>
            <a:pathLst>
              <a:path w="79375" h="49784">
                <a:moveTo>
                  <a:pt x="0" y="49784"/>
                </a:moveTo>
                <a:lnTo>
                  <a:pt x="26480" y="21209"/>
                </a:lnTo>
                <a:lnTo>
                  <a:pt x="45530" y="37084"/>
                </a:lnTo>
                <a:lnTo>
                  <a:pt x="77280" y="0"/>
                </a:lnTo>
                <a:moveTo>
                  <a:pt x="64580" y="0"/>
                </a:moveTo>
                <a:lnTo>
                  <a:pt x="79375" y="0"/>
                </a:lnTo>
                <a:lnTo>
                  <a:pt x="79375" y="14859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dltt-3"/>
          <p:cNvSpPr txBox="1"/>
          <p:nvPr/>
        </p:nvSpPr>
        <p:spPr>
          <a:xfrm>
            <a:off x="10782046" y="2370074"/>
            <a:ext cx="44424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+24.3%</a:t>
            </a:r>
          </a:p>
        </p:txBody>
      </p:sp>
      <p:sp>
        <p:nvSpPr>
          <p:cNvPr id="69" name="v-3"/>
          <p:cNvSpPr txBox="1"/>
          <p:nvPr/>
        </p:nvSpPr>
        <p:spPr>
          <a:xfrm>
            <a:off x="8264652" y="2688018"/>
            <a:ext cx="1300480" cy="6000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700" b="1" spc="50">
                <a:solidFill>
                  <a:srgbClr val="0B2545"/>
                </a:solidFill>
                <a:latin typeface="Arial"/>
                <a:ea typeface="Arial"/>
                <a:cs typeface="Arial"/>
              </a:rPr>
              <a:t>1,286</a:t>
            </a:r>
          </a:p>
        </p:txBody>
      </p:sp>
      <p:sp>
        <p:nvSpPr>
          <p:cNvPr id="70" name="u-3"/>
          <p:cNvSpPr txBox="1"/>
          <p:nvPr/>
        </p:nvSpPr>
        <p:spPr>
          <a:xfrm>
            <a:off x="9362694" y="2970340"/>
            <a:ext cx="2171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单</a:t>
            </a:r>
          </a:p>
        </p:txBody>
      </p:sp>
      <p:sp>
        <p:nvSpPr>
          <p:cNvPr id="71" name="sp-3-1"/>
          <p:cNvSpPr/>
          <p:nvPr/>
        </p:nvSpPr>
        <p:spPr>
          <a:xfrm>
            <a:off x="8305800" y="3543046"/>
            <a:ext cx="190500" cy="254254"/>
          </a:xfrm>
          <a:custGeom>
            <a:avLst/>
            <a:gdLst/>
            <a:ahLst/>
            <a:cxnLst/>
            <a:rect l="0" t="0" r="r" b="b"/>
            <a:pathLst>
              <a:path w="190500" h="254254">
                <a:moveTo>
                  <a:pt x="0" y="254254"/>
                </a:moveTo>
                <a:lnTo>
                  <a:pt x="0" y="38100"/>
                </a:lnTo>
                <a:cubicBezTo>
                  <a:pt x="0" y="17018"/>
                  <a:pt x="17082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18"/>
                  <a:pt x="190500" y="38100"/>
                </a:cubicBezTo>
                <a:lnTo>
                  <a:pt x="190500" y="254254"/>
                </a:lnTo>
                <a:close/>
              </a:path>
            </a:pathLst>
          </a:custGeom>
          <a:solidFill>
            <a:srgbClr val="2468B6">
              <a:alpha val="2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sp-3-2"/>
          <p:cNvSpPr/>
          <p:nvPr/>
        </p:nvSpPr>
        <p:spPr>
          <a:xfrm>
            <a:off x="8572500" y="3510216"/>
            <a:ext cx="190500" cy="287084"/>
          </a:xfrm>
          <a:custGeom>
            <a:avLst/>
            <a:gdLst/>
            <a:ahLst/>
            <a:cxnLst/>
            <a:rect l="0" t="0" r="r" b="b"/>
            <a:pathLst>
              <a:path w="190500" h="287084">
                <a:moveTo>
                  <a:pt x="0" y="287084"/>
                </a:move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287084"/>
                </a:lnTo>
                <a:close/>
              </a:path>
            </a:pathLst>
          </a:custGeom>
          <a:solidFill>
            <a:srgbClr val="2468B6">
              <a:alpha val="4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sp-3-3"/>
          <p:cNvSpPr/>
          <p:nvPr/>
        </p:nvSpPr>
        <p:spPr>
          <a:xfrm>
            <a:off x="8839200" y="3518408"/>
            <a:ext cx="190500" cy="278892"/>
          </a:xfrm>
          <a:custGeom>
            <a:avLst/>
            <a:gdLst/>
            <a:ahLst/>
            <a:cxnLst/>
            <a:rect l="0" t="0" r="r" b="b"/>
            <a:pathLst>
              <a:path w="190500" h="278892">
                <a:moveTo>
                  <a:pt x="0" y="278892"/>
                </a:move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278892"/>
                </a:lnTo>
                <a:close/>
              </a:path>
            </a:pathLst>
          </a:custGeom>
          <a:solidFill>
            <a:srgbClr val="2468B6">
              <a:alpha val="5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sp-3-4"/>
          <p:cNvSpPr/>
          <p:nvPr/>
        </p:nvSpPr>
        <p:spPr>
          <a:xfrm>
            <a:off x="9105900" y="3473323"/>
            <a:ext cx="190500" cy="323977"/>
          </a:xfrm>
          <a:custGeom>
            <a:avLst/>
            <a:gdLst/>
            <a:ahLst/>
            <a:cxnLst/>
            <a:rect l="0" t="0" r="r" b="b"/>
            <a:pathLst>
              <a:path w="190500" h="323977">
                <a:moveTo>
                  <a:pt x="0" y="323977"/>
                </a:move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323977"/>
                </a:lnTo>
                <a:close/>
              </a:path>
            </a:pathLst>
          </a:custGeom>
          <a:solidFill>
            <a:srgbClr val="2468B6">
              <a:alpha val="6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sp-3-5"/>
          <p:cNvSpPr/>
          <p:nvPr/>
        </p:nvSpPr>
        <p:spPr>
          <a:xfrm>
            <a:off x="9372600" y="3436429"/>
            <a:ext cx="190500" cy="360871"/>
          </a:xfrm>
          <a:custGeom>
            <a:avLst/>
            <a:gdLst/>
            <a:ahLst/>
            <a:cxnLst/>
            <a:rect l="0" t="0" r="r" b="b"/>
            <a:pathLst>
              <a:path w="190500" h="360871">
                <a:moveTo>
                  <a:pt x="0" y="360871"/>
                </a:moveTo>
                <a:lnTo>
                  <a:pt x="0" y="38100"/>
                </a:lnTo>
                <a:cubicBezTo>
                  <a:pt x="0" y="17018"/>
                  <a:pt x="17082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18"/>
                  <a:pt x="190500" y="38100"/>
                </a:cubicBezTo>
                <a:lnTo>
                  <a:pt x="190500" y="360871"/>
                </a:lnTo>
                <a:close/>
              </a:path>
            </a:pathLst>
          </a:custGeom>
          <a:solidFill>
            <a:srgbClr val="2468B6">
              <a:alpha val="7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sp-3-6"/>
          <p:cNvSpPr/>
          <p:nvPr/>
        </p:nvSpPr>
        <p:spPr>
          <a:xfrm>
            <a:off x="9639300" y="3403600"/>
            <a:ext cx="190500" cy="393700"/>
          </a:xfrm>
          <a:custGeom>
            <a:avLst/>
            <a:gdLst/>
            <a:ahLst/>
            <a:cxnLst/>
            <a:rect l="0" t="0" r="r" b="b"/>
            <a:pathLst>
              <a:path w="190500" h="393700">
                <a:moveTo>
                  <a:pt x="0" y="393700"/>
                </a:move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393700"/>
                </a:lnTo>
                <a:close/>
              </a:path>
            </a:pathLst>
          </a:custGeom>
          <a:solidFill>
            <a:srgbClr val="2468B6">
              <a:alpha val="8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77" name="spl-3"/>
          <p:cNvCxnSpPr/>
          <p:nvPr/>
        </p:nvCxnSpPr>
        <p:spPr>
          <a:xfrm>
            <a:off x="8305800" y="3848100"/>
            <a:ext cx="29718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8" name="spt-3"/>
          <p:cNvSpPr txBox="1"/>
          <p:nvPr/>
        </p:nvSpPr>
        <p:spPr>
          <a:xfrm>
            <a:off x="10868406" y="3433508"/>
            <a:ext cx="4198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近 6 期</a:t>
            </a:r>
          </a:p>
        </p:txBody>
      </p:sp>
      <p:sp>
        <p:nvSpPr>
          <p:cNvPr id="79" name="spt2-3"/>
          <p:cNvSpPr txBox="1"/>
          <p:nvPr/>
        </p:nvSpPr>
        <p:spPr>
          <a:xfrm>
            <a:off x="10842498" y="3662108"/>
            <a:ext cx="4457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环比走势</a:t>
            </a:r>
          </a:p>
        </p:txBody>
      </p:sp>
      <p:sp>
        <p:nvSpPr>
          <p:cNvPr id="80" name="card-4"/>
          <p:cNvSpPr/>
          <p:nvPr/>
        </p:nvSpPr>
        <p:spPr>
          <a:xfrm>
            <a:off x="952500" y="4165600"/>
            <a:ext cx="3403600" cy="1905000"/>
          </a:xfrm>
          <a:custGeom>
            <a:avLst/>
            <a:gdLst/>
            <a:ahLst/>
            <a:cxnLst/>
            <a:rect l="0" t="0" r="r" b="b"/>
            <a:pathLst>
              <a:path w="3403600" h="1905000">
                <a:moveTo>
                  <a:pt x="127000" y="0"/>
                </a:moveTo>
                <a:lnTo>
                  <a:pt x="3276600" y="0"/>
                </a:lnTo>
                <a:cubicBezTo>
                  <a:pt x="3346767" y="0"/>
                  <a:pt x="3403600" y="56833"/>
                  <a:pt x="3403600" y="127000"/>
                </a:cubicBezTo>
                <a:lnTo>
                  <a:pt x="3403600" y="1778000"/>
                </a:lnTo>
                <a:cubicBezTo>
                  <a:pt x="3403600" y="1848167"/>
                  <a:pt x="3346767" y="1905000"/>
                  <a:pt x="3276600" y="1905000"/>
                </a:cubicBezTo>
                <a:lnTo>
                  <a:pt x="127000" y="1905000"/>
                </a:lnTo>
                <a:cubicBezTo>
                  <a:pt x="56832" y="1905000"/>
                  <a:pt x="0" y="1848167"/>
                  <a:pt x="0" y="1778000"/>
                </a:cubicBezTo>
                <a:lnTo>
                  <a:pt x="0" y="127000"/>
                </a:lnTo>
                <a:cubicBezTo>
                  <a:pt x="0" y="56833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cap-4"/>
          <p:cNvSpPr/>
          <p:nvPr/>
        </p:nvSpPr>
        <p:spPr>
          <a:xfrm>
            <a:off x="952500" y="4165600"/>
            <a:ext cx="44450" cy="1905000"/>
          </a:xfrm>
          <a:custGeom>
            <a:avLst/>
            <a:gdLst/>
            <a:ahLst/>
            <a:cxnLst/>
            <a:rect l="0" t="0" r="r" b="b"/>
            <a:pathLst>
              <a:path w="44450" h="1905000">
                <a:moveTo>
                  <a:pt x="22225" y="0"/>
                </a:moveTo>
                <a:lnTo>
                  <a:pt x="22225" y="0"/>
                </a:lnTo>
                <a:cubicBezTo>
                  <a:pt x="34481" y="0"/>
                  <a:pt x="44450" y="9970"/>
                  <a:pt x="44450" y="22225"/>
                </a:cubicBezTo>
                <a:lnTo>
                  <a:pt x="44450" y="1882775"/>
                </a:lnTo>
                <a:cubicBezTo>
                  <a:pt x="44450" y="1895030"/>
                  <a:pt x="34481" y="1905000"/>
                  <a:pt x="22225" y="1905000"/>
                </a:cubicBezTo>
                <a:lnTo>
                  <a:pt x="22225" y="1905000"/>
                </a:lnTo>
                <a:cubicBezTo>
                  <a:pt x="9969" y="1905000"/>
                  <a:pt x="0" y="1895030"/>
                  <a:pt x="0" y="1882775"/>
                </a:cubicBezTo>
                <a:lnTo>
                  <a:pt x="0" y="22225"/>
                </a:lnTo>
                <a:cubicBezTo>
                  <a:pt x="0" y="9970"/>
                  <a:pt x="9969" y="0"/>
                  <a:pt x="22225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chip-4"/>
          <p:cNvSpPr/>
          <p:nvPr/>
        </p:nvSpPr>
        <p:spPr>
          <a:xfrm>
            <a:off x="1168400" y="4343400"/>
            <a:ext cx="330200" cy="330200"/>
          </a:xfrm>
          <a:prstGeom prst="ellipse">
            <a:avLst/>
          </a:prstGeom>
          <a:solidFill>
            <a:srgbClr val="2E77C2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icon-people"/>
          <p:cNvSpPr/>
          <p:nvPr/>
        </p:nvSpPr>
        <p:spPr>
          <a:xfrm>
            <a:off x="1271270" y="4527740"/>
            <a:ext cx="125921" cy="35560"/>
          </a:xfrm>
          <a:custGeom>
            <a:avLst/>
            <a:gdLst/>
            <a:ahLst/>
            <a:cxnLst/>
            <a:rect l="0" t="0" r="r" b="b"/>
            <a:pathLst>
              <a:path w="125921" h="35560">
                <a:moveTo>
                  <a:pt x="0" y="35560"/>
                </a:moveTo>
                <a:cubicBezTo>
                  <a:pt x="0" y="13335"/>
                  <a:pt x="18542" y="0"/>
                  <a:pt x="40005" y="0"/>
                </a:cubicBezTo>
                <a:cubicBezTo>
                  <a:pt x="61468" y="0"/>
                  <a:pt x="80010" y="13335"/>
                  <a:pt x="80010" y="35560"/>
                </a:cubicBezTo>
                <a:moveTo>
                  <a:pt x="94806" y="2985"/>
                </a:moveTo>
                <a:cubicBezTo>
                  <a:pt x="114110" y="5207"/>
                  <a:pt x="125921" y="18542"/>
                  <a:pt x="125921" y="35560"/>
                </a:cubicBezTo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icon-people"/>
          <p:cNvSpPr/>
          <p:nvPr/>
        </p:nvSpPr>
        <p:spPr>
          <a:xfrm>
            <a:off x="1287568" y="4464050"/>
            <a:ext cx="47413" cy="47413"/>
          </a:xfrm>
          <a:prstGeom prst="ellipse">
            <a:avLst/>
          </a:pr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icon-people"/>
          <p:cNvSpPr/>
          <p:nvPr/>
        </p:nvSpPr>
        <p:spPr>
          <a:xfrm>
            <a:off x="1351280" y="4464050"/>
            <a:ext cx="38523" cy="38523"/>
          </a:xfrm>
          <a:prstGeom prst="ellipse">
            <a:avLst/>
          </a:pr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nm-4"/>
          <p:cNvSpPr txBox="1"/>
          <p:nvPr/>
        </p:nvSpPr>
        <p:spPr>
          <a:xfrm>
            <a:off x="1568450" y="4363244"/>
            <a:ext cx="10001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客户续约率</a:t>
            </a:r>
          </a:p>
        </p:txBody>
      </p:sp>
      <p:sp>
        <p:nvSpPr>
          <p:cNvPr id="87" name="dlt-4"/>
          <p:cNvSpPr/>
          <p:nvPr/>
        </p:nvSpPr>
        <p:spPr>
          <a:xfrm>
            <a:off x="3479800" y="4381500"/>
            <a:ext cx="711200" cy="254000"/>
          </a:xfrm>
          <a:custGeom>
            <a:avLst/>
            <a:gdLst/>
            <a:ahLst/>
            <a:cxnLst/>
            <a:rect l="0" t="0" r="r" b="b"/>
            <a:pathLst>
              <a:path w="711200" h="254000">
                <a:moveTo>
                  <a:pt x="127000" y="0"/>
                </a:moveTo>
                <a:lnTo>
                  <a:pt x="584200" y="0"/>
                </a:lnTo>
                <a:cubicBezTo>
                  <a:pt x="654367" y="0"/>
                  <a:pt x="711200" y="56833"/>
                  <a:pt x="711200" y="127000"/>
                </a:cubicBezTo>
                <a:lnTo>
                  <a:pt x="711200" y="127000"/>
                </a:lnTo>
                <a:cubicBezTo>
                  <a:pt x="711200" y="197167"/>
                  <a:pt x="654367" y="254000"/>
                  <a:pt x="584200" y="254000"/>
                </a:cubicBezTo>
                <a:lnTo>
                  <a:pt x="127000" y="254000"/>
                </a:lnTo>
                <a:cubicBezTo>
                  <a:pt x="56833" y="254000"/>
                  <a:pt x="0" y="197167"/>
                  <a:pt x="0" y="127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icon-grow"/>
          <p:cNvSpPr/>
          <p:nvPr/>
        </p:nvSpPr>
        <p:spPr>
          <a:xfrm>
            <a:off x="3587750" y="4488370"/>
            <a:ext cx="79375" cy="49784"/>
          </a:xfrm>
          <a:custGeom>
            <a:avLst/>
            <a:gdLst/>
            <a:ahLst/>
            <a:cxnLst/>
            <a:rect l="0" t="0" r="r" b="b"/>
            <a:pathLst>
              <a:path w="79375" h="49784">
                <a:moveTo>
                  <a:pt x="0" y="49784"/>
                </a:moveTo>
                <a:lnTo>
                  <a:pt x="26479" y="21209"/>
                </a:lnTo>
                <a:lnTo>
                  <a:pt x="45529" y="37084"/>
                </a:lnTo>
                <a:lnTo>
                  <a:pt x="77279" y="0"/>
                </a:lnTo>
                <a:moveTo>
                  <a:pt x="64579" y="0"/>
                </a:moveTo>
                <a:lnTo>
                  <a:pt x="79375" y="0"/>
                </a:lnTo>
                <a:lnTo>
                  <a:pt x="79375" y="14859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dltt-4"/>
          <p:cNvSpPr txBox="1"/>
          <p:nvPr/>
        </p:nvSpPr>
        <p:spPr>
          <a:xfrm>
            <a:off x="3644646" y="4427474"/>
            <a:ext cx="44424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+1.2pt</a:t>
            </a:r>
          </a:p>
        </p:txBody>
      </p:sp>
      <p:sp>
        <p:nvSpPr>
          <p:cNvPr id="90" name="v-4"/>
          <p:cNvSpPr txBox="1"/>
          <p:nvPr/>
        </p:nvSpPr>
        <p:spPr>
          <a:xfrm>
            <a:off x="1127252" y="4745418"/>
            <a:ext cx="1102106" cy="6000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700" b="1" spc="50">
                <a:solidFill>
                  <a:srgbClr val="0B2545"/>
                </a:solidFill>
                <a:latin typeface="Arial"/>
                <a:ea typeface="Arial"/>
                <a:cs typeface="Arial"/>
              </a:rPr>
              <a:t>96.4</a:t>
            </a:r>
          </a:p>
        </p:txBody>
      </p:sp>
      <p:sp>
        <p:nvSpPr>
          <p:cNvPr id="91" name="u-4"/>
          <p:cNvSpPr txBox="1"/>
          <p:nvPr/>
        </p:nvSpPr>
        <p:spPr>
          <a:xfrm>
            <a:off x="2026412" y="502774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%</a:t>
            </a:r>
          </a:p>
        </p:txBody>
      </p:sp>
      <p:sp>
        <p:nvSpPr>
          <p:cNvPr id="92" name="sp-4-1"/>
          <p:cNvSpPr/>
          <p:nvPr/>
        </p:nvSpPr>
        <p:spPr>
          <a:xfrm>
            <a:off x="1168400" y="5493830"/>
            <a:ext cx="190500" cy="360871"/>
          </a:xfrm>
          <a:custGeom>
            <a:avLst/>
            <a:gdLst/>
            <a:ahLst/>
            <a:cxnLst/>
            <a:rect l="0" t="0" r="r" b="b"/>
            <a:pathLst>
              <a:path w="190500" h="360871">
                <a:moveTo>
                  <a:pt x="0" y="360871"/>
                </a:moveTo>
                <a:lnTo>
                  <a:pt x="0" y="38100"/>
                </a:lnTo>
                <a:cubicBezTo>
                  <a:pt x="0" y="17018"/>
                  <a:pt x="17081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18"/>
                  <a:pt x="190500" y="38100"/>
                </a:cubicBezTo>
                <a:lnTo>
                  <a:pt x="190500" y="360871"/>
                </a:lnTo>
                <a:close/>
              </a:path>
            </a:pathLst>
          </a:custGeom>
          <a:solidFill>
            <a:srgbClr val="2E77C2">
              <a:alpha val="2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sp-4-2"/>
          <p:cNvSpPr/>
          <p:nvPr/>
        </p:nvSpPr>
        <p:spPr>
          <a:xfrm>
            <a:off x="1435100" y="5485638"/>
            <a:ext cx="190500" cy="369062"/>
          </a:xfrm>
          <a:custGeom>
            <a:avLst/>
            <a:gdLst/>
            <a:ahLst/>
            <a:cxnLst/>
            <a:rect l="0" t="0" r="r" b="b"/>
            <a:pathLst>
              <a:path w="190500" h="369062">
                <a:moveTo>
                  <a:pt x="0" y="369062"/>
                </a:moveTo>
                <a:lnTo>
                  <a:pt x="0" y="38100"/>
                </a:lnTo>
                <a:cubicBezTo>
                  <a:pt x="0" y="17018"/>
                  <a:pt x="17081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18"/>
                  <a:pt x="190500" y="38100"/>
                </a:cubicBezTo>
                <a:lnTo>
                  <a:pt x="190500" y="369062"/>
                </a:lnTo>
                <a:close/>
              </a:path>
            </a:pathLst>
          </a:custGeom>
          <a:solidFill>
            <a:srgbClr val="2E77C2">
              <a:alpha val="4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sp-4-3"/>
          <p:cNvSpPr/>
          <p:nvPr/>
        </p:nvSpPr>
        <p:spPr>
          <a:xfrm>
            <a:off x="1701800" y="5481510"/>
            <a:ext cx="190500" cy="373189"/>
          </a:xfrm>
          <a:custGeom>
            <a:avLst/>
            <a:gdLst/>
            <a:ahLst/>
            <a:cxnLst/>
            <a:rect l="0" t="0" r="r" b="b"/>
            <a:pathLst>
              <a:path w="190500" h="373189">
                <a:moveTo>
                  <a:pt x="0" y="373189"/>
                </a:move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373189"/>
                </a:lnTo>
                <a:close/>
              </a:path>
            </a:pathLst>
          </a:custGeom>
          <a:solidFill>
            <a:srgbClr val="2E77C2">
              <a:alpha val="5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sp-4-4"/>
          <p:cNvSpPr/>
          <p:nvPr/>
        </p:nvSpPr>
        <p:spPr>
          <a:xfrm>
            <a:off x="1968500" y="5473319"/>
            <a:ext cx="190500" cy="381381"/>
          </a:xfrm>
          <a:custGeom>
            <a:avLst/>
            <a:gdLst/>
            <a:ahLst/>
            <a:cxnLst/>
            <a:rect l="0" t="0" r="r" b="b"/>
            <a:pathLst>
              <a:path w="190500" h="381381">
                <a:moveTo>
                  <a:pt x="0" y="381381"/>
                </a:moveTo>
                <a:lnTo>
                  <a:pt x="0" y="38100"/>
                </a:lnTo>
                <a:cubicBezTo>
                  <a:pt x="0" y="17018"/>
                  <a:pt x="17081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18"/>
                  <a:pt x="190500" y="38100"/>
                </a:cubicBezTo>
                <a:lnTo>
                  <a:pt x="190500" y="381381"/>
                </a:lnTo>
                <a:close/>
              </a:path>
            </a:pathLst>
          </a:custGeom>
          <a:solidFill>
            <a:srgbClr val="2E77C2">
              <a:alpha val="6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sp-4-5"/>
          <p:cNvSpPr/>
          <p:nvPr/>
        </p:nvSpPr>
        <p:spPr>
          <a:xfrm>
            <a:off x="2235200" y="5465128"/>
            <a:ext cx="190500" cy="389573"/>
          </a:xfrm>
          <a:custGeom>
            <a:avLst/>
            <a:gdLst/>
            <a:ahLst/>
            <a:cxnLst/>
            <a:rect l="0" t="0" r="r" b="b"/>
            <a:pathLst>
              <a:path w="190500" h="389573">
                <a:moveTo>
                  <a:pt x="0" y="389573"/>
                </a:moveTo>
                <a:lnTo>
                  <a:pt x="0" y="38100"/>
                </a:lnTo>
                <a:cubicBezTo>
                  <a:pt x="0" y="17018"/>
                  <a:pt x="17081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18"/>
                  <a:pt x="190500" y="38100"/>
                </a:cubicBezTo>
                <a:lnTo>
                  <a:pt x="190500" y="389573"/>
                </a:lnTo>
                <a:close/>
              </a:path>
            </a:pathLst>
          </a:custGeom>
          <a:solidFill>
            <a:srgbClr val="2E77C2">
              <a:alpha val="7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sp-4-6"/>
          <p:cNvSpPr/>
          <p:nvPr/>
        </p:nvSpPr>
        <p:spPr>
          <a:xfrm>
            <a:off x="2501900" y="5461000"/>
            <a:ext cx="190500" cy="393700"/>
          </a:xfrm>
          <a:custGeom>
            <a:avLst/>
            <a:gdLst/>
            <a:ahLst/>
            <a:cxnLst/>
            <a:rect l="0" t="0" r="r" b="b"/>
            <a:pathLst>
              <a:path w="190500" h="393700">
                <a:moveTo>
                  <a:pt x="0" y="393700"/>
                </a:move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393700"/>
                </a:lnTo>
                <a:close/>
              </a:path>
            </a:pathLst>
          </a:custGeom>
          <a:solidFill>
            <a:srgbClr val="2E77C2">
              <a:alpha val="8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98" name="spl-4"/>
          <p:cNvCxnSpPr/>
          <p:nvPr/>
        </p:nvCxnSpPr>
        <p:spPr>
          <a:xfrm>
            <a:off x="1168400" y="5905500"/>
            <a:ext cx="29718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spt-4"/>
          <p:cNvSpPr txBox="1"/>
          <p:nvPr/>
        </p:nvSpPr>
        <p:spPr>
          <a:xfrm>
            <a:off x="3731006" y="5490908"/>
            <a:ext cx="4198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近 6 期</a:t>
            </a:r>
          </a:p>
        </p:txBody>
      </p:sp>
      <p:sp>
        <p:nvSpPr>
          <p:cNvPr id="100" name="spt2-4"/>
          <p:cNvSpPr txBox="1"/>
          <p:nvPr/>
        </p:nvSpPr>
        <p:spPr>
          <a:xfrm>
            <a:off x="3705098" y="5719508"/>
            <a:ext cx="4457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环比走势</a:t>
            </a:r>
          </a:p>
        </p:txBody>
      </p:sp>
      <p:sp>
        <p:nvSpPr>
          <p:cNvPr id="101" name="card-5"/>
          <p:cNvSpPr/>
          <p:nvPr/>
        </p:nvSpPr>
        <p:spPr>
          <a:xfrm>
            <a:off x="4521200" y="4165600"/>
            <a:ext cx="3403600" cy="1905000"/>
          </a:xfrm>
          <a:custGeom>
            <a:avLst/>
            <a:gdLst/>
            <a:ahLst/>
            <a:cxnLst/>
            <a:rect l="0" t="0" r="r" b="b"/>
            <a:pathLst>
              <a:path w="3403600" h="1905000">
                <a:moveTo>
                  <a:pt x="127000" y="0"/>
                </a:moveTo>
                <a:lnTo>
                  <a:pt x="3276600" y="0"/>
                </a:lnTo>
                <a:cubicBezTo>
                  <a:pt x="3346767" y="0"/>
                  <a:pt x="3403600" y="56833"/>
                  <a:pt x="3403600" y="127000"/>
                </a:cubicBezTo>
                <a:lnTo>
                  <a:pt x="3403600" y="1778000"/>
                </a:lnTo>
                <a:cubicBezTo>
                  <a:pt x="3403600" y="1848167"/>
                  <a:pt x="3346767" y="1905000"/>
                  <a:pt x="3276600" y="1905000"/>
                </a:cubicBezTo>
                <a:lnTo>
                  <a:pt x="127000" y="1905000"/>
                </a:lnTo>
                <a:cubicBezTo>
                  <a:pt x="56833" y="1905000"/>
                  <a:pt x="0" y="1848167"/>
                  <a:pt x="0" y="1778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2" name="cap-5"/>
          <p:cNvSpPr/>
          <p:nvPr/>
        </p:nvSpPr>
        <p:spPr>
          <a:xfrm>
            <a:off x="4521200" y="4165600"/>
            <a:ext cx="44450" cy="1905000"/>
          </a:xfrm>
          <a:custGeom>
            <a:avLst/>
            <a:gdLst/>
            <a:ahLst/>
            <a:cxnLst/>
            <a:rect l="0" t="0" r="r" b="b"/>
            <a:pathLst>
              <a:path w="44450" h="1905000">
                <a:moveTo>
                  <a:pt x="22225" y="0"/>
                </a:moveTo>
                <a:lnTo>
                  <a:pt x="22225" y="0"/>
                </a:lnTo>
                <a:cubicBezTo>
                  <a:pt x="34480" y="0"/>
                  <a:pt x="44450" y="9970"/>
                  <a:pt x="44450" y="22225"/>
                </a:cubicBezTo>
                <a:lnTo>
                  <a:pt x="44450" y="1882775"/>
                </a:lnTo>
                <a:cubicBezTo>
                  <a:pt x="44450" y="1895030"/>
                  <a:pt x="34480" y="1905000"/>
                  <a:pt x="22225" y="1905000"/>
                </a:cubicBezTo>
                <a:lnTo>
                  <a:pt x="22225" y="1905000"/>
                </a:lnTo>
                <a:cubicBezTo>
                  <a:pt x="9970" y="1905000"/>
                  <a:pt x="0" y="1895030"/>
                  <a:pt x="0" y="1882775"/>
                </a:cubicBezTo>
                <a:lnTo>
                  <a:pt x="0" y="22225"/>
                </a:lnTo>
                <a:cubicBezTo>
                  <a:pt x="0" y="9970"/>
                  <a:pt x="9970" y="0"/>
                  <a:pt x="22225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chip-5"/>
          <p:cNvSpPr/>
          <p:nvPr/>
        </p:nvSpPr>
        <p:spPr>
          <a:xfrm>
            <a:off x="4737100" y="4343400"/>
            <a:ext cx="330200" cy="330200"/>
          </a:xfrm>
          <a:prstGeom prst="ellipse">
            <a:avLst/>
          </a:prstGeom>
          <a:solidFill>
            <a:srgbClr val="4694D7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4" name="icon-clock"/>
          <p:cNvSpPr/>
          <p:nvPr/>
        </p:nvSpPr>
        <p:spPr>
          <a:xfrm>
            <a:off x="4902200" y="4472940"/>
            <a:ext cx="23686" cy="49657"/>
          </a:xfrm>
          <a:custGeom>
            <a:avLst/>
            <a:gdLst/>
            <a:ahLst/>
            <a:cxnLst/>
            <a:rect l="0" t="0" r="r" b="b"/>
            <a:pathLst>
              <a:path w="23686" h="49657">
                <a:moveTo>
                  <a:pt x="0" y="0"/>
                </a:moveTo>
                <a:lnTo>
                  <a:pt x="0" y="35560"/>
                </a:lnTo>
                <a:lnTo>
                  <a:pt x="23686" y="49657"/>
                </a:lnTo>
              </a:path>
            </a:pathLst>
          </a:cu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icon-clock"/>
          <p:cNvSpPr/>
          <p:nvPr/>
        </p:nvSpPr>
        <p:spPr>
          <a:xfrm>
            <a:off x="4838488" y="4444788"/>
            <a:ext cx="127423" cy="127423"/>
          </a:xfrm>
          <a:prstGeom prst="ellipse">
            <a:avLst/>
          </a:pr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6" name="nm-5"/>
          <p:cNvSpPr txBox="1"/>
          <p:nvPr/>
        </p:nvSpPr>
        <p:spPr>
          <a:xfrm>
            <a:off x="5137150" y="4363244"/>
            <a:ext cx="10001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交付准时率</a:t>
            </a:r>
          </a:p>
        </p:txBody>
      </p:sp>
      <p:sp>
        <p:nvSpPr>
          <p:cNvPr id="107" name="dlt-5"/>
          <p:cNvSpPr/>
          <p:nvPr/>
        </p:nvSpPr>
        <p:spPr>
          <a:xfrm>
            <a:off x="7048500" y="4381500"/>
            <a:ext cx="711200" cy="254000"/>
          </a:xfrm>
          <a:custGeom>
            <a:avLst/>
            <a:gdLst/>
            <a:ahLst/>
            <a:cxnLst/>
            <a:rect l="0" t="0" r="r" b="b"/>
            <a:pathLst>
              <a:path w="711200" h="254000">
                <a:moveTo>
                  <a:pt x="127000" y="0"/>
                </a:moveTo>
                <a:lnTo>
                  <a:pt x="584200" y="0"/>
                </a:lnTo>
                <a:cubicBezTo>
                  <a:pt x="654367" y="0"/>
                  <a:pt x="711200" y="56833"/>
                  <a:pt x="711200" y="127000"/>
                </a:cubicBezTo>
                <a:lnTo>
                  <a:pt x="711200" y="127000"/>
                </a:lnTo>
                <a:cubicBezTo>
                  <a:pt x="711200" y="197167"/>
                  <a:pt x="654367" y="254000"/>
                  <a:pt x="584200" y="254000"/>
                </a:cubicBezTo>
                <a:lnTo>
                  <a:pt x="127000" y="254000"/>
                </a:lnTo>
                <a:cubicBezTo>
                  <a:pt x="56833" y="254000"/>
                  <a:pt x="0" y="197167"/>
                  <a:pt x="0" y="127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B06A46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8" name="icon-chart"/>
          <p:cNvSpPr/>
          <p:nvPr/>
        </p:nvSpPr>
        <p:spPr>
          <a:xfrm>
            <a:off x="7156450" y="4492625"/>
            <a:ext cx="88900" cy="58229"/>
          </a:xfrm>
          <a:custGeom>
            <a:avLst/>
            <a:gdLst/>
            <a:ahLst/>
            <a:cxnLst/>
            <a:rect l="0" t="0" r="r" b="b"/>
            <a:pathLst>
              <a:path w="88900" h="58229">
                <a:moveTo>
                  <a:pt x="0" y="58229"/>
                </a:moveTo>
                <a:lnTo>
                  <a:pt x="88900" y="58229"/>
                </a:lnTo>
                <a:moveTo>
                  <a:pt x="20130" y="58229"/>
                </a:moveTo>
                <a:lnTo>
                  <a:pt x="20130" y="24321"/>
                </a:lnTo>
                <a:moveTo>
                  <a:pt x="44450" y="58229"/>
                </a:moveTo>
                <a:lnTo>
                  <a:pt x="44450" y="0"/>
                </a:lnTo>
                <a:moveTo>
                  <a:pt x="68770" y="58229"/>
                </a:moveTo>
                <a:lnTo>
                  <a:pt x="68770" y="36004"/>
                </a:lnTo>
              </a:path>
            </a:pathLst>
          </a:custGeom>
          <a:noFill/>
          <a:ln w="12700" cap="rnd">
            <a:solidFill>
              <a:srgbClr val="B06A4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dltt-5"/>
          <p:cNvSpPr txBox="1"/>
          <p:nvPr/>
        </p:nvSpPr>
        <p:spPr>
          <a:xfrm>
            <a:off x="7213346" y="4427474"/>
            <a:ext cx="44424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15">
                <a:solidFill>
                  <a:srgbClr val="B06A46"/>
                </a:solidFill>
                <a:latin typeface="Arial"/>
                <a:ea typeface="Arial"/>
                <a:cs typeface="Arial"/>
              </a:rPr>
              <a:t>-1.4pt</a:t>
            </a:r>
          </a:p>
        </p:txBody>
      </p:sp>
      <p:sp>
        <p:nvSpPr>
          <p:cNvPr id="110" name="v-5"/>
          <p:cNvSpPr txBox="1"/>
          <p:nvPr/>
        </p:nvSpPr>
        <p:spPr>
          <a:xfrm>
            <a:off x="4695952" y="4745418"/>
            <a:ext cx="1102106" cy="6000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700" b="1" spc="50">
                <a:solidFill>
                  <a:srgbClr val="0B2545"/>
                </a:solidFill>
                <a:latin typeface="Arial"/>
                <a:ea typeface="Arial"/>
                <a:cs typeface="Arial"/>
              </a:rPr>
              <a:t>92.1</a:t>
            </a:r>
          </a:p>
        </p:txBody>
      </p:sp>
      <p:sp>
        <p:nvSpPr>
          <p:cNvPr id="111" name="u-5"/>
          <p:cNvSpPr txBox="1"/>
          <p:nvPr/>
        </p:nvSpPr>
        <p:spPr>
          <a:xfrm>
            <a:off x="5595112" y="502774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%</a:t>
            </a:r>
          </a:p>
        </p:txBody>
      </p:sp>
      <p:sp>
        <p:nvSpPr>
          <p:cNvPr id="112" name="sp-5-1"/>
          <p:cNvSpPr/>
          <p:nvPr/>
        </p:nvSpPr>
        <p:spPr>
          <a:xfrm>
            <a:off x="4737100" y="5461000"/>
            <a:ext cx="190500" cy="393700"/>
          </a:xfrm>
          <a:custGeom>
            <a:avLst/>
            <a:gdLst/>
            <a:ahLst/>
            <a:cxnLst/>
            <a:rect l="0" t="0" r="r" b="b"/>
            <a:pathLst>
              <a:path w="190500" h="393700">
                <a:moveTo>
                  <a:pt x="0" y="393700"/>
                </a:move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393700"/>
                </a:lnTo>
                <a:close/>
              </a:path>
            </a:pathLst>
          </a:custGeom>
          <a:solidFill>
            <a:srgbClr val="4694D7">
              <a:alpha val="2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3" name="sp-5-2"/>
          <p:cNvSpPr/>
          <p:nvPr/>
        </p:nvSpPr>
        <p:spPr>
          <a:xfrm>
            <a:off x="5003800" y="5465128"/>
            <a:ext cx="190500" cy="389573"/>
          </a:xfrm>
          <a:custGeom>
            <a:avLst/>
            <a:gdLst/>
            <a:ahLst/>
            <a:cxnLst/>
            <a:rect l="0" t="0" r="r" b="b"/>
            <a:pathLst>
              <a:path w="190500" h="389573">
                <a:moveTo>
                  <a:pt x="0" y="389573"/>
                </a:moveTo>
                <a:lnTo>
                  <a:pt x="0" y="38100"/>
                </a:lnTo>
                <a:cubicBezTo>
                  <a:pt x="0" y="17018"/>
                  <a:pt x="17082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18"/>
                  <a:pt x="190500" y="38100"/>
                </a:cubicBezTo>
                <a:lnTo>
                  <a:pt x="190500" y="389573"/>
                </a:lnTo>
                <a:close/>
              </a:path>
            </a:pathLst>
          </a:custGeom>
          <a:solidFill>
            <a:srgbClr val="4694D7">
              <a:alpha val="4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4" name="sp-5-3"/>
          <p:cNvSpPr/>
          <p:nvPr/>
        </p:nvSpPr>
        <p:spPr>
          <a:xfrm>
            <a:off x="5270500" y="5465128"/>
            <a:ext cx="190500" cy="389573"/>
          </a:xfrm>
          <a:custGeom>
            <a:avLst/>
            <a:gdLst/>
            <a:ahLst/>
            <a:cxnLst/>
            <a:rect l="0" t="0" r="r" b="b"/>
            <a:pathLst>
              <a:path w="190500" h="389573">
                <a:moveTo>
                  <a:pt x="0" y="389573"/>
                </a:moveTo>
                <a:lnTo>
                  <a:pt x="0" y="38100"/>
                </a:lnTo>
                <a:cubicBezTo>
                  <a:pt x="0" y="17018"/>
                  <a:pt x="17082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18"/>
                  <a:pt x="190500" y="38100"/>
                </a:cubicBezTo>
                <a:lnTo>
                  <a:pt x="190500" y="389573"/>
                </a:lnTo>
                <a:close/>
              </a:path>
            </a:pathLst>
          </a:custGeom>
          <a:solidFill>
            <a:srgbClr val="4694D7">
              <a:alpha val="5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5" name="sp-5-4"/>
          <p:cNvSpPr/>
          <p:nvPr/>
        </p:nvSpPr>
        <p:spPr>
          <a:xfrm>
            <a:off x="5537200" y="5469192"/>
            <a:ext cx="190500" cy="385509"/>
          </a:xfrm>
          <a:custGeom>
            <a:avLst/>
            <a:gdLst/>
            <a:ahLst/>
            <a:cxnLst/>
            <a:rect l="0" t="0" r="r" b="b"/>
            <a:pathLst>
              <a:path w="190500" h="385509">
                <a:moveTo>
                  <a:pt x="0" y="385509"/>
                </a:move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385509"/>
                </a:lnTo>
                <a:close/>
              </a:path>
            </a:pathLst>
          </a:custGeom>
          <a:solidFill>
            <a:srgbClr val="4694D7">
              <a:alpha val="6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6" name="sp-5-5"/>
          <p:cNvSpPr/>
          <p:nvPr/>
        </p:nvSpPr>
        <p:spPr>
          <a:xfrm>
            <a:off x="5803900" y="5473319"/>
            <a:ext cx="190500" cy="381381"/>
          </a:xfrm>
          <a:custGeom>
            <a:avLst/>
            <a:gdLst/>
            <a:ahLst/>
            <a:cxnLst/>
            <a:rect l="0" t="0" r="r" b="b"/>
            <a:pathLst>
              <a:path w="190500" h="381381">
                <a:moveTo>
                  <a:pt x="0" y="381381"/>
                </a:moveTo>
                <a:lnTo>
                  <a:pt x="0" y="38100"/>
                </a:lnTo>
                <a:cubicBezTo>
                  <a:pt x="0" y="17018"/>
                  <a:pt x="17082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18"/>
                  <a:pt x="190500" y="38100"/>
                </a:cubicBezTo>
                <a:lnTo>
                  <a:pt x="190500" y="381381"/>
                </a:lnTo>
                <a:close/>
              </a:path>
            </a:pathLst>
          </a:custGeom>
          <a:solidFill>
            <a:srgbClr val="4694D7">
              <a:alpha val="7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7" name="sp-5-6"/>
          <p:cNvSpPr/>
          <p:nvPr/>
        </p:nvSpPr>
        <p:spPr>
          <a:xfrm>
            <a:off x="6070600" y="5477383"/>
            <a:ext cx="190500" cy="377317"/>
          </a:xfrm>
          <a:custGeom>
            <a:avLst/>
            <a:gdLst/>
            <a:ahLst/>
            <a:cxnLst/>
            <a:rect l="0" t="0" r="r" b="b"/>
            <a:pathLst>
              <a:path w="190500" h="377317">
                <a:moveTo>
                  <a:pt x="0" y="377317"/>
                </a:move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377317"/>
                </a:lnTo>
                <a:close/>
              </a:path>
            </a:pathLst>
          </a:custGeom>
          <a:solidFill>
            <a:srgbClr val="4694D7">
              <a:alpha val="8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18" name="spl-5"/>
          <p:cNvCxnSpPr/>
          <p:nvPr/>
        </p:nvCxnSpPr>
        <p:spPr>
          <a:xfrm>
            <a:off x="4737100" y="5905500"/>
            <a:ext cx="29718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9" name="spt-5"/>
          <p:cNvSpPr txBox="1"/>
          <p:nvPr/>
        </p:nvSpPr>
        <p:spPr>
          <a:xfrm>
            <a:off x="7299706" y="5490908"/>
            <a:ext cx="4198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近 6 期</a:t>
            </a:r>
          </a:p>
        </p:txBody>
      </p:sp>
      <p:sp>
        <p:nvSpPr>
          <p:cNvPr id="120" name="spt2-5"/>
          <p:cNvSpPr txBox="1"/>
          <p:nvPr/>
        </p:nvSpPr>
        <p:spPr>
          <a:xfrm>
            <a:off x="7273798" y="5719508"/>
            <a:ext cx="4457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环比走势</a:t>
            </a:r>
          </a:p>
        </p:txBody>
      </p:sp>
      <p:sp>
        <p:nvSpPr>
          <p:cNvPr id="121" name="card-6"/>
          <p:cNvSpPr/>
          <p:nvPr/>
        </p:nvSpPr>
        <p:spPr>
          <a:xfrm>
            <a:off x="8089900" y="4165600"/>
            <a:ext cx="3403600" cy="1905000"/>
          </a:xfrm>
          <a:custGeom>
            <a:avLst/>
            <a:gdLst/>
            <a:ahLst/>
            <a:cxnLst/>
            <a:rect l="0" t="0" r="r" b="b"/>
            <a:pathLst>
              <a:path w="3403600" h="1905000">
                <a:moveTo>
                  <a:pt x="127000" y="0"/>
                </a:moveTo>
                <a:lnTo>
                  <a:pt x="3276600" y="0"/>
                </a:lnTo>
                <a:cubicBezTo>
                  <a:pt x="3346767" y="0"/>
                  <a:pt x="3403600" y="56833"/>
                  <a:pt x="3403600" y="127000"/>
                </a:cubicBezTo>
                <a:lnTo>
                  <a:pt x="3403600" y="1778000"/>
                </a:lnTo>
                <a:cubicBezTo>
                  <a:pt x="3403600" y="1848167"/>
                  <a:pt x="3346767" y="1905000"/>
                  <a:pt x="3276600" y="1905000"/>
                </a:cubicBezTo>
                <a:lnTo>
                  <a:pt x="127000" y="1905000"/>
                </a:lnTo>
                <a:cubicBezTo>
                  <a:pt x="56833" y="1905000"/>
                  <a:pt x="0" y="1848167"/>
                  <a:pt x="0" y="1778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2" name="cap-6"/>
          <p:cNvSpPr/>
          <p:nvPr/>
        </p:nvSpPr>
        <p:spPr>
          <a:xfrm>
            <a:off x="8089900" y="4165600"/>
            <a:ext cx="44450" cy="1905000"/>
          </a:xfrm>
          <a:custGeom>
            <a:avLst/>
            <a:gdLst/>
            <a:ahLst/>
            <a:cxnLst/>
            <a:rect l="0" t="0" r="r" b="b"/>
            <a:pathLst>
              <a:path w="44450" h="1905000">
                <a:moveTo>
                  <a:pt x="22225" y="0"/>
                </a:moveTo>
                <a:lnTo>
                  <a:pt x="22225" y="0"/>
                </a:lnTo>
                <a:cubicBezTo>
                  <a:pt x="34481" y="0"/>
                  <a:pt x="44450" y="9970"/>
                  <a:pt x="44450" y="22225"/>
                </a:cubicBezTo>
                <a:lnTo>
                  <a:pt x="44450" y="1882775"/>
                </a:lnTo>
                <a:cubicBezTo>
                  <a:pt x="44450" y="1895030"/>
                  <a:pt x="34481" y="1905000"/>
                  <a:pt x="22225" y="1905000"/>
                </a:cubicBezTo>
                <a:lnTo>
                  <a:pt x="22225" y="1905000"/>
                </a:lnTo>
                <a:cubicBezTo>
                  <a:pt x="9969" y="1905000"/>
                  <a:pt x="0" y="1895030"/>
                  <a:pt x="0" y="1882775"/>
                </a:cubicBezTo>
                <a:lnTo>
                  <a:pt x="0" y="22225"/>
                </a:lnTo>
                <a:cubicBezTo>
                  <a:pt x="0" y="9970"/>
                  <a:pt x="9969" y="0"/>
                  <a:pt x="22225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3" name="chip-6"/>
          <p:cNvSpPr/>
          <p:nvPr/>
        </p:nvSpPr>
        <p:spPr>
          <a:xfrm>
            <a:off x="8305800" y="4343400"/>
            <a:ext cx="330200" cy="330200"/>
          </a:xfrm>
          <a:prstGeom prst="ellipse">
            <a:avLst/>
          </a:prstGeom>
          <a:solidFill>
            <a:srgbClr val="54A2D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4" name="icon-grow"/>
          <p:cNvSpPr/>
          <p:nvPr/>
        </p:nvSpPr>
        <p:spPr>
          <a:xfrm>
            <a:off x="8408670" y="4480370"/>
            <a:ext cx="111125" cy="69596"/>
          </a:xfrm>
          <a:custGeom>
            <a:avLst/>
            <a:gdLst/>
            <a:ahLst/>
            <a:cxnLst/>
            <a:rect l="0" t="0" r="r" b="b"/>
            <a:pathLst>
              <a:path w="111125" h="69596">
                <a:moveTo>
                  <a:pt x="0" y="69596"/>
                </a:moveTo>
                <a:lnTo>
                  <a:pt x="37020" y="29591"/>
                </a:lnTo>
                <a:lnTo>
                  <a:pt x="63690" y="51816"/>
                </a:lnTo>
                <a:lnTo>
                  <a:pt x="108140" y="0"/>
                </a:lnTo>
                <a:moveTo>
                  <a:pt x="90361" y="0"/>
                </a:moveTo>
                <a:lnTo>
                  <a:pt x="111125" y="0"/>
                </a:lnTo>
                <a:lnTo>
                  <a:pt x="111125" y="20701"/>
                </a:lnTo>
              </a:path>
            </a:pathLst>
          </a:custGeom>
          <a:noFill/>
          <a:ln w="1270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5" name="nm-6"/>
          <p:cNvSpPr txBox="1"/>
          <p:nvPr/>
        </p:nvSpPr>
        <p:spPr>
          <a:xfrm>
            <a:off x="8705850" y="43632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人均产值</a:t>
            </a:r>
          </a:p>
        </p:txBody>
      </p:sp>
      <p:sp>
        <p:nvSpPr>
          <p:cNvPr id="126" name="dlt-6"/>
          <p:cNvSpPr/>
          <p:nvPr/>
        </p:nvSpPr>
        <p:spPr>
          <a:xfrm>
            <a:off x="10617200" y="4381500"/>
            <a:ext cx="711200" cy="254000"/>
          </a:xfrm>
          <a:custGeom>
            <a:avLst/>
            <a:gdLst/>
            <a:ahLst/>
            <a:cxnLst/>
            <a:rect l="0" t="0" r="r" b="b"/>
            <a:pathLst>
              <a:path w="711200" h="254000">
                <a:moveTo>
                  <a:pt x="127000" y="0"/>
                </a:moveTo>
                <a:lnTo>
                  <a:pt x="584200" y="0"/>
                </a:lnTo>
                <a:cubicBezTo>
                  <a:pt x="654367" y="0"/>
                  <a:pt x="711200" y="56833"/>
                  <a:pt x="711200" y="127000"/>
                </a:cubicBezTo>
                <a:lnTo>
                  <a:pt x="711200" y="127000"/>
                </a:lnTo>
                <a:cubicBezTo>
                  <a:pt x="711200" y="197167"/>
                  <a:pt x="654367" y="254000"/>
                  <a:pt x="584200" y="254000"/>
                </a:cubicBezTo>
                <a:lnTo>
                  <a:pt x="127000" y="254000"/>
                </a:lnTo>
                <a:cubicBezTo>
                  <a:pt x="56833" y="254000"/>
                  <a:pt x="0" y="197167"/>
                  <a:pt x="0" y="127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7" name="icon-grow"/>
          <p:cNvSpPr/>
          <p:nvPr/>
        </p:nvSpPr>
        <p:spPr>
          <a:xfrm>
            <a:off x="10725150" y="4488370"/>
            <a:ext cx="79375" cy="49784"/>
          </a:xfrm>
          <a:custGeom>
            <a:avLst/>
            <a:gdLst/>
            <a:ahLst/>
            <a:cxnLst/>
            <a:rect l="0" t="0" r="r" b="b"/>
            <a:pathLst>
              <a:path w="79375" h="49784">
                <a:moveTo>
                  <a:pt x="0" y="49784"/>
                </a:moveTo>
                <a:lnTo>
                  <a:pt x="26480" y="21209"/>
                </a:lnTo>
                <a:lnTo>
                  <a:pt x="45530" y="37084"/>
                </a:lnTo>
                <a:lnTo>
                  <a:pt x="77280" y="0"/>
                </a:lnTo>
                <a:moveTo>
                  <a:pt x="64580" y="0"/>
                </a:moveTo>
                <a:lnTo>
                  <a:pt x="79375" y="0"/>
                </a:lnTo>
                <a:lnTo>
                  <a:pt x="79375" y="14859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8" name="dltt-6"/>
          <p:cNvSpPr txBox="1"/>
          <p:nvPr/>
        </p:nvSpPr>
        <p:spPr>
          <a:xfrm>
            <a:off x="10840847" y="4427474"/>
            <a:ext cx="385445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+9.8%</a:t>
            </a:r>
          </a:p>
        </p:txBody>
      </p:sp>
      <p:sp>
        <p:nvSpPr>
          <p:cNvPr id="129" name="v-6"/>
          <p:cNvSpPr txBox="1"/>
          <p:nvPr/>
        </p:nvSpPr>
        <p:spPr>
          <a:xfrm>
            <a:off x="8264652" y="4745418"/>
            <a:ext cx="1102106" cy="6000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700" b="1" spc="50">
                <a:solidFill>
                  <a:srgbClr val="0B2545"/>
                </a:solidFill>
                <a:latin typeface="Arial"/>
                <a:ea typeface="Arial"/>
                <a:cs typeface="Arial"/>
              </a:rPr>
              <a:t>86.5</a:t>
            </a:r>
          </a:p>
        </p:txBody>
      </p:sp>
      <p:sp>
        <p:nvSpPr>
          <p:cNvPr id="130" name="u-6"/>
          <p:cNvSpPr txBox="1"/>
          <p:nvPr/>
        </p:nvSpPr>
        <p:spPr>
          <a:xfrm>
            <a:off x="9163812" y="5027740"/>
            <a:ext cx="331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万元</a:t>
            </a:r>
          </a:p>
        </p:txBody>
      </p:sp>
      <p:sp>
        <p:nvSpPr>
          <p:cNvPr id="131" name="sp-6-1"/>
          <p:cNvSpPr/>
          <p:nvPr/>
        </p:nvSpPr>
        <p:spPr>
          <a:xfrm>
            <a:off x="8305800" y="5561711"/>
            <a:ext cx="190500" cy="292989"/>
          </a:xfrm>
          <a:custGeom>
            <a:avLst/>
            <a:gdLst/>
            <a:ahLst/>
            <a:cxnLst/>
            <a:rect l="0" t="0" r="r" b="b"/>
            <a:pathLst>
              <a:path w="190500" h="292989">
                <a:moveTo>
                  <a:pt x="0" y="292989"/>
                </a:move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292989"/>
                </a:lnTo>
                <a:close/>
              </a:path>
            </a:pathLst>
          </a:custGeom>
          <a:solidFill>
            <a:srgbClr val="54A2DF">
              <a:alpha val="2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2" name="sp-6-2"/>
          <p:cNvSpPr/>
          <p:nvPr/>
        </p:nvSpPr>
        <p:spPr>
          <a:xfrm>
            <a:off x="8572500" y="5543423"/>
            <a:ext cx="190500" cy="311277"/>
          </a:xfrm>
          <a:custGeom>
            <a:avLst/>
            <a:gdLst/>
            <a:ahLst/>
            <a:cxnLst/>
            <a:rect l="0" t="0" r="r" b="b"/>
            <a:pathLst>
              <a:path w="190500" h="311277">
                <a:moveTo>
                  <a:pt x="0" y="311277"/>
                </a:moveTo>
                <a:lnTo>
                  <a:pt x="0" y="38100"/>
                </a:lnTo>
                <a:cubicBezTo>
                  <a:pt x="0" y="17018"/>
                  <a:pt x="17082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18"/>
                  <a:pt x="190500" y="38100"/>
                </a:cubicBezTo>
                <a:lnTo>
                  <a:pt x="190500" y="311277"/>
                </a:lnTo>
                <a:close/>
              </a:path>
            </a:pathLst>
          </a:custGeom>
          <a:solidFill>
            <a:srgbClr val="54A2DF">
              <a:alpha val="4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3" name="sp-6-3"/>
          <p:cNvSpPr/>
          <p:nvPr/>
        </p:nvSpPr>
        <p:spPr>
          <a:xfrm>
            <a:off x="8839200" y="5525072"/>
            <a:ext cx="190500" cy="329628"/>
          </a:xfrm>
          <a:custGeom>
            <a:avLst/>
            <a:gdLst/>
            <a:ahLst/>
            <a:cxnLst/>
            <a:rect l="0" t="0" r="r" b="b"/>
            <a:pathLst>
              <a:path w="190500" h="329628">
                <a:moveTo>
                  <a:pt x="0" y="329628"/>
                </a:move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329628"/>
                </a:lnTo>
                <a:close/>
              </a:path>
            </a:pathLst>
          </a:custGeom>
          <a:solidFill>
            <a:srgbClr val="54A2DF">
              <a:alpha val="5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4" name="sp-6-4"/>
          <p:cNvSpPr/>
          <p:nvPr/>
        </p:nvSpPr>
        <p:spPr>
          <a:xfrm>
            <a:off x="9105900" y="5511356"/>
            <a:ext cx="190500" cy="343345"/>
          </a:xfrm>
          <a:custGeom>
            <a:avLst/>
            <a:gdLst/>
            <a:ahLst/>
            <a:cxnLst/>
            <a:rect l="0" t="0" r="r" b="b"/>
            <a:pathLst>
              <a:path w="190500" h="343345">
                <a:moveTo>
                  <a:pt x="0" y="343345"/>
                </a:move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343345"/>
                </a:lnTo>
                <a:close/>
              </a:path>
            </a:pathLst>
          </a:custGeom>
          <a:solidFill>
            <a:srgbClr val="54A2DF">
              <a:alpha val="6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5" name="sp-6-5"/>
          <p:cNvSpPr/>
          <p:nvPr/>
        </p:nvSpPr>
        <p:spPr>
          <a:xfrm>
            <a:off x="9372600" y="5488496"/>
            <a:ext cx="190500" cy="366204"/>
          </a:xfrm>
          <a:custGeom>
            <a:avLst/>
            <a:gdLst/>
            <a:ahLst/>
            <a:cxnLst/>
            <a:rect l="0" t="0" r="r" b="b"/>
            <a:pathLst>
              <a:path w="190500" h="366204">
                <a:moveTo>
                  <a:pt x="0" y="366204"/>
                </a:moveTo>
                <a:lnTo>
                  <a:pt x="0" y="38100"/>
                </a:lnTo>
                <a:cubicBezTo>
                  <a:pt x="0" y="17018"/>
                  <a:pt x="17082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18"/>
                  <a:pt x="190500" y="38100"/>
                </a:cubicBezTo>
                <a:lnTo>
                  <a:pt x="190500" y="366204"/>
                </a:lnTo>
                <a:close/>
              </a:path>
            </a:pathLst>
          </a:custGeom>
          <a:solidFill>
            <a:srgbClr val="54A2DF">
              <a:alpha val="7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6" name="sp-6-6"/>
          <p:cNvSpPr/>
          <p:nvPr/>
        </p:nvSpPr>
        <p:spPr>
          <a:xfrm>
            <a:off x="9639300" y="5461000"/>
            <a:ext cx="190500" cy="393700"/>
          </a:xfrm>
          <a:custGeom>
            <a:avLst/>
            <a:gdLst/>
            <a:ahLst/>
            <a:cxnLst/>
            <a:rect l="0" t="0" r="r" b="b"/>
            <a:pathLst>
              <a:path w="190500" h="393700">
                <a:moveTo>
                  <a:pt x="0" y="393700"/>
                </a:move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393700"/>
                </a:lnTo>
                <a:close/>
              </a:path>
            </a:pathLst>
          </a:custGeom>
          <a:solidFill>
            <a:srgbClr val="54A2DF">
              <a:alpha val="8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37" name="spl-6"/>
          <p:cNvCxnSpPr/>
          <p:nvPr/>
        </p:nvCxnSpPr>
        <p:spPr>
          <a:xfrm>
            <a:off x="8305800" y="5905500"/>
            <a:ext cx="29718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spt-6"/>
          <p:cNvSpPr txBox="1"/>
          <p:nvPr/>
        </p:nvSpPr>
        <p:spPr>
          <a:xfrm>
            <a:off x="10868406" y="5490908"/>
            <a:ext cx="4198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近 6 期</a:t>
            </a:r>
          </a:p>
        </p:txBody>
      </p:sp>
      <p:sp>
        <p:nvSpPr>
          <p:cNvPr id="139" name="spt2-6"/>
          <p:cNvSpPr txBox="1"/>
          <p:nvPr/>
        </p:nvSpPr>
        <p:spPr>
          <a:xfrm>
            <a:off x="10842498" y="5719508"/>
            <a:ext cx="4457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环比走势</a:t>
            </a:r>
          </a:p>
        </p:txBody>
      </p:sp>
      <p:cxnSp>
        <p:nvCxnSpPr>
          <p:cNvPr id="140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1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经营看板 · 六项指标</a:t>
            </a:r>
          </a:p>
        </p:txBody>
      </p:sp>
      <p:sp>
        <p:nvSpPr>
          <p:cNvPr id="142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17754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全年利润桥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53695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WATERFALL BRIDGE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437499" y="673132"/>
            <a:ext cx="31832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从去年净利到今年净利，逐项拆解增减贡献（单位：百万元）</a:t>
            </a:r>
          </a:p>
        </p:txBody>
      </p:sp>
      <p:cxnSp>
        <p:nvCxnSpPr>
          <p:cNvPr id="10" name="grid-0"/>
          <p:cNvCxnSpPr/>
          <p:nvPr/>
        </p:nvCxnSpPr>
        <p:spPr>
          <a:xfrm>
            <a:off x="1168400" y="4851400"/>
            <a:ext cx="9728200" cy="0"/>
          </a:xfrm>
          <a:prstGeom prst="line">
            <a:avLst/>
          </a:prstGeom>
          <a:ln w="6350" cap="rnd">
            <a:solidFill>
              <a:srgbClr val="0B2545">
                <a:alpha val="1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yt-0"/>
          <p:cNvSpPr txBox="1"/>
          <p:nvPr/>
        </p:nvSpPr>
        <p:spPr>
          <a:xfrm>
            <a:off x="928751" y="4764024"/>
            <a:ext cx="150241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0</a:t>
            </a:r>
          </a:p>
        </p:txBody>
      </p:sp>
      <p:cxnSp>
        <p:nvCxnSpPr>
          <p:cNvPr id="12" name="grid-100"/>
          <p:cNvCxnSpPr/>
          <p:nvPr/>
        </p:nvCxnSpPr>
        <p:spPr>
          <a:xfrm>
            <a:off x="1168400" y="4430486"/>
            <a:ext cx="97282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yt-100"/>
          <p:cNvSpPr txBox="1"/>
          <p:nvPr/>
        </p:nvSpPr>
        <p:spPr>
          <a:xfrm>
            <a:off x="811149" y="4343110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100</a:t>
            </a:r>
          </a:p>
        </p:txBody>
      </p:sp>
      <p:cxnSp>
        <p:nvCxnSpPr>
          <p:cNvPr id="14" name="grid-200"/>
          <p:cNvCxnSpPr/>
          <p:nvPr/>
        </p:nvCxnSpPr>
        <p:spPr>
          <a:xfrm>
            <a:off x="1168400" y="4009571"/>
            <a:ext cx="97282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yt-200"/>
          <p:cNvSpPr txBox="1"/>
          <p:nvPr/>
        </p:nvSpPr>
        <p:spPr>
          <a:xfrm>
            <a:off x="811149" y="3922195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200</a:t>
            </a:r>
          </a:p>
        </p:txBody>
      </p:sp>
      <p:cxnSp>
        <p:nvCxnSpPr>
          <p:cNvPr id="16" name="grid-300"/>
          <p:cNvCxnSpPr/>
          <p:nvPr/>
        </p:nvCxnSpPr>
        <p:spPr>
          <a:xfrm>
            <a:off x="1168400" y="3588657"/>
            <a:ext cx="97282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yt-300"/>
          <p:cNvSpPr txBox="1"/>
          <p:nvPr/>
        </p:nvSpPr>
        <p:spPr>
          <a:xfrm>
            <a:off x="811149" y="3501281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300</a:t>
            </a:r>
          </a:p>
        </p:txBody>
      </p:sp>
      <p:cxnSp>
        <p:nvCxnSpPr>
          <p:cNvPr id="18" name="grid-400"/>
          <p:cNvCxnSpPr/>
          <p:nvPr/>
        </p:nvCxnSpPr>
        <p:spPr>
          <a:xfrm>
            <a:off x="1168400" y="3167743"/>
            <a:ext cx="97282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yt-400"/>
          <p:cNvSpPr txBox="1"/>
          <p:nvPr/>
        </p:nvSpPr>
        <p:spPr>
          <a:xfrm>
            <a:off x="811149" y="3080367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400</a:t>
            </a:r>
          </a:p>
        </p:txBody>
      </p:sp>
      <p:cxnSp>
        <p:nvCxnSpPr>
          <p:cNvPr id="20" name="grid-500"/>
          <p:cNvCxnSpPr/>
          <p:nvPr/>
        </p:nvCxnSpPr>
        <p:spPr>
          <a:xfrm>
            <a:off x="1168400" y="2746829"/>
            <a:ext cx="97282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yt-500"/>
          <p:cNvSpPr txBox="1"/>
          <p:nvPr/>
        </p:nvSpPr>
        <p:spPr>
          <a:xfrm>
            <a:off x="811149" y="2659453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500</a:t>
            </a:r>
          </a:p>
        </p:txBody>
      </p:sp>
      <p:cxnSp>
        <p:nvCxnSpPr>
          <p:cNvPr id="22" name="grid-600"/>
          <p:cNvCxnSpPr/>
          <p:nvPr/>
        </p:nvCxnSpPr>
        <p:spPr>
          <a:xfrm>
            <a:off x="1168400" y="2325914"/>
            <a:ext cx="97282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yt-600"/>
          <p:cNvSpPr txBox="1"/>
          <p:nvPr/>
        </p:nvSpPr>
        <p:spPr>
          <a:xfrm>
            <a:off x="811149" y="2238538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600</a:t>
            </a:r>
          </a:p>
        </p:txBody>
      </p:sp>
      <p:cxnSp>
        <p:nvCxnSpPr>
          <p:cNvPr id="24" name="grid-700"/>
          <p:cNvCxnSpPr/>
          <p:nvPr/>
        </p:nvCxnSpPr>
        <p:spPr>
          <a:xfrm>
            <a:off x="1168400" y="1905000"/>
            <a:ext cx="97282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yt-700"/>
          <p:cNvSpPr txBox="1"/>
          <p:nvPr/>
        </p:nvSpPr>
        <p:spPr>
          <a:xfrm>
            <a:off x="811149" y="181762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700</a:t>
            </a:r>
          </a:p>
        </p:txBody>
      </p:sp>
      <p:sp>
        <p:nvSpPr>
          <p:cNvPr id="26" name="bar-1"/>
          <p:cNvSpPr/>
          <p:nvPr/>
        </p:nvSpPr>
        <p:spPr>
          <a:xfrm>
            <a:off x="1544638" y="3647567"/>
            <a:ext cx="812800" cy="1203833"/>
          </a:xfrm>
          <a:custGeom>
            <a:avLst/>
            <a:gdLst/>
            <a:ahLst/>
            <a:cxnLst/>
            <a:rect l="0" t="0" r="r" b="b"/>
            <a:pathLst>
              <a:path w="812800" h="1203833">
                <a:moveTo>
                  <a:pt x="63500" y="0"/>
                </a:moveTo>
                <a:lnTo>
                  <a:pt x="749300" y="0"/>
                </a:lnTo>
                <a:cubicBezTo>
                  <a:pt x="784352" y="0"/>
                  <a:pt x="812800" y="28448"/>
                  <a:pt x="812800" y="63500"/>
                </a:cubicBezTo>
                <a:lnTo>
                  <a:pt x="812800" y="1140333"/>
                </a:lnTo>
                <a:cubicBezTo>
                  <a:pt x="812800" y="1175385"/>
                  <a:pt x="784352" y="1203833"/>
                  <a:pt x="749300" y="1203833"/>
                </a:cubicBezTo>
                <a:lnTo>
                  <a:pt x="63500" y="1203833"/>
                </a:lnTo>
                <a:cubicBezTo>
                  <a:pt x="28448" y="1203833"/>
                  <a:pt x="0" y="1175385"/>
                  <a:pt x="0" y="1140333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3761A3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vchip-1"/>
          <p:cNvSpPr/>
          <p:nvPr/>
        </p:nvSpPr>
        <p:spPr>
          <a:xfrm>
            <a:off x="1608138" y="3342767"/>
            <a:ext cx="685800" cy="228600"/>
          </a:xfrm>
          <a:custGeom>
            <a:avLst/>
            <a:gdLst/>
            <a:ahLst/>
            <a:cxnLst/>
            <a:rect l="0" t="0" r="r" b="b"/>
            <a:pathLst>
              <a:path w="685800" h="228600">
                <a:moveTo>
                  <a:pt x="63500" y="0"/>
                </a:moveTo>
                <a:lnTo>
                  <a:pt x="622300" y="0"/>
                </a:lnTo>
                <a:cubicBezTo>
                  <a:pt x="657352" y="0"/>
                  <a:pt x="685800" y="28448"/>
                  <a:pt x="685800" y="63500"/>
                </a:cubicBezTo>
                <a:lnTo>
                  <a:pt x="685800" y="165100"/>
                </a:lnTo>
                <a:cubicBezTo>
                  <a:pt x="685800" y="200216"/>
                  <a:pt x="657352" y="228600"/>
                  <a:pt x="622300" y="228600"/>
                </a:cubicBezTo>
                <a:lnTo>
                  <a:pt x="63500" y="228600"/>
                </a:lnTo>
                <a:cubicBezTo>
                  <a:pt x="28448" y="228600"/>
                  <a:pt x="0" y="200216"/>
                  <a:pt x="0" y="1651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v-1"/>
          <p:cNvSpPr txBox="1"/>
          <p:nvPr/>
        </p:nvSpPr>
        <p:spPr>
          <a:xfrm>
            <a:off x="1791589" y="3358882"/>
            <a:ext cx="31889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20">
                <a:solidFill>
                  <a:srgbClr val="0B3E8F"/>
                </a:solidFill>
                <a:latin typeface="Arial"/>
                <a:ea typeface="Arial"/>
                <a:cs typeface="Arial"/>
              </a:rPr>
              <a:t>286</a:t>
            </a:r>
          </a:p>
        </p:txBody>
      </p:sp>
      <p:sp>
        <p:nvSpPr>
          <p:cNvPr id="29" name="lab-1"/>
          <p:cNvSpPr txBox="1"/>
          <p:nvPr/>
        </p:nvSpPr>
        <p:spPr>
          <a:xfrm>
            <a:off x="1671161" y="496816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去年净利</a:t>
            </a:r>
          </a:p>
        </p:txBody>
      </p:sp>
      <p:sp>
        <p:nvSpPr>
          <p:cNvPr id="30" name="labs-1"/>
          <p:cNvSpPr txBox="1"/>
          <p:nvPr/>
        </p:nvSpPr>
        <p:spPr>
          <a:xfrm>
            <a:off x="1815782" y="5173408"/>
            <a:ext cx="2705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基准</a:t>
            </a:r>
          </a:p>
        </p:txBody>
      </p:sp>
      <p:sp>
        <p:nvSpPr>
          <p:cNvPr id="31" name="bar-2"/>
          <p:cNvSpPr/>
          <p:nvPr/>
        </p:nvSpPr>
        <p:spPr>
          <a:xfrm>
            <a:off x="2728912" y="2729992"/>
            <a:ext cx="812800" cy="917575"/>
          </a:xfrm>
          <a:custGeom>
            <a:avLst/>
            <a:gdLst/>
            <a:ahLst/>
            <a:cxnLst/>
            <a:rect l="0" t="0" r="r" b="b"/>
            <a:pathLst>
              <a:path w="812800" h="917575">
                <a:moveTo>
                  <a:pt x="63500" y="0"/>
                </a:moveTo>
                <a:lnTo>
                  <a:pt x="749300" y="0"/>
                </a:lnTo>
                <a:cubicBezTo>
                  <a:pt x="784352" y="0"/>
                  <a:pt x="812800" y="28448"/>
                  <a:pt x="812800" y="63500"/>
                </a:cubicBezTo>
                <a:lnTo>
                  <a:pt x="812800" y="854075"/>
                </a:lnTo>
                <a:cubicBezTo>
                  <a:pt x="812800" y="889191"/>
                  <a:pt x="784352" y="917575"/>
                  <a:pt x="749300" y="917575"/>
                </a:cubicBezTo>
                <a:lnTo>
                  <a:pt x="63500" y="917575"/>
                </a:lnTo>
                <a:cubicBezTo>
                  <a:pt x="28448" y="917575"/>
                  <a:pt x="0" y="889191"/>
                  <a:pt x="0" y="854075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5086C5"/>
              </a:gs>
              <a:gs pos="100000">
                <a:srgbClr val="2468B6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vchip-2"/>
          <p:cNvSpPr/>
          <p:nvPr/>
        </p:nvSpPr>
        <p:spPr>
          <a:xfrm>
            <a:off x="2792412" y="2425192"/>
            <a:ext cx="685800" cy="228600"/>
          </a:xfrm>
          <a:custGeom>
            <a:avLst/>
            <a:gdLst/>
            <a:ahLst/>
            <a:cxnLst/>
            <a:rect l="0" t="0" r="r" b="b"/>
            <a:pathLst>
              <a:path w="685800" h="228600">
                <a:moveTo>
                  <a:pt x="63500" y="0"/>
                </a:moveTo>
                <a:lnTo>
                  <a:pt x="622300" y="0"/>
                </a:lnTo>
                <a:cubicBezTo>
                  <a:pt x="657352" y="0"/>
                  <a:pt x="685800" y="28448"/>
                  <a:pt x="685800" y="63500"/>
                </a:cubicBezTo>
                <a:lnTo>
                  <a:pt x="685800" y="165100"/>
                </a:lnTo>
                <a:cubicBezTo>
                  <a:pt x="685800" y="200152"/>
                  <a:pt x="657352" y="228600"/>
                  <a:pt x="622300" y="228600"/>
                </a:cubicBezTo>
                <a:lnTo>
                  <a:pt x="63500" y="228600"/>
                </a:lnTo>
                <a:cubicBezTo>
                  <a:pt x="28448" y="228600"/>
                  <a:pt x="0" y="200152"/>
                  <a:pt x="0" y="1651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2468B6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v-2"/>
          <p:cNvSpPr txBox="1"/>
          <p:nvPr/>
        </p:nvSpPr>
        <p:spPr>
          <a:xfrm>
            <a:off x="2940812" y="2441289"/>
            <a:ext cx="389001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20">
                <a:solidFill>
                  <a:srgbClr val="2468B6"/>
                </a:solidFill>
                <a:latin typeface="Arial"/>
                <a:ea typeface="Arial"/>
                <a:cs typeface="Arial"/>
              </a:rPr>
              <a:t>+218</a:t>
            </a:r>
          </a:p>
        </p:txBody>
      </p:sp>
      <p:sp>
        <p:nvSpPr>
          <p:cNvPr id="34" name="lab-2"/>
          <p:cNvSpPr txBox="1"/>
          <p:nvPr/>
        </p:nvSpPr>
        <p:spPr>
          <a:xfrm>
            <a:off x="2855436" y="496816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收入增长</a:t>
            </a:r>
          </a:p>
        </p:txBody>
      </p:sp>
      <p:sp>
        <p:nvSpPr>
          <p:cNvPr id="35" name="bar-3"/>
          <p:cNvSpPr/>
          <p:nvPr/>
        </p:nvSpPr>
        <p:spPr>
          <a:xfrm>
            <a:off x="3913188" y="2325942"/>
            <a:ext cx="812800" cy="404050"/>
          </a:xfrm>
          <a:custGeom>
            <a:avLst/>
            <a:gdLst/>
            <a:ahLst/>
            <a:cxnLst/>
            <a:rect l="0" t="0" r="r" b="b"/>
            <a:pathLst>
              <a:path w="812800" h="404050">
                <a:moveTo>
                  <a:pt x="63500" y="0"/>
                </a:moveTo>
                <a:lnTo>
                  <a:pt x="749300" y="0"/>
                </a:lnTo>
                <a:cubicBezTo>
                  <a:pt x="784352" y="0"/>
                  <a:pt x="812800" y="28384"/>
                  <a:pt x="812800" y="63500"/>
                </a:cubicBezTo>
                <a:lnTo>
                  <a:pt x="812800" y="340550"/>
                </a:lnTo>
                <a:cubicBezTo>
                  <a:pt x="812800" y="375602"/>
                  <a:pt x="784352" y="404050"/>
                  <a:pt x="749300" y="404050"/>
                </a:cubicBezTo>
                <a:lnTo>
                  <a:pt x="63500" y="404050"/>
                </a:lnTo>
                <a:cubicBezTo>
                  <a:pt x="28448" y="404050"/>
                  <a:pt x="0" y="375602"/>
                  <a:pt x="0" y="340550"/>
                </a:cubicBezTo>
                <a:lnTo>
                  <a:pt x="0" y="63500"/>
                </a:lnTo>
                <a:cubicBezTo>
                  <a:pt x="0" y="28384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5086C5"/>
              </a:gs>
              <a:gs pos="100000">
                <a:srgbClr val="2468B6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vchip-3"/>
          <p:cNvSpPr/>
          <p:nvPr/>
        </p:nvSpPr>
        <p:spPr>
          <a:xfrm>
            <a:off x="3976688" y="2021142"/>
            <a:ext cx="685800" cy="228600"/>
          </a:xfrm>
          <a:custGeom>
            <a:avLst/>
            <a:gdLst/>
            <a:ahLst/>
            <a:cxnLst/>
            <a:rect l="0" t="0" r="r" b="b"/>
            <a:pathLst>
              <a:path w="685800" h="228600">
                <a:moveTo>
                  <a:pt x="63500" y="0"/>
                </a:moveTo>
                <a:lnTo>
                  <a:pt x="622300" y="0"/>
                </a:lnTo>
                <a:cubicBezTo>
                  <a:pt x="657352" y="0"/>
                  <a:pt x="685800" y="28384"/>
                  <a:pt x="685800" y="63500"/>
                </a:cubicBezTo>
                <a:lnTo>
                  <a:pt x="685800" y="165100"/>
                </a:lnTo>
                <a:cubicBezTo>
                  <a:pt x="685800" y="200152"/>
                  <a:pt x="657352" y="228600"/>
                  <a:pt x="622300" y="228600"/>
                </a:cubicBezTo>
                <a:lnTo>
                  <a:pt x="63500" y="228600"/>
                </a:lnTo>
                <a:cubicBezTo>
                  <a:pt x="28448" y="228600"/>
                  <a:pt x="0" y="200152"/>
                  <a:pt x="0" y="165100"/>
                </a:cubicBezTo>
                <a:lnTo>
                  <a:pt x="0" y="63500"/>
                </a:lnTo>
                <a:cubicBezTo>
                  <a:pt x="0" y="28384"/>
                  <a:pt x="28448" y="0"/>
                  <a:pt x="63500" y="0"/>
                </a:cubicBezTo>
                <a:close/>
              </a:path>
            </a:pathLst>
          </a:custGeom>
          <a:solidFill>
            <a:srgbClr val="2468B6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v-3"/>
          <p:cNvSpPr txBox="1"/>
          <p:nvPr/>
        </p:nvSpPr>
        <p:spPr>
          <a:xfrm>
            <a:off x="4160139" y="2037212"/>
            <a:ext cx="31889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20">
                <a:solidFill>
                  <a:srgbClr val="2468B6"/>
                </a:solidFill>
                <a:latin typeface="Arial"/>
                <a:ea typeface="Arial"/>
                <a:cs typeface="Arial"/>
              </a:rPr>
              <a:t>+96</a:t>
            </a:r>
          </a:p>
        </p:txBody>
      </p:sp>
      <p:sp>
        <p:nvSpPr>
          <p:cNvPr id="38" name="lab-3"/>
          <p:cNvSpPr txBox="1"/>
          <p:nvPr/>
        </p:nvSpPr>
        <p:spPr>
          <a:xfrm>
            <a:off x="4039711" y="496816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毛利改善</a:t>
            </a:r>
          </a:p>
        </p:txBody>
      </p:sp>
      <p:sp>
        <p:nvSpPr>
          <p:cNvPr id="39" name="bar-4"/>
          <p:cNvSpPr/>
          <p:nvPr/>
        </p:nvSpPr>
        <p:spPr>
          <a:xfrm>
            <a:off x="5097462" y="2014410"/>
            <a:ext cx="812800" cy="311531"/>
          </a:xfrm>
          <a:custGeom>
            <a:avLst/>
            <a:gdLst/>
            <a:ahLst/>
            <a:cxnLst/>
            <a:rect l="0" t="0" r="r" b="b"/>
            <a:pathLst>
              <a:path w="812800" h="311531">
                <a:moveTo>
                  <a:pt x="63500" y="0"/>
                </a:moveTo>
                <a:lnTo>
                  <a:pt x="749300" y="0"/>
                </a:lnTo>
                <a:cubicBezTo>
                  <a:pt x="784352" y="0"/>
                  <a:pt x="812800" y="28448"/>
                  <a:pt x="812800" y="63500"/>
                </a:cubicBezTo>
                <a:lnTo>
                  <a:pt x="812800" y="248031"/>
                </a:lnTo>
                <a:cubicBezTo>
                  <a:pt x="812800" y="283083"/>
                  <a:pt x="784352" y="311531"/>
                  <a:pt x="749300" y="311531"/>
                </a:cubicBezTo>
                <a:lnTo>
                  <a:pt x="63500" y="311531"/>
                </a:lnTo>
                <a:cubicBezTo>
                  <a:pt x="28448" y="311531"/>
                  <a:pt x="0" y="283083"/>
                  <a:pt x="0" y="248031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5086C5"/>
              </a:gs>
              <a:gs pos="100000">
                <a:srgbClr val="2468B6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vchip-4"/>
          <p:cNvSpPr/>
          <p:nvPr/>
        </p:nvSpPr>
        <p:spPr>
          <a:xfrm>
            <a:off x="5160962" y="1709610"/>
            <a:ext cx="685800" cy="228600"/>
          </a:xfrm>
          <a:custGeom>
            <a:avLst/>
            <a:gdLst/>
            <a:ahLst/>
            <a:cxnLst/>
            <a:rect l="0" t="0" r="r" b="b"/>
            <a:pathLst>
              <a:path w="685800" h="228600">
                <a:moveTo>
                  <a:pt x="63500" y="0"/>
                </a:moveTo>
                <a:lnTo>
                  <a:pt x="622300" y="0"/>
                </a:lnTo>
                <a:cubicBezTo>
                  <a:pt x="657352" y="0"/>
                  <a:pt x="685800" y="28448"/>
                  <a:pt x="685800" y="63500"/>
                </a:cubicBezTo>
                <a:lnTo>
                  <a:pt x="685800" y="165100"/>
                </a:lnTo>
                <a:cubicBezTo>
                  <a:pt x="685800" y="200215"/>
                  <a:pt x="657352" y="228600"/>
                  <a:pt x="622300" y="228600"/>
                </a:cubicBezTo>
                <a:lnTo>
                  <a:pt x="63500" y="228600"/>
                </a:lnTo>
                <a:cubicBezTo>
                  <a:pt x="28448" y="228600"/>
                  <a:pt x="0" y="200215"/>
                  <a:pt x="0" y="1651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2468B6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v-4"/>
          <p:cNvSpPr txBox="1"/>
          <p:nvPr/>
        </p:nvSpPr>
        <p:spPr>
          <a:xfrm>
            <a:off x="5344414" y="1725735"/>
            <a:ext cx="31889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20">
                <a:solidFill>
                  <a:srgbClr val="2468B6"/>
                </a:solidFill>
                <a:latin typeface="Arial"/>
                <a:ea typeface="Arial"/>
                <a:cs typeface="Arial"/>
              </a:rPr>
              <a:t>+74</a:t>
            </a:r>
          </a:p>
        </p:txBody>
      </p:sp>
      <p:sp>
        <p:nvSpPr>
          <p:cNvPr id="42" name="lab-4"/>
          <p:cNvSpPr txBox="1"/>
          <p:nvPr/>
        </p:nvSpPr>
        <p:spPr>
          <a:xfrm>
            <a:off x="5223986" y="496816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新品贡献</a:t>
            </a:r>
          </a:p>
        </p:txBody>
      </p:sp>
      <p:sp>
        <p:nvSpPr>
          <p:cNvPr id="43" name="bar-5"/>
          <p:cNvSpPr/>
          <p:nvPr/>
        </p:nvSpPr>
        <p:spPr>
          <a:xfrm>
            <a:off x="6281738" y="2014410"/>
            <a:ext cx="812800" cy="555625"/>
          </a:xfrm>
          <a:custGeom>
            <a:avLst/>
            <a:gdLst/>
            <a:ahLst/>
            <a:cxnLst/>
            <a:rect l="0" t="0" r="r" b="b"/>
            <a:pathLst>
              <a:path w="812800" h="555625">
                <a:moveTo>
                  <a:pt x="63500" y="0"/>
                </a:moveTo>
                <a:lnTo>
                  <a:pt x="749300" y="0"/>
                </a:lnTo>
                <a:cubicBezTo>
                  <a:pt x="784352" y="0"/>
                  <a:pt x="812800" y="28448"/>
                  <a:pt x="812800" y="63500"/>
                </a:cubicBezTo>
                <a:lnTo>
                  <a:pt x="812800" y="492125"/>
                </a:lnTo>
                <a:cubicBezTo>
                  <a:pt x="812800" y="527177"/>
                  <a:pt x="784352" y="555625"/>
                  <a:pt x="749300" y="555625"/>
                </a:cubicBezTo>
                <a:lnTo>
                  <a:pt x="63500" y="555625"/>
                </a:lnTo>
                <a:cubicBezTo>
                  <a:pt x="28448" y="555625"/>
                  <a:pt x="0" y="527177"/>
                  <a:pt x="0" y="492125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E78F65"/>
              </a:gs>
              <a:gs pos="100000">
                <a:srgbClr val="E0703A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vchip-5"/>
          <p:cNvSpPr/>
          <p:nvPr/>
        </p:nvSpPr>
        <p:spPr>
          <a:xfrm>
            <a:off x="6345238" y="1709610"/>
            <a:ext cx="685800" cy="228600"/>
          </a:xfrm>
          <a:custGeom>
            <a:avLst/>
            <a:gdLst/>
            <a:ahLst/>
            <a:cxnLst/>
            <a:rect l="0" t="0" r="r" b="b"/>
            <a:pathLst>
              <a:path w="685800" h="228600">
                <a:moveTo>
                  <a:pt x="63500" y="0"/>
                </a:moveTo>
                <a:lnTo>
                  <a:pt x="622300" y="0"/>
                </a:lnTo>
                <a:cubicBezTo>
                  <a:pt x="657352" y="0"/>
                  <a:pt x="685800" y="28448"/>
                  <a:pt x="685800" y="63500"/>
                </a:cubicBezTo>
                <a:lnTo>
                  <a:pt x="685800" y="165100"/>
                </a:lnTo>
                <a:cubicBezTo>
                  <a:pt x="685800" y="200215"/>
                  <a:pt x="657352" y="228600"/>
                  <a:pt x="622300" y="228600"/>
                </a:cubicBezTo>
                <a:lnTo>
                  <a:pt x="63500" y="228600"/>
                </a:lnTo>
                <a:cubicBezTo>
                  <a:pt x="28448" y="228600"/>
                  <a:pt x="0" y="200215"/>
                  <a:pt x="0" y="1651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v-5"/>
          <p:cNvSpPr txBox="1"/>
          <p:nvPr/>
        </p:nvSpPr>
        <p:spPr>
          <a:xfrm>
            <a:off x="6493637" y="1725735"/>
            <a:ext cx="389001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20">
                <a:solidFill>
                  <a:srgbClr val="E0703A"/>
                </a:solidFill>
                <a:latin typeface="Arial"/>
                <a:ea typeface="Arial"/>
                <a:cs typeface="Arial"/>
              </a:rPr>
              <a:t>-132</a:t>
            </a:r>
          </a:p>
        </p:txBody>
      </p:sp>
      <p:sp>
        <p:nvSpPr>
          <p:cNvPr id="46" name="lab-5"/>
          <p:cNvSpPr txBox="1"/>
          <p:nvPr/>
        </p:nvSpPr>
        <p:spPr>
          <a:xfrm>
            <a:off x="6408261" y="496816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人力成本</a:t>
            </a:r>
          </a:p>
        </p:txBody>
      </p:sp>
      <p:sp>
        <p:nvSpPr>
          <p:cNvPr id="47" name="bar-6"/>
          <p:cNvSpPr/>
          <p:nvPr/>
        </p:nvSpPr>
        <p:spPr>
          <a:xfrm>
            <a:off x="7466012" y="2570036"/>
            <a:ext cx="812800" cy="362013"/>
          </a:xfrm>
          <a:custGeom>
            <a:avLst/>
            <a:gdLst/>
            <a:ahLst/>
            <a:cxnLst/>
            <a:rect l="0" t="0" r="r" b="b"/>
            <a:pathLst>
              <a:path w="812800" h="362013">
                <a:moveTo>
                  <a:pt x="63500" y="0"/>
                </a:moveTo>
                <a:lnTo>
                  <a:pt x="749300" y="0"/>
                </a:lnTo>
                <a:cubicBezTo>
                  <a:pt x="784352" y="0"/>
                  <a:pt x="812800" y="28448"/>
                  <a:pt x="812800" y="63500"/>
                </a:cubicBezTo>
                <a:lnTo>
                  <a:pt x="812800" y="298513"/>
                </a:lnTo>
                <a:cubicBezTo>
                  <a:pt x="812800" y="333565"/>
                  <a:pt x="784352" y="362013"/>
                  <a:pt x="749300" y="362013"/>
                </a:cubicBezTo>
                <a:lnTo>
                  <a:pt x="63500" y="362013"/>
                </a:lnTo>
                <a:cubicBezTo>
                  <a:pt x="28448" y="362013"/>
                  <a:pt x="0" y="333565"/>
                  <a:pt x="0" y="298513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E78F65"/>
              </a:gs>
              <a:gs pos="100000">
                <a:srgbClr val="E0703A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vchip-6"/>
          <p:cNvSpPr/>
          <p:nvPr/>
        </p:nvSpPr>
        <p:spPr>
          <a:xfrm>
            <a:off x="7529512" y="2265236"/>
            <a:ext cx="685800" cy="228600"/>
          </a:xfrm>
          <a:custGeom>
            <a:avLst/>
            <a:gdLst/>
            <a:ahLst/>
            <a:cxnLst/>
            <a:rect l="0" t="0" r="r" b="b"/>
            <a:pathLst>
              <a:path w="685800" h="228600">
                <a:moveTo>
                  <a:pt x="63500" y="0"/>
                </a:moveTo>
                <a:lnTo>
                  <a:pt x="622300" y="0"/>
                </a:lnTo>
                <a:cubicBezTo>
                  <a:pt x="657352" y="0"/>
                  <a:pt x="685800" y="28448"/>
                  <a:pt x="685800" y="63500"/>
                </a:cubicBezTo>
                <a:lnTo>
                  <a:pt x="685800" y="165100"/>
                </a:lnTo>
                <a:cubicBezTo>
                  <a:pt x="685800" y="200152"/>
                  <a:pt x="657352" y="228600"/>
                  <a:pt x="622300" y="228600"/>
                </a:cubicBezTo>
                <a:lnTo>
                  <a:pt x="63500" y="228600"/>
                </a:lnTo>
                <a:cubicBezTo>
                  <a:pt x="28448" y="228600"/>
                  <a:pt x="0" y="200152"/>
                  <a:pt x="0" y="1651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v-6"/>
          <p:cNvSpPr txBox="1"/>
          <p:nvPr/>
        </p:nvSpPr>
        <p:spPr>
          <a:xfrm>
            <a:off x="7712964" y="2281342"/>
            <a:ext cx="31889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20">
                <a:solidFill>
                  <a:srgbClr val="E0703A"/>
                </a:solidFill>
                <a:latin typeface="Arial"/>
                <a:ea typeface="Arial"/>
                <a:cs typeface="Arial"/>
              </a:rPr>
              <a:t>-86</a:t>
            </a:r>
          </a:p>
        </p:txBody>
      </p:sp>
      <p:sp>
        <p:nvSpPr>
          <p:cNvPr id="50" name="lab-6"/>
          <p:cNvSpPr txBox="1"/>
          <p:nvPr/>
        </p:nvSpPr>
        <p:spPr>
          <a:xfrm>
            <a:off x="7592536" y="496816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渠道费用</a:t>
            </a:r>
          </a:p>
        </p:txBody>
      </p:sp>
      <p:sp>
        <p:nvSpPr>
          <p:cNvPr id="51" name="bar-7"/>
          <p:cNvSpPr/>
          <p:nvPr/>
        </p:nvSpPr>
        <p:spPr>
          <a:xfrm>
            <a:off x="8650288" y="2932049"/>
            <a:ext cx="812800" cy="269367"/>
          </a:xfrm>
          <a:custGeom>
            <a:avLst/>
            <a:gdLst/>
            <a:ahLst/>
            <a:cxnLst/>
            <a:rect l="0" t="0" r="r" b="b"/>
            <a:pathLst>
              <a:path w="812800" h="269367">
                <a:moveTo>
                  <a:pt x="63500" y="0"/>
                </a:moveTo>
                <a:lnTo>
                  <a:pt x="749300" y="0"/>
                </a:lnTo>
                <a:cubicBezTo>
                  <a:pt x="784352" y="0"/>
                  <a:pt x="812800" y="28384"/>
                  <a:pt x="812800" y="63500"/>
                </a:cubicBezTo>
                <a:lnTo>
                  <a:pt x="812800" y="205867"/>
                </a:lnTo>
                <a:cubicBezTo>
                  <a:pt x="812800" y="240919"/>
                  <a:pt x="784352" y="269367"/>
                  <a:pt x="749300" y="269367"/>
                </a:cubicBezTo>
                <a:lnTo>
                  <a:pt x="63500" y="269367"/>
                </a:lnTo>
                <a:cubicBezTo>
                  <a:pt x="28448" y="269367"/>
                  <a:pt x="0" y="240919"/>
                  <a:pt x="0" y="205867"/>
                </a:cubicBezTo>
                <a:lnTo>
                  <a:pt x="0" y="63500"/>
                </a:lnTo>
                <a:cubicBezTo>
                  <a:pt x="0" y="28384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E78F65"/>
              </a:gs>
              <a:gs pos="100000">
                <a:srgbClr val="E0703A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vchip-7"/>
          <p:cNvSpPr/>
          <p:nvPr/>
        </p:nvSpPr>
        <p:spPr>
          <a:xfrm>
            <a:off x="8713788" y="2627249"/>
            <a:ext cx="685800" cy="228600"/>
          </a:xfrm>
          <a:custGeom>
            <a:avLst/>
            <a:gdLst/>
            <a:ahLst/>
            <a:cxnLst/>
            <a:rect l="0" t="0" r="r" b="b"/>
            <a:pathLst>
              <a:path w="685800" h="228600">
                <a:moveTo>
                  <a:pt x="63500" y="0"/>
                </a:moveTo>
                <a:lnTo>
                  <a:pt x="622300" y="0"/>
                </a:lnTo>
                <a:cubicBezTo>
                  <a:pt x="657352" y="0"/>
                  <a:pt x="685800" y="28384"/>
                  <a:pt x="685800" y="63500"/>
                </a:cubicBezTo>
                <a:lnTo>
                  <a:pt x="685800" y="165100"/>
                </a:lnTo>
                <a:cubicBezTo>
                  <a:pt x="685800" y="200152"/>
                  <a:pt x="657352" y="228600"/>
                  <a:pt x="622300" y="228600"/>
                </a:cubicBezTo>
                <a:lnTo>
                  <a:pt x="63500" y="228600"/>
                </a:lnTo>
                <a:cubicBezTo>
                  <a:pt x="28448" y="228600"/>
                  <a:pt x="0" y="200152"/>
                  <a:pt x="0" y="165100"/>
                </a:cubicBezTo>
                <a:lnTo>
                  <a:pt x="0" y="63500"/>
                </a:lnTo>
                <a:cubicBezTo>
                  <a:pt x="0" y="28384"/>
                  <a:pt x="28448" y="0"/>
                  <a:pt x="6350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v-7"/>
          <p:cNvSpPr txBox="1"/>
          <p:nvPr/>
        </p:nvSpPr>
        <p:spPr>
          <a:xfrm>
            <a:off x="8897239" y="2643328"/>
            <a:ext cx="31889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20">
                <a:solidFill>
                  <a:srgbClr val="E0703A"/>
                </a:solidFill>
                <a:latin typeface="Arial"/>
                <a:ea typeface="Arial"/>
                <a:cs typeface="Arial"/>
              </a:rPr>
              <a:t>-64</a:t>
            </a:r>
          </a:p>
        </p:txBody>
      </p:sp>
      <p:sp>
        <p:nvSpPr>
          <p:cNvPr id="54" name="lab-7"/>
          <p:cNvSpPr txBox="1"/>
          <p:nvPr/>
        </p:nvSpPr>
        <p:spPr>
          <a:xfrm>
            <a:off x="8776811" y="496816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研发投入</a:t>
            </a:r>
          </a:p>
        </p:txBody>
      </p:sp>
      <p:sp>
        <p:nvSpPr>
          <p:cNvPr id="55" name="bar-8"/>
          <p:cNvSpPr/>
          <p:nvPr/>
        </p:nvSpPr>
        <p:spPr>
          <a:xfrm>
            <a:off x="9834562" y="3201416"/>
            <a:ext cx="812800" cy="1649984"/>
          </a:xfrm>
          <a:custGeom>
            <a:avLst/>
            <a:gdLst/>
            <a:ahLst/>
            <a:cxnLst/>
            <a:rect l="0" t="0" r="r" b="b"/>
            <a:pathLst>
              <a:path w="812800" h="1649984">
                <a:moveTo>
                  <a:pt x="63500" y="0"/>
                </a:moveTo>
                <a:lnTo>
                  <a:pt x="749300" y="0"/>
                </a:lnTo>
                <a:cubicBezTo>
                  <a:pt x="784352" y="0"/>
                  <a:pt x="812800" y="28448"/>
                  <a:pt x="812800" y="63500"/>
                </a:cubicBezTo>
                <a:lnTo>
                  <a:pt x="812800" y="1586484"/>
                </a:lnTo>
                <a:cubicBezTo>
                  <a:pt x="812800" y="1621536"/>
                  <a:pt x="784352" y="1649984"/>
                  <a:pt x="749300" y="1649984"/>
                </a:cubicBezTo>
                <a:lnTo>
                  <a:pt x="63500" y="1649984"/>
                </a:lnTo>
                <a:cubicBezTo>
                  <a:pt x="28448" y="1649984"/>
                  <a:pt x="0" y="1621536"/>
                  <a:pt x="0" y="1586484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3761A3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vchip-8"/>
          <p:cNvSpPr/>
          <p:nvPr/>
        </p:nvSpPr>
        <p:spPr>
          <a:xfrm>
            <a:off x="9898062" y="2896616"/>
            <a:ext cx="685800" cy="228600"/>
          </a:xfrm>
          <a:custGeom>
            <a:avLst/>
            <a:gdLst/>
            <a:ahLst/>
            <a:cxnLst/>
            <a:rect l="0" t="0" r="r" b="b"/>
            <a:pathLst>
              <a:path w="685800" h="228600">
                <a:moveTo>
                  <a:pt x="63500" y="0"/>
                </a:moveTo>
                <a:lnTo>
                  <a:pt x="622300" y="0"/>
                </a:lnTo>
                <a:cubicBezTo>
                  <a:pt x="657352" y="0"/>
                  <a:pt x="685800" y="28448"/>
                  <a:pt x="685800" y="63500"/>
                </a:cubicBezTo>
                <a:lnTo>
                  <a:pt x="685800" y="165100"/>
                </a:lnTo>
                <a:cubicBezTo>
                  <a:pt x="685800" y="200152"/>
                  <a:pt x="657352" y="228600"/>
                  <a:pt x="622300" y="228600"/>
                </a:cubicBezTo>
                <a:lnTo>
                  <a:pt x="63500" y="228600"/>
                </a:lnTo>
                <a:cubicBezTo>
                  <a:pt x="28448" y="228600"/>
                  <a:pt x="0" y="200152"/>
                  <a:pt x="0" y="1651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v-8"/>
          <p:cNvSpPr txBox="1"/>
          <p:nvPr/>
        </p:nvSpPr>
        <p:spPr>
          <a:xfrm>
            <a:off x="10081514" y="2912713"/>
            <a:ext cx="31889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20">
                <a:solidFill>
                  <a:srgbClr val="0B3E8F"/>
                </a:solidFill>
                <a:latin typeface="Arial"/>
                <a:ea typeface="Arial"/>
                <a:cs typeface="Arial"/>
              </a:rPr>
              <a:t>392</a:t>
            </a:r>
          </a:p>
        </p:txBody>
      </p:sp>
      <p:sp>
        <p:nvSpPr>
          <p:cNvPr id="58" name="lab-8"/>
          <p:cNvSpPr txBox="1"/>
          <p:nvPr/>
        </p:nvSpPr>
        <p:spPr>
          <a:xfrm>
            <a:off x="9961086" y="496816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今年净利</a:t>
            </a:r>
          </a:p>
        </p:txBody>
      </p:sp>
      <p:sp>
        <p:nvSpPr>
          <p:cNvPr id="59" name="labs-8"/>
          <p:cNvSpPr txBox="1"/>
          <p:nvPr/>
        </p:nvSpPr>
        <p:spPr>
          <a:xfrm>
            <a:off x="10105708" y="5173408"/>
            <a:ext cx="2705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结果</a:t>
            </a:r>
          </a:p>
        </p:txBody>
      </p:sp>
      <p:cxnSp>
        <p:nvCxnSpPr>
          <p:cNvPr id="60" name="conn-1"/>
          <p:cNvCxnSpPr/>
          <p:nvPr/>
        </p:nvCxnSpPr>
        <p:spPr>
          <a:xfrm>
            <a:off x="2357438" y="3647585"/>
            <a:ext cx="371474" cy="0"/>
          </a:xfrm>
          <a:prstGeom prst="line">
            <a:avLst/>
          </a:prstGeom>
          <a:ln w="7620" cap="rnd">
            <a:solidFill>
              <a:srgbClr val="0B2545">
                <a:alpha val="2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n-2"/>
          <p:cNvCxnSpPr/>
          <p:nvPr/>
        </p:nvCxnSpPr>
        <p:spPr>
          <a:xfrm>
            <a:off x="3541712" y="2729992"/>
            <a:ext cx="371476" cy="0"/>
          </a:xfrm>
          <a:prstGeom prst="line">
            <a:avLst/>
          </a:prstGeom>
          <a:ln w="7620" cap="rnd">
            <a:solidFill>
              <a:srgbClr val="0B2545">
                <a:alpha val="2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n-3"/>
          <p:cNvCxnSpPr/>
          <p:nvPr/>
        </p:nvCxnSpPr>
        <p:spPr>
          <a:xfrm>
            <a:off x="4725988" y="2325914"/>
            <a:ext cx="371474" cy="0"/>
          </a:xfrm>
          <a:prstGeom prst="line">
            <a:avLst/>
          </a:prstGeom>
          <a:ln w="7620" cap="rnd">
            <a:solidFill>
              <a:srgbClr val="0B2545">
                <a:alpha val="2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n-4"/>
          <p:cNvCxnSpPr/>
          <p:nvPr/>
        </p:nvCxnSpPr>
        <p:spPr>
          <a:xfrm>
            <a:off x="5910262" y="2014438"/>
            <a:ext cx="371476" cy="0"/>
          </a:xfrm>
          <a:prstGeom prst="line">
            <a:avLst/>
          </a:prstGeom>
          <a:ln w="7620" cap="rnd">
            <a:solidFill>
              <a:srgbClr val="0B2545">
                <a:alpha val="2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n-5"/>
          <p:cNvCxnSpPr/>
          <p:nvPr/>
        </p:nvCxnSpPr>
        <p:spPr>
          <a:xfrm>
            <a:off x="7094538" y="2570045"/>
            <a:ext cx="371474" cy="0"/>
          </a:xfrm>
          <a:prstGeom prst="line">
            <a:avLst/>
          </a:prstGeom>
          <a:ln w="7620" cap="rnd">
            <a:solidFill>
              <a:srgbClr val="0B2545">
                <a:alpha val="2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n-6"/>
          <p:cNvCxnSpPr/>
          <p:nvPr/>
        </p:nvCxnSpPr>
        <p:spPr>
          <a:xfrm>
            <a:off x="8278812" y="2932031"/>
            <a:ext cx="371476" cy="0"/>
          </a:xfrm>
          <a:prstGeom prst="line">
            <a:avLst/>
          </a:prstGeom>
          <a:ln w="7620" cap="rnd">
            <a:solidFill>
              <a:srgbClr val="0B2545">
                <a:alpha val="2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n-7"/>
          <p:cNvCxnSpPr/>
          <p:nvPr/>
        </p:nvCxnSpPr>
        <p:spPr>
          <a:xfrm>
            <a:off x="9463088" y="3201416"/>
            <a:ext cx="371474" cy="0"/>
          </a:xfrm>
          <a:prstGeom prst="line">
            <a:avLst/>
          </a:prstGeom>
          <a:ln w="7620" cap="rnd">
            <a:solidFill>
              <a:srgbClr val="0B2545">
                <a:alpha val="2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7" name="hd-bar"/>
          <p:cNvSpPr/>
          <p:nvPr/>
        </p:nvSpPr>
        <p:spPr>
          <a:xfrm>
            <a:off x="952500" y="1244600"/>
            <a:ext cx="25400" cy="4826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hd-h"/>
          <p:cNvSpPr txBox="1"/>
          <p:nvPr/>
        </p:nvSpPr>
        <p:spPr>
          <a:xfrm>
            <a:off x="1102360" y="1278255"/>
            <a:ext cx="6731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净利变动</a:t>
            </a:r>
          </a:p>
        </p:txBody>
      </p:sp>
      <p:sp>
        <p:nvSpPr>
          <p:cNvPr id="69" name="hd-p"/>
          <p:cNvSpPr txBox="1"/>
          <p:nvPr/>
        </p:nvSpPr>
        <p:spPr>
          <a:xfrm>
            <a:off x="1104265" y="1501061"/>
            <a:ext cx="18989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286 → 392，净增 106（+37.1%）</a:t>
            </a:r>
          </a:p>
        </p:txBody>
      </p:sp>
      <p:sp>
        <p:nvSpPr>
          <p:cNvPr id="70" name="sum"/>
          <p:cNvSpPr/>
          <p:nvPr/>
        </p:nvSpPr>
        <p:spPr>
          <a:xfrm>
            <a:off x="952500" y="5461000"/>
            <a:ext cx="10287000" cy="762000"/>
          </a:xfrm>
          <a:custGeom>
            <a:avLst/>
            <a:gdLst/>
            <a:ahLst/>
            <a:cxnLst/>
            <a:rect l="0" t="0" r="r" b="b"/>
            <a:pathLst>
              <a:path w="10287000" h="762000">
                <a:moveTo>
                  <a:pt x="114300" y="0"/>
                </a:moveTo>
                <a:lnTo>
                  <a:pt x="10172700" y="0"/>
                </a:lnTo>
                <a:cubicBezTo>
                  <a:pt x="10235819" y="0"/>
                  <a:pt x="10287000" y="51181"/>
                  <a:pt x="10287000" y="114300"/>
                </a:cubicBezTo>
                <a:lnTo>
                  <a:pt x="10287000" y="647700"/>
                </a:lnTo>
                <a:cubicBezTo>
                  <a:pt x="10287000" y="710819"/>
                  <a:pt x="10235819" y="762000"/>
                  <a:pt x="10172700" y="762000"/>
                </a:cubicBezTo>
                <a:lnTo>
                  <a:pt x="114300" y="762000"/>
                </a:lnTo>
                <a:cubicBezTo>
                  <a:pt x="51181" y="762000"/>
                  <a:pt x="0" y="710819"/>
                  <a:pt x="0" y="647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sum-bar"/>
          <p:cNvSpPr/>
          <p:nvPr/>
        </p:nvSpPr>
        <p:spPr>
          <a:xfrm>
            <a:off x="952500" y="5461000"/>
            <a:ext cx="31750" cy="7620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sum-h"/>
          <p:cNvSpPr txBox="1"/>
          <p:nvPr/>
        </p:nvSpPr>
        <p:spPr>
          <a:xfrm>
            <a:off x="1141222" y="55913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桥梁解读</a:t>
            </a:r>
          </a:p>
        </p:txBody>
      </p:sp>
      <p:sp>
        <p:nvSpPr>
          <p:cNvPr id="73" name="sum-p1"/>
          <p:cNvSpPr txBox="1"/>
          <p:nvPr/>
        </p:nvSpPr>
        <p:spPr>
          <a:xfrm>
            <a:off x="1142365" y="5819061"/>
            <a:ext cx="233902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正向贡献合计 +388，负向侵蚀合计 -282，</a:t>
            </a:r>
          </a:p>
        </p:txBody>
      </p:sp>
      <p:sp>
        <p:nvSpPr>
          <p:cNvPr id="74" name="sum-p2"/>
          <p:cNvSpPr txBox="1"/>
          <p:nvPr/>
        </p:nvSpPr>
        <p:spPr>
          <a:xfrm>
            <a:off x="1142365" y="5984161"/>
            <a:ext cx="180498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其中人力成本是最大的单项拖累。</a:t>
            </a:r>
          </a:p>
        </p:txBody>
      </p:sp>
      <p:sp>
        <p:nvSpPr>
          <p:cNvPr id="75" name="sc-1"/>
          <p:cNvSpPr/>
          <p:nvPr/>
        </p:nvSpPr>
        <p:spPr>
          <a:xfrm>
            <a:off x="5080000" y="5613400"/>
            <a:ext cx="1346200" cy="457200"/>
          </a:xfrm>
          <a:custGeom>
            <a:avLst/>
            <a:gdLst/>
            <a:ahLst/>
            <a:cxnLst/>
            <a:rect l="0" t="0" r="r" b="b"/>
            <a:pathLst>
              <a:path w="1346200" h="457200">
                <a:moveTo>
                  <a:pt x="88900" y="0"/>
                </a:moveTo>
                <a:lnTo>
                  <a:pt x="1257300" y="0"/>
                </a:lnTo>
                <a:cubicBezTo>
                  <a:pt x="1306386" y="0"/>
                  <a:pt x="1346200" y="39814"/>
                  <a:pt x="1346200" y="88900"/>
                </a:cubicBezTo>
                <a:lnTo>
                  <a:pt x="1346200" y="368300"/>
                </a:lnTo>
                <a:cubicBezTo>
                  <a:pt x="1346200" y="417386"/>
                  <a:pt x="1306386" y="457200"/>
                  <a:pt x="1257300" y="457200"/>
                </a:cubicBezTo>
                <a:lnTo>
                  <a:pt x="88900" y="457200"/>
                </a:lnTo>
                <a:cubicBezTo>
                  <a:pt x="39814" y="457200"/>
                  <a:pt x="0" y="417386"/>
                  <a:pt x="0" y="3683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scb-1"/>
          <p:cNvSpPr/>
          <p:nvPr/>
        </p:nvSpPr>
        <p:spPr>
          <a:xfrm>
            <a:off x="5080000" y="5613400"/>
            <a:ext cx="31750" cy="457200"/>
          </a:xfrm>
          <a:custGeom>
            <a:avLst/>
            <a:gdLst/>
            <a:ahLst/>
            <a:cxnLst/>
            <a:rect l="0" t="0" r="r" b="b"/>
            <a:pathLst>
              <a:path w="31750" h="457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41325"/>
                </a:lnTo>
                <a:cubicBezTo>
                  <a:pt x="31750" y="450088"/>
                  <a:pt x="24638" y="457200"/>
                  <a:pt x="15875" y="457200"/>
                </a:cubicBezTo>
                <a:lnTo>
                  <a:pt x="15875" y="457200"/>
                </a:lnTo>
                <a:cubicBezTo>
                  <a:pt x="7112" y="457200"/>
                  <a:pt x="0" y="450088"/>
                  <a:pt x="0" y="441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scv-1"/>
          <p:cNvSpPr txBox="1"/>
          <p:nvPr/>
        </p:nvSpPr>
        <p:spPr>
          <a:xfrm>
            <a:off x="5225288" y="5650802"/>
            <a:ext cx="531114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25">
                <a:solidFill>
                  <a:srgbClr val="1B5AA8"/>
                </a:solidFill>
                <a:latin typeface="Arial"/>
                <a:ea typeface="Arial"/>
                <a:cs typeface="Arial"/>
              </a:rPr>
              <a:t>+388</a:t>
            </a:r>
          </a:p>
        </p:txBody>
      </p:sp>
      <p:sp>
        <p:nvSpPr>
          <p:cNvPr id="78" name="scl-1"/>
          <p:cNvSpPr txBox="1"/>
          <p:nvPr/>
        </p:nvSpPr>
        <p:spPr>
          <a:xfrm>
            <a:off x="5234432" y="5897308"/>
            <a:ext cx="4457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正向合计</a:t>
            </a:r>
          </a:p>
        </p:txBody>
      </p:sp>
      <p:sp>
        <p:nvSpPr>
          <p:cNvPr id="79" name="sc-2"/>
          <p:cNvSpPr/>
          <p:nvPr/>
        </p:nvSpPr>
        <p:spPr>
          <a:xfrm>
            <a:off x="6642100" y="5613400"/>
            <a:ext cx="1346200" cy="457200"/>
          </a:xfrm>
          <a:custGeom>
            <a:avLst/>
            <a:gdLst/>
            <a:ahLst/>
            <a:cxnLst/>
            <a:rect l="0" t="0" r="r" b="b"/>
            <a:pathLst>
              <a:path w="1346200" h="457200">
                <a:moveTo>
                  <a:pt x="88900" y="0"/>
                </a:moveTo>
                <a:lnTo>
                  <a:pt x="1257300" y="0"/>
                </a:lnTo>
                <a:cubicBezTo>
                  <a:pt x="1306386" y="0"/>
                  <a:pt x="1346200" y="39814"/>
                  <a:pt x="1346200" y="88900"/>
                </a:cubicBezTo>
                <a:lnTo>
                  <a:pt x="1346200" y="368300"/>
                </a:lnTo>
                <a:cubicBezTo>
                  <a:pt x="1346200" y="417386"/>
                  <a:pt x="1306386" y="457200"/>
                  <a:pt x="1257300" y="457200"/>
                </a:cubicBezTo>
                <a:lnTo>
                  <a:pt x="88900" y="457200"/>
                </a:lnTo>
                <a:cubicBezTo>
                  <a:pt x="39814" y="457200"/>
                  <a:pt x="0" y="417386"/>
                  <a:pt x="0" y="3683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scb-2"/>
          <p:cNvSpPr/>
          <p:nvPr/>
        </p:nvSpPr>
        <p:spPr>
          <a:xfrm>
            <a:off x="6642100" y="5613400"/>
            <a:ext cx="31750" cy="457200"/>
          </a:xfrm>
          <a:custGeom>
            <a:avLst/>
            <a:gdLst/>
            <a:ahLst/>
            <a:cxnLst/>
            <a:rect l="0" t="0" r="r" b="b"/>
            <a:pathLst>
              <a:path w="31750" h="457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41325"/>
                </a:lnTo>
                <a:cubicBezTo>
                  <a:pt x="31750" y="450088"/>
                  <a:pt x="24638" y="457200"/>
                  <a:pt x="15875" y="457200"/>
                </a:cubicBezTo>
                <a:lnTo>
                  <a:pt x="15875" y="457200"/>
                </a:lnTo>
                <a:cubicBezTo>
                  <a:pt x="7112" y="457200"/>
                  <a:pt x="0" y="450088"/>
                  <a:pt x="0" y="441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scv-2"/>
          <p:cNvSpPr txBox="1"/>
          <p:nvPr/>
        </p:nvSpPr>
        <p:spPr>
          <a:xfrm>
            <a:off x="6787388" y="5650802"/>
            <a:ext cx="531114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25">
                <a:solidFill>
                  <a:srgbClr val="E0703A"/>
                </a:solidFill>
                <a:latin typeface="Arial"/>
                <a:ea typeface="Arial"/>
                <a:cs typeface="Arial"/>
              </a:rPr>
              <a:t>-282</a:t>
            </a:r>
          </a:p>
        </p:txBody>
      </p:sp>
      <p:sp>
        <p:nvSpPr>
          <p:cNvPr id="82" name="scl-2"/>
          <p:cNvSpPr txBox="1"/>
          <p:nvPr/>
        </p:nvSpPr>
        <p:spPr>
          <a:xfrm>
            <a:off x="6796532" y="5897308"/>
            <a:ext cx="4457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负向合计</a:t>
            </a:r>
          </a:p>
        </p:txBody>
      </p:sp>
      <p:sp>
        <p:nvSpPr>
          <p:cNvPr id="83" name="sc-3"/>
          <p:cNvSpPr/>
          <p:nvPr/>
        </p:nvSpPr>
        <p:spPr>
          <a:xfrm>
            <a:off x="8204200" y="5613400"/>
            <a:ext cx="1346200" cy="457200"/>
          </a:xfrm>
          <a:custGeom>
            <a:avLst/>
            <a:gdLst/>
            <a:ahLst/>
            <a:cxnLst/>
            <a:rect l="0" t="0" r="r" b="b"/>
            <a:pathLst>
              <a:path w="1346200" h="457200">
                <a:moveTo>
                  <a:pt x="88900" y="0"/>
                </a:moveTo>
                <a:lnTo>
                  <a:pt x="1257300" y="0"/>
                </a:lnTo>
                <a:cubicBezTo>
                  <a:pt x="1306386" y="0"/>
                  <a:pt x="1346200" y="39814"/>
                  <a:pt x="1346200" y="88900"/>
                </a:cubicBezTo>
                <a:lnTo>
                  <a:pt x="1346200" y="368300"/>
                </a:lnTo>
                <a:cubicBezTo>
                  <a:pt x="1346200" y="417386"/>
                  <a:pt x="1306386" y="457200"/>
                  <a:pt x="1257300" y="457200"/>
                </a:cubicBezTo>
                <a:lnTo>
                  <a:pt x="88900" y="457200"/>
                </a:lnTo>
                <a:cubicBezTo>
                  <a:pt x="39814" y="457200"/>
                  <a:pt x="0" y="417386"/>
                  <a:pt x="0" y="3683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scb-3"/>
          <p:cNvSpPr/>
          <p:nvPr/>
        </p:nvSpPr>
        <p:spPr>
          <a:xfrm>
            <a:off x="8204200" y="5613400"/>
            <a:ext cx="31750" cy="457200"/>
          </a:xfrm>
          <a:custGeom>
            <a:avLst/>
            <a:gdLst/>
            <a:ahLst/>
            <a:cxnLst/>
            <a:rect l="0" t="0" r="r" b="b"/>
            <a:pathLst>
              <a:path w="31750" h="457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41325"/>
                </a:lnTo>
                <a:cubicBezTo>
                  <a:pt x="31750" y="450088"/>
                  <a:pt x="24638" y="457200"/>
                  <a:pt x="15875" y="457200"/>
                </a:cubicBezTo>
                <a:lnTo>
                  <a:pt x="15875" y="457200"/>
                </a:lnTo>
                <a:cubicBezTo>
                  <a:pt x="7112" y="457200"/>
                  <a:pt x="0" y="450088"/>
                  <a:pt x="0" y="441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scv-3"/>
          <p:cNvSpPr txBox="1"/>
          <p:nvPr/>
        </p:nvSpPr>
        <p:spPr>
          <a:xfrm>
            <a:off x="8349488" y="5650802"/>
            <a:ext cx="531114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+106</a:t>
            </a:r>
          </a:p>
        </p:txBody>
      </p:sp>
      <p:sp>
        <p:nvSpPr>
          <p:cNvPr id="86" name="scl-3"/>
          <p:cNvSpPr txBox="1"/>
          <p:nvPr/>
        </p:nvSpPr>
        <p:spPr>
          <a:xfrm>
            <a:off x="8358632" y="5897308"/>
            <a:ext cx="3543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净增额</a:t>
            </a:r>
          </a:p>
        </p:txBody>
      </p:sp>
      <p:sp>
        <p:nvSpPr>
          <p:cNvPr id="87" name="sc-4"/>
          <p:cNvSpPr/>
          <p:nvPr/>
        </p:nvSpPr>
        <p:spPr>
          <a:xfrm>
            <a:off x="9766300" y="5613400"/>
            <a:ext cx="1346200" cy="457200"/>
          </a:xfrm>
          <a:custGeom>
            <a:avLst/>
            <a:gdLst/>
            <a:ahLst/>
            <a:cxnLst/>
            <a:rect l="0" t="0" r="r" b="b"/>
            <a:pathLst>
              <a:path w="1346200" h="457200">
                <a:moveTo>
                  <a:pt x="88900" y="0"/>
                </a:moveTo>
                <a:lnTo>
                  <a:pt x="1257300" y="0"/>
                </a:lnTo>
                <a:cubicBezTo>
                  <a:pt x="1306386" y="0"/>
                  <a:pt x="1346200" y="39814"/>
                  <a:pt x="1346200" y="88900"/>
                </a:cubicBezTo>
                <a:lnTo>
                  <a:pt x="1346200" y="368300"/>
                </a:lnTo>
                <a:cubicBezTo>
                  <a:pt x="1346200" y="417386"/>
                  <a:pt x="1306386" y="457200"/>
                  <a:pt x="1257300" y="457200"/>
                </a:cubicBezTo>
                <a:lnTo>
                  <a:pt x="88900" y="457200"/>
                </a:lnTo>
                <a:cubicBezTo>
                  <a:pt x="39814" y="457200"/>
                  <a:pt x="0" y="417386"/>
                  <a:pt x="0" y="3683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scb-4"/>
          <p:cNvSpPr/>
          <p:nvPr/>
        </p:nvSpPr>
        <p:spPr>
          <a:xfrm>
            <a:off x="9766300" y="5613400"/>
            <a:ext cx="31750" cy="457200"/>
          </a:xfrm>
          <a:custGeom>
            <a:avLst/>
            <a:gdLst/>
            <a:ahLst/>
            <a:cxnLst/>
            <a:rect l="0" t="0" r="r" b="b"/>
            <a:pathLst>
              <a:path w="31750" h="457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41325"/>
                </a:lnTo>
                <a:cubicBezTo>
                  <a:pt x="31750" y="450088"/>
                  <a:pt x="24638" y="457200"/>
                  <a:pt x="15875" y="457200"/>
                </a:cubicBezTo>
                <a:lnTo>
                  <a:pt x="15875" y="457200"/>
                </a:lnTo>
                <a:cubicBezTo>
                  <a:pt x="7112" y="457200"/>
                  <a:pt x="0" y="450088"/>
                  <a:pt x="0" y="441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scv-4"/>
          <p:cNvSpPr txBox="1"/>
          <p:nvPr/>
        </p:nvSpPr>
        <p:spPr>
          <a:xfrm>
            <a:off x="9911588" y="5650802"/>
            <a:ext cx="722376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+37.1%</a:t>
            </a:r>
          </a:p>
        </p:txBody>
      </p:sp>
      <p:sp>
        <p:nvSpPr>
          <p:cNvPr id="90" name="scl-4"/>
          <p:cNvSpPr txBox="1"/>
          <p:nvPr/>
        </p:nvSpPr>
        <p:spPr>
          <a:xfrm>
            <a:off x="9920732" y="5897308"/>
            <a:ext cx="4457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净利增幅</a:t>
            </a:r>
          </a:p>
        </p:txBody>
      </p:sp>
      <p:cxnSp>
        <p:nvCxnSpPr>
          <p:cNvPr id="91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2" name="foot-l"/>
          <p:cNvSpPr txBox="1"/>
          <p:nvPr/>
        </p:nvSpPr>
        <p:spPr>
          <a:xfrm>
            <a:off x="573532" y="6532308"/>
            <a:ext cx="9469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利润桥 · 八段瀑布</a:t>
            </a:r>
          </a:p>
        </p:txBody>
      </p:sp>
      <p:sp>
        <p:nvSpPr>
          <p:cNvPr id="93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年度目标完成度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08165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GAUGE BOARD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580499" y="673132"/>
            <a:ext cx="20402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三项一级目标的实时完成率与达成节奏</a:t>
            </a:r>
          </a:p>
        </p:txBody>
      </p:sp>
      <p:sp>
        <p:nvSpPr>
          <p:cNvPr id="10" name="card-1"/>
          <p:cNvSpPr/>
          <p:nvPr/>
        </p:nvSpPr>
        <p:spPr>
          <a:xfrm>
            <a:off x="952500" y="1498600"/>
            <a:ext cx="3302000" cy="2870200"/>
          </a:xfrm>
          <a:custGeom>
            <a:avLst/>
            <a:gdLst/>
            <a:ahLst/>
            <a:cxnLst/>
            <a:rect l="0" t="0" r="r" b="b"/>
            <a:pathLst>
              <a:path w="3302000" h="2870200">
                <a:moveTo>
                  <a:pt x="139700" y="0"/>
                </a:moveTo>
                <a:lnTo>
                  <a:pt x="3162300" y="0"/>
                </a:lnTo>
                <a:cubicBezTo>
                  <a:pt x="3239452" y="0"/>
                  <a:pt x="3302000" y="62547"/>
                  <a:pt x="3302000" y="139700"/>
                </a:cubicBezTo>
                <a:lnTo>
                  <a:pt x="3302000" y="2730500"/>
                </a:lnTo>
                <a:cubicBezTo>
                  <a:pt x="3302000" y="2807652"/>
                  <a:pt x="3239452" y="2870200"/>
                  <a:pt x="3162300" y="2870200"/>
                </a:cubicBezTo>
                <a:lnTo>
                  <a:pt x="139700" y="2870200"/>
                </a:lnTo>
                <a:cubicBezTo>
                  <a:pt x="62547" y="2870200"/>
                  <a:pt x="0" y="2807652"/>
                  <a:pt x="0" y="2730500"/>
                </a:cubicBezTo>
                <a:lnTo>
                  <a:pt x="0" y="139700"/>
                </a:lnTo>
                <a:cubicBezTo>
                  <a:pt x="0" y="62547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cap-1"/>
          <p:cNvSpPr/>
          <p:nvPr/>
        </p:nvSpPr>
        <p:spPr>
          <a:xfrm>
            <a:off x="952500" y="1498600"/>
            <a:ext cx="3302000" cy="50800"/>
          </a:xfrm>
          <a:custGeom>
            <a:avLst/>
            <a:gdLst/>
            <a:ahLst/>
            <a:cxnLst/>
            <a:rect l="0" t="0" r="r" b="b"/>
            <a:pathLst>
              <a:path w="3302000" h="50800">
                <a:moveTo>
                  <a:pt x="25400" y="0"/>
                </a:moveTo>
                <a:lnTo>
                  <a:pt x="3276600" y="0"/>
                </a:lnTo>
                <a:cubicBezTo>
                  <a:pt x="3290634" y="0"/>
                  <a:pt x="3302000" y="11366"/>
                  <a:pt x="3302000" y="25400"/>
                </a:cubicBezTo>
                <a:lnTo>
                  <a:pt x="3302000" y="25400"/>
                </a:lnTo>
                <a:cubicBezTo>
                  <a:pt x="3302000" y="39434"/>
                  <a:pt x="3290634" y="50800"/>
                  <a:pt x="3276600" y="50800"/>
                </a:cubicBezTo>
                <a:lnTo>
                  <a:pt x="25400" y="50800"/>
                </a:lnTo>
                <a:cubicBezTo>
                  <a:pt x="11366" y="50800"/>
                  <a:pt x="0" y="39434"/>
                  <a:pt x="0" y="25400"/>
                </a:cubicBezTo>
                <a:lnTo>
                  <a:pt x="0" y="25400"/>
                </a:lnTo>
                <a:cubicBezTo>
                  <a:pt x="0" y="11366"/>
                  <a:pt x="11366" y="0"/>
                  <a:pt x="254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icon-coin"/>
          <p:cNvSpPr/>
          <p:nvPr/>
        </p:nvSpPr>
        <p:spPr>
          <a:xfrm>
            <a:off x="1235266" y="1838135"/>
            <a:ext cx="94869" cy="82931"/>
          </a:xfrm>
          <a:custGeom>
            <a:avLst/>
            <a:gdLst/>
            <a:ahLst/>
            <a:cxnLst/>
            <a:rect l="0" t="0" r="r" b="b"/>
            <a:pathLst>
              <a:path w="94869" h="82931">
                <a:moveTo>
                  <a:pt x="47434" y="0"/>
                </a:moveTo>
                <a:cubicBezTo>
                  <a:pt x="20765" y="0"/>
                  <a:pt x="0" y="7366"/>
                  <a:pt x="0" y="17780"/>
                </a:cubicBezTo>
                <a:cubicBezTo>
                  <a:pt x="0" y="28130"/>
                  <a:pt x="20765" y="35560"/>
                  <a:pt x="47434" y="35560"/>
                </a:cubicBezTo>
                <a:cubicBezTo>
                  <a:pt x="74104" y="35560"/>
                  <a:pt x="94869" y="28130"/>
                  <a:pt x="94869" y="17780"/>
                </a:cubicBezTo>
                <a:cubicBezTo>
                  <a:pt x="94869" y="7366"/>
                  <a:pt x="74104" y="0"/>
                  <a:pt x="47434" y="0"/>
                </a:cubicBezTo>
                <a:close/>
                <a:moveTo>
                  <a:pt x="0" y="17780"/>
                </a:moveTo>
                <a:lnTo>
                  <a:pt x="0" y="65151"/>
                </a:lnTo>
                <a:cubicBezTo>
                  <a:pt x="0" y="75565"/>
                  <a:pt x="20765" y="82931"/>
                  <a:pt x="47434" y="82931"/>
                </a:cubicBezTo>
                <a:cubicBezTo>
                  <a:pt x="74104" y="82931"/>
                  <a:pt x="94869" y="75565"/>
                  <a:pt x="94869" y="65151"/>
                </a:cubicBezTo>
                <a:lnTo>
                  <a:pt x="94869" y="17780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nm-1"/>
          <p:cNvSpPr txBox="1"/>
          <p:nvPr/>
        </p:nvSpPr>
        <p:spPr>
          <a:xfrm>
            <a:off x="1479550" y="1734344"/>
            <a:ext cx="8413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营收目标</a:t>
            </a:r>
          </a:p>
        </p:txBody>
      </p:sp>
      <p:sp>
        <p:nvSpPr>
          <p:cNvPr id="14" name="tg-1"/>
          <p:cNvSpPr txBox="1"/>
          <p:nvPr/>
        </p:nvSpPr>
        <p:spPr>
          <a:xfrm>
            <a:off x="3263710" y="1803987"/>
            <a:ext cx="78594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目标 15.2 亿元</a:t>
            </a:r>
          </a:p>
        </p:txBody>
      </p:sp>
      <p:sp>
        <p:nvSpPr>
          <p:cNvPr id="15" name="gbg-1"/>
          <p:cNvSpPr/>
          <p:nvPr/>
        </p:nvSpPr>
        <p:spPr>
          <a:xfrm>
            <a:off x="1569276" y="2758561"/>
            <a:ext cx="2068449" cy="881112"/>
          </a:xfrm>
          <a:custGeom>
            <a:avLst/>
            <a:gdLst/>
            <a:ahLst/>
            <a:cxnLst/>
            <a:rect l="0" t="0" r="r" b="b"/>
            <a:pathLst>
              <a:path w="2068449" h="881112">
                <a:moveTo>
                  <a:pt x="0" y="805186"/>
                </a:moveTo>
                <a:cubicBezTo>
                  <a:pt x="119775" y="331686"/>
                  <a:pt x="545810" y="0"/>
                  <a:pt x="1034224" y="0"/>
                </a:cubicBezTo>
                <a:cubicBezTo>
                  <a:pt x="1522639" y="0"/>
                  <a:pt x="1948674" y="331686"/>
                  <a:pt x="2068449" y="805186"/>
                </a:cubicBezTo>
                <a:quadBezTo>
                  <a:pt x="2036699" y="908310"/>
                  <a:pt x="1935226" y="871416"/>
                </a:quadBezTo>
                <a:lnTo>
                  <a:pt x="1935226" y="871416"/>
                </a:lnTo>
                <a:quadBezTo>
                  <a:pt x="1833816" y="834459"/>
                  <a:pt x="1864233" y="730954"/>
                </a:quadBezTo>
                <a:cubicBezTo>
                  <a:pt x="1776639" y="342982"/>
                  <a:pt x="1431963" y="67449"/>
                  <a:pt x="1034224" y="67449"/>
                </a:cubicBezTo>
                <a:cubicBezTo>
                  <a:pt x="636486" y="67449"/>
                  <a:pt x="291810" y="342982"/>
                  <a:pt x="204216" y="730954"/>
                </a:cubicBezTo>
                <a:quadBezTo>
                  <a:pt x="234632" y="834459"/>
                  <a:pt x="133223" y="871416"/>
                </a:quadBezTo>
                <a:lnTo>
                  <a:pt x="133223" y="871416"/>
                </a:lnTo>
                <a:quadBezTo>
                  <a:pt x="31750" y="908310"/>
                  <a:pt x="0" y="805186"/>
                </a:quad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gfill-1"/>
          <p:cNvSpPr/>
          <p:nvPr/>
        </p:nvSpPr>
        <p:spPr>
          <a:xfrm>
            <a:off x="1537519" y="2235056"/>
            <a:ext cx="2096628" cy="1404618"/>
          </a:xfrm>
          <a:custGeom>
            <a:avLst/>
            <a:gdLst/>
            <a:ahLst/>
            <a:cxnLst/>
            <a:rect l="0" t="0" r="r" b="b"/>
            <a:pathLst>
              <a:path w="2096628" h="1404618">
                <a:moveTo>
                  <a:pt x="31757" y="1328691"/>
                </a:moveTo>
                <a:cubicBezTo>
                  <a:pt x="-111706" y="763215"/>
                  <a:pt x="225675" y="187374"/>
                  <a:pt x="789101" y="36060"/>
                </a:cubicBezTo>
                <a:cubicBezTo>
                  <a:pt x="1352527" y="-115254"/>
                  <a:pt x="1933005" y="214085"/>
                  <a:pt x="2092141" y="775352"/>
                </a:cubicBezTo>
                <a:quadBezTo>
                  <a:pt x="2116335" y="880445"/>
                  <a:pt x="2010099" y="899368"/>
                </a:quadBezTo>
                <a:lnTo>
                  <a:pt x="2010099" y="899368"/>
                </a:lnTo>
                <a:quadBezTo>
                  <a:pt x="1903800" y="918227"/>
                  <a:pt x="1878210" y="813389"/>
                </a:quadBezTo>
                <a:cubicBezTo>
                  <a:pt x="1742195" y="377420"/>
                  <a:pt x="1286273" y="126571"/>
                  <a:pt x="845211" y="245031"/>
                </a:cubicBezTo>
                <a:cubicBezTo>
                  <a:pt x="404149" y="363491"/>
                  <a:pt x="135257" y="809011"/>
                  <a:pt x="235973" y="1254460"/>
                </a:cubicBezTo>
                <a:quadBezTo>
                  <a:pt x="266389" y="1357965"/>
                  <a:pt x="164980" y="1394922"/>
                </a:quadBezTo>
                <a:lnTo>
                  <a:pt x="164980" y="1394922"/>
                </a:lnTo>
                <a:quadBezTo>
                  <a:pt x="63507" y="1431815"/>
                  <a:pt x="31757" y="1328691"/>
                </a:quadBezTo>
                <a:close/>
              </a:path>
            </a:pathLst>
          </a:custGeom>
          <a:gradFill rotWithShape="1">
            <a:gsLst>
              <a:gs pos="0">
                <a:srgbClr val="4A70AC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7" name="tick-1-0"/>
          <p:cNvCxnSpPr/>
          <p:nvPr/>
        </p:nvCxnSpPr>
        <p:spPr>
          <a:xfrm flipH="1">
            <a:off x="1481695" y="3679898"/>
            <a:ext cx="83539" cy="30406"/>
          </a:xfrm>
          <a:prstGeom prst="line">
            <a:avLst/>
          </a:prstGeom>
          <a:ln w="8890" cap="rnd">
            <a:solidFill>
              <a:srgbClr val="0B2545">
                <a:alpha val="2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ickt-1-0"/>
          <p:cNvSpPr txBox="1"/>
          <p:nvPr/>
        </p:nvSpPr>
        <p:spPr>
          <a:xfrm>
            <a:off x="1284253" y="3686392"/>
            <a:ext cx="13233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0</a:t>
            </a:r>
          </a:p>
        </p:txBody>
      </p:sp>
      <p:cxnSp>
        <p:nvCxnSpPr>
          <p:cNvPr id="19" name="tick-1-100%"/>
          <p:cNvCxnSpPr/>
          <p:nvPr/>
        </p:nvCxnSpPr>
        <p:spPr>
          <a:xfrm flipV="1">
            <a:off x="3661983" y="2959614"/>
            <a:ext cx="85165" cy="25497"/>
          </a:xfrm>
          <a:prstGeom prst="line">
            <a:avLst/>
          </a:prstGeom>
          <a:ln w="15240" cap="rnd">
            <a:solidFill>
              <a:srgbClr val="E0703A">
                <a:alpha val="8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tickt-1-100%"/>
          <p:cNvSpPr txBox="1"/>
          <p:nvPr/>
        </p:nvSpPr>
        <p:spPr>
          <a:xfrm>
            <a:off x="3736326" y="2847856"/>
            <a:ext cx="2893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100%</a:t>
            </a:r>
          </a:p>
        </p:txBody>
      </p:sp>
      <p:cxnSp>
        <p:nvCxnSpPr>
          <p:cNvPr id="21" name="tick-1-120"/>
          <p:cNvCxnSpPr/>
          <p:nvPr/>
        </p:nvCxnSpPr>
        <p:spPr>
          <a:xfrm>
            <a:off x="3641766" y="3679898"/>
            <a:ext cx="83539" cy="30406"/>
          </a:xfrm>
          <a:prstGeom prst="line">
            <a:avLst/>
          </a:prstGeom>
          <a:ln w="8890" cap="rnd">
            <a:solidFill>
              <a:srgbClr val="0B2545">
                <a:alpha val="2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ickt-1-120"/>
          <p:cNvSpPr txBox="1"/>
          <p:nvPr/>
        </p:nvSpPr>
        <p:spPr>
          <a:xfrm>
            <a:off x="3738089" y="3686392"/>
            <a:ext cx="2369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120</a:t>
            </a:r>
          </a:p>
        </p:txBody>
      </p:sp>
      <p:sp>
        <p:nvSpPr>
          <p:cNvPr id="23" name="needle-1"/>
          <p:cNvSpPr/>
          <p:nvPr/>
        </p:nvSpPr>
        <p:spPr>
          <a:xfrm>
            <a:off x="2588260" y="3168650"/>
            <a:ext cx="765810" cy="220980"/>
          </a:xfrm>
          <a:custGeom>
            <a:avLst/>
            <a:gdLst/>
            <a:ahLst/>
            <a:cxnLst/>
            <a:rect l="0" t="0" r="r" b="b"/>
            <a:pathLst>
              <a:path w="765810" h="220980">
                <a:moveTo>
                  <a:pt x="30480" y="220980"/>
                </a:moveTo>
                <a:lnTo>
                  <a:pt x="765810" y="0"/>
                </a:lnTo>
                <a:lnTo>
                  <a:pt x="0" y="45720"/>
                </a:lnTo>
                <a:close/>
              </a:path>
            </a:pathLst>
          </a:custGeom>
          <a:solidFill>
            <a:srgbClr val="0B2545">
              <a:alpha val="8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hub-1"/>
          <p:cNvSpPr/>
          <p:nvPr/>
        </p:nvSpPr>
        <p:spPr>
          <a:xfrm>
            <a:off x="2495550" y="3194050"/>
            <a:ext cx="215900" cy="215900"/>
          </a:xfrm>
          <a:prstGeom prst="ellipse">
            <a:avLst/>
          </a:prstGeom>
          <a:solidFill>
            <a:srgbClr val="FFFFFF"/>
          </a:solidFill>
          <a:ln w="13970" cap="rnd">
            <a:solidFill>
              <a:srgbClr val="0B2545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pct-1"/>
          <p:cNvSpPr txBox="1"/>
          <p:nvPr/>
        </p:nvSpPr>
        <p:spPr>
          <a:xfrm>
            <a:off x="1966087" y="2547556"/>
            <a:ext cx="1274826" cy="5111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300" b="1" spc="40">
                <a:solidFill>
                  <a:srgbClr val="0B3E8F"/>
                </a:solidFill>
                <a:latin typeface="Arial"/>
                <a:ea typeface="Arial"/>
                <a:cs typeface="Arial"/>
              </a:rPr>
              <a:t>103.6%</a:t>
            </a:r>
          </a:p>
        </p:txBody>
      </p:sp>
      <p:sp>
        <p:nvSpPr>
          <p:cNvPr id="26" name="pctl-1"/>
          <p:cNvSpPr txBox="1"/>
          <p:nvPr/>
        </p:nvSpPr>
        <p:spPr>
          <a:xfrm>
            <a:off x="2415858" y="3001708"/>
            <a:ext cx="37528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完成率</a:t>
            </a:r>
          </a:p>
        </p:txBody>
      </p:sp>
      <p:sp>
        <p:nvSpPr>
          <p:cNvPr id="27" name="v-1"/>
          <p:cNvSpPr txBox="1"/>
          <p:nvPr/>
        </p:nvSpPr>
        <p:spPr>
          <a:xfrm>
            <a:off x="2138299" y="3588195"/>
            <a:ext cx="778002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900" b="1" spc="40">
                <a:solidFill>
                  <a:srgbClr val="0B2545"/>
                </a:solidFill>
                <a:latin typeface="Arial"/>
                <a:ea typeface="Arial"/>
                <a:cs typeface="Arial"/>
              </a:rPr>
              <a:t>15.8</a:t>
            </a:r>
          </a:p>
        </p:txBody>
      </p:sp>
      <p:sp>
        <p:nvSpPr>
          <p:cNvPr id="28" name="u-1"/>
          <p:cNvSpPr txBox="1"/>
          <p:nvPr/>
        </p:nvSpPr>
        <p:spPr>
          <a:xfrm>
            <a:off x="2896616" y="3760724"/>
            <a:ext cx="2946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亿元</a:t>
            </a:r>
          </a:p>
        </p:txBody>
      </p:sp>
      <p:sp>
        <p:nvSpPr>
          <p:cNvPr id="29" name="st-1"/>
          <p:cNvSpPr/>
          <p:nvPr/>
        </p:nvSpPr>
        <p:spPr>
          <a:xfrm>
            <a:off x="1714500" y="4038600"/>
            <a:ext cx="1778000" cy="215900"/>
          </a:xfrm>
          <a:custGeom>
            <a:avLst/>
            <a:gdLst/>
            <a:ahLst/>
            <a:cxnLst/>
            <a:rect l="0" t="0" r="r" b="b"/>
            <a:pathLst>
              <a:path w="1778000" h="215900">
                <a:moveTo>
                  <a:pt x="107950" y="0"/>
                </a:moveTo>
                <a:lnTo>
                  <a:pt x="1670050" y="0"/>
                </a:lnTo>
                <a:cubicBezTo>
                  <a:pt x="1729676" y="0"/>
                  <a:pt x="1778000" y="48324"/>
                  <a:pt x="1778000" y="107950"/>
                </a:cubicBezTo>
                <a:lnTo>
                  <a:pt x="1778000" y="107950"/>
                </a:lnTo>
                <a:cubicBezTo>
                  <a:pt x="1778000" y="167576"/>
                  <a:pt x="1729676" y="215900"/>
                  <a:pt x="1670050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134C9C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stt-1"/>
          <p:cNvSpPr txBox="1"/>
          <p:nvPr/>
        </p:nvSpPr>
        <p:spPr>
          <a:xfrm>
            <a:off x="1966277" y="4067016"/>
            <a:ext cx="12744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50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已达标 · 超出 3.6 个点</a:t>
            </a:r>
          </a:p>
        </p:txBody>
      </p:sp>
      <p:sp>
        <p:nvSpPr>
          <p:cNvPr id="31" name="card-2"/>
          <p:cNvSpPr/>
          <p:nvPr/>
        </p:nvSpPr>
        <p:spPr>
          <a:xfrm>
            <a:off x="4445000" y="1498600"/>
            <a:ext cx="3302000" cy="2870200"/>
          </a:xfrm>
          <a:custGeom>
            <a:avLst/>
            <a:gdLst/>
            <a:ahLst/>
            <a:cxnLst/>
            <a:rect l="0" t="0" r="r" b="b"/>
            <a:pathLst>
              <a:path w="3302000" h="2870200">
                <a:moveTo>
                  <a:pt x="139700" y="0"/>
                </a:moveTo>
                <a:lnTo>
                  <a:pt x="3162300" y="0"/>
                </a:lnTo>
                <a:cubicBezTo>
                  <a:pt x="3239453" y="0"/>
                  <a:pt x="3302000" y="62547"/>
                  <a:pt x="3302000" y="139700"/>
                </a:cubicBezTo>
                <a:lnTo>
                  <a:pt x="3302000" y="2730500"/>
                </a:lnTo>
                <a:cubicBezTo>
                  <a:pt x="3302000" y="2807652"/>
                  <a:pt x="3239453" y="2870200"/>
                  <a:pt x="3162300" y="2870200"/>
                </a:cubicBezTo>
                <a:lnTo>
                  <a:pt x="139700" y="2870200"/>
                </a:lnTo>
                <a:cubicBezTo>
                  <a:pt x="62548" y="2870200"/>
                  <a:pt x="0" y="2807652"/>
                  <a:pt x="0" y="2730500"/>
                </a:cubicBezTo>
                <a:lnTo>
                  <a:pt x="0" y="139700"/>
                </a:lnTo>
                <a:cubicBezTo>
                  <a:pt x="0" y="62547"/>
                  <a:pt x="62548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cap-2"/>
          <p:cNvSpPr/>
          <p:nvPr/>
        </p:nvSpPr>
        <p:spPr>
          <a:xfrm>
            <a:off x="4445000" y="1498600"/>
            <a:ext cx="3302000" cy="50800"/>
          </a:xfrm>
          <a:custGeom>
            <a:avLst/>
            <a:gdLst/>
            <a:ahLst/>
            <a:cxnLst/>
            <a:rect l="0" t="0" r="r" b="b"/>
            <a:pathLst>
              <a:path w="3302000" h="50800">
                <a:moveTo>
                  <a:pt x="25400" y="0"/>
                </a:moveTo>
                <a:lnTo>
                  <a:pt x="3276600" y="0"/>
                </a:lnTo>
                <a:cubicBezTo>
                  <a:pt x="3290634" y="0"/>
                  <a:pt x="3302000" y="11366"/>
                  <a:pt x="3302000" y="25400"/>
                </a:cubicBezTo>
                <a:lnTo>
                  <a:pt x="3302000" y="25400"/>
                </a:lnTo>
                <a:cubicBezTo>
                  <a:pt x="3302000" y="39434"/>
                  <a:pt x="3290634" y="50800"/>
                  <a:pt x="3276600" y="50800"/>
                </a:cubicBezTo>
                <a:lnTo>
                  <a:pt x="25400" y="50800"/>
                </a:lnTo>
                <a:cubicBezTo>
                  <a:pt x="11366" y="50800"/>
                  <a:pt x="0" y="39434"/>
                  <a:pt x="0" y="25400"/>
                </a:cubicBezTo>
                <a:lnTo>
                  <a:pt x="0" y="25400"/>
                </a:lnTo>
                <a:cubicBezTo>
                  <a:pt x="0" y="11366"/>
                  <a:pt x="11366" y="0"/>
                  <a:pt x="254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icon-people"/>
          <p:cNvSpPr/>
          <p:nvPr/>
        </p:nvSpPr>
        <p:spPr>
          <a:xfrm>
            <a:off x="4712970" y="1898840"/>
            <a:ext cx="125920" cy="35560"/>
          </a:xfrm>
          <a:custGeom>
            <a:avLst/>
            <a:gdLst/>
            <a:ahLst/>
            <a:cxnLst/>
            <a:rect l="0" t="0" r="r" b="b"/>
            <a:pathLst>
              <a:path w="125920" h="35560">
                <a:moveTo>
                  <a:pt x="0" y="35560"/>
                </a:moveTo>
                <a:cubicBezTo>
                  <a:pt x="0" y="13335"/>
                  <a:pt x="18542" y="0"/>
                  <a:pt x="40005" y="0"/>
                </a:cubicBezTo>
                <a:cubicBezTo>
                  <a:pt x="61468" y="0"/>
                  <a:pt x="80010" y="13335"/>
                  <a:pt x="80010" y="35560"/>
                </a:cubicBezTo>
                <a:moveTo>
                  <a:pt x="94805" y="2985"/>
                </a:moveTo>
                <a:cubicBezTo>
                  <a:pt x="114109" y="5207"/>
                  <a:pt x="125920" y="18542"/>
                  <a:pt x="125920" y="35560"/>
                </a:cubicBez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icon-people"/>
          <p:cNvSpPr/>
          <p:nvPr/>
        </p:nvSpPr>
        <p:spPr>
          <a:xfrm>
            <a:off x="4729268" y="1835150"/>
            <a:ext cx="47413" cy="47413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icon-people"/>
          <p:cNvSpPr/>
          <p:nvPr/>
        </p:nvSpPr>
        <p:spPr>
          <a:xfrm>
            <a:off x="4792980" y="1835150"/>
            <a:ext cx="38523" cy="38523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nm-2"/>
          <p:cNvSpPr txBox="1"/>
          <p:nvPr/>
        </p:nvSpPr>
        <p:spPr>
          <a:xfrm>
            <a:off x="4972050" y="1734344"/>
            <a:ext cx="8413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新签客户</a:t>
            </a:r>
          </a:p>
        </p:txBody>
      </p:sp>
      <p:sp>
        <p:nvSpPr>
          <p:cNvPr id="37" name="tg-2"/>
          <p:cNvSpPr txBox="1"/>
          <p:nvPr/>
        </p:nvSpPr>
        <p:spPr>
          <a:xfrm>
            <a:off x="6796722" y="1803987"/>
            <a:ext cx="74542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目标 1,400 家</a:t>
            </a:r>
          </a:p>
        </p:txBody>
      </p:sp>
      <p:sp>
        <p:nvSpPr>
          <p:cNvPr id="38" name="gbg-2"/>
          <p:cNvSpPr/>
          <p:nvPr/>
        </p:nvSpPr>
        <p:spPr>
          <a:xfrm>
            <a:off x="5061776" y="2758561"/>
            <a:ext cx="2068449" cy="881112"/>
          </a:xfrm>
          <a:custGeom>
            <a:avLst/>
            <a:gdLst/>
            <a:ahLst/>
            <a:cxnLst/>
            <a:rect l="0" t="0" r="r" b="b"/>
            <a:pathLst>
              <a:path w="2068449" h="881112">
                <a:moveTo>
                  <a:pt x="0" y="805186"/>
                </a:moveTo>
                <a:cubicBezTo>
                  <a:pt x="119775" y="331686"/>
                  <a:pt x="545810" y="0"/>
                  <a:pt x="1034224" y="0"/>
                </a:cubicBezTo>
                <a:cubicBezTo>
                  <a:pt x="1522639" y="0"/>
                  <a:pt x="1948674" y="331686"/>
                  <a:pt x="2068449" y="805186"/>
                </a:cubicBezTo>
                <a:quadBezTo>
                  <a:pt x="2036699" y="908310"/>
                  <a:pt x="1935226" y="871416"/>
                </a:quadBezTo>
                <a:lnTo>
                  <a:pt x="1935226" y="871416"/>
                </a:lnTo>
                <a:quadBezTo>
                  <a:pt x="1833817" y="834459"/>
                  <a:pt x="1864233" y="730954"/>
                </a:quadBezTo>
                <a:cubicBezTo>
                  <a:pt x="1776639" y="342982"/>
                  <a:pt x="1431963" y="67449"/>
                  <a:pt x="1034224" y="67449"/>
                </a:cubicBezTo>
                <a:cubicBezTo>
                  <a:pt x="636486" y="67449"/>
                  <a:pt x="291810" y="342982"/>
                  <a:pt x="204216" y="730954"/>
                </a:cubicBezTo>
                <a:quadBezTo>
                  <a:pt x="234633" y="834459"/>
                  <a:pt x="133223" y="871416"/>
                </a:quadBezTo>
                <a:lnTo>
                  <a:pt x="133223" y="871416"/>
                </a:lnTo>
                <a:quadBezTo>
                  <a:pt x="31750" y="908310"/>
                  <a:pt x="0" y="805186"/>
                </a:quad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gfill-2"/>
          <p:cNvSpPr/>
          <p:nvPr/>
        </p:nvSpPr>
        <p:spPr>
          <a:xfrm>
            <a:off x="5029104" y="2235191"/>
            <a:ext cx="1937707" cy="1404482"/>
          </a:xfrm>
          <a:custGeom>
            <a:avLst/>
            <a:gdLst/>
            <a:ahLst/>
            <a:cxnLst/>
            <a:rect l="0" t="0" r="r" b="b"/>
            <a:pathLst>
              <a:path w="1937707" h="1404482">
                <a:moveTo>
                  <a:pt x="32671" y="1328556"/>
                </a:moveTo>
                <a:cubicBezTo>
                  <a:pt x="-91593" y="837832"/>
                  <a:pt x="146123" y="327346"/>
                  <a:pt x="601682" y="106627"/>
                </a:cubicBezTo>
                <a:cubicBezTo>
                  <a:pt x="1057242" y="-114092"/>
                  <a:pt x="1605191" y="15737"/>
                  <a:pt x="1913287" y="417394"/>
                </a:cubicBezTo>
                <a:quadBezTo>
                  <a:pt x="1974565" y="506231"/>
                  <a:pt x="1882680" y="562936"/>
                </a:quadBezTo>
                <a:lnTo>
                  <a:pt x="1882680" y="562936"/>
                </a:lnTo>
                <a:quadBezTo>
                  <a:pt x="1790859" y="619705"/>
                  <a:pt x="1728439" y="531694"/>
                </a:quadBezTo>
                <a:cubicBezTo>
                  <a:pt x="1479689" y="224169"/>
                  <a:pt x="1051832" y="128601"/>
                  <a:pt x="695873" y="301057"/>
                </a:cubicBezTo>
                <a:cubicBezTo>
                  <a:pt x="339913" y="473513"/>
                  <a:pt x="149727" y="868512"/>
                  <a:pt x="236887" y="1254324"/>
                </a:cubicBezTo>
                <a:quadBezTo>
                  <a:pt x="267304" y="1357829"/>
                  <a:pt x="165894" y="1394786"/>
                </a:quadBezTo>
                <a:lnTo>
                  <a:pt x="165894" y="1394786"/>
                </a:lnTo>
                <a:quadBezTo>
                  <a:pt x="64421" y="1431680"/>
                  <a:pt x="32671" y="1328556"/>
                </a:quadBezTo>
                <a:close/>
              </a:path>
            </a:pathLst>
          </a:custGeom>
          <a:gradFill rotWithShape="1">
            <a:gsLst>
              <a:gs pos="0">
                <a:srgbClr val="5685BF"/>
              </a:gs>
              <a:gs pos="100000">
                <a:srgbClr val="1B5AA8"/>
              </a:gs>
            </a:gsLst>
            <a:lin ang="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40" name="tick-2-0"/>
          <p:cNvCxnSpPr/>
          <p:nvPr/>
        </p:nvCxnSpPr>
        <p:spPr>
          <a:xfrm flipH="1">
            <a:off x="4974195" y="3679898"/>
            <a:ext cx="83539" cy="30406"/>
          </a:xfrm>
          <a:prstGeom prst="line">
            <a:avLst/>
          </a:prstGeom>
          <a:ln w="8890" cap="rnd">
            <a:solidFill>
              <a:srgbClr val="0B2545">
                <a:alpha val="2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tickt-2-0"/>
          <p:cNvSpPr txBox="1"/>
          <p:nvPr/>
        </p:nvSpPr>
        <p:spPr>
          <a:xfrm>
            <a:off x="4776753" y="3686392"/>
            <a:ext cx="13233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0</a:t>
            </a:r>
          </a:p>
        </p:txBody>
      </p:sp>
      <p:cxnSp>
        <p:nvCxnSpPr>
          <p:cNvPr id="42" name="tick-2-100%"/>
          <p:cNvCxnSpPr/>
          <p:nvPr/>
        </p:nvCxnSpPr>
        <p:spPr>
          <a:xfrm flipV="1">
            <a:off x="7154483" y="2959614"/>
            <a:ext cx="85165" cy="25497"/>
          </a:xfrm>
          <a:prstGeom prst="line">
            <a:avLst/>
          </a:prstGeom>
          <a:ln w="15240" cap="rnd">
            <a:solidFill>
              <a:srgbClr val="E0703A">
                <a:alpha val="8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tickt-2-100%"/>
          <p:cNvSpPr txBox="1"/>
          <p:nvPr/>
        </p:nvSpPr>
        <p:spPr>
          <a:xfrm>
            <a:off x="7228826" y="2847856"/>
            <a:ext cx="2893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100%</a:t>
            </a:r>
          </a:p>
        </p:txBody>
      </p:sp>
      <p:cxnSp>
        <p:nvCxnSpPr>
          <p:cNvPr id="44" name="tick-2-120"/>
          <p:cNvCxnSpPr/>
          <p:nvPr/>
        </p:nvCxnSpPr>
        <p:spPr>
          <a:xfrm>
            <a:off x="7134266" y="3679898"/>
            <a:ext cx="83539" cy="30406"/>
          </a:xfrm>
          <a:prstGeom prst="line">
            <a:avLst/>
          </a:prstGeom>
          <a:ln w="8890" cap="rnd">
            <a:solidFill>
              <a:srgbClr val="0B2545">
                <a:alpha val="2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ickt-2-120"/>
          <p:cNvSpPr txBox="1"/>
          <p:nvPr/>
        </p:nvSpPr>
        <p:spPr>
          <a:xfrm>
            <a:off x="7230589" y="3686392"/>
            <a:ext cx="2369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120</a:t>
            </a:r>
          </a:p>
        </p:txBody>
      </p:sp>
      <p:sp>
        <p:nvSpPr>
          <p:cNvPr id="46" name="needle-2"/>
          <p:cNvSpPr/>
          <p:nvPr/>
        </p:nvSpPr>
        <p:spPr>
          <a:xfrm>
            <a:off x="6049010" y="2901315"/>
            <a:ext cx="695325" cy="476250"/>
          </a:xfrm>
          <a:custGeom>
            <a:avLst/>
            <a:gdLst/>
            <a:ahLst/>
            <a:cxnLst/>
            <a:rect l="0" t="0" r="r" b="b"/>
            <a:pathLst>
              <a:path w="695325" h="476250">
                <a:moveTo>
                  <a:pt x="93980" y="476250"/>
                </a:moveTo>
                <a:lnTo>
                  <a:pt x="695325" y="0"/>
                </a:lnTo>
                <a:lnTo>
                  <a:pt x="0" y="325120"/>
                </a:lnTo>
                <a:close/>
              </a:path>
            </a:pathLst>
          </a:custGeom>
          <a:solidFill>
            <a:srgbClr val="0B2545">
              <a:alpha val="8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hub-2"/>
          <p:cNvSpPr/>
          <p:nvPr/>
        </p:nvSpPr>
        <p:spPr>
          <a:xfrm>
            <a:off x="5988050" y="3194050"/>
            <a:ext cx="215900" cy="215900"/>
          </a:xfrm>
          <a:prstGeom prst="ellipse">
            <a:avLst/>
          </a:prstGeom>
          <a:solidFill>
            <a:srgbClr val="FFFFFF"/>
          </a:solidFill>
          <a:ln w="13970" cap="rnd">
            <a:solidFill>
              <a:srgbClr val="0B2545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pct-2"/>
          <p:cNvSpPr txBox="1"/>
          <p:nvPr/>
        </p:nvSpPr>
        <p:spPr>
          <a:xfrm>
            <a:off x="5542915" y="2547556"/>
            <a:ext cx="1106170" cy="5111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300" b="1" spc="40">
                <a:solidFill>
                  <a:srgbClr val="1B5AA8"/>
                </a:solidFill>
                <a:latin typeface="Arial"/>
                <a:ea typeface="Arial"/>
                <a:cs typeface="Arial"/>
              </a:rPr>
              <a:t>91.8%</a:t>
            </a:r>
          </a:p>
        </p:txBody>
      </p:sp>
      <p:sp>
        <p:nvSpPr>
          <p:cNvPr id="49" name="pctl-2"/>
          <p:cNvSpPr txBox="1"/>
          <p:nvPr/>
        </p:nvSpPr>
        <p:spPr>
          <a:xfrm>
            <a:off x="5908358" y="3001708"/>
            <a:ext cx="37528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完成率</a:t>
            </a:r>
          </a:p>
        </p:txBody>
      </p:sp>
      <p:sp>
        <p:nvSpPr>
          <p:cNvPr id="50" name="v-2"/>
          <p:cNvSpPr txBox="1"/>
          <p:nvPr/>
        </p:nvSpPr>
        <p:spPr>
          <a:xfrm>
            <a:off x="5560695" y="3588195"/>
            <a:ext cx="918210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900" b="1" spc="40">
                <a:solidFill>
                  <a:srgbClr val="0B2545"/>
                </a:solidFill>
                <a:latin typeface="Arial"/>
                <a:ea typeface="Arial"/>
                <a:cs typeface="Arial"/>
              </a:rPr>
              <a:t>1,286</a:t>
            </a:r>
          </a:p>
        </p:txBody>
      </p:sp>
      <p:sp>
        <p:nvSpPr>
          <p:cNvPr id="51" name="u-2"/>
          <p:cNvSpPr txBox="1"/>
          <p:nvPr/>
        </p:nvSpPr>
        <p:spPr>
          <a:xfrm>
            <a:off x="6459093" y="3760724"/>
            <a:ext cx="1930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家</a:t>
            </a:r>
          </a:p>
        </p:txBody>
      </p:sp>
      <p:sp>
        <p:nvSpPr>
          <p:cNvPr id="52" name="st-2"/>
          <p:cNvSpPr/>
          <p:nvPr/>
        </p:nvSpPr>
        <p:spPr>
          <a:xfrm>
            <a:off x="5207000" y="4038600"/>
            <a:ext cx="1778000" cy="215900"/>
          </a:xfrm>
          <a:custGeom>
            <a:avLst/>
            <a:gdLst/>
            <a:ahLst/>
            <a:cxnLst/>
            <a:rect l="0" t="0" r="r" b="b"/>
            <a:pathLst>
              <a:path w="1778000" h="215900">
                <a:moveTo>
                  <a:pt x="107950" y="0"/>
                </a:moveTo>
                <a:lnTo>
                  <a:pt x="1670050" y="0"/>
                </a:lnTo>
                <a:cubicBezTo>
                  <a:pt x="1729677" y="0"/>
                  <a:pt x="1778000" y="48324"/>
                  <a:pt x="1778000" y="107950"/>
                </a:cubicBezTo>
                <a:lnTo>
                  <a:pt x="1778000" y="107950"/>
                </a:lnTo>
                <a:cubicBezTo>
                  <a:pt x="1778000" y="167576"/>
                  <a:pt x="1729677" y="215900"/>
                  <a:pt x="1670050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stt-2"/>
          <p:cNvSpPr txBox="1"/>
          <p:nvPr/>
        </p:nvSpPr>
        <p:spPr>
          <a:xfrm>
            <a:off x="5509578" y="4067016"/>
            <a:ext cx="11728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未达标 · 差 8.2 个点</a:t>
            </a:r>
          </a:p>
        </p:txBody>
      </p:sp>
      <p:sp>
        <p:nvSpPr>
          <p:cNvPr id="54" name="card-3"/>
          <p:cNvSpPr/>
          <p:nvPr/>
        </p:nvSpPr>
        <p:spPr>
          <a:xfrm>
            <a:off x="7937500" y="1498600"/>
            <a:ext cx="3302000" cy="2870200"/>
          </a:xfrm>
          <a:custGeom>
            <a:avLst/>
            <a:gdLst/>
            <a:ahLst/>
            <a:cxnLst/>
            <a:rect l="0" t="0" r="r" b="b"/>
            <a:pathLst>
              <a:path w="3302000" h="2870200">
                <a:moveTo>
                  <a:pt x="139700" y="0"/>
                </a:moveTo>
                <a:lnTo>
                  <a:pt x="3162300" y="0"/>
                </a:lnTo>
                <a:cubicBezTo>
                  <a:pt x="3239453" y="0"/>
                  <a:pt x="3302000" y="62547"/>
                  <a:pt x="3302000" y="139700"/>
                </a:cubicBezTo>
                <a:lnTo>
                  <a:pt x="3302000" y="2730500"/>
                </a:lnTo>
                <a:cubicBezTo>
                  <a:pt x="3302000" y="2807652"/>
                  <a:pt x="3239453" y="2870200"/>
                  <a:pt x="3162300" y="2870200"/>
                </a:cubicBezTo>
                <a:lnTo>
                  <a:pt x="139700" y="2870200"/>
                </a:lnTo>
                <a:cubicBezTo>
                  <a:pt x="62547" y="2870200"/>
                  <a:pt x="0" y="2807652"/>
                  <a:pt x="0" y="2730500"/>
                </a:cubicBezTo>
                <a:lnTo>
                  <a:pt x="0" y="139700"/>
                </a:lnTo>
                <a:cubicBezTo>
                  <a:pt x="0" y="62547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cap-3"/>
          <p:cNvSpPr/>
          <p:nvPr/>
        </p:nvSpPr>
        <p:spPr>
          <a:xfrm>
            <a:off x="7937500" y="1498600"/>
            <a:ext cx="3302000" cy="50800"/>
          </a:xfrm>
          <a:custGeom>
            <a:avLst/>
            <a:gdLst/>
            <a:ahLst/>
            <a:cxnLst/>
            <a:rect l="0" t="0" r="r" b="b"/>
            <a:pathLst>
              <a:path w="3302000" h="50800">
                <a:moveTo>
                  <a:pt x="25400" y="0"/>
                </a:moveTo>
                <a:lnTo>
                  <a:pt x="3276600" y="0"/>
                </a:lnTo>
                <a:cubicBezTo>
                  <a:pt x="3290634" y="0"/>
                  <a:pt x="3302000" y="11366"/>
                  <a:pt x="3302000" y="25400"/>
                </a:cubicBezTo>
                <a:lnTo>
                  <a:pt x="3302000" y="25400"/>
                </a:lnTo>
                <a:cubicBezTo>
                  <a:pt x="3302000" y="39434"/>
                  <a:pt x="3290634" y="50800"/>
                  <a:pt x="3276600" y="50800"/>
                </a:cubicBezTo>
                <a:lnTo>
                  <a:pt x="25400" y="50800"/>
                </a:lnTo>
                <a:cubicBezTo>
                  <a:pt x="11366" y="50800"/>
                  <a:pt x="0" y="39434"/>
                  <a:pt x="0" y="25400"/>
                </a:cubicBezTo>
                <a:lnTo>
                  <a:pt x="0" y="25400"/>
                </a:lnTo>
                <a:cubicBezTo>
                  <a:pt x="0" y="11366"/>
                  <a:pt x="11366" y="0"/>
                  <a:pt x="254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icon-chart"/>
          <p:cNvSpPr/>
          <p:nvPr/>
        </p:nvSpPr>
        <p:spPr>
          <a:xfrm>
            <a:off x="8205470" y="1857375"/>
            <a:ext cx="124460" cy="81470"/>
          </a:xfrm>
          <a:custGeom>
            <a:avLst/>
            <a:gdLst/>
            <a:ahLst/>
            <a:cxnLst/>
            <a:rect l="0" t="0" r="r" b="b"/>
            <a:pathLst>
              <a:path w="124460" h="81470">
                <a:moveTo>
                  <a:pt x="0" y="81470"/>
                </a:moveTo>
                <a:lnTo>
                  <a:pt x="124460" y="81470"/>
                </a:lnTo>
                <a:moveTo>
                  <a:pt x="28131" y="81470"/>
                </a:moveTo>
                <a:lnTo>
                  <a:pt x="28131" y="34100"/>
                </a:lnTo>
                <a:moveTo>
                  <a:pt x="62230" y="81470"/>
                </a:moveTo>
                <a:lnTo>
                  <a:pt x="62230" y="0"/>
                </a:lnTo>
                <a:moveTo>
                  <a:pt x="96329" y="81470"/>
                </a:moveTo>
                <a:lnTo>
                  <a:pt x="96329" y="50356"/>
                </a:lnTo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nm-3"/>
          <p:cNvSpPr txBox="1"/>
          <p:nvPr/>
        </p:nvSpPr>
        <p:spPr>
          <a:xfrm>
            <a:off x="8464550" y="1734344"/>
            <a:ext cx="666750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毛利率</a:t>
            </a:r>
          </a:p>
        </p:txBody>
      </p:sp>
      <p:sp>
        <p:nvSpPr>
          <p:cNvPr id="58" name="tg-3"/>
          <p:cNvSpPr txBox="1"/>
          <p:nvPr/>
        </p:nvSpPr>
        <p:spPr>
          <a:xfrm>
            <a:off x="10437940" y="1803987"/>
            <a:ext cx="59671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目标 39.0%</a:t>
            </a:r>
          </a:p>
        </p:txBody>
      </p:sp>
      <p:sp>
        <p:nvSpPr>
          <p:cNvPr id="59" name="gbg-3"/>
          <p:cNvSpPr/>
          <p:nvPr/>
        </p:nvSpPr>
        <p:spPr>
          <a:xfrm>
            <a:off x="8554276" y="2758561"/>
            <a:ext cx="2068449" cy="881112"/>
          </a:xfrm>
          <a:custGeom>
            <a:avLst/>
            <a:gdLst/>
            <a:ahLst/>
            <a:cxnLst/>
            <a:rect l="0" t="0" r="r" b="b"/>
            <a:pathLst>
              <a:path w="2068449" h="881112">
                <a:moveTo>
                  <a:pt x="0" y="805186"/>
                </a:moveTo>
                <a:cubicBezTo>
                  <a:pt x="119775" y="331686"/>
                  <a:pt x="545810" y="0"/>
                  <a:pt x="1034224" y="0"/>
                </a:cubicBezTo>
                <a:cubicBezTo>
                  <a:pt x="1522639" y="0"/>
                  <a:pt x="1948674" y="331686"/>
                  <a:pt x="2068449" y="805186"/>
                </a:cubicBezTo>
                <a:quadBezTo>
                  <a:pt x="2036699" y="908310"/>
                  <a:pt x="1935226" y="871416"/>
                </a:quadBezTo>
                <a:lnTo>
                  <a:pt x="1935226" y="871416"/>
                </a:lnTo>
                <a:quadBezTo>
                  <a:pt x="1833816" y="834459"/>
                  <a:pt x="1864233" y="730954"/>
                </a:quadBezTo>
                <a:cubicBezTo>
                  <a:pt x="1776639" y="342982"/>
                  <a:pt x="1431963" y="67449"/>
                  <a:pt x="1034224" y="67449"/>
                </a:cubicBezTo>
                <a:cubicBezTo>
                  <a:pt x="636486" y="67449"/>
                  <a:pt x="291810" y="342982"/>
                  <a:pt x="204216" y="730954"/>
                </a:cubicBezTo>
                <a:quadBezTo>
                  <a:pt x="234632" y="834459"/>
                  <a:pt x="133223" y="871416"/>
                </a:quadBezTo>
                <a:lnTo>
                  <a:pt x="133223" y="871416"/>
                </a:lnTo>
                <a:quadBezTo>
                  <a:pt x="31750" y="908310"/>
                  <a:pt x="0" y="805186"/>
                </a:quad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gfill-3"/>
          <p:cNvSpPr/>
          <p:nvPr/>
        </p:nvSpPr>
        <p:spPr>
          <a:xfrm>
            <a:off x="8522092" y="2235429"/>
            <a:ext cx="2043230" cy="1404244"/>
          </a:xfrm>
          <a:custGeom>
            <a:avLst/>
            <a:gdLst/>
            <a:ahLst/>
            <a:cxnLst/>
            <a:rect l="0" t="0" r="r" b="b"/>
            <a:pathLst>
              <a:path w="2043230" h="1404244">
                <a:moveTo>
                  <a:pt x="32184" y="1328318"/>
                </a:moveTo>
                <a:cubicBezTo>
                  <a:pt x="-102697" y="795564"/>
                  <a:pt x="189220" y="247517"/>
                  <a:pt x="706589" y="62184"/>
                </a:cubicBezTo>
                <a:cubicBezTo>
                  <a:pt x="1223958" y="-123149"/>
                  <a:pt x="1797466" y="114883"/>
                  <a:pt x="2031545" y="612101"/>
                </a:cubicBezTo>
                <a:quadBezTo>
                  <a:pt x="2072566" y="711923"/>
                  <a:pt x="1970712" y="747801"/>
                </a:quadBezTo>
                <a:lnTo>
                  <a:pt x="1970712" y="747801"/>
                </a:lnTo>
                <a:quadBezTo>
                  <a:pt x="1868921" y="783678"/>
                  <a:pt x="1826694" y="684428"/>
                </a:quadBezTo>
                <a:cubicBezTo>
                  <a:pt x="1633655" y="300150"/>
                  <a:pt x="1184241" y="120307"/>
                  <a:pt x="779393" y="265328"/>
                </a:cubicBezTo>
                <a:cubicBezTo>
                  <a:pt x="374544" y="410348"/>
                  <a:pt x="141537" y="834641"/>
                  <a:pt x="236400" y="1254086"/>
                </a:cubicBezTo>
                <a:quadBezTo>
                  <a:pt x="266816" y="1357591"/>
                  <a:pt x="165407" y="1394548"/>
                </a:quadBezTo>
                <a:lnTo>
                  <a:pt x="165407" y="1394548"/>
                </a:lnTo>
                <a:quadBezTo>
                  <a:pt x="63934" y="1431442"/>
                  <a:pt x="32184" y="1328318"/>
                </a:quadBezTo>
                <a:close/>
              </a:path>
            </a:pathLst>
          </a:custGeom>
          <a:gradFill rotWithShape="1">
            <a:gsLst>
              <a:gs pos="0">
                <a:srgbClr val="649AD2"/>
              </a:gs>
              <a:gs pos="100000">
                <a:srgbClr val="2E77C2"/>
              </a:gs>
            </a:gsLst>
            <a:lin ang="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61" name="tick-3-0"/>
          <p:cNvCxnSpPr/>
          <p:nvPr/>
        </p:nvCxnSpPr>
        <p:spPr>
          <a:xfrm flipH="1">
            <a:off x="8466695" y="3679898"/>
            <a:ext cx="83539" cy="30406"/>
          </a:xfrm>
          <a:prstGeom prst="line">
            <a:avLst/>
          </a:prstGeom>
          <a:ln w="8890" cap="rnd">
            <a:solidFill>
              <a:srgbClr val="0B2545">
                <a:alpha val="2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tickt-3-0"/>
          <p:cNvSpPr txBox="1"/>
          <p:nvPr/>
        </p:nvSpPr>
        <p:spPr>
          <a:xfrm>
            <a:off x="8269253" y="3686392"/>
            <a:ext cx="13233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0</a:t>
            </a:r>
          </a:p>
        </p:txBody>
      </p:sp>
      <p:cxnSp>
        <p:nvCxnSpPr>
          <p:cNvPr id="63" name="tick-3-100%"/>
          <p:cNvCxnSpPr/>
          <p:nvPr/>
        </p:nvCxnSpPr>
        <p:spPr>
          <a:xfrm flipV="1">
            <a:off x="10646983" y="2959614"/>
            <a:ext cx="85165" cy="25497"/>
          </a:xfrm>
          <a:prstGeom prst="line">
            <a:avLst/>
          </a:prstGeom>
          <a:ln w="15240" cap="rnd">
            <a:solidFill>
              <a:srgbClr val="E0703A">
                <a:alpha val="8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tickt-3-100%"/>
          <p:cNvSpPr txBox="1"/>
          <p:nvPr/>
        </p:nvSpPr>
        <p:spPr>
          <a:xfrm>
            <a:off x="10721326" y="2847856"/>
            <a:ext cx="2893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100%</a:t>
            </a:r>
          </a:p>
        </p:txBody>
      </p:sp>
      <p:cxnSp>
        <p:nvCxnSpPr>
          <p:cNvPr id="65" name="tick-3-120"/>
          <p:cNvCxnSpPr/>
          <p:nvPr/>
        </p:nvCxnSpPr>
        <p:spPr>
          <a:xfrm>
            <a:off x="10626766" y="3679898"/>
            <a:ext cx="83539" cy="30406"/>
          </a:xfrm>
          <a:prstGeom prst="line">
            <a:avLst/>
          </a:prstGeom>
          <a:ln w="8890" cap="rnd">
            <a:solidFill>
              <a:srgbClr val="0B2545">
                <a:alpha val="2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" name="tickt-3-120"/>
          <p:cNvSpPr txBox="1"/>
          <p:nvPr/>
        </p:nvSpPr>
        <p:spPr>
          <a:xfrm>
            <a:off x="10723089" y="3686392"/>
            <a:ext cx="2369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120</a:t>
            </a:r>
          </a:p>
        </p:txBody>
      </p:sp>
      <p:sp>
        <p:nvSpPr>
          <p:cNvPr id="67" name="needle-3"/>
          <p:cNvSpPr/>
          <p:nvPr/>
        </p:nvSpPr>
        <p:spPr>
          <a:xfrm>
            <a:off x="9558655" y="3048635"/>
            <a:ext cx="748665" cy="337185"/>
          </a:xfrm>
          <a:custGeom>
            <a:avLst/>
            <a:gdLst/>
            <a:ahLst/>
            <a:cxnLst/>
            <a:rect l="0" t="0" r="r" b="b"/>
            <a:pathLst>
              <a:path w="748665" h="337185">
                <a:moveTo>
                  <a:pt x="59690" y="337185"/>
                </a:moveTo>
                <a:lnTo>
                  <a:pt x="748665" y="0"/>
                </a:lnTo>
                <a:lnTo>
                  <a:pt x="0" y="169545"/>
                </a:lnTo>
                <a:close/>
              </a:path>
            </a:pathLst>
          </a:custGeom>
          <a:solidFill>
            <a:srgbClr val="0B2545">
              <a:alpha val="8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hub-3"/>
          <p:cNvSpPr/>
          <p:nvPr/>
        </p:nvSpPr>
        <p:spPr>
          <a:xfrm>
            <a:off x="9480550" y="3194050"/>
            <a:ext cx="215900" cy="215900"/>
          </a:xfrm>
          <a:prstGeom prst="ellipse">
            <a:avLst/>
          </a:prstGeom>
          <a:solidFill>
            <a:srgbClr val="FFFFFF"/>
          </a:solidFill>
          <a:ln w="13970" cap="rnd">
            <a:solidFill>
              <a:srgbClr val="0B2545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pct-3"/>
          <p:cNvSpPr txBox="1"/>
          <p:nvPr/>
        </p:nvSpPr>
        <p:spPr>
          <a:xfrm>
            <a:off x="9035415" y="2547556"/>
            <a:ext cx="1106170" cy="5111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300" b="1" spc="40">
                <a:solidFill>
                  <a:srgbClr val="2E77C2"/>
                </a:solidFill>
                <a:latin typeface="Arial"/>
                <a:ea typeface="Arial"/>
                <a:cs typeface="Arial"/>
              </a:rPr>
              <a:t>98.5%</a:t>
            </a:r>
          </a:p>
        </p:txBody>
      </p:sp>
      <p:sp>
        <p:nvSpPr>
          <p:cNvPr id="70" name="pctl-3"/>
          <p:cNvSpPr txBox="1"/>
          <p:nvPr/>
        </p:nvSpPr>
        <p:spPr>
          <a:xfrm>
            <a:off x="9400858" y="3001708"/>
            <a:ext cx="37528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完成率</a:t>
            </a:r>
          </a:p>
        </p:txBody>
      </p:sp>
      <p:sp>
        <p:nvSpPr>
          <p:cNvPr id="71" name="v-3"/>
          <p:cNvSpPr txBox="1"/>
          <p:nvPr/>
        </p:nvSpPr>
        <p:spPr>
          <a:xfrm>
            <a:off x="9123299" y="3588195"/>
            <a:ext cx="778002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900" b="1" spc="40">
                <a:solidFill>
                  <a:srgbClr val="0B2545"/>
                </a:solidFill>
                <a:latin typeface="Arial"/>
                <a:ea typeface="Arial"/>
                <a:cs typeface="Arial"/>
              </a:rPr>
              <a:t>38.4</a:t>
            </a:r>
          </a:p>
        </p:txBody>
      </p:sp>
      <p:sp>
        <p:nvSpPr>
          <p:cNvPr id="72" name="u-3"/>
          <p:cNvSpPr txBox="1"/>
          <p:nvPr/>
        </p:nvSpPr>
        <p:spPr>
          <a:xfrm>
            <a:off x="9881616" y="37607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%</a:t>
            </a:r>
          </a:p>
        </p:txBody>
      </p:sp>
      <p:sp>
        <p:nvSpPr>
          <p:cNvPr id="73" name="st-3"/>
          <p:cNvSpPr/>
          <p:nvPr/>
        </p:nvSpPr>
        <p:spPr>
          <a:xfrm>
            <a:off x="8699500" y="4038600"/>
            <a:ext cx="1778000" cy="215900"/>
          </a:xfrm>
          <a:custGeom>
            <a:avLst/>
            <a:gdLst/>
            <a:ahLst/>
            <a:cxnLst/>
            <a:rect l="0" t="0" r="r" b="b"/>
            <a:pathLst>
              <a:path w="1778000" h="215900">
                <a:moveTo>
                  <a:pt x="107950" y="0"/>
                </a:moveTo>
                <a:lnTo>
                  <a:pt x="1670050" y="0"/>
                </a:lnTo>
                <a:cubicBezTo>
                  <a:pt x="1729677" y="0"/>
                  <a:pt x="1778000" y="48324"/>
                  <a:pt x="1778000" y="107950"/>
                </a:cubicBezTo>
                <a:lnTo>
                  <a:pt x="1778000" y="107950"/>
                </a:lnTo>
                <a:cubicBezTo>
                  <a:pt x="1778000" y="167576"/>
                  <a:pt x="1729677" y="215900"/>
                  <a:pt x="16700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stt-3"/>
          <p:cNvSpPr txBox="1"/>
          <p:nvPr/>
        </p:nvSpPr>
        <p:spPr>
          <a:xfrm>
            <a:off x="9002078" y="4067016"/>
            <a:ext cx="11728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未达标 · 差 1.5 个点</a:t>
            </a:r>
          </a:p>
        </p:txBody>
      </p:sp>
      <p:sp>
        <p:nvSpPr>
          <p:cNvPr id="75" name="dt-bar"/>
          <p:cNvSpPr/>
          <p:nvPr/>
        </p:nvSpPr>
        <p:spPr>
          <a:xfrm>
            <a:off x="952500" y="4610100"/>
            <a:ext cx="25400" cy="4826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dt-h"/>
          <p:cNvSpPr txBox="1"/>
          <p:nvPr/>
        </p:nvSpPr>
        <p:spPr>
          <a:xfrm>
            <a:off x="1102360" y="4643755"/>
            <a:ext cx="6731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季度节奏</a:t>
            </a:r>
          </a:p>
        </p:txBody>
      </p:sp>
      <p:sp>
        <p:nvSpPr>
          <p:cNvPr id="77" name="dt-p"/>
          <p:cNvSpPr txBox="1"/>
          <p:nvPr/>
        </p:nvSpPr>
        <p:spPr>
          <a:xfrm>
            <a:off x="1104265" y="4866561"/>
            <a:ext cx="12366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四个季度的累计完成率</a:t>
            </a:r>
          </a:p>
        </p:txBody>
      </p:sp>
      <p:sp>
        <p:nvSpPr>
          <p:cNvPr id="78" name="qn-1"/>
          <p:cNvSpPr txBox="1"/>
          <p:nvPr/>
        </p:nvSpPr>
        <p:spPr>
          <a:xfrm>
            <a:off x="2676588" y="4691745"/>
            <a:ext cx="497523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8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营收目标</a:t>
            </a:r>
          </a:p>
        </p:txBody>
      </p:sp>
      <p:sp>
        <p:nvSpPr>
          <p:cNvPr id="79" name="qbg-1"/>
          <p:cNvSpPr/>
          <p:nvPr/>
        </p:nvSpPr>
        <p:spPr>
          <a:xfrm>
            <a:off x="3302000" y="4711700"/>
            <a:ext cx="6985000" cy="139700"/>
          </a:xfrm>
          <a:prstGeom prst="roundRect">
            <a:avLst>
              <a:gd name="adj" fmla="val 50000"/>
            </a:avLst>
          </a:pr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qbar-1"/>
          <p:cNvSpPr/>
          <p:nvPr/>
        </p:nvSpPr>
        <p:spPr>
          <a:xfrm>
            <a:off x="3302000" y="4711700"/>
            <a:ext cx="6030383" cy="139700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4168A8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81" name="qmark-1"/>
          <p:cNvCxnSpPr/>
          <p:nvPr/>
        </p:nvCxnSpPr>
        <p:spPr>
          <a:xfrm>
            <a:off x="9122833" y="4673600"/>
            <a:ext cx="0" cy="215900"/>
          </a:xfrm>
          <a:prstGeom prst="line">
            <a:avLst/>
          </a:prstGeom>
          <a:ln w="12700" cap="rnd">
            <a:solidFill>
              <a:srgbClr val="E0703A">
                <a:alpha val="7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qv-1"/>
          <p:cNvSpPr txBox="1"/>
          <p:nvPr/>
        </p:nvSpPr>
        <p:spPr>
          <a:xfrm>
            <a:off x="10399522" y="4683347"/>
            <a:ext cx="529209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20">
                <a:solidFill>
                  <a:srgbClr val="0B3E8F"/>
                </a:solidFill>
                <a:latin typeface="Arial"/>
                <a:ea typeface="Arial"/>
                <a:cs typeface="Arial"/>
              </a:rPr>
              <a:t>103.6%</a:t>
            </a:r>
          </a:p>
        </p:txBody>
      </p:sp>
      <p:sp>
        <p:nvSpPr>
          <p:cNvPr id="83" name="qn-2"/>
          <p:cNvSpPr txBox="1"/>
          <p:nvPr/>
        </p:nvSpPr>
        <p:spPr>
          <a:xfrm>
            <a:off x="2676588" y="5060045"/>
            <a:ext cx="497523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8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新签客户</a:t>
            </a:r>
          </a:p>
        </p:txBody>
      </p:sp>
      <p:sp>
        <p:nvSpPr>
          <p:cNvPr id="84" name="qbg-2"/>
          <p:cNvSpPr/>
          <p:nvPr/>
        </p:nvSpPr>
        <p:spPr>
          <a:xfrm>
            <a:off x="3302000" y="5080000"/>
            <a:ext cx="6985000" cy="139700"/>
          </a:xfrm>
          <a:prstGeom prst="roundRect">
            <a:avLst>
              <a:gd name="adj" fmla="val 50000"/>
            </a:avLst>
          </a:pr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qbar-2"/>
          <p:cNvSpPr/>
          <p:nvPr/>
        </p:nvSpPr>
        <p:spPr>
          <a:xfrm>
            <a:off x="3302000" y="5080000"/>
            <a:ext cx="5343525" cy="139700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4D7EBB"/>
              </a:gs>
              <a:gs pos="100000">
                <a:srgbClr val="1B5AA8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86" name="qmark-2"/>
          <p:cNvCxnSpPr/>
          <p:nvPr/>
        </p:nvCxnSpPr>
        <p:spPr>
          <a:xfrm>
            <a:off x="9122833" y="5041900"/>
            <a:ext cx="0" cy="215900"/>
          </a:xfrm>
          <a:prstGeom prst="line">
            <a:avLst/>
          </a:prstGeom>
          <a:ln w="12700" cap="rnd">
            <a:solidFill>
              <a:srgbClr val="E0703A">
                <a:alpha val="7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qv-2"/>
          <p:cNvSpPr txBox="1"/>
          <p:nvPr/>
        </p:nvSpPr>
        <p:spPr>
          <a:xfrm>
            <a:off x="10399522" y="5051647"/>
            <a:ext cx="45910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20">
                <a:solidFill>
                  <a:srgbClr val="1B5AA8"/>
                </a:solidFill>
                <a:latin typeface="Arial"/>
                <a:ea typeface="Arial"/>
                <a:cs typeface="Arial"/>
              </a:rPr>
              <a:t>91.8%</a:t>
            </a:r>
          </a:p>
        </p:txBody>
      </p:sp>
      <p:sp>
        <p:nvSpPr>
          <p:cNvPr id="88" name="qn-3"/>
          <p:cNvSpPr txBox="1"/>
          <p:nvPr/>
        </p:nvSpPr>
        <p:spPr>
          <a:xfrm>
            <a:off x="2778824" y="5428345"/>
            <a:ext cx="395288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8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毛利率</a:t>
            </a:r>
          </a:p>
        </p:txBody>
      </p:sp>
      <p:sp>
        <p:nvSpPr>
          <p:cNvPr id="89" name="qbg-3"/>
          <p:cNvSpPr/>
          <p:nvPr/>
        </p:nvSpPr>
        <p:spPr>
          <a:xfrm>
            <a:off x="3302000" y="5448300"/>
            <a:ext cx="6985000" cy="139700"/>
          </a:xfrm>
          <a:prstGeom prst="roundRect">
            <a:avLst>
              <a:gd name="adj" fmla="val 50000"/>
            </a:avLst>
          </a:pr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qbar-3"/>
          <p:cNvSpPr/>
          <p:nvPr/>
        </p:nvSpPr>
        <p:spPr>
          <a:xfrm>
            <a:off x="3302000" y="5448300"/>
            <a:ext cx="5733521" cy="139700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5C95CF"/>
              </a:gs>
              <a:gs pos="100000">
                <a:srgbClr val="2E77C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91" name="qmark-3"/>
          <p:cNvCxnSpPr/>
          <p:nvPr/>
        </p:nvCxnSpPr>
        <p:spPr>
          <a:xfrm>
            <a:off x="9122833" y="5410200"/>
            <a:ext cx="0" cy="215900"/>
          </a:xfrm>
          <a:prstGeom prst="line">
            <a:avLst/>
          </a:prstGeom>
          <a:ln w="12700" cap="rnd">
            <a:solidFill>
              <a:srgbClr val="E0703A">
                <a:alpha val="7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2" name="qv-3"/>
          <p:cNvSpPr txBox="1"/>
          <p:nvPr/>
        </p:nvSpPr>
        <p:spPr>
          <a:xfrm>
            <a:off x="10399522" y="5419947"/>
            <a:ext cx="45910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20">
                <a:solidFill>
                  <a:srgbClr val="2E77C2"/>
                </a:solidFill>
                <a:latin typeface="Arial"/>
                <a:ea typeface="Arial"/>
                <a:cs typeface="Arial"/>
              </a:rPr>
              <a:t>98.5%</a:t>
            </a:r>
          </a:p>
        </p:txBody>
      </p:sp>
      <p:sp>
        <p:nvSpPr>
          <p:cNvPr id="93" name="qmark-t"/>
          <p:cNvSpPr txBox="1"/>
          <p:nvPr/>
        </p:nvSpPr>
        <p:spPr>
          <a:xfrm>
            <a:off x="8809778" y="4449508"/>
            <a:ext cx="6261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3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目标线 100%</a:t>
            </a:r>
          </a:p>
        </p:txBody>
      </p:sp>
      <p:sp>
        <p:nvSpPr>
          <p:cNvPr id="94" name="sum"/>
          <p:cNvSpPr/>
          <p:nvPr/>
        </p:nvSpPr>
        <p:spPr>
          <a:xfrm>
            <a:off x="952500" y="5727700"/>
            <a:ext cx="10287000" cy="558800"/>
          </a:xfrm>
          <a:custGeom>
            <a:avLst/>
            <a:gdLst/>
            <a:ahLst/>
            <a:cxnLst/>
            <a:rect l="0" t="0" r="r" b="b"/>
            <a:pathLst>
              <a:path w="10287000" h="5588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57200"/>
                </a:lnTo>
                <a:cubicBezTo>
                  <a:pt x="10287000" y="513334"/>
                  <a:pt x="10241534" y="558800"/>
                  <a:pt x="10185400" y="558800"/>
                </a:cubicBezTo>
                <a:lnTo>
                  <a:pt x="101600" y="558800"/>
                </a:lnTo>
                <a:cubicBezTo>
                  <a:pt x="45466" y="558800"/>
                  <a:pt x="0" y="513334"/>
                  <a:pt x="0" y="457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sum-bar"/>
          <p:cNvSpPr/>
          <p:nvPr/>
        </p:nvSpPr>
        <p:spPr>
          <a:xfrm>
            <a:off x="952500" y="5727700"/>
            <a:ext cx="31750" cy="5588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sum-h"/>
          <p:cNvSpPr txBox="1"/>
          <p:nvPr/>
        </p:nvSpPr>
        <p:spPr>
          <a:xfrm>
            <a:off x="1141222" y="58199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达成判断</a:t>
            </a:r>
          </a:p>
        </p:txBody>
      </p:sp>
      <p:sp>
        <p:nvSpPr>
          <p:cNvPr id="97" name="sum-p"/>
          <p:cNvSpPr txBox="1"/>
          <p:nvPr/>
        </p:nvSpPr>
        <p:spPr>
          <a:xfrm>
            <a:off x="1142365" y="6034961"/>
            <a:ext cx="45475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营收提前达标，新签客户缺口 114 家是唯一硬缺口，需在 12 月用存量客户转介补齐。</a:t>
            </a:r>
          </a:p>
        </p:txBody>
      </p:sp>
      <p:sp>
        <p:nvSpPr>
          <p:cNvPr id="98" name="sv-1"/>
          <p:cNvSpPr txBox="1"/>
          <p:nvPr/>
        </p:nvSpPr>
        <p:spPr>
          <a:xfrm>
            <a:off x="7177722" y="5818886"/>
            <a:ext cx="579755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 / 3</a:t>
            </a:r>
          </a:p>
        </p:txBody>
      </p:sp>
      <p:sp>
        <p:nvSpPr>
          <p:cNvPr id="99" name="sl-1"/>
          <p:cNvSpPr txBox="1"/>
          <p:nvPr/>
        </p:nvSpPr>
        <p:spPr>
          <a:xfrm>
            <a:off x="7198995" y="6075108"/>
            <a:ext cx="5372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已达标目标</a:t>
            </a:r>
          </a:p>
        </p:txBody>
      </p:sp>
      <p:sp>
        <p:nvSpPr>
          <p:cNvPr id="100" name="sv-2"/>
          <p:cNvSpPr txBox="1"/>
          <p:nvPr/>
        </p:nvSpPr>
        <p:spPr>
          <a:xfrm>
            <a:off x="8464994" y="5818886"/>
            <a:ext cx="646811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114 家</a:t>
            </a:r>
          </a:p>
        </p:txBody>
      </p:sp>
      <p:sp>
        <p:nvSpPr>
          <p:cNvPr id="101" name="sl-2"/>
          <p:cNvSpPr txBox="1"/>
          <p:nvPr/>
        </p:nvSpPr>
        <p:spPr>
          <a:xfrm>
            <a:off x="8565515" y="6075108"/>
            <a:ext cx="4457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最大缺口</a:t>
            </a:r>
          </a:p>
        </p:txBody>
      </p:sp>
      <p:sp>
        <p:nvSpPr>
          <p:cNvPr id="102" name="sv-3"/>
          <p:cNvSpPr txBox="1"/>
          <p:nvPr/>
        </p:nvSpPr>
        <p:spPr>
          <a:xfrm>
            <a:off x="9830054" y="5818886"/>
            <a:ext cx="558292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12 月</a:t>
            </a:r>
          </a:p>
        </p:txBody>
      </p:sp>
      <p:sp>
        <p:nvSpPr>
          <p:cNvPr id="103" name="sl-3"/>
          <p:cNvSpPr txBox="1"/>
          <p:nvPr/>
        </p:nvSpPr>
        <p:spPr>
          <a:xfrm>
            <a:off x="9886315" y="6075108"/>
            <a:ext cx="4457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冲刺窗口</a:t>
            </a:r>
          </a:p>
        </p:txBody>
      </p:sp>
      <p:cxnSp>
        <p:nvCxnSpPr>
          <p:cNvPr id="104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" name="foot-l"/>
          <p:cNvSpPr txBox="1"/>
          <p:nvPr/>
        </p:nvSpPr>
        <p:spPr>
          <a:xfrm>
            <a:off x="573532" y="6532308"/>
            <a:ext cx="13406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目标完成度 · 三项一级目标</a:t>
            </a:r>
          </a:p>
        </p:txBody>
      </p:sp>
      <p:sp>
        <p:nvSpPr>
          <p:cNvPr id="106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营收构成树图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71742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TREEMAP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437499" y="673132"/>
            <a:ext cx="31832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面积代表营收规模，颜色深浅代表毛利率高低（单位：亿元）</a:t>
            </a:r>
          </a:p>
        </p:txBody>
      </p:sp>
      <p:sp>
        <p:nvSpPr>
          <p:cNvPr id="10" name="blk-1"/>
          <p:cNvSpPr/>
          <p:nvPr/>
        </p:nvSpPr>
        <p:spPr>
          <a:xfrm>
            <a:off x="977900" y="1727200"/>
            <a:ext cx="3482530" cy="4013200"/>
          </a:xfrm>
          <a:custGeom>
            <a:avLst/>
            <a:gdLst/>
            <a:ahLst/>
            <a:cxnLst/>
            <a:rect l="0" t="0" r="r" b="b"/>
            <a:pathLst>
              <a:path w="3482530" h="4013200">
                <a:moveTo>
                  <a:pt x="101600" y="0"/>
                </a:moveTo>
                <a:lnTo>
                  <a:pt x="3380930" y="0"/>
                </a:lnTo>
                <a:cubicBezTo>
                  <a:pt x="3437064" y="0"/>
                  <a:pt x="3482530" y="45466"/>
                  <a:pt x="3482530" y="101600"/>
                </a:cubicBezTo>
                <a:lnTo>
                  <a:pt x="3482530" y="3911600"/>
                </a:lnTo>
                <a:cubicBezTo>
                  <a:pt x="3482530" y="3967734"/>
                  <a:pt x="3437064" y="4013200"/>
                  <a:pt x="3380930" y="4013200"/>
                </a:cubicBezTo>
                <a:lnTo>
                  <a:pt x="101600" y="4013200"/>
                </a:lnTo>
                <a:cubicBezTo>
                  <a:pt x="45466" y="4013200"/>
                  <a:pt x="0" y="3967734"/>
                  <a:pt x="0" y="391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7EA3CE"/>
              </a:gs>
              <a:gs pos="100000">
                <a:srgbClr val="6691C5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icon-factory"/>
          <p:cNvSpPr/>
          <p:nvPr/>
        </p:nvSpPr>
        <p:spPr>
          <a:xfrm>
            <a:off x="1205357" y="2061337"/>
            <a:ext cx="154686" cy="104331"/>
          </a:xfrm>
          <a:custGeom>
            <a:avLst/>
            <a:gdLst/>
            <a:ahLst/>
            <a:cxnLst/>
            <a:rect l="0" t="0" r="r" b="b"/>
            <a:pathLst>
              <a:path w="154686" h="104331">
                <a:moveTo>
                  <a:pt x="0" y="104331"/>
                </a:moveTo>
                <a:lnTo>
                  <a:pt x="0" y="25146"/>
                </a:lnTo>
                <a:lnTo>
                  <a:pt x="44958" y="52133"/>
                </a:lnTo>
                <a:lnTo>
                  <a:pt x="44958" y="25146"/>
                </a:lnTo>
                <a:lnTo>
                  <a:pt x="89916" y="52133"/>
                </a:lnTo>
                <a:lnTo>
                  <a:pt x="89916" y="0"/>
                </a:lnTo>
                <a:lnTo>
                  <a:pt x="134938" y="26988"/>
                </a:lnTo>
                <a:lnTo>
                  <a:pt x="134938" y="95313"/>
                </a:lnTo>
                <a:close/>
                <a:moveTo>
                  <a:pt x="0" y="104331"/>
                </a:moveTo>
                <a:lnTo>
                  <a:pt x="154686" y="104331"/>
                </a:lnTo>
              </a:path>
            </a:pathLst>
          </a:custGeom>
          <a:noFill/>
          <a:ln w="13335" cap="rnd">
            <a:solidFill>
              <a:srgbClr val="FFFFFF">
                <a:alpha val="9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bn-1"/>
          <p:cNvSpPr txBox="1"/>
          <p:nvPr/>
        </p:nvSpPr>
        <p:spPr>
          <a:xfrm>
            <a:off x="1182116" y="2390648"/>
            <a:ext cx="1071880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6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智能装备</a:t>
            </a:r>
          </a:p>
        </p:txBody>
      </p:sp>
      <p:sp>
        <p:nvSpPr>
          <p:cNvPr id="13" name="bv-1"/>
          <p:cNvSpPr txBox="1"/>
          <p:nvPr/>
        </p:nvSpPr>
        <p:spPr>
          <a:xfrm>
            <a:off x="1166876" y="2602103"/>
            <a:ext cx="870966" cy="5778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600" b="1" spc="50">
                <a:solidFill>
                  <a:srgbClr val="FFFFFF"/>
                </a:solidFill>
                <a:latin typeface="Arial"/>
                <a:ea typeface="Arial"/>
                <a:cs typeface="Arial"/>
              </a:rPr>
              <a:t>8.2</a:t>
            </a:r>
          </a:p>
        </p:txBody>
      </p:sp>
      <p:sp>
        <p:nvSpPr>
          <p:cNvPr id="14" name="bu-1"/>
          <p:cNvSpPr txBox="1"/>
          <p:nvPr/>
        </p:nvSpPr>
        <p:spPr>
          <a:xfrm>
            <a:off x="1815084" y="2868740"/>
            <a:ext cx="331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DCE8F7"/>
                </a:solidFill>
                <a:latin typeface="微软雅黑"/>
                <a:ea typeface="微软雅黑"/>
                <a:cs typeface="微软雅黑"/>
              </a:rPr>
              <a:t>亿元</a:t>
            </a:r>
          </a:p>
        </p:txBody>
      </p:sp>
      <p:sp>
        <p:nvSpPr>
          <p:cNvPr id="15" name="bc-1"/>
          <p:cNvSpPr/>
          <p:nvPr/>
        </p:nvSpPr>
        <p:spPr>
          <a:xfrm>
            <a:off x="1206500" y="3187700"/>
            <a:ext cx="1117600" cy="215900"/>
          </a:xfrm>
          <a:custGeom>
            <a:avLst/>
            <a:gdLst/>
            <a:ahLst/>
            <a:cxnLst/>
            <a:rect l="0" t="0" r="r" b="b"/>
            <a:pathLst>
              <a:path w="1117600" h="215900">
                <a:moveTo>
                  <a:pt x="107950" y="0"/>
                </a:moveTo>
                <a:lnTo>
                  <a:pt x="1009650" y="0"/>
                </a:lnTo>
                <a:cubicBezTo>
                  <a:pt x="1069276" y="0"/>
                  <a:pt x="1117600" y="48324"/>
                  <a:pt x="1117600" y="107950"/>
                </a:cubicBezTo>
                <a:lnTo>
                  <a:pt x="1117600" y="107950"/>
                </a:lnTo>
                <a:cubicBezTo>
                  <a:pt x="1117600" y="167576"/>
                  <a:pt x="1069276" y="215900"/>
                  <a:pt x="1009650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bp-1"/>
          <p:cNvSpPr txBox="1"/>
          <p:nvPr/>
        </p:nvSpPr>
        <p:spPr>
          <a:xfrm>
            <a:off x="1454468" y="3209766"/>
            <a:ext cx="6216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占比 48.8%</a:t>
            </a:r>
          </a:p>
        </p:txBody>
      </p:sp>
      <p:sp>
        <p:nvSpPr>
          <p:cNvPr id="17" name="bg-1"/>
          <p:cNvSpPr txBox="1"/>
          <p:nvPr/>
        </p:nvSpPr>
        <p:spPr>
          <a:xfrm>
            <a:off x="1194308" y="5348224"/>
            <a:ext cx="65049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30">
                <a:solidFill>
                  <a:srgbClr val="FFFFFF">
                    <a:alpha val="86000"/>
                  </a:srgbClr>
                </a:solidFill>
                <a:latin typeface="微软雅黑"/>
                <a:ea typeface="微软雅黑"/>
                <a:cs typeface="微软雅黑"/>
              </a:rPr>
              <a:t>毛利率 34%</a:t>
            </a:r>
          </a:p>
        </p:txBody>
      </p:sp>
      <p:sp>
        <p:nvSpPr>
          <p:cNvPr id="18" name="blk-2"/>
          <p:cNvSpPr/>
          <p:nvPr/>
        </p:nvSpPr>
        <p:spPr>
          <a:xfrm>
            <a:off x="4511230" y="1727200"/>
            <a:ext cx="3654870" cy="1508633"/>
          </a:xfrm>
          <a:custGeom>
            <a:avLst/>
            <a:gdLst/>
            <a:ahLst/>
            <a:cxnLst/>
            <a:rect l="0" t="0" r="r" b="b"/>
            <a:pathLst>
              <a:path w="3654870" h="1508633">
                <a:moveTo>
                  <a:pt x="101600" y="0"/>
                </a:moveTo>
                <a:lnTo>
                  <a:pt x="3553270" y="0"/>
                </a:lnTo>
                <a:cubicBezTo>
                  <a:pt x="3609404" y="0"/>
                  <a:pt x="3654870" y="45466"/>
                  <a:pt x="3654870" y="101600"/>
                </a:cubicBezTo>
                <a:lnTo>
                  <a:pt x="3654870" y="1407033"/>
                </a:lnTo>
                <a:cubicBezTo>
                  <a:pt x="3654870" y="1463167"/>
                  <a:pt x="3609404" y="1508633"/>
                  <a:pt x="3553270" y="1508633"/>
                </a:cubicBezTo>
                <a:lnTo>
                  <a:pt x="101600" y="1508633"/>
                </a:lnTo>
                <a:cubicBezTo>
                  <a:pt x="45466" y="1508633"/>
                  <a:pt x="0" y="1463167"/>
                  <a:pt x="0" y="1407033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3A64A5"/>
              </a:gs>
              <a:gs pos="100000">
                <a:srgbClr val="144694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icon-cloud"/>
          <p:cNvSpPr/>
          <p:nvPr/>
        </p:nvSpPr>
        <p:spPr>
          <a:xfrm>
            <a:off x="4663821" y="1986047"/>
            <a:ext cx="130746" cy="89958"/>
          </a:xfrm>
          <a:custGeom>
            <a:avLst/>
            <a:gdLst/>
            <a:ahLst/>
            <a:cxnLst/>
            <a:rect l="0" t="0" r="r" b="b"/>
            <a:pathLst>
              <a:path w="130746" h="89958">
                <a:moveTo>
                  <a:pt x="30289" y="89958"/>
                </a:moveTo>
                <a:cubicBezTo>
                  <a:pt x="14351" y="90720"/>
                  <a:pt x="762" y="78401"/>
                  <a:pt x="0" y="62463"/>
                </a:cubicBezTo>
                <a:cubicBezTo>
                  <a:pt x="-762" y="46524"/>
                  <a:pt x="11557" y="32935"/>
                  <a:pt x="27559" y="32173"/>
                </a:cubicBezTo>
                <a:cubicBezTo>
                  <a:pt x="29781" y="15346"/>
                  <a:pt x="43180" y="2201"/>
                  <a:pt x="60071" y="233"/>
                </a:cubicBezTo>
                <a:cubicBezTo>
                  <a:pt x="76962" y="-1736"/>
                  <a:pt x="93027" y="8043"/>
                  <a:pt x="99060" y="23918"/>
                </a:cubicBezTo>
                <a:cubicBezTo>
                  <a:pt x="117284" y="24680"/>
                  <a:pt x="131445" y="40111"/>
                  <a:pt x="130746" y="58335"/>
                </a:cubicBezTo>
                <a:cubicBezTo>
                  <a:pt x="129984" y="76560"/>
                  <a:pt x="114554" y="90720"/>
                  <a:pt x="96329" y="89958"/>
                </a:cubicBezTo>
                <a:close/>
              </a:path>
            </a:pathLst>
          </a:custGeom>
          <a:noFill/>
          <a:ln w="12700" cap="rnd">
            <a:solidFill>
              <a:srgbClr val="FFFFFF">
                <a:alpha val="9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bn-2"/>
          <p:cNvSpPr txBox="1"/>
          <p:nvPr/>
        </p:nvSpPr>
        <p:spPr>
          <a:xfrm>
            <a:off x="4658795" y="2181828"/>
            <a:ext cx="7664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软件平台</a:t>
            </a:r>
          </a:p>
        </p:txBody>
      </p:sp>
      <p:sp>
        <p:nvSpPr>
          <p:cNvPr id="21" name="bv-2"/>
          <p:cNvSpPr txBox="1"/>
          <p:nvPr/>
        </p:nvSpPr>
        <p:spPr>
          <a:xfrm>
            <a:off x="4655747" y="2442559"/>
            <a:ext cx="728853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5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3.3 亿</a:t>
            </a:r>
          </a:p>
        </p:txBody>
      </p:sp>
      <p:sp>
        <p:nvSpPr>
          <p:cNvPr id="22" name="bp-2"/>
          <p:cNvSpPr txBox="1"/>
          <p:nvPr/>
        </p:nvSpPr>
        <p:spPr>
          <a:xfrm>
            <a:off x="4665653" y="2735008"/>
            <a:ext cx="8907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FFFFFF">
                    <a:alpha val="85000"/>
                  </a:srgbClr>
                </a:solidFill>
                <a:latin typeface="微软雅黑"/>
                <a:ea typeface="微软雅黑"/>
                <a:cs typeface="微软雅黑"/>
              </a:rPr>
              <a:t>19.6% · 毛利 62%</a:t>
            </a:r>
          </a:p>
        </p:txBody>
      </p:sp>
      <p:sp>
        <p:nvSpPr>
          <p:cNvPr id="23" name="blk-3"/>
          <p:cNvSpPr/>
          <p:nvPr/>
        </p:nvSpPr>
        <p:spPr>
          <a:xfrm>
            <a:off x="4511230" y="3286633"/>
            <a:ext cx="1487424" cy="2453767"/>
          </a:xfrm>
          <a:custGeom>
            <a:avLst/>
            <a:gdLst/>
            <a:ahLst/>
            <a:cxnLst/>
            <a:rect l="0" t="0" r="r" b="b"/>
            <a:pathLst>
              <a:path w="1487424" h="2453767">
                <a:moveTo>
                  <a:pt x="101600" y="0"/>
                </a:moveTo>
                <a:lnTo>
                  <a:pt x="1385824" y="0"/>
                </a:lnTo>
                <a:cubicBezTo>
                  <a:pt x="1441895" y="0"/>
                  <a:pt x="1487424" y="45466"/>
                  <a:pt x="1487424" y="101600"/>
                </a:cubicBezTo>
                <a:lnTo>
                  <a:pt x="1487424" y="2352167"/>
                </a:lnTo>
                <a:cubicBezTo>
                  <a:pt x="1487424" y="2408301"/>
                  <a:pt x="1441895" y="2453767"/>
                  <a:pt x="1385824" y="2453767"/>
                </a:cubicBezTo>
                <a:lnTo>
                  <a:pt x="101600" y="2453767"/>
                </a:lnTo>
                <a:cubicBezTo>
                  <a:pt x="45466" y="2453767"/>
                  <a:pt x="0" y="2408301"/>
                  <a:pt x="0" y="2352167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5C83BA"/>
              </a:gs>
              <a:gs pos="100000">
                <a:srgbClr val="3D6BAD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icon-hand"/>
          <p:cNvSpPr/>
          <p:nvPr/>
        </p:nvSpPr>
        <p:spPr>
          <a:xfrm>
            <a:off x="4675107" y="3532251"/>
            <a:ext cx="93299" cy="118364"/>
          </a:xfrm>
          <a:custGeom>
            <a:avLst/>
            <a:gdLst/>
            <a:ahLst/>
            <a:cxnLst/>
            <a:rect l="0" t="0" r="r" b="b"/>
            <a:pathLst>
              <a:path w="93299" h="118364">
                <a:moveTo>
                  <a:pt x="27259" y="63310"/>
                </a:moveTo>
                <a:lnTo>
                  <a:pt x="27259" y="19304"/>
                </a:lnTo>
                <a:cubicBezTo>
                  <a:pt x="27259" y="13208"/>
                  <a:pt x="32148" y="8255"/>
                  <a:pt x="38244" y="8255"/>
                </a:cubicBezTo>
                <a:cubicBezTo>
                  <a:pt x="44340" y="8255"/>
                  <a:pt x="49293" y="13208"/>
                  <a:pt x="49293" y="19304"/>
                </a:cubicBezTo>
                <a:lnTo>
                  <a:pt x="49293" y="53658"/>
                </a:lnTo>
                <a:moveTo>
                  <a:pt x="49293" y="53658"/>
                </a:moveTo>
                <a:lnTo>
                  <a:pt x="49293" y="11049"/>
                </a:lnTo>
                <a:cubicBezTo>
                  <a:pt x="49293" y="4953"/>
                  <a:pt x="54183" y="0"/>
                  <a:pt x="60279" y="0"/>
                </a:cubicBezTo>
                <a:cubicBezTo>
                  <a:pt x="66375" y="0"/>
                  <a:pt x="71264" y="4953"/>
                  <a:pt x="71264" y="11049"/>
                </a:cubicBezTo>
                <a:lnTo>
                  <a:pt x="71264" y="53658"/>
                </a:lnTo>
                <a:moveTo>
                  <a:pt x="71264" y="56451"/>
                </a:moveTo>
                <a:lnTo>
                  <a:pt x="71264" y="27559"/>
                </a:lnTo>
                <a:cubicBezTo>
                  <a:pt x="71264" y="21463"/>
                  <a:pt x="76217" y="16510"/>
                  <a:pt x="82313" y="16510"/>
                </a:cubicBezTo>
                <a:cubicBezTo>
                  <a:pt x="88346" y="16510"/>
                  <a:pt x="93299" y="21463"/>
                  <a:pt x="93299" y="27559"/>
                </a:cubicBezTo>
                <a:lnTo>
                  <a:pt x="93299" y="78423"/>
                </a:lnTo>
                <a:cubicBezTo>
                  <a:pt x="93299" y="100457"/>
                  <a:pt x="76789" y="118364"/>
                  <a:pt x="54754" y="118364"/>
                </a:cubicBezTo>
                <a:cubicBezTo>
                  <a:pt x="36911" y="118364"/>
                  <a:pt x="27259" y="110109"/>
                  <a:pt x="17607" y="96329"/>
                </a:cubicBezTo>
                <a:lnTo>
                  <a:pt x="1097" y="71564"/>
                </a:lnTo>
                <a:cubicBezTo>
                  <a:pt x="-1253" y="66675"/>
                  <a:pt x="271" y="60833"/>
                  <a:pt x="4716" y="57722"/>
                </a:cubicBezTo>
                <a:cubicBezTo>
                  <a:pt x="9225" y="54610"/>
                  <a:pt x="15257" y="55245"/>
                  <a:pt x="19004" y="59182"/>
                </a:cubicBezTo>
                <a:close/>
              </a:path>
            </a:pathLst>
          </a:custGeom>
          <a:noFill/>
          <a:ln w="12700" cap="rnd">
            <a:solidFill>
              <a:srgbClr val="FFFFFF">
                <a:alpha val="9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bn-3"/>
          <p:cNvSpPr txBox="1"/>
          <p:nvPr/>
        </p:nvSpPr>
        <p:spPr>
          <a:xfrm>
            <a:off x="4658795" y="3741270"/>
            <a:ext cx="7664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运维服务</a:t>
            </a:r>
          </a:p>
        </p:txBody>
      </p:sp>
      <p:sp>
        <p:nvSpPr>
          <p:cNvPr id="26" name="bv-3"/>
          <p:cNvSpPr txBox="1"/>
          <p:nvPr/>
        </p:nvSpPr>
        <p:spPr>
          <a:xfrm>
            <a:off x="4655747" y="4002001"/>
            <a:ext cx="728853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5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2.2 亿</a:t>
            </a:r>
          </a:p>
        </p:txBody>
      </p:sp>
      <p:sp>
        <p:nvSpPr>
          <p:cNvPr id="27" name="bp-3"/>
          <p:cNvSpPr txBox="1"/>
          <p:nvPr/>
        </p:nvSpPr>
        <p:spPr>
          <a:xfrm>
            <a:off x="4665653" y="4294450"/>
            <a:ext cx="8907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FFFFFF">
                    <a:alpha val="85000"/>
                  </a:srgbClr>
                </a:solidFill>
                <a:latin typeface="微软雅黑"/>
                <a:ea typeface="微软雅黑"/>
                <a:cs typeface="微软雅黑"/>
              </a:rPr>
              <a:t>13.1% · 毛利 48%</a:t>
            </a:r>
          </a:p>
        </p:txBody>
      </p:sp>
      <p:sp>
        <p:nvSpPr>
          <p:cNvPr id="28" name="blk-4"/>
          <p:cNvSpPr/>
          <p:nvPr/>
        </p:nvSpPr>
        <p:spPr>
          <a:xfrm>
            <a:off x="6049454" y="3286633"/>
            <a:ext cx="2116646" cy="999490"/>
          </a:xfrm>
          <a:custGeom>
            <a:avLst/>
            <a:gdLst/>
            <a:ahLst/>
            <a:cxnLst/>
            <a:rect l="0" t="0" r="r" b="b"/>
            <a:pathLst>
              <a:path w="2116646" h="999490">
                <a:moveTo>
                  <a:pt x="101600" y="0"/>
                </a:moveTo>
                <a:lnTo>
                  <a:pt x="2015046" y="0"/>
                </a:lnTo>
                <a:cubicBezTo>
                  <a:pt x="2071179" y="0"/>
                  <a:pt x="2116646" y="45466"/>
                  <a:pt x="2116646" y="101600"/>
                </a:cubicBezTo>
                <a:lnTo>
                  <a:pt x="2116646" y="897890"/>
                </a:lnTo>
                <a:cubicBezTo>
                  <a:pt x="2116646" y="954024"/>
                  <a:pt x="2071179" y="999490"/>
                  <a:pt x="2015046" y="999490"/>
                </a:cubicBezTo>
                <a:lnTo>
                  <a:pt x="101600" y="999490"/>
                </a:lnTo>
                <a:cubicBezTo>
                  <a:pt x="45466" y="999490"/>
                  <a:pt x="0" y="954024"/>
                  <a:pt x="0" y="89789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6D93C4"/>
              </a:gs>
              <a:gs pos="100000">
                <a:srgbClr val="517EB9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bn-4"/>
          <p:cNvSpPr txBox="1"/>
          <p:nvPr/>
        </p:nvSpPr>
        <p:spPr>
          <a:xfrm>
            <a:off x="6161950" y="3391639"/>
            <a:ext cx="7499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供应链金融</a:t>
            </a:r>
          </a:p>
        </p:txBody>
      </p:sp>
      <p:sp>
        <p:nvSpPr>
          <p:cNvPr id="30" name="bv-4"/>
          <p:cNvSpPr txBox="1"/>
          <p:nvPr/>
        </p:nvSpPr>
        <p:spPr>
          <a:xfrm>
            <a:off x="6165760" y="3621350"/>
            <a:ext cx="74701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FFFFFF">
                    <a:alpha val="88000"/>
                  </a:srgbClr>
                </a:solidFill>
                <a:latin typeface="微软雅黑"/>
                <a:ea typeface="微软雅黑"/>
                <a:cs typeface="微软雅黑"/>
              </a:rPr>
              <a:t>1.3 亿 · 7.7%</a:t>
            </a:r>
          </a:p>
        </p:txBody>
      </p:sp>
      <p:sp>
        <p:nvSpPr>
          <p:cNvPr id="31" name="blk-5"/>
          <p:cNvSpPr/>
          <p:nvPr/>
        </p:nvSpPr>
        <p:spPr>
          <a:xfrm>
            <a:off x="6049454" y="4336923"/>
            <a:ext cx="912495" cy="1403477"/>
          </a:xfrm>
          <a:custGeom>
            <a:avLst/>
            <a:gdLst/>
            <a:ahLst/>
            <a:cxnLst/>
            <a:rect l="0" t="0" r="r" b="b"/>
            <a:pathLst>
              <a:path w="912495" h="1403477">
                <a:moveTo>
                  <a:pt x="101600" y="0"/>
                </a:moveTo>
                <a:lnTo>
                  <a:pt x="810895" y="0"/>
                </a:lnTo>
                <a:cubicBezTo>
                  <a:pt x="867029" y="0"/>
                  <a:pt x="912495" y="45529"/>
                  <a:pt x="912495" y="101600"/>
                </a:cubicBezTo>
                <a:lnTo>
                  <a:pt x="912495" y="1301877"/>
                </a:lnTo>
                <a:cubicBezTo>
                  <a:pt x="912495" y="1358011"/>
                  <a:pt x="867029" y="1403477"/>
                  <a:pt x="810895" y="1403477"/>
                </a:cubicBezTo>
                <a:lnTo>
                  <a:pt x="101600" y="1403477"/>
                </a:lnTo>
                <a:cubicBezTo>
                  <a:pt x="45466" y="1403477"/>
                  <a:pt x="0" y="1358011"/>
                  <a:pt x="0" y="1301877"/>
                </a:cubicBezTo>
                <a:lnTo>
                  <a:pt x="0" y="101600"/>
                </a:lnTo>
                <a:cubicBezTo>
                  <a:pt x="0" y="45529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4A74B0"/>
              </a:gs>
              <a:gs pos="100000">
                <a:srgbClr val="2859A1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bn-5"/>
          <p:cNvSpPr txBox="1"/>
          <p:nvPr/>
        </p:nvSpPr>
        <p:spPr>
          <a:xfrm>
            <a:off x="6161950" y="4441938"/>
            <a:ext cx="62166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培训认证</a:t>
            </a:r>
          </a:p>
        </p:txBody>
      </p:sp>
      <p:sp>
        <p:nvSpPr>
          <p:cNvPr id="33" name="bv-5"/>
          <p:cNvSpPr txBox="1"/>
          <p:nvPr/>
        </p:nvSpPr>
        <p:spPr>
          <a:xfrm>
            <a:off x="6165760" y="4671649"/>
            <a:ext cx="74701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FFFFFF">
                    <a:alpha val="88000"/>
                  </a:srgbClr>
                </a:solidFill>
                <a:latin typeface="微软雅黑"/>
                <a:ea typeface="微软雅黑"/>
                <a:cs typeface="微软雅黑"/>
              </a:rPr>
              <a:t>0.8 亿 · 4.8%</a:t>
            </a:r>
          </a:p>
        </p:txBody>
      </p:sp>
      <p:sp>
        <p:nvSpPr>
          <p:cNvPr id="34" name="blk-6"/>
          <p:cNvSpPr/>
          <p:nvPr/>
        </p:nvSpPr>
        <p:spPr>
          <a:xfrm>
            <a:off x="7012749" y="4336923"/>
            <a:ext cx="1153351" cy="821753"/>
          </a:xfrm>
          <a:custGeom>
            <a:avLst/>
            <a:gdLst/>
            <a:ahLst/>
            <a:cxnLst/>
            <a:rect l="0" t="0" r="r" b="b"/>
            <a:pathLst>
              <a:path w="1153351" h="821753">
                <a:moveTo>
                  <a:pt x="101600" y="0"/>
                </a:moveTo>
                <a:lnTo>
                  <a:pt x="1051751" y="0"/>
                </a:lnTo>
                <a:cubicBezTo>
                  <a:pt x="1107885" y="0"/>
                  <a:pt x="1153351" y="45529"/>
                  <a:pt x="1153351" y="101600"/>
                </a:cubicBezTo>
                <a:lnTo>
                  <a:pt x="1153351" y="720153"/>
                </a:lnTo>
                <a:cubicBezTo>
                  <a:pt x="1153351" y="776288"/>
                  <a:pt x="1107885" y="821753"/>
                  <a:pt x="1051751" y="821753"/>
                </a:cubicBezTo>
                <a:lnTo>
                  <a:pt x="101600" y="821753"/>
                </a:lnTo>
                <a:cubicBezTo>
                  <a:pt x="45466" y="821753"/>
                  <a:pt x="0" y="776288"/>
                  <a:pt x="0" y="720153"/>
                </a:cubicBezTo>
                <a:lnTo>
                  <a:pt x="0" y="101600"/>
                </a:lnTo>
                <a:cubicBezTo>
                  <a:pt x="0" y="45529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8BAED6"/>
              </a:gs>
              <a:gs pos="100000">
                <a:srgbClr val="759ECE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bn-6"/>
          <p:cNvSpPr txBox="1"/>
          <p:nvPr/>
        </p:nvSpPr>
        <p:spPr>
          <a:xfrm>
            <a:off x="7125271" y="4441938"/>
            <a:ext cx="62166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配件耗材</a:t>
            </a:r>
          </a:p>
        </p:txBody>
      </p:sp>
      <p:sp>
        <p:nvSpPr>
          <p:cNvPr id="36" name="bv-6"/>
          <p:cNvSpPr txBox="1"/>
          <p:nvPr/>
        </p:nvSpPr>
        <p:spPr>
          <a:xfrm>
            <a:off x="7129081" y="4671649"/>
            <a:ext cx="74701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FFFFFF">
                    <a:alpha val="88000"/>
                  </a:srgbClr>
                </a:solidFill>
                <a:latin typeface="微软雅黑"/>
                <a:ea typeface="微软雅黑"/>
                <a:cs typeface="微软雅黑"/>
              </a:rPr>
              <a:t>0.6 亿 · 3.6%</a:t>
            </a:r>
          </a:p>
        </p:txBody>
      </p:sp>
      <p:sp>
        <p:nvSpPr>
          <p:cNvPr id="37" name="blk-7"/>
          <p:cNvSpPr/>
          <p:nvPr/>
        </p:nvSpPr>
        <p:spPr>
          <a:xfrm>
            <a:off x="7012749" y="5209476"/>
            <a:ext cx="1153351" cy="530924"/>
          </a:xfrm>
          <a:custGeom>
            <a:avLst/>
            <a:gdLst/>
            <a:ahLst/>
            <a:cxnLst/>
            <a:rect l="0" t="0" r="r" b="b"/>
            <a:pathLst>
              <a:path w="1153351" h="530924">
                <a:moveTo>
                  <a:pt x="101600" y="0"/>
                </a:moveTo>
                <a:lnTo>
                  <a:pt x="1051751" y="0"/>
                </a:lnTo>
                <a:cubicBezTo>
                  <a:pt x="1107885" y="0"/>
                  <a:pt x="1153351" y="45529"/>
                  <a:pt x="1153351" y="101600"/>
                </a:cubicBezTo>
                <a:lnTo>
                  <a:pt x="1153351" y="429324"/>
                </a:lnTo>
                <a:cubicBezTo>
                  <a:pt x="1153351" y="485458"/>
                  <a:pt x="1107885" y="530924"/>
                  <a:pt x="1051751" y="530924"/>
                </a:cubicBezTo>
                <a:lnTo>
                  <a:pt x="101600" y="530924"/>
                </a:lnTo>
                <a:cubicBezTo>
                  <a:pt x="45466" y="530924"/>
                  <a:pt x="0" y="485458"/>
                  <a:pt x="0" y="429324"/>
                </a:cubicBezTo>
                <a:lnTo>
                  <a:pt x="0" y="101600"/>
                </a:lnTo>
                <a:cubicBezTo>
                  <a:pt x="0" y="45529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9CBDE0"/>
              </a:gs>
              <a:gs pos="100000">
                <a:srgbClr val="89B1DA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bn-7"/>
          <p:cNvSpPr txBox="1"/>
          <p:nvPr/>
        </p:nvSpPr>
        <p:spPr>
          <a:xfrm>
            <a:off x="7125271" y="5314493"/>
            <a:ext cx="36512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其他</a:t>
            </a:r>
          </a:p>
        </p:txBody>
      </p:sp>
      <p:sp>
        <p:nvSpPr>
          <p:cNvPr id="39" name="bv-7"/>
          <p:cNvSpPr txBox="1"/>
          <p:nvPr/>
        </p:nvSpPr>
        <p:spPr>
          <a:xfrm>
            <a:off x="7129081" y="5544205"/>
            <a:ext cx="74701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FFFFFF">
                    <a:alpha val="88000"/>
                  </a:srgbClr>
                </a:solidFill>
                <a:latin typeface="微软雅黑"/>
                <a:ea typeface="微软雅黑"/>
                <a:cs typeface="微软雅黑"/>
              </a:rPr>
              <a:t>0.4 亿 · 2.4%</a:t>
            </a:r>
          </a:p>
        </p:txBody>
      </p:sp>
      <p:sp>
        <p:nvSpPr>
          <p:cNvPr id="40" name="side-bar"/>
          <p:cNvSpPr/>
          <p:nvPr/>
        </p:nvSpPr>
        <p:spPr>
          <a:xfrm>
            <a:off x="8445500" y="16256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side-h"/>
          <p:cNvSpPr txBox="1"/>
          <p:nvPr/>
        </p:nvSpPr>
        <p:spPr>
          <a:xfrm>
            <a:off x="8604250" y="16327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结构明细</a:t>
            </a:r>
          </a:p>
        </p:txBody>
      </p:sp>
      <p:sp>
        <p:nvSpPr>
          <p:cNvPr id="42" name="side-p"/>
          <p:cNvSpPr txBox="1"/>
          <p:nvPr/>
        </p:nvSpPr>
        <p:spPr>
          <a:xfrm>
            <a:off x="8609965" y="1907461"/>
            <a:ext cx="8956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按营收规模排序</a:t>
            </a:r>
          </a:p>
        </p:txBody>
      </p:sp>
      <p:sp>
        <p:nvSpPr>
          <p:cNvPr id="43" name="lg-1"/>
          <p:cNvSpPr/>
          <p:nvPr/>
        </p:nvSpPr>
        <p:spPr>
          <a:xfrm>
            <a:off x="8445500" y="23114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50800" y="0"/>
                </a:moveTo>
                <a:lnTo>
                  <a:pt x="114300" y="0"/>
                </a:lnTo>
                <a:cubicBezTo>
                  <a:pt x="142367" y="0"/>
                  <a:pt x="165100" y="22733"/>
                  <a:pt x="165100" y="50800"/>
                </a:cubicBezTo>
                <a:lnTo>
                  <a:pt x="165100" y="114300"/>
                </a:lnTo>
                <a:cubicBezTo>
                  <a:pt x="165100" y="142367"/>
                  <a:pt x="142367" y="165100"/>
                  <a:pt x="114300" y="165100"/>
                </a:cubicBezTo>
                <a:lnTo>
                  <a:pt x="50800" y="165100"/>
                </a:lnTo>
                <a:cubicBezTo>
                  <a:pt x="22733" y="165100"/>
                  <a:pt x="0" y="142367"/>
                  <a:pt x="0" y="1143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6691C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ln-1"/>
          <p:cNvSpPr txBox="1"/>
          <p:nvPr/>
        </p:nvSpPr>
        <p:spPr>
          <a:xfrm>
            <a:off x="8685784" y="2297240"/>
            <a:ext cx="58039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智能装备</a:t>
            </a:r>
          </a:p>
        </p:txBody>
      </p:sp>
      <p:sp>
        <p:nvSpPr>
          <p:cNvPr id="45" name="lv-1"/>
          <p:cNvSpPr txBox="1"/>
          <p:nvPr/>
        </p:nvSpPr>
        <p:spPr>
          <a:xfrm>
            <a:off x="9675114" y="2297240"/>
            <a:ext cx="48590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8.2 亿</a:t>
            </a:r>
          </a:p>
        </p:txBody>
      </p:sp>
      <p:sp>
        <p:nvSpPr>
          <p:cNvPr id="46" name="lg2-1"/>
          <p:cNvSpPr txBox="1"/>
          <p:nvPr/>
        </p:nvSpPr>
        <p:spPr>
          <a:xfrm>
            <a:off x="10365105" y="2320766"/>
            <a:ext cx="5048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毛利 34%</a:t>
            </a:r>
          </a:p>
        </p:txBody>
      </p:sp>
      <p:cxnSp>
        <p:nvCxnSpPr>
          <p:cNvPr id="47" name="ld-1"/>
          <p:cNvCxnSpPr/>
          <p:nvPr/>
        </p:nvCxnSpPr>
        <p:spPr>
          <a:xfrm>
            <a:off x="8445500" y="2603500"/>
            <a:ext cx="24130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lg-2"/>
          <p:cNvSpPr/>
          <p:nvPr/>
        </p:nvSpPr>
        <p:spPr>
          <a:xfrm>
            <a:off x="8445500" y="2781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50800" y="0"/>
                </a:moveTo>
                <a:lnTo>
                  <a:pt x="114300" y="0"/>
                </a:lnTo>
                <a:cubicBezTo>
                  <a:pt x="142367" y="0"/>
                  <a:pt x="165100" y="22733"/>
                  <a:pt x="165100" y="50800"/>
                </a:cubicBezTo>
                <a:lnTo>
                  <a:pt x="165100" y="114300"/>
                </a:lnTo>
                <a:cubicBezTo>
                  <a:pt x="165100" y="142367"/>
                  <a:pt x="142367" y="165100"/>
                  <a:pt x="114300" y="165100"/>
                </a:cubicBezTo>
                <a:lnTo>
                  <a:pt x="50800" y="165100"/>
                </a:lnTo>
                <a:cubicBezTo>
                  <a:pt x="22733" y="165100"/>
                  <a:pt x="0" y="142367"/>
                  <a:pt x="0" y="1143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14469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ln-2"/>
          <p:cNvSpPr txBox="1"/>
          <p:nvPr/>
        </p:nvSpPr>
        <p:spPr>
          <a:xfrm>
            <a:off x="8685784" y="2767140"/>
            <a:ext cx="58039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软件平台</a:t>
            </a:r>
          </a:p>
        </p:txBody>
      </p:sp>
      <p:sp>
        <p:nvSpPr>
          <p:cNvPr id="50" name="lv-2"/>
          <p:cNvSpPr txBox="1"/>
          <p:nvPr/>
        </p:nvSpPr>
        <p:spPr>
          <a:xfrm>
            <a:off x="9675114" y="2767140"/>
            <a:ext cx="48590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3.3 亿</a:t>
            </a:r>
          </a:p>
        </p:txBody>
      </p:sp>
      <p:sp>
        <p:nvSpPr>
          <p:cNvPr id="51" name="lg2-2"/>
          <p:cNvSpPr txBox="1"/>
          <p:nvPr/>
        </p:nvSpPr>
        <p:spPr>
          <a:xfrm>
            <a:off x="10365105" y="2790666"/>
            <a:ext cx="5048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毛利 62%</a:t>
            </a:r>
          </a:p>
        </p:txBody>
      </p:sp>
      <p:cxnSp>
        <p:nvCxnSpPr>
          <p:cNvPr id="52" name="ld-2"/>
          <p:cNvCxnSpPr/>
          <p:nvPr/>
        </p:nvCxnSpPr>
        <p:spPr>
          <a:xfrm>
            <a:off x="8445500" y="3073400"/>
            <a:ext cx="24130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lg-3"/>
          <p:cNvSpPr/>
          <p:nvPr/>
        </p:nvSpPr>
        <p:spPr>
          <a:xfrm>
            <a:off x="8445500" y="32512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50800" y="0"/>
                </a:moveTo>
                <a:lnTo>
                  <a:pt x="114300" y="0"/>
                </a:lnTo>
                <a:cubicBezTo>
                  <a:pt x="142367" y="0"/>
                  <a:pt x="165100" y="22733"/>
                  <a:pt x="165100" y="50800"/>
                </a:cubicBezTo>
                <a:lnTo>
                  <a:pt x="165100" y="114300"/>
                </a:lnTo>
                <a:cubicBezTo>
                  <a:pt x="165100" y="142367"/>
                  <a:pt x="142367" y="165100"/>
                  <a:pt x="114300" y="165100"/>
                </a:cubicBezTo>
                <a:lnTo>
                  <a:pt x="50800" y="165100"/>
                </a:lnTo>
                <a:cubicBezTo>
                  <a:pt x="22733" y="165100"/>
                  <a:pt x="0" y="142367"/>
                  <a:pt x="0" y="1143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3D6BA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ln-3"/>
          <p:cNvSpPr txBox="1"/>
          <p:nvPr/>
        </p:nvSpPr>
        <p:spPr>
          <a:xfrm>
            <a:off x="8685784" y="3237040"/>
            <a:ext cx="58039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运维服务</a:t>
            </a:r>
          </a:p>
        </p:txBody>
      </p:sp>
      <p:sp>
        <p:nvSpPr>
          <p:cNvPr id="55" name="lv-3"/>
          <p:cNvSpPr txBox="1"/>
          <p:nvPr/>
        </p:nvSpPr>
        <p:spPr>
          <a:xfrm>
            <a:off x="9675114" y="3237040"/>
            <a:ext cx="48590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2.2 亿</a:t>
            </a:r>
          </a:p>
        </p:txBody>
      </p:sp>
      <p:sp>
        <p:nvSpPr>
          <p:cNvPr id="56" name="lg2-3"/>
          <p:cNvSpPr txBox="1"/>
          <p:nvPr/>
        </p:nvSpPr>
        <p:spPr>
          <a:xfrm>
            <a:off x="10365105" y="3260566"/>
            <a:ext cx="5048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毛利 48%</a:t>
            </a:r>
          </a:p>
        </p:txBody>
      </p:sp>
      <p:cxnSp>
        <p:nvCxnSpPr>
          <p:cNvPr id="57" name="ld-3"/>
          <p:cNvCxnSpPr/>
          <p:nvPr/>
        </p:nvCxnSpPr>
        <p:spPr>
          <a:xfrm>
            <a:off x="8445500" y="3543300"/>
            <a:ext cx="24130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lg-4"/>
          <p:cNvSpPr/>
          <p:nvPr/>
        </p:nvSpPr>
        <p:spPr>
          <a:xfrm>
            <a:off x="8445500" y="37211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50800" y="0"/>
                </a:moveTo>
                <a:lnTo>
                  <a:pt x="114300" y="0"/>
                </a:lnTo>
                <a:cubicBezTo>
                  <a:pt x="142367" y="0"/>
                  <a:pt x="165100" y="22733"/>
                  <a:pt x="165100" y="50800"/>
                </a:cubicBezTo>
                <a:lnTo>
                  <a:pt x="165100" y="114300"/>
                </a:lnTo>
                <a:cubicBezTo>
                  <a:pt x="165100" y="142367"/>
                  <a:pt x="142367" y="165100"/>
                  <a:pt x="114300" y="165100"/>
                </a:cubicBezTo>
                <a:lnTo>
                  <a:pt x="50800" y="165100"/>
                </a:lnTo>
                <a:cubicBezTo>
                  <a:pt x="22733" y="165100"/>
                  <a:pt x="0" y="142367"/>
                  <a:pt x="0" y="1143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517EB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ln-4"/>
          <p:cNvSpPr txBox="1"/>
          <p:nvPr/>
        </p:nvSpPr>
        <p:spPr>
          <a:xfrm>
            <a:off x="8685784" y="3706940"/>
            <a:ext cx="6997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供应链金融</a:t>
            </a:r>
          </a:p>
        </p:txBody>
      </p:sp>
      <p:sp>
        <p:nvSpPr>
          <p:cNvPr id="60" name="lv-4"/>
          <p:cNvSpPr txBox="1"/>
          <p:nvPr/>
        </p:nvSpPr>
        <p:spPr>
          <a:xfrm>
            <a:off x="9675114" y="3706940"/>
            <a:ext cx="48590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1.3 亿</a:t>
            </a:r>
          </a:p>
        </p:txBody>
      </p:sp>
      <p:sp>
        <p:nvSpPr>
          <p:cNvPr id="61" name="lg2-4"/>
          <p:cNvSpPr txBox="1"/>
          <p:nvPr/>
        </p:nvSpPr>
        <p:spPr>
          <a:xfrm>
            <a:off x="10365105" y="3730466"/>
            <a:ext cx="5048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毛利 41%</a:t>
            </a:r>
          </a:p>
        </p:txBody>
      </p:sp>
      <p:cxnSp>
        <p:nvCxnSpPr>
          <p:cNvPr id="62" name="ld-4"/>
          <p:cNvCxnSpPr/>
          <p:nvPr/>
        </p:nvCxnSpPr>
        <p:spPr>
          <a:xfrm>
            <a:off x="8445500" y="4013200"/>
            <a:ext cx="24130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lg-5"/>
          <p:cNvSpPr/>
          <p:nvPr/>
        </p:nvSpPr>
        <p:spPr>
          <a:xfrm>
            <a:off x="8445500" y="4191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50800" y="0"/>
                </a:moveTo>
                <a:lnTo>
                  <a:pt x="114300" y="0"/>
                </a:lnTo>
                <a:cubicBezTo>
                  <a:pt x="142367" y="0"/>
                  <a:pt x="165100" y="22733"/>
                  <a:pt x="165100" y="50800"/>
                </a:cubicBezTo>
                <a:lnTo>
                  <a:pt x="165100" y="114300"/>
                </a:lnTo>
                <a:cubicBezTo>
                  <a:pt x="165100" y="142367"/>
                  <a:pt x="142367" y="165100"/>
                  <a:pt x="114300" y="165100"/>
                </a:cubicBezTo>
                <a:lnTo>
                  <a:pt x="50800" y="165100"/>
                </a:lnTo>
                <a:cubicBezTo>
                  <a:pt x="22733" y="165100"/>
                  <a:pt x="0" y="142367"/>
                  <a:pt x="0" y="1143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2859A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ln-5"/>
          <p:cNvSpPr txBox="1"/>
          <p:nvPr/>
        </p:nvSpPr>
        <p:spPr>
          <a:xfrm>
            <a:off x="8685784" y="4176840"/>
            <a:ext cx="58039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培训认证</a:t>
            </a:r>
          </a:p>
        </p:txBody>
      </p:sp>
      <p:sp>
        <p:nvSpPr>
          <p:cNvPr id="65" name="lv-5"/>
          <p:cNvSpPr txBox="1"/>
          <p:nvPr/>
        </p:nvSpPr>
        <p:spPr>
          <a:xfrm>
            <a:off x="9675114" y="4176840"/>
            <a:ext cx="48590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0.8 亿</a:t>
            </a:r>
          </a:p>
        </p:txBody>
      </p:sp>
      <p:sp>
        <p:nvSpPr>
          <p:cNvPr id="66" name="lg2-5"/>
          <p:cNvSpPr txBox="1"/>
          <p:nvPr/>
        </p:nvSpPr>
        <p:spPr>
          <a:xfrm>
            <a:off x="10365105" y="4200366"/>
            <a:ext cx="5048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毛利 55%</a:t>
            </a:r>
          </a:p>
        </p:txBody>
      </p:sp>
      <p:cxnSp>
        <p:nvCxnSpPr>
          <p:cNvPr id="67" name="ld-5"/>
          <p:cNvCxnSpPr/>
          <p:nvPr/>
        </p:nvCxnSpPr>
        <p:spPr>
          <a:xfrm>
            <a:off x="8445500" y="4483100"/>
            <a:ext cx="24130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8" name="lg-6"/>
          <p:cNvSpPr/>
          <p:nvPr/>
        </p:nvSpPr>
        <p:spPr>
          <a:xfrm>
            <a:off x="8445500" y="46609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50800" y="0"/>
                </a:moveTo>
                <a:lnTo>
                  <a:pt x="114300" y="0"/>
                </a:lnTo>
                <a:cubicBezTo>
                  <a:pt x="142367" y="0"/>
                  <a:pt x="165100" y="22733"/>
                  <a:pt x="165100" y="50800"/>
                </a:cubicBezTo>
                <a:lnTo>
                  <a:pt x="165100" y="114300"/>
                </a:lnTo>
                <a:cubicBezTo>
                  <a:pt x="165100" y="142367"/>
                  <a:pt x="142367" y="165100"/>
                  <a:pt x="114300" y="165100"/>
                </a:cubicBezTo>
                <a:lnTo>
                  <a:pt x="50800" y="165100"/>
                </a:lnTo>
                <a:cubicBezTo>
                  <a:pt x="22733" y="165100"/>
                  <a:pt x="0" y="142367"/>
                  <a:pt x="0" y="1143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759EC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ln-6"/>
          <p:cNvSpPr txBox="1"/>
          <p:nvPr/>
        </p:nvSpPr>
        <p:spPr>
          <a:xfrm>
            <a:off x="8685784" y="4646740"/>
            <a:ext cx="58039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配件耗材</a:t>
            </a:r>
          </a:p>
        </p:txBody>
      </p:sp>
      <p:sp>
        <p:nvSpPr>
          <p:cNvPr id="70" name="lv-6"/>
          <p:cNvSpPr txBox="1"/>
          <p:nvPr/>
        </p:nvSpPr>
        <p:spPr>
          <a:xfrm>
            <a:off x="9675114" y="4646740"/>
            <a:ext cx="48590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0.6 亿</a:t>
            </a:r>
          </a:p>
        </p:txBody>
      </p:sp>
      <p:sp>
        <p:nvSpPr>
          <p:cNvPr id="71" name="lg2-6"/>
          <p:cNvSpPr txBox="1"/>
          <p:nvPr/>
        </p:nvSpPr>
        <p:spPr>
          <a:xfrm>
            <a:off x="10365105" y="4670266"/>
            <a:ext cx="5048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毛利 29%</a:t>
            </a:r>
          </a:p>
        </p:txBody>
      </p:sp>
      <p:cxnSp>
        <p:nvCxnSpPr>
          <p:cNvPr id="72" name="ld-6"/>
          <p:cNvCxnSpPr/>
          <p:nvPr/>
        </p:nvCxnSpPr>
        <p:spPr>
          <a:xfrm>
            <a:off x="8445500" y="4953000"/>
            <a:ext cx="24130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lg-7"/>
          <p:cNvSpPr/>
          <p:nvPr/>
        </p:nvSpPr>
        <p:spPr>
          <a:xfrm>
            <a:off x="8445500" y="51308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50800" y="0"/>
                </a:moveTo>
                <a:lnTo>
                  <a:pt x="114300" y="0"/>
                </a:lnTo>
                <a:cubicBezTo>
                  <a:pt x="142367" y="0"/>
                  <a:pt x="165100" y="22733"/>
                  <a:pt x="165100" y="50800"/>
                </a:cubicBezTo>
                <a:lnTo>
                  <a:pt x="165100" y="114300"/>
                </a:lnTo>
                <a:cubicBezTo>
                  <a:pt x="165100" y="142367"/>
                  <a:pt x="142367" y="165100"/>
                  <a:pt x="114300" y="165100"/>
                </a:cubicBezTo>
                <a:lnTo>
                  <a:pt x="50800" y="165100"/>
                </a:lnTo>
                <a:cubicBezTo>
                  <a:pt x="22733" y="165100"/>
                  <a:pt x="0" y="142367"/>
                  <a:pt x="0" y="1143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89B1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ln-7"/>
          <p:cNvSpPr txBox="1"/>
          <p:nvPr/>
        </p:nvSpPr>
        <p:spPr>
          <a:xfrm>
            <a:off x="8685784" y="5116640"/>
            <a:ext cx="34163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其他</a:t>
            </a:r>
          </a:p>
        </p:txBody>
      </p:sp>
      <p:sp>
        <p:nvSpPr>
          <p:cNvPr id="75" name="lv-7"/>
          <p:cNvSpPr txBox="1"/>
          <p:nvPr/>
        </p:nvSpPr>
        <p:spPr>
          <a:xfrm>
            <a:off x="9675114" y="5116640"/>
            <a:ext cx="48590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0.4 亿</a:t>
            </a:r>
          </a:p>
        </p:txBody>
      </p:sp>
      <p:sp>
        <p:nvSpPr>
          <p:cNvPr id="76" name="lg2-7"/>
          <p:cNvSpPr txBox="1"/>
          <p:nvPr/>
        </p:nvSpPr>
        <p:spPr>
          <a:xfrm>
            <a:off x="10365105" y="5140166"/>
            <a:ext cx="5048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毛利 22%</a:t>
            </a:r>
          </a:p>
        </p:txBody>
      </p:sp>
      <p:sp>
        <p:nvSpPr>
          <p:cNvPr id="77" name="cl-h"/>
          <p:cNvSpPr txBox="1"/>
          <p:nvPr/>
        </p:nvSpPr>
        <p:spPr>
          <a:xfrm>
            <a:off x="8434451" y="5652087"/>
            <a:ext cx="758889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6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颜色 = 毛利率</a:t>
            </a:r>
          </a:p>
        </p:txBody>
      </p:sp>
      <p:sp>
        <p:nvSpPr>
          <p:cNvPr id="78" name="cl-1"/>
          <p:cNvSpPr/>
          <p:nvPr/>
        </p:nvSpPr>
        <p:spPr>
          <a:xfrm>
            <a:off x="9334500" y="5651500"/>
            <a:ext cx="215900" cy="139700"/>
          </a:xfrm>
          <a:custGeom>
            <a:avLst/>
            <a:gdLst/>
            <a:ahLst/>
            <a:cxnLst/>
            <a:rect l="0" t="0" r="r" b="b"/>
            <a:pathLst>
              <a:path w="215900" h="139700">
                <a:moveTo>
                  <a:pt x="44450" y="0"/>
                </a:moveTo>
                <a:lnTo>
                  <a:pt x="171450" y="0"/>
                </a:lnTo>
                <a:cubicBezTo>
                  <a:pt x="196024" y="0"/>
                  <a:pt x="215900" y="19875"/>
                  <a:pt x="215900" y="44450"/>
                </a:cubicBezTo>
                <a:lnTo>
                  <a:pt x="215900" y="95250"/>
                </a:lnTo>
                <a:cubicBezTo>
                  <a:pt x="215900" y="119825"/>
                  <a:pt x="196024" y="139700"/>
                  <a:pt x="171450" y="139700"/>
                </a:cubicBezTo>
                <a:lnTo>
                  <a:pt x="44450" y="139700"/>
                </a:lnTo>
                <a:cubicBezTo>
                  <a:pt x="19876" y="139700"/>
                  <a:pt x="0" y="119825"/>
                  <a:pt x="0" y="952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8FB6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cl-2"/>
          <p:cNvSpPr/>
          <p:nvPr/>
        </p:nvSpPr>
        <p:spPr>
          <a:xfrm>
            <a:off x="9588500" y="5651500"/>
            <a:ext cx="215900" cy="139700"/>
          </a:xfrm>
          <a:custGeom>
            <a:avLst/>
            <a:gdLst/>
            <a:ahLst/>
            <a:cxnLst/>
            <a:rect l="0" t="0" r="r" b="b"/>
            <a:pathLst>
              <a:path w="215900" h="139700">
                <a:moveTo>
                  <a:pt x="44450" y="0"/>
                </a:moveTo>
                <a:lnTo>
                  <a:pt x="171450" y="0"/>
                </a:lnTo>
                <a:cubicBezTo>
                  <a:pt x="196024" y="0"/>
                  <a:pt x="215900" y="19875"/>
                  <a:pt x="215900" y="44450"/>
                </a:cubicBezTo>
                <a:lnTo>
                  <a:pt x="215900" y="95250"/>
                </a:lnTo>
                <a:cubicBezTo>
                  <a:pt x="215900" y="119825"/>
                  <a:pt x="196024" y="139700"/>
                  <a:pt x="171450" y="139700"/>
                </a:cubicBezTo>
                <a:lnTo>
                  <a:pt x="44450" y="139700"/>
                </a:lnTo>
                <a:cubicBezTo>
                  <a:pt x="19876" y="139700"/>
                  <a:pt x="0" y="119825"/>
                  <a:pt x="0" y="952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759EC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cl-3"/>
          <p:cNvSpPr/>
          <p:nvPr/>
        </p:nvSpPr>
        <p:spPr>
          <a:xfrm>
            <a:off x="9842500" y="5651500"/>
            <a:ext cx="215900" cy="139700"/>
          </a:xfrm>
          <a:custGeom>
            <a:avLst/>
            <a:gdLst/>
            <a:ahLst/>
            <a:cxnLst/>
            <a:rect l="0" t="0" r="r" b="b"/>
            <a:pathLst>
              <a:path w="215900" h="139700">
                <a:moveTo>
                  <a:pt x="44450" y="0"/>
                </a:moveTo>
                <a:lnTo>
                  <a:pt x="171450" y="0"/>
                </a:lnTo>
                <a:cubicBezTo>
                  <a:pt x="196024" y="0"/>
                  <a:pt x="215900" y="19875"/>
                  <a:pt x="215900" y="44450"/>
                </a:cubicBezTo>
                <a:lnTo>
                  <a:pt x="215900" y="95250"/>
                </a:lnTo>
                <a:cubicBezTo>
                  <a:pt x="215900" y="119825"/>
                  <a:pt x="196024" y="139700"/>
                  <a:pt x="171450" y="139700"/>
                </a:cubicBezTo>
                <a:lnTo>
                  <a:pt x="44450" y="139700"/>
                </a:lnTo>
                <a:cubicBezTo>
                  <a:pt x="19876" y="139700"/>
                  <a:pt x="0" y="119825"/>
                  <a:pt x="0" y="952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5A86B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cl-4"/>
          <p:cNvSpPr/>
          <p:nvPr/>
        </p:nvSpPr>
        <p:spPr>
          <a:xfrm>
            <a:off x="10096500" y="5651500"/>
            <a:ext cx="215900" cy="139700"/>
          </a:xfrm>
          <a:custGeom>
            <a:avLst/>
            <a:gdLst/>
            <a:ahLst/>
            <a:cxnLst/>
            <a:rect l="0" t="0" r="r" b="b"/>
            <a:pathLst>
              <a:path w="215900" h="139700">
                <a:moveTo>
                  <a:pt x="44450" y="0"/>
                </a:moveTo>
                <a:lnTo>
                  <a:pt x="171450" y="0"/>
                </a:lnTo>
                <a:cubicBezTo>
                  <a:pt x="196024" y="0"/>
                  <a:pt x="215900" y="19875"/>
                  <a:pt x="215900" y="44450"/>
                </a:cubicBezTo>
                <a:lnTo>
                  <a:pt x="215900" y="95250"/>
                </a:lnTo>
                <a:cubicBezTo>
                  <a:pt x="215900" y="119825"/>
                  <a:pt x="196024" y="139700"/>
                  <a:pt x="171450" y="139700"/>
                </a:cubicBezTo>
                <a:lnTo>
                  <a:pt x="44450" y="139700"/>
                </a:lnTo>
                <a:cubicBezTo>
                  <a:pt x="19876" y="139700"/>
                  <a:pt x="0" y="119825"/>
                  <a:pt x="0" y="952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406E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cl-5"/>
          <p:cNvSpPr/>
          <p:nvPr/>
        </p:nvSpPr>
        <p:spPr>
          <a:xfrm>
            <a:off x="10350500" y="5651500"/>
            <a:ext cx="215900" cy="139700"/>
          </a:xfrm>
          <a:custGeom>
            <a:avLst/>
            <a:gdLst/>
            <a:ahLst/>
            <a:cxnLst/>
            <a:rect l="0" t="0" r="r" b="b"/>
            <a:pathLst>
              <a:path w="215900" h="139700">
                <a:moveTo>
                  <a:pt x="44450" y="0"/>
                </a:moveTo>
                <a:lnTo>
                  <a:pt x="171450" y="0"/>
                </a:lnTo>
                <a:cubicBezTo>
                  <a:pt x="196024" y="0"/>
                  <a:pt x="215900" y="19875"/>
                  <a:pt x="215900" y="44450"/>
                </a:cubicBezTo>
                <a:lnTo>
                  <a:pt x="215900" y="95250"/>
                </a:lnTo>
                <a:cubicBezTo>
                  <a:pt x="215900" y="119825"/>
                  <a:pt x="196024" y="139700"/>
                  <a:pt x="171450" y="139700"/>
                </a:cubicBezTo>
                <a:lnTo>
                  <a:pt x="44450" y="139700"/>
                </a:lnTo>
                <a:cubicBezTo>
                  <a:pt x="19876" y="139700"/>
                  <a:pt x="0" y="119825"/>
                  <a:pt x="0" y="952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25569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cl-6"/>
          <p:cNvSpPr/>
          <p:nvPr/>
        </p:nvSpPr>
        <p:spPr>
          <a:xfrm>
            <a:off x="10604500" y="5651500"/>
            <a:ext cx="215900" cy="139700"/>
          </a:xfrm>
          <a:custGeom>
            <a:avLst/>
            <a:gdLst/>
            <a:ahLst/>
            <a:cxnLst/>
            <a:rect l="0" t="0" r="r" b="b"/>
            <a:pathLst>
              <a:path w="215900" h="139700">
                <a:moveTo>
                  <a:pt x="44450" y="0"/>
                </a:moveTo>
                <a:lnTo>
                  <a:pt x="171450" y="0"/>
                </a:lnTo>
                <a:cubicBezTo>
                  <a:pt x="196024" y="0"/>
                  <a:pt x="215900" y="19875"/>
                  <a:pt x="215900" y="44450"/>
                </a:cubicBezTo>
                <a:lnTo>
                  <a:pt x="215900" y="95250"/>
                </a:lnTo>
                <a:cubicBezTo>
                  <a:pt x="215900" y="119825"/>
                  <a:pt x="196024" y="139700"/>
                  <a:pt x="171450" y="139700"/>
                </a:cubicBezTo>
                <a:lnTo>
                  <a:pt x="44450" y="139700"/>
                </a:lnTo>
                <a:cubicBezTo>
                  <a:pt x="19876" y="139700"/>
                  <a:pt x="0" y="119825"/>
                  <a:pt x="0" y="952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cl-min"/>
          <p:cNvSpPr txBox="1"/>
          <p:nvPr/>
        </p:nvSpPr>
        <p:spPr>
          <a:xfrm>
            <a:off x="9323832" y="58338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20%</a:t>
            </a:r>
          </a:p>
        </p:txBody>
      </p:sp>
      <p:sp>
        <p:nvSpPr>
          <p:cNvPr id="85" name="cl-max"/>
          <p:cNvSpPr txBox="1"/>
          <p:nvPr/>
        </p:nvSpPr>
        <p:spPr>
          <a:xfrm>
            <a:off x="10639806" y="58338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65%</a:t>
            </a:r>
          </a:p>
        </p:txBody>
      </p:sp>
      <p:sp>
        <p:nvSpPr>
          <p:cNvPr id="86" name="tot"/>
          <p:cNvSpPr/>
          <p:nvPr/>
        </p:nvSpPr>
        <p:spPr>
          <a:xfrm>
            <a:off x="952500" y="5930900"/>
            <a:ext cx="7239000" cy="393700"/>
          </a:xfrm>
          <a:custGeom>
            <a:avLst/>
            <a:gdLst/>
            <a:ahLst/>
            <a:cxnLst/>
            <a:rect l="0" t="0" r="r" b="b"/>
            <a:pathLst>
              <a:path w="7239000" h="393700">
                <a:moveTo>
                  <a:pt x="88900" y="0"/>
                </a:moveTo>
                <a:lnTo>
                  <a:pt x="7150100" y="0"/>
                </a:lnTo>
                <a:cubicBezTo>
                  <a:pt x="7199186" y="0"/>
                  <a:pt x="7239000" y="39814"/>
                  <a:pt x="7239000" y="88900"/>
                </a:cubicBezTo>
                <a:lnTo>
                  <a:pt x="7239000" y="304800"/>
                </a:lnTo>
                <a:cubicBezTo>
                  <a:pt x="7239000" y="353886"/>
                  <a:pt x="7199186" y="393700"/>
                  <a:pt x="7150100" y="393700"/>
                </a:cubicBezTo>
                <a:lnTo>
                  <a:pt x="88900" y="393700"/>
                </a:lnTo>
                <a:cubicBezTo>
                  <a:pt x="39815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tot-bar"/>
          <p:cNvSpPr/>
          <p:nvPr/>
        </p:nvSpPr>
        <p:spPr>
          <a:xfrm>
            <a:off x="952500" y="5930900"/>
            <a:ext cx="31750" cy="3937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tot-h"/>
          <p:cNvSpPr txBox="1"/>
          <p:nvPr/>
        </p:nvSpPr>
        <p:spPr>
          <a:xfrm>
            <a:off x="1130046" y="6038882"/>
            <a:ext cx="3384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合计</a:t>
            </a:r>
          </a:p>
        </p:txBody>
      </p:sp>
      <p:sp>
        <p:nvSpPr>
          <p:cNvPr id="89" name="tv-1"/>
          <p:cNvSpPr txBox="1"/>
          <p:nvPr/>
        </p:nvSpPr>
        <p:spPr>
          <a:xfrm>
            <a:off x="1762760" y="6015355"/>
            <a:ext cx="61595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16.8 亿</a:t>
            </a:r>
          </a:p>
        </p:txBody>
      </p:sp>
      <p:sp>
        <p:nvSpPr>
          <p:cNvPr id="90" name="tl-1"/>
          <p:cNvSpPr txBox="1"/>
          <p:nvPr/>
        </p:nvSpPr>
        <p:spPr>
          <a:xfrm>
            <a:off x="2529332" y="6062408"/>
            <a:ext cx="3543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总营收</a:t>
            </a:r>
          </a:p>
        </p:txBody>
      </p:sp>
      <p:sp>
        <p:nvSpPr>
          <p:cNvPr id="91" name="tv-2"/>
          <p:cNvSpPr txBox="1"/>
          <p:nvPr/>
        </p:nvSpPr>
        <p:spPr>
          <a:xfrm>
            <a:off x="3375660" y="6015355"/>
            <a:ext cx="18859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7</a:t>
            </a:r>
          </a:p>
        </p:txBody>
      </p:sp>
      <p:sp>
        <p:nvSpPr>
          <p:cNvPr id="92" name="tl-2"/>
          <p:cNvSpPr txBox="1"/>
          <p:nvPr/>
        </p:nvSpPr>
        <p:spPr>
          <a:xfrm>
            <a:off x="4142232" y="6062408"/>
            <a:ext cx="4457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业务条线</a:t>
            </a:r>
          </a:p>
        </p:txBody>
      </p:sp>
      <p:sp>
        <p:nvSpPr>
          <p:cNvPr id="93" name="tv-3"/>
          <p:cNvSpPr txBox="1"/>
          <p:nvPr/>
        </p:nvSpPr>
        <p:spPr>
          <a:xfrm>
            <a:off x="4988560" y="6015355"/>
            <a:ext cx="48577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41.6%</a:t>
            </a:r>
          </a:p>
        </p:txBody>
      </p:sp>
      <p:sp>
        <p:nvSpPr>
          <p:cNvPr id="94" name="tl-3"/>
          <p:cNvSpPr txBox="1"/>
          <p:nvPr/>
        </p:nvSpPr>
        <p:spPr>
          <a:xfrm>
            <a:off x="5755132" y="6062408"/>
            <a:ext cx="5372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综合毛利率</a:t>
            </a:r>
          </a:p>
        </p:txBody>
      </p:sp>
      <p:sp>
        <p:nvSpPr>
          <p:cNvPr id="95" name="tv-4"/>
          <p:cNvSpPr txBox="1"/>
          <p:nvPr/>
        </p:nvSpPr>
        <p:spPr>
          <a:xfrm>
            <a:off x="6601460" y="6015355"/>
            <a:ext cx="6350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智能装备</a:t>
            </a:r>
          </a:p>
        </p:txBody>
      </p:sp>
      <p:sp>
        <p:nvSpPr>
          <p:cNvPr id="96" name="tl-4"/>
          <p:cNvSpPr txBox="1"/>
          <p:nvPr/>
        </p:nvSpPr>
        <p:spPr>
          <a:xfrm>
            <a:off x="7368032" y="6062408"/>
            <a:ext cx="5372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第一大板块</a:t>
            </a:r>
          </a:p>
        </p:txBody>
      </p:sp>
      <p:cxnSp>
        <p:nvCxnSpPr>
          <p:cNvPr id="97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8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营收构成 · 七个板块</a:t>
            </a:r>
          </a:p>
        </p:txBody>
      </p:sp>
      <p:sp>
        <p:nvSpPr>
          <p:cNvPr id="99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工单到达热力图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71742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HEATMAP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465693" y="673132"/>
            <a:ext cx="315506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一周七天 × 八个时段的工单量分布，颜色越深表示压力越大</a:t>
            </a:r>
          </a:p>
        </p:txBody>
      </p:sp>
      <p:sp>
        <p:nvSpPr>
          <p:cNvPr id="10" name="colh-1"/>
          <p:cNvSpPr txBox="1"/>
          <p:nvPr/>
        </p:nvSpPr>
        <p:spPr>
          <a:xfrm>
            <a:off x="2283619" y="1602661"/>
            <a:ext cx="33496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周一</a:t>
            </a:r>
          </a:p>
        </p:txBody>
      </p:sp>
      <p:sp>
        <p:nvSpPr>
          <p:cNvPr id="11" name="colh-2"/>
          <p:cNvSpPr txBox="1"/>
          <p:nvPr/>
        </p:nvSpPr>
        <p:spPr>
          <a:xfrm>
            <a:off x="3172619" y="1602661"/>
            <a:ext cx="33496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周二</a:t>
            </a:r>
          </a:p>
        </p:txBody>
      </p:sp>
      <p:sp>
        <p:nvSpPr>
          <p:cNvPr id="12" name="colh-3"/>
          <p:cNvSpPr txBox="1"/>
          <p:nvPr/>
        </p:nvSpPr>
        <p:spPr>
          <a:xfrm>
            <a:off x="4061619" y="1602661"/>
            <a:ext cx="33496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周三</a:t>
            </a:r>
          </a:p>
        </p:txBody>
      </p:sp>
      <p:sp>
        <p:nvSpPr>
          <p:cNvPr id="13" name="colh-4"/>
          <p:cNvSpPr txBox="1"/>
          <p:nvPr/>
        </p:nvSpPr>
        <p:spPr>
          <a:xfrm>
            <a:off x="4950619" y="1602661"/>
            <a:ext cx="33496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周四</a:t>
            </a:r>
          </a:p>
        </p:txBody>
      </p:sp>
      <p:sp>
        <p:nvSpPr>
          <p:cNvPr id="14" name="colh-5"/>
          <p:cNvSpPr txBox="1"/>
          <p:nvPr/>
        </p:nvSpPr>
        <p:spPr>
          <a:xfrm>
            <a:off x="5839619" y="1602661"/>
            <a:ext cx="33496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周五</a:t>
            </a:r>
          </a:p>
        </p:txBody>
      </p:sp>
      <p:sp>
        <p:nvSpPr>
          <p:cNvPr id="15" name="colh-6"/>
          <p:cNvSpPr txBox="1"/>
          <p:nvPr/>
        </p:nvSpPr>
        <p:spPr>
          <a:xfrm>
            <a:off x="6728619" y="1602661"/>
            <a:ext cx="33496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周六</a:t>
            </a:r>
          </a:p>
        </p:txBody>
      </p:sp>
      <p:sp>
        <p:nvSpPr>
          <p:cNvPr id="16" name="colh-7"/>
          <p:cNvSpPr txBox="1"/>
          <p:nvPr/>
        </p:nvSpPr>
        <p:spPr>
          <a:xfrm>
            <a:off x="7617619" y="1602661"/>
            <a:ext cx="33496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周日</a:t>
            </a:r>
          </a:p>
        </p:txBody>
      </p:sp>
      <p:sp>
        <p:nvSpPr>
          <p:cNvPr id="17" name="rowh-1"/>
          <p:cNvSpPr txBox="1"/>
          <p:nvPr/>
        </p:nvSpPr>
        <p:spPr>
          <a:xfrm>
            <a:off x="1477772" y="2008124"/>
            <a:ext cx="3886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20">
                <a:solidFill>
                  <a:srgbClr val="64748B"/>
                </a:solidFill>
                <a:latin typeface="Arial"/>
                <a:ea typeface="Arial"/>
                <a:cs typeface="Arial"/>
              </a:rPr>
              <a:t>08–10</a:t>
            </a:r>
          </a:p>
        </p:txBody>
      </p:sp>
      <p:sp>
        <p:nvSpPr>
          <p:cNvPr id="18" name="rowh-2"/>
          <p:cNvSpPr txBox="1"/>
          <p:nvPr/>
        </p:nvSpPr>
        <p:spPr>
          <a:xfrm>
            <a:off x="1477772" y="2490724"/>
            <a:ext cx="3886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20">
                <a:solidFill>
                  <a:srgbClr val="64748B"/>
                </a:solidFill>
                <a:latin typeface="Arial"/>
                <a:ea typeface="Arial"/>
                <a:cs typeface="Arial"/>
              </a:rPr>
              <a:t>10–12</a:t>
            </a:r>
          </a:p>
        </p:txBody>
      </p:sp>
      <p:sp>
        <p:nvSpPr>
          <p:cNvPr id="19" name="rowh-3"/>
          <p:cNvSpPr txBox="1"/>
          <p:nvPr/>
        </p:nvSpPr>
        <p:spPr>
          <a:xfrm>
            <a:off x="1477772" y="2973324"/>
            <a:ext cx="3886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20">
                <a:solidFill>
                  <a:srgbClr val="64748B"/>
                </a:solidFill>
                <a:latin typeface="Arial"/>
                <a:ea typeface="Arial"/>
                <a:cs typeface="Arial"/>
              </a:rPr>
              <a:t>12–14</a:t>
            </a:r>
          </a:p>
        </p:txBody>
      </p:sp>
      <p:sp>
        <p:nvSpPr>
          <p:cNvPr id="20" name="rowh-4"/>
          <p:cNvSpPr txBox="1"/>
          <p:nvPr/>
        </p:nvSpPr>
        <p:spPr>
          <a:xfrm>
            <a:off x="1477772" y="3455924"/>
            <a:ext cx="3886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20">
                <a:solidFill>
                  <a:srgbClr val="64748B"/>
                </a:solidFill>
                <a:latin typeface="Arial"/>
                <a:ea typeface="Arial"/>
                <a:cs typeface="Arial"/>
              </a:rPr>
              <a:t>14–16</a:t>
            </a:r>
          </a:p>
        </p:txBody>
      </p:sp>
      <p:sp>
        <p:nvSpPr>
          <p:cNvPr id="21" name="rowh-5"/>
          <p:cNvSpPr txBox="1"/>
          <p:nvPr/>
        </p:nvSpPr>
        <p:spPr>
          <a:xfrm>
            <a:off x="1477772" y="3938524"/>
            <a:ext cx="3886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20">
                <a:solidFill>
                  <a:srgbClr val="64748B"/>
                </a:solidFill>
                <a:latin typeface="Arial"/>
                <a:ea typeface="Arial"/>
                <a:cs typeface="Arial"/>
              </a:rPr>
              <a:t>16–18</a:t>
            </a:r>
          </a:p>
        </p:txBody>
      </p:sp>
      <p:sp>
        <p:nvSpPr>
          <p:cNvPr id="22" name="rowh-6"/>
          <p:cNvSpPr txBox="1"/>
          <p:nvPr/>
        </p:nvSpPr>
        <p:spPr>
          <a:xfrm>
            <a:off x="1477772" y="4421124"/>
            <a:ext cx="3886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20">
                <a:solidFill>
                  <a:srgbClr val="64748B"/>
                </a:solidFill>
                <a:latin typeface="Arial"/>
                <a:ea typeface="Arial"/>
                <a:cs typeface="Arial"/>
              </a:rPr>
              <a:t>18–20</a:t>
            </a:r>
          </a:p>
        </p:txBody>
      </p:sp>
      <p:sp>
        <p:nvSpPr>
          <p:cNvPr id="23" name="rowh-7"/>
          <p:cNvSpPr txBox="1"/>
          <p:nvPr/>
        </p:nvSpPr>
        <p:spPr>
          <a:xfrm>
            <a:off x="1477772" y="4903724"/>
            <a:ext cx="3886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20">
                <a:solidFill>
                  <a:srgbClr val="64748B"/>
                </a:solidFill>
                <a:latin typeface="Arial"/>
                <a:ea typeface="Arial"/>
                <a:cs typeface="Arial"/>
              </a:rPr>
              <a:t>20–22</a:t>
            </a:r>
          </a:p>
        </p:txBody>
      </p:sp>
      <p:sp>
        <p:nvSpPr>
          <p:cNvPr id="24" name="rowh-8"/>
          <p:cNvSpPr txBox="1"/>
          <p:nvPr/>
        </p:nvSpPr>
        <p:spPr>
          <a:xfrm>
            <a:off x="1477772" y="5386324"/>
            <a:ext cx="3886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20">
                <a:solidFill>
                  <a:srgbClr val="64748B"/>
                </a:solidFill>
                <a:latin typeface="Arial"/>
                <a:ea typeface="Arial"/>
                <a:cs typeface="Arial"/>
              </a:rPr>
              <a:t>22–08</a:t>
            </a:r>
          </a:p>
        </p:txBody>
      </p:sp>
      <p:sp>
        <p:nvSpPr>
          <p:cNvPr id="25" name="corner"/>
          <p:cNvSpPr txBox="1"/>
          <p:nvPr/>
        </p:nvSpPr>
        <p:spPr>
          <a:xfrm>
            <a:off x="1588008" y="1630108"/>
            <a:ext cx="2768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时段</a:t>
            </a:r>
          </a:p>
        </p:txBody>
      </p:sp>
      <p:sp>
        <p:nvSpPr>
          <p:cNvPr id="26" name="c-1-1"/>
          <p:cNvSpPr/>
          <p:nvPr/>
        </p:nvSpPr>
        <p:spPr>
          <a:xfrm>
            <a:off x="2032000" y="18796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4C73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cv-1-1"/>
          <p:cNvSpPr txBox="1"/>
          <p:nvPr/>
        </p:nvSpPr>
        <p:spPr>
          <a:xfrm>
            <a:off x="2333752" y="19987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62</a:t>
            </a:r>
          </a:p>
        </p:txBody>
      </p:sp>
      <p:sp>
        <p:nvSpPr>
          <p:cNvPr id="28" name="c-1-2"/>
          <p:cNvSpPr/>
          <p:nvPr/>
        </p:nvSpPr>
        <p:spPr>
          <a:xfrm>
            <a:off x="2921000" y="18796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5479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cv-1-2"/>
          <p:cNvSpPr txBox="1"/>
          <p:nvPr/>
        </p:nvSpPr>
        <p:spPr>
          <a:xfrm>
            <a:off x="3222752" y="19987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58</a:t>
            </a:r>
          </a:p>
        </p:txBody>
      </p:sp>
      <p:sp>
        <p:nvSpPr>
          <p:cNvPr id="30" name="c-1-3"/>
          <p:cNvSpPr/>
          <p:nvPr/>
        </p:nvSpPr>
        <p:spPr>
          <a:xfrm>
            <a:off x="3810000" y="18796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5A7E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cv-1-3"/>
          <p:cNvSpPr txBox="1"/>
          <p:nvPr/>
        </p:nvSpPr>
        <p:spPr>
          <a:xfrm>
            <a:off x="4111752" y="19987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55</a:t>
            </a:r>
          </a:p>
        </p:txBody>
      </p:sp>
      <p:sp>
        <p:nvSpPr>
          <p:cNvPr id="32" name="c-1-4"/>
          <p:cNvSpPr/>
          <p:nvPr/>
        </p:nvSpPr>
        <p:spPr>
          <a:xfrm>
            <a:off x="4699000" y="18796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567BB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cv-1-4"/>
          <p:cNvSpPr txBox="1"/>
          <p:nvPr/>
        </p:nvSpPr>
        <p:spPr>
          <a:xfrm>
            <a:off x="5000752" y="19987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57</a:t>
            </a:r>
          </a:p>
        </p:txBody>
      </p:sp>
      <p:sp>
        <p:nvSpPr>
          <p:cNvPr id="34" name="c-1-5"/>
          <p:cNvSpPr/>
          <p:nvPr/>
        </p:nvSpPr>
        <p:spPr>
          <a:xfrm>
            <a:off x="5588000" y="18796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4870A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cv-1-5"/>
          <p:cNvSpPr txBox="1"/>
          <p:nvPr/>
        </p:nvSpPr>
        <p:spPr>
          <a:xfrm>
            <a:off x="5889752" y="19987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64</a:t>
            </a:r>
          </a:p>
        </p:txBody>
      </p:sp>
      <p:sp>
        <p:nvSpPr>
          <p:cNvPr id="36" name="c-1-6"/>
          <p:cNvSpPr/>
          <p:nvPr/>
        </p:nvSpPr>
        <p:spPr>
          <a:xfrm>
            <a:off x="6477000" y="18796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1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1" y="431800"/>
                  <a:pt x="762000" y="431800"/>
                </a:cubicBezTo>
                <a:lnTo>
                  <a:pt x="76200" y="431800"/>
                </a:lnTo>
                <a:cubicBezTo>
                  <a:pt x="34099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9C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cv-1-6"/>
          <p:cNvSpPr txBox="1"/>
          <p:nvPr/>
        </p:nvSpPr>
        <p:spPr>
          <a:xfrm>
            <a:off x="6778752" y="19987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24</a:t>
            </a:r>
          </a:p>
        </p:txBody>
      </p:sp>
      <p:sp>
        <p:nvSpPr>
          <p:cNvPr id="38" name="c-1-7"/>
          <p:cNvSpPr/>
          <p:nvPr/>
        </p:nvSpPr>
        <p:spPr>
          <a:xfrm>
            <a:off x="7366000" y="18796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1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1" y="431800"/>
                  <a:pt x="762000" y="431800"/>
                </a:cubicBezTo>
                <a:lnTo>
                  <a:pt x="76200" y="431800"/>
                </a:lnTo>
                <a:cubicBezTo>
                  <a:pt x="34099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B8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cv-1-7"/>
          <p:cNvSpPr txBox="1"/>
          <p:nvPr/>
        </p:nvSpPr>
        <p:spPr>
          <a:xfrm>
            <a:off x="7667752" y="19987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12</a:t>
            </a:r>
          </a:p>
        </p:txBody>
      </p:sp>
      <p:sp>
        <p:nvSpPr>
          <p:cNvPr id="40" name="c-2-1"/>
          <p:cNvSpPr/>
          <p:nvPr/>
        </p:nvSpPr>
        <p:spPr>
          <a:xfrm>
            <a:off x="2032000" y="23622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1E4D9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cv-2-1"/>
          <p:cNvSpPr txBox="1"/>
          <p:nvPr/>
        </p:nvSpPr>
        <p:spPr>
          <a:xfrm>
            <a:off x="2333752" y="24813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86</a:t>
            </a:r>
          </a:p>
        </p:txBody>
      </p:sp>
      <p:sp>
        <p:nvSpPr>
          <p:cNvPr id="42" name="c-2-2"/>
          <p:cNvSpPr/>
          <p:nvPr/>
        </p:nvSpPr>
        <p:spPr>
          <a:xfrm>
            <a:off x="2921000" y="23622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2553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cv-2-2"/>
          <p:cNvSpPr txBox="1"/>
          <p:nvPr/>
        </p:nvSpPr>
        <p:spPr>
          <a:xfrm>
            <a:off x="3222752" y="24813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82</a:t>
            </a:r>
          </a:p>
        </p:txBody>
      </p:sp>
      <p:sp>
        <p:nvSpPr>
          <p:cNvPr id="44" name="c-2-3"/>
          <p:cNvSpPr/>
          <p:nvPr/>
        </p:nvSpPr>
        <p:spPr>
          <a:xfrm>
            <a:off x="3810000" y="23622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2D5AA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cv-2-3"/>
          <p:cNvSpPr txBox="1"/>
          <p:nvPr/>
        </p:nvSpPr>
        <p:spPr>
          <a:xfrm>
            <a:off x="4111752" y="24813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78</a:t>
            </a:r>
          </a:p>
        </p:txBody>
      </p:sp>
      <p:sp>
        <p:nvSpPr>
          <p:cNvPr id="46" name="c-2-4"/>
          <p:cNvSpPr/>
          <p:nvPr/>
        </p:nvSpPr>
        <p:spPr>
          <a:xfrm>
            <a:off x="4699000" y="23622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29569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cv-2-4"/>
          <p:cNvSpPr txBox="1"/>
          <p:nvPr/>
        </p:nvSpPr>
        <p:spPr>
          <a:xfrm>
            <a:off x="5000752" y="24813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80</a:t>
            </a:r>
          </a:p>
        </p:txBody>
      </p:sp>
      <p:sp>
        <p:nvSpPr>
          <p:cNvPr id="48" name="c-2-5"/>
          <p:cNvSpPr/>
          <p:nvPr/>
        </p:nvSpPr>
        <p:spPr>
          <a:xfrm>
            <a:off x="5588000" y="23622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1A4A9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cv-2-5"/>
          <p:cNvSpPr txBox="1"/>
          <p:nvPr/>
        </p:nvSpPr>
        <p:spPr>
          <a:xfrm>
            <a:off x="5889752" y="24813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88</a:t>
            </a:r>
          </a:p>
        </p:txBody>
      </p:sp>
      <p:sp>
        <p:nvSpPr>
          <p:cNvPr id="50" name="c-2-6"/>
          <p:cNvSpPr/>
          <p:nvPr/>
        </p:nvSpPr>
        <p:spPr>
          <a:xfrm>
            <a:off x="6477000" y="23622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1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1" y="431800"/>
                  <a:pt x="762000" y="431800"/>
                </a:cubicBezTo>
                <a:lnTo>
                  <a:pt x="76200" y="431800"/>
                </a:lnTo>
                <a:cubicBezTo>
                  <a:pt x="34099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8CA7C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cv-2-6"/>
          <p:cNvSpPr txBox="1"/>
          <p:nvPr/>
        </p:nvSpPr>
        <p:spPr>
          <a:xfrm>
            <a:off x="6778752" y="24813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31</a:t>
            </a:r>
          </a:p>
        </p:txBody>
      </p:sp>
      <p:sp>
        <p:nvSpPr>
          <p:cNvPr id="52" name="c-2-7"/>
          <p:cNvSpPr/>
          <p:nvPr/>
        </p:nvSpPr>
        <p:spPr>
          <a:xfrm>
            <a:off x="7366000" y="23622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1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1" y="431800"/>
                  <a:pt x="762000" y="431800"/>
                </a:cubicBezTo>
                <a:lnTo>
                  <a:pt x="76200" y="431800"/>
                </a:lnTo>
                <a:cubicBezTo>
                  <a:pt x="34099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B1C5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cv-2-7"/>
          <p:cNvSpPr txBox="1"/>
          <p:nvPr/>
        </p:nvSpPr>
        <p:spPr>
          <a:xfrm>
            <a:off x="7667752" y="24813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15</a:t>
            </a:r>
          </a:p>
        </p:txBody>
      </p:sp>
      <p:sp>
        <p:nvSpPr>
          <p:cNvPr id="54" name="c-3-1"/>
          <p:cNvSpPr/>
          <p:nvPr/>
        </p:nvSpPr>
        <p:spPr>
          <a:xfrm>
            <a:off x="2032000" y="28448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86A2C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cv-3-1"/>
          <p:cNvSpPr txBox="1"/>
          <p:nvPr/>
        </p:nvSpPr>
        <p:spPr>
          <a:xfrm>
            <a:off x="2333752" y="29639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34</a:t>
            </a:r>
          </a:p>
        </p:txBody>
      </p:sp>
      <p:sp>
        <p:nvSpPr>
          <p:cNvPr id="56" name="c-3-2"/>
          <p:cNvSpPr/>
          <p:nvPr/>
        </p:nvSpPr>
        <p:spPr>
          <a:xfrm>
            <a:off x="2921000" y="28448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8AA5C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cv-3-2"/>
          <p:cNvSpPr txBox="1"/>
          <p:nvPr/>
        </p:nvSpPr>
        <p:spPr>
          <a:xfrm>
            <a:off x="3222752" y="29639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32</a:t>
            </a:r>
          </a:p>
        </p:txBody>
      </p:sp>
      <p:sp>
        <p:nvSpPr>
          <p:cNvPr id="58" name="c-3-3"/>
          <p:cNvSpPr/>
          <p:nvPr/>
        </p:nvSpPr>
        <p:spPr>
          <a:xfrm>
            <a:off x="3810000" y="28448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8EA9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cv-3-3"/>
          <p:cNvSpPr txBox="1"/>
          <p:nvPr/>
        </p:nvSpPr>
        <p:spPr>
          <a:xfrm>
            <a:off x="4111752" y="29639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30</a:t>
            </a:r>
          </a:p>
        </p:txBody>
      </p:sp>
      <p:sp>
        <p:nvSpPr>
          <p:cNvPr id="60" name="c-3-4"/>
          <p:cNvSpPr/>
          <p:nvPr/>
        </p:nvSpPr>
        <p:spPr>
          <a:xfrm>
            <a:off x="4699000" y="28448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8CA7C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cv-3-4"/>
          <p:cNvSpPr txBox="1"/>
          <p:nvPr/>
        </p:nvSpPr>
        <p:spPr>
          <a:xfrm>
            <a:off x="5000752" y="29639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31</a:t>
            </a:r>
          </a:p>
        </p:txBody>
      </p:sp>
      <p:sp>
        <p:nvSpPr>
          <p:cNvPr id="62" name="c-3-5"/>
          <p:cNvSpPr/>
          <p:nvPr/>
        </p:nvSpPr>
        <p:spPr>
          <a:xfrm>
            <a:off x="5588000" y="28448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819EC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cv-3-5"/>
          <p:cNvSpPr txBox="1"/>
          <p:nvPr/>
        </p:nvSpPr>
        <p:spPr>
          <a:xfrm>
            <a:off x="5889752" y="29639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36</a:t>
            </a:r>
          </a:p>
        </p:txBody>
      </p:sp>
      <p:sp>
        <p:nvSpPr>
          <p:cNvPr id="64" name="c-3-6"/>
          <p:cNvSpPr/>
          <p:nvPr/>
        </p:nvSpPr>
        <p:spPr>
          <a:xfrm>
            <a:off x="6477000" y="28448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1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1" y="431800"/>
                  <a:pt x="762000" y="431800"/>
                </a:cubicBezTo>
                <a:lnTo>
                  <a:pt x="76200" y="431800"/>
                </a:lnTo>
                <a:cubicBezTo>
                  <a:pt x="34099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AABFD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cv-3-6"/>
          <p:cNvSpPr txBox="1"/>
          <p:nvPr/>
        </p:nvSpPr>
        <p:spPr>
          <a:xfrm>
            <a:off x="6778752" y="29639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18</a:t>
            </a:r>
          </a:p>
        </p:txBody>
      </p:sp>
      <p:sp>
        <p:nvSpPr>
          <p:cNvPr id="66" name="c-3-7"/>
          <p:cNvSpPr/>
          <p:nvPr/>
        </p:nvSpPr>
        <p:spPr>
          <a:xfrm>
            <a:off x="7366000" y="28448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1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1" y="431800"/>
                  <a:pt x="762000" y="431800"/>
                </a:cubicBezTo>
                <a:lnTo>
                  <a:pt x="76200" y="431800"/>
                </a:lnTo>
                <a:cubicBezTo>
                  <a:pt x="34099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BDCFE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cv-3-7"/>
          <p:cNvSpPr txBox="1"/>
          <p:nvPr/>
        </p:nvSpPr>
        <p:spPr>
          <a:xfrm>
            <a:off x="7667752" y="29639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10</a:t>
            </a:r>
          </a:p>
        </p:txBody>
      </p:sp>
      <p:sp>
        <p:nvSpPr>
          <p:cNvPr id="68" name="c-4-1"/>
          <p:cNvSpPr/>
          <p:nvPr/>
        </p:nvSpPr>
        <p:spPr>
          <a:xfrm>
            <a:off x="2032000" y="33274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2D5AA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cv-4-1"/>
          <p:cNvSpPr txBox="1"/>
          <p:nvPr/>
        </p:nvSpPr>
        <p:spPr>
          <a:xfrm>
            <a:off x="2333752" y="34465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78</a:t>
            </a:r>
          </a:p>
        </p:txBody>
      </p:sp>
      <p:sp>
        <p:nvSpPr>
          <p:cNvPr id="70" name="c-4-2"/>
          <p:cNvSpPr/>
          <p:nvPr/>
        </p:nvSpPr>
        <p:spPr>
          <a:xfrm>
            <a:off x="2921000" y="33274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3460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cv-4-2"/>
          <p:cNvSpPr txBox="1"/>
          <p:nvPr/>
        </p:nvSpPr>
        <p:spPr>
          <a:xfrm>
            <a:off x="3222752" y="34465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74</a:t>
            </a:r>
          </a:p>
        </p:txBody>
      </p:sp>
      <p:sp>
        <p:nvSpPr>
          <p:cNvPr id="72" name="c-4-3"/>
          <p:cNvSpPr/>
          <p:nvPr/>
        </p:nvSpPr>
        <p:spPr>
          <a:xfrm>
            <a:off x="3810000" y="33274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3863A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cv-4-3"/>
          <p:cNvSpPr txBox="1"/>
          <p:nvPr/>
        </p:nvSpPr>
        <p:spPr>
          <a:xfrm>
            <a:off x="4111752" y="34465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72</a:t>
            </a:r>
          </a:p>
        </p:txBody>
      </p:sp>
      <p:sp>
        <p:nvSpPr>
          <p:cNvPr id="74" name="c-4-4"/>
          <p:cNvSpPr/>
          <p:nvPr/>
        </p:nvSpPr>
        <p:spPr>
          <a:xfrm>
            <a:off x="4699000" y="33274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335E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cv-4-4"/>
          <p:cNvSpPr txBox="1"/>
          <p:nvPr/>
        </p:nvSpPr>
        <p:spPr>
          <a:xfrm>
            <a:off x="5000752" y="34465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75</a:t>
            </a:r>
          </a:p>
        </p:txBody>
      </p:sp>
      <p:sp>
        <p:nvSpPr>
          <p:cNvPr id="76" name="c-4-5"/>
          <p:cNvSpPr/>
          <p:nvPr/>
        </p:nvSpPr>
        <p:spPr>
          <a:xfrm>
            <a:off x="5588000" y="33274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2553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cv-4-5"/>
          <p:cNvSpPr txBox="1"/>
          <p:nvPr/>
        </p:nvSpPr>
        <p:spPr>
          <a:xfrm>
            <a:off x="5889752" y="34465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82</a:t>
            </a:r>
          </a:p>
        </p:txBody>
      </p:sp>
      <p:sp>
        <p:nvSpPr>
          <p:cNvPr id="78" name="c-4-6"/>
          <p:cNvSpPr/>
          <p:nvPr/>
        </p:nvSpPr>
        <p:spPr>
          <a:xfrm>
            <a:off x="6477000" y="33274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1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1" y="431800"/>
                  <a:pt x="762000" y="431800"/>
                </a:cubicBezTo>
                <a:lnTo>
                  <a:pt x="76200" y="431800"/>
                </a:lnTo>
                <a:cubicBezTo>
                  <a:pt x="34099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93ACD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cv-4-6"/>
          <p:cNvSpPr txBox="1"/>
          <p:nvPr/>
        </p:nvSpPr>
        <p:spPr>
          <a:xfrm>
            <a:off x="6778752" y="34465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28</a:t>
            </a:r>
          </a:p>
        </p:txBody>
      </p:sp>
      <p:sp>
        <p:nvSpPr>
          <p:cNvPr id="80" name="c-4-7"/>
          <p:cNvSpPr/>
          <p:nvPr/>
        </p:nvSpPr>
        <p:spPr>
          <a:xfrm>
            <a:off x="7366000" y="33274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1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1" y="431800"/>
                  <a:pt x="762000" y="431800"/>
                </a:cubicBezTo>
                <a:lnTo>
                  <a:pt x="76200" y="431800"/>
                </a:lnTo>
                <a:cubicBezTo>
                  <a:pt x="34099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B3C7E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cv-4-7"/>
          <p:cNvSpPr txBox="1"/>
          <p:nvPr/>
        </p:nvSpPr>
        <p:spPr>
          <a:xfrm>
            <a:off x="7667752" y="34465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14</a:t>
            </a:r>
          </a:p>
        </p:txBody>
      </p:sp>
      <p:sp>
        <p:nvSpPr>
          <p:cNvPr id="82" name="c-5-1"/>
          <p:cNvSpPr/>
          <p:nvPr/>
        </p:nvSpPr>
        <p:spPr>
          <a:xfrm>
            <a:off x="2032000" y="38100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12449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cv-5-1"/>
          <p:cNvSpPr txBox="1"/>
          <p:nvPr/>
        </p:nvSpPr>
        <p:spPr>
          <a:xfrm>
            <a:off x="2333752" y="39291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92</a:t>
            </a:r>
          </a:p>
        </p:txBody>
      </p:sp>
      <p:sp>
        <p:nvSpPr>
          <p:cNvPr id="84" name="c-5-2"/>
          <p:cNvSpPr/>
          <p:nvPr/>
        </p:nvSpPr>
        <p:spPr>
          <a:xfrm>
            <a:off x="2921000" y="38100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1A4A9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cv-5-2"/>
          <p:cNvSpPr txBox="1"/>
          <p:nvPr/>
        </p:nvSpPr>
        <p:spPr>
          <a:xfrm>
            <a:off x="3222752" y="39291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88</a:t>
            </a:r>
          </a:p>
        </p:txBody>
      </p:sp>
      <p:sp>
        <p:nvSpPr>
          <p:cNvPr id="86" name="c-5-3"/>
          <p:cNvSpPr/>
          <p:nvPr/>
        </p:nvSpPr>
        <p:spPr>
          <a:xfrm>
            <a:off x="3810000" y="38100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204F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cv-5-3"/>
          <p:cNvSpPr txBox="1"/>
          <p:nvPr/>
        </p:nvSpPr>
        <p:spPr>
          <a:xfrm>
            <a:off x="4111752" y="39291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85</a:t>
            </a:r>
          </a:p>
        </p:txBody>
      </p:sp>
      <p:sp>
        <p:nvSpPr>
          <p:cNvPr id="88" name="c-5-4"/>
          <p:cNvSpPr/>
          <p:nvPr/>
        </p:nvSpPr>
        <p:spPr>
          <a:xfrm>
            <a:off x="4699000" y="38100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1C4C9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cv-5-4"/>
          <p:cNvSpPr txBox="1"/>
          <p:nvPr/>
        </p:nvSpPr>
        <p:spPr>
          <a:xfrm>
            <a:off x="5000752" y="39291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87</a:t>
            </a:r>
          </a:p>
        </p:txBody>
      </p:sp>
      <p:sp>
        <p:nvSpPr>
          <p:cNvPr id="90" name="c-5-5"/>
          <p:cNvSpPr/>
          <p:nvPr/>
        </p:nvSpPr>
        <p:spPr>
          <a:xfrm>
            <a:off x="5588000" y="38100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cv-5-5"/>
          <p:cNvSpPr txBox="1"/>
          <p:nvPr/>
        </p:nvSpPr>
        <p:spPr>
          <a:xfrm>
            <a:off x="5889752" y="39291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96</a:t>
            </a:r>
          </a:p>
        </p:txBody>
      </p:sp>
      <p:sp>
        <p:nvSpPr>
          <p:cNvPr id="92" name="c-5-6"/>
          <p:cNvSpPr/>
          <p:nvPr/>
        </p:nvSpPr>
        <p:spPr>
          <a:xfrm>
            <a:off x="6477000" y="38100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1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1" y="431800"/>
                  <a:pt x="762000" y="431800"/>
                </a:cubicBezTo>
                <a:lnTo>
                  <a:pt x="76200" y="431800"/>
                </a:lnTo>
                <a:cubicBezTo>
                  <a:pt x="34099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86A2C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cv-5-6"/>
          <p:cNvSpPr txBox="1"/>
          <p:nvPr/>
        </p:nvSpPr>
        <p:spPr>
          <a:xfrm>
            <a:off x="6778752" y="39291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34</a:t>
            </a:r>
          </a:p>
        </p:txBody>
      </p:sp>
      <p:sp>
        <p:nvSpPr>
          <p:cNvPr id="94" name="c-5-7"/>
          <p:cNvSpPr/>
          <p:nvPr/>
        </p:nvSpPr>
        <p:spPr>
          <a:xfrm>
            <a:off x="7366000" y="38100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1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1" y="431800"/>
                  <a:pt x="762000" y="431800"/>
                </a:cubicBezTo>
                <a:lnTo>
                  <a:pt x="76200" y="431800"/>
                </a:lnTo>
                <a:cubicBezTo>
                  <a:pt x="34099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AEC3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cv-5-7"/>
          <p:cNvSpPr txBox="1"/>
          <p:nvPr/>
        </p:nvSpPr>
        <p:spPr>
          <a:xfrm>
            <a:off x="7667752" y="39291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16</a:t>
            </a:r>
          </a:p>
        </p:txBody>
      </p:sp>
      <p:sp>
        <p:nvSpPr>
          <p:cNvPr id="96" name="c-6-1"/>
          <p:cNvSpPr/>
          <p:nvPr/>
        </p:nvSpPr>
        <p:spPr>
          <a:xfrm>
            <a:off x="2032000" y="42926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6C8DB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cv-6-1"/>
          <p:cNvSpPr txBox="1"/>
          <p:nvPr/>
        </p:nvSpPr>
        <p:spPr>
          <a:xfrm>
            <a:off x="2333752" y="44117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46</a:t>
            </a:r>
          </a:p>
        </p:txBody>
      </p:sp>
      <p:sp>
        <p:nvSpPr>
          <p:cNvPr id="98" name="c-6-2"/>
          <p:cNvSpPr/>
          <p:nvPr/>
        </p:nvSpPr>
        <p:spPr>
          <a:xfrm>
            <a:off x="2921000" y="42926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7090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9" name="cv-6-2"/>
          <p:cNvSpPr txBox="1"/>
          <p:nvPr/>
        </p:nvSpPr>
        <p:spPr>
          <a:xfrm>
            <a:off x="3222752" y="44117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44</a:t>
            </a:r>
          </a:p>
        </p:txBody>
      </p:sp>
      <p:sp>
        <p:nvSpPr>
          <p:cNvPr id="100" name="c-6-3"/>
          <p:cNvSpPr/>
          <p:nvPr/>
        </p:nvSpPr>
        <p:spPr>
          <a:xfrm>
            <a:off x="3810000" y="42926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7494C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cv-6-3"/>
          <p:cNvSpPr txBox="1"/>
          <p:nvPr/>
        </p:nvSpPr>
        <p:spPr>
          <a:xfrm>
            <a:off x="4111752" y="44117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42</a:t>
            </a:r>
          </a:p>
        </p:txBody>
      </p:sp>
      <p:sp>
        <p:nvSpPr>
          <p:cNvPr id="102" name="c-6-4"/>
          <p:cNvSpPr/>
          <p:nvPr/>
        </p:nvSpPr>
        <p:spPr>
          <a:xfrm>
            <a:off x="4699000" y="42926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7292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cv-6-4"/>
          <p:cNvSpPr txBox="1"/>
          <p:nvPr/>
        </p:nvSpPr>
        <p:spPr>
          <a:xfrm>
            <a:off x="5000752" y="44117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43</a:t>
            </a:r>
          </a:p>
        </p:txBody>
      </p:sp>
      <p:sp>
        <p:nvSpPr>
          <p:cNvPr id="104" name="c-6-5"/>
          <p:cNvSpPr/>
          <p:nvPr/>
        </p:nvSpPr>
        <p:spPr>
          <a:xfrm>
            <a:off x="5588000" y="42926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6083B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cv-6-5"/>
          <p:cNvSpPr txBox="1"/>
          <p:nvPr/>
        </p:nvSpPr>
        <p:spPr>
          <a:xfrm>
            <a:off x="5889752" y="44117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52</a:t>
            </a:r>
          </a:p>
        </p:txBody>
      </p:sp>
      <p:sp>
        <p:nvSpPr>
          <p:cNvPr id="106" name="c-6-6"/>
          <p:cNvSpPr/>
          <p:nvPr/>
        </p:nvSpPr>
        <p:spPr>
          <a:xfrm>
            <a:off x="6477000" y="42926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1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1" y="431800"/>
                  <a:pt x="762000" y="431800"/>
                </a:cubicBezTo>
                <a:lnTo>
                  <a:pt x="76200" y="431800"/>
                </a:lnTo>
                <a:cubicBezTo>
                  <a:pt x="34099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97B0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7" name="cv-6-6"/>
          <p:cNvSpPr txBox="1"/>
          <p:nvPr/>
        </p:nvSpPr>
        <p:spPr>
          <a:xfrm>
            <a:off x="6778752" y="44117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26</a:t>
            </a:r>
          </a:p>
        </p:txBody>
      </p:sp>
      <p:sp>
        <p:nvSpPr>
          <p:cNvPr id="108" name="c-6-7"/>
          <p:cNvSpPr/>
          <p:nvPr/>
        </p:nvSpPr>
        <p:spPr>
          <a:xfrm>
            <a:off x="7366000" y="42926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1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1" y="431800"/>
                  <a:pt x="762000" y="431800"/>
                </a:cubicBezTo>
                <a:lnTo>
                  <a:pt x="76200" y="431800"/>
                </a:lnTo>
                <a:cubicBezTo>
                  <a:pt x="34099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B6C9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cv-6-7"/>
          <p:cNvSpPr txBox="1"/>
          <p:nvPr/>
        </p:nvSpPr>
        <p:spPr>
          <a:xfrm>
            <a:off x="7667752" y="44117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13</a:t>
            </a:r>
          </a:p>
        </p:txBody>
      </p:sp>
      <p:sp>
        <p:nvSpPr>
          <p:cNvPr id="110" name="c-7-1"/>
          <p:cNvSpPr/>
          <p:nvPr/>
        </p:nvSpPr>
        <p:spPr>
          <a:xfrm>
            <a:off x="2032000" y="47752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A0B7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1" name="cv-7-1"/>
          <p:cNvSpPr txBox="1"/>
          <p:nvPr/>
        </p:nvSpPr>
        <p:spPr>
          <a:xfrm>
            <a:off x="2333752" y="48943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22</a:t>
            </a:r>
          </a:p>
        </p:txBody>
      </p:sp>
      <p:sp>
        <p:nvSpPr>
          <p:cNvPr id="112" name="c-7-2"/>
          <p:cNvSpPr/>
          <p:nvPr/>
        </p:nvSpPr>
        <p:spPr>
          <a:xfrm>
            <a:off x="2921000" y="47752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A5BB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3" name="cv-7-2"/>
          <p:cNvSpPr txBox="1"/>
          <p:nvPr/>
        </p:nvSpPr>
        <p:spPr>
          <a:xfrm>
            <a:off x="3222752" y="48943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20</a:t>
            </a:r>
          </a:p>
        </p:txBody>
      </p:sp>
      <p:sp>
        <p:nvSpPr>
          <p:cNvPr id="114" name="c-7-3"/>
          <p:cNvSpPr/>
          <p:nvPr/>
        </p:nvSpPr>
        <p:spPr>
          <a:xfrm>
            <a:off x="3810000" y="47752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A7BD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5" name="cv-7-3"/>
          <p:cNvSpPr txBox="1"/>
          <p:nvPr/>
        </p:nvSpPr>
        <p:spPr>
          <a:xfrm>
            <a:off x="4111752" y="48943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19</a:t>
            </a:r>
          </a:p>
        </p:txBody>
      </p:sp>
      <p:sp>
        <p:nvSpPr>
          <p:cNvPr id="116" name="c-7-4"/>
          <p:cNvSpPr/>
          <p:nvPr/>
        </p:nvSpPr>
        <p:spPr>
          <a:xfrm>
            <a:off x="4699000" y="47752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A3B9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7" name="cv-7-4"/>
          <p:cNvSpPr txBox="1"/>
          <p:nvPr/>
        </p:nvSpPr>
        <p:spPr>
          <a:xfrm>
            <a:off x="5000752" y="48943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21</a:t>
            </a:r>
          </a:p>
        </p:txBody>
      </p:sp>
      <p:sp>
        <p:nvSpPr>
          <p:cNvPr id="118" name="c-7-5"/>
          <p:cNvSpPr/>
          <p:nvPr/>
        </p:nvSpPr>
        <p:spPr>
          <a:xfrm>
            <a:off x="5588000" y="47752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93ACD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9" name="cv-7-5"/>
          <p:cNvSpPr txBox="1"/>
          <p:nvPr/>
        </p:nvSpPr>
        <p:spPr>
          <a:xfrm>
            <a:off x="5889752" y="48943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28</a:t>
            </a:r>
          </a:p>
        </p:txBody>
      </p:sp>
      <p:sp>
        <p:nvSpPr>
          <p:cNvPr id="120" name="c-7-6"/>
          <p:cNvSpPr/>
          <p:nvPr/>
        </p:nvSpPr>
        <p:spPr>
          <a:xfrm>
            <a:off x="6477000" y="47752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1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1" y="431800"/>
                  <a:pt x="762000" y="431800"/>
                </a:cubicBezTo>
                <a:lnTo>
                  <a:pt x="76200" y="431800"/>
                </a:lnTo>
                <a:cubicBezTo>
                  <a:pt x="34099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AEC3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1" name="cv-7-6"/>
          <p:cNvSpPr txBox="1"/>
          <p:nvPr/>
        </p:nvSpPr>
        <p:spPr>
          <a:xfrm>
            <a:off x="6778752" y="48943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16</a:t>
            </a:r>
          </a:p>
        </p:txBody>
      </p:sp>
      <p:sp>
        <p:nvSpPr>
          <p:cNvPr id="122" name="c-7-7"/>
          <p:cNvSpPr/>
          <p:nvPr/>
        </p:nvSpPr>
        <p:spPr>
          <a:xfrm>
            <a:off x="7366000" y="47752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1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1" y="431800"/>
                  <a:pt x="762000" y="431800"/>
                </a:cubicBezTo>
                <a:lnTo>
                  <a:pt x="76200" y="431800"/>
                </a:lnTo>
                <a:cubicBezTo>
                  <a:pt x="34099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C0D1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3" name="cv-7-7"/>
          <p:cNvSpPr txBox="1"/>
          <p:nvPr/>
        </p:nvSpPr>
        <p:spPr>
          <a:xfrm>
            <a:off x="7700708" y="4894390"/>
            <a:ext cx="168783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9</a:t>
            </a:r>
          </a:p>
        </p:txBody>
      </p:sp>
      <p:sp>
        <p:nvSpPr>
          <p:cNvPr id="124" name="c-8-1"/>
          <p:cNvSpPr/>
          <p:nvPr/>
        </p:nvSpPr>
        <p:spPr>
          <a:xfrm>
            <a:off x="2032000" y="52578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BBCD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5" name="cv-8-1"/>
          <p:cNvSpPr txBox="1"/>
          <p:nvPr/>
        </p:nvSpPr>
        <p:spPr>
          <a:xfrm>
            <a:off x="2333752" y="53769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11</a:t>
            </a:r>
          </a:p>
        </p:txBody>
      </p:sp>
      <p:sp>
        <p:nvSpPr>
          <p:cNvPr id="126" name="c-8-2"/>
          <p:cNvSpPr/>
          <p:nvPr/>
        </p:nvSpPr>
        <p:spPr>
          <a:xfrm>
            <a:off x="2921000" y="52578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BDCFE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7" name="cv-8-2"/>
          <p:cNvSpPr txBox="1"/>
          <p:nvPr/>
        </p:nvSpPr>
        <p:spPr>
          <a:xfrm>
            <a:off x="3222752" y="53769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10</a:t>
            </a:r>
          </a:p>
        </p:txBody>
      </p:sp>
      <p:sp>
        <p:nvSpPr>
          <p:cNvPr id="128" name="c-8-3"/>
          <p:cNvSpPr/>
          <p:nvPr/>
        </p:nvSpPr>
        <p:spPr>
          <a:xfrm>
            <a:off x="3810000" y="52578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C0D1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9" name="cv-8-3"/>
          <p:cNvSpPr txBox="1"/>
          <p:nvPr/>
        </p:nvSpPr>
        <p:spPr>
          <a:xfrm>
            <a:off x="4144708" y="5376990"/>
            <a:ext cx="168783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9</a:t>
            </a:r>
          </a:p>
        </p:txBody>
      </p:sp>
      <p:sp>
        <p:nvSpPr>
          <p:cNvPr id="130" name="c-8-4"/>
          <p:cNvSpPr/>
          <p:nvPr/>
        </p:nvSpPr>
        <p:spPr>
          <a:xfrm>
            <a:off x="4699000" y="52578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BDCFE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1" name="cv-8-4"/>
          <p:cNvSpPr txBox="1"/>
          <p:nvPr/>
        </p:nvSpPr>
        <p:spPr>
          <a:xfrm>
            <a:off x="5000752" y="53769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10</a:t>
            </a:r>
          </a:p>
        </p:txBody>
      </p:sp>
      <p:sp>
        <p:nvSpPr>
          <p:cNvPr id="132" name="c-8-5"/>
          <p:cNvSpPr/>
          <p:nvPr/>
        </p:nvSpPr>
        <p:spPr>
          <a:xfrm>
            <a:off x="5588000" y="52578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0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0" y="431800"/>
                  <a:pt x="7620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B3C7E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3" name="cv-8-5"/>
          <p:cNvSpPr txBox="1"/>
          <p:nvPr/>
        </p:nvSpPr>
        <p:spPr>
          <a:xfrm>
            <a:off x="5889752" y="537699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14</a:t>
            </a:r>
          </a:p>
        </p:txBody>
      </p:sp>
      <p:sp>
        <p:nvSpPr>
          <p:cNvPr id="134" name="c-8-6"/>
          <p:cNvSpPr/>
          <p:nvPr/>
        </p:nvSpPr>
        <p:spPr>
          <a:xfrm>
            <a:off x="6477000" y="52578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1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1" y="431800"/>
                  <a:pt x="762000" y="431800"/>
                </a:cubicBezTo>
                <a:lnTo>
                  <a:pt x="76200" y="431800"/>
                </a:lnTo>
                <a:cubicBezTo>
                  <a:pt x="34099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C3D3E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5" name="cv-8-6"/>
          <p:cNvSpPr txBox="1"/>
          <p:nvPr/>
        </p:nvSpPr>
        <p:spPr>
          <a:xfrm>
            <a:off x="6811708" y="5376990"/>
            <a:ext cx="168783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8</a:t>
            </a:r>
          </a:p>
        </p:txBody>
      </p:sp>
      <p:sp>
        <p:nvSpPr>
          <p:cNvPr id="136" name="c-8-7"/>
          <p:cNvSpPr/>
          <p:nvPr/>
        </p:nvSpPr>
        <p:spPr>
          <a:xfrm>
            <a:off x="7366000" y="5257800"/>
            <a:ext cx="838200" cy="431800"/>
          </a:xfrm>
          <a:custGeom>
            <a:avLst/>
            <a:gdLst/>
            <a:ahLst/>
            <a:cxnLst/>
            <a:rect l="0" t="0" r="r" b="b"/>
            <a:pathLst>
              <a:path w="838200" h="431800">
                <a:moveTo>
                  <a:pt x="76200" y="0"/>
                </a:moveTo>
                <a:lnTo>
                  <a:pt x="762000" y="0"/>
                </a:lnTo>
                <a:cubicBezTo>
                  <a:pt x="804101" y="0"/>
                  <a:pt x="838200" y="34100"/>
                  <a:pt x="838200" y="76200"/>
                </a:cubicBezTo>
                <a:lnTo>
                  <a:pt x="838200" y="355600"/>
                </a:lnTo>
                <a:cubicBezTo>
                  <a:pt x="838200" y="397700"/>
                  <a:pt x="804101" y="431800"/>
                  <a:pt x="762000" y="431800"/>
                </a:cubicBezTo>
                <a:lnTo>
                  <a:pt x="76200" y="431800"/>
                </a:lnTo>
                <a:cubicBezTo>
                  <a:pt x="34099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C8D8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7" name="cv-8-7"/>
          <p:cNvSpPr txBox="1"/>
          <p:nvPr/>
        </p:nvSpPr>
        <p:spPr>
          <a:xfrm>
            <a:off x="7700708" y="5376990"/>
            <a:ext cx="168783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6</a:t>
            </a:r>
          </a:p>
        </p:txBody>
      </p:sp>
      <p:sp>
        <p:nvSpPr>
          <p:cNvPr id="138" name="peak"/>
          <p:cNvSpPr/>
          <p:nvPr/>
        </p:nvSpPr>
        <p:spPr>
          <a:xfrm>
            <a:off x="5562600" y="3784600"/>
            <a:ext cx="889000" cy="482600"/>
          </a:xfrm>
          <a:custGeom>
            <a:avLst/>
            <a:gdLst/>
            <a:ahLst/>
            <a:cxnLst/>
            <a:rect l="0" t="0" r="r" b="b"/>
            <a:pathLst>
              <a:path w="889000" h="482600">
                <a:moveTo>
                  <a:pt x="88900" y="0"/>
                </a:moveTo>
                <a:lnTo>
                  <a:pt x="800100" y="0"/>
                </a:lnTo>
                <a:cubicBezTo>
                  <a:pt x="849186" y="0"/>
                  <a:pt x="889000" y="39814"/>
                  <a:pt x="889000" y="88900"/>
                </a:cubicBezTo>
                <a:lnTo>
                  <a:pt x="889000" y="393700"/>
                </a:lnTo>
                <a:cubicBezTo>
                  <a:pt x="889000" y="442786"/>
                  <a:pt x="849186" y="482600"/>
                  <a:pt x="800100" y="482600"/>
                </a:cubicBezTo>
                <a:lnTo>
                  <a:pt x="88900" y="482600"/>
                </a:lnTo>
                <a:cubicBezTo>
                  <a:pt x="39814" y="482600"/>
                  <a:pt x="0" y="442786"/>
                  <a:pt x="0" y="3937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noFill/>
          <a:ln w="1651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9" name="peak-tag"/>
          <p:cNvSpPr/>
          <p:nvPr/>
        </p:nvSpPr>
        <p:spPr>
          <a:xfrm>
            <a:off x="6210300" y="3670300"/>
            <a:ext cx="482600" cy="165100"/>
          </a:xfrm>
          <a:custGeom>
            <a:avLst/>
            <a:gdLst/>
            <a:ahLst/>
            <a:cxnLst/>
            <a:rect l="0" t="0" r="r" b="b"/>
            <a:pathLst>
              <a:path w="482600" h="165100">
                <a:moveTo>
                  <a:pt x="82550" y="0"/>
                </a:moveTo>
                <a:lnTo>
                  <a:pt x="400050" y="0"/>
                </a:lnTo>
                <a:cubicBezTo>
                  <a:pt x="445643" y="0"/>
                  <a:pt x="482600" y="36957"/>
                  <a:pt x="482600" y="82550"/>
                </a:cubicBezTo>
                <a:lnTo>
                  <a:pt x="482600" y="82550"/>
                </a:lnTo>
                <a:cubicBezTo>
                  <a:pt x="482600" y="128143"/>
                  <a:pt x="445643" y="165100"/>
                  <a:pt x="400050" y="165100"/>
                </a:cubicBezTo>
                <a:lnTo>
                  <a:pt x="82550" y="165100"/>
                </a:lnTo>
                <a:cubicBezTo>
                  <a:pt x="36957" y="165100"/>
                  <a:pt x="0" y="128143"/>
                  <a:pt x="0" y="825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0" name="peak-t"/>
          <p:cNvSpPr txBox="1"/>
          <p:nvPr/>
        </p:nvSpPr>
        <p:spPr>
          <a:xfrm>
            <a:off x="6317615" y="3674808"/>
            <a:ext cx="2679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4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峰值</a:t>
            </a:r>
          </a:p>
        </p:txBody>
      </p:sp>
      <p:sp>
        <p:nvSpPr>
          <p:cNvPr id="141" name="side-bar"/>
          <p:cNvSpPr/>
          <p:nvPr/>
        </p:nvSpPr>
        <p:spPr>
          <a:xfrm>
            <a:off x="8585200" y="16256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2" name="side-h"/>
          <p:cNvSpPr txBox="1"/>
          <p:nvPr/>
        </p:nvSpPr>
        <p:spPr>
          <a:xfrm>
            <a:off x="8743950" y="16327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压力分布</a:t>
            </a:r>
          </a:p>
        </p:txBody>
      </p:sp>
      <p:sp>
        <p:nvSpPr>
          <p:cNvPr id="143" name="side-p"/>
          <p:cNvSpPr txBox="1"/>
          <p:nvPr/>
        </p:nvSpPr>
        <p:spPr>
          <a:xfrm>
            <a:off x="8749665" y="1907461"/>
            <a:ext cx="12366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按时段汇总的周工单量</a:t>
            </a:r>
          </a:p>
        </p:txBody>
      </p:sp>
      <p:sp>
        <p:nvSpPr>
          <p:cNvPr id="144" name="sn-1"/>
          <p:cNvSpPr txBox="1"/>
          <p:nvPr/>
        </p:nvSpPr>
        <p:spPr>
          <a:xfrm>
            <a:off x="8573770" y="2308066"/>
            <a:ext cx="3651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20">
                <a:solidFill>
                  <a:srgbClr val="0B2545"/>
                </a:solidFill>
                <a:latin typeface="Arial"/>
                <a:ea typeface="Arial"/>
                <a:cs typeface="Arial"/>
              </a:rPr>
              <a:t>08–10</a:t>
            </a:r>
          </a:p>
        </p:txBody>
      </p:sp>
      <p:sp>
        <p:nvSpPr>
          <p:cNvPr id="145" name="sbg-1"/>
          <p:cNvSpPr/>
          <p:nvPr/>
        </p:nvSpPr>
        <p:spPr>
          <a:xfrm>
            <a:off x="9169400" y="2349500"/>
            <a:ext cx="1524000" cy="101600"/>
          </a:xfrm>
          <a:prstGeom prst="roundRect">
            <a:avLst>
              <a:gd name="adj" fmla="val 50000"/>
            </a:avLst>
          </a:pr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6" name="sbar-1"/>
          <p:cNvSpPr/>
          <p:nvPr/>
        </p:nvSpPr>
        <p:spPr>
          <a:xfrm>
            <a:off x="9169400" y="2349500"/>
            <a:ext cx="1016000" cy="101600"/>
          </a:xfrm>
          <a:prstGeom prst="roundRect">
            <a:avLst>
              <a:gd name="adj" fmla="val 50000"/>
            </a:avLst>
          </a:prstGeom>
          <a:solidFill>
            <a:srgbClr val="3B69A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7" name="sv-1"/>
          <p:cNvSpPr txBox="1"/>
          <p:nvPr/>
        </p:nvSpPr>
        <p:spPr>
          <a:xfrm>
            <a:off x="10853928" y="2305082"/>
            <a:ext cx="28422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332</a:t>
            </a:r>
          </a:p>
        </p:txBody>
      </p:sp>
      <p:sp>
        <p:nvSpPr>
          <p:cNvPr id="148" name="sn-2"/>
          <p:cNvSpPr txBox="1"/>
          <p:nvPr/>
        </p:nvSpPr>
        <p:spPr>
          <a:xfrm>
            <a:off x="8573770" y="2727166"/>
            <a:ext cx="3651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20">
                <a:solidFill>
                  <a:srgbClr val="0B2545"/>
                </a:solidFill>
                <a:latin typeface="Arial"/>
                <a:ea typeface="Arial"/>
                <a:cs typeface="Arial"/>
              </a:rPr>
              <a:t>10–12</a:t>
            </a:r>
          </a:p>
        </p:txBody>
      </p:sp>
      <p:sp>
        <p:nvSpPr>
          <p:cNvPr id="149" name="sbg-2"/>
          <p:cNvSpPr/>
          <p:nvPr/>
        </p:nvSpPr>
        <p:spPr>
          <a:xfrm>
            <a:off x="9169400" y="2768600"/>
            <a:ext cx="1524000" cy="101600"/>
          </a:xfrm>
          <a:prstGeom prst="roundRect">
            <a:avLst>
              <a:gd name="adj" fmla="val 50000"/>
            </a:avLst>
          </a:pr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0" name="sbar-2"/>
          <p:cNvSpPr/>
          <p:nvPr/>
        </p:nvSpPr>
        <p:spPr>
          <a:xfrm>
            <a:off x="9169400" y="2768600"/>
            <a:ext cx="1407711" cy="101600"/>
          </a:xfrm>
          <a:prstGeom prst="roundRect">
            <a:avLst>
              <a:gd name="adj" fmla="val 50000"/>
            </a:avLst>
          </a:prstGeom>
          <a:solidFill>
            <a:srgbClr val="16489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1" name="sv-2"/>
          <p:cNvSpPr txBox="1"/>
          <p:nvPr/>
        </p:nvSpPr>
        <p:spPr>
          <a:xfrm>
            <a:off x="10853928" y="2724182"/>
            <a:ext cx="28422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460</a:t>
            </a:r>
          </a:p>
        </p:txBody>
      </p:sp>
      <p:sp>
        <p:nvSpPr>
          <p:cNvPr id="152" name="sn-3"/>
          <p:cNvSpPr txBox="1"/>
          <p:nvPr/>
        </p:nvSpPr>
        <p:spPr>
          <a:xfrm>
            <a:off x="8573770" y="3146266"/>
            <a:ext cx="3651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20">
                <a:solidFill>
                  <a:srgbClr val="0B2545"/>
                </a:solidFill>
                <a:latin typeface="Arial"/>
                <a:ea typeface="Arial"/>
                <a:cs typeface="Arial"/>
              </a:rPr>
              <a:t>12–14</a:t>
            </a:r>
          </a:p>
        </p:txBody>
      </p:sp>
      <p:sp>
        <p:nvSpPr>
          <p:cNvPr id="153" name="sbg-3"/>
          <p:cNvSpPr/>
          <p:nvPr/>
        </p:nvSpPr>
        <p:spPr>
          <a:xfrm>
            <a:off x="9169400" y="3187700"/>
            <a:ext cx="1524000" cy="101600"/>
          </a:xfrm>
          <a:prstGeom prst="roundRect">
            <a:avLst>
              <a:gd name="adj" fmla="val 50000"/>
            </a:avLst>
          </a:pr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4" name="sbar-3"/>
          <p:cNvSpPr/>
          <p:nvPr/>
        </p:nvSpPr>
        <p:spPr>
          <a:xfrm>
            <a:off x="9169400" y="3187700"/>
            <a:ext cx="584506" cy="101600"/>
          </a:xfrm>
          <a:prstGeom prst="roundRect">
            <a:avLst>
              <a:gd name="adj" fmla="val 50000"/>
            </a:avLst>
          </a:prstGeom>
          <a:solidFill>
            <a:srgbClr val="648EC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5" name="sv-3"/>
          <p:cNvSpPr txBox="1"/>
          <p:nvPr/>
        </p:nvSpPr>
        <p:spPr>
          <a:xfrm>
            <a:off x="10853928" y="3143282"/>
            <a:ext cx="28422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191</a:t>
            </a:r>
          </a:p>
        </p:txBody>
      </p:sp>
      <p:sp>
        <p:nvSpPr>
          <p:cNvPr id="156" name="sn-4"/>
          <p:cNvSpPr txBox="1"/>
          <p:nvPr/>
        </p:nvSpPr>
        <p:spPr>
          <a:xfrm>
            <a:off x="8573770" y="3565366"/>
            <a:ext cx="3651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20">
                <a:solidFill>
                  <a:srgbClr val="0B2545"/>
                </a:solidFill>
                <a:latin typeface="Arial"/>
                <a:ea typeface="Arial"/>
                <a:cs typeface="Arial"/>
              </a:rPr>
              <a:t>14–16</a:t>
            </a:r>
          </a:p>
        </p:txBody>
      </p:sp>
      <p:sp>
        <p:nvSpPr>
          <p:cNvPr id="157" name="sbg-4"/>
          <p:cNvSpPr/>
          <p:nvPr/>
        </p:nvSpPr>
        <p:spPr>
          <a:xfrm>
            <a:off x="9169400" y="3606800"/>
            <a:ext cx="1524000" cy="101600"/>
          </a:xfrm>
          <a:prstGeom prst="roundRect">
            <a:avLst>
              <a:gd name="adj" fmla="val 50000"/>
            </a:avLst>
          </a:pr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8" name="sbar-4"/>
          <p:cNvSpPr/>
          <p:nvPr/>
        </p:nvSpPr>
        <p:spPr>
          <a:xfrm>
            <a:off x="9169400" y="3606800"/>
            <a:ext cx="1294482" cy="101600"/>
          </a:xfrm>
          <a:prstGeom prst="roundRect">
            <a:avLst>
              <a:gd name="adj" fmla="val 50000"/>
            </a:avLst>
          </a:prstGeom>
          <a:solidFill>
            <a:srgbClr val="2152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9" name="sv-4"/>
          <p:cNvSpPr txBox="1"/>
          <p:nvPr/>
        </p:nvSpPr>
        <p:spPr>
          <a:xfrm>
            <a:off x="10853928" y="3562382"/>
            <a:ext cx="28422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423</a:t>
            </a:r>
          </a:p>
        </p:txBody>
      </p:sp>
      <p:sp>
        <p:nvSpPr>
          <p:cNvPr id="160" name="sn-5"/>
          <p:cNvSpPr txBox="1"/>
          <p:nvPr/>
        </p:nvSpPr>
        <p:spPr>
          <a:xfrm>
            <a:off x="8573770" y="3984466"/>
            <a:ext cx="3651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20">
                <a:solidFill>
                  <a:srgbClr val="0B2545"/>
                </a:solidFill>
                <a:latin typeface="Arial"/>
                <a:ea typeface="Arial"/>
                <a:cs typeface="Arial"/>
              </a:rPr>
              <a:t>16–18</a:t>
            </a:r>
          </a:p>
        </p:txBody>
      </p:sp>
      <p:sp>
        <p:nvSpPr>
          <p:cNvPr id="161" name="sbg-5"/>
          <p:cNvSpPr/>
          <p:nvPr/>
        </p:nvSpPr>
        <p:spPr>
          <a:xfrm>
            <a:off x="9169400" y="4025900"/>
            <a:ext cx="1524000" cy="101600"/>
          </a:xfrm>
          <a:prstGeom prst="roundRect">
            <a:avLst>
              <a:gd name="adj" fmla="val 50000"/>
            </a:avLst>
          </a:pr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2" name="sbar-5"/>
          <p:cNvSpPr/>
          <p:nvPr/>
        </p:nvSpPr>
        <p:spPr>
          <a:xfrm>
            <a:off x="9169400" y="4025900"/>
            <a:ext cx="1524000" cy="1016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3" name="sv-5"/>
          <p:cNvSpPr txBox="1"/>
          <p:nvPr/>
        </p:nvSpPr>
        <p:spPr>
          <a:xfrm>
            <a:off x="10853928" y="3981482"/>
            <a:ext cx="28422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498</a:t>
            </a:r>
          </a:p>
        </p:txBody>
      </p:sp>
      <p:sp>
        <p:nvSpPr>
          <p:cNvPr id="164" name="sn-6"/>
          <p:cNvSpPr txBox="1"/>
          <p:nvPr/>
        </p:nvSpPr>
        <p:spPr>
          <a:xfrm>
            <a:off x="8573770" y="4403566"/>
            <a:ext cx="3651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20">
                <a:solidFill>
                  <a:srgbClr val="0B2545"/>
                </a:solidFill>
                <a:latin typeface="Arial"/>
                <a:ea typeface="Arial"/>
                <a:cs typeface="Arial"/>
              </a:rPr>
              <a:t>18–20</a:t>
            </a:r>
          </a:p>
        </p:txBody>
      </p:sp>
      <p:sp>
        <p:nvSpPr>
          <p:cNvPr id="165" name="sbg-6"/>
          <p:cNvSpPr/>
          <p:nvPr/>
        </p:nvSpPr>
        <p:spPr>
          <a:xfrm>
            <a:off x="9169400" y="4445000"/>
            <a:ext cx="1524000" cy="101600"/>
          </a:xfrm>
          <a:prstGeom prst="roundRect">
            <a:avLst>
              <a:gd name="adj" fmla="val 50000"/>
            </a:avLst>
          </a:pr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6" name="sbar-6"/>
          <p:cNvSpPr/>
          <p:nvPr/>
        </p:nvSpPr>
        <p:spPr>
          <a:xfrm>
            <a:off x="9169400" y="4445000"/>
            <a:ext cx="814024" cy="101600"/>
          </a:xfrm>
          <a:prstGeom prst="roundRect">
            <a:avLst>
              <a:gd name="adj" fmla="val 50000"/>
            </a:avLst>
          </a:prstGeom>
          <a:solidFill>
            <a:srgbClr val="4F7BB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7" name="sv-6"/>
          <p:cNvSpPr txBox="1"/>
          <p:nvPr/>
        </p:nvSpPr>
        <p:spPr>
          <a:xfrm>
            <a:off x="10853928" y="4400582"/>
            <a:ext cx="28422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266</a:t>
            </a:r>
          </a:p>
        </p:txBody>
      </p:sp>
      <p:sp>
        <p:nvSpPr>
          <p:cNvPr id="168" name="sn-7"/>
          <p:cNvSpPr txBox="1"/>
          <p:nvPr/>
        </p:nvSpPr>
        <p:spPr>
          <a:xfrm>
            <a:off x="8573770" y="4822666"/>
            <a:ext cx="3651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20">
                <a:solidFill>
                  <a:srgbClr val="0B2545"/>
                </a:solidFill>
                <a:latin typeface="Arial"/>
                <a:ea typeface="Arial"/>
                <a:cs typeface="Arial"/>
              </a:rPr>
              <a:t>20–22</a:t>
            </a:r>
          </a:p>
        </p:txBody>
      </p:sp>
      <p:sp>
        <p:nvSpPr>
          <p:cNvPr id="169" name="sbg-7"/>
          <p:cNvSpPr/>
          <p:nvPr/>
        </p:nvSpPr>
        <p:spPr>
          <a:xfrm>
            <a:off x="9169400" y="4864100"/>
            <a:ext cx="1524000" cy="101600"/>
          </a:xfrm>
          <a:prstGeom prst="roundRect">
            <a:avLst>
              <a:gd name="adj" fmla="val 50000"/>
            </a:avLst>
          </a:pr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0" name="sbar-7"/>
          <p:cNvSpPr/>
          <p:nvPr/>
        </p:nvSpPr>
        <p:spPr>
          <a:xfrm>
            <a:off x="9169400" y="4864100"/>
            <a:ext cx="413133" cy="101600"/>
          </a:xfrm>
          <a:prstGeom prst="roundRect">
            <a:avLst>
              <a:gd name="adj" fmla="val 50000"/>
            </a:avLst>
          </a:prstGeom>
          <a:solidFill>
            <a:srgbClr val="759D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1" name="sv-7"/>
          <p:cNvSpPr txBox="1"/>
          <p:nvPr/>
        </p:nvSpPr>
        <p:spPr>
          <a:xfrm>
            <a:off x="10853928" y="4819682"/>
            <a:ext cx="28422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135</a:t>
            </a:r>
          </a:p>
        </p:txBody>
      </p:sp>
      <p:sp>
        <p:nvSpPr>
          <p:cNvPr id="172" name="sn-8"/>
          <p:cNvSpPr txBox="1"/>
          <p:nvPr/>
        </p:nvSpPr>
        <p:spPr>
          <a:xfrm>
            <a:off x="8573770" y="5241766"/>
            <a:ext cx="3651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20">
                <a:solidFill>
                  <a:srgbClr val="0B2545"/>
                </a:solidFill>
                <a:latin typeface="Arial"/>
                <a:ea typeface="Arial"/>
                <a:cs typeface="Arial"/>
              </a:rPr>
              <a:t>22–08</a:t>
            </a:r>
          </a:p>
        </p:txBody>
      </p:sp>
      <p:sp>
        <p:nvSpPr>
          <p:cNvPr id="173" name="sbg-8"/>
          <p:cNvSpPr/>
          <p:nvPr/>
        </p:nvSpPr>
        <p:spPr>
          <a:xfrm>
            <a:off x="9169400" y="5283200"/>
            <a:ext cx="1524000" cy="101600"/>
          </a:xfrm>
          <a:prstGeom prst="roundRect">
            <a:avLst>
              <a:gd name="adj" fmla="val 50000"/>
            </a:avLst>
          </a:pr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4" name="sbar-8"/>
          <p:cNvSpPr/>
          <p:nvPr/>
        </p:nvSpPr>
        <p:spPr>
          <a:xfrm>
            <a:off x="9169400" y="5283200"/>
            <a:ext cx="208096" cy="101600"/>
          </a:xfrm>
          <a:prstGeom prst="roundRect">
            <a:avLst>
              <a:gd name="adj" fmla="val 50000"/>
            </a:avLst>
          </a:prstGeom>
          <a:solidFill>
            <a:srgbClr val="88AED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5" name="sv-8"/>
          <p:cNvSpPr txBox="1"/>
          <p:nvPr/>
        </p:nvSpPr>
        <p:spPr>
          <a:xfrm>
            <a:off x="10916285" y="5238782"/>
            <a:ext cx="22186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68</a:t>
            </a:r>
          </a:p>
        </p:txBody>
      </p:sp>
      <p:sp>
        <p:nvSpPr>
          <p:cNvPr id="176" name="lg-h"/>
          <p:cNvSpPr txBox="1"/>
          <p:nvPr/>
        </p:nvSpPr>
        <p:spPr>
          <a:xfrm>
            <a:off x="1483296" y="5753687"/>
            <a:ext cx="381953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1" spc="6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工单量</a:t>
            </a:r>
          </a:p>
        </p:txBody>
      </p:sp>
      <p:sp>
        <p:nvSpPr>
          <p:cNvPr id="177" name="lg-1"/>
          <p:cNvSpPr/>
          <p:nvPr/>
        </p:nvSpPr>
        <p:spPr>
          <a:xfrm>
            <a:off x="2032000" y="5753100"/>
            <a:ext cx="254000" cy="152400"/>
          </a:xfrm>
          <a:custGeom>
            <a:avLst/>
            <a:gdLst/>
            <a:ahLst/>
            <a:cxnLst/>
            <a:rect l="0" t="0" r="r" b="b"/>
            <a:pathLst>
              <a:path w="254000" h="152400">
                <a:moveTo>
                  <a:pt x="50800" y="0"/>
                </a:moveTo>
                <a:lnTo>
                  <a:pt x="203200" y="0"/>
                </a:lnTo>
                <a:cubicBezTo>
                  <a:pt x="231267" y="0"/>
                  <a:pt x="254000" y="22733"/>
                  <a:pt x="254000" y="50800"/>
                </a:cubicBezTo>
                <a:lnTo>
                  <a:pt x="254000" y="101600"/>
                </a:lnTo>
                <a:cubicBezTo>
                  <a:pt x="254000" y="129667"/>
                  <a:pt x="231267" y="152400"/>
                  <a:pt x="203200" y="152400"/>
                </a:cubicBezTo>
                <a:lnTo>
                  <a:pt x="50800" y="152400"/>
                </a:lnTo>
                <a:cubicBezTo>
                  <a:pt x="22733" y="152400"/>
                  <a:pt x="0" y="129667"/>
                  <a:pt x="0" y="1016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DCE8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8" name="lg-2"/>
          <p:cNvSpPr/>
          <p:nvPr/>
        </p:nvSpPr>
        <p:spPr>
          <a:xfrm>
            <a:off x="2324100" y="5753100"/>
            <a:ext cx="254000" cy="152400"/>
          </a:xfrm>
          <a:custGeom>
            <a:avLst/>
            <a:gdLst/>
            <a:ahLst/>
            <a:cxnLst/>
            <a:rect l="0" t="0" r="r" b="b"/>
            <a:pathLst>
              <a:path w="254000" h="152400">
                <a:moveTo>
                  <a:pt x="50800" y="0"/>
                </a:moveTo>
                <a:lnTo>
                  <a:pt x="203200" y="0"/>
                </a:lnTo>
                <a:cubicBezTo>
                  <a:pt x="231267" y="0"/>
                  <a:pt x="254000" y="22733"/>
                  <a:pt x="254000" y="50800"/>
                </a:cubicBezTo>
                <a:lnTo>
                  <a:pt x="254000" y="101600"/>
                </a:lnTo>
                <a:cubicBezTo>
                  <a:pt x="254000" y="129667"/>
                  <a:pt x="231267" y="152400"/>
                  <a:pt x="203200" y="152400"/>
                </a:cubicBezTo>
                <a:lnTo>
                  <a:pt x="50800" y="152400"/>
                </a:lnTo>
                <a:cubicBezTo>
                  <a:pt x="22733" y="152400"/>
                  <a:pt x="0" y="129667"/>
                  <a:pt x="0" y="1016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AEC3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9" name="lg-3"/>
          <p:cNvSpPr/>
          <p:nvPr/>
        </p:nvSpPr>
        <p:spPr>
          <a:xfrm>
            <a:off x="2616200" y="5753100"/>
            <a:ext cx="254000" cy="152400"/>
          </a:xfrm>
          <a:custGeom>
            <a:avLst/>
            <a:gdLst/>
            <a:ahLst/>
            <a:cxnLst/>
            <a:rect l="0" t="0" r="r" b="b"/>
            <a:pathLst>
              <a:path w="254000" h="152400">
                <a:moveTo>
                  <a:pt x="50800" y="0"/>
                </a:moveTo>
                <a:lnTo>
                  <a:pt x="203200" y="0"/>
                </a:lnTo>
                <a:cubicBezTo>
                  <a:pt x="231267" y="0"/>
                  <a:pt x="254000" y="22733"/>
                  <a:pt x="254000" y="50800"/>
                </a:cubicBezTo>
                <a:lnTo>
                  <a:pt x="254000" y="101600"/>
                </a:lnTo>
                <a:cubicBezTo>
                  <a:pt x="254000" y="129667"/>
                  <a:pt x="231267" y="152400"/>
                  <a:pt x="203200" y="152400"/>
                </a:cubicBezTo>
                <a:lnTo>
                  <a:pt x="50800" y="152400"/>
                </a:lnTo>
                <a:cubicBezTo>
                  <a:pt x="22733" y="152400"/>
                  <a:pt x="0" y="129667"/>
                  <a:pt x="0" y="1016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8AA5C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0" name="lg-4"/>
          <p:cNvSpPr/>
          <p:nvPr/>
        </p:nvSpPr>
        <p:spPr>
          <a:xfrm>
            <a:off x="2908300" y="5753100"/>
            <a:ext cx="254000" cy="152400"/>
          </a:xfrm>
          <a:custGeom>
            <a:avLst/>
            <a:gdLst/>
            <a:ahLst/>
            <a:cxnLst/>
            <a:rect l="0" t="0" r="r" b="b"/>
            <a:pathLst>
              <a:path w="254000" h="152400">
                <a:moveTo>
                  <a:pt x="50800" y="0"/>
                </a:moveTo>
                <a:lnTo>
                  <a:pt x="203200" y="0"/>
                </a:lnTo>
                <a:cubicBezTo>
                  <a:pt x="231267" y="0"/>
                  <a:pt x="254000" y="22733"/>
                  <a:pt x="254000" y="50800"/>
                </a:cubicBezTo>
                <a:lnTo>
                  <a:pt x="254000" y="101600"/>
                </a:lnTo>
                <a:cubicBezTo>
                  <a:pt x="254000" y="129667"/>
                  <a:pt x="231267" y="152400"/>
                  <a:pt x="203200" y="152400"/>
                </a:cubicBezTo>
                <a:lnTo>
                  <a:pt x="50800" y="152400"/>
                </a:lnTo>
                <a:cubicBezTo>
                  <a:pt x="22733" y="152400"/>
                  <a:pt x="0" y="129667"/>
                  <a:pt x="0" y="1016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688A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1" name="lg-5"/>
          <p:cNvSpPr/>
          <p:nvPr/>
        </p:nvSpPr>
        <p:spPr>
          <a:xfrm>
            <a:off x="3200400" y="5753100"/>
            <a:ext cx="254000" cy="152400"/>
          </a:xfrm>
          <a:custGeom>
            <a:avLst/>
            <a:gdLst/>
            <a:ahLst/>
            <a:cxnLst/>
            <a:rect l="0" t="0" r="r" b="b"/>
            <a:pathLst>
              <a:path w="254000" h="152400">
                <a:moveTo>
                  <a:pt x="50800" y="0"/>
                </a:moveTo>
                <a:lnTo>
                  <a:pt x="203200" y="0"/>
                </a:lnTo>
                <a:cubicBezTo>
                  <a:pt x="231267" y="0"/>
                  <a:pt x="254000" y="22733"/>
                  <a:pt x="254000" y="50800"/>
                </a:cubicBezTo>
                <a:lnTo>
                  <a:pt x="254000" y="101600"/>
                </a:lnTo>
                <a:cubicBezTo>
                  <a:pt x="254000" y="129667"/>
                  <a:pt x="231267" y="152400"/>
                  <a:pt x="203200" y="152400"/>
                </a:cubicBezTo>
                <a:lnTo>
                  <a:pt x="50800" y="152400"/>
                </a:lnTo>
                <a:cubicBezTo>
                  <a:pt x="22733" y="152400"/>
                  <a:pt x="0" y="129667"/>
                  <a:pt x="0" y="1016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4870A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2" name="lg-6"/>
          <p:cNvSpPr/>
          <p:nvPr/>
        </p:nvSpPr>
        <p:spPr>
          <a:xfrm>
            <a:off x="3492500" y="5753100"/>
            <a:ext cx="254000" cy="152400"/>
          </a:xfrm>
          <a:custGeom>
            <a:avLst/>
            <a:gdLst/>
            <a:ahLst/>
            <a:cxnLst/>
            <a:rect l="0" t="0" r="r" b="b"/>
            <a:pathLst>
              <a:path w="254000" h="152400">
                <a:moveTo>
                  <a:pt x="50800" y="0"/>
                </a:moveTo>
                <a:lnTo>
                  <a:pt x="203200" y="0"/>
                </a:lnTo>
                <a:cubicBezTo>
                  <a:pt x="231267" y="0"/>
                  <a:pt x="254000" y="22733"/>
                  <a:pt x="254000" y="50800"/>
                </a:cubicBezTo>
                <a:lnTo>
                  <a:pt x="254000" y="101600"/>
                </a:lnTo>
                <a:cubicBezTo>
                  <a:pt x="254000" y="129667"/>
                  <a:pt x="231267" y="152400"/>
                  <a:pt x="203200" y="152400"/>
                </a:cubicBezTo>
                <a:lnTo>
                  <a:pt x="50800" y="152400"/>
                </a:lnTo>
                <a:cubicBezTo>
                  <a:pt x="22733" y="152400"/>
                  <a:pt x="0" y="129667"/>
                  <a:pt x="0" y="1016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29569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3" name="lg-7"/>
          <p:cNvSpPr/>
          <p:nvPr/>
        </p:nvSpPr>
        <p:spPr>
          <a:xfrm>
            <a:off x="3784600" y="5753100"/>
            <a:ext cx="254000" cy="152400"/>
          </a:xfrm>
          <a:custGeom>
            <a:avLst/>
            <a:gdLst/>
            <a:ahLst/>
            <a:cxnLst/>
            <a:rect l="0" t="0" r="r" b="b"/>
            <a:pathLst>
              <a:path w="254000" h="152400">
                <a:moveTo>
                  <a:pt x="50800" y="0"/>
                </a:moveTo>
                <a:lnTo>
                  <a:pt x="203200" y="0"/>
                </a:lnTo>
                <a:cubicBezTo>
                  <a:pt x="231267" y="0"/>
                  <a:pt x="254000" y="22733"/>
                  <a:pt x="254000" y="50800"/>
                </a:cubicBezTo>
                <a:lnTo>
                  <a:pt x="254000" y="101600"/>
                </a:lnTo>
                <a:cubicBezTo>
                  <a:pt x="254000" y="129667"/>
                  <a:pt x="231267" y="152400"/>
                  <a:pt x="203200" y="152400"/>
                </a:cubicBezTo>
                <a:lnTo>
                  <a:pt x="50800" y="152400"/>
                </a:lnTo>
                <a:cubicBezTo>
                  <a:pt x="22733" y="152400"/>
                  <a:pt x="0" y="129667"/>
                  <a:pt x="0" y="1016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4" name="lg-min"/>
          <p:cNvSpPr txBox="1"/>
          <p:nvPr/>
        </p:nvSpPr>
        <p:spPr>
          <a:xfrm>
            <a:off x="2021332" y="5935408"/>
            <a:ext cx="1689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低</a:t>
            </a:r>
          </a:p>
        </p:txBody>
      </p:sp>
      <p:sp>
        <p:nvSpPr>
          <p:cNvPr id="185" name="lg-max"/>
          <p:cNvSpPr txBox="1"/>
          <p:nvPr/>
        </p:nvSpPr>
        <p:spPr>
          <a:xfrm>
            <a:off x="3880358" y="5935408"/>
            <a:ext cx="1689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高</a:t>
            </a:r>
          </a:p>
        </p:txBody>
      </p:sp>
      <p:sp>
        <p:nvSpPr>
          <p:cNvPr id="186" name="con-bar"/>
          <p:cNvSpPr/>
          <p:nvPr/>
        </p:nvSpPr>
        <p:spPr>
          <a:xfrm>
            <a:off x="4572000" y="5651500"/>
            <a:ext cx="25400" cy="4318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7" name="con-h"/>
          <p:cNvSpPr txBox="1"/>
          <p:nvPr/>
        </p:nvSpPr>
        <p:spPr>
          <a:xfrm>
            <a:off x="4723384" y="5688140"/>
            <a:ext cx="60579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9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排班建议</a:t>
            </a:r>
          </a:p>
        </p:txBody>
      </p:sp>
      <p:sp>
        <p:nvSpPr>
          <p:cNvPr id="188" name="con-p"/>
          <p:cNvSpPr txBox="1"/>
          <p:nvPr/>
        </p:nvSpPr>
        <p:spPr>
          <a:xfrm>
            <a:off x="4723765" y="5882561"/>
            <a:ext cx="524541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工作日 16–18 点为绝对峰值，建议该时段值班人数上浮 50%；周末整体量低，可合并为一个值班组。</a:t>
            </a:r>
          </a:p>
        </p:txBody>
      </p:sp>
      <p:cxnSp>
        <p:nvCxnSpPr>
          <p:cNvPr id="189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0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热力矩阵 · 七天八时段</a:t>
            </a:r>
          </a:p>
        </p:txBody>
      </p:sp>
      <p:sp>
        <p:nvSpPr>
          <p:cNvPr id="191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9946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质量问题帕累托分析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17271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PARETO CHART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856091" y="673132"/>
            <a:ext cx="276466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八类缺陷按频次排序，前三类已占到全部问题的 76%</a:t>
            </a:r>
          </a:p>
        </p:txBody>
      </p:sp>
      <p:cxnSp>
        <p:nvCxnSpPr>
          <p:cNvPr id="10" name="grid-0"/>
          <p:cNvCxnSpPr/>
          <p:nvPr/>
        </p:nvCxnSpPr>
        <p:spPr>
          <a:xfrm>
            <a:off x="1358900" y="4826000"/>
            <a:ext cx="6680200" cy="0"/>
          </a:xfrm>
          <a:prstGeom prst="line">
            <a:avLst/>
          </a:prstGeom>
          <a:ln w="6350" cap="rnd">
            <a:solidFill>
              <a:srgbClr val="0B2545">
                <a:alpha val="1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yl-0"/>
          <p:cNvSpPr txBox="1"/>
          <p:nvPr/>
        </p:nvSpPr>
        <p:spPr>
          <a:xfrm>
            <a:off x="1131951" y="4738624"/>
            <a:ext cx="150241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0</a:t>
            </a:r>
          </a:p>
        </p:txBody>
      </p:sp>
      <p:cxnSp>
        <p:nvCxnSpPr>
          <p:cNvPr id="12" name="grid-50"/>
          <p:cNvCxnSpPr/>
          <p:nvPr/>
        </p:nvCxnSpPr>
        <p:spPr>
          <a:xfrm>
            <a:off x="1358900" y="4335195"/>
            <a:ext cx="66802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yl-50"/>
          <p:cNvSpPr txBox="1"/>
          <p:nvPr/>
        </p:nvSpPr>
        <p:spPr>
          <a:xfrm>
            <a:off x="1073150" y="4247819"/>
            <a:ext cx="20904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50</a:t>
            </a:r>
          </a:p>
        </p:txBody>
      </p:sp>
      <p:cxnSp>
        <p:nvCxnSpPr>
          <p:cNvPr id="14" name="grid-100"/>
          <p:cNvCxnSpPr/>
          <p:nvPr/>
        </p:nvCxnSpPr>
        <p:spPr>
          <a:xfrm>
            <a:off x="1358900" y="3844390"/>
            <a:ext cx="66802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yl-100"/>
          <p:cNvSpPr txBox="1"/>
          <p:nvPr/>
        </p:nvSpPr>
        <p:spPr>
          <a:xfrm>
            <a:off x="1014349" y="375701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100</a:t>
            </a:r>
          </a:p>
        </p:txBody>
      </p:sp>
      <p:cxnSp>
        <p:nvCxnSpPr>
          <p:cNvPr id="16" name="grid-150"/>
          <p:cNvCxnSpPr/>
          <p:nvPr/>
        </p:nvCxnSpPr>
        <p:spPr>
          <a:xfrm>
            <a:off x="1358900" y="3353585"/>
            <a:ext cx="66802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yl-150"/>
          <p:cNvSpPr txBox="1"/>
          <p:nvPr/>
        </p:nvSpPr>
        <p:spPr>
          <a:xfrm>
            <a:off x="1014349" y="3266209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150</a:t>
            </a:r>
          </a:p>
        </p:txBody>
      </p:sp>
      <p:cxnSp>
        <p:nvCxnSpPr>
          <p:cNvPr id="18" name="grid-200"/>
          <p:cNvCxnSpPr/>
          <p:nvPr/>
        </p:nvCxnSpPr>
        <p:spPr>
          <a:xfrm>
            <a:off x="1358900" y="2862780"/>
            <a:ext cx="66802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yl-200"/>
          <p:cNvSpPr txBox="1"/>
          <p:nvPr/>
        </p:nvSpPr>
        <p:spPr>
          <a:xfrm>
            <a:off x="1014349" y="277540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200</a:t>
            </a:r>
          </a:p>
        </p:txBody>
      </p:sp>
      <p:cxnSp>
        <p:nvCxnSpPr>
          <p:cNvPr id="20" name="grid-250"/>
          <p:cNvCxnSpPr/>
          <p:nvPr/>
        </p:nvCxnSpPr>
        <p:spPr>
          <a:xfrm>
            <a:off x="1358900" y="2371975"/>
            <a:ext cx="66802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yl-250"/>
          <p:cNvSpPr txBox="1"/>
          <p:nvPr/>
        </p:nvSpPr>
        <p:spPr>
          <a:xfrm>
            <a:off x="1014349" y="2284599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250</a:t>
            </a:r>
          </a:p>
        </p:txBody>
      </p:sp>
      <p:sp>
        <p:nvSpPr>
          <p:cNvPr id="22" name="yl-unit"/>
          <p:cNvSpPr txBox="1"/>
          <p:nvPr/>
        </p:nvSpPr>
        <p:spPr>
          <a:xfrm>
            <a:off x="1016508" y="1553908"/>
            <a:ext cx="2641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件数</a:t>
            </a:r>
          </a:p>
        </p:txBody>
      </p:sp>
      <p:sp>
        <p:nvSpPr>
          <p:cNvPr id="23" name="yr-0"/>
          <p:cNvSpPr txBox="1"/>
          <p:nvPr/>
        </p:nvSpPr>
        <p:spPr>
          <a:xfrm>
            <a:off x="8128508" y="4738624"/>
            <a:ext cx="20904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0%</a:t>
            </a:r>
          </a:p>
        </p:txBody>
      </p:sp>
      <p:sp>
        <p:nvSpPr>
          <p:cNvPr id="24" name="yr-25"/>
          <p:cNvSpPr txBox="1"/>
          <p:nvPr/>
        </p:nvSpPr>
        <p:spPr>
          <a:xfrm>
            <a:off x="8128508" y="400202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25%</a:t>
            </a:r>
          </a:p>
        </p:txBody>
      </p:sp>
      <p:sp>
        <p:nvSpPr>
          <p:cNvPr id="25" name="yr-50"/>
          <p:cNvSpPr txBox="1"/>
          <p:nvPr/>
        </p:nvSpPr>
        <p:spPr>
          <a:xfrm>
            <a:off x="8128508" y="326542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50%</a:t>
            </a:r>
          </a:p>
        </p:txBody>
      </p:sp>
      <p:sp>
        <p:nvSpPr>
          <p:cNvPr id="26" name="yr-75"/>
          <p:cNvSpPr txBox="1"/>
          <p:nvPr/>
        </p:nvSpPr>
        <p:spPr>
          <a:xfrm>
            <a:off x="8128508" y="252882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75%</a:t>
            </a:r>
          </a:p>
        </p:txBody>
      </p:sp>
      <p:sp>
        <p:nvSpPr>
          <p:cNvPr id="27" name="yr-100"/>
          <p:cNvSpPr txBox="1"/>
          <p:nvPr/>
        </p:nvSpPr>
        <p:spPr>
          <a:xfrm>
            <a:off x="8128508" y="1792224"/>
            <a:ext cx="32664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100%</a:t>
            </a:r>
          </a:p>
        </p:txBody>
      </p:sp>
      <p:sp>
        <p:nvSpPr>
          <p:cNvPr id="28" name="yr-unit"/>
          <p:cNvSpPr txBox="1"/>
          <p:nvPr/>
        </p:nvSpPr>
        <p:spPr>
          <a:xfrm>
            <a:off x="8130032" y="1553908"/>
            <a:ext cx="4483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累计占比</a:t>
            </a:r>
          </a:p>
        </p:txBody>
      </p:sp>
      <p:cxnSp>
        <p:nvCxnSpPr>
          <p:cNvPr id="29" name="ref80"/>
          <p:cNvCxnSpPr/>
          <p:nvPr/>
        </p:nvCxnSpPr>
        <p:spPr>
          <a:xfrm>
            <a:off x="1358900" y="2468880"/>
            <a:ext cx="6680200" cy="0"/>
          </a:xfrm>
          <a:prstGeom prst="line">
            <a:avLst/>
          </a:prstGeom>
          <a:ln w="12700" cap="rnd">
            <a:solidFill>
              <a:srgbClr val="E0703A">
                <a:alpha val="7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f80-tag"/>
          <p:cNvSpPr/>
          <p:nvPr/>
        </p:nvSpPr>
        <p:spPr>
          <a:xfrm>
            <a:off x="7099300" y="2240280"/>
            <a:ext cx="838200" cy="177800"/>
          </a:xfrm>
          <a:custGeom>
            <a:avLst/>
            <a:gdLst/>
            <a:ahLst/>
            <a:cxnLst/>
            <a:rect l="0" t="0" r="r" b="b"/>
            <a:pathLst>
              <a:path w="838200" h="177800">
                <a:moveTo>
                  <a:pt x="88900" y="0"/>
                </a:moveTo>
                <a:lnTo>
                  <a:pt x="749300" y="0"/>
                </a:lnTo>
                <a:cubicBezTo>
                  <a:pt x="798386" y="0"/>
                  <a:pt x="838200" y="39814"/>
                  <a:pt x="838200" y="88900"/>
                </a:cubicBezTo>
                <a:lnTo>
                  <a:pt x="838200" y="88900"/>
                </a:lnTo>
                <a:cubicBezTo>
                  <a:pt x="838200" y="137985"/>
                  <a:pt x="798386" y="177800"/>
                  <a:pt x="749300" y="177800"/>
                </a:cubicBezTo>
                <a:lnTo>
                  <a:pt x="88900" y="177800"/>
                </a:lnTo>
                <a:cubicBezTo>
                  <a:pt x="39814" y="177800"/>
                  <a:pt x="0" y="137985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E0703A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ref80-t"/>
          <p:cNvSpPr txBox="1"/>
          <p:nvPr/>
        </p:nvSpPr>
        <p:spPr>
          <a:xfrm>
            <a:off x="7232142" y="2257488"/>
            <a:ext cx="57251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3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80% 分界线</a:t>
            </a:r>
          </a:p>
        </p:txBody>
      </p:sp>
      <p:sp>
        <p:nvSpPr>
          <p:cNvPr id="32" name="bar-1"/>
          <p:cNvSpPr/>
          <p:nvPr/>
        </p:nvSpPr>
        <p:spPr>
          <a:xfrm>
            <a:off x="1616075" y="2195258"/>
            <a:ext cx="609600" cy="2630742"/>
          </a:xfrm>
          <a:custGeom>
            <a:avLst/>
            <a:gdLst/>
            <a:ahLst/>
            <a:cxnLst/>
            <a:rect l="0" t="0" r="r" b="b"/>
            <a:pathLst>
              <a:path w="609600" h="2630742">
                <a:moveTo>
                  <a:pt x="0" y="2630742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546100" y="0"/>
                </a:lnTo>
                <a:cubicBezTo>
                  <a:pt x="581152" y="0"/>
                  <a:pt x="609600" y="28448"/>
                  <a:pt x="609600" y="63500"/>
                </a:cubicBezTo>
                <a:lnTo>
                  <a:pt x="609600" y="2630742"/>
                </a:lnTo>
                <a:close/>
              </a:path>
            </a:pathLst>
          </a:custGeom>
          <a:gradFill rotWithShape="1">
            <a:gsLst>
              <a:gs pos="0">
                <a:srgbClr val="3C65A5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bv-1"/>
          <p:cNvSpPr txBox="1"/>
          <p:nvPr/>
        </p:nvSpPr>
        <p:spPr>
          <a:xfrm>
            <a:off x="1769618" y="1952525"/>
            <a:ext cx="30251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20">
                <a:solidFill>
                  <a:srgbClr val="0B3E8F"/>
                </a:solidFill>
                <a:latin typeface="Arial"/>
                <a:ea typeface="Arial"/>
                <a:cs typeface="Arial"/>
              </a:rPr>
              <a:t>268</a:t>
            </a:r>
          </a:p>
        </p:txBody>
      </p:sp>
      <p:sp>
        <p:nvSpPr>
          <p:cNvPr id="34" name="bn-1"/>
          <p:cNvSpPr txBox="1"/>
          <p:nvPr/>
        </p:nvSpPr>
        <p:spPr>
          <a:xfrm>
            <a:off x="1642269" y="4930061"/>
            <a:ext cx="5572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装配偏差</a:t>
            </a:r>
          </a:p>
        </p:txBody>
      </p:sp>
      <p:sp>
        <p:nvSpPr>
          <p:cNvPr id="35" name="bp-1"/>
          <p:cNvSpPr txBox="1"/>
          <p:nvPr/>
        </p:nvSpPr>
        <p:spPr>
          <a:xfrm>
            <a:off x="1751648" y="5135308"/>
            <a:ext cx="33845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32.2%</a:t>
            </a:r>
          </a:p>
        </p:txBody>
      </p:sp>
      <p:sp>
        <p:nvSpPr>
          <p:cNvPr id="36" name="bar-2"/>
          <p:cNvSpPr/>
          <p:nvPr/>
        </p:nvSpPr>
        <p:spPr>
          <a:xfrm>
            <a:off x="2409825" y="2902014"/>
            <a:ext cx="609600" cy="1923986"/>
          </a:xfrm>
          <a:custGeom>
            <a:avLst/>
            <a:gdLst/>
            <a:ahLst/>
            <a:cxnLst/>
            <a:rect l="0" t="0" r="r" b="b"/>
            <a:pathLst>
              <a:path w="609600" h="1923986">
                <a:moveTo>
                  <a:pt x="0" y="1923986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546100" y="0"/>
                </a:lnTo>
                <a:cubicBezTo>
                  <a:pt x="581152" y="0"/>
                  <a:pt x="609600" y="28448"/>
                  <a:pt x="609600" y="63500"/>
                </a:cubicBezTo>
                <a:lnTo>
                  <a:pt x="609600" y="1923986"/>
                </a:lnTo>
                <a:close/>
              </a:path>
            </a:pathLst>
          </a:custGeom>
          <a:gradFill rotWithShape="1">
            <a:gsLst>
              <a:gs pos="0">
                <a:srgbClr val="4270B0"/>
              </a:gs>
              <a:gs pos="100000">
                <a:srgbClr val="134C9C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bv-2"/>
          <p:cNvSpPr txBox="1"/>
          <p:nvPr/>
        </p:nvSpPr>
        <p:spPr>
          <a:xfrm>
            <a:off x="2563368" y="2659284"/>
            <a:ext cx="30251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20">
                <a:solidFill>
                  <a:srgbClr val="134C9C"/>
                </a:solidFill>
                <a:latin typeface="Arial"/>
                <a:ea typeface="Arial"/>
                <a:cs typeface="Arial"/>
              </a:rPr>
              <a:t>196</a:t>
            </a:r>
          </a:p>
        </p:txBody>
      </p:sp>
      <p:sp>
        <p:nvSpPr>
          <p:cNvPr id="38" name="bn-2"/>
          <p:cNvSpPr txBox="1"/>
          <p:nvPr/>
        </p:nvSpPr>
        <p:spPr>
          <a:xfrm>
            <a:off x="2436019" y="4930061"/>
            <a:ext cx="5572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来料不良</a:t>
            </a:r>
          </a:p>
        </p:txBody>
      </p:sp>
      <p:sp>
        <p:nvSpPr>
          <p:cNvPr id="39" name="bp-2"/>
          <p:cNvSpPr txBox="1"/>
          <p:nvPr/>
        </p:nvSpPr>
        <p:spPr>
          <a:xfrm>
            <a:off x="2545398" y="5135308"/>
            <a:ext cx="33845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23.6%</a:t>
            </a:r>
          </a:p>
        </p:txBody>
      </p:sp>
      <p:sp>
        <p:nvSpPr>
          <p:cNvPr id="40" name="bar-3"/>
          <p:cNvSpPr/>
          <p:nvPr/>
        </p:nvSpPr>
        <p:spPr>
          <a:xfrm>
            <a:off x="3203575" y="3432112"/>
            <a:ext cx="609600" cy="1393888"/>
          </a:xfrm>
          <a:custGeom>
            <a:avLst/>
            <a:gdLst/>
            <a:ahLst/>
            <a:cxnLst/>
            <a:rect l="0" t="0" r="r" b="b"/>
            <a:pathLst>
              <a:path w="609600" h="1393888">
                <a:moveTo>
                  <a:pt x="0" y="1393888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546100" y="0"/>
                </a:lnTo>
                <a:cubicBezTo>
                  <a:pt x="581152" y="0"/>
                  <a:pt x="609600" y="28448"/>
                  <a:pt x="609600" y="63500"/>
                </a:cubicBezTo>
                <a:lnTo>
                  <a:pt x="609600" y="1393888"/>
                </a:lnTo>
                <a:close/>
              </a:path>
            </a:pathLst>
          </a:custGeom>
          <a:gradFill rotWithShape="1">
            <a:gsLst>
              <a:gs pos="0">
                <a:srgbClr val="497BB9"/>
              </a:gs>
              <a:gs pos="100000">
                <a:srgbClr val="1B5AA8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bv-3"/>
          <p:cNvSpPr txBox="1"/>
          <p:nvPr/>
        </p:nvSpPr>
        <p:spPr>
          <a:xfrm>
            <a:off x="3357118" y="3189354"/>
            <a:ext cx="30251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20">
                <a:solidFill>
                  <a:srgbClr val="1B5AA8"/>
                </a:solidFill>
                <a:latin typeface="Arial"/>
                <a:ea typeface="Arial"/>
                <a:cs typeface="Arial"/>
              </a:rPr>
              <a:t>142</a:t>
            </a:r>
          </a:p>
        </p:txBody>
      </p:sp>
      <p:sp>
        <p:nvSpPr>
          <p:cNvPr id="42" name="bn-3"/>
          <p:cNvSpPr txBox="1"/>
          <p:nvPr/>
        </p:nvSpPr>
        <p:spPr>
          <a:xfrm>
            <a:off x="3229769" y="4930061"/>
            <a:ext cx="5572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参数漂移</a:t>
            </a:r>
          </a:p>
        </p:txBody>
      </p:sp>
      <p:sp>
        <p:nvSpPr>
          <p:cNvPr id="43" name="bp-3"/>
          <p:cNvSpPr txBox="1"/>
          <p:nvPr/>
        </p:nvSpPr>
        <p:spPr>
          <a:xfrm>
            <a:off x="3339148" y="5135308"/>
            <a:ext cx="33845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17.1%</a:t>
            </a:r>
          </a:p>
        </p:txBody>
      </p:sp>
      <p:sp>
        <p:nvSpPr>
          <p:cNvPr id="44" name="bar-4"/>
          <p:cNvSpPr/>
          <p:nvPr/>
        </p:nvSpPr>
        <p:spPr>
          <a:xfrm>
            <a:off x="3997325" y="3981831"/>
            <a:ext cx="609600" cy="844169"/>
          </a:xfrm>
          <a:custGeom>
            <a:avLst/>
            <a:gdLst/>
            <a:ahLst/>
            <a:cxnLst/>
            <a:rect l="0" t="0" r="r" b="b"/>
            <a:pathLst>
              <a:path w="609600" h="844169">
                <a:moveTo>
                  <a:pt x="0" y="844169"/>
                </a:moveTo>
                <a:lnTo>
                  <a:pt x="0" y="63500"/>
                </a:lnTo>
                <a:cubicBezTo>
                  <a:pt x="0" y="28385"/>
                  <a:pt x="28448" y="0"/>
                  <a:pt x="63500" y="0"/>
                </a:cubicBezTo>
                <a:lnTo>
                  <a:pt x="546100" y="0"/>
                </a:lnTo>
                <a:cubicBezTo>
                  <a:pt x="581152" y="0"/>
                  <a:pt x="609600" y="28385"/>
                  <a:pt x="609600" y="63500"/>
                </a:cubicBezTo>
                <a:lnTo>
                  <a:pt x="609600" y="844169"/>
                </a:lnTo>
                <a:close/>
              </a:path>
            </a:pathLst>
          </a:custGeom>
          <a:gradFill rotWithShape="1">
            <a:gsLst>
              <a:gs pos="0">
                <a:srgbClr val="5086C5"/>
              </a:gs>
              <a:gs pos="100000">
                <a:srgbClr val="2468B6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bv-4"/>
          <p:cNvSpPr txBox="1"/>
          <p:nvPr/>
        </p:nvSpPr>
        <p:spPr>
          <a:xfrm>
            <a:off x="4184142" y="3739055"/>
            <a:ext cx="23596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20">
                <a:solidFill>
                  <a:srgbClr val="2468B6"/>
                </a:solidFill>
                <a:latin typeface="Arial"/>
                <a:ea typeface="Arial"/>
                <a:cs typeface="Arial"/>
              </a:rPr>
              <a:t>86</a:t>
            </a:r>
          </a:p>
        </p:txBody>
      </p:sp>
      <p:sp>
        <p:nvSpPr>
          <p:cNvPr id="46" name="bn-4"/>
          <p:cNvSpPr txBox="1"/>
          <p:nvPr/>
        </p:nvSpPr>
        <p:spPr>
          <a:xfrm>
            <a:off x="4023519" y="4930061"/>
            <a:ext cx="5572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外观瑕疵</a:t>
            </a:r>
          </a:p>
        </p:txBody>
      </p:sp>
      <p:sp>
        <p:nvSpPr>
          <p:cNvPr id="47" name="bp-4"/>
          <p:cNvSpPr txBox="1"/>
          <p:nvPr/>
        </p:nvSpPr>
        <p:spPr>
          <a:xfrm>
            <a:off x="4132898" y="5135308"/>
            <a:ext cx="33845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10.3%</a:t>
            </a:r>
          </a:p>
        </p:txBody>
      </p:sp>
      <p:sp>
        <p:nvSpPr>
          <p:cNvPr id="48" name="bar-5"/>
          <p:cNvSpPr/>
          <p:nvPr/>
        </p:nvSpPr>
        <p:spPr>
          <a:xfrm>
            <a:off x="4791075" y="4217416"/>
            <a:ext cx="609600" cy="608584"/>
          </a:xfrm>
          <a:custGeom>
            <a:avLst/>
            <a:gdLst/>
            <a:ahLst/>
            <a:cxnLst/>
            <a:rect l="0" t="0" r="r" b="b"/>
            <a:pathLst>
              <a:path w="609600" h="608584">
                <a:moveTo>
                  <a:pt x="0" y="608584"/>
                </a:moveTo>
                <a:lnTo>
                  <a:pt x="0" y="63500"/>
                </a:lnTo>
                <a:cubicBezTo>
                  <a:pt x="0" y="28385"/>
                  <a:pt x="28448" y="0"/>
                  <a:pt x="63500" y="0"/>
                </a:cubicBezTo>
                <a:lnTo>
                  <a:pt x="546100" y="0"/>
                </a:lnTo>
                <a:cubicBezTo>
                  <a:pt x="581152" y="0"/>
                  <a:pt x="609600" y="28385"/>
                  <a:pt x="609600" y="63500"/>
                </a:cubicBezTo>
                <a:lnTo>
                  <a:pt x="609600" y="608584"/>
                </a:lnTo>
                <a:close/>
              </a:path>
            </a:pathLst>
          </a:custGeom>
          <a:gradFill rotWithShape="1">
            <a:gsLst>
              <a:gs pos="0">
                <a:srgbClr val="5892CE"/>
              </a:gs>
              <a:gs pos="100000">
                <a:srgbClr val="2E77C2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bv-5"/>
          <p:cNvSpPr txBox="1"/>
          <p:nvPr/>
        </p:nvSpPr>
        <p:spPr>
          <a:xfrm>
            <a:off x="4977892" y="3974641"/>
            <a:ext cx="23596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20">
                <a:solidFill>
                  <a:srgbClr val="2E77C2"/>
                </a:solidFill>
                <a:latin typeface="Arial"/>
                <a:ea typeface="Arial"/>
                <a:cs typeface="Arial"/>
              </a:rPr>
              <a:t>62</a:t>
            </a:r>
          </a:p>
        </p:txBody>
      </p:sp>
      <p:sp>
        <p:nvSpPr>
          <p:cNvPr id="50" name="bn-5"/>
          <p:cNvSpPr txBox="1"/>
          <p:nvPr/>
        </p:nvSpPr>
        <p:spPr>
          <a:xfrm>
            <a:off x="4817269" y="4930061"/>
            <a:ext cx="5572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软件缺陷</a:t>
            </a:r>
          </a:p>
        </p:txBody>
      </p:sp>
      <p:sp>
        <p:nvSpPr>
          <p:cNvPr id="51" name="bp-5"/>
          <p:cNvSpPr txBox="1"/>
          <p:nvPr/>
        </p:nvSpPr>
        <p:spPr>
          <a:xfrm>
            <a:off x="4952492" y="5135308"/>
            <a:ext cx="28676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7.5%</a:t>
            </a:r>
          </a:p>
        </p:txBody>
      </p:sp>
      <p:sp>
        <p:nvSpPr>
          <p:cNvPr id="52" name="bar-6"/>
          <p:cNvSpPr/>
          <p:nvPr/>
        </p:nvSpPr>
        <p:spPr>
          <a:xfrm>
            <a:off x="5584825" y="4453001"/>
            <a:ext cx="609600" cy="372999"/>
          </a:xfrm>
          <a:custGeom>
            <a:avLst/>
            <a:gdLst/>
            <a:ahLst/>
            <a:cxnLst/>
            <a:rect l="0" t="0" r="r" b="b"/>
            <a:pathLst>
              <a:path w="609600" h="372999">
                <a:moveTo>
                  <a:pt x="0" y="372999"/>
                </a:moveTo>
                <a:lnTo>
                  <a:pt x="0" y="63500"/>
                </a:lnTo>
                <a:cubicBezTo>
                  <a:pt x="0" y="28385"/>
                  <a:pt x="28448" y="0"/>
                  <a:pt x="63500" y="0"/>
                </a:cubicBezTo>
                <a:lnTo>
                  <a:pt x="546100" y="0"/>
                </a:lnTo>
                <a:cubicBezTo>
                  <a:pt x="581152" y="0"/>
                  <a:pt x="609600" y="28385"/>
                  <a:pt x="609600" y="63500"/>
                </a:cubicBezTo>
                <a:lnTo>
                  <a:pt x="609600" y="372999"/>
                </a:lnTo>
                <a:close/>
              </a:path>
            </a:pathLst>
          </a:custGeom>
          <a:gradFill rotWithShape="1">
            <a:gsLst>
              <a:gs pos="0">
                <a:srgbClr val="619DD7"/>
              </a:gs>
              <a:gs pos="100000">
                <a:srgbClr val="3985CD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bv-6"/>
          <p:cNvSpPr txBox="1"/>
          <p:nvPr/>
        </p:nvSpPr>
        <p:spPr>
          <a:xfrm>
            <a:off x="5771642" y="4210228"/>
            <a:ext cx="23596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20">
                <a:solidFill>
                  <a:srgbClr val="3985CD"/>
                </a:solidFill>
                <a:latin typeface="Arial"/>
                <a:ea typeface="Arial"/>
                <a:cs typeface="Arial"/>
              </a:rPr>
              <a:t>38</a:t>
            </a:r>
          </a:p>
        </p:txBody>
      </p:sp>
      <p:sp>
        <p:nvSpPr>
          <p:cNvPr id="54" name="bn-6"/>
          <p:cNvSpPr txBox="1"/>
          <p:nvPr/>
        </p:nvSpPr>
        <p:spPr>
          <a:xfrm>
            <a:off x="5611019" y="4930061"/>
            <a:ext cx="5572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包装破损</a:t>
            </a:r>
          </a:p>
        </p:txBody>
      </p:sp>
      <p:sp>
        <p:nvSpPr>
          <p:cNvPr id="55" name="bp-6"/>
          <p:cNvSpPr txBox="1"/>
          <p:nvPr/>
        </p:nvSpPr>
        <p:spPr>
          <a:xfrm>
            <a:off x="5746242" y="5135308"/>
            <a:ext cx="28676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4.6%</a:t>
            </a:r>
          </a:p>
        </p:txBody>
      </p:sp>
      <p:sp>
        <p:nvSpPr>
          <p:cNvPr id="56" name="bar-7"/>
          <p:cNvSpPr/>
          <p:nvPr/>
        </p:nvSpPr>
        <p:spPr>
          <a:xfrm>
            <a:off x="6378575" y="4590415"/>
            <a:ext cx="609600" cy="235585"/>
          </a:xfrm>
          <a:custGeom>
            <a:avLst/>
            <a:gdLst/>
            <a:ahLst/>
            <a:cxnLst/>
            <a:rect l="0" t="0" r="r" b="b"/>
            <a:pathLst>
              <a:path w="609600" h="235585">
                <a:moveTo>
                  <a:pt x="0" y="235585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546100" y="0"/>
                </a:lnTo>
                <a:cubicBezTo>
                  <a:pt x="581152" y="0"/>
                  <a:pt x="609600" y="28448"/>
                  <a:pt x="609600" y="63500"/>
                </a:cubicBezTo>
                <a:lnTo>
                  <a:pt x="609600" y="235585"/>
                </a:lnTo>
                <a:close/>
              </a:path>
            </a:pathLst>
          </a:custGeom>
          <a:gradFill rotWithShape="1">
            <a:gsLst>
              <a:gs pos="0">
                <a:srgbClr val="6BA9DF"/>
              </a:gs>
              <a:gs pos="100000">
                <a:srgbClr val="4694D7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bv-7"/>
          <p:cNvSpPr txBox="1"/>
          <p:nvPr/>
        </p:nvSpPr>
        <p:spPr>
          <a:xfrm>
            <a:off x="6565392" y="4347653"/>
            <a:ext cx="23596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20">
                <a:solidFill>
                  <a:srgbClr val="4694D7"/>
                </a:solidFill>
                <a:latin typeface="Arial"/>
                <a:ea typeface="Arial"/>
                <a:cs typeface="Arial"/>
              </a:rPr>
              <a:t>24</a:t>
            </a:r>
          </a:p>
        </p:txBody>
      </p:sp>
      <p:sp>
        <p:nvSpPr>
          <p:cNvPr id="58" name="bn-7"/>
          <p:cNvSpPr txBox="1"/>
          <p:nvPr/>
        </p:nvSpPr>
        <p:spPr>
          <a:xfrm>
            <a:off x="6404769" y="4930061"/>
            <a:ext cx="5572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标识错误</a:t>
            </a:r>
          </a:p>
        </p:txBody>
      </p:sp>
      <p:sp>
        <p:nvSpPr>
          <p:cNvPr id="59" name="bp-7"/>
          <p:cNvSpPr txBox="1"/>
          <p:nvPr/>
        </p:nvSpPr>
        <p:spPr>
          <a:xfrm>
            <a:off x="6539992" y="5135308"/>
            <a:ext cx="28676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2.9%</a:t>
            </a:r>
          </a:p>
        </p:txBody>
      </p:sp>
      <p:sp>
        <p:nvSpPr>
          <p:cNvPr id="60" name="bar-8"/>
          <p:cNvSpPr/>
          <p:nvPr/>
        </p:nvSpPr>
        <p:spPr>
          <a:xfrm>
            <a:off x="7172325" y="4668964"/>
            <a:ext cx="609600" cy="157036"/>
          </a:xfrm>
          <a:custGeom>
            <a:avLst/>
            <a:gdLst/>
            <a:ahLst/>
            <a:cxnLst/>
            <a:rect l="0" t="0" r="r" b="b"/>
            <a:pathLst>
              <a:path w="609600" h="157036">
                <a:moveTo>
                  <a:pt x="0" y="157036"/>
                </a:moveTo>
                <a:lnTo>
                  <a:pt x="0" y="63500"/>
                </a:lnTo>
                <a:cubicBezTo>
                  <a:pt x="0" y="28385"/>
                  <a:pt x="28448" y="0"/>
                  <a:pt x="63500" y="0"/>
                </a:cubicBezTo>
                <a:lnTo>
                  <a:pt x="546100" y="0"/>
                </a:lnTo>
                <a:cubicBezTo>
                  <a:pt x="581152" y="0"/>
                  <a:pt x="609600" y="28385"/>
                  <a:pt x="609600" y="63500"/>
                </a:cubicBezTo>
                <a:lnTo>
                  <a:pt x="609600" y="157036"/>
                </a:lnTo>
                <a:close/>
              </a:path>
            </a:pathLst>
          </a:custGeom>
          <a:gradFill rotWithShape="1">
            <a:gsLst>
              <a:gs pos="0">
                <a:srgbClr val="76B5E5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bv-8"/>
          <p:cNvSpPr txBox="1"/>
          <p:nvPr/>
        </p:nvSpPr>
        <p:spPr>
          <a:xfrm>
            <a:off x="7359142" y="4426182"/>
            <a:ext cx="23596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20">
                <a:solidFill>
                  <a:srgbClr val="54A2DF"/>
                </a:solidFill>
                <a:latin typeface="Arial"/>
                <a:ea typeface="Arial"/>
                <a:cs typeface="Arial"/>
              </a:rPr>
              <a:t>16</a:t>
            </a:r>
          </a:p>
        </p:txBody>
      </p:sp>
      <p:sp>
        <p:nvSpPr>
          <p:cNvPr id="62" name="bn-8"/>
          <p:cNvSpPr txBox="1"/>
          <p:nvPr/>
        </p:nvSpPr>
        <p:spPr>
          <a:xfrm>
            <a:off x="7312819" y="4930061"/>
            <a:ext cx="3286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其他</a:t>
            </a:r>
          </a:p>
        </p:txBody>
      </p:sp>
      <p:sp>
        <p:nvSpPr>
          <p:cNvPr id="63" name="bp-8"/>
          <p:cNvSpPr txBox="1"/>
          <p:nvPr/>
        </p:nvSpPr>
        <p:spPr>
          <a:xfrm>
            <a:off x="7333742" y="5135308"/>
            <a:ext cx="28676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1.9%</a:t>
            </a:r>
          </a:p>
        </p:txBody>
      </p:sp>
      <p:sp>
        <p:nvSpPr>
          <p:cNvPr id="64" name="cum-line"/>
          <p:cNvSpPr/>
          <p:nvPr/>
        </p:nvSpPr>
        <p:spPr>
          <a:xfrm>
            <a:off x="1920875" y="1879600"/>
            <a:ext cx="5556250" cy="1997329"/>
          </a:xfrm>
          <a:custGeom>
            <a:avLst/>
            <a:gdLst/>
            <a:ahLst/>
            <a:cxnLst/>
            <a:rect l="0" t="0" r="r" b="b"/>
            <a:pathLst>
              <a:path w="5556250" h="1997329">
                <a:moveTo>
                  <a:pt x="0" y="1997329"/>
                </a:moveTo>
                <a:cubicBezTo>
                  <a:pt x="105855" y="1904746"/>
                  <a:pt x="582105" y="1462786"/>
                  <a:pt x="793750" y="1303210"/>
                </a:cubicBezTo>
                <a:cubicBezTo>
                  <a:pt x="1005395" y="1143635"/>
                  <a:pt x="1375854" y="907986"/>
                  <a:pt x="1587500" y="800354"/>
                </a:cubicBezTo>
                <a:cubicBezTo>
                  <a:pt x="1799146" y="692658"/>
                  <a:pt x="2169604" y="565658"/>
                  <a:pt x="2381250" y="495808"/>
                </a:cubicBezTo>
                <a:cubicBezTo>
                  <a:pt x="2592896" y="425894"/>
                  <a:pt x="2963354" y="323469"/>
                  <a:pt x="3175000" y="276225"/>
                </a:cubicBezTo>
                <a:cubicBezTo>
                  <a:pt x="3386646" y="228981"/>
                  <a:pt x="3757104" y="170942"/>
                  <a:pt x="3968750" y="141668"/>
                </a:cubicBezTo>
                <a:cubicBezTo>
                  <a:pt x="4180396" y="112395"/>
                  <a:pt x="4550854" y="75565"/>
                  <a:pt x="4762500" y="56642"/>
                </a:cubicBezTo>
                <a:cubicBezTo>
                  <a:pt x="4974146" y="37782"/>
                  <a:pt x="5450396" y="7556"/>
                  <a:pt x="5556250" y="0"/>
                </a:cubicBezTo>
              </a:path>
            </a:pathLst>
          </a:custGeom>
          <a:noFill/>
          <a:ln w="1905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cd-1"/>
          <p:cNvSpPr/>
          <p:nvPr/>
        </p:nvSpPr>
        <p:spPr>
          <a:xfrm>
            <a:off x="1882775" y="3838819"/>
            <a:ext cx="76200" cy="7620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cc-1"/>
          <p:cNvSpPr/>
          <p:nvPr/>
        </p:nvSpPr>
        <p:spPr>
          <a:xfrm>
            <a:off x="1717675" y="3597529"/>
            <a:ext cx="406400" cy="177800"/>
          </a:xfrm>
          <a:custGeom>
            <a:avLst/>
            <a:gdLst/>
            <a:ahLst/>
            <a:cxnLst/>
            <a:rect l="0" t="0" r="r" b="b"/>
            <a:pathLst>
              <a:path w="406400" h="177800">
                <a:moveTo>
                  <a:pt x="76200" y="0"/>
                </a:moveTo>
                <a:lnTo>
                  <a:pt x="330200" y="0"/>
                </a:lnTo>
                <a:cubicBezTo>
                  <a:pt x="372300" y="0"/>
                  <a:pt x="406400" y="34100"/>
                  <a:pt x="406400" y="76200"/>
                </a:cubicBezTo>
                <a:lnTo>
                  <a:pt x="406400" y="101600"/>
                </a:lnTo>
                <a:cubicBezTo>
                  <a:pt x="406400" y="143700"/>
                  <a:pt x="372300" y="177800"/>
                  <a:pt x="330200" y="177800"/>
                </a:cubicBezTo>
                <a:lnTo>
                  <a:pt x="76200" y="177800"/>
                </a:lnTo>
                <a:cubicBezTo>
                  <a:pt x="34100" y="177800"/>
                  <a:pt x="0" y="143700"/>
                  <a:pt x="0" y="101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ct-1"/>
          <p:cNvSpPr txBox="1"/>
          <p:nvPr/>
        </p:nvSpPr>
        <p:spPr>
          <a:xfrm>
            <a:off x="1803336" y="3614728"/>
            <a:ext cx="2350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32%</a:t>
            </a:r>
          </a:p>
        </p:txBody>
      </p:sp>
      <p:sp>
        <p:nvSpPr>
          <p:cNvPr id="68" name="cd-2"/>
          <p:cNvSpPr/>
          <p:nvPr/>
        </p:nvSpPr>
        <p:spPr>
          <a:xfrm>
            <a:off x="2676525" y="3144715"/>
            <a:ext cx="76200" cy="7620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cc-2"/>
          <p:cNvSpPr/>
          <p:nvPr/>
        </p:nvSpPr>
        <p:spPr>
          <a:xfrm>
            <a:off x="2511425" y="2903410"/>
            <a:ext cx="406400" cy="177800"/>
          </a:xfrm>
          <a:custGeom>
            <a:avLst/>
            <a:gdLst/>
            <a:ahLst/>
            <a:cxnLst/>
            <a:rect l="0" t="0" r="r" b="b"/>
            <a:pathLst>
              <a:path w="406400" h="177800">
                <a:moveTo>
                  <a:pt x="76200" y="0"/>
                </a:moveTo>
                <a:lnTo>
                  <a:pt x="330200" y="0"/>
                </a:lnTo>
                <a:cubicBezTo>
                  <a:pt x="372300" y="0"/>
                  <a:pt x="406400" y="34100"/>
                  <a:pt x="406400" y="76200"/>
                </a:cubicBezTo>
                <a:lnTo>
                  <a:pt x="406400" y="101600"/>
                </a:lnTo>
                <a:cubicBezTo>
                  <a:pt x="406400" y="143700"/>
                  <a:pt x="372300" y="177800"/>
                  <a:pt x="330200" y="177800"/>
                </a:cubicBezTo>
                <a:lnTo>
                  <a:pt x="76200" y="177800"/>
                </a:lnTo>
                <a:cubicBezTo>
                  <a:pt x="34100" y="177800"/>
                  <a:pt x="0" y="143700"/>
                  <a:pt x="0" y="101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ct-2"/>
          <p:cNvSpPr txBox="1"/>
          <p:nvPr/>
        </p:nvSpPr>
        <p:spPr>
          <a:xfrm>
            <a:off x="2597086" y="2920624"/>
            <a:ext cx="2350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56%</a:t>
            </a:r>
          </a:p>
        </p:txBody>
      </p:sp>
      <p:sp>
        <p:nvSpPr>
          <p:cNvPr id="71" name="cd-3"/>
          <p:cNvSpPr/>
          <p:nvPr/>
        </p:nvSpPr>
        <p:spPr>
          <a:xfrm>
            <a:off x="3470275" y="2641844"/>
            <a:ext cx="76200" cy="7620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cc-3"/>
          <p:cNvSpPr/>
          <p:nvPr/>
        </p:nvSpPr>
        <p:spPr>
          <a:xfrm>
            <a:off x="3305175" y="2400554"/>
            <a:ext cx="406400" cy="177800"/>
          </a:xfrm>
          <a:custGeom>
            <a:avLst/>
            <a:gdLst/>
            <a:ahLst/>
            <a:cxnLst/>
            <a:rect l="0" t="0" r="r" b="b"/>
            <a:pathLst>
              <a:path w="406400" h="177800">
                <a:moveTo>
                  <a:pt x="76200" y="0"/>
                </a:moveTo>
                <a:lnTo>
                  <a:pt x="330200" y="0"/>
                </a:lnTo>
                <a:cubicBezTo>
                  <a:pt x="372300" y="0"/>
                  <a:pt x="406400" y="34100"/>
                  <a:pt x="406400" y="76200"/>
                </a:cubicBezTo>
                <a:lnTo>
                  <a:pt x="406400" y="101600"/>
                </a:lnTo>
                <a:cubicBezTo>
                  <a:pt x="406400" y="143700"/>
                  <a:pt x="372300" y="177800"/>
                  <a:pt x="330200" y="177800"/>
                </a:cubicBezTo>
                <a:lnTo>
                  <a:pt x="76200" y="177800"/>
                </a:lnTo>
                <a:cubicBezTo>
                  <a:pt x="34100" y="177800"/>
                  <a:pt x="0" y="143700"/>
                  <a:pt x="0" y="101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ct-3"/>
          <p:cNvSpPr txBox="1"/>
          <p:nvPr/>
        </p:nvSpPr>
        <p:spPr>
          <a:xfrm>
            <a:off x="3390836" y="2417753"/>
            <a:ext cx="2350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73%</a:t>
            </a:r>
          </a:p>
        </p:txBody>
      </p:sp>
      <p:sp>
        <p:nvSpPr>
          <p:cNvPr id="74" name="cd-4"/>
          <p:cNvSpPr/>
          <p:nvPr/>
        </p:nvSpPr>
        <p:spPr>
          <a:xfrm>
            <a:off x="4264025" y="2337288"/>
            <a:ext cx="76200" cy="7620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cc-4"/>
          <p:cNvSpPr/>
          <p:nvPr/>
        </p:nvSpPr>
        <p:spPr>
          <a:xfrm>
            <a:off x="4098925" y="2096008"/>
            <a:ext cx="406400" cy="177800"/>
          </a:xfrm>
          <a:custGeom>
            <a:avLst/>
            <a:gdLst/>
            <a:ahLst/>
            <a:cxnLst/>
            <a:rect l="0" t="0" r="r" b="b"/>
            <a:pathLst>
              <a:path w="406400" h="177800">
                <a:moveTo>
                  <a:pt x="76200" y="0"/>
                </a:moveTo>
                <a:lnTo>
                  <a:pt x="330200" y="0"/>
                </a:lnTo>
                <a:cubicBezTo>
                  <a:pt x="372300" y="0"/>
                  <a:pt x="406400" y="34100"/>
                  <a:pt x="406400" y="76200"/>
                </a:cubicBezTo>
                <a:lnTo>
                  <a:pt x="406400" y="101600"/>
                </a:lnTo>
                <a:cubicBezTo>
                  <a:pt x="406400" y="143637"/>
                  <a:pt x="372300" y="177800"/>
                  <a:pt x="330200" y="177800"/>
                </a:cubicBezTo>
                <a:lnTo>
                  <a:pt x="76200" y="177800"/>
                </a:lnTo>
                <a:cubicBezTo>
                  <a:pt x="34100" y="177800"/>
                  <a:pt x="0" y="143637"/>
                  <a:pt x="0" y="101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ct-4"/>
          <p:cNvSpPr txBox="1"/>
          <p:nvPr/>
        </p:nvSpPr>
        <p:spPr>
          <a:xfrm>
            <a:off x="4184586" y="2113197"/>
            <a:ext cx="2350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83%</a:t>
            </a:r>
          </a:p>
        </p:txBody>
      </p:sp>
      <p:sp>
        <p:nvSpPr>
          <p:cNvPr id="77" name="cd-5"/>
          <p:cNvSpPr/>
          <p:nvPr/>
        </p:nvSpPr>
        <p:spPr>
          <a:xfrm>
            <a:off x="5057775" y="2117725"/>
            <a:ext cx="76200" cy="7620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cd-6"/>
          <p:cNvSpPr/>
          <p:nvPr/>
        </p:nvSpPr>
        <p:spPr>
          <a:xfrm>
            <a:off x="5851525" y="1983154"/>
            <a:ext cx="76200" cy="7620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cd-7"/>
          <p:cNvSpPr/>
          <p:nvPr/>
        </p:nvSpPr>
        <p:spPr>
          <a:xfrm>
            <a:off x="6645275" y="1898162"/>
            <a:ext cx="76200" cy="7620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cd-8"/>
          <p:cNvSpPr/>
          <p:nvPr/>
        </p:nvSpPr>
        <p:spPr>
          <a:xfrm>
            <a:off x="7439025" y="1841500"/>
            <a:ext cx="76200" cy="7620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vital-box"/>
          <p:cNvSpPr/>
          <p:nvPr/>
        </p:nvSpPr>
        <p:spPr>
          <a:xfrm>
            <a:off x="1447800" y="1765300"/>
            <a:ext cx="2533650" cy="3136900"/>
          </a:xfrm>
          <a:custGeom>
            <a:avLst/>
            <a:gdLst/>
            <a:ahLst/>
            <a:cxnLst/>
            <a:rect l="0" t="0" r="r" b="b"/>
            <a:pathLst>
              <a:path w="2533650" h="3136900">
                <a:moveTo>
                  <a:pt x="101600" y="0"/>
                </a:moveTo>
                <a:lnTo>
                  <a:pt x="2432050" y="0"/>
                </a:lnTo>
                <a:cubicBezTo>
                  <a:pt x="2488184" y="0"/>
                  <a:pt x="2533650" y="45466"/>
                  <a:pt x="2533650" y="101600"/>
                </a:cubicBezTo>
                <a:lnTo>
                  <a:pt x="2533650" y="3035300"/>
                </a:lnTo>
                <a:cubicBezTo>
                  <a:pt x="2533650" y="3091434"/>
                  <a:pt x="2488184" y="3136900"/>
                  <a:pt x="2432050" y="3136900"/>
                </a:cubicBezTo>
                <a:lnTo>
                  <a:pt x="101600" y="3136900"/>
                </a:lnTo>
                <a:cubicBezTo>
                  <a:pt x="45466" y="3136900"/>
                  <a:pt x="0" y="3091434"/>
                  <a:pt x="0" y="3035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noFill/>
          <a:ln w="12700" cap="rnd">
            <a:solidFill>
              <a:srgbClr val="E0703A">
                <a:alpha val="45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vital-t"/>
          <p:cNvSpPr txBox="1"/>
          <p:nvPr/>
        </p:nvSpPr>
        <p:spPr>
          <a:xfrm>
            <a:off x="2289492" y="1558766"/>
            <a:ext cx="8502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关键少数 · 76%</a:t>
            </a:r>
          </a:p>
        </p:txBody>
      </p:sp>
      <p:sp>
        <p:nvSpPr>
          <p:cNvPr id="83" name="side-bar"/>
          <p:cNvSpPr/>
          <p:nvPr/>
        </p:nvSpPr>
        <p:spPr>
          <a:xfrm>
            <a:off x="8458200" y="16256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side-h"/>
          <p:cNvSpPr txBox="1"/>
          <p:nvPr/>
        </p:nvSpPr>
        <p:spPr>
          <a:xfrm>
            <a:off x="8616950" y="16327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改善动作</a:t>
            </a:r>
          </a:p>
        </p:txBody>
      </p:sp>
      <p:sp>
        <p:nvSpPr>
          <p:cNvPr id="85" name="side-p"/>
          <p:cNvSpPr txBox="1"/>
          <p:nvPr/>
        </p:nvSpPr>
        <p:spPr>
          <a:xfrm>
            <a:off x="8622665" y="1907461"/>
            <a:ext cx="8956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针对前三类缺陷</a:t>
            </a:r>
          </a:p>
        </p:txBody>
      </p:sp>
      <p:sp>
        <p:nvSpPr>
          <p:cNvPr id="86" name="ac-1"/>
          <p:cNvSpPr/>
          <p:nvPr/>
        </p:nvSpPr>
        <p:spPr>
          <a:xfrm>
            <a:off x="8458200" y="2362200"/>
            <a:ext cx="2768600" cy="812800"/>
          </a:xfrm>
          <a:custGeom>
            <a:avLst/>
            <a:gdLst/>
            <a:ahLst/>
            <a:cxnLst/>
            <a:rect l="0" t="0" r="r" b="b"/>
            <a:pathLst>
              <a:path w="2768600" h="812800">
                <a:moveTo>
                  <a:pt x="114300" y="0"/>
                </a:moveTo>
                <a:lnTo>
                  <a:pt x="2654300" y="0"/>
                </a:lnTo>
                <a:cubicBezTo>
                  <a:pt x="2717419" y="0"/>
                  <a:pt x="2768600" y="51181"/>
                  <a:pt x="2768600" y="114300"/>
                </a:cubicBezTo>
                <a:lnTo>
                  <a:pt x="2768600" y="698500"/>
                </a:lnTo>
                <a:cubicBezTo>
                  <a:pt x="2768600" y="761619"/>
                  <a:pt x="2717419" y="812800"/>
                  <a:pt x="2654300" y="812800"/>
                </a:cubicBezTo>
                <a:lnTo>
                  <a:pt x="114300" y="812800"/>
                </a:lnTo>
                <a:cubicBezTo>
                  <a:pt x="51181" y="812800"/>
                  <a:pt x="0" y="761619"/>
                  <a:pt x="0" y="698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acb-1"/>
          <p:cNvSpPr/>
          <p:nvPr/>
        </p:nvSpPr>
        <p:spPr>
          <a:xfrm>
            <a:off x="8458200" y="2362200"/>
            <a:ext cx="31750" cy="812800"/>
          </a:xfrm>
          <a:custGeom>
            <a:avLst/>
            <a:gdLst/>
            <a:ahLst/>
            <a:cxnLst/>
            <a:rect l="0" t="0" r="r" b="b"/>
            <a:pathLst>
              <a:path w="31750" h="8128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96925"/>
                </a:lnTo>
                <a:cubicBezTo>
                  <a:pt x="31750" y="805688"/>
                  <a:pt x="24638" y="812800"/>
                  <a:pt x="15875" y="812800"/>
                </a:cubicBezTo>
                <a:lnTo>
                  <a:pt x="15875" y="812800"/>
                </a:lnTo>
                <a:cubicBezTo>
                  <a:pt x="7112" y="812800"/>
                  <a:pt x="0" y="805688"/>
                  <a:pt x="0" y="7969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icon-tools"/>
          <p:cNvSpPr/>
          <p:nvPr/>
        </p:nvSpPr>
        <p:spPr>
          <a:xfrm>
            <a:off x="8681347" y="2581817"/>
            <a:ext cx="105148" cy="104233"/>
          </a:xfrm>
          <a:custGeom>
            <a:avLst/>
            <a:gdLst/>
            <a:ahLst/>
            <a:cxnLst/>
            <a:rect l="0" t="0" r="r" b="b"/>
            <a:pathLst>
              <a:path w="105148" h="104233">
                <a:moveTo>
                  <a:pt x="19233" y="3458"/>
                </a:moveTo>
                <a:lnTo>
                  <a:pt x="41458" y="25683"/>
                </a:lnTo>
                <a:lnTo>
                  <a:pt x="25138" y="42003"/>
                </a:lnTo>
                <a:lnTo>
                  <a:pt x="2913" y="19778"/>
                </a:lnTo>
                <a:cubicBezTo>
                  <a:pt x="-2421" y="30954"/>
                  <a:pt x="-325" y="44225"/>
                  <a:pt x="8311" y="53179"/>
                </a:cubicBezTo>
                <a:cubicBezTo>
                  <a:pt x="16883" y="62069"/>
                  <a:pt x="30091" y="64736"/>
                  <a:pt x="41458" y="59783"/>
                </a:cubicBezTo>
                <a:lnTo>
                  <a:pt x="85908" y="104233"/>
                </a:lnTo>
                <a:lnTo>
                  <a:pt x="105148" y="84992"/>
                </a:lnTo>
                <a:lnTo>
                  <a:pt x="60698" y="40542"/>
                </a:lnTo>
                <a:cubicBezTo>
                  <a:pt x="65270" y="28985"/>
                  <a:pt x="62159" y="15777"/>
                  <a:pt x="52888" y="7522"/>
                </a:cubicBezTo>
                <a:cubicBezTo>
                  <a:pt x="43617" y="-733"/>
                  <a:pt x="30155" y="-2384"/>
                  <a:pt x="19233" y="3458"/>
                </a:cubicBezTo>
                <a:close/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acn-1"/>
          <p:cNvSpPr txBox="1"/>
          <p:nvPr/>
        </p:nvSpPr>
        <p:spPr>
          <a:xfrm>
            <a:off x="8950198" y="25277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装配偏差</a:t>
            </a:r>
          </a:p>
        </p:txBody>
      </p:sp>
      <p:sp>
        <p:nvSpPr>
          <p:cNvPr id="90" name="acp-1"/>
          <p:cNvSpPr txBox="1"/>
          <p:nvPr/>
        </p:nvSpPr>
        <p:spPr>
          <a:xfrm>
            <a:off x="8636889" y="2850245"/>
            <a:ext cx="1271207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工装治具升级 + 首件必检</a:t>
            </a:r>
          </a:p>
        </p:txBody>
      </p:sp>
      <p:sp>
        <p:nvSpPr>
          <p:cNvPr id="91" name="ace-1"/>
          <p:cNvSpPr/>
          <p:nvPr/>
        </p:nvSpPr>
        <p:spPr>
          <a:xfrm>
            <a:off x="10591800" y="2552700"/>
            <a:ext cx="508000" cy="215900"/>
          </a:xfrm>
          <a:custGeom>
            <a:avLst/>
            <a:gdLst/>
            <a:ahLst/>
            <a:cxnLst/>
            <a:rect l="0" t="0" r="r" b="b"/>
            <a:pathLst>
              <a:path w="508000" h="215900">
                <a:moveTo>
                  <a:pt x="107950" y="0"/>
                </a:moveTo>
                <a:lnTo>
                  <a:pt x="400050" y="0"/>
                </a:lnTo>
                <a:cubicBezTo>
                  <a:pt x="459677" y="0"/>
                  <a:pt x="508000" y="48324"/>
                  <a:pt x="508000" y="107950"/>
                </a:cubicBezTo>
                <a:lnTo>
                  <a:pt x="508000" y="107950"/>
                </a:lnTo>
                <a:cubicBezTo>
                  <a:pt x="508000" y="167576"/>
                  <a:pt x="459677" y="215900"/>
                  <a:pt x="4000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acet-1"/>
          <p:cNvSpPr txBox="1"/>
          <p:nvPr/>
        </p:nvSpPr>
        <p:spPr>
          <a:xfrm>
            <a:off x="10681208" y="2566924"/>
            <a:ext cx="32918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20">
                <a:solidFill>
                  <a:srgbClr val="0B3E8F"/>
                </a:solidFill>
                <a:latin typeface="Arial"/>
                <a:ea typeface="Arial"/>
                <a:cs typeface="Arial"/>
              </a:rPr>
              <a:t>-40%</a:t>
            </a:r>
          </a:p>
        </p:txBody>
      </p:sp>
      <p:sp>
        <p:nvSpPr>
          <p:cNvPr id="93" name="ac-2"/>
          <p:cNvSpPr/>
          <p:nvPr/>
        </p:nvSpPr>
        <p:spPr>
          <a:xfrm>
            <a:off x="8458200" y="3314700"/>
            <a:ext cx="2768600" cy="812800"/>
          </a:xfrm>
          <a:custGeom>
            <a:avLst/>
            <a:gdLst/>
            <a:ahLst/>
            <a:cxnLst/>
            <a:rect l="0" t="0" r="r" b="b"/>
            <a:pathLst>
              <a:path w="2768600" h="812800">
                <a:moveTo>
                  <a:pt x="114300" y="0"/>
                </a:moveTo>
                <a:lnTo>
                  <a:pt x="2654300" y="0"/>
                </a:lnTo>
                <a:cubicBezTo>
                  <a:pt x="2717419" y="0"/>
                  <a:pt x="2768600" y="51181"/>
                  <a:pt x="2768600" y="114300"/>
                </a:cubicBezTo>
                <a:lnTo>
                  <a:pt x="2768600" y="698500"/>
                </a:lnTo>
                <a:cubicBezTo>
                  <a:pt x="2768600" y="761619"/>
                  <a:pt x="2717419" y="812800"/>
                  <a:pt x="2654300" y="812800"/>
                </a:cubicBezTo>
                <a:lnTo>
                  <a:pt x="114300" y="812800"/>
                </a:lnTo>
                <a:cubicBezTo>
                  <a:pt x="51181" y="812800"/>
                  <a:pt x="0" y="761619"/>
                  <a:pt x="0" y="698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acb-2"/>
          <p:cNvSpPr/>
          <p:nvPr/>
        </p:nvSpPr>
        <p:spPr>
          <a:xfrm>
            <a:off x="8458200" y="3314700"/>
            <a:ext cx="31750" cy="812800"/>
          </a:xfrm>
          <a:custGeom>
            <a:avLst/>
            <a:gdLst/>
            <a:ahLst/>
            <a:cxnLst/>
            <a:rect l="0" t="0" r="r" b="b"/>
            <a:pathLst>
              <a:path w="31750" h="8128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96925"/>
                </a:lnTo>
                <a:cubicBezTo>
                  <a:pt x="31750" y="805688"/>
                  <a:pt x="24638" y="812800"/>
                  <a:pt x="15875" y="812800"/>
                </a:cubicBezTo>
                <a:lnTo>
                  <a:pt x="15875" y="812800"/>
                </a:lnTo>
                <a:cubicBezTo>
                  <a:pt x="7112" y="812800"/>
                  <a:pt x="0" y="805688"/>
                  <a:pt x="0" y="7969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icon-cart"/>
          <p:cNvSpPr/>
          <p:nvPr/>
        </p:nvSpPr>
        <p:spPr>
          <a:xfrm>
            <a:off x="8672386" y="3539300"/>
            <a:ext cx="117792" cy="69596"/>
          </a:xfrm>
          <a:custGeom>
            <a:avLst/>
            <a:gdLst/>
            <a:ahLst/>
            <a:cxnLst/>
            <a:rect l="0" t="0" r="r" b="b"/>
            <a:pathLst>
              <a:path w="117792" h="69596">
                <a:moveTo>
                  <a:pt x="0" y="0"/>
                </a:moveTo>
                <a:lnTo>
                  <a:pt x="17082" y="0"/>
                </a:lnTo>
                <a:lnTo>
                  <a:pt x="34099" y="69596"/>
                </a:lnTo>
                <a:lnTo>
                  <a:pt x="103759" y="69596"/>
                </a:lnTo>
                <a:lnTo>
                  <a:pt x="117792" y="20701"/>
                </a:lnTo>
                <a:lnTo>
                  <a:pt x="22225" y="20701"/>
                </a:lnTo>
              </a:path>
            </a:pathLst>
          </a:cu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icon-cart"/>
          <p:cNvSpPr/>
          <p:nvPr/>
        </p:nvSpPr>
        <p:spPr>
          <a:xfrm>
            <a:off x="8707967" y="3631142"/>
            <a:ext cx="20743" cy="20743"/>
          </a:xfrm>
          <a:prstGeom prst="ellipse">
            <a:avLst/>
          </a:pr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icon-cart"/>
          <p:cNvSpPr/>
          <p:nvPr/>
        </p:nvSpPr>
        <p:spPr>
          <a:xfrm>
            <a:off x="8761307" y="3631142"/>
            <a:ext cx="20743" cy="20743"/>
          </a:xfrm>
          <a:prstGeom prst="ellipse">
            <a:avLst/>
          </a:pr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acn-2"/>
          <p:cNvSpPr txBox="1"/>
          <p:nvPr/>
        </p:nvSpPr>
        <p:spPr>
          <a:xfrm>
            <a:off x="8950198" y="34802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来料不良</a:t>
            </a:r>
          </a:p>
        </p:txBody>
      </p:sp>
      <p:sp>
        <p:nvSpPr>
          <p:cNvPr id="99" name="acp-2"/>
          <p:cNvSpPr txBox="1"/>
          <p:nvPr/>
        </p:nvSpPr>
        <p:spPr>
          <a:xfrm>
            <a:off x="8636889" y="3802745"/>
            <a:ext cx="109823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供应商分级与来料全检</a:t>
            </a:r>
          </a:p>
        </p:txBody>
      </p:sp>
      <p:sp>
        <p:nvSpPr>
          <p:cNvPr id="100" name="ace-2"/>
          <p:cNvSpPr/>
          <p:nvPr/>
        </p:nvSpPr>
        <p:spPr>
          <a:xfrm>
            <a:off x="10591800" y="3505200"/>
            <a:ext cx="508000" cy="215900"/>
          </a:xfrm>
          <a:custGeom>
            <a:avLst/>
            <a:gdLst/>
            <a:ahLst/>
            <a:cxnLst/>
            <a:rect l="0" t="0" r="r" b="b"/>
            <a:pathLst>
              <a:path w="508000" h="215900">
                <a:moveTo>
                  <a:pt x="107950" y="0"/>
                </a:moveTo>
                <a:lnTo>
                  <a:pt x="400050" y="0"/>
                </a:lnTo>
                <a:cubicBezTo>
                  <a:pt x="459677" y="0"/>
                  <a:pt x="508000" y="48324"/>
                  <a:pt x="508000" y="107950"/>
                </a:cubicBezTo>
                <a:lnTo>
                  <a:pt x="508000" y="107950"/>
                </a:lnTo>
                <a:cubicBezTo>
                  <a:pt x="508000" y="167576"/>
                  <a:pt x="459677" y="215900"/>
                  <a:pt x="4000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134C9C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acet-2"/>
          <p:cNvSpPr txBox="1"/>
          <p:nvPr/>
        </p:nvSpPr>
        <p:spPr>
          <a:xfrm>
            <a:off x="10681208" y="3519424"/>
            <a:ext cx="32918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20">
                <a:solidFill>
                  <a:srgbClr val="134C9C"/>
                </a:solidFill>
                <a:latin typeface="Arial"/>
                <a:ea typeface="Arial"/>
                <a:cs typeface="Arial"/>
              </a:rPr>
              <a:t>-35%</a:t>
            </a:r>
          </a:p>
        </p:txBody>
      </p:sp>
      <p:sp>
        <p:nvSpPr>
          <p:cNvPr id="102" name="ac-3"/>
          <p:cNvSpPr/>
          <p:nvPr/>
        </p:nvSpPr>
        <p:spPr>
          <a:xfrm>
            <a:off x="8458200" y="4267200"/>
            <a:ext cx="2768600" cy="812800"/>
          </a:xfrm>
          <a:custGeom>
            <a:avLst/>
            <a:gdLst/>
            <a:ahLst/>
            <a:cxnLst/>
            <a:rect l="0" t="0" r="r" b="b"/>
            <a:pathLst>
              <a:path w="2768600" h="812800">
                <a:moveTo>
                  <a:pt x="114300" y="0"/>
                </a:moveTo>
                <a:lnTo>
                  <a:pt x="2654300" y="0"/>
                </a:lnTo>
                <a:cubicBezTo>
                  <a:pt x="2717419" y="0"/>
                  <a:pt x="2768600" y="51181"/>
                  <a:pt x="2768600" y="114300"/>
                </a:cubicBezTo>
                <a:lnTo>
                  <a:pt x="2768600" y="698500"/>
                </a:lnTo>
                <a:cubicBezTo>
                  <a:pt x="2768600" y="761619"/>
                  <a:pt x="2717419" y="812800"/>
                  <a:pt x="2654300" y="812800"/>
                </a:cubicBezTo>
                <a:lnTo>
                  <a:pt x="114300" y="812800"/>
                </a:lnTo>
                <a:cubicBezTo>
                  <a:pt x="51181" y="812800"/>
                  <a:pt x="0" y="761619"/>
                  <a:pt x="0" y="698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acb-3"/>
          <p:cNvSpPr/>
          <p:nvPr/>
        </p:nvSpPr>
        <p:spPr>
          <a:xfrm>
            <a:off x="8458200" y="4267200"/>
            <a:ext cx="31750" cy="812800"/>
          </a:xfrm>
          <a:custGeom>
            <a:avLst/>
            <a:gdLst/>
            <a:ahLst/>
            <a:cxnLst/>
            <a:rect l="0" t="0" r="r" b="b"/>
            <a:pathLst>
              <a:path w="31750" h="8128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96925"/>
                </a:lnTo>
                <a:cubicBezTo>
                  <a:pt x="31750" y="805688"/>
                  <a:pt x="24638" y="812800"/>
                  <a:pt x="15875" y="812800"/>
                </a:cubicBezTo>
                <a:lnTo>
                  <a:pt x="15875" y="812800"/>
                </a:lnTo>
                <a:cubicBezTo>
                  <a:pt x="7112" y="812800"/>
                  <a:pt x="0" y="805688"/>
                  <a:pt x="0" y="7969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4" name="icon-gear"/>
          <p:cNvSpPr/>
          <p:nvPr/>
        </p:nvSpPr>
        <p:spPr>
          <a:xfrm>
            <a:off x="8682038" y="4478464"/>
            <a:ext cx="111125" cy="136271"/>
          </a:xfrm>
          <a:custGeom>
            <a:avLst/>
            <a:gdLst/>
            <a:ahLst/>
            <a:cxnLst/>
            <a:rect l="0" t="0" r="r" b="b"/>
            <a:pathLst>
              <a:path w="111125" h="136271">
                <a:moveTo>
                  <a:pt x="55562" y="42926"/>
                </a:moveTo>
                <a:cubicBezTo>
                  <a:pt x="46545" y="42926"/>
                  <a:pt x="38227" y="47752"/>
                  <a:pt x="33718" y="55562"/>
                </a:cubicBezTo>
                <a:cubicBezTo>
                  <a:pt x="29273" y="63310"/>
                  <a:pt x="29273" y="72962"/>
                  <a:pt x="33718" y="80709"/>
                </a:cubicBezTo>
                <a:cubicBezTo>
                  <a:pt x="38227" y="88519"/>
                  <a:pt x="46545" y="93345"/>
                  <a:pt x="55562" y="93345"/>
                </a:cubicBezTo>
                <a:cubicBezTo>
                  <a:pt x="69469" y="93345"/>
                  <a:pt x="80772" y="82042"/>
                  <a:pt x="80772" y="68136"/>
                </a:cubicBezTo>
                <a:cubicBezTo>
                  <a:pt x="80772" y="54229"/>
                  <a:pt x="69469" y="42926"/>
                  <a:pt x="55562" y="42926"/>
                </a:cubicBezTo>
                <a:close/>
                <a:moveTo>
                  <a:pt x="55562" y="0"/>
                </a:moveTo>
                <a:lnTo>
                  <a:pt x="63690" y="19240"/>
                </a:lnTo>
                <a:lnTo>
                  <a:pt x="84455" y="14796"/>
                </a:lnTo>
                <a:lnTo>
                  <a:pt x="91885" y="34798"/>
                </a:lnTo>
                <a:lnTo>
                  <a:pt x="111125" y="42926"/>
                </a:lnTo>
                <a:lnTo>
                  <a:pt x="102235" y="62230"/>
                </a:lnTo>
                <a:lnTo>
                  <a:pt x="111125" y="81471"/>
                </a:lnTo>
                <a:lnTo>
                  <a:pt x="91885" y="89599"/>
                </a:lnTo>
                <a:lnTo>
                  <a:pt x="84455" y="109601"/>
                </a:lnTo>
                <a:lnTo>
                  <a:pt x="63690" y="105156"/>
                </a:lnTo>
                <a:lnTo>
                  <a:pt x="55562" y="136271"/>
                </a:lnTo>
                <a:lnTo>
                  <a:pt x="47435" y="117031"/>
                </a:lnTo>
                <a:lnTo>
                  <a:pt x="26670" y="121475"/>
                </a:lnTo>
                <a:lnTo>
                  <a:pt x="19240" y="101473"/>
                </a:lnTo>
                <a:lnTo>
                  <a:pt x="0" y="93345"/>
                </a:lnTo>
                <a:lnTo>
                  <a:pt x="8890" y="68136"/>
                </a:lnTo>
                <a:lnTo>
                  <a:pt x="0" y="48895"/>
                </a:lnTo>
                <a:lnTo>
                  <a:pt x="19240" y="40703"/>
                </a:lnTo>
                <a:lnTo>
                  <a:pt x="26670" y="20701"/>
                </a:lnTo>
                <a:lnTo>
                  <a:pt x="47435" y="25146"/>
                </a:lnTo>
                <a:close/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acn-3"/>
          <p:cNvSpPr txBox="1"/>
          <p:nvPr/>
        </p:nvSpPr>
        <p:spPr>
          <a:xfrm>
            <a:off x="8950198" y="44327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参数漂移</a:t>
            </a:r>
          </a:p>
        </p:txBody>
      </p:sp>
      <p:sp>
        <p:nvSpPr>
          <p:cNvPr id="106" name="acp-3"/>
          <p:cNvSpPr txBox="1"/>
          <p:nvPr/>
        </p:nvSpPr>
        <p:spPr>
          <a:xfrm>
            <a:off x="8636889" y="4755245"/>
            <a:ext cx="1199198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设备点检周期缩短至班次</a:t>
            </a:r>
          </a:p>
        </p:txBody>
      </p:sp>
      <p:sp>
        <p:nvSpPr>
          <p:cNvPr id="107" name="ace-3"/>
          <p:cNvSpPr/>
          <p:nvPr/>
        </p:nvSpPr>
        <p:spPr>
          <a:xfrm>
            <a:off x="10591800" y="4457700"/>
            <a:ext cx="508000" cy="215900"/>
          </a:xfrm>
          <a:custGeom>
            <a:avLst/>
            <a:gdLst/>
            <a:ahLst/>
            <a:cxnLst/>
            <a:rect l="0" t="0" r="r" b="b"/>
            <a:pathLst>
              <a:path w="508000" h="215900">
                <a:moveTo>
                  <a:pt x="107950" y="0"/>
                </a:moveTo>
                <a:lnTo>
                  <a:pt x="400050" y="0"/>
                </a:lnTo>
                <a:cubicBezTo>
                  <a:pt x="459677" y="0"/>
                  <a:pt x="508000" y="48324"/>
                  <a:pt x="508000" y="107950"/>
                </a:cubicBezTo>
                <a:lnTo>
                  <a:pt x="508000" y="107950"/>
                </a:lnTo>
                <a:cubicBezTo>
                  <a:pt x="508000" y="167576"/>
                  <a:pt x="459677" y="215900"/>
                  <a:pt x="4000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8" name="acet-3"/>
          <p:cNvSpPr txBox="1"/>
          <p:nvPr/>
        </p:nvSpPr>
        <p:spPr>
          <a:xfrm>
            <a:off x="10681208" y="4471924"/>
            <a:ext cx="32918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20">
                <a:solidFill>
                  <a:srgbClr val="1B5AA8"/>
                </a:solidFill>
                <a:latin typeface="Arial"/>
                <a:ea typeface="Arial"/>
                <a:cs typeface="Arial"/>
              </a:rPr>
              <a:t>-30%</a:t>
            </a:r>
          </a:p>
        </p:txBody>
      </p:sp>
      <p:sp>
        <p:nvSpPr>
          <p:cNvPr id="109" name="sum"/>
          <p:cNvSpPr/>
          <p:nvPr/>
        </p:nvSpPr>
        <p:spPr>
          <a:xfrm>
            <a:off x="952500" y="5499100"/>
            <a:ext cx="10287000" cy="584200"/>
          </a:xfrm>
          <a:custGeom>
            <a:avLst/>
            <a:gdLst/>
            <a:ahLst/>
            <a:cxnLst/>
            <a:rect l="0" t="0" r="r" b="b"/>
            <a:pathLst>
              <a:path w="10287000" h="5842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82600"/>
                </a:lnTo>
                <a:cubicBezTo>
                  <a:pt x="10287000" y="538734"/>
                  <a:pt x="10241534" y="584200"/>
                  <a:pt x="10185400" y="584200"/>
                </a:cubicBezTo>
                <a:lnTo>
                  <a:pt x="101600" y="584200"/>
                </a:lnTo>
                <a:cubicBezTo>
                  <a:pt x="45466" y="584200"/>
                  <a:pt x="0" y="538734"/>
                  <a:pt x="0" y="482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0" name="sum-bar"/>
          <p:cNvSpPr/>
          <p:nvPr/>
        </p:nvSpPr>
        <p:spPr>
          <a:xfrm>
            <a:off x="952500" y="5499100"/>
            <a:ext cx="31750" cy="5842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1" name="sum-h"/>
          <p:cNvSpPr txBox="1"/>
          <p:nvPr/>
        </p:nvSpPr>
        <p:spPr>
          <a:xfrm>
            <a:off x="1141222" y="5604097"/>
            <a:ext cx="7753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帕累托判断</a:t>
            </a:r>
          </a:p>
        </p:txBody>
      </p:sp>
      <p:sp>
        <p:nvSpPr>
          <p:cNvPr id="112" name="sum-p"/>
          <p:cNvSpPr txBox="1"/>
          <p:nvPr/>
        </p:nvSpPr>
        <p:spPr>
          <a:xfrm>
            <a:off x="1142365" y="5819061"/>
            <a:ext cx="550576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前三类缺陷占 76%，集中资源攻这三项即可覆盖四分之三的质量损失；后五类合计 24%，按季度批量处理。</a:t>
            </a:r>
          </a:p>
        </p:txBody>
      </p:sp>
      <p:sp>
        <p:nvSpPr>
          <p:cNvPr id="113" name="sv-1"/>
          <p:cNvSpPr txBox="1"/>
          <p:nvPr/>
        </p:nvSpPr>
        <p:spPr>
          <a:xfrm>
            <a:off x="8244142" y="5615686"/>
            <a:ext cx="402717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832</a:t>
            </a:r>
          </a:p>
        </p:txBody>
      </p:sp>
      <p:sp>
        <p:nvSpPr>
          <p:cNvPr id="114" name="sl-1"/>
          <p:cNvSpPr txBox="1"/>
          <p:nvPr/>
        </p:nvSpPr>
        <p:spPr>
          <a:xfrm>
            <a:off x="8222615" y="5871908"/>
            <a:ext cx="4457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问题总数</a:t>
            </a:r>
          </a:p>
        </p:txBody>
      </p:sp>
      <p:sp>
        <p:nvSpPr>
          <p:cNvPr id="115" name="sv-2"/>
          <p:cNvSpPr txBox="1"/>
          <p:nvPr/>
        </p:nvSpPr>
        <p:spPr>
          <a:xfrm>
            <a:off x="9171622" y="5615686"/>
            <a:ext cx="579755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3 / 8</a:t>
            </a:r>
          </a:p>
        </p:txBody>
      </p:sp>
      <p:sp>
        <p:nvSpPr>
          <p:cNvPr id="116" name="sl-2"/>
          <p:cNvSpPr txBox="1"/>
          <p:nvPr/>
        </p:nvSpPr>
        <p:spPr>
          <a:xfrm>
            <a:off x="9238615" y="5871908"/>
            <a:ext cx="4457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关键类别</a:t>
            </a:r>
          </a:p>
        </p:txBody>
      </p:sp>
      <p:sp>
        <p:nvSpPr>
          <p:cNvPr id="117" name="sv-3"/>
          <p:cNvSpPr txBox="1"/>
          <p:nvPr/>
        </p:nvSpPr>
        <p:spPr>
          <a:xfrm>
            <a:off x="10276142" y="5615686"/>
            <a:ext cx="402717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76%</a:t>
            </a:r>
          </a:p>
        </p:txBody>
      </p:sp>
      <p:sp>
        <p:nvSpPr>
          <p:cNvPr id="118" name="sl-3"/>
          <p:cNvSpPr txBox="1"/>
          <p:nvPr/>
        </p:nvSpPr>
        <p:spPr>
          <a:xfrm>
            <a:off x="10254615" y="5871908"/>
            <a:ext cx="44577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累计占比</a:t>
            </a:r>
          </a:p>
        </p:txBody>
      </p:sp>
      <p:cxnSp>
        <p:nvCxnSpPr>
          <p:cNvPr id="119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0" name="foot-l"/>
          <p:cNvSpPr txBox="1"/>
          <p:nvPr/>
        </p:nvSpPr>
        <p:spPr>
          <a:xfrm>
            <a:off x="573532" y="6532308"/>
            <a:ext cx="9469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帕累托 · 八类缺陷</a:t>
            </a:r>
          </a:p>
        </p:txBody>
      </p:sp>
      <p:sp>
        <p:nvSpPr>
          <p:cNvPr id="121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部门指标达成度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17271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BULLET CHART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418195" y="673132"/>
            <a:ext cx="32025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灰阶区间为及格/良好/优秀带，深条为实际值，竖线为目标值</a:t>
            </a:r>
          </a:p>
        </p:txBody>
      </p:sp>
      <p:sp>
        <p:nvSpPr>
          <p:cNvPr id="10" name="th-1"/>
          <p:cNvSpPr txBox="1"/>
          <p:nvPr/>
        </p:nvSpPr>
        <p:spPr>
          <a:xfrm>
            <a:off x="966851" y="1600787"/>
            <a:ext cx="28987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9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部门</a:t>
            </a:r>
          </a:p>
        </p:txBody>
      </p:sp>
      <p:sp>
        <p:nvSpPr>
          <p:cNvPr id="11" name="th-2"/>
          <p:cNvSpPr txBox="1"/>
          <p:nvPr/>
        </p:nvSpPr>
        <p:spPr>
          <a:xfrm>
            <a:off x="3036951" y="1600787"/>
            <a:ext cx="108185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9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实际 / 区间 / 目标</a:t>
            </a:r>
          </a:p>
        </p:txBody>
      </p:sp>
      <p:sp>
        <p:nvSpPr>
          <p:cNvPr id="12" name="th-3"/>
          <p:cNvSpPr txBox="1"/>
          <p:nvPr/>
        </p:nvSpPr>
        <p:spPr>
          <a:xfrm>
            <a:off x="10153809" y="1600787"/>
            <a:ext cx="39338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9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达成率</a:t>
            </a:r>
          </a:p>
        </p:txBody>
      </p:sp>
      <p:cxnSp>
        <p:nvCxnSpPr>
          <p:cNvPr id="13" name="th-line"/>
          <p:cNvCxnSpPr/>
          <p:nvPr/>
        </p:nvCxnSpPr>
        <p:spPr>
          <a:xfrm>
            <a:off x="952500" y="18161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1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band-1-1"/>
          <p:cNvSpPr/>
          <p:nvPr/>
        </p:nvSpPr>
        <p:spPr>
          <a:xfrm>
            <a:off x="3048000" y="2044700"/>
            <a:ext cx="3422650" cy="279400"/>
          </a:xfrm>
          <a:custGeom>
            <a:avLst/>
            <a:gdLst/>
            <a:ahLst/>
            <a:cxnLst/>
            <a:rect l="0" t="0" r="r" b="b"/>
            <a:pathLst>
              <a:path w="3422650" h="279400">
                <a:moveTo>
                  <a:pt x="63500" y="0"/>
                </a:moveTo>
                <a:lnTo>
                  <a:pt x="3359150" y="0"/>
                </a:lnTo>
                <a:cubicBezTo>
                  <a:pt x="3394202" y="0"/>
                  <a:pt x="3422650" y="28448"/>
                  <a:pt x="3422650" y="63500"/>
                </a:cubicBezTo>
                <a:lnTo>
                  <a:pt x="3422650" y="215900"/>
                </a:lnTo>
                <a:cubicBezTo>
                  <a:pt x="3422650" y="250952"/>
                  <a:pt x="3394202" y="279400"/>
                  <a:pt x="3359150" y="279400"/>
                </a:cubicBezTo>
                <a:lnTo>
                  <a:pt x="63500" y="279400"/>
                </a:lnTo>
                <a:cubicBezTo>
                  <a:pt x="28448" y="279400"/>
                  <a:pt x="0" y="250952"/>
                  <a:pt x="0" y="2159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E7ED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band-1-2"/>
          <p:cNvSpPr/>
          <p:nvPr/>
        </p:nvSpPr>
        <p:spPr>
          <a:xfrm>
            <a:off x="6470650" y="2044700"/>
            <a:ext cx="1555750" cy="279400"/>
          </a:xfrm>
          <a:custGeom>
            <a:avLst/>
            <a:gdLst/>
            <a:ahLst/>
            <a:cxnLst/>
            <a:rect l="0" t="0" r="r" b="b"/>
            <a:pathLst>
              <a:path w="1555750" h="279400">
                <a:moveTo>
                  <a:pt x="0" y="0"/>
                </a:moveTo>
                <a:lnTo>
                  <a:pt x="1555750" y="0"/>
                </a:lnTo>
                <a:cubicBezTo>
                  <a:pt x="1555750" y="0"/>
                  <a:pt x="1555750" y="0"/>
                  <a:pt x="1555750" y="0"/>
                </a:cubicBezTo>
                <a:lnTo>
                  <a:pt x="1555750" y="279400"/>
                </a:lnTo>
                <a:cubicBezTo>
                  <a:pt x="1555750" y="279400"/>
                  <a:pt x="1555750" y="279400"/>
                  <a:pt x="1555750" y="279400"/>
                </a:cubicBezTo>
                <a:lnTo>
                  <a:pt x="0" y="279400"/>
                </a:lnTo>
                <a:cubicBezTo>
                  <a:pt x="0" y="279400"/>
                  <a:pt x="0" y="279400"/>
                  <a:pt x="0" y="279400"/>
                </a:cubicBezTo>
                <a:lnTo>
                  <a:pt x="0" y="0"/>
                </a:ln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DBE5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band-1-3"/>
          <p:cNvSpPr/>
          <p:nvPr/>
        </p:nvSpPr>
        <p:spPr>
          <a:xfrm>
            <a:off x="8026400" y="2044700"/>
            <a:ext cx="1244600" cy="279400"/>
          </a:xfrm>
          <a:custGeom>
            <a:avLst/>
            <a:gdLst/>
            <a:ahLst/>
            <a:cxnLst/>
            <a:rect l="0" t="0" r="r" b="b"/>
            <a:pathLst>
              <a:path w="1244600" h="279400">
                <a:moveTo>
                  <a:pt x="63500" y="0"/>
                </a:moveTo>
                <a:lnTo>
                  <a:pt x="1181100" y="0"/>
                </a:lnTo>
                <a:cubicBezTo>
                  <a:pt x="1216152" y="0"/>
                  <a:pt x="1244600" y="28448"/>
                  <a:pt x="1244600" y="63500"/>
                </a:cubicBezTo>
                <a:lnTo>
                  <a:pt x="1244600" y="215900"/>
                </a:lnTo>
                <a:cubicBezTo>
                  <a:pt x="1244600" y="250952"/>
                  <a:pt x="1216152" y="279400"/>
                  <a:pt x="1181100" y="279400"/>
                </a:cubicBezTo>
                <a:lnTo>
                  <a:pt x="63500" y="279400"/>
                </a:lnTo>
                <a:cubicBezTo>
                  <a:pt x="28448" y="279400"/>
                  <a:pt x="0" y="250952"/>
                  <a:pt x="0" y="2159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CEDB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bar-1"/>
          <p:cNvSpPr/>
          <p:nvPr/>
        </p:nvSpPr>
        <p:spPr>
          <a:xfrm>
            <a:off x="3048000" y="2127250"/>
            <a:ext cx="4999164" cy="114300"/>
          </a:xfrm>
          <a:custGeom>
            <a:avLst/>
            <a:gdLst/>
            <a:ahLst/>
            <a:cxnLst/>
            <a:rect l="0" t="0" r="r" b="b"/>
            <a:pathLst>
              <a:path w="4999164" h="114300">
                <a:moveTo>
                  <a:pt x="57150" y="0"/>
                </a:moveTo>
                <a:lnTo>
                  <a:pt x="4942014" y="0"/>
                </a:lnTo>
                <a:cubicBezTo>
                  <a:pt x="4973574" y="0"/>
                  <a:pt x="4999164" y="25590"/>
                  <a:pt x="4999164" y="57150"/>
                </a:cubicBezTo>
                <a:lnTo>
                  <a:pt x="4999164" y="57150"/>
                </a:lnTo>
                <a:cubicBezTo>
                  <a:pt x="4999164" y="88710"/>
                  <a:pt x="4973574" y="114300"/>
                  <a:pt x="4942014" y="114300"/>
                </a:cubicBezTo>
                <a:lnTo>
                  <a:pt x="57150" y="114300"/>
                </a:lnTo>
                <a:cubicBezTo>
                  <a:pt x="25590" y="114300"/>
                  <a:pt x="0" y="88710"/>
                  <a:pt x="0" y="57150"/>
                </a:cubicBezTo>
                <a:lnTo>
                  <a:pt x="0" y="57150"/>
                </a:lnTo>
                <a:cubicBezTo>
                  <a:pt x="0" y="25590"/>
                  <a:pt x="25590" y="0"/>
                  <a:pt x="57150" y="0"/>
                </a:cubicBezTo>
                <a:close/>
              </a:path>
            </a:pathLst>
          </a:custGeom>
          <a:gradFill rotWithShape="1">
            <a:gsLst>
              <a:gs pos="0">
                <a:srgbClr val="4168A8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8" name="prev-1"/>
          <p:cNvCxnSpPr/>
          <p:nvPr/>
        </p:nvCxnSpPr>
        <p:spPr>
          <a:xfrm>
            <a:off x="7155180" y="2057400"/>
            <a:ext cx="0" cy="254000"/>
          </a:xfrm>
          <a:prstGeom prst="line">
            <a:avLst/>
          </a:prstGeom>
          <a:ln w="12700" cap="rnd">
            <a:solidFill>
              <a:srgbClr val="0B2545">
                <a:alpha val="2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gt-1"/>
          <p:cNvSpPr/>
          <p:nvPr/>
        </p:nvSpPr>
        <p:spPr>
          <a:xfrm>
            <a:off x="7803092" y="2006600"/>
            <a:ext cx="31750" cy="3556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nm-1"/>
          <p:cNvSpPr txBox="1"/>
          <p:nvPr/>
        </p:nvSpPr>
        <p:spPr>
          <a:xfrm>
            <a:off x="961136" y="1999170"/>
            <a:ext cx="573405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销售部</a:t>
            </a:r>
          </a:p>
        </p:txBody>
      </p:sp>
      <p:sp>
        <p:nvSpPr>
          <p:cNvPr id="21" name="nt-1"/>
          <p:cNvSpPr txBox="1"/>
          <p:nvPr/>
        </p:nvSpPr>
        <p:spPr>
          <a:xfrm>
            <a:off x="967232" y="2252408"/>
            <a:ext cx="65506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目标 4.6亿元</a:t>
            </a:r>
          </a:p>
        </p:txBody>
      </p:sp>
      <p:sp>
        <p:nvSpPr>
          <p:cNvPr id="22" name="av-1"/>
          <p:cNvSpPr txBox="1"/>
          <p:nvPr/>
        </p:nvSpPr>
        <p:spPr>
          <a:xfrm>
            <a:off x="7675668" y="2104866"/>
            <a:ext cx="3067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4.82</a:t>
            </a:r>
          </a:p>
        </p:txBody>
      </p:sp>
      <p:sp>
        <p:nvSpPr>
          <p:cNvPr id="23" name="rt-1"/>
          <p:cNvSpPr/>
          <p:nvPr/>
        </p:nvSpPr>
        <p:spPr>
          <a:xfrm>
            <a:off x="9652000" y="2044700"/>
            <a:ext cx="952500" cy="279400"/>
          </a:xfrm>
          <a:custGeom>
            <a:avLst/>
            <a:gdLst/>
            <a:ahLst/>
            <a:cxnLst/>
            <a:rect l="0" t="0" r="r" b="b"/>
            <a:pathLst>
              <a:path w="952500" h="279400">
                <a:moveTo>
                  <a:pt x="88900" y="0"/>
                </a:moveTo>
                <a:lnTo>
                  <a:pt x="863600" y="0"/>
                </a:lnTo>
                <a:cubicBezTo>
                  <a:pt x="912686" y="0"/>
                  <a:pt x="952500" y="39814"/>
                  <a:pt x="952500" y="88900"/>
                </a:cubicBezTo>
                <a:lnTo>
                  <a:pt x="952500" y="190500"/>
                </a:lnTo>
                <a:cubicBezTo>
                  <a:pt x="952500" y="239586"/>
                  <a:pt x="912686" y="279400"/>
                  <a:pt x="863600" y="279400"/>
                </a:cubicBezTo>
                <a:lnTo>
                  <a:pt x="88900" y="279400"/>
                </a:lnTo>
                <a:cubicBezTo>
                  <a:pt x="39814" y="279400"/>
                  <a:pt x="0" y="239586"/>
                  <a:pt x="0" y="190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rtt-1"/>
          <p:cNvSpPr txBox="1"/>
          <p:nvPr/>
        </p:nvSpPr>
        <p:spPr>
          <a:xfrm>
            <a:off x="9836594" y="2070513"/>
            <a:ext cx="583311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20">
                <a:solidFill>
                  <a:srgbClr val="0B3E8F"/>
                </a:solidFill>
                <a:latin typeface="Arial"/>
                <a:ea typeface="Arial"/>
                <a:cs typeface="Arial"/>
              </a:rPr>
              <a:t>104.8%</a:t>
            </a:r>
          </a:p>
        </p:txBody>
      </p:sp>
      <p:sp>
        <p:nvSpPr>
          <p:cNvPr id="25" name="rs-1"/>
          <p:cNvSpPr txBox="1"/>
          <p:nvPr/>
        </p:nvSpPr>
        <p:spPr>
          <a:xfrm>
            <a:off x="10695051" y="2115137"/>
            <a:ext cx="36671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已达标</a:t>
            </a:r>
          </a:p>
        </p:txBody>
      </p:sp>
      <p:cxnSp>
        <p:nvCxnSpPr>
          <p:cNvPr id="26" name="rl-1"/>
          <p:cNvCxnSpPr/>
          <p:nvPr/>
        </p:nvCxnSpPr>
        <p:spPr>
          <a:xfrm>
            <a:off x="952500" y="24892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band-2-1"/>
          <p:cNvSpPr/>
          <p:nvPr/>
        </p:nvSpPr>
        <p:spPr>
          <a:xfrm>
            <a:off x="3048000" y="2705100"/>
            <a:ext cx="3422650" cy="279400"/>
          </a:xfrm>
          <a:custGeom>
            <a:avLst/>
            <a:gdLst/>
            <a:ahLst/>
            <a:cxnLst/>
            <a:rect l="0" t="0" r="r" b="b"/>
            <a:pathLst>
              <a:path w="3422650" h="279400">
                <a:moveTo>
                  <a:pt x="63500" y="0"/>
                </a:moveTo>
                <a:lnTo>
                  <a:pt x="3359150" y="0"/>
                </a:lnTo>
                <a:cubicBezTo>
                  <a:pt x="3394202" y="0"/>
                  <a:pt x="3422650" y="28448"/>
                  <a:pt x="3422650" y="63500"/>
                </a:cubicBezTo>
                <a:lnTo>
                  <a:pt x="3422650" y="215900"/>
                </a:lnTo>
                <a:cubicBezTo>
                  <a:pt x="3422650" y="250952"/>
                  <a:pt x="3394202" y="279400"/>
                  <a:pt x="3359150" y="279400"/>
                </a:cubicBezTo>
                <a:lnTo>
                  <a:pt x="63500" y="279400"/>
                </a:lnTo>
                <a:cubicBezTo>
                  <a:pt x="28448" y="279400"/>
                  <a:pt x="0" y="250952"/>
                  <a:pt x="0" y="2159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E7ED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band-2-2"/>
          <p:cNvSpPr/>
          <p:nvPr/>
        </p:nvSpPr>
        <p:spPr>
          <a:xfrm>
            <a:off x="6470650" y="2705100"/>
            <a:ext cx="1555750" cy="279400"/>
          </a:xfrm>
          <a:custGeom>
            <a:avLst/>
            <a:gdLst/>
            <a:ahLst/>
            <a:cxnLst/>
            <a:rect l="0" t="0" r="r" b="b"/>
            <a:pathLst>
              <a:path w="1555750" h="279400">
                <a:moveTo>
                  <a:pt x="0" y="0"/>
                </a:moveTo>
                <a:lnTo>
                  <a:pt x="1555750" y="0"/>
                </a:lnTo>
                <a:cubicBezTo>
                  <a:pt x="1555750" y="0"/>
                  <a:pt x="1555750" y="0"/>
                  <a:pt x="1555750" y="0"/>
                </a:cubicBezTo>
                <a:lnTo>
                  <a:pt x="1555750" y="279400"/>
                </a:lnTo>
                <a:cubicBezTo>
                  <a:pt x="1555750" y="279400"/>
                  <a:pt x="1555750" y="279400"/>
                  <a:pt x="1555750" y="279400"/>
                </a:cubicBezTo>
                <a:lnTo>
                  <a:pt x="0" y="279400"/>
                </a:lnTo>
                <a:cubicBezTo>
                  <a:pt x="0" y="279400"/>
                  <a:pt x="0" y="279400"/>
                  <a:pt x="0" y="279400"/>
                </a:cubicBezTo>
                <a:lnTo>
                  <a:pt x="0" y="0"/>
                </a:ln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DBE5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band-2-3"/>
          <p:cNvSpPr/>
          <p:nvPr/>
        </p:nvSpPr>
        <p:spPr>
          <a:xfrm>
            <a:off x="8026400" y="2705100"/>
            <a:ext cx="1244600" cy="279400"/>
          </a:xfrm>
          <a:custGeom>
            <a:avLst/>
            <a:gdLst/>
            <a:ahLst/>
            <a:cxnLst/>
            <a:rect l="0" t="0" r="r" b="b"/>
            <a:pathLst>
              <a:path w="1244600" h="279400">
                <a:moveTo>
                  <a:pt x="63500" y="0"/>
                </a:moveTo>
                <a:lnTo>
                  <a:pt x="1181100" y="0"/>
                </a:lnTo>
                <a:cubicBezTo>
                  <a:pt x="1216152" y="0"/>
                  <a:pt x="1244600" y="28448"/>
                  <a:pt x="1244600" y="63500"/>
                </a:cubicBezTo>
                <a:lnTo>
                  <a:pt x="1244600" y="215900"/>
                </a:lnTo>
                <a:cubicBezTo>
                  <a:pt x="1244600" y="250952"/>
                  <a:pt x="1216152" y="279400"/>
                  <a:pt x="1181100" y="279400"/>
                </a:cubicBezTo>
                <a:lnTo>
                  <a:pt x="63500" y="279400"/>
                </a:lnTo>
                <a:cubicBezTo>
                  <a:pt x="28448" y="279400"/>
                  <a:pt x="0" y="250952"/>
                  <a:pt x="0" y="2159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CEDB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bar-2"/>
          <p:cNvSpPr/>
          <p:nvPr/>
        </p:nvSpPr>
        <p:spPr>
          <a:xfrm>
            <a:off x="3048000" y="2787650"/>
            <a:ext cx="5731383" cy="114300"/>
          </a:xfrm>
          <a:custGeom>
            <a:avLst/>
            <a:gdLst/>
            <a:ahLst/>
            <a:cxnLst/>
            <a:rect l="0" t="0" r="r" b="b"/>
            <a:pathLst>
              <a:path w="5731383" h="114300">
                <a:moveTo>
                  <a:pt x="57150" y="0"/>
                </a:moveTo>
                <a:lnTo>
                  <a:pt x="5674233" y="0"/>
                </a:lnTo>
                <a:cubicBezTo>
                  <a:pt x="5705792" y="0"/>
                  <a:pt x="5731383" y="25590"/>
                  <a:pt x="5731383" y="57150"/>
                </a:cubicBezTo>
                <a:lnTo>
                  <a:pt x="5731383" y="57150"/>
                </a:lnTo>
                <a:cubicBezTo>
                  <a:pt x="5731383" y="88710"/>
                  <a:pt x="5705792" y="114300"/>
                  <a:pt x="5674233" y="114300"/>
                </a:cubicBezTo>
                <a:lnTo>
                  <a:pt x="57150" y="114300"/>
                </a:lnTo>
                <a:cubicBezTo>
                  <a:pt x="25590" y="114300"/>
                  <a:pt x="0" y="88710"/>
                  <a:pt x="0" y="57150"/>
                </a:cubicBezTo>
                <a:lnTo>
                  <a:pt x="0" y="57150"/>
                </a:lnTo>
                <a:cubicBezTo>
                  <a:pt x="0" y="25590"/>
                  <a:pt x="25590" y="0"/>
                  <a:pt x="57150" y="0"/>
                </a:cubicBezTo>
                <a:close/>
              </a:path>
            </a:pathLst>
          </a:custGeom>
          <a:gradFill rotWithShape="1">
            <a:gsLst>
              <a:gs pos="0">
                <a:srgbClr val="4773B2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31" name="prev-2"/>
          <p:cNvCxnSpPr/>
          <p:nvPr/>
        </p:nvCxnSpPr>
        <p:spPr>
          <a:xfrm>
            <a:off x="8866505" y="2717800"/>
            <a:ext cx="0" cy="254000"/>
          </a:xfrm>
          <a:prstGeom prst="line">
            <a:avLst/>
          </a:prstGeom>
          <a:ln w="12700" cap="rnd">
            <a:solidFill>
              <a:srgbClr val="0B2545">
                <a:alpha val="2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gt-2"/>
          <p:cNvSpPr/>
          <p:nvPr/>
        </p:nvSpPr>
        <p:spPr>
          <a:xfrm>
            <a:off x="9130665" y="2667000"/>
            <a:ext cx="31750" cy="3556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nm-2"/>
          <p:cNvSpPr txBox="1"/>
          <p:nvPr/>
        </p:nvSpPr>
        <p:spPr>
          <a:xfrm>
            <a:off x="961136" y="2659570"/>
            <a:ext cx="7226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交付中心</a:t>
            </a:r>
          </a:p>
        </p:txBody>
      </p:sp>
      <p:sp>
        <p:nvSpPr>
          <p:cNvPr id="34" name="nt-2"/>
          <p:cNvSpPr txBox="1"/>
          <p:nvPr/>
        </p:nvSpPr>
        <p:spPr>
          <a:xfrm>
            <a:off x="967232" y="2912808"/>
            <a:ext cx="47218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目标 98%</a:t>
            </a:r>
          </a:p>
        </p:txBody>
      </p:sp>
      <p:sp>
        <p:nvSpPr>
          <p:cNvPr id="35" name="av-2"/>
          <p:cNvSpPr txBox="1"/>
          <p:nvPr/>
        </p:nvSpPr>
        <p:spPr>
          <a:xfrm>
            <a:off x="8407908" y="2765266"/>
            <a:ext cx="3067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92.1</a:t>
            </a:r>
          </a:p>
        </p:txBody>
      </p:sp>
      <p:sp>
        <p:nvSpPr>
          <p:cNvPr id="36" name="rt-2"/>
          <p:cNvSpPr/>
          <p:nvPr/>
        </p:nvSpPr>
        <p:spPr>
          <a:xfrm>
            <a:off x="9652000" y="2705100"/>
            <a:ext cx="952500" cy="279400"/>
          </a:xfrm>
          <a:custGeom>
            <a:avLst/>
            <a:gdLst/>
            <a:ahLst/>
            <a:cxnLst/>
            <a:rect l="0" t="0" r="r" b="b"/>
            <a:pathLst>
              <a:path w="952500" h="279400">
                <a:moveTo>
                  <a:pt x="88900" y="0"/>
                </a:moveTo>
                <a:lnTo>
                  <a:pt x="863600" y="0"/>
                </a:lnTo>
                <a:cubicBezTo>
                  <a:pt x="912686" y="0"/>
                  <a:pt x="952500" y="39814"/>
                  <a:pt x="952500" y="88900"/>
                </a:cubicBezTo>
                <a:lnTo>
                  <a:pt x="952500" y="190500"/>
                </a:lnTo>
                <a:cubicBezTo>
                  <a:pt x="952500" y="239586"/>
                  <a:pt x="912686" y="279400"/>
                  <a:pt x="863600" y="279400"/>
                </a:cubicBezTo>
                <a:lnTo>
                  <a:pt x="88900" y="279400"/>
                </a:lnTo>
                <a:cubicBezTo>
                  <a:pt x="39814" y="279400"/>
                  <a:pt x="0" y="239586"/>
                  <a:pt x="0" y="190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E0703A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rtt-2"/>
          <p:cNvSpPr txBox="1"/>
          <p:nvPr/>
        </p:nvSpPr>
        <p:spPr>
          <a:xfrm>
            <a:off x="9875202" y="2730913"/>
            <a:ext cx="50609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20">
                <a:solidFill>
                  <a:srgbClr val="E0703A"/>
                </a:solidFill>
                <a:latin typeface="Arial"/>
                <a:ea typeface="Arial"/>
                <a:cs typeface="Arial"/>
              </a:rPr>
              <a:t>94.0%</a:t>
            </a:r>
          </a:p>
        </p:txBody>
      </p:sp>
      <p:sp>
        <p:nvSpPr>
          <p:cNvPr id="38" name="rs-2"/>
          <p:cNvSpPr txBox="1"/>
          <p:nvPr/>
        </p:nvSpPr>
        <p:spPr>
          <a:xfrm>
            <a:off x="10695051" y="2775537"/>
            <a:ext cx="36671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2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未达标</a:t>
            </a:r>
          </a:p>
        </p:txBody>
      </p:sp>
      <p:cxnSp>
        <p:nvCxnSpPr>
          <p:cNvPr id="39" name="rl-2"/>
          <p:cNvCxnSpPr/>
          <p:nvPr/>
        </p:nvCxnSpPr>
        <p:spPr>
          <a:xfrm>
            <a:off x="952500" y="31496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band-3-1"/>
          <p:cNvSpPr/>
          <p:nvPr/>
        </p:nvSpPr>
        <p:spPr>
          <a:xfrm>
            <a:off x="3048000" y="3365500"/>
            <a:ext cx="3422650" cy="279400"/>
          </a:xfrm>
          <a:custGeom>
            <a:avLst/>
            <a:gdLst/>
            <a:ahLst/>
            <a:cxnLst/>
            <a:rect l="0" t="0" r="r" b="b"/>
            <a:pathLst>
              <a:path w="3422650" h="279400">
                <a:moveTo>
                  <a:pt x="63500" y="0"/>
                </a:moveTo>
                <a:lnTo>
                  <a:pt x="3359150" y="0"/>
                </a:lnTo>
                <a:cubicBezTo>
                  <a:pt x="3394202" y="0"/>
                  <a:pt x="3422650" y="28448"/>
                  <a:pt x="3422650" y="63500"/>
                </a:cubicBezTo>
                <a:lnTo>
                  <a:pt x="3422650" y="215900"/>
                </a:lnTo>
                <a:cubicBezTo>
                  <a:pt x="3422650" y="250952"/>
                  <a:pt x="3394202" y="279400"/>
                  <a:pt x="3359150" y="279400"/>
                </a:cubicBezTo>
                <a:lnTo>
                  <a:pt x="63500" y="279400"/>
                </a:lnTo>
                <a:cubicBezTo>
                  <a:pt x="28448" y="279400"/>
                  <a:pt x="0" y="250952"/>
                  <a:pt x="0" y="2159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E7ED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band-3-2"/>
          <p:cNvSpPr/>
          <p:nvPr/>
        </p:nvSpPr>
        <p:spPr>
          <a:xfrm>
            <a:off x="6470650" y="3365500"/>
            <a:ext cx="1555750" cy="279400"/>
          </a:xfrm>
          <a:custGeom>
            <a:avLst/>
            <a:gdLst/>
            <a:ahLst/>
            <a:cxnLst/>
            <a:rect l="0" t="0" r="r" b="b"/>
            <a:pathLst>
              <a:path w="1555750" h="279400">
                <a:moveTo>
                  <a:pt x="0" y="0"/>
                </a:moveTo>
                <a:lnTo>
                  <a:pt x="1555750" y="0"/>
                </a:lnTo>
                <a:cubicBezTo>
                  <a:pt x="1555750" y="0"/>
                  <a:pt x="1555750" y="0"/>
                  <a:pt x="1555750" y="0"/>
                </a:cubicBezTo>
                <a:lnTo>
                  <a:pt x="1555750" y="279400"/>
                </a:lnTo>
                <a:cubicBezTo>
                  <a:pt x="1555750" y="279400"/>
                  <a:pt x="1555750" y="279400"/>
                  <a:pt x="1555750" y="279400"/>
                </a:cubicBezTo>
                <a:lnTo>
                  <a:pt x="0" y="279400"/>
                </a:lnTo>
                <a:cubicBezTo>
                  <a:pt x="0" y="279400"/>
                  <a:pt x="0" y="279400"/>
                  <a:pt x="0" y="279400"/>
                </a:cubicBezTo>
                <a:lnTo>
                  <a:pt x="0" y="0"/>
                </a:ln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DBE5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band-3-3"/>
          <p:cNvSpPr/>
          <p:nvPr/>
        </p:nvSpPr>
        <p:spPr>
          <a:xfrm>
            <a:off x="8026400" y="3365500"/>
            <a:ext cx="1244600" cy="279400"/>
          </a:xfrm>
          <a:custGeom>
            <a:avLst/>
            <a:gdLst/>
            <a:ahLst/>
            <a:cxnLst/>
            <a:rect l="0" t="0" r="r" b="b"/>
            <a:pathLst>
              <a:path w="1244600" h="279400">
                <a:moveTo>
                  <a:pt x="63500" y="0"/>
                </a:moveTo>
                <a:lnTo>
                  <a:pt x="1181100" y="0"/>
                </a:lnTo>
                <a:cubicBezTo>
                  <a:pt x="1216152" y="0"/>
                  <a:pt x="1244600" y="28448"/>
                  <a:pt x="1244600" y="63500"/>
                </a:cubicBezTo>
                <a:lnTo>
                  <a:pt x="1244600" y="215900"/>
                </a:lnTo>
                <a:cubicBezTo>
                  <a:pt x="1244600" y="250952"/>
                  <a:pt x="1216152" y="279400"/>
                  <a:pt x="1181100" y="279400"/>
                </a:cubicBezTo>
                <a:lnTo>
                  <a:pt x="63500" y="279400"/>
                </a:lnTo>
                <a:cubicBezTo>
                  <a:pt x="28448" y="279400"/>
                  <a:pt x="0" y="250952"/>
                  <a:pt x="0" y="2159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CEDB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bar-3"/>
          <p:cNvSpPr/>
          <p:nvPr/>
        </p:nvSpPr>
        <p:spPr>
          <a:xfrm>
            <a:off x="3048000" y="3448050"/>
            <a:ext cx="4729480" cy="114300"/>
          </a:xfrm>
          <a:custGeom>
            <a:avLst/>
            <a:gdLst/>
            <a:ahLst/>
            <a:cxnLst/>
            <a:rect l="0" t="0" r="r" b="b"/>
            <a:pathLst>
              <a:path w="4729480" h="114300">
                <a:moveTo>
                  <a:pt x="57150" y="0"/>
                </a:moveTo>
                <a:lnTo>
                  <a:pt x="4672330" y="0"/>
                </a:lnTo>
                <a:cubicBezTo>
                  <a:pt x="4703890" y="0"/>
                  <a:pt x="4729480" y="25590"/>
                  <a:pt x="4729480" y="57150"/>
                </a:cubicBezTo>
                <a:lnTo>
                  <a:pt x="4729480" y="57150"/>
                </a:lnTo>
                <a:cubicBezTo>
                  <a:pt x="4729480" y="88710"/>
                  <a:pt x="4703890" y="114300"/>
                  <a:pt x="4672330" y="114300"/>
                </a:cubicBezTo>
                <a:lnTo>
                  <a:pt x="57150" y="114300"/>
                </a:lnTo>
                <a:cubicBezTo>
                  <a:pt x="25590" y="114300"/>
                  <a:pt x="0" y="88710"/>
                  <a:pt x="0" y="57150"/>
                </a:cubicBezTo>
                <a:lnTo>
                  <a:pt x="0" y="57150"/>
                </a:lnTo>
                <a:cubicBezTo>
                  <a:pt x="0" y="25590"/>
                  <a:pt x="25590" y="0"/>
                  <a:pt x="57150" y="0"/>
                </a:cubicBezTo>
                <a:close/>
              </a:path>
            </a:pathLst>
          </a:custGeom>
          <a:gradFill rotWithShape="1">
            <a:gsLst>
              <a:gs pos="0">
                <a:srgbClr val="4D7EBB"/>
              </a:gs>
              <a:gs pos="100000">
                <a:srgbClr val="1B5AA8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44" name="prev-3"/>
          <p:cNvCxnSpPr/>
          <p:nvPr/>
        </p:nvCxnSpPr>
        <p:spPr>
          <a:xfrm>
            <a:off x="6864773" y="3378200"/>
            <a:ext cx="0" cy="254000"/>
          </a:xfrm>
          <a:prstGeom prst="line">
            <a:avLst/>
          </a:prstGeom>
          <a:ln w="12700" cap="rnd">
            <a:solidFill>
              <a:srgbClr val="0B2545">
                <a:alpha val="2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gt-3"/>
          <p:cNvSpPr/>
          <p:nvPr/>
        </p:nvSpPr>
        <p:spPr>
          <a:xfrm>
            <a:off x="7180792" y="3327400"/>
            <a:ext cx="31750" cy="3556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nm-3"/>
          <p:cNvSpPr txBox="1"/>
          <p:nvPr/>
        </p:nvSpPr>
        <p:spPr>
          <a:xfrm>
            <a:off x="961136" y="3319971"/>
            <a:ext cx="7226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产品研发</a:t>
            </a:r>
          </a:p>
        </p:txBody>
      </p:sp>
      <p:sp>
        <p:nvSpPr>
          <p:cNvPr id="47" name="nt-3"/>
          <p:cNvSpPr txBox="1"/>
          <p:nvPr/>
        </p:nvSpPr>
        <p:spPr>
          <a:xfrm>
            <a:off x="967232" y="3573208"/>
            <a:ext cx="47218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目标 10%</a:t>
            </a:r>
          </a:p>
        </p:txBody>
      </p:sp>
      <p:sp>
        <p:nvSpPr>
          <p:cNvPr id="48" name="av-3"/>
          <p:cNvSpPr txBox="1"/>
          <p:nvPr/>
        </p:nvSpPr>
        <p:spPr>
          <a:xfrm>
            <a:off x="7406005" y="3425666"/>
            <a:ext cx="3067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11.4</a:t>
            </a:r>
          </a:p>
        </p:txBody>
      </p:sp>
      <p:sp>
        <p:nvSpPr>
          <p:cNvPr id="49" name="rt-3"/>
          <p:cNvSpPr/>
          <p:nvPr/>
        </p:nvSpPr>
        <p:spPr>
          <a:xfrm>
            <a:off x="9652000" y="3365500"/>
            <a:ext cx="952500" cy="279400"/>
          </a:xfrm>
          <a:custGeom>
            <a:avLst/>
            <a:gdLst/>
            <a:ahLst/>
            <a:cxnLst/>
            <a:rect l="0" t="0" r="r" b="b"/>
            <a:pathLst>
              <a:path w="952500" h="279400">
                <a:moveTo>
                  <a:pt x="88900" y="0"/>
                </a:moveTo>
                <a:lnTo>
                  <a:pt x="863600" y="0"/>
                </a:lnTo>
                <a:cubicBezTo>
                  <a:pt x="912686" y="0"/>
                  <a:pt x="952500" y="39814"/>
                  <a:pt x="952500" y="88900"/>
                </a:cubicBezTo>
                <a:lnTo>
                  <a:pt x="952500" y="190500"/>
                </a:lnTo>
                <a:cubicBezTo>
                  <a:pt x="952500" y="239586"/>
                  <a:pt x="912686" y="279400"/>
                  <a:pt x="863600" y="279400"/>
                </a:cubicBezTo>
                <a:lnTo>
                  <a:pt x="88900" y="279400"/>
                </a:lnTo>
                <a:cubicBezTo>
                  <a:pt x="39814" y="279400"/>
                  <a:pt x="0" y="239586"/>
                  <a:pt x="0" y="190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rtt-3"/>
          <p:cNvSpPr txBox="1"/>
          <p:nvPr/>
        </p:nvSpPr>
        <p:spPr>
          <a:xfrm>
            <a:off x="9836594" y="3391313"/>
            <a:ext cx="583311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20">
                <a:solidFill>
                  <a:srgbClr val="0B3E8F"/>
                </a:solidFill>
                <a:latin typeface="Arial"/>
                <a:ea typeface="Arial"/>
                <a:cs typeface="Arial"/>
              </a:rPr>
              <a:t>114.0%</a:t>
            </a:r>
          </a:p>
        </p:txBody>
      </p:sp>
      <p:sp>
        <p:nvSpPr>
          <p:cNvPr id="51" name="rs-3"/>
          <p:cNvSpPr txBox="1"/>
          <p:nvPr/>
        </p:nvSpPr>
        <p:spPr>
          <a:xfrm>
            <a:off x="10695051" y="3435937"/>
            <a:ext cx="36671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已达标</a:t>
            </a:r>
          </a:p>
        </p:txBody>
      </p:sp>
      <p:cxnSp>
        <p:nvCxnSpPr>
          <p:cNvPr id="52" name="rl-3"/>
          <p:cNvCxnSpPr/>
          <p:nvPr/>
        </p:nvCxnSpPr>
        <p:spPr>
          <a:xfrm>
            <a:off x="952500" y="38100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band-4-1"/>
          <p:cNvSpPr/>
          <p:nvPr/>
        </p:nvSpPr>
        <p:spPr>
          <a:xfrm>
            <a:off x="3048000" y="4025900"/>
            <a:ext cx="3422650" cy="279400"/>
          </a:xfrm>
          <a:custGeom>
            <a:avLst/>
            <a:gdLst/>
            <a:ahLst/>
            <a:cxnLst/>
            <a:rect l="0" t="0" r="r" b="b"/>
            <a:pathLst>
              <a:path w="3422650" h="279400">
                <a:moveTo>
                  <a:pt x="63500" y="0"/>
                </a:moveTo>
                <a:lnTo>
                  <a:pt x="3359150" y="0"/>
                </a:lnTo>
                <a:cubicBezTo>
                  <a:pt x="3394202" y="0"/>
                  <a:pt x="3422650" y="28448"/>
                  <a:pt x="3422650" y="63500"/>
                </a:cubicBezTo>
                <a:lnTo>
                  <a:pt x="3422650" y="215900"/>
                </a:lnTo>
                <a:cubicBezTo>
                  <a:pt x="3422650" y="250952"/>
                  <a:pt x="3394202" y="279400"/>
                  <a:pt x="3359150" y="279400"/>
                </a:cubicBezTo>
                <a:lnTo>
                  <a:pt x="63500" y="279400"/>
                </a:lnTo>
                <a:cubicBezTo>
                  <a:pt x="28448" y="279400"/>
                  <a:pt x="0" y="250952"/>
                  <a:pt x="0" y="2159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E7ED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band-4-2"/>
          <p:cNvSpPr/>
          <p:nvPr/>
        </p:nvSpPr>
        <p:spPr>
          <a:xfrm>
            <a:off x="6470650" y="4025900"/>
            <a:ext cx="1555750" cy="279400"/>
          </a:xfrm>
          <a:custGeom>
            <a:avLst/>
            <a:gdLst/>
            <a:ahLst/>
            <a:cxnLst/>
            <a:rect l="0" t="0" r="r" b="b"/>
            <a:pathLst>
              <a:path w="1555750" h="279400">
                <a:moveTo>
                  <a:pt x="0" y="0"/>
                </a:moveTo>
                <a:lnTo>
                  <a:pt x="1555750" y="0"/>
                </a:lnTo>
                <a:cubicBezTo>
                  <a:pt x="1555750" y="0"/>
                  <a:pt x="1555750" y="0"/>
                  <a:pt x="1555750" y="0"/>
                </a:cubicBezTo>
                <a:lnTo>
                  <a:pt x="1555750" y="279400"/>
                </a:lnTo>
                <a:cubicBezTo>
                  <a:pt x="1555750" y="279400"/>
                  <a:pt x="1555750" y="279400"/>
                  <a:pt x="1555750" y="279400"/>
                </a:cubicBezTo>
                <a:lnTo>
                  <a:pt x="0" y="279400"/>
                </a:lnTo>
                <a:cubicBezTo>
                  <a:pt x="0" y="279400"/>
                  <a:pt x="0" y="279400"/>
                  <a:pt x="0" y="279400"/>
                </a:cubicBezTo>
                <a:lnTo>
                  <a:pt x="0" y="0"/>
                </a:ln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DBE5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band-4-3"/>
          <p:cNvSpPr/>
          <p:nvPr/>
        </p:nvSpPr>
        <p:spPr>
          <a:xfrm>
            <a:off x="8026400" y="4025900"/>
            <a:ext cx="1244600" cy="279400"/>
          </a:xfrm>
          <a:custGeom>
            <a:avLst/>
            <a:gdLst/>
            <a:ahLst/>
            <a:cxnLst/>
            <a:rect l="0" t="0" r="r" b="b"/>
            <a:pathLst>
              <a:path w="1244600" h="279400">
                <a:moveTo>
                  <a:pt x="63500" y="0"/>
                </a:moveTo>
                <a:lnTo>
                  <a:pt x="1181100" y="0"/>
                </a:lnTo>
                <a:cubicBezTo>
                  <a:pt x="1216152" y="0"/>
                  <a:pt x="1244600" y="28448"/>
                  <a:pt x="1244600" y="63500"/>
                </a:cubicBezTo>
                <a:lnTo>
                  <a:pt x="1244600" y="215900"/>
                </a:lnTo>
                <a:cubicBezTo>
                  <a:pt x="1244600" y="250952"/>
                  <a:pt x="1216152" y="279400"/>
                  <a:pt x="1181100" y="279400"/>
                </a:cubicBezTo>
                <a:lnTo>
                  <a:pt x="63500" y="279400"/>
                </a:lnTo>
                <a:cubicBezTo>
                  <a:pt x="28448" y="279400"/>
                  <a:pt x="0" y="250952"/>
                  <a:pt x="0" y="2159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CEDB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bar-4"/>
          <p:cNvSpPr/>
          <p:nvPr/>
        </p:nvSpPr>
        <p:spPr>
          <a:xfrm>
            <a:off x="3048000" y="4108450"/>
            <a:ext cx="5998972" cy="114300"/>
          </a:xfrm>
          <a:custGeom>
            <a:avLst/>
            <a:gdLst/>
            <a:ahLst/>
            <a:cxnLst/>
            <a:rect l="0" t="0" r="r" b="b"/>
            <a:pathLst>
              <a:path w="5998972" h="114300">
                <a:moveTo>
                  <a:pt x="57150" y="0"/>
                </a:moveTo>
                <a:lnTo>
                  <a:pt x="5941822" y="0"/>
                </a:lnTo>
                <a:cubicBezTo>
                  <a:pt x="5973382" y="0"/>
                  <a:pt x="5998972" y="25590"/>
                  <a:pt x="5998972" y="57150"/>
                </a:cubicBezTo>
                <a:lnTo>
                  <a:pt x="5998972" y="57150"/>
                </a:lnTo>
                <a:cubicBezTo>
                  <a:pt x="5998972" y="88710"/>
                  <a:pt x="5973382" y="114300"/>
                  <a:pt x="5941822" y="114300"/>
                </a:cubicBezTo>
                <a:lnTo>
                  <a:pt x="57150" y="114300"/>
                </a:lnTo>
                <a:cubicBezTo>
                  <a:pt x="25590" y="114300"/>
                  <a:pt x="0" y="88710"/>
                  <a:pt x="0" y="57150"/>
                </a:cubicBezTo>
                <a:lnTo>
                  <a:pt x="0" y="57150"/>
                </a:lnTo>
                <a:cubicBezTo>
                  <a:pt x="0" y="25590"/>
                  <a:pt x="25590" y="0"/>
                  <a:pt x="57150" y="0"/>
                </a:cubicBezTo>
                <a:close/>
              </a:path>
            </a:pathLst>
          </a:custGeom>
          <a:gradFill rotWithShape="1">
            <a:gsLst>
              <a:gs pos="0">
                <a:srgbClr val="5489C6"/>
              </a:gs>
              <a:gs pos="100000">
                <a:srgbClr val="2468B6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57" name="prev-4"/>
          <p:cNvCxnSpPr/>
          <p:nvPr/>
        </p:nvCxnSpPr>
        <p:spPr>
          <a:xfrm>
            <a:off x="8972296" y="4038600"/>
            <a:ext cx="0" cy="254000"/>
          </a:xfrm>
          <a:prstGeom prst="line">
            <a:avLst/>
          </a:prstGeom>
          <a:ln w="12700" cap="rnd">
            <a:solidFill>
              <a:srgbClr val="0B2545">
                <a:alpha val="2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tgt-4"/>
          <p:cNvSpPr/>
          <p:nvPr/>
        </p:nvSpPr>
        <p:spPr>
          <a:xfrm>
            <a:off x="8943975" y="3987800"/>
            <a:ext cx="31750" cy="3556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nm-4"/>
          <p:cNvSpPr txBox="1"/>
          <p:nvPr/>
        </p:nvSpPr>
        <p:spPr>
          <a:xfrm>
            <a:off x="961136" y="3980371"/>
            <a:ext cx="7226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客户成功</a:t>
            </a:r>
          </a:p>
        </p:txBody>
      </p:sp>
      <p:sp>
        <p:nvSpPr>
          <p:cNvPr id="60" name="nt-4"/>
          <p:cNvSpPr txBox="1"/>
          <p:nvPr/>
        </p:nvSpPr>
        <p:spPr>
          <a:xfrm>
            <a:off x="967232" y="4233608"/>
            <a:ext cx="47218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目标 95%</a:t>
            </a:r>
          </a:p>
        </p:txBody>
      </p:sp>
      <p:sp>
        <p:nvSpPr>
          <p:cNvPr id="61" name="av-4"/>
          <p:cNvSpPr txBox="1"/>
          <p:nvPr/>
        </p:nvSpPr>
        <p:spPr>
          <a:xfrm>
            <a:off x="8675497" y="4086066"/>
            <a:ext cx="3067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96.4</a:t>
            </a:r>
          </a:p>
        </p:txBody>
      </p:sp>
      <p:sp>
        <p:nvSpPr>
          <p:cNvPr id="62" name="rt-4"/>
          <p:cNvSpPr/>
          <p:nvPr/>
        </p:nvSpPr>
        <p:spPr>
          <a:xfrm>
            <a:off x="9652000" y="4025900"/>
            <a:ext cx="952500" cy="279400"/>
          </a:xfrm>
          <a:custGeom>
            <a:avLst/>
            <a:gdLst/>
            <a:ahLst/>
            <a:cxnLst/>
            <a:rect l="0" t="0" r="r" b="b"/>
            <a:pathLst>
              <a:path w="952500" h="279400">
                <a:moveTo>
                  <a:pt x="88900" y="0"/>
                </a:moveTo>
                <a:lnTo>
                  <a:pt x="863600" y="0"/>
                </a:lnTo>
                <a:cubicBezTo>
                  <a:pt x="912686" y="0"/>
                  <a:pt x="952500" y="39814"/>
                  <a:pt x="952500" y="88900"/>
                </a:cubicBezTo>
                <a:lnTo>
                  <a:pt x="952500" y="190500"/>
                </a:lnTo>
                <a:cubicBezTo>
                  <a:pt x="952500" y="239586"/>
                  <a:pt x="912686" y="279400"/>
                  <a:pt x="863600" y="279400"/>
                </a:cubicBezTo>
                <a:lnTo>
                  <a:pt x="88900" y="279400"/>
                </a:lnTo>
                <a:cubicBezTo>
                  <a:pt x="39814" y="279400"/>
                  <a:pt x="0" y="239586"/>
                  <a:pt x="0" y="190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rtt-4"/>
          <p:cNvSpPr txBox="1"/>
          <p:nvPr/>
        </p:nvSpPr>
        <p:spPr>
          <a:xfrm>
            <a:off x="9836594" y="4051713"/>
            <a:ext cx="583311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20">
                <a:solidFill>
                  <a:srgbClr val="0B3E8F"/>
                </a:solidFill>
                <a:latin typeface="Arial"/>
                <a:ea typeface="Arial"/>
                <a:cs typeface="Arial"/>
              </a:rPr>
              <a:t>101.5%</a:t>
            </a:r>
          </a:p>
        </p:txBody>
      </p:sp>
      <p:sp>
        <p:nvSpPr>
          <p:cNvPr id="64" name="rs-4"/>
          <p:cNvSpPr txBox="1"/>
          <p:nvPr/>
        </p:nvSpPr>
        <p:spPr>
          <a:xfrm>
            <a:off x="10695051" y="4096337"/>
            <a:ext cx="36671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已达标</a:t>
            </a:r>
          </a:p>
        </p:txBody>
      </p:sp>
      <p:cxnSp>
        <p:nvCxnSpPr>
          <p:cNvPr id="65" name="rl-4"/>
          <p:cNvCxnSpPr/>
          <p:nvPr/>
        </p:nvCxnSpPr>
        <p:spPr>
          <a:xfrm>
            <a:off x="952500" y="44704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" name="band-5-1"/>
          <p:cNvSpPr/>
          <p:nvPr/>
        </p:nvSpPr>
        <p:spPr>
          <a:xfrm>
            <a:off x="3048000" y="4686300"/>
            <a:ext cx="3422650" cy="279400"/>
          </a:xfrm>
          <a:custGeom>
            <a:avLst/>
            <a:gdLst/>
            <a:ahLst/>
            <a:cxnLst/>
            <a:rect l="0" t="0" r="r" b="b"/>
            <a:pathLst>
              <a:path w="3422650" h="279400">
                <a:moveTo>
                  <a:pt x="63500" y="0"/>
                </a:moveTo>
                <a:lnTo>
                  <a:pt x="3359150" y="0"/>
                </a:lnTo>
                <a:cubicBezTo>
                  <a:pt x="3394202" y="0"/>
                  <a:pt x="3422650" y="28448"/>
                  <a:pt x="3422650" y="63500"/>
                </a:cubicBezTo>
                <a:lnTo>
                  <a:pt x="3422650" y="215900"/>
                </a:lnTo>
                <a:cubicBezTo>
                  <a:pt x="3422650" y="250952"/>
                  <a:pt x="3394202" y="279400"/>
                  <a:pt x="3359150" y="279400"/>
                </a:cubicBezTo>
                <a:lnTo>
                  <a:pt x="63500" y="279400"/>
                </a:lnTo>
                <a:cubicBezTo>
                  <a:pt x="28448" y="279400"/>
                  <a:pt x="0" y="250952"/>
                  <a:pt x="0" y="2159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E7ED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band-5-2"/>
          <p:cNvSpPr/>
          <p:nvPr/>
        </p:nvSpPr>
        <p:spPr>
          <a:xfrm>
            <a:off x="6470650" y="4686300"/>
            <a:ext cx="1555750" cy="279400"/>
          </a:xfrm>
          <a:custGeom>
            <a:avLst/>
            <a:gdLst/>
            <a:ahLst/>
            <a:cxnLst/>
            <a:rect l="0" t="0" r="r" b="b"/>
            <a:pathLst>
              <a:path w="1555750" h="279400">
                <a:moveTo>
                  <a:pt x="0" y="0"/>
                </a:moveTo>
                <a:lnTo>
                  <a:pt x="1555750" y="0"/>
                </a:lnTo>
                <a:cubicBezTo>
                  <a:pt x="1555750" y="0"/>
                  <a:pt x="1555750" y="0"/>
                  <a:pt x="1555750" y="0"/>
                </a:cubicBezTo>
                <a:lnTo>
                  <a:pt x="1555750" y="279400"/>
                </a:lnTo>
                <a:cubicBezTo>
                  <a:pt x="1555750" y="279400"/>
                  <a:pt x="1555750" y="279400"/>
                  <a:pt x="1555750" y="279400"/>
                </a:cubicBezTo>
                <a:lnTo>
                  <a:pt x="0" y="279400"/>
                </a:lnTo>
                <a:cubicBezTo>
                  <a:pt x="0" y="279400"/>
                  <a:pt x="0" y="279400"/>
                  <a:pt x="0" y="279400"/>
                </a:cubicBezTo>
                <a:lnTo>
                  <a:pt x="0" y="0"/>
                </a:ln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DBE5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band-5-3"/>
          <p:cNvSpPr/>
          <p:nvPr/>
        </p:nvSpPr>
        <p:spPr>
          <a:xfrm>
            <a:off x="8026400" y="4686300"/>
            <a:ext cx="1244600" cy="279400"/>
          </a:xfrm>
          <a:custGeom>
            <a:avLst/>
            <a:gdLst/>
            <a:ahLst/>
            <a:cxnLst/>
            <a:rect l="0" t="0" r="r" b="b"/>
            <a:pathLst>
              <a:path w="1244600" h="279400">
                <a:moveTo>
                  <a:pt x="63500" y="0"/>
                </a:moveTo>
                <a:lnTo>
                  <a:pt x="1181100" y="0"/>
                </a:lnTo>
                <a:cubicBezTo>
                  <a:pt x="1216152" y="0"/>
                  <a:pt x="1244600" y="28448"/>
                  <a:pt x="1244600" y="63500"/>
                </a:cubicBezTo>
                <a:lnTo>
                  <a:pt x="1244600" y="215900"/>
                </a:lnTo>
                <a:cubicBezTo>
                  <a:pt x="1244600" y="250952"/>
                  <a:pt x="1216152" y="279400"/>
                  <a:pt x="1181100" y="279400"/>
                </a:cubicBezTo>
                <a:lnTo>
                  <a:pt x="63500" y="279400"/>
                </a:lnTo>
                <a:cubicBezTo>
                  <a:pt x="28448" y="279400"/>
                  <a:pt x="0" y="250952"/>
                  <a:pt x="0" y="2159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CEDB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bar-5"/>
          <p:cNvSpPr/>
          <p:nvPr/>
        </p:nvSpPr>
        <p:spPr>
          <a:xfrm>
            <a:off x="3048000" y="4768850"/>
            <a:ext cx="3215196" cy="114300"/>
          </a:xfrm>
          <a:custGeom>
            <a:avLst/>
            <a:gdLst/>
            <a:ahLst/>
            <a:cxnLst/>
            <a:rect l="0" t="0" r="r" b="b"/>
            <a:pathLst>
              <a:path w="3215196" h="114300">
                <a:moveTo>
                  <a:pt x="57150" y="0"/>
                </a:moveTo>
                <a:lnTo>
                  <a:pt x="3158046" y="0"/>
                </a:lnTo>
                <a:cubicBezTo>
                  <a:pt x="3189605" y="0"/>
                  <a:pt x="3215196" y="25590"/>
                  <a:pt x="3215196" y="57150"/>
                </a:cubicBezTo>
                <a:lnTo>
                  <a:pt x="3215196" y="57150"/>
                </a:lnTo>
                <a:cubicBezTo>
                  <a:pt x="3215196" y="88710"/>
                  <a:pt x="3189605" y="114300"/>
                  <a:pt x="3158046" y="114300"/>
                </a:cubicBezTo>
                <a:lnTo>
                  <a:pt x="57150" y="114300"/>
                </a:lnTo>
                <a:cubicBezTo>
                  <a:pt x="25590" y="114300"/>
                  <a:pt x="0" y="88710"/>
                  <a:pt x="0" y="57150"/>
                </a:cubicBezTo>
                <a:lnTo>
                  <a:pt x="0" y="57150"/>
                </a:lnTo>
                <a:cubicBezTo>
                  <a:pt x="0" y="25590"/>
                  <a:pt x="25590" y="0"/>
                  <a:pt x="57150" y="0"/>
                </a:cubicBezTo>
                <a:close/>
              </a:path>
            </a:pathLst>
          </a:custGeom>
          <a:gradFill rotWithShape="1">
            <a:gsLst>
              <a:gs pos="0">
                <a:srgbClr val="5C95CF"/>
              </a:gs>
              <a:gs pos="100000">
                <a:srgbClr val="2E77C2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70" name="prev-5"/>
          <p:cNvCxnSpPr/>
          <p:nvPr/>
        </p:nvCxnSpPr>
        <p:spPr>
          <a:xfrm>
            <a:off x="6055783" y="4699000"/>
            <a:ext cx="0" cy="254000"/>
          </a:xfrm>
          <a:prstGeom prst="line">
            <a:avLst/>
          </a:prstGeom>
          <a:ln w="12700" cap="rnd">
            <a:solidFill>
              <a:srgbClr val="0B2545">
                <a:alpha val="2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tgt-5"/>
          <p:cNvSpPr/>
          <p:nvPr/>
        </p:nvSpPr>
        <p:spPr>
          <a:xfrm>
            <a:off x="7699375" y="4648200"/>
            <a:ext cx="31750" cy="3556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nm-5"/>
          <p:cNvSpPr txBox="1"/>
          <p:nvPr/>
        </p:nvSpPr>
        <p:spPr>
          <a:xfrm>
            <a:off x="961136" y="4640770"/>
            <a:ext cx="573405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供应链</a:t>
            </a:r>
          </a:p>
        </p:txBody>
      </p:sp>
      <p:sp>
        <p:nvSpPr>
          <p:cNvPr id="73" name="nt-5"/>
          <p:cNvSpPr txBox="1"/>
          <p:nvPr/>
        </p:nvSpPr>
        <p:spPr>
          <a:xfrm>
            <a:off x="967232" y="4894008"/>
            <a:ext cx="4589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目标 9次</a:t>
            </a:r>
          </a:p>
        </p:txBody>
      </p:sp>
      <p:sp>
        <p:nvSpPr>
          <p:cNvPr id="74" name="av-5"/>
          <p:cNvSpPr txBox="1"/>
          <p:nvPr/>
        </p:nvSpPr>
        <p:spPr>
          <a:xfrm>
            <a:off x="5946987" y="4746466"/>
            <a:ext cx="25146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6.2</a:t>
            </a:r>
          </a:p>
        </p:txBody>
      </p:sp>
      <p:sp>
        <p:nvSpPr>
          <p:cNvPr id="75" name="rt-5"/>
          <p:cNvSpPr/>
          <p:nvPr/>
        </p:nvSpPr>
        <p:spPr>
          <a:xfrm>
            <a:off x="9652000" y="4686300"/>
            <a:ext cx="952500" cy="279400"/>
          </a:xfrm>
          <a:custGeom>
            <a:avLst/>
            <a:gdLst/>
            <a:ahLst/>
            <a:cxnLst/>
            <a:rect l="0" t="0" r="r" b="b"/>
            <a:pathLst>
              <a:path w="952500" h="279400">
                <a:moveTo>
                  <a:pt x="88900" y="0"/>
                </a:moveTo>
                <a:lnTo>
                  <a:pt x="863600" y="0"/>
                </a:lnTo>
                <a:cubicBezTo>
                  <a:pt x="912686" y="0"/>
                  <a:pt x="952500" y="39814"/>
                  <a:pt x="952500" y="88900"/>
                </a:cubicBezTo>
                <a:lnTo>
                  <a:pt x="952500" y="190500"/>
                </a:lnTo>
                <a:cubicBezTo>
                  <a:pt x="952500" y="239586"/>
                  <a:pt x="912686" y="279400"/>
                  <a:pt x="863600" y="279400"/>
                </a:cubicBezTo>
                <a:lnTo>
                  <a:pt x="88900" y="279400"/>
                </a:lnTo>
                <a:cubicBezTo>
                  <a:pt x="39814" y="279400"/>
                  <a:pt x="0" y="239586"/>
                  <a:pt x="0" y="190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E0703A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rtt-5"/>
          <p:cNvSpPr txBox="1"/>
          <p:nvPr/>
        </p:nvSpPr>
        <p:spPr>
          <a:xfrm>
            <a:off x="9875202" y="4712113"/>
            <a:ext cx="50609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20">
                <a:solidFill>
                  <a:srgbClr val="E0703A"/>
                </a:solidFill>
                <a:latin typeface="Arial"/>
                <a:ea typeface="Arial"/>
                <a:cs typeface="Arial"/>
              </a:rPr>
              <a:t>68.9%</a:t>
            </a:r>
          </a:p>
        </p:txBody>
      </p:sp>
      <p:sp>
        <p:nvSpPr>
          <p:cNvPr id="77" name="rs-5"/>
          <p:cNvSpPr txBox="1"/>
          <p:nvPr/>
        </p:nvSpPr>
        <p:spPr>
          <a:xfrm>
            <a:off x="10695051" y="4756737"/>
            <a:ext cx="36671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2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未达标</a:t>
            </a:r>
          </a:p>
        </p:txBody>
      </p:sp>
      <p:cxnSp>
        <p:nvCxnSpPr>
          <p:cNvPr id="78" name="rl-5"/>
          <p:cNvCxnSpPr/>
          <p:nvPr/>
        </p:nvCxnSpPr>
        <p:spPr>
          <a:xfrm>
            <a:off x="952500" y="51308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band-6-1"/>
          <p:cNvSpPr/>
          <p:nvPr/>
        </p:nvSpPr>
        <p:spPr>
          <a:xfrm>
            <a:off x="3048000" y="5346700"/>
            <a:ext cx="3422650" cy="279400"/>
          </a:xfrm>
          <a:custGeom>
            <a:avLst/>
            <a:gdLst/>
            <a:ahLst/>
            <a:cxnLst/>
            <a:rect l="0" t="0" r="r" b="b"/>
            <a:pathLst>
              <a:path w="3422650" h="279400">
                <a:moveTo>
                  <a:pt x="63500" y="0"/>
                </a:moveTo>
                <a:lnTo>
                  <a:pt x="3359150" y="0"/>
                </a:lnTo>
                <a:cubicBezTo>
                  <a:pt x="3394202" y="0"/>
                  <a:pt x="3422650" y="28448"/>
                  <a:pt x="3422650" y="63500"/>
                </a:cubicBezTo>
                <a:lnTo>
                  <a:pt x="3422650" y="215900"/>
                </a:lnTo>
                <a:cubicBezTo>
                  <a:pt x="3422650" y="250952"/>
                  <a:pt x="3394202" y="279400"/>
                  <a:pt x="3359150" y="279400"/>
                </a:cubicBezTo>
                <a:lnTo>
                  <a:pt x="63500" y="279400"/>
                </a:lnTo>
                <a:cubicBezTo>
                  <a:pt x="28448" y="279400"/>
                  <a:pt x="0" y="250952"/>
                  <a:pt x="0" y="2159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E7ED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band-6-2"/>
          <p:cNvSpPr/>
          <p:nvPr/>
        </p:nvSpPr>
        <p:spPr>
          <a:xfrm>
            <a:off x="6470650" y="5346700"/>
            <a:ext cx="1555750" cy="279400"/>
          </a:xfrm>
          <a:custGeom>
            <a:avLst/>
            <a:gdLst/>
            <a:ahLst/>
            <a:cxnLst/>
            <a:rect l="0" t="0" r="r" b="b"/>
            <a:pathLst>
              <a:path w="1555750" h="279400">
                <a:moveTo>
                  <a:pt x="0" y="0"/>
                </a:moveTo>
                <a:lnTo>
                  <a:pt x="1555750" y="0"/>
                </a:lnTo>
                <a:cubicBezTo>
                  <a:pt x="1555750" y="0"/>
                  <a:pt x="1555750" y="0"/>
                  <a:pt x="1555750" y="0"/>
                </a:cubicBezTo>
                <a:lnTo>
                  <a:pt x="1555750" y="279400"/>
                </a:lnTo>
                <a:cubicBezTo>
                  <a:pt x="1555750" y="279400"/>
                  <a:pt x="1555750" y="279400"/>
                  <a:pt x="1555750" y="279400"/>
                </a:cubicBezTo>
                <a:lnTo>
                  <a:pt x="0" y="279400"/>
                </a:lnTo>
                <a:cubicBezTo>
                  <a:pt x="0" y="279400"/>
                  <a:pt x="0" y="279400"/>
                  <a:pt x="0" y="279400"/>
                </a:cubicBezTo>
                <a:lnTo>
                  <a:pt x="0" y="0"/>
                </a:ln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DBE5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band-6-3"/>
          <p:cNvSpPr/>
          <p:nvPr/>
        </p:nvSpPr>
        <p:spPr>
          <a:xfrm>
            <a:off x="8026400" y="5346700"/>
            <a:ext cx="1244600" cy="279400"/>
          </a:xfrm>
          <a:custGeom>
            <a:avLst/>
            <a:gdLst/>
            <a:ahLst/>
            <a:cxnLst/>
            <a:rect l="0" t="0" r="r" b="b"/>
            <a:pathLst>
              <a:path w="1244600" h="279400">
                <a:moveTo>
                  <a:pt x="63500" y="0"/>
                </a:moveTo>
                <a:lnTo>
                  <a:pt x="1181100" y="0"/>
                </a:lnTo>
                <a:cubicBezTo>
                  <a:pt x="1216152" y="0"/>
                  <a:pt x="1244600" y="28448"/>
                  <a:pt x="1244600" y="63500"/>
                </a:cubicBezTo>
                <a:lnTo>
                  <a:pt x="1244600" y="215900"/>
                </a:lnTo>
                <a:cubicBezTo>
                  <a:pt x="1244600" y="250952"/>
                  <a:pt x="1216152" y="279400"/>
                  <a:pt x="1181100" y="279400"/>
                </a:cubicBezTo>
                <a:lnTo>
                  <a:pt x="63500" y="279400"/>
                </a:lnTo>
                <a:cubicBezTo>
                  <a:pt x="28448" y="279400"/>
                  <a:pt x="0" y="250952"/>
                  <a:pt x="0" y="2159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CEDB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bar-6"/>
          <p:cNvSpPr/>
          <p:nvPr/>
        </p:nvSpPr>
        <p:spPr>
          <a:xfrm>
            <a:off x="3048000" y="5429250"/>
            <a:ext cx="4485767" cy="114300"/>
          </a:xfrm>
          <a:custGeom>
            <a:avLst/>
            <a:gdLst/>
            <a:ahLst/>
            <a:cxnLst/>
            <a:rect l="0" t="0" r="r" b="b"/>
            <a:pathLst>
              <a:path w="4485767" h="114300">
                <a:moveTo>
                  <a:pt x="57150" y="0"/>
                </a:moveTo>
                <a:lnTo>
                  <a:pt x="4428617" y="0"/>
                </a:lnTo>
                <a:cubicBezTo>
                  <a:pt x="4460177" y="0"/>
                  <a:pt x="4485767" y="25590"/>
                  <a:pt x="4485767" y="57150"/>
                </a:cubicBezTo>
                <a:lnTo>
                  <a:pt x="4485767" y="57150"/>
                </a:lnTo>
                <a:cubicBezTo>
                  <a:pt x="4485767" y="88710"/>
                  <a:pt x="4460177" y="114300"/>
                  <a:pt x="4428617" y="114300"/>
                </a:cubicBezTo>
                <a:lnTo>
                  <a:pt x="57150" y="114300"/>
                </a:lnTo>
                <a:cubicBezTo>
                  <a:pt x="25590" y="114300"/>
                  <a:pt x="0" y="88710"/>
                  <a:pt x="0" y="57150"/>
                </a:cubicBezTo>
                <a:lnTo>
                  <a:pt x="0" y="57150"/>
                </a:lnTo>
                <a:cubicBezTo>
                  <a:pt x="0" y="25590"/>
                  <a:pt x="25590" y="0"/>
                  <a:pt x="57150" y="0"/>
                </a:cubicBezTo>
                <a:close/>
              </a:path>
            </a:pathLst>
          </a:custGeom>
          <a:gradFill rotWithShape="1">
            <a:gsLst>
              <a:gs pos="0">
                <a:srgbClr val="65A0D8"/>
              </a:gs>
              <a:gs pos="100000">
                <a:srgbClr val="3985CD"/>
              </a:gs>
            </a:gsLst>
            <a:lin ang="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83" name="prev-6"/>
          <p:cNvCxnSpPr/>
          <p:nvPr/>
        </p:nvCxnSpPr>
        <p:spPr>
          <a:xfrm>
            <a:off x="6916632" y="5359400"/>
            <a:ext cx="0" cy="254000"/>
          </a:xfrm>
          <a:prstGeom prst="line">
            <a:avLst/>
          </a:prstGeom>
          <a:ln w="12700" cap="rnd">
            <a:solidFill>
              <a:srgbClr val="0B2545">
                <a:alpha val="2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tgt-6"/>
          <p:cNvSpPr/>
          <p:nvPr/>
        </p:nvSpPr>
        <p:spPr>
          <a:xfrm>
            <a:off x="7180792" y="5308600"/>
            <a:ext cx="31750" cy="3556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nm-6"/>
          <p:cNvSpPr txBox="1"/>
          <p:nvPr/>
        </p:nvSpPr>
        <p:spPr>
          <a:xfrm>
            <a:off x="961136" y="5301170"/>
            <a:ext cx="7226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职能后台</a:t>
            </a:r>
          </a:p>
        </p:txBody>
      </p:sp>
      <p:sp>
        <p:nvSpPr>
          <p:cNvPr id="86" name="nt-6"/>
          <p:cNvSpPr txBox="1"/>
          <p:nvPr/>
        </p:nvSpPr>
        <p:spPr>
          <a:xfrm>
            <a:off x="967232" y="5554408"/>
            <a:ext cx="60274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目标 80万元</a:t>
            </a:r>
          </a:p>
        </p:txBody>
      </p:sp>
      <p:sp>
        <p:nvSpPr>
          <p:cNvPr id="87" name="av-6"/>
          <p:cNvSpPr txBox="1"/>
          <p:nvPr/>
        </p:nvSpPr>
        <p:spPr>
          <a:xfrm>
            <a:off x="7162271" y="5406866"/>
            <a:ext cx="3067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86.5</a:t>
            </a:r>
          </a:p>
        </p:txBody>
      </p:sp>
      <p:sp>
        <p:nvSpPr>
          <p:cNvPr id="88" name="rt-6"/>
          <p:cNvSpPr/>
          <p:nvPr/>
        </p:nvSpPr>
        <p:spPr>
          <a:xfrm>
            <a:off x="9652000" y="5346700"/>
            <a:ext cx="952500" cy="279400"/>
          </a:xfrm>
          <a:custGeom>
            <a:avLst/>
            <a:gdLst/>
            <a:ahLst/>
            <a:cxnLst/>
            <a:rect l="0" t="0" r="r" b="b"/>
            <a:pathLst>
              <a:path w="952500" h="279400">
                <a:moveTo>
                  <a:pt x="88900" y="0"/>
                </a:moveTo>
                <a:lnTo>
                  <a:pt x="863600" y="0"/>
                </a:lnTo>
                <a:cubicBezTo>
                  <a:pt x="912686" y="0"/>
                  <a:pt x="952500" y="39814"/>
                  <a:pt x="952500" y="88900"/>
                </a:cubicBezTo>
                <a:lnTo>
                  <a:pt x="952500" y="190500"/>
                </a:lnTo>
                <a:cubicBezTo>
                  <a:pt x="952500" y="239586"/>
                  <a:pt x="912686" y="279400"/>
                  <a:pt x="863600" y="279400"/>
                </a:cubicBezTo>
                <a:lnTo>
                  <a:pt x="88900" y="279400"/>
                </a:lnTo>
                <a:cubicBezTo>
                  <a:pt x="39814" y="279400"/>
                  <a:pt x="0" y="239586"/>
                  <a:pt x="0" y="190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rtt-6"/>
          <p:cNvSpPr txBox="1"/>
          <p:nvPr/>
        </p:nvSpPr>
        <p:spPr>
          <a:xfrm>
            <a:off x="9836594" y="5372513"/>
            <a:ext cx="583311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50" b="1" spc="20">
                <a:solidFill>
                  <a:srgbClr val="0B3E8F"/>
                </a:solidFill>
                <a:latin typeface="Arial"/>
                <a:ea typeface="Arial"/>
                <a:cs typeface="Arial"/>
              </a:rPr>
              <a:t>108.1%</a:t>
            </a:r>
          </a:p>
        </p:txBody>
      </p:sp>
      <p:sp>
        <p:nvSpPr>
          <p:cNvPr id="90" name="rs-6"/>
          <p:cNvSpPr txBox="1"/>
          <p:nvPr/>
        </p:nvSpPr>
        <p:spPr>
          <a:xfrm>
            <a:off x="10695051" y="5417137"/>
            <a:ext cx="36671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已达标</a:t>
            </a:r>
          </a:p>
        </p:txBody>
      </p:sp>
      <p:sp>
        <p:nvSpPr>
          <p:cNvPr id="91" name="lg-bar"/>
          <p:cNvSpPr/>
          <p:nvPr/>
        </p:nvSpPr>
        <p:spPr>
          <a:xfrm>
            <a:off x="952500" y="5854700"/>
            <a:ext cx="254000" cy="114300"/>
          </a:xfrm>
          <a:custGeom>
            <a:avLst/>
            <a:gdLst/>
            <a:ahLst/>
            <a:cxnLst/>
            <a:rect l="0" t="0" r="r" b="b"/>
            <a:pathLst>
              <a:path w="254000" h="114300">
                <a:moveTo>
                  <a:pt x="57150" y="0"/>
                </a:moveTo>
                <a:lnTo>
                  <a:pt x="196850" y="0"/>
                </a:lnTo>
                <a:cubicBezTo>
                  <a:pt x="228410" y="0"/>
                  <a:pt x="254000" y="25590"/>
                  <a:pt x="254000" y="57150"/>
                </a:cubicBezTo>
                <a:lnTo>
                  <a:pt x="254000" y="57150"/>
                </a:lnTo>
                <a:cubicBezTo>
                  <a:pt x="254000" y="88710"/>
                  <a:pt x="228410" y="114300"/>
                  <a:pt x="196850" y="114300"/>
                </a:cubicBezTo>
                <a:lnTo>
                  <a:pt x="57150" y="114300"/>
                </a:lnTo>
                <a:cubicBezTo>
                  <a:pt x="25591" y="114300"/>
                  <a:pt x="0" y="88710"/>
                  <a:pt x="0" y="57150"/>
                </a:cubicBezTo>
                <a:lnTo>
                  <a:pt x="0" y="57150"/>
                </a:lnTo>
                <a:cubicBezTo>
                  <a:pt x="0" y="25590"/>
                  <a:pt x="25591" y="0"/>
                  <a:pt x="571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lgt-bar"/>
          <p:cNvSpPr txBox="1"/>
          <p:nvPr/>
        </p:nvSpPr>
        <p:spPr>
          <a:xfrm>
            <a:off x="1271651" y="5829887"/>
            <a:ext cx="36671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实际值</a:t>
            </a:r>
          </a:p>
        </p:txBody>
      </p:sp>
      <p:sp>
        <p:nvSpPr>
          <p:cNvPr id="93" name="lg-tgt"/>
          <p:cNvSpPr/>
          <p:nvPr/>
        </p:nvSpPr>
        <p:spPr>
          <a:xfrm>
            <a:off x="2273300" y="5803900"/>
            <a:ext cx="31750" cy="2159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lgt-tgt"/>
          <p:cNvSpPr txBox="1"/>
          <p:nvPr/>
        </p:nvSpPr>
        <p:spPr>
          <a:xfrm>
            <a:off x="2478151" y="5829887"/>
            <a:ext cx="36671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目标线</a:t>
            </a:r>
          </a:p>
        </p:txBody>
      </p:sp>
      <p:cxnSp>
        <p:nvCxnSpPr>
          <p:cNvPr id="95" name="lg-prev"/>
          <p:cNvCxnSpPr/>
          <p:nvPr/>
        </p:nvCxnSpPr>
        <p:spPr>
          <a:xfrm>
            <a:off x="3492500" y="5816600"/>
            <a:ext cx="0" cy="190500"/>
          </a:xfrm>
          <a:prstGeom prst="line">
            <a:avLst/>
          </a:prstGeom>
          <a:ln w="12700" cap="rnd">
            <a:solidFill>
              <a:srgbClr val="0B2545">
                <a:alpha val="3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lgt-prev"/>
          <p:cNvSpPr txBox="1"/>
          <p:nvPr/>
        </p:nvSpPr>
        <p:spPr>
          <a:xfrm>
            <a:off x="3684651" y="5829887"/>
            <a:ext cx="46132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上年同期</a:t>
            </a:r>
          </a:p>
        </p:txBody>
      </p:sp>
      <p:sp>
        <p:nvSpPr>
          <p:cNvPr id="97" name="lg-band-1"/>
          <p:cNvSpPr/>
          <p:nvPr/>
        </p:nvSpPr>
        <p:spPr>
          <a:xfrm>
            <a:off x="4572000" y="5854700"/>
            <a:ext cx="127000" cy="114300"/>
          </a:xfrm>
          <a:custGeom>
            <a:avLst/>
            <a:gdLst/>
            <a:ahLst/>
            <a:cxnLst/>
            <a:rect l="0" t="0" r="r" b="b"/>
            <a:pathLst>
              <a:path w="127000" h="114300">
                <a:moveTo>
                  <a:pt x="31750" y="0"/>
                </a:moveTo>
                <a:lnTo>
                  <a:pt x="95250" y="0"/>
                </a:lnTo>
                <a:cubicBezTo>
                  <a:pt x="112776" y="0"/>
                  <a:pt x="127000" y="14224"/>
                  <a:pt x="127000" y="31750"/>
                </a:cubicBezTo>
                <a:lnTo>
                  <a:pt x="127000" y="82550"/>
                </a:lnTo>
                <a:cubicBezTo>
                  <a:pt x="127000" y="100076"/>
                  <a:pt x="112776" y="114300"/>
                  <a:pt x="95250" y="114300"/>
                </a:cubicBezTo>
                <a:lnTo>
                  <a:pt x="31750" y="114300"/>
                </a:lnTo>
                <a:cubicBezTo>
                  <a:pt x="14224" y="114300"/>
                  <a:pt x="0" y="100076"/>
                  <a:pt x="0" y="825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E7ED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lg-band-2"/>
          <p:cNvSpPr/>
          <p:nvPr/>
        </p:nvSpPr>
        <p:spPr>
          <a:xfrm>
            <a:off x="4711700" y="5854700"/>
            <a:ext cx="127000" cy="114300"/>
          </a:xfrm>
          <a:custGeom>
            <a:avLst/>
            <a:gdLst/>
            <a:ahLst/>
            <a:cxnLst/>
            <a:rect l="0" t="0" r="r" b="b"/>
            <a:pathLst>
              <a:path w="127000" h="114300">
                <a:moveTo>
                  <a:pt x="31750" y="0"/>
                </a:moveTo>
                <a:lnTo>
                  <a:pt x="95250" y="0"/>
                </a:lnTo>
                <a:cubicBezTo>
                  <a:pt x="112776" y="0"/>
                  <a:pt x="127000" y="14224"/>
                  <a:pt x="127000" y="31750"/>
                </a:cubicBezTo>
                <a:lnTo>
                  <a:pt x="127000" y="82550"/>
                </a:lnTo>
                <a:cubicBezTo>
                  <a:pt x="127000" y="100076"/>
                  <a:pt x="112776" y="114300"/>
                  <a:pt x="95250" y="114300"/>
                </a:cubicBezTo>
                <a:lnTo>
                  <a:pt x="31750" y="114300"/>
                </a:lnTo>
                <a:cubicBezTo>
                  <a:pt x="14224" y="114300"/>
                  <a:pt x="0" y="100076"/>
                  <a:pt x="0" y="825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DBE5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9" name="lg-band-3"/>
          <p:cNvSpPr/>
          <p:nvPr/>
        </p:nvSpPr>
        <p:spPr>
          <a:xfrm>
            <a:off x="4851400" y="5854700"/>
            <a:ext cx="127000" cy="114300"/>
          </a:xfrm>
          <a:custGeom>
            <a:avLst/>
            <a:gdLst/>
            <a:ahLst/>
            <a:cxnLst/>
            <a:rect l="0" t="0" r="r" b="b"/>
            <a:pathLst>
              <a:path w="127000" h="114300">
                <a:moveTo>
                  <a:pt x="31750" y="0"/>
                </a:moveTo>
                <a:lnTo>
                  <a:pt x="95250" y="0"/>
                </a:lnTo>
                <a:cubicBezTo>
                  <a:pt x="112776" y="0"/>
                  <a:pt x="127000" y="14224"/>
                  <a:pt x="127000" y="31750"/>
                </a:cubicBezTo>
                <a:lnTo>
                  <a:pt x="127000" y="82550"/>
                </a:lnTo>
                <a:cubicBezTo>
                  <a:pt x="127000" y="100076"/>
                  <a:pt x="112776" y="114300"/>
                  <a:pt x="95250" y="114300"/>
                </a:cubicBezTo>
                <a:lnTo>
                  <a:pt x="31750" y="114300"/>
                </a:lnTo>
                <a:cubicBezTo>
                  <a:pt x="14224" y="114300"/>
                  <a:pt x="0" y="100076"/>
                  <a:pt x="0" y="825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CEDB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lgt-band"/>
          <p:cNvSpPr txBox="1"/>
          <p:nvPr/>
        </p:nvSpPr>
        <p:spPr>
          <a:xfrm>
            <a:off x="5030851" y="5829887"/>
            <a:ext cx="116440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及格 / 良好 / 优秀区间</a:t>
            </a:r>
          </a:p>
        </p:txBody>
      </p:sp>
      <p:sp>
        <p:nvSpPr>
          <p:cNvPr id="101" name="con-bar"/>
          <p:cNvSpPr/>
          <p:nvPr/>
        </p:nvSpPr>
        <p:spPr>
          <a:xfrm>
            <a:off x="7493000" y="5753100"/>
            <a:ext cx="25400" cy="3302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2" name="con-h"/>
          <p:cNvSpPr txBox="1"/>
          <p:nvPr/>
        </p:nvSpPr>
        <p:spPr>
          <a:xfrm>
            <a:off x="7645146" y="5759482"/>
            <a:ext cx="57467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9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达成情况</a:t>
            </a:r>
          </a:p>
        </p:txBody>
      </p:sp>
      <p:sp>
        <p:nvSpPr>
          <p:cNvPr id="103" name="con-p"/>
          <p:cNvSpPr txBox="1"/>
          <p:nvPr/>
        </p:nvSpPr>
        <p:spPr>
          <a:xfrm>
            <a:off x="7644765" y="5920661"/>
            <a:ext cx="281082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6 个部门中 4 个达标，交付中心与供应链缺口最大。</a:t>
            </a:r>
          </a:p>
        </p:txBody>
      </p:sp>
      <p:cxnSp>
        <p:nvCxnSpPr>
          <p:cNvPr id="104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" name="foot-l"/>
          <p:cNvSpPr txBox="1"/>
          <p:nvPr/>
        </p:nvSpPr>
        <p:spPr>
          <a:xfrm>
            <a:off x="573532" y="6532308"/>
            <a:ext cx="9469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子弹图 · 六个部门</a:t>
            </a:r>
          </a:p>
        </p:txBody>
      </p:sp>
      <p:sp>
        <p:nvSpPr>
          <p:cNvPr id="106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两年关键指标位移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35483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DUMBBELL CHART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780399" y="673132"/>
            <a:ext cx="2840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左圈为去年，右圈为今年，连杆长度即两年的变化幅度</a:t>
            </a:r>
          </a:p>
        </p:txBody>
      </p:sp>
      <p:sp>
        <p:nvSpPr>
          <p:cNvPr id="10" name="th-1"/>
          <p:cNvSpPr txBox="1"/>
          <p:nvPr/>
        </p:nvSpPr>
        <p:spPr>
          <a:xfrm>
            <a:off x="966851" y="1600787"/>
            <a:ext cx="28987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9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指标</a:t>
            </a:r>
          </a:p>
        </p:txBody>
      </p:sp>
      <p:sp>
        <p:nvSpPr>
          <p:cNvPr id="11" name="th-2"/>
          <p:cNvSpPr txBox="1"/>
          <p:nvPr/>
        </p:nvSpPr>
        <p:spPr>
          <a:xfrm>
            <a:off x="3544951" y="1600787"/>
            <a:ext cx="1063816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9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去年 ● ——— ● 今年</a:t>
            </a:r>
          </a:p>
        </p:txBody>
      </p:sp>
      <p:sp>
        <p:nvSpPr>
          <p:cNvPr id="12" name="th-3"/>
          <p:cNvSpPr txBox="1"/>
          <p:nvPr/>
        </p:nvSpPr>
        <p:spPr>
          <a:xfrm>
            <a:off x="10180161" y="1600787"/>
            <a:ext cx="28987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9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变化</a:t>
            </a:r>
          </a:p>
        </p:txBody>
      </p:sp>
      <p:cxnSp>
        <p:nvCxnSpPr>
          <p:cNvPr id="13" name="th-line"/>
          <p:cNvCxnSpPr/>
          <p:nvPr/>
        </p:nvCxnSpPr>
        <p:spPr>
          <a:xfrm>
            <a:off x="952500" y="18161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1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g-0"/>
          <p:cNvCxnSpPr/>
          <p:nvPr/>
        </p:nvCxnSpPr>
        <p:spPr>
          <a:xfrm>
            <a:off x="3556000" y="1930400"/>
            <a:ext cx="0" cy="37719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g-20"/>
          <p:cNvCxnSpPr/>
          <p:nvPr/>
        </p:nvCxnSpPr>
        <p:spPr>
          <a:xfrm>
            <a:off x="4699000" y="1930400"/>
            <a:ext cx="0" cy="37719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g-40"/>
          <p:cNvCxnSpPr/>
          <p:nvPr/>
        </p:nvCxnSpPr>
        <p:spPr>
          <a:xfrm>
            <a:off x="5842000" y="1930400"/>
            <a:ext cx="0" cy="37719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g-60"/>
          <p:cNvCxnSpPr/>
          <p:nvPr/>
        </p:nvCxnSpPr>
        <p:spPr>
          <a:xfrm>
            <a:off x="6985000" y="1930400"/>
            <a:ext cx="0" cy="37719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g-80"/>
          <p:cNvCxnSpPr/>
          <p:nvPr/>
        </p:nvCxnSpPr>
        <p:spPr>
          <a:xfrm>
            <a:off x="8128000" y="1930400"/>
            <a:ext cx="0" cy="37719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g-100"/>
          <p:cNvCxnSpPr/>
          <p:nvPr/>
        </p:nvCxnSpPr>
        <p:spPr>
          <a:xfrm>
            <a:off x="9271000" y="1930400"/>
            <a:ext cx="0" cy="37719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nm-1"/>
          <p:cNvSpPr txBox="1"/>
          <p:nvPr/>
        </p:nvSpPr>
        <p:spPr>
          <a:xfrm>
            <a:off x="961136" y="1999170"/>
            <a:ext cx="871855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客户满意度</a:t>
            </a:r>
          </a:p>
        </p:txBody>
      </p:sp>
      <p:sp>
        <p:nvSpPr>
          <p:cNvPr id="21" name="nd-1"/>
          <p:cNvSpPr txBox="1"/>
          <p:nvPr/>
        </p:nvSpPr>
        <p:spPr>
          <a:xfrm>
            <a:off x="967232" y="2252408"/>
            <a:ext cx="4483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越高越好</a:t>
            </a:r>
          </a:p>
        </p:txBody>
      </p:sp>
      <p:sp>
        <p:nvSpPr>
          <p:cNvPr id="22" name="bar-1"/>
          <p:cNvSpPr/>
          <p:nvPr/>
        </p:nvSpPr>
        <p:spPr>
          <a:xfrm>
            <a:off x="8482330" y="2139950"/>
            <a:ext cx="480060" cy="88900"/>
          </a:xfrm>
          <a:custGeom>
            <a:avLst/>
            <a:gdLst/>
            <a:ahLst/>
            <a:cxnLst/>
            <a:rect l="0" t="0" r="r" b="b"/>
            <a:pathLst>
              <a:path w="480060" h="88900">
                <a:moveTo>
                  <a:pt x="44450" y="0"/>
                </a:moveTo>
                <a:lnTo>
                  <a:pt x="435610" y="0"/>
                </a:lnTo>
                <a:cubicBezTo>
                  <a:pt x="460185" y="0"/>
                  <a:pt x="480060" y="19875"/>
                  <a:pt x="480060" y="44450"/>
                </a:cubicBezTo>
                <a:lnTo>
                  <a:pt x="480060" y="44450"/>
                </a:lnTo>
                <a:cubicBezTo>
                  <a:pt x="480060" y="69025"/>
                  <a:pt x="460185" y="88900"/>
                  <a:pt x="435610" y="88900"/>
                </a:cubicBezTo>
                <a:lnTo>
                  <a:pt x="44450" y="88900"/>
                </a:lnTo>
                <a:cubicBezTo>
                  <a:pt x="19876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gradFill rotWithShape="1">
            <a:gsLst>
              <a:gs pos="0">
                <a:srgbClr val="C6D7EC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arr-1"/>
          <p:cNvSpPr/>
          <p:nvPr/>
        </p:nvSpPr>
        <p:spPr>
          <a:xfrm>
            <a:off x="9000490" y="2133600"/>
            <a:ext cx="63500" cy="101600"/>
          </a:xfrm>
          <a:custGeom>
            <a:avLst/>
            <a:gdLst/>
            <a:ahLst/>
            <a:cxnLst/>
            <a:rect l="0" t="0" r="r" b="b"/>
            <a:pathLst>
              <a:path w="63500" h="101600">
                <a:moveTo>
                  <a:pt x="0" y="0"/>
                </a:moveTo>
                <a:lnTo>
                  <a:pt x="63500" y="50800"/>
                </a:lnTo>
                <a:lnTo>
                  <a:pt x="0" y="101600"/>
                </a:lnTo>
              </a:path>
            </a:pathLst>
          </a:custGeom>
          <a:noFill/>
          <a:ln w="13970" cap="rnd">
            <a:solidFill>
              <a:srgbClr val="134C9C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old-1"/>
          <p:cNvSpPr/>
          <p:nvPr/>
        </p:nvSpPr>
        <p:spPr>
          <a:xfrm>
            <a:off x="8355330" y="2057400"/>
            <a:ext cx="254000" cy="25400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9DB7D4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oldv-1"/>
          <p:cNvSpPr txBox="1"/>
          <p:nvPr/>
        </p:nvSpPr>
        <p:spPr>
          <a:xfrm>
            <a:off x="8338947" y="2112708"/>
            <a:ext cx="28676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86.2</a:t>
            </a:r>
          </a:p>
        </p:txBody>
      </p:sp>
      <p:sp>
        <p:nvSpPr>
          <p:cNvPr id="26" name="new-1"/>
          <p:cNvSpPr/>
          <p:nvPr/>
        </p:nvSpPr>
        <p:spPr>
          <a:xfrm>
            <a:off x="8816340" y="2038350"/>
            <a:ext cx="292100" cy="292100"/>
          </a:xfrm>
          <a:prstGeom prst="ellipse">
            <a:avLst/>
          </a:prstGeom>
          <a:gradFill rotWithShape="1">
            <a:gsLst>
              <a:gs pos="0">
                <a:srgbClr val="4270B0"/>
              </a:gs>
              <a:gs pos="100000">
                <a:srgbClr val="134C9C"/>
              </a:gs>
            </a:gsLst>
            <a:lin ang="744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newv-1"/>
          <p:cNvSpPr txBox="1"/>
          <p:nvPr/>
        </p:nvSpPr>
        <p:spPr>
          <a:xfrm>
            <a:off x="8809038" y="2104866"/>
            <a:ext cx="3067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94.6</a:t>
            </a:r>
          </a:p>
        </p:txBody>
      </p:sp>
      <p:sp>
        <p:nvSpPr>
          <p:cNvPr id="28" name="dl-1"/>
          <p:cNvSpPr/>
          <p:nvPr/>
        </p:nvSpPr>
        <p:spPr>
          <a:xfrm>
            <a:off x="9652000" y="2032000"/>
            <a:ext cx="1346200" cy="304800"/>
          </a:xfrm>
          <a:custGeom>
            <a:avLst/>
            <a:gdLst/>
            <a:ahLst/>
            <a:cxnLst/>
            <a:rect l="0" t="0" r="r" b="b"/>
            <a:pathLst>
              <a:path w="1346200" h="304800">
                <a:moveTo>
                  <a:pt x="88900" y="0"/>
                </a:moveTo>
                <a:lnTo>
                  <a:pt x="1257300" y="0"/>
                </a:lnTo>
                <a:cubicBezTo>
                  <a:pt x="1306386" y="0"/>
                  <a:pt x="1346200" y="39814"/>
                  <a:pt x="1346200" y="88900"/>
                </a:cubicBezTo>
                <a:lnTo>
                  <a:pt x="1346200" y="215900"/>
                </a:lnTo>
                <a:cubicBezTo>
                  <a:pt x="1346200" y="264986"/>
                  <a:pt x="1306386" y="304800"/>
                  <a:pt x="1257300" y="304800"/>
                </a:cubicBezTo>
                <a:lnTo>
                  <a:pt x="88900" y="304800"/>
                </a:lnTo>
                <a:cubicBezTo>
                  <a:pt x="39814" y="304800"/>
                  <a:pt x="0" y="264986"/>
                  <a:pt x="0" y="215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134C9C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dlv-1"/>
          <p:cNvSpPr txBox="1"/>
          <p:nvPr/>
        </p:nvSpPr>
        <p:spPr>
          <a:xfrm>
            <a:off x="9789160" y="2084705"/>
            <a:ext cx="5384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20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+8.4分</a:t>
            </a:r>
          </a:p>
        </p:txBody>
      </p:sp>
      <p:sp>
        <p:nvSpPr>
          <p:cNvPr id="30" name="dlp-1"/>
          <p:cNvSpPr txBox="1"/>
          <p:nvPr/>
        </p:nvSpPr>
        <p:spPr>
          <a:xfrm>
            <a:off x="10563225" y="2117566"/>
            <a:ext cx="3067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15">
                <a:solidFill>
                  <a:srgbClr val="134C9C"/>
                </a:solidFill>
                <a:latin typeface="Arial"/>
                <a:ea typeface="Arial"/>
                <a:cs typeface="Arial"/>
              </a:rPr>
              <a:t>+10%</a:t>
            </a:r>
          </a:p>
        </p:txBody>
      </p:sp>
      <p:cxnSp>
        <p:nvCxnSpPr>
          <p:cNvPr id="31" name="rl-1"/>
          <p:cNvCxnSpPr/>
          <p:nvPr/>
        </p:nvCxnSpPr>
        <p:spPr>
          <a:xfrm>
            <a:off x="952500" y="24892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nm-2"/>
          <p:cNvSpPr txBox="1"/>
          <p:nvPr/>
        </p:nvSpPr>
        <p:spPr>
          <a:xfrm>
            <a:off x="961136" y="2659570"/>
            <a:ext cx="871855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交付准时率</a:t>
            </a:r>
          </a:p>
        </p:txBody>
      </p:sp>
      <p:sp>
        <p:nvSpPr>
          <p:cNvPr id="33" name="nd-2"/>
          <p:cNvSpPr txBox="1"/>
          <p:nvPr/>
        </p:nvSpPr>
        <p:spPr>
          <a:xfrm>
            <a:off x="967232" y="2912808"/>
            <a:ext cx="4483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越高越好</a:t>
            </a:r>
          </a:p>
        </p:txBody>
      </p:sp>
      <p:sp>
        <p:nvSpPr>
          <p:cNvPr id="34" name="bar-2"/>
          <p:cNvSpPr/>
          <p:nvPr/>
        </p:nvSpPr>
        <p:spPr>
          <a:xfrm>
            <a:off x="8608060" y="2800350"/>
            <a:ext cx="211455" cy="88900"/>
          </a:xfrm>
          <a:custGeom>
            <a:avLst/>
            <a:gdLst/>
            <a:ahLst/>
            <a:cxnLst/>
            <a:rect l="0" t="0" r="r" b="b"/>
            <a:pathLst>
              <a:path w="211455" h="88900">
                <a:moveTo>
                  <a:pt x="44450" y="0"/>
                </a:moveTo>
                <a:lnTo>
                  <a:pt x="167005" y="0"/>
                </a:lnTo>
                <a:cubicBezTo>
                  <a:pt x="191580" y="0"/>
                  <a:pt x="211455" y="19875"/>
                  <a:pt x="211455" y="44450"/>
                </a:cubicBezTo>
                <a:lnTo>
                  <a:pt x="211455" y="44450"/>
                </a:lnTo>
                <a:cubicBezTo>
                  <a:pt x="211455" y="69025"/>
                  <a:pt x="191580" y="88900"/>
                  <a:pt x="167005" y="88900"/>
                </a:cubicBezTo>
                <a:lnTo>
                  <a:pt x="44450" y="88900"/>
                </a:lnTo>
                <a:cubicBezTo>
                  <a:pt x="19876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gradFill rotWithShape="1">
            <a:gsLst>
              <a:gs pos="0">
                <a:srgbClr val="C6D7EC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arr-2"/>
          <p:cNvSpPr/>
          <p:nvPr/>
        </p:nvSpPr>
        <p:spPr>
          <a:xfrm>
            <a:off x="8857615" y="2794000"/>
            <a:ext cx="63500" cy="101600"/>
          </a:xfrm>
          <a:custGeom>
            <a:avLst/>
            <a:gdLst/>
            <a:ahLst/>
            <a:cxnLst/>
            <a:rect l="0" t="0" r="r" b="b"/>
            <a:pathLst>
              <a:path w="63500" h="101600">
                <a:moveTo>
                  <a:pt x="0" y="0"/>
                </a:moveTo>
                <a:lnTo>
                  <a:pt x="63500" y="50800"/>
                </a:lnTo>
                <a:lnTo>
                  <a:pt x="0" y="101600"/>
                </a:lnTo>
              </a:path>
            </a:pathLst>
          </a:custGeom>
          <a:noFill/>
          <a:ln w="13970" cap="rnd">
            <a:solidFill>
              <a:srgbClr val="134C9C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old-2"/>
          <p:cNvSpPr/>
          <p:nvPr/>
        </p:nvSpPr>
        <p:spPr>
          <a:xfrm>
            <a:off x="8481060" y="2717800"/>
            <a:ext cx="254000" cy="25400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9DB7D4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oldv-2"/>
          <p:cNvSpPr txBox="1"/>
          <p:nvPr/>
        </p:nvSpPr>
        <p:spPr>
          <a:xfrm>
            <a:off x="8141462" y="2773108"/>
            <a:ext cx="28676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88.4</a:t>
            </a:r>
          </a:p>
        </p:txBody>
      </p:sp>
      <p:sp>
        <p:nvSpPr>
          <p:cNvPr id="38" name="new-2"/>
          <p:cNvSpPr/>
          <p:nvPr/>
        </p:nvSpPr>
        <p:spPr>
          <a:xfrm>
            <a:off x="8673465" y="2698750"/>
            <a:ext cx="292100" cy="292100"/>
          </a:xfrm>
          <a:prstGeom prst="ellipse">
            <a:avLst/>
          </a:prstGeom>
          <a:gradFill rotWithShape="1">
            <a:gsLst>
              <a:gs pos="0">
                <a:srgbClr val="4270B0"/>
              </a:gs>
              <a:gs pos="100000">
                <a:srgbClr val="134C9C"/>
              </a:gs>
            </a:gsLst>
            <a:lin ang="744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newv-2"/>
          <p:cNvSpPr txBox="1"/>
          <p:nvPr/>
        </p:nvSpPr>
        <p:spPr>
          <a:xfrm>
            <a:off x="8666162" y="2765266"/>
            <a:ext cx="3067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92.1</a:t>
            </a:r>
          </a:p>
        </p:txBody>
      </p:sp>
      <p:sp>
        <p:nvSpPr>
          <p:cNvPr id="40" name="dl-2"/>
          <p:cNvSpPr/>
          <p:nvPr/>
        </p:nvSpPr>
        <p:spPr>
          <a:xfrm>
            <a:off x="9652000" y="2692400"/>
            <a:ext cx="1346200" cy="304800"/>
          </a:xfrm>
          <a:custGeom>
            <a:avLst/>
            <a:gdLst/>
            <a:ahLst/>
            <a:cxnLst/>
            <a:rect l="0" t="0" r="r" b="b"/>
            <a:pathLst>
              <a:path w="1346200" h="304800">
                <a:moveTo>
                  <a:pt x="88900" y="0"/>
                </a:moveTo>
                <a:lnTo>
                  <a:pt x="1257300" y="0"/>
                </a:lnTo>
                <a:cubicBezTo>
                  <a:pt x="1306386" y="0"/>
                  <a:pt x="1346200" y="39814"/>
                  <a:pt x="1346200" y="88900"/>
                </a:cubicBezTo>
                <a:lnTo>
                  <a:pt x="1346200" y="215900"/>
                </a:lnTo>
                <a:cubicBezTo>
                  <a:pt x="1346200" y="264986"/>
                  <a:pt x="1306386" y="304800"/>
                  <a:pt x="1257300" y="304800"/>
                </a:cubicBezTo>
                <a:lnTo>
                  <a:pt x="88900" y="304800"/>
                </a:lnTo>
                <a:cubicBezTo>
                  <a:pt x="39814" y="304800"/>
                  <a:pt x="0" y="264986"/>
                  <a:pt x="0" y="215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134C9C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dlv-2"/>
          <p:cNvSpPr txBox="1"/>
          <p:nvPr/>
        </p:nvSpPr>
        <p:spPr>
          <a:xfrm>
            <a:off x="9789160" y="2745105"/>
            <a:ext cx="4826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20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+3.7%</a:t>
            </a:r>
          </a:p>
        </p:txBody>
      </p:sp>
      <p:sp>
        <p:nvSpPr>
          <p:cNvPr id="42" name="dlp-2"/>
          <p:cNvSpPr txBox="1"/>
          <p:nvPr/>
        </p:nvSpPr>
        <p:spPr>
          <a:xfrm>
            <a:off x="10618470" y="2777966"/>
            <a:ext cx="25146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15">
                <a:solidFill>
                  <a:srgbClr val="134C9C"/>
                </a:solidFill>
                <a:latin typeface="Arial"/>
                <a:ea typeface="Arial"/>
                <a:cs typeface="Arial"/>
              </a:rPr>
              <a:t>+4%</a:t>
            </a:r>
          </a:p>
        </p:txBody>
      </p:sp>
      <p:cxnSp>
        <p:nvCxnSpPr>
          <p:cNvPr id="43" name="rl-2"/>
          <p:cNvCxnSpPr/>
          <p:nvPr/>
        </p:nvCxnSpPr>
        <p:spPr>
          <a:xfrm>
            <a:off x="952500" y="31496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nm-3"/>
          <p:cNvSpPr txBox="1"/>
          <p:nvPr/>
        </p:nvSpPr>
        <p:spPr>
          <a:xfrm>
            <a:off x="961136" y="3319971"/>
            <a:ext cx="7226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人均产值</a:t>
            </a:r>
          </a:p>
        </p:txBody>
      </p:sp>
      <p:sp>
        <p:nvSpPr>
          <p:cNvPr id="45" name="nd-3"/>
          <p:cNvSpPr txBox="1"/>
          <p:nvPr/>
        </p:nvSpPr>
        <p:spPr>
          <a:xfrm>
            <a:off x="967232" y="3573208"/>
            <a:ext cx="4483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越高越好</a:t>
            </a:r>
          </a:p>
        </p:txBody>
      </p:sp>
      <p:sp>
        <p:nvSpPr>
          <p:cNvPr id="46" name="bar-3"/>
          <p:cNvSpPr/>
          <p:nvPr/>
        </p:nvSpPr>
        <p:spPr>
          <a:xfrm>
            <a:off x="7145020" y="3460750"/>
            <a:ext cx="1354455" cy="88900"/>
          </a:xfrm>
          <a:custGeom>
            <a:avLst/>
            <a:gdLst/>
            <a:ahLst/>
            <a:cxnLst/>
            <a:rect l="0" t="0" r="r" b="b"/>
            <a:pathLst>
              <a:path w="1354455" h="88900">
                <a:moveTo>
                  <a:pt x="44450" y="0"/>
                </a:moveTo>
                <a:lnTo>
                  <a:pt x="1310005" y="0"/>
                </a:lnTo>
                <a:cubicBezTo>
                  <a:pt x="1334579" y="0"/>
                  <a:pt x="1354455" y="19875"/>
                  <a:pt x="1354455" y="44450"/>
                </a:cubicBezTo>
                <a:lnTo>
                  <a:pt x="1354455" y="44450"/>
                </a:lnTo>
                <a:cubicBezTo>
                  <a:pt x="1354455" y="69025"/>
                  <a:pt x="1334579" y="88900"/>
                  <a:pt x="1310005" y="88900"/>
                </a:cubicBezTo>
                <a:lnTo>
                  <a:pt x="44450" y="88900"/>
                </a:lnTo>
                <a:cubicBezTo>
                  <a:pt x="19875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gradFill rotWithShape="1">
            <a:gsLst>
              <a:gs pos="0">
                <a:srgbClr val="C6D7EC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arr-3"/>
          <p:cNvSpPr/>
          <p:nvPr/>
        </p:nvSpPr>
        <p:spPr>
          <a:xfrm>
            <a:off x="8537575" y="3454400"/>
            <a:ext cx="63500" cy="101600"/>
          </a:xfrm>
          <a:custGeom>
            <a:avLst/>
            <a:gdLst/>
            <a:ahLst/>
            <a:cxnLst/>
            <a:rect l="0" t="0" r="r" b="b"/>
            <a:pathLst>
              <a:path w="63500" h="101600">
                <a:moveTo>
                  <a:pt x="0" y="0"/>
                </a:moveTo>
                <a:lnTo>
                  <a:pt x="63500" y="50800"/>
                </a:lnTo>
                <a:lnTo>
                  <a:pt x="0" y="101600"/>
                </a:lnTo>
              </a:path>
            </a:pathLst>
          </a:custGeom>
          <a:noFill/>
          <a:ln w="13970" cap="rnd">
            <a:solidFill>
              <a:srgbClr val="134C9C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old-3"/>
          <p:cNvSpPr/>
          <p:nvPr/>
        </p:nvSpPr>
        <p:spPr>
          <a:xfrm>
            <a:off x="7018020" y="3378200"/>
            <a:ext cx="254000" cy="25400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9DB7D4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oldv-3"/>
          <p:cNvSpPr txBox="1"/>
          <p:nvPr/>
        </p:nvSpPr>
        <p:spPr>
          <a:xfrm>
            <a:off x="7001637" y="3433508"/>
            <a:ext cx="28676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62.8</a:t>
            </a:r>
          </a:p>
        </p:txBody>
      </p:sp>
      <p:sp>
        <p:nvSpPr>
          <p:cNvPr id="50" name="new-3"/>
          <p:cNvSpPr/>
          <p:nvPr/>
        </p:nvSpPr>
        <p:spPr>
          <a:xfrm>
            <a:off x="8353425" y="3359150"/>
            <a:ext cx="292100" cy="292100"/>
          </a:xfrm>
          <a:prstGeom prst="ellipse">
            <a:avLst/>
          </a:prstGeom>
          <a:gradFill rotWithShape="1">
            <a:gsLst>
              <a:gs pos="0">
                <a:srgbClr val="4270B0"/>
              </a:gs>
              <a:gs pos="100000">
                <a:srgbClr val="134C9C"/>
              </a:gs>
            </a:gsLst>
            <a:lin ang="744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newv-3"/>
          <p:cNvSpPr txBox="1"/>
          <p:nvPr/>
        </p:nvSpPr>
        <p:spPr>
          <a:xfrm>
            <a:off x="8346122" y="3425666"/>
            <a:ext cx="3067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86.5</a:t>
            </a:r>
          </a:p>
        </p:txBody>
      </p:sp>
      <p:sp>
        <p:nvSpPr>
          <p:cNvPr id="52" name="dl-3"/>
          <p:cNvSpPr/>
          <p:nvPr/>
        </p:nvSpPr>
        <p:spPr>
          <a:xfrm>
            <a:off x="9652000" y="3352800"/>
            <a:ext cx="1346200" cy="304800"/>
          </a:xfrm>
          <a:custGeom>
            <a:avLst/>
            <a:gdLst/>
            <a:ahLst/>
            <a:cxnLst/>
            <a:rect l="0" t="0" r="r" b="b"/>
            <a:pathLst>
              <a:path w="1346200" h="304800">
                <a:moveTo>
                  <a:pt x="88900" y="0"/>
                </a:moveTo>
                <a:lnTo>
                  <a:pt x="1257300" y="0"/>
                </a:lnTo>
                <a:cubicBezTo>
                  <a:pt x="1306386" y="0"/>
                  <a:pt x="1346200" y="39814"/>
                  <a:pt x="1346200" y="88900"/>
                </a:cubicBezTo>
                <a:lnTo>
                  <a:pt x="1346200" y="215900"/>
                </a:lnTo>
                <a:cubicBezTo>
                  <a:pt x="1346200" y="264986"/>
                  <a:pt x="1306386" y="304800"/>
                  <a:pt x="1257300" y="304800"/>
                </a:cubicBezTo>
                <a:lnTo>
                  <a:pt x="88900" y="304800"/>
                </a:lnTo>
                <a:cubicBezTo>
                  <a:pt x="39814" y="304800"/>
                  <a:pt x="0" y="264986"/>
                  <a:pt x="0" y="215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134C9C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dlv-3"/>
          <p:cNvSpPr txBox="1"/>
          <p:nvPr/>
        </p:nvSpPr>
        <p:spPr>
          <a:xfrm>
            <a:off x="9789160" y="3405505"/>
            <a:ext cx="7416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20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+23.7万元</a:t>
            </a:r>
          </a:p>
        </p:txBody>
      </p:sp>
      <p:sp>
        <p:nvSpPr>
          <p:cNvPr id="54" name="dlp-3"/>
          <p:cNvSpPr txBox="1"/>
          <p:nvPr/>
        </p:nvSpPr>
        <p:spPr>
          <a:xfrm>
            <a:off x="10563225" y="3438366"/>
            <a:ext cx="3067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15">
                <a:solidFill>
                  <a:srgbClr val="134C9C"/>
                </a:solidFill>
                <a:latin typeface="Arial"/>
                <a:ea typeface="Arial"/>
                <a:cs typeface="Arial"/>
              </a:rPr>
              <a:t>+38%</a:t>
            </a:r>
          </a:p>
        </p:txBody>
      </p:sp>
      <p:cxnSp>
        <p:nvCxnSpPr>
          <p:cNvPr id="55" name="rl-3"/>
          <p:cNvCxnSpPr/>
          <p:nvPr/>
        </p:nvCxnSpPr>
        <p:spPr>
          <a:xfrm>
            <a:off x="952500" y="38100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6" name="nm-4"/>
          <p:cNvSpPr txBox="1"/>
          <p:nvPr/>
        </p:nvSpPr>
        <p:spPr>
          <a:xfrm>
            <a:off x="961136" y="3980371"/>
            <a:ext cx="102108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新品营收占比</a:t>
            </a:r>
          </a:p>
        </p:txBody>
      </p:sp>
      <p:sp>
        <p:nvSpPr>
          <p:cNvPr id="57" name="nd-4"/>
          <p:cNvSpPr txBox="1"/>
          <p:nvPr/>
        </p:nvSpPr>
        <p:spPr>
          <a:xfrm>
            <a:off x="967232" y="4233608"/>
            <a:ext cx="4483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越高越好</a:t>
            </a:r>
          </a:p>
        </p:txBody>
      </p:sp>
      <p:sp>
        <p:nvSpPr>
          <p:cNvPr id="58" name="bar-4"/>
          <p:cNvSpPr/>
          <p:nvPr/>
        </p:nvSpPr>
        <p:spPr>
          <a:xfrm>
            <a:off x="4093210" y="4121150"/>
            <a:ext cx="525780" cy="88900"/>
          </a:xfrm>
          <a:custGeom>
            <a:avLst/>
            <a:gdLst/>
            <a:ahLst/>
            <a:cxnLst/>
            <a:rect l="0" t="0" r="r" b="b"/>
            <a:pathLst>
              <a:path w="525780" h="88900">
                <a:moveTo>
                  <a:pt x="44450" y="0"/>
                </a:moveTo>
                <a:lnTo>
                  <a:pt x="481330" y="0"/>
                </a:lnTo>
                <a:cubicBezTo>
                  <a:pt x="505904" y="0"/>
                  <a:pt x="525780" y="19875"/>
                  <a:pt x="525780" y="44450"/>
                </a:cubicBezTo>
                <a:lnTo>
                  <a:pt x="525780" y="44450"/>
                </a:lnTo>
                <a:cubicBezTo>
                  <a:pt x="525780" y="69025"/>
                  <a:pt x="505904" y="88900"/>
                  <a:pt x="481330" y="88900"/>
                </a:cubicBezTo>
                <a:lnTo>
                  <a:pt x="44450" y="88900"/>
                </a:lnTo>
                <a:cubicBezTo>
                  <a:pt x="19875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gradFill rotWithShape="1">
            <a:gsLst>
              <a:gs pos="0">
                <a:srgbClr val="C6D7EC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arr-4"/>
          <p:cNvSpPr/>
          <p:nvPr/>
        </p:nvSpPr>
        <p:spPr>
          <a:xfrm>
            <a:off x="4657090" y="4114800"/>
            <a:ext cx="63500" cy="101600"/>
          </a:xfrm>
          <a:custGeom>
            <a:avLst/>
            <a:gdLst/>
            <a:ahLst/>
            <a:cxnLst/>
            <a:rect l="0" t="0" r="r" b="b"/>
            <a:pathLst>
              <a:path w="63500" h="101600">
                <a:moveTo>
                  <a:pt x="0" y="0"/>
                </a:moveTo>
                <a:lnTo>
                  <a:pt x="63500" y="50800"/>
                </a:lnTo>
                <a:lnTo>
                  <a:pt x="0" y="101600"/>
                </a:lnTo>
              </a:path>
            </a:pathLst>
          </a:custGeom>
          <a:noFill/>
          <a:ln w="13970" cap="rnd">
            <a:solidFill>
              <a:srgbClr val="134C9C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old-4"/>
          <p:cNvSpPr/>
          <p:nvPr/>
        </p:nvSpPr>
        <p:spPr>
          <a:xfrm>
            <a:off x="3966210" y="4038600"/>
            <a:ext cx="254000" cy="25400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9DB7D4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oldv-4"/>
          <p:cNvSpPr txBox="1"/>
          <p:nvPr/>
        </p:nvSpPr>
        <p:spPr>
          <a:xfrm>
            <a:off x="3975672" y="4093908"/>
            <a:ext cx="2350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9.4</a:t>
            </a:r>
          </a:p>
        </p:txBody>
      </p:sp>
      <p:sp>
        <p:nvSpPr>
          <p:cNvPr id="62" name="new-4"/>
          <p:cNvSpPr/>
          <p:nvPr/>
        </p:nvSpPr>
        <p:spPr>
          <a:xfrm>
            <a:off x="4472940" y="4019550"/>
            <a:ext cx="292100" cy="292100"/>
          </a:xfrm>
          <a:prstGeom prst="ellipse">
            <a:avLst/>
          </a:prstGeom>
          <a:gradFill rotWithShape="1">
            <a:gsLst>
              <a:gs pos="0">
                <a:srgbClr val="4270B0"/>
              </a:gs>
              <a:gs pos="100000">
                <a:srgbClr val="134C9C"/>
              </a:gs>
            </a:gsLst>
            <a:lin ang="744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newv-4"/>
          <p:cNvSpPr txBox="1"/>
          <p:nvPr/>
        </p:nvSpPr>
        <p:spPr>
          <a:xfrm>
            <a:off x="4465638" y="4086066"/>
            <a:ext cx="3067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18.6</a:t>
            </a:r>
          </a:p>
        </p:txBody>
      </p:sp>
      <p:sp>
        <p:nvSpPr>
          <p:cNvPr id="64" name="dl-4"/>
          <p:cNvSpPr/>
          <p:nvPr/>
        </p:nvSpPr>
        <p:spPr>
          <a:xfrm>
            <a:off x="9652000" y="4013200"/>
            <a:ext cx="1346200" cy="304800"/>
          </a:xfrm>
          <a:custGeom>
            <a:avLst/>
            <a:gdLst/>
            <a:ahLst/>
            <a:cxnLst/>
            <a:rect l="0" t="0" r="r" b="b"/>
            <a:pathLst>
              <a:path w="1346200" h="304800">
                <a:moveTo>
                  <a:pt x="88900" y="0"/>
                </a:moveTo>
                <a:lnTo>
                  <a:pt x="1257300" y="0"/>
                </a:lnTo>
                <a:cubicBezTo>
                  <a:pt x="1306386" y="0"/>
                  <a:pt x="1346200" y="39814"/>
                  <a:pt x="1346200" y="88900"/>
                </a:cubicBezTo>
                <a:lnTo>
                  <a:pt x="1346200" y="215900"/>
                </a:lnTo>
                <a:cubicBezTo>
                  <a:pt x="1346200" y="264986"/>
                  <a:pt x="1306386" y="304800"/>
                  <a:pt x="1257300" y="304800"/>
                </a:cubicBezTo>
                <a:lnTo>
                  <a:pt x="88900" y="304800"/>
                </a:lnTo>
                <a:cubicBezTo>
                  <a:pt x="39814" y="304800"/>
                  <a:pt x="0" y="264986"/>
                  <a:pt x="0" y="215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134C9C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dlv-4"/>
          <p:cNvSpPr txBox="1"/>
          <p:nvPr/>
        </p:nvSpPr>
        <p:spPr>
          <a:xfrm>
            <a:off x="9789160" y="4065905"/>
            <a:ext cx="4826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20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+9.2%</a:t>
            </a:r>
          </a:p>
        </p:txBody>
      </p:sp>
      <p:sp>
        <p:nvSpPr>
          <p:cNvPr id="66" name="dlp-4"/>
          <p:cNvSpPr txBox="1"/>
          <p:nvPr/>
        </p:nvSpPr>
        <p:spPr>
          <a:xfrm>
            <a:off x="10563225" y="4098766"/>
            <a:ext cx="3067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15">
                <a:solidFill>
                  <a:srgbClr val="134C9C"/>
                </a:solidFill>
                <a:latin typeface="Arial"/>
                <a:ea typeface="Arial"/>
                <a:cs typeface="Arial"/>
              </a:rPr>
              <a:t>+98%</a:t>
            </a:r>
          </a:p>
        </p:txBody>
      </p:sp>
      <p:cxnSp>
        <p:nvCxnSpPr>
          <p:cNvPr id="67" name="rl-4"/>
          <p:cNvCxnSpPr/>
          <p:nvPr/>
        </p:nvCxnSpPr>
        <p:spPr>
          <a:xfrm>
            <a:off x="952500" y="44704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8" name="nm-5"/>
          <p:cNvSpPr txBox="1"/>
          <p:nvPr/>
        </p:nvSpPr>
        <p:spPr>
          <a:xfrm>
            <a:off x="961136" y="4640770"/>
            <a:ext cx="102108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平均交付周期</a:t>
            </a:r>
          </a:p>
        </p:txBody>
      </p:sp>
      <p:sp>
        <p:nvSpPr>
          <p:cNvPr id="69" name="nd-5"/>
          <p:cNvSpPr txBox="1"/>
          <p:nvPr/>
        </p:nvSpPr>
        <p:spPr>
          <a:xfrm>
            <a:off x="967232" y="4894008"/>
            <a:ext cx="4483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越低越好</a:t>
            </a:r>
          </a:p>
        </p:txBody>
      </p:sp>
      <p:sp>
        <p:nvSpPr>
          <p:cNvPr id="70" name="bar-5"/>
          <p:cNvSpPr/>
          <p:nvPr/>
        </p:nvSpPr>
        <p:spPr>
          <a:xfrm>
            <a:off x="4584700" y="4781550"/>
            <a:ext cx="800100" cy="88900"/>
          </a:xfrm>
          <a:custGeom>
            <a:avLst/>
            <a:gdLst/>
            <a:ahLst/>
            <a:cxnLst/>
            <a:rect l="0" t="0" r="r" b="b"/>
            <a:pathLst>
              <a:path w="800100" h="88900">
                <a:moveTo>
                  <a:pt x="44450" y="0"/>
                </a:moveTo>
                <a:lnTo>
                  <a:pt x="755650" y="0"/>
                </a:lnTo>
                <a:cubicBezTo>
                  <a:pt x="780224" y="0"/>
                  <a:pt x="800100" y="19875"/>
                  <a:pt x="800100" y="44450"/>
                </a:cubicBezTo>
                <a:lnTo>
                  <a:pt x="800100" y="44450"/>
                </a:lnTo>
                <a:cubicBezTo>
                  <a:pt x="800100" y="69025"/>
                  <a:pt x="780224" y="88900"/>
                  <a:pt x="755650" y="88900"/>
                </a:cubicBezTo>
                <a:lnTo>
                  <a:pt x="44450" y="88900"/>
                </a:lnTo>
                <a:cubicBezTo>
                  <a:pt x="19875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gradFill rotWithShape="1">
            <a:gsLst>
              <a:gs pos="0">
                <a:srgbClr val="C6D7EC"/>
              </a:gs>
              <a:gs pos="100000">
                <a:srgbClr val="134C9C"/>
              </a:gs>
            </a:gsLst>
            <a:lin ang="108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arr-5"/>
          <p:cNvSpPr/>
          <p:nvPr/>
        </p:nvSpPr>
        <p:spPr>
          <a:xfrm>
            <a:off x="4483100" y="4775200"/>
            <a:ext cx="63500" cy="101600"/>
          </a:xfrm>
          <a:custGeom>
            <a:avLst/>
            <a:gdLst/>
            <a:ahLst/>
            <a:cxnLst/>
            <a:rect l="0" t="0" r="r" b="b"/>
            <a:pathLst>
              <a:path w="63500" h="101600">
                <a:moveTo>
                  <a:pt x="63500" y="0"/>
                </a:moveTo>
                <a:lnTo>
                  <a:pt x="0" y="50800"/>
                </a:lnTo>
                <a:lnTo>
                  <a:pt x="63500" y="101600"/>
                </a:lnTo>
              </a:path>
            </a:pathLst>
          </a:custGeom>
          <a:noFill/>
          <a:ln w="13970" cap="rnd">
            <a:solidFill>
              <a:srgbClr val="134C9C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old-5"/>
          <p:cNvSpPr/>
          <p:nvPr/>
        </p:nvSpPr>
        <p:spPr>
          <a:xfrm>
            <a:off x="5257800" y="4699000"/>
            <a:ext cx="254000" cy="25400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9DB7D4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oldv-5"/>
          <p:cNvSpPr txBox="1"/>
          <p:nvPr/>
        </p:nvSpPr>
        <p:spPr>
          <a:xfrm>
            <a:off x="5293106" y="4754308"/>
            <a:ext cx="18338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32</a:t>
            </a:r>
          </a:p>
        </p:txBody>
      </p:sp>
      <p:sp>
        <p:nvSpPr>
          <p:cNvPr id="74" name="new-5"/>
          <p:cNvSpPr/>
          <p:nvPr/>
        </p:nvSpPr>
        <p:spPr>
          <a:xfrm>
            <a:off x="4438650" y="4679950"/>
            <a:ext cx="292100" cy="292100"/>
          </a:xfrm>
          <a:prstGeom prst="ellipse">
            <a:avLst/>
          </a:prstGeom>
          <a:gradFill rotWithShape="1">
            <a:gsLst>
              <a:gs pos="0">
                <a:srgbClr val="4270B0"/>
              </a:gs>
              <a:gs pos="100000">
                <a:srgbClr val="134C9C"/>
              </a:gs>
            </a:gsLst>
            <a:lin ang="744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newv-5"/>
          <p:cNvSpPr txBox="1"/>
          <p:nvPr/>
        </p:nvSpPr>
        <p:spPr>
          <a:xfrm>
            <a:off x="4486592" y="4746466"/>
            <a:ext cx="1962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18</a:t>
            </a:r>
          </a:p>
        </p:txBody>
      </p:sp>
      <p:sp>
        <p:nvSpPr>
          <p:cNvPr id="76" name="dl-5"/>
          <p:cNvSpPr/>
          <p:nvPr/>
        </p:nvSpPr>
        <p:spPr>
          <a:xfrm>
            <a:off x="9652000" y="4673600"/>
            <a:ext cx="1346200" cy="304800"/>
          </a:xfrm>
          <a:custGeom>
            <a:avLst/>
            <a:gdLst/>
            <a:ahLst/>
            <a:cxnLst/>
            <a:rect l="0" t="0" r="r" b="b"/>
            <a:pathLst>
              <a:path w="1346200" h="304800">
                <a:moveTo>
                  <a:pt x="88900" y="0"/>
                </a:moveTo>
                <a:lnTo>
                  <a:pt x="1257300" y="0"/>
                </a:lnTo>
                <a:cubicBezTo>
                  <a:pt x="1306386" y="0"/>
                  <a:pt x="1346200" y="39814"/>
                  <a:pt x="1346200" y="88900"/>
                </a:cubicBezTo>
                <a:lnTo>
                  <a:pt x="1346200" y="215900"/>
                </a:lnTo>
                <a:cubicBezTo>
                  <a:pt x="1346200" y="264986"/>
                  <a:pt x="1306386" y="304800"/>
                  <a:pt x="1257300" y="304800"/>
                </a:cubicBezTo>
                <a:lnTo>
                  <a:pt x="88900" y="304800"/>
                </a:lnTo>
                <a:cubicBezTo>
                  <a:pt x="39814" y="304800"/>
                  <a:pt x="0" y="264986"/>
                  <a:pt x="0" y="215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134C9C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dlv-5"/>
          <p:cNvSpPr txBox="1"/>
          <p:nvPr/>
        </p:nvSpPr>
        <p:spPr>
          <a:xfrm>
            <a:off x="9789160" y="4726305"/>
            <a:ext cx="6121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20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-14.0天</a:t>
            </a:r>
          </a:p>
        </p:txBody>
      </p:sp>
      <p:sp>
        <p:nvSpPr>
          <p:cNvPr id="78" name="dlp-5"/>
          <p:cNvSpPr txBox="1"/>
          <p:nvPr/>
        </p:nvSpPr>
        <p:spPr>
          <a:xfrm>
            <a:off x="10563225" y="4759166"/>
            <a:ext cx="3067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15">
                <a:solidFill>
                  <a:srgbClr val="134C9C"/>
                </a:solidFill>
                <a:latin typeface="Arial"/>
                <a:ea typeface="Arial"/>
                <a:cs typeface="Arial"/>
              </a:rPr>
              <a:t>-44%</a:t>
            </a:r>
          </a:p>
        </p:txBody>
      </p:sp>
      <p:cxnSp>
        <p:nvCxnSpPr>
          <p:cNvPr id="79" name="rl-5"/>
          <p:cNvCxnSpPr/>
          <p:nvPr/>
        </p:nvCxnSpPr>
        <p:spPr>
          <a:xfrm>
            <a:off x="952500" y="51308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0" name="nm-6"/>
          <p:cNvSpPr txBox="1"/>
          <p:nvPr/>
        </p:nvSpPr>
        <p:spPr>
          <a:xfrm>
            <a:off x="961136" y="5301170"/>
            <a:ext cx="573405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客诉率</a:t>
            </a:r>
          </a:p>
        </p:txBody>
      </p:sp>
      <p:sp>
        <p:nvSpPr>
          <p:cNvPr id="81" name="nd-6"/>
          <p:cNvSpPr txBox="1"/>
          <p:nvPr/>
        </p:nvSpPr>
        <p:spPr>
          <a:xfrm>
            <a:off x="967232" y="5554408"/>
            <a:ext cx="4483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越低越好</a:t>
            </a:r>
          </a:p>
        </p:txBody>
      </p:sp>
      <p:sp>
        <p:nvSpPr>
          <p:cNvPr id="82" name="bar-6"/>
          <p:cNvSpPr/>
          <p:nvPr/>
        </p:nvSpPr>
        <p:spPr>
          <a:xfrm>
            <a:off x="3664585" y="5441950"/>
            <a:ext cx="165735" cy="88900"/>
          </a:xfrm>
          <a:custGeom>
            <a:avLst/>
            <a:gdLst/>
            <a:ahLst/>
            <a:cxnLst/>
            <a:rect l="0" t="0" r="r" b="b"/>
            <a:pathLst>
              <a:path w="165735" h="88900">
                <a:moveTo>
                  <a:pt x="44450" y="0"/>
                </a:moveTo>
                <a:lnTo>
                  <a:pt x="121285" y="0"/>
                </a:lnTo>
                <a:cubicBezTo>
                  <a:pt x="145860" y="0"/>
                  <a:pt x="165735" y="19875"/>
                  <a:pt x="165735" y="44450"/>
                </a:cubicBezTo>
                <a:lnTo>
                  <a:pt x="165735" y="44450"/>
                </a:lnTo>
                <a:cubicBezTo>
                  <a:pt x="165735" y="69025"/>
                  <a:pt x="145860" y="88900"/>
                  <a:pt x="121285" y="88900"/>
                </a:cubicBezTo>
                <a:lnTo>
                  <a:pt x="44450" y="88900"/>
                </a:lnTo>
                <a:cubicBezTo>
                  <a:pt x="19875" y="88900"/>
                  <a:pt x="0" y="69025"/>
                  <a:pt x="0" y="44450"/>
                </a:cubicBezTo>
                <a:lnTo>
                  <a:pt x="0" y="44450"/>
                </a:lnTo>
                <a:cubicBezTo>
                  <a:pt x="0" y="19875"/>
                  <a:pt x="19875" y="0"/>
                  <a:pt x="44450" y="0"/>
                </a:cubicBezTo>
                <a:close/>
              </a:path>
            </a:pathLst>
          </a:custGeom>
          <a:gradFill rotWithShape="1">
            <a:gsLst>
              <a:gs pos="0">
                <a:srgbClr val="C6D7EC"/>
              </a:gs>
              <a:gs pos="100000">
                <a:srgbClr val="134C9C"/>
              </a:gs>
            </a:gsLst>
            <a:lin ang="108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arr-6"/>
          <p:cNvSpPr/>
          <p:nvPr/>
        </p:nvSpPr>
        <p:spPr>
          <a:xfrm>
            <a:off x="3562985" y="5435600"/>
            <a:ext cx="63500" cy="101600"/>
          </a:xfrm>
          <a:custGeom>
            <a:avLst/>
            <a:gdLst/>
            <a:ahLst/>
            <a:cxnLst/>
            <a:rect l="0" t="0" r="r" b="b"/>
            <a:pathLst>
              <a:path w="63500" h="101600">
                <a:moveTo>
                  <a:pt x="63500" y="0"/>
                </a:moveTo>
                <a:lnTo>
                  <a:pt x="0" y="50800"/>
                </a:lnTo>
                <a:lnTo>
                  <a:pt x="63500" y="101600"/>
                </a:lnTo>
              </a:path>
            </a:pathLst>
          </a:custGeom>
          <a:noFill/>
          <a:ln w="13970" cap="rnd">
            <a:solidFill>
              <a:srgbClr val="134C9C">
                <a:alpha val="7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old-6"/>
          <p:cNvSpPr/>
          <p:nvPr/>
        </p:nvSpPr>
        <p:spPr>
          <a:xfrm>
            <a:off x="3703320" y="5359400"/>
            <a:ext cx="254000" cy="254000"/>
          </a:xfrm>
          <a:prstGeom prst="ellipse">
            <a:avLst/>
          </a:prstGeom>
          <a:solidFill>
            <a:srgbClr val="FFFFFF"/>
          </a:solidFill>
          <a:ln w="16510" cap="rnd">
            <a:solidFill>
              <a:srgbClr val="9DB7D4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oldv-6"/>
          <p:cNvSpPr txBox="1"/>
          <p:nvPr/>
        </p:nvSpPr>
        <p:spPr>
          <a:xfrm>
            <a:off x="4010152" y="5414708"/>
            <a:ext cx="2350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4.8</a:t>
            </a:r>
          </a:p>
        </p:txBody>
      </p:sp>
      <p:sp>
        <p:nvSpPr>
          <p:cNvPr id="86" name="new-6"/>
          <p:cNvSpPr/>
          <p:nvPr/>
        </p:nvSpPr>
        <p:spPr>
          <a:xfrm>
            <a:off x="3518535" y="5340350"/>
            <a:ext cx="292100" cy="292100"/>
          </a:xfrm>
          <a:prstGeom prst="ellipse">
            <a:avLst/>
          </a:prstGeom>
          <a:gradFill rotWithShape="1">
            <a:gsLst>
              <a:gs pos="0">
                <a:srgbClr val="4270B0"/>
              </a:gs>
              <a:gs pos="100000">
                <a:srgbClr val="134C9C"/>
              </a:gs>
            </a:gsLst>
            <a:lin ang="744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newv-6"/>
          <p:cNvSpPr txBox="1"/>
          <p:nvPr/>
        </p:nvSpPr>
        <p:spPr>
          <a:xfrm>
            <a:off x="3538855" y="5406866"/>
            <a:ext cx="25146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1.9</a:t>
            </a:r>
          </a:p>
        </p:txBody>
      </p:sp>
      <p:sp>
        <p:nvSpPr>
          <p:cNvPr id="88" name="dl-6"/>
          <p:cNvSpPr/>
          <p:nvPr/>
        </p:nvSpPr>
        <p:spPr>
          <a:xfrm>
            <a:off x="9652000" y="5334000"/>
            <a:ext cx="1346200" cy="304800"/>
          </a:xfrm>
          <a:custGeom>
            <a:avLst/>
            <a:gdLst/>
            <a:ahLst/>
            <a:cxnLst/>
            <a:rect l="0" t="0" r="r" b="b"/>
            <a:pathLst>
              <a:path w="1346200" h="304800">
                <a:moveTo>
                  <a:pt x="88900" y="0"/>
                </a:moveTo>
                <a:lnTo>
                  <a:pt x="1257300" y="0"/>
                </a:lnTo>
                <a:cubicBezTo>
                  <a:pt x="1306386" y="0"/>
                  <a:pt x="1346200" y="39814"/>
                  <a:pt x="1346200" y="88900"/>
                </a:cubicBezTo>
                <a:lnTo>
                  <a:pt x="1346200" y="215900"/>
                </a:lnTo>
                <a:cubicBezTo>
                  <a:pt x="1346200" y="264986"/>
                  <a:pt x="1306386" y="304800"/>
                  <a:pt x="1257300" y="304800"/>
                </a:cubicBezTo>
                <a:lnTo>
                  <a:pt x="88900" y="304800"/>
                </a:lnTo>
                <a:cubicBezTo>
                  <a:pt x="39814" y="304800"/>
                  <a:pt x="0" y="264986"/>
                  <a:pt x="0" y="215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134C9C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dlv-6"/>
          <p:cNvSpPr txBox="1"/>
          <p:nvPr/>
        </p:nvSpPr>
        <p:spPr>
          <a:xfrm>
            <a:off x="9789160" y="5386705"/>
            <a:ext cx="4826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20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-2.9%</a:t>
            </a:r>
          </a:p>
        </p:txBody>
      </p:sp>
      <p:sp>
        <p:nvSpPr>
          <p:cNvPr id="90" name="dlp-6"/>
          <p:cNvSpPr txBox="1"/>
          <p:nvPr/>
        </p:nvSpPr>
        <p:spPr>
          <a:xfrm>
            <a:off x="10563225" y="5419566"/>
            <a:ext cx="3067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15">
                <a:solidFill>
                  <a:srgbClr val="134C9C"/>
                </a:solidFill>
                <a:latin typeface="Arial"/>
                <a:ea typeface="Arial"/>
                <a:cs typeface="Arial"/>
              </a:rPr>
              <a:t>-60%</a:t>
            </a:r>
          </a:p>
        </p:txBody>
      </p:sp>
      <p:sp>
        <p:nvSpPr>
          <p:cNvPr id="91" name="lg-old"/>
          <p:cNvSpPr/>
          <p:nvPr/>
        </p:nvSpPr>
        <p:spPr>
          <a:xfrm>
            <a:off x="958850" y="5911850"/>
            <a:ext cx="190500" cy="1905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9DB7D4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lg-oldt"/>
          <p:cNvSpPr txBox="1"/>
          <p:nvPr/>
        </p:nvSpPr>
        <p:spPr>
          <a:xfrm>
            <a:off x="1195070" y="5927566"/>
            <a:ext cx="2813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去年</a:t>
            </a:r>
          </a:p>
        </p:txBody>
      </p:sp>
      <p:sp>
        <p:nvSpPr>
          <p:cNvPr id="93" name="lg-new"/>
          <p:cNvSpPr/>
          <p:nvPr/>
        </p:nvSpPr>
        <p:spPr>
          <a:xfrm>
            <a:off x="1670050" y="5899150"/>
            <a:ext cx="215900" cy="2159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lg-newt"/>
          <p:cNvSpPr txBox="1"/>
          <p:nvPr/>
        </p:nvSpPr>
        <p:spPr>
          <a:xfrm>
            <a:off x="1931670" y="5927566"/>
            <a:ext cx="2813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今年</a:t>
            </a:r>
          </a:p>
        </p:txBody>
      </p:sp>
      <p:sp>
        <p:nvSpPr>
          <p:cNvPr id="95" name="lg-bad"/>
          <p:cNvSpPr/>
          <p:nvPr/>
        </p:nvSpPr>
        <p:spPr>
          <a:xfrm>
            <a:off x="2432050" y="5899150"/>
            <a:ext cx="215900" cy="2159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lg-badt"/>
          <p:cNvSpPr txBox="1"/>
          <p:nvPr/>
        </p:nvSpPr>
        <p:spPr>
          <a:xfrm>
            <a:off x="2693670" y="5927566"/>
            <a:ext cx="8680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未朝目标方向移动</a:t>
            </a:r>
          </a:p>
        </p:txBody>
      </p:sp>
      <p:sp>
        <p:nvSpPr>
          <p:cNvPr id="97" name="con-bar"/>
          <p:cNvSpPr/>
          <p:nvPr/>
        </p:nvSpPr>
        <p:spPr>
          <a:xfrm>
            <a:off x="4127500" y="5842000"/>
            <a:ext cx="25400" cy="3302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con-h"/>
          <p:cNvSpPr txBox="1"/>
          <p:nvPr/>
        </p:nvSpPr>
        <p:spPr>
          <a:xfrm>
            <a:off x="4279646" y="5848382"/>
            <a:ext cx="57467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9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位移解读</a:t>
            </a:r>
          </a:p>
        </p:txBody>
      </p:sp>
      <p:sp>
        <p:nvSpPr>
          <p:cNvPr id="99" name="con-p"/>
          <p:cNvSpPr txBox="1"/>
          <p:nvPr/>
        </p:nvSpPr>
        <p:spPr>
          <a:xfrm>
            <a:off x="4279265" y="6009561"/>
            <a:ext cx="441928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六项全部朝目标方向移动；人均产值与新品占比位移最大，是这一年结构变化的主因。</a:t>
            </a:r>
          </a:p>
        </p:txBody>
      </p:sp>
      <p:cxnSp>
        <p:nvCxnSpPr>
          <p:cNvPr id="100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1" name="foot-l"/>
          <p:cNvSpPr txBox="1"/>
          <p:nvPr/>
        </p:nvSpPr>
        <p:spPr>
          <a:xfrm>
            <a:off x="573532" y="6532308"/>
            <a:ext cx="9469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哑铃图 · 两年对照</a:t>
            </a:r>
          </a:p>
        </p:txBody>
      </p:sp>
      <p:sp>
        <p:nvSpPr>
          <p:cNvPr id="102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收入结构六年演变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62801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COMPOSITION TREND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780399" y="673132"/>
            <a:ext cx="2840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各业务线占比随年份变化，面积越厚代表该年贡献越大</a:t>
            </a:r>
          </a:p>
        </p:txBody>
      </p:sp>
      <p:cxnSp>
        <p:nvCxnSpPr>
          <p:cNvPr id="10" name="g-0"/>
          <p:cNvCxnSpPr/>
          <p:nvPr/>
        </p:nvCxnSpPr>
        <p:spPr>
          <a:xfrm>
            <a:off x="1638300" y="5080000"/>
            <a:ext cx="6286500" cy="0"/>
          </a:xfrm>
          <a:prstGeom prst="line">
            <a:avLst/>
          </a:prstGeom>
          <a:ln w="6350" cap="rnd">
            <a:solidFill>
              <a:srgbClr val="0B2545">
                <a:alpha val="1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gt-0"/>
          <p:cNvSpPr txBox="1"/>
          <p:nvPr/>
        </p:nvSpPr>
        <p:spPr>
          <a:xfrm>
            <a:off x="1352550" y="4992624"/>
            <a:ext cx="20904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0%</a:t>
            </a:r>
          </a:p>
        </p:txBody>
      </p:sp>
      <p:cxnSp>
        <p:nvCxnSpPr>
          <p:cNvPr id="12" name="g-20"/>
          <p:cNvCxnSpPr/>
          <p:nvPr/>
        </p:nvCxnSpPr>
        <p:spPr>
          <a:xfrm>
            <a:off x="1638300" y="4427220"/>
            <a:ext cx="62865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gt-20"/>
          <p:cNvSpPr txBox="1"/>
          <p:nvPr/>
        </p:nvSpPr>
        <p:spPr>
          <a:xfrm>
            <a:off x="1293749" y="433984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20%</a:t>
            </a:r>
          </a:p>
        </p:txBody>
      </p:sp>
      <p:cxnSp>
        <p:nvCxnSpPr>
          <p:cNvPr id="14" name="g-40"/>
          <p:cNvCxnSpPr/>
          <p:nvPr/>
        </p:nvCxnSpPr>
        <p:spPr>
          <a:xfrm>
            <a:off x="1638300" y="3774440"/>
            <a:ext cx="62865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gt-40"/>
          <p:cNvSpPr txBox="1"/>
          <p:nvPr/>
        </p:nvSpPr>
        <p:spPr>
          <a:xfrm>
            <a:off x="1293749" y="368706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40%</a:t>
            </a:r>
          </a:p>
        </p:txBody>
      </p:sp>
      <p:cxnSp>
        <p:nvCxnSpPr>
          <p:cNvPr id="16" name="g-60"/>
          <p:cNvCxnSpPr/>
          <p:nvPr/>
        </p:nvCxnSpPr>
        <p:spPr>
          <a:xfrm>
            <a:off x="1638300" y="3121660"/>
            <a:ext cx="62865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gt-60"/>
          <p:cNvSpPr txBox="1"/>
          <p:nvPr/>
        </p:nvSpPr>
        <p:spPr>
          <a:xfrm>
            <a:off x="1293749" y="303428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60%</a:t>
            </a:r>
          </a:p>
        </p:txBody>
      </p:sp>
      <p:cxnSp>
        <p:nvCxnSpPr>
          <p:cNvPr id="18" name="g-80"/>
          <p:cNvCxnSpPr/>
          <p:nvPr/>
        </p:nvCxnSpPr>
        <p:spPr>
          <a:xfrm>
            <a:off x="1638300" y="2468880"/>
            <a:ext cx="628650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gt-80"/>
          <p:cNvSpPr txBox="1"/>
          <p:nvPr/>
        </p:nvSpPr>
        <p:spPr>
          <a:xfrm>
            <a:off x="1293749" y="238150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80%</a:t>
            </a:r>
          </a:p>
        </p:txBody>
      </p:sp>
      <p:cxnSp>
        <p:nvCxnSpPr>
          <p:cNvPr id="20" name="g-100"/>
          <p:cNvCxnSpPr/>
          <p:nvPr/>
        </p:nvCxnSpPr>
        <p:spPr>
          <a:xfrm>
            <a:off x="1638300" y="1816100"/>
            <a:ext cx="6286500" cy="0"/>
          </a:xfrm>
          <a:prstGeom prst="line">
            <a:avLst/>
          </a:prstGeom>
          <a:ln w="6350" cap="rnd">
            <a:solidFill>
              <a:srgbClr val="0B2545">
                <a:alpha val="1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gt-100"/>
          <p:cNvSpPr txBox="1"/>
          <p:nvPr/>
        </p:nvSpPr>
        <p:spPr>
          <a:xfrm>
            <a:off x="1234948" y="1728724"/>
            <a:ext cx="32664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100%</a:t>
            </a:r>
          </a:p>
        </p:txBody>
      </p:sp>
      <p:sp>
        <p:nvSpPr>
          <p:cNvPr id="22" name="xt-1"/>
          <p:cNvSpPr txBox="1"/>
          <p:nvPr/>
        </p:nvSpPr>
        <p:spPr>
          <a:xfrm>
            <a:off x="1595914" y="5196761"/>
            <a:ext cx="36417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30">
                <a:solidFill>
                  <a:srgbClr val="64748B"/>
                </a:solidFill>
                <a:latin typeface="Arial"/>
                <a:ea typeface="Arial"/>
                <a:cs typeface="Arial"/>
              </a:rPr>
              <a:t>2021</a:t>
            </a:r>
          </a:p>
        </p:txBody>
      </p:sp>
      <p:sp>
        <p:nvSpPr>
          <p:cNvPr id="23" name="xt-2"/>
          <p:cNvSpPr txBox="1"/>
          <p:nvPr/>
        </p:nvSpPr>
        <p:spPr>
          <a:xfrm>
            <a:off x="2797334" y="5196761"/>
            <a:ext cx="36417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30">
                <a:solidFill>
                  <a:srgbClr val="64748B"/>
                </a:solidFill>
                <a:latin typeface="Arial"/>
                <a:ea typeface="Arial"/>
                <a:cs typeface="Arial"/>
              </a:rPr>
              <a:t>2022</a:t>
            </a:r>
          </a:p>
        </p:txBody>
      </p:sp>
      <p:sp>
        <p:nvSpPr>
          <p:cNvPr id="24" name="xt-3"/>
          <p:cNvSpPr txBox="1"/>
          <p:nvPr/>
        </p:nvSpPr>
        <p:spPr>
          <a:xfrm>
            <a:off x="3998754" y="5196761"/>
            <a:ext cx="36417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30">
                <a:solidFill>
                  <a:srgbClr val="64748B"/>
                </a:solidFill>
                <a:latin typeface="Arial"/>
                <a:ea typeface="Arial"/>
                <a:cs typeface="Arial"/>
              </a:rPr>
              <a:t>2023</a:t>
            </a:r>
          </a:p>
        </p:txBody>
      </p:sp>
      <p:sp>
        <p:nvSpPr>
          <p:cNvPr id="25" name="xt-4"/>
          <p:cNvSpPr txBox="1"/>
          <p:nvPr/>
        </p:nvSpPr>
        <p:spPr>
          <a:xfrm>
            <a:off x="5200174" y="5196761"/>
            <a:ext cx="36417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30">
                <a:solidFill>
                  <a:srgbClr val="64748B"/>
                </a:solidFill>
                <a:latin typeface="Arial"/>
                <a:ea typeface="Arial"/>
                <a:cs typeface="Arial"/>
              </a:rPr>
              <a:t>2024</a:t>
            </a:r>
          </a:p>
        </p:txBody>
      </p:sp>
      <p:sp>
        <p:nvSpPr>
          <p:cNvPr id="26" name="xt-5"/>
          <p:cNvSpPr txBox="1"/>
          <p:nvPr/>
        </p:nvSpPr>
        <p:spPr>
          <a:xfrm>
            <a:off x="6401594" y="5196761"/>
            <a:ext cx="36417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30">
                <a:solidFill>
                  <a:srgbClr val="64748B"/>
                </a:solidFill>
                <a:latin typeface="Arial"/>
                <a:ea typeface="Arial"/>
                <a:cs typeface="Arial"/>
              </a:rPr>
              <a:t>2025</a:t>
            </a:r>
          </a:p>
        </p:txBody>
      </p:sp>
      <p:sp>
        <p:nvSpPr>
          <p:cNvPr id="27" name="xt-6"/>
          <p:cNvSpPr txBox="1"/>
          <p:nvPr/>
        </p:nvSpPr>
        <p:spPr>
          <a:xfrm>
            <a:off x="7603014" y="5196761"/>
            <a:ext cx="36417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30">
                <a:solidFill>
                  <a:srgbClr val="64748B"/>
                </a:solidFill>
                <a:latin typeface="Arial"/>
                <a:ea typeface="Arial"/>
                <a:cs typeface="Arial"/>
              </a:rPr>
              <a:t>2026</a:t>
            </a:r>
          </a:p>
        </p:txBody>
      </p:sp>
      <p:sp>
        <p:nvSpPr>
          <p:cNvPr id="28" name="area-4"/>
          <p:cNvSpPr/>
          <p:nvPr/>
        </p:nvSpPr>
        <p:spPr>
          <a:xfrm>
            <a:off x="1778000" y="4686390"/>
            <a:ext cx="6007100" cy="393610"/>
          </a:xfrm>
          <a:custGeom>
            <a:avLst/>
            <a:gdLst/>
            <a:ahLst/>
            <a:cxnLst/>
            <a:rect l="0" t="0" r="r" b="b"/>
            <a:pathLst>
              <a:path w="6007100" h="393610">
                <a:moveTo>
                  <a:pt x="0" y="67220"/>
                </a:moveTo>
                <a:cubicBezTo>
                  <a:pt x="160211" y="67220"/>
                  <a:pt x="881062" y="71601"/>
                  <a:pt x="1201420" y="67220"/>
                </a:cubicBezTo>
                <a:cubicBezTo>
                  <a:pt x="1521777" y="62838"/>
                  <a:pt x="2082483" y="38962"/>
                  <a:pt x="2402840" y="34581"/>
                </a:cubicBezTo>
                <a:cubicBezTo>
                  <a:pt x="2723198" y="30199"/>
                  <a:pt x="3283902" y="38962"/>
                  <a:pt x="3604260" y="34581"/>
                </a:cubicBezTo>
                <a:cubicBezTo>
                  <a:pt x="3924617" y="30199"/>
                  <a:pt x="4485322" y="6323"/>
                  <a:pt x="4805680" y="1942"/>
                </a:cubicBezTo>
                <a:cubicBezTo>
                  <a:pt x="5126038" y="-2440"/>
                  <a:pt x="5846890" y="1942"/>
                  <a:pt x="6007100" y="1942"/>
                </a:cubicBezTo>
                <a:lnTo>
                  <a:pt x="6007100" y="393610"/>
                </a:lnTo>
                <a:cubicBezTo>
                  <a:pt x="5846890" y="393610"/>
                  <a:pt x="5126038" y="393610"/>
                  <a:pt x="4805680" y="393610"/>
                </a:cubicBezTo>
                <a:cubicBezTo>
                  <a:pt x="4485322" y="393610"/>
                  <a:pt x="3924617" y="393610"/>
                  <a:pt x="3604260" y="393610"/>
                </a:cubicBezTo>
                <a:cubicBezTo>
                  <a:pt x="3283902" y="393610"/>
                  <a:pt x="2723198" y="393610"/>
                  <a:pt x="2402840" y="393610"/>
                </a:cubicBezTo>
                <a:cubicBezTo>
                  <a:pt x="2082483" y="393610"/>
                  <a:pt x="1521777" y="393610"/>
                  <a:pt x="1201420" y="393610"/>
                </a:cubicBezTo>
                <a:cubicBezTo>
                  <a:pt x="881062" y="393610"/>
                  <a:pt x="160211" y="393610"/>
                  <a:pt x="0" y="393610"/>
                </a:cubicBezTo>
                <a:close/>
              </a:path>
            </a:pathLst>
          </a:custGeom>
          <a:gradFill rotWithShape="1">
            <a:gsLst>
              <a:gs pos="0">
                <a:srgbClr val="6FB1E4"/>
              </a:gs>
              <a:gs pos="100000">
                <a:srgbClr val="54A2DF"/>
              </a:gs>
            </a:gsLst>
            <a:lin ang="60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edge-4"/>
          <p:cNvSpPr/>
          <p:nvPr/>
        </p:nvSpPr>
        <p:spPr>
          <a:xfrm>
            <a:off x="1778000" y="4686390"/>
            <a:ext cx="6007100" cy="69161"/>
          </a:xfrm>
          <a:custGeom>
            <a:avLst/>
            <a:gdLst/>
            <a:ahLst/>
            <a:cxnLst/>
            <a:rect l="0" t="0" r="r" b="b"/>
            <a:pathLst>
              <a:path w="6007100" h="69161">
                <a:moveTo>
                  <a:pt x="0" y="67220"/>
                </a:moveTo>
                <a:cubicBezTo>
                  <a:pt x="160211" y="67220"/>
                  <a:pt x="881062" y="71601"/>
                  <a:pt x="1201420" y="67220"/>
                </a:cubicBezTo>
                <a:cubicBezTo>
                  <a:pt x="1521777" y="62838"/>
                  <a:pt x="2082483" y="38962"/>
                  <a:pt x="2402840" y="34581"/>
                </a:cubicBezTo>
                <a:cubicBezTo>
                  <a:pt x="2723198" y="30199"/>
                  <a:pt x="3283902" y="38962"/>
                  <a:pt x="3604260" y="34581"/>
                </a:cubicBezTo>
                <a:cubicBezTo>
                  <a:pt x="3924617" y="30199"/>
                  <a:pt x="4485322" y="6323"/>
                  <a:pt x="4805680" y="1942"/>
                </a:cubicBezTo>
                <a:cubicBezTo>
                  <a:pt x="5126038" y="-2440"/>
                  <a:pt x="5846890" y="1942"/>
                  <a:pt x="6007100" y="1942"/>
                </a:cubicBezTo>
              </a:path>
            </a:pathLst>
          </a:custGeom>
          <a:noFill/>
          <a:ln w="12700" cap="rnd">
            <a:solidFill>
              <a:srgbClr val="FFFFF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end-4"/>
          <p:cNvSpPr/>
          <p:nvPr/>
        </p:nvSpPr>
        <p:spPr>
          <a:xfrm>
            <a:off x="7950200" y="4763516"/>
            <a:ext cx="520700" cy="241300"/>
          </a:xfrm>
          <a:custGeom>
            <a:avLst/>
            <a:gdLst/>
            <a:ahLst/>
            <a:cxnLst/>
            <a:rect l="0" t="0" r="r" b="b"/>
            <a:pathLst>
              <a:path w="520700" h="241300">
                <a:moveTo>
                  <a:pt x="76200" y="0"/>
                </a:moveTo>
                <a:lnTo>
                  <a:pt x="444500" y="0"/>
                </a:lnTo>
                <a:cubicBezTo>
                  <a:pt x="486601" y="0"/>
                  <a:pt x="520700" y="34100"/>
                  <a:pt x="520700" y="76200"/>
                </a:cubicBezTo>
                <a:lnTo>
                  <a:pt x="520700" y="165100"/>
                </a:lnTo>
                <a:cubicBezTo>
                  <a:pt x="520700" y="207200"/>
                  <a:pt x="486601" y="241300"/>
                  <a:pt x="444500" y="241300"/>
                </a:cubicBezTo>
                <a:lnTo>
                  <a:pt x="76200" y="241300"/>
                </a:lnTo>
                <a:cubicBezTo>
                  <a:pt x="34099" y="241300"/>
                  <a:pt x="0" y="207200"/>
                  <a:pt x="0" y="1651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endt-4"/>
          <p:cNvSpPr txBox="1"/>
          <p:nvPr/>
        </p:nvSpPr>
        <p:spPr>
          <a:xfrm>
            <a:off x="8068437" y="4795298"/>
            <a:ext cx="28422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12%</a:t>
            </a:r>
          </a:p>
        </p:txBody>
      </p:sp>
      <p:sp>
        <p:nvSpPr>
          <p:cNvPr id="32" name="area-3"/>
          <p:cNvSpPr/>
          <p:nvPr/>
        </p:nvSpPr>
        <p:spPr>
          <a:xfrm>
            <a:off x="1778000" y="4229444"/>
            <a:ext cx="6007100" cy="526107"/>
          </a:xfrm>
          <a:custGeom>
            <a:avLst/>
            <a:gdLst/>
            <a:ahLst/>
            <a:cxnLst/>
            <a:rect l="0" t="0" r="r" b="b"/>
            <a:pathLst>
              <a:path w="6007100" h="526107">
                <a:moveTo>
                  <a:pt x="0" y="197776"/>
                </a:moveTo>
                <a:cubicBezTo>
                  <a:pt x="160211" y="189076"/>
                  <a:pt x="881062" y="149897"/>
                  <a:pt x="1201420" y="132498"/>
                </a:cubicBezTo>
                <a:cubicBezTo>
                  <a:pt x="1521777" y="115099"/>
                  <a:pt x="2082483" y="80301"/>
                  <a:pt x="2402840" y="67220"/>
                </a:cubicBezTo>
                <a:cubicBezTo>
                  <a:pt x="2723198" y="54139"/>
                  <a:pt x="3283902" y="43280"/>
                  <a:pt x="3604260" y="34581"/>
                </a:cubicBezTo>
                <a:cubicBezTo>
                  <a:pt x="3924617" y="25881"/>
                  <a:pt x="4485322" y="6323"/>
                  <a:pt x="4805680" y="1942"/>
                </a:cubicBezTo>
                <a:cubicBezTo>
                  <a:pt x="5126038" y="-2440"/>
                  <a:pt x="5846890" y="1942"/>
                  <a:pt x="6007100" y="1942"/>
                </a:cubicBezTo>
                <a:lnTo>
                  <a:pt x="6007100" y="458888"/>
                </a:lnTo>
                <a:cubicBezTo>
                  <a:pt x="5846890" y="458888"/>
                  <a:pt x="5126038" y="454506"/>
                  <a:pt x="4805680" y="458888"/>
                </a:cubicBezTo>
                <a:cubicBezTo>
                  <a:pt x="4485322" y="463269"/>
                  <a:pt x="3924617" y="487145"/>
                  <a:pt x="3604260" y="491527"/>
                </a:cubicBezTo>
                <a:cubicBezTo>
                  <a:pt x="3283902" y="495908"/>
                  <a:pt x="2723198" y="487145"/>
                  <a:pt x="2402840" y="491527"/>
                </a:cubicBezTo>
                <a:cubicBezTo>
                  <a:pt x="2082483" y="495908"/>
                  <a:pt x="1521777" y="519784"/>
                  <a:pt x="1201420" y="524166"/>
                </a:cubicBezTo>
                <a:cubicBezTo>
                  <a:pt x="881062" y="528547"/>
                  <a:pt x="160211" y="524166"/>
                  <a:pt x="0" y="524166"/>
                </a:cubicBezTo>
                <a:close/>
              </a:path>
            </a:pathLst>
          </a:custGeom>
          <a:gradFill rotWithShape="1">
            <a:gsLst>
              <a:gs pos="0">
                <a:srgbClr val="5999D5"/>
              </a:gs>
              <a:gs pos="100000">
                <a:srgbClr val="3985CD"/>
              </a:gs>
            </a:gsLst>
            <a:lin ang="60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edge-3"/>
          <p:cNvSpPr/>
          <p:nvPr/>
        </p:nvSpPr>
        <p:spPr>
          <a:xfrm>
            <a:off x="1778000" y="4229444"/>
            <a:ext cx="6007100" cy="197776"/>
          </a:xfrm>
          <a:custGeom>
            <a:avLst/>
            <a:gdLst/>
            <a:ahLst/>
            <a:cxnLst/>
            <a:rect l="0" t="0" r="r" b="b"/>
            <a:pathLst>
              <a:path w="6007100" h="197776">
                <a:moveTo>
                  <a:pt x="0" y="197776"/>
                </a:moveTo>
                <a:cubicBezTo>
                  <a:pt x="160211" y="189076"/>
                  <a:pt x="881062" y="149897"/>
                  <a:pt x="1201420" y="132498"/>
                </a:cubicBezTo>
                <a:cubicBezTo>
                  <a:pt x="1521777" y="115099"/>
                  <a:pt x="2082483" y="80301"/>
                  <a:pt x="2402840" y="67220"/>
                </a:cubicBezTo>
                <a:cubicBezTo>
                  <a:pt x="2723198" y="54139"/>
                  <a:pt x="3283902" y="43280"/>
                  <a:pt x="3604260" y="34581"/>
                </a:cubicBezTo>
                <a:cubicBezTo>
                  <a:pt x="3924617" y="25881"/>
                  <a:pt x="4485322" y="6323"/>
                  <a:pt x="4805680" y="1942"/>
                </a:cubicBezTo>
                <a:cubicBezTo>
                  <a:pt x="5126038" y="-2440"/>
                  <a:pt x="5846890" y="1942"/>
                  <a:pt x="6007100" y="1942"/>
                </a:cubicBezTo>
              </a:path>
            </a:pathLst>
          </a:custGeom>
          <a:noFill/>
          <a:ln w="12700" cap="rnd">
            <a:solidFill>
              <a:srgbClr val="FFFFF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an-3"/>
          <p:cNvSpPr txBox="1"/>
          <p:nvPr/>
        </p:nvSpPr>
        <p:spPr>
          <a:xfrm>
            <a:off x="3867467" y="4404265"/>
            <a:ext cx="62674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7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运维服务</a:t>
            </a:r>
          </a:p>
        </p:txBody>
      </p:sp>
      <p:sp>
        <p:nvSpPr>
          <p:cNvPr id="35" name="end-3"/>
          <p:cNvSpPr/>
          <p:nvPr/>
        </p:nvSpPr>
        <p:spPr>
          <a:xfrm>
            <a:off x="7950200" y="4339209"/>
            <a:ext cx="520700" cy="241300"/>
          </a:xfrm>
          <a:custGeom>
            <a:avLst/>
            <a:gdLst/>
            <a:ahLst/>
            <a:cxnLst/>
            <a:rect l="0" t="0" r="r" b="b"/>
            <a:pathLst>
              <a:path w="520700" h="241300">
                <a:moveTo>
                  <a:pt x="76200" y="0"/>
                </a:moveTo>
                <a:lnTo>
                  <a:pt x="444500" y="0"/>
                </a:lnTo>
                <a:cubicBezTo>
                  <a:pt x="486601" y="0"/>
                  <a:pt x="520700" y="34100"/>
                  <a:pt x="520700" y="76200"/>
                </a:cubicBezTo>
                <a:lnTo>
                  <a:pt x="520700" y="165100"/>
                </a:lnTo>
                <a:cubicBezTo>
                  <a:pt x="520700" y="207200"/>
                  <a:pt x="486601" y="241300"/>
                  <a:pt x="444500" y="241300"/>
                </a:cubicBezTo>
                <a:lnTo>
                  <a:pt x="76200" y="241300"/>
                </a:lnTo>
                <a:cubicBezTo>
                  <a:pt x="34099" y="241300"/>
                  <a:pt x="0" y="207200"/>
                  <a:pt x="0" y="1651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endt-3"/>
          <p:cNvSpPr txBox="1"/>
          <p:nvPr/>
        </p:nvSpPr>
        <p:spPr>
          <a:xfrm>
            <a:off x="8068437" y="4370991"/>
            <a:ext cx="28422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14%</a:t>
            </a:r>
          </a:p>
        </p:txBody>
      </p:sp>
      <p:sp>
        <p:nvSpPr>
          <p:cNvPr id="37" name="area-2"/>
          <p:cNvSpPr/>
          <p:nvPr/>
        </p:nvSpPr>
        <p:spPr>
          <a:xfrm>
            <a:off x="1778000" y="3382772"/>
            <a:ext cx="6007100" cy="1044448"/>
          </a:xfrm>
          <a:custGeom>
            <a:avLst/>
            <a:gdLst/>
            <a:ahLst/>
            <a:cxnLst/>
            <a:rect l="0" t="0" r="r" b="b"/>
            <a:pathLst>
              <a:path w="6007100" h="1044448">
                <a:moveTo>
                  <a:pt x="0" y="783336"/>
                </a:moveTo>
                <a:cubicBezTo>
                  <a:pt x="160211" y="757238"/>
                  <a:pt x="881062" y="639699"/>
                  <a:pt x="1201420" y="587502"/>
                </a:cubicBezTo>
                <a:cubicBezTo>
                  <a:pt x="1521777" y="535305"/>
                  <a:pt x="2082483" y="435165"/>
                  <a:pt x="2402840" y="391668"/>
                </a:cubicBezTo>
                <a:cubicBezTo>
                  <a:pt x="2723198" y="348170"/>
                  <a:pt x="3283902" y="295910"/>
                  <a:pt x="3604260" y="261112"/>
                </a:cubicBezTo>
                <a:cubicBezTo>
                  <a:pt x="3924617" y="226314"/>
                  <a:pt x="4485322" y="165354"/>
                  <a:pt x="4805680" y="130556"/>
                </a:cubicBezTo>
                <a:cubicBezTo>
                  <a:pt x="5126038" y="95758"/>
                  <a:pt x="5846890" y="17399"/>
                  <a:pt x="6007100" y="0"/>
                </a:cubicBezTo>
                <a:lnTo>
                  <a:pt x="6007100" y="848614"/>
                </a:lnTo>
                <a:cubicBezTo>
                  <a:pt x="5846890" y="848614"/>
                  <a:pt x="5126038" y="844232"/>
                  <a:pt x="4805680" y="848614"/>
                </a:cubicBezTo>
                <a:cubicBezTo>
                  <a:pt x="4485322" y="852995"/>
                  <a:pt x="3924617" y="872553"/>
                  <a:pt x="3604260" y="881253"/>
                </a:cubicBezTo>
                <a:cubicBezTo>
                  <a:pt x="3283902" y="889952"/>
                  <a:pt x="2723198" y="900811"/>
                  <a:pt x="2402840" y="913892"/>
                </a:cubicBezTo>
                <a:cubicBezTo>
                  <a:pt x="2082483" y="926973"/>
                  <a:pt x="1521777" y="961771"/>
                  <a:pt x="1201420" y="979170"/>
                </a:cubicBezTo>
                <a:cubicBezTo>
                  <a:pt x="881062" y="996569"/>
                  <a:pt x="160211" y="1035749"/>
                  <a:pt x="0" y="1044448"/>
                </a:cubicBezTo>
                <a:close/>
              </a:path>
            </a:pathLst>
          </a:custGeom>
          <a:gradFill rotWithShape="1">
            <a:gsLst>
              <a:gs pos="0">
                <a:srgbClr val="3F74B6"/>
              </a:gs>
              <a:gs pos="100000">
                <a:srgbClr val="1B5AA8"/>
              </a:gs>
            </a:gsLst>
            <a:lin ang="60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edge-2"/>
          <p:cNvSpPr/>
          <p:nvPr/>
        </p:nvSpPr>
        <p:spPr>
          <a:xfrm>
            <a:off x="1778000" y="3382772"/>
            <a:ext cx="6007100" cy="783336"/>
          </a:xfrm>
          <a:custGeom>
            <a:avLst/>
            <a:gdLst/>
            <a:ahLst/>
            <a:cxnLst/>
            <a:rect l="0" t="0" r="r" b="b"/>
            <a:pathLst>
              <a:path w="6007100" h="783336">
                <a:moveTo>
                  <a:pt x="0" y="783336"/>
                </a:moveTo>
                <a:cubicBezTo>
                  <a:pt x="160211" y="757238"/>
                  <a:pt x="881062" y="639699"/>
                  <a:pt x="1201420" y="587502"/>
                </a:cubicBezTo>
                <a:cubicBezTo>
                  <a:pt x="1521777" y="535305"/>
                  <a:pt x="2082483" y="435165"/>
                  <a:pt x="2402840" y="391668"/>
                </a:cubicBezTo>
                <a:cubicBezTo>
                  <a:pt x="2723198" y="348170"/>
                  <a:pt x="3283902" y="295910"/>
                  <a:pt x="3604260" y="261112"/>
                </a:cubicBezTo>
                <a:cubicBezTo>
                  <a:pt x="3924617" y="226314"/>
                  <a:pt x="4485322" y="165354"/>
                  <a:pt x="4805680" y="130556"/>
                </a:cubicBezTo>
                <a:cubicBezTo>
                  <a:pt x="5126038" y="95758"/>
                  <a:pt x="5846890" y="17399"/>
                  <a:pt x="6007100" y="0"/>
                </a:cubicBezTo>
              </a:path>
            </a:pathLst>
          </a:custGeom>
          <a:noFill/>
          <a:ln w="12700" cap="rnd">
            <a:solidFill>
              <a:srgbClr val="FFFFF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an-2"/>
          <p:cNvSpPr txBox="1"/>
          <p:nvPr/>
        </p:nvSpPr>
        <p:spPr>
          <a:xfrm>
            <a:off x="3867467" y="3930999"/>
            <a:ext cx="62674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7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软件平台</a:t>
            </a:r>
          </a:p>
        </p:txBody>
      </p:sp>
      <p:sp>
        <p:nvSpPr>
          <p:cNvPr id="40" name="end-2"/>
          <p:cNvSpPr/>
          <p:nvPr/>
        </p:nvSpPr>
        <p:spPr>
          <a:xfrm>
            <a:off x="7950200" y="3686429"/>
            <a:ext cx="520700" cy="241300"/>
          </a:xfrm>
          <a:custGeom>
            <a:avLst/>
            <a:gdLst/>
            <a:ahLst/>
            <a:cxnLst/>
            <a:rect l="0" t="0" r="r" b="b"/>
            <a:pathLst>
              <a:path w="520700" h="241300">
                <a:moveTo>
                  <a:pt x="76200" y="0"/>
                </a:moveTo>
                <a:lnTo>
                  <a:pt x="444500" y="0"/>
                </a:lnTo>
                <a:cubicBezTo>
                  <a:pt x="486601" y="0"/>
                  <a:pt x="520700" y="34100"/>
                  <a:pt x="520700" y="76200"/>
                </a:cubicBezTo>
                <a:lnTo>
                  <a:pt x="520700" y="165100"/>
                </a:lnTo>
                <a:cubicBezTo>
                  <a:pt x="520700" y="207200"/>
                  <a:pt x="486601" y="241300"/>
                  <a:pt x="444500" y="241300"/>
                </a:cubicBezTo>
                <a:lnTo>
                  <a:pt x="76200" y="241300"/>
                </a:lnTo>
                <a:cubicBezTo>
                  <a:pt x="34099" y="241300"/>
                  <a:pt x="0" y="207200"/>
                  <a:pt x="0" y="1651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endt-2"/>
          <p:cNvSpPr txBox="1"/>
          <p:nvPr/>
        </p:nvSpPr>
        <p:spPr>
          <a:xfrm>
            <a:off x="8068437" y="3718211"/>
            <a:ext cx="28422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26%</a:t>
            </a:r>
          </a:p>
        </p:txBody>
      </p:sp>
      <p:sp>
        <p:nvSpPr>
          <p:cNvPr id="42" name="area-1"/>
          <p:cNvSpPr/>
          <p:nvPr/>
        </p:nvSpPr>
        <p:spPr>
          <a:xfrm>
            <a:off x="1778000" y="1816100"/>
            <a:ext cx="6007100" cy="2350008"/>
          </a:xfrm>
          <a:custGeom>
            <a:avLst/>
            <a:gdLst/>
            <a:ahLst/>
            <a:cxnLst/>
            <a:rect l="0" t="0" r="r" b="b"/>
            <a:pathLst>
              <a:path w="6007100" h="2350008">
                <a:moveTo>
                  <a:pt x="0" y="0"/>
                </a:moveTo>
                <a:cubicBezTo>
                  <a:pt x="160211" y="0"/>
                  <a:pt x="881062" y="0"/>
                  <a:pt x="1201420" y="0"/>
                </a:cubicBezTo>
                <a:cubicBezTo>
                  <a:pt x="1521777" y="0"/>
                  <a:pt x="2082483" y="0"/>
                  <a:pt x="2402840" y="0"/>
                </a:cubicBezTo>
                <a:cubicBezTo>
                  <a:pt x="2723198" y="0"/>
                  <a:pt x="3283902" y="0"/>
                  <a:pt x="3604260" y="0"/>
                </a:cubicBezTo>
                <a:cubicBezTo>
                  <a:pt x="3924617" y="0"/>
                  <a:pt x="4485322" y="0"/>
                  <a:pt x="4805680" y="0"/>
                </a:cubicBezTo>
                <a:cubicBezTo>
                  <a:pt x="5126038" y="0"/>
                  <a:pt x="5846890" y="0"/>
                  <a:pt x="6007100" y="0"/>
                </a:cubicBezTo>
                <a:lnTo>
                  <a:pt x="6007100" y="1566672"/>
                </a:lnTo>
                <a:cubicBezTo>
                  <a:pt x="5846890" y="1584071"/>
                  <a:pt x="5126038" y="1662430"/>
                  <a:pt x="4805680" y="1697228"/>
                </a:cubicBezTo>
                <a:cubicBezTo>
                  <a:pt x="4485322" y="1732026"/>
                  <a:pt x="3924617" y="1792986"/>
                  <a:pt x="3604260" y="1827784"/>
                </a:cubicBezTo>
                <a:cubicBezTo>
                  <a:pt x="3283902" y="1862582"/>
                  <a:pt x="2723198" y="1914842"/>
                  <a:pt x="2402840" y="1958340"/>
                </a:cubicBezTo>
                <a:cubicBezTo>
                  <a:pt x="2082483" y="2001838"/>
                  <a:pt x="1521777" y="2101977"/>
                  <a:pt x="1201420" y="2154174"/>
                </a:cubicBezTo>
                <a:cubicBezTo>
                  <a:pt x="881062" y="2206371"/>
                  <a:pt x="160211" y="2323910"/>
                  <a:pt x="0" y="2350008"/>
                </a:cubicBezTo>
                <a:close/>
              </a:path>
            </a:pathLst>
          </a:custGeom>
          <a:gradFill rotWithShape="1">
            <a:gsLst>
              <a:gs pos="0">
                <a:srgbClr val="325DA1"/>
              </a:gs>
              <a:gs pos="100000">
                <a:srgbClr val="0B3E8F"/>
              </a:gs>
            </a:gsLst>
            <a:lin ang="60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edge-1"/>
          <p:cNvSpPr/>
          <p:nvPr/>
        </p:nvSpPr>
        <p:spPr>
          <a:xfrm>
            <a:off x="1778000" y="1816100"/>
            <a:ext cx="6007100" cy="3175"/>
          </a:xfrm>
          <a:custGeom>
            <a:avLst/>
            <a:gdLst/>
            <a:ahLst/>
            <a:cxnLst/>
            <a:rect l="0" t="0" r="r" b="b"/>
            <a:pathLst>
              <a:path w="6007100" h="3175">
                <a:moveTo>
                  <a:pt x="0" y="0"/>
                </a:moveTo>
                <a:cubicBezTo>
                  <a:pt x="160211" y="0"/>
                  <a:pt x="881062" y="0"/>
                  <a:pt x="1201420" y="0"/>
                </a:cubicBezTo>
                <a:cubicBezTo>
                  <a:pt x="1521777" y="0"/>
                  <a:pt x="2082483" y="0"/>
                  <a:pt x="2402840" y="0"/>
                </a:cubicBezTo>
                <a:cubicBezTo>
                  <a:pt x="2723198" y="0"/>
                  <a:pt x="3283902" y="0"/>
                  <a:pt x="3604260" y="0"/>
                </a:cubicBezTo>
                <a:cubicBezTo>
                  <a:pt x="3924617" y="0"/>
                  <a:pt x="4485322" y="0"/>
                  <a:pt x="4805680" y="0"/>
                </a:cubicBezTo>
                <a:cubicBezTo>
                  <a:pt x="5126038" y="0"/>
                  <a:pt x="5846890" y="0"/>
                  <a:pt x="6007100" y="0"/>
                </a:cubicBezTo>
              </a:path>
            </a:pathLst>
          </a:custGeom>
          <a:noFill/>
          <a:ln w="12700" cap="rnd">
            <a:solidFill>
              <a:srgbClr val="FFFFF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an-1"/>
          <p:cNvSpPr txBox="1"/>
          <p:nvPr/>
        </p:nvSpPr>
        <p:spPr>
          <a:xfrm>
            <a:off x="3867467" y="2690717"/>
            <a:ext cx="62674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7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智能装备</a:t>
            </a:r>
          </a:p>
        </p:txBody>
      </p:sp>
      <p:sp>
        <p:nvSpPr>
          <p:cNvPr id="45" name="end-1"/>
          <p:cNvSpPr/>
          <p:nvPr/>
        </p:nvSpPr>
        <p:spPr>
          <a:xfrm>
            <a:off x="7950200" y="2478786"/>
            <a:ext cx="520700" cy="241300"/>
          </a:xfrm>
          <a:custGeom>
            <a:avLst/>
            <a:gdLst/>
            <a:ahLst/>
            <a:cxnLst/>
            <a:rect l="0" t="0" r="r" b="b"/>
            <a:pathLst>
              <a:path w="520700" h="241300">
                <a:moveTo>
                  <a:pt x="76200" y="0"/>
                </a:moveTo>
                <a:lnTo>
                  <a:pt x="444500" y="0"/>
                </a:lnTo>
                <a:cubicBezTo>
                  <a:pt x="486601" y="0"/>
                  <a:pt x="520700" y="34100"/>
                  <a:pt x="520700" y="76200"/>
                </a:cubicBezTo>
                <a:lnTo>
                  <a:pt x="520700" y="165100"/>
                </a:lnTo>
                <a:cubicBezTo>
                  <a:pt x="520700" y="207200"/>
                  <a:pt x="486601" y="241300"/>
                  <a:pt x="444500" y="241300"/>
                </a:cubicBezTo>
                <a:lnTo>
                  <a:pt x="76200" y="241300"/>
                </a:lnTo>
                <a:cubicBezTo>
                  <a:pt x="34099" y="241300"/>
                  <a:pt x="0" y="207200"/>
                  <a:pt x="0" y="165100"/>
                </a:cubicBezTo>
                <a:lnTo>
                  <a:pt x="0" y="76200"/>
                </a:lnTo>
                <a:cubicBezTo>
                  <a:pt x="0" y="34100"/>
                  <a:pt x="34099" y="0"/>
                  <a:pt x="762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endt-1"/>
          <p:cNvSpPr txBox="1"/>
          <p:nvPr/>
        </p:nvSpPr>
        <p:spPr>
          <a:xfrm>
            <a:off x="8068437" y="2510568"/>
            <a:ext cx="28422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48%</a:t>
            </a:r>
          </a:p>
        </p:txBody>
      </p:sp>
      <p:cxnSp>
        <p:nvCxnSpPr>
          <p:cNvPr id="47" name="mark"/>
          <p:cNvCxnSpPr/>
          <p:nvPr/>
        </p:nvCxnSpPr>
        <p:spPr>
          <a:xfrm>
            <a:off x="5382260" y="1651000"/>
            <a:ext cx="0" cy="3429000"/>
          </a:xfrm>
          <a:prstGeom prst="line">
            <a:avLst/>
          </a:prstGeom>
          <a:ln w="12700" cap="rnd">
            <a:solidFill>
              <a:srgbClr val="E0703A">
                <a:alpha val="6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mark-tag"/>
          <p:cNvSpPr/>
          <p:nvPr/>
        </p:nvSpPr>
        <p:spPr>
          <a:xfrm>
            <a:off x="4798060" y="1460500"/>
            <a:ext cx="1168400" cy="190500"/>
          </a:xfrm>
          <a:custGeom>
            <a:avLst/>
            <a:gdLst/>
            <a:ahLst/>
            <a:cxnLst/>
            <a:rect l="0" t="0" r="r" b="b"/>
            <a:pathLst>
              <a:path w="1168400" h="190500">
                <a:moveTo>
                  <a:pt x="95250" y="0"/>
                </a:moveTo>
                <a:lnTo>
                  <a:pt x="1073150" y="0"/>
                </a:lnTo>
                <a:cubicBezTo>
                  <a:pt x="1125728" y="0"/>
                  <a:pt x="1168400" y="42672"/>
                  <a:pt x="1168400" y="95250"/>
                </a:cubicBezTo>
                <a:lnTo>
                  <a:pt x="1168400" y="95250"/>
                </a:lnTo>
                <a:cubicBezTo>
                  <a:pt x="1168400" y="147828"/>
                  <a:pt x="1125728" y="190500"/>
                  <a:pt x="10731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mark-t"/>
          <p:cNvSpPr txBox="1"/>
          <p:nvPr/>
        </p:nvSpPr>
        <p:spPr>
          <a:xfrm>
            <a:off x="5010626" y="1480137"/>
            <a:ext cx="74326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3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2024 平台上线</a:t>
            </a:r>
          </a:p>
        </p:txBody>
      </p:sp>
      <p:sp>
        <p:nvSpPr>
          <p:cNvPr id="50" name="side-bar"/>
          <p:cNvSpPr/>
          <p:nvPr/>
        </p:nvSpPr>
        <p:spPr>
          <a:xfrm>
            <a:off x="8699500" y="15875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side-h"/>
          <p:cNvSpPr txBox="1"/>
          <p:nvPr/>
        </p:nvSpPr>
        <p:spPr>
          <a:xfrm>
            <a:off x="8858250" y="15946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六年位移</a:t>
            </a:r>
          </a:p>
        </p:txBody>
      </p:sp>
      <p:sp>
        <p:nvSpPr>
          <p:cNvPr id="52" name="side-p"/>
          <p:cNvSpPr txBox="1"/>
          <p:nvPr/>
        </p:nvSpPr>
        <p:spPr>
          <a:xfrm>
            <a:off x="8863965" y="1869361"/>
            <a:ext cx="133191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2021 → 2026 占比变化</a:t>
            </a:r>
          </a:p>
        </p:txBody>
      </p:sp>
      <p:sp>
        <p:nvSpPr>
          <p:cNvPr id="53" name="sc-1"/>
          <p:cNvSpPr/>
          <p:nvPr/>
        </p:nvSpPr>
        <p:spPr>
          <a:xfrm>
            <a:off x="8699500" y="2298700"/>
            <a:ext cx="2540000" cy="685800"/>
          </a:xfrm>
          <a:custGeom>
            <a:avLst/>
            <a:gdLst/>
            <a:ahLst/>
            <a:cxnLst/>
            <a:rect l="0" t="0" r="r" b="b"/>
            <a:pathLst>
              <a:path w="2540000" h="685800">
                <a:moveTo>
                  <a:pt x="101600" y="0"/>
                </a:moveTo>
                <a:lnTo>
                  <a:pt x="2438400" y="0"/>
                </a:lnTo>
                <a:cubicBezTo>
                  <a:pt x="2494534" y="0"/>
                  <a:pt x="2540000" y="45466"/>
                  <a:pt x="2540000" y="101600"/>
                </a:cubicBezTo>
                <a:lnTo>
                  <a:pt x="2540000" y="584200"/>
                </a:lnTo>
                <a:cubicBezTo>
                  <a:pt x="2540000" y="640334"/>
                  <a:pt x="2494534" y="685800"/>
                  <a:pt x="2438400" y="685800"/>
                </a:cubicBezTo>
                <a:lnTo>
                  <a:pt x="101600" y="685800"/>
                </a:lnTo>
                <a:cubicBezTo>
                  <a:pt x="45466" y="685800"/>
                  <a:pt x="0" y="640334"/>
                  <a:pt x="0" y="584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scb-1"/>
          <p:cNvSpPr/>
          <p:nvPr/>
        </p:nvSpPr>
        <p:spPr>
          <a:xfrm>
            <a:off x="8699500" y="2298700"/>
            <a:ext cx="31750" cy="685800"/>
          </a:xfrm>
          <a:custGeom>
            <a:avLst/>
            <a:gdLst/>
            <a:ahLst/>
            <a:cxnLst/>
            <a:rect l="0" t="0" r="r" b="b"/>
            <a:pathLst>
              <a:path w="31750" h="6858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669925"/>
                </a:lnTo>
                <a:cubicBezTo>
                  <a:pt x="31750" y="678688"/>
                  <a:pt x="24638" y="685800"/>
                  <a:pt x="15875" y="685800"/>
                </a:cubicBezTo>
                <a:lnTo>
                  <a:pt x="15875" y="685800"/>
                </a:lnTo>
                <a:cubicBezTo>
                  <a:pt x="7112" y="685800"/>
                  <a:pt x="0" y="678688"/>
                  <a:pt x="0" y="6699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icon-factory"/>
          <p:cNvSpPr/>
          <p:nvPr/>
        </p:nvSpPr>
        <p:spPr>
          <a:xfrm>
            <a:off x="8919718" y="2526538"/>
            <a:ext cx="118364" cy="79819"/>
          </a:xfrm>
          <a:custGeom>
            <a:avLst/>
            <a:gdLst/>
            <a:ahLst/>
            <a:cxnLst/>
            <a:rect l="0" t="0" r="r" b="b"/>
            <a:pathLst>
              <a:path w="118364" h="79819">
                <a:moveTo>
                  <a:pt x="0" y="79819"/>
                </a:moveTo>
                <a:lnTo>
                  <a:pt x="0" y="19304"/>
                </a:lnTo>
                <a:lnTo>
                  <a:pt x="34417" y="39942"/>
                </a:lnTo>
                <a:lnTo>
                  <a:pt x="34417" y="19304"/>
                </a:lnTo>
                <a:lnTo>
                  <a:pt x="68834" y="39942"/>
                </a:lnTo>
                <a:lnTo>
                  <a:pt x="68834" y="0"/>
                </a:lnTo>
                <a:lnTo>
                  <a:pt x="103188" y="20638"/>
                </a:lnTo>
                <a:lnTo>
                  <a:pt x="103188" y="72962"/>
                </a:lnTo>
                <a:close/>
                <a:moveTo>
                  <a:pt x="0" y="79819"/>
                </a:moveTo>
                <a:lnTo>
                  <a:pt x="118364" y="79819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scn-1"/>
          <p:cNvSpPr txBox="1"/>
          <p:nvPr/>
        </p:nvSpPr>
        <p:spPr>
          <a:xfrm>
            <a:off x="9179560" y="244665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智能装备</a:t>
            </a:r>
          </a:p>
        </p:txBody>
      </p:sp>
      <p:sp>
        <p:nvSpPr>
          <p:cNvPr id="57" name="sc0-1"/>
          <p:cNvSpPr txBox="1"/>
          <p:nvPr/>
        </p:nvSpPr>
        <p:spPr>
          <a:xfrm>
            <a:off x="8876284" y="2703640"/>
            <a:ext cx="300609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15">
                <a:solidFill>
                  <a:srgbClr val="8FA3BC"/>
                </a:solidFill>
                <a:latin typeface="Arial"/>
                <a:ea typeface="Arial"/>
                <a:cs typeface="Arial"/>
              </a:rPr>
              <a:t>72%</a:t>
            </a:r>
          </a:p>
        </p:txBody>
      </p:sp>
      <p:sp>
        <p:nvSpPr>
          <p:cNvPr id="58" name="scar-1"/>
          <p:cNvSpPr txBox="1"/>
          <p:nvPr/>
        </p:nvSpPr>
        <p:spPr>
          <a:xfrm>
            <a:off x="9233408" y="27066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→</a:t>
            </a:r>
          </a:p>
        </p:txBody>
      </p:sp>
      <p:sp>
        <p:nvSpPr>
          <p:cNvPr id="59" name="sc1-1"/>
          <p:cNvSpPr txBox="1"/>
          <p:nvPr/>
        </p:nvSpPr>
        <p:spPr>
          <a:xfrm>
            <a:off x="9446260" y="2687955"/>
            <a:ext cx="33337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48%</a:t>
            </a:r>
          </a:p>
        </p:txBody>
      </p:sp>
      <p:sp>
        <p:nvSpPr>
          <p:cNvPr id="60" name="scd-1"/>
          <p:cNvSpPr/>
          <p:nvPr/>
        </p:nvSpPr>
        <p:spPr>
          <a:xfrm>
            <a:off x="10528300" y="2692400"/>
            <a:ext cx="558800" cy="215900"/>
          </a:xfrm>
          <a:custGeom>
            <a:avLst/>
            <a:gdLst/>
            <a:ahLst/>
            <a:cxnLst/>
            <a:rect l="0" t="0" r="r" b="b"/>
            <a:pathLst>
              <a:path w="558800" h="215900">
                <a:moveTo>
                  <a:pt x="107950" y="0"/>
                </a:moveTo>
                <a:lnTo>
                  <a:pt x="450850" y="0"/>
                </a:lnTo>
                <a:cubicBezTo>
                  <a:pt x="510477" y="0"/>
                  <a:pt x="558800" y="48324"/>
                  <a:pt x="558800" y="107950"/>
                </a:cubicBezTo>
                <a:lnTo>
                  <a:pt x="558800" y="107950"/>
                </a:lnTo>
                <a:cubicBezTo>
                  <a:pt x="558800" y="167576"/>
                  <a:pt x="510477" y="215900"/>
                  <a:pt x="4508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scdt-1"/>
          <p:cNvSpPr txBox="1"/>
          <p:nvPr/>
        </p:nvSpPr>
        <p:spPr>
          <a:xfrm>
            <a:off x="10626725" y="2714466"/>
            <a:ext cx="36195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5">
                <a:solidFill>
                  <a:srgbClr val="E0703A"/>
                </a:solidFill>
                <a:latin typeface="Arial"/>
                <a:ea typeface="Arial"/>
                <a:cs typeface="Arial"/>
              </a:rPr>
              <a:t>-24pt</a:t>
            </a:r>
          </a:p>
        </p:txBody>
      </p:sp>
      <p:sp>
        <p:nvSpPr>
          <p:cNvPr id="62" name="sc-2"/>
          <p:cNvSpPr/>
          <p:nvPr/>
        </p:nvSpPr>
        <p:spPr>
          <a:xfrm>
            <a:off x="8699500" y="3098800"/>
            <a:ext cx="2540000" cy="685800"/>
          </a:xfrm>
          <a:custGeom>
            <a:avLst/>
            <a:gdLst/>
            <a:ahLst/>
            <a:cxnLst/>
            <a:rect l="0" t="0" r="r" b="b"/>
            <a:pathLst>
              <a:path w="2540000" h="685800">
                <a:moveTo>
                  <a:pt x="101600" y="0"/>
                </a:moveTo>
                <a:lnTo>
                  <a:pt x="2438400" y="0"/>
                </a:lnTo>
                <a:cubicBezTo>
                  <a:pt x="2494534" y="0"/>
                  <a:pt x="2540000" y="45466"/>
                  <a:pt x="2540000" y="101600"/>
                </a:cubicBezTo>
                <a:lnTo>
                  <a:pt x="2540000" y="584200"/>
                </a:lnTo>
                <a:cubicBezTo>
                  <a:pt x="2540000" y="640334"/>
                  <a:pt x="2494534" y="685800"/>
                  <a:pt x="2438400" y="685800"/>
                </a:cubicBezTo>
                <a:lnTo>
                  <a:pt x="101600" y="685800"/>
                </a:lnTo>
                <a:cubicBezTo>
                  <a:pt x="45466" y="685800"/>
                  <a:pt x="0" y="640334"/>
                  <a:pt x="0" y="584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scb-2"/>
          <p:cNvSpPr/>
          <p:nvPr/>
        </p:nvSpPr>
        <p:spPr>
          <a:xfrm>
            <a:off x="8699500" y="3098800"/>
            <a:ext cx="31750" cy="685800"/>
          </a:xfrm>
          <a:custGeom>
            <a:avLst/>
            <a:gdLst/>
            <a:ahLst/>
            <a:cxnLst/>
            <a:rect l="0" t="0" r="r" b="b"/>
            <a:pathLst>
              <a:path w="31750" h="6858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669925"/>
                </a:lnTo>
                <a:cubicBezTo>
                  <a:pt x="31750" y="678688"/>
                  <a:pt x="24638" y="685800"/>
                  <a:pt x="15875" y="685800"/>
                </a:cubicBezTo>
                <a:lnTo>
                  <a:pt x="15875" y="685800"/>
                </a:lnTo>
                <a:cubicBezTo>
                  <a:pt x="7112" y="685800"/>
                  <a:pt x="0" y="678688"/>
                  <a:pt x="0" y="6699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icon-cloud"/>
          <p:cNvSpPr/>
          <p:nvPr/>
        </p:nvSpPr>
        <p:spPr>
          <a:xfrm>
            <a:off x="8915590" y="3306847"/>
            <a:ext cx="130746" cy="89958"/>
          </a:xfrm>
          <a:custGeom>
            <a:avLst/>
            <a:gdLst/>
            <a:ahLst/>
            <a:cxnLst/>
            <a:rect l="0" t="0" r="r" b="b"/>
            <a:pathLst>
              <a:path w="130746" h="89958">
                <a:moveTo>
                  <a:pt x="30289" y="89958"/>
                </a:moveTo>
                <a:cubicBezTo>
                  <a:pt x="14351" y="90720"/>
                  <a:pt x="762" y="78401"/>
                  <a:pt x="0" y="62463"/>
                </a:cubicBezTo>
                <a:cubicBezTo>
                  <a:pt x="-762" y="46524"/>
                  <a:pt x="11557" y="32935"/>
                  <a:pt x="27559" y="32173"/>
                </a:cubicBezTo>
                <a:cubicBezTo>
                  <a:pt x="29782" y="15346"/>
                  <a:pt x="43180" y="2201"/>
                  <a:pt x="60071" y="233"/>
                </a:cubicBezTo>
                <a:cubicBezTo>
                  <a:pt x="76962" y="-1736"/>
                  <a:pt x="93028" y="8043"/>
                  <a:pt x="99060" y="23918"/>
                </a:cubicBezTo>
                <a:cubicBezTo>
                  <a:pt x="117348" y="24680"/>
                  <a:pt x="131509" y="40111"/>
                  <a:pt x="130746" y="58335"/>
                </a:cubicBezTo>
                <a:cubicBezTo>
                  <a:pt x="129985" y="76560"/>
                  <a:pt x="114554" y="90720"/>
                  <a:pt x="96330" y="89958"/>
                </a:cubicBezTo>
                <a:close/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scn-2"/>
          <p:cNvSpPr txBox="1"/>
          <p:nvPr/>
        </p:nvSpPr>
        <p:spPr>
          <a:xfrm>
            <a:off x="9179560" y="324675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软件平台</a:t>
            </a:r>
          </a:p>
        </p:txBody>
      </p:sp>
      <p:sp>
        <p:nvSpPr>
          <p:cNvPr id="66" name="sc0-2"/>
          <p:cNvSpPr txBox="1"/>
          <p:nvPr/>
        </p:nvSpPr>
        <p:spPr>
          <a:xfrm>
            <a:off x="8876284" y="3503740"/>
            <a:ext cx="23469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15">
                <a:solidFill>
                  <a:srgbClr val="8FA3BC"/>
                </a:solidFill>
                <a:latin typeface="Arial"/>
                <a:ea typeface="Arial"/>
                <a:cs typeface="Arial"/>
              </a:rPr>
              <a:t>8%</a:t>
            </a:r>
          </a:p>
        </p:txBody>
      </p:sp>
      <p:sp>
        <p:nvSpPr>
          <p:cNvPr id="67" name="scar-2"/>
          <p:cNvSpPr txBox="1"/>
          <p:nvPr/>
        </p:nvSpPr>
        <p:spPr>
          <a:xfrm>
            <a:off x="9233408" y="35067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→</a:t>
            </a:r>
          </a:p>
        </p:txBody>
      </p:sp>
      <p:sp>
        <p:nvSpPr>
          <p:cNvPr id="68" name="sc1-2"/>
          <p:cNvSpPr txBox="1"/>
          <p:nvPr/>
        </p:nvSpPr>
        <p:spPr>
          <a:xfrm>
            <a:off x="9446260" y="3488055"/>
            <a:ext cx="33337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26%</a:t>
            </a:r>
          </a:p>
        </p:txBody>
      </p:sp>
      <p:sp>
        <p:nvSpPr>
          <p:cNvPr id="69" name="scd-2"/>
          <p:cNvSpPr/>
          <p:nvPr/>
        </p:nvSpPr>
        <p:spPr>
          <a:xfrm>
            <a:off x="10528300" y="3492500"/>
            <a:ext cx="558800" cy="215900"/>
          </a:xfrm>
          <a:custGeom>
            <a:avLst/>
            <a:gdLst/>
            <a:ahLst/>
            <a:cxnLst/>
            <a:rect l="0" t="0" r="r" b="b"/>
            <a:pathLst>
              <a:path w="558800" h="215900">
                <a:moveTo>
                  <a:pt x="107950" y="0"/>
                </a:moveTo>
                <a:lnTo>
                  <a:pt x="450850" y="0"/>
                </a:lnTo>
                <a:cubicBezTo>
                  <a:pt x="510477" y="0"/>
                  <a:pt x="558800" y="48324"/>
                  <a:pt x="558800" y="107950"/>
                </a:cubicBezTo>
                <a:lnTo>
                  <a:pt x="558800" y="107950"/>
                </a:lnTo>
                <a:cubicBezTo>
                  <a:pt x="558800" y="167576"/>
                  <a:pt x="510477" y="215900"/>
                  <a:pt x="4508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134C9C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scdt-2"/>
          <p:cNvSpPr txBox="1"/>
          <p:nvPr/>
        </p:nvSpPr>
        <p:spPr>
          <a:xfrm>
            <a:off x="10626725" y="3514566"/>
            <a:ext cx="36195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5">
                <a:solidFill>
                  <a:srgbClr val="134C9C"/>
                </a:solidFill>
                <a:latin typeface="Arial"/>
                <a:ea typeface="Arial"/>
                <a:cs typeface="Arial"/>
              </a:rPr>
              <a:t>+18pt</a:t>
            </a:r>
          </a:p>
        </p:txBody>
      </p:sp>
      <p:sp>
        <p:nvSpPr>
          <p:cNvPr id="71" name="sc-3"/>
          <p:cNvSpPr/>
          <p:nvPr/>
        </p:nvSpPr>
        <p:spPr>
          <a:xfrm>
            <a:off x="8699500" y="3898900"/>
            <a:ext cx="2540000" cy="685800"/>
          </a:xfrm>
          <a:custGeom>
            <a:avLst/>
            <a:gdLst/>
            <a:ahLst/>
            <a:cxnLst/>
            <a:rect l="0" t="0" r="r" b="b"/>
            <a:pathLst>
              <a:path w="2540000" h="685800">
                <a:moveTo>
                  <a:pt x="101600" y="0"/>
                </a:moveTo>
                <a:lnTo>
                  <a:pt x="2438400" y="0"/>
                </a:lnTo>
                <a:cubicBezTo>
                  <a:pt x="2494534" y="0"/>
                  <a:pt x="2540000" y="45466"/>
                  <a:pt x="2540000" y="101600"/>
                </a:cubicBezTo>
                <a:lnTo>
                  <a:pt x="2540000" y="584200"/>
                </a:lnTo>
                <a:cubicBezTo>
                  <a:pt x="2540000" y="640334"/>
                  <a:pt x="2494534" y="685800"/>
                  <a:pt x="2438400" y="685800"/>
                </a:cubicBezTo>
                <a:lnTo>
                  <a:pt x="101600" y="685800"/>
                </a:lnTo>
                <a:cubicBezTo>
                  <a:pt x="45466" y="685800"/>
                  <a:pt x="0" y="640334"/>
                  <a:pt x="0" y="584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scb-3"/>
          <p:cNvSpPr/>
          <p:nvPr/>
        </p:nvSpPr>
        <p:spPr>
          <a:xfrm>
            <a:off x="8699500" y="3898900"/>
            <a:ext cx="31750" cy="685800"/>
          </a:xfrm>
          <a:custGeom>
            <a:avLst/>
            <a:gdLst/>
            <a:ahLst/>
            <a:cxnLst/>
            <a:rect l="0" t="0" r="r" b="b"/>
            <a:pathLst>
              <a:path w="31750" h="6858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669925"/>
                </a:lnTo>
                <a:cubicBezTo>
                  <a:pt x="31750" y="678688"/>
                  <a:pt x="24638" y="685800"/>
                  <a:pt x="15875" y="685800"/>
                </a:cubicBezTo>
                <a:lnTo>
                  <a:pt x="15875" y="685800"/>
                </a:lnTo>
                <a:cubicBezTo>
                  <a:pt x="7112" y="685800"/>
                  <a:pt x="0" y="678688"/>
                  <a:pt x="0" y="6699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icon-hand"/>
          <p:cNvSpPr/>
          <p:nvPr/>
        </p:nvSpPr>
        <p:spPr>
          <a:xfrm>
            <a:off x="8926878" y="4093718"/>
            <a:ext cx="93297" cy="118364"/>
          </a:xfrm>
          <a:custGeom>
            <a:avLst/>
            <a:gdLst/>
            <a:ahLst/>
            <a:cxnLst/>
            <a:rect l="0" t="0" r="r" b="b"/>
            <a:pathLst>
              <a:path w="93297" h="118364">
                <a:moveTo>
                  <a:pt x="27257" y="63310"/>
                </a:moveTo>
                <a:lnTo>
                  <a:pt x="27257" y="19304"/>
                </a:lnTo>
                <a:cubicBezTo>
                  <a:pt x="27257" y="13208"/>
                  <a:pt x="32210" y="8255"/>
                  <a:pt x="38242" y="8255"/>
                </a:cubicBezTo>
                <a:cubicBezTo>
                  <a:pt x="44338" y="8255"/>
                  <a:pt x="49291" y="13208"/>
                  <a:pt x="49291" y="19304"/>
                </a:cubicBezTo>
                <a:lnTo>
                  <a:pt x="49291" y="53658"/>
                </a:lnTo>
                <a:moveTo>
                  <a:pt x="49291" y="53658"/>
                </a:moveTo>
                <a:lnTo>
                  <a:pt x="49291" y="11049"/>
                </a:lnTo>
                <a:cubicBezTo>
                  <a:pt x="49291" y="4953"/>
                  <a:pt x="54181" y="0"/>
                  <a:pt x="60277" y="0"/>
                </a:cubicBezTo>
                <a:cubicBezTo>
                  <a:pt x="66373" y="0"/>
                  <a:pt x="71262" y="4953"/>
                  <a:pt x="71262" y="11049"/>
                </a:cubicBezTo>
                <a:lnTo>
                  <a:pt x="71262" y="53658"/>
                </a:lnTo>
                <a:moveTo>
                  <a:pt x="71262" y="56452"/>
                </a:moveTo>
                <a:lnTo>
                  <a:pt x="71262" y="27559"/>
                </a:lnTo>
                <a:cubicBezTo>
                  <a:pt x="71262" y="21463"/>
                  <a:pt x="76215" y="16510"/>
                  <a:pt x="82311" y="16510"/>
                </a:cubicBezTo>
                <a:cubicBezTo>
                  <a:pt x="88344" y="16510"/>
                  <a:pt x="93297" y="21463"/>
                  <a:pt x="93297" y="27559"/>
                </a:cubicBezTo>
                <a:lnTo>
                  <a:pt x="93297" y="78423"/>
                </a:lnTo>
                <a:cubicBezTo>
                  <a:pt x="93297" y="100457"/>
                  <a:pt x="76787" y="118364"/>
                  <a:pt x="54752" y="118364"/>
                </a:cubicBezTo>
                <a:cubicBezTo>
                  <a:pt x="36909" y="118364"/>
                  <a:pt x="27257" y="110109"/>
                  <a:pt x="17605" y="96330"/>
                </a:cubicBezTo>
                <a:lnTo>
                  <a:pt x="1095" y="71565"/>
                </a:lnTo>
                <a:cubicBezTo>
                  <a:pt x="-1255" y="66675"/>
                  <a:pt x="269" y="60770"/>
                  <a:pt x="4778" y="57722"/>
                </a:cubicBezTo>
                <a:cubicBezTo>
                  <a:pt x="9223" y="54610"/>
                  <a:pt x="15255" y="55245"/>
                  <a:pt x="19002" y="59182"/>
                </a:cubicBezTo>
                <a:close/>
              </a:path>
            </a:pathLst>
          </a:custGeom>
          <a:noFill/>
          <a:ln w="1270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scn-3"/>
          <p:cNvSpPr txBox="1"/>
          <p:nvPr/>
        </p:nvSpPr>
        <p:spPr>
          <a:xfrm>
            <a:off x="9179560" y="404685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运维服务</a:t>
            </a:r>
          </a:p>
        </p:txBody>
      </p:sp>
      <p:sp>
        <p:nvSpPr>
          <p:cNvPr id="75" name="sc0-3"/>
          <p:cNvSpPr txBox="1"/>
          <p:nvPr/>
        </p:nvSpPr>
        <p:spPr>
          <a:xfrm>
            <a:off x="8876284" y="4303840"/>
            <a:ext cx="300609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15">
                <a:solidFill>
                  <a:srgbClr val="8FA3BC"/>
                </a:solidFill>
                <a:latin typeface="Arial"/>
                <a:ea typeface="Arial"/>
                <a:cs typeface="Arial"/>
              </a:rPr>
              <a:t>10%</a:t>
            </a:r>
          </a:p>
        </p:txBody>
      </p:sp>
      <p:sp>
        <p:nvSpPr>
          <p:cNvPr id="76" name="scar-3"/>
          <p:cNvSpPr txBox="1"/>
          <p:nvPr/>
        </p:nvSpPr>
        <p:spPr>
          <a:xfrm>
            <a:off x="9233408" y="43068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→</a:t>
            </a:r>
          </a:p>
        </p:txBody>
      </p:sp>
      <p:sp>
        <p:nvSpPr>
          <p:cNvPr id="77" name="sc1-3"/>
          <p:cNvSpPr txBox="1"/>
          <p:nvPr/>
        </p:nvSpPr>
        <p:spPr>
          <a:xfrm>
            <a:off x="9446260" y="4288155"/>
            <a:ext cx="33337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14%</a:t>
            </a:r>
          </a:p>
        </p:txBody>
      </p:sp>
      <p:sp>
        <p:nvSpPr>
          <p:cNvPr id="78" name="scd-3"/>
          <p:cNvSpPr/>
          <p:nvPr/>
        </p:nvSpPr>
        <p:spPr>
          <a:xfrm>
            <a:off x="10528300" y="4292600"/>
            <a:ext cx="558800" cy="215900"/>
          </a:xfrm>
          <a:custGeom>
            <a:avLst/>
            <a:gdLst/>
            <a:ahLst/>
            <a:cxnLst/>
            <a:rect l="0" t="0" r="r" b="b"/>
            <a:pathLst>
              <a:path w="558800" h="215900">
                <a:moveTo>
                  <a:pt x="107950" y="0"/>
                </a:moveTo>
                <a:lnTo>
                  <a:pt x="450850" y="0"/>
                </a:lnTo>
                <a:cubicBezTo>
                  <a:pt x="510477" y="0"/>
                  <a:pt x="558800" y="48324"/>
                  <a:pt x="558800" y="107950"/>
                </a:cubicBezTo>
                <a:lnTo>
                  <a:pt x="558800" y="107950"/>
                </a:lnTo>
                <a:cubicBezTo>
                  <a:pt x="558800" y="167576"/>
                  <a:pt x="510477" y="215900"/>
                  <a:pt x="4508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134C9C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scdt-3"/>
          <p:cNvSpPr txBox="1"/>
          <p:nvPr/>
        </p:nvSpPr>
        <p:spPr>
          <a:xfrm>
            <a:off x="10654348" y="4314666"/>
            <a:ext cx="3067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5">
                <a:solidFill>
                  <a:srgbClr val="134C9C"/>
                </a:solidFill>
                <a:latin typeface="Arial"/>
                <a:ea typeface="Arial"/>
                <a:cs typeface="Arial"/>
              </a:rPr>
              <a:t>+4pt</a:t>
            </a:r>
          </a:p>
        </p:txBody>
      </p:sp>
      <p:sp>
        <p:nvSpPr>
          <p:cNvPr id="80" name="sc-4"/>
          <p:cNvSpPr/>
          <p:nvPr/>
        </p:nvSpPr>
        <p:spPr>
          <a:xfrm>
            <a:off x="8699500" y="4699000"/>
            <a:ext cx="2540000" cy="685800"/>
          </a:xfrm>
          <a:custGeom>
            <a:avLst/>
            <a:gdLst/>
            <a:ahLst/>
            <a:cxnLst/>
            <a:rect l="0" t="0" r="r" b="b"/>
            <a:pathLst>
              <a:path w="2540000" h="685800">
                <a:moveTo>
                  <a:pt x="101600" y="0"/>
                </a:moveTo>
                <a:lnTo>
                  <a:pt x="2438400" y="0"/>
                </a:lnTo>
                <a:cubicBezTo>
                  <a:pt x="2494534" y="0"/>
                  <a:pt x="2540000" y="45466"/>
                  <a:pt x="2540000" y="101600"/>
                </a:cubicBezTo>
                <a:lnTo>
                  <a:pt x="2540000" y="584200"/>
                </a:lnTo>
                <a:cubicBezTo>
                  <a:pt x="2540000" y="640334"/>
                  <a:pt x="2494534" y="685800"/>
                  <a:pt x="2438400" y="685800"/>
                </a:cubicBezTo>
                <a:lnTo>
                  <a:pt x="101600" y="685800"/>
                </a:lnTo>
                <a:cubicBezTo>
                  <a:pt x="45466" y="685800"/>
                  <a:pt x="0" y="640334"/>
                  <a:pt x="0" y="584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scb-4"/>
          <p:cNvSpPr/>
          <p:nvPr/>
        </p:nvSpPr>
        <p:spPr>
          <a:xfrm>
            <a:off x="8699500" y="4699000"/>
            <a:ext cx="31750" cy="685800"/>
          </a:xfrm>
          <a:custGeom>
            <a:avLst/>
            <a:gdLst/>
            <a:ahLst/>
            <a:cxnLst/>
            <a:rect l="0" t="0" r="r" b="b"/>
            <a:pathLst>
              <a:path w="31750" h="6858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669925"/>
                </a:lnTo>
                <a:cubicBezTo>
                  <a:pt x="31750" y="678688"/>
                  <a:pt x="24638" y="685800"/>
                  <a:pt x="15875" y="685800"/>
                </a:cubicBezTo>
                <a:lnTo>
                  <a:pt x="15875" y="685800"/>
                </a:lnTo>
                <a:cubicBezTo>
                  <a:pt x="7112" y="685800"/>
                  <a:pt x="0" y="678688"/>
                  <a:pt x="0" y="6699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icon-layers"/>
          <p:cNvSpPr/>
          <p:nvPr/>
        </p:nvSpPr>
        <p:spPr>
          <a:xfrm>
            <a:off x="8923846" y="4896612"/>
            <a:ext cx="110109" cy="114173"/>
          </a:xfrm>
          <a:custGeom>
            <a:avLst/>
            <a:gdLst/>
            <a:ahLst/>
            <a:cxnLst/>
            <a:rect l="0" t="0" r="r" b="b"/>
            <a:pathLst>
              <a:path w="110109" h="114173">
                <a:moveTo>
                  <a:pt x="55055" y="0"/>
                </a:moveTo>
                <a:lnTo>
                  <a:pt x="110109" y="28892"/>
                </a:lnTo>
                <a:lnTo>
                  <a:pt x="55055" y="57785"/>
                </a:lnTo>
                <a:lnTo>
                  <a:pt x="0" y="28892"/>
                </a:lnTo>
                <a:close/>
                <a:moveTo>
                  <a:pt x="0" y="57785"/>
                </a:moveTo>
                <a:lnTo>
                  <a:pt x="55055" y="86677"/>
                </a:lnTo>
                <a:lnTo>
                  <a:pt x="110109" y="57785"/>
                </a:lnTo>
                <a:moveTo>
                  <a:pt x="0" y="85280"/>
                </a:moveTo>
                <a:lnTo>
                  <a:pt x="55055" y="114173"/>
                </a:lnTo>
                <a:lnTo>
                  <a:pt x="110109" y="85280"/>
                </a:lnTo>
              </a:path>
            </a:pathLst>
          </a:custGeom>
          <a:noFill/>
          <a:ln w="1270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scn-4"/>
          <p:cNvSpPr txBox="1"/>
          <p:nvPr/>
        </p:nvSpPr>
        <p:spPr>
          <a:xfrm>
            <a:off x="9179560" y="484695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其他业务</a:t>
            </a:r>
          </a:p>
        </p:txBody>
      </p:sp>
      <p:sp>
        <p:nvSpPr>
          <p:cNvPr id="84" name="sc0-4"/>
          <p:cNvSpPr txBox="1"/>
          <p:nvPr/>
        </p:nvSpPr>
        <p:spPr>
          <a:xfrm>
            <a:off x="8876284" y="5103940"/>
            <a:ext cx="300609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15">
                <a:solidFill>
                  <a:srgbClr val="8FA3BC"/>
                </a:solidFill>
                <a:latin typeface="Arial"/>
                <a:ea typeface="Arial"/>
                <a:cs typeface="Arial"/>
              </a:rPr>
              <a:t>10%</a:t>
            </a:r>
          </a:p>
        </p:txBody>
      </p:sp>
      <p:sp>
        <p:nvSpPr>
          <p:cNvPr id="85" name="scar-4"/>
          <p:cNvSpPr txBox="1"/>
          <p:nvPr/>
        </p:nvSpPr>
        <p:spPr>
          <a:xfrm>
            <a:off x="9233408" y="51069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→</a:t>
            </a:r>
          </a:p>
        </p:txBody>
      </p:sp>
      <p:sp>
        <p:nvSpPr>
          <p:cNvPr id="86" name="sc1-4"/>
          <p:cNvSpPr txBox="1"/>
          <p:nvPr/>
        </p:nvSpPr>
        <p:spPr>
          <a:xfrm>
            <a:off x="9446260" y="5088255"/>
            <a:ext cx="33337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12%</a:t>
            </a:r>
          </a:p>
        </p:txBody>
      </p:sp>
      <p:sp>
        <p:nvSpPr>
          <p:cNvPr id="87" name="scd-4"/>
          <p:cNvSpPr/>
          <p:nvPr/>
        </p:nvSpPr>
        <p:spPr>
          <a:xfrm>
            <a:off x="10528300" y="5092700"/>
            <a:ext cx="558800" cy="215900"/>
          </a:xfrm>
          <a:custGeom>
            <a:avLst/>
            <a:gdLst/>
            <a:ahLst/>
            <a:cxnLst/>
            <a:rect l="0" t="0" r="r" b="b"/>
            <a:pathLst>
              <a:path w="558800" h="215900">
                <a:moveTo>
                  <a:pt x="107950" y="0"/>
                </a:moveTo>
                <a:lnTo>
                  <a:pt x="450850" y="0"/>
                </a:lnTo>
                <a:cubicBezTo>
                  <a:pt x="510477" y="0"/>
                  <a:pt x="558800" y="48324"/>
                  <a:pt x="558800" y="107950"/>
                </a:cubicBezTo>
                <a:lnTo>
                  <a:pt x="558800" y="107950"/>
                </a:lnTo>
                <a:cubicBezTo>
                  <a:pt x="558800" y="167576"/>
                  <a:pt x="510477" y="215900"/>
                  <a:pt x="4508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134C9C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scdt-4"/>
          <p:cNvSpPr txBox="1"/>
          <p:nvPr/>
        </p:nvSpPr>
        <p:spPr>
          <a:xfrm>
            <a:off x="10654348" y="5114766"/>
            <a:ext cx="3067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5">
                <a:solidFill>
                  <a:srgbClr val="134C9C"/>
                </a:solidFill>
                <a:latin typeface="Arial"/>
                <a:ea typeface="Arial"/>
                <a:cs typeface="Arial"/>
              </a:rPr>
              <a:t>+2pt</a:t>
            </a:r>
          </a:p>
        </p:txBody>
      </p:sp>
      <p:sp>
        <p:nvSpPr>
          <p:cNvPr id="89" name="sum"/>
          <p:cNvSpPr/>
          <p:nvPr/>
        </p:nvSpPr>
        <p:spPr>
          <a:xfrm>
            <a:off x="952500" y="5588000"/>
            <a:ext cx="10287000" cy="533400"/>
          </a:xfrm>
          <a:custGeom>
            <a:avLst/>
            <a:gdLst/>
            <a:ahLst/>
            <a:cxnLst/>
            <a:rect l="0" t="0" r="r" b="b"/>
            <a:pathLst>
              <a:path w="10287000" h="5334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31800"/>
                </a:lnTo>
                <a:cubicBezTo>
                  <a:pt x="10287000" y="487934"/>
                  <a:pt x="10241534" y="533400"/>
                  <a:pt x="10185400" y="533400"/>
                </a:cubicBezTo>
                <a:lnTo>
                  <a:pt x="101600" y="533400"/>
                </a:lnTo>
                <a:cubicBezTo>
                  <a:pt x="45466" y="533400"/>
                  <a:pt x="0" y="487934"/>
                  <a:pt x="0" y="431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sum-bar"/>
          <p:cNvSpPr/>
          <p:nvPr/>
        </p:nvSpPr>
        <p:spPr>
          <a:xfrm>
            <a:off x="952500" y="55880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sum-h"/>
          <p:cNvSpPr txBox="1"/>
          <p:nvPr/>
        </p:nvSpPr>
        <p:spPr>
          <a:xfrm>
            <a:off x="1141222" y="56929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结构判断</a:t>
            </a:r>
          </a:p>
        </p:txBody>
      </p:sp>
      <p:sp>
        <p:nvSpPr>
          <p:cNvPr id="92" name="sum-p"/>
          <p:cNvSpPr txBox="1"/>
          <p:nvPr/>
        </p:nvSpPr>
        <p:spPr>
          <a:xfrm>
            <a:off x="1142365" y="5907961"/>
            <a:ext cx="548862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装备占比六年下降 24 个百分点，软件与服务合计从 18% 升到 40%；收入结构正在从卖设备转向卖能力。</a:t>
            </a:r>
          </a:p>
        </p:txBody>
      </p:sp>
      <p:cxnSp>
        <p:nvCxnSpPr>
          <p:cNvPr id="93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4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结构演变 · 六年四业务</a:t>
            </a:r>
          </a:p>
        </p:txBody>
      </p:sp>
      <p:sp>
        <p:nvSpPr>
          <p:cNvPr id="95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3909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研发投入与新品营收相关性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2637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SCATTER &amp; FIT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666099" y="673132"/>
            <a:ext cx="29546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每个点是一个事业部，横轴投入强度，纵轴新品营收占比</a:t>
            </a:r>
          </a:p>
        </p:txBody>
      </p:sp>
      <p:cxnSp>
        <p:nvCxnSpPr>
          <p:cNvPr id="10" name="gx-0"/>
          <p:cNvCxnSpPr/>
          <p:nvPr/>
        </p:nvCxnSpPr>
        <p:spPr>
          <a:xfrm>
            <a:off x="1651000" y="1739900"/>
            <a:ext cx="0" cy="32258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xt-0"/>
          <p:cNvSpPr txBox="1"/>
          <p:nvPr/>
        </p:nvSpPr>
        <p:spPr>
          <a:xfrm>
            <a:off x="1546479" y="5081524"/>
            <a:ext cx="20904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0%</a:t>
            </a:r>
          </a:p>
        </p:txBody>
      </p:sp>
      <p:cxnSp>
        <p:nvCxnSpPr>
          <p:cNvPr id="12" name="gx-5"/>
          <p:cNvCxnSpPr/>
          <p:nvPr/>
        </p:nvCxnSpPr>
        <p:spPr>
          <a:xfrm>
            <a:off x="3238500" y="1739900"/>
            <a:ext cx="0" cy="32258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xt-5"/>
          <p:cNvSpPr txBox="1"/>
          <p:nvPr/>
        </p:nvSpPr>
        <p:spPr>
          <a:xfrm>
            <a:off x="3133979" y="5081524"/>
            <a:ext cx="20904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5%</a:t>
            </a:r>
          </a:p>
        </p:txBody>
      </p:sp>
      <p:cxnSp>
        <p:nvCxnSpPr>
          <p:cNvPr id="14" name="gx-10"/>
          <p:cNvCxnSpPr/>
          <p:nvPr/>
        </p:nvCxnSpPr>
        <p:spPr>
          <a:xfrm>
            <a:off x="4826000" y="1739900"/>
            <a:ext cx="0" cy="32258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xt-10"/>
          <p:cNvSpPr txBox="1"/>
          <p:nvPr/>
        </p:nvSpPr>
        <p:spPr>
          <a:xfrm>
            <a:off x="4692078" y="508152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10%</a:t>
            </a:r>
          </a:p>
        </p:txBody>
      </p:sp>
      <p:cxnSp>
        <p:nvCxnSpPr>
          <p:cNvPr id="16" name="gx-15"/>
          <p:cNvCxnSpPr/>
          <p:nvPr/>
        </p:nvCxnSpPr>
        <p:spPr>
          <a:xfrm>
            <a:off x="6413500" y="1739900"/>
            <a:ext cx="0" cy="32258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xt-15"/>
          <p:cNvSpPr txBox="1"/>
          <p:nvPr/>
        </p:nvSpPr>
        <p:spPr>
          <a:xfrm>
            <a:off x="6279578" y="508152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15%</a:t>
            </a:r>
          </a:p>
        </p:txBody>
      </p:sp>
      <p:cxnSp>
        <p:nvCxnSpPr>
          <p:cNvPr id="18" name="gx-20"/>
          <p:cNvCxnSpPr/>
          <p:nvPr/>
        </p:nvCxnSpPr>
        <p:spPr>
          <a:xfrm>
            <a:off x="8001000" y="1739900"/>
            <a:ext cx="0" cy="32258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xt-20"/>
          <p:cNvSpPr txBox="1"/>
          <p:nvPr/>
        </p:nvSpPr>
        <p:spPr>
          <a:xfrm>
            <a:off x="7867079" y="508152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20%</a:t>
            </a:r>
          </a:p>
        </p:txBody>
      </p:sp>
      <p:cxnSp>
        <p:nvCxnSpPr>
          <p:cNvPr id="20" name="gy-0"/>
          <p:cNvCxnSpPr/>
          <p:nvPr/>
        </p:nvCxnSpPr>
        <p:spPr>
          <a:xfrm>
            <a:off x="1498600" y="4965700"/>
            <a:ext cx="6629400" cy="0"/>
          </a:xfrm>
          <a:prstGeom prst="line">
            <a:avLst/>
          </a:prstGeom>
          <a:ln w="6350" cap="rnd">
            <a:solidFill>
              <a:srgbClr val="0B2545">
                <a:alpha val="1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yt-0"/>
          <p:cNvSpPr txBox="1"/>
          <p:nvPr/>
        </p:nvSpPr>
        <p:spPr>
          <a:xfrm>
            <a:off x="1212850" y="4878324"/>
            <a:ext cx="20904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0%</a:t>
            </a:r>
          </a:p>
        </p:txBody>
      </p:sp>
      <p:cxnSp>
        <p:nvCxnSpPr>
          <p:cNvPr id="22" name="gy-10"/>
          <p:cNvCxnSpPr/>
          <p:nvPr/>
        </p:nvCxnSpPr>
        <p:spPr>
          <a:xfrm>
            <a:off x="1498600" y="4335780"/>
            <a:ext cx="66294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yt-10"/>
          <p:cNvSpPr txBox="1"/>
          <p:nvPr/>
        </p:nvSpPr>
        <p:spPr>
          <a:xfrm>
            <a:off x="1154049" y="424840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10%</a:t>
            </a:r>
          </a:p>
        </p:txBody>
      </p:sp>
      <p:cxnSp>
        <p:nvCxnSpPr>
          <p:cNvPr id="24" name="gy-20"/>
          <p:cNvCxnSpPr/>
          <p:nvPr/>
        </p:nvCxnSpPr>
        <p:spPr>
          <a:xfrm>
            <a:off x="1498600" y="3705860"/>
            <a:ext cx="66294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yt-20"/>
          <p:cNvSpPr txBox="1"/>
          <p:nvPr/>
        </p:nvSpPr>
        <p:spPr>
          <a:xfrm>
            <a:off x="1154049" y="361848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20%</a:t>
            </a:r>
          </a:p>
        </p:txBody>
      </p:sp>
      <p:cxnSp>
        <p:nvCxnSpPr>
          <p:cNvPr id="26" name="gy-30"/>
          <p:cNvCxnSpPr/>
          <p:nvPr/>
        </p:nvCxnSpPr>
        <p:spPr>
          <a:xfrm>
            <a:off x="1498600" y="3075940"/>
            <a:ext cx="66294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yt-30"/>
          <p:cNvSpPr txBox="1"/>
          <p:nvPr/>
        </p:nvSpPr>
        <p:spPr>
          <a:xfrm>
            <a:off x="1154049" y="298856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30%</a:t>
            </a:r>
          </a:p>
        </p:txBody>
      </p:sp>
      <p:cxnSp>
        <p:nvCxnSpPr>
          <p:cNvPr id="28" name="gy-40"/>
          <p:cNvCxnSpPr/>
          <p:nvPr/>
        </p:nvCxnSpPr>
        <p:spPr>
          <a:xfrm>
            <a:off x="1498600" y="2446020"/>
            <a:ext cx="66294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yt-40"/>
          <p:cNvSpPr txBox="1"/>
          <p:nvPr/>
        </p:nvSpPr>
        <p:spPr>
          <a:xfrm>
            <a:off x="1154049" y="235864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40%</a:t>
            </a:r>
          </a:p>
        </p:txBody>
      </p:sp>
      <p:cxnSp>
        <p:nvCxnSpPr>
          <p:cNvPr id="30" name="gy-50"/>
          <p:cNvCxnSpPr/>
          <p:nvPr/>
        </p:nvCxnSpPr>
        <p:spPr>
          <a:xfrm>
            <a:off x="1498600" y="1816100"/>
            <a:ext cx="66294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yt-50"/>
          <p:cNvSpPr txBox="1"/>
          <p:nvPr/>
        </p:nvSpPr>
        <p:spPr>
          <a:xfrm>
            <a:off x="1154049" y="172872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50%</a:t>
            </a:r>
          </a:p>
        </p:txBody>
      </p:sp>
      <p:sp>
        <p:nvSpPr>
          <p:cNvPr id="32" name="ylab"/>
          <p:cNvSpPr txBox="1"/>
          <p:nvPr/>
        </p:nvSpPr>
        <p:spPr>
          <a:xfrm>
            <a:off x="787908" y="1490408"/>
            <a:ext cx="6324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新品营收占比</a:t>
            </a:r>
          </a:p>
        </p:txBody>
      </p:sp>
      <p:sp>
        <p:nvSpPr>
          <p:cNvPr id="33" name="xlab"/>
          <p:cNvSpPr txBox="1"/>
          <p:nvPr/>
        </p:nvSpPr>
        <p:spPr>
          <a:xfrm>
            <a:off x="8206232" y="5097208"/>
            <a:ext cx="6324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研发投入占比</a:t>
            </a:r>
          </a:p>
        </p:txBody>
      </p:sp>
      <p:sp>
        <p:nvSpPr>
          <p:cNvPr id="34" name="band"/>
          <p:cNvSpPr/>
          <p:nvPr/>
        </p:nvSpPr>
        <p:spPr>
          <a:xfrm>
            <a:off x="2127250" y="2170557"/>
            <a:ext cx="5715000" cy="2882582"/>
          </a:xfrm>
          <a:custGeom>
            <a:avLst/>
            <a:gdLst/>
            <a:ahLst/>
            <a:cxnLst/>
            <a:rect l="0" t="0" r="r" b="b"/>
            <a:pathLst>
              <a:path w="5715000" h="2882582">
                <a:moveTo>
                  <a:pt x="0" y="2429066"/>
                </a:moveTo>
                <a:lnTo>
                  <a:pt x="142875" y="2368360"/>
                </a:lnTo>
                <a:lnTo>
                  <a:pt x="285750" y="2307590"/>
                </a:lnTo>
                <a:lnTo>
                  <a:pt x="428625" y="2246884"/>
                </a:lnTo>
                <a:lnTo>
                  <a:pt x="571500" y="2186178"/>
                </a:lnTo>
                <a:lnTo>
                  <a:pt x="714375" y="2125408"/>
                </a:lnTo>
                <a:lnTo>
                  <a:pt x="857250" y="2064703"/>
                </a:lnTo>
                <a:lnTo>
                  <a:pt x="1000125" y="2003996"/>
                </a:lnTo>
                <a:lnTo>
                  <a:pt x="1143000" y="1943227"/>
                </a:lnTo>
                <a:lnTo>
                  <a:pt x="1285875" y="1882521"/>
                </a:lnTo>
                <a:lnTo>
                  <a:pt x="1428750" y="1821815"/>
                </a:lnTo>
                <a:lnTo>
                  <a:pt x="1571625" y="1761046"/>
                </a:lnTo>
                <a:lnTo>
                  <a:pt x="1714500" y="1700340"/>
                </a:lnTo>
                <a:lnTo>
                  <a:pt x="1857375" y="1639633"/>
                </a:lnTo>
                <a:lnTo>
                  <a:pt x="2000250" y="1578864"/>
                </a:lnTo>
                <a:lnTo>
                  <a:pt x="2143125" y="1518158"/>
                </a:lnTo>
                <a:lnTo>
                  <a:pt x="2286000" y="1457452"/>
                </a:lnTo>
                <a:lnTo>
                  <a:pt x="2428875" y="1396682"/>
                </a:lnTo>
                <a:lnTo>
                  <a:pt x="2571750" y="1335977"/>
                </a:lnTo>
                <a:lnTo>
                  <a:pt x="2714625" y="1275270"/>
                </a:lnTo>
                <a:lnTo>
                  <a:pt x="2857500" y="1214501"/>
                </a:lnTo>
                <a:lnTo>
                  <a:pt x="3000375" y="1153795"/>
                </a:lnTo>
                <a:lnTo>
                  <a:pt x="3143250" y="1093089"/>
                </a:lnTo>
                <a:lnTo>
                  <a:pt x="3286125" y="1032320"/>
                </a:lnTo>
                <a:lnTo>
                  <a:pt x="3429000" y="971614"/>
                </a:lnTo>
                <a:lnTo>
                  <a:pt x="3571875" y="910907"/>
                </a:lnTo>
                <a:lnTo>
                  <a:pt x="3714750" y="850138"/>
                </a:lnTo>
                <a:lnTo>
                  <a:pt x="3857625" y="789432"/>
                </a:lnTo>
                <a:lnTo>
                  <a:pt x="4000500" y="728726"/>
                </a:lnTo>
                <a:lnTo>
                  <a:pt x="4143375" y="667956"/>
                </a:lnTo>
                <a:lnTo>
                  <a:pt x="4286250" y="607250"/>
                </a:lnTo>
                <a:lnTo>
                  <a:pt x="4429125" y="546544"/>
                </a:lnTo>
                <a:lnTo>
                  <a:pt x="4572000" y="485775"/>
                </a:lnTo>
                <a:lnTo>
                  <a:pt x="4714875" y="425069"/>
                </a:lnTo>
                <a:lnTo>
                  <a:pt x="4857750" y="364363"/>
                </a:lnTo>
                <a:lnTo>
                  <a:pt x="5000625" y="303594"/>
                </a:lnTo>
                <a:lnTo>
                  <a:pt x="5143500" y="242888"/>
                </a:lnTo>
                <a:lnTo>
                  <a:pt x="5286375" y="182182"/>
                </a:lnTo>
                <a:lnTo>
                  <a:pt x="5429250" y="121412"/>
                </a:lnTo>
                <a:lnTo>
                  <a:pt x="5572125" y="60706"/>
                </a:lnTo>
                <a:lnTo>
                  <a:pt x="5715000" y="0"/>
                </a:lnTo>
                <a:lnTo>
                  <a:pt x="5715000" y="453517"/>
                </a:lnTo>
                <a:lnTo>
                  <a:pt x="5572125" y="514223"/>
                </a:lnTo>
                <a:lnTo>
                  <a:pt x="5429250" y="574993"/>
                </a:lnTo>
                <a:lnTo>
                  <a:pt x="5286375" y="635699"/>
                </a:lnTo>
                <a:lnTo>
                  <a:pt x="5143500" y="696405"/>
                </a:lnTo>
                <a:lnTo>
                  <a:pt x="5000625" y="757174"/>
                </a:lnTo>
                <a:lnTo>
                  <a:pt x="4857750" y="817880"/>
                </a:lnTo>
                <a:lnTo>
                  <a:pt x="4714875" y="878586"/>
                </a:lnTo>
                <a:lnTo>
                  <a:pt x="4572000" y="939356"/>
                </a:lnTo>
                <a:lnTo>
                  <a:pt x="4429125" y="1000062"/>
                </a:lnTo>
                <a:lnTo>
                  <a:pt x="4286250" y="1060768"/>
                </a:lnTo>
                <a:lnTo>
                  <a:pt x="4143375" y="1121537"/>
                </a:lnTo>
                <a:lnTo>
                  <a:pt x="4000500" y="1182243"/>
                </a:lnTo>
                <a:lnTo>
                  <a:pt x="3857625" y="1242949"/>
                </a:lnTo>
                <a:lnTo>
                  <a:pt x="3714750" y="1303718"/>
                </a:lnTo>
                <a:lnTo>
                  <a:pt x="3571875" y="1364425"/>
                </a:lnTo>
                <a:lnTo>
                  <a:pt x="3429000" y="1425130"/>
                </a:lnTo>
                <a:lnTo>
                  <a:pt x="3286125" y="1485900"/>
                </a:lnTo>
                <a:lnTo>
                  <a:pt x="3143250" y="1546606"/>
                </a:lnTo>
                <a:lnTo>
                  <a:pt x="3000375" y="1607312"/>
                </a:lnTo>
                <a:lnTo>
                  <a:pt x="2857500" y="1668082"/>
                </a:lnTo>
                <a:lnTo>
                  <a:pt x="2714625" y="1728788"/>
                </a:lnTo>
                <a:lnTo>
                  <a:pt x="2571750" y="1789494"/>
                </a:lnTo>
                <a:lnTo>
                  <a:pt x="2428875" y="1850263"/>
                </a:lnTo>
                <a:lnTo>
                  <a:pt x="2286000" y="1910969"/>
                </a:lnTo>
                <a:lnTo>
                  <a:pt x="2143125" y="1971675"/>
                </a:lnTo>
                <a:lnTo>
                  <a:pt x="2000250" y="2032444"/>
                </a:lnTo>
                <a:lnTo>
                  <a:pt x="1857375" y="2093151"/>
                </a:lnTo>
                <a:lnTo>
                  <a:pt x="1714500" y="2153856"/>
                </a:lnTo>
                <a:lnTo>
                  <a:pt x="1571625" y="2214626"/>
                </a:lnTo>
                <a:lnTo>
                  <a:pt x="1428750" y="2275332"/>
                </a:lnTo>
                <a:lnTo>
                  <a:pt x="1285875" y="2336038"/>
                </a:lnTo>
                <a:lnTo>
                  <a:pt x="1143000" y="2396808"/>
                </a:lnTo>
                <a:lnTo>
                  <a:pt x="1000125" y="2457514"/>
                </a:lnTo>
                <a:lnTo>
                  <a:pt x="857250" y="2518220"/>
                </a:lnTo>
                <a:lnTo>
                  <a:pt x="714375" y="2578989"/>
                </a:lnTo>
                <a:lnTo>
                  <a:pt x="571500" y="2639695"/>
                </a:lnTo>
                <a:lnTo>
                  <a:pt x="428625" y="2700401"/>
                </a:lnTo>
                <a:lnTo>
                  <a:pt x="285750" y="2761170"/>
                </a:lnTo>
                <a:lnTo>
                  <a:pt x="142875" y="2821877"/>
                </a:lnTo>
                <a:lnTo>
                  <a:pt x="0" y="2882582"/>
                </a:lnTo>
                <a:close/>
              </a:path>
            </a:pathLst>
          </a:custGeom>
          <a:solidFill>
            <a:srgbClr val="1B5AA8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35" name="fit"/>
          <p:cNvCxnSpPr/>
          <p:nvPr/>
        </p:nvCxnSpPr>
        <p:spPr>
          <a:xfrm flipV="1">
            <a:off x="2127250" y="2397310"/>
            <a:ext cx="5715000" cy="2429087"/>
          </a:xfrm>
          <a:prstGeom prst="line">
            <a:avLst/>
          </a:prstGeom>
          <a:ln w="19050" cap="rnd">
            <a:solidFill>
              <a:srgbClr val="0B3E8F"/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halo-1"/>
          <p:cNvSpPr/>
          <p:nvPr/>
        </p:nvSpPr>
        <p:spPr>
          <a:xfrm>
            <a:off x="3397250" y="4151325"/>
            <a:ext cx="444500" cy="444500"/>
          </a:xfrm>
          <a:prstGeom prst="ellipse">
            <a:avLst/>
          </a:pr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pt-1"/>
          <p:cNvSpPr/>
          <p:nvPr/>
        </p:nvSpPr>
        <p:spPr>
          <a:xfrm>
            <a:off x="3448050" y="4202125"/>
            <a:ext cx="342900" cy="342900"/>
          </a:xfrm>
          <a:prstGeom prst="ellipse">
            <a:avLst/>
          </a:prstGeom>
          <a:gradFill rotWithShape="1">
            <a:gsLst>
              <a:gs pos="0">
                <a:srgbClr val="4D7EBB"/>
              </a:gs>
              <a:gs pos="100000">
                <a:srgbClr val="1B5AA8"/>
              </a:gs>
            </a:gsLst>
            <a:lin ang="744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halo-2"/>
          <p:cNvSpPr/>
          <p:nvPr/>
        </p:nvSpPr>
        <p:spPr>
          <a:xfrm>
            <a:off x="3937000" y="3691738"/>
            <a:ext cx="381000" cy="381000"/>
          </a:xfrm>
          <a:prstGeom prst="ellipse">
            <a:avLst/>
          </a:pr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pt-2"/>
          <p:cNvSpPr/>
          <p:nvPr/>
        </p:nvSpPr>
        <p:spPr>
          <a:xfrm>
            <a:off x="3987800" y="3742538"/>
            <a:ext cx="279400" cy="279400"/>
          </a:xfrm>
          <a:prstGeom prst="ellipse">
            <a:avLst/>
          </a:prstGeom>
          <a:gradFill rotWithShape="1">
            <a:gsLst>
              <a:gs pos="0">
                <a:srgbClr val="4D7EBB"/>
              </a:gs>
              <a:gs pos="100000">
                <a:srgbClr val="1B5AA8"/>
              </a:gs>
            </a:gsLst>
            <a:lin ang="744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halo-3"/>
          <p:cNvSpPr/>
          <p:nvPr/>
        </p:nvSpPr>
        <p:spPr>
          <a:xfrm>
            <a:off x="7334250" y="2047392"/>
            <a:ext cx="444500" cy="444500"/>
          </a:xfrm>
          <a:prstGeom prst="ellipse">
            <a:avLst/>
          </a:prstGeom>
          <a:solidFill>
            <a:srgbClr val="4694D7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pt-3"/>
          <p:cNvSpPr/>
          <p:nvPr/>
        </p:nvSpPr>
        <p:spPr>
          <a:xfrm>
            <a:off x="7385050" y="2098192"/>
            <a:ext cx="342900" cy="342900"/>
          </a:xfrm>
          <a:prstGeom prst="ellipse">
            <a:avLst/>
          </a:prstGeom>
          <a:gradFill rotWithShape="1">
            <a:gsLst>
              <a:gs pos="0">
                <a:srgbClr val="6FACE0"/>
              </a:gs>
              <a:gs pos="100000">
                <a:srgbClr val="4694D7"/>
              </a:gs>
            </a:gsLst>
            <a:lin ang="744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ptn-3"/>
          <p:cNvSpPr txBox="1"/>
          <p:nvPr/>
        </p:nvSpPr>
        <p:spPr>
          <a:xfrm>
            <a:off x="7278529" y="1895580"/>
            <a:ext cx="55594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软件事业部</a:t>
            </a:r>
          </a:p>
        </p:txBody>
      </p:sp>
      <p:sp>
        <p:nvSpPr>
          <p:cNvPr id="43" name="halo-4"/>
          <p:cNvSpPr/>
          <p:nvPr/>
        </p:nvSpPr>
        <p:spPr>
          <a:xfrm>
            <a:off x="2794000" y="4044493"/>
            <a:ext cx="381000" cy="381000"/>
          </a:xfrm>
          <a:prstGeom prst="ellipse">
            <a:avLst/>
          </a:prstGeom>
          <a:solidFill>
            <a:srgbClr val="134C9C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pt-4"/>
          <p:cNvSpPr/>
          <p:nvPr/>
        </p:nvSpPr>
        <p:spPr>
          <a:xfrm>
            <a:off x="2844800" y="4095293"/>
            <a:ext cx="279400" cy="279400"/>
          </a:xfrm>
          <a:prstGeom prst="ellipse">
            <a:avLst/>
          </a:prstGeom>
          <a:gradFill rotWithShape="1">
            <a:gsLst>
              <a:gs pos="0">
                <a:srgbClr val="4773B2"/>
              </a:gs>
              <a:gs pos="100000">
                <a:srgbClr val="134C9C"/>
              </a:gs>
            </a:gsLst>
            <a:lin ang="744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halo-5"/>
          <p:cNvSpPr/>
          <p:nvPr/>
        </p:nvSpPr>
        <p:spPr>
          <a:xfrm>
            <a:off x="2476500" y="4542384"/>
            <a:ext cx="317500" cy="317500"/>
          </a:xfrm>
          <a:prstGeom prst="ellipse">
            <a:avLst/>
          </a:prstGeom>
          <a:solidFill>
            <a:srgbClr val="134C9C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pt-5"/>
          <p:cNvSpPr/>
          <p:nvPr/>
        </p:nvSpPr>
        <p:spPr>
          <a:xfrm>
            <a:off x="2527300" y="4593184"/>
            <a:ext cx="215900" cy="215900"/>
          </a:xfrm>
          <a:prstGeom prst="ellipse">
            <a:avLst/>
          </a:prstGeom>
          <a:gradFill rotWithShape="1">
            <a:gsLst>
              <a:gs pos="0">
                <a:srgbClr val="4773B2"/>
              </a:gs>
              <a:gs pos="100000">
                <a:srgbClr val="134C9C"/>
              </a:gs>
            </a:gsLst>
            <a:lin ang="744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halo-6"/>
          <p:cNvSpPr/>
          <p:nvPr/>
        </p:nvSpPr>
        <p:spPr>
          <a:xfrm>
            <a:off x="6635750" y="2829001"/>
            <a:ext cx="317500" cy="317500"/>
          </a:xfrm>
          <a:prstGeom prst="ellipse">
            <a:avLst/>
          </a:prstGeom>
          <a:solidFill>
            <a:srgbClr val="3985CD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pt-6"/>
          <p:cNvSpPr/>
          <p:nvPr/>
        </p:nvSpPr>
        <p:spPr>
          <a:xfrm>
            <a:off x="6686550" y="2879801"/>
            <a:ext cx="215900" cy="215900"/>
          </a:xfrm>
          <a:prstGeom prst="ellipse">
            <a:avLst/>
          </a:prstGeom>
          <a:gradFill rotWithShape="1">
            <a:gsLst>
              <a:gs pos="0">
                <a:srgbClr val="65A0D8"/>
              </a:gs>
              <a:gs pos="100000">
                <a:srgbClr val="3985CD"/>
              </a:gs>
            </a:gsLst>
            <a:lin ang="744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ptn-6"/>
          <p:cNvSpPr txBox="1"/>
          <p:nvPr/>
        </p:nvSpPr>
        <p:spPr>
          <a:xfrm>
            <a:off x="6516529" y="2677189"/>
            <a:ext cx="55594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新兴业务部</a:t>
            </a:r>
          </a:p>
        </p:txBody>
      </p:sp>
      <p:sp>
        <p:nvSpPr>
          <p:cNvPr id="50" name="halo-7"/>
          <p:cNvSpPr/>
          <p:nvPr/>
        </p:nvSpPr>
        <p:spPr>
          <a:xfrm>
            <a:off x="5080000" y="3087014"/>
            <a:ext cx="381000" cy="381000"/>
          </a:xfrm>
          <a:prstGeom prst="ellipse">
            <a:avLst/>
          </a:prstGeom>
          <a:solidFill>
            <a:srgbClr val="2468B6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pt-7"/>
          <p:cNvSpPr/>
          <p:nvPr/>
        </p:nvSpPr>
        <p:spPr>
          <a:xfrm>
            <a:off x="5130800" y="3137814"/>
            <a:ext cx="279400" cy="279400"/>
          </a:xfrm>
          <a:prstGeom prst="ellipse">
            <a:avLst/>
          </a:prstGeom>
          <a:gradFill rotWithShape="1">
            <a:gsLst>
              <a:gs pos="0">
                <a:srgbClr val="5489C6"/>
              </a:gs>
              <a:gs pos="100000">
                <a:srgbClr val="2468B6"/>
              </a:gs>
            </a:gsLst>
            <a:lin ang="744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halo-8"/>
          <p:cNvSpPr/>
          <p:nvPr/>
        </p:nvSpPr>
        <p:spPr>
          <a:xfrm>
            <a:off x="5778500" y="3250794"/>
            <a:ext cx="381000" cy="381000"/>
          </a:xfrm>
          <a:prstGeom prst="ellipse">
            <a:avLst/>
          </a:pr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pt-8"/>
          <p:cNvSpPr/>
          <p:nvPr/>
        </p:nvSpPr>
        <p:spPr>
          <a:xfrm>
            <a:off x="5829300" y="3301594"/>
            <a:ext cx="279400" cy="279400"/>
          </a:xfrm>
          <a:prstGeom prst="ellipse">
            <a:avLst/>
          </a:prstGeom>
          <a:gradFill rotWithShape="1">
            <a:gsLst>
              <a:gs pos="0">
                <a:srgbClr val="5C95CF"/>
              </a:gs>
              <a:gs pos="100000">
                <a:srgbClr val="2E77C2"/>
              </a:gs>
            </a:gsLst>
            <a:lin ang="744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ptn-8"/>
          <p:cNvSpPr txBox="1"/>
          <p:nvPr/>
        </p:nvSpPr>
        <p:spPr>
          <a:xfrm>
            <a:off x="5643721" y="3098981"/>
            <a:ext cx="65055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行业解决方案</a:t>
            </a:r>
          </a:p>
        </p:txBody>
      </p:sp>
      <p:sp>
        <p:nvSpPr>
          <p:cNvPr id="55" name="halo-9"/>
          <p:cNvSpPr/>
          <p:nvPr/>
        </p:nvSpPr>
        <p:spPr>
          <a:xfrm>
            <a:off x="4413250" y="3887267"/>
            <a:ext cx="317500" cy="317500"/>
          </a:xfrm>
          <a:prstGeom prst="ellipse">
            <a:avLst/>
          </a:prstGeom>
          <a:solidFill>
            <a:srgbClr val="2468B6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pt-9"/>
          <p:cNvSpPr/>
          <p:nvPr/>
        </p:nvSpPr>
        <p:spPr>
          <a:xfrm>
            <a:off x="4464050" y="3938067"/>
            <a:ext cx="215900" cy="215900"/>
          </a:xfrm>
          <a:prstGeom prst="ellipse">
            <a:avLst/>
          </a:prstGeom>
          <a:gradFill rotWithShape="1">
            <a:gsLst>
              <a:gs pos="0">
                <a:srgbClr val="5489C6"/>
              </a:gs>
              <a:gs pos="100000">
                <a:srgbClr val="2468B6"/>
              </a:gs>
            </a:gsLst>
            <a:lin ang="744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halo-10"/>
          <p:cNvSpPr/>
          <p:nvPr/>
        </p:nvSpPr>
        <p:spPr>
          <a:xfrm>
            <a:off x="3206750" y="4000652"/>
            <a:ext cx="317500" cy="317500"/>
          </a:xfrm>
          <a:prstGeom prst="ellipse">
            <a:avLst/>
          </a:prstGeom>
          <a:solidFill>
            <a:srgbClr val="134C9C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pt-10"/>
          <p:cNvSpPr/>
          <p:nvPr/>
        </p:nvSpPr>
        <p:spPr>
          <a:xfrm>
            <a:off x="3257550" y="4051452"/>
            <a:ext cx="215900" cy="215900"/>
          </a:xfrm>
          <a:prstGeom prst="ellipse">
            <a:avLst/>
          </a:prstGeom>
          <a:gradFill rotWithShape="1">
            <a:gsLst>
              <a:gs pos="0">
                <a:srgbClr val="4773B2"/>
              </a:gs>
              <a:gs pos="100000">
                <a:srgbClr val="134C9C"/>
              </a:gs>
            </a:gsLst>
            <a:lin ang="744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r2card"/>
          <p:cNvSpPr/>
          <p:nvPr/>
        </p:nvSpPr>
        <p:spPr>
          <a:xfrm>
            <a:off x="1689100" y="1778000"/>
            <a:ext cx="1905000" cy="812800"/>
          </a:xfrm>
          <a:custGeom>
            <a:avLst/>
            <a:gdLst/>
            <a:ahLst/>
            <a:cxnLst/>
            <a:rect l="0" t="0" r="r" b="b"/>
            <a:pathLst>
              <a:path w="1905000" h="812800">
                <a:moveTo>
                  <a:pt x="101600" y="0"/>
                </a:moveTo>
                <a:lnTo>
                  <a:pt x="1803400" y="0"/>
                </a:lnTo>
                <a:cubicBezTo>
                  <a:pt x="1859534" y="0"/>
                  <a:pt x="1905000" y="45466"/>
                  <a:pt x="1905000" y="101600"/>
                </a:cubicBezTo>
                <a:lnTo>
                  <a:pt x="1905000" y="711200"/>
                </a:lnTo>
                <a:cubicBezTo>
                  <a:pt x="1905000" y="767334"/>
                  <a:pt x="1859534" y="812800"/>
                  <a:pt x="1803400" y="812800"/>
                </a:cubicBezTo>
                <a:lnTo>
                  <a:pt x="101600" y="812800"/>
                </a:lnTo>
                <a:cubicBezTo>
                  <a:pt x="45466" y="812800"/>
                  <a:pt x="0" y="767334"/>
                  <a:pt x="0" y="711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r2bar"/>
          <p:cNvSpPr/>
          <p:nvPr/>
        </p:nvSpPr>
        <p:spPr>
          <a:xfrm>
            <a:off x="1689100" y="1778000"/>
            <a:ext cx="31750" cy="812800"/>
          </a:xfrm>
          <a:custGeom>
            <a:avLst/>
            <a:gdLst/>
            <a:ahLst/>
            <a:cxnLst/>
            <a:rect l="0" t="0" r="r" b="b"/>
            <a:pathLst>
              <a:path w="31750" h="8128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96925"/>
                </a:lnTo>
                <a:cubicBezTo>
                  <a:pt x="31750" y="805688"/>
                  <a:pt x="24638" y="812800"/>
                  <a:pt x="15875" y="812800"/>
                </a:cubicBezTo>
                <a:lnTo>
                  <a:pt x="15875" y="812800"/>
                </a:lnTo>
                <a:cubicBezTo>
                  <a:pt x="7112" y="812800"/>
                  <a:pt x="0" y="805688"/>
                  <a:pt x="0" y="7969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r2v"/>
          <p:cNvSpPr txBox="1"/>
          <p:nvPr/>
        </p:nvSpPr>
        <p:spPr>
          <a:xfrm>
            <a:off x="1859788" y="1828102"/>
            <a:ext cx="1014984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30">
                <a:solidFill>
                  <a:srgbClr val="0B3E8F"/>
                </a:solidFill>
                <a:latin typeface="Arial"/>
                <a:ea typeface="Arial"/>
                <a:cs typeface="Arial"/>
              </a:rPr>
              <a:t>R² = 0.92</a:t>
            </a:r>
          </a:p>
        </p:txBody>
      </p:sp>
      <p:sp>
        <p:nvSpPr>
          <p:cNvPr id="62" name="r2l"/>
          <p:cNvSpPr txBox="1"/>
          <p:nvPr/>
        </p:nvSpPr>
        <p:spPr>
          <a:xfrm>
            <a:off x="1868170" y="2104866"/>
            <a:ext cx="4819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强正相关</a:t>
            </a:r>
          </a:p>
        </p:txBody>
      </p:sp>
      <p:sp>
        <p:nvSpPr>
          <p:cNvPr id="63" name="r2eq"/>
          <p:cNvSpPr txBox="1"/>
          <p:nvPr/>
        </p:nvSpPr>
        <p:spPr>
          <a:xfrm>
            <a:off x="1866646" y="2305082"/>
            <a:ext cx="104203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20">
                <a:solidFill>
                  <a:srgbClr val="1B5AA8"/>
                </a:solidFill>
                <a:latin typeface="Arial"/>
                <a:ea typeface="Arial"/>
                <a:cs typeface="Arial"/>
              </a:rPr>
              <a:t>y = 2.14x − 1.0</a:t>
            </a:r>
          </a:p>
        </p:txBody>
      </p:sp>
      <p:sp>
        <p:nvSpPr>
          <p:cNvPr id="64" name="side-bar"/>
          <p:cNvSpPr/>
          <p:nvPr/>
        </p:nvSpPr>
        <p:spPr>
          <a:xfrm>
            <a:off x="8509000" y="15875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side-h"/>
          <p:cNvSpPr txBox="1"/>
          <p:nvPr/>
        </p:nvSpPr>
        <p:spPr>
          <a:xfrm>
            <a:off x="8667750" y="1594644"/>
            <a:ext cx="10001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事业部明细</a:t>
            </a:r>
          </a:p>
        </p:txBody>
      </p:sp>
      <p:sp>
        <p:nvSpPr>
          <p:cNvPr id="66" name="side-p"/>
          <p:cNvSpPr txBox="1"/>
          <p:nvPr/>
        </p:nvSpPr>
        <p:spPr>
          <a:xfrm>
            <a:off x="8673465" y="18693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按研发投入强度排序</a:t>
            </a:r>
          </a:p>
        </p:txBody>
      </p:sp>
      <p:sp>
        <p:nvSpPr>
          <p:cNvPr id="67" name="rd-1"/>
          <p:cNvSpPr/>
          <p:nvPr/>
        </p:nvSpPr>
        <p:spPr>
          <a:xfrm>
            <a:off x="8553450" y="2305050"/>
            <a:ext cx="88900" cy="88900"/>
          </a:xfrm>
          <a:prstGeom prst="ellipse">
            <a:avLst/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rn-1"/>
          <p:cNvSpPr txBox="1"/>
          <p:nvPr/>
        </p:nvSpPr>
        <p:spPr>
          <a:xfrm>
            <a:off x="8724646" y="2254282"/>
            <a:ext cx="6559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软件事业部</a:t>
            </a:r>
          </a:p>
        </p:txBody>
      </p:sp>
      <p:sp>
        <p:nvSpPr>
          <p:cNvPr id="69" name="rx-1"/>
          <p:cNvSpPr txBox="1"/>
          <p:nvPr/>
        </p:nvSpPr>
        <p:spPr>
          <a:xfrm>
            <a:off x="10018014" y="2254282"/>
            <a:ext cx="40894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15">
                <a:solidFill>
                  <a:srgbClr val="64748B"/>
                </a:solidFill>
                <a:latin typeface="Arial"/>
                <a:ea typeface="Arial"/>
                <a:cs typeface="Arial"/>
              </a:rPr>
              <a:t>18.6%</a:t>
            </a:r>
          </a:p>
        </p:txBody>
      </p:sp>
      <p:sp>
        <p:nvSpPr>
          <p:cNvPr id="70" name="ry-1"/>
          <p:cNvSpPr txBox="1"/>
          <p:nvPr/>
        </p:nvSpPr>
        <p:spPr>
          <a:xfrm>
            <a:off x="10780014" y="2254282"/>
            <a:ext cx="40894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42.8%</a:t>
            </a:r>
          </a:p>
        </p:txBody>
      </p:sp>
      <p:cxnSp>
        <p:nvCxnSpPr>
          <p:cNvPr id="71" name="rl-1"/>
          <p:cNvCxnSpPr/>
          <p:nvPr/>
        </p:nvCxnSpPr>
        <p:spPr>
          <a:xfrm>
            <a:off x="8737600" y="2540000"/>
            <a:ext cx="24384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2" name="rd-2"/>
          <p:cNvSpPr/>
          <p:nvPr/>
        </p:nvSpPr>
        <p:spPr>
          <a:xfrm>
            <a:off x="8553450" y="2736850"/>
            <a:ext cx="88900" cy="88900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rn-2"/>
          <p:cNvSpPr txBox="1"/>
          <p:nvPr/>
        </p:nvSpPr>
        <p:spPr>
          <a:xfrm>
            <a:off x="8724646" y="2686082"/>
            <a:ext cx="6559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新兴业务部</a:t>
            </a:r>
          </a:p>
        </p:txBody>
      </p:sp>
      <p:sp>
        <p:nvSpPr>
          <p:cNvPr id="74" name="rx-2"/>
          <p:cNvSpPr txBox="1"/>
          <p:nvPr/>
        </p:nvSpPr>
        <p:spPr>
          <a:xfrm>
            <a:off x="10018014" y="2686082"/>
            <a:ext cx="40894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15">
                <a:solidFill>
                  <a:srgbClr val="64748B"/>
                </a:solidFill>
                <a:latin typeface="Arial"/>
                <a:ea typeface="Arial"/>
                <a:cs typeface="Arial"/>
              </a:rPr>
              <a:t>16.2%</a:t>
            </a:r>
          </a:p>
        </p:txBody>
      </p:sp>
      <p:sp>
        <p:nvSpPr>
          <p:cNvPr id="75" name="ry-2"/>
          <p:cNvSpPr txBox="1"/>
          <p:nvPr/>
        </p:nvSpPr>
        <p:spPr>
          <a:xfrm>
            <a:off x="10780014" y="2686082"/>
            <a:ext cx="40894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31.4%</a:t>
            </a:r>
          </a:p>
        </p:txBody>
      </p:sp>
      <p:cxnSp>
        <p:nvCxnSpPr>
          <p:cNvPr id="76" name="rl-2"/>
          <p:cNvCxnSpPr/>
          <p:nvPr/>
        </p:nvCxnSpPr>
        <p:spPr>
          <a:xfrm>
            <a:off x="8737600" y="2971800"/>
            <a:ext cx="24384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7" name="rd-3"/>
          <p:cNvSpPr/>
          <p:nvPr/>
        </p:nvSpPr>
        <p:spPr>
          <a:xfrm>
            <a:off x="8553450" y="3168650"/>
            <a:ext cx="88900" cy="889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rn-3"/>
          <p:cNvSpPr txBox="1"/>
          <p:nvPr/>
        </p:nvSpPr>
        <p:spPr>
          <a:xfrm>
            <a:off x="8724646" y="3117882"/>
            <a:ext cx="76771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行业解决方案</a:t>
            </a:r>
          </a:p>
        </p:txBody>
      </p:sp>
      <p:sp>
        <p:nvSpPr>
          <p:cNvPr id="79" name="rx-3"/>
          <p:cNvSpPr txBox="1"/>
          <p:nvPr/>
        </p:nvSpPr>
        <p:spPr>
          <a:xfrm>
            <a:off x="10018014" y="3117882"/>
            <a:ext cx="40894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15">
                <a:solidFill>
                  <a:srgbClr val="64748B"/>
                </a:solidFill>
                <a:latin typeface="Arial"/>
                <a:ea typeface="Arial"/>
                <a:cs typeface="Arial"/>
              </a:rPr>
              <a:t>13.6%</a:t>
            </a:r>
          </a:p>
        </p:txBody>
      </p:sp>
      <p:sp>
        <p:nvSpPr>
          <p:cNvPr id="80" name="ry-3"/>
          <p:cNvSpPr txBox="1"/>
          <p:nvPr/>
        </p:nvSpPr>
        <p:spPr>
          <a:xfrm>
            <a:off x="10780014" y="3117882"/>
            <a:ext cx="40894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24.2%</a:t>
            </a:r>
          </a:p>
        </p:txBody>
      </p:sp>
      <p:cxnSp>
        <p:nvCxnSpPr>
          <p:cNvPr id="81" name="rl-3"/>
          <p:cNvCxnSpPr/>
          <p:nvPr/>
        </p:nvCxnSpPr>
        <p:spPr>
          <a:xfrm>
            <a:off x="8737600" y="3403600"/>
            <a:ext cx="24384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rd-4"/>
          <p:cNvSpPr/>
          <p:nvPr/>
        </p:nvSpPr>
        <p:spPr>
          <a:xfrm>
            <a:off x="8553450" y="3600450"/>
            <a:ext cx="88900" cy="88900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rn-4"/>
          <p:cNvSpPr txBox="1"/>
          <p:nvPr/>
        </p:nvSpPr>
        <p:spPr>
          <a:xfrm>
            <a:off x="8724646" y="3549682"/>
            <a:ext cx="6559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海外事业部</a:t>
            </a:r>
          </a:p>
        </p:txBody>
      </p:sp>
      <p:sp>
        <p:nvSpPr>
          <p:cNvPr id="84" name="rx-4"/>
          <p:cNvSpPr txBox="1"/>
          <p:nvPr/>
        </p:nvSpPr>
        <p:spPr>
          <a:xfrm>
            <a:off x="10018014" y="3549682"/>
            <a:ext cx="40894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15">
                <a:solidFill>
                  <a:srgbClr val="64748B"/>
                </a:solidFill>
                <a:latin typeface="Arial"/>
                <a:ea typeface="Arial"/>
                <a:cs typeface="Arial"/>
              </a:rPr>
              <a:t>11.4%</a:t>
            </a:r>
          </a:p>
        </p:txBody>
      </p:sp>
      <p:sp>
        <p:nvSpPr>
          <p:cNvPr id="85" name="ry-4"/>
          <p:cNvSpPr txBox="1"/>
          <p:nvPr/>
        </p:nvSpPr>
        <p:spPr>
          <a:xfrm>
            <a:off x="10780014" y="3549682"/>
            <a:ext cx="40894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26.8%</a:t>
            </a:r>
          </a:p>
        </p:txBody>
      </p:sp>
      <p:cxnSp>
        <p:nvCxnSpPr>
          <p:cNvPr id="86" name="rl-4"/>
          <p:cNvCxnSpPr/>
          <p:nvPr/>
        </p:nvCxnSpPr>
        <p:spPr>
          <a:xfrm>
            <a:off x="8737600" y="3835400"/>
            <a:ext cx="24384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d-5"/>
          <p:cNvSpPr/>
          <p:nvPr/>
        </p:nvSpPr>
        <p:spPr>
          <a:xfrm>
            <a:off x="8553450" y="4032250"/>
            <a:ext cx="88900" cy="88900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rn-5"/>
          <p:cNvSpPr txBox="1"/>
          <p:nvPr/>
        </p:nvSpPr>
        <p:spPr>
          <a:xfrm>
            <a:off x="8724646" y="3981482"/>
            <a:ext cx="6559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能源事业部</a:t>
            </a:r>
          </a:p>
        </p:txBody>
      </p:sp>
      <p:sp>
        <p:nvSpPr>
          <p:cNvPr id="89" name="rx-5"/>
          <p:cNvSpPr txBox="1"/>
          <p:nvPr/>
        </p:nvSpPr>
        <p:spPr>
          <a:xfrm>
            <a:off x="10080371" y="3981482"/>
            <a:ext cx="34658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15">
                <a:solidFill>
                  <a:srgbClr val="64748B"/>
                </a:solidFill>
                <a:latin typeface="Arial"/>
                <a:ea typeface="Arial"/>
                <a:cs typeface="Arial"/>
              </a:rPr>
              <a:t>9.2%</a:t>
            </a:r>
          </a:p>
        </p:txBody>
      </p:sp>
      <p:sp>
        <p:nvSpPr>
          <p:cNvPr id="90" name="ry-5"/>
          <p:cNvSpPr txBox="1"/>
          <p:nvPr/>
        </p:nvSpPr>
        <p:spPr>
          <a:xfrm>
            <a:off x="10780014" y="3981482"/>
            <a:ext cx="40894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14.6%</a:t>
            </a:r>
          </a:p>
        </p:txBody>
      </p:sp>
      <p:cxnSp>
        <p:nvCxnSpPr>
          <p:cNvPr id="91" name="rl-5"/>
          <p:cNvCxnSpPr/>
          <p:nvPr/>
        </p:nvCxnSpPr>
        <p:spPr>
          <a:xfrm>
            <a:off x="8737600" y="4267200"/>
            <a:ext cx="24384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2" name="rd-6"/>
          <p:cNvSpPr/>
          <p:nvPr/>
        </p:nvSpPr>
        <p:spPr>
          <a:xfrm>
            <a:off x="8553450" y="4464050"/>
            <a:ext cx="88900" cy="8890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rn-6"/>
          <p:cNvSpPr txBox="1"/>
          <p:nvPr/>
        </p:nvSpPr>
        <p:spPr>
          <a:xfrm>
            <a:off x="8724646" y="4413282"/>
            <a:ext cx="54419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装备二部</a:t>
            </a:r>
          </a:p>
        </p:txBody>
      </p:sp>
      <p:sp>
        <p:nvSpPr>
          <p:cNvPr id="94" name="rx-6"/>
          <p:cNvSpPr txBox="1"/>
          <p:nvPr/>
        </p:nvSpPr>
        <p:spPr>
          <a:xfrm>
            <a:off x="10080371" y="4413282"/>
            <a:ext cx="34658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15">
                <a:solidFill>
                  <a:srgbClr val="64748B"/>
                </a:solidFill>
                <a:latin typeface="Arial"/>
                <a:ea typeface="Arial"/>
                <a:cs typeface="Arial"/>
              </a:rPr>
              <a:t>7.8%</a:t>
            </a:r>
          </a:p>
        </p:txBody>
      </p:sp>
      <p:sp>
        <p:nvSpPr>
          <p:cNvPr id="95" name="ry-6"/>
          <p:cNvSpPr txBox="1"/>
          <p:nvPr/>
        </p:nvSpPr>
        <p:spPr>
          <a:xfrm>
            <a:off x="10780014" y="4413282"/>
            <a:ext cx="40894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17.2%</a:t>
            </a:r>
          </a:p>
        </p:txBody>
      </p:sp>
      <p:cxnSp>
        <p:nvCxnSpPr>
          <p:cNvPr id="96" name="rl-6"/>
          <p:cNvCxnSpPr/>
          <p:nvPr/>
        </p:nvCxnSpPr>
        <p:spPr>
          <a:xfrm>
            <a:off x="8737600" y="4699000"/>
            <a:ext cx="24384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7" name="rd-7"/>
          <p:cNvSpPr/>
          <p:nvPr/>
        </p:nvSpPr>
        <p:spPr>
          <a:xfrm>
            <a:off x="8553450" y="4895850"/>
            <a:ext cx="88900" cy="8890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rn-7"/>
          <p:cNvSpPr txBox="1"/>
          <p:nvPr/>
        </p:nvSpPr>
        <p:spPr>
          <a:xfrm>
            <a:off x="8724646" y="4845082"/>
            <a:ext cx="54419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装备一部</a:t>
            </a:r>
          </a:p>
        </p:txBody>
      </p:sp>
      <p:sp>
        <p:nvSpPr>
          <p:cNvPr id="99" name="rx-7"/>
          <p:cNvSpPr txBox="1"/>
          <p:nvPr/>
        </p:nvSpPr>
        <p:spPr>
          <a:xfrm>
            <a:off x="10080371" y="4845082"/>
            <a:ext cx="34658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15">
                <a:solidFill>
                  <a:srgbClr val="64748B"/>
                </a:solidFill>
                <a:latin typeface="Arial"/>
                <a:ea typeface="Arial"/>
                <a:cs typeface="Arial"/>
              </a:rPr>
              <a:t>6.2%</a:t>
            </a:r>
          </a:p>
        </p:txBody>
      </p:sp>
      <p:sp>
        <p:nvSpPr>
          <p:cNvPr id="100" name="ry-7"/>
          <p:cNvSpPr txBox="1"/>
          <p:nvPr/>
        </p:nvSpPr>
        <p:spPr>
          <a:xfrm>
            <a:off x="10842371" y="4845082"/>
            <a:ext cx="34658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9.4%</a:t>
            </a:r>
          </a:p>
        </p:txBody>
      </p:sp>
      <p:cxnSp>
        <p:nvCxnSpPr>
          <p:cNvPr id="101" name="rl-7"/>
          <p:cNvCxnSpPr/>
          <p:nvPr/>
        </p:nvCxnSpPr>
        <p:spPr>
          <a:xfrm>
            <a:off x="8737600" y="5130800"/>
            <a:ext cx="24384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2" name="rd-8"/>
          <p:cNvSpPr/>
          <p:nvPr/>
        </p:nvSpPr>
        <p:spPr>
          <a:xfrm>
            <a:off x="8553450" y="5327650"/>
            <a:ext cx="88900" cy="889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rn-8"/>
          <p:cNvSpPr txBox="1"/>
          <p:nvPr/>
        </p:nvSpPr>
        <p:spPr>
          <a:xfrm>
            <a:off x="8724646" y="5276882"/>
            <a:ext cx="6559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配件事业部</a:t>
            </a:r>
          </a:p>
        </p:txBody>
      </p:sp>
      <p:sp>
        <p:nvSpPr>
          <p:cNvPr id="104" name="rx-8"/>
          <p:cNvSpPr txBox="1"/>
          <p:nvPr/>
        </p:nvSpPr>
        <p:spPr>
          <a:xfrm>
            <a:off x="10080371" y="5276882"/>
            <a:ext cx="34658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15">
                <a:solidFill>
                  <a:srgbClr val="64748B"/>
                </a:solidFill>
                <a:latin typeface="Arial"/>
                <a:ea typeface="Arial"/>
                <a:cs typeface="Arial"/>
              </a:rPr>
              <a:t>5.4%</a:t>
            </a:r>
          </a:p>
        </p:txBody>
      </p:sp>
      <p:sp>
        <p:nvSpPr>
          <p:cNvPr id="105" name="ry-8"/>
          <p:cNvSpPr txBox="1"/>
          <p:nvPr/>
        </p:nvSpPr>
        <p:spPr>
          <a:xfrm>
            <a:off x="10780014" y="5276882"/>
            <a:ext cx="40894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12.8%</a:t>
            </a:r>
          </a:p>
        </p:txBody>
      </p:sp>
      <p:sp>
        <p:nvSpPr>
          <p:cNvPr id="106" name="rhx"/>
          <p:cNvSpPr txBox="1"/>
          <p:nvPr/>
        </p:nvSpPr>
        <p:spPr>
          <a:xfrm>
            <a:off x="10161778" y="2049208"/>
            <a:ext cx="2628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投入</a:t>
            </a:r>
          </a:p>
        </p:txBody>
      </p:sp>
      <p:sp>
        <p:nvSpPr>
          <p:cNvPr id="107" name="rhy"/>
          <p:cNvSpPr txBox="1"/>
          <p:nvPr/>
        </p:nvSpPr>
        <p:spPr>
          <a:xfrm>
            <a:off x="10923778" y="2049208"/>
            <a:ext cx="26289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产出</a:t>
            </a:r>
          </a:p>
        </p:txBody>
      </p:sp>
      <p:sp>
        <p:nvSpPr>
          <p:cNvPr id="108" name="sum"/>
          <p:cNvSpPr/>
          <p:nvPr/>
        </p:nvSpPr>
        <p:spPr>
          <a:xfrm>
            <a:off x="952500" y="5549900"/>
            <a:ext cx="10287000" cy="571500"/>
          </a:xfrm>
          <a:custGeom>
            <a:avLst/>
            <a:gdLst/>
            <a:ahLst/>
            <a:cxnLst/>
            <a:rect l="0" t="0" r="r" b="b"/>
            <a:pathLst>
              <a:path w="10287000" h="5715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69900"/>
                </a:lnTo>
                <a:cubicBezTo>
                  <a:pt x="10287000" y="526034"/>
                  <a:pt x="10241534" y="571500"/>
                  <a:pt x="10185400" y="571500"/>
                </a:cubicBezTo>
                <a:lnTo>
                  <a:pt x="101600" y="571500"/>
                </a:lnTo>
                <a:cubicBezTo>
                  <a:pt x="45466" y="571500"/>
                  <a:pt x="0" y="526034"/>
                  <a:pt x="0" y="4699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sum-bar"/>
          <p:cNvSpPr/>
          <p:nvPr/>
        </p:nvSpPr>
        <p:spPr>
          <a:xfrm>
            <a:off x="952500" y="5549900"/>
            <a:ext cx="31750" cy="5715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0" name="sum-h"/>
          <p:cNvSpPr txBox="1"/>
          <p:nvPr/>
        </p:nvSpPr>
        <p:spPr>
          <a:xfrm>
            <a:off x="1141222" y="5642197"/>
            <a:ext cx="7753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相关性判断</a:t>
            </a:r>
          </a:p>
        </p:txBody>
      </p:sp>
      <p:sp>
        <p:nvSpPr>
          <p:cNvPr id="111" name="sum-p"/>
          <p:cNvSpPr txBox="1"/>
          <p:nvPr/>
        </p:nvSpPr>
        <p:spPr>
          <a:xfrm>
            <a:off x="1142365" y="5857161"/>
            <a:ext cx="70469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研发投入每增加 1 个百分点，新品营收占比平均提高 2.14 个百分点（R²=0.92）；但相关不等于因果，低投入事业部还需看行业属性。</a:t>
            </a:r>
          </a:p>
        </p:txBody>
      </p:sp>
      <p:cxnSp>
        <p:nvCxnSpPr>
          <p:cNvPr id="112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3" name="foot-l"/>
          <p:cNvSpPr txBox="1"/>
          <p:nvPr/>
        </p:nvSpPr>
        <p:spPr>
          <a:xfrm>
            <a:off x="573532" y="6532308"/>
            <a:ext cx="124218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散点与拟合 · 十个事业部</a:t>
            </a:r>
          </a:p>
        </p:txBody>
      </p:sp>
      <p:sp>
        <p:nvSpPr>
          <p:cNvPr id="114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两年季度营收对照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17271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GROUPED BARS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208899" y="673132"/>
            <a:ext cx="34118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同一季度两根柱并排，深色为今年，浅色为去年（单位：百万元）</a:t>
            </a:r>
          </a:p>
        </p:txBody>
      </p:sp>
      <p:cxnSp>
        <p:nvCxnSpPr>
          <p:cNvPr id="10" name="g-0"/>
          <p:cNvCxnSpPr/>
          <p:nvPr/>
        </p:nvCxnSpPr>
        <p:spPr>
          <a:xfrm>
            <a:off x="1651000" y="4826000"/>
            <a:ext cx="6413500" cy="0"/>
          </a:xfrm>
          <a:prstGeom prst="line">
            <a:avLst/>
          </a:prstGeom>
          <a:ln w="6350" cap="rnd">
            <a:solidFill>
              <a:srgbClr val="0B2545">
                <a:alpha val="1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gt-0"/>
          <p:cNvSpPr txBox="1"/>
          <p:nvPr/>
        </p:nvSpPr>
        <p:spPr>
          <a:xfrm>
            <a:off x="1424051" y="4738624"/>
            <a:ext cx="150241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0</a:t>
            </a:r>
          </a:p>
        </p:txBody>
      </p:sp>
      <p:cxnSp>
        <p:nvCxnSpPr>
          <p:cNvPr id="12" name="g-100"/>
          <p:cNvCxnSpPr/>
          <p:nvPr/>
        </p:nvCxnSpPr>
        <p:spPr>
          <a:xfrm>
            <a:off x="1651000" y="4334933"/>
            <a:ext cx="6413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gt-100"/>
          <p:cNvSpPr txBox="1"/>
          <p:nvPr/>
        </p:nvSpPr>
        <p:spPr>
          <a:xfrm>
            <a:off x="1306449" y="4247557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100</a:t>
            </a:r>
          </a:p>
        </p:txBody>
      </p:sp>
      <p:cxnSp>
        <p:nvCxnSpPr>
          <p:cNvPr id="14" name="g-200"/>
          <p:cNvCxnSpPr/>
          <p:nvPr/>
        </p:nvCxnSpPr>
        <p:spPr>
          <a:xfrm>
            <a:off x="1651000" y="3843867"/>
            <a:ext cx="6413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gt-200"/>
          <p:cNvSpPr txBox="1"/>
          <p:nvPr/>
        </p:nvSpPr>
        <p:spPr>
          <a:xfrm>
            <a:off x="1306449" y="3756491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200</a:t>
            </a:r>
          </a:p>
        </p:txBody>
      </p:sp>
      <p:cxnSp>
        <p:nvCxnSpPr>
          <p:cNvPr id="16" name="g-300"/>
          <p:cNvCxnSpPr/>
          <p:nvPr/>
        </p:nvCxnSpPr>
        <p:spPr>
          <a:xfrm>
            <a:off x="1651000" y="3352800"/>
            <a:ext cx="6413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gt-300"/>
          <p:cNvSpPr txBox="1"/>
          <p:nvPr/>
        </p:nvSpPr>
        <p:spPr>
          <a:xfrm>
            <a:off x="1306449" y="326542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300</a:t>
            </a:r>
          </a:p>
        </p:txBody>
      </p:sp>
      <p:cxnSp>
        <p:nvCxnSpPr>
          <p:cNvPr id="18" name="g-400"/>
          <p:cNvCxnSpPr/>
          <p:nvPr/>
        </p:nvCxnSpPr>
        <p:spPr>
          <a:xfrm>
            <a:off x="1651000" y="2861733"/>
            <a:ext cx="6413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gt-400"/>
          <p:cNvSpPr txBox="1"/>
          <p:nvPr/>
        </p:nvSpPr>
        <p:spPr>
          <a:xfrm>
            <a:off x="1306449" y="2774357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400</a:t>
            </a:r>
          </a:p>
        </p:txBody>
      </p:sp>
      <p:cxnSp>
        <p:nvCxnSpPr>
          <p:cNvPr id="20" name="g-500"/>
          <p:cNvCxnSpPr/>
          <p:nvPr/>
        </p:nvCxnSpPr>
        <p:spPr>
          <a:xfrm>
            <a:off x="1651000" y="2370667"/>
            <a:ext cx="6413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gt-500"/>
          <p:cNvSpPr txBox="1"/>
          <p:nvPr/>
        </p:nvSpPr>
        <p:spPr>
          <a:xfrm>
            <a:off x="1306449" y="2283291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500</a:t>
            </a:r>
          </a:p>
        </p:txBody>
      </p:sp>
      <p:cxnSp>
        <p:nvCxnSpPr>
          <p:cNvPr id="22" name="g-600"/>
          <p:cNvCxnSpPr/>
          <p:nvPr/>
        </p:nvCxnSpPr>
        <p:spPr>
          <a:xfrm>
            <a:off x="1651000" y="1879600"/>
            <a:ext cx="6413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gt-600"/>
          <p:cNvSpPr txBox="1"/>
          <p:nvPr/>
        </p:nvSpPr>
        <p:spPr>
          <a:xfrm>
            <a:off x="1306449" y="179222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600</a:t>
            </a:r>
          </a:p>
        </p:txBody>
      </p:sp>
      <p:sp>
        <p:nvSpPr>
          <p:cNvPr id="24" name="prev-1"/>
          <p:cNvSpPr/>
          <p:nvPr/>
        </p:nvSpPr>
        <p:spPr>
          <a:xfrm>
            <a:off x="2030412" y="3421571"/>
            <a:ext cx="584200" cy="1404429"/>
          </a:xfrm>
          <a:custGeom>
            <a:avLst/>
            <a:gdLst/>
            <a:ahLst/>
            <a:cxnLst/>
            <a:rect l="0" t="0" r="r" b="b"/>
            <a:pathLst>
              <a:path w="584200" h="1404429">
                <a:moveTo>
                  <a:pt x="0" y="1404429"/>
                </a:moveTo>
                <a:lnTo>
                  <a:pt x="0" y="63500"/>
                </a:lnTo>
                <a:cubicBezTo>
                  <a:pt x="0" y="28384"/>
                  <a:pt x="28448" y="0"/>
                  <a:pt x="63500" y="0"/>
                </a:cubicBezTo>
                <a:lnTo>
                  <a:pt x="520700" y="0"/>
                </a:lnTo>
                <a:cubicBezTo>
                  <a:pt x="555752" y="0"/>
                  <a:pt x="584200" y="28384"/>
                  <a:pt x="584200" y="63500"/>
                </a:cubicBezTo>
                <a:lnTo>
                  <a:pt x="584200" y="1404429"/>
                </a:lnTo>
                <a:close/>
              </a:path>
            </a:pathLst>
          </a:custGeom>
          <a:solidFill>
            <a:srgbClr val="BFD4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prevv-1"/>
          <p:cNvSpPr txBox="1"/>
          <p:nvPr/>
        </p:nvSpPr>
        <p:spPr>
          <a:xfrm>
            <a:off x="2188591" y="3207173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286</a:t>
            </a:r>
          </a:p>
        </p:txBody>
      </p:sp>
      <p:sp>
        <p:nvSpPr>
          <p:cNvPr id="26" name="cur-1"/>
          <p:cNvSpPr/>
          <p:nvPr/>
        </p:nvSpPr>
        <p:spPr>
          <a:xfrm>
            <a:off x="2703512" y="3097466"/>
            <a:ext cx="584200" cy="1728533"/>
          </a:xfrm>
          <a:custGeom>
            <a:avLst/>
            <a:gdLst/>
            <a:ahLst/>
            <a:cxnLst/>
            <a:rect l="0" t="0" r="r" b="b"/>
            <a:pathLst>
              <a:path w="584200" h="1728533">
                <a:moveTo>
                  <a:pt x="0" y="1728533"/>
                </a:moveTo>
                <a:lnTo>
                  <a:pt x="0" y="63500"/>
                </a:lnTo>
                <a:cubicBezTo>
                  <a:pt x="0" y="28384"/>
                  <a:pt x="28448" y="0"/>
                  <a:pt x="63500" y="0"/>
                </a:cubicBezTo>
                <a:lnTo>
                  <a:pt x="520700" y="0"/>
                </a:lnTo>
                <a:cubicBezTo>
                  <a:pt x="555752" y="0"/>
                  <a:pt x="584200" y="28384"/>
                  <a:pt x="584200" y="63500"/>
                </a:cubicBezTo>
                <a:lnTo>
                  <a:pt x="584200" y="1728533"/>
                </a:lnTo>
                <a:close/>
              </a:path>
            </a:pathLst>
          </a:custGeom>
          <a:gradFill rotWithShape="1">
            <a:gsLst>
              <a:gs pos="0">
                <a:srgbClr val="3C65A5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curv-1"/>
          <p:cNvSpPr txBox="1"/>
          <p:nvPr/>
        </p:nvSpPr>
        <p:spPr>
          <a:xfrm>
            <a:off x="2837116" y="2859543"/>
            <a:ext cx="316992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352</a:t>
            </a:r>
          </a:p>
        </p:txBody>
      </p:sp>
      <p:sp>
        <p:nvSpPr>
          <p:cNvPr id="28" name="gr-1"/>
          <p:cNvSpPr/>
          <p:nvPr/>
        </p:nvSpPr>
        <p:spPr>
          <a:xfrm>
            <a:off x="2379662" y="5219700"/>
            <a:ext cx="558800" cy="203200"/>
          </a:xfrm>
          <a:custGeom>
            <a:avLst/>
            <a:gdLst/>
            <a:ahLst/>
            <a:cxnLst/>
            <a:rect l="0" t="0" r="r" b="b"/>
            <a:pathLst>
              <a:path w="558800" h="203200">
                <a:moveTo>
                  <a:pt x="101600" y="0"/>
                </a:moveTo>
                <a:lnTo>
                  <a:pt x="457200" y="0"/>
                </a:lnTo>
                <a:cubicBezTo>
                  <a:pt x="513334" y="0"/>
                  <a:pt x="558800" y="45466"/>
                  <a:pt x="558800" y="101600"/>
                </a:cubicBezTo>
                <a:lnTo>
                  <a:pt x="558800" y="101600"/>
                </a:lnTo>
                <a:cubicBezTo>
                  <a:pt x="558800" y="157734"/>
                  <a:pt x="513334" y="203200"/>
                  <a:pt x="4572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grt-1"/>
          <p:cNvSpPr txBox="1"/>
          <p:nvPr/>
        </p:nvSpPr>
        <p:spPr>
          <a:xfrm>
            <a:off x="2505710" y="5235416"/>
            <a:ext cx="3067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+23%</a:t>
            </a:r>
          </a:p>
        </p:txBody>
      </p:sp>
      <p:sp>
        <p:nvSpPr>
          <p:cNvPr id="30" name="q-1"/>
          <p:cNvSpPr txBox="1"/>
          <p:nvPr/>
        </p:nvSpPr>
        <p:spPr>
          <a:xfrm>
            <a:off x="2489200" y="4871244"/>
            <a:ext cx="3397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75">
                <a:solidFill>
                  <a:srgbClr val="0B2545"/>
                </a:solidFill>
                <a:latin typeface="Arial"/>
                <a:ea typeface="Arial"/>
                <a:cs typeface="Arial"/>
              </a:rPr>
              <a:t>Q1</a:t>
            </a:r>
          </a:p>
        </p:txBody>
      </p:sp>
      <p:cxnSp>
        <p:nvCxnSpPr>
          <p:cNvPr id="31" name="link-1"/>
          <p:cNvCxnSpPr/>
          <p:nvPr/>
        </p:nvCxnSpPr>
        <p:spPr>
          <a:xfrm flipV="1">
            <a:off x="2322512" y="3097445"/>
            <a:ext cx="673100" cy="324104"/>
          </a:xfrm>
          <a:prstGeom prst="line">
            <a:avLst/>
          </a:prstGeom>
          <a:ln w="8890" cap="rnd">
            <a:solidFill>
              <a:srgbClr val="0B3E8F">
                <a:alpha val="3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prev-2"/>
          <p:cNvSpPr/>
          <p:nvPr/>
        </p:nvSpPr>
        <p:spPr>
          <a:xfrm>
            <a:off x="3538538" y="3146552"/>
            <a:ext cx="584200" cy="1679448"/>
          </a:xfrm>
          <a:custGeom>
            <a:avLst/>
            <a:gdLst/>
            <a:ahLst/>
            <a:cxnLst/>
            <a:rect l="0" t="0" r="r" b="b"/>
            <a:pathLst>
              <a:path w="584200" h="1679448">
                <a:moveTo>
                  <a:pt x="0" y="1679448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520700" y="0"/>
                </a:lnTo>
                <a:cubicBezTo>
                  <a:pt x="555752" y="0"/>
                  <a:pt x="584200" y="28448"/>
                  <a:pt x="584200" y="63500"/>
                </a:cubicBezTo>
                <a:lnTo>
                  <a:pt x="584200" y="1679448"/>
                </a:lnTo>
                <a:close/>
              </a:path>
            </a:pathLst>
          </a:custGeom>
          <a:solidFill>
            <a:srgbClr val="BFD4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prevv-2"/>
          <p:cNvSpPr txBox="1"/>
          <p:nvPr/>
        </p:nvSpPr>
        <p:spPr>
          <a:xfrm>
            <a:off x="3696716" y="2932176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342</a:t>
            </a:r>
          </a:p>
        </p:txBody>
      </p:sp>
      <p:sp>
        <p:nvSpPr>
          <p:cNvPr id="34" name="cur-2"/>
          <p:cNvSpPr/>
          <p:nvPr/>
        </p:nvSpPr>
        <p:spPr>
          <a:xfrm>
            <a:off x="4211638" y="2626042"/>
            <a:ext cx="584200" cy="2199958"/>
          </a:xfrm>
          <a:custGeom>
            <a:avLst/>
            <a:gdLst/>
            <a:ahLst/>
            <a:cxnLst/>
            <a:rect l="0" t="0" r="r" b="b"/>
            <a:pathLst>
              <a:path w="584200" h="2199958">
                <a:moveTo>
                  <a:pt x="0" y="2199958"/>
                </a:moveTo>
                <a:lnTo>
                  <a:pt x="0" y="63500"/>
                </a:lnTo>
                <a:cubicBezTo>
                  <a:pt x="0" y="28384"/>
                  <a:pt x="28448" y="0"/>
                  <a:pt x="63500" y="0"/>
                </a:cubicBezTo>
                <a:lnTo>
                  <a:pt x="520700" y="0"/>
                </a:lnTo>
                <a:cubicBezTo>
                  <a:pt x="555752" y="0"/>
                  <a:pt x="584200" y="28384"/>
                  <a:pt x="584200" y="63500"/>
                </a:cubicBezTo>
                <a:lnTo>
                  <a:pt x="584200" y="2199958"/>
                </a:lnTo>
                <a:close/>
              </a:path>
            </a:pathLst>
          </a:custGeom>
          <a:gradFill rotWithShape="1">
            <a:gsLst>
              <a:gs pos="0">
                <a:srgbClr val="4270B0"/>
              </a:gs>
              <a:gs pos="100000">
                <a:srgbClr val="134C9C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curv-2"/>
          <p:cNvSpPr txBox="1"/>
          <p:nvPr/>
        </p:nvSpPr>
        <p:spPr>
          <a:xfrm>
            <a:off x="4345242" y="2388119"/>
            <a:ext cx="316992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5">
                <a:solidFill>
                  <a:srgbClr val="134C9C"/>
                </a:solidFill>
                <a:latin typeface="Arial"/>
                <a:ea typeface="Arial"/>
                <a:cs typeface="Arial"/>
              </a:rPr>
              <a:t>448</a:t>
            </a:r>
          </a:p>
        </p:txBody>
      </p:sp>
      <p:sp>
        <p:nvSpPr>
          <p:cNvPr id="36" name="gr-2"/>
          <p:cNvSpPr/>
          <p:nvPr/>
        </p:nvSpPr>
        <p:spPr>
          <a:xfrm>
            <a:off x="3887788" y="5219700"/>
            <a:ext cx="558800" cy="203200"/>
          </a:xfrm>
          <a:custGeom>
            <a:avLst/>
            <a:gdLst/>
            <a:ahLst/>
            <a:cxnLst/>
            <a:rect l="0" t="0" r="r" b="b"/>
            <a:pathLst>
              <a:path w="558800" h="203200">
                <a:moveTo>
                  <a:pt x="101600" y="0"/>
                </a:moveTo>
                <a:lnTo>
                  <a:pt x="457200" y="0"/>
                </a:lnTo>
                <a:cubicBezTo>
                  <a:pt x="513334" y="0"/>
                  <a:pt x="558800" y="45466"/>
                  <a:pt x="558800" y="101600"/>
                </a:cubicBezTo>
                <a:lnTo>
                  <a:pt x="558800" y="101600"/>
                </a:lnTo>
                <a:cubicBezTo>
                  <a:pt x="558800" y="157734"/>
                  <a:pt x="513334" y="203200"/>
                  <a:pt x="4572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134C9C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grt-2"/>
          <p:cNvSpPr txBox="1"/>
          <p:nvPr/>
        </p:nvSpPr>
        <p:spPr>
          <a:xfrm>
            <a:off x="4013835" y="5235416"/>
            <a:ext cx="3067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5">
                <a:solidFill>
                  <a:srgbClr val="134C9C"/>
                </a:solidFill>
                <a:latin typeface="Arial"/>
                <a:ea typeface="Arial"/>
                <a:cs typeface="Arial"/>
              </a:rPr>
              <a:t>+31%</a:t>
            </a:r>
          </a:p>
        </p:txBody>
      </p:sp>
      <p:sp>
        <p:nvSpPr>
          <p:cNvPr id="38" name="q-2"/>
          <p:cNvSpPr txBox="1"/>
          <p:nvPr/>
        </p:nvSpPr>
        <p:spPr>
          <a:xfrm>
            <a:off x="3997325" y="4871244"/>
            <a:ext cx="3397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75">
                <a:solidFill>
                  <a:srgbClr val="0B2545"/>
                </a:solidFill>
                <a:latin typeface="Arial"/>
                <a:ea typeface="Arial"/>
                <a:cs typeface="Arial"/>
              </a:rPr>
              <a:t>Q2</a:t>
            </a:r>
          </a:p>
        </p:txBody>
      </p:sp>
      <p:cxnSp>
        <p:nvCxnSpPr>
          <p:cNvPr id="39" name="link-2"/>
          <p:cNvCxnSpPr/>
          <p:nvPr/>
        </p:nvCxnSpPr>
        <p:spPr>
          <a:xfrm flipV="1">
            <a:off x="3830638" y="2626021"/>
            <a:ext cx="673100" cy="520531"/>
          </a:xfrm>
          <a:prstGeom prst="line">
            <a:avLst/>
          </a:prstGeom>
          <a:ln w="8890" cap="rnd">
            <a:solidFill>
              <a:srgbClr val="134C9C">
                <a:alpha val="3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prev-3"/>
          <p:cNvSpPr/>
          <p:nvPr/>
        </p:nvSpPr>
        <p:spPr>
          <a:xfrm>
            <a:off x="5046662" y="3264408"/>
            <a:ext cx="584200" cy="1561592"/>
          </a:xfrm>
          <a:custGeom>
            <a:avLst/>
            <a:gdLst/>
            <a:ahLst/>
            <a:cxnLst/>
            <a:rect l="0" t="0" r="r" b="b"/>
            <a:pathLst>
              <a:path w="584200" h="1561592">
                <a:moveTo>
                  <a:pt x="0" y="1561592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520700" y="0"/>
                </a:lnTo>
                <a:cubicBezTo>
                  <a:pt x="555752" y="0"/>
                  <a:pt x="584200" y="28448"/>
                  <a:pt x="584200" y="63500"/>
                </a:cubicBezTo>
                <a:lnTo>
                  <a:pt x="584200" y="1561592"/>
                </a:lnTo>
                <a:close/>
              </a:path>
            </a:pathLst>
          </a:custGeom>
          <a:solidFill>
            <a:srgbClr val="BFD4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prevv-3"/>
          <p:cNvSpPr txBox="1"/>
          <p:nvPr/>
        </p:nvSpPr>
        <p:spPr>
          <a:xfrm>
            <a:off x="5204841" y="3050032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318</a:t>
            </a:r>
          </a:p>
        </p:txBody>
      </p:sp>
      <p:sp>
        <p:nvSpPr>
          <p:cNvPr id="42" name="cur-3"/>
          <p:cNvSpPr/>
          <p:nvPr/>
        </p:nvSpPr>
        <p:spPr>
          <a:xfrm>
            <a:off x="5719762" y="2734056"/>
            <a:ext cx="584200" cy="2091944"/>
          </a:xfrm>
          <a:custGeom>
            <a:avLst/>
            <a:gdLst/>
            <a:ahLst/>
            <a:cxnLst/>
            <a:rect l="0" t="0" r="r" b="b"/>
            <a:pathLst>
              <a:path w="584200" h="2091944">
                <a:moveTo>
                  <a:pt x="0" y="2091944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520700" y="0"/>
                </a:lnTo>
                <a:cubicBezTo>
                  <a:pt x="555752" y="0"/>
                  <a:pt x="584200" y="28448"/>
                  <a:pt x="584200" y="63500"/>
                </a:cubicBezTo>
                <a:lnTo>
                  <a:pt x="584200" y="2091944"/>
                </a:lnTo>
                <a:close/>
              </a:path>
            </a:pathLst>
          </a:custGeom>
          <a:gradFill rotWithShape="1">
            <a:gsLst>
              <a:gs pos="0">
                <a:srgbClr val="497BB9"/>
              </a:gs>
              <a:gs pos="100000">
                <a:srgbClr val="1B5AA8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curv-3"/>
          <p:cNvSpPr txBox="1"/>
          <p:nvPr/>
        </p:nvSpPr>
        <p:spPr>
          <a:xfrm>
            <a:off x="5853366" y="2496153"/>
            <a:ext cx="316992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5">
                <a:solidFill>
                  <a:srgbClr val="1B5AA8"/>
                </a:solidFill>
                <a:latin typeface="Arial"/>
                <a:ea typeface="Arial"/>
                <a:cs typeface="Arial"/>
              </a:rPr>
              <a:t>426</a:t>
            </a:r>
          </a:p>
        </p:txBody>
      </p:sp>
      <p:sp>
        <p:nvSpPr>
          <p:cNvPr id="44" name="gr-3"/>
          <p:cNvSpPr/>
          <p:nvPr/>
        </p:nvSpPr>
        <p:spPr>
          <a:xfrm>
            <a:off x="5395912" y="5219700"/>
            <a:ext cx="558800" cy="203200"/>
          </a:xfrm>
          <a:custGeom>
            <a:avLst/>
            <a:gdLst/>
            <a:ahLst/>
            <a:cxnLst/>
            <a:rect l="0" t="0" r="r" b="b"/>
            <a:pathLst>
              <a:path w="558800" h="203200">
                <a:moveTo>
                  <a:pt x="101600" y="0"/>
                </a:moveTo>
                <a:lnTo>
                  <a:pt x="457200" y="0"/>
                </a:lnTo>
                <a:cubicBezTo>
                  <a:pt x="513334" y="0"/>
                  <a:pt x="558800" y="45466"/>
                  <a:pt x="558800" y="101600"/>
                </a:cubicBezTo>
                <a:lnTo>
                  <a:pt x="558800" y="101600"/>
                </a:lnTo>
                <a:cubicBezTo>
                  <a:pt x="558800" y="157734"/>
                  <a:pt x="513334" y="203200"/>
                  <a:pt x="4572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grt-3"/>
          <p:cNvSpPr txBox="1"/>
          <p:nvPr/>
        </p:nvSpPr>
        <p:spPr>
          <a:xfrm>
            <a:off x="5521960" y="5235416"/>
            <a:ext cx="3067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5">
                <a:solidFill>
                  <a:srgbClr val="1B5AA8"/>
                </a:solidFill>
                <a:latin typeface="Arial"/>
                <a:ea typeface="Arial"/>
                <a:cs typeface="Arial"/>
              </a:rPr>
              <a:t>+34%</a:t>
            </a:r>
          </a:p>
        </p:txBody>
      </p:sp>
      <p:sp>
        <p:nvSpPr>
          <p:cNvPr id="46" name="q-3"/>
          <p:cNvSpPr txBox="1"/>
          <p:nvPr/>
        </p:nvSpPr>
        <p:spPr>
          <a:xfrm>
            <a:off x="5505450" y="4871244"/>
            <a:ext cx="3397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75">
                <a:solidFill>
                  <a:srgbClr val="0B2545"/>
                </a:solidFill>
                <a:latin typeface="Arial"/>
                <a:ea typeface="Arial"/>
                <a:cs typeface="Arial"/>
              </a:rPr>
              <a:t>Q3</a:t>
            </a:r>
          </a:p>
        </p:txBody>
      </p:sp>
      <p:cxnSp>
        <p:nvCxnSpPr>
          <p:cNvPr id="47" name="link-3"/>
          <p:cNvCxnSpPr/>
          <p:nvPr/>
        </p:nvCxnSpPr>
        <p:spPr>
          <a:xfrm flipV="1">
            <a:off x="5338762" y="2734056"/>
            <a:ext cx="673100" cy="530352"/>
          </a:xfrm>
          <a:prstGeom prst="line">
            <a:avLst/>
          </a:prstGeom>
          <a:ln w="8890" cap="rnd">
            <a:solidFill>
              <a:srgbClr val="1B5AA8">
                <a:alpha val="3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prev-4"/>
          <p:cNvSpPr/>
          <p:nvPr/>
        </p:nvSpPr>
        <p:spPr>
          <a:xfrm>
            <a:off x="6554788" y="2881376"/>
            <a:ext cx="584200" cy="1944624"/>
          </a:xfrm>
          <a:custGeom>
            <a:avLst/>
            <a:gdLst/>
            <a:ahLst/>
            <a:cxnLst/>
            <a:rect l="0" t="0" r="r" b="b"/>
            <a:pathLst>
              <a:path w="584200" h="1944624">
                <a:moveTo>
                  <a:pt x="0" y="1944624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520700" y="0"/>
                </a:lnTo>
                <a:cubicBezTo>
                  <a:pt x="555752" y="0"/>
                  <a:pt x="584200" y="28448"/>
                  <a:pt x="584200" y="63500"/>
                </a:cubicBezTo>
                <a:lnTo>
                  <a:pt x="584200" y="1944624"/>
                </a:lnTo>
                <a:close/>
              </a:path>
            </a:pathLst>
          </a:custGeom>
          <a:solidFill>
            <a:srgbClr val="BFD4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prevv-4"/>
          <p:cNvSpPr txBox="1"/>
          <p:nvPr/>
        </p:nvSpPr>
        <p:spPr>
          <a:xfrm>
            <a:off x="6712966" y="2667000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396</a:t>
            </a:r>
          </a:p>
        </p:txBody>
      </p:sp>
      <p:sp>
        <p:nvSpPr>
          <p:cNvPr id="50" name="cur-4"/>
          <p:cNvSpPr/>
          <p:nvPr/>
        </p:nvSpPr>
        <p:spPr>
          <a:xfrm>
            <a:off x="7227888" y="2066226"/>
            <a:ext cx="584200" cy="2759774"/>
          </a:xfrm>
          <a:custGeom>
            <a:avLst/>
            <a:gdLst/>
            <a:ahLst/>
            <a:cxnLst/>
            <a:rect l="0" t="0" r="r" b="b"/>
            <a:pathLst>
              <a:path w="584200" h="2759774">
                <a:moveTo>
                  <a:pt x="0" y="2759774"/>
                </a:moveTo>
                <a:lnTo>
                  <a:pt x="0" y="63500"/>
                </a:lnTo>
                <a:cubicBezTo>
                  <a:pt x="0" y="28385"/>
                  <a:pt x="28448" y="0"/>
                  <a:pt x="63500" y="0"/>
                </a:cubicBezTo>
                <a:lnTo>
                  <a:pt x="520700" y="0"/>
                </a:lnTo>
                <a:cubicBezTo>
                  <a:pt x="555752" y="0"/>
                  <a:pt x="584200" y="28385"/>
                  <a:pt x="584200" y="63500"/>
                </a:cubicBezTo>
                <a:lnTo>
                  <a:pt x="584200" y="2759774"/>
                </a:lnTo>
                <a:close/>
              </a:path>
            </a:pathLst>
          </a:custGeom>
          <a:gradFill rotWithShape="1">
            <a:gsLst>
              <a:gs pos="0">
                <a:srgbClr val="5086C5"/>
              </a:gs>
              <a:gs pos="100000">
                <a:srgbClr val="2468B6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curv-4"/>
          <p:cNvSpPr txBox="1"/>
          <p:nvPr/>
        </p:nvSpPr>
        <p:spPr>
          <a:xfrm>
            <a:off x="7361492" y="1828303"/>
            <a:ext cx="316992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5">
                <a:solidFill>
                  <a:srgbClr val="2468B6"/>
                </a:solidFill>
                <a:latin typeface="Arial"/>
                <a:ea typeface="Arial"/>
                <a:cs typeface="Arial"/>
              </a:rPr>
              <a:t>562</a:t>
            </a:r>
          </a:p>
        </p:txBody>
      </p:sp>
      <p:sp>
        <p:nvSpPr>
          <p:cNvPr id="52" name="gr-4"/>
          <p:cNvSpPr/>
          <p:nvPr/>
        </p:nvSpPr>
        <p:spPr>
          <a:xfrm>
            <a:off x="6904038" y="5219700"/>
            <a:ext cx="558800" cy="203200"/>
          </a:xfrm>
          <a:custGeom>
            <a:avLst/>
            <a:gdLst/>
            <a:ahLst/>
            <a:cxnLst/>
            <a:rect l="0" t="0" r="r" b="b"/>
            <a:pathLst>
              <a:path w="558800" h="203200">
                <a:moveTo>
                  <a:pt x="101600" y="0"/>
                </a:moveTo>
                <a:lnTo>
                  <a:pt x="457200" y="0"/>
                </a:lnTo>
                <a:cubicBezTo>
                  <a:pt x="513334" y="0"/>
                  <a:pt x="558800" y="45466"/>
                  <a:pt x="558800" y="101600"/>
                </a:cubicBezTo>
                <a:lnTo>
                  <a:pt x="558800" y="101600"/>
                </a:lnTo>
                <a:cubicBezTo>
                  <a:pt x="558800" y="157734"/>
                  <a:pt x="513334" y="203200"/>
                  <a:pt x="4572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2468B6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grt-4"/>
          <p:cNvSpPr txBox="1"/>
          <p:nvPr/>
        </p:nvSpPr>
        <p:spPr>
          <a:xfrm>
            <a:off x="7030085" y="5235416"/>
            <a:ext cx="3067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5">
                <a:solidFill>
                  <a:srgbClr val="2468B6"/>
                </a:solidFill>
                <a:latin typeface="Arial"/>
                <a:ea typeface="Arial"/>
                <a:cs typeface="Arial"/>
              </a:rPr>
              <a:t>+42%</a:t>
            </a:r>
          </a:p>
        </p:txBody>
      </p:sp>
      <p:sp>
        <p:nvSpPr>
          <p:cNvPr id="54" name="q-4"/>
          <p:cNvSpPr txBox="1"/>
          <p:nvPr/>
        </p:nvSpPr>
        <p:spPr>
          <a:xfrm>
            <a:off x="7013575" y="4871244"/>
            <a:ext cx="3397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75">
                <a:solidFill>
                  <a:srgbClr val="0B2545"/>
                </a:solidFill>
                <a:latin typeface="Arial"/>
                <a:ea typeface="Arial"/>
                <a:cs typeface="Arial"/>
              </a:rPr>
              <a:t>Q4</a:t>
            </a:r>
          </a:p>
        </p:txBody>
      </p:sp>
      <p:cxnSp>
        <p:nvCxnSpPr>
          <p:cNvPr id="55" name="link-4"/>
          <p:cNvCxnSpPr/>
          <p:nvPr/>
        </p:nvCxnSpPr>
        <p:spPr>
          <a:xfrm flipV="1">
            <a:off x="6846888" y="2066205"/>
            <a:ext cx="673100" cy="815171"/>
          </a:xfrm>
          <a:prstGeom prst="line">
            <a:avLst/>
          </a:prstGeom>
          <a:ln w="8890" cap="rnd">
            <a:solidFill>
              <a:srgbClr val="2468B6">
                <a:alpha val="32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6" name="lg-prev"/>
          <p:cNvSpPr/>
          <p:nvPr/>
        </p:nvSpPr>
        <p:spPr>
          <a:xfrm>
            <a:off x="1651000" y="1485900"/>
            <a:ext cx="215900" cy="127000"/>
          </a:xfrm>
          <a:custGeom>
            <a:avLst/>
            <a:gdLst/>
            <a:ahLst/>
            <a:cxnLst/>
            <a:rect l="0" t="0" r="r" b="b"/>
            <a:pathLst>
              <a:path w="215900" h="127000">
                <a:moveTo>
                  <a:pt x="38100" y="0"/>
                </a:moveTo>
                <a:lnTo>
                  <a:pt x="177800" y="0"/>
                </a:lnTo>
                <a:cubicBezTo>
                  <a:pt x="198818" y="0"/>
                  <a:pt x="215900" y="17081"/>
                  <a:pt x="215900" y="38100"/>
                </a:cubicBezTo>
                <a:lnTo>
                  <a:pt x="215900" y="88900"/>
                </a:lnTo>
                <a:cubicBezTo>
                  <a:pt x="215900" y="109919"/>
                  <a:pt x="198818" y="127000"/>
                  <a:pt x="177800" y="127000"/>
                </a:cubicBezTo>
                <a:lnTo>
                  <a:pt x="38100" y="127000"/>
                </a:lnTo>
                <a:cubicBezTo>
                  <a:pt x="17081" y="127000"/>
                  <a:pt x="0" y="109919"/>
                  <a:pt x="0" y="889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BFD4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lg-prevt"/>
          <p:cNvSpPr txBox="1"/>
          <p:nvPr/>
        </p:nvSpPr>
        <p:spPr>
          <a:xfrm>
            <a:off x="1918970" y="1482566"/>
            <a:ext cx="2813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去年</a:t>
            </a:r>
          </a:p>
        </p:txBody>
      </p:sp>
      <p:sp>
        <p:nvSpPr>
          <p:cNvPr id="58" name="lg-cur"/>
          <p:cNvSpPr/>
          <p:nvPr/>
        </p:nvSpPr>
        <p:spPr>
          <a:xfrm>
            <a:off x="2425700" y="1485900"/>
            <a:ext cx="215900" cy="127000"/>
          </a:xfrm>
          <a:custGeom>
            <a:avLst/>
            <a:gdLst/>
            <a:ahLst/>
            <a:cxnLst/>
            <a:rect l="0" t="0" r="r" b="b"/>
            <a:pathLst>
              <a:path w="215900" h="127000">
                <a:moveTo>
                  <a:pt x="38100" y="0"/>
                </a:moveTo>
                <a:lnTo>
                  <a:pt x="177800" y="0"/>
                </a:lnTo>
                <a:cubicBezTo>
                  <a:pt x="198818" y="0"/>
                  <a:pt x="215900" y="17081"/>
                  <a:pt x="215900" y="38100"/>
                </a:cubicBezTo>
                <a:lnTo>
                  <a:pt x="215900" y="88900"/>
                </a:lnTo>
                <a:cubicBezTo>
                  <a:pt x="215900" y="109919"/>
                  <a:pt x="198818" y="127000"/>
                  <a:pt x="177800" y="127000"/>
                </a:cubicBezTo>
                <a:lnTo>
                  <a:pt x="38100" y="127000"/>
                </a:lnTo>
                <a:cubicBezTo>
                  <a:pt x="17081" y="127000"/>
                  <a:pt x="0" y="109919"/>
                  <a:pt x="0" y="889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lg-curt"/>
          <p:cNvSpPr txBox="1"/>
          <p:nvPr/>
        </p:nvSpPr>
        <p:spPr>
          <a:xfrm>
            <a:off x="2693670" y="1482566"/>
            <a:ext cx="2813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今年</a:t>
            </a:r>
          </a:p>
        </p:txBody>
      </p:sp>
      <p:sp>
        <p:nvSpPr>
          <p:cNvPr id="60" name="unit"/>
          <p:cNvSpPr txBox="1"/>
          <p:nvPr/>
        </p:nvSpPr>
        <p:spPr>
          <a:xfrm>
            <a:off x="1216533" y="1490408"/>
            <a:ext cx="35623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百万元</a:t>
            </a:r>
          </a:p>
        </p:txBody>
      </p:sp>
      <p:sp>
        <p:nvSpPr>
          <p:cNvPr id="61" name="side-bar"/>
          <p:cNvSpPr/>
          <p:nvPr/>
        </p:nvSpPr>
        <p:spPr>
          <a:xfrm>
            <a:off x="8445500" y="15875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side-h"/>
          <p:cNvSpPr txBox="1"/>
          <p:nvPr/>
        </p:nvSpPr>
        <p:spPr>
          <a:xfrm>
            <a:off x="8604250" y="15946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全年对照</a:t>
            </a:r>
          </a:p>
        </p:txBody>
      </p:sp>
      <p:sp>
        <p:nvSpPr>
          <p:cNvPr id="63" name="side-p"/>
          <p:cNvSpPr txBox="1"/>
          <p:nvPr/>
        </p:nvSpPr>
        <p:spPr>
          <a:xfrm>
            <a:off x="8609965" y="18693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两年合计与结构变化</a:t>
            </a:r>
          </a:p>
        </p:txBody>
      </p:sp>
      <p:sp>
        <p:nvSpPr>
          <p:cNvPr id="64" name="sc-1"/>
          <p:cNvSpPr/>
          <p:nvPr/>
        </p:nvSpPr>
        <p:spPr>
          <a:xfrm>
            <a:off x="8445500" y="2286000"/>
            <a:ext cx="2794000" cy="723900"/>
          </a:xfrm>
          <a:custGeom>
            <a:avLst/>
            <a:gdLst/>
            <a:ahLst/>
            <a:cxnLst/>
            <a:rect l="0" t="0" r="r" b="b"/>
            <a:pathLst>
              <a:path w="2794000" h="723900">
                <a:moveTo>
                  <a:pt x="114300" y="0"/>
                </a:moveTo>
                <a:lnTo>
                  <a:pt x="2679700" y="0"/>
                </a:lnTo>
                <a:cubicBezTo>
                  <a:pt x="2742819" y="0"/>
                  <a:pt x="2794000" y="51181"/>
                  <a:pt x="2794000" y="114300"/>
                </a:cubicBezTo>
                <a:lnTo>
                  <a:pt x="2794000" y="609600"/>
                </a:lnTo>
                <a:cubicBezTo>
                  <a:pt x="2794000" y="672719"/>
                  <a:pt x="2742819" y="723900"/>
                  <a:pt x="2679700" y="723900"/>
                </a:cubicBezTo>
                <a:lnTo>
                  <a:pt x="114300" y="723900"/>
                </a:lnTo>
                <a:cubicBezTo>
                  <a:pt x="51181" y="723900"/>
                  <a:pt x="0" y="672719"/>
                  <a:pt x="0" y="6096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scb-1"/>
          <p:cNvSpPr/>
          <p:nvPr/>
        </p:nvSpPr>
        <p:spPr>
          <a:xfrm>
            <a:off x="8445500" y="2286000"/>
            <a:ext cx="31750" cy="723900"/>
          </a:xfrm>
          <a:custGeom>
            <a:avLst/>
            <a:gdLst/>
            <a:ahLst/>
            <a:cxnLst/>
            <a:rect l="0" t="0" r="r" b="b"/>
            <a:pathLst>
              <a:path w="31750" h="723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08025"/>
                </a:lnTo>
                <a:cubicBezTo>
                  <a:pt x="31750" y="716788"/>
                  <a:pt x="24638" y="723900"/>
                  <a:pt x="15875" y="723900"/>
                </a:cubicBezTo>
                <a:lnTo>
                  <a:pt x="15875" y="723900"/>
                </a:lnTo>
                <a:cubicBezTo>
                  <a:pt x="7112" y="723900"/>
                  <a:pt x="0" y="716788"/>
                  <a:pt x="0" y="708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scv-1"/>
          <p:cNvSpPr txBox="1"/>
          <p:nvPr/>
        </p:nvSpPr>
        <p:spPr>
          <a:xfrm>
            <a:off x="8622792" y="2374964"/>
            <a:ext cx="817880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30">
                <a:solidFill>
                  <a:srgbClr val="0B3E8F"/>
                </a:solidFill>
                <a:latin typeface="Arial"/>
                <a:ea typeface="Arial"/>
                <a:cs typeface="Arial"/>
              </a:rPr>
              <a:t>1,788</a:t>
            </a:r>
          </a:p>
        </p:txBody>
      </p:sp>
      <p:sp>
        <p:nvSpPr>
          <p:cNvPr id="67" name="scl-1"/>
          <p:cNvSpPr txBox="1"/>
          <p:nvPr/>
        </p:nvSpPr>
        <p:spPr>
          <a:xfrm>
            <a:off x="8635365" y="27075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今年合计（百万元）</a:t>
            </a:r>
          </a:p>
        </p:txBody>
      </p:sp>
      <p:sp>
        <p:nvSpPr>
          <p:cNvPr id="68" name="sc-2"/>
          <p:cNvSpPr/>
          <p:nvPr/>
        </p:nvSpPr>
        <p:spPr>
          <a:xfrm>
            <a:off x="8445500" y="3124200"/>
            <a:ext cx="2794000" cy="723900"/>
          </a:xfrm>
          <a:custGeom>
            <a:avLst/>
            <a:gdLst/>
            <a:ahLst/>
            <a:cxnLst/>
            <a:rect l="0" t="0" r="r" b="b"/>
            <a:pathLst>
              <a:path w="2794000" h="723900">
                <a:moveTo>
                  <a:pt x="114300" y="0"/>
                </a:moveTo>
                <a:lnTo>
                  <a:pt x="2679700" y="0"/>
                </a:lnTo>
                <a:cubicBezTo>
                  <a:pt x="2742819" y="0"/>
                  <a:pt x="2794000" y="51181"/>
                  <a:pt x="2794000" y="114300"/>
                </a:cubicBezTo>
                <a:lnTo>
                  <a:pt x="2794000" y="609600"/>
                </a:lnTo>
                <a:cubicBezTo>
                  <a:pt x="2794000" y="672719"/>
                  <a:pt x="2742819" y="723900"/>
                  <a:pt x="2679700" y="723900"/>
                </a:cubicBezTo>
                <a:lnTo>
                  <a:pt x="114300" y="723900"/>
                </a:lnTo>
                <a:cubicBezTo>
                  <a:pt x="51181" y="723900"/>
                  <a:pt x="0" y="672719"/>
                  <a:pt x="0" y="6096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scb-2"/>
          <p:cNvSpPr/>
          <p:nvPr/>
        </p:nvSpPr>
        <p:spPr>
          <a:xfrm>
            <a:off x="8445500" y="3124200"/>
            <a:ext cx="31750" cy="723900"/>
          </a:xfrm>
          <a:custGeom>
            <a:avLst/>
            <a:gdLst/>
            <a:ahLst/>
            <a:cxnLst/>
            <a:rect l="0" t="0" r="r" b="b"/>
            <a:pathLst>
              <a:path w="31750" h="723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08025"/>
                </a:lnTo>
                <a:cubicBezTo>
                  <a:pt x="31750" y="716788"/>
                  <a:pt x="24638" y="723900"/>
                  <a:pt x="15875" y="723900"/>
                </a:cubicBezTo>
                <a:lnTo>
                  <a:pt x="15875" y="723900"/>
                </a:lnTo>
                <a:cubicBezTo>
                  <a:pt x="7112" y="723900"/>
                  <a:pt x="0" y="716788"/>
                  <a:pt x="0" y="708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8FA3B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scv-2"/>
          <p:cNvSpPr txBox="1"/>
          <p:nvPr/>
        </p:nvSpPr>
        <p:spPr>
          <a:xfrm>
            <a:off x="8622792" y="3213164"/>
            <a:ext cx="817880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30">
                <a:solidFill>
                  <a:srgbClr val="8FA3BC"/>
                </a:solidFill>
                <a:latin typeface="Arial"/>
                <a:ea typeface="Arial"/>
                <a:cs typeface="Arial"/>
              </a:rPr>
              <a:t>1,342</a:t>
            </a:r>
          </a:p>
        </p:txBody>
      </p:sp>
      <p:sp>
        <p:nvSpPr>
          <p:cNvPr id="71" name="scl-2"/>
          <p:cNvSpPr txBox="1"/>
          <p:nvPr/>
        </p:nvSpPr>
        <p:spPr>
          <a:xfrm>
            <a:off x="8635365" y="35457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去年合计（百万元）</a:t>
            </a:r>
          </a:p>
        </p:txBody>
      </p:sp>
      <p:sp>
        <p:nvSpPr>
          <p:cNvPr id="72" name="sc-3"/>
          <p:cNvSpPr/>
          <p:nvPr/>
        </p:nvSpPr>
        <p:spPr>
          <a:xfrm>
            <a:off x="8445500" y="3962400"/>
            <a:ext cx="2794000" cy="723900"/>
          </a:xfrm>
          <a:custGeom>
            <a:avLst/>
            <a:gdLst/>
            <a:ahLst/>
            <a:cxnLst/>
            <a:rect l="0" t="0" r="r" b="b"/>
            <a:pathLst>
              <a:path w="2794000" h="723900">
                <a:moveTo>
                  <a:pt x="114300" y="0"/>
                </a:moveTo>
                <a:lnTo>
                  <a:pt x="2679700" y="0"/>
                </a:lnTo>
                <a:cubicBezTo>
                  <a:pt x="2742819" y="0"/>
                  <a:pt x="2794000" y="51181"/>
                  <a:pt x="2794000" y="114300"/>
                </a:cubicBezTo>
                <a:lnTo>
                  <a:pt x="2794000" y="609600"/>
                </a:lnTo>
                <a:cubicBezTo>
                  <a:pt x="2794000" y="672719"/>
                  <a:pt x="2742819" y="723900"/>
                  <a:pt x="2679700" y="723900"/>
                </a:cubicBezTo>
                <a:lnTo>
                  <a:pt x="114300" y="723900"/>
                </a:lnTo>
                <a:cubicBezTo>
                  <a:pt x="51181" y="723900"/>
                  <a:pt x="0" y="672719"/>
                  <a:pt x="0" y="6096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scb-3"/>
          <p:cNvSpPr/>
          <p:nvPr/>
        </p:nvSpPr>
        <p:spPr>
          <a:xfrm>
            <a:off x="8445500" y="3962400"/>
            <a:ext cx="31750" cy="723900"/>
          </a:xfrm>
          <a:custGeom>
            <a:avLst/>
            <a:gdLst/>
            <a:ahLst/>
            <a:cxnLst/>
            <a:rect l="0" t="0" r="r" b="b"/>
            <a:pathLst>
              <a:path w="31750" h="723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08025"/>
                </a:lnTo>
                <a:cubicBezTo>
                  <a:pt x="31750" y="716788"/>
                  <a:pt x="24638" y="723900"/>
                  <a:pt x="15875" y="723900"/>
                </a:cubicBezTo>
                <a:lnTo>
                  <a:pt x="15875" y="723900"/>
                </a:lnTo>
                <a:cubicBezTo>
                  <a:pt x="7112" y="723900"/>
                  <a:pt x="0" y="716788"/>
                  <a:pt x="0" y="708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scv-3"/>
          <p:cNvSpPr txBox="1"/>
          <p:nvPr/>
        </p:nvSpPr>
        <p:spPr>
          <a:xfrm>
            <a:off x="8622792" y="4051364"/>
            <a:ext cx="942594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30">
                <a:solidFill>
                  <a:srgbClr val="1B5AA8"/>
                </a:solidFill>
                <a:latin typeface="Arial"/>
                <a:ea typeface="Arial"/>
                <a:cs typeface="Arial"/>
              </a:rPr>
              <a:t>+33.2%</a:t>
            </a:r>
          </a:p>
        </p:txBody>
      </p:sp>
      <p:sp>
        <p:nvSpPr>
          <p:cNvPr id="75" name="scl-3"/>
          <p:cNvSpPr txBox="1"/>
          <p:nvPr/>
        </p:nvSpPr>
        <p:spPr>
          <a:xfrm>
            <a:off x="8635365" y="4383961"/>
            <a:ext cx="7820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全年同比增幅</a:t>
            </a:r>
          </a:p>
        </p:txBody>
      </p:sp>
      <p:sp>
        <p:nvSpPr>
          <p:cNvPr id="76" name="sc-4"/>
          <p:cNvSpPr/>
          <p:nvPr/>
        </p:nvSpPr>
        <p:spPr>
          <a:xfrm>
            <a:off x="8445500" y="4800600"/>
            <a:ext cx="2794000" cy="723900"/>
          </a:xfrm>
          <a:custGeom>
            <a:avLst/>
            <a:gdLst/>
            <a:ahLst/>
            <a:cxnLst/>
            <a:rect l="0" t="0" r="r" b="b"/>
            <a:pathLst>
              <a:path w="2794000" h="723900">
                <a:moveTo>
                  <a:pt x="114300" y="0"/>
                </a:moveTo>
                <a:lnTo>
                  <a:pt x="2679700" y="0"/>
                </a:lnTo>
                <a:cubicBezTo>
                  <a:pt x="2742819" y="0"/>
                  <a:pt x="2794000" y="51181"/>
                  <a:pt x="2794000" y="114300"/>
                </a:cubicBezTo>
                <a:lnTo>
                  <a:pt x="2794000" y="609600"/>
                </a:lnTo>
                <a:cubicBezTo>
                  <a:pt x="2794000" y="672719"/>
                  <a:pt x="2742819" y="723900"/>
                  <a:pt x="2679700" y="723900"/>
                </a:cubicBezTo>
                <a:lnTo>
                  <a:pt x="114300" y="723900"/>
                </a:lnTo>
                <a:cubicBezTo>
                  <a:pt x="51181" y="723900"/>
                  <a:pt x="0" y="672719"/>
                  <a:pt x="0" y="6096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scb-4"/>
          <p:cNvSpPr/>
          <p:nvPr/>
        </p:nvSpPr>
        <p:spPr>
          <a:xfrm>
            <a:off x="8445500" y="4800600"/>
            <a:ext cx="31750" cy="723900"/>
          </a:xfrm>
          <a:custGeom>
            <a:avLst/>
            <a:gdLst/>
            <a:ahLst/>
            <a:cxnLst/>
            <a:rect l="0" t="0" r="r" b="b"/>
            <a:pathLst>
              <a:path w="31750" h="7239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708025"/>
                </a:lnTo>
                <a:cubicBezTo>
                  <a:pt x="31750" y="716788"/>
                  <a:pt x="24638" y="723900"/>
                  <a:pt x="15875" y="723900"/>
                </a:cubicBezTo>
                <a:lnTo>
                  <a:pt x="15875" y="723900"/>
                </a:lnTo>
                <a:cubicBezTo>
                  <a:pt x="7112" y="723900"/>
                  <a:pt x="0" y="716788"/>
                  <a:pt x="0" y="7080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scv-4"/>
          <p:cNvSpPr txBox="1"/>
          <p:nvPr/>
        </p:nvSpPr>
        <p:spPr>
          <a:xfrm>
            <a:off x="8622792" y="4889564"/>
            <a:ext cx="443738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30">
                <a:solidFill>
                  <a:srgbClr val="2E77C2"/>
                </a:solidFill>
                <a:latin typeface="Arial"/>
                <a:ea typeface="Arial"/>
                <a:cs typeface="Arial"/>
              </a:rPr>
              <a:t>Q4</a:t>
            </a:r>
          </a:p>
        </p:txBody>
      </p:sp>
      <p:sp>
        <p:nvSpPr>
          <p:cNvPr id="79" name="scl-4"/>
          <p:cNvSpPr txBox="1"/>
          <p:nvPr/>
        </p:nvSpPr>
        <p:spPr>
          <a:xfrm>
            <a:off x="8635365" y="5222161"/>
            <a:ext cx="126841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贡献最大（562 百万）</a:t>
            </a:r>
          </a:p>
        </p:txBody>
      </p:sp>
      <p:sp>
        <p:nvSpPr>
          <p:cNvPr id="80" name="sum"/>
          <p:cNvSpPr/>
          <p:nvPr/>
        </p:nvSpPr>
        <p:spPr>
          <a:xfrm>
            <a:off x="952500" y="5702300"/>
            <a:ext cx="10287000" cy="533400"/>
          </a:xfrm>
          <a:custGeom>
            <a:avLst/>
            <a:gdLst/>
            <a:ahLst/>
            <a:cxnLst/>
            <a:rect l="0" t="0" r="r" b="b"/>
            <a:pathLst>
              <a:path w="10287000" h="5334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31800"/>
                </a:lnTo>
                <a:cubicBezTo>
                  <a:pt x="10287000" y="487934"/>
                  <a:pt x="10241534" y="533400"/>
                  <a:pt x="10185400" y="533400"/>
                </a:cubicBezTo>
                <a:lnTo>
                  <a:pt x="101600" y="533400"/>
                </a:lnTo>
                <a:cubicBezTo>
                  <a:pt x="45466" y="533400"/>
                  <a:pt x="0" y="487934"/>
                  <a:pt x="0" y="431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sum-bar"/>
          <p:cNvSpPr/>
          <p:nvPr/>
        </p:nvSpPr>
        <p:spPr>
          <a:xfrm>
            <a:off x="952500" y="57023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sum-h"/>
          <p:cNvSpPr txBox="1"/>
          <p:nvPr/>
        </p:nvSpPr>
        <p:spPr>
          <a:xfrm>
            <a:off x="1141222" y="57945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季度判断</a:t>
            </a:r>
          </a:p>
        </p:txBody>
      </p:sp>
      <p:sp>
        <p:nvSpPr>
          <p:cNvPr id="83" name="sum-p"/>
          <p:cNvSpPr txBox="1"/>
          <p:nvPr/>
        </p:nvSpPr>
        <p:spPr>
          <a:xfrm>
            <a:off x="1142365" y="6009561"/>
            <a:ext cx="610584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四个季度全部正增长，Q4 增幅最高（+41.9%）；Q3 出现环比回落，与去年同期同样的季节性一致，不构成趋势反转。</a:t>
            </a:r>
          </a:p>
        </p:txBody>
      </p:sp>
      <p:cxnSp>
        <p:nvCxnSpPr>
          <p:cNvPr id="84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分组柱 · 两年四季度</a:t>
            </a:r>
          </a:p>
        </p:txBody>
      </p:sp>
      <p:sp>
        <p:nvSpPr>
          <p:cNvPr id="86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全年订单季节分布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99060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ROSE CHART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123299" y="673132"/>
            <a:ext cx="24974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扇形半径代表当月订单量，一眼看出旺季与淡季</a:t>
            </a:r>
          </a:p>
        </p:txBody>
      </p:sp>
      <p:sp>
        <p:nvSpPr>
          <p:cNvPr id="10" name="ring-250"/>
          <p:cNvSpPr/>
          <p:nvPr/>
        </p:nvSpPr>
        <p:spPr>
          <a:xfrm>
            <a:off x="3251200" y="2908300"/>
            <a:ext cx="1879600" cy="1879600"/>
          </a:xfrm>
          <a:prstGeom prst="ellipse">
            <a:avLst/>
          </a:prstGeom>
          <a:noFill/>
          <a:ln w="6350" cap="rnd">
            <a:solidFill>
              <a:srgbClr val="0B2545">
                <a:alpha val="1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ringt-250"/>
          <p:cNvSpPr txBox="1"/>
          <p:nvPr/>
        </p:nvSpPr>
        <p:spPr>
          <a:xfrm>
            <a:off x="4218432" y="2836608"/>
            <a:ext cx="2350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250</a:t>
            </a:r>
          </a:p>
        </p:txBody>
      </p:sp>
      <p:sp>
        <p:nvSpPr>
          <p:cNvPr id="12" name="ring-500"/>
          <p:cNvSpPr/>
          <p:nvPr/>
        </p:nvSpPr>
        <p:spPr>
          <a:xfrm>
            <a:off x="2895600" y="2552700"/>
            <a:ext cx="2590800" cy="2590800"/>
          </a:xfrm>
          <a:prstGeom prst="ellipse">
            <a:avLst/>
          </a:prstGeom>
          <a:noFill/>
          <a:ln w="6350" cap="rnd">
            <a:solidFill>
              <a:srgbClr val="0B2545">
                <a:alpha val="1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ringt-500"/>
          <p:cNvSpPr txBox="1"/>
          <p:nvPr/>
        </p:nvSpPr>
        <p:spPr>
          <a:xfrm>
            <a:off x="4218432" y="2481008"/>
            <a:ext cx="2350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500</a:t>
            </a:r>
          </a:p>
        </p:txBody>
      </p:sp>
      <p:sp>
        <p:nvSpPr>
          <p:cNvPr id="14" name="ring-750"/>
          <p:cNvSpPr/>
          <p:nvPr/>
        </p:nvSpPr>
        <p:spPr>
          <a:xfrm>
            <a:off x="2540000" y="2197100"/>
            <a:ext cx="3302000" cy="3302000"/>
          </a:xfrm>
          <a:prstGeom prst="ellipse">
            <a:avLst/>
          </a:prstGeom>
          <a:noFill/>
          <a:ln w="6350" cap="rnd">
            <a:solidFill>
              <a:srgbClr val="0B2545">
                <a:alpha val="1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ringt-750"/>
          <p:cNvSpPr txBox="1"/>
          <p:nvPr/>
        </p:nvSpPr>
        <p:spPr>
          <a:xfrm>
            <a:off x="4218432" y="2125408"/>
            <a:ext cx="2350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750</a:t>
            </a:r>
          </a:p>
        </p:txBody>
      </p:sp>
      <p:sp>
        <p:nvSpPr>
          <p:cNvPr id="16" name="ring-1000"/>
          <p:cNvSpPr/>
          <p:nvPr/>
        </p:nvSpPr>
        <p:spPr>
          <a:xfrm>
            <a:off x="2184400" y="1841500"/>
            <a:ext cx="4013200" cy="4013200"/>
          </a:xfrm>
          <a:prstGeom prst="ellipse">
            <a:avLst/>
          </a:prstGeom>
          <a:noFill/>
          <a:ln w="6350" cap="rnd">
            <a:solidFill>
              <a:srgbClr val="0B2545">
                <a:alpha val="1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ringt-1000"/>
          <p:cNvSpPr txBox="1"/>
          <p:nvPr/>
        </p:nvSpPr>
        <p:spPr>
          <a:xfrm>
            <a:off x="4218432" y="1769808"/>
            <a:ext cx="28676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1000</a:t>
            </a:r>
          </a:p>
        </p:txBody>
      </p:sp>
      <p:sp>
        <p:nvSpPr>
          <p:cNvPr id="18" name="pet-1"/>
          <p:cNvSpPr/>
          <p:nvPr/>
        </p:nvSpPr>
        <p:spPr>
          <a:xfrm>
            <a:off x="4213225" y="2717996"/>
            <a:ext cx="504686" cy="595518"/>
          </a:xfrm>
          <a:custGeom>
            <a:avLst/>
            <a:gdLst/>
            <a:ahLst/>
            <a:cxnLst/>
            <a:rect l="0" t="0" r="r" b="b"/>
            <a:pathLst>
              <a:path w="504686" h="595518">
                <a:moveTo>
                  <a:pt x="63437" y="121"/>
                </a:moveTo>
                <a:cubicBezTo>
                  <a:pt x="204077" y="10765"/>
                  <a:pt x="341496" y="47569"/>
                  <a:pt x="468630" y="108643"/>
                </a:cubicBezTo>
                <a:quadBezTo>
                  <a:pt x="525018" y="137789"/>
                  <a:pt x="493268" y="192780"/>
                </a:quadBezTo>
                <a:lnTo>
                  <a:pt x="282194" y="558413"/>
                </a:lnTo>
                <a:quadBezTo>
                  <a:pt x="250444" y="613404"/>
                  <a:pt x="192786" y="586925"/>
                </a:quadBezTo>
                <a:cubicBezTo>
                  <a:pt x="151062" y="570407"/>
                  <a:pt x="107574" y="558752"/>
                  <a:pt x="63183" y="552190"/>
                </a:cubicBezTo>
                <a:quadBezTo>
                  <a:pt x="0" y="546348"/>
                  <a:pt x="0" y="482848"/>
                </a:quadBezTo>
                <a:lnTo>
                  <a:pt x="0" y="60573"/>
                </a:lnTo>
                <a:quadBezTo>
                  <a:pt x="0" y="-2927"/>
                  <a:pt x="63437" y="121"/>
                </a:quadBezTo>
                <a:close/>
              </a:path>
            </a:pathLst>
          </a:custGeom>
          <a:gradFill rotWithShape="1">
            <a:gsLst>
              <a:gs pos="0">
                <a:srgbClr val="8DAFD7"/>
              </a:gs>
              <a:gs pos="100000">
                <a:srgbClr val="749DCE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ml-1"/>
          <p:cNvSpPr txBox="1"/>
          <p:nvPr/>
        </p:nvSpPr>
        <p:spPr>
          <a:xfrm>
            <a:off x="4655771" y="1568806"/>
            <a:ext cx="247206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1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1月</a:t>
            </a:r>
          </a:p>
        </p:txBody>
      </p:sp>
      <p:sp>
        <p:nvSpPr>
          <p:cNvPr id="20" name="pet-2"/>
          <p:cNvSpPr/>
          <p:nvPr/>
        </p:nvSpPr>
        <p:spPr>
          <a:xfrm>
            <a:off x="4521839" y="3069351"/>
            <a:ext cx="447910" cy="447910"/>
          </a:xfrm>
          <a:custGeom>
            <a:avLst/>
            <a:gdLst/>
            <a:ahLst/>
            <a:cxnLst/>
            <a:rect l="0" t="0" r="r" b="b"/>
            <a:pathLst>
              <a:path w="447910" h="447910">
                <a:moveTo>
                  <a:pt x="209800" y="13511"/>
                </a:moveTo>
                <a:cubicBezTo>
                  <a:pt x="296903" y="75049"/>
                  <a:pt x="372861" y="151007"/>
                  <a:pt x="434400" y="238110"/>
                </a:cubicBezTo>
                <a:quadBezTo>
                  <a:pt x="469261" y="291133"/>
                  <a:pt x="414270" y="322883"/>
                </a:quadBezTo>
                <a:lnTo>
                  <a:pt x="218627" y="435849"/>
                </a:lnTo>
                <a:quadBezTo>
                  <a:pt x="163636" y="467599"/>
                  <a:pt x="126933" y="415783"/>
                </a:quadBezTo>
                <a:cubicBezTo>
                  <a:pt x="99074" y="380648"/>
                  <a:pt x="67263" y="348836"/>
                  <a:pt x="32127" y="320978"/>
                </a:cubicBezTo>
                <a:quadBezTo>
                  <a:pt x="-19689" y="284275"/>
                  <a:pt x="12061" y="229284"/>
                </a:quadBezTo>
                <a:lnTo>
                  <a:pt x="125028" y="33640"/>
                </a:lnTo>
                <a:quadBezTo>
                  <a:pt x="156778" y="-21351"/>
                  <a:pt x="209800" y="13511"/>
                </a:quadBezTo>
                <a:close/>
              </a:path>
            </a:pathLst>
          </a:custGeom>
          <a:gradFill rotWithShape="1">
            <a:gsLst>
              <a:gs pos="0">
                <a:srgbClr val="A3C3E4"/>
              </a:gs>
              <a:gs pos="100000">
                <a:srgbClr val="8FB6DE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ml-2"/>
          <p:cNvSpPr txBox="1"/>
          <p:nvPr/>
        </p:nvSpPr>
        <p:spPr>
          <a:xfrm>
            <a:off x="5674863" y="2157179"/>
            <a:ext cx="247206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1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2月</a:t>
            </a:r>
          </a:p>
        </p:txBody>
      </p:sp>
      <p:sp>
        <p:nvSpPr>
          <p:cNvPr id="22" name="pet-3"/>
          <p:cNvSpPr/>
          <p:nvPr/>
        </p:nvSpPr>
        <p:spPr>
          <a:xfrm>
            <a:off x="4725585" y="3267078"/>
            <a:ext cx="703882" cy="558797"/>
          </a:xfrm>
          <a:custGeom>
            <a:avLst/>
            <a:gdLst/>
            <a:ahLst/>
            <a:cxnLst/>
            <a:rect l="0" t="0" r="r" b="b"/>
            <a:pathLst>
              <a:path w="703882" h="558797">
                <a:moveTo>
                  <a:pt x="580729" y="36002"/>
                </a:moveTo>
                <a:cubicBezTo>
                  <a:pt x="650970" y="179759"/>
                  <a:pt x="692758" y="335741"/>
                  <a:pt x="703792" y="495361"/>
                </a:cubicBezTo>
                <a:quadBezTo>
                  <a:pt x="706586" y="558797"/>
                  <a:pt x="643086" y="558797"/>
                </a:quadBezTo>
                <a:lnTo>
                  <a:pt x="112670" y="558797"/>
                </a:lnTo>
                <a:quadBezTo>
                  <a:pt x="49170" y="558797"/>
                  <a:pt x="43328" y="495615"/>
                </a:quadBezTo>
                <a:cubicBezTo>
                  <a:pt x="36766" y="451223"/>
                  <a:pt x="25111" y="407735"/>
                  <a:pt x="8594" y="366011"/>
                </a:cubicBezTo>
                <a:quadBezTo>
                  <a:pt x="-17886" y="308353"/>
                  <a:pt x="37105" y="276603"/>
                </a:quadBezTo>
                <a:lnTo>
                  <a:pt x="496401" y="11427"/>
                </a:lnTo>
                <a:quadBezTo>
                  <a:pt x="551392" y="-20323"/>
                  <a:pt x="580729" y="36002"/>
                </a:quadBezTo>
                <a:close/>
              </a:path>
            </a:pathLst>
          </a:custGeom>
          <a:gradFill rotWithShape="1">
            <a:gsLst>
              <a:gs pos="0">
                <a:srgbClr val="81A4CF"/>
              </a:gs>
              <a:gs pos="100000">
                <a:srgbClr val="6590C5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ml-3"/>
          <p:cNvSpPr txBox="1"/>
          <p:nvPr/>
        </p:nvSpPr>
        <p:spPr>
          <a:xfrm>
            <a:off x="6263236" y="3176272"/>
            <a:ext cx="247206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1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3月</a:t>
            </a:r>
          </a:p>
        </p:txBody>
      </p:sp>
      <p:sp>
        <p:nvSpPr>
          <p:cNvPr id="24" name="pet-4"/>
          <p:cNvSpPr/>
          <p:nvPr/>
        </p:nvSpPr>
        <p:spPr>
          <a:xfrm>
            <a:off x="4725585" y="3870325"/>
            <a:ext cx="797958" cy="605741"/>
          </a:xfrm>
          <a:custGeom>
            <a:avLst/>
            <a:gdLst/>
            <a:ahLst/>
            <a:cxnLst/>
            <a:rect l="0" t="0" r="r" b="b"/>
            <a:pathLst>
              <a:path w="797958" h="605741">
                <a:moveTo>
                  <a:pt x="797899" y="63437"/>
                </a:moveTo>
                <a:cubicBezTo>
                  <a:pt x="786576" y="239550"/>
                  <a:pt x="740454" y="411671"/>
                  <a:pt x="662199" y="569849"/>
                </a:cubicBezTo>
                <a:quadBezTo>
                  <a:pt x="632735" y="626047"/>
                  <a:pt x="577744" y="594297"/>
                </a:quadBezTo>
                <a:lnTo>
                  <a:pt x="37105" y="282194"/>
                </a:lnTo>
                <a:quadBezTo>
                  <a:pt x="-17886" y="250444"/>
                  <a:pt x="8594" y="192786"/>
                </a:quadBezTo>
                <a:cubicBezTo>
                  <a:pt x="25111" y="151062"/>
                  <a:pt x="36766" y="107574"/>
                  <a:pt x="43328" y="63183"/>
                </a:cubicBezTo>
                <a:quadBezTo>
                  <a:pt x="49170" y="0"/>
                  <a:pt x="112670" y="0"/>
                </a:quadBezTo>
                <a:lnTo>
                  <a:pt x="736939" y="0"/>
                </a:lnTo>
                <a:quadBezTo>
                  <a:pt x="800439" y="0"/>
                  <a:pt x="797899" y="63437"/>
                </a:quadBezTo>
                <a:close/>
              </a:path>
            </a:pathLst>
          </a:custGeom>
          <a:gradFill rotWithShape="1">
            <a:gsLst>
              <a:gs pos="0">
                <a:srgbClr val="769AC9"/>
              </a:gs>
              <a:gs pos="100000">
                <a:srgbClr val="5884BD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ml-4"/>
          <p:cNvSpPr txBox="1"/>
          <p:nvPr/>
        </p:nvSpPr>
        <p:spPr>
          <a:xfrm>
            <a:off x="6263236" y="4353018"/>
            <a:ext cx="247206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1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4月</a:t>
            </a:r>
          </a:p>
        </p:txBody>
      </p:sp>
      <p:sp>
        <p:nvSpPr>
          <p:cNvPr id="26" name="mv-4"/>
          <p:cNvSpPr txBox="1"/>
          <p:nvPr/>
        </p:nvSpPr>
        <p:spPr>
          <a:xfrm>
            <a:off x="5170992" y="4064843"/>
            <a:ext cx="25146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528</a:t>
            </a:r>
          </a:p>
        </p:txBody>
      </p:sp>
      <p:sp>
        <p:nvSpPr>
          <p:cNvPr id="27" name="pet-5"/>
          <p:cNvSpPr/>
          <p:nvPr/>
        </p:nvSpPr>
        <p:spPr>
          <a:xfrm>
            <a:off x="4521839" y="4178939"/>
            <a:ext cx="753795" cy="753795"/>
          </a:xfrm>
          <a:custGeom>
            <a:avLst/>
            <a:gdLst/>
            <a:ahLst/>
            <a:cxnLst/>
            <a:rect l="0" t="0" r="r" b="b"/>
            <a:pathLst>
              <a:path w="753795" h="753795">
                <a:moveTo>
                  <a:pt x="740787" y="386775"/>
                </a:moveTo>
                <a:cubicBezTo>
                  <a:pt x="647039" y="526770"/>
                  <a:pt x="526770" y="647039"/>
                  <a:pt x="386775" y="740787"/>
                </a:cubicBezTo>
                <a:quadBezTo>
                  <a:pt x="333181" y="774823"/>
                  <a:pt x="301431" y="719832"/>
                </a:quadBezTo>
                <a:lnTo>
                  <a:pt x="12061" y="218627"/>
                </a:lnTo>
                <a:quadBezTo>
                  <a:pt x="-19689" y="163636"/>
                  <a:pt x="32127" y="126933"/>
                </a:quadBezTo>
                <a:cubicBezTo>
                  <a:pt x="67263" y="99074"/>
                  <a:pt x="99074" y="67263"/>
                  <a:pt x="126933" y="32127"/>
                </a:cubicBezTo>
                <a:quadBezTo>
                  <a:pt x="163636" y="-19689"/>
                  <a:pt x="218627" y="12061"/>
                </a:quadBezTo>
                <a:lnTo>
                  <a:pt x="719832" y="301431"/>
                </a:lnTo>
                <a:quadBezTo>
                  <a:pt x="774823" y="333181"/>
                  <a:pt x="740787" y="386775"/>
                </a:quadBezTo>
                <a:close/>
              </a:path>
            </a:pathLst>
          </a:custGeom>
          <a:gradFill rotWithShape="1">
            <a:gsLst>
              <a:gs pos="0">
                <a:srgbClr val="7B9FCC"/>
              </a:gs>
              <a:gs pos="100000">
                <a:srgbClr val="5E8AC1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ml-5"/>
          <p:cNvSpPr txBox="1"/>
          <p:nvPr/>
        </p:nvSpPr>
        <p:spPr>
          <a:xfrm>
            <a:off x="5674863" y="5372111"/>
            <a:ext cx="247206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1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5月</a:t>
            </a:r>
          </a:p>
        </p:txBody>
      </p:sp>
      <p:sp>
        <p:nvSpPr>
          <p:cNvPr id="29" name="mv-5"/>
          <p:cNvSpPr txBox="1"/>
          <p:nvPr/>
        </p:nvSpPr>
        <p:spPr>
          <a:xfrm>
            <a:off x="4842529" y="4545825"/>
            <a:ext cx="25146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496</a:t>
            </a:r>
          </a:p>
        </p:txBody>
      </p:sp>
      <p:sp>
        <p:nvSpPr>
          <p:cNvPr id="30" name="pet-6"/>
          <p:cNvSpPr/>
          <p:nvPr/>
        </p:nvSpPr>
        <p:spPr>
          <a:xfrm>
            <a:off x="4213225" y="4382685"/>
            <a:ext cx="638453" cy="863482"/>
          </a:xfrm>
          <a:custGeom>
            <a:avLst/>
            <a:gdLst/>
            <a:ahLst/>
            <a:cxnLst/>
            <a:rect l="0" t="0" r="r" b="b"/>
            <a:pathLst>
              <a:path w="638453" h="863482">
                <a:moveTo>
                  <a:pt x="602615" y="718968"/>
                </a:moveTo>
                <a:cubicBezTo>
                  <a:pt x="434402" y="802810"/>
                  <a:pt x="251035" y="851939"/>
                  <a:pt x="63436" y="863431"/>
                </a:cubicBezTo>
                <a:quadBezTo>
                  <a:pt x="0" y="865907"/>
                  <a:pt x="0" y="802407"/>
                </a:quadBezTo>
                <a:lnTo>
                  <a:pt x="0" y="112670"/>
                </a:lnTo>
                <a:quadBezTo>
                  <a:pt x="0" y="49170"/>
                  <a:pt x="63183" y="43328"/>
                </a:quadBezTo>
                <a:cubicBezTo>
                  <a:pt x="107574" y="36766"/>
                  <a:pt x="151062" y="25111"/>
                  <a:pt x="192786" y="8594"/>
                </a:cubicBezTo>
                <a:quadBezTo>
                  <a:pt x="250444" y="-17886"/>
                  <a:pt x="282194" y="37105"/>
                </a:quadBezTo>
                <a:lnTo>
                  <a:pt x="626999" y="634386"/>
                </a:lnTo>
                <a:quadBezTo>
                  <a:pt x="658749" y="689377"/>
                  <a:pt x="602615" y="718968"/>
                </a:quadBezTo>
                <a:close/>
              </a:path>
            </a:pathLst>
          </a:custGeom>
          <a:gradFill rotWithShape="1">
            <a:gsLst>
              <a:gs pos="0">
                <a:srgbClr val="6F94C5"/>
              </a:gs>
              <a:gs pos="100000">
                <a:srgbClr val="4F7CB8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ml-6"/>
          <p:cNvSpPr txBox="1"/>
          <p:nvPr/>
        </p:nvSpPr>
        <p:spPr>
          <a:xfrm>
            <a:off x="4655771" y="5960484"/>
            <a:ext cx="247206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1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6月</a:t>
            </a:r>
          </a:p>
        </p:txBody>
      </p:sp>
      <p:sp>
        <p:nvSpPr>
          <p:cNvPr id="32" name="mv-6"/>
          <p:cNvSpPr txBox="1"/>
          <p:nvPr/>
        </p:nvSpPr>
        <p:spPr>
          <a:xfrm>
            <a:off x="4378482" y="4937489"/>
            <a:ext cx="25146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574</a:t>
            </a:r>
          </a:p>
        </p:txBody>
      </p:sp>
      <p:sp>
        <p:nvSpPr>
          <p:cNvPr id="33" name="pet-7"/>
          <p:cNvSpPr/>
          <p:nvPr/>
        </p:nvSpPr>
        <p:spPr>
          <a:xfrm>
            <a:off x="3499017" y="4382685"/>
            <a:ext cx="669758" cy="926205"/>
          </a:xfrm>
          <a:custGeom>
            <a:avLst/>
            <a:gdLst/>
            <a:ahLst/>
            <a:cxnLst/>
            <a:rect l="0" t="0" r="r" b="b"/>
            <a:pathLst>
              <a:path w="669758" h="926205">
                <a:moveTo>
                  <a:pt x="606322" y="926169"/>
                </a:moveTo>
                <a:cubicBezTo>
                  <a:pt x="407744" y="914506"/>
                  <a:pt x="213629" y="862477"/>
                  <a:pt x="35838" y="773261"/>
                </a:cubicBezTo>
                <a:quadBezTo>
                  <a:pt x="-20296" y="743606"/>
                  <a:pt x="11454" y="688615"/>
                </a:quadBezTo>
                <a:lnTo>
                  <a:pt x="387564" y="37105"/>
                </a:lnTo>
                <a:quadBezTo>
                  <a:pt x="419314" y="-17886"/>
                  <a:pt x="476972" y="8594"/>
                </a:quadBezTo>
                <a:cubicBezTo>
                  <a:pt x="518696" y="25111"/>
                  <a:pt x="562184" y="36766"/>
                  <a:pt x="606576" y="43328"/>
                </a:cubicBezTo>
                <a:quadBezTo>
                  <a:pt x="669758" y="49170"/>
                  <a:pt x="669758" y="112670"/>
                </a:quadBezTo>
                <a:lnTo>
                  <a:pt x="669758" y="865018"/>
                </a:lnTo>
                <a:quadBezTo>
                  <a:pt x="669758" y="928518"/>
                  <a:pt x="606322" y="926169"/>
                </a:quadBezTo>
                <a:close/>
              </a:path>
            </a:pathLst>
          </a:custGeom>
          <a:gradFill rotWithShape="1">
            <a:gsLst>
              <a:gs pos="0">
                <a:srgbClr val="678DC0"/>
              </a:gs>
              <a:gs pos="100000">
                <a:srgbClr val="4674B2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ml-7"/>
          <p:cNvSpPr txBox="1"/>
          <p:nvPr/>
        </p:nvSpPr>
        <p:spPr>
          <a:xfrm>
            <a:off x="3479024" y="5960484"/>
            <a:ext cx="247206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7月</a:t>
            </a:r>
          </a:p>
        </p:txBody>
      </p:sp>
      <p:sp>
        <p:nvSpPr>
          <p:cNvPr id="35" name="mv-7"/>
          <p:cNvSpPr txBox="1"/>
          <p:nvPr/>
        </p:nvSpPr>
        <p:spPr>
          <a:xfrm>
            <a:off x="3735860" y="4997942"/>
            <a:ext cx="25146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618</a:t>
            </a:r>
          </a:p>
        </p:txBody>
      </p:sp>
      <p:sp>
        <p:nvSpPr>
          <p:cNvPr id="36" name="pet-8"/>
          <p:cNvSpPr/>
          <p:nvPr/>
        </p:nvSpPr>
        <p:spPr>
          <a:xfrm>
            <a:off x="3025012" y="4178939"/>
            <a:ext cx="835149" cy="835149"/>
          </a:xfrm>
          <a:custGeom>
            <a:avLst/>
            <a:gdLst/>
            <a:ahLst/>
            <a:cxnLst/>
            <a:rect l="0" t="0" r="r" b="b"/>
            <a:pathLst>
              <a:path w="835149" h="835149">
                <a:moveTo>
                  <a:pt x="401321" y="822258"/>
                </a:moveTo>
                <a:cubicBezTo>
                  <a:pt x="247185" y="720044"/>
                  <a:pt x="115105" y="587964"/>
                  <a:pt x="12891" y="433828"/>
                </a:cubicBezTo>
                <a:quadBezTo>
                  <a:pt x="-20954" y="380107"/>
                  <a:pt x="34037" y="348357"/>
                </a:quadBezTo>
                <a:lnTo>
                  <a:pt x="616522" y="12061"/>
                </a:lnTo>
                <a:quadBezTo>
                  <a:pt x="671513" y="-19689"/>
                  <a:pt x="708216" y="32127"/>
                </a:quadBezTo>
                <a:cubicBezTo>
                  <a:pt x="736075" y="67263"/>
                  <a:pt x="767887" y="99074"/>
                  <a:pt x="803022" y="126933"/>
                </a:cubicBezTo>
                <a:quadBezTo>
                  <a:pt x="854838" y="163636"/>
                  <a:pt x="823088" y="218627"/>
                </a:quadBezTo>
                <a:lnTo>
                  <a:pt x="486792" y="801112"/>
                </a:lnTo>
                <a:quadBezTo>
                  <a:pt x="455042" y="856103"/>
                  <a:pt x="401321" y="822258"/>
                </a:quadBezTo>
                <a:close/>
              </a:path>
            </a:pathLst>
          </a:custGeom>
          <a:gradFill rotWithShape="1">
            <a:gsLst>
              <a:gs pos="0">
                <a:srgbClr val="7095C6"/>
              </a:gs>
              <a:gs pos="100000">
                <a:srgbClr val="517EB9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ml-8"/>
          <p:cNvSpPr txBox="1"/>
          <p:nvPr/>
        </p:nvSpPr>
        <p:spPr>
          <a:xfrm>
            <a:off x="2459931" y="5372111"/>
            <a:ext cx="247206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1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8月</a:t>
            </a:r>
          </a:p>
        </p:txBody>
      </p:sp>
      <p:sp>
        <p:nvSpPr>
          <p:cNvPr id="38" name="mv-8"/>
          <p:cNvSpPr txBox="1"/>
          <p:nvPr/>
        </p:nvSpPr>
        <p:spPr>
          <a:xfrm>
            <a:off x="3221629" y="4612207"/>
            <a:ext cx="25146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562</a:t>
            </a:r>
          </a:p>
        </p:txBody>
      </p:sp>
      <p:sp>
        <p:nvSpPr>
          <p:cNvPr id="39" name="pet-9"/>
          <p:cNvSpPr/>
          <p:nvPr/>
        </p:nvSpPr>
        <p:spPr>
          <a:xfrm>
            <a:off x="2633387" y="3870325"/>
            <a:ext cx="1023027" cy="718154"/>
          </a:xfrm>
          <a:custGeom>
            <a:avLst/>
            <a:gdLst/>
            <a:ahLst/>
            <a:cxnLst/>
            <a:rect l="0" t="0" r="r" b="b"/>
            <a:pathLst>
              <a:path w="1023027" h="718154">
                <a:moveTo>
                  <a:pt x="165820" y="682371"/>
                </a:moveTo>
                <a:cubicBezTo>
                  <a:pt x="68321" y="489755"/>
                  <a:pt x="11864" y="278998"/>
                  <a:pt x="21" y="63436"/>
                </a:cubicBezTo>
                <a:quadBezTo>
                  <a:pt x="-2201" y="0"/>
                  <a:pt x="61299" y="0"/>
                </a:quadBezTo>
                <a:lnTo>
                  <a:pt x="910357" y="0"/>
                </a:lnTo>
                <a:quadBezTo>
                  <a:pt x="973857" y="0"/>
                  <a:pt x="979699" y="63183"/>
                </a:quadBezTo>
                <a:cubicBezTo>
                  <a:pt x="986261" y="107574"/>
                  <a:pt x="997916" y="151062"/>
                  <a:pt x="1014434" y="192786"/>
                </a:cubicBezTo>
                <a:quadBezTo>
                  <a:pt x="1040913" y="250444"/>
                  <a:pt x="985922" y="282194"/>
                </a:quadBezTo>
                <a:lnTo>
                  <a:pt x="250656" y="706691"/>
                </a:lnTo>
                <a:quadBezTo>
                  <a:pt x="195665" y="738441"/>
                  <a:pt x="165820" y="682371"/>
                </a:quadBezTo>
                <a:close/>
              </a:path>
            </a:pathLst>
          </a:custGeom>
          <a:gradFill rotWithShape="1">
            <a:gsLst>
              <a:gs pos="0">
                <a:srgbClr val="5D83B9"/>
              </a:gs>
              <a:gs pos="100000">
                <a:srgbClr val="3968AA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ml-9"/>
          <p:cNvSpPr txBox="1"/>
          <p:nvPr/>
        </p:nvSpPr>
        <p:spPr>
          <a:xfrm>
            <a:off x="1871558" y="4353018"/>
            <a:ext cx="247206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9月</a:t>
            </a:r>
          </a:p>
        </p:txBody>
      </p:sp>
      <p:sp>
        <p:nvSpPr>
          <p:cNvPr id="41" name="mv-9"/>
          <p:cNvSpPr txBox="1"/>
          <p:nvPr/>
        </p:nvSpPr>
        <p:spPr>
          <a:xfrm>
            <a:off x="2742467" y="4123010"/>
            <a:ext cx="25146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686</a:t>
            </a:r>
          </a:p>
        </p:txBody>
      </p:sp>
      <p:sp>
        <p:nvSpPr>
          <p:cNvPr id="42" name="pet-10"/>
          <p:cNvSpPr/>
          <p:nvPr/>
        </p:nvSpPr>
        <p:spPr>
          <a:xfrm>
            <a:off x="2553589" y="3067897"/>
            <a:ext cx="1102826" cy="757978"/>
          </a:xfrm>
          <a:custGeom>
            <a:avLst/>
            <a:gdLst/>
            <a:ahLst/>
            <a:cxnLst/>
            <a:rect l="0" t="0" r="r" b="b"/>
            <a:pathLst>
              <a:path w="1102826" h="757978">
                <a:moveTo>
                  <a:pt x="0" y="694541"/>
                </a:moveTo>
                <a:cubicBezTo>
                  <a:pt x="12012" y="464991"/>
                  <a:pt x="72157" y="240531"/>
                  <a:pt x="176530" y="35729"/>
                </a:cubicBezTo>
                <a:quadBezTo>
                  <a:pt x="206502" y="-20278"/>
                  <a:pt x="261493" y="11472"/>
                </a:quadBezTo>
                <a:lnTo>
                  <a:pt x="1065721" y="475784"/>
                </a:lnTo>
                <a:quadBezTo>
                  <a:pt x="1120712" y="507534"/>
                  <a:pt x="1094232" y="565192"/>
                </a:quadBezTo>
                <a:cubicBezTo>
                  <a:pt x="1077715" y="606915"/>
                  <a:pt x="1066060" y="650403"/>
                  <a:pt x="1059498" y="694795"/>
                </a:cubicBezTo>
                <a:quadBezTo>
                  <a:pt x="1053656" y="757978"/>
                  <a:pt x="990156" y="757978"/>
                </a:quadBezTo>
                <a:lnTo>
                  <a:pt x="61468" y="757978"/>
                </a:lnTo>
                <a:quadBezTo>
                  <a:pt x="-2032" y="757978"/>
                  <a:pt x="0" y="694541"/>
                </a:quadBezTo>
                <a:close/>
              </a:path>
            </a:pathLst>
          </a:custGeom>
          <a:gradFill rotWithShape="1">
            <a:gsLst>
              <a:gs pos="0">
                <a:srgbClr val="547BB4"/>
              </a:gs>
              <a:gs pos="100000">
                <a:srgbClr val="2E5EA4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ml-10"/>
          <p:cNvSpPr txBox="1"/>
          <p:nvPr/>
        </p:nvSpPr>
        <p:spPr>
          <a:xfrm>
            <a:off x="1842729" y="3176272"/>
            <a:ext cx="304864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10月</a:t>
            </a:r>
          </a:p>
        </p:txBody>
      </p:sp>
      <p:sp>
        <p:nvSpPr>
          <p:cNvPr id="44" name="mv-10"/>
          <p:cNvSpPr txBox="1"/>
          <p:nvPr/>
        </p:nvSpPr>
        <p:spPr>
          <a:xfrm>
            <a:off x="2665527" y="3393506"/>
            <a:ext cx="25146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742</a:t>
            </a:r>
          </a:p>
        </p:txBody>
      </p:sp>
      <p:sp>
        <p:nvSpPr>
          <p:cNvPr id="45" name="pet-11"/>
          <p:cNvSpPr/>
          <p:nvPr/>
        </p:nvSpPr>
        <p:spPr>
          <a:xfrm>
            <a:off x="2699591" y="2356691"/>
            <a:ext cx="1160570" cy="1160570"/>
          </a:xfrm>
          <a:custGeom>
            <a:avLst/>
            <a:gdLst/>
            <a:ahLst/>
            <a:cxnLst/>
            <a:rect l="0" t="0" r="r" b="b"/>
            <a:pathLst>
              <a:path w="1160570" h="1160570">
                <a:moveTo>
                  <a:pt x="12621" y="538718"/>
                </a:moveTo>
                <a:cubicBezTo>
                  <a:pt x="148471" y="327848"/>
                  <a:pt x="327848" y="148471"/>
                  <a:pt x="538718" y="12621"/>
                </a:cubicBezTo>
                <a:quadBezTo>
                  <a:pt x="592693" y="-20780"/>
                  <a:pt x="624443" y="34211"/>
                </a:quadBezTo>
                <a:lnTo>
                  <a:pt x="1148509" y="941943"/>
                </a:lnTo>
                <a:quadBezTo>
                  <a:pt x="1180259" y="996934"/>
                  <a:pt x="1128443" y="1033637"/>
                </a:quadBezTo>
                <a:cubicBezTo>
                  <a:pt x="1093307" y="1061496"/>
                  <a:pt x="1061496" y="1093307"/>
                  <a:pt x="1033637" y="1128443"/>
                </a:cubicBezTo>
                <a:quadBezTo>
                  <a:pt x="996934" y="1180259"/>
                  <a:pt x="941943" y="1148509"/>
                </a:quadBezTo>
                <a:lnTo>
                  <a:pt x="34211" y="624443"/>
                </a:lnTo>
                <a:quadBezTo>
                  <a:pt x="-20780" y="592693"/>
                  <a:pt x="12621" y="538718"/>
                </a:quadBezTo>
                <a:close/>
              </a:path>
            </a:pathLst>
          </a:custGeom>
          <a:gradFill rotWithShape="1">
            <a:gsLst>
              <a:gs pos="0">
                <a:srgbClr val="466EAC"/>
              </a:gs>
              <a:gs pos="100000">
                <a:srgbClr val="1D4E9A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ml-11"/>
          <p:cNvSpPr txBox="1"/>
          <p:nvPr/>
        </p:nvSpPr>
        <p:spPr>
          <a:xfrm>
            <a:off x="2431102" y="2157179"/>
            <a:ext cx="304864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11月</a:t>
            </a:r>
          </a:p>
        </p:txBody>
      </p:sp>
      <p:sp>
        <p:nvSpPr>
          <p:cNvPr id="47" name="mv-11"/>
          <p:cNvSpPr txBox="1"/>
          <p:nvPr/>
        </p:nvSpPr>
        <p:spPr>
          <a:xfrm>
            <a:off x="2956101" y="2659397"/>
            <a:ext cx="25146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826</a:t>
            </a:r>
          </a:p>
        </p:txBody>
      </p:sp>
      <p:sp>
        <p:nvSpPr>
          <p:cNvPr id="48" name="pet-12"/>
          <p:cNvSpPr/>
          <p:nvPr/>
        </p:nvSpPr>
        <p:spPr>
          <a:xfrm>
            <a:off x="3285612" y="1960055"/>
            <a:ext cx="883163" cy="1353460"/>
          </a:xfrm>
          <a:custGeom>
            <a:avLst/>
            <a:gdLst/>
            <a:ahLst/>
            <a:cxnLst/>
            <a:rect l="0" t="0" r="r" b="b"/>
            <a:pathLst>
              <a:path w="883163" h="1353460">
                <a:moveTo>
                  <a:pt x="35565" y="210121"/>
                </a:moveTo>
                <a:cubicBezTo>
                  <a:pt x="278627" y="84115"/>
                  <a:pt x="546163" y="12421"/>
                  <a:pt x="819663" y="0"/>
                </a:cubicBezTo>
                <a:quadBezTo>
                  <a:pt x="883163" y="-1778"/>
                  <a:pt x="883163" y="61722"/>
                </a:quadBezTo>
                <a:lnTo>
                  <a:pt x="883163" y="1240790"/>
                </a:lnTo>
                <a:quadBezTo>
                  <a:pt x="883163" y="1304290"/>
                  <a:pt x="819980" y="1310132"/>
                </a:quadBezTo>
                <a:cubicBezTo>
                  <a:pt x="775589" y="1316694"/>
                  <a:pt x="732101" y="1328349"/>
                  <a:pt x="690377" y="1344866"/>
                </a:cubicBezTo>
                <a:quadBezTo>
                  <a:pt x="632719" y="1371346"/>
                  <a:pt x="600969" y="1316355"/>
                </a:quadBezTo>
                <a:lnTo>
                  <a:pt x="11498" y="295275"/>
                </a:lnTo>
                <a:quadBezTo>
                  <a:pt x="-20252" y="240284"/>
                  <a:pt x="35565" y="210121"/>
                </a:quadBezTo>
                <a:close/>
              </a:path>
            </a:pathLst>
          </a:custGeom>
          <a:gradFill rotWithShape="1">
            <a:gsLst>
              <a:gs pos="0">
                <a:srgbClr val="3761A3"/>
              </a:gs>
              <a:gs pos="100000">
                <a:srgbClr val="0B3E8F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ml-12"/>
          <p:cNvSpPr txBox="1"/>
          <p:nvPr/>
        </p:nvSpPr>
        <p:spPr>
          <a:xfrm>
            <a:off x="3450195" y="1568806"/>
            <a:ext cx="304864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12月</a:t>
            </a:r>
          </a:p>
        </p:txBody>
      </p:sp>
      <p:sp>
        <p:nvSpPr>
          <p:cNvPr id="50" name="mv-12"/>
          <p:cNvSpPr txBox="1"/>
          <p:nvPr/>
        </p:nvSpPr>
        <p:spPr>
          <a:xfrm>
            <a:off x="3625417" y="2127011"/>
            <a:ext cx="25146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918</a:t>
            </a:r>
          </a:p>
        </p:txBody>
      </p:sp>
      <p:sp>
        <p:nvSpPr>
          <p:cNvPr id="51" name="core"/>
          <p:cNvSpPr/>
          <p:nvPr/>
        </p:nvSpPr>
        <p:spPr>
          <a:xfrm>
            <a:off x="3657600" y="3314700"/>
            <a:ext cx="1066800" cy="1066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core-v"/>
          <p:cNvSpPr txBox="1"/>
          <p:nvPr/>
        </p:nvSpPr>
        <p:spPr>
          <a:xfrm>
            <a:off x="3865880" y="3610959"/>
            <a:ext cx="650240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35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7,046</a:t>
            </a:r>
          </a:p>
        </p:txBody>
      </p:sp>
      <p:sp>
        <p:nvSpPr>
          <p:cNvPr id="53" name="core-l"/>
          <p:cNvSpPr txBox="1"/>
          <p:nvPr/>
        </p:nvSpPr>
        <p:spPr>
          <a:xfrm>
            <a:off x="3963035" y="3890708"/>
            <a:ext cx="455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4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全年订单</a:t>
            </a:r>
          </a:p>
        </p:txBody>
      </p:sp>
      <p:sp>
        <p:nvSpPr>
          <p:cNvPr id="54" name="peak-tag"/>
          <p:cNvSpPr/>
          <p:nvPr/>
        </p:nvSpPr>
        <p:spPr>
          <a:xfrm>
            <a:off x="952500" y="5613400"/>
            <a:ext cx="2286000" cy="304800"/>
          </a:xfrm>
          <a:custGeom>
            <a:avLst/>
            <a:gdLst/>
            <a:ahLst/>
            <a:cxnLst/>
            <a:rect l="0" t="0" r="r" b="b"/>
            <a:pathLst>
              <a:path w="2286000" h="304800">
                <a:moveTo>
                  <a:pt x="152400" y="0"/>
                </a:moveTo>
                <a:lnTo>
                  <a:pt x="2133600" y="0"/>
                </a:lnTo>
                <a:cubicBezTo>
                  <a:pt x="2217801" y="0"/>
                  <a:pt x="2286000" y="68199"/>
                  <a:pt x="2286000" y="152400"/>
                </a:cubicBezTo>
                <a:lnTo>
                  <a:pt x="2286000" y="152400"/>
                </a:lnTo>
                <a:cubicBezTo>
                  <a:pt x="2286000" y="236601"/>
                  <a:pt x="2217801" y="304800"/>
                  <a:pt x="2133600" y="304800"/>
                </a:cubicBezTo>
                <a:lnTo>
                  <a:pt x="152400" y="304800"/>
                </a:lnTo>
                <a:cubicBezTo>
                  <a:pt x="68199" y="304800"/>
                  <a:pt x="0" y="236601"/>
                  <a:pt x="0" y="1524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E0703A">
              <a:alpha val="13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peak-t"/>
          <p:cNvSpPr txBox="1"/>
          <p:nvPr/>
        </p:nvSpPr>
        <p:spPr>
          <a:xfrm>
            <a:off x="1346962" y="5684774"/>
            <a:ext cx="149707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3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旺季：9–12 月占全年 43.6%</a:t>
            </a:r>
          </a:p>
        </p:txBody>
      </p:sp>
      <p:sp>
        <p:nvSpPr>
          <p:cNvPr id="56" name="peak-p"/>
          <p:cNvSpPr txBox="1"/>
          <p:nvPr/>
        </p:nvSpPr>
        <p:spPr>
          <a:xfrm>
            <a:off x="941070" y="6029166"/>
            <a:ext cx="16503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淡季：2 月仅 248 单，为全年低谷</a:t>
            </a:r>
          </a:p>
        </p:txBody>
      </p:sp>
      <p:sp>
        <p:nvSpPr>
          <p:cNvPr id="57" name="side-bar"/>
          <p:cNvSpPr/>
          <p:nvPr/>
        </p:nvSpPr>
        <p:spPr>
          <a:xfrm>
            <a:off x="7150100" y="15875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side-h"/>
          <p:cNvSpPr txBox="1"/>
          <p:nvPr/>
        </p:nvSpPr>
        <p:spPr>
          <a:xfrm>
            <a:off x="7308850" y="1594644"/>
            <a:ext cx="10001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季度与月度</a:t>
            </a:r>
          </a:p>
        </p:txBody>
      </p:sp>
      <p:sp>
        <p:nvSpPr>
          <p:cNvPr id="59" name="side-p"/>
          <p:cNvSpPr txBox="1"/>
          <p:nvPr/>
        </p:nvSpPr>
        <p:spPr>
          <a:xfrm>
            <a:off x="7314565" y="1869361"/>
            <a:ext cx="12366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按季度汇总与逐月明细</a:t>
            </a:r>
          </a:p>
        </p:txBody>
      </p:sp>
      <p:sp>
        <p:nvSpPr>
          <p:cNvPr id="60" name="q-1"/>
          <p:cNvSpPr/>
          <p:nvPr/>
        </p:nvSpPr>
        <p:spPr>
          <a:xfrm>
            <a:off x="7150100" y="2273300"/>
            <a:ext cx="4089400" cy="584200"/>
          </a:xfrm>
          <a:custGeom>
            <a:avLst/>
            <a:gdLst/>
            <a:ahLst/>
            <a:cxnLst/>
            <a:rect l="0" t="0" r="r" b="b"/>
            <a:pathLst>
              <a:path w="4089400" h="584200">
                <a:moveTo>
                  <a:pt x="101600" y="0"/>
                </a:moveTo>
                <a:lnTo>
                  <a:pt x="3987800" y="0"/>
                </a:lnTo>
                <a:cubicBezTo>
                  <a:pt x="4043934" y="0"/>
                  <a:pt x="4089400" y="45466"/>
                  <a:pt x="4089400" y="101600"/>
                </a:cubicBezTo>
                <a:lnTo>
                  <a:pt x="4089400" y="482600"/>
                </a:lnTo>
                <a:cubicBezTo>
                  <a:pt x="4089400" y="538734"/>
                  <a:pt x="4043934" y="584200"/>
                  <a:pt x="3987800" y="584200"/>
                </a:cubicBezTo>
                <a:lnTo>
                  <a:pt x="101600" y="584200"/>
                </a:lnTo>
                <a:cubicBezTo>
                  <a:pt x="45466" y="584200"/>
                  <a:pt x="0" y="538734"/>
                  <a:pt x="0" y="482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qb-1"/>
          <p:cNvSpPr/>
          <p:nvPr/>
        </p:nvSpPr>
        <p:spPr>
          <a:xfrm>
            <a:off x="7150100" y="2273300"/>
            <a:ext cx="31750" cy="584200"/>
          </a:xfrm>
          <a:custGeom>
            <a:avLst/>
            <a:gdLst/>
            <a:ahLst/>
            <a:cxnLst/>
            <a:rect l="0" t="0" r="r" b="b"/>
            <a:pathLst>
              <a:path w="31750" h="584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568325"/>
                </a:lnTo>
                <a:cubicBezTo>
                  <a:pt x="31750" y="577088"/>
                  <a:pt x="24638" y="584200"/>
                  <a:pt x="15875" y="584200"/>
                </a:cubicBezTo>
                <a:lnTo>
                  <a:pt x="15875" y="584200"/>
                </a:lnTo>
                <a:cubicBezTo>
                  <a:pt x="7112" y="584200"/>
                  <a:pt x="0" y="577088"/>
                  <a:pt x="0" y="568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qn-1"/>
          <p:cNvSpPr txBox="1"/>
          <p:nvPr/>
        </p:nvSpPr>
        <p:spPr>
          <a:xfrm>
            <a:off x="7325360" y="2370455"/>
            <a:ext cx="2692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0B3E8F"/>
                </a:solidFill>
                <a:latin typeface="Arial"/>
                <a:ea typeface="Arial"/>
                <a:cs typeface="Arial"/>
              </a:rPr>
              <a:t>Q1</a:t>
            </a:r>
          </a:p>
        </p:txBody>
      </p:sp>
      <p:sp>
        <p:nvSpPr>
          <p:cNvPr id="63" name="qm-1"/>
          <p:cNvSpPr txBox="1"/>
          <p:nvPr/>
        </p:nvSpPr>
        <p:spPr>
          <a:xfrm>
            <a:off x="7329932" y="2595308"/>
            <a:ext cx="68910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1月、2月、3月</a:t>
            </a:r>
          </a:p>
        </p:txBody>
      </p:sp>
      <p:sp>
        <p:nvSpPr>
          <p:cNvPr id="64" name="qbg-1"/>
          <p:cNvSpPr/>
          <p:nvPr/>
        </p:nvSpPr>
        <p:spPr>
          <a:xfrm>
            <a:off x="8216900" y="2514600"/>
            <a:ext cx="1905000" cy="88900"/>
          </a:xfrm>
          <a:prstGeom prst="roundRect">
            <a:avLst>
              <a:gd name="adj" fmla="val 50000"/>
            </a:avLst>
          </a:pr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qbar-1"/>
          <p:cNvSpPr/>
          <p:nvPr/>
        </p:nvSpPr>
        <p:spPr>
          <a:xfrm>
            <a:off x="8216900" y="2514600"/>
            <a:ext cx="839855" cy="889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qv-1"/>
          <p:cNvSpPr txBox="1"/>
          <p:nvPr/>
        </p:nvSpPr>
        <p:spPr>
          <a:xfrm>
            <a:off x="10219182" y="2375313"/>
            <a:ext cx="502920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1,096</a:t>
            </a:r>
          </a:p>
        </p:txBody>
      </p:sp>
      <p:sp>
        <p:nvSpPr>
          <p:cNvPr id="67" name="qp-1"/>
          <p:cNvSpPr txBox="1"/>
          <p:nvPr/>
        </p:nvSpPr>
        <p:spPr>
          <a:xfrm>
            <a:off x="10910570" y="2422366"/>
            <a:ext cx="25146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15">
                <a:solidFill>
                  <a:srgbClr val="64748B"/>
                </a:solidFill>
                <a:latin typeface="Arial"/>
                <a:ea typeface="Arial"/>
                <a:cs typeface="Arial"/>
              </a:rPr>
              <a:t>16%</a:t>
            </a:r>
          </a:p>
        </p:txBody>
      </p:sp>
      <p:sp>
        <p:nvSpPr>
          <p:cNvPr id="68" name="q-2"/>
          <p:cNvSpPr/>
          <p:nvPr/>
        </p:nvSpPr>
        <p:spPr>
          <a:xfrm>
            <a:off x="7150100" y="2959100"/>
            <a:ext cx="4089400" cy="584200"/>
          </a:xfrm>
          <a:custGeom>
            <a:avLst/>
            <a:gdLst/>
            <a:ahLst/>
            <a:cxnLst/>
            <a:rect l="0" t="0" r="r" b="b"/>
            <a:pathLst>
              <a:path w="4089400" h="584200">
                <a:moveTo>
                  <a:pt x="101600" y="0"/>
                </a:moveTo>
                <a:lnTo>
                  <a:pt x="3987800" y="0"/>
                </a:lnTo>
                <a:cubicBezTo>
                  <a:pt x="4043934" y="0"/>
                  <a:pt x="4089400" y="45466"/>
                  <a:pt x="4089400" y="101600"/>
                </a:cubicBezTo>
                <a:lnTo>
                  <a:pt x="4089400" y="482600"/>
                </a:lnTo>
                <a:cubicBezTo>
                  <a:pt x="4089400" y="538734"/>
                  <a:pt x="4043934" y="584200"/>
                  <a:pt x="3987800" y="584200"/>
                </a:cubicBezTo>
                <a:lnTo>
                  <a:pt x="101600" y="584200"/>
                </a:lnTo>
                <a:cubicBezTo>
                  <a:pt x="45466" y="584200"/>
                  <a:pt x="0" y="538734"/>
                  <a:pt x="0" y="482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qb-2"/>
          <p:cNvSpPr/>
          <p:nvPr/>
        </p:nvSpPr>
        <p:spPr>
          <a:xfrm>
            <a:off x="7150100" y="2959100"/>
            <a:ext cx="31750" cy="584200"/>
          </a:xfrm>
          <a:custGeom>
            <a:avLst/>
            <a:gdLst/>
            <a:ahLst/>
            <a:cxnLst/>
            <a:rect l="0" t="0" r="r" b="b"/>
            <a:pathLst>
              <a:path w="31750" h="584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568325"/>
                </a:lnTo>
                <a:cubicBezTo>
                  <a:pt x="31750" y="577088"/>
                  <a:pt x="24638" y="584200"/>
                  <a:pt x="15875" y="584200"/>
                </a:cubicBezTo>
                <a:lnTo>
                  <a:pt x="15875" y="584200"/>
                </a:lnTo>
                <a:cubicBezTo>
                  <a:pt x="7112" y="584200"/>
                  <a:pt x="0" y="577088"/>
                  <a:pt x="0" y="568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qn-2"/>
          <p:cNvSpPr txBox="1"/>
          <p:nvPr/>
        </p:nvSpPr>
        <p:spPr>
          <a:xfrm>
            <a:off x="7325360" y="3056255"/>
            <a:ext cx="2692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1B5AA8"/>
                </a:solidFill>
                <a:latin typeface="Arial"/>
                <a:ea typeface="Arial"/>
                <a:cs typeface="Arial"/>
              </a:rPr>
              <a:t>Q2</a:t>
            </a:r>
          </a:p>
        </p:txBody>
      </p:sp>
      <p:sp>
        <p:nvSpPr>
          <p:cNvPr id="71" name="qm-2"/>
          <p:cNvSpPr txBox="1"/>
          <p:nvPr/>
        </p:nvSpPr>
        <p:spPr>
          <a:xfrm>
            <a:off x="7329932" y="3281108"/>
            <a:ext cx="68910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4月、5月、6月</a:t>
            </a:r>
          </a:p>
        </p:txBody>
      </p:sp>
      <p:sp>
        <p:nvSpPr>
          <p:cNvPr id="72" name="qbg-2"/>
          <p:cNvSpPr/>
          <p:nvPr/>
        </p:nvSpPr>
        <p:spPr>
          <a:xfrm>
            <a:off x="8216900" y="3200400"/>
            <a:ext cx="1905000" cy="88900"/>
          </a:xfrm>
          <a:prstGeom prst="roundRect">
            <a:avLst>
              <a:gd name="adj" fmla="val 50000"/>
            </a:avLst>
          </a:pr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qbar-2"/>
          <p:cNvSpPr/>
          <p:nvPr/>
        </p:nvSpPr>
        <p:spPr>
          <a:xfrm>
            <a:off x="8216900" y="3200400"/>
            <a:ext cx="1224533" cy="88900"/>
          </a:xfrm>
          <a:prstGeom prst="roundRect">
            <a:avLst>
              <a:gd name="adj" fmla="val 50000"/>
            </a:avLst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qv-2"/>
          <p:cNvSpPr txBox="1"/>
          <p:nvPr/>
        </p:nvSpPr>
        <p:spPr>
          <a:xfrm>
            <a:off x="10219182" y="3061113"/>
            <a:ext cx="502920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1,598</a:t>
            </a:r>
          </a:p>
        </p:txBody>
      </p:sp>
      <p:sp>
        <p:nvSpPr>
          <p:cNvPr id="75" name="qp-2"/>
          <p:cNvSpPr txBox="1"/>
          <p:nvPr/>
        </p:nvSpPr>
        <p:spPr>
          <a:xfrm>
            <a:off x="10910570" y="3108166"/>
            <a:ext cx="25146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15">
                <a:solidFill>
                  <a:srgbClr val="64748B"/>
                </a:solidFill>
                <a:latin typeface="Arial"/>
                <a:ea typeface="Arial"/>
                <a:cs typeface="Arial"/>
              </a:rPr>
              <a:t>23%</a:t>
            </a:r>
          </a:p>
        </p:txBody>
      </p:sp>
      <p:sp>
        <p:nvSpPr>
          <p:cNvPr id="76" name="q-3"/>
          <p:cNvSpPr/>
          <p:nvPr/>
        </p:nvSpPr>
        <p:spPr>
          <a:xfrm>
            <a:off x="7150100" y="3644900"/>
            <a:ext cx="4089400" cy="584200"/>
          </a:xfrm>
          <a:custGeom>
            <a:avLst/>
            <a:gdLst/>
            <a:ahLst/>
            <a:cxnLst/>
            <a:rect l="0" t="0" r="r" b="b"/>
            <a:pathLst>
              <a:path w="4089400" h="584200">
                <a:moveTo>
                  <a:pt x="101600" y="0"/>
                </a:moveTo>
                <a:lnTo>
                  <a:pt x="3987800" y="0"/>
                </a:lnTo>
                <a:cubicBezTo>
                  <a:pt x="4043934" y="0"/>
                  <a:pt x="4089400" y="45466"/>
                  <a:pt x="4089400" y="101600"/>
                </a:cubicBezTo>
                <a:lnTo>
                  <a:pt x="4089400" y="482600"/>
                </a:lnTo>
                <a:cubicBezTo>
                  <a:pt x="4089400" y="538734"/>
                  <a:pt x="4043934" y="584200"/>
                  <a:pt x="3987800" y="584200"/>
                </a:cubicBezTo>
                <a:lnTo>
                  <a:pt x="101600" y="584200"/>
                </a:lnTo>
                <a:cubicBezTo>
                  <a:pt x="45466" y="584200"/>
                  <a:pt x="0" y="538734"/>
                  <a:pt x="0" y="482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qb-3"/>
          <p:cNvSpPr/>
          <p:nvPr/>
        </p:nvSpPr>
        <p:spPr>
          <a:xfrm>
            <a:off x="7150100" y="3644900"/>
            <a:ext cx="31750" cy="584200"/>
          </a:xfrm>
          <a:custGeom>
            <a:avLst/>
            <a:gdLst/>
            <a:ahLst/>
            <a:cxnLst/>
            <a:rect l="0" t="0" r="r" b="b"/>
            <a:pathLst>
              <a:path w="31750" h="584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568325"/>
                </a:lnTo>
                <a:cubicBezTo>
                  <a:pt x="31750" y="577088"/>
                  <a:pt x="24638" y="584200"/>
                  <a:pt x="15875" y="584200"/>
                </a:cubicBezTo>
                <a:lnTo>
                  <a:pt x="15875" y="584200"/>
                </a:lnTo>
                <a:cubicBezTo>
                  <a:pt x="7112" y="584200"/>
                  <a:pt x="0" y="577088"/>
                  <a:pt x="0" y="568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qn-3"/>
          <p:cNvSpPr txBox="1"/>
          <p:nvPr/>
        </p:nvSpPr>
        <p:spPr>
          <a:xfrm>
            <a:off x="7325360" y="3742055"/>
            <a:ext cx="2692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2E77C2"/>
                </a:solidFill>
                <a:latin typeface="Arial"/>
                <a:ea typeface="Arial"/>
                <a:cs typeface="Arial"/>
              </a:rPr>
              <a:t>Q3</a:t>
            </a:r>
          </a:p>
        </p:txBody>
      </p:sp>
      <p:sp>
        <p:nvSpPr>
          <p:cNvPr id="79" name="qm-3"/>
          <p:cNvSpPr txBox="1"/>
          <p:nvPr/>
        </p:nvSpPr>
        <p:spPr>
          <a:xfrm>
            <a:off x="7329932" y="3966908"/>
            <a:ext cx="68910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7月、8月、9月</a:t>
            </a:r>
          </a:p>
        </p:txBody>
      </p:sp>
      <p:sp>
        <p:nvSpPr>
          <p:cNvPr id="80" name="qbg-3"/>
          <p:cNvSpPr/>
          <p:nvPr/>
        </p:nvSpPr>
        <p:spPr>
          <a:xfrm>
            <a:off x="8216900" y="3886200"/>
            <a:ext cx="1905000" cy="88900"/>
          </a:xfrm>
          <a:prstGeom prst="roundRect">
            <a:avLst>
              <a:gd name="adj" fmla="val 50000"/>
            </a:avLst>
          </a:pr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qbar-3"/>
          <p:cNvSpPr/>
          <p:nvPr/>
        </p:nvSpPr>
        <p:spPr>
          <a:xfrm>
            <a:off x="8216900" y="3886200"/>
            <a:ext cx="1429899" cy="88900"/>
          </a:xfrm>
          <a:prstGeom prst="roundRect">
            <a:avLst>
              <a:gd name="adj" fmla="val 50000"/>
            </a:avLst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qv-3"/>
          <p:cNvSpPr txBox="1"/>
          <p:nvPr/>
        </p:nvSpPr>
        <p:spPr>
          <a:xfrm>
            <a:off x="10219182" y="3746913"/>
            <a:ext cx="502920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1,866</a:t>
            </a:r>
          </a:p>
        </p:txBody>
      </p:sp>
      <p:sp>
        <p:nvSpPr>
          <p:cNvPr id="83" name="qp-3"/>
          <p:cNvSpPr txBox="1"/>
          <p:nvPr/>
        </p:nvSpPr>
        <p:spPr>
          <a:xfrm>
            <a:off x="10910570" y="3793966"/>
            <a:ext cx="25146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15">
                <a:solidFill>
                  <a:srgbClr val="64748B"/>
                </a:solidFill>
                <a:latin typeface="Arial"/>
                <a:ea typeface="Arial"/>
                <a:cs typeface="Arial"/>
              </a:rPr>
              <a:t>26%</a:t>
            </a:r>
          </a:p>
        </p:txBody>
      </p:sp>
      <p:sp>
        <p:nvSpPr>
          <p:cNvPr id="84" name="q-4"/>
          <p:cNvSpPr/>
          <p:nvPr/>
        </p:nvSpPr>
        <p:spPr>
          <a:xfrm>
            <a:off x="7150100" y="4330700"/>
            <a:ext cx="4089400" cy="584200"/>
          </a:xfrm>
          <a:custGeom>
            <a:avLst/>
            <a:gdLst/>
            <a:ahLst/>
            <a:cxnLst/>
            <a:rect l="0" t="0" r="r" b="b"/>
            <a:pathLst>
              <a:path w="4089400" h="584200">
                <a:moveTo>
                  <a:pt x="101600" y="0"/>
                </a:moveTo>
                <a:lnTo>
                  <a:pt x="3987800" y="0"/>
                </a:lnTo>
                <a:cubicBezTo>
                  <a:pt x="4043934" y="0"/>
                  <a:pt x="4089400" y="45466"/>
                  <a:pt x="4089400" y="101600"/>
                </a:cubicBezTo>
                <a:lnTo>
                  <a:pt x="4089400" y="482600"/>
                </a:lnTo>
                <a:cubicBezTo>
                  <a:pt x="4089400" y="538734"/>
                  <a:pt x="4043934" y="584200"/>
                  <a:pt x="3987800" y="584200"/>
                </a:cubicBezTo>
                <a:lnTo>
                  <a:pt x="101600" y="584200"/>
                </a:lnTo>
                <a:cubicBezTo>
                  <a:pt x="45466" y="584200"/>
                  <a:pt x="0" y="538734"/>
                  <a:pt x="0" y="482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qb-4"/>
          <p:cNvSpPr/>
          <p:nvPr/>
        </p:nvSpPr>
        <p:spPr>
          <a:xfrm>
            <a:off x="7150100" y="4330700"/>
            <a:ext cx="31750" cy="584200"/>
          </a:xfrm>
          <a:custGeom>
            <a:avLst/>
            <a:gdLst/>
            <a:ahLst/>
            <a:cxnLst/>
            <a:rect l="0" t="0" r="r" b="b"/>
            <a:pathLst>
              <a:path w="31750" h="584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568325"/>
                </a:lnTo>
                <a:cubicBezTo>
                  <a:pt x="31750" y="577088"/>
                  <a:pt x="24638" y="584200"/>
                  <a:pt x="15875" y="584200"/>
                </a:cubicBezTo>
                <a:lnTo>
                  <a:pt x="15875" y="584200"/>
                </a:lnTo>
                <a:cubicBezTo>
                  <a:pt x="7112" y="584200"/>
                  <a:pt x="0" y="577088"/>
                  <a:pt x="0" y="568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qn-4"/>
          <p:cNvSpPr txBox="1"/>
          <p:nvPr/>
        </p:nvSpPr>
        <p:spPr>
          <a:xfrm>
            <a:off x="7325360" y="4427855"/>
            <a:ext cx="2692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4694D7"/>
                </a:solidFill>
                <a:latin typeface="Arial"/>
                <a:ea typeface="Arial"/>
                <a:cs typeface="Arial"/>
              </a:rPr>
              <a:t>Q4</a:t>
            </a:r>
          </a:p>
        </p:txBody>
      </p:sp>
      <p:sp>
        <p:nvSpPr>
          <p:cNvPr id="87" name="qm-4"/>
          <p:cNvSpPr txBox="1"/>
          <p:nvPr/>
        </p:nvSpPr>
        <p:spPr>
          <a:xfrm>
            <a:off x="7329932" y="4652708"/>
            <a:ext cx="84416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10月、11月、12月</a:t>
            </a:r>
          </a:p>
        </p:txBody>
      </p:sp>
      <p:sp>
        <p:nvSpPr>
          <p:cNvPr id="88" name="qbg-4"/>
          <p:cNvSpPr/>
          <p:nvPr/>
        </p:nvSpPr>
        <p:spPr>
          <a:xfrm>
            <a:off x="8216900" y="4572000"/>
            <a:ext cx="1905000" cy="88900"/>
          </a:xfrm>
          <a:prstGeom prst="roundRect">
            <a:avLst>
              <a:gd name="adj" fmla="val 50000"/>
            </a:avLst>
          </a:pr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qbar-4"/>
          <p:cNvSpPr/>
          <p:nvPr/>
        </p:nvSpPr>
        <p:spPr>
          <a:xfrm>
            <a:off x="8216900" y="4572000"/>
            <a:ext cx="1905000" cy="88900"/>
          </a:xfrm>
          <a:prstGeom prst="roundRect">
            <a:avLst>
              <a:gd name="adj" fmla="val 50000"/>
            </a:avLst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qv-4"/>
          <p:cNvSpPr txBox="1"/>
          <p:nvPr/>
        </p:nvSpPr>
        <p:spPr>
          <a:xfrm>
            <a:off x="10219182" y="4432713"/>
            <a:ext cx="502920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2,486</a:t>
            </a:r>
          </a:p>
        </p:txBody>
      </p:sp>
      <p:sp>
        <p:nvSpPr>
          <p:cNvPr id="91" name="qp-4"/>
          <p:cNvSpPr txBox="1"/>
          <p:nvPr/>
        </p:nvSpPr>
        <p:spPr>
          <a:xfrm>
            <a:off x="10910570" y="4479766"/>
            <a:ext cx="25146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15">
                <a:solidFill>
                  <a:srgbClr val="64748B"/>
                </a:solidFill>
                <a:latin typeface="Arial"/>
                <a:ea typeface="Arial"/>
                <a:cs typeface="Arial"/>
              </a:rPr>
              <a:t>35%</a:t>
            </a:r>
          </a:p>
        </p:txBody>
      </p:sp>
      <p:sp>
        <p:nvSpPr>
          <p:cNvPr id="92" name="sum"/>
          <p:cNvSpPr/>
          <p:nvPr/>
        </p:nvSpPr>
        <p:spPr>
          <a:xfrm>
            <a:off x="7150100" y="5194300"/>
            <a:ext cx="4089400" cy="584200"/>
          </a:xfrm>
          <a:custGeom>
            <a:avLst/>
            <a:gdLst/>
            <a:ahLst/>
            <a:cxnLst/>
            <a:rect l="0" t="0" r="r" b="b"/>
            <a:pathLst>
              <a:path w="4089400" h="584200">
                <a:moveTo>
                  <a:pt x="101600" y="0"/>
                </a:moveTo>
                <a:lnTo>
                  <a:pt x="3987800" y="0"/>
                </a:lnTo>
                <a:cubicBezTo>
                  <a:pt x="4043934" y="0"/>
                  <a:pt x="4089400" y="45466"/>
                  <a:pt x="4089400" y="101600"/>
                </a:cubicBezTo>
                <a:lnTo>
                  <a:pt x="4089400" y="482600"/>
                </a:lnTo>
                <a:cubicBezTo>
                  <a:pt x="4089400" y="538734"/>
                  <a:pt x="4043934" y="584200"/>
                  <a:pt x="3987800" y="584200"/>
                </a:cubicBezTo>
                <a:lnTo>
                  <a:pt x="101600" y="584200"/>
                </a:lnTo>
                <a:cubicBezTo>
                  <a:pt x="45466" y="584200"/>
                  <a:pt x="0" y="538734"/>
                  <a:pt x="0" y="482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sum-bar"/>
          <p:cNvSpPr/>
          <p:nvPr/>
        </p:nvSpPr>
        <p:spPr>
          <a:xfrm>
            <a:off x="7150100" y="5194300"/>
            <a:ext cx="31750" cy="5842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sum-h"/>
          <p:cNvSpPr txBox="1"/>
          <p:nvPr/>
        </p:nvSpPr>
        <p:spPr>
          <a:xfrm>
            <a:off x="7326884" y="5294440"/>
            <a:ext cx="6108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排产建议</a:t>
            </a:r>
          </a:p>
        </p:txBody>
      </p:sp>
      <p:sp>
        <p:nvSpPr>
          <p:cNvPr id="95" name="sum-p"/>
          <p:cNvSpPr txBox="1"/>
          <p:nvPr/>
        </p:nvSpPr>
        <p:spPr>
          <a:xfrm>
            <a:off x="7328789" y="5504545"/>
            <a:ext cx="320389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Q4 产能需提前两个季度锁定，2 月为全年低谷，适合安排设备大修。</a:t>
            </a:r>
          </a:p>
        </p:txBody>
      </p:sp>
      <p:cxnSp>
        <p:nvCxnSpPr>
          <p:cNvPr id="96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7" name="foot-l"/>
          <p:cNvSpPr txBox="1"/>
          <p:nvPr/>
        </p:nvSpPr>
        <p:spPr>
          <a:xfrm>
            <a:off x="573532" y="6532308"/>
            <a:ext cx="9469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玫瑰图 · 十二个月</a:t>
            </a:r>
          </a:p>
        </p:txBody>
      </p:sp>
      <p:sp>
        <p:nvSpPr>
          <p:cNvPr id="98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9946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各大区交付周期分布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8084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BOX PLOT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437499" y="673132"/>
            <a:ext cx="31832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盒子是中间一半订单的区间，横线是中位数，圆点是异常订单</a:t>
            </a:r>
          </a:p>
        </p:txBody>
      </p:sp>
      <p:cxnSp>
        <p:nvCxnSpPr>
          <p:cNvPr id="10" name="g-0"/>
          <p:cNvCxnSpPr/>
          <p:nvPr/>
        </p:nvCxnSpPr>
        <p:spPr>
          <a:xfrm>
            <a:off x="1689100" y="5029200"/>
            <a:ext cx="6692900" cy="0"/>
          </a:xfrm>
          <a:prstGeom prst="line">
            <a:avLst/>
          </a:prstGeom>
          <a:ln w="6350" cap="rnd">
            <a:solidFill>
              <a:srgbClr val="0B2545">
                <a:alpha val="1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gt-0"/>
          <p:cNvSpPr txBox="1"/>
          <p:nvPr/>
        </p:nvSpPr>
        <p:spPr>
          <a:xfrm>
            <a:off x="1462151" y="4941824"/>
            <a:ext cx="150241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0</a:t>
            </a:r>
          </a:p>
        </p:txBody>
      </p:sp>
      <p:cxnSp>
        <p:nvCxnSpPr>
          <p:cNvPr id="12" name="g-10"/>
          <p:cNvCxnSpPr/>
          <p:nvPr/>
        </p:nvCxnSpPr>
        <p:spPr>
          <a:xfrm>
            <a:off x="1689100" y="4504267"/>
            <a:ext cx="66929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gt-10"/>
          <p:cNvSpPr txBox="1"/>
          <p:nvPr/>
        </p:nvSpPr>
        <p:spPr>
          <a:xfrm>
            <a:off x="1403350" y="4416891"/>
            <a:ext cx="20904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10</a:t>
            </a:r>
          </a:p>
        </p:txBody>
      </p:sp>
      <p:cxnSp>
        <p:nvCxnSpPr>
          <p:cNvPr id="14" name="g-20"/>
          <p:cNvCxnSpPr/>
          <p:nvPr/>
        </p:nvCxnSpPr>
        <p:spPr>
          <a:xfrm>
            <a:off x="1689100" y="3979333"/>
            <a:ext cx="66929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gt-20"/>
          <p:cNvSpPr txBox="1"/>
          <p:nvPr/>
        </p:nvSpPr>
        <p:spPr>
          <a:xfrm>
            <a:off x="1403350" y="3891957"/>
            <a:ext cx="20904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20</a:t>
            </a:r>
          </a:p>
        </p:txBody>
      </p:sp>
      <p:cxnSp>
        <p:nvCxnSpPr>
          <p:cNvPr id="16" name="g-30"/>
          <p:cNvCxnSpPr/>
          <p:nvPr/>
        </p:nvCxnSpPr>
        <p:spPr>
          <a:xfrm>
            <a:off x="1689100" y="3454400"/>
            <a:ext cx="66929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gt-30"/>
          <p:cNvSpPr txBox="1"/>
          <p:nvPr/>
        </p:nvSpPr>
        <p:spPr>
          <a:xfrm>
            <a:off x="1403350" y="3367024"/>
            <a:ext cx="20904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30</a:t>
            </a:r>
          </a:p>
        </p:txBody>
      </p:sp>
      <p:cxnSp>
        <p:nvCxnSpPr>
          <p:cNvPr id="18" name="g-40"/>
          <p:cNvCxnSpPr/>
          <p:nvPr/>
        </p:nvCxnSpPr>
        <p:spPr>
          <a:xfrm>
            <a:off x="1689100" y="2929467"/>
            <a:ext cx="66929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gt-40"/>
          <p:cNvSpPr txBox="1"/>
          <p:nvPr/>
        </p:nvSpPr>
        <p:spPr>
          <a:xfrm>
            <a:off x="1403350" y="2842091"/>
            <a:ext cx="20904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40</a:t>
            </a:r>
          </a:p>
        </p:txBody>
      </p:sp>
      <p:cxnSp>
        <p:nvCxnSpPr>
          <p:cNvPr id="20" name="g-50"/>
          <p:cNvCxnSpPr/>
          <p:nvPr/>
        </p:nvCxnSpPr>
        <p:spPr>
          <a:xfrm>
            <a:off x="1689100" y="2404533"/>
            <a:ext cx="66929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gt-50"/>
          <p:cNvSpPr txBox="1"/>
          <p:nvPr/>
        </p:nvSpPr>
        <p:spPr>
          <a:xfrm>
            <a:off x="1403350" y="2317157"/>
            <a:ext cx="20904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50</a:t>
            </a:r>
          </a:p>
        </p:txBody>
      </p:sp>
      <p:cxnSp>
        <p:nvCxnSpPr>
          <p:cNvPr id="22" name="g-60"/>
          <p:cNvCxnSpPr/>
          <p:nvPr/>
        </p:nvCxnSpPr>
        <p:spPr>
          <a:xfrm>
            <a:off x="1689100" y="1879600"/>
            <a:ext cx="66929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gt-60"/>
          <p:cNvSpPr txBox="1"/>
          <p:nvPr/>
        </p:nvSpPr>
        <p:spPr>
          <a:xfrm>
            <a:off x="1403350" y="1792224"/>
            <a:ext cx="20904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60</a:t>
            </a:r>
          </a:p>
        </p:txBody>
      </p:sp>
      <p:sp>
        <p:nvSpPr>
          <p:cNvPr id="24" name="unit"/>
          <p:cNvSpPr txBox="1"/>
          <p:nvPr/>
        </p:nvSpPr>
        <p:spPr>
          <a:xfrm>
            <a:off x="1438783" y="1553908"/>
            <a:ext cx="17208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天</a:t>
            </a:r>
          </a:p>
        </p:txBody>
      </p:sp>
      <p:cxnSp>
        <p:nvCxnSpPr>
          <p:cNvPr id="25" name="target"/>
          <p:cNvCxnSpPr/>
          <p:nvPr/>
        </p:nvCxnSpPr>
        <p:spPr>
          <a:xfrm>
            <a:off x="1689100" y="3926840"/>
            <a:ext cx="6692900" cy="0"/>
          </a:xfrm>
          <a:prstGeom prst="line">
            <a:avLst/>
          </a:prstGeom>
          <a:ln w="12700" cap="rnd">
            <a:solidFill>
              <a:srgbClr val="E0703A">
                <a:alpha val="7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wh-1"/>
          <p:cNvCxnSpPr/>
          <p:nvPr/>
        </p:nvCxnSpPr>
        <p:spPr>
          <a:xfrm>
            <a:off x="2434167" y="3611880"/>
            <a:ext cx="0" cy="367453"/>
          </a:xfrm>
          <a:prstGeom prst="line">
            <a:avLst/>
          </a:prstGeom>
          <a:ln w="12700" cap="rnd">
            <a:solidFill>
              <a:srgbClr val="0B3E8F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wl-1"/>
          <p:cNvCxnSpPr/>
          <p:nvPr/>
        </p:nvCxnSpPr>
        <p:spPr>
          <a:xfrm>
            <a:off x="2434167" y="4346787"/>
            <a:ext cx="0" cy="209973"/>
          </a:xfrm>
          <a:prstGeom prst="line">
            <a:avLst/>
          </a:prstGeom>
          <a:ln w="12700" cap="rnd">
            <a:solidFill>
              <a:srgbClr val="0B3E8F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ap-1-9"/>
          <p:cNvCxnSpPr/>
          <p:nvPr/>
        </p:nvCxnSpPr>
        <p:spPr>
          <a:xfrm>
            <a:off x="2269067" y="4556760"/>
            <a:ext cx="330200" cy="0"/>
          </a:xfrm>
          <a:prstGeom prst="line">
            <a:avLst/>
          </a:prstGeom>
          <a:ln w="15240" cap="rnd">
            <a:solidFill>
              <a:srgbClr val="0B3E8F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ap-1-27"/>
          <p:cNvCxnSpPr/>
          <p:nvPr/>
        </p:nvCxnSpPr>
        <p:spPr>
          <a:xfrm>
            <a:off x="2269067" y="3611880"/>
            <a:ext cx="330200" cy="0"/>
          </a:xfrm>
          <a:prstGeom prst="line">
            <a:avLst/>
          </a:prstGeom>
          <a:ln w="15240" cap="rnd">
            <a:solidFill>
              <a:srgbClr val="0B3E8F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box-1"/>
          <p:cNvSpPr/>
          <p:nvPr/>
        </p:nvSpPr>
        <p:spPr>
          <a:xfrm>
            <a:off x="2091246" y="3979354"/>
            <a:ext cx="685800" cy="367411"/>
          </a:xfrm>
          <a:custGeom>
            <a:avLst/>
            <a:gdLst/>
            <a:ahLst/>
            <a:cxnLst/>
            <a:rect l="0" t="0" r="r" b="b"/>
            <a:pathLst>
              <a:path w="685800" h="367411">
                <a:moveTo>
                  <a:pt x="63500" y="0"/>
                </a:moveTo>
                <a:lnTo>
                  <a:pt x="622300" y="0"/>
                </a:lnTo>
                <a:cubicBezTo>
                  <a:pt x="657416" y="0"/>
                  <a:pt x="685800" y="28385"/>
                  <a:pt x="685800" y="63500"/>
                </a:cubicBezTo>
                <a:lnTo>
                  <a:pt x="685800" y="303911"/>
                </a:lnTo>
                <a:cubicBezTo>
                  <a:pt x="685800" y="339026"/>
                  <a:pt x="657416" y="367411"/>
                  <a:pt x="622300" y="367411"/>
                </a:cubicBezTo>
                <a:lnTo>
                  <a:pt x="63500" y="367411"/>
                </a:lnTo>
                <a:cubicBezTo>
                  <a:pt x="28448" y="367411"/>
                  <a:pt x="0" y="339026"/>
                  <a:pt x="0" y="303911"/>
                </a:cubicBezTo>
                <a:lnTo>
                  <a:pt x="0" y="63500"/>
                </a:lnTo>
                <a:cubicBezTo>
                  <a:pt x="0" y="28385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4A70AC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31" name="med-1"/>
          <p:cNvCxnSpPr/>
          <p:nvPr/>
        </p:nvCxnSpPr>
        <p:spPr>
          <a:xfrm>
            <a:off x="2129367" y="4189307"/>
            <a:ext cx="609600" cy="0"/>
          </a:xfrm>
          <a:prstGeom prst="line">
            <a:avLst/>
          </a:prstGeom>
          <a:ln w="21590" cap="rnd">
            <a:solidFill>
              <a:srgbClr val="FFFFFF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medv-1"/>
          <p:cNvSpPr txBox="1"/>
          <p:nvPr/>
        </p:nvSpPr>
        <p:spPr>
          <a:xfrm>
            <a:off x="2853775" y="4101931"/>
            <a:ext cx="20904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16</a:t>
            </a:r>
          </a:p>
        </p:txBody>
      </p:sp>
      <p:sp>
        <p:nvSpPr>
          <p:cNvPr id="33" name="out-1-1"/>
          <p:cNvSpPr/>
          <p:nvPr/>
        </p:nvSpPr>
        <p:spPr>
          <a:xfrm>
            <a:off x="2389717" y="2990003"/>
            <a:ext cx="88900" cy="889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nm-1"/>
          <p:cNvSpPr txBox="1"/>
          <p:nvPr/>
        </p:nvSpPr>
        <p:spPr>
          <a:xfrm>
            <a:off x="2194454" y="5087144"/>
            <a:ext cx="4794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华东</a:t>
            </a:r>
          </a:p>
        </p:txBody>
      </p:sp>
      <p:sp>
        <p:nvSpPr>
          <p:cNvPr id="35" name="cnt-1"/>
          <p:cNvSpPr txBox="1"/>
          <p:nvPr/>
        </p:nvSpPr>
        <p:spPr>
          <a:xfrm>
            <a:off x="2243794" y="5351208"/>
            <a:ext cx="3807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386 单</a:t>
            </a:r>
          </a:p>
        </p:txBody>
      </p:sp>
      <p:cxnSp>
        <p:nvCxnSpPr>
          <p:cNvPr id="36" name="wh-2"/>
          <p:cNvCxnSpPr/>
          <p:nvPr/>
        </p:nvCxnSpPr>
        <p:spPr>
          <a:xfrm>
            <a:off x="3492500" y="3401907"/>
            <a:ext cx="0" cy="419946"/>
          </a:xfrm>
          <a:prstGeom prst="line">
            <a:avLst/>
          </a:prstGeom>
          <a:ln w="12700" cap="rnd">
            <a:solidFill>
              <a:srgbClr val="134C9C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wl-2"/>
          <p:cNvCxnSpPr/>
          <p:nvPr/>
        </p:nvCxnSpPr>
        <p:spPr>
          <a:xfrm>
            <a:off x="3492500" y="4294293"/>
            <a:ext cx="0" cy="209974"/>
          </a:xfrm>
          <a:prstGeom prst="line">
            <a:avLst/>
          </a:prstGeom>
          <a:ln w="12700" cap="rnd">
            <a:solidFill>
              <a:srgbClr val="134C9C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ap-2-10"/>
          <p:cNvCxnSpPr/>
          <p:nvPr/>
        </p:nvCxnSpPr>
        <p:spPr>
          <a:xfrm>
            <a:off x="3327400" y="4504267"/>
            <a:ext cx="330200" cy="0"/>
          </a:xfrm>
          <a:prstGeom prst="line">
            <a:avLst/>
          </a:prstGeom>
          <a:ln w="15240" cap="rnd">
            <a:solidFill>
              <a:srgbClr val="134C9C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ap-2-31"/>
          <p:cNvCxnSpPr/>
          <p:nvPr/>
        </p:nvCxnSpPr>
        <p:spPr>
          <a:xfrm>
            <a:off x="3327400" y="3401907"/>
            <a:ext cx="330200" cy="0"/>
          </a:xfrm>
          <a:prstGeom prst="line">
            <a:avLst/>
          </a:prstGeom>
          <a:ln w="15240" cap="rnd">
            <a:solidFill>
              <a:srgbClr val="134C9C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box-2"/>
          <p:cNvSpPr/>
          <p:nvPr/>
        </p:nvSpPr>
        <p:spPr>
          <a:xfrm>
            <a:off x="3149600" y="3821874"/>
            <a:ext cx="685800" cy="472440"/>
          </a:xfrm>
          <a:custGeom>
            <a:avLst/>
            <a:gdLst/>
            <a:ahLst/>
            <a:cxnLst/>
            <a:rect l="0" t="0" r="r" b="b"/>
            <a:pathLst>
              <a:path w="685800" h="472440">
                <a:moveTo>
                  <a:pt x="63500" y="0"/>
                </a:moveTo>
                <a:lnTo>
                  <a:pt x="622300" y="0"/>
                </a:lnTo>
                <a:cubicBezTo>
                  <a:pt x="657352" y="0"/>
                  <a:pt x="685800" y="28385"/>
                  <a:pt x="685800" y="63500"/>
                </a:cubicBezTo>
                <a:lnTo>
                  <a:pt x="685800" y="408940"/>
                </a:lnTo>
                <a:cubicBezTo>
                  <a:pt x="685800" y="443992"/>
                  <a:pt x="657352" y="472440"/>
                  <a:pt x="622300" y="472440"/>
                </a:cubicBezTo>
                <a:lnTo>
                  <a:pt x="63500" y="472440"/>
                </a:lnTo>
                <a:cubicBezTo>
                  <a:pt x="28448" y="472440"/>
                  <a:pt x="0" y="443992"/>
                  <a:pt x="0" y="408940"/>
                </a:cubicBezTo>
                <a:lnTo>
                  <a:pt x="0" y="63500"/>
                </a:lnTo>
                <a:cubicBezTo>
                  <a:pt x="0" y="28385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507BB6"/>
              </a:gs>
              <a:gs pos="100000">
                <a:srgbClr val="134C9C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41" name="med-2"/>
          <p:cNvCxnSpPr/>
          <p:nvPr/>
        </p:nvCxnSpPr>
        <p:spPr>
          <a:xfrm>
            <a:off x="3187700" y="4084320"/>
            <a:ext cx="609600" cy="0"/>
          </a:xfrm>
          <a:prstGeom prst="line">
            <a:avLst/>
          </a:prstGeom>
          <a:ln w="21590" cap="rnd">
            <a:solidFill>
              <a:srgbClr val="FFFFFF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medv-2"/>
          <p:cNvSpPr txBox="1"/>
          <p:nvPr/>
        </p:nvSpPr>
        <p:spPr>
          <a:xfrm>
            <a:off x="3912108" y="3996944"/>
            <a:ext cx="20904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15">
                <a:solidFill>
                  <a:srgbClr val="134C9C"/>
                </a:solidFill>
                <a:latin typeface="Arial"/>
                <a:ea typeface="Arial"/>
                <a:cs typeface="Arial"/>
              </a:rPr>
              <a:t>18</a:t>
            </a:r>
          </a:p>
        </p:txBody>
      </p:sp>
      <p:sp>
        <p:nvSpPr>
          <p:cNvPr id="43" name="out-2-1"/>
          <p:cNvSpPr/>
          <p:nvPr/>
        </p:nvSpPr>
        <p:spPr>
          <a:xfrm>
            <a:off x="3448050" y="2780030"/>
            <a:ext cx="88900" cy="889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out-2-2"/>
          <p:cNvSpPr/>
          <p:nvPr/>
        </p:nvSpPr>
        <p:spPr>
          <a:xfrm>
            <a:off x="3448050" y="2570057"/>
            <a:ext cx="88900" cy="889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nm-2"/>
          <p:cNvSpPr txBox="1"/>
          <p:nvPr/>
        </p:nvSpPr>
        <p:spPr>
          <a:xfrm>
            <a:off x="3252788" y="5087144"/>
            <a:ext cx="4794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华南</a:t>
            </a:r>
          </a:p>
        </p:txBody>
      </p:sp>
      <p:sp>
        <p:nvSpPr>
          <p:cNvPr id="46" name="cnt-2"/>
          <p:cNvSpPr txBox="1"/>
          <p:nvPr/>
        </p:nvSpPr>
        <p:spPr>
          <a:xfrm>
            <a:off x="3302127" y="5351208"/>
            <a:ext cx="3807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312 单</a:t>
            </a:r>
          </a:p>
        </p:txBody>
      </p:sp>
      <p:cxnSp>
        <p:nvCxnSpPr>
          <p:cNvPr id="47" name="wh-3"/>
          <p:cNvCxnSpPr/>
          <p:nvPr/>
        </p:nvCxnSpPr>
        <p:spPr>
          <a:xfrm>
            <a:off x="4550833" y="3296920"/>
            <a:ext cx="0" cy="472440"/>
          </a:xfrm>
          <a:prstGeom prst="line">
            <a:avLst/>
          </a:prstGeom>
          <a:ln w="12700" cap="rnd">
            <a:solidFill>
              <a:srgbClr val="2468B6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wl-3"/>
          <p:cNvCxnSpPr/>
          <p:nvPr/>
        </p:nvCxnSpPr>
        <p:spPr>
          <a:xfrm>
            <a:off x="4550833" y="4241800"/>
            <a:ext cx="0" cy="209973"/>
          </a:xfrm>
          <a:prstGeom prst="line">
            <a:avLst/>
          </a:prstGeom>
          <a:ln w="12700" cap="rnd">
            <a:solidFill>
              <a:srgbClr val="2468B6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ap-3-11"/>
          <p:cNvCxnSpPr/>
          <p:nvPr/>
        </p:nvCxnSpPr>
        <p:spPr>
          <a:xfrm>
            <a:off x="4385733" y="4451773"/>
            <a:ext cx="330200" cy="0"/>
          </a:xfrm>
          <a:prstGeom prst="line">
            <a:avLst/>
          </a:prstGeom>
          <a:ln w="15240" cap="rnd">
            <a:solidFill>
              <a:srgbClr val="2468B6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ap-3-33"/>
          <p:cNvCxnSpPr/>
          <p:nvPr/>
        </p:nvCxnSpPr>
        <p:spPr>
          <a:xfrm>
            <a:off x="4385733" y="3296920"/>
            <a:ext cx="330200" cy="0"/>
          </a:xfrm>
          <a:prstGeom prst="line">
            <a:avLst/>
          </a:prstGeom>
          <a:ln w="15240" cap="rnd">
            <a:solidFill>
              <a:srgbClr val="2468B6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box-3"/>
          <p:cNvSpPr/>
          <p:nvPr/>
        </p:nvSpPr>
        <p:spPr>
          <a:xfrm>
            <a:off x="4207954" y="3769360"/>
            <a:ext cx="685800" cy="472440"/>
          </a:xfrm>
          <a:custGeom>
            <a:avLst/>
            <a:gdLst/>
            <a:ahLst/>
            <a:cxnLst/>
            <a:rect l="0" t="0" r="r" b="b"/>
            <a:pathLst>
              <a:path w="685800" h="472440">
                <a:moveTo>
                  <a:pt x="63500" y="0"/>
                </a:moveTo>
                <a:lnTo>
                  <a:pt x="622300" y="0"/>
                </a:lnTo>
                <a:cubicBezTo>
                  <a:pt x="657352" y="0"/>
                  <a:pt x="685800" y="28448"/>
                  <a:pt x="685800" y="63500"/>
                </a:cubicBezTo>
                <a:lnTo>
                  <a:pt x="685800" y="408940"/>
                </a:lnTo>
                <a:cubicBezTo>
                  <a:pt x="685800" y="443992"/>
                  <a:pt x="657352" y="472440"/>
                  <a:pt x="622300" y="472440"/>
                </a:cubicBezTo>
                <a:lnTo>
                  <a:pt x="63500" y="472440"/>
                </a:lnTo>
                <a:cubicBezTo>
                  <a:pt x="28385" y="472440"/>
                  <a:pt x="0" y="443992"/>
                  <a:pt x="0" y="408940"/>
                </a:cubicBezTo>
                <a:lnTo>
                  <a:pt x="0" y="63500"/>
                </a:lnTo>
                <a:cubicBezTo>
                  <a:pt x="0" y="28448"/>
                  <a:pt x="28385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5D8FC9"/>
              </a:gs>
              <a:gs pos="100000">
                <a:srgbClr val="2468B6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52" name="med-3"/>
          <p:cNvCxnSpPr/>
          <p:nvPr/>
        </p:nvCxnSpPr>
        <p:spPr>
          <a:xfrm>
            <a:off x="4246033" y="4031827"/>
            <a:ext cx="609600" cy="0"/>
          </a:xfrm>
          <a:prstGeom prst="line">
            <a:avLst/>
          </a:prstGeom>
          <a:ln w="21590" cap="rnd">
            <a:solidFill>
              <a:srgbClr val="FFFFFF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medv-3"/>
          <p:cNvSpPr txBox="1"/>
          <p:nvPr/>
        </p:nvSpPr>
        <p:spPr>
          <a:xfrm>
            <a:off x="4970441" y="3944451"/>
            <a:ext cx="20904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15">
                <a:solidFill>
                  <a:srgbClr val="2468B6"/>
                </a:solidFill>
                <a:latin typeface="Arial"/>
                <a:ea typeface="Arial"/>
                <a:cs typeface="Arial"/>
              </a:rPr>
              <a:t>19</a:t>
            </a:r>
          </a:p>
        </p:txBody>
      </p:sp>
      <p:sp>
        <p:nvSpPr>
          <p:cNvPr id="54" name="nm-3"/>
          <p:cNvSpPr txBox="1"/>
          <p:nvPr/>
        </p:nvSpPr>
        <p:spPr>
          <a:xfrm>
            <a:off x="4311121" y="5087144"/>
            <a:ext cx="4794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华北</a:t>
            </a:r>
          </a:p>
        </p:txBody>
      </p:sp>
      <p:sp>
        <p:nvSpPr>
          <p:cNvPr id="55" name="cnt-3"/>
          <p:cNvSpPr txBox="1"/>
          <p:nvPr/>
        </p:nvSpPr>
        <p:spPr>
          <a:xfrm>
            <a:off x="4360460" y="5351208"/>
            <a:ext cx="3807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268 单</a:t>
            </a:r>
          </a:p>
        </p:txBody>
      </p:sp>
      <p:cxnSp>
        <p:nvCxnSpPr>
          <p:cNvPr id="56" name="wh-4"/>
          <p:cNvCxnSpPr/>
          <p:nvPr/>
        </p:nvCxnSpPr>
        <p:spPr>
          <a:xfrm>
            <a:off x="5609167" y="3034453"/>
            <a:ext cx="0" cy="524934"/>
          </a:xfrm>
          <a:prstGeom prst="line">
            <a:avLst/>
          </a:prstGeom>
          <a:ln w="12700" cap="rnd">
            <a:solidFill>
              <a:srgbClr val="2E77C2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wl-4"/>
          <p:cNvCxnSpPr/>
          <p:nvPr/>
        </p:nvCxnSpPr>
        <p:spPr>
          <a:xfrm>
            <a:off x="5609167" y="4136813"/>
            <a:ext cx="0" cy="262467"/>
          </a:xfrm>
          <a:prstGeom prst="line">
            <a:avLst/>
          </a:prstGeom>
          <a:ln w="12700" cap="rnd">
            <a:solidFill>
              <a:srgbClr val="2E77C2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ap-4-12"/>
          <p:cNvCxnSpPr/>
          <p:nvPr/>
        </p:nvCxnSpPr>
        <p:spPr>
          <a:xfrm>
            <a:off x="5444067" y="4399280"/>
            <a:ext cx="330200" cy="0"/>
          </a:xfrm>
          <a:prstGeom prst="line">
            <a:avLst/>
          </a:prstGeom>
          <a:ln w="15240" cap="rnd">
            <a:solidFill>
              <a:srgbClr val="2E77C2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ap-4-38"/>
          <p:cNvCxnSpPr/>
          <p:nvPr/>
        </p:nvCxnSpPr>
        <p:spPr>
          <a:xfrm>
            <a:off x="5444067" y="3034453"/>
            <a:ext cx="330200" cy="0"/>
          </a:xfrm>
          <a:prstGeom prst="line">
            <a:avLst/>
          </a:prstGeom>
          <a:ln w="15240" cap="rnd">
            <a:solidFill>
              <a:srgbClr val="2E77C2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box-4"/>
          <p:cNvSpPr/>
          <p:nvPr/>
        </p:nvSpPr>
        <p:spPr>
          <a:xfrm>
            <a:off x="5266246" y="3559366"/>
            <a:ext cx="685800" cy="577469"/>
          </a:xfrm>
          <a:custGeom>
            <a:avLst/>
            <a:gdLst/>
            <a:ahLst/>
            <a:cxnLst/>
            <a:rect l="0" t="0" r="r" b="b"/>
            <a:pathLst>
              <a:path w="685800" h="577469">
                <a:moveTo>
                  <a:pt x="63500" y="0"/>
                </a:moveTo>
                <a:lnTo>
                  <a:pt x="622300" y="0"/>
                </a:lnTo>
                <a:cubicBezTo>
                  <a:pt x="657415" y="0"/>
                  <a:pt x="685800" y="28448"/>
                  <a:pt x="685800" y="63500"/>
                </a:cubicBezTo>
                <a:lnTo>
                  <a:pt x="685800" y="513969"/>
                </a:lnTo>
                <a:cubicBezTo>
                  <a:pt x="685800" y="549021"/>
                  <a:pt x="657415" y="577469"/>
                  <a:pt x="622300" y="577469"/>
                </a:cubicBezTo>
                <a:lnTo>
                  <a:pt x="63500" y="577469"/>
                </a:lnTo>
                <a:cubicBezTo>
                  <a:pt x="28448" y="577469"/>
                  <a:pt x="0" y="549021"/>
                  <a:pt x="0" y="513969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649AD2"/>
              </a:gs>
              <a:gs pos="100000">
                <a:srgbClr val="2E77C2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61" name="med-4"/>
          <p:cNvCxnSpPr/>
          <p:nvPr/>
        </p:nvCxnSpPr>
        <p:spPr>
          <a:xfrm>
            <a:off x="5304367" y="3874347"/>
            <a:ext cx="609600" cy="0"/>
          </a:xfrm>
          <a:prstGeom prst="line">
            <a:avLst/>
          </a:prstGeom>
          <a:ln w="21590" cap="rnd">
            <a:solidFill>
              <a:srgbClr val="FFFFFF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medv-4"/>
          <p:cNvSpPr txBox="1"/>
          <p:nvPr/>
        </p:nvSpPr>
        <p:spPr>
          <a:xfrm>
            <a:off x="6028775" y="3786971"/>
            <a:ext cx="20904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15">
                <a:solidFill>
                  <a:srgbClr val="2E77C2"/>
                </a:solidFill>
                <a:latin typeface="Arial"/>
                <a:ea typeface="Arial"/>
                <a:cs typeface="Arial"/>
              </a:rPr>
              <a:t>22</a:t>
            </a:r>
          </a:p>
        </p:txBody>
      </p:sp>
      <p:sp>
        <p:nvSpPr>
          <p:cNvPr id="63" name="out-4-1"/>
          <p:cNvSpPr/>
          <p:nvPr/>
        </p:nvSpPr>
        <p:spPr>
          <a:xfrm>
            <a:off x="5564717" y="2465070"/>
            <a:ext cx="88900" cy="889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nm-4"/>
          <p:cNvSpPr txBox="1"/>
          <p:nvPr/>
        </p:nvSpPr>
        <p:spPr>
          <a:xfrm>
            <a:off x="5369454" y="5087144"/>
            <a:ext cx="4794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华中</a:t>
            </a:r>
          </a:p>
        </p:txBody>
      </p:sp>
      <p:sp>
        <p:nvSpPr>
          <p:cNvPr id="65" name="cnt-4"/>
          <p:cNvSpPr txBox="1"/>
          <p:nvPr/>
        </p:nvSpPr>
        <p:spPr>
          <a:xfrm>
            <a:off x="5418794" y="5351208"/>
            <a:ext cx="3807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214 单</a:t>
            </a:r>
          </a:p>
        </p:txBody>
      </p:sp>
      <p:cxnSp>
        <p:nvCxnSpPr>
          <p:cNvPr id="66" name="wh-5"/>
          <p:cNvCxnSpPr/>
          <p:nvPr/>
        </p:nvCxnSpPr>
        <p:spPr>
          <a:xfrm>
            <a:off x="6667500" y="2824480"/>
            <a:ext cx="0" cy="524933"/>
          </a:xfrm>
          <a:prstGeom prst="line">
            <a:avLst/>
          </a:prstGeom>
          <a:ln w="12700" cap="rnd">
            <a:solidFill>
              <a:srgbClr val="4694D7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wl-5"/>
          <p:cNvCxnSpPr/>
          <p:nvPr/>
        </p:nvCxnSpPr>
        <p:spPr>
          <a:xfrm>
            <a:off x="6667500" y="4031827"/>
            <a:ext cx="0" cy="314960"/>
          </a:xfrm>
          <a:prstGeom prst="line">
            <a:avLst/>
          </a:prstGeom>
          <a:ln w="12700" cap="rnd">
            <a:solidFill>
              <a:srgbClr val="4694D7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ap-5-13"/>
          <p:cNvCxnSpPr/>
          <p:nvPr/>
        </p:nvCxnSpPr>
        <p:spPr>
          <a:xfrm>
            <a:off x="6502400" y="4346787"/>
            <a:ext cx="330200" cy="0"/>
          </a:xfrm>
          <a:prstGeom prst="line">
            <a:avLst/>
          </a:prstGeom>
          <a:ln w="15240" cap="rnd">
            <a:solidFill>
              <a:srgbClr val="4694D7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ap-5-42"/>
          <p:cNvCxnSpPr/>
          <p:nvPr/>
        </p:nvCxnSpPr>
        <p:spPr>
          <a:xfrm>
            <a:off x="6502400" y="2824480"/>
            <a:ext cx="330200" cy="0"/>
          </a:xfrm>
          <a:prstGeom prst="line">
            <a:avLst/>
          </a:prstGeom>
          <a:ln w="15240" cap="rnd">
            <a:solidFill>
              <a:srgbClr val="4694D7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box-5"/>
          <p:cNvSpPr/>
          <p:nvPr/>
        </p:nvSpPr>
        <p:spPr>
          <a:xfrm>
            <a:off x="6324600" y="3349434"/>
            <a:ext cx="685800" cy="682371"/>
          </a:xfrm>
          <a:custGeom>
            <a:avLst/>
            <a:gdLst/>
            <a:ahLst/>
            <a:cxnLst/>
            <a:rect l="0" t="0" r="r" b="b"/>
            <a:pathLst>
              <a:path w="685800" h="682371">
                <a:moveTo>
                  <a:pt x="63500" y="0"/>
                </a:moveTo>
                <a:lnTo>
                  <a:pt x="622300" y="0"/>
                </a:lnTo>
                <a:cubicBezTo>
                  <a:pt x="657352" y="0"/>
                  <a:pt x="685800" y="28385"/>
                  <a:pt x="685800" y="63500"/>
                </a:cubicBezTo>
                <a:lnTo>
                  <a:pt x="685800" y="618871"/>
                </a:lnTo>
                <a:cubicBezTo>
                  <a:pt x="685800" y="653986"/>
                  <a:pt x="657352" y="682371"/>
                  <a:pt x="622300" y="682371"/>
                </a:cubicBezTo>
                <a:lnTo>
                  <a:pt x="63500" y="682371"/>
                </a:lnTo>
                <a:cubicBezTo>
                  <a:pt x="28448" y="682371"/>
                  <a:pt x="0" y="653986"/>
                  <a:pt x="0" y="618871"/>
                </a:cubicBezTo>
                <a:lnTo>
                  <a:pt x="0" y="63500"/>
                </a:lnTo>
                <a:cubicBezTo>
                  <a:pt x="0" y="28385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76B0E1"/>
              </a:gs>
              <a:gs pos="100000">
                <a:srgbClr val="4694D7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71" name="med-5"/>
          <p:cNvCxnSpPr/>
          <p:nvPr/>
        </p:nvCxnSpPr>
        <p:spPr>
          <a:xfrm>
            <a:off x="6362700" y="3716867"/>
            <a:ext cx="609600" cy="0"/>
          </a:xfrm>
          <a:prstGeom prst="line">
            <a:avLst/>
          </a:prstGeom>
          <a:ln w="21590" cap="rnd">
            <a:solidFill>
              <a:srgbClr val="FFFFFF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2" name="medv-5"/>
          <p:cNvSpPr txBox="1"/>
          <p:nvPr/>
        </p:nvSpPr>
        <p:spPr>
          <a:xfrm>
            <a:off x="7087108" y="3629491"/>
            <a:ext cx="20904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15">
                <a:solidFill>
                  <a:srgbClr val="4694D7"/>
                </a:solidFill>
                <a:latin typeface="Arial"/>
                <a:ea typeface="Arial"/>
                <a:cs typeface="Arial"/>
              </a:rPr>
              <a:t>25</a:t>
            </a:r>
          </a:p>
        </p:txBody>
      </p:sp>
      <p:sp>
        <p:nvSpPr>
          <p:cNvPr id="73" name="out-5-1"/>
          <p:cNvSpPr/>
          <p:nvPr/>
        </p:nvSpPr>
        <p:spPr>
          <a:xfrm>
            <a:off x="6623050" y="2255097"/>
            <a:ext cx="88900" cy="889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out-5-2"/>
          <p:cNvSpPr/>
          <p:nvPr/>
        </p:nvSpPr>
        <p:spPr>
          <a:xfrm>
            <a:off x="6623050" y="2045123"/>
            <a:ext cx="88900" cy="889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nm-5"/>
          <p:cNvSpPr txBox="1"/>
          <p:nvPr/>
        </p:nvSpPr>
        <p:spPr>
          <a:xfrm>
            <a:off x="6427788" y="5087144"/>
            <a:ext cx="4794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西南</a:t>
            </a:r>
          </a:p>
        </p:txBody>
      </p:sp>
      <p:sp>
        <p:nvSpPr>
          <p:cNvPr id="76" name="cnt-5"/>
          <p:cNvSpPr txBox="1"/>
          <p:nvPr/>
        </p:nvSpPr>
        <p:spPr>
          <a:xfrm>
            <a:off x="6477127" y="5351208"/>
            <a:ext cx="3807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176 单</a:t>
            </a:r>
          </a:p>
        </p:txBody>
      </p:sp>
      <p:cxnSp>
        <p:nvCxnSpPr>
          <p:cNvPr id="77" name="wh-6"/>
          <p:cNvCxnSpPr/>
          <p:nvPr/>
        </p:nvCxnSpPr>
        <p:spPr>
          <a:xfrm>
            <a:off x="7725833" y="2614507"/>
            <a:ext cx="0" cy="524933"/>
          </a:xfrm>
          <a:prstGeom prst="line">
            <a:avLst/>
          </a:prstGeom>
          <a:ln w="12700" cap="rnd">
            <a:solidFill>
              <a:srgbClr val="54A2DF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wl-6"/>
          <p:cNvCxnSpPr/>
          <p:nvPr/>
        </p:nvCxnSpPr>
        <p:spPr>
          <a:xfrm>
            <a:off x="7725833" y="3926840"/>
            <a:ext cx="0" cy="367453"/>
          </a:xfrm>
          <a:prstGeom prst="line">
            <a:avLst/>
          </a:prstGeom>
          <a:ln w="12700" cap="rnd">
            <a:solidFill>
              <a:srgbClr val="54A2DF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ap-6-14"/>
          <p:cNvCxnSpPr/>
          <p:nvPr/>
        </p:nvCxnSpPr>
        <p:spPr>
          <a:xfrm>
            <a:off x="7560733" y="4294293"/>
            <a:ext cx="330200" cy="0"/>
          </a:xfrm>
          <a:prstGeom prst="line">
            <a:avLst/>
          </a:prstGeom>
          <a:ln w="15240" cap="rnd">
            <a:solidFill>
              <a:srgbClr val="54A2DF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ap-6-46"/>
          <p:cNvCxnSpPr/>
          <p:nvPr/>
        </p:nvCxnSpPr>
        <p:spPr>
          <a:xfrm>
            <a:off x="7560733" y="2614507"/>
            <a:ext cx="330200" cy="0"/>
          </a:xfrm>
          <a:prstGeom prst="line">
            <a:avLst/>
          </a:prstGeom>
          <a:ln w="15240" cap="rnd">
            <a:solidFill>
              <a:srgbClr val="54A2DF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box-6"/>
          <p:cNvSpPr/>
          <p:nvPr/>
        </p:nvSpPr>
        <p:spPr>
          <a:xfrm>
            <a:off x="7382954" y="3139440"/>
            <a:ext cx="685800" cy="787400"/>
          </a:xfrm>
          <a:custGeom>
            <a:avLst/>
            <a:gdLst/>
            <a:ahLst/>
            <a:cxnLst/>
            <a:rect l="0" t="0" r="r" b="b"/>
            <a:pathLst>
              <a:path w="685800" h="787400">
                <a:moveTo>
                  <a:pt x="63500" y="0"/>
                </a:moveTo>
                <a:lnTo>
                  <a:pt x="622300" y="0"/>
                </a:lnTo>
                <a:cubicBezTo>
                  <a:pt x="657352" y="0"/>
                  <a:pt x="685800" y="28448"/>
                  <a:pt x="685800" y="63500"/>
                </a:cubicBezTo>
                <a:lnTo>
                  <a:pt x="685800" y="723900"/>
                </a:lnTo>
                <a:cubicBezTo>
                  <a:pt x="685800" y="758952"/>
                  <a:pt x="657352" y="787400"/>
                  <a:pt x="622300" y="787400"/>
                </a:cubicBezTo>
                <a:lnTo>
                  <a:pt x="63500" y="787400"/>
                </a:lnTo>
                <a:cubicBezTo>
                  <a:pt x="28385" y="787400"/>
                  <a:pt x="0" y="758952"/>
                  <a:pt x="0" y="723900"/>
                </a:cubicBezTo>
                <a:lnTo>
                  <a:pt x="0" y="63500"/>
                </a:lnTo>
                <a:cubicBezTo>
                  <a:pt x="0" y="28448"/>
                  <a:pt x="28385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80BAE7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82" name="med-6"/>
          <p:cNvCxnSpPr/>
          <p:nvPr/>
        </p:nvCxnSpPr>
        <p:spPr>
          <a:xfrm>
            <a:off x="7421033" y="3559387"/>
            <a:ext cx="609600" cy="0"/>
          </a:xfrm>
          <a:prstGeom prst="line">
            <a:avLst/>
          </a:prstGeom>
          <a:ln w="21590" cap="rnd">
            <a:solidFill>
              <a:srgbClr val="FFFFFF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3" name="medv-6"/>
          <p:cNvSpPr txBox="1"/>
          <p:nvPr/>
        </p:nvSpPr>
        <p:spPr>
          <a:xfrm>
            <a:off x="8145441" y="3472011"/>
            <a:ext cx="20904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15">
                <a:solidFill>
                  <a:srgbClr val="54A2DF"/>
                </a:solidFill>
                <a:latin typeface="Arial"/>
                <a:ea typeface="Arial"/>
                <a:cs typeface="Arial"/>
              </a:rPr>
              <a:t>28</a:t>
            </a:r>
          </a:p>
        </p:txBody>
      </p:sp>
      <p:sp>
        <p:nvSpPr>
          <p:cNvPr id="84" name="out-6-1"/>
          <p:cNvSpPr/>
          <p:nvPr/>
        </p:nvSpPr>
        <p:spPr>
          <a:xfrm>
            <a:off x="7681383" y="1940137"/>
            <a:ext cx="88900" cy="889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nm-6"/>
          <p:cNvSpPr txBox="1"/>
          <p:nvPr/>
        </p:nvSpPr>
        <p:spPr>
          <a:xfrm>
            <a:off x="7486121" y="5087144"/>
            <a:ext cx="4794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西北</a:t>
            </a:r>
          </a:p>
        </p:txBody>
      </p:sp>
      <p:sp>
        <p:nvSpPr>
          <p:cNvPr id="86" name="cnt-6"/>
          <p:cNvSpPr txBox="1"/>
          <p:nvPr/>
        </p:nvSpPr>
        <p:spPr>
          <a:xfrm>
            <a:off x="7561622" y="5351208"/>
            <a:ext cx="32842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98 单</a:t>
            </a:r>
          </a:p>
        </p:txBody>
      </p:sp>
      <p:sp>
        <p:nvSpPr>
          <p:cNvPr id="87" name="lg-box"/>
          <p:cNvSpPr/>
          <p:nvPr/>
        </p:nvSpPr>
        <p:spPr>
          <a:xfrm>
            <a:off x="1689100" y="5537200"/>
            <a:ext cx="292100" cy="190500"/>
          </a:xfrm>
          <a:custGeom>
            <a:avLst/>
            <a:gdLst/>
            <a:ahLst/>
            <a:cxnLst/>
            <a:rect l="0" t="0" r="r" b="b"/>
            <a:pathLst>
              <a:path w="292100" h="190500">
                <a:moveTo>
                  <a:pt x="50800" y="0"/>
                </a:moveTo>
                <a:lnTo>
                  <a:pt x="241300" y="0"/>
                </a:lnTo>
                <a:cubicBezTo>
                  <a:pt x="269367" y="0"/>
                  <a:pt x="292100" y="22733"/>
                  <a:pt x="292100" y="50800"/>
                </a:cubicBezTo>
                <a:lnTo>
                  <a:pt x="292100" y="139700"/>
                </a:lnTo>
                <a:cubicBezTo>
                  <a:pt x="292100" y="167767"/>
                  <a:pt x="269367" y="190500"/>
                  <a:pt x="241300" y="190500"/>
                </a:cubicBezTo>
                <a:lnTo>
                  <a:pt x="50800" y="190500"/>
                </a:lnTo>
                <a:cubicBezTo>
                  <a:pt x="22733" y="190500"/>
                  <a:pt x="0" y="167767"/>
                  <a:pt x="0" y="1397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88" name="lg-med"/>
          <p:cNvCxnSpPr/>
          <p:nvPr/>
        </p:nvCxnSpPr>
        <p:spPr>
          <a:xfrm>
            <a:off x="1727200" y="5632450"/>
            <a:ext cx="215900" cy="0"/>
          </a:xfrm>
          <a:prstGeom prst="line">
            <a:avLst/>
          </a:prstGeom>
          <a:ln w="19050" cap="rnd">
            <a:solidFill>
              <a:srgbClr val="FFFFFF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9" name="lg-boxt"/>
          <p:cNvSpPr txBox="1"/>
          <p:nvPr/>
        </p:nvSpPr>
        <p:spPr>
          <a:xfrm>
            <a:off x="2059051" y="5537787"/>
            <a:ext cx="97517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Q1–Q3 区间与中位数</a:t>
            </a:r>
          </a:p>
        </p:txBody>
      </p:sp>
      <p:cxnSp>
        <p:nvCxnSpPr>
          <p:cNvPr id="90" name="lg-wh"/>
          <p:cNvCxnSpPr/>
          <p:nvPr/>
        </p:nvCxnSpPr>
        <p:spPr>
          <a:xfrm>
            <a:off x="3594100" y="5511800"/>
            <a:ext cx="0" cy="190500"/>
          </a:xfrm>
          <a:prstGeom prst="line">
            <a:avLst/>
          </a:prstGeom>
          <a:ln w="12700" cap="rnd">
            <a:solidFill>
              <a:srgbClr val="1B5AA8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lg-wht"/>
          <p:cNvSpPr txBox="1"/>
          <p:nvPr/>
        </p:nvSpPr>
        <p:spPr>
          <a:xfrm>
            <a:off x="3684651" y="5537787"/>
            <a:ext cx="119132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最短 / 最长（不含异常）</a:t>
            </a:r>
          </a:p>
        </p:txBody>
      </p:sp>
      <p:sp>
        <p:nvSpPr>
          <p:cNvPr id="92" name="lg-out"/>
          <p:cNvSpPr/>
          <p:nvPr/>
        </p:nvSpPr>
        <p:spPr>
          <a:xfrm>
            <a:off x="5480050" y="5575300"/>
            <a:ext cx="88900" cy="889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lg-outt"/>
          <p:cNvSpPr txBox="1"/>
          <p:nvPr/>
        </p:nvSpPr>
        <p:spPr>
          <a:xfrm>
            <a:off x="5627751" y="5537787"/>
            <a:ext cx="46132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异常订单</a:t>
            </a:r>
          </a:p>
        </p:txBody>
      </p:sp>
      <p:cxnSp>
        <p:nvCxnSpPr>
          <p:cNvPr id="94" name="lg-tg"/>
          <p:cNvCxnSpPr/>
          <p:nvPr/>
        </p:nvCxnSpPr>
        <p:spPr>
          <a:xfrm>
            <a:off x="6578600" y="5619750"/>
            <a:ext cx="317500" cy="0"/>
          </a:xfrm>
          <a:prstGeom prst="line">
            <a:avLst/>
          </a:prstGeom>
          <a:ln w="12700" cap="rnd">
            <a:solidFill>
              <a:srgbClr val="E0703A">
                <a:alpha val="8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5" name="lg-tgt"/>
          <p:cNvSpPr txBox="1"/>
          <p:nvPr/>
        </p:nvSpPr>
        <p:spPr>
          <a:xfrm>
            <a:off x="6973951" y="5537787"/>
            <a:ext cx="58312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2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目标 21 天</a:t>
            </a:r>
          </a:p>
        </p:txBody>
      </p:sp>
      <p:sp>
        <p:nvSpPr>
          <p:cNvPr id="96" name="side-bar"/>
          <p:cNvSpPr/>
          <p:nvPr/>
        </p:nvSpPr>
        <p:spPr>
          <a:xfrm>
            <a:off x="8699500" y="15875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side-h"/>
          <p:cNvSpPr txBox="1"/>
          <p:nvPr/>
        </p:nvSpPr>
        <p:spPr>
          <a:xfrm>
            <a:off x="8858250" y="15946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分布明细</a:t>
            </a:r>
          </a:p>
        </p:txBody>
      </p:sp>
      <p:sp>
        <p:nvSpPr>
          <p:cNvPr id="98" name="side-p"/>
          <p:cNvSpPr txBox="1"/>
          <p:nvPr/>
        </p:nvSpPr>
        <p:spPr>
          <a:xfrm>
            <a:off x="8863965" y="1869361"/>
            <a:ext cx="8956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中位数与离散度</a:t>
            </a:r>
          </a:p>
        </p:txBody>
      </p:sp>
      <p:sp>
        <p:nvSpPr>
          <p:cNvPr id="99" name="r-1"/>
          <p:cNvSpPr/>
          <p:nvPr/>
        </p:nvSpPr>
        <p:spPr>
          <a:xfrm>
            <a:off x="8699500" y="2273300"/>
            <a:ext cx="2540000" cy="482600"/>
          </a:xfrm>
          <a:custGeom>
            <a:avLst/>
            <a:gdLst/>
            <a:ahLst/>
            <a:cxnLst/>
            <a:rect l="0" t="0" r="r" b="b"/>
            <a:pathLst>
              <a:path w="2540000" h="482600">
                <a:moveTo>
                  <a:pt x="101600" y="0"/>
                </a:moveTo>
                <a:lnTo>
                  <a:pt x="2438400" y="0"/>
                </a:lnTo>
                <a:cubicBezTo>
                  <a:pt x="2494534" y="0"/>
                  <a:pt x="2540000" y="45466"/>
                  <a:pt x="2540000" y="101600"/>
                </a:cubicBezTo>
                <a:lnTo>
                  <a:pt x="2540000" y="381000"/>
                </a:lnTo>
                <a:cubicBezTo>
                  <a:pt x="2540000" y="437134"/>
                  <a:pt x="2494534" y="482600"/>
                  <a:pt x="24384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rb-1"/>
          <p:cNvSpPr/>
          <p:nvPr/>
        </p:nvSpPr>
        <p:spPr>
          <a:xfrm>
            <a:off x="8699500" y="2273300"/>
            <a:ext cx="31750" cy="482600"/>
          </a:xfrm>
          <a:custGeom>
            <a:avLst/>
            <a:gdLst/>
            <a:ahLst/>
            <a:cxnLst/>
            <a:rect l="0" t="0" r="r" b="b"/>
            <a:pathLst>
              <a:path w="31750" h="4826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66725"/>
                </a:lnTo>
                <a:cubicBezTo>
                  <a:pt x="31750" y="475488"/>
                  <a:pt x="24638" y="482600"/>
                  <a:pt x="15875" y="482600"/>
                </a:cubicBezTo>
                <a:lnTo>
                  <a:pt x="15875" y="482600"/>
                </a:lnTo>
                <a:cubicBezTo>
                  <a:pt x="7112" y="482600"/>
                  <a:pt x="0" y="475488"/>
                  <a:pt x="0" y="4667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rn-1"/>
          <p:cNvSpPr txBox="1"/>
          <p:nvPr/>
        </p:nvSpPr>
        <p:spPr>
          <a:xfrm>
            <a:off x="8862822" y="2340197"/>
            <a:ext cx="36512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华东</a:t>
            </a:r>
          </a:p>
        </p:txBody>
      </p:sp>
      <p:sp>
        <p:nvSpPr>
          <p:cNvPr id="102" name="ri-1"/>
          <p:cNvSpPr txBox="1"/>
          <p:nvPr/>
        </p:nvSpPr>
        <p:spPr>
          <a:xfrm>
            <a:off x="8866632" y="2544508"/>
            <a:ext cx="68910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四分位距 7 天</a:t>
            </a:r>
          </a:p>
        </p:txBody>
      </p:sp>
      <p:sp>
        <p:nvSpPr>
          <p:cNvPr id="103" name="rm-1"/>
          <p:cNvSpPr txBox="1"/>
          <p:nvPr/>
        </p:nvSpPr>
        <p:spPr>
          <a:xfrm>
            <a:off x="9817989" y="2400713"/>
            <a:ext cx="485013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16 天</a:t>
            </a:r>
          </a:p>
        </p:txBody>
      </p:sp>
      <p:sp>
        <p:nvSpPr>
          <p:cNvPr id="104" name="rs-1"/>
          <p:cNvSpPr txBox="1"/>
          <p:nvPr/>
        </p:nvSpPr>
        <p:spPr>
          <a:xfrm>
            <a:off x="10832338" y="2455608"/>
            <a:ext cx="2654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30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达标</a:t>
            </a:r>
          </a:p>
        </p:txBody>
      </p:sp>
      <p:sp>
        <p:nvSpPr>
          <p:cNvPr id="105" name="r-2"/>
          <p:cNvSpPr/>
          <p:nvPr/>
        </p:nvSpPr>
        <p:spPr>
          <a:xfrm>
            <a:off x="8699500" y="2857500"/>
            <a:ext cx="2540000" cy="482600"/>
          </a:xfrm>
          <a:custGeom>
            <a:avLst/>
            <a:gdLst/>
            <a:ahLst/>
            <a:cxnLst/>
            <a:rect l="0" t="0" r="r" b="b"/>
            <a:pathLst>
              <a:path w="2540000" h="482600">
                <a:moveTo>
                  <a:pt x="101600" y="0"/>
                </a:moveTo>
                <a:lnTo>
                  <a:pt x="2438400" y="0"/>
                </a:lnTo>
                <a:cubicBezTo>
                  <a:pt x="2494534" y="0"/>
                  <a:pt x="2540000" y="45466"/>
                  <a:pt x="2540000" y="101600"/>
                </a:cubicBezTo>
                <a:lnTo>
                  <a:pt x="2540000" y="381000"/>
                </a:lnTo>
                <a:cubicBezTo>
                  <a:pt x="2540000" y="437134"/>
                  <a:pt x="2494534" y="482600"/>
                  <a:pt x="24384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6" name="rb-2"/>
          <p:cNvSpPr/>
          <p:nvPr/>
        </p:nvSpPr>
        <p:spPr>
          <a:xfrm>
            <a:off x="8699500" y="2857500"/>
            <a:ext cx="31750" cy="482600"/>
          </a:xfrm>
          <a:custGeom>
            <a:avLst/>
            <a:gdLst/>
            <a:ahLst/>
            <a:cxnLst/>
            <a:rect l="0" t="0" r="r" b="b"/>
            <a:pathLst>
              <a:path w="31750" h="4826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66725"/>
                </a:lnTo>
                <a:cubicBezTo>
                  <a:pt x="31750" y="475488"/>
                  <a:pt x="24638" y="482600"/>
                  <a:pt x="15875" y="482600"/>
                </a:cubicBezTo>
                <a:lnTo>
                  <a:pt x="15875" y="482600"/>
                </a:lnTo>
                <a:cubicBezTo>
                  <a:pt x="7112" y="482600"/>
                  <a:pt x="0" y="475488"/>
                  <a:pt x="0" y="4667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7" name="rn-2"/>
          <p:cNvSpPr txBox="1"/>
          <p:nvPr/>
        </p:nvSpPr>
        <p:spPr>
          <a:xfrm>
            <a:off x="8862822" y="2924397"/>
            <a:ext cx="36512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华南</a:t>
            </a:r>
          </a:p>
        </p:txBody>
      </p:sp>
      <p:sp>
        <p:nvSpPr>
          <p:cNvPr id="108" name="ri-2"/>
          <p:cNvSpPr txBox="1"/>
          <p:nvPr/>
        </p:nvSpPr>
        <p:spPr>
          <a:xfrm>
            <a:off x="8866632" y="3128708"/>
            <a:ext cx="68910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四分位距 9 天</a:t>
            </a:r>
          </a:p>
        </p:txBody>
      </p:sp>
      <p:sp>
        <p:nvSpPr>
          <p:cNvPr id="109" name="rm-2"/>
          <p:cNvSpPr txBox="1"/>
          <p:nvPr/>
        </p:nvSpPr>
        <p:spPr>
          <a:xfrm>
            <a:off x="9817989" y="2984913"/>
            <a:ext cx="485013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18 天</a:t>
            </a:r>
          </a:p>
        </p:txBody>
      </p:sp>
      <p:sp>
        <p:nvSpPr>
          <p:cNvPr id="110" name="rs-2"/>
          <p:cNvSpPr txBox="1"/>
          <p:nvPr/>
        </p:nvSpPr>
        <p:spPr>
          <a:xfrm>
            <a:off x="10832338" y="3039808"/>
            <a:ext cx="2654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30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达标</a:t>
            </a:r>
          </a:p>
        </p:txBody>
      </p:sp>
      <p:sp>
        <p:nvSpPr>
          <p:cNvPr id="111" name="r-3"/>
          <p:cNvSpPr/>
          <p:nvPr/>
        </p:nvSpPr>
        <p:spPr>
          <a:xfrm>
            <a:off x="8699500" y="3441700"/>
            <a:ext cx="2540000" cy="482600"/>
          </a:xfrm>
          <a:custGeom>
            <a:avLst/>
            <a:gdLst/>
            <a:ahLst/>
            <a:cxnLst/>
            <a:rect l="0" t="0" r="r" b="b"/>
            <a:pathLst>
              <a:path w="2540000" h="482600">
                <a:moveTo>
                  <a:pt x="101600" y="0"/>
                </a:moveTo>
                <a:lnTo>
                  <a:pt x="2438400" y="0"/>
                </a:lnTo>
                <a:cubicBezTo>
                  <a:pt x="2494534" y="0"/>
                  <a:pt x="2540000" y="45466"/>
                  <a:pt x="2540000" y="101600"/>
                </a:cubicBezTo>
                <a:lnTo>
                  <a:pt x="2540000" y="381000"/>
                </a:lnTo>
                <a:cubicBezTo>
                  <a:pt x="2540000" y="437134"/>
                  <a:pt x="2494534" y="482600"/>
                  <a:pt x="24384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2" name="rb-3"/>
          <p:cNvSpPr/>
          <p:nvPr/>
        </p:nvSpPr>
        <p:spPr>
          <a:xfrm>
            <a:off x="8699500" y="3441700"/>
            <a:ext cx="31750" cy="482600"/>
          </a:xfrm>
          <a:custGeom>
            <a:avLst/>
            <a:gdLst/>
            <a:ahLst/>
            <a:cxnLst/>
            <a:rect l="0" t="0" r="r" b="b"/>
            <a:pathLst>
              <a:path w="31750" h="4826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66725"/>
                </a:lnTo>
                <a:cubicBezTo>
                  <a:pt x="31750" y="475488"/>
                  <a:pt x="24638" y="482600"/>
                  <a:pt x="15875" y="482600"/>
                </a:cubicBezTo>
                <a:lnTo>
                  <a:pt x="15875" y="482600"/>
                </a:lnTo>
                <a:cubicBezTo>
                  <a:pt x="7112" y="482600"/>
                  <a:pt x="0" y="475488"/>
                  <a:pt x="0" y="4667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3" name="rn-3"/>
          <p:cNvSpPr txBox="1"/>
          <p:nvPr/>
        </p:nvSpPr>
        <p:spPr>
          <a:xfrm>
            <a:off x="8862822" y="3508597"/>
            <a:ext cx="36512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华北</a:t>
            </a:r>
          </a:p>
        </p:txBody>
      </p:sp>
      <p:sp>
        <p:nvSpPr>
          <p:cNvPr id="114" name="ri-3"/>
          <p:cNvSpPr txBox="1"/>
          <p:nvPr/>
        </p:nvSpPr>
        <p:spPr>
          <a:xfrm>
            <a:off x="8866632" y="3712908"/>
            <a:ext cx="68910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四分位距 9 天</a:t>
            </a:r>
          </a:p>
        </p:txBody>
      </p:sp>
      <p:sp>
        <p:nvSpPr>
          <p:cNvPr id="115" name="rm-3"/>
          <p:cNvSpPr txBox="1"/>
          <p:nvPr/>
        </p:nvSpPr>
        <p:spPr>
          <a:xfrm>
            <a:off x="9817989" y="3569113"/>
            <a:ext cx="485013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19 天</a:t>
            </a:r>
          </a:p>
        </p:txBody>
      </p:sp>
      <p:sp>
        <p:nvSpPr>
          <p:cNvPr id="116" name="rs-3"/>
          <p:cNvSpPr txBox="1"/>
          <p:nvPr/>
        </p:nvSpPr>
        <p:spPr>
          <a:xfrm>
            <a:off x="10832338" y="3624008"/>
            <a:ext cx="2654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30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达标</a:t>
            </a:r>
          </a:p>
        </p:txBody>
      </p:sp>
      <p:sp>
        <p:nvSpPr>
          <p:cNvPr id="117" name="r-4"/>
          <p:cNvSpPr/>
          <p:nvPr/>
        </p:nvSpPr>
        <p:spPr>
          <a:xfrm>
            <a:off x="8699500" y="4025900"/>
            <a:ext cx="2540000" cy="482600"/>
          </a:xfrm>
          <a:custGeom>
            <a:avLst/>
            <a:gdLst/>
            <a:ahLst/>
            <a:cxnLst/>
            <a:rect l="0" t="0" r="r" b="b"/>
            <a:pathLst>
              <a:path w="2540000" h="482600">
                <a:moveTo>
                  <a:pt x="101600" y="0"/>
                </a:moveTo>
                <a:lnTo>
                  <a:pt x="2438400" y="0"/>
                </a:lnTo>
                <a:cubicBezTo>
                  <a:pt x="2494534" y="0"/>
                  <a:pt x="2540000" y="45466"/>
                  <a:pt x="2540000" y="101600"/>
                </a:cubicBezTo>
                <a:lnTo>
                  <a:pt x="2540000" y="381000"/>
                </a:lnTo>
                <a:cubicBezTo>
                  <a:pt x="2540000" y="437134"/>
                  <a:pt x="2494534" y="482600"/>
                  <a:pt x="24384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8" name="rb-4"/>
          <p:cNvSpPr/>
          <p:nvPr/>
        </p:nvSpPr>
        <p:spPr>
          <a:xfrm>
            <a:off x="8699500" y="4025900"/>
            <a:ext cx="31750" cy="482600"/>
          </a:xfrm>
          <a:custGeom>
            <a:avLst/>
            <a:gdLst/>
            <a:ahLst/>
            <a:cxnLst/>
            <a:rect l="0" t="0" r="r" b="b"/>
            <a:pathLst>
              <a:path w="31750" h="4826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66725"/>
                </a:lnTo>
                <a:cubicBezTo>
                  <a:pt x="31750" y="475488"/>
                  <a:pt x="24638" y="482600"/>
                  <a:pt x="15875" y="482600"/>
                </a:cubicBezTo>
                <a:lnTo>
                  <a:pt x="15875" y="482600"/>
                </a:lnTo>
                <a:cubicBezTo>
                  <a:pt x="7112" y="482600"/>
                  <a:pt x="0" y="475488"/>
                  <a:pt x="0" y="4667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9" name="rn-4"/>
          <p:cNvSpPr txBox="1"/>
          <p:nvPr/>
        </p:nvSpPr>
        <p:spPr>
          <a:xfrm>
            <a:off x="8862822" y="4092797"/>
            <a:ext cx="36512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华中</a:t>
            </a:r>
          </a:p>
        </p:txBody>
      </p:sp>
      <p:sp>
        <p:nvSpPr>
          <p:cNvPr id="120" name="ri-4"/>
          <p:cNvSpPr txBox="1"/>
          <p:nvPr/>
        </p:nvSpPr>
        <p:spPr>
          <a:xfrm>
            <a:off x="8866632" y="4297108"/>
            <a:ext cx="740791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四分位距 11 天</a:t>
            </a:r>
          </a:p>
        </p:txBody>
      </p:sp>
      <p:sp>
        <p:nvSpPr>
          <p:cNvPr id="121" name="rm-4"/>
          <p:cNvSpPr txBox="1"/>
          <p:nvPr/>
        </p:nvSpPr>
        <p:spPr>
          <a:xfrm>
            <a:off x="9817989" y="4153313"/>
            <a:ext cx="485013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22 天</a:t>
            </a:r>
          </a:p>
        </p:txBody>
      </p:sp>
      <p:sp>
        <p:nvSpPr>
          <p:cNvPr id="122" name="rs-4"/>
          <p:cNvSpPr txBox="1"/>
          <p:nvPr/>
        </p:nvSpPr>
        <p:spPr>
          <a:xfrm>
            <a:off x="10832338" y="4208208"/>
            <a:ext cx="2654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3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超标</a:t>
            </a:r>
          </a:p>
        </p:txBody>
      </p:sp>
      <p:sp>
        <p:nvSpPr>
          <p:cNvPr id="123" name="r-5"/>
          <p:cNvSpPr/>
          <p:nvPr/>
        </p:nvSpPr>
        <p:spPr>
          <a:xfrm>
            <a:off x="8699500" y="4610100"/>
            <a:ext cx="2540000" cy="482600"/>
          </a:xfrm>
          <a:custGeom>
            <a:avLst/>
            <a:gdLst/>
            <a:ahLst/>
            <a:cxnLst/>
            <a:rect l="0" t="0" r="r" b="b"/>
            <a:pathLst>
              <a:path w="2540000" h="482600">
                <a:moveTo>
                  <a:pt x="101600" y="0"/>
                </a:moveTo>
                <a:lnTo>
                  <a:pt x="2438400" y="0"/>
                </a:lnTo>
                <a:cubicBezTo>
                  <a:pt x="2494534" y="0"/>
                  <a:pt x="2540000" y="45466"/>
                  <a:pt x="2540000" y="101600"/>
                </a:cubicBezTo>
                <a:lnTo>
                  <a:pt x="2540000" y="381000"/>
                </a:lnTo>
                <a:cubicBezTo>
                  <a:pt x="2540000" y="437134"/>
                  <a:pt x="2494534" y="482600"/>
                  <a:pt x="24384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4" name="rb-5"/>
          <p:cNvSpPr/>
          <p:nvPr/>
        </p:nvSpPr>
        <p:spPr>
          <a:xfrm>
            <a:off x="8699500" y="4610100"/>
            <a:ext cx="31750" cy="482600"/>
          </a:xfrm>
          <a:custGeom>
            <a:avLst/>
            <a:gdLst/>
            <a:ahLst/>
            <a:cxnLst/>
            <a:rect l="0" t="0" r="r" b="b"/>
            <a:pathLst>
              <a:path w="31750" h="4826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66725"/>
                </a:lnTo>
                <a:cubicBezTo>
                  <a:pt x="31750" y="475488"/>
                  <a:pt x="24638" y="482600"/>
                  <a:pt x="15875" y="482600"/>
                </a:cubicBezTo>
                <a:lnTo>
                  <a:pt x="15875" y="482600"/>
                </a:lnTo>
                <a:cubicBezTo>
                  <a:pt x="7112" y="482600"/>
                  <a:pt x="0" y="475488"/>
                  <a:pt x="0" y="4667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5" name="rn-5"/>
          <p:cNvSpPr txBox="1"/>
          <p:nvPr/>
        </p:nvSpPr>
        <p:spPr>
          <a:xfrm>
            <a:off x="8862822" y="4676997"/>
            <a:ext cx="36512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西南</a:t>
            </a:r>
          </a:p>
        </p:txBody>
      </p:sp>
      <p:sp>
        <p:nvSpPr>
          <p:cNvPr id="126" name="ri-5"/>
          <p:cNvSpPr txBox="1"/>
          <p:nvPr/>
        </p:nvSpPr>
        <p:spPr>
          <a:xfrm>
            <a:off x="8866632" y="4881308"/>
            <a:ext cx="740791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四分位距 13 天</a:t>
            </a:r>
          </a:p>
        </p:txBody>
      </p:sp>
      <p:sp>
        <p:nvSpPr>
          <p:cNvPr id="127" name="rm-5"/>
          <p:cNvSpPr txBox="1"/>
          <p:nvPr/>
        </p:nvSpPr>
        <p:spPr>
          <a:xfrm>
            <a:off x="9817989" y="4737513"/>
            <a:ext cx="485013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25 天</a:t>
            </a:r>
          </a:p>
        </p:txBody>
      </p:sp>
      <p:sp>
        <p:nvSpPr>
          <p:cNvPr id="128" name="rs-5"/>
          <p:cNvSpPr txBox="1"/>
          <p:nvPr/>
        </p:nvSpPr>
        <p:spPr>
          <a:xfrm>
            <a:off x="10832338" y="4792408"/>
            <a:ext cx="2654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3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超标</a:t>
            </a:r>
          </a:p>
        </p:txBody>
      </p:sp>
      <p:sp>
        <p:nvSpPr>
          <p:cNvPr id="129" name="r-6"/>
          <p:cNvSpPr/>
          <p:nvPr/>
        </p:nvSpPr>
        <p:spPr>
          <a:xfrm>
            <a:off x="8699500" y="5194300"/>
            <a:ext cx="2540000" cy="482600"/>
          </a:xfrm>
          <a:custGeom>
            <a:avLst/>
            <a:gdLst/>
            <a:ahLst/>
            <a:cxnLst/>
            <a:rect l="0" t="0" r="r" b="b"/>
            <a:pathLst>
              <a:path w="2540000" h="482600">
                <a:moveTo>
                  <a:pt x="101600" y="0"/>
                </a:moveTo>
                <a:lnTo>
                  <a:pt x="2438400" y="0"/>
                </a:lnTo>
                <a:cubicBezTo>
                  <a:pt x="2494534" y="0"/>
                  <a:pt x="2540000" y="45466"/>
                  <a:pt x="2540000" y="101600"/>
                </a:cubicBezTo>
                <a:lnTo>
                  <a:pt x="2540000" y="381000"/>
                </a:lnTo>
                <a:cubicBezTo>
                  <a:pt x="2540000" y="437134"/>
                  <a:pt x="2494534" y="482600"/>
                  <a:pt x="24384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0" name="rb-6"/>
          <p:cNvSpPr/>
          <p:nvPr/>
        </p:nvSpPr>
        <p:spPr>
          <a:xfrm>
            <a:off x="8699500" y="5194300"/>
            <a:ext cx="31750" cy="482600"/>
          </a:xfrm>
          <a:custGeom>
            <a:avLst/>
            <a:gdLst/>
            <a:ahLst/>
            <a:cxnLst/>
            <a:rect l="0" t="0" r="r" b="b"/>
            <a:pathLst>
              <a:path w="31750" h="4826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66725"/>
                </a:lnTo>
                <a:cubicBezTo>
                  <a:pt x="31750" y="475488"/>
                  <a:pt x="24638" y="482600"/>
                  <a:pt x="15875" y="482600"/>
                </a:cubicBezTo>
                <a:lnTo>
                  <a:pt x="15875" y="482600"/>
                </a:lnTo>
                <a:cubicBezTo>
                  <a:pt x="7112" y="482600"/>
                  <a:pt x="0" y="475488"/>
                  <a:pt x="0" y="4667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1" name="rn-6"/>
          <p:cNvSpPr txBox="1"/>
          <p:nvPr/>
        </p:nvSpPr>
        <p:spPr>
          <a:xfrm>
            <a:off x="8862822" y="5261197"/>
            <a:ext cx="36512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西北</a:t>
            </a:r>
          </a:p>
        </p:txBody>
      </p:sp>
      <p:sp>
        <p:nvSpPr>
          <p:cNvPr id="132" name="ri-6"/>
          <p:cNvSpPr txBox="1"/>
          <p:nvPr/>
        </p:nvSpPr>
        <p:spPr>
          <a:xfrm>
            <a:off x="8866632" y="5465508"/>
            <a:ext cx="740791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四分位距 15 天</a:t>
            </a:r>
          </a:p>
        </p:txBody>
      </p:sp>
      <p:sp>
        <p:nvSpPr>
          <p:cNvPr id="133" name="rm-6"/>
          <p:cNvSpPr txBox="1"/>
          <p:nvPr/>
        </p:nvSpPr>
        <p:spPr>
          <a:xfrm>
            <a:off x="9817989" y="5321713"/>
            <a:ext cx="485013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28 天</a:t>
            </a:r>
          </a:p>
        </p:txBody>
      </p:sp>
      <p:sp>
        <p:nvSpPr>
          <p:cNvPr id="134" name="rs-6"/>
          <p:cNvSpPr txBox="1"/>
          <p:nvPr/>
        </p:nvSpPr>
        <p:spPr>
          <a:xfrm>
            <a:off x="10832338" y="5376608"/>
            <a:ext cx="2654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3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超标</a:t>
            </a:r>
          </a:p>
        </p:txBody>
      </p:sp>
      <p:sp>
        <p:nvSpPr>
          <p:cNvPr id="135" name="sum"/>
          <p:cNvSpPr/>
          <p:nvPr/>
        </p:nvSpPr>
        <p:spPr>
          <a:xfrm>
            <a:off x="952500" y="5905500"/>
            <a:ext cx="7493000" cy="419100"/>
          </a:xfrm>
          <a:custGeom>
            <a:avLst/>
            <a:gdLst/>
            <a:ahLst/>
            <a:cxnLst/>
            <a:rect l="0" t="0" r="r" b="b"/>
            <a:pathLst>
              <a:path w="7493000" h="419100">
                <a:moveTo>
                  <a:pt x="88900" y="0"/>
                </a:moveTo>
                <a:lnTo>
                  <a:pt x="7404100" y="0"/>
                </a:lnTo>
                <a:cubicBezTo>
                  <a:pt x="7453186" y="0"/>
                  <a:pt x="7493000" y="39814"/>
                  <a:pt x="7493000" y="88900"/>
                </a:cubicBezTo>
                <a:lnTo>
                  <a:pt x="7493000" y="330200"/>
                </a:lnTo>
                <a:cubicBezTo>
                  <a:pt x="7493000" y="379286"/>
                  <a:pt x="7453186" y="419100"/>
                  <a:pt x="7404100" y="419100"/>
                </a:cubicBezTo>
                <a:lnTo>
                  <a:pt x="88900" y="419100"/>
                </a:lnTo>
                <a:cubicBezTo>
                  <a:pt x="39815" y="419100"/>
                  <a:pt x="0" y="379286"/>
                  <a:pt x="0" y="3302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6" name="sum-bar"/>
          <p:cNvSpPr/>
          <p:nvPr/>
        </p:nvSpPr>
        <p:spPr>
          <a:xfrm>
            <a:off x="952500" y="5905500"/>
            <a:ext cx="31750" cy="4191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7" name="sum-h"/>
          <p:cNvSpPr txBox="1"/>
          <p:nvPr/>
        </p:nvSpPr>
        <p:spPr>
          <a:xfrm>
            <a:off x="1142746" y="60388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分布判断</a:t>
            </a:r>
          </a:p>
        </p:txBody>
      </p:sp>
      <p:sp>
        <p:nvSpPr>
          <p:cNvPr id="138" name="sum-p"/>
          <p:cNvSpPr txBox="1"/>
          <p:nvPr/>
        </p:nvSpPr>
        <p:spPr>
          <a:xfrm>
            <a:off x="1891665" y="6034961"/>
            <a:ext cx="466248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越往西部，中位数与离散度同时变大——先解决西南、西北的备件前置，比压缩华东更有效。</a:t>
            </a:r>
          </a:p>
        </p:txBody>
      </p:sp>
      <p:cxnSp>
        <p:nvCxnSpPr>
          <p:cNvPr id="139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0" name="foot-l"/>
          <p:cNvSpPr txBox="1"/>
          <p:nvPr/>
        </p:nvSpPr>
        <p:spPr>
          <a:xfrm>
            <a:off x="573532" y="6532308"/>
            <a:ext cx="84848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箱线图 · 六大区</a:t>
            </a:r>
          </a:p>
        </p:txBody>
      </p:sp>
      <p:sp>
        <p:nvSpPr>
          <p:cNvPr id="141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订单金额分布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899541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HISTOGRAM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065387" y="673132"/>
            <a:ext cx="255536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1,286 笔订单按金额分组，右侧长尾是少数大单</a:t>
            </a:r>
          </a:p>
        </p:txBody>
      </p:sp>
      <p:cxnSp>
        <p:nvCxnSpPr>
          <p:cNvPr id="10" name="g-0"/>
          <p:cNvCxnSpPr/>
          <p:nvPr/>
        </p:nvCxnSpPr>
        <p:spPr>
          <a:xfrm>
            <a:off x="1714500" y="4953000"/>
            <a:ext cx="6578600" cy="0"/>
          </a:xfrm>
          <a:prstGeom prst="line">
            <a:avLst/>
          </a:prstGeom>
          <a:ln w="6350" cap="rnd">
            <a:solidFill>
              <a:srgbClr val="0B2545">
                <a:alpha val="1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gt-0"/>
          <p:cNvSpPr txBox="1"/>
          <p:nvPr/>
        </p:nvSpPr>
        <p:spPr>
          <a:xfrm>
            <a:off x="1487551" y="4865624"/>
            <a:ext cx="150241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0</a:t>
            </a:r>
          </a:p>
        </p:txBody>
      </p:sp>
      <p:cxnSp>
        <p:nvCxnSpPr>
          <p:cNvPr id="12" name="g-80"/>
          <p:cNvCxnSpPr/>
          <p:nvPr/>
        </p:nvCxnSpPr>
        <p:spPr>
          <a:xfrm>
            <a:off x="1714500" y="4191000"/>
            <a:ext cx="65786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gt-80"/>
          <p:cNvSpPr txBox="1"/>
          <p:nvPr/>
        </p:nvSpPr>
        <p:spPr>
          <a:xfrm>
            <a:off x="1428750" y="4103624"/>
            <a:ext cx="20904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80</a:t>
            </a:r>
          </a:p>
        </p:txBody>
      </p:sp>
      <p:cxnSp>
        <p:nvCxnSpPr>
          <p:cNvPr id="14" name="g-160"/>
          <p:cNvCxnSpPr/>
          <p:nvPr/>
        </p:nvCxnSpPr>
        <p:spPr>
          <a:xfrm>
            <a:off x="1714500" y="3429000"/>
            <a:ext cx="65786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gt-160"/>
          <p:cNvSpPr txBox="1"/>
          <p:nvPr/>
        </p:nvSpPr>
        <p:spPr>
          <a:xfrm>
            <a:off x="1369949" y="334162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160</a:t>
            </a:r>
          </a:p>
        </p:txBody>
      </p:sp>
      <p:cxnSp>
        <p:nvCxnSpPr>
          <p:cNvPr id="16" name="g-240"/>
          <p:cNvCxnSpPr/>
          <p:nvPr/>
        </p:nvCxnSpPr>
        <p:spPr>
          <a:xfrm>
            <a:off x="1714500" y="2667000"/>
            <a:ext cx="65786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gt-240"/>
          <p:cNvSpPr txBox="1"/>
          <p:nvPr/>
        </p:nvSpPr>
        <p:spPr>
          <a:xfrm>
            <a:off x="1369949" y="257962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240</a:t>
            </a:r>
          </a:p>
        </p:txBody>
      </p:sp>
      <p:cxnSp>
        <p:nvCxnSpPr>
          <p:cNvPr id="18" name="g-320"/>
          <p:cNvCxnSpPr/>
          <p:nvPr/>
        </p:nvCxnSpPr>
        <p:spPr>
          <a:xfrm>
            <a:off x="1714500" y="1905000"/>
            <a:ext cx="65786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gt-320"/>
          <p:cNvSpPr txBox="1"/>
          <p:nvPr/>
        </p:nvSpPr>
        <p:spPr>
          <a:xfrm>
            <a:off x="1369949" y="181762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 spc="15">
                <a:solidFill>
                  <a:srgbClr val="7E93AE"/>
                </a:solidFill>
                <a:latin typeface="Arial"/>
                <a:ea typeface="Arial"/>
                <a:cs typeface="Arial"/>
              </a:rPr>
              <a:t>320</a:t>
            </a:r>
          </a:p>
        </p:txBody>
      </p:sp>
      <p:sp>
        <p:nvSpPr>
          <p:cNvPr id="20" name="ylab"/>
          <p:cNvSpPr txBox="1"/>
          <p:nvPr/>
        </p:nvSpPr>
        <p:spPr>
          <a:xfrm>
            <a:off x="1280033" y="1579308"/>
            <a:ext cx="35623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订单数</a:t>
            </a:r>
          </a:p>
        </p:txBody>
      </p:sp>
      <p:sp>
        <p:nvSpPr>
          <p:cNvPr id="21" name="xlab"/>
          <p:cNvSpPr txBox="1"/>
          <p:nvPr/>
        </p:nvSpPr>
        <p:spPr>
          <a:xfrm>
            <a:off x="7487158" y="5300408"/>
            <a:ext cx="8166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金额区间（万元）</a:t>
            </a:r>
          </a:p>
        </p:txBody>
      </p:sp>
      <p:sp>
        <p:nvSpPr>
          <p:cNvPr id="22" name="bar-1"/>
          <p:cNvSpPr/>
          <p:nvPr/>
        </p:nvSpPr>
        <p:spPr>
          <a:xfrm>
            <a:off x="1949450" y="4305300"/>
            <a:ext cx="609600" cy="647700"/>
          </a:xfrm>
          <a:custGeom>
            <a:avLst/>
            <a:gdLst/>
            <a:ahLst/>
            <a:cxnLst/>
            <a:rect l="0" t="0" r="r" b="b"/>
            <a:pathLst>
              <a:path w="609600" h="647700">
                <a:moveTo>
                  <a:pt x="0" y="647700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558800" y="0"/>
                </a:lnTo>
                <a:cubicBezTo>
                  <a:pt x="586867" y="0"/>
                  <a:pt x="609600" y="22733"/>
                  <a:pt x="609600" y="50800"/>
                </a:cubicBezTo>
                <a:lnTo>
                  <a:pt x="609600" y="647700"/>
                </a:lnTo>
                <a:close/>
              </a:path>
            </a:pathLst>
          </a:custGeom>
          <a:gradFill rotWithShape="1">
            <a:gsLst>
              <a:gs pos="0">
                <a:srgbClr val="4168A8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bv-1"/>
          <p:cNvSpPr txBox="1"/>
          <p:nvPr/>
        </p:nvSpPr>
        <p:spPr>
          <a:xfrm>
            <a:off x="2152936" y="4094845"/>
            <a:ext cx="202629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68</a:t>
            </a:r>
          </a:p>
        </p:txBody>
      </p:sp>
      <p:sp>
        <p:nvSpPr>
          <p:cNvPr id="24" name="bl-1"/>
          <p:cNvSpPr txBox="1"/>
          <p:nvPr/>
        </p:nvSpPr>
        <p:spPr>
          <a:xfrm>
            <a:off x="2110867" y="5084508"/>
            <a:ext cx="28676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64748B"/>
                </a:solidFill>
                <a:latin typeface="Arial"/>
                <a:ea typeface="Arial"/>
                <a:cs typeface="Arial"/>
              </a:rPr>
              <a:t>0–10</a:t>
            </a:r>
          </a:p>
        </p:txBody>
      </p:sp>
      <p:sp>
        <p:nvSpPr>
          <p:cNvPr id="25" name="bar-2"/>
          <p:cNvSpPr/>
          <p:nvPr/>
        </p:nvSpPr>
        <p:spPr>
          <a:xfrm>
            <a:off x="2647950" y="3181350"/>
            <a:ext cx="609600" cy="1771650"/>
          </a:xfrm>
          <a:custGeom>
            <a:avLst/>
            <a:gdLst/>
            <a:ahLst/>
            <a:cxnLst/>
            <a:rect l="0" t="0" r="r" b="b"/>
            <a:pathLst>
              <a:path w="609600" h="1771650">
                <a:moveTo>
                  <a:pt x="0" y="1771650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558800" y="0"/>
                </a:lnTo>
                <a:cubicBezTo>
                  <a:pt x="586867" y="0"/>
                  <a:pt x="609600" y="22733"/>
                  <a:pt x="609600" y="50800"/>
                </a:cubicBezTo>
                <a:lnTo>
                  <a:pt x="609600" y="1771650"/>
                </a:lnTo>
                <a:close/>
              </a:path>
            </a:pathLst>
          </a:custGeom>
          <a:gradFill rotWithShape="1">
            <a:gsLst>
              <a:gs pos="0">
                <a:srgbClr val="4773B2"/>
              </a:gs>
              <a:gs pos="100000">
                <a:srgbClr val="134C9C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bv-2"/>
          <p:cNvSpPr txBox="1"/>
          <p:nvPr/>
        </p:nvSpPr>
        <p:spPr>
          <a:xfrm>
            <a:off x="2822924" y="2970895"/>
            <a:ext cx="25965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1" spc="15">
                <a:solidFill>
                  <a:srgbClr val="134C9C"/>
                </a:solidFill>
                <a:latin typeface="Arial"/>
                <a:ea typeface="Arial"/>
                <a:cs typeface="Arial"/>
              </a:rPr>
              <a:t>186</a:t>
            </a:r>
          </a:p>
        </p:txBody>
      </p:sp>
      <p:sp>
        <p:nvSpPr>
          <p:cNvPr id="27" name="bl-2"/>
          <p:cNvSpPr txBox="1"/>
          <p:nvPr/>
        </p:nvSpPr>
        <p:spPr>
          <a:xfrm>
            <a:off x="2783522" y="5084508"/>
            <a:ext cx="33845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64748B"/>
                </a:solidFill>
                <a:latin typeface="Arial"/>
                <a:ea typeface="Arial"/>
                <a:cs typeface="Arial"/>
              </a:rPr>
              <a:t>10–20</a:t>
            </a:r>
          </a:p>
        </p:txBody>
      </p:sp>
      <p:sp>
        <p:nvSpPr>
          <p:cNvPr id="28" name="bar-3"/>
          <p:cNvSpPr/>
          <p:nvPr/>
        </p:nvSpPr>
        <p:spPr>
          <a:xfrm>
            <a:off x="3346450" y="2152650"/>
            <a:ext cx="609600" cy="2800350"/>
          </a:xfrm>
          <a:custGeom>
            <a:avLst/>
            <a:gdLst/>
            <a:ahLst/>
            <a:cxnLst/>
            <a:rect l="0" t="0" r="r" b="b"/>
            <a:pathLst>
              <a:path w="609600" h="2800350">
                <a:moveTo>
                  <a:pt x="0" y="2800350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558800" y="0"/>
                </a:lnTo>
                <a:cubicBezTo>
                  <a:pt x="586867" y="0"/>
                  <a:pt x="609600" y="22733"/>
                  <a:pt x="609600" y="50800"/>
                </a:cubicBezTo>
                <a:lnTo>
                  <a:pt x="609600" y="2800350"/>
                </a:lnTo>
                <a:close/>
              </a:path>
            </a:pathLst>
          </a:custGeom>
          <a:gradFill rotWithShape="1">
            <a:gsLst>
              <a:gs pos="0">
                <a:srgbClr val="4D7EBB"/>
              </a:gs>
              <a:gs pos="100000">
                <a:srgbClr val="1B5AA8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bv-3"/>
          <p:cNvSpPr txBox="1"/>
          <p:nvPr/>
        </p:nvSpPr>
        <p:spPr>
          <a:xfrm>
            <a:off x="3521424" y="1942195"/>
            <a:ext cx="25965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1" spc="15">
                <a:solidFill>
                  <a:srgbClr val="1B5AA8"/>
                </a:solidFill>
                <a:latin typeface="Arial"/>
                <a:ea typeface="Arial"/>
                <a:cs typeface="Arial"/>
              </a:rPr>
              <a:t>294</a:t>
            </a:r>
          </a:p>
        </p:txBody>
      </p:sp>
      <p:sp>
        <p:nvSpPr>
          <p:cNvPr id="30" name="bl-3"/>
          <p:cNvSpPr txBox="1"/>
          <p:nvPr/>
        </p:nvSpPr>
        <p:spPr>
          <a:xfrm>
            <a:off x="3482022" y="5084508"/>
            <a:ext cx="33845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64748B"/>
                </a:solidFill>
                <a:latin typeface="Arial"/>
                <a:ea typeface="Arial"/>
                <a:cs typeface="Arial"/>
              </a:rPr>
              <a:t>20–30</a:t>
            </a:r>
          </a:p>
        </p:txBody>
      </p:sp>
      <p:sp>
        <p:nvSpPr>
          <p:cNvPr id="31" name="bar-4"/>
          <p:cNvSpPr/>
          <p:nvPr/>
        </p:nvSpPr>
        <p:spPr>
          <a:xfrm>
            <a:off x="4044950" y="2400300"/>
            <a:ext cx="609600" cy="2552700"/>
          </a:xfrm>
          <a:custGeom>
            <a:avLst/>
            <a:gdLst/>
            <a:ahLst/>
            <a:cxnLst/>
            <a:rect l="0" t="0" r="r" b="b"/>
            <a:pathLst>
              <a:path w="609600" h="2552700">
                <a:moveTo>
                  <a:pt x="0" y="2552700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558800" y="0"/>
                </a:lnTo>
                <a:cubicBezTo>
                  <a:pt x="586867" y="0"/>
                  <a:pt x="609600" y="22733"/>
                  <a:pt x="609600" y="50800"/>
                </a:cubicBezTo>
                <a:lnTo>
                  <a:pt x="609600" y="2552700"/>
                </a:lnTo>
                <a:close/>
              </a:path>
            </a:pathLst>
          </a:custGeom>
          <a:gradFill rotWithShape="1">
            <a:gsLst>
              <a:gs pos="0">
                <a:srgbClr val="5489C6"/>
              </a:gs>
              <a:gs pos="100000">
                <a:srgbClr val="2468B6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bv-4"/>
          <p:cNvSpPr txBox="1"/>
          <p:nvPr/>
        </p:nvSpPr>
        <p:spPr>
          <a:xfrm>
            <a:off x="4219924" y="2189845"/>
            <a:ext cx="25965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1" spc="15">
                <a:solidFill>
                  <a:srgbClr val="2468B6"/>
                </a:solidFill>
                <a:latin typeface="Arial"/>
                <a:ea typeface="Arial"/>
                <a:cs typeface="Arial"/>
              </a:rPr>
              <a:t>268</a:t>
            </a:r>
          </a:p>
        </p:txBody>
      </p:sp>
      <p:sp>
        <p:nvSpPr>
          <p:cNvPr id="33" name="bl-4"/>
          <p:cNvSpPr txBox="1"/>
          <p:nvPr/>
        </p:nvSpPr>
        <p:spPr>
          <a:xfrm>
            <a:off x="4180522" y="5084508"/>
            <a:ext cx="33845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64748B"/>
                </a:solidFill>
                <a:latin typeface="Arial"/>
                <a:ea typeface="Arial"/>
                <a:cs typeface="Arial"/>
              </a:rPr>
              <a:t>30–40</a:t>
            </a:r>
          </a:p>
        </p:txBody>
      </p:sp>
      <p:sp>
        <p:nvSpPr>
          <p:cNvPr id="34" name="bar-5"/>
          <p:cNvSpPr/>
          <p:nvPr/>
        </p:nvSpPr>
        <p:spPr>
          <a:xfrm>
            <a:off x="4743450" y="3124200"/>
            <a:ext cx="609600" cy="1828800"/>
          </a:xfrm>
          <a:custGeom>
            <a:avLst/>
            <a:gdLst/>
            <a:ahLst/>
            <a:cxnLst/>
            <a:rect l="0" t="0" r="r" b="b"/>
            <a:pathLst>
              <a:path w="609600" h="1828800">
                <a:moveTo>
                  <a:pt x="0" y="1828800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558800" y="0"/>
                </a:lnTo>
                <a:cubicBezTo>
                  <a:pt x="586867" y="0"/>
                  <a:pt x="609600" y="22733"/>
                  <a:pt x="609600" y="50800"/>
                </a:cubicBezTo>
                <a:lnTo>
                  <a:pt x="609600" y="1828800"/>
                </a:lnTo>
                <a:close/>
              </a:path>
            </a:pathLst>
          </a:custGeom>
          <a:gradFill rotWithShape="1">
            <a:gsLst>
              <a:gs pos="0">
                <a:srgbClr val="5C95CF"/>
              </a:gs>
              <a:gs pos="100000">
                <a:srgbClr val="2E77C2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bv-5"/>
          <p:cNvSpPr txBox="1"/>
          <p:nvPr/>
        </p:nvSpPr>
        <p:spPr>
          <a:xfrm>
            <a:off x="4918424" y="2913745"/>
            <a:ext cx="25965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1" spc="15">
                <a:solidFill>
                  <a:srgbClr val="2E77C2"/>
                </a:solidFill>
                <a:latin typeface="Arial"/>
                <a:ea typeface="Arial"/>
                <a:cs typeface="Arial"/>
              </a:rPr>
              <a:t>192</a:t>
            </a:r>
          </a:p>
        </p:txBody>
      </p:sp>
      <p:sp>
        <p:nvSpPr>
          <p:cNvPr id="36" name="bl-5"/>
          <p:cNvSpPr txBox="1"/>
          <p:nvPr/>
        </p:nvSpPr>
        <p:spPr>
          <a:xfrm>
            <a:off x="4879022" y="5084508"/>
            <a:ext cx="33845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64748B"/>
                </a:solidFill>
                <a:latin typeface="Arial"/>
                <a:ea typeface="Arial"/>
                <a:cs typeface="Arial"/>
              </a:rPr>
              <a:t>40–50</a:t>
            </a:r>
          </a:p>
        </p:txBody>
      </p:sp>
      <p:sp>
        <p:nvSpPr>
          <p:cNvPr id="37" name="bar-6"/>
          <p:cNvSpPr/>
          <p:nvPr/>
        </p:nvSpPr>
        <p:spPr>
          <a:xfrm>
            <a:off x="5441950" y="3752850"/>
            <a:ext cx="609600" cy="1200150"/>
          </a:xfrm>
          <a:custGeom>
            <a:avLst/>
            <a:gdLst/>
            <a:ahLst/>
            <a:cxnLst/>
            <a:rect l="0" t="0" r="r" b="b"/>
            <a:pathLst>
              <a:path w="609600" h="1200150">
                <a:moveTo>
                  <a:pt x="0" y="1200150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558800" y="0"/>
                </a:lnTo>
                <a:cubicBezTo>
                  <a:pt x="586867" y="0"/>
                  <a:pt x="609600" y="22733"/>
                  <a:pt x="609600" y="50800"/>
                </a:cubicBezTo>
                <a:lnTo>
                  <a:pt x="609600" y="1200150"/>
                </a:lnTo>
                <a:close/>
              </a:path>
            </a:pathLst>
          </a:custGeom>
          <a:gradFill rotWithShape="1">
            <a:gsLst>
              <a:gs pos="0">
                <a:srgbClr val="65A0D8"/>
              </a:gs>
              <a:gs pos="100000">
                <a:srgbClr val="3985CD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bv-6"/>
          <p:cNvSpPr txBox="1"/>
          <p:nvPr/>
        </p:nvSpPr>
        <p:spPr>
          <a:xfrm>
            <a:off x="5616924" y="3542395"/>
            <a:ext cx="25965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1" spc="15">
                <a:solidFill>
                  <a:srgbClr val="3985CD"/>
                </a:solidFill>
                <a:latin typeface="Arial"/>
                <a:ea typeface="Arial"/>
                <a:cs typeface="Arial"/>
              </a:rPr>
              <a:t>126</a:t>
            </a:r>
          </a:p>
        </p:txBody>
      </p:sp>
      <p:sp>
        <p:nvSpPr>
          <p:cNvPr id="39" name="bl-6"/>
          <p:cNvSpPr txBox="1"/>
          <p:nvPr/>
        </p:nvSpPr>
        <p:spPr>
          <a:xfrm>
            <a:off x="5577522" y="5084508"/>
            <a:ext cx="33845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64748B"/>
                </a:solidFill>
                <a:latin typeface="Arial"/>
                <a:ea typeface="Arial"/>
                <a:cs typeface="Arial"/>
              </a:rPr>
              <a:t>50–60</a:t>
            </a:r>
          </a:p>
        </p:txBody>
      </p:sp>
      <p:sp>
        <p:nvSpPr>
          <p:cNvPr id="40" name="bar-7"/>
          <p:cNvSpPr/>
          <p:nvPr/>
        </p:nvSpPr>
        <p:spPr>
          <a:xfrm>
            <a:off x="6140450" y="4152900"/>
            <a:ext cx="609600" cy="800100"/>
          </a:xfrm>
          <a:custGeom>
            <a:avLst/>
            <a:gdLst/>
            <a:ahLst/>
            <a:cxnLst/>
            <a:rect l="0" t="0" r="r" b="b"/>
            <a:pathLst>
              <a:path w="609600" h="800100">
                <a:moveTo>
                  <a:pt x="0" y="800100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558800" y="0"/>
                </a:lnTo>
                <a:cubicBezTo>
                  <a:pt x="586867" y="0"/>
                  <a:pt x="609600" y="22733"/>
                  <a:pt x="609600" y="50800"/>
                </a:cubicBezTo>
                <a:lnTo>
                  <a:pt x="609600" y="800100"/>
                </a:lnTo>
                <a:close/>
              </a:path>
            </a:pathLst>
          </a:custGeom>
          <a:gradFill rotWithShape="1">
            <a:gsLst>
              <a:gs pos="0">
                <a:srgbClr val="6FACE0"/>
              </a:gs>
              <a:gs pos="100000">
                <a:srgbClr val="4694D7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bv-7"/>
          <p:cNvSpPr txBox="1"/>
          <p:nvPr/>
        </p:nvSpPr>
        <p:spPr>
          <a:xfrm>
            <a:off x="6343936" y="3942445"/>
            <a:ext cx="202629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1" spc="15">
                <a:solidFill>
                  <a:srgbClr val="4694D7"/>
                </a:solidFill>
                <a:latin typeface="Arial"/>
                <a:ea typeface="Arial"/>
                <a:cs typeface="Arial"/>
              </a:rPr>
              <a:t>84</a:t>
            </a:r>
          </a:p>
        </p:txBody>
      </p:sp>
      <p:sp>
        <p:nvSpPr>
          <p:cNvPr id="42" name="bl-7"/>
          <p:cNvSpPr txBox="1"/>
          <p:nvPr/>
        </p:nvSpPr>
        <p:spPr>
          <a:xfrm>
            <a:off x="6276022" y="5084508"/>
            <a:ext cx="33845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64748B"/>
                </a:solidFill>
                <a:latin typeface="Arial"/>
                <a:ea typeface="Arial"/>
                <a:cs typeface="Arial"/>
              </a:rPr>
              <a:t>60–80</a:t>
            </a:r>
          </a:p>
        </p:txBody>
      </p:sp>
      <p:sp>
        <p:nvSpPr>
          <p:cNvPr id="43" name="bar-8"/>
          <p:cNvSpPr/>
          <p:nvPr/>
        </p:nvSpPr>
        <p:spPr>
          <a:xfrm>
            <a:off x="6838950" y="4552950"/>
            <a:ext cx="609600" cy="400050"/>
          </a:xfrm>
          <a:custGeom>
            <a:avLst/>
            <a:gdLst/>
            <a:ahLst/>
            <a:cxnLst/>
            <a:rect l="0" t="0" r="r" b="b"/>
            <a:pathLst>
              <a:path w="609600" h="400050">
                <a:moveTo>
                  <a:pt x="0" y="400050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558800" y="0"/>
                </a:lnTo>
                <a:cubicBezTo>
                  <a:pt x="586867" y="0"/>
                  <a:pt x="609600" y="22733"/>
                  <a:pt x="609600" y="50800"/>
                </a:cubicBezTo>
                <a:lnTo>
                  <a:pt x="609600" y="400050"/>
                </a:lnTo>
                <a:close/>
              </a:path>
            </a:pathLst>
          </a:custGeom>
          <a:gradFill rotWithShape="1">
            <a:gsLst>
              <a:gs pos="0">
                <a:srgbClr val="7AB6E6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bv-8"/>
          <p:cNvSpPr txBox="1"/>
          <p:nvPr/>
        </p:nvSpPr>
        <p:spPr>
          <a:xfrm>
            <a:off x="7042436" y="4342495"/>
            <a:ext cx="202629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1" spc="15">
                <a:solidFill>
                  <a:srgbClr val="54A2DF"/>
                </a:solidFill>
                <a:latin typeface="Arial"/>
                <a:ea typeface="Arial"/>
                <a:cs typeface="Arial"/>
              </a:rPr>
              <a:t>42</a:t>
            </a:r>
          </a:p>
        </p:txBody>
      </p:sp>
      <p:sp>
        <p:nvSpPr>
          <p:cNvPr id="45" name="bl-8"/>
          <p:cNvSpPr txBox="1"/>
          <p:nvPr/>
        </p:nvSpPr>
        <p:spPr>
          <a:xfrm>
            <a:off x="6948678" y="5084508"/>
            <a:ext cx="39014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64748B"/>
                </a:solidFill>
                <a:latin typeface="Arial"/>
                <a:ea typeface="Arial"/>
                <a:cs typeface="Arial"/>
              </a:rPr>
              <a:t>80–100</a:t>
            </a:r>
          </a:p>
        </p:txBody>
      </p:sp>
      <p:sp>
        <p:nvSpPr>
          <p:cNvPr id="46" name="bar-9"/>
          <p:cNvSpPr/>
          <p:nvPr/>
        </p:nvSpPr>
        <p:spPr>
          <a:xfrm>
            <a:off x="7537450" y="4705350"/>
            <a:ext cx="609600" cy="247650"/>
          </a:xfrm>
          <a:custGeom>
            <a:avLst/>
            <a:gdLst/>
            <a:ahLst/>
            <a:cxnLst/>
            <a:rect l="0" t="0" r="r" b="b"/>
            <a:pathLst>
              <a:path w="609600" h="247650">
                <a:moveTo>
                  <a:pt x="0" y="247650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558800" y="0"/>
                </a:lnTo>
                <a:cubicBezTo>
                  <a:pt x="586867" y="0"/>
                  <a:pt x="609600" y="22733"/>
                  <a:pt x="609600" y="50800"/>
                </a:cubicBezTo>
                <a:lnTo>
                  <a:pt x="609600" y="247650"/>
                </a:lnTo>
                <a:close/>
              </a:path>
            </a:pathLst>
          </a:custGeom>
          <a:gradFill rotWithShape="1">
            <a:gsLst>
              <a:gs pos="0">
                <a:srgbClr val="7AB6E6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bv-9"/>
          <p:cNvSpPr txBox="1"/>
          <p:nvPr/>
        </p:nvSpPr>
        <p:spPr>
          <a:xfrm>
            <a:off x="7740936" y="4494895"/>
            <a:ext cx="202629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1" spc="15">
                <a:solidFill>
                  <a:srgbClr val="54A2DF"/>
                </a:solidFill>
                <a:latin typeface="Arial"/>
                <a:ea typeface="Arial"/>
                <a:cs typeface="Arial"/>
              </a:rPr>
              <a:t>26</a:t>
            </a:r>
          </a:p>
        </p:txBody>
      </p:sp>
      <p:sp>
        <p:nvSpPr>
          <p:cNvPr id="48" name="bl-9"/>
          <p:cNvSpPr txBox="1"/>
          <p:nvPr/>
        </p:nvSpPr>
        <p:spPr>
          <a:xfrm>
            <a:off x="7698867" y="5084508"/>
            <a:ext cx="28676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64748B"/>
                </a:solidFill>
                <a:latin typeface="Arial"/>
                <a:ea typeface="Arial"/>
                <a:cs typeface="Arial"/>
              </a:rPr>
              <a:t>100+</a:t>
            </a:r>
          </a:p>
        </p:txBody>
      </p:sp>
      <p:sp>
        <p:nvSpPr>
          <p:cNvPr id="49" name="curve"/>
          <p:cNvSpPr/>
          <p:nvPr/>
        </p:nvSpPr>
        <p:spPr>
          <a:xfrm>
            <a:off x="2254250" y="2119511"/>
            <a:ext cx="5588000" cy="2585839"/>
          </a:xfrm>
          <a:custGeom>
            <a:avLst/>
            <a:gdLst/>
            <a:ahLst/>
            <a:cxnLst/>
            <a:rect l="0" t="0" r="r" b="b"/>
            <a:pathLst>
              <a:path w="5588000" h="2585839">
                <a:moveTo>
                  <a:pt x="0" y="2185789"/>
                </a:moveTo>
                <a:cubicBezTo>
                  <a:pt x="104775" y="2017196"/>
                  <a:pt x="488950" y="1384736"/>
                  <a:pt x="698500" y="1061839"/>
                </a:cubicBezTo>
                <a:cubicBezTo>
                  <a:pt x="908050" y="738941"/>
                  <a:pt x="1187450" y="150296"/>
                  <a:pt x="1397000" y="33139"/>
                </a:cubicBezTo>
                <a:cubicBezTo>
                  <a:pt x="1606550" y="-84019"/>
                  <a:pt x="1885950" y="135056"/>
                  <a:pt x="2095500" y="280789"/>
                </a:cubicBezTo>
                <a:cubicBezTo>
                  <a:pt x="2305050" y="426521"/>
                  <a:pt x="2584450" y="801806"/>
                  <a:pt x="2794000" y="1004689"/>
                </a:cubicBezTo>
                <a:cubicBezTo>
                  <a:pt x="3003550" y="1207571"/>
                  <a:pt x="3282950" y="1479034"/>
                  <a:pt x="3492500" y="1633339"/>
                </a:cubicBezTo>
                <a:cubicBezTo>
                  <a:pt x="3702050" y="1787644"/>
                  <a:pt x="3981450" y="1913374"/>
                  <a:pt x="4191000" y="2033389"/>
                </a:cubicBezTo>
                <a:cubicBezTo>
                  <a:pt x="4400550" y="2153404"/>
                  <a:pt x="4679950" y="2350571"/>
                  <a:pt x="4889500" y="2433439"/>
                </a:cubicBezTo>
                <a:cubicBezTo>
                  <a:pt x="5099050" y="2516306"/>
                  <a:pt x="5483225" y="2562979"/>
                  <a:pt x="5588000" y="2585839"/>
                </a:cubicBezTo>
              </a:path>
            </a:pathLst>
          </a:custGeom>
          <a:noFill/>
          <a:ln w="1905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cd-1"/>
          <p:cNvSpPr/>
          <p:nvPr/>
        </p:nvSpPr>
        <p:spPr>
          <a:xfrm>
            <a:off x="2222500" y="4273550"/>
            <a:ext cx="63500" cy="63500"/>
          </a:xfrm>
          <a:prstGeom prst="ellipse">
            <a:avLst/>
          </a:prstGeom>
          <a:solidFill>
            <a:srgbClr val="FFFFFF"/>
          </a:solidFill>
          <a:ln w="1397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cd-2"/>
          <p:cNvSpPr/>
          <p:nvPr/>
        </p:nvSpPr>
        <p:spPr>
          <a:xfrm>
            <a:off x="2921000" y="3149600"/>
            <a:ext cx="63500" cy="63500"/>
          </a:xfrm>
          <a:prstGeom prst="ellipse">
            <a:avLst/>
          </a:prstGeom>
          <a:solidFill>
            <a:srgbClr val="FFFFFF"/>
          </a:solidFill>
          <a:ln w="1397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cd-3"/>
          <p:cNvSpPr/>
          <p:nvPr/>
        </p:nvSpPr>
        <p:spPr>
          <a:xfrm>
            <a:off x="3619500" y="2120900"/>
            <a:ext cx="63500" cy="63500"/>
          </a:xfrm>
          <a:prstGeom prst="ellipse">
            <a:avLst/>
          </a:prstGeom>
          <a:solidFill>
            <a:srgbClr val="FFFFFF"/>
          </a:solidFill>
          <a:ln w="1397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cd-4"/>
          <p:cNvSpPr/>
          <p:nvPr/>
        </p:nvSpPr>
        <p:spPr>
          <a:xfrm>
            <a:off x="4318000" y="2368550"/>
            <a:ext cx="63500" cy="63500"/>
          </a:xfrm>
          <a:prstGeom prst="ellipse">
            <a:avLst/>
          </a:prstGeom>
          <a:solidFill>
            <a:srgbClr val="FFFFFF"/>
          </a:solidFill>
          <a:ln w="1397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cd-5"/>
          <p:cNvSpPr/>
          <p:nvPr/>
        </p:nvSpPr>
        <p:spPr>
          <a:xfrm>
            <a:off x="5016500" y="3092450"/>
            <a:ext cx="63500" cy="63500"/>
          </a:xfrm>
          <a:prstGeom prst="ellipse">
            <a:avLst/>
          </a:prstGeom>
          <a:solidFill>
            <a:srgbClr val="FFFFFF"/>
          </a:solidFill>
          <a:ln w="1397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cd-6"/>
          <p:cNvSpPr/>
          <p:nvPr/>
        </p:nvSpPr>
        <p:spPr>
          <a:xfrm>
            <a:off x="5715000" y="3721100"/>
            <a:ext cx="63500" cy="63500"/>
          </a:xfrm>
          <a:prstGeom prst="ellipse">
            <a:avLst/>
          </a:prstGeom>
          <a:solidFill>
            <a:srgbClr val="FFFFFF"/>
          </a:solidFill>
          <a:ln w="1397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cd-7"/>
          <p:cNvSpPr/>
          <p:nvPr/>
        </p:nvSpPr>
        <p:spPr>
          <a:xfrm>
            <a:off x="6413500" y="4121150"/>
            <a:ext cx="63500" cy="63500"/>
          </a:xfrm>
          <a:prstGeom prst="ellipse">
            <a:avLst/>
          </a:prstGeom>
          <a:solidFill>
            <a:srgbClr val="FFFFFF"/>
          </a:solidFill>
          <a:ln w="1397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cd-8"/>
          <p:cNvSpPr/>
          <p:nvPr/>
        </p:nvSpPr>
        <p:spPr>
          <a:xfrm>
            <a:off x="7112000" y="4521200"/>
            <a:ext cx="63500" cy="63500"/>
          </a:xfrm>
          <a:prstGeom prst="ellipse">
            <a:avLst/>
          </a:prstGeom>
          <a:solidFill>
            <a:srgbClr val="FFFFFF"/>
          </a:solidFill>
          <a:ln w="1397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cd-9"/>
          <p:cNvSpPr/>
          <p:nvPr/>
        </p:nvSpPr>
        <p:spPr>
          <a:xfrm>
            <a:off x="7810500" y="4673600"/>
            <a:ext cx="63500" cy="63500"/>
          </a:xfrm>
          <a:prstGeom prst="ellipse">
            <a:avLst/>
          </a:prstGeom>
          <a:solidFill>
            <a:srgbClr val="FFFFFF"/>
          </a:solidFill>
          <a:ln w="1397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59" name="mk-1"/>
          <p:cNvCxnSpPr/>
          <p:nvPr/>
        </p:nvCxnSpPr>
        <p:spPr>
          <a:xfrm>
            <a:off x="3888740" y="1765300"/>
            <a:ext cx="0" cy="3187700"/>
          </a:xfrm>
          <a:prstGeom prst="line">
            <a:avLst/>
          </a:prstGeom>
          <a:ln w="12700" cap="rnd">
            <a:solidFill>
              <a:srgbClr val="0B3E8F">
                <a:alpha val="6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mkt-1"/>
          <p:cNvSpPr/>
          <p:nvPr/>
        </p:nvSpPr>
        <p:spPr>
          <a:xfrm>
            <a:off x="3393440" y="1549400"/>
            <a:ext cx="990600" cy="190500"/>
          </a:xfrm>
          <a:custGeom>
            <a:avLst/>
            <a:gdLst/>
            <a:ahLst/>
            <a:cxnLst/>
            <a:rect l="0" t="0" r="r" b="b"/>
            <a:pathLst>
              <a:path w="990600" h="190500">
                <a:moveTo>
                  <a:pt x="95250" y="0"/>
                </a:moveTo>
                <a:lnTo>
                  <a:pt x="895350" y="0"/>
                </a:lnTo>
                <a:cubicBezTo>
                  <a:pt x="947928" y="0"/>
                  <a:pt x="990600" y="42672"/>
                  <a:pt x="990600" y="95250"/>
                </a:cubicBezTo>
                <a:lnTo>
                  <a:pt x="990600" y="95250"/>
                </a:lnTo>
                <a:cubicBezTo>
                  <a:pt x="990600" y="147828"/>
                  <a:pt x="947928" y="190500"/>
                  <a:pt x="8953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0B3E8F">
              <a:alpha val="13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mktt-1"/>
          <p:cNvSpPr txBox="1"/>
          <p:nvPr/>
        </p:nvSpPr>
        <p:spPr>
          <a:xfrm>
            <a:off x="3578225" y="1572958"/>
            <a:ext cx="6210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中位数 28.4</a:t>
            </a:r>
          </a:p>
        </p:txBody>
      </p:sp>
      <p:cxnSp>
        <p:nvCxnSpPr>
          <p:cNvPr id="62" name="mk-2"/>
          <p:cNvCxnSpPr/>
          <p:nvPr/>
        </p:nvCxnSpPr>
        <p:spPr>
          <a:xfrm>
            <a:off x="4182110" y="1765300"/>
            <a:ext cx="0" cy="3187700"/>
          </a:xfrm>
          <a:prstGeom prst="line">
            <a:avLst/>
          </a:prstGeom>
          <a:ln w="12700" cap="rnd">
            <a:solidFill>
              <a:srgbClr val="E0703A">
                <a:alpha val="6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mkt-2"/>
          <p:cNvSpPr/>
          <p:nvPr/>
        </p:nvSpPr>
        <p:spPr>
          <a:xfrm>
            <a:off x="4677410" y="1549400"/>
            <a:ext cx="990600" cy="190500"/>
          </a:xfrm>
          <a:custGeom>
            <a:avLst/>
            <a:gdLst/>
            <a:ahLst/>
            <a:cxnLst/>
            <a:rect l="0" t="0" r="r" b="b"/>
            <a:pathLst>
              <a:path w="990600" h="190500">
                <a:moveTo>
                  <a:pt x="95250" y="0"/>
                </a:moveTo>
                <a:lnTo>
                  <a:pt x="895350" y="0"/>
                </a:lnTo>
                <a:cubicBezTo>
                  <a:pt x="947928" y="0"/>
                  <a:pt x="990600" y="42672"/>
                  <a:pt x="990600" y="95250"/>
                </a:cubicBezTo>
                <a:lnTo>
                  <a:pt x="990600" y="95250"/>
                </a:lnTo>
                <a:cubicBezTo>
                  <a:pt x="990600" y="147828"/>
                  <a:pt x="947928" y="190500"/>
                  <a:pt x="8953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>
              <a:alpha val="13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mktt-2"/>
          <p:cNvSpPr txBox="1"/>
          <p:nvPr/>
        </p:nvSpPr>
        <p:spPr>
          <a:xfrm>
            <a:off x="4908232" y="1572958"/>
            <a:ext cx="52895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平均 32.6</a:t>
            </a:r>
          </a:p>
        </p:txBody>
      </p:sp>
      <p:sp>
        <p:nvSpPr>
          <p:cNvPr id="65" name="side-bar"/>
          <p:cNvSpPr/>
          <p:nvPr/>
        </p:nvSpPr>
        <p:spPr>
          <a:xfrm>
            <a:off x="8636000" y="15875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side-h"/>
          <p:cNvSpPr txBox="1"/>
          <p:nvPr/>
        </p:nvSpPr>
        <p:spPr>
          <a:xfrm>
            <a:off x="8794750" y="15946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分布统计</a:t>
            </a:r>
          </a:p>
        </p:txBody>
      </p:sp>
      <p:sp>
        <p:nvSpPr>
          <p:cNvPr id="67" name="side-p"/>
          <p:cNvSpPr txBox="1"/>
          <p:nvPr/>
        </p:nvSpPr>
        <p:spPr>
          <a:xfrm>
            <a:off x="8800465" y="1869361"/>
            <a:ext cx="146399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右偏分布，均值大于中位数</a:t>
            </a:r>
          </a:p>
        </p:txBody>
      </p:sp>
      <p:sp>
        <p:nvSpPr>
          <p:cNvPr id="68" name="st-1"/>
          <p:cNvSpPr/>
          <p:nvPr/>
        </p:nvSpPr>
        <p:spPr>
          <a:xfrm>
            <a:off x="8636000" y="2273300"/>
            <a:ext cx="2603500" cy="711200"/>
          </a:xfrm>
          <a:custGeom>
            <a:avLst/>
            <a:gdLst/>
            <a:ahLst/>
            <a:cxnLst/>
            <a:rect l="0" t="0" r="r" b="b"/>
            <a:pathLst>
              <a:path w="2603500" h="711200">
                <a:moveTo>
                  <a:pt x="114300" y="0"/>
                </a:moveTo>
                <a:lnTo>
                  <a:pt x="2489200" y="0"/>
                </a:lnTo>
                <a:cubicBezTo>
                  <a:pt x="2552319" y="0"/>
                  <a:pt x="2603500" y="51181"/>
                  <a:pt x="2603500" y="114300"/>
                </a:cubicBezTo>
                <a:lnTo>
                  <a:pt x="2603500" y="596900"/>
                </a:lnTo>
                <a:cubicBezTo>
                  <a:pt x="2603500" y="660019"/>
                  <a:pt x="2552319" y="711200"/>
                  <a:pt x="2489200" y="711200"/>
                </a:cubicBezTo>
                <a:lnTo>
                  <a:pt x="114300" y="711200"/>
                </a:lnTo>
                <a:cubicBezTo>
                  <a:pt x="51181" y="711200"/>
                  <a:pt x="0" y="660019"/>
                  <a:pt x="0" y="596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stb-1"/>
          <p:cNvSpPr/>
          <p:nvPr/>
        </p:nvSpPr>
        <p:spPr>
          <a:xfrm>
            <a:off x="8636000" y="2273300"/>
            <a:ext cx="31750" cy="711200"/>
          </a:xfrm>
          <a:custGeom>
            <a:avLst/>
            <a:gdLst/>
            <a:ahLst/>
            <a:cxnLst/>
            <a:rect l="0" t="0" r="r" b="b"/>
            <a:pathLst>
              <a:path w="31750" h="711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695325"/>
                </a:lnTo>
                <a:cubicBezTo>
                  <a:pt x="31750" y="704088"/>
                  <a:pt x="24638" y="711200"/>
                  <a:pt x="15875" y="711200"/>
                </a:cubicBezTo>
                <a:lnTo>
                  <a:pt x="15875" y="711200"/>
                </a:lnTo>
                <a:cubicBezTo>
                  <a:pt x="7112" y="711200"/>
                  <a:pt x="0" y="704088"/>
                  <a:pt x="0" y="695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icon-chart"/>
          <p:cNvSpPr/>
          <p:nvPr/>
        </p:nvSpPr>
        <p:spPr>
          <a:xfrm>
            <a:off x="8857615" y="2519362"/>
            <a:ext cx="115570" cy="75692"/>
          </a:xfrm>
          <a:custGeom>
            <a:avLst/>
            <a:gdLst/>
            <a:ahLst/>
            <a:cxnLst/>
            <a:rect l="0" t="0" r="r" b="b"/>
            <a:pathLst>
              <a:path w="115570" h="75692">
                <a:moveTo>
                  <a:pt x="0" y="75692"/>
                </a:moveTo>
                <a:lnTo>
                  <a:pt x="115570" y="75692"/>
                </a:lnTo>
                <a:moveTo>
                  <a:pt x="26162" y="75692"/>
                </a:moveTo>
                <a:lnTo>
                  <a:pt x="26162" y="31623"/>
                </a:lnTo>
                <a:moveTo>
                  <a:pt x="57785" y="75692"/>
                </a:moveTo>
                <a:lnTo>
                  <a:pt x="57785" y="0"/>
                </a:lnTo>
                <a:moveTo>
                  <a:pt x="89408" y="75692"/>
                </a:moveTo>
                <a:lnTo>
                  <a:pt x="89408" y="46800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stl-1"/>
          <p:cNvSpPr txBox="1"/>
          <p:nvPr/>
        </p:nvSpPr>
        <p:spPr>
          <a:xfrm>
            <a:off x="9116822" y="2441797"/>
            <a:ext cx="62166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平均单价</a:t>
            </a:r>
          </a:p>
        </p:txBody>
      </p:sp>
      <p:sp>
        <p:nvSpPr>
          <p:cNvPr id="72" name="stv-1"/>
          <p:cNvSpPr txBox="1"/>
          <p:nvPr/>
        </p:nvSpPr>
        <p:spPr>
          <a:xfrm>
            <a:off x="8805164" y="2625217"/>
            <a:ext cx="570992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32.6</a:t>
            </a:r>
          </a:p>
        </p:txBody>
      </p:sp>
      <p:sp>
        <p:nvSpPr>
          <p:cNvPr id="73" name="stu-1"/>
          <p:cNvSpPr txBox="1"/>
          <p:nvPr/>
        </p:nvSpPr>
        <p:spPr>
          <a:xfrm>
            <a:off x="9298432" y="2735008"/>
            <a:ext cx="26162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万元</a:t>
            </a:r>
          </a:p>
        </p:txBody>
      </p:sp>
      <p:sp>
        <p:nvSpPr>
          <p:cNvPr id="74" name="st-2"/>
          <p:cNvSpPr/>
          <p:nvPr/>
        </p:nvSpPr>
        <p:spPr>
          <a:xfrm>
            <a:off x="8636000" y="3098800"/>
            <a:ext cx="2603500" cy="711200"/>
          </a:xfrm>
          <a:custGeom>
            <a:avLst/>
            <a:gdLst/>
            <a:ahLst/>
            <a:cxnLst/>
            <a:rect l="0" t="0" r="r" b="b"/>
            <a:pathLst>
              <a:path w="2603500" h="711200">
                <a:moveTo>
                  <a:pt x="114300" y="0"/>
                </a:moveTo>
                <a:lnTo>
                  <a:pt x="2489200" y="0"/>
                </a:lnTo>
                <a:cubicBezTo>
                  <a:pt x="2552319" y="0"/>
                  <a:pt x="2603500" y="51181"/>
                  <a:pt x="2603500" y="114300"/>
                </a:cubicBezTo>
                <a:lnTo>
                  <a:pt x="2603500" y="596900"/>
                </a:lnTo>
                <a:cubicBezTo>
                  <a:pt x="2603500" y="660019"/>
                  <a:pt x="2552319" y="711200"/>
                  <a:pt x="2489200" y="711200"/>
                </a:cubicBezTo>
                <a:lnTo>
                  <a:pt x="114300" y="711200"/>
                </a:lnTo>
                <a:cubicBezTo>
                  <a:pt x="51181" y="711200"/>
                  <a:pt x="0" y="660019"/>
                  <a:pt x="0" y="596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stb-2"/>
          <p:cNvSpPr/>
          <p:nvPr/>
        </p:nvSpPr>
        <p:spPr>
          <a:xfrm>
            <a:off x="8636000" y="3098800"/>
            <a:ext cx="31750" cy="711200"/>
          </a:xfrm>
          <a:custGeom>
            <a:avLst/>
            <a:gdLst/>
            <a:ahLst/>
            <a:cxnLst/>
            <a:rect l="0" t="0" r="r" b="b"/>
            <a:pathLst>
              <a:path w="31750" h="711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695325"/>
                </a:lnTo>
                <a:cubicBezTo>
                  <a:pt x="31750" y="704088"/>
                  <a:pt x="24638" y="711200"/>
                  <a:pt x="15875" y="711200"/>
                </a:cubicBezTo>
                <a:lnTo>
                  <a:pt x="15875" y="711200"/>
                </a:lnTo>
                <a:cubicBezTo>
                  <a:pt x="7112" y="711200"/>
                  <a:pt x="0" y="704088"/>
                  <a:pt x="0" y="695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icon-target"/>
          <p:cNvSpPr/>
          <p:nvPr/>
        </p:nvSpPr>
        <p:spPr>
          <a:xfrm>
            <a:off x="8915400" y="3306318"/>
            <a:ext cx="45403" cy="59182"/>
          </a:xfrm>
          <a:custGeom>
            <a:avLst/>
            <a:gdLst/>
            <a:ahLst/>
            <a:cxnLst/>
            <a:rect l="0" t="0" r="r" b="b"/>
            <a:pathLst>
              <a:path w="45403" h="59182">
                <a:moveTo>
                  <a:pt x="0" y="34417"/>
                </a:moveTo>
                <a:lnTo>
                  <a:pt x="0" y="0"/>
                </a:lnTo>
                <a:moveTo>
                  <a:pt x="0" y="59182"/>
                </a:moveTo>
                <a:lnTo>
                  <a:pt x="45403" y="13780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icon-target"/>
          <p:cNvSpPr/>
          <p:nvPr/>
        </p:nvSpPr>
        <p:spPr>
          <a:xfrm>
            <a:off x="8856239" y="3306339"/>
            <a:ext cx="118322" cy="118322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icon-target"/>
          <p:cNvSpPr/>
          <p:nvPr/>
        </p:nvSpPr>
        <p:spPr>
          <a:xfrm>
            <a:off x="8885132" y="3335232"/>
            <a:ext cx="60537" cy="60537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stl-2"/>
          <p:cNvSpPr txBox="1"/>
          <p:nvPr/>
        </p:nvSpPr>
        <p:spPr>
          <a:xfrm>
            <a:off x="9116822" y="3267297"/>
            <a:ext cx="49339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中位数</a:t>
            </a:r>
          </a:p>
        </p:txBody>
      </p:sp>
      <p:sp>
        <p:nvSpPr>
          <p:cNvPr id="80" name="stv-2"/>
          <p:cNvSpPr txBox="1"/>
          <p:nvPr/>
        </p:nvSpPr>
        <p:spPr>
          <a:xfrm>
            <a:off x="8805164" y="3450717"/>
            <a:ext cx="570992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28.4</a:t>
            </a:r>
          </a:p>
        </p:txBody>
      </p:sp>
      <p:sp>
        <p:nvSpPr>
          <p:cNvPr id="81" name="stu-2"/>
          <p:cNvSpPr txBox="1"/>
          <p:nvPr/>
        </p:nvSpPr>
        <p:spPr>
          <a:xfrm>
            <a:off x="9298432" y="3560508"/>
            <a:ext cx="26162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万元</a:t>
            </a:r>
          </a:p>
        </p:txBody>
      </p:sp>
      <p:sp>
        <p:nvSpPr>
          <p:cNvPr id="82" name="st-3"/>
          <p:cNvSpPr/>
          <p:nvPr/>
        </p:nvSpPr>
        <p:spPr>
          <a:xfrm>
            <a:off x="8636000" y="3924300"/>
            <a:ext cx="2603500" cy="711200"/>
          </a:xfrm>
          <a:custGeom>
            <a:avLst/>
            <a:gdLst/>
            <a:ahLst/>
            <a:cxnLst/>
            <a:rect l="0" t="0" r="r" b="b"/>
            <a:pathLst>
              <a:path w="2603500" h="711200">
                <a:moveTo>
                  <a:pt x="114300" y="0"/>
                </a:moveTo>
                <a:lnTo>
                  <a:pt x="2489200" y="0"/>
                </a:lnTo>
                <a:cubicBezTo>
                  <a:pt x="2552319" y="0"/>
                  <a:pt x="2603500" y="51181"/>
                  <a:pt x="2603500" y="114300"/>
                </a:cubicBezTo>
                <a:lnTo>
                  <a:pt x="2603500" y="596900"/>
                </a:lnTo>
                <a:cubicBezTo>
                  <a:pt x="2603500" y="660019"/>
                  <a:pt x="2552319" y="711200"/>
                  <a:pt x="2489200" y="711200"/>
                </a:cubicBezTo>
                <a:lnTo>
                  <a:pt x="114300" y="711200"/>
                </a:lnTo>
                <a:cubicBezTo>
                  <a:pt x="51181" y="711200"/>
                  <a:pt x="0" y="660019"/>
                  <a:pt x="0" y="596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stb-3"/>
          <p:cNvSpPr/>
          <p:nvPr/>
        </p:nvSpPr>
        <p:spPr>
          <a:xfrm>
            <a:off x="8636000" y="3924300"/>
            <a:ext cx="31750" cy="711200"/>
          </a:xfrm>
          <a:custGeom>
            <a:avLst/>
            <a:gdLst/>
            <a:ahLst/>
            <a:cxnLst/>
            <a:rect l="0" t="0" r="r" b="b"/>
            <a:pathLst>
              <a:path w="31750" h="711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695325"/>
                </a:lnTo>
                <a:cubicBezTo>
                  <a:pt x="31750" y="704088"/>
                  <a:pt x="24638" y="711200"/>
                  <a:pt x="15875" y="711200"/>
                </a:cubicBezTo>
                <a:lnTo>
                  <a:pt x="15875" y="711200"/>
                </a:lnTo>
                <a:cubicBezTo>
                  <a:pt x="7112" y="711200"/>
                  <a:pt x="0" y="704088"/>
                  <a:pt x="0" y="695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icon-gear"/>
          <p:cNvSpPr/>
          <p:nvPr/>
        </p:nvSpPr>
        <p:spPr>
          <a:xfrm>
            <a:off x="8863838" y="4127690"/>
            <a:ext cx="103124" cy="126619"/>
          </a:xfrm>
          <a:custGeom>
            <a:avLst/>
            <a:gdLst/>
            <a:ahLst/>
            <a:cxnLst/>
            <a:rect l="0" t="0" r="r" b="b"/>
            <a:pathLst>
              <a:path w="103124" h="126619">
                <a:moveTo>
                  <a:pt x="51562" y="39942"/>
                </a:moveTo>
                <a:cubicBezTo>
                  <a:pt x="43180" y="39942"/>
                  <a:pt x="35496" y="44387"/>
                  <a:pt x="31305" y="51625"/>
                </a:cubicBezTo>
                <a:cubicBezTo>
                  <a:pt x="27114" y="58864"/>
                  <a:pt x="27114" y="67755"/>
                  <a:pt x="31305" y="74994"/>
                </a:cubicBezTo>
                <a:cubicBezTo>
                  <a:pt x="35496" y="82233"/>
                  <a:pt x="43180" y="86677"/>
                  <a:pt x="51562" y="86677"/>
                </a:cubicBezTo>
                <a:cubicBezTo>
                  <a:pt x="64452" y="86677"/>
                  <a:pt x="74930" y="76200"/>
                  <a:pt x="74930" y="63310"/>
                </a:cubicBezTo>
                <a:cubicBezTo>
                  <a:pt x="74930" y="50419"/>
                  <a:pt x="64452" y="39942"/>
                  <a:pt x="51562" y="39942"/>
                </a:cubicBezTo>
                <a:close/>
                <a:moveTo>
                  <a:pt x="51562" y="0"/>
                </a:moveTo>
                <a:lnTo>
                  <a:pt x="59118" y="17907"/>
                </a:lnTo>
                <a:lnTo>
                  <a:pt x="78359" y="13780"/>
                </a:lnTo>
                <a:lnTo>
                  <a:pt x="85280" y="32322"/>
                </a:lnTo>
                <a:lnTo>
                  <a:pt x="103124" y="39942"/>
                </a:lnTo>
                <a:lnTo>
                  <a:pt x="94932" y="57785"/>
                </a:lnTo>
                <a:lnTo>
                  <a:pt x="103124" y="75692"/>
                </a:lnTo>
                <a:lnTo>
                  <a:pt x="85280" y="83249"/>
                </a:lnTo>
                <a:lnTo>
                  <a:pt x="78359" y="101854"/>
                </a:lnTo>
                <a:lnTo>
                  <a:pt x="59118" y="97726"/>
                </a:lnTo>
                <a:lnTo>
                  <a:pt x="51562" y="126619"/>
                </a:lnTo>
                <a:lnTo>
                  <a:pt x="44005" y="108712"/>
                </a:lnTo>
                <a:lnTo>
                  <a:pt x="24765" y="112839"/>
                </a:lnTo>
                <a:lnTo>
                  <a:pt x="17843" y="94298"/>
                </a:lnTo>
                <a:lnTo>
                  <a:pt x="0" y="86677"/>
                </a:lnTo>
                <a:lnTo>
                  <a:pt x="8191" y="63310"/>
                </a:lnTo>
                <a:lnTo>
                  <a:pt x="0" y="45402"/>
                </a:lnTo>
                <a:lnTo>
                  <a:pt x="17843" y="37846"/>
                </a:lnTo>
                <a:lnTo>
                  <a:pt x="24765" y="19304"/>
                </a:lnTo>
                <a:lnTo>
                  <a:pt x="44005" y="23432"/>
                </a:lnTo>
                <a:close/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stl-3"/>
          <p:cNvSpPr txBox="1"/>
          <p:nvPr/>
        </p:nvSpPr>
        <p:spPr>
          <a:xfrm>
            <a:off x="9116822" y="4092797"/>
            <a:ext cx="49339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标准差</a:t>
            </a:r>
          </a:p>
        </p:txBody>
      </p:sp>
      <p:sp>
        <p:nvSpPr>
          <p:cNvPr id="86" name="stv-3"/>
          <p:cNvSpPr txBox="1"/>
          <p:nvPr/>
        </p:nvSpPr>
        <p:spPr>
          <a:xfrm>
            <a:off x="8805164" y="4276217"/>
            <a:ext cx="570992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18.2</a:t>
            </a:r>
          </a:p>
        </p:txBody>
      </p:sp>
      <p:sp>
        <p:nvSpPr>
          <p:cNvPr id="87" name="stu-3"/>
          <p:cNvSpPr txBox="1"/>
          <p:nvPr/>
        </p:nvSpPr>
        <p:spPr>
          <a:xfrm>
            <a:off x="9298432" y="4386008"/>
            <a:ext cx="26162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万元</a:t>
            </a:r>
          </a:p>
        </p:txBody>
      </p:sp>
      <p:sp>
        <p:nvSpPr>
          <p:cNvPr id="88" name="st-4"/>
          <p:cNvSpPr/>
          <p:nvPr/>
        </p:nvSpPr>
        <p:spPr>
          <a:xfrm>
            <a:off x="8636000" y="4749800"/>
            <a:ext cx="2603500" cy="711200"/>
          </a:xfrm>
          <a:custGeom>
            <a:avLst/>
            <a:gdLst/>
            <a:ahLst/>
            <a:cxnLst/>
            <a:rect l="0" t="0" r="r" b="b"/>
            <a:pathLst>
              <a:path w="2603500" h="711200">
                <a:moveTo>
                  <a:pt x="114300" y="0"/>
                </a:moveTo>
                <a:lnTo>
                  <a:pt x="2489200" y="0"/>
                </a:lnTo>
                <a:cubicBezTo>
                  <a:pt x="2552319" y="0"/>
                  <a:pt x="2603500" y="51181"/>
                  <a:pt x="2603500" y="114300"/>
                </a:cubicBezTo>
                <a:lnTo>
                  <a:pt x="2603500" y="596900"/>
                </a:lnTo>
                <a:cubicBezTo>
                  <a:pt x="2603500" y="660019"/>
                  <a:pt x="2552319" y="711200"/>
                  <a:pt x="2489200" y="711200"/>
                </a:cubicBezTo>
                <a:lnTo>
                  <a:pt x="114300" y="711200"/>
                </a:lnTo>
                <a:cubicBezTo>
                  <a:pt x="51181" y="711200"/>
                  <a:pt x="0" y="660019"/>
                  <a:pt x="0" y="596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stb-4"/>
          <p:cNvSpPr/>
          <p:nvPr/>
        </p:nvSpPr>
        <p:spPr>
          <a:xfrm>
            <a:off x="8636000" y="4749800"/>
            <a:ext cx="31750" cy="711200"/>
          </a:xfrm>
          <a:custGeom>
            <a:avLst/>
            <a:gdLst/>
            <a:ahLst/>
            <a:cxnLst/>
            <a:rect l="0" t="0" r="r" b="b"/>
            <a:pathLst>
              <a:path w="31750" h="711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695325"/>
                </a:lnTo>
                <a:cubicBezTo>
                  <a:pt x="31750" y="704088"/>
                  <a:pt x="24638" y="711200"/>
                  <a:pt x="15875" y="711200"/>
                </a:cubicBezTo>
                <a:lnTo>
                  <a:pt x="15875" y="711200"/>
                </a:lnTo>
                <a:cubicBezTo>
                  <a:pt x="7112" y="711200"/>
                  <a:pt x="0" y="704088"/>
                  <a:pt x="0" y="695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icon-doc"/>
          <p:cNvSpPr/>
          <p:nvPr/>
        </p:nvSpPr>
        <p:spPr>
          <a:xfrm>
            <a:off x="8878252" y="4958715"/>
            <a:ext cx="77025" cy="115570"/>
          </a:xfrm>
          <a:custGeom>
            <a:avLst/>
            <a:gdLst/>
            <a:ahLst/>
            <a:cxnLst/>
            <a:rect l="0" t="0" r="r" b="b"/>
            <a:pathLst>
              <a:path w="77025" h="115570">
                <a:moveTo>
                  <a:pt x="0" y="0"/>
                </a:moveTo>
                <a:lnTo>
                  <a:pt x="49530" y="0"/>
                </a:lnTo>
                <a:lnTo>
                  <a:pt x="77025" y="27496"/>
                </a:lnTo>
                <a:lnTo>
                  <a:pt x="77025" y="115570"/>
                </a:lnTo>
                <a:lnTo>
                  <a:pt x="0" y="115570"/>
                </a:lnTo>
                <a:close/>
                <a:moveTo>
                  <a:pt x="49530" y="0"/>
                </a:moveTo>
                <a:lnTo>
                  <a:pt x="49530" y="27496"/>
                </a:lnTo>
                <a:lnTo>
                  <a:pt x="77025" y="27496"/>
                </a:lnTo>
                <a:moveTo>
                  <a:pt x="17907" y="60515"/>
                </a:moveTo>
                <a:lnTo>
                  <a:pt x="59182" y="60515"/>
                </a:lnTo>
                <a:moveTo>
                  <a:pt x="17907" y="83947"/>
                </a:moveTo>
                <a:lnTo>
                  <a:pt x="59182" y="83947"/>
                </a:lnTo>
              </a:path>
            </a:pathLst>
          </a:cu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stl-4"/>
          <p:cNvSpPr txBox="1"/>
          <p:nvPr/>
        </p:nvSpPr>
        <p:spPr>
          <a:xfrm>
            <a:off x="9116822" y="4918297"/>
            <a:ext cx="49339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样本量</a:t>
            </a:r>
          </a:p>
        </p:txBody>
      </p:sp>
      <p:sp>
        <p:nvSpPr>
          <p:cNvPr id="92" name="stv-4"/>
          <p:cNvSpPr txBox="1"/>
          <p:nvPr/>
        </p:nvSpPr>
        <p:spPr>
          <a:xfrm>
            <a:off x="8805164" y="5101717"/>
            <a:ext cx="673735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1,286</a:t>
            </a:r>
          </a:p>
        </p:txBody>
      </p:sp>
      <p:sp>
        <p:nvSpPr>
          <p:cNvPr id="93" name="stu-4"/>
          <p:cNvSpPr txBox="1"/>
          <p:nvPr/>
        </p:nvSpPr>
        <p:spPr>
          <a:xfrm>
            <a:off x="9406382" y="5211508"/>
            <a:ext cx="17081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笔</a:t>
            </a:r>
          </a:p>
        </p:txBody>
      </p:sp>
      <p:sp>
        <p:nvSpPr>
          <p:cNvPr id="94" name="sum"/>
          <p:cNvSpPr/>
          <p:nvPr/>
        </p:nvSpPr>
        <p:spPr>
          <a:xfrm>
            <a:off x="952500" y="5613400"/>
            <a:ext cx="7366000" cy="635000"/>
          </a:xfrm>
          <a:custGeom>
            <a:avLst/>
            <a:gdLst/>
            <a:ahLst/>
            <a:cxnLst/>
            <a:rect l="0" t="0" r="r" b="b"/>
            <a:pathLst>
              <a:path w="7366000" h="635000">
                <a:moveTo>
                  <a:pt x="101600" y="0"/>
                </a:moveTo>
                <a:lnTo>
                  <a:pt x="7264400" y="0"/>
                </a:lnTo>
                <a:cubicBezTo>
                  <a:pt x="7320534" y="0"/>
                  <a:pt x="7366000" y="45466"/>
                  <a:pt x="7366000" y="101600"/>
                </a:cubicBezTo>
                <a:lnTo>
                  <a:pt x="7366000" y="533400"/>
                </a:lnTo>
                <a:cubicBezTo>
                  <a:pt x="7366000" y="589534"/>
                  <a:pt x="7320534" y="635000"/>
                  <a:pt x="7264400" y="635000"/>
                </a:cubicBezTo>
                <a:lnTo>
                  <a:pt x="101600" y="635000"/>
                </a:lnTo>
                <a:cubicBezTo>
                  <a:pt x="45466" y="635000"/>
                  <a:pt x="0" y="589534"/>
                  <a:pt x="0" y="5334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sum-bar"/>
          <p:cNvSpPr/>
          <p:nvPr/>
        </p:nvSpPr>
        <p:spPr>
          <a:xfrm>
            <a:off x="952500" y="5613400"/>
            <a:ext cx="31750" cy="6350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sum-h"/>
          <p:cNvSpPr txBox="1"/>
          <p:nvPr/>
        </p:nvSpPr>
        <p:spPr>
          <a:xfrm>
            <a:off x="1141222" y="57183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分布判断</a:t>
            </a:r>
          </a:p>
        </p:txBody>
      </p:sp>
      <p:sp>
        <p:nvSpPr>
          <p:cNvPr id="97" name="sum-p"/>
          <p:cNvSpPr txBox="1"/>
          <p:nvPr/>
        </p:nvSpPr>
        <p:spPr>
          <a:xfrm>
            <a:off x="1142365" y="5933361"/>
            <a:ext cx="566451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主力区间是 20–40 万（占 43.7%）；100 万以上仅 26 笔，却贡献 18% 的营收——大单要单独设跟进机制。</a:t>
            </a:r>
          </a:p>
        </p:txBody>
      </p:sp>
      <p:cxnSp>
        <p:nvCxnSpPr>
          <p:cNvPr id="98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直方图 · 九个金额区间</a:t>
            </a:r>
          </a:p>
        </p:txBody>
      </p:sp>
      <p:sp>
        <p:nvSpPr>
          <p:cNvPr id="100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全国市场覆盖热度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8084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TILE MAP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780399" y="673132"/>
            <a:ext cx="2840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每个方块是一个省级市场，颜色越深代表本年营收越高</a:t>
            </a:r>
          </a:p>
        </p:txBody>
      </p:sp>
      <p:sp>
        <p:nvSpPr>
          <p:cNvPr id="10" name="t-黑龙江"/>
          <p:cNvSpPr/>
          <p:nvPr/>
        </p:nvSpPr>
        <p:spPr>
          <a:xfrm>
            <a:off x="4813300" y="14986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8BA7C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tn-黑龙江"/>
          <p:cNvSpPr txBox="1"/>
          <p:nvPr/>
        </p:nvSpPr>
        <p:spPr>
          <a:xfrm>
            <a:off x="4846796" y="1575387"/>
            <a:ext cx="36480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黑龙江</a:t>
            </a:r>
          </a:p>
        </p:txBody>
      </p:sp>
      <p:sp>
        <p:nvSpPr>
          <p:cNvPr id="12" name="tv-黑龙江"/>
          <p:cNvSpPr txBox="1"/>
          <p:nvPr/>
        </p:nvSpPr>
        <p:spPr>
          <a:xfrm>
            <a:off x="4937506" y="1731708"/>
            <a:ext cx="18338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1B5AA8">
                    <a:alpha val="80000"/>
                  </a:srgbClr>
                </a:solidFill>
                <a:latin typeface="Arial"/>
                <a:ea typeface="Arial"/>
                <a:cs typeface="Arial"/>
              </a:rPr>
              <a:t>86</a:t>
            </a:r>
          </a:p>
        </p:txBody>
      </p:sp>
      <p:sp>
        <p:nvSpPr>
          <p:cNvPr id="13" name="t-内蒙古"/>
          <p:cNvSpPr/>
          <p:nvPr/>
        </p:nvSpPr>
        <p:spPr>
          <a:xfrm>
            <a:off x="3848100" y="19812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9AB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tn-内蒙古"/>
          <p:cNvSpPr txBox="1"/>
          <p:nvPr/>
        </p:nvSpPr>
        <p:spPr>
          <a:xfrm>
            <a:off x="3881596" y="2057987"/>
            <a:ext cx="36480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内蒙古</a:t>
            </a:r>
          </a:p>
        </p:txBody>
      </p:sp>
      <p:sp>
        <p:nvSpPr>
          <p:cNvPr id="15" name="tv-内蒙古"/>
          <p:cNvSpPr txBox="1"/>
          <p:nvPr/>
        </p:nvSpPr>
        <p:spPr>
          <a:xfrm>
            <a:off x="3972306" y="2214308"/>
            <a:ext cx="18338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1B5AA8">
                    <a:alpha val="80000"/>
                  </a:srgbClr>
                </a:solidFill>
                <a:latin typeface="Arial"/>
                <a:ea typeface="Arial"/>
                <a:cs typeface="Arial"/>
              </a:rPr>
              <a:t>64</a:t>
            </a:r>
          </a:p>
        </p:txBody>
      </p:sp>
      <p:sp>
        <p:nvSpPr>
          <p:cNvPr id="16" name="t-吉林"/>
          <p:cNvSpPr/>
          <p:nvPr/>
        </p:nvSpPr>
        <p:spPr>
          <a:xfrm>
            <a:off x="4813300" y="19812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95AF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tn-吉林"/>
          <p:cNvSpPr txBox="1"/>
          <p:nvPr/>
        </p:nvSpPr>
        <p:spPr>
          <a:xfrm>
            <a:off x="4893786" y="2057987"/>
            <a:ext cx="27082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吉林</a:t>
            </a:r>
          </a:p>
        </p:txBody>
      </p:sp>
      <p:sp>
        <p:nvSpPr>
          <p:cNvPr id="18" name="tv-吉林"/>
          <p:cNvSpPr txBox="1"/>
          <p:nvPr/>
        </p:nvSpPr>
        <p:spPr>
          <a:xfrm>
            <a:off x="4937506" y="2214308"/>
            <a:ext cx="18338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1B5AA8">
                    <a:alpha val="80000"/>
                  </a:srgbClr>
                </a:solidFill>
                <a:latin typeface="Arial"/>
                <a:ea typeface="Arial"/>
                <a:cs typeface="Arial"/>
              </a:rPr>
              <a:t>72</a:t>
            </a:r>
          </a:p>
        </p:txBody>
      </p:sp>
      <p:sp>
        <p:nvSpPr>
          <p:cNvPr id="19" name="t-新疆"/>
          <p:cNvSpPr/>
          <p:nvPr/>
        </p:nvSpPr>
        <p:spPr>
          <a:xfrm>
            <a:off x="1917700" y="24638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A6BED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tn-新疆"/>
          <p:cNvSpPr txBox="1"/>
          <p:nvPr/>
        </p:nvSpPr>
        <p:spPr>
          <a:xfrm>
            <a:off x="1998186" y="2540587"/>
            <a:ext cx="27082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新疆</a:t>
            </a:r>
          </a:p>
        </p:txBody>
      </p:sp>
      <p:sp>
        <p:nvSpPr>
          <p:cNvPr id="21" name="tv-新疆"/>
          <p:cNvSpPr txBox="1"/>
          <p:nvPr/>
        </p:nvSpPr>
        <p:spPr>
          <a:xfrm>
            <a:off x="2041906" y="2696908"/>
            <a:ext cx="18338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1B5AA8">
                    <a:alpha val="80000"/>
                  </a:srgbClr>
                </a:solidFill>
                <a:latin typeface="Arial"/>
                <a:ea typeface="Arial"/>
                <a:cs typeface="Arial"/>
              </a:rPr>
              <a:t>48</a:t>
            </a:r>
          </a:p>
        </p:txBody>
      </p:sp>
      <p:sp>
        <p:nvSpPr>
          <p:cNvPr id="22" name="t-甘肃"/>
          <p:cNvSpPr/>
          <p:nvPr/>
        </p:nvSpPr>
        <p:spPr>
          <a:xfrm>
            <a:off x="2882900" y="24638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A3BB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tn-甘肃"/>
          <p:cNvSpPr txBox="1"/>
          <p:nvPr/>
        </p:nvSpPr>
        <p:spPr>
          <a:xfrm>
            <a:off x="2963386" y="2540587"/>
            <a:ext cx="27082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甘肃</a:t>
            </a:r>
          </a:p>
        </p:txBody>
      </p:sp>
      <p:sp>
        <p:nvSpPr>
          <p:cNvPr id="24" name="tv-甘肃"/>
          <p:cNvSpPr txBox="1"/>
          <p:nvPr/>
        </p:nvSpPr>
        <p:spPr>
          <a:xfrm>
            <a:off x="3007106" y="2696908"/>
            <a:ext cx="18338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1B5AA8">
                    <a:alpha val="80000"/>
                  </a:srgbClr>
                </a:solidFill>
                <a:latin typeface="Arial"/>
                <a:ea typeface="Arial"/>
                <a:cs typeface="Arial"/>
              </a:rPr>
              <a:t>52</a:t>
            </a:r>
          </a:p>
        </p:txBody>
      </p:sp>
      <p:sp>
        <p:nvSpPr>
          <p:cNvPr id="25" name="t-宁夏"/>
          <p:cNvSpPr/>
          <p:nvPr/>
        </p:nvSpPr>
        <p:spPr>
          <a:xfrm>
            <a:off x="3365500" y="24638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B2C7E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tn-宁夏"/>
          <p:cNvSpPr txBox="1"/>
          <p:nvPr/>
        </p:nvSpPr>
        <p:spPr>
          <a:xfrm>
            <a:off x="3445986" y="2540587"/>
            <a:ext cx="27082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宁夏</a:t>
            </a:r>
          </a:p>
        </p:txBody>
      </p:sp>
      <p:sp>
        <p:nvSpPr>
          <p:cNvPr id="27" name="tv-宁夏"/>
          <p:cNvSpPr txBox="1"/>
          <p:nvPr/>
        </p:nvSpPr>
        <p:spPr>
          <a:xfrm>
            <a:off x="3489706" y="2696908"/>
            <a:ext cx="18338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1B5AA8">
                    <a:alpha val="80000"/>
                  </a:srgbClr>
                </a:solidFill>
                <a:latin typeface="Arial"/>
                <a:ea typeface="Arial"/>
                <a:cs typeface="Arial"/>
              </a:rPr>
              <a:t>34</a:t>
            </a:r>
          </a:p>
        </p:txBody>
      </p:sp>
      <p:sp>
        <p:nvSpPr>
          <p:cNvPr id="28" name="t-北京"/>
          <p:cNvSpPr/>
          <p:nvPr/>
        </p:nvSpPr>
        <p:spPr>
          <a:xfrm>
            <a:off x="4330700" y="24638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1C4C9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tn-北京"/>
          <p:cNvSpPr txBox="1"/>
          <p:nvPr/>
        </p:nvSpPr>
        <p:spPr>
          <a:xfrm>
            <a:off x="4411186" y="2540587"/>
            <a:ext cx="27082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北京</a:t>
            </a:r>
          </a:p>
        </p:txBody>
      </p:sp>
      <p:sp>
        <p:nvSpPr>
          <p:cNvPr id="30" name="tv-北京"/>
          <p:cNvSpPr txBox="1"/>
          <p:nvPr/>
        </p:nvSpPr>
        <p:spPr>
          <a:xfrm>
            <a:off x="4429062" y="2696908"/>
            <a:ext cx="2350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FFFFFF">
                    <a:alpha val="90000"/>
                  </a:srgbClr>
                </a:solidFill>
                <a:latin typeface="Arial"/>
                <a:ea typeface="Arial"/>
                <a:cs typeface="Arial"/>
              </a:rPr>
              <a:t>268</a:t>
            </a:r>
          </a:p>
        </p:txBody>
      </p:sp>
      <p:sp>
        <p:nvSpPr>
          <p:cNvPr id="31" name="t-辽宁"/>
          <p:cNvSpPr/>
          <p:nvPr/>
        </p:nvSpPr>
        <p:spPr>
          <a:xfrm>
            <a:off x="4813300" y="24638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6387B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tn-辽宁"/>
          <p:cNvSpPr txBox="1"/>
          <p:nvPr/>
        </p:nvSpPr>
        <p:spPr>
          <a:xfrm>
            <a:off x="4893786" y="2540587"/>
            <a:ext cx="27082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辽宁</a:t>
            </a:r>
          </a:p>
        </p:txBody>
      </p:sp>
      <p:sp>
        <p:nvSpPr>
          <p:cNvPr id="33" name="tv-辽宁"/>
          <p:cNvSpPr txBox="1"/>
          <p:nvPr/>
        </p:nvSpPr>
        <p:spPr>
          <a:xfrm>
            <a:off x="4911662" y="2696908"/>
            <a:ext cx="2350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1B5AA8">
                    <a:alpha val="80000"/>
                  </a:srgbClr>
                </a:solidFill>
                <a:latin typeface="Arial"/>
                <a:ea typeface="Arial"/>
                <a:cs typeface="Arial"/>
              </a:rPr>
              <a:t>146</a:t>
            </a:r>
          </a:p>
        </p:txBody>
      </p:sp>
      <p:sp>
        <p:nvSpPr>
          <p:cNvPr id="34" name="t-青海"/>
          <p:cNvSpPr/>
          <p:nvPr/>
        </p:nvSpPr>
        <p:spPr>
          <a:xfrm>
            <a:off x="2400300" y="29464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B8CD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tn-青海"/>
          <p:cNvSpPr txBox="1"/>
          <p:nvPr/>
        </p:nvSpPr>
        <p:spPr>
          <a:xfrm>
            <a:off x="2480786" y="3023187"/>
            <a:ext cx="27082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青海</a:t>
            </a:r>
          </a:p>
        </p:txBody>
      </p:sp>
      <p:sp>
        <p:nvSpPr>
          <p:cNvPr id="36" name="tv-青海"/>
          <p:cNvSpPr txBox="1"/>
          <p:nvPr/>
        </p:nvSpPr>
        <p:spPr>
          <a:xfrm>
            <a:off x="2524506" y="3179508"/>
            <a:ext cx="18338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1B5AA8">
                    <a:alpha val="80000"/>
                  </a:srgbClr>
                </a:solidFill>
                <a:latin typeface="Arial"/>
                <a:ea typeface="Arial"/>
                <a:cs typeface="Arial"/>
              </a:rPr>
              <a:t>26</a:t>
            </a:r>
          </a:p>
        </p:txBody>
      </p:sp>
      <p:sp>
        <p:nvSpPr>
          <p:cNvPr id="37" name="t-陕西"/>
          <p:cNvSpPr/>
          <p:nvPr/>
        </p:nvSpPr>
        <p:spPr>
          <a:xfrm>
            <a:off x="3365500" y="29464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7595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tn-陕西"/>
          <p:cNvSpPr txBox="1"/>
          <p:nvPr/>
        </p:nvSpPr>
        <p:spPr>
          <a:xfrm>
            <a:off x="3445986" y="3023187"/>
            <a:ext cx="27082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陕西</a:t>
            </a:r>
          </a:p>
        </p:txBody>
      </p:sp>
      <p:sp>
        <p:nvSpPr>
          <p:cNvPr id="39" name="tv-陕西"/>
          <p:cNvSpPr txBox="1"/>
          <p:nvPr/>
        </p:nvSpPr>
        <p:spPr>
          <a:xfrm>
            <a:off x="3463862" y="3179508"/>
            <a:ext cx="2350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1B5AA8">
                    <a:alpha val="80000"/>
                  </a:srgbClr>
                </a:solidFill>
                <a:latin typeface="Arial"/>
                <a:ea typeface="Arial"/>
                <a:cs typeface="Arial"/>
              </a:rPr>
              <a:t>118</a:t>
            </a:r>
          </a:p>
        </p:txBody>
      </p:sp>
      <p:sp>
        <p:nvSpPr>
          <p:cNvPr id="40" name="t-山西"/>
          <p:cNvSpPr/>
          <p:nvPr/>
        </p:nvSpPr>
        <p:spPr>
          <a:xfrm>
            <a:off x="3848100" y="29464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84A1C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tn-山西"/>
          <p:cNvSpPr txBox="1"/>
          <p:nvPr/>
        </p:nvSpPr>
        <p:spPr>
          <a:xfrm>
            <a:off x="3928586" y="3023187"/>
            <a:ext cx="27082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山西</a:t>
            </a:r>
          </a:p>
        </p:txBody>
      </p:sp>
      <p:sp>
        <p:nvSpPr>
          <p:cNvPr id="42" name="tv-山西"/>
          <p:cNvSpPr txBox="1"/>
          <p:nvPr/>
        </p:nvSpPr>
        <p:spPr>
          <a:xfrm>
            <a:off x="3972306" y="3179508"/>
            <a:ext cx="18338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1B5AA8">
                    <a:alpha val="80000"/>
                  </a:srgbClr>
                </a:solidFill>
                <a:latin typeface="Arial"/>
                <a:ea typeface="Arial"/>
                <a:cs typeface="Arial"/>
              </a:rPr>
              <a:t>96</a:t>
            </a:r>
          </a:p>
        </p:txBody>
      </p:sp>
      <p:sp>
        <p:nvSpPr>
          <p:cNvPr id="43" name="t-河北"/>
          <p:cNvSpPr/>
          <p:nvPr/>
        </p:nvSpPr>
        <p:spPr>
          <a:xfrm>
            <a:off x="4330700" y="29464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5A7F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tn-河北"/>
          <p:cNvSpPr txBox="1"/>
          <p:nvPr/>
        </p:nvSpPr>
        <p:spPr>
          <a:xfrm>
            <a:off x="4411186" y="3023187"/>
            <a:ext cx="27082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河北</a:t>
            </a:r>
          </a:p>
        </p:txBody>
      </p:sp>
      <p:sp>
        <p:nvSpPr>
          <p:cNvPr id="45" name="tv-河北"/>
          <p:cNvSpPr txBox="1"/>
          <p:nvPr/>
        </p:nvSpPr>
        <p:spPr>
          <a:xfrm>
            <a:off x="4429062" y="3179508"/>
            <a:ext cx="2350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FFFFFF">
                    <a:alpha val="90000"/>
                  </a:srgbClr>
                </a:solidFill>
                <a:latin typeface="Arial"/>
                <a:ea typeface="Arial"/>
                <a:cs typeface="Arial"/>
              </a:rPr>
              <a:t>162</a:t>
            </a:r>
          </a:p>
        </p:txBody>
      </p:sp>
      <p:sp>
        <p:nvSpPr>
          <p:cNvPr id="46" name="t-天津"/>
          <p:cNvSpPr/>
          <p:nvPr/>
        </p:nvSpPr>
        <p:spPr>
          <a:xfrm>
            <a:off x="4813300" y="29464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7192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tn-天津"/>
          <p:cNvSpPr txBox="1"/>
          <p:nvPr/>
        </p:nvSpPr>
        <p:spPr>
          <a:xfrm>
            <a:off x="4893786" y="3023187"/>
            <a:ext cx="27082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天津</a:t>
            </a:r>
          </a:p>
        </p:txBody>
      </p:sp>
      <p:sp>
        <p:nvSpPr>
          <p:cNvPr id="48" name="tv-天津"/>
          <p:cNvSpPr txBox="1"/>
          <p:nvPr/>
        </p:nvSpPr>
        <p:spPr>
          <a:xfrm>
            <a:off x="4911662" y="3179508"/>
            <a:ext cx="2350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1B5AA8">
                    <a:alpha val="80000"/>
                  </a:srgbClr>
                </a:solidFill>
                <a:latin typeface="Arial"/>
                <a:ea typeface="Arial"/>
                <a:cs typeface="Arial"/>
              </a:rPr>
              <a:t>124</a:t>
            </a:r>
          </a:p>
        </p:txBody>
      </p:sp>
      <p:sp>
        <p:nvSpPr>
          <p:cNvPr id="49" name="t-西藏"/>
          <p:cNvSpPr/>
          <p:nvPr/>
        </p:nvSpPr>
        <p:spPr>
          <a:xfrm>
            <a:off x="1917700" y="34290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C0D3E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tn-西藏"/>
          <p:cNvSpPr txBox="1"/>
          <p:nvPr/>
        </p:nvSpPr>
        <p:spPr>
          <a:xfrm>
            <a:off x="1998186" y="3505787"/>
            <a:ext cx="27082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西藏</a:t>
            </a:r>
          </a:p>
        </p:txBody>
      </p:sp>
      <p:sp>
        <p:nvSpPr>
          <p:cNvPr id="51" name="tv-西藏"/>
          <p:cNvSpPr txBox="1"/>
          <p:nvPr/>
        </p:nvSpPr>
        <p:spPr>
          <a:xfrm>
            <a:off x="2041906" y="3662108"/>
            <a:ext cx="18338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1B5AA8">
                    <a:alpha val="80000"/>
                  </a:srgbClr>
                </a:solidFill>
                <a:latin typeface="Arial"/>
                <a:ea typeface="Arial"/>
                <a:cs typeface="Arial"/>
              </a:rPr>
              <a:t>18</a:t>
            </a:r>
          </a:p>
        </p:txBody>
      </p:sp>
      <p:sp>
        <p:nvSpPr>
          <p:cNvPr id="52" name="t-四川"/>
          <p:cNvSpPr/>
          <p:nvPr/>
        </p:nvSpPr>
        <p:spPr>
          <a:xfrm>
            <a:off x="2882900" y="34290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4B73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tn-四川"/>
          <p:cNvSpPr txBox="1"/>
          <p:nvPr/>
        </p:nvSpPr>
        <p:spPr>
          <a:xfrm>
            <a:off x="2963386" y="3505787"/>
            <a:ext cx="27082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四川</a:t>
            </a:r>
          </a:p>
        </p:txBody>
      </p:sp>
      <p:sp>
        <p:nvSpPr>
          <p:cNvPr id="54" name="tv-四川"/>
          <p:cNvSpPr txBox="1"/>
          <p:nvPr/>
        </p:nvSpPr>
        <p:spPr>
          <a:xfrm>
            <a:off x="2981262" y="3662108"/>
            <a:ext cx="2350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FFFFFF">
                    <a:alpha val="90000"/>
                  </a:srgbClr>
                </a:solidFill>
                <a:latin typeface="Arial"/>
                <a:ea typeface="Arial"/>
                <a:cs typeface="Arial"/>
              </a:rPr>
              <a:t>186</a:t>
            </a:r>
          </a:p>
        </p:txBody>
      </p:sp>
      <p:sp>
        <p:nvSpPr>
          <p:cNvPr id="55" name="t-重庆"/>
          <p:cNvSpPr/>
          <p:nvPr/>
        </p:nvSpPr>
        <p:spPr>
          <a:xfrm>
            <a:off x="3365500" y="34290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6084B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tn-重庆"/>
          <p:cNvSpPr txBox="1"/>
          <p:nvPr/>
        </p:nvSpPr>
        <p:spPr>
          <a:xfrm>
            <a:off x="3445986" y="3505787"/>
            <a:ext cx="27082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重庆</a:t>
            </a:r>
          </a:p>
        </p:txBody>
      </p:sp>
      <p:sp>
        <p:nvSpPr>
          <p:cNvPr id="57" name="tv-重庆"/>
          <p:cNvSpPr txBox="1"/>
          <p:nvPr/>
        </p:nvSpPr>
        <p:spPr>
          <a:xfrm>
            <a:off x="3463862" y="3662108"/>
            <a:ext cx="2350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FFFFFF">
                    <a:alpha val="90000"/>
                  </a:srgbClr>
                </a:solidFill>
                <a:latin typeface="Arial"/>
                <a:ea typeface="Arial"/>
                <a:cs typeface="Arial"/>
              </a:rPr>
              <a:t>152</a:t>
            </a:r>
          </a:p>
        </p:txBody>
      </p:sp>
      <p:sp>
        <p:nvSpPr>
          <p:cNvPr id="58" name="t-河南"/>
          <p:cNvSpPr/>
          <p:nvPr/>
        </p:nvSpPr>
        <p:spPr>
          <a:xfrm>
            <a:off x="3848100" y="34290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5279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tn-河南"/>
          <p:cNvSpPr txBox="1"/>
          <p:nvPr/>
        </p:nvSpPr>
        <p:spPr>
          <a:xfrm>
            <a:off x="3928586" y="3505787"/>
            <a:ext cx="27082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河南</a:t>
            </a:r>
          </a:p>
        </p:txBody>
      </p:sp>
      <p:sp>
        <p:nvSpPr>
          <p:cNvPr id="60" name="tv-河南"/>
          <p:cNvSpPr txBox="1"/>
          <p:nvPr/>
        </p:nvSpPr>
        <p:spPr>
          <a:xfrm>
            <a:off x="3946462" y="3662108"/>
            <a:ext cx="2350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FFFFFF">
                    <a:alpha val="90000"/>
                  </a:srgbClr>
                </a:solidFill>
                <a:latin typeface="Arial"/>
                <a:ea typeface="Arial"/>
                <a:cs typeface="Arial"/>
              </a:rPr>
              <a:t>174</a:t>
            </a:r>
          </a:p>
        </p:txBody>
      </p:sp>
      <p:sp>
        <p:nvSpPr>
          <p:cNvPr id="61" name="t-山东"/>
          <p:cNvSpPr/>
          <p:nvPr/>
        </p:nvSpPr>
        <p:spPr>
          <a:xfrm>
            <a:off x="4330700" y="34290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28559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tn-山东"/>
          <p:cNvSpPr txBox="1"/>
          <p:nvPr/>
        </p:nvSpPr>
        <p:spPr>
          <a:xfrm>
            <a:off x="4411186" y="3505787"/>
            <a:ext cx="27082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山东</a:t>
            </a:r>
          </a:p>
        </p:txBody>
      </p:sp>
      <p:sp>
        <p:nvSpPr>
          <p:cNvPr id="63" name="tv-山东"/>
          <p:cNvSpPr txBox="1"/>
          <p:nvPr/>
        </p:nvSpPr>
        <p:spPr>
          <a:xfrm>
            <a:off x="4429062" y="3662108"/>
            <a:ext cx="2350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FFFFFF">
                    <a:alpha val="90000"/>
                  </a:srgbClr>
                </a:solidFill>
                <a:latin typeface="Arial"/>
                <a:ea typeface="Arial"/>
                <a:cs typeface="Arial"/>
              </a:rPr>
              <a:t>248</a:t>
            </a:r>
          </a:p>
        </p:txBody>
      </p:sp>
      <p:sp>
        <p:nvSpPr>
          <p:cNvPr id="64" name="t-云南"/>
          <p:cNvSpPr/>
          <p:nvPr/>
        </p:nvSpPr>
        <p:spPr>
          <a:xfrm>
            <a:off x="2400300" y="39116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95AF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tn-云南"/>
          <p:cNvSpPr txBox="1"/>
          <p:nvPr/>
        </p:nvSpPr>
        <p:spPr>
          <a:xfrm>
            <a:off x="2480786" y="3988387"/>
            <a:ext cx="27082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云南</a:t>
            </a:r>
          </a:p>
        </p:txBody>
      </p:sp>
      <p:sp>
        <p:nvSpPr>
          <p:cNvPr id="66" name="tv-云南"/>
          <p:cNvSpPr txBox="1"/>
          <p:nvPr/>
        </p:nvSpPr>
        <p:spPr>
          <a:xfrm>
            <a:off x="2524506" y="4144708"/>
            <a:ext cx="18338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1B5AA8">
                    <a:alpha val="80000"/>
                  </a:srgbClr>
                </a:solidFill>
                <a:latin typeface="Arial"/>
                <a:ea typeface="Arial"/>
                <a:cs typeface="Arial"/>
              </a:rPr>
              <a:t>72</a:t>
            </a:r>
          </a:p>
        </p:txBody>
      </p:sp>
      <p:sp>
        <p:nvSpPr>
          <p:cNvPr id="67" name="t-贵州"/>
          <p:cNvSpPr/>
          <p:nvPr/>
        </p:nvSpPr>
        <p:spPr>
          <a:xfrm>
            <a:off x="2882900" y="39116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99B3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tn-贵州"/>
          <p:cNvSpPr txBox="1"/>
          <p:nvPr/>
        </p:nvSpPr>
        <p:spPr>
          <a:xfrm>
            <a:off x="2963386" y="3988387"/>
            <a:ext cx="27082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贵州</a:t>
            </a:r>
          </a:p>
        </p:txBody>
      </p:sp>
      <p:sp>
        <p:nvSpPr>
          <p:cNvPr id="69" name="tv-贵州"/>
          <p:cNvSpPr txBox="1"/>
          <p:nvPr/>
        </p:nvSpPr>
        <p:spPr>
          <a:xfrm>
            <a:off x="3007106" y="4144708"/>
            <a:ext cx="18338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1B5AA8">
                    <a:alpha val="80000"/>
                  </a:srgbClr>
                </a:solidFill>
                <a:latin typeface="Arial"/>
                <a:ea typeface="Arial"/>
                <a:cs typeface="Arial"/>
              </a:rPr>
              <a:t>66</a:t>
            </a:r>
          </a:p>
        </p:txBody>
      </p:sp>
      <p:sp>
        <p:nvSpPr>
          <p:cNvPr id="70" name="t-湖北"/>
          <p:cNvSpPr/>
          <p:nvPr/>
        </p:nvSpPr>
        <p:spPr>
          <a:xfrm>
            <a:off x="3365500" y="39116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567CB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tn-湖北"/>
          <p:cNvSpPr txBox="1"/>
          <p:nvPr/>
        </p:nvSpPr>
        <p:spPr>
          <a:xfrm>
            <a:off x="3445986" y="3988387"/>
            <a:ext cx="27082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湖北</a:t>
            </a:r>
          </a:p>
        </p:txBody>
      </p:sp>
      <p:sp>
        <p:nvSpPr>
          <p:cNvPr id="72" name="tv-湖北"/>
          <p:cNvSpPr txBox="1"/>
          <p:nvPr/>
        </p:nvSpPr>
        <p:spPr>
          <a:xfrm>
            <a:off x="3463862" y="4144708"/>
            <a:ext cx="2350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FFFFFF">
                    <a:alpha val="90000"/>
                  </a:srgbClr>
                </a:solidFill>
                <a:latin typeface="Arial"/>
                <a:ea typeface="Arial"/>
                <a:cs typeface="Arial"/>
              </a:rPr>
              <a:t>168</a:t>
            </a:r>
          </a:p>
        </p:txBody>
      </p:sp>
      <p:sp>
        <p:nvSpPr>
          <p:cNvPr id="73" name="t-安徽"/>
          <p:cNvSpPr/>
          <p:nvPr/>
        </p:nvSpPr>
        <p:spPr>
          <a:xfrm>
            <a:off x="3848100" y="39116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6689B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tn-安徽"/>
          <p:cNvSpPr txBox="1"/>
          <p:nvPr/>
        </p:nvSpPr>
        <p:spPr>
          <a:xfrm>
            <a:off x="3928586" y="3988387"/>
            <a:ext cx="27082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安徽</a:t>
            </a:r>
          </a:p>
        </p:txBody>
      </p:sp>
      <p:sp>
        <p:nvSpPr>
          <p:cNvPr id="75" name="tv-安徽"/>
          <p:cNvSpPr txBox="1"/>
          <p:nvPr/>
        </p:nvSpPr>
        <p:spPr>
          <a:xfrm>
            <a:off x="3946462" y="4144708"/>
            <a:ext cx="2350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1B5AA8">
                    <a:alpha val="80000"/>
                  </a:srgbClr>
                </a:solidFill>
                <a:latin typeface="Arial"/>
                <a:ea typeface="Arial"/>
                <a:cs typeface="Arial"/>
              </a:rPr>
              <a:t>142</a:t>
            </a:r>
          </a:p>
        </p:txBody>
      </p:sp>
      <p:sp>
        <p:nvSpPr>
          <p:cNvPr id="76" name="t-江苏"/>
          <p:cNvSpPr/>
          <p:nvPr/>
        </p:nvSpPr>
        <p:spPr>
          <a:xfrm>
            <a:off x="4330700" y="39116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13449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tn-江苏"/>
          <p:cNvSpPr txBox="1"/>
          <p:nvPr/>
        </p:nvSpPr>
        <p:spPr>
          <a:xfrm>
            <a:off x="4411186" y="3988387"/>
            <a:ext cx="27082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江苏</a:t>
            </a:r>
          </a:p>
        </p:txBody>
      </p:sp>
      <p:sp>
        <p:nvSpPr>
          <p:cNvPr id="78" name="tv-江苏"/>
          <p:cNvSpPr txBox="1"/>
          <p:nvPr/>
        </p:nvSpPr>
        <p:spPr>
          <a:xfrm>
            <a:off x="4429062" y="4144708"/>
            <a:ext cx="2350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FFFFFF">
                    <a:alpha val="90000"/>
                  </a:srgbClr>
                </a:solidFill>
                <a:latin typeface="Arial"/>
                <a:ea typeface="Arial"/>
                <a:cs typeface="Arial"/>
              </a:rPr>
              <a:t>286</a:t>
            </a:r>
          </a:p>
        </p:txBody>
      </p:sp>
      <p:sp>
        <p:nvSpPr>
          <p:cNvPr id="79" name="t-上海"/>
          <p:cNvSpPr/>
          <p:nvPr/>
        </p:nvSpPr>
        <p:spPr>
          <a:xfrm>
            <a:off x="4813300" y="39116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1F4E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tn-上海"/>
          <p:cNvSpPr txBox="1"/>
          <p:nvPr/>
        </p:nvSpPr>
        <p:spPr>
          <a:xfrm>
            <a:off x="4893786" y="3988387"/>
            <a:ext cx="27082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上海</a:t>
            </a:r>
          </a:p>
        </p:txBody>
      </p:sp>
      <p:sp>
        <p:nvSpPr>
          <p:cNvPr id="81" name="tv-上海"/>
          <p:cNvSpPr txBox="1"/>
          <p:nvPr/>
        </p:nvSpPr>
        <p:spPr>
          <a:xfrm>
            <a:off x="4911662" y="4144708"/>
            <a:ext cx="2350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FFFFFF">
                    <a:alpha val="90000"/>
                  </a:srgbClr>
                </a:solidFill>
                <a:latin typeface="Arial"/>
                <a:ea typeface="Arial"/>
                <a:cs typeface="Arial"/>
              </a:rPr>
              <a:t>264</a:t>
            </a:r>
          </a:p>
        </p:txBody>
      </p:sp>
      <p:sp>
        <p:nvSpPr>
          <p:cNvPr id="82" name="t-广西"/>
          <p:cNvSpPr/>
          <p:nvPr/>
        </p:nvSpPr>
        <p:spPr>
          <a:xfrm>
            <a:off x="2882900" y="43942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8CA8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tn-广西"/>
          <p:cNvSpPr txBox="1"/>
          <p:nvPr/>
        </p:nvSpPr>
        <p:spPr>
          <a:xfrm>
            <a:off x="2963386" y="4470987"/>
            <a:ext cx="27082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广西</a:t>
            </a:r>
          </a:p>
        </p:txBody>
      </p:sp>
      <p:sp>
        <p:nvSpPr>
          <p:cNvPr id="84" name="tv-广西"/>
          <p:cNvSpPr txBox="1"/>
          <p:nvPr/>
        </p:nvSpPr>
        <p:spPr>
          <a:xfrm>
            <a:off x="3007106" y="4627308"/>
            <a:ext cx="18338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1B5AA8">
                    <a:alpha val="80000"/>
                  </a:srgbClr>
                </a:solidFill>
                <a:latin typeface="Arial"/>
                <a:ea typeface="Arial"/>
                <a:cs typeface="Arial"/>
              </a:rPr>
              <a:t>84</a:t>
            </a:r>
          </a:p>
        </p:txBody>
      </p:sp>
      <p:sp>
        <p:nvSpPr>
          <p:cNvPr id="85" name="t-湖南"/>
          <p:cNvSpPr/>
          <p:nvPr/>
        </p:nvSpPr>
        <p:spPr>
          <a:xfrm>
            <a:off x="3365500" y="43942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688BB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tn-湖南"/>
          <p:cNvSpPr txBox="1"/>
          <p:nvPr/>
        </p:nvSpPr>
        <p:spPr>
          <a:xfrm>
            <a:off x="3445986" y="4470987"/>
            <a:ext cx="27082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湖南</a:t>
            </a:r>
          </a:p>
        </p:txBody>
      </p:sp>
      <p:sp>
        <p:nvSpPr>
          <p:cNvPr id="87" name="tv-湖南"/>
          <p:cNvSpPr txBox="1"/>
          <p:nvPr/>
        </p:nvSpPr>
        <p:spPr>
          <a:xfrm>
            <a:off x="3463862" y="4627308"/>
            <a:ext cx="2350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1B5AA8">
                    <a:alpha val="80000"/>
                  </a:srgbClr>
                </a:solidFill>
                <a:latin typeface="Arial"/>
                <a:ea typeface="Arial"/>
                <a:cs typeface="Arial"/>
              </a:rPr>
              <a:t>138</a:t>
            </a:r>
          </a:p>
        </p:txBody>
      </p:sp>
      <p:sp>
        <p:nvSpPr>
          <p:cNvPr id="88" name="t-江西"/>
          <p:cNvSpPr/>
          <p:nvPr/>
        </p:nvSpPr>
        <p:spPr>
          <a:xfrm>
            <a:off x="3848100" y="43942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7D9CC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tn-江西"/>
          <p:cNvSpPr txBox="1"/>
          <p:nvPr/>
        </p:nvSpPr>
        <p:spPr>
          <a:xfrm>
            <a:off x="3928586" y="4470987"/>
            <a:ext cx="27082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江西</a:t>
            </a:r>
          </a:p>
        </p:txBody>
      </p:sp>
      <p:sp>
        <p:nvSpPr>
          <p:cNvPr id="90" name="tv-江西"/>
          <p:cNvSpPr txBox="1"/>
          <p:nvPr/>
        </p:nvSpPr>
        <p:spPr>
          <a:xfrm>
            <a:off x="3946462" y="4627308"/>
            <a:ext cx="2350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1B5AA8">
                    <a:alpha val="80000"/>
                  </a:srgbClr>
                </a:solidFill>
                <a:latin typeface="Arial"/>
                <a:ea typeface="Arial"/>
                <a:cs typeface="Arial"/>
              </a:rPr>
              <a:t>106</a:t>
            </a:r>
          </a:p>
        </p:txBody>
      </p:sp>
      <p:sp>
        <p:nvSpPr>
          <p:cNvPr id="91" name="t-浙江"/>
          <p:cNvSpPr/>
          <p:nvPr/>
        </p:nvSpPr>
        <p:spPr>
          <a:xfrm>
            <a:off x="4330700" y="43942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2554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tn-浙江"/>
          <p:cNvSpPr txBox="1"/>
          <p:nvPr/>
        </p:nvSpPr>
        <p:spPr>
          <a:xfrm>
            <a:off x="4411186" y="4470987"/>
            <a:ext cx="27082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浙江</a:t>
            </a:r>
          </a:p>
        </p:txBody>
      </p:sp>
      <p:sp>
        <p:nvSpPr>
          <p:cNvPr id="93" name="tv-浙江"/>
          <p:cNvSpPr txBox="1"/>
          <p:nvPr/>
        </p:nvSpPr>
        <p:spPr>
          <a:xfrm>
            <a:off x="4429062" y="4627308"/>
            <a:ext cx="2350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FFFFFF">
                    <a:alpha val="90000"/>
                  </a:srgbClr>
                </a:solidFill>
                <a:latin typeface="Arial"/>
                <a:ea typeface="Arial"/>
                <a:cs typeface="Arial"/>
              </a:rPr>
              <a:t>252</a:t>
            </a:r>
          </a:p>
        </p:txBody>
      </p:sp>
      <p:sp>
        <p:nvSpPr>
          <p:cNvPr id="94" name="t-海南"/>
          <p:cNvSpPr/>
          <p:nvPr/>
        </p:nvSpPr>
        <p:spPr>
          <a:xfrm>
            <a:off x="2882900" y="48768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B3C8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tn-海南"/>
          <p:cNvSpPr txBox="1"/>
          <p:nvPr/>
        </p:nvSpPr>
        <p:spPr>
          <a:xfrm>
            <a:off x="2963386" y="4953587"/>
            <a:ext cx="27082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海南</a:t>
            </a:r>
          </a:p>
        </p:txBody>
      </p:sp>
      <p:sp>
        <p:nvSpPr>
          <p:cNvPr id="96" name="tv-海南"/>
          <p:cNvSpPr txBox="1"/>
          <p:nvPr/>
        </p:nvSpPr>
        <p:spPr>
          <a:xfrm>
            <a:off x="3007106" y="5109908"/>
            <a:ext cx="18338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1B5AA8">
                    <a:alpha val="80000"/>
                  </a:srgbClr>
                </a:solidFill>
                <a:latin typeface="Arial"/>
                <a:ea typeface="Arial"/>
                <a:cs typeface="Arial"/>
              </a:rPr>
              <a:t>32</a:t>
            </a:r>
          </a:p>
        </p:txBody>
      </p:sp>
      <p:sp>
        <p:nvSpPr>
          <p:cNvPr id="97" name="t-广东"/>
          <p:cNvSpPr/>
          <p:nvPr/>
        </p:nvSpPr>
        <p:spPr>
          <a:xfrm>
            <a:off x="3365500" y="48768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0D409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tn-广东"/>
          <p:cNvSpPr txBox="1"/>
          <p:nvPr/>
        </p:nvSpPr>
        <p:spPr>
          <a:xfrm>
            <a:off x="3445986" y="4953587"/>
            <a:ext cx="27082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广东</a:t>
            </a:r>
          </a:p>
        </p:txBody>
      </p:sp>
      <p:sp>
        <p:nvSpPr>
          <p:cNvPr id="99" name="tv-广东"/>
          <p:cNvSpPr txBox="1"/>
          <p:nvPr/>
        </p:nvSpPr>
        <p:spPr>
          <a:xfrm>
            <a:off x="3463862" y="5109908"/>
            <a:ext cx="2350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FFFFFF">
                    <a:alpha val="90000"/>
                  </a:srgbClr>
                </a:solidFill>
                <a:latin typeface="Arial"/>
                <a:ea typeface="Arial"/>
                <a:cs typeface="Arial"/>
              </a:rPr>
              <a:t>296</a:t>
            </a:r>
          </a:p>
        </p:txBody>
      </p:sp>
      <p:sp>
        <p:nvSpPr>
          <p:cNvPr id="100" name="t-福建"/>
          <p:cNvSpPr/>
          <p:nvPr/>
        </p:nvSpPr>
        <p:spPr>
          <a:xfrm>
            <a:off x="3848100" y="48768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5C81B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tn-福建"/>
          <p:cNvSpPr txBox="1"/>
          <p:nvPr/>
        </p:nvSpPr>
        <p:spPr>
          <a:xfrm>
            <a:off x="3928586" y="4953587"/>
            <a:ext cx="27082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1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福建</a:t>
            </a:r>
          </a:p>
        </p:txBody>
      </p:sp>
      <p:sp>
        <p:nvSpPr>
          <p:cNvPr id="102" name="tv-福建"/>
          <p:cNvSpPr txBox="1"/>
          <p:nvPr/>
        </p:nvSpPr>
        <p:spPr>
          <a:xfrm>
            <a:off x="3946462" y="5109908"/>
            <a:ext cx="2350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5">
                <a:solidFill>
                  <a:srgbClr val="FFFFFF">
                    <a:alpha val="90000"/>
                  </a:srgbClr>
                </a:solidFill>
                <a:latin typeface="Arial"/>
                <a:ea typeface="Arial"/>
                <a:cs typeface="Arial"/>
              </a:rPr>
              <a:t>158</a:t>
            </a:r>
          </a:p>
        </p:txBody>
      </p:sp>
      <p:sp>
        <p:nvSpPr>
          <p:cNvPr id="103" name="t-台湾"/>
          <p:cNvSpPr/>
          <p:nvPr/>
        </p:nvSpPr>
        <p:spPr>
          <a:xfrm>
            <a:off x="4330700" y="48768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E7EDF6"/>
          </a:solidFill>
          <a:ln w="6350" cap="rnd">
            <a:solidFill>
              <a:srgbClr val="1B5AA8">
                <a:alpha val="18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4" name="tn-台湾"/>
          <p:cNvSpPr txBox="1"/>
          <p:nvPr/>
        </p:nvSpPr>
        <p:spPr>
          <a:xfrm>
            <a:off x="4415790" y="5021008"/>
            <a:ext cx="26162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A9BBD0"/>
                </a:solidFill>
                <a:latin typeface="微软雅黑"/>
                <a:ea typeface="微软雅黑"/>
                <a:cs typeface="微软雅黑"/>
              </a:rPr>
              <a:t>台湾</a:t>
            </a:r>
          </a:p>
        </p:txBody>
      </p:sp>
      <p:sp>
        <p:nvSpPr>
          <p:cNvPr id="105" name="t-香港"/>
          <p:cNvSpPr/>
          <p:nvPr/>
        </p:nvSpPr>
        <p:spPr>
          <a:xfrm>
            <a:off x="4330700" y="53594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E7EDF6"/>
          </a:solidFill>
          <a:ln w="6350" cap="rnd">
            <a:solidFill>
              <a:srgbClr val="1B5AA8">
                <a:alpha val="18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6" name="tn-香港"/>
          <p:cNvSpPr txBox="1"/>
          <p:nvPr/>
        </p:nvSpPr>
        <p:spPr>
          <a:xfrm>
            <a:off x="4415790" y="5503608"/>
            <a:ext cx="26162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A9BBD0"/>
                </a:solidFill>
                <a:latin typeface="微软雅黑"/>
                <a:ea typeface="微软雅黑"/>
                <a:cs typeface="微软雅黑"/>
              </a:rPr>
              <a:t>香港</a:t>
            </a:r>
          </a:p>
        </p:txBody>
      </p:sp>
      <p:sp>
        <p:nvSpPr>
          <p:cNvPr id="107" name="t-澳门"/>
          <p:cNvSpPr/>
          <p:nvPr/>
        </p:nvSpPr>
        <p:spPr>
          <a:xfrm>
            <a:off x="3848100" y="5359400"/>
            <a:ext cx="431800" cy="431800"/>
          </a:xfrm>
          <a:custGeom>
            <a:avLst/>
            <a:gdLst/>
            <a:ahLst/>
            <a:cxnLst/>
            <a:rect l="0" t="0" r="r" b="b"/>
            <a:pathLst>
              <a:path w="431800" h="431800">
                <a:moveTo>
                  <a:pt x="76200" y="0"/>
                </a:moveTo>
                <a:lnTo>
                  <a:pt x="355600" y="0"/>
                </a:lnTo>
                <a:cubicBezTo>
                  <a:pt x="397700" y="0"/>
                  <a:pt x="431800" y="34100"/>
                  <a:pt x="431800" y="76200"/>
                </a:cubicBezTo>
                <a:lnTo>
                  <a:pt x="431800" y="355600"/>
                </a:lnTo>
                <a:cubicBezTo>
                  <a:pt x="431800" y="397700"/>
                  <a:pt x="397700" y="431800"/>
                  <a:pt x="3556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E7EDF6"/>
          </a:solidFill>
          <a:ln w="6350" cap="rnd">
            <a:solidFill>
              <a:srgbClr val="1B5AA8">
                <a:alpha val="18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8" name="tn-澳门"/>
          <p:cNvSpPr txBox="1"/>
          <p:nvPr/>
        </p:nvSpPr>
        <p:spPr>
          <a:xfrm>
            <a:off x="3933190" y="5503608"/>
            <a:ext cx="26162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15">
                <a:solidFill>
                  <a:srgbClr val="A9BBD0"/>
                </a:solidFill>
                <a:latin typeface="微软雅黑"/>
                <a:ea typeface="微软雅黑"/>
                <a:cs typeface="微软雅黑"/>
              </a:rPr>
              <a:t>澳门</a:t>
            </a:r>
          </a:p>
        </p:txBody>
      </p:sp>
      <p:sp>
        <p:nvSpPr>
          <p:cNvPr id="109" name="lg-h"/>
          <p:cNvSpPr txBox="1"/>
          <p:nvPr/>
        </p:nvSpPr>
        <p:spPr>
          <a:xfrm>
            <a:off x="1424051" y="5906087"/>
            <a:ext cx="780733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6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营收（百万元）</a:t>
            </a:r>
          </a:p>
        </p:txBody>
      </p:sp>
      <p:sp>
        <p:nvSpPr>
          <p:cNvPr id="110" name="lg-1"/>
          <p:cNvSpPr/>
          <p:nvPr/>
        </p:nvSpPr>
        <p:spPr>
          <a:xfrm>
            <a:off x="2387600" y="5892800"/>
            <a:ext cx="254000" cy="152400"/>
          </a:xfrm>
          <a:custGeom>
            <a:avLst/>
            <a:gdLst/>
            <a:ahLst/>
            <a:cxnLst/>
            <a:rect l="0" t="0" r="r" b="b"/>
            <a:pathLst>
              <a:path w="254000" h="152400">
                <a:moveTo>
                  <a:pt x="50800" y="0"/>
                </a:moveTo>
                <a:lnTo>
                  <a:pt x="203200" y="0"/>
                </a:lnTo>
                <a:cubicBezTo>
                  <a:pt x="231267" y="0"/>
                  <a:pt x="254000" y="22733"/>
                  <a:pt x="254000" y="50800"/>
                </a:cubicBezTo>
                <a:lnTo>
                  <a:pt x="254000" y="101600"/>
                </a:lnTo>
                <a:cubicBezTo>
                  <a:pt x="254000" y="129667"/>
                  <a:pt x="231267" y="152400"/>
                  <a:pt x="203200" y="152400"/>
                </a:cubicBezTo>
                <a:lnTo>
                  <a:pt x="50800" y="152400"/>
                </a:lnTo>
                <a:cubicBezTo>
                  <a:pt x="22733" y="152400"/>
                  <a:pt x="0" y="129667"/>
                  <a:pt x="0" y="1016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D5E4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1" name="lg-2"/>
          <p:cNvSpPr/>
          <p:nvPr/>
        </p:nvSpPr>
        <p:spPr>
          <a:xfrm>
            <a:off x="2667000" y="5892800"/>
            <a:ext cx="254000" cy="152400"/>
          </a:xfrm>
          <a:custGeom>
            <a:avLst/>
            <a:gdLst/>
            <a:ahLst/>
            <a:cxnLst/>
            <a:rect l="0" t="0" r="r" b="b"/>
            <a:pathLst>
              <a:path w="254000" h="152400">
                <a:moveTo>
                  <a:pt x="50800" y="0"/>
                </a:moveTo>
                <a:lnTo>
                  <a:pt x="203200" y="0"/>
                </a:lnTo>
                <a:cubicBezTo>
                  <a:pt x="231267" y="0"/>
                  <a:pt x="254000" y="22733"/>
                  <a:pt x="254000" y="50800"/>
                </a:cubicBezTo>
                <a:lnTo>
                  <a:pt x="254000" y="101600"/>
                </a:lnTo>
                <a:cubicBezTo>
                  <a:pt x="254000" y="129667"/>
                  <a:pt x="231267" y="152400"/>
                  <a:pt x="203200" y="152400"/>
                </a:cubicBezTo>
                <a:lnTo>
                  <a:pt x="50800" y="152400"/>
                </a:lnTo>
                <a:cubicBezTo>
                  <a:pt x="22733" y="152400"/>
                  <a:pt x="0" y="129667"/>
                  <a:pt x="0" y="1016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A5BC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2" name="lg-3"/>
          <p:cNvSpPr/>
          <p:nvPr/>
        </p:nvSpPr>
        <p:spPr>
          <a:xfrm>
            <a:off x="2946400" y="5892800"/>
            <a:ext cx="254000" cy="152400"/>
          </a:xfrm>
          <a:custGeom>
            <a:avLst/>
            <a:gdLst/>
            <a:ahLst/>
            <a:cxnLst/>
            <a:rect l="0" t="0" r="r" b="b"/>
            <a:pathLst>
              <a:path w="254000" h="152400">
                <a:moveTo>
                  <a:pt x="50800" y="0"/>
                </a:moveTo>
                <a:lnTo>
                  <a:pt x="203200" y="0"/>
                </a:lnTo>
                <a:cubicBezTo>
                  <a:pt x="231267" y="0"/>
                  <a:pt x="254000" y="22733"/>
                  <a:pt x="254000" y="50800"/>
                </a:cubicBezTo>
                <a:lnTo>
                  <a:pt x="254000" y="101600"/>
                </a:lnTo>
                <a:cubicBezTo>
                  <a:pt x="254000" y="129667"/>
                  <a:pt x="231267" y="152400"/>
                  <a:pt x="203200" y="152400"/>
                </a:cubicBezTo>
                <a:lnTo>
                  <a:pt x="50800" y="152400"/>
                </a:lnTo>
                <a:cubicBezTo>
                  <a:pt x="22733" y="152400"/>
                  <a:pt x="0" y="129667"/>
                  <a:pt x="0" y="1016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819F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3" name="lg-4"/>
          <p:cNvSpPr/>
          <p:nvPr/>
        </p:nvSpPr>
        <p:spPr>
          <a:xfrm>
            <a:off x="3225800" y="5892800"/>
            <a:ext cx="254000" cy="152400"/>
          </a:xfrm>
          <a:custGeom>
            <a:avLst/>
            <a:gdLst/>
            <a:ahLst/>
            <a:cxnLst/>
            <a:rect l="0" t="0" r="r" b="b"/>
            <a:pathLst>
              <a:path w="254000" h="152400">
                <a:moveTo>
                  <a:pt x="50800" y="0"/>
                </a:moveTo>
                <a:lnTo>
                  <a:pt x="203200" y="0"/>
                </a:lnTo>
                <a:cubicBezTo>
                  <a:pt x="231267" y="0"/>
                  <a:pt x="254000" y="22733"/>
                  <a:pt x="254000" y="50800"/>
                </a:cubicBezTo>
                <a:lnTo>
                  <a:pt x="254000" y="101600"/>
                </a:lnTo>
                <a:cubicBezTo>
                  <a:pt x="254000" y="129667"/>
                  <a:pt x="231267" y="152400"/>
                  <a:pt x="203200" y="152400"/>
                </a:cubicBezTo>
                <a:lnTo>
                  <a:pt x="50800" y="152400"/>
                </a:lnTo>
                <a:cubicBezTo>
                  <a:pt x="22733" y="152400"/>
                  <a:pt x="0" y="129667"/>
                  <a:pt x="0" y="1016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6185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4" name="lg-5"/>
          <p:cNvSpPr/>
          <p:nvPr/>
        </p:nvSpPr>
        <p:spPr>
          <a:xfrm>
            <a:off x="3505200" y="5892800"/>
            <a:ext cx="254000" cy="152400"/>
          </a:xfrm>
          <a:custGeom>
            <a:avLst/>
            <a:gdLst/>
            <a:ahLst/>
            <a:cxnLst/>
            <a:rect l="0" t="0" r="r" b="b"/>
            <a:pathLst>
              <a:path w="254000" h="152400">
                <a:moveTo>
                  <a:pt x="50800" y="0"/>
                </a:moveTo>
                <a:lnTo>
                  <a:pt x="203200" y="0"/>
                </a:lnTo>
                <a:cubicBezTo>
                  <a:pt x="231267" y="0"/>
                  <a:pt x="254000" y="22733"/>
                  <a:pt x="254000" y="50800"/>
                </a:cubicBezTo>
                <a:lnTo>
                  <a:pt x="254000" y="101600"/>
                </a:lnTo>
                <a:cubicBezTo>
                  <a:pt x="254000" y="129667"/>
                  <a:pt x="231267" y="152400"/>
                  <a:pt x="203200" y="152400"/>
                </a:cubicBezTo>
                <a:lnTo>
                  <a:pt x="50800" y="152400"/>
                </a:lnTo>
                <a:cubicBezTo>
                  <a:pt x="22733" y="152400"/>
                  <a:pt x="0" y="129667"/>
                  <a:pt x="0" y="1016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436CA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5" name="lg-6"/>
          <p:cNvSpPr/>
          <p:nvPr/>
        </p:nvSpPr>
        <p:spPr>
          <a:xfrm>
            <a:off x="3784600" y="5892800"/>
            <a:ext cx="254000" cy="152400"/>
          </a:xfrm>
          <a:custGeom>
            <a:avLst/>
            <a:gdLst/>
            <a:ahLst/>
            <a:cxnLst/>
            <a:rect l="0" t="0" r="r" b="b"/>
            <a:pathLst>
              <a:path w="254000" h="152400">
                <a:moveTo>
                  <a:pt x="50800" y="0"/>
                </a:moveTo>
                <a:lnTo>
                  <a:pt x="203200" y="0"/>
                </a:lnTo>
                <a:cubicBezTo>
                  <a:pt x="231267" y="0"/>
                  <a:pt x="254000" y="22733"/>
                  <a:pt x="254000" y="50800"/>
                </a:cubicBezTo>
                <a:lnTo>
                  <a:pt x="254000" y="101600"/>
                </a:lnTo>
                <a:cubicBezTo>
                  <a:pt x="254000" y="129667"/>
                  <a:pt x="231267" y="152400"/>
                  <a:pt x="203200" y="152400"/>
                </a:cubicBezTo>
                <a:lnTo>
                  <a:pt x="50800" y="152400"/>
                </a:lnTo>
                <a:cubicBezTo>
                  <a:pt x="22733" y="152400"/>
                  <a:pt x="0" y="129667"/>
                  <a:pt x="0" y="1016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26559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6" name="lg-7"/>
          <p:cNvSpPr/>
          <p:nvPr/>
        </p:nvSpPr>
        <p:spPr>
          <a:xfrm>
            <a:off x="4064000" y="5892800"/>
            <a:ext cx="254000" cy="152400"/>
          </a:xfrm>
          <a:custGeom>
            <a:avLst/>
            <a:gdLst/>
            <a:ahLst/>
            <a:cxnLst/>
            <a:rect l="0" t="0" r="r" b="b"/>
            <a:pathLst>
              <a:path w="254000" h="152400">
                <a:moveTo>
                  <a:pt x="50800" y="0"/>
                </a:moveTo>
                <a:lnTo>
                  <a:pt x="203200" y="0"/>
                </a:lnTo>
                <a:cubicBezTo>
                  <a:pt x="231267" y="0"/>
                  <a:pt x="254000" y="22733"/>
                  <a:pt x="254000" y="50800"/>
                </a:cubicBezTo>
                <a:lnTo>
                  <a:pt x="254000" y="101600"/>
                </a:lnTo>
                <a:cubicBezTo>
                  <a:pt x="254000" y="129667"/>
                  <a:pt x="231267" y="152400"/>
                  <a:pt x="203200" y="152400"/>
                </a:cubicBezTo>
                <a:lnTo>
                  <a:pt x="50800" y="152400"/>
                </a:lnTo>
                <a:cubicBezTo>
                  <a:pt x="22733" y="152400"/>
                  <a:pt x="0" y="129667"/>
                  <a:pt x="0" y="1016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7" name="lg-min"/>
          <p:cNvSpPr txBox="1"/>
          <p:nvPr/>
        </p:nvSpPr>
        <p:spPr>
          <a:xfrm>
            <a:off x="2376932" y="61005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0</a:t>
            </a:r>
          </a:p>
        </p:txBody>
      </p:sp>
      <p:sp>
        <p:nvSpPr>
          <p:cNvPr id="118" name="lg-max"/>
          <p:cNvSpPr txBox="1"/>
          <p:nvPr/>
        </p:nvSpPr>
        <p:spPr>
          <a:xfrm>
            <a:off x="4049522" y="6100508"/>
            <a:ext cx="2791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300+</a:t>
            </a:r>
          </a:p>
        </p:txBody>
      </p:sp>
      <p:sp>
        <p:nvSpPr>
          <p:cNvPr id="119" name="lg-none"/>
          <p:cNvSpPr/>
          <p:nvPr/>
        </p:nvSpPr>
        <p:spPr>
          <a:xfrm>
            <a:off x="4419600" y="5892800"/>
            <a:ext cx="254000" cy="152400"/>
          </a:xfrm>
          <a:custGeom>
            <a:avLst/>
            <a:gdLst/>
            <a:ahLst/>
            <a:cxnLst/>
            <a:rect l="0" t="0" r="r" b="b"/>
            <a:pathLst>
              <a:path w="254000" h="152400">
                <a:moveTo>
                  <a:pt x="50800" y="0"/>
                </a:moveTo>
                <a:lnTo>
                  <a:pt x="203200" y="0"/>
                </a:lnTo>
                <a:cubicBezTo>
                  <a:pt x="231267" y="0"/>
                  <a:pt x="254000" y="22733"/>
                  <a:pt x="254000" y="50800"/>
                </a:cubicBezTo>
                <a:lnTo>
                  <a:pt x="254000" y="101600"/>
                </a:lnTo>
                <a:cubicBezTo>
                  <a:pt x="254000" y="129667"/>
                  <a:pt x="231267" y="152400"/>
                  <a:pt x="203200" y="152400"/>
                </a:cubicBezTo>
                <a:lnTo>
                  <a:pt x="50800" y="152400"/>
                </a:lnTo>
                <a:cubicBezTo>
                  <a:pt x="22733" y="152400"/>
                  <a:pt x="0" y="129667"/>
                  <a:pt x="0" y="1016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E7EDF6"/>
          </a:solidFill>
          <a:ln w="6350" cap="rnd">
            <a:solidFill>
              <a:srgbClr val="1B5AA8">
                <a:alpha val="18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0" name="lg-nonet"/>
          <p:cNvSpPr txBox="1"/>
          <p:nvPr/>
        </p:nvSpPr>
        <p:spPr>
          <a:xfrm>
            <a:off x="4738751" y="5906087"/>
            <a:ext cx="65055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暂未开展业务</a:t>
            </a:r>
          </a:p>
        </p:txBody>
      </p:sp>
      <p:sp>
        <p:nvSpPr>
          <p:cNvPr id="121" name="side-bar"/>
          <p:cNvSpPr/>
          <p:nvPr/>
        </p:nvSpPr>
        <p:spPr>
          <a:xfrm>
            <a:off x="6350000" y="15875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2" name="side-h"/>
          <p:cNvSpPr txBox="1"/>
          <p:nvPr/>
        </p:nvSpPr>
        <p:spPr>
          <a:xfrm>
            <a:off x="6508750" y="1594644"/>
            <a:ext cx="14382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省级市场 TOP 8</a:t>
            </a:r>
          </a:p>
        </p:txBody>
      </p:sp>
      <p:sp>
        <p:nvSpPr>
          <p:cNvPr id="123" name="side-p"/>
          <p:cNvSpPr txBox="1"/>
          <p:nvPr/>
        </p:nvSpPr>
        <p:spPr>
          <a:xfrm>
            <a:off x="6514465" y="1869361"/>
            <a:ext cx="146399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按本年营收排序（百万元）</a:t>
            </a:r>
          </a:p>
        </p:txBody>
      </p:sp>
      <p:sp>
        <p:nvSpPr>
          <p:cNvPr id="124" name="rk-1"/>
          <p:cNvSpPr/>
          <p:nvPr/>
        </p:nvSpPr>
        <p:spPr>
          <a:xfrm>
            <a:off x="6388100" y="2324100"/>
            <a:ext cx="228600" cy="228600"/>
          </a:xfrm>
          <a:prstGeom prst="ellipse">
            <a:avLst/>
          </a:pr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5" name="rkt-1"/>
          <p:cNvSpPr txBox="1"/>
          <p:nvPr/>
        </p:nvSpPr>
        <p:spPr>
          <a:xfrm>
            <a:off x="6432868" y="236521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126" name="rn-1"/>
          <p:cNvSpPr txBox="1"/>
          <p:nvPr/>
        </p:nvSpPr>
        <p:spPr>
          <a:xfrm>
            <a:off x="6691122" y="2333847"/>
            <a:ext cx="36004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广东</a:t>
            </a:r>
          </a:p>
        </p:txBody>
      </p:sp>
      <p:sp>
        <p:nvSpPr>
          <p:cNvPr id="127" name="rbg-1"/>
          <p:cNvSpPr/>
          <p:nvPr/>
        </p:nvSpPr>
        <p:spPr>
          <a:xfrm>
            <a:off x="7556500" y="2374900"/>
            <a:ext cx="2413000" cy="127000"/>
          </a:xfrm>
          <a:prstGeom prst="roundRect">
            <a:avLst>
              <a:gd name="adj" fmla="val 50000"/>
            </a:avLst>
          </a:pr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8" name="rbar-1"/>
          <p:cNvSpPr/>
          <p:nvPr/>
        </p:nvSpPr>
        <p:spPr>
          <a:xfrm>
            <a:off x="7556500" y="2374900"/>
            <a:ext cx="2413000" cy="127000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4168A8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9" name="rv-1"/>
          <p:cNvSpPr txBox="1"/>
          <p:nvPr/>
        </p:nvSpPr>
        <p:spPr>
          <a:xfrm>
            <a:off x="10111486" y="2340197"/>
            <a:ext cx="316992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296</a:t>
            </a:r>
          </a:p>
        </p:txBody>
      </p:sp>
      <p:cxnSp>
        <p:nvCxnSpPr>
          <p:cNvPr id="130" name="rl-1"/>
          <p:cNvCxnSpPr/>
          <p:nvPr/>
        </p:nvCxnSpPr>
        <p:spPr>
          <a:xfrm>
            <a:off x="6705600" y="2641600"/>
            <a:ext cx="37084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rk-2"/>
          <p:cNvSpPr/>
          <p:nvPr/>
        </p:nvSpPr>
        <p:spPr>
          <a:xfrm>
            <a:off x="6388100" y="2794000"/>
            <a:ext cx="228600" cy="228600"/>
          </a:xfrm>
          <a:prstGeom prst="ellipse">
            <a:avLst/>
          </a:prstGeom>
          <a:solidFill>
            <a:srgbClr val="134C9C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2" name="rkt-2"/>
          <p:cNvSpPr txBox="1"/>
          <p:nvPr/>
        </p:nvSpPr>
        <p:spPr>
          <a:xfrm>
            <a:off x="6432868" y="283511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133" name="rn-2"/>
          <p:cNvSpPr txBox="1"/>
          <p:nvPr/>
        </p:nvSpPr>
        <p:spPr>
          <a:xfrm>
            <a:off x="6691122" y="2803747"/>
            <a:ext cx="36004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江苏</a:t>
            </a:r>
          </a:p>
        </p:txBody>
      </p:sp>
      <p:sp>
        <p:nvSpPr>
          <p:cNvPr id="134" name="rbg-2"/>
          <p:cNvSpPr/>
          <p:nvPr/>
        </p:nvSpPr>
        <p:spPr>
          <a:xfrm>
            <a:off x="7556500" y="2844800"/>
            <a:ext cx="2413000" cy="127000"/>
          </a:xfrm>
          <a:prstGeom prst="roundRect">
            <a:avLst>
              <a:gd name="adj" fmla="val 50000"/>
            </a:avLst>
          </a:pr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5" name="rbar-2"/>
          <p:cNvSpPr/>
          <p:nvPr/>
        </p:nvSpPr>
        <p:spPr>
          <a:xfrm>
            <a:off x="7556500" y="2844800"/>
            <a:ext cx="2331480" cy="127000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4773B2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6" name="rv-2"/>
          <p:cNvSpPr txBox="1"/>
          <p:nvPr/>
        </p:nvSpPr>
        <p:spPr>
          <a:xfrm>
            <a:off x="10111486" y="2810097"/>
            <a:ext cx="316992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286</a:t>
            </a:r>
          </a:p>
        </p:txBody>
      </p:sp>
      <p:cxnSp>
        <p:nvCxnSpPr>
          <p:cNvPr id="137" name="rl-2"/>
          <p:cNvCxnSpPr/>
          <p:nvPr/>
        </p:nvCxnSpPr>
        <p:spPr>
          <a:xfrm>
            <a:off x="6705600" y="3111500"/>
            <a:ext cx="37084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rk-3"/>
          <p:cNvSpPr/>
          <p:nvPr/>
        </p:nvSpPr>
        <p:spPr>
          <a:xfrm>
            <a:off x="6388100" y="3263900"/>
            <a:ext cx="228600" cy="228600"/>
          </a:xfrm>
          <a:prstGeom prst="ellipse">
            <a:avLst/>
          </a:pr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9" name="rkt-3"/>
          <p:cNvSpPr txBox="1"/>
          <p:nvPr/>
        </p:nvSpPr>
        <p:spPr>
          <a:xfrm>
            <a:off x="6432868" y="330501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1B5AA8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140" name="rn-3"/>
          <p:cNvSpPr txBox="1"/>
          <p:nvPr/>
        </p:nvSpPr>
        <p:spPr>
          <a:xfrm>
            <a:off x="6691122" y="3273647"/>
            <a:ext cx="36004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北京</a:t>
            </a:r>
          </a:p>
        </p:txBody>
      </p:sp>
      <p:sp>
        <p:nvSpPr>
          <p:cNvPr id="141" name="rbg-3"/>
          <p:cNvSpPr/>
          <p:nvPr/>
        </p:nvSpPr>
        <p:spPr>
          <a:xfrm>
            <a:off x="7556500" y="3314700"/>
            <a:ext cx="2413000" cy="127000"/>
          </a:xfrm>
          <a:prstGeom prst="roundRect">
            <a:avLst>
              <a:gd name="adj" fmla="val 50000"/>
            </a:avLst>
          </a:pr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2" name="rbar-3"/>
          <p:cNvSpPr/>
          <p:nvPr/>
        </p:nvSpPr>
        <p:spPr>
          <a:xfrm>
            <a:off x="7556500" y="3314700"/>
            <a:ext cx="2184743" cy="127000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4D7EBB"/>
              </a:gs>
              <a:gs pos="100000">
                <a:srgbClr val="1B5AA8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3" name="rv-3"/>
          <p:cNvSpPr txBox="1"/>
          <p:nvPr/>
        </p:nvSpPr>
        <p:spPr>
          <a:xfrm>
            <a:off x="10111486" y="3279997"/>
            <a:ext cx="316992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268</a:t>
            </a:r>
          </a:p>
        </p:txBody>
      </p:sp>
      <p:cxnSp>
        <p:nvCxnSpPr>
          <p:cNvPr id="144" name="rl-3"/>
          <p:cNvCxnSpPr/>
          <p:nvPr/>
        </p:nvCxnSpPr>
        <p:spPr>
          <a:xfrm>
            <a:off x="6705600" y="3581400"/>
            <a:ext cx="37084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5" name="rk-4"/>
          <p:cNvSpPr/>
          <p:nvPr/>
        </p:nvSpPr>
        <p:spPr>
          <a:xfrm>
            <a:off x="6388100" y="3733800"/>
            <a:ext cx="228600" cy="228600"/>
          </a:xfrm>
          <a:prstGeom prst="ellipse">
            <a:avLst/>
          </a:prstGeom>
          <a:solidFill>
            <a:srgbClr val="2468B6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6" name="rkt-4"/>
          <p:cNvSpPr txBox="1"/>
          <p:nvPr/>
        </p:nvSpPr>
        <p:spPr>
          <a:xfrm>
            <a:off x="6432868" y="377491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147" name="rn-4"/>
          <p:cNvSpPr txBox="1"/>
          <p:nvPr/>
        </p:nvSpPr>
        <p:spPr>
          <a:xfrm>
            <a:off x="6691122" y="3743547"/>
            <a:ext cx="36004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上海</a:t>
            </a:r>
          </a:p>
        </p:txBody>
      </p:sp>
      <p:sp>
        <p:nvSpPr>
          <p:cNvPr id="148" name="rbg-4"/>
          <p:cNvSpPr/>
          <p:nvPr/>
        </p:nvSpPr>
        <p:spPr>
          <a:xfrm>
            <a:off x="7556500" y="3784600"/>
            <a:ext cx="2413000" cy="127000"/>
          </a:xfrm>
          <a:prstGeom prst="roundRect">
            <a:avLst>
              <a:gd name="adj" fmla="val 50000"/>
            </a:avLst>
          </a:pr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9" name="rbar-4"/>
          <p:cNvSpPr/>
          <p:nvPr/>
        </p:nvSpPr>
        <p:spPr>
          <a:xfrm>
            <a:off x="7556500" y="3784600"/>
            <a:ext cx="2152135" cy="127000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5489C6"/>
              </a:gs>
              <a:gs pos="100000">
                <a:srgbClr val="2468B6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0" name="rv-4"/>
          <p:cNvSpPr txBox="1"/>
          <p:nvPr/>
        </p:nvSpPr>
        <p:spPr>
          <a:xfrm>
            <a:off x="10111486" y="3749897"/>
            <a:ext cx="316992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264</a:t>
            </a:r>
          </a:p>
        </p:txBody>
      </p:sp>
      <p:cxnSp>
        <p:nvCxnSpPr>
          <p:cNvPr id="151" name="rl-4"/>
          <p:cNvCxnSpPr/>
          <p:nvPr/>
        </p:nvCxnSpPr>
        <p:spPr>
          <a:xfrm>
            <a:off x="6705600" y="4051300"/>
            <a:ext cx="37084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" name="rk-5"/>
          <p:cNvSpPr/>
          <p:nvPr/>
        </p:nvSpPr>
        <p:spPr>
          <a:xfrm>
            <a:off x="6388100" y="4203700"/>
            <a:ext cx="228600" cy="228600"/>
          </a:xfrm>
          <a:prstGeom prst="ellipse">
            <a:avLst/>
          </a:pr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3" name="rkt-5"/>
          <p:cNvSpPr txBox="1"/>
          <p:nvPr/>
        </p:nvSpPr>
        <p:spPr>
          <a:xfrm>
            <a:off x="6432868" y="424481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  <p:sp>
        <p:nvSpPr>
          <p:cNvPr id="154" name="rn-5"/>
          <p:cNvSpPr txBox="1"/>
          <p:nvPr/>
        </p:nvSpPr>
        <p:spPr>
          <a:xfrm>
            <a:off x="6691122" y="4213447"/>
            <a:ext cx="36004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浙江</a:t>
            </a:r>
          </a:p>
        </p:txBody>
      </p:sp>
      <p:sp>
        <p:nvSpPr>
          <p:cNvPr id="155" name="rbg-5"/>
          <p:cNvSpPr/>
          <p:nvPr/>
        </p:nvSpPr>
        <p:spPr>
          <a:xfrm>
            <a:off x="7556500" y="4254500"/>
            <a:ext cx="2413000" cy="127000"/>
          </a:xfrm>
          <a:prstGeom prst="roundRect">
            <a:avLst>
              <a:gd name="adj" fmla="val 50000"/>
            </a:avLst>
          </a:pr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6" name="rbar-5"/>
          <p:cNvSpPr/>
          <p:nvPr/>
        </p:nvSpPr>
        <p:spPr>
          <a:xfrm>
            <a:off x="7556500" y="4254500"/>
            <a:ext cx="2054311" cy="127000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5C95CF"/>
              </a:gs>
              <a:gs pos="100000">
                <a:srgbClr val="2E77C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7" name="rv-5"/>
          <p:cNvSpPr txBox="1"/>
          <p:nvPr/>
        </p:nvSpPr>
        <p:spPr>
          <a:xfrm>
            <a:off x="10111486" y="4219797"/>
            <a:ext cx="316992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252</a:t>
            </a:r>
          </a:p>
        </p:txBody>
      </p:sp>
      <p:cxnSp>
        <p:nvCxnSpPr>
          <p:cNvPr id="158" name="rl-5"/>
          <p:cNvCxnSpPr/>
          <p:nvPr/>
        </p:nvCxnSpPr>
        <p:spPr>
          <a:xfrm>
            <a:off x="6705600" y="4521200"/>
            <a:ext cx="37084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9" name="rk-6"/>
          <p:cNvSpPr/>
          <p:nvPr/>
        </p:nvSpPr>
        <p:spPr>
          <a:xfrm>
            <a:off x="6388100" y="4673600"/>
            <a:ext cx="228600" cy="228600"/>
          </a:xfrm>
          <a:prstGeom prst="ellipse">
            <a:avLst/>
          </a:prstGeom>
          <a:solidFill>
            <a:srgbClr val="3985CD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0" name="rkt-6"/>
          <p:cNvSpPr txBox="1"/>
          <p:nvPr/>
        </p:nvSpPr>
        <p:spPr>
          <a:xfrm>
            <a:off x="6432868" y="471471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6</a:t>
            </a:r>
          </a:p>
        </p:txBody>
      </p:sp>
      <p:sp>
        <p:nvSpPr>
          <p:cNvPr id="161" name="rn-6"/>
          <p:cNvSpPr txBox="1"/>
          <p:nvPr/>
        </p:nvSpPr>
        <p:spPr>
          <a:xfrm>
            <a:off x="6691122" y="4683347"/>
            <a:ext cx="36004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山东</a:t>
            </a:r>
          </a:p>
        </p:txBody>
      </p:sp>
      <p:sp>
        <p:nvSpPr>
          <p:cNvPr id="162" name="rbg-6"/>
          <p:cNvSpPr/>
          <p:nvPr/>
        </p:nvSpPr>
        <p:spPr>
          <a:xfrm>
            <a:off x="7556500" y="4724400"/>
            <a:ext cx="2413000" cy="127000"/>
          </a:xfrm>
          <a:prstGeom prst="roundRect">
            <a:avLst>
              <a:gd name="adj" fmla="val 50000"/>
            </a:avLst>
          </a:pr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3" name="rbar-6"/>
          <p:cNvSpPr/>
          <p:nvPr/>
        </p:nvSpPr>
        <p:spPr>
          <a:xfrm>
            <a:off x="7556500" y="4724400"/>
            <a:ext cx="2021703" cy="127000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65A0D8"/>
              </a:gs>
              <a:gs pos="100000">
                <a:srgbClr val="3985CD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4" name="rv-6"/>
          <p:cNvSpPr txBox="1"/>
          <p:nvPr/>
        </p:nvSpPr>
        <p:spPr>
          <a:xfrm>
            <a:off x="10111486" y="4689697"/>
            <a:ext cx="316992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248</a:t>
            </a:r>
          </a:p>
        </p:txBody>
      </p:sp>
      <p:cxnSp>
        <p:nvCxnSpPr>
          <p:cNvPr id="165" name="rl-6"/>
          <p:cNvCxnSpPr/>
          <p:nvPr/>
        </p:nvCxnSpPr>
        <p:spPr>
          <a:xfrm>
            <a:off x="6705600" y="4991100"/>
            <a:ext cx="37084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6" name="rk-7"/>
          <p:cNvSpPr/>
          <p:nvPr/>
        </p:nvSpPr>
        <p:spPr>
          <a:xfrm>
            <a:off x="6388100" y="5143500"/>
            <a:ext cx="228600" cy="228600"/>
          </a:xfrm>
          <a:prstGeom prst="ellipse">
            <a:avLst/>
          </a:prstGeom>
          <a:solidFill>
            <a:srgbClr val="4694D7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7" name="rkt-7"/>
          <p:cNvSpPr txBox="1"/>
          <p:nvPr/>
        </p:nvSpPr>
        <p:spPr>
          <a:xfrm>
            <a:off x="6432868" y="518461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4694D7"/>
                </a:solidFill>
                <a:latin typeface="Arial"/>
                <a:ea typeface="Arial"/>
                <a:cs typeface="Arial"/>
              </a:rPr>
              <a:t>7</a:t>
            </a:r>
          </a:p>
        </p:txBody>
      </p:sp>
      <p:sp>
        <p:nvSpPr>
          <p:cNvPr id="168" name="rn-7"/>
          <p:cNvSpPr txBox="1"/>
          <p:nvPr/>
        </p:nvSpPr>
        <p:spPr>
          <a:xfrm>
            <a:off x="6691122" y="5153247"/>
            <a:ext cx="36004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四川</a:t>
            </a:r>
          </a:p>
        </p:txBody>
      </p:sp>
      <p:sp>
        <p:nvSpPr>
          <p:cNvPr id="169" name="rbg-7"/>
          <p:cNvSpPr/>
          <p:nvPr/>
        </p:nvSpPr>
        <p:spPr>
          <a:xfrm>
            <a:off x="7556500" y="5194300"/>
            <a:ext cx="2413000" cy="127000"/>
          </a:xfrm>
          <a:prstGeom prst="roundRect">
            <a:avLst>
              <a:gd name="adj" fmla="val 50000"/>
            </a:avLst>
          </a:pr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0" name="rbar-7"/>
          <p:cNvSpPr/>
          <p:nvPr/>
        </p:nvSpPr>
        <p:spPr>
          <a:xfrm>
            <a:off x="7556500" y="5194300"/>
            <a:ext cx="1516277" cy="127000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6FACE0"/>
              </a:gs>
              <a:gs pos="100000">
                <a:srgbClr val="4694D7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1" name="rv-7"/>
          <p:cNvSpPr txBox="1"/>
          <p:nvPr/>
        </p:nvSpPr>
        <p:spPr>
          <a:xfrm>
            <a:off x="10111486" y="5159597"/>
            <a:ext cx="316992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186</a:t>
            </a:r>
          </a:p>
        </p:txBody>
      </p:sp>
      <p:cxnSp>
        <p:nvCxnSpPr>
          <p:cNvPr id="172" name="rl-7"/>
          <p:cNvCxnSpPr/>
          <p:nvPr/>
        </p:nvCxnSpPr>
        <p:spPr>
          <a:xfrm>
            <a:off x="6705600" y="5461000"/>
            <a:ext cx="37084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3" name="rk-8"/>
          <p:cNvSpPr/>
          <p:nvPr/>
        </p:nvSpPr>
        <p:spPr>
          <a:xfrm>
            <a:off x="6388100" y="5613400"/>
            <a:ext cx="228600" cy="228600"/>
          </a:xfrm>
          <a:prstGeom prst="ellipse">
            <a:avLst/>
          </a:prstGeom>
          <a:solidFill>
            <a:srgbClr val="54A2D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4" name="rkt-8"/>
          <p:cNvSpPr txBox="1"/>
          <p:nvPr/>
        </p:nvSpPr>
        <p:spPr>
          <a:xfrm>
            <a:off x="6432868" y="565451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54A2DF"/>
                </a:solidFill>
                <a:latin typeface="Arial"/>
                <a:ea typeface="Arial"/>
                <a:cs typeface="Arial"/>
              </a:rPr>
              <a:t>8</a:t>
            </a:r>
          </a:p>
        </p:txBody>
      </p:sp>
      <p:sp>
        <p:nvSpPr>
          <p:cNvPr id="175" name="rn-8"/>
          <p:cNvSpPr txBox="1"/>
          <p:nvPr/>
        </p:nvSpPr>
        <p:spPr>
          <a:xfrm>
            <a:off x="6691122" y="5623147"/>
            <a:ext cx="36004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河南</a:t>
            </a:r>
          </a:p>
        </p:txBody>
      </p:sp>
      <p:sp>
        <p:nvSpPr>
          <p:cNvPr id="176" name="rbg-8"/>
          <p:cNvSpPr/>
          <p:nvPr/>
        </p:nvSpPr>
        <p:spPr>
          <a:xfrm>
            <a:off x="7556500" y="5664200"/>
            <a:ext cx="2413000" cy="127000"/>
          </a:xfrm>
          <a:prstGeom prst="roundRect">
            <a:avLst>
              <a:gd name="adj" fmla="val 50000"/>
            </a:avLst>
          </a:pr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7" name="rbar-8"/>
          <p:cNvSpPr/>
          <p:nvPr/>
        </p:nvSpPr>
        <p:spPr>
          <a:xfrm>
            <a:off x="7556500" y="5664200"/>
            <a:ext cx="1418453" cy="127000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7AB6E6"/>
              </a:gs>
              <a:gs pos="100000">
                <a:srgbClr val="54A2D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8" name="rv-8"/>
          <p:cNvSpPr txBox="1"/>
          <p:nvPr/>
        </p:nvSpPr>
        <p:spPr>
          <a:xfrm>
            <a:off x="10111486" y="5629497"/>
            <a:ext cx="316992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174</a:t>
            </a:r>
          </a:p>
        </p:txBody>
      </p:sp>
      <p:sp>
        <p:nvSpPr>
          <p:cNvPr id="179" name="sum"/>
          <p:cNvSpPr/>
          <p:nvPr/>
        </p:nvSpPr>
        <p:spPr>
          <a:xfrm>
            <a:off x="6350000" y="6070600"/>
            <a:ext cx="4445000" cy="393700"/>
          </a:xfrm>
          <a:custGeom>
            <a:avLst/>
            <a:gdLst/>
            <a:ahLst/>
            <a:cxnLst/>
            <a:rect l="0" t="0" r="r" b="b"/>
            <a:pathLst>
              <a:path w="4445000" h="393700">
                <a:moveTo>
                  <a:pt x="88900" y="0"/>
                </a:moveTo>
                <a:lnTo>
                  <a:pt x="4356100" y="0"/>
                </a:lnTo>
                <a:cubicBezTo>
                  <a:pt x="4405186" y="0"/>
                  <a:pt x="4445000" y="39814"/>
                  <a:pt x="4445000" y="88900"/>
                </a:cubicBezTo>
                <a:lnTo>
                  <a:pt x="4445000" y="304800"/>
                </a:lnTo>
                <a:cubicBezTo>
                  <a:pt x="4445000" y="353886"/>
                  <a:pt x="4405186" y="393700"/>
                  <a:pt x="4356100" y="393700"/>
                </a:cubicBezTo>
                <a:lnTo>
                  <a:pt x="88900" y="393700"/>
                </a:lnTo>
                <a:cubicBezTo>
                  <a:pt x="39814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0" name="sum-bar"/>
          <p:cNvSpPr/>
          <p:nvPr/>
        </p:nvSpPr>
        <p:spPr>
          <a:xfrm>
            <a:off x="6350000" y="6070600"/>
            <a:ext cx="31750" cy="3937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1" name="sv-1"/>
          <p:cNvSpPr txBox="1"/>
          <p:nvPr/>
        </p:nvSpPr>
        <p:spPr>
          <a:xfrm>
            <a:off x="6587998" y="6159913"/>
            <a:ext cx="275717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31</a:t>
            </a:r>
          </a:p>
        </p:txBody>
      </p:sp>
      <p:sp>
        <p:nvSpPr>
          <p:cNvPr id="182" name="sl-1"/>
          <p:cNvSpPr txBox="1"/>
          <p:nvPr/>
        </p:nvSpPr>
        <p:spPr>
          <a:xfrm>
            <a:off x="7012051" y="6210887"/>
            <a:ext cx="55594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已开展省份</a:t>
            </a:r>
          </a:p>
        </p:txBody>
      </p:sp>
      <p:sp>
        <p:nvSpPr>
          <p:cNvPr id="183" name="sv-2"/>
          <p:cNvSpPr txBox="1"/>
          <p:nvPr/>
        </p:nvSpPr>
        <p:spPr>
          <a:xfrm>
            <a:off x="8023098" y="6159913"/>
            <a:ext cx="509270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4,286</a:t>
            </a:r>
          </a:p>
        </p:txBody>
      </p:sp>
      <p:sp>
        <p:nvSpPr>
          <p:cNvPr id="184" name="sl-2"/>
          <p:cNvSpPr txBox="1"/>
          <p:nvPr/>
        </p:nvSpPr>
        <p:spPr>
          <a:xfrm>
            <a:off x="8447151" y="6210887"/>
            <a:ext cx="46132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合计营收</a:t>
            </a:r>
          </a:p>
        </p:txBody>
      </p:sp>
      <p:sp>
        <p:nvSpPr>
          <p:cNvPr id="185" name="sv-3"/>
          <p:cNvSpPr txBox="1"/>
          <p:nvPr/>
        </p:nvSpPr>
        <p:spPr>
          <a:xfrm>
            <a:off x="9458198" y="6159913"/>
            <a:ext cx="353568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68%</a:t>
            </a:r>
          </a:p>
        </p:txBody>
      </p:sp>
      <p:sp>
        <p:nvSpPr>
          <p:cNvPr id="186" name="sl-3"/>
          <p:cNvSpPr txBox="1"/>
          <p:nvPr/>
        </p:nvSpPr>
        <p:spPr>
          <a:xfrm>
            <a:off x="9882251" y="6210887"/>
            <a:ext cx="54260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TOP8 占比</a:t>
            </a:r>
          </a:p>
        </p:txBody>
      </p:sp>
      <p:cxnSp>
        <p:nvCxnSpPr>
          <p:cNvPr id="187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8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方块地图 · 省级覆盖</a:t>
            </a:r>
          </a:p>
        </p:txBody>
      </p:sp>
      <p:sp>
        <p:nvSpPr>
          <p:cNvPr id="189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产品线毛利率变化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08165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SLOPE CHART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103995" y="673132"/>
            <a:ext cx="25167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两年间谁在变好、谁在变差——线越陡，变化越大</a:t>
            </a:r>
          </a:p>
        </p:txBody>
      </p:sp>
      <p:sp>
        <p:nvSpPr>
          <p:cNvPr id="10" name="axis-1"/>
          <p:cNvSpPr/>
          <p:nvPr/>
        </p:nvSpPr>
        <p:spPr>
          <a:xfrm>
            <a:off x="2711450" y="1714500"/>
            <a:ext cx="38100" cy="3746500"/>
          </a:xfrm>
          <a:custGeom>
            <a:avLst/>
            <a:gdLst/>
            <a:ahLst/>
            <a:cxnLst/>
            <a:rect l="0" t="0" r="r" b="b"/>
            <a:pathLst>
              <a:path w="38100" h="37465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3727450"/>
                </a:lnTo>
                <a:cubicBezTo>
                  <a:pt x="38100" y="3737991"/>
                  <a:pt x="29591" y="3746500"/>
                  <a:pt x="19050" y="3746500"/>
                </a:cubicBezTo>
                <a:lnTo>
                  <a:pt x="19050" y="3746500"/>
                </a:lnTo>
                <a:cubicBezTo>
                  <a:pt x="8509" y="3746500"/>
                  <a:pt x="0" y="3737991"/>
                  <a:pt x="0" y="37274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2545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yr-1"/>
          <p:cNvSpPr/>
          <p:nvPr/>
        </p:nvSpPr>
        <p:spPr>
          <a:xfrm>
            <a:off x="2286000" y="1244600"/>
            <a:ext cx="889000" cy="330200"/>
          </a:xfrm>
          <a:custGeom>
            <a:avLst/>
            <a:gdLst/>
            <a:ahLst/>
            <a:cxnLst/>
            <a:rect l="0" t="0" r="r" b="b"/>
            <a:pathLst>
              <a:path w="889000" h="330200">
                <a:moveTo>
                  <a:pt x="165100" y="0"/>
                </a:moveTo>
                <a:lnTo>
                  <a:pt x="723900" y="0"/>
                </a:lnTo>
                <a:cubicBezTo>
                  <a:pt x="815086" y="0"/>
                  <a:pt x="889000" y="73914"/>
                  <a:pt x="889000" y="165100"/>
                </a:cubicBezTo>
                <a:lnTo>
                  <a:pt x="889000" y="165100"/>
                </a:lnTo>
                <a:cubicBezTo>
                  <a:pt x="889000" y="256286"/>
                  <a:pt x="815086" y="330200"/>
                  <a:pt x="723900" y="330200"/>
                </a:cubicBezTo>
                <a:lnTo>
                  <a:pt x="165100" y="330200"/>
                </a:lnTo>
                <a:cubicBezTo>
                  <a:pt x="73914" y="330200"/>
                  <a:pt x="0" y="256286"/>
                  <a:pt x="0" y="1651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yrt-1"/>
          <p:cNvSpPr txBox="1"/>
          <p:nvPr/>
        </p:nvSpPr>
        <p:spPr>
          <a:xfrm>
            <a:off x="2438654" y="1253617"/>
            <a:ext cx="583692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50">
                <a:solidFill>
                  <a:srgbClr val="0B3E8F"/>
                </a:solidFill>
                <a:latin typeface="Arial"/>
                <a:ea typeface="Arial"/>
                <a:cs typeface="Arial"/>
              </a:rPr>
              <a:t>2023</a:t>
            </a:r>
          </a:p>
        </p:txBody>
      </p:sp>
      <p:sp>
        <p:nvSpPr>
          <p:cNvPr id="13" name="axis-2"/>
          <p:cNvSpPr/>
          <p:nvPr/>
        </p:nvSpPr>
        <p:spPr>
          <a:xfrm>
            <a:off x="6965950" y="1714500"/>
            <a:ext cx="38100" cy="3746500"/>
          </a:xfrm>
          <a:custGeom>
            <a:avLst/>
            <a:gdLst/>
            <a:ahLst/>
            <a:cxnLst/>
            <a:rect l="0" t="0" r="r" b="b"/>
            <a:pathLst>
              <a:path w="38100" h="37465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3727450"/>
                </a:lnTo>
                <a:cubicBezTo>
                  <a:pt x="38100" y="3737991"/>
                  <a:pt x="29591" y="3746500"/>
                  <a:pt x="19050" y="3746500"/>
                </a:cubicBezTo>
                <a:lnTo>
                  <a:pt x="19050" y="3746500"/>
                </a:lnTo>
                <a:cubicBezTo>
                  <a:pt x="8509" y="3746500"/>
                  <a:pt x="0" y="3737991"/>
                  <a:pt x="0" y="37274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2545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yr-2"/>
          <p:cNvSpPr/>
          <p:nvPr/>
        </p:nvSpPr>
        <p:spPr>
          <a:xfrm>
            <a:off x="6540500" y="1244600"/>
            <a:ext cx="889000" cy="330200"/>
          </a:xfrm>
          <a:custGeom>
            <a:avLst/>
            <a:gdLst/>
            <a:ahLst/>
            <a:cxnLst/>
            <a:rect l="0" t="0" r="r" b="b"/>
            <a:pathLst>
              <a:path w="889000" h="330200">
                <a:moveTo>
                  <a:pt x="165100" y="0"/>
                </a:moveTo>
                <a:lnTo>
                  <a:pt x="723900" y="0"/>
                </a:lnTo>
                <a:cubicBezTo>
                  <a:pt x="815086" y="0"/>
                  <a:pt x="889000" y="73914"/>
                  <a:pt x="889000" y="165100"/>
                </a:cubicBezTo>
                <a:lnTo>
                  <a:pt x="889000" y="165100"/>
                </a:lnTo>
                <a:cubicBezTo>
                  <a:pt x="889000" y="256286"/>
                  <a:pt x="815086" y="330200"/>
                  <a:pt x="723900" y="330200"/>
                </a:cubicBezTo>
                <a:lnTo>
                  <a:pt x="165100" y="330200"/>
                </a:lnTo>
                <a:cubicBezTo>
                  <a:pt x="73914" y="330200"/>
                  <a:pt x="0" y="256286"/>
                  <a:pt x="0" y="1651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yrt-2"/>
          <p:cNvSpPr txBox="1"/>
          <p:nvPr/>
        </p:nvSpPr>
        <p:spPr>
          <a:xfrm>
            <a:off x="6693154" y="1253617"/>
            <a:ext cx="583692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50">
                <a:solidFill>
                  <a:srgbClr val="FFFFFF"/>
                </a:solidFill>
                <a:latin typeface="Arial"/>
                <a:ea typeface="Arial"/>
                <a:cs typeface="Arial"/>
              </a:rPr>
              <a:t>2025</a:t>
            </a:r>
          </a:p>
        </p:txBody>
      </p:sp>
      <p:sp>
        <p:nvSpPr>
          <p:cNvPr id="16" name="unit"/>
          <p:cNvSpPr txBox="1"/>
          <p:nvPr/>
        </p:nvSpPr>
        <p:spPr>
          <a:xfrm>
            <a:off x="4521518" y="1355566"/>
            <a:ext cx="6724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毛利率（%）</a:t>
            </a:r>
          </a:p>
        </p:txBody>
      </p:sp>
      <p:cxnSp>
        <p:nvCxnSpPr>
          <p:cNvPr id="17" name="sl-1"/>
          <p:cNvCxnSpPr/>
          <p:nvPr/>
        </p:nvCxnSpPr>
        <p:spPr>
          <a:xfrm flipV="1">
            <a:off x="2730500" y="2082132"/>
            <a:ext cx="4254500" cy="354263"/>
          </a:xfrm>
          <a:prstGeom prst="line">
            <a:avLst/>
          </a:prstGeom>
          <a:ln w="15240" cap="rnd">
            <a:solidFill>
              <a:srgbClr val="9DB2CC">
                <a:alpha val="8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pt-1"/>
          <p:cNvSpPr/>
          <p:nvPr/>
        </p:nvSpPr>
        <p:spPr>
          <a:xfrm>
            <a:off x="2673350" y="2379245"/>
            <a:ext cx="114300" cy="114300"/>
          </a:xfrm>
          <a:prstGeom prst="ellipse">
            <a:avLst/>
          </a:prstGeom>
          <a:solidFill>
            <a:srgbClr val="FFFFFF"/>
          </a:solidFill>
          <a:ln w="20320" cap="rnd">
            <a:solidFill>
              <a:srgbClr val="9DB2C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pt-1"/>
          <p:cNvSpPr/>
          <p:nvPr/>
        </p:nvSpPr>
        <p:spPr>
          <a:xfrm>
            <a:off x="6927850" y="2024982"/>
            <a:ext cx="114300" cy="114300"/>
          </a:xfrm>
          <a:prstGeom prst="ellipse">
            <a:avLst/>
          </a:prstGeom>
          <a:solidFill>
            <a:srgbClr val="FFFFFF"/>
          </a:solidFill>
          <a:ln w="20320" cap="rnd">
            <a:solidFill>
              <a:srgbClr val="9DB2C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la-1"/>
          <p:cNvSpPr txBox="1"/>
          <p:nvPr/>
        </p:nvSpPr>
        <p:spPr>
          <a:xfrm>
            <a:off x="2336165" y="2331842"/>
            <a:ext cx="2437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>
                <a:solidFill>
                  <a:srgbClr val="9DB2CC"/>
                </a:solidFill>
                <a:latin typeface="Arial"/>
                <a:ea typeface="Arial"/>
                <a:cs typeface="Arial"/>
              </a:rPr>
              <a:t>42</a:t>
            </a:r>
          </a:p>
        </p:txBody>
      </p:sp>
      <p:sp>
        <p:nvSpPr>
          <p:cNvPr id="21" name="ln-1"/>
          <p:cNvSpPr txBox="1"/>
          <p:nvPr/>
        </p:nvSpPr>
        <p:spPr>
          <a:xfrm>
            <a:off x="1701483" y="2343605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1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企业软件</a:t>
            </a:r>
          </a:p>
        </p:txBody>
      </p:sp>
      <p:sp>
        <p:nvSpPr>
          <p:cNvPr id="22" name="rb-1"/>
          <p:cNvSpPr txBox="1"/>
          <p:nvPr/>
        </p:nvSpPr>
        <p:spPr>
          <a:xfrm>
            <a:off x="7135622" y="1977579"/>
            <a:ext cx="2437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>
                <a:solidFill>
                  <a:srgbClr val="9DB2CC"/>
                </a:solidFill>
                <a:latin typeface="Arial"/>
                <a:ea typeface="Arial"/>
                <a:cs typeface="Arial"/>
              </a:rPr>
              <a:t>46</a:t>
            </a:r>
          </a:p>
        </p:txBody>
      </p:sp>
      <p:sp>
        <p:nvSpPr>
          <p:cNvPr id="23" name="rn-1"/>
          <p:cNvSpPr txBox="1"/>
          <p:nvPr/>
        </p:nvSpPr>
        <p:spPr>
          <a:xfrm>
            <a:off x="7454265" y="1989342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企业软件</a:t>
            </a:r>
          </a:p>
        </p:txBody>
      </p:sp>
      <p:sp>
        <p:nvSpPr>
          <p:cNvPr id="24" name="rd-1"/>
          <p:cNvSpPr txBox="1"/>
          <p:nvPr/>
        </p:nvSpPr>
        <p:spPr>
          <a:xfrm>
            <a:off x="8014970" y="2008948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9DB2CC"/>
                </a:solidFill>
                <a:latin typeface="Arial"/>
                <a:ea typeface="Arial"/>
                <a:cs typeface="Arial"/>
              </a:rPr>
              <a:t>+4</a:t>
            </a:r>
          </a:p>
        </p:txBody>
      </p:sp>
      <p:cxnSp>
        <p:nvCxnSpPr>
          <p:cNvPr id="25" name="sl-2"/>
          <p:cNvCxnSpPr/>
          <p:nvPr/>
        </p:nvCxnSpPr>
        <p:spPr>
          <a:xfrm>
            <a:off x="2730500" y="3056355"/>
            <a:ext cx="4254500" cy="531395"/>
          </a:xfrm>
          <a:prstGeom prst="line">
            <a:avLst/>
          </a:prstGeom>
          <a:ln w="25400" cap="rnd">
            <a:solidFill>
              <a:srgbClr val="E0703A">
                <a:alpha val="9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pt-2"/>
          <p:cNvSpPr/>
          <p:nvPr/>
        </p:nvSpPr>
        <p:spPr>
          <a:xfrm>
            <a:off x="2673350" y="2999205"/>
            <a:ext cx="114300" cy="114300"/>
          </a:xfrm>
          <a:prstGeom prst="ellipse">
            <a:avLst/>
          </a:prstGeom>
          <a:solidFill>
            <a:srgbClr val="FFFFFF"/>
          </a:solidFill>
          <a:ln w="2032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pt-2"/>
          <p:cNvSpPr/>
          <p:nvPr/>
        </p:nvSpPr>
        <p:spPr>
          <a:xfrm>
            <a:off x="6927850" y="3530600"/>
            <a:ext cx="114300" cy="114300"/>
          </a:xfrm>
          <a:prstGeom prst="ellipse">
            <a:avLst/>
          </a:prstGeom>
          <a:solidFill>
            <a:srgbClr val="FFFFFF"/>
          </a:solidFill>
          <a:ln w="2032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la-2"/>
          <p:cNvSpPr txBox="1"/>
          <p:nvPr/>
        </p:nvSpPr>
        <p:spPr>
          <a:xfrm>
            <a:off x="2336165" y="2951803"/>
            <a:ext cx="2437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35</a:t>
            </a:r>
          </a:p>
        </p:txBody>
      </p:sp>
      <p:sp>
        <p:nvSpPr>
          <p:cNvPr id="29" name="ln-2"/>
          <p:cNvSpPr txBox="1"/>
          <p:nvPr/>
        </p:nvSpPr>
        <p:spPr>
          <a:xfrm>
            <a:off x="1701483" y="2963566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咨询服务</a:t>
            </a:r>
          </a:p>
        </p:txBody>
      </p:sp>
      <p:sp>
        <p:nvSpPr>
          <p:cNvPr id="30" name="rb-2"/>
          <p:cNvSpPr txBox="1"/>
          <p:nvPr/>
        </p:nvSpPr>
        <p:spPr>
          <a:xfrm>
            <a:off x="7135622" y="3483197"/>
            <a:ext cx="2437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29</a:t>
            </a:r>
          </a:p>
        </p:txBody>
      </p:sp>
      <p:sp>
        <p:nvSpPr>
          <p:cNvPr id="31" name="rn-2"/>
          <p:cNvSpPr txBox="1"/>
          <p:nvPr/>
        </p:nvSpPr>
        <p:spPr>
          <a:xfrm>
            <a:off x="7454265" y="349496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咨询服务</a:t>
            </a:r>
          </a:p>
        </p:txBody>
      </p:sp>
      <p:sp>
        <p:nvSpPr>
          <p:cNvPr id="32" name="rd-2"/>
          <p:cNvSpPr txBox="1"/>
          <p:nvPr/>
        </p:nvSpPr>
        <p:spPr>
          <a:xfrm>
            <a:off x="8014970" y="351456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-6</a:t>
            </a:r>
          </a:p>
        </p:txBody>
      </p:sp>
      <p:cxnSp>
        <p:nvCxnSpPr>
          <p:cNvPr id="33" name="sl-3"/>
          <p:cNvCxnSpPr/>
          <p:nvPr/>
        </p:nvCxnSpPr>
        <p:spPr>
          <a:xfrm flipV="1">
            <a:off x="2730500" y="3233487"/>
            <a:ext cx="4254500" cy="265697"/>
          </a:xfrm>
          <a:prstGeom prst="line">
            <a:avLst/>
          </a:prstGeom>
          <a:ln w="15240" cap="rnd">
            <a:solidFill>
              <a:srgbClr val="9DB2CC">
                <a:alpha val="8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pt-3"/>
          <p:cNvSpPr/>
          <p:nvPr/>
        </p:nvSpPr>
        <p:spPr>
          <a:xfrm>
            <a:off x="2673350" y="3442034"/>
            <a:ext cx="114300" cy="114300"/>
          </a:xfrm>
          <a:prstGeom prst="ellipse">
            <a:avLst/>
          </a:prstGeom>
          <a:solidFill>
            <a:srgbClr val="FFFFFF"/>
          </a:solidFill>
          <a:ln w="20320" cap="rnd">
            <a:solidFill>
              <a:srgbClr val="9DB2C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pt-3"/>
          <p:cNvSpPr/>
          <p:nvPr/>
        </p:nvSpPr>
        <p:spPr>
          <a:xfrm>
            <a:off x="6927850" y="3176337"/>
            <a:ext cx="114300" cy="114300"/>
          </a:xfrm>
          <a:prstGeom prst="ellipse">
            <a:avLst/>
          </a:prstGeom>
          <a:solidFill>
            <a:srgbClr val="FFFFFF"/>
          </a:solidFill>
          <a:ln w="20320" cap="rnd">
            <a:solidFill>
              <a:srgbClr val="9DB2C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la-3"/>
          <p:cNvSpPr txBox="1"/>
          <p:nvPr/>
        </p:nvSpPr>
        <p:spPr>
          <a:xfrm>
            <a:off x="2336165" y="3394631"/>
            <a:ext cx="2437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>
                <a:solidFill>
                  <a:srgbClr val="9DB2CC"/>
                </a:solidFill>
                <a:latin typeface="Arial"/>
                <a:ea typeface="Arial"/>
                <a:cs typeface="Arial"/>
              </a:rPr>
              <a:t>30</a:t>
            </a:r>
          </a:p>
        </p:txBody>
      </p:sp>
      <p:sp>
        <p:nvSpPr>
          <p:cNvPr id="37" name="ln-3"/>
          <p:cNvSpPr txBox="1"/>
          <p:nvPr/>
        </p:nvSpPr>
        <p:spPr>
          <a:xfrm>
            <a:off x="1701483" y="3406395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1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培训业务</a:t>
            </a:r>
          </a:p>
        </p:txBody>
      </p:sp>
      <p:sp>
        <p:nvSpPr>
          <p:cNvPr id="38" name="rb-3"/>
          <p:cNvSpPr txBox="1"/>
          <p:nvPr/>
        </p:nvSpPr>
        <p:spPr>
          <a:xfrm>
            <a:off x="7135622" y="3128934"/>
            <a:ext cx="2437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>
                <a:solidFill>
                  <a:srgbClr val="9DB2CC"/>
                </a:solidFill>
                <a:latin typeface="Arial"/>
                <a:ea typeface="Arial"/>
                <a:cs typeface="Arial"/>
              </a:rPr>
              <a:t>33</a:t>
            </a:r>
          </a:p>
        </p:txBody>
      </p:sp>
      <p:sp>
        <p:nvSpPr>
          <p:cNvPr id="39" name="rn-3"/>
          <p:cNvSpPr txBox="1"/>
          <p:nvPr/>
        </p:nvSpPr>
        <p:spPr>
          <a:xfrm>
            <a:off x="7454265" y="3140697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培训业务</a:t>
            </a:r>
          </a:p>
        </p:txBody>
      </p:sp>
      <p:sp>
        <p:nvSpPr>
          <p:cNvPr id="40" name="rd-3"/>
          <p:cNvSpPr txBox="1"/>
          <p:nvPr/>
        </p:nvSpPr>
        <p:spPr>
          <a:xfrm>
            <a:off x="8014970" y="3160303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9DB2CC"/>
                </a:solidFill>
                <a:latin typeface="Arial"/>
                <a:ea typeface="Arial"/>
                <a:cs typeface="Arial"/>
              </a:rPr>
              <a:t>+3</a:t>
            </a:r>
          </a:p>
        </p:txBody>
      </p:sp>
      <p:cxnSp>
        <p:nvCxnSpPr>
          <p:cNvPr id="41" name="sl-4"/>
          <p:cNvCxnSpPr/>
          <p:nvPr/>
        </p:nvCxnSpPr>
        <p:spPr>
          <a:xfrm flipV="1">
            <a:off x="2730500" y="2790658"/>
            <a:ext cx="4254500" cy="1062789"/>
          </a:xfrm>
          <a:prstGeom prst="line">
            <a:avLst/>
          </a:prstGeom>
          <a:ln w="25400" cap="rnd">
            <a:solidFill>
              <a:srgbClr val="0B3E8F">
                <a:alpha val="9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pt-4"/>
          <p:cNvSpPr/>
          <p:nvPr/>
        </p:nvSpPr>
        <p:spPr>
          <a:xfrm>
            <a:off x="2673350" y="3796297"/>
            <a:ext cx="114300" cy="114300"/>
          </a:xfrm>
          <a:prstGeom prst="ellipse">
            <a:avLst/>
          </a:prstGeom>
          <a:solidFill>
            <a:srgbClr val="FFFFFF"/>
          </a:solidFill>
          <a:ln w="2032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pt-4"/>
          <p:cNvSpPr/>
          <p:nvPr/>
        </p:nvSpPr>
        <p:spPr>
          <a:xfrm>
            <a:off x="6927850" y="2733508"/>
            <a:ext cx="114300" cy="114300"/>
          </a:xfrm>
          <a:prstGeom prst="ellipse">
            <a:avLst/>
          </a:prstGeom>
          <a:solidFill>
            <a:srgbClr val="FFFFFF"/>
          </a:solidFill>
          <a:ln w="2032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la-4"/>
          <p:cNvSpPr txBox="1"/>
          <p:nvPr/>
        </p:nvSpPr>
        <p:spPr>
          <a:xfrm>
            <a:off x="2336165" y="3748895"/>
            <a:ext cx="2437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26</a:t>
            </a:r>
          </a:p>
        </p:txBody>
      </p:sp>
      <p:sp>
        <p:nvSpPr>
          <p:cNvPr id="45" name="ln-4"/>
          <p:cNvSpPr txBox="1"/>
          <p:nvPr/>
        </p:nvSpPr>
        <p:spPr>
          <a:xfrm>
            <a:off x="1816418" y="3760658"/>
            <a:ext cx="44481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云服务</a:t>
            </a:r>
          </a:p>
        </p:txBody>
      </p:sp>
      <p:sp>
        <p:nvSpPr>
          <p:cNvPr id="46" name="rb-4"/>
          <p:cNvSpPr txBox="1"/>
          <p:nvPr/>
        </p:nvSpPr>
        <p:spPr>
          <a:xfrm>
            <a:off x="7135622" y="2686105"/>
            <a:ext cx="2437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38</a:t>
            </a:r>
          </a:p>
        </p:txBody>
      </p:sp>
      <p:sp>
        <p:nvSpPr>
          <p:cNvPr id="47" name="rn-4"/>
          <p:cNvSpPr txBox="1"/>
          <p:nvPr/>
        </p:nvSpPr>
        <p:spPr>
          <a:xfrm>
            <a:off x="7454265" y="2697869"/>
            <a:ext cx="44481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云服务</a:t>
            </a:r>
          </a:p>
        </p:txBody>
      </p:sp>
      <p:sp>
        <p:nvSpPr>
          <p:cNvPr id="48" name="rd-4"/>
          <p:cNvSpPr txBox="1"/>
          <p:nvPr/>
        </p:nvSpPr>
        <p:spPr>
          <a:xfrm>
            <a:off x="7897495" y="2717474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+12</a:t>
            </a:r>
          </a:p>
        </p:txBody>
      </p:sp>
      <p:cxnSp>
        <p:nvCxnSpPr>
          <p:cNvPr id="49" name="sl-5"/>
          <p:cNvCxnSpPr/>
          <p:nvPr/>
        </p:nvCxnSpPr>
        <p:spPr>
          <a:xfrm>
            <a:off x="2730500" y="4207711"/>
            <a:ext cx="4254500" cy="531394"/>
          </a:xfrm>
          <a:prstGeom prst="line">
            <a:avLst/>
          </a:prstGeom>
          <a:ln w="25400" cap="rnd">
            <a:solidFill>
              <a:srgbClr val="E0703A">
                <a:alpha val="9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" name="pt-5"/>
          <p:cNvSpPr/>
          <p:nvPr/>
        </p:nvSpPr>
        <p:spPr>
          <a:xfrm>
            <a:off x="2673350" y="4150561"/>
            <a:ext cx="114300" cy="114300"/>
          </a:xfrm>
          <a:prstGeom prst="ellipse">
            <a:avLst/>
          </a:prstGeom>
          <a:solidFill>
            <a:srgbClr val="FFFFFF"/>
          </a:solidFill>
          <a:ln w="2032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pt-5"/>
          <p:cNvSpPr/>
          <p:nvPr/>
        </p:nvSpPr>
        <p:spPr>
          <a:xfrm>
            <a:off x="6927850" y="4681955"/>
            <a:ext cx="114300" cy="114300"/>
          </a:xfrm>
          <a:prstGeom prst="ellipse">
            <a:avLst/>
          </a:prstGeom>
          <a:solidFill>
            <a:srgbClr val="FFFFFF"/>
          </a:solidFill>
          <a:ln w="2032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la-5"/>
          <p:cNvSpPr txBox="1"/>
          <p:nvPr/>
        </p:nvSpPr>
        <p:spPr>
          <a:xfrm>
            <a:off x="2336165" y="4103158"/>
            <a:ext cx="2437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22</a:t>
            </a:r>
          </a:p>
        </p:txBody>
      </p:sp>
      <p:sp>
        <p:nvSpPr>
          <p:cNvPr id="53" name="ln-5"/>
          <p:cNvSpPr txBox="1"/>
          <p:nvPr/>
        </p:nvSpPr>
        <p:spPr>
          <a:xfrm>
            <a:off x="1701483" y="4114921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运维外包</a:t>
            </a:r>
          </a:p>
        </p:txBody>
      </p:sp>
      <p:sp>
        <p:nvSpPr>
          <p:cNvPr id="54" name="rb-5"/>
          <p:cNvSpPr txBox="1"/>
          <p:nvPr/>
        </p:nvSpPr>
        <p:spPr>
          <a:xfrm>
            <a:off x="7135622" y="4634553"/>
            <a:ext cx="2437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16</a:t>
            </a:r>
          </a:p>
        </p:txBody>
      </p:sp>
      <p:sp>
        <p:nvSpPr>
          <p:cNvPr id="55" name="rn-5"/>
          <p:cNvSpPr txBox="1"/>
          <p:nvPr/>
        </p:nvSpPr>
        <p:spPr>
          <a:xfrm>
            <a:off x="7454265" y="4646316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运维外包</a:t>
            </a:r>
          </a:p>
        </p:txBody>
      </p:sp>
      <p:sp>
        <p:nvSpPr>
          <p:cNvPr id="56" name="rd-5"/>
          <p:cNvSpPr txBox="1"/>
          <p:nvPr/>
        </p:nvSpPr>
        <p:spPr>
          <a:xfrm>
            <a:off x="8014970" y="4665922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-6</a:t>
            </a:r>
          </a:p>
        </p:txBody>
      </p:sp>
      <p:cxnSp>
        <p:nvCxnSpPr>
          <p:cNvPr id="57" name="sl-6"/>
          <p:cNvCxnSpPr/>
          <p:nvPr/>
        </p:nvCxnSpPr>
        <p:spPr>
          <a:xfrm flipV="1">
            <a:off x="2730500" y="2967789"/>
            <a:ext cx="4254500" cy="1417053"/>
          </a:xfrm>
          <a:prstGeom prst="line">
            <a:avLst/>
          </a:prstGeom>
          <a:ln w="25400" cap="rnd">
            <a:solidFill>
              <a:srgbClr val="0B3E8F">
                <a:alpha val="9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pt-6"/>
          <p:cNvSpPr/>
          <p:nvPr/>
        </p:nvSpPr>
        <p:spPr>
          <a:xfrm>
            <a:off x="2673350" y="4327692"/>
            <a:ext cx="114300" cy="114300"/>
          </a:xfrm>
          <a:prstGeom prst="ellipse">
            <a:avLst/>
          </a:prstGeom>
          <a:solidFill>
            <a:srgbClr val="FFFFFF"/>
          </a:solidFill>
          <a:ln w="2032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pt-6"/>
          <p:cNvSpPr/>
          <p:nvPr/>
        </p:nvSpPr>
        <p:spPr>
          <a:xfrm>
            <a:off x="6927850" y="2910639"/>
            <a:ext cx="114300" cy="114300"/>
          </a:xfrm>
          <a:prstGeom prst="ellipse">
            <a:avLst/>
          </a:prstGeom>
          <a:solidFill>
            <a:srgbClr val="FFFFFF"/>
          </a:solidFill>
          <a:ln w="2032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la-6"/>
          <p:cNvSpPr txBox="1"/>
          <p:nvPr/>
        </p:nvSpPr>
        <p:spPr>
          <a:xfrm>
            <a:off x="2336165" y="4280289"/>
            <a:ext cx="2437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20</a:t>
            </a:r>
          </a:p>
        </p:txBody>
      </p:sp>
      <p:sp>
        <p:nvSpPr>
          <p:cNvPr id="61" name="ln-6"/>
          <p:cNvSpPr txBox="1"/>
          <p:nvPr/>
        </p:nvSpPr>
        <p:spPr>
          <a:xfrm>
            <a:off x="1701483" y="4292053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数据服务</a:t>
            </a:r>
          </a:p>
        </p:txBody>
      </p:sp>
      <p:sp>
        <p:nvSpPr>
          <p:cNvPr id="62" name="rb-6"/>
          <p:cNvSpPr txBox="1"/>
          <p:nvPr/>
        </p:nvSpPr>
        <p:spPr>
          <a:xfrm>
            <a:off x="7135622" y="2863237"/>
            <a:ext cx="2437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36</a:t>
            </a:r>
          </a:p>
        </p:txBody>
      </p:sp>
      <p:sp>
        <p:nvSpPr>
          <p:cNvPr id="63" name="rn-6"/>
          <p:cNvSpPr txBox="1"/>
          <p:nvPr/>
        </p:nvSpPr>
        <p:spPr>
          <a:xfrm>
            <a:off x="7454265" y="2875000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数据服务</a:t>
            </a:r>
          </a:p>
        </p:txBody>
      </p:sp>
      <p:sp>
        <p:nvSpPr>
          <p:cNvPr id="64" name="rd-6"/>
          <p:cNvSpPr txBox="1"/>
          <p:nvPr/>
        </p:nvSpPr>
        <p:spPr>
          <a:xfrm>
            <a:off x="8014970" y="2894606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+16</a:t>
            </a:r>
          </a:p>
        </p:txBody>
      </p:sp>
      <p:cxnSp>
        <p:nvCxnSpPr>
          <p:cNvPr id="65" name="sl-7"/>
          <p:cNvCxnSpPr/>
          <p:nvPr/>
        </p:nvCxnSpPr>
        <p:spPr>
          <a:xfrm flipV="1">
            <a:off x="2730500" y="3410618"/>
            <a:ext cx="4254500" cy="1151356"/>
          </a:xfrm>
          <a:prstGeom prst="line">
            <a:avLst/>
          </a:prstGeom>
          <a:ln w="25400" cap="rnd">
            <a:solidFill>
              <a:srgbClr val="0B3E8F">
                <a:alpha val="9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" name="pt-7"/>
          <p:cNvSpPr/>
          <p:nvPr/>
        </p:nvSpPr>
        <p:spPr>
          <a:xfrm>
            <a:off x="2673350" y="4504824"/>
            <a:ext cx="114300" cy="114300"/>
          </a:xfrm>
          <a:prstGeom prst="ellipse">
            <a:avLst/>
          </a:prstGeom>
          <a:solidFill>
            <a:srgbClr val="FFFFFF"/>
          </a:solidFill>
          <a:ln w="2032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pt-7"/>
          <p:cNvSpPr/>
          <p:nvPr/>
        </p:nvSpPr>
        <p:spPr>
          <a:xfrm>
            <a:off x="6927850" y="3353468"/>
            <a:ext cx="114300" cy="114300"/>
          </a:xfrm>
          <a:prstGeom prst="ellipse">
            <a:avLst/>
          </a:prstGeom>
          <a:solidFill>
            <a:srgbClr val="FFFFFF"/>
          </a:solidFill>
          <a:ln w="2032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la-7"/>
          <p:cNvSpPr txBox="1"/>
          <p:nvPr/>
        </p:nvSpPr>
        <p:spPr>
          <a:xfrm>
            <a:off x="2336165" y="4457421"/>
            <a:ext cx="2437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18</a:t>
            </a:r>
          </a:p>
        </p:txBody>
      </p:sp>
      <p:sp>
        <p:nvSpPr>
          <p:cNvPr id="69" name="ln-7"/>
          <p:cNvSpPr txBox="1"/>
          <p:nvPr/>
        </p:nvSpPr>
        <p:spPr>
          <a:xfrm>
            <a:off x="1701483" y="4469184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智能硬件</a:t>
            </a:r>
          </a:p>
        </p:txBody>
      </p:sp>
      <p:sp>
        <p:nvSpPr>
          <p:cNvPr id="70" name="rb-7"/>
          <p:cNvSpPr txBox="1"/>
          <p:nvPr/>
        </p:nvSpPr>
        <p:spPr>
          <a:xfrm>
            <a:off x="7135622" y="3306066"/>
            <a:ext cx="2437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31</a:t>
            </a:r>
          </a:p>
        </p:txBody>
      </p:sp>
      <p:sp>
        <p:nvSpPr>
          <p:cNvPr id="71" name="rn-7"/>
          <p:cNvSpPr txBox="1"/>
          <p:nvPr/>
        </p:nvSpPr>
        <p:spPr>
          <a:xfrm>
            <a:off x="7454265" y="3317829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智能硬件</a:t>
            </a:r>
          </a:p>
        </p:txBody>
      </p:sp>
      <p:sp>
        <p:nvSpPr>
          <p:cNvPr id="72" name="rd-7"/>
          <p:cNvSpPr txBox="1"/>
          <p:nvPr/>
        </p:nvSpPr>
        <p:spPr>
          <a:xfrm>
            <a:off x="8014970" y="3337435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+13</a:t>
            </a:r>
          </a:p>
        </p:txBody>
      </p:sp>
      <p:cxnSp>
        <p:nvCxnSpPr>
          <p:cNvPr id="73" name="sl-8"/>
          <p:cNvCxnSpPr/>
          <p:nvPr/>
        </p:nvCxnSpPr>
        <p:spPr>
          <a:xfrm>
            <a:off x="2730500" y="4916237"/>
            <a:ext cx="4254500" cy="177131"/>
          </a:xfrm>
          <a:prstGeom prst="line">
            <a:avLst/>
          </a:prstGeom>
          <a:ln w="15240" cap="rnd">
            <a:solidFill>
              <a:srgbClr val="9DB2CC">
                <a:alpha val="8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pt-8"/>
          <p:cNvSpPr/>
          <p:nvPr/>
        </p:nvSpPr>
        <p:spPr>
          <a:xfrm>
            <a:off x="2673350" y="4859087"/>
            <a:ext cx="114300" cy="114300"/>
          </a:xfrm>
          <a:prstGeom prst="ellipse">
            <a:avLst/>
          </a:prstGeom>
          <a:solidFill>
            <a:srgbClr val="FFFFFF"/>
          </a:solidFill>
          <a:ln w="20320" cap="rnd">
            <a:solidFill>
              <a:srgbClr val="9DB2C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pt-8"/>
          <p:cNvSpPr/>
          <p:nvPr/>
        </p:nvSpPr>
        <p:spPr>
          <a:xfrm>
            <a:off x="6927850" y="5036218"/>
            <a:ext cx="114300" cy="114300"/>
          </a:xfrm>
          <a:prstGeom prst="ellipse">
            <a:avLst/>
          </a:prstGeom>
          <a:solidFill>
            <a:srgbClr val="FFFFFF"/>
          </a:solidFill>
          <a:ln w="20320" cap="rnd">
            <a:solidFill>
              <a:srgbClr val="9DB2C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la-8"/>
          <p:cNvSpPr txBox="1"/>
          <p:nvPr/>
        </p:nvSpPr>
        <p:spPr>
          <a:xfrm>
            <a:off x="2336165" y="4811684"/>
            <a:ext cx="2437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>
                <a:solidFill>
                  <a:srgbClr val="9DB2CC"/>
                </a:solidFill>
                <a:latin typeface="Arial"/>
                <a:ea typeface="Arial"/>
                <a:cs typeface="Arial"/>
              </a:rPr>
              <a:t>14</a:t>
            </a:r>
          </a:p>
        </p:txBody>
      </p:sp>
      <p:sp>
        <p:nvSpPr>
          <p:cNvPr id="77" name="ln-8"/>
          <p:cNvSpPr txBox="1"/>
          <p:nvPr/>
        </p:nvSpPr>
        <p:spPr>
          <a:xfrm>
            <a:off x="1701483" y="4823447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1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系统集成</a:t>
            </a:r>
          </a:p>
        </p:txBody>
      </p:sp>
      <p:sp>
        <p:nvSpPr>
          <p:cNvPr id="78" name="rb-8"/>
          <p:cNvSpPr txBox="1"/>
          <p:nvPr/>
        </p:nvSpPr>
        <p:spPr>
          <a:xfrm>
            <a:off x="7135622" y="4988816"/>
            <a:ext cx="2437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>
                <a:solidFill>
                  <a:srgbClr val="9DB2CC"/>
                </a:solidFill>
                <a:latin typeface="Arial"/>
                <a:ea typeface="Arial"/>
                <a:cs typeface="Arial"/>
              </a:rPr>
              <a:t>12</a:t>
            </a:r>
          </a:p>
        </p:txBody>
      </p:sp>
      <p:sp>
        <p:nvSpPr>
          <p:cNvPr id="79" name="rn-8"/>
          <p:cNvSpPr txBox="1"/>
          <p:nvPr/>
        </p:nvSpPr>
        <p:spPr>
          <a:xfrm>
            <a:off x="7454265" y="5000579"/>
            <a:ext cx="5597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系统集成</a:t>
            </a:r>
          </a:p>
        </p:txBody>
      </p:sp>
      <p:sp>
        <p:nvSpPr>
          <p:cNvPr id="80" name="rd-8"/>
          <p:cNvSpPr txBox="1"/>
          <p:nvPr/>
        </p:nvSpPr>
        <p:spPr>
          <a:xfrm>
            <a:off x="8014970" y="5020185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9DB2CC"/>
                </a:solidFill>
                <a:latin typeface="Arial"/>
                <a:ea typeface="Arial"/>
                <a:cs typeface="Arial"/>
              </a:rPr>
              <a:t>-2</a:t>
            </a:r>
          </a:p>
        </p:txBody>
      </p:sp>
      <p:cxnSp>
        <p:nvCxnSpPr>
          <p:cNvPr id="81" name="lg-1"/>
          <p:cNvCxnSpPr/>
          <p:nvPr/>
        </p:nvCxnSpPr>
        <p:spPr>
          <a:xfrm>
            <a:off x="1905000" y="5588000"/>
            <a:ext cx="254000" cy="0"/>
          </a:xfrm>
          <a:prstGeom prst="line">
            <a:avLst/>
          </a:prstGeom>
          <a:ln w="25400" cap="rnd">
            <a:solidFill>
              <a:srgbClr val="0B3E8F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lgt-1"/>
          <p:cNvSpPr txBox="1"/>
          <p:nvPr/>
        </p:nvSpPr>
        <p:spPr>
          <a:xfrm>
            <a:off x="2236470" y="5508466"/>
            <a:ext cx="7677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提升 ≥ 6 个点</a:t>
            </a:r>
          </a:p>
        </p:txBody>
      </p:sp>
      <p:cxnSp>
        <p:nvCxnSpPr>
          <p:cNvPr id="83" name="lg-2"/>
          <p:cNvCxnSpPr/>
          <p:nvPr/>
        </p:nvCxnSpPr>
        <p:spPr>
          <a:xfrm>
            <a:off x="3492500" y="5588000"/>
            <a:ext cx="254000" cy="0"/>
          </a:xfrm>
          <a:prstGeom prst="line">
            <a:avLst/>
          </a:prstGeom>
          <a:ln w="25400" cap="rnd">
            <a:solidFill>
              <a:srgbClr val="E0703A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lgt-2"/>
          <p:cNvSpPr txBox="1"/>
          <p:nvPr/>
        </p:nvSpPr>
        <p:spPr>
          <a:xfrm>
            <a:off x="3823970" y="5508466"/>
            <a:ext cx="7677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下降 ≥ 6 个点</a:t>
            </a:r>
          </a:p>
        </p:txBody>
      </p:sp>
      <p:cxnSp>
        <p:nvCxnSpPr>
          <p:cNvPr id="85" name="lg-3"/>
          <p:cNvCxnSpPr/>
          <p:nvPr/>
        </p:nvCxnSpPr>
        <p:spPr>
          <a:xfrm>
            <a:off x="5080000" y="5588000"/>
            <a:ext cx="254000" cy="0"/>
          </a:xfrm>
          <a:prstGeom prst="line">
            <a:avLst/>
          </a:prstGeom>
          <a:ln w="25400" cap="rnd">
            <a:solidFill>
              <a:srgbClr val="9DB2CC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6" name="lgt-3"/>
          <p:cNvSpPr txBox="1"/>
          <p:nvPr/>
        </p:nvSpPr>
        <p:spPr>
          <a:xfrm>
            <a:off x="5411470" y="5508466"/>
            <a:ext cx="4819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变化较小</a:t>
            </a:r>
          </a:p>
        </p:txBody>
      </p:sp>
      <p:sp>
        <p:nvSpPr>
          <p:cNvPr id="87" name="side-bar"/>
          <p:cNvSpPr/>
          <p:nvPr/>
        </p:nvSpPr>
        <p:spPr>
          <a:xfrm>
            <a:off x="8890000" y="15875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side-h"/>
          <p:cNvSpPr txBox="1"/>
          <p:nvPr/>
        </p:nvSpPr>
        <p:spPr>
          <a:xfrm>
            <a:off x="9048750" y="15946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两年变化</a:t>
            </a:r>
          </a:p>
        </p:txBody>
      </p:sp>
      <p:sp>
        <p:nvSpPr>
          <p:cNvPr id="89" name="side-p"/>
          <p:cNvSpPr txBox="1"/>
          <p:nvPr/>
        </p:nvSpPr>
        <p:spPr>
          <a:xfrm>
            <a:off x="9054465" y="1869361"/>
            <a:ext cx="146399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按变化幅度排序（百分点）</a:t>
            </a:r>
          </a:p>
        </p:txBody>
      </p:sp>
      <p:sp>
        <p:nvSpPr>
          <p:cNvPr id="90" name="rk-1"/>
          <p:cNvSpPr txBox="1"/>
          <p:nvPr/>
        </p:nvSpPr>
        <p:spPr>
          <a:xfrm>
            <a:off x="8901684" y="2271840"/>
            <a:ext cx="57531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数据服务</a:t>
            </a:r>
          </a:p>
        </p:txBody>
      </p:sp>
      <p:cxnSp>
        <p:nvCxnSpPr>
          <p:cNvPr id="91" name="rkm-1"/>
          <p:cNvCxnSpPr/>
          <p:nvPr/>
        </p:nvCxnSpPr>
        <p:spPr>
          <a:xfrm>
            <a:off x="10007600" y="2273300"/>
            <a:ext cx="0" cy="203200"/>
          </a:xfrm>
          <a:prstGeom prst="line">
            <a:avLst/>
          </a:prstGeom>
          <a:ln w="6350" cap="rnd">
            <a:solidFill>
              <a:srgbClr val="0B2545">
                <a:alpha val="1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2" name="rkb-1"/>
          <p:cNvSpPr/>
          <p:nvPr/>
        </p:nvSpPr>
        <p:spPr>
          <a:xfrm>
            <a:off x="10007600" y="2311400"/>
            <a:ext cx="711200" cy="127000"/>
          </a:xfrm>
          <a:custGeom>
            <a:avLst/>
            <a:gdLst/>
            <a:ahLst/>
            <a:cxnLst/>
            <a:rect l="0" t="0" r="r" b="b"/>
            <a:pathLst>
              <a:path w="711200" h="127000">
                <a:moveTo>
                  <a:pt x="38100" y="0"/>
                </a:moveTo>
                <a:lnTo>
                  <a:pt x="673100" y="0"/>
                </a:lnTo>
                <a:cubicBezTo>
                  <a:pt x="694118" y="0"/>
                  <a:pt x="711200" y="17081"/>
                  <a:pt x="711200" y="38100"/>
                </a:cubicBezTo>
                <a:lnTo>
                  <a:pt x="711200" y="88900"/>
                </a:lnTo>
                <a:cubicBezTo>
                  <a:pt x="711200" y="109919"/>
                  <a:pt x="694118" y="127000"/>
                  <a:pt x="673100" y="127000"/>
                </a:cubicBezTo>
                <a:lnTo>
                  <a:pt x="38100" y="127000"/>
                </a:lnTo>
                <a:cubicBezTo>
                  <a:pt x="17082" y="127000"/>
                  <a:pt x="0" y="109919"/>
                  <a:pt x="0" y="889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3E8F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rkv-1"/>
          <p:cNvSpPr txBox="1"/>
          <p:nvPr/>
        </p:nvSpPr>
        <p:spPr>
          <a:xfrm>
            <a:off x="10958322" y="2271840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+16</a:t>
            </a:r>
          </a:p>
        </p:txBody>
      </p:sp>
      <p:sp>
        <p:nvSpPr>
          <p:cNvPr id="94" name="rk-2"/>
          <p:cNvSpPr txBox="1"/>
          <p:nvPr/>
        </p:nvSpPr>
        <p:spPr>
          <a:xfrm>
            <a:off x="8901684" y="2652840"/>
            <a:ext cx="57531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智能硬件</a:t>
            </a:r>
          </a:p>
        </p:txBody>
      </p:sp>
      <p:cxnSp>
        <p:nvCxnSpPr>
          <p:cNvPr id="95" name="rkm-2"/>
          <p:cNvCxnSpPr/>
          <p:nvPr/>
        </p:nvCxnSpPr>
        <p:spPr>
          <a:xfrm>
            <a:off x="10007600" y="2654300"/>
            <a:ext cx="0" cy="203200"/>
          </a:xfrm>
          <a:prstGeom prst="line">
            <a:avLst/>
          </a:prstGeom>
          <a:ln w="6350" cap="rnd">
            <a:solidFill>
              <a:srgbClr val="0B2545">
                <a:alpha val="1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rkb-2"/>
          <p:cNvSpPr/>
          <p:nvPr/>
        </p:nvSpPr>
        <p:spPr>
          <a:xfrm>
            <a:off x="10007600" y="2692400"/>
            <a:ext cx="577850" cy="127000"/>
          </a:xfrm>
          <a:custGeom>
            <a:avLst/>
            <a:gdLst/>
            <a:ahLst/>
            <a:cxnLst/>
            <a:rect l="0" t="0" r="r" b="b"/>
            <a:pathLst>
              <a:path w="577850" h="127000">
                <a:moveTo>
                  <a:pt x="38100" y="0"/>
                </a:moveTo>
                <a:lnTo>
                  <a:pt x="539750" y="0"/>
                </a:lnTo>
                <a:cubicBezTo>
                  <a:pt x="560768" y="0"/>
                  <a:pt x="577850" y="17081"/>
                  <a:pt x="577850" y="38100"/>
                </a:cubicBezTo>
                <a:lnTo>
                  <a:pt x="577850" y="88900"/>
                </a:lnTo>
                <a:cubicBezTo>
                  <a:pt x="577850" y="109919"/>
                  <a:pt x="560768" y="127000"/>
                  <a:pt x="539750" y="127000"/>
                </a:cubicBezTo>
                <a:lnTo>
                  <a:pt x="38100" y="127000"/>
                </a:lnTo>
                <a:cubicBezTo>
                  <a:pt x="17082" y="127000"/>
                  <a:pt x="0" y="109919"/>
                  <a:pt x="0" y="889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3E8F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rkv-2"/>
          <p:cNvSpPr txBox="1"/>
          <p:nvPr/>
        </p:nvSpPr>
        <p:spPr>
          <a:xfrm>
            <a:off x="10958322" y="2652840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+13</a:t>
            </a:r>
          </a:p>
        </p:txBody>
      </p:sp>
      <p:sp>
        <p:nvSpPr>
          <p:cNvPr id="98" name="rk-3"/>
          <p:cNvSpPr txBox="1"/>
          <p:nvPr/>
        </p:nvSpPr>
        <p:spPr>
          <a:xfrm>
            <a:off x="8901684" y="3033840"/>
            <a:ext cx="45720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云服务</a:t>
            </a:r>
          </a:p>
        </p:txBody>
      </p:sp>
      <p:cxnSp>
        <p:nvCxnSpPr>
          <p:cNvPr id="99" name="rkm-3"/>
          <p:cNvCxnSpPr/>
          <p:nvPr/>
        </p:nvCxnSpPr>
        <p:spPr>
          <a:xfrm>
            <a:off x="10007600" y="3035300"/>
            <a:ext cx="0" cy="203200"/>
          </a:xfrm>
          <a:prstGeom prst="line">
            <a:avLst/>
          </a:prstGeom>
          <a:ln w="6350" cap="rnd">
            <a:solidFill>
              <a:srgbClr val="0B2545">
                <a:alpha val="1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0" name="rkb-3"/>
          <p:cNvSpPr/>
          <p:nvPr/>
        </p:nvSpPr>
        <p:spPr>
          <a:xfrm>
            <a:off x="10007600" y="3073400"/>
            <a:ext cx="533400" cy="127000"/>
          </a:xfrm>
          <a:custGeom>
            <a:avLst/>
            <a:gdLst/>
            <a:ahLst/>
            <a:cxnLst/>
            <a:rect l="0" t="0" r="r" b="b"/>
            <a:pathLst>
              <a:path w="533400" h="127000">
                <a:moveTo>
                  <a:pt x="38100" y="0"/>
                </a:moveTo>
                <a:lnTo>
                  <a:pt x="495300" y="0"/>
                </a:lnTo>
                <a:cubicBezTo>
                  <a:pt x="516318" y="0"/>
                  <a:pt x="533400" y="17081"/>
                  <a:pt x="533400" y="38100"/>
                </a:cubicBezTo>
                <a:lnTo>
                  <a:pt x="533400" y="88900"/>
                </a:lnTo>
                <a:cubicBezTo>
                  <a:pt x="533400" y="109919"/>
                  <a:pt x="516318" y="127000"/>
                  <a:pt x="495300" y="127000"/>
                </a:cubicBezTo>
                <a:lnTo>
                  <a:pt x="38100" y="127000"/>
                </a:lnTo>
                <a:cubicBezTo>
                  <a:pt x="17082" y="127000"/>
                  <a:pt x="0" y="109919"/>
                  <a:pt x="0" y="889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3E8F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rkv-3"/>
          <p:cNvSpPr txBox="1"/>
          <p:nvPr/>
        </p:nvSpPr>
        <p:spPr>
          <a:xfrm>
            <a:off x="10958322" y="3033840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+12</a:t>
            </a:r>
          </a:p>
        </p:txBody>
      </p:sp>
      <p:sp>
        <p:nvSpPr>
          <p:cNvPr id="102" name="rk-4"/>
          <p:cNvSpPr txBox="1"/>
          <p:nvPr/>
        </p:nvSpPr>
        <p:spPr>
          <a:xfrm>
            <a:off x="8901684" y="3414840"/>
            <a:ext cx="57531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企业软件</a:t>
            </a:r>
          </a:p>
        </p:txBody>
      </p:sp>
      <p:cxnSp>
        <p:nvCxnSpPr>
          <p:cNvPr id="103" name="rkm-4"/>
          <p:cNvCxnSpPr/>
          <p:nvPr/>
        </p:nvCxnSpPr>
        <p:spPr>
          <a:xfrm>
            <a:off x="10007600" y="3416300"/>
            <a:ext cx="0" cy="203200"/>
          </a:xfrm>
          <a:prstGeom prst="line">
            <a:avLst/>
          </a:prstGeom>
          <a:ln w="6350" cap="rnd">
            <a:solidFill>
              <a:srgbClr val="0B2545">
                <a:alpha val="1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4" name="rkb-4"/>
          <p:cNvSpPr/>
          <p:nvPr/>
        </p:nvSpPr>
        <p:spPr>
          <a:xfrm>
            <a:off x="10007600" y="3454400"/>
            <a:ext cx="177800" cy="127000"/>
          </a:xfrm>
          <a:custGeom>
            <a:avLst/>
            <a:gdLst/>
            <a:ahLst/>
            <a:cxnLst/>
            <a:rect l="0" t="0" r="r" b="b"/>
            <a:pathLst>
              <a:path w="177800" h="127000">
                <a:moveTo>
                  <a:pt x="38100" y="0"/>
                </a:moveTo>
                <a:lnTo>
                  <a:pt x="139700" y="0"/>
                </a:lnTo>
                <a:cubicBezTo>
                  <a:pt x="160718" y="0"/>
                  <a:pt x="177800" y="17082"/>
                  <a:pt x="177800" y="38100"/>
                </a:cubicBezTo>
                <a:lnTo>
                  <a:pt x="177800" y="88900"/>
                </a:lnTo>
                <a:cubicBezTo>
                  <a:pt x="177800" y="109918"/>
                  <a:pt x="160718" y="127000"/>
                  <a:pt x="139700" y="127000"/>
                </a:cubicBezTo>
                <a:lnTo>
                  <a:pt x="38100" y="127000"/>
                </a:lnTo>
                <a:cubicBezTo>
                  <a:pt x="17082" y="127000"/>
                  <a:pt x="0" y="109918"/>
                  <a:pt x="0" y="889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9DB2CC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rkv-4"/>
          <p:cNvSpPr txBox="1"/>
          <p:nvPr/>
        </p:nvSpPr>
        <p:spPr>
          <a:xfrm>
            <a:off x="11022330" y="341484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9DB2CC"/>
                </a:solidFill>
                <a:latin typeface="Arial"/>
                <a:ea typeface="Arial"/>
                <a:cs typeface="Arial"/>
              </a:rPr>
              <a:t>+4</a:t>
            </a:r>
          </a:p>
        </p:txBody>
      </p:sp>
      <p:sp>
        <p:nvSpPr>
          <p:cNvPr id="106" name="rk-5"/>
          <p:cNvSpPr txBox="1"/>
          <p:nvPr/>
        </p:nvSpPr>
        <p:spPr>
          <a:xfrm>
            <a:off x="8901684" y="3795840"/>
            <a:ext cx="57531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培训业务</a:t>
            </a:r>
          </a:p>
        </p:txBody>
      </p:sp>
      <p:cxnSp>
        <p:nvCxnSpPr>
          <p:cNvPr id="107" name="rkm-5"/>
          <p:cNvCxnSpPr/>
          <p:nvPr/>
        </p:nvCxnSpPr>
        <p:spPr>
          <a:xfrm>
            <a:off x="10007600" y="3797300"/>
            <a:ext cx="0" cy="203200"/>
          </a:xfrm>
          <a:prstGeom prst="line">
            <a:avLst/>
          </a:prstGeom>
          <a:ln w="6350" cap="rnd">
            <a:solidFill>
              <a:srgbClr val="0B2545">
                <a:alpha val="1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8" name="rkb-5"/>
          <p:cNvSpPr/>
          <p:nvPr/>
        </p:nvSpPr>
        <p:spPr>
          <a:xfrm>
            <a:off x="10007600" y="3835400"/>
            <a:ext cx="133350" cy="127000"/>
          </a:xfrm>
          <a:custGeom>
            <a:avLst/>
            <a:gdLst/>
            <a:ahLst/>
            <a:cxnLst/>
            <a:rect l="0" t="0" r="r" b="b"/>
            <a:pathLst>
              <a:path w="133350" h="127000">
                <a:moveTo>
                  <a:pt x="38100" y="0"/>
                </a:moveTo>
                <a:lnTo>
                  <a:pt x="95250" y="0"/>
                </a:lnTo>
                <a:cubicBezTo>
                  <a:pt x="116268" y="0"/>
                  <a:pt x="133350" y="17082"/>
                  <a:pt x="133350" y="38100"/>
                </a:cubicBezTo>
                <a:lnTo>
                  <a:pt x="133350" y="88900"/>
                </a:lnTo>
                <a:cubicBezTo>
                  <a:pt x="133350" y="109918"/>
                  <a:pt x="116268" y="127000"/>
                  <a:pt x="95250" y="127000"/>
                </a:cubicBezTo>
                <a:lnTo>
                  <a:pt x="38100" y="127000"/>
                </a:lnTo>
                <a:cubicBezTo>
                  <a:pt x="17082" y="127000"/>
                  <a:pt x="0" y="109918"/>
                  <a:pt x="0" y="889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9DB2CC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rkv-5"/>
          <p:cNvSpPr txBox="1"/>
          <p:nvPr/>
        </p:nvSpPr>
        <p:spPr>
          <a:xfrm>
            <a:off x="11022330" y="379584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9DB2CC"/>
                </a:solidFill>
                <a:latin typeface="Arial"/>
                <a:ea typeface="Arial"/>
                <a:cs typeface="Arial"/>
              </a:rPr>
              <a:t>+3</a:t>
            </a:r>
          </a:p>
        </p:txBody>
      </p:sp>
      <p:sp>
        <p:nvSpPr>
          <p:cNvPr id="110" name="rk-6"/>
          <p:cNvSpPr txBox="1"/>
          <p:nvPr/>
        </p:nvSpPr>
        <p:spPr>
          <a:xfrm>
            <a:off x="8901684" y="4176840"/>
            <a:ext cx="57531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系统集成</a:t>
            </a:r>
          </a:p>
        </p:txBody>
      </p:sp>
      <p:cxnSp>
        <p:nvCxnSpPr>
          <p:cNvPr id="111" name="rkm-6"/>
          <p:cNvCxnSpPr/>
          <p:nvPr/>
        </p:nvCxnSpPr>
        <p:spPr>
          <a:xfrm>
            <a:off x="10007600" y="4178300"/>
            <a:ext cx="0" cy="203200"/>
          </a:xfrm>
          <a:prstGeom prst="line">
            <a:avLst/>
          </a:prstGeom>
          <a:ln w="6350" cap="rnd">
            <a:solidFill>
              <a:srgbClr val="0B2545">
                <a:alpha val="1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" name="rkb-6"/>
          <p:cNvSpPr/>
          <p:nvPr/>
        </p:nvSpPr>
        <p:spPr>
          <a:xfrm>
            <a:off x="9918700" y="4216400"/>
            <a:ext cx="88900" cy="127000"/>
          </a:xfrm>
          <a:custGeom>
            <a:avLst/>
            <a:gdLst/>
            <a:ahLst/>
            <a:cxnLst/>
            <a:rect l="0" t="0" r="r" b="b"/>
            <a:pathLst>
              <a:path w="88900" h="127000">
                <a:moveTo>
                  <a:pt x="38100" y="0"/>
                </a:moveTo>
                <a:lnTo>
                  <a:pt x="50800" y="0"/>
                </a:lnTo>
                <a:cubicBezTo>
                  <a:pt x="71818" y="0"/>
                  <a:pt x="88900" y="17082"/>
                  <a:pt x="88900" y="38100"/>
                </a:cubicBezTo>
                <a:lnTo>
                  <a:pt x="88900" y="88900"/>
                </a:lnTo>
                <a:cubicBezTo>
                  <a:pt x="88900" y="109918"/>
                  <a:pt x="71818" y="127000"/>
                  <a:pt x="50800" y="127000"/>
                </a:cubicBezTo>
                <a:lnTo>
                  <a:pt x="38100" y="127000"/>
                </a:lnTo>
                <a:cubicBezTo>
                  <a:pt x="17082" y="127000"/>
                  <a:pt x="0" y="109918"/>
                  <a:pt x="0" y="889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9DB2CC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3" name="rkv-6"/>
          <p:cNvSpPr txBox="1"/>
          <p:nvPr/>
        </p:nvSpPr>
        <p:spPr>
          <a:xfrm>
            <a:off x="11022330" y="417684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9DB2CC"/>
                </a:solidFill>
                <a:latin typeface="Arial"/>
                <a:ea typeface="Arial"/>
                <a:cs typeface="Arial"/>
              </a:rPr>
              <a:t>-2</a:t>
            </a:r>
          </a:p>
        </p:txBody>
      </p:sp>
      <p:sp>
        <p:nvSpPr>
          <p:cNvPr id="114" name="rk-7"/>
          <p:cNvSpPr txBox="1"/>
          <p:nvPr/>
        </p:nvSpPr>
        <p:spPr>
          <a:xfrm>
            <a:off x="8901684" y="4557840"/>
            <a:ext cx="57531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咨询服务</a:t>
            </a:r>
          </a:p>
        </p:txBody>
      </p:sp>
      <p:cxnSp>
        <p:nvCxnSpPr>
          <p:cNvPr id="115" name="rkm-7"/>
          <p:cNvCxnSpPr/>
          <p:nvPr/>
        </p:nvCxnSpPr>
        <p:spPr>
          <a:xfrm>
            <a:off x="10007600" y="4559300"/>
            <a:ext cx="0" cy="203200"/>
          </a:xfrm>
          <a:prstGeom prst="line">
            <a:avLst/>
          </a:prstGeom>
          <a:ln w="6350" cap="rnd">
            <a:solidFill>
              <a:srgbClr val="0B2545">
                <a:alpha val="1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6" name="rkb-7"/>
          <p:cNvSpPr/>
          <p:nvPr/>
        </p:nvSpPr>
        <p:spPr>
          <a:xfrm>
            <a:off x="9740900" y="4597400"/>
            <a:ext cx="266700" cy="127000"/>
          </a:xfrm>
          <a:custGeom>
            <a:avLst/>
            <a:gdLst/>
            <a:ahLst/>
            <a:cxnLst/>
            <a:rect l="0" t="0" r="r" b="b"/>
            <a:pathLst>
              <a:path w="266700" h="127000">
                <a:moveTo>
                  <a:pt x="38100" y="0"/>
                </a:moveTo>
                <a:lnTo>
                  <a:pt x="228600" y="0"/>
                </a:lnTo>
                <a:cubicBezTo>
                  <a:pt x="249618" y="0"/>
                  <a:pt x="266700" y="17082"/>
                  <a:pt x="266700" y="38100"/>
                </a:cubicBezTo>
                <a:lnTo>
                  <a:pt x="266700" y="88900"/>
                </a:lnTo>
                <a:cubicBezTo>
                  <a:pt x="266700" y="109918"/>
                  <a:pt x="249618" y="127000"/>
                  <a:pt x="228600" y="127000"/>
                </a:cubicBezTo>
                <a:lnTo>
                  <a:pt x="38100" y="127000"/>
                </a:lnTo>
                <a:cubicBezTo>
                  <a:pt x="17082" y="127000"/>
                  <a:pt x="0" y="109918"/>
                  <a:pt x="0" y="889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7" name="rkv-7"/>
          <p:cNvSpPr txBox="1"/>
          <p:nvPr/>
        </p:nvSpPr>
        <p:spPr>
          <a:xfrm>
            <a:off x="11022330" y="455784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-6</a:t>
            </a:r>
          </a:p>
        </p:txBody>
      </p:sp>
      <p:sp>
        <p:nvSpPr>
          <p:cNvPr id="118" name="rk-8"/>
          <p:cNvSpPr txBox="1"/>
          <p:nvPr/>
        </p:nvSpPr>
        <p:spPr>
          <a:xfrm>
            <a:off x="8901684" y="4938840"/>
            <a:ext cx="57531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运维外包</a:t>
            </a:r>
          </a:p>
        </p:txBody>
      </p:sp>
      <p:cxnSp>
        <p:nvCxnSpPr>
          <p:cNvPr id="119" name="rkm-8"/>
          <p:cNvCxnSpPr/>
          <p:nvPr/>
        </p:nvCxnSpPr>
        <p:spPr>
          <a:xfrm>
            <a:off x="10007600" y="4940300"/>
            <a:ext cx="0" cy="203200"/>
          </a:xfrm>
          <a:prstGeom prst="line">
            <a:avLst/>
          </a:prstGeom>
          <a:ln w="6350" cap="rnd">
            <a:solidFill>
              <a:srgbClr val="0B2545">
                <a:alpha val="1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0" name="rkb-8"/>
          <p:cNvSpPr/>
          <p:nvPr/>
        </p:nvSpPr>
        <p:spPr>
          <a:xfrm>
            <a:off x="9740900" y="4978400"/>
            <a:ext cx="266700" cy="127000"/>
          </a:xfrm>
          <a:custGeom>
            <a:avLst/>
            <a:gdLst/>
            <a:ahLst/>
            <a:cxnLst/>
            <a:rect l="0" t="0" r="r" b="b"/>
            <a:pathLst>
              <a:path w="266700" h="127000">
                <a:moveTo>
                  <a:pt x="38100" y="0"/>
                </a:moveTo>
                <a:lnTo>
                  <a:pt x="228600" y="0"/>
                </a:lnTo>
                <a:cubicBezTo>
                  <a:pt x="249618" y="0"/>
                  <a:pt x="266700" y="17082"/>
                  <a:pt x="266700" y="38100"/>
                </a:cubicBezTo>
                <a:lnTo>
                  <a:pt x="266700" y="88900"/>
                </a:lnTo>
                <a:cubicBezTo>
                  <a:pt x="266700" y="109918"/>
                  <a:pt x="249618" y="127000"/>
                  <a:pt x="228600" y="127000"/>
                </a:cubicBezTo>
                <a:lnTo>
                  <a:pt x="38100" y="127000"/>
                </a:lnTo>
                <a:cubicBezTo>
                  <a:pt x="17082" y="127000"/>
                  <a:pt x="0" y="109918"/>
                  <a:pt x="0" y="889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1" name="rkv-8"/>
          <p:cNvSpPr txBox="1"/>
          <p:nvPr/>
        </p:nvSpPr>
        <p:spPr>
          <a:xfrm>
            <a:off x="11022330" y="493884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-6</a:t>
            </a:r>
          </a:p>
        </p:txBody>
      </p:sp>
      <p:sp>
        <p:nvSpPr>
          <p:cNvPr id="122" name="sum"/>
          <p:cNvSpPr/>
          <p:nvPr/>
        </p:nvSpPr>
        <p:spPr>
          <a:xfrm>
            <a:off x="952500" y="5905500"/>
            <a:ext cx="10287000" cy="419100"/>
          </a:xfrm>
          <a:custGeom>
            <a:avLst/>
            <a:gdLst/>
            <a:ahLst/>
            <a:cxnLst/>
            <a:rect l="0" t="0" r="r" b="b"/>
            <a:pathLst>
              <a:path w="10287000" h="4191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30200"/>
                </a:lnTo>
                <a:cubicBezTo>
                  <a:pt x="10287000" y="379286"/>
                  <a:pt x="10247186" y="419100"/>
                  <a:pt x="10198100" y="419100"/>
                </a:cubicBezTo>
                <a:lnTo>
                  <a:pt x="88900" y="419100"/>
                </a:lnTo>
                <a:cubicBezTo>
                  <a:pt x="39815" y="419100"/>
                  <a:pt x="0" y="379286"/>
                  <a:pt x="0" y="3302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3" name="sum-bar"/>
          <p:cNvSpPr/>
          <p:nvPr/>
        </p:nvSpPr>
        <p:spPr>
          <a:xfrm>
            <a:off x="952500" y="5905500"/>
            <a:ext cx="31750" cy="4191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4" name="sum-h"/>
          <p:cNvSpPr txBox="1"/>
          <p:nvPr/>
        </p:nvSpPr>
        <p:spPr>
          <a:xfrm>
            <a:off x="1142746" y="60388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结构判断</a:t>
            </a:r>
          </a:p>
        </p:txBody>
      </p:sp>
      <p:sp>
        <p:nvSpPr>
          <p:cNvPr id="125" name="sum-p"/>
          <p:cNvSpPr txBox="1"/>
          <p:nvPr/>
        </p:nvSpPr>
        <p:spPr>
          <a:xfrm>
            <a:off x="1891665" y="6034961"/>
            <a:ext cx="578326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数据服务、智能硬件、云服务三条线毛利率大幅上行，明年资源向这三条线倾斜；咨询与运维外包需要重新定价。</a:t>
            </a:r>
          </a:p>
        </p:txBody>
      </p:sp>
      <p:cxnSp>
        <p:nvCxnSpPr>
          <p:cNvPr id="126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7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斜率图 · 八条产品线</a:t>
            </a:r>
          </a:p>
        </p:txBody>
      </p:sp>
      <p:sp>
        <p:nvSpPr>
          <p:cNvPr id="128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细分市场份额地图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44589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MARIMEKKO CHART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323199" y="673132"/>
            <a:ext cx="32975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柱宽代表市场规模，柱内高度代表各家份额，面积就是生意大小</a:t>
            </a:r>
          </a:p>
        </p:txBody>
      </p:sp>
      <p:sp>
        <p:nvSpPr>
          <p:cNvPr id="10" name="yt-0"/>
          <p:cNvSpPr txBox="1"/>
          <p:nvPr/>
        </p:nvSpPr>
        <p:spPr>
          <a:xfrm>
            <a:off x="1153160" y="51196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0%</a:t>
            </a:r>
          </a:p>
        </p:txBody>
      </p:sp>
      <p:sp>
        <p:nvSpPr>
          <p:cNvPr id="11" name="yt-25"/>
          <p:cNvSpPr txBox="1"/>
          <p:nvPr/>
        </p:nvSpPr>
        <p:spPr>
          <a:xfrm>
            <a:off x="1096264" y="4246499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25%</a:t>
            </a:r>
          </a:p>
        </p:txBody>
      </p:sp>
      <p:sp>
        <p:nvSpPr>
          <p:cNvPr id="12" name="yt-50"/>
          <p:cNvSpPr txBox="1"/>
          <p:nvPr/>
        </p:nvSpPr>
        <p:spPr>
          <a:xfrm>
            <a:off x="1096264" y="337337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50%</a:t>
            </a:r>
          </a:p>
        </p:txBody>
      </p:sp>
      <p:sp>
        <p:nvSpPr>
          <p:cNvPr id="13" name="yt-75"/>
          <p:cNvSpPr txBox="1"/>
          <p:nvPr/>
        </p:nvSpPr>
        <p:spPr>
          <a:xfrm>
            <a:off x="1096264" y="2500249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75%</a:t>
            </a:r>
          </a:p>
        </p:txBody>
      </p:sp>
      <p:sp>
        <p:nvSpPr>
          <p:cNvPr id="14" name="yt-100"/>
          <p:cNvSpPr txBox="1"/>
          <p:nvPr/>
        </p:nvSpPr>
        <p:spPr>
          <a:xfrm>
            <a:off x="1039368" y="1627124"/>
            <a:ext cx="3190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100%</a:t>
            </a:r>
          </a:p>
        </p:txBody>
      </p:sp>
      <p:sp>
        <p:nvSpPr>
          <p:cNvPr id="15" name="ylab"/>
          <p:cNvSpPr txBox="1"/>
          <p:nvPr/>
        </p:nvSpPr>
        <p:spPr>
          <a:xfrm>
            <a:off x="1092708" y="1414208"/>
            <a:ext cx="2641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份额</a:t>
            </a:r>
          </a:p>
        </p:txBody>
      </p:sp>
      <p:sp>
        <p:nvSpPr>
          <p:cNvPr id="16" name="cell-1-1"/>
          <p:cNvSpPr/>
          <p:nvPr/>
        </p:nvSpPr>
        <p:spPr>
          <a:xfrm>
            <a:off x="1460500" y="4587875"/>
            <a:ext cx="2480564" cy="609600"/>
          </a:xfrm>
          <a:custGeom>
            <a:avLst/>
            <a:gdLst/>
            <a:ahLst/>
            <a:cxnLst/>
            <a:rect l="0" t="0" r="r" b="b"/>
            <a:pathLst>
              <a:path w="2480564" h="609600">
                <a:moveTo>
                  <a:pt x="50800" y="0"/>
                </a:moveTo>
                <a:lnTo>
                  <a:pt x="2429764" y="0"/>
                </a:lnTo>
                <a:cubicBezTo>
                  <a:pt x="2457831" y="0"/>
                  <a:pt x="2480564" y="22733"/>
                  <a:pt x="2480564" y="50800"/>
                </a:cubicBezTo>
                <a:lnTo>
                  <a:pt x="2480564" y="558800"/>
                </a:lnTo>
                <a:cubicBezTo>
                  <a:pt x="2480564" y="586867"/>
                  <a:pt x="2457831" y="609600"/>
                  <a:pt x="2429764" y="609600"/>
                </a:cubicBezTo>
                <a:lnTo>
                  <a:pt x="50800" y="609600"/>
                </a:lnTo>
                <a:cubicBezTo>
                  <a:pt x="22733" y="609600"/>
                  <a:pt x="0" y="586867"/>
                  <a:pt x="0" y="558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2D599F"/>
              </a:gs>
              <a:gs pos="100000">
                <a:srgbClr val="0B3E8F"/>
              </a:gs>
            </a:gsLst>
            <a:lin ang="66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cv-1-1"/>
          <p:cNvSpPr txBox="1"/>
          <p:nvPr/>
        </p:nvSpPr>
        <p:spPr>
          <a:xfrm>
            <a:off x="2542286" y="4788122"/>
            <a:ext cx="316992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18%</a:t>
            </a:r>
          </a:p>
        </p:txBody>
      </p:sp>
      <p:sp>
        <p:nvSpPr>
          <p:cNvPr id="18" name="cell-1-2"/>
          <p:cNvSpPr/>
          <p:nvPr/>
        </p:nvSpPr>
        <p:spPr>
          <a:xfrm>
            <a:off x="1460500" y="3470275"/>
            <a:ext cx="2480564" cy="1098550"/>
          </a:xfrm>
          <a:custGeom>
            <a:avLst/>
            <a:gdLst/>
            <a:ahLst/>
            <a:cxnLst/>
            <a:rect l="0" t="0" r="r" b="b"/>
            <a:pathLst>
              <a:path w="2480564" h="1098550">
                <a:moveTo>
                  <a:pt x="50800" y="0"/>
                </a:moveTo>
                <a:lnTo>
                  <a:pt x="2429764" y="0"/>
                </a:lnTo>
                <a:cubicBezTo>
                  <a:pt x="2457831" y="0"/>
                  <a:pt x="2480564" y="22733"/>
                  <a:pt x="2480564" y="50800"/>
                </a:cubicBezTo>
                <a:lnTo>
                  <a:pt x="2480564" y="1047750"/>
                </a:lnTo>
                <a:cubicBezTo>
                  <a:pt x="2480564" y="1075817"/>
                  <a:pt x="2457831" y="1098550"/>
                  <a:pt x="2429764" y="1098550"/>
                </a:cubicBezTo>
                <a:lnTo>
                  <a:pt x="50800" y="1098550"/>
                </a:lnTo>
                <a:cubicBezTo>
                  <a:pt x="22733" y="1098550"/>
                  <a:pt x="0" y="1075817"/>
                  <a:pt x="0" y="104775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437DC0"/>
              </a:gs>
              <a:gs pos="100000">
                <a:srgbClr val="2468B6"/>
              </a:gs>
            </a:gsLst>
            <a:lin ang="66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cv-1-2"/>
          <p:cNvSpPr txBox="1"/>
          <p:nvPr/>
        </p:nvSpPr>
        <p:spPr>
          <a:xfrm>
            <a:off x="2566860" y="393852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32%</a:t>
            </a:r>
          </a:p>
        </p:txBody>
      </p:sp>
      <p:sp>
        <p:nvSpPr>
          <p:cNvPr id="20" name="cell-1-3"/>
          <p:cNvSpPr/>
          <p:nvPr/>
        </p:nvSpPr>
        <p:spPr>
          <a:xfrm>
            <a:off x="1460500" y="2701925"/>
            <a:ext cx="2480564" cy="749300"/>
          </a:xfrm>
          <a:custGeom>
            <a:avLst/>
            <a:gdLst/>
            <a:ahLst/>
            <a:cxnLst/>
            <a:rect l="0" t="0" r="r" b="b"/>
            <a:pathLst>
              <a:path w="2480564" h="749300">
                <a:moveTo>
                  <a:pt x="50800" y="0"/>
                </a:moveTo>
                <a:lnTo>
                  <a:pt x="2429764" y="0"/>
                </a:lnTo>
                <a:cubicBezTo>
                  <a:pt x="2457831" y="0"/>
                  <a:pt x="2480564" y="22733"/>
                  <a:pt x="2480564" y="50800"/>
                </a:cubicBezTo>
                <a:lnTo>
                  <a:pt x="2480564" y="698500"/>
                </a:lnTo>
                <a:cubicBezTo>
                  <a:pt x="2480564" y="726567"/>
                  <a:pt x="2457831" y="749300"/>
                  <a:pt x="2429764" y="749300"/>
                </a:cubicBezTo>
                <a:lnTo>
                  <a:pt x="50800" y="749300"/>
                </a:lnTo>
                <a:cubicBezTo>
                  <a:pt x="22733" y="749300"/>
                  <a:pt x="0" y="726567"/>
                  <a:pt x="0" y="6985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60A3DD"/>
              </a:gs>
              <a:gs pos="100000">
                <a:srgbClr val="4694D7"/>
              </a:gs>
            </a:gsLst>
            <a:lin ang="66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cv-1-3"/>
          <p:cNvSpPr txBox="1"/>
          <p:nvPr/>
        </p:nvSpPr>
        <p:spPr>
          <a:xfrm>
            <a:off x="2566860" y="2995549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22%</a:t>
            </a:r>
          </a:p>
        </p:txBody>
      </p:sp>
      <p:sp>
        <p:nvSpPr>
          <p:cNvPr id="22" name="cell-1-4"/>
          <p:cNvSpPr/>
          <p:nvPr/>
        </p:nvSpPr>
        <p:spPr>
          <a:xfrm>
            <a:off x="1460500" y="1724025"/>
            <a:ext cx="2480564" cy="958850"/>
          </a:xfrm>
          <a:custGeom>
            <a:avLst/>
            <a:gdLst/>
            <a:ahLst/>
            <a:cxnLst/>
            <a:rect l="0" t="0" r="r" b="b"/>
            <a:pathLst>
              <a:path w="2480564" h="958850">
                <a:moveTo>
                  <a:pt x="50800" y="0"/>
                </a:moveTo>
                <a:lnTo>
                  <a:pt x="2429764" y="0"/>
                </a:lnTo>
                <a:cubicBezTo>
                  <a:pt x="2457831" y="0"/>
                  <a:pt x="2480564" y="22733"/>
                  <a:pt x="2480564" y="50800"/>
                </a:cubicBezTo>
                <a:lnTo>
                  <a:pt x="2480564" y="908050"/>
                </a:lnTo>
                <a:cubicBezTo>
                  <a:pt x="2480564" y="936117"/>
                  <a:pt x="2457831" y="958850"/>
                  <a:pt x="2429764" y="958850"/>
                </a:cubicBezTo>
                <a:lnTo>
                  <a:pt x="50800" y="958850"/>
                </a:lnTo>
                <a:cubicBezTo>
                  <a:pt x="22733" y="958850"/>
                  <a:pt x="0" y="936117"/>
                  <a:pt x="0" y="90805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D1DDED"/>
              </a:gs>
              <a:gs pos="100000">
                <a:srgbClr val="C9D7EA"/>
              </a:gs>
            </a:gsLst>
            <a:lin ang="66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cv-1-4"/>
          <p:cNvSpPr txBox="1"/>
          <p:nvPr/>
        </p:nvSpPr>
        <p:spPr>
          <a:xfrm>
            <a:off x="2566860" y="212242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28%</a:t>
            </a:r>
          </a:p>
        </p:txBody>
      </p:sp>
      <p:cxnSp>
        <p:nvCxnSpPr>
          <p:cNvPr id="24" name="br-1"/>
          <p:cNvCxnSpPr/>
          <p:nvPr/>
        </p:nvCxnSpPr>
        <p:spPr>
          <a:xfrm>
            <a:off x="1485900" y="1600200"/>
            <a:ext cx="2429764" cy="0"/>
          </a:xfrm>
          <a:prstGeom prst="line">
            <a:avLst/>
          </a:prstGeom>
          <a:ln w="10160" cap="rnd">
            <a:solidFill>
              <a:srgbClr val="0B3E8F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brl-1"/>
          <p:cNvCxnSpPr/>
          <p:nvPr/>
        </p:nvCxnSpPr>
        <p:spPr>
          <a:xfrm>
            <a:off x="1485900" y="1562100"/>
            <a:ext cx="0" cy="76200"/>
          </a:xfrm>
          <a:prstGeom prst="line">
            <a:avLst/>
          </a:prstGeom>
          <a:ln w="10160" cap="rnd">
            <a:solidFill>
              <a:srgbClr val="0B3E8F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brr-1"/>
          <p:cNvCxnSpPr/>
          <p:nvPr/>
        </p:nvCxnSpPr>
        <p:spPr>
          <a:xfrm>
            <a:off x="3915664" y="1562100"/>
            <a:ext cx="0" cy="76200"/>
          </a:xfrm>
          <a:prstGeom prst="line">
            <a:avLst/>
          </a:prstGeom>
          <a:ln w="10160" cap="rnd">
            <a:solidFill>
              <a:srgbClr val="0B3E8F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szbg-1"/>
          <p:cNvSpPr/>
          <p:nvPr/>
        </p:nvSpPr>
        <p:spPr>
          <a:xfrm>
            <a:off x="2484882" y="1409700"/>
            <a:ext cx="431800" cy="177800"/>
          </a:xfrm>
          <a:custGeom>
            <a:avLst/>
            <a:gdLst/>
            <a:ahLst/>
            <a:cxnLst/>
            <a:rect l="0" t="0" r="r" b="b"/>
            <a:pathLst>
              <a:path w="431800" h="177800">
                <a:moveTo>
                  <a:pt x="88900" y="0"/>
                </a:moveTo>
                <a:lnTo>
                  <a:pt x="342900" y="0"/>
                </a:lnTo>
                <a:cubicBezTo>
                  <a:pt x="391986" y="0"/>
                  <a:pt x="431800" y="39815"/>
                  <a:pt x="431800" y="88900"/>
                </a:cubicBezTo>
                <a:lnTo>
                  <a:pt x="431800" y="88900"/>
                </a:lnTo>
                <a:cubicBezTo>
                  <a:pt x="431800" y="137985"/>
                  <a:pt x="391986" y="177800"/>
                  <a:pt x="342900" y="177800"/>
                </a:cubicBezTo>
                <a:lnTo>
                  <a:pt x="88900" y="177800"/>
                </a:lnTo>
                <a:cubicBezTo>
                  <a:pt x="39814" y="177800"/>
                  <a:pt x="0" y="137985"/>
                  <a:pt x="0" y="88900"/>
                </a:cubicBezTo>
                <a:lnTo>
                  <a:pt x="0" y="88900"/>
                </a:lnTo>
                <a:cubicBezTo>
                  <a:pt x="0" y="39815"/>
                  <a:pt x="39814" y="0"/>
                  <a:pt x="88900" y="0"/>
                </a:cubicBezTo>
                <a:close/>
              </a:path>
            </a:pathLst>
          </a:custGeom>
          <a:solidFill>
            <a:srgbClr val="FA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sz-1"/>
          <p:cNvSpPr txBox="1"/>
          <p:nvPr/>
        </p:nvSpPr>
        <p:spPr>
          <a:xfrm>
            <a:off x="2561526" y="140973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38%</a:t>
            </a:r>
          </a:p>
        </p:txBody>
      </p:sp>
      <p:sp>
        <p:nvSpPr>
          <p:cNvPr id="29" name="sn-1"/>
          <p:cNvSpPr txBox="1"/>
          <p:nvPr/>
        </p:nvSpPr>
        <p:spPr>
          <a:xfrm>
            <a:off x="2392490" y="5299297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大型企业</a:t>
            </a:r>
          </a:p>
        </p:txBody>
      </p:sp>
      <p:sp>
        <p:nvSpPr>
          <p:cNvPr id="30" name="cell-2-1"/>
          <p:cNvSpPr/>
          <p:nvPr/>
        </p:nvSpPr>
        <p:spPr>
          <a:xfrm>
            <a:off x="3991864" y="4029075"/>
            <a:ext cx="1762506" cy="1168400"/>
          </a:xfrm>
          <a:custGeom>
            <a:avLst/>
            <a:gdLst/>
            <a:ahLst/>
            <a:cxnLst/>
            <a:rect l="0" t="0" r="r" b="b"/>
            <a:pathLst>
              <a:path w="1762506" h="1168400">
                <a:moveTo>
                  <a:pt x="50800" y="0"/>
                </a:moveTo>
                <a:lnTo>
                  <a:pt x="1711706" y="0"/>
                </a:lnTo>
                <a:cubicBezTo>
                  <a:pt x="1739773" y="0"/>
                  <a:pt x="1762506" y="22733"/>
                  <a:pt x="1762506" y="50800"/>
                </a:cubicBezTo>
                <a:lnTo>
                  <a:pt x="1762506" y="1117600"/>
                </a:lnTo>
                <a:cubicBezTo>
                  <a:pt x="1762506" y="1145667"/>
                  <a:pt x="1739773" y="1168400"/>
                  <a:pt x="1711706" y="1168400"/>
                </a:cubicBezTo>
                <a:lnTo>
                  <a:pt x="50800" y="1168400"/>
                </a:lnTo>
                <a:cubicBezTo>
                  <a:pt x="22733" y="1168400"/>
                  <a:pt x="0" y="1145667"/>
                  <a:pt x="0" y="11176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2D599F"/>
              </a:gs>
              <a:gs pos="100000">
                <a:srgbClr val="0B3E8F"/>
              </a:gs>
            </a:gsLst>
            <a:lin ang="66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cv-2-1"/>
          <p:cNvSpPr txBox="1"/>
          <p:nvPr/>
        </p:nvSpPr>
        <p:spPr>
          <a:xfrm>
            <a:off x="4714621" y="4508722"/>
            <a:ext cx="316992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34%</a:t>
            </a:r>
          </a:p>
        </p:txBody>
      </p:sp>
      <p:sp>
        <p:nvSpPr>
          <p:cNvPr id="32" name="cell-2-2"/>
          <p:cNvSpPr/>
          <p:nvPr/>
        </p:nvSpPr>
        <p:spPr>
          <a:xfrm>
            <a:off x="3991864" y="3330575"/>
            <a:ext cx="1762506" cy="679450"/>
          </a:xfrm>
          <a:custGeom>
            <a:avLst/>
            <a:gdLst/>
            <a:ahLst/>
            <a:cxnLst/>
            <a:rect l="0" t="0" r="r" b="b"/>
            <a:pathLst>
              <a:path w="1762506" h="679450">
                <a:moveTo>
                  <a:pt x="50800" y="0"/>
                </a:moveTo>
                <a:lnTo>
                  <a:pt x="1711706" y="0"/>
                </a:lnTo>
                <a:cubicBezTo>
                  <a:pt x="1739773" y="0"/>
                  <a:pt x="1762506" y="22733"/>
                  <a:pt x="1762506" y="50800"/>
                </a:cubicBezTo>
                <a:lnTo>
                  <a:pt x="1762506" y="628650"/>
                </a:lnTo>
                <a:cubicBezTo>
                  <a:pt x="1762506" y="656717"/>
                  <a:pt x="1739773" y="679450"/>
                  <a:pt x="1711706" y="679450"/>
                </a:cubicBezTo>
                <a:lnTo>
                  <a:pt x="50800" y="679450"/>
                </a:lnTo>
                <a:cubicBezTo>
                  <a:pt x="22733" y="679450"/>
                  <a:pt x="0" y="656717"/>
                  <a:pt x="0" y="62865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437DC0"/>
              </a:gs>
              <a:gs pos="100000">
                <a:srgbClr val="2468B6"/>
              </a:gs>
            </a:gsLst>
            <a:lin ang="66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cv-2-2"/>
          <p:cNvSpPr txBox="1"/>
          <p:nvPr/>
        </p:nvSpPr>
        <p:spPr>
          <a:xfrm>
            <a:off x="4739196" y="358927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20%</a:t>
            </a:r>
          </a:p>
        </p:txBody>
      </p:sp>
      <p:sp>
        <p:nvSpPr>
          <p:cNvPr id="34" name="cell-2-3"/>
          <p:cNvSpPr/>
          <p:nvPr/>
        </p:nvSpPr>
        <p:spPr>
          <a:xfrm>
            <a:off x="3991864" y="2771775"/>
            <a:ext cx="1762506" cy="539750"/>
          </a:xfrm>
          <a:custGeom>
            <a:avLst/>
            <a:gdLst/>
            <a:ahLst/>
            <a:cxnLst/>
            <a:rect l="0" t="0" r="r" b="b"/>
            <a:pathLst>
              <a:path w="1762506" h="539750">
                <a:moveTo>
                  <a:pt x="50800" y="0"/>
                </a:moveTo>
                <a:lnTo>
                  <a:pt x="1711706" y="0"/>
                </a:lnTo>
                <a:cubicBezTo>
                  <a:pt x="1739773" y="0"/>
                  <a:pt x="1762506" y="22733"/>
                  <a:pt x="1762506" y="50800"/>
                </a:cubicBezTo>
                <a:lnTo>
                  <a:pt x="1762506" y="488950"/>
                </a:lnTo>
                <a:cubicBezTo>
                  <a:pt x="1762506" y="517017"/>
                  <a:pt x="1739773" y="539750"/>
                  <a:pt x="1711706" y="539750"/>
                </a:cubicBezTo>
                <a:lnTo>
                  <a:pt x="50800" y="539750"/>
                </a:lnTo>
                <a:cubicBezTo>
                  <a:pt x="22733" y="539750"/>
                  <a:pt x="0" y="517017"/>
                  <a:pt x="0" y="48895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60A3DD"/>
              </a:gs>
              <a:gs pos="100000">
                <a:srgbClr val="4694D7"/>
              </a:gs>
            </a:gsLst>
            <a:lin ang="66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cv-2-3"/>
          <p:cNvSpPr txBox="1"/>
          <p:nvPr/>
        </p:nvSpPr>
        <p:spPr>
          <a:xfrm>
            <a:off x="4739196" y="296062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16%</a:t>
            </a:r>
          </a:p>
        </p:txBody>
      </p:sp>
      <p:sp>
        <p:nvSpPr>
          <p:cNvPr id="36" name="cell-2-4"/>
          <p:cNvSpPr/>
          <p:nvPr/>
        </p:nvSpPr>
        <p:spPr>
          <a:xfrm>
            <a:off x="3991864" y="1724025"/>
            <a:ext cx="1762506" cy="1028700"/>
          </a:xfrm>
          <a:custGeom>
            <a:avLst/>
            <a:gdLst/>
            <a:ahLst/>
            <a:cxnLst/>
            <a:rect l="0" t="0" r="r" b="b"/>
            <a:pathLst>
              <a:path w="1762506" h="1028700">
                <a:moveTo>
                  <a:pt x="50800" y="0"/>
                </a:moveTo>
                <a:lnTo>
                  <a:pt x="1711706" y="0"/>
                </a:lnTo>
                <a:cubicBezTo>
                  <a:pt x="1739773" y="0"/>
                  <a:pt x="1762506" y="22733"/>
                  <a:pt x="1762506" y="50800"/>
                </a:cubicBezTo>
                <a:lnTo>
                  <a:pt x="1762506" y="977900"/>
                </a:lnTo>
                <a:cubicBezTo>
                  <a:pt x="1762506" y="1005967"/>
                  <a:pt x="1739773" y="1028700"/>
                  <a:pt x="1711706" y="1028700"/>
                </a:cubicBezTo>
                <a:lnTo>
                  <a:pt x="50800" y="1028700"/>
                </a:lnTo>
                <a:cubicBezTo>
                  <a:pt x="22733" y="1028700"/>
                  <a:pt x="0" y="1005967"/>
                  <a:pt x="0" y="9779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D1DDED"/>
              </a:gs>
              <a:gs pos="100000">
                <a:srgbClr val="C9D7EA"/>
              </a:gs>
            </a:gsLst>
            <a:lin ang="66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cv-2-4"/>
          <p:cNvSpPr txBox="1"/>
          <p:nvPr/>
        </p:nvSpPr>
        <p:spPr>
          <a:xfrm>
            <a:off x="4739196" y="2157349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30%</a:t>
            </a:r>
          </a:p>
        </p:txBody>
      </p:sp>
      <p:cxnSp>
        <p:nvCxnSpPr>
          <p:cNvPr id="38" name="br-2"/>
          <p:cNvCxnSpPr/>
          <p:nvPr/>
        </p:nvCxnSpPr>
        <p:spPr>
          <a:xfrm>
            <a:off x="4017264" y="1600200"/>
            <a:ext cx="1711706" cy="0"/>
          </a:xfrm>
          <a:prstGeom prst="line">
            <a:avLst/>
          </a:prstGeom>
          <a:ln w="10160" cap="rnd">
            <a:solidFill>
              <a:srgbClr val="0B3E8F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brl-2"/>
          <p:cNvCxnSpPr/>
          <p:nvPr/>
        </p:nvCxnSpPr>
        <p:spPr>
          <a:xfrm>
            <a:off x="4017264" y="1562100"/>
            <a:ext cx="0" cy="76200"/>
          </a:xfrm>
          <a:prstGeom prst="line">
            <a:avLst/>
          </a:prstGeom>
          <a:ln w="10160" cap="rnd">
            <a:solidFill>
              <a:srgbClr val="0B3E8F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brr-2"/>
          <p:cNvCxnSpPr/>
          <p:nvPr/>
        </p:nvCxnSpPr>
        <p:spPr>
          <a:xfrm>
            <a:off x="5728970" y="1562100"/>
            <a:ext cx="0" cy="76200"/>
          </a:xfrm>
          <a:prstGeom prst="line">
            <a:avLst/>
          </a:prstGeom>
          <a:ln w="10160" cap="rnd">
            <a:solidFill>
              <a:srgbClr val="0B3E8F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szbg-2"/>
          <p:cNvSpPr/>
          <p:nvPr/>
        </p:nvSpPr>
        <p:spPr>
          <a:xfrm>
            <a:off x="4657217" y="1409700"/>
            <a:ext cx="431800" cy="177800"/>
          </a:xfrm>
          <a:custGeom>
            <a:avLst/>
            <a:gdLst/>
            <a:ahLst/>
            <a:cxnLst/>
            <a:rect l="0" t="0" r="r" b="b"/>
            <a:pathLst>
              <a:path w="431800" h="177800">
                <a:moveTo>
                  <a:pt x="88900" y="0"/>
                </a:moveTo>
                <a:lnTo>
                  <a:pt x="342900" y="0"/>
                </a:lnTo>
                <a:cubicBezTo>
                  <a:pt x="391986" y="0"/>
                  <a:pt x="431800" y="39815"/>
                  <a:pt x="431800" y="88900"/>
                </a:cubicBezTo>
                <a:lnTo>
                  <a:pt x="431800" y="88900"/>
                </a:lnTo>
                <a:cubicBezTo>
                  <a:pt x="431800" y="137985"/>
                  <a:pt x="391986" y="177800"/>
                  <a:pt x="342900" y="177800"/>
                </a:cubicBezTo>
                <a:lnTo>
                  <a:pt x="88900" y="177800"/>
                </a:lnTo>
                <a:cubicBezTo>
                  <a:pt x="39815" y="177800"/>
                  <a:pt x="0" y="137985"/>
                  <a:pt x="0" y="88900"/>
                </a:cubicBezTo>
                <a:lnTo>
                  <a:pt x="0" y="88900"/>
                </a:lnTo>
                <a:cubicBezTo>
                  <a:pt x="0" y="39815"/>
                  <a:pt x="39815" y="0"/>
                  <a:pt x="88900" y="0"/>
                </a:cubicBezTo>
                <a:close/>
              </a:path>
            </a:pathLst>
          </a:custGeom>
          <a:solidFill>
            <a:srgbClr val="FA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sz-2"/>
          <p:cNvSpPr txBox="1"/>
          <p:nvPr/>
        </p:nvSpPr>
        <p:spPr>
          <a:xfrm>
            <a:off x="4733862" y="140973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27%</a:t>
            </a:r>
          </a:p>
        </p:txBody>
      </p:sp>
      <p:sp>
        <p:nvSpPr>
          <p:cNvPr id="43" name="sn-2"/>
          <p:cNvSpPr txBox="1"/>
          <p:nvPr/>
        </p:nvSpPr>
        <p:spPr>
          <a:xfrm>
            <a:off x="4564824" y="5299297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中型企业</a:t>
            </a:r>
          </a:p>
        </p:txBody>
      </p:sp>
      <p:sp>
        <p:nvSpPr>
          <p:cNvPr id="44" name="cell-3-1"/>
          <p:cNvSpPr/>
          <p:nvPr/>
        </p:nvSpPr>
        <p:spPr>
          <a:xfrm>
            <a:off x="5805170" y="4448175"/>
            <a:ext cx="1175004" cy="749300"/>
          </a:xfrm>
          <a:custGeom>
            <a:avLst/>
            <a:gdLst/>
            <a:ahLst/>
            <a:cxnLst/>
            <a:rect l="0" t="0" r="r" b="b"/>
            <a:pathLst>
              <a:path w="1175004" h="749300">
                <a:moveTo>
                  <a:pt x="50800" y="0"/>
                </a:moveTo>
                <a:lnTo>
                  <a:pt x="1124204" y="0"/>
                </a:lnTo>
                <a:cubicBezTo>
                  <a:pt x="1152271" y="0"/>
                  <a:pt x="1175004" y="22733"/>
                  <a:pt x="1175004" y="50800"/>
                </a:cubicBezTo>
                <a:lnTo>
                  <a:pt x="1175004" y="698500"/>
                </a:lnTo>
                <a:cubicBezTo>
                  <a:pt x="1175004" y="726567"/>
                  <a:pt x="1152271" y="749300"/>
                  <a:pt x="1124204" y="749300"/>
                </a:cubicBezTo>
                <a:lnTo>
                  <a:pt x="50800" y="749300"/>
                </a:lnTo>
                <a:cubicBezTo>
                  <a:pt x="22733" y="749300"/>
                  <a:pt x="0" y="726567"/>
                  <a:pt x="0" y="6985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2D599F"/>
              </a:gs>
              <a:gs pos="100000">
                <a:srgbClr val="0B3E8F"/>
              </a:gs>
            </a:gsLst>
            <a:lin ang="66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cv-3-1"/>
          <p:cNvSpPr txBox="1"/>
          <p:nvPr/>
        </p:nvSpPr>
        <p:spPr>
          <a:xfrm>
            <a:off x="6234176" y="4718272"/>
            <a:ext cx="316992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22%</a:t>
            </a:r>
          </a:p>
        </p:txBody>
      </p:sp>
      <p:sp>
        <p:nvSpPr>
          <p:cNvPr id="46" name="cell-3-2"/>
          <p:cNvSpPr/>
          <p:nvPr/>
        </p:nvSpPr>
        <p:spPr>
          <a:xfrm>
            <a:off x="5805170" y="4029075"/>
            <a:ext cx="1175004" cy="400050"/>
          </a:xfrm>
          <a:custGeom>
            <a:avLst/>
            <a:gdLst/>
            <a:ahLst/>
            <a:cxnLst/>
            <a:rect l="0" t="0" r="r" b="b"/>
            <a:pathLst>
              <a:path w="1175004" h="400050">
                <a:moveTo>
                  <a:pt x="50800" y="0"/>
                </a:moveTo>
                <a:lnTo>
                  <a:pt x="1124204" y="0"/>
                </a:lnTo>
                <a:cubicBezTo>
                  <a:pt x="1152271" y="0"/>
                  <a:pt x="1175004" y="22733"/>
                  <a:pt x="1175004" y="50800"/>
                </a:cubicBezTo>
                <a:lnTo>
                  <a:pt x="1175004" y="349250"/>
                </a:lnTo>
                <a:cubicBezTo>
                  <a:pt x="1175004" y="377317"/>
                  <a:pt x="1152271" y="400050"/>
                  <a:pt x="1124204" y="400050"/>
                </a:cubicBezTo>
                <a:lnTo>
                  <a:pt x="50800" y="400050"/>
                </a:lnTo>
                <a:cubicBezTo>
                  <a:pt x="22733" y="400050"/>
                  <a:pt x="0" y="377317"/>
                  <a:pt x="0" y="34925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437DC0"/>
              </a:gs>
              <a:gs pos="100000">
                <a:srgbClr val="2468B6"/>
              </a:gs>
            </a:gsLst>
            <a:lin ang="66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cv-3-2"/>
          <p:cNvSpPr txBox="1"/>
          <p:nvPr/>
        </p:nvSpPr>
        <p:spPr>
          <a:xfrm>
            <a:off x="6258750" y="414807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12%</a:t>
            </a:r>
          </a:p>
        </p:txBody>
      </p:sp>
      <p:sp>
        <p:nvSpPr>
          <p:cNvPr id="48" name="cell-3-3"/>
          <p:cNvSpPr/>
          <p:nvPr/>
        </p:nvSpPr>
        <p:spPr>
          <a:xfrm>
            <a:off x="5805170" y="3400425"/>
            <a:ext cx="1175004" cy="609600"/>
          </a:xfrm>
          <a:custGeom>
            <a:avLst/>
            <a:gdLst/>
            <a:ahLst/>
            <a:cxnLst/>
            <a:rect l="0" t="0" r="r" b="b"/>
            <a:pathLst>
              <a:path w="1175004" h="609600">
                <a:moveTo>
                  <a:pt x="50800" y="0"/>
                </a:moveTo>
                <a:lnTo>
                  <a:pt x="1124204" y="0"/>
                </a:lnTo>
                <a:cubicBezTo>
                  <a:pt x="1152271" y="0"/>
                  <a:pt x="1175004" y="22733"/>
                  <a:pt x="1175004" y="50800"/>
                </a:cubicBezTo>
                <a:lnTo>
                  <a:pt x="1175004" y="558800"/>
                </a:lnTo>
                <a:cubicBezTo>
                  <a:pt x="1175004" y="586867"/>
                  <a:pt x="1152271" y="609600"/>
                  <a:pt x="1124204" y="609600"/>
                </a:cubicBezTo>
                <a:lnTo>
                  <a:pt x="50800" y="609600"/>
                </a:lnTo>
                <a:cubicBezTo>
                  <a:pt x="22733" y="609600"/>
                  <a:pt x="0" y="586867"/>
                  <a:pt x="0" y="558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60A3DD"/>
              </a:gs>
              <a:gs pos="100000">
                <a:srgbClr val="4694D7"/>
              </a:gs>
            </a:gsLst>
            <a:lin ang="66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cv-3-3"/>
          <p:cNvSpPr txBox="1"/>
          <p:nvPr/>
        </p:nvSpPr>
        <p:spPr>
          <a:xfrm>
            <a:off x="6258750" y="3624199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18%</a:t>
            </a:r>
          </a:p>
        </p:txBody>
      </p:sp>
      <p:sp>
        <p:nvSpPr>
          <p:cNvPr id="50" name="cell-3-4"/>
          <p:cNvSpPr/>
          <p:nvPr/>
        </p:nvSpPr>
        <p:spPr>
          <a:xfrm>
            <a:off x="5805170" y="1724025"/>
            <a:ext cx="1175004" cy="1657350"/>
          </a:xfrm>
          <a:custGeom>
            <a:avLst/>
            <a:gdLst/>
            <a:ahLst/>
            <a:cxnLst/>
            <a:rect l="0" t="0" r="r" b="b"/>
            <a:pathLst>
              <a:path w="1175004" h="1657350">
                <a:moveTo>
                  <a:pt x="50800" y="0"/>
                </a:moveTo>
                <a:lnTo>
                  <a:pt x="1124204" y="0"/>
                </a:lnTo>
                <a:cubicBezTo>
                  <a:pt x="1152271" y="0"/>
                  <a:pt x="1175004" y="22733"/>
                  <a:pt x="1175004" y="50800"/>
                </a:cubicBezTo>
                <a:lnTo>
                  <a:pt x="1175004" y="1606550"/>
                </a:lnTo>
                <a:cubicBezTo>
                  <a:pt x="1175004" y="1634617"/>
                  <a:pt x="1152271" y="1657350"/>
                  <a:pt x="1124204" y="1657350"/>
                </a:cubicBezTo>
                <a:lnTo>
                  <a:pt x="50800" y="1657350"/>
                </a:lnTo>
                <a:cubicBezTo>
                  <a:pt x="22733" y="1657350"/>
                  <a:pt x="0" y="1634617"/>
                  <a:pt x="0" y="160655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D1DDED"/>
              </a:gs>
              <a:gs pos="100000">
                <a:srgbClr val="C9D7EA"/>
              </a:gs>
            </a:gsLst>
            <a:lin ang="66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cv-3-4"/>
          <p:cNvSpPr txBox="1"/>
          <p:nvPr/>
        </p:nvSpPr>
        <p:spPr>
          <a:xfrm>
            <a:off x="6258750" y="247167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48%</a:t>
            </a:r>
          </a:p>
        </p:txBody>
      </p:sp>
      <p:cxnSp>
        <p:nvCxnSpPr>
          <p:cNvPr id="52" name="br-3"/>
          <p:cNvCxnSpPr/>
          <p:nvPr/>
        </p:nvCxnSpPr>
        <p:spPr>
          <a:xfrm>
            <a:off x="5830570" y="1600200"/>
            <a:ext cx="1124204" cy="0"/>
          </a:xfrm>
          <a:prstGeom prst="line">
            <a:avLst/>
          </a:prstGeom>
          <a:ln w="10160" cap="rnd">
            <a:solidFill>
              <a:srgbClr val="0B3E8F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brl-3"/>
          <p:cNvCxnSpPr/>
          <p:nvPr/>
        </p:nvCxnSpPr>
        <p:spPr>
          <a:xfrm>
            <a:off x="5830570" y="1562100"/>
            <a:ext cx="0" cy="76200"/>
          </a:xfrm>
          <a:prstGeom prst="line">
            <a:avLst/>
          </a:prstGeom>
          <a:ln w="10160" cap="rnd">
            <a:solidFill>
              <a:srgbClr val="0B3E8F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brr-3"/>
          <p:cNvCxnSpPr/>
          <p:nvPr/>
        </p:nvCxnSpPr>
        <p:spPr>
          <a:xfrm>
            <a:off x="6954774" y="1562100"/>
            <a:ext cx="0" cy="76200"/>
          </a:xfrm>
          <a:prstGeom prst="line">
            <a:avLst/>
          </a:prstGeom>
          <a:ln w="10160" cap="rnd">
            <a:solidFill>
              <a:srgbClr val="0B3E8F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szbg-3"/>
          <p:cNvSpPr/>
          <p:nvPr/>
        </p:nvSpPr>
        <p:spPr>
          <a:xfrm>
            <a:off x="6176772" y="1409700"/>
            <a:ext cx="431800" cy="177800"/>
          </a:xfrm>
          <a:custGeom>
            <a:avLst/>
            <a:gdLst/>
            <a:ahLst/>
            <a:cxnLst/>
            <a:rect l="0" t="0" r="r" b="b"/>
            <a:pathLst>
              <a:path w="431800" h="177800">
                <a:moveTo>
                  <a:pt x="88900" y="0"/>
                </a:moveTo>
                <a:lnTo>
                  <a:pt x="342900" y="0"/>
                </a:lnTo>
                <a:cubicBezTo>
                  <a:pt x="391986" y="0"/>
                  <a:pt x="431800" y="39815"/>
                  <a:pt x="431800" y="88900"/>
                </a:cubicBezTo>
                <a:lnTo>
                  <a:pt x="431800" y="88900"/>
                </a:lnTo>
                <a:cubicBezTo>
                  <a:pt x="431800" y="137985"/>
                  <a:pt x="391986" y="177800"/>
                  <a:pt x="342900" y="177800"/>
                </a:cubicBezTo>
                <a:lnTo>
                  <a:pt x="88900" y="177800"/>
                </a:lnTo>
                <a:cubicBezTo>
                  <a:pt x="39814" y="177800"/>
                  <a:pt x="0" y="137985"/>
                  <a:pt x="0" y="88900"/>
                </a:cubicBezTo>
                <a:lnTo>
                  <a:pt x="0" y="88900"/>
                </a:lnTo>
                <a:cubicBezTo>
                  <a:pt x="0" y="39815"/>
                  <a:pt x="39814" y="0"/>
                  <a:pt x="88900" y="0"/>
                </a:cubicBezTo>
                <a:close/>
              </a:path>
            </a:pathLst>
          </a:custGeom>
          <a:solidFill>
            <a:srgbClr val="FA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sz-3"/>
          <p:cNvSpPr txBox="1"/>
          <p:nvPr/>
        </p:nvSpPr>
        <p:spPr>
          <a:xfrm>
            <a:off x="6253417" y="140973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18%</a:t>
            </a:r>
          </a:p>
        </p:txBody>
      </p:sp>
      <p:sp>
        <p:nvSpPr>
          <p:cNvPr id="57" name="sn-3"/>
          <p:cNvSpPr txBox="1"/>
          <p:nvPr/>
        </p:nvSpPr>
        <p:spPr>
          <a:xfrm>
            <a:off x="6084380" y="5299297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小微企业</a:t>
            </a:r>
          </a:p>
        </p:txBody>
      </p:sp>
      <p:sp>
        <p:nvSpPr>
          <p:cNvPr id="58" name="cell-4-1"/>
          <p:cNvSpPr/>
          <p:nvPr/>
        </p:nvSpPr>
        <p:spPr>
          <a:xfrm>
            <a:off x="7030974" y="4797425"/>
            <a:ext cx="718058" cy="400050"/>
          </a:xfrm>
          <a:custGeom>
            <a:avLst/>
            <a:gdLst/>
            <a:ahLst/>
            <a:cxnLst/>
            <a:rect l="0" t="0" r="r" b="b"/>
            <a:pathLst>
              <a:path w="718058" h="400050">
                <a:moveTo>
                  <a:pt x="50800" y="0"/>
                </a:moveTo>
                <a:lnTo>
                  <a:pt x="667258" y="0"/>
                </a:lnTo>
                <a:cubicBezTo>
                  <a:pt x="695325" y="0"/>
                  <a:pt x="718058" y="22733"/>
                  <a:pt x="718058" y="50800"/>
                </a:cubicBezTo>
                <a:lnTo>
                  <a:pt x="718058" y="349250"/>
                </a:lnTo>
                <a:cubicBezTo>
                  <a:pt x="718058" y="377317"/>
                  <a:pt x="695325" y="400050"/>
                  <a:pt x="667258" y="400050"/>
                </a:cubicBezTo>
                <a:lnTo>
                  <a:pt x="50800" y="400050"/>
                </a:lnTo>
                <a:cubicBezTo>
                  <a:pt x="22733" y="400050"/>
                  <a:pt x="0" y="377317"/>
                  <a:pt x="0" y="34925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2D599F"/>
              </a:gs>
              <a:gs pos="100000">
                <a:srgbClr val="0B3E8F"/>
              </a:gs>
            </a:gsLst>
            <a:lin ang="66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cv-4-1"/>
          <p:cNvSpPr txBox="1"/>
          <p:nvPr/>
        </p:nvSpPr>
        <p:spPr>
          <a:xfrm>
            <a:off x="7231507" y="4892897"/>
            <a:ext cx="316992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12%</a:t>
            </a:r>
          </a:p>
        </p:txBody>
      </p:sp>
      <p:sp>
        <p:nvSpPr>
          <p:cNvPr id="60" name="cell-4-2"/>
          <p:cNvSpPr/>
          <p:nvPr/>
        </p:nvSpPr>
        <p:spPr>
          <a:xfrm>
            <a:off x="7030974" y="3400425"/>
            <a:ext cx="718058" cy="1377950"/>
          </a:xfrm>
          <a:custGeom>
            <a:avLst/>
            <a:gdLst/>
            <a:ahLst/>
            <a:cxnLst/>
            <a:rect l="0" t="0" r="r" b="b"/>
            <a:pathLst>
              <a:path w="718058" h="1377950">
                <a:moveTo>
                  <a:pt x="50800" y="0"/>
                </a:moveTo>
                <a:lnTo>
                  <a:pt x="667258" y="0"/>
                </a:lnTo>
                <a:cubicBezTo>
                  <a:pt x="695325" y="0"/>
                  <a:pt x="718058" y="22733"/>
                  <a:pt x="718058" y="50800"/>
                </a:cubicBezTo>
                <a:lnTo>
                  <a:pt x="718058" y="1327150"/>
                </a:lnTo>
                <a:cubicBezTo>
                  <a:pt x="718058" y="1355217"/>
                  <a:pt x="695325" y="1377950"/>
                  <a:pt x="667258" y="1377950"/>
                </a:cubicBezTo>
                <a:lnTo>
                  <a:pt x="50800" y="1377950"/>
                </a:lnTo>
                <a:cubicBezTo>
                  <a:pt x="22733" y="1377950"/>
                  <a:pt x="0" y="1355217"/>
                  <a:pt x="0" y="132715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437DC0"/>
              </a:gs>
              <a:gs pos="100000">
                <a:srgbClr val="2468B6"/>
              </a:gs>
            </a:gsLst>
            <a:lin ang="66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cv-4-2"/>
          <p:cNvSpPr txBox="1"/>
          <p:nvPr/>
        </p:nvSpPr>
        <p:spPr>
          <a:xfrm>
            <a:off x="7256082" y="4008374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40%</a:t>
            </a:r>
          </a:p>
        </p:txBody>
      </p:sp>
      <p:sp>
        <p:nvSpPr>
          <p:cNvPr id="62" name="cell-4-3"/>
          <p:cNvSpPr/>
          <p:nvPr/>
        </p:nvSpPr>
        <p:spPr>
          <a:xfrm>
            <a:off x="7030974" y="2492375"/>
            <a:ext cx="718058" cy="889000"/>
          </a:xfrm>
          <a:custGeom>
            <a:avLst/>
            <a:gdLst/>
            <a:ahLst/>
            <a:cxnLst/>
            <a:rect l="0" t="0" r="r" b="b"/>
            <a:pathLst>
              <a:path w="718058" h="889000">
                <a:moveTo>
                  <a:pt x="50800" y="0"/>
                </a:moveTo>
                <a:lnTo>
                  <a:pt x="667258" y="0"/>
                </a:lnTo>
                <a:cubicBezTo>
                  <a:pt x="695325" y="0"/>
                  <a:pt x="718058" y="22733"/>
                  <a:pt x="718058" y="50800"/>
                </a:cubicBezTo>
                <a:lnTo>
                  <a:pt x="718058" y="838200"/>
                </a:lnTo>
                <a:cubicBezTo>
                  <a:pt x="718058" y="866267"/>
                  <a:pt x="695325" y="889000"/>
                  <a:pt x="667258" y="889000"/>
                </a:cubicBezTo>
                <a:lnTo>
                  <a:pt x="50800" y="889000"/>
                </a:lnTo>
                <a:cubicBezTo>
                  <a:pt x="22733" y="889000"/>
                  <a:pt x="0" y="866267"/>
                  <a:pt x="0" y="8382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60A3DD"/>
              </a:gs>
              <a:gs pos="100000">
                <a:srgbClr val="4694D7"/>
              </a:gs>
            </a:gsLst>
            <a:lin ang="66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cv-4-3"/>
          <p:cNvSpPr txBox="1"/>
          <p:nvPr/>
        </p:nvSpPr>
        <p:spPr>
          <a:xfrm>
            <a:off x="7256082" y="2855849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26%</a:t>
            </a:r>
          </a:p>
        </p:txBody>
      </p:sp>
      <p:sp>
        <p:nvSpPr>
          <p:cNvPr id="64" name="cell-4-4"/>
          <p:cNvSpPr/>
          <p:nvPr/>
        </p:nvSpPr>
        <p:spPr>
          <a:xfrm>
            <a:off x="7030974" y="1724025"/>
            <a:ext cx="718058" cy="749300"/>
          </a:xfrm>
          <a:custGeom>
            <a:avLst/>
            <a:gdLst/>
            <a:ahLst/>
            <a:cxnLst/>
            <a:rect l="0" t="0" r="r" b="b"/>
            <a:pathLst>
              <a:path w="718058" h="749300">
                <a:moveTo>
                  <a:pt x="50800" y="0"/>
                </a:moveTo>
                <a:lnTo>
                  <a:pt x="667258" y="0"/>
                </a:lnTo>
                <a:cubicBezTo>
                  <a:pt x="695325" y="0"/>
                  <a:pt x="718058" y="22733"/>
                  <a:pt x="718058" y="50800"/>
                </a:cubicBezTo>
                <a:lnTo>
                  <a:pt x="718058" y="698500"/>
                </a:lnTo>
                <a:cubicBezTo>
                  <a:pt x="718058" y="726567"/>
                  <a:pt x="695325" y="749300"/>
                  <a:pt x="667258" y="749300"/>
                </a:cubicBezTo>
                <a:lnTo>
                  <a:pt x="50800" y="749300"/>
                </a:lnTo>
                <a:cubicBezTo>
                  <a:pt x="22733" y="749300"/>
                  <a:pt x="0" y="726567"/>
                  <a:pt x="0" y="6985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D1DDED"/>
              </a:gs>
              <a:gs pos="100000">
                <a:srgbClr val="C9D7EA"/>
              </a:gs>
            </a:gsLst>
            <a:lin ang="66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cv-4-4"/>
          <p:cNvSpPr txBox="1"/>
          <p:nvPr/>
        </p:nvSpPr>
        <p:spPr>
          <a:xfrm>
            <a:off x="7256082" y="2017649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22%</a:t>
            </a:r>
          </a:p>
        </p:txBody>
      </p:sp>
      <p:cxnSp>
        <p:nvCxnSpPr>
          <p:cNvPr id="66" name="br-4"/>
          <p:cNvCxnSpPr/>
          <p:nvPr/>
        </p:nvCxnSpPr>
        <p:spPr>
          <a:xfrm>
            <a:off x="7056374" y="1600200"/>
            <a:ext cx="667258" cy="0"/>
          </a:xfrm>
          <a:prstGeom prst="line">
            <a:avLst/>
          </a:prstGeom>
          <a:ln w="10160" cap="rnd">
            <a:solidFill>
              <a:srgbClr val="0B3E8F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brl-4"/>
          <p:cNvCxnSpPr/>
          <p:nvPr/>
        </p:nvCxnSpPr>
        <p:spPr>
          <a:xfrm>
            <a:off x="7056374" y="1562100"/>
            <a:ext cx="0" cy="76200"/>
          </a:xfrm>
          <a:prstGeom prst="line">
            <a:avLst/>
          </a:prstGeom>
          <a:ln w="10160" cap="rnd">
            <a:solidFill>
              <a:srgbClr val="0B3E8F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brr-4"/>
          <p:cNvCxnSpPr/>
          <p:nvPr/>
        </p:nvCxnSpPr>
        <p:spPr>
          <a:xfrm>
            <a:off x="7723632" y="1562100"/>
            <a:ext cx="0" cy="76200"/>
          </a:xfrm>
          <a:prstGeom prst="line">
            <a:avLst/>
          </a:prstGeom>
          <a:ln w="10160" cap="rnd">
            <a:solidFill>
              <a:srgbClr val="0B3E8F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9" name="szbg-4"/>
          <p:cNvSpPr/>
          <p:nvPr/>
        </p:nvSpPr>
        <p:spPr>
          <a:xfrm>
            <a:off x="7174103" y="1409700"/>
            <a:ext cx="431800" cy="177800"/>
          </a:xfrm>
          <a:custGeom>
            <a:avLst/>
            <a:gdLst/>
            <a:ahLst/>
            <a:cxnLst/>
            <a:rect l="0" t="0" r="r" b="b"/>
            <a:pathLst>
              <a:path w="431800" h="177800">
                <a:moveTo>
                  <a:pt x="88900" y="0"/>
                </a:moveTo>
                <a:lnTo>
                  <a:pt x="342900" y="0"/>
                </a:lnTo>
                <a:cubicBezTo>
                  <a:pt x="391986" y="0"/>
                  <a:pt x="431800" y="39815"/>
                  <a:pt x="431800" y="88900"/>
                </a:cubicBezTo>
                <a:lnTo>
                  <a:pt x="431800" y="88900"/>
                </a:lnTo>
                <a:cubicBezTo>
                  <a:pt x="431800" y="137985"/>
                  <a:pt x="391986" y="177800"/>
                  <a:pt x="342900" y="177800"/>
                </a:cubicBezTo>
                <a:lnTo>
                  <a:pt x="88900" y="177800"/>
                </a:lnTo>
                <a:cubicBezTo>
                  <a:pt x="39814" y="177800"/>
                  <a:pt x="0" y="137985"/>
                  <a:pt x="0" y="88900"/>
                </a:cubicBezTo>
                <a:lnTo>
                  <a:pt x="0" y="88900"/>
                </a:lnTo>
                <a:cubicBezTo>
                  <a:pt x="0" y="39815"/>
                  <a:pt x="39814" y="0"/>
                  <a:pt x="88900" y="0"/>
                </a:cubicBezTo>
                <a:close/>
              </a:path>
            </a:pathLst>
          </a:custGeom>
          <a:solidFill>
            <a:srgbClr val="FA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sz-4"/>
          <p:cNvSpPr txBox="1"/>
          <p:nvPr/>
        </p:nvSpPr>
        <p:spPr>
          <a:xfrm>
            <a:off x="7250747" y="140973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11%</a:t>
            </a:r>
          </a:p>
        </p:txBody>
      </p:sp>
      <p:sp>
        <p:nvSpPr>
          <p:cNvPr id="71" name="sn-4"/>
          <p:cNvSpPr txBox="1"/>
          <p:nvPr/>
        </p:nvSpPr>
        <p:spPr>
          <a:xfrm>
            <a:off x="7081710" y="5299297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政府机构</a:t>
            </a:r>
          </a:p>
        </p:txBody>
      </p:sp>
      <p:sp>
        <p:nvSpPr>
          <p:cNvPr id="72" name="cell-5-1"/>
          <p:cNvSpPr/>
          <p:nvPr/>
        </p:nvSpPr>
        <p:spPr>
          <a:xfrm>
            <a:off x="7799832" y="4308475"/>
            <a:ext cx="391668" cy="889000"/>
          </a:xfrm>
          <a:custGeom>
            <a:avLst/>
            <a:gdLst/>
            <a:ahLst/>
            <a:cxnLst/>
            <a:rect l="0" t="0" r="r" b="b"/>
            <a:pathLst>
              <a:path w="391668" h="889000">
                <a:moveTo>
                  <a:pt x="50800" y="0"/>
                </a:moveTo>
                <a:lnTo>
                  <a:pt x="340868" y="0"/>
                </a:lnTo>
                <a:cubicBezTo>
                  <a:pt x="368935" y="0"/>
                  <a:pt x="391668" y="22733"/>
                  <a:pt x="391668" y="50800"/>
                </a:cubicBezTo>
                <a:lnTo>
                  <a:pt x="391668" y="838200"/>
                </a:lnTo>
                <a:cubicBezTo>
                  <a:pt x="391668" y="866267"/>
                  <a:pt x="368935" y="889000"/>
                  <a:pt x="340868" y="889000"/>
                </a:cubicBezTo>
                <a:lnTo>
                  <a:pt x="50800" y="889000"/>
                </a:lnTo>
                <a:cubicBezTo>
                  <a:pt x="22733" y="889000"/>
                  <a:pt x="0" y="866267"/>
                  <a:pt x="0" y="8382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2D599F"/>
              </a:gs>
              <a:gs pos="100000">
                <a:srgbClr val="0B3E8F"/>
              </a:gs>
            </a:gsLst>
            <a:lin ang="66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cv-5-1"/>
          <p:cNvSpPr txBox="1"/>
          <p:nvPr/>
        </p:nvSpPr>
        <p:spPr>
          <a:xfrm>
            <a:off x="7837170" y="4648422"/>
            <a:ext cx="316992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26%</a:t>
            </a:r>
          </a:p>
        </p:txBody>
      </p:sp>
      <p:sp>
        <p:nvSpPr>
          <p:cNvPr id="74" name="cell-5-2"/>
          <p:cNvSpPr/>
          <p:nvPr/>
        </p:nvSpPr>
        <p:spPr>
          <a:xfrm>
            <a:off x="7799832" y="3679825"/>
            <a:ext cx="391668" cy="609600"/>
          </a:xfrm>
          <a:custGeom>
            <a:avLst/>
            <a:gdLst/>
            <a:ahLst/>
            <a:cxnLst/>
            <a:rect l="0" t="0" r="r" b="b"/>
            <a:pathLst>
              <a:path w="391668" h="609600">
                <a:moveTo>
                  <a:pt x="50800" y="0"/>
                </a:moveTo>
                <a:lnTo>
                  <a:pt x="340868" y="0"/>
                </a:lnTo>
                <a:cubicBezTo>
                  <a:pt x="368935" y="0"/>
                  <a:pt x="391668" y="22733"/>
                  <a:pt x="391668" y="50800"/>
                </a:cubicBezTo>
                <a:lnTo>
                  <a:pt x="391668" y="558800"/>
                </a:lnTo>
                <a:cubicBezTo>
                  <a:pt x="391668" y="586867"/>
                  <a:pt x="368935" y="609600"/>
                  <a:pt x="340868" y="609600"/>
                </a:cubicBezTo>
                <a:lnTo>
                  <a:pt x="50800" y="609600"/>
                </a:lnTo>
                <a:cubicBezTo>
                  <a:pt x="22733" y="609600"/>
                  <a:pt x="0" y="586867"/>
                  <a:pt x="0" y="558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437DC0"/>
              </a:gs>
              <a:gs pos="100000">
                <a:srgbClr val="2468B6"/>
              </a:gs>
            </a:gsLst>
            <a:lin ang="66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cv-5-2"/>
          <p:cNvSpPr txBox="1"/>
          <p:nvPr/>
        </p:nvSpPr>
        <p:spPr>
          <a:xfrm>
            <a:off x="7861744" y="3903599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FFFFFF"/>
                </a:solidFill>
                <a:latin typeface="Arial"/>
                <a:ea typeface="Arial"/>
                <a:cs typeface="Arial"/>
              </a:rPr>
              <a:t>18%</a:t>
            </a:r>
          </a:p>
        </p:txBody>
      </p:sp>
      <p:sp>
        <p:nvSpPr>
          <p:cNvPr id="76" name="cell-5-3"/>
          <p:cNvSpPr/>
          <p:nvPr/>
        </p:nvSpPr>
        <p:spPr>
          <a:xfrm>
            <a:off x="7799832" y="3190875"/>
            <a:ext cx="391668" cy="469900"/>
          </a:xfrm>
          <a:custGeom>
            <a:avLst/>
            <a:gdLst/>
            <a:ahLst/>
            <a:cxnLst/>
            <a:rect l="0" t="0" r="r" b="b"/>
            <a:pathLst>
              <a:path w="391668" h="469900">
                <a:moveTo>
                  <a:pt x="50800" y="0"/>
                </a:moveTo>
                <a:lnTo>
                  <a:pt x="340868" y="0"/>
                </a:lnTo>
                <a:cubicBezTo>
                  <a:pt x="368935" y="0"/>
                  <a:pt x="391668" y="22733"/>
                  <a:pt x="391668" y="50800"/>
                </a:cubicBezTo>
                <a:lnTo>
                  <a:pt x="391668" y="419100"/>
                </a:lnTo>
                <a:cubicBezTo>
                  <a:pt x="391668" y="447167"/>
                  <a:pt x="368935" y="469900"/>
                  <a:pt x="340868" y="469900"/>
                </a:cubicBezTo>
                <a:lnTo>
                  <a:pt x="50800" y="469900"/>
                </a:lnTo>
                <a:cubicBezTo>
                  <a:pt x="22733" y="469900"/>
                  <a:pt x="0" y="447167"/>
                  <a:pt x="0" y="4191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60A3DD"/>
              </a:gs>
              <a:gs pos="100000">
                <a:srgbClr val="4694D7"/>
              </a:gs>
            </a:gsLst>
            <a:lin ang="66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cv-5-3"/>
          <p:cNvSpPr txBox="1"/>
          <p:nvPr/>
        </p:nvSpPr>
        <p:spPr>
          <a:xfrm>
            <a:off x="7861744" y="3344799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14%</a:t>
            </a:r>
          </a:p>
        </p:txBody>
      </p:sp>
      <p:sp>
        <p:nvSpPr>
          <p:cNvPr id="78" name="cell-5-4"/>
          <p:cNvSpPr/>
          <p:nvPr/>
        </p:nvSpPr>
        <p:spPr>
          <a:xfrm>
            <a:off x="7799832" y="1724025"/>
            <a:ext cx="391668" cy="1447800"/>
          </a:xfrm>
          <a:custGeom>
            <a:avLst/>
            <a:gdLst/>
            <a:ahLst/>
            <a:cxnLst/>
            <a:rect l="0" t="0" r="r" b="b"/>
            <a:pathLst>
              <a:path w="391668" h="1447800">
                <a:moveTo>
                  <a:pt x="50800" y="0"/>
                </a:moveTo>
                <a:lnTo>
                  <a:pt x="340868" y="0"/>
                </a:lnTo>
                <a:cubicBezTo>
                  <a:pt x="368935" y="0"/>
                  <a:pt x="391668" y="22733"/>
                  <a:pt x="391668" y="50800"/>
                </a:cubicBezTo>
                <a:lnTo>
                  <a:pt x="391668" y="1397000"/>
                </a:lnTo>
                <a:cubicBezTo>
                  <a:pt x="391668" y="1425067"/>
                  <a:pt x="368935" y="1447800"/>
                  <a:pt x="340868" y="1447800"/>
                </a:cubicBezTo>
                <a:lnTo>
                  <a:pt x="50800" y="1447800"/>
                </a:lnTo>
                <a:cubicBezTo>
                  <a:pt x="22733" y="1447800"/>
                  <a:pt x="0" y="1425067"/>
                  <a:pt x="0" y="13970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D1DDED"/>
              </a:gs>
              <a:gs pos="100000">
                <a:srgbClr val="C9D7EA"/>
              </a:gs>
            </a:gsLst>
            <a:lin ang="66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cv-5-4"/>
          <p:cNvSpPr txBox="1"/>
          <p:nvPr/>
        </p:nvSpPr>
        <p:spPr>
          <a:xfrm>
            <a:off x="7861744" y="2366899"/>
            <a:ext cx="267843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42%</a:t>
            </a:r>
          </a:p>
        </p:txBody>
      </p:sp>
      <p:cxnSp>
        <p:nvCxnSpPr>
          <p:cNvPr id="80" name="br-5"/>
          <p:cNvCxnSpPr/>
          <p:nvPr/>
        </p:nvCxnSpPr>
        <p:spPr>
          <a:xfrm>
            <a:off x="7825232" y="1600200"/>
            <a:ext cx="340868" cy="0"/>
          </a:xfrm>
          <a:prstGeom prst="line">
            <a:avLst/>
          </a:prstGeom>
          <a:ln w="10160" cap="rnd">
            <a:solidFill>
              <a:srgbClr val="0B3E8F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brl-5"/>
          <p:cNvCxnSpPr/>
          <p:nvPr/>
        </p:nvCxnSpPr>
        <p:spPr>
          <a:xfrm>
            <a:off x="7825232" y="1562100"/>
            <a:ext cx="0" cy="76200"/>
          </a:xfrm>
          <a:prstGeom prst="line">
            <a:avLst/>
          </a:prstGeom>
          <a:ln w="10160" cap="rnd">
            <a:solidFill>
              <a:srgbClr val="0B3E8F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brr-5"/>
          <p:cNvCxnSpPr/>
          <p:nvPr/>
        </p:nvCxnSpPr>
        <p:spPr>
          <a:xfrm>
            <a:off x="8166100" y="1562100"/>
            <a:ext cx="0" cy="76200"/>
          </a:xfrm>
          <a:prstGeom prst="line">
            <a:avLst/>
          </a:prstGeom>
          <a:ln w="10160" cap="rnd">
            <a:solidFill>
              <a:srgbClr val="0B3E8F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3" name="szbg-5"/>
          <p:cNvSpPr/>
          <p:nvPr/>
        </p:nvSpPr>
        <p:spPr>
          <a:xfrm>
            <a:off x="7779766" y="1409700"/>
            <a:ext cx="431800" cy="177800"/>
          </a:xfrm>
          <a:custGeom>
            <a:avLst/>
            <a:gdLst/>
            <a:ahLst/>
            <a:cxnLst/>
            <a:rect l="0" t="0" r="r" b="b"/>
            <a:pathLst>
              <a:path w="431800" h="177800">
                <a:moveTo>
                  <a:pt x="88900" y="0"/>
                </a:moveTo>
                <a:lnTo>
                  <a:pt x="342900" y="0"/>
                </a:lnTo>
                <a:cubicBezTo>
                  <a:pt x="391986" y="0"/>
                  <a:pt x="431800" y="39815"/>
                  <a:pt x="431800" y="88900"/>
                </a:cubicBezTo>
                <a:lnTo>
                  <a:pt x="431800" y="88900"/>
                </a:lnTo>
                <a:cubicBezTo>
                  <a:pt x="431800" y="137985"/>
                  <a:pt x="391986" y="177800"/>
                  <a:pt x="342900" y="177800"/>
                </a:cubicBezTo>
                <a:lnTo>
                  <a:pt x="88900" y="177800"/>
                </a:lnTo>
                <a:cubicBezTo>
                  <a:pt x="39814" y="177800"/>
                  <a:pt x="0" y="137985"/>
                  <a:pt x="0" y="88900"/>
                </a:cubicBezTo>
                <a:lnTo>
                  <a:pt x="0" y="88900"/>
                </a:lnTo>
                <a:cubicBezTo>
                  <a:pt x="0" y="39815"/>
                  <a:pt x="39814" y="0"/>
                  <a:pt x="88900" y="0"/>
                </a:cubicBezTo>
                <a:close/>
              </a:path>
            </a:pathLst>
          </a:custGeom>
          <a:solidFill>
            <a:srgbClr val="FA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sz-5"/>
          <p:cNvSpPr txBox="1"/>
          <p:nvPr/>
        </p:nvSpPr>
        <p:spPr>
          <a:xfrm>
            <a:off x="7886636" y="140973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6%</a:t>
            </a:r>
          </a:p>
        </p:txBody>
      </p:sp>
      <p:sp>
        <p:nvSpPr>
          <p:cNvPr id="85" name="sn-5"/>
          <p:cNvSpPr txBox="1"/>
          <p:nvPr/>
        </p:nvSpPr>
        <p:spPr>
          <a:xfrm>
            <a:off x="7848346" y="5322824"/>
            <a:ext cx="2946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教育</a:t>
            </a:r>
          </a:p>
        </p:txBody>
      </p:sp>
      <p:sp>
        <p:nvSpPr>
          <p:cNvPr id="86" name="xlab"/>
          <p:cNvSpPr txBox="1"/>
          <p:nvPr/>
        </p:nvSpPr>
        <p:spPr>
          <a:xfrm>
            <a:off x="7042531" y="5554408"/>
            <a:ext cx="11596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柱宽 = 细分市场规模占比</a:t>
            </a:r>
          </a:p>
        </p:txBody>
      </p:sp>
      <p:sp>
        <p:nvSpPr>
          <p:cNvPr id="87" name="lg-1"/>
          <p:cNvSpPr/>
          <p:nvPr/>
        </p:nvSpPr>
        <p:spPr>
          <a:xfrm>
            <a:off x="1460500" y="5575300"/>
            <a:ext cx="139700" cy="139700"/>
          </a:xfrm>
          <a:custGeom>
            <a:avLst/>
            <a:gdLst/>
            <a:ahLst/>
            <a:cxnLst/>
            <a:rect l="0" t="0" r="r" b="b"/>
            <a:pathLst>
              <a:path w="139700" h="139700">
                <a:moveTo>
                  <a:pt x="38100" y="0"/>
                </a:moveTo>
                <a:lnTo>
                  <a:pt x="101600" y="0"/>
                </a:lnTo>
                <a:cubicBezTo>
                  <a:pt x="122619" y="0"/>
                  <a:pt x="139700" y="17082"/>
                  <a:pt x="139700" y="38100"/>
                </a:cubicBezTo>
                <a:lnTo>
                  <a:pt x="139700" y="101600"/>
                </a:lnTo>
                <a:cubicBezTo>
                  <a:pt x="139700" y="122618"/>
                  <a:pt x="122619" y="139700"/>
                  <a:pt x="101600" y="139700"/>
                </a:cubicBezTo>
                <a:lnTo>
                  <a:pt x="38100" y="139700"/>
                </a:lnTo>
                <a:cubicBezTo>
                  <a:pt x="17081" y="139700"/>
                  <a:pt x="0" y="122618"/>
                  <a:pt x="0" y="1016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lgt-1"/>
          <p:cNvSpPr txBox="1"/>
          <p:nvPr/>
        </p:nvSpPr>
        <p:spPr>
          <a:xfrm>
            <a:off x="1651889" y="5568045"/>
            <a:ext cx="293053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我方</a:t>
            </a:r>
          </a:p>
        </p:txBody>
      </p:sp>
      <p:sp>
        <p:nvSpPr>
          <p:cNvPr id="89" name="lg-2"/>
          <p:cNvSpPr/>
          <p:nvPr/>
        </p:nvSpPr>
        <p:spPr>
          <a:xfrm>
            <a:off x="2286000" y="5575300"/>
            <a:ext cx="139700" cy="139700"/>
          </a:xfrm>
          <a:custGeom>
            <a:avLst/>
            <a:gdLst/>
            <a:ahLst/>
            <a:cxnLst/>
            <a:rect l="0" t="0" r="r" b="b"/>
            <a:pathLst>
              <a:path w="139700" h="139700">
                <a:moveTo>
                  <a:pt x="38100" y="0"/>
                </a:moveTo>
                <a:lnTo>
                  <a:pt x="101600" y="0"/>
                </a:lnTo>
                <a:cubicBezTo>
                  <a:pt x="122619" y="0"/>
                  <a:pt x="139700" y="17082"/>
                  <a:pt x="139700" y="38100"/>
                </a:cubicBezTo>
                <a:lnTo>
                  <a:pt x="139700" y="101600"/>
                </a:lnTo>
                <a:cubicBezTo>
                  <a:pt x="139700" y="122618"/>
                  <a:pt x="122619" y="139700"/>
                  <a:pt x="101600" y="139700"/>
                </a:cubicBezTo>
                <a:lnTo>
                  <a:pt x="38100" y="139700"/>
                </a:lnTo>
                <a:cubicBezTo>
                  <a:pt x="17081" y="139700"/>
                  <a:pt x="0" y="122618"/>
                  <a:pt x="0" y="1016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lgt-2"/>
          <p:cNvSpPr txBox="1"/>
          <p:nvPr/>
        </p:nvSpPr>
        <p:spPr>
          <a:xfrm>
            <a:off x="2477389" y="5568045"/>
            <a:ext cx="410909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竞品 A</a:t>
            </a:r>
          </a:p>
        </p:txBody>
      </p:sp>
      <p:sp>
        <p:nvSpPr>
          <p:cNvPr id="91" name="lg-3"/>
          <p:cNvSpPr/>
          <p:nvPr/>
        </p:nvSpPr>
        <p:spPr>
          <a:xfrm>
            <a:off x="3111500" y="5575300"/>
            <a:ext cx="139700" cy="139700"/>
          </a:xfrm>
          <a:custGeom>
            <a:avLst/>
            <a:gdLst/>
            <a:ahLst/>
            <a:cxnLst/>
            <a:rect l="0" t="0" r="r" b="b"/>
            <a:pathLst>
              <a:path w="139700" h="139700">
                <a:moveTo>
                  <a:pt x="38100" y="0"/>
                </a:moveTo>
                <a:lnTo>
                  <a:pt x="101600" y="0"/>
                </a:lnTo>
                <a:cubicBezTo>
                  <a:pt x="122619" y="0"/>
                  <a:pt x="139700" y="17082"/>
                  <a:pt x="139700" y="38100"/>
                </a:cubicBezTo>
                <a:lnTo>
                  <a:pt x="139700" y="101600"/>
                </a:lnTo>
                <a:cubicBezTo>
                  <a:pt x="139700" y="122618"/>
                  <a:pt x="122619" y="139700"/>
                  <a:pt x="101600" y="139700"/>
                </a:cubicBezTo>
                <a:lnTo>
                  <a:pt x="38100" y="139700"/>
                </a:lnTo>
                <a:cubicBezTo>
                  <a:pt x="17081" y="139700"/>
                  <a:pt x="0" y="122618"/>
                  <a:pt x="0" y="1016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lgt-3"/>
          <p:cNvSpPr txBox="1"/>
          <p:nvPr/>
        </p:nvSpPr>
        <p:spPr>
          <a:xfrm>
            <a:off x="3302889" y="5568045"/>
            <a:ext cx="410909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竞品 B</a:t>
            </a:r>
          </a:p>
        </p:txBody>
      </p:sp>
      <p:sp>
        <p:nvSpPr>
          <p:cNvPr id="93" name="lg-4"/>
          <p:cNvSpPr/>
          <p:nvPr/>
        </p:nvSpPr>
        <p:spPr>
          <a:xfrm>
            <a:off x="3937000" y="5575300"/>
            <a:ext cx="139700" cy="139700"/>
          </a:xfrm>
          <a:custGeom>
            <a:avLst/>
            <a:gdLst/>
            <a:ahLst/>
            <a:cxnLst/>
            <a:rect l="0" t="0" r="r" b="b"/>
            <a:pathLst>
              <a:path w="139700" h="139700">
                <a:moveTo>
                  <a:pt x="38100" y="0"/>
                </a:moveTo>
                <a:lnTo>
                  <a:pt x="101600" y="0"/>
                </a:lnTo>
                <a:cubicBezTo>
                  <a:pt x="122618" y="0"/>
                  <a:pt x="139700" y="17082"/>
                  <a:pt x="139700" y="38100"/>
                </a:cubicBezTo>
                <a:lnTo>
                  <a:pt x="139700" y="101600"/>
                </a:lnTo>
                <a:cubicBezTo>
                  <a:pt x="139700" y="122618"/>
                  <a:pt x="122618" y="139700"/>
                  <a:pt x="101600" y="139700"/>
                </a:cubicBezTo>
                <a:lnTo>
                  <a:pt x="38100" y="139700"/>
                </a:lnTo>
                <a:cubicBezTo>
                  <a:pt x="17082" y="139700"/>
                  <a:pt x="0" y="122618"/>
                  <a:pt x="0" y="1016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C9D7E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lgt-4"/>
          <p:cNvSpPr txBox="1"/>
          <p:nvPr/>
        </p:nvSpPr>
        <p:spPr>
          <a:xfrm>
            <a:off x="4128389" y="5568045"/>
            <a:ext cx="293053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其他</a:t>
            </a:r>
          </a:p>
        </p:txBody>
      </p:sp>
      <p:sp>
        <p:nvSpPr>
          <p:cNvPr id="95" name="kpi"/>
          <p:cNvSpPr/>
          <p:nvPr/>
        </p:nvSpPr>
        <p:spPr>
          <a:xfrm>
            <a:off x="8699500" y="1587500"/>
            <a:ext cx="2540000" cy="1206500"/>
          </a:xfrm>
          <a:custGeom>
            <a:avLst/>
            <a:gdLst/>
            <a:ahLst/>
            <a:cxnLst/>
            <a:rect l="0" t="0" r="r" b="b"/>
            <a:pathLst>
              <a:path w="2540000" h="1206500">
                <a:moveTo>
                  <a:pt x="139700" y="0"/>
                </a:moveTo>
                <a:lnTo>
                  <a:pt x="2400300" y="0"/>
                </a:lnTo>
                <a:cubicBezTo>
                  <a:pt x="2477453" y="0"/>
                  <a:pt x="2540000" y="62548"/>
                  <a:pt x="2540000" y="139700"/>
                </a:cubicBezTo>
                <a:lnTo>
                  <a:pt x="2540000" y="1066800"/>
                </a:lnTo>
                <a:cubicBezTo>
                  <a:pt x="2540000" y="1143952"/>
                  <a:pt x="2477453" y="1206500"/>
                  <a:pt x="2400300" y="1206500"/>
                </a:cubicBezTo>
                <a:lnTo>
                  <a:pt x="139700" y="1206500"/>
                </a:lnTo>
                <a:cubicBezTo>
                  <a:pt x="62547" y="1206500"/>
                  <a:pt x="0" y="1143952"/>
                  <a:pt x="0" y="10668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kpi-h"/>
          <p:cNvSpPr txBox="1"/>
          <p:nvPr/>
        </p:nvSpPr>
        <p:spPr>
          <a:xfrm>
            <a:off x="8900922" y="1755997"/>
            <a:ext cx="8896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我方整体份额</a:t>
            </a:r>
          </a:p>
        </p:txBody>
      </p:sp>
      <p:sp>
        <p:nvSpPr>
          <p:cNvPr id="97" name="kpi-v"/>
          <p:cNvSpPr txBox="1"/>
          <p:nvPr/>
        </p:nvSpPr>
        <p:spPr>
          <a:xfrm>
            <a:off x="8866632" y="1911096"/>
            <a:ext cx="1288796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20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22.9</a:t>
            </a:r>
          </a:p>
        </p:txBody>
      </p:sp>
      <p:sp>
        <p:nvSpPr>
          <p:cNvPr id="98" name="kpi-u"/>
          <p:cNvSpPr txBox="1"/>
          <p:nvPr/>
        </p:nvSpPr>
        <p:spPr>
          <a:xfrm>
            <a:off x="9757664" y="2193417"/>
            <a:ext cx="259588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>
                <a:solidFill>
                  <a:srgbClr val="CFE0F4"/>
                </a:solidFill>
                <a:latin typeface="Arial"/>
                <a:ea typeface="Arial"/>
                <a:cs typeface="Arial"/>
              </a:rPr>
              <a:t>%</a:t>
            </a:r>
          </a:p>
        </p:txBody>
      </p:sp>
      <p:sp>
        <p:nvSpPr>
          <p:cNvPr id="99" name="kpi-p"/>
          <p:cNvSpPr txBox="1"/>
          <p:nvPr/>
        </p:nvSpPr>
        <p:spPr>
          <a:xfrm>
            <a:off x="8904351" y="2527887"/>
            <a:ext cx="84994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3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按各细分规模加权</a:t>
            </a:r>
          </a:p>
        </p:txBody>
      </p:sp>
      <p:sp>
        <p:nvSpPr>
          <p:cNvPr id="100" name="nt-1"/>
          <p:cNvSpPr/>
          <p:nvPr/>
        </p:nvSpPr>
        <p:spPr>
          <a:xfrm>
            <a:off x="8699500" y="3035300"/>
            <a:ext cx="2540000" cy="635000"/>
          </a:xfrm>
          <a:custGeom>
            <a:avLst/>
            <a:gdLst/>
            <a:ahLst/>
            <a:cxnLst/>
            <a:rect l="0" t="0" r="r" b="b"/>
            <a:pathLst>
              <a:path w="2540000" h="635000">
                <a:moveTo>
                  <a:pt x="114300" y="0"/>
                </a:moveTo>
                <a:lnTo>
                  <a:pt x="2425700" y="0"/>
                </a:lnTo>
                <a:cubicBezTo>
                  <a:pt x="2488819" y="0"/>
                  <a:pt x="2540000" y="51181"/>
                  <a:pt x="2540000" y="114300"/>
                </a:cubicBezTo>
                <a:lnTo>
                  <a:pt x="2540000" y="520700"/>
                </a:lnTo>
                <a:cubicBezTo>
                  <a:pt x="2540000" y="583819"/>
                  <a:pt x="2488819" y="635000"/>
                  <a:pt x="2425700" y="635000"/>
                </a:cubicBezTo>
                <a:lnTo>
                  <a:pt x="114300" y="635000"/>
                </a:lnTo>
                <a:cubicBezTo>
                  <a:pt x="51181" y="635000"/>
                  <a:pt x="0" y="583819"/>
                  <a:pt x="0" y="520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ntb-1"/>
          <p:cNvSpPr/>
          <p:nvPr/>
        </p:nvSpPr>
        <p:spPr>
          <a:xfrm>
            <a:off x="8699500" y="3035300"/>
            <a:ext cx="38100" cy="635000"/>
          </a:xfrm>
          <a:custGeom>
            <a:avLst/>
            <a:gdLst/>
            <a:ahLst/>
            <a:cxnLst/>
            <a:rect l="0" t="0" r="r" b="b"/>
            <a:pathLst>
              <a:path w="38100" h="635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15950"/>
                </a:lnTo>
                <a:cubicBezTo>
                  <a:pt x="38100" y="626491"/>
                  <a:pt x="29591" y="635000"/>
                  <a:pt x="19050" y="635000"/>
                </a:cubicBezTo>
                <a:lnTo>
                  <a:pt x="19050" y="635000"/>
                </a:lnTo>
                <a:cubicBezTo>
                  <a:pt x="8509" y="635000"/>
                  <a:pt x="0" y="626491"/>
                  <a:pt x="0" y="615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2" name="nth-1"/>
          <p:cNvSpPr txBox="1"/>
          <p:nvPr/>
        </p:nvSpPr>
        <p:spPr>
          <a:xfrm>
            <a:off x="8875522" y="3140297"/>
            <a:ext cx="629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优势市场</a:t>
            </a:r>
          </a:p>
        </p:txBody>
      </p:sp>
      <p:sp>
        <p:nvSpPr>
          <p:cNvPr id="103" name="ntp-1"/>
          <p:cNvSpPr txBox="1"/>
          <p:nvPr/>
        </p:nvSpPr>
        <p:spPr>
          <a:xfrm>
            <a:off x="8876665" y="3367961"/>
            <a:ext cx="159988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中型企业份额 34%，排名第一</a:t>
            </a:r>
          </a:p>
        </p:txBody>
      </p:sp>
      <p:sp>
        <p:nvSpPr>
          <p:cNvPr id="104" name="nt-2"/>
          <p:cNvSpPr/>
          <p:nvPr/>
        </p:nvSpPr>
        <p:spPr>
          <a:xfrm>
            <a:off x="8699500" y="3784600"/>
            <a:ext cx="2540000" cy="635000"/>
          </a:xfrm>
          <a:custGeom>
            <a:avLst/>
            <a:gdLst/>
            <a:ahLst/>
            <a:cxnLst/>
            <a:rect l="0" t="0" r="r" b="b"/>
            <a:pathLst>
              <a:path w="2540000" h="635000">
                <a:moveTo>
                  <a:pt x="114300" y="0"/>
                </a:moveTo>
                <a:lnTo>
                  <a:pt x="2425700" y="0"/>
                </a:lnTo>
                <a:cubicBezTo>
                  <a:pt x="2488819" y="0"/>
                  <a:pt x="2540000" y="51181"/>
                  <a:pt x="2540000" y="114300"/>
                </a:cubicBezTo>
                <a:lnTo>
                  <a:pt x="2540000" y="520700"/>
                </a:lnTo>
                <a:cubicBezTo>
                  <a:pt x="2540000" y="583819"/>
                  <a:pt x="2488819" y="635000"/>
                  <a:pt x="2425700" y="635000"/>
                </a:cubicBezTo>
                <a:lnTo>
                  <a:pt x="114300" y="635000"/>
                </a:lnTo>
                <a:cubicBezTo>
                  <a:pt x="51181" y="635000"/>
                  <a:pt x="0" y="583819"/>
                  <a:pt x="0" y="520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ntb-2"/>
          <p:cNvSpPr/>
          <p:nvPr/>
        </p:nvSpPr>
        <p:spPr>
          <a:xfrm>
            <a:off x="8699500" y="3784600"/>
            <a:ext cx="38100" cy="635000"/>
          </a:xfrm>
          <a:custGeom>
            <a:avLst/>
            <a:gdLst/>
            <a:ahLst/>
            <a:cxnLst/>
            <a:rect l="0" t="0" r="r" b="b"/>
            <a:pathLst>
              <a:path w="38100" h="635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15950"/>
                </a:lnTo>
                <a:cubicBezTo>
                  <a:pt x="38100" y="626491"/>
                  <a:pt x="29591" y="635000"/>
                  <a:pt x="19050" y="635000"/>
                </a:cubicBezTo>
                <a:lnTo>
                  <a:pt x="19050" y="635000"/>
                </a:lnTo>
                <a:cubicBezTo>
                  <a:pt x="8509" y="635000"/>
                  <a:pt x="0" y="626491"/>
                  <a:pt x="0" y="615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6" name="nth-2"/>
          <p:cNvSpPr txBox="1"/>
          <p:nvPr/>
        </p:nvSpPr>
        <p:spPr>
          <a:xfrm>
            <a:off x="8875522" y="3889597"/>
            <a:ext cx="629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最大机会</a:t>
            </a:r>
          </a:p>
        </p:txBody>
      </p:sp>
      <p:sp>
        <p:nvSpPr>
          <p:cNvPr id="107" name="ntp-2"/>
          <p:cNvSpPr txBox="1"/>
          <p:nvPr/>
        </p:nvSpPr>
        <p:spPr>
          <a:xfrm>
            <a:off x="8876665" y="4117261"/>
            <a:ext cx="171291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大型企业规模最大，我方仅 18%</a:t>
            </a:r>
          </a:p>
        </p:txBody>
      </p:sp>
      <p:sp>
        <p:nvSpPr>
          <p:cNvPr id="108" name="nt-3"/>
          <p:cNvSpPr/>
          <p:nvPr/>
        </p:nvSpPr>
        <p:spPr>
          <a:xfrm>
            <a:off x="8699500" y="4533900"/>
            <a:ext cx="2540000" cy="635000"/>
          </a:xfrm>
          <a:custGeom>
            <a:avLst/>
            <a:gdLst/>
            <a:ahLst/>
            <a:cxnLst/>
            <a:rect l="0" t="0" r="r" b="b"/>
            <a:pathLst>
              <a:path w="2540000" h="635000">
                <a:moveTo>
                  <a:pt x="114300" y="0"/>
                </a:moveTo>
                <a:lnTo>
                  <a:pt x="2425700" y="0"/>
                </a:lnTo>
                <a:cubicBezTo>
                  <a:pt x="2488819" y="0"/>
                  <a:pt x="2540000" y="51181"/>
                  <a:pt x="2540000" y="114300"/>
                </a:cubicBezTo>
                <a:lnTo>
                  <a:pt x="2540000" y="520700"/>
                </a:lnTo>
                <a:cubicBezTo>
                  <a:pt x="2540000" y="583819"/>
                  <a:pt x="2488819" y="635000"/>
                  <a:pt x="2425700" y="635000"/>
                </a:cubicBezTo>
                <a:lnTo>
                  <a:pt x="114300" y="635000"/>
                </a:lnTo>
                <a:cubicBezTo>
                  <a:pt x="51181" y="635000"/>
                  <a:pt x="0" y="583819"/>
                  <a:pt x="0" y="520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ntb-3"/>
          <p:cNvSpPr/>
          <p:nvPr/>
        </p:nvSpPr>
        <p:spPr>
          <a:xfrm>
            <a:off x="8699500" y="4533900"/>
            <a:ext cx="38100" cy="635000"/>
          </a:xfrm>
          <a:custGeom>
            <a:avLst/>
            <a:gdLst/>
            <a:ahLst/>
            <a:cxnLst/>
            <a:rect l="0" t="0" r="r" b="b"/>
            <a:pathLst>
              <a:path w="38100" h="635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15950"/>
                </a:lnTo>
                <a:cubicBezTo>
                  <a:pt x="38100" y="626491"/>
                  <a:pt x="29591" y="635000"/>
                  <a:pt x="19050" y="635000"/>
                </a:cubicBezTo>
                <a:lnTo>
                  <a:pt x="19050" y="635000"/>
                </a:lnTo>
                <a:cubicBezTo>
                  <a:pt x="8509" y="635000"/>
                  <a:pt x="0" y="626491"/>
                  <a:pt x="0" y="615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0" name="nth-3"/>
          <p:cNvSpPr txBox="1"/>
          <p:nvPr/>
        </p:nvSpPr>
        <p:spPr>
          <a:xfrm>
            <a:off x="8875522" y="4638897"/>
            <a:ext cx="629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需要避开</a:t>
            </a:r>
          </a:p>
        </p:txBody>
      </p:sp>
      <p:sp>
        <p:nvSpPr>
          <p:cNvPr id="111" name="ntp-3"/>
          <p:cNvSpPr txBox="1"/>
          <p:nvPr/>
        </p:nvSpPr>
        <p:spPr>
          <a:xfrm>
            <a:off x="8876665" y="4866561"/>
            <a:ext cx="179228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政府机构竞品 A 占 40%，壁垒高</a:t>
            </a:r>
          </a:p>
        </p:txBody>
      </p:sp>
      <p:sp>
        <p:nvSpPr>
          <p:cNvPr id="112" name="sum"/>
          <p:cNvSpPr/>
          <p:nvPr/>
        </p:nvSpPr>
        <p:spPr>
          <a:xfrm>
            <a:off x="952500" y="5905500"/>
            <a:ext cx="10287000" cy="419100"/>
          </a:xfrm>
          <a:custGeom>
            <a:avLst/>
            <a:gdLst/>
            <a:ahLst/>
            <a:cxnLst/>
            <a:rect l="0" t="0" r="r" b="b"/>
            <a:pathLst>
              <a:path w="10287000" h="4191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30200"/>
                </a:lnTo>
                <a:cubicBezTo>
                  <a:pt x="10287000" y="379286"/>
                  <a:pt x="10247186" y="419100"/>
                  <a:pt x="10198100" y="419100"/>
                </a:cubicBezTo>
                <a:lnTo>
                  <a:pt x="88900" y="419100"/>
                </a:lnTo>
                <a:cubicBezTo>
                  <a:pt x="39815" y="419100"/>
                  <a:pt x="0" y="379286"/>
                  <a:pt x="0" y="3302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3" name="sum-bar"/>
          <p:cNvSpPr/>
          <p:nvPr/>
        </p:nvSpPr>
        <p:spPr>
          <a:xfrm>
            <a:off x="952500" y="5905500"/>
            <a:ext cx="31750" cy="4191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4" name="sum-h"/>
          <p:cNvSpPr txBox="1"/>
          <p:nvPr/>
        </p:nvSpPr>
        <p:spPr>
          <a:xfrm>
            <a:off x="1142746" y="60388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增长路径</a:t>
            </a:r>
          </a:p>
        </p:txBody>
      </p:sp>
      <p:sp>
        <p:nvSpPr>
          <p:cNvPr id="115" name="sum-p"/>
          <p:cNvSpPr txBox="1"/>
          <p:nvPr/>
        </p:nvSpPr>
        <p:spPr>
          <a:xfrm>
            <a:off x="1891665" y="6034961"/>
            <a:ext cx="438499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大型企业份额每提升 5 个点，整体份额就能提升约 1.9 个点——明年主攻大型企业。</a:t>
            </a:r>
          </a:p>
        </p:txBody>
      </p:sp>
      <p:cxnSp>
        <p:nvCxnSpPr>
          <p:cNvPr id="116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7" name="foot-l"/>
          <p:cNvSpPr txBox="1"/>
          <p:nvPr/>
        </p:nvSpPr>
        <p:spPr>
          <a:xfrm>
            <a:off x="573532" y="6532308"/>
            <a:ext cx="124218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马赛克图 · 五个细分市场</a:t>
            </a:r>
          </a:p>
        </p:txBody>
      </p:sp>
      <p:sp>
        <p:nvSpPr>
          <p:cNvPr id="118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经营指标月报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810131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KPI SPARKLINE TABLE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465693" y="673132"/>
            <a:ext cx="315506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七项核心指标的本月值、环比、12 个月走势与年度目标达成</a:t>
            </a:r>
          </a:p>
        </p:txBody>
      </p:sp>
      <p:sp>
        <p:nvSpPr>
          <p:cNvPr id="10" name="th-1"/>
          <p:cNvSpPr txBox="1"/>
          <p:nvPr/>
        </p:nvSpPr>
        <p:spPr>
          <a:xfrm>
            <a:off x="1093470" y="1558766"/>
            <a:ext cx="3016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指标</a:t>
            </a:r>
          </a:p>
        </p:txBody>
      </p:sp>
      <p:sp>
        <p:nvSpPr>
          <p:cNvPr id="11" name="th-2"/>
          <p:cNvSpPr txBox="1"/>
          <p:nvPr/>
        </p:nvSpPr>
        <p:spPr>
          <a:xfrm>
            <a:off x="4154805" y="1558766"/>
            <a:ext cx="3016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本月</a:t>
            </a:r>
          </a:p>
        </p:txBody>
      </p:sp>
      <p:sp>
        <p:nvSpPr>
          <p:cNvPr id="12" name="th-3"/>
          <p:cNvSpPr txBox="1"/>
          <p:nvPr/>
        </p:nvSpPr>
        <p:spPr>
          <a:xfrm>
            <a:off x="5183188" y="1558766"/>
            <a:ext cx="3016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环比</a:t>
            </a:r>
          </a:p>
        </p:txBody>
      </p:sp>
      <p:sp>
        <p:nvSpPr>
          <p:cNvPr id="13" name="th-4"/>
          <p:cNvSpPr txBox="1"/>
          <p:nvPr/>
        </p:nvSpPr>
        <p:spPr>
          <a:xfrm>
            <a:off x="6635432" y="1558766"/>
            <a:ext cx="8896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近 12 个月走势</a:t>
            </a:r>
          </a:p>
        </p:txBody>
      </p:sp>
      <p:sp>
        <p:nvSpPr>
          <p:cNvPr id="14" name="th-5"/>
          <p:cNvSpPr txBox="1"/>
          <p:nvPr/>
        </p:nvSpPr>
        <p:spPr>
          <a:xfrm>
            <a:off x="9190038" y="1558766"/>
            <a:ext cx="7334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年度目标达成</a:t>
            </a:r>
          </a:p>
        </p:txBody>
      </p:sp>
      <p:sp>
        <p:nvSpPr>
          <p:cNvPr id="15" name="th-6"/>
          <p:cNvSpPr txBox="1"/>
          <p:nvPr/>
        </p:nvSpPr>
        <p:spPr>
          <a:xfrm>
            <a:off x="10644188" y="1558766"/>
            <a:ext cx="3016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状态</a:t>
            </a:r>
          </a:p>
        </p:txBody>
      </p:sp>
      <p:sp>
        <p:nvSpPr>
          <p:cNvPr id="16" name="row-1"/>
          <p:cNvSpPr/>
          <p:nvPr/>
        </p:nvSpPr>
        <p:spPr>
          <a:xfrm>
            <a:off x="952500" y="1841500"/>
            <a:ext cx="10287000" cy="469900"/>
          </a:xfrm>
          <a:custGeom>
            <a:avLst/>
            <a:gdLst/>
            <a:ahLst/>
            <a:cxnLst/>
            <a:rect l="0" t="0" r="r" b="b"/>
            <a:pathLst>
              <a:path w="10287000" h="4699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368300"/>
                </a:lnTo>
                <a:cubicBezTo>
                  <a:pt x="10287000" y="424434"/>
                  <a:pt x="10241534" y="469900"/>
                  <a:pt x="10185400" y="469900"/>
                </a:cubicBezTo>
                <a:lnTo>
                  <a:pt x="101600" y="469900"/>
                </a:lnTo>
                <a:cubicBezTo>
                  <a:pt x="45466" y="469900"/>
                  <a:pt x="0" y="424434"/>
                  <a:pt x="0" y="368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rowb-1"/>
          <p:cNvSpPr/>
          <p:nvPr/>
        </p:nvSpPr>
        <p:spPr>
          <a:xfrm>
            <a:off x="952500" y="1841500"/>
            <a:ext cx="38100" cy="469900"/>
          </a:xfrm>
          <a:custGeom>
            <a:avLst/>
            <a:gdLst/>
            <a:ahLst/>
            <a:cxnLst/>
            <a:rect l="0" t="0" r="r" b="b"/>
            <a:pathLst>
              <a:path w="38100" h="4699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450850"/>
                </a:lnTo>
                <a:cubicBezTo>
                  <a:pt x="38100" y="461391"/>
                  <a:pt x="29591" y="469900"/>
                  <a:pt x="19050" y="469900"/>
                </a:cubicBezTo>
                <a:lnTo>
                  <a:pt x="19050" y="469900"/>
                </a:lnTo>
                <a:cubicBezTo>
                  <a:pt x="8509" y="469900"/>
                  <a:pt x="0" y="461391"/>
                  <a:pt x="0" y="4508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ic-1"/>
          <p:cNvSpPr/>
          <p:nvPr/>
        </p:nvSpPr>
        <p:spPr>
          <a:xfrm>
            <a:off x="1143000" y="1924050"/>
            <a:ext cx="304800" cy="304800"/>
          </a:xfrm>
          <a:prstGeom prst="ellipse">
            <a:avLst/>
          </a:pr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icon-coin"/>
          <p:cNvSpPr/>
          <p:nvPr/>
        </p:nvSpPr>
        <p:spPr>
          <a:xfrm>
            <a:off x="1254760" y="2040890"/>
            <a:ext cx="81280" cy="71120"/>
          </a:xfrm>
          <a:custGeom>
            <a:avLst/>
            <a:gdLst/>
            <a:ahLst/>
            <a:cxnLst/>
            <a:rect l="0" t="0" r="r" b="b"/>
            <a:pathLst>
              <a:path w="81280" h="71120">
                <a:moveTo>
                  <a:pt x="40640" y="0"/>
                </a:moveTo>
                <a:cubicBezTo>
                  <a:pt x="17780" y="0"/>
                  <a:pt x="0" y="6350"/>
                  <a:pt x="0" y="15240"/>
                </a:cubicBezTo>
                <a:cubicBezTo>
                  <a:pt x="0" y="24130"/>
                  <a:pt x="17780" y="30480"/>
                  <a:pt x="40640" y="30480"/>
                </a:cubicBezTo>
                <a:cubicBezTo>
                  <a:pt x="63500" y="30480"/>
                  <a:pt x="81280" y="24130"/>
                  <a:pt x="81280" y="15240"/>
                </a:cubicBezTo>
                <a:cubicBezTo>
                  <a:pt x="81280" y="6350"/>
                  <a:pt x="63500" y="0"/>
                  <a:pt x="40640" y="0"/>
                </a:cubicBezTo>
                <a:close/>
                <a:moveTo>
                  <a:pt x="0" y="15240"/>
                </a:moveTo>
                <a:lnTo>
                  <a:pt x="0" y="55880"/>
                </a:lnTo>
                <a:cubicBezTo>
                  <a:pt x="0" y="64770"/>
                  <a:pt x="17780" y="71120"/>
                  <a:pt x="40640" y="71120"/>
                </a:cubicBezTo>
                <a:cubicBezTo>
                  <a:pt x="63500" y="71120"/>
                  <a:pt x="81280" y="64770"/>
                  <a:pt x="81280" y="55880"/>
                </a:cubicBezTo>
                <a:lnTo>
                  <a:pt x="81280" y="15240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nm-1"/>
          <p:cNvSpPr txBox="1"/>
          <p:nvPr/>
        </p:nvSpPr>
        <p:spPr>
          <a:xfrm>
            <a:off x="1546098" y="196256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营业收入</a:t>
            </a:r>
          </a:p>
        </p:txBody>
      </p:sp>
      <p:sp>
        <p:nvSpPr>
          <p:cNvPr id="21" name="un-1"/>
          <p:cNvSpPr txBox="1"/>
          <p:nvPr/>
        </p:nvSpPr>
        <p:spPr>
          <a:xfrm>
            <a:off x="2199132" y="2017458"/>
            <a:ext cx="26162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万元</a:t>
            </a:r>
          </a:p>
        </p:txBody>
      </p:sp>
      <p:sp>
        <p:nvSpPr>
          <p:cNvPr id="22" name="v-1"/>
          <p:cNvSpPr txBox="1"/>
          <p:nvPr/>
        </p:nvSpPr>
        <p:spPr>
          <a:xfrm>
            <a:off x="3798951" y="1926717"/>
            <a:ext cx="667385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4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4,286</a:t>
            </a:r>
          </a:p>
        </p:txBody>
      </p:sp>
      <p:sp>
        <p:nvSpPr>
          <p:cNvPr id="23" name="mom-1"/>
          <p:cNvSpPr/>
          <p:nvPr/>
        </p:nvSpPr>
        <p:spPr>
          <a:xfrm>
            <a:off x="4953000" y="1962150"/>
            <a:ext cx="762000" cy="228600"/>
          </a:xfrm>
          <a:custGeom>
            <a:avLst/>
            <a:gdLst/>
            <a:ahLst/>
            <a:cxnLst/>
            <a:rect l="0" t="0" r="r" b="b"/>
            <a:pathLst>
              <a:path w="762000" h="228600">
                <a:moveTo>
                  <a:pt x="114300" y="0"/>
                </a:moveTo>
                <a:lnTo>
                  <a:pt x="647700" y="0"/>
                </a:lnTo>
                <a:cubicBezTo>
                  <a:pt x="710819" y="0"/>
                  <a:pt x="762000" y="51181"/>
                  <a:pt x="762000" y="114300"/>
                </a:cubicBezTo>
                <a:lnTo>
                  <a:pt x="762000" y="114300"/>
                </a:lnTo>
                <a:cubicBezTo>
                  <a:pt x="762000" y="177419"/>
                  <a:pt x="710819" y="228600"/>
                  <a:pt x="6477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134C9C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momt-1"/>
          <p:cNvSpPr txBox="1"/>
          <p:nvPr/>
        </p:nvSpPr>
        <p:spPr>
          <a:xfrm>
            <a:off x="5117592" y="1995424"/>
            <a:ext cx="4328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▲ 6.2%</a:t>
            </a:r>
          </a:p>
        </p:txBody>
      </p:sp>
      <p:sp>
        <p:nvSpPr>
          <p:cNvPr id="25" name="spa-1"/>
          <p:cNvSpPr/>
          <p:nvPr/>
        </p:nvSpPr>
        <p:spPr>
          <a:xfrm>
            <a:off x="5905500" y="1949450"/>
            <a:ext cx="2349500" cy="292100"/>
          </a:xfrm>
          <a:custGeom>
            <a:avLst/>
            <a:gdLst/>
            <a:ahLst/>
            <a:cxnLst/>
            <a:rect l="0" t="0" r="r" b="b"/>
            <a:pathLst>
              <a:path w="2349500" h="292100">
                <a:moveTo>
                  <a:pt x="0" y="254000"/>
                </a:moveTo>
                <a:cubicBezTo>
                  <a:pt x="28448" y="249936"/>
                  <a:pt x="156654" y="225235"/>
                  <a:pt x="213614" y="223520"/>
                </a:cubicBezTo>
                <a:cubicBezTo>
                  <a:pt x="270574" y="221742"/>
                  <a:pt x="370205" y="245300"/>
                  <a:pt x="427164" y="240919"/>
                </a:cubicBezTo>
                <a:cubicBezTo>
                  <a:pt x="484124" y="236601"/>
                  <a:pt x="583819" y="200724"/>
                  <a:pt x="640779" y="190818"/>
                </a:cubicBezTo>
                <a:cubicBezTo>
                  <a:pt x="697738" y="180975"/>
                  <a:pt x="797433" y="168910"/>
                  <a:pt x="854392" y="166878"/>
                </a:cubicBezTo>
                <a:cubicBezTo>
                  <a:pt x="911352" y="164846"/>
                  <a:pt x="1010984" y="180531"/>
                  <a:pt x="1067943" y="175577"/>
                </a:cubicBezTo>
                <a:cubicBezTo>
                  <a:pt x="1124903" y="170625"/>
                  <a:pt x="1224597" y="139700"/>
                  <a:pt x="1281557" y="129857"/>
                </a:cubicBezTo>
                <a:cubicBezTo>
                  <a:pt x="1338516" y="119951"/>
                  <a:pt x="1438148" y="103569"/>
                  <a:pt x="1495108" y="101537"/>
                </a:cubicBezTo>
                <a:cubicBezTo>
                  <a:pt x="1552067" y="99505"/>
                  <a:pt x="1651762" y="119253"/>
                  <a:pt x="1708721" y="114554"/>
                </a:cubicBezTo>
                <a:cubicBezTo>
                  <a:pt x="1765681" y="109919"/>
                  <a:pt x="1865376" y="74676"/>
                  <a:pt x="1922336" y="66675"/>
                </a:cubicBezTo>
                <a:cubicBezTo>
                  <a:pt x="1979295" y="58674"/>
                  <a:pt x="2078927" y="63563"/>
                  <a:pt x="2135886" y="54674"/>
                </a:cubicBezTo>
                <a:cubicBezTo>
                  <a:pt x="2192845" y="45783"/>
                  <a:pt x="2321052" y="7302"/>
                  <a:pt x="2349500" y="0"/>
                </a:cubicBezTo>
                <a:lnTo>
                  <a:pt x="2349500" y="292100"/>
                </a:lnTo>
                <a:lnTo>
                  <a:pt x="0" y="292100"/>
                </a:lnTo>
                <a:close/>
              </a:path>
            </a:pathLst>
          </a:custGeom>
          <a:gradFill rotWithShape="1">
            <a:gsLst>
              <a:gs pos="0">
                <a:srgbClr val="1B5AA8">
                  <a:alpha val="22000"/>
                </a:srgbClr>
              </a:gs>
              <a:gs pos="100000">
                <a:srgbClr val="1B5AA8">
                  <a:alpha val="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spl-1"/>
          <p:cNvSpPr/>
          <p:nvPr/>
        </p:nvSpPr>
        <p:spPr>
          <a:xfrm>
            <a:off x="5905500" y="1949450"/>
            <a:ext cx="2349500" cy="254000"/>
          </a:xfrm>
          <a:custGeom>
            <a:avLst/>
            <a:gdLst/>
            <a:ahLst/>
            <a:cxnLst/>
            <a:rect l="0" t="0" r="r" b="b"/>
            <a:pathLst>
              <a:path w="2349500" h="254000">
                <a:moveTo>
                  <a:pt x="0" y="254000"/>
                </a:moveTo>
                <a:cubicBezTo>
                  <a:pt x="28448" y="249936"/>
                  <a:pt x="156654" y="225235"/>
                  <a:pt x="213614" y="223520"/>
                </a:cubicBezTo>
                <a:cubicBezTo>
                  <a:pt x="270574" y="221742"/>
                  <a:pt x="370205" y="245300"/>
                  <a:pt x="427164" y="240919"/>
                </a:cubicBezTo>
                <a:cubicBezTo>
                  <a:pt x="484124" y="236601"/>
                  <a:pt x="583819" y="200724"/>
                  <a:pt x="640779" y="190818"/>
                </a:cubicBezTo>
                <a:cubicBezTo>
                  <a:pt x="697738" y="180975"/>
                  <a:pt x="797433" y="168910"/>
                  <a:pt x="854392" y="166878"/>
                </a:cubicBezTo>
                <a:cubicBezTo>
                  <a:pt x="911352" y="164846"/>
                  <a:pt x="1010984" y="180531"/>
                  <a:pt x="1067943" y="175577"/>
                </a:cubicBezTo>
                <a:cubicBezTo>
                  <a:pt x="1124903" y="170625"/>
                  <a:pt x="1224597" y="139700"/>
                  <a:pt x="1281557" y="129857"/>
                </a:cubicBezTo>
                <a:cubicBezTo>
                  <a:pt x="1338516" y="119951"/>
                  <a:pt x="1438148" y="103569"/>
                  <a:pt x="1495108" y="101537"/>
                </a:cubicBezTo>
                <a:cubicBezTo>
                  <a:pt x="1552067" y="99505"/>
                  <a:pt x="1651762" y="119253"/>
                  <a:pt x="1708721" y="114554"/>
                </a:cubicBezTo>
                <a:cubicBezTo>
                  <a:pt x="1765681" y="109919"/>
                  <a:pt x="1865376" y="74676"/>
                  <a:pt x="1922336" y="66675"/>
                </a:cubicBezTo>
                <a:cubicBezTo>
                  <a:pt x="1979295" y="58674"/>
                  <a:pt x="2078927" y="63563"/>
                  <a:pt x="2135886" y="54674"/>
                </a:cubicBezTo>
                <a:cubicBezTo>
                  <a:pt x="2192845" y="45783"/>
                  <a:pt x="2321052" y="7302"/>
                  <a:pt x="2349500" y="0"/>
                </a:cubicBezTo>
              </a:path>
            </a:pathLst>
          </a:custGeom>
          <a:noFill/>
          <a:ln w="1651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spe-1"/>
          <p:cNvSpPr/>
          <p:nvPr/>
        </p:nvSpPr>
        <p:spPr>
          <a:xfrm>
            <a:off x="8216900" y="1911350"/>
            <a:ext cx="76200" cy="76200"/>
          </a:xfrm>
          <a:prstGeom prst="ellipse">
            <a:avLst/>
          </a:prstGeom>
          <a:solidFill>
            <a:srgbClr val="1B5AA8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pgb-1"/>
          <p:cNvSpPr/>
          <p:nvPr/>
        </p:nvSpPr>
        <p:spPr>
          <a:xfrm>
            <a:off x="8572500" y="2025650"/>
            <a:ext cx="1460500" cy="101600"/>
          </a:xfrm>
          <a:custGeom>
            <a:avLst/>
            <a:gdLst/>
            <a:ahLst/>
            <a:cxnLst/>
            <a:rect l="0" t="0" r="r" b="b"/>
            <a:pathLst>
              <a:path w="1460500" h="101600">
                <a:moveTo>
                  <a:pt x="50800" y="0"/>
                </a:moveTo>
                <a:lnTo>
                  <a:pt x="1409700" y="0"/>
                </a:lnTo>
                <a:cubicBezTo>
                  <a:pt x="1437767" y="0"/>
                  <a:pt x="1460500" y="22733"/>
                  <a:pt x="1460500" y="50800"/>
                </a:cubicBezTo>
                <a:lnTo>
                  <a:pt x="1460500" y="50800"/>
                </a:lnTo>
                <a:cubicBezTo>
                  <a:pt x="1460500" y="78867"/>
                  <a:pt x="1437767" y="101600"/>
                  <a:pt x="14097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pg-1"/>
          <p:cNvSpPr/>
          <p:nvPr/>
        </p:nvSpPr>
        <p:spPr>
          <a:xfrm>
            <a:off x="8572500" y="2025650"/>
            <a:ext cx="1343660" cy="101600"/>
          </a:xfrm>
          <a:custGeom>
            <a:avLst/>
            <a:gdLst/>
            <a:ahLst/>
            <a:cxnLst/>
            <a:rect l="0" t="0" r="r" b="b"/>
            <a:pathLst>
              <a:path w="1343660" h="101600">
                <a:moveTo>
                  <a:pt x="50800" y="0"/>
                </a:moveTo>
                <a:lnTo>
                  <a:pt x="1292860" y="0"/>
                </a:lnTo>
                <a:cubicBezTo>
                  <a:pt x="1320927" y="0"/>
                  <a:pt x="1343660" y="22733"/>
                  <a:pt x="1343660" y="50800"/>
                </a:cubicBezTo>
                <a:lnTo>
                  <a:pt x="1343660" y="50800"/>
                </a:lnTo>
                <a:cubicBezTo>
                  <a:pt x="1343660" y="78867"/>
                  <a:pt x="1320927" y="101600"/>
                  <a:pt x="129286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4E79B5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30" name="pgt-1"/>
          <p:cNvCxnSpPr/>
          <p:nvPr/>
        </p:nvCxnSpPr>
        <p:spPr>
          <a:xfrm>
            <a:off x="10033000" y="1987550"/>
            <a:ext cx="0" cy="177800"/>
          </a:xfrm>
          <a:prstGeom prst="line">
            <a:avLst/>
          </a:prstGeom>
          <a:ln w="8890" cap="rnd">
            <a:solidFill>
              <a:srgbClr val="0B2545">
                <a:alpha val="3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pgv-1"/>
          <p:cNvSpPr txBox="1"/>
          <p:nvPr/>
        </p:nvSpPr>
        <p:spPr>
          <a:xfrm>
            <a:off x="10120884" y="1979740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92%</a:t>
            </a:r>
          </a:p>
        </p:txBody>
      </p:sp>
      <p:sp>
        <p:nvSpPr>
          <p:cNvPr id="32" name="st-1"/>
          <p:cNvSpPr/>
          <p:nvPr/>
        </p:nvSpPr>
        <p:spPr>
          <a:xfrm>
            <a:off x="10579100" y="1968500"/>
            <a:ext cx="431800" cy="215900"/>
          </a:xfrm>
          <a:custGeom>
            <a:avLst/>
            <a:gdLst/>
            <a:ahLst/>
            <a:cxnLst/>
            <a:rect l="0" t="0" r="r" b="b"/>
            <a:pathLst>
              <a:path w="431800" h="215900">
                <a:moveTo>
                  <a:pt x="107950" y="0"/>
                </a:moveTo>
                <a:lnTo>
                  <a:pt x="323850" y="0"/>
                </a:lnTo>
                <a:cubicBezTo>
                  <a:pt x="383477" y="0"/>
                  <a:pt x="431800" y="48324"/>
                  <a:pt x="431800" y="107950"/>
                </a:cubicBezTo>
                <a:lnTo>
                  <a:pt x="431800" y="107950"/>
                </a:lnTo>
                <a:cubicBezTo>
                  <a:pt x="431800" y="167576"/>
                  <a:pt x="383477" y="215900"/>
                  <a:pt x="3238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stt-1"/>
          <p:cNvSpPr txBox="1"/>
          <p:nvPr/>
        </p:nvSpPr>
        <p:spPr>
          <a:xfrm>
            <a:off x="10650538" y="1996916"/>
            <a:ext cx="2889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良好</a:t>
            </a:r>
          </a:p>
        </p:txBody>
      </p:sp>
      <p:sp>
        <p:nvSpPr>
          <p:cNvPr id="34" name="row-2"/>
          <p:cNvSpPr/>
          <p:nvPr/>
        </p:nvSpPr>
        <p:spPr>
          <a:xfrm>
            <a:off x="952500" y="2387600"/>
            <a:ext cx="10287000" cy="469900"/>
          </a:xfrm>
          <a:custGeom>
            <a:avLst/>
            <a:gdLst/>
            <a:ahLst/>
            <a:cxnLst/>
            <a:rect l="0" t="0" r="r" b="b"/>
            <a:pathLst>
              <a:path w="10287000" h="4699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368300"/>
                </a:lnTo>
                <a:cubicBezTo>
                  <a:pt x="10287000" y="424434"/>
                  <a:pt x="10241534" y="469900"/>
                  <a:pt x="10185400" y="469900"/>
                </a:cubicBezTo>
                <a:lnTo>
                  <a:pt x="101600" y="469900"/>
                </a:lnTo>
                <a:cubicBezTo>
                  <a:pt x="45466" y="469900"/>
                  <a:pt x="0" y="424434"/>
                  <a:pt x="0" y="368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rowb-2"/>
          <p:cNvSpPr/>
          <p:nvPr/>
        </p:nvSpPr>
        <p:spPr>
          <a:xfrm>
            <a:off x="952500" y="2387600"/>
            <a:ext cx="38100" cy="469900"/>
          </a:xfrm>
          <a:custGeom>
            <a:avLst/>
            <a:gdLst/>
            <a:ahLst/>
            <a:cxnLst/>
            <a:rect l="0" t="0" r="r" b="b"/>
            <a:pathLst>
              <a:path w="38100" h="4699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450850"/>
                </a:lnTo>
                <a:cubicBezTo>
                  <a:pt x="38100" y="461391"/>
                  <a:pt x="29591" y="469900"/>
                  <a:pt x="19050" y="469900"/>
                </a:cubicBezTo>
                <a:lnTo>
                  <a:pt x="19050" y="469900"/>
                </a:lnTo>
                <a:cubicBezTo>
                  <a:pt x="8509" y="469900"/>
                  <a:pt x="0" y="461391"/>
                  <a:pt x="0" y="4508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ic-2"/>
          <p:cNvSpPr/>
          <p:nvPr/>
        </p:nvSpPr>
        <p:spPr>
          <a:xfrm>
            <a:off x="1143000" y="2470150"/>
            <a:ext cx="304800" cy="304800"/>
          </a:xfrm>
          <a:prstGeom prst="ellipse">
            <a:avLst/>
          </a:prstGeom>
          <a:solidFill>
            <a:srgbClr val="134C9C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icon-people"/>
          <p:cNvSpPr/>
          <p:nvPr/>
        </p:nvSpPr>
        <p:spPr>
          <a:xfrm>
            <a:off x="1242060" y="2639060"/>
            <a:ext cx="107950" cy="30480"/>
          </a:xfrm>
          <a:custGeom>
            <a:avLst/>
            <a:gdLst/>
            <a:ahLst/>
            <a:cxnLst/>
            <a:rect l="0" t="0" r="r" b="b"/>
            <a:pathLst>
              <a:path w="107950" h="30480">
                <a:moveTo>
                  <a:pt x="0" y="30480"/>
                </a:moveTo>
                <a:cubicBezTo>
                  <a:pt x="0" y="11430"/>
                  <a:pt x="15875" y="0"/>
                  <a:pt x="34290" y="0"/>
                </a:cubicBezTo>
                <a:cubicBezTo>
                  <a:pt x="52705" y="0"/>
                  <a:pt x="68580" y="11430"/>
                  <a:pt x="68580" y="30480"/>
                </a:cubicBezTo>
                <a:moveTo>
                  <a:pt x="81280" y="2540"/>
                </a:moveTo>
                <a:cubicBezTo>
                  <a:pt x="97790" y="4445"/>
                  <a:pt x="107950" y="15875"/>
                  <a:pt x="107950" y="30480"/>
                </a:cubicBezTo>
              </a:path>
            </a:pathLst>
          </a:cu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icon-people"/>
          <p:cNvSpPr/>
          <p:nvPr/>
        </p:nvSpPr>
        <p:spPr>
          <a:xfrm>
            <a:off x="1256030" y="2584450"/>
            <a:ext cx="40640" cy="40640"/>
          </a:xfrm>
          <a:prstGeom prst="ellipse">
            <a:avLst/>
          </a:pr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icon-people"/>
          <p:cNvSpPr/>
          <p:nvPr/>
        </p:nvSpPr>
        <p:spPr>
          <a:xfrm>
            <a:off x="1310640" y="2584450"/>
            <a:ext cx="33020" cy="33020"/>
          </a:xfrm>
          <a:prstGeom prst="ellipse">
            <a:avLst/>
          </a:pr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nm-2"/>
          <p:cNvSpPr txBox="1"/>
          <p:nvPr/>
        </p:nvSpPr>
        <p:spPr>
          <a:xfrm>
            <a:off x="1546098" y="250866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新签客户</a:t>
            </a:r>
          </a:p>
        </p:txBody>
      </p:sp>
      <p:sp>
        <p:nvSpPr>
          <p:cNvPr id="41" name="un-2"/>
          <p:cNvSpPr txBox="1"/>
          <p:nvPr/>
        </p:nvSpPr>
        <p:spPr>
          <a:xfrm>
            <a:off x="2199132" y="2563558"/>
            <a:ext cx="17081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家</a:t>
            </a:r>
          </a:p>
        </p:txBody>
      </p:sp>
      <p:sp>
        <p:nvSpPr>
          <p:cNvPr id="42" name="v-2"/>
          <p:cNvSpPr txBox="1"/>
          <p:nvPr/>
        </p:nvSpPr>
        <p:spPr>
          <a:xfrm>
            <a:off x="4001897" y="2472817"/>
            <a:ext cx="464439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4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128</a:t>
            </a:r>
          </a:p>
        </p:txBody>
      </p:sp>
      <p:sp>
        <p:nvSpPr>
          <p:cNvPr id="43" name="mom-2"/>
          <p:cNvSpPr/>
          <p:nvPr/>
        </p:nvSpPr>
        <p:spPr>
          <a:xfrm>
            <a:off x="4953000" y="2508250"/>
            <a:ext cx="762000" cy="228600"/>
          </a:xfrm>
          <a:custGeom>
            <a:avLst/>
            <a:gdLst/>
            <a:ahLst/>
            <a:cxnLst/>
            <a:rect l="0" t="0" r="r" b="b"/>
            <a:pathLst>
              <a:path w="762000" h="228600">
                <a:moveTo>
                  <a:pt x="114300" y="0"/>
                </a:moveTo>
                <a:lnTo>
                  <a:pt x="647700" y="0"/>
                </a:lnTo>
                <a:cubicBezTo>
                  <a:pt x="710819" y="0"/>
                  <a:pt x="762000" y="51181"/>
                  <a:pt x="762000" y="114300"/>
                </a:cubicBezTo>
                <a:lnTo>
                  <a:pt x="762000" y="114300"/>
                </a:lnTo>
                <a:cubicBezTo>
                  <a:pt x="762000" y="177419"/>
                  <a:pt x="710819" y="228600"/>
                  <a:pt x="6477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134C9C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momt-2"/>
          <p:cNvSpPr txBox="1"/>
          <p:nvPr/>
        </p:nvSpPr>
        <p:spPr>
          <a:xfrm>
            <a:off x="5089144" y="2541524"/>
            <a:ext cx="48971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▲ 12.3%</a:t>
            </a:r>
          </a:p>
        </p:txBody>
      </p:sp>
      <p:sp>
        <p:nvSpPr>
          <p:cNvPr id="45" name="spa-2"/>
          <p:cNvSpPr/>
          <p:nvPr/>
        </p:nvSpPr>
        <p:spPr>
          <a:xfrm>
            <a:off x="5905500" y="2495550"/>
            <a:ext cx="2349500" cy="292100"/>
          </a:xfrm>
          <a:custGeom>
            <a:avLst/>
            <a:gdLst/>
            <a:ahLst/>
            <a:cxnLst/>
            <a:rect l="0" t="0" r="r" b="b"/>
            <a:pathLst>
              <a:path w="2349500" h="292100">
                <a:moveTo>
                  <a:pt x="0" y="254000"/>
                </a:moveTo>
                <a:cubicBezTo>
                  <a:pt x="28448" y="249174"/>
                  <a:pt x="156654" y="219329"/>
                  <a:pt x="213614" y="217742"/>
                </a:cubicBezTo>
                <a:cubicBezTo>
                  <a:pt x="270574" y="216090"/>
                  <a:pt x="370205" y="245936"/>
                  <a:pt x="427164" y="241935"/>
                </a:cubicBezTo>
                <a:cubicBezTo>
                  <a:pt x="484124" y="237871"/>
                  <a:pt x="583819" y="197930"/>
                  <a:pt x="640779" y="187452"/>
                </a:cubicBezTo>
                <a:cubicBezTo>
                  <a:pt x="697738" y="176975"/>
                  <a:pt x="797433" y="162496"/>
                  <a:pt x="854392" y="163258"/>
                </a:cubicBezTo>
                <a:cubicBezTo>
                  <a:pt x="911352" y="164084"/>
                  <a:pt x="1010984" y="199200"/>
                  <a:pt x="1067943" y="193548"/>
                </a:cubicBezTo>
                <a:cubicBezTo>
                  <a:pt x="1124903" y="187896"/>
                  <a:pt x="1224597" y="133858"/>
                  <a:pt x="1281557" y="120968"/>
                </a:cubicBezTo>
                <a:cubicBezTo>
                  <a:pt x="1338516" y="108077"/>
                  <a:pt x="1438148" y="94361"/>
                  <a:pt x="1495108" y="96774"/>
                </a:cubicBezTo>
                <a:cubicBezTo>
                  <a:pt x="1552067" y="99187"/>
                  <a:pt x="1651762" y="143955"/>
                  <a:pt x="1708721" y="139065"/>
                </a:cubicBezTo>
                <a:cubicBezTo>
                  <a:pt x="1765681" y="134239"/>
                  <a:pt x="1865376" y="67755"/>
                  <a:pt x="1922336" y="60452"/>
                </a:cubicBezTo>
                <a:cubicBezTo>
                  <a:pt x="1979295" y="53213"/>
                  <a:pt x="2078927" y="92710"/>
                  <a:pt x="2135886" y="84645"/>
                </a:cubicBezTo>
                <a:cubicBezTo>
                  <a:pt x="2192845" y="76581"/>
                  <a:pt x="2321052" y="11303"/>
                  <a:pt x="2349500" y="0"/>
                </a:cubicBezTo>
                <a:lnTo>
                  <a:pt x="2349500" y="292100"/>
                </a:lnTo>
                <a:lnTo>
                  <a:pt x="0" y="292100"/>
                </a:lnTo>
                <a:close/>
              </a:path>
            </a:pathLst>
          </a:custGeom>
          <a:gradFill rotWithShape="1">
            <a:gsLst>
              <a:gs pos="0">
                <a:srgbClr val="1B5AA8">
                  <a:alpha val="22000"/>
                </a:srgbClr>
              </a:gs>
              <a:gs pos="100000">
                <a:srgbClr val="1B5AA8">
                  <a:alpha val="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spl-2"/>
          <p:cNvSpPr/>
          <p:nvPr/>
        </p:nvSpPr>
        <p:spPr>
          <a:xfrm>
            <a:off x="5905500" y="2495550"/>
            <a:ext cx="2349500" cy="254000"/>
          </a:xfrm>
          <a:custGeom>
            <a:avLst/>
            <a:gdLst/>
            <a:ahLst/>
            <a:cxnLst/>
            <a:rect l="0" t="0" r="r" b="b"/>
            <a:pathLst>
              <a:path w="2349500" h="254000">
                <a:moveTo>
                  <a:pt x="0" y="254000"/>
                </a:moveTo>
                <a:cubicBezTo>
                  <a:pt x="28448" y="249174"/>
                  <a:pt x="156654" y="219329"/>
                  <a:pt x="213614" y="217742"/>
                </a:cubicBezTo>
                <a:cubicBezTo>
                  <a:pt x="270574" y="216090"/>
                  <a:pt x="370205" y="245936"/>
                  <a:pt x="427164" y="241935"/>
                </a:cubicBezTo>
                <a:cubicBezTo>
                  <a:pt x="484124" y="237871"/>
                  <a:pt x="583819" y="197930"/>
                  <a:pt x="640779" y="187452"/>
                </a:cubicBezTo>
                <a:cubicBezTo>
                  <a:pt x="697738" y="176975"/>
                  <a:pt x="797433" y="162496"/>
                  <a:pt x="854392" y="163258"/>
                </a:cubicBezTo>
                <a:cubicBezTo>
                  <a:pt x="911352" y="164084"/>
                  <a:pt x="1010984" y="199200"/>
                  <a:pt x="1067943" y="193548"/>
                </a:cubicBezTo>
                <a:cubicBezTo>
                  <a:pt x="1124903" y="187896"/>
                  <a:pt x="1224597" y="133858"/>
                  <a:pt x="1281557" y="120968"/>
                </a:cubicBezTo>
                <a:cubicBezTo>
                  <a:pt x="1338516" y="108077"/>
                  <a:pt x="1438148" y="94361"/>
                  <a:pt x="1495108" y="96774"/>
                </a:cubicBezTo>
                <a:cubicBezTo>
                  <a:pt x="1552067" y="99187"/>
                  <a:pt x="1651762" y="143955"/>
                  <a:pt x="1708721" y="139065"/>
                </a:cubicBezTo>
                <a:cubicBezTo>
                  <a:pt x="1765681" y="134239"/>
                  <a:pt x="1865376" y="67755"/>
                  <a:pt x="1922336" y="60452"/>
                </a:cubicBezTo>
                <a:cubicBezTo>
                  <a:pt x="1979295" y="53213"/>
                  <a:pt x="2078927" y="92710"/>
                  <a:pt x="2135886" y="84645"/>
                </a:cubicBezTo>
                <a:cubicBezTo>
                  <a:pt x="2192845" y="76581"/>
                  <a:pt x="2321052" y="11303"/>
                  <a:pt x="2349500" y="0"/>
                </a:cubicBezTo>
              </a:path>
            </a:pathLst>
          </a:custGeom>
          <a:noFill/>
          <a:ln w="1651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spe-2"/>
          <p:cNvSpPr/>
          <p:nvPr/>
        </p:nvSpPr>
        <p:spPr>
          <a:xfrm>
            <a:off x="8216900" y="2457450"/>
            <a:ext cx="76200" cy="76200"/>
          </a:xfrm>
          <a:prstGeom prst="ellipse">
            <a:avLst/>
          </a:prstGeom>
          <a:solidFill>
            <a:srgbClr val="1B5AA8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pgb-2"/>
          <p:cNvSpPr/>
          <p:nvPr/>
        </p:nvSpPr>
        <p:spPr>
          <a:xfrm>
            <a:off x="8572500" y="2571750"/>
            <a:ext cx="1460500" cy="101600"/>
          </a:xfrm>
          <a:custGeom>
            <a:avLst/>
            <a:gdLst/>
            <a:ahLst/>
            <a:cxnLst/>
            <a:rect l="0" t="0" r="r" b="b"/>
            <a:pathLst>
              <a:path w="1460500" h="101600">
                <a:moveTo>
                  <a:pt x="50800" y="0"/>
                </a:moveTo>
                <a:lnTo>
                  <a:pt x="1409700" y="0"/>
                </a:lnTo>
                <a:cubicBezTo>
                  <a:pt x="1437767" y="0"/>
                  <a:pt x="1460500" y="22733"/>
                  <a:pt x="1460500" y="50800"/>
                </a:cubicBezTo>
                <a:lnTo>
                  <a:pt x="1460500" y="50800"/>
                </a:lnTo>
                <a:cubicBezTo>
                  <a:pt x="1460500" y="78867"/>
                  <a:pt x="1437767" y="101600"/>
                  <a:pt x="14097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pg-2"/>
          <p:cNvSpPr/>
          <p:nvPr/>
        </p:nvSpPr>
        <p:spPr>
          <a:xfrm>
            <a:off x="8572500" y="2571750"/>
            <a:ext cx="1460500" cy="101600"/>
          </a:xfrm>
          <a:custGeom>
            <a:avLst/>
            <a:gdLst/>
            <a:ahLst/>
            <a:cxnLst/>
            <a:rect l="0" t="0" r="r" b="b"/>
            <a:pathLst>
              <a:path w="1460500" h="101600">
                <a:moveTo>
                  <a:pt x="50800" y="0"/>
                </a:moveTo>
                <a:lnTo>
                  <a:pt x="1409700" y="0"/>
                </a:lnTo>
                <a:cubicBezTo>
                  <a:pt x="1437767" y="0"/>
                  <a:pt x="1460500" y="22733"/>
                  <a:pt x="1460500" y="50800"/>
                </a:cubicBezTo>
                <a:lnTo>
                  <a:pt x="1460500" y="50800"/>
                </a:lnTo>
                <a:cubicBezTo>
                  <a:pt x="1460500" y="78867"/>
                  <a:pt x="1437767" y="101600"/>
                  <a:pt x="14097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4E79B5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50" name="pgt-2"/>
          <p:cNvCxnSpPr/>
          <p:nvPr/>
        </p:nvCxnSpPr>
        <p:spPr>
          <a:xfrm>
            <a:off x="10033000" y="2533650"/>
            <a:ext cx="0" cy="177800"/>
          </a:xfrm>
          <a:prstGeom prst="line">
            <a:avLst/>
          </a:prstGeom>
          <a:ln w="8890" cap="rnd">
            <a:solidFill>
              <a:srgbClr val="0B2545">
                <a:alpha val="3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pgv-2"/>
          <p:cNvSpPr txBox="1"/>
          <p:nvPr/>
        </p:nvSpPr>
        <p:spPr>
          <a:xfrm>
            <a:off x="10120884" y="2525840"/>
            <a:ext cx="35890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104%</a:t>
            </a:r>
          </a:p>
        </p:txBody>
      </p:sp>
      <p:sp>
        <p:nvSpPr>
          <p:cNvPr id="52" name="st-2"/>
          <p:cNvSpPr/>
          <p:nvPr/>
        </p:nvSpPr>
        <p:spPr>
          <a:xfrm>
            <a:off x="10579100" y="2514600"/>
            <a:ext cx="431800" cy="215900"/>
          </a:xfrm>
          <a:custGeom>
            <a:avLst/>
            <a:gdLst/>
            <a:ahLst/>
            <a:cxnLst/>
            <a:rect l="0" t="0" r="r" b="b"/>
            <a:pathLst>
              <a:path w="431800" h="215900">
                <a:moveTo>
                  <a:pt x="107950" y="0"/>
                </a:moveTo>
                <a:lnTo>
                  <a:pt x="323850" y="0"/>
                </a:lnTo>
                <a:cubicBezTo>
                  <a:pt x="383477" y="0"/>
                  <a:pt x="431800" y="48324"/>
                  <a:pt x="431800" y="107950"/>
                </a:cubicBezTo>
                <a:lnTo>
                  <a:pt x="431800" y="107950"/>
                </a:lnTo>
                <a:cubicBezTo>
                  <a:pt x="431800" y="167576"/>
                  <a:pt x="383477" y="215900"/>
                  <a:pt x="3238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stt-2"/>
          <p:cNvSpPr txBox="1"/>
          <p:nvPr/>
        </p:nvSpPr>
        <p:spPr>
          <a:xfrm>
            <a:off x="10650538" y="2543016"/>
            <a:ext cx="2889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良好</a:t>
            </a:r>
          </a:p>
        </p:txBody>
      </p:sp>
      <p:sp>
        <p:nvSpPr>
          <p:cNvPr id="54" name="row-3"/>
          <p:cNvSpPr/>
          <p:nvPr/>
        </p:nvSpPr>
        <p:spPr>
          <a:xfrm>
            <a:off x="952500" y="2933700"/>
            <a:ext cx="10287000" cy="469900"/>
          </a:xfrm>
          <a:custGeom>
            <a:avLst/>
            <a:gdLst/>
            <a:ahLst/>
            <a:cxnLst/>
            <a:rect l="0" t="0" r="r" b="b"/>
            <a:pathLst>
              <a:path w="10287000" h="4699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368300"/>
                </a:lnTo>
                <a:cubicBezTo>
                  <a:pt x="10287000" y="424434"/>
                  <a:pt x="10241534" y="469900"/>
                  <a:pt x="10185400" y="469900"/>
                </a:cubicBezTo>
                <a:lnTo>
                  <a:pt x="101600" y="469900"/>
                </a:lnTo>
                <a:cubicBezTo>
                  <a:pt x="45466" y="469900"/>
                  <a:pt x="0" y="424434"/>
                  <a:pt x="0" y="368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rowb-3"/>
          <p:cNvSpPr/>
          <p:nvPr/>
        </p:nvSpPr>
        <p:spPr>
          <a:xfrm>
            <a:off x="952500" y="2933700"/>
            <a:ext cx="38100" cy="469900"/>
          </a:xfrm>
          <a:custGeom>
            <a:avLst/>
            <a:gdLst/>
            <a:ahLst/>
            <a:cxnLst/>
            <a:rect l="0" t="0" r="r" b="b"/>
            <a:pathLst>
              <a:path w="38100" h="4699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450850"/>
                </a:lnTo>
                <a:cubicBezTo>
                  <a:pt x="38100" y="461391"/>
                  <a:pt x="29591" y="469900"/>
                  <a:pt x="19050" y="469900"/>
                </a:cubicBezTo>
                <a:lnTo>
                  <a:pt x="19050" y="469900"/>
                </a:lnTo>
                <a:cubicBezTo>
                  <a:pt x="8509" y="469900"/>
                  <a:pt x="0" y="461391"/>
                  <a:pt x="0" y="4508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D9962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ic-3"/>
          <p:cNvSpPr/>
          <p:nvPr/>
        </p:nvSpPr>
        <p:spPr>
          <a:xfrm>
            <a:off x="1143000" y="3016250"/>
            <a:ext cx="304800" cy="304800"/>
          </a:xfrm>
          <a:prstGeom prst="ellipse">
            <a:avLst/>
          </a:prstGeom>
          <a:solidFill>
            <a:srgbClr val="1B5AA8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icon-cart"/>
          <p:cNvSpPr/>
          <p:nvPr/>
        </p:nvSpPr>
        <p:spPr>
          <a:xfrm>
            <a:off x="1239520" y="3121660"/>
            <a:ext cx="100965" cy="59690"/>
          </a:xfrm>
          <a:custGeom>
            <a:avLst/>
            <a:gdLst/>
            <a:ahLst/>
            <a:cxnLst/>
            <a:rect l="0" t="0" r="r" b="b"/>
            <a:pathLst>
              <a:path w="100965" h="59690">
                <a:moveTo>
                  <a:pt x="0" y="0"/>
                </a:moveTo>
                <a:lnTo>
                  <a:pt x="14605" y="0"/>
                </a:lnTo>
                <a:lnTo>
                  <a:pt x="29210" y="59690"/>
                </a:lnTo>
                <a:lnTo>
                  <a:pt x="88900" y="59690"/>
                </a:lnTo>
                <a:lnTo>
                  <a:pt x="100965" y="17780"/>
                </a:lnTo>
                <a:lnTo>
                  <a:pt x="19050" y="17780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icon-cart"/>
          <p:cNvSpPr/>
          <p:nvPr/>
        </p:nvSpPr>
        <p:spPr>
          <a:xfrm>
            <a:off x="1270000" y="3200400"/>
            <a:ext cx="17780" cy="17780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icon-cart"/>
          <p:cNvSpPr/>
          <p:nvPr/>
        </p:nvSpPr>
        <p:spPr>
          <a:xfrm>
            <a:off x="1315720" y="3200400"/>
            <a:ext cx="17780" cy="17780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nm-3"/>
          <p:cNvSpPr txBox="1"/>
          <p:nvPr/>
        </p:nvSpPr>
        <p:spPr>
          <a:xfrm>
            <a:off x="1546098" y="3054763"/>
            <a:ext cx="548640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客单价</a:t>
            </a:r>
          </a:p>
        </p:txBody>
      </p:sp>
      <p:sp>
        <p:nvSpPr>
          <p:cNvPr id="61" name="un-3"/>
          <p:cNvSpPr txBox="1"/>
          <p:nvPr/>
        </p:nvSpPr>
        <p:spPr>
          <a:xfrm>
            <a:off x="2056257" y="3109658"/>
            <a:ext cx="26162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万元</a:t>
            </a:r>
          </a:p>
        </p:txBody>
      </p:sp>
      <p:sp>
        <p:nvSpPr>
          <p:cNvPr id="62" name="v-3"/>
          <p:cNvSpPr txBox="1"/>
          <p:nvPr/>
        </p:nvSpPr>
        <p:spPr>
          <a:xfrm>
            <a:off x="3900424" y="3018917"/>
            <a:ext cx="565912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4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33.5</a:t>
            </a:r>
          </a:p>
        </p:txBody>
      </p:sp>
      <p:sp>
        <p:nvSpPr>
          <p:cNvPr id="63" name="mom-3"/>
          <p:cNvSpPr/>
          <p:nvPr/>
        </p:nvSpPr>
        <p:spPr>
          <a:xfrm>
            <a:off x="4953000" y="3054350"/>
            <a:ext cx="762000" cy="228600"/>
          </a:xfrm>
          <a:custGeom>
            <a:avLst/>
            <a:gdLst/>
            <a:ahLst/>
            <a:cxnLst/>
            <a:rect l="0" t="0" r="r" b="b"/>
            <a:pathLst>
              <a:path w="762000" h="228600">
                <a:moveTo>
                  <a:pt x="114300" y="0"/>
                </a:moveTo>
                <a:lnTo>
                  <a:pt x="647700" y="0"/>
                </a:lnTo>
                <a:cubicBezTo>
                  <a:pt x="710819" y="0"/>
                  <a:pt x="762000" y="51181"/>
                  <a:pt x="762000" y="114300"/>
                </a:cubicBezTo>
                <a:lnTo>
                  <a:pt x="762000" y="114300"/>
                </a:lnTo>
                <a:cubicBezTo>
                  <a:pt x="762000" y="177419"/>
                  <a:pt x="710819" y="228600"/>
                  <a:pt x="6477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E0703A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momt-3"/>
          <p:cNvSpPr txBox="1"/>
          <p:nvPr/>
        </p:nvSpPr>
        <p:spPr>
          <a:xfrm>
            <a:off x="5117592" y="3087624"/>
            <a:ext cx="4328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▼ 5.4%</a:t>
            </a:r>
          </a:p>
        </p:txBody>
      </p:sp>
      <p:sp>
        <p:nvSpPr>
          <p:cNvPr id="65" name="spa-3"/>
          <p:cNvSpPr/>
          <p:nvPr/>
        </p:nvSpPr>
        <p:spPr>
          <a:xfrm>
            <a:off x="5905500" y="3040865"/>
            <a:ext cx="2349500" cy="292885"/>
          </a:xfrm>
          <a:custGeom>
            <a:avLst/>
            <a:gdLst/>
            <a:ahLst/>
            <a:cxnLst/>
            <a:rect l="0" t="0" r="r" b="b"/>
            <a:pathLst>
              <a:path w="2349500" h="292885">
                <a:moveTo>
                  <a:pt x="0" y="18311"/>
                </a:moveTo>
                <a:cubicBezTo>
                  <a:pt x="28448" y="22947"/>
                  <a:pt x="156654" y="55649"/>
                  <a:pt x="213614" y="53363"/>
                </a:cubicBezTo>
                <a:cubicBezTo>
                  <a:pt x="270574" y="51014"/>
                  <a:pt x="370205" y="-7406"/>
                  <a:pt x="427164" y="785"/>
                </a:cubicBezTo>
                <a:cubicBezTo>
                  <a:pt x="484124" y="8977"/>
                  <a:pt x="583819" y="97115"/>
                  <a:pt x="640779" y="114641"/>
                </a:cubicBezTo>
                <a:cubicBezTo>
                  <a:pt x="697738" y="132167"/>
                  <a:pt x="797433" y="144994"/>
                  <a:pt x="854392" y="132167"/>
                </a:cubicBezTo>
                <a:cubicBezTo>
                  <a:pt x="911352" y="119340"/>
                  <a:pt x="1010984" y="10120"/>
                  <a:pt x="1067943" y="18311"/>
                </a:cubicBezTo>
                <a:cubicBezTo>
                  <a:pt x="1124903" y="26503"/>
                  <a:pt x="1224597" y="168933"/>
                  <a:pt x="1281557" y="193444"/>
                </a:cubicBezTo>
                <a:cubicBezTo>
                  <a:pt x="1338516" y="218019"/>
                  <a:pt x="1438148" y="220940"/>
                  <a:pt x="1495108" y="202207"/>
                </a:cubicBezTo>
                <a:cubicBezTo>
                  <a:pt x="1552067" y="183538"/>
                  <a:pt x="1651762" y="48664"/>
                  <a:pt x="1708721" y="53363"/>
                </a:cubicBezTo>
                <a:cubicBezTo>
                  <a:pt x="1765681" y="57999"/>
                  <a:pt x="1865376" y="232624"/>
                  <a:pt x="1922336" y="237259"/>
                </a:cubicBezTo>
                <a:cubicBezTo>
                  <a:pt x="1979295" y="241958"/>
                  <a:pt x="2078927" y="86066"/>
                  <a:pt x="2135886" y="88352"/>
                </a:cubicBezTo>
                <a:cubicBezTo>
                  <a:pt x="2192845" y="90701"/>
                  <a:pt x="2321052" y="232624"/>
                  <a:pt x="2349500" y="254785"/>
                </a:cubicBezTo>
                <a:lnTo>
                  <a:pt x="2349500" y="292885"/>
                </a:lnTo>
                <a:lnTo>
                  <a:pt x="0" y="292885"/>
                </a:lnTo>
                <a:close/>
              </a:path>
            </a:pathLst>
          </a:custGeom>
          <a:gradFill rotWithShape="1">
            <a:gsLst>
              <a:gs pos="0">
                <a:srgbClr val="1B5AA8">
                  <a:alpha val="22000"/>
                </a:srgbClr>
              </a:gs>
              <a:gs pos="100000">
                <a:srgbClr val="1B5AA8">
                  <a:alpha val="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spl-3"/>
          <p:cNvSpPr/>
          <p:nvPr/>
        </p:nvSpPr>
        <p:spPr>
          <a:xfrm>
            <a:off x="5905500" y="3040865"/>
            <a:ext cx="2349500" cy="254785"/>
          </a:xfrm>
          <a:custGeom>
            <a:avLst/>
            <a:gdLst/>
            <a:ahLst/>
            <a:cxnLst/>
            <a:rect l="0" t="0" r="r" b="b"/>
            <a:pathLst>
              <a:path w="2349500" h="254785">
                <a:moveTo>
                  <a:pt x="0" y="18311"/>
                </a:moveTo>
                <a:cubicBezTo>
                  <a:pt x="28448" y="22947"/>
                  <a:pt x="156654" y="55649"/>
                  <a:pt x="213614" y="53363"/>
                </a:cubicBezTo>
                <a:cubicBezTo>
                  <a:pt x="270574" y="51014"/>
                  <a:pt x="370205" y="-7406"/>
                  <a:pt x="427164" y="785"/>
                </a:cubicBezTo>
                <a:cubicBezTo>
                  <a:pt x="484124" y="8977"/>
                  <a:pt x="583819" y="97115"/>
                  <a:pt x="640779" y="114641"/>
                </a:cubicBezTo>
                <a:cubicBezTo>
                  <a:pt x="697738" y="132167"/>
                  <a:pt x="797433" y="144994"/>
                  <a:pt x="854392" y="132167"/>
                </a:cubicBezTo>
                <a:cubicBezTo>
                  <a:pt x="911352" y="119340"/>
                  <a:pt x="1010984" y="10120"/>
                  <a:pt x="1067943" y="18311"/>
                </a:cubicBezTo>
                <a:cubicBezTo>
                  <a:pt x="1124903" y="26503"/>
                  <a:pt x="1224597" y="168933"/>
                  <a:pt x="1281557" y="193444"/>
                </a:cubicBezTo>
                <a:cubicBezTo>
                  <a:pt x="1338516" y="218019"/>
                  <a:pt x="1438148" y="220940"/>
                  <a:pt x="1495108" y="202207"/>
                </a:cubicBezTo>
                <a:cubicBezTo>
                  <a:pt x="1552067" y="183538"/>
                  <a:pt x="1651762" y="48664"/>
                  <a:pt x="1708721" y="53363"/>
                </a:cubicBezTo>
                <a:cubicBezTo>
                  <a:pt x="1765681" y="57999"/>
                  <a:pt x="1865376" y="232624"/>
                  <a:pt x="1922336" y="237259"/>
                </a:cubicBezTo>
                <a:cubicBezTo>
                  <a:pt x="1979295" y="241958"/>
                  <a:pt x="2078927" y="86066"/>
                  <a:pt x="2135886" y="88352"/>
                </a:cubicBezTo>
                <a:cubicBezTo>
                  <a:pt x="2192845" y="90701"/>
                  <a:pt x="2321052" y="232624"/>
                  <a:pt x="2349500" y="254785"/>
                </a:cubicBezTo>
              </a:path>
            </a:pathLst>
          </a:custGeom>
          <a:noFill/>
          <a:ln w="1651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spe-3"/>
          <p:cNvSpPr/>
          <p:nvPr/>
        </p:nvSpPr>
        <p:spPr>
          <a:xfrm>
            <a:off x="8216900" y="3257550"/>
            <a:ext cx="76200" cy="76200"/>
          </a:xfrm>
          <a:prstGeom prst="ellipse">
            <a:avLst/>
          </a:prstGeom>
          <a:solidFill>
            <a:srgbClr val="1B5AA8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pgb-3"/>
          <p:cNvSpPr/>
          <p:nvPr/>
        </p:nvSpPr>
        <p:spPr>
          <a:xfrm>
            <a:off x="8572500" y="3117850"/>
            <a:ext cx="1460500" cy="101600"/>
          </a:xfrm>
          <a:custGeom>
            <a:avLst/>
            <a:gdLst/>
            <a:ahLst/>
            <a:cxnLst/>
            <a:rect l="0" t="0" r="r" b="b"/>
            <a:pathLst>
              <a:path w="1460500" h="101600">
                <a:moveTo>
                  <a:pt x="50800" y="0"/>
                </a:moveTo>
                <a:lnTo>
                  <a:pt x="1409700" y="0"/>
                </a:lnTo>
                <a:cubicBezTo>
                  <a:pt x="1437767" y="0"/>
                  <a:pt x="1460500" y="22733"/>
                  <a:pt x="1460500" y="50800"/>
                </a:cubicBezTo>
                <a:lnTo>
                  <a:pt x="1460500" y="50800"/>
                </a:lnTo>
                <a:cubicBezTo>
                  <a:pt x="1460500" y="78867"/>
                  <a:pt x="1437767" y="101600"/>
                  <a:pt x="14097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pg-3"/>
          <p:cNvSpPr/>
          <p:nvPr/>
        </p:nvSpPr>
        <p:spPr>
          <a:xfrm>
            <a:off x="8572500" y="3117850"/>
            <a:ext cx="1285240" cy="101600"/>
          </a:xfrm>
          <a:custGeom>
            <a:avLst/>
            <a:gdLst/>
            <a:ahLst/>
            <a:cxnLst/>
            <a:rect l="0" t="0" r="r" b="b"/>
            <a:pathLst>
              <a:path w="1285240" h="101600">
                <a:moveTo>
                  <a:pt x="50800" y="0"/>
                </a:moveTo>
                <a:lnTo>
                  <a:pt x="1234440" y="0"/>
                </a:lnTo>
                <a:cubicBezTo>
                  <a:pt x="1262507" y="0"/>
                  <a:pt x="1285240" y="22733"/>
                  <a:pt x="1285240" y="50800"/>
                </a:cubicBezTo>
                <a:lnTo>
                  <a:pt x="1285240" y="50800"/>
                </a:lnTo>
                <a:cubicBezTo>
                  <a:pt x="1285240" y="78867"/>
                  <a:pt x="1262507" y="101600"/>
                  <a:pt x="123444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E2B060"/>
              </a:gs>
              <a:gs pos="100000">
                <a:srgbClr val="D9962B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70" name="pgt-3"/>
          <p:cNvCxnSpPr/>
          <p:nvPr/>
        </p:nvCxnSpPr>
        <p:spPr>
          <a:xfrm>
            <a:off x="10033000" y="3079750"/>
            <a:ext cx="0" cy="177800"/>
          </a:xfrm>
          <a:prstGeom prst="line">
            <a:avLst/>
          </a:prstGeom>
          <a:ln w="8890" cap="rnd">
            <a:solidFill>
              <a:srgbClr val="0B2545">
                <a:alpha val="3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pgv-3"/>
          <p:cNvSpPr txBox="1"/>
          <p:nvPr/>
        </p:nvSpPr>
        <p:spPr>
          <a:xfrm>
            <a:off x="10120884" y="3071940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D9962B"/>
                </a:solidFill>
                <a:latin typeface="Arial"/>
                <a:ea typeface="Arial"/>
                <a:cs typeface="Arial"/>
              </a:rPr>
              <a:t>88%</a:t>
            </a:r>
          </a:p>
        </p:txBody>
      </p:sp>
      <p:sp>
        <p:nvSpPr>
          <p:cNvPr id="72" name="st-3"/>
          <p:cNvSpPr/>
          <p:nvPr/>
        </p:nvSpPr>
        <p:spPr>
          <a:xfrm>
            <a:off x="10579100" y="3060700"/>
            <a:ext cx="431800" cy="215900"/>
          </a:xfrm>
          <a:custGeom>
            <a:avLst/>
            <a:gdLst/>
            <a:ahLst/>
            <a:cxnLst/>
            <a:rect l="0" t="0" r="r" b="b"/>
            <a:pathLst>
              <a:path w="431800" h="215900">
                <a:moveTo>
                  <a:pt x="107950" y="0"/>
                </a:moveTo>
                <a:lnTo>
                  <a:pt x="323850" y="0"/>
                </a:lnTo>
                <a:cubicBezTo>
                  <a:pt x="383477" y="0"/>
                  <a:pt x="431800" y="48324"/>
                  <a:pt x="431800" y="107950"/>
                </a:cubicBezTo>
                <a:lnTo>
                  <a:pt x="431800" y="107950"/>
                </a:lnTo>
                <a:cubicBezTo>
                  <a:pt x="431800" y="167576"/>
                  <a:pt x="383477" y="215900"/>
                  <a:pt x="3238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D9962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stt-3"/>
          <p:cNvSpPr txBox="1"/>
          <p:nvPr/>
        </p:nvSpPr>
        <p:spPr>
          <a:xfrm>
            <a:off x="10650538" y="3089116"/>
            <a:ext cx="2889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关注</a:t>
            </a:r>
          </a:p>
        </p:txBody>
      </p:sp>
      <p:sp>
        <p:nvSpPr>
          <p:cNvPr id="74" name="row-4"/>
          <p:cNvSpPr/>
          <p:nvPr/>
        </p:nvSpPr>
        <p:spPr>
          <a:xfrm>
            <a:off x="952500" y="3479800"/>
            <a:ext cx="10287000" cy="469900"/>
          </a:xfrm>
          <a:custGeom>
            <a:avLst/>
            <a:gdLst/>
            <a:ahLst/>
            <a:cxnLst/>
            <a:rect l="0" t="0" r="r" b="b"/>
            <a:pathLst>
              <a:path w="10287000" h="4699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368300"/>
                </a:lnTo>
                <a:cubicBezTo>
                  <a:pt x="10287000" y="424434"/>
                  <a:pt x="10241534" y="469900"/>
                  <a:pt x="10185400" y="469900"/>
                </a:cubicBezTo>
                <a:lnTo>
                  <a:pt x="101600" y="469900"/>
                </a:lnTo>
                <a:cubicBezTo>
                  <a:pt x="45466" y="469900"/>
                  <a:pt x="0" y="424434"/>
                  <a:pt x="0" y="368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rowb-4"/>
          <p:cNvSpPr/>
          <p:nvPr/>
        </p:nvSpPr>
        <p:spPr>
          <a:xfrm>
            <a:off x="952500" y="3479800"/>
            <a:ext cx="38100" cy="469900"/>
          </a:xfrm>
          <a:custGeom>
            <a:avLst/>
            <a:gdLst/>
            <a:ahLst/>
            <a:cxnLst/>
            <a:rect l="0" t="0" r="r" b="b"/>
            <a:pathLst>
              <a:path w="38100" h="4699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450850"/>
                </a:lnTo>
                <a:cubicBezTo>
                  <a:pt x="38100" y="461391"/>
                  <a:pt x="29591" y="469900"/>
                  <a:pt x="19050" y="469900"/>
                </a:cubicBezTo>
                <a:lnTo>
                  <a:pt x="19050" y="469900"/>
                </a:lnTo>
                <a:cubicBezTo>
                  <a:pt x="8509" y="469900"/>
                  <a:pt x="0" y="461391"/>
                  <a:pt x="0" y="4508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ic-4"/>
          <p:cNvSpPr/>
          <p:nvPr/>
        </p:nvSpPr>
        <p:spPr>
          <a:xfrm>
            <a:off x="1143000" y="3562350"/>
            <a:ext cx="304800" cy="304800"/>
          </a:xfrm>
          <a:prstGeom prst="ellipse">
            <a:avLst/>
          </a:prstGeom>
          <a:solidFill>
            <a:srgbClr val="2468B6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icon-chart"/>
          <p:cNvSpPr/>
          <p:nvPr/>
        </p:nvSpPr>
        <p:spPr>
          <a:xfrm>
            <a:off x="1242060" y="3695700"/>
            <a:ext cx="106680" cy="69850"/>
          </a:xfrm>
          <a:custGeom>
            <a:avLst/>
            <a:gdLst/>
            <a:ahLst/>
            <a:cxnLst/>
            <a:rect l="0" t="0" r="r" b="b"/>
            <a:pathLst>
              <a:path w="106680" h="69850">
                <a:moveTo>
                  <a:pt x="0" y="69850"/>
                </a:moveTo>
                <a:lnTo>
                  <a:pt x="106680" y="69850"/>
                </a:lnTo>
                <a:moveTo>
                  <a:pt x="24130" y="69850"/>
                </a:moveTo>
                <a:lnTo>
                  <a:pt x="24130" y="29210"/>
                </a:lnTo>
                <a:moveTo>
                  <a:pt x="53340" y="69850"/>
                </a:moveTo>
                <a:lnTo>
                  <a:pt x="53340" y="0"/>
                </a:lnTo>
                <a:moveTo>
                  <a:pt x="82550" y="69850"/>
                </a:moveTo>
                <a:lnTo>
                  <a:pt x="82550" y="43180"/>
                </a:lnTo>
              </a:path>
            </a:pathLst>
          </a:cu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nm-4"/>
          <p:cNvSpPr txBox="1"/>
          <p:nvPr/>
        </p:nvSpPr>
        <p:spPr>
          <a:xfrm>
            <a:off x="1546098" y="3600863"/>
            <a:ext cx="548640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毛利率</a:t>
            </a:r>
          </a:p>
        </p:txBody>
      </p:sp>
      <p:sp>
        <p:nvSpPr>
          <p:cNvPr id="79" name="un-4"/>
          <p:cNvSpPr txBox="1"/>
          <p:nvPr/>
        </p:nvSpPr>
        <p:spPr>
          <a:xfrm>
            <a:off x="2056257" y="3655758"/>
            <a:ext cx="13169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%</a:t>
            </a:r>
          </a:p>
        </p:txBody>
      </p:sp>
      <p:sp>
        <p:nvSpPr>
          <p:cNvPr id="80" name="v-4"/>
          <p:cNvSpPr txBox="1"/>
          <p:nvPr/>
        </p:nvSpPr>
        <p:spPr>
          <a:xfrm>
            <a:off x="3900424" y="3565017"/>
            <a:ext cx="565912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4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38.2</a:t>
            </a:r>
          </a:p>
        </p:txBody>
      </p:sp>
      <p:sp>
        <p:nvSpPr>
          <p:cNvPr id="81" name="mom-4"/>
          <p:cNvSpPr/>
          <p:nvPr/>
        </p:nvSpPr>
        <p:spPr>
          <a:xfrm>
            <a:off x="4953000" y="3600450"/>
            <a:ext cx="762000" cy="228600"/>
          </a:xfrm>
          <a:custGeom>
            <a:avLst/>
            <a:gdLst/>
            <a:ahLst/>
            <a:cxnLst/>
            <a:rect l="0" t="0" r="r" b="b"/>
            <a:pathLst>
              <a:path w="762000" h="228600">
                <a:moveTo>
                  <a:pt x="114300" y="0"/>
                </a:moveTo>
                <a:lnTo>
                  <a:pt x="647700" y="0"/>
                </a:lnTo>
                <a:cubicBezTo>
                  <a:pt x="710819" y="0"/>
                  <a:pt x="762000" y="51181"/>
                  <a:pt x="762000" y="114300"/>
                </a:cubicBezTo>
                <a:lnTo>
                  <a:pt x="762000" y="114300"/>
                </a:lnTo>
                <a:cubicBezTo>
                  <a:pt x="762000" y="177419"/>
                  <a:pt x="710819" y="228600"/>
                  <a:pt x="6477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134C9C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momt-4"/>
          <p:cNvSpPr txBox="1"/>
          <p:nvPr/>
        </p:nvSpPr>
        <p:spPr>
          <a:xfrm>
            <a:off x="5117592" y="3633724"/>
            <a:ext cx="4328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▲ 0.8%</a:t>
            </a:r>
          </a:p>
        </p:txBody>
      </p:sp>
      <p:sp>
        <p:nvSpPr>
          <p:cNvPr id="83" name="spa-4"/>
          <p:cNvSpPr/>
          <p:nvPr/>
        </p:nvSpPr>
        <p:spPr>
          <a:xfrm>
            <a:off x="5905500" y="3587750"/>
            <a:ext cx="2349500" cy="292100"/>
          </a:xfrm>
          <a:custGeom>
            <a:avLst/>
            <a:gdLst/>
            <a:ahLst/>
            <a:cxnLst/>
            <a:rect l="0" t="0" r="r" b="b"/>
            <a:pathLst>
              <a:path w="2349500" h="292100">
                <a:moveTo>
                  <a:pt x="0" y="254000"/>
                </a:moveTo>
                <a:cubicBezTo>
                  <a:pt x="28448" y="248793"/>
                  <a:pt x="156654" y="217551"/>
                  <a:pt x="213614" y="214948"/>
                </a:cubicBezTo>
                <a:cubicBezTo>
                  <a:pt x="270574" y="212344"/>
                  <a:pt x="370205" y="239649"/>
                  <a:pt x="427164" y="234442"/>
                </a:cubicBezTo>
                <a:cubicBezTo>
                  <a:pt x="484124" y="229235"/>
                  <a:pt x="583819" y="190183"/>
                  <a:pt x="640779" y="175832"/>
                </a:cubicBezTo>
                <a:cubicBezTo>
                  <a:pt x="697738" y="161544"/>
                  <a:pt x="797433" y="136144"/>
                  <a:pt x="854392" y="127000"/>
                </a:cubicBezTo>
                <a:cubicBezTo>
                  <a:pt x="911352" y="117856"/>
                  <a:pt x="1010984" y="106172"/>
                  <a:pt x="1067943" y="107442"/>
                </a:cubicBezTo>
                <a:cubicBezTo>
                  <a:pt x="1124903" y="108775"/>
                  <a:pt x="1224597" y="140652"/>
                  <a:pt x="1281557" y="136779"/>
                </a:cubicBezTo>
                <a:cubicBezTo>
                  <a:pt x="1338516" y="132842"/>
                  <a:pt x="1438148" y="88583"/>
                  <a:pt x="1495108" y="78168"/>
                </a:cubicBezTo>
                <a:cubicBezTo>
                  <a:pt x="1552067" y="67754"/>
                  <a:pt x="1651762" y="65151"/>
                  <a:pt x="1708721" y="58611"/>
                </a:cubicBezTo>
                <a:cubicBezTo>
                  <a:pt x="1765681" y="52134"/>
                  <a:pt x="1865376" y="33211"/>
                  <a:pt x="1922336" y="29337"/>
                </a:cubicBezTo>
                <a:cubicBezTo>
                  <a:pt x="1979295" y="25400"/>
                  <a:pt x="2078927" y="33211"/>
                  <a:pt x="2135886" y="29337"/>
                </a:cubicBezTo>
                <a:cubicBezTo>
                  <a:pt x="2192845" y="25400"/>
                  <a:pt x="2321052" y="3937"/>
                  <a:pt x="2349500" y="0"/>
                </a:cubicBezTo>
                <a:lnTo>
                  <a:pt x="2349500" y="292100"/>
                </a:lnTo>
                <a:lnTo>
                  <a:pt x="0" y="292100"/>
                </a:lnTo>
                <a:close/>
              </a:path>
            </a:pathLst>
          </a:custGeom>
          <a:gradFill rotWithShape="1">
            <a:gsLst>
              <a:gs pos="0">
                <a:srgbClr val="1B5AA8">
                  <a:alpha val="22000"/>
                </a:srgbClr>
              </a:gs>
              <a:gs pos="100000">
                <a:srgbClr val="1B5AA8">
                  <a:alpha val="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spl-4"/>
          <p:cNvSpPr/>
          <p:nvPr/>
        </p:nvSpPr>
        <p:spPr>
          <a:xfrm>
            <a:off x="5905500" y="3587750"/>
            <a:ext cx="2349500" cy="254000"/>
          </a:xfrm>
          <a:custGeom>
            <a:avLst/>
            <a:gdLst/>
            <a:ahLst/>
            <a:cxnLst/>
            <a:rect l="0" t="0" r="r" b="b"/>
            <a:pathLst>
              <a:path w="2349500" h="254000">
                <a:moveTo>
                  <a:pt x="0" y="254000"/>
                </a:moveTo>
                <a:cubicBezTo>
                  <a:pt x="28448" y="248793"/>
                  <a:pt x="156654" y="217551"/>
                  <a:pt x="213614" y="214948"/>
                </a:cubicBezTo>
                <a:cubicBezTo>
                  <a:pt x="270574" y="212344"/>
                  <a:pt x="370205" y="239649"/>
                  <a:pt x="427164" y="234442"/>
                </a:cubicBezTo>
                <a:cubicBezTo>
                  <a:pt x="484124" y="229235"/>
                  <a:pt x="583819" y="190183"/>
                  <a:pt x="640779" y="175832"/>
                </a:cubicBezTo>
                <a:cubicBezTo>
                  <a:pt x="697738" y="161544"/>
                  <a:pt x="797433" y="136144"/>
                  <a:pt x="854392" y="127000"/>
                </a:cubicBezTo>
                <a:cubicBezTo>
                  <a:pt x="911352" y="117856"/>
                  <a:pt x="1010984" y="106172"/>
                  <a:pt x="1067943" y="107442"/>
                </a:cubicBezTo>
                <a:cubicBezTo>
                  <a:pt x="1124903" y="108775"/>
                  <a:pt x="1224597" y="140652"/>
                  <a:pt x="1281557" y="136779"/>
                </a:cubicBezTo>
                <a:cubicBezTo>
                  <a:pt x="1338516" y="132842"/>
                  <a:pt x="1438148" y="88583"/>
                  <a:pt x="1495108" y="78168"/>
                </a:cubicBezTo>
                <a:cubicBezTo>
                  <a:pt x="1552067" y="67754"/>
                  <a:pt x="1651762" y="65151"/>
                  <a:pt x="1708721" y="58611"/>
                </a:cubicBezTo>
                <a:cubicBezTo>
                  <a:pt x="1765681" y="52134"/>
                  <a:pt x="1865376" y="33211"/>
                  <a:pt x="1922336" y="29337"/>
                </a:cubicBezTo>
                <a:cubicBezTo>
                  <a:pt x="1979295" y="25400"/>
                  <a:pt x="2078927" y="33211"/>
                  <a:pt x="2135886" y="29337"/>
                </a:cubicBezTo>
                <a:cubicBezTo>
                  <a:pt x="2192845" y="25400"/>
                  <a:pt x="2321052" y="3937"/>
                  <a:pt x="2349500" y="0"/>
                </a:cubicBezTo>
              </a:path>
            </a:pathLst>
          </a:custGeom>
          <a:noFill/>
          <a:ln w="1651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spe-4"/>
          <p:cNvSpPr/>
          <p:nvPr/>
        </p:nvSpPr>
        <p:spPr>
          <a:xfrm>
            <a:off x="8216900" y="3549650"/>
            <a:ext cx="76200" cy="76200"/>
          </a:xfrm>
          <a:prstGeom prst="ellipse">
            <a:avLst/>
          </a:prstGeom>
          <a:solidFill>
            <a:srgbClr val="1B5AA8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pgb-4"/>
          <p:cNvSpPr/>
          <p:nvPr/>
        </p:nvSpPr>
        <p:spPr>
          <a:xfrm>
            <a:off x="8572500" y="3663950"/>
            <a:ext cx="1460500" cy="101600"/>
          </a:xfrm>
          <a:custGeom>
            <a:avLst/>
            <a:gdLst/>
            <a:ahLst/>
            <a:cxnLst/>
            <a:rect l="0" t="0" r="r" b="b"/>
            <a:pathLst>
              <a:path w="1460500" h="101600">
                <a:moveTo>
                  <a:pt x="50800" y="0"/>
                </a:moveTo>
                <a:lnTo>
                  <a:pt x="1409700" y="0"/>
                </a:lnTo>
                <a:cubicBezTo>
                  <a:pt x="1437767" y="0"/>
                  <a:pt x="1460500" y="22733"/>
                  <a:pt x="1460500" y="50800"/>
                </a:cubicBezTo>
                <a:lnTo>
                  <a:pt x="1460500" y="50800"/>
                </a:lnTo>
                <a:cubicBezTo>
                  <a:pt x="1460500" y="78867"/>
                  <a:pt x="1437767" y="101600"/>
                  <a:pt x="14097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pg-4"/>
          <p:cNvSpPr/>
          <p:nvPr/>
        </p:nvSpPr>
        <p:spPr>
          <a:xfrm>
            <a:off x="8572500" y="3663950"/>
            <a:ext cx="1431290" cy="101600"/>
          </a:xfrm>
          <a:custGeom>
            <a:avLst/>
            <a:gdLst/>
            <a:ahLst/>
            <a:cxnLst/>
            <a:rect l="0" t="0" r="r" b="b"/>
            <a:pathLst>
              <a:path w="1431290" h="101600">
                <a:moveTo>
                  <a:pt x="50800" y="0"/>
                </a:moveTo>
                <a:lnTo>
                  <a:pt x="1380490" y="0"/>
                </a:lnTo>
                <a:cubicBezTo>
                  <a:pt x="1408557" y="0"/>
                  <a:pt x="1431290" y="22733"/>
                  <a:pt x="1431290" y="50800"/>
                </a:cubicBezTo>
                <a:lnTo>
                  <a:pt x="1431290" y="50800"/>
                </a:lnTo>
                <a:cubicBezTo>
                  <a:pt x="1431290" y="78867"/>
                  <a:pt x="1408557" y="101600"/>
                  <a:pt x="138049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4E79B5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88" name="pgt-4"/>
          <p:cNvCxnSpPr/>
          <p:nvPr/>
        </p:nvCxnSpPr>
        <p:spPr>
          <a:xfrm>
            <a:off x="10033000" y="3625850"/>
            <a:ext cx="0" cy="177800"/>
          </a:xfrm>
          <a:prstGeom prst="line">
            <a:avLst/>
          </a:prstGeom>
          <a:ln w="8890" cap="rnd">
            <a:solidFill>
              <a:srgbClr val="0B2545">
                <a:alpha val="3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9" name="pgv-4"/>
          <p:cNvSpPr txBox="1"/>
          <p:nvPr/>
        </p:nvSpPr>
        <p:spPr>
          <a:xfrm>
            <a:off x="10120884" y="3618040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98%</a:t>
            </a:r>
          </a:p>
        </p:txBody>
      </p:sp>
      <p:sp>
        <p:nvSpPr>
          <p:cNvPr id="90" name="st-4"/>
          <p:cNvSpPr/>
          <p:nvPr/>
        </p:nvSpPr>
        <p:spPr>
          <a:xfrm>
            <a:off x="10579100" y="3606800"/>
            <a:ext cx="431800" cy="215900"/>
          </a:xfrm>
          <a:custGeom>
            <a:avLst/>
            <a:gdLst/>
            <a:ahLst/>
            <a:cxnLst/>
            <a:rect l="0" t="0" r="r" b="b"/>
            <a:pathLst>
              <a:path w="431800" h="215900">
                <a:moveTo>
                  <a:pt x="107950" y="0"/>
                </a:moveTo>
                <a:lnTo>
                  <a:pt x="323850" y="0"/>
                </a:lnTo>
                <a:cubicBezTo>
                  <a:pt x="383477" y="0"/>
                  <a:pt x="431800" y="48324"/>
                  <a:pt x="431800" y="107950"/>
                </a:cubicBezTo>
                <a:lnTo>
                  <a:pt x="431800" y="107950"/>
                </a:lnTo>
                <a:cubicBezTo>
                  <a:pt x="431800" y="167576"/>
                  <a:pt x="383477" y="215900"/>
                  <a:pt x="3238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stt-4"/>
          <p:cNvSpPr txBox="1"/>
          <p:nvPr/>
        </p:nvSpPr>
        <p:spPr>
          <a:xfrm>
            <a:off x="10650538" y="3635216"/>
            <a:ext cx="2889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良好</a:t>
            </a:r>
          </a:p>
        </p:txBody>
      </p:sp>
      <p:sp>
        <p:nvSpPr>
          <p:cNvPr id="92" name="row-5"/>
          <p:cNvSpPr/>
          <p:nvPr/>
        </p:nvSpPr>
        <p:spPr>
          <a:xfrm>
            <a:off x="952500" y="4025900"/>
            <a:ext cx="10287000" cy="469900"/>
          </a:xfrm>
          <a:custGeom>
            <a:avLst/>
            <a:gdLst/>
            <a:ahLst/>
            <a:cxnLst/>
            <a:rect l="0" t="0" r="r" b="b"/>
            <a:pathLst>
              <a:path w="10287000" h="4699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368300"/>
                </a:lnTo>
                <a:cubicBezTo>
                  <a:pt x="10287000" y="424434"/>
                  <a:pt x="10241534" y="469900"/>
                  <a:pt x="10185400" y="469900"/>
                </a:cubicBezTo>
                <a:lnTo>
                  <a:pt x="101600" y="469900"/>
                </a:lnTo>
                <a:cubicBezTo>
                  <a:pt x="45466" y="469900"/>
                  <a:pt x="0" y="424434"/>
                  <a:pt x="0" y="368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rowb-5"/>
          <p:cNvSpPr/>
          <p:nvPr/>
        </p:nvSpPr>
        <p:spPr>
          <a:xfrm>
            <a:off x="952500" y="4025900"/>
            <a:ext cx="38100" cy="469900"/>
          </a:xfrm>
          <a:custGeom>
            <a:avLst/>
            <a:gdLst/>
            <a:ahLst/>
            <a:cxnLst/>
            <a:rect l="0" t="0" r="r" b="b"/>
            <a:pathLst>
              <a:path w="38100" h="4699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450850"/>
                </a:lnTo>
                <a:cubicBezTo>
                  <a:pt x="38100" y="461391"/>
                  <a:pt x="29591" y="469900"/>
                  <a:pt x="19050" y="469900"/>
                </a:cubicBezTo>
                <a:lnTo>
                  <a:pt x="19050" y="469900"/>
                </a:lnTo>
                <a:cubicBezTo>
                  <a:pt x="8509" y="469900"/>
                  <a:pt x="0" y="461391"/>
                  <a:pt x="0" y="4508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D9962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ic-5"/>
          <p:cNvSpPr/>
          <p:nvPr/>
        </p:nvSpPr>
        <p:spPr>
          <a:xfrm>
            <a:off x="1143000" y="4108450"/>
            <a:ext cx="304800" cy="304800"/>
          </a:xfrm>
          <a:prstGeom prst="ellipse">
            <a:avLst/>
          </a:prstGeom>
          <a:solidFill>
            <a:srgbClr val="2E77C2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icon-fin"/>
          <p:cNvSpPr/>
          <p:nvPr/>
        </p:nvSpPr>
        <p:spPr>
          <a:xfrm>
            <a:off x="1267460" y="4217670"/>
            <a:ext cx="55880" cy="86360"/>
          </a:xfrm>
          <a:custGeom>
            <a:avLst/>
            <a:gdLst/>
            <a:ahLst/>
            <a:cxnLst/>
            <a:rect l="0" t="0" r="r" b="b"/>
            <a:pathLst>
              <a:path w="55880" h="86360">
                <a:moveTo>
                  <a:pt x="27940" y="50800"/>
                </a:moveTo>
                <a:lnTo>
                  <a:pt x="27940" y="86360"/>
                </a:lnTo>
                <a:moveTo>
                  <a:pt x="6350" y="50800"/>
                </a:moveTo>
                <a:lnTo>
                  <a:pt x="49530" y="50800"/>
                </a:lnTo>
                <a:moveTo>
                  <a:pt x="6350" y="69850"/>
                </a:moveTo>
                <a:lnTo>
                  <a:pt x="49530" y="69850"/>
                </a:lnTo>
                <a:moveTo>
                  <a:pt x="0" y="0"/>
                </a:moveTo>
                <a:lnTo>
                  <a:pt x="27940" y="38100"/>
                </a:lnTo>
                <a:lnTo>
                  <a:pt x="55880" y="0"/>
                </a:lnTo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nm-5"/>
          <p:cNvSpPr txBox="1"/>
          <p:nvPr/>
        </p:nvSpPr>
        <p:spPr>
          <a:xfrm>
            <a:off x="1546098" y="4146963"/>
            <a:ext cx="548640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回款率</a:t>
            </a:r>
          </a:p>
        </p:txBody>
      </p:sp>
      <p:sp>
        <p:nvSpPr>
          <p:cNvPr id="97" name="un-5"/>
          <p:cNvSpPr txBox="1"/>
          <p:nvPr/>
        </p:nvSpPr>
        <p:spPr>
          <a:xfrm>
            <a:off x="2056257" y="4201858"/>
            <a:ext cx="13169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%</a:t>
            </a:r>
          </a:p>
        </p:txBody>
      </p:sp>
      <p:sp>
        <p:nvSpPr>
          <p:cNvPr id="98" name="v-5"/>
          <p:cNvSpPr txBox="1"/>
          <p:nvPr/>
        </p:nvSpPr>
        <p:spPr>
          <a:xfrm>
            <a:off x="3900424" y="4111117"/>
            <a:ext cx="565912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4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91.0</a:t>
            </a:r>
          </a:p>
        </p:txBody>
      </p:sp>
      <p:sp>
        <p:nvSpPr>
          <p:cNvPr id="99" name="mom-5"/>
          <p:cNvSpPr/>
          <p:nvPr/>
        </p:nvSpPr>
        <p:spPr>
          <a:xfrm>
            <a:off x="4953000" y="4146550"/>
            <a:ext cx="762000" cy="228600"/>
          </a:xfrm>
          <a:custGeom>
            <a:avLst/>
            <a:gdLst/>
            <a:ahLst/>
            <a:cxnLst/>
            <a:rect l="0" t="0" r="r" b="b"/>
            <a:pathLst>
              <a:path w="762000" h="228600">
                <a:moveTo>
                  <a:pt x="114300" y="0"/>
                </a:moveTo>
                <a:lnTo>
                  <a:pt x="647700" y="0"/>
                </a:lnTo>
                <a:cubicBezTo>
                  <a:pt x="710819" y="0"/>
                  <a:pt x="762000" y="51181"/>
                  <a:pt x="762000" y="114300"/>
                </a:cubicBezTo>
                <a:lnTo>
                  <a:pt x="762000" y="114300"/>
                </a:lnTo>
                <a:cubicBezTo>
                  <a:pt x="762000" y="177419"/>
                  <a:pt x="710819" y="228600"/>
                  <a:pt x="6477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E0703A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momt-5"/>
          <p:cNvSpPr txBox="1"/>
          <p:nvPr/>
        </p:nvSpPr>
        <p:spPr>
          <a:xfrm>
            <a:off x="5117592" y="4179824"/>
            <a:ext cx="4328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▼ 2.1%</a:t>
            </a:r>
          </a:p>
        </p:txBody>
      </p:sp>
      <p:sp>
        <p:nvSpPr>
          <p:cNvPr id="101" name="spa-5"/>
          <p:cNvSpPr/>
          <p:nvPr/>
        </p:nvSpPr>
        <p:spPr>
          <a:xfrm>
            <a:off x="5905500" y="4133171"/>
            <a:ext cx="2349500" cy="292779"/>
          </a:xfrm>
          <a:custGeom>
            <a:avLst/>
            <a:gdLst/>
            <a:ahLst/>
            <a:cxnLst/>
            <a:rect l="0" t="0" r="r" b="b"/>
            <a:pathLst>
              <a:path w="2349500" h="292779">
                <a:moveTo>
                  <a:pt x="0" y="679"/>
                </a:moveTo>
                <a:cubicBezTo>
                  <a:pt x="28448" y="9124"/>
                  <a:pt x="156654" y="64179"/>
                  <a:pt x="213614" y="64179"/>
                </a:cubicBezTo>
                <a:cubicBezTo>
                  <a:pt x="270574" y="64179"/>
                  <a:pt x="370205" y="-7767"/>
                  <a:pt x="427164" y="679"/>
                </a:cubicBezTo>
                <a:cubicBezTo>
                  <a:pt x="484124" y="9124"/>
                  <a:pt x="583819" y="119233"/>
                  <a:pt x="640779" y="127679"/>
                </a:cubicBezTo>
                <a:cubicBezTo>
                  <a:pt x="697738" y="136124"/>
                  <a:pt x="797433" y="64179"/>
                  <a:pt x="854392" y="64179"/>
                </a:cubicBezTo>
                <a:cubicBezTo>
                  <a:pt x="911352" y="64179"/>
                  <a:pt x="1010984" y="110724"/>
                  <a:pt x="1067943" y="127679"/>
                </a:cubicBezTo>
                <a:cubicBezTo>
                  <a:pt x="1124903" y="144633"/>
                  <a:pt x="1224597" y="191179"/>
                  <a:pt x="1281557" y="191179"/>
                </a:cubicBezTo>
                <a:cubicBezTo>
                  <a:pt x="1338516" y="191179"/>
                  <a:pt x="1438148" y="144633"/>
                  <a:pt x="1495108" y="127679"/>
                </a:cubicBezTo>
                <a:cubicBezTo>
                  <a:pt x="1552067" y="110724"/>
                  <a:pt x="1651762" y="55733"/>
                  <a:pt x="1708721" y="64179"/>
                </a:cubicBezTo>
                <a:cubicBezTo>
                  <a:pt x="1765681" y="72624"/>
                  <a:pt x="1865376" y="182733"/>
                  <a:pt x="1922336" y="191179"/>
                </a:cubicBezTo>
                <a:cubicBezTo>
                  <a:pt x="1979295" y="199624"/>
                  <a:pt x="2078927" y="119233"/>
                  <a:pt x="2135886" y="127679"/>
                </a:cubicBezTo>
                <a:cubicBezTo>
                  <a:pt x="2192845" y="136124"/>
                  <a:pt x="2321052" y="237724"/>
                  <a:pt x="2349500" y="254679"/>
                </a:cubicBezTo>
                <a:lnTo>
                  <a:pt x="2349500" y="292779"/>
                </a:lnTo>
                <a:lnTo>
                  <a:pt x="0" y="292779"/>
                </a:lnTo>
                <a:close/>
              </a:path>
            </a:pathLst>
          </a:custGeom>
          <a:gradFill rotWithShape="1">
            <a:gsLst>
              <a:gs pos="0">
                <a:srgbClr val="1B5AA8">
                  <a:alpha val="22000"/>
                </a:srgbClr>
              </a:gs>
              <a:gs pos="100000">
                <a:srgbClr val="1B5AA8">
                  <a:alpha val="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2" name="spl-5"/>
          <p:cNvSpPr/>
          <p:nvPr/>
        </p:nvSpPr>
        <p:spPr>
          <a:xfrm>
            <a:off x="5905500" y="4133171"/>
            <a:ext cx="2349500" cy="254679"/>
          </a:xfrm>
          <a:custGeom>
            <a:avLst/>
            <a:gdLst/>
            <a:ahLst/>
            <a:cxnLst/>
            <a:rect l="0" t="0" r="r" b="b"/>
            <a:pathLst>
              <a:path w="2349500" h="254679">
                <a:moveTo>
                  <a:pt x="0" y="679"/>
                </a:moveTo>
                <a:cubicBezTo>
                  <a:pt x="28448" y="9124"/>
                  <a:pt x="156654" y="64179"/>
                  <a:pt x="213614" y="64179"/>
                </a:cubicBezTo>
                <a:cubicBezTo>
                  <a:pt x="270574" y="64179"/>
                  <a:pt x="370205" y="-7767"/>
                  <a:pt x="427164" y="679"/>
                </a:cubicBezTo>
                <a:cubicBezTo>
                  <a:pt x="484124" y="9124"/>
                  <a:pt x="583819" y="119233"/>
                  <a:pt x="640779" y="127679"/>
                </a:cubicBezTo>
                <a:cubicBezTo>
                  <a:pt x="697738" y="136124"/>
                  <a:pt x="797433" y="64179"/>
                  <a:pt x="854392" y="64179"/>
                </a:cubicBezTo>
                <a:cubicBezTo>
                  <a:pt x="911352" y="64179"/>
                  <a:pt x="1010984" y="110724"/>
                  <a:pt x="1067943" y="127679"/>
                </a:cubicBezTo>
                <a:cubicBezTo>
                  <a:pt x="1124903" y="144633"/>
                  <a:pt x="1224597" y="191179"/>
                  <a:pt x="1281557" y="191179"/>
                </a:cubicBezTo>
                <a:cubicBezTo>
                  <a:pt x="1338516" y="191179"/>
                  <a:pt x="1438148" y="144633"/>
                  <a:pt x="1495108" y="127679"/>
                </a:cubicBezTo>
                <a:cubicBezTo>
                  <a:pt x="1552067" y="110724"/>
                  <a:pt x="1651762" y="55733"/>
                  <a:pt x="1708721" y="64179"/>
                </a:cubicBezTo>
                <a:cubicBezTo>
                  <a:pt x="1765681" y="72624"/>
                  <a:pt x="1865376" y="182733"/>
                  <a:pt x="1922336" y="191179"/>
                </a:cubicBezTo>
                <a:cubicBezTo>
                  <a:pt x="1979295" y="199624"/>
                  <a:pt x="2078927" y="119233"/>
                  <a:pt x="2135886" y="127679"/>
                </a:cubicBezTo>
                <a:cubicBezTo>
                  <a:pt x="2192845" y="136124"/>
                  <a:pt x="2321052" y="237724"/>
                  <a:pt x="2349500" y="254679"/>
                </a:cubicBezTo>
              </a:path>
            </a:pathLst>
          </a:custGeom>
          <a:noFill/>
          <a:ln w="1651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spe-5"/>
          <p:cNvSpPr/>
          <p:nvPr/>
        </p:nvSpPr>
        <p:spPr>
          <a:xfrm>
            <a:off x="8216900" y="4349750"/>
            <a:ext cx="76200" cy="76200"/>
          </a:xfrm>
          <a:prstGeom prst="ellipse">
            <a:avLst/>
          </a:prstGeom>
          <a:solidFill>
            <a:srgbClr val="1B5AA8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4" name="pgb-5"/>
          <p:cNvSpPr/>
          <p:nvPr/>
        </p:nvSpPr>
        <p:spPr>
          <a:xfrm>
            <a:off x="8572500" y="4210050"/>
            <a:ext cx="1460500" cy="101600"/>
          </a:xfrm>
          <a:custGeom>
            <a:avLst/>
            <a:gdLst/>
            <a:ahLst/>
            <a:cxnLst/>
            <a:rect l="0" t="0" r="r" b="b"/>
            <a:pathLst>
              <a:path w="1460500" h="101600">
                <a:moveTo>
                  <a:pt x="50800" y="0"/>
                </a:moveTo>
                <a:lnTo>
                  <a:pt x="1409700" y="0"/>
                </a:lnTo>
                <a:cubicBezTo>
                  <a:pt x="1437767" y="0"/>
                  <a:pt x="1460500" y="22733"/>
                  <a:pt x="1460500" y="50800"/>
                </a:cubicBezTo>
                <a:lnTo>
                  <a:pt x="1460500" y="50800"/>
                </a:lnTo>
                <a:cubicBezTo>
                  <a:pt x="1460500" y="78867"/>
                  <a:pt x="1437767" y="101600"/>
                  <a:pt x="14097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pg-5"/>
          <p:cNvSpPr/>
          <p:nvPr/>
        </p:nvSpPr>
        <p:spPr>
          <a:xfrm>
            <a:off x="8572500" y="4210050"/>
            <a:ext cx="1372870" cy="101600"/>
          </a:xfrm>
          <a:custGeom>
            <a:avLst/>
            <a:gdLst/>
            <a:ahLst/>
            <a:cxnLst/>
            <a:rect l="0" t="0" r="r" b="b"/>
            <a:pathLst>
              <a:path w="1372870" h="101600">
                <a:moveTo>
                  <a:pt x="50800" y="0"/>
                </a:moveTo>
                <a:lnTo>
                  <a:pt x="1322070" y="0"/>
                </a:lnTo>
                <a:cubicBezTo>
                  <a:pt x="1350137" y="0"/>
                  <a:pt x="1372870" y="22733"/>
                  <a:pt x="1372870" y="50800"/>
                </a:cubicBezTo>
                <a:lnTo>
                  <a:pt x="1372870" y="50800"/>
                </a:lnTo>
                <a:cubicBezTo>
                  <a:pt x="1372870" y="78867"/>
                  <a:pt x="1350137" y="101600"/>
                  <a:pt x="132207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E2B060"/>
              </a:gs>
              <a:gs pos="100000">
                <a:srgbClr val="D9962B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06" name="pgt-5"/>
          <p:cNvCxnSpPr/>
          <p:nvPr/>
        </p:nvCxnSpPr>
        <p:spPr>
          <a:xfrm>
            <a:off x="10033000" y="4171950"/>
            <a:ext cx="0" cy="177800"/>
          </a:xfrm>
          <a:prstGeom prst="line">
            <a:avLst/>
          </a:prstGeom>
          <a:ln w="8890" cap="rnd">
            <a:solidFill>
              <a:srgbClr val="0B2545">
                <a:alpha val="3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pgv-5"/>
          <p:cNvSpPr txBox="1"/>
          <p:nvPr/>
        </p:nvSpPr>
        <p:spPr>
          <a:xfrm>
            <a:off x="10120884" y="4164140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D9962B"/>
                </a:solidFill>
                <a:latin typeface="Arial"/>
                <a:ea typeface="Arial"/>
                <a:cs typeface="Arial"/>
              </a:rPr>
              <a:t>94%</a:t>
            </a:r>
          </a:p>
        </p:txBody>
      </p:sp>
      <p:sp>
        <p:nvSpPr>
          <p:cNvPr id="108" name="st-5"/>
          <p:cNvSpPr/>
          <p:nvPr/>
        </p:nvSpPr>
        <p:spPr>
          <a:xfrm>
            <a:off x="10579100" y="4152900"/>
            <a:ext cx="431800" cy="215900"/>
          </a:xfrm>
          <a:custGeom>
            <a:avLst/>
            <a:gdLst/>
            <a:ahLst/>
            <a:cxnLst/>
            <a:rect l="0" t="0" r="r" b="b"/>
            <a:pathLst>
              <a:path w="431800" h="215900">
                <a:moveTo>
                  <a:pt x="107950" y="0"/>
                </a:moveTo>
                <a:lnTo>
                  <a:pt x="323850" y="0"/>
                </a:lnTo>
                <a:cubicBezTo>
                  <a:pt x="383477" y="0"/>
                  <a:pt x="431800" y="48324"/>
                  <a:pt x="431800" y="107950"/>
                </a:cubicBezTo>
                <a:lnTo>
                  <a:pt x="431800" y="107950"/>
                </a:lnTo>
                <a:cubicBezTo>
                  <a:pt x="431800" y="167576"/>
                  <a:pt x="383477" y="215900"/>
                  <a:pt x="3238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D9962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stt-5"/>
          <p:cNvSpPr txBox="1"/>
          <p:nvPr/>
        </p:nvSpPr>
        <p:spPr>
          <a:xfrm>
            <a:off x="10650538" y="4181316"/>
            <a:ext cx="2889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关注</a:t>
            </a:r>
          </a:p>
        </p:txBody>
      </p:sp>
      <p:sp>
        <p:nvSpPr>
          <p:cNvPr id="110" name="row-6"/>
          <p:cNvSpPr/>
          <p:nvPr/>
        </p:nvSpPr>
        <p:spPr>
          <a:xfrm>
            <a:off x="952500" y="4572000"/>
            <a:ext cx="10287000" cy="469900"/>
          </a:xfrm>
          <a:custGeom>
            <a:avLst/>
            <a:gdLst/>
            <a:ahLst/>
            <a:cxnLst/>
            <a:rect l="0" t="0" r="r" b="b"/>
            <a:pathLst>
              <a:path w="10287000" h="4699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368300"/>
                </a:lnTo>
                <a:cubicBezTo>
                  <a:pt x="10287000" y="424434"/>
                  <a:pt x="10241534" y="469900"/>
                  <a:pt x="10185400" y="469900"/>
                </a:cubicBezTo>
                <a:lnTo>
                  <a:pt x="101600" y="469900"/>
                </a:lnTo>
                <a:cubicBezTo>
                  <a:pt x="45466" y="469900"/>
                  <a:pt x="0" y="424434"/>
                  <a:pt x="0" y="368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1" name="rowb-6"/>
          <p:cNvSpPr/>
          <p:nvPr/>
        </p:nvSpPr>
        <p:spPr>
          <a:xfrm>
            <a:off x="952500" y="4572000"/>
            <a:ext cx="38100" cy="469900"/>
          </a:xfrm>
          <a:custGeom>
            <a:avLst/>
            <a:gdLst/>
            <a:ahLst/>
            <a:cxnLst/>
            <a:rect l="0" t="0" r="r" b="b"/>
            <a:pathLst>
              <a:path w="38100" h="4699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450850"/>
                </a:lnTo>
                <a:cubicBezTo>
                  <a:pt x="38100" y="461391"/>
                  <a:pt x="29591" y="469900"/>
                  <a:pt x="19050" y="469900"/>
                </a:cubicBezTo>
                <a:lnTo>
                  <a:pt x="19050" y="469900"/>
                </a:lnTo>
                <a:cubicBezTo>
                  <a:pt x="8509" y="469900"/>
                  <a:pt x="0" y="461391"/>
                  <a:pt x="0" y="4508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2" name="ic-6"/>
          <p:cNvSpPr/>
          <p:nvPr/>
        </p:nvSpPr>
        <p:spPr>
          <a:xfrm>
            <a:off x="1143000" y="4654550"/>
            <a:ext cx="304800" cy="304800"/>
          </a:xfrm>
          <a:prstGeom prst="ellipse">
            <a:avLst/>
          </a:prstGeom>
          <a:solidFill>
            <a:srgbClr val="3985CD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3" name="icon-star"/>
          <p:cNvSpPr/>
          <p:nvPr/>
        </p:nvSpPr>
        <p:spPr>
          <a:xfrm>
            <a:off x="1241425" y="4753610"/>
            <a:ext cx="107950" cy="102870"/>
          </a:xfrm>
          <a:custGeom>
            <a:avLst/>
            <a:gdLst/>
            <a:ahLst/>
            <a:cxnLst/>
            <a:rect l="0" t="0" r="r" b="b"/>
            <a:pathLst>
              <a:path w="107950" h="102870">
                <a:moveTo>
                  <a:pt x="53975" y="0"/>
                </a:moveTo>
                <a:lnTo>
                  <a:pt x="70485" y="34290"/>
                </a:lnTo>
                <a:lnTo>
                  <a:pt x="107950" y="39370"/>
                </a:lnTo>
                <a:lnTo>
                  <a:pt x="80645" y="65405"/>
                </a:lnTo>
                <a:lnTo>
                  <a:pt x="87630" y="102870"/>
                </a:lnTo>
                <a:lnTo>
                  <a:pt x="53975" y="84455"/>
                </a:lnTo>
                <a:lnTo>
                  <a:pt x="20320" y="102870"/>
                </a:lnTo>
                <a:lnTo>
                  <a:pt x="27305" y="65405"/>
                </a:lnTo>
                <a:lnTo>
                  <a:pt x="0" y="39370"/>
                </a:lnTo>
                <a:lnTo>
                  <a:pt x="37465" y="34290"/>
                </a:lnTo>
                <a:close/>
              </a:path>
            </a:pathLst>
          </a:custGeom>
          <a:noFill/>
          <a:ln w="1270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4" name="nm-6"/>
          <p:cNvSpPr txBox="1"/>
          <p:nvPr/>
        </p:nvSpPr>
        <p:spPr>
          <a:xfrm>
            <a:off x="1546098" y="4693063"/>
            <a:ext cx="742569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 NPS</a:t>
            </a:r>
          </a:p>
        </p:txBody>
      </p:sp>
      <p:sp>
        <p:nvSpPr>
          <p:cNvPr id="115" name="un-6"/>
          <p:cNvSpPr txBox="1"/>
          <p:nvPr/>
        </p:nvSpPr>
        <p:spPr>
          <a:xfrm>
            <a:off x="2243582" y="4747958"/>
            <a:ext cx="17081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分</a:t>
            </a:r>
          </a:p>
        </p:txBody>
      </p:sp>
      <p:sp>
        <p:nvSpPr>
          <p:cNvPr id="116" name="v-6"/>
          <p:cNvSpPr txBox="1"/>
          <p:nvPr/>
        </p:nvSpPr>
        <p:spPr>
          <a:xfrm>
            <a:off x="4103370" y="4657217"/>
            <a:ext cx="362966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4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46</a:t>
            </a:r>
          </a:p>
        </p:txBody>
      </p:sp>
      <p:sp>
        <p:nvSpPr>
          <p:cNvPr id="117" name="mom-6"/>
          <p:cNvSpPr/>
          <p:nvPr/>
        </p:nvSpPr>
        <p:spPr>
          <a:xfrm>
            <a:off x="4953000" y="4692650"/>
            <a:ext cx="762000" cy="228600"/>
          </a:xfrm>
          <a:custGeom>
            <a:avLst/>
            <a:gdLst/>
            <a:ahLst/>
            <a:cxnLst/>
            <a:rect l="0" t="0" r="r" b="b"/>
            <a:pathLst>
              <a:path w="762000" h="228600">
                <a:moveTo>
                  <a:pt x="114300" y="0"/>
                </a:moveTo>
                <a:lnTo>
                  <a:pt x="647700" y="0"/>
                </a:lnTo>
                <a:cubicBezTo>
                  <a:pt x="710819" y="0"/>
                  <a:pt x="762000" y="51181"/>
                  <a:pt x="762000" y="114300"/>
                </a:cubicBezTo>
                <a:lnTo>
                  <a:pt x="762000" y="114300"/>
                </a:lnTo>
                <a:cubicBezTo>
                  <a:pt x="762000" y="177419"/>
                  <a:pt x="710819" y="228600"/>
                  <a:pt x="6477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134C9C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8" name="momt-6"/>
          <p:cNvSpPr txBox="1"/>
          <p:nvPr/>
        </p:nvSpPr>
        <p:spPr>
          <a:xfrm>
            <a:off x="5117592" y="4725924"/>
            <a:ext cx="4328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▲ 4.5%</a:t>
            </a:r>
          </a:p>
        </p:txBody>
      </p:sp>
      <p:sp>
        <p:nvSpPr>
          <p:cNvPr id="119" name="spa-6"/>
          <p:cNvSpPr/>
          <p:nvPr/>
        </p:nvSpPr>
        <p:spPr>
          <a:xfrm>
            <a:off x="5905500" y="4679950"/>
            <a:ext cx="2349500" cy="292100"/>
          </a:xfrm>
          <a:custGeom>
            <a:avLst/>
            <a:gdLst/>
            <a:ahLst/>
            <a:cxnLst/>
            <a:rect l="0" t="0" r="r" b="b"/>
            <a:pathLst>
              <a:path w="2349500" h="292100">
                <a:moveTo>
                  <a:pt x="0" y="254000"/>
                </a:moveTo>
                <a:cubicBezTo>
                  <a:pt x="28448" y="251587"/>
                  <a:pt x="156654" y="243141"/>
                  <a:pt x="213614" y="235839"/>
                </a:cubicBezTo>
                <a:cubicBezTo>
                  <a:pt x="270574" y="228600"/>
                  <a:pt x="370205" y="201993"/>
                  <a:pt x="427164" y="199580"/>
                </a:cubicBezTo>
                <a:cubicBezTo>
                  <a:pt x="484124" y="197167"/>
                  <a:pt x="583819" y="222567"/>
                  <a:pt x="640779" y="217741"/>
                </a:cubicBezTo>
                <a:cubicBezTo>
                  <a:pt x="697738" y="212852"/>
                  <a:pt x="797433" y="172974"/>
                  <a:pt x="854392" y="163259"/>
                </a:cubicBezTo>
                <a:cubicBezTo>
                  <a:pt x="911352" y="153607"/>
                  <a:pt x="1010984" y="152400"/>
                  <a:pt x="1067943" y="145161"/>
                </a:cubicBezTo>
                <a:cubicBezTo>
                  <a:pt x="1124903" y="137859"/>
                  <a:pt x="1224597" y="111252"/>
                  <a:pt x="1281557" y="108839"/>
                </a:cubicBezTo>
                <a:cubicBezTo>
                  <a:pt x="1338516" y="106426"/>
                  <a:pt x="1438148" y="131826"/>
                  <a:pt x="1495108" y="127000"/>
                </a:cubicBezTo>
                <a:cubicBezTo>
                  <a:pt x="1552067" y="122174"/>
                  <a:pt x="1651762" y="82233"/>
                  <a:pt x="1708721" y="72580"/>
                </a:cubicBezTo>
                <a:cubicBezTo>
                  <a:pt x="1765681" y="62865"/>
                  <a:pt x="1865376" y="59246"/>
                  <a:pt x="1922336" y="54420"/>
                </a:cubicBezTo>
                <a:cubicBezTo>
                  <a:pt x="1979295" y="49593"/>
                  <a:pt x="2078927" y="43561"/>
                  <a:pt x="2135886" y="36259"/>
                </a:cubicBezTo>
                <a:cubicBezTo>
                  <a:pt x="2192845" y="29020"/>
                  <a:pt x="2321052" y="4826"/>
                  <a:pt x="2349500" y="0"/>
                </a:cubicBezTo>
                <a:lnTo>
                  <a:pt x="2349500" y="292100"/>
                </a:lnTo>
                <a:lnTo>
                  <a:pt x="0" y="292100"/>
                </a:lnTo>
                <a:close/>
              </a:path>
            </a:pathLst>
          </a:custGeom>
          <a:gradFill rotWithShape="1">
            <a:gsLst>
              <a:gs pos="0">
                <a:srgbClr val="1B5AA8">
                  <a:alpha val="22000"/>
                </a:srgbClr>
              </a:gs>
              <a:gs pos="100000">
                <a:srgbClr val="1B5AA8">
                  <a:alpha val="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0" name="spl-6"/>
          <p:cNvSpPr/>
          <p:nvPr/>
        </p:nvSpPr>
        <p:spPr>
          <a:xfrm>
            <a:off x="5905500" y="4679950"/>
            <a:ext cx="2349500" cy="254000"/>
          </a:xfrm>
          <a:custGeom>
            <a:avLst/>
            <a:gdLst/>
            <a:ahLst/>
            <a:cxnLst/>
            <a:rect l="0" t="0" r="r" b="b"/>
            <a:pathLst>
              <a:path w="2349500" h="254000">
                <a:moveTo>
                  <a:pt x="0" y="254000"/>
                </a:moveTo>
                <a:cubicBezTo>
                  <a:pt x="28448" y="251587"/>
                  <a:pt x="156654" y="243141"/>
                  <a:pt x="213614" y="235839"/>
                </a:cubicBezTo>
                <a:cubicBezTo>
                  <a:pt x="270574" y="228600"/>
                  <a:pt x="370205" y="201993"/>
                  <a:pt x="427164" y="199580"/>
                </a:cubicBezTo>
                <a:cubicBezTo>
                  <a:pt x="484124" y="197167"/>
                  <a:pt x="583819" y="222567"/>
                  <a:pt x="640779" y="217741"/>
                </a:cubicBezTo>
                <a:cubicBezTo>
                  <a:pt x="697738" y="212852"/>
                  <a:pt x="797433" y="172974"/>
                  <a:pt x="854392" y="163259"/>
                </a:cubicBezTo>
                <a:cubicBezTo>
                  <a:pt x="911352" y="153607"/>
                  <a:pt x="1010984" y="152400"/>
                  <a:pt x="1067943" y="145161"/>
                </a:cubicBezTo>
                <a:cubicBezTo>
                  <a:pt x="1124903" y="137859"/>
                  <a:pt x="1224597" y="111252"/>
                  <a:pt x="1281557" y="108839"/>
                </a:cubicBezTo>
                <a:cubicBezTo>
                  <a:pt x="1338516" y="106426"/>
                  <a:pt x="1438148" y="131826"/>
                  <a:pt x="1495108" y="127000"/>
                </a:cubicBezTo>
                <a:cubicBezTo>
                  <a:pt x="1552067" y="122174"/>
                  <a:pt x="1651762" y="82233"/>
                  <a:pt x="1708721" y="72580"/>
                </a:cubicBezTo>
                <a:cubicBezTo>
                  <a:pt x="1765681" y="62865"/>
                  <a:pt x="1865376" y="59246"/>
                  <a:pt x="1922336" y="54420"/>
                </a:cubicBezTo>
                <a:cubicBezTo>
                  <a:pt x="1979295" y="49593"/>
                  <a:pt x="2078927" y="43561"/>
                  <a:pt x="2135886" y="36259"/>
                </a:cubicBezTo>
                <a:cubicBezTo>
                  <a:pt x="2192845" y="29020"/>
                  <a:pt x="2321052" y="4826"/>
                  <a:pt x="2349500" y="0"/>
                </a:cubicBezTo>
              </a:path>
            </a:pathLst>
          </a:custGeom>
          <a:noFill/>
          <a:ln w="1651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1" name="spe-6"/>
          <p:cNvSpPr/>
          <p:nvPr/>
        </p:nvSpPr>
        <p:spPr>
          <a:xfrm>
            <a:off x="8216900" y="4641850"/>
            <a:ext cx="76200" cy="76200"/>
          </a:xfrm>
          <a:prstGeom prst="ellipse">
            <a:avLst/>
          </a:prstGeom>
          <a:solidFill>
            <a:srgbClr val="1B5AA8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2" name="pgb-6"/>
          <p:cNvSpPr/>
          <p:nvPr/>
        </p:nvSpPr>
        <p:spPr>
          <a:xfrm>
            <a:off x="8572500" y="4756150"/>
            <a:ext cx="1460500" cy="101600"/>
          </a:xfrm>
          <a:custGeom>
            <a:avLst/>
            <a:gdLst/>
            <a:ahLst/>
            <a:cxnLst/>
            <a:rect l="0" t="0" r="r" b="b"/>
            <a:pathLst>
              <a:path w="1460500" h="101600">
                <a:moveTo>
                  <a:pt x="50800" y="0"/>
                </a:moveTo>
                <a:lnTo>
                  <a:pt x="1409700" y="0"/>
                </a:lnTo>
                <a:cubicBezTo>
                  <a:pt x="1437767" y="0"/>
                  <a:pt x="1460500" y="22733"/>
                  <a:pt x="1460500" y="50800"/>
                </a:cubicBezTo>
                <a:lnTo>
                  <a:pt x="1460500" y="50800"/>
                </a:lnTo>
                <a:cubicBezTo>
                  <a:pt x="1460500" y="78867"/>
                  <a:pt x="1437767" y="101600"/>
                  <a:pt x="14097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3" name="pg-6"/>
          <p:cNvSpPr/>
          <p:nvPr/>
        </p:nvSpPr>
        <p:spPr>
          <a:xfrm>
            <a:off x="8572500" y="4756150"/>
            <a:ext cx="1460500" cy="101600"/>
          </a:xfrm>
          <a:custGeom>
            <a:avLst/>
            <a:gdLst/>
            <a:ahLst/>
            <a:cxnLst/>
            <a:rect l="0" t="0" r="r" b="b"/>
            <a:pathLst>
              <a:path w="1460500" h="101600">
                <a:moveTo>
                  <a:pt x="50800" y="0"/>
                </a:moveTo>
                <a:lnTo>
                  <a:pt x="1409700" y="0"/>
                </a:lnTo>
                <a:cubicBezTo>
                  <a:pt x="1437767" y="0"/>
                  <a:pt x="1460500" y="22733"/>
                  <a:pt x="1460500" y="50800"/>
                </a:cubicBezTo>
                <a:lnTo>
                  <a:pt x="1460500" y="50800"/>
                </a:lnTo>
                <a:cubicBezTo>
                  <a:pt x="1460500" y="78867"/>
                  <a:pt x="1437767" y="101600"/>
                  <a:pt x="14097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4E79B5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24" name="pgt-6"/>
          <p:cNvCxnSpPr/>
          <p:nvPr/>
        </p:nvCxnSpPr>
        <p:spPr>
          <a:xfrm>
            <a:off x="10033000" y="4718050"/>
            <a:ext cx="0" cy="177800"/>
          </a:xfrm>
          <a:prstGeom prst="line">
            <a:avLst/>
          </a:prstGeom>
          <a:ln w="8890" cap="rnd">
            <a:solidFill>
              <a:srgbClr val="0B2545">
                <a:alpha val="3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5" name="pgv-6"/>
          <p:cNvSpPr txBox="1"/>
          <p:nvPr/>
        </p:nvSpPr>
        <p:spPr>
          <a:xfrm>
            <a:off x="10120884" y="4710240"/>
            <a:ext cx="35890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102%</a:t>
            </a:r>
          </a:p>
        </p:txBody>
      </p:sp>
      <p:sp>
        <p:nvSpPr>
          <p:cNvPr id="126" name="st-6"/>
          <p:cNvSpPr/>
          <p:nvPr/>
        </p:nvSpPr>
        <p:spPr>
          <a:xfrm>
            <a:off x="10579100" y="4699000"/>
            <a:ext cx="431800" cy="215900"/>
          </a:xfrm>
          <a:custGeom>
            <a:avLst/>
            <a:gdLst/>
            <a:ahLst/>
            <a:cxnLst/>
            <a:rect l="0" t="0" r="r" b="b"/>
            <a:pathLst>
              <a:path w="431800" h="215900">
                <a:moveTo>
                  <a:pt x="107950" y="0"/>
                </a:moveTo>
                <a:lnTo>
                  <a:pt x="323850" y="0"/>
                </a:lnTo>
                <a:cubicBezTo>
                  <a:pt x="383477" y="0"/>
                  <a:pt x="431800" y="48324"/>
                  <a:pt x="431800" y="107950"/>
                </a:cubicBezTo>
                <a:lnTo>
                  <a:pt x="431800" y="107950"/>
                </a:lnTo>
                <a:cubicBezTo>
                  <a:pt x="431800" y="167576"/>
                  <a:pt x="383477" y="215900"/>
                  <a:pt x="3238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7" name="stt-6"/>
          <p:cNvSpPr txBox="1"/>
          <p:nvPr/>
        </p:nvSpPr>
        <p:spPr>
          <a:xfrm>
            <a:off x="10650538" y="4727416"/>
            <a:ext cx="2889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良好</a:t>
            </a:r>
          </a:p>
        </p:txBody>
      </p:sp>
      <p:sp>
        <p:nvSpPr>
          <p:cNvPr id="128" name="row-7"/>
          <p:cNvSpPr/>
          <p:nvPr/>
        </p:nvSpPr>
        <p:spPr>
          <a:xfrm>
            <a:off x="952500" y="5118100"/>
            <a:ext cx="10287000" cy="469900"/>
          </a:xfrm>
          <a:custGeom>
            <a:avLst/>
            <a:gdLst/>
            <a:ahLst/>
            <a:cxnLst/>
            <a:rect l="0" t="0" r="r" b="b"/>
            <a:pathLst>
              <a:path w="10287000" h="4699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368300"/>
                </a:lnTo>
                <a:cubicBezTo>
                  <a:pt x="10287000" y="424434"/>
                  <a:pt x="10241534" y="469900"/>
                  <a:pt x="10185400" y="469900"/>
                </a:cubicBezTo>
                <a:lnTo>
                  <a:pt x="101600" y="469900"/>
                </a:lnTo>
                <a:cubicBezTo>
                  <a:pt x="45466" y="469900"/>
                  <a:pt x="0" y="424434"/>
                  <a:pt x="0" y="3683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9" name="rowb-7"/>
          <p:cNvSpPr/>
          <p:nvPr/>
        </p:nvSpPr>
        <p:spPr>
          <a:xfrm>
            <a:off x="952500" y="5118100"/>
            <a:ext cx="38100" cy="469900"/>
          </a:xfrm>
          <a:custGeom>
            <a:avLst/>
            <a:gdLst/>
            <a:ahLst/>
            <a:cxnLst/>
            <a:rect l="0" t="0" r="r" b="b"/>
            <a:pathLst>
              <a:path w="38100" h="4699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450850"/>
                </a:lnTo>
                <a:cubicBezTo>
                  <a:pt x="38100" y="461391"/>
                  <a:pt x="29591" y="469900"/>
                  <a:pt x="19050" y="469900"/>
                </a:cubicBezTo>
                <a:lnTo>
                  <a:pt x="19050" y="469900"/>
                </a:lnTo>
                <a:cubicBezTo>
                  <a:pt x="8509" y="469900"/>
                  <a:pt x="0" y="461391"/>
                  <a:pt x="0" y="4508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0" name="ic-7"/>
          <p:cNvSpPr/>
          <p:nvPr/>
        </p:nvSpPr>
        <p:spPr>
          <a:xfrm>
            <a:off x="1143000" y="5200650"/>
            <a:ext cx="304800" cy="304800"/>
          </a:xfrm>
          <a:prstGeom prst="ellipse">
            <a:avLst/>
          </a:prstGeom>
          <a:solidFill>
            <a:srgbClr val="4694D7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1" name="icon-clock"/>
          <p:cNvSpPr/>
          <p:nvPr/>
        </p:nvSpPr>
        <p:spPr>
          <a:xfrm>
            <a:off x="1295400" y="5322570"/>
            <a:ext cx="20320" cy="42545"/>
          </a:xfrm>
          <a:custGeom>
            <a:avLst/>
            <a:gdLst/>
            <a:ahLst/>
            <a:cxnLst/>
            <a:rect l="0" t="0" r="r" b="b"/>
            <a:pathLst>
              <a:path w="20320" h="42545">
                <a:moveTo>
                  <a:pt x="0" y="0"/>
                </a:moveTo>
                <a:lnTo>
                  <a:pt x="0" y="30480"/>
                </a:lnTo>
                <a:lnTo>
                  <a:pt x="20320" y="42545"/>
                </a:lnTo>
              </a:path>
            </a:pathLst>
          </a:cu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2" name="icon-clock"/>
          <p:cNvSpPr/>
          <p:nvPr/>
        </p:nvSpPr>
        <p:spPr>
          <a:xfrm>
            <a:off x="1240790" y="5298440"/>
            <a:ext cx="109220" cy="109220"/>
          </a:xfrm>
          <a:prstGeom prst="ellipse">
            <a:avLst/>
          </a:pr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3" name="nm-7"/>
          <p:cNvSpPr txBox="1"/>
          <p:nvPr/>
        </p:nvSpPr>
        <p:spPr>
          <a:xfrm>
            <a:off x="1546098" y="5239163"/>
            <a:ext cx="834390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员工流失率</a:t>
            </a:r>
          </a:p>
        </p:txBody>
      </p:sp>
      <p:sp>
        <p:nvSpPr>
          <p:cNvPr id="134" name="un-7"/>
          <p:cNvSpPr txBox="1"/>
          <p:nvPr/>
        </p:nvSpPr>
        <p:spPr>
          <a:xfrm>
            <a:off x="2342007" y="5294058"/>
            <a:ext cx="13169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%</a:t>
            </a:r>
          </a:p>
        </p:txBody>
      </p:sp>
      <p:sp>
        <p:nvSpPr>
          <p:cNvPr id="135" name="v-7"/>
          <p:cNvSpPr txBox="1"/>
          <p:nvPr/>
        </p:nvSpPr>
        <p:spPr>
          <a:xfrm>
            <a:off x="4001897" y="5203317"/>
            <a:ext cx="464439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4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2.1</a:t>
            </a:r>
          </a:p>
        </p:txBody>
      </p:sp>
      <p:sp>
        <p:nvSpPr>
          <p:cNvPr id="136" name="mom-7"/>
          <p:cNvSpPr/>
          <p:nvPr/>
        </p:nvSpPr>
        <p:spPr>
          <a:xfrm>
            <a:off x="4953000" y="5238750"/>
            <a:ext cx="762000" cy="228600"/>
          </a:xfrm>
          <a:custGeom>
            <a:avLst/>
            <a:gdLst/>
            <a:ahLst/>
            <a:cxnLst/>
            <a:rect l="0" t="0" r="r" b="b"/>
            <a:pathLst>
              <a:path w="762000" h="228600">
                <a:moveTo>
                  <a:pt x="114300" y="0"/>
                </a:moveTo>
                <a:lnTo>
                  <a:pt x="647700" y="0"/>
                </a:lnTo>
                <a:cubicBezTo>
                  <a:pt x="710819" y="0"/>
                  <a:pt x="762000" y="51181"/>
                  <a:pt x="762000" y="114300"/>
                </a:cubicBezTo>
                <a:lnTo>
                  <a:pt x="762000" y="114300"/>
                </a:lnTo>
                <a:cubicBezTo>
                  <a:pt x="762000" y="177419"/>
                  <a:pt x="710819" y="228600"/>
                  <a:pt x="6477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E0703A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7" name="momt-7"/>
          <p:cNvSpPr txBox="1"/>
          <p:nvPr/>
        </p:nvSpPr>
        <p:spPr>
          <a:xfrm>
            <a:off x="5089144" y="5272024"/>
            <a:ext cx="48971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▲ 23.5%</a:t>
            </a:r>
          </a:p>
        </p:txBody>
      </p:sp>
      <p:sp>
        <p:nvSpPr>
          <p:cNvPr id="138" name="spa-7"/>
          <p:cNvSpPr/>
          <p:nvPr/>
        </p:nvSpPr>
        <p:spPr>
          <a:xfrm>
            <a:off x="5905500" y="5226050"/>
            <a:ext cx="2349500" cy="292100"/>
          </a:xfrm>
          <a:custGeom>
            <a:avLst/>
            <a:gdLst/>
            <a:ahLst/>
            <a:cxnLst/>
            <a:rect l="0" t="0" r="r" b="b"/>
            <a:pathLst>
              <a:path w="2349500" h="292100">
                <a:moveTo>
                  <a:pt x="0" y="228600"/>
                </a:moveTo>
                <a:cubicBezTo>
                  <a:pt x="28448" y="231965"/>
                  <a:pt x="156654" y="257365"/>
                  <a:pt x="213614" y="254000"/>
                </a:cubicBezTo>
                <a:cubicBezTo>
                  <a:pt x="270574" y="250635"/>
                  <a:pt x="370205" y="206565"/>
                  <a:pt x="427164" y="203200"/>
                </a:cubicBezTo>
                <a:cubicBezTo>
                  <a:pt x="484124" y="199835"/>
                  <a:pt x="583819" y="231965"/>
                  <a:pt x="640779" y="228600"/>
                </a:cubicBezTo>
                <a:cubicBezTo>
                  <a:pt x="697738" y="225235"/>
                  <a:pt x="797433" y="181165"/>
                  <a:pt x="854392" y="177800"/>
                </a:cubicBezTo>
                <a:cubicBezTo>
                  <a:pt x="911352" y="174435"/>
                  <a:pt x="1010984" y="206565"/>
                  <a:pt x="1067943" y="203200"/>
                </a:cubicBezTo>
                <a:cubicBezTo>
                  <a:pt x="1124903" y="199835"/>
                  <a:pt x="1224597" y="162560"/>
                  <a:pt x="1281557" y="152400"/>
                </a:cubicBezTo>
                <a:cubicBezTo>
                  <a:pt x="1338516" y="142240"/>
                  <a:pt x="1438148" y="127000"/>
                  <a:pt x="1495108" y="127000"/>
                </a:cubicBezTo>
                <a:cubicBezTo>
                  <a:pt x="1552067" y="127000"/>
                  <a:pt x="1651762" y="159195"/>
                  <a:pt x="1708721" y="152400"/>
                </a:cubicBezTo>
                <a:cubicBezTo>
                  <a:pt x="1765681" y="145605"/>
                  <a:pt x="1865376" y="82995"/>
                  <a:pt x="1922336" y="76200"/>
                </a:cubicBezTo>
                <a:cubicBezTo>
                  <a:pt x="1979295" y="69405"/>
                  <a:pt x="2078927" y="111760"/>
                  <a:pt x="2135886" y="101600"/>
                </a:cubicBezTo>
                <a:cubicBezTo>
                  <a:pt x="2192845" y="91440"/>
                  <a:pt x="2321052" y="13525"/>
                  <a:pt x="2349500" y="0"/>
                </a:cubicBezTo>
                <a:lnTo>
                  <a:pt x="2349500" y="292100"/>
                </a:lnTo>
                <a:lnTo>
                  <a:pt x="0" y="292100"/>
                </a:lnTo>
                <a:close/>
              </a:path>
            </a:pathLst>
          </a:custGeom>
          <a:gradFill rotWithShape="1">
            <a:gsLst>
              <a:gs pos="0">
                <a:srgbClr val="E0703A">
                  <a:alpha val="22000"/>
                </a:srgbClr>
              </a:gs>
              <a:gs pos="100000">
                <a:srgbClr val="E0703A">
                  <a:alpha val="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9" name="spl-7"/>
          <p:cNvSpPr/>
          <p:nvPr/>
        </p:nvSpPr>
        <p:spPr>
          <a:xfrm>
            <a:off x="5905500" y="5226050"/>
            <a:ext cx="2349500" cy="254306"/>
          </a:xfrm>
          <a:custGeom>
            <a:avLst/>
            <a:gdLst/>
            <a:ahLst/>
            <a:cxnLst/>
            <a:rect l="0" t="0" r="r" b="b"/>
            <a:pathLst>
              <a:path w="2349500" h="254306">
                <a:moveTo>
                  <a:pt x="0" y="228600"/>
                </a:moveTo>
                <a:cubicBezTo>
                  <a:pt x="28448" y="231965"/>
                  <a:pt x="156654" y="257365"/>
                  <a:pt x="213614" y="254000"/>
                </a:cubicBezTo>
                <a:cubicBezTo>
                  <a:pt x="270574" y="250635"/>
                  <a:pt x="370205" y="206565"/>
                  <a:pt x="427164" y="203200"/>
                </a:cubicBezTo>
                <a:cubicBezTo>
                  <a:pt x="484124" y="199835"/>
                  <a:pt x="583819" y="231965"/>
                  <a:pt x="640779" y="228600"/>
                </a:cubicBezTo>
                <a:cubicBezTo>
                  <a:pt x="697738" y="225235"/>
                  <a:pt x="797433" y="181165"/>
                  <a:pt x="854392" y="177800"/>
                </a:cubicBezTo>
                <a:cubicBezTo>
                  <a:pt x="911352" y="174435"/>
                  <a:pt x="1010984" y="206565"/>
                  <a:pt x="1067943" y="203200"/>
                </a:cubicBezTo>
                <a:cubicBezTo>
                  <a:pt x="1124903" y="199835"/>
                  <a:pt x="1224597" y="162560"/>
                  <a:pt x="1281557" y="152400"/>
                </a:cubicBezTo>
                <a:cubicBezTo>
                  <a:pt x="1338516" y="142240"/>
                  <a:pt x="1438148" y="127000"/>
                  <a:pt x="1495108" y="127000"/>
                </a:cubicBezTo>
                <a:cubicBezTo>
                  <a:pt x="1552067" y="127000"/>
                  <a:pt x="1651762" y="159195"/>
                  <a:pt x="1708721" y="152400"/>
                </a:cubicBezTo>
                <a:cubicBezTo>
                  <a:pt x="1765681" y="145605"/>
                  <a:pt x="1865376" y="82995"/>
                  <a:pt x="1922336" y="76200"/>
                </a:cubicBezTo>
                <a:cubicBezTo>
                  <a:pt x="1979295" y="69405"/>
                  <a:pt x="2078927" y="111760"/>
                  <a:pt x="2135886" y="101600"/>
                </a:cubicBezTo>
                <a:cubicBezTo>
                  <a:pt x="2192845" y="91440"/>
                  <a:pt x="2321052" y="13525"/>
                  <a:pt x="2349500" y="0"/>
                </a:cubicBezTo>
              </a:path>
            </a:pathLst>
          </a:custGeom>
          <a:noFill/>
          <a:ln w="1651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0" name="spe-7"/>
          <p:cNvSpPr/>
          <p:nvPr/>
        </p:nvSpPr>
        <p:spPr>
          <a:xfrm>
            <a:off x="8216900" y="5187950"/>
            <a:ext cx="76200" cy="76200"/>
          </a:xfrm>
          <a:prstGeom prst="ellipse">
            <a:avLst/>
          </a:prstGeom>
          <a:solidFill>
            <a:srgbClr val="E0703A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1" name="pgb-7"/>
          <p:cNvSpPr/>
          <p:nvPr/>
        </p:nvSpPr>
        <p:spPr>
          <a:xfrm>
            <a:off x="8572500" y="5302250"/>
            <a:ext cx="1460500" cy="101600"/>
          </a:xfrm>
          <a:custGeom>
            <a:avLst/>
            <a:gdLst/>
            <a:ahLst/>
            <a:cxnLst/>
            <a:rect l="0" t="0" r="r" b="b"/>
            <a:pathLst>
              <a:path w="1460500" h="101600">
                <a:moveTo>
                  <a:pt x="50800" y="0"/>
                </a:moveTo>
                <a:lnTo>
                  <a:pt x="1409700" y="0"/>
                </a:lnTo>
                <a:cubicBezTo>
                  <a:pt x="1437767" y="0"/>
                  <a:pt x="1460500" y="22733"/>
                  <a:pt x="1460500" y="50800"/>
                </a:cubicBezTo>
                <a:lnTo>
                  <a:pt x="1460500" y="50800"/>
                </a:lnTo>
                <a:cubicBezTo>
                  <a:pt x="1460500" y="78867"/>
                  <a:pt x="1437767" y="101600"/>
                  <a:pt x="14097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2" name="pg-7"/>
          <p:cNvSpPr/>
          <p:nvPr/>
        </p:nvSpPr>
        <p:spPr>
          <a:xfrm>
            <a:off x="8572500" y="5302250"/>
            <a:ext cx="934720" cy="101600"/>
          </a:xfrm>
          <a:custGeom>
            <a:avLst/>
            <a:gdLst/>
            <a:ahLst/>
            <a:cxnLst/>
            <a:rect l="0" t="0" r="r" b="b"/>
            <a:pathLst>
              <a:path w="934720" h="101600">
                <a:moveTo>
                  <a:pt x="50800" y="0"/>
                </a:moveTo>
                <a:lnTo>
                  <a:pt x="883920" y="0"/>
                </a:lnTo>
                <a:cubicBezTo>
                  <a:pt x="911987" y="0"/>
                  <a:pt x="934720" y="22733"/>
                  <a:pt x="934720" y="50800"/>
                </a:cubicBezTo>
                <a:lnTo>
                  <a:pt x="934720" y="50800"/>
                </a:lnTo>
                <a:cubicBezTo>
                  <a:pt x="934720" y="78867"/>
                  <a:pt x="911987" y="101600"/>
                  <a:pt x="88392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gradFill rotWithShape="1">
            <a:gsLst>
              <a:gs pos="0">
                <a:srgbClr val="E8946B"/>
              </a:gs>
              <a:gs pos="100000">
                <a:srgbClr val="E0703A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43" name="pgt-7"/>
          <p:cNvCxnSpPr/>
          <p:nvPr/>
        </p:nvCxnSpPr>
        <p:spPr>
          <a:xfrm>
            <a:off x="10033000" y="5264150"/>
            <a:ext cx="0" cy="177800"/>
          </a:xfrm>
          <a:prstGeom prst="line">
            <a:avLst/>
          </a:prstGeom>
          <a:ln w="8890" cap="rnd">
            <a:solidFill>
              <a:srgbClr val="0B2545">
                <a:alpha val="3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4" name="pgv-7"/>
          <p:cNvSpPr txBox="1"/>
          <p:nvPr/>
        </p:nvSpPr>
        <p:spPr>
          <a:xfrm>
            <a:off x="10120884" y="5256340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64%</a:t>
            </a:r>
          </a:p>
        </p:txBody>
      </p:sp>
      <p:sp>
        <p:nvSpPr>
          <p:cNvPr id="145" name="st-7"/>
          <p:cNvSpPr/>
          <p:nvPr/>
        </p:nvSpPr>
        <p:spPr>
          <a:xfrm>
            <a:off x="10579100" y="5245100"/>
            <a:ext cx="431800" cy="215900"/>
          </a:xfrm>
          <a:custGeom>
            <a:avLst/>
            <a:gdLst/>
            <a:ahLst/>
            <a:cxnLst/>
            <a:rect l="0" t="0" r="r" b="b"/>
            <a:pathLst>
              <a:path w="431800" h="215900">
                <a:moveTo>
                  <a:pt x="107950" y="0"/>
                </a:moveTo>
                <a:lnTo>
                  <a:pt x="323850" y="0"/>
                </a:lnTo>
                <a:cubicBezTo>
                  <a:pt x="383477" y="0"/>
                  <a:pt x="431800" y="48324"/>
                  <a:pt x="431800" y="107950"/>
                </a:cubicBezTo>
                <a:lnTo>
                  <a:pt x="431800" y="107950"/>
                </a:lnTo>
                <a:cubicBezTo>
                  <a:pt x="431800" y="167576"/>
                  <a:pt x="383477" y="215900"/>
                  <a:pt x="3238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6" name="stt-7"/>
          <p:cNvSpPr txBox="1"/>
          <p:nvPr/>
        </p:nvSpPr>
        <p:spPr>
          <a:xfrm>
            <a:off x="10650538" y="5273516"/>
            <a:ext cx="2889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预警</a:t>
            </a:r>
          </a:p>
        </p:txBody>
      </p:sp>
      <p:sp>
        <p:nvSpPr>
          <p:cNvPr id="147" name="sum"/>
          <p:cNvSpPr/>
          <p:nvPr/>
        </p:nvSpPr>
        <p:spPr>
          <a:xfrm>
            <a:off x="952500" y="5727700"/>
            <a:ext cx="10287000" cy="419100"/>
          </a:xfrm>
          <a:custGeom>
            <a:avLst/>
            <a:gdLst/>
            <a:ahLst/>
            <a:cxnLst/>
            <a:rect l="0" t="0" r="r" b="b"/>
            <a:pathLst>
              <a:path w="10287000" h="4191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30200"/>
                </a:lnTo>
                <a:cubicBezTo>
                  <a:pt x="10287000" y="379286"/>
                  <a:pt x="10247186" y="419100"/>
                  <a:pt x="10198100" y="419100"/>
                </a:cubicBezTo>
                <a:lnTo>
                  <a:pt x="88900" y="419100"/>
                </a:lnTo>
                <a:cubicBezTo>
                  <a:pt x="39815" y="419100"/>
                  <a:pt x="0" y="379286"/>
                  <a:pt x="0" y="3302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8" name="sum-bar"/>
          <p:cNvSpPr/>
          <p:nvPr/>
        </p:nvSpPr>
        <p:spPr>
          <a:xfrm>
            <a:off x="952500" y="5727700"/>
            <a:ext cx="31750" cy="4191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9" name="sum-h"/>
          <p:cNvSpPr txBox="1"/>
          <p:nvPr/>
        </p:nvSpPr>
        <p:spPr>
          <a:xfrm>
            <a:off x="1142746" y="58610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本月关注</a:t>
            </a:r>
          </a:p>
        </p:txBody>
      </p:sp>
      <p:sp>
        <p:nvSpPr>
          <p:cNvPr id="150" name="sum-p"/>
          <p:cNvSpPr txBox="1"/>
          <p:nvPr/>
        </p:nvSpPr>
        <p:spPr>
          <a:xfrm>
            <a:off x="1891665" y="5857161"/>
            <a:ext cx="526256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员工流失率近半年持续走高、达成仅 64%——下周启动核心骨干保留计划；客单价下滑与大单延期有关。</a:t>
            </a:r>
          </a:p>
        </p:txBody>
      </p:sp>
      <p:cxnSp>
        <p:nvCxnSpPr>
          <p:cNvPr id="151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迷你趋势表 · 七项指标</a:t>
            </a:r>
          </a:p>
        </p:txBody>
      </p:sp>
      <p:sp>
        <p:nvSpPr>
          <p:cNvPr id="153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城市门店人效排名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35483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LOLLIPOP CHART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437499" y="673132"/>
            <a:ext cx="31832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以全国均值为界，右侧领先、左侧落后，一眼看出谁拖了后腿</a:t>
            </a:r>
          </a:p>
        </p:txBody>
      </p:sp>
      <p:cxnSp>
        <p:nvCxnSpPr>
          <p:cNvPr id="10" name="g-0"/>
          <p:cNvCxnSpPr/>
          <p:nvPr/>
        </p:nvCxnSpPr>
        <p:spPr>
          <a:xfrm>
            <a:off x="2159000" y="1574800"/>
            <a:ext cx="0" cy="368300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gt-0"/>
          <p:cNvSpPr txBox="1"/>
          <p:nvPr/>
        </p:nvSpPr>
        <p:spPr>
          <a:xfrm>
            <a:off x="2084832" y="53355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0</a:t>
            </a:r>
          </a:p>
        </p:txBody>
      </p:sp>
      <p:cxnSp>
        <p:nvCxnSpPr>
          <p:cNvPr id="12" name="g-20"/>
          <p:cNvCxnSpPr/>
          <p:nvPr/>
        </p:nvCxnSpPr>
        <p:spPr>
          <a:xfrm>
            <a:off x="3263900" y="1574800"/>
            <a:ext cx="0" cy="368300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gt-20"/>
          <p:cNvSpPr txBox="1"/>
          <p:nvPr/>
        </p:nvSpPr>
        <p:spPr>
          <a:xfrm>
            <a:off x="3161284" y="53355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20</a:t>
            </a:r>
          </a:p>
        </p:txBody>
      </p:sp>
      <p:cxnSp>
        <p:nvCxnSpPr>
          <p:cNvPr id="14" name="g-40"/>
          <p:cNvCxnSpPr/>
          <p:nvPr/>
        </p:nvCxnSpPr>
        <p:spPr>
          <a:xfrm>
            <a:off x="4368800" y="1574800"/>
            <a:ext cx="0" cy="368300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gt-40"/>
          <p:cNvSpPr txBox="1"/>
          <p:nvPr/>
        </p:nvSpPr>
        <p:spPr>
          <a:xfrm>
            <a:off x="4266184" y="53355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40</a:t>
            </a:r>
          </a:p>
        </p:txBody>
      </p:sp>
      <p:cxnSp>
        <p:nvCxnSpPr>
          <p:cNvPr id="16" name="g-60"/>
          <p:cNvCxnSpPr/>
          <p:nvPr/>
        </p:nvCxnSpPr>
        <p:spPr>
          <a:xfrm>
            <a:off x="5473700" y="1574800"/>
            <a:ext cx="0" cy="368300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gt-60"/>
          <p:cNvSpPr txBox="1"/>
          <p:nvPr/>
        </p:nvSpPr>
        <p:spPr>
          <a:xfrm>
            <a:off x="5371084" y="53355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60</a:t>
            </a:r>
          </a:p>
        </p:txBody>
      </p:sp>
      <p:cxnSp>
        <p:nvCxnSpPr>
          <p:cNvPr id="18" name="g-80"/>
          <p:cNvCxnSpPr/>
          <p:nvPr/>
        </p:nvCxnSpPr>
        <p:spPr>
          <a:xfrm>
            <a:off x="6578600" y="1574800"/>
            <a:ext cx="0" cy="368300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gt-80"/>
          <p:cNvSpPr txBox="1"/>
          <p:nvPr/>
        </p:nvSpPr>
        <p:spPr>
          <a:xfrm>
            <a:off x="6475984" y="53355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80</a:t>
            </a:r>
          </a:p>
        </p:txBody>
      </p:sp>
      <p:cxnSp>
        <p:nvCxnSpPr>
          <p:cNvPr id="20" name="g-100"/>
          <p:cNvCxnSpPr/>
          <p:nvPr/>
        </p:nvCxnSpPr>
        <p:spPr>
          <a:xfrm>
            <a:off x="7683500" y="1574800"/>
            <a:ext cx="0" cy="368300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gt-100"/>
          <p:cNvSpPr txBox="1"/>
          <p:nvPr/>
        </p:nvSpPr>
        <p:spPr>
          <a:xfrm>
            <a:off x="7552436" y="53355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100</a:t>
            </a:r>
          </a:p>
        </p:txBody>
      </p:sp>
      <p:sp>
        <p:nvSpPr>
          <p:cNvPr id="22" name="unit"/>
          <p:cNvSpPr txBox="1"/>
          <p:nvPr/>
        </p:nvSpPr>
        <p:spPr>
          <a:xfrm>
            <a:off x="6559804" y="5554408"/>
            <a:ext cx="113436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人效（万元 / 人 / 年）</a:t>
            </a:r>
          </a:p>
        </p:txBody>
      </p:sp>
      <p:sp>
        <p:nvSpPr>
          <p:cNvPr id="23" name="zone-up"/>
          <p:cNvSpPr/>
          <p:nvPr/>
        </p:nvSpPr>
        <p:spPr>
          <a:xfrm>
            <a:off x="5740718" y="1574800"/>
            <a:ext cx="2069783" cy="3683000"/>
          </a:xfrm>
          <a:prstGeom prst="rect">
            <a:avLst/>
          </a:prstGeom>
          <a:solidFill>
            <a:srgbClr val="2E77C2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24" name="avg"/>
          <p:cNvCxnSpPr/>
          <p:nvPr/>
        </p:nvCxnSpPr>
        <p:spPr>
          <a:xfrm>
            <a:off x="5740718" y="1473200"/>
            <a:ext cx="0" cy="3810000"/>
          </a:xfrm>
          <a:prstGeom prst="line">
            <a:avLst/>
          </a:prstGeom>
          <a:ln w="15240" cap="rnd">
            <a:solidFill>
              <a:srgbClr val="E0703A">
                <a:alpha val="8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avg-tag"/>
          <p:cNvSpPr/>
          <p:nvPr/>
        </p:nvSpPr>
        <p:spPr>
          <a:xfrm>
            <a:off x="5207318" y="1257300"/>
            <a:ext cx="1066800" cy="203200"/>
          </a:xfrm>
          <a:custGeom>
            <a:avLst/>
            <a:gdLst/>
            <a:ahLst/>
            <a:cxnLst/>
            <a:rect l="0" t="0" r="r" b="b"/>
            <a:pathLst>
              <a:path w="1066800" h="203200">
                <a:moveTo>
                  <a:pt x="101600" y="0"/>
                </a:moveTo>
                <a:lnTo>
                  <a:pt x="965200" y="0"/>
                </a:lnTo>
                <a:cubicBezTo>
                  <a:pt x="1021334" y="0"/>
                  <a:pt x="1066800" y="45466"/>
                  <a:pt x="1066800" y="101600"/>
                </a:cubicBezTo>
                <a:lnTo>
                  <a:pt x="1066800" y="101600"/>
                </a:lnTo>
                <a:cubicBezTo>
                  <a:pt x="1066800" y="157734"/>
                  <a:pt x="1021334" y="203200"/>
                  <a:pt x="9652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avg-t"/>
          <p:cNvSpPr txBox="1"/>
          <p:nvPr/>
        </p:nvSpPr>
        <p:spPr>
          <a:xfrm>
            <a:off x="5356860" y="1279366"/>
            <a:ext cx="7677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全国均值 64.8</a:t>
            </a:r>
          </a:p>
        </p:txBody>
      </p:sp>
      <p:sp>
        <p:nvSpPr>
          <p:cNvPr id="27" name="nm-1"/>
          <p:cNvSpPr txBox="1"/>
          <p:nvPr/>
        </p:nvSpPr>
        <p:spPr>
          <a:xfrm>
            <a:off x="1544193" y="167344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深圳</a:t>
            </a:r>
          </a:p>
        </p:txBody>
      </p:sp>
      <p:sp>
        <p:nvSpPr>
          <p:cNvPr id="28" name="rk-1"/>
          <p:cNvSpPr txBox="1"/>
          <p:nvPr/>
        </p:nvSpPr>
        <p:spPr>
          <a:xfrm>
            <a:off x="1165225" y="17048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cxnSp>
        <p:nvCxnSpPr>
          <p:cNvPr id="29" name="st0-1"/>
          <p:cNvCxnSpPr/>
          <p:nvPr/>
        </p:nvCxnSpPr>
        <p:spPr>
          <a:xfrm>
            <a:off x="2159000" y="1778000"/>
            <a:ext cx="4751070" cy="0"/>
          </a:xfrm>
          <a:prstGeom prst="line">
            <a:avLst/>
          </a:prstGeom>
          <a:ln w="190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st-1"/>
          <p:cNvCxnSpPr/>
          <p:nvPr/>
        </p:nvCxnSpPr>
        <p:spPr>
          <a:xfrm>
            <a:off x="5740718" y="1778000"/>
            <a:ext cx="1169352" cy="0"/>
          </a:xfrm>
          <a:prstGeom prst="line">
            <a:avLst/>
          </a:prstGeom>
          <a:ln w="31750" cap="rnd">
            <a:solidFill>
              <a:srgbClr val="0B3E8F">
                <a:alpha val="8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dot-1"/>
          <p:cNvSpPr/>
          <p:nvPr/>
        </p:nvSpPr>
        <p:spPr>
          <a:xfrm>
            <a:off x="6814820" y="1682750"/>
            <a:ext cx="190500" cy="190500"/>
          </a:xfrm>
          <a:prstGeom prst="ellipse">
            <a:avLst/>
          </a:prstGeom>
          <a:solidFill>
            <a:srgbClr val="0B3E8F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v-1"/>
          <p:cNvSpPr txBox="1"/>
          <p:nvPr/>
        </p:nvSpPr>
        <p:spPr>
          <a:xfrm>
            <a:off x="7062216" y="168913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86</a:t>
            </a:r>
          </a:p>
        </p:txBody>
      </p:sp>
      <p:sp>
        <p:nvSpPr>
          <p:cNvPr id="33" name="dv-1"/>
          <p:cNvSpPr txBox="1"/>
          <p:nvPr/>
        </p:nvSpPr>
        <p:spPr>
          <a:xfrm>
            <a:off x="7318502" y="1706308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+21.2</a:t>
            </a:r>
          </a:p>
        </p:txBody>
      </p:sp>
      <p:sp>
        <p:nvSpPr>
          <p:cNvPr id="34" name="nm-2"/>
          <p:cNvSpPr txBox="1"/>
          <p:nvPr/>
        </p:nvSpPr>
        <p:spPr>
          <a:xfrm>
            <a:off x="1544193" y="197824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上海</a:t>
            </a:r>
          </a:p>
        </p:txBody>
      </p:sp>
      <p:sp>
        <p:nvSpPr>
          <p:cNvPr id="35" name="rk-2"/>
          <p:cNvSpPr txBox="1"/>
          <p:nvPr/>
        </p:nvSpPr>
        <p:spPr>
          <a:xfrm>
            <a:off x="1165225" y="20096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cxnSp>
        <p:nvCxnSpPr>
          <p:cNvPr id="36" name="st0-2"/>
          <p:cNvCxnSpPr/>
          <p:nvPr/>
        </p:nvCxnSpPr>
        <p:spPr>
          <a:xfrm>
            <a:off x="2159000" y="2082800"/>
            <a:ext cx="4530090" cy="0"/>
          </a:xfrm>
          <a:prstGeom prst="line">
            <a:avLst/>
          </a:prstGeom>
          <a:ln w="190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st-2"/>
          <p:cNvCxnSpPr/>
          <p:nvPr/>
        </p:nvCxnSpPr>
        <p:spPr>
          <a:xfrm>
            <a:off x="5740718" y="2082800"/>
            <a:ext cx="948372" cy="0"/>
          </a:xfrm>
          <a:prstGeom prst="line">
            <a:avLst/>
          </a:prstGeom>
          <a:ln w="31750" cap="rnd">
            <a:solidFill>
              <a:srgbClr val="134C9C">
                <a:alpha val="8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dot-2"/>
          <p:cNvSpPr/>
          <p:nvPr/>
        </p:nvSpPr>
        <p:spPr>
          <a:xfrm>
            <a:off x="6593840" y="1987550"/>
            <a:ext cx="190500" cy="190500"/>
          </a:xfrm>
          <a:prstGeom prst="ellipse">
            <a:avLst/>
          </a:prstGeom>
          <a:solidFill>
            <a:srgbClr val="134C9C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v-2"/>
          <p:cNvSpPr txBox="1"/>
          <p:nvPr/>
        </p:nvSpPr>
        <p:spPr>
          <a:xfrm>
            <a:off x="6841236" y="199393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82</a:t>
            </a:r>
          </a:p>
        </p:txBody>
      </p:sp>
      <p:sp>
        <p:nvSpPr>
          <p:cNvPr id="40" name="dv-2"/>
          <p:cNvSpPr txBox="1"/>
          <p:nvPr/>
        </p:nvSpPr>
        <p:spPr>
          <a:xfrm>
            <a:off x="7097522" y="2011108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+17.2</a:t>
            </a:r>
          </a:p>
        </p:txBody>
      </p:sp>
      <p:sp>
        <p:nvSpPr>
          <p:cNvPr id="41" name="nm-3"/>
          <p:cNvSpPr txBox="1"/>
          <p:nvPr/>
        </p:nvSpPr>
        <p:spPr>
          <a:xfrm>
            <a:off x="1544193" y="228304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杭州</a:t>
            </a:r>
          </a:p>
        </p:txBody>
      </p:sp>
      <p:sp>
        <p:nvSpPr>
          <p:cNvPr id="42" name="rk-3"/>
          <p:cNvSpPr txBox="1"/>
          <p:nvPr/>
        </p:nvSpPr>
        <p:spPr>
          <a:xfrm>
            <a:off x="1165225" y="23144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cxnSp>
        <p:nvCxnSpPr>
          <p:cNvPr id="43" name="st0-3"/>
          <p:cNvCxnSpPr/>
          <p:nvPr/>
        </p:nvCxnSpPr>
        <p:spPr>
          <a:xfrm>
            <a:off x="2159000" y="2387600"/>
            <a:ext cx="4309110" cy="0"/>
          </a:xfrm>
          <a:prstGeom prst="line">
            <a:avLst/>
          </a:prstGeom>
          <a:ln w="190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st-3"/>
          <p:cNvCxnSpPr/>
          <p:nvPr/>
        </p:nvCxnSpPr>
        <p:spPr>
          <a:xfrm>
            <a:off x="5740718" y="2387600"/>
            <a:ext cx="727392" cy="0"/>
          </a:xfrm>
          <a:prstGeom prst="line">
            <a:avLst/>
          </a:prstGeom>
          <a:ln w="31750" cap="rnd">
            <a:solidFill>
              <a:srgbClr val="1B5AA8">
                <a:alpha val="8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dot-3"/>
          <p:cNvSpPr/>
          <p:nvPr/>
        </p:nvSpPr>
        <p:spPr>
          <a:xfrm>
            <a:off x="6372860" y="2292350"/>
            <a:ext cx="190500" cy="190500"/>
          </a:xfrm>
          <a:prstGeom prst="ellipse">
            <a:avLst/>
          </a:prstGeom>
          <a:solidFill>
            <a:srgbClr val="1B5AA8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v-3"/>
          <p:cNvSpPr txBox="1"/>
          <p:nvPr/>
        </p:nvSpPr>
        <p:spPr>
          <a:xfrm>
            <a:off x="6620256" y="229873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1B5AA8"/>
                </a:solidFill>
                <a:latin typeface="Arial"/>
                <a:ea typeface="Arial"/>
                <a:cs typeface="Arial"/>
              </a:rPr>
              <a:t>78</a:t>
            </a:r>
          </a:p>
        </p:txBody>
      </p:sp>
      <p:sp>
        <p:nvSpPr>
          <p:cNvPr id="47" name="dv-3"/>
          <p:cNvSpPr txBox="1"/>
          <p:nvPr/>
        </p:nvSpPr>
        <p:spPr>
          <a:xfrm>
            <a:off x="6876542" y="2315908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+13.2</a:t>
            </a:r>
          </a:p>
        </p:txBody>
      </p:sp>
      <p:sp>
        <p:nvSpPr>
          <p:cNvPr id="48" name="nm-4"/>
          <p:cNvSpPr txBox="1"/>
          <p:nvPr/>
        </p:nvSpPr>
        <p:spPr>
          <a:xfrm>
            <a:off x="1544193" y="258784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北京</a:t>
            </a:r>
          </a:p>
        </p:txBody>
      </p:sp>
      <p:sp>
        <p:nvSpPr>
          <p:cNvPr id="49" name="rk-4"/>
          <p:cNvSpPr txBox="1"/>
          <p:nvPr/>
        </p:nvSpPr>
        <p:spPr>
          <a:xfrm>
            <a:off x="1165225" y="26192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cxnSp>
        <p:nvCxnSpPr>
          <p:cNvPr id="50" name="st0-4"/>
          <p:cNvCxnSpPr/>
          <p:nvPr/>
        </p:nvCxnSpPr>
        <p:spPr>
          <a:xfrm>
            <a:off x="2159000" y="2692400"/>
            <a:ext cx="4143375" cy="0"/>
          </a:xfrm>
          <a:prstGeom prst="line">
            <a:avLst/>
          </a:prstGeom>
          <a:ln w="190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st-4"/>
          <p:cNvCxnSpPr/>
          <p:nvPr/>
        </p:nvCxnSpPr>
        <p:spPr>
          <a:xfrm>
            <a:off x="5740718" y="2692400"/>
            <a:ext cx="561657" cy="0"/>
          </a:xfrm>
          <a:prstGeom prst="line">
            <a:avLst/>
          </a:prstGeom>
          <a:ln w="31750" cap="rnd">
            <a:solidFill>
              <a:srgbClr val="2468B6">
                <a:alpha val="8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dot-4"/>
          <p:cNvSpPr/>
          <p:nvPr/>
        </p:nvSpPr>
        <p:spPr>
          <a:xfrm>
            <a:off x="6207125" y="2597150"/>
            <a:ext cx="190500" cy="190500"/>
          </a:xfrm>
          <a:prstGeom prst="ellipse">
            <a:avLst/>
          </a:prstGeom>
          <a:solidFill>
            <a:srgbClr val="2468B6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v-4"/>
          <p:cNvSpPr txBox="1"/>
          <p:nvPr/>
        </p:nvSpPr>
        <p:spPr>
          <a:xfrm>
            <a:off x="6454521" y="260353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75</a:t>
            </a:r>
          </a:p>
        </p:txBody>
      </p:sp>
      <p:sp>
        <p:nvSpPr>
          <p:cNvPr id="54" name="dv-4"/>
          <p:cNvSpPr txBox="1"/>
          <p:nvPr/>
        </p:nvSpPr>
        <p:spPr>
          <a:xfrm>
            <a:off x="6710807" y="2620708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+10.2</a:t>
            </a:r>
          </a:p>
        </p:txBody>
      </p:sp>
      <p:sp>
        <p:nvSpPr>
          <p:cNvPr id="55" name="nm-5"/>
          <p:cNvSpPr txBox="1"/>
          <p:nvPr/>
        </p:nvSpPr>
        <p:spPr>
          <a:xfrm>
            <a:off x="1544193" y="289264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广州</a:t>
            </a:r>
          </a:p>
        </p:txBody>
      </p:sp>
      <p:sp>
        <p:nvSpPr>
          <p:cNvPr id="56" name="rk-5"/>
          <p:cNvSpPr txBox="1"/>
          <p:nvPr/>
        </p:nvSpPr>
        <p:spPr>
          <a:xfrm>
            <a:off x="1165225" y="29240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05</a:t>
            </a:r>
          </a:p>
        </p:txBody>
      </p:sp>
      <p:cxnSp>
        <p:nvCxnSpPr>
          <p:cNvPr id="57" name="st0-5"/>
          <p:cNvCxnSpPr/>
          <p:nvPr/>
        </p:nvCxnSpPr>
        <p:spPr>
          <a:xfrm>
            <a:off x="2159000" y="2997200"/>
            <a:ext cx="3922395" cy="0"/>
          </a:xfrm>
          <a:prstGeom prst="line">
            <a:avLst/>
          </a:prstGeom>
          <a:ln w="190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st-5"/>
          <p:cNvCxnSpPr/>
          <p:nvPr/>
        </p:nvCxnSpPr>
        <p:spPr>
          <a:xfrm>
            <a:off x="5740718" y="2997200"/>
            <a:ext cx="340677" cy="0"/>
          </a:xfrm>
          <a:prstGeom prst="line">
            <a:avLst/>
          </a:prstGeom>
          <a:ln w="31750" cap="rnd">
            <a:solidFill>
              <a:srgbClr val="2E77C2">
                <a:alpha val="8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dot-5"/>
          <p:cNvSpPr/>
          <p:nvPr/>
        </p:nvSpPr>
        <p:spPr>
          <a:xfrm>
            <a:off x="5986145" y="2901950"/>
            <a:ext cx="190500" cy="190500"/>
          </a:xfrm>
          <a:prstGeom prst="ellipse">
            <a:avLst/>
          </a:prstGeom>
          <a:solidFill>
            <a:srgbClr val="2E77C2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v-5"/>
          <p:cNvSpPr txBox="1"/>
          <p:nvPr/>
        </p:nvSpPr>
        <p:spPr>
          <a:xfrm>
            <a:off x="6233541" y="290833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71</a:t>
            </a:r>
          </a:p>
        </p:txBody>
      </p:sp>
      <p:sp>
        <p:nvSpPr>
          <p:cNvPr id="61" name="dv-5"/>
          <p:cNvSpPr txBox="1"/>
          <p:nvPr/>
        </p:nvSpPr>
        <p:spPr>
          <a:xfrm>
            <a:off x="6489827" y="2925508"/>
            <a:ext cx="2791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+6.2</a:t>
            </a:r>
          </a:p>
        </p:txBody>
      </p:sp>
      <p:sp>
        <p:nvSpPr>
          <p:cNvPr id="62" name="nm-6"/>
          <p:cNvSpPr txBox="1"/>
          <p:nvPr/>
        </p:nvSpPr>
        <p:spPr>
          <a:xfrm>
            <a:off x="1544193" y="319744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南京</a:t>
            </a:r>
          </a:p>
        </p:txBody>
      </p:sp>
      <p:sp>
        <p:nvSpPr>
          <p:cNvPr id="63" name="rk-6"/>
          <p:cNvSpPr txBox="1"/>
          <p:nvPr/>
        </p:nvSpPr>
        <p:spPr>
          <a:xfrm>
            <a:off x="1165225" y="32288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06</a:t>
            </a:r>
          </a:p>
        </p:txBody>
      </p:sp>
      <p:cxnSp>
        <p:nvCxnSpPr>
          <p:cNvPr id="64" name="st0-6"/>
          <p:cNvCxnSpPr/>
          <p:nvPr/>
        </p:nvCxnSpPr>
        <p:spPr>
          <a:xfrm>
            <a:off x="2159000" y="3302000"/>
            <a:ext cx="3646170" cy="0"/>
          </a:xfrm>
          <a:prstGeom prst="line">
            <a:avLst/>
          </a:prstGeom>
          <a:ln w="190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st-6"/>
          <p:cNvCxnSpPr/>
          <p:nvPr/>
        </p:nvCxnSpPr>
        <p:spPr>
          <a:xfrm>
            <a:off x="5740718" y="3302000"/>
            <a:ext cx="64452" cy="0"/>
          </a:xfrm>
          <a:prstGeom prst="line">
            <a:avLst/>
          </a:prstGeom>
          <a:ln w="31750" cap="rnd">
            <a:solidFill>
              <a:srgbClr val="3985CD">
                <a:alpha val="8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" name="dot-6"/>
          <p:cNvSpPr/>
          <p:nvPr/>
        </p:nvSpPr>
        <p:spPr>
          <a:xfrm>
            <a:off x="5709920" y="3206750"/>
            <a:ext cx="190500" cy="190500"/>
          </a:xfrm>
          <a:prstGeom prst="ellipse">
            <a:avLst/>
          </a:prstGeom>
          <a:solidFill>
            <a:srgbClr val="3985CD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v-6"/>
          <p:cNvSpPr txBox="1"/>
          <p:nvPr/>
        </p:nvSpPr>
        <p:spPr>
          <a:xfrm>
            <a:off x="5957316" y="321313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66</a:t>
            </a:r>
          </a:p>
        </p:txBody>
      </p:sp>
      <p:sp>
        <p:nvSpPr>
          <p:cNvPr id="68" name="dv-6"/>
          <p:cNvSpPr txBox="1"/>
          <p:nvPr/>
        </p:nvSpPr>
        <p:spPr>
          <a:xfrm>
            <a:off x="6213602" y="3230308"/>
            <a:ext cx="2791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+1.2</a:t>
            </a:r>
          </a:p>
        </p:txBody>
      </p:sp>
      <p:sp>
        <p:nvSpPr>
          <p:cNvPr id="69" name="nm-7"/>
          <p:cNvSpPr txBox="1"/>
          <p:nvPr/>
        </p:nvSpPr>
        <p:spPr>
          <a:xfrm>
            <a:off x="1544193" y="350224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10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成都</a:t>
            </a:r>
          </a:p>
        </p:txBody>
      </p:sp>
      <p:sp>
        <p:nvSpPr>
          <p:cNvPr id="70" name="rk-7"/>
          <p:cNvSpPr txBox="1"/>
          <p:nvPr/>
        </p:nvSpPr>
        <p:spPr>
          <a:xfrm>
            <a:off x="1165225" y="35336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07</a:t>
            </a:r>
          </a:p>
        </p:txBody>
      </p:sp>
      <p:cxnSp>
        <p:nvCxnSpPr>
          <p:cNvPr id="71" name="st0-7"/>
          <p:cNvCxnSpPr/>
          <p:nvPr/>
        </p:nvCxnSpPr>
        <p:spPr>
          <a:xfrm>
            <a:off x="2159000" y="3606800"/>
            <a:ext cx="3425190" cy="0"/>
          </a:xfrm>
          <a:prstGeom prst="line">
            <a:avLst/>
          </a:prstGeom>
          <a:ln w="190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st-7"/>
          <p:cNvCxnSpPr/>
          <p:nvPr/>
        </p:nvCxnSpPr>
        <p:spPr>
          <a:xfrm flipH="1">
            <a:off x="5584190" y="3606800"/>
            <a:ext cx="156528" cy="0"/>
          </a:xfrm>
          <a:prstGeom prst="line">
            <a:avLst/>
          </a:prstGeom>
          <a:ln w="31750" cap="rnd">
            <a:solidFill>
              <a:srgbClr val="E0703A">
                <a:alpha val="8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dot-7"/>
          <p:cNvSpPr/>
          <p:nvPr/>
        </p:nvSpPr>
        <p:spPr>
          <a:xfrm>
            <a:off x="5488940" y="3511550"/>
            <a:ext cx="190500" cy="1905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v-7"/>
          <p:cNvSpPr txBox="1"/>
          <p:nvPr/>
        </p:nvSpPr>
        <p:spPr>
          <a:xfrm>
            <a:off x="5213985" y="351793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62</a:t>
            </a:r>
          </a:p>
        </p:txBody>
      </p:sp>
      <p:sp>
        <p:nvSpPr>
          <p:cNvPr id="75" name="dv-7"/>
          <p:cNvSpPr txBox="1"/>
          <p:nvPr/>
        </p:nvSpPr>
        <p:spPr>
          <a:xfrm>
            <a:off x="4896612" y="3535108"/>
            <a:ext cx="2791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-2.8</a:t>
            </a:r>
          </a:p>
        </p:txBody>
      </p:sp>
      <p:sp>
        <p:nvSpPr>
          <p:cNvPr id="76" name="nm-8"/>
          <p:cNvSpPr txBox="1"/>
          <p:nvPr/>
        </p:nvSpPr>
        <p:spPr>
          <a:xfrm>
            <a:off x="1544193" y="380704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10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苏州</a:t>
            </a:r>
          </a:p>
        </p:txBody>
      </p:sp>
      <p:sp>
        <p:nvSpPr>
          <p:cNvPr id="77" name="rk-8"/>
          <p:cNvSpPr txBox="1"/>
          <p:nvPr/>
        </p:nvSpPr>
        <p:spPr>
          <a:xfrm>
            <a:off x="1165225" y="38384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08</a:t>
            </a:r>
          </a:p>
        </p:txBody>
      </p:sp>
      <p:cxnSp>
        <p:nvCxnSpPr>
          <p:cNvPr id="78" name="st0-8"/>
          <p:cNvCxnSpPr/>
          <p:nvPr/>
        </p:nvCxnSpPr>
        <p:spPr>
          <a:xfrm>
            <a:off x="2159000" y="3911600"/>
            <a:ext cx="3314700" cy="0"/>
          </a:xfrm>
          <a:prstGeom prst="line">
            <a:avLst/>
          </a:prstGeom>
          <a:ln w="190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st-8"/>
          <p:cNvCxnSpPr/>
          <p:nvPr/>
        </p:nvCxnSpPr>
        <p:spPr>
          <a:xfrm flipH="1">
            <a:off x="5473700" y="3911600"/>
            <a:ext cx="267018" cy="0"/>
          </a:xfrm>
          <a:prstGeom prst="line">
            <a:avLst/>
          </a:prstGeom>
          <a:ln w="31750" cap="rnd">
            <a:solidFill>
              <a:srgbClr val="E0703A">
                <a:alpha val="8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0" name="dot-8"/>
          <p:cNvSpPr/>
          <p:nvPr/>
        </p:nvSpPr>
        <p:spPr>
          <a:xfrm>
            <a:off x="5378450" y="3816350"/>
            <a:ext cx="190500" cy="1905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v-8"/>
          <p:cNvSpPr txBox="1"/>
          <p:nvPr/>
        </p:nvSpPr>
        <p:spPr>
          <a:xfrm>
            <a:off x="5103495" y="382273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60</a:t>
            </a:r>
          </a:p>
        </p:txBody>
      </p:sp>
      <p:sp>
        <p:nvSpPr>
          <p:cNvPr id="82" name="dv-8"/>
          <p:cNvSpPr txBox="1"/>
          <p:nvPr/>
        </p:nvSpPr>
        <p:spPr>
          <a:xfrm>
            <a:off x="4786122" y="3839908"/>
            <a:ext cx="2791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-4.8</a:t>
            </a:r>
          </a:p>
        </p:txBody>
      </p:sp>
      <p:sp>
        <p:nvSpPr>
          <p:cNvPr id="83" name="nm-9"/>
          <p:cNvSpPr txBox="1"/>
          <p:nvPr/>
        </p:nvSpPr>
        <p:spPr>
          <a:xfrm>
            <a:off x="1544193" y="411184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10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武汉</a:t>
            </a:r>
          </a:p>
        </p:txBody>
      </p:sp>
      <p:sp>
        <p:nvSpPr>
          <p:cNvPr id="84" name="rk-9"/>
          <p:cNvSpPr txBox="1"/>
          <p:nvPr/>
        </p:nvSpPr>
        <p:spPr>
          <a:xfrm>
            <a:off x="1165225" y="41432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09</a:t>
            </a:r>
          </a:p>
        </p:txBody>
      </p:sp>
      <p:cxnSp>
        <p:nvCxnSpPr>
          <p:cNvPr id="85" name="st0-9"/>
          <p:cNvCxnSpPr/>
          <p:nvPr/>
        </p:nvCxnSpPr>
        <p:spPr>
          <a:xfrm>
            <a:off x="2159000" y="4216400"/>
            <a:ext cx="3038475" cy="0"/>
          </a:xfrm>
          <a:prstGeom prst="line">
            <a:avLst/>
          </a:prstGeom>
          <a:ln w="190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st-9"/>
          <p:cNvCxnSpPr/>
          <p:nvPr/>
        </p:nvCxnSpPr>
        <p:spPr>
          <a:xfrm flipH="1">
            <a:off x="5197475" y="4216400"/>
            <a:ext cx="543243" cy="0"/>
          </a:xfrm>
          <a:prstGeom prst="line">
            <a:avLst/>
          </a:prstGeom>
          <a:ln w="31750" cap="rnd">
            <a:solidFill>
              <a:srgbClr val="E0703A">
                <a:alpha val="8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dot-9"/>
          <p:cNvSpPr/>
          <p:nvPr/>
        </p:nvSpPr>
        <p:spPr>
          <a:xfrm>
            <a:off x="5102225" y="4121150"/>
            <a:ext cx="190500" cy="1905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v-9"/>
          <p:cNvSpPr txBox="1"/>
          <p:nvPr/>
        </p:nvSpPr>
        <p:spPr>
          <a:xfrm>
            <a:off x="4827270" y="412753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55</a:t>
            </a:r>
          </a:p>
        </p:txBody>
      </p:sp>
      <p:sp>
        <p:nvSpPr>
          <p:cNvPr id="89" name="dv-9"/>
          <p:cNvSpPr txBox="1"/>
          <p:nvPr/>
        </p:nvSpPr>
        <p:spPr>
          <a:xfrm>
            <a:off x="4509897" y="4144708"/>
            <a:ext cx="2791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-9.8</a:t>
            </a:r>
          </a:p>
        </p:txBody>
      </p:sp>
      <p:sp>
        <p:nvSpPr>
          <p:cNvPr id="90" name="nm-10"/>
          <p:cNvSpPr txBox="1"/>
          <p:nvPr/>
        </p:nvSpPr>
        <p:spPr>
          <a:xfrm>
            <a:off x="1544193" y="441664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10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西安</a:t>
            </a:r>
          </a:p>
        </p:txBody>
      </p:sp>
      <p:sp>
        <p:nvSpPr>
          <p:cNvPr id="91" name="rk-10"/>
          <p:cNvSpPr txBox="1"/>
          <p:nvPr/>
        </p:nvSpPr>
        <p:spPr>
          <a:xfrm>
            <a:off x="1165225" y="44480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10</a:t>
            </a:r>
          </a:p>
        </p:txBody>
      </p:sp>
      <p:cxnSp>
        <p:nvCxnSpPr>
          <p:cNvPr id="92" name="st0-10"/>
          <p:cNvCxnSpPr/>
          <p:nvPr/>
        </p:nvCxnSpPr>
        <p:spPr>
          <a:xfrm>
            <a:off x="2159000" y="4521200"/>
            <a:ext cx="2817495" cy="0"/>
          </a:xfrm>
          <a:prstGeom prst="line">
            <a:avLst/>
          </a:prstGeom>
          <a:ln w="190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st-10"/>
          <p:cNvCxnSpPr/>
          <p:nvPr/>
        </p:nvCxnSpPr>
        <p:spPr>
          <a:xfrm flipH="1">
            <a:off x="4976495" y="4521200"/>
            <a:ext cx="764223" cy="0"/>
          </a:xfrm>
          <a:prstGeom prst="line">
            <a:avLst/>
          </a:prstGeom>
          <a:ln w="31750" cap="rnd">
            <a:solidFill>
              <a:srgbClr val="E0703A">
                <a:alpha val="8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4" name="dot-10"/>
          <p:cNvSpPr/>
          <p:nvPr/>
        </p:nvSpPr>
        <p:spPr>
          <a:xfrm>
            <a:off x="4881245" y="4425950"/>
            <a:ext cx="190500" cy="1905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v-10"/>
          <p:cNvSpPr txBox="1"/>
          <p:nvPr/>
        </p:nvSpPr>
        <p:spPr>
          <a:xfrm>
            <a:off x="4606290" y="443233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51</a:t>
            </a:r>
          </a:p>
        </p:txBody>
      </p:sp>
      <p:sp>
        <p:nvSpPr>
          <p:cNvPr id="96" name="dv-10"/>
          <p:cNvSpPr txBox="1"/>
          <p:nvPr/>
        </p:nvSpPr>
        <p:spPr>
          <a:xfrm>
            <a:off x="4239133" y="4449508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-13.8</a:t>
            </a:r>
          </a:p>
        </p:txBody>
      </p:sp>
      <p:sp>
        <p:nvSpPr>
          <p:cNvPr id="97" name="nm-11"/>
          <p:cNvSpPr txBox="1"/>
          <p:nvPr/>
        </p:nvSpPr>
        <p:spPr>
          <a:xfrm>
            <a:off x="1544193" y="472144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10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重庆</a:t>
            </a:r>
          </a:p>
        </p:txBody>
      </p:sp>
      <p:sp>
        <p:nvSpPr>
          <p:cNvPr id="98" name="rk-11"/>
          <p:cNvSpPr txBox="1"/>
          <p:nvPr/>
        </p:nvSpPr>
        <p:spPr>
          <a:xfrm>
            <a:off x="1165225" y="47528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11</a:t>
            </a:r>
          </a:p>
        </p:txBody>
      </p:sp>
      <p:cxnSp>
        <p:nvCxnSpPr>
          <p:cNvPr id="99" name="st0-11"/>
          <p:cNvCxnSpPr/>
          <p:nvPr/>
        </p:nvCxnSpPr>
        <p:spPr>
          <a:xfrm>
            <a:off x="2159000" y="4826000"/>
            <a:ext cx="2651760" cy="0"/>
          </a:xfrm>
          <a:prstGeom prst="line">
            <a:avLst/>
          </a:prstGeom>
          <a:ln w="190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st-11"/>
          <p:cNvCxnSpPr/>
          <p:nvPr/>
        </p:nvCxnSpPr>
        <p:spPr>
          <a:xfrm flipH="1">
            <a:off x="4810760" y="4826000"/>
            <a:ext cx="929958" cy="0"/>
          </a:xfrm>
          <a:prstGeom prst="line">
            <a:avLst/>
          </a:prstGeom>
          <a:ln w="31750" cap="rnd">
            <a:solidFill>
              <a:srgbClr val="E0703A">
                <a:alpha val="8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1" name="dot-11"/>
          <p:cNvSpPr/>
          <p:nvPr/>
        </p:nvSpPr>
        <p:spPr>
          <a:xfrm>
            <a:off x="4715510" y="4730750"/>
            <a:ext cx="190500" cy="1905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2" name="v-11"/>
          <p:cNvSpPr txBox="1"/>
          <p:nvPr/>
        </p:nvSpPr>
        <p:spPr>
          <a:xfrm>
            <a:off x="4440555" y="473713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48</a:t>
            </a:r>
          </a:p>
        </p:txBody>
      </p:sp>
      <p:sp>
        <p:nvSpPr>
          <p:cNvPr id="103" name="dv-11"/>
          <p:cNvSpPr txBox="1"/>
          <p:nvPr/>
        </p:nvSpPr>
        <p:spPr>
          <a:xfrm>
            <a:off x="4073398" y="4754308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-16.8</a:t>
            </a:r>
          </a:p>
        </p:txBody>
      </p:sp>
      <p:sp>
        <p:nvSpPr>
          <p:cNvPr id="104" name="nm-12"/>
          <p:cNvSpPr txBox="1"/>
          <p:nvPr/>
        </p:nvSpPr>
        <p:spPr>
          <a:xfrm>
            <a:off x="1544193" y="502624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10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长沙</a:t>
            </a:r>
          </a:p>
        </p:txBody>
      </p:sp>
      <p:sp>
        <p:nvSpPr>
          <p:cNvPr id="105" name="rk-12"/>
          <p:cNvSpPr txBox="1"/>
          <p:nvPr/>
        </p:nvSpPr>
        <p:spPr>
          <a:xfrm>
            <a:off x="1165225" y="50576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12</a:t>
            </a:r>
          </a:p>
        </p:txBody>
      </p:sp>
      <p:cxnSp>
        <p:nvCxnSpPr>
          <p:cNvPr id="106" name="st0-12"/>
          <p:cNvCxnSpPr/>
          <p:nvPr/>
        </p:nvCxnSpPr>
        <p:spPr>
          <a:xfrm>
            <a:off x="2159000" y="5130800"/>
            <a:ext cx="2430780" cy="0"/>
          </a:xfrm>
          <a:prstGeom prst="line">
            <a:avLst/>
          </a:prstGeom>
          <a:ln w="190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st-12"/>
          <p:cNvCxnSpPr/>
          <p:nvPr/>
        </p:nvCxnSpPr>
        <p:spPr>
          <a:xfrm flipH="1">
            <a:off x="4589780" y="5130800"/>
            <a:ext cx="1150938" cy="0"/>
          </a:xfrm>
          <a:prstGeom prst="line">
            <a:avLst/>
          </a:prstGeom>
          <a:ln w="31750" cap="rnd">
            <a:solidFill>
              <a:srgbClr val="E0703A">
                <a:alpha val="8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8" name="dot-12"/>
          <p:cNvSpPr/>
          <p:nvPr/>
        </p:nvSpPr>
        <p:spPr>
          <a:xfrm>
            <a:off x="4494530" y="5035550"/>
            <a:ext cx="190500" cy="1905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v-12"/>
          <p:cNvSpPr txBox="1"/>
          <p:nvPr/>
        </p:nvSpPr>
        <p:spPr>
          <a:xfrm>
            <a:off x="4219575" y="504193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44</a:t>
            </a:r>
          </a:p>
        </p:txBody>
      </p:sp>
      <p:sp>
        <p:nvSpPr>
          <p:cNvPr id="110" name="dv-12"/>
          <p:cNvSpPr txBox="1"/>
          <p:nvPr/>
        </p:nvSpPr>
        <p:spPr>
          <a:xfrm>
            <a:off x="3852418" y="5059108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-20.8</a:t>
            </a:r>
          </a:p>
        </p:txBody>
      </p:sp>
      <p:sp>
        <p:nvSpPr>
          <p:cNvPr id="111" name="kpi"/>
          <p:cNvSpPr/>
          <p:nvPr/>
        </p:nvSpPr>
        <p:spPr>
          <a:xfrm>
            <a:off x="8382000" y="1587500"/>
            <a:ext cx="2857500" cy="1270000"/>
          </a:xfrm>
          <a:custGeom>
            <a:avLst/>
            <a:gdLst/>
            <a:ahLst/>
            <a:cxnLst/>
            <a:rect l="0" t="0" r="r" b="b"/>
            <a:pathLst>
              <a:path w="2857500" h="1270000">
                <a:moveTo>
                  <a:pt x="139700" y="0"/>
                </a:moveTo>
                <a:lnTo>
                  <a:pt x="2717800" y="0"/>
                </a:lnTo>
                <a:cubicBezTo>
                  <a:pt x="2794953" y="0"/>
                  <a:pt x="2857500" y="62548"/>
                  <a:pt x="2857500" y="139700"/>
                </a:cubicBezTo>
                <a:lnTo>
                  <a:pt x="2857500" y="1130300"/>
                </a:lnTo>
                <a:cubicBezTo>
                  <a:pt x="2857500" y="1207452"/>
                  <a:pt x="2794953" y="1270000"/>
                  <a:pt x="2717800" y="1270000"/>
                </a:cubicBezTo>
                <a:lnTo>
                  <a:pt x="139700" y="1270000"/>
                </a:lnTo>
                <a:cubicBezTo>
                  <a:pt x="62547" y="1270000"/>
                  <a:pt x="0" y="1207452"/>
                  <a:pt x="0" y="11303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2" name="kpi-h"/>
          <p:cNvSpPr txBox="1"/>
          <p:nvPr/>
        </p:nvSpPr>
        <p:spPr>
          <a:xfrm>
            <a:off x="8583422" y="1743297"/>
            <a:ext cx="1019810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高于均值的城市</a:t>
            </a:r>
          </a:p>
        </p:txBody>
      </p:sp>
      <p:sp>
        <p:nvSpPr>
          <p:cNvPr id="113" name="kpi-v"/>
          <p:cNvSpPr txBox="1"/>
          <p:nvPr/>
        </p:nvSpPr>
        <p:spPr>
          <a:xfrm>
            <a:off x="8549132" y="1923796"/>
            <a:ext cx="593344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2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6</a:t>
            </a:r>
          </a:p>
        </p:txBody>
      </p:sp>
      <p:sp>
        <p:nvSpPr>
          <p:cNvPr id="114" name="kpi-u"/>
          <p:cNvSpPr txBox="1"/>
          <p:nvPr/>
        </p:nvSpPr>
        <p:spPr>
          <a:xfrm>
            <a:off x="8922512" y="2237486"/>
            <a:ext cx="71628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/ 12 个</a:t>
            </a:r>
          </a:p>
        </p:txBody>
      </p:sp>
      <p:sp>
        <p:nvSpPr>
          <p:cNvPr id="115" name="kpi-p"/>
          <p:cNvSpPr txBox="1"/>
          <p:nvPr/>
        </p:nvSpPr>
        <p:spPr>
          <a:xfrm>
            <a:off x="8585327" y="2550303"/>
            <a:ext cx="1779588" cy="18335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19" b="0" spc="2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头尾差距 42 万元 / 人，约 2 倍</a:t>
            </a:r>
          </a:p>
        </p:txBody>
      </p:sp>
      <p:sp>
        <p:nvSpPr>
          <p:cNvPr id="116" name="nt-1"/>
          <p:cNvSpPr/>
          <p:nvPr/>
        </p:nvSpPr>
        <p:spPr>
          <a:xfrm>
            <a:off x="8382000" y="3048000"/>
            <a:ext cx="2857500" cy="952500"/>
          </a:xfrm>
          <a:custGeom>
            <a:avLst/>
            <a:gdLst/>
            <a:ahLst/>
            <a:cxnLst/>
            <a:rect l="0" t="0" r="r" b="b"/>
            <a:pathLst>
              <a:path w="2857500" h="952500">
                <a:moveTo>
                  <a:pt x="127000" y="0"/>
                </a:moveTo>
                <a:lnTo>
                  <a:pt x="2730500" y="0"/>
                </a:lnTo>
                <a:cubicBezTo>
                  <a:pt x="2800667" y="0"/>
                  <a:pt x="2857500" y="56832"/>
                  <a:pt x="2857500" y="127000"/>
                </a:cubicBezTo>
                <a:lnTo>
                  <a:pt x="2857500" y="825500"/>
                </a:lnTo>
                <a:cubicBezTo>
                  <a:pt x="2857500" y="895667"/>
                  <a:pt x="2800667" y="952500"/>
                  <a:pt x="2730500" y="952500"/>
                </a:cubicBezTo>
                <a:lnTo>
                  <a:pt x="127000" y="952500"/>
                </a:lnTo>
                <a:cubicBezTo>
                  <a:pt x="56833" y="952500"/>
                  <a:pt x="0" y="895667"/>
                  <a:pt x="0" y="8255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7" name="ntb-1"/>
          <p:cNvSpPr/>
          <p:nvPr/>
        </p:nvSpPr>
        <p:spPr>
          <a:xfrm>
            <a:off x="8382000" y="3048000"/>
            <a:ext cx="38100" cy="952500"/>
          </a:xfrm>
          <a:custGeom>
            <a:avLst/>
            <a:gdLst/>
            <a:ahLst/>
            <a:cxnLst/>
            <a:rect l="0" t="0" r="r" b="b"/>
            <a:pathLst>
              <a:path w="38100" h="9525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933450"/>
                </a:lnTo>
                <a:cubicBezTo>
                  <a:pt x="38100" y="943991"/>
                  <a:pt x="29591" y="952500"/>
                  <a:pt x="19050" y="952500"/>
                </a:cubicBezTo>
                <a:lnTo>
                  <a:pt x="19050" y="952500"/>
                </a:lnTo>
                <a:cubicBezTo>
                  <a:pt x="8509" y="952500"/>
                  <a:pt x="0" y="943991"/>
                  <a:pt x="0" y="9334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8" name="nth-1"/>
          <p:cNvSpPr txBox="1"/>
          <p:nvPr/>
        </p:nvSpPr>
        <p:spPr>
          <a:xfrm>
            <a:off x="8569198" y="3175413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领先经验</a:t>
            </a:r>
          </a:p>
        </p:txBody>
      </p:sp>
      <p:sp>
        <p:nvSpPr>
          <p:cNvPr id="119" name="ntp1-1"/>
          <p:cNvSpPr txBox="1"/>
          <p:nvPr/>
        </p:nvSpPr>
        <p:spPr>
          <a:xfrm>
            <a:off x="8571865" y="3469561"/>
            <a:ext cx="17954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深圳、上海推行「店长合伙人」，</a:t>
            </a:r>
          </a:p>
        </p:txBody>
      </p:sp>
      <p:sp>
        <p:nvSpPr>
          <p:cNvPr id="120" name="ntp2-1"/>
          <p:cNvSpPr txBox="1"/>
          <p:nvPr/>
        </p:nvSpPr>
        <p:spPr>
          <a:xfrm>
            <a:off x="8571865" y="3672761"/>
            <a:ext cx="148685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人效领先均值 17 个点以上</a:t>
            </a:r>
          </a:p>
        </p:txBody>
      </p:sp>
      <p:sp>
        <p:nvSpPr>
          <p:cNvPr id="121" name="nt-2"/>
          <p:cNvSpPr/>
          <p:nvPr/>
        </p:nvSpPr>
        <p:spPr>
          <a:xfrm>
            <a:off x="8382000" y="4127500"/>
            <a:ext cx="2857500" cy="952500"/>
          </a:xfrm>
          <a:custGeom>
            <a:avLst/>
            <a:gdLst/>
            <a:ahLst/>
            <a:cxnLst/>
            <a:rect l="0" t="0" r="r" b="b"/>
            <a:pathLst>
              <a:path w="2857500" h="952500">
                <a:moveTo>
                  <a:pt x="127000" y="0"/>
                </a:moveTo>
                <a:lnTo>
                  <a:pt x="2730500" y="0"/>
                </a:lnTo>
                <a:cubicBezTo>
                  <a:pt x="2800667" y="0"/>
                  <a:pt x="2857500" y="56833"/>
                  <a:pt x="2857500" y="127000"/>
                </a:cubicBezTo>
                <a:lnTo>
                  <a:pt x="2857500" y="825500"/>
                </a:lnTo>
                <a:cubicBezTo>
                  <a:pt x="2857500" y="895667"/>
                  <a:pt x="2800667" y="952500"/>
                  <a:pt x="2730500" y="952500"/>
                </a:cubicBezTo>
                <a:lnTo>
                  <a:pt x="127000" y="952500"/>
                </a:lnTo>
                <a:cubicBezTo>
                  <a:pt x="56833" y="952500"/>
                  <a:pt x="0" y="895667"/>
                  <a:pt x="0" y="8255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2" name="ntb-2"/>
          <p:cNvSpPr/>
          <p:nvPr/>
        </p:nvSpPr>
        <p:spPr>
          <a:xfrm>
            <a:off x="8382000" y="4127500"/>
            <a:ext cx="38100" cy="952500"/>
          </a:xfrm>
          <a:custGeom>
            <a:avLst/>
            <a:gdLst/>
            <a:ahLst/>
            <a:cxnLst/>
            <a:rect l="0" t="0" r="r" b="b"/>
            <a:pathLst>
              <a:path w="38100" h="9525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933450"/>
                </a:lnTo>
                <a:cubicBezTo>
                  <a:pt x="38100" y="943991"/>
                  <a:pt x="29591" y="952500"/>
                  <a:pt x="19050" y="952500"/>
                </a:cubicBezTo>
                <a:lnTo>
                  <a:pt x="19050" y="952500"/>
                </a:lnTo>
                <a:cubicBezTo>
                  <a:pt x="8509" y="952500"/>
                  <a:pt x="0" y="943991"/>
                  <a:pt x="0" y="9334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3" name="nth-2"/>
          <p:cNvSpPr txBox="1"/>
          <p:nvPr/>
        </p:nvSpPr>
        <p:spPr>
          <a:xfrm>
            <a:off x="8569198" y="4254913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落后原因</a:t>
            </a:r>
          </a:p>
        </p:txBody>
      </p:sp>
      <p:sp>
        <p:nvSpPr>
          <p:cNvPr id="124" name="ntp1-2"/>
          <p:cNvSpPr txBox="1"/>
          <p:nvPr/>
        </p:nvSpPr>
        <p:spPr>
          <a:xfrm>
            <a:off x="8571865" y="4549061"/>
            <a:ext cx="145637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西南与华中门店面积偏大，</a:t>
            </a:r>
          </a:p>
        </p:txBody>
      </p:sp>
      <p:sp>
        <p:nvSpPr>
          <p:cNvPr id="125" name="ntp2-2"/>
          <p:cNvSpPr txBox="1"/>
          <p:nvPr/>
        </p:nvSpPr>
        <p:spPr>
          <a:xfrm>
            <a:off x="8571865" y="4752261"/>
            <a:ext cx="12303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坪效与人效同时被摊薄</a:t>
            </a:r>
          </a:p>
        </p:txBody>
      </p:sp>
      <p:sp>
        <p:nvSpPr>
          <p:cNvPr id="126" name="sum"/>
          <p:cNvSpPr/>
          <p:nvPr/>
        </p:nvSpPr>
        <p:spPr>
          <a:xfrm>
            <a:off x="952500" y="5905500"/>
            <a:ext cx="10287000" cy="419100"/>
          </a:xfrm>
          <a:custGeom>
            <a:avLst/>
            <a:gdLst/>
            <a:ahLst/>
            <a:cxnLst/>
            <a:rect l="0" t="0" r="r" b="b"/>
            <a:pathLst>
              <a:path w="10287000" h="4191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30200"/>
                </a:lnTo>
                <a:cubicBezTo>
                  <a:pt x="10287000" y="379286"/>
                  <a:pt x="10247186" y="419100"/>
                  <a:pt x="10198100" y="419100"/>
                </a:cubicBezTo>
                <a:lnTo>
                  <a:pt x="88900" y="419100"/>
                </a:lnTo>
                <a:cubicBezTo>
                  <a:pt x="39815" y="419100"/>
                  <a:pt x="0" y="379286"/>
                  <a:pt x="0" y="3302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7" name="sum-bar"/>
          <p:cNvSpPr/>
          <p:nvPr/>
        </p:nvSpPr>
        <p:spPr>
          <a:xfrm>
            <a:off x="952500" y="5905500"/>
            <a:ext cx="31750" cy="4191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8" name="sum-h"/>
          <p:cNvSpPr txBox="1"/>
          <p:nvPr/>
        </p:nvSpPr>
        <p:spPr>
          <a:xfrm>
            <a:off x="1142746" y="60388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改进动作</a:t>
            </a:r>
          </a:p>
        </p:txBody>
      </p:sp>
      <p:sp>
        <p:nvSpPr>
          <p:cNvPr id="129" name="sum-p"/>
          <p:cNvSpPr txBox="1"/>
          <p:nvPr/>
        </p:nvSpPr>
        <p:spPr>
          <a:xfrm>
            <a:off x="1891665" y="6034961"/>
            <a:ext cx="438499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后四名城市明年一季度试点合伙人机制，并把新店面积标准从 400 平压到 280 平。</a:t>
            </a:r>
          </a:p>
        </p:txBody>
      </p:sp>
      <p:cxnSp>
        <p:nvCxnSpPr>
          <p:cNvPr id="130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foot-l"/>
          <p:cNvSpPr txBox="1"/>
          <p:nvPr/>
        </p:nvSpPr>
        <p:spPr>
          <a:xfrm>
            <a:off x="573532" y="6532308"/>
            <a:ext cx="112483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棒棒糖图 · 12 座城市</a:t>
            </a:r>
          </a:p>
        </p:txBody>
      </p:sp>
      <p:sp>
        <p:nvSpPr>
          <p:cNvPr id="132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3540252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用户画像：性别 × 年龄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44589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BUTTERFLY CHART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094599" y="673132"/>
            <a:ext cx="35261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左右两翼分别是男女用户在各年龄段的占比，形状差异就是运营重点</a:t>
            </a:r>
          </a:p>
        </p:txBody>
      </p:sp>
      <p:sp>
        <p:nvSpPr>
          <p:cNvPr id="10" name="h-m"/>
          <p:cNvSpPr txBox="1"/>
          <p:nvPr/>
        </p:nvSpPr>
        <p:spPr>
          <a:xfrm>
            <a:off x="5179695" y="1517682"/>
            <a:ext cx="4847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100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男性 ◂</a:t>
            </a:r>
          </a:p>
        </p:txBody>
      </p:sp>
      <p:sp>
        <p:nvSpPr>
          <p:cNvPr id="11" name="h-f"/>
          <p:cNvSpPr txBox="1"/>
          <p:nvPr/>
        </p:nvSpPr>
        <p:spPr>
          <a:xfrm>
            <a:off x="6527546" y="1517682"/>
            <a:ext cx="4847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▸ 女性</a:t>
            </a:r>
          </a:p>
        </p:txBody>
      </p:sp>
      <p:sp>
        <p:nvSpPr>
          <p:cNvPr id="12" name="h-a"/>
          <p:cNvSpPr txBox="1"/>
          <p:nvPr/>
        </p:nvSpPr>
        <p:spPr>
          <a:xfrm>
            <a:off x="5945188" y="1533366"/>
            <a:ext cx="3016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年龄</a:t>
            </a:r>
          </a:p>
        </p:txBody>
      </p:sp>
      <p:cxnSp>
        <p:nvCxnSpPr>
          <p:cNvPr id="13" name="g--1-10"/>
          <p:cNvCxnSpPr/>
          <p:nvPr/>
        </p:nvCxnSpPr>
        <p:spPr>
          <a:xfrm>
            <a:off x="4898571" y="1790700"/>
            <a:ext cx="0" cy="35306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gt--1-10"/>
          <p:cNvSpPr txBox="1"/>
          <p:nvPr/>
        </p:nvSpPr>
        <p:spPr>
          <a:xfrm>
            <a:off x="4783890" y="53893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10%</a:t>
            </a:r>
          </a:p>
        </p:txBody>
      </p:sp>
      <p:cxnSp>
        <p:nvCxnSpPr>
          <p:cNvPr id="15" name="g-1-10"/>
          <p:cNvCxnSpPr/>
          <p:nvPr/>
        </p:nvCxnSpPr>
        <p:spPr>
          <a:xfrm>
            <a:off x="7293429" y="1790700"/>
            <a:ext cx="0" cy="35306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gt-1-10"/>
          <p:cNvSpPr txBox="1"/>
          <p:nvPr/>
        </p:nvSpPr>
        <p:spPr>
          <a:xfrm>
            <a:off x="7178748" y="53893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10%</a:t>
            </a:r>
          </a:p>
        </p:txBody>
      </p:sp>
      <p:cxnSp>
        <p:nvCxnSpPr>
          <p:cNvPr id="17" name="g--1-20"/>
          <p:cNvCxnSpPr/>
          <p:nvPr/>
        </p:nvCxnSpPr>
        <p:spPr>
          <a:xfrm>
            <a:off x="4082143" y="1790700"/>
            <a:ext cx="0" cy="35306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gt--1-20"/>
          <p:cNvSpPr txBox="1"/>
          <p:nvPr/>
        </p:nvSpPr>
        <p:spPr>
          <a:xfrm>
            <a:off x="3967462" y="53893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20%</a:t>
            </a:r>
          </a:p>
        </p:txBody>
      </p:sp>
      <p:cxnSp>
        <p:nvCxnSpPr>
          <p:cNvPr id="19" name="g-1-20"/>
          <p:cNvCxnSpPr/>
          <p:nvPr/>
        </p:nvCxnSpPr>
        <p:spPr>
          <a:xfrm>
            <a:off x="8109857" y="1790700"/>
            <a:ext cx="0" cy="35306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gt-1-20"/>
          <p:cNvSpPr txBox="1"/>
          <p:nvPr/>
        </p:nvSpPr>
        <p:spPr>
          <a:xfrm>
            <a:off x="7995176" y="53893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20%</a:t>
            </a:r>
          </a:p>
        </p:txBody>
      </p:sp>
      <p:sp>
        <p:nvSpPr>
          <p:cNvPr id="21" name="age-1"/>
          <p:cNvSpPr/>
          <p:nvPr/>
        </p:nvSpPr>
        <p:spPr>
          <a:xfrm>
            <a:off x="5753100" y="1892300"/>
            <a:ext cx="685800" cy="330200"/>
          </a:xfrm>
          <a:custGeom>
            <a:avLst/>
            <a:gdLst/>
            <a:ahLst/>
            <a:cxnLst/>
            <a:rect l="0" t="0" r="r" b="b"/>
            <a:pathLst>
              <a:path w="685800" h="330200">
                <a:moveTo>
                  <a:pt x="165100" y="0"/>
                </a:moveTo>
                <a:lnTo>
                  <a:pt x="520700" y="0"/>
                </a:lnTo>
                <a:cubicBezTo>
                  <a:pt x="611886" y="0"/>
                  <a:pt x="685800" y="73914"/>
                  <a:pt x="685800" y="165100"/>
                </a:cubicBezTo>
                <a:lnTo>
                  <a:pt x="685800" y="165100"/>
                </a:lnTo>
                <a:cubicBezTo>
                  <a:pt x="685800" y="256286"/>
                  <a:pt x="611886" y="330200"/>
                  <a:pt x="520700" y="330200"/>
                </a:cubicBezTo>
                <a:lnTo>
                  <a:pt x="165100" y="330200"/>
                </a:lnTo>
                <a:cubicBezTo>
                  <a:pt x="73914" y="330200"/>
                  <a:pt x="0" y="256286"/>
                  <a:pt x="0" y="1651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aget-1"/>
          <p:cNvSpPr txBox="1"/>
          <p:nvPr/>
        </p:nvSpPr>
        <p:spPr>
          <a:xfrm>
            <a:off x="5908040" y="1970024"/>
            <a:ext cx="3759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0B2545"/>
                </a:solidFill>
                <a:latin typeface="Arial"/>
                <a:ea typeface="Arial"/>
                <a:cs typeface="Arial"/>
              </a:rPr>
              <a:t>18–24</a:t>
            </a:r>
          </a:p>
        </p:txBody>
      </p:sp>
      <p:sp>
        <p:nvSpPr>
          <p:cNvPr id="23" name="m-1"/>
          <p:cNvSpPr/>
          <p:nvPr/>
        </p:nvSpPr>
        <p:spPr>
          <a:xfrm>
            <a:off x="4684458" y="1892300"/>
            <a:ext cx="979741" cy="330200"/>
          </a:xfrm>
          <a:custGeom>
            <a:avLst/>
            <a:gdLst/>
            <a:ahLst/>
            <a:cxnLst/>
            <a:rect l="0" t="0" r="r" b="b"/>
            <a:pathLst>
              <a:path w="979741" h="330200">
                <a:moveTo>
                  <a:pt x="63500" y="0"/>
                </a:moveTo>
                <a:lnTo>
                  <a:pt x="916241" y="0"/>
                </a:lnTo>
                <a:cubicBezTo>
                  <a:pt x="951293" y="0"/>
                  <a:pt x="979741" y="28448"/>
                  <a:pt x="979741" y="63500"/>
                </a:cubicBezTo>
                <a:lnTo>
                  <a:pt x="979741" y="266700"/>
                </a:lnTo>
                <a:cubicBezTo>
                  <a:pt x="979741" y="301752"/>
                  <a:pt x="951293" y="330200"/>
                  <a:pt x="916241" y="330200"/>
                </a:cubicBezTo>
                <a:lnTo>
                  <a:pt x="63500" y="330200"/>
                </a:lnTo>
                <a:cubicBezTo>
                  <a:pt x="28448" y="330200"/>
                  <a:pt x="0" y="301752"/>
                  <a:pt x="0" y="2667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134C9C"/>
              </a:gs>
              <a:gs pos="100000">
                <a:srgbClr val="668BB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f-1"/>
          <p:cNvSpPr/>
          <p:nvPr/>
        </p:nvSpPr>
        <p:spPr>
          <a:xfrm>
            <a:off x="6527800" y="1892300"/>
            <a:ext cx="1306259" cy="330200"/>
          </a:xfrm>
          <a:custGeom>
            <a:avLst/>
            <a:gdLst/>
            <a:ahLst/>
            <a:cxnLst/>
            <a:rect l="0" t="0" r="r" b="b"/>
            <a:pathLst>
              <a:path w="1306259" h="330200">
                <a:moveTo>
                  <a:pt x="63500" y="0"/>
                </a:moveTo>
                <a:lnTo>
                  <a:pt x="1242759" y="0"/>
                </a:lnTo>
                <a:cubicBezTo>
                  <a:pt x="1277874" y="0"/>
                  <a:pt x="1306259" y="28448"/>
                  <a:pt x="1306259" y="63500"/>
                </a:cubicBezTo>
                <a:lnTo>
                  <a:pt x="1306259" y="266700"/>
                </a:lnTo>
                <a:cubicBezTo>
                  <a:pt x="1306259" y="301752"/>
                  <a:pt x="1277874" y="330200"/>
                  <a:pt x="1242759" y="330200"/>
                </a:cubicBezTo>
                <a:lnTo>
                  <a:pt x="63500" y="330200"/>
                </a:lnTo>
                <a:cubicBezTo>
                  <a:pt x="28448" y="330200"/>
                  <a:pt x="0" y="301752"/>
                  <a:pt x="0" y="2667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EBA27F"/>
              </a:gs>
              <a:gs pos="100000">
                <a:srgbClr val="E0703A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mv-1"/>
          <p:cNvSpPr txBox="1"/>
          <p:nvPr/>
        </p:nvSpPr>
        <p:spPr>
          <a:xfrm>
            <a:off x="4314408" y="1960690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12%</a:t>
            </a:r>
          </a:p>
        </p:txBody>
      </p:sp>
      <p:sp>
        <p:nvSpPr>
          <p:cNvPr id="26" name="fv-1"/>
          <p:cNvSpPr txBox="1"/>
          <p:nvPr/>
        </p:nvSpPr>
        <p:spPr>
          <a:xfrm>
            <a:off x="7909270" y="1960690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16%</a:t>
            </a:r>
          </a:p>
        </p:txBody>
      </p:sp>
      <p:sp>
        <p:nvSpPr>
          <p:cNvPr id="27" name="age-2"/>
          <p:cNvSpPr/>
          <p:nvPr/>
        </p:nvSpPr>
        <p:spPr>
          <a:xfrm>
            <a:off x="5753100" y="2400300"/>
            <a:ext cx="685800" cy="330200"/>
          </a:xfrm>
          <a:custGeom>
            <a:avLst/>
            <a:gdLst/>
            <a:ahLst/>
            <a:cxnLst/>
            <a:rect l="0" t="0" r="r" b="b"/>
            <a:pathLst>
              <a:path w="685800" h="330200">
                <a:moveTo>
                  <a:pt x="165100" y="0"/>
                </a:moveTo>
                <a:lnTo>
                  <a:pt x="520700" y="0"/>
                </a:lnTo>
                <a:cubicBezTo>
                  <a:pt x="611886" y="0"/>
                  <a:pt x="685800" y="73914"/>
                  <a:pt x="685800" y="165100"/>
                </a:cubicBezTo>
                <a:lnTo>
                  <a:pt x="685800" y="165100"/>
                </a:lnTo>
                <a:cubicBezTo>
                  <a:pt x="685800" y="256286"/>
                  <a:pt x="611886" y="330200"/>
                  <a:pt x="520700" y="330200"/>
                </a:cubicBezTo>
                <a:lnTo>
                  <a:pt x="165100" y="330200"/>
                </a:lnTo>
                <a:cubicBezTo>
                  <a:pt x="73914" y="330200"/>
                  <a:pt x="0" y="256286"/>
                  <a:pt x="0" y="1651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aget-2"/>
          <p:cNvSpPr txBox="1"/>
          <p:nvPr/>
        </p:nvSpPr>
        <p:spPr>
          <a:xfrm>
            <a:off x="5908040" y="2478024"/>
            <a:ext cx="3759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0B2545"/>
                </a:solidFill>
                <a:latin typeface="Arial"/>
                <a:ea typeface="Arial"/>
                <a:cs typeface="Arial"/>
              </a:rPr>
              <a:t>25–29</a:t>
            </a:r>
          </a:p>
        </p:txBody>
      </p:sp>
      <p:sp>
        <p:nvSpPr>
          <p:cNvPr id="29" name="m-2"/>
          <p:cNvSpPr/>
          <p:nvPr/>
        </p:nvSpPr>
        <p:spPr>
          <a:xfrm>
            <a:off x="3949700" y="2400300"/>
            <a:ext cx="1714500" cy="330200"/>
          </a:xfrm>
          <a:custGeom>
            <a:avLst/>
            <a:gdLst/>
            <a:ahLst/>
            <a:cxnLst/>
            <a:rect l="0" t="0" r="r" b="b"/>
            <a:pathLst>
              <a:path w="1714500" h="330200">
                <a:moveTo>
                  <a:pt x="63500" y="0"/>
                </a:moveTo>
                <a:lnTo>
                  <a:pt x="1651000" y="0"/>
                </a:lnTo>
                <a:cubicBezTo>
                  <a:pt x="1686052" y="0"/>
                  <a:pt x="1714500" y="28448"/>
                  <a:pt x="1714500" y="63500"/>
                </a:cubicBezTo>
                <a:lnTo>
                  <a:pt x="1714500" y="266700"/>
                </a:lnTo>
                <a:cubicBezTo>
                  <a:pt x="1714500" y="301752"/>
                  <a:pt x="1686052" y="330200"/>
                  <a:pt x="1651000" y="330200"/>
                </a:cubicBezTo>
                <a:lnTo>
                  <a:pt x="63500" y="330200"/>
                </a:lnTo>
                <a:cubicBezTo>
                  <a:pt x="28448" y="330200"/>
                  <a:pt x="0" y="301752"/>
                  <a:pt x="0" y="2667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134C9C"/>
              </a:gs>
              <a:gs pos="100000">
                <a:srgbClr val="668BB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f-2"/>
          <p:cNvSpPr/>
          <p:nvPr/>
        </p:nvSpPr>
        <p:spPr>
          <a:xfrm>
            <a:off x="6527800" y="2400300"/>
            <a:ext cx="2122742" cy="330200"/>
          </a:xfrm>
          <a:custGeom>
            <a:avLst/>
            <a:gdLst/>
            <a:ahLst/>
            <a:cxnLst/>
            <a:rect l="0" t="0" r="r" b="b"/>
            <a:pathLst>
              <a:path w="2122742" h="330200">
                <a:moveTo>
                  <a:pt x="63500" y="0"/>
                </a:moveTo>
                <a:lnTo>
                  <a:pt x="2059241" y="0"/>
                </a:lnTo>
                <a:cubicBezTo>
                  <a:pt x="2094293" y="0"/>
                  <a:pt x="2122742" y="28448"/>
                  <a:pt x="2122742" y="63500"/>
                </a:cubicBezTo>
                <a:lnTo>
                  <a:pt x="2122742" y="266700"/>
                </a:lnTo>
                <a:cubicBezTo>
                  <a:pt x="2122742" y="301752"/>
                  <a:pt x="2094293" y="330200"/>
                  <a:pt x="2059241" y="330200"/>
                </a:cubicBezTo>
                <a:lnTo>
                  <a:pt x="63500" y="330200"/>
                </a:lnTo>
                <a:cubicBezTo>
                  <a:pt x="28448" y="330200"/>
                  <a:pt x="0" y="301752"/>
                  <a:pt x="0" y="2667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EBA27F"/>
              </a:gs>
              <a:gs pos="100000">
                <a:srgbClr val="E0703A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mv-2"/>
          <p:cNvSpPr txBox="1"/>
          <p:nvPr/>
        </p:nvSpPr>
        <p:spPr>
          <a:xfrm>
            <a:off x="3579622" y="2468690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21%</a:t>
            </a:r>
          </a:p>
        </p:txBody>
      </p:sp>
      <p:sp>
        <p:nvSpPr>
          <p:cNvPr id="32" name="fv-2"/>
          <p:cNvSpPr txBox="1"/>
          <p:nvPr/>
        </p:nvSpPr>
        <p:spPr>
          <a:xfrm>
            <a:off x="8725698" y="2468690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26%</a:t>
            </a:r>
          </a:p>
        </p:txBody>
      </p:sp>
      <p:sp>
        <p:nvSpPr>
          <p:cNvPr id="33" name="age-3"/>
          <p:cNvSpPr/>
          <p:nvPr/>
        </p:nvSpPr>
        <p:spPr>
          <a:xfrm>
            <a:off x="5753100" y="2908300"/>
            <a:ext cx="685800" cy="330200"/>
          </a:xfrm>
          <a:custGeom>
            <a:avLst/>
            <a:gdLst/>
            <a:ahLst/>
            <a:cxnLst/>
            <a:rect l="0" t="0" r="r" b="b"/>
            <a:pathLst>
              <a:path w="685800" h="330200">
                <a:moveTo>
                  <a:pt x="165100" y="0"/>
                </a:moveTo>
                <a:lnTo>
                  <a:pt x="520700" y="0"/>
                </a:lnTo>
                <a:cubicBezTo>
                  <a:pt x="611886" y="0"/>
                  <a:pt x="685800" y="73914"/>
                  <a:pt x="685800" y="165100"/>
                </a:cubicBezTo>
                <a:lnTo>
                  <a:pt x="685800" y="165100"/>
                </a:lnTo>
                <a:cubicBezTo>
                  <a:pt x="685800" y="256286"/>
                  <a:pt x="611886" y="330200"/>
                  <a:pt x="520700" y="330200"/>
                </a:cubicBezTo>
                <a:lnTo>
                  <a:pt x="165100" y="330200"/>
                </a:lnTo>
                <a:cubicBezTo>
                  <a:pt x="73914" y="330200"/>
                  <a:pt x="0" y="256286"/>
                  <a:pt x="0" y="1651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aget-3"/>
          <p:cNvSpPr txBox="1"/>
          <p:nvPr/>
        </p:nvSpPr>
        <p:spPr>
          <a:xfrm>
            <a:off x="5908040" y="2986024"/>
            <a:ext cx="3759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0B2545"/>
                </a:solidFill>
                <a:latin typeface="Arial"/>
                <a:ea typeface="Arial"/>
                <a:cs typeface="Arial"/>
              </a:rPr>
              <a:t>30–34</a:t>
            </a:r>
          </a:p>
        </p:txBody>
      </p:sp>
      <p:sp>
        <p:nvSpPr>
          <p:cNvPr id="35" name="m-3"/>
          <p:cNvSpPr/>
          <p:nvPr/>
        </p:nvSpPr>
        <p:spPr>
          <a:xfrm>
            <a:off x="3623120" y="2908300"/>
            <a:ext cx="2041080" cy="330200"/>
          </a:xfrm>
          <a:custGeom>
            <a:avLst/>
            <a:gdLst/>
            <a:ahLst/>
            <a:cxnLst/>
            <a:rect l="0" t="0" r="r" b="b"/>
            <a:pathLst>
              <a:path w="2041080" h="330200">
                <a:moveTo>
                  <a:pt x="63500" y="0"/>
                </a:moveTo>
                <a:lnTo>
                  <a:pt x="1977580" y="0"/>
                </a:lnTo>
                <a:cubicBezTo>
                  <a:pt x="2012632" y="0"/>
                  <a:pt x="2041080" y="28448"/>
                  <a:pt x="2041080" y="63500"/>
                </a:cubicBezTo>
                <a:lnTo>
                  <a:pt x="2041080" y="266700"/>
                </a:lnTo>
                <a:cubicBezTo>
                  <a:pt x="2041080" y="301752"/>
                  <a:pt x="2012632" y="330200"/>
                  <a:pt x="1977580" y="330200"/>
                </a:cubicBezTo>
                <a:lnTo>
                  <a:pt x="63500" y="330200"/>
                </a:lnTo>
                <a:cubicBezTo>
                  <a:pt x="28448" y="330200"/>
                  <a:pt x="0" y="301752"/>
                  <a:pt x="0" y="2667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134C9C"/>
              </a:gs>
              <a:gs pos="100000">
                <a:srgbClr val="668BB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f-3"/>
          <p:cNvSpPr/>
          <p:nvPr/>
        </p:nvSpPr>
        <p:spPr>
          <a:xfrm>
            <a:off x="6527800" y="2908300"/>
            <a:ext cx="2041081" cy="330200"/>
          </a:xfrm>
          <a:custGeom>
            <a:avLst/>
            <a:gdLst/>
            <a:ahLst/>
            <a:cxnLst/>
            <a:rect l="0" t="0" r="r" b="b"/>
            <a:pathLst>
              <a:path w="2041081" h="330200">
                <a:moveTo>
                  <a:pt x="63500" y="0"/>
                </a:moveTo>
                <a:lnTo>
                  <a:pt x="1977581" y="0"/>
                </a:lnTo>
                <a:cubicBezTo>
                  <a:pt x="2012633" y="0"/>
                  <a:pt x="2041081" y="28448"/>
                  <a:pt x="2041081" y="63500"/>
                </a:cubicBezTo>
                <a:lnTo>
                  <a:pt x="2041081" y="266700"/>
                </a:lnTo>
                <a:cubicBezTo>
                  <a:pt x="2041081" y="301752"/>
                  <a:pt x="2012633" y="330200"/>
                  <a:pt x="1977581" y="330200"/>
                </a:cubicBezTo>
                <a:lnTo>
                  <a:pt x="63500" y="330200"/>
                </a:lnTo>
                <a:cubicBezTo>
                  <a:pt x="28448" y="330200"/>
                  <a:pt x="0" y="301752"/>
                  <a:pt x="0" y="2667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EBA27F"/>
              </a:gs>
              <a:gs pos="100000">
                <a:srgbClr val="E0703A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mv-3"/>
          <p:cNvSpPr txBox="1"/>
          <p:nvPr/>
        </p:nvSpPr>
        <p:spPr>
          <a:xfrm>
            <a:off x="3253051" y="2976690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25%</a:t>
            </a:r>
          </a:p>
        </p:txBody>
      </p:sp>
      <p:sp>
        <p:nvSpPr>
          <p:cNvPr id="38" name="fv-3"/>
          <p:cNvSpPr txBox="1"/>
          <p:nvPr/>
        </p:nvSpPr>
        <p:spPr>
          <a:xfrm>
            <a:off x="8644055" y="2976690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25%</a:t>
            </a:r>
          </a:p>
        </p:txBody>
      </p:sp>
      <p:sp>
        <p:nvSpPr>
          <p:cNvPr id="39" name="age-4"/>
          <p:cNvSpPr/>
          <p:nvPr/>
        </p:nvSpPr>
        <p:spPr>
          <a:xfrm>
            <a:off x="5753100" y="3416300"/>
            <a:ext cx="685800" cy="330200"/>
          </a:xfrm>
          <a:custGeom>
            <a:avLst/>
            <a:gdLst/>
            <a:ahLst/>
            <a:cxnLst/>
            <a:rect l="0" t="0" r="r" b="b"/>
            <a:pathLst>
              <a:path w="685800" h="330200">
                <a:moveTo>
                  <a:pt x="165100" y="0"/>
                </a:moveTo>
                <a:lnTo>
                  <a:pt x="520700" y="0"/>
                </a:lnTo>
                <a:cubicBezTo>
                  <a:pt x="611886" y="0"/>
                  <a:pt x="685800" y="73914"/>
                  <a:pt x="685800" y="165100"/>
                </a:cubicBezTo>
                <a:lnTo>
                  <a:pt x="685800" y="165100"/>
                </a:lnTo>
                <a:cubicBezTo>
                  <a:pt x="685800" y="256286"/>
                  <a:pt x="611886" y="330200"/>
                  <a:pt x="520700" y="330200"/>
                </a:cubicBezTo>
                <a:lnTo>
                  <a:pt x="165100" y="330200"/>
                </a:lnTo>
                <a:cubicBezTo>
                  <a:pt x="73914" y="330200"/>
                  <a:pt x="0" y="256286"/>
                  <a:pt x="0" y="1651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aget-4"/>
          <p:cNvSpPr txBox="1"/>
          <p:nvPr/>
        </p:nvSpPr>
        <p:spPr>
          <a:xfrm>
            <a:off x="5908040" y="3494024"/>
            <a:ext cx="3759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0B2545"/>
                </a:solidFill>
                <a:latin typeface="Arial"/>
                <a:ea typeface="Arial"/>
                <a:cs typeface="Arial"/>
              </a:rPr>
              <a:t>35–39</a:t>
            </a:r>
          </a:p>
        </p:txBody>
      </p:sp>
      <p:sp>
        <p:nvSpPr>
          <p:cNvPr id="41" name="m-4"/>
          <p:cNvSpPr/>
          <p:nvPr/>
        </p:nvSpPr>
        <p:spPr>
          <a:xfrm>
            <a:off x="4194620" y="3416300"/>
            <a:ext cx="1469580" cy="330200"/>
          </a:xfrm>
          <a:custGeom>
            <a:avLst/>
            <a:gdLst/>
            <a:ahLst/>
            <a:cxnLst/>
            <a:rect l="0" t="0" r="r" b="b"/>
            <a:pathLst>
              <a:path w="1469580" h="330200">
                <a:moveTo>
                  <a:pt x="63500" y="0"/>
                </a:moveTo>
                <a:lnTo>
                  <a:pt x="1406080" y="0"/>
                </a:lnTo>
                <a:cubicBezTo>
                  <a:pt x="1441132" y="0"/>
                  <a:pt x="1469580" y="28448"/>
                  <a:pt x="1469580" y="63500"/>
                </a:cubicBezTo>
                <a:lnTo>
                  <a:pt x="1469580" y="266700"/>
                </a:lnTo>
                <a:cubicBezTo>
                  <a:pt x="1469580" y="301752"/>
                  <a:pt x="1441132" y="330200"/>
                  <a:pt x="1406080" y="330200"/>
                </a:cubicBezTo>
                <a:lnTo>
                  <a:pt x="63500" y="330200"/>
                </a:lnTo>
                <a:cubicBezTo>
                  <a:pt x="28448" y="330200"/>
                  <a:pt x="0" y="301752"/>
                  <a:pt x="0" y="2667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134C9C"/>
              </a:gs>
              <a:gs pos="100000">
                <a:srgbClr val="668BB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f-4"/>
          <p:cNvSpPr/>
          <p:nvPr/>
        </p:nvSpPr>
        <p:spPr>
          <a:xfrm>
            <a:off x="6527800" y="3416300"/>
            <a:ext cx="1224661" cy="330200"/>
          </a:xfrm>
          <a:custGeom>
            <a:avLst/>
            <a:gdLst/>
            <a:ahLst/>
            <a:cxnLst/>
            <a:rect l="0" t="0" r="r" b="b"/>
            <a:pathLst>
              <a:path w="1224661" h="330200">
                <a:moveTo>
                  <a:pt x="63500" y="0"/>
                </a:moveTo>
                <a:lnTo>
                  <a:pt x="1161161" y="0"/>
                </a:lnTo>
                <a:cubicBezTo>
                  <a:pt x="1196213" y="0"/>
                  <a:pt x="1224661" y="28448"/>
                  <a:pt x="1224661" y="63500"/>
                </a:cubicBezTo>
                <a:lnTo>
                  <a:pt x="1224661" y="266700"/>
                </a:lnTo>
                <a:cubicBezTo>
                  <a:pt x="1224661" y="301752"/>
                  <a:pt x="1196213" y="330200"/>
                  <a:pt x="1161161" y="330200"/>
                </a:cubicBezTo>
                <a:lnTo>
                  <a:pt x="63500" y="330200"/>
                </a:lnTo>
                <a:cubicBezTo>
                  <a:pt x="28448" y="330200"/>
                  <a:pt x="0" y="301752"/>
                  <a:pt x="0" y="2667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EBA27F"/>
              </a:gs>
              <a:gs pos="100000">
                <a:srgbClr val="E0703A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mv-4"/>
          <p:cNvSpPr txBox="1"/>
          <p:nvPr/>
        </p:nvSpPr>
        <p:spPr>
          <a:xfrm>
            <a:off x="3824551" y="3484690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18%</a:t>
            </a:r>
          </a:p>
        </p:txBody>
      </p:sp>
      <p:sp>
        <p:nvSpPr>
          <p:cNvPr id="44" name="fv-4"/>
          <p:cNvSpPr txBox="1"/>
          <p:nvPr/>
        </p:nvSpPr>
        <p:spPr>
          <a:xfrm>
            <a:off x="7827627" y="3484690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15%</a:t>
            </a:r>
          </a:p>
        </p:txBody>
      </p:sp>
      <p:sp>
        <p:nvSpPr>
          <p:cNvPr id="45" name="age-5"/>
          <p:cNvSpPr/>
          <p:nvPr/>
        </p:nvSpPr>
        <p:spPr>
          <a:xfrm>
            <a:off x="5753100" y="3924300"/>
            <a:ext cx="685800" cy="330200"/>
          </a:xfrm>
          <a:custGeom>
            <a:avLst/>
            <a:gdLst/>
            <a:ahLst/>
            <a:cxnLst/>
            <a:rect l="0" t="0" r="r" b="b"/>
            <a:pathLst>
              <a:path w="685800" h="330200">
                <a:moveTo>
                  <a:pt x="165100" y="0"/>
                </a:moveTo>
                <a:lnTo>
                  <a:pt x="520700" y="0"/>
                </a:lnTo>
                <a:cubicBezTo>
                  <a:pt x="611886" y="0"/>
                  <a:pt x="685800" y="73914"/>
                  <a:pt x="685800" y="165100"/>
                </a:cubicBezTo>
                <a:lnTo>
                  <a:pt x="685800" y="165100"/>
                </a:lnTo>
                <a:cubicBezTo>
                  <a:pt x="685800" y="256286"/>
                  <a:pt x="611886" y="330200"/>
                  <a:pt x="520700" y="330200"/>
                </a:cubicBezTo>
                <a:lnTo>
                  <a:pt x="165100" y="330200"/>
                </a:lnTo>
                <a:cubicBezTo>
                  <a:pt x="73914" y="330200"/>
                  <a:pt x="0" y="256286"/>
                  <a:pt x="0" y="1651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aget-5"/>
          <p:cNvSpPr txBox="1"/>
          <p:nvPr/>
        </p:nvSpPr>
        <p:spPr>
          <a:xfrm>
            <a:off x="5908040" y="4002024"/>
            <a:ext cx="3759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0B2545"/>
                </a:solidFill>
                <a:latin typeface="Arial"/>
                <a:ea typeface="Arial"/>
                <a:cs typeface="Arial"/>
              </a:rPr>
              <a:t>40–44</a:t>
            </a:r>
          </a:p>
        </p:txBody>
      </p:sp>
      <p:sp>
        <p:nvSpPr>
          <p:cNvPr id="47" name="m-5"/>
          <p:cNvSpPr/>
          <p:nvPr/>
        </p:nvSpPr>
        <p:spPr>
          <a:xfrm>
            <a:off x="4766120" y="3924300"/>
            <a:ext cx="898080" cy="330200"/>
          </a:xfrm>
          <a:custGeom>
            <a:avLst/>
            <a:gdLst/>
            <a:ahLst/>
            <a:cxnLst/>
            <a:rect l="0" t="0" r="r" b="b"/>
            <a:pathLst>
              <a:path w="898080" h="330200">
                <a:moveTo>
                  <a:pt x="63500" y="0"/>
                </a:moveTo>
                <a:lnTo>
                  <a:pt x="834580" y="0"/>
                </a:lnTo>
                <a:cubicBezTo>
                  <a:pt x="869632" y="0"/>
                  <a:pt x="898080" y="28448"/>
                  <a:pt x="898080" y="63500"/>
                </a:cubicBezTo>
                <a:lnTo>
                  <a:pt x="898080" y="266700"/>
                </a:lnTo>
                <a:cubicBezTo>
                  <a:pt x="898080" y="301752"/>
                  <a:pt x="869632" y="330200"/>
                  <a:pt x="834580" y="330200"/>
                </a:cubicBezTo>
                <a:lnTo>
                  <a:pt x="63500" y="330200"/>
                </a:lnTo>
                <a:cubicBezTo>
                  <a:pt x="28448" y="330200"/>
                  <a:pt x="0" y="301752"/>
                  <a:pt x="0" y="2667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134C9C"/>
              </a:gs>
              <a:gs pos="100000">
                <a:srgbClr val="668BB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f-5"/>
          <p:cNvSpPr/>
          <p:nvPr/>
        </p:nvSpPr>
        <p:spPr>
          <a:xfrm>
            <a:off x="6527800" y="3924300"/>
            <a:ext cx="734759" cy="330200"/>
          </a:xfrm>
          <a:custGeom>
            <a:avLst/>
            <a:gdLst/>
            <a:ahLst/>
            <a:cxnLst/>
            <a:rect l="0" t="0" r="r" b="b"/>
            <a:pathLst>
              <a:path w="734759" h="330200">
                <a:moveTo>
                  <a:pt x="63500" y="0"/>
                </a:moveTo>
                <a:lnTo>
                  <a:pt x="671259" y="0"/>
                </a:lnTo>
                <a:cubicBezTo>
                  <a:pt x="706374" y="0"/>
                  <a:pt x="734759" y="28448"/>
                  <a:pt x="734759" y="63500"/>
                </a:cubicBezTo>
                <a:lnTo>
                  <a:pt x="734759" y="266700"/>
                </a:lnTo>
                <a:cubicBezTo>
                  <a:pt x="734759" y="301752"/>
                  <a:pt x="706374" y="330200"/>
                  <a:pt x="671259" y="330200"/>
                </a:cubicBezTo>
                <a:lnTo>
                  <a:pt x="63500" y="330200"/>
                </a:lnTo>
                <a:cubicBezTo>
                  <a:pt x="28448" y="330200"/>
                  <a:pt x="0" y="301752"/>
                  <a:pt x="0" y="2667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EBA27F"/>
              </a:gs>
              <a:gs pos="100000">
                <a:srgbClr val="E0703A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mv-5"/>
          <p:cNvSpPr txBox="1"/>
          <p:nvPr/>
        </p:nvSpPr>
        <p:spPr>
          <a:xfrm>
            <a:off x="4396051" y="3992690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11%</a:t>
            </a:r>
          </a:p>
        </p:txBody>
      </p:sp>
      <p:sp>
        <p:nvSpPr>
          <p:cNvPr id="50" name="fv-5"/>
          <p:cNvSpPr txBox="1"/>
          <p:nvPr/>
        </p:nvSpPr>
        <p:spPr>
          <a:xfrm>
            <a:off x="7337770" y="399269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9%</a:t>
            </a:r>
          </a:p>
        </p:txBody>
      </p:sp>
      <p:sp>
        <p:nvSpPr>
          <p:cNvPr id="51" name="age-6"/>
          <p:cNvSpPr/>
          <p:nvPr/>
        </p:nvSpPr>
        <p:spPr>
          <a:xfrm>
            <a:off x="5753100" y="4432300"/>
            <a:ext cx="685800" cy="330200"/>
          </a:xfrm>
          <a:custGeom>
            <a:avLst/>
            <a:gdLst/>
            <a:ahLst/>
            <a:cxnLst/>
            <a:rect l="0" t="0" r="r" b="b"/>
            <a:pathLst>
              <a:path w="685800" h="330200">
                <a:moveTo>
                  <a:pt x="165100" y="0"/>
                </a:moveTo>
                <a:lnTo>
                  <a:pt x="520700" y="0"/>
                </a:lnTo>
                <a:cubicBezTo>
                  <a:pt x="611886" y="0"/>
                  <a:pt x="685800" y="73914"/>
                  <a:pt x="685800" y="165100"/>
                </a:cubicBezTo>
                <a:lnTo>
                  <a:pt x="685800" y="165100"/>
                </a:lnTo>
                <a:cubicBezTo>
                  <a:pt x="685800" y="256286"/>
                  <a:pt x="611886" y="330200"/>
                  <a:pt x="520700" y="330200"/>
                </a:cubicBezTo>
                <a:lnTo>
                  <a:pt x="165100" y="330200"/>
                </a:lnTo>
                <a:cubicBezTo>
                  <a:pt x="73914" y="330200"/>
                  <a:pt x="0" y="256286"/>
                  <a:pt x="0" y="1651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aget-6"/>
          <p:cNvSpPr txBox="1"/>
          <p:nvPr/>
        </p:nvSpPr>
        <p:spPr>
          <a:xfrm>
            <a:off x="5908040" y="4510024"/>
            <a:ext cx="3759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0B2545"/>
                </a:solidFill>
                <a:latin typeface="Arial"/>
                <a:ea typeface="Arial"/>
                <a:cs typeface="Arial"/>
              </a:rPr>
              <a:t>45–49</a:t>
            </a:r>
          </a:p>
        </p:txBody>
      </p:sp>
      <p:sp>
        <p:nvSpPr>
          <p:cNvPr id="53" name="m-6"/>
          <p:cNvSpPr/>
          <p:nvPr/>
        </p:nvSpPr>
        <p:spPr>
          <a:xfrm>
            <a:off x="5092700" y="4432300"/>
            <a:ext cx="571500" cy="330200"/>
          </a:xfrm>
          <a:custGeom>
            <a:avLst/>
            <a:gdLst/>
            <a:ahLst/>
            <a:cxnLst/>
            <a:rect l="0" t="0" r="r" b="b"/>
            <a:pathLst>
              <a:path w="571500" h="330200">
                <a:moveTo>
                  <a:pt x="63500" y="0"/>
                </a:moveTo>
                <a:lnTo>
                  <a:pt x="508000" y="0"/>
                </a:lnTo>
                <a:cubicBezTo>
                  <a:pt x="543052" y="0"/>
                  <a:pt x="571500" y="28448"/>
                  <a:pt x="571500" y="63500"/>
                </a:cubicBezTo>
                <a:lnTo>
                  <a:pt x="571500" y="266700"/>
                </a:lnTo>
                <a:cubicBezTo>
                  <a:pt x="571500" y="301752"/>
                  <a:pt x="543052" y="330200"/>
                  <a:pt x="508000" y="330200"/>
                </a:cubicBezTo>
                <a:lnTo>
                  <a:pt x="63500" y="330200"/>
                </a:lnTo>
                <a:cubicBezTo>
                  <a:pt x="28448" y="330200"/>
                  <a:pt x="0" y="301752"/>
                  <a:pt x="0" y="2667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134C9C"/>
              </a:gs>
              <a:gs pos="100000">
                <a:srgbClr val="668BB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f-6"/>
          <p:cNvSpPr/>
          <p:nvPr/>
        </p:nvSpPr>
        <p:spPr>
          <a:xfrm>
            <a:off x="6527800" y="4432300"/>
            <a:ext cx="408241" cy="330200"/>
          </a:xfrm>
          <a:custGeom>
            <a:avLst/>
            <a:gdLst/>
            <a:ahLst/>
            <a:cxnLst/>
            <a:rect l="0" t="0" r="r" b="b"/>
            <a:pathLst>
              <a:path w="408241" h="330200">
                <a:moveTo>
                  <a:pt x="63500" y="0"/>
                </a:moveTo>
                <a:lnTo>
                  <a:pt x="344741" y="0"/>
                </a:lnTo>
                <a:cubicBezTo>
                  <a:pt x="379793" y="0"/>
                  <a:pt x="408241" y="28448"/>
                  <a:pt x="408241" y="63500"/>
                </a:cubicBezTo>
                <a:lnTo>
                  <a:pt x="408241" y="266700"/>
                </a:lnTo>
                <a:cubicBezTo>
                  <a:pt x="408241" y="301752"/>
                  <a:pt x="379793" y="330200"/>
                  <a:pt x="344741" y="330200"/>
                </a:cubicBezTo>
                <a:lnTo>
                  <a:pt x="63500" y="330200"/>
                </a:lnTo>
                <a:cubicBezTo>
                  <a:pt x="28448" y="330200"/>
                  <a:pt x="0" y="301752"/>
                  <a:pt x="0" y="2667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EBA27F"/>
              </a:gs>
              <a:gs pos="100000">
                <a:srgbClr val="E0703A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mv-6"/>
          <p:cNvSpPr txBox="1"/>
          <p:nvPr/>
        </p:nvSpPr>
        <p:spPr>
          <a:xfrm>
            <a:off x="4786630" y="450069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7%</a:t>
            </a:r>
          </a:p>
        </p:txBody>
      </p:sp>
      <p:sp>
        <p:nvSpPr>
          <p:cNvPr id="56" name="fv-6"/>
          <p:cNvSpPr txBox="1"/>
          <p:nvPr/>
        </p:nvSpPr>
        <p:spPr>
          <a:xfrm>
            <a:off x="7011198" y="450069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5%</a:t>
            </a:r>
          </a:p>
        </p:txBody>
      </p:sp>
      <p:sp>
        <p:nvSpPr>
          <p:cNvPr id="57" name="age-7"/>
          <p:cNvSpPr/>
          <p:nvPr/>
        </p:nvSpPr>
        <p:spPr>
          <a:xfrm>
            <a:off x="5753100" y="4940300"/>
            <a:ext cx="685800" cy="330200"/>
          </a:xfrm>
          <a:custGeom>
            <a:avLst/>
            <a:gdLst/>
            <a:ahLst/>
            <a:cxnLst/>
            <a:rect l="0" t="0" r="r" b="b"/>
            <a:pathLst>
              <a:path w="685800" h="330200">
                <a:moveTo>
                  <a:pt x="165100" y="0"/>
                </a:moveTo>
                <a:lnTo>
                  <a:pt x="520700" y="0"/>
                </a:lnTo>
                <a:cubicBezTo>
                  <a:pt x="611886" y="0"/>
                  <a:pt x="685800" y="73914"/>
                  <a:pt x="685800" y="165100"/>
                </a:cubicBezTo>
                <a:lnTo>
                  <a:pt x="685800" y="165100"/>
                </a:lnTo>
                <a:cubicBezTo>
                  <a:pt x="685800" y="256286"/>
                  <a:pt x="611886" y="330200"/>
                  <a:pt x="520700" y="330200"/>
                </a:cubicBezTo>
                <a:lnTo>
                  <a:pt x="165100" y="330200"/>
                </a:lnTo>
                <a:cubicBezTo>
                  <a:pt x="73914" y="330200"/>
                  <a:pt x="0" y="256286"/>
                  <a:pt x="0" y="1651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aget-7"/>
          <p:cNvSpPr txBox="1"/>
          <p:nvPr/>
        </p:nvSpPr>
        <p:spPr>
          <a:xfrm>
            <a:off x="5964936" y="50180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0B2545"/>
                </a:solidFill>
                <a:latin typeface="Arial"/>
                <a:ea typeface="Arial"/>
                <a:cs typeface="Arial"/>
              </a:rPr>
              <a:t>50+</a:t>
            </a:r>
          </a:p>
        </p:txBody>
      </p:sp>
      <p:sp>
        <p:nvSpPr>
          <p:cNvPr id="59" name="m-7"/>
          <p:cNvSpPr/>
          <p:nvPr/>
        </p:nvSpPr>
        <p:spPr>
          <a:xfrm>
            <a:off x="5174361" y="4940300"/>
            <a:ext cx="489839" cy="330200"/>
          </a:xfrm>
          <a:custGeom>
            <a:avLst/>
            <a:gdLst/>
            <a:ahLst/>
            <a:cxnLst/>
            <a:rect l="0" t="0" r="r" b="b"/>
            <a:pathLst>
              <a:path w="489839" h="330200">
                <a:moveTo>
                  <a:pt x="63500" y="0"/>
                </a:moveTo>
                <a:lnTo>
                  <a:pt x="426339" y="0"/>
                </a:lnTo>
                <a:cubicBezTo>
                  <a:pt x="461391" y="0"/>
                  <a:pt x="489839" y="28448"/>
                  <a:pt x="489839" y="63500"/>
                </a:cubicBezTo>
                <a:lnTo>
                  <a:pt x="489839" y="266700"/>
                </a:lnTo>
                <a:cubicBezTo>
                  <a:pt x="489839" y="301752"/>
                  <a:pt x="461391" y="330200"/>
                  <a:pt x="426339" y="330200"/>
                </a:cubicBezTo>
                <a:lnTo>
                  <a:pt x="63500" y="330200"/>
                </a:lnTo>
                <a:cubicBezTo>
                  <a:pt x="28385" y="330200"/>
                  <a:pt x="0" y="301752"/>
                  <a:pt x="0" y="266700"/>
                </a:cubicBezTo>
                <a:lnTo>
                  <a:pt x="0" y="63500"/>
                </a:lnTo>
                <a:cubicBezTo>
                  <a:pt x="0" y="28448"/>
                  <a:pt x="28385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134C9C"/>
              </a:gs>
              <a:gs pos="100000">
                <a:srgbClr val="668BB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f-7"/>
          <p:cNvSpPr/>
          <p:nvPr/>
        </p:nvSpPr>
        <p:spPr>
          <a:xfrm>
            <a:off x="6527800" y="4940300"/>
            <a:ext cx="326581" cy="330200"/>
          </a:xfrm>
          <a:custGeom>
            <a:avLst/>
            <a:gdLst/>
            <a:ahLst/>
            <a:cxnLst/>
            <a:rect l="0" t="0" r="r" b="b"/>
            <a:pathLst>
              <a:path w="326581" h="330200">
                <a:moveTo>
                  <a:pt x="63500" y="0"/>
                </a:moveTo>
                <a:lnTo>
                  <a:pt x="263081" y="0"/>
                </a:lnTo>
                <a:cubicBezTo>
                  <a:pt x="298133" y="0"/>
                  <a:pt x="326581" y="28448"/>
                  <a:pt x="326581" y="63500"/>
                </a:cubicBezTo>
                <a:lnTo>
                  <a:pt x="326581" y="266700"/>
                </a:lnTo>
                <a:cubicBezTo>
                  <a:pt x="326581" y="301752"/>
                  <a:pt x="298133" y="330200"/>
                  <a:pt x="263081" y="330200"/>
                </a:cubicBezTo>
                <a:lnTo>
                  <a:pt x="63500" y="330200"/>
                </a:lnTo>
                <a:cubicBezTo>
                  <a:pt x="28448" y="330200"/>
                  <a:pt x="0" y="301752"/>
                  <a:pt x="0" y="2667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EBA27F"/>
              </a:gs>
              <a:gs pos="100000">
                <a:srgbClr val="E0703A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mv-7"/>
          <p:cNvSpPr txBox="1"/>
          <p:nvPr/>
        </p:nvSpPr>
        <p:spPr>
          <a:xfrm>
            <a:off x="4868273" y="500869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6%</a:t>
            </a:r>
          </a:p>
        </p:txBody>
      </p:sp>
      <p:sp>
        <p:nvSpPr>
          <p:cNvPr id="62" name="fv-7"/>
          <p:cNvSpPr txBox="1"/>
          <p:nvPr/>
        </p:nvSpPr>
        <p:spPr>
          <a:xfrm>
            <a:off x="6929555" y="500869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4%</a:t>
            </a:r>
          </a:p>
        </p:txBody>
      </p:sp>
      <p:sp>
        <p:nvSpPr>
          <p:cNvPr id="63" name="pc-1"/>
          <p:cNvSpPr/>
          <p:nvPr/>
        </p:nvSpPr>
        <p:spPr>
          <a:xfrm>
            <a:off x="952500" y="1587500"/>
            <a:ext cx="2095500" cy="3873500"/>
          </a:xfrm>
          <a:custGeom>
            <a:avLst/>
            <a:gdLst/>
            <a:ahLst/>
            <a:cxnLst/>
            <a:rect l="0" t="0" r="r" b="b"/>
            <a:pathLst>
              <a:path w="2095500" h="3873500">
                <a:moveTo>
                  <a:pt x="152400" y="0"/>
                </a:moveTo>
                <a:lnTo>
                  <a:pt x="1943100" y="0"/>
                </a:lnTo>
                <a:cubicBezTo>
                  <a:pt x="2027301" y="0"/>
                  <a:pt x="2095500" y="68199"/>
                  <a:pt x="2095500" y="152400"/>
                </a:cubicBezTo>
                <a:lnTo>
                  <a:pt x="2095500" y="3721100"/>
                </a:lnTo>
                <a:cubicBezTo>
                  <a:pt x="2095500" y="3805301"/>
                  <a:pt x="2027301" y="3873500"/>
                  <a:pt x="1943100" y="3873500"/>
                </a:cubicBezTo>
                <a:lnTo>
                  <a:pt x="152400" y="3873500"/>
                </a:lnTo>
                <a:cubicBezTo>
                  <a:pt x="68199" y="3873500"/>
                  <a:pt x="0" y="3805301"/>
                  <a:pt x="0" y="37211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pcb-1"/>
          <p:cNvSpPr/>
          <p:nvPr/>
        </p:nvSpPr>
        <p:spPr>
          <a:xfrm>
            <a:off x="952500" y="1587500"/>
            <a:ext cx="2095500" cy="50800"/>
          </a:xfrm>
          <a:custGeom>
            <a:avLst/>
            <a:gdLst/>
            <a:ahLst/>
            <a:cxnLst/>
            <a:rect l="0" t="0" r="r" b="b"/>
            <a:pathLst>
              <a:path w="2095500" h="50800">
                <a:moveTo>
                  <a:pt x="25400" y="0"/>
                </a:moveTo>
                <a:lnTo>
                  <a:pt x="2070100" y="0"/>
                </a:lnTo>
                <a:cubicBezTo>
                  <a:pt x="2084133" y="0"/>
                  <a:pt x="2095500" y="11366"/>
                  <a:pt x="2095500" y="25400"/>
                </a:cubicBezTo>
                <a:lnTo>
                  <a:pt x="2095500" y="25400"/>
                </a:lnTo>
                <a:cubicBezTo>
                  <a:pt x="2095500" y="39433"/>
                  <a:pt x="2084133" y="50800"/>
                  <a:pt x="2070100" y="50800"/>
                </a:cubicBezTo>
                <a:lnTo>
                  <a:pt x="25400" y="50800"/>
                </a:lnTo>
                <a:cubicBezTo>
                  <a:pt x="11366" y="50800"/>
                  <a:pt x="0" y="39433"/>
                  <a:pt x="0" y="25400"/>
                </a:cubicBezTo>
                <a:lnTo>
                  <a:pt x="0" y="25400"/>
                </a:lnTo>
                <a:cubicBezTo>
                  <a:pt x="0" y="11366"/>
                  <a:pt x="11366" y="0"/>
                  <a:pt x="2540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chip"/>
          <p:cNvSpPr/>
          <p:nvPr/>
        </p:nvSpPr>
        <p:spPr>
          <a:xfrm>
            <a:off x="1117600" y="1828800"/>
            <a:ext cx="381000" cy="381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chip-ring"/>
          <p:cNvSpPr/>
          <p:nvPr/>
        </p:nvSpPr>
        <p:spPr>
          <a:xfrm>
            <a:off x="1117600" y="1828800"/>
            <a:ext cx="381000" cy="381000"/>
          </a:xfrm>
          <a:prstGeom prst="ellipse">
            <a:avLst/>
          </a:prstGeom>
          <a:noFill/>
          <a:ln w="6350" cap="rnd">
            <a:solidFill>
              <a:srgbClr val="134C9C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icon-people"/>
          <p:cNvSpPr/>
          <p:nvPr/>
        </p:nvSpPr>
        <p:spPr>
          <a:xfrm>
            <a:off x="1245870" y="2038540"/>
            <a:ext cx="125921" cy="35560"/>
          </a:xfrm>
          <a:custGeom>
            <a:avLst/>
            <a:gdLst/>
            <a:ahLst/>
            <a:cxnLst/>
            <a:rect l="0" t="0" r="r" b="b"/>
            <a:pathLst>
              <a:path w="125921" h="35560">
                <a:moveTo>
                  <a:pt x="0" y="35560"/>
                </a:moveTo>
                <a:cubicBezTo>
                  <a:pt x="0" y="13335"/>
                  <a:pt x="18542" y="0"/>
                  <a:pt x="40005" y="0"/>
                </a:cubicBezTo>
                <a:cubicBezTo>
                  <a:pt x="61468" y="0"/>
                  <a:pt x="80010" y="13335"/>
                  <a:pt x="80010" y="35560"/>
                </a:cubicBezTo>
                <a:moveTo>
                  <a:pt x="94806" y="2985"/>
                </a:moveTo>
                <a:cubicBezTo>
                  <a:pt x="114110" y="5207"/>
                  <a:pt x="125921" y="18542"/>
                  <a:pt x="125921" y="35560"/>
                </a:cubicBezTo>
              </a:path>
            </a:pathLst>
          </a:cu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icon-people"/>
          <p:cNvSpPr/>
          <p:nvPr/>
        </p:nvSpPr>
        <p:spPr>
          <a:xfrm>
            <a:off x="1262168" y="1974850"/>
            <a:ext cx="47413" cy="47413"/>
          </a:xfrm>
          <a:prstGeom prst="ellipse">
            <a:avLst/>
          </a:pr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icon-people"/>
          <p:cNvSpPr/>
          <p:nvPr/>
        </p:nvSpPr>
        <p:spPr>
          <a:xfrm>
            <a:off x="1325880" y="1974850"/>
            <a:ext cx="38523" cy="38523"/>
          </a:xfrm>
          <a:prstGeom prst="ellipse">
            <a:avLst/>
          </a:pr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pcl-1"/>
          <p:cNvSpPr txBox="1"/>
          <p:nvPr/>
        </p:nvSpPr>
        <p:spPr>
          <a:xfrm>
            <a:off x="1568450" y="18867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男性用户</a:t>
            </a:r>
          </a:p>
        </p:txBody>
      </p:sp>
      <p:sp>
        <p:nvSpPr>
          <p:cNvPr id="71" name="pcs-1"/>
          <p:cNvSpPr txBox="1"/>
          <p:nvPr/>
        </p:nvSpPr>
        <p:spPr>
          <a:xfrm>
            <a:off x="1094740" y="2166620"/>
            <a:ext cx="1026160" cy="8890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40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48</a:t>
            </a:r>
          </a:p>
        </p:txBody>
      </p:sp>
      <p:sp>
        <p:nvSpPr>
          <p:cNvPr id="72" name="pcu-1"/>
          <p:cNvSpPr txBox="1"/>
          <p:nvPr/>
        </p:nvSpPr>
        <p:spPr>
          <a:xfrm>
            <a:off x="1791716" y="2543048"/>
            <a:ext cx="296672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6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%</a:t>
            </a:r>
          </a:p>
        </p:txBody>
      </p:sp>
      <p:sp>
        <p:nvSpPr>
          <p:cNvPr id="73" name="pcsl-1"/>
          <p:cNvSpPr txBox="1"/>
          <p:nvPr/>
        </p:nvSpPr>
        <p:spPr>
          <a:xfrm>
            <a:off x="1144270" y="2917666"/>
            <a:ext cx="5937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占全部用户</a:t>
            </a:r>
          </a:p>
        </p:txBody>
      </p:sp>
      <p:cxnSp>
        <p:nvCxnSpPr>
          <p:cNvPr id="74" name="pcsep-1"/>
          <p:cNvCxnSpPr/>
          <p:nvPr/>
        </p:nvCxnSpPr>
        <p:spPr>
          <a:xfrm>
            <a:off x="1155700" y="3238500"/>
            <a:ext cx="16891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5" name="pcpl-1"/>
          <p:cNvSpPr txBox="1"/>
          <p:nvPr/>
        </p:nvSpPr>
        <p:spPr>
          <a:xfrm>
            <a:off x="1144270" y="3387566"/>
            <a:ext cx="5937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主力年龄段</a:t>
            </a:r>
          </a:p>
        </p:txBody>
      </p:sp>
      <p:sp>
        <p:nvSpPr>
          <p:cNvPr id="76" name="pcp-1"/>
          <p:cNvSpPr txBox="1"/>
          <p:nvPr/>
        </p:nvSpPr>
        <p:spPr>
          <a:xfrm>
            <a:off x="1132840" y="3536633"/>
            <a:ext cx="104648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30–34 岁</a:t>
            </a:r>
          </a:p>
        </p:txBody>
      </p:sp>
      <p:cxnSp>
        <p:nvCxnSpPr>
          <p:cNvPr id="77" name="pcsep2-1"/>
          <p:cNvCxnSpPr/>
          <p:nvPr/>
        </p:nvCxnSpPr>
        <p:spPr>
          <a:xfrm>
            <a:off x="1155700" y="4000500"/>
            <a:ext cx="16891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8" name="pcfl-1"/>
          <p:cNvSpPr txBox="1"/>
          <p:nvPr/>
        </p:nvSpPr>
        <p:spPr>
          <a:xfrm>
            <a:off x="1144270" y="4149566"/>
            <a:ext cx="4921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行为特征</a:t>
            </a:r>
          </a:p>
        </p:txBody>
      </p:sp>
      <p:sp>
        <p:nvSpPr>
          <p:cNvPr id="79" name="pcf1-1"/>
          <p:cNvSpPr txBox="1"/>
          <p:nvPr/>
        </p:nvSpPr>
        <p:spPr>
          <a:xfrm>
            <a:off x="1142365" y="4371261"/>
            <a:ext cx="134334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偏好专业功能与数据报表</a:t>
            </a:r>
          </a:p>
        </p:txBody>
      </p:sp>
      <p:sp>
        <p:nvSpPr>
          <p:cNvPr id="80" name="pcf2-1"/>
          <p:cNvSpPr txBox="1"/>
          <p:nvPr/>
        </p:nvSpPr>
        <p:spPr>
          <a:xfrm>
            <a:off x="1142365" y="4587161"/>
            <a:ext cx="12303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决策周期长，看重案例</a:t>
            </a:r>
          </a:p>
        </p:txBody>
      </p:sp>
      <p:cxnSp>
        <p:nvCxnSpPr>
          <p:cNvPr id="81" name="pcsep3-1"/>
          <p:cNvCxnSpPr/>
          <p:nvPr/>
        </p:nvCxnSpPr>
        <p:spPr>
          <a:xfrm>
            <a:off x="1155700" y="4902200"/>
            <a:ext cx="16891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pccl-1"/>
          <p:cNvSpPr txBox="1"/>
          <p:nvPr/>
        </p:nvSpPr>
        <p:spPr>
          <a:xfrm>
            <a:off x="1144270" y="5102066"/>
            <a:ext cx="5937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付费转化率</a:t>
            </a:r>
          </a:p>
        </p:txBody>
      </p:sp>
      <p:sp>
        <p:nvSpPr>
          <p:cNvPr id="83" name="pccv-1"/>
          <p:cNvSpPr txBox="1"/>
          <p:nvPr/>
        </p:nvSpPr>
        <p:spPr>
          <a:xfrm>
            <a:off x="2269490" y="5009832"/>
            <a:ext cx="59817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5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6.8%</a:t>
            </a:r>
          </a:p>
        </p:txBody>
      </p:sp>
      <p:sp>
        <p:nvSpPr>
          <p:cNvPr id="84" name="pc-2"/>
          <p:cNvSpPr/>
          <p:nvPr/>
        </p:nvSpPr>
        <p:spPr>
          <a:xfrm>
            <a:off x="9144000" y="1587500"/>
            <a:ext cx="2095500" cy="3873500"/>
          </a:xfrm>
          <a:custGeom>
            <a:avLst/>
            <a:gdLst/>
            <a:ahLst/>
            <a:cxnLst/>
            <a:rect l="0" t="0" r="r" b="b"/>
            <a:pathLst>
              <a:path w="2095500" h="3873500">
                <a:moveTo>
                  <a:pt x="152400" y="0"/>
                </a:moveTo>
                <a:lnTo>
                  <a:pt x="1943100" y="0"/>
                </a:lnTo>
                <a:cubicBezTo>
                  <a:pt x="2027301" y="0"/>
                  <a:pt x="2095500" y="68199"/>
                  <a:pt x="2095500" y="152400"/>
                </a:cubicBezTo>
                <a:lnTo>
                  <a:pt x="2095500" y="3721100"/>
                </a:lnTo>
                <a:cubicBezTo>
                  <a:pt x="2095500" y="3805301"/>
                  <a:pt x="2027301" y="3873500"/>
                  <a:pt x="1943100" y="3873500"/>
                </a:cubicBezTo>
                <a:lnTo>
                  <a:pt x="152400" y="3873500"/>
                </a:lnTo>
                <a:cubicBezTo>
                  <a:pt x="68199" y="3873500"/>
                  <a:pt x="0" y="3805301"/>
                  <a:pt x="0" y="37211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pcb-2"/>
          <p:cNvSpPr/>
          <p:nvPr/>
        </p:nvSpPr>
        <p:spPr>
          <a:xfrm>
            <a:off x="9144000" y="1587500"/>
            <a:ext cx="2095500" cy="50800"/>
          </a:xfrm>
          <a:custGeom>
            <a:avLst/>
            <a:gdLst/>
            <a:ahLst/>
            <a:cxnLst/>
            <a:rect l="0" t="0" r="r" b="b"/>
            <a:pathLst>
              <a:path w="2095500" h="50800">
                <a:moveTo>
                  <a:pt x="25400" y="0"/>
                </a:moveTo>
                <a:lnTo>
                  <a:pt x="2070100" y="0"/>
                </a:lnTo>
                <a:cubicBezTo>
                  <a:pt x="2084134" y="0"/>
                  <a:pt x="2095500" y="11366"/>
                  <a:pt x="2095500" y="25400"/>
                </a:cubicBezTo>
                <a:lnTo>
                  <a:pt x="2095500" y="25400"/>
                </a:lnTo>
                <a:cubicBezTo>
                  <a:pt x="2095500" y="39433"/>
                  <a:pt x="2084134" y="50800"/>
                  <a:pt x="2070100" y="50800"/>
                </a:cubicBezTo>
                <a:lnTo>
                  <a:pt x="25400" y="50800"/>
                </a:lnTo>
                <a:cubicBezTo>
                  <a:pt x="11366" y="50800"/>
                  <a:pt x="0" y="39433"/>
                  <a:pt x="0" y="25400"/>
                </a:cubicBezTo>
                <a:lnTo>
                  <a:pt x="0" y="25400"/>
                </a:lnTo>
                <a:cubicBezTo>
                  <a:pt x="0" y="11366"/>
                  <a:pt x="11366" y="0"/>
                  <a:pt x="254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chip"/>
          <p:cNvSpPr/>
          <p:nvPr/>
        </p:nvSpPr>
        <p:spPr>
          <a:xfrm>
            <a:off x="9309100" y="1828800"/>
            <a:ext cx="381000" cy="381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chip-ring"/>
          <p:cNvSpPr/>
          <p:nvPr/>
        </p:nvSpPr>
        <p:spPr>
          <a:xfrm>
            <a:off x="9309100" y="1828800"/>
            <a:ext cx="381000" cy="381000"/>
          </a:xfrm>
          <a:prstGeom prst="ellipse">
            <a:avLst/>
          </a:prstGeom>
          <a:noFill/>
          <a:ln w="6350" cap="rnd">
            <a:solidFill>
              <a:srgbClr val="E0703A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icon-star"/>
          <p:cNvSpPr/>
          <p:nvPr/>
        </p:nvSpPr>
        <p:spPr>
          <a:xfrm>
            <a:off x="9436608" y="1957070"/>
            <a:ext cx="125984" cy="120015"/>
          </a:xfrm>
          <a:custGeom>
            <a:avLst/>
            <a:gdLst/>
            <a:ahLst/>
            <a:cxnLst/>
            <a:rect l="0" t="0" r="r" b="b"/>
            <a:pathLst>
              <a:path w="125984" h="120015">
                <a:moveTo>
                  <a:pt x="62992" y="0"/>
                </a:moveTo>
                <a:lnTo>
                  <a:pt x="82233" y="40005"/>
                </a:lnTo>
                <a:lnTo>
                  <a:pt x="125984" y="45911"/>
                </a:lnTo>
                <a:lnTo>
                  <a:pt x="94107" y="76327"/>
                </a:lnTo>
                <a:lnTo>
                  <a:pt x="102235" y="120015"/>
                </a:lnTo>
                <a:lnTo>
                  <a:pt x="62992" y="98552"/>
                </a:lnTo>
                <a:lnTo>
                  <a:pt x="23749" y="120015"/>
                </a:lnTo>
                <a:lnTo>
                  <a:pt x="31877" y="76327"/>
                </a:lnTo>
                <a:lnTo>
                  <a:pt x="0" y="45911"/>
                </a:lnTo>
                <a:lnTo>
                  <a:pt x="43752" y="40005"/>
                </a:lnTo>
                <a:close/>
              </a:path>
            </a:pathLst>
          </a:custGeom>
          <a:noFill/>
          <a:ln w="1270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pcl-2"/>
          <p:cNvSpPr txBox="1"/>
          <p:nvPr/>
        </p:nvSpPr>
        <p:spPr>
          <a:xfrm>
            <a:off x="9759950" y="18867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女性用户</a:t>
            </a:r>
          </a:p>
        </p:txBody>
      </p:sp>
      <p:sp>
        <p:nvSpPr>
          <p:cNvPr id="90" name="pcs-2"/>
          <p:cNvSpPr txBox="1"/>
          <p:nvPr/>
        </p:nvSpPr>
        <p:spPr>
          <a:xfrm>
            <a:off x="9286240" y="2166620"/>
            <a:ext cx="1026160" cy="8890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40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52</a:t>
            </a:r>
          </a:p>
        </p:txBody>
      </p:sp>
      <p:sp>
        <p:nvSpPr>
          <p:cNvPr id="91" name="pcu-2"/>
          <p:cNvSpPr txBox="1"/>
          <p:nvPr/>
        </p:nvSpPr>
        <p:spPr>
          <a:xfrm>
            <a:off x="9983216" y="2543048"/>
            <a:ext cx="296672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6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%</a:t>
            </a:r>
          </a:p>
        </p:txBody>
      </p:sp>
      <p:sp>
        <p:nvSpPr>
          <p:cNvPr id="92" name="pcsl-2"/>
          <p:cNvSpPr txBox="1"/>
          <p:nvPr/>
        </p:nvSpPr>
        <p:spPr>
          <a:xfrm>
            <a:off x="9335770" y="2917666"/>
            <a:ext cx="5937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占全部用户</a:t>
            </a:r>
          </a:p>
        </p:txBody>
      </p:sp>
      <p:cxnSp>
        <p:nvCxnSpPr>
          <p:cNvPr id="93" name="pcsep-2"/>
          <p:cNvCxnSpPr/>
          <p:nvPr/>
        </p:nvCxnSpPr>
        <p:spPr>
          <a:xfrm>
            <a:off x="9347200" y="3238500"/>
            <a:ext cx="16891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4" name="pcpl-2"/>
          <p:cNvSpPr txBox="1"/>
          <p:nvPr/>
        </p:nvSpPr>
        <p:spPr>
          <a:xfrm>
            <a:off x="9335770" y="3387566"/>
            <a:ext cx="5937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主力年龄段</a:t>
            </a:r>
          </a:p>
        </p:txBody>
      </p:sp>
      <p:sp>
        <p:nvSpPr>
          <p:cNvPr id="95" name="pcp-2"/>
          <p:cNvSpPr txBox="1"/>
          <p:nvPr/>
        </p:nvSpPr>
        <p:spPr>
          <a:xfrm>
            <a:off x="9324340" y="3536633"/>
            <a:ext cx="104648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25–29 岁</a:t>
            </a:r>
          </a:p>
        </p:txBody>
      </p:sp>
      <p:cxnSp>
        <p:nvCxnSpPr>
          <p:cNvPr id="96" name="pcsep2-2"/>
          <p:cNvCxnSpPr/>
          <p:nvPr/>
        </p:nvCxnSpPr>
        <p:spPr>
          <a:xfrm>
            <a:off x="9347200" y="4000500"/>
            <a:ext cx="16891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7" name="pcfl-2"/>
          <p:cNvSpPr txBox="1"/>
          <p:nvPr/>
        </p:nvSpPr>
        <p:spPr>
          <a:xfrm>
            <a:off x="9335770" y="4149566"/>
            <a:ext cx="4921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行为特征</a:t>
            </a:r>
          </a:p>
        </p:txBody>
      </p:sp>
      <p:sp>
        <p:nvSpPr>
          <p:cNvPr id="98" name="pcf1-2"/>
          <p:cNvSpPr txBox="1"/>
          <p:nvPr/>
        </p:nvSpPr>
        <p:spPr>
          <a:xfrm>
            <a:off x="9333865" y="4371261"/>
            <a:ext cx="111728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偏好模板与协作分享</a:t>
            </a:r>
          </a:p>
        </p:txBody>
      </p:sp>
      <p:sp>
        <p:nvSpPr>
          <p:cNvPr id="99" name="pcf2-2"/>
          <p:cNvSpPr txBox="1"/>
          <p:nvPr/>
        </p:nvSpPr>
        <p:spPr>
          <a:xfrm>
            <a:off x="9333865" y="4587161"/>
            <a:ext cx="12303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转化快，对价格更敏感</a:t>
            </a:r>
          </a:p>
        </p:txBody>
      </p:sp>
      <p:cxnSp>
        <p:nvCxnSpPr>
          <p:cNvPr id="100" name="pcsep3-2"/>
          <p:cNvCxnSpPr/>
          <p:nvPr/>
        </p:nvCxnSpPr>
        <p:spPr>
          <a:xfrm>
            <a:off x="9347200" y="4902200"/>
            <a:ext cx="16891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1" name="pccl-2"/>
          <p:cNvSpPr txBox="1"/>
          <p:nvPr/>
        </p:nvSpPr>
        <p:spPr>
          <a:xfrm>
            <a:off x="9335770" y="5102066"/>
            <a:ext cx="5937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付费转化率</a:t>
            </a:r>
          </a:p>
        </p:txBody>
      </p:sp>
      <p:sp>
        <p:nvSpPr>
          <p:cNvPr id="102" name="pccv-2"/>
          <p:cNvSpPr txBox="1"/>
          <p:nvPr/>
        </p:nvSpPr>
        <p:spPr>
          <a:xfrm>
            <a:off x="10460990" y="5009832"/>
            <a:ext cx="59817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5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9.4%</a:t>
            </a:r>
          </a:p>
        </p:txBody>
      </p:sp>
      <p:sp>
        <p:nvSpPr>
          <p:cNvPr id="103" name="sum"/>
          <p:cNvSpPr/>
          <p:nvPr/>
        </p:nvSpPr>
        <p:spPr>
          <a:xfrm>
            <a:off x="952500" y="5791200"/>
            <a:ext cx="10287000" cy="533400"/>
          </a:xfrm>
          <a:custGeom>
            <a:avLst/>
            <a:gdLst/>
            <a:ahLst/>
            <a:cxnLst/>
            <a:rect l="0" t="0" r="r" b="b"/>
            <a:pathLst>
              <a:path w="10287000" h="5334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31800"/>
                </a:lnTo>
                <a:cubicBezTo>
                  <a:pt x="10287000" y="487934"/>
                  <a:pt x="10241534" y="533400"/>
                  <a:pt x="10185400" y="533400"/>
                </a:cubicBezTo>
                <a:lnTo>
                  <a:pt x="101600" y="533400"/>
                </a:lnTo>
                <a:cubicBezTo>
                  <a:pt x="45466" y="533400"/>
                  <a:pt x="0" y="487934"/>
                  <a:pt x="0" y="431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4" name="sum-bar"/>
          <p:cNvSpPr/>
          <p:nvPr/>
        </p:nvSpPr>
        <p:spPr>
          <a:xfrm>
            <a:off x="952500" y="57912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sum-h"/>
          <p:cNvSpPr txBox="1"/>
          <p:nvPr/>
        </p:nvSpPr>
        <p:spPr>
          <a:xfrm>
            <a:off x="1141222" y="59596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运营重点</a:t>
            </a:r>
          </a:p>
        </p:txBody>
      </p:sp>
      <p:sp>
        <p:nvSpPr>
          <p:cNvPr id="106" name="sum-p"/>
          <p:cNvSpPr txBox="1"/>
          <p:nvPr/>
        </p:nvSpPr>
        <p:spPr>
          <a:xfrm>
            <a:off x="1891665" y="5971461"/>
            <a:ext cx="443388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女性用户更年轻、集中在 25–29 岁——新模板与分享裂变活动优先面向这一人群投放。</a:t>
            </a:r>
          </a:p>
        </p:txBody>
      </p:sp>
      <p:cxnSp>
        <p:nvCxnSpPr>
          <p:cNvPr id="107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8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蝴蝶图 · 七个年龄段</a:t>
            </a:r>
          </a:p>
        </p:txBody>
      </p:sp>
      <p:sp>
        <p:nvSpPr>
          <p:cNvPr id="109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全年每日订单热力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53695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CALENDAR HEATMAP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979281" y="673132"/>
            <a:ext cx="264147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365 个方块就是 365 天，颜色越深当天订单越多</a:t>
            </a:r>
          </a:p>
        </p:txBody>
      </p:sp>
      <p:sp>
        <p:nvSpPr>
          <p:cNvPr id="10" name="wd-0"/>
          <p:cNvSpPr txBox="1"/>
          <p:nvPr/>
        </p:nvSpPr>
        <p:spPr>
          <a:xfrm>
            <a:off x="1226058" y="1674558"/>
            <a:ext cx="1689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一</a:t>
            </a:r>
          </a:p>
        </p:txBody>
      </p:sp>
      <p:sp>
        <p:nvSpPr>
          <p:cNvPr id="11" name="wd-2"/>
          <p:cNvSpPr txBox="1"/>
          <p:nvPr/>
        </p:nvSpPr>
        <p:spPr>
          <a:xfrm>
            <a:off x="1226058" y="2042858"/>
            <a:ext cx="1689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三</a:t>
            </a:r>
          </a:p>
        </p:txBody>
      </p:sp>
      <p:sp>
        <p:nvSpPr>
          <p:cNvPr id="12" name="wd-4"/>
          <p:cNvSpPr txBox="1"/>
          <p:nvPr/>
        </p:nvSpPr>
        <p:spPr>
          <a:xfrm>
            <a:off x="1226058" y="2411158"/>
            <a:ext cx="1689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五</a:t>
            </a:r>
          </a:p>
        </p:txBody>
      </p:sp>
      <p:sp>
        <p:nvSpPr>
          <p:cNvPr id="13" name="wd-6"/>
          <p:cNvSpPr txBox="1"/>
          <p:nvPr/>
        </p:nvSpPr>
        <p:spPr>
          <a:xfrm>
            <a:off x="1226058" y="2779458"/>
            <a:ext cx="1689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日</a:t>
            </a:r>
          </a:p>
        </p:txBody>
      </p:sp>
      <p:sp>
        <p:nvSpPr>
          <p:cNvPr id="14" name="c-0101"/>
          <p:cNvSpPr/>
          <p:nvPr/>
        </p:nvSpPr>
        <p:spPr>
          <a:xfrm>
            <a:off x="147320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c-0102"/>
          <p:cNvSpPr/>
          <p:nvPr/>
        </p:nvSpPr>
        <p:spPr>
          <a:xfrm>
            <a:off x="147320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c-0103"/>
          <p:cNvSpPr/>
          <p:nvPr/>
        </p:nvSpPr>
        <p:spPr>
          <a:xfrm>
            <a:off x="147320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c-0104"/>
          <p:cNvSpPr/>
          <p:nvPr/>
        </p:nvSpPr>
        <p:spPr>
          <a:xfrm>
            <a:off x="147320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c-0105"/>
          <p:cNvSpPr/>
          <p:nvPr/>
        </p:nvSpPr>
        <p:spPr>
          <a:xfrm>
            <a:off x="165735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c-0106"/>
          <p:cNvSpPr/>
          <p:nvPr/>
        </p:nvSpPr>
        <p:spPr>
          <a:xfrm>
            <a:off x="165735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c-0107"/>
          <p:cNvSpPr/>
          <p:nvPr/>
        </p:nvSpPr>
        <p:spPr>
          <a:xfrm>
            <a:off x="165735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c-0108"/>
          <p:cNvSpPr/>
          <p:nvPr/>
        </p:nvSpPr>
        <p:spPr>
          <a:xfrm>
            <a:off x="165735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c-0109"/>
          <p:cNvSpPr/>
          <p:nvPr/>
        </p:nvSpPr>
        <p:spPr>
          <a:xfrm>
            <a:off x="165735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c-0110"/>
          <p:cNvSpPr/>
          <p:nvPr/>
        </p:nvSpPr>
        <p:spPr>
          <a:xfrm>
            <a:off x="165735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c-0111"/>
          <p:cNvSpPr/>
          <p:nvPr/>
        </p:nvSpPr>
        <p:spPr>
          <a:xfrm>
            <a:off x="165735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c-0112"/>
          <p:cNvSpPr/>
          <p:nvPr/>
        </p:nvSpPr>
        <p:spPr>
          <a:xfrm>
            <a:off x="184150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c-0113"/>
          <p:cNvSpPr/>
          <p:nvPr/>
        </p:nvSpPr>
        <p:spPr>
          <a:xfrm>
            <a:off x="184150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c-0114"/>
          <p:cNvSpPr/>
          <p:nvPr/>
        </p:nvSpPr>
        <p:spPr>
          <a:xfrm>
            <a:off x="184150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c-0115"/>
          <p:cNvSpPr/>
          <p:nvPr/>
        </p:nvSpPr>
        <p:spPr>
          <a:xfrm>
            <a:off x="184150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c-0116"/>
          <p:cNvSpPr/>
          <p:nvPr/>
        </p:nvSpPr>
        <p:spPr>
          <a:xfrm>
            <a:off x="184150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c-0117"/>
          <p:cNvSpPr/>
          <p:nvPr/>
        </p:nvSpPr>
        <p:spPr>
          <a:xfrm>
            <a:off x="184150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c-0118"/>
          <p:cNvSpPr/>
          <p:nvPr/>
        </p:nvSpPr>
        <p:spPr>
          <a:xfrm>
            <a:off x="184150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c-0119"/>
          <p:cNvSpPr/>
          <p:nvPr/>
        </p:nvSpPr>
        <p:spPr>
          <a:xfrm>
            <a:off x="202565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c-0120"/>
          <p:cNvSpPr/>
          <p:nvPr/>
        </p:nvSpPr>
        <p:spPr>
          <a:xfrm>
            <a:off x="202565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c-0121"/>
          <p:cNvSpPr/>
          <p:nvPr/>
        </p:nvSpPr>
        <p:spPr>
          <a:xfrm>
            <a:off x="202565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c-0122"/>
          <p:cNvSpPr/>
          <p:nvPr/>
        </p:nvSpPr>
        <p:spPr>
          <a:xfrm>
            <a:off x="202565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c-0123"/>
          <p:cNvSpPr/>
          <p:nvPr/>
        </p:nvSpPr>
        <p:spPr>
          <a:xfrm>
            <a:off x="202565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c-0124"/>
          <p:cNvSpPr/>
          <p:nvPr/>
        </p:nvSpPr>
        <p:spPr>
          <a:xfrm>
            <a:off x="202565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c-0125"/>
          <p:cNvSpPr/>
          <p:nvPr/>
        </p:nvSpPr>
        <p:spPr>
          <a:xfrm>
            <a:off x="202565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c-0126"/>
          <p:cNvSpPr/>
          <p:nvPr/>
        </p:nvSpPr>
        <p:spPr>
          <a:xfrm>
            <a:off x="220980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c-0127"/>
          <p:cNvSpPr/>
          <p:nvPr/>
        </p:nvSpPr>
        <p:spPr>
          <a:xfrm>
            <a:off x="220980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c-0128"/>
          <p:cNvSpPr/>
          <p:nvPr/>
        </p:nvSpPr>
        <p:spPr>
          <a:xfrm>
            <a:off x="220980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c-0129"/>
          <p:cNvSpPr/>
          <p:nvPr/>
        </p:nvSpPr>
        <p:spPr>
          <a:xfrm>
            <a:off x="220980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c-0130"/>
          <p:cNvSpPr/>
          <p:nvPr/>
        </p:nvSpPr>
        <p:spPr>
          <a:xfrm>
            <a:off x="220980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c-0131"/>
          <p:cNvSpPr/>
          <p:nvPr/>
        </p:nvSpPr>
        <p:spPr>
          <a:xfrm>
            <a:off x="220980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c-0201"/>
          <p:cNvSpPr/>
          <p:nvPr/>
        </p:nvSpPr>
        <p:spPr>
          <a:xfrm>
            <a:off x="220980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c-0202"/>
          <p:cNvSpPr/>
          <p:nvPr/>
        </p:nvSpPr>
        <p:spPr>
          <a:xfrm>
            <a:off x="239395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c-0203"/>
          <p:cNvSpPr/>
          <p:nvPr/>
        </p:nvSpPr>
        <p:spPr>
          <a:xfrm>
            <a:off x="239395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c-0204"/>
          <p:cNvSpPr/>
          <p:nvPr/>
        </p:nvSpPr>
        <p:spPr>
          <a:xfrm>
            <a:off x="239395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c-0205"/>
          <p:cNvSpPr/>
          <p:nvPr/>
        </p:nvSpPr>
        <p:spPr>
          <a:xfrm>
            <a:off x="239395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c-0206"/>
          <p:cNvSpPr/>
          <p:nvPr/>
        </p:nvSpPr>
        <p:spPr>
          <a:xfrm>
            <a:off x="239395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c-0207"/>
          <p:cNvSpPr/>
          <p:nvPr/>
        </p:nvSpPr>
        <p:spPr>
          <a:xfrm>
            <a:off x="239395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c-0208"/>
          <p:cNvSpPr/>
          <p:nvPr/>
        </p:nvSpPr>
        <p:spPr>
          <a:xfrm>
            <a:off x="239395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c-0209"/>
          <p:cNvSpPr/>
          <p:nvPr/>
        </p:nvSpPr>
        <p:spPr>
          <a:xfrm>
            <a:off x="257810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c-0210"/>
          <p:cNvSpPr/>
          <p:nvPr/>
        </p:nvSpPr>
        <p:spPr>
          <a:xfrm>
            <a:off x="257810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c-0211"/>
          <p:cNvSpPr/>
          <p:nvPr/>
        </p:nvSpPr>
        <p:spPr>
          <a:xfrm>
            <a:off x="257810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c-0212"/>
          <p:cNvSpPr/>
          <p:nvPr/>
        </p:nvSpPr>
        <p:spPr>
          <a:xfrm>
            <a:off x="257810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c-0213"/>
          <p:cNvSpPr/>
          <p:nvPr/>
        </p:nvSpPr>
        <p:spPr>
          <a:xfrm>
            <a:off x="257810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c-0214"/>
          <p:cNvSpPr/>
          <p:nvPr/>
        </p:nvSpPr>
        <p:spPr>
          <a:xfrm>
            <a:off x="257810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c-0215"/>
          <p:cNvSpPr/>
          <p:nvPr/>
        </p:nvSpPr>
        <p:spPr>
          <a:xfrm>
            <a:off x="257810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c-0216"/>
          <p:cNvSpPr/>
          <p:nvPr/>
        </p:nvSpPr>
        <p:spPr>
          <a:xfrm>
            <a:off x="276225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c-0217"/>
          <p:cNvSpPr/>
          <p:nvPr/>
        </p:nvSpPr>
        <p:spPr>
          <a:xfrm>
            <a:off x="276225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c-0218"/>
          <p:cNvSpPr/>
          <p:nvPr/>
        </p:nvSpPr>
        <p:spPr>
          <a:xfrm>
            <a:off x="276225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c-0219"/>
          <p:cNvSpPr/>
          <p:nvPr/>
        </p:nvSpPr>
        <p:spPr>
          <a:xfrm>
            <a:off x="276225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c-0220"/>
          <p:cNvSpPr/>
          <p:nvPr/>
        </p:nvSpPr>
        <p:spPr>
          <a:xfrm>
            <a:off x="276225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c-0221"/>
          <p:cNvSpPr/>
          <p:nvPr/>
        </p:nvSpPr>
        <p:spPr>
          <a:xfrm>
            <a:off x="276225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c-0222"/>
          <p:cNvSpPr/>
          <p:nvPr/>
        </p:nvSpPr>
        <p:spPr>
          <a:xfrm>
            <a:off x="276225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c-0223"/>
          <p:cNvSpPr/>
          <p:nvPr/>
        </p:nvSpPr>
        <p:spPr>
          <a:xfrm>
            <a:off x="294640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c-0224"/>
          <p:cNvSpPr/>
          <p:nvPr/>
        </p:nvSpPr>
        <p:spPr>
          <a:xfrm>
            <a:off x="294640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c-0225"/>
          <p:cNvSpPr/>
          <p:nvPr/>
        </p:nvSpPr>
        <p:spPr>
          <a:xfrm>
            <a:off x="294640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c-0226"/>
          <p:cNvSpPr/>
          <p:nvPr/>
        </p:nvSpPr>
        <p:spPr>
          <a:xfrm>
            <a:off x="294640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c-0227"/>
          <p:cNvSpPr/>
          <p:nvPr/>
        </p:nvSpPr>
        <p:spPr>
          <a:xfrm>
            <a:off x="294640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c-0228"/>
          <p:cNvSpPr/>
          <p:nvPr/>
        </p:nvSpPr>
        <p:spPr>
          <a:xfrm>
            <a:off x="294640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c-0301"/>
          <p:cNvSpPr/>
          <p:nvPr/>
        </p:nvSpPr>
        <p:spPr>
          <a:xfrm>
            <a:off x="294640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c-0302"/>
          <p:cNvSpPr/>
          <p:nvPr/>
        </p:nvSpPr>
        <p:spPr>
          <a:xfrm>
            <a:off x="313055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c-0303"/>
          <p:cNvSpPr/>
          <p:nvPr/>
        </p:nvSpPr>
        <p:spPr>
          <a:xfrm>
            <a:off x="313055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c-0304"/>
          <p:cNvSpPr/>
          <p:nvPr/>
        </p:nvSpPr>
        <p:spPr>
          <a:xfrm>
            <a:off x="313055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c-0305"/>
          <p:cNvSpPr/>
          <p:nvPr/>
        </p:nvSpPr>
        <p:spPr>
          <a:xfrm>
            <a:off x="313055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c-0306"/>
          <p:cNvSpPr/>
          <p:nvPr/>
        </p:nvSpPr>
        <p:spPr>
          <a:xfrm>
            <a:off x="313055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c-0307"/>
          <p:cNvSpPr/>
          <p:nvPr/>
        </p:nvSpPr>
        <p:spPr>
          <a:xfrm>
            <a:off x="313055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c-0308"/>
          <p:cNvSpPr/>
          <p:nvPr/>
        </p:nvSpPr>
        <p:spPr>
          <a:xfrm>
            <a:off x="313055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1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c-0309"/>
          <p:cNvSpPr/>
          <p:nvPr/>
        </p:nvSpPr>
        <p:spPr>
          <a:xfrm>
            <a:off x="331470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c-0310"/>
          <p:cNvSpPr/>
          <p:nvPr/>
        </p:nvSpPr>
        <p:spPr>
          <a:xfrm>
            <a:off x="331470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c-0311"/>
          <p:cNvSpPr/>
          <p:nvPr/>
        </p:nvSpPr>
        <p:spPr>
          <a:xfrm>
            <a:off x="331470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c-0312"/>
          <p:cNvSpPr/>
          <p:nvPr/>
        </p:nvSpPr>
        <p:spPr>
          <a:xfrm>
            <a:off x="331470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c-0313"/>
          <p:cNvSpPr/>
          <p:nvPr/>
        </p:nvSpPr>
        <p:spPr>
          <a:xfrm>
            <a:off x="331470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c-0314"/>
          <p:cNvSpPr/>
          <p:nvPr/>
        </p:nvSpPr>
        <p:spPr>
          <a:xfrm>
            <a:off x="331470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c-0315"/>
          <p:cNvSpPr/>
          <p:nvPr/>
        </p:nvSpPr>
        <p:spPr>
          <a:xfrm>
            <a:off x="331470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c-0316"/>
          <p:cNvSpPr/>
          <p:nvPr/>
        </p:nvSpPr>
        <p:spPr>
          <a:xfrm>
            <a:off x="349885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c-0317"/>
          <p:cNvSpPr/>
          <p:nvPr/>
        </p:nvSpPr>
        <p:spPr>
          <a:xfrm>
            <a:off x="349885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c-0318"/>
          <p:cNvSpPr/>
          <p:nvPr/>
        </p:nvSpPr>
        <p:spPr>
          <a:xfrm>
            <a:off x="349885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c-0319"/>
          <p:cNvSpPr/>
          <p:nvPr/>
        </p:nvSpPr>
        <p:spPr>
          <a:xfrm>
            <a:off x="349885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c-0320"/>
          <p:cNvSpPr/>
          <p:nvPr/>
        </p:nvSpPr>
        <p:spPr>
          <a:xfrm>
            <a:off x="349885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c-0321"/>
          <p:cNvSpPr/>
          <p:nvPr/>
        </p:nvSpPr>
        <p:spPr>
          <a:xfrm>
            <a:off x="349885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c-0322"/>
          <p:cNvSpPr/>
          <p:nvPr/>
        </p:nvSpPr>
        <p:spPr>
          <a:xfrm>
            <a:off x="349885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c-0323"/>
          <p:cNvSpPr/>
          <p:nvPr/>
        </p:nvSpPr>
        <p:spPr>
          <a:xfrm>
            <a:off x="368300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c-0324"/>
          <p:cNvSpPr/>
          <p:nvPr/>
        </p:nvSpPr>
        <p:spPr>
          <a:xfrm>
            <a:off x="368300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c-0325"/>
          <p:cNvSpPr/>
          <p:nvPr/>
        </p:nvSpPr>
        <p:spPr>
          <a:xfrm>
            <a:off x="368300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c-0326"/>
          <p:cNvSpPr/>
          <p:nvPr/>
        </p:nvSpPr>
        <p:spPr>
          <a:xfrm>
            <a:off x="368300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9" name="c-0327"/>
          <p:cNvSpPr/>
          <p:nvPr/>
        </p:nvSpPr>
        <p:spPr>
          <a:xfrm>
            <a:off x="368300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c-0328"/>
          <p:cNvSpPr/>
          <p:nvPr/>
        </p:nvSpPr>
        <p:spPr>
          <a:xfrm>
            <a:off x="368300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c-0329"/>
          <p:cNvSpPr/>
          <p:nvPr/>
        </p:nvSpPr>
        <p:spPr>
          <a:xfrm>
            <a:off x="368300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2" name="c-0330"/>
          <p:cNvSpPr/>
          <p:nvPr/>
        </p:nvSpPr>
        <p:spPr>
          <a:xfrm>
            <a:off x="386715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c-0331"/>
          <p:cNvSpPr/>
          <p:nvPr/>
        </p:nvSpPr>
        <p:spPr>
          <a:xfrm>
            <a:off x="386715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4" name="c-0401"/>
          <p:cNvSpPr/>
          <p:nvPr/>
        </p:nvSpPr>
        <p:spPr>
          <a:xfrm>
            <a:off x="386715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c-0402"/>
          <p:cNvSpPr/>
          <p:nvPr/>
        </p:nvSpPr>
        <p:spPr>
          <a:xfrm>
            <a:off x="386715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6" name="c-0403"/>
          <p:cNvSpPr/>
          <p:nvPr/>
        </p:nvSpPr>
        <p:spPr>
          <a:xfrm>
            <a:off x="386715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7" name="c-0404"/>
          <p:cNvSpPr/>
          <p:nvPr/>
        </p:nvSpPr>
        <p:spPr>
          <a:xfrm>
            <a:off x="386715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8" name="c-0405"/>
          <p:cNvSpPr/>
          <p:nvPr/>
        </p:nvSpPr>
        <p:spPr>
          <a:xfrm>
            <a:off x="386715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c-0406"/>
          <p:cNvSpPr/>
          <p:nvPr/>
        </p:nvSpPr>
        <p:spPr>
          <a:xfrm>
            <a:off x="405130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0" name="c-0407"/>
          <p:cNvSpPr/>
          <p:nvPr/>
        </p:nvSpPr>
        <p:spPr>
          <a:xfrm>
            <a:off x="405130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1" name="c-0408"/>
          <p:cNvSpPr/>
          <p:nvPr/>
        </p:nvSpPr>
        <p:spPr>
          <a:xfrm>
            <a:off x="405130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2" name="c-0409"/>
          <p:cNvSpPr/>
          <p:nvPr/>
        </p:nvSpPr>
        <p:spPr>
          <a:xfrm>
            <a:off x="405130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3" name="c-0410"/>
          <p:cNvSpPr/>
          <p:nvPr/>
        </p:nvSpPr>
        <p:spPr>
          <a:xfrm>
            <a:off x="405130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4" name="c-0411"/>
          <p:cNvSpPr/>
          <p:nvPr/>
        </p:nvSpPr>
        <p:spPr>
          <a:xfrm>
            <a:off x="405130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5" name="c-0412"/>
          <p:cNvSpPr/>
          <p:nvPr/>
        </p:nvSpPr>
        <p:spPr>
          <a:xfrm>
            <a:off x="405130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6" name="c-0413"/>
          <p:cNvSpPr/>
          <p:nvPr/>
        </p:nvSpPr>
        <p:spPr>
          <a:xfrm>
            <a:off x="423545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7" name="c-0414"/>
          <p:cNvSpPr/>
          <p:nvPr/>
        </p:nvSpPr>
        <p:spPr>
          <a:xfrm>
            <a:off x="423545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8" name="c-0415"/>
          <p:cNvSpPr/>
          <p:nvPr/>
        </p:nvSpPr>
        <p:spPr>
          <a:xfrm>
            <a:off x="423545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9" name="c-0416"/>
          <p:cNvSpPr/>
          <p:nvPr/>
        </p:nvSpPr>
        <p:spPr>
          <a:xfrm>
            <a:off x="423545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0" name="c-0417"/>
          <p:cNvSpPr/>
          <p:nvPr/>
        </p:nvSpPr>
        <p:spPr>
          <a:xfrm>
            <a:off x="423545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1" name="c-0418"/>
          <p:cNvSpPr/>
          <p:nvPr/>
        </p:nvSpPr>
        <p:spPr>
          <a:xfrm>
            <a:off x="423545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2" name="c-0419"/>
          <p:cNvSpPr/>
          <p:nvPr/>
        </p:nvSpPr>
        <p:spPr>
          <a:xfrm>
            <a:off x="423545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3" name="c-0420"/>
          <p:cNvSpPr/>
          <p:nvPr/>
        </p:nvSpPr>
        <p:spPr>
          <a:xfrm>
            <a:off x="441960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4" name="c-0421"/>
          <p:cNvSpPr/>
          <p:nvPr/>
        </p:nvSpPr>
        <p:spPr>
          <a:xfrm>
            <a:off x="441960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5" name="c-0422"/>
          <p:cNvSpPr/>
          <p:nvPr/>
        </p:nvSpPr>
        <p:spPr>
          <a:xfrm>
            <a:off x="441960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6" name="c-0423"/>
          <p:cNvSpPr/>
          <p:nvPr/>
        </p:nvSpPr>
        <p:spPr>
          <a:xfrm>
            <a:off x="441960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7" name="c-0424"/>
          <p:cNvSpPr/>
          <p:nvPr/>
        </p:nvSpPr>
        <p:spPr>
          <a:xfrm>
            <a:off x="441960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8" name="c-0425"/>
          <p:cNvSpPr/>
          <p:nvPr/>
        </p:nvSpPr>
        <p:spPr>
          <a:xfrm>
            <a:off x="441960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9" name="c-0426"/>
          <p:cNvSpPr/>
          <p:nvPr/>
        </p:nvSpPr>
        <p:spPr>
          <a:xfrm>
            <a:off x="441960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0" name="c-0427"/>
          <p:cNvSpPr/>
          <p:nvPr/>
        </p:nvSpPr>
        <p:spPr>
          <a:xfrm>
            <a:off x="460375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1" name="c-0428"/>
          <p:cNvSpPr/>
          <p:nvPr/>
        </p:nvSpPr>
        <p:spPr>
          <a:xfrm>
            <a:off x="460375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2" name="c-0429"/>
          <p:cNvSpPr/>
          <p:nvPr/>
        </p:nvSpPr>
        <p:spPr>
          <a:xfrm>
            <a:off x="460375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3" name="c-0430"/>
          <p:cNvSpPr/>
          <p:nvPr/>
        </p:nvSpPr>
        <p:spPr>
          <a:xfrm>
            <a:off x="460375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4" name="c-0501"/>
          <p:cNvSpPr/>
          <p:nvPr/>
        </p:nvSpPr>
        <p:spPr>
          <a:xfrm>
            <a:off x="460375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5" name="c-0502"/>
          <p:cNvSpPr/>
          <p:nvPr/>
        </p:nvSpPr>
        <p:spPr>
          <a:xfrm>
            <a:off x="460375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6" name="c-0503"/>
          <p:cNvSpPr/>
          <p:nvPr/>
        </p:nvSpPr>
        <p:spPr>
          <a:xfrm>
            <a:off x="460375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7" name="c-0504"/>
          <p:cNvSpPr/>
          <p:nvPr/>
        </p:nvSpPr>
        <p:spPr>
          <a:xfrm>
            <a:off x="478790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8" name="c-0505"/>
          <p:cNvSpPr/>
          <p:nvPr/>
        </p:nvSpPr>
        <p:spPr>
          <a:xfrm>
            <a:off x="478790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9" name="c-0506"/>
          <p:cNvSpPr/>
          <p:nvPr/>
        </p:nvSpPr>
        <p:spPr>
          <a:xfrm>
            <a:off x="478790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0" name="c-0507"/>
          <p:cNvSpPr/>
          <p:nvPr/>
        </p:nvSpPr>
        <p:spPr>
          <a:xfrm>
            <a:off x="478790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1" name="c-0508"/>
          <p:cNvSpPr/>
          <p:nvPr/>
        </p:nvSpPr>
        <p:spPr>
          <a:xfrm>
            <a:off x="478790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2" name="c-0509"/>
          <p:cNvSpPr/>
          <p:nvPr/>
        </p:nvSpPr>
        <p:spPr>
          <a:xfrm>
            <a:off x="478790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3" name="c-0510"/>
          <p:cNvSpPr/>
          <p:nvPr/>
        </p:nvSpPr>
        <p:spPr>
          <a:xfrm>
            <a:off x="478790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4" name="c-0511"/>
          <p:cNvSpPr/>
          <p:nvPr/>
        </p:nvSpPr>
        <p:spPr>
          <a:xfrm>
            <a:off x="497205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5" name="c-0512"/>
          <p:cNvSpPr/>
          <p:nvPr/>
        </p:nvSpPr>
        <p:spPr>
          <a:xfrm>
            <a:off x="497205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6" name="c-0513"/>
          <p:cNvSpPr/>
          <p:nvPr/>
        </p:nvSpPr>
        <p:spPr>
          <a:xfrm>
            <a:off x="497205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7" name="c-0514"/>
          <p:cNvSpPr/>
          <p:nvPr/>
        </p:nvSpPr>
        <p:spPr>
          <a:xfrm>
            <a:off x="497205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8" name="c-0515"/>
          <p:cNvSpPr/>
          <p:nvPr/>
        </p:nvSpPr>
        <p:spPr>
          <a:xfrm>
            <a:off x="497205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9" name="c-0516"/>
          <p:cNvSpPr/>
          <p:nvPr/>
        </p:nvSpPr>
        <p:spPr>
          <a:xfrm>
            <a:off x="497205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0" name="c-0517"/>
          <p:cNvSpPr/>
          <p:nvPr/>
        </p:nvSpPr>
        <p:spPr>
          <a:xfrm>
            <a:off x="497205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1" name="c-0518"/>
          <p:cNvSpPr/>
          <p:nvPr/>
        </p:nvSpPr>
        <p:spPr>
          <a:xfrm>
            <a:off x="515620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2" name="c-0519"/>
          <p:cNvSpPr/>
          <p:nvPr/>
        </p:nvSpPr>
        <p:spPr>
          <a:xfrm>
            <a:off x="515620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3" name="c-0520"/>
          <p:cNvSpPr/>
          <p:nvPr/>
        </p:nvSpPr>
        <p:spPr>
          <a:xfrm>
            <a:off x="515620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4" name="c-0521"/>
          <p:cNvSpPr/>
          <p:nvPr/>
        </p:nvSpPr>
        <p:spPr>
          <a:xfrm>
            <a:off x="515620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5" name="c-0522"/>
          <p:cNvSpPr/>
          <p:nvPr/>
        </p:nvSpPr>
        <p:spPr>
          <a:xfrm>
            <a:off x="515620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6" name="c-0523"/>
          <p:cNvSpPr/>
          <p:nvPr/>
        </p:nvSpPr>
        <p:spPr>
          <a:xfrm>
            <a:off x="515620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7" name="c-0524"/>
          <p:cNvSpPr/>
          <p:nvPr/>
        </p:nvSpPr>
        <p:spPr>
          <a:xfrm>
            <a:off x="515620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8" name="c-0525"/>
          <p:cNvSpPr/>
          <p:nvPr/>
        </p:nvSpPr>
        <p:spPr>
          <a:xfrm>
            <a:off x="534035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9" name="c-0526"/>
          <p:cNvSpPr/>
          <p:nvPr/>
        </p:nvSpPr>
        <p:spPr>
          <a:xfrm>
            <a:off x="534035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0" name="c-0527"/>
          <p:cNvSpPr/>
          <p:nvPr/>
        </p:nvSpPr>
        <p:spPr>
          <a:xfrm>
            <a:off x="534035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1" name="c-0528"/>
          <p:cNvSpPr/>
          <p:nvPr/>
        </p:nvSpPr>
        <p:spPr>
          <a:xfrm>
            <a:off x="534035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2" name="c-0529"/>
          <p:cNvSpPr/>
          <p:nvPr/>
        </p:nvSpPr>
        <p:spPr>
          <a:xfrm>
            <a:off x="534035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3" name="c-0530"/>
          <p:cNvSpPr/>
          <p:nvPr/>
        </p:nvSpPr>
        <p:spPr>
          <a:xfrm>
            <a:off x="534035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4" name="c-0531"/>
          <p:cNvSpPr/>
          <p:nvPr/>
        </p:nvSpPr>
        <p:spPr>
          <a:xfrm>
            <a:off x="534035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5" name="c-0601"/>
          <p:cNvSpPr/>
          <p:nvPr/>
        </p:nvSpPr>
        <p:spPr>
          <a:xfrm>
            <a:off x="552450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6" name="c-0602"/>
          <p:cNvSpPr/>
          <p:nvPr/>
        </p:nvSpPr>
        <p:spPr>
          <a:xfrm>
            <a:off x="552450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7" name="c-0603"/>
          <p:cNvSpPr/>
          <p:nvPr/>
        </p:nvSpPr>
        <p:spPr>
          <a:xfrm>
            <a:off x="552450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8" name="c-0604"/>
          <p:cNvSpPr/>
          <p:nvPr/>
        </p:nvSpPr>
        <p:spPr>
          <a:xfrm>
            <a:off x="552450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9" name="c-0605"/>
          <p:cNvSpPr/>
          <p:nvPr/>
        </p:nvSpPr>
        <p:spPr>
          <a:xfrm>
            <a:off x="552450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0" name="c-0606"/>
          <p:cNvSpPr/>
          <p:nvPr/>
        </p:nvSpPr>
        <p:spPr>
          <a:xfrm>
            <a:off x="552450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1" name="c-0607"/>
          <p:cNvSpPr/>
          <p:nvPr/>
        </p:nvSpPr>
        <p:spPr>
          <a:xfrm>
            <a:off x="552450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2" name="c-0608"/>
          <p:cNvSpPr/>
          <p:nvPr/>
        </p:nvSpPr>
        <p:spPr>
          <a:xfrm>
            <a:off x="570865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3" name="c-0609"/>
          <p:cNvSpPr/>
          <p:nvPr/>
        </p:nvSpPr>
        <p:spPr>
          <a:xfrm>
            <a:off x="570865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4" name="c-0610"/>
          <p:cNvSpPr/>
          <p:nvPr/>
        </p:nvSpPr>
        <p:spPr>
          <a:xfrm>
            <a:off x="570865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5" name="c-0611"/>
          <p:cNvSpPr/>
          <p:nvPr/>
        </p:nvSpPr>
        <p:spPr>
          <a:xfrm>
            <a:off x="570865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6" name="c-0612"/>
          <p:cNvSpPr/>
          <p:nvPr/>
        </p:nvSpPr>
        <p:spPr>
          <a:xfrm>
            <a:off x="570865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7" name="c-0613"/>
          <p:cNvSpPr/>
          <p:nvPr/>
        </p:nvSpPr>
        <p:spPr>
          <a:xfrm>
            <a:off x="570865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8" name="c-0614"/>
          <p:cNvSpPr/>
          <p:nvPr/>
        </p:nvSpPr>
        <p:spPr>
          <a:xfrm>
            <a:off x="570865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9" name="c-0615"/>
          <p:cNvSpPr/>
          <p:nvPr/>
        </p:nvSpPr>
        <p:spPr>
          <a:xfrm>
            <a:off x="589280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0" name="c-0616"/>
          <p:cNvSpPr/>
          <p:nvPr/>
        </p:nvSpPr>
        <p:spPr>
          <a:xfrm>
            <a:off x="589280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1" name="c-0617"/>
          <p:cNvSpPr/>
          <p:nvPr/>
        </p:nvSpPr>
        <p:spPr>
          <a:xfrm>
            <a:off x="589280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2" name="c-0618"/>
          <p:cNvSpPr/>
          <p:nvPr/>
        </p:nvSpPr>
        <p:spPr>
          <a:xfrm>
            <a:off x="589280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3" name="c-0619"/>
          <p:cNvSpPr/>
          <p:nvPr/>
        </p:nvSpPr>
        <p:spPr>
          <a:xfrm>
            <a:off x="589280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4" name="c-0620"/>
          <p:cNvSpPr/>
          <p:nvPr/>
        </p:nvSpPr>
        <p:spPr>
          <a:xfrm>
            <a:off x="589280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5" name="c-0621"/>
          <p:cNvSpPr/>
          <p:nvPr/>
        </p:nvSpPr>
        <p:spPr>
          <a:xfrm>
            <a:off x="589280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6" name="c-0622"/>
          <p:cNvSpPr/>
          <p:nvPr/>
        </p:nvSpPr>
        <p:spPr>
          <a:xfrm>
            <a:off x="607695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7" name="c-0623"/>
          <p:cNvSpPr/>
          <p:nvPr/>
        </p:nvSpPr>
        <p:spPr>
          <a:xfrm>
            <a:off x="607695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8" name="c-0624"/>
          <p:cNvSpPr/>
          <p:nvPr/>
        </p:nvSpPr>
        <p:spPr>
          <a:xfrm>
            <a:off x="607695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9" name="c-0625"/>
          <p:cNvSpPr/>
          <p:nvPr/>
        </p:nvSpPr>
        <p:spPr>
          <a:xfrm>
            <a:off x="607695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0" name="c-0626"/>
          <p:cNvSpPr/>
          <p:nvPr/>
        </p:nvSpPr>
        <p:spPr>
          <a:xfrm>
            <a:off x="607695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1" name="c-0627"/>
          <p:cNvSpPr/>
          <p:nvPr/>
        </p:nvSpPr>
        <p:spPr>
          <a:xfrm>
            <a:off x="607695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2" name="c-0628"/>
          <p:cNvSpPr/>
          <p:nvPr/>
        </p:nvSpPr>
        <p:spPr>
          <a:xfrm>
            <a:off x="607695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3" name="c-0629"/>
          <p:cNvSpPr/>
          <p:nvPr/>
        </p:nvSpPr>
        <p:spPr>
          <a:xfrm>
            <a:off x="626110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4" name="c-0630"/>
          <p:cNvSpPr/>
          <p:nvPr/>
        </p:nvSpPr>
        <p:spPr>
          <a:xfrm>
            <a:off x="626110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5" name="c-0701"/>
          <p:cNvSpPr/>
          <p:nvPr/>
        </p:nvSpPr>
        <p:spPr>
          <a:xfrm>
            <a:off x="626110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6" name="c-0702"/>
          <p:cNvSpPr/>
          <p:nvPr/>
        </p:nvSpPr>
        <p:spPr>
          <a:xfrm>
            <a:off x="626110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7" name="c-0703"/>
          <p:cNvSpPr/>
          <p:nvPr/>
        </p:nvSpPr>
        <p:spPr>
          <a:xfrm>
            <a:off x="626110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8" name="c-0704"/>
          <p:cNvSpPr/>
          <p:nvPr/>
        </p:nvSpPr>
        <p:spPr>
          <a:xfrm>
            <a:off x="626110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9" name="c-0705"/>
          <p:cNvSpPr/>
          <p:nvPr/>
        </p:nvSpPr>
        <p:spPr>
          <a:xfrm>
            <a:off x="626110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0" name="c-0706"/>
          <p:cNvSpPr/>
          <p:nvPr/>
        </p:nvSpPr>
        <p:spPr>
          <a:xfrm>
            <a:off x="644525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1" name="c-0707"/>
          <p:cNvSpPr/>
          <p:nvPr/>
        </p:nvSpPr>
        <p:spPr>
          <a:xfrm>
            <a:off x="644525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2" name="c-0708"/>
          <p:cNvSpPr/>
          <p:nvPr/>
        </p:nvSpPr>
        <p:spPr>
          <a:xfrm>
            <a:off x="644525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3" name="c-0709"/>
          <p:cNvSpPr/>
          <p:nvPr/>
        </p:nvSpPr>
        <p:spPr>
          <a:xfrm>
            <a:off x="644525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4" name="c-0710"/>
          <p:cNvSpPr/>
          <p:nvPr/>
        </p:nvSpPr>
        <p:spPr>
          <a:xfrm>
            <a:off x="644525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5" name="c-0711"/>
          <p:cNvSpPr/>
          <p:nvPr/>
        </p:nvSpPr>
        <p:spPr>
          <a:xfrm>
            <a:off x="644525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6" name="c-0712"/>
          <p:cNvSpPr/>
          <p:nvPr/>
        </p:nvSpPr>
        <p:spPr>
          <a:xfrm>
            <a:off x="644525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7" name="c-0713"/>
          <p:cNvSpPr/>
          <p:nvPr/>
        </p:nvSpPr>
        <p:spPr>
          <a:xfrm>
            <a:off x="662940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8" name="c-0714"/>
          <p:cNvSpPr/>
          <p:nvPr/>
        </p:nvSpPr>
        <p:spPr>
          <a:xfrm>
            <a:off x="662940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9" name="c-0715"/>
          <p:cNvSpPr/>
          <p:nvPr/>
        </p:nvSpPr>
        <p:spPr>
          <a:xfrm>
            <a:off x="662940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0" name="c-0716"/>
          <p:cNvSpPr/>
          <p:nvPr/>
        </p:nvSpPr>
        <p:spPr>
          <a:xfrm>
            <a:off x="662940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1" name="c-0717"/>
          <p:cNvSpPr/>
          <p:nvPr/>
        </p:nvSpPr>
        <p:spPr>
          <a:xfrm>
            <a:off x="662940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2" name="c-0718"/>
          <p:cNvSpPr/>
          <p:nvPr/>
        </p:nvSpPr>
        <p:spPr>
          <a:xfrm>
            <a:off x="662940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3" name="c-0719"/>
          <p:cNvSpPr/>
          <p:nvPr/>
        </p:nvSpPr>
        <p:spPr>
          <a:xfrm>
            <a:off x="662940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4" name="c-0720"/>
          <p:cNvSpPr/>
          <p:nvPr/>
        </p:nvSpPr>
        <p:spPr>
          <a:xfrm>
            <a:off x="681355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5" name="c-0721"/>
          <p:cNvSpPr/>
          <p:nvPr/>
        </p:nvSpPr>
        <p:spPr>
          <a:xfrm>
            <a:off x="681355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6" name="c-0722"/>
          <p:cNvSpPr/>
          <p:nvPr/>
        </p:nvSpPr>
        <p:spPr>
          <a:xfrm>
            <a:off x="681355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7" name="c-0723"/>
          <p:cNvSpPr/>
          <p:nvPr/>
        </p:nvSpPr>
        <p:spPr>
          <a:xfrm>
            <a:off x="681355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8" name="c-0724"/>
          <p:cNvSpPr/>
          <p:nvPr/>
        </p:nvSpPr>
        <p:spPr>
          <a:xfrm>
            <a:off x="681355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9" name="c-0725"/>
          <p:cNvSpPr/>
          <p:nvPr/>
        </p:nvSpPr>
        <p:spPr>
          <a:xfrm>
            <a:off x="681355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0" name="c-0726"/>
          <p:cNvSpPr/>
          <p:nvPr/>
        </p:nvSpPr>
        <p:spPr>
          <a:xfrm>
            <a:off x="681355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1" name="c-0727"/>
          <p:cNvSpPr/>
          <p:nvPr/>
        </p:nvSpPr>
        <p:spPr>
          <a:xfrm>
            <a:off x="699770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2" name="c-0728"/>
          <p:cNvSpPr/>
          <p:nvPr/>
        </p:nvSpPr>
        <p:spPr>
          <a:xfrm>
            <a:off x="699770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3" name="c-0729"/>
          <p:cNvSpPr/>
          <p:nvPr/>
        </p:nvSpPr>
        <p:spPr>
          <a:xfrm>
            <a:off x="699770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4" name="c-0730"/>
          <p:cNvSpPr/>
          <p:nvPr/>
        </p:nvSpPr>
        <p:spPr>
          <a:xfrm>
            <a:off x="699770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5" name="c-0731"/>
          <p:cNvSpPr/>
          <p:nvPr/>
        </p:nvSpPr>
        <p:spPr>
          <a:xfrm>
            <a:off x="699770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6" name="c-0801"/>
          <p:cNvSpPr/>
          <p:nvPr/>
        </p:nvSpPr>
        <p:spPr>
          <a:xfrm>
            <a:off x="699770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7" name="c-0802"/>
          <p:cNvSpPr/>
          <p:nvPr/>
        </p:nvSpPr>
        <p:spPr>
          <a:xfrm>
            <a:off x="699770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8" name="c-0803"/>
          <p:cNvSpPr/>
          <p:nvPr/>
        </p:nvSpPr>
        <p:spPr>
          <a:xfrm>
            <a:off x="718185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9" name="c-0804"/>
          <p:cNvSpPr/>
          <p:nvPr/>
        </p:nvSpPr>
        <p:spPr>
          <a:xfrm>
            <a:off x="718185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0" name="c-0805"/>
          <p:cNvSpPr/>
          <p:nvPr/>
        </p:nvSpPr>
        <p:spPr>
          <a:xfrm>
            <a:off x="718185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1" name="c-0806"/>
          <p:cNvSpPr/>
          <p:nvPr/>
        </p:nvSpPr>
        <p:spPr>
          <a:xfrm>
            <a:off x="718185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2" name="c-0807"/>
          <p:cNvSpPr/>
          <p:nvPr/>
        </p:nvSpPr>
        <p:spPr>
          <a:xfrm>
            <a:off x="718185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3" name="c-0808"/>
          <p:cNvSpPr/>
          <p:nvPr/>
        </p:nvSpPr>
        <p:spPr>
          <a:xfrm>
            <a:off x="718185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4" name="c-0809"/>
          <p:cNvSpPr/>
          <p:nvPr/>
        </p:nvSpPr>
        <p:spPr>
          <a:xfrm>
            <a:off x="718185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5" name="c-0810"/>
          <p:cNvSpPr/>
          <p:nvPr/>
        </p:nvSpPr>
        <p:spPr>
          <a:xfrm>
            <a:off x="736600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6" name="c-0811"/>
          <p:cNvSpPr/>
          <p:nvPr/>
        </p:nvSpPr>
        <p:spPr>
          <a:xfrm>
            <a:off x="736600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7" name="c-0812"/>
          <p:cNvSpPr/>
          <p:nvPr/>
        </p:nvSpPr>
        <p:spPr>
          <a:xfrm>
            <a:off x="736600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8" name="c-0813"/>
          <p:cNvSpPr/>
          <p:nvPr/>
        </p:nvSpPr>
        <p:spPr>
          <a:xfrm>
            <a:off x="736600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9" name="c-0814"/>
          <p:cNvSpPr/>
          <p:nvPr/>
        </p:nvSpPr>
        <p:spPr>
          <a:xfrm>
            <a:off x="736600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0" name="c-0815"/>
          <p:cNvSpPr/>
          <p:nvPr/>
        </p:nvSpPr>
        <p:spPr>
          <a:xfrm>
            <a:off x="736600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1" name="c-0816"/>
          <p:cNvSpPr/>
          <p:nvPr/>
        </p:nvSpPr>
        <p:spPr>
          <a:xfrm>
            <a:off x="736600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2" name="c-0817"/>
          <p:cNvSpPr/>
          <p:nvPr/>
        </p:nvSpPr>
        <p:spPr>
          <a:xfrm>
            <a:off x="755015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3" name="c-0818"/>
          <p:cNvSpPr/>
          <p:nvPr/>
        </p:nvSpPr>
        <p:spPr>
          <a:xfrm>
            <a:off x="755015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4" name="c-0819"/>
          <p:cNvSpPr/>
          <p:nvPr/>
        </p:nvSpPr>
        <p:spPr>
          <a:xfrm>
            <a:off x="755015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5" name="c-0820"/>
          <p:cNvSpPr/>
          <p:nvPr/>
        </p:nvSpPr>
        <p:spPr>
          <a:xfrm>
            <a:off x="755015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6" name="c-0821"/>
          <p:cNvSpPr/>
          <p:nvPr/>
        </p:nvSpPr>
        <p:spPr>
          <a:xfrm>
            <a:off x="755015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7" name="c-0822"/>
          <p:cNvSpPr/>
          <p:nvPr/>
        </p:nvSpPr>
        <p:spPr>
          <a:xfrm>
            <a:off x="755015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8" name="c-0823"/>
          <p:cNvSpPr/>
          <p:nvPr/>
        </p:nvSpPr>
        <p:spPr>
          <a:xfrm>
            <a:off x="755015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9" name="c-0824"/>
          <p:cNvSpPr/>
          <p:nvPr/>
        </p:nvSpPr>
        <p:spPr>
          <a:xfrm>
            <a:off x="773430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0" name="c-0825"/>
          <p:cNvSpPr/>
          <p:nvPr/>
        </p:nvSpPr>
        <p:spPr>
          <a:xfrm>
            <a:off x="773430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1" name="c-0826"/>
          <p:cNvSpPr/>
          <p:nvPr/>
        </p:nvSpPr>
        <p:spPr>
          <a:xfrm>
            <a:off x="773430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2" name="c-0827"/>
          <p:cNvSpPr/>
          <p:nvPr/>
        </p:nvSpPr>
        <p:spPr>
          <a:xfrm>
            <a:off x="773430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3" name="c-0828"/>
          <p:cNvSpPr/>
          <p:nvPr/>
        </p:nvSpPr>
        <p:spPr>
          <a:xfrm>
            <a:off x="773430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4" name="c-0829"/>
          <p:cNvSpPr/>
          <p:nvPr/>
        </p:nvSpPr>
        <p:spPr>
          <a:xfrm>
            <a:off x="773430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5" name="c-0830"/>
          <p:cNvSpPr/>
          <p:nvPr/>
        </p:nvSpPr>
        <p:spPr>
          <a:xfrm>
            <a:off x="773430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6" name="c-0831"/>
          <p:cNvSpPr/>
          <p:nvPr/>
        </p:nvSpPr>
        <p:spPr>
          <a:xfrm>
            <a:off x="791845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7" name="c-0901"/>
          <p:cNvSpPr/>
          <p:nvPr/>
        </p:nvSpPr>
        <p:spPr>
          <a:xfrm>
            <a:off x="791845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8" name="c-0902"/>
          <p:cNvSpPr/>
          <p:nvPr/>
        </p:nvSpPr>
        <p:spPr>
          <a:xfrm>
            <a:off x="791845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9" name="c-0903"/>
          <p:cNvSpPr/>
          <p:nvPr/>
        </p:nvSpPr>
        <p:spPr>
          <a:xfrm>
            <a:off x="791845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0" name="c-0904"/>
          <p:cNvSpPr/>
          <p:nvPr/>
        </p:nvSpPr>
        <p:spPr>
          <a:xfrm>
            <a:off x="791845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1" name="c-0905"/>
          <p:cNvSpPr/>
          <p:nvPr/>
        </p:nvSpPr>
        <p:spPr>
          <a:xfrm>
            <a:off x="791845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2" name="c-0906"/>
          <p:cNvSpPr/>
          <p:nvPr/>
        </p:nvSpPr>
        <p:spPr>
          <a:xfrm>
            <a:off x="791845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3" name="c-0907"/>
          <p:cNvSpPr/>
          <p:nvPr/>
        </p:nvSpPr>
        <p:spPr>
          <a:xfrm>
            <a:off x="810260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4" name="c-0908"/>
          <p:cNvSpPr/>
          <p:nvPr/>
        </p:nvSpPr>
        <p:spPr>
          <a:xfrm>
            <a:off x="810260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5" name="c-0909"/>
          <p:cNvSpPr/>
          <p:nvPr/>
        </p:nvSpPr>
        <p:spPr>
          <a:xfrm>
            <a:off x="810260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6" name="c-0910"/>
          <p:cNvSpPr/>
          <p:nvPr/>
        </p:nvSpPr>
        <p:spPr>
          <a:xfrm>
            <a:off x="810260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7" name="c-0911"/>
          <p:cNvSpPr/>
          <p:nvPr/>
        </p:nvSpPr>
        <p:spPr>
          <a:xfrm>
            <a:off x="810260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8" name="c-0912"/>
          <p:cNvSpPr/>
          <p:nvPr/>
        </p:nvSpPr>
        <p:spPr>
          <a:xfrm>
            <a:off x="810260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9" name="c-0913"/>
          <p:cNvSpPr/>
          <p:nvPr/>
        </p:nvSpPr>
        <p:spPr>
          <a:xfrm>
            <a:off x="810260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0" name="c-0914"/>
          <p:cNvSpPr/>
          <p:nvPr/>
        </p:nvSpPr>
        <p:spPr>
          <a:xfrm>
            <a:off x="828675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1" name="c-0915"/>
          <p:cNvSpPr/>
          <p:nvPr/>
        </p:nvSpPr>
        <p:spPr>
          <a:xfrm>
            <a:off x="828675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2" name="c-0916"/>
          <p:cNvSpPr/>
          <p:nvPr/>
        </p:nvSpPr>
        <p:spPr>
          <a:xfrm>
            <a:off x="828675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3" name="c-0917"/>
          <p:cNvSpPr/>
          <p:nvPr/>
        </p:nvSpPr>
        <p:spPr>
          <a:xfrm>
            <a:off x="828675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4" name="c-0918"/>
          <p:cNvSpPr/>
          <p:nvPr/>
        </p:nvSpPr>
        <p:spPr>
          <a:xfrm>
            <a:off x="828675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5" name="c-0919"/>
          <p:cNvSpPr/>
          <p:nvPr/>
        </p:nvSpPr>
        <p:spPr>
          <a:xfrm>
            <a:off x="828675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6" name="c-0920"/>
          <p:cNvSpPr/>
          <p:nvPr/>
        </p:nvSpPr>
        <p:spPr>
          <a:xfrm>
            <a:off x="828675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7" name="c-0921"/>
          <p:cNvSpPr/>
          <p:nvPr/>
        </p:nvSpPr>
        <p:spPr>
          <a:xfrm>
            <a:off x="847090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8" name="c-0922"/>
          <p:cNvSpPr/>
          <p:nvPr/>
        </p:nvSpPr>
        <p:spPr>
          <a:xfrm>
            <a:off x="847090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9" name="c-0923"/>
          <p:cNvSpPr/>
          <p:nvPr/>
        </p:nvSpPr>
        <p:spPr>
          <a:xfrm>
            <a:off x="847090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0" name="c-0924"/>
          <p:cNvSpPr/>
          <p:nvPr/>
        </p:nvSpPr>
        <p:spPr>
          <a:xfrm>
            <a:off x="847090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1" name="c-0925"/>
          <p:cNvSpPr/>
          <p:nvPr/>
        </p:nvSpPr>
        <p:spPr>
          <a:xfrm>
            <a:off x="847090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2" name="c-0926"/>
          <p:cNvSpPr/>
          <p:nvPr/>
        </p:nvSpPr>
        <p:spPr>
          <a:xfrm>
            <a:off x="847090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3" name="c-0927"/>
          <p:cNvSpPr/>
          <p:nvPr/>
        </p:nvSpPr>
        <p:spPr>
          <a:xfrm>
            <a:off x="847090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4" name="c-0928"/>
          <p:cNvSpPr/>
          <p:nvPr/>
        </p:nvSpPr>
        <p:spPr>
          <a:xfrm>
            <a:off x="865505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5" name="c-0929"/>
          <p:cNvSpPr/>
          <p:nvPr/>
        </p:nvSpPr>
        <p:spPr>
          <a:xfrm>
            <a:off x="865505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6" name="c-0930"/>
          <p:cNvSpPr/>
          <p:nvPr/>
        </p:nvSpPr>
        <p:spPr>
          <a:xfrm>
            <a:off x="865505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7" name="c-1001"/>
          <p:cNvSpPr/>
          <p:nvPr/>
        </p:nvSpPr>
        <p:spPr>
          <a:xfrm>
            <a:off x="865505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8" name="c-1002"/>
          <p:cNvSpPr/>
          <p:nvPr/>
        </p:nvSpPr>
        <p:spPr>
          <a:xfrm>
            <a:off x="865505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9" name="c-1003"/>
          <p:cNvSpPr/>
          <p:nvPr/>
        </p:nvSpPr>
        <p:spPr>
          <a:xfrm>
            <a:off x="865505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0" name="c-1004"/>
          <p:cNvSpPr/>
          <p:nvPr/>
        </p:nvSpPr>
        <p:spPr>
          <a:xfrm>
            <a:off x="865505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1" name="c-1005"/>
          <p:cNvSpPr/>
          <p:nvPr/>
        </p:nvSpPr>
        <p:spPr>
          <a:xfrm>
            <a:off x="883920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2" name="c-1006"/>
          <p:cNvSpPr/>
          <p:nvPr/>
        </p:nvSpPr>
        <p:spPr>
          <a:xfrm>
            <a:off x="883920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3" name="c-1007"/>
          <p:cNvSpPr/>
          <p:nvPr/>
        </p:nvSpPr>
        <p:spPr>
          <a:xfrm>
            <a:off x="883920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4" name="c-1008"/>
          <p:cNvSpPr/>
          <p:nvPr/>
        </p:nvSpPr>
        <p:spPr>
          <a:xfrm>
            <a:off x="883920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5" name="c-1009"/>
          <p:cNvSpPr/>
          <p:nvPr/>
        </p:nvSpPr>
        <p:spPr>
          <a:xfrm>
            <a:off x="883920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6" name="c-1010"/>
          <p:cNvSpPr/>
          <p:nvPr/>
        </p:nvSpPr>
        <p:spPr>
          <a:xfrm>
            <a:off x="883920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7" name="c-1011"/>
          <p:cNvSpPr/>
          <p:nvPr/>
        </p:nvSpPr>
        <p:spPr>
          <a:xfrm>
            <a:off x="883920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8" name="c-1012"/>
          <p:cNvSpPr/>
          <p:nvPr/>
        </p:nvSpPr>
        <p:spPr>
          <a:xfrm>
            <a:off x="902335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9" name="c-1013"/>
          <p:cNvSpPr/>
          <p:nvPr/>
        </p:nvSpPr>
        <p:spPr>
          <a:xfrm>
            <a:off x="902335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0" name="c-1014"/>
          <p:cNvSpPr/>
          <p:nvPr/>
        </p:nvSpPr>
        <p:spPr>
          <a:xfrm>
            <a:off x="902335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1" name="c-1015"/>
          <p:cNvSpPr/>
          <p:nvPr/>
        </p:nvSpPr>
        <p:spPr>
          <a:xfrm>
            <a:off x="902335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2" name="c-1016"/>
          <p:cNvSpPr/>
          <p:nvPr/>
        </p:nvSpPr>
        <p:spPr>
          <a:xfrm>
            <a:off x="902335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3" name="c-1017"/>
          <p:cNvSpPr/>
          <p:nvPr/>
        </p:nvSpPr>
        <p:spPr>
          <a:xfrm>
            <a:off x="902335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4" name="c-1018"/>
          <p:cNvSpPr/>
          <p:nvPr/>
        </p:nvSpPr>
        <p:spPr>
          <a:xfrm>
            <a:off x="902335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5" name="c-1019"/>
          <p:cNvSpPr/>
          <p:nvPr/>
        </p:nvSpPr>
        <p:spPr>
          <a:xfrm>
            <a:off x="920750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6" name="c-1020"/>
          <p:cNvSpPr/>
          <p:nvPr/>
        </p:nvSpPr>
        <p:spPr>
          <a:xfrm>
            <a:off x="920750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7" name="c-1021"/>
          <p:cNvSpPr/>
          <p:nvPr/>
        </p:nvSpPr>
        <p:spPr>
          <a:xfrm>
            <a:off x="920750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8" name="c-1022"/>
          <p:cNvSpPr/>
          <p:nvPr/>
        </p:nvSpPr>
        <p:spPr>
          <a:xfrm>
            <a:off x="920750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9" name="c-1023"/>
          <p:cNvSpPr/>
          <p:nvPr/>
        </p:nvSpPr>
        <p:spPr>
          <a:xfrm>
            <a:off x="920750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0" name="c-1024"/>
          <p:cNvSpPr/>
          <p:nvPr/>
        </p:nvSpPr>
        <p:spPr>
          <a:xfrm>
            <a:off x="920750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1" name="c-1025"/>
          <p:cNvSpPr/>
          <p:nvPr/>
        </p:nvSpPr>
        <p:spPr>
          <a:xfrm>
            <a:off x="920750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2" name="c-1026"/>
          <p:cNvSpPr/>
          <p:nvPr/>
        </p:nvSpPr>
        <p:spPr>
          <a:xfrm>
            <a:off x="939165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3" name="c-1027"/>
          <p:cNvSpPr/>
          <p:nvPr/>
        </p:nvSpPr>
        <p:spPr>
          <a:xfrm>
            <a:off x="939165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4" name="c-1028"/>
          <p:cNvSpPr/>
          <p:nvPr/>
        </p:nvSpPr>
        <p:spPr>
          <a:xfrm>
            <a:off x="939165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5" name="c-1029"/>
          <p:cNvSpPr/>
          <p:nvPr/>
        </p:nvSpPr>
        <p:spPr>
          <a:xfrm>
            <a:off x="939165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6" name="c-1030"/>
          <p:cNvSpPr/>
          <p:nvPr/>
        </p:nvSpPr>
        <p:spPr>
          <a:xfrm>
            <a:off x="939165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7" name="c-1031"/>
          <p:cNvSpPr/>
          <p:nvPr/>
        </p:nvSpPr>
        <p:spPr>
          <a:xfrm>
            <a:off x="939165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8" name="c-1101"/>
          <p:cNvSpPr/>
          <p:nvPr/>
        </p:nvSpPr>
        <p:spPr>
          <a:xfrm>
            <a:off x="939165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9" name="c-1102"/>
          <p:cNvSpPr/>
          <p:nvPr/>
        </p:nvSpPr>
        <p:spPr>
          <a:xfrm>
            <a:off x="957580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0" name="c-1103"/>
          <p:cNvSpPr/>
          <p:nvPr/>
        </p:nvSpPr>
        <p:spPr>
          <a:xfrm>
            <a:off x="957580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1" name="c-1104"/>
          <p:cNvSpPr/>
          <p:nvPr/>
        </p:nvSpPr>
        <p:spPr>
          <a:xfrm>
            <a:off x="957580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2" name="c-1105"/>
          <p:cNvSpPr/>
          <p:nvPr/>
        </p:nvSpPr>
        <p:spPr>
          <a:xfrm>
            <a:off x="957580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3" name="c-1106"/>
          <p:cNvSpPr/>
          <p:nvPr/>
        </p:nvSpPr>
        <p:spPr>
          <a:xfrm>
            <a:off x="957580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4" name="c-1107"/>
          <p:cNvSpPr/>
          <p:nvPr/>
        </p:nvSpPr>
        <p:spPr>
          <a:xfrm>
            <a:off x="957580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5" name="c-1108"/>
          <p:cNvSpPr/>
          <p:nvPr/>
        </p:nvSpPr>
        <p:spPr>
          <a:xfrm>
            <a:off x="957580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6" name="c-1109"/>
          <p:cNvSpPr/>
          <p:nvPr/>
        </p:nvSpPr>
        <p:spPr>
          <a:xfrm>
            <a:off x="975995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7" name="c-1110"/>
          <p:cNvSpPr/>
          <p:nvPr/>
        </p:nvSpPr>
        <p:spPr>
          <a:xfrm>
            <a:off x="975995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8" name="c-1111"/>
          <p:cNvSpPr/>
          <p:nvPr/>
        </p:nvSpPr>
        <p:spPr>
          <a:xfrm>
            <a:off x="975995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9" name="c-1112"/>
          <p:cNvSpPr/>
          <p:nvPr/>
        </p:nvSpPr>
        <p:spPr>
          <a:xfrm>
            <a:off x="975995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0" name="c-1113"/>
          <p:cNvSpPr/>
          <p:nvPr/>
        </p:nvSpPr>
        <p:spPr>
          <a:xfrm>
            <a:off x="975995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1" name="c-1114"/>
          <p:cNvSpPr/>
          <p:nvPr/>
        </p:nvSpPr>
        <p:spPr>
          <a:xfrm>
            <a:off x="975995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2" name="c-1115"/>
          <p:cNvSpPr/>
          <p:nvPr/>
        </p:nvSpPr>
        <p:spPr>
          <a:xfrm>
            <a:off x="975995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3" name="c-1116"/>
          <p:cNvSpPr/>
          <p:nvPr/>
        </p:nvSpPr>
        <p:spPr>
          <a:xfrm>
            <a:off x="994410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4" name="c-1117"/>
          <p:cNvSpPr/>
          <p:nvPr/>
        </p:nvSpPr>
        <p:spPr>
          <a:xfrm>
            <a:off x="994410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5" name="c-1118"/>
          <p:cNvSpPr/>
          <p:nvPr/>
        </p:nvSpPr>
        <p:spPr>
          <a:xfrm>
            <a:off x="994410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6" name="c-1119"/>
          <p:cNvSpPr/>
          <p:nvPr/>
        </p:nvSpPr>
        <p:spPr>
          <a:xfrm>
            <a:off x="994410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7" name="c-1120"/>
          <p:cNvSpPr/>
          <p:nvPr/>
        </p:nvSpPr>
        <p:spPr>
          <a:xfrm>
            <a:off x="994410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8" name="c-1121"/>
          <p:cNvSpPr/>
          <p:nvPr/>
        </p:nvSpPr>
        <p:spPr>
          <a:xfrm>
            <a:off x="994410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9" name="c-1122"/>
          <p:cNvSpPr/>
          <p:nvPr/>
        </p:nvSpPr>
        <p:spPr>
          <a:xfrm>
            <a:off x="994410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0" name="c-1123"/>
          <p:cNvSpPr/>
          <p:nvPr/>
        </p:nvSpPr>
        <p:spPr>
          <a:xfrm>
            <a:off x="1012825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1" name="c-1124"/>
          <p:cNvSpPr/>
          <p:nvPr/>
        </p:nvSpPr>
        <p:spPr>
          <a:xfrm>
            <a:off x="1012825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2" name="c-1125"/>
          <p:cNvSpPr/>
          <p:nvPr/>
        </p:nvSpPr>
        <p:spPr>
          <a:xfrm>
            <a:off x="1012825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3" name="c-1126"/>
          <p:cNvSpPr/>
          <p:nvPr/>
        </p:nvSpPr>
        <p:spPr>
          <a:xfrm>
            <a:off x="1012825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4" name="c-1127"/>
          <p:cNvSpPr/>
          <p:nvPr/>
        </p:nvSpPr>
        <p:spPr>
          <a:xfrm>
            <a:off x="1012825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5" name="c-1128"/>
          <p:cNvSpPr/>
          <p:nvPr/>
        </p:nvSpPr>
        <p:spPr>
          <a:xfrm>
            <a:off x="1012825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6" name="c-1129"/>
          <p:cNvSpPr/>
          <p:nvPr/>
        </p:nvSpPr>
        <p:spPr>
          <a:xfrm>
            <a:off x="1012825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7" name="c-1130"/>
          <p:cNvSpPr/>
          <p:nvPr/>
        </p:nvSpPr>
        <p:spPr>
          <a:xfrm>
            <a:off x="1031240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8" name="c-1201"/>
          <p:cNvSpPr/>
          <p:nvPr/>
        </p:nvSpPr>
        <p:spPr>
          <a:xfrm>
            <a:off x="1031240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9" name="c-1202"/>
          <p:cNvSpPr/>
          <p:nvPr/>
        </p:nvSpPr>
        <p:spPr>
          <a:xfrm>
            <a:off x="1031240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0" name="c-1203"/>
          <p:cNvSpPr/>
          <p:nvPr/>
        </p:nvSpPr>
        <p:spPr>
          <a:xfrm>
            <a:off x="1031240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1" name="c-1204"/>
          <p:cNvSpPr/>
          <p:nvPr/>
        </p:nvSpPr>
        <p:spPr>
          <a:xfrm>
            <a:off x="1031240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2" name="c-1205"/>
          <p:cNvSpPr/>
          <p:nvPr/>
        </p:nvSpPr>
        <p:spPr>
          <a:xfrm>
            <a:off x="1031240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3" name="c-1206"/>
          <p:cNvSpPr/>
          <p:nvPr/>
        </p:nvSpPr>
        <p:spPr>
          <a:xfrm>
            <a:off x="1031240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4" name="c-1207"/>
          <p:cNvSpPr/>
          <p:nvPr/>
        </p:nvSpPr>
        <p:spPr>
          <a:xfrm>
            <a:off x="1049655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5" name="c-1208"/>
          <p:cNvSpPr/>
          <p:nvPr/>
        </p:nvSpPr>
        <p:spPr>
          <a:xfrm>
            <a:off x="1049655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6" name="c-1209"/>
          <p:cNvSpPr/>
          <p:nvPr/>
        </p:nvSpPr>
        <p:spPr>
          <a:xfrm>
            <a:off x="1049655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7" name="c-1210"/>
          <p:cNvSpPr/>
          <p:nvPr/>
        </p:nvSpPr>
        <p:spPr>
          <a:xfrm>
            <a:off x="1049655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8" name="c-1211"/>
          <p:cNvSpPr/>
          <p:nvPr/>
        </p:nvSpPr>
        <p:spPr>
          <a:xfrm>
            <a:off x="1049655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9" name="c-1212"/>
          <p:cNvSpPr/>
          <p:nvPr/>
        </p:nvSpPr>
        <p:spPr>
          <a:xfrm>
            <a:off x="1049655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0" name="c-1213"/>
          <p:cNvSpPr/>
          <p:nvPr/>
        </p:nvSpPr>
        <p:spPr>
          <a:xfrm>
            <a:off x="1049655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1" name="c-1214"/>
          <p:cNvSpPr/>
          <p:nvPr/>
        </p:nvSpPr>
        <p:spPr>
          <a:xfrm>
            <a:off x="1068070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2" name="c-1215"/>
          <p:cNvSpPr/>
          <p:nvPr/>
        </p:nvSpPr>
        <p:spPr>
          <a:xfrm>
            <a:off x="1068070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3" name="c-1216"/>
          <p:cNvSpPr/>
          <p:nvPr/>
        </p:nvSpPr>
        <p:spPr>
          <a:xfrm>
            <a:off x="1068070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4" name="c-1217"/>
          <p:cNvSpPr/>
          <p:nvPr/>
        </p:nvSpPr>
        <p:spPr>
          <a:xfrm>
            <a:off x="1068070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5" name="c-1218"/>
          <p:cNvSpPr/>
          <p:nvPr/>
        </p:nvSpPr>
        <p:spPr>
          <a:xfrm>
            <a:off x="1068070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6" name="c-1219"/>
          <p:cNvSpPr/>
          <p:nvPr/>
        </p:nvSpPr>
        <p:spPr>
          <a:xfrm>
            <a:off x="1068070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7" name="c-1220"/>
          <p:cNvSpPr/>
          <p:nvPr/>
        </p:nvSpPr>
        <p:spPr>
          <a:xfrm>
            <a:off x="1068070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8" name="c-1221"/>
          <p:cNvSpPr/>
          <p:nvPr/>
        </p:nvSpPr>
        <p:spPr>
          <a:xfrm>
            <a:off x="1086485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9" name="c-1222"/>
          <p:cNvSpPr/>
          <p:nvPr/>
        </p:nvSpPr>
        <p:spPr>
          <a:xfrm>
            <a:off x="1086485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0" name="c-1223"/>
          <p:cNvSpPr/>
          <p:nvPr/>
        </p:nvSpPr>
        <p:spPr>
          <a:xfrm>
            <a:off x="1086485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1" name="c-1224"/>
          <p:cNvSpPr/>
          <p:nvPr/>
        </p:nvSpPr>
        <p:spPr>
          <a:xfrm>
            <a:off x="1086485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2" name="c-1225"/>
          <p:cNvSpPr/>
          <p:nvPr/>
        </p:nvSpPr>
        <p:spPr>
          <a:xfrm>
            <a:off x="10864850" y="24003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3" name="c-1226"/>
          <p:cNvSpPr/>
          <p:nvPr/>
        </p:nvSpPr>
        <p:spPr>
          <a:xfrm>
            <a:off x="10864850" y="25844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4" name="c-1227"/>
          <p:cNvSpPr/>
          <p:nvPr/>
        </p:nvSpPr>
        <p:spPr>
          <a:xfrm>
            <a:off x="10864850" y="2768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5" name="c-1228"/>
          <p:cNvSpPr/>
          <p:nvPr/>
        </p:nvSpPr>
        <p:spPr>
          <a:xfrm>
            <a:off x="11049000" y="16637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6" name="c-1229"/>
          <p:cNvSpPr/>
          <p:nvPr/>
        </p:nvSpPr>
        <p:spPr>
          <a:xfrm>
            <a:off x="11049000" y="18478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7" name="c-1230"/>
          <p:cNvSpPr/>
          <p:nvPr/>
        </p:nvSpPr>
        <p:spPr>
          <a:xfrm>
            <a:off x="11049000" y="2032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8" name="c-1231"/>
          <p:cNvSpPr/>
          <p:nvPr/>
        </p:nvSpPr>
        <p:spPr>
          <a:xfrm>
            <a:off x="11049000" y="221615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38100" y="0"/>
                </a:moveTo>
                <a:lnTo>
                  <a:pt x="127000" y="0"/>
                </a:lnTo>
                <a:cubicBezTo>
                  <a:pt x="148018" y="0"/>
                  <a:pt x="165100" y="17081"/>
                  <a:pt x="165100" y="38100"/>
                </a:cubicBezTo>
                <a:lnTo>
                  <a:pt x="165100" y="127000"/>
                </a:lnTo>
                <a:cubicBezTo>
                  <a:pt x="165100" y="148018"/>
                  <a:pt x="148018" y="165100"/>
                  <a:pt x="127000" y="165100"/>
                </a:cubicBezTo>
                <a:lnTo>
                  <a:pt x="38100" y="165100"/>
                </a:lnTo>
                <a:cubicBezTo>
                  <a:pt x="17082" y="165100"/>
                  <a:pt x="0" y="148018"/>
                  <a:pt x="0" y="1270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9" name="mon-1"/>
          <p:cNvSpPr txBox="1"/>
          <p:nvPr/>
        </p:nvSpPr>
        <p:spPr>
          <a:xfrm>
            <a:off x="1461770" y="1444466"/>
            <a:ext cx="29718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 月</a:t>
            </a:r>
          </a:p>
        </p:txBody>
      </p:sp>
      <p:sp>
        <p:nvSpPr>
          <p:cNvPr id="380" name="mon-2"/>
          <p:cNvSpPr txBox="1"/>
          <p:nvPr/>
        </p:nvSpPr>
        <p:spPr>
          <a:xfrm>
            <a:off x="2198370" y="1444466"/>
            <a:ext cx="29718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2 月</a:t>
            </a:r>
          </a:p>
        </p:txBody>
      </p:sp>
      <p:sp>
        <p:nvSpPr>
          <p:cNvPr id="381" name="mon-3"/>
          <p:cNvSpPr txBox="1"/>
          <p:nvPr/>
        </p:nvSpPr>
        <p:spPr>
          <a:xfrm>
            <a:off x="2934970" y="1444466"/>
            <a:ext cx="29718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3 月</a:t>
            </a:r>
          </a:p>
        </p:txBody>
      </p:sp>
      <p:sp>
        <p:nvSpPr>
          <p:cNvPr id="382" name="mon-4"/>
          <p:cNvSpPr txBox="1"/>
          <p:nvPr/>
        </p:nvSpPr>
        <p:spPr>
          <a:xfrm>
            <a:off x="3855720" y="1444466"/>
            <a:ext cx="29718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4 月</a:t>
            </a:r>
          </a:p>
        </p:txBody>
      </p:sp>
      <p:sp>
        <p:nvSpPr>
          <p:cNvPr id="383" name="mon-5"/>
          <p:cNvSpPr txBox="1"/>
          <p:nvPr/>
        </p:nvSpPr>
        <p:spPr>
          <a:xfrm>
            <a:off x="4592320" y="1444466"/>
            <a:ext cx="29718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5 月</a:t>
            </a:r>
          </a:p>
        </p:txBody>
      </p:sp>
      <p:sp>
        <p:nvSpPr>
          <p:cNvPr id="384" name="mon-6"/>
          <p:cNvSpPr txBox="1"/>
          <p:nvPr/>
        </p:nvSpPr>
        <p:spPr>
          <a:xfrm>
            <a:off x="5513070" y="1444466"/>
            <a:ext cx="29718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6 月</a:t>
            </a:r>
          </a:p>
        </p:txBody>
      </p:sp>
      <p:sp>
        <p:nvSpPr>
          <p:cNvPr id="385" name="mon-7"/>
          <p:cNvSpPr txBox="1"/>
          <p:nvPr/>
        </p:nvSpPr>
        <p:spPr>
          <a:xfrm>
            <a:off x="6249670" y="1444466"/>
            <a:ext cx="29718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7 月</a:t>
            </a:r>
          </a:p>
        </p:txBody>
      </p:sp>
      <p:sp>
        <p:nvSpPr>
          <p:cNvPr id="386" name="mon-8"/>
          <p:cNvSpPr txBox="1"/>
          <p:nvPr/>
        </p:nvSpPr>
        <p:spPr>
          <a:xfrm>
            <a:off x="6986270" y="1444466"/>
            <a:ext cx="29718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8 月</a:t>
            </a:r>
          </a:p>
        </p:txBody>
      </p:sp>
      <p:sp>
        <p:nvSpPr>
          <p:cNvPr id="387" name="mon-9"/>
          <p:cNvSpPr txBox="1"/>
          <p:nvPr/>
        </p:nvSpPr>
        <p:spPr>
          <a:xfrm>
            <a:off x="7907020" y="1444466"/>
            <a:ext cx="29718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9 月</a:t>
            </a:r>
          </a:p>
        </p:txBody>
      </p:sp>
      <p:sp>
        <p:nvSpPr>
          <p:cNvPr id="388" name="mon-10"/>
          <p:cNvSpPr txBox="1"/>
          <p:nvPr/>
        </p:nvSpPr>
        <p:spPr>
          <a:xfrm>
            <a:off x="8643620" y="1444466"/>
            <a:ext cx="3536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10 月</a:t>
            </a:r>
          </a:p>
        </p:txBody>
      </p:sp>
      <p:sp>
        <p:nvSpPr>
          <p:cNvPr id="389" name="mon-11"/>
          <p:cNvSpPr txBox="1"/>
          <p:nvPr/>
        </p:nvSpPr>
        <p:spPr>
          <a:xfrm>
            <a:off x="9380220" y="1444466"/>
            <a:ext cx="3536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11 月</a:t>
            </a:r>
          </a:p>
        </p:txBody>
      </p:sp>
      <p:sp>
        <p:nvSpPr>
          <p:cNvPr id="390" name="mon-12"/>
          <p:cNvSpPr txBox="1"/>
          <p:nvPr/>
        </p:nvSpPr>
        <p:spPr>
          <a:xfrm>
            <a:off x="10300970" y="1444466"/>
            <a:ext cx="3536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12 月</a:t>
            </a:r>
          </a:p>
        </p:txBody>
      </p:sp>
      <p:sp>
        <p:nvSpPr>
          <p:cNvPr id="391" name="peak-ring"/>
          <p:cNvSpPr/>
          <p:nvPr/>
        </p:nvSpPr>
        <p:spPr>
          <a:xfrm>
            <a:off x="9721850" y="1993900"/>
            <a:ext cx="241300" cy="241300"/>
          </a:xfrm>
          <a:prstGeom prst="ellipse">
            <a:avLst/>
          </a:prstGeom>
          <a:noFill/>
          <a:ln w="1651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392" name="peak-l"/>
          <p:cNvCxnSpPr/>
          <p:nvPr/>
        </p:nvCxnSpPr>
        <p:spPr>
          <a:xfrm>
            <a:off x="9842500" y="2241550"/>
            <a:ext cx="0" cy="876300"/>
          </a:xfrm>
          <a:prstGeom prst="line">
            <a:avLst/>
          </a:prstGeom>
          <a:ln w="10160" cap="rnd">
            <a:solidFill>
              <a:srgbClr val="E0703A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3" name="peak-t"/>
          <p:cNvSpPr txBox="1"/>
          <p:nvPr/>
        </p:nvSpPr>
        <p:spPr>
          <a:xfrm>
            <a:off x="9907270" y="3038316"/>
            <a:ext cx="11614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2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峰值 11/11 · 1041 单</a:t>
            </a:r>
          </a:p>
        </p:txBody>
      </p:sp>
      <p:sp>
        <p:nvSpPr>
          <p:cNvPr id="394" name="hol-1"/>
          <p:cNvSpPr/>
          <p:nvPr/>
        </p:nvSpPr>
        <p:spPr>
          <a:xfrm>
            <a:off x="2559050" y="1644650"/>
            <a:ext cx="571500" cy="1308100"/>
          </a:xfrm>
          <a:custGeom>
            <a:avLst/>
            <a:gdLst/>
            <a:ahLst/>
            <a:cxnLst/>
            <a:rect l="0" t="0" r="r" b="b"/>
            <a:pathLst>
              <a:path w="571500" h="1308100">
                <a:moveTo>
                  <a:pt x="50800" y="0"/>
                </a:moveTo>
                <a:lnTo>
                  <a:pt x="520700" y="0"/>
                </a:lnTo>
                <a:cubicBezTo>
                  <a:pt x="548767" y="0"/>
                  <a:pt x="571500" y="22733"/>
                  <a:pt x="571500" y="50800"/>
                </a:cubicBezTo>
                <a:lnTo>
                  <a:pt x="571500" y="1257300"/>
                </a:lnTo>
                <a:cubicBezTo>
                  <a:pt x="571500" y="1285367"/>
                  <a:pt x="548767" y="1308100"/>
                  <a:pt x="520700" y="1308100"/>
                </a:cubicBezTo>
                <a:lnTo>
                  <a:pt x="50800" y="1308100"/>
                </a:lnTo>
                <a:cubicBezTo>
                  <a:pt x="22733" y="1308100"/>
                  <a:pt x="0" y="1285367"/>
                  <a:pt x="0" y="12573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noFill/>
          <a:ln w="8890" cap="rnd">
            <a:solidFill>
              <a:srgbClr val="7E93AE">
                <a:alpha val="8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5" name="holt-1"/>
          <p:cNvSpPr txBox="1"/>
          <p:nvPr/>
        </p:nvSpPr>
        <p:spPr>
          <a:xfrm>
            <a:off x="2693988" y="3025616"/>
            <a:ext cx="3016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0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春节</a:t>
            </a:r>
          </a:p>
        </p:txBody>
      </p:sp>
      <p:sp>
        <p:nvSpPr>
          <p:cNvPr id="396" name="hol-2"/>
          <p:cNvSpPr/>
          <p:nvPr/>
        </p:nvSpPr>
        <p:spPr>
          <a:xfrm>
            <a:off x="8636000" y="1644650"/>
            <a:ext cx="387350" cy="1308100"/>
          </a:xfrm>
          <a:custGeom>
            <a:avLst/>
            <a:gdLst/>
            <a:ahLst/>
            <a:cxnLst/>
            <a:rect l="0" t="0" r="r" b="b"/>
            <a:pathLst>
              <a:path w="387350" h="1308100">
                <a:moveTo>
                  <a:pt x="50800" y="0"/>
                </a:moveTo>
                <a:lnTo>
                  <a:pt x="336550" y="0"/>
                </a:lnTo>
                <a:cubicBezTo>
                  <a:pt x="364617" y="0"/>
                  <a:pt x="387350" y="22733"/>
                  <a:pt x="387350" y="50800"/>
                </a:cubicBezTo>
                <a:lnTo>
                  <a:pt x="387350" y="1257300"/>
                </a:lnTo>
                <a:cubicBezTo>
                  <a:pt x="387350" y="1285367"/>
                  <a:pt x="364617" y="1308100"/>
                  <a:pt x="336550" y="1308100"/>
                </a:cubicBezTo>
                <a:lnTo>
                  <a:pt x="50800" y="1308100"/>
                </a:lnTo>
                <a:cubicBezTo>
                  <a:pt x="22733" y="1308100"/>
                  <a:pt x="0" y="1285367"/>
                  <a:pt x="0" y="12573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noFill/>
          <a:ln w="8890" cap="rnd">
            <a:solidFill>
              <a:srgbClr val="7E93AE">
                <a:alpha val="8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7" name="holt-2"/>
          <p:cNvSpPr txBox="1"/>
          <p:nvPr/>
        </p:nvSpPr>
        <p:spPr>
          <a:xfrm>
            <a:off x="8678862" y="3025616"/>
            <a:ext cx="3016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0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国庆</a:t>
            </a:r>
          </a:p>
        </p:txBody>
      </p:sp>
      <p:sp>
        <p:nvSpPr>
          <p:cNvPr id="398" name="lg-lo"/>
          <p:cNvSpPr txBox="1"/>
          <p:nvPr/>
        </p:nvSpPr>
        <p:spPr>
          <a:xfrm>
            <a:off x="3829558" y="3033458"/>
            <a:ext cx="1689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少</a:t>
            </a:r>
          </a:p>
        </p:txBody>
      </p:sp>
      <p:sp>
        <p:nvSpPr>
          <p:cNvPr id="399" name="lg-1"/>
          <p:cNvSpPr/>
          <p:nvPr/>
        </p:nvSpPr>
        <p:spPr>
          <a:xfrm>
            <a:off x="4064000" y="3035300"/>
            <a:ext cx="152400" cy="152400"/>
          </a:xfrm>
          <a:custGeom>
            <a:avLst/>
            <a:gdLst/>
            <a:ahLst/>
            <a:cxnLst/>
            <a:rect l="0" t="0" r="r" b="b"/>
            <a:pathLst>
              <a:path w="152400" h="152400">
                <a:moveTo>
                  <a:pt x="38100" y="0"/>
                </a:moveTo>
                <a:lnTo>
                  <a:pt x="114300" y="0"/>
                </a:lnTo>
                <a:cubicBezTo>
                  <a:pt x="135318" y="0"/>
                  <a:pt x="152400" y="17081"/>
                  <a:pt x="152400" y="38100"/>
                </a:cubicBezTo>
                <a:lnTo>
                  <a:pt x="152400" y="114300"/>
                </a:lnTo>
                <a:cubicBezTo>
                  <a:pt x="152400" y="135318"/>
                  <a:pt x="135318" y="152400"/>
                  <a:pt x="114300" y="152400"/>
                </a:cubicBezTo>
                <a:lnTo>
                  <a:pt x="38100" y="152400"/>
                </a:lnTo>
                <a:cubicBezTo>
                  <a:pt x="17082" y="152400"/>
                  <a:pt x="0" y="135318"/>
                  <a:pt x="0" y="1143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3EC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0" name="lg-2"/>
          <p:cNvSpPr/>
          <p:nvPr/>
        </p:nvSpPr>
        <p:spPr>
          <a:xfrm>
            <a:off x="4254500" y="3035300"/>
            <a:ext cx="152400" cy="152400"/>
          </a:xfrm>
          <a:custGeom>
            <a:avLst/>
            <a:gdLst/>
            <a:ahLst/>
            <a:cxnLst/>
            <a:rect l="0" t="0" r="r" b="b"/>
            <a:pathLst>
              <a:path w="152400" h="152400">
                <a:moveTo>
                  <a:pt x="38100" y="0"/>
                </a:moveTo>
                <a:lnTo>
                  <a:pt x="114300" y="0"/>
                </a:lnTo>
                <a:cubicBezTo>
                  <a:pt x="135318" y="0"/>
                  <a:pt x="152400" y="17081"/>
                  <a:pt x="152400" y="38100"/>
                </a:cubicBezTo>
                <a:lnTo>
                  <a:pt x="152400" y="114300"/>
                </a:lnTo>
                <a:cubicBezTo>
                  <a:pt x="152400" y="135318"/>
                  <a:pt x="135318" y="152400"/>
                  <a:pt x="114300" y="152400"/>
                </a:cubicBezTo>
                <a:lnTo>
                  <a:pt x="38100" y="152400"/>
                </a:lnTo>
                <a:cubicBezTo>
                  <a:pt x="17082" y="152400"/>
                  <a:pt x="0" y="135318"/>
                  <a:pt x="0" y="1143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B9D2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1" name="lg-3"/>
          <p:cNvSpPr/>
          <p:nvPr/>
        </p:nvSpPr>
        <p:spPr>
          <a:xfrm>
            <a:off x="4445000" y="3035300"/>
            <a:ext cx="152400" cy="152400"/>
          </a:xfrm>
          <a:custGeom>
            <a:avLst/>
            <a:gdLst/>
            <a:ahLst/>
            <a:cxnLst/>
            <a:rect l="0" t="0" r="r" b="b"/>
            <a:pathLst>
              <a:path w="152400" h="152400">
                <a:moveTo>
                  <a:pt x="38100" y="0"/>
                </a:moveTo>
                <a:lnTo>
                  <a:pt x="114300" y="0"/>
                </a:lnTo>
                <a:cubicBezTo>
                  <a:pt x="135318" y="0"/>
                  <a:pt x="152400" y="17081"/>
                  <a:pt x="152400" y="38100"/>
                </a:cubicBezTo>
                <a:lnTo>
                  <a:pt x="152400" y="114300"/>
                </a:lnTo>
                <a:cubicBezTo>
                  <a:pt x="152400" y="135318"/>
                  <a:pt x="135318" y="152400"/>
                  <a:pt x="114300" y="152400"/>
                </a:cubicBezTo>
                <a:lnTo>
                  <a:pt x="38100" y="152400"/>
                </a:lnTo>
                <a:cubicBezTo>
                  <a:pt x="17082" y="152400"/>
                  <a:pt x="0" y="135318"/>
                  <a:pt x="0" y="1143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FAE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2" name="lg-4"/>
          <p:cNvSpPr/>
          <p:nvPr/>
        </p:nvSpPr>
        <p:spPr>
          <a:xfrm>
            <a:off x="4635500" y="3035300"/>
            <a:ext cx="152400" cy="152400"/>
          </a:xfrm>
          <a:custGeom>
            <a:avLst/>
            <a:gdLst/>
            <a:ahLst/>
            <a:cxnLst/>
            <a:rect l="0" t="0" r="r" b="b"/>
            <a:pathLst>
              <a:path w="152400" h="152400">
                <a:moveTo>
                  <a:pt x="38100" y="0"/>
                </a:moveTo>
                <a:lnTo>
                  <a:pt x="114300" y="0"/>
                </a:lnTo>
                <a:cubicBezTo>
                  <a:pt x="135318" y="0"/>
                  <a:pt x="152400" y="17081"/>
                  <a:pt x="152400" y="38100"/>
                </a:cubicBezTo>
                <a:lnTo>
                  <a:pt x="152400" y="114300"/>
                </a:lnTo>
                <a:cubicBezTo>
                  <a:pt x="152400" y="135318"/>
                  <a:pt x="135318" y="152400"/>
                  <a:pt x="114300" y="152400"/>
                </a:cubicBezTo>
                <a:lnTo>
                  <a:pt x="38100" y="152400"/>
                </a:lnTo>
                <a:cubicBezTo>
                  <a:pt x="17082" y="152400"/>
                  <a:pt x="0" y="135318"/>
                  <a:pt x="0" y="1143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F82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3" name="lg-5"/>
          <p:cNvSpPr/>
          <p:nvPr/>
        </p:nvSpPr>
        <p:spPr>
          <a:xfrm>
            <a:off x="4826000" y="3035300"/>
            <a:ext cx="152400" cy="152400"/>
          </a:xfrm>
          <a:custGeom>
            <a:avLst/>
            <a:gdLst/>
            <a:ahLst/>
            <a:cxnLst/>
            <a:rect l="0" t="0" r="r" b="b"/>
            <a:pathLst>
              <a:path w="152400" h="152400">
                <a:moveTo>
                  <a:pt x="38100" y="0"/>
                </a:moveTo>
                <a:lnTo>
                  <a:pt x="114300" y="0"/>
                </a:lnTo>
                <a:cubicBezTo>
                  <a:pt x="135318" y="0"/>
                  <a:pt x="152400" y="17081"/>
                  <a:pt x="152400" y="38100"/>
                </a:cubicBezTo>
                <a:lnTo>
                  <a:pt x="152400" y="114300"/>
                </a:lnTo>
                <a:cubicBezTo>
                  <a:pt x="152400" y="135318"/>
                  <a:pt x="135318" y="152400"/>
                  <a:pt x="114300" y="152400"/>
                </a:cubicBezTo>
                <a:lnTo>
                  <a:pt x="38100" y="152400"/>
                </a:lnTo>
                <a:cubicBezTo>
                  <a:pt x="17082" y="152400"/>
                  <a:pt x="0" y="135318"/>
                  <a:pt x="0" y="1143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552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4" name="lg-hi"/>
          <p:cNvSpPr txBox="1"/>
          <p:nvPr/>
        </p:nvSpPr>
        <p:spPr>
          <a:xfrm>
            <a:off x="5043932" y="3033458"/>
            <a:ext cx="1689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多</a:t>
            </a:r>
          </a:p>
        </p:txBody>
      </p:sp>
      <p:sp>
        <p:nvSpPr>
          <p:cNvPr id="405" name="mh"/>
          <p:cNvSpPr txBox="1"/>
          <p:nvPr/>
        </p:nvSpPr>
        <p:spPr>
          <a:xfrm>
            <a:off x="939546" y="3613182"/>
            <a:ext cx="115443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月度订单量（万单）</a:t>
            </a:r>
          </a:p>
        </p:txBody>
      </p:sp>
      <p:sp>
        <p:nvSpPr>
          <p:cNvPr id="406" name="mb-1"/>
          <p:cNvSpPr/>
          <p:nvPr/>
        </p:nvSpPr>
        <p:spPr>
          <a:xfrm>
            <a:off x="1536700" y="4549458"/>
            <a:ext cx="374650" cy="848042"/>
          </a:xfrm>
          <a:custGeom>
            <a:avLst/>
            <a:gdLst/>
            <a:ahLst/>
            <a:cxnLst/>
            <a:rect l="0" t="0" r="r" b="b"/>
            <a:pathLst>
              <a:path w="374650" h="848042">
                <a:moveTo>
                  <a:pt x="0" y="848042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323850" y="0"/>
                </a:lnTo>
                <a:cubicBezTo>
                  <a:pt x="351917" y="0"/>
                  <a:pt x="374650" y="22733"/>
                  <a:pt x="374650" y="50800"/>
                </a:cubicBezTo>
                <a:lnTo>
                  <a:pt x="374650" y="848042"/>
                </a:lnTo>
                <a:close/>
              </a:path>
            </a:pathLst>
          </a:custGeom>
          <a:gradFill rotWithShape="1">
            <a:gsLst>
              <a:gs pos="0">
                <a:srgbClr val="5086C5"/>
              </a:gs>
              <a:gs pos="100000">
                <a:srgbClr val="2468B6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7" name="mv-1"/>
          <p:cNvSpPr txBox="1"/>
          <p:nvPr/>
        </p:nvSpPr>
        <p:spPr>
          <a:xfrm>
            <a:off x="1601152" y="4368336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408" name="ml-1"/>
          <p:cNvSpPr txBox="1"/>
          <p:nvPr/>
        </p:nvSpPr>
        <p:spPr>
          <a:xfrm>
            <a:off x="1614678" y="54655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1月</a:t>
            </a:r>
          </a:p>
        </p:txBody>
      </p:sp>
      <p:sp>
        <p:nvSpPr>
          <p:cNvPr id="409" name="mb-2"/>
          <p:cNvSpPr/>
          <p:nvPr/>
        </p:nvSpPr>
        <p:spPr>
          <a:xfrm>
            <a:off x="2038350" y="4966906"/>
            <a:ext cx="374650" cy="430593"/>
          </a:xfrm>
          <a:custGeom>
            <a:avLst/>
            <a:gdLst/>
            <a:ahLst/>
            <a:cxnLst/>
            <a:rect l="0" t="0" r="r" b="b"/>
            <a:pathLst>
              <a:path w="374650" h="430593">
                <a:moveTo>
                  <a:pt x="0" y="430593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323850" y="0"/>
                </a:lnTo>
                <a:cubicBezTo>
                  <a:pt x="351917" y="0"/>
                  <a:pt x="374650" y="22733"/>
                  <a:pt x="374650" y="50800"/>
                </a:cubicBezTo>
                <a:lnTo>
                  <a:pt x="374650" y="430593"/>
                </a:lnTo>
                <a:close/>
              </a:path>
            </a:pathLst>
          </a:custGeom>
          <a:gradFill rotWithShape="1">
            <a:gsLst>
              <a:gs pos="0">
                <a:srgbClr val="5086C5"/>
              </a:gs>
              <a:gs pos="100000">
                <a:srgbClr val="2468B6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0" name="mv-2"/>
          <p:cNvSpPr txBox="1"/>
          <p:nvPr/>
        </p:nvSpPr>
        <p:spPr>
          <a:xfrm>
            <a:off x="2102802" y="4785775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411" name="ml-2"/>
          <p:cNvSpPr txBox="1"/>
          <p:nvPr/>
        </p:nvSpPr>
        <p:spPr>
          <a:xfrm>
            <a:off x="2116328" y="54655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2月</a:t>
            </a:r>
          </a:p>
        </p:txBody>
      </p:sp>
      <p:sp>
        <p:nvSpPr>
          <p:cNvPr id="412" name="mb-3"/>
          <p:cNvSpPr/>
          <p:nvPr/>
        </p:nvSpPr>
        <p:spPr>
          <a:xfrm>
            <a:off x="2540000" y="4419790"/>
            <a:ext cx="374650" cy="977710"/>
          </a:xfrm>
          <a:custGeom>
            <a:avLst/>
            <a:gdLst/>
            <a:ahLst/>
            <a:cxnLst/>
            <a:rect l="0" t="0" r="r" b="b"/>
            <a:pathLst>
              <a:path w="374650" h="977710">
                <a:moveTo>
                  <a:pt x="0" y="977710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323850" y="0"/>
                </a:lnTo>
                <a:cubicBezTo>
                  <a:pt x="351917" y="0"/>
                  <a:pt x="374650" y="22733"/>
                  <a:pt x="374650" y="50800"/>
                </a:cubicBezTo>
                <a:lnTo>
                  <a:pt x="374650" y="977710"/>
                </a:lnTo>
                <a:close/>
              </a:path>
            </a:pathLst>
          </a:custGeom>
          <a:gradFill rotWithShape="1">
            <a:gsLst>
              <a:gs pos="0">
                <a:srgbClr val="5086C5"/>
              </a:gs>
              <a:gs pos="100000">
                <a:srgbClr val="2468B6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3" name="mv-3"/>
          <p:cNvSpPr txBox="1"/>
          <p:nvPr/>
        </p:nvSpPr>
        <p:spPr>
          <a:xfrm>
            <a:off x="2604452" y="4238665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1.1</a:t>
            </a:r>
          </a:p>
        </p:txBody>
      </p:sp>
      <p:sp>
        <p:nvSpPr>
          <p:cNvPr id="414" name="ml-3"/>
          <p:cNvSpPr txBox="1"/>
          <p:nvPr/>
        </p:nvSpPr>
        <p:spPr>
          <a:xfrm>
            <a:off x="2617978" y="54655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3月</a:t>
            </a:r>
          </a:p>
        </p:txBody>
      </p:sp>
      <p:sp>
        <p:nvSpPr>
          <p:cNvPr id="415" name="mb-4"/>
          <p:cNvSpPr/>
          <p:nvPr/>
        </p:nvSpPr>
        <p:spPr>
          <a:xfrm>
            <a:off x="3041650" y="4397121"/>
            <a:ext cx="374650" cy="1000379"/>
          </a:xfrm>
          <a:custGeom>
            <a:avLst/>
            <a:gdLst/>
            <a:ahLst/>
            <a:cxnLst/>
            <a:rect l="0" t="0" r="r" b="b"/>
            <a:pathLst>
              <a:path w="374650" h="1000379">
                <a:moveTo>
                  <a:pt x="0" y="1000379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323850" y="0"/>
                </a:lnTo>
                <a:cubicBezTo>
                  <a:pt x="351917" y="0"/>
                  <a:pt x="374650" y="22733"/>
                  <a:pt x="374650" y="50800"/>
                </a:cubicBezTo>
                <a:lnTo>
                  <a:pt x="374650" y="1000379"/>
                </a:lnTo>
                <a:close/>
              </a:path>
            </a:pathLst>
          </a:custGeom>
          <a:gradFill rotWithShape="1">
            <a:gsLst>
              <a:gs pos="0">
                <a:srgbClr val="5086C5"/>
              </a:gs>
              <a:gs pos="100000">
                <a:srgbClr val="2468B6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6" name="mv-4"/>
          <p:cNvSpPr txBox="1"/>
          <p:nvPr/>
        </p:nvSpPr>
        <p:spPr>
          <a:xfrm>
            <a:off x="3106102" y="4215979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1.1</a:t>
            </a:r>
          </a:p>
        </p:txBody>
      </p:sp>
      <p:sp>
        <p:nvSpPr>
          <p:cNvPr id="417" name="ml-4"/>
          <p:cNvSpPr txBox="1"/>
          <p:nvPr/>
        </p:nvSpPr>
        <p:spPr>
          <a:xfrm>
            <a:off x="3119628" y="54655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4月</a:t>
            </a:r>
          </a:p>
        </p:txBody>
      </p:sp>
      <p:sp>
        <p:nvSpPr>
          <p:cNvPr id="418" name="mb-5"/>
          <p:cNvSpPr/>
          <p:nvPr/>
        </p:nvSpPr>
        <p:spPr>
          <a:xfrm>
            <a:off x="3543300" y="4376738"/>
            <a:ext cx="374650" cy="1020762"/>
          </a:xfrm>
          <a:custGeom>
            <a:avLst/>
            <a:gdLst/>
            <a:ahLst/>
            <a:cxnLst/>
            <a:rect l="0" t="0" r="r" b="b"/>
            <a:pathLst>
              <a:path w="374650" h="1020762">
                <a:moveTo>
                  <a:pt x="0" y="1020762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323850" y="0"/>
                </a:lnTo>
                <a:cubicBezTo>
                  <a:pt x="351917" y="0"/>
                  <a:pt x="374650" y="22733"/>
                  <a:pt x="374650" y="50800"/>
                </a:cubicBezTo>
                <a:lnTo>
                  <a:pt x="374650" y="1020762"/>
                </a:lnTo>
                <a:close/>
              </a:path>
            </a:pathLst>
          </a:custGeom>
          <a:gradFill rotWithShape="1">
            <a:gsLst>
              <a:gs pos="0">
                <a:srgbClr val="5086C5"/>
              </a:gs>
              <a:gs pos="100000">
                <a:srgbClr val="2468B6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9" name="mv-5"/>
          <p:cNvSpPr txBox="1"/>
          <p:nvPr/>
        </p:nvSpPr>
        <p:spPr>
          <a:xfrm>
            <a:off x="3607752" y="4195588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1.2</a:t>
            </a:r>
          </a:p>
        </p:txBody>
      </p:sp>
      <p:sp>
        <p:nvSpPr>
          <p:cNvPr id="420" name="ml-5"/>
          <p:cNvSpPr txBox="1"/>
          <p:nvPr/>
        </p:nvSpPr>
        <p:spPr>
          <a:xfrm>
            <a:off x="3621278" y="54655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5月</a:t>
            </a:r>
          </a:p>
        </p:txBody>
      </p:sp>
      <p:sp>
        <p:nvSpPr>
          <p:cNvPr id="421" name="mb-6"/>
          <p:cNvSpPr/>
          <p:nvPr/>
        </p:nvSpPr>
        <p:spPr>
          <a:xfrm>
            <a:off x="4044950" y="4299014"/>
            <a:ext cx="374650" cy="1098486"/>
          </a:xfrm>
          <a:custGeom>
            <a:avLst/>
            <a:gdLst/>
            <a:ahLst/>
            <a:cxnLst/>
            <a:rect l="0" t="0" r="r" b="b"/>
            <a:pathLst>
              <a:path w="374650" h="1098486">
                <a:moveTo>
                  <a:pt x="0" y="1098486"/>
                </a:moveTo>
                <a:lnTo>
                  <a:pt x="0" y="50800"/>
                </a:lnTo>
                <a:cubicBezTo>
                  <a:pt x="0" y="22797"/>
                  <a:pt x="22733" y="0"/>
                  <a:pt x="50800" y="0"/>
                </a:cubicBezTo>
                <a:lnTo>
                  <a:pt x="323850" y="0"/>
                </a:lnTo>
                <a:cubicBezTo>
                  <a:pt x="351917" y="0"/>
                  <a:pt x="374650" y="22797"/>
                  <a:pt x="374650" y="50800"/>
                </a:cubicBezTo>
                <a:lnTo>
                  <a:pt x="374650" y="1098486"/>
                </a:lnTo>
                <a:close/>
              </a:path>
            </a:pathLst>
          </a:custGeom>
          <a:gradFill rotWithShape="1">
            <a:gsLst>
              <a:gs pos="0">
                <a:srgbClr val="5086C5"/>
              </a:gs>
              <a:gs pos="100000">
                <a:srgbClr val="2468B6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2" name="mv-6"/>
          <p:cNvSpPr txBox="1"/>
          <p:nvPr/>
        </p:nvSpPr>
        <p:spPr>
          <a:xfrm>
            <a:off x="4109402" y="4117908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1.2</a:t>
            </a:r>
          </a:p>
        </p:txBody>
      </p:sp>
      <p:sp>
        <p:nvSpPr>
          <p:cNvPr id="423" name="ml-6"/>
          <p:cNvSpPr txBox="1"/>
          <p:nvPr/>
        </p:nvSpPr>
        <p:spPr>
          <a:xfrm>
            <a:off x="4122928" y="54655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6月</a:t>
            </a:r>
          </a:p>
        </p:txBody>
      </p:sp>
      <p:sp>
        <p:nvSpPr>
          <p:cNvPr id="424" name="mb-7"/>
          <p:cNvSpPr/>
          <p:nvPr/>
        </p:nvSpPr>
        <p:spPr>
          <a:xfrm>
            <a:off x="4546600" y="4381310"/>
            <a:ext cx="374650" cy="1016190"/>
          </a:xfrm>
          <a:custGeom>
            <a:avLst/>
            <a:gdLst/>
            <a:ahLst/>
            <a:cxnLst/>
            <a:rect l="0" t="0" r="r" b="b"/>
            <a:pathLst>
              <a:path w="374650" h="1016190">
                <a:moveTo>
                  <a:pt x="0" y="1016190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323850" y="0"/>
                </a:lnTo>
                <a:cubicBezTo>
                  <a:pt x="351917" y="0"/>
                  <a:pt x="374650" y="22733"/>
                  <a:pt x="374650" y="50800"/>
                </a:cubicBezTo>
                <a:lnTo>
                  <a:pt x="374650" y="1016190"/>
                </a:lnTo>
                <a:close/>
              </a:path>
            </a:pathLst>
          </a:custGeom>
          <a:gradFill rotWithShape="1">
            <a:gsLst>
              <a:gs pos="0">
                <a:srgbClr val="5086C5"/>
              </a:gs>
              <a:gs pos="100000">
                <a:srgbClr val="2468B6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5" name="mv-7"/>
          <p:cNvSpPr txBox="1"/>
          <p:nvPr/>
        </p:nvSpPr>
        <p:spPr>
          <a:xfrm>
            <a:off x="4611052" y="4200178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1.2</a:t>
            </a:r>
          </a:p>
        </p:txBody>
      </p:sp>
      <p:sp>
        <p:nvSpPr>
          <p:cNvPr id="426" name="ml-7"/>
          <p:cNvSpPr txBox="1"/>
          <p:nvPr/>
        </p:nvSpPr>
        <p:spPr>
          <a:xfrm>
            <a:off x="4624578" y="54655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7月</a:t>
            </a:r>
          </a:p>
        </p:txBody>
      </p:sp>
      <p:sp>
        <p:nvSpPr>
          <p:cNvPr id="427" name="mb-8"/>
          <p:cNvSpPr/>
          <p:nvPr/>
        </p:nvSpPr>
        <p:spPr>
          <a:xfrm>
            <a:off x="5048250" y="4435856"/>
            <a:ext cx="374650" cy="961644"/>
          </a:xfrm>
          <a:custGeom>
            <a:avLst/>
            <a:gdLst/>
            <a:ahLst/>
            <a:cxnLst/>
            <a:rect l="0" t="0" r="r" b="b"/>
            <a:pathLst>
              <a:path w="374650" h="961644">
                <a:moveTo>
                  <a:pt x="0" y="961644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323850" y="0"/>
                </a:lnTo>
                <a:cubicBezTo>
                  <a:pt x="351917" y="0"/>
                  <a:pt x="374650" y="22733"/>
                  <a:pt x="374650" y="50800"/>
                </a:cubicBezTo>
                <a:lnTo>
                  <a:pt x="374650" y="961644"/>
                </a:lnTo>
                <a:close/>
              </a:path>
            </a:pathLst>
          </a:custGeom>
          <a:gradFill rotWithShape="1">
            <a:gsLst>
              <a:gs pos="0">
                <a:srgbClr val="5086C5"/>
              </a:gs>
              <a:gs pos="100000">
                <a:srgbClr val="2468B6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8" name="mv-8"/>
          <p:cNvSpPr txBox="1"/>
          <p:nvPr/>
        </p:nvSpPr>
        <p:spPr>
          <a:xfrm>
            <a:off x="5112702" y="4254730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1.1</a:t>
            </a:r>
          </a:p>
        </p:txBody>
      </p:sp>
      <p:sp>
        <p:nvSpPr>
          <p:cNvPr id="429" name="ml-8"/>
          <p:cNvSpPr txBox="1"/>
          <p:nvPr/>
        </p:nvSpPr>
        <p:spPr>
          <a:xfrm>
            <a:off x="5126228" y="54655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8月</a:t>
            </a:r>
          </a:p>
        </p:txBody>
      </p:sp>
      <p:sp>
        <p:nvSpPr>
          <p:cNvPr id="430" name="mb-9"/>
          <p:cNvSpPr/>
          <p:nvPr/>
        </p:nvSpPr>
        <p:spPr>
          <a:xfrm>
            <a:off x="5549900" y="4338955"/>
            <a:ext cx="374650" cy="1058545"/>
          </a:xfrm>
          <a:custGeom>
            <a:avLst/>
            <a:gdLst/>
            <a:ahLst/>
            <a:cxnLst/>
            <a:rect l="0" t="0" r="r" b="b"/>
            <a:pathLst>
              <a:path w="374650" h="1058545">
                <a:moveTo>
                  <a:pt x="0" y="1058545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323850" y="0"/>
                </a:lnTo>
                <a:cubicBezTo>
                  <a:pt x="351917" y="0"/>
                  <a:pt x="374650" y="22733"/>
                  <a:pt x="374650" y="50800"/>
                </a:cubicBezTo>
                <a:lnTo>
                  <a:pt x="374650" y="1058545"/>
                </a:lnTo>
                <a:close/>
              </a:path>
            </a:pathLst>
          </a:custGeom>
          <a:gradFill rotWithShape="1">
            <a:gsLst>
              <a:gs pos="0">
                <a:srgbClr val="5086C5"/>
              </a:gs>
              <a:gs pos="100000">
                <a:srgbClr val="2468B6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1" name="mv-9"/>
          <p:cNvSpPr txBox="1"/>
          <p:nvPr/>
        </p:nvSpPr>
        <p:spPr>
          <a:xfrm>
            <a:off x="5614352" y="4157807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1.2</a:t>
            </a:r>
          </a:p>
        </p:txBody>
      </p:sp>
      <p:sp>
        <p:nvSpPr>
          <p:cNvPr id="432" name="ml-9"/>
          <p:cNvSpPr txBox="1"/>
          <p:nvPr/>
        </p:nvSpPr>
        <p:spPr>
          <a:xfrm>
            <a:off x="5627878" y="54655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9月</a:t>
            </a:r>
          </a:p>
        </p:txBody>
      </p:sp>
      <p:sp>
        <p:nvSpPr>
          <p:cNvPr id="433" name="mb-10"/>
          <p:cNvSpPr/>
          <p:nvPr/>
        </p:nvSpPr>
        <p:spPr>
          <a:xfrm>
            <a:off x="6051550" y="4609402"/>
            <a:ext cx="374650" cy="788099"/>
          </a:xfrm>
          <a:custGeom>
            <a:avLst/>
            <a:gdLst/>
            <a:ahLst/>
            <a:cxnLst/>
            <a:rect l="0" t="0" r="r" b="b"/>
            <a:pathLst>
              <a:path w="374650" h="788099">
                <a:moveTo>
                  <a:pt x="0" y="788099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323850" y="0"/>
                </a:lnTo>
                <a:cubicBezTo>
                  <a:pt x="351917" y="0"/>
                  <a:pt x="374650" y="22733"/>
                  <a:pt x="374650" y="50800"/>
                </a:cubicBezTo>
                <a:lnTo>
                  <a:pt x="374650" y="788099"/>
                </a:lnTo>
                <a:close/>
              </a:path>
            </a:pathLst>
          </a:custGeom>
          <a:gradFill rotWithShape="1">
            <a:gsLst>
              <a:gs pos="0">
                <a:srgbClr val="5086C5"/>
              </a:gs>
              <a:gs pos="100000">
                <a:srgbClr val="2468B6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4" name="mv-10"/>
          <p:cNvSpPr txBox="1"/>
          <p:nvPr/>
        </p:nvSpPr>
        <p:spPr>
          <a:xfrm>
            <a:off x="6116002" y="4428273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0.9</a:t>
            </a:r>
          </a:p>
        </p:txBody>
      </p:sp>
      <p:sp>
        <p:nvSpPr>
          <p:cNvPr id="435" name="ml-10"/>
          <p:cNvSpPr txBox="1"/>
          <p:nvPr/>
        </p:nvSpPr>
        <p:spPr>
          <a:xfrm>
            <a:off x="6104636" y="5465508"/>
            <a:ext cx="2684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10月</a:t>
            </a:r>
          </a:p>
        </p:txBody>
      </p:sp>
      <p:sp>
        <p:nvSpPr>
          <p:cNvPr id="436" name="mb-11"/>
          <p:cNvSpPr/>
          <p:nvPr/>
        </p:nvSpPr>
        <p:spPr>
          <a:xfrm>
            <a:off x="6553200" y="4198430"/>
            <a:ext cx="374650" cy="1199071"/>
          </a:xfrm>
          <a:custGeom>
            <a:avLst/>
            <a:gdLst/>
            <a:ahLst/>
            <a:cxnLst/>
            <a:rect l="0" t="0" r="r" b="b"/>
            <a:pathLst>
              <a:path w="374650" h="1199071">
                <a:moveTo>
                  <a:pt x="0" y="1199071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323850" y="0"/>
                </a:lnTo>
                <a:cubicBezTo>
                  <a:pt x="351917" y="0"/>
                  <a:pt x="374650" y="22733"/>
                  <a:pt x="374650" y="50800"/>
                </a:cubicBezTo>
                <a:lnTo>
                  <a:pt x="374650" y="1199071"/>
                </a:lnTo>
                <a:close/>
              </a:path>
            </a:pathLst>
          </a:custGeom>
          <a:gradFill rotWithShape="1">
            <a:gsLst>
              <a:gs pos="0">
                <a:srgbClr val="5086C5"/>
              </a:gs>
              <a:gs pos="100000">
                <a:srgbClr val="2468B6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7" name="mv-11"/>
          <p:cNvSpPr txBox="1"/>
          <p:nvPr/>
        </p:nvSpPr>
        <p:spPr>
          <a:xfrm>
            <a:off x="6617653" y="4017278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1.4</a:t>
            </a:r>
          </a:p>
        </p:txBody>
      </p:sp>
      <p:sp>
        <p:nvSpPr>
          <p:cNvPr id="438" name="ml-11"/>
          <p:cNvSpPr txBox="1"/>
          <p:nvPr/>
        </p:nvSpPr>
        <p:spPr>
          <a:xfrm>
            <a:off x="6606286" y="5465508"/>
            <a:ext cx="2684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11月</a:t>
            </a:r>
          </a:p>
        </p:txBody>
      </p:sp>
      <p:sp>
        <p:nvSpPr>
          <p:cNvPr id="439" name="mb-12"/>
          <p:cNvSpPr/>
          <p:nvPr/>
        </p:nvSpPr>
        <p:spPr>
          <a:xfrm>
            <a:off x="7054850" y="4036758"/>
            <a:ext cx="374650" cy="1360741"/>
          </a:xfrm>
          <a:custGeom>
            <a:avLst/>
            <a:gdLst/>
            <a:ahLst/>
            <a:cxnLst/>
            <a:rect l="0" t="0" r="r" b="b"/>
            <a:pathLst>
              <a:path w="374650" h="1360741">
                <a:moveTo>
                  <a:pt x="0" y="1360741"/>
                </a:moveTo>
                <a:lnTo>
                  <a:pt x="0" y="50800"/>
                </a:lnTo>
                <a:cubicBezTo>
                  <a:pt x="0" y="22796"/>
                  <a:pt x="22733" y="0"/>
                  <a:pt x="50800" y="0"/>
                </a:cubicBezTo>
                <a:lnTo>
                  <a:pt x="323850" y="0"/>
                </a:lnTo>
                <a:cubicBezTo>
                  <a:pt x="351917" y="0"/>
                  <a:pt x="374650" y="22796"/>
                  <a:pt x="374650" y="50800"/>
                </a:cubicBezTo>
                <a:lnTo>
                  <a:pt x="374650" y="1360741"/>
                </a:lnTo>
                <a:close/>
              </a:path>
            </a:pathLst>
          </a:custGeom>
          <a:gradFill rotWithShape="1">
            <a:gsLst>
              <a:gs pos="0">
                <a:srgbClr val="E68D61"/>
              </a:gs>
              <a:gs pos="100000">
                <a:srgbClr val="E0703A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0" name="mv-12"/>
          <p:cNvSpPr txBox="1"/>
          <p:nvPr/>
        </p:nvSpPr>
        <p:spPr>
          <a:xfrm>
            <a:off x="7119303" y="3855652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1.5</a:t>
            </a:r>
          </a:p>
        </p:txBody>
      </p:sp>
      <p:sp>
        <p:nvSpPr>
          <p:cNvPr id="441" name="ml-12"/>
          <p:cNvSpPr txBox="1"/>
          <p:nvPr/>
        </p:nvSpPr>
        <p:spPr>
          <a:xfrm>
            <a:off x="7107936" y="5465508"/>
            <a:ext cx="2684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12月</a:t>
            </a:r>
          </a:p>
        </p:txBody>
      </p:sp>
      <p:cxnSp>
        <p:nvCxnSpPr>
          <p:cNvPr id="442" name="maxis"/>
          <p:cNvCxnSpPr/>
          <p:nvPr/>
        </p:nvCxnSpPr>
        <p:spPr>
          <a:xfrm>
            <a:off x="1473200" y="5397500"/>
            <a:ext cx="6019800" cy="0"/>
          </a:xfrm>
          <a:prstGeom prst="line">
            <a:avLst/>
          </a:prstGeom>
          <a:ln w="6350" cap="rnd">
            <a:solidFill>
              <a:srgbClr val="0B2545">
                <a:alpha val="1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3" name="k-1"/>
          <p:cNvSpPr/>
          <p:nvPr/>
        </p:nvSpPr>
        <p:spPr>
          <a:xfrm>
            <a:off x="7937500" y="3746500"/>
            <a:ext cx="1587500" cy="787400"/>
          </a:xfrm>
          <a:custGeom>
            <a:avLst/>
            <a:gdLst/>
            <a:ahLst/>
            <a:cxnLst/>
            <a:rect l="0" t="0" r="r" b="b"/>
            <a:pathLst>
              <a:path w="1587500" h="787400">
                <a:moveTo>
                  <a:pt x="114300" y="0"/>
                </a:moveTo>
                <a:lnTo>
                  <a:pt x="1473200" y="0"/>
                </a:lnTo>
                <a:cubicBezTo>
                  <a:pt x="1536319" y="0"/>
                  <a:pt x="1587500" y="51181"/>
                  <a:pt x="1587500" y="114300"/>
                </a:cubicBezTo>
                <a:lnTo>
                  <a:pt x="1587500" y="673100"/>
                </a:lnTo>
                <a:cubicBezTo>
                  <a:pt x="1587500" y="736219"/>
                  <a:pt x="1536319" y="787400"/>
                  <a:pt x="1473200" y="787400"/>
                </a:cubicBezTo>
                <a:lnTo>
                  <a:pt x="114300" y="787400"/>
                </a:lnTo>
                <a:cubicBezTo>
                  <a:pt x="51181" y="787400"/>
                  <a:pt x="0" y="736219"/>
                  <a:pt x="0" y="6731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4" name="kl-1"/>
          <p:cNvSpPr txBox="1"/>
          <p:nvPr/>
        </p:nvSpPr>
        <p:spPr>
          <a:xfrm>
            <a:off x="8090408" y="3887724"/>
            <a:ext cx="5232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5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全年订单</a:t>
            </a:r>
          </a:p>
        </p:txBody>
      </p:sp>
      <p:sp>
        <p:nvSpPr>
          <p:cNvPr id="445" name="kv-1"/>
          <p:cNvSpPr txBox="1"/>
          <p:nvPr/>
        </p:nvSpPr>
        <p:spPr>
          <a:xfrm>
            <a:off x="8072120" y="4055110"/>
            <a:ext cx="79756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13.3</a:t>
            </a:r>
          </a:p>
        </p:txBody>
      </p:sp>
      <p:sp>
        <p:nvSpPr>
          <p:cNvPr id="446" name="ku-1"/>
          <p:cNvSpPr txBox="1"/>
          <p:nvPr/>
        </p:nvSpPr>
        <p:spPr>
          <a:xfrm>
            <a:off x="8725408" y="4243324"/>
            <a:ext cx="2946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万单</a:t>
            </a:r>
          </a:p>
        </p:txBody>
      </p:sp>
      <p:sp>
        <p:nvSpPr>
          <p:cNvPr id="447" name="k-2"/>
          <p:cNvSpPr/>
          <p:nvPr/>
        </p:nvSpPr>
        <p:spPr>
          <a:xfrm>
            <a:off x="9601200" y="3746500"/>
            <a:ext cx="1587500" cy="787400"/>
          </a:xfrm>
          <a:custGeom>
            <a:avLst/>
            <a:gdLst/>
            <a:ahLst/>
            <a:cxnLst/>
            <a:rect l="0" t="0" r="r" b="b"/>
            <a:pathLst>
              <a:path w="1587500" h="787400">
                <a:moveTo>
                  <a:pt x="114300" y="0"/>
                </a:moveTo>
                <a:lnTo>
                  <a:pt x="1473200" y="0"/>
                </a:lnTo>
                <a:cubicBezTo>
                  <a:pt x="1536319" y="0"/>
                  <a:pt x="1587500" y="51181"/>
                  <a:pt x="1587500" y="114300"/>
                </a:cubicBezTo>
                <a:lnTo>
                  <a:pt x="1587500" y="673100"/>
                </a:lnTo>
                <a:cubicBezTo>
                  <a:pt x="1587500" y="736219"/>
                  <a:pt x="1536319" y="787400"/>
                  <a:pt x="1473200" y="787400"/>
                </a:cubicBezTo>
                <a:lnTo>
                  <a:pt x="114300" y="787400"/>
                </a:lnTo>
                <a:cubicBezTo>
                  <a:pt x="51181" y="787400"/>
                  <a:pt x="0" y="736219"/>
                  <a:pt x="0" y="6731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8" name="kl-2"/>
          <p:cNvSpPr txBox="1"/>
          <p:nvPr/>
        </p:nvSpPr>
        <p:spPr>
          <a:xfrm>
            <a:off x="9754108" y="3887724"/>
            <a:ext cx="8209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工作日 / 周末</a:t>
            </a:r>
          </a:p>
        </p:txBody>
      </p:sp>
      <p:sp>
        <p:nvSpPr>
          <p:cNvPr id="449" name="kv-2"/>
          <p:cNvSpPr txBox="1"/>
          <p:nvPr/>
        </p:nvSpPr>
        <p:spPr>
          <a:xfrm>
            <a:off x="9735820" y="4055110"/>
            <a:ext cx="65532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1.8</a:t>
            </a:r>
          </a:p>
        </p:txBody>
      </p:sp>
      <p:sp>
        <p:nvSpPr>
          <p:cNvPr id="450" name="ku-2"/>
          <p:cNvSpPr txBox="1"/>
          <p:nvPr/>
        </p:nvSpPr>
        <p:spPr>
          <a:xfrm>
            <a:off x="10236708" y="4243324"/>
            <a:ext cx="1930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倍</a:t>
            </a:r>
          </a:p>
        </p:txBody>
      </p:sp>
      <p:sp>
        <p:nvSpPr>
          <p:cNvPr id="451" name="k-3"/>
          <p:cNvSpPr/>
          <p:nvPr/>
        </p:nvSpPr>
        <p:spPr>
          <a:xfrm>
            <a:off x="7937500" y="4635500"/>
            <a:ext cx="3251200" cy="787400"/>
          </a:xfrm>
          <a:custGeom>
            <a:avLst/>
            <a:gdLst/>
            <a:ahLst/>
            <a:cxnLst/>
            <a:rect l="0" t="0" r="r" b="b"/>
            <a:pathLst>
              <a:path w="3251200" h="787400">
                <a:moveTo>
                  <a:pt x="114300" y="0"/>
                </a:moveTo>
                <a:lnTo>
                  <a:pt x="3136900" y="0"/>
                </a:lnTo>
                <a:cubicBezTo>
                  <a:pt x="3200019" y="0"/>
                  <a:pt x="3251200" y="51181"/>
                  <a:pt x="3251200" y="114300"/>
                </a:cubicBezTo>
                <a:lnTo>
                  <a:pt x="3251200" y="673100"/>
                </a:lnTo>
                <a:cubicBezTo>
                  <a:pt x="3251200" y="736219"/>
                  <a:pt x="3200019" y="787400"/>
                  <a:pt x="3136900" y="787400"/>
                </a:cubicBezTo>
                <a:lnTo>
                  <a:pt x="114300" y="787400"/>
                </a:lnTo>
                <a:cubicBezTo>
                  <a:pt x="51181" y="787400"/>
                  <a:pt x="0" y="736219"/>
                  <a:pt x="0" y="6731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2" name="kl-3"/>
          <p:cNvSpPr txBox="1"/>
          <p:nvPr/>
        </p:nvSpPr>
        <p:spPr>
          <a:xfrm>
            <a:off x="8090408" y="4776724"/>
            <a:ext cx="7391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假期日均降幅</a:t>
            </a:r>
          </a:p>
        </p:txBody>
      </p:sp>
      <p:sp>
        <p:nvSpPr>
          <p:cNvPr id="453" name="kv-3"/>
          <p:cNvSpPr txBox="1"/>
          <p:nvPr/>
        </p:nvSpPr>
        <p:spPr>
          <a:xfrm>
            <a:off x="8072120" y="4944110"/>
            <a:ext cx="51308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72</a:t>
            </a:r>
          </a:p>
        </p:txBody>
      </p:sp>
      <p:sp>
        <p:nvSpPr>
          <p:cNvPr id="454" name="ku-3"/>
          <p:cNvSpPr txBox="1"/>
          <p:nvPr/>
        </p:nvSpPr>
        <p:spPr>
          <a:xfrm>
            <a:off x="8420608" y="51323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%</a:t>
            </a:r>
          </a:p>
        </p:txBody>
      </p:sp>
      <p:sp>
        <p:nvSpPr>
          <p:cNvPr id="455" name="k3-n"/>
          <p:cNvSpPr txBox="1"/>
          <p:nvPr/>
        </p:nvSpPr>
        <p:spPr>
          <a:xfrm>
            <a:off x="10264775" y="5140166"/>
            <a:ext cx="77025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春节、国庆两段</a:t>
            </a:r>
          </a:p>
        </p:txBody>
      </p:sp>
      <p:sp>
        <p:nvSpPr>
          <p:cNvPr id="456" name="sum"/>
          <p:cNvSpPr/>
          <p:nvPr/>
        </p:nvSpPr>
        <p:spPr>
          <a:xfrm>
            <a:off x="952500" y="5791200"/>
            <a:ext cx="10287000" cy="533400"/>
          </a:xfrm>
          <a:custGeom>
            <a:avLst/>
            <a:gdLst/>
            <a:ahLst/>
            <a:cxnLst/>
            <a:rect l="0" t="0" r="r" b="b"/>
            <a:pathLst>
              <a:path w="10287000" h="5334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31800"/>
                </a:lnTo>
                <a:cubicBezTo>
                  <a:pt x="10287000" y="487934"/>
                  <a:pt x="10241534" y="533400"/>
                  <a:pt x="10185400" y="533400"/>
                </a:cubicBezTo>
                <a:lnTo>
                  <a:pt x="101600" y="533400"/>
                </a:lnTo>
                <a:cubicBezTo>
                  <a:pt x="45466" y="533400"/>
                  <a:pt x="0" y="487934"/>
                  <a:pt x="0" y="431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7" name="sum-bar"/>
          <p:cNvSpPr/>
          <p:nvPr/>
        </p:nvSpPr>
        <p:spPr>
          <a:xfrm>
            <a:off x="952500" y="57912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8" name="sum-h"/>
          <p:cNvSpPr txBox="1"/>
          <p:nvPr/>
        </p:nvSpPr>
        <p:spPr>
          <a:xfrm>
            <a:off x="1141222" y="59596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排班建议</a:t>
            </a:r>
          </a:p>
        </p:txBody>
      </p:sp>
      <p:sp>
        <p:nvSpPr>
          <p:cNvPr id="459" name="sum-p"/>
          <p:cNvSpPr txBox="1"/>
          <p:nvPr/>
        </p:nvSpPr>
        <p:spPr>
          <a:xfrm>
            <a:off x="1891665" y="5971461"/>
            <a:ext cx="503396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周末订单不到工作日的六成，客服按 7 : 3 排班；11 月、12 月旺季提前一个月扩充临时坐席。</a:t>
            </a:r>
          </a:p>
        </p:txBody>
      </p:sp>
      <p:cxnSp>
        <p:nvCxnSpPr>
          <p:cNvPr id="460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1" name="foot-l"/>
          <p:cNvSpPr txBox="1"/>
          <p:nvPr/>
        </p:nvSpPr>
        <p:spPr>
          <a:xfrm>
            <a:off x="573532" y="6532308"/>
            <a:ext cx="108572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日历热力图 · 365 天</a:t>
            </a:r>
          </a:p>
        </p:txBody>
      </p:sp>
      <p:sp>
        <p:nvSpPr>
          <p:cNvPr id="462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9946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客户结构四个百分比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17271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WAFFLE CHART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569579" y="673132"/>
            <a:ext cx="305117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每张图 100 个格子，一格代表 1%——比饼图更容易数清楚</a:t>
            </a:r>
          </a:p>
        </p:txBody>
      </p:sp>
      <p:sp>
        <p:nvSpPr>
          <p:cNvPr id="10" name="card-1"/>
          <p:cNvSpPr/>
          <p:nvPr/>
        </p:nvSpPr>
        <p:spPr>
          <a:xfrm>
            <a:off x="952500" y="1397000"/>
            <a:ext cx="2444750" cy="3873500"/>
          </a:xfrm>
          <a:custGeom>
            <a:avLst/>
            <a:gdLst/>
            <a:ahLst/>
            <a:cxnLst/>
            <a:rect l="0" t="0" r="r" b="b"/>
            <a:pathLst>
              <a:path w="2444750" h="3873500">
                <a:moveTo>
                  <a:pt x="152400" y="0"/>
                </a:moveTo>
                <a:lnTo>
                  <a:pt x="2292350" y="0"/>
                </a:lnTo>
                <a:cubicBezTo>
                  <a:pt x="2376551" y="0"/>
                  <a:pt x="2444750" y="68199"/>
                  <a:pt x="2444750" y="152400"/>
                </a:cubicBezTo>
                <a:lnTo>
                  <a:pt x="2444750" y="3721100"/>
                </a:lnTo>
                <a:cubicBezTo>
                  <a:pt x="2444750" y="3805301"/>
                  <a:pt x="2376551" y="3873500"/>
                  <a:pt x="2292350" y="3873500"/>
                </a:cubicBezTo>
                <a:lnTo>
                  <a:pt x="152400" y="3873500"/>
                </a:lnTo>
                <a:cubicBezTo>
                  <a:pt x="68199" y="3873500"/>
                  <a:pt x="0" y="3805301"/>
                  <a:pt x="0" y="37211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w-1-0"/>
          <p:cNvSpPr/>
          <p:nvPr/>
        </p:nvSpPr>
        <p:spPr>
          <a:xfrm>
            <a:off x="107950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w-1-1"/>
          <p:cNvSpPr/>
          <p:nvPr/>
        </p:nvSpPr>
        <p:spPr>
          <a:xfrm>
            <a:off x="130175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w-1-2"/>
          <p:cNvSpPr/>
          <p:nvPr/>
        </p:nvSpPr>
        <p:spPr>
          <a:xfrm>
            <a:off x="152400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w-1-3"/>
          <p:cNvSpPr/>
          <p:nvPr/>
        </p:nvSpPr>
        <p:spPr>
          <a:xfrm>
            <a:off x="174625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w-1-4"/>
          <p:cNvSpPr/>
          <p:nvPr/>
        </p:nvSpPr>
        <p:spPr>
          <a:xfrm>
            <a:off x="196850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w-1-5"/>
          <p:cNvSpPr/>
          <p:nvPr/>
        </p:nvSpPr>
        <p:spPr>
          <a:xfrm>
            <a:off x="219075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w-1-6"/>
          <p:cNvSpPr/>
          <p:nvPr/>
        </p:nvSpPr>
        <p:spPr>
          <a:xfrm>
            <a:off x="241300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w-1-7"/>
          <p:cNvSpPr/>
          <p:nvPr/>
        </p:nvSpPr>
        <p:spPr>
          <a:xfrm>
            <a:off x="263525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w-1-8"/>
          <p:cNvSpPr/>
          <p:nvPr/>
        </p:nvSpPr>
        <p:spPr>
          <a:xfrm>
            <a:off x="285750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w-1-9"/>
          <p:cNvSpPr/>
          <p:nvPr/>
        </p:nvSpPr>
        <p:spPr>
          <a:xfrm>
            <a:off x="307975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w-1-10"/>
          <p:cNvSpPr/>
          <p:nvPr/>
        </p:nvSpPr>
        <p:spPr>
          <a:xfrm>
            <a:off x="107950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w-1-11"/>
          <p:cNvSpPr/>
          <p:nvPr/>
        </p:nvSpPr>
        <p:spPr>
          <a:xfrm>
            <a:off x="130175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w-1-12"/>
          <p:cNvSpPr/>
          <p:nvPr/>
        </p:nvSpPr>
        <p:spPr>
          <a:xfrm>
            <a:off x="152400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w-1-13"/>
          <p:cNvSpPr/>
          <p:nvPr/>
        </p:nvSpPr>
        <p:spPr>
          <a:xfrm>
            <a:off x="174625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w-1-14"/>
          <p:cNvSpPr/>
          <p:nvPr/>
        </p:nvSpPr>
        <p:spPr>
          <a:xfrm>
            <a:off x="196850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w-1-15"/>
          <p:cNvSpPr/>
          <p:nvPr/>
        </p:nvSpPr>
        <p:spPr>
          <a:xfrm>
            <a:off x="219075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w-1-16"/>
          <p:cNvSpPr/>
          <p:nvPr/>
        </p:nvSpPr>
        <p:spPr>
          <a:xfrm>
            <a:off x="241300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w-1-17"/>
          <p:cNvSpPr/>
          <p:nvPr/>
        </p:nvSpPr>
        <p:spPr>
          <a:xfrm>
            <a:off x="263525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w-1-18"/>
          <p:cNvSpPr/>
          <p:nvPr/>
        </p:nvSpPr>
        <p:spPr>
          <a:xfrm>
            <a:off x="285750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w-1-19"/>
          <p:cNvSpPr/>
          <p:nvPr/>
        </p:nvSpPr>
        <p:spPr>
          <a:xfrm>
            <a:off x="307975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w-1-20"/>
          <p:cNvSpPr/>
          <p:nvPr/>
        </p:nvSpPr>
        <p:spPr>
          <a:xfrm>
            <a:off x="107950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w-1-21"/>
          <p:cNvSpPr/>
          <p:nvPr/>
        </p:nvSpPr>
        <p:spPr>
          <a:xfrm>
            <a:off x="130175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w-1-22"/>
          <p:cNvSpPr/>
          <p:nvPr/>
        </p:nvSpPr>
        <p:spPr>
          <a:xfrm>
            <a:off x="152400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w-1-23"/>
          <p:cNvSpPr/>
          <p:nvPr/>
        </p:nvSpPr>
        <p:spPr>
          <a:xfrm>
            <a:off x="174625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w-1-24"/>
          <p:cNvSpPr/>
          <p:nvPr/>
        </p:nvSpPr>
        <p:spPr>
          <a:xfrm>
            <a:off x="196850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w-1-25"/>
          <p:cNvSpPr/>
          <p:nvPr/>
        </p:nvSpPr>
        <p:spPr>
          <a:xfrm>
            <a:off x="219075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w-1-26"/>
          <p:cNvSpPr/>
          <p:nvPr/>
        </p:nvSpPr>
        <p:spPr>
          <a:xfrm>
            <a:off x="241300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w-1-27"/>
          <p:cNvSpPr/>
          <p:nvPr/>
        </p:nvSpPr>
        <p:spPr>
          <a:xfrm>
            <a:off x="263525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w-1-28"/>
          <p:cNvSpPr/>
          <p:nvPr/>
        </p:nvSpPr>
        <p:spPr>
          <a:xfrm>
            <a:off x="285750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w-1-29"/>
          <p:cNvSpPr/>
          <p:nvPr/>
        </p:nvSpPr>
        <p:spPr>
          <a:xfrm>
            <a:off x="307975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w-1-30"/>
          <p:cNvSpPr/>
          <p:nvPr/>
        </p:nvSpPr>
        <p:spPr>
          <a:xfrm>
            <a:off x="107950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w-1-31"/>
          <p:cNvSpPr/>
          <p:nvPr/>
        </p:nvSpPr>
        <p:spPr>
          <a:xfrm>
            <a:off x="130175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w-1-32"/>
          <p:cNvSpPr/>
          <p:nvPr/>
        </p:nvSpPr>
        <p:spPr>
          <a:xfrm>
            <a:off x="152400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w-1-33"/>
          <p:cNvSpPr/>
          <p:nvPr/>
        </p:nvSpPr>
        <p:spPr>
          <a:xfrm>
            <a:off x="174625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w-1-34"/>
          <p:cNvSpPr/>
          <p:nvPr/>
        </p:nvSpPr>
        <p:spPr>
          <a:xfrm>
            <a:off x="196850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w-1-35"/>
          <p:cNvSpPr/>
          <p:nvPr/>
        </p:nvSpPr>
        <p:spPr>
          <a:xfrm>
            <a:off x="219075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w-1-36"/>
          <p:cNvSpPr/>
          <p:nvPr/>
        </p:nvSpPr>
        <p:spPr>
          <a:xfrm>
            <a:off x="241300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w-1-37"/>
          <p:cNvSpPr/>
          <p:nvPr/>
        </p:nvSpPr>
        <p:spPr>
          <a:xfrm>
            <a:off x="263525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w-1-38"/>
          <p:cNvSpPr/>
          <p:nvPr/>
        </p:nvSpPr>
        <p:spPr>
          <a:xfrm>
            <a:off x="285750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w-1-39"/>
          <p:cNvSpPr/>
          <p:nvPr/>
        </p:nvSpPr>
        <p:spPr>
          <a:xfrm>
            <a:off x="307975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w-1-40"/>
          <p:cNvSpPr/>
          <p:nvPr/>
        </p:nvSpPr>
        <p:spPr>
          <a:xfrm>
            <a:off x="107950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w-1-41"/>
          <p:cNvSpPr/>
          <p:nvPr/>
        </p:nvSpPr>
        <p:spPr>
          <a:xfrm>
            <a:off x="130175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w-1-42"/>
          <p:cNvSpPr/>
          <p:nvPr/>
        </p:nvSpPr>
        <p:spPr>
          <a:xfrm>
            <a:off x="152400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w-1-43"/>
          <p:cNvSpPr/>
          <p:nvPr/>
        </p:nvSpPr>
        <p:spPr>
          <a:xfrm>
            <a:off x="174625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w-1-44"/>
          <p:cNvSpPr/>
          <p:nvPr/>
        </p:nvSpPr>
        <p:spPr>
          <a:xfrm>
            <a:off x="196850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w-1-45"/>
          <p:cNvSpPr/>
          <p:nvPr/>
        </p:nvSpPr>
        <p:spPr>
          <a:xfrm>
            <a:off x="219075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w-1-46"/>
          <p:cNvSpPr/>
          <p:nvPr/>
        </p:nvSpPr>
        <p:spPr>
          <a:xfrm>
            <a:off x="241300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w-1-47"/>
          <p:cNvSpPr/>
          <p:nvPr/>
        </p:nvSpPr>
        <p:spPr>
          <a:xfrm>
            <a:off x="263525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w-1-48"/>
          <p:cNvSpPr/>
          <p:nvPr/>
        </p:nvSpPr>
        <p:spPr>
          <a:xfrm>
            <a:off x="285750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w-1-49"/>
          <p:cNvSpPr/>
          <p:nvPr/>
        </p:nvSpPr>
        <p:spPr>
          <a:xfrm>
            <a:off x="307975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w-1-50"/>
          <p:cNvSpPr/>
          <p:nvPr/>
        </p:nvSpPr>
        <p:spPr>
          <a:xfrm>
            <a:off x="107950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w-1-51"/>
          <p:cNvSpPr/>
          <p:nvPr/>
        </p:nvSpPr>
        <p:spPr>
          <a:xfrm>
            <a:off x="130175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w-1-52"/>
          <p:cNvSpPr/>
          <p:nvPr/>
        </p:nvSpPr>
        <p:spPr>
          <a:xfrm>
            <a:off x="152400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w-1-53"/>
          <p:cNvSpPr/>
          <p:nvPr/>
        </p:nvSpPr>
        <p:spPr>
          <a:xfrm>
            <a:off x="174625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w-1-54"/>
          <p:cNvSpPr/>
          <p:nvPr/>
        </p:nvSpPr>
        <p:spPr>
          <a:xfrm>
            <a:off x="196850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w-1-55"/>
          <p:cNvSpPr/>
          <p:nvPr/>
        </p:nvSpPr>
        <p:spPr>
          <a:xfrm>
            <a:off x="219075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w-1-56"/>
          <p:cNvSpPr/>
          <p:nvPr/>
        </p:nvSpPr>
        <p:spPr>
          <a:xfrm>
            <a:off x="241300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w-1-57"/>
          <p:cNvSpPr/>
          <p:nvPr/>
        </p:nvSpPr>
        <p:spPr>
          <a:xfrm>
            <a:off x="263525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w-1-58"/>
          <p:cNvSpPr/>
          <p:nvPr/>
        </p:nvSpPr>
        <p:spPr>
          <a:xfrm>
            <a:off x="285750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w-1-59"/>
          <p:cNvSpPr/>
          <p:nvPr/>
        </p:nvSpPr>
        <p:spPr>
          <a:xfrm>
            <a:off x="307975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w-1-60"/>
          <p:cNvSpPr/>
          <p:nvPr/>
        </p:nvSpPr>
        <p:spPr>
          <a:xfrm>
            <a:off x="107950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w-1-61"/>
          <p:cNvSpPr/>
          <p:nvPr/>
        </p:nvSpPr>
        <p:spPr>
          <a:xfrm>
            <a:off x="130175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w-1-62"/>
          <p:cNvSpPr/>
          <p:nvPr/>
        </p:nvSpPr>
        <p:spPr>
          <a:xfrm>
            <a:off x="152400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w-1-63"/>
          <p:cNvSpPr/>
          <p:nvPr/>
        </p:nvSpPr>
        <p:spPr>
          <a:xfrm>
            <a:off x="174625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w-1-64"/>
          <p:cNvSpPr/>
          <p:nvPr/>
        </p:nvSpPr>
        <p:spPr>
          <a:xfrm>
            <a:off x="196850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w-1-65"/>
          <p:cNvSpPr/>
          <p:nvPr/>
        </p:nvSpPr>
        <p:spPr>
          <a:xfrm>
            <a:off x="219075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w-1-66"/>
          <p:cNvSpPr/>
          <p:nvPr/>
        </p:nvSpPr>
        <p:spPr>
          <a:xfrm>
            <a:off x="241300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w-1-67"/>
          <p:cNvSpPr/>
          <p:nvPr/>
        </p:nvSpPr>
        <p:spPr>
          <a:xfrm>
            <a:off x="263525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w-1-68"/>
          <p:cNvSpPr/>
          <p:nvPr/>
        </p:nvSpPr>
        <p:spPr>
          <a:xfrm>
            <a:off x="285750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w-1-69"/>
          <p:cNvSpPr/>
          <p:nvPr/>
        </p:nvSpPr>
        <p:spPr>
          <a:xfrm>
            <a:off x="307975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w-1-70"/>
          <p:cNvSpPr/>
          <p:nvPr/>
        </p:nvSpPr>
        <p:spPr>
          <a:xfrm>
            <a:off x="107950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w-1-71"/>
          <p:cNvSpPr/>
          <p:nvPr/>
        </p:nvSpPr>
        <p:spPr>
          <a:xfrm>
            <a:off x="130175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w-1-72"/>
          <p:cNvSpPr/>
          <p:nvPr/>
        </p:nvSpPr>
        <p:spPr>
          <a:xfrm>
            <a:off x="152400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w-1-73"/>
          <p:cNvSpPr/>
          <p:nvPr/>
        </p:nvSpPr>
        <p:spPr>
          <a:xfrm>
            <a:off x="174625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w-1-74"/>
          <p:cNvSpPr/>
          <p:nvPr/>
        </p:nvSpPr>
        <p:spPr>
          <a:xfrm>
            <a:off x="196850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w-1-75"/>
          <p:cNvSpPr/>
          <p:nvPr/>
        </p:nvSpPr>
        <p:spPr>
          <a:xfrm>
            <a:off x="219075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w-1-76"/>
          <p:cNvSpPr/>
          <p:nvPr/>
        </p:nvSpPr>
        <p:spPr>
          <a:xfrm>
            <a:off x="241300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w-1-77"/>
          <p:cNvSpPr/>
          <p:nvPr/>
        </p:nvSpPr>
        <p:spPr>
          <a:xfrm>
            <a:off x="263525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w-1-78"/>
          <p:cNvSpPr/>
          <p:nvPr/>
        </p:nvSpPr>
        <p:spPr>
          <a:xfrm>
            <a:off x="285750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w-1-79"/>
          <p:cNvSpPr/>
          <p:nvPr/>
        </p:nvSpPr>
        <p:spPr>
          <a:xfrm>
            <a:off x="307975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w-1-80"/>
          <p:cNvSpPr/>
          <p:nvPr/>
        </p:nvSpPr>
        <p:spPr>
          <a:xfrm>
            <a:off x="107950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w-1-81"/>
          <p:cNvSpPr/>
          <p:nvPr/>
        </p:nvSpPr>
        <p:spPr>
          <a:xfrm>
            <a:off x="130175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w-1-82"/>
          <p:cNvSpPr/>
          <p:nvPr/>
        </p:nvSpPr>
        <p:spPr>
          <a:xfrm>
            <a:off x="152400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w-1-83"/>
          <p:cNvSpPr/>
          <p:nvPr/>
        </p:nvSpPr>
        <p:spPr>
          <a:xfrm>
            <a:off x="174625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w-1-84"/>
          <p:cNvSpPr/>
          <p:nvPr/>
        </p:nvSpPr>
        <p:spPr>
          <a:xfrm>
            <a:off x="196850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w-1-85"/>
          <p:cNvSpPr/>
          <p:nvPr/>
        </p:nvSpPr>
        <p:spPr>
          <a:xfrm>
            <a:off x="219075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w-1-86"/>
          <p:cNvSpPr/>
          <p:nvPr/>
        </p:nvSpPr>
        <p:spPr>
          <a:xfrm>
            <a:off x="241300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w-1-87"/>
          <p:cNvSpPr/>
          <p:nvPr/>
        </p:nvSpPr>
        <p:spPr>
          <a:xfrm>
            <a:off x="263525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9" name="w-1-88"/>
          <p:cNvSpPr/>
          <p:nvPr/>
        </p:nvSpPr>
        <p:spPr>
          <a:xfrm>
            <a:off x="285750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w-1-89"/>
          <p:cNvSpPr/>
          <p:nvPr/>
        </p:nvSpPr>
        <p:spPr>
          <a:xfrm>
            <a:off x="307975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w-1-90"/>
          <p:cNvSpPr/>
          <p:nvPr/>
        </p:nvSpPr>
        <p:spPr>
          <a:xfrm>
            <a:off x="107950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2" name="w-1-91"/>
          <p:cNvSpPr/>
          <p:nvPr/>
        </p:nvSpPr>
        <p:spPr>
          <a:xfrm>
            <a:off x="130175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w-1-92"/>
          <p:cNvSpPr/>
          <p:nvPr/>
        </p:nvSpPr>
        <p:spPr>
          <a:xfrm>
            <a:off x="152400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4" name="w-1-93"/>
          <p:cNvSpPr/>
          <p:nvPr/>
        </p:nvSpPr>
        <p:spPr>
          <a:xfrm>
            <a:off x="174625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w-1-94"/>
          <p:cNvSpPr/>
          <p:nvPr/>
        </p:nvSpPr>
        <p:spPr>
          <a:xfrm>
            <a:off x="196850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6" name="w-1-95"/>
          <p:cNvSpPr/>
          <p:nvPr/>
        </p:nvSpPr>
        <p:spPr>
          <a:xfrm>
            <a:off x="219075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7" name="w-1-96"/>
          <p:cNvSpPr/>
          <p:nvPr/>
        </p:nvSpPr>
        <p:spPr>
          <a:xfrm>
            <a:off x="241300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8" name="w-1-97"/>
          <p:cNvSpPr/>
          <p:nvPr/>
        </p:nvSpPr>
        <p:spPr>
          <a:xfrm>
            <a:off x="263525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w-1-98"/>
          <p:cNvSpPr/>
          <p:nvPr/>
        </p:nvSpPr>
        <p:spPr>
          <a:xfrm>
            <a:off x="285750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0" name="w-1-99"/>
          <p:cNvSpPr/>
          <p:nvPr/>
        </p:nvSpPr>
        <p:spPr>
          <a:xfrm>
            <a:off x="307975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1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1" name="v-1"/>
          <p:cNvSpPr txBox="1"/>
          <p:nvPr/>
        </p:nvSpPr>
        <p:spPr>
          <a:xfrm>
            <a:off x="1106932" y="3758946"/>
            <a:ext cx="820928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2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62</a:t>
            </a:r>
          </a:p>
        </p:txBody>
      </p:sp>
      <p:sp>
        <p:nvSpPr>
          <p:cNvPr id="112" name="vu-1"/>
          <p:cNvSpPr txBox="1"/>
          <p:nvPr/>
        </p:nvSpPr>
        <p:spPr>
          <a:xfrm>
            <a:off x="1655064" y="4041267"/>
            <a:ext cx="259588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%</a:t>
            </a:r>
          </a:p>
        </p:txBody>
      </p:sp>
      <p:sp>
        <p:nvSpPr>
          <p:cNvPr id="113" name="dl-1"/>
          <p:cNvSpPr/>
          <p:nvPr/>
        </p:nvSpPr>
        <p:spPr>
          <a:xfrm>
            <a:off x="2457450" y="4006850"/>
            <a:ext cx="762000" cy="215900"/>
          </a:xfrm>
          <a:custGeom>
            <a:avLst/>
            <a:gdLst/>
            <a:ahLst/>
            <a:cxnLst/>
            <a:rect l="0" t="0" r="r" b="b"/>
            <a:pathLst>
              <a:path w="762000" h="215900">
                <a:moveTo>
                  <a:pt x="107950" y="0"/>
                </a:moveTo>
                <a:lnTo>
                  <a:pt x="654050" y="0"/>
                </a:lnTo>
                <a:cubicBezTo>
                  <a:pt x="713676" y="0"/>
                  <a:pt x="762000" y="48324"/>
                  <a:pt x="762000" y="107950"/>
                </a:cubicBezTo>
                <a:lnTo>
                  <a:pt x="762000" y="107950"/>
                </a:lnTo>
                <a:cubicBezTo>
                  <a:pt x="762000" y="167576"/>
                  <a:pt x="713676" y="215900"/>
                  <a:pt x="654050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4" name="dlt-1"/>
          <p:cNvSpPr txBox="1"/>
          <p:nvPr/>
        </p:nvSpPr>
        <p:spPr>
          <a:xfrm>
            <a:off x="2537142" y="4035266"/>
            <a:ext cx="6026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较去年 +14</a:t>
            </a:r>
          </a:p>
        </p:txBody>
      </p:sp>
      <p:sp>
        <p:nvSpPr>
          <p:cNvPr id="115" name="icon-phone"/>
          <p:cNvSpPr/>
          <p:nvPr/>
        </p:nvSpPr>
        <p:spPr>
          <a:xfrm>
            <a:off x="1199324" y="4490212"/>
            <a:ext cx="65151" cy="100076"/>
          </a:xfrm>
          <a:custGeom>
            <a:avLst/>
            <a:gdLst/>
            <a:ahLst/>
            <a:cxnLst/>
            <a:rect l="0" t="0" r="r" b="b"/>
            <a:pathLst>
              <a:path w="65151" h="100076">
                <a:moveTo>
                  <a:pt x="9271" y="0"/>
                </a:moveTo>
                <a:lnTo>
                  <a:pt x="55880" y="0"/>
                </a:lnTo>
                <a:cubicBezTo>
                  <a:pt x="58356" y="0"/>
                  <a:pt x="60706" y="952"/>
                  <a:pt x="62420" y="2730"/>
                </a:cubicBezTo>
                <a:cubicBezTo>
                  <a:pt x="64198" y="4445"/>
                  <a:pt x="65151" y="6795"/>
                  <a:pt x="65151" y="9271"/>
                </a:cubicBezTo>
                <a:lnTo>
                  <a:pt x="65151" y="90805"/>
                </a:lnTo>
                <a:cubicBezTo>
                  <a:pt x="65151" y="93281"/>
                  <a:pt x="64198" y="95631"/>
                  <a:pt x="62420" y="97346"/>
                </a:cubicBezTo>
                <a:cubicBezTo>
                  <a:pt x="60706" y="99124"/>
                  <a:pt x="58356" y="100076"/>
                  <a:pt x="55880" y="100076"/>
                </a:cubicBezTo>
                <a:lnTo>
                  <a:pt x="9271" y="100076"/>
                </a:lnTo>
                <a:cubicBezTo>
                  <a:pt x="6794" y="100076"/>
                  <a:pt x="4445" y="99124"/>
                  <a:pt x="2731" y="97346"/>
                </a:cubicBezTo>
                <a:cubicBezTo>
                  <a:pt x="953" y="95631"/>
                  <a:pt x="0" y="93281"/>
                  <a:pt x="0" y="90805"/>
                </a:cubicBezTo>
                <a:lnTo>
                  <a:pt x="0" y="9271"/>
                </a:lnTo>
                <a:cubicBezTo>
                  <a:pt x="0" y="4127"/>
                  <a:pt x="4128" y="0"/>
                  <a:pt x="9271" y="0"/>
                </a:cubicBezTo>
                <a:close/>
                <a:moveTo>
                  <a:pt x="23241" y="82613"/>
                </a:moveTo>
                <a:lnTo>
                  <a:pt x="41910" y="82613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6" name="n-1"/>
          <p:cNvSpPr txBox="1"/>
          <p:nvPr/>
        </p:nvSpPr>
        <p:spPr>
          <a:xfrm>
            <a:off x="1354836" y="4418520"/>
            <a:ext cx="102108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线上渠道占比</a:t>
            </a:r>
          </a:p>
        </p:txBody>
      </p:sp>
      <p:sp>
        <p:nvSpPr>
          <p:cNvPr id="117" name="d1-1"/>
          <p:cNvSpPr txBox="1"/>
          <p:nvPr/>
        </p:nvSpPr>
        <p:spPr>
          <a:xfrm>
            <a:off x="1142746" y="4699032"/>
            <a:ext cx="97599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官网与小程序成交</a:t>
            </a:r>
          </a:p>
        </p:txBody>
      </p:sp>
      <p:sp>
        <p:nvSpPr>
          <p:cNvPr id="118" name="d2-1"/>
          <p:cNvSpPr txBox="1"/>
          <p:nvPr/>
        </p:nvSpPr>
        <p:spPr>
          <a:xfrm>
            <a:off x="1142746" y="4889532"/>
            <a:ext cx="108585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超过线下成为主渠道</a:t>
            </a:r>
          </a:p>
        </p:txBody>
      </p:sp>
      <p:sp>
        <p:nvSpPr>
          <p:cNvPr id="119" name="card-2"/>
          <p:cNvSpPr/>
          <p:nvPr/>
        </p:nvSpPr>
        <p:spPr>
          <a:xfrm>
            <a:off x="3524250" y="1397000"/>
            <a:ext cx="2444750" cy="3873500"/>
          </a:xfrm>
          <a:custGeom>
            <a:avLst/>
            <a:gdLst/>
            <a:ahLst/>
            <a:cxnLst/>
            <a:rect l="0" t="0" r="r" b="b"/>
            <a:pathLst>
              <a:path w="2444750" h="3873500">
                <a:moveTo>
                  <a:pt x="152400" y="0"/>
                </a:moveTo>
                <a:lnTo>
                  <a:pt x="2292350" y="0"/>
                </a:lnTo>
                <a:cubicBezTo>
                  <a:pt x="2376551" y="0"/>
                  <a:pt x="2444750" y="68199"/>
                  <a:pt x="2444750" y="152400"/>
                </a:cubicBezTo>
                <a:lnTo>
                  <a:pt x="2444750" y="3721100"/>
                </a:lnTo>
                <a:cubicBezTo>
                  <a:pt x="2444750" y="3805301"/>
                  <a:pt x="2376551" y="3873500"/>
                  <a:pt x="2292350" y="3873500"/>
                </a:cubicBezTo>
                <a:lnTo>
                  <a:pt x="152400" y="3873500"/>
                </a:lnTo>
                <a:cubicBezTo>
                  <a:pt x="68199" y="3873500"/>
                  <a:pt x="0" y="3805301"/>
                  <a:pt x="0" y="37211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0" name="w-2-0"/>
          <p:cNvSpPr/>
          <p:nvPr/>
        </p:nvSpPr>
        <p:spPr>
          <a:xfrm>
            <a:off x="365125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1" name="w-2-1"/>
          <p:cNvSpPr/>
          <p:nvPr/>
        </p:nvSpPr>
        <p:spPr>
          <a:xfrm>
            <a:off x="387350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2" name="w-2-2"/>
          <p:cNvSpPr/>
          <p:nvPr/>
        </p:nvSpPr>
        <p:spPr>
          <a:xfrm>
            <a:off x="409575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3" name="w-2-3"/>
          <p:cNvSpPr/>
          <p:nvPr/>
        </p:nvSpPr>
        <p:spPr>
          <a:xfrm>
            <a:off x="431800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4" name="w-2-4"/>
          <p:cNvSpPr/>
          <p:nvPr/>
        </p:nvSpPr>
        <p:spPr>
          <a:xfrm>
            <a:off x="454025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5" name="w-2-5"/>
          <p:cNvSpPr/>
          <p:nvPr/>
        </p:nvSpPr>
        <p:spPr>
          <a:xfrm>
            <a:off x="476250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6" name="w-2-6"/>
          <p:cNvSpPr/>
          <p:nvPr/>
        </p:nvSpPr>
        <p:spPr>
          <a:xfrm>
            <a:off x="498475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7" name="w-2-7"/>
          <p:cNvSpPr/>
          <p:nvPr/>
        </p:nvSpPr>
        <p:spPr>
          <a:xfrm>
            <a:off x="520700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8" name="w-2-8"/>
          <p:cNvSpPr/>
          <p:nvPr/>
        </p:nvSpPr>
        <p:spPr>
          <a:xfrm>
            <a:off x="542925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9" name="w-2-9"/>
          <p:cNvSpPr/>
          <p:nvPr/>
        </p:nvSpPr>
        <p:spPr>
          <a:xfrm>
            <a:off x="565150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0" name="w-2-10"/>
          <p:cNvSpPr/>
          <p:nvPr/>
        </p:nvSpPr>
        <p:spPr>
          <a:xfrm>
            <a:off x="365125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1" name="w-2-11"/>
          <p:cNvSpPr/>
          <p:nvPr/>
        </p:nvSpPr>
        <p:spPr>
          <a:xfrm>
            <a:off x="387350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2" name="w-2-12"/>
          <p:cNvSpPr/>
          <p:nvPr/>
        </p:nvSpPr>
        <p:spPr>
          <a:xfrm>
            <a:off x="409575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3" name="w-2-13"/>
          <p:cNvSpPr/>
          <p:nvPr/>
        </p:nvSpPr>
        <p:spPr>
          <a:xfrm>
            <a:off x="431800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4" name="w-2-14"/>
          <p:cNvSpPr/>
          <p:nvPr/>
        </p:nvSpPr>
        <p:spPr>
          <a:xfrm>
            <a:off x="454025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5" name="w-2-15"/>
          <p:cNvSpPr/>
          <p:nvPr/>
        </p:nvSpPr>
        <p:spPr>
          <a:xfrm>
            <a:off x="476250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6" name="w-2-16"/>
          <p:cNvSpPr/>
          <p:nvPr/>
        </p:nvSpPr>
        <p:spPr>
          <a:xfrm>
            <a:off x="498475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7" name="w-2-17"/>
          <p:cNvSpPr/>
          <p:nvPr/>
        </p:nvSpPr>
        <p:spPr>
          <a:xfrm>
            <a:off x="520700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8" name="w-2-18"/>
          <p:cNvSpPr/>
          <p:nvPr/>
        </p:nvSpPr>
        <p:spPr>
          <a:xfrm>
            <a:off x="542925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9" name="w-2-19"/>
          <p:cNvSpPr/>
          <p:nvPr/>
        </p:nvSpPr>
        <p:spPr>
          <a:xfrm>
            <a:off x="565150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0" name="w-2-20"/>
          <p:cNvSpPr/>
          <p:nvPr/>
        </p:nvSpPr>
        <p:spPr>
          <a:xfrm>
            <a:off x="365125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1" name="w-2-21"/>
          <p:cNvSpPr/>
          <p:nvPr/>
        </p:nvSpPr>
        <p:spPr>
          <a:xfrm>
            <a:off x="387350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2" name="w-2-22"/>
          <p:cNvSpPr/>
          <p:nvPr/>
        </p:nvSpPr>
        <p:spPr>
          <a:xfrm>
            <a:off x="409575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3" name="w-2-23"/>
          <p:cNvSpPr/>
          <p:nvPr/>
        </p:nvSpPr>
        <p:spPr>
          <a:xfrm>
            <a:off x="431800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4" name="w-2-24"/>
          <p:cNvSpPr/>
          <p:nvPr/>
        </p:nvSpPr>
        <p:spPr>
          <a:xfrm>
            <a:off x="454025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5" name="w-2-25"/>
          <p:cNvSpPr/>
          <p:nvPr/>
        </p:nvSpPr>
        <p:spPr>
          <a:xfrm>
            <a:off x="476250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6" name="w-2-26"/>
          <p:cNvSpPr/>
          <p:nvPr/>
        </p:nvSpPr>
        <p:spPr>
          <a:xfrm>
            <a:off x="498475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7" name="w-2-27"/>
          <p:cNvSpPr/>
          <p:nvPr/>
        </p:nvSpPr>
        <p:spPr>
          <a:xfrm>
            <a:off x="520700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8" name="w-2-28"/>
          <p:cNvSpPr/>
          <p:nvPr/>
        </p:nvSpPr>
        <p:spPr>
          <a:xfrm>
            <a:off x="542925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9" name="w-2-29"/>
          <p:cNvSpPr/>
          <p:nvPr/>
        </p:nvSpPr>
        <p:spPr>
          <a:xfrm>
            <a:off x="565150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0" name="w-2-30"/>
          <p:cNvSpPr/>
          <p:nvPr/>
        </p:nvSpPr>
        <p:spPr>
          <a:xfrm>
            <a:off x="365125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1" name="w-2-31"/>
          <p:cNvSpPr/>
          <p:nvPr/>
        </p:nvSpPr>
        <p:spPr>
          <a:xfrm>
            <a:off x="387350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2" name="w-2-32"/>
          <p:cNvSpPr/>
          <p:nvPr/>
        </p:nvSpPr>
        <p:spPr>
          <a:xfrm>
            <a:off x="409575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3" name="w-2-33"/>
          <p:cNvSpPr/>
          <p:nvPr/>
        </p:nvSpPr>
        <p:spPr>
          <a:xfrm>
            <a:off x="431800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4" name="w-2-34"/>
          <p:cNvSpPr/>
          <p:nvPr/>
        </p:nvSpPr>
        <p:spPr>
          <a:xfrm>
            <a:off x="454025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5" name="w-2-35"/>
          <p:cNvSpPr/>
          <p:nvPr/>
        </p:nvSpPr>
        <p:spPr>
          <a:xfrm>
            <a:off x="476250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6" name="w-2-36"/>
          <p:cNvSpPr/>
          <p:nvPr/>
        </p:nvSpPr>
        <p:spPr>
          <a:xfrm>
            <a:off x="498475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7" name="w-2-37"/>
          <p:cNvSpPr/>
          <p:nvPr/>
        </p:nvSpPr>
        <p:spPr>
          <a:xfrm>
            <a:off x="520700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8" name="w-2-38"/>
          <p:cNvSpPr/>
          <p:nvPr/>
        </p:nvSpPr>
        <p:spPr>
          <a:xfrm>
            <a:off x="542925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9" name="w-2-39"/>
          <p:cNvSpPr/>
          <p:nvPr/>
        </p:nvSpPr>
        <p:spPr>
          <a:xfrm>
            <a:off x="565150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0" name="w-2-40"/>
          <p:cNvSpPr/>
          <p:nvPr/>
        </p:nvSpPr>
        <p:spPr>
          <a:xfrm>
            <a:off x="365125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1" name="w-2-41"/>
          <p:cNvSpPr/>
          <p:nvPr/>
        </p:nvSpPr>
        <p:spPr>
          <a:xfrm>
            <a:off x="387350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2" name="w-2-42"/>
          <p:cNvSpPr/>
          <p:nvPr/>
        </p:nvSpPr>
        <p:spPr>
          <a:xfrm>
            <a:off x="409575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3" name="w-2-43"/>
          <p:cNvSpPr/>
          <p:nvPr/>
        </p:nvSpPr>
        <p:spPr>
          <a:xfrm>
            <a:off x="431800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4" name="w-2-44"/>
          <p:cNvSpPr/>
          <p:nvPr/>
        </p:nvSpPr>
        <p:spPr>
          <a:xfrm>
            <a:off x="454025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5" name="w-2-45"/>
          <p:cNvSpPr/>
          <p:nvPr/>
        </p:nvSpPr>
        <p:spPr>
          <a:xfrm>
            <a:off x="476250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6" name="w-2-46"/>
          <p:cNvSpPr/>
          <p:nvPr/>
        </p:nvSpPr>
        <p:spPr>
          <a:xfrm>
            <a:off x="498475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7" name="w-2-47"/>
          <p:cNvSpPr/>
          <p:nvPr/>
        </p:nvSpPr>
        <p:spPr>
          <a:xfrm>
            <a:off x="520700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8" name="w-2-48"/>
          <p:cNvSpPr/>
          <p:nvPr/>
        </p:nvSpPr>
        <p:spPr>
          <a:xfrm>
            <a:off x="542925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9" name="w-2-49"/>
          <p:cNvSpPr/>
          <p:nvPr/>
        </p:nvSpPr>
        <p:spPr>
          <a:xfrm>
            <a:off x="565150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0" name="w-2-50"/>
          <p:cNvSpPr/>
          <p:nvPr/>
        </p:nvSpPr>
        <p:spPr>
          <a:xfrm>
            <a:off x="365125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1" name="w-2-51"/>
          <p:cNvSpPr/>
          <p:nvPr/>
        </p:nvSpPr>
        <p:spPr>
          <a:xfrm>
            <a:off x="387350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2" name="w-2-52"/>
          <p:cNvSpPr/>
          <p:nvPr/>
        </p:nvSpPr>
        <p:spPr>
          <a:xfrm>
            <a:off x="409575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3" name="w-2-53"/>
          <p:cNvSpPr/>
          <p:nvPr/>
        </p:nvSpPr>
        <p:spPr>
          <a:xfrm>
            <a:off x="431800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4" name="w-2-54"/>
          <p:cNvSpPr/>
          <p:nvPr/>
        </p:nvSpPr>
        <p:spPr>
          <a:xfrm>
            <a:off x="454025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5" name="w-2-55"/>
          <p:cNvSpPr/>
          <p:nvPr/>
        </p:nvSpPr>
        <p:spPr>
          <a:xfrm>
            <a:off x="476250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6" name="w-2-56"/>
          <p:cNvSpPr/>
          <p:nvPr/>
        </p:nvSpPr>
        <p:spPr>
          <a:xfrm>
            <a:off x="498475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7" name="w-2-57"/>
          <p:cNvSpPr/>
          <p:nvPr/>
        </p:nvSpPr>
        <p:spPr>
          <a:xfrm>
            <a:off x="520700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8" name="w-2-58"/>
          <p:cNvSpPr/>
          <p:nvPr/>
        </p:nvSpPr>
        <p:spPr>
          <a:xfrm>
            <a:off x="542925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9" name="w-2-59"/>
          <p:cNvSpPr/>
          <p:nvPr/>
        </p:nvSpPr>
        <p:spPr>
          <a:xfrm>
            <a:off x="565150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0" name="w-2-60"/>
          <p:cNvSpPr/>
          <p:nvPr/>
        </p:nvSpPr>
        <p:spPr>
          <a:xfrm>
            <a:off x="365125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1" name="w-2-61"/>
          <p:cNvSpPr/>
          <p:nvPr/>
        </p:nvSpPr>
        <p:spPr>
          <a:xfrm>
            <a:off x="387350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2" name="w-2-62"/>
          <p:cNvSpPr/>
          <p:nvPr/>
        </p:nvSpPr>
        <p:spPr>
          <a:xfrm>
            <a:off x="409575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3" name="w-2-63"/>
          <p:cNvSpPr/>
          <p:nvPr/>
        </p:nvSpPr>
        <p:spPr>
          <a:xfrm>
            <a:off x="431800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4" name="w-2-64"/>
          <p:cNvSpPr/>
          <p:nvPr/>
        </p:nvSpPr>
        <p:spPr>
          <a:xfrm>
            <a:off x="454025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5" name="w-2-65"/>
          <p:cNvSpPr/>
          <p:nvPr/>
        </p:nvSpPr>
        <p:spPr>
          <a:xfrm>
            <a:off x="476250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6" name="w-2-66"/>
          <p:cNvSpPr/>
          <p:nvPr/>
        </p:nvSpPr>
        <p:spPr>
          <a:xfrm>
            <a:off x="498475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7" name="w-2-67"/>
          <p:cNvSpPr/>
          <p:nvPr/>
        </p:nvSpPr>
        <p:spPr>
          <a:xfrm>
            <a:off x="520700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8" name="w-2-68"/>
          <p:cNvSpPr/>
          <p:nvPr/>
        </p:nvSpPr>
        <p:spPr>
          <a:xfrm>
            <a:off x="542925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9" name="w-2-69"/>
          <p:cNvSpPr/>
          <p:nvPr/>
        </p:nvSpPr>
        <p:spPr>
          <a:xfrm>
            <a:off x="565150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0" name="w-2-70"/>
          <p:cNvSpPr/>
          <p:nvPr/>
        </p:nvSpPr>
        <p:spPr>
          <a:xfrm>
            <a:off x="365125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1" name="w-2-71"/>
          <p:cNvSpPr/>
          <p:nvPr/>
        </p:nvSpPr>
        <p:spPr>
          <a:xfrm>
            <a:off x="387350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2" name="w-2-72"/>
          <p:cNvSpPr/>
          <p:nvPr/>
        </p:nvSpPr>
        <p:spPr>
          <a:xfrm>
            <a:off x="409575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3" name="w-2-73"/>
          <p:cNvSpPr/>
          <p:nvPr/>
        </p:nvSpPr>
        <p:spPr>
          <a:xfrm>
            <a:off x="431800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4" name="w-2-74"/>
          <p:cNvSpPr/>
          <p:nvPr/>
        </p:nvSpPr>
        <p:spPr>
          <a:xfrm>
            <a:off x="454025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5" name="w-2-75"/>
          <p:cNvSpPr/>
          <p:nvPr/>
        </p:nvSpPr>
        <p:spPr>
          <a:xfrm>
            <a:off x="476250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6" name="w-2-76"/>
          <p:cNvSpPr/>
          <p:nvPr/>
        </p:nvSpPr>
        <p:spPr>
          <a:xfrm>
            <a:off x="498475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7" name="w-2-77"/>
          <p:cNvSpPr/>
          <p:nvPr/>
        </p:nvSpPr>
        <p:spPr>
          <a:xfrm>
            <a:off x="520700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8" name="w-2-78"/>
          <p:cNvSpPr/>
          <p:nvPr/>
        </p:nvSpPr>
        <p:spPr>
          <a:xfrm>
            <a:off x="542925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9" name="w-2-79"/>
          <p:cNvSpPr/>
          <p:nvPr/>
        </p:nvSpPr>
        <p:spPr>
          <a:xfrm>
            <a:off x="565150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0" name="w-2-80"/>
          <p:cNvSpPr/>
          <p:nvPr/>
        </p:nvSpPr>
        <p:spPr>
          <a:xfrm>
            <a:off x="365125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1" name="w-2-81"/>
          <p:cNvSpPr/>
          <p:nvPr/>
        </p:nvSpPr>
        <p:spPr>
          <a:xfrm>
            <a:off x="387350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2" name="w-2-82"/>
          <p:cNvSpPr/>
          <p:nvPr/>
        </p:nvSpPr>
        <p:spPr>
          <a:xfrm>
            <a:off x="409575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3" name="w-2-83"/>
          <p:cNvSpPr/>
          <p:nvPr/>
        </p:nvSpPr>
        <p:spPr>
          <a:xfrm>
            <a:off x="431800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4" name="w-2-84"/>
          <p:cNvSpPr/>
          <p:nvPr/>
        </p:nvSpPr>
        <p:spPr>
          <a:xfrm>
            <a:off x="454025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5" name="w-2-85"/>
          <p:cNvSpPr/>
          <p:nvPr/>
        </p:nvSpPr>
        <p:spPr>
          <a:xfrm>
            <a:off x="476250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6" name="w-2-86"/>
          <p:cNvSpPr/>
          <p:nvPr/>
        </p:nvSpPr>
        <p:spPr>
          <a:xfrm>
            <a:off x="498475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7" name="w-2-87"/>
          <p:cNvSpPr/>
          <p:nvPr/>
        </p:nvSpPr>
        <p:spPr>
          <a:xfrm>
            <a:off x="520700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8" name="w-2-88"/>
          <p:cNvSpPr/>
          <p:nvPr/>
        </p:nvSpPr>
        <p:spPr>
          <a:xfrm>
            <a:off x="542925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9" name="w-2-89"/>
          <p:cNvSpPr/>
          <p:nvPr/>
        </p:nvSpPr>
        <p:spPr>
          <a:xfrm>
            <a:off x="565150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0" name="w-2-90"/>
          <p:cNvSpPr/>
          <p:nvPr/>
        </p:nvSpPr>
        <p:spPr>
          <a:xfrm>
            <a:off x="365125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1" name="w-2-91"/>
          <p:cNvSpPr/>
          <p:nvPr/>
        </p:nvSpPr>
        <p:spPr>
          <a:xfrm>
            <a:off x="387350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2" name="w-2-92"/>
          <p:cNvSpPr/>
          <p:nvPr/>
        </p:nvSpPr>
        <p:spPr>
          <a:xfrm>
            <a:off x="409575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3" name="w-2-93"/>
          <p:cNvSpPr/>
          <p:nvPr/>
        </p:nvSpPr>
        <p:spPr>
          <a:xfrm>
            <a:off x="431800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4" name="w-2-94"/>
          <p:cNvSpPr/>
          <p:nvPr/>
        </p:nvSpPr>
        <p:spPr>
          <a:xfrm>
            <a:off x="454025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5" name="w-2-95"/>
          <p:cNvSpPr/>
          <p:nvPr/>
        </p:nvSpPr>
        <p:spPr>
          <a:xfrm>
            <a:off x="476250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6" name="w-2-96"/>
          <p:cNvSpPr/>
          <p:nvPr/>
        </p:nvSpPr>
        <p:spPr>
          <a:xfrm>
            <a:off x="498475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7" name="w-2-97"/>
          <p:cNvSpPr/>
          <p:nvPr/>
        </p:nvSpPr>
        <p:spPr>
          <a:xfrm>
            <a:off x="520700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8" name="w-2-98"/>
          <p:cNvSpPr/>
          <p:nvPr/>
        </p:nvSpPr>
        <p:spPr>
          <a:xfrm>
            <a:off x="542925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9" name="w-2-99"/>
          <p:cNvSpPr/>
          <p:nvPr/>
        </p:nvSpPr>
        <p:spPr>
          <a:xfrm>
            <a:off x="565150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0" name="v-2"/>
          <p:cNvSpPr txBox="1"/>
          <p:nvPr/>
        </p:nvSpPr>
        <p:spPr>
          <a:xfrm>
            <a:off x="3678682" y="3758946"/>
            <a:ext cx="820928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200" b="1">
                <a:solidFill>
                  <a:srgbClr val="1B5AA8"/>
                </a:solidFill>
                <a:latin typeface="Arial"/>
                <a:ea typeface="Arial"/>
                <a:cs typeface="Arial"/>
              </a:rPr>
              <a:t>78</a:t>
            </a:r>
          </a:p>
        </p:txBody>
      </p:sp>
      <p:sp>
        <p:nvSpPr>
          <p:cNvPr id="221" name="vu-2"/>
          <p:cNvSpPr txBox="1"/>
          <p:nvPr/>
        </p:nvSpPr>
        <p:spPr>
          <a:xfrm>
            <a:off x="4226814" y="4041267"/>
            <a:ext cx="259588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>
                <a:solidFill>
                  <a:srgbClr val="1B5AA8"/>
                </a:solidFill>
                <a:latin typeface="Arial"/>
                <a:ea typeface="Arial"/>
                <a:cs typeface="Arial"/>
              </a:rPr>
              <a:t>%</a:t>
            </a:r>
          </a:p>
        </p:txBody>
      </p:sp>
      <p:sp>
        <p:nvSpPr>
          <p:cNvPr id="222" name="dl-2"/>
          <p:cNvSpPr/>
          <p:nvPr/>
        </p:nvSpPr>
        <p:spPr>
          <a:xfrm>
            <a:off x="5029200" y="4006850"/>
            <a:ext cx="762000" cy="215900"/>
          </a:xfrm>
          <a:custGeom>
            <a:avLst/>
            <a:gdLst/>
            <a:ahLst/>
            <a:cxnLst/>
            <a:rect l="0" t="0" r="r" b="b"/>
            <a:pathLst>
              <a:path w="762000" h="215900">
                <a:moveTo>
                  <a:pt x="107950" y="0"/>
                </a:moveTo>
                <a:lnTo>
                  <a:pt x="654050" y="0"/>
                </a:lnTo>
                <a:cubicBezTo>
                  <a:pt x="713676" y="0"/>
                  <a:pt x="762000" y="48324"/>
                  <a:pt x="762000" y="107950"/>
                </a:cubicBezTo>
                <a:lnTo>
                  <a:pt x="762000" y="107950"/>
                </a:lnTo>
                <a:cubicBezTo>
                  <a:pt x="762000" y="167576"/>
                  <a:pt x="713676" y="215900"/>
                  <a:pt x="654050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3" name="dlt-2"/>
          <p:cNvSpPr txBox="1"/>
          <p:nvPr/>
        </p:nvSpPr>
        <p:spPr>
          <a:xfrm>
            <a:off x="5136832" y="4035266"/>
            <a:ext cx="5467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较去年 +8</a:t>
            </a:r>
          </a:p>
        </p:txBody>
      </p:sp>
      <p:sp>
        <p:nvSpPr>
          <p:cNvPr id="224" name="icon-phone"/>
          <p:cNvSpPr/>
          <p:nvPr/>
        </p:nvSpPr>
        <p:spPr>
          <a:xfrm>
            <a:off x="3771074" y="4490212"/>
            <a:ext cx="65151" cy="100076"/>
          </a:xfrm>
          <a:custGeom>
            <a:avLst/>
            <a:gdLst/>
            <a:ahLst/>
            <a:cxnLst/>
            <a:rect l="0" t="0" r="r" b="b"/>
            <a:pathLst>
              <a:path w="65151" h="100076">
                <a:moveTo>
                  <a:pt x="9271" y="0"/>
                </a:moveTo>
                <a:lnTo>
                  <a:pt x="55880" y="0"/>
                </a:lnTo>
                <a:cubicBezTo>
                  <a:pt x="58356" y="0"/>
                  <a:pt x="60706" y="952"/>
                  <a:pt x="62421" y="2730"/>
                </a:cubicBezTo>
                <a:cubicBezTo>
                  <a:pt x="64199" y="4445"/>
                  <a:pt x="65151" y="6795"/>
                  <a:pt x="65151" y="9271"/>
                </a:cubicBezTo>
                <a:lnTo>
                  <a:pt x="65151" y="90805"/>
                </a:lnTo>
                <a:cubicBezTo>
                  <a:pt x="65151" y="93281"/>
                  <a:pt x="64199" y="95631"/>
                  <a:pt x="62421" y="97346"/>
                </a:cubicBezTo>
                <a:cubicBezTo>
                  <a:pt x="60706" y="99124"/>
                  <a:pt x="58356" y="100076"/>
                  <a:pt x="55880" y="100076"/>
                </a:cubicBezTo>
                <a:lnTo>
                  <a:pt x="9271" y="100076"/>
                </a:lnTo>
                <a:cubicBezTo>
                  <a:pt x="6795" y="100076"/>
                  <a:pt x="4445" y="99124"/>
                  <a:pt x="2730" y="97346"/>
                </a:cubicBezTo>
                <a:cubicBezTo>
                  <a:pt x="952" y="95631"/>
                  <a:pt x="0" y="93281"/>
                  <a:pt x="0" y="90805"/>
                </a:cubicBezTo>
                <a:lnTo>
                  <a:pt x="0" y="9271"/>
                </a:lnTo>
                <a:cubicBezTo>
                  <a:pt x="0" y="4127"/>
                  <a:pt x="4127" y="0"/>
                  <a:pt x="9271" y="0"/>
                </a:cubicBezTo>
                <a:close/>
                <a:moveTo>
                  <a:pt x="23241" y="82613"/>
                </a:moveTo>
                <a:lnTo>
                  <a:pt x="41910" y="82613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5" name="n-2"/>
          <p:cNvSpPr txBox="1"/>
          <p:nvPr/>
        </p:nvSpPr>
        <p:spPr>
          <a:xfrm>
            <a:off x="3926586" y="4418520"/>
            <a:ext cx="871855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移动端下单</a:t>
            </a:r>
          </a:p>
        </p:txBody>
      </p:sp>
      <p:sp>
        <p:nvSpPr>
          <p:cNvPr id="226" name="d1-2"/>
          <p:cNvSpPr txBox="1"/>
          <p:nvPr/>
        </p:nvSpPr>
        <p:spPr>
          <a:xfrm>
            <a:off x="3714496" y="4699032"/>
            <a:ext cx="108585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手机完成下单的比例</a:t>
            </a:r>
          </a:p>
        </p:txBody>
      </p:sp>
      <p:sp>
        <p:nvSpPr>
          <p:cNvPr id="227" name="d2-2"/>
          <p:cNvSpPr txBox="1"/>
          <p:nvPr/>
        </p:nvSpPr>
        <p:spPr>
          <a:xfrm>
            <a:off x="3714496" y="4889532"/>
            <a:ext cx="10532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PC 端只剩大额订单</a:t>
            </a:r>
          </a:p>
        </p:txBody>
      </p:sp>
      <p:sp>
        <p:nvSpPr>
          <p:cNvPr id="228" name="card-3"/>
          <p:cNvSpPr/>
          <p:nvPr/>
        </p:nvSpPr>
        <p:spPr>
          <a:xfrm>
            <a:off x="6096000" y="1397000"/>
            <a:ext cx="2444750" cy="3873500"/>
          </a:xfrm>
          <a:custGeom>
            <a:avLst/>
            <a:gdLst/>
            <a:ahLst/>
            <a:cxnLst/>
            <a:rect l="0" t="0" r="r" b="b"/>
            <a:pathLst>
              <a:path w="2444750" h="3873500">
                <a:moveTo>
                  <a:pt x="152400" y="0"/>
                </a:moveTo>
                <a:lnTo>
                  <a:pt x="2292350" y="0"/>
                </a:lnTo>
                <a:cubicBezTo>
                  <a:pt x="2376551" y="0"/>
                  <a:pt x="2444750" y="68199"/>
                  <a:pt x="2444750" y="152400"/>
                </a:cubicBezTo>
                <a:lnTo>
                  <a:pt x="2444750" y="3721100"/>
                </a:lnTo>
                <a:cubicBezTo>
                  <a:pt x="2444750" y="3805301"/>
                  <a:pt x="2376551" y="3873500"/>
                  <a:pt x="2292350" y="3873500"/>
                </a:cubicBezTo>
                <a:lnTo>
                  <a:pt x="152400" y="3873500"/>
                </a:lnTo>
                <a:cubicBezTo>
                  <a:pt x="68199" y="3873500"/>
                  <a:pt x="0" y="3805301"/>
                  <a:pt x="0" y="37211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9" name="w-3-0"/>
          <p:cNvSpPr/>
          <p:nvPr/>
        </p:nvSpPr>
        <p:spPr>
          <a:xfrm>
            <a:off x="622300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0" name="w-3-1"/>
          <p:cNvSpPr/>
          <p:nvPr/>
        </p:nvSpPr>
        <p:spPr>
          <a:xfrm>
            <a:off x="644525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1" name="w-3-2"/>
          <p:cNvSpPr/>
          <p:nvPr/>
        </p:nvSpPr>
        <p:spPr>
          <a:xfrm>
            <a:off x="666750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2" name="w-3-3"/>
          <p:cNvSpPr/>
          <p:nvPr/>
        </p:nvSpPr>
        <p:spPr>
          <a:xfrm>
            <a:off x="688975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3" name="w-3-4"/>
          <p:cNvSpPr/>
          <p:nvPr/>
        </p:nvSpPr>
        <p:spPr>
          <a:xfrm>
            <a:off x="711200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4" name="w-3-5"/>
          <p:cNvSpPr/>
          <p:nvPr/>
        </p:nvSpPr>
        <p:spPr>
          <a:xfrm>
            <a:off x="733425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5" name="w-3-6"/>
          <p:cNvSpPr/>
          <p:nvPr/>
        </p:nvSpPr>
        <p:spPr>
          <a:xfrm>
            <a:off x="755650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6" name="w-3-7"/>
          <p:cNvSpPr/>
          <p:nvPr/>
        </p:nvSpPr>
        <p:spPr>
          <a:xfrm>
            <a:off x="777875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7" name="w-3-8"/>
          <p:cNvSpPr/>
          <p:nvPr/>
        </p:nvSpPr>
        <p:spPr>
          <a:xfrm>
            <a:off x="800100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8" name="w-3-9"/>
          <p:cNvSpPr/>
          <p:nvPr/>
        </p:nvSpPr>
        <p:spPr>
          <a:xfrm>
            <a:off x="822325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9" name="w-3-10"/>
          <p:cNvSpPr/>
          <p:nvPr/>
        </p:nvSpPr>
        <p:spPr>
          <a:xfrm>
            <a:off x="622300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0" name="w-3-11"/>
          <p:cNvSpPr/>
          <p:nvPr/>
        </p:nvSpPr>
        <p:spPr>
          <a:xfrm>
            <a:off x="644525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1" name="w-3-12"/>
          <p:cNvSpPr/>
          <p:nvPr/>
        </p:nvSpPr>
        <p:spPr>
          <a:xfrm>
            <a:off x="666750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2" name="w-3-13"/>
          <p:cNvSpPr/>
          <p:nvPr/>
        </p:nvSpPr>
        <p:spPr>
          <a:xfrm>
            <a:off x="688975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3" name="w-3-14"/>
          <p:cNvSpPr/>
          <p:nvPr/>
        </p:nvSpPr>
        <p:spPr>
          <a:xfrm>
            <a:off x="711200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4" name="w-3-15"/>
          <p:cNvSpPr/>
          <p:nvPr/>
        </p:nvSpPr>
        <p:spPr>
          <a:xfrm>
            <a:off x="733425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5" name="w-3-16"/>
          <p:cNvSpPr/>
          <p:nvPr/>
        </p:nvSpPr>
        <p:spPr>
          <a:xfrm>
            <a:off x="755650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6" name="w-3-17"/>
          <p:cNvSpPr/>
          <p:nvPr/>
        </p:nvSpPr>
        <p:spPr>
          <a:xfrm>
            <a:off x="777875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7" name="w-3-18"/>
          <p:cNvSpPr/>
          <p:nvPr/>
        </p:nvSpPr>
        <p:spPr>
          <a:xfrm>
            <a:off x="800100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8" name="w-3-19"/>
          <p:cNvSpPr/>
          <p:nvPr/>
        </p:nvSpPr>
        <p:spPr>
          <a:xfrm>
            <a:off x="822325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9" name="w-3-20"/>
          <p:cNvSpPr/>
          <p:nvPr/>
        </p:nvSpPr>
        <p:spPr>
          <a:xfrm>
            <a:off x="622300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0" name="w-3-21"/>
          <p:cNvSpPr/>
          <p:nvPr/>
        </p:nvSpPr>
        <p:spPr>
          <a:xfrm>
            <a:off x="644525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1" name="w-3-22"/>
          <p:cNvSpPr/>
          <p:nvPr/>
        </p:nvSpPr>
        <p:spPr>
          <a:xfrm>
            <a:off x="666750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2" name="w-3-23"/>
          <p:cNvSpPr/>
          <p:nvPr/>
        </p:nvSpPr>
        <p:spPr>
          <a:xfrm>
            <a:off x="688975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3" name="w-3-24"/>
          <p:cNvSpPr/>
          <p:nvPr/>
        </p:nvSpPr>
        <p:spPr>
          <a:xfrm>
            <a:off x="711200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4" name="w-3-25"/>
          <p:cNvSpPr/>
          <p:nvPr/>
        </p:nvSpPr>
        <p:spPr>
          <a:xfrm>
            <a:off x="733425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5" name="w-3-26"/>
          <p:cNvSpPr/>
          <p:nvPr/>
        </p:nvSpPr>
        <p:spPr>
          <a:xfrm>
            <a:off x="755650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6" name="w-3-27"/>
          <p:cNvSpPr/>
          <p:nvPr/>
        </p:nvSpPr>
        <p:spPr>
          <a:xfrm>
            <a:off x="777875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7" name="w-3-28"/>
          <p:cNvSpPr/>
          <p:nvPr/>
        </p:nvSpPr>
        <p:spPr>
          <a:xfrm>
            <a:off x="800100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8" name="w-3-29"/>
          <p:cNvSpPr/>
          <p:nvPr/>
        </p:nvSpPr>
        <p:spPr>
          <a:xfrm>
            <a:off x="822325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9" name="w-3-30"/>
          <p:cNvSpPr/>
          <p:nvPr/>
        </p:nvSpPr>
        <p:spPr>
          <a:xfrm>
            <a:off x="622300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0" name="w-3-31"/>
          <p:cNvSpPr/>
          <p:nvPr/>
        </p:nvSpPr>
        <p:spPr>
          <a:xfrm>
            <a:off x="644525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1" name="w-3-32"/>
          <p:cNvSpPr/>
          <p:nvPr/>
        </p:nvSpPr>
        <p:spPr>
          <a:xfrm>
            <a:off x="666750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2" name="w-3-33"/>
          <p:cNvSpPr/>
          <p:nvPr/>
        </p:nvSpPr>
        <p:spPr>
          <a:xfrm>
            <a:off x="688975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3" name="w-3-34"/>
          <p:cNvSpPr/>
          <p:nvPr/>
        </p:nvSpPr>
        <p:spPr>
          <a:xfrm>
            <a:off x="711200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4" name="w-3-35"/>
          <p:cNvSpPr/>
          <p:nvPr/>
        </p:nvSpPr>
        <p:spPr>
          <a:xfrm>
            <a:off x="733425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5" name="w-3-36"/>
          <p:cNvSpPr/>
          <p:nvPr/>
        </p:nvSpPr>
        <p:spPr>
          <a:xfrm>
            <a:off x="755650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6" name="w-3-37"/>
          <p:cNvSpPr/>
          <p:nvPr/>
        </p:nvSpPr>
        <p:spPr>
          <a:xfrm>
            <a:off x="777875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7" name="w-3-38"/>
          <p:cNvSpPr/>
          <p:nvPr/>
        </p:nvSpPr>
        <p:spPr>
          <a:xfrm>
            <a:off x="800100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8" name="w-3-39"/>
          <p:cNvSpPr/>
          <p:nvPr/>
        </p:nvSpPr>
        <p:spPr>
          <a:xfrm>
            <a:off x="822325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9" name="w-3-40"/>
          <p:cNvSpPr/>
          <p:nvPr/>
        </p:nvSpPr>
        <p:spPr>
          <a:xfrm>
            <a:off x="622300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0" name="w-3-41"/>
          <p:cNvSpPr/>
          <p:nvPr/>
        </p:nvSpPr>
        <p:spPr>
          <a:xfrm>
            <a:off x="644525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1" name="w-3-42"/>
          <p:cNvSpPr/>
          <p:nvPr/>
        </p:nvSpPr>
        <p:spPr>
          <a:xfrm>
            <a:off x="666750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2" name="w-3-43"/>
          <p:cNvSpPr/>
          <p:nvPr/>
        </p:nvSpPr>
        <p:spPr>
          <a:xfrm>
            <a:off x="688975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3" name="w-3-44"/>
          <p:cNvSpPr/>
          <p:nvPr/>
        </p:nvSpPr>
        <p:spPr>
          <a:xfrm>
            <a:off x="711200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4" name="w-3-45"/>
          <p:cNvSpPr/>
          <p:nvPr/>
        </p:nvSpPr>
        <p:spPr>
          <a:xfrm>
            <a:off x="733425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5" name="w-3-46"/>
          <p:cNvSpPr/>
          <p:nvPr/>
        </p:nvSpPr>
        <p:spPr>
          <a:xfrm>
            <a:off x="755650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6" name="w-3-47"/>
          <p:cNvSpPr/>
          <p:nvPr/>
        </p:nvSpPr>
        <p:spPr>
          <a:xfrm>
            <a:off x="777875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7" name="w-3-48"/>
          <p:cNvSpPr/>
          <p:nvPr/>
        </p:nvSpPr>
        <p:spPr>
          <a:xfrm>
            <a:off x="800100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8" name="w-3-49"/>
          <p:cNvSpPr/>
          <p:nvPr/>
        </p:nvSpPr>
        <p:spPr>
          <a:xfrm>
            <a:off x="822325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9" name="w-3-50"/>
          <p:cNvSpPr/>
          <p:nvPr/>
        </p:nvSpPr>
        <p:spPr>
          <a:xfrm>
            <a:off x="622300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0" name="w-3-51"/>
          <p:cNvSpPr/>
          <p:nvPr/>
        </p:nvSpPr>
        <p:spPr>
          <a:xfrm>
            <a:off x="644525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1" name="w-3-52"/>
          <p:cNvSpPr/>
          <p:nvPr/>
        </p:nvSpPr>
        <p:spPr>
          <a:xfrm>
            <a:off x="666750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2" name="w-3-53"/>
          <p:cNvSpPr/>
          <p:nvPr/>
        </p:nvSpPr>
        <p:spPr>
          <a:xfrm>
            <a:off x="688975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3" name="w-3-54"/>
          <p:cNvSpPr/>
          <p:nvPr/>
        </p:nvSpPr>
        <p:spPr>
          <a:xfrm>
            <a:off x="711200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4" name="w-3-55"/>
          <p:cNvSpPr/>
          <p:nvPr/>
        </p:nvSpPr>
        <p:spPr>
          <a:xfrm>
            <a:off x="733425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5" name="w-3-56"/>
          <p:cNvSpPr/>
          <p:nvPr/>
        </p:nvSpPr>
        <p:spPr>
          <a:xfrm>
            <a:off x="755650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6" name="w-3-57"/>
          <p:cNvSpPr/>
          <p:nvPr/>
        </p:nvSpPr>
        <p:spPr>
          <a:xfrm>
            <a:off x="777875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7" name="w-3-58"/>
          <p:cNvSpPr/>
          <p:nvPr/>
        </p:nvSpPr>
        <p:spPr>
          <a:xfrm>
            <a:off x="800100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8" name="w-3-59"/>
          <p:cNvSpPr/>
          <p:nvPr/>
        </p:nvSpPr>
        <p:spPr>
          <a:xfrm>
            <a:off x="822325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9" name="w-3-60"/>
          <p:cNvSpPr/>
          <p:nvPr/>
        </p:nvSpPr>
        <p:spPr>
          <a:xfrm>
            <a:off x="622300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0" name="w-3-61"/>
          <p:cNvSpPr/>
          <p:nvPr/>
        </p:nvSpPr>
        <p:spPr>
          <a:xfrm>
            <a:off x="644525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1" name="w-3-62"/>
          <p:cNvSpPr/>
          <p:nvPr/>
        </p:nvSpPr>
        <p:spPr>
          <a:xfrm>
            <a:off x="666750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2" name="w-3-63"/>
          <p:cNvSpPr/>
          <p:nvPr/>
        </p:nvSpPr>
        <p:spPr>
          <a:xfrm>
            <a:off x="688975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3" name="w-3-64"/>
          <p:cNvSpPr/>
          <p:nvPr/>
        </p:nvSpPr>
        <p:spPr>
          <a:xfrm>
            <a:off x="711200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4" name="w-3-65"/>
          <p:cNvSpPr/>
          <p:nvPr/>
        </p:nvSpPr>
        <p:spPr>
          <a:xfrm>
            <a:off x="733425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5" name="w-3-66"/>
          <p:cNvSpPr/>
          <p:nvPr/>
        </p:nvSpPr>
        <p:spPr>
          <a:xfrm>
            <a:off x="755650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6" name="w-3-67"/>
          <p:cNvSpPr/>
          <p:nvPr/>
        </p:nvSpPr>
        <p:spPr>
          <a:xfrm>
            <a:off x="777875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7" name="w-3-68"/>
          <p:cNvSpPr/>
          <p:nvPr/>
        </p:nvSpPr>
        <p:spPr>
          <a:xfrm>
            <a:off x="800100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8" name="w-3-69"/>
          <p:cNvSpPr/>
          <p:nvPr/>
        </p:nvSpPr>
        <p:spPr>
          <a:xfrm>
            <a:off x="822325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9" name="w-3-70"/>
          <p:cNvSpPr/>
          <p:nvPr/>
        </p:nvSpPr>
        <p:spPr>
          <a:xfrm>
            <a:off x="622300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0" name="w-3-71"/>
          <p:cNvSpPr/>
          <p:nvPr/>
        </p:nvSpPr>
        <p:spPr>
          <a:xfrm>
            <a:off x="644525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1" name="w-3-72"/>
          <p:cNvSpPr/>
          <p:nvPr/>
        </p:nvSpPr>
        <p:spPr>
          <a:xfrm>
            <a:off x="666750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2" name="w-3-73"/>
          <p:cNvSpPr/>
          <p:nvPr/>
        </p:nvSpPr>
        <p:spPr>
          <a:xfrm>
            <a:off x="688975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3" name="w-3-74"/>
          <p:cNvSpPr/>
          <p:nvPr/>
        </p:nvSpPr>
        <p:spPr>
          <a:xfrm>
            <a:off x="711200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4" name="w-3-75"/>
          <p:cNvSpPr/>
          <p:nvPr/>
        </p:nvSpPr>
        <p:spPr>
          <a:xfrm>
            <a:off x="733425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5" name="w-3-76"/>
          <p:cNvSpPr/>
          <p:nvPr/>
        </p:nvSpPr>
        <p:spPr>
          <a:xfrm>
            <a:off x="755650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6" name="w-3-77"/>
          <p:cNvSpPr/>
          <p:nvPr/>
        </p:nvSpPr>
        <p:spPr>
          <a:xfrm>
            <a:off x="777875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7" name="w-3-78"/>
          <p:cNvSpPr/>
          <p:nvPr/>
        </p:nvSpPr>
        <p:spPr>
          <a:xfrm>
            <a:off x="800100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8" name="w-3-79"/>
          <p:cNvSpPr/>
          <p:nvPr/>
        </p:nvSpPr>
        <p:spPr>
          <a:xfrm>
            <a:off x="822325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9" name="w-3-80"/>
          <p:cNvSpPr/>
          <p:nvPr/>
        </p:nvSpPr>
        <p:spPr>
          <a:xfrm>
            <a:off x="622300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0" name="w-3-81"/>
          <p:cNvSpPr/>
          <p:nvPr/>
        </p:nvSpPr>
        <p:spPr>
          <a:xfrm>
            <a:off x="644525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1" name="w-3-82"/>
          <p:cNvSpPr/>
          <p:nvPr/>
        </p:nvSpPr>
        <p:spPr>
          <a:xfrm>
            <a:off x="666750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2" name="w-3-83"/>
          <p:cNvSpPr/>
          <p:nvPr/>
        </p:nvSpPr>
        <p:spPr>
          <a:xfrm>
            <a:off x="688975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3" name="w-3-84"/>
          <p:cNvSpPr/>
          <p:nvPr/>
        </p:nvSpPr>
        <p:spPr>
          <a:xfrm>
            <a:off x="711200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4" name="w-3-85"/>
          <p:cNvSpPr/>
          <p:nvPr/>
        </p:nvSpPr>
        <p:spPr>
          <a:xfrm>
            <a:off x="733425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5" name="w-3-86"/>
          <p:cNvSpPr/>
          <p:nvPr/>
        </p:nvSpPr>
        <p:spPr>
          <a:xfrm>
            <a:off x="755650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6" name="w-3-87"/>
          <p:cNvSpPr/>
          <p:nvPr/>
        </p:nvSpPr>
        <p:spPr>
          <a:xfrm>
            <a:off x="777875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7" name="w-3-88"/>
          <p:cNvSpPr/>
          <p:nvPr/>
        </p:nvSpPr>
        <p:spPr>
          <a:xfrm>
            <a:off x="800100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8" name="w-3-89"/>
          <p:cNvSpPr/>
          <p:nvPr/>
        </p:nvSpPr>
        <p:spPr>
          <a:xfrm>
            <a:off x="822325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9" name="w-3-90"/>
          <p:cNvSpPr/>
          <p:nvPr/>
        </p:nvSpPr>
        <p:spPr>
          <a:xfrm>
            <a:off x="622300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0" name="w-3-91"/>
          <p:cNvSpPr/>
          <p:nvPr/>
        </p:nvSpPr>
        <p:spPr>
          <a:xfrm>
            <a:off x="644525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1" name="w-3-92"/>
          <p:cNvSpPr/>
          <p:nvPr/>
        </p:nvSpPr>
        <p:spPr>
          <a:xfrm>
            <a:off x="666750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2" name="w-3-93"/>
          <p:cNvSpPr/>
          <p:nvPr/>
        </p:nvSpPr>
        <p:spPr>
          <a:xfrm>
            <a:off x="688975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3" name="w-3-94"/>
          <p:cNvSpPr/>
          <p:nvPr/>
        </p:nvSpPr>
        <p:spPr>
          <a:xfrm>
            <a:off x="711200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4" name="w-3-95"/>
          <p:cNvSpPr/>
          <p:nvPr/>
        </p:nvSpPr>
        <p:spPr>
          <a:xfrm>
            <a:off x="733425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5" name="w-3-96"/>
          <p:cNvSpPr/>
          <p:nvPr/>
        </p:nvSpPr>
        <p:spPr>
          <a:xfrm>
            <a:off x="755650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6" name="w-3-97"/>
          <p:cNvSpPr/>
          <p:nvPr/>
        </p:nvSpPr>
        <p:spPr>
          <a:xfrm>
            <a:off x="777875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7" name="w-3-98"/>
          <p:cNvSpPr/>
          <p:nvPr/>
        </p:nvSpPr>
        <p:spPr>
          <a:xfrm>
            <a:off x="800100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8" name="w-3-99"/>
          <p:cNvSpPr/>
          <p:nvPr/>
        </p:nvSpPr>
        <p:spPr>
          <a:xfrm>
            <a:off x="822325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9" name="v-3"/>
          <p:cNvSpPr txBox="1"/>
          <p:nvPr/>
        </p:nvSpPr>
        <p:spPr>
          <a:xfrm>
            <a:off x="6250432" y="3758946"/>
            <a:ext cx="820928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20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46</a:t>
            </a:r>
          </a:p>
        </p:txBody>
      </p:sp>
      <p:sp>
        <p:nvSpPr>
          <p:cNvPr id="330" name="vu-3"/>
          <p:cNvSpPr txBox="1"/>
          <p:nvPr/>
        </p:nvSpPr>
        <p:spPr>
          <a:xfrm>
            <a:off x="6798564" y="4041267"/>
            <a:ext cx="259588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%</a:t>
            </a:r>
          </a:p>
        </p:txBody>
      </p:sp>
      <p:sp>
        <p:nvSpPr>
          <p:cNvPr id="331" name="dl-3"/>
          <p:cNvSpPr/>
          <p:nvPr/>
        </p:nvSpPr>
        <p:spPr>
          <a:xfrm>
            <a:off x="7600950" y="4006850"/>
            <a:ext cx="762000" cy="215900"/>
          </a:xfrm>
          <a:custGeom>
            <a:avLst/>
            <a:gdLst/>
            <a:ahLst/>
            <a:cxnLst/>
            <a:rect l="0" t="0" r="r" b="b"/>
            <a:pathLst>
              <a:path w="762000" h="215900">
                <a:moveTo>
                  <a:pt x="107950" y="0"/>
                </a:moveTo>
                <a:lnTo>
                  <a:pt x="654050" y="0"/>
                </a:lnTo>
                <a:cubicBezTo>
                  <a:pt x="713677" y="0"/>
                  <a:pt x="762000" y="48324"/>
                  <a:pt x="762000" y="107950"/>
                </a:cubicBezTo>
                <a:lnTo>
                  <a:pt x="762000" y="107950"/>
                </a:lnTo>
                <a:cubicBezTo>
                  <a:pt x="762000" y="167576"/>
                  <a:pt x="713677" y="215900"/>
                  <a:pt x="6540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2" name="dlt-3"/>
          <p:cNvSpPr txBox="1"/>
          <p:nvPr/>
        </p:nvSpPr>
        <p:spPr>
          <a:xfrm>
            <a:off x="7708582" y="4035266"/>
            <a:ext cx="5467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较去年 +7</a:t>
            </a:r>
          </a:p>
        </p:txBody>
      </p:sp>
      <p:sp>
        <p:nvSpPr>
          <p:cNvPr id="333" name="icon-people"/>
          <p:cNvSpPr/>
          <p:nvPr/>
        </p:nvSpPr>
        <p:spPr>
          <a:xfrm>
            <a:off x="6326505" y="4555363"/>
            <a:ext cx="98933" cy="27940"/>
          </a:xfrm>
          <a:custGeom>
            <a:avLst/>
            <a:gdLst/>
            <a:ahLst/>
            <a:cxnLst/>
            <a:rect l="0" t="0" r="r" b="b"/>
            <a:pathLst>
              <a:path w="98933" h="27940">
                <a:moveTo>
                  <a:pt x="0" y="27940"/>
                </a:moveTo>
                <a:cubicBezTo>
                  <a:pt x="0" y="10477"/>
                  <a:pt x="14542" y="0"/>
                  <a:pt x="31433" y="0"/>
                </a:cubicBezTo>
                <a:cubicBezTo>
                  <a:pt x="48324" y="0"/>
                  <a:pt x="62865" y="10477"/>
                  <a:pt x="62865" y="27940"/>
                </a:cubicBezTo>
                <a:moveTo>
                  <a:pt x="74486" y="2350"/>
                </a:moveTo>
                <a:cubicBezTo>
                  <a:pt x="89662" y="4064"/>
                  <a:pt x="98933" y="14541"/>
                  <a:pt x="98933" y="27940"/>
                </a:cubicBezTo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4" name="icon-people"/>
          <p:cNvSpPr/>
          <p:nvPr/>
        </p:nvSpPr>
        <p:spPr>
          <a:xfrm>
            <a:off x="6339311" y="4505325"/>
            <a:ext cx="37253" cy="37253"/>
          </a:xfrm>
          <a:prstGeom prst="ellipse">
            <a:avLst/>
          </a:pr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5" name="icon-people"/>
          <p:cNvSpPr/>
          <p:nvPr/>
        </p:nvSpPr>
        <p:spPr>
          <a:xfrm>
            <a:off x="6389370" y="4505325"/>
            <a:ext cx="30268" cy="30268"/>
          </a:xfrm>
          <a:prstGeom prst="ellipse">
            <a:avLst/>
          </a:pr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6" name="n-3"/>
          <p:cNvSpPr txBox="1"/>
          <p:nvPr/>
        </p:nvSpPr>
        <p:spPr>
          <a:xfrm>
            <a:off x="6498336" y="4418520"/>
            <a:ext cx="102108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复购客户占比</a:t>
            </a:r>
          </a:p>
        </p:txBody>
      </p:sp>
      <p:sp>
        <p:nvSpPr>
          <p:cNvPr id="337" name="d1-3"/>
          <p:cNvSpPr txBox="1"/>
          <p:nvPr/>
        </p:nvSpPr>
        <p:spPr>
          <a:xfrm>
            <a:off x="6286246" y="4699032"/>
            <a:ext cx="108585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一年内两次以上购买</a:t>
            </a:r>
          </a:p>
        </p:txBody>
      </p:sp>
      <p:sp>
        <p:nvSpPr>
          <p:cNvPr id="338" name="d2-3"/>
          <p:cNvSpPr txBox="1"/>
          <p:nvPr/>
        </p:nvSpPr>
        <p:spPr>
          <a:xfrm>
            <a:off x="6286246" y="4889532"/>
            <a:ext cx="97599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会员体系开始见效</a:t>
            </a:r>
          </a:p>
        </p:txBody>
      </p:sp>
      <p:sp>
        <p:nvSpPr>
          <p:cNvPr id="339" name="card-4"/>
          <p:cNvSpPr/>
          <p:nvPr/>
        </p:nvSpPr>
        <p:spPr>
          <a:xfrm>
            <a:off x="8667750" y="1397000"/>
            <a:ext cx="2444750" cy="3873500"/>
          </a:xfrm>
          <a:custGeom>
            <a:avLst/>
            <a:gdLst/>
            <a:ahLst/>
            <a:cxnLst/>
            <a:rect l="0" t="0" r="r" b="b"/>
            <a:pathLst>
              <a:path w="2444750" h="3873500">
                <a:moveTo>
                  <a:pt x="152400" y="0"/>
                </a:moveTo>
                <a:lnTo>
                  <a:pt x="2292350" y="0"/>
                </a:lnTo>
                <a:cubicBezTo>
                  <a:pt x="2376551" y="0"/>
                  <a:pt x="2444750" y="68199"/>
                  <a:pt x="2444750" y="152400"/>
                </a:cubicBezTo>
                <a:lnTo>
                  <a:pt x="2444750" y="3721100"/>
                </a:lnTo>
                <a:cubicBezTo>
                  <a:pt x="2444750" y="3805301"/>
                  <a:pt x="2376551" y="3873500"/>
                  <a:pt x="2292350" y="3873500"/>
                </a:cubicBezTo>
                <a:lnTo>
                  <a:pt x="152400" y="3873500"/>
                </a:lnTo>
                <a:cubicBezTo>
                  <a:pt x="68199" y="3873500"/>
                  <a:pt x="0" y="3805301"/>
                  <a:pt x="0" y="37211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0" name="w-4-0"/>
          <p:cNvSpPr/>
          <p:nvPr/>
        </p:nvSpPr>
        <p:spPr>
          <a:xfrm>
            <a:off x="879475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1" name="w-4-1"/>
          <p:cNvSpPr/>
          <p:nvPr/>
        </p:nvSpPr>
        <p:spPr>
          <a:xfrm>
            <a:off x="901700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2" name="w-4-2"/>
          <p:cNvSpPr/>
          <p:nvPr/>
        </p:nvSpPr>
        <p:spPr>
          <a:xfrm>
            <a:off x="923925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3" name="w-4-3"/>
          <p:cNvSpPr/>
          <p:nvPr/>
        </p:nvSpPr>
        <p:spPr>
          <a:xfrm>
            <a:off x="946150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4" name="w-4-4"/>
          <p:cNvSpPr/>
          <p:nvPr/>
        </p:nvSpPr>
        <p:spPr>
          <a:xfrm>
            <a:off x="968375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5" name="w-4-5"/>
          <p:cNvSpPr/>
          <p:nvPr/>
        </p:nvSpPr>
        <p:spPr>
          <a:xfrm>
            <a:off x="990600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6" name="w-4-6"/>
          <p:cNvSpPr/>
          <p:nvPr/>
        </p:nvSpPr>
        <p:spPr>
          <a:xfrm>
            <a:off x="1012825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7" name="w-4-7"/>
          <p:cNvSpPr/>
          <p:nvPr/>
        </p:nvSpPr>
        <p:spPr>
          <a:xfrm>
            <a:off x="1035050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8" name="w-4-8"/>
          <p:cNvSpPr/>
          <p:nvPr/>
        </p:nvSpPr>
        <p:spPr>
          <a:xfrm>
            <a:off x="1057275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9" name="w-4-9"/>
          <p:cNvSpPr/>
          <p:nvPr/>
        </p:nvSpPr>
        <p:spPr>
          <a:xfrm>
            <a:off x="10795000" y="3587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0" name="w-4-10"/>
          <p:cNvSpPr/>
          <p:nvPr/>
        </p:nvSpPr>
        <p:spPr>
          <a:xfrm>
            <a:off x="879475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1" name="w-4-11"/>
          <p:cNvSpPr/>
          <p:nvPr/>
        </p:nvSpPr>
        <p:spPr>
          <a:xfrm>
            <a:off x="901700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2" name="w-4-12"/>
          <p:cNvSpPr/>
          <p:nvPr/>
        </p:nvSpPr>
        <p:spPr>
          <a:xfrm>
            <a:off x="923925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3" name="w-4-13"/>
          <p:cNvSpPr/>
          <p:nvPr/>
        </p:nvSpPr>
        <p:spPr>
          <a:xfrm>
            <a:off x="946150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4" name="w-4-14"/>
          <p:cNvSpPr/>
          <p:nvPr/>
        </p:nvSpPr>
        <p:spPr>
          <a:xfrm>
            <a:off x="968375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5" name="w-4-15"/>
          <p:cNvSpPr/>
          <p:nvPr/>
        </p:nvSpPr>
        <p:spPr>
          <a:xfrm>
            <a:off x="990600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6" name="w-4-16"/>
          <p:cNvSpPr/>
          <p:nvPr/>
        </p:nvSpPr>
        <p:spPr>
          <a:xfrm>
            <a:off x="1012825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7" name="w-4-17"/>
          <p:cNvSpPr/>
          <p:nvPr/>
        </p:nvSpPr>
        <p:spPr>
          <a:xfrm>
            <a:off x="1035050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8" name="w-4-18"/>
          <p:cNvSpPr/>
          <p:nvPr/>
        </p:nvSpPr>
        <p:spPr>
          <a:xfrm>
            <a:off x="1057275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9" name="w-4-19"/>
          <p:cNvSpPr/>
          <p:nvPr/>
        </p:nvSpPr>
        <p:spPr>
          <a:xfrm>
            <a:off x="10795000" y="3365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0" name="w-4-20"/>
          <p:cNvSpPr/>
          <p:nvPr/>
        </p:nvSpPr>
        <p:spPr>
          <a:xfrm>
            <a:off x="879475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1" name="w-4-21"/>
          <p:cNvSpPr/>
          <p:nvPr/>
        </p:nvSpPr>
        <p:spPr>
          <a:xfrm>
            <a:off x="901700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2" name="w-4-22"/>
          <p:cNvSpPr/>
          <p:nvPr/>
        </p:nvSpPr>
        <p:spPr>
          <a:xfrm>
            <a:off x="923925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3" name="w-4-23"/>
          <p:cNvSpPr/>
          <p:nvPr/>
        </p:nvSpPr>
        <p:spPr>
          <a:xfrm>
            <a:off x="946150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4" name="w-4-24"/>
          <p:cNvSpPr/>
          <p:nvPr/>
        </p:nvSpPr>
        <p:spPr>
          <a:xfrm>
            <a:off x="968375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5" name="w-4-25"/>
          <p:cNvSpPr/>
          <p:nvPr/>
        </p:nvSpPr>
        <p:spPr>
          <a:xfrm>
            <a:off x="990600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6" name="w-4-26"/>
          <p:cNvSpPr/>
          <p:nvPr/>
        </p:nvSpPr>
        <p:spPr>
          <a:xfrm>
            <a:off x="1012825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7" name="w-4-27"/>
          <p:cNvSpPr/>
          <p:nvPr/>
        </p:nvSpPr>
        <p:spPr>
          <a:xfrm>
            <a:off x="1035050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8" name="w-4-28"/>
          <p:cNvSpPr/>
          <p:nvPr/>
        </p:nvSpPr>
        <p:spPr>
          <a:xfrm>
            <a:off x="1057275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9" name="w-4-29"/>
          <p:cNvSpPr/>
          <p:nvPr/>
        </p:nvSpPr>
        <p:spPr>
          <a:xfrm>
            <a:off x="10795000" y="3143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0" name="w-4-30"/>
          <p:cNvSpPr/>
          <p:nvPr/>
        </p:nvSpPr>
        <p:spPr>
          <a:xfrm>
            <a:off x="879475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1" name="w-4-31"/>
          <p:cNvSpPr/>
          <p:nvPr/>
        </p:nvSpPr>
        <p:spPr>
          <a:xfrm>
            <a:off x="901700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2" name="w-4-32"/>
          <p:cNvSpPr/>
          <p:nvPr/>
        </p:nvSpPr>
        <p:spPr>
          <a:xfrm>
            <a:off x="923925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3" name="w-4-33"/>
          <p:cNvSpPr/>
          <p:nvPr/>
        </p:nvSpPr>
        <p:spPr>
          <a:xfrm>
            <a:off x="946150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4" name="w-4-34"/>
          <p:cNvSpPr/>
          <p:nvPr/>
        </p:nvSpPr>
        <p:spPr>
          <a:xfrm>
            <a:off x="968375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5" name="w-4-35"/>
          <p:cNvSpPr/>
          <p:nvPr/>
        </p:nvSpPr>
        <p:spPr>
          <a:xfrm>
            <a:off x="990600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6" name="w-4-36"/>
          <p:cNvSpPr/>
          <p:nvPr/>
        </p:nvSpPr>
        <p:spPr>
          <a:xfrm>
            <a:off x="1012825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7" name="w-4-37"/>
          <p:cNvSpPr/>
          <p:nvPr/>
        </p:nvSpPr>
        <p:spPr>
          <a:xfrm>
            <a:off x="1035050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8" name="w-4-38"/>
          <p:cNvSpPr/>
          <p:nvPr/>
        </p:nvSpPr>
        <p:spPr>
          <a:xfrm>
            <a:off x="1057275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9" name="w-4-39"/>
          <p:cNvSpPr/>
          <p:nvPr/>
        </p:nvSpPr>
        <p:spPr>
          <a:xfrm>
            <a:off x="10795000" y="2921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0" name="w-4-40"/>
          <p:cNvSpPr/>
          <p:nvPr/>
        </p:nvSpPr>
        <p:spPr>
          <a:xfrm>
            <a:off x="879475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1" name="w-4-41"/>
          <p:cNvSpPr/>
          <p:nvPr/>
        </p:nvSpPr>
        <p:spPr>
          <a:xfrm>
            <a:off x="901700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2" name="w-4-42"/>
          <p:cNvSpPr/>
          <p:nvPr/>
        </p:nvSpPr>
        <p:spPr>
          <a:xfrm>
            <a:off x="923925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3" name="w-4-43"/>
          <p:cNvSpPr/>
          <p:nvPr/>
        </p:nvSpPr>
        <p:spPr>
          <a:xfrm>
            <a:off x="946150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4" name="w-4-44"/>
          <p:cNvSpPr/>
          <p:nvPr/>
        </p:nvSpPr>
        <p:spPr>
          <a:xfrm>
            <a:off x="968375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5" name="w-4-45"/>
          <p:cNvSpPr/>
          <p:nvPr/>
        </p:nvSpPr>
        <p:spPr>
          <a:xfrm>
            <a:off x="990600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6" name="w-4-46"/>
          <p:cNvSpPr/>
          <p:nvPr/>
        </p:nvSpPr>
        <p:spPr>
          <a:xfrm>
            <a:off x="1012825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7" name="w-4-47"/>
          <p:cNvSpPr/>
          <p:nvPr/>
        </p:nvSpPr>
        <p:spPr>
          <a:xfrm>
            <a:off x="1035050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8" name="w-4-48"/>
          <p:cNvSpPr/>
          <p:nvPr/>
        </p:nvSpPr>
        <p:spPr>
          <a:xfrm>
            <a:off x="1057275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9" name="w-4-49"/>
          <p:cNvSpPr/>
          <p:nvPr/>
        </p:nvSpPr>
        <p:spPr>
          <a:xfrm>
            <a:off x="10795000" y="2698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0" name="w-4-50"/>
          <p:cNvSpPr/>
          <p:nvPr/>
        </p:nvSpPr>
        <p:spPr>
          <a:xfrm>
            <a:off x="879475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1" name="w-4-51"/>
          <p:cNvSpPr/>
          <p:nvPr/>
        </p:nvSpPr>
        <p:spPr>
          <a:xfrm>
            <a:off x="901700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2" name="w-4-52"/>
          <p:cNvSpPr/>
          <p:nvPr/>
        </p:nvSpPr>
        <p:spPr>
          <a:xfrm>
            <a:off x="923925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3" name="w-4-53"/>
          <p:cNvSpPr/>
          <p:nvPr/>
        </p:nvSpPr>
        <p:spPr>
          <a:xfrm>
            <a:off x="946150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4" name="w-4-54"/>
          <p:cNvSpPr/>
          <p:nvPr/>
        </p:nvSpPr>
        <p:spPr>
          <a:xfrm>
            <a:off x="968375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5" name="w-4-55"/>
          <p:cNvSpPr/>
          <p:nvPr/>
        </p:nvSpPr>
        <p:spPr>
          <a:xfrm>
            <a:off x="990600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6" name="w-4-56"/>
          <p:cNvSpPr/>
          <p:nvPr/>
        </p:nvSpPr>
        <p:spPr>
          <a:xfrm>
            <a:off x="1012825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7" name="w-4-57"/>
          <p:cNvSpPr/>
          <p:nvPr/>
        </p:nvSpPr>
        <p:spPr>
          <a:xfrm>
            <a:off x="1035050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8" name="w-4-58"/>
          <p:cNvSpPr/>
          <p:nvPr/>
        </p:nvSpPr>
        <p:spPr>
          <a:xfrm>
            <a:off x="1057275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9" name="w-4-59"/>
          <p:cNvSpPr/>
          <p:nvPr/>
        </p:nvSpPr>
        <p:spPr>
          <a:xfrm>
            <a:off x="10795000" y="2476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0" name="w-4-60"/>
          <p:cNvSpPr/>
          <p:nvPr/>
        </p:nvSpPr>
        <p:spPr>
          <a:xfrm>
            <a:off x="879475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1" name="w-4-61"/>
          <p:cNvSpPr/>
          <p:nvPr/>
        </p:nvSpPr>
        <p:spPr>
          <a:xfrm>
            <a:off x="901700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2" name="w-4-62"/>
          <p:cNvSpPr/>
          <p:nvPr/>
        </p:nvSpPr>
        <p:spPr>
          <a:xfrm>
            <a:off x="923925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3" name="w-4-63"/>
          <p:cNvSpPr/>
          <p:nvPr/>
        </p:nvSpPr>
        <p:spPr>
          <a:xfrm>
            <a:off x="946150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4" name="w-4-64"/>
          <p:cNvSpPr/>
          <p:nvPr/>
        </p:nvSpPr>
        <p:spPr>
          <a:xfrm>
            <a:off x="968375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5" name="w-4-65"/>
          <p:cNvSpPr/>
          <p:nvPr/>
        </p:nvSpPr>
        <p:spPr>
          <a:xfrm>
            <a:off x="990600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6" name="w-4-66"/>
          <p:cNvSpPr/>
          <p:nvPr/>
        </p:nvSpPr>
        <p:spPr>
          <a:xfrm>
            <a:off x="1012825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7" name="w-4-67"/>
          <p:cNvSpPr/>
          <p:nvPr/>
        </p:nvSpPr>
        <p:spPr>
          <a:xfrm>
            <a:off x="1035050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8" name="w-4-68"/>
          <p:cNvSpPr/>
          <p:nvPr/>
        </p:nvSpPr>
        <p:spPr>
          <a:xfrm>
            <a:off x="1057275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9" name="w-4-69"/>
          <p:cNvSpPr/>
          <p:nvPr/>
        </p:nvSpPr>
        <p:spPr>
          <a:xfrm>
            <a:off x="10795000" y="22542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0" name="w-4-70"/>
          <p:cNvSpPr/>
          <p:nvPr/>
        </p:nvSpPr>
        <p:spPr>
          <a:xfrm>
            <a:off x="879475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1" name="w-4-71"/>
          <p:cNvSpPr/>
          <p:nvPr/>
        </p:nvSpPr>
        <p:spPr>
          <a:xfrm>
            <a:off x="901700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2" name="w-4-72"/>
          <p:cNvSpPr/>
          <p:nvPr/>
        </p:nvSpPr>
        <p:spPr>
          <a:xfrm>
            <a:off x="923925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3" name="w-4-73"/>
          <p:cNvSpPr/>
          <p:nvPr/>
        </p:nvSpPr>
        <p:spPr>
          <a:xfrm>
            <a:off x="946150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4" name="w-4-74"/>
          <p:cNvSpPr/>
          <p:nvPr/>
        </p:nvSpPr>
        <p:spPr>
          <a:xfrm>
            <a:off x="968375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5" name="w-4-75"/>
          <p:cNvSpPr/>
          <p:nvPr/>
        </p:nvSpPr>
        <p:spPr>
          <a:xfrm>
            <a:off x="990600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6" name="w-4-76"/>
          <p:cNvSpPr/>
          <p:nvPr/>
        </p:nvSpPr>
        <p:spPr>
          <a:xfrm>
            <a:off x="1012825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7" name="w-4-77"/>
          <p:cNvSpPr/>
          <p:nvPr/>
        </p:nvSpPr>
        <p:spPr>
          <a:xfrm>
            <a:off x="1035050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8" name="w-4-78"/>
          <p:cNvSpPr/>
          <p:nvPr/>
        </p:nvSpPr>
        <p:spPr>
          <a:xfrm>
            <a:off x="1057275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9" name="w-4-79"/>
          <p:cNvSpPr/>
          <p:nvPr/>
        </p:nvSpPr>
        <p:spPr>
          <a:xfrm>
            <a:off x="10795000" y="20320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0" name="w-4-80"/>
          <p:cNvSpPr/>
          <p:nvPr/>
        </p:nvSpPr>
        <p:spPr>
          <a:xfrm>
            <a:off x="879475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1" name="w-4-81"/>
          <p:cNvSpPr/>
          <p:nvPr/>
        </p:nvSpPr>
        <p:spPr>
          <a:xfrm>
            <a:off x="901700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2" name="w-4-82"/>
          <p:cNvSpPr/>
          <p:nvPr/>
        </p:nvSpPr>
        <p:spPr>
          <a:xfrm>
            <a:off x="923925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3" name="w-4-83"/>
          <p:cNvSpPr/>
          <p:nvPr/>
        </p:nvSpPr>
        <p:spPr>
          <a:xfrm>
            <a:off x="946150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4" name="w-4-84"/>
          <p:cNvSpPr/>
          <p:nvPr/>
        </p:nvSpPr>
        <p:spPr>
          <a:xfrm>
            <a:off x="968375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5" name="w-4-85"/>
          <p:cNvSpPr/>
          <p:nvPr/>
        </p:nvSpPr>
        <p:spPr>
          <a:xfrm>
            <a:off x="990600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6" name="w-4-86"/>
          <p:cNvSpPr/>
          <p:nvPr/>
        </p:nvSpPr>
        <p:spPr>
          <a:xfrm>
            <a:off x="1012825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7" name="w-4-87"/>
          <p:cNvSpPr/>
          <p:nvPr/>
        </p:nvSpPr>
        <p:spPr>
          <a:xfrm>
            <a:off x="1035050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8" name="w-4-88"/>
          <p:cNvSpPr/>
          <p:nvPr/>
        </p:nvSpPr>
        <p:spPr>
          <a:xfrm>
            <a:off x="1057275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9" name="w-4-89"/>
          <p:cNvSpPr/>
          <p:nvPr/>
        </p:nvSpPr>
        <p:spPr>
          <a:xfrm>
            <a:off x="10795000" y="180975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0" name="w-4-90"/>
          <p:cNvSpPr/>
          <p:nvPr/>
        </p:nvSpPr>
        <p:spPr>
          <a:xfrm>
            <a:off x="879475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1" name="w-4-91"/>
          <p:cNvSpPr/>
          <p:nvPr/>
        </p:nvSpPr>
        <p:spPr>
          <a:xfrm>
            <a:off x="901700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2" name="w-4-92"/>
          <p:cNvSpPr/>
          <p:nvPr/>
        </p:nvSpPr>
        <p:spPr>
          <a:xfrm>
            <a:off x="923925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3" name="w-4-93"/>
          <p:cNvSpPr/>
          <p:nvPr/>
        </p:nvSpPr>
        <p:spPr>
          <a:xfrm>
            <a:off x="946150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4" name="w-4-94"/>
          <p:cNvSpPr/>
          <p:nvPr/>
        </p:nvSpPr>
        <p:spPr>
          <a:xfrm>
            <a:off x="968375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5" name="w-4-95"/>
          <p:cNvSpPr/>
          <p:nvPr/>
        </p:nvSpPr>
        <p:spPr>
          <a:xfrm>
            <a:off x="990600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6" name="w-4-96"/>
          <p:cNvSpPr/>
          <p:nvPr/>
        </p:nvSpPr>
        <p:spPr>
          <a:xfrm>
            <a:off x="1012825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7" name="w-4-97"/>
          <p:cNvSpPr/>
          <p:nvPr/>
        </p:nvSpPr>
        <p:spPr>
          <a:xfrm>
            <a:off x="1035050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8" name="w-4-98"/>
          <p:cNvSpPr/>
          <p:nvPr/>
        </p:nvSpPr>
        <p:spPr>
          <a:xfrm>
            <a:off x="1057275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9" name="w-4-99"/>
          <p:cNvSpPr/>
          <p:nvPr/>
        </p:nvSpPr>
        <p:spPr>
          <a:xfrm>
            <a:off x="10795000" y="15875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1"/>
                  <a:pt x="190500" y="38100"/>
                </a:cubicBezTo>
                <a:lnTo>
                  <a:pt x="190500" y="152400"/>
                </a:lnTo>
                <a:cubicBezTo>
                  <a:pt x="190500" y="173418"/>
                  <a:pt x="173418" y="190500"/>
                  <a:pt x="152400" y="190500"/>
                </a:cubicBezTo>
                <a:lnTo>
                  <a:pt x="38100" y="190500"/>
                </a:lnTo>
                <a:cubicBezTo>
                  <a:pt x="17082" y="190500"/>
                  <a:pt x="0" y="173418"/>
                  <a:pt x="0" y="1524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0" name="v-4"/>
          <p:cNvSpPr txBox="1"/>
          <p:nvPr/>
        </p:nvSpPr>
        <p:spPr>
          <a:xfrm>
            <a:off x="8822182" y="3758946"/>
            <a:ext cx="820928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200" b="1">
                <a:solidFill>
                  <a:srgbClr val="4694D7"/>
                </a:solidFill>
                <a:latin typeface="Arial"/>
                <a:ea typeface="Arial"/>
                <a:cs typeface="Arial"/>
              </a:rPr>
              <a:t>54</a:t>
            </a:r>
          </a:p>
        </p:txBody>
      </p:sp>
      <p:sp>
        <p:nvSpPr>
          <p:cNvPr id="441" name="vu-4"/>
          <p:cNvSpPr txBox="1"/>
          <p:nvPr/>
        </p:nvSpPr>
        <p:spPr>
          <a:xfrm>
            <a:off x="9370314" y="4041267"/>
            <a:ext cx="259588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>
                <a:solidFill>
                  <a:srgbClr val="4694D7"/>
                </a:solidFill>
                <a:latin typeface="Arial"/>
                <a:ea typeface="Arial"/>
                <a:cs typeface="Arial"/>
              </a:rPr>
              <a:t>%</a:t>
            </a:r>
          </a:p>
        </p:txBody>
      </p:sp>
      <p:sp>
        <p:nvSpPr>
          <p:cNvPr id="442" name="dl-4"/>
          <p:cNvSpPr/>
          <p:nvPr/>
        </p:nvSpPr>
        <p:spPr>
          <a:xfrm>
            <a:off x="10172700" y="4006850"/>
            <a:ext cx="762000" cy="215900"/>
          </a:xfrm>
          <a:custGeom>
            <a:avLst/>
            <a:gdLst/>
            <a:ahLst/>
            <a:cxnLst/>
            <a:rect l="0" t="0" r="r" b="b"/>
            <a:pathLst>
              <a:path w="762000" h="215900">
                <a:moveTo>
                  <a:pt x="107950" y="0"/>
                </a:moveTo>
                <a:lnTo>
                  <a:pt x="654050" y="0"/>
                </a:lnTo>
                <a:cubicBezTo>
                  <a:pt x="713677" y="0"/>
                  <a:pt x="762000" y="48324"/>
                  <a:pt x="762000" y="107950"/>
                </a:cubicBezTo>
                <a:lnTo>
                  <a:pt x="762000" y="107950"/>
                </a:lnTo>
                <a:cubicBezTo>
                  <a:pt x="762000" y="167576"/>
                  <a:pt x="713677" y="215900"/>
                  <a:pt x="6540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3" name="dlt-4"/>
          <p:cNvSpPr txBox="1"/>
          <p:nvPr/>
        </p:nvSpPr>
        <p:spPr>
          <a:xfrm>
            <a:off x="10252392" y="4035266"/>
            <a:ext cx="6026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较去年 +13</a:t>
            </a:r>
          </a:p>
        </p:txBody>
      </p:sp>
      <p:sp>
        <p:nvSpPr>
          <p:cNvPr id="444" name="icon-star"/>
          <p:cNvSpPr/>
          <p:nvPr/>
        </p:nvSpPr>
        <p:spPr>
          <a:xfrm>
            <a:off x="8897684" y="4491355"/>
            <a:ext cx="98933" cy="94298"/>
          </a:xfrm>
          <a:custGeom>
            <a:avLst/>
            <a:gdLst/>
            <a:ahLst/>
            <a:cxnLst/>
            <a:rect l="0" t="0" r="r" b="b"/>
            <a:pathLst>
              <a:path w="98933" h="94298">
                <a:moveTo>
                  <a:pt x="49466" y="0"/>
                </a:moveTo>
                <a:lnTo>
                  <a:pt x="64580" y="31433"/>
                </a:lnTo>
                <a:lnTo>
                  <a:pt x="98933" y="36068"/>
                </a:lnTo>
                <a:lnTo>
                  <a:pt x="73914" y="59944"/>
                </a:lnTo>
                <a:lnTo>
                  <a:pt x="80327" y="94298"/>
                </a:lnTo>
                <a:lnTo>
                  <a:pt x="49466" y="77407"/>
                </a:lnTo>
                <a:lnTo>
                  <a:pt x="18606" y="94298"/>
                </a:lnTo>
                <a:lnTo>
                  <a:pt x="25019" y="59944"/>
                </a:lnTo>
                <a:lnTo>
                  <a:pt x="0" y="36068"/>
                </a:lnTo>
                <a:lnTo>
                  <a:pt x="34353" y="31433"/>
                </a:lnTo>
                <a:close/>
              </a:path>
            </a:pathLst>
          </a:cu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5" name="n-4"/>
          <p:cNvSpPr txBox="1"/>
          <p:nvPr/>
        </p:nvSpPr>
        <p:spPr>
          <a:xfrm>
            <a:off x="9070086" y="4418520"/>
            <a:ext cx="102108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会员贡献营收</a:t>
            </a:r>
          </a:p>
        </p:txBody>
      </p:sp>
      <p:sp>
        <p:nvSpPr>
          <p:cNvPr id="446" name="d1-4"/>
          <p:cNvSpPr txBox="1"/>
          <p:nvPr/>
        </p:nvSpPr>
        <p:spPr>
          <a:xfrm>
            <a:off x="8857996" y="4699032"/>
            <a:ext cx="97599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会员客户营收占比</a:t>
            </a:r>
          </a:p>
        </p:txBody>
      </p:sp>
      <p:sp>
        <p:nvSpPr>
          <p:cNvPr id="447" name="d2-4"/>
          <p:cNvSpPr txBox="1"/>
          <p:nvPr/>
        </p:nvSpPr>
        <p:spPr>
          <a:xfrm>
            <a:off x="8857996" y="4889532"/>
            <a:ext cx="139763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人均消费是非会员 2.3 倍</a:t>
            </a:r>
          </a:p>
        </p:txBody>
      </p:sp>
      <p:sp>
        <p:nvSpPr>
          <p:cNvPr id="448" name="lg-1"/>
          <p:cNvSpPr/>
          <p:nvPr/>
        </p:nvSpPr>
        <p:spPr>
          <a:xfrm>
            <a:off x="952500" y="5486400"/>
            <a:ext cx="139700" cy="139700"/>
          </a:xfrm>
          <a:custGeom>
            <a:avLst/>
            <a:gdLst/>
            <a:ahLst/>
            <a:cxnLst/>
            <a:rect l="0" t="0" r="r" b="b"/>
            <a:pathLst>
              <a:path w="139700" h="139700">
                <a:moveTo>
                  <a:pt x="38100" y="0"/>
                </a:moveTo>
                <a:lnTo>
                  <a:pt x="101600" y="0"/>
                </a:lnTo>
                <a:cubicBezTo>
                  <a:pt x="122619" y="0"/>
                  <a:pt x="139700" y="17082"/>
                  <a:pt x="139700" y="38100"/>
                </a:cubicBezTo>
                <a:lnTo>
                  <a:pt x="139700" y="101600"/>
                </a:lnTo>
                <a:cubicBezTo>
                  <a:pt x="139700" y="122618"/>
                  <a:pt x="122619" y="139700"/>
                  <a:pt x="101600" y="139700"/>
                </a:cubicBezTo>
                <a:lnTo>
                  <a:pt x="38100" y="139700"/>
                </a:lnTo>
                <a:cubicBezTo>
                  <a:pt x="17081" y="139700"/>
                  <a:pt x="0" y="122618"/>
                  <a:pt x="0" y="1016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9" name="lg-1t"/>
          <p:cNvSpPr txBox="1"/>
          <p:nvPr/>
        </p:nvSpPr>
        <p:spPr>
          <a:xfrm>
            <a:off x="1144270" y="5470366"/>
            <a:ext cx="4819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去年已有</a:t>
            </a:r>
          </a:p>
        </p:txBody>
      </p:sp>
      <p:sp>
        <p:nvSpPr>
          <p:cNvPr id="450" name="lg-2"/>
          <p:cNvSpPr/>
          <p:nvPr/>
        </p:nvSpPr>
        <p:spPr>
          <a:xfrm>
            <a:off x="1841500" y="5486400"/>
            <a:ext cx="139700" cy="139700"/>
          </a:xfrm>
          <a:custGeom>
            <a:avLst/>
            <a:gdLst/>
            <a:ahLst/>
            <a:cxnLst/>
            <a:rect l="0" t="0" r="r" b="b"/>
            <a:pathLst>
              <a:path w="139700" h="139700">
                <a:moveTo>
                  <a:pt x="38100" y="0"/>
                </a:moveTo>
                <a:lnTo>
                  <a:pt x="101600" y="0"/>
                </a:lnTo>
                <a:cubicBezTo>
                  <a:pt x="122619" y="0"/>
                  <a:pt x="139700" y="17082"/>
                  <a:pt x="139700" y="38100"/>
                </a:cubicBezTo>
                <a:lnTo>
                  <a:pt x="139700" y="101600"/>
                </a:lnTo>
                <a:cubicBezTo>
                  <a:pt x="139700" y="122618"/>
                  <a:pt x="122619" y="139700"/>
                  <a:pt x="101600" y="139700"/>
                </a:cubicBezTo>
                <a:lnTo>
                  <a:pt x="38100" y="139700"/>
                </a:lnTo>
                <a:cubicBezTo>
                  <a:pt x="17081" y="139700"/>
                  <a:pt x="0" y="122618"/>
                  <a:pt x="0" y="1016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1" name="lg-2t"/>
          <p:cNvSpPr txBox="1"/>
          <p:nvPr/>
        </p:nvSpPr>
        <p:spPr>
          <a:xfrm>
            <a:off x="2033270" y="5470366"/>
            <a:ext cx="4819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今年新增</a:t>
            </a:r>
          </a:p>
        </p:txBody>
      </p:sp>
      <p:sp>
        <p:nvSpPr>
          <p:cNvPr id="452" name="lg-3"/>
          <p:cNvSpPr/>
          <p:nvPr/>
        </p:nvSpPr>
        <p:spPr>
          <a:xfrm>
            <a:off x="2730500" y="5486400"/>
            <a:ext cx="139700" cy="139700"/>
          </a:xfrm>
          <a:custGeom>
            <a:avLst/>
            <a:gdLst/>
            <a:ahLst/>
            <a:cxnLst/>
            <a:rect l="0" t="0" r="r" b="b"/>
            <a:pathLst>
              <a:path w="139700" h="139700">
                <a:moveTo>
                  <a:pt x="38100" y="0"/>
                </a:moveTo>
                <a:lnTo>
                  <a:pt x="101600" y="0"/>
                </a:lnTo>
                <a:cubicBezTo>
                  <a:pt x="122619" y="0"/>
                  <a:pt x="139700" y="17082"/>
                  <a:pt x="139700" y="38100"/>
                </a:cubicBezTo>
                <a:lnTo>
                  <a:pt x="139700" y="101600"/>
                </a:lnTo>
                <a:cubicBezTo>
                  <a:pt x="139700" y="122618"/>
                  <a:pt x="122619" y="139700"/>
                  <a:pt x="101600" y="139700"/>
                </a:cubicBezTo>
                <a:lnTo>
                  <a:pt x="38100" y="139700"/>
                </a:lnTo>
                <a:cubicBezTo>
                  <a:pt x="17081" y="139700"/>
                  <a:pt x="0" y="122618"/>
                  <a:pt x="0" y="1016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3" name="lg-3t"/>
          <p:cNvSpPr txBox="1"/>
          <p:nvPr/>
        </p:nvSpPr>
        <p:spPr>
          <a:xfrm>
            <a:off x="2922270" y="5470366"/>
            <a:ext cx="4819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其余部分</a:t>
            </a:r>
          </a:p>
        </p:txBody>
      </p:sp>
      <p:sp>
        <p:nvSpPr>
          <p:cNvPr id="454" name="lg-note"/>
          <p:cNvSpPr txBox="1"/>
          <p:nvPr/>
        </p:nvSpPr>
        <p:spPr>
          <a:xfrm>
            <a:off x="7728268" y="5450761"/>
            <a:ext cx="352456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8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四项指标全部比去年提升，线上与会员两项增幅最大（+14 / +13）</a:t>
            </a:r>
          </a:p>
        </p:txBody>
      </p:sp>
      <p:cxnSp>
        <p:nvCxnSpPr>
          <p:cNvPr id="455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6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华夫饼图 · 四项占比</a:t>
            </a:r>
          </a:p>
        </p:txBody>
      </p:sp>
      <p:sp>
        <p:nvSpPr>
          <p:cNvPr id="457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各大区目标完成率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53695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RADIAL BAR CHART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560689" y="673132"/>
            <a:ext cx="306006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每一圈是一个大区，圈越满越接近年度目标，满圈为 100%</a:t>
            </a:r>
          </a:p>
        </p:txBody>
      </p:sp>
      <p:cxnSp>
        <p:nvCxnSpPr>
          <p:cNvPr id="10" name="tk-25"/>
          <p:cNvCxnSpPr/>
          <p:nvPr/>
        </p:nvCxnSpPr>
        <p:spPr>
          <a:xfrm flipV="1">
            <a:off x="5066863" y="2740925"/>
            <a:ext cx="1560525" cy="646391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tkt-25"/>
          <p:cNvSpPr txBox="1"/>
          <p:nvPr/>
        </p:nvSpPr>
        <p:spPr>
          <a:xfrm>
            <a:off x="6641773" y="2615773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25%</a:t>
            </a:r>
          </a:p>
        </p:txBody>
      </p:sp>
      <p:cxnSp>
        <p:nvCxnSpPr>
          <p:cNvPr id="12" name="tk-50"/>
          <p:cNvCxnSpPr/>
          <p:nvPr/>
        </p:nvCxnSpPr>
        <p:spPr>
          <a:xfrm>
            <a:off x="4920954" y="4120854"/>
            <a:ext cx="1194374" cy="1194374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tkt-50"/>
          <p:cNvSpPr txBox="1"/>
          <p:nvPr/>
        </p:nvSpPr>
        <p:spPr>
          <a:xfrm>
            <a:off x="6099429" y="5342319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50%</a:t>
            </a:r>
          </a:p>
        </p:txBody>
      </p:sp>
      <p:cxnSp>
        <p:nvCxnSpPr>
          <p:cNvPr id="14" name="tk-75"/>
          <p:cNvCxnSpPr/>
          <p:nvPr/>
        </p:nvCxnSpPr>
        <p:spPr>
          <a:xfrm flipH="1">
            <a:off x="3541025" y="4266763"/>
            <a:ext cx="646391" cy="1560525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tkt-75"/>
          <p:cNvSpPr txBox="1"/>
          <p:nvPr/>
        </p:nvSpPr>
        <p:spPr>
          <a:xfrm>
            <a:off x="3372883" y="5884663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75%</a:t>
            </a:r>
          </a:p>
        </p:txBody>
      </p:sp>
      <p:cxnSp>
        <p:nvCxnSpPr>
          <p:cNvPr id="16" name="tk-100"/>
          <p:cNvCxnSpPr/>
          <p:nvPr/>
        </p:nvCxnSpPr>
        <p:spPr>
          <a:xfrm flipH="1">
            <a:off x="2082800" y="3644900"/>
            <a:ext cx="16891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kt-100"/>
          <p:cNvSpPr txBox="1"/>
          <p:nvPr/>
        </p:nvSpPr>
        <p:spPr>
          <a:xfrm>
            <a:off x="1803527" y="3573208"/>
            <a:ext cx="2791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100%</a:t>
            </a:r>
          </a:p>
        </p:txBody>
      </p:sp>
      <p:sp>
        <p:nvSpPr>
          <p:cNvPr id="18" name="trk-1"/>
          <p:cNvSpPr/>
          <p:nvPr/>
        </p:nvSpPr>
        <p:spPr>
          <a:xfrm>
            <a:off x="2184400" y="1384300"/>
            <a:ext cx="4521200" cy="4521200"/>
          </a:xfrm>
          <a:custGeom>
            <a:avLst/>
            <a:gdLst/>
            <a:ahLst/>
            <a:cxnLst/>
            <a:rect l="0" t="0" r="r" b="b"/>
            <a:pathLst>
              <a:path w="4521200" h="4521200">
                <a:moveTo>
                  <a:pt x="2260600" y="0"/>
                </a:moveTo>
                <a:cubicBezTo>
                  <a:pt x="3509074" y="0"/>
                  <a:pt x="4521200" y="1012126"/>
                  <a:pt x="4521200" y="2260600"/>
                </a:cubicBezTo>
                <a:cubicBezTo>
                  <a:pt x="4521200" y="3509074"/>
                  <a:pt x="3509074" y="4521200"/>
                  <a:pt x="2260600" y="4521200"/>
                </a:cubicBezTo>
                <a:cubicBezTo>
                  <a:pt x="1012126" y="4521200"/>
                  <a:pt x="0" y="3509074"/>
                  <a:pt x="0" y="2260600"/>
                </a:cubicBezTo>
                <a:cubicBezTo>
                  <a:pt x="0" y="2208022"/>
                  <a:pt x="42672" y="2165350"/>
                  <a:pt x="95250" y="2165350"/>
                </a:cubicBezTo>
                <a:cubicBezTo>
                  <a:pt x="147828" y="2165350"/>
                  <a:pt x="190500" y="2208022"/>
                  <a:pt x="190500" y="2260600"/>
                </a:cubicBezTo>
                <a:cubicBezTo>
                  <a:pt x="190500" y="3403854"/>
                  <a:pt x="1117346" y="4330700"/>
                  <a:pt x="2260600" y="4330700"/>
                </a:cubicBezTo>
                <a:cubicBezTo>
                  <a:pt x="3403854" y="4330700"/>
                  <a:pt x="4330700" y="3403854"/>
                  <a:pt x="4330700" y="2260600"/>
                </a:cubicBezTo>
                <a:cubicBezTo>
                  <a:pt x="4330700" y="1117346"/>
                  <a:pt x="3403854" y="190500"/>
                  <a:pt x="2260600" y="190500"/>
                </a:cubicBezTo>
                <a:cubicBezTo>
                  <a:pt x="2208022" y="190500"/>
                  <a:pt x="2165350" y="147828"/>
                  <a:pt x="2165350" y="95250"/>
                </a:cubicBezTo>
                <a:cubicBezTo>
                  <a:pt x="2165350" y="42672"/>
                  <a:pt x="2208022" y="0"/>
                  <a:pt x="22606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bar-1"/>
          <p:cNvSpPr/>
          <p:nvPr/>
        </p:nvSpPr>
        <p:spPr>
          <a:xfrm>
            <a:off x="2222757" y="1384300"/>
            <a:ext cx="4481598" cy="4520459"/>
          </a:xfrm>
          <a:custGeom>
            <a:avLst/>
            <a:gdLst/>
            <a:ahLst/>
            <a:cxnLst/>
            <a:rect l="0" t="0" r="r" b="b"/>
            <a:pathLst>
              <a:path w="4481598" h="4520459">
                <a:moveTo>
                  <a:pt x="2222243" y="0"/>
                </a:moveTo>
                <a:cubicBezTo>
                  <a:pt x="3415599" y="0"/>
                  <a:pt x="4403468" y="927608"/>
                  <a:pt x="4478398" y="2118678"/>
                </a:cubicBezTo>
                <a:cubicBezTo>
                  <a:pt x="4553328" y="3309684"/>
                  <a:pt x="3689538" y="4353814"/>
                  <a:pt x="2505580" y="4503356"/>
                </a:cubicBezTo>
                <a:cubicBezTo>
                  <a:pt x="1321623" y="4652962"/>
                  <a:pt x="225295" y="3856418"/>
                  <a:pt x="1712" y="2684208"/>
                </a:cubicBezTo>
                <a:cubicBezTo>
                  <a:pt x="-8194" y="2632520"/>
                  <a:pt x="25715" y="2582672"/>
                  <a:pt x="77404" y="2572766"/>
                </a:cubicBezTo>
                <a:cubicBezTo>
                  <a:pt x="129093" y="2562924"/>
                  <a:pt x="178940" y="2596833"/>
                  <a:pt x="188783" y="2648522"/>
                </a:cubicBezTo>
                <a:cubicBezTo>
                  <a:pt x="393570" y="3721926"/>
                  <a:pt x="1397505" y="4451350"/>
                  <a:pt x="2481704" y="4314380"/>
                </a:cubicBezTo>
                <a:cubicBezTo>
                  <a:pt x="3565903" y="4177411"/>
                  <a:pt x="4356859" y="3221292"/>
                  <a:pt x="4288279" y="2130616"/>
                </a:cubicBezTo>
                <a:cubicBezTo>
                  <a:pt x="4219636" y="1039939"/>
                  <a:pt x="3315078" y="190500"/>
                  <a:pt x="2222243" y="190500"/>
                </a:cubicBezTo>
                <a:cubicBezTo>
                  <a:pt x="2169665" y="190500"/>
                  <a:pt x="2126993" y="147828"/>
                  <a:pt x="2126993" y="95250"/>
                </a:cubicBezTo>
                <a:cubicBezTo>
                  <a:pt x="2126993" y="42672"/>
                  <a:pt x="2169665" y="0"/>
                  <a:pt x="2222243" y="0"/>
                </a:cubicBezTo>
                <a:close/>
              </a:path>
            </a:pathLst>
          </a:custGeom>
          <a:gradFill rotWithShape="1">
            <a:gsLst>
              <a:gs pos="0">
                <a:srgbClr val="3C65A5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bv-1"/>
          <p:cNvSpPr txBox="1"/>
          <p:nvPr/>
        </p:nvSpPr>
        <p:spPr>
          <a:xfrm>
            <a:off x="2271672" y="4156441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96</a:t>
            </a:r>
          </a:p>
        </p:txBody>
      </p:sp>
      <p:sp>
        <p:nvSpPr>
          <p:cNvPr id="21" name="bn-1"/>
          <p:cNvSpPr txBox="1"/>
          <p:nvPr/>
        </p:nvSpPr>
        <p:spPr>
          <a:xfrm>
            <a:off x="3993896" y="1382840"/>
            <a:ext cx="35052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华东</a:t>
            </a:r>
          </a:p>
        </p:txBody>
      </p:sp>
      <p:sp>
        <p:nvSpPr>
          <p:cNvPr id="22" name="bp-1"/>
          <p:cNvSpPr txBox="1"/>
          <p:nvPr/>
        </p:nvSpPr>
        <p:spPr>
          <a:xfrm>
            <a:off x="3737864" y="139217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96%</a:t>
            </a:r>
          </a:p>
        </p:txBody>
      </p:sp>
      <p:sp>
        <p:nvSpPr>
          <p:cNvPr id="23" name="trk-2"/>
          <p:cNvSpPr/>
          <p:nvPr/>
        </p:nvSpPr>
        <p:spPr>
          <a:xfrm>
            <a:off x="2451100" y="1651000"/>
            <a:ext cx="3987800" cy="3987800"/>
          </a:xfrm>
          <a:custGeom>
            <a:avLst/>
            <a:gdLst/>
            <a:ahLst/>
            <a:cxnLst/>
            <a:rect l="0" t="0" r="r" b="b"/>
            <a:pathLst>
              <a:path w="3987800" h="3987800">
                <a:moveTo>
                  <a:pt x="1993900" y="0"/>
                </a:moveTo>
                <a:cubicBezTo>
                  <a:pt x="3095117" y="0"/>
                  <a:pt x="3987800" y="892683"/>
                  <a:pt x="3987800" y="1993900"/>
                </a:cubicBezTo>
                <a:cubicBezTo>
                  <a:pt x="3987800" y="3095117"/>
                  <a:pt x="3095117" y="3987800"/>
                  <a:pt x="1993900" y="3987800"/>
                </a:cubicBezTo>
                <a:cubicBezTo>
                  <a:pt x="892683" y="3987800"/>
                  <a:pt x="0" y="3095117"/>
                  <a:pt x="0" y="1993900"/>
                </a:cubicBezTo>
                <a:cubicBezTo>
                  <a:pt x="0" y="1941322"/>
                  <a:pt x="42672" y="1898650"/>
                  <a:pt x="95250" y="1898650"/>
                </a:cubicBezTo>
                <a:cubicBezTo>
                  <a:pt x="147828" y="1898650"/>
                  <a:pt x="190500" y="1941322"/>
                  <a:pt x="190500" y="1993900"/>
                </a:cubicBezTo>
                <a:cubicBezTo>
                  <a:pt x="190500" y="2989898"/>
                  <a:pt x="997902" y="3797300"/>
                  <a:pt x="1993900" y="3797300"/>
                </a:cubicBezTo>
                <a:cubicBezTo>
                  <a:pt x="2989898" y="3797300"/>
                  <a:pt x="3797300" y="2989898"/>
                  <a:pt x="3797300" y="1993900"/>
                </a:cubicBezTo>
                <a:cubicBezTo>
                  <a:pt x="3797300" y="997902"/>
                  <a:pt x="2989898" y="190500"/>
                  <a:pt x="1993900" y="190500"/>
                </a:cubicBezTo>
                <a:cubicBezTo>
                  <a:pt x="1941322" y="190500"/>
                  <a:pt x="1898650" y="147828"/>
                  <a:pt x="1898650" y="95250"/>
                </a:cubicBezTo>
                <a:cubicBezTo>
                  <a:pt x="1898650" y="42672"/>
                  <a:pt x="1941322" y="0"/>
                  <a:pt x="19939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bar-2"/>
          <p:cNvSpPr/>
          <p:nvPr/>
        </p:nvSpPr>
        <p:spPr>
          <a:xfrm>
            <a:off x="2746688" y="1651000"/>
            <a:ext cx="3692274" cy="3987341"/>
          </a:xfrm>
          <a:custGeom>
            <a:avLst/>
            <a:gdLst/>
            <a:ahLst/>
            <a:cxnLst/>
            <a:rect l="0" t="0" r="r" b="b"/>
            <a:pathLst>
              <a:path w="3692274" h="3987341">
                <a:moveTo>
                  <a:pt x="1698312" y="0"/>
                </a:moveTo>
                <a:cubicBezTo>
                  <a:pt x="2655447" y="0"/>
                  <a:pt x="3477518" y="680085"/>
                  <a:pt x="3656906" y="1620266"/>
                </a:cubicBezTo>
                <a:cubicBezTo>
                  <a:pt x="3836230" y="2560447"/>
                  <a:pt x="3322261" y="3495421"/>
                  <a:pt x="2432308" y="3847783"/>
                </a:cubicBezTo>
                <a:cubicBezTo>
                  <a:pt x="1542419" y="4200144"/>
                  <a:pt x="527689" y="3870388"/>
                  <a:pt x="14800" y="3062288"/>
                </a:cubicBezTo>
                <a:cubicBezTo>
                  <a:pt x="-3425" y="3033522"/>
                  <a:pt x="-4949" y="2997264"/>
                  <a:pt x="10799" y="2967101"/>
                </a:cubicBezTo>
                <a:cubicBezTo>
                  <a:pt x="26611" y="2936938"/>
                  <a:pt x="57218" y="2917508"/>
                  <a:pt x="91254" y="2916110"/>
                </a:cubicBezTo>
                <a:cubicBezTo>
                  <a:pt x="125226" y="2914650"/>
                  <a:pt x="157421" y="2931478"/>
                  <a:pt x="175645" y="2960179"/>
                </a:cubicBezTo>
                <a:cubicBezTo>
                  <a:pt x="639513" y="3691128"/>
                  <a:pt x="1557278" y="3989324"/>
                  <a:pt x="2362204" y="3670681"/>
                </a:cubicBezTo>
                <a:cubicBezTo>
                  <a:pt x="3167067" y="3351974"/>
                  <a:pt x="3631950" y="2506345"/>
                  <a:pt x="3469771" y="1655953"/>
                </a:cubicBezTo>
                <a:cubicBezTo>
                  <a:pt x="3307529" y="805624"/>
                  <a:pt x="2564007" y="190500"/>
                  <a:pt x="1698312" y="190500"/>
                </a:cubicBezTo>
                <a:cubicBezTo>
                  <a:pt x="1645734" y="190500"/>
                  <a:pt x="1603062" y="147828"/>
                  <a:pt x="1603062" y="95250"/>
                </a:cubicBezTo>
                <a:cubicBezTo>
                  <a:pt x="1603062" y="42672"/>
                  <a:pt x="1645734" y="0"/>
                  <a:pt x="1698312" y="0"/>
                </a:cubicBezTo>
                <a:close/>
              </a:path>
            </a:pathLst>
          </a:custGeom>
          <a:gradFill rotWithShape="1">
            <a:gsLst>
              <a:gs pos="0">
                <a:srgbClr val="4270B0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bv-2"/>
          <p:cNvSpPr txBox="1"/>
          <p:nvPr/>
        </p:nvSpPr>
        <p:spPr>
          <a:xfrm>
            <a:off x="2846896" y="4720053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88</a:t>
            </a:r>
          </a:p>
        </p:txBody>
      </p:sp>
      <p:sp>
        <p:nvSpPr>
          <p:cNvPr id="26" name="bn-2"/>
          <p:cNvSpPr txBox="1"/>
          <p:nvPr/>
        </p:nvSpPr>
        <p:spPr>
          <a:xfrm>
            <a:off x="3993896" y="1649540"/>
            <a:ext cx="35052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华南</a:t>
            </a:r>
          </a:p>
        </p:txBody>
      </p:sp>
      <p:sp>
        <p:nvSpPr>
          <p:cNvPr id="27" name="bp-2"/>
          <p:cNvSpPr txBox="1"/>
          <p:nvPr/>
        </p:nvSpPr>
        <p:spPr>
          <a:xfrm>
            <a:off x="3737864" y="165887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88%</a:t>
            </a:r>
          </a:p>
        </p:txBody>
      </p:sp>
      <p:sp>
        <p:nvSpPr>
          <p:cNvPr id="28" name="trk-3"/>
          <p:cNvSpPr/>
          <p:nvPr/>
        </p:nvSpPr>
        <p:spPr>
          <a:xfrm>
            <a:off x="2717800" y="1917700"/>
            <a:ext cx="3454400" cy="3454400"/>
          </a:xfrm>
          <a:custGeom>
            <a:avLst/>
            <a:gdLst/>
            <a:ahLst/>
            <a:cxnLst/>
            <a:rect l="0" t="0" r="r" b="b"/>
            <a:pathLst>
              <a:path w="3454400" h="3454400">
                <a:moveTo>
                  <a:pt x="1727200" y="0"/>
                </a:moveTo>
                <a:cubicBezTo>
                  <a:pt x="2681097" y="0"/>
                  <a:pt x="3454400" y="773303"/>
                  <a:pt x="3454400" y="1727200"/>
                </a:cubicBezTo>
                <a:cubicBezTo>
                  <a:pt x="3454400" y="2681097"/>
                  <a:pt x="2681097" y="3454400"/>
                  <a:pt x="1727200" y="3454400"/>
                </a:cubicBezTo>
                <a:cubicBezTo>
                  <a:pt x="773303" y="3454400"/>
                  <a:pt x="0" y="2681097"/>
                  <a:pt x="0" y="1727200"/>
                </a:cubicBezTo>
                <a:cubicBezTo>
                  <a:pt x="0" y="1674622"/>
                  <a:pt x="42672" y="1631950"/>
                  <a:pt x="95250" y="1631950"/>
                </a:cubicBezTo>
                <a:cubicBezTo>
                  <a:pt x="147828" y="1631950"/>
                  <a:pt x="190500" y="1674622"/>
                  <a:pt x="190500" y="1727200"/>
                </a:cubicBezTo>
                <a:cubicBezTo>
                  <a:pt x="190500" y="2575878"/>
                  <a:pt x="878523" y="3263900"/>
                  <a:pt x="1727200" y="3263900"/>
                </a:cubicBezTo>
                <a:cubicBezTo>
                  <a:pt x="2575878" y="3263900"/>
                  <a:pt x="3263900" y="2575878"/>
                  <a:pt x="3263900" y="1727200"/>
                </a:cubicBezTo>
                <a:cubicBezTo>
                  <a:pt x="3263900" y="878523"/>
                  <a:pt x="2575878" y="190500"/>
                  <a:pt x="1727200" y="190500"/>
                </a:cubicBezTo>
                <a:cubicBezTo>
                  <a:pt x="1674622" y="190500"/>
                  <a:pt x="1631950" y="147828"/>
                  <a:pt x="1631950" y="95250"/>
                </a:cubicBezTo>
                <a:cubicBezTo>
                  <a:pt x="1631950" y="42672"/>
                  <a:pt x="1674622" y="0"/>
                  <a:pt x="17272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bar-3"/>
          <p:cNvSpPr/>
          <p:nvPr/>
        </p:nvSpPr>
        <p:spPr>
          <a:xfrm>
            <a:off x="3329406" y="1917700"/>
            <a:ext cx="2842460" cy="3453113"/>
          </a:xfrm>
          <a:custGeom>
            <a:avLst/>
            <a:gdLst/>
            <a:ahLst/>
            <a:cxnLst/>
            <a:rect l="0" t="0" r="r" b="b"/>
            <a:pathLst>
              <a:path w="2842460" h="3453113">
                <a:moveTo>
                  <a:pt x="1115594" y="0"/>
                </a:moveTo>
                <a:cubicBezTo>
                  <a:pt x="1873848" y="0"/>
                  <a:pt x="2543455" y="494601"/>
                  <a:pt x="2766467" y="1219327"/>
                </a:cubicBezTo>
                <a:cubicBezTo>
                  <a:pt x="2989416" y="1944116"/>
                  <a:pt x="2713572" y="2729548"/>
                  <a:pt x="2086446" y="3155760"/>
                </a:cubicBezTo>
                <a:cubicBezTo>
                  <a:pt x="1459256" y="3581972"/>
                  <a:pt x="627470" y="3549269"/>
                  <a:pt x="35650" y="3075178"/>
                </a:cubicBezTo>
                <a:cubicBezTo>
                  <a:pt x="-5371" y="3042285"/>
                  <a:pt x="-11975" y="2982341"/>
                  <a:pt x="20918" y="2941257"/>
                </a:cubicBezTo>
                <a:cubicBezTo>
                  <a:pt x="53811" y="2900236"/>
                  <a:pt x="113755" y="2893568"/>
                  <a:pt x="154776" y="2926461"/>
                </a:cubicBezTo>
                <a:cubicBezTo>
                  <a:pt x="681318" y="3348292"/>
                  <a:pt x="1421347" y="3377374"/>
                  <a:pt x="1979321" y="2998152"/>
                </a:cubicBezTo>
                <a:cubicBezTo>
                  <a:pt x="2537359" y="2618994"/>
                  <a:pt x="2782723" y="1920176"/>
                  <a:pt x="2584349" y="1275334"/>
                </a:cubicBezTo>
                <a:cubicBezTo>
                  <a:pt x="2385975" y="630555"/>
                  <a:pt x="1790218" y="190500"/>
                  <a:pt x="1115594" y="190500"/>
                </a:cubicBezTo>
                <a:cubicBezTo>
                  <a:pt x="1063016" y="190500"/>
                  <a:pt x="1020344" y="147828"/>
                  <a:pt x="1020344" y="95250"/>
                </a:cubicBezTo>
                <a:cubicBezTo>
                  <a:pt x="1020344" y="42672"/>
                  <a:pt x="1063016" y="0"/>
                  <a:pt x="1115594" y="0"/>
                </a:cubicBezTo>
                <a:close/>
              </a:path>
            </a:pathLst>
          </a:custGeom>
          <a:gradFill rotWithShape="1">
            <a:gsLst>
              <a:gs pos="0">
                <a:srgbClr val="497BB9"/>
              </a:gs>
              <a:gs pos="100000">
                <a:srgbClr val="1B5AA8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bv-3"/>
          <p:cNvSpPr txBox="1"/>
          <p:nvPr/>
        </p:nvSpPr>
        <p:spPr>
          <a:xfrm>
            <a:off x="3449733" y="4924566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81</a:t>
            </a:r>
          </a:p>
        </p:txBody>
      </p:sp>
      <p:sp>
        <p:nvSpPr>
          <p:cNvPr id="31" name="bn-3"/>
          <p:cNvSpPr txBox="1"/>
          <p:nvPr/>
        </p:nvSpPr>
        <p:spPr>
          <a:xfrm>
            <a:off x="3993896" y="1916240"/>
            <a:ext cx="35052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华北</a:t>
            </a:r>
          </a:p>
        </p:txBody>
      </p:sp>
      <p:sp>
        <p:nvSpPr>
          <p:cNvPr id="32" name="bp-3"/>
          <p:cNvSpPr txBox="1"/>
          <p:nvPr/>
        </p:nvSpPr>
        <p:spPr>
          <a:xfrm>
            <a:off x="3737864" y="192557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1B5AA8"/>
                </a:solidFill>
                <a:latin typeface="Arial"/>
                <a:ea typeface="Arial"/>
                <a:cs typeface="Arial"/>
              </a:rPr>
              <a:t>81%</a:t>
            </a:r>
          </a:p>
        </p:txBody>
      </p:sp>
      <p:sp>
        <p:nvSpPr>
          <p:cNvPr id="33" name="trk-4"/>
          <p:cNvSpPr/>
          <p:nvPr/>
        </p:nvSpPr>
        <p:spPr>
          <a:xfrm>
            <a:off x="2984500" y="2184400"/>
            <a:ext cx="2921000" cy="2921000"/>
          </a:xfrm>
          <a:custGeom>
            <a:avLst/>
            <a:gdLst/>
            <a:ahLst/>
            <a:cxnLst/>
            <a:rect l="0" t="0" r="r" b="b"/>
            <a:pathLst>
              <a:path w="2921000" h="2921000">
                <a:moveTo>
                  <a:pt x="1460500" y="0"/>
                </a:moveTo>
                <a:cubicBezTo>
                  <a:pt x="2267140" y="0"/>
                  <a:pt x="2921000" y="653860"/>
                  <a:pt x="2921000" y="1460500"/>
                </a:cubicBezTo>
                <a:cubicBezTo>
                  <a:pt x="2921000" y="2267140"/>
                  <a:pt x="2267140" y="2921000"/>
                  <a:pt x="1460500" y="2921000"/>
                </a:cubicBezTo>
                <a:cubicBezTo>
                  <a:pt x="653860" y="2921000"/>
                  <a:pt x="0" y="2267140"/>
                  <a:pt x="0" y="1460500"/>
                </a:cubicBezTo>
                <a:cubicBezTo>
                  <a:pt x="0" y="1407922"/>
                  <a:pt x="42672" y="1365250"/>
                  <a:pt x="95250" y="1365250"/>
                </a:cubicBezTo>
                <a:cubicBezTo>
                  <a:pt x="147828" y="1365250"/>
                  <a:pt x="190500" y="1407922"/>
                  <a:pt x="190500" y="1460500"/>
                </a:cubicBezTo>
                <a:cubicBezTo>
                  <a:pt x="190500" y="2161921"/>
                  <a:pt x="759079" y="2730500"/>
                  <a:pt x="1460500" y="2730500"/>
                </a:cubicBezTo>
                <a:cubicBezTo>
                  <a:pt x="2161921" y="2730500"/>
                  <a:pt x="2730500" y="2161921"/>
                  <a:pt x="2730500" y="1460500"/>
                </a:cubicBezTo>
                <a:cubicBezTo>
                  <a:pt x="2730500" y="759079"/>
                  <a:pt x="2161921" y="190500"/>
                  <a:pt x="1460500" y="190500"/>
                </a:cubicBezTo>
                <a:cubicBezTo>
                  <a:pt x="1407922" y="190500"/>
                  <a:pt x="1365250" y="147828"/>
                  <a:pt x="1365250" y="95250"/>
                </a:cubicBezTo>
                <a:cubicBezTo>
                  <a:pt x="1365250" y="42672"/>
                  <a:pt x="1407922" y="0"/>
                  <a:pt x="14605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bar-4"/>
          <p:cNvSpPr/>
          <p:nvPr/>
        </p:nvSpPr>
        <p:spPr>
          <a:xfrm>
            <a:off x="3887358" y="2184400"/>
            <a:ext cx="2017534" cy="2920745"/>
          </a:xfrm>
          <a:custGeom>
            <a:avLst/>
            <a:gdLst/>
            <a:ahLst/>
            <a:cxnLst/>
            <a:rect l="0" t="0" r="r" b="b"/>
            <a:pathLst>
              <a:path w="2017534" h="2920745">
                <a:moveTo>
                  <a:pt x="557642" y="0"/>
                </a:moveTo>
                <a:cubicBezTo>
                  <a:pt x="1140001" y="0"/>
                  <a:pt x="1666733" y="346012"/>
                  <a:pt x="1898000" y="880491"/>
                </a:cubicBezTo>
                <a:cubicBezTo>
                  <a:pt x="2129331" y="1414971"/>
                  <a:pt x="2020936" y="2035747"/>
                  <a:pt x="1622283" y="2460308"/>
                </a:cubicBezTo>
                <a:cubicBezTo>
                  <a:pt x="1223630" y="2884805"/>
                  <a:pt x="610855" y="3031934"/>
                  <a:pt x="62914" y="2834640"/>
                </a:cubicBezTo>
                <a:cubicBezTo>
                  <a:pt x="13447" y="2816860"/>
                  <a:pt x="-12270" y="2762250"/>
                  <a:pt x="5573" y="2712784"/>
                </a:cubicBezTo>
                <a:cubicBezTo>
                  <a:pt x="23353" y="2663254"/>
                  <a:pt x="77963" y="2637600"/>
                  <a:pt x="127430" y="2655443"/>
                </a:cubicBezTo>
                <a:cubicBezTo>
                  <a:pt x="603934" y="2826957"/>
                  <a:pt x="1136762" y="2699004"/>
                  <a:pt x="1483409" y="2329878"/>
                </a:cubicBezTo>
                <a:cubicBezTo>
                  <a:pt x="1830119" y="1960690"/>
                  <a:pt x="1924289" y="1420876"/>
                  <a:pt x="1723185" y="956120"/>
                </a:cubicBezTo>
                <a:cubicBezTo>
                  <a:pt x="1522080" y="491363"/>
                  <a:pt x="1064055" y="190500"/>
                  <a:pt x="557642" y="190500"/>
                </a:cubicBezTo>
                <a:cubicBezTo>
                  <a:pt x="505064" y="190500"/>
                  <a:pt x="462392" y="147828"/>
                  <a:pt x="462392" y="95250"/>
                </a:cubicBezTo>
                <a:cubicBezTo>
                  <a:pt x="462392" y="42672"/>
                  <a:pt x="505064" y="0"/>
                  <a:pt x="557642" y="0"/>
                </a:cubicBezTo>
                <a:close/>
              </a:path>
            </a:pathLst>
          </a:custGeom>
          <a:gradFill rotWithShape="1">
            <a:gsLst>
              <a:gs pos="0">
                <a:srgbClr val="5086C5"/>
              </a:gs>
              <a:gs pos="100000">
                <a:srgbClr val="2468B6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bv-4"/>
          <p:cNvSpPr txBox="1"/>
          <p:nvPr/>
        </p:nvSpPr>
        <p:spPr>
          <a:xfrm>
            <a:off x="4006464" y="4886814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74</a:t>
            </a:r>
          </a:p>
        </p:txBody>
      </p:sp>
      <p:sp>
        <p:nvSpPr>
          <p:cNvPr id="36" name="bn-4"/>
          <p:cNvSpPr txBox="1"/>
          <p:nvPr/>
        </p:nvSpPr>
        <p:spPr>
          <a:xfrm>
            <a:off x="3993896" y="2182940"/>
            <a:ext cx="35052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西南</a:t>
            </a:r>
          </a:p>
        </p:txBody>
      </p:sp>
      <p:sp>
        <p:nvSpPr>
          <p:cNvPr id="37" name="bp-4"/>
          <p:cNvSpPr txBox="1"/>
          <p:nvPr/>
        </p:nvSpPr>
        <p:spPr>
          <a:xfrm>
            <a:off x="3737864" y="219227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74%</a:t>
            </a:r>
          </a:p>
        </p:txBody>
      </p:sp>
      <p:sp>
        <p:nvSpPr>
          <p:cNvPr id="38" name="trk-5"/>
          <p:cNvSpPr/>
          <p:nvPr/>
        </p:nvSpPr>
        <p:spPr>
          <a:xfrm>
            <a:off x="3251200" y="2451100"/>
            <a:ext cx="2387600" cy="2387600"/>
          </a:xfrm>
          <a:custGeom>
            <a:avLst/>
            <a:gdLst/>
            <a:ahLst/>
            <a:cxnLst/>
            <a:rect l="0" t="0" r="r" b="b"/>
            <a:pathLst>
              <a:path w="2387600" h="2387600">
                <a:moveTo>
                  <a:pt x="1193800" y="0"/>
                </a:moveTo>
                <a:cubicBezTo>
                  <a:pt x="1853121" y="0"/>
                  <a:pt x="2387600" y="534480"/>
                  <a:pt x="2387600" y="1193800"/>
                </a:cubicBezTo>
                <a:cubicBezTo>
                  <a:pt x="2387600" y="1853121"/>
                  <a:pt x="1853121" y="2387600"/>
                  <a:pt x="1193800" y="2387600"/>
                </a:cubicBezTo>
                <a:cubicBezTo>
                  <a:pt x="534479" y="2387600"/>
                  <a:pt x="0" y="1853121"/>
                  <a:pt x="0" y="1193800"/>
                </a:cubicBezTo>
                <a:cubicBezTo>
                  <a:pt x="0" y="1141222"/>
                  <a:pt x="42672" y="1098550"/>
                  <a:pt x="95250" y="1098550"/>
                </a:cubicBezTo>
                <a:cubicBezTo>
                  <a:pt x="147828" y="1098550"/>
                  <a:pt x="190500" y="1141222"/>
                  <a:pt x="190500" y="1193800"/>
                </a:cubicBezTo>
                <a:cubicBezTo>
                  <a:pt x="190500" y="1747901"/>
                  <a:pt x="639699" y="2197100"/>
                  <a:pt x="1193800" y="2197100"/>
                </a:cubicBezTo>
                <a:cubicBezTo>
                  <a:pt x="1747901" y="2197100"/>
                  <a:pt x="2197100" y="1747901"/>
                  <a:pt x="2197100" y="1193800"/>
                </a:cubicBezTo>
                <a:cubicBezTo>
                  <a:pt x="2197100" y="639699"/>
                  <a:pt x="1747901" y="190500"/>
                  <a:pt x="1193800" y="190500"/>
                </a:cubicBezTo>
                <a:cubicBezTo>
                  <a:pt x="1141222" y="190500"/>
                  <a:pt x="1098550" y="147828"/>
                  <a:pt x="1098550" y="95250"/>
                </a:cubicBezTo>
                <a:cubicBezTo>
                  <a:pt x="1098550" y="42672"/>
                  <a:pt x="1141222" y="0"/>
                  <a:pt x="11938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bar-5"/>
          <p:cNvSpPr/>
          <p:nvPr/>
        </p:nvSpPr>
        <p:spPr>
          <a:xfrm>
            <a:off x="4332478" y="2451100"/>
            <a:ext cx="1306274" cy="2387473"/>
          </a:xfrm>
          <a:custGeom>
            <a:avLst/>
            <a:gdLst/>
            <a:ahLst/>
            <a:cxnLst/>
            <a:rect l="0" t="0" r="r" b="b"/>
            <a:pathLst>
              <a:path w="1306274" h="2387473">
                <a:moveTo>
                  <a:pt x="112522" y="0"/>
                </a:moveTo>
                <a:cubicBezTo>
                  <a:pt x="541274" y="0"/>
                  <a:pt x="937070" y="229933"/>
                  <a:pt x="1149477" y="602298"/>
                </a:cubicBezTo>
                <a:cubicBezTo>
                  <a:pt x="1361885" y="974725"/>
                  <a:pt x="1358329" y="1432433"/>
                  <a:pt x="1140079" y="1801495"/>
                </a:cubicBezTo>
                <a:cubicBezTo>
                  <a:pt x="921830" y="2170557"/>
                  <a:pt x="522478" y="2394204"/>
                  <a:pt x="93789" y="2387473"/>
                </a:cubicBezTo>
                <a:cubicBezTo>
                  <a:pt x="41148" y="2386648"/>
                  <a:pt x="-825" y="2343340"/>
                  <a:pt x="0" y="2290699"/>
                </a:cubicBezTo>
                <a:cubicBezTo>
                  <a:pt x="825" y="2238121"/>
                  <a:pt x="44133" y="2196148"/>
                  <a:pt x="96774" y="2196973"/>
                </a:cubicBezTo>
                <a:cubicBezTo>
                  <a:pt x="457010" y="2202624"/>
                  <a:pt x="792671" y="2014664"/>
                  <a:pt x="976122" y="1704530"/>
                </a:cubicBezTo>
                <a:cubicBezTo>
                  <a:pt x="1159510" y="1394397"/>
                  <a:pt x="1162558" y="1009714"/>
                  <a:pt x="983996" y="696722"/>
                </a:cubicBezTo>
                <a:cubicBezTo>
                  <a:pt x="805498" y="383731"/>
                  <a:pt x="472821" y="190500"/>
                  <a:pt x="112522" y="190500"/>
                </a:cubicBezTo>
                <a:cubicBezTo>
                  <a:pt x="59944" y="190500"/>
                  <a:pt x="17272" y="147828"/>
                  <a:pt x="17272" y="95250"/>
                </a:cubicBezTo>
                <a:cubicBezTo>
                  <a:pt x="17272" y="42672"/>
                  <a:pt x="59944" y="0"/>
                  <a:pt x="112522" y="0"/>
                </a:cubicBezTo>
                <a:close/>
              </a:path>
            </a:pathLst>
          </a:custGeom>
          <a:gradFill rotWithShape="1">
            <a:gsLst>
              <a:gs pos="0">
                <a:srgbClr val="5892CE"/>
              </a:gs>
              <a:gs pos="100000">
                <a:srgbClr val="2E77C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bv-5"/>
          <p:cNvSpPr txBox="1"/>
          <p:nvPr/>
        </p:nvSpPr>
        <p:spPr>
          <a:xfrm>
            <a:off x="4433755" y="4662597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67</a:t>
            </a:r>
          </a:p>
        </p:txBody>
      </p:sp>
      <p:sp>
        <p:nvSpPr>
          <p:cNvPr id="41" name="bn-5"/>
          <p:cNvSpPr txBox="1"/>
          <p:nvPr/>
        </p:nvSpPr>
        <p:spPr>
          <a:xfrm>
            <a:off x="3993896" y="2449640"/>
            <a:ext cx="35052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华中</a:t>
            </a:r>
          </a:p>
        </p:txBody>
      </p:sp>
      <p:sp>
        <p:nvSpPr>
          <p:cNvPr id="42" name="bp-5"/>
          <p:cNvSpPr txBox="1"/>
          <p:nvPr/>
        </p:nvSpPr>
        <p:spPr>
          <a:xfrm>
            <a:off x="3737864" y="245897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67%</a:t>
            </a:r>
          </a:p>
        </p:txBody>
      </p:sp>
      <p:sp>
        <p:nvSpPr>
          <p:cNvPr id="43" name="trk-6"/>
          <p:cNvSpPr/>
          <p:nvPr/>
        </p:nvSpPr>
        <p:spPr>
          <a:xfrm>
            <a:off x="3517900" y="2717800"/>
            <a:ext cx="1854200" cy="1854200"/>
          </a:xfrm>
          <a:custGeom>
            <a:avLst/>
            <a:gdLst/>
            <a:ahLst/>
            <a:cxnLst/>
            <a:rect l="0" t="0" r="r" b="b"/>
            <a:pathLst>
              <a:path w="1854200" h="1854200">
                <a:moveTo>
                  <a:pt x="927100" y="0"/>
                </a:moveTo>
                <a:cubicBezTo>
                  <a:pt x="1439100" y="0"/>
                  <a:pt x="1854200" y="415100"/>
                  <a:pt x="1854200" y="927100"/>
                </a:cubicBezTo>
                <a:cubicBezTo>
                  <a:pt x="1854200" y="1439100"/>
                  <a:pt x="1439100" y="1854200"/>
                  <a:pt x="927100" y="1854200"/>
                </a:cubicBezTo>
                <a:cubicBezTo>
                  <a:pt x="415100" y="1854200"/>
                  <a:pt x="0" y="1439100"/>
                  <a:pt x="0" y="927100"/>
                </a:cubicBezTo>
                <a:cubicBezTo>
                  <a:pt x="0" y="874522"/>
                  <a:pt x="42672" y="831850"/>
                  <a:pt x="95250" y="831850"/>
                </a:cubicBezTo>
                <a:cubicBezTo>
                  <a:pt x="147828" y="831850"/>
                  <a:pt x="190500" y="874522"/>
                  <a:pt x="190500" y="927100"/>
                </a:cubicBezTo>
                <a:cubicBezTo>
                  <a:pt x="190500" y="1333945"/>
                  <a:pt x="520255" y="1663700"/>
                  <a:pt x="927100" y="1663700"/>
                </a:cubicBezTo>
                <a:cubicBezTo>
                  <a:pt x="1333945" y="1663700"/>
                  <a:pt x="1663700" y="1333945"/>
                  <a:pt x="1663700" y="927100"/>
                </a:cubicBezTo>
                <a:cubicBezTo>
                  <a:pt x="1663700" y="520256"/>
                  <a:pt x="1333945" y="190500"/>
                  <a:pt x="927100" y="190500"/>
                </a:cubicBezTo>
                <a:cubicBezTo>
                  <a:pt x="874522" y="190500"/>
                  <a:pt x="831850" y="147828"/>
                  <a:pt x="831850" y="95250"/>
                </a:cubicBezTo>
                <a:cubicBezTo>
                  <a:pt x="831850" y="42672"/>
                  <a:pt x="874522" y="0"/>
                  <a:pt x="92710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bar-6"/>
          <p:cNvSpPr/>
          <p:nvPr/>
        </p:nvSpPr>
        <p:spPr>
          <a:xfrm>
            <a:off x="4349750" y="2717800"/>
            <a:ext cx="1022045" cy="1785797"/>
          </a:xfrm>
          <a:custGeom>
            <a:avLst/>
            <a:gdLst/>
            <a:ahLst/>
            <a:cxnLst/>
            <a:rect l="0" t="0" r="r" b="b"/>
            <a:pathLst>
              <a:path w="1022045" h="1785797">
                <a:moveTo>
                  <a:pt x="95250" y="0"/>
                </a:moveTo>
                <a:cubicBezTo>
                  <a:pt x="534797" y="0"/>
                  <a:pt x="913955" y="308674"/>
                  <a:pt x="1003110" y="739076"/>
                </a:cubicBezTo>
                <a:cubicBezTo>
                  <a:pt x="1092200" y="1169543"/>
                  <a:pt x="866838" y="1603375"/>
                  <a:pt x="463423" y="1777936"/>
                </a:cubicBezTo>
                <a:cubicBezTo>
                  <a:pt x="415163" y="1798828"/>
                  <a:pt x="359092" y="1776666"/>
                  <a:pt x="338201" y="1728343"/>
                </a:cubicBezTo>
                <a:cubicBezTo>
                  <a:pt x="317310" y="1680083"/>
                  <a:pt x="339535" y="1624012"/>
                  <a:pt x="387795" y="1603121"/>
                </a:cubicBezTo>
                <a:cubicBezTo>
                  <a:pt x="708279" y="1464437"/>
                  <a:pt x="887349" y="1119696"/>
                  <a:pt x="816547" y="777748"/>
                </a:cubicBezTo>
                <a:cubicBezTo>
                  <a:pt x="745744" y="435737"/>
                  <a:pt x="444500" y="190500"/>
                  <a:pt x="95250" y="190500"/>
                </a:cubicBezTo>
                <a:cubicBezTo>
                  <a:pt x="42672" y="190500"/>
                  <a:pt x="0" y="147828"/>
                  <a:pt x="0" y="95250"/>
                </a:cubicBez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gradFill rotWithShape="1">
            <a:gsLst>
              <a:gs pos="0">
                <a:srgbClr val="619DD7"/>
              </a:gs>
              <a:gs pos="100000">
                <a:srgbClr val="3985CD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bv-6"/>
          <p:cNvSpPr txBox="1"/>
          <p:nvPr/>
        </p:nvSpPr>
        <p:spPr>
          <a:xfrm>
            <a:off x="4750859" y="4298594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58</a:t>
            </a:r>
          </a:p>
        </p:txBody>
      </p:sp>
      <p:sp>
        <p:nvSpPr>
          <p:cNvPr id="46" name="bn-6"/>
          <p:cNvSpPr txBox="1"/>
          <p:nvPr/>
        </p:nvSpPr>
        <p:spPr>
          <a:xfrm>
            <a:off x="3993896" y="2716340"/>
            <a:ext cx="35052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西北</a:t>
            </a:r>
          </a:p>
        </p:txBody>
      </p:sp>
      <p:sp>
        <p:nvSpPr>
          <p:cNvPr id="47" name="bp-6"/>
          <p:cNvSpPr txBox="1"/>
          <p:nvPr/>
        </p:nvSpPr>
        <p:spPr>
          <a:xfrm>
            <a:off x="3737864" y="272567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58%</a:t>
            </a:r>
          </a:p>
        </p:txBody>
      </p:sp>
      <p:sp>
        <p:nvSpPr>
          <p:cNvPr id="48" name="core"/>
          <p:cNvSpPr/>
          <p:nvPr/>
        </p:nvSpPr>
        <p:spPr>
          <a:xfrm>
            <a:off x="3822700" y="3022600"/>
            <a:ext cx="1244600" cy="1244600"/>
          </a:xfrm>
          <a:prstGeom prst="ellipse">
            <a:avLst/>
          </a:pr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core-v"/>
          <p:cNvSpPr txBox="1"/>
          <p:nvPr/>
        </p:nvSpPr>
        <p:spPr>
          <a:xfrm>
            <a:off x="4150106" y="3387979"/>
            <a:ext cx="589788" cy="4000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8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77%</a:t>
            </a:r>
          </a:p>
        </p:txBody>
      </p:sp>
      <p:sp>
        <p:nvSpPr>
          <p:cNvPr id="50" name="core-l"/>
          <p:cNvSpPr txBox="1"/>
          <p:nvPr/>
        </p:nvSpPr>
        <p:spPr>
          <a:xfrm>
            <a:off x="4166870" y="3751008"/>
            <a:ext cx="5562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5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平均完成率</a:t>
            </a:r>
          </a:p>
        </p:txBody>
      </p:sp>
      <p:sp>
        <p:nvSpPr>
          <p:cNvPr id="51" name="side-bar"/>
          <p:cNvSpPr/>
          <p:nvPr/>
        </p:nvSpPr>
        <p:spPr>
          <a:xfrm>
            <a:off x="7874000" y="14986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side-h"/>
          <p:cNvSpPr txBox="1"/>
          <p:nvPr/>
        </p:nvSpPr>
        <p:spPr>
          <a:xfrm>
            <a:off x="8032750" y="15057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完成情况</a:t>
            </a:r>
          </a:p>
        </p:txBody>
      </p:sp>
      <p:sp>
        <p:nvSpPr>
          <p:cNvPr id="53" name="side-p"/>
          <p:cNvSpPr txBox="1"/>
          <p:nvPr/>
        </p:nvSpPr>
        <p:spPr>
          <a:xfrm>
            <a:off x="8038465" y="1780461"/>
            <a:ext cx="154463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按完成率排序 · 已完成营收</a:t>
            </a:r>
          </a:p>
        </p:txBody>
      </p:sp>
      <p:sp>
        <p:nvSpPr>
          <p:cNvPr id="54" name="r-1"/>
          <p:cNvSpPr/>
          <p:nvPr/>
        </p:nvSpPr>
        <p:spPr>
          <a:xfrm>
            <a:off x="7874000" y="2159000"/>
            <a:ext cx="3365500" cy="393700"/>
          </a:xfrm>
          <a:custGeom>
            <a:avLst/>
            <a:gdLst/>
            <a:ahLst/>
            <a:cxnLst/>
            <a:rect l="0" t="0" r="r" b="b"/>
            <a:pathLst>
              <a:path w="3365500" h="393700">
                <a:moveTo>
                  <a:pt x="101600" y="0"/>
                </a:moveTo>
                <a:lnTo>
                  <a:pt x="3263900" y="0"/>
                </a:lnTo>
                <a:cubicBezTo>
                  <a:pt x="3320034" y="0"/>
                  <a:pt x="3365500" y="45466"/>
                  <a:pt x="3365500" y="101600"/>
                </a:cubicBezTo>
                <a:lnTo>
                  <a:pt x="3365500" y="292100"/>
                </a:lnTo>
                <a:cubicBezTo>
                  <a:pt x="3365500" y="348234"/>
                  <a:pt x="3320034" y="393700"/>
                  <a:pt x="3263900" y="393700"/>
                </a:cubicBezTo>
                <a:lnTo>
                  <a:pt x="101600" y="393700"/>
                </a:lnTo>
                <a:cubicBezTo>
                  <a:pt x="45466" y="393700"/>
                  <a:pt x="0" y="348234"/>
                  <a:pt x="0" y="2921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rb-1"/>
          <p:cNvSpPr/>
          <p:nvPr/>
        </p:nvSpPr>
        <p:spPr>
          <a:xfrm>
            <a:off x="7874000" y="2159000"/>
            <a:ext cx="38100" cy="393700"/>
          </a:xfrm>
          <a:custGeom>
            <a:avLst/>
            <a:gdLst/>
            <a:ahLst/>
            <a:cxnLst/>
            <a:rect l="0" t="0" r="r" b="b"/>
            <a:pathLst>
              <a:path w="38100" h="3937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374650"/>
                </a:lnTo>
                <a:cubicBezTo>
                  <a:pt x="38100" y="385191"/>
                  <a:pt x="29591" y="393700"/>
                  <a:pt x="19050" y="393700"/>
                </a:cubicBezTo>
                <a:lnTo>
                  <a:pt x="19050" y="393700"/>
                </a:lnTo>
                <a:cubicBezTo>
                  <a:pt x="8509" y="393700"/>
                  <a:pt x="0" y="385191"/>
                  <a:pt x="0" y="3746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rn-1"/>
          <p:cNvSpPr txBox="1"/>
          <p:nvPr/>
        </p:nvSpPr>
        <p:spPr>
          <a:xfrm>
            <a:off x="8050022" y="2263997"/>
            <a:ext cx="3689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华东</a:t>
            </a:r>
          </a:p>
        </p:txBody>
      </p:sp>
      <p:sp>
        <p:nvSpPr>
          <p:cNvPr id="57" name="rv-1"/>
          <p:cNvSpPr txBox="1"/>
          <p:nvPr/>
        </p:nvSpPr>
        <p:spPr>
          <a:xfrm>
            <a:off x="8555736" y="2240470"/>
            <a:ext cx="360426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96%</a:t>
            </a:r>
          </a:p>
        </p:txBody>
      </p:sp>
      <p:sp>
        <p:nvSpPr>
          <p:cNvPr id="58" name="ra-1"/>
          <p:cNvSpPr txBox="1"/>
          <p:nvPr/>
        </p:nvSpPr>
        <p:spPr>
          <a:xfrm>
            <a:off x="9244076" y="2271840"/>
            <a:ext cx="54864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18.2 亿</a:t>
            </a:r>
          </a:p>
        </p:txBody>
      </p:sp>
      <p:sp>
        <p:nvSpPr>
          <p:cNvPr id="59" name="rs-1"/>
          <p:cNvSpPr/>
          <p:nvPr/>
        </p:nvSpPr>
        <p:spPr>
          <a:xfrm>
            <a:off x="10541000" y="2260600"/>
            <a:ext cx="533400" cy="190500"/>
          </a:xfrm>
          <a:custGeom>
            <a:avLst/>
            <a:gdLst/>
            <a:ahLst/>
            <a:cxnLst/>
            <a:rect l="0" t="0" r="r" b="b"/>
            <a:pathLst>
              <a:path w="533400" h="190500">
                <a:moveTo>
                  <a:pt x="95250" y="0"/>
                </a:moveTo>
                <a:lnTo>
                  <a:pt x="438150" y="0"/>
                </a:lnTo>
                <a:cubicBezTo>
                  <a:pt x="490728" y="0"/>
                  <a:pt x="533400" y="42672"/>
                  <a:pt x="533400" y="95250"/>
                </a:cubicBezTo>
                <a:lnTo>
                  <a:pt x="533400" y="95250"/>
                </a:lnTo>
                <a:cubicBezTo>
                  <a:pt x="533400" y="147828"/>
                  <a:pt x="490728" y="190500"/>
                  <a:pt x="4381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134C9C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rst-1"/>
          <p:cNvSpPr txBox="1"/>
          <p:nvPr/>
        </p:nvSpPr>
        <p:spPr>
          <a:xfrm>
            <a:off x="10667841" y="2280237"/>
            <a:ext cx="2797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50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达线</a:t>
            </a:r>
          </a:p>
        </p:txBody>
      </p:sp>
      <p:sp>
        <p:nvSpPr>
          <p:cNvPr id="61" name="r-2"/>
          <p:cNvSpPr/>
          <p:nvPr/>
        </p:nvSpPr>
        <p:spPr>
          <a:xfrm>
            <a:off x="7874000" y="2641600"/>
            <a:ext cx="3365500" cy="393700"/>
          </a:xfrm>
          <a:custGeom>
            <a:avLst/>
            <a:gdLst/>
            <a:ahLst/>
            <a:cxnLst/>
            <a:rect l="0" t="0" r="r" b="b"/>
            <a:pathLst>
              <a:path w="3365500" h="393700">
                <a:moveTo>
                  <a:pt x="101600" y="0"/>
                </a:moveTo>
                <a:lnTo>
                  <a:pt x="3263900" y="0"/>
                </a:lnTo>
                <a:cubicBezTo>
                  <a:pt x="3320034" y="0"/>
                  <a:pt x="3365500" y="45466"/>
                  <a:pt x="3365500" y="101600"/>
                </a:cubicBezTo>
                <a:lnTo>
                  <a:pt x="3365500" y="292100"/>
                </a:lnTo>
                <a:cubicBezTo>
                  <a:pt x="3365500" y="348234"/>
                  <a:pt x="3320034" y="393700"/>
                  <a:pt x="3263900" y="393700"/>
                </a:cubicBezTo>
                <a:lnTo>
                  <a:pt x="101600" y="393700"/>
                </a:lnTo>
                <a:cubicBezTo>
                  <a:pt x="45466" y="393700"/>
                  <a:pt x="0" y="348234"/>
                  <a:pt x="0" y="2921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rb-2"/>
          <p:cNvSpPr/>
          <p:nvPr/>
        </p:nvSpPr>
        <p:spPr>
          <a:xfrm>
            <a:off x="7874000" y="2641600"/>
            <a:ext cx="38100" cy="393700"/>
          </a:xfrm>
          <a:custGeom>
            <a:avLst/>
            <a:gdLst/>
            <a:ahLst/>
            <a:cxnLst/>
            <a:rect l="0" t="0" r="r" b="b"/>
            <a:pathLst>
              <a:path w="38100" h="3937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374650"/>
                </a:lnTo>
                <a:cubicBezTo>
                  <a:pt x="38100" y="385191"/>
                  <a:pt x="29591" y="393700"/>
                  <a:pt x="19050" y="393700"/>
                </a:cubicBezTo>
                <a:lnTo>
                  <a:pt x="19050" y="393700"/>
                </a:lnTo>
                <a:cubicBezTo>
                  <a:pt x="8509" y="393700"/>
                  <a:pt x="0" y="385191"/>
                  <a:pt x="0" y="3746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rn-2"/>
          <p:cNvSpPr txBox="1"/>
          <p:nvPr/>
        </p:nvSpPr>
        <p:spPr>
          <a:xfrm>
            <a:off x="8050022" y="2746597"/>
            <a:ext cx="3689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华南</a:t>
            </a:r>
          </a:p>
        </p:txBody>
      </p:sp>
      <p:sp>
        <p:nvSpPr>
          <p:cNvPr id="64" name="rv-2"/>
          <p:cNvSpPr txBox="1"/>
          <p:nvPr/>
        </p:nvSpPr>
        <p:spPr>
          <a:xfrm>
            <a:off x="8555736" y="2723070"/>
            <a:ext cx="360426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88%</a:t>
            </a:r>
          </a:p>
        </p:txBody>
      </p:sp>
      <p:sp>
        <p:nvSpPr>
          <p:cNvPr id="65" name="ra-2"/>
          <p:cNvSpPr txBox="1"/>
          <p:nvPr/>
        </p:nvSpPr>
        <p:spPr>
          <a:xfrm>
            <a:off x="9244076" y="2754440"/>
            <a:ext cx="54864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12.6 亿</a:t>
            </a:r>
          </a:p>
        </p:txBody>
      </p:sp>
      <p:sp>
        <p:nvSpPr>
          <p:cNvPr id="66" name="rs-2"/>
          <p:cNvSpPr/>
          <p:nvPr/>
        </p:nvSpPr>
        <p:spPr>
          <a:xfrm>
            <a:off x="10541000" y="2743200"/>
            <a:ext cx="533400" cy="190500"/>
          </a:xfrm>
          <a:custGeom>
            <a:avLst/>
            <a:gdLst/>
            <a:ahLst/>
            <a:cxnLst/>
            <a:rect l="0" t="0" r="r" b="b"/>
            <a:pathLst>
              <a:path w="533400" h="190500">
                <a:moveTo>
                  <a:pt x="95250" y="0"/>
                </a:moveTo>
                <a:lnTo>
                  <a:pt x="438150" y="0"/>
                </a:lnTo>
                <a:cubicBezTo>
                  <a:pt x="490728" y="0"/>
                  <a:pt x="533400" y="42672"/>
                  <a:pt x="533400" y="95250"/>
                </a:cubicBezTo>
                <a:lnTo>
                  <a:pt x="533400" y="95250"/>
                </a:lnTo>
                <a:cubicBezTo>
                  <a:pt x="533400" y="147828"/>
                  <a:pt x="490728" y="190500"/>
                  <a:pt x="4381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134C9C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rst-2"/>
          <p:cNvSpPr txBox="1"/>
          <p:nvPr/>
        </p:nvSpPr>
        <p:spPr>
          <a:xfrm>
            <a:off x="10667841" y="2762837"/>
            <a:ext cx="2797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50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达线</a:t>
            </a:r>
          </a:p>
        </p:txBody>
      </p:sp>
      <p:sp>
        <p:nvSpPr>
          <p:cNvPr id="68" name="r-3"/>
          <p:cNvSpPr/>
          <p:nvPr/>
        </p:nvSpPr>
        <p:spPr>
          <a:xfrm>
            <a:off x="7874000" y="3124200"/>
            <a:ext cx="3365500" cy="393700"/>
          </a:xfrm>
          <a:custGeom>
            <a:avLst/>
            <a:gdLst/>
            <a:ahLst/>
            <a:cxnLst/>
            <a:rect l="0" t="0" r="r" b="b"/>
            <a:pathLst>
              <a:path w="3365500" h="393700">
                <a:moveTo>
                  <a:pt x="101600" y="0"/>
                </a:moveTo>
                <a:lnTo>
                  <a:pt x="3263900" y="0"/>
                </a:lnTo>
                <a:cubicBezTo>
                  <a:pt x="3320034" y="0"/>
                  <a:pt x="3365500" y="45466"/>
                  <a:pt x="3365500" y="101600"/>
                </a:cubicBezTo>
                <a:lnTo>
                  <a:pt x="3365500" y="292100"/>
                </a:lnTo>
                <a:cubicBezTo>
                  <a:pt x="3365500" y="348234"/>
                  <a:pt x="3320034" y="393700"/>
                  <a:pt x="3263900" y="393700"/>
                </a:cubicBezTo>
                <a:lnTo>
                  <a:pt x="101600" y="393700"/>
                </a:lnTo>
                <a:cubicBezTo>
                  <a:pt x="45466" y="393700"/>
                  <a:pt x="0" y="348234"/>
                  <a:pt x="0" y="2921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rb-3"/>
          <p:cNvSpPr/>
          <p:nvPr/>
        </p:nvSpPr>
        <p:spPr>
          <a:xfrm>
            <a:off x="7874000" y="3124200"/>
            <a:ext cx="38100" cy="393700"/>
          </a:xfrm>
          <a:custGeom>
            <a:avLst/>
            <a:gdLst/>
            <a:ahLst/>
            <a:cxnLst/>
            <a:rect l="0" t="0" r="r" b="b"/>
            <a:pathLst>
              <a:path w="38100" h="3937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374650"/>
                </a:lnTo>
                <a:cubicBezTo>
                  <a:pt x="38100" y="385191"/>
                  <a:pt x="29591" y="393700"/>
                  <a:pt x="19050" y="393700"/>
                </a:cubicBezTo>
                <a:lnTo>
                  <a:pt x="19050" y="393700"/>
                </a:lnTo>
                <a:cubicBezTo>
                  <a:pt x="8509" y="393700"/>
                  <a:pt x="0" y="385191"/>
                  <a:pt x="0" y="3746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rn-3"/>
          <p:cNvSpPr txBox="1"/>
          <p:nvPr/>
        </p:nvSpPr>
        <p:spPr>
          <a:xfrm>
            <a:off x="8050022" y="3229197"/>
            <a:ext cx="3689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华北</a:t>
            </a:r>
          </a:p>
        </p:txBody>
      </p:sp>
      <p:sp>
        <p:nvSpPr>
          <p:cNvPr id="71" name="rv-3"/>
          <p:cNvSpPr txBox="1"/>
          <p:nvPr/>
        </p:nvSpPr>
        <p:spPr>
          <a:xfrm>
            <a:off x="8555736" y="3205671"/>
            <a:ext cx="360426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B5AA8"/>
                </a:solidFill>
                <a:latin typeface="Arial"/>
                <a:ea typeface="Arial"/>
                <a:cs typeface="Arial"/>
              </a:rPr>
              <a:t>81%</a:t>
            </a:r>
          </a:p>
        </p:txBody>
      </p:sp>
      <p:sp>
        <p:nvSpPr>
          <p:cNvPr id="72" name="ra-3"/>
          <p:cNvSpPr txBox="1"/>
          <p:nvPr/>
        </p:nvSpPr>
        <p:spPr>
          <a:xfrm>
            <a:off x="9244076" y="3237040"/>
            <a:ext cx="54864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10.4 亿</a:t>
            </a:r>
          </a:p>
        </p:txBody>
      </p:sp>
      <p:sp>
        <p:nvSpPr>
          <p:cNvPr id="73" name="rs-3"/>
          <p:cNvSpPr/>
          <p:nvPr/>
        </p:nvSpPr>
        <p:spPr>
          <a:xfrm>
            <a:off x="10541000" y="3225800"/>
            <a:ext cx="533400" cy="190500"/>
          </a:xfrm>
          <a:custGeom>
            <a:avLst/>
            <a:gdLst/>
            <a:ahLst/>
            <a:cxnLst/>
            <a:rect l="0" t="0" r="r" b="b"/>
            <a:pathLst>
              <a:path w="533400" h="190500">
                <a:moveTo>
                  <a:pt x="95250" y="0"/>
                </a:moveTo>
                <a:lnTo>
                  <a:pt x="438150" y="0"/>
                </a:lnTo>
                <a:cubicBezTo>
                  <a:pt x="490728" y="0"/>
                  <a:pt x="533400" y="42672"/>
                  <a:pt x="533400" y="95250"/>
                </a:cubicBezTo>
                <a:lnTo>
                  <a:pt x="533400" y="95250"/>
                </a:lnTo>
                <a:cubicBezTo>
                  <a:pt x="533400" y="147828"/>
                  <a:pt x="490728" y="190500"/>
                  <a:pt x="4381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134C9C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rst-3"/>
          <p:cNvSpPr txBox="1"/>
          <p:nvPr/>
        </p:nvSpPr>
        <p:spPr>
          <a:xfrm>
            <a:off x="10667841" y="3245437"/>
            <a:ext cx="2797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50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达线</a:t>
            </a:r>
          </a:p>
        </p:txBody>
      </p:sp>
      <p:sp>
        <p:nvSpPr>
          <p:cNvPr id="75" name="r-4"/>
          <p:cNvSpPr/>
          <p:nvPr/>
        </p:nvSpPr>
        <p:spPr>
          <a:xfrm>
            <a:off x="7874000" y="3606800"/>
            <a:ext cx="3365500" cy="393700"/>
          </a:xfrm>
          <a:custGeom>
            <a:avLst/>
            <a:gdLst/>
            <a:ahLst/>
            <a:cxnLst/>
            <a:rect l="0" t="0" r="r" b="b"/>
            <a:pathLst>
              <a:path w="3365500" h="393700">
                <a:moveTo>
                  <a:pt x="101600" y="0"/>
                </a:moveTo>
                <a:lnTo>
                  <a:pt x="3263900" y="0"/>
                </a:lnTo>
                <a:cubicBezTo>
                  <a:pt x="3320034" y="0"/>
                  <a:pt x="3365500" y="45466"/>
                  <a:pt x="3365500" y="101600"/>
                </a:cubicBezTo>
                <a:lnTo>
                  <a:pt x="3365500" y="292100"/>
                </a:lnTo>
                <a:cubicBezTo>
                  <a:pt x="3365500" y="348234"/>
                  <a:pt x="3320034" y="393700"/>
                  <a:pt x="3263900" y="393700"/>
                </a:cubicBezTo>
                <a:lnTo>
                  <a:pt x="101600" y="393700"/>
                </a:lnTo>
                <a:cubicBezTo>
                  <a:pt x="45466" y="393700"/>
                  <a:pt x="0" y="348234"/>
                  <a:pt x="0" y="2921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rb-4"/>
          <p:cNvSpPr/>
          <p:nvPr/>
        </p:nvSpPr>
        <p:spPr>
          <a:xfrm>
            <a:off x="7874000" y="3606800"/>
            <a:ext cx="38100" cy="393700"/>
          </a:xfrm>
          <a:custGeom>
            <a:avLst/>
            <a:gdLst/>
            <a:ahLst/>
            <a:cxnLst/>
            <a:rect l="0" t="0" r="r" b="b"/>
            <a:pathLst>
              <a:path w="38100" h="3937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374650"/>
                </a:lnTo>
                <a:cubicBezTo>
                  <a:pt x="38100" y="385191"/>
                  <a:pt x="29591" y="393700"/>
                  <a:pt x="19050" y="393700"/>
                </a:cubicBezTo>
                <a:lnTo>
                  <a:pt x="19050" y="393700"/>
                </a:lnTo>
                <a:cubicBezTo>
                  <a:pt x="8509" y="393700"/>
                  <a:pt x="0" y="385191"/>
                  <a:pt x="0" y="3746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rn-4"/>
          <p:cNvSpPr txBox="1"/>
          <p:nvPr/>
        </p:nvSpPr>
        <p:spPr>
          <a:xfrm>
            <a:off x="8050022" y="3711797"/>
            <a:ext cx="3689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西南</a:t>
            </a:r>
          </a:p>
        </p:txBody>
      </p:sp>
      <p:sp>
        <p:nvSpPr>
          <p:cNvPr id="78" name="rv-4"/>
          <p:cNvSpPr txBox="1"/>
          <p:nvPr/>
        </p:nvSpPr>
        <p:spPr>
          <a:xfrm>
            <a:off x="8555736" y="3688271"/>
            <a:ext cx="360426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74%</a:t>
            </a:r>
          </a:p>
        </p:txBody>
      </p:sp>
      <p:sp>
        <p:nvSpPr>
          <p:cNvPr id="79" name="ra-4"/>
          <p:cNvSpPr txBox="1"/>
          <p:nvPr/>
        </p:nvSpPr>
        <p:spPr>
          <a:xfrm>
            <a:off x="9309989" y="3719640"/>
            <a:ext cx="482727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6.8 亿</a:t>
            </a:r>
          </a:p>
        </p:txBody>
      </p:sp>
      <p:sp>
        <p:nvSpPr>
          <p:cNvPr id="80" name="rs-4"/>
          <p:cNvSpPr/>
          <p:nvPr/>
        </p:nvSpPr>
        <p:spPr>
          <a:xfrm>
            <a:off x="10541000" y="3708400"/>
            <a:ext cx="533400" cy="190500"/>
          </a:xfrm>
          <a:custGeom>
            <a:avLst/>
            <a:gdLst/>
            <a:ahLst/>
            <a:cxnLst/>
            <a:rect l="0" t="0" r="r" b="b"/>
            <a:pathLst>
              <a:path w="533400" h="190500">
                <a:moveTo>
                  <a:pt x="95250" y="0"/>
                </a:moveTo>
                <a:lnTo>
                  <a:pt x="438150" y="0"/>
                </a:lnTo>
                <a:cubicBezTo>
                  <a:pt x="490728" y="0"/>
                  <a:pt x="533400" y="42672"/>
                  <a:pt x="533400" y="95250"/>
                </a:cubicBezTo>
                <a:lnTo>
                  <a:pt x="533400" y="95250"/>
                </a:lnTo>
                <a:cubicBezTo>
                  <a:pt x="533400" y="147828"/>
                  <a:pt x="490728" y="190500"/>
                  <a:pt x="4381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rst-4"/>
          <p:cNvSpPr txBox="1"/>
          <p:nvPr/>
        </p:nvSpPr>
        <p:spPr>
          <a:xfrm>
            <a:off x="10618629" y="3728037"/>
            <a:ext cx="37814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待追赶</a:t>
            </a:r>
          </a:p>
        </p:txBody>
      </p:sp>
      <p:sp>
        <p:nvSpPr>
          <p:cNvPr id="82" name="r-5"/>
          <p:cNvSpPr/>
          <p:nvPr/>
        </p:nvSpPr>
        <p:spPr>
          <a:xfrm>
            <a:off x="7874000" y="4089400"/>
            <a:ext cx="3365500" cy="393700"/>
          </a:xfrm>
          <a:custGeom>
            <a:avLst/>
            <a:gdLst/>
            <a:ahLst/>
            <a:cxnLst/>
            <a:rect l="0" t="0" r="r" b="b"/>
            <a:pathLst>
              <a:path w="3365500" h="393700">
                <a:moveTo>
                  <a:pt x="101600" y="0"/>
                </a:moveTo>
                <a:lnTo>
                  <a:pt x="3263900" y="0"/>
                </a:lnTo>
                <a:cubicBezTo>
                  <a:pt x="3320034" y="0"/>
                  <a:pt x="3365500" y="45466"/>
                  <a:pt x="3365500" y="101600"/>
                </a:cubicBezTo>
                <a:lnTo>
                  <a:pt x="3365500" y="292100"/>
                </a:lnTo>
                <a:cubicBezTo>
                  <a:pt x="3365500" y="348234"/>
                  <a:pt x="3320034" y="393700"/>
                  <a:pt x="3263900" y="393700"/>
                </a:cubicBezTo>
                <a:lnTo>
                  <a:pt x="101600" y="393700"/>
                </a:lnTo>
                <a:cubicBezTo>
                  <a:pt x="45466" y="393700"/>
                  <a:pt x="0" y="348234"/>
                  <a:pt x="0" y="2921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rb-5"/>
          <p:cNvSpPr/>
          <p:nvPr/>
        </p:nvSpPr>
        <p:spPr>
          <a:xfrm>
            <a:off x="7874000" y="4089400"/>
            <a:ext cx="38100" cy="393700"/>
          </a:xfrm>
          <a:custGeom>
            <a:avLst/>
            <a:gdLst/>
            <a:ahLst/>
            <a:cxnLst/>
            <a:rect l="0" t="0" r="r" b="b"/>
            <a:pathLst>
              <a:path w="38100" h="3937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374650"/>
                </a:lnTo>
                <a:cubicBezTo>
                  <a:pt x="38100" y="385191"/>
                  <a:pt x="29591" y="393700"/>
                  <a:pt x="19050" y="393700"/>
                </a:cubicBezTo>
                <a:lnTo>
                  <a:pt x="19050" y="393700"/>
                </a:lnTo>
                <a:cubicBezTo>
                  <a:pt x="8509" y="393700"/>
                  <a:pt x="0" y="385191"/>
                  <a:pt x="0" y="3746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rn-5"/>
          <p:cNvSpPr txBox="1"/>
          <p:nvPr/>
        </p:nvSpPr>
        <p:spPr>
          <a:xfrm>
            <a:off x="8050022" y="4194397"/>
            <a:ext cx="3689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华中</a:t>
            </a:r>
          </a:p>
        </p:txBody>
      </p:sp>
      <p:sp>
        <p:nvSpPr>
          <p:cNvPr id="85" name="rv-5"/>
          <p:cNvSpPr txBox="1"/>
          <p:nvPr/>
        </p:nvSpPr>
        <p:spPr>
          <a:xfrm>
            <a:off x="8555736" y="4170871"/>
            <a:ext cx="360426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67%</a:t>
            </a:r>
          </a:p>
        </p:txBody>
      </p:sp>
      <p:sp>
        <p:nvSpPr>
          <p:cNvPr id="86" name="ra-5"/>
          <p:cNvSpPr txBox="1"/>
          <p:nvPr/>
        </p:nvSpPr>
        <p:spPr>
          <a:xfrm>
            <a:off x="9309989" y="4202240"/>
            <a:ext cx="482727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5.9 亿</a:t>
            </a:r>
          </a:p>
        </p:txBody>
      </p:sp>
      <p:sp>
        <p:nvSpPr>
          <p:cNvPr id="87" name="rs-5"/>
          <p:cNvSpPr/>
          <p:nvPr/>
        </p:nvSpPr>
        <p:spPr>
          <a:xfrm>
            <a:off x="10541000" y="4191000"/>
            <a:ext cx="533400" cy="190500"/>
          </a:xfrm>
          <a:custGeom>
            <a:avLst/>
            <a:gdLst/>
            <a:ahLst/>
            <a:cxnLst/>
            <a:rect l="0" t="0" r="r" b="b"/>
            <a:pathLst>
              <a:path w="533400" h="190500">
                <a:moveTo>
                  <a:pt x="95250" y="0"/>
                </a:moveTo>
                <a:lnTo>
                  <a:pt x="438150" y="0"/>
                </a:lnTo>
                <a:cubicBezTo>
                  <a:pt x="490728" y="0"/>
                  <a:pt x="533400" y="42672"/>
                  <a:pt x="533400" y="95250"/>
                </a:cubicBezTo>
                <a:lnTo>
                  <a:pt x="533400" y="95250"/>
                </a:lnTo>
                <a:cubicBezTo>
                  <a:pt x="533400" y="147828"/>
                  <a:pt x="490728" y="190500"/>
                  <a:pt x="4381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rst-5"/>
          <p:cNvSpPr txBox="1"/>
          <p:nvPr/>
        </p:nvSpPr>
        <p:spPr>
          <a:xfrm>
            <a:off x="10618629" y="4210637"/>
            <a:ext cx="37814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待追赶</a:t>
            </a:r>
          </a:p>
        </p:txBody>
      </p:sp>
      <p:sp>
        <p:nvSpPr>
          <p:cNvPr id="89" name="r-6"/>
          <p:cNvSpPr/>
          <p:nvPr/>
        </p:nvSpPr>
        <p:spPr>
          <a:xfrm>
            <a:off x="7874000" y="4572000"/>
            <a:ext cx="3365500" cy="393700"/>
          </a:xfrm>
          <a:custGeom>
            <a:avLst/>
            <a:gdLst/>
            <a:ahLst/>
            <a:cxnLst/>
            <a:rect l="0" t="0" r="r" b="b"/>
            <a:pathLst>
              <a:path w="3365500" h="393700">
                <a:moveTo>
                  <a:pt x="101600" y="0"/>
                </a:moveTo>
                <a:lnTo>
                  <a:pt x="3263900" y="0"/>
                </a:lnTo>
                <a:cubicBezTo>
                  <a:pt x="3320034" y="0"/>
                  <a:pt x="3365500" y="45466"/>
                  <a:pt x="3365500" y="101600"/>
                </a:cubicBezTo>
                <a:lnTo>
                  <a:pt x="3365500" y="292100"/>
                </a:lnTo>
                <a:cubicBezTo>
                  <a:pt x="3365500" y="348234"/>
                  <a:pt x="3320034" y="393700"/>
                  <a:pt x="3263900" y="393700"/>
                </a:cubicBezTo>
                <a:lnTo>
                  <a:pt x="101600" y="393700"/>
                </a:lnTo>
                <a:cubicBezTo>
                  <a:pt x="45466" y="393700"/>
                  <a:pt x="0" y="348234"/>
                  <a:pt x="0" y="2921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rb-6"/>
          <p:cNvSpPr/>
          <p:nvPr/>
        </p:nvSpPr>
        <p:spPr>
          <a:xfrm>
            <a:off x="7874000" y="4572000"/>
            <a:ext cx="38100" cy="393700"/>
          </a:xfrm>
          <a:custGeom>
            <a:avLst/>
            <a:gdLst/>
            <a:ahLst/>
            <a:cxnLst/>
            <a:rect l="0" t="0" r="r" b="b"/>
            <a:pathLst>
              <a:path w="38100" h="3937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374650"/>
                </a:lnTo>
                <a:cubicBezTo>
                  <a:pt x="38100" y="385191"/>
                  <a:pt x="29591" y="393700"/>
                  <a:pt x="19050" y="393700"/>
                </a:cubicBezTo>
                <a:lnTo>
                  <a:pt x="19050" y="393700"/>
                </a:lnTo>
                <a:cubicBezTo>
                  <a:pt x="8509" y="393700"/>
                  <a:pt x="0" y="385191"/>
                  <a:pt x="0" y="3746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rn-6"/>
          <p:cNvSpPr txBox="1"/>
          <p:nvPr/>
        </p:nvSpPr>
        <p:spPr>
          <a:xfrm>
            <a:off x="8050022" y="4676997"/>
            <a:ext cx="3689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西北</a:t>
            </a:r>
          </a:p>
        </p:txBody>
      </p:sp>
      <p:sp>
        <p:nvSpPr>
          <p:cNvPr id="92" name="rv-6"/>
          <p:cNvSpPr txBox="1"/>
          <p:nvPr/>
        </p:nvSpPr>
        <p:spPr>
          <a:xfrm>
            <a:off x="8555736" y="4653470"/>
            <a:ext cx="360426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58%</a:t>
            </a:r>
          </a:p>
        </p:txBody>
      </p:sp>
      <p:sp>
        <p:nvSpPr>
          <p:cNvPr id="93" name="ra-6"/>
          <p:cNvSpPr txBox="1"/>
          <p:nvPr/>
        </p:nvSpPr>
        <p:spPr>
          <a:xfrm>
            <a:off x="9309989" y="4684840"/>
            <a:ext cx="482727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3.1 亿</a:t>
            </a:r>
          </a:p>
        </p:txBody>
      </p:sp>
      <p:sp>
        <p:nvSpPr>
          <p:cNvPr id="94" name="rs-6"/>
          <p:cNvSpPr/>
          <p:nvPr/>
        </p:nvSpPr>
        <p:spPr>
          <a:xfrm>
            <a:off x="10541000" y="4673600"/>
            <a:ext cx="533400" cy="190500"/>
          </a:xfrm>
          <a:custGeom>
            <a:avLst/>
            <a:gdLst/>
            <a:ahLst/>
            <a:cxnLst/>
            <a:rect l="0" t="0" r="r" b="b"/>
            <a:pathLst>
              <a:path w="533400" h="190500">
                <a:moveTo>
                  <a:pt x="95250" y="0"/>
                </a:moveTo>
                <a:lnTo>
                  <a:pt x="438150" y="0"/>
                </a:lnTo>
                <a:cubicBezTo>
                  <a:pt x="490728" y="0"/>
                  <a:pt x="533400" y="42672"/>
                  <a:pt x="533400" y="95250"/>
                </a:cubicBezTo>
                <a:lnTo>
                  <a:pt x="533400" y="95250"/>
                </a:lnTo>
                <a:cubicBezTo>
                  <a:pt x="533400" y="147828"/>
                  <a:pt x="490728" y="190500"/>
                  <a:pt x="4381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rst-6"/>
          <p:cNvSpPr txBox="1"/>
          <p:nvPr/>
        </p:nvSpPr>
        <p:spPr>
          <a:xfrm>
            <a:off x="10618629" y="4693237"/>
            <a:ext cx="37814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待追赶</a:t>
            </a:r>
          </a:p>
        </p:txBody>
      </p:sp>
      <p:sp>
        <p:nvSpPr>
          <p:cNvPr id="96" name="sum"/>
          <p:cNvSpPr/>
          <p:nvPr/>
        </p:nvSpPr>
        <p:spPr>
          <a:xfrm>
            <a:off x="7874000" y="5181600"/>
            <a:ext cx="3365500" cy="698500"/>
          </a:xfrm>
          <a:custGeom>
            <a:avLst/>
            <a:gdLst/>
            <a:ahLst/>
            <a:cxnLst/>
            <a:rect l="0" t="0" r="r" b="b"/>
            <a:pathLst>
              <a:path w="3365500" h="698500">
                <a:moveTo>
                  <a:pt x="114300" y="0"/>
                </a:moveTo>
                <a:lnTo>
                  <a:pt x="3251200" y="0"/>
                </a:lnTo>
                <a:cubicBezTo>
                  <a:pt x="3314319" y="0"/>
                  <a:pt x="3365500" y="51181"/>
                  <a:pt x="3365500" y="114300"/>
                </a:cubicBezTo>
                <a:lnTo>
                  <a:pt x="3365500" y="584200"/>
                </a:lnTo>
                <a:cubicBezTo>
                  <a:pt x="3365500" y="647319"/>
                  <a:pt x="3314319" y="698500"/>
                  <a:pt x="3251200" y="698500"/>
                </a:cubicBezTo>
                <a:lnTo>
                  <a:pt x="114300" y="698500"/>
                </a:lnTo>
                <a:cubicBezTo>
                  <a:pt x="51181" y="698500"/>
                  <a:pt x="0" y="647319"/>
                  <a:pt x="0" y="5842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sum-bar"/>
          <p:cNvSpPr/>
          <p:nvPr/>
        </p:nvSpPr>
        <p:spPr>
          <a:xfrm>
            <a:off x="7874000" y="5181600"/>
            <a:ext cx="31750" cy="6985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sum-h"/>
          <p:cNvSpPr txBox="1"/>
          <p:nvPr/>
        </p:nvSpPr>
        <p:spPr>
          <a:xfrm>
            <a:off x="8038084" y="5294440"/>
            <a:ext cx="6108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冲刺建议</a:t>
            </a:r>
          </a:p>
        </p:txBody>
      </p:sp>
      <p:sp>
        <p:nvSpPr>
          <p:cNvPr id="99" name="sum-p1"/>
          <p:cNvSpPr txBox="1"/>
          <p:nvPr/>
        </p:nvSpPr>
        <p:spPr>
          <a:xfrm>
            <a:off x="8038465" y="5539661"/>
            <a:ext cx="159988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80% 线以下的三个大区四季度</a:t>
            </a:r>
          </a:p>
        </p:txBody>
      </p:sp>
      <p:sp>
        <p:nvSpPr>
          <p:cNvPr id="100" name="sum-p2"/>
          <p:cNvSpPr txBox="1"/>
          <p:nvPr/>
        </p:nvSpPr>
        <p:spPr>
          <a:xfrm>
            <a:off x="8038465" y="5704761"/>
            <a:ext cx="155098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集中投放 60% 的市场预算。</a:t>
            </a:r>
          </a:p>
        </p:txBody>
      </p:sp>
      <p:cxnSp>
        <p:nvCxnSpPr>
          <p:cNvPr id="101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2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环形条形图 · 六个大区</a:t>
            </a:r>
          </a:p>
        </p:txBody>
      </p:sp>
      <p:sp>
        <p:nvSpPr>
          <p:cNvPr id="103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各职级薪酬带宽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44589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RANGE BAR CHART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075295" y="673132"/>
            <a:ext cx="35454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条形是本公司的薪酬区间，菱形是市场中位值——初级偏低、高级偏高</a:t>
            </a:r>
          </a:p>
        </p:txBody>
      </p:sp>
      <p:cxnSp>
        <p:nvCxnSpPr>
          <p:cNvPr id="10" name="g-0"/>
          <p:cNvCxnSpPr/>
          <p:nvPr/>
        </p:nvCxnSpPr>
        <p:spPr>
          <a:xfrm>
            <a:off x="2540000" y="1600200"/>
            <a:ext cx="0" cy="37719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gt-0"/>
          <p:cNvSpPr txBox="1"/>
          <p:nvPr/>
        </p:nvSpPr>
        <p:spPr>
          <a:xfrm>
            <a:off x="2465832" y="54244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0</a:t>
            </a:r>
          </a:p>
        </p:txBody>
      </p:sp>
      <p:cxnSp>
        <p:nvCxnSpPr>
          <p:cNvPr id="12" name="g-20"/>
          <p:cNvCxnSpPr/>
          <p:nvPr/>
        </p:nvCxnSpPr>
        <p:spPr>
          <a:xfrm>
            <a:off x="3532909" y="1600200"/>
            <a:ext cx="0" cy="37719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gt-20"/>
          <p:cNvSpPr txBox="1"/>
          <p:nvPr/>
        </p:nvSpPr>
        <p:spPr>
          <a:xfrm>
            <a:off x="3430293" y="54244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20</a:t>
            </a:r>
          </a:p>
        </p:txBody>
      </p:sp>
      <p:cxnSp>
        <p:nvCxnSpPr>
          <p:cNvPr id="14" name="g-40"/>
          <p:cNvCxnSpPr/>
          <p:nvPr/>
        </p:nvCxnSpPr>
        <p:spPr>
          <a:xfrm>
            <a:off x="4525818" y="1600200"/>
            <a:ext cx="0" cy="37719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gt-40"/>
          <p:cNvSpPr txBox="1"/>
          <p:nvPr/>
        </p:nvSpPr>
        <p:spPr>
          <a:xfrm>
            <a:off x="4423202" y="54244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40</a:t>
            </a:r>
          </a:p>
        </p:txBody>
      </p:sp>
      <p:cxnSp>
        <p:nvCxnSpPr>
          <p:cNvPr id="16" name="g-60"/>
          <p:cNvCxnSpPr/>
          <p:nvPr/>
        </p:nvCxnSpPr>
        <p:spPr>
          <a:xfrm>
            <a:off x="5518727" y="1600200"/>
            <a:ext cx="0" cy="37719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gt-60"/>
          <p:cNvSpPr txBox="1"/>
          <p:nvPr/>
        </p:nvSpPr>
        <p:spPr>
          <a:xfrm>
            <a:off x="5416111" y="54244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60</a:t>
            </a:r>
          </a:p>
        </p:txBody>
      </p:sp>
      <p:cxnSp>
        <p:nvCxnSpPr>
          <p:cNvPr id="18" name="g-80"/>
          <p:cNvCxnSpPr/>
          <p:nvPr/>
        </p:nvCxnSpPr>
        <p:spPr>
          <a:xfrm>
            <a:off x="6511636" y="1600200"/>
            <a:ext cx="0" cy="37719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gt-80"/>
          <p:cNvSpPr txBox="1"/>
          <p:nvPr/>
        </p:nvSpPr>
        <p:spPr>
          <a:xfrm>
            <a:off x="6409020" y="54244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80</a:t>
            </a:r>
          </a:p>
        </p:txBody>
      </p:sp>
      <p:cxnSp>
        <p:nvCxnSpPr>
          <p:cNvPr id="20" name="g-100"/>
          <p:cNvCxnSpPr/>
          <p:nvPr/>
        </p:nvCxnSpPr>
        <p:spPr>
          <a:xfrm>
            <a:off x="7504545" y="1600200"/>
            <a:ext cx="0" cy="37719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gt-100"/>
          <p:cNvSpPr txBox="1"/>
          <p:nvPr/>
        </p:nvSpPr>
        <p:spPr>
          <a:xfrm>
            <a:off x="7373481" y="54244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100</a:t>
            </a:r>
          </a:p>
        </p:txBody>
      </p:sp>
      <p:sp>
        <p:nvSpPr>
          <p:cNvPr id="22" name="unit"/>
          <p:cNvSpPr txBox="1"/>
          <p:nvPr/>
        </p:nvSpPr>
        <p:spPr>
          <a:xfrm>
            <a:off x="7379208" y="5630608"/>
            <a:ext cx="6324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月薪（千元）</a:t>
            </a:r>
          </a:p>
        </p:txBody>
      </p:sp>
      <p:sp>
        <p:nvSpPr>
          <p:cNvPr id="23" name="lv-1"/>
          <p:cNvSpPr/>
          <p:nvPr/>
        </p:nvSpPr>
        <p:spPr>
          <a:xfrm>
            <a:off x="952500" y="1746250"/>
            <a:ext cx="355600" cy="228600"/>
          </a:xfrm>
          <a:custGeom>
            <a:avLst/>
            <a:gdLst/>
            <a:ahLst/>
            <a:cxnLst/>
            <a:rect l="0" t="0" r="r" b="b"/>
            <a:pathLst>
              <a:path w="355600" h="228600">
                <a:moveTo>
                  <a:pt x="114300" y="0"/>
                </a:moveTo>
                <a:lnTo>
                  <a:pt x="241300" y="0"/>
                </a:lnTo>
                <a:cubicBezTo>
                  <a:pt x="304419" y="0"/>
                  <a:pt x="355600" y="51181"/>
                  <a:pt x="355600" y="114300"/>
                </a:cubicBezTo>
                <a:lnTo>
                  <a:pt x="355600" y="114300"/>
                </a:lnTo>
                <a:cubicBezTo>
                  <a:pt x="355600" y="177419"/>
                  <a:pt x="304419" y="228600"/>
                  <a:pt x="2413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lvt-1"/>
          <p:cNvSpPr txBox="1"/>
          <p:nvPr/>
        </p:nvSpPr>
        <p:spPr>
          <a:xfrm>
            <a:off x="1021270" y="17716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P1</a:t>
            </a:r>
          </a:p>
        </p:txBody>
      </p:sp>
      <p:sp>
        <p:nvSpPr>
          <p:cNvPr id="25" name="nm-1"/>
          <p:cNvSpPr txBox="1"/>
          <p:nvPr/>
        </p:nvSpPr>
        <p:spPr>
          <a:xfrm>
            <a:off x="1395222" y="1755997"/>
            <a:ext cx="3689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助理</a:t>
            </a:r>
          </a:p>
        </p:txBody>
      </p:sp>
      <p:sp>
        <p:nvSpPr>
          <p:cNvPr id="26" name="rg-1"/>
          <p:cNvSpPr/>
          <p:nvPr/>
        </p:nvSpPr>
        <p:spPr>
          <a:xfrm>
            <a:off x="2937192" y="1771650"/>
            <a:ext cx="198564" cy="177800"/>
          </a:xfrm>
          <a:custGeom>
            <a:avLst/>
            <a:gdLst/>
            <a:ahLst/>
            <a:cxnLst/>
            <a:rect l="0" t="0" r="r" b="b"/>
            <a:pathLst>
              <a:path w="198564" h="177800">
                <a:moveTo>
                  <a:pt x="88900" y="0"/>
                </a:moveTo>
                <a:lnTo>
                  <a:pt x="109664" y="0"/>
                </a:lnTo>
                <a:cubicBezTo>
                  <a:pt x="158750" y="0"/>
                  <a:pt x="198564" y="39814"/>
                  <a:pt x="198564" y="88900"/>
                </a:cubicBezTo>
                <a:lnTo>
                  <a:pt x="198564" y="88900"/>
                </a:lnTo>
                <a:cubicBezTo>
                  <a:pt x="198564" y="137986"/>
                  <a:pt x="158750" y="177800"/>
                  <a:pt x="109664" y="177800"/>
                </a:cubicBezTo>
                <a:lnTo>
                  <a:pt x="88900" y="177800"/>
                </a:lnTo>
                <a:cubicBezTo>
                  <a:pt x="39751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751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A1CCED"/>
              </a:gs>
              <a:gs pos="100000">
                <a:srgbClr val="54A2D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lo-1"/>
          <p:cNvSpPr txBox="1"/>
          <p:nvPr/>
        </p:nvSpPr>
        <p:spPr>
          <a:xfrm>
            <a:off x="2746029" y="178101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8</a:t>
            </a:r>
          </a:p>
        </p:txBody>
      </p:sp>
      <p:sp>
        <p:nvSpPr>
          <p:cNvPr id="28" name="hi-1"/>
          <p:cNvSpPr txBox="1"/>
          <p:nvPr/>
        </p:nvSpPr>
        <p:spPr>
          <a:xfrm>
            <a:off x="3187815" y="17810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12</a:t>
            </a:r>
          </a:p>
        </p:txBody>
      </p:sp>
      <p:cxnSp>
        <p:nvCxnSpPr>
          <p:cNvPr id="29" name="md-1"/>
          <p:cNvCxnSpPr/>
          <p:nvPr/>
        </p:nvCxnSpPr>
        <p:spPr>
          <a:xfrm>
            <a:off x="3036455" y="1733550"/>
            <a:ext cx="0" cy="254000"/>
          </a:xfrm>
          <a:prstGeom prst="line">
            <a:avLst/>
          </a:prstGeom>
          <a:ln w="25400" cap="rnd">
            <a:solidFill>
              <a:srgbClr val="FFFFFF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mk-1"/>
          <p:cNvSpPr/>
          <p:nvPr/>
        </p:nvSpPr>
        <p:spPr>
          <a:xfrm>
            <a:off x="2996392" y="1790700"/>
            <a:ext cx="139700" cy="139700"/>
          </a:xfrm>
          <a:custGeom>
            <a:avLst/>
            <a:gdLst/>
            <a:ahLst/>
            <a:cxnLst/>
            <a:rect l="0" t="0" r="r" b="b"/>
            <a:pathLst>
              <a:path w="139700" h="139700">
                <a:moveTo>
                  <a:pt x="69850" y="0"/>
                </a:moveTo>
                <a:lnTo>
                  <a:pt x="139700" y="69850"/>
                </a:lnTo>
                <a:lnTo>
                  <a:pt x="69850" y="139700"/>
                </a:lnTo>
                <a:lnTo>
                  <a:pt x="0" y="69850"/>
                </a:lnTo>
                <a:close/>
              </a:path>
            </a:pathLst>
          </a:custGeom>
          <a:solidFill>
            <a:srgbClr val="E0703A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31" name="sep-1"/>
          <p:cNvCxnSpPr/>
          <p:nvPr/>
        </p:nvCxnSpPr>
        <p:spPr>
          <a:xfrm>
            <a:off x="952500" y="2095500"/>
            <a:ext cx="73025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lv-2"/>
          <p:cNvSpPr/>
          <p:nvPr/>
        </p:nvSpPr>
        <p:spPr>
          <a:xfrm>
            <a:off x="952500" y="2216150"/>
            <a:ext cx="355600" cy="228600"/>
          </a:xfrm>
          <a:custGeom>
            <a:avLst/>
            <a:gdLst/>
            <a:ahLst/>
            <a:cxnLst/>
            <a:rect l="0" t="0" r="r" b="b"/>
            <a:pathLst>
              <a:path w="355600" h="228600">
                <a:moveTo>
                  <a:pt x="114300" y="0"/>
                </a:moveTo>
                <a:lnTo>
                  <a:pt x="241300" y="0"/>
                </a:lnTo>
                <a:cubicBezTo>
                  <a:pt x="304419" y="0"/>
                  <a:pt x="355600" y="51181"/>
                  <a:pt x="355600" y="114300"/>
                </a:cubicBezTo>
                <a:lnTo>
                  <a:pt x="355600" y="114300"/>
                </a:lnTo>
                <a:cubicBezTo>
                  <a:pt x="355600" y="177419"/>
                  <a:pt x="304419" y="228600"/>
                  <a:pt x="2413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lvt-2"/>
          <p:cNvSpPr txBox="1"/>
          <p:nvPr/>
        </p:nvSpPr>
        <p:spPr>
          <a:xfrm>
            <a:off x="1021270" y="22415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P2</a:t>
            </a:r>
          </a:p>
        </p:txBody>
      </p:sp>
      <p:sp>
        <p:nvSpPr>
          <p:cNvPr id="34" name="nm-2"/>
          <p:cNvSpPr txBox="1"/>
          <p:nvPr/>
        </p:nvSpPr>
        <p:spPr>
          <a:xfrm>
            <a:off x="1395222" y="2225897"/>
            <a:ext cx="3689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专员</a:t>
            </a:r>
          </a:p>
        </p:txBody>
      </p:sp>
      <p:sp>
        <p:nvSpPr>
          <p:cNvPr id="35" name="rg-2"/>
          <p:cNvSpPr/>
          <p:nvPr/>
        </p:nvSpPr>
        <p:spPr>
          <a:xfrm>
            <a:off x="3086100" y="2241550"/>
            <a:ext cx="297878" cy="177800"/>
          </a:xfrm>
          <a:custGeom>
            <a:avLst/>
            <a:gdLst/>
            <a:ahLst/>
            <a:cxnLst/>
            <a:rect l="0" t="0" r="r" b="b"/>
            <a:pathLst>
              <a:path w="297878" h="177800">
                <a:moveTo>
                  <a:pt x="88900" y="0"/>
                </a:moveTo>
                <a:lnTo>
                  <a:pt x="208978" y="0"/>
                </a:lnTo>
                <a:cubicBezTo>
                  <a:pt x="258064" y="0"/>
                  <a:pt x="297878" y="39814"/>
                  <a:pt x="297878" y="88900"/>
                </a:cubicBezTo>
                <a:lnTo>
                  <a:pt x="297878" y="88900"/>
                </a:lnTo>
                <a:cubicBezTo>
                  <a:pt x="297878" y="137986"/>
                  <a:pt x="258064" y="177800"/>
                  <a:pt x="208978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99C4E9"/>
              </a:gs>
              <a:gs pos="100000">
                <a:srgbClr val="4694D7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lo-2"/>
          <p:cNvSpPr txBox="1"/>
          <p:nvPr/>
        </p:nvSpPr>
        <p:spPr>
          <a:xfrm>
            <a:off x="2841625" y="22509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11</a:t>
            </a:r>
          </a:p>
        </p:txBody>
      </p:sp>
      <p:sp>
        <p:nvSpPr>
          <p:cNvPr id="37" name="hi-2"/>
          <p:cNvSpPr txBox="1"/>
          <p:nvPr/>
        </p:nvSpPr>
        <p:spPr>
          <a:xfrm>
            <a:off x="3436043" y="22509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17</a:t>
            </a:r>
          </a:p>
        </p:txBody>
      </p:sp>
      <p:cxnSp>
        <p:nvCxnSpPr>
          <p:cNvPr id="38" name="md-2"/>
          <p:cNvCxnSpPr/>
          <p:nvPr/>
        </p:nvCxnSpPr>
        <p:spPr>
          <a:xfrm>
            <a:off x="3235036" y="2203450"/>
            <a:ext cx="0" cy="254000"/>
          </a:xfrm>
          <a:prstGeom prst="line">
            <a:avLst/>
          </a:prstGeom>
          <a:ln w="25400" cap="rnd">
            <a:solidFill>
              <a:srgbClr val="FFFFFF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mk-2"/>
          <p:cNvSpPr/>
          <p:nvPr/>
        </p:nvSpPr>
        <p:spPr>
          <a:xfrm>
            <a:off x="3209867" y="2260600"/>
            <a:ext cx="139700" cy="139700"/>
          </a:xfrm>
          <a:custGeom>
            <a:avLst/>
            <a:gdLst/>
            <a:ahLst/>
            <a:cxnLst/>
            <a:rect l="0" t="0" r="r" b="b"/>
            <a:pathLst>
              <a:path w="139700" h="139700">
                <a:moveTo>
                  <a:pt x="69850" y="0"/>
                </a:moveTo>
                <a:lnTo>
                  <a:pt x="139700" y="69850"/>
                </a:lnTo>
                <a:lnTo>
                  <a:pt x="69850" y="139700"/>
                </a:lnTo>
                <a:lnTo>
                  <a:pt x="0" y="69850"/>
                </a:lnTo>
                <a:close/>
              </a:path>
            </a:pathLst>
          </a:custGeom>
          <a:solidFill>
            <a:srgbClr val="E0703A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40" name="sep-2"/>
          <p:cNvCxnSpPr/>
          <p:nvPr/>
        </p:nvCxnSpPr>
        <p:spPr>
          <a:xfrm>
            <a:off x="952500" y="2565400"/>
            <a:ext cx="73025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lv-3"/>
          <p:cNvSpPr/>
          <p:nvPr/>
        </p:nvSpPr>
        <p:spPr>
          <a:xfrm>
            <a:off x="952500" y="2686050"/>
            <a:ext cx="355600" cy="228600"/>
          </a:xfrm>
          <a:custGeom>
            <a:avLst/>
            <a:gdLst/>
            <a:ahLst/>
            <a:cxnLst/>
            <a:rect l="0" t="0" r="r" b="b"/>
            <a:pathLst>
              <a:path w="355600" h="228600">
                <a:moveTo>
                  <a:pt x="114300" y="0"/>
                </a:moveTo>
                <a:lnTo>
                  <a:pt x="241300" y="0"/>
                </a:lnTo>
                <a:cubicBezTo>
                  <a:pt x="304419" y="0"/>
                  <a:pt x="355600" y="51181"/>
                  <a:pt x="355600" y="114300"/>
                </a:cubicBezTo>
                <a:lnTo>
                  <a:pt x="355600" y="114300"/>
                </a:lnTo>
                <a:cubicBezTo>
                  <a:pt x="355600" y="177419"/>
                  <a:pt x="304419" y="228600"/>
                  <a:pt x="2413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lvt-3"/>
          <p:cNvSpPr txBox="1"/>
          <p:nvPr/>
        </p:nvSpPr>
        <p:spPr>
          <a:xfrm>
            <a:off x="1021270" y="27114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P3</a:t>
            </a:r>
          </a:p>
        </p:txBody>
      </p:sp>
      <p:sp>
        <p:nvSpPr>
          <p:cNvPr id="43" name="nm-3"/>
          <p:cNvSpPr txBox="1"/>
          <p:nvPr/>
        </p:nvSpPr>
        <p:spPr>
          <a:xfrm>
            <a:off x="1395222" y="2695797"/>
            <a:ext cx="629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高级专员</a:t>
            </a:r>
          </a:p>
        </p:txBody>
      </p:sp>
      <p:sp>
        <p:nvSpPr>
          <p:cNvPr id="44" name="rg-3"/>
          <p:cNvSpPr/>
          <p:nvPr/>
        </p:nvSpPr>
        <p:spPr>
          <a:xfrm>
            <a:off x="3284664" y="2711450"/>
            <a:ext cx="446850" cy="177800"/>
          </a:xfrm>
          <a:custGeom>
            <a:avLst/>
            <a:gdLst/>
            <a:ahLst/>
            <a:cxnLst/>
            <a:rect l="0" t="0" r="r" b="b"/>
            <a:pathLst>
              <a:path w="446850" h="177800">
                <a:moveTo>
                  <a:pt x="88900" y="0"/>
                </a:moveTo>
                <a:lnTo>
                  <a:pt x="357950" y="0"/>
                </a:lnTo>
                <a:cubicBezTo>
                  <a:pt x="407035" y="0"/>
                  <a:pt x="446850" y="39814"/>
                  <a:pt x="446850" y="88900"/>
                </a:cubicBezTo>
                <a:lnTo>
                  <a:pt x="446850" y="88900"/>
                </a:lnTo>
                <a:cubicBezTo>
                  <a:pt x="446850" y="137986"/>
                  <a:pt x="407035" y="177800"/>
                  <a:pt x="35795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92BCE4"/>
              </a:gs>
              <a:gs pos="100000">
                <a:srgbClr val="3985CD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lo-3"/>
          <p:cNvSpPr txBox="1"/>
          <p:nvPr/>
        </p:nvSpPr>
        <p:spPr>
          <a:xfrm>
            <a:off x="3040207" y="27208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15</a:t>
            </a:r>
          </a:p>
        </p:txBody>
      </p:sp>
      <p:sp>
        <p:nvSpPr>
          <p:cNvPr id="46" name="hi-3"/>
          <p:cNvSpPr txBox="1"/>
          <p:nvPr/>
        </p:nvSpPr>
        <p:spPr>
          <a:xfrm>
            <a:off x="3783561" y="27208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24</a:t>
            </a:r>
          </a:p>
        </p:txBody>
      </p:sp>
      <p:cxnSp>
        <p:nvCxnSpPr>
          <p:cNvPr id="47" name="md-3"/>
          <p:cNvCxnSpPr/>
          <p:nvPr/>
        </p:nvCxnSpPr>
        <p:spPr>
          <a:xfrm>
            <a:off x="3508086" y="2673350"/>
            <a:ext cx="0" cy="254000"/>
          </a:xfrm>
          <a:prstGeom prst="line">
            <a:avLst/>
          </a:prstGeom>
          <a:ln w="25400" cap="rnd">
            <a:solidFill>
              <a:srgbClr val="FFFFFF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mk-3"/>
          <p:cNvSpPr/>
          <p:nvPr/>
        </p:nvSpPr>
        <p:spPr>
          <a:xfrm>
            <a:off x="3512705" y="2730500"/>
            <a:ext cx="139700" cy="139700"/>
          </a:xfrm>
          <a:custGeom>
            <a:avLst/>
            <a:gdLst/>
            <a:ahLst/>
            <a:cxnLst/>
            <a:rect l="0" t="0" r="r" b="b"/>
            <a:pathLst>
              <a:path w="139700" h="139700">
                <a:moveTo>
                  <a:pt x="69850" y="0"/>
                </a:moveTo>
                <a:lnTo>
                  <a:pt x="139700" y="69850"/>
                </a:lnTo>
                <a:lnTo>
                  <a:pt x="69850" y="139700"/>
                </a:lnTo>
                <a:lnTo>
                  <a:pt x="0" y="69850"/>
                </a:lnTo>
                <a:close/>
              </a:path>
            </a:pathLst>
          </a:custGeom>
          <a:solidFill>
            <a:srgbClr val="E0703A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49" name="sep-3"/>
          <p:cNvCxnSpPr/>
          <p:nvPr/>
        </p:nvCxnSpPr>
        <p:spPr>
          <a:xfrm>
            <a:off x="952500" y="3035300"/>
            <a:ext cx="73025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" name="lv-4"/>
          <p:cNvSpPr/>
          <p:nvPr/>
        </p:nvSpPr>
        <p:spPr>
          <a:xfrm>
            <a:off x="952500" y="3155950"/>
            <a:ext cx="355600" cy="228600"/>
          </a:xfrm>
          <a:custGeom>
            <a:avLst/>
            <a:gdLst/>
            <a:ahLst/>
            <a:cxnLst/>
            <a:rect l="0" t="0" r="r" b="b"/>
            <a:pathLst>
              <a:path w="355600" h="228600">
                <a:moveTo>
                  <a:pt x="114300" y="0"/>
                </a:moveTo>
                <a:lnTo>
                  <a:pt x="241300" y="0"/>
                </a:lnTo>
                <a:cubicBezTo>
                  <a:pt x="304419" y="0"/>
                  <a:pt x="355600" y="51181"/>
                  <a:pt x="355600" y="114300"/>
                </a:cubicBezTo>
                <a:lnTo>
                  <a:pt x="355600" y="114300"/>
                </a:lnTo>
                <a:cubicBezTo>
                  <a:pt x="355600" y="177419"/>
                  <a:pt x="304419" y="228600"/>
                  <a:pt x="2413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lvt-4"/>
          <p:cNvSpPr txBox="1"/>
          <p:nvPr/>
        </p:nvSpPr>
        <p:spPr>
          <a:xfrm>
            <a:off x="1021270" y="31813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P4</a:t>
            </a:r>
          </a:p>
        </p:txBody>
      </p:sp>
      <p:sp>
        <p:nvSpPr>
          <p:cNvPr id="52" name="nm-4"/>
          <p:cNvSpPr txBox="1"/>
          <p:nvPr/>
        </p:nvSpPr>
        <p:spPr>
          <a:xfrm>
            <a:off x="1395222" y="3165697"/>
            <a:ext cx="3689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主管</a:t>
            </a:r>
          </a:p>
        </p:txBody>
      </p:sp>
      <p:sp>
        <p:nvSpPr>
          <p:cNvPr id="53" name="rg-4"/>
          <p:cNvSpPr/>
          <p:nvPr/>
        </p:nvSpPr>
        <p:spPr>
          <a:xfrm>
            <a:off x="3582543" y="3181350"/>
            <a:ext cx="595757" cy="177800"/>
          </a:xfrm>
          <a:custGeom>
            <a:avLst/>
            <a:gdLst/>
            <a:ahLst/>
            <a:cxnLst/>
            <a:rect l="0" t="0" r="r" b="b"/>
            <a:pathLst>
              <a:path w="595757" h="177800">
                <a:moveTo>
                  <a:pt x="88900" y="0"/>
                </a:moveTo>
                <a:lnTo>
                  <a:pt x="506857" y="0"/>
                </a:lnTo>
                <a:cubicBezTo>
                  <a:pt x="555943" y="0"/>
                  <a:pt x="595757" y="39814"/>
                  <a:pt x="595757" y="88900"/>
                </a:cubicBezTo>
                <a:lnTo>
                  <a:pt x="595757" y="88900"/>
                </a:lnTo>
                <a:cubicBezTo>
                  <a:pt x="595757" y="137986"/>
                  <a:pt x="555943" y="177800"/>
                  <a:pt x="506857" y="177800"/>
                </a:cubicBezTo>
                <a:lnTo>
                  <a:pt x="88900" y="177800"/>
                </a:lnTo>
                <a:cubicBezTo>
                  <a:pt x="39815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8CB4DD"/>
              </a:gs>
              <a:gs pos="100000">
                <a:srgbClr val="2E77C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lo-4"/>
          <p:cNvSpPr txBox="1"/>
          <p:nvPr/>
        </p:nvSpPr>
        <p:spPr>
          <a:xfrm>
            <a:off x="3338080" y="31907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21</a:t>
            </a:r>
          </a:p>
        </p:txBody>
      </p:sp>
      <p:sp>
        <p:nvSpPr>
          <p:cNvPr id="55" name="hi-4"/>
          <p:cNvSpPr txBox="1"/>
          <p:nvPr/>
        </p:nvSpPr>
        <p:spPr>
          <a:xfrm>
            <a:off x="4230370" y="31907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33</a:t>
            </a:r>
          </a:p>
        </p:txBody>
      </p:sp>
      <p:cxnSp>
        <p:nvCxnSpPr>
          <p:cNvPr id="56" name="md-4"/>
          <p:cNvCxnSpPr/>
          <p:nvPr/>
        </p:nvCxnSpPr>
        <p:spPr>
          <a:xfrm>
            <a:off x="3880427" y="3143250"/>
            <a:ext cx="0" cy="254000"/>
          </a:xfrm>
          <a:prstGeom prst="line">
            <a:avLst/>
          </a:prstGeom>
          <a:ln w="25400" cap="rnd">
            <a:solidFill>
              <a:srgbClr val="FFFFFF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7" name="mk-4"/>
          <p:cNvSpPr/>
          <p:nvPr/>
        </p:nvSpPr>
        <p:spPr>
          <a:xfrm>
            <a:off x="3860223" y="3200400"/>
            <a:ext cx="139700" cy="139700"/>
          </a:xfrm>
          <a:custGeom>
            <a:avLst/>
            <a:gdLst/>
            <a:ahLst/>
            <a:cxnLst/>
            <a:rect l="0" t="0" r="r" b="b"/>
            <a:pathLst>
              <a:path w="139700" h="139700">
                <a:moveTo>
                  <a:pt x="69850" y="0"/>
                </a:moveTo>
                <a:lnTo>
                  <a:pt x="139700" y="69850"/>
                </a:lnTo>
                <a:lnTo>
                  <a:pt x="69850" y="139700"/>
                </a:lnTo>
                <a:lnTo>
                  <a:pt x="0" y="69850"/>
                </a:lnTo>
                <a:close/>
              </a:path>
            </a:pathLst>
          </a:custGeom>
          <a:solidFill>
            <a:srgbClr val="E0703A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58" name="sep-4"/>
          <p:cNvCxnSpPr/>
          <p:nvPr/>
        </p:nvCxnSpPr>
        <p:spPr>
          <a:xfrm>
            <a:off x="952500" y="3505200"/>
            <a:ext cx="73025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lv-5"/>
          <p:cNvSpPr/>
          <p:nvPr/>
        </p:nvSpPr>
        <p:spPr>
          <a:xfrm>
            <a:off x="952500" y="3625850"/>
            <a:ext cx="355600" cy="228600"/>
          </a:xfrm>
          <a:custGeom>
            <a:avLst/>
            <a:gdLst/>
            <a:ahLst/>
            <a:cxnLst/>
            <a:rect l="0" t="0" r="r" b="b"/>
            <a:pathLst>
              <a:path w="355600" h="228600">
                <a:moveTo>
                  <a:pt x="114300" y="0"/>
                </a:moveTo>
                <a:lnTo>
                  <a:pt x="241300" y="0"/>
                </a:lnTo>
                <a:cubicBezTo>
                  <a:pt x="304419" y="0"/>
                  <a:pt x="355600" y="51181"/>
                  <a:pt x="355600" y="114300"/>
                </a:cubicBezTo>
                <a:lnTo>
                  <a:pt x="355600" y="114300"/>
                </a:lnTo>
                <a:cubicBezTo>
                  <a:pt x="355600" y="177419"/>
                  <a:pt x="304419" y="228600"/>
                  <a:pt x="2413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lvt-5"/>
          <p:cNvSpPr txBox="1"/>
          <p:nvPr/>
        </p:nvSpPr>
        <p:spPr>
          <a:xfrm>
            <a:off x="1021270" y="36512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P5</a:t>
            </a:r>
          </a:p>
        </p:txBody>
      </p:sp>
      <p:sp>
        <p:nvSpPr>
          <p:cNvPr id="61" name="nm-5"/>
          <p:cNvSpPr txBox="1"/>
          <p:nvPr/>
        </p:nvSpPr>
        <p:spPr>
          <a:xfrm>
            <a:off x="1395222" y="3635597"/>
            <a:ext cx="3689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经理</a:t>
            </a:r>
          </a:p>
        </p:txBody>
      </p:sp>
      <p:sp>
        <p:nvSpPr>
          <p:cNvPr id="62" name="rg-5"/>
          <p:cNvSpPr/>
          <p:nvPr/>
        </p:nvSpPr>
        <p:spPr>
          <a:xfrm>
            <a:off x="3930078" y="3651250"/>
            <a:ext cx="843979" cy="177800"/>
          </a:xfrm>
          <a:custGeom>
            <a:avLst/>
            <a:gdLst/>
            <a:ahLst/>
            <a:cxnLst/>
            <a:rect l="0" t="0" r="r" b="b"/>
            <a:pathLst>
              <a:path w="843979" h="177800">
                <a:moveTo>
                  <a:pt x="88900" y="0"/>
                </a:moveTo>
                <a:lnTo>
                  <a:pt x="755079" y="0"/>
                </a:lnTo>
                <a:cubicBezTo>
                  <a:pt x="804164" y="0"/>
                  <a:pt x="843979" y="39814"/>
                  <a:pt x="843979" y="88900"/>
                </a:cubicBezTo>
                <a:lnTo>
                  <a:pt x="843979" y="88900"/>
                </a:lnTo>
                <a:cubicBezTo>
                  <a:pt x="843979" y="137986"/>
                  <a:pt x="804164" y="177800"/>
                  <a:pt x="755079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87ACD7"/>
              </a:gs>
              <a:gs pos="100000">
                <a:srgbClr val="2468B6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lo-5"/>
          <p:cNvSpPr txBox="1"/>
          <p:nvPr/>
        </p:nvSpPr>
        <p:spPr>
          <a:xfrm>
            <a:off x="3685598" y="36606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28</a:t>
            </a:r>
          </a:p>
        </p:txBody>
      </p:sp>
      <p:sp>
        <p:nvSpPr>
          <p:cNvPr id="64" name="hi-5"/>
          <p:cNvSpPr txBox="1"/>
          <p:nvPr/>
        </p:nvSpPr>
        <p:spPr>
          <a:xfrm>
            <a:off x="4826115" y="36606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45</a:t>
            </a:r>
          </a:p>
        </p:txBody>
      </p:sp>
      <p:cxnSp>
        <p:nvCxnSpPr>
          <p:cNvPr id="65" name="md-5"/>
          <p:cNvCxnSpPr/>
          <p:nvPr/>
        </p:nvCxnSpPr>
        <p:spPr>
          <a:xfrm>
            <a:off x="4327236" y="3613150"/>
            <a:ext cx="0" cy="254000"/>
          </a:xfrm>
          <a:prstGeom prst="line">
            <a:avLst/>
          </a:prstGeom>
          <a:ln w="25400" cap="rnd">
            <a:solidFill>
              <a:srgbClr val="FFFFFF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" name="mk-5"/>
          <p:cNvSpPr/>
          <p:nvPr/>
        </p:nvSpPr>
        <p:spPr>
          <a:xfrm>
            <a:off x="4207741" y="3670300"/>
            <a:ext cx="139700" cy="139700"/>
          </a:xfrm>
          <a:custGeom>
            <a:avLst/>
            <a:gdLst/>
            <a:ahLst/>
            <a:cxnLst/>
            <a:rect l="0" t="0" r="r" b="b"/>
            <a:pathLst>
              <a:path w="139700" h="139700">
                <a:moveTo>
                  <a:pt x="69850" y="0"/>
                </a:moveTo>
                <a:lnTo>
                  <a:pt x="139700" y="69850"/>
                </a:lnTo>
                <a:lnTo>
                  <a:pt x="69850" y="139700"/>
                </a:lnTo>
                <a:lnTo>
                  <a:pt x="0" y="69850"/>
                </a:lnTo>
                <a:close/>
              </a:path>
            </a:pathLst>
          </a:custGeom>
          <a:solidFill>
            <a:srgbClr val="E0703A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67" name="sep-5"/>
          <p:cNvCxnSpPr/>
          <p:nvPr/>
        </p:nvCxnSpPr>
        <p:spPr>
          <a:xfrm>
            <a:off x="952500" y="3975100"/>
            <a:ext cx="73025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8" name="lv-6"/>
          <p:cNvSpPr/>
          <p:nvPr/>
        </p:nvSpPr>
        <p:spPr>
          <a:xfrm>
            <a:off x="952500" y="4095750"/>
            <a:ext cx="355600" cy="228600"/>
          </a:xfrm>
          <a:custGeom>
            <a:avLst/>
            <a:gdLst/>
            <a:ahLst/>
            <a:cxnLst/>
            <a:rect l="0" t="0" r="r" b="b"/>
            <a:pathLst>
              <a:path w="355600" h="228600">
                <a:moveTo>
                  <a:pt x="114300" y="0"/>
                </a:moveTo>
                <a:lnTo>
                  <a:pt x="241300" y="0"/>
                </a:lnTo>
                <a:cubicBezTo>
                  <a:pt x="304419" y="0"/>
                  <a:pt x="355600" y="51181"/>
                  <a:pt x="355600" y="114300"/>
                </a:cubicBezTo>
                <a:lnTo>
                  <a:pt x="355600" y="114300"/>
                </a:lnTo>
                <a:cubicBezTo>
                  <a:pt x="355600" y="177419"/>
                  <a:pt x="304419" y="228600"/>
                  <a:pt x="2413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lvt-6"/>
          <p:cNvSpPr txBox="1"/>
          <p:nvPr/>
        </p:nvSpPr>
        <p:spPr>
          <a:xfrm>
            <a:off x="1021270" y="41211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P6</a:t>
            </a:r>
          </a:p>
        </p:txBody>
      </p:sp>
      <p:sp>
        <p:nvSpPr>
          <p:cNvPr id="70" name="nm-6"/>
          <p:cNvSpPr txBox="1"/>
          <p:nvPr/>
        </p:nvSpPr>
        <p:spPr>
          <a:xfrm>
            <a:off x="1395222" y="4105497"/>
            <a:ext cx="629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高级经理</a:t>
            </a:r>
          </a:p>
        </p:txBody>
      </p:sp>
      <p:sp>
        <p:nvSpPr>
          <p:cNvPr id="71" name="rg-6"/>
          <p:cNvSpPr/>
          <p:nvPr/>
        </p:nvSpPr>
        <p:spPr>
          <a:xfrm>
            <a:off x="4426522" y="4121150"/>
            <a:ext cx="1092200" cy="177800"/>
          </a:xfrm>
          <a:custGeom>
            <a:avLst/>
            <a:gdLst/>
            <a:ahLst/>
            <a:cxnLst/>
            <a:rect l="0" t="0" r="r" b="b"/>
            <a:pathLst>
              <a:path w="1092200" h="177800">
                <a:moveTo>
                  <a:pt x="88900" y="0"/>
                </a:moveTo>
                <a:lnTo>
                  <a:pt x="1003300" y="0"/>
                </a:lnTo>
                <a:cubicBezTo>
                  <a:pt x="1052386" y="0"/>
                  <a:pt x="1092200" y="39814"/>
                  <a:pt x="1092200" y="88900"/>
                </a:cubicBezTo>
                <a:lnTo>
                  <a:pt x="1092200" y="88900"/>
                </a:lnTo>
                <a:cubicBezTo>
                  <a:pt x="1092200" y="137986"/>
                  <a:pt x="1052386" y="177800"/>
                  <a:pt x="10033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82A4CF"/>
              </a:gs>
              <a:gs pos="100000">
                <a:srgbClr val="1B5AA8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lo-6"/>
          <p:cNvSpPr txBox="1"/>
          <p:nvPr/>
        </p:nvSpPr>
        <p:spPr>
          <a:xfrm>
            <a:off x="4182052" y="41305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38</a:t>
            </a:r>
          </a:p>
        </p:txBody>
      </p:sp>
      <p:sp>
        <p:nvSpPr>
          <p:cNvPr id="73" name="hi-6"/>
          <p:cNvSpPr txBox="1"/>
          <p:nvPr/>
        </p:nvSpPr>
        <p:spPr>
          <a:xfrm>
            <a:off x="5570797" y="41305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60</a:t>
            </a:r>
          </a:p>
        </p:txBody>
      </p:sp>
      <p:cxnSp>
        <p:nvCxnSpPr>
          <p:cNvPr id="74" name="md-6"/>
          <p:cNvCxnSpPr/>
          <p:nvPr/>
        </p:nvCxnSpPr>
        <p:spPr>
          <a:xfrm>
            <a:off x="4972627" y="4083050"/>
            <a:ext cx="0" cy="254000"/>
          </a:xfrm>
          <a:prstGeom prst="line">
            <a:avLst/>
          </a:prstGeom>
          <a:ln w="25400" cap="rnd">
            <a:solidFill>
              <a:srgbClr val="FFFFFF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5" name="mk-6"/>
          <p:cNvSpPr/>
          <p:nvPr/>
        </p:nvSpPr>
        <p:spPr>
          <a:xfrm>
            <a:off x="4753841" y="4140200"/>
            <a:ext cx="139700" cy="139700"/>
          </a:xfrm>
          <a:custGeom>
            <a:avLst/>
            <a:gdLst/>
            <a:ahLst/>
            <a:cxnLst/>
            <a:rect l="0" t="0" r="r" b="b"/>
            <a:pathLst>
              <a:path w="139700" h="139700">
                <a:moveTo>
                  <a:pt x="69850" y="0"/>
                </a:moveTo>
                <a:lnTo>
                  <a:pt x="139700" y="69850"/>
                </a:lnTo>
                <a:lnTo>
                  <a:pt x="69850" y="139700"/>
                </a:lnTo>
                <a:lnTo>
                  <a:pt x="0" y="69850"/>
                </a:lnTo>
                <a:close/>
              </a:path>
            </a:pathLst>
          </a:custGeom>
          <a:solidFill>
            <a:srgbClr val="E0703A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76" name="sep-6"/>
          <p:cNvCxnSpPr/>
          <p:nvPr/>
        </p:nvCxnSpPr>
        <p:spPr>
          <a:xfrm>
            <a:off x="952500" y="4445000"/>
            <a:ext cx="73025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7" name="lv-7"/>
          <p:cNvSpPr/>
          <p:nvPr/>
        </p:nvSpPr>
        <p:spPr>
          <a:xfrm>
            <a:off x="952500" y="4565650"/>
            <a:ext cx="355600" cy="228600"/>
          </a:xfrm>
          <a:custGeom>
            <a:avLst/>
            <a:gdLst/>
            <a:ahLst/>
            <a:cxnLst/>
            <a:rect l="0" t="0" r="r" b="b"/>
            <a:pathLst>
              <a:path w="355600" h="228600">
                <a:moveTo>
                  <a:pt x="114300" y="0"/>
                </a:moveTo>
                <a:lnTo>
                  <a:pt x="241300" y="0"/>
                </a:lnTo>
                <a:cubicBezTo>
                  <a:pt x="304419" y="0"/>
                  <a:pt x="355600" y="51181"/>
                  <a:pt x="355600" y="114300"/>
                </a:cubicBezTo>
                <a:lnTo>
                  <a:pt x="355600" y="114300"/>
                </a:lnTo>
                <a:cubicBezTo>
                  <a:pt x="355600" y="177419"/>
                  <a:pt x="304419" y="228600"/>
                  <a:pt x="2413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lvt-7"/>
          <p:cNvSpPr txBox="1"/>
          <p:nvPr/>
        </p:nvSpPr>
        <p:spPr>
          <a:xfrm>
            <a:off x="1021270" y="45910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P7</a:t>
            </a:r>
          </a:p>
        </p:txBody>
      </p:sp>
      <p:sp>
        <p:nvSpPr>
          <p:cNvPr id="79" name="nm-7"/>
          <p:cNvSpPr txBox="1"/>
          <p:nvPr/>
        </p:nvSpPr>
        <p:spPr>
          <a:xfrm>
            <a:off x="1395222" y="4575397"/>
            <a:ext cx="3689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总监</a:t>
            </a:r>
          </a:p>
        </p:txBody>
      </p:sp>
      <p:sp>
        <p:nvSpPr>
          <p:cNvPr id="80" name="rg-7"/>
          <p:cNvSpPr/>
          <p:nvPr/>
        </p:nvSpPr>
        <p:spPr>
          <a:xfrm>
            <a:off x="5022278" y="4591050"/>
            <a:ext cx="1489329" cy="177800"/>
          </a:xfrm>
          <a:custGeom>
            <a:avLst/>
            <a:gdLst/>
            <a:ahLst/>
            <a:cxnLst/>
            <a:rect l="0" t="0" r="r" b="b"/>
            <a:pathLst>
              <a:path w="1489329" h="177800">
                <a:moveTo>
                  <a:pt x="88900" y="0"/>
                </a:moveTo>
                <a:lnTo>
                  <a:pt x="1400429" y="0"/>
                </a:lnTo>
                <a:cubicBezTo>
                  <a:pt x="1449578" y="0"/>
                  <a:pt x="1489329" y="39814"/>
                  <a:pt x="1489329" y="88900"/>
                </a:cubicBezTo>
                <a:lnTo>
                  <a:pt x="1489329" y="88900"/>
                </a:lnTo>
                <a:cubicBezTo>
                  <a:pt x="1489329" y="137986"/>
                  <a:pt x="1449578" y="177800"/>
                  <a:pt x="1400429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7D9DC9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lo-7"/>
          <p:cNvSpPr txBox="1"/>
          <p:nvPr/>
        </p:nvSpPr>
        <p:spPr>
          <a:xfrm>
            <a:off x="4777798" y="46004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50</a:t>
            </a:r>
          </a:p>
        </p:txBody>
      </p:sp>
      <p:sp>
        <p:nvSpPr>
          <p:cNvPr id="82" name="hi-7"/>
          <p:cNvSpPr txBox="1"/>
          <p:nvPr/>
        </p:nvSpPr>
        <p:spPr>
          <a:xfrm>
            <a:off x="6563706" y="46004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80</a:t>
            </a:r>
          </a:p>
        </p:txBody>
      </p:sp>
      <p:cxnSp>
        <p:nvCxnSpPr>
          <p:cNvPr id="83" name="md-7"/>
          <p:cNvCxnSpPr/>
          <p:nvPr/>
        </p:nvCxnSpPr>
        <p:spPr>
          <a:xfrm>
            <a:off x="5717309" y="4552950"/>
            <a:ext cx="0" cy="254000"/>
          </a:xfrm>
          <a:prstGeom prst="line">
            <a:avLst/>
          </a:prstGeom>
          <a:ln w="25400" cap="rnd">
            <a:solidFill>
              <a:srgbClr val="FFFFFF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mk-7"/>
          <p:cNvSpPr/>
          <p:nvPr/>
        </p:nvSpPr>
        <p:spPr>
          <a:xfrm>
            <a:off x="5349586" y="4610100"/>
            <a:ext cx="139700" cy="139700"/>
          </a:xfrm>
          <a:custGeom>
            <a:avLst/>
            <a:gdLst/>
            <a:ahLst/>
            <a:cxnLst/>
            <a:rect l="0" t="0" r="r" b="b"/>
            <a:pathLst>
              <a:path w="139700" h="139700">
                <a:moveTo>
                  <a:pt x="69850" y="0"/>
                </a:moveTo>
                <a:lnTo>
                  <a:pt x="139700" y="69850"/>
                </a:lnTo>
                <a:lnTo>
                  <a:pt x="69850" y="139700"/>
                </a:lnTo>
                <a:lnTo>
                  <a:pt x="0" y="69850"/>
                </a:lnTo>
                <a:close/>
              </a:path>
            </a:pathLst>
          </a:custGeom>
          <a:solidFill>
            <a:srgbClr val="E0703A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85" name="sep-7"/>
          <p:cNvCxnSpPr/>
          <p:nvPr/>
        </p:nvCxnSpPr>
        <p:spPr>
          <a:xfrm>
            <a:off x="952500" y="4914900"/>
            <a:ext cx="73025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6" name="lv-8"/>
          <p:cNvSpPr/>
          <p:nvPr/>
        </p:nvSpPr>
        <p:spPr>
          <a:xfrm>
            <a:off x="952500" y="5035550"/>
            <a:ext cx="355600" cy="228600"/>
          </a:xfrm>
          <a:custGeom>
            <a:avLst/>
            <a:gdLst/>
            <a:ahLst/>
            <a:cxnLst/>
            <a:rect l="0" t="0" r="r" b="b"/>
            <a:pathLst>
              <a:path w="355600" h="228600">
                <a:moveTo>
                  <a:pt x="114300" y="0"/>
                </a:moveTo>
                <a:lnTo>
                  <a:pt x="241300" y="0"/>
                </a:lnTo>
                <a:cubicBezTo>
                  <a:pt x="304419" y="0"/>
                  <a:pt x="355600" y="51181"/>
                  <a:pt x="355600" y="114300"/>
                </a:cubicBezTo>
                <a:lnTo>
                  <a:pt x="355600" y="114300"/>
                </a:lnTo>
                <a:cubicBezTo>
                  <a:pt x="355600" y="177419"/>
                  <a:pt x="304419" y="228600"/>
                  <a:pt x="2413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lvt-8"/>
          <p:cNvSpPr txBox="1"/>
          <p:nvPr/>
        </p:nvSpPr>
        <p:spPr>
          <a:xfrm>
            <a:off x="1021270" y="5060982"/>
            <a:ext cx="2180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P8</a:t>
            </a:r>
          </a:p>
        </p:txBody>
      </p:sp>
      <p:sp>
        <p:nvSpPr>
          <p:cNvPr id="88" name="nm-8"/>
          <p:cNvSpPr txBox="1"/>
          <p:nvPr/>
        </p:nvSpPr>
        <p:spPr>
          <a:xfrm>
            <a:off x="1395222" y="5045297"/>
            <a:ext cx="629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高级总监</a:t>
            </a:r>
          </a:p>
        </p:txBody>
      </p:sp>
      <p:sp>
        <p:nvSpPr>
          <p:cNvPr id="89" name="rg-8"/>
          <p:cNvSpPr/>
          <p:nvPr/>
        </p:nvSpPr>
        <p:spPr>
          <a:xfrm>
            <a:off x="5766943" y="5060950"/>
            <a:ext cx="1737614" cy="177800"/>
          </a:xfrm>
          <a:custGeom>
            <a:avLst/>
            <a:gdLst/>
            <a:ahLst/>
            <a:cxnLst/>
            <a:rect l="0" t="0" r="r" b="b"/>
            <a:pathLst>
              <a:path w="1737614" h="177800">
                <a:moveTo>
                  <a:pt x="88900" y="0"/>
                </a:moveTo>
                <a:lnTo>
                  <a:pt x="1648714" y="0"/>
                </a:lnTo>
                <a:cubicBezTo>
                  <a:pt x="1697800" y="0"/>
                  <a:pt x="1737614" y="39814"/>
                  <a:pt x="1737614" y="88900"/>
                </a:cubicBezTo>
                <a:lnTo>
                  <a:pt x="1737614" y="88900"/>
                </a:lnTo>
                <a:cubicBezTo>
                  <a:pt x="1737614" y="137986"/>
                  <a:pt x="1697800" y="177800"/>
                  <a:pt x="1648714" y="177800"/>
                </a:cubicBezTo>
                <a:lnTo>
                  <a:pt x="88900" y="177800"/>
                </a:lnTo>
                <a:cubicBezTo>
                  <a:pt x="39815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7995C1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lo-8"/>
          <p:cNvSpPr txBox="1"/>
          <p:nvPr/>
        </p:nvSpPr>
        <p:spPr>
          <a:xfrm>
            <a:off x="5522480" y="50703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65</a:t>
            </a:r>
          </a:p>
        </p:txBody>
      </p:sp>
      <p:sp>
        <p:nvSpPr>
          <p:cNvPr id="91" name="hi-8"/>
          <p:cNvSpPr txBox="1"/>
          <p:nvPr/>
        </p:nvSpPr>
        <p:spPr>
          <a:xfrm>
            <a:off x="7556615" y="5070316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100</a:t>
            </a:r>
          </a:p>
        </p:txBody>
      </p:sp>
      <p:cxnSp>
        <p:nvCxnSpPr>
          <p:cNvPr id="92" name="md-8"/>
          <p:cNvCxnSpPr/>
          <p:nvPr/>
        </p:nvCxnSpPr>
        <p:spPr>
          <a:xfrm>
            <a:off x="6610927" y="5022850"/>
            <a:ext cx="0" cy="254000"/>
          </a:xfrm>
          <a:prstGeom prst="line">
            <a:avLst/>
          </a:prstGeom>
          <a:ln w="25400" cap="rnd">
            <a:solidFill>
              <a:srgbClr val="FFFFFF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3" name="mk-8"/>
          <p:cNvSpPr/>
          <p:nvPr/>
        </p:nvSpPr>
        <p:spPr>
          <a:xfrm>
            <a:off x="6143914" y="5080000"/>
            <a:ext cx="139700" cy="139700"/>
          </a:xfrm>
          <a:custGeom>
            <a:avLst/>
            <a:gdLst/>
            <a:ahLst/>
            <a:cxnLst/>
            <a:rect l="0" t="0" r="r" b="b"/>
            <a:pathLst>
              <a:path w="139700" h="139700">
                <a:moveTo>
                  <a:pt x="69850" y="0"/>
                </a:moveTo>
                <a:lnTo>
                  <a:pt x="139700" y="69850"/>
                </a:lnTo>
                <a:lnTo>
                  <a:pt x="69850" y="139700"/>
                </a:lnTo>
                <a:lnTo>
                  <a:pt x="0" y="69850"/>
                </a:lnTo>
                <a:close/>
              </a:path>
            </a:pathLst>
          </a:custGeom>
          <a:solidFill>
            <a:srgbClr val="E0703A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lg-1"/>
          <p:cNvSpPr/>
          <p:nvPr/>
        </p:nvSpPr>
        <p:spPr>
          <a:xfrm>
            <a:off x="952500" y="5651500"/>
            <a:ext cx="279400" cy="114300"/>
          </a:xfrm>
          <a:custGeom>
            <a:avLst/>
            <a:gdLst/>
            <a:ahLst/>
            <a:cxnLst/>
            <a:rect l="0" t="0" r="r" b="b"/>
            <a:pathLst>
              <a:path w="279400" h="114300">
                <a:moveTo>
                  <a:pt x="57150" y="0"/>
                </a:moveTo>
                <a:lnTo>
                  <a:pt x="222250" y="0"/>
                </a:lnTo>
                <a:cubicBezTo>
                  <a:pt x="253810" y="0"/>
                  <a:pt x="279400" y="25590"/>
                  <a:pt x="279400" y="57150"/>
                </a:cubicBezTo>
                <a:lnTo>
                  <a:pt x="279400" y="57150"/>
                </a:lnTo>
                <a:cubicBezTo>
                  <a:pt x="279400" y="88710"/>
                  <a:pt x="253810" y="114300"/>
                  <a:pt x="222250" y="114300"/>
                </a:cubicBezTo>
                <a:lnTo>
                  <a:pt x="57150" y="114300"/>
                </a:lnTo>
                <a:cubicBezTo>
                  <a:pt x="25591" y="114300"/>
                  <a:pt x="0" y="88710"/>
                  <a:pt x="0" y="57150"/>
                </a:cubicBezTo>
                <a:lnTo>
                  <a:pt x="0" y="57150"/>
                </a:lnTo>
                <a:cubicBezTo>
                  <a:pt x="0" y="25590"/>
                  <a:pt x="25591" y="0"/>
                  <a:pt x="57150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lg-1t"/>
          <p:cNvSpPr txBox="1"/>
          <p:nvPr/>
        </p:nvSpPr>
        <p:spPr>
          <a:xfrm>
            <a:off x="1283970" y="5622766"/>
            <a:ext cx="4819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薪酬区间</a:t>
            </a:r>
          </a:p>
        </p:txBody>
      </p:sp>
      <p:cxnSp>
        <p:nvCxnSpPr>
          <p:cNvPr id="96" name="lg-2"/>
          <p:cNvCxnSpPr/>
          <p:nvPr/>
        </p:nvCxnSpPr>
        <p:spPr>
          <a:xfrm>
            <a:off x="2032000" y="5638800"/>
            <a:ext cx="0" cy="139700"/>
          </a:xfrm>
          <a:prstGeom prst="line">
            <a:avLst/>
          </a:prstGeom>
          <a:ln w="25400" cap="rnd">
            <a:solidFill>
              <a:srgbClr val="2468B6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7" name="lg-2t"/>
          <p:cNvSpPr txBox="1"/>
          <p:nvPr/>
        </p:nvSpPr>
        <p:spPr>
          <a:xfrm>
            <a:off x="2109470" y="5622766"/>
            <a:ext cx="4819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本司中位</a:t>
            </a:r>
          </a:p>
        </p:txBody>
      </p:sp>
      <p:sp>
        <p:nvSpPr>
          <p:cNvPr id="98" name="lg-3"/>
          <p:cNvSpPr/>
          <p:nvPr/>
        </p:nvSpPr>
        <p:spPr>
          <a:xfrm>
            <a:off x="2838450" y="5638800"/>
            <a:ext cx="139700" cy="139700"/>
          </a:xfrm>
          <a:custGeom>
            <a:avLst/>
            <a:gdLst/>
            <a:ahLst/>
            <a:cxnLst/>
            <a:rect l="0" t="0" r="r" b="b"/>
            <a:pathLst>
              <a:path w="139700" h="139700">
                <a:moveTo>
                  <a:pt x="69850" y="0"/>
                </a:moveTo>
                <a:lnTo>
                  <a:pt x="139700" y="69850"/>
                </a:lnTo>
                <a:lnTo>
                  <a:pt x="69850" y="139700"/>
                </a:lnTo>
                <a:lnTo>
                  <a:pt x="0" y="69850"/>
                </a:ln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9" name="lg-3t"/>
          <p:cNvSpPr txBox="1"/>
          <p:nvPr/>
        </p:nvSpPr>
        <p:spPr>
          <a:xfrm>
            <a:off x="3023870" y="5622766"/>
            <a:ext cx="4819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市场中位</a:t>
            </a:r>
          </a:p>
        </p:txBody>
      </p:sp>
      <p:sp>
        <p:nvSpPr>
          <p:cNvPr id="100" name="side-bar"/>
          <p:cNvSpPr/>
          <p:nvPr/>
        </p:nvSpPr>
        <p:spPr>
          <a:xfrm>
            <a:off x="8509000" y="14986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side-h"/>
          <p:cNvSpPr txBox="1"/>
          <p:nvPr/>
        </p:nvSpPr>
        <p:spPr>
          <a:xfrm>
            <a:off x="8667750" y="1505744"/>
            <a:ext cx="10001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与市场偏离</a:t>
            </a:r>
          </a:p>
        </p:txBody>
      </p:sp>
      <p:sp>
        <p:nvSpPr>
          <p:cNvPr id="102" name="side-p"/>
          <p:cNvSpPr txBox="1"/>
          <p:nvPr/>
        </p:nvSpPr>
        <p:spPr>
          <a:xfrm>
            <a:off x="8673465" y="1780461"/>
            <a:ext cx="146272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本司中位 ÷ 市场中位 − 1</a:t>
            </a:r>
          </a:p>
        </p:txBody>
      </p:sp>
      <p:sp>
        <p:nvSpPr>
          <p:cNvPr id="103" name="dvl-1"/>
          <p:cNvSpPr txBox="1"/>
          <p:nvPr/>
        </p:nvSpPr>
        <p:spPr>
          <a:xfrm>
            <a:off x="8522208" y="215417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P1</a:t>
            </a:r>
          </a:p>
        </p:txBody>
      </p:sp>
      <p:sp>
        <p:nvSpPr>
          <p:cNvPr id="104" name="dvb-1"/>
          <p:cNvSpPr/>
          <p:nvPr/>
        </p:nvSpPr>
        <p:spPr>
          <a:xfrm>
            <a:off x="9709531" y="2171700"/>
            <a:ext cx="323469" cy="139700"/>
          </a:xfrm>
          <a:custGeom>
            <a:avLst/>
            <a:gdLst/>
            <a:ahLst/>
            <a:cxnLst/>
            <a:rect l="0" t="0" r="r" b="b"/>
            <a:pathLst>
              <a:path w="323469" h="139700">
                <a:moveTo>
                  <a:pt x="38100" y="0"/>
                </a:moveTo>
                <a:lnTo>
                  <a:pt x="285369" y="0"/>
                </a:lnTo>
                <a:cubicBezTo>
                  <a:pt x="306388" y="0"/>
                  <a:pt x="323469" y="17081"/>
                  <a:pt x="323469" y="38100"/>
                </a:cubicBezTo>
                <a:lnTo>
                  <a:pt x="323469" y="101600"/>
                </a:lnTo>
                <a:cubicBezTo>
                  <a:pt x="323469" y="122619"/>
                  <a:pt x="306388" y="139700"/>
                  <a:pt x="285369" y="139700"/>
                </a:cubicBezTo>
                <a:lnTo>
                  <a:pt x="38100" y="139700"/>
                </a:lnTo>
                <a:cubicBezTo>
                  <a:pt x="17018" y="139700"/>
                  <a:pt x="0" y="122619"/>
                  <a:pt x="0" y="101600"/>
                </a:cubicBezTo>
                <a:lnTo>
                  <a:pt x="0" y="38100"/>
                </a:lnTo>
                <a:cubicBezTo>
                  <a:pt x="0" y="17081"/>
                  <a:pt x="17018" y="0"/>
                  <a:pt x="38100" y="0"/>
                </a:cubicBezTo>
                <a:close/>
              </a:path>
            </a:pathLst>
          </a:cu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dvv-1"/>
          <p:cNvSpPr txBox="1"/>
          <p:nvPr/>
        </p:nvSpPr>
        <p:spPr>
          <a:xfrm>
            <a:off x="10875772" y="2154174"/>
            <a:ext cx="3759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-5.7%</a:t>
            </a:r>
          </a:p>
        </p:txBody>
      </p:sp>
      <p:sp>
        <p:nvSpPr>
          <p:cNvPr id="106" name="dvl-2"/>
          <p:cNvSpPr txBox="1"/>
          <p:nvPr/>
        </p:nvSpPr>
        <p:spPr>
          <a:xfrm>
            <a:off x="8522208" y="262407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P2</a:t>
            </a:r>
          </a:p>
        </p:txBody>
      </p:sp>
      <p:sp>
        <p:nvSpPr>
          <p:cNvPr id="107" name="dvb-2"/>
          <p:cNvSpPr/>
          <p:nvPr/>
        </p:nvSpPr>
        <p:spPr>
          <a:xfrm>
            <a:off x="9687814" y="2641600"/>
            <a:ext cx="345186" cy="139700"/>
          </a:xfrm>
          <a:custGeom>
            <a:avLst/>
            <a:gdLst/>
            <a:ahLst/>
            <a:cxnLst/>
            <a:rect l="0" t="0" r="r" b="b"/>
            <a:pathLst>
              <a:path w="345186" h="139700">
                <a:moveTo>
                  <a:pt x="38100" y="0"/>
                </a:moveTo>
                <a:lnTo>
                  <a:pt x="307086" y="0"/>
                </a:lnTo>
                <a:cubicBezTo>
                  <a:pt x="328104" y="0"/>
                  <a:pt x="345186" y="17081"/>
                  <a:pt x="345186" y="38100"/>
                </a:cubicBezTo>
                <a:lnTo>
                  <a:pt x="345186" y="101600"/>
                </a:lnTo>
                <a:cubicBezTo>
                  <a:pt x="345186" y="122619"/>
                  <a:pt x="328104" y="139700"/>
                  <a:pt x="307086" y="139700"/>
                </a:cubicBezTo>
                <a:lnTo>
                  <a:pt x="38100" y="139700"/>
                </a:lnTo>
                <a:cubicBezTo>
                  <a:pt x="17018" y="139700"/>
                  <a:pt x="0" y="122619"/>
                  <a:pt x="0" y="101600"/>
                </a:cubicBezTo>
                <a:lnTo>
                  <a:pt x="0" y="38100"/>
                </a:lnTo>
                <a:cubicBezTo>
                  <a:pt x="0" y="17081"/>
                  <a:pt x="17018" y="0"/>
                  <a:pt x="38100" y="0"/>
                </a:cubicBezTo>
                <a:close/>
              </a:path>
            </a:pathLst>
          </a:cu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8" name="dvv-2"/>
          <p:cNvSpPr txBox="1"/>
          <p:nvPr/>
        </p:nvSpPr>
        <p:spPr>
          <a:xfrm>
            <a:off x="10875772" y="2624074"/>
            <a:ext cx="3759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-6.0%</a:t>
            </a:r>
          </a:p>
        </p:txBody>
      </p:sp>
      <p:sp>
        <p:nvSpPr>
          <p:cNvPr id="109" name="dvl-3"/>
          <p:cNvSpPr txBox="1"/>
          <p:nvPr/>
        </p:nvSpPr>
        <p:spPr>
          <a:xfrm>
            <a:off x="8522208" y="309397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P3</a:t>
            </a:r>
          </a:p>
        </p:txBody>
      </p:sp>
      <p:sp>
        <p:nvSpPr>
          <p:cNvPr id="110" name="dvb-3"/>
          <p:cNvSpPr/>
          <p:nvPr/>
        </p:nvSpPr>
        <p:spPr>
          <a:xfrm>
            <a:off x="9624758" y="3111500"/>
            <a:ext cx="408241" cy="139700"/>
          </a:xfrm>
          <a:custGeom>
            <a:avLst/>
            <a:gdLst/>
            <a:ahLst/>
            <a:cxnLst/>
            <a:rect l="0" t="0" r="r" b="b"/>
            <a:pathLst>
              <a:path w="408241" h="139700">
                <a:moveTo>
                  <a:pt x="38100" y="0"/>
                </a:moveTo>
                <a:lnTo>
                  <a:pt x="370141" y="0"/>
                </a:lnTo>
                <a:cubicBezTo>
                  <a:pt x="391160" y="0"/>
                  <a:pt x="408241" y="17081"/>
                  <a:pt x="408241" y="38100"/>
                </a:cubicBezTo>
                <a:lnTo>
                  <a:pt x="408241" y="101600"/>
                </a:lnTo>
                <a:cubicBezTo>
                  <a:pt x="408241" y="122619"/>
                  <a:pt x="391160" y="139700"/>
                  <a:pt x="370141" y="139700"/>
                </a:cubicBezTo>
                <a:lnTo>
                  <a:pt x="38100" y="139700"/>
                </a:lnTo>
                <a:cubicBezTo>
                  <a:pt x="17082" y="139700"/>
                  <a:pt x="0" y="122619"/>
                  <a:pt x="0" y="1016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1" name="dvv-3"/>
          <p:cNvSpPr txBox="1"/>
          <p:nvPr/>
        </p:nvSpPr>
        <p:spPr>
          <a:xfrm>
            <a:off x="10875772" y="3093974"/>
            <a:ext cx="3759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-7.1%</a:t>
            </a:r>
          </a:p>
        </p:txBody>
      </p:sp>
      <p:sp>
        <p:nvSpPr>
          <p:cNvPr id="112" name="dvl-4"/>
          <p:cNvSpPr txBox="1"/>
          <p:nvPr/>
        </p:nvSpPr>
        <p:spPr>
          <a:xfrm>
            <a:off x="8522208" y="356387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P4</a:t>
            </a:r>
          </a:p>
        </p:txBody>
      </p:sp>
      <p:sp>
        <p:nvSpPr>
          <p:cNvPr id="113" name="dvb-4"/>
          <p:cNvSpPr/>
          <p:nvPr/>
        </p:nvSpPr>
        <p:spPr>
          <a:xfrm>
            <a:off x="9828911" y="3581400"/>
            <a:ext cx="204089" cy="139700"/>
          </a:xfrm>
          <a:custGeom>
            <a:avLst/>
            <a:gdLst/>
            <a:ahLst/>
            <a:cxnLst/>
            <a:rect l="0" t="0" r="r" b="b"/>
            <a:pathLst>
              <a:path w="204089" h="139700">
                <a:moveTo>
                  <a:pt x="38100" y="0"/>
                </a:moveTo>
                <a:lnTo>
                  <a:pt x="165989" y="0"/>
                </a:lnTo>
                <a:cubicBezTo>
                  <a:pt x="187008" y="0"/>
                  <a:pt x="204089" y="17082"/>
                  <a:pt x="204089" y="38100"/>
                </a:cubicBezTo>
                <a:lnTo>
                  <a:pt x="204089" y="101600"/>
                </a:lnTo>
                <a:cubicBezTo>
                  <a:pt x="204089" y="122618"/>
                  <a:pt x="187008" y="139700"/>
                  <a:pt x="165989" y="139700"/>
                </a:cubicBezTo>
                <a:lnTo>
                  <a:pt x="38100" y="139700"/>
                </a:lnTo>
                <a:cubicBezTo>
                  <a:pt x="17018" y="139700"/>
                  <a:pt x="0" y="122618"/>
                  <a:pt x="0" y="101600"/>
                </a:cubicBezTo>
                <a:lnTo>
                  <a:pt x="0" y="38100"/>
                </a:lnTo>
                <a:cubicBezTo>
                  <a:pt x="0" y="17082"/>
                  <a:pt x="17018" y="0"/>
                  <a:pt x="38100" y="0"/>
                </a:cubicBezTo>
                <a:close/>
              </a:path>
            </a:pathLst>
          </a:cu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4" name="dvv-4"/>
          <p:cNvSpPr txBox="1"/>
          <p:nvPr/>
        </p:nvSpPr>
        <p:spPr>
          <a:xfrm>
            <a:off x="10875772" y="3563874"/>
            <a:ext cx="3759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-3.6%</a:t>
            </a:r>
          </a:p>
        </p:txBody>
      </p:sp>
      <p:sp>
        <p:nvSpPr>
          <p:cNvPr id="115" name="dvl-5"/>
          <p:cNvSpPr txBox="1"/>
          <p:nvPr/>
        </p:nvSpPr>
        <p:spPr>
          <a:xfrm>
            <a:off x="8522208" y="403377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P5</a:t>
            </a:r>
          </a:p>
        </p:txBody>
      </p:sp>
      <p:sp>
        <p:nvSpPr>
          <p:cNvPr id="116" name="dvb-5"/>
          <p:cNvSpPr/>
          <p:nvPr/>
        </p:nvSpPr>
        <p:spPr>
          <a:xfrm>
            <a:off x="10033000" y="4051300"/>
            <a:ext cx="163259" cy="139700"/>
          </a:xfrm>
          <a:custGeom>
            <a:avLst/>
            <a:gdLst/>
            <a:ahLst/>
            <a:cxnLst/>
            <a:rect l="0" t="0" r="r" b="b"/>
            <a:pathLst>
              <a:path w="163259" h="139700">
                <a:moveTo>
                  <a:pt x="38100" y="0"/>
                </a:moveTo>
                <a:lnTo>
                  <a:pt x="125159" y="0"/>
                </a:lnTo>
                <a:cubicBezTo>
                  <a:pt x="146240" y="0"/>
                  <a:pt x="163259" y="17082"/>
                  <a:pt x="163259" y="38100"/>
                </a:cubicBezTo>
                <a:lnTo>
                  <a:pt x="163259" y="101600"/>
                </a:lnTo>
                <a:cubicBezTo>
                  <a:pt x="163259" y="122618"/>
                  <a:pt x="146240" y="139700"/>
                  <a:pt x="125159" y="139700"/>
                </a:cubicBezTo>
                <a:lnTo>
                  <a:pt x="38100" y="139700"/>
                </a:lnTo>
                <a:cubicBezTo>
                  <a:pt x="17082" y="139700"/>
                  <a:pt x="0" y="122618"/>
                  <a:pt x="0" y="1016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134C9C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7" name="dvv-5"/>
          <p:cNvSpPr txBox="1"/>
          <p:nvPr/>
        </p:nvSpPr>
        <p:spPr>
          <a:xfrm>
            <a:off x="10875772" y="4033774"/>
            <a:ext cx="3759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+2.9%</a:t>
            </a:r>
          </a:p>
        </p:txBody>
      </p:sp>
      <p:sp>
        <p:nvSpPr>
          <p:cNvPr id="118" name="dvl-6"/>
          <p:cNvSpPr txBox="1"/>
          <p:nvPr/>
        </p:nvSpPr>
        <p:spPr>
          <a:xfrm>
            <a:off x="8522208" y="450367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P6</a:t>
            </a:r>
          </a:p>
        </p:txBody>
      </p:sp>
      <p:sp>
        <p:nvSpPr>
          <p:cNvPr id="119" name="dvb-6"/>
          <p:cNvSpPr/>
          <p:nvPr/>
        </p:nvSpPr>
        <p:spPr>
          <a:xfrm>
            <a:off x="10033000" y="4521200"/>
            <a:ext cx="372745" cy="139700"/>
          </a:xfrm>
          <a:custGeom>
            <a:avLst/>
            <a:gdLst/>
            <a:ahLst/>
            <a:cxnLst/>
            <a:rect l="0" t="0" r="r" b="b"/>
            <a:pathLst>
              <a:path w="372745" h="139700">
                <a:moveTo>
                  <a:pt x="38100" y="0"/>
                </a:moveTo>
                <a:lnTo>
                  <a:pt x="334645" y="0"/>
                </a:lnTo>
                <a:cubicBezTo>
                  <a:pt x="355663" y="0"/>
                  <a:pt x="372745" y="17082"/>
                  <a:pt x="372745" y="38100"/>
                </a:cubicBezTo>
                <a:lnTo>
                  <a:pt x="372745" y="101600"/>
                </a:lnTo>
                <a:cubicBezTo>
                  <a:pt x="372745" y="122618"/>
                  <a:pt x="355663" y="139700"/>
                  <a:pt x="334645" y="139700"/>
                </a:cubicBezTo>
                <a:lnTo>
                  <a:pt x="38100" y="139700"/>
                </a:lnTo>
                <a:cubicBezTo>
                  <a:pt x="17082" y="139700"/>
                  <a:pt x="0" y="122618"/>
                  <a:pt x="0" y="1016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134C9C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0" name="dvv-6"/>
          <p:cNvSpPr txBox="1"/>
          <p:nvPr/>
        </p:nvSpPr>
        <p:spPr>
          <a:xfrm>
            <a:off x="10875772" y="4503674"/>
            <a:ext cx="3759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+6.5%</a:t>
            </a:r>
          </a:p>
        </p:txBody>
      </p:sp>
      <p:sp>
        <p:nvSpPr>
          <p:cNvPr id="121" name="dvl-7"/>
          <p:cNvSpPr txBox="1"/>
          <p:nvPr/>
        </p:nvSpPr>
        <p:spPr>
          <a:xfrm>
            <a:off x="8522208" y="497357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P7</a:t>
            </a:r>
          </a:p>
        </p:txBody>
      </p:sp>
      <p:sp>
        <p:nvSpPr>
          <p:cNvPr id="122" name="dvb-7"/>
          <p:cNvSpPr/>
          <p:nvPr/>
        </p:nvSpPr>
        <p:spPr>
          <a:xfrm>
            <a:off x="10033000" y="4991100"/>
            <a:ext cx="591185" cy="139700"/>
          </a:xfrm>
          <a:custGeom>
            <a:avLst/>
            <a:gdLst/>
            <a:ahLst/>
            <a:cxnLst/>
            <a:rect l="0" t="0" r="r" b="b"/>
            <a:pathLst>
              <a:path w="591185" h="139700">
                <a:moveTo>
                  <a:pt x="38100" y="0"/>
                </a:moveTo>
                <a:lnTo>
                  <a:pt x="553085" y="0"/>
                </a:lnTo>
                <a:cubicBezTo>
                  <a:pt x="574167" y="0"/>
                  <a:pt x="591185" y="17082"/>
                  <a:pt x="591185" y="38100"/>
                </a:cubicBezTo>
                <a:lnTo>
                  <a:pt x="591185" y="101600"/>
                </a:lnTo>
                <a:cubicBezTo>
                  <a:pt x="591185" y="122618"/>
                  <a:pt x="574167" y="139700"/>
                  <a:pt x="553085" y="139700"/>
                </a:cubicBezTo>
                <a:lnTo>
                  <a:pt x="38100" y="139700"/>
                </a:lnTo>
                <a:cubicBezTo>
                  <a:pt x="17082" y="139700"/>
                  <a:pt x="0" y="122618"/>
                  <a:pt x="0" y="1016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134C9C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3" name="dvv-7"/>
          <p:cNvSpPr txBox="1"/>
          <p:nvPr/>
        </p:nvSpPr>
        <p:spPr>
          <a:xfrm>
            <a:off x="10818876" y="4973574"/>
            <a:ext cx="4328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+10.3%</a:t>
            </a:r>
          </a:p>
        </p:txBody>
      </p:sp>
      <p:sp>
        <p:nvSpPr>
          <p:cNvPr id="124" name="dvl-8"/>
          <p:cNvSpPr txBox="1"/>
          <p:nvPr/>
        </p:nvSpPr>
        <p:spPr>
          <a:xfrm>
            <a:off x="8522208" y="544347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P8</a:t>
            </a:r>
          </a:p>
        </p:txBody>
      </p:sp>
      <p:sp>
        <p:nvSpPr>
          <p:cNvPr id="125" name="dvb-8"/>
          <p:cNvSpPr/>
          <p:nvPr/>
        </p:nvSpPr>
        <p:spPr>
          <a:xfrm>
            <a:off x="10033000" y="5461000"/>
            <a:ext cx="617855" cy="139700"/>
          </a:xfrm>
          <a:custGeom>
            <a:avLst/>
            <a:gdLst/>
            <a:ahLst/>
            <a:cxnLst/>
            <a:rect l="0" t="0" r="r" b="b"/>
            <a:pathLst>
              <a:path w="617855" h="139700">
                <a:moveTo>
                  <a:pt x="38100" y="0"/>
                </a:moveTo>
                <a:lnTo>
                  <a:pt x="579755" y="0"/>
                </a:lnTo>
                <a:cubicBezTo>
                  <a:pt x="600773" y="0"/>
                  <a:pt x="617855" y="17082"/>
                  <a:pt x="617855" y="38100"/>
                </a:cubicBezTo>
                <a:lnTo>
                  <a:pt x="617855" y="101600"/>
                </a:lnTo>
                <a:cubicBezTo>
                  <a:pt x="617855" y="122618"/>
                  <a:pt x="600773" y="139700"/>
                  <a:pt x="579755" y="139700"/>
                </a:cubicBezTo>
                <a:lnTo>
                  <a:pt x="38100" y="139700"/>
                </a:lnTo>
                <a:cubicBezTo>
                  <a:pt x="17082" y="139700"/>
                  <a:pt x="0" y="122618"/>
                  <a:pt x="0" y="1016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134C9C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6" name="dvv-8"/>
          <p:cNvSpPr txBox="1"/>
          <p:nvPr/>
        </p:nvSpPr>
        <p:spPr>
          <a:xfrm>
            <a:off x="10818876" y="5443474"/>
            <a:ext cx="4328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+10.8%</a:t>
            </a:r>
          </a:p>
        </p:txBody>
      </p:sp>
      <p:cxnSp>
        <p:nvCxnSpPr>
          <p:cNvPr id="127" name="dv-axis"/>
          <p:cNvCxnSpPr/>
          <p:nvPr/>
        </p:nvCxnSpPr>
        <p:spPr>
          <a:xfrm>
            <a:off x="10033000" y="2095500"/>
            <a:ext cx="0" cy="35560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" name="sum"/>
          <p:cNvSpPr/>
          <p:nvPr/>
        </p:nvSpPr>
        <p:spPr>
          <a:xfrm>
            <a:off x="952500" y="5905500"/>
            <a:ext cx="10287000" cy="419100"/>
          </a:xfrm>
          <a:custGeom>
            <a:avLst/>
            <a:gdLst/>
            <a:ahLst/>
            <a:cxnLst/>
            <a:rect l="0" t="0" r="r" b="b"/>
            <a:pathLst>
              <a:path w="10287000" h="4191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30200"/>
                </a:lnTo>
                <a:cubicBezTo>
                  <a:pt x="10287000" y="379286"/>
                  <a:pt x="10247186" y="419100"/>
                  <a:pt x="10198100" y="419100"/>
                </a:cubicBezTo>
                <a:lnTo>
                  <a:pt x="88900" y="419100"/>
                </a:lnTo>
                <a:cubicBezTo>
                  <a:pt x="39815" y="419100"/>
                  <a:pt x="0" y="379286"/>
                  <a:pt x="0" y="3302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9" name="sum-bar"/>
          <p:cNvSpPr/>
          <p:nvPr/>
        </p:nvSpPr>
        <p:spPr>
          <a:xfrm>
            <a:off x="952500" y="5905500"/>
            <a:ext cx="31750" cy="4191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0" name="sum-h"/>
          <p:cNvSpPr txBox="1"/>
          <p:nvPr/>
        </p:nvSpPr>
        <p:spPr>
          <a:xfrm>
            <a:off x="1142746" y="60388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调薪建议</a:t>
            </a:r>
          </a:p>
        </p:txBody>
      </p:sp>
      <p:sp>
        <p:nvSpPr>
          <p:cNvPr id="131" name="sum-p"/>
          <p:cNvSpPr txBox="1"/>
          <p:nvPr/>
        </p:nvSpPr>
        <p:spPr>
          <a:xfrm>
            <a:off x="1891665" y="6034961"/>
            <a:ext cx="509873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P1–P4 中位值低于市场 4%–7%，校招与社招流失集中在这一段——明年调薪预算优先向初中级倾斜。</a:t>
            </a:r>
          </a:p>
        </p:txBody>
      </p:sp>
      <p:cxnSp>
        <p:nvCxnSpPr>
          <p:cNvPr id="132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3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区间条形图 · 八个职级</a:t>
            </a:r>
          </a:p>
        </p:txBody>
      </p:sp>
      <p:sp>
        <p:nvSpPr>
          <p:cNvPr id="134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六城月度销售走势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44589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SMALL MULTIPLES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237599" y="673132"/>
            <a:ext cx="23831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六张小图同一刻度，谁在涨、谁在掉一眼可比</a:t>
            </a:r>
          </a:p>
        </p:txBody>
      </p:sp>
      <p:sp>
        <p:nvSpPr>
          <p:cNvPr id="10" name="card-1"/>
          <p:cNvSpPr/>
          <p:nvPr/>
        </p:nvSpPr>
        <p:spPr>
          <a:xfrm>
            <a:off x="952500" y="1358900"/>
            <a:ext cx="3302000" cy="2032000"/>
          </a:xfrm>
          <a:custGeom>
            <a:avLst/>
            <a:gdLst/>
            <a:ahLst/>
            <a:cxnLst/>
            <a:rect l="0" t="0" r="r" b="b"/>
            <a:pathLst>
              <a:path w="3302000" h="2032000">
                <a:moveTo>
                  <a:pt x="127000" y="0"/>
                </a:moveTo>
                <a:lnTo>
                  <a:pt x="3175000" y="0"/>
                </a:lnTo>
                <a:cubicBezTo>
                  <a:pt x="3245167" y="0"/>
                  <a:pt x="3302000" y="56832"/>
                  <a:pt x="3302000" y="127000"/>
                </a:cubicBezTo>
                <a:lnTo>
                  <a:pt x="3302000" y="1905000"/>
                </a:lnTo>
                <a:cubicBezTo>
                  <a:pt x="3302000" y="1975167"/>
                  <a:pt x="3245167" y="2032000"/>
                  <a:pt x="3175000" y="2032000"/>
                </a:cubicBezTo>
                <a:lnTo>
                  <a:pt x="127000" y="2032000"/>
                </a:lnTo>
                <a:cubicBezTo>
                  <a:pt x="56832" y="2032000"/>
                  <a:pt x="0" y="1975167"/>
                  <a:pt x="0" y="1905000"/>
                </a:cubicBezTo>
                <a:lnTo>
                  <a:pt x="0" y="127000"/>
                </a:lnTo>
                <a:cubicBezTo>
                  <a:pt x="0" y="56832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nm-1"/>
          <p:cNvSpPr txBox="1"/>
          <p:nvPr/>
        </p:nvSpPr>
        <p:spPr>
          <a:xfrm>
            <a:off x="1111250" y="14549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上海</a:t>
            </a:r>
          </a:p>
        </p:txBody>
      </p:sp>
      <p:sp>
        <p:nvSpPr>
          <p:cNvPr id="12" name="lv-1"/>
          <p:cNvSpPr txBox="1"/>
          <p:nvPr/>
        </p:nvSpPr>
        <p:spPr>
          <a:xfrm>
            <a:off x="1118870" y="1723866"/>
            <a:ext cx="9239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12 月 136 百万元</a:t>
            </a:r>
          </a:p>
        </p:txBody>
      </p:sp>
      <p:sp>
        <p:nvSpPr>
          <p:cNvPr id="13" name="gc-1"/>
          <p:cNvSpPr/>
          <p:nvPr/>
        </p:nvSpPr>
        <p:spPr>
          <a:xfrm>
            <a:off x="3416300" y="1511300"/>
            <a:ext cx="660400" cy="215900"/>
          </a:xfrm>
          <a:custGeom>
            <a:avLst/>
            <a:gdLst/>
            <a:ahLst/>
            <a:cxnLst/>
            <a:rect l="0" t="0" r="r" b="b"/>
            <a:pathLst>
              <a:path w="660400" h="215900">
                <a:moveTo>
                  <a:pt x="107950" y="0"/>
                </a:moveTo>
                <a:lnTo>
                  <a:pt x="552450" y="0"/>
                </a:lnTo>
                <a:cubicBezTo>
                  <a:pt x="612076" y="0"/>
                  <a:pt x="660400" y="48324"/>
                  <a:pt x="660400" y="107950"/>
                </a:cubicBezTo>
                <a:lnTo>
                  <a:pt x="660400" y="107950"/>
                </a:lnTo>
                <a:cubicBezTo>
                  <a:pt x="660400" y="167576"/>
                  <a:pt x="612076" y="215900"/>
                  <a:pt x="552450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2468B6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g-1"/>
          <p:cNvSpPr txBox="1"/>
          <p:nvPr/>
        </p:nvSpPr>
        <p:spPr>
          <a:xfrm>
            <a:off x="3577018" y="1524032"/>
            <a:ext cx="33896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+66%</a:t>
            </a:r>
          </a:p>
        </p:txBody>
      </p:sp>
      <p:cxnSp>
        <p:nvCxnSpPr>
          <p:cNvPr id="15" name="gl-1-0"/>
          <p:cNvCxnSpPr/>
          <p:nvPr/>
        </p:nvCxnSpPr>
        <p:spPr>
          <a:xfrm>
            <a:off x="1130300" y="3111500"/>
            <a:ext cx="2946400" cy="0"/>
          </a:xfrm>
          <a:prstGeom prst="line">
            <a:avLst/>
          </a:prstGeom>
          <a:ln w="635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gl-1-70"/>
          <p:cNvCxnSpPr/>
          <p:nvPr/>
        </p:nvCxnSpPr>
        <p:spPr>
          <a:xfrm>
            <a:off x="1130300" y="2552700"/>
            <a:ext cx="29464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gl-1-140"/>
          <p:cNvCxnSpPr/>
          <p:nvPr/>
        </p:nvCxnSpPr>
        <p:spPr>
          <a:xfrm>
            <a:off x="1130300" y="1993900"/>
            <a:ext cx="29464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avg-1"/>
          <p:cNvCxnSpPr/>
          <p:nvPr/>
        </p:nvCxnSpPr>
        <p:spPr>
          <a:xfrm>
            <a:off x="1130300" y="2519771"/>
            <a:ext cx="2946400" cy="0"/>
          </a:xfrm>
          <a:prstGeom prst="line">
            <a:avLst/>
          </a:prstGeom>
          <a:ln w="7620" cap="rnd">
            <a:solidFill>
              <a:srgbClr val="7E93AE">
                <a:alpha val="5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ar-1"/>
          <p:cNvSpPr/>
          <p:nvPr/>
        </p:nvSpPr>
        <p:spPr>
          <a:xfrm>
            <a:off x="1130300" y="2025840"/>
            <a:ext cx="2946400" cy="1085660"/>
          </a:xfrm>
          <a:custGeom>
            <a:avLst/>
            <a:gdLst/>
            <a:ahLst/>
            <a:cxnLst/>
            <a:rect l="0" t="0" r="r" b="b"/>
            <a:pathLst>
              <a:path w="2946400" h="1085660">
                <a:moveTo>
                  <a:pt x="0" y="431038"/>
                </a:moveTo>
                <a:cubicBezTo>
                  <a:pt x="31242" y="427355"/>
                  <a:pt x="205359" y="406591"/>
                  <a:pt x="267843" y="399161"/>
                </a:cubicBezTo>
                <a:cubicBezTo>
                  <a:pt x="330327" y="391668"/>
                  <a:pt x="473202" y="369062"/>
                  <a:pt x="535686" y="367221"/>
                </a:cubicBezTo>
                <a:cubicBezTo>
                  <a:pt x="598233" y="365316"/>
                  <a:pt x="741045" y="387795"/>
                  <a:pt x="803593" y="383159"/>
                </a:cubicBezTo>
                <a:cubicBezTo>
                  <a:pt x="866076" y="378524"/>
                  <a:pt x="1008888" y="340297"/>
                  <a:pt x="1071436" y="327279"/>
                </a:cubicBezTo>
                <a:cubicBezTo>
                  <a:pt x="1133920" y="314262"/>
                  <a:pt x="1276794" y="283528"/>
                  <a:pt x="1339279" y="271399"/>
                </a:cubicBezTo>
                <a:cubicBezTo>
                  <a:pt x="1401762" y="259271"/>
                  <a:pt x="1544638" y="232855"/>
                  <a:pt x="1607121" y="223520"/>
                </a:cubicBezTo>
                <a:cubicBezTo>
                  <a:pt x="1669606" y="214186"/>
                  <a:pt x="1812480" y="200914"/>
                  <a:pt x="1874964" y="191580"/>
                </a:cubicBezTo>
                <a:cubicBezTo>
                  <a:pt x="1937512" y="182245"/>
                  <a:pt x="2080324" y="152083"/>
                  <a:pt x="2142808" y="143701"/>
                </a:cubicBezTo>
                <a:cubicBezTo>
                  <a:pt x="2205355" y="135318"/>
                  <a:pt x="2348166" y="129032"/>
                  <a:pt x="2410714" y="119761"/>
                </a:cubicBezTo>
                <a:cubicBezTo>
                  <a:pt x="2473198" y="110427"/>
                  <a:pt x="2616073" y="77851"/>
                  <a:pt x="2678557" y="63881"/>
                </a:cubicBezTo>
                <a:cubicBezTo>
                  <a:pt x="2741041" y="49911"/>
                  <a:pt x="2915158" y="7430"/>
                  <a:pt x="2946400" y="0"/>
                </a:cubicBezTo>
                <a:lnTo>
                  <a:pt x="2946400" y="1085660"/>
                </a:lnTo>
                <a:lnTo>
                  <a:pt x="0" y="1085660"/>
                </a:lnTo>
                <a:close/>
              </a:path>
            </a:pathLst>
          </a:custGeom>
          <a:gradFill rotWithShape="1">
            <a:gsLst>
              <a:gs pos="0">
                <a:srgbClr val="2468B6">
                  <a:alpha val="22000"/>
                </a:srgbClr>
              </a:gs>
              <a:gs pos="100000">
                <a:srgbClr val="2468B6">
                  <a:alpha val="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ln-1"/>
          <p:cNvSpPr/>
          <p:nvPr/>
        </p:nvSpPr>
        <p:spPr>
          <a:xfrm>
            <a:off x="1130300" y="2025840"/>
            <a:ext cx="2946400" cy="431038"/>
          </a:xfrm>
          <a:custGeom>
            <a:avLst/>
            <a:gdLst/>
            <a:ahLst/>
            <a:cxnLst/>
            <a:rect l="0" t="0" r="r" b="b"/>
            <a:pathLst>
              <a:path w="2946400" h="431038">
                <a:moveTo>
                  <a:pt x="0" y="431038"/>
                </a:moveTo>
                <a:cubicBezTo>
                  <a:pt x="31242" y="427355"/>
                  <a:pt x="205359" y="406591"/>
                  <a:pt x="267843" y="399161"/>
                </a:cubicBezTo>
                <a:cubicBezTo>
                  <a:pt x="330327" y="391668"/>
                  <a:pt x="473202" y="369062"/>
                  <a:pt x="535686" y="367221"/>
                </a:cubicBezTo>
                <a:cubicBezTo>
                  <a:pt x="598233" y="365316"/>
                  <a:pt x="741045" y="387795"/>
                  <a:pt x="803593" y="383159"/>
                </a:cubicBezTo>
                <a:cubicBezTo>
                  <a:pt x="866076" y="378524"/>
                  <a:pt x="1008888" y="340297"/>
                  <a:pt x="1071436" y="327279"/>
                </a:cubicBezTo>
                <a:cubicBezTo>
                  <a:pt x="1133920" y="314262"/>
                  <a:pt x="1276794" y="283528"/>
                  <a:pt x="1339279" y="271399"/>
                </a:cubicBezTo>
                <a:cubicBezTo>
                  <a:pt x="1401762" y="259271"/>
                  <a:pt x="1544638" y="232855"/>
                  <a:pt x="1607121" y="223520"/>
                </a:cubicBezTo>
                <a:cubicBezTo>
                  <a:pt x="1669606" y="214186"/>
                  <a:pt x="1812480" y="200914"/>
                  <a:pt x="1874964" y="191580"/>
                </a:cubicBezTo>
                <a:cubicBezTo>
                  <a:pt x="1937512" y="182245"/>
                  <a:pt x="2080324" y="152083"/>
                  <a:pt x="2142808" y="143701"/>
                </a:cubicBezTo>
                <a:cubicBezTo>
                  <a:pt x="2205355" y="135318"/>
                  <a:pt x="2348166" y="129032"/>
                  <a:pt x="2410714" y="119761"/>
                </a:cubicBezTo>
                <a:cubicBezTo>
                  <a:pt x="2473198" y="110427"/>
                  <a:pt x="2616073" y="77851"/>
                  <a:pt x="2678557" y="63881"/>
                </a:cubicBezTo>
                <a:cubicBezTo>
                  <a:pt x="2741041" y="49911"/>
                  <a:pt x="2915158" y="7430"/>
                  <a:pt x="2946400" y="0"/>
                </a:cubicBezTo>
              </a:path>
            </a:pathLst>
          </a:custGeom>
          <a:noFill/>
          <a:ln w="2032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end-1"/>
          <p:cNvSpPr/>
          <p:nvPr/>
        </p:nvSpPr>
        <p:spPr>
          <a:xfrm>
            <a:off x="4032250" y="1981381"/>
            <a:ext cx="88900" cy="88900"/>
          </a:xfrm>
          <a:prstGeom prst="ellipse">
            <a:avLst/>
          </a:prstGeom>
          <a:solidFill>
            <a:srgbClr val="2468B6"/>
          </a:solidFill>
          <a:ln w="1587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xl-1-0"/>
          <p:cNvSpPr txBox="1"/>
          <p:nvPr/>
        </p:nvSpPr>
        <p:spPr>
          <a:xfrm>
            <a:off x="1119632" y="31668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1月</a:t>
            </a:r>
          </a:p>
        </p:txBody>
      </p:sp>
      <p:sp>
        <p:nvSpPr>
          <p:cNvPr id="23" name="xl-1-5"/>
          <p:cNvSpPr txBox="1"/>
          <p:nvPr/>
        </p:nvSpPr>
        <p:spPr>
          <a:xfrm>
            <a:off x="2360226" y="31668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6月</a:t>
            </a:r>
          </a:p>
        </p:txBody>
      </p:sp>
      <p:sp>
        <p:nvSpPr>
          <p:cNvPr id="24" name="xl-1-11"/>
          <p:cNvSpPr txBox="1"/>
          <p:nvPr/>
        </p:nvSpPr>
        <p:spPr>
          <a:xfrm>
            <a:off x="3818890" y="3166808"/>
            <a:ext cx="2684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12月</a:t>
            </a:r>
          </a:p>
        </p:txBody>
      </p:sp>
      <p:sp>
        <p:nvSpPr>
          <p:cNvPr id="25" name="card-2"/>
          <p:cNvSpPr/>
          <p:nvPr/>
        </p:nvSpPr>
        <p:spPr>
          <a:xfrm>
            <a:off x="4445000" y="1358900"/>
            <a:ext cx="3302000" cy="2032000"/>
          </a:xfrm>
          <a:custGeom>
            <a:avLst/>
            <a:gdLst/>
            <a:ahLst/>
            <a:cxnLst/>
            <a:rect l="0" t="0" r="r" b="b"/>
            <a:pathLst>
              <a:path w="3302000" h="2032000">
                <a:moveTo>
                  <a:pt x="127000" y="0"/>
                </a:moveTo>
                <a:lnTo>
                  <a:pt x="3175000" y="0"/>
                </a:lnTo>
                <a:cubicBezTo>
                  <a:pt x="3245167" y="0"/>
                  <a:pt x="3302000" y="56832"/>
                  <a:pt x="3302000" y="127000"/>
                </a:cubicBezTo>
                <a:lnTo>
                  <a:pt x="3302000" y="1905000"/>
                </a:lnTo>
                <a:cubicBezTo>
                  <a:pt x="3302000" y="1975167"/>
                  <a:pt x="3245167" y="2032000"/>
                  <a:pt x="3175000" y="2032000"/>
                </a:cubicBezTo>
                <a:lnTo>
                  <a:pt x="127000" y="2032000"/>
                </a:lnTo>
                <a:cubicBezTo>
                  <a:pt x="56833" y="2032000"/>
                  <a:pt x="0" y="1975167"/>
                  <a:pt x="0" y="1905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nm-2"/>
          <p:cNvSpPr txBox="1"/>
          <p:nvPr/>
        </p:nvSpPr>
        <p:spPr>
          <a:xfrm>
            <a:off x="4603750" y="14549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北京</a:t>
            </a:r>
          </a:p>
        </p:txBody>
      </p:sp>
      <p:sp>
        <p:nvSpPr>
          <p:cNvPr id="27" name="lv-2"/>
          <p:cNvSpPr txBox="1"/>
          <p:nvPr/>
        </p:nvSpPr>
        <p:spPr>
          <a:xfrm>
            <a:off x="4611370" y="1723866"/>
            <a:ext cx="9239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12 月 104 百万元</a:t>
            </a:r>
          </a:p>
        </p:txBody>
      </p:sp>
      <p:sp>
        <p:nvSpPr>
          <p:cNvPr id="28" name="gc-2"/>
          <p:cNvSpPr/>
          <p:nvPr/>
        </p:nvSpPr>
        <p:spPr>
          <a:xfrm>
            <a:off x="6908800" y="1511300"/>
            <a:ext cx="660400" cy="215900"/>
          </a:xfrm>
          <a:custGeom>
            <a:avLst/>
            <a:gdLst/>
            <a:ahLst/>
            <a:cxnLst/>
            <a:rect l="0" t="0" r="r" b="b"/>
            <a:pathLst>
              <a:path w="660400" h="215900">
                <a:moveTo>
                  <a:pt x="107950" y="0"/>
                </a:moveTo>
                <a:lnTo>
                  <a:pt x="552450" y="0"/>
                </a:lnTo>
                <a:cubicBezTo>
                  <a:pt x="612077" y="0"/>
                  <a:pt x="660400" y="48324"/>
                  <a:pt x="660400" y="107950"/>
                </a:cubicBezTo>
                <a:lnTo>
                  <a:pt x="660400" y="107950"/>
                </a:lnTo>
                <a:cubicBezTo>
                  <a:pt x="660400" y="167576"/>
                  <a:pt x="612077" y="215900"/>
                  <a:pt x="5524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2468B6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g-2"/>
          <p:cNvSpPr txBox="1"/>
          <p:nvPr/>
        </p:nvSpPr>
        <p:spPr>
          <a:xfrm>
            <a:off x="7069518" y="1524032"/>
            <a:ext cx="33896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+33%</a:t>
            </a:r>
          </a:p>
        </p:txBody>
      </p:sp>
      <p:cxnSp>
        <p:nvCxnSpPr>
          <p:cNvPr id="30" name="gl-2-0"/>
          <p:cNvCxnSpPr/>
          <p:nvPr/>
        </p:nvCxnSpPr>
        <p:spPr>
          <a:xfrm>
            <a:off x="4622800" y="3111500"/>
            <a:ext cx="2946400" cy="0"/>
          </a:xfrm>
          <a:prstGeom prst="line">
            <a:avLst/>
          </a:prstGeom>
          <a:ln w="635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gl-2-70"/>
          <p:cNvCxnSpPr/>
          <p:nvPr/>
        </p:nvCxnSpPr>
        <p:spPr>
          <a:xfrm>
            <a:off x="4622800" y="2552700"/>
            <a:ext cx="29464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gl-2-140"/>
          <p:cNvCxnSpPr/>
          <p:nvPr/>
        </p:nvCxnSpPr>
        <p:spPr>
          <a:xfrm>
            <a:off x="4622800" y="1993900"/>
            <a:ext cx="29464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avg-2"/>
          <p:cNvCxnSpPr/>
          <p:nvPr/>
        </p:nvCxnSpPr>
        <p:spPr>
          <a:xfrm>
            <a:off x="4622800" y="2519771"/>
            <a:ext cx="2946400" cy="0"/>
          </a:xfrm>
          <a:prstGeom prst="line">
            <a:avLst/>
          </a:prstGeom>
          <a:ln w="7620" cap="rnd">
            <a:solidFill>
              <a:srgbClr val="7E93AE">
                <a:alpha val="5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ar-2"/>
          <p:cNvSpPr/>
          <p:nvPr/>
        </p:nvSpPr>
        <p:spPr>
          <a:xfrm>
            <a:off x="4622800" y="2281301"/>
            <a:ext cx="2946400" cy="830199"/>
          </a:xfrm>
          <a:custGeom>
            <a:avLst/>
            <a:gdLst/>
            <a:ahLst/>
            <a:cxnLst/>
            <a:rect l="0" t="0" r="r" b="b"/>
            <a:pathLst>
              <a:path w="2946400" h="830199">
                <a:moveTo>
                  <a:pt x="0" y="207518"/>
                </a:moveTo>
                <a:cubicBezTo>
                  <a:pt x="31242" y="205676"/>
                  <a:pt x="205359" y="192532"/>
                  <a:pt x="267843" y="191580"/>
                </a:cubicBezTo>
                <a:cubicBezTo>
                  <a:pt x="330327" y="190627"/>
                  <a:pt x="473202" y="203263"/>
                  <a:pt x="535686" y="199581"/>
                </a:cubicBezTo>
                <a:cubicBezTo>
                  <a:pt x="598234" y="195834"/>
                  <a:pt x="741045" y="166180"/>
                  <a:pt x="803592" y="159639"/>
                </a:cubicBezTo>
                <a:cubicBezTo>
                  <a:pt x="866076" y="153099"/>
                  <a:pt x="1008888" y="147384"/>
                  <a:pt x="1071436" y="143700"/>
                </a:cubicBezTo>
                <a:cubicBezTo>
                  <a:pt x="1133920" y="139954"/>
                  <a:pt x="1276795" y="128651"/>
                  <a:pt x="1339278" y="127699"/>
                </a:cubicBezTo>
                <a:cubicBezTo>
                  <a:pt x="1401762" y="126746"/>
                  <a:pt x="1544638" y="139446"/>
                  <a:pt x="1607122" y="135700"/>
                </a:cubicBezTo>
                <a:cubicBezTo>
                  <a:pt x="1669605" y="131953"/>
                  <a:pt x="1812480" y="102299"/>
                  <a:pt x="1874964" y="95758"/>
                </a:cubicBezTo>
                <a:cubicBezTo>
                  <a:pt x="1937512" y="89281"/>
                  <a:pt x="2080323" y="83566"/>
                  <a:pt x="2142808" y="79819"/>
                </a:cubicBezTo>
                <a:cubicBezTo>
                  <a:pt x="2205355" y="76073"/>
                  <a:pt x="2348166" y="68517"/>
                  <a:pt x="2410714" y="63818"/>
                </a:cubicBezTo>
                <a:cubicBezTo>
                  <a:pt x="2473198" y="59182"/>
                  <a:pt x="2616073" y="47371"/>
                  <a:pt x="2678557" y="39878"/>
                </a:cubicBezTo>
                <a:cubicBezTo>
                  <a:pt x="2741041" y="32449"/>
                  <a:pt x="2915158" y="4636"/>
                  <a:pt x="2946400" y="0"/>
                </a:cubicBezTo>
                <a:lnTo>
                  <a:pt x="2946400" y="830199"/>
                </a:lnTo>
                <a:lnTo>
                  <a:pt x="0" y="830199"/>
                </a:lnTo>
                <a:close/>
              </a:path>
            </a:pathLst>
          </a:custGeom>
          <a:gradFill rotWithShape="1">
            <a:gsLst>
              <a:gs pos="0">
                <a:srgbClr val="2468B6">
                  <a:alpha val="22000"/>
                </a:srgbClr>
              </a:gs>
              <a:gs pos="100000">
                <a:srgbClr val="2468B6">
                  <a:alpha val="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ln-2"/>
          <p:cNvSpPr/>
          <p:nvPr/>
        </p:nvSpPr>
        <p:spPr>
          <a:xfrm>
            <a:off x="4622800" y="2281301"/>
            <a:ext cx="2946400" cy="207518"/>
          </a:xfrm>
          <a:custGeom>
            <a:avLst/>
            <a:gdLst/>
            <a:ahLst/>
            <a:cxnLst/>
            <a:rect l="0" t="0" r="r" b="b"/>
            <a:pathLst>
              <a:path w="2946400" h="207518">
                <a:moveTo>
                  <a:pt x="0" y="207518"/>
                </a:moveTo>
                <a:cubicBezTo>
                  <a:pt x="31242" y="205676"/>
                  <a:pt x="205359" y="192532"/>
                  <a:pt x="267843" y="191580"/>
                </a:cubicBezTo>
                <a:cubicBezTo>
                  <a:pt x="330327" y="190627"/>
                  <a:pt x="473202" y="203263"/>
                  <a:pt x="535686" y="199581"/>
                </a:cubicBezTo>
                <a:cubicBezTo>
                  <a:pt x="598234" y="195834"/>
                  <a:pt x="741045" y="166180"/>
                  <a:pt x="803592" y="159639"/>
                </a:cubicBezTo>
                <a:cubicBezTo>
                  <a:pt x="866076" y="153099"/>
                  <a:pt x="1008888" y="147384"/>
                  <a:pt x="1071436" y="143700"/>
                </a:cubicBezTo>
                <a:cubicBezTo>
                  <a:pt x="1133920" y="139954"/>
                  <a:pt x="1276795" y="128651"/>
                  <a:pt x="1339278" y="127699"/>
                </a:cubicBezTo>
                <a:cubicBezTo>
                  <a:pt x="1401762" y="126746"/>
                  <a:pt x="1544638" y="139446"/>
                  <a:pt x="1607122" y="135700"/>
                </a:cubicBezTo>
                <a:cubicBezTo>
                  <a:pt x="1669605" y="131953"/>
                  <a:pt x="1812480" y="102299"/>
                  <a:pt x="1874964" y="95758"/>
                </a:cubicBezTo>
                <a:cubicBezTo>
                  <a:pt x="1937512" y="89281"/>
                  <a:pt x="2080323" y="83566"/>
                  <a:pt x="2142808" y="79819"/>
                </a:cubicBezTo>
                <a:cubicBezTo>
                  <a:pt x="2205355" y="76073"/>
                  <a:pt x="2348166" y="68517"/>
                  <a:pt x="2410714" y="63818"/>
                </a:cubicBezTo>
                <a:cubicBezTo>
                  <a:pt x="2473198" y="59182"/>
                  <a:pt x="2616073" y="47371"/>
                  <a:pt x="2678557" y="39878"/>
                </a:cubicBezTo>
                <a:cubicBezTo>
                  <a:pt x="2741041" y="32449"/>
                  <a:pt x="2915158" y="4636"/>
                  <a:pt x="2946400" y="0"/>
                </a:cubicBezTo>
              </a:path>
            </a:pathLst>
          </a:custGeom>
          <a:noFill/>
          <a:ln w="2032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end-2"/>
          <p:cNvSpPr/>
          <p:nvPr/>
        </p:nvSpPr>
        <p:spPr>
          <a:xfrm>
            <a:off x="7524750" y="2236833"/>
            <a:ext cx="88900" cy="88900"/>
          </a:xfrm>
          <a:prstGeom prst="ellipse">
            <a:avLst/>
          </a:prstGeom>
          <a:solidFill>
            <a:srgbClr val="2468B6"/>
          </a:solidFill>
          <a:ln w="1587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xl-2-0"/>
          <p:cNvSpPr txBox="1"/>
          <p:nvPr/>
        </p:nvSpPr>
        <p:spPr>
          <a:xfrm>
            <a:off x="4612132" y="31668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1月</a:t>
            </a:r>
          </a:p>
        </p:txBody>
      </p:sp>
      <p:sp>
        <p:nvSpPr>
          <p:cNvPr id="38" name="xl-2-5"/>
          <p:cNvSpPr txBox="1"/>
          <p:nvPr/>
        </p:nvSpPr>
        <p:spPr>
          <a:xfrm>
            <a:off x="5852726" y="31668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6月</a:t>
            </a:r>
          </a:p>
        </p:txBody>
      </p:sp>
      <p:sp>
        <p:nvSpPr>
          <p:cNvPr id="39" name="xl-2-11"/>
          <p:cNvSpPr txBox="1"/>
          <p:nvPr/>
        </p:nvSpPr>
        <p:spPr>
          <a:xfrm>
            <a:off x="7311390" y="3166808"/>
            <a:ext cx="2684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12月</a:t>
            </a:r>
          </a:p>
        </p:txBody>
      </p:sp>
      <p:sp>
        <p:nvSpPr>
          <p:cNvPr id="40" name="card-3"/>
          <p:cNvSpPr/>
          <p:nvPr/>
        </p:nvSpPr>
        <p:spPr>
          <a:xfrm>
            <a:off x="7937500" y="1358900"/>
            <a:ext cx="3302000" cy="2032000"/>
          </a:xfrm>
          <a:custGeom>
            <a:avLst/>
            <a:gdLst/>
            <a:ahLst/>
            <a:cxnLst/>
            <a:rect l="0" t="0" r="r" b="b"/>
            <a:pathLst>
              <a:path w="3302000" h="2032000">
                <a:moveTo>
                  <a:pt x="127000" y="0"/>
                </a:moveTo>
                <a:lnTo>
                  <a:pt x="3175000" y="0"/>
                </a:lnTo>
                <a:cubicBezTo>
                  <a:pt x="3245167" y="0"/>
                  <a:pt x="3302000" y="56832"/>
                  <a:pt x="3302000" y="127000"/>
                </a:cubicBezTo>
                <a:lnTo>
                  <a:pt x="3302000" y="1905000"/>
                </a:lnTo>
                <a:cubicBezTo>
                  <a:pt x="3302000" y="1975167"/>
                  <a:pt x="3245167" y="2032000"/>
                  <a:pt x="3175000" y="2032000"/>
                </a:cubicBezTo>
                <a:lnTo>
                  <a:pt x="127000" y="2032000"/>
                </a:lnTo>
                <a:cubicBezTo>
                  <a:pt x="56833" y="2032000"/>
                  <a:pt x="0" y="1975167"/>
                  <a:pt x="0" y="1905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nm-3"/>
          <p:cNvSpPr txBox="1"/>
          <p:nvPr/>
        </p:nvSpPr>
        <p:spPr>
          <a:xfrm>
            <a:off x="8096250" y="14549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深圳</a:t>
            </a:r>
          </a:p>
        </p:txBody>
      </p:sp>
      <p:sp>
        <p:nvSpPr>
          <p:cNvPr id="42" name="lv-3"/>
          <p:cNvSpPr txBox="1"/>
          <p:nvPr/>
        </p:nvSpPr>
        <p:spPr>
          <a:xfrm>
            <a:off x="8103870" y="1723866"/>
            <a:ext cx="9239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12 月 132 百万元</a:t>
            </a:r>
          </a:p>
        </p:txBody>
      </p:sp>
      <p:sp>
        <p:nvSpPr>
          <p:cNvPr id="43" name="gc-3"/>
          <p:cNvSpPr/>
          <p:nvPr/>
        </p:nvSpPr>
        <p:spPr>
          <a:xfrm>
            <a:off x="10401300" y="1511300"/>
            <a:ext cx="660400" cy="215900"/>
          </a:xfrm>
          <a:custGeom>
            <a:avLst/>
            <a:gdLst/>
            <a:ahLst/>
            <a:cxnLst/>
            <a:rect l="0" t="0" r="r" b="b"/>
            <a:pathLst>
              <a:path w="660400" h="215900">
                <a:moveTo>
                  <a:pt x="107950" y="0"/>
                </a:moveTo>
                <a:lnTo>
                  <a:pt x="552450" y="0"/>
                </a:lnTo>
                <a:cubicBezTo>
                  <a:pt x="612077" y="0"/>
                  <a:pt x="660400" y="48324"/>
                  <a:pt x="660400" y="107950"/>
                </a:cubicBezTo>
                <a:lnTo>
                  <a:pt x="660400" y="107950"/>
                </a:lnTo>
                <a:cubicBezTo>
                  <a:pt x="660400" y="167576"/>
                  <a:pt x="612077" y="215900"/>
                  <a:pt x="5524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g-3"/>
          <p:cNvSpPr txBox="1"/>
          <p:nvPr/>
        </p:nvSpPr>
        <p:spPr>
          <a:xfrm>
            <a:off x="10531792" y="1524032"/>
            <a:ext cx="39941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+120%</a:t>
            </a:r>
          </a:p>
        </p:txBody>
      </p:sp>
      <p:cxnSp>
        <p:nvCxnSpPr>
          <p:cNvPr id="45" name="gl-3-0"/>
          <p:cNvCxnSpPr/>
          <p:nvPr/>
        </p:nvCxnSpPr>
        <p:spPr>
          <a:xfrm>
            <a:off x="8115300" y="3111500"/>
            <a:ext cx="2946400" cy="0"/>
          </a:xfrm>
          <a:prstGeom prst="line">
            <a:avLst/>
          </a:prstGeom>
          <a:ln w="635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gl-3-70"/>
          <p:cNvCxnSpPr/>
          <p:nvPr/>
        </p:nvCxnSpPr>
        <p:spPr>
          <a:xfrm>
            <a:off x="8115300" y="2552700"/>
            <a:ext cx="29464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gl-3-140"/>
          <p:cNvCxnSpPr/>
          <p:nvPr/>
        </p:nvCxnSpPr>
        <p:spPr>
          <a:xfrm>
            <a:off x="8115300" y="1993900"/>
            <a:ext cx="29464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avg-3"/>
          <p:cNvCxnSpPr/>
          <p:nvPr/>
        </p:nvCxnSpPr>
        <p:spPr>
          <a:xfrm>
            <a:off x="8115300" y="2519771"/>
            <a:ext cx="2946400" cy="0"/>
          </a:xfrm>
          <a:prstGeom prst="line">
            <a:avLst/>
          </a:prstGeom>
          <a:ln w="7620" cap="rnd">
            <a:solidFill>
              <a:srgbClr val="7E93AE">
                <a:alpha val="5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ar-3"/>
          <p:cNvSpPr/>
          <p:nvPr/>
        </p:nvSpPr>
        <p:spPr>
          <a:xfrm>
            <a:off x="8115300" y="2057781"/>
            <a:ext cx="2946400" cy="1053719"/>
          </a:xfrm>
          <a:custGeom>
            <a:avLst/>
            <a:gdLst/>
            <a:ahLst/>
            <a:cxnLst/>
            <a:rect l="0" t="0" r="r" b="b"/>
            <a:pathLst>
              <a:path w="2946400" h="1053719">
                <a:moveTo>
                  <a:pt x="0" y="574738"/>
                </a:moveTo>
                <a:cubicBezTo>
                  <a:pt x="31242" y="570992"/>
                  <a:pt x="205359" y="552132"/>
                  <a:pt x="267843" y="542798"/>
                </a:cubicBezTo>
                <a:cubicBezTo>
                  <a:pt x="330327" y="533527"/>
                  <a:pt x="473202" y="506095"/>
                  <a:pt x="535686" y="494919"/>
                </a:cubicBezTo>
                <a:cubicBezTo>
                  <a:pt x="598234" y="483743"/>
                  <a:pt x="741045" y="458216"/>
                  <a:pt x="803592" y="447040"/>
                </a:cubicBezTo>
                <a:cubicBezTo>
                  <a:pt x="866077" y="435864"/>
                  <a:pt x="1008888" y="410274"/>
                  <a:pt x="1071436" y="399098"/>
                </a:cubicBezTo>
                <a:cubicBezTo>
                  <a:pt x="1133919" y="387921"/>
                  <a:pt x="1276794" y="363347"/>
                  <a:pt x="1339279" y="351218"/>
                </a:cubicBezTo>
                <a:cubicBezTo>
                  <a:pt x="1401762" y="339090"/>
                  <a:pt x="1544638" y="307467"/>
                  <a:pt x="1607121" y="295338"/>
                </a:cubicBezTo>
                <a:cubicBezTo>
                  <a:pt x="1669606" y="283210"/>
                  <a:pt x="1812481" y="259588"/>
                  <a:pt x="1874964" y="247459"/>
                </a:cubicBezTo>
                <a:cubicBezTo>
                  <a:pt x="1937512" y="235331"/>
                  <a:pt x="2080323" y="205550"/>
                  <a:pt x="2142808" y="191580"/>
                </a:cubicBezTo>
                <a:cubicBezTo>
                  <a:pt x="2205355" y="177609"/>
                  <a:pt x="2348166" y="142621"/>
                  <a:pt x="2410714" y="127699"/>
                </a:cubicBezTo>
                <a:cubicBezTo>
                  <a:pt x="2473198" y="112776"/>
                  <a:pt x="2616073" y="78740"/>
                  <a:pt x="2678557" y="63818"/>
                </a:cubicBezTo>
                <a:cubicBezTo>
                  <a:pt x="2741041" y="48958"/>
                  <a:pt x="2915158" y="7430"/>
                  <a:pt x="2946400" y="0"/>
                </a:cubicBezTo>
                <a:lnTo>
                  <a:pt x="2946400" y="1053719"/>
                </a:lnTo>
                <a:lnTo>
                  <a:pt x="0" y="1053719"/>
                </a:lnTo>
                <a:close/>
              </a:path>
            </a:pathLst>
          </a:custGeom>
          <a:gradFill rotWithShape="1">
            <a:gsLst>
              <a:gs pos="0">
                <a:srgbClr val="0B3E8F">
                  <a:alpha val="22000"/>
                </a:srgbClr>
              </a:gs>
              <a:gs pos="100000">
                <a:srgbClr val="0B3E8F">
                  <a:alpha val="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ln-3"/>
          <p:cNvSpPr/>
          <p:nvPr/>
        </p:nvSpPr>
        <p:spPr>
          <a:xfrm>
            <a:off x="8115300" y="2057781"/>
            <a:ext cx="2946400" cy="574738"/>
          </a:xfrm>
          <a:custGeom>
            <a:avLst/>
            <a:gdLst/>
            <a:ahLst/>
            <a:cxnLst/>
            <a:rect l="0" t="0" r="r" b="b"/>
            <a:pathLst>
              <a:path w="2946400" h="574738">
                <a:moveTo>
                  <a:pt x="0" y="574738"/>
                </a:moveTo>
                <a:cubicBezTo>
                  <a:pt x="31242" y="570992"/>
                  <a:pt x="205359" y="552132"/>
                  <a:pt x="267843" y="542798"/>
                </a:cubicBezTo>
                <a:cubicBezTo>
                  <a:pt x="330327" y="533527"/>
                  <a:pt x="473202" y="506095"/>
                  <a:pt x="535686" y="494919"/>
                </a:cubicBezTo>
                <a:cubicBezTo>
                  <a:pt x="598234" y="483743"/>
                  <a:pt x="741045" y="458216"/>
                  <a:pt x="803592" y="447040"/>
                </a:cubicBezTo>
                <a:cubicBezTo>
                  <a:pt x="866077" y="435864"/>
                  <a:pt x="1008888" y="410274"/>
                  <a:pt x="1071436" y="399098"/>
                </a:cubicBezTo>
                <a:cubicBezTo>
                  <a:pt x="1133919" y="387921"/>
                  <a:pt x="1276794" y="363347"/>
                  <a:pt x="1339279" y="351218"/>
                </a:cubicBezTo>
                <a:cubicBezTo>
                  <a:pt x="1401762" y="339090"/>
                  <a:pt x="1544638" y="307467"/>
                  <a:pt x="1607121" y="295338"/>
                </a:cubicBezTo>
                <a:cubicBezTo>
                  <a:pt x="1669606" y="283210"/>
                  <a:pt x="1812481" y="259588"/>
                  <a:pt x="1874964" y="247459"/>
                </a:cubicBezTo>
                <a:cubicBezTo>
                  <a:pt x="1937512" y="235331"/>
                  <a:pt x="2080323" y="205550"/>
                  <a:pt x="2142808" y="191580"/>
                </a:cubicBezTo>
                <a:cubicBezTo>
                  <a:pt x="2205355" y="177609"/>
                  <a:pt x="2348166" y="142621"/>
                  <a:pt x="2410714" y="127699"/>
                </a:cubicBezTo>
                <a:cubicBezTo>
                  <a:pt x="2473198" y="112776"/>
                  <a:pt x="2616073" y="78740"/>
                  <a:pt x="2678557" y="63818"/>
                </a:cubicBezTo>
                <a:cubicBezTo>
                  <a:pt x="2741041" y="48958"/>
                  <a:pt x="2915158" y="7430"/>
                  <a:pt x="2946400" y="0"/>
                </a:cubicBezTo>
              </a:path>
            </a:pathLst>
          </a:custGeom>
          <a:noFill/>
          <a:ln w="2032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end-3"/>
          <p:cNvSpPr/>
          <p:nvPr/>
        </p:nvSpPr>
        <p:spPr>
          <a:xfrm>
            <a:off x="11017250" y="2013313"/>
            <a:ext cx="88900" cy="88900"/>
          </a:xfrm>
          <a:prstGeom prst="ellipse">
            <a:avLst/>
          </a:prstGeom>
          <a:solidFill>
            <a:srgbClr val="0B3E8F"/>
          </a:solidFill>
          <a:ln w="1587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xl-3-0"/>
          <p:cNvSpPr txBox="1"/>
          <p:nvPr/>
        </p:nvSpPr>
        <p:spPr>
          <a:xfrm>
            <a:off x="8104632" y="31668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1月</a:t>
            </a:r>
          </a:p>
        </p:txBody>
      </p:sp>
      <p:sp>
        <p:nvSpPr>
          <p:cNvPr id="53" name="xl-3-5"/>
          <p:cNvSpPr txBox="1"/>
          <p:nvPr/>
        </p:nvSpPr>
        <p:spPr>
          <a:xfrm>
            <a:off x="9345226" y="31668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6月</a:t>
            </a:r>
          </a:p>
        </p:txBody>
      </p:sp>
      <p:sp>
        <p:nvSpPr>
          <p:cNvPr id="54" name="xl-3-11"/>
          <p:cNvSpPr txBox="1"/>
          <p:nvPr/>
        </p:nvSpPr>
        <p:spPr>
          <a:xfrm>
            <a:off x="10803890" y="3166808"/>
            <a:ext cx="2684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12月</a:t>
            </a:r>
          </a:p>
        </p:txBody>
      </p:sp>
      <p:sp>
        <p:nvSpPr>
          <p:cNvPr id="55" name="card-4"/>
          <p:cNvSpPr/>
          <p:nvPr/>
        </p:nvSpPr>
        <p:spPr>
          <a:xfrm>
            <a:off x="952500" y="3568700"/>
            <a:ext cx="3302000" cy="2032000"/>
          </a:xfrm>
          <a:custGeom>
            <a:avLst/>
            <a:gdLst/>
            <a:ahLst/>
            <a:cxnLst/>
            <a:rect l="0" t="0" r="r" b="b"/>
            <a:pathLst>
              <a:path w="3302000" h="2032000">
                <a:moveTo>
                  <a:pt x="127000" y="0"/>
                </a:moveTo>
                <a:lnTo>
                  <a:pt x="3175000" y="0"/>
                </a:lnTo>
                <a:cubicBezTo>
                  <a:pt x="3245167" y="0"/>
                  <a:pt x="3302000" y="56833"/>
                  <a:pt x="3302000" y="127000"/>
                </a:cubicBezTo>
                <a:lnTo>
                  <a:pt x="3302000" y="1905000"/>
                </a:lnTo>
                <a:cubicBezTo>
                  <a:pt x="3302000" y="1975167"/>
                  <a:pt x="3245167" y="2032000"/>
                  <a:pt x="3175000" y="2032000"/>
                </a:cubicBezTo>
                <a:lnTo>
                  <a:pt x="127000" y="2032000"/>
                </a:lnTo>
                <a:cubicBezTo>
                  <a:pt x="56832" y="2032000"/>
                  <a:pt x="0" y="1975167"/>
                  <a:pt x="0" y="1905000"/>
                </a:cubicBezTo>
                <a:lnTo>
                  <a:pt x="0" y="127000"/>
                </a:lnTo>
                <a:cubicBezTo>
                  <a:pt x="0" y="56833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nm-4"/>
          <p:cNvSpPr txBox="1"/>
          <p:nvPr/>
        </p:nvSpPr>
        <p:spPr>
          <a:xfrm>
            <a:off x="1111250" y="36647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杭州</a:t>
            </a:r>
          </a:p>
        </p:txBody>
      </p:sp>
      <p:sp>
        <p:nvSpPr>
          <p:cNvPr id="57" name="lv-4"/>
          <p:cNvSpPr txBox="1"/>
          <p:nvPr/>
        </p:nvSpPr>
        <p:spPr>
          <a:xfrm>
            <a:off x="1118870" y="3933666"/>
            <a:ext cx="8680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12 月 75 百万元</a:t>
            </a:r>
          </a:p>
        </p:txBody>
      </p:sp>
      <p:sp>
        <p:nvSpPr>
          <p:cNvPr id="58" name="gc-4"/>
          <p:cNvSpPr/>
          <p:nvPr/>
        </p:nvSpPr>
        <p:spPr>
          <a:xfrm>
            <a:off x="3416300" y="3721100"/>
            <a:ext cx="660400" cy="215900"/>
          </a:xfrm>
          <a:custGeom>
            <a:avLst/>
            <a:gdLst/>
            <a:ahLst/>
            <a:cxnLst/>
            <a:rect l="0" t="0" r="r" b="b"/>
            <a:pathLst>
              <a:path w="660400" h="215900">
                <a:moveTo>
                  <a:pt x="107950" y="0"/>
                </a:moveTo>
                <a:lnTo>
                  <a:pt x="552450" y="0"/>
                </a:lnTo>
                <a:cubicBezTo>
                  <a:pt x="612076" y="0"/>
                  <a:pt x="660400" y="48324"/>
                  <a:pt x="660400" y="107950"/>
                </a:cubicBezTo>
                <a:lnTo>
                  <a:pt x="660400" y="107950"/>
                </a:lnTo>
                <a:cubicBezTo>
                  <a:pt x="660400" y="167576"/>
                  <a:pt x="612076" y="215900"/>
                  <a:pt x="552450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2468B6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g-4"/>
          <p:cNvSpPr txBox="1"/>
          <p:nvPr/>
        </p:nvSpPr>
        <p:spPr>
          <a:xfrm>
            <a:off x="3577018" y="3733832"/>
            <a:ext cx="33896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+44%</a:t>
            </a:r>
          </a:p>
        </p:txBody>
      </p:sp>
      <p:cxnSp>
        <p:nvCxnSpPr>
          <p:cNvPr id="60" name="gl-4-0"/>
          <p:cNvCxnSpPr/>
          <p:nvPr/>
        </p:nvCxnSpPr>
        <p:spPr>
          <a:xfrm>
            <a:off x="1130300" y="5321300"/>
            <a:ext cx="2946400" cy="0"/>
          </a:xfrm>
          <a:prstGeom prst="line">
            <a:avLst/>
          </a:prstGeom>
          <a:ln w="635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gl-4-70"/>
          <p:cNvCxnSpPr/>
          <p:nvPr/>
        </p:nvCxnSpPr>
        <p:spPr>
          <a:xfrm>
            <a:off x="1130300" y="4762500"/>
            <a:ext cx="29464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gl-4-140"/>
          <p:cNvCxnSpPr/>
          <p:nvPr/>
        </p:nvCxnSpPr>
        <p:spPr>
          <a:xfrm>
            <a:off x="1130300" y="4203700"/>
            <a:ext cx="29464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avg-4"/>
          <p:cNvCxnSpPr/>
          <p:nvPr/>
        </p:nvCxnSpPr>
        <p:spPr>
          <a:xfrm>
            <a:off x="1130300" y="4729571"/>
            <a:ext cx="2946400" cy="0"/>
          </a:xfrm>
          <a:prstGeom prst="line">
            <a:avLst/>
          </a:prstGeom>
          <a:ln w="7620" cap="rnd">
            <a:solidFill>
              <a:srgbClr val="7E93AE">
                <a:alpha val="5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ar-4"/>
          <p:cNvSpPr/>
          <p:nvPr/>
        </p:nvSpPr>
        <p:spPr>
          <a:xfrm>
            <a:off x="1130300" y="4722558"/>
            <a:ext cx="2946400" cy="598741"/>
          </a:xfrm>
          <a:custGeom>
            <a:avLst/>
            <a:gdLst/>
            <a:ahLst/>
            <a:cxnLst/>
            <a:rect l="0" t="0" r="r" b="b"/>
            <a:pathLst>
              <a:path w="2946400" h="598741">
                <a:moveTo>
                  <a:pt x="0" y="183642"/>
                </a:moveTo>
                <a:cubicBezTo>
                  <a:pt x="31242" y="180848"/>
                  <a:pt x="205359" y="165290"/>
                  <a:pt x="267843" y="159702"/>
                </a:cubicBezTo>
                <a:cubicBezTo>
                  <a:pt x="330327" y="154114"/>
                  <a:pt x="473202" y="137604"/>
                  <a:pt x="535686" y="135763"/>
                </a:cubicBezTo>
                <a:cubicBezTo>
                  <a:pt x="598233" y="133858"/>
                  <a:pt x="741045" y="145605"/>
                  <a:pt x="803593" y="143700"/>
                </a:cubicBezTo>
                <a:cubicBezTo>
                  <a:pt x="866076" y="141859"/>
                  <a:pt x="1008888" y="125349"/>
                  <a:pt x="1071436" y="119761"/>
                </a:cubicBezTo>
                <a:cubicBezTo>
                  <a:pt x="1133920" y="114173"/>
                  <a:pt x="1276794" y="97663"/>
                  <a:pt x="1339279" y="95821"/>
                </a:cubicBezTo>
                <a:cubicBezTo>
                  <a:pt x="1401762" y="93980"/>
                  <a:pt x="1544638" y="106616"/>
                  <a:pt x="1607121" y="103822"/>
                </a:cubicBezTo>
                <a:cubicBezTo>
                  <a:pt x="1669606" y="101028"/>
                  <a:pt x="1812480" y="77470"/>
                  <a:pt x="1874964" y="71882"/>
                </a:cubicBezTo>
                <a:cubicBezTo>
                  <a:pt x="1937512" y="66294"/>
                  <a:pt x="2080324" y="59626"/>
                  <a:pt x="2142808" y="55880"/>
                </a:cubicBezTo>
                <a:cubicBezTo>
                  <a:pt x="2205355" y="52197"/>
                  <a:pt x="2348166" y="43688"/>
                  <a:pt x="2410714" y="39941"/>
                </a:cubicBezTo>
                <a:cubicBezTo>
                  <a:pt x="2473198" y="36195"/>
                  <a:pt x="2616073" y="28638"/>
                  <a:pt x="2678557" y="24003"/>
                </a:cubicBezTo>
                <a:cubicBezTo>
                  <a:pt x="2741041" y="19304"/>
                  <a:pt x="2915158" y="2794"/>
                  <a:pt x="2946400" y="0"/>
                </a:cubicBezTo>
                <a:lnTo>
                  <a:pt x="2946400" y="598741"/>
                </a:lnTo>
                <a:lnTo>
                  <a:pt x="0" y="598741"/>
                </a:lnTo>
                <a:close/>
              </a:path>
            </a:pathLst>
          </a:custGeom>
          <a:gradFill rotWithShape="1">
            <a:gsLst>
              <a:gs pos="0">
                <a:srgbClr val="2468B6">
                  <a:alpha val="22000"/>
                </a:srgbClr>
              </a:gs>
              <a:gs pos="100000">
                <a:srgbClr val="2468B6">
                  <a:alpha val="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ln-4"/>
          <p:cNvSpPr/>
          <p:nvPr/>
        </p:nvSpPr>
        <p:spPr>
          <a:xfrm>
            <a:off x="1130300" y="4722558"/>
            <a:ext cx="2946400" cy="183642"/>
          </a:xfrm>
          <a:custGeom>
            <a:avLst/>
            <a:gdLst/>
            <a:ahLst/>
            <a:cxnLst/>
            <a:rect l="0" t="0" r="r" b="b"/>
            <a:pathLst>
              <a:path w="2946400" h="183642">
                <a:moveTo>
                  <a:pt x="0" y="183642"/>
                </a:moveTo>
                <a:cubicBezTo>
                  <a:pt x="31242" y="180848"/>
                  <a:pt x="205359" y="165290"/>
                  <a:pt x="267843" y="159702"/>
                </a:cubicBezTo>
                <a:cubicBezTo>
                  <a:pt x="330327" y="154114"/>
                  <a:pt x="473202" y="137604"/>
                  <a:pt x="535686" y="135763"/>
                </a:cubicBezTo>
                <a:cubicBezTo>
                  <a:pt x="598233" y="133858"/>
                  <a:pt x="741045" y="145605"/>
                  <a:pt x="803593" y="143700"/>
                </a:cubicBezTo>
                <a:cubicBezTo>
                  <a:pt x="866076" y="141859"/>
                  <a:pt x="1008888" y="125349"/>
                  <a:pt x="1071436" y="119761"/>
                </a:cubicBezTo>
                <a:cubicBezTo>
                  <a:pt x="1133920" y="114173"/>
                  <a:pt x="1276794" y="97663"/>
                  <a:pt x="1339279" y="95821"/>
                </a:cubicBezTo>
                <a:cubicBezTo>
                  <a:pt x="1401762" y="93980"/>
                  <a:pt x="1544638" y="106616"/>
                  <a:pt x="1607121" y="103822"/>
                </a:cubicBezTo>
                <a:cubicBezTo>
                  <a:pt x="1669606" y="101028"/>
                  <a:pt x="1812480" y="77470"/>
                  <a:pt x="1874964" y="71882"/>
                </a:cubicBezTo>
                <a:cubicBezTo>
                  <a:pt x="1937512" y="66294"/>
                  <a:pt x="2080324" y="59626"/>
                  <a:pt x="2142808" y="55880"/>
                </a:cubicBezTo>
                <a:cubicBezTo>
                  <a:pt x="2205355" y="52197"/>
                  <a:pt x="2348166" y="43688"/>
                  <a:pt x="2410714" y="39941"/>
                </a:cubicBezTo>
                <a:cubicBezTo>
                  <a:pt x="2473198" y="36195"/>
                  <a:pt x="2616073" y="28638"/>
                  <a:pt x="2678557" y="24003"/>
                </a:cubicBezTo>
                <a:cubicBezTo>
                  <a:pt x="2741041" y="19304"/>
                  <a:pt x="2915158" y="2794"/>
                  <a:pt x="2946400" y="0"/>
                </a:cubicBezTo>
              </a:path>
            </a:pathLst>
          </a:custGeom>
          <a:noFill/>
          <a:ln w="2032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end-4"/>
          <p:cNvSpPr/>
          <p:nvPr/>
        </p:nvSpPr>
        <p:spPr>
          <a:xfrm>
            <a:off x="4032250" y="4678136"/>
            <a:ext cx="88900" cy="88900"/>
          </a:xfrm>
          <a:prstGeom prst="ellipse">
            <a:avLst/>
          </a:prstGeom>
          <a:solidFill>
            <a:srgbClr val="2468B6"/>
          </a:solidFill>
          <a:ln w="1587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xl-4-0"/>
          <p:cNvSpPr txBox="1"/>
          <p:nvPr/>
        </p:nvSpPr>
        <p:spPr>
          <a:xfrm>
            <a:off x="1119632" y="53766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1月</a:t>
            </a:r>
          </a:p>
        </p:txBody>
      </p:sp>
      <p:sp>
        <p:nvSpPr>
          <p:cNvPr id="68" name="xl-4-5"/>
          <p:cNvSpPr txBox="1"/>
          <p:nvPr/>
        </p:nvSpPr>
        <p:spPr>
          <a:xfrm>
            <a:off x="2360226" y="53766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6月</a:t>
            </a:r>
          </a:p>
        </p:txBody>
      </p:sp>
      <p:sp>
        <p:nvSpPr>
          <p:cNvPr id="69" name="xl-4-11"/>
          <p:cNvSpPr txBox="1"/>
          <p:nvPr/>
        </p:nvSpPr>
        <p:spPr>
          <a:xfrm>
            <a:off x="3818890" y="5376608"/>
            <a:ext cx="2684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12月</a:t>
            </a:r>
          </a:p>
        </p:txBody>
      </p:sp>
      <p:sp>
        <p:nvSpPr>
          <p:cNvPr id="70" name="card-5"/>
          <p:cNvSpPr/>
          <p:nvPr/>
        </p:nvSpPr>
        <p:spPr>
          <a:xfrm>
            <a:off x="4445000" y="3568700"/>
            <a:ext cx="3302000" cy="2032000"/>
          </a:xfrm>
          <a:custGeom>
            <a:avLst/>
            <a:gdLst/>
            <a:ahLst/>
            <a:cxnLst/>
            <a:rect l="0" t="0" r="r" b="b"/>
            <a:pathLst>
              <a:path w="3302000" h="2032000">
                <a:moveTo>
                  <a:pt x="127000" y="0"/>
                </a:moveTo>
                <a:lnTo>
                  <a:pt x="3175000" y="0"/>
                </a:lnTo>
                <a:cubicBezTo>
                  <a:pt x="3245167" y="0"/>
                  <a:pt x="3302000" y="56833"/>
                  <a:pt x="3302000" y="127000"/>
                </a:cubicBezTo>
                <a:lnTo>
                  <a:pt x="3302000" y="1905000"/>
                </a:lnTo>
                <a:cubicBezTo>
                  <a:pt x="3302000" y="1975167"/>
                  <a:pt x="3245167" y="2032000"/>
                  <a:pt x="3175000" y="2032000"/>
                </a:cubicBezTo>
                <a:lnTo>
                  <a:pt x="127000" y="2032000"/>
                </a:lnTo>
                <a:cubicBezTo>
                  <a:pt x="56833" y="2032000"/>
                  <a:pt x="0" y="1975167"/>
                  <a:pt x="0" y="1905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nm-5"/>
          <p:cNvSpPr txBox="1"/>
          <p:nvPr/>
        </p:nvSpPr>
        <p:spPr>
          <a:xfrm>
            <a:off x="4603750" y="36647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成都</a:t>
            </a:r>
          </a:p>
        </p:txBody>
      </p:sp>
      <p:sp>
        <p:nvSpPr>
          <p:cNvPr id="72" name="lv-5"/>
          <p:cNvSpPr txBox="1"/>
          <p:nvPr/>
        </p:nvSpPr>
        <p:spPr>
          <a:xfrm>
            <a:off x="4611370" y="3933666"/>
            <a:ext cx="8680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12 月 41 百万元</a:t>
            </a:r>
          </a:p>
        </p:txBody>
      </p:sp>
      <p:sp>
        <p:nvSpPr>
          <p:cNvPr id="73" name="gc-5"/>
          <p:cNvSpPr/>
          <p:nvPr/>
        </p:nvSpPr>
        <p:spPr>
          <a:xfrm>
            <a:off x="6908800" y="3721100"/>
            <a:ext cx="660400" cy="215900"/>
          </a:xfrm>
          <a:custGeom>
            <a:avLst/>
            <a:gdLst/>
            <a:ahLst/>
            <a:cxnLst/>
            <a:rect l="0" t="0" r="r" b="b"/>
            <a:pathLst>
              <a:path w="660400" h="215900">
                <a:moveTo>
                  <a:pt x="107950" y="0"/>
                </a:moveTo>
                <a:lnTo>
                  <a:pt x="552450" y="0"/>
                </a:lnTo>
                <a:cubicBezTo>
                  <a:pt x="612077" y="0"/>
                  <a:pt x="660400" y="48324"/>
                  <a:pt x="660400" y="107950"/>
                </a:cubicBezTo>
                <a:lnTo>
                  <a:pt x="660400" y="107950"/>
                </a:lnTo>
                <a:cubicBezTo>
                  <a:pt x="660400" y="167576"/>
                  <a:pt x="612077" y="215900"/>
                  <a:pt x="5524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g-5"/>
          <p:cNvSpPr txBox="1"/>
          <p:nvPr/>
        </p:nvSpPr>
        <p:spPr>
          <a:xfrm>
            <a:off x="7069518" y="3733832"/>
            <a:ext cx="33896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-15%</a:t>
            </a:r>
          </a:p>
        </p:txBody>
      </p:sp>
      <p:cxnSp>
        <p:nvCxnSpPr>
          <p:cNvPr id="75" name="gl-5-0"/>
          <p:cNvCxnSpPr/>
          <p:nvPr/>
        </p:nvCxnSpPr>
        <p:spPr>
          <a:xfrm>
            <a:off x="4622800" y="5321300"/>
            <a:ext cx="2946400" cy="0"/>
          </a:xfrm>
          <a:prstGeom prst="line">
            <a:avLst/>
          </a:prstGeom>
          <a:ln w="635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gl-5-70"/>
          <p:cNvCxnSpPr/>
          <p:nvPr/>
        </p:nvCxnSpPr>
        <p:spPr>
          <a:xfrm>
            <a:off x="4622800" y="4762500"/>
            <a:ext cx="29464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gl-5-140"/>
          <p:cNvCxnSpPr/>
          <p:nvPr/>
        </p:nvCxnSpPr>
        <p:spPr>
          <a:xfrm>
            <a:off x="4622800" y="4203700"/>
            <a:ext cx="29464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avg-5"/>
          <p:cNvCxnSpPr/>
          <p:nvPr/>
        </p:nvCxnSpPr>
        <p:spPr>
          <a:xfrm>
            <a:off x="4622800" y="4729571"/>
            <a:ext cx="2946400" cy="0"/>
          </a:xfrm>
          <a:prstGeom prst="line">
            <a:avLst/>
          </a:prstGeom>
          <a:ln w="7620" cap="rnd">
            <a:solidFill>
              <a:srgbClr val="7E93AE">
                <a:alpha val="5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ar-5"/>
          <p:cNvSpPr/>
          <p:nvPr/>
        </p:nvSpPr>
        <p:spPr>
          <a:xfrm>
            <a:off x="4622800" y="4922052"/>
            <a:ext cx="2946400" cy="399248"/>
          </a:xfrm>
          <a:custGeom>
            <a:avLst/>
            <a:gdLst/>
            <a:ahLst/>
            <a:cxnLst/>
            <a:rect l="0" t="0" r="r" b="b"/>
            <a:pathLst>
              <a:path w="2946400" h="399248">
                <a:moveTo>
                  <a:pt x="0" y="16089"/>
                </a:moveTo>
                <a:cubicBezTo>
                  <a:pt x="31242" y="14184"/>
                  <a:pt x="205359" y="1040"/>
                  <a:pt x="267843" y="87"/>
                </a:cubicBezTo>
                <a:cubicBezTo>
                  <a:pt x="330327" y="-802"/>
                  <a:pt x="473202" y="5294"/>
                  <a:pt x="535686" y="8088"/>
                </a:cubicBezTo>
                <a:cubicBezTo>
                  <a:pt x="598234" y="10882"/>
                  <a:pt x="741045" y="21233"/>
                  <a:pt x="803592" y="24027"/>
                </a:cubicBezTo>
                <a:cubicBezTo>
                  <a:pt x="866076" y="26821"/>
                  <a:pt x="1008888" y="30186"/>
                  <a:pt x="1071436" y="32028"/>
                </a:cubicBezTo>
                <a:cubicBezTo>
                  <a:pt x="1133920" y="33869"/>
                  <a:pt x="1276795" y="38187"/>
                  <a:pt x="1339278" y="40029"/>
                </a:cubicBezTo>
                <a:cubicBezTo>
                  <a:pt x="1401762" y="41870"/>
                  <a:pt x="1544638" y="48919"/>
                  <a:pt x="1607122" y="48030"/>
                </a:cubicBezTo>
                <a:cubicBezTo>
                  <a:pt x="1669605" y="47077"/>
                  <a:pt x="1812480" y="32980"/>
                  <a:pt x="1874964" y="32028"/>
                </a:cubicBezTo>
                <a:cubicBezTo>
                  <a:pt x="1937512" y="31075"/>
                  <a:pt x="2080323" y="37235"/>
                  <a:pt x="2142808" y="40029"/>
                </a:cubicBezTo>
                <a:cubicBezTo>
                  <a:pt x="2205355" y="42823"/>
                  <a:pt x="2348166" y="53173"/>
                  <a:pt x="2410714" y="55967"/>
                </a:cubicBezTo>
                <a:cubicBezTo>
                  <a:pt x="2473198" y="58761"/>
                  <a:pt x="2616073" y="62127"/>
                  <a:pt x="2678557" y="63968"/>
                </a:cubicBezTo>
                <a:cubicBezTo>
                  <a:pt x="2741041" y="65810"/>
                  <a:pt x="2915158" y="71017"/>
                  <a:pt x="2946400" y="71969"/>
                </a:cubicBezTo>
                <a:lnTo>
                  <a:pt x="2946400" y="399248"/>
                </a:lnTo>
                <a:lnTo>
                  <a:pt x="0" y="399248"/>
                </a:lnTo>
                <a:close/>
              </a:path>
            </a:pathLst>
          </a:custGeom>
          <a:gradFill rotWithShape="1">
            <a:gsLst>
              <a:gs pos="0">
                <a:srgbClr val="E0703A">
                  <a:alpha val="22000"/>
                </a:srgbClr>
              </a:gs>
              <a:gs pos="100000">
                <a:srgbClr val="E0703A">
                  <a:alpha val="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ln-5"/>
          <p:cNvSpPr/>
          <p:nvPr/>
        </p:nvSpPr>
        <p:spPr>
          <a:xfrm>
            <a:off x="4622800" y="4922052"/>
            <a:ext cx="2946400" cy="71969"/>
          </a:xfrm>
          <a:custGeom>
            <a:avLst/>
            <a:gdLst/>
            <a:ahLst/>
            <a:cxnLst/>
            <a:rect l="0" t="0" r="r" b="b"/>
            <a:pathLst>
              <a:path w="2946400" h="71969">
                <a:moveTo>
                  <a:pt x="0" y="16089"/>
                </a:moveTo>
                <a:cubicBezTo>
                  <a:pt x="31242" y="14184"/>
                  <a:pt x="205359" y="1040"/>
                  <a:pt x="267843" y="87"/>
                </a:cubicBezTo>
                <a:cubicBezTo>
                  <a:pt x="330327" y="-802"/>
                  <a:pt x="473202" y="5294"/>
                  <a:pt x="535686" y="8088"/>
                </a:cubicBezTo>
                <a:cubicBezTo>
                  <a:pt x="598234" y="10882"/>
                  <a:pt x="741045" y="21233"/>
                  <a:pt x="803592" y="24027"/>
                </a:cubicBezTo>
                <a:cubicBezTo>
                  <a:pt x="866076" y="26821"/>
                  <a:pt x="1008888" y="30186"/>
                  <a:pt x="1071436" y="32028"/>
                </a:cubicBezTo>
                <a:cubicBezTo>
                  <a:pt x="1133920" y="33869"/>
                  <a:pt x="1276795" y="38187"/>
                  <a:pt x="1339278" y="40029"/>
                </a:cubicBezTo>
                <a:cubicBezTo>
                  <a:pt x="1401762" y="41870"/>
                  <a:pt x="1544638" y="48919"/>
                  <a:pt x="1607122" y="48030"/>
                </a:cubicBezTo>
                <a:cubicBezTo>
                  <a:pt x="1669605" y="47077"/>
                  <a:pt x="1812480" y="32980"/>
                  <a:pt x="1874964" y="32028"/>
                </a:cubicBezTo>
                <a:cubicBezTo>
                  <a:pt x="1937512" y="31075"/>
                  <a:pt x="2080323" y="37235"/>
                  <a:pt x="2142808" y="40029"/>
                </a:cubicBezTo>
                <a:cubicBezTo>
                  <a:pt x="2205355" y="42823"/>
                  <a:pt x="2348166" y="53173"/>
                  <a:pt x="2410714" y="55967"/>
                </a:cubicBezTo>
                <a:cubicBezTo>
                  <a:pt x="2473198" y="58761"/>
                  <a:pt x="2616073" y="62127"/>
                  <a:pt x="2678557" y="63968"/>
                </a:cubicBezTo>
                <a:cubicBezTo>
                  <a:pt x="2741041" y="65810"/>
                  <a:pt x="2915158" y="71017"/>
                  <a:pt x="2946400" y="71969"/>
                </a:cubicBezTo>
              </a:path>
            </a:pathLst>
          </a:custGeom>
          <a:noFill/>
          <a:ln w="2032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end-5"/>
          <p:cNvSpPr/>
          <p:nvPr/>
        </p:nvSpPr>
        <p:spPr>
          <a:xfrm>
            <a:off x="7524750" y="4949553"/>
            <a:ext cx="88900" cy="88900"/>
          </a:xfrm>
          <a:prstGeom prst="ellipse">
            <a:avLst/>
          </a:prstGeom>
          <a:solidFill>
            <a:srgbClr val="E0703A"/>
          </a:solidFill>
          <a:ln w="1587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xl-5-0"/>
          <p:cNvSpPr txBox="1"/>
          <p:nvPr/>
        </p:nvSpPr>
        <p:spPr>
          <a:xfrm>
            <a:off x="4612132" y="53766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1月</a:t>
            </a:r>
          </a:p>
        </p:txBody>
      </p:sp>
      <p:sp>
        <p:nvSpPr>
          <p:cNvPr id="83" name="xl-5-5"/>
          <p:cNvSpPr txBox="1"/>
          <p:nvPr/>
        </p:nvSpPr>
        <p:spPr>
          <a:xfrm>
            <a:off x="5852726" y="53766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6月</a:t>
            </a:r>
          </a:p>
        </p:txBody>
      </p:sp>
      <p:sp>
        <p:nvSpPr>
          <p:cNvPr id="84" name="xl-5-11"/>
          <p:cNvSpPr txBox="1"/>
          <p:nvPr/>
        </p:nvSpPr>
        <p:spPr>
          <a:xfrm>
            <a:off x="7311390" y="5376608"/>
            <a:ext cx="2684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12月</a:t>
            </a:r>
          </a:p>
        </p:txBody>
      </p:sp>
      <p:sp>
        <p:nvSpPr>
          <p:cNvPr id="85" name="card-6"/>
          <p:cNvSpPr/>
          <p:nvPr/>
        </p:nvSpPr>
        <p:spPr>
          <a:xfrm>
            <a:off x="7937500" y="3568700"/>
            <a:ext cx="3302000" cy="2032000"/>
          </a:xfrm>
          <a:custGeom>
            <a:avLst/>
            <a:gdLst/>
            <a:ahLst/>
            <a:cxnLst/>
            <a:rect l="0" t="0" r="r" b="b"/>
            <a:pathLst>
              <a:path w="3302000" h="2032000">
                <a:moveTo>
                  <a:pt x="127000" y="0"/>
                </a:moveTo>
                <a:lnTo>
                  <a:pt x="3175000" y="0"/>
                </a:lnTo>
                <a:cubicBezTo>
                  <a:pt x="3245167" y="0"/>
                  <a:pt x="3302000" y="56833"/>
                  <a:pt x="3302000" y="127000"/>
                </a:cubicBezTo>
                <a:lnTo>
                  <a:pt x="3302000" y="1905000"/>
                </a:lnTo>
                <a:cubicBezTo>
                  <a:pt x="3302000" y="1975167"/>
                  <a:pt x="3245167" y="2032000"/>
                  <a:pt x="3175000" y="2032000"/>
                </a:cubicBezTo>
                <a:lnTo>
                  <a:pt x="127000" y="2032000"/>
                </a:lnTo>
                <a:cubicBezTo>
                  <a:pt x="56833" y="2032000"/>
                  <a:pt x="0" y="1975167"/>
                  <a:pt x="0" y="1905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nm-6"/>
          <p:cNvSpPr txBox="1"/>
          <p:nvPr/>
        </p:nvSpPr>
        <p:spPr>
          <a:xfrm>
            <a:off x="8096250" y="36647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武汉</a:t>
            </a:r>
          </a:p>
        </p:txBody>
      </p:sp>
      <p:sp>
        <p:nvSpPr>
          <p:cNvPr id="87" name="lv-6"/>
          <p:cNvSpPr txBox="1"/>
          <p:nvPr/>
        </p:nvSpPr>
        <p:spPr>
          <a:xfrm>
            <a:off x="8103870" y="3933666"/>
            <a:ext cx="8680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12 月 58 百万元</a:t>
            </a:r>
          </a:p>
        </p:txBody>
      </p:sp>
      <p:sp>
        <p:nvSpPr>
          <p:cNvPr id="88" name="gc-6"/>
          <p:cNvSpPr/>
          <p:nvPr/>
        </p:nvSpPr>
        <p:spPr>
          <a:xfrm>
            <a:off x="10401300" y="3721100"/>
            <a:ext cx="660400" cy="215900"/>
          </a:xfrm>
          <a:custGeom>
            <a:avLst/>
            <a:gdLst/>
            <a:ahLst/>
            <a:cxnLst/>
            <a:rect l="0" t="0" r="r" b="b"/>
            <a:pathLst>
              <a:path w="660400" h="215900">
                <a:moveTo>
                  <a:pt x="107950" y="0"/>
                </a:moveTo>
                <a:lnTo>
                  <a:pt x="552450" y="0"/>
                </a:lnTo>
                <a:cubicBezTo>
                  <a:pt x="612077" y="0"/>
                  <a:pt x="660400" y="48324"/>
                  <a:pt x="660400" y="107950"/>
                </a:cubicBezTo>
                <a:lnTo>
                  <a:pt x="660400" y="107950"/>
                </a:lnTo>
                <a:cubicBezTo>
                  <a:pt x="660400" y="167576"/>
                  <a:pt x="612077" y="215900"/>
                  <a:pt x="5524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2468B6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g-6"/>
          <p:cNvSpPr txBox="1"/>
          <p:nvPr/>
        </p:nvSpPr>
        <p:spPr>
          <a:xfrm>
            <a:off x="10562018" y="3733832"/>
            <a:ext cx="33896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+45%</a:t>
            </a:r>
          </a:p>
        </p:txBody>
      </p:sp>
      <p:cxnSp>
        <p:nvCxnSpPr>
          <p:cNvPr id="90" name="gl-6-0"/>
          <p:cNvCxnSpPr/>
          <p:nvPr/>
        </p:nvCxnSpPr>
        <p:spPr>
          <a:xfrm>
            <a:off x="8115300" y="5321300"/>
            <a:ext cx="2946400" cy="0"/>
          </a:xfrm>
          <a:prstGeom prst="line">
            <a:avLst/>
          </a:prstGeom>
          <a:ln w="635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gl-6-70"/>
          <p:cNvCxnSpPr/>
          <p:nvPr/>
        </p:nvCxnSpPr>
        <p:spPr>
          <a:xfrm>
            <a:off x="8115300" y="4762500"/>
            <a:ext cx="29464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gl-6-140"/>
          <p:cNvCxnSpPr/>
          <p:nvPr/>
        </p:nvCxnSpPr>
        <p:spPr>
          <a:xfrm>
            <a:off x="8115300" y="4203700"/>
            <a:ext cx="29464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avg-6"/>
          <p:cNvCxnSpPr/>
          <p:nvPr/>
        </p:nvCxnSpPr>
        <p:spPr>
          <a:xfrm>
            <a:off x="8115300" y="4729571"/>
            <a:ext cx="2946400" cy="0"/>
          </a:xfrm>
          <a:prstGeom prst="line">
            <a:avLst/>
          </a:prstGeom>
          <a:ln w="7620" cap="rnd">
            <a:solidFill>
              <a:srgbClr val="7E93AE">
                <a:alpha val="5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4" name="ar-6"/>
          <p:cNvSpPr/>
          <p:nvPr/>
        </p:nvSpPr>
        <p:spPr>
          <a:xfrm>
            <a:off x="8115300" y="4858322"/>
            <a:ext cx="2946400" cy="462978"/>
          </a:xfrm>
          <a:custGeom>
            <a:avLst/>
            <a:gdLst/>
            <a:ahLst/>
            <a:cxnLst/>
            <a:rect l="0" t="0" r="r" b="b"/>
            <a:pathLst>
              <a:path w="2946400" h="462978">
                <a:moveTo>
                  <a:pt x="0" y="143637"/>
                </a:moveTo>
                <a:cubicBezTo>
                  <a:pt x="31242" y="141795"/>
                  <a:pt x="205359" y="132334"/>
                  <a:pt x="267843" y="127699"/>
                </a:cubicBezTo>
                <a:cubicBezTo>
                  <a:pt x="330327" y="123063"/>
                  <a:pt x="473202" y="105600"/>
                  <a:pt x="535686" y="103759"/>
                </a:cubicBezTo>
                <a:cubicBezTo>
                  <a:pt x="598234" y="101917"/>
                  <a:pt x="741045" y="113601"/>
                  <a:pt x="803592" y="111760"/>
                </a:cubicBezTo>
                <a:cubicBezTo>
                  <a:pt x="866077" y="109855"/>
                  <a:pt x="1008888" y="92456"/>
                  <a:pt x="1071436" y="87757"/>
                </a:cubicBezTo>
                <a:cubicBezTo>
                  <a:pt x="1133919" y="83121"/>
                  <a:pt x="1276794" y="72771"/>
                  <a:pt x="1339279" y="71818"/>
                </a:cubicBezTo>
                <a:cubicBezTo>
                  <a:pt x="1401762" y="70866"/>
                  <a:pt x="1544638" y="81661"/>
                  <a:pt x="1607121" y="79819"/>
                </a:cubicBezTo>
                <a:cubicBezTo>
                  <a:pt x="1669606" y="77914"/>
                  <a:pt x="1812481" y="60515"/>
                  <a:pt x="1874964" y="55880"/>
                </a:cubicBezTo>
                <a:cubicBezTo>
                  <a:pt x="1937512" y="51181"/>
                  <a:pt x="2080323" y="40830"/>
                  <a:pt x="2142808" y="39878"/>
                </a:cubicBezTo>
                <a:cubicBezTo>
                  <a:pt x="2205355" y="38925"/>
                  <a:pt x="2348166" y="49720"/>
                  <a:pt x="2410714" y="47879"/>
                </a:cubicBezTo>
                <a:cubicBezTo>
                  <a:pt x="2473198" y="46038"/>
                  <a:pt x="2616073" y="29527"/>
                  <a:pt x="2678557" y="23939"/>
                </a:cubicBezTo>
                <a:cubicBezTo>
                  <a:pt x="2741041" y="18351"/>
                  <a:pt x="2915158" y="2794"/>
                  <a:pt x="2946400" y="0"/>
                </a:cubicBezTo>
                <a:lnTo>
                  <a:pt x="2946400" y="462978"/>
                </a:lnTo>
                <a:lnTo>
                  <a:pt x="0" y="462978"/>
                </a:lnTo>
                <a:close/>
              </a:path>
            </a:pathLst>
          </a:custGeom>
          <a:gradFill rotWithShape="1">
            <a:gsLst>
              <a:gs pos="0">
                <a:srgbClr val="2468B6">
                  <a:alpha val="22000"/>
                </a:srgbClr>
              </a:gs>
              <a:gs pos="100000">
                <a:srgbClr val="2468B6">
                  <a:alpha val="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ln-6"/>
          <p:cNvSpPr/>
          <p:nvPr/>
        </p:nvSpPr>
        <p:spPr>
          <a:xfrm>
            <a:off x="8115300" y="4858322"/>
            <a:ext cx="2946400" cy="143637"/>
          </a:xfrm>
          <a:custGeom>
            <a:avLst/>
            <a:gdLst/>
            <a:ahLst/>
            <a:cxnLst/>
            <a:rect l="0" t="0" r="r" b="b"/>
            <a:pathLst>
              <a:path w="2946400" h="143637">
                <a:moveTo>
                  <a:pt x="0" y="143637"/>
                </a:moveTo>
                <a:cubicBezTo>
                  <a:pt x="31242" y="141795"/>
                  <a:pt x="205359" y="132334"/>
                  <a:pt x="267843" y="127699"/>
                </a:cubicBezTo>
                <a:cubicBezTo>
                  <a:pt x="330327" y="123063"/>
                  <a:pt x="473202" y="105600"/>
                  <a:pt x="535686" y="103759"/>
                </a:cubicBezTo>
                <a:cubicBezTo>
                  <a:pt x="598234" y="101917"/>
                  <a:pt x="741045" y="113601"/>
                  <a:pt x="803592" y="111760"/>
                </a:cubicBezTo>
                <a:cubicBezTo>
                  <a:pt x="866077" y="109855"/>
                  <a:pt x="1008888" y="92456"/>
                  <a:pt x="1071436" y="87757"/>
                </a:cubicBezTo>
                <a:cubicBezTo>
                  <a:pt x="1133919" y="83121"/>
                  <a:pt x="1276794" y="72771"/>
                  <a:pt x="1339279" y="71818"/>
                </a:cubicBezTo>
                <a:cubicBezTo>
                  <a:pt x="1401762" y="70866"/>
                  <a:pt x="1544638" y="81661"/>
                  <a:pt x="1607121" y="79819"/>
                </a:cubicBezTo>
                <a:cubicBezTo>
                  <a:pt x="1669606" y="77914"/>
                  <a:pt x="1812481" y="60515"/>
                  <a:pt x="1874964" y="55880"/>
                </a:cubicBezTo>
                <a:cubicBezTo>
                  <a:pt x="1937512" y="51181"/>
                  <a:pt x="2080323" y="40830"/>
                  <a:pt x="2142808" y="39878"/>
                </a:cubicBezTo>
                <a:cubicBezTo>
                  <a:pt x="2205355" y="38925"/>
                  <a:pt x="2348166" y="49720"/>
                  <a:pt x="2410714" y="47879"/>
                </a:cubicBezTo>
                <a:cubicBezTo>
                  <a:pt x="2473198" y="46038"/>
                  <a:pt x="2616073" y="29527"/>
                  <a:pt x="2678557" y="23939"/>
                </a:cubicBezTo>
                <a:cubicBezTo>
                  <a:pt x="2741041" y="18351"/>
                  <a:pt x="2915158" y="2794"/>
                  <a:pt x="2946400" y="0"/>
                </a:cubicBezTo>
              </a:path>
            </a:pathLst>
          </a:custGeom>
          <a:noFill/>
          <a:ln w="2032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end-6"/>
          <p:cNvSpPr/>
          <p:nvPr/>
        </p:nvSpPr>
        <p:spPr>
          <a:xfrm>
            <a:off x="11017250" y="4813844"/>
            <a:ext cx="88900" cy="88900"/>
          </a:xfrm>
          <a:prstGeom prst="ellipse">
            <a:avLst/>
          </a:prstGeom>
          <a:solidFill>
            <a:srgbClr val="2468B6"/>
          </a:solidFill>
          <a:ln w="1587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xl-6-0"/>
          <p:cNvSpPr txBox="1"/>
          <p:nvPr/>
        </p:nvSpPr>
        <p:spPr>
          <a:xfrm>
            <a:off x="8104632" y="53766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1月</a:t>
            </a:r>
          </a:p>
        </p:txBody>
      </p:sp>
      <p:sp>
        <p:nvSpPr>
          <p:cNvPr id="98" name="xl-6-5"/>
          <p:cNvSpPr txBox="1"/>
          <p:nvPr/>
        </p:nvSpPr>
        <p:spPr>
          <a:xfrm>
            <a:off x="9345226" y="53766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6月</a:t>
            </a:r>
          </a:p>
        </p:txBody>
      </p:sp>
      <p:sp>
        <p:nvSpPr>
          <p:cNvPr id="99" name="xl-6-11"/>
          <p:cNvSpPr txBox="1"/>
          <p:nvPr/>
        </p:nvSpPr>
        <p:spPr>
          <a:xfrm>
            <a:off x="10803890" y="5376608"/>
            <a:ext cx="2684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12月</a:t>
            </a:r>
          </a:p>
        </p:txBody>
      </p:sp>
      <p:sp>
        <p:nvSpPr>
          <p:cNvPr id="100" name="note"/>
          <p:cNvSpPr txBox="1"/>
          <p:nvPr/>
        </p:nvSpPr>
        <p:spPr>
          <a:xfrm>
            <a:off x="9072054" y="5766387"/>
            <a:ext cx="217849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虚线 = 六城月均 74 百万元 · 纵轴统一 0–140</a:t>
            </a:r>
          </a:p>
        </p:txBody>
      </p:sp>
      <p:sp>
        <p:nvSpPr>
          <p:cNvPr id="101" name="insight"/>
          <p:cNvSpPr txBox="1"/>
          <p:nvPr/>
        </p:nvSpPr>
        <p:spPr>
          <a:xfrm>
            <a:off x="939165" y="5742861"/>
            <a:ext cx="321659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深圳全年 +120%，增速第一；成都连续下滑，需要单独复盘。</a:t>
            </a:r>
          </a:p>
        </p:txBody>
      </p:sp>
      <p:cxnSp>
        <p:nvCxnSpPr>
          <p:cNvPr id="102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3" name="foot-l"/>
          <p:cNvSpPr txBox="1"/>
          <p:nvPr/>
        </p:nvSpPr>
        <p:spPr>
          <a:xfrm>
            <a:off x="573532" y="6532308"/>
            <a:ext cx="9469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小多图 · 六个城市</a:t>
            </a:r>
          </a:p>
        </p:txBody>
      </p:sp>
      <p:sp>
        <p:nvSpPr>
          <p:cNvPr id="104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营收结构两层拆解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35483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SUNBURST CHART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551799" y="673132"/>
            <a:ext cx="30689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内圈是四大业务，外圈是各自的产品线，角度代表营收占比</a:t>
            </a:r>
          </a:p>
        </p:txBody>
      </p:sp>
      <p:sp>
        <p:nvSpPr>
          <p:cNvPr id="10" name="in-1"/>
          <p:cNvSpPr/>
          <p:nvPr/>
        </p:nvSpPr>
        <p:spPr>
          <a:xfrm>
            <a:off x="4464050" y="2301140"/>
            <a:ext cx="1365266" cy="2565082"/>
          </a:xfrm>
          <a:custGeom>
            <a:avLst/>
            <a:gdLst/>
            <a:ahLst/>
            <a:cxnLst/>
            <a:rect l="0" t="0" r="r" b="b"/>
            <a:pathLst>
              <a:path w="1365266" h="2565082">
                <a:moveTo>
                  <a:pt x="63437" y="36"/>
                </a:moveTo>
                <a:cubicBezTo>
                  <a:pt x="663722" y="35867"/>
                  <a:pt x="1172212" y="455152"/>
                  <a:pt x="1321765" y="1037612"/>
                </a:cubicBezTo>
                <a:cubicBezTo>
                  <a:pt x="1471317" y="1620073"/>
                  <a:pt x="1227718" y="2232463"/>
                  <a:pt x="718947" y="2553054"/>
                </a:cubicBezTo>
                <a:quadBezTo>
                  <a:pt x="664464" y="2585629"/>
                  <a:pt x="633857" y="2530003"/>
                </a:quadBezTo>
                <a:lnTo>
                  <a:pt x="364617" y="2040228"/>
                </a:lnTo>
                <a:quadBezTo>
                  <a:pt x="334010" y="1984538"/>
                  <a:pt x="387287" y="1949994"/>
                </a:quadBezTo>
                <a:cubicBezTo>
                  <a:pt x="621860" y="1782205"/>
                  <a:pt x="729193" y="1487499"/>
                  <a:pt x="657466" y="1208155"/>
                </a:cubicBezTo>
                <a:cubicBezTo>
                  <a:pt x="585739" y="928810"/>
                  <a:pt x="349702" y="722271"/>
                  <a:pt x="63310" y="688249"/>
                </a:cubicBezTo>
                <a:quadBezTo>
                  <a:pt x="0" y="683614"/>
                  <a:pt x="0" y="620114"/>
                </a:quadBezTo>
                <a:lnTo>
                  <a:pt x="0" y="61187"/>
                </a:lnTo>
                <a:quadBezTo>
                  <a:pt x="0" y="-2313"/>
                  <a:pt x="63437" y="36"/>
                </a:quad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int-1"/>
          <p:cNvSpPr txBox="1"/>
          <p:nvPr/>
        </p:nvSpPr>
        <p:spPr>
          <a:xfrm>
            <a:off x="5160948" y="3270154"/>
            <a:ext cx="585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企业软件</a:t>
            </a:r>
          </a:p>
        </p:txBody>
      </p:sp>
      <p:sp>
        <p:nvSpPr>
          <p:cNvPr id="12" name="inv-1"/>
          <p:cNvSpPr txBox="1"/>
          <p:nvPr/>
        </p:nvSpPr>
        <p:spPr>
          <a:xfrm>
            <a:off x="5330810" y="3446081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E3EDF9"/>
                </a:solidFill>
                <a:latin typeface="Arial"/>
                <a:ea typeface="Arial"/>
                <a:cs typeface="Arial"/>
              </a:rPr>
              <a:t>42%</a:t>
            </a:r>
          </a:p>
        </p:txBody>
      </p:sp>
      <p:sp>
        <p:nvSpPr>
          <p:cNvPr id="13" name="out-1-1"/>
          <p:cNvSpPr/>
          <p:nvPr/>
        </p:nvSpPr>
        <p:spPr>
          <a:xfrm>
            <a:off x="4460875" y="1588580"/>
            <a:ext cx="1858232" cy="1454410"/>
          </a:xfrm>
          <a:custGeom>
            <a:avLst/>
            <a:gdLst/>
            <a:ahLst/>
            <a:cxnLst/>
            <a:rect l="0" t="0" r="r" b="b"/>
            <a:pathLst>
              <a:path w="1858232" h="1454410">
                <a:moveTo>
                  <a:pt x="50800" y="0"/>
                </a:moveTo>
                <a:cubicBezTo>
                  <a:pt x="814142" y="24296"/>
                  <a:pt x="1503817" y="461963"/>
                  <a:pt x="1850835" y="1142302"/>
                </a:cubicBezTo>
                <a:quadBezTo>
                  <a:pt x="1873377" y="1187831"/>
                  <a:pt x="1827403" y="1209484"/>
                </a:quadBezTo>
                <a:lnTo>
                  <a:pt x="1321752" y="1447419"/>
                </a:lnTo>
                <a:quadBezTo>
                  <a:pt x="1275778" y="1469072"/>
                  <a:pt x="1252855" y="1423734"/>
                </a:quadBezTo>
                <a:cubicBezTo>
                  <a:pt x="1015444" y="974601"/>
                  <a:pt x="558271" y="684454"/>
                  <a:pt x="50800" y="660845"/>
                </a:cubicBezTo>
                <a:quadBezTo>
                  <a:pt x="0" y="659384"/>
                  <a:pt x="0" y="608584"/>
                </a:quadBezTo>
                <a:lnTo>
                  <a:pt x="0" y="49784"/>
                </a:lnTo>
                <a:quadBezTo>
                  <a:pt x="0" y="-1016"/>
                  <a:pt x="50800" y="0"/>
                </a:quadBezTo>
                <a:close/>
              </a:path>
            </a:pathLst>
          </a:custGeom>
          <a:solidFill>
            <a:srgbClr val="486EA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outt-1-1"/>
          <p:cNvSpPr txBox="1"/>
          <p:nvPr/>
        </p:nvSpPr>
        <p:spPr>
          <a:xfrm>
            <a:off x="5268023" y="2112974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ERP</a:t>
            </a:r>
          </a:p>
        </p:txBody>
      </p:sp>
      <p:sp>
        <p:nvSpPr>
          <p:cNvPr id="15" name="out-1-2"/>
          <p:cNvSpPr/>
          <p:nvPr/>
        </p:nvSpPr>
        <p:spPr>
          <a:xfrm>
            <a:off x="5764273" y="2819938"/>
            <a:ext cx="776224" cy="1726125"/>
          </a:xfrm>
          <a:custGeom>
            <a:avLst/>
            <a:gdLst/>
            <a:ahLst/>
            <a:cxnLst/>
            <a:rect l="0" t="0" r="r" b="b"/>
            <a:pathLst>
              <a:path w="776224" h="1726125">
                <a:moveTo>
                  <a:pt x="604205" y="31593"/>
                </a:moveTo>
                <a:cubicBezTo>
                  <a:pt x="833564" y="562181"/>
                  <a:pt x="833564" y="1163944"/>
                  <a:pt x="604205" y="1694531"/>
                </a:cubicBezTo>
                <a:quadBezTo>
                  <a:pt x="583504" y="1740886"/>
                  <a:pt x="537530" y="1719233"/>
                </a:quadBezTo>
                <a:lnTo>
                  <a:pt x="31880" y="1481298"/>
                </a:lnTo>
                <a:quadBezTo>
                  <a:pt x="-14094" y="1459708"/>
                  <a:pt x="6226" y="1413099"/>
                </a:quadBezTo>
                <a:cubicBezTo>
                  <a:pt x="152349" y="1060965"/>
                  <a:pt x="152349" y="665160"/>
                  <a:pt x="6226" y="313025"/>
                </a:cubicBezTo>
                <a:quadBezTo>
                  <a:pt x="-14094" y="266416"/>
                  <a:pt x="31880" y="244826"/>
                </a:quadBezTo>
                <a:lnTo>
                  <a:pt x="537530" y="6892"/>
                </a:lnTo>
                <a:quadBezTo>
                  <a:pt x="583504" y="-14762"/>
                  <a:pt x="604205" y="31593"/>
                </a:quadBezTo>
                <a:close/>
              </a:path>
            </a:pathLst>
          </a:custGeom>
          <a:solidFill>
            <a:srgbClr val="7995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outt-1-2"/>
          <p:cNvSpPr txBox="1"/>
          <p:nvPr/>
        </p:nvSpPr>
        <p:spPr>
          <a:xfrm>
            <a:off x="6087428" y="3603466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CRM</a:t>
            </a:r>
          </a:p>
        </p:txBody>
      </p:sp>
      <p:sp>
        <p:nvSpPr>
          <p:cNvPr id="17" name="out-1-3"/>
          <p:cNvSpPr/>
          <p:nvPr/>
        </p:nvSpPr>
        <p:spPr>
          <a:xfrm>
            <a:off x="5165942" y="4323010"/>
            <a:ext cx="1153165" cy="1172442"/>
          </a:xfrm>
          <a:custGeom>
            <a:avLst/>
            <a:gdLst/>
            <a:ahLst/>
            <a:cxnLst/>
            <a:rect l="0" t="0" r="r" b="b"/>
            <a:pathLst>
              <a:path w="1153165" h="1172442">
                <a:moveTo>
                  <a:pt x="1145767" y="312109"/>
                </a:moveTo>
                <a:cubicBezTo>
                  <a:pt x="965363" y="665821"/>
                  <a:pt x="688177" y="960999"/>
                  <a:pt x="346493" y="1163263"/>
                </a:cubicBezTo>
                <a:quadBezTo>
                  <a:pt x="302424" y="1188599"/>
                  <a:pt x="277976" y="1144086"/>
                </a:quadBezTo>
                <a:lnTo>
                  <a:pt x="8736" y="654374"/>
                </a:lnTo>
                <a:quadBezTo>
                  <a:pt x="-15711" y="609860"/>
                  <a:pt x="28104" y="584079"/>
                </a:quadBezTo>
                <a:cubicBezTo>
                  <a:pt x="247867" y="449605"/>
                  <a:pt x="427376" y="258449"/>
                  <a:pt x="547788" y="30677"/>
                </a:cubicBezTo>
                <a:quadBezTo>
                  <a:pt x="570711" y="-14662"/>
                  <a:pt x="616685" y="6991"/>
                </a:quadBezTo>
                <a:lnTo>
                  <a:pt x="1122336" y="244926"/>
                </a:lnTo>
                <a:quadBezTo>
                  <a:pt x="1168310" y="266579"/>
                  <a:pt x="1145767" y="312109"/>
                </a:quadBezTo>
                <a:close/>
              </a:path>
            </a:pathLst>
          </a:custGeom>
          <a:solidFill>
            <a:srgbClr val="AABBD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outt-1-3"/>
          <p:cNvSpPr txBox="1"/>
          <p:nvPr/>
        </p:nvSpPr>
        <p:spPr>
          <a:xfrm>
            <a:off x="5635646" y="4811897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OA</a:t>
            </a:r>
          </a:p>
        </p:txBody>
      </p:sp>
      <p:sp>
        <p:nvSpPr>
          <p:cNvPr id="19" name="in-2"/>
          <p:cNvSpPr/>
          <p:nvPr/>
        </p:nvSpPr>
        <p:spPr>
          <a:xfrm>
            <a:off x="3150513" y="3931583"/>
            <a:ext cx="1924695" cy="1135478"/>
          </a:xfrm>
          <a:custGeom>
            <a:avLst/>
            <a:gdLst/>
            <a:ahLst/>
            <a:cxnLst/>
            <a:rect l="0" t="0" r="r" b="b"/>
            <a:pathLst>
              <a:path w="1924695" h="1135478">
                <a:moveTo>
                  <a:pt x="1887895" y="1002050"/>
                </a:moveTo>
                <a:cubicBezTo>
                  <a:pt x="1541171" y="1166569"/>
                  <a:pt x="1141710" y="1179766"/>
                  <a:pt x="784883" y="1038492"/>
                </a:cubicBezTo>
                <a:cubicBezTo>
                  <a:pt x="428056" y="897219"/>
                  <a:pt x="145891" y="614152"/>
                  <a:pt x="5755" y="256877"/>
                </a:cubicBezTo>
                <a:quadBezTo>
                  <a:pt x="-16026" y="197251"/>
                  <a:pt x="44363" y="177629"/>
                </a:quadBezTo>
                <a:lnTo>
                  <a:pt x="575921" y="4909"/>
                </a:lnTo>
                <a:quadBezTo>
                  <a:pt x="636310" y="-14712"/>
                  <a:pt x="660249" y="44089"/>
                </a:quadBezTo>
                <a:cubicBezTo>
                  <a:pt x="816442" y="382578"/>
                  <a:pt x="1210918" y="538759"/>
                  <a:pt x="1556488" y="398927"/>
                </a:cubicBezTo>
                <a:quadBezTo>
                  <a:pt x="1614146" y="372447"/>
                  <a:pt x="1644753" y="428137"/>
                </a:quadBezTo>
                <a:lnTo>
                  <a:pt x="1914057" y="917912"/>
                </a:lnTo>
                <a:quadBezTo>
                  <a:pt x="1944600" y="973538"/>
                  <a:pt x="1887895" y="1002050"/>
                </a:quadBezTo>
                <a:close/>
              </a:path>
            </a:pathLst>
          </a:custGeom>
          <a:gradFill rotWithShape="1">
            <a:gsLst>
              <a:gs pos="0">
                <a:srgbClr val="3E7ABF"/>
              </a:gs>
              <a:gs pos="100000">
                <a:srgbClr val="2468B6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int-2"/>
          <p:cNvSpPr txBox="1"/>
          <p:nvPr/>
        </p:nvSpPr>
        <p:spPr>
          <a:xfrm>
            <a:off x="3829225" y="4497409"/>
            <a:ext cx="46482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云服务</a:t>
            </a:r>
          </a:p>
        </p:txBody>
      </p:sp>
      <p:sp>
        <p:nvSpPr>
          <p:cNvPr id="21" name="inv-2"/>
          <p:cNvSpPr txBox="1"/>
          <p:nvPr/>
        </p:nvSpPr>
        <p:spPr>
          <a:xfrm>
            <a:off x="3938763" y="4673335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E3EDF9"/>
                </a:solidFill>
                <a:latin typeface="Arial"/>
                <a:ea typeface="Arial"/>
                <a:cs typeface="Arial"/>
              </a:rPr>
              <a:t>28%</a:t>
            </a:r>
          </a:p>
        </p:txBody>
      </p:sp>
      <p:sp>
        <p:nvSpPr>
          <p:cNvPr id="22" name="out-2-1"/>
          <p:cNvSpPr/>
          <p:nvPr/>
        </p:nvSpPr>
        <p:spPr>
          <a:xfrm>
            <a:off x="3949365" y="4963476"/>
            <a:ext cx="1475316" cy="815008"/>
          </a:xfrm>
          <a:custGeom>
            <a:avLst/>
            <a:gdLst/>
            <a:ahLst/>
            <a:cxnLst/>
            <a:rect l="0" t="0" r="r" b="b"/>
            <a:pathLst>
              <a:path w="1475316" h="815008">
                <a:moveTo>
                  <a:pt x="1446230" y="586995"/>
                </a:moveTo>
                <a:cubicBezTo>
                  <a:pt x="1012169" y="807945"/>
                  <a:pt x="514697" y="870792"/>
                  <a:pt x="39324" y="764732"/>
                </a:cubicBezTo>
                <a:quadBezTo>
                  <a:pt x="-10079" y="753048"/>
                  <a:pt x="2558" y="703899"/>
                </a:quadBezTo>
                <a:lnTo>
                  <a:pt x="141496" y="162625"/>
                </a:lnTo>
                <a:quadBezTo>
                  <a:pt x="154132" y="113412"/>
                  <a:pt x="203662" y="124588"/>
                </a:quadBezTo>
                <a:cubicBezTo>
                  <a:pt x="516130" y="189528"/>
                  <a:pt x="841329" y="148459"/>
                  <a:pt x="1127841" y="7875"/>
                </a:cubicBezTo>
                <a:quadBezTo>
                  <a:pt x="1173053" y="-15302"/>
                  <a:pt x="1197501" y="29211"/>
                </a:quadBezTo>
                <a:lnTo>
                  <a:pt x="1466741" y="518923"/>
                </a:lnTo>
                <a:quadBezTo>
                  <a:pt x="1491188" y="563437"/>
                  <a:pt x="1446230" y="586995"/>
                </a:quadBezTo>
                <a:close/>
              </a:path>
            </a:pathLst>
          </a:custGeom>
          <a:solidFill>
            <a:srgbClr val="5B8EC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outt-2-1"/>
          <p:cNvSpPr txBox="1"/>
          <p:nvPr/>
        </p:nvSpPr>
        <p:spPr>
          <a:xfrm>
            <a:off x="4516708" y="5354846"/>
            <a:ext cx="2990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IaaS</a:t>
            </a:r>
          </a:p>
        </p:txBody>
      </p:sp>
      <p:sp>
        <p:nvSpPr>
          <p:cNvPr id="24" name="out-2-2"/>
          <p:cNvSpPr/>
          <p:nvPr/>
        </p:nvSpPr>
        <p:spPr>
          <a:xfrm>
            <a:off x="2946495" y="4694603"/>
            <a:ext cx="1116209" cy="1003346"/>
          </a:xfrm>
          <a:custGeom>
            <a:avLst/>
            <a:gdLst/>
            <a:ahLst/>
            <a:cxnLst/>
            <a:rect l="0" t="0" r="r" b="b"/>
            <a:pathLst>
              <a:path w="1116209" h="1003346">
                <a:moveTo>
                  <a:pt x="913098" y="1000458"/>
                </a:moveTo>
                <a:cubicBezTo>
                  <a:pt x="574730" y="902012"/>
                  <a:pt x="266653" y="719822"/>
                  <a:pt x="17367" y="470741"/>
                </a:cubicBezTo>
                <a:quadBezTo>
                  <a:pt x="-18129" y="434419"/>
                  <a:pt x="18891" y="399621"/>
                </a:quadBezTo>
                <a:lnTo>
                  <a:pt x="426244" y="17097"/>
                </a:lnTo>
                <a:quadBezTo>
                  <a:pt x="463264" y="-17701"/>
                  <a:pt x="499142" y="18304"/>
                </a:quadBezTo>
                <a:cubicBezTo>
                  <a:pt x="662129" y="176460"/>
                  <a:pt x="860325" y="293675"/>
                  <a:pt x="1077436" y="360315"/>
                </a:cubicBezTo>
                <a:quadBezTo>
                  <a:pt x="1126268" y="374348"/>
                  <a:pt x="1113631" y="423561"/>
                </a:quadBezTo>
                <a:lnTo>
                  <a:pt x="974630" y="964835"/>
                </a:lnTo>
                <a:quadBezTo>
                  <a:pt x="961993" y="1014047"/>
                  <a:pt x="913098" y="1000458"/>
                </a:quadBezTo>
                <a:close/>
              </a:path>
            </a:pathLst>
          </a:custGeom>
          <a:solidFill>
            <a:srgbClr val="87AC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outt-2-2"/>
          <p:cNvSpPr txBox="1"/>
          <p:nvPr/>
        </p:nvSpPr>
        <p:spPr>
          <a:xfrm>
            <a:off x="3396847" y="5122934"/>
            <a:ext cx="2990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PaaS</a:t>
            </a:r>
          </a:p>
        </p:txBody>
      </p:sp>
      <p:sp>
        <p:nvSpPr>
          <p:cNvPr id="26" name="out-2-3"/>
          <p:cNvSpPr/>
          <p:nvPr/>
        </p:nvSpPr>
        <p:spPr>
          <a:xfrm>
            <a:off x="2469384" y="4153348"/>
            <a:ext cx="900990" cy="934383"/>
          </a:xfrm>
          <a:custGeom>
            <a:avLst/>
            <a:gdLst/>
            <a:ahLst/>
            <a:cxnLst/>
            <a:rect l="0" t="0" r="r" b="b"/>
            <a:pathLst>
              <a:path w="900990" h="934383">
                <a:moveTo>
                  <a:pt x="403229" y="914777"/>
                </a:moveTo>
                <a:cubicBezTo>
                  <a:pt x="229007" y="717034"/>
                  <a:pt x="93651" y="488201"/>
                  <a:pt x="4258" y="240280"/>
                </a:cubicBezTo>
                <a:quadBezTo>
                  <a:pt x="-12379" y="192274"/>
                  <a:pt x="35945" y="176590"/>
                </a:quadBezTo>
                <a:lnTo>
                  <a:pt x="567440" y="3870"/>
                </a:lnTo>
                <a:quadBezTo>
                  <a:pt x="615763" y="-11815"/>
                  <a:pt x="632845" y="36064"/>
                </a:quadBezTo>
                <a:cubicBezTo>
                  <a:pt x="691552" y="191718"/>
                  <a:pt x="776875" y="335979"/>
                  <a:pt x="885003" y="462403"/>
                </a:cubicBezTo>
                <a:quadBezTo>
                  <a:pt x="918658" y="500440"/>
                  <a:pt x="881638" y="535174"/>
                </a:quadBezTo>
                <a:lnTo>
                  <a:pt x="474285" y="917762"/>
                </a:lnTo>
                <a:quadBezTo>
                  <a:pt x="437265" y="952496"/>
                  <a:pt x="403229" y="914777"/>
                </a:quadBezTo>
                <a:close/>
              </a:path>
            </a:pathLst>
          </a:custGeom>
          <a:solidFill>
            <a:srgbClr val="B2CAE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outt-2-3"/>
          <p:cNvSpPr txBox="1"/>
          <p:nvPr/>
        </p:nvSpPr>
        <p:spPr>
          <a:xfrm>
            <a:off x="2829330" y="4502077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7%</a:t>
            </a:r>
          </a:p>
        </p:txBody>
      </p:sp>
      <p:sp>
        <p:nvSpPr>
          <p:cNvPr id="28" name="in-3"/>
          <p:cNvSpPr/>
          <p:nvPr/>
        </p:nvSpPr>
        <p:spPr>
          <a:xfrm>
            <a:off x="3060652" y="2709862"/>
            <a:ext cx="870872" cy="1367921"/>
          </a:xfrm>
          <a:custGeom>
            <a:avLst/>
            <a:gdLst/>
            <a:ahLst/>
            <a:cxnLst/>
            <a:rect l="0" t="0" r="r" b="b"/>
            <a:pathLst>
              <a:path w="870872" h="1367921">
                <a:moveTo>
                  <a:pt x="44625" y="1321689"/>
                </a:moveTo>
                <a:cubicBezTo>
                  <a:pt x="-75493" y="860003"/>
                  <a:pt x="50575" y="369000"/>
                  <a:pt x="378254" y="22289"/>
                </a:cubicBezTo>
                <a:quadBezTo>
                  <a:pt x="422958" y="-22860"/>
                  <a:pt x="466392" y="23431"/>
                </a:quadBezTo>
                <a:lnTo>
                  <a:pt x="849043" y="430911"/>
                </a:lnTo>
                <a:quadBezTo>
                  <a:pt x="892477" y="477202"/>
                  <a:pt x="849488" y="523875"/>
                </a:quadBezTo>
                <a:cubicBezTo>
                  <a:pt x="713248" y="686092"/>
                  <a:pt x="657985" y="901373"/>
                  <a:pt x="699247" y="1109155"/>
                </a:cubicBezTo>
                <a:quadBezTo>
                  <a:pt x="714423" y="1170813"/>
                  <a:pt x="654035" y="1190435"/>
                </a:quadBezTo>
                <a:lnTo>
                  <a:pt x="122413" y="1363154"/>
                </a:lnTo>
                <a:quadBezTo>
                  <a:pt x="62024" y="1382776"/>
                  <a:pt x="44625" y="1321689"/>
                </a:quadBezTo>
                <a:close/>
              </a:path>
            </a:pathLst>
          </a:custGeom>
          <a:gradFill rotWithShape="1">
            <a:gsLst>
              <a:gs pos="0">
                <a:srgbClr val="5CA1DC"/>
              </a:gs>
              <a:gs pos="100000">
                <a:srgbClr val="4694D7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int-3"/>
          <p:cNvSpPr txBox="1"/>
          <p:nvPr/>
        </p:nvSpPr>
        <p:spPr>
          <a:xfrm>
            <a:off x="3143582" y="3270154"/>
            <a:ext cx="585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数据服务</a:t>
            </a:r>
          </a:p>
        </p:txBody>
      </p:sp>
      <p:sp>
        <p:nvSpPr>
          <p:cNvPr id="30" name="inv-3"/>
          <p:cNvSpPr txBox="1"/>
          <p:nvPr/>
        </p:nvSpPr>
        <p:spPr>
          <a:xfrm>
            <a:off x="3313445" y="3446081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E3EDF9"/>
                </a:solidFill>
                <a:latin typeface="Arial"/>
                <a:ea typeface="Arial"/>
                <a:cs typeface="Arial"/>
              </a:rPr>
              <a:t>18%</a:t>
            </a:r>
          </a:p>
        </p:txBody>
      </p:sp>
      <p:sp>
        <p:nvSpPr>
          <p:cNvPr id="31" name="out-3-1"/>
          <p:cNvSpPr/>
          <p:nvPr/>
        </p:nvSpPr>
        <p:spPr>
          <a:xfrm>
            <a:off x="2349570" y="3313986"/>
            <a:ext cx="714678" cy="989575"/>
          </a:xfrm>
          <a:custGeom>
            <a:avLst/>
            <a:gdLst/>
            <a:ahLst/>
            <a:cxnLst/>
            <a:rect l="0" t="0" r="r" b="b"/>
            <a:pathLst>
              <a:path w="714678" h="989575">
                <a:moveTo>
                  <a:pt x="82925" y="952833"/>
                </a:moveTo>
                <a:cubicBezTo>
                  <a:pt x="-2867" y="657138"/>
                  <a:pt x="-22444" y="346172"/>
                  <a:pt x="25584" y="42052"/>
                </a:cubicBezTo>
                <a:quadBezTo>
                  <a:pt x="34157" y="-8049"/>
                  <a:pt x="84004" y="1476"/>
                </a:quadBezTo>
                <a:lnTo>
                  <a:pt x="632962" y="106187"/>
                </a:lnTo>
                <a:quadBezTo>
                  <a:pt x="682873" y="115712"/>
                  <a:pt x="674808" y="165877"/>
                </a:quadBezTo>
                <a:cubicBezTo>
                  <a:pt x="646959" y="360582"/>
                  <a:pt x="659430" y="558933"/>
                  <a:pt x="711448" y="748617"/>
                </a:cubicBezTo>
                <a:quadBezTo>
                  <a:pt x="725735" y="797385"/>
                  <a:pt x="677412" y="813069"/>
                </a:quadBezTo>
                <a:lnTo>
                  <a:pt x="145980" y="985726"/>
                </a:lnTo>
                <a:quadBezTo>
                  <a:pt x="97657" y="1001474"/>
                  <a:pt x="82925" y="952833"/>
                </a:quadBezTo>
                <a:close/>
              </a:path>
            </a:pathLst>
          </a:custGeom>
          <a:solidFill>
            <a:srgbClr val="74AF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outt-3-1"/>
          <p:cNvSpPr txBox="1"/>
          <p:nvPr/>
        </p:nvSpPr>
        <p:spPr>
          <a:xfrm>
            <a:off x="2586981" y="3714310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8%</a:t>
            </a:r>
          </a:p>
        </p:txBody>
      </p:sp>
      <p:sp>
        <p:nvSpPr>
          <p:cNvPr id="33" name="out-3-2"/>
          <p:cNvSpPr/>
          <p:nvPr/>
        </p:nvSpPr>
        <p:spPr>
          <a:xfrm>
            <a:off x="2398345" y="2590341"/>
            <a:ext cx="810329" cy="800148"/>
          </a:xfrm>
          <a:custGeom>
            <a:avLst/>
            <a:gdLst/>
            <a:ahLst/>
            <a:cxnLst/>
            <a:rect l="0" t="0" r="r" b="b"/>
            <a:pathLst>
              <a:path w="810329" h="800148">
                <a:moveTo>
                  <a:pt x="1828" y="634697"/>
                </a:moveTo>
                <a:cubicBezTo>
                  <a:pt x="49758" y="420678"/>
                  <a:pt x="130990" y="215509"/>
                  <a:pt x="242556" y="26685"/>
                </a:cubicBezTo>
                <a:quadBezTo>
                  <a:pt x="268909" y="-16749"/>
                  <a:pt x="311771" y="10492"/>
                </a:quadBezTo>
                <a:lnTo>
                  <a:pt x="783640" y="309895"/>
                </a:lnTo>
                <a:quadBezTo>
                  <a:pt x="826502" y="337136"/>
                  <a:pt x="800531" y="380824"/>
                </a:quadBezTo>
                <a:cubicBezTo>
                  <a:pt x="733021" y="499016"/>
                  <a:pt x="682669" y="626211"/>
                  <a:pt x="650988" y="758586"/>
                </a:cubicBezTo>
                <a:quadBezTo>
                  <a:pt x="640066" y="808179"/>
                  <a:pt x="590155" y="798654"/>
                </a:quadBezTo>
                <a:lnTo>
                  <a:pt x="41198" y="693943"/>
                </a:lnTo>
                <a:quadBezTo>
                  <a:pt x="-8713" y="684418"/>
                  <a:pt x="1828" y="634697"/>
                </a:quadBezTo>
                <a:close/>
              </a:path>
            </a:pathLst>
          </a:custGeom>
          <a:solidFill>
            <a:srgbClr val="99C4E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outt-3-2"/>
          <p:cNvSpPr txBox="1"/>
          <p:nvPr/>
        </p:nvSpPr>
        <p:spPr>
          <a:xfrm>
            <a:off x="2707463" y="29536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6%</a:t>
            </a:r>
          </a:p>
        </p:txBody>
      </p:sp>
      <p:sp>
        <p:nvSpPr>
          <p:cNvPr id="35" name="out-3-3"/>
          <p:cNvSpPr/>
          <p:nvPr/>
        </p:nvSpPr>
        <p:spPr>
          <a:xfrm>
            <a:off x="2701263" y="2184495"/>
            <a:ext cx="732134" cy="699623"/>
          </a:xfrm>
          <a:custGeom>
            <a:avLst/>
            <a:gdLst/>
            <a:ahLst/>
            <a:cxnLst/>
            <a:rect l="0" t="0" r="r" b="b"/>
            <a:pathLst>
              <a:path w="732134" h="699623">
                <a:moveTo>
                  <a:pt x="11076" y="319945"/>
                </a:moveTo>
                <a:cubicBezTo>
                  <a:pt x="84859" y="211472"/>
                  <a:pt x="168666" y="110169"/>
                  <a:pt x="261393" y="17367"/>
                </a:cubicBezTo>
                <a:quadBezTo>
                  <a:pt x="297715" y="-18129"/>
                  <a:pt x="332513" y="18891"/>
                </a:quadBezTo>
                <a:lnTo>
                  <a:pt x="715037" y="426244"/>
                </a:lnTo>
                <a:quadBezTo>
                  <a:pt x="749835" y="463264"/>
                  <a:pt x="713830" y="499142"/>
                </a:quadBezTo>
                <a:cubicBezTo>
                  <a:pt x="661025" y="553540"/>
                  <a:pt x="612614" y="612037"/>
                  <a:pt x="569050" y="674084"/>
                </a:cubicBezTo>
                <a:quadBezTo>
                  <a:pt x="540602" y="716185"/>
                  <a:pt x="497740" y="688943"/>
                </a:quadBezTo>
                <a:lnTo>
                  <a:pt x="25871" y="389541"/>
                </a:lnTo>
                <a:quadBezTo>
                  <a:pt x="-16991" y="362299"/>
                  <a:pt x="11076" y="319945"/>
                </a:quadBezTo>
                <a:close/>
              </a:path>
            </a:pathLst>
          </a:custGeom>
          <a:solidFill>
            <a:srgbClr val="BEDA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in-4"/>
          <p:cNvSpPr/>
          <p:nvPr/>
        </p:nvSpPr>
        <p:spPr>
          <a:xfrm>
            <a:off x="3534204" y="2301140"/>
            <a:ext cx="891746" cy="838308"/>
          </a:xfrm>
          <a:custGeom>
            <a:avLst/>
            <a:gdLst/>
            <a:ahLst/>
            <a:cxnLst/>
            <a:rect l="0" t="0" r="r" b="b"/>
            <a:pathLst>
              <a:path w="891746" h="838308">
                <a:moveTo>
                  <a:pt x="25035" y="318044"/>
                </a:moveTo>
                <a:cubicBezTo>
                  <a:pt x="252012" y="129064"/>
                  <a:pt x="533483" y="17632"/>
                  <a:pt x="828310" y="36"/>
                </a:cubicBezTo>
                <a:quadBezTo>
                  <a:pt x="891746" y="-2313"/>
                  <a:pt x="891746" y="61187"/>
                </a:quadBezTo>
                <a:lnTo>
                  <a:pt x="891746" y="620114"/>
                </a:lnTo>
                <a:quadBezTo>
                  <a:pt x="891746" y="683614"/>
                  <a:pt x="828437" y="688249"/>
                </a:quadBezTo>
                <a:cubicBezTo>
                  <a:pt x="708092" y="702527"/>
                  <a:pt x="593532" y="747869"/>
                  <a:pt x="496014" y="819821"/>
                </a:cubicBezTo>
                <a:quadBezTo>
                  <a:pt x="446675" y="859826"/>
                  <a:pt x="403241" y="813535"/>
                </a:quadBezTo>
                <a:lnTo>
                  <a:pt x="20653" y="406119"/>
                </a:lnTo>
                <a:quadBezTo>
                  <a:pt x="-22844" y="359827"/>
                  <a:pt x="25035" y="318044"/>
                </a:quadBezTo>
                <a:close/>
              </a:path>
            </a:pathLst>
          </a:custGeom>
          <a:gradFill rotWithShape="1">
            <a:gsLst>
              <a:gs pos="0">
                <a:srgbClr val="E48152"/>
              </a:gs>
              <a:gs pos="100000">
                <a:srgbClr val="E0703A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int-4"/>
          <p:cNvSpPr txBox="1"/>
          <p:nvPr/>
        </p:nvSpPr>
        <p:spPr>
          <a:xfrm>
            <a:off x="3889550" y="2560870"/>
            <a:ext cx="3441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咨询</a:t>
            </a:r>
          </a:p>
        </p:txBody>
      </p:sp>
      <p:sp>
        <p:nvSpPr>
          <p:cNvPr id="38" name="inv-4"/>
          <p:cNvSpPr txBox="1"/>
          <p:nvPr/>
        </p:nvSpPr>
        <p:spPr>
          <a:xfrm>
            <a:off x="3938763" y="2736797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E3EDF9"/>
                </a:solidFill>
                <a:latin typeface="Arial"/>
                <a:ea typeface="Arial"/>
                <a:cs typeface="Arial"/>
              </a:rPr>
              <a:t>12%</a:t>
            </a:r>
          </a:p>
        </p:txBody>
      </p:sp>
      <p:sp>
        <p:nvSpPr>
          <p:cNvPr id="39" name="out-4-1"/>
          <p:cNvSpPr/>
          <p:nvPr/>
        </p:nvSpPr>
        <p:spPr>
          <a:xfrm>
            <a:off x="3040269" y="1707384"/>
            <a:ext cx="934383" cy="900990"/>
          </a:xfrm>
          <a:custGeom>
            <a:avLst/>
            <a:gdLst/>
            <a:ahLst/>
            <a:cxnLst/>
            <a:rect l="0" t="0" r="r" b="b"/>
            <a:pathLst>
              <a:path w="934383" h="900990">
                <a:moveTo>
                  <a:pt x="19606" y="403229"/>
                </a:moveTo>
                <a:cubicBezTo>
                  <a:pt x="217349" y="229007"/>
                  <a:pt x="446182" y="93651"/>
                  <a:pt x="694103" y="4258"/>
                </a:cubicBezTo>
                <a:quadBezTo>
                  <a:pt x="742109" y="-12379"/>
                  <a:pt x="757793" y="35945"/>
                </a:quadBezTo>
                <a:lnTo>
                  <a:pt x="930513" y="567440"/>
                </a:lnTo>
                <a:quadBezTo>
                  <a:pt x="946198" y="615763"/>
                  <a:pt x="898319" y="632845"/>
                </a:quadBezTo>
                <a:cubicBezTo>
                  <a:pt x="742665" y="691552"/>
                  <a:pt x="598403" y="776875"/>
                  <a:pt x="471980" y="885003"/>
                </a:cubicBezTo>
                <a:quadBezTo>
                  <a:pt x="433943" y="918658"/>
                  <a:pt x="399209" y="881638"/>
                </a:quadBezTo>
                <a:lnTo>
                  <a:pt x="16621" y="474285"/>
                </a:lnTo>
                <a:quadBezTo>
                  <a:pt x="-18113" y="437265"/>
                  <a:pt x="19606" y="403229"/>
                </a:quadBezTo>
                <a:close/>
              </a:path>
            </a:pathLst>
          </a:custGeom>
          <a:solidFill>
            <a:srgbClr val="E8946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outt-4-1"/>
          <p:cNvSpPr txBox="1"/>
          <p:nvPr/>
        </p:nvSpPr>
        <p:spPr>
          <a:xfrm>
            <a:off x="3450187" y="2083998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7%</a:t>
            </a:r>
          </a:p>
        </p:txBody>
      </p:sp>
      <p:sp>
        <p:nvSpPr>
          <p:cNvPr id="41" name="out-4-2"/>
          <p:cNvSpPr/>
          <p:nvPr/>
        </p:nvSpPr>
        <p:spPr>
          <a:xfrm>
            <a:off x="3824438" y="1588579"/>
            <a:ext cx="604687" cy="713669"/>
          </a:xfrm>
          <a:custGeom>
            <a:avLst/>
            <a:gdLst/>
            <a:ahLst/>
            <a:cxnLst/>
            <a:rect l="0" t="0" r="r" b="b"/>
            <a:pathLst>
              <a:path w="604687" h="713669">
                <a:moveTo>
                  <a:pt x="36743" y="81915"/>
                </a:moveTo>
                <a:cubicBezTo>
                  <a:pt x="205021" y="33097"/>
                  <a:pt x="378759" y="5577"/>
                  <a:pt x="553887" y="0"/>
                </a:cubicBezTo>
                <a:quadBezTo>
                  <a:pt x="604687" y="-1016"/>
                  <a:pt x="604687" y="49784"/>
                </a:quadBezTo>
                <a:lnTo>
                  <a:pt x="604687" y="608584"/>
                </a:lnTo>
                <a:quadBezTo>
                  <a:pt x="604687" y="659384"/>
                  <a:pt x="553887" y="660845"/>
                </a:quadBezTo>
                <a:cubicBezTo>
                  <a:pt x="448067" y="665775"/>
                  <a:pt x="343118" y="682408"/>
                  <a:pt x="240959" y="710438"/>
                </a:cubicBezTo>
                <a:quadBezTo>
                  <a:pt x="192191" y="724726"/>
                  <a:pt x="176506" y="676402"/>
                </a:quadBezTo>
                <a:lnTo>
                  <a:pt x="3850" y="144971"/>
                </a:lnTo>
                <a:quadBezTo>
                  <a:pt x="-11898" y="96647"/>
                  <a:pt x="36743" y="81915"/>
                </a:quadBezTo>
                <a:close/>
              </a:path>
            </a:pathLst>
          </a:custGeom>
          <a:solidFill>
            <a:srgbClr val="EEB09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core"/>
          <p:cNvSpPr/>
          <p:nvPr/>
        </p:nvSpPr>
        <p:spPr>
          <a:xfrm>
            <a:off x="3822700" y="3060700"/>
            <a:ext cx="1244600" cy="12446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core-v"/>
          <p:cNvSpPr txBox="1"/>
          <p:nvPr/>
        </p:nvSpPr>
        <p:spPr>
          <a:xfrm>
            <a:off x="4149979" y="3334957"/>
            <a:ext cx="590042" cy="5111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3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12</a:t>
            </a:r>
          </a:p>
        </p:txBody>
      </p:sp>
      <p:sp>
        <p:nvSpPr>
          <p:cNvPr id="44" name="core-l"/>
          <p:cNvSpPr txBox="1"/>
          <p:nvPr/>
        </p:nvSpPr>
        <p:spPr>
          <a:xfrm>
            <a:off x="4198938" y="3781266"/>
            <a:ext cx="4921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亿元营收</a:t>
            </a:r>
          </a:p>
        </p:txBody>
      </p:sp>
      <p:sp>
        <p:nvSpPr>
          <p:cNvPr id="45" name="lg-1"/>
          <p:cNvSpPr/>
          <p:nvPr/>
        </p:nvSpPr>
        <p:spPr>
          <a:xfrm>
            <a:off x="7493000" y="1498600"/>
            <a:ext cx="3746500" cy="1016000"/>
          </a:xfrm>
          <a:custGeom>
            <a:avLst/>
            <a:gdLst/>
            <a:ahLst/>
            <a:cxnLst/>
            <a:rect l="0" t="0" r="r" b="b"/>
            <a:pathLst>
              <a:path w="3746500" h="1016000">
                <a:moveTo>
                  <a:pt x="114300" y="0"/>
                </a:moveTo>
                <a:lnTo>
                  <a:pt x="3632200" y="0"/>
                </a:lnTo>
                <a:cubicBezTo>
                  <a:pt x="3695319" y="0"/>
                  <a:pt x="3746500" y="51181"/>
                  <a:pt x="3746500" y="114300"/>
                </a:cubicBezTo>
                <a:lnTo>
                  <a:pt x="3746500" y="901700"/>
                </a:lnTo>
                <a:cubicBezTo>
                  <a:pt x="3746500" y="964819"/>
                  <a:pt x="3695319" y="1016000"/>
                  <a:pt x="3632200" y="1016000"/>
                </a:cubicBezTo>
                <a:lnTo>
                  <a:pt x="114300" y="1016000"/>
                </a:lnTo>
                <a:cubicBezTo>
                  <a:pt x="51181" y="1016000"/>
                  <a:pt x="0" y="964819"/>
                  <a:pt x="0" y="901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lgb-1"/>
          <p:cNvSpPr/>
          <p:nvPr/>
        </p:nvSpPr>
        <p:spPr>
          <a:xfrm>
            <a:off x="7493000" y="1498600"/>
            <a:ext cx="38100" cy="1016000"/>
          </a:xfrm>
          <a:custGeom>
            <a:avLst/>
            <a:gdLst/>
            <a:ahLst/>
            <a:cxnLst/>
            <a:rect l="0" t="0" r="r" b="b"/>
            <a:pathLst>
              <a:path w="38100" h="1016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996950"/>
                </a:lnTo>
                <a:cubicBezTo>
                  <a:pt x="38100" y="1007491"/>
                  <a:pt x="29591" y="1016000"/>
                  <a:pt x="19050" y="1016000"/>
                </a:cubicBezTo>
                <a:lnTo>
                  <a:pt x="19050" y="1016000"/>
                </a:lnTo>
                <a:cubicBezTo>
                  <a:pt x="8509" y="1016000"/>
                  <a:pt x="0" y="1007491"/>
                  <a:pt x="0" y="996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lgn-1"/>
          <p:cNvSpPr txBox="1"/>
          <p:nvPr/>
        </p:nvSpPr>
        <p:spPr>
          <a:xfrm>
            <a:off x="7655560" y="1557655"/>
            <a:ext cx="6604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企业软件</a:t>
            </a:r>
          </a:p>
        </p:txBody>
      </p:sp>
      <p:sp>
        <p:nvSpPr>
          <p:cNvPr id="48" name="lgv-1"/>
          <p:cNvSpPr txBox="1"/>
          <p:nvPr/>
        </p:nvSpPr>
        <p:spPr>
          <a:xfrm>
            <a:off x="10169017" y="1581182"/>
            <a:ext cx="89293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42% · 5.04 亿</a:t>
            </a:r>
          </a:p>
        </p:txBody>
      </p:sp>
      <p:sp>
        <p:nvSpPr>
          <p:cNvPr id="49" name="lgc-1-1"/>
          <p:cNvSpPr/>
          <p:nvPr/>
        </p:nvSpPr>
        <p:spPr>
          <a:xfrm>
            <a:off x="7683500" y="184785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25400" y="0"/>
                </a:moveTo>
                <a:lnTo>
                  <a:pt x="76200" y="0"/>
                </a:lnTo>
                <a:cubicBezTo>
                  <a:pt x="90234" y="0"/>
                  <a:pt x="101600" y="11367"/>
                  <a:pt x="101600" y="25400"/>
                </a:cubicBezTo>
                <a:lnTo>
                  <a:pt x="101600" y="76200"/>
                </a:lnTo>
                <a:cubicBezTo>
                  <a:pt x="101600" y="90233"/>
                  <a:pt x="90234" y="101600"/>
                  <a:pt x="76200" y="101600"/>
                </a:cubicBezTo>
                <a:lnTo>
                  <a:pt x="25400" y="101600"/>
                </a:lnTo>
                <a:cubicBezTo>
                  <a:pt x="11366" y="101600"/>
                  <a:pt x="0" y="90233"/>
                  <a:pt x="0" y="76200"/>
                </a:cubicBezTo>
                <a:lnTo>
                  <a:pt x="0" y="25400"/>
                </a:lnTo>
                <a:cubicBezTo>
                  <a:pt x="0" y="11367"/>
                  <a:pt x="11366" y="0"/>
                  <a:pt x="25400" y="0"/>
                </a:cubicBezTo>
                <a:close/>
              </a:path>
            </a:pathLst>
          </a:custGeom>
          <a:solidFill>
            <a:srgbClr val="486EA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lgs-1-1"/>
          <p:cNvSpPr txBox="1"/>
          <p:nvPr/>
        </p:nvSpPr>
        <p:spPr>
          <a:xfrm>
            <a:off x="7836408" y="1804924"/>
            <a:ext cx="26974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ERP</a:t>
            </a:r>
          </a:p>
        </p:txBody>
      </p:sp>
      <p:sp>
        <p:nvSpPr>
          <p:cNvPr id="51" name="lgbar-1-1"/>
          <p:cNvSpPr/>
          <p:nvPr/>
        </p:nvSpPr>
        <p:spPr>
          <a:xfrm>
            <a:off x="8763000" y="1860550"/>
            <a:ext cx="1651000" cy="76200"/>
          </a:xfrm>
          <a:custGeom>
            <a:avLst/>
            <a:gdLst/>
            <a:ahLst/>
            <a:cxnLst/>
            <a:rect l="0" t="0" r="r" b="b"/>
            <a:pathLst>
              <a:path w="1651000" h="76200">
                <a:moveTo>
                  <a:pt x="38100" y="0"/>
                </a:moveTo>
                <a:lnTo>
                  <a:pt x="1612900" y="0"/>
                </a:lnTo>
                <a:cubicBezTo>
                  <a:pt x="1633918" y="0"/>
                  <a:pt x="1651000" y="17081"/>
                  <a:pt x="1651000" y="38100"/>
                </a:cubicBezTo>
                <a:lnTo>
                  <a:pt x="1651000" y="38100"/>
                </a:lnTo>
                <a:cubicBezTo>
                  <a:pt x="1651000" y="59119"/>
                  <a:pt x="1633918" y="76200"/>
                  <a:pt x="1612900" y="76200"/>
                </a:cubicBezTo>
                <a:lnTo>
                  <a:pt x="38100" y="76200"/>
                </a:lnTo>
                <a:cubicBezTo>
                  <a:pt x="17082" y="76200"/>
                  <a:pt x="0" y="59119"/>
                  <a:pt x="0" y="381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486EA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lgp-1-1"/>
          <p:cNvSpPr txBox="1"/>
          <p:nvPr/>
        </p:nvSpPr>
        <p:spPr>
          <a:xfrm>
            <a:off x="10799064" y="18049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0B2545"/>
                </a:solidFill>
                <a:latin typeface="Arial"/>
                <a:ea typeface="Arial"/>
                <a:cs typeface="Arial"/>
              </a:rPr>
              <a:t>18%</a:t>
            </a:r>
          </a:p>
        </p:txBody>
      </p:sp>
      <p:sp>
        <p:nvSpPr>
          <p:cNvPr id="53" name="lgc-1-2"/>
          <p:cNvSpPr/>
          <p:nvPr/>
        </p:nvSpPr>
        <p:spPr>
          <a:xfrm>
            <a:off x="7683500" y="207645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25400" y="0"/>
                </a:moveTo>
                <a:lnTo>
                  <a:pt x="76200" y="0"/>
                </a:lnTo>
                <a:cubicBezTo>
                  <a:pt x="90234" y="0"/>
                  <a:pt x="101600" y="11367"/>
                  <a:pt x="101600" y="25400"/>
                </a:cubicBezTo>
                <a:lnTo>
                  <a:pt x="101600" y="76200"/>
                </a:lnTo>
                <a:cubicBezTo>
                  <a:pt x="101600" y="90233"/>
                  <a:pt x="90234" y="101600"/>
                  <a:pt x="76200" y="101600"/>
                </a:cubicBezTo>
                <a:lnTo>
                  <a:pt x="25400" y="101600"/>
                </a:lnTo>
                <a:cubicBezTo>
                  <a:pt x="11366" y="101600"/>
                  <a:pt x="0" y="90233"/>
                  <a:pt x="0" y="76200"/>
                </a:cubicBezTo>
                <a:lnTo>
                  <a:pt x="0" y="25400"/>
                </a:lnTo>
                <a:cubicBezTo>
                  <a:pt x="0" y="11367"/>
                  <a:pt x="11366" y="0"/>
                  <a:pt x="25400" y="0"/>
                </a:cubicBezTo>
                <a:close/>
              </a:path>
            </a:pathLst>
          </a:custGeom>
          <a:solidFill>
            <a:srgbClr val="7995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lgs-1-2"/>
          <p:cNvSpPr txBox="1"/>
          <p:nvPr/>
        </p:nvSpPr>
        <p:spPr>
          <a:xfrm>
            <a:off x="7836408" y="2033524"/>
            <a:ext cx="26974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CRM</a:t>
            </a:r>
          </a:p>
        </p:txBody>
      </p:sp>
      <p:sp>
        <p:nvSpPr>
          <p:cNvPr id="55" name="lgbar-1-2"/>
          <p:cNvSpPr/>
          <p:nvPr/>
        </p:nvSpPr>
        <p:spPr>
          <a:xfrm>
            <a:off x="8763000" y="2089150"/>
            <a:ext cx="1284097" cy="76200"/>
          </a:xfrm>
          <a:custGeom>
            <a:avLst/>
            <a:gdLst/>
            <a:ahLst/>
            <a:cxnLst/>
            <a:rect l="0" t="0" r="r" b="b"/>
            <a:pathLst>
              <a:path w="1284097" h="76200">
                <a:moveTo>
                  <a:pt x="38100" y="0"/>
                </a:moveTo>
                <a:lnTo>
                  <a:pt x="1245997" y="0"/>
                </a:lnTo>
                <a:cubicBezTo>
                  <a:pt x="1267079" y="0"/>
                  <a:pt x="1284097" y="17081"/>
                  <a:pt x="1284097" y="38100"/>
                </a:cubicBezTo>
                <a:lnTo>
                  <a:pt x="1284097" y="38100"/>
                </a:lnTo>
                <a:cubicBezTo>
                  <a:pt x="1284097" y="59119"/>
                  <a:pt x="1267079" y="76200"/>
                  <a:pt x="1245997" y="76200"/>
                </a:cubicBezTo>
                <a:lnTo>
                  <a:pt x="38100" y="76200"/>
                </a:lnTo>
                <a:cubicBezTo>
                  <a:pt x="17082" y="76200"/>
                  <a:pt x="0" y="59119"/>
                  <a:pt x="0" y="381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7995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lgp-1-2"/>
          <p:cNvSpPr txBox="1"/>
          <p:nvPr/>
        </p:nvSpPr>
        <p:spPr>
          <a:xfrm>
            <a:off x="10799064" y="20335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0B2545"/>
                </a:solidFill>
                <a:latin typeface="Arial"/>
                <a:ea typeface="Arial"/>
                <a:cs typeface="Arial"/>
              </a:rPr>
              <a:t>14%</a:t>
            </a:r>
          </a:p>
        </p:txBody>
      </p:sp>
      <p:sp>
        <p:nvSpPr>
          <p:cNvPr id="57" name="lgc-1-3"/>
          <p:cNvSpPr/>
          <p:nvPr/>
        </p:nvSpPr>
        <p:spPr>
          <a:xfrm>
            <a:off x="7683500" y="230505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25400" y="0"/>
                </a:moveTo>
                <a:lnTo>
                  <a:pt x="76200" y="0"/>
                </a:lnTo>
                <a:cubicBezTo>
                  <a:pt x="90234" y="0"/>
                  <a:pt x="101600" y="11367"/>
                  <a:pt x="101600" y="25400"/>
                </a:cubicBezTo>
                <a:lnTo>
                  <a:pt x="101600" y="76200"/>
                </a:lnTo>
                <a:cubicBezTo>
                  <a:pt x="101600" y="90233"/>
                  <a:pt x="90234" y="101600"/>
                  <a:pt x="76200" y="101600"/>
                </a:cubicBezTo>
                <a:lnTo>
                  <a:pt x="25400" y="101600"/>
                </a:lnTo>
                <a:cubicBezTo>
                  <a:pt x="11366" y="101600"/>
                  <a:pt x="0" y="90233"/>
                  <a:pt x="0" y="76200"/>
                </a:cubicBezTo>
                <a:lnTo>
                  <a:pt x="0" y="25400"/>
                </a:lnTo>
                <a:cubicBezTo>
                  <a:pt x="0" y="11367"/>
                  <a:pt x="11366" y="0"/>
                  <a:pt x="25400" y="0"/>
                </a:cubicBezTo>
                <a:close/>
              </a:path>
            </a:pathLst>
          </a:custGeom>
          <a:solidFill>
            <a:srgbClr val="AABBD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lgs-1-3"/>
          <p:cNvSpPr txBox="1"/>
          <p:nvPr/>
        </p:nvSpPr>
        <p:spPr>
          <a:xfrm>
            <a:off x="7836408" y="2262124"/>
            <a:ext cx="21031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OA</a:t>
            </a:r>
          </a:p>
        </p:txBody>
      </p:sp>
      <p:sp>
        <p:nvSpPr>
          <p:cNvPr id="59" name="lgbar-1-3"/>
          <p:cNvSpPr/>
          <p:nvPr/>
        </p:nvSpPr>
        <p:spPr>
          <a:xfrm>
            <a:off x="8763000" y="2317750"/>
            <a:ext cx="917194" cy="76200"/>
          </a:xfrm>
          <a:custGeom>
            <a:avLst/>
            <a:gdLst/>
            <a:ahLst/>
            <a:cxnLst/>
            <a:rect l="0" t="0" r="r" b="b"/>
            <a:pathLst>
              <a:path w="917194" h="76200">
                <a:moveTo>
                  <a:pt x="38100" y="0"/>
                </a:moveTo>
                <a:lnTo>
                  <a:pt x="879094" y="0"/>
                </a:lnTo>
                <a:cubicBezTo>
                  <a:pt x="900176" y="0"/>
                  <a:pt x="917194" y="17081"/>
                  <a:pt x="917194" y="38100"/>
                </a:cubicBezTo>
                <a:lnTo>
                  <a:pt x="917194" y="38100"/>
                </a:lnTo>
                <a:cubicBezTo>
                  <a:pt x="917194" y="59119"/>
                  <a:pt x="900176" y="76200"/>
                  <a:pt x="879094" y="76200"/>
                </a:cubicBezTo>
                <a:lnTo>
                  <a:pt x="38100" y="76200"/>
                </a:lnTo>
                <a:cubicBezTo>
                  <a:pt x="17082" y="76200"/>
                  <a:pt x="0" y="59119"/>
                  <a:pt x="0" y="381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AABBD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lgp-1-3"/>
          <p:cNvSpPr txBox="1"/>
          <p:nvPr/>
        </p:nvSpPr>
        <p:spPr>
          <a:xfrm>
            <a:off x="10799064" y="22621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0B2545"/>
                </a:solidFill>
                <a:latin typeface="Arial"/>
                <a:ea typeface="Arial"/>
                <a:cs typeface="Arial"/>
              </a:rPr>
              <a:t>10%</a:t>
            </a:r>
          </a:p>
        </p:txBody>
      </p:sp>
      <p:sp>
        <p:nvSpPr>
          <p:cNvPr id="61" name="lg-2"/>
          <p:cNvSpPr/>
          <p:nvPr/>
        </p:nvSpPr>
        <p:spPr>
          <a:xfrm>
            <a:off x="7493000" y="2628900"/>
            <a:ext cx="3746500" cy="1016000"/>
          </a:xfrm>
          <a:custGeom>
            <a:avLst/>
            <a:gdLst/>
            <a:ahLst/>
            <a:cxnLst/>
            <a:rect l="0" t="0" r="r" b="b"/>
            <a:pathLst>
              <a:path w="3746500" h="1016000">
                <a:moveTo>
                  <a:pt x="114300" y="0"/>
                </a:moveTo>
                <a:lnTo>
                  <a:pt x="3632200" y="0"/>
                </a:lnTo>
                <a:cubicBezTo>
                  <a:pt x="3695319" y="0"/>
                  <a:pt x="3746500" y="51181"/>
                  <a:pt x="3746500" y="114300"/>
                </a:cubicBezTo>
                <a:lnTo>
                  <a:pt x="3746500" y="901700"/>
                </a:lnTo>
                <a:cubicBezTo>
                  <a:pt x="3746500" y="964819"/>
                  <a:pt x="3695319" y="1016000"/>
                  <a:pt x="3632200" y="1016000"/>
                </a:cubicBezTo>
                <a:lnTo>
                  <a:pt x="114300" y="1016000"/>
                </a:lnTo>
                <a:cubicBezTo>
                  <a:pt x="51181" y="1016000"/>
                  <a:pt x="0" y="964819"/>
                  <a:pt x="0" y="901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lgb-2"/>
          <p:cNvSpPr/>
          <p:nvPr/>
        </p:nvSpPr>
        <p:spPr>
          <a:xfrm>
            <a:off x="7493000" y="2628900"/>
            <a:ext cx="38100" cy="1016000"/>
          </a:xfrm>
          <a:custGeom>
            <a:avLst/>
            <a:gdLst/>
            <a:ahLst/>
            <a:cxnLst/>
            <a:rect l="0" t="0" r="r" b="b"/>
            <a:pathLst>
              <a:path w="38100" h="1016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996950"/>
                </a:lnTo>
                <a:cubicBezTo>
                  <a:pt x="38100" y="1007491"/>
                  <a:pt x="29591" y="1016000"/>
                  <a:pt x="19050" y="1016000"/>
                </a:cubicBezTo>
                <a:lnTo>
                  <a:pt x="19050" y="1016000"/>
                </a:lnTo>
                <a:cubicBezTo>
                  <a:pt x="8509" y="1016000"/>
                  <a:pt x="0" y="1007491"/>
                  <a:pt x="0" y="996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lgn-2"/>
          <p:cNvSpPr txBox="1"/>
          <p:nvPr/>
        </p:nvSpPr>
        <p:spPr>
          <a:xfrm>
            <a:off x="7655560" y="2687955"/>
            <a:ext cx="523875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云服务</a:t>
            </a:r>
          </a:p>
        </p:txBody>
      </p:sp>
      <p:sp>
        <p:nvSpPr>
          <p:cNvPr id="64" name="lgv-2"/>
          <p:cNvSpPr txBox="1"/>
          <p:nvPr/>
        </p:nvSpPr>
        <p:spPr>
          <a:xfrm>
            <a:off x="10169017" y="2711482"/>
            <a:ext cx="89293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15">
                <a:solidFill>
                  <a:srgbClr val="2468B6"/>
                </a:solidFill>
                <a:latin typeface="微软雅黑"/>
                <a:ea typeface="微软雅黑"/>
                <a:cs typeface="微软雅黑"/>
              </a:rPr>
              <a:t>28% · 3.36 亿</a:t>
            </a:r>
          </a:p>
        </p:txBody>
      </p:sp>
      <p:sp>
        <p:nvSpPr>
          <p:cNvPr id="65" name="lgc-2-1"/>
          <p:cNvSpPr/>
          <p:nvPr/>
        </p:nvSpPr>
        <p:spPr>
          <a:xfrm>
            <a:off x="7683500" y="297815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25400" y="0"/>
                </a:moveTo>
                <a:lnTo>
                  <a:pt x="76200" y="0"/>
                </a:lnTo>
                <a:cubicBezTo>
                  <a:pt x="90234" y="0"/>
                  <a:pt x="101600" y="11367"/>
                  <a:pt x="101600" y="25400"/>
                </a:cubicBezTo>
                <a:lnTo>
                  <a:pt x="101600" y="76200"/>
                </a:lnTo>
                <a:cubicBezTo>
                  <a:pt x="101600" y="90233"/>
                  <a:pt x="90234" y="101600"/>
                  <a:pt x="76200" y="101600"/>
                </a:cubicBezTo>
                <a:lnTo>
                  <a:pt x="25400" y="101600"/>
                </a:lnTo>
                <a:cubicBezTo>
                  <a:pt x="11366" y="101600"/>
                  <a:pt x="0" y="90233"/>
                  <a:pt x="0" y="76200"/>
                </a:cubicBezTo>
                <a:lnTo>
                  <a:pt x="0" y="25400"/>
                </a:lnTo>
                <a:cubicBezTo>
                  <a:pt x="0" y="11367"/>
                  <a:pt x="11366" y="0"/>
                  <a:pt x="25400" y="0"/>
                </a:cubicBezTo>
                <a:close/>
              </a:path>
            </a:pathLst>
          </a:custGeom>
          <a:solidFill>
            <a:srgbClr val="5B8EC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lgs-2-1"/>
          <p:cNvSpPr txBox="1"/>
          <p:nvPr/>
        </p:nvSpPr>
        <p:spPr>
          <a:xfrm>
            <a:off x="7836408" y="2935224"/>
            <a:ext cx="32918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IaaS</a:t>
            </a:r>
          </a:p>
        </p:txBody>
      </p:sp>
      <p:sp>
        <p:nvSpPr>
          <p:cNvPr id="67" name="lgbar-2-1"/>
          <p:cNvSpPr/>
          <p:nvPr/>
        </p:nvSpPr>
        <p:spPr>
          <a:xfrm>
            <a:off x="8763000" y="2990850"/>
            <a:ext cx="1100645" cy="76200"/>
          </a:xfrm>
          <a:custGeom>
            <a:avLst/>
            <a:gdLst/>
            <a:ahLst/>
            <a:cxnLst/>
            <a:rect l="0" t="0" r="r" b="b"/>
            <a:pathLst>
              <a:path w="1100645" h="76200">
                <a:moveTo>
                  <a:pt x="38100" y="0"/>
                </a:moveTo>
                <a:lnTo>
                  <a:pt x="1062545" y="0"/>
                </a:lnTo>
                <a:cubicBezTo>
                  <a:pt x="1083628" y="0"/>
                  <a:pt x="1100645" y="17081"/>
                  <a:pt x="1100645" y="38100"/>
                </a:cubicBezTo>
                <a:lnTo>
                  <a:pt x="1100645" y="38100"/>
                </a:lnTo>
                <a:cubicBezTo>
                  <a:pt x="1100645" y="59119"/>
                  <a:pt x="1083628" y="76200"/>
                  <a:pt x="1062545" y="76200"/>
                </a:cubicBezTo>
                <a:lnTo>
                  <a:pt x="38100" y="76200"/>
                </a:lnTo>
                <a:cubicBezTo>
                  <a:pt x="17082" y="76200"/>
                  <a:pt x="0" y="59119"/>
                  <a:pt x="0" y="381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5B8EC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lgp-2-1"/>
          <p:cNvSpPr txBox="1"/>
          <p:nvPr/>
        </p:nvSpPr>
        <p:spPr>
          <a:xfrm>
            <a:off x="10799064" y="29352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0B2545"/>
                </a:solidFill>
                <a:latin typeface="Arial"/>
                <a:ea typeface="Arial"/>
                <a:cs typeface="Arial"/>
              </a:rPr>
              <a:t>12%</a:t>
            </a:r>
          </a:p>
        </p:txBody>
      </p:sp>
      <p:sp>
        <p:nvSpPr>
          <p:cNvPr id="69" name="lgc-2-2"/>
          <p:cNvSpPr/>
          <p:nvPr/>
        </p:nvSpPr>
        <p:spPr>
          <a:xfrm>
            <a:off x="7683500" y="320675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25400" y="0"/>
                </a:moveTo>
                <a:lnTo>
                  <a:pt x="76200" y="0"/>
                </a:lnTo>
                <a:cubicBezTo>
                  <a:pt x="90234" y="0"/>
                  <a:pt x="101600" y="11367"/>
                  <a:pt x="101600" y="25400"/>
                </a:cubicBezTo>
                <a:lnTo>
                  <a:pt x="101600" y="76200"/>
                </a:lnTo>
                <a:cubicBezTo>
                  <a:pt x="101600" y="90234"/>
                  <a:pt x="90234" y="101600"/>
                  <a:pt x="76200" y="101600"/>
                </a:cubicBezTo>
                <a:lnTo>
                  <a:pt x="25400" y="101600"/>
                </a:lnTo>
                <a:cubicBezTo>
                  <a:pt x="11366" y="101600"/>
                  <a:pt x="0" y="90234"/>
                  <a:pt x="0" y="76200"/>
                </a:cubicBezTo>
                <a:lnTo>
                  <a:pt x="0" y="25400"/>
                </a:lnTo>
                <a:cubicBezTo>
                  <a:pt x="0" y="11367"/>
                  <a:pt x="11366" y="0"/>
                  <a:pt x="25400" y="0"/>
                </a:cubicBezTo>
                <a:close/>
              </a:path>
            </a:pathLst>
          </a:custGeom>
          <a:solidFill>
            <a:srgbClr val="87AC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lgs-2-2"/>
          <p:cNvSpPr txBox="1"/>
          <p:nvPr/>
        </p:nvSpPr>
        <p:spPr>
          <a:xfrm>
            <a:off x="7836408" y="3163824"/>
            <a:ext cx="32918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PaaS</a:t>
            </a:r>
          </a:p>
        </p:txBody>
      </p:sp>
      <p:sp>
        <p:nvSpPr>
          <p:cNvPr id="71" name="lgbar-2-2"/>
          <p:cNvSpPr/>
          <p:nvPr/>
        </p:nvSpPr>
        <p:spPr>
          <a:xfrm>
            <a:off x="8763000" y="3219450"/>
            <a:ext cx="825500" cy="76200"/>
          </a:xfrm>
          <a:custGeom>
            <a:avLst/>
            <a:gdLst/>
            <a:ahLst/>
            <a:cxnLst/>
            <a:rect l="0" t="0" r="r" b="b"/>
            <a:pathLst>
              <a:path w="825500" h="76200">
                <a:moveTo>
                  <a:pt x="38100" y="0"/>
                </a:moveTo>
                <a:lnTo>
                  <a:pt x="787400" y="0"/>
                </a:lnTo>
                <a:cubicBezTo>
                  <a:pt x="808418" y="0"/>
                  <a:pt x="825500" y="17081"/>
                  <a:pt x="825500" y="38100"/>
                </a:cubicBezTo>
                <a:lnTo>
                  <a:pt x="825500" y="38100"/>
                </a:lnTo>
                <a:cubicBezTo>
                  <a:pt x="825500" y="59118"/>
                  <a:pt x="808418" y="76200"/>
                  <a:pt x="787400" y="76200"/>
                </a:cubicBezTo>
                <a:lnTo>
                  <a:pt x="38100" y="76200"/>
                </a:lnTo>
                <a:cubicBezTo>
                  <a:pt x="17082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87AC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lgp-2-2"/>
          <p:cNvSpPr txBox="1"/>
          <p:nvPr/>
        </p:nvSpPr>
        <p:spPr>
          <a:xfrm>
            <a:off x="10855960" y="31638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0B2545"/>
                </a:solidFill>
                <a:latin typeface="Arial"/>
                <a:ea typeface="Arial"/>
                <a:cs typeface="Arial"/>
              </a:rPr>
              <a:t>9%</a:t>
            </a:r>
          </a:p>
        </p:txBody>
      </p:sp>
      <p:sp>
        <p:nvSpPr>
          <p:cNvPr id="73" name="lgc-2-3"/>
          <p:cNvSpPr/>
          <p:nvPr/>
        </p:nvSpPr>
        <p:spPr>
          <a:xfrm>
            <a:off x="7683500" y="343535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25400" y="0"/>
                </a:moveTo>
                <a:lnTo>
                  <a:pt x="76200" y="0"/>
                </a:lnTo>
                <a:cubicBezTo>
                  <a:pt x="90234" y="0"/>
                  <a:pt x="101600" y="11366"/>
                  <a:pt x="101600" y="25400"/>
                </a:cubicBezTo>
                <a:lnTo>
                  <a:pt x="101600" y="76200"/>
                </a:lnTo>
                <a:cubicBezTo>
                  <a:pt x="101600" y="90234"/>
                  <a:pt x="90234" y="101600"/>
                  <a:pt x="76200" y="101600"/>
                </a:cubicBezTo>
                <a:lnTo>
                  <a:pt x="25400" y="101600"/>
                </a:lnTo>
                <a:cubicBezTo>
                  <a:pt x="11366" y="101600"/>
                  <a:pt x="0" y="90234"/>
                  <a:pt x="0" y="76200"/>
                </a:cubicBezTo>
                <a:lnTo>
                  <a:pt x="0" y="25400"/>
                </a:lnTo>
                <a:cubicBezTo>
                  <a:pt x="0" y="11366"/>
                  <a:pt x="11366" y="0"/>
                  <a:pt x="25400" y="0"/>
                </a:cubicBezTo>
                <a:close/>
              </a:path>
            </a:pathLst>
          </a:custGeom>
          <a:solidFill>
            <a:srgbClr val="B2CAE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lgs-2-3"/>
          <p:cNvSpPr txBox="1"/>
          <p:nvPr/>
        </p:nvSpPr>
        <p:spPr>
          <a:xfrm>
            <a:off x="7836408" y="3392424"/>
            <a:ext cx="32918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SaaS</a:t>
            </a:r>
          </a:p>
        </p:txBody>
      </p:sp>
      <p:sp>
        <p:nvSpPr>
          <p:cNvPr id="75" name="lgbar-2-3"/>
          <p:cNvSpPr/>
          <p:nvPr/>
        </p:nvSpPr>
        <p:spPr>
          <a:xfrm>
            <a:off x="8763000" y="3448050"/>
            <a:ext cx="642048" cy="76200"/>
          </a:xfrm>
          <a:custGeom>
            <a:avLst/>
            <a:gdLst/>
            <a:ahLst/>
            <a:cxnLst/>
            <a:rect l="0" t="0" r="r" b="b"/>
            <a:pathLst>
              <a:path w="642048" h="76200">
                <a:moveTo>
                  <a:pt x="38100" y="0"/>
                </a:moveTo>
                <a:lnTo>
                  <a:pt x="603948" y="0"/>
                </a:lnTo>
                <a:cubicBezTo>
                  <a:pt x="624967" y="0"/>
                  <a:pt x="642048" y="17082"/>
                  <a:pt x="642048" y="38100"/>
                </a:cubicBezTo>
                <a:lnTo>
                  <a:pt x="642048" y="38100"/>
                </a:lnTo>
                <a:cubicBezTo>
                  <a:pt x="642048" y="59118"/>
                  <a:pt x="624967" y="76200"/>
                  <a:pt x="603948" y="76200"/>
                </a:cubicBezTo>
                <a:lnTo>
                  <a:pt x="38100" y="76200"/>
                </a:lnTo>
                <a:cubicBezTo>
                  <a:pt x="17082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B2CAE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lgp-2-3"/>
          <p:cNvSpPr txBox="1"/>
          <p:nvPr/>
        </p:nvSpPr>
        <p:spPr>
          <a:xfrm>
            <a:off x="10855960" y="33924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0B2545"/>
                </a:solidFill>
                <a:latin typeface="Arial"/>
                <a:ea typeface="Arial"/>
                <a:cs typeface="Arial"/>
              </a:rPr>
              <a:t>7%</a:t>
            </a:r>
          </a:p>
        </p:txBody>
      </p:sp>
      <p:sp>
        <p:nvSpPr>
          <p:cNvPr id="77" name="lg-3"/>
          <p:cNvSpPr/>
          <p:nvPr/>
        </p:nvSpPr>
        <p:spPr>
          <a:xfrm>
            <a:off x="7493000" y="3759200"/>
            <a:ext cx="3746500" cy="1016000"/>
          </a:xfrm>
          <a:custGeom>
            <a:avLst/>
            <a:gdLst/>
            <a:ahLst/>
            <a:cxnLst/>
            <a:rect l="0" t="0" r="r" b="b"/>
            <a:pathLst>
              <a:path w="3746500" h="1016000">
                <a:moveTo>
                  <a:pt x="114300" y="0"/>
                </a:moveTo>
                <a:lnTo>
                  <a:pt x="3632200" y="0"/>
                </a:lnTo>
                <a:cubicBezTo>
                  <a:pt x="3695319" y="0"/>
                  <a:pt x="3746500" y="51181"/>
                  <a:pt x="3746500" y="114300"/>
                </a:cubicBezTo>
                <a:lnTo>
                  <a:pt x="3746500" y="901700"/>
                </a:lnTo>
                <a:cubicBezTo>
                  <a:pt x="3746500" y="964819"/>
                  <a:pt x="3695319" y="1016000"/>
                  <a:pt x="3632200" y="1016000"/>
                </a:cubicBezTo>
                <a:lnTo>
                  <a:pt x="114300" y="1016000"/>
                </a:lnTo>
                <a:cubicBezTo>
                  <a:pt x="51181" y="1016000"/>
                  <a:pt x="0" y="964819"/>
                  <a:pt x="0" y="901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lgb-3"/>
          <p:cNvSpPr/>
          <p:nvPr/>
        </p:nvSpPr>
        <p:spPr>
          <a:xfrm>
            <a:off x="7493000" y="3759200"/>
            <a:ext cx="38100" cy="1016000"/>
          </a:xfrm>
          <a:custGeom>
            <a:avLst/>
            <a:gdLst/>
            <a:ahLst/>
            <a:cxnLst/>
            <a:rect l="0" t="0" r="r" b="b"/>
            <a:pathLst>
              <a:path w="38100" h="1016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996950"/>
                </a:lnTo>
                <a:cubicBezTo>
                  <a:pt x="38100" y="1007491"/>
                  <a:pt x="29591" y="1016000"/>
                  <a:pt x="19050" y="1016000"/>
                </a:cubicBezTo>
                <a:lnTo>
                  <a:pt x="19050" y="1016000"/>
                </a:lnTo>
                <a:cubicBezTo>
                  <a:pt x="8509" y="1016000"/>
                  <a:pt x="0" y="1007491"/>
                  <a:pt x="0" y="996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lgn-3"/>
          <p:cNvSpPr txBox="1"/>
          <p:nvPr/>
        </p:nvSpPr>
        <p:spPr>
          <a:xfrm>
            <a:off x="7655560" y="3818255"/>
            <a:ext cx="66040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数据服务</a:t>
            </a:r>
          </a:p>
        </p:txBody>
      </p:sp>
      <p:sp>
        <p:nvSpPr>
          <p:cNvPr id="80" name="lgv-3"/>
          <p:cNvSpPr txBox="1"/>
          <p:nvPr/>
        </p:nvSpPr>
        <p:spPr>
          <a:xfrm>
            <a:off x="10169017" y="3841782"/>
            <a:ext cx="89293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15">
                <a:solidFill>
                  <a:srgbClr val="4694D7"/>
                </a:solidFill>
                <a:latin typeface="微软雅黑"/>
                <a:ea typeface="微软雅黑"/>
                <a:cs typeface="微软雅黑"/>
              </a:rPr>
              <a:t>18% · 2.16 亿</a:t>
            </a:r>
          </a:p>
        </p:txBody>
      </p:sp>
      <p:sp>
        <p:nvSpPr>
          <p:cNvPr id="81" name="lgc-3-1"/>
          <p:cNvSpPr/>
          <p:nvPr/>
        </p:nvSpPr>
        <p:spPr>
          <a:xfrm>
            <a:off x="7683500" y="410845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25400" y="0"/>
                </a:moveTo>
                <a:lnTo>
                  <a:pt x="76200" y="0"/>
                </a:lnTo>
                <a:cubicBezTo>
                  <a:pt x="90234" y="0"/>
                  <a:pt x="101600" y="11366"/>
                  <a:pt x="101600" y="25400"/>
                </a:cubicBezTo>
                <a:lnTo>
                  <a:pt x="101600" y="76200"/>
                </a:lnTo>
                <a:cubicBezTo>
                  <a:pt x="101600" y="90234"/>
                  <a:pt x="90234" y="101600"/>
                  <a:pt x="76200" y="101600"/>
                </a:cubicBezTo>
                <a:lnTo>
                  <a:pt x="25400" y="101600"/>
                </a:lnTo>
                <a:cubicBezTo>
                  <a:pt x="11366" y="101600"/>
                  <a:pt x="0" y="90234"/>
                  <a:pt x="0" y="76200"/>
                </a:cubicBezTo>
                <a:lnTo>
                  <a:pt x="0" y="25400"/>
                </a:lnTo>
                <a:cubicBezTo>
                  <a:pt x="0" y="11366"/>
                  <a:pt x="11366" y="0"/>
                  <a:pt x="25400" y="0"/>
                </a:cubicBezTo>
                <a:close/>
              </a:path>
            </a:pathLst>
          </a:custGeom>
          <a:solidFill>
            <a:srgbClr val="74AF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lgs-3-1"/>
          <p:cNvSpPr txBox="1"/>
          <p:nvPr/>
        </p:nvSpPr>
        <p:spPr>
          <a:xfrm>
            <a:off x="7836408" y="4065524"/>
            <a:ext cx="5080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数据治理</a:t>
            </a:r>
          </a:p>
        </p:txBody>
      </p:sp>
      <p:sp>
        <p:nvSpPr>
          <p:cNvPr id="83" name="lgbar-3-1"/>
          <p:cNvSpPr/>
          <p:nvPr/>
        </p:nvSpPr>
        <p:spPr>
          <a:xfrm>
            <a:off x="8763000" y="4121150"/>
            <a:ext cx="733806" cy="76200"/>
          </a:xfrm>
          <a:custGeom>
            <a:avLst/>
            <a:gdLst/>
            <a:ahLst/>
            <a:cxnLst/>
            <a:rect l="0" t="0" r="r" b="b"/>
            <a:pathLst>
              <a:path w="733806" h="76200">
                <a:moveTo>
                  <a:pt x="38100" y="0"/>
                </a:moveTo>
                <a:lnTo>
                  <a:pt x="695706" y="0"/>
                </a:lnTo>
                <a:cubicBezTo>
                  <a:pt x="716724" y="0"/>
                  <a:pt x="733806" y="17082"/>
                  <a:pt x="733806" y="38100"/>
                </a:cubicBezTo>
                <a:lnTo>
                  <a:pt x="733806" y="38100"/>
                </a:lnTo>
                <a:cubicBezTo>
                  <a:pt x="733806" y="59118"/>
                  <a:pt x="716724" y="76200"/>
                  <a:pt x="695706" y="76200"/>
                </a:cubicBezTo>
                <a:lnTo>
                  <a:pt x="38100" y="76200"/>
                </a:lnTo>
                <a:cubicBezTo>
                  <a:pt x="17082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74AF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lgp-3-1"/>
          <p:cNvSpPr txBox="1"/>
          <p:nvPr/>
        </p:nvSpPr>
        <p:spPr>
          <a:xfrm>
            <a:off x="10855960" y="40655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0B2545"/>
                </a:solidFill>
                <a:latin typeface="Arial"/>
                <a:ea typeface="Arial"/>
                <a:cs typeface="Arial"/>
              </a:rPr>
              <a:t>8%</a:t>
            </a:r>
          </a:p>
        </p:txBody>
      </p:sp>
      <p:sp>
        <p:nvSpPr>
          <p:cNvPr id="85" name="lgc-3-2"/>
          <p:cNvSpPr/>
          <p:nvPr/>
        </p:nvSpPr>
        <p:spPr>
          <a:xfrm>
            <a:off x="7683500" y="433705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25400" y="0"/>
                </a:moveTo>
                <a:lnTo>
                  <a:pt x="76200" y="0"/>
                </a:lnTo>
                <a:cubicBezTo>
                  <a:pt x="90234" y="0"/>
                  <a:pt x="101600" y="11366"/>
                  <a:pt x="101600" y="25400"/>
                </a:cubicBezTo>
                <a:lnTo>
                  <a:pt x="101600" y="76200"/>
                </a:lnTo>
                <a:cubicBezTo>
                  <a:pt x="101600" y="90234"/>
                  <a:pt x="90234" y="101600"/>
                  <a:pt x="76200" y="101600"/>
                </a:cubicBezTo>
                <a:lnTo>
                  <a:pt x="25400" y="101600"/>
                </a:lnTo>
                <a:cubicBezTo>
                  <a:pt x="11366" y="101600"/>
                  <a:pt x="0" y="90234"/>
                  <a:pt x="0" y="76200"/>
                </a:cubicBezTo>
                <a:lnTo>
                  <a:pt x="0" y="25400"/>
                </a:lnTo>
                <a:cubicBezTo>
                  <a:pt x="0" y="11366"/>
                  <a:pt x="11366" y="0"/>
                  <a:pt x="25400" y="0"/>
                </a:cubicBezTo>
                <a:close/>
              </a:path>
            </a:pathLst>
          </a:custGeom>
          <a:solidFill>
            <a:srgbClr val="99C4E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lgs-3-2"/>
          <p:cNvSpPr txBox="1"/>
          <p:nvPr/>
        </p:nvSpPr>
        <p:spPr>
          <a:xfrm>
            <a:off x="7836408" y="4294124"/>
            <a:ext cx="4780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BI 分析</a:t>
            </a:r>
          </a:p>
        </p:txBody>
      </p:sp>
      <p:sp>
        <p:nvSpPr>
          <p:cNvPr id="87" name="lgbar-3-2"/>
          <p:cNvSpPr/>
          <p:nvPr/>
        </p:nvSpPr>
        <p:spPr>
          <a:xfrm>
            <a:off x="8763000" y="4349750"/>
            <a:ext cx="550355" cy="76200"/>
          </a:xfrm>
          <a:custGeom>
            <a:avLst/>
            <a:gdLst/>
            <a:ahLst/>
            <a:cxnLst/>
            <a:rect l="0" t="0" r="r" b="b"/>
            <a:pathLst>
              <a:path w="550355" h="76200">
                <a:moveTo>
                  <a:pt x="38100" y="0"/>
                </a:moveTo>
                <a:lnTo>
                  <a:pt x="512255" y="0"/>
                </a:lnTo>
                <a:cubicBezTo>
                  <a:pt x="533273" y="0"/>
                  <a:pt x="550355" y="17082"/>
                  <a:pt x="550355" y="38100"/>
                </a:cubicBezTo>
                <a:lnTo>
                  <a:pt x="550355" y="38100"/>
                </a:lnTo>
                <a:cubicBezTo>
                  <a:pt x="550355" y="59118"/>
                  <a:pt x="533273" y="76200"/>
                  <a:pt x="512255" y="76200"/>
                </a:cubicBezTo>
                <a:lnTo>
                  <a:pt x="38100" y="76200"/>
                </a:lnTo>
                <a:cubicBezTo>
                  <a:pt x="17082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99C4E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lgp-3-2"/>
          <p:cNvSpPr txBox="1"/>
          <p:nvPr/>
        </p:nvSpPr>
        <p:spPr>
          <a:xfrm>
            <a:off x="10855960" y="42941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0B2545"/>
                </a:solidFill>
                <a:latin typeface="Arial"/>
                <a:ea typeface="Arial"/>
                <a:cs typeface="Arial"/>
              </a:rPr>
              <a:t>6%</a:t>
            </a:r>
          </a:p>
        </p:txBody>
      </p:sp>
      <p:sp>
        <p:nvSpPr>
          <p:cNvPr id="89" name="lgc-3-3"/>
          <p:cNvSpPr/>
          <p:nvPr/>
        </p:nvSpPr>
        <p:spPr>
          <a:xfrm>
            <a:off x="7683500" y="456565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25400" y="0"/>
                </a:moveTo>
                <a:lnTo>
                  <a:pt x="76200" y="0"/>
                </a:lnTo>
                <a:cubicBezTo>
                  <a:pt x="90234" y="0"/>
                  <a:pt x="101600" y="11366"/>
                  <a:pt x="101600" y="25400"/>
                </a:cubicBezTo>
                <a:lnTo>
                  <a:pt x="101600" y="76200"/>
                </a:lnTo>
                <a:cubicBezTo>
                  <a:pt x="101600" y="90234"/>
                  <a:pt x="90234" y="101600"/>
                  <a:pt x="76200" y="101600"/>
                </a:cubicBezTo>
                <a:lnTo>
                  <a:pt x="25400" y="101600"/>
                </a:lnTo>
                <a:cubicBezTo>
                  <a:pt x="11366" y="101600"/>
                  <a:pt x="0" y="90234"/>
                  <a:pt x="0" y="76200"/>
                </a:cubicBezTo>
                <a:lnTo>
                  <a:pt x="0" y="25400"/>
                </a:lnTo>
                <a:cubicBezTo>
                  <a:pt x="0" y="11366"/>
                  <a:pt x="11366" y="0"/>
                  <a:pt x="25400" y="0"/>
                </a:cubicBezTo>
                <a:close/>
              </a:path>
            </a:pathLst>
          </a:custGeom>
          <a:solidFill>
            <a:srgbClr val="BEDA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lgs-3-3"/>
          <p:cNvSpPr txBox="1"/>
          <p:nvPr/>
        </p:nvSpPr>
        <p:spPr>
          <a:xfrm>
            <a:off x="7836408" y="4522724"/>
            <a:ext cx="5080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数据交易</a:t>
            </a:r>
          </a:p>
        </p:txBody>
      </p:sp>
      <p:sp>
        <p:nvSpPr>
          <p:cNvPr id="91" name="lgbar-3-3"/>
          <p:cNvSpPr/>
          <p:nvPr/>
        </p:nvSpPr>
        <p:spPr>
          <a:xfrm>
            <a:off x="8763000" y="4578350"/>
            <a:ext cx="366903" cy="76200"/>
          </a:xfrm>
          <a:custGeom>
            <a:avLst/>
            <a:gdLst/>
            <a:ahLst/>
            <a:cxnLst/>
            <a:rect l="0" t="0" r="r" b="b"/>
            <a:pathLst>
              <a:path w="366903" h="76200">
                <a:moveTo>
                  <a:pt x="38100" y="0"/>
                </a:moveTo>
                <a:lnTo>
                  <a:pt x="328803" y="0"/>
                </a:lnTo>
                <a:cubicBezTo>
                  <a:pt x="349821" y="0"/>
                  <a:pt x="366903" y="17082"/>
                  <a:pt x="366903" y="38100"/>
                </a:cubicBezTo>
                <a:lnTo>
                  <a:pt x="366903" y="38100"/>
                </a:lnTo>
                <a:cubicBezTo>
                  <a:pt x="366903" y="59118"/>
                  <a:pt x="349821" y="76200"/>
                  <a:pt x="328803" y="76200"/>
                </a:cubicBezTo>
                <a:lnTo>
                  <a:pt x="38100" y="76200"/>
                </a:lnTo>
                <a:cubicBezTo>
                  <a:pt x="17082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BEDA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lgp-3-3"/>
          <p:cNvSpPr txBox="1"/>
          <p:nvPr/>
        </p:nvSpPr>
        <p:spPr>
          <a:xfrm>
            <a:off x="10855960" y="45227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0B2545"/>
                </a:solidFill>
                <a:latin typeface="Arial"/>
                <a:ea typeface="Arial"/>
                <a:cs typeface="Arial"/>
              </a:rPr>
              <a:t>4%</a:t>
            </a:r>
          </a:p>
        </p:txBody>
      </p:sp>
      <p:sp>
        <p:nvSpPr>
          <p:cNvPr id="93" name="lg-4"/>
          <p:cNvSpPr/>
          <p:nvPr/>
        </p:nvSpPr>
        <p:spPr>
          <a:xfrm>
            <a:off x="7493000" y="4889500"/>
            <a:ext cx="3746500" cy="787400"/>
          </a:xfrm>
          <a:custGeom>
            <a:avLst/>
            <a:gdLst/>
            <a:ahLst/>
            <a:cxnLst/>
            <a:rect l="0" t="0" r="r" b="b"/>
            <a:pathLst>
              <a:path w="3746500" h="787400">
                <a:moveTo>
                  <a:pt x="114300" y="0"/>
                </a:moveTo>
                <a:lnTo>
                  <a:pt x="3632200" y="0"/>
                </a:lnTo>
                <a:cubicBezTo>
                  <a:pt x="3695319" y="0"/>
                  <a:pt x="3746500" y="51181"/>
                  <a:pt x="3746500" y="114300"/>
                </a:cubicBezTo>
                <a:lnTo>
                  <a:pt x="3746500" y="673100"/>
                </a:lnTo>
                <a:cubicBezTo>
                  <a:pt x="3746500" y="736219"/>
                  <a:pt x="3695319" y="787400"/>
                  <a:pt x="3632200" y="787400"/>
                </a:cubicBezTo>
                <a:lnTo>
                  <a:pt x="114300" y="787400"/>
                </a:lnTo>
                <a:cubicBezTo>
                  <a:pt x="51181" y="787400"/>
                  <a:pt x="0" y="736219"/>
                  <a:pt x="0" y="6731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lgb-4"/>
          <p:cNvSpPr/>
          <p:nvPr/>
        </p:nvSpPr>
        <p:spPr>
          <a:xfrm>
            <a:off x="7493000" y="4889500"/>
            <a:ext cx="38100" cy="787400"/>
          </a:xfrm>
          <a:custGeom>
            <a:avLst/>
            <a:gdLst/>
            <a:ahLst/>
            <a:cxnLst/>
            <a:rect l="0" t="0" r="r" b="b"/>
            <a:pathLst>
              <a:path w="38100" h="7874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768350"/>
                </a:lnTo>
                <a:cubicBezTo>
                  <a:pt x="38100" y="778891"/>
                  <a:pt x="29591" y="787400"/>
                  <a:pt x="19050" y="787400"/>
                </a:cubicBezTo>
                <a:lnTo>
                  <a:pt x="19050" y="787400"/>
                </a:lnTo>
                <a:cubicBezTo>
                  <a:pt x="8509" y="787400"/>
                  <a:pt x="0" y="778891"/>
                  <a:pt x="0" y="7683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lgn-4"/>
          <p:cNvSpPr txBox="1"/>
          <p:nvPr/>
        </p:nvSpPr>
        <p:spPr>
          <a:xfrm>
            <a:off x="7655560" y="4948555"/>
            <a:ext cx="38735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咨询</a:t>
            </a:r>
          </a:p>
        </p:txBody>
      </p:sp>
      <p:sp>
        <p:nvSpPr>
          <p:cNvPr id="96" name="lgv-4"/>
          <p:cNvSpPr txBox="1"/>
          <p:nvPr/>
        </p:nvSpPr>
        <p:spPr>
          <a:xfrm>
            <a:off x="10169017" y="4972082"/>
            <a:ext cx="89293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12% · 1.44 亿</a:t>
            </a:r>
          </a:p>
        </p:txBody>
      </p:sp>
      <p:sp>
        <p:nvSpPr>
          <p:cNvPr id="97" name="lgc-4-1"/>
          <p:cNvSpPr/>
          <p:nvPr/>
        </p:nvSpPr>
        <p:spPr>
          <a:xfrm>
            <a:off x="7683500" y="523875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25400" y="0"/>
                </a:moveTo>
                <a:lnTo>
                  <a:pt x="76200" y="0"/>
                </a:lnTo>
                <a:cubicBezTo>
                  <a:pt x="90234" y="0"/>
                  <a:pt x="101600" y="11366"/>
                  <a:pt x="101600" y="25400"/>
                </a:cubicBezTo>
                <a:lnTo>
                  <a:pt x="101600" y="76200"/>
                </a:lnTo>
                <a:cubicBezTo>
                  <a:pt x="101600" y="90234"/>
                  <a:pt x="90234" y="101600"/>
                  <a:pt x="76200" y="101600"/>
                </a:cubicBezTo>
                <a:lnTo>
                  <a:pt x="25400" y="101600"/>
                </a:lnTo>
                <a:cubicBezTo>
                  <a:pt x="11366" y="101600"/>
                  <a:pt x="0" y="90234"/>
                  <a:pt x="0" y="76200"/>
                </a:cubicBezTo>
                <a:lnTo>
                  <a:pt x="0" y="25400"/>
                </a:lnTo>
                <a:cubicBezTo>
                  <a:pt x="0" y="11366"/>
                  <a:pt x="11366" y="0"/>
                  <a:pt x="25400" y="0"/>
                </a:cubicBezTo>
                <a:close/>
              </a:path>
            </a:pathLst>
          </a:custGeom>
          <a:solidFill>
            <a:srgbClr val="E8946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lgs-4-1"/>
          <p:cNvSpPr txBox="1"/>
          <p:nvPr/>
        </p:nvSpPr>
        <p:spPr>
          <a:xfrm>
            <a:off x="7836408" y="5195824"/>
            <a:ext cx="5080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规划咨询</a:t>
            </a:r>
          </a:p>
        </p:txBody>
      </p:sp>
      <p:sp>
        <p:nvSpPr>
          <p:cNvPr id="99" name="lgbar-4-1"/>
          <p:cNvSpPr/>
          <p:nvPr/>
        </p:nvSpPr>
        <p:spPr>
          <a:xfrm>
            <a:off x="8763000" y="5251450"/>
            <a:ext cx="642048" cy="76200"/>
          </a:xfrm>
          <a:custGeom>
            <a:avLst/>
            <a:gdLst/>
            <a:ahLst/>
            <a:cxnLst/>
            <a:rect l="0" t="0" r="r" b="b"/>
            <a:pathLst>
              <a:path w="642048" h="76200">
                <a:moveTo>
                  <a:pt x="38100" y="0"/>
                </a:moveTo>
                <a:lnTo>
                  <a:pt x="603948" y="0"/>
                </a:lnTo>
                <a:cubicBezTo>
                  <a:pt x="624967" y="0"/>
                  <a:pt x="642048" y="17082"/>
                  <a:pt x="642048" y="38100"/>
                </a:cubicBezTo>
                <a:lnTo>
                  <a:pt x="642048" y="38100"/>
                </a:lnTo>
                <a:cubicBezTo>
                  <a:pt x="642048" y="59118"/>
                  <a:pt x="624967" y="76200"/>
                  <a:pt x="603948" y="76200"/>
                </a:cubicBezTo>
                <a:lnTo>
                  <a:pt x="38100" y="76200"/>
                </a:lnTo>
                <a:cubicBezTo>
                  <a:pt x="17082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E8946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lgp-4-1"/>
          <p:cNvSpPr txBox="1"/>
          <p:nvPr/>
        </p:nvSpPr>
        <p:spPr>
          <a:xfrm>
            <a:off x="10855960" y="51958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0B2545"/>
                </a:solidFill>
                <a:latin typeface="Arial"/>
                <a:ea typeface="Arial"/>
                <a:cs typeface="Arial"/>
              </a:rPr>
              <a:t>7%</a:t>
            </a:r>
          </a:p>
        </p:txBody>
      </p:sp>
      <p:sp>
        <p:nvSpPr>
          <p:cNvPr id="101" name="lgc-4-2"/>
          <p:cNvSpPr/>
          <p:nvPr/>
        </p:nvSpPr>
        <p:spPr>
          <a:xfrm>
            <a:off x="7683500" y="5467350"/>
            <a:ext cx="101600" cy="101600"/>
          </a:xfrm>
          <a:custGeom>
            <a:avLst/>
            <a:gdLst/>
            <a:ahLst/>
            <a:cxnLst/>
            <a:rect l="0" t="0" r="r" b="b"/>
            <a:pathLst>
              <a:path w="101600" h="101600">
                <a:moveTo>
                  <a:pt x="25400" y="0"/>
                </a:moveTo>
                <a:lnTo>
                  <a:pt x="76200" y="0"/>
                </a:lnTo>
                <a:cubicBezTo>
                  <a:pt x="90234" y="0"/>
                  <a:pt x="101600" y="11366"/>
                  <a:pt x="101600" y="25400"/>
                </a:cubicBezTo>
                <a:lnTo>
                  <a:pt x="101600" y="76200"/>
                </a:lnTo>
                <a:cubicBezTo>
                  <a:pt x="101600" y="90234"/>
                  <a:pt x="90234" y="101600"/>
                  <a:pt x="76200" y="101600"/>
                </a:cubicBezTo>
                <a:lnTo>
                  <a:pt x="25400" y="101600"/>
                </a:lnTo>
                <a:cubicBezTo>
                  <a:pt x="11366" y="101600"/>
                  <a:pt x="0" y="90234"/>
                  <a:pt x="0" y="76200"/>
                </a:cubicBezTo>
                <a:lnTo>
                  <a:pt x="0" y="25400"/>
                </a:lnTo>
                <a:cubicBezTo>
                  <a:pt x="0" y="11366"/>
                  <a:pt x="11366" y="0"/>
                  <a:pt x="25400" y="0"/>
                </a:cubicBezTo>
                <a:close/>
              </a:path>
            </a:pathLst>
          </a:custGeom>
          <a:solidFill>
            <a:srgbClr val="EEB09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2" name="lgs-4-2"/>
          <p:cNvSpPr txBox="1"/>
          <p:nvPr/>
        </p:nvSpPr>
        <p:spPr>
          <a:xfrm>
            <a:off x="7836408" y="5424424"/>
            <a:ext cx="50800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实施服务</a:t>
            </a:r>
          </a:p>
        </p:txBody>
      </p:sp>
      <p:sp>
        <p:nvSpPr>
          <p:cNvPr id="103" name="lgbar-4-2"/>
          <p:cNvSpPr/>
          <p:nvPr/>
        </p:nvSpPr>
        <p:spPr>
          <a:xfrm>
            <a:off x="8763000" y="5480050"/>
            <a:ext cx="458597" cy="76200"/>
          </a:xfrm>
          <a:custGeom>
            <a:avLst/>
            <a:gdLst/>
            <a:ahLst/>
            <a:cxnLst/>
            <a:rect l="0" t="0" r="r" b="b"/>
            <a:pathLst>
              <a:path w="458597" h="76200">
                <a:moveTo>
                  <a:pt x="38100" y="0"/>
                </a:moveTo>
                <a:lnTo>
                  <a:pt x="420497" y="0"/>
                </a:lnTo>
                <a:cubicBezTo>
                  <a:pt x="441579" y="0"/>
                  <a:pt x="458597" y="17082"/>
                  <a:pt x="458597" y="38100"/>
                </a:cubicBezTo>
                <a:lnTo>
                  <a:pt x="458597" y="38100"/>
                </a:lnTo>
                <a:cubicBezTo>
                  <a:pt x="458597" y="59118"/>
                  <a:pt x="441579" y="76200"/>
                  <a:pt x="420497" y="76200"/>
                </a:cubicBezTo>
                <a:lnTo>
                  <a:pt x="38100" y="76200"/>
                </a:lnTo>
                <a:cubicBezTo>
                  <a:pt x="17082" y="76200"/>
                  <a:pt x="0" y="59118"/>
                  <a:pt x="0" y="381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EEB09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4" name="lgp-4-2"/>
          <p:cNvSpPr txBox="1"/>
          <p:nvPr/>
        </p:nvSpPr>
        <p:spPr>
          <a:xfrm>
            <a:off x="10855960" y="54244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>
                <a:solidFill>
                  <a:srgbClr val="0B2545"/>
                </a:solidFill>
                <a:latin typeface="Arial"/>
                <a:ea typeface="Arial"/>
                <a:cs typeface="Arial"/>
              </a:rPr>
              <a:t>5%</a:t>
            </a:r>
          </a:p>
        </p:txBody>
      </p:sp>
      <p:cxnSp>
        <p:nvCxnSpPr>
          <p:cNvPr id="105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6" name="foot-l"/>
          <p:cNvSpPr txBox="1"/>
          <p:nvPr/>
        </p:nvSpPr>
        <p:spPr>
          <a:xfrm>
            <a:off x="573532" y="6532308"/>
            <a:ext cx="169646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旭日图 · 四大业务 · 11 条产品线</a:t>
            </a:r>
          </a:p>
        </p:txBody>
      </p:sp>
      <p:sp>
        <p:nvSpPr>
          <p:cNvPr id="107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部门预算执行偏差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53695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BUDGET VS ACTUAL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084185" y="673132"/>
            <a:ext cx="353656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外框是预算、实心是实际，超支 10% 以上标橙——两个部门需要说明</a:t>
            </a:r>
          </a:p>
        </p:txBody>
      </p:sp>
      <p:cxnSp>
        <p:nvCxnSpPr>
          <p:cNvPr id="10" name="g-0"/>
          <p:cNvCxnSpPr/>
          <p:nvPr/>
        </p:nvCxnSpPr>
        <p:spPr>
          <a:xfrm>
            <a:off x="1460500" y="4953000"/>
            <a:ext cx="6350000" cy="0"/>
          </a:xfrm>
          <a:prstGeom prst="line">
            <a:avLst/>
          </a:prstGeom>
          <a:ln w="6350" cap="rnd">
            <a:solidFill>
              <a:srgbClr val="0B2545">
                <a:alpha val="1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gt-0"/>
          <p:cNvSpPr txBox="1"/>
          <p:nvPr/>
        </p:nvSpPr>
        <p:spPr>
          <a:xfrm>
            <a:off x="1248156" y="48656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0</a:t>
            </a:r>
          </a:p>
        </p:txBody>
      </p:sp>
      <p:cxnSp>
        <p:nvCxnSpPr>
          <p:cNvPr id="12" name="g-1000"/>
          <p:cNvCxnSpPr/>
          <p:nvPr/>
        </p:nvCxnSpPr>
        <p:spPr>
          <a:xfrm>
            <a:off x="1460500" y="4499429"/>
            <a:ext cx="63500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g-2000"/>
          <p:cNvCxnSpPr/>
          <p:nvPr/>
        </p:nvCxnSpPr>
        <p:spPr>
          <a:xfrm>
            <a:off x="1460500" y="4045857"/>
            <a:ext cx="63500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gt-2000"/>
          <p:cNvSpPr txBox="1"/>
          <p:nvPr/>
        </p:nvSpPr>
        <p:spPr>
          <a:xfrm>
            <a:off x="1020572" y="3958481"/>
            <a:ext cx="3759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2,000</a:t>
            </a:r>
          </a:p>
        </p:txBody>
      </p:sp>
      <p:cxnSp>
        <p:nvCxnSpPr>
          <p:cNvPr id="15" name="g-3000"/>
          <p:cNvCxnSpPr/>
          <p:nvPr/>
        </p:nvCxnSpPr>
        <p:spPr>
          <a:xfrm>
            <a:off x="1460500" y="3592286"/>
            <a:ext cx="63500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g-4000"/>
          <p:cNvCxnSpPr/>
          <p:nvPr/>
        </p:nvCxnSpPr>
        <p:spPr>
          <a:xfrm>
            <a:off x="1460500" y="3138714"/>
            <a:ext cx="63500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gt-4000"/>
          <p:cNvSpPr txBox="1"/>
          <p:nvPr/>
        </p:nvSpPr>
        <p:spPr>
          <a:xfrm>
            <a:off x="1020572" y="3051338"/>
            <a:ext cx="3759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4,000</a:t>
            </a:r>
          </a:p>
        </p:txBody>
      </p:sp>
      <p:cxnSp>
        <p:nvCxnSpPr>
          <p:cNvPr id="18" name="g-5000"/>
          <p:cNvCxnSpPr/>
          <p:nvPr/>
        </p:nvCxnSpPr>
        <p:spPr>
          <a:xfrm>
            <a:off x="1460500" y="2685143"/>
            <a:ext cx="63500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g-6000"/>
          <p:cNvCxnSpPr/>
          <p:nvPr/>
        </p:nvCxnSpPr>
        <p:spPr>
          <a:xfrm>
            <a:off x="1460500" y="2231571"/>
            <a:ext cx="63500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gt-6000"/>
          <p:cNvSpPr txBox="1"/>
          <p:nvPr/>
        </p:nvSpPr>
        <p:spPr>
          <a:xfrm>
            <a:off x="1020572" y="2144195"/>
            <a:ext cx="3759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6,000</a:t>
            </a:r>
          </a:p>
        </p:txBody>
      </p:sp>
      <p:cxnSp>
        <p:nvCxnSpPr>
          <p:cNvPr id="21" name="g-7000"/>
          <p:cNvCxnSpPr/>
          <p:nvPr/>
        </p:nvCxnSpPr>
        <p:spPr>
          <a:xfrm>
            <a:off x="1460500" y="1778000"/>
            <a:ext cx="63500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unit"/>
          <p:cNvSpPr txBox="1"/>
          <p:nvPr/>
        </p:nvSpPr>
        <p:spPr>
          <a:xfrm>
            <a:off x="1137158" y="1477708"/>
            <a:ext cx="2578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万元</a:t>
            </a:r>
          </a:p>
        </p:txBody>
      </p:sp>
      <p:sp>
        <p:nvSpPr>
          <p:cNvPr id="23" name="bud-1"/>
          <p:cNvSpPr/>
          <p:nvPr/>
        </p:nvSpPr>
        <p:spPr>
          <a:xfrm>
            <a:off x="1707832" y="2594420"/>
            <a:ext cx="537210" cy="2358580"/>
          </a:xfrm>
          <a:custGeom>
            <a:avLst/>
            <a:gdLst/>
            <a:ahLst/>
            <a:cxnLst/>
            <a:rect l="0" t="0" r="r" b="b"/>
            <a:pathLst>
              <a:path w="537210" h="2358580">
                <a:moveTo>
                  <a:pt x="0" y="2358580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473710" y="0"/>
                </a:lnTo>
                <a:cubicBezTo>
                  <a:pt x="508762" y="0"/>
                  <a:pt x="537210" y="28448"/>
                  <a:pt x="537210" y="63500"/>
                </a:cubicBezTo>
                <a:lnTo>
                  <a:pt x="537210" y="2358580"/>
                </a:lnTo>
                <a:close/>
              </a:path>
            </a:pathLst>
          </a:custGeom>
          <a:noFill/>
          <a:ln w="12700" cap="rnd">
            <a:solidFill>
              <a:srgbClr val="7E93AE">
                <a:alpha val="7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act-1"/>
          <p:cNvSpPr/>
          <p:nvPr/>
        </p:nvSpPr>
        <p:spPr>
          <a:xfrm>
            <a:off x="1758632" y="2467420"/>
            <a:ext cx="435610" cy="2485580"/>
          </a:xfrm>
          <a:custGeom>
            <a:avLst/>
            <a:gdLst/>
            <a:ahLst/>
            <a:cxnLst/>
            <a:rect l="0" t="0" r="r" b="b"/>
            <a:pathLst>
              <a:path w="435610" h="2485580">
                <a:moveTo>
                  <a:pt x="0" y="2485580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384810" y="0"/>
                </a:lnTo>
                <a:cubicBezTo>
                  <a:pt x="412877" y="0"/>
                  <a:pt x="435610" y="22733"/>
                  <a:pt x="435610" y="50800"/>
                </a:cubicBezTo>
                <a:lnTo>
                  <a:pt x="435610" y="2485580"/>
                </a:lnTo>
                <a:close/>
              </a:path>
            </a:pathLst>
          </a:custGeom>
          <a:gradFill rotWithShape="1">
            <a:gsLst>
              <a:gs pos="0">
                <a:srgbClr val="4D7EBB"/>
              </a:gs>
              <a:gs pos="100000">
                <a:srgbClr val="1B5AA8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dv-1"/>
          <p:cNvSpPr/>
          <p:nvPr/>
        </p:nvSpPr>
        <p:spPr>
          <a:xfrm>
            <a:off x="1697038" y="2175320"/>
            <a:ext cx="558800" cy="203200"/>
          </a:xfrm>
          <a:custGeom>
            <a:avLst/>
            <a:gdLst/>
            <a:ahLst/>
            <a:cxnLst/>
            <a:rect l="0" t="0" r="r" b="b"/>
            <a:pathLst>
              <a:path w="558800" h="203200">
                <a:moveTo>
                  <a:pt x="101600" y="0"/>
                </a:moveTo>
                <a:lnTo>
                  <a:pt x="457200" y="0"/>
                </a:lnTo>
                <a:cubicBezTo>
                  <a:pt x="513334" y="0"/>
                  <a:pt x="558800" y="45466"/>
                  <a:pt x="558800" y="101600"/>
                </a:cubicBezTo>
                <a:lnTo>
                  <a:pt x="558800" y="101600"/>
                </a:lnTo>
                <a:cubicBezTo>
                  <a:pt x="558800" y="157734"/>
                  <a:pt x="513334" y="203200"/>
                  <a:pt x="4572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dvt-1"/>
          <p:cNvSpPr txBox="1"/>
          <p:nvPr/>
        </p:nvSpPr>
        <p:spPr>
          <a:xfrm>
            <a:off x="1800225" y="2197395"/>
            <a:ext cx="3524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1B5AA8"/>
                </a:solidFill>
                <a:latin typeface="Arial"/>
                <a:ea typeface="Arial"/>
                <a:cs typeface="Arial"/>
              </a:rPr>
              <a:t>+5.4%</a:t>
            </a:r>
          </a:p>
        </p:txBody>
      </p:sp>
      <p:sp>
        <p:nvSpPr>
          <p:cNvPr id="27" name="nm-1"/>
          <p:cNvSpPr txBox="1"/>
          <p:nvPr/>
        </p:nvSpPr>
        <p:spPr>
          <a:xfrm>
            <a:off x="1788795" y="501989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研发</a:t>
            </a:r>
          </a:p>
        </p:txBody>
      </p:sp>
      <p:sp>
        <p:nvSpPr>
          <p:cNvPr id="28" name="ab-1"/>
          <p:cNvSpPr txBox="1"/>
          <p:nvPr/>
        </p:nvSpPr>
        <p:spPr>
          <a:xfrm>
            <a:off x="1612836" y="5224208"/>
            <a:ext cx="72720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5,480 / 5,200</a:t>
            </a:r>
          </a:p>
        </p:txBody>
      </p:sp>
      <p:sp>
        <p:nvSpPr>
          <p:cNvPr id="29" name="bud-2"/>
          <p:cNvSpPr/>
          <p:nvPr/>
        </p:nvSpPr>
        <p:spPr>
          <a:xfrm>
            <a:off x="2485708" y="3093339"/>
            <a:ext cx="537210" cy="1859661"/>
          </a:xfrm>
          <a:custGeom>
            <a:avLst/>
            <a:gdLst/>
            <a:ahLst/>
            <a:cxnLst/>
            <a:rect l="0" t="0" r="r" b="b"/>
            <a:pathLst>
              <a:path w="537210" h="1859661">
                <a:moveTo>
                  <a:pt x="0" y="1859661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473710" y="0"/>
                </a:lnTo>
                <a:cubicBezTo>
                  <a:pt x="508762" y="0"/>
                  <a:pt x="537210" y="28448"/>
                  <a:pt x="537210" y="63500"/>
                </a:cubicBezTo>
                <a:lnTo>
                  <a:pt x="537210" y="1859661"/>
                </a:lnTo>
                <a:close/>
              </a:path>
            </a:pathLst>
          </a:custGeom>
          <a:noFill/>
          <a:ln w="12700" cap="rnd">
            <a:solidFill>
              <a:srgbClr val="7E93AE">
                <a:alpha val="7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act-2"/>
          <p:cNvSpPr/>
          <p:nvPr/>
        </p:nvSpPr>
        <p:spPr>
          <a:xfrm>
            <a:off x="2536508" y="3202242"/>
            <a:ext cx="435610" cy="1750758"/>
          </a:xfrm>
          <a:custGeom>
            <a:avLst/>
            <a:gdLst/>
            <a:ahLst/>
            <a:cxnLst/>
            <a:rect l="0" t="0" r="r" b="b"/>
            <a:pathLst>
              <a:path w="435610" h="1750758">
                <a:moveTo>
                  <a:pt x="0" y="1750758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384810" y="0"/>
                </a:lnTo>
                <a:cubicBezTo>
                  <a:pt x="412877" y="0"/>
                  <a:pt x="435610" y="22733"/>
                  <a:pt x="435610" y="50800"/>
                </a:cubicBezTo>
                <a:lnTo>
                  <a:pt x="435610" y="1750758"/>
                </a:lnTo>
                <a:close/>
              </a:path>
            </a:pathLst>
          </a:custGeom>
          <a:gradFill rotWithShape="1">
            <a:gsLst>
              <a:gs pos="0">
                <a:srgbClr val="4D7EBB"/>
              </a:gs>
              <a:gs pos="100000">
                <a:srgbClr val="1B5AA8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dv-2"/>
          <p:cNvSpPr/>
          <p:nvPr/>
        </p:nvSpPr>
        <p:spPr>
          <a:xfrm>
            <a:off x="2474912" y="2801239"/>
            <a:ext cx="558800" cy="203200"/>
          </a:xfrm>
          <a:custGeom>
            <a:avLst/>
            <a:gdLst/>
            <a:ahLst/>
            <a:cxnLst/>
            <a:rect l="0" t="0" r="r" b="b"/>
            <a:pathLst>
              <a:path w="558800" h="203200">
                <a:moveTo>
                  <a:pt x="101600" y="0"/>
                </a:moveTo>
                <a:lnTo>
                  <a:pt x="457200" y="0"/>
                </a:lnTo>
                <a:cubicBezTo>
                  <a:pt x="513334" y="0"/>
                  <a:pt x="558800" y="45530"/>
                  <a:pt x="558800" y="101600"/>
                </a:cubicBezTo>
                <a:lnTo>
                  <a:pt x="558800" y="101600"/>
                </a:lnTo>
                <a:cubicBezTo>
                  <a:pt x="558800" y="157734"/>
                  <a:pt x="513334" y="203200"/>
                  <a:pt x="4572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530"/>
                  <a:pt x="45466" y="0"/>
                  <a:pt x="101600" y="0"/>
                </a:cubicBezTo>
                <a:close/>
              </a:path>
            </a:pathLst>
          </a:cu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dvt-2"/>
          <p:cNvSpPr txBox="1"/>
          <p:nvPr/>
        </p:nvSpPr>
        <p:spPr>
          <a:xfrm>
            <a:off x="2578100" y="2823323"/>
            <a:ext cx="3524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1B5AA8"/>
                </a:solidFill>
                <a:latin typeface="Arial"/>
                <a:ea typeface="Arial"/>
                <a:cs typeface="Arial"/>
              </a:rPr>
              <a:t>-5.9%</a:t>
            </a:r>
          </a:p>
        </p:txBody>
      </p:sp>
      <p:sp>
        <p:nvSpPr>
          <p:cNvPr id="33" name="nm-2"/>
          <p:cNvSpPr txBox="1"/>
          <p:nvPr/>
        </p:nvSpPr>
        <p:spPr>
          <a:xfrm>
            <a:off x="2566670" y="501989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销售</a:t>
            </a:r>
          </a:p>
        </p:txBody>
      </p:sp>
      <p:sp>
        <p:nvSpPr>
          <p:cNvPr id="34" name="ab-2"/>
          <p:cNvSpPr txBox="1"/>
          <p:nvPr/>
        </p:nvSpPr>
        <p:spPr>
          <a:xfrm>
            <a:off x="2390712" y="5224208"/>
            <a:ext cx="72720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3,860 / 4,100</a:t>
            </a:r>
          </a:p>
        </p:txBody>
      </p:sp>
      <p:sp>
        <p:nvSpPr>
          <p:cNvPr id="35" name="bud-3"/>
          <p:cNvSpPr/>
          <p:nvPr/>
        </p:nvSpPr>
        <p:spPr>
          <a:xfrm>
            <a:off x="3263583" y="3864420"/>
            <a:ext cx="537210" cy="1088580"/>
          </a:xfrm>
          <a:custGeom>
            <a:avLst/>
            <a:gdLst/>
            <a:ahLst/>
            <a:cxnLst/>
            <a:rect l="0" t="0" r="r" b="b"/>
            <a:pathLst>
              <a:path w="537210" h="1088580">
                <a:moveTo>
                  <a:pt x="0" y="1088580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473710" y="0"/>
                </a:lnTo>
                <a:cubicBezTo>
                  <a:pt x="508762" y="0"/>
                  <a:pt x="537210" y="28448"/>
                  <a:pt x="537210" y="63500"/>
                </a:cubicBezTo>
                <a:lnTo>
                  <a:pt x="537210" y="1088580"/>
                </a:lnTo>
                <a:close/>
              </a:path>
            </a:pathLst>
          </a:custGeom>
          <a:noFill/>
          <a:ln w="12700" cap="rnd">
            <a:solidFill>
              <a:srgbClr val="7E93AE">
                <a:alpha val="7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act-3"/>
          <p:cNvSpPr/>
          <p:nvPr/>
        </p:nvSpPr>
        <p:spPr>
          <a:xfrm>
            <a:off x="3314383" y="3723830"/>
            <a:ext cx="435610" cy="1229170"/>
          </a:xfrm>
          <a:custGeom>
            <a:avLst/>
            <a:gdLst/>
            <a:ahLst/>
            <a:cxnLst/>
            <a:rect l="0" t="0" r="r" b="b"/>
            <a:pathLst>
              <a:path w="435610" h="1229170">
                <a:moveTo>
                  <a:pt x="0" y="1229170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384810" y="0"/>
                </a:lnTo>
                <a:cubicBezTo>
                  <a:pt x="412877" y="0"/>
                  <a:pt x="435610" y="22733"/>
                  <a:pt x="435610" y="50800"/>
                </a:cubicBezTo>
                <a:lnTo>
                  <a:pt x="435610" y="1229170"/>
                </a:lnTo>
                <a:close/>
              </a:path>
            </a:pathLst>
          </a:custGeom>
          <a:gradFill rotWithShape="1">
            <a:gsLst>
              <a:gs pos="0">
                <a:srgbClr val="E78F65"/>
              </a:gs>
              <a:gs pos="100000">
                <a:srgbClr val="E0703A"/>
              </a:gs>
            </a:gsLst>
            <a:lin ang="54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dv-3"/>
          <p:cNvSpPr/>
          <p:nvPr/>
        </p:nvSpPr>
        <p:spPr>
          <a:xfrm>
            <a:off x="3252788" y="3431730"/>
            <a:ext cx="558800" cy="203200"/>
          </a:xfrm>
          <a:custGeom>
            <a:avLst/>
            <a:gdLst/>
            <a:ahLst/>
            <a:cxnLst/>
            <a:rect l="0" t="0" r="r" b="b"/>
            <a:pathLst>
              <a:path w="558800" h="203200">
                <a:moveTo>
                  <a:pt x="101600" y="0"/>
                </a:moveTo>
                <a:lnTo>
                  <a:pt x="457200" y="0"/>
                </a:lnTo>
                <a:cubicBezTo>
                  <a:pt x="513334" y="0"/>
                  <a:pt x="558800" y="45466"/>
                  <a:pt x="558800" y="101600"/>
                </a:cubicBezTo>
                <a:lnTo>
                  <a:pt x="558800" y="101600"/>
                </a:lnTo>
                <a:cubicBezTo>
                  <a:pt x="558800" y="157734"/>
                  <a:pt x="513334" y="203200"/>
                  <a:pt x="4572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dvt-3"/>
          <p:cNvSpPr txBox="1"/>
          <p:nvPr/>
        </p:nvSpPr>
        <p:spPr>
          <a:xfrm>
            <a:off x="3329305" y="3453788"/>
            <a:ext cx="4057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+12.9%</a:t>
            </a:r>
          </a:p>
        </p:txBody>
      </p:sp>
      <p:sp>
        <p:nvSpPr>
          <p:cNvPr id="39" name="nm-3"/>
          <p:cNvSpPr txBox="1"/>
          <p:nvPr/>
        </p:nvSpPr>
        <p:spPr>
          <a:xfrm>
            <a:off x="3344545" y="501989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市场</a:t>
            </a:r>
          </a:p>
        </p:txBody>
      </p:sp>
      <p:sp>
        <p:nvSpPr>
          <p:cNvPr id="40" name="ab-3"/>
          <p:cNvSpPr txBox="1"/>
          <p:nvPr/>
        </p:nvSpPr>
        <p:spPr>
          <a:xfrm>
            <a:off x="3168586" y="5224208"/>
            <a:ext cx="72720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2,710 / 2,400</a:t>
            </a:r>
          </a:p>
        </p:txBody>
      </p:sp>
      <p:sp>
        <p:nvSpPr>
          <p:cNvPr id="41" name="bud-4"/>
          <p:cNvSpPr/>
          <p:nvPr/>
        </p:nvSpPr>
        <p:spPr>
          <a:xfrm>
            <a:off x="4041458" y="2095500"/>
            <a:ext cx="537210" cy="2857500"/>
          </a:xfrm>
          <a:custGeom>
            <a:avLst/>
            <a:gdLst/>
            <a:ahLst/>
            <a:cxnLst/>
            <a:rect l="0" t="0" r="r" b="b"/>
            <a:pathLst>
              <a:path w="537210" h="2857500">
                <a:moveTo>
                  <a:pt x="0" y="2857500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473710" y="0"/>
                </a:lnTo>
                <a:cubicBezTo>
                  <a:pt x="508762" y="0"/>
                  <a:pt x="537210" y="28448"/>
                  <a:pt x="537210" y="63500"/>
                </a:cubicBezTo>
                <a:lnTo>
                  <a:pt x="537210" y="2857500"/>
                </a:lnTo>
                <a:close/>
              </a:path>
            </a:pathLst>
          </a:custGeom>
          <a:noFill/>
          <a:ln w="12700" cap="rnd">
            <a:solidFill>
              <a:srgbClr val="7E93AE">
                <a:alpha val="7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act-4"/>
          <p:cNvSpPr/>
          <p:nvPr/>
        </p:nvSpPr>
        <p:spPr>
          <a:xfrm>
            <a:off x="4092258" y="2208911"/>
            <a:ext cx="435610" cy="2744089"/>
          </a:xfrm>
          <a:custGeom>
            <a:avLst/>
            <a:gdLst/>
            <a:ahLst/>
            <a:cxnLst/>
            <a:rect l="0" t="0" r="r" b="b"/>
            <a:pathLst>
              <a:path w="435610" h="2744089">
                <a:moveTo>
                  <a:pt x="0" y="2744089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384810" y="0"/>
                </a:lnTo>
                <a:cubicBezTo>
                  <a:pt x="412877" y="0"/>
                  <a:pt x="435610" y="22733"/>
                  <a:pt x="435610" y="50800"/>
                </a:cubicBezTo>
                <a:lnTo>
                  <a:pt x="435610" y="2744089"/>
                </a:lnTo>
                <a:close/>
              </a:path>
            </a:pathLst>
          </a:custGeom>
          <a:gradFill rotWithShape="1">
            <a:gsLst>
              <a:gs pos="0">
                <a:srgbClr val="4D7EBB"/>
              </a:gs>
              <a:gs pos="100000">
                <a:srgbClr val="1B5AA8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dv-4"/>
          <p:cNvSpPr/>
          <p:nvPr/>
        </p:nvSpPr>
        <p:spPr>
          <a:xfrm>
            <a:off x="4030662" y="1803400"/>
            <a:ext cx="558800" cy="203200"/>
          </a:xfrm>
          <a:custGeom>
            <a:avLst/>
            <a:gdLst/>
            <a:ahLst/>
            <a:cxnLst/>
            <a:rect l="0" t="0" r="r" b="b"/>
            <a:pathLst>
              <a:path w="558800" h="203200">
                <a:moveTo>
                  <a:pt x="101600" y="0"/>
                </a:moveTo>
                <a:lnTo>
                  <a:pt x="457200" y="0"/>
                </a:lnTo>
                <a:cubicBezTo>
                  <a:pt x="513334" y="0"/>
                  <a:pt x="558800" y="45466"/>
                  <a:pt x="558800" y="101600"/>
                </a:cubicBezTo>
                <a:lnTo>
                  <a:pt x="558800" y="101600"/>
                </a:lnTo>
                <a:cubicBezTo>
                  <a:pt x="558800" y="157734"/>
                  <a:pt x="513334" y="203200"/>
                  <a:pt x="4572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dvt-4"/>
          <p:cNvSpPr txBox="1"/>
          <p:nvPr/>
        </p:nvSpPr>
        <p:spPr>
          <a:xfrm>
            <a:off x="4133850" y="1825466"/>
            <a:ext cx="3524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1B5AA8"/>
                </a:solidFill>
                <a:latin typeface="Arial"/>
                <a:ea typeface="Arial"/>
                <a:cs typeface="Arial"/>
              </a:rPr>
              <a:t>-4.0%</a:t>
            </a:r>
          </a:p>
        </p:txBody>
      </p:sp>
      <p:sp>
        <p:nvSpPr>
          <p:cNvPr id="45" name="nm-4"/>
          <p:cNvSpPr txBox="1"/>
          <p:nvPr/>
        </p:nvSpPr>
        <p:spPr>
          <a:xfrm>
            <a:off x="4122420" y="501989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生产</a:t>
            </a:r>
          </a:p>
        </p:txBody>
      </p:sp>
      <p:sp>
        <p:nvSpPr>
          <p:cNvPr id="46" name="ab-4"/>
          <p:cNvSpPr txBox="1"/>
          <p:nvPr/>
        </p:nvSpPr>
        <p:spPr>
          <a:xfrm>
            <a:off x="3946462" y="5224208"/>
            <a:ext cx="72720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6,050 / 6,300</a:t>
            </a:r>
          </a:p>
        </p:txBody>
      </p:sp>
      <p:sp>
        <p:nvSpPr>
          <p:cNvPr id="47" name="bud-5"/>
          <p:cNvSpPr/>
          <p:nvPr/>
        </p:nvSpPr>
        <p:spPr>
          <a:xfrm>
            <a:off x="4819332" y="4408742"/>
            <a:ext cx="537210" cy="544259"/>
          </a:xfrm>
          <a:custGeom>
            <a:avLst/>
            <a:gdLst/>
            <a:ahLst/>
            <a:cxnLst/>
            <a:rect l="0" t="0" r="r" b="b"/>
            <a:pathLst>
              <a:path w="537210" h="544259">
                <a:moveTo>
                  <a:pt x="0" y="544259"/>
                </a:moveTo>
                <a:lnTo>
                  <a:pt x="0" y="63500"/>
                </a:lnTo>
                <a:cubicBezTo>
                  <a:pt x="0" y="28385"/>
                  <a:pt x="28448" y="0"/>
                  <a:pt x="63500" y="0"/>
                </a:cubicBezTo>
                <a:lnTo>
                  <a:pt x="473710" y="0"/>
                </a:lnTo>
                <a:cubicBezTo>
                  <a:pt x="508762" y="0"/>
                  <a:pt x="537210" y="28385"/>
                  <a:pt x="537210" y="63500"/>
                </a:cubicBezTo>
                <a:lnTo>
                  <a:pt x="537210" y="544259"/>
                </a:lnTo>
                <a:close/>
              </a:path>
            </a:pathLst>
          </a:custGeom>
          <a:noFill/>
          <a:ln w="12700" cap="rnd">
            <a:solidFill>
              <a:srgbClr val="7E93AE">
                <a:alpha val="7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act-5"/>
          <p:cNvSpPr/>
          <p:nvPr/>
        </p:nvSpPr>
        <p:spPr>
          <a:xfrm>
            <a:off x="4870132" y="4417758"/>
            <a:ext cx="435610" cy="535241"/>
          </a:xfrm>
          <a:custGeom>
            <a:avLst/>
            <a:gdLst/>
            <a:ahLst/>
            <a:cxnLst/>
            <a:rect l="0" t="0" r="r" b="b"/>
            <a:pathLst>
              <a:path w="435610" h="535241">
                <a:moveTo>
                  <a:pt x="0" y="535241"/>
                </a:moveTo>
                <a:lnTo>
                  <a:pt x="0" y="50800"/>
                </a:lnTo>
                <a:cubicBezTo>
                  <a:pt x="0" y="22796"/>
                  <a:pt x="22733" y="0"/>
                  <a:pt x="50800" y="0"/>
                </a:cubicBezTo>
                <a:lnTo>
                  <a:pt x="384810" y="0"/>
                </a:lnTo>
                <a:cubicBezTo>
                  <a:pt x="412877" y="0"/>
                  <a:pt x="435610" y="22796"/>
                  <a:pt x="435610" y="50800"/>
                </a:cubicBezTo>
                <a:lnTo>
                  <a:pt x="435610" y="535241"/>
                </a:lnTo>
                <a:close/>
              </a:path>
            </a:pathLst>
          </a:custGeom>
          <a:gradFill rotWithShape="1">
            <a:gsLst>
              <a:gs pos="0">
                <a:srgbClr val="4D7EBB"/>
              </a:gs>
              <a:gs pos="100000">
                <a:srgbClr val="1B5AA8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dv-5"/>
          <p:cNvSpPr/>
          <p:nvPr/>
        </p:nvSpPr>
        <p:spPr>
          <a:xfrm>
            <a:off x="4808538" y="4116642"/>
            <a:ext cx="558800" cy="203200"/>
          </a:xfrm>
          <a:custGeom>
            <a:avLst/>
            <a:gdLst/>
            <a:ahLst/>
            <a:cxnLst/>
            <a:rect l="0" t="0" r="r" b="b"/>
            <a:pathLst>
              <a:path w="558800" h="203200">
                <a:moveTo>
                  <a:pt x="101600" y="0"/>
                </a:moveTo>
                <a:lnTo>
                  <a:pt x="457200" y="0"/>
                </a:lnTo>
                <a:cubicBezTo>
                  <a:pt x="513334" y="0"/>
                  <a:pt x="558800" y="45466"/>
                  <a:pt x="558800" y="101600"/>
                </a:cubicBezTo>
                <a:lnTo>
                  <a:pt x="558800" y="101600"/>
                </a:lnTo>
                <a:cubicBezTo>
                  <a:pt x="558800" y="157671"/>
                  <a:pt x="513334" y="203200"/>
                  <a:pt x="457200" y="203200"/>
                </a:cubicBezTo>
                <a:lnTo>
                  <a:pt x="101600" y="203200"/>
                </a:lnTo>
                <a:cubicBezTo>
                  <a:pt x="45466" y="203200"/>
                  <a:pt x="0" y="157671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dvt-5"/>
          <p:cNvSpPr txBox="1"/>
          <p:nvPr/>
        </p:nvSpPr>
        <p:spPr>
          <a:xfrm>
            <a:off x="4911725" y="4138681"/>
            <a:ext cx="3524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1B5AA8"/>
                </a:solidFill>
                <a:latin typeface="Arial"/>
                <a:ea typeface="Arial"/>
                <a:cs typeface="Arial"/>
              </a:rPr>
              <a:t>-1.7%</a:t>
            </a:r>
          </a:p>
        </p:txBody>
      </p:sp>
      <p:sp>
        <p:nvSpPr>
          <p:cNvPr id="51" name="nm-5"/>
          <p:cNvSpPr txBox="1"/>
          <p:nvPr/>
        </p:nvSpPr>
        <p:spPr>
          <a:xfrm>
            <a:off x="4900295" y="501989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客服</a:t>
            </a:r>
          </a:p>
        </p:txBody>
      </p:sp>
      <p:sp>
        <p:nvSpPr>
          <p:cNvPr id="52" name="ab-5"/>
          <p:cNvSpPr txBox="1"/>
          <p:nvPr/>
        </p:nvSpPr>
        <p:spPr>
          <a:xfrm>
            <a:off x="4724336" y="5224208"/>
            <a:ext cx="72720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1,180 / 1,200</a:t>
            </a:r>
          </a:p>
        </p:txBody>
      </p:sp>
      <p:sp>
        <p:nvSpPr>
          <p:cNvPr id="53" name="bud-6"/>
          <p:cNvSpPr/>
          <p:nvPr/>
        </p:nvSpPr>
        <p:spPr>
          <a:xfrm>
            <a:off x="5597208" y="4590161"/>
            <a:ext cx="537210" cy="362839"/>
          </a:xfrm>
          <a:custGeom>
            <a:avLst/>
            <a:gdLst/>
            <a:ahLst/>
            <a:cxnLst/>
            <a:rect l="0" t="0" r="r" b="b"/>
            <a:pathLst>
              <a:path w="537210" h="362839">
                <a:moveTo>
                  <a:pt x="0" y="362839"/>
                </a:moveTo>
                <a:lnTo>
                  <a:pt x="0" y="63500"/>
                </a:lnTo>
                <a:cubicBezTo>
                  <a:pt x="0" y="28385"/>
                  <a:pt x="28448" y="0"/>
                  <a:pt x="63500" y="0"/>
                </a:cubicBezTo>
                <a:lnTo>
                  <a:pt x="473710" y="0"/>
                </a:lnTo>
                <a:cubicBezTo>
                  <a:pt x="508762" y="0"/>
                  <a:pt x="537210" y="28385"/>
                  <a:pt x="537210" y="63500"/>
                </a:cubicBezTo>
                <a:lnTo>
                  <a:pt x="537210" y="362839"/>
                </a:lnTo>
                <a:close/>
              </a:path>
            </a:pathLst>
          </a:custGeom>
          <a:noFill/>
          <a:ln w="12700" cap="rnd">
            <a:solidFill>
              <a:srgbClr val="7E93AE">
                <a:alpha val="7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act-6"/>
          <p:cNvSpPr/>
          <p:nvPr/>
        </p:nvSpPr>
        <p:spPr>
          <a:xfrm>
            <a:off x="5648008" y="4608258"/>
            <a:ext cx="435610" cy="344741"/>
          </a:xfrm>
          <a:custGeom>
            <a:avLst/>
            <a:gdLst/>
            <a:ahLst/>
            <a:cxnLst/>
            <a:rect l="0" t="0" r="r" b="b"/>
            <a:pathLst>
              <a:path w="435610" h="344741">
                <a:moveTo>
                  <a:pt x="0" y="344741"/>
                </a:moveTo>
                <a:lnTo>
                  <a:pt x="0" y="50800"/>
                </a:lnTo>
                <a:cubicBezTo>
                  <a:pt x="0" y="22796"/>
                  <a:pt x="22733" y="0"/>
                  <a:pt x="50800" y="0"/>
                </a:cubicBezTo>
                <a:lnTo>
                  <a:pt x="384810" y="0"/>
                </a:lnTo>
                <a:cubicBezTo>
                  <a:pt x="412877" y="0"/>
                  <a:pt x="435610" y="22796"/>
                  <a:pt x="435610" y="50800"/>
                </a:cubicBezTo>
                <a:lnTo>
                  <a:pt x="435610" y="344741"/>
                </a:lnTo>
                <a:close/>
              </a:path>
            </a:pathLst>
          </a:custGeom>
          <a:gradFill rotWithShape="1">
            <a:gsLst>
              <a:gs pos="0">
                <a:srgbClr val="4D7EBB"/>
              </a:gs>
              <a:gs pos="100000">
                <a:srgbClr val="1B5AA8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dv-6"/>
          <p:cNvSpPr/>
          <p:nvPr/>
        </p:nvSpPr>
        <p:spPr>
          <a:xfrm>
            <a:off x="5586412" y="4298061"/>
            <a:ext cx="558800" cy="203200"/>
          </a:xfrm>
          <a:custGeom>
            <a:avLst/>
            <a:gdLst/>
            <a:ahLst/>
            <a:cxnLst/>
            <a:rect l="0" t="0" r="r" b="b"/>
            <a:pathLst>
              <a:path w="558800" h="203200">
                <a:moveTo>
                  <a:pt x="101600" y="0"/>
                </a:moveTo>
                <a:lnTo>
                  <a:pt x="457200" y="0"/>
                </a:lnTo>
                <a:cubicBezTo>
                  <a:pt x="513334" y="0"/>
                  <a:pt x="558800" y="45466"/>
                  <a:pt x="558800" y="101600"/>
                </a:cubicBezTo>
                <a:lnTo>
                  <a:pt x="558800" y="101600"/>
                </a:lnTo>
                <a:cubicBezTo>
                  <a:pt x="558800" y="157671"/>
                  <a:pt x="513334" y="203200"/>
                  <a:pt x="457200" y="203200"/>
                </a:cubicBezTo>
                <a:lnTo>
                  <a:pt x="101600" y="203200"/>
                </a:lnTo>
                <a:cubicBezTo>
                  <a:pt x="45466" y="203200"/>
                  <a:pt x="0" y="157671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dvt-6"/>
          <p:cNvSpPr txBox="1"/>
          <p:nvPr/>
        </p:nvSpPr>
        <p:spPr>
          <a:xfrm>
            <a:off x="5689600" y="4320109"/>
            <a:ext cx="3524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1B5AA8"/>
                </a:solidFill>
                <a:latin typeface="Arial"/>
                <a:ea typeface="Arial"/>
                <a:cs typeface="Arial"/>
              </a:rPr>
              <a:t>-5.0%</a:t>
            </a:r>
          </a:p>
        </p:txBody>
      </p:sp>
      <p:sp>
        <p:nvSpPr>
          <p:cNvPr id="57" name="nm-6"/>
          <p:cNvSpPr txBox="1"/>
          <p:nvPr/>
        </p:nvSpPr>
        <p:spPr>
          <a:xfrm>
            <a:off x="5678170" y="501989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人事</a:t>
            </a:r>
          </a:p>
        </p:txBody>
      </p:sp>
      <p:sp>
        <p:nvSpPr>
          <p:cNvPr id="58" name="ab-6"/>
          <p:cNvSpPr txBox="1"/>
          <p:nvPr/>
        </p:nvSpPr>
        <p:spPr>
          <a:xfrm>
            <a:off x="5601780" y="5224208"/>
            <a:ext cx="52806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760 / 800</a:t>
            </a:r>
          </a:p>
        </p:txBody>
      </p:sp>
      <p:sp>
        <p:nvSpPr>
          <p:cNvPr id="59" name="bud-7"/>
          <p:cNvSpPr/>
          <p:nvPr/>
        </p:nvSpPr>
        <p:spPr>
          <a:xfrm>
            <a:off x="6375082" y="4680839"/>
            <a:ext cx="537210" cy="272161"/>
          </a:xfrm>
          <a:custGeom>
            <a:avLst/>
            <a:gdLst/>
            <a:ahLst/>
            <a:cxnLst/>
            <a:rect l="0" t="0" r="r" b="b"/>
            <a:pathLst>
              <a:path w="537210" h="272161">
                <a:moveTo>
                  <a:pt x="0" y="272161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473710" y="0"/>
                </a:lnTo>
                <a:cubicBezTo>
                  <a:pt x="508762" y="0"/>
                  <a:pt x="537210" y="28448"/>
                  <a:pt x="537210" y="63500"/>
                </a:cubicBezTo>
                <a:lnTo>
                  <a:pt x="537210" y="272161"/>
                </a:lnTo>
                <a:close/>
              </a:path>
            </a:pathLst>
          </a:custGeom>
          <a:noFill/>
          <a:ln w="12700" cap="rnd">
            <a:solidFill>
              <a:srgbClr val="7E93AE">
                <a:alpha val="7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act-7"/>
          <p:cNvSpPr/>
          <p:nvPr/>
        </p:nvSpPr>
        <p:spPr>
          <a:xfrm>
            <a:off x="6425882" y="4685411"/>
            <a:ext cx="435610" cy="267589"/>
          </a:xfrm>
          <a:custGeom>
            <a:avLst/>
            <a:gdLst/>
            <a:ahLst/>
            <a:cxnLst/>
            <a:rect l="0" t="0" r="r" b="b"/>
            <a:pathLst>
              <a:path w="435610" h="267589">
                <a:moveTo>
                  <a:pt x="0" y="267589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384810" y="0"/>
                </a:lnTo>
                <a:cubicBezTo>
                  <a:pt x="412877" y="0"/>
                  <a:pt x="435610" y="22733"/>
                  <a:pt x="435610" y="50800"/>
                </a:cubicBezTo>
                <a:lnTo>
                  <a:pt x="435610" y="267589"/>
                </a:lnTo>
                <a:close/>
              </a:path>
            </a:pathLst>
          </a:custGeom>
          <a:gradFill rotWithShape="1">
            <a:gsLst>
              <a:gs pos="0">
                <a:srgbClr val="4D7EBB"/>
              </a:gs>
              <a:gs pos="100000">
                <a:srgbClr val="1B5AA8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dv-7"/>
          <p:cNvSpPr/>
          <p:nvPr/>
        </p:nvSpPr>
        <p:spPr>
          <a:xfrm>
            <a:off x="6364288" y="4388739"/>
            <a:ext cx="558800" cy="203200"/>
          </a:xfrm>
          <a:custGeom>
            <a:avLst/>
            <a:gdLst/>
            <a:ahLst/>
            <a:cxnLst/>
            <a:rect l="0" t="0" r="r" b="b"/>
            <a:pathLst>
              <a:path w="558800" h="203200">
                <a:moveTo>
                  <a:pt x="101600" y="0"/>
                </a:moveTo>
                <a:lnTo>
                  <a:pt x="457200" y="0"/>
                </a:lnTo>
                <a:cubicBezTo>
                  <a:pt x="513334" y="0"/>
                  <a:pt x="558800" y="45529"/>
                  <a:pt x="558800" y="101600"/>
                </a:cubicBezTo>
                <a:lnTo>
                  <a:pt x="558800" y="101600"/>
                </a:lnTo>
                <a:cubicBezTo>
                  <a:pt x="558800" y="157734"/>
                  <a:pt x="513334" y="203200"/>
                  <a:pt x="4572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529"/>
                  <a:pt x="45466" y="0"/>
                  <a:pt x="101600" y="0"/>
                </a:cubicBezTo>
                <a:close/>
              </a:path>
            </a:pathLst>
          </a:cu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dvt-7"/>
          <p:cNvSpPr txBox="1"/>
          <p:nvPr/>
        </p:nvSpPr>
        <p:spPr>
          <a:xfrm>
            <a:off x="6467475" y="4410823"/>
            <a:ext cx="3524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1B5AA8"/>
                </a:solidFill>
                <a:latin typeface="Arial"/>
                <a:ea typeface="Arial"/>
                <a:cs typeface="Arial"/>
              </a:rPr>
              <a:t>-1.7%</a:t>
            </a:r>
          </a:p>
        </p:txBody>
      </p:sp>
      <p:sp>
        <p:nvSpPr>
          <p:cNvPr id="63" name="nm-7"/>
          <p:cNvSpPr txBox="1"/>
          <p:nvPr/>
        </p:nvSpPr>
        <p:spPr>
          <a:xfrm>
            <a:off x="6456045" y="501989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财务</a:t>
            </a:r>
          </a:p>
        </p:txBody>
      </p:sp>
      <p:sp>
        <p:nvSpPr>
          <p:cNvPr id="64" name="ab-7"/>
          <p:cNvSpPr txBox="1"/>
          <p:nvPr/>
        </p:nvSpPr>
        <p:spPr>
          <a:xfrm>
            <a:off x="6379654" y="5224208"/>
            <a:ext cx="52806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590 / 600</a:t>
            </a:r>
          </a:p>
        </p:txBody>
      </p:sp>
      <p:sp>
        <p:nvSpPr>
          <p:cNvPr id="65" name="bud-8"/>
          <p:cNvSpPr/>
          <p:nvPr/>
        </p:nvSpPr>
        <p:spPr>
          <a:xfrm>
            <a:off x="7152958" y="4544758"/>
            <a:ext cx="537210" cy="408241"/>
          </a:xfrm>
          <a:custGeom>
            <a:avLst/>
            <a:gdLst/>
            <a:ahLst/>
            <a:cxnLst/>
            <a:rect l="0" t="0" r="r" b="b"/>
            <a:pathLst>
              <a:path w="537210" h="408241">
                <a:moveTo>
                  <a:pt x="0" y="408241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473710" y="0"/>
                </a:lnTo>
                <a:cubicBezTo>
                  <a:pt x="508762" y="0"/>
                  <a:pt x="537210" y="28448"/>
                  <a:pt x="537210" y="63500"/>
                </a:cubicBezTo>
                <a:lnTo>
                  <a:pt x="537210" y="408241"/>
                </a:lnTo>
                <a:close/>
              </a:path>
            </a:pathLst>
          </a:custGeom>
          <a:noFill/>
          <a:ln w="12700" cap="rnd">
            <a:solidFill>
              <a:srgbClr val="7E93AE">
                <a:alpha val="7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act-8"/>
          <p:cNvSpPr/>
          <p:nvPr/>
        </p:nvSpPr>
        <p:spPr>
          <a:xfrm>
            <a:off x="7203758" y="4490339"/>
            <a:ext cx="435610" cy="462661"/>
          </a:xfrm>
          <a:custGeom>
            <a:avLst/>
            <a:gdLst/>
            <a:ahLst/>
            <a:cxnLst/>
            <a:rect l="0" t="0" r="r" b="b"/>
            <a:pathLst>
              <a:path w="435610" h="462661">
                <a:moveTo>
                  <a:pt x="0" y="462661"/>
                </a:move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lnTo>
                  <a:pt x="384810" y="0"/>
                </a:lnTo>
                <a:cubicBezTo>
                  <a:pt x="412877" y="0"/>
                  <a:pt x="435610" y="22733"/>
                  <a:pt x="435610" y="50800"/>
                </a:cubicBezTo>
                <a:lnTo>
                  <a:pt x="435610" y="462661"/>
                </a:lnTo>
                <a:close/>
              </a:path>
            </a:pathLst>
          </a:custGeom>
          <a:gradFill rotWithShape="1">
            <a:gsLst>
              <a:gs pos="0">
                <a:srgbClr val="E78F65"/>
              </a:gs>
              <a:gs pos="100000">
                <a:srgbClr val="E0703A"/>
              </a:gs>
            </a:gsLst>
            <a:lin ang="54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dv-8"/>
          <p:cNvSpPr/>
          <p:nvPr/>
        </p:nvSpPr>
        <p:spPr>
          <a:xfrm>
            <a:off x="7142162" y="4198239"/>
            <a:ext cx="558800" cy="203200"/>
          </a:xfrm>
          <a:custGeom>
            <a:avLst/>
            <a:gdLst/>
            <a:ahLst/>
            <a:cxnLst/>
            <a:rect l="0" t="0" r="r" b="b"/>
            <a:pathLst>
              <a:path w="558800" h="203200">
                <a:moveTo>
                  <a:pt x="101600" y="0"/>
                </a:moveTo>
                <a:lnTo>
                  <a:pt x="457200" y="0"/>
                </a:lnTo>
                <a:cubicBezTo>
                  <a:pt x="513334" y="0"/>
                  <a:pt x="558800" y="45529"/>
                  <a:pt x="558800" y="101600"/>
                </a:cubicBezTo>
                <a:lnTo>
                  <a:pt x="558800" y="101600"/>
                </a:lnTo>
                <a:cubicBezTo>
                  <a:pt x="558800" y="157734"/>
                  <a:pt x="513334" y="203200"/>
                  <a:pt x="4572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529"/>
                  <a:pt x="45466" y="0"/>
                  <a:pt x="1016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dvt-8"/>
          <p:cNvSpPr txBox="1"/>
          <p:nvPr/>
        </p:nvSpPr>
        <p:spPr>
          <a:xfrm>
            <a:off x="7218680" y="4220323"/>
            <a:ext cx="4057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+13.3%</a:t>
            </a:r>
          </a:p>
        </p:txBody>
      </p:sp>
      <p:sp>
        <p:nvSpPr>
          <p:cNvPr id="69" name="nm-8"/>
          <p:cNvSpPr txBox="1"/>
          <p:nvPr/>
        </p:nvSpPr>
        <p:spPr>
          <a:xfrm>
            <a:off x="7233920" y="501989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行政</a:t>
            </a:r>
          </a:p>
        </p:txBody>
      </p:sp>
      <p:sp>
        <p:nvSpPr>
          <p:cNvPr id="70" name="ab-8"/>
          <p:cNvSpPr txBox="1"/>
          <p:nvPr/>
        </p:nvSpPr>
        <p:spPr>
          <a:xfrm>
            <a:off x="7107746" y="5224208"/>
            <a:ext cx="62763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1,020 / 900</a:t>
            </a:r>
          </a:p>
        </p:txBody>
      </p:sp>
      <p:sp>
        <p:nvSpPr>
          <p:cNvPr id="71" name="kpi"/>
          <p:cNvSpPr/>
          <p:nvPr/>
        </p:nvSpPr>
        <p:spPr>
          <a:xfrm>
            <a:off x="8382000" y="1587500"/>
            <a:ext cx="2857500" cy="1333500"/>
          </a:xfrm>
          <a:custGeom>
            <a:avLst/>
            <a:gdLst/>
            <a:ahLst/>
            <a:cxnLst/>
            <a:rect l="0" t="0" r="r" b="b"/>
            <a:pathLst>
              <a:path w="2857500" h="1333500">
                <a:moveTo>
                  <a:pt x="139700" y="0"/>
                </a:moveTo>
                <a:lnTo>
                  <a:pt x="2717800" y="0"/>
                </a:lnTo>
                <a:cubicBezTo>
                  <a:pt x="2794953" y="0"/>
                  <a:pt x="2857500" y="62548"/>
                  <a:pt x="2857500" y="139700"/>
                </a:cubicBezTo>
                <a:lnTo>
                  <a:pt x="2857500" y="1193800"/>
                </a:lnTo>
                <a:cubicBezTo>
                  <a:pt x="2857500" y="1270952"/>
                  <a:pt x="2794953" y="1333500"/>
                  <a:pt x="2717800" y="1333500"/>
                </a:cubicBezTo>
                <a:lnTo>
                  <a:pt x="139700" y="1333500"/>
                </a:lnTo>
                <a:cubicBezTo>
                  <a:pt x="62547" y="1333500"/>
                  <a:pt x="0" y="1270952"/>
                  <a:pt x="0" y="11938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kpi-h"/>
          <p:cNvSpPr txBox="1"/>
          <p:nvPr/>
        </p:nvSpPr>
        <p:spPr>
          <a:xfrm>
            <a:off x="8570722" y="1743297"/>
            <a:ext cx="8896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全公司执行率</a:t>
            </a:r>
          </a:p>
        </p:txBody>
      </p:sp>
      <p:sp>
        <p:nvSpPr>
          <p:cNvPr id="73" name="kpi-v"/>
          <p:cNvSpPr txBox="1"/>
          <p:nvPr/>
        </p:nvSpPr>
        <p:spPr>
          <a:xfrm>
            <a:off x="8536432" y="1923796"/>
            <a:ext cx="1503680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2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100.7</a:t>
            </a:r>
          </a:p>
        </p:txBody>
      </p:sp>
      <p:sp>
        <p:nvSpPr>
          <p:cNvPr id="74" name="kpi-u"/>
          <p:cNvSpPr txBox="1"/>
          <p:nvPr/>
        </p:nvSpPr>
        <p:spPr>
          <a:xfrm>
            <a:off x="9630664" y="2206117"/>
            <a:ext cx="259588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>
                <a:solidFill>
                  <a:srgbClr val="CFE0F4"/>
                </a:solidFill>
                <a:latin typeface="Arial"/>
                <a:ea typeface="Arial"/>
                <a:cs typeface="Arial"/>
              </a:rPr>
              <a:t>%</a:t>
            </a:r>
          </a:p>
        </p:txBody>
      </p:sp>
      <p:sp>
        <p:nvSpPr>
          <p:cNvPr id="75" name="kpi-p"/>
          <p:cNvSpPr txBox="1"/>
          <p:nvPr/>
        </p:nvSpPr>
        <p:spPr>
          <a:xfrm>
            <a:off x="8573389" y="2596245"/>
            <a:ext cx="1716977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实际 21,650 / 预算 21,500 万元</a:t>
            </a:r>
          </a:p>
        </p:txBody>
      </p:sp>
      <p:sp>
        <p:nvSpPr>
          <p:cNvPr id="76" name="rk-h"/>
          <p:cNvSpPr txBox="1"/>
          <p:nvPr/>
        </p:nvSpPr>
        <p:spPr>
          <a:xfrm>
            <a:off x="8393684" y="3071940"/>
            <a:ext cx="6108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偏差排序</a:t>
            </a:r>
          </a:p>
        </p:txBody>
      </p:sp>
      <p:sp>
        <p:nvSpPr>
          <p:cNvPr id="77" name="rkn-1"/>
          <p:cNvSpPr txBox="1"/>
          <p:nvPr/>
        </p:nvSpPr>
        <p:spPr>
          <a:xfrm>
            <a:off x="8395208" y="3405124"/>
            <a:ext cx="3073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行政</a:t>
            </a:r>
          </a:p>
        </p:txBody>
      </p:sp>
      <p:sp>
        <p:nvSpPr>
          <p:cNvPr id="78" name="rkb-1"/>
          <p:cNvSpPr/>
          <p:nvPr/>
        </p:nvSpPr>
        <p:spPr>
          <a:xfrm>
            <a:off x="9969500" y="3441700"/>
            <a:ext cx="846645" cy="114300"/>
          </a:xfrm>
          <a:custGeom>
            <a:avLst/>
            <a:gdLst/>
            <a:ahLst/>
            <a:cxnLst/>
            <a:rect l="0" t="0" r="r" b="b"/>
            <a:pathLst>
              <a:path w="846645" h="114300">
                <a:moveTo>
                  <a:pt x="38100" y="0"/>
                </a:moveTo>
                <a:lnTo>
                  <a:pt x="808545" y="0"/>
                </a:lnTo>
                <a:cubicBezTo>
                  <a:pt x="829628" y="0"/>
                  <a:pt x="846645" y="17082"/>
                  <a:pt x="846645" y="38100"/>
                </a:cubicBezTo>
                <a:lnTo>
                  <a:pt x="846645" y="76200"/>
                </a:lnTo>
                <a:cubicBezTo>
                  <a:pt x="846645" y="97218"/>
                  <a:pt x="829628" y="114300"/>
                  <a:pt x="808545" y="114300"/>
                </a:cubicBezTo>
                <a:lnTo>
                  <a:pt x="38100" y="114300"/>
                </a:lnTo>
                <a:cubicBezTo>
                  <a:pt x="17082" y="114300"/>
                  <a:pt x="0" y="97218"/>
                  <a:pt x="0" y="762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rkv-1"/>
          <p:cNvSpPr txBox="1"/>
          <p:nvPr/>
        </p:nvSpPr>
        <p:spPr>
          <a:xfrm>
            <a:off x="10845165" y="3412966"/>
            <a:ext cx="4057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+13.3%</a:t>
            </a:r>
          </a:p>
        </p:txBody>
      </p:sp>
      <p:sp>
        <p:nvSpPr>
          <p:cNvPr id="80" name="rkn-2"/>
          <p:cNvSpPr txBox="1"/>
          <p:nvPr/>
        </p:nvSpPr>
        <p:spPr>
          <a:xfrm>
            <a:off x="8395208" y="3684524"/>
            <a:ext cx="3073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市场</a:t>
            </a:r>
          </a:p>
        </p:txBody>
      </p:sp>
      <p:sp>
        <p:nvSpPr>
          <p:cNvPr id="81" name="rkb-2"/>
          <p:cNvSpPr/>
          <p:nvPr/>
        </p:nvSpPr>
        <p:spPr>
          <a:xfrm>
            <a:off x="9969500" y="3721100"/>
            <a:ext cx="820230" cy="114300"/>
          </a:xfrm>
          <a:custGeom>
            <a:avLst/>
            <a:gdLst/>
            <a:ahLst/>
            <a:cxnLst/>
            <a:rect l="0" t="0" r="r" b="b"/>
            <a:pathLst>
              <a:path w="820230" h="114300">
                <a:moveTo>
                  <a:pt x="38100" y="0"/>
                </a:moveTo>
                <a:lnTo>
                  <a:pt x="782130" y="0"/>
                </a:lnTo>
                <a:cubicBezTo>
                  <a:pt x="803148" y="0"/>
                  <a:pt x="820230" y="17082"/>
                  <a:pt x="820230" y="38100"/>
                </a:cubicBezTo>
                <a:lnTo>
                  <a:pt x="820230" y="76200"/>
                </a:lnTo>
                <a:cubicBezTo>
                  <a:pt x="820230" y="97218"/>
                  <a:pt x="803148" y="114300"/>
                  <a:pt x="782130" y="114300"/>
                </a:cubicBezTo>
                <a:lnTo>
                  <a:pt x="38100" y="114300"/>
                </a:lnTo>
                <a:cubicBezTo>
                  <a:pt x="17082" y="114300"/>
                  <a:pt x="0" y="97218"/>
                  <a:pt x="0" y="762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rkv-2"/>
          <p:cNvSpPr txBox="1"/>
          <p:nvPr/>
        </p:nvSpPr>
        <p:spPr>
          <a:xfrm>
            <a:off x="10845165" y="3692366"/>
            <a:ext cx="4057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+12.9%</a:t>
            </a:r>
          </a:p>
        </p:txBody>
      </p:sp>
      <p:sp>
        <p:nvSpPr>
          <p:cNvPr id="83" name="rkn-3"/>
          <p:cNvSpPr txBox="1"/>
          <p:nvPr/>
        </p:nvSpPr>
        <p:spPr>
          <a:xfrm>
            <a:off x="8395208" y="3963924"/>
            <a:ext cx="3073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研发</a:t>
            </a:r>
          </a:p>
        </p:txBody>
      </p:sp>
      <p:sp>
        <p:nvSpPr>
          <p:cNvPr id="84" name="rkb-3"/>
          <p:cNvSpPr/>
          <p:nvPr/>
        </p:nvSpPr>
        <p:spPr>
          <a:xfrm>
            <a:off x="9969500" y="4000500"/>
            <a:ext cx="341947" cy="114300"/>
          </a:xfrm>
          <a:custGeom>
            <a:avLst/>
            <a:gdLst/>
            <a:ahLst/>
            <a:cxnLst/>
            <a:rect l="0" t="0" r="r" b="b"/>
            <a:pathLst>
              <a:path w="341947" h="114300">
                <a:moveTo>
                  <a:pt x="38100" y="0"/>
                </a:moveTo>
                <a:lnTo>
                  <a:pt x="303847" y="0"/>
                </a:lnTo>
                <a:cubicBezTo>
                  <a:pt x="324866" y="0"/>
                  <a:pt x="341947" y="17082"/>
                  <a:pt x="341947" y="38100"/>
                </a:cubicBezTo>
                <a:lnTo>
                  <a:pt x="341947" y="76200"/>
                </a:lnTo>
                <a:cubicBezTo>
                  <a:pt x="341947" y="97218"/>
                  <a:pt x="324866" y="114300"/>
                  <a:pt x="303847" y="114300"/>
                </a:cubicBezTo>
                <a:lnTo>
                  <a:pt x="38100" y="114300"/>
                </a:lnTo>
                <a:cubicBezTo>
                  <a:pt x="17082" y="114300"/>
                  <a:pt x="0" y="97218"/>
                  <a:pt x="0" y="762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rkv-3"/>
          <p:cNvSpPr txBox="1"/>
          <p:nvPr/>
        </p:nvSpPr>
        <p:spPr>
          <a:xfrm>
            <a:off x="10898505" y="3971766"/>
            <a:ext cx="3524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>
                <a:solidFill>
                  <a:srgbClr val="1B5AA8"/>
                </a:solidFill>
                <a:latin typeface="Arial"/>
                <a:ea typeface="Arial"/>
                <a:cs typeface="Arial"/>
              </a:rPr>
              <a:t>+5.4%</a:t>
            </a:r>
          </a:p>
        </p:txBody>
      </p:sp>
      <p:sp>
        <p:nvSpPr>
          <p:cNvPr id="86" name="rkn-4"/>
          <p:cNvSpPr txBox="1"/>
          <p:nvPr/>
        </p:nvSpPr>
        <p:spPr>
          <a:xfrm>
            <a:off x="8395208" y="4243324"/>
            <a:ext cx="3073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客服</a:t>
            </a:r>
          </a:p>
        </p:txBody>
      </p:sp>
      <p:sp>
        <p:nvSpPr>
          <p:cNvPr id="87" name="rkb-4"/>
          <p:cNvSpPr/>
          <p:nvPr/>
        </p:nvSpPr>
        <p:spPr>
          <a:xfrm>
            <a:off x="9863646" y="4279900"/>
            <a:ext cx="105855" cy="114300"/>
          </a:xfrm>
          <a:custGeom>
            <a:avLst/>
            <a:gdLst/>
            <a:ahLst/>
            <a:cxnLst/>
            <a:rect l="0" t="0" r="r" b="b"/>
            <a:pathLst>
              <a:path w="105855" h="114300">
                <a:moveTo>
                  <a:pt x="38100" y="0"/>
                </a:moveTo>
                <a:lnTo>
                  <a:pt x="67755" y="0"/>
                </a:lnTo>
                <a:cubicBezTo>
                  <a:pt x="88773" y="0"/>
                  <a:pt x="105855" y="17082"/>
                  <a:pt x="105855" y="38100"/>
                </a:cubicBezTo>
                <a:lnTo>
                  <a:pt x="105855" y="76200"/>
                </a:lnTo>
                <a:cubicBezTo>
                  <a:pt x="105855" y="97218"/>
                  <a:pt x="88773" y="114300"/>
                  <a:pt x="67755" y="114300"/>
                </a:cubicBezTo>
                <a:lnTo>
                  <a:pt x="38100" y="114300"/>
                </a:lnTo>
                <a:cubicBezTo>
                  <a:pt x="17082" y="114300"/>
                  <a:pt x="0" y="97218"/>
                  <a:pt x="0" y="762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rkv-4"/>
          <p:cNvSpPr txBox="1"/>
          <p:nvPr/>
        </p:nvSpPr>
        <p:spPr>
          <a:xfrm>
            <a:off x="10898505" y="4251166"/>
            <a:ext cx="3524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-1.7%</a:t>
            </a:r>
          </a:p>
        </p:txBody>
      </p:sp>
      <p:sp>
        <p:nvSpPr>
          <p:cNvPr id="89" name="rkn-5"/>
          <p:cNvSpPr txBox="1"/>
          <p:nvPr/>
        </p:nvSpPr>
        <p:spPr>
          <a:xfrm>
            <a:off x="8395208" y="4522724"/>
            <a:ext cx="3073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财务</a:t>
            </a:r>
          </a:p>
        </p:txBody>
      </p:sp>
      <p:sp>
        <p:nvSpPr>
          <p:cNvPr id="90" name="rkb-5"/>
          <p:cNvSpPr/>
          <p:nvPr/>
        </p:nvSpPr>
        <p:spPr>
          <a:xfrm>
            <a:off x="9863646" y="4559300"/>
            <a:ext cx="105855" cy="114300"/>
          </a:xfrm>
          <a:custGeom>
            <a:avLst/>
            <a:gdLst/>
            <a:ahLst/>
            <a:cxnLst/>
            <a:rect l="0" t="0" r="r" b="b"/>
            <a:pathLst>
              <a:path w="105855" h="114300">
                <a:moveTo>
                  <a:pt x="38100" y="0"/>
                </a:moveTo>
                <a:lnTo>
                  <a:pt x="67755" y="0"/>
                </a:lnTo>
                <a:cubicBezTo>
                  <a:pt x="88773" y="0"/>
                  <a:pt x="105855" y="17082"/>
                  <a:pt x="105855" y="38100"/>
                </a:cubicBezTo>
                <a:lnTo>
                  <a:pt x="105855" y="76200"/>
                </a:lnTo>
                <a:cubicBezTo>
                  <a:pt x="105855" y="97218"/>
                  <a:pt x="88773" y="114300"/>
                  <a:pt x="67755" y="114300"/>
                </a:cubicBezTo>
                <a:lnTo>
                  <a:pt x="38100" y="114300"/>
                </a:lnTo>
                <a:cubicBezTo>
                  <a:pt x="17082" y="114300"/>
                  <a:pt x="0" y="97218"/>
                  <a:pt x="0" y="762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rkv-5"/>
          <p:cNvSpPr txBox="1"/>
          <p:nvPr/>
        </p:nvSpPr>
        <p:spPr>
          <a:xfrm>
            <a:off x="10898505" y="4530566"/>
            <a:ext cx="3524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-1.7%</a:t>
            </a:r>
          </a:p>
        </p:txBody>
      </p:sp>
      <p:sp>
        <p:nvSpPr>
          <p:cNvPr id="92" name="rkn-6"/>
          <p:cNvSpPr txBox="1"/>
          <p:nvPr/>
        </p:nvSpPr>
        <p:spPr>
          <a:xfrm>
            <a:off x="8395208" y="4802124"/>
            <a:ext cx="3073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生产</a:t>
            </a:r>
          </a:p>
        </p:txBody>
      </p:sp>
      <p:sp>
        <p:nvSpPr>
          <p:cNvPr id="93" name="rkb-6"/>
          <p:cNvSpPr/>
          <p:nvPr/>
        </p:nvSpPr>
        <p:spPr>
          <a:xfrm>
            <a:off x="9717532" y="4838700"/>
            <a:ext cx="251968" cy="114300"/>
          </a:xfrm>
          <a:custGeom>
            <a:avLst/>
            <a:gdLst/>
            <a:ahLst/>
            <a:cxnLst/>
            <a:rect l="0" t="0" r="r" b="b"/>
            <a:pathLst>
              <a:path w="251968" h="114300">
                <a:moveTo>
                  <a:pt x="38100" y="0"/>
                </a:moveTo>
                <a:lnTo>
                  <a:pt x="213868" y="0"/>
                </a:lnTo>
                <a:cubicBezTo>
                  <a:pt x="234887" y="0"/>
                  <a:pt x="251968" y="17082"/>
                  <a:pt x="251968" y="38100"/>
                </a:cubicBezTo>
                <a:lnTo>
                  <a:pt x="251968" y="76200"/>
                </a:lnTo>
                <a:cubicBezTo>
                  <a:pt x="251968" y="97218"/>
                  <a:pt x="234887" y="114300"/>
                  <a:pt x="213868" y="114300"/>
                </a:cubicBezTo>
                <a:lnTo>
                  <a:pt x="38100" y="114300"/>
                </a:lnTo>
                <a:cubicBezTo>
                  <a:pt x="17018" y="114300"/>
                  <a:pt x="0" y="97218"/>
                  <a:pt x="0" y="76200"/>
                </a:cubicBezTo>
                <a:lnTo>
                  <a:pt x="0" y="38100"/>
                </a:lnTo>
                <a:cubicBezTo>
                  <a:pt x="0" y="17082"/>
                  <a:pt x="17018" y="0"/>
                  <a:pt x="3810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rkv-6"/>
          <p:cNvSpPr txBox="1"/>
          <p:nvPr/>
        </p:nvSpPr>
        <p:spPr>
          <a:xfrm>
            <a:off x="10898505" y="4809966"/>
            <a:ext cx="3524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-4.0%</a:t>
            </a:r>
          </a:p>
        </p:txBody>
      </p:sp>
      <p:sp>
        <p:nvSpPr>
          <p:cNvPr id="95" name="rkn-7"/>
          <p:cNvSpPr txBox="1"/>
          <p:nvPr/>
        </p:nvSpPr>
        <p:spPr>
          <a:xfrm>
            <a:off x="8395208" y="5081524"/>
            <a:ext cx="3073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人事</a:t>
            </a:r>
          </a:p>
        </p:txBody>
      </p:sp>
      <p:sp>
        <p:nvSpPr>
          <p:cNvPr id="96" name="rkb-7"/>
          <p:cNvSpPr/>
          <p:nvPr/>
        </p:nvSpPr>
        <p:spPr>
          <a:xfrm>
            <a:off x="9652000" y="5118100"/>
            <a:ext cx="317500" cy="114300"/>
          </a:xfrm>
          <a:custGeom>
            <a:avLst/>
            <a:gdLst/>
            <a:ahLst/>
            <a:cxnLst/>
            <a:rect l="0" t="0" r="r" b="b"/>
            <a:pathLst>
              <a:path w="317500" h="114300">
                <a:moveTo>
                  <a:pt x="38100" y="0"/>
                </a:moveTo>
                <a:lnTo>
                  <a:pt x="279400" y="0"/>
                </a:lnTo>
                <a:cubicBezTo>
                  <a:pt x="300418" y="0"/>
                  <a:pt x="317500" y="17082"/>
                  <a:pt x="317500" y="38100"/>
                </a:cubicBezTo>
                <a:lnTo>
                  <a:pt x="317500" y="76200"/>
                </a:lnTo>
                <a:cubicBezTo>
                  <a:pt x="317500" y="97218"/>
                  <a:pt x="300418" y="114300"/>
                  <a:pt x="279400" y="114300"/>
                </a:cubicBezTo>
                <a:lnTo>
                  <a:pt x="38100" y="114300"/>
                </a:lnTo>
                <a:cubicBezTo>
                  <a:pt x="17082" y="114300"/>
                  <a:pt x="0" y="97218"/>
                  <a:pt x="0" y="762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rkv-7"/>
          <p:cNvSpPr txBox="1"/>
          <p:nvPr/>
        </p:nvSpPr>
        <p:spPr>
          <a:xfrm>
            <a:off x="10898505" y="5089366"/>
            <a:ext cx="3524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-5.0%</a:t>
            </a:r>
          </a:p>
        </p:txBody>
      </p:sp>
      <p:sp>
        <p:nvSpPr>
          <p:cNvPr id="98" name="rkn-8"/>
          <p:cNvSpPr txBox="1"/>
          <p:nvPr/>
        </p:nvSpPr>
        <p:spPr>
          <a:xfrm>
            <a:off x="8395208" y="5360924"/>
            <a:ext cx="3073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销售</a:t>
            </a:r>
          </a:p>
        </p:txBody>
      </p:sp>
      <p:sp>
        <p:nvSpPr>
          <p:cNvPr id="99" name="rkb-8"/>
          <p:cNvSpPr/>
          <p:nvPr/>
        </p:nvSpPr>
        <p:spPr>
          <a:xfrm>
            <a:off x="9597771" y="5397500"/>
            <a:ext cx="371729" cy="114300"/>
          </a:xfrm>
          <a:custGeom>
            <a:avLst/>
            <a:gdLst/>
            <a:ahLst/>
            <a:cxnLst/>
            <a:rect l="0" t="0" r="r" b="b"/>
            <a:pathLst>
              <a:path w="371729" h="114300">
                <a:moveTo>
                  <a:pt x="38100" y="0"/>
                </a:moveTo>
                <a:lnTo>
                  <a:pt x="333629" y="0"/>
                </a:lnTo>
                <a:cubicBezTo>
                  <a:pt x="354647" y="0"/>
                  <a:pt x="371729" y="17082"/>
                  <a:pt x="371729" y="38100"/>
                </a:cubicBezTo>
                <a:lnTo>
                  <a:pt x="371729" y="76200"/>
                </a:lnTo>
                <a:cubicBezTo>
                  <a:pt x="371729" y="97218"/>
                  <a:pt x="354647" y="114300"/>
                  <a:pt x="333629" y="114300"/>
                </a:cubicBezTo>
                <a:lnTo>
                  <a:pt x="38100" y="114300"/>
                </a:lnTo>
                <a:cubicBezTo>
                  <a:pt x="17082" y="114300"/>
                  <a:pt x="0" y="97218"/>
                  <a:pt x="0" y="762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rkv-8"/>
          <p:cNvSpPr txBox="1"/>
          <p:nvPr/>
        </p:nvSpPr>
        <p:spPr>
          <a:xfrm>
            <a:off x="10898505" y="5368766"/>
            <a:ext cx="3524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-5.9%</a:t>
            </a:r>
          </a:p>
        </p:txBody>
      </p:sp>
      <p:cxnSp>
        <p:nvCxnSpPr>
          <p:cNvPr id="101" name="rk-ax"/>
          <p:cNvCxnSpPr/>
          <p:nvPr/>
        </p:nvCxnSpPr>
        <p:spPr>
          <a:xfrm>
            <a:off x="9969500" y="3403600"/>
            <a:ext cx="0" cy="2235200"/>
          </a:xfrm>
          <a:prstGeom prst="line">
            <a:avLst/>
          </a:prstGeom>
          <a:ln w="762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2" name="sum"/>
          <p:cNvSpPr/>
          <p:nvPr/>
        </p:nvSpPr>
        <p:spPr>
          <a:xfrm>
            <a:off x="952500" y="5715000"/>
            <a:ext cx="10287000" cy="533400"/>
          </a:xfrm>
          <a:custGeom>
            <a:avLst/>
            <a:gdLst/>
            <a:ahLst/>
            <a:cxnLst/>
            <a:rect l="0" t="0" r="r" b="b"/>
            <a:pathLst>
              <a:path w="10287000" h="5334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31800"/>
                </a:lnTo>
                <a:cubicBezTo>
                  <a:pt x="10287000" y="487934"/>
                  <a:pt x="10241534" y="533400"/>
                  <a:pt x="10185400" y="533400"/>
                </a:cubicBezTo>
                <a:lnTo>
                  <a:pt x="101600" y="533400"/>
                </a:lnTo>
                <a:cubicBezTo>
                  <a:pt x="45466" y="533400"/>
                  <a:pt x="0" y="487934"/>
                  <a:pt x="0" y="431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sum-bar"/>
          <p:cNvSpPr/>
          <p:nvPr/>
        </p:nvSpPr>
        <p:spPr>
          <a:xfrm>
            <a:off x="952500" y="57150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4" name="sum-h"/>
          <p:cNvSpPr txBox="1"/>
          <p:nvPr/>
        </p:nvSpPr>
        <p:spPr>
          <a:xfrm>
            <a:off x="1141222" y="58834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需要说明</a:t>
            </a:r>
          </a:p>
        </p:txBody>
      </p:sp>
      <p:sp>
        <p:nvSpPr>
          <p:cNvPr id="105" name="sum-p"/>
          <p:cNvSpPr txBox="1"/>
          <p:nvPr/>
        </p:nvSpPr>
        <p:spPr>
          <a:xfrm>
            <a:off x="1891665" y="5895261"/>
            <a:ext cx="566578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市场部超支 12.9%（双 11 追加投放），行政部超支 13.3%（新办公室装修）；销售部节余 240 万可调剂。</a:t>
            </a:r>
          </a:p>
        </p:txBody>
      </p:sp>
      <p:cxnSp>
        <p:nvCxnSpPr>
          <p:cNvPr id="106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foot-l"/>
          <p:cNvSpPr txBox="1"/>
          <p:nvPr/>
        </p:nvSpPr>
        <p:spPr>
          <a:xfrm>
            <a:off x="573532" y="6532308"/>
            <a:ext cx="124218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预算执行偏差 · 八个部门</a:t>
            </a:r>
          </a:p>
        </p:txBody>
      </p:sp>
      <p:sp>
        <p:nvSpPr>
          <p:cNvPr id="108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员工敬业度调研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208330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DIVERGING LIKERT CHART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7960995" y="673132"/>
            <a:ext cx="36597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以「中立」为中线，右边是认同、左边是不认同——条越往左越需要关注</a:t>
            </a:r>
          </a:p>
        </p:txBody>
      </p:sp>
      <p:sp>
        <p:nvSpPr>
          <p:cNvPr id="10" name="lg-1"/>
          <p:cNvSpPr/>
          <p:nvPr/>
        </p:nvSpPr>
        <p:spPr>
          <a:xfrm>
            <a:off x="3810000" y="1358900"/>
            <a:ext cx="152400" cy="152400"/>
          </a:xfrm>
          <a:custGeom>
            <a:avLst/>
            <a:gdLst/>
            <a:ahLst/>
            <a:cxnLst/>
            <a:rect l="0" t="0" r="r" b="b"/>
            <a:pathLst>
              <a:path w="152400" h="152400">
                <a:moveTo>
                  <a:pt x="38100" y="0"/>
                </a:moveTo>
                <a:lnTo>
                  <a:pt x="114300" y="0"/>
                </a:lnTo>
                <a:cubicBezTo>
                  <a:pt x="135318" y="0"/>
                  <a:pt x="152400" y="17081"/>
                  <a:pt x="152400" y="38100"/>
                </a:cubicBezTo>
                <a:lnTo>
                  <a:pt x="152400" y="114300"/>
                </a:lnTo>
                <a:cubicBezTo>
                  <a:pt x="152400" y="135318"/>
                  <a:pt x="135318" y="152400"/>
                  <a:pt x="114300" y="152400"/>
                </a:cubicBezTo>
                <a:lnTo>
                  <a:pt x="38100" y="152400"/>
                </a:lnTo>
                <a:cubicBezTo>
                  <a:pt x="17082" y="152400"/>
                  <a:pt x="0" y="135318"/>
                  <a:pt x="0" y="1143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lgt-1"/>
          <p:cNvSpPr txBox="1"/>
          <p:nvPr/>
        </p:nvSpPr>
        <p:spPr>
          <a:xfrm>
            <a:off x="4014089" y="1357995"/>
            <a:ext cx="59658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非常不同意</a:t>
            </a:r>
          </a:p>
        </p:txBody>
      </p:sp>
      <p:sp>
        <p:nvSpPr>
          <p:cNvPr id="12" name="lg-2"/>
          <p:cNvSpPr/>
          <p:nvPr/>
        </p:nvSpPr>
        <p:spPr>
          <a:xfrm>
            <a:off x="4889500" y="1358900"/>
            <a:ext cx="152400" cy="152400"/>
          </a:xfrm>
          <a:custGeom>
            <a:avLst/>
            <a:gdLst/>
            <a:ahLst/>
            <a:cxnLst/>
            <a:rect l="0" t="0" r="r" b="b"/>
            <a:pathLst>
              <a:path w="152400" h="152400">
                <a:moveTo>
                  <a:pt x="38100" y="0"/>
                </a:moveTo>
                <a:lnTo>
                  <a:pt x="114300" y="0"/>
                </a:lnTo>
                <a:cubicBezTo>
                  <a:pt x="135318" y="0"/>
                  <a:pt x="152400" y="17081"/>
                  <a:pt x="152400" y="38100"/>
                </a:cubicBezTo>
                <a:lnTo>
                  <a:pt x="152400" y="114300"/>
                </a:lnTo>
                <a:cubicBezTo>
                  <a:pt x="152400" y="135318"/>
                  <a:pt x="135318" y="152400"/>
                  <a:pt x="114300" y="152400"/>
                </a:cubicBezTo>
                <a:lnTo>
                  <a:pt x="38100" y="152400"/>
                </a:lnTo>
                <a:cubicBezTo>
                  <a:pt x="17082" y="152400"/>
                  <a:pt x="0" y="135318"/>
                  <a:pt x="0" y="1143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DB0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lgt-2"/>
          <p:cNvSpPr txBox="1"/>
          <p:nvPr/>
        </p:nvSpPr>
        <p:spPr>
          <a:xfrm>
            <a:off x="5093589" y="1357995"/>
            <a:ext cx="39338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不同意</a:t>
            </a:r>
          </a:p>
        </p:txBody>
      </p:sp>
      <p:sp>
        <p:nvSpPr>
          <p:cNvPr id="14" name="lg-3"/>
          <p:cNvSpPr/>
          <p:nvPr/>
        </p:nvSpPr>
        <p:spPr>
          <a:xfrm>
            <a:off x="5969000" y="1358900"/>
            <a:ext cx="152400" cy="152400"/>
          </a:xfrm>
          <a:custGeom>
            <a:avLst/>
            <a:gdLst/>
            <a:ahLst/>
            <a:cxnLst/>
            <a:rect l="0" t="0" r="r" b="b"/>
            <a:pathLst>
              <a:path w="152400" h="152400">
                <a:moveTo>
                  <a:pt x="38100" y="0"/>
                </a:moveTo>
                <a:lnTo>
                  <a:pt x="114300" y="0"/>
                </a:lnTo>
                <a:cubicBezTo>
                  <a:pt x="135318" y="0"/>
                  <a:pt x="152400" y="17081"/>
                  <a:pt x="152400" y="38100"/>
                </a:cubicBezTo>
                <a:lnTo>
                  <a:pt x="152400" y="114300"/>
                </a:lnTo>
                <a:cubicBezTo>
                  <a:pt x="152400" y="135318"/>
                  <a:pt x="135318" y="152400"/>
                  <a:pt x="114300" y="152400"/>
                </a:cubicBezTo>
                <a:lnTo>
                  <a:pt x="38100" y="152400"/>
                </a:lnTo>
                <a:cubicBezTo>
                  <a:pt x="17082" y="152400"/>
                  <a:pt x="0" y="135318"/>
                  <a:pt x="0" y="1143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D5DEE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lgt-3"/>
          <p:cNvSpPr txBox="1"/>
          <p:nvPr/>
        </p:nvSpPr>
        <p:spPr>
          <a:xfrm>
            <a:off x="6173089" y="1357995"/>
            <a:ext cx="29178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中立</a:t>
            </a:r>
          </a:p>
        </p:txBody>
      </p:sp>
      <p:sp>
        <p:nvSpPr>
          <p:cNvPr id="16" name="lg-4"/>
          <p:cNvSpPr/>
          <p:nvPr/>
        </p:nvSpPr>
        <p:spPr>
          <a:xfrm>
            <a:off x="7048500" y="1358900"/>
            <a:ext cx="152400" cy="152400"/>
          </a:xfrm>
          <a:custGeom>
            <a:avLst/>
            <a:gdLst/>
            <a:ahLst/>
            <a:cxnLst/>
            <a:rect l="0" t="0" r="r" b="b"/>
            <a:pathLst>
              <a:path w="152400" h="152400">
                <a:moveTo>
                  <a:pt x="38100" y="0"/>
                </a:moveTo>
                <a:lnTo>
                  <a:pt x="114300" y="0"/>
                </a:lnTo>
                <a:cubicBezTo>
                  <a:pt x="135318" y="0"/>
                  <a:pt x="152400" y="17081"/>
                  <a:pt x="152400" y="38100"/>
                </a:cubicBezTo>
                <a:lnTo>
                  <a:pt x="152400" y="114300"/>
                </a:lnTo>
                <a:cubicBezTo>
                  <a:pt x="152400" y="135318"/>
                  <a:pt x="135318" y="152400"/>
                  <a:pt x="114300" y="152400"/>
                </a:cubicBezTo>
                <a:lnTo>
                  <a:pt x="38100" y="152400"/>
                </a:lnTo>
                <a:cubicBezTo>
                  <a:pt x="17082" y="152400"/>
                  <a:pt x="0" y="135318"/>
                  <a:pt x="0" y="1143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lgt-4"/>
          <p:cNvSpPr txBox="1"/>
          <p:nvPr/>
        </p:nvSpPr>
        <p:spPr>
          <a:xfrm>
            <a:off x="7252589" y="1357995"/>
            <a:ext cx="29178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同意</a:t>
            </a:r>
          </a:p>
        </p:txBody>
      </p:sp>
      <p:sp>
        <p:nvSpPr>
          <p:cNvPr id="18" name="lg-5"/>
          <p:cNvSpPr/>
          <p:nvPr/>
        </p:nvSpPr>
        <p:spPr>
          <a:xfrm>
            <a:off x="8128000" y="1358900"/>
            <a:ext cx="152400" cy="152400"/>
          </a:xfrm>
          <a:custGeom>
            <a:avLst/>
            <a:gdLst/>
            <a:ahLst/>
            <a:cxnLst/>
            <a:rect l="0" t="0" r="r" b="b"/>
            <a:pathLst>
              <a:path w="152400" h="152400">
                <a:moveTo>
                  <a:pt x="38100" y="0"/>
                </a:moveTo>
                <a:lnTo>
                  <a:pt x="114300" y="0"/>
                </a:lnTo>
                <a:cubicBezTo>
                  <a:pt x="135318" y="0"/>
                  <a:pt x="152400" y="17081"/>
                  <a:pt x="152400" y="38100"/>
                </a:cubicBezTo>
                <a:lnTo>
                  <a:pt x="152400" y="114300"/>
                </a:lnTo>
                <a:cubicBezTo>
                  <a:pt x="152400" y="135318"/>
                  <a:pt x="135318" y="152400"/>
                  <a:pt x="114300" y="152400"/>
                </a:cubicBezTo>
                <a:lnTo>
                  <a:pt x="38100" y="152400"/>
                </a:lnTo>
                <a:cubicBezTo>
                  <a:pt x="17082" y="152400"/>
                  <a:pt x="0" y="135318"/>
                  <a:pt x="0" y="1143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lgt-5"/>
          <p:cNvSpPr txBox="1"/>
          <p:nvPr/>
        </p:nvSpPr>
        <p:spPr>
          <a:xfrm>
            <a:off x="8332089" y="1357995"/>
            <a:ext cx="49498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非常同意</a:t>
            </a:r>
          </a:p>
        </p:txBody>
      </p:sp>
      <p:cxnSp>
        <p:nvCxnSpPr>
          <p:cNvPr id="20" name="g--60"/>
          <p:cNvCxnSpPr/>
          <p:nvPr/>
        </p:nvCxnSpPr>
        <p:spPr>
          <a:xfrm>
            <a:off x="3962400" y="1752600"/>
            <a:ext cx="0" cy="340360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gt--60"/>
          <p:cNvSpPr txBox="1"/>
          <p:nvPr/>
        </p:nvSpPr>
        <p:spPr>
          <a:xfrm>
            <a:off x="3847719" y="52115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60%</a:t>
            </a:r>
          </a:p>
        </p:txBody>
      </p:sp>
      <p:cxnSp>
        <p:nvCxnSpPr>
          <p:cNvPr id="22" name="g--40"/>
          <p:cNvCxnSpPr/>
          <p:nvPr/>
        </p:nvCxnSpPr>
        <p:spPr>
          <a:xfrm>
            <a:off x="4800600" y="1752600"/>
            <a:ext cx="0" cy="340360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gt--40"/>
          <p:cNvSpPr txBox="1"/>
          <p:nvPr/>
        </p:nvSpPr>
        <p:spPr>
          <a:xfrm>
            <a:off x="4685919" y="52115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40%</a:t>
            </a:r>
          </a:p>
        </p:txBody>
      </p:sp>
      <p:cxnSp>
        <p:nvCxnSpPr>
          <p:cNvPr id="24" name="g--20"/>
          <p:cNvCxnSpPr/>
          <p:nvPr/>
        </p:nvCxnSpPr>
        <p:spPr>
          <a:xfrm>
            <a:off x="5638800" y="1752600"/>
            <a:ext cx="0" cy="340360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gt--20"/>
          <p:cNvSpPr txBox="1"/>
          <p:nvPr/>
        </p:nvSpPr>
        <p:spPr>
          <a:xfrm>
            <a:off x="5524119" y="52115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20%</a:t>
            </a:r>
          </a:p>
        </p:txBody>
      </p:sp>
      <p:cxnSp>
        <p:nvCxnSpPr>
          <p:cNvPr id="26" name="g-0"/>
          <p:cNvCxnSpPr/>
          <p:nvPr/>
        </p:nvCxnSpPr>
        <p:spPr>
          <a:xfrm>
            <a:off x="6477000" y="1752600"/>
            <a:ext cx="0" cy="3403600"/>
          </a:xfrm>
          <a:prstGeom prst="line">
            <a:avLst/>
          </a:prstGeom>
          <a:ln w="12700" cap="rnd">
            <a:solidFill>
              <a:srgbClr val="0B2545">
                <a:alpha val="3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gt-0"/>
          <p:cNvSpPr txBox="1"/>
          <p:nvPr/>
        </p:nvSpPr>
        <p:spPr>
          <a:xfrm>
            <a:off x="6387211" y="521150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0%</a:t>
            </a:r>
          </a:p>
        </p:txBody>
      </p:sp>
      <p:cxnSp>
        <p:nvCxnSpPr>
          <p:cNvPr id="28" name="g-20"/>
          <p:cNvCxnSpPr/>
          <p:nvPr/>
        </p:nvCxnSpPr>
        <p:spPr>
          <a:xfrm>
            <a:off x="7315200" y="1752600"/>
            <a:ext cx="0" cy="340360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gt-20"/>
          <p:cNvSpPr txBox="1"/>
          <p:nvPr/>
        </p:nvSpPr>
        <p:spPr>
          <a:xfrm>
            <a:off x="7200519" y="52115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20%</a:t>
            </a:r>
          </a:p>
        </p:txBody>
      </p:sp>
      <p:cxnSp>
        <p:nvCxnSpPr>
          <p:cNvPr id="30" name="g-40"/>
          <p:cNvCxnSpPr/>
          <p:nvPr/>
        </p:nvCxnSpPr>
        <p:spPr>
          <a:xfrm>
            <a:off x="8153400" y="1752600"/>
            <a:ext cx="0" cy="340360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gt-40"/>
          <p:cNvSpPr txBox="1"/>
          <p:nvPr/>
        </p:nvSpPr>
        <p:spPr>
          <a:xfrm>
            <a:off x="8038719" y="52115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40%</a:t>
            </a:r>
          </a:p>
        </p:txBody>
      </p:sp>
      <p:cxnSp>
        <p:nvCxnSpPr>
          <p:cNvPr id="32" name="g-60"/>
          <p:cNvCxnSpPr/>
          <p:nvPr/>
        </p:nvCxnSpPr>
        <p:spPr>
          <a:xfrm>
            <a:off x="8991600" y="1752600"/>
            <a:ext cx="0" cy="340360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gt-60"/>
          <p:cNvSpPr txBox="1"/>
          <p:nvPr/>
        </p:nvSpPr>
        <p:spPr>
          <a:xfrm>
            <a:off x="8876919" y="52115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60%</a:t>
            </a:r>
          </a:p>
        </p:txBody>
      </p:sp>
      <p:cxnSp>
        <p:nvCxnSpPr>
          <p:cNvPr id="34" name="g-80"/>
          <p:cNvCxnSpPr/>
          <p:nvPr/>
        </p:nvCxnSpPr>
        <p:spPr>
          <a:xfrm>
            <a:off x="9829800" y="1752600"/>
            <a:ext cx="0" cy="340360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gt-80"/>
          <p:cNvSpPr txBox="1"/>
          <p:nvPr/>
        </p:nvSpPr>
        <p:spPr>
          <a:xfrm>
            <a:off x="9715119" y="52115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80%</a:t>
            </a:r>
          </a:p>
        </p:txBody>
      </p:sp>
      <p:sp>
        <p:nvSpPr>
          <p:cNvPr id="36" name="nh"/>
          <p:cNvSpPr txBox="1"/>
          <p:nvPr/>
        </p:nvSpPr>
        <p:spPr>
          <a:xfrm>
            <a:off x="10494962" y="1558766"/>
            <a:ext cx="4095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净认同</a:t>
            </a:r>
          </a:p>
        </p:txBody>
      </p:sp>
      <p:sp>
        <p:nvSpPr>
          <p:cNvPr id="37" name="q-1"/>
          <p:cNvSpPr txBox="1"/>
          <p:nvPr/>
        </p:nvSpPr>
        <p:spPr>
          <a:xfrm>
            <a:off x="2292096" y="1947990"/>
            <a:ext cx="127762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我清楚公司的战略方向</a:t>
            </a:r>
          </a:p>
        </p:txBody>
      </p:sp>
      <p:sp>
        <p:nvSpPr>
          <p:cNvPr id="38" name="b-1-1"/>
          <p:cNvSpPr/>
          <p:nvPr/>
        </p:nvSpPr>
        <p:spPr>
          <a:xfrm>
            <a:off x="5645150" y="1917700"/>
            <a:ext cx="154940" cy="254000"/>
          </a:xfrm>
          <a:custGeom>
            <a:avLst/>
            <a:gdLst/>
            <a:ahLst/>
            <a:cxnLst/>
            <a:rect l="0" t="0" r="r" b="b"/>
            <a:pathLst>
              <a:path w="154940" h="254000">
                <a:moveTo>
                  <a:pt x="38100" y="0"/>
                </a:moveTo>
                <a:lnTo>
                  <a:pt x="116840" y="0"/>
                </a:lnTo>
                <a:cubicBezTo>
                  <a:pt x="137859" y="0"/>
                  <a:pt x="154940" y="17081"/>
                  <a:pt x="154940" y="38100"/>
                </a:cubicBezTo>
                <a:lnTo>
                  <a:pt x="154940" y="215900"/>
                </a:lnTo>
                <a:cubicBezTo>
                  <a:pt x="154940" y="236918"/>
                  <a:pt x="137859" y="254000"/>
                  <a:pt x="116840" y="254000"/>
                </a:cubicBezTo>
                <a:lnTo>
                  <a:pt x="38100" y="254000"/>
                </a:lnTo>
                <a:cubicBezTo>
                  <a:pt x="17082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b-1-2"/>
          <p:cNvSpPr/>
          <p:nvPr/>
        </p:nvSpPr>
        <p:spPr>
          <a:xfrm>
            <a:off x="5812790" y="1917700"/>
            <a:ext cx="322580" cy="254000"/>
          </a:xfrm>
          <a:custGeom>
            <a:avLst/>
            <a:gdLst/>
            <a:ahLst/>
            <a:cxnLst/>
            <a:rect l="0" t="0" r="r" b="b"/>
            <a:pathLst>
              <a:path w="322580" h="254000">
                <a:moveTo>
                  <a:pt x="38100" y="0"/>
                </a:moveTo>
                <a:lnTo>
                  <a:pt x="284480" y="0"/>
                </a:lnTo>
                <a:cubicBezTo>
                  <a:pt x="305499" y="0"/>
                  <a:pt x="322580" y="17081"/>
                  <a:pt x="322580" y="38100"/>
                </a:cubicBezTo>
                <a:lnTo>
                  <a:pt x="322580" y="215900"/>
                </a:lnTo>
                <a:cubicBezTo>
                  <a:pt x="322580" y="236918"/>
                  <a:pt x="305499" y="254000"/>
                  <a:pt x="284480" y="254000"/>
                </a:cubicBezTo>
                <a:lnTo>
                  <a:pt x="38100" y="254000"/>
                </a:lnTo>
                <a:cubicBezTo>
                  <a:pt x="17082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DB0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bt-1-2"/>
          <p:cNvSpPr txBox="1"/>
          <p:nvPr/>
        </p:nvSpPr>
        <p:spPr>
          <a:xfrm>
            <a:off x="5906865" y="1969087"/>
            <a:ext cx="13443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8</a:t>
            </a:r>
          </a:p>
        </p:txBody>
      </p:sp>
      <p:sp>
        <p:nvSpPr>
          <p:cNvPr id="41" name="b-1-3"/>
          <p:cNvSpPr/>
          <p:nvPr/>
        </p:nvSpPr>
        <p:spPr>
          <a:xfrm>
            <a:off x="6148070" y="1917700"/>
            <a:ext cx="657860" cy="254000"/>
          </a:xfrm>
          <a:custGeom>
            <a:avLst/>
            <a:gdLst/>
            <a:ahLst/>
            <a:cxnLst/>
            <a:rect l="0" t="0" r="r" b="b"/>
            <a:pathLst>
              <a:path w="657860" h="254000">
                <a:moveTo>
                  <a:pt x="38100" y="0"/>
                </a:moveTo>
                <a:lnTo>
                  <a:pt x="619760" y="0"/>
                </a:lnTo>
                <a:cubicBezTo>
                  <a:pt x="640778" y="0"/>
                  <a:pt x="657860" y="17081"/>
                  <a:pt x="657860" y="38100"/>
                </a:cubicBezTo>
                <a:lnTo>
                  <a:pt x="657860" y="215900"/>
                </a:lnTo>
                <a:cubicBezTo>
                  <a:pt x="657860" y="236918"/>
                  <a:pt x="640778" y="254000"/>
                  <a:pt x="619760" y="254000"/>
                </a:cubicBezTo>
                <a:lnTo>
                  <a:pt x="38100" y="254000"/>
                </a:lnTo>
                <a:cubicBezTo>
                  <a:pt x="17081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D5DEE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bt-1-3"/>
          <p:cNvSpPr txBox="1"/>
          <p:nvPr/>
        </p:nvSpPr>
        <p:spPr>
          <a:xfrm>
            <a:off x="6384004" y="1969087"/>
            <a:ext cx="1859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16</a:t>
            </a:r>
          </a:p>
        </p:txBody>
      </p:sp>
      <p:sp>
        <p:nvSpPr>
          <p:cNvPr id="43" name="b-1-4"/>
          <p:cNvSpPr/>
          <p:nvPr/>
        </p:nvSpPr>
        <p:spPr>
          <a:xfrm>
            <a:off x="6818630" y="1917700"/>
            <a:ext cx="1831340" cy="254000"/>
          </a:xfrm>
          <a:custGeom>
            <a:avLst/>
            <a:gdLst/>
            <a:ahLst/>
            <a:cxnLst/>
            <a:rect l="0" t="0" r="r" b="b"/>
            <a:pathLst>
              <a:path w="1831340" h="254000">
                <a:moveTo>
                  <a:pt x="38100" y="0"/>
                </a:moveTo>
                <a:lnTo>
                  <a:pt x="1793240" y="0"/>
                </a:lnTo>
                <a:cubicBezTo>
                  <a:pt x="1814259" y="0"/>
                  <a:pt x="1831340" y="17081"/>
                  <a:pt x="1831340" y="38100"/>
                </a:cubicBezTo>
                <a:lnTo>
                  <a:pt x="1831340" y="215900"/>
                </a:lnTo>
                <a:cubicBezTo>
                  <a:pt x="1831340" y="236918"/>
                  <a:pt x="1814259" y="254000"/>
                  <a:pt x="1793240" y="254000"/>
                </a:cubicBezTo>
                <a:lnTo>
                  <a:pt x="38100" y="254000"/>
                </a:lnTo>
                <a:cubicBezTo>
                  <a:pt x="17082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bt-1-4"/>
          <p:cNvSpPr txBox="1"/>
          <p:nvPr/>
        </p:nvSpPr>
        <p:spPr>
          <a:xfrm>
            <a:off x="7641304" y="1969087"/>
            <a:ext cx="1859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44</a:t>
            </a:r>
          </a:p>
        </p:txBody>
      </p:sp>
      <p:sp>
        <p:nvSpPr>
          <p:cNvPr id="45" name="b-1-5"/>
          <p:cNvSpPr/>
          <p:nvPr/>
        </p:nvSpPr>
        <p:spPr>
          <a:xfrm>
            <a:off x="8662670" y="1917700"/>
            <a:ext cx="1160780" cy="254000"/>
          </a:xfrm>
          <a:custGeom>
            <a:avLst/>
            <a:gdLst/>
            <a:ahLst/>
            <a:cxnLst/>
            <a:rect l="0" t="0" r="r" b="b"/>
            <a:pathLst>
              <a:path w="1160780" h="254000">
                <a:moveTo>
                  <a:pt x="38100" y="0"/>
                </a:moveTo>
                <a:lnTo>
                  <a:pt x="1122680" y="0"/>
                </a:lnTo>
                <a:cubicBezTo>
                  <a:pt x="1143698" y="0"/>
                  <a:pt x="1160780" y="17081"/>
                  <a:pt x="1160780" y="38100"/>
                </a:cubicBezTo>
                <a:lnTo>
                  <a:pt x="1160780" y="215900"/>
                </a:lnTo>
                <a:cubicBezTo>
                  <a:pt x="1160780" y="236918"/>
                  <a:pt x="1143698" y="254000"/>
                  <a:pt x="1122680" y="254000"/>
                </a:cubicBezTo>
                <a:lnTo>
                  <a:pt x="38100" y="254000"/>
                </a:lnTo>
                <a:cubicBezTo>
                  <a:pt x="17082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bt-1-5"/>
          <p:cNvSpPr txBox="1"/>
          <p:nvPr/>
        </p:nvSpPr>
        <p:spPr>
          <a:xfrm>
            <a:off x="9150064" y="1969087"/>
            <a:ext cx="1859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28</a:t>
            </a:r>
          </a:p>
        </p:txBody>
      </p:sp>
      <p:sp>
        <p:nvSpPr>
          <p:cNvPr id="47" name="n-1"/>
          <p:cNvSpPr/>
          <p:nvPr/>
        </p:nvSpPr>
        <p:spPr>
          <a:xfrm>
            <a:off x="10350500" y="1917700"/>
            <a:ext cx="698500" cy="254000"/>
          </a:xfrm>
          <a:custGeom>
            <a:avLst/>
            <a:gdLst/>
            <a:ahLst/>
            <a:cxnLst/>
            <a:rect l="0" t="0" r="r" b="b"/>
            <a:pathLst>
              <a:path w="698500" h="254000">
                <a:moveTo>
                  <a:pt x="127000" y="0"/>
                </a:moveTo>
                <a:lnTo>
                  <a:pt x="571500" y="0"/>
                </a:lnTo>
                <a:cubicBezTo>
                  <a:pt x="641667" y="0"/>
                  <a:pt x="698500" y="56832"/>
                  <a:pt x="698500" y="127000"/>
                </a:cubicBezTo>
                <a:lnTo>
                  <a:pt x="698500" y="127000"/>
                </a:lnTo>
                <a:cubicBezTo>
                  <a:pt x="698500" y="197168"/>
                  <a:pt x="641667" y="254000"/>
                  <a:pt x="571500" y="254000"/>
                </a:cubicBezTo>
                <a:lnTo>
                  <a:pt x="127000" y="254000"/>
                </a:lnTo>
                <a:cubicBezTo>
                  <a:pt x="56833" y="254000"/>
                  <a:pt x="0" y="197168"/>
                  <a:pt x="0" y="127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nt-1"/>
          <p:cNvSpPr txBox="1"/>
          <p:nvPr/>
        </p:nvSpPr>
        <p:spPr>
          <a:xfrm>
            <a:off x="10535920" y="1932305"/>
            <a:ext cx="32766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+60</a:t>
            </a:r>
          </a:p>
        </p:txBody>
      </p:sp>
      <p:sp>
        <p:nvSpPr>
          <p:cNvPr id="49" name="q-2"/>
          <p:cNvSpPr txBox="1"/>
          <p:nvPr/>
        </p:nvSpPr>
        <p:spPr>
          <a:xfrm>
            <a:off x="2174621" y="2430590"/>
            <a:ext cx="1395095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直属上级给予我足够支持</a:t>
            </a:r>
          </a:p>
        </p:txBody>
      </p:sp>
      <p:sp>
        <p:nvSpPr>
          <p:cNvPr id="50" name="b-2-1"/>
          <p:cNvSpPr/>
          <p:nvPr/>
        </p:nvSpPr>
        <p:spPr>
          <a:xfrm>
            <a:off x="5791835" y="2400300"/>
            <a:ext cx="113030" cy="254000"/>
          </a:xfrm>
          <a:custGeom>
            <a:avLst/>
            <a:gdLst/>
            <a:ahLst/>
            <a:cxnLst/>
            <a:rect l="0" t="0" r="r" b="b"/>
            <a:pathLst>
              <a:path w="113030" h="254000">
                <a:moveTo>
                  <a:pt x="38100" y="0"/>
                </a:moveTo>
                <a:lnTo>
                  <a:pt x="74930" y="0"/>
                </a:lnTo>
                <a:cubicBezTo>
                  <a:pt x="95949" y="0"/>
                  <a:pt x="113030" y="17081"/>
                  <a:pt x="113030" y="38100"/>
                </a:cubicBezTo>
                <a:lnTo>
                  <a:pt x="113030" y="215900"/>
                </a:lnTo>
                <a:cubicBezTo>
                  <a:pt x="113030" y="236918"/>
                  <a:pt x="95949" y="254000"/>
                  <a:pt x="74930" y="254000"/>
                </a:cubicBezTo>
                <a:lnTo>
                  <a:pt x="38100" y="254000"/>
                </a:lnTo>
                <a:cubicBezTo>
                  <a:pt x="17081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b-2-2"/>
          <p:cNvSpPr/>
          <p:nvPr/>
        </p:nvSpPr>
        <p:spPr>
          <a:xfrm>
            <a:off x="5917565" y="2400300"/>
            <a:ext cx="238760" cy="254000"/>
          </a:xfrm>
          <a:custGeom>
            <a:avLst/>
            <a:gdLst/>
            <a:ahLst/>
            <a:cxnLst/>
            <a:rect l="0" t="0" r="r" b="b"/>
            <a:pathLst>
              <a:path w="238760" h="254000">
                <a:moveTo>
                  <a:pt x="38100" y="0"/>
                </a:moveTo>
                <a:lnTo>
                  <a:pt x="200660" y="0"/>
                </a:lnTo>
                <a:cubicBezTo>
                  <a:pt x="221678" y="0"/>
                  <a:pt x="238760" y="17081"/>
                  <a:pt x="238760" y="38100"/>
                </a:cubicBezTo>
                <a:lnTo>
                  <a:pt x="238760" y="215900"/>
                </a:lnTo>
                <a:cubicBezTo>
                  <a:pt x="238760" y="236918"/>
                  <a:pt x="221678" y="254000"/>
                  <a:pt x="200660" y="254000"/>
                </a:cubicBezTo>
                <a:lnTo>
                  <a:pt x="38100" y="254000"/>
                </a:lnTo>
                <a:cubicBezTo>
                  <a:pt x="17082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DB0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b-2-3"/>
          <p:cNvSpPr/>
          <p:nvPr/>
        </p:nvSpPr>
        <p:spPr>
          <a:xfrm>
            <a:off x="6169025" y="2400300"/>
            <a:ext cx="615950" cy="254000"/>
          </a:xfrm>
          <a:custGeom>
            <a:avLst/>
            <a:gdLst/>
            <a:ahLst/>
            <a:cxnLst/>
            <a:rect l="0" t="0" r="r" b="b"/>
            <a:pathLst>
              <a:path w="615950" h="254000">
                <a:moveTo>
                  <a:pt x="38100" y="0"/>
                </a:moveTo>
                <a:lnTo>
                  <a:pt x="577850" y="0"/>
                </a:lnTo>
                <a:cubicBezTo>
                  <a:pt x="598868" y="0"/>
                  <a:pt x="615950" y="17081"/>
                  <a:pt x="615950" y="38100"/>
                </a:cubicBezTo>
                <a:lnTo>
                  <a:pt x="615950" y="215900"/>
                </a:lnTo>
                <a:cubicBezTo>
                  <a:pt x="615950" y="236918"/>
                  <a:pt x="598868" y="254000"/>
                  <a:pt x="577850" y="254000"/>
                </a:cubicBezTo>
                <a:lnTo>
                  <a:pt x="38100" y="254000"/>
                </a:lnTo>
                <a:cubicBezTo>
                  <a:pt x="17082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D5DEE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bt-2-3"/>
          <p:cNvSpPr txBox="1"/>
          <p:nvPr/>
        </p:nvSpPr>
        <p:spPr>
          <a:xfrm>
            <a:off x="6384004" y="2451687"/>
            <a:ext cx="1859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15</a:t>
            </a:r>
          </a:p>
        </p:txBody>
      </p:sp>
      <p:sp>
        <p:nvSpPr>
          <p:cNvPr id="54" name="b-2-4"/>
          <p:cNvSpPr/>
          <p:nvPr/>
        </p:nvSpPr>
        <p:spPr>
          <a:xfrm>
            <a:off x="6797675" y="2400300"/>
            <a:ext cx="1915160" cy="254000"/>
          </a:xfrm>
          <a:custGeom>
            <a:avLst/>
            <a:gdLst/>
            <a:ahLst/>
            <a:cxnLst/>
            <a:rect l="0" t="0" r="r" b="b"/>
            <a:pathLst>
              <a:path w="1915160" h="254000">
                <a:moveTo>
                  <a:pt x="38100" y="0"/>
                </a:moveTo>
                <a:lnTo>
                  <a:pt x="1877060" y="0"/>
                </a:lnTo>
                <a:cubicBezTo>
                  <a:pt x="1898079" y="0"/>
                  <a:pt x="1915160" y="17081"/>
                  <a:pt x="1915160" y="38100"/>
                </a:cubicBezTo>
                <a:lnTo>
                  <a:pt x="1915160" y="215900"/>
                </a:lnTo>
                <a:cubicBezTo>
                  <a:pt x="1915160" y="236918"/>
                  <a:pt x="1898079" y="254000"/>
                  <a:pt x="1877060" y="254000"/>
                </a:cubicBezTo>
                <a:lnTo>
                  <a:pt x="38100" y="254000"/>
                </a:lnTo>
                <a:cubicBezTo>
                  <a:pt x="17082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bt-2-4"/>
          <p:cNvSpPr txBox="1"/>
          <p:nvPr/>
        </p:nvSpPr>
        <p:spPr>
          <a:xfrm>
            <a:off x="7662259" y="2451687"/>
            <a:ext cx="1859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46</a:t>
            </a:r>
          </a:p>
        </p:txBody>
      </p:sp>
      <p:sp>
        <p:nvSpPr>
          <p:cNvPr id="56" name="b-2-5"/>
          <p:cNvSpPr/>
          <p:nvPr/>
        </p:nvSpPr>
        <p:spPr>
          <a:xfrm>
            <a:off x="8725535" y="2400300"/>
            <a:ext cx="1244600" cy="254000"/>
          </a:xfrm>
          <a:custGeom>
            <a:avLst/>
            <a:gdLst/>
            <a:ahLst/>
            <a:cxnLst/>
            <a:rect l="0" t="0" r="r" b="b"/>
            <a:pathLst>
              <a:path w="1244600" h="254000">
                <a:moveTo>
                  <a:pt x="38100" y="0"/>
                </a:moveTo>
                <a:lnTo>
                  <a:pt x="1206500" y="0"/>
                </a:lnTo>
                <a:cubicBezTo>
                  <a:pt x="1227519" y="0"/>
                  <a:pt x="1244600" y="17081"/>
                  <a:pt x="1244600" y="38100"/>
                </a:cubicBezTo>
                <a:lnTo>
                  <a:pt x="1244600" y="215900"/>
                </a:lnTo>
                <a:cubicBezTo>
                  <a:pt x="1244600" y="236918"/>
                  <a:pt x="1227519" y="254000"/>
                  <a:pt x="1206500" y="254000"/>
                </a:cubicBezTo>
                <a:lnTo>
                  <a:pt x="38100" y="254000"/>
                </a:lnTo>
                <a:cubicBezTo>
                  <a:pt x="17082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bt-2-5"/>
          <p:cNvSpPr txBox="1"/>
          <p:nvPr/>
        </p:nvSpPr>
        <p:spPr>
          <a:xfrm>
            <a:off x="9254839" y="2451687"/>
            <a:ext cx="1859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30</a:t>
            </a:r>
          </a:p>
        </p:txBody>
      </p:sp>
      <p:sp>
        <p:nvSpPr>
          <p:cNvPr id="58" name="n-2"/>
          <p:cNvSpPr/>
          <p:nvPr/>
        </p:nvSpPr>
        <p:spPr>
          <a:xfrm>
            <a:off x="10350500" y="2400300"/>
            <a:ext cx="698500" cy="254000"/>
          </a:xfrm>
          <a:custGeom>
            <a:avLst/>
            <a:gdLst/>
            <a:ahLst/>
            <a:cxnLst/>
            <a:rect l="0" t="0" r="r" b="b"/>
            <a:pathLst>
              <a:path w="698500" h="254000">
                <a:moveTo>
                  <a:pt x="127000" y="0"/>
                </a:moveTo>
                <a:lnTo>
                  <a:pt x="571500" y="0"/>
                </a:lnTo>
                <a:cubicBezTo>
                  <a:pt x="641667" y="0"/>
                  <a:pt x="698500" y="56832"/>
                  <a:pt x="698500" y="127000"/>
                </a:cubicBezTo>
                <a:lnTo>
                  <a:pt x="698500" y="127000"/>
                </a:lnTo>
                <a:cubicBezTo>
                  <a:pt x="698500" y="197168"/>
                  <a:pt x="641667" y="254000"/>
                  <a:pt x="571500" y="254000"/>
                </a:cubicBezTo>
                <a:lnTo>
                  <a:pt x="127000" y="254000"/>
                </a:lnTo>
                <a:cubicBezTo>
                  <a:pt x="56833" y="254000"/>
                  <a:pt x="0" y="197168"/>
                  <a:pt x="0" y="127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nt-2"/>
          <p:cNvSpPr txBox="1"/>
          <p:nvPr/>
        </p:nvSpPr>
        <p:spPr>
          <a:xfrm>
            <a:off x="10535920" y="2414905"/>
            <a:ext cx="32766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+67</a:t>
            </a:r>
          </a:p>
        </p:txBody>
      </p:sp>
      <p:sp>
        <p:nvSpPr>
          <p:cNvPr id="60" name="q-3"/>
          <p:cNvSpPr txBox="1"/>
          <p:nvPr/>
        </p:nvSpPr>
        <p:spPr>
          <a:xfrm>
            <a:off x="2174621" y="2913190"/>
            <a:ext cx="1395095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我愿意推荐朋友加入公司</a:t>
            </a:r>
          </a:p>
        </p:txBody>
      </p:sp>
      <p:sp>
        <p:nvSpPr>
          <p:cNvPr id="61" name="b-3-1"/>
          <p:cNvSpPr/>
          <p:nvPr/>
        </p:nvSpPr>
        <p:spPr>
          <a:xfrm>
            <a:off x="5687060" y="2882900"/>
            <a:ext cx="113030" cy="254000"/>
          </a:xfrm>
          <a:custGeom>
            <a:avLst/>
            <a:gdLst/>
            <a:ahLst/>
            <a:cxnLst/>
            <a:rect l="0" t="0" r="r" b="b"/>
            <a:pathLst>
              <a:path w="113030" h="254000">
                <a:moveTo>
                  <a:pt x="38100" y="0"/>
                </a:moveTo>
                <a:lnTo>
                  <a:pt x="74930" y="0"/>
                </a:lnTo>
                <a:cubicBezTo>
                  <a:pt x="95949" y="0"/>
                  <a:pt x="113030" y="17081"/>
                  <a:pt x="113030" y="38100"/>
                </a:cubicBezTo>
                <a:lnTo>
                  <a:pt x="113030" y="215900"/>
                </a:lnTo>
                <a:cubicBezTo>
                  <a:pt x="113030" y="236918"/>
                  <a:pt x="95949" y="254000"/>
                  <a:pt x="74930" y="254000"/>
                </a:cubicBezTo>
                <a:lnTo>
                  <a:pt x="38100" y="254000"/>
                </a:lnTo>
                <a:cubicBezTo>
                  <a:pt x="17081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b-3-2"/>
          <p:cNvSpPr/>
          <p:nvPr/>
        </p:nvSpPr>
        <p:spPr>
          <a:xfrm>
            <a:off x="5812790" y="2882900"/>
            <a:ext cx="280670" cy="254000"/>
          </a:xfrm>
          <a:custGeom>
            <a:avLst/>
            <a:gdLst/>
            <a:ahLst/>
            <a:cxnLst/>
            <a:rect l="0" t="0" r="r" b="b"/>
            <a:pathLst>
              <a:path w="280670" h="254000">
                <a:moveTo>
                  <a:pt x="38100" y="0"/>
                </a:moveTo>
                <a:lnTo>
                  <a:pt x="242570" y="0"/>
                </a:lnTo>
                <a:cubicBezTo>
                  <a:pt x="263588" y="0"/>
                  <a:pt x="280670" y="17081"/>
                  <a:pt x="280670" y="38100"/>
                </a:cubicBezTo>
                <a:lnTo>
                  <a:pt x="280670" y="215900"/>
                </a:lnTo>
                <a:cubicBezTo>
                  <a:pt x="280670" y="236918"/>
                  <a:pt x="263588" y="254000"/>
                  <a:pt x="242570" y="254000"/>
                </a:cubicBezTo>
                <a:lnTo>
                  <a:pt x="38100" y="254000"/>
                </a:lnTo>
                <a:cubicBezTo>
                  <a:pt x="17082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DB0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b-3-3"/>
          <p:cNvSpPr/>
          <p:nvPr/>
        </p:nvSpPr>
        <p:spPr>
          <a:xfrm>
            <a:off x="6106160" y="2882900"/>
            <a:ext cx="741680" cy="254000"/>
          </a:xfrm>
          <a:custGeom>
            <a:avLst/>
            <a:gdLst/>
            <a:ahLst/>
            <a:cxnLst/>
            <a:rect l="0" t="0" r="r" b="b"/>
            <a:pathLst>
              <a:path w="741680" h="254000">
                <a:moveTo>
                  <a:pt x="38100" y="0"/>
                </a:moveTo>
                <a:lnTo>
                  <a:pt x="703580" y="0"/>
                </a:lnTo>
                <a:cubicBezTo>
                  <a:pt x="724599" y="0"/>
                  <a:pt x="741680" y="17081"/>
                  <a:pt x="741680" y="38100"/>
                </a:cubicBezTo>
                <a:lnTo>
                  <a:pt x="741680" y="215900"/>
                </a:lnTo>
                <a:cubicBezTo>
                  <a:pt x="741680" y="236918"/>
                  <a:pt x="724599" y="254000"/>
                  <a:pt x="703580" y="254000"/>
                </a:cubicBezTo>
                <a:lnTo>
                  <a:pt x="38100" y="254000"/>
                </a:lnTo>
                <a:cubicBezTo>
                  <a:pt x="17081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D5DEE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bt-3-3"/>
          <p:cNvSpPr txBox="1"/>
          <p:nvPr/>
        </p:nvSpPr>
        <p:spPr>
          <a:xfrm>
            <a:off x="6384004" y="2934287"/>
            <a:ext cx="1859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18</a:t>
            </a:r>
          </a:p>
        </p:txBody>
      </p:sp>
      <p:sp>
        <p:nvSpPr>
          <p:cNvPr id="65" name="b-3-4"/>
          <p:cNvSpPr/>
          <p:nvPr/>
        </p:nvSpPr>
        <p:spPr>
          <a:xfrm>
            <a:off x="6860540" y="2882900"/>
            <a:ext cx="1747520" cy="254000"/>
          </a:xfrm>
          <a:custGeom>
            <a:avLst/>
            <a:gdLst/>
            <a:ahLst/>
            <a:cxnLst/>
            <a:rect l="0" t="0" r="r" b="b"/>
            <a:pathLst>
              <a:path w="1747520" h="254000">
                <a:moveTo>
                  <a:pt x="38100" y="0"/>
                </a:moveTo>
                <a:lnTo>
                  <a:pt x="1709420" y="0"/>
                </a:lnTo>
                <a:cubicBezTo>
                  <a:pt x="1730438" y="0"/>
                  <a:pt x="1747520" y="17081"/>
                  <a:pt x="1747520" y="38100"/>
                </a:cubicBezTo>
                <a:lnTo>
                  <a:pt x="1747520" y="215900"/>
                </a:lnTo>
                <a:cubicBezTo>
                  <a:pt x="1747520" y="236918"/>
                  <a:pt x="1730438" y="254000"/>
                  <a:pt x="1709420" y="254000"/>
                </a:cubicBezTo>
                <a:lnTo>
                  <a:pt x="38100" y="254000"/>
                </a:lnTo>
                <a:cubicBezTo>
                  <a:pt x="17081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1"/>
                  <a:pt x="17081" y="0"/>
                  <a:pt x="3810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bt-3-4"/>
          <p:cNvSpPr txBox="1"/>
          <p:nvPr/>
        </p:nvSpPr>
        <p:spPr>
          <a:xfrm>
            <a:off x="7641304" y="2934287"/>
            <a:ext cx="1859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42</a:t>
            </a:r>
          </a:p>
        </p:txBody>
      </p:sp>
      <p:sp>
        <p:nvSpPr>
          <p:cNvPr id="67" name="b-3-5"/>
          <p:cNvSpPr/>
          <p:nvPr/>
        </p:nvSpPr>
        <p:spPr>
          <a:xfrm>
            <a:off x="8620760" y="2882900"/>
            <a:ext cx="1244600" cy="254000"/>
          </a:xfrm>
          <a:custGeom>
            <a:avLst/>
            <a:gdLst/>
            <a:ahLst/>
            <a:cxnLst/>
            <a:rect l="0" t="0" r="r" b="b"/>
            <a:pathLst>
              <a:path w="1244600" h="254000">
                <a:moveTo>
                  <a:pt x="38100" y="0"/>
                </a:moveTo>
                <a:lnTo>
                  <a:pt x="1206500" y="0"/>
                </a:lnTo>
                <a:cubicBezTo>
                  <a:pt x="1227519" y="0"/>
                  <a:pt x="1244600" y="17081"/>
                  <a:pt x="1244600" y="38100"/>
                </a:cubicBezTo>
                <a:lnTo>
                  <a:pt x="1244600" y="215900"/>
                </a:lnTo>
                <a:cubicBezTo>
                  <a:pt x="1244600" y="236918"/>
                  <a:pt x="1227519" y="254000"/>
                  <a:pt x="1206500" y="254000"/>
                </a:cubicBezTo>
                <a:lnTo>
                  <a:pt x="38100" y="254000"/>
                </a:lnTo>
                <a:cubicBezTo>
                  <a:pt x="17082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bt-3-5"/>
          <p:cNvSpPr txBox="1"/>
          <p:nvPr/>
        </p:nvSpPr>
        <p:spPr>
          <a:xfrm>
            <a:off x="9150064" y="2934287"/>
            <a:ext cx="1859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30</a:t>
            </a:r>
          </a:p>
        </p:txBody>
      </p:sp>
      <p:sp>
        <p:nvSpPr>
          <p:cNvPr id="69" name="n-3"/>
          <p:cNvSpPr/>
          <p:nvPr/>
        </p:nvSpPr>
        <p:spPr>
          <a:xfrm>
            <a:off x="10350500" y="2882900"/>
            <a:ext cx="698500" cy="254000"/>
          </a:xfrm>
          <a:custGeom>
            <a:avLst/>
            <a:gdLst/>
            <a:ahLst/>
            <a:cxnLst/>
            <a:rect l="0" t="0" r="r" b="b"/>
            <a:pathLst>
              <a:path w="698500" h="254000">
                <a:moveTo>
                  <a:pt x="127000" y="0"/>
                </a:moveTo>
                <a:lnTo>
                  <a:pt x="571500" y="0"/>
                </a:lnTo>
                <a:cubicBezTo>
                  <a:pt x="641667" y="0"/>
                  <a:pt x="698500" y="56832"/>
                  <a:pt x="698500" y="127000"/>
                </a:cubicBezTo>
                <a:lnTo>
                  <a:pt x="698500" y="127000"/>
                </a:lnTo>
                <a:cubicBezTo>
                  <a:pt x="698500" y="197168"/>
                  <a:pt x="641667" y="254000"/>
                  <a:pt x="571500" y="254000"/>
                </a:cubicBezTo>
                <a:lnTo>
                  <a:pt x="127000" y="254000"/>
                </a:lnTo>
                <a:cubicBezTo>
                  <a:pt x="56833" y="254000"/>
                  <a:pt x="0" y="197168"/>
                  <a:pt x="0" y="127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nt-3"/>
          <p:cNvSpPr txBox="1"/>
          <p:nvPr/>
        </p:nvSpPr>
        <p:spPr>
          <a:xfrm>
            <a:off x="10535920" y="2897505"/>
            <a:ext cx="32766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+62</a:t>
            </a:r>
          </a:p>
        </p:txBody>
      </p:sp>
      <p:sp>
        <p:nvSpPr>
          <p:cNvPr id="71" name="q-4"/>
          <p:cNvSpPr txBox="1"/>
          <p:nvPr/>
        </p:nvSpPr>
        <p:spPr>
          <a:xfrm>
            <a:off x="2292096" y="3395790"/>
            <a:ext cx="127762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我的工作成果得到认可</a:t>
            </a:r>
          </a:p>
        </p:txBody>
      </p:sp>
      <p:sp>
        <p:nvSpPr>
          <p:cNvPr id="72" name="b-4-1"/>
          <p:cNvSpPr/>
          <p:nvPr/>
        </p:nvSpPr>
        <p:spPr>
          <a:xfrm>
            <a:off x="5184140" y="3365500"/>
            <a:ext cx="238760" cy="254000"/>
          </a:xfrm>
          <a:custGeom>
            <a:avLst/>
            <a:gdLst/>
            <a:ahLst/>
            <a:cxnLst/>
            <a:rect l="0" t="0" r="r" b="b"/>
            <a:pathLst>
              <a:path w="238760" h="254000">
                <a:moveTo>
                  <a:pt x="38100" y="0"/>
                </a:moveTo>
                <a:lnTo>
                  <a:pt x="200660" y="0"/>
                </a:lnTo>
                <a:cubicBezTo>
                  <a:pt x="221678" y="0"/>
                  <a:pt x="238760" y="17082"/>
                  <a:pt x="238760" y="38100"/>
                </a:cubicBezTo>
                <a:lnTo>
                  <a:pt x="238760" y="215900"/>
                </a:lnTo>
                <a:cubicBezTo>
                  <a:pt x="238760" y="236918"/>
                  <a:pt x="221678" y="254000"/>
                  <a:pt x="200660" y="254000"/>
                </a:cubicBezTo>
                <a:lnTo>
                  <a:pt x="38100" y="254000"/>
                </a:lnTo>
                <a:cubicBezTo>
                  <a:pt x="17082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b-4-2"/>
          <p:cNvSpPr/>
          <p:nvPr/>
        </p:nvSpPr>
        <p:spPr>
          <a:xfrm>
            <a:off x="5435600" y="3365500"/>
            <a:ext cx="574040" cy="254000"/>
          </a:xfrm>
          <a:custGeom>
            <a:avLst/>
            <a:gdLst/>
            <a:ahLst/>
            <a:cxnLst/>
            <a:rect l="0" t="0" r="r" b="b"/>
            <a:pathLst>
              <a:path w="574040" h="254000">
                <a:moveTo>
                  <a:pt x="38100" y="0"/>
                </a:moveTo>
                <a:lnTo>
                  <a:pt x="535940" y="0"/>
                </a:lnTo>
                <a:cubicBezTo>
                  <a:pt x="556959" y="0"/>
                  <a:pt x="574040" y="17082"/>
                  <a:pt x="574040" y="38100"/>
                </a:cubicBezTo>
                <a:lnTo>
                  <a:pt x="574040" y="215900"/>
                </a:lnTo>
                <a:cubicBezTo>
                  <a:pt x="574040" y="236918"/>
                  <a:pt x="556959" y="254000"/>
                  <a:pt x="535940" y="254000"/>
                </a:cubicBezTo>
                <a:lnTo>
                  <a:pt x="38100" y="254000"/>
                </a:lnTo>
                <a:cubicBezTo>
                  <a:pt x="17082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EDB0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bt-4-2"/>
          <p:cNvSpPr txBox="1"/>
          <p:nvPr/>
        </p:nvSpPr>
        <p:spPr>
          <a:xfrm>
            <a:off x="5629624" y="3416887"/>
            <a:ext cx="1859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14</a:t>
            </a:r>
          </a:p>
        </p:txBody>
      </p:sp>
      <p:sp>
        <p:nvSpPr>
          <p:cNvPr id="75" name="b-4-3"/>
          <p:cNvSpPr/>
          <p:nvPr/>
        </p:nvSpPr>
        <p:spPr>
          <a:xfrm>
            <a:off x="6022340" y="3365500"/>
            <a:ext cx="909320" cy="254000"/>
          </a:xfrm>
          <a:custGeom>
            <a:avLst/>
            <a:gdLst/>
            <a:ahLst/>
            <a:cxnLst/>
            <a:rect l="0" t="0" r="r" b="b"/>
            <a:pathLst>
              <a:path w="909320" h="254000">
                <a:moveTo>
                  <a:pt x="38100" y="0"/>
                </a:moveTo>
                <a:lnTo>
                  <a:pt x="871220" y="0"/>
                </a:lnTo>
                <a:cubicBezTo>
                  <a:pt x="892239" y="0"/>
                  <a:pt x="909320" y="17082"/>
                  <a:pt x="909320" y="38100"/>
                </a:cubicBezTo>
                <a:lnTo>
                  <a:pt x="909320" y="215900"/>
                </a:lnTo>
                <a:cubicBezTo>
                  <a:pt x="909320" y="236918"/>
                  <a:pt x="892239" y="254000"/>
                  <a:pt x="871220" y="254000"/>
                </a:cubicBezTo>
                <a:lnTo>
                  <a:pt x="38100" y="254000"/>
                </a:lnTo>
                <a:cubicBezTo>
                  <a:pt x="17082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D5DEE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bt-4-3"/>
          <p:cNvSpPr txBox="1"/>
          <p:nvPr/>
        </p:nvSpPr>
        <p:spPr>
          <a:xfrm>
            <a:off x="6384004" y="3416887"/>
            <a:ext cx="1859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22</a:t>
            </a:r>
          </a:p>
        </p:txBody>
      </p:sp>
      <p:sp>
        <p:nvSpPr>
          <p:cNvPr id="77" name="b-4-4"/>
          <p:cNvSpPr/>
          <p:nvPr/>
        </p:nvSpPr>
        <p:spPr>
          <a:xfrm>
            <a:off x="6944360" y="3365500"/>
            <a:ext cx="1663700" cy="254000"/>
          </a:xfrm>
          <a:custGeom>
            <a:avLst/>
            <a:gdLst/>
            <a:ahLst/>
            <a:cxnLst/>
            <a:rect l="0" t="0" r="r" b="b"/>
            <a:pathLst>
              <a:path w="1663700" h="254000">
                <a:moveTo>
                  <a:pt x="38100" y="0"/>
                </a:moveTo>
                <a:lnTo>
                  <a:pt x="1625600" y="0"/>
                </a:lnTo>
                <a:cubicBezTo>
                  <a:pt x="1646619" y="0"/>
                  <a:pt x="1663700" y="17082"/>
                  <a:pt x="1663700" y="38100"/>
                </a:cubicBezTo>
                <a:lnTo>
                  <a:pt x="1663700" y="215900"/>
                </a:lnTo>
                <a:cubicBezTo>
                  <a:pt x="1663700" y="236918"/>
                  <a:pt x="1646619" y="254000"/>
                  <a:pt x="1625600" y="254000"/>
                </a:cubicBezTo>
                <a:lnTo>
                  <a:pt x="38100" y="254000"/>
                </a:lnTo>
                <a:cubicBezTo>
                  <a:pt x="17082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bt-4-4"/>
          <p:cNvSpPr txBox="1"/>
          <p:nvPr/>
        </p:nvSpPr>
        <p:spPr>
          <a:xfrm>
            <a:off x="7683214" y="3416887"/>
            <a:ext cx="1859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40</a:t>
            </a:r>
          </a:p>
        </p:txBody>
      </p:sp>
      <p:sp>
        <p:nvSpPr>
          <p:cNvPr id="79" name="b-4-5"/>
          <p:cNvSpPr/>
          <p:nvPr/>
        </p:nvSpPr>
        <p:spPr>
          <a:xfrm>
            <a:off x="8620760" y="3365500"/>
            <a:ext cx="741680" cy="254000"/>
          </a:xfrm>
          <a:custGeom>
            <a:avLst/>
            <a:gdLst/>
            <a:ahLst/>
            <a:cxnLst/>
            <a:rect l="0" t="0" r="r" b="b"/>
            <a:pathLst>
              <a:path w="741680" h="254000">
                <a:moveTo>
                  <a:pt x="38100" y="0"/>
                </a:moveTo>
                <a:lnTo>
                  <a:pt x="703580" y="0"/>
                </a:lnTo>
                <a:cubicBezTo>
                  <a:pt x="724599" y="0"/>
                  <a:pt x="741680" y="17082"/>
                  <a:pt x="741680" y="38100"/>
                </a:cubicBezTo>
                <a:lnTo>
                  <a:pt x="741680" y="215900"/>
                </a:lnTo>
                <a:cubicBezTo>
                  <a:pt x="741680" y="236918"/>
                  <a:pt x="724599" y="254000"/>
                  <a:pt x="703580" y="254000"/>
                </a:cubicBezTo>
                <a:lnTo>
                  <a:pt x="38100" y="254000"/>
                </a:lnTo>
                <a:cubicBezTo>
                  <a:pt x="17082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bt-4-5"/>
          <p:cNvSpPr txBox="1"/>
          <p:nvPr/>
        </p:nvSpPr>
        <p:spPr>
          <a:xfrm>
            <a:off x="8898604" y="3416887"/>
            <a:ext cx="1859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18</a:t>
            </a:r>
          </a:p>
        </p:txBody>
      </p:sp>
      <p:sp>
        <p:nvSpPr>
          <p:cNvPr id="81" name="n-4"/>
          <p:cNvSpPr/>
          <p:nvPr/>
        </p:nvSpPr>
        <p:spPr>
          <a:xfrm>
            <a:off x="10350500" y="3365500"/>
            <a:ext cx="698500" cy="254000"/>
          </a:xfrm>
          <a:custGeom>
            <a:avLst/>
            <a:gdLst/>
            <a:ahLst/>
            <a:cxnLst/>
            <a:rect l="0" t="0" r="r" b="b"/>
            <a:pathLst>
              <a:path w="698500" h="254000">
                <a:moveTo>
                  <a:pt x="127000" y="0"/>
                </a:moveTo>
                <a:lnTo>
                  <a:pt x="571500" y="0"/>
                </a:lnTo>
                <a:cubicBezTo>
                  <a:pt x="641667" y="0"/>
                  <a:pt x="698500" y="56833"/>
                  <a:pt x="698500" y="127000"/>
                </a:cubicBezTo>
                <a:lnTo>
                  <a:pt x="698500" y="127000"/>
                </a:lnTo>
                <a:cubicBezTo>
                  <a:pt x="698500" y="197167"/>
                  <a:pt x="641667" y="254000"/>
                  <a:pt x="571500" y="254000"/>
                </a:cubicBezTo>
                <a:lnTo>
                  <a:pt x="127000" y="254000"/>
                </a:lnTo>
                <a:cubicBezTo>
                  <a:pt x="56833" y="254000"/>
                  <a:pt x="0" y="197167"/>
                  <a:pt x="0" y="127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nt-4"/>
          <p:cNvSpPr txBox="1"/>
          <p:nvPr/>
        </p:nvSpPr>
        <p:spPr>
          <a:xfrm>
            <a:off x="10535920" y="3380105"/>
            <a:ext cx="32766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+38</a:t>
            </a:r>
          </a:p>
        </p:txBody>
      </p:sp>
      <p:sp>
        <p:nvSpPr>
          <p:cNvPr id="83" name="q-5"/>
          <p:cNvSpPr txBox="1"/>
          <p:nvPr/>
        </p:nvSpPr>
        <p:spPr>
          <a:xfrm>
            <a:off x="2409571" y="3878390"/>
            <a:ext cx="1160145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培训与成长机会充足</a:t>
            </a:r>
          </a:p>
        </p:txBody>
      </p:sp>
      <p:sp>
        <p:nvSpPr>
          <p:cNvPr id="84" name="b-5-1"/>
          <p:cNvSpPr/>
          <p:nvPr/>
        </p:nvSpPr>
        <p:spPr>
          <a:xfrm>
            <a:off x="4681220" y="3848100"/>
            <a:ext cx="406400" cy="254000"/>
          </a:xfrm>
          <a:custGeom>
            <a:avLst/>
            <a:gdLst/>
            <a:ahLst/>
            <a:cxnLst/>
            <a:rect l="0" t="0" r="r" b="b"/>
            <a:pathLst>
              <a:path w="406400" h="254000">
                <a:moveTo>
                  <a:pt x="38100" y="0"/>
                </a:moveTo>
                <a:lnTo>
                  <a:pt x="368300" y="0"/>
                </a:lnTo>
                <a:cubicBezTo>
                  <a:pt x="389318" y="0"/>
                  <a:pt x="406400" y="17082"/>
                  <a:pt x="406400" y="38100"/>
                </a:cubicBezTo>
                <a:lnTo>
                  <a:pt x="406400" y="215900"/>
                </a:lnTo>
                <a:cubicBezTo>
                  <a:pt x="406400" y="236918"/>
                  <a:pt x="389318" y="254000"/>
                  <a:pt x="368300" y="254000"/>
                </a:cubicBezTo>
                <a:lnTo>
                  <a:pt x="38100" y="254000"/>
                </a:lnTo>
                <a:cubicBezTo>
                  <a:pt x="17081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bt-5-1"/>
          <p:cNvSpPr txBox="1"/>
          <p:nvPr/>
        </p:nvSpPr>
        <p:spPr>
          <a:xfrm>
            <a:off x="4791424" y="3899487"/>
            <a:ext cx="1859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10</a:t>
            </a:r>
          </a:p>
        </p:txBody>
      </p:sp>
      <p:sp>
        <p:nvSpPr>
          <p:cNvPr id="86" name="b-5-2"/>
          <p:cNvSpPr/>
          <p:nvPr/>
        </p:nvSpPr>
        <p:spPr>
          <a:xfrm>
            <a:off x="5100320" y="3848100"/>
            <a:ext cx="825500" cy="254000"/>
          </a:xfrm>
          <a:custGeom>
            <a:avLst/>
            <a:gdLst/>
            <a:ahLst/>
            <a:cxnLst/>
            <a:rect l="0" t="0" r="r" b="b"/>
            <a:pathLst>
              <a:path w="825500" h="254000">
                <a:moveTo>
                  <a:pt x="38100" y="0"/>
                </a:moveTo>
                <a:lnTo>
                  <a:pt x="787400" y="0"/>
                </a:lnTo>
                <a:cubicBezTo>
                  <a:pt x="808418" y="0"/>
                  <a:pt x="825500" y="17082"/>
                  <a:pt x="825500" y="38100"/>
                </a:cubicBezTo>
                <a:lnTo>
                  <a:pt x="825500" y="215900"/>
                </a:lnTo>
                <a:cubicBezTo>
                  <a:pt x="825500" y="236918"/>
                  <a:pt x="808418" y="254000"/>
                  <a:pt x="787400" y="254000"/>
                </a:cubicBezTo>
                <a:lnTo>
                  <a:pt x="38100" y="254000"/>
                </a:lnTo>
                <a:cubicBezTo>
                  <a:pt x="17081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EDB0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bt-5-2"/>
          <p:cNvSpPr txBox="1"/>
          <p:nvPr/>
        </p:nvSpPr>
        <p:spPr>
          <a:xfrm>
            <a:off x="5420074" y="3899487"/>
            <a:ext cx="1859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20</a:t>
            </a:r>
          </a:p>
        </p:txBody>
      </p:sp>
      <p:sp>
        <p:nvSpPr>
          <p:cNvPr id="88" name="b-5-3"/>
          <p:cNvSpPr/>
          <p:nvPr/>
        </p:nvSpPr>
        <p:spPr>
          <a:xfrm>
            <a:off x="5938520" y="3848100"/>
            <a:ext cx="1076960" cy="254000"/>
          </a:xfrm>
          <a:custGeom>
            <a:avLst/>
            <a:gdLst/>
            <a:ahLst/>
            <a:cxnLst/>
            <a:rect l="0" t="0" r="r" b="b"/>
            <a:pathLst>
              <a:path w="1076960" h="254000">
                <a:moveTo>
                  <a:pt x="38100" y="0"/>
                </a:moveTo>
                <a:lnTo>
                  <a:pt x="1038860" y="0"/>
                </a:lnTo>
                <a:cubicBezTo>
                  <a:pt x="1059878" y="0"/>
                  <a:pt x="1076960" y="17082"/>
                  <a:pt x="1076960" y="38100"/>
                </a:cubicBezTo>
                <a:lnTo>
                  <a:pt x="1076960" y="215900"/>
                </a:lnTo>
                <a:cubicBezTo>
                  <a:pt x="1076960" y="236918"/>
                  <a:pt x="1059878" y="254000"/>
                  <a:pt x="1038860" y="254000"/>
                </a:cubicBezTo>
                <a:lnTo>
                  <a:pt x="38100" y="254000"/>
                </a:lnTo>
                <a:cubicBezTo>
                  <a:pt x="17081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D5DEE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bt-5-3"/>
          <p:cNvSpPr txBox="1"/>
          <p:nvPr/>
        </p:nvSpPr>
        <p:spPr>
          <a:xfrm>
            <a:off x="6384004" y="3899487"/>
            <a:ext cx="1859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26</a:t>
            </a:r>
          </a:p>
        </p:txBody>
      </p:sp>
      <p:sp>
        <p:nvSpPr>
          <p:cNvPr id="90" name="b-5-4"/>
          <p:cNvSpPr/>
          <p:nvPr/>
        </p:nvSpPr>
        <p:spPr>
          <a:xfrm>
            <a:off x="7028180" y="3848100"/>
            <a:ext cx="1328420" cy="254000"/>
          </a:xfrm>
          <a:custGeom>
            <a:avLst/>
            <a:gdLst/>
            <a:ahLst/>
            <a:cxnLst/>
            <a:rect l="0" t="0" r="r" b="b"/>
            <a:pathLst>
              <a:path w="1328420" h="254000">
                <a:moveTo>
                  <a:pt x="38100" y="0"/>
                </a:moveTo>
                <a:lnTo>
                  <a:pt x="1290320" y="0"/>
                </a:lnTo>
                <a:cubicBezTo>
                  <a:pt x="1311338" y="0"/>
                  <a:pt x="1328420" y="17082"/>
                  <a:pt x="1328420" y="38100"/>
                </a:cubicBezTo>
                <a:lnTo>
                  <a:pt x="1328420" y="215900"/>
                </a:lnTo>
                <a:cubicBezTo>
                  <a:pt x="1328420" y="236918"/>
                  <a:pt x="1311338" y="254000"/>
                  <a:pt x="1290320" y="254000"/>
                </a:cubicBezTo>
                <a:lnTo>
                  <a:pt x="38100" y="254000"/>
                </a:lnTo>
                <a:cubicBezTo>
                  <a:pt x="17082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bt-5-4"/>
          <p:cNvSpPr txBox="1"/>
          <p:nvPr/>
        </p:nvSpPr>
        <p:spPr>
          <a:xfrm>
            <a:off x="7599394" y="3899487"/>
            <a:ext cx="1859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32</a:t>
            </a:r>
          </a:p>
        </p:txBody>
      </p:sp>
      <p:sp>
        <p:nvSpPr>
          <p:cNvPr id="92" name="b-5-5"/>
          <p:cNvSpPr/>
          <p:nvPr/>
        </p:nvSpPr>
        <p:spPr>
          <a:xfrm>
            <a:off x="8369300" y="3848100"/>
            <a:ext cx="490220" cy="254000"/>
          </a:xfrm>
          <a:custGeom>
            <a:avLst/>
            <a:gdLst/>
            <a:ahLst/>
            <a:cxnLst/>
            <a:rect l="0" t="0" r="r" b="b"/>
            <a:pathLst>
              <a:path w="490220" h="254000">
                <a:moveTo>
                  <a:pt x="38100" y="0"/>
                </a:moveTo>
                <a:lnTo>
                  <a:pt x="452120" y="0"/>
                </a:lnTo>
                <a:cubicBezTo>
                  <a:pt x="473138" y="0"/>
                  <a:pt x="490220" y="17082"/>
                  <a:pt x="490220" y="38100"/>
                </a:cubicBezTo>
                <a:lnTo>
                  <a:pt x="490220" y="215900"/>
                </a:lnTo>
                <a:cubicBezTo>
                  <a:pt x="490220" y="236918"/>
                  <a:pt x="473138" y="254000"/>
                  <a:pt x="452120" y="254000"/>
                </a:cubicBezTo>
                <a:lnTo>
                  <a:pt x="38100" y="254000"/>
                </a:lnTo>
                <a:cubicBezTo>
                  <a:pt x="17082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bt-5-5"/>
          <p:cNvSpPr txBox="1"/>
          <p:nvPr/>
        </p:nvSpPr>
        <p:spPr>
          <a:xfrm>
            <a:off x="8521414" y="3899487"/>
            <a:ext cx="1859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12</a:t>
            </a:r>
          </a:p>
        </p:txBody>
      </p:sp>
      <p:sp>
        <p:nvSpPr>
          <p:cNvPr id="94" name="n-5"/>
          <p:cNvSpPr/>
          <p:nvPr/>
        </p:nvSpPr>
        <p:spPr>
          <a:xfrm>
            <a:off x="10350500" y="3848100"/>
            <a:ext cx="698500" cy="254000"/>
          </a:xfrm>
          <a:custGeom>
            <a:avLst/>
            <a:gdLst/>
            <a:ahLst/>
            <a:cxnLst/>
            <a:rect l="0" t="0" r="r" b="b"/>
            <a:pathLst>
              <a:path w="698500" h="254000">
                <a:moveTo>
                  <a:pt x="127000" y="0"/>
                </a:moveTo>
                <a:lnTo>
                  <a:pt x="571500" y="0"/>
                </a:lnTo>
                <a:cubicBezTo>
                  <a:pt x="641667" y="0"/>
                  <a:pt x="698500" y="56833"/>
                  <a:pt x="698500" y="127000"/>
                </a:cubicBezTo>
                <a:lnTo>
                  <a:pt x="698500" y="127000"/>
                </a:lnTo>
                <a:cubicBezTo>
                  <a:pt x="698500" y="197167"/>
                  <a:pt x="641667" y="254000"/>
                  <a:pt x="571500" y="254000"/>
                </a:cubicBezTo>
                <a:lnTo>
                  <a:pt x="127000" y="254000"/>
                </a:lnTo>
                <a:cubicBezTo>
                  <a:pt x="56833" y="254000"/>
                  <a:pt x="0" y="197167"/>
                  <a:pt x="0" y="127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nt-5"/>
          <p:cNvSpPr txBox="1"/>
          <p:nvPr/>
        </p:nvSpPr>
        <p:spPr>
          <a:xfrm>
            <a:off x="10535920" y="3862705"/>
            <a:ext cx="32766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+14</a:t>
            </a:r>
          </a:p>
        </p:txBody>
      </p:sp>
      <p:sp>
        <p:nvSpPr>
          <p:cNvPr id="96" name="q-6"/>
          <p:cNvSpPr txBox="1"/>
          <p:nvPr/>
        </p:nvSpPr>
        <p:spPr>
          <a:xfrm>
            <a:off x="2644521" y="4360990"/>
            <a:ext cx="925195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跨部门协作顺畅</a:t>
            </a:r>
          </a:p>
        </p:txBody>
      </p:sp>
      <p:sp>
        <p:nvSpPr>
          <p:cNvPr id="97" name="b-6-1"/>
          <p:cNvSpPr/>
          <p:nvPr/>
        </p:nvSpPr>
        <p:spPr>
          <a:xfrm>
            <a:off x="4387850" y="4330700"/>
            <a:ext cx="490220" cy="254000"/>
          </a:xfrm>
          <a:custGeom>
            <a:avLst/>
            <a:gdLst/>
            <a:ahLst/>
            <a:cxnLst/>
            <a:rect l="0" t="0" r="r" b="b"/>
            <a:pathLst>
              <a:path w="490220" h="254000">
                <a:moveTo>
                  <a:pt x="38100" y="0"/>
                </a:moveTo>
                <a:lnTo>
                  <a:pt x="452120" y="0"/>
                </a:lnTo>
                <a:cubicBezTo>
                  <a:pt x="473138" y="0"/>
                  <a:pt x="490220" y="17082"/>
                  <a:pt x="490220" y="38100"/>
                </a:cubicBezTo>
                <a:lnTo>
                  <a:pt x="490220" y="215900"/>
                </a:lnTo>
                <a:cubicBezTo>
                  <a:pt x="490220" y="236918"/>
                  <a:pt x="473138" y="254000"/>
                  <a:pt x="452120" y="254000"/>
                </a:cubicBezTo>
                <a:lnTo>
                  <a:pt x="38100" y="254000"/>
                </a:lnTo>
                <a:cubicBezTo>
                  <a:pt x="17082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bt-6-1"/>
          <p:cNvSpPr txBox="1"/>
          <p:nvPr/>
        </p:nvSpPr>
        <p:spPr>
          <a:xfrm>
            <a:off x="4539964" y="4382087"/>
            <a:ext cx="1859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12</a:t>
            </a:r>
          </a:p>
        </p:txBody>
      </p:sp>
      <p:sp>
        <p:nvSpPr>
          <p:cNvPr id="99" name="b-6-2"/>
          <p:cNvSpPr/>
          <p:nvPr/>
        </p:nvSpPr>
        <p:spPr>
          <a:xfrm>
            <a:off x="4890770" y="4330700"/>
            <a:ext cx="993140" cy="254000"/>
          </a:xfrm>
          <a:custGeom>
            <a:avLst/>
            <a:gdLst/>
            <a:ahLst/>
            <a:cxnLst/>
            <a:rect l="0" t="0" r="r" b="b"/>
            <a:pathLst>
              <a:path w="993140" h="254000">
                <a:moveTo>
                  <a:pt x="38100" y="0"/>
                </a:moveTo>
                <a:lnTo>
                  <a:pt x="955040" y="0"/>
                </a:lnTo>
                <a:cubicBezTo>
                  <a:pt x="976058" y="0"/>
                  <a:pt x="993140" y="17082"/>
                  <a:pt x="993140" y="38100"/>
                </a:cubicBezTo>
                <a:lnTo>
                  <a:pt x="993140" y="215900"/>
                </a:lnTo>
                <a:cubicBezTo>
                  <a:pt x="993140" y="236918"/>
                  <a:pt x="976058" y="254000"/>
                  <a:pt x="955040" y="254000"/>
                </a:cubicBezTo>
                <a:lnTo>
                  <a:pt x="38100" y="254000"/>
                </a:lnTo>
                <a:cubicBezTo>
                  <a:pt x="17081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EDB0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bt-6-2"/>
          <p:cNvSpPr txBox="1"/>
          <p:nvPr/>
        </p:nvSpPr>
        <p:spPr>
          <a:xfrm>
            <a:off x="5294344" y="4382087"/>
            <a:ext cx="1859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24</a:t>
            </a:r>
          </a:p>
        </p:txBody>
      </p:sp>
      <p:sp>
        <p:nvSpPr>
          <p:cNvPr id="101" name="b-6-3"/>
          <p:cNvSpPr/>
          <p:nvPr/>
        </p:nvSpPr>
        <p:spPr>
          <a:xfrm>
            <a:off x="5896610" y="4330700"/>
            <a:ext cx="1160780" cy="254000"/>
          </a:xfrm>
          <a:custGeom>
            <a:avLst/>
            <a:gdLst/>
            <a:ahLst/>
            <a:cxnLst/>
            <a:rect l="0" t="0" r="r" b="b"/>
            <a:pathLst>
              <a:path w="1160780" h="254000">
                <a:moveTo>
                  <a:pt x="38100" y="0"/>
                </a:moveTo>
                <a:lnTo>
                  <a:pt x="1122680" y="0"/>
                </a:lnTo>
                <a:cubicBezTo>
                  <a:pt x="1143698" y="0"/>
                  <a:pt x="1160780" y="17082"/>
                  <a:pt x="1160780" y="38100"/>
                </a:cubicBezTo>
                <a:lnTo>
                  <a:pt x="1160780" y="215900"/>
                </a:lnTo>
                <a:cubicBezTo>
                  <a:pt x="1160780" y="236918"/>
                  <a:pt x="1143698" y="254000"/>
                  <a:pt x="1122680" y="254000"/>
                </a:cubicBezTo>
                <a:lnTo>
                  <a:pt x="38100" y="254000"/>
                </a:lnTo>
                <a:cubicBezTo>
                  <a:pt x="17081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D5DEE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2" name="bt-6-3"/>
          <p:cNvSpPr txBox="1"/>
          <p:nvPr/>
        </p:nvSpPr>
        <p:spPr>
          <a:xfrm>
            <a:off x="6384004" y="4382087"/>
            <a:ext cx="1859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28</a:t>
            </a:r>
          </a:p>
        </p:txBody>
      </p:sp>
      <p:sp>
        <p:nvSpPr>
          <p:cNvPr id="103" name="b-6-4"/>
          <p:cNvSpPr/>
          <p:nvPr/>
        </p:nvSpPr>
        <p:spPr>
          <a:xfrm>
            <a:off x="7070090" y="4330700"/>
            <a:ext cx="1160780" cy="254000"/>
          </a:xfrm>
          <a:custGeom>
            <a:avLst/>
            <a:gdLst/>
            <a:ahLst/>
            <a:cxnLst/>
            <a:rect l="0" t="0" r="r" b="b"/>
            <a:pathLst>
              <a:path w="1160780" h="254000">
                <a:moveTo>
                  <a:pt x="38100" y="0"/>
                </a:moveTo>
                <a:lnTo>
                  <a:pt x="1122680" y="0"/>
                </a:lnTo>
                <a:cubicBezTo>
                  <a:pt x="1143698" y="0"/>
                  <a:pt x="1160780" y="17082"/>
                  <a:pt x="1160780" y="38100"/>
                </a:cubicBezTo>
                <a:lnTo>
                  <a:pt x="1160780" y="215900"/>
                </a:lnTo>
                <a:cubicBezTo>
                  <a:pt x="1160780" y="236918"/>
                  <a:pt x="1143698" y="254000"/>
                  <a:pt x="1122680" y="254000"/>
                </a:cubicBezTo>
                <a:lnTo>
                  <a:pt x="38100" y="254000"/>
                </a:lnTo>
                <a:cubicBezTo>
                  <a:pt x="17081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4" name="bt-6-4"/>
          <p:cNvSpPr txBox="1"/>
          <p:nvPr/>
        </p:nvSpPr>
        <p:spPr>
          <a:xfrm>
            <a:off x="7557484" y="4382087"/>
            <a:ext cx="1859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28</a:t>
            </a:r>
          </a:p>
        </p:txBody>
      </p:sp>
      <p:sp>
        <p:nvSpPr>
          <p:cNvPr id="105" name="b-6-5"/>
          <p:cNvSpPr/>
          <p:nvPr/>
        </p:nvSpPr>
        <p:spPr>
          <a:xfrm>
            <a:off x="8243570" y="4330700"/>
            <a:ext cx="322580" cy="254000"/>
          </a:xfrm>
          <a:custGeom>
            <a:avLst/>
            <a:gdLst/>
            <a:ahLst/>
            <a:cxnLst/>
            <a:rect l="0" t="0" r="r" b="b"/>
            <a:pathLst>
              <a:path w="322580" h="254000">
                <a:moveTo>
                  <a:pt x="38100" y="0"/>
                </a:moveTo>
                <a:lnTo>
                  <a:pt x="284480" y="0"/>
                </a:lnTo>
                <a:cubicBezTo>
                  <a:pt x="305498" y="0"/>
                  <a:pt x="322580" y="17082"/>
                  <a:pt x="322580" y="38100"/>
                </a:cubicBezTo>
                <a:lnTo>
                  <a:pt x="322580" y="215900"/>
                </a:lnTo>
                <a:cubicBezTo>
                  <a:pt x="322580" y="236918"/>
                  <a:pt x="305498" y="254000"/>
                  <a:pt x="284480" y="254000"/>
                </a:cubicBezTo>
                <a:lnTo>
                  <a:pt x="38100" y="254000"/>
                </a:lnTo>
                <a:cubicBezTo>
                  <a:pt x="17082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6" name="bt-6-5"/>
          <p:cNvSpPr txBox="1"/>
          <p:nvPr/>
        </p:nvSpPr>
        <p:spPr>
          <a:xfrm>
            <a:off x="8337645" y="4382087"/>
            <a:ext cx="13443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8</a:t>
            </a:r>
          </a:p>
        </p:txBody>
      </p:sp>
      <p:sp>
        <p:nvSpPr>
          <p:cNvPr id="107" name="n-6"/>
          <p:cNvSpPr/>
          <p:nvPr/>
        </p:nvSpPr>
        <p:spPr>
          <a:xfrm>
            <a:off x="10350500" y="4330700"/>
            <a:ext cx="698500" cy="254000"/>
          </a:xfrm>
          <a:custGeom>
            <a:avLst/>
            <a:gdLst/>
            <a:ahLst/>
            <a:cxnLst/>
            <a:rect l="0" t="0" r="r" b="b"/>
            <a:pathLst>
              <a:path w="698500" h="254000">
                <a:moveTo>
                  <a:pt x="127000" y="0"/>
                </a:moveTo>
                <a:lnTo>
                  <a:pt x="571500" y="0"/>
                </a:lnTo>
                <a:cubicBezTo>
                  <a:pt x="641667" y="0"/>
                  <a:pt x="698500" y="56833"/>
                  <a:pt x="698500" y="127000"/>
                </a:cubicBezTo>
                <a:lnTo>
                  <a:pt x="698500" y="127000"/>
                </a:lnTo>
                <a:cubicBezTo>
                  <a:pt x="698500" y="197167"/>
                  <a:pt x="641667" y="254000"/>
                  <a:pt x="571500" y="254000"/>
                </a:cubicBezTo>
                <a:lnTo>
                  <a:pt x="127000" y="254000"/>
                </a:lnTo>
                <a:cubicBezTo>
                  <a:pt x="56833" y="254000"/>
                  <a:pt x="0" y="197167"/>
                  <a:pt x="0" y="127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8" name="nt-6"/>
          <p:cNvSpPr txBox="1"/>
          <p:nvPr/>
        </p:nvSpPr>
        <p:spPr>
          <a:xfrm>
            <a:off x="10607040" y="4345305"/>
            <a:ext cx="18542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0</a:t>
            </a:r>
          </a:p>
        </p:txBody>
      </p:sp>
      <p:sp>
        <p:nvSpPr>
          <p:cNvPr id="109" name="q-7"/>
          <p:cNvSpPr txBox="1"/>
          <p:nvPr/>
        </p:nvSpPr>
        <p:spPr>
          <a:xfrm>
            <a:off x="2409571" y="4843590"/>
            <a:ext cx="1160145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薪酬具有市场竞争力</a:t>
            </a:r>
          </a:p>
        </p:txBody>
      </p:sp>
      <p:sp>
        <p:nvSpPr>
          <p:cNvPr id="110" name="b-7-1"/>
          <p:cNvSpPr/>
          <p:nvPr/>
        </p:nvSpPr>
        <p:spPr>
          <a:xfrm>
            <a:off x="4304030" y="4813300"/>
            <a:ext cx="574040" cy="254000"/>
          </a:xfrm>
          <a:custGeom>
            <a:avLst/>
            <a:gdLst/>
            <a:ahLst/>
            <a:cxnLst/>
            <a:rect l="0" t="0" r="r" b="b"/>
            <a:pathLst>
              <a:path w="574040" h="254000">
                <a:moveTo>
                  <a:pt x="38100" y="0"/>
                </a:moveTo>
                <a:lnTo>
                  <a:pt x="535940" y="0"/>
                </a:lnTo>
                <a:cubicBezTo>
                  <a:pt x="556959" y="0"/>
                  <a:pt x="574040" y="17082"/>
                  <a:pt x="574040" y="38100"/>
                </a:cubicBezTo>
                <a:lnTo>
                  <a:pt x="574040" y="215900"/>
                </a:lnTo>
                <a:cubicBezTo>
                  <a:pt x="574040" y="236918"/>
                  <a:pt x="556959" y="254000"/>
                  <a:pt x="535940" y="254000"/>
                </a:cubicBezTo>
                <a:lnTo>
                  <a:pt x="38100" y="254000"/>
                </a:lnTo>
                <a:cubicBezTo>
                  <a:pt x="17082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1" name="bt-7-1"/>
          <p:cNvSpPr txBox="1"/>
          <p:nvPr/>
        </p:nvSpPr>
        <p:spPr>
          <a:xfrm>
            <a:off x="4498054" y="4864687"/>
            <a:ext cx="1859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14</a:t>
            </a:r>
          </a:p>
        </p:txBody>
      </p:sp>
      <p:sp>
        <p:nvSpPr>
          <p:cNvPr id="112" name="b-7-2"/>
          <p:cNvSpPr/>
          <p:nvPr/>
        </p:nvSpPr>
        <p:spPr>
          <a:xfrm>
            <a:off x="4890770" y="4813300"/>
            <a:ext cx="1076960" cy="254000"/>
          </a:xfrm>
          <a:custGeom>
            <a:avLst/>
            <a:gdLst/>
            <a:ahLst/>
            <a:cxnLst/>
            <a:rect l="0" t="0" r="r" b="b"/>
            <a:pathLst>
              <a:path w="1076960" h="254000">
                <a:moveTo>
                  <a:pt x="38100" y="0"/>
                </a:moveTo>
                <a:lnTo>
                  <a:pt x="1038860" y="0"/>
                </a:lnTo>
                <a:cubicBezTo>
                  <a:pt x="1059878" y="0"/>
                  <a:pt x="1076960" y="17082"/>
                  <a:pt x="1076960" y="38100"/>
                </a:cubicBezTo>
                <a:lnTo>
                  <a:pt x="1076960" y="215900"/>
                </a:lnTo>
                <a:cubicBezTo>
                  <a:pt x="1076960" y="236918"/>
                  <a:pt x="1059878" y="254000"/>
                  <a:pt x="1038860" y="254000"/>
                </a:cubicBezTo>
                <a:lnTo>
                  <a:pt x="38100" y="254000"/>
                </a:lnTo>
                <a:cubicBezTo>
                  <a:pt x="17081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2"/>
                  <a:pt x="17081" y="0"/>
                  <a:pt x="38100" y="0"/>
                </a:cubicBezTo>
                <a:close/>
              </a:path>
            </a:pathLst>
          </a:custGeom>
          <a:solidFill>
            <a:srgbClr val="EDB0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3" name="bt-7-2"/>
          <p:cNvSpPr txBox="1"/>
          <p:nvPr/>
        </p:nvSpPr>
        <p:spPr>
          <a:xfrm>
            <a:off x="5336254" y="4864687"/>
            <a:ext cx="1859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26</a:t>
            </a:r>
          </a:p>
        </p:txBody>
      </p:sp>
      <p:sp>
        <p:nvSpPr>
          <p:cNvPr id="114" name="b-7-3"/>
          <p:cNvSpPr/>
          <p:nvPr/>
        </p:nvSpPr>
        <p:spPr>
          <a:xfrm>
            <a:off x="5980430" y="4813300"/>
            <a:ext cx="993140" cy="254000"/>
          </a:xfrm>
          <a:custGeom>
            <a:avLst/>
            <a:gdLst/>
            <a:ahLst/>
            <a:cxnLst/>
            <a:rect l="0" t="0" r="r" b="b"/>
            <a:pathLst>
              <a:path w="993140" h="254000">
                <a:moveTo>
                  <a:pt x="38100" y="0"/>
                </a:moveTo>
                <a:lnTo>
                  <a:pt x="955040" y="0"/>
                </a:lnTo>
                <a:cubicBezTo>
                  <a:pt x="976059" y="0"/>
                  <a:pt x="993140" y="17082"/>
                  <a:pt x="993140" y="38100"/>
                </a:cubicBezTo>
                <a:lnTo>
                  <a:pt x="993140" y="215900"/>
                </a:lnTo>
                <a:cubicBezTo>
                  <a:pt x="993140" y="236918"/>
                  <a:pt x="976059" y="254000"/>
                  <a:pt x="955040" y="254000"/>
                </a:cubicBezTo>
                <a:lnTo>
                  <a:pt x="38100" y="254000"/>
                </a:lnTo>
                <a:cubicBezTo>
                  <a:pt x="17082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D5DEE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5" name="bt-7-3"/>
          <p:cNvSpPr txBox="1"/>
          <p:nvPr/>
        </p:nvSpPr>
        <p:spPr>
          <a:xfrm>
            <a:off x="6384004" y="4864687"/>
            <a:ext cx="1859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24</a:t>
            </a:r>
          </a:p>
        </p:txBody>
      </p:sp>
      <p:sp>
        <p:nvSpPr>
          <p:cNvPr id="116" name="b-7-4"/>
          <p:cNvSpPr/>
          <p:nvPr/>
        </p:nvSpPr>
        <p:spPr>
          <a:xfrm>
            <a:off x="6986270" y="4813300"/>
            <a:ext cx="1160780" cy="254000"/>
          </a:xfrm>
          <a:custGeom>
            <a:avLst/>
            <a:gdLst/>
            <a:ahLst/>
            <a:cxnLst/>
            <a:rect l="0" t="0" r="r" b="b"/>
            <a:pathLst>
              <a:path w="1160780" h="254000">
                <a:moveTo>
                  <a:pt x="38100" y="0"/>
                </a:moveTo>
                <a:lnTo>
                  <a:pt x="1122680" y="0"/>
                </a:lnTo>
                <a:cubicBezTo>
                  <a:pt x="1143698" y="0"/>
                  <a:pt x="1160780" y="17082"/>
                  <a:pt x="1160780" y="38100"/>
                </a:cubicBezTo>
                <a:lnTo>
                  <a:pt x="1160780" y="215900"/>
                </a:lnTo>
                <a:cubicBezTo>
                  <a:pt x="1160780" y="236918"/>
                  <a:pt x="1143698" y="254000"/>
                  <a:pt x="1122680" y="254000"/>
                </a:cubicBezTo>
                <a:lnTo>
                  <a:pt x="38100" y="254000"/>
                </a:lnTo>
                <a:cubicBezTo>
                  <a:pt x="17082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7" name="bt-7-4"/>
          <p:cNvSpPr txBox="1"/>
          <p:nvPr/>
        </p:nvSpPr>
        <p:spPr>
          <a:xfrm>
            <a:off x="7473664" y="4864687"/>
            <a:ext cx="1859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28</a:t>
            </a:r>
          </a:p>
        </p:txBody>
      </p:sp>
      <p:sp>
        <p:nvSpPr>
          <p:cNvPr id="118" name="b-7-5"/>
          <p:cNvSpPr/>
          <p:nvPr/>
        </p:nvSpPr>
        <p:spPr>
          <a:xfrm>
            <a:off x="8159750" y="4813300"/>
            <a:ext cx="322580" cy="254000"/>
          </a:xfrm>
          <a:custGeom>
            <a:avLst/>
            <a:gdLst/>
            <a:ahLst/>
            <a:cxnLst/>
            <a:rect l="0" t="0" r="r" b="b"/>
            <a:pathLst>
              <a:path w="322580" h="254000">
                <a:moveTo>
                  <a:pt x="38100" y="0"/>
                </a:moveTo>
                <a:lnTo>
                  <a:pt x="284480" y="0"/>
                </a:lnTo>
                <a:cubicBezTo>
                  <a:pt x="305498" y="0"/>
                  <a:pt x="322580" y="17082"/>
                  <a:pt x="322580" y="38100"/>
                </a:cubicBezTo>
                <a:lnTo>
                  <a:pt x="322580" y="215900"/>
                </a:lnTo>
                <a:cubicBezTo>
                  <a:pt x="322580" y="236918"/>
                  <a:pt x="305498" y="254000"/>
                  <a:pt x="284480" y="254000"/>
                </a:cubicBezTo>
                <a:lnTo>
                  <a:pt x="38100" y="254000"/>
                </a:lnTo>
                <a:cubicBezTo>
                  <a:pt x="17082" y="254000"/>
                  <a:pt x="0" y="236918"/>
                  <a:pt x="0" y="2159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9" name="bt-7-5"/>
          <p:cNvSpPr txBox="1"/>
          <p:nvPr/>
        </p:nvSpPr>
        <p:spPr>
          <a:xfrm>
            <a:off x="8253825" y="4864687"/>
            <a:ext cx="13443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8</a:t>
            </a:r>
          </a:p>
        </p:txBody>
      </p:sp>
      <p:sp>
        <p:nvSpPr>
          <p:cNvPr id="120" name="n-7"/>
          <p:cNvSpPr/>
          <p:nvPr/>
        </p:nvSpPr>
        <p:spPr>
          <a:xfrm>
            <a:off x="10350500" y="4813300"/>
            <a:ext cx="698500" cy="254000"/>
          </a:xfrm>
          <a:custGeom>
            <a:avLst/>
            <a:gdLst/>
            <a:ahLst/>
            <a:cxnLst/>
            <a:rect l="0" t="0" r="r" b="b"/>
            <a:pathLst>
              <a:path w="698500" h="254000">
                <a:moveTo>
                  <a:pt x="127000" y="0"/>
                </a:moveTo>
                <a:lnTo>
                  <a:pt x="571500" y="0"/>
                </a:lnTo>
                <a:cubicBezTo>
                  <a:pt x="641667" y="0"/>
                  <a:pt x="698500" y="56833"/>
                  <a:pt x="698500" y="127000"/>
                </a:cubicBezTo>
                <a:lnTo>
                  <a:pt x="698500" y="127000"/>
                </a:lnTo>
                <a:cubicBezTo>
                  <a:pt x="698500" y="197167"/>
                  <a:pt x="641667" y="254000"/>
                  <a:pt x="571500" y="254000"/>
                </a:cubicBezTo>
                <a:lnTo>
                  <a:pt x="127000" y="254000"/>
                </a:lnTo>
                <a:cubicBezTo>
                  <a:pt x="56833" y="254000"/>
                  <a:pt x="0" y="197167"/>
                  <a:pt x="0" y="127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1" name="nt-7"/>
          <p:cNvSpPr txBox="1"/>
          <p:nvPr/>
        </p:nvSpPr>
        <p:spPr>
          <a:xfrm>
            <a:off x="10571480" y="4827905"/>
            <a:ext cx="2565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-4</a:t>
            </a:r>
          </a:p>
        </p:txBody>
      </p:sp>
      <p:sp>
        <p:nvSpPr>
          <p:cNvPr id="122" name="sum"/>
          <p:cNvSpPr/>
          <p:nvPr/>
        </p:nvSpPr>
        <p:spPr>
          <a:xfrm>
            <a:off x="952500" y="5715000"/>
            <a:ext cx="10287000" cy="533400"/>
          </a:xfrm>
          <a:custGeom>
            <a:avLst/>
            <a:gdLst/>
            <a:ahLst/>
            <a:cxnLst/>
            <a:rect l="0" t="0" r="r" b="b"/>
            <a:pathLst>
              <a:path w="10287000" h="5334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31800"/>
                </a:lnTo>
                <a:cubicBezTo>
                  <a:pt x="10287000" y="487934"/>
                  <a:pt x="10241534" y="533400"/>
                  <a:pt x="10185400" y="533400"/>
                </a:cubicBezTo>
                <a:lnTo>
                  <a:pt x="101600" y="533400"/>
                </a:lnTo>
                <a:cubicBezTo>
                  <a:pt x="45466" y="533400"/>
                  <a:pt x="0" y="487934"/>
                  <a:pt x="0" y="431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3" name="sum-bar"/>
          <p:cNvSpPr/>
          <p:nvPr/>
        </p:nvSpPr>
        <p:spPr>
          <a:xfrm>
            <a:off x="952500" y="57150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4" name="sum-h"/>
          <p:cNvSpPr txBox="1"/>
          <p:nvPr/>
        </p:nvSpPr>
        <p:spPr>
          <a:xfrm>
            <a:off x="1141222" y="5883497"/>
            <a:ext cx="641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调研结论</a:t>
            </a:r>
          </a:p>
        </p:txBody>
      </p:sp>
      <p:sp>
        <p:nvSpPr>
          <p:cNvPr id="125" name="sum-p"/>
          <p:cNvSpPr txBox="1"/>
          <p:nvPr/>
        </p:nvSpPr>
        <p:spPr>
          <a:xfrm>
            <a:off x="1891665" y="5895261"/>
            <a:ext cx="600932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方向感与上级支持很强；薪酬竞争力净认同为负、跨部门协作为零，是明年组织改进的两个重点。（样本 1,284 人）</a:t>
            </a:r>
          </a:p>
        </p:txBody>
      </p:sp>
      <p:cxnSp>
        <p:nvCxnSpPr>
          <p:cNvPr id="126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7" name="foot-l"/>
          <p:cNvSpPr txBox="1"/>
          <p:nvPr/>
        </p:nvSpPr>
        <p:spPr>
          <a:xfrm>
            <a:off x="573532" y="6532308"/>
            <a:ext cx="124218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李克特发散图 · 七个题目</a:t>
            </a:r>
          </a:p>
        </p:txBody>
      </p:sp>
      <p:sp>
        <p:nvSpPr>
          <p:cNvPr id="128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铝锭月度价格走势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62801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CANDLESTICK CHART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189595" y="673132"/>
            <a:ext cx="34311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实体是开盘到收盘，细线是当月最高与最低——下半年波动明显放大</a:t>
            </a:r>
          </a:p>
        </p:txBody>
      </p:sp>
      <p:cxnSp>
        <p:nvCxnSpPr>
          <p:cNvPr id="10" name="g-180"/>
          <p:cNvCxnSpPr/>
          <p:nvPr/>
        </p:nvCxnSpPr>
        <p:spPr>
          <a:xfrm>
            <a:off x="1524000" y="4652818"/>
            <a:ext cx="6540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gt-180"/>
          <p:cNvSpPr txBox="1"/>
          <p:nvPr/>
        </p:nvSpPr>
        <p:spPr>
          <a:xfrm>
            <a:off x="1027176" y="4565442"/>
            <a:ext cx="4328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18,000</a:t>
            </a:r>
          </a:p>
        </p:txBody>
      </p:sp>
      <p:cxnSp>
        <p:nvCxnSpPr>
          <p:cNvPr id="12" name="g-190"/>
          <p:cNvCxnSpPr/>
          <p:nvPr/>
        </p:nvCxnSpPr>
        <p:spPr>
          <a:xfrm>
            <a:off x="1524000" y="3902364"/>
            <a:ext cx="6540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gt-190"/>
          <p:cNvSpPr txBox="1"/>
          <p:nvPr/>
        </p:nvSpPr>
        <p:spPr>
          <a:xfrm>
            <a:off x="1027176" y="3814988"/>
            <a:ext cx="4328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19,000</a:t>
            </a:r>
          </a:p>
        </p:txBody>
      </p:sp>
      <p:cxnSp>
        <p:nvCxnSpPr>
          <p:cNvPr id="14" name="g-200"/>
          <p:cNvCxnSpPr/>
          <p:nvPr/>
        </p:nvCxnSpPr>
        <p:spPr>
          <a:xfrm>
            <a:off x="1524000" y="3151909"/>
            <a:ext cx="6540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gt-200"/>
          <p:cNvSpPr txBox="1"/>
          <p:nvPr/>
        </p:nvSpPr>
        <p:spPr>
          <a:xfrm>
            <a:off x="1027176" y="3064533"/>
            <a:ext cx="4328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20,000</a:t>
            </a:r>
          </a:p>
        </p:txBody>
      </p:sp>
      <p:cxnSp>
        <p:nvCxnSpPr>
          <p:cNvPr id="16" name="g-210"/>
          <p:cNvCxnSpPr/>
          <p:nvPr/>
        </p:nvCxnSpPr>
        <p:spPr>
          <a:xfrm>
            <a:off x="1524000" y="2401455"/>
            <a:ext cx="6540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gt-210"/>
          <p:cNvSpPr txBox="1"/>
          <p:nvPr/>
        </p:nvSpPr>
        <p:spPr>
          <a:xfrm>
            <a:off x="1027176" y="2314079"/>
            <a:ext cx="4328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21,000</a:t>
            </a:r>
          </a:p>
        </p:txBody>
      </p:sp>
      <p:cxnSp>
        <p:nvCxnSpPr>
          <p:cNvPr id="18" name="g-220"/>
          <p:cNvCxnSpPr/>
          <p:nvPr/>
        </p:nvCxnSpPr>
        <p:spPr>
          <a:xfrm>
            <a:off x="1524000" y="1651000"/>
            <a:ext cx="6540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gt-220"/>
          <p:cNvSpPr txBox="1"/>
          <p:nvPr/>
        </p:nvSpPr>
        <p:spPr>
          <a:xfrm>
            <a:off x="1027176" y="1563624"/>
            <a:ext cx="4328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22,000</a:t>
            </a:r>
          </a:p>
        </p:txBody>
      </p:sp>
      <p:sp>
        <p:nvSpPr>
          <p:cNvPr id="20" name="unit"/>
          <p:cNvSpPr txBox="1"/>
          <p:nvPr/>
        </p:nvSpPr>
        <p:spPr>
          <a:xfrm>
            <a:off x="1051306" y="1388808"/>
            <a:ext cx="4071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元 / 吨</a:t>
            </a:r>
          </a:p>
        </p:txBody>
      </p:sp>
      <p:sp>
        <p:nvSpPr>
          <p:cNvPr id="21" name="h2"/>
          <p:cNvSpPr/>
          <p:nvPr/>
        </p:nvSpPr>
        <p:spPr>
          <a:xfrm>
            <a:off x="4857750" y="1549400"/>
            <a:ext cx="3206750" cy="3403600"/>
          </a:xfrm>
          <a:custGeom>
            <a:avLst/>
            <a:gdLst/>
            <a:ahLst/>
            <a:cxnLst/>
            <a:rect l="0" t="0" r="r" b="b"/>
            <a:pathLst>
              <a:path w="3206750" h="3403600">
                <a:moveTo>
                  <a:pt x="88900" y="0"/>
                </a:moveTo>
                <a:lnTo>
                  <a:pt x="3117850" y="0"/>
                </a:lnTo>
                <a:cubicBezTo>
                  <a:pt x="3166936" y="0"/>
                  <a:pt x="3206750" y="39815"/>
                  <a:pt x="3206750" y="88900"/>
                </a:cubicBezTo>
                <a:lnTo>
                  <a:pt x="3206750" y="3314700"/>
                </a:lnTo>
                <a:cubicBezTo>
                  <a:pt x="3206750" y="3363786"/>
                  <a:pt x="3166936" y="3403600"/>
                  <a:pt x="3117850" y="3403600"/>
                </a:cubicBezTo>
                <a:lnTo>
                  <a:pt x="88900" y="3403600"/>
                </a:lnTo>
                <a:cubicBezTo>
                  <a:pt x="39814" y="3403600"/>
                  <a:pt x="0" y="3363786"/>
                  <a:pt x="0" y="3314700"/>
                </a:cubicBezTo>
                <a:lnTo>
                  <a:pt x="0" y="88900"/>
                </a:lnTo>
                <a:cubicBezTo>
                  <a:pt x="0" y="39815"/>
                  <a:pt x="39814" y="0"/>
                  <a:pt x="88900" y="0"/>
                </a:cubicBezTo>
                <a:close/>
              </a:path>
            </a:pathLst>
          </a:custGeom>
          <a:solidFill>
            <a:srgbClr val="E0703A">
              <a:alpha val="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h2-t"/>
          <p:cNvSpPr txBox="1"/>
          <p:nvPr/>
        </p:nvSpPr>
        <p:spPr>
          <a:xfrm>
            <a:off x="4948301" y="1575387"/>
            <a:ext cx="945579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下半年 · 波动放大</a:t>
            </a:r>
          </a:p>
        </p:txBody>
      </p:sp>
      <p:sp>
        <p:nvSpPr>
          <p:cNvPr id="23" name="ma"/>
          <p:cNvSpPr/>
          <p:nvPr/>
        </p:nvSpPr>
        <p:spPr>
          <a:xfrm>
            <a:off x="1918208" y="2901760"/>
            <a:ext cx="5879084" cy="1113155"/>
          </a:xfrm>
          <a:custGeom>
            <a:avLst/>
            <a:gdLst/>
            <a:ahLst/>
            <a:cxnLst/>
            <a:rect l="0" t="0" r="r" b="b"/>
            <a:pathLst>
              <a:path w="5879084" h="1113155">
                <a:moveTo>
                  <a:pt x="0" y="1000633"/>
                </a:moveTo>
                <a:cubicBezTo>
                  <a:pt x="71311" y="1015619"/>
                  <a:pt x="391986" y="1116520"/>
                  <a:pt x="534480" y="1113155"/>
                </a:cubicBezTo>
                <a:cubicBezTo>
                  <a:pt x="676974" y="1109853"/>
                  <a:pt x="926402" y="1017270"/>
                  <a:pt x="1068959" y="975614"/>
                </a:cubicBezTo>
                <a:cubicBezTo>
                  <a:pt x="1211453" y="933894"/>
                  <a:pt x="1460881" y="840486"/>
                  <a:pt x="1603375" y="800481"/>
                </a:cubicBezTo>
                <a:cubicBezTo>
                  <a:pt x="1745932" y="760476"/>
                  <a:pt x="1995360" y="675386"/>
                  <a:pt x="2137854" y="675386"/>
                </a:cubicBezTo>
                <a:cubicBezTo>
                  <a:pt x="2280349" y="675386"/>
                  <a:pt x="2529777" y="800481"/>
                  <a:pt x="2672334" y="800481"/>
                </a:cubicBezTo>
                <a:cubicBezTo>
                  <a:pt x="2814828" y="800481"/>
                  <a:pt x="3064256" y="748792"/>
                  <a:pt x="3206750" y="675386"/>
                </a:cubicBezTo>
                <a:cubicBezTo>
                  <a:pt x="3349308" y="602043"/>
                  <a:pt x="3598736" y="340233"/>
                  <a:pt x="3741230" y="250126"/>
                </a:cubicBezTo>
                <a:cubicBezTo>
                  <a:pt x="3883724" y="160083"/>
                  <a:pt x="4133152" y="-3366"/>
                  <a:pt x="4275709" y="0"/>
                </a:cubicBezTo>
                <a:cubicBezTo>
                  <a:pt x="4418203" y="3302"/>
                  <a:pt x="4667631" y="225107"/>
                  <a:pt x="4810125" y="275145"/>
                </a:cubicBezTo>
                <a:cubicBezTo>
                  <a:pt x="4952682" y="325183"/>
                  <a:pt x="5202110" y="408559"/>
                  <a:pt x="5344604" y="375221"/>
                </a:cubicBezTo>
                <a:cubicBezTo>
                  <a:pt x="5487099" y="341884"/>
                  <a:pt x="5807774" y="71691"/>
                  <a:pt x="5879084" y="25019"/>
                </a:cubicBezTo>
              </a:path>
            </a:pathLst>
          </a:custGeom>
          <a:noFill/>
          <a:ln w="19050" cap="rnd">
            <a:solidFill>
              <a:srgbClr val="4694D7">
                <a:alpha val="7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24" name="wk-1"/>
          <p:cNvCxnSpPr/>
          <p:nvPr/>
        </p:nvCxnSpPr>
        <p:spPr>
          <a:xfrm>
            <a:off x="1918229" y="3752273"/>
            <a:ext cx="0" cy="750454"/>
          </a:xfrm>
          <a:prstGeom prst="line">
            <a:avLst/>
          </a:prstGeom>
          <a:ln w="15240" cap="rnd">
            <a:solidFill>
              <a:srgbClr val="134C9C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bd-1"/>
          <p:cNvSpPr/>
          <p:nvPr/>
        </p:nvSpPr>
        <p:spPr>
          <a:xfrm>
            <a:off x="1795272" y="3902392"/>
            <a:ext cx="245872" cy="300165"/>
          </a:xfrm>
          <a:custGeom>
            <a:avLst/>
            <a:gdLst/>
            <a:ahLst/>
            <a:cxnLst/>
            <a:rect l="0" t="0" r="r" b="b"/>
            <a:pathLst>
              <a:path w="245872" h="300165">
                <a:moveTo>
                  <a:pt x="31750" y="0"/>
                </a:moveTo>
                <a:lnTo>
                  <a:pt x="214122" y="0"/>
                </a:lnTo>
                <a:cubicBezTo>
                  <a:pt x="231648" y="0"/>
                  <a:pt x="245872" y="14161"/>
                  <a:pt x="245872" y="31750"/>
                </a:cubicBezTo>
                <a:lnTo>
                  <a:pt x="245872" y="268415"/>
                </a:lnTo>
                <a:cubicBezTo>
                  <a:pt x="245872" y="285941"/>
                  <a:pt x="231648" y="300165"/>
                  <a:pt x="214122" y="300165"/>
                </a:cubicBezTo>
                <a:lnTo>
                  <a:pt x="31750" y="300165"/>
                </a:lnTo>
                <a:cubicBezTo>
                  <a:pt x="14224" y="300165"/>
                  <a:pt x="0" y="285941"/>
                  <a:pt x="0" y="268415"/>
                </a:cubicBezTo>
                <a:lnTo>
                  <a:pt x="0" y="31750"/>
                </a:lnTo>
                <a:cubicBezTo>
                  <a:pt x="0" y="14161"/>
                  <a:pt x="14224" y="0"/>
                  <a:pt x="31750" y="0"/>
                </a:cubicBezTo>
                <a:close/>
              </a:path>
            </a:pathLst>
          </a:custGeom>
          <a:solidFill>
            <a:srgbClr val="134C9C"/>
          </a:solidFill>
          <a:ln w="1524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xm-1"/>
          <p:cNvSpPr txBox="1"/>
          <p:nvPr/>
        </p:nvSpPr>
        <p:spPr>
          <a:xfrm>
            <a:off x="1801072" y="5025866"/>
            <a:ext cx="2343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1月</a:t>
            </a:r>
          </a:p>
        </p:txBody>
      </p:sp>
      <p:cxnSp>
        <p:nvCxnSpPr>
          <p:cNvPr id="27" name="wk-2"/>
          <p:cNvCxnSpPr/>
          <p:nvPr/>
        </p:nvCxnSpPr>
        <p:spPr>
          <a:xfrm>
            <a:off x="2452688" y="3602182"/>
            <a:ext cx="0" cy="675409"/>
          </a:xfrm>
          <a:prstGeom prst="line">
            <a:avLst/>
          </a:prstGeom>
          <a:ln w="15240" cap="rnd">
            <a:solidFill>
              <a:srgbClr val="E0703A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bd-2"/>
          <p:cNvSpPr/>
          <p:nvPr/>
        </p:nvSpPr>
        <p:spPr>
          <a:xfrm>
            <a:off x="2329752" y="3902392"/>
            <a:ext cx="245872" cy="225108"/>
          </a:xfrm>
          <a:custGeom>
            <a:avLst/>
            <a:gdLst/>
            <a:ahLst/>
            <a:cxnLst/>
            <a:rect l="0" t="0" r="r" b="b"/>
            <a:pathLst>
              <a:path w="245872" h="225108">
                <a:moveTo>
                  <a:pt x="31750" y="0"/>
                </a:moveTo>
                <a:lnTo>
                  <a:pt x="214122" y="0"/>
                </a:lnTo>
                <a:cubicBezTo>
                  <a:pt x="231648" y="0"/>
                  <a:pt x="245872" y="14161"/>
                  <a:pt x="245872" y="31750"/>
                </a:cubicBezTo>
                <a:lnTo>
                  <a:pt x="245872" y="193358"/>
                </a:lnTo>
                <a:cubicBezTo>
                  <a:pt x="245872" y="210884"/>
                  <a:pt x="231648" y="225108"/>
                  <a:pt x="214122" y="225108"/>
                </a:cubicBezTo>
                <a:lnTo>
                  <a:pt x="31750" y="225108"/>
                </a:lnTo>
                <a:cubicBezTo>
                  <a:pt x="14224" y="225108"/>
                  <a:pt x="0" y="210884"/>
                  <a:pt x="0" y="193358"/>
                </a:cubicBezTo>
                <a:lnTo>
                  <a:pt x="0" y="31750"/>
                </a:lnTo>
                <a:cubicBezTo>
                  <a:pt x="0" y="14161"/>
                  <a:pt x="14224" y="0"/>
                  <a:pt x="31750" y="0"/>
                </a:cubicBezTo>
                <a:close/>
              </a:path>
            </a:pathLst>
          </a:custGeom>
          <a:solidFill>
            <a:srgbClr val="FFFFFF"/>
          </a:solidFill>
          <a:ln w="1524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xm-2"/>
          <p:cNvSpPr txBox="1"/>
          <p:nvPr/>
        </p:nvSpPr>
        <p:spPr>
          <a:xfrm>
            <a:off x="2335530" y="5025866"/>
            <a:ext cx="2343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2月</a:t>
            </a:r>
          </a:p>
        </p:txBody>
      </p:sp>
      <p:cxnSp>
        <p:nvCxnSpPr>
          <p:cNvPr id="30" name="wk-3"/>
          <p:cNvCxnSpPr/>
          <p:nvPr/>
        </p:nvCxnSpPr>
        <p:spPr>
          <a:xfrm>
            <a:off x="2987146" y="3452091"/>
            <a:ext cx="0" cy="750454"/>
          </a:xfrm>
          <a:prstGeom prst="line">
            <a:avLst/>
          </a:prstGeom>
          <a:ln w="15240" cap="rnd">
            <a:solidFill>
              <a:srgbClr val="134C9C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bd-3"/>
          <p:cNvSpPr/>
          <p:nvPr/>
        </p:nvSpPr>
        <p:spPr>
          <a:xfrm>
            <a:off x="2864231" y="3602164"/>
            <a:ext cx="245808" cy="525336"/>
          </a:xfrm>
          <a:custGeom>
            <a:avLst/>
            <a:gdLst/>
            <a:ahLst/>
            <a:cxnLst/>
            <a:rect l="0" t="0" r="r" b="b"/>
            <a:pathLst>
              <a:path w="245808" h="525336">
                <a:moveTo>
                  <a:pt x="31750" y="0"/>
                </a:moveTo>
                <a:lnTo>
                  <a:pt x="214058" y="0"/>
                </a:lnTo>
                <a:cubicBezTo>
                  <a:pt x="231648" y="0"/>
                  <a:pt x="245808" y="14224"/>
                  <a:pt x="245808" y="31750"/>
                </a:cubicBezTo>
                <a:lnTo>
                  <a:pt x="245808" y="493586"/>
                </a:lnTo>
                <a:cubicBezTo>
                  <a:pt x="245808" y="511112"/>
                  <a:pt x="231648" y="525336"/>
                  <a:pt x="214058" y="525336"/>
                </a:cubicBezTo>
                <a:lnTo>
                  <a:pt x="31750" y="525336"/>
                </a:lnTo>
                <a:cubicBezTo>
                  <a:pt x="14224" y="525336"/>
                  <a:pt x="0" y="511112"/>
                  <a:pt x="0" y="493586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134C9C"/>
          </a:solidFill>
          <a:ln w="1524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xm-3"/>
          <p:cNvSpPr txBox="1"/>
          <p:nvPr/>
        </p:nvSpPr>
        <p:spPr>
          <a:xfrm>
            <a:off x="2869988" y="5025866"/>
            <a:ext cx="2343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3月</a:t>
            </a:r>
          </a:p>
        </p:txBody>
      </p:sp>
      <p:cxnSp>
        <p:nvCxnSpPr>
          <p:cNvPr id="33" name="wk-4"/>
          <p:cNvCxnSpPr/>
          <p:nvPr/>
        </p:nvCxnSpPr>
        <p:spPr>
          <a:xfrm>
            <a:off x="3521604" y="3226955"/>
            <a:ext cx="0" cy="600363"/>
          </a:xfrm>
          <a:prstGeom prst="line">
            <a:avLst/>
          </a:prstGeom>
          <a:ln w="15240" cap="rnd">
            <a:solidFill>
              <a:srgbClr val="134C9C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bd-4"/>
          <p:cNvSpPr/>
          <p:nvPr/>
        </p:nvSpPr>
        <p:spPr>
          <a:xfrm>
            <a:off x="3398710" y="3377057"/>
            <a:ext cx="245809" cy="225107"/>
          </a:xfrm>
          <a:custGeom>
            <a:avLst/>
            <a:gdLst/>
            <a:ahLst/>
            <a:cxnLst/>
            <a:rect l="0" t="0" r="r" b="b"/>
            <a:pathLst>
              <a:path w="245809" h="225107">
                <a:moveTo>
                  <a:pt x="31750" y="0"/>
                </a:moveTo>
                <a:lnTo>
                  <a:pt x="214059" y="0"/>
                </a:lnTo>
                <a:cubicBezTo>
                  <a:pt x="231585" y="0"/>
                  <a:pt x="245809" y="14224"/>
                  <a:pt x="245809" y="31750"/>
                </a:cubicBezTo>
                <a:lnTo>
                  <a:pt x="245809" y="193357"/>
                </a:lnTo>
                <a:cubicBezTo>
                  <a:pt x="245809" y="210883"/>
                  <a:pt x="231585" y="225107"/>
                  <a:pt x="214059" y="225107"/>
                </a:cubicBezTo>
                <a:lnTo>
                  <a:pt x="31750" y="225107"/>
                </a:lnTo>
                <a:cubicBezTo>
                  <a:pt x="14161" y="225107"/>
                  <a:pt x="0" y="210883"/>
                  <a:pt x="0" y="193357"/>
                </a:cubicBezTo>
                <a:lnTo>
                  <a:pt x="0" y="31750"/>
                </a:lnTo>
                <a:cubicBezTo>
                  <a:pt x="0" y="14224"/>
                  <a:pt x="14161" y="0"/>
                  <a:pt x="31750" y="0"/>
                </a:cubicBezTo>
                <a:close/>
              </a:path>
            </a:pathLst>
          </a:custGeom>
          <a:solidFill>
            <a:srgbClr val="134C9C"/>
          </a:solidFill>
          <a:ln w="1524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xm-4"/>
          <p:cNvSpPr txBox="1"/>
          <p:nvPr/>
        </p:nvSpPr>
        <p:spPr>
          <a:xfrm>
            <a:off x="3404447" y="5025866"/>
            <a:ext cx="2343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4月</a:t>
            </a:r>
          </a:p>
        </p:txBody>
      </p:sp>
      <p:cxnSp>
        <p:nvCxnSpPr>
          <p:cNvPr id="36" name="wk-5"/>
          <p:cNvCxnSpPr/>
          <p:nvPr/>
        </p:nvCxnSpPr>
        <p:spPr>
          <a:xfrm>
            <a:off x="4056063" y="3076864"/>
            <a:ext cx="0" cy="825500"/>
          </a:xfrm>
          <a:prstGeom prst="line">
            <a:avLst/>
          </a:prstGeom>
          <a:ln w="15240" cap="rnd">
            <a:solidFill>
              <a:srgbClr val="E0703A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bd-5"/>
          <p:cNvSpPr/>
          <p:nvPr/>
        </p:nvSpPr>
        <p:spPr>
          <a:xfrm>
            <a:off x="3933126" y="3377057"/>
            <a:ext cx="245872" cy="375221"/>
          </a:xfrm>
          <a:custGeom>
            <a:avLst/>
            <a:gdLst/>
            <a:ahLst/>
            <a:cxnLst/>
            <a:rect l="0" t="0" r="r" b="b"/>
            <a:pathLst>
              <a:path w="245872" h="375221">
                <a:moveTo>
                  <a:pt x="31750" y="0"/>
                </a:moveTo>
                <a:lnTo>
                  <a:pt x="214122" y="0"/>
                </a:lnTo>
                <a:cubicBezTo>
                  <a:pt x="231648" y="0"/>
                  <a:pt x="245872" y="14224"/>
                  <a:pt x="245872" y="31750"/>
                </a:cubicBezTo>
                <a:lnTo>
                  <a:pt x="245872" y="343471"/>
                </a:lnTo>
                <a:cubicBezTo>
                  <a:pt x="245872" y="360997"/>
                  <a:pt x="231648" y="375221"/>
                  <a:pt x="214122" y="375221"/>
                </a:cubicBezTo>
                <a:lnTo>
                  <a:pt x="31750" y="375221"/>
                </a:lnTo>
                <a:cubicBezTo>
                  <a:pt x="14224" y="375221"/>
                  <a:pt x="0" y="360997"/>
                  <a:pt x="0" y="343471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FFFFFF"/>
          </a:solidFill>
          <a:ln w="1524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xm-5"/>
          <p:cNvSpPr txBox="1"/>
          <p:nvPr/>
        </p:nvSpPr>
        <p:spPr>
          <a:xfrm>
            <a:off x="3938905" y="5025866"/>
            <a:ext cx="2343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5月</a:t>
            </a:r>
          </a:p>
        </p:txBody>
      </p:sp>
      <p:cxnSp>
        <p:nvCxnSpPr>
          <p:cNvPr id="39" name="wk-6"/>
          <p:cNvCxnSpPr/>
          <p:nvPr/>
        </p:nvCxnSpPr>
        <p:spPr>
          <a:xfrm>
            <a:off x="4590521" y="3527136"/>
            <a:ext cx="0" cy="600364"/>
          </a:xfrm>
          <a:prstGeom prst="line">
            <a:avLst/>
          </a:prstGeom>
          <a:ln w="15240" cap="rnd">
            <a:solidFill>
              <a:srgbClr val="E0703A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bd-6"/>
          <p:cNvSpPr/>
          <p:nvPr/>
        </p:nvSpPr>
        <p:spPr>
          <a:xfrm>
            <a:off x="4467606" y="3752278"/>
            <a:ext cx="245872" cy="225108"/>
          </a:xfrm>
          <a:custGeom>
            <a:avLst/>
            <a:gdLst/>
            <a:ahLst/>
            <a:cxnLst/>
            <a:rect l="0" t="0" r="r" b="b"/>
            <a:pathLst>
              <a:path w="245872" h="225108">
                <a:moveTo>
                  <a:pt x="31750" y="0"/>
                </a:moveTo>
                <a:lnTo>
                  <a:pt x="214122" y="0"/>
                </a:lnTo>
                <a:cubicBezTo>
                  <a:pt x="231648" y="0"/>
                  <a:pt x="245872" y="14224"/>
                  <a:pt x="245872" y="31750"/>
                </a:cubicBezTo>
                <a:lnTo>
                  <a:pt x="245872" y="193358"/>
                </a:lnTo>
                <a:cubicBezTo>
                  <a:pt x="245872" y="210947"/>
                  <a:pt x="231648" y="225108"/>
                  <a:pt x="214122" y="225108"/>
                </a:cubicBezTo>
                <a:lnTo>
                  <a:pt x="31750" y="225108"/>
                </a:lnTo>
                <a:cubicBezTo>
                  <a:pt x="14224" y="225108"/>
                  <a:pt x="0" y="210947"/>
                  <a:pt x="0" y="193358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FFFFFF"/>
          </a:solidFill>
          <a:ln w="1524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xm-6"/>
          <p:cNvSpPr txBox="1"/>
          <p:nvPr/>
        </p:nvSpPr>
        <p:spPr>
          <a:xfrm>
            <a:off x="4473363" y="5025866"/>
            <a:ext cx="2343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6月</a:t>
            </a:r>
          </a:p>
        </p:txBody>
      </p:sp>
      <p:cxnSp>
        <p:nvCxnSpPr>
          <p:cNvPr id="42" name="wk-7"/>
          <p:cNvCxnSpPr/>
          <p:nvPr/>
        </p:nvCxnSpPr>
        <p:spPr>
          <a:xfrm>
            <a:off x="5124979" y="2851727"/>
            <a:ext cx="0" cy="1350818"/>
          </a:xfrm>
          <a:prstGeom prst="line">
            <a:avLst/>
          </a:prstGeom>
          <a:ln w="15240" cap="rnd">
            <a:solidFill>
              <a:srgbClr val="134C9C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bd-7"/>
          <p:cNvSpPr/>
          <p:nvPr/>
        </p:nvSpPr>
        <p:spPr>
          <a:xfrm>
            <a:off x="5002086" y="3001836"/>
            <a:ext cx="245809" cy="975550"/>
          </a:xfrm>
          <a:custGeom>
            <a:avLst/>
            <a:gdLst/>
            <a:ahLst/>
            <a:cxnLst/>
            <a:rect l="0" t="0" r="r" b="b"/>
            <a:pathLst>
              <a:path w="245809" h="975550">
                <a:moveTo>
                  <a:pt x="31750" y="0"/>
                </a:moveTo>
                <a:lnTo>
                  <a:pt x="214059" y="0"/>
                </a:lnTo>
                <a:cubicBezTo>
                  <a:pt x="231585" y="0"/>
                  <a:pt x="245809" y="14224"/>
                  <a:pt x="245809" y="31750"/>
                </a:cubicBezTo>
                <a:lnTo>
                  <a:pt x="245809" y="943800"/>
                </a:lnTo>
                <a:cubicBezTo>
                  <a:pt x="245809" y="961390"/>
                  <a:pt x="231585" y="975550"/>
                  <a:pt x="214059" y="975550"/>
                </a:cubicBezTo>
                <a:lnTo>
                  <a:pt x="31750" y="975550"/>
                </a:lnTo>
                <a:cubicBezTo>
                  <a:pt x="14161" y="975550"/>
                  <a:pt x="0" y="961390"/>
                  <a:pt x="0" y="943800"/>
                </a:cubicBezTo>
                <a:lnTo>
                  <a:pt x="0" y="31750"/>
                </a:lnTo>
                <a:cubicBezTo>
                  <a:pt x="0" y="14224"/>
                  <a:pt x="14161" y="0"/>
                  <a:pt x="31750" y="0"/>
                </a:cubicBezTo>
                <a:close/>
              </a:path>
            </a:pathLst>
          </a:custGeom>
          <a:solidFill>
            <a:srgbClr val="134C9C"/>
          </a:solidFill>
          <a:ln w="1524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xm-7"/>
          <p:cNvSpPr txBox="1"/>
          <p:nvPr/>
        </p:nvSpPr>
        <p:spPr>
          <a:xfrm>
            <a:off x="5007822" y="5025866"/>
            <a:ext cx="2343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7月</a:t>
            </a:r>
          </a:p>
        </p:txBody>
      </p:sp>
      <p:cxnSp>
        <p:nvCxnSpPr>
          <p:cNvPr id="45" name="wk-8"/>
          <p:cNvCxnSpPr/>
          <p:nvPr/>
        </p:nvCxnSpPr>
        <p:spPr>
          <a:xfrm>
            <a:off x="5659438" y="2251364"/>
            <a:ext cx="0" cy="1050636"/>
          </a:xfrm>
          <a:prstGeom prst="line">
            <a:avLst/>
          </a:prstGeom>
          <a:ln w="15240" cap="rnd">
            <a:solidFill>
              <a:srgbClr val="134C9C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bd-8"/>
          <p:cNvSpPr/>
          <p:nvPr/>
        </p:nvSpPr>
        <p:spPr>
          <a:xfrm>
            <a:off x="5536502" y="2476500"/>
            <a:ext cx="245872" cy="525336"/>
          </a:xfrm>
          <a:custGeom>
            <a:avLst/>
            <a:gdLst/>
            <a:ahLst/>
            <a:cxnLst/>
            <a:rect l="0" t="0" r="r" b="b"/>
            <a:pathLst>
              <a:path w="245872" h="525336">
                <a:moveTo>
                  <a:pt x="31750" y="0"/>
                </a:moveTo>
                <a:lnTo>
                  <a:pt x="214122" y="0"/>
                </a:lnTo>
                <a:cubicBezTo>
                  <a:pt x="231648" y="0"/>
                  <a:pt x="245872" y="14224"/>
                  <a:pt x="245872" y="31750"/>
                </a:cubicBezTo>
                <a:lnTo>
                  <a:pt x="245872" y="493586"/>
                </a:lnTo>
                <a:cubicBezTo>
                  <a:pt x="245872" y="511112"/>
                  <a:pt x="231648" y="525336"/>
                  <a:pt x="214122" y="525336"/>
                </a:cubicBezTo>
                <a:lnTo>
                  <a:pt x="31750" y="525336"/>
                </a:lnTo>
                <a:cubicBezTo>
                  <a:pt x="14224" y="525336"/>
                  <a:pt x="0" y="511112"/>
                  <a:pt x="0" y="493586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134C9C"/>
          </a:solidFill>
          <a:ln w="1524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xm-8"/>
          <p:cNvSpPr txBox="1"/>
          <p:nvPr/>
        </p:nvSpPr>
        <p:spPr>
          <a:xfrm>
            <a:off x="5542280" y="5025866"/>
            <a:ext cx="2343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8月</a:t>
            </a:r>
          </a:p>
        </p:txBody>
      </p:sp>
      <p:cxnSp>
        <p:nvCxnSpPr>
          <p:cNvPr id="48" name="wk-9"/>
          <p:cNvCxnSpPr/>
          <p:nvPr/>
        </p:nvCxnSpPr>
        <p:spPr>
          <a:xfrm>
            <a:off x="6193896" y="2101273"/>
            <a:ext cx="0" cy="1350818"/>
          </a:xfrm>
          <a:prstGeom prst="line">
            <a:avLst/>
          </a:prstGeom>
          <a:ln w="15240" cap="rnd">
            <a:solidFill>
              <a:srgbClr val="E0703A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bd-9"/>
          <p:cNvSpPr/>
          <p:nvPr/>
        </p:nvSpPr>
        <p:spPr>
          <a:xfrm>
            <a:off x="6070981" y="2476500"/>
            <a:ext cx="245872" cy="750443"/>
          </a:xfrm>
          <a:custGeom>
            <a:avLst/>
            <a:gdLst/>
            <a:ahLst/>
            <a:cxnLst/>
            <a:rect l="0" t="0" r="r" b="b"/>
            <a:pathLst>
              <a:path w="245872" h="750443">
                <a:moveTo>
                  <a:pt x="31750" y="0"/>
                </a:moveTo>
                <a:lnTo>
                  <a:pt x="214122" y="0"/>
                </a:lnTo>
                <a:cubicBezTo>
                  <a:pt x="231648" y="0"/>
                  <a:pt x="245872" y="14224"/>
                  <a:pt x="245872" y="31750"/>
                </a:cubicBezTo>
                <a:lnTo>
                  <a:pt x="245872" y="718693"/>
                </a:lnTo>
                <a:cubicBezTo>
                  <a:pt x="245872" y="736219"/>
                  <a:pt x="231648" y="750443"/>
                  <a:pt x="214122" y="750443"/>
                </a:cubicBezTo>
                <a:lnTo>
                  <a:pt x="31750" y="750443"/>
                </a:lnTo>
                <a:cubicBezTo>
                  <a:pt x="14224" y="750443"/>
                  <a:pt x="0" y="736219"/>
                  <a:pt x="0" y="718693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FFFFFF"/>
          </a:solidFill>
          <a:ln w="1524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xm-9"/>
          <p:cNvSpPr txBox="1"/>
          <p:nvPr/>
        </p:nvSpPr>
        <p:spPr>
          <a:xfrm>
            <a:off x="6076738" y="5025866"/>
            <a:ext cx="2343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9月</a:t>
            </a:r>
          </a:p>
        </p:txBody>
      </p:sp>
      <p:cxnSp>
        <p:nvCxnSpPr>
          <p:cNvPr id="51" name="wk-10"/>
          <p:cNvCxnSpPr/>
          <p:nvPr/>
        </p:nvCxnSpPr>
        <p:spPr>
          <a:xfrm>
            <a:off x="6728354" y="2701636"/>
            <a:ext cx="0" cy="1350819"/>
          </a:xfrm>
          <a:prstGeom prst="line">
            <a:avLst/>
          </a:prstGeom>
          <a:ln w="15240" cap="rnd">
            <a:solidFill>
              <a:srgbClr val="E0703A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bd-10"/>
          <p:cNvSpPr/>
          <p:nvPr/>
        </p:nvSpPr>
        <p:spPr>
          <a:xfrm>
            <a:off x="6605397" y="3226943"/>
            <a:ext cx="245872" cy="600393"/>
          </a:xfrm>
          <a:custGeom>
            <a:avLst/>
            <a:gdLst/>
            <a:ahLst/>
            <a:cxnLst/>
            <a:rect l="0" t="0" r="r" b="b"/>
            <a:pathLst>
              <a:path w="245872" h="600393">
                <a:moveTo>
                  <a:pt x="31750" y="0"/>
                </a:moveTo>
                <a:lnTo>
                  <a:pt x="214122" y="0"/>
                </a:lnTo>
                <a:cubicBezTo>
                  <a:pt x="231648" y="0"/>
                  <a:pt x="245872" y="14224"/>
                  <a:pt x="245872" y="31750"/>
                </a:cubicBezTo>
                <a:lnTo>
                  <a:pt x="245872" y="568643"/>
                </a:lnTo>
                <a:cubicBezTo>
                  <a:pt x="245872" y="586168"/>
                  <a:pt x="231648" y="600393"/>
                  <a:pt x="214122" y="600393"/>
                </a:cubicBezTo>
                <a:lnTo>
                  <a:pt x="31750" y="600393"/>
                </a:lnTo>
                <a:cubicBezTo>
                  <a:pt x="14224" y="600393"/>
                  <a:pt x="0" y="586168"/>
                  <a:pt x="0" y="568643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FFFFFF"/>
          </a:solidFill>
          <a:ln w="1524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xm-10"/>
          <p:cNvSpPr txBox="1"/>
          <p:nvPr/>
        </p:nvSpPr>
        <p:spPr>
          <a:xfrm>
            <a:off x="6584527" y="5025866"/>
            <a:ext cx="28765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10月</a:t>
            </a:r>
          </a:p>
        </p:txBody>
      </p:sp>
      <p:cxnSp>
        <p:nvCxnSpPr>
          <p:cNvPr id="54" name="wk-11"/>
          <p:cNvCxnSpPr/>
          <p:nvPr/>
        </p:nvCxnSpPr>
        <p:spPr>
          <a:xfrm>
            <a:off x="7262812" y="2551545"/>
            <a:ext cx="0" cy="1425864"/>
          </a:xfrm>
          <a:prstGeom prst="line">
            <a:avLst/>
          </a:prstGeom>
          <a:ln w="15240" cap="rnd">
            <a:solidFill>
              <a:srgbClr val="134C9C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bd-11"/>
          <p:cNvSpPr/>
          <p:nvPr/>
        </p:nvSpPr>
        <p:spPr>
          <a:xfrm>
            <a:off x="7139877" y="2776664"/>
            <a:ext cx="245872" cy="1050671"/>
          </a:xfrm>
          <a:custGeom>
            <a:avLst/>
            <a:gdLst/>
            <a:ahLst/>
            <a:cxnLst/>
            <a:rect l="0" t="0" r="r" b="b"/>
            <a:pathLst>
              <a:path w="245872" h="1050671">
                <a:moveTo>
                  <a:pt x="31750" y="0"/>
                </a:moveTo>
                <a:lnTo>
                  <a:pt x="214122" y="0"/>
                </a:lnTo>
                <a:cubicBezTo>
                  <a:pt x="231648" y="0"/>
                  <a:pt x="245872" y="14224"/>
                  <a:pt x="245872" y="31750"/>
                </a:cubicBezTo>
                <a:lnTo>
                  <a:pt x="245872" y="1018921"/>
                </a:lnTo>
                <a:cubicBezTo>
                  <a:pt x="245872" y="1036447"/>
                  <a:pt x="231648" y="1050671"/>
                  <a:pt x="214122" y="1050671"/>
                </a:cubicBezTo>
                <a:lnTo>
                  <a:pt x="31750" y="1050671"/>
                </a:lnTo>
                <a:cubicBezTo>
                  <a:pt x="14224" y="1050671"/>
                  <a:pt x="0" y="1036447"/>
                  <a:pt x="0" y="1018921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134C9C"/>
          </a:solidFill>
          <a:ln w="1524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xm-11"/>
          <p:cNvSpPr txBox="1"/>
          <p:nvPr/>
        </p:nvSpPr>
        <p:spPr>
          <a:xfrm>
            <a:off x="7118985" y="5025866"/>
            <a:ext cx="28765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11月</a:t>
            </a:r>
          </a:p>
        </p:txBody>
      </p:sp>
      <p:cxnSp>
        <p:nvCxnSpPr>
          <p:cNvPr id="57" name="wk-12"/>
          <p:cNvCxnSpPr/>
          <p:nvPr/>
        </p:nvCxnSpPr>
        <p:spPr>
          <a:xfrm>
            <a:off x="7797271" y="1951182"/>
            <a:ext cx="0" cy="1125682"/>
          </a:xfrm>
          <a:prstGeom prst="line">
            <a:avLst/>
          </a:prstGeom>
          <a:ln w="15240" cap="rnd">
            <a:solidFill>
              <a:srgbClr val="134C9C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bd-12"/>
          <p:cNvSpPr/>
          <p:nvPr/>
        </p:nvSpPr>
        <p:spPr>
          <a:xfrm>
            <a:off x="7674356" y="2176336"/>
            <a:ext cx="245872" cy="600329"/>
          </a:xfrm>
          <a:custGeom>
            <a:avLst/>
            <a:gdLst/>
            <a:ahLst/>
            <a:cxnLst/>
            <a:rect l="0" t="0" r="r" b="b"/>
            <a:pathLst>
              <a:path w="245872" h="600329">
                <a:moveTo>
                  <a:pt x="31750" y="0"/>
                </a:moveTo>
                <a:lnTo>
                  <a:pt x="214122" y="0"/>
                </a:lnTo>
                <a:cubicBezTo>
                  <a:pt x="231648" y="0"/>
                  <a:pt x="245872" y="14224"/>
                  <a:pt x="245872" y="31750"/>
                </a:cubicBezTo>
                <a:lnTo>
                  <a:pt x="245872" y="568579"/>
                </a:lnTo>
                <a:cubicBezTo>
                  <a:pt x="245872" y="586105"/>
                  <a:pt x="231648" y="600329"/>
                  <a:pt x="214122" y="600329"/>
                </a:cubicBezTo>
                <a:lnTo>
                  <a:pt x="31750" y="600329"/>
                </a:lnTo>
                <a:cubicBezTo>
                  <a:pt x="14224" y="600329"/>
                  <a:pt x="0" y="586105"/>
                  <a:pt x="0" y="568579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134C9C"/>
          </a:solidFill>
          <a:ln w="1524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xm-12"/>
          <p:cNvSpPr txBox="1"/>
          <p:nvPr/>
        </p:nvSpPr>
        <p:spPr>
          <a:xfrm>
            <a:off x="7653443" y="5025866"/>
            <a:ext cx="28765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12月</a:t>
            </a:r>
          </a:p>
        </p:txBody>
      </p:sp>
      <p:sp>
        <p:nvSpPr>
          <p:cNvPr id="60" name="hi"/>
          <p:cNvSpPr/>
          <p:nvPr/>
        </p:nvSpPr>
        <p:spPr>
          <a:xfrm>
            <a:off x="7352792" y="1659064"/>
            <a:ext cx="889000" cy="203200"/>
          </a:xfrm>
          <a:custGeom>
            <a:avLst/>
            <a:gdLst/>
            <a:ahLst/>
            <a:cxnLst/>
            <a:rect l="0" t="0" r="r" b="b"/>
            <a:pathLst>
              <a:path w="889000" h="203200">
                <a:moveTo>
                  <a:pt x="101600" y="0"/>
                </a:moveTo>
                <a:lnTo>
                  <a:pt x="787400" y="0"/>
                </a:lnTo>
                <a:cubicBezTo>
                  <a:pt x="843470" y="0"/>
                  <a:pt x="889000" y="45530"/>
                  <a:pt x="889000" y="101600"/>
                </a:cubicBezTo>
                <a:lnTo>
                  <a:pt x="889000" y="101600"/>
                </a:lnTo>
                <a:cubicBezTo>
                  <a:pt x="889000" y="157734"/>
                  <a:pt x="843470" y="203200"/>
                  <a:pt x="7874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530"/>
                  <a:pt x="45466" y="0"/>
                  <a:pt x="101600" y="0"/>
                </a:cubicBezTo>
                <a:close/>
              </a:path>
            </a:pathLst>
          </a:cu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hi-t"/>
          <p:cNvSpPr txBox="1"/>
          <p:nvPr/>
        </p:nvSpPr>
        <p:spPr>
          <a:xfrm>
            <a:off x="7405222" y="1688990"/>
            <a:ext cx="78409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年内高点 21,600</a:t>
            </a:r>
          </a:p>
        </p:txBody>
      </p:sp>
      <p:sp>
        <p:nvSpPr>
          <p:cNvPr id="62" name="lg-up"/>
          <p:cNvSpPr/>
          <p:nvPr/>
        </p:nvSpPr>
        <p:spPr>
          <a:xfrm>
            <a:off x="1651000" y="5295900"/>
            <a:ext cx="114300" cy="139700"/>
          </a:xfrm>
          <a:custGeom>
            <a:avLst/>
            <a:gdLst/>
            <a:ahLst/>
            <a:cxnLst/>
            <a:rect l="0" t="0" r="r" b="b"/>
            <a:pathLst>
              <a:path w="114300" h="139700">
                <a:moveTo>
                  <a:pt x="25400" y="0"/>
                </a:moveTo>
                <a:lnTo>
                  <a:pt x="88900" y="0"/>
                </a:lnTo>
                <a:cubicBezTo>
                  <a:pt x="102933" y="0"/>
                  <a:pt x="114300" y="11366"/>
                  <a:pt x="114300" y="25400"/>
                </a:cubicBezTo>
                <a:lnTo>
                  <a:pt x="114300" y="114300"/>
                </a:lnTo>
                <a:cubicBezTo>
                  <a:pt x="114300" y="128334"/>
                  <a:pt x="102933" y="139700"/>
                  <a:pt x="88900" y="139700"/>
                </a:cubicBezTo>
                <a:lnTo>
                  <a:pt x="25400" y="139700"/>
                </a:lnTo>
                <a:cubicBezTo>
                  <a:pt x="11367" y="139700"/>
                  <a:pt x="0" y="128334"/>
                  <a:pt x="0" y="114300"/>
                </a:cubicBezTo>
                <a:lnTo>
                  <a:pt x="0" y="25400"/>
                </a:lnTo>
                <a:cubicBezTo>
                  <a:pt x="0" y="11366"/>
                  <a:pt x="11367" y="0"/>
                  <a:pt x="2540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lg-upt"/>
          <p:cNvSpPr txBox="1"/>
          <p:nvPr/>
        </p:nvSpPr>
        <p:spPr>
          <a:xfrm>
            <a:off x="1817370" y="5279866"/>
            <a:ext cx="4667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当月上涨</a:t>
            </a:r>
          </a:p>
        </p:txBody>
      </p:sp>
      <p:sp>
        <p:nvSpPr>
          <p:cNvPr id="64" name="lg-dn"/>
          <p:cNvSpPr/>
          <p:nvPr/>
        </p:nvSpPr>
        <p:spPr>
          <a:xfrm>
            <a:off x="2476500" y="5295900"/>
            <a:ext cx="114300" cy="139700"/>
          </a:xfrm>
          <a:custGeom>
            <a:avLst/>
            <a:gdLst/>
            <a:ahLst/>
            <a:cxnLst/>
            <a:rect l="0" t="0" r="r" b="b"/>
            <a:pathLst>
              <a:path w="114300" h="139700">
                <a:moveTo>
                  <a:pt x="25400" y="0"/>
                </a:moveTo>
                <a:lnTo>
                  <a:pt x="88900" y="0"/>
                </a:lnTo>
                <a:cubicBezTo>
                  <a:pt x="102933" y="0"/>
                  <a:pt x="114300" y="11366"/>
                  <a:pt x="114300" y="25400"/>
                </a:cubicBezTo>
                <a:lnTo>
                  <a:pt x="114300" y="114300"/>
                </a:lnTo>
                <a:cubicBezTo>
                  <a:pt x="114300" y="128334"/>
                  <a:pt x="102933" y="139700"/>
                  <a:pt x="88900" y="139700"/>
                </a:cubicBezTo>
                <a:lnTo>
                  <a:pt x="25400" y="139700"/>
                </a:lnTo>
                <a:cubicBezTo>
                  <a:pt x="11367" y="139700"/>
                  <a:pt x="0" y="128334"/>
                  <a:pt x="0" y="114300"/>
                </a:cubicBezTo>
                <a:lnTo>
                  <a:pt x="0" y="25400"/>
                </a:lnTo>
                <a:cubicBezTo>
                  <a:pt x="0" y="11366"/>
                  <a:pt x="11367" y="0"/>
                  <a:pt x="25400" y="0"/>
                </a:cubicBezTo>
                <a:close/>
              </a:path>
            </a:pathLst>
          </a:custGeom>
          <a:solidFill>
            <a:srgbClr val="FFFFFF"/>
          </a:solidFill>
          <a:ln w="1524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lg-dnt"/>
          <p:cNvSpPr txBox="1"/>
          <p:nvPr/>
        </p:nvSpPr>
        <p:spPr>
          <a:xfrm>
            <a:off x="2642870" y="5279866"/>
            <a:ext cx="4667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当月下跌</a:t>
            </a:r>
          </a:p>
        </p:txBody>
      </p:sp>
      <p:cxnSp>
        <p:nvCxnSpPr>
          <p:cNvPr id="66" name="lg-ma"/>
          <p:cNvCxnSpPr/>
          <p:nvPr/>
        </p:nvCxnSpPr>
        <p:spPr>
          <a:xfrm>
            <a:off x="3314700" y="5359400"/>
            <a:ext cx="254000" cy="0"/>
          </a:xfrm>
          <a:prstGeom prst="line">
            <a:avLst/>
          </a:prstGeom>
          <a:ln w="19050" cap="rnd">
            <a:solidFill>
              <a:srgbClr val="4694D7"/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7" name="lg-mat"/>
          <p:cNvSpPr txBox="1"/>
          <p:nvPr/>
        </p:nvSpPr>
        <p:spPr>
          <a:xfrm>
            <a:off x="3620770" y="5279866"/>
            <a:ext cx="573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3 个月均线</a:t>
            </a:r>
          </a:p>
        </p:txBody>
      </p:sp>
      <p:sp>
        <p:nvSpPr>
          <p:cNvPr id="68" name="side-bar"/>
          <p:cNvSpPr/>
          <p:nvPr/>
        </p:nvSpPr>
        <p:spPr>
          <a:xfrm>
            <a:off x="8509000" y="15875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side-h"/>
          <p:cNvSpPr txBox="1"/>
          <p:nvPr/>
        </p:nvSpPr>
        <p:spPr>
          <a:xfrm>
            <a:off x="8667750" y="15946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全年统计</a:t>
            </a:r>
          </a:p>
        </p:txBody>
      </p:sp>
      <p:sp>
        <p:nvSpPr>
          <p:cNvPr id="70" name="side-p"/>
          <p:cNvSpPr txBox="1"/>
          <p:nvPr/>
        </p:nvSpPr>
        <p:spPr>
          <a:xfrm>
            <a:off x="8673465" y="1869361"/>
            <a:ext cx="86264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单位：元 / 吨</a:t>
            </a:r>
          </a:p>
        </p:txBody>
      </p:sp>
      <p:sp>
        <p:nvSpPr>
          <p:cNvPr id="71" name="st-1"/>
          <p:cNvSpPr/>
          <p:nvPr/>
        </p:nvSpPr>
        <p:spPr>
          <a:xfrm>
            <a:off x="8509000" y="2260600"/>
            <a:ext cx="2730500" cy="444500"/>
          </a:xfrm>
          <a:custGeom>
            <a:avLst/>
            <a:gdLst/>
            <a:ahLst/>
            <a:cxnLst/>
            <a:rect l="0" t="0" r="r" b="b"/>
            <a:pathLst>
              <a:path w="2730500" h="444500">
                <a:moveTo>
                  <a:pt x="101600" y="0"/>
                </a:moveTo>
                <a:lnTo>
                  <a:pt x="2628900" y="0"/>
                </a:lnTo>
                <a:cubicBezTo>
                  <a:pt x="2685034" y="0"/>
                  <a:pt x="2730500" y="45466"/>
                  <a:pt x="2730500" y="101600"/>
                </a:cubicBezTo>
                <a:lnTo>
                  <a:pt x="2730500" y="342900"/>
                </a:lnTo>
                <a:cubicBezTo>
                  <a:pt x="2730500" y="399034"/>
                  <a:pt x="2685034" y="444500"/>
                  <a:pt x="2628900" y="444500"/>
                </a:cubicBezTo>
                <a:lnTo>
                  <a:pt x="101600" y="444500"/>
                </a:lnTo>
                <a:cubicBezTo>
                  <a:pt x="45466" y="444500"/>
                  <a:pt x="0" y="399034"/>
                  <a:pt x="0" y="3429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stl-1"/>
          <p:cNvSpPr txBox="1"/>
          <p:nvPr/>
        </p:nvSpPr>
        <p:spPr>
          <a:xfrm>
            <a:off x="8673465" y="2402761"/>
            <a:ext cx="5572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年初开盘</a:t>
            </a:r>
          </a:p>
        </p:txBody>
      </p:sp>
      <p:sp>
        <p:nvSpPr>
          <p:cNvPr id="73" name="stv-1"/>
          <p:cNvSpPr txBox="1"/>
          <p:nvPr/>
        </p:nvSpPr>
        <p:spPr>
          <a:xfrm>
            <a:off x="10443464" y="2364486"/>
            <a:ext cx="649224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>
                <a:solidFill>
                  <a:srgbClr val="0B2545"/>
                </a:solidFill>
                <a:latin typeface="Arial"/>
                <a:ea typeface="Arial"/>
                <a:cs typeface="Arial"/>
              </a:rPr>
              <a:t>18,600</a:t>
            </a:r>
          </a:p>
        </p:txBody>
      </p:sp>
      <p:sp>
        <p:nvSpPr>
          <p:cNvPr id="74" name="st-2"/>
          <p:cNvSpPr/>
          <p:nvPr/>
        </p:nvSpPr>
        <p:spPr>
          <a:xfrm>
            <a:off x="8509000" y="2794000"/>
            <a:ext cx="2730500" cy="444500"/>
          </a:xfrm>
          <a:custGeom>
            <a:avLst/>
            <a:gdLst/>
            <a:ahLst/>
            <a:cxnLst/>
            <a:rect l="0" t="0" r="r" b="b"/>
            <a:pathLst>
              <a:path w="2730500" h="444500">
                <a:moveTo>
                  <a:pt x="101600" y="0"/>
                </a:moveTo>
                <a:lnTo>
                  <a:pt x="2628900" y="0"/>
                </a:lnTo>
                <a:cubicBezTo>
                  <a:pt x="2685034" y="0"/>
                  <a:pt x="2730500" y="45466"/>
                  <a:pt x="2730500" y="101600"/>
                </a:cubicBezTo>
                <a:lnTo>
                  <a:pt x="2730500" y="342900"/>
                </a:lnTo>
                <a:cubicBezTo>
                  <a:pt x="2730500" y="399034"/>
                  <a:pt x="2685034" y="444500"/>
                  <a:pt x="2628900" y="444500"/>
                </a:cubicBezTo>
                <a:lnTo>
                  <a:pt x="101600" y="444500"/>
                </a:lnTo>
                <a:cubicBezTo>
                  <a:pt x="45466" y="444500"/>
                  <a:pt x="0" y="399034"/>
                  <a:pt x="0" y="3429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stl-2"/>
          <p:cNvSpPr txBox="1"/>
          <p:nvPr/>
        </p:nvSpPr>
        <p:spPr>
          <a:xfrm>
            <a:off x="8673465" y="2936161"/>
            <a:ext cx="5572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年末收盘</a:t>
            </a:r>
          </a:p>
        </p:txBody>
      </p:sp>
      <p:sp>
        <p:nvSpPr>
          <p:cNvPr id="76" name="stv-2"/>
          <p:cNvSpPr txBox="1"/>
          <p:nvPr/>
        </p:nvSpPr>
        <p:spPr>
          <a:xfrm>
            <a:off x="10443464" y="2897886"/>
            <a:ext cx="649224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>
                <a:solidFill>
                  <a:srgbClr val="0B2545"/>
                </a:solidFill>
                <a:latin typeface="Arial"/>
                <a:ea typeface="Arial"/>
                <a:cs typeface="Arial"/>
              </a:rPr>
              <a:t>21,300</a:t>
            </a:r>
          </a:p>
        </p:txBody>
      </p:sp>
      <p:sp>
        <p:nvSpPr>
          <p:cNvPr id="77" name="st-3"/>
          <p:cNvSpPr/>
          <p:nvPr/>
        </p:nvSpPr>
        <p:spPr>
          <a:xfrm>
            <a:off x="8509000" y="3327400"/>
            <a:ext cx="2730500" cy="444500"/>
          </a:xfrm>
          <a:custGeom>
            <a:avLst/>
            <a:gdLst/>
            <a:ahLst/>
            <a:cxnLst/>
            <a:rect l="0" t="0" r="r" b="b"/>
            <a:pathLst>
              <a:path w="2730500" h="444500">
                <a:moveTo>
                  <a:pt x="101600" y="0"/>
                </a:moveTo>
                <a:lnTo>
                  <a:pt x="2628900" y="0"/>
                </a:lnTo>
                <a:cubicBezTo>
                  <a:pt x="2685034" y="0"/>
                  <a:pt x="2730500" y="45466"/>
                  <a:pt x="2730500" y="101600"/>
                </a:cubicBezTo>
                <a:lnTo>
                  <a:pt x="2730500" y="342900"/>
                </a:lnTo>
                <a:cubicBezTo>
                  <a:pt x="2730500" y="399034"/>
                  <a:pt x="2685034" y="444500"/>
                  <a:pt x="2628900" y="444500"/>
                </a:cubicBezTo>
                <a:lnTo>
                  <a:pt x="101600" y="444500"/>
                </a:lnTo>
                <a:cubicBezTo>
                  <a:pt x="45466" y="444500"/>
                  <a:pt x="0" y="399034"/>
                  <a:pt x="0" y="3429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stl-3"/>
          <p:cNvSpPr txBox="1"/>
          <p:nvPr/>
        </p:nvSpPr>
        <p:spPr>
          <a:xfrm>
            <a:off x="8673465" y="3469561"/>
            <a:ext cx="5572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全年涨幅</a:t>
            </a:r>
          </a:p>
        </p:txBody>
      </p:sp>
      <p:sp>
        <p:nvSpPr>
          <p:cNvPr id="79" name="stv-3"/>
          <p:cNvSpPr txBox="1"/>
          <p:nvPr/>
        </p:nvSpPr>
        <p:spPr>
          <a:xfrm>
            <a:off x="10443464" y="3431286"/>
            <a:ext cx="649224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+14.5%</a:t>
            </a:r>
          </a:p>
        </p:txBody>
      </p:sp>
      <p:sp>
        <p:nvSpPr>
          <p:cNvPr id="80" name="st-4"/>
          <p:cNvSpPr/>
          <p:nvPr/>
        </p:nvSpPr>
        <p:spPr>
          <a:xfrm>
            <a:off x="8509000" y="3860800"/>
            <a:ext cx="2730500" cy="444500"/>
          </a:xfrm>
          <a:custGeom>
            <a:avLst/>
            <a:gdLst/>
            <a:ahLst/>
            <a:cxnLst/>
            <a:rect l="0" t="0" r="r" b="b"/>
            <a:pathLst>
              <a:path w="2730500" h="444500">
                <a:moveTo>
                  <a:pt x="101600" y="0"/>
                </a:moveTo>
                <a:lnTo>
                  <a:pt x="2628900" y="0"/>
                </a:lnTo>
                <a:cubicBezTo>
                  <a:pt x="2685034" y="0"/>
                  <a:pt x="2730500" y="45466"/>
                  <a:pt x="2730500" y="101600"/>
                </a:cubicBezTo>
                <a:lnTo>
                  <a:pt x="2730500" y="342900"/>
                </a:lnTo>
                <a:cubicBezTo>
                  <a:pt x="2730500" y="399034"/>
                  <a:pt x="2685034" y="444500"/>
                  <a:pt x="2628900" y="444500"/>
                </a:cubicBezTo>
                <a:lnTo>
                  <a:pt x="101600" y="444500"/>
                </a:lnTo>
                <a:cubicBezTo>
                  <a:pt x="45466" y="444500"/>
                  <a:pt x="0" y="399034"/>
                  <a:pt x="0" y="3429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stl-4"/>
          <p:cNvSpPr txBox="1"/>
          <p:nvPr/>
        </p:nvSpPr>
        <p:spPr>
          <a:xfrm>
            <a:off x="8673465" y="4002961"/>
            <a:ext cx="9001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上半年月均振幅</a:t>
            </a:r>
          </a:p>
        </p:txBody>
      </p:sp>
      <p:sp>
        <p:nvSpPr>
          <p:cNvPr id="82" name="stv-4"/>
          <p:cNvSpPr txBox="1"/>
          <p:nvPr/>
        </p:nvSpPr>
        <p:spPr>
          <a:xfrm>
            <a:off x="10699496" y="3964686"/>
            <a:ext cx="393192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933</a:t>
            </a:r>
          </a:p>
        </p:txBody>
      </p:sp>
      <p:sp>
        <p:nvSpPr>
          <p:cNvPr id="83" name="st-5"/>
          <p:cNvSpPr/>
          <p:nvPr/>
        </p:nvSpPr>
        <p:spPr>
          <a:xfrm>
            <a:off x="8509000" y="4394200"/>
            <a:ext cx="2730500" cy="444500"/>
          </a:xfrm>
          <a:custGeom>
            <a:avLst/>
            <a:gdLst/>
            <a:ahLst/>
            <a:cxnLst/>
            <a:rect l="0" t="0" r="r" b="b"/>
            <a:pathLst>
              <a:path w="2730500" h="444500">
                <a:moveTo>
                  <a:pt x="101600" y="0"/>
                </a:moveTo>
                <a:lnTo>
                  <a:pt x="2628900" y="0"/>
                </a:lnTo>
                <a:cubicBezTo>
                  <a:pt x="2685034" y="0"/>
                  <a:pt x="2730500" y="45466"/>
                  <a:pt x="2730500" y="101600"/>
                </a:cubicBezTo>
                <a:lnTo>
                  <a:pt x="2730500" y="342900"/>
                </a:lnTo>
                <a:cubicBezTo>
                  <a:pt x="2730500" y="399034"/>
                  <a:pt x="2685034" y="444500"/>
                  <a:pt x="2628900" y="444500"/>
                </a:cubicBezTo>
                <a:lnTo>
                  <a:pt x="101600" y="444500"/>
                </a:lnTo>
                <a:cubicBezTo>
                  <a:pt x="45466" y="444500"/>
                  <a:pt x="0" y="399034"/>
                  <a:pt x="0" y="3429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stl-5"/>
          <p:cNvSpPr txBox="1"/>
          <p:nvPr/>
        </p:nvSpPr>
        <p:spPr>
          <a:xfrm>
            <a:off x="8673465" y="4536361"/>
            <a:ext cx="9001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下半年月均振幅</a:t>
            </a:r>
          </a:p>
        </p:txBody>
      </p:sp>
      <p:sp>
        <p:nvSpPr>
          <p:cNvPr id="85" name="stv-5"/>
          <p:cNvSpPr txBox="1"/>
          <p:nvPr/>
        </p:nvSpPr>
        <p:spPr>
          <a:xfrm>
            <a:off x="10528808" y="4498086"/>
            <a:ext cx="56388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2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1,700</a:t>
            </a:r>
          </a:p>
        </p:txBody>
      </p:sp>
      <p:sp>
        <p:nvSpPr>
          <p:cNvPr id="86" name="sum"/>
          <p:cNvSpPr/>
          <p:nvPr/>
        </p:nvSpPr>
        <p:spPr>
          <a:xfrm>
            <a:off x="952500" y="5791200"/>
            <a:ext cx="10287000" cy="457200"/>
          </a:xfrm>
          <a:custGeom>
            <a:avLst/>
            <a:gdLst/>
            <a:ahLst/>
            <a:cxnLst/>
            <a:rect l="0" t="0" r="r" b="b"/>
            <a:pathLst>
              <a:path w="10287000" h="4572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68300"/>
                </a:lnTo>
                <a:cubicBezTo>
                  <a:pt x="10287000" y="417386"/>
                  <a:pt x="10247186" y="457200"/>
                  <a:pt x="10198100" y="457200"/>
                </a:cubicBezTo>
                <a:lnTo>
                  <a:pt x="88900" y="457200"/>
                </a:lnTo>
                <a:cubicBezTo>
                  <a:pt x="39815" y="457200"/>
                  <a:pt x="0" y="417386"/>
                  <a:pt x="0" y="3683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sum-bar"/>
          <p:cNvSpPr/>
          <p:nvPr/>
        </p:nvSpPr>
        <p:spPr>
          <a:xfrm>
            <a:off x="952500" y="5791200"/>
            <a:ext cx="31750" cy="4572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sum-h"/>
          <p:cNvSpPr txBox="1"/>
          <p:nvPr/>
        </p:nvSpPr>
        <p:spPr>
          <a:xfrm>
            <a:off x="1142746" y="59499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采购建议</a:t>
            </a:r>
          </a:p>
        </p:txBody>
      </p:sp>
      <p:sp>
        <p:nvSpPr>
          <p:cNvPr id="89" name="sum-p"/>
          <p:cNvSpPr txBox="1"/>
          <p:nvPr/>
        </p:nvSpPr>
        <p:spPr>
          <a:xfrm>
            <a:off x="1891665" y="5946061"/>
            <a:ext cx="45158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价格处于年内高位且波动放大，明年一季度用期货锁定 50% 用量，其余按月分批采购。</a:t>
            </a:r>
          </a:p>
        </p:txBody>
      </p:sp>
      <p:cxnSp>
        <p:nvCxnSpPr>
          <p:cNvPr id="90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foot-l"/>
          <p:cNvSpPr txBox="1"/>
          <p:nvPr/>
        </p:nvSpPr>
        <p:spPr>
          <a:xfrm>
            <a:off x="573532" y="6532308"/>
            <a:ext cx="9481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K 线图 · 12 个月</a:t>
            </a:r>
          </a:p>
        </p:txBody>
      </p:sp>
      <p:sp>
        <p:nvSpPr>
          <p:cNvPr id="92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新用户月度留存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53695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COHORT RETENTION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208899" y="673132"/>
            <a:ext cx="34118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每一行是一批同月注册的用户，往右看他们在之后每个月还剩多少</a:t>
            </a:r>
          </a:p>
        </p:txBody>
      </p:sp>
      <p:sp>
        <p:nvSpPr>
          <p:cNvPr id="10" name="ch-0"/>
          <p:cNvSpPr txBox="1"/>
          <p:nvPr/>
        </p:nvSpPr>
        <p:spPr>
          <a:xfrm>
            <a:off x="2732088" y="1431766"/>
            <a:ext cx="276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当月</a:t>
            </a:r>
          </a:p>
        </p:txBody>
      </p:sp>
      <p:sp>
        <p:nvSpPr>
          <p:cNvPr id="11" name="ch-1"/>
          <p:cNvSpPr txBox="1"/>
          <p:nvPr/>
        </p:nvSpPr>
        <p:spPr>
          <a:xfrm>
            <a:off x="3350578" y="1431766"/>
            <a:ext cx="4362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第 1 月</a:t>
            </a:r>
          </a:p>
        </p:txBody>
      </p:sp>
      <p:sp>
        <p:nvSpPr>
          <p:cNvPr id="12" name="ch-2"/>
          <p:cNvSpPr txBox="1"/>
          <p:nvPr/>
        </p:nvSpPr>
        <p:spPr>
          <a:xfrm>
            <a:off x="4049078" y="1431766"/>
            <a:ext cx="4362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第 2 月</a:t>
            </a:r>
          </a:p>
        </p:txBody>
      </p:sp>
      <p:sp>
        <p:nvSpPr>
          <p:cNvPr id="13" name="ch-3"/>
          <p:cNvSpPr txBox="1"/>
          <p:nvPr/>
        </p:nvSpPr>
        <p:spPr>
          <a:xfrm>
            <a:off x="4747578" y="1431766"/>
            <a:ext cx="4362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第 3 月</a:t>
            </a:r>
          </a:p>
        </p:txBody>
      </p:sp>
      <p:sp>
        <p:nvSpPr>
          <p:cNvPr id="14" name="ch-4"/>
          <p:cNvSpPr txBox="1"/>
          <p:nvPr/>
        </p:nvSpPr>
        <p:spPr>
          <a:xfrm>
            <a:off x="5446078" y="1431766"/>
            <a:ext cx="4362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第 4 月</a:t>
            </a:r>
          </a:p>
        </p:txBody>
      </p:sp>
      <p:sp>
        <p:nvSpPr>
          <p:cNvPr id="15" name="ch-5"/>
          <p:cNvSpPr txBox="1"/>
          <p:nvPr/>
        </p:nvSpPr>
        <p:spPr>
          <a:xfrm>
            <a:off x="6144578" y="1431766"/>
            <a:ext cx="4362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第 5 月</a:t>
            </a:r>
          </a:p>
        </p:txBody>
      </p:sp>
      <p:sp>
        <p:nvSpPr>
          <p:cNvPr id="16" name="ch-6"/>
          <p:cNvSpPr txBox="1"/>
          <p:nvPr/>
        </p:nvSpPr>
        <p:spPr>
          <a:xfrm>
            <a:off x="6843078" y="1431766"/>
            <a:ext cx="4362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第 6 月</a:t>
            </a:r>
          </a:p>
        </p:txBody>
      </p:sp>
      <p:sp>
        <p:nvSpPr>
          <p:cNvPr id="17" name="ch-7"/>
          <p:cNvSpPr txBox="1"/>
          <p:nvPr/>
        </p:nvSpPr>
        <p:spPr>
          <a:xfrm>
            <a:off x="7541578" y="1431766"/>
            <a:ext cx="4362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第 7 月</a:t>
            </a:r>
          </a:p>
        </p:txBody>
      </p:sp>
      <p:sp>
        <p:nvSpPr>
          <p:cNvPr id="18" name="rh-1"/>
          <p:cNvSpPr txBox="1"/>
          <p:nvPr/>
        </p:nvSpPr>
        <p:spPr>
          <a:xfrm>
            <a:off x="941070" y="1431766"/>
            <a:ext cx="4667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注册月份</a:t>
            </a:r>
          </a:p>
        </p:txBody>
      </p:sp>
      <p:sp>
        <p:nvSpPr>
          <p:cNvPr id="19" name="rh-2"/>
          <p:cNvSpPr txBox="1"/>
          <p:nvPr/>
        </p:nvSpPr>
        <p:spPr>
          <a:xfrm>
            <a:off x="2052955" y="1431766"/>
            <a:ext cx="3714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新用户</a:t>
            </a:r>
          </a:p>
        </p:txBody>
      </p:sp>
      <p:sp>
        <p:nvSpPr>
          <p:cNvPr id="20" name="cn-1"/>
          <p:cNvSpPr txBox="1"/>
          <p:nvPr/>
        </p:nvSpPr>
        <p:spPr>
          <a:xfrm>
            <a:off x="938022" y="1762347"/>
            <a:ext cx="3834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1 月</a:t>
            </a:r>
          </a:p>
        </p:txBody>
      </p:sp>
      <p:sp>
        <p:nvSpPr>
          <p:cNvPr id="21" name="cs-1"/>
          <p:cNvSpPr txBox="1"/>
          <p:nvPr/>
        </p:nvSpPr>
        <p:spPr>
          <a:xfrm>
            <a:off x="2026539" y="1771682"/>
            <a:ext cx="39941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3,200</a:t>
            </a:r>
          </a:p>
        </p:txBody>
      </p:sp>
      <p:sp>
        <p:nvSpPr>
          <p:cNvPr id="22" name="c-1-0"/>
          <p:cNvSpPr/>
          <p:nvPr/>
        </p:nvSpPr>
        <p:spPr>
          <a:xfrm>
            <a:off x="2540000" y="16637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ct-1-0"/>
          <p:cNvSpPr txBox="1"/>
          <p:nvPr/>
        </p:nvSpPr>
        <p:spPr>
          <a:xfrm>
            <a:off x="2700718" y="1771682"/>
            <a:ext cx="33896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100%</a:t>
            </a:r>
          </a:p>
        </p:txBody>
      </p:sp>
      <p:sp>
        <p:nvSpPr>
          <p:cNvPr id="24" name="c-1-1"/>
          <p:cNvSpPr/>
          <p:nvPr/>
        </p:nvSpPr>
        <p:spPr>
          <a:xfrm>
            <a:off x="3238500" y="16637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708FB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ct-1-1"/>
          <p:cNvSpPr txBox="1"/>
          <p:nvPr/>
        </p:nvSpPr>
        <p:spPr>
          <a:xfrm>
            <a:off x="3429445" y="177168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58%</a:t>
            </a:r>
          </a:p>
        </p:txBody>
      </p:sp>
      <p:sp>
        <p:nvSpPr>
          <p:cNvPr id="26" name="c-1-2"/>
          <p:cNvSpPr/>
          <p:nvPr/>
        </p:nvSpPr>
        <p:spPr>
          <a:xfrm>
            <a:off x="3937000" y="16637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8BA5C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ct-1-2"/>
          <p:cNvSpPr txBox="1"/>
          <p:nvPr/>
        </p:nvSpPr>
        <p:spPr>
          <a:xfrm>
            <a:off x="4127945" y="177168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46%</a:t>
            </a:r>
          </a:p>
        </p:txBody>
      </p:sp>
      <p:sp>
        <p:nvSpPr>
          <p:cNvPr id="28" name="c-1-3"/>
          <p:cNvSpPr/>
          <p:nvPr/>
        </p:nvSpPr>
        <p:spPr>
          <a:xfrm>
            <a:off x="4635500" y="16637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99B0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ct-1-3"/>
          <p:cNvSpPr txBox="1"/>
          <p:nvPr/>
        </p:nvSpPr>
        <p:spPr>
          <a:xfrm>
            <a:off x="4826444" y="177168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40%</a:t>
            </a:r>
          </a:p>
        </p:txBody>
      </p:sp>
      <p:sp>
        <p:nvSpPr>
          <p:cNvPr id="30" name="c-1-4"/>
          <p:cNvSpPr/>
          <p:nvPr/>
        </p:nvSpPr>
        <p:spPr>
          <a:xfrm>
            <a:off x="5334000" y="16637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A2B7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ct-1-4"/>
          <p:cNvSpPr txBox="1"/>
          <p:nvPr/>
        </p:nvSpPr>
        <p:spPr>
          <a:xfrm>
            <a:off x="5524944" y="177168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36%</a:t>
            </a:r>
          </a:p>
        </p:txBody>
      </p:sp>
      <p:sp>
        <p:nvSpPr>
          <p:cNvPr id="32" name="c-1-5"/>
          <p:cNvSpPr/>
          <p:nvPr/>
        </p:nvSpPr>
        <p:spPr>
          <a:xfrm>
            <a:off x="6032500" y="16637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A8BC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ct-1-5"/>
          <p:cNvSpPr txBox="1"/>
          <p:nvPr/>
        </p:nvSpPr>
        <p:spPr>
          <a:xfrm>
            <a:off x="6223444" y="177168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33%</a:t>
            </a:r>
          </a:p>
        </p:txBody>
      </p:sp>
      <p:sp>
        <p:nvSpPr>
          <p:cNvPr id="34" name="c-1-6"/>
          <p:cNvSpPr/>
          <p:nvPr/>
        </p:nvSpPr>
        <p:spPr>
          <a:xfrm>
            <a:off x="6731000" y="16637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ADC0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ct-1-6"/>
          <p:cNvSpPr txBox="1"/>
          <p:nvPr/>
        </p:nvSpPr>
        <p:spPr>
          <a:xfrm>
            <a:off x="6921944" y="177168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31%</a:t>
            </a:r>
          </a:p>
        </p:txBody>
      </p:sp>
      <p:sp>
        <p:nvSpPr>
          <p:cNvPr id="36" name="c-1-7"/>
          <p:cNvSpPr/>
          <p:nvPr/>
        </p:nvSpPr>
        <p:spPr>
          <a:xfrm>
            <a:off x="7429500" y="16637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AFC1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ct-1-7"/>
          <p:cNvSpPr txBox="1"/>
          <p:nvPr/>
        </p:nvSpPr>
        <p:spPr>
          <a:xfrm>
            <a:off x="7620444" y="177168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30%</a:t>
            </a:r>
          </a:p>
        </p:txBody>
      </p:sp>
      <p:sp>
        <p:nvSpPr>
          <p:cNvPr id="38" name="hl-1"/>
          <p:cNvSpPr/>
          <p:nvPr/>
        </p:nvSpPr>
        <p:spPr>
          <a:xfrm>
            <a:off x="4616450" y="1644650"/>
            <a:ext cx="698500" cy="431800"/>
          </a:xfrm>
          <a:custGeom>
            <a:avLst/>
            <a:gdLst/>
            <a:ahLst/>
            <a:cxnLst/>
            <a:rect l="0" t="0" r="r" b="b"/>
            <a:pathLst>
              <a:path w="698500" h="431800">
                <a:moveTo>
                  <a:pt x="76200" y="0"/>
                </a:moveTo>
                <a:lnTo>
                  <a:pt x="622300" y="0"/>
                </a:lnTo>
                <a:cubicBezTo>
                  <a:pt x="664400" y="0"/>
                  <a:pt x="698500" y="34100"/>
                  <a:pt x="698500" y="76200"/>
                </a:cubicBezTo>
                <a:lnTo>
                  <a:pt x="698500" y="355600"/>
                </a:lnTo>
                <a:cubicBezTo>
                  <a:pt x="698500" y="397700"/>
                  <a:pt x="664400" y="431800"/>
                  <a:pt x="6223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noFill/>
          <a:ln w="1651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cn-2"/>
          <p:cNvSpPr txBox="1"/>
          <p:nvPr/>
        </p:nvSpPr>
        <p:spPr>
          <a:xfrm>
            <a:off x="938022" y="2194147"/>
            <a:ext cx="3834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2 月</a:t>
            </a:r>
          </a:p>
        </p:txBody>
      </p:sp>
      <p:sp>
        <p:nvSpPr>
          <p:cNvPr id="40" name="cs-2"/>
          <p:cNvSpPr txBox="1"/>
          <p:nvPr/>
        </p:nvSpPr>
        <p:spPr>
          <a:xfrm>
            <a:off x="2026539" y="2203482"/>
            <a:ext cx="39941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2,860</a:t>
            </a:r>
          </a:p>
        </p:txBody>
      </p:sp>
      <p:sp>
        <p:nvSpPr>
          <p:cNvPr id="41" name="c-2-0"/>
          <p:cNvSpPr/>
          <p:nvPr/>
        </p:nvSpPr>
        <p:spPr>
          <a:xfrm>
            <a:off x="2540000" y="20955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ct-2-0"/>
          <p:cNvSpPr txBox="1"/>
          <p:nvPr/>
        </p:nvSpPr>
        <p:spPr>
          <a:xfrm>
            <a:off x="2700718" y="2203482"/>
            <a:ext cx="33896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100%</a:t>
            </a:r>
          </a:p>
        </p:txBody>
      </p:sp>
      <p:sp>
        <p:nvSpPr>
          <p:cNvPr id="43" name="c-2-1"/>
          <p:cNvSpPr/>
          <p:nvPr/>
        </p:nvSpPr>
        <p:spPr>
          <a:xfrm>
            <a:off x="3238500" y="20955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6D8DB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ct-2-1"/>
          <p:cNvSpPr txBox="1"/>
          <p:nvPr/>
        </p:nvSpPr>
        <p:spPr>
          <a:xfrm>
            <a:off x="3429445" y="220348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59%</a:t>
            </a:r>
          </a:p>
        </p:txBody>
      </p:sp>
      <p:sp>
        <p:nvSpPr>
          <p:cNvPr id="45" name="c-2-2"/>
          <p:cNvSpPr/>
          <p:nvPr/>
        </p:nvSpPr>
        <p:spPr>
          <a:xfrm>
            <a:off x="3937000" y="20955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89A3C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ct-2-2"/>
          <p:cNvSpPr txBox="1"/>
          <p:nvPr/>
        </p:nvSpPr>
        <p:spPr>
          <a:xfrm>
            <a:off x="4127945" y="220348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47%</a:t>
            </a:r>
          </a:p>
        </p:txBody>
      </p:sp>
      <p:sp>
        <p:nvSpPr>
          <p:cNvPr id="47" name="c-2-3"/>
          <p:cNvSpPr/>
          <p:nvPr/>
        </p:nvSpPr>
        <p:spPr>
          <a:xfrm>
            <a:off x="4635500" y="20955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97AED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ct-2-3"/>
          <p:cNvSpPr txBox="1"/>
          <p:nvPr/>
        </p:nvSpPr>
        <p:spPr>
          <a:xfrm>
            <a:off x="4826444" y="220348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41%</a:t>
            </a:r>
          </a:p>
        </p:txBody>
      </p:sp>
      <p:sp>
        <p:nvSpPr>
          <p:cNvPr id="49" name="c-2-4"/>
          <p:cNvSpPr/>
          <p:nvPr/>
        </p:nvSpPr>
        <p:spPr>
          <a:xfrm>
            <a:off x="5334000" y="20955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A0B6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ct-2-4"/>
          <p:cNvSpPr txBox="1"/>
          <p:nvPr/>
        </p:nvSpPr>
        <p:spPr>
          <a:xfrm>
            <a:off x="5524944" y="220348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37%</a:t>
            </a:r>
          </a:p>
        </p:txBody>
      </p:sp>
      <p:sp>
        <p:nvSpPr>
          <p:cNvPr id="51" name="c-2-5"/>
          <p:cNvSpPr/>
          <p:nvPr/>
        </p:nvSpPr>
        <p:spPr>
          <a:xfrm>
            <a:off x="6032500" y="20955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A7BB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ct-2-5"/>
          <p:cNvSpPr txBox="1"/>
          <p:nvPr/>
        </p:nvSpPr>
        <p:spPr>
          <a:xfrm>
            <a:off x="6223444" y="220348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34%</a:t>
            </a:r>
          </a:p>
        </p:txBody>
      </p:sp>
      <p:sp>
        <p:nvSpPr>
          <p:cNvPr id="53" name="c-2-6"/>
          <p:cNvSpPr/>
          <p:nvPr/>
        </p:nvSpPr>
        <p:spPr>
          <a:xfrm>
            <a:off x="6731000" y="20955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ABBF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ct-2-6"/>
          <p:cNvSpPr txBox="1"/>
          <p:nvPr/>
        </p:nvSpPr>
        <p:spPr>
          <a:xfrm>
            <a:off x="6921944" y="220348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32%</a:t>
            </a:r>
          </a:p>
        </p:txBody>
      </p:sp>
      <p:sp>
        <p:nvSpPr>
          <p:cNvPr id="55" name="cn-3"/>
          <p:cNvSpPr txBox="1"/>
          <p:nvPr/>
        </p:nvSpPr>
        <p:spPr>
          <a:xfrm>
            <a:off x="938022" y="2625947"/>
            <a:ext cx="3834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3 月</a:t>
            </a:r>
          </a:p>
        </p:txBody>
      </p:sp>
      <p:sp>
        <p:nvSpPr>
          <p:cNvPr id="56" name="cs-3"/>
          <p:cNvSpPr txBox="1"/>
          <p:nvPr/>
        </p:nvSpPr>
        <p:spPr>
          <a:xfrm>
            <a:off x="2026539" y="2635282"/>
            <a:ext cx="39941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3,480</a:t>
            </a:r>
          </a:p>
        </p:txBody>
      </p:sp>
      <p:sp>
        <p:nvSpPr>
          <p:cNvPr id="57" name="c-3-0"/>
          <p:cNvSpPr/>
          <p:nvPr/>
        </p:nvSpPr>
        <p:spPr>
          <a:xfrm>
            <a:off x="2540000" y="25273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ct-3-0"/>
          <p:cNvSpPr txBox="1"/>
          <p:nvPr/>
        </p:nvSpPr>
        <p:spPr>
          <a:xfrm>
            <a:off x="2700718" y="2635282"/>
            <a:ext cx="33896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100%</a:t>
            </a:r>
          </a:p>
        </p:txBody>
      </p:sp>
      <p:sp>
        <p:nvSpPr>
          <p:cNvPr id="59" name="c-3-1"/>
          <p:cNvSpPr/>
          <p:nvPr/>
        </p:nvSpPr>
        <p:spPr>
          <a:xfrm>
            <a:off x="3238500" y="25273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6B8B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ct-3-1"/>
          <p:cNvSpPr txBox="1"/>
          <p:nvPr/>
        </p:nvSpPr>
        <p:spPr>
          <a:xfrm>
            <a:off x="3429445" y="263528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60%</a:t>
            </a:r>
          </a:p>
        </p:txBody>
      </p:sp>
      <p:sp>
        <p:nvSpPr>
          <p:cNvPr id="61" name="c-3-2"/>
          <p:cNvSpPr/>
          <p:nvPr/>
        </p:nvSpPr>
        <p:spPr>
          <a:xfrm>
            <a:off x="3937000" y="25273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87A2C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ct-3-2"/>
          <p:cNvSpPr txBox="1"/>
          <p:nvPr/>
        </p:nvSpPr>
        <p:spPr>
          <a:xfrm>
            <a:off x="4127945" y="263528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48%</a:t>
            </a:r>
          </a:p>
        </p:txBody>
      </p:sp>
      <p:sp>
        <p:nvSpPr>
          <p:cNvPr id="63" name="c-3-3"/>
          <p:cNvSpPr/>
          <p:nvPr/>
        </p:nvSpPr>
        <p:spPr>
          <a:xfrm>
            <a:off x="4635500" y="25273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95A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ct-3-3"/>
          <p:cNvSpPr txBox="1"/>
          <p:nvPr/>
        </p:nvSpPr>
        <p:spPr>
          <a:xfrm>
            <a:off x="4826444" y="263528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42%</a:t>
            </a:r>
          </a:p>
        </p:txBody>
      </p:sp>
      <p:sp>
        <p:nvSpPr>
          <p:cNvPr id="65" name="c-3-4"/>
          <p:cNvSpPr/>
          <p:nvPr/>
        </p:nvSpPr>
        <p:spPr>
          <a:xfrm>
            <a:off x="5334000" y="25273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9E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ct-3-4"/>
          <p:cNvSpPr txBox="1"/>
          <p:nvPr/>
        </p:nvSpPr>
        <p:spPr>
          <a:xfrm>
            <a:off x="5524944" y="263528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37%</a:t>
            </a:r>
          </a:p>
        </p:txBody>
      </p:sp>
      <p:sp>
        <p:nvSpPr>
          <p:cNvPr id="67" name="c-3-5"/>
          <p:cNvSpPr/>
          <p:nvPr/>
        </p:nvSpPr>
        <p:spPr>
          <a:xfrm>
            <a:off x="6032500" y="25273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A5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ct-3-5"/>
          <p:cNvSpPr txBox="1"/>
          <p:nvPr/>
        </p:nvSpPr>
        <p:spPr>
          <a:xfrm>
            <a:off x="6223444" y="263528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34%</a:t>
            </a:r>
          </a:p>
        </p:txBody>
      </p:sp>
      <p:sp>
        <p:nvSpPr>
          <p:cNvPr id="69" name="cn-4"/>
          <p:cNvSpPr txBox="1"/>
          <p:nvPr/>
        </p:nvSpPr>
        <p:spPr>
          <a:xfrm>
            <a:off x="938022" y="3057747"/>
            <a:ext cx="3834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4 月</a:t>
            </a:r>
          </a:p>
        </p:txBody>
      </p:sp>
      <p:sp>
        <p:nvSpPr>
          <p:cNvPr id="70" name="cs-4"/>
          <p:cNvSpPr txBox="1"/>
          <p:nvPr/>
        </p:nvSpPr>
        <p:spPr>
          <a:xfrm>
            <a:off x="2026539" y="3067082"/>
            <a:ext cx="39941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3,920</a:t>
            </a:r>
          </a:p>
        </p:txBody>
      </p:sp>
      <p:sp>
        <p:nvSpPr>
          <p:cNvPr id="71" name="c-4-0"/>
          <p:cNvSpPr/>
          <p:nvPr/>
        </p:nvSpPr>
        <p:spPr>
          <a:xfrm>
            <a:off x="2540000" y="29591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ct-4-0"/>
          <p:cNvSpPr txBox="1"/>
          <p:nvPr/>
        </p:nvSpPr>
        <p:spPr>
          <a:xfrm>
            <a:off x="2700718" y="3067082"/>
            <a:ext cx="33896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100%</a:t>
            </a:r>
          </a:p>
        </p:txBody>
      </p:sp>
      <p:sp>
        <p:nvSpPr>
          <p:cNvPr id="73" name="c-4-1"/>
          <p:cNvSpPr/>
          <p:nvPr/>
        </p:nvSpPr>
        <p:spPr>
          <a:xfrm>
            <a:off x="3238500" y="29591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6788B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ct-4-1"/>
          <p:cNvSpPr txBox="1"/>
          <p:nvPr/>
        </p:nvSpPr>
        <p:spPr>
          <a:xfrm>
            <a:off x="3429445" y="306708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62%</a:t>
            </a:r>
          </a:p>
        </p:txBody>
      </p:sp>
      <p:sp>
        <p:nvSpPr>
          <p:cNvPr id="75" name="c-4-2"/>
          <p:cNvSpPr/>
          <p:nvPr/>
        </p:nvSpPr>
        <p:spPr>
          <a:xfrm>
            <a:off x="3937000" y="29591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839FC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ct-4-2"/>
          <p:cNvSpPr txBox="1"/>
          <p:nvPr/>
        </p:nvSpPr>
        <p:spPr>
          <a:xfrm>
            <a:off x="4127945" y="306708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49%</a:t>
            </a:r>
          </a:p>
        </p:txBody>
      </p:sp>
      <p:sp>
        <p:nvSpPr>
          <p:cNvPr id="77" name="c-4-3"/>
          <p:cNvSpPr/>
          <p:nvPr/>
        </p:nvSpPr>
        <p:spPr>
          <a:xfrm>
            <a:off x="4635500" y="29591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92AA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ct-4-3"/>
          <p:cNvSpPr txBox="1"/>
          <p:nvPr/>
        </p:nvSpPr>
        <p:spPr>
          <a:xfrm>
            <a:off x="4826444" y="306708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43%</a:t>
            </a:r>
          </a:p>
        </p:txBody>
      </p:sp>
      <p:sp>
        <p:nvSpPr>
          <p:cNvPr id="79" name="c-4-4"/>
          <p:cNvSpPr/>
          <p:nvPr/>
        </p:nvSpPr>
        <p:spPr>
          <a:xfrm>
            <a:off x="5334000" y="29591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9BB2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ct-4-4"/>
          <p:cNvSpPr txBox="1"/>
          <p:nvPr/>
        </p:nvSpPr>
        <p:spPr>
          <a:xfrm>
            <a:off x="5524944" y="306708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39%</a:t>
            </a:r>
          </a:p>
        </p:txBody>
      </p:sp>
      <p:sp>
        <p:nvSpPr>
          <p:cNvPr id="81" name="cn-5"/>
          <p:cNvSpPr txBox="1"/>
          <p:nvPr/>
        </p:nvSpPr>
        <p:spPr>
          <a:xfrm>
            <a:off x="938022" y="3489547"/>
            <a:ext cx="3834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5 月</a:t>
            </a:r>
          </a:p>
        </p:txBody>
      </p:sp>
      <p:sp>
        <p:nvSpPr>
          <p:cNvPr id="82" name="cs-5"/>
          <p:cNvSpPr txBox="1"/>
          <p:nvPr/>
        </p:nvSpPr>
        <p:spPr>
          <a:xfrm>
            <a:off x="2026539" y="3498882"/>
            <a:ext cx="39941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4,150</a:t>
            </a:r>
          </a:p>
        </p:txBody>
      </p:sp>
      <p:sp>
        <p:nvSpPr>
          <p:cNvPr id="83" name="c-5-0"/>
          <p:cNvSpPr/>
          <p:nvPr/>
        </p:nvSpPr>
        <p:spPr>
          <a:xfrm>
            <a:off x="2540000" y="33909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ct-5-0"/>
          <p:cNvSpPr txBox="1"/>
          <p:nvPr/>
        </p:nvSpPr>
        <p:spPr>
          <a:xfrm>
            <a:off x="2700718" y="3498882"/>
            <a:ext cx="33896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100%</a:t>
            </a:r>
          </a:p>
        </p:txBody>
      </p:sp>
      <p:sp>
        <p:nvSpPr>
          <p:cNvPr id="85" name="c-5-1"/>
          <p:cNvSpPr/>
          <p:nvPr/>
        </p:nvSpPr>
        <p:spPr>
          <a:xfrm>
            <a:off x="3238500" y="33909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6384B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ct-5-1"/>
          <p:cNvSpPr txBox="1"/>
          <p:nvPr/>
        </p:nvSpPr>
        <p:spPr>
          <a:xfrm>
            <a:off x="3429445" y="349888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64%</a:t>
            </a:r>
          </a:p>
        </p:txBody>
      </p:sp>
      <p:sp>
        <p:nvSpPr>
          <p:cNvPr id="87" name="c-5-2"/>
          <p:cNvSpPr/>
          <p:nvPr/>
        </p:nvSpPr>
        <p:spPr>
          <a:xfrm>
            <a:off x="3937000" y="33909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809C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ct-5-2"/>
          <p:cNvSpPr txBox="1"/>
          <p:nvPr/>
        </p:nvSpPr>
        <p:spPr>
          <a:xfrm>
            <a:off x="4127945" y="349888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51%</a:t>
            </a:r>
          </a:p>
        </p:txBody>
      </p:sp>
      <p:sp>
        <p:nvSpPr>
          <p:cNvPr id="89" name="c-5-3"/>
          <p:cNvSpPr/>
          <p:nvPr/>
        </p:nvSpPr>
        <p:spPr>
          <a:xfrm>
            <a:off x="4635500" y="33909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8EA7C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ct-5-3"/>
          <p:cNvSpPr txBox="1"/>
          <p:nvPr/>
        </p:nvSpPr>
        <p:spPr>
          <a:xfrm>
            <a:off x="4826444" y="349888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45%</a:t>
            </a:r>
          </a:p>
        </p:txBody>
      </p:sp>
      <p:sp>
        <p:nvSpPr>
          <p:cNvPr id="91" name="hl-5"/>
          <p:cNvSpPr/>
          <p:nvPr/>
        </p:nvSpPr>
        <p:spPr>
          <a:xfrm>
            <a:off x="4616450" y="3371850"/>
            <a:ext cx="698500" cy="431800"/>
          </a:xfrm>
          <a:custGeom>
            <a:avLst/>
            <a:gdLst/>
            <a:ahLst/>
            <a:cxnLst/>
            <a:rect l="0" t="0" r="r" b="b"/>
            <a:pathLst>
              <a:path w="698500" h="431800">
                <a:moveTo>
                  <a:pt x="76200" y="0"/>
                </a:moveTo>
                <a:lnTo>
                  <a:pt x="622300" y="0"/>
                </a:lnTo>
                <a:cubicBezTo>
                  <a:pt x="664400" y="0"/>
                  <a:pt x="698500" y="34100"/>
                  <a:pt x="698500" y="76200"/>
                </a:cubicBezTo>
                <a:lnTo>
                  <a:pt x="698500" y="355600"/>
                </a:lnTo>
                <a:cubicBezTo>
                  <a:pt x="698500" y="397700"/>
                  <a:pt x="664400" y="431800"/>
                  <a:pt x="622300" y="431800"/>
                </a:cubicBezTo>
                <a:lnTo>
                  <a:pt x="76200" y="431800"/>
                </a:lnTo>
                <a:cubicBezTo>
                  <a:pt x="34100" y="431800"/>
                  <a:pt x="0" y="397700"/>
                  <a:pt x="0" y="3556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noFill/>
          <a:ln w="1651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cn-6"/>
          <p:cNvSpPr txBox="1"/>
          <p:nvPr/>
        </p:nvSpPr>
        <p:spPr>
          <a:xfrm>
            <a:off x="938022" y="3921347"/>
            <a:ext cx="3834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6 月</a:t>
            </a:r>
          </a:p>
        </p:txBody>
      </p:sp>
      <p:sp>
        <p:nvSpPr>
          <p:cNvPr id="93" name="cs-6"/>
          <p:cNvSpPr txBox="1"/>
          <p:nvPr/>
        </p:nvSpPr>
        <p:spPr>
          <a:xfrm>
            <a:off x="2026539" y="3930682"/>
            <a:ext cx="39941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4,380</a:t>
            </a:r>
          </a:p>
        </p:txBody>
      </p:sp>
      <p:sp>
        <p:nvSpPr>
          <p:cNvPr id="94" name="c-6-0"/>
          <p:cNvSpPr/>
          <p:nvPr/>
        </p:nvSpPr>
        <p:spPr>
          <a:xfrm>
            <a:off x="2540000" y="38227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ct-6-0"/>
          <p:cNvSpPr txBox="1"/>
          <p:nvPr/>
        </p:nvSpPr>
        <p:spPr>
          <a:xfrm>
            <a:off x="2700718" y="3930682"/>
            <a:ext cx="33896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100%</a:t>
            </a:r>
          </a:p>
        </p:txBody>
      </p:sp>
      <p:sp>
        <p:nvSpPr>
          <p:cNvPr id="96" name="c-6-1"/>
          <p:cNvSpPr/>
          <p:nvPr/>
        </p:nvSpPr>
        <p:spPr>
          <a:xfrm>
            <a:off x="3238500" y="38227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5E81B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ct-6-1"/>
          <p:cNvSpPr txBox="1"/>
          <p:nvPr/>
        </p:nvSpPr>
        <p:spPr>
          <a:xfrm>
            <a:off x="3429445" y="393068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65%</a:t>
            </a:r>
          </a:p>
        </p:txBody>
      </p:sp>
      <p:sp>
        <p:nvSpPr>
          <p:cNvPr id="98" name="c-6-2"/>
          <p:cNvSpPr/>
          <p:nvPr/>
        </p:nvSpPr>
        <p:spPr>
          <a:xfrm>
            <a:off x="3937000" y="38227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7C98C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9" name="ct-6-2"/>
          <p:cNvSpPr txBox="1"/>
          <p:nvPr/>
        </p:nvSpPr>
        <p:spPr>
          <a:xfrm>
            <a:off x="4127945" y="393068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53%</a:t>
            </a:r>
          </a:p>
        </p:txBody>
      </p:sp>
      <p:sp>
        <p:nvSpPr>
          <p:cNvPr id="100" name="cn-7"/>
          <p:cNvSpPr txBox="1"/>
          <p:nvPr/>
        </p:nvSpPr>
        <p:spPr>
          <a:xfrm>
            <a:off x="938022" y="4353147"/>
            <a:ext cx="3834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7 月</a:t>
            </a:r>
          </a:p>
        </p:txBody>
      </p:sp>
      <p:sp>
        <p:nvSpPr>
          <p:cNvPr id="101" name="cs-7"/>
          <p:cNvSpPr txBox="1"/>
          <p:nvPr/>
        </p:nvSpPr>
        <p:spPr>
          <a:xfrm>
            <a:off x="2026539" y="4362482"/>
            <a:ext cx="39941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4,620</a:t>
            </a:r>
          </a:p>
        </p:txBody>
      </p:sp>
      <p:sp>
        <p:nvSpPr>
          <p:cNvPr id="102" name="c-7-0"/>
          <p:cNvSpPr/>
          <p:nvPr/>
        </p:nvSpPr>
        <p:spPr>
          <a:xfrm>
            <a:off x="2540000" y="42545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ct-7-0"/>
          <p:cNvSpPr txBox="1"/>
          <p:nvPr/>
        </p:nvSpPr>
        <p:spPr>
          <a:xfrm>
            <a:off x="2700718" y="4362482"/>
            <a:ext cx="33896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100%</a:t>
            </a:r>
          </a:p>
        </p:txBody>
      </p:sp>
      <p:sp>
        <p:nvSpPr>
          <p:cNvPr id="104" name="c-7-1"/>
          <p:cNvSpPr/>
          <p:nvPr/>
        </p:nvSpPr>
        <p:spPr>
          <a:xfrm>
            <a:off x="3238500" y="42545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587CB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ct-7-1"/>
          <p:cNvSpPr txBox="1"/>
          <p:nvPr/>
        </p:nvSpPr>
        <p:spPr>
          <a:xfrm>
            <a:off x="3429445" y="436248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68%</a:t>
            </a:r>
          </a:p>
        </p:txBody>
      </p:sp>
      <p:sp>
        <p:nvSpPr>
          <p:cNvPr id="106" name="cn-8"/>
          <p:cNvSpPr txBox="1"/>
          <p:nvPr/>
        </p:nvSpPr>
        <p:spPr>
          <a:xfrm>
            <a:off x="938022" y="4784947"/>
            <a:ext cx="3834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8 月</a:t>
            </a:r>
          </a:p>
        </p:txBody>
      </p:sp>
      <p:sp>
        <p:nvSpPr>
          <p:cNvPr id="107" name="cs-8"/>
          <p:cNvSpPr txBox="1"/>
          <p:nvPr/>
        </p:nvSpPr>
        <p:spPr>
          <a:xfrm>
            <a:off x="2026539" y="4794282"/>
            <a:ext cx="39941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5,010</a:t>
            </a:r>
          </a:p>
        </p:txBody>
      </p:sp>
      <p:sp>
        <p:nvSpPr>
          <p:cNvPr id="108" name="c-8-0"/>
          <p:cNvSpPr/>
          <p:nvPr/>
        </p:nvSpPr>
        <p:spPr>
          <a:xfrm>
            <a:off x="2540000" y="4686300"/>
            <a:ext cx="660400" cy="393700"/>
          </a:xfrm>
          <a:custGeom>
            <a:avLst/>
            <a:gdLst/>
            <a:ahLst/>
            <a:cxnLst/>
            <a:rect l="0" t="0" r="r" b="b"/>
            <a:pathLst>
              <a:path w="660400" h="393700">
                <a:moveTo>
                  <a:pt x="63500" y="0"/>
                </a:moveTo>
                <a:lnTo>
                  <a:pt x="596900" y="0"/>
                </a:lnTo>
                <a:cubicBezTo>
                  <a:pt x="631952" y="0"/>
                  <a:pt x="660400" y="28448"/>
                  <a:pt x="660400" y="63500"/>
                </a:cubicBezTo>
                <a:lnTo>
                  <a:pt x="660400" y="330200"/>
                </a:lnTo>
                <a:cubicBezTo>
                  <a:pt x="660400" y="365252"/>
                  <a:pt x="631952" y="393700"/>
                  <a:pt x="596900" y="393700"/>
                </a:cubicBezTo>
                <a:lnTo>
                  <a:pt x="63500" y="393700"/>
                </a:lnTo>
                <a:cubicBezTo>
                  <a:pt x="28448" y="393700"/>
                  <a:pt x="0" y="365252"/>
                  <a:pt x="0" y="3302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ct-8-0"/>
          <p:cNvSpPr txBox="1"/>
          <p:nvPr/>
        </p:nvSpPr>
        <p:spPr>
          <a:xfrm>
            <a:off x="2700718" y="4794282"/>
            <a:ext cx="33896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100%</a:t>
            </a:r>
          </a:p>
        </p:txBody>
      </p:sp>
      <p:cxnSp>
        <p:nvCxnSpPr>
          <p:cNvPr id="110" name="cmp-l"/>
          <p:cNvCxnSpPr/>
          <p:nvPr/>
        </p:nvCxnSpPr>
        <p:spPr>
          <a:xfrm>
            <a:off x="4965700" y="3822700"/>
            <a:ext cx="0" cy="1257300"/>
          </a:xfrm>
          <a:prstGeom prst="line">
            <a:avLst/>
          </a:prstGeom>
          <a:ln w="10160" cap="rnd">
            <a:solidFill>
              <a:srgbClr val="E0703A">
                <a:alpha val="6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1" name="cmp"/>
          <p:cNvSpPr/>
          <p:nvPr/>
        </p:nvSpPr>
        <p:spPr>
          <a:xfrm>
            <a:off x="4394200" y="5092700"/>
            <a:ext cx="1143000" cy="215900"/>
          </a:xfrm>
          <a:custGeom>
            <a:avLst/>
            <a:gdLst/>
            <a:ahLst/>
            <a:cxnLst/>
            <a:rect l="0" t="0" r="r" b="b"/>
            <a:pathLst>
              <a:path w="1143000" h="215900">
                <a:moveTo>
                  <a:pt x="107950" y="0"/>
                </a:moveTo>
                <a:lnTo>
                  <a:pt x="1035050" y="0"/>
                </a:lnTo>
                <a:cubicBezTo>
                  <a:pt x="1094676" y="0"/>
                  <a:pt x="1143000" y="48324"/>
                  <a:pt x="1143000" y="107950"/>
                </a:cubicBezTo>
                <a:lnTo>
                  <a:pt x="1143000" y="107950"/>
                </a:lnTo>
                <a:cubicBezTo>
                  <a:pt x="1143000" y="167576"/>
                  <a:pt x="1094676" y="215900"/>
                  <a:pt x="1035050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2" name="cmp-t"/>
          <p:cNvSpPr txBox="1"/>
          <p:nvPr/>
        </p:nvSpPr>
        <p:spPr>
          <a:xfrm>
            <a:off x="4528185" y="5121116"/>
            <a:ext cx="87503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第 3 月 +5 个点</a:t>
            </a:r>
          </a:p>
        </p:txBody>
      </p:sp>
      <p:sp>
        <p:nvSpPr>
          <p:cNvPr id="113" name="side-bar"/>
          <p:cNvSpPr/>
          <p:nvPr/>
        </p:nvSpPr>
        <p:spPr>
          <a:xfrm>
            <a:off x="8445500" y="15875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4" name="side-h"/>
          <p:cNvSpPr txBox="1"/>
          <p:nvPr/>
        </p:nvSpPr>
        <p:spPr>
          <a:xfrm>
            <a:off x="8604250" y="1594644"/>
            <a:ext cx="6572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怎么读</a:t>
            </a:r>
          </a:p>
        </p:txBody>
      </p:sp>
      <p:sp>
        <p:nvSpPr>
          <p:cNvPr id="115" name="side-p"/>
          <p:cNvSpPr txBox="1"/>
          <p:nvPr/>
        </p:nvSpPr>
        <p:spPr>
          <a:xfrm>
            <a:off x="8609965" y="1869361"/>
            <a:ext cx="169132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越往右、越往下，颜色越深越好</a:t>
            </a:r>
          </a:p>
        </p:txBody>
      </p:sp>
      <p:sp>
        <p:nvSpPr>
          <p:cNvPr id="116" name="k-1"/>
          <p:cNvSpPr/>
          <p:nvPr/>
        </p:nvSpPr>
        <p:spPr>
          <a:xfrm>
            <a:off x="8445500" y="2260600"/>
            <a:ext cx="2794000" cy="952500"/>
          </a:xfrm>
          <a:custGeom>
            <a:avLst/>
            <a:gdLst/>
            <a:ahLst/>
            <a:cxnLst/>
            <a:rect l="0" t="0" r="r" b="b"/>
            <a:pathLst>
              <a:path w="2794000" h="952500">
                <a:moveTo>
                  <a:pt x="127000" y="0"/>
                </a:moveTo>
                <a:lnTo>
                  <a:pt x="2667000" y="0"/>
                </a:lnTo>
                <a:cubicBezTo>
                  <a:pt x="2737167" y="0"/>
                  <a:pt x="2794000" y="56832"/>
                  <a:pt x="2794000" y="127000"/>
                </a:cubicBezTo>
                <a:lnTo>
                  <a:pt x="2794000" y="825500"/>
                </a:lnTo>
                <a:cubicBezTo>
                  <a:pt x="2794000" y="895668"/>
                  <a:pt x="2737167" y="952500"/>
                  <a:pt x="2667000" y="952500"/>
                </a:cubicBezTo>
                <a:lnTo>
                  <a:pt x="127000" y="952500"/>
                </a:lnTo>
                <a:cubicBezTo>
                  <a:pt x="56833" y="952500"/>
                  <a:pt x="0" y="895668"/>
                  <a:pt x="0" y="8255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7" name="kh-1"/>
          <p:cNvSpPr txBox="1"/>
          <p:nvPr/>
        </p:nvSpPr>
        <p:spPr>
          <a:xfrm>
            <a:off x="8622284" y="2398840"/>
            <a:ext cx="585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次月留存</a:t>
            </a:r>
          </a:p>
        </p:txBody>
      </p:sp>
      <p:sp>
        <p:nvSpPr>
          <p:cNvPr id="118" name="kv-1"/>
          <p:cNvSpPr txBox="1"/>
          <p:nvPr/>
        </p:nvSpPr>
        <p:spPr>
          <a:xfrm>
            <a:off x="8610092" y="2603564"/>
            <a:ext cx="1311021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58% → 68%</a:t>
            </a:r>
          </a:p>
        </p:txBody>
      </p:sp>
      <p:sp>
        <p:nvSpPr>
          <p:cNvPr id="119" name="kd-1"/>
          <p:cNvSpPr txBox="1"/>
          <p:nvPr/>
        </p:nvSpPr>
        <p:spPr>
          <a:xfrm>
            <a:off x="8624570" y="2968466"/>
            <a:ext cx="11106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 月批次 vs 7 月批次</a:t>
            </a:r>
          </a:p>
        </p:txBody>
      </p:sp>
      <p:sp>
        <p:nvSpPr>
          <p:cNvPr id="120" name="k-2"/>
          <p:cNvSpPr/>
          <p:nvPr/>
        </p:nvSpPr>
        <p:spPr>
          <a:xfrm>
            <a:off x="8445500" y="3340100"/>
            <a:ext cx="2794000" cy="952500"/>
          </a:xfrm>
          <a:custGeom>
            <a:avLst/>
            <a:gdLst/>
            <a:ahLst/>
            <a:cxnLst/>
            <a:rect l="0" t="0" r="r" b="b"/>
            <a:pathLst>
              <a:path w="2794000" h="952500">
                <a:moveTo>
                  <a:pt x="127000" y="0"/>
                </a:moveTo>
                <a:lnTo>
                  <a:pt x="2667000" y="0"/>
                </a:lnTo>
                <a:cubicBezTo>
                  <a:pt x="2737167" y="0"/>
                  <a:pt x="2794000" y="56833"/>
                  <a:pt x="2794000" y="127000"/>
                </a:cubicBezTo>
                <a:lnTo>
                  <a:pt x="2794000" y="825500"/>
                </a:lnTo>
                <a:cubicBezTo>
                  <a:pt x="2794000" y="895667"/>
                  <a:pt x="2737167" y="952500"/>
                  <a:pt x="2667000" y="952500"/>
                </a:cubicBezTo>
                <a:lnTo>
                  <a:pt x="127000" y="952500"/>
                </a:lnTo>
                <a:cubicBezTo>
                  <a:pt x="56833" y="952500"/>
                  <a:pt x="0" y="895667"/>
                  <a:pt x="0" y="8255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1" name="kh-2"/>
          <p:cNvSpPr txBox="1"/>
          <p:nvPr/>
        </p:nvSpPr>
        <p:spPr>
          <a:xfrm>
            <a:off x="8622284" y="3478340"/>
            <a:ext cx="79654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第 3 月留存</a:t>
            </a:r>
          </a:p>
        </p:txBody>
      </p:sp>
      <p:sp>
        <p:nvSpPr>
          <p:cNvPr id="122" name="kv-2"/>
          <p:cNvSpPr txBox="1"/>
          <p:nvPr/>
        </p:nvSpPr>
        <p:spPr>
          <a:xfrm>
            <a:off x="8610092" y="3683064"/>
            <a:ext cx="1311021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40% → 45%</a:t>
            </a:r>
          </a:p>
        </p:txBody>
      </p:sp>
      <p:sp>
        <p:nvSpPr>
          <p:cNvPr id="123" name="kd-2"/>
          <p:cNvSpPr txBox="1"/>
          <p:nvPr/>
        </p:nvSpPr>
        <p:spPr>
          <a:xfrm>
            <a:off x="8624570" y="4047966"/>
            <a:ext cx="13620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5 月上线新手引导后明显抬升</a:t>
            </a:r>
          </a:p>
        </p:txBody>
      </p:sp>
      <p:sp>
        <p:nvSpPr>
          <p:cNvPr id="124" name="k-3"/>
          <p:cNvSpPr/>
          <p:nvPr/>
        </p:nvSpPr>
        <p:spPr>
          <a:xfrm>
            <a:off x="8445500" y="4419600"/>
            <a:ext cx="2794000" cy="952500"/>
          </a:xfrm>
          <a:custGeom>
            <a:avLst/>
            <a:gdLst/>
            <a:ahLst/>
            <a:cxnLst/>
            <a:rect l="0" t="0" r="r" b="b"/>
            <a:pathLst>
              <a:path w="2794000" h="952500">
                <a:moveTo>
                  <a:pt x="127000" y="0"/>
                </a:moveTo>
                <a:lnTo>
                  <a:pt x="2667000" y="0"/>
                </a:lnTo>
                <a:cubicBezTo>
                  <a:pt x="2737167" y="0"/>
                  <a:pt x="2794000" y="56833"/>
                  <a:pt x="2794000" y="127000"/>
                </a:cubicBezTo>
                <a:lnTo>
                  <a:pt x="2794000" y="825500"/>
                </a:lnTo>
                <a:cubicBezTo>
                  <a:pt x="2794000" y="895667"/>
                  <a:pt x="2737167" y="952500"/>
                  <a:pt x="2667000" y="952500"/>
                </a:cubicBezTo>
                <a:lnTo>
                  <a:pt x="127000" y="952500"/>
                </a:lnTo>
                <a:cubicBezTo>
                  <a:pt x="56833" y="952500"/>
                  <a:pt x="0" y="895667"/>
                  <a:pt x="0" y="8255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5" name="kh-3"/>
          <p:cNvSpPr txBox="1"/>
          <p:nvPr/>
        </p:nvSpPr>
        <p:spPr>
          <a:xfrm>
            <a:off x="8622284" y="4557840"/>
            <a:ext cx="70612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长期稳定线</a:t>
            </a:r>
          </a:p>
        </p:txBody>
      </p:sp>
      <p:sp>
        <p:nvSpPr>
          <p:cNvPr id="126" name="kv-3"/>
          <p:cNvSpPr txBox="1"/>
          <p:nvPr/>
        </p:nvSpPr>
        <p:spPr>
          <a:xfrm>
            <a:off x="8610092" y="4762564"/>
            <a:ext cx="909701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约 30%</a:t>
            </a:r>
          </a:p>
        </p:txBody>
      </p:sp>
      <p:sp>
        <p:nvSpPr>
          <p:cNvPr id="127" name="kd-3"/>
          <p:cNvSpPr txBox="1"/>
          <p:nvPr/>
        </p:nvSpPr>
        <p:spPr>
          <a:xfrm>
            <a:off x="8624570" y="5127466"/>
            <a:ext cx="96012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半年后流失基本停止</a:t>
            </a:r>
          </a:p>
        </p:txBody>
      </p:sp>
      <p:cxnSp>
        <p:nvCxnSpPr>
          <p:cNvPr id="128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9" name="foot-l"/>
          <p:cNvSpPr txBox="1"/>
          <p:nvPr/>
        </p:nvSpPr>
        <p:spPr>
          <a:xfrm>
            <a:off x="573532" y="6532308"/>
            <a:ext cx="116395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同期群留存 · 8 个批次</a:t>
            </a:r>
          </a:p>
        </p:txBody>
      </p:sp>
      <p:sp>
        <p:nvSpPr>
          <p:cNvPr id="130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客服咨询时段分布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99060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PUNCH CARD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7903083" y="673132"/>
            <a:ext cx="371767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一周 × 24 小时，圆越大咨询越多——工作日上午和周末晚上是两个高峰</a:t>
            </a:r>
          </a:p>
        </p:txBody>
      </p:sp>
      <p:sp>
        <p:nvSpPr>
          <p:cNvPr id="10" name="h-0"/>
          <p:cNvSpPr txBox="1"/>
          <p:nvPr/>
        </p:nvSpPr>
        <p:spPr>
          <a:xfrm>
            <a:off x="1645042" y="1630108"/>
            <a:ext cx="2791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0:00</a:t>
            </a:r>
          </a:p>
        </p:txBody>
      </p:sp>
      <p:cxnSp>
        <p:nvCxnSpPr>
          <p:cNvPr id="11" name="hv-0"/>
          <p:cNvCxnSpPr/>
          <p:nvPr/>
        </p:nvCxnSpPr>
        <p:spPr>
          <a:xfrm>
            <a:off x="1784615" y="1854200"/>
            <a:ext cx="0" cy="33020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hv-1"/>
          <p:cNvCxnSpPr/>
          <p:nvPr/>
        </p:nvCxnSpPr>
        <p:spPr>
          <a:xfrm>
            <a:off x="2178844" y="1854200"/>
            <a:ext cx="0" cy="33020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hv-2"/>
          <p:cNvCxnSpPr/>
          <p:nvPr/>
        </p:nvCxnSpPr>
        <p:spPr>
          <a:xfrm>
            <a:off x="2573073" y="1854200"/>
            <a:ext cx="0" cy="33020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h-3"/>
          <p:cNvSpPr txBox="1"/>
          <p:nvPr/>
        </p:nvSpPr>
        <p:spPr>
          <a:xfrm>
            <a:off x="2827729" y="1630108"/>
            <a:ext cx="2791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3:00</a:t>
            </a:r>
          </a:p>
        </p:txBody>
      </p:sp>
      <p:cxnSp>
        <p:nvCxnSpPr>
          <p:cNvPr id="15" name="hv-3"/>
          <p:cNvCxnSpPr/>
          <p:nvPr/>
        </p:nvCxnSpPr>
        <p:spPr>
          <a:xfrm>
            <a:off x="2967302" y="1854200"/>
            <a:ext cx="0" cy="33020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hv-4"/>
          <p:cNvCxnSpPr/>
          <p:nvPr/>
        </p:nvCxnSpPr>
        <p:spPr>
          <a:xfrm>
            <a:off x="3361531" y="1854200"/>
            <a:ext cx="0" cy="33020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hv-5"/>
          <p:cNvCxnSpPr/>
          <p:nvPr/>
        </p:nvCxnSpPr>
        <p:spPr>
          <a:xfrm>
            <a:off x="3755760" y="1854200"/>
            <a:ext cx="0" cy="33020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h-6"/>
          <p:cNvSpPr txBox="1"/>
          <p:nvPr/>
        </p:nvSpPr>
        <p:spPr>
          <a:xfrm>
            <a:off x="4010417" y="1630108"/>
            <a:ext cx="2791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6:00</a:t>
            </a:r>
          </a:p>
        </p:txBody>
      </p:sp>
      <p:cxnSp>
        <p:nvCxnSpPr>
          <p:cNvPr id="19" name="hv-6"/>
          <p:cNvCxnSpPr/>
          <p:nvPr/>
        </p:nvCxnSpPr>
        <p:spPr>
          <a:xfrm>
            <a:off x="4149990" y="1854200"/>
            <a:ext cx="0" cy="33020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hv-7"/>
          <p:cNvCxnSpPr/>
          <p:nvPr/>
        </p:nvCxnSpPr>
        <p:spPr>
          <a:xfrm>
            <a:off x="4544219" y="1854200"/>
            <a:ext cx="0" cy="33020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hv-8"/>
          <p:cNvCxnSpPr/>
          <p:nvPr/>
        </p:nvCxnSpPr>
        <p:spPr>
          <a:xfrm>
            <a:off x="4938448" y="1854200"/>
            <a:ext cx="0" cy="33020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h-9"/>
          <p:cNvSpPr txBox="1"/>
          <p:nvPr/>
        </p:nvSpPr>
        <p:spPr>
          <a:xfrm>
            <a:off x="5193104" y="1630108"/>
            <a:ext cx="2791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9:00</a:t>
            </a:r>
          </a:p>
        </p:txBody>
      </p:sp>
      <p:cxnSp>
        <p:nvCxnSpPr>
          <p:cNvPr id="23" name="hv-9"/>
          <p:cNvCxnSpPr/>
          <p:nvPr/>
        </p:nvCxnSpPr>
        <p:spPr>
          <a:xfrm>
            <a:off x="5332677" y="1854200"/>
            <a:ext cx="0" cy="33020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hv-10"/>
          <p:cNvCxnSpPr/>
          <p:nvPr/>
        </p:nvCxnSpPr>
        <p:spPr>
          <a:xfrm>
            <a:off x="5726906" y="1854200"/>
            <a:ext cx="0" cy="33020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hv-11"/>
          <p:cNvCxnSpPr/>
          <p:nvPr/>
        </p:nvCxnSpPr>
        <p:spPr>
          <a:xfrm>
            <a:off x="6121135" y="1854200"/>
            <a:ext cx="0" cy="33020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h-12"/>
          <p:cNvSpPr txBox="1"/>
          <p:nvPr/>
        </p:nvSpPr>
        <p:spPr>
          <a:xfrm>
            <a:off x="6350900" y="1630108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12:00</a:t>
            </a:r>
          </a:p>
        </p:txBody>
      </p:sp>
      <p:cxnSp>
        <p:nvCxnSpPr>
          <p:cNvPr id="27" name="hv-12"/>
          <p:cNvCxnSpPr/>
          <p:nvPr/>
        </p:nvCxnSpPr>
        <p:spPr>
          <a:xfrm>
            <a:off x="6515365" y="1854200"/>
            <a:ext cx="0" cy="33020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hv-13"/>
          <p:cNvCxnSpPr/>
          <p:nvPr/>
        </p:nvCxnSpPr>
        <p:spPr>
          <a:xfrm>
            <a:off x="6909594" y="1854200"/>
            <a:ext cx="0" cy="33020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hv-14"/>
          <p:cNvCxnSpPr/>
          <p:nvPr/>
        </p:nvCxnSpPr>
        <p:spPr>
          <a:xfrm>
            <a:off x="7303823" y="1854200"/>
            <a:ext cx="0" cy="33020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h-15"/>
          <p:cNvSpPr txBox="1"/>
          <p:nvPr/>
        </p:nvSpPr>
        <p:spPr>
          <a:xfrm>
            <a:off x="7533587" y="1630108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15:00</a:t>
            </a:r>
          </a:p>
        </p:txBody>
      </p:sp>
      <p:cxnSp>
        <p:nvCxnSpPr>
          <p:cNvPr id="31" name="hv-15"/>
          <p:cNvCxnSpPr/>
          <p:nvPr/>
        </p:nvCxnSpPr>
        <p:spPr>
          <a:xfrm>
            <a:off x="7698052" y="1854200"/>
            <a:ext cx="0" cy="33020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hv-16"/>
          <p:cNvCxnSpPr/>
          <p:nvPr/>
        </p:nvCxnSpPr>
        <p:spPr>
          <a:xfrm>
            <a:off x="8092281" y="1854200"/>
            <a:ext cx="0" cy="33020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hv-17"/>
          <p:cNvCxnSpPr/>
          <p:nvPr/>
        </p:nvCxnSpPr>
        <p:spPr>
          <a:xfrm>
            <a:off x="8486510" y="1854200"/>
            <a:ext cx="0" cy="33020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h-18"/>
          <p:cNvSpPr txBox="1"/>
          <p:nvPr/>
        </p:nvSpPr>
        <p:spPr>
          <a:xfrm>
            <a:off x="8716275" y="1630108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18:00</a:t>
            </a:r>
          </a:p>
        </p:txBody>
      </p:sp>
      <p:cxnSp>
        <p:nvCxnSpPr>
          <p:cNvPr id="35" name="hv-18"/>
          <p:cNvCxnSpPr/>
          <p:nvPr/>
        </p:nvCxnSpPr>
        <p:spPr>
          <a:xfrm>
            <a:off x="8880740" y="1854200"/>
            <a:ext cx="0" cy="33020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hv-19"/>
          <p:cNvCxnSpPr/>
          <p:nvPr/>
        </p:nvCxnSpPr>
        <p:spPr>
          <a:xfrm>
            <a:off x="9274969" y="1854200"/>
            <a:ext cx="0" cy="33020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hv-20"/>
          <p:cNvCxnSpPr/>
          <p:nvPr/>
        </p:nvCxnSpPr>
        <p:spPr>
          <a:xfrm>
            <a:off x="9669198" y="1854200"/>
            <a:ext cx="0" cy="33020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h-21"/>
          <p:cNvSpPr txBox="1"/>
          <p:nvPr/>
        </p:nvSpPr>
        <p:spPr>
          <a:xfrm>
            <a:off x="9898962" y="1630108"/>
            <a:ext cx="32893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21:00</a:t>
            </a:r>
          </a:p>
        </p:txBody>
      </p:sp>
      <p:cxnSp>
        <p:nvCxnSpPr>
          <p:cNvPr id="39" name="hv-21"/>
          <p:cNvCxnSpPr/>
          <p:nvPr/>
        </p:nvCxnSpPr>
        <p:spPr>
          <a:xfrm>
            <a:off x="10063427" y="1854200"/>
            <a:ext cx="0" cy="33020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hv-22"/>
          <p:cNvCxnSpPr/>
          <p:nvPr/>
        </p:nvCxnSpPr>
        <p:spPr>
          <a:xfrm>
            <a:off x="10457656" y="1854200"/>
            <a:ext cx="0" cy="33020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hv-23"/>
          <p:cNvCxnSpPr/>
          <p:nvPr/>
        </p:nvCxnSpPr>
        <p:spPr>
          <a:xfrm>
            <a:off x="10851885" y="1854200"/>
            <a:ext cx="0" cy="3302000"/>
          </a:xfrm>
          <a:prstGeom prst="line">
            <a:avLst/>
          </a:prstGeom>
          <a:ln w="6350" cap="rnd">
            <a:solidFill>
              <a:srgbClr val="0B2545">
                <a:alpha val="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work"/>
          <p:cNvSpPr/>
          <p:nvPr/>
        </p:nvSpPr>
        <p:spPr>
          <a:xfrm>
            <a:off x="5135562" y="1841500"/>
            <a:ext cx="3548062" cy="2413000"/>
          </a:xfrm>
          <a:custGeom>
            <a:avLst/>
            <a:gdLst/>
            <a:ahLst/>
            <a:cxnLst/>
            <a:rect l="0" t="0" r="r" b="b"/>
            <a:pathLst>
              <a:path w="3548062" h="2413000">
                <a:moveTo>
                  <a:pt x="88900" y="0"/>
                </a:moveTo>
                <a:lnTo>
                  <a:pt x="3459162" y="0"/>
                </a:lnTo>
                <a:cubicBezTo>
                  <a:pt x="3508248" y="0"/>
                  <a:pt x="3548062" y="39814"/>
                  <a:pt x="3548062" y="88900"/>
                </a:cubicBezTo>
                <a:lnTo>
                  <a:pt x="3548062" y="2324100"/>
                </a:lnTo>
                <a:cubicBezTo>
                  <a:pt x="3548062" y="2373186"/>
                  <a:pt x="3508248" y="2413000"/>
                  <a:pt x="3459162" y="2413000"/>
                </a:cubicBezTo>
                <a:lnTo>
                  <a:pt x="88900" y="2413000"/>
                </a:lnTo>
                <a:cubicBezTo>
                  <a:pt x="39814" y="2413000"/>
                  <a:pt x="0" y="2373186"/>
                  <a:pt x="0" y="23241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2E77C2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wkend"/>
          <p:cNvSpPr/>
          <p:nvPr/>
        </p:nvSpPr>
        <p:spPr>
          <a:xfrm>
            <a:off x="9077833" y="4254500"/>
            <a:ext cx="1576959" cy="965200"/>
          </a:xfrm>
          <a:custGeom>
            <a:avLst/>
            <a:gdLst/>
            <a:ahLst/>
            <a:cxnLst/>
            <a:rect l="0" t="0" r="r" b="b"/>
            <a:pathLst>
              <a:path w="1576959" h="965200">
                <a:moveTo>
                  <a:pt x="88900" y="0"/>
                </a:moveTo>
                <a:lnTo>
                  <a:pt x="1488059" y="0"/>
                </a:lnTo>
                <a:cubicBezTo>
                  <a:pt x="1537145" y="0"/>
                  <a:pt x="1576959" y="39814"/>
                  <a:pt x="1576959" y="88900"/>
                </a:cubicBezTo>
                <a:lnTo>
                  <a:pt x="1576959" y="876300"/>
                </a:lnTo>
                <a:cubicBezTo>
                  <a:pt x="1576959" y="925386"/>
                  <a:pt x="1537145" y="965200"/>
                  <a:pt x="1488059" y="965200"/>
                </a:cubicBezTo>
                <a:lnTo>
                  <a:pt x="88900" y="965200"/>
                </a:lnTo>
                <a:cubicBezTo>
                  <a:pt x="39814" y="965200"/>
                  <a:pt x="0" y="925386"/>
                  <a:pt x="0" y="8763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E0703A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d-0"/>
          <p:cNvSpPr txBox="1"/>
          <p:nvPr/>
        </p:nvSpPr>
        <p:spPr>
          <a:xfrm>
            <a:off x="1036193" y="197824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周一</a:t>
            </a:r>
          </a:p>
        </p:txBody>
      </p:sp>
      <p:sp>
        <p:nvSpPr>
          <p:cNvPr id="45" name="b-0-0"/>
          <p:cNvSpPr/>
          <p:nvPr/>
        </p:nvSpPr>
        <p:spPr>
          <a:xfrm>
            <a:off x="1740622" y="2038807"/>
            <a:ext cx="87986" cy="87986"/>
          </a:xfrm>
          <a:prstGeom prst="ellipse">
            <a:avLst/>
          </a:prstGeom>
          <a:solidFill>
            <a:srgbClr val="134C9C">
              <a:alpha val="36481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b-0-1"/>
          <p:cNvSpPr/>
          <p:nvPr/>
        </p:nvSpPr>
        <p:spPr>
          <a:xfrm>
            <a:off x="2134851" y="2038807"/>
            <a:ext cx="87986" cy="87986"/>
          </a:xfrm>
          <a:prstGeom prst="ellipse">
            <a:avLst/>
          </a:prstGeom>
          <a:solidFill>
            <a:srgbClr val="134C9C">
              <a:alpha val="36481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b-0-2"/>
          <p:cNvSpPr/>
          <p:nvPr/>
        </p:nvSpPr>
        <p:spPr>
          <a:xfrm>
            <a:off x="2529080" y="2038807"/>
            <a:ext cx="87986" cy="87986"/>
          </a:xfrm>
          <a:prstGeom prst="ellipse">
            <a:avLst/>
          </a:prstGeom>
          <a:solidFill>
            <a:srgbClr val="134C9C">
              <a:alpha val="36481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b-0-3"/>
          <p:cNvSpPr/>
          <p:nvPr/>
        </p:nvSpPr>
        <p:spPr>
          <a:xfrm>
            <a:off x="2923309" y="2038807"/>
            <a:ext cx="87986" cy="87986"/>
          </a:xfrm>
          <a:prstGeom prst="ellipse">
            <a:avLst/>
          </a:prstGeom>
          <a:solidFill>
            <a:srgbClr val="134C9C">
              <a:alpha val="36481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b-0-4"/>
          <p:cNvSpPr/>
          <p:nvPr/>
        </p:nvSpPr>
        <p:spPr>
          <a:xfrm>
            <a:off x="3317538" y="2038807"/>
            <a:ext cx="87986" cy="87986"/>
          </a:xfrm>
          <a:prstGeom prst="ellipse">
            <a:avLst/>
          </a:prstGeom>
          <a:solidFill>
            <a:srgbClr val="134C9C">
              <a:alpha val="36481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b-0-5"/>
          <p:cNvSpPr/>
          <p:nvPr/>
        </p:nvSpPr>
        <p:spPr>
          <a:xfrm>
            <a:off x="3711767" y="2038806"/>
            <a:ext cx="87987" cy="87987"/>
          </a:xfrm>
          <a:prstGeom prst="ellipse">
            <a:avLst/>
          </a:prstGeom>
          <a:solidFill>
            <a:srgbClr val="134C9C">
              <a:alpha val="36481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b-0-6"/>
          <p:cNvSpPr/>
          <p:nvPr/>
        </p:nvSpPr>
        <p:spPr>
          <a:xfrm>
            <a:off x="4105951" y="2038762"/>
            <a:ext cx="88077" cy="88077"/>
          </a:xfrm>
          <a:prstGeom prst="ellipse">
            <a:avLst/>
          </a:prstGeom>
          <a:solidFill>
            <a:srgbClr val="134C9C">
              <a:alpha val="36487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b-0-7"/>
          <p:cNvSpPr/>
          <p:nvPr/>
        </p:nvSpPr>
        <p:spPr>
          <a:xfrm>
            <a:off x="4473242" y="2011823"/>
            <a:ext cx="141954" cy="141954"/>
          </a:xfrm>
          <a:prstGeom prst="ellipse">
            <a:avLst/>
          </a:prstGeom>
          <a:solidFill>
            <a:srgbClr val="134C9C">
              <a:alpha val="4142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b-0-8"/>
          <p:cNvSpPr/>
          <p:nvPr/>
        </p:nvSpPr>
        <p:spPr>
          <a:xfrm>
            <a:off x="4851173" y="1995526"/>
            <a:ext cx="174549" cy="174549"/>
          </a:xfrm>
          <a:prstGeom prst="ellipse">
            <a:avLst/>
          </a:prstGeom>
          <a:solidFill>
            <a:srgbClr val="134C9C">
              <a:alpha val="46082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b-0-9"/>
          <p:cNvSpPr/>
          <p:nvPr/>
        </p:nvSpPr>
        <p:spPr>
          <a:xfrm>
            <a:off x="5200391" y="1950514"/>
            <a:ext cx="264571" cy="264571"/>
          </a:xfrm>
          <a:prstGeom prst="ellipse">
            <a:avLst/>
          </a:prstGeom>
          <a:solidFill>
            <a:srgbClr val="134C9C">
              <a:alpha val="65527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b-0-10"/>
          <p:cNvSpPr/>
          <p:nvPr/>
        </p:nvSpPr>
        <p:spPr>
          <a:xfrm>
            <a:off x="5549528" y="1905422"/>
            <a:ext cx="354756" cy="354756"/>
          </a:xfrm>
          <a:prstGeom prst="ellipse">
            <a:avLst/>
          </a:prstGeom>
          <a:solidFill>
            <a:srgbClr val="134C9C">
              <a:alpha val="94681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b-0-11"/>
          <p:cNvSpPr/>
          <p:nvPr/>
        </p:nvSpPr>
        <p:spPr>
          <a:xfrm>
            <a:off x="5943335" y="1905000"/>
            <a:ext cx="355600" cy="355600"/>
          </a:xfrm>
          <a:prstGeom prst="ellipse">
            <a:avLst/>
          </a:prstGeom>
          <a:solidFill>
            <a:srgbClr val="E0703A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b-0-12"/>
          <p:cNvSpPr/>
          <p:nvPr/>
        </p:nvSpPr>
        <p:spPr>
          <a:xfrm>
            <a:off x="6397108" y="1964544"/>
            <a:ext cx="236513" cy="236513"/>
          </a:xfrm>
          <a:prstGeom prst="ellipse">
            <a:avLst/>
          </a:prstGeom>
          <a:solidFill>
            <a:srgbClr val="134C9C">
              <a:alpha val="58432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b-0-13"/>
          <p:cNvSpPr/>
          <p:nvPr/>
        </p:nvSpPr>
        <p:spPr>
          <a:xfrm>
            <a:off x="6805028" y="1978234"/>
            <a:ext cx="209132" cy="209132"/>
          </a:xfrm>
          <a:prstGeom prst="ellipse">
            <a:avLst/>
          </a:prstGeom>
          <a:solidFill>
            <a:srgbClr val="134C9C">
              <a:alpha val="52411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b-0-14"/>
          <p:cNvSpPr/>
          <p:nvPr/>
        </p:nvSpPr>
        <p:spPr>
          <a:xfrm>
            <a:off x="7153175" y="1932152"/>
            <a:ext cx="301297" cy="301297"/>
          </a:xfrm>
          <a:prstGeom prst="ellipse">
            <a:avLst/>
          </a:prstGeom>
          <a:solidFill>
            <a:srgbClr val="134C9C">
              <a:alpha val="76231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b-0-15"/>
          <p:cNvSpPr/>
          <p:nvPr/>
        </p:nvSpPr>
        <p:spPr>
          <a:xfrm>
            <a:off x="7529315" y="1914063"/>
            <a:ext cx="337474" cy="337474"/>
          </a:xfrm>
          <a:prstGeom prst="ellipse">
            <a:avLst/>
          </a:prstGeom>
          <a:solidFill>
            <a:srgbClr val="134C9C">
              <a:alpha val="88345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b-0-16"/>
          <p:cNvSpPr/>
          <p:nvPr/>
        </p:nvSpPr>
        <p:spPr>
          <a:xfrm>
            <a:off x="7942422" y="1932940"/>
            <a:ext cx="299719" cy="299719"/>
          </a:xfrm>
          <a:prstGeom prst="ellipse">
            <a:avLst/>
          </a:prstGeom>
          <a:solidFill>
            <a:srgbClr val="134C9C">
              <a:alpha val="75738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b-0-17"/>
          <p:cNvSpPr/>
          <p:nvPr/>
        </p:nvSpPr>
        <p:spPr>
          <a:xfrm>
            <a:off x="8376322" y="1972611"/>
            <a:ext cx="220377" cy="220377"/>
          </a:xfrm>
          <a:prstGeom prst="ellipse">
            <a:avLst/>
          </a:prstGeom>
          <a:solidFill>
            <a:srgbClr val="134C9C">
              <a:alpha val="54776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b-0-18"/>
          <p:cNvSpPr/>
          <p:nvPr/>
        </p:nvSpPr>
        <p:spPr>
          <a:xfrm>
            <a:off x="8797756" y="1999817"/>
            <a:ext cx="165966" cy="165966"/>
          </a:xfrm>
          <a:prstGeom prst="ellipse">
            <a:avLst/>
          </a:prstGeom>
          <a:solidFill>
            <a:srgbClr val="134C9C">
              <a:alpha val="44731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b-0-19"/>
          <p:cNvSpPr/>
          <p:nvPr/>
        </p:nvSpPr>
        <p:spPr>
          <a:xfrm>
            <a:off x="9186872" y="1994704"/>
            <a:ext cx="176193" cy="176193"/>
          </a:xfrm>
          <a:prstGeom prst="ellipse">
            <a:avLst/>
          </a:prstGeom>
          <a:solidFill>
            <a:srgbClr val="134C9C">
              <a:alpha val="4635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b-0-20"/>
          <p:cNvSpPr/>
          <p:nvPr/>
        </p:nvSpPr>
        <p:spPr>
          <a:xfrm>
            <a:off x="9562436" y="1976038"/>
            <a:ext cx="213525" cy="213525"/>
          </a:xfrm>
          <a:prstGeom prst="ellipse">
            <a:avLst/>
          </a:prstGeom>
          <a:solidFill>
            <a:srgbClr val="134C9C">
              <a:alpha val="53317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b-0-21"/>
          <p:cNvSpPr/>
          <p:nvPr/>
        </p:nvSpPr>
        <p:spPr>
          <a:xfrm>
            <a:off x="9956714" y="1976087"/>
            <a:ext cx="213427" cy="213427"/>
          </a:xfrm>
          <a:prstGeom prst="ellipse">
            <a:avLst/>
          </a:prstGeom>
          <a:solidFill>
            <a:srgbClr val="134C9C">
              <a:alpha val="53296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b-0-22"/>
          <p:cNvSpPr/>
          <p:nvPr/>
        </p:nvSpPr>
        <p:spPr>
          <a:xfrm>
            <a:off x="10370601" y="1995745"/>
            <a:ext cx="174111" cy="174111"/>
          </a:xfrm>
          <a:prstGeom prst="ellipse">
            <a:avLst/>
          </a:prstGeom>
          <a:solidFill>
            <a:srgbClr val="134C9C">
              <a:alpha val="46011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b-0-23"/>
          <p:cNvSpPr/>
          <p:nvPr/>
        </p:nvSpPr>
        <p:spPr>
          <a:xfrm>
            <a:off x="10779454" y="2010368"/>
            <a:ext cx="144863" cy="144863"/>
          </a:xfrm>
          <a:prstGeom prst="ellipse">
            <a:avLst/>
          </a:prstGeom>
          <a:solidFill>
            <a:srgbClr val="134C9C">
              <a:alpha val="41784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d-1"/>
          <p:cNvSpPr txBox="1"/>
          <p:nvPr/>
        </p:nvSpPr>
        <p:spPr>
          <a:xfrm>
            <a:off x="1036193" y="246084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周二</a:t>
            </a:r>
          </a:p>
        </p:txBody>
      </p:sp>
      <p:sp>
        <p:nvSpPr>
          <p:cNvPr id="70" name="b-1-0"/>
          <p:cNvSpPr/>
          <p:nvPr/>
        </p:nvSpPr>
        <p:spPr>
          <a:xfrm>
            <a:off x="1741996" y="2522781"/>
            <a:ext cx="85237" cy="85237"/>
          </a:xfrm>
          <a:prstGeom prst="ellipse">
            <a:avLst/>
          </a:prstGeom>
          <a:solidFill>
            <a:srgbClr val="134C9C">
              <a:alpha val="36322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b-1-1"/>
          <p:cNvSpPr/>
          <p:nvPr/>
        </p:nvSpPr>
        <p:spPr>
          <a:xfrm>
            <a:off x="2136225" y="2522781"/>
            <a:ext cx="85237" cy="85237"/>
          </a:xfrm>
          <a:prstGeom prst="ellipse">
            <a:avLst/>
          </a:prstGeom>
          <a:solidFill>
            <a:srgbClr val="134C9C">
              <a:alpha val="36322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b-1-2"/>
          <p:cNvSpPr/>
          <p:nvPr/>
        </p:nvSpPr>
        <p:spPr>
          <a:xfrm>
            <a:off x="2530454" y="2522781"/>
            <a:ext cx="85237" cy="85237"/>
          </a:xfrm>
          <a:prstGeom prst="ellipse">
            <a:avLst/>
          </a:prstGeom>
          <a:solidFill>
            <a:srgbClr val="134C9C">
              <a:alpha val="36322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b-1-3"/>
          <p:cNvSpPr/>
          <p:nvPr/>
        </p:nvSpPr>
        <p:spPr>
          <a:xfrm>
            <a:off x="2924683" y="2522781"/>
            <a:ext cx="85237" cy="85237"/>
          </a:xfrm>
          <a:prstGeom prst="ellipse">
            <a:avLst/>
          </a:prstGeom>
          <a:solidFill>
            <a:srgbClr val="134C9C">
              <a:alpha val="36322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b-1-4"/>
          <p:cNvSpPr/>
          <p:nvPr/>
        </p:nvSpPr>
        <p:spPr>
          <a:xfrm>
            <a:off x="3318913" y="2522781"/>
            <a:ext cx="85237" cy="85237"/>
          </a:xfrm>
          <a:prstGeom prst="ellipse">
            <a:avLst/>
          </a:prstGeom>
          <a:solidFill>
            <a:srgbClr val="134C9C">
              <a:alpha val="36322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b-1-5"/>
          <p:cNvSpPr/>
          <p:nvPr/>
        </p:nvSpPr>
        <p:spPr>
          <a:xfrm>
            <a:off x="3713141" y="2522780"/>
            <a:ext cx="85239" cy="85239"/>
          </a:xfrm>
          <a:prstGeom prst="ellipse">
            <a:avLst/>
          </a:prstGeom>
          <a:solidFill>
            <a:srgbClr val="134C9C">
              <a:alpha val="36323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b-1-6"/>
          <p:cNvSpPr/>
          <p:nvPr/>
        </p:nvSpPr>
        <p:spPr>
          <a:xfrm>
            <a:off x="4107328" y="2522738"/>
            <a:ext cx="85324" cy="85324"/>
          </a:xfrm>
          <a:prstGeom prst="ellipse">
            <a:avLst/>
          </a:prstGeom>
          <a:solidFill>
            <a:srgbClr val="134C9C">
              <a:alpha val="36327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b-1-7"/>
          <p:cNvSpPr/>
          <p:nvPr/>
        </p:nvSpPr>
        <p:spPr>
          <a:xfrm>
            <a:off x="4476102" y="2497283"/>
            <a:ext cx="136233" cy="136233"/>
          </a:xfrm>
          <a:prstGeom prst="ellipse">
            <a:avLst/>
          </a:prstGeom>
          <a:solidFill>
            <a:srgbClr val="134C9C">
              <a:alpha val="40732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b-1-8"/>
          <p:cNvSpPr/>
          <p:nvPr/>
        </p:nvSpPr>
        <p:spPr>
          <a:xfrm>
            <a:off x="4854932" y="2481884"/>
            <a:ext cx="167032" cy="167032"/>
          </a:xfrm>
          <a:prstGeom prst="ellipse">
            <a:avLst/>
          </a:prstGeom>
          <a:solidFill>
            <a:srgbClr val="134C9C">
              <a:alpha val="44894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b-1-9"/>
          <p:cNvSpPr/>
          <p:nvPr/>
        </p:nvSpPr>
        <p:spPr>
          <a:xfrm>
            <a:off x="5206629" y="2439352"/>
            <a:ext cx="252095" cy="252095"/>
          </a:xfrm>
          <a:prstGeom prst="ellipse">
            <a:avLst/>
          </a:prstGeom>
          <a:solidFill>
            <a:srgbClr val="134C9C">
              <a:alpha val="62257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b-1-10"/>
          <p:cNvSpPr/>
          <p:nvPr/>
        </p:nvSpPr>
        <p:spPr>
          <a:xfrm>
            <a:off x="5558250" y="2396744"/>
            <a:ext cx="337312" cy="337312"/>
          </a:xfrm>
          <a:prstGeom prst="ellipse">
            <a:avLst/>
          </a:prstGeom>
          <a:solidFill>
            <a:srgbClr val="134C9C">
              <a:alpha val="88287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b-1-11"/>
          <p:cNvSpPr/>
          <p:nvPr/>
        </p:nvSpPr>
        <p:spPr>
          <a:xfrm>
            <a:off x="5952081" y="2396345"/>
            <a:ext cx="338109" cy="338109"/>
          </a:xfrm>
          <a:prstGeom prst="ellipse">
            <a:avLst/>
          </a:prstGeom>
          <a:solidFill>
            <a:srgbClr val="134C9C">
              <a:alpha val="88571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b-1-12"/>
          <p:cNvSpPr/>
          <p:nvPr/>
        </p:nvSpPr>
        <p:spPr>
          <a:xfrm>
            <a:off x="6402573" y="2452609"/>
            <a:ext cx="225582" cy="225582"/>
          </a:xfrm>
          <a:prstGeom prst="ellipse">
            <a:avLst/>
          </a:prstGeom>
          <a:solidFill>
            <a:srgbClr val="134C9C">
              <a:alpha val="55921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b-1-13"/>
          <p:cNvSpPr/>
          <p:nvPr/>
        </p:nvSpPr>
        <p:spPr>
          <a:xfrm>
            <a:off x="6809739" y="2465545"/>
            <a:ext cx="199710" cy="199710"/>
          </a:xfrm>
          <a:prstGeom prst="ellipse">
            <a:avLst/>
          </a:prstGeom>
          <a:solidFill>
            <a:srgbClr val="134C9C">
              <a:alpha val="50545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b-1-14"/>
          <p:cNvSpPr/>
          <p:nvPr/>
        </p:nvSpPr>
        <p:spPr>
          <a:xfrm>
            <a:off x="7160424" y="2422001"/>
            <a:ext cx="286797" cy="286797"/>
          </a:xfrm>
          <a:prstGeom prst="ellipse">
            <a:avLst/>
          </a:prstGeom>
          <a:solidFill>
            <a:srgbClr val="134C9C">
              <a:alpha val="71813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b-1-15"/>
          <p:cNvSpPr/>
          <p:nvPr/>
        </p:nvSpPr>
        <p:spPr>
          <a:xfrm>
            <a:off x="7537561" y="2404909"/>
            <a:ext cx="320982" cy="320982"/>
          </a:xfrm>
          <a:prstGeom prst="ellipse">
            <a:avLst/>
          </a:prstGeom>
          <a:solidFill>
            <a:srgbClr val="134C9C">
              <a:alpha val="82629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b-1-16"/>
          <p:cNvSpPr/>
          <p:nvPr/>
        </p:nvSpPr>
        <p:spPr>
          <a:xfrm>
            <a:off x="7949628" y="2422747"/>
            <a:ext cx="285307" cy="285307"/>
          </a:xfrm>
          <a:prstGeom prst="ellipse">
            <a:avLst/>
          </a:prstGeom>
          <a:solidFill>
            <a:srgbClr val="134C9C">
              <a:alpha val="71374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b-1-17"/>
          <p:cNvSpPr/>
          <p:nvPr/>
        </p:nvSpPr>
        <p:spPr>
          <a:xfrm>
            <a:off x="8381343" y="2460232"/>
            <a:ext cx="210336" cy="210336"/>
          </a:xfrm>
          <a:prstGeom prst="ellipse">
            <a:avLst/>
          </a:prstGeom>
          <a:solidFill>
            <a:srgbClr val="134C9C">
              <a:alpha val="52657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b-1-18"/>
          <p:cNvSpPr/>
          <p:nvPr/>
        </p:nvSpPr>
        <p:spPr>
          <a:xfrm>
            <a:off x="8801278" y="2485939"/>
            <a:ext cx="158922" cy="158922"/>
          </a:xfrm>
          <a:prstGeom prst="ellipse">
            <a:avLst/>
          </a:prstGeom>
          <a:solidFill>
            <a:srgbClr val="134C9C">
              <a:alpha val="43689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b-1-19"/>
          <p:cNvSpPr/>
          <p:nvPr/>
        </p:nvSpPr>
        <p:spPr>
          <a:xfrm>
            <a:off x="9190676" y="2481107"/>
            <a:ext cx="168585" cy="168585"/>
          </a:xfrm>
          <a:prstGeom prst="ellipse">
            <a:avLst/>
          </a:prstGeom>
          <a:solidFill>
            <a:srgbClr val="134C9C">
              <a:alpha val="45134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b-1-20"/>
          <p:cNvSpPr/>
          <p:nvPr/>
        </p:nvSpPr>
        <p:spPr>
          <a:xfrm>
            <a:off x="9567268" y="2463470"/>
            <a:ext cx="203861" cy="203861"/>
          </a:xfrm>
          <a:prstGeom prst="ellipse">
            <a:avLst/>
          </a:prstGeom>
          <a:solidFill>
            <a:srgbClr val="134C9C">
              <a:alpha val="51354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b-1-21"/>
          <p:cNvSpPr/>
          <p:nvPr/>
        </p:nvSpPr>
        <p:spPr>
          <a:xfrm>
            <a:off x="9961543" y="2463516"/>
            <a:ext cx="203768" cy="203768"/>
          </a:xfrm>
          <a:prstGeom prst="ellipse">
            <a:avLst/>
          </a:prstGeom>
          <a:solidFill>
            <a:srgbClr val="134C9C">
              <a:alpha val="51336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b-1-22"/>
          <p:cNvSpPr/>
          <p:nvPr/>
        </p:nvSpPr>
        <p:spPr>
          <a:xfrm>
            <a:off x="10374347" y="2482091"/>
            <a:ext cx="166618" cy="166618"/>
          </a:xfrm>
          <a:prstGeom prst="ellipse">
            <a:avLst/>
          </a:prstGeom>
          <a:solidFill>
            <a:srgbClr val="134C9C">
              <a:alpha val="44831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b-1-23"/>
          <p:cNvSpPr/>
          <p:nvPr/>
        </p:nvSpPr>
        <p:spPr>
          <a:xfrm>
            <a:off x="10782394" y="2495909"/>
            <a:ext cx="138982" cy="138982"/>
          </a:xfrm>
          <a:prstGeom prst="ellipse">
            <a:avLst/>
          </a:prstGeom>
          <a:solidFill>
            <a:srgbClr val="134C9C">
              <a:alpha val="41057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d-2"/>
          <p:cNvSpPr txBox="1"/>
          <p:nvPr/>
        </p:nvSpPr>
        <p:spPr>
          <a:xfrm>
            <a:off x="1036193" y="294344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周三</a:t>
            </a:r>
          </a:p>
        </p:txBody>
      </p:sp>
      <p:sp>
        <p:nvSpPr>
          <p:cNvPr id="95" name="b-2-0"/>
          <p:cNvSpPr/>
          <p:nvPr/>
        </p:nvSpPr>
        <p:spPr>
          <a:xfrm>
            <a:off x="1742472" y="3005857"/>
            <a:ext cx="84285" cy="84285"/>
          </a:xfrm>
          <a:prstGeom prst="ellipse">
            <a:avLst/>
          </a:prstGeom>
          <a:solidFill>
            <a:srgbClr val="134C9C">
              <a:alpha val="3627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b-2-1"/>
          <p:cNvSpPr/>
          <p:nvPr/>
        </p:nvSpPr>
        <p:spPr>
          <a:xfrm>
            <a:off x="2136701" y="3005857"/>
            <a:ext cx="84285" cy="84285"/>
          </a:xfrm>
          <a:prstGeom prst="ellipse">
            <a:avLst/>
          </a:prstGeom>
          <a:solidFill>
            <a:srgbClr val="134C9C">
              <a:alpha val="3627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b-2-2"/>
          <p:cNvSpPr/>
          <p:nvPr/>
        </p:nvSpPr>
        <p:spPr>
          <a:xfrm>
            <a:off x="2530930" y="3005857"/>
            <a:ext cx="84285" cy="84285"/>
          </a:xfrm>
          <a:prstGeom prst="ellipse">
            <a:avLst/>
          </a:prstGeom>
          <a:solidFill>
            <a:srgbClr val="134C9C">
              <a:alpha val="3627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b-2-3"/>
          <p:cNvSpPr/>
          <p:nvPr/>
        </p:nvSpPr>
        <p:spPr>
          <a:xfrm>
            <a:off x="2925160" y="3005857"/>
            <a:ext cx="84285" cy="84285"/>
          </a:xfrm>
          <a:prstGeom prst="ellipse">
            <a:avLst/>
          </a:prstGeom>
          <a:solidFill>
            <a:srgbClr val="134C9C">
              <a:alpha val="3627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9" name="b-2-4"/>
          <p:cNvSpPr/>
          <p:nvPr/>
        </p:nvSpPr>
        <p:spPr>
          <a:xfrm>
            <a:off x="3319389" y="3005857"/>
            <a:ext cx="84285" cy="84285"/>
          </a:xfrm>
          <a:prstGeom prst="ellipse">
            <a:avLst/>
          </a:prstGeom>
          <a:solidFill>
            <a:srgbClr val="134C9C">
              <a:alpha val="3627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b-2-5"/>
          <p:cNvSpPr/>
          <p:nvPr/>
        </p:nvSpPr>
        <p:spPr>
          <a:xfrm>
            <a:off x="3713617" y="3005857"/>
            <a:ext cx="84287" cy="84287"/>
          </a:xfrm>
          <a:prstGeom prst="ellipse">
            <a:avLst/>
          </a:prstGeom>
          <a:solidFill>
            <a:srgbClr val="134C9C">
              <a:alpha val="3627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b-2-6"/>
          <p:cNvSpPr/>
          <p:nvPr/>
        </p:nvSpPr>
        <p:spPr>
          <a:xfrm>
            <a:off x="4107805" y="3005815"/>
            <a:ext cx="84370" cy="84370"/>
          </a:xfrm>
          <a:prstGeom prst="ellipse">
            <a:avLst/>
          </a:prstGeom>
          <a:solidFill>
            <a:srgbClr val="134C9C">
              <a:alpha val="36274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2" name="b-2-7"/>
          <p:cNvSpPr/>
          <p:nvPr/>
        </p:nvSpPr>
        <p:spPr>
          <a:xfrm>
            <a:off x="4477094" y="2980875"/>
            <a:ext cx="134250" cy="134250"/>
          </a:xfrm>
          <a:prstGeom prst="ellipse">
            <a:avLst/>
          </a:prstGeom>
          <a:solidFill>
            <a:srgbClr val="134C9C">
              <a:alpha val="40503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b-2-8"/>
          <p:cNvSpPr/>
          <p:nvPr/>
        </p:nvSpPr>
        <p:spPr>
          <a:xfrm>
            <a:off x="4856234" y="2965786"/>
            <a:ext cx="164427" cy="164427"/>
          </a:xfrm>
          <a:prstGeom prst="ellipse">
            <a:avLst/>
          </a:prstGeom>
          <a:solidFill>
            <a:srgbClr val="134C9C">
              <a:alpha val="44499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4" name="b-2-9"/>
          <p:cNvSpPr/>
          <p:nvPr/>
        </p:nvSpPr>
        <p:spPr>
          <a:xfrm>
            <a:off x="5208791" y="2924114"/>
            <a:ext cx="247772" cy="247772"/>
          </a:xfrm>
          <a:prstGeom prst="ellipse">
            <a:avLst/>
          </a:prstGeom>
          <a:solidFill>
            <a:srgbClr val="134C9C">
              <a:alpha val="61166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b-2-10"/>
          <p:cNvSpPr/>
          <p:nvPr/>
        </p:nvSpPr>
        <p:spPr>
          <a:xfrm>
            <a:off x="5561273" y="2882367"/>
            <a:ext cx="331266" cy="331266"/>
          </a:xfrm>
          <a:prstGeom prst="ellipse">
            <a:avLst/>
          </a:prstGeom>
          <a:solidFill>
            <a:srgbClr val="134C9C">
              <a:alpha val="86156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6" name="b-2-11"/>
          <p:cNvSpPr/>
          <p:nvPr/>
        </p:nvSpPr>
        <p:spPr>
          <a:xfrm>
            <a:off x="5955111" y="2881976"/>
            <a:ext cx="332048" cy="332048"/>
          </a:xfrm>
          <a:prstGeom prst="ellipse">
            <a:avLst/>
          </a:prstGeom>
          <a:solidFill>
            <a:srgbClr val="134C9C">
              <a:alpha val="86429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7" name="b-2-12"/>
          <p:cNvSpPr/>
          <p:nvPr/>
        </p:nvSpPr>
        <p:spPr>
          <a:xfrm>
            <a:off x="6404467" y="2937103"/>
            <a:ext cx="221794" cy="221794"/>
          </a:xfrm>
          <a:prstGeom prst="ellipse">
            <a:avLst/>
          </a:prstGeom>
          <a:solidFill>
            <a:srgbClr val="134C9C">
              <a:alpha val="55084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8" name="b-2-13"/>
          <p:cNvSpPr/>
          <p:nvPr/>
        </p:nvSpPr>
        <p:spPr>
          <a:xfrm>
            <a:off x="6811371" y="2949777"/>
            <a:ext cx="196445" cy="196445"/>
          </a:xfrm>
          <a:prstGeom prst="ellipse">
            <a:avLst/>
          </a:prstGeom>
          <a:solidFill>
            <a:srgbClr val="134C9C">
              <a:alpha val="49924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b-2-14"/>
          <p:cNvSpPr/>
          <p:nvPr/>
        </p:nvSpPr>
        <p:spPr>
          <a:xfrm>
            <a:off x="7162937" y="2907114"/>
            <a:ext cx="281773" cy="281773"/>
          </a:xfrm>
          <a:prstGeom prst="ellipse">
            <a:avLst/>
          </a:prstGeom>
          <a:solidFill>
            <a:srgbClr val="134C9C">
              <a:alpha val="70341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0" name="b-2-15"/>
          <p:cNvSpPr/>
          <p:nvPr/>
        </p:nvSpPr>
        <p:spPr>
          <a:xfrm>
            <a:off x="7540419" y="2890367"/>
            <a:ext cx="315267" cy="315267"/>
          </a:xfrm>
          <a:prstGeom prst="ellipse">
            <a:avLst/>
          </a:prstGeom>
          <a:solidFill>
            <a:srgbClr val="134C9C">
              <a:alpha val="80724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1" name="b-2-16"/>
          <p:cNvSpPr/>
          <p:nvPr/>
        </p:nvSpPr>
        <p:spPr>
          <a:xfrm>
            <a:off x="7952125" y="2907844"/>
            <a:ext cx="280312" cy="280312"/>
          </a:xfrm>
          <a:prstGeom prst="ellipse">
            <a:avLst/>
          </a:prstGeom>
          <a:solidFill>
            <a:srgbClr val="134C9C">
              <a:alpha val="69919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2" name="b-2-17"/>
          <p:cNvSpPr/>
          <p:nvPr/>
        </p:nvSpPr>
        <p:spPr>
          <a:xfrm>
            <a:off x="8383082" y="2944572"/>
            <a:ext cx="206856" cy="206856"/>
          </a:xfrm>
          <a:prstGeom prst="ellipse">
            <a:avLst/>
          </a:prstGeom>
          <a:solidFill>
            <a:srgbClr val="134C9C">
              <a:alpha val="5195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3" name="b-2-18"/>
          <p:cNvSpPr/>
          <p:nvPr/>
        </p:nvSpPr>
        <p:spPr>
          <a:xfrm>
            <a:off x="8802499" y="2969759"/>
            <a:ext cx="156481" cy="156481"/>
          </a:xfrm>
          <a:prstGeom prst="ellipse">
            <a:avLst/>
          </a:prstGeom>
          <a:solidFill>
            <a:srgbClr val="134C9C">
              <a:alpha val="43341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4" name="b-2-19"/>
          <p:cNvSpPr/>
          <p:nvPr/>
        </p:nvSpPr>
        <p:spPr>
          <a:xfrm>
            <a:off x="9191994" y="2965026"/>
            <a:ext cx="165949" cy="165949"/>
          </a:xfrm>
          <a:prstGeom prst="ellipse">
            <a:avLst/>
          </a:prstGeom>
          <a:solidFill>
            <a:srgbClr val="134C9C">
              <a:alpha val="44729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5" name="b-2-20"/>
          <p:cNvSpPr/>
          <p:nvPr/>
        </p:nvSpPr>
        <p:spPr>
          <a:xfrm>
            <a:off x="9568942" y="2947744"/>
            <a:ext cx="200512" cy="200512"/>
          </a:xfrm>
          <a:prstGeom prst="ellipse">
            <a:avLst/>
          </a:prstGeom>
          <a:solidFill>
            <a:srgbClr val="134C9C">
              <a:alpha val="507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6" name="b-2-21"/>
          <p:cNvSpPr/>
          <p:nvPr/>
        </p:nvSpPr>
        <p:spPr>
          <a:xfrm>
            <a:off x="9963216" y="2947789"/>
            <a:ext cx="200421" cy="200421"/>
          </a:xfrm>
          <a:prstGeom prst="ellipse">
            <a:avLst/>
          </a:prstGeom>
          <a:solidFill>
            <a:srgbClr val="134C9C">
              <a:alpha val="50682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7" name="b-2-22"/>
          <p:cNvSpPr/>
          <p:nvPr/>
        </p:nvSpPr>
        <p:spPr>
          <a:xfrm>
            <a:off x="10375646" y="2965989"/>
            <a:ext cx="164021" cy="164021"/>
          </a:xfrm>
          <a:prstGeom prst="ellipse">
            <a:avLst/>
          </a:prstGeom>
          <a:solidFill>
            <a:srgbClr val="134C9C">
              <a:alpha val="44438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8" name="b-2-23"/>
          <p:cNvSpPr/>
          <p:nvPr/>
        </p:nvSpPr>
        <p:spPr>
          <a:xfrm>
            <a:off x="10783414" y="2979528"/>
            <a:ext cx="136944" cy="136944"/>
          </a:xfrm>
          <a:prstGeom prst="ellipse">
            <a:avLst/>
          </a:prstGeom>
          <a:solidFill>
            <a:srgbClr val="134C9C">
              <a:alpha val="40815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9" name="d-3"/>
          <p:cNvSpPr txBox="1"/>
          <p:nvPr/>
        </p:nvSpPr>
        <p:spPr>
          <a:xfrm>
            <a:off x="1036193" y="342604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周四</a:t>
            </a:r>
          </a:p>
        </p:txBody>
      </p:sp>
      <p:sp>
        <p:nvSpPr>
          <p:cNvPr id="120" name="b-3-0"/>
          <p:cNvSpPr/>
          <p:nvPr/>
        </p:nvSpPr>
        <p:spPr>
          <a:xfrm>
            <a:off x="1742714" y="3488699"/>
            <a:ext cx="83801" cy="83801"/>
          </a:xfrm>
          <a:prstGeom prst="ellipse">
            <a:avLst/>
          </a:prstGeom>
          <a:solidFill>
            <a:srgbClr val="134C9C">
              <a:alpha val="36243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1" name="b-3-1"/>
          <p:cNvSpPr/>
          <p:nvPr/>
        </p:nvSpPr>
        <p:spPr>
          <a:xfrm>
            <a:off x="2136943" y="3488699"/>
            <a:ext cx="83801" cy="83801"/>
          </a:xfrm>
          <a:prstGeom prst="ellipse">
            <a:avLst/>
          </a:prstGeom>
          <a:solidFill>
            <a:srgbClr val="134C9C">
              <a:alpha val="36243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2" name="b-3-2"/>
          <p:cNvSpPr/>
          <p:nvPr/>
        </p:nvSpPr>
        <p:spPr>
          <a:xfrm>
            <a:off x="2531172" y="3488699"/>
            <a:ext cx="83801" cy="83801"/>
          </a:xfrm>
          <a:prstGeom prst="ellipse">
            <a:avLst/>
          </a:prstGeom>
          <a:solidFill>
            <a:srgbClr val="134C9C">
              <a:alpha val="36243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3" name="b-3-3"/>
          <p:cNvSpPr/>
          <p:nvPr/>
        </p:nvSpPr>
        <p:spPr>
          <a:xfrm>
            <a:off x="2925401" y="3488699"/>
            <a:ext cx="83801" cy="83801"/>
          </a:xfrm>
          <a:prstGeom prst="ellipse">
            <a:avLst/>
          </a:prstGeom>
          <a:solidFill>
            <a:srgbClr val="134C9C">
              <a:alpha val="36243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4" name="b-3-4"/>
          <p:cNvSpPr/>
          <p:nvPr/>
        </p:nvSpPr>
        <p:spPr>
          <a:xfrm>
            <a:off x="3319631" y="3488699"/>
            <a:ext cx="83801" cy="83801"/>
          </a:xfrm>
          <a:prstGeom prst="ellipse">
            <a:avLst/>
          </a:prstGeom>
          <a:solidFill>
            <a:srgbClr val="134C9C">
              <a:alpha val="36243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5" name="b-3-5"/>
          <p:cNvSpPr/>
          <p:nvPr/>
        </p:nvSpPr>
        <p:spPr>
          <a:xfrm>
            <a:off x="3713859" y="3488698"/>
            <a:ext cx="83803" cy="83803"/>
          </a:xfrm>
          <a:prstGeom prst="ellipse">
            <a:avLst/>
          </a:prstGeom>
          <a:solidFill>
            <a:srgbClr val="134C9C">
              <a:alpha val="36243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6" name="b-3-6"/>
          <p:cNvSpPr/>
          <p:nvPr/>
        </p:nvSpPr>
        <p:spPr>
          <a:xfrm>
            <a:off x="4108047" y="3488657"/>
            <a:ext cx="83885" cy="83885"/>
          </a:xfrm>
          <a:prstGeom prst="ellipse">
            <a:avLst/>
          </a:prstGeom>
          <a:solidFill>
            <a:srgbClr val="134C9C">
              <a:alpha val="36248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7" name="b-3-7"/>
          <p:cNvSpPr/>
          <p:nvPr/>
        </p:nvSpPr>
        <p:spPr>
          <a:xfrm>
            <a:off x="4477597" y="3463978"/>
            <a:ext cx="133244" cy="133244"/>
          </a:xfrm>
          <a:prstGeom prst="ellipse">
            <a:avLst/>
          </a:prstGeom>
          <a:solidFill>
            <a:srgbClr val="134C9C">
              <a:alpha val="40388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8" name="b-3-8"/>
          <p:cNvSpPr/>
          <p:nvPr/>
        </p:nvSpPr>
        <p:spPr>
          <a:xfrm>
            <a:off x="4856896" y="3449048"/>
            <a:ext cx="163104" cy="163104"/>
          </a:xfrm>
          <a:prstGeom prst="ellipse">
            <a:avLst/>
          </a:prstGeom>
          <a:solidFill>
            <a:srgbClr val="134C9C">
              <a:alpha val="44301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9" name="b-3-9"/>
          <p:cNvSpPr/>
          <p:nvPr/>
        </p:nvSpPr>
        <p:spPr>
          <a:xfrm>
            <a:off x="5209889" y="3407812"/>
            <a:ext cx="245576" cy="245576"/>
          </a:xfrm>
          <a:prstGeom prst="ellipse">
            <a:avLst/>
          </a:prstGeom>
          <a:solidFill>
            <a:srgbClr val="134C9C">
              <a:alpha val="60621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0" name="b-3-10"/>
          <p:cNvSpPr/>
          <p:nvPr/>
        </p:nvSpPr>
        <p:spPr>
          <a:xfrm>
            <a:off x="5562808" y="3366502"/>
            <a:ext cx="328197" cy="328197"/>
          </a:xfrm>
          <a:prstGeom prst="ellipse">
            <a:avLst/>
          </a:prstGeom>
          <a:solidFill>
            <a:srgbClr val="134C9C">
              <a:alpha val="8509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1" name="b-3-11"/>
          <p:cNvSpPr/>
          <p:nvPr/>
        </p:nvSpPr>
        <p:spPr>
          <a:xfrm>
            <a:off x="5956651" y="3366115"/>
            <a:ext cx="328970" cy="328970"/>
          </a:xfrm>
          <a:prstGeom prst="ellipse">
            <a:avLst/>
          </a:prstGeom>
          <a:solidFill>
            <a:srgbClr val="134C9C">
              <a:alpha val="85357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2" name="b-3-12"/>
          <p:cNvSpPr/>
          <p:nvPr/>
        </p:nvSpPr>
        <p:spPr>
          <a:xfrm>
            <a:off x="6405429" y="3420665"/>
            <a:ext cx="219871" cy="219871"/>
          </a:xfrm>
          <a:prstGeom prst="ellipse">
            <a:avLst/>
          </a:prstGeom>
          <a:solidFill>
            <a:srgbClr val="134C9C">
              <a:alpha val="54666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3" name="b-3-13"/>
          <p:cNvSpPr/>
          <p:nvPr/>
        </p:nvSpPr>
        <p:spPr>
          <a:xfrm>
            <a:off x="6812200" y="3433206"/>
            <a:ext cx="194787" cy="194787"/>
          </a:xfrm>
          <a:prstGeom prst="ellipse">
            <a:avLst/>
          </a:prstGeom>
          <a:solidFill>
            <a:srgbClr val="134C9C">
              <a:alpha val="49613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4" name="b-3-14"/>
          <p:cNvSpPr/>
          <p:nvPr/>
        </p:nvSpPr>
        <p:spPr>
          <a:xfrm>
            <a:off x="7164212" y="3390989"/>
            <a:ext cx="279221" cy="279221"/>
          </a:xfrm>
          <a:prstGeom prst="ellipse">
            <a:avLst/>
          </a:prstGeom>
          <a:solidFill>
            <a:srgbClr val="134C9C">
              <a:alpha val="69605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5" name="b-3-15"/>
          <p:cNvSpPr/>
          <p:nvPr/>
        </p:nvSpPr>
        <p:spPr>
          <a:xfrm>
            <a:off x="7541870" y="3374418"/>
            <a:ext cx="312364" cy="312364"/>
          </a:xfrm>
          <a:prstGeom prst="ellipse">
            <a:avLst/>
          </a:prstGeom>
          <a:solidFill>
            <a:srgbClr val="134C9C">
              <a:alpha val="79772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6" name="b-3-16"/>
          <p:cNvSpPr/>
          <p:nvPr/>
        </p:nvSpPr>
        <p:spPr>
          <a:xfrm>
            <a:off x="7953393" y="3391712"/>
            <a:ext cx="277776" cy="277776"/>
          </a:xfrm>
          <a:prstGeom prst="ellipse">
            <a:avLst/>
          </a:prstGeom>
          <a:solidFill>
            <a:srgbClr val="134C9C">
              <a:alpha val="69191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7" name="b-3-17"/>
          <p:cNvSpPr/>
          <p:nvPr/>
        </p:nvSpPr>
        <p:spPr>
          <a:xfrm>
            <a:off x="8383966" y="3428056"/>
            <a:ext cx="205089" cy="205089"/>
          </a:xfrm>
          <a:prstGeom prst="ellipse">
            <a:avLst/>
          </a:prstGeom>
          <a:solidFill>
            <a:srgbClr val="134C9C">
              <a:alpha val="51597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8" name="b-3-18"/>
          <p:cNvSpPr/>
          <p:nvPr/>
        </p:nvSpPr>
        <p:spPr>
          <a:xfrm>
            <a:off x="8803119" y="3452979"/>
            <a:ext cx="155242" cy="155242"/>
          </a:xfrm>
          <a:prstGeom prst="ellipse">
            <a:avLst/>
          </a:prstGeom>
          <a:solidFill>
            <a:srgbClr val="134C9C">
              <a:alpha val="43167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9" name="b-3-19"/>
          <p:cNvSpPr/>
          <p:nvPr/>
        </p:nvSpPr>
        <p:spPr>
          <a:xfrm>
            <a:off x="9192664" y="3448295"/>
            <a:ext cx="164610" cy="164610"/>
          </a:xfrm>
          <a:prstGeom prst="ellipse">
            <a:avLst/>
          </a:prstGeom>
          <a:solidFill>
            <a:srgbClr val="134C9C">
              <a:alpha val="44526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0" name="b-3-20"/>
          <p:cNvSpPr/>
          <p:nvPr/>
        </p:nvSpPr>
        <p:spPr>
          <a:xfrm>
            <a:off x="9569792" y="3431194"/>
            <a:ext cx="198811" cy="198811"/>
          </a:xfrm>
          <a:prstGeom prst="ellipse">
            <a:avLst/>
          </a:prstGeom>
          <a:solidFill>
            <a:srgbClr val="134C9C">
              <a:alpha val="50373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1" name="b-3-21"/>
          <p:cNvSpPr/>
          <p:nvPr/>
        </p:nvSpPr>
        <p:spPr>
          <a:xfrm>
            <a:off x="9964066" y="3431239"/>
            <a:ext cx="198721" cy="198721"/>
          </a:xfrm>
          <a:prstGeom prst="ellipse">
            <a:avLst/>
          </a:prstGeom>
          <a:solidFill>
            <a:srgbClr val="134C9C">
              <a:alpha val="50356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2" name="b-3-22"/>
          <p:cNvSpPr/>
          <p:nvPr/>
        </p:nvSpPr>
        <p:spPr>
          <a:xfrm>
            <a:off x="10376305" y="3449249"/>
            <a:ext cx="162703" cy="162703"/>
          </a:xfrm>
          <a:prstGeom prst="ellipse">
            <a:avLst/>
          </a:prstGeom>
          <a:solidFill>
            <a:srgbClr val="134C9C">
              <a:alpha val="44241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3" name="b-3-23"/>
          <p:cNvSpPr/>
          <p:nvPr/>
        </p:nvSpPr>
        <p:spPr>
          <a:xfrm>
            <a:off x="10783931" y="3462646"/>
            <a:ext cx="135909" cy="135909"/>
          </a:xfrm>
          <a:prstGeom prst="ellipse">
            <a:avLst/>
          </a:prstGeom>
          <a:solidFill>
            <a:srgbClr val="134C9C">
              <a:alpha val="40694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4" name="d-4"/>
          <p:cNvSpPr txBox="1"/>
          <p:nvPr/>
        </p:nvSpPr>
        <p:spPr>
          <a:xfrm>
            <a:off x="1036193" y="390864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周五</a:t>
            </a:r>
          </a:p>
        </p:txBody>
      </p:sp>
      <p:sp>
        <p:nvSpPr>
          <p:cNvPr id="145" name="b-4-0"/>
          <p:cNvSpPr/>
          <p:nvPr/>
        </p:nvSpPr>
        <p:spPr>
          <a:xfrm>
            <a:off x="1743708" y="3972293"/>
            <a:ext cx="81813" cy="81813"/>
          </a:xfrm>
          <a:prstGeom prst="ellipse">
            <a:avLst/>
          </a:prstGeom>
          <a:solidFill>
            <a:srgbClr val="134C9C">
              <a:alpha val="36137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6" name="b-4-1"/>
          <p:cNvSpPr/>
          <p:nvPr/>
        </p:nvSpPr>
        <p:spPr>
          <a:xfrm>
            <a:off x="2137937" y="3972293"/>
            <a:ext cx="81813" cy="81813"/>
          </a:xfrm>
          <a:prstGeom prst="ellipse">
            <a:avLst/>
          </a:prstGeom>
          <a:solidFill>
            <a:srgbClr val="134C9C">
              <a:alpha val="36137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7" name="b-4-2"/>
          <p:cNvSpPr/>
          <p:nvPr/>
        </p:nvSpPr>
        <p:spPr>
          <a:xfrm>
            <a:off x="2532166" y="3972293"/>
            <a:ext cx="81813" cy="81813"/>
          </a:xfrm>
          <a:prstGeom prst="ellipse">
            <a:avLst/>
          </a:prstGeom>
          <a:solidFill>
            <a:srgbClr val="134C9C">
              <a:alpha val="36137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8" name="b-4-3"/>
          <p:cNvSpPr/>
          <p:nvPr/>
        </p:nvSpPr>
        <p:spPr>
          <a:xfrm>
            <a:off x="2926395" y="3972293"/>
            <a:ext cx="81813" cy="81813"/>
          </a:xfrm>
          <a:prstGeom prst="ellipse">
            <a:avLst/>
          </a:prstGeom>
          <a:solidFill>
            <a:srgbClr val="134C9C">
              <a:alpha val="36137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9" name="b-4-4"/>
          <p:cNvSpPr/>
          <p:nvPr/>
        </p:nvSpPr>
        <p:spPr>
          <a:xfrm>
            <a:off x="3320625" y="3972293"/>
            <a:ext cx="81813" cy="81813"/>
          </a:xfrm>
          <a:prstGeom prst="ellipse">
            <a:avLst/>
          </a:prstGeom>
          <a:solidFill>
            <a:srgbClr val="134C9C">
              <a:alpha val="36137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0" name="b-4-5"/>
          <p:cNvSpPr/>
          <p:nvPr/>
        </p:nvSpPr>
        <p:spPr>
          <a:xfrm>
            <a:off x="3714853" y="3972292"/>
            <a:ext cx="81815" cy="81815"/>
          </a:xfrm>
          <a:prstGeom prst="ellipse">
            <a:avLst/>
          </a:prstGeom>
          <a:solidFill>
            <a:srgbClr val="134C9C">
              <a:alpha val="36137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1" name="b-4-6"/>
          <p:cNvSpPr/>
          <p:nvPr/>
        </p:nvSpPr>
        <p:spPr>
          <a:xfrm>
            <a:off x="4109043" y="3972253"/>
            <a:ext cx="81894" cy="81894"/>
          </a:xfrm>
          <a:prstGeom prst="ellipse">
            <a:avLst/>
          </a:prstGeom>
          <a:solidFill>
            <a:srgbClr val="134C9C">
              <a:alpha val="36142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2" name="b-4-7"/>
          <p:cNvSpPr/>
          <p:nvPr/>
        </p:nvSpPr>
        <p:spPr>
          <a:xfrm>
            <a:off x="4479666" y="3948648"/>
            <a:ext cx="129105" cy="129105"/>
          </a:xfrm>
          <a:prstGeom prst="ellipse">
            <a:avLst/>
          </a:prstGeom>
          <a:solidFill>
            <a:srgbClr val="134C9C">
              <a:alpha val="39929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3" name="b-4-8"/>
          <p:cNvSpPr/>
          <p:nvPr/>
        </p:nvSpPr>
        <p:spPr>
          <a:xfrm>
            <a:off x="4859615" y="3934367"/>
            <a:ext cx="157667" cy="157667"/>
          </a:xfrm>
          <a:prstGeom prst="ellipse">
            <a:avLst/>
          </a:prstGeom>
          <a:solidFill>
            <a:srgbClr val="134C9C">
              <a:alpha val="43509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4" name="b-4-9"/>
          <p:cNvSpPr/>
          <p:nvPr/>
        </p:nvSpPr>
        <p:spPr>
          <a:xfrm>
            <a:off x="5214402" y="3894925"/>
            <a:ext cx="236551" cy="236551"/>
          </a:xfrm>
          <a:prstGeom prst="ellipse">
            <a:avLst/>
          </a:prstGeom>
          <a:solidFill>
            <a:srgbClr val="134C9C">
              <a:alpha val="58441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5" name="b-4-10"/>
          <p:cNvSpPr/>
          <p:nvPr/>
        </p:nvSpPr>
        <p:spPr>
          <a:xfrm>
            <a:off x="5569117" y="3855411"/>
            <a:ext cx="315578" cy="315578"/>
          </a:xfrm>
          <a:prstGeom prst="ellipse">
            <a:avLst/>
          </a:prstGeom>
          <a:solidFill>
            <a:srgbClr val="134C9C">
              <a:alpha val="80827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6" name="b-4-11"/>
          <p:cNvSpPr/>
          <p:nvPr/>
        </p:nvSpPr>
        <p:spPr>
          <a:xfrm>
            <a:off x="5962977" y="3855041"/>
            <a:ext cx="316317" cy="316317"/>
          </a:xfrm>
          <a:prstGeom prst="ellipse">
            <a:avLst/>
          </a:prstGeom>
          <a:solidFill>
            <a:srgbClr val="134C9C">
              <a:alpha val="81071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7" name="b-4-12"/>
          <p:cNvSpPr/>
          <p:nvPr/>
        </p:nvSpPr>
        <p:spPr>
          <a:xfrm>
            <a:off x="6409383" y="3907218"/>
            <a:ext cx="211964" cy="211964"/>
          </a:xfrm>
          <a:prstGeom prst="ellipse">
            <a:avLst/>
          </a:prstGeom>
          <a:solidFill>
            <a:srgbClr val="134C9C">
              <a:alpha val="52992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8" name="b-4-13"/>
          <p:cNvSpPr/>
          <p:nvPr/>
        </p:nvSpPr>
        <p:spPr>
          <a:xfrm>
            <a:off x="6815608" y="3919214"/>
            <a:ext cx="187971" cy="187971"/>
          </a:xfrm>
          <a:prstGeom prst="ellipse">
            <a:avLst/>
          </a:prstGeom>
          <a:solidFill>
            <a:srgbClr val="134C9C">
              <a:alpha val="48369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9" name="b-4-14"/>
          <p:cNvSpPr/>
          <p:nvPr/>
        </p:nvSpPr>
        <p:spPr>
          <a:xfrm>
            <a:off x="7169457" y="3878834"/>
            <a:ext cx="268733" cy="268733"/>
          </a:xfrm>
          <a:prstGeom prst="ellipse">
            <a:avLst/>
          </a:prstGeom>
          <a:solidFill>
            <a:srgbClr val="134C9C">
              <a:alpha val="6666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0" name="b-4-15"/>
          <p:cNvSpPr/>
          <p:nvPr/>
        </p:nvSpPr>
        <p:spPr>
          <a:xfrm>
            <a:off x="7547835" y="3862983"/>
            <a:ext cx="300434" cy="300434"/>
          </a:xfrm>
          <a:prstGeom prst="ellipse">
            <a:avLst/>
          </a:prstGeom>
          <a:solidFill>
            <a:srgbClr val="134C9C">
              <a:alpha val="75961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1" name="b-4-16"/>
          <p:cNvSpPr/>
          <p:nvPr/>
        </p:nvSpPr>
        <p:spPr>
          <a:xfrm>
            <a:off x="7958606" y="3879525"/>
            <a:ext cx="267350" cy="267350"/>
          </a:xfrm>
          <a:prstGeom prst="ellipse">
            <a:avLst/>
          </a:prstGeom>
          <a:solidFill>
            <a:srgbClr val="134C9C">
              <a:alpha val="66281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2" name="b-4-17"/>
          <p:cNvSpPr/>
          <p:nvPr/>
        </p:nvSpPr>
        <p:spPr>
          <a:xfrm>
            <a:off x="8387598" y="3914288"/>
            <a:ext cx="197825" cy="197825"/>
          </a:xfrm>
          <a:prstGeom prst="ellipse">
            <a:avLst/>
          </a:prstGeom>
          <a:solidFill>
            <a:srgbClr val="134C9C">
              <a:alpha val="50185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3" name="b-4-18"/>
          <p:cNvSpPr/>
          <p:nvPr/>
        </p:nvSpPr>
        <p:spPr>
          <a:xfrm>
            <a:off x="8805667" y="3938127"/>
            <a:ext cx="150146" cy="150146"/>
          </a:xfrm>
          <a:prstGeom prst="ellipse">
            <a:avLst/>
          </a:prstGeom>
          <a:solidFill>
            <a:srgbClr val="134C9C">
              <a:alpha val="42472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4" name="b-4-19"/>
          <p:cNvSpPr/>
          <p:nvPr/>
        </p:nvSpPr>
        <p:spPr>
          <a:xfrm>
            <a:off x="9195415" y="3933646"/>
            <a:ext cx="159107" cy="159107"/>
          </a:xfrm>
          <a:prstGeom prst="ellipse">
            <a:avLst/>
          </a:prstGeom>
          <a:solidFill>
            <a:srgbClr val="134C9C">
              <a:alpha val="43715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5" name="b-4-20"/>
          <p:cNvSpPr/>
          <p:nvPr/>
        </p:nvSpPr>
        <p:spPr>
          <a:xfrm>
            <a:off x="9573288" y="3917290"/>
            <a:ext cx="191820" cy="191820"/>
          </a:xfrm>
          <a:prstGeom prst="ellipse">
            <a:avLst/>
          </a:prstGeom>
          <a:solidFill>
            <a:srgbClr val="134C9C">
              <a:alpha val="49065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6" name="b-4-21"/>
          <p:cNvSpPr/>
          <p:nvPr/>
        </p:nvSpPr>
        <p:spPr>
          <a:xfrm>
            <a:off x="9967560" y="3917333"/>
            <a:ext cx="191735" cy="191735"/>
          </a:xfrm>
          <a:prstGeom prst="ellipse">
            <a:avLst/>
          </a:prstGeom>
          <a:solidFill>
            <a:srgbClr val="134C9C">
              <a:alpha val="49049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7" name="b-4-22"/>
          <p:cNvSpPr/>
          <p:nvPr/>
        </p:nvSpPr>
        <p:spPr>
          <a:xfrm>
            <a:off x="10379015" y="3934559"/>
            <a:ext cx="157283" cy="157283"/>
          </a:xfrm>
          <a:prstGeom prst="ellipse">
            <a:avLst/>
          </a:prstGeom>
          <a:solidFill>
            <a:srgbClr val="134C9C">
              <a:alpha val="43455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8" name="b-4-23"/>
          <p:cNvSpPr/>
          <p:nvPr/>
        </p:nvSpPr>
        <p:spPr>
          <a:xfrm>
            <a:off x="10786058" y="3947373"/>
            <a:ext cx="131654" cy="131654"/>
          </a:xfrm>
          <a:prstGeom prst="ellipse">
            <a:avLst/>
          </a:prstGeom>
          <a:solidFill>
            <a:srgbClr val="134C9C">
              <a:alpha val="40209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9" name="d-5"/>
          <p:cNvSpPr txBox="1"/>
          <p:nvPr/>
        </p:nvSpPr>
        <p:spPr>
          <a:xfrm>
            <a:off x="1036193" y="439124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10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周六</a:t>
            </a:r>
          </a:p>
        </p:txBody>
      </p:sp>
      <p:sp>
        <p:nvSpPr>
          <p:cNvPr id="170" name="b-5-0"/>
          <p:cNvSpPr/>
          <p:nvPr/>
        </p:nvSpPr>
        <p:spPr>
          <a:xfrm>
            <a:off x="1741996" y="4453181"/>
            <a:ext cx="85237" cy="85237"/>
          </a:xfrm>
          <a:prstGeom prst="ellipse">
            <a:avLst/>
          </a:prstGeom>
          <a:solidFill>
            <a:srgbClr val="3985CD">
              <a:alpha val="36322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1" name="b-5-1"/>
          <p:cNvSpPr/>
          <p:nvPr/>
        </p:nvSpPr>
        <p:spPr>
          <a:xfrm>
            <a:off x="2136225" y="4453181"/>
            <a:ext cx="85237" cy="85237"/>
          </a:xfrm>
          <a:prstGeom prst="ellipse">
            <a:avLst/>
          </a:prstGeom>
          <a:solidFill>
            <a:srgbClr val="3985CD">
              <a:alpha val="36322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2" name="b-5-2"/>
          <p:cNvSpPr/>
          <p:nvPr/>
        </p:nvSpPr>
        <p:spPr>
          <a:xfrm>
            <a:off x="2530454" y="4453181"/>
            <a:ext cx="85238" cy="85238"/>
          </a:xfrm>
          <a:prstGeom prst="ellipse">
            <a:avLst/>
          </a:prstGeom>
          <a:solidFill>
            <a:srgbClr val="3985CD">
              <a:alpha val="36323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3" name="b-5-3"/>
          <p:cNvSpPr/>
          <p:nvPr/>
        </p:nvSpPr>
        <p:spPr>
          <a:xfrm>
            <a:off x="2924682" y="4453180"/>
            <a:ext cx="85240" cy="85240"/>
          </a:xfrm>
          <a:prstGeom prst="ellipse">
            <a:avLst/>
          </a:prstGeom>
          <a:solidFill>
            <a:srgbClr val="3985CD">
              <a:alpha val="36323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4" name="b-5-4"/>
          <p:cNvSpPr/>
          <p:nvPr/>
        </p:nvSpPr>
        <p:spPr>
          <a:xfrm>
            <a:off x="3318896" y="4453164"/>
            <a:ext cx="85271" cy="85271"/>
          </a:xfrm>
          <a:prstGeom prst="ellipse">
            <a:avLst/>
          </a:prstGeom>
          <a:solidFill>
            <a:srgbClr val="3985CD">
              <a:alpha val="36324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5" name="b-5-5"/>
          <p:cNvSpPr/>
          <p:nvPr/>
        </p:nvSpPr>
        <p:spPr>
          <a:xfrm>
            <a:off x="3713006" y="4453046"/>
            <a:ext cx="85509" cy="85509"/>
          </a:xfrm>
          <a:prstGeom prst="ellipse">
            <a:avLst/>
          </a:prstGeom>
          <a:solidFill>
            <a:srgbClr val="3985CD">
              <a:alpha val="36338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6" name="b-5-6"/>
          <p:cNvSpPr/>
          <p:nvPr/>
        </p:nvSpPr>
        <p:spPr>
          <a:xfrm>
            <a:off x="4106592" y="4452403"/>
            <a:ext cx="86794" cy="86794"/>
          </a:xfrm>
          <a:prstGeom prst="ellipse">
            <a:avLst/>
          </a:prstGeom>
          <a:solidFill>
            <a:srgbClr val="3985CD">
              <a:alpha val="36411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7" name="b-5-7"/>
          <p:cNvSpPr/>
          <p:nvPr/>
        </p:nvSpPr>
        <p:spPr>
          <a:xfrm>
            <a:off x="4471767" y="4423348"/>
            <a:ext cx="144903" cy="144903"/>
          </a:xfrm>
          <a:prstGeom prst="ellipse">
            <a:avLst/>
          </a:prstGeom>
          <a:solidFill>
            <a:srgbClr val="3985CD">
              <a:alpha val="41789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8" name="b-5-8"/>
          <p:cNvSpPr/>
          <p:nvPr/>
        </p:nvSpPr>
        <p:spPr>
          <a:xfrm>
            <a:off x="4854960" y="4412312"/>
            <a:ext cx="166975" cy="166975"/>
          </a:xfrm>
          <a:prstGeom prst="ellipse">
            <a:avLst/>
          </a:prstGeom>
          <a:solidFill>
            <a:srgbClr val="3985CD">
              <a:alpha val="44886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9" name="b-5-9"/>
          <p:cNvSpPr/>
          <p:nvPr/>
        </p:nvSpPr>
        <p:spPr>
          <a:xfrm>
            <a:off x="5232894" y="4396017"/>
            <a:ext cx="199566" cy="199566"/>
          </a:xfrm>
          <a:prstGeom prst="ellipse">
            <a:avLst/>
          </a:prstGeom>
          <a:solidFill>
            <a:srgbClr val="3985CD">
              <a:alpha val="50518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0" name="b-5-10"/>
          <p:cNvSpPr/>
          <p:nvPr/>
        </p:nvSpPr>
        <p:spPr>
          <a:xfrm>
            <a:off x="5612125" y="4381019"/>
            <a:ext cx="229562" cy="229562"/>
          </a:xfrm>
          <a:prstGeom prst="ellipse">
            <a:avLst/>
          </a:prstGeom>
          <a:solidFill>
            <a:srgbClr val="3985CD">
              <a:alpha val="56819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1" name="b-5-11"/>
          <p:cNvSpPr/>
          <p:nvPr/>
        </p:nvSpPr>
        <p:spPr>
          <a:xfrm>
            <a:off x="6000257" y="4374922"/>
            <a:ext cx="241757" cy="241757"/>
          </a:xfrm>
          <a:prstGeom prst="ellipse">
            <a:avLst/>
          </a:prstGeom>
          <a:solidFill>
            <a:srgbClr val="3985CD">
              <a:alpha val="59687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2" name="b-5-12"/>
          <p:cNvSpPr/>
          <p:nvPr/>
        </p:nvSpPr>
        <p:spPr>
          <a:xfrm>
            <a:off x="6400584" y="4381019"/>
            <a:ext cx="229562" cy="229562"/>
          </a:xfrm>
          <a:prstGeom prst="ellipse">
            <a:avLst/>
          </a:prstGeom>
          <a:solidFill>
            <a:srgbClr val="3985CD">
              <a:alpha val="56819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3" name="b-5-13"/>
          <p:cNvSpPr/>
          <p:nvPr/>
        </p:nvSpPr>
        <p:spPr>
          <a:xfrm>
            <a:off x="6809811" y="4396017"/>
            <a:ext cx="199566" cy="199566"/>
          </a:xfrm>
          <a:prstGeom prst="ellipse">
            <a:avLst/>
          </a:prstGeom>
          <a:solidFill>
            <a:srgbClr val="3985CD">
              <a:alpha val="50518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4" name="b-5-14"/>
          <p:cNvSpPr/>
          <p:nvPr/>
        </p:nvSpPr>
        <p:spPr>
          <a:xfrm>
            <a:off x="7220335" y="4412312"/>
            <a:ext cx="166975" cy="166975"/>
          </a:xfrm>
          <a:prstGeom prst="ellipse">
            <a:avLst/>
          </a:prstGeom>
          <a:solidFill>
            <a:srgbClr val="3985CD">
              <a:alpha val="44886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5" name="b-5-15"/>
          <p:cNvSpPr/>
          <p:nvPr/>
        </p:nvSpPr>
        <p:spPr>
          <a:xfrm>
            <a:off x="7625599" y="4423347"/>
            <a:ext cx="144906" cy="144906"/>
          </a:xfrm>
          <a:prstGeom prst="ellipse">
            <a:avLst/>
          </a:prstGeom>
          <a:solidFill>
            <a:srgbClr val="3985CD">
              <a:alpha val="4179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6" name="b-5-16"/>
          <p:cNvSpPr/>
          <p:nvPr/>
        </p:nvSpPr>
        <p:spPr>
          <a:xfrm>
            <a:off x="8024473" y="4427991"/>
            <a:ext cx="135617" cy="135617"/>
          </a:xfrm>
          <a:prstGeom prst="ellipse">
            <a:avLst/>
          </a:prstGeom>
          <a:solidFill>
            <a:srgbClr val="3985CD">
              <a:alpha val="4066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7" name="b-5-17"/>
          <p:cNvSpPr/>
          <p:nvPr/>
        </p:nvSpPr>
        <p:spPr>
          <a:xfrm>
            <a:off x="8418574" y="4427863"/>
            <a:ext cx="135873" cy="135873"/>
          </a:xfrm>
          <a:prstGeom prst="ellipse">
            <a:avLst/>
          </a:prstGeom>
          <a:solidFill>
            <a:srgbClr val="3985CD">
              <a:alpha val="4069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8" name="b-5-18"/>
          <p:cNvSpPr/>
          <p:nvPr/>
        </p:nvSpPr>
        <p:spPr>
          <a:xfrm>
            <a:off x="8800798" y="4415858"/>
            <a:ext cx="159884" cy="159884"/>
          </a:xfrm>
          <a:prstGeom prst="ellipse">
            <a:avLst/>
          </a:prstGeom>
          <a:solidFill>
            <a:srgbClr val="3985CD">
              <a:alpha val="43828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9" name="b-5-19"/>
          <p:cNvSpPr/>
          <p:nvPr/>
        </p:nvSpPr>
        <p:spPr>
          <a:xfrm>
            <a:off x="9159504" y="4380336"/>
            <a:ext cx="230929" cy="230929"/>
          </a:xfrm>
          <a:prstGeom prst="ellipse">
            <a:avLst/>
          </a:prstGeom>
          <a:solidFill>
            <a:srgbClr val="3985CD">
              <a:alpha val="57131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0" name="b-5-20"/>
          <p:cNvSpPr/>
          <p:nvPr/>
        </p:nvSpPr>
        <p:spPr>
          <a:xfrm>
            <a:off x="9517212" y="4343814"/>
            <a:ext cx="303971" cy="303971"/>
          </a:xfrm>
          <a:prstGeom prst="ellipse">
            <a:avLst/>
          </a:prstGeom>
          <a:solidFill>
            <a:srgbClr val="3985CD">
              <a:alpha val="77073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1" name="b-5-21"/>
          <p:cNvSpPr/>
          <p:nvPr/>
        </p:nvSpPr>
        <p:spPr>
          <a:xfrm>
            <a:off x="9911442" y="4343814"/>
            <a:ext cx="303971" cy="303971"/>
          </a:xfrm>
          <a:prstGeom prst="ellipse">
            <a:avLst/>
          </a:prstGeom>
          <a:solidFill>
            <a:srgbClr val="3985CD">
              <a:alpha val="77073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2" name="b-5-22"/>
          <p:cNvSpPr/>
          <p:nvPr/>
        </p:nvSpPr>
        <p:spPr>
          <a:xfrm>
            <a:off x="10342193" y="4380337"/>
            <a:ext cx="230926" cy="230926"/>
          </a:xfrm>
          <a:prstGeom prst="ellipse">
            <a:avLst/>
          </a:prstGeom>
          <a:solidFill>
            <a:srgbClr val="3985CD">
              <a:alpha val="57131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3" name="b-5-23"/>
          <p:cNvSpPr/>
          <p:nvPr/>
        </p:nvSpPr>
        <p:spPr>
          <a:xfrm>
            <a:off x="10771970" y="4415884"/>
            <a:ext cx="159831" cy="159831"/>
          </a:xfrm>
          <a:prstGeom prst="ellipse">
            <a:avLst/>
          </a:prstGeom>
          <a:solidFill>
            <a:srgbClr val="3985CD">
              <a:alpha val="4382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4" name="d-6"/>
          <p:cNvSpPr txBox="1"/>
          <p:nvPr/>
        </p:nvSpPr>
        <p:spPr>
          <a:xfrm>
            <a:off x="1036193" y="4873847"/>
            <a:ext cx="3752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50" b="1" spc="10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周日</a:t>
            </a:r>
          </a:p>
        </p:txBody>
      </p:sp>
      <p:sp>
        <p:nvSpPr>
          <p:cNvPr id="195" name="b-6-0"/>
          <p:cNvSpPr/>
          <p:nvPr/>
        </p:nvSpPr>
        <p:spPr>
          <a:xfrm>
            <a:off x="1741996" y="4935781"/>
            <a:ext cx="85237" cy="85237"/>
          </a:xfrm>
          <a:prstGeom prst="ellipse">
            <a:avLst/>
          </a:prstGeom>
          <a:solidFill>
            <a:srgbClr val="3985CD">
              <a:alpha val="36322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6" name="b-6-1"/>
          <p:cNvSpPr/>
          <p:nvPr/>
        </p:nvSpPr>
        <p:spPr>
          <a:xfrm>
            <a:off x="2136225" y="4935781"/>
            <a:ext cx="85237" cy="85237"/>
          </a:xfrm>
          <a:prstGeom prst="ellipse">
            <a:avLst/>
          </a:prstGeom>
          <a:solidFill>
            <a:srgbClr val="3985CD">
              <a:alpha val="36322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7" name="b-6-2"/>
          <p:cNvSpPr/>
          <p:nvPr/>
        </p:nvSpPr>
        <p:spPr>
          <a:xfrm>
            <a:off x="2530454" y="4935781"/>
            <a:ext cx="85238" cy="85238"/>
          </a:xfrm>
          <a:prstGeom prst="ellipse">
            <a:avLst/>
          </a:prstGeom>
          <a:solidFill>
            <a:srgbClr val="3985CD">
              <a:alpha val="36323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8" name="b-6-3"/>
          <p:cNvSpPr/>
          <p:nvPr/>
        </p:nvSpPr>
        <p:spPr>
          <a:xfrm>
            <a:off x="2924682" y="4935780"/>
            <a:ext cx="85240" cy="85240"/>
          </a:xfrm>
          <a:prstGeom prst="ellipse">
            <a:avLst/>
          </a:prstGeom>
          <a:solidFill>
            <a:srgbClr val="3985CD">
              <a:alpha val="36323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9" name="b-6-4"/>
          <p:cNvSpPr/>
          <p:nvPr/>
        </p:nvSpPr>
        <p:spPr>
          <a:xfrm>
            <a:off x="3318896" y="4935764"/>
            <a:ext cx="85271" cy="85271"/>
          </a:xfrm>
          <a:prstGeom prst="ellipse">
            <a:avLst/>
          </a:prstGeom>
          <a:solidFill>
            <a:srgbClr val="3985CD">
              <a:alpha val="36324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0" name="b-6-5"/>
          <p:cNvSpPr/>
          <p:nvPr/>
        </p:nvSpPr>
        <p:spPr>
          <a:xfrm>
            <a:off x="3713006" y="4935646"/>
            <a:ext cx="85509" cy="85509"/>
          </a:xfrm>
          <a:prstGeom prst="ellipse">
            <a:avLst/>
          </a:prstGeom>
          <a:solidFill>
            <a:srgbClr val="3985CD">
              <a:alpha val="36338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1" name="b-6-6"/>
          <p:cNvSpPr/>
          <p:nvPr/>
        </p:nvSpPr>
        <p:spPr>
          <a:xfrm>
            <a:off x="4106592" y="4935003"/>
            <a:ext cx="86794" cy="86794"/>
          </a:xfrm>
          <a:prstGeom prst="ellipse">
            <a:avLst/>
          </a:prstGeom>
          <a:solidFill>
            <a:srgbClr val="3985CD">
              <a:alpha val="36411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2" name="b-6-7"/>
          <p:cNvSpPr/>
          <p:nvPr/>
        </p:nvSpPr>
        <p:spPr>
          <a:xfrm>
            <a:off x="4471767" y="4905948"/>
            <a:ext cx="144903" cy="144903"/>
          </a:xfrm>
          <a:prstGeom prst="ellipse">
            <a:avLst/>
          </a:prstGeom>
          <a:solidFill>
            <a:srgbClr val="3985CD">
              <a:alpha val="41789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3" name="b-6-8"/>
          <p:cNvSpPr/>
          <p:nvPr/>
        </p:nvSpPr>
        <p:spPr>
          <a:xfrm>
            <a:off x="4854960" y="4894912"/>
            <a:ext cx="166975" cy="166975"/>
          </a:xfrm>
          <a:prstGeom prst="ellipse">
            <a:avLst/>
          </a:prstGeom>
          <a:solidFill>
            <a:srgbClr val="3985CD">
              <a:alpha val="44886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4" name="b-6-9"/>
          <p:cNvSpPr/>
          <p:nvPr/>
        </p:nvSpPr>
        <p:spPr>
          <a:xfrm>
            <a:off x="5232894" y="4878617"/>
            <a:ext cx="199566" cy="199566"/>
          </a:xfrm>
          <a:prstGeom prst="ellipse">
            <a:avLst/>
          </a:prstGeom>
          <a:solidFill>
            <a:srgbClr val="3985CD">
              <a:alpha val="50518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5" name="b-6-10"/>
          <p:cNvSpPr/>
          <p:nvPr/>
        </p:nvSpPr>
        <p:spPr>
          <a:xfrm>
            <a:off x="5612125" y="4863619"/>
            <a:ext cx="229562" cy="229562"/>
          </a:xfrm>
          <a:prstGeom prst="ellipse">
            <a:avLst/>
          </a:prstGeom>
          <a:solidFill>
            <a:srgbClr val="3985CD">
              <a:alpha val="56819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6" name="b-6-11"/>
          <p:cNvSpPr/>
          <p:nvPr/>
        </p:nvSpPr>
        <p:spPr>
          <a:xfrm>
            <a:off x="6000257" y="4857522"/>
            <a:ext cx="241757" cy="241757"/>
          </a:xfrm>
          <a:prstGeom prst="ellipse">
            <a:avLst/>
          </a:prstGeom>
          <a:solidFill>
            <a:srgbClr val="3985CD">
              <a:alpha val="59687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7" name="b-6-12"/>
          <p:cNvSpPr/>
          <p:nvPr/>
        </p:nvSpPr>
        <p:spPr>
          <a:xfrm>
            <a:off x="6400584" y="4863619"/>
            <a:ext cx="229562" cy="229562"/>
          </a:xfrm>
          <a:prstGeom prst="ellipse">
            <a:avLst/>
          </a:prstGeom>
          <a:solidFill>
            <a:srgbClr val="3985CD">
              <a:alpha val="56819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8" name="b-6-13"/>
          <p:cNvSpPr/>
          <p:nvPr/>
        </p:nvSpPr>
        <p:spPr>
          <a:xfrm>
            <a:off x="6809811" y="4878617"/>
            <a:ext cx="199566" cy="199566"/>
          </a:xfrm>
          <a:prstGeom prst="ellipse">
            <a:avLst/>
          </a:prstGeom>
          <a:solidFill>
            <a:srgbClr val="3985CD">
              <a:alpha val="50518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9" name="b-6-14"/>
          <p:cNvSpPr/>
          <p:nvPr/>
        </p:nvSpPr>
        <p:spPr>
          <a:xfrm>
            <a:off x="7220335" y="4894912"/>
            <a:ext cx="166975" cy="166975"/>
          </a:xfrm>
          <a:prstGeom prst="ellipse">
            <a:avLst/>
          </a:prstGeom>
          <a:solidFill>
            <a:srgbClr val="3985CD">
              <a:alpha val="44886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0" name="b-6-15"/>
          <p:cNvSpPr/>
          <p:nvPr/>
        </p:nvSpPr>
        <p:spPr>
          <a:xfrm>
            <a:off x="7625599" y="4905947"/>
            <a:ext cx="144906" cy="144906"/>
          </a:xfrm>
          <a:prstGeom prst="ellipse">
            <a:avLst/>
          </a:prstGeom>
          <a:solidFill>
            <a:srgbClr val="3985CD">
              <a:alpha val="4179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1" name="b-6-16"/>
          <p:cNvSpPr/>
          <p:nvPr/>
        </p:nvSpPr>
        <p:spPr>
          <a:xfrm>
            <a:off x="8024473" y="4910591"/>
            <a:ext cx="135617" cy="135617"/>
          </a:xfrm>
          <a:prstGeom prst="ellipse">
            <a:avLst/>
          </a:prstGeom>
          <a:solidFill>
            <a:srgbClr val="3985CD">
              <a:alpha val="4066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2" name="b-6-17"/>
          <p:cNvSpPr/>
          <p:nvPr/>
        </p:nvSpPr>
        <p:spPr>
          <a:xfrm>
            <a:off x="8418574" y="4910463"/>
            <a:ext cx="135873" cy="135873"/>
          </a:xfrm>
          <a:prstGeom prst="ellipse">
            <a:avLst/>
          </a:prstGeom>
          <a:solidFill>
            <a:srgbClr val="3985CD">
              <a:alpha val="4069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3" name="b-6-18"/>
          <p:cNvSpPr/>
          <p:nvPr/>
        </p:nvSpPr>
        <p:spPr>
          <a:xfrm>
            <a:off x="8800798" y="4898458"/>
            <a:ext cx="159884" cy="159884"/>
          </a:xfrm>
          <a:prstGeom prst="ellipse">
            <a:avLst/>
          </a:prstGeom>
          <a:solidFill>
            <a:srgbClr val="3985CD">
              <a:alpha val="43828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4" name="b-6-19"/>
          <p:cNvSpPr/>
          <p:nvPr/>
        </p:nvSpPr>
        <p:spPr>
          <a:xfrm>
            <a:off x="9159504" y="4862936"/>
            <a:ext cx="230929" cy="230929"/>
          </a:xfrm>
          <a:prstGeom prst="ellipse">
            <a:avLst/>
          </a:prstGeom>
          <a:solidFill>
            <a:srgbClr val="3985CD">
              <a:alpha val="57131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5" name="b-6-20"/>
          <p:cNvSpPr/>
          <p:nvPr/>
        </p:nvSpPr>
        <p:spPr>
          <a:xfrm>
            <a:off x="9517212" y="4826414"/>
            <a:ext cx="303971" cy="303971"/>
          </a:xfrm>
          <a:prstGeom prst="ellipse">
            <a:avLst/>
          </a:prstGeom>
          <a:solidFill>
            <a:srgbClr val="3985CD">
              <a:alpha val="77073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6" name="b-6-21"/>
          <p:cNvSpPr/>
          <p:nvPr/>
        </p:nvSpPr>
        <p:spPr>
          <a:xfrm>
            <a:off x="9911442" y="4826414"/>
            <a:ext cx="303971" cy="303971"/>
          </a:xfrm>
          <a:prstGeom prst="ellipse">
            <a:avLst/>
          </a:prstGeom>
          <a:solidFill>
            <a:srgbClr val="3985CD">
              <a:alpha val="77073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7" name="b-6-22"/>
          <p:cNvSpPr/>
          <p:nvPr/>
        </p:nvSpPr>
        <p:spPr>
          <a:xfrm>
            <a:off x="10342193" y="4862937"/>
            <a:ext cx="230926" cy="230926"/>
          </a:xfrm>
          <a:prstGeom prst="ellipse">
            <a:avLst/>
          </a:prstGeom>
          <a:solidFill>
            <a:srgbClr val="3985CD">
              <a:alpha val="57131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8" name="b-6-23"/>
          <p:cNvSpPr/>
          <p:nvPr/>
        </p:nvSpPr>
        <p:spPr>
          <a:xfrm>
            <a:off x="10771970" y="4898484"/>
            <a:ext cx="159831" cy="159831"/>
          </a:xfrm>
          <a:prstGeom prst="ellipse">
            <a:avLst/>
          </a:prstGeom>
          <a:solidFill>
            <a:srgbClr val="3985CD">
              <a:alpha val="4382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219" name="pk-l"/>
          <p:cNvCxnSpPr/>
          <p:nvPr/>
        </p:nvCxnSpPr>
        <p:spPr>
          <a:xfrm flipV="1">
            <a:off x="6121135" y="1536700"/>
            <a:ext cx="0" cy="355600"/>
          </a:xfrm>
          <a:prstGeom prst="line">
            <a:avLst/>
          </a:prstGeom>
          <a:ln w="10160" cap="rnd">
            <a:solidFill>
              <a:srgbClr val="E0703A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0" name="pk"/>
          <p:cNvSpPr/>
          <p:nvPr/>
        </p:nvSpPr>
        <p:spPr>
          <a:xfrm>
            <a:off x="5562346" y="1320800"/>
            <a:ext cx="1117600" cy="215900"/>
          </a:xfrm>
          <a:custGeom>
            <a:avLst/>
            <a:gdLst/>
            <a:ahLst/>
            <a:cxnLst/>
            <a:rect l="0" t="0" r="r" b="b"/>
            <a:pathLst>
              <a:path w="1117600" h="215900">
                <a:moveTo>
                  <a:pt x="107950" y="0"/>
                </a:moveTo>
                <a:lnTo>
                  <a:pt x="1009650" y="0"/>
                </a:lnTo>
                <a:cubicBezTo>
                  <a:pt x="1069276" y="0"/>
                  <a:pt x="1117600" y="48324"/>
                  <a:pt x="1117600" y="107950"/>
                </a:cubicBezTo>
                <a:lnTo>
                  <a:pt x="1117600" y="107950"/>
                </a:lnTo>
                <a:cubicBezTo>
                  <a:pt x="1117600" y="167576"/>
                  <a:pt x="1069276" y="215900"/>
                  <a:pt x="1009650" y="215900"/>
                </a:cubicBezTo>
                <a:lnTo>
                  <a:pt x="107950" y="215900"/>
                </a:lnTo>
                <a:cubicBezTo>
                  <a:pt x="48324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4" y="0"/>
                  <a:pt x="1079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1" name="pk-t"/>
          <p:cNvSpPr txBox="1"/>
          <p:nvPr/>
        </p:nvSpPr>
        <p:spPr>
          <a:xfrm>
            <a:off x="5683620" y="1349216"/>
            <a:ext cx="87503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峰值 周一 11:00</a:t>
            </a:r>
          </a:p>
        </p:txBody>
      </p:sp>
      <p:sp>
        <p:nvSpPr>
          <p:cNvPr id="222" name="k-1"/>
          <p:cNvSpPr/>
          <p:nvPr/>
        </p:nvSpPr>
        <p:spPr>
          <a:xfrm>
            <a:off x="952500" y="5435600"/>
            <a:ext cx="3333750" cy="762000"/>
          </a:xfrm>
          <a:custGeom>
            <a:avLst/>
            <a:gdLst/>
            <a:ahLst/>
            <a:cxnLst/>
            <a:rect l="0" t="0" r="r" b="b"/>
            <a:pathLst>
              <a:path w="3333750" h="762000">
                <a:moveTo>
                  <a:pt x="127000" y="0"/>
                </a:moveTo>
                <a:lnTo>
                  <a:pt x="3206750" y="0"/>
                </a:lnTo>
                <a:cubicBezTo>
                  <a:pt x="3276917" y="0"/>
                  <a:pt x="3333750" y="56833"/>
                  <a:pt x="3333750" y="127000"/>
                </a:cubicBezTo>
                <a:lnTo>
                  <a:pt x="3333750" y="635000"/>
                </a:lnTo>
                <a:cubicBezTo>
                  <a:pt x="3333750" y="705167"/>
                  <a:pt x="3276917" y="762000"/>
                  <a:pt x="3206750" y="762000"/>
                </a:cubicBezTo>
                <a:lnTo>
                  <a:pt x="127000" y="762000"/>
                </a:lnTo>
                <a:cubicBezTo>
                  <a:pt x="56832" y="762000"/>
                  <a:pt x="0" y="705167"/>
                  <a:pt x="0" y="635000"/>
                </a:cubicBezTo>
                <a:lnTo>
                  <a:pt x="0" y="127000"/>
                </a:lnTo>
                <a:cubicBezTo>
                  <a:pt x="0" y="56833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3" name="kb-1"/>
          <p:cNvSpPr/>
          <p:nvPr/>
        </p:nvSpPr>
        <p:spPr>
          <a:xfrm>
            <a:off x="952500" y="5435600"/>
            <a:ext cx="38100" cy="762000"/>
          </a:xfrm>
          <a:custGeom>
            <a:avLst/>
            <a:gdLst/>
            <a:ahLst/>
            <a:cxnLst/>
            <a:rect l="0" t="0" r="r" b="b"/>
            <a:pathLst>
              <a:path w="38100" h="762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742950"/>
                </a:lnTo>
                <a:cubicBezTo>
                  <a:pt x="38100" y="753491"/>
                  <a:pt x="29591" y="762000"/>
                  <a:pt x="19050" y="762000"/>
                </a:cubicBezTo>
                <a:lnTo>
                  <a:pt x="19050" y="762000"/>
                </a:lnTo>
                <a:cubicBezTo>
                  <a:pt x="8509" y="762000"/>
                  <a:pt x="0" y="753491"/>
                  <a:pt x="0" y="742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4" name="kh-1"/>
          <p:cNvSpPr txBox="1"/>
          <p:nvPr/>
        </p:nvSpPr>
        <p:spPr>
          <a:xfrm>
            <a:off x="1130046" y="5568982"/>
            <a:ext cx="95516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工作日 9–18 点</a:t>
            </a:r>
          </a:p>
        </p:txBody>
      </p:sp>
      <p:sp>
        <p:nvSpPr>
          <p:cNvPr id="225" name="kv-1"/>
          <p:cNvSpPr txBox="1"/>
          <p:nvPr/>
        </p:nvSpPr>
        <p:spPr>
          <a:xfrm>
            <a:off x="1117092" y="5753164"/>
            <a:ext cx="562737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15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59%</a:t>
            </a:r>
          </a:p>
        </p:txBody>
      </p:sp>
      <p:sp>
        <p:nvSpPr>
          <p:cNvPr id="226" name="kd-1"/>
          <p:cNvSpPr txBox="1"/>
          <p:nvPr/>
        </p:nvSpPr>
        <p:spPr>
          <a:xfrm>
            <a:off x="2860675" y="5902166"/>
            <a:ext cx="127825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的咨询集中在这 45 个小时</a:t>
            </a:r>
          </a:p>
        </p:txBody>
      </p:sp>
      <p:sp>
        <p:nvSpPr>
          <p:cNvPr id="227" name="k-2"/>
          <p:cNvSpPr/>
          <p:nvPr/>
        </p:nvSpPr>
        <p:spPr>
          <a:xfrm>
            <a:off x="4413250" y="5435600"/>
            <a:ext cx="3333750" cy="762000"/>
          </a:xfrm>
          <a:custGeom>
            <a:avLst/>
            <a:gdLst/>
            <a:ahLst/>
            <a:cxnLst/>
            <a:rect l="0" t="0" r="r" b="b"/>
            <a:pathLst>
              <a:path w="3333750" h="762000">
                <a:moveTo>
                  <a:pt x="127000" y="0"/>
                </a:moveTo>
                <a:lnTo>
                  <a:pt x="3206750" y="0"/>
                </a:lnTo>
                <a:cubicBezTo>
                  <a:pt x="3276917" y="0"/>
                  <a:pt x="3333750" y="56833"/>
                  <a:pt x="3333750" y="127000"/>
                </a:cubicBezTo>
                <a:lnTo>
                  <a:pt x="3333750" y="635000"/>
                </a:lnTo>
                <a:cubicBezTo>
                  <a:pt x="3333750" y="705167"/>
                  <a:pt x="3276917" y="762000"/>
                  <a:pt x="3206750" y="762000"/>
                </a:cubicBezTo>
                <a:lnTo>
                  <a:pt x="127000" y="762000"/>
                </a:lnTo>
                <a:cubicBezTo>
                  <a:pt x="56833" y="762000"/>
                  <a:pt x="0" y="705167"/>
                  <a:pt x="0" y="635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8" name="kb-2"/>
          <p:cNvSpPr/>
          <p:nvPr/>
        </p:nvSpPr>
        <p:spPr>
          <a:xfrm>
            <a:off x="4413250" y="5435600"/>
            <a:ext cx="38100" cy="762000"/>
          </a:xfrm>
          <a:custGeom>
            <a:avLst/>
            <a:gdLst/>
            <a:ahLst/>
            <a:cxnLst/>
            <a:rect l="0" t="0" r="r" b="b"/>
            <a:pathLst>
              <a:path w="38100" h="762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742950"/>
                </a:lnTo>
                <a:cubicBezTo>
                  <a:pt x="38100" y="753491"/>
                  <a:pt x="29591" y="762000"/>
                  <a:pt x="19050" y="762000"/>
                </a:cubicBezTo>
                <a:lnTo>
                  <a:pt x="19050" y="762000"/>
                </a:lnTo>
                <a:cubicBezTo>
                  <a:pt x="8509" y="762000"/>
                  <a:pt x="0" y="753491"/>
                  <a:pt x="0" y="742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9" name="kh-2"/>
          <p:cNvSpPr txBox="1"/>
          <p:nvPr/>
        </p:nvSpPr>
        <p:spPr>
          <a:xfrm>
            <a:off x="4590796" y="5568982"/>
            <a:ext cx="90766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周末 19–23 点</a:t>
            </a:r>
          </a:p>
        </p:txBody>
      </p:sp>
      <p:sp>
        <p:nvSpPr>
          <p:cNvPr id="230" name="kv-2"/>
          <p:cNvSpPr txBox="1"/>
          <p:nvPr/>
        </p:nvSpPr>
        <p:spPr>
          <a:xfrm>
            <a:off x="4577842" y="5753164"/>
            <a:ext cx="562737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10%</a:t>
            </a:r>
          </a:p>
        </p:txBody>
      </p:sp>
      <p:sp>
        <p:nvSpPr>
          <p:cNvPr id="231" name="kd-2"/>
          <p:cNvSpPr txBox="1"/>
          <p:nvPr/>
        </p:nvSpPr>
        <p:spPr>
          <a:xfrm>
            <a:off x="6279515" y="5902166"/>
            <a:ext cx="13201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只占 8 个小时，但人手最少</a:t>
            </a:r>
          </a:p>
        </p:txBody>
      </p:sp>
      <p:sp>
        <p:nvSpPr>
          <p:cNvPr id="232" name="k-3"/>
          <p:cNvSpPr/>
          <p:nvPr/>
        </p:nvSpPr>
        <p:spPr>
          <a:xfrm>
            <a:off x="7874000" y="5435600"/>
            <a:ext cx="3333750" cy="762000"/>
          </a:xfrm>
          <a:custGeom>
            <a:avLst/>
            <a:gdLst/>
            <a:ahLst/>
            <a:cxnLst/>
            <a:rect l="0" t="0" r="r" b="b"/>
            <a:pathLst>
              <a:path w="3333750" h="762000">
                <a:moveTo>
                  <a:pt x="127000" y="0"/>
                </a:moveTo>
                <a:lnTo>
                  <a:pt x="3206750" y="0"/>
                </a:lnTo>
                <a:cubicBezTo>
                  <a:pt x="3276917" y="0"/>
                  <a:pt x="3333750" y="56833"/>
                  <a:pt x="3333750" y="127000"/>
                </a:cubicBezTo>
                <a:lnTo>
                  <a:pt x="3333750" y="635000"/>
                </a:lnTo>
                <a:cubicBezTo>
                  <a:pt x="3333750" y="705167"/>
                  <a:pt x="3276917" y="762000"/>
                  <a:pt x="3206750" y="762000"/>
                </a:cubicBezTo>
                <a:lnTo>
                  <a:pt x="127000" y="762000"/>
                </a:lnTo>
                <a:cubicBezTo>
                  <a:pt x="56833" y="762000"/>
                  <a:pt x="0" y="705167"/>
                  <a:pt x="0" y="635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3" name="kb-3"/>
          <p:cNvSpPr/>
          <p:nvPr/>
        </p:nvSpPr>
        <p:spPr>
          <a:xfrm>
            <a:off x="7874000" y="5435600"/>
            <a:ext cx="38100" cy="762000"/>
          </a:xfrm>
          <a:custGeom>
            <a:avLst/>
            <a:gdLst/>
            <a:ahLst/>
            <a:cxnLst/>
            <a:rect l="0" t="0" r="r" b="b"/>
            <a:pathLst>
              <a:path w="38100" h="7620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742950"/>
                </a:lnTo>
                <a:cubicBezTo>
                  <a:pt x="38100" y="753491"/>
                  <a:pt x="29591" y="762000"/>
                  <a:pt x="19050" y="762000"/>
                </a:cubicBezTo>
                <a:lnTo>
                  <a:pt x="19050" y="762000"/>
                </a:lnTo>
                <a:cubicBezTo>
                  <a:pt x="8509" y="762000"/>
                  <a:pt x="0" y="753491"/>
                  <a:pt x="0" y="7429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4" name="kh-3"/>
          <p:cNvSpPr txBox="1"/>
          <p:nvPr/>
        </p:nvSpPr>
        <p:spPr>
          <a:xfrm>
            <a:off x="8051546" y="5568982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午休低谷</a:t>
            </a:r>
          </a:p>
        </p:txBody>
      </p:sp>
      <p:sp>
        <p:nvSpPr>
          <p:cNvPr id="235" name="kv-3"/>
          <p:cNvSpPr txBox="1"/>
          <p:nvPr/>
        </p:nvSpPr>
        <p:spPr>
          <a:xfrm>
            <a:off x="8038592" y="5753164"/>
            <a:ext cx="1148969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15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12–13 点</a:t>
            </a:r>
          </a:p>
        </p:txBody>
      </p:sp>
      <p:sp>
        <p:nvSpPr>
          <p:cNvPr id="236" name="kd-3"/>
          <p:cNvSpPr txBox="1"/>
          <p:nvPr/>
        </p:nvSpPr>
        <p:spPr>
          <a:xfrm>
            <a:off x="10197465" y="5902166"/>
            <a:ext cx="8629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咨询量下降约三成</a:t>
            </a:r>
          </a:p>
        </p:txBody>
      </p:sp>
      <p:cxnSp>
        <p:nvCxnSpPr>
          <p:cNvPr id="237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8" name="foot-l"/>
          <p:cNvSpPr txBox="1"/>
          <p:nvPr/>
        </p:nvSpPr>
        <p:spPr>
          <a:xfrm>
            <a:off x="573532" y="6532308"/>
            <a:ext cx="142138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打孔卡图 · 7 天 × 24 小时</a:t>
            </a:r>
          </a:p>
        </p:txBody>
      </p:sp>
      <p:sp>
        <p:nvSpPr>
          <p:cNvPr id="239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营收结构两年对比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53695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DONUT COMPARISON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7721981" y="673132"/>
            <a:ext cx="389877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云服务与数据服务合计占比从 36% 升到 46%，结构正在向「服务化」迁移</a:t>
            </a:r>
          </a:p>
        </p:txBody>
      </p:sp>
      <p:sp>
        <p:nvSpPr>
          <p:cNvPr id="10" name="seg-2025-0"/>
          <p:cNvSpPr/>
          <p:nvPr/>
        </p:nvSpPr>
        <p:spPr>
          <a:xfrm>
            <a:off x="3003550" y="2224332"/>
            <a:ext cx="1313788" cy="2645188"/>
          </a:xfrm>
          <a:custGeom>
            <a:avLst/>
            <a:gdLst/>
            <a:ahLst/>
            <a:cxnLst/>
            <a:rect l="0" t="0" r="r" b="b"/>
            <a:pathLst>
              <a:path w="1313788" h="2645188">
                <a:moveTo>
                  <a:pt x="50800" y="9"/>
                </a:moveTo>
                <a:cubicBezTo>
                  <a:pt x="727004" y="35511"/>
                  <a:pt x="1269248" y="572166"/>
                  <a:pt x="1311755" y="1247966"/>
                </a:cubicBezTo>
                <a:cubicBezTo>
                  <a:pt x="1354261" y="1923767"/>
                  <a:pt x="883533" y="2524135"/>
                  <a:pt x="217106" y="2644086"/>
                </a:cubicBezTo>
                <a:quadBezTo>
                  <a:pt x="166942" y="2652150"/>
                  <a:pt x="160592" y="2601731"/>
                </a:quadBezTo>
                <a:lnTo>
                  <a:pt x="116014" y="2248862"/>
                </a:lnTo>
                <a:quadBezTo>
                  <a:pt x="109664" y="2198443"/>
                  <a:pt x="159639" y="2189553"/>
                </a:quadBezTo>
                <a:cubicBezTo>
                  <a:pt x="586336" y="2100651"/>
                  <a:pt x="882835" y="1711665"/>
                  <a:pt x="855474" y="1276665"/>
                </a:cubicBezTo>
                <a:cubicBezTo>
                  <a:pt x="828113" y="841665"/>
                  <a:pt x="485210" y="492896"/>
                  <a:pt x="50737" y="458162"/>
                </a:cubicBezTo>
                <a:quadBezTo>
                  <a:pt x="0" y="455558"/>
                  <a:pt x="0" y="404758"/>
                </a:quadBezTo>
                <a:lnTo>
                  <a:pt x="0" y="49095"/>
                </a:lnTo>
                <a:quadBezTo>
                  <a:pt x="0" y="-1705"/>
                  <a:pt x="50800" y="9"/>
                </a:quad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segt-2025-0"/>
          <p:cNvSpPr txBox="1"/>
          <p:nvPr/>
        </p:nvSpPr>
        <p:spPr>
          <a:xfrm>
            <a:off x="3939773" y="3389912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48%</a:t>
            </a:r>
          </a:p>
        </p:txBody>
      </p:sp>
      <p:sp>
        <p:nvSpPr>
          <p:cNvPr id="12" name="seg-2025-1"/>
          <p:cNvSpPr/>
          <p:nvPr/>
        </p:nvSpPr>
        <p:spPr>
          <a:xfrm>
            <a:off x="1735042" y="3856649"/>
            <a:ext cx="1392015" cy="1032853"/>
          </a:xfrm>
          <a:custGeom>
            <a:avLst/>
            <a:gdLst/>
            <a:ahLst/>
            <a:cxnLst/>
            <a:rect l="0" t="0" r="r" b="b"/>
            <a:pathLst>
              <a:path w="1392015" h="1032853">
                <a:moveTo>
                  <a:pt x="1347121" y="1029295"/>
                </a:moveTo>
                <a:cubicBezTo>
                  <a:pt x="760685" y="1072354"/>
                  <a:pt x="215263" y="726212"/>
                  <a:pt x="4540" y="177252"/>
                </a:cubicBezTo>
                <a:quadBezTo>
                  <a:pt x="-12732" y="129500"/>
                  <a:pt x="35528" y="113816"/>
                </a:quadBezTo>
                <a:lnTo>
                  <a:pt x="373793" y="3897"/>
                </a:lnTo>
                <a:quadBezTo>
                  <a:pt x="422116" y="-11787"/>
                  <a:pt x="440277" y="35647"/>
                </a:quadBezTo>
                <a:cubicBezTo>
                  <a:pt x="581803" y="376157"/>
                  <a:pt x="921356" y="591636"/>
                  <a:pt x="1289717" y="574699"/>
                </a:cubicBezTo>
                <a:quadBezTo>
                  <a:pt x="1340390" y="570952"/>
                  <a:pt x="1346740" y="621308"/>
                </a:quadBezTo>
                <a:lnTo>
                  <a:pt x="1391317" y="974177"/>
                </a:lnTo>
                <a:quadBezTo>
                  <a:pt x="1397667" y="1024596"/>
                  <a:pt x="1347121" y="1029295"/>
                </a:quadBezTo>
                <a:close/>
              </a:path>
            </a:pathLst>
          </a:custGeom>
          <a:gradFill rotWithShape="1">
            <a:gsLst>
              <a:gs pos="0">
                <a:srgbClr val="3E7ABF"/>
              </a:gs>
              <a:gs pos="100000">
                <a:srgbClr val="2468B6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segt-2025-1"/>
          <p:cNvSpPr txBox="1"/>
          <p:nvPr/>
        </p:nvSpPr>
        <p:spPr>
          <a:xfrm>
            <a:off x="2245018" y="4392187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22%</a:t>
            </a:r>
          </a:p>
        </p:txBody>
      </p:sp>
      <p:sp>
        <p:nvSpPr>
          <p:cNvPr id="14" name="seg-2025-2"/>
          <p:cNvSpPr/>
          <p:nvPr/>
        </p:nvSpPr>
        <p:spPr>
          <a:xfrm>
            <a:off x="1651201" y="2874421"/>
            <a:ext cx="567563" cy="1063599"/>
          </a:xfrm>
          <a:custGeom>
            <a:avLst/>
            <a:gdLst/>
            <a:ahLst/>
            <a:cxnLst/>
            <a:rect l="0" t="0" r="r" b="b"/>
            <a:pathLst>
              <a:path w="567563" h="1063599">
                <a:moveTo>
                  <a:pt x="45201" y="1026702"/>
                </a:moveTo>
                <a:cubicBezTo>
                  <a:pt x="-45079" y="689761"/>
                  <a:pt x="263" y="330859"/>
                  <a:pt x="171503" y="26958"/>
                </a:cubicBezTo>
                <a:quadBezTo>
                  <a:pt x="197284" y="-16794"/>
                  <a:pt x="240210" y="10448"/>
                </a:quadBezTo>
                <a:lnTo>
                  <a:pt x="540501" y="201011"/>
                </a:lnTo>
                <a:quadBezTo>
                  <a:pt x="583364" y="228253"/>
                  <a:pt x="558345" y="272449"/>
                </a:quadBezTo>
                <a:cubicBezTo>
                  <a:pt x="459065" y="460533"/>
                  <a:pt x="431576" y="678305"/>
                  <a:pt x="481002" y="885160"/>
                </a:cubicBezTo>
                <a:quadBezTo>
                  <a:pt x="494210" y="934182"/>
                  <a:pt x="445886" y="949867"/>
                </a:quadBezTo>
                <a:lnTo>
                  <a:pt x="107622" y="1059785"/>
                </a:lnTo>
                <a:quadBezTo>
                  <a:pt x="59298" y="1075470"/>
                  <a:pt x="45201" y="1026702"/>
                </a:quadBezTo>
                <a:close/>
              </a:path>
            </a:pathLst>
          </a:custGeom>
          <a:gradFill rotWithShape="1">
            <a:gsLst>
              <a:gs pos="0">
                <a:srgbClr val="5CA1DC"/>
              </a:gs>
              <a:gs pos="100000">
                <a:srgbClr val="4694D7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segt-2025-2"/>
          <p:cNvSpPr txBox="1"/>
          <p:nvPr/>
        </p:nvSpPr>
        <p:spPr>
          <a:xfrm>
            <a:off x="1740865" y="3320809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14%</a:t>
            </a:r>
          </a:p>
        </p:txBody>
      </p:sp>
      <p:sp>
        <p:nvSpPr>
          <p:cNvPr id="16" name="seg-2025-3"/>
          <p:cNvSpPr/>
          <p:nvPr/>
        </p:nvSpPr>
        <p:spPr>
          <a:xfrm>
            <a:off x="1886146" y="2337463"/>
            <a:ext cx="744782" cy="716544"/>
          </a:xfrm>
          <a:custGeom>
            <a:avLst/>
            <a:gdLst/>
            <a:ahLst/>
            <a:cxnLst/>
            <a:rect l="0" t="0" r="r" b="b"/>
            <a:pathLst>
              <a:path w="744782" h="716544">
                <a:moveTo>
                  <a:pt x="11424" y="446060"/>
                </a:moveTo>
                <a:cubicBezTo>
                  <a:pt x="147008" y="255264"/>
                  <a:pt x="330423" y="103517"/>
                  <a:pt x="543237" y="6068"/>
                </a:cubicBezTo>
                <a:quadBezTo>
                  <a:pt x="589782" y="-14188"/>
                  <a:pt x="608515" y="33056"/>
                </a:quadBezTo>
                <a:lnTo>
                  <a:pt x="739452" y="363764"/>
                </a:lnTo>
                <a:quadBezTo>
                  <a:pt x="758121" y="411008"/>
                  <a:pt x="711893" y="432026"/>
                </a:quadBezTo>
                <a:cubicBezTo>
                  <a:pt x="588405" y="492708"/>
                  <a:pt x="480941" y="581616"/>
                  <a:pt x="398203" y="691551"/>
                </a:cubicBezTo>
                <a:quadBezTo>
                  <a:pt x="368866" y="733016"/>
                  <a:pt x="325940" y="705775"/>
                </a:quadBezTo>
                <a:lnTo>
                  <a:pt x="25648" y="515211"/>
                </a:lnTo>
                <a:quadBezTo>
                  <a:pt x="-17214" y="487970"/>
                  <a:pt x="11424" y="446060"/>
                </a:quadBezTo>
                <a:close/>
              </a:path>
            </a:pathLst>
          </a:custGeom>
          <a:gradFill rotWithShape="1">
            <a:gsLst>
              <a:gs pos="0">
                <a:srgbClr val="E48152"/>
              </a:gs>
              <a:gs pos="100000">
                <a:srgbClr val="E0703A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segt-2025-3"/>
          <p:cNvSpPr txBox="1"/>
          <p:nvPr/>
        </p:nvSpPr>
        <p:spPr>
          <a:xfrm>
            <a:off x="2132763" y="2607949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10%</a:t>
            </a:r>
          </a:p>
        </p:txBody>
      </p:sp>
      <p:sp>
        <p:nvSpPr>
          <p:cNvPr id="18" name="seg-2025-4"/>
          <p:cNvSpPr/>
          <p:nvPr/>
        </p:nvSpPr>
        <p:spPr>
          <a:xfrm>
            <a:off x="2524885" y="2224332"/>
            <a:ext cx="440565" cy="497972"/>
          </a:xfrm>
          <a:custGeom>
            <a:avLst/>
            <a:gdLst/>
            <a:ahLst/>
            <a:cxnLst/>
            <a:rect l="0" t="0" r="r" b="b"/>
            <a:pathLst>
              <a:path w="440565" h="497972">
                <a:moveTo>
                  <a:pt x="34292" y="67827"/>
                </a:moveTo>
                <a:cubicBezTo>
                  <a:pt x="149151" y="29173"/>
                  <a:pt x="268743" y="6357"/>
                  <a:pt x="389765" y="9"/>
                </a:cubicBezTo>
                <a:quadBezTo>
                  <a:pt x="440565" y="-1705"/>
                  <a:pt x="440565" y="49095"/>
                </a:quadBezTo>
                <a:lnTo>
                  <a:pt x="440565" y="404758"/>
                </a:lnTo>
                <a:quadBezTo>
                  <a:pt x="440565" y="455558"/>
                  <a:pt x="389828" y="458162"/>
                </a:quadBezTo>
                <a:cubicBezTo>
                  <a:pt x="326427" y="463219"/>
                  <a:pt x="263764" y="475164"/>
                  <a:pt x="202948" y="493785"/>
                </a:cubicBezTo>
                <a:quadBezTo>
                  <a:pt x="154815" y="510105"/>
                  <a:pt x="136146" y="462861"/>
                </a:quadBezTo>
                <a:lnTo>
                  <a:pt x="5209" y="132153"/>
                </a:lnTo>
                <a:quadBezTo>
                  <a:pt x="-13524" y="84909"/>
                  <a:pt x="34292" y="67827"/>
                </a:quadBezTo>
                <a:close/>
              </a:path>
            </a:pathLst>
          </a:custGeom>
          <a:gradFill rotWithShape="1">
            <a:gsLst>
              <a:gs pos="0">
                <a:srgbClr val="C0CEDF"/>
              </a:gs>
              <a:gs pos="100000">
                <a:srgbClr val="B7C7DB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yr-2025"/>
          <p:cNvSpPr txBox="1"/>
          <p:nvPr/>
        </p:nvSpPr>
        <p:spPr>
          <a:xfrm>
            <a:off x="2545842" y="3160141"/>
            <a:ext cx="877316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20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2025</a:t>
            </a:r>
          </a:p>
        </p:txBody>
      </p:sp>
      <p:sp>
        <p:nvSpPr>
          <p:cNvPr id="20" name="rev-2025"/>
          <p:cNvSpPr txBox="1"/>
          <p:nvPr/>
        </p:nvSpPr>
        <p:spPr>
          <a:xfrm>
            <a:off x="2630868" y="3613182"/>
            <a:ext cx="70726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营收 10 亿</a:t>
            </a:r>
          </a:p>
        </p:txBody>
      </p:sp>
      <p:sp>
        <p:nvSpPr>
          <p:cNvPr id="21" name="seg-2026-0"/>
          <p:cNvSpPr/>
          <p:nvPr/>
        </p:nvSpPr>
        <p:spPr>
          <a:xfrm>
            <a:off x="6686550" y="2224332"/>
            <a:ext cx="1314487" cy="2474544"/>
          </a:xfrm>
          <a:custGeom>
            <a:avLst/>
            <a:gdLst/>
            <a:ahLst/>
            <a:cxnLst/>
            <a:rect l="0" t="0" r="r" b="b"/>
            <a:pathLst>
              <a:path w="1314487" h="2474544">
                <a:moveTo>
                  <a:pt x="50800" y="9"/>
                </a:moveTo>
                <a:cubicBezTo>
                  <a:pt x="632849" y="30538"/>
                  <a:pt x="1127633" y="435541"/>
                  <a:pt x="1272567" y="1000083"/>
                </a:cubicBezTo>
                <a:cubicBezTo>
                  <a:pt x="1417502" y="1564624"/>
                  <a:pt x="1179002" y="2157883"/>
                  <a:pt x="683641" y="2465016"/>
                </a:cubicBezTo>
                <a:quadBezTo>
                  <a:pt x="640016" y="2490924"/>
                  <a:pt x="615506" y="2446410"/>
                </a:quadBezTo>
                <a:lnTo>
                  <a:pt x="444183" y="2134752"/>
                </a:lnTo>
                <a:quadBezTo>
                  <a:pt x="419735" y="2090239"/>
                  <a:pt x="462915" y="2063505"/>
                </a:quadBezTo>
                <a:cubicBezTo>
                  <a:pt x="775403" y="1857692"/>
                  <a:pt x="922735" y="1476171"/>
                  <a:pt x="829682" y="1113750"/>
                </a:cubicBezTo>
                <a:cubicBezTo>
                  <a:pt x="736629" y="751330"/>
                  <a:pt x="423723" y="487976"/>
                  <a:pt x="50737" y="458162"/>
                </a:cubicBezTo>
                <a:quadBezTo>
                  <a:pt x="0" y="455558"/>
                  <a:pt x="0" y="404758"/>
                </a:quadBezTo>
                <a:lnTo>
                  <a:pt x="0" y="49095"/>
                </a:lnTo>
                <a:quadBezTo>
                  <a:pt x="0" y="-1705"/>
                  <a:pt x="50800" y="9"/>
                </a:quad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segt-2026-0"/>
          <p:cNvSpPr txBox="1"/>
          <p:nvPr/>
        </p:nvSpPr>
        <p:spPr>
          <a:xfrm>
            <a:off x="7590241" y="3184512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42%</a:t>
            </a:r>
          </a:p>
        </p:txBody>
      </p:sp>
      <p:sp>
        <p:nvSpPr>
          <p:cNvPr id="23" name="seg-2026-1"/>
          <p:cNvSpPr/>
          <p:nvPr/>
        </p:nvSpPr>
        <p:spPr>
          <a:xfrm>
            <a:off x="5418042" y="3856649"/>
            <a:ext cx="1859173" cy="1032700"/>
          </a:xfrm>
          <a:custGeom>
            <a:avLst/>
            <a:gdLst/>
            <a:ahLst/>
            <a:cxnLst/>
            <a:rect l="0" t="0" r="r" b="b"/>
            <a:pathLst>
              <a:path w="1859173" h="1032700">
                <a:moveTo>
                  <a:pt x="1829784" y="899946"/>
                </a:moveTo>
                <a:cubicBezTo>
                  <a:pt x="1493915" y="1062292"/>
                  <a:pt x="1105398" y="1076526"/>
                  <a:pt x="758549" y="939194"/>
                </a:cubicBezTo>
                <a:cubicBezTo>
                  <a:pt x="411700" y="801861"/>
                  <a:pt x="138236" y="525519"/>
                  <a:pt x="4540" y="177252"/>
                </a:cubicBezTo>
                <a:quadBezTo>
                  <a:pt x="-12732" y="129500"/>
                  <a:pt x="35528" y="113816"/>
                </a:quadBezTo>
                <a:lnTo>
                  <a:pt x="373793" y="3897"/>
                </a:lnTo>
                <a:quadBezTo>
                  <a:pt x="422116" y="-11787"/>
                  <a:pt x="440277" y="35647"/>
                </a:quadBezTo>
                <a:cubicBezTo>
                  <a:pt x="531164" y="254331"/>
                  <a:pt x="706692" y="426919"/>
                  <a:pt x="926880" y="514100"/>
                </a:cubicBezTo>
                <a:cubicBezTo>
                  <a:pt x="1147068" y="601280"/>
                  <a:pt x="1393167" y="595630"/>
                  <a:pt x="1609122" y="498435"/>
                </a:cubicBezTo>
                <a:quadBezTo>
                  <a:pt x="1654842" y="476274"/>
                  <a:pt x="1679289" y="520787"/>
                </a:quadBezTo>
                <a:lnTo>
                  <a:pt x="1850612" y="832445"/>
                </a:lnTo>
                <a:quadBezTo>
                  <a:pt x="1875123" y="876959"/>
                  <a:pt x="1829784" y="899946"/>
                </a:quadBezTo>
                <a:close/>
              </a:path>
            </a:pathLst>
          </a:custGeom>
          <a:gradFill rotWithShape="1">
            <a:gsLst>
              <a:gs pos="0">
                <a:srgbClr val="3E7ABF"/>
              </a:gs>
              <a:gs pos="100000">
                <a:srgbClr val="2468B6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segt-2026-1"/>
          <p:cNvSpPr txBox="1"/>
          <p:nvPr/>
        </p:nvSpPr>
        <p:spPr>
          <a:xfrm>
            <a:off x="6113312" y="4486600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28%</a:t>
            </a:r>
          </a:p>
        </p:txBody>
      </p:sp>
      <p:sp>
        <p:nvSpPr>
          <p:cNvPr id="25" name="seg-2026-2"/>
          <p:cNvSpPr/>
          <p:nvPr/>
        </p:nvSpPr>
        <p:spPr>
          <a:xfrm>
            <a:off x="5333955" y="2615327"/>
            <a:ext cx="702435" cy="1322693"/>
          </a:xfrm>
          <a:custGeom>
            <a:avLst/>
            <a:gdLst/>
            <a:ahLst/>
            <a:cxnLst/>
            <a:rect l="0" t="0" r="r" b="b"/>
            <a:pathLst>
              <a:path w="702435" h="1322693">
                <a:moveTo>
                  <a:pt x="45448" y="1285796"/>
                </a:moveTo>
                <a:cubicBezTo>
                  <a:pt x="-75265" y="835238"/>
                  <a:pt x="48219" y="354356"/>
                  <a:pt x="371076" y="17701"/>
                </a:cubicBezTo>
                <a:quadBezTo>
                  <a:pt x="406890" y="-18240"/>
                  <a:pt x="441688" y="18780"/>
                </a:quadBezTo>
                <a:lnTo>
                  <a:pt x="685147" y="278051"/>
                </a:lnTo>
                <a:quadBezTo>
                  <a:pt x="719945" y="315071"/>
                  <a:pt x="684702" y="351647"/>
                </a:quadBezTo>
                <a:cubicBezTo>
                  <a:pt x="490116" y="566019"/>
                  <a:pt x="413970" y="862665"/>
                  <a:pt x="481248" y="1144254"/>
                </a:cubicBezTo>
                <a:quadBezTo>
                  <a:pt x="494456" y="1193276"/>
                  <a:pt x="446133" y="1208961"/>
                </a:quadBezTo>
                <a:lnTo>
                  <a:pt x="107868" y="1318879"/>
                </a:lnTo>
                <a:quadBezTo>
                  <a:pt x="59545" y="1334564"/>
                  <a:pt x="45448" y="1285796"/>
                </a:quadBezTo>
                <a:close/>
              </a:path>
            </a:pathLst>
          </a:custGeom>
          <a:gradFill rotWithShape="1">
            <a:gsLst>
              <a:gs pos="0">
                <a:srgbClr val="5CA1DC"/>
              </a:gs>
              <a:gs pos="100000">
                <a:srgbClr val="4694D7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segt-2026-2"/>
          <p:cNvSpPr txBox="1"/>
          <p:nvPr/>
        </p:nvSpPr>
        <p:spPr>
          <a:xfrm>
            <a:off x="5449865" y="3184512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18%</a:t>
            </a:r>
          </a:p>
        </p:txBody>
      </p:sp>
      <p:sp>
        <p:nvSpPr>
          <p:cNvPr id="27" name="seg-2026-3"/>
          <p:cNvSpPr/>
          <p:nvPr/>
        </p:nvSpPr>
        <p:spPr>
          <a:xfrm>
            <a:off x="5786882" y="2280348"/>
            <a:ext cx="634226" cy="606488"/>
          </a:xfrm>
          <a:custGeom>
            <a:avLst/>
            <a:gdLst/>
            <a:ahLst/>
            <a:cxnLst/>
            <a:rect l="0" t="0" r="r" b="b"/>
            <a:pathLst>
              <a:path w="634226" h="606488">
                <a:moveTo>
                  <a:pt x="19939" y="257112"/>
                </a:moveTo>
                <a:cubicBezTo>
                  <a:pt x="155476" y="142576"/>
                  <a:pt x="312509" y="56245"/>
                  <a:pt x="481838" y="3175"/>
                </a:cubicBezTo>
                <a:quadBezTo>
                  <a:pt x="530542" y="-11112"/>
                  <a:pt x="543179" y="38100"/>
                </a:quadBezTo>
                <a:lnTo>
                  <a:pt x="631634" y="382588"/>
                </a:lnTo>
                <a:quadBezTo>
                  <a:pt x="644271" y="431800"/>
                  <a:pt x="595820" y="446913"/>
                </a:quadBezTo>
                <a:cubicBezTo>
                  <a:pt x="500757" y="479581"/>
                  <a:pt x="412023" y="528363"/>
                  <a:pt x="333502" y="591122"/>
                </a:cubicBezTo>
                <a:quadBezTo>
                  <a:pt x="294767" y="623951"/>
                  <a:pt x="260032" y="586930"/>
                </a:quadBezTo>
                <a:lnTo>
                  <a:pt x="16510" y="327660"/>
                </a:lnTo>
                <a:quadBezTo>
                  <a:pt x="-18225" y="290639"/>
                  <a:pt x="19939" y="257112"/>
                </a:quadBezTo>
                <a:close/>
              </a:path>
            </a:pathLst>
          </a:custGeom>
          <a:gradFill rotWithShape="1">
            <a:gsLst>
              <a:gs pos="0">
                <a:srgbClr val="E48152"/>
              </a:gs>
              <a:gs pos="100000">
                <a:srgbClr val="E0703A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segt-2026-3"/>
          <p:cNvSpPr txBox="1"/>
          <p:nvPr/>
        </p:nvSpPr>
        <p:spPr>
          <a:xfrm>
            <a:off x="6019767" y="2491058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8%</a:t>
            </a:r>
          </a:p>
        </p:txBody>
      </p:sp>
      <p:sp>
        <p:nvSpPr>
          <p:cNvPr id="29" name="seg-2026-4"/>
          <p:cNvSpPr/>
          <p:nvPr/>
        </p:nvSpPr>
        <p:spPr>
          <a:xfrm>
            <a:off x="6364467" y="2224332"/>
            <a:ext cx="283983" cy="469959"/>
          </a:xfrm>
          <a:custGeom>
            <a:avLst/>
            <a:gdLst/>
            <a:ahLst/>
            <a:cxnLst/>
            <a:rect l="0" t="0" r="r" b="b"/>
            <a:pathLst>
              <a:path w="283983" h="469959">
                <a:moveTo>
                  <a:pt x="39508" y="24457"/>
                </a:moveTo>
                <a:cubicBezTo>
                  <a:pt x="103382" y="11587"/>
                  <a:pt x="168114" y="3416"/>
                  <a:pt x="233183" y="9"/>
                </a:cubicBezTo>
                <a:quadBezTo>
                  <a:pt x="283983" y="-1705"/>
                  <a:pt x="283983" y="49095"/>
                </a:quadBezTo>
                <a:lnTo>
                  <a:pt x="283983" y="404758"/>
                </a:lnTo>
                <a:quadBezTo>
                  <a:pt x="283983" y="455558"/>
                  <a:pt x="233246" y="458162"/>
                </a:quadBezTo>
                <a:cubicBezTo>
                  <a:pt x="206478" y="460301"/>
                  <a:pt x="179822" y="463670"/>
                  <a:pt x="153363" y="468258"/>
                </a:cubicBezTo>
                <a:quadBezTo>
                  <a:pt x="103579" y="478355"/>
                  <a:pt x="91006" y="429142"/>
                </a:quadBezTo>
                <a:lnTo>
                  <a:pt x="2551" y="84655"/>
                </a:lnTo>
                <a:quadBezTo>
                  <a:pt x="-10086" y="35442"/>
                  <a:pt x="39508" y="24457"/>
                </a:quadBezTo>
                <a:close/>
              </a:path>
            </a:pathLst>
          </a:custGeom>
          <a:gradFill rotWithShape="1">
            <a:gsLst>
              <a:gs pos="0">
                <a:srgbClr val="C0CEDF"/>
              </a:gs>
              <a:gs pos="100000">
                <a:srgbClr val="B7C7DB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yr-2026"/>
          <p:cNvSpPr txBox="1"/>
          <p:nvPr/>
        </p:nvSpPr>
        <p:spPr>
          <a:xfrm>
            <a:off x="6228842" y="3160141"/>
            <a:ext cx="877316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2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2026</a:t>
            </a:r>
          </a:p>
        </p:txBody>
      </p:sp>
      <p:sp>
        <p:nvSpPr>
          <p:cNvPr id="31" name="rev-2026"/>
          <p:cNvSpPr txBox="1"/>
          <p:nvPr/>
        </p:nvSpPr>
        <p:spPr>
          <a:xfrm>
            <a:off x="6313868" y="3613182"/>
            <a:ext cx="70726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营收 12 亿</a:t>
            </a:r>
          </a:p>
        </p:txBody>
      </p:sp>
      <p:sp>
        <p:nvSpPr>
          <p:cNvPr id="32" name="arr"/>
          <p:cNvSpPr/>
          <p:nvPr/>
        </p:nvSpPr>
        <p:spPr>
          <a:xfrm>
            <a:off x="4508500" y="3556000"/>
            <a:ext cx="508000" cy="3175"/>
          </a:xfrm>
          <a:custGeom>
            <a:avLst/>
            <a:gdLst/>
            <a:ahLst/>
            <a:cxnLst/>
            <a:rect l="0" t="0" r="r" b="b"/>
            <a:pathLst>
              <a:path w="508000" h="3175">
                <a:moveTo>
                  <a:pt x="0" y="0"/>
                </a:moveTo>
                <a:lnTo>
                  <a:pt x="508000" y="0"/>
                </a:lnTo>
              </a:path>
            </a:pathLst>
          </a:custGeom>
          <a:noFill/>
          <a:ln w="19050" cap="rnd">
            <a:solidFill>
              <a:srgbClr val="7E93AE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arr-h"/>
          <p:cNvSpPr/>
          <p:nvPr/>
        </p:nvSpPr>
        <p:spPr>
          <a:xfrm>
            <a:off x="4953000" y="3479800"/>
            <a:ext cx="101600" cy="152400"/>
          </a:xfrm>
          <a:custGeom>
            <a:avLst/>
            <a:gdLst/>
            <a:ahLst/>
            <a:cxnLst/>
            <a:rect l="0" t="0" r="r" b="b"/>
            <a:pathLst>
              <a:path w="101600" h="152400">
                <a:moveTo>
                  <a:pt x="0" y="0"/>
                </a:moveTo>
                <a:lnTo>
                  <a:pt x="101600" y="76200"/>
                </a:lnTo>
                <a:lnTo>
                  <a:pt x="0" y="152400"/>
                </a:lnTo>
                <a:close/>
              </a:path>
            </a:pathLst>
          </a:custGeom>
          <a:solidFill>
            <a:srgbClr val="7E93AE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arr-t"/>
          <p:cNvSpPr txBox="1"/>
          <p:nvPr/>
        </p:nvSpPr>
        <p:spPr>
          <a:xfrm>
            <a:off x="4602988" y="3303524"/>
            <a:ext cx="3190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+20%</a:t>
            </a:r>
          </a:p>
        </p:txBody>
      </p:sp>
      <p:sp>
        <p:nvSpPr>
          <p:cNvPr id="35" name="t-h"/>
          <p:cNvSpPr txBox="1"/>
          <p:nvPr/>
        </p:nvSpPr>
        <p:spPr>
          <a:xfrm>
            <a:off x="8426450" y="14676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占比变化</a:t>
            </a:r>
          </a:p>
        </p:txBody>
      </p:sp>
      <p:sp>
        <p:nvSpPr>
          <p:cNvPr id="36" name="t-p"/>
          <p:cNvSpPr txBox="1"/>
          <p:nvPr/>
        </p:nvSpPr>
        <p:spPr>
          <a:xfrm>
            <a:off x="8434070" y="1749266"/>
            <a:ext cx="11334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百分点 · 金额（亿元）</a:t>
            </a:r>
          </a:p>
        </p:txBody>
      </p:sp>
      <p:sp>
        <p:nvSpPr>
          <p:cNvPr id="37" name="r-1"/>
          <p:cNvSpPr/>
          <p:nvPr/>
        </p:nvSpPr>
        <p:spPr>
          <a:xfrm>
            <a:off x="8445500" y="2095500"/>
            <a:ext cx="2794000" cy="558800"/>
          </a:xfrm>
          <a:custGeom>
            <a:avLst/>
            <a:gdLst/>
            <a:ahLst/>
            <a:cxnLst/>
            <a:rect l="0" t="0" r="r" b="b"/>
            <a:pathLst>
              <a:path w="2794000" h="558800">
                <a:moveTo>
                  <a:pt x="101600" y="0"/>
                </a:moveTo>
                <a:lnTo>
                  <a:pt x="2692400" y="0"/>
                </a:lnTo>
                <a:cubicBezTo>
                  <a:pt x="2748534" y="0"/>
                  <a:pt x="2794000" y="45466"/>
                  <a:pt x="2794000" y="101600"/>
                </a:cubicBezTo>
                <a:lnTo>
                  <a:pt x="2794000" y="457200"/>
                </a:lnTo>
                <a:cubicBezTo>
                  <a:pt x="2794000" y="513334"/>
                  <a:pt x="2748534" y="558800"/>
                  <a:pt x="2692400" y="558800"/>
                </a:cubicBezTo>
                <a:lnTo>
                  <a:pt x="101600" y="558800"/>
                </a:lnTo>
                <a:cubicBezTo>
                  <a:pt x="45466" y="558800"/>
                  <a:pt x="0" y="513334"/>
                  <a:pt x="0" y="457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rc-1"/>
          <p:cNvSpPr/>
          <p:nvPr/>
        </p:nvSpPr>
        <p:spPr>
          <a:xfrm>
            <a:off x="8572500" y="22860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44450" y="0"/>
                </a:moveTo>
                <a:lnTo>
                  <a:pt x="120650" y="0"/>
                </a:lnTo>
                <a:cubicBezTo>
                  <a:pt x="145224" y="0"/>
                  <a:pt x="165100" y="19875"/>
                  <a:pt x="165100" y="44450"/>
                </a:cubicBezTo>
                <a:lnTo>
                  <a:pt x="165100" y="120650"/>
                </a:lnTo>
                <a:cubicBezTo>
                  <a:pt x="165100" y="145225"/>
                  <a:pt x="145224" y="165100"/>
                  <a:pt x="120650" y="165100"/>
                </a:cubicBezTo>
                <a:lnTo>
                  <a:pt x="44450" y="165100"/>
                </a:lnTo>
                <a:cubicBezTo>
                  <a:pt x="19876" y="165100"/>
                  <a:pt x="0" y="145225"/>
                  <a:pt x="0" y="1206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rn-1"/>
          <p:cNvSpPr txBox="1"/>
          <p:nvPr/>
        </p:nvSpPr>
        <p:spPr>
          <a:xfrm>
            <a:off x="8812022" y="2187797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企业软件</a:t>
            </a:r>
          </a:p>
        </p:txBody>
      </p:sp>
      <p:sp>
        <p:nvSpPr>
          <p:cNvPr id="40" name="ra-1"/>
          <p:cNvSpPr txBox="1"/>
          <p:nvPr/>
        </p:nvSpPr>
        <p:spPr>
          <a:xfrm>
            <a:off x="8815451" y="2413587"/>
            <a:ext cx="79368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4.80 → 5.04 亿</a:t>
            </a:r>
          </a:p>
        </p:txBody>
      </p:sp>
      <p:sp>
        <p:nvSpPr>
          <p:cNvPr id="41" name="rd-1"/>
          <p:cNvSpPr/>
          <p:nvPr/>
        </p:nvSpPr>
        <p:spPr>
          <a:xfrm>
            <a:off x="10414000" y="2260600"/>
            <a:ext cx="673100" cy="228600"/>
          </a:xfrm>
          <a:custGeom>
            <a:avLst/>
            <a:gdLst/>
            <a:ahLst/>
            <a:cxnLst/>
            <a:rect l="0" t="0" r="r" b="b"/>
            <a:pathLst>
              <a:path w="673100" h="228600">
                <a:moveTo>
                  <a:pt x="114300" y="0"/>
                </a:moveTo>
                <a:lnTo>
                  <a:pt x="558800" y="0"/>
                </a:lnTo>
                <a:cubicBezTo>
                  <a:pt x="621919" y="0"/>
                  <a:pt x="673100" y="51181"/>
                  <a:pt x="673100" y="114300"/>
                </a:cubicBezTo>
                <a:lnTo>
                  <a:pt x="673100" y="114300"/>
                </a:lnTo>
                <a:cubicBezTo>
                  <a:pt x="673100" y="177419"/>
                  <a:pt x="621919" y="228600"/>
                  <a:pt x="5588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rdt-1"/>
          <p:cNvSpPr txBox="1"/>
          <p:nvPr/>
        </p:nvSpPr>
        <p:spPr>
          <a:xfrm>
            <a:off x="10550842" y="2279682"/>
            <a:ext cx="39941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-6 pt</a:t>
            </a:r>
          </a:p>
        </p:txBody>
      </p:sp>
      <p:sp>
        <p:nvSpPr>
          <p:cNvPr id="43" name="r-2"/>
          <p:cNvSpPr/>
          <p:nvPr/>
        </p:nvSpPr>
        <p:spPr>
          <a:xfrm>
            <a:off x="8445500" y="2755900"/>
            <a:ext cx="2794000" cy="558800"/>
          </a:xfrm>
          <a:custGeom>
            <a:avLst/>
            <a:gdLst/>
            <a:ahLst/>
            <a:cxnLst/>
            <a:rect l="0" t="0" r="r" b="b"/>
            <a:pathLst>
              <a:path w="2794000" h="558800">
                <a:moveTo>
                  <a:pt x="101600" y="0"/>
                </a:moveTo>
                <a:lnTo>
                  <a:pt x="2692400" y="0"/>
                </a:lnTo>
                <a:cubicBezTo>
                  <a:pt x="2748534" y="0"/>
                  <a:pt x="2794000" y="45466"/>
                  <a:pt x="2794000" y="101600"/>
                </a:cubicBezTo>
                <a:lnTo>
                  <a:pt x="2794000" y="457200"/>
                </a:lnTo>
                <a:cubicBezTo>
                  <a:pt x="2794000" y="513334"/>
                  <a:pt x="2748534" y="558800"/>
                  <a:pt x="2692400" y="558800"/>
                </a:cubicBezTo>
                <a:lnTo>
                  <a:pt x="101600" y="558800"/>
                </a:lnTo>
                <a:cubicBezTo>
                  <a:pt x="45466" y="558800"/>
                  <a:pt x="0" y="513334"/>
                  <a:pt x="0" y="457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rc-2"/>
          <p:cNvSpPr/>
          <p:nvPr/>
        </p:nvSpPr>
        <p:spPr>
          <a:xfrm>
            <a:off x="8572500" y="29464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44450" y="0"/>
                </a:moveTo>
                <a:lnTo>
                  <a:pt x="120650" y="0"/>
                </a:lnTo>
                <a:cubicBezTo>
                  <a:pt x="145224" y="0"/>
                  <a:pt x="165100" y="19875"/>
                  <a:pt x="165100" y="44450"/>
                </a:cubicBezTo>
                <a:lnTo>
                  <a:pt x="165100" y="120650"/>
                </a:lnTo>
                <a:cubicBezTo>
                  <a:pt x="165100" y="145225"/>
                  <a:pt x="145224" y="165100"/>
                  <a:pt x="120650" y="165100"/>
                </a:cubicBezTo>
                <a:lnTo>
                  <a:pt x="44450" y="165100"/>
                </a:lnTo>
                <a:cubicBezTo>
                  <a:pt x="19876" y="165100"/>
                  <a:pt x="0" y="145225"/>
                  <a:pt x="0" y="1206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rn-2"/>
          <p:cNvSpPr txBox="1"/>
          <p:nvPr/>
        </p:nvSpPr>
        <p:spPr>
          <a:xfrm>
            <a:off x="8812022" y="2848197"/>
            <a:ext cx="489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云服务</a:t>
            </a:r>
          </a:p>
        </p:txBody>
      </p:sp>
      <p:sp>
        <p:nvSpPr>
          <p:cNvPr id="46" name="ra-2"/>
          <p:cNvSpPr txBox="1"/>
          <p:nvPr/>
        </p:nvSpPr>
        <p:spPr>
          <a:xfrm>
            <a:off x="8815451" y="3073987"/>
            <a:ext cx="79368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2.20 → 3.36 亿</a:t>
            </a:r>
          </a:p>
        </p:txBody>
      </p:sp>
      <p:sp>
        <p:nvSpPr>
          <p:cNvPr id="47" name="rd-2"/>
          <p:cNvSpPr/>
          <p:nvPr/>
        </p:nvSpPr>
        <p:spPr>
          <a:xfrm>
            <a:off x="10414000" y="2921000"/>
            <a:ext cx="673100" cy="228600"/>
          </a:xfrm>
          <a:custGeom>
            <a:avLst/>
            <a:gdLst/>
            <a:ahLst/>
            <a:cxnLst/>
            <a:rect l="0" t="0" r="r" b="b"/>
            <a:pathLst>
              <a:path w="673100" h="228600">
                <a:moveTo>
                  <a:pt x="114300" y="0"/>
                </a:moveTo>
                <a:lnTo>
                  <a:pt x="558800" y="0"/>
                </a:lnTo>
                <a:cubicBezTo>
                  <a:pt x="621919" y="0"/>
                  <a:pt x="673100" y="51181"/>
                  <a:pt x="673100" y="114300"/>
                </a:cubicBezTo>
                <a:lnTo>
                  <a:pt x="673100" y="114300"/>
                </a:lnTo>
                <a:cubicBezTo>
                  <a:pt x="673100" y="177419"/>
                  <a:pt x="621919" y="228600"/>
                  <a:pt x="5588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134C9C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rdt-2"/>
          <p:cNvSpPr txBox="1"/>
          <p:nvPr/>
        </p:nvSpPr>
        <p:spPr>
          <a:xfrm>
            <a:off x="10550842" y="2940082"/>
            <a:ext cx="39941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+6 pt</a:t>
            </a:r>
          </a:p>
        </p:txBody>
      </p:sp>
      <p:sp>
        <p:nvSpPr>
          <p:cNvPr id="49" name="r-3"/>
          <p:cNvSpPr/>
          <p:nvPr/>
        </p:nvSpPr>
        <p:spPr>
          <a:xfrm>
            <a:off x="8445500" y="3416300"/>
            <a:ext cx="2794000" cy="558800"/>
          </a:xfrm>
          <a:custGeom>
            <a:avLst/>
            <a:gdLst/>
            <a:ahLst/>
            <a:cxnLst/>
            <a:rect l="0" t="0" r="r" b="b"/>
            <a:pathLst>
              <a:path w="2794000" h="558800">
                <a:moveTo>
                  <a:pt x="101600" y="0"/>
                </a:moveTo>
                <a:lnTo>
                  <a:pt x="2692400" y="0"/>
                </a:lnTo>
                <a:cubicBezTo>
                  <a:pt x="2748534" y="0"/>
                  <a:pt x="2794000" y="45466"/>
                  <a:pt x="2794000" y="101600"/>
                </a:cubicBezTo>
                <a:lnTo>
                  <a:pt x="2794000" y="457200"/>
                </a:lnTo>
                <a:cubicBezTo>
                  <a:pt x="2794000" y="513334"/>
                  <a:pt x="2748534" y="558800"/>
                  <a:pt x="2692400" y="558800"/>
                </a:cubicBezTo>
                <a:lnTo>
                  <a:pt x="101600" y="558800"/>
                </a:lnTo>
                <a:cubicBezTo>
                  <a:pt x="45466" y="558800"/>
                  <a:pt x="0" y="513334"/>
                  <a:pt x="0" y="457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rc-3"/>
          <p:cNvSpPr/>
          <p:nvPr/>
        </p:nvSpPr>
        <p:spPr>
          <a:xfrm>
            <a:off x="8572500" y="36068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44450" y="0"/>
                </a:moveTo>
                <a:lnTo>
                  <a:pt x="120650" y="0"/>
                </a:lnTo>
                <a:cubicBezTo>
                  <a:pt x="145224" y="0"/>
                  <a:pt x="165100" y="19875"/>
                  <a:pt x="165100" y="44450"/>
                </a:cubicBezTo>
                <a:lnTo>
                  <a:pt x="165100" y="120650"/>
                </a:lnTo>
                <a:cubicBezTo>
                  <a:pt x="165100" y="145225"/>
                  <a:pt x="145224" y="165100"/>
                  <a:pt x="120650" y="165100"/>
                </a:cubicBezTo>
                <a:lnTo>
                  <a:pt x="44450" y="165100"/>
                </a:lnTo>
                <a:cubicBezTo>
                  <a:pt x="19876" y="165100"/>
                  <a:pt x="0" y="145225"/>
                  <a:pt x="0" y="1206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rn-3"/>
          <p:cNvSpPr txBox="1"/>
          <p:nvPr/>
        </p:nvSpPr>
        <p:spPr>
          <a:xfrm>
            <a:off x="8812022" y="3508597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数据服务</a:t>
            </a:r>
          </a:p>
        </p:txBody>
      </p:sp>
      <p:sp>
        <p:nvSpPr>
          <p:cNvPr id="52" name="ra-3"/>
          <p:cNvSpPr txBox="1"/>
          <p:nvPr/>
        </p:nvSpPr>
        <p:spPr>
          <a:xfrm>
            <a:off x="8815451" y="3734387"/>
            <a:ext cx="79368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1.40 → 2.16 亿</a:t>
            </a:r>
          </a:p>
        </p:txBody>
      </p:sp>
      <p:sp>
        <p:nvSpPr>
          <p:cNvPr id="53" name="rd-3"/>
          <p:cNvSpPr/>
          <p:nvPr/>
        </p:nvSpPr>
        <p:spPr>
          <a:xfrm>
            <a:off x="10414000" y="3581400"/>
            <a:ext cx="673100" cy="228600"/>
          </a:xfrm>
          <a:custGeom>
            <a:avLst/>
            <a:gdLst/>
            <a:ahLst/>
            <a:cxnLst/>
            <a:rect l="0" t="0" r="r" b="b"/>
            <a:pathLst>
              <a:path w="673100" h="228600">
                <a:moveTo>
                  <a:pt x="114300" y="0"/>
                </a:moveTo>
                <a:lnTo>
                  <a:pt x="558800" y="0"/>
                </a:lnTo>
                <a:cubicBezTo>
                  <a:pt x="621919" y="0"/>
                  <a:pt x="673100" y="51181"/>
                  <a:pt x="673100" y="114300"/>
                </a:cubicBezTo>
                <a:lnTo>
                  <a:pt x="673100" y="114300"/>
                </a:lnTo>
                <a:cubicBezTo>
                  <a:pt x="673100" y="177419"/>
                  <a:pt x="621919" y="228600"/>
                  <a:pt x="5588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134C9C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rdt-3"/>
          <p:cNvSpPr txBox="1"/>
          <p:nvPr/>
        </p:nvSpPr>
        <p:spPr>
          <a:xfrm>
            <a:off x="10550842" y="3600482"/>
            <a:ext cx="39941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+4 pt</a:t>
            </a:r>
          </a:p>
        </p:txBody>
      </p:sp>
      <p:sp>
        <p:nvSpPr>
          <p:cNvPr id="55" name="r-4"/>
          <p:cNvSpPr/>
          <p:nvPr/>
        </p:nvSpPr>
        <p:spPr>
          <a:xfrm>
            <a:off x="8445500" y="4076700"/>
            <a:ext cx="2794000" cy="558800"/>
          </a:xfrm>
          <a:custGeom>
            <a:avLst/>
            <a:gdLst/>
            <a:ahLst/>
            <a:cxnLst/>
            <a:rect l="0" t="0" r="r" b="b"/>
            <a:pathLst>
              <a:path w="2794000" h="558800">
                <a:moveTo>
                  <a:pt x="101600" y="0"/>
                </a:moveTo>
                <a:lnTo>
                  <a:pt x="2692400" y="0"/>
                </a:lnTo>
                <a:cubicBezTo>
                  <a:pt x="2748534" y="0"/>
                  <a:pt x="2794000" y="45466"/>
                  <a:pt x="2794000" y="101600"/>
                </a:cubicBezTo>
                <a:lnTo>
                  <a:pt x="2794000" y="457200"/>
                </a:lnTo>
                <a:cubicBezTo>
                  <a:pt x="2794000" y="513334"/>
                  <a:pt x="2748534" y="558800"/>
                  <a:pt x="2692400" y="558800"/>
                </a:cubicBezTo>
                <a:lnTo>
                  <a:pt x="101600" y="558800"/>
                </a:lnTo>
                <a:cubicBezTo>
                  <a:pt x="45466" y="558800"/>
                  <a:pt x="0" y="513334"/>
                  <a:pt x="0" y="457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rc-4"/>
          <p:cNvSpPr/>
          <p:nvPr/>
        </p:nvSpPr>
        <p:spPr>
          <a:xfrm>
            <a:off x="8572500" y="42672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44450" y="0"/>
                </a:moveTo>
                <a:lnTo>
                  <a:pt x="120650" y="0"/>
                </a:lnTo>
                <a:cubicBezTo>
                  <a:pt x="145224" y="0"/>
                  <a:pt x="165100" y="19875"/>
                  <a:pt x="165100" y="44450"/>
                </a:cubicBezTo>
                <a:lnTo>
                  <a:pt x="165100" y="120650"/>
                </a:lnTo>
                <a:cubicBezTo>
                  <a:pt x="165100" y="145225"/>
                  <a:pt x="145224" y="165100"/>
                  <a:pt x="120650" y="165100"/>
                </a:cubicBezTo>
                <a:lnTo>
                  <a:pt x="44450" y="165100"/>
                </a:lnTo>
                <a:cubicBezTo>
                  <a:pt x="19876" y="165100"/>
                  <a:pt x="0" y="145225"/>
                  <a:pt x="0" y="1206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rn-4"/>
          <p:cNvSpPr txBox="1"/>
          <p:nvPr/>
        </p:nvSpPr>
        <p:spPr>
          <a:xfrm>
            <a:off x="8812022" y="4168997"/>
            <a:ext cx="362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咨询</a:t>
            </a:r>
          </a:p>
        </p:txBody>
      </p:sp>
      <p:sp>
        <p:nvSpPr>
          <p:cNvPr id="58" name="ra-4"/>
          <p:cNvSpPr txBox="1"/>
          <p:nvPr/>
        </p:nvSpPr>
        <p:spPr>
          <a:xfrm>
            <a:off x="8815451" y="4394787"/>
            <a:ext cx="79368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1.00 → 0.96 亿</a:t>
            </a:r>
          </a:p>
        </p:txBody>
      </p:sp>
      <p:sp>
        <p:nvSpPr>
          <p:cNvPr id="59" name="rd-4"/>
          <p:cNvSpPr/>
          <p:nvPr/>
        </p:nvSpPr>
        <p:spPr>
          <a:xfrm>
            <a:off x="10414000" y="4241800"/>
            <a:ext cx="673100" cy="228600"/>
          </a:xfrm>
          <a:custGeom>
            <a:avLst/>
            <a:gdLst/>
            <a:ahLst/>
            <a:cxnLst/>
            <a:rect l="0" t="0" r="r" b="b"/>
            <a:pathLst>
              <a:path w="673100" h="228600">
                <a:moveTo>
                  <a:pt x="114300" y="0"/>
                </a:moveTo>
                <a:lnTo>
                  <a:pt x="558800" y="0"/>
                </a:lnTo>
                <a:cubicBezTo>
                  <a:pt x="621919" y="0"/>
                  <a:pt x="673100" y="51181"/>
                  <a:pt x="673100" y="114300"/>
                </a:cubicBezTo>
                <a:lnTo>
                  <a:pt x="673100" y="114300"/>
                </a:lnTo>
                <a:cubicBezTo>
                  <a:pt x="673100" y="177419"/>
                  <a:pt x="621919" y="228600"/>
                  <a:pt x="5588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rdt-4"/>
          <p:cNvSpPr txBox="1"/>
          <p:nvPr/>
        </p:nvSpPr>
        <p:spPr>
          <a:xfrm>
            <a:off x="10550842" y="4260882"/>
            <a:ext cx="39941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-2 pt</a:t>
            </a:r>
          </a:p>
        </p:txBody>
      </p:sp>
      <p:sp>
        <p:nvSpPr>
          <p:cNvPr id="61" name="r-5"/>
          <p:cNvSpPr/>
          <p:nvPr/>
        </p:nvSpPr>
        <p:spPr>
          <a:xfrm>
            <a:off x="8445500" y="4737100"/>
            <a:ext cx="2794000" cy="558800"/>
          </a:xfrm>
          <a:custGeom>
            <a:avLst/>
            <a:gdLst/>
            <a:ahLst/>
            <a:cxnLst/>
            <a:rect l="0" t="0" r="r" b="b"/>
            <a:pathLst>
              <a:path w="2794000" h="558800">
                <a:moveTo>
                  <a:pt x="101600" y="0"/>
                </a:moveTo>
                <a:lnTo>
                  <a:pt x="2692400" y="0"/>
                </a:lnTo>
                <a:cubicBezTo>
                  <a:pt x="2748534" y="0"/>
                  <a:pt x="2794000" y="45466"/>
                  <a:pt x="2794000" y="101600"/>
                </a:cubicBezTo>
                <a:lnTo>
                  <a:pt x="2794000" y="457200"/>
                </a:lnTo>
                <a:cubicBezTo>
                  <a:pt x="2794000" y="513334"/>
                  <a:pt x="2748534" y="558800"/>
                  <a:pt x="2692400" y="558800"/>
                </a:cubicBezTo>
                <a:lnTo>
                  <a:pt x="101600" y="558800"/>
                </a:lnTo>
                <a:cubicBezTo>
                  <a:pt x="45466" y="558800"/>
                  <a:pt x="0" y="513334"/>
                  <a:pt x="0" y="4572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rc-5"/>
          <p:cNvSpPr/>
          <p:nvPr/>
        </p:nvSpPr>
        <p:spPr>
          <a:xfrm>
            <a:off x="8572500" y="4927600"/>
            <a:ext cx="165100" cy="165100"/>
          </a:xfrm>
          <a:custGeom>
            <a:avLst/>
            <a:gdLst/>
            <a:ahLst/>
            <a:cxnLst/>
            <a:rect l="0" t="0" r="r" b="b"/>
            <a:pathLst>
              <a:path w="165100" h="165100">
                <a:moveTo>
                  <a:pt x="44450" y="0"/>
                </a:moveTo>
                <a:lnTo>
                  <a:pt x="120650" y="0"/>
                </a:lnTo>
                <a:cubicBezTo>
                  <a:pt x="145224" y="0"/>
                  <a:pt x="165100" y="19875"/>
                  <a:pt x="165100" y="44450"/>
                </a:cubicBezTo>
                <a:lnTo>
                  <a:pt x="165100" y="120650"/>
                </a:lnTo>
                <a:cubicBezTo>
                  <a:pt x="165100" y="145225"/>
                  <a:pt x="145224" y="165100"/>
                  <a:pt x="120650" y="165100"/>
                </a:cubicBezTo>
                <a:lnTo>
                  <a:pt x="44450" y="165100"/>
                </a:lnTo>
                <a:cubicBezTo>
                  <a:pt x="19876" y="165100"/>
                  <a:pt x="0" y="145225"/>
                  <a:pt x="0" y="120650"/>
                </a:cubicBezTo>
                <a:lnTo>
                  <a:pt x="0" y="44450"/>
                </a:lnTo>
                <a:cubicBezTo>
                  <a:pt x="0" y="19875"/>
                  <a:pt x="19876" y="0"/>
                  <a:pt x="44450" y="0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rn-5"/>
          <p:cNvSpPr txBox="1"/>
          <p:nvPr/>
        </p:nvSpPr>
        <p:spPr>
          <a:xfrm>
            <a:off x="8812022" y="4829397"/>
            <a:ext cx="362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其他</a:t>
            </a:r>
          </a:p>
        </p:txBody>
      </p:sp>
      <p:sp>
        <p:nvSpPr>
          <p:cNvPr id="64" name="ra-5"/>
          <p:cNvSpPr txBox="1"/>
          <p:nvPr/>
        </p:nvSpPr>
        <p:spPr>
          <a:xfrm>
            <a:off x="8815451" y="5055187"/>
            <a:ext cx="79368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0.60 → 0.48 亿</a:t>
            </a:r>
          </a:p>
        </p:txBody>
      </p:sp>
      <p:sp>
        <p:nvSpPr>
          <p:cNvPr id="65" name="rd-5"/>
          <p:cNvSpPr/>
          <p:nvPr/>
        </p:nvSpPr>
        <p:spPr>
          <a:xfrm>
            <a:off x="10414000" y="4902200"/>
            <a:ext cx="673100" cy="228600"/>
          </a:xfrm>
          <a:custGeom>
            <a:avLst/>
            <a:gdLst/>
            <a:ahLst/>
            <a:cxnLst/>
            <a:rect l="0" t="0" r="r" b="b"/>
            <a:pathLst>
              <a:path w="673100" h="228600">
                <a:moveTo>
                  <a:pt x="114300" y="0"/>
                </a:moveTo>
                <a:lnTo>
                  <a:pt x="558800" y="0"/>
                </a:lnTo>
                <a:cubicBezTo>
                  <a:pt x="621919" y="0"/>
                  <a:pt x="673100" y="51181"/>
                  <a:pt x="673100" y="114300"/>
                </a:cubicBezTo>
                <a:lnTo>
                  <a:pt x="673100" y="114300"/>
                </a:lnTo>
                <a:cubicBezTo>
                  <a:pt x="673100" y="177419"/>
                  <a:pt x="621919" y="228600"/>
                  <a:pt x="5588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rdt-5"/>
          <p:cNvSpPr txBox="1"/>
          <p:nvPr/>
        </p:nvSpPr>
        <p:spPr>
          <a:xfrm>
            <a:off x="10550842" y="4921282"/>
            <a:ext cx="39941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-2 pt</a:t>
            </a:r>
          </a:p>
        </p:txBody>
      </p:sp>
      <p:sp>
        <p:nvSpPr>
          <p:cNvPr id="67" name="note"/>
          <p:cNvSpPr txBox="1"/>
          <p:nvPr/>
        </p:nvSpPr>
        <p:spPr>
          <a:xfrm>
            <a:off x="939165" y="5577761"/>
            <a:ext cx="414051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1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注：企业软件占比下降 6 个点，但金额从 4.80 亿增至 5.04 亿，仍在增长。</a:t>
            </a:r>
          </a:p>
        </p:txBody>
      </p:sp>
      <p:cxnSp>
        <p:nvCxnSpPr>
          <p:cNvPr id="68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9" name="foot-l"/>
          <p:cNvSpPr txBox="1"/>
          <p:nvPr/>
        </p:nvSpPr>
        <p:spPr>
          <a:xfrm>
            <a:off x="573532" y="6532308"/>
            <a:ext cx="136334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双环对比 · 2025 vs 2026</a:t>
            </a:r>
          </a:p>
        </p:txBody>
      </p:sp>
      <p:sp>
        <p:nvSpPr>
          <p:cNvPr id="70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月活用户两年走势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44589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ANNOTATED TREND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7960995" y="673132"/>
            <a:ext cx="36597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每一次拐点背后都有一件事——把事件标在曲线上，增长的原因一目了然</a:t>
            </a:r>
          </a:p>
        </p:txBody>
      </p:sp>
      <p:cxnSp>
        <p:nvCxnSpPr>
          <p:cNvPr id="10" name="g-0"/>
          <p:cNvCxnSpPr/>
          <p:nvPr/>
        </p:nvCxnSpPr>
        <p:spPr>
          <a:xfrm>
            <a:off x="1460500" y="5080000"/>
            <a:ext cx="9652000" cy="0"/>
          </a:xfrm>
          <a:prstGeom prst="line">
            <a:avLst/>
          </a:prstGeom>
          <a:ln w="6350" cap="rnd">
            <a:solidFill>
              <a:srgbClr val="0B2545">
                <a:alpha val="1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gt-0"/>
          <p:cNvSpPr txBox="1"/>
          <p:nvPr/>
        </p:nvSpPr>
        <p:spPr>
          <a:xfrm>
            <a:off x="1235456" y="49926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0</a:t>
            </a:r>
          </a:p>
        </p:txBody>
      </p:sp>
      <p:cxnSp>
        <p:nvCxnSpPr>
          <p:cNvPr id="12" name="g-40"/>
          <p:cNvCxnSpPr/>
          <p:nvPr/>
        </p:nvCxnSpPr>
        <p:spPr>
          <a:xfrm>
            <a:off x="1460500" y="4286250"/>
            <a:ext cx="96520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gt-40"/>
          <p:cNvSpPr txBox="1"/>
          <p:nvPr/>
        </p:nvSpPr>
        <p:spPr>
          <a:xfrm>
            <a:off x="1178560" y="419887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40</a:t>
            </a:r>
          </a:p>
        </p:txBody>
      </p:sp>
      <p:cxnSp>
        <p:nvCxnSpPr>
          <p:cNvPr id="14" name="g-80"/>
          <p:cNvCxnSpPr/>
          <p:nvPr/>
        </p:nvCxnSpPr>
        <p:spPr>
          <a:xfrm>
            <a:off x="1460500" y="3492500"/>
            <a:ext cx="96520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gt-80"/>
          <p:cNvSpPr txBox="1"/>
          <p:nvPr/>
        </p:nvSpPr>
        <p:spPr>
          <a:xfrm>
            <a:off x="1178560" y="34051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80</a:t>
            </a:r>
          </a:p>
        </p:txBody>
      </p:sp>
      <p:cxnSp>
        <p:nvCxnSpPr>
          <p:cNvPr id="16" name="g-120"/>
          <p:cNvCxnSpPr/>
          <p:nvPr/>
        </p:nvCxnSpPr>
        <p:spPr>
          <a:xfrm>
            <a:off x="1460500" y="2698750"/>
            <a:ext cx="96520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gt-120"/>
          <p:cNvSpPr txBox="1"/>
          <p:nvPr/>
        </p:nvSpPr>
        <p:spPr>
          <a:xfrm>
            <a:off x="1121664" y="261137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120</a:t>
            </a:r>
          </a:p>
        </p:txBody>
      </p:sp>
      <p:cxnSp>
        <p:nvCxnSpPr>
          <p:cNvPr id="18" name="g-160"/>
          <p:cNvCxnSpPr/>
          <p:nvPr/>
        </p:nvCxnSpPr>
        <p:spPr>
          <a:xfrm>
            <a:off x="1460500" y="1905000"/>
            <a:ext cx="96520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gt-160"/>
          <p:cNvSpPr txBox="1"/>
          <p:nvPr/>
        </p:nvSpPr>
        <p:spPr>
          <a:xfrm>
            <a:off x="1121664" y="18176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160</a:t>
            </a:r>
          </a:p>
        </p:txBody>
      </p:sp>
      <p:sp>
        <p:nvSpPr>
          <p:cNvPr id="20" name="unit"/>
          <p:cNvSpPr txBox="1"/>
          <p:nvPr/>
        </p:nvSpPr>
        <p:spPr>
          <a:xfrm>
            <a:off x="1124458" y="1604708"/>
            <a:ext cx="2578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万人</a:t>
            </a:r>
          </a:p>
        </p:txBody>
      </p:sp>
      <p:cxnSp>
        <p:nvCxnSpPr>
          <p:cNvPr id="21" name="ysep"/>
          <p:cNvCxnSpPr/>
          <p:nvPr/>
        </p:nvCxnSpPr>
        <p:spPr>
          <a:xfrm>
            <a:off x="6318250" y="1778000"/>
            <a:ext cx="0" cy="3302000"/>
          </a:xfrm>
          <a:prstGeom prst="line">
            <a:avLst/>
          </a:prstGeom>
          <a:ln w="8890" cap="rnd">
            <a:solidFill>
              <a:srgbClr val="0B2545">
                <a:alpha val="2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yr-2025"/>
          <p:cNvSpPr txBox="1"/>
          <p:nvPr/>
        </p:nvSpPr>
        <p:spPr>
          <a:xfrm>
            <a:off x="3753485" y="5329555"/>
            <a:ext cx="398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2025</a:t>
            </a:r>
          </a:p>
        </p:txBody>
      </p:sp>
      <p:sp>
        <p:nvSpPr>
          <p:cNvPr id="23" name="yr-2026"/>
          <p:cNvSpPr txBox="1"/>
          <p:nvPr/>
        </p:nvSpPr>
        <p:spPr>
          <a:xfrm>
            <a:off x="8484235" y="5329555"/>
            <a:ext cx="398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2026</a:t>
            </a:r>
          </a:p>
        </p:txBody>
      </p:sp>
      <p:sp>
        <p:nvSpPr>
          <p:cNvPr id="24" name="xm-0"/>
          <p:cNvSpPr txBox="1"/>
          <p:nvPr/>
        </p:nvSpPr>
        <p:spPr>
          <a:xfrm>
            <a:off x="1478153" y="51607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1月</a:t>
            </a:r>
          </a:p>
        </p:txBody>
      </p:sp>
      <p:sp>
        <p:nvSpPr>
          <p:cNvPr id="25" name="xm-3"/>
          <p:cNvSpPr txBox="1"/>
          <p:nvPr/>
        </p:nvSpPr>
        <p:spPr>
          <a:xfrm>
            <a:off x="2712262" y="51607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4月</a:t>
            </a:r>
          </a:p>
        </p:txBody>
      </p:sp>
      <p:sp>
        <p:nvSpPr>
          <p:cNvPr id="26" name="xm-6"/>
          <p:cNvSpPr txBox="1"/>
          <p:nvPr/>
        </p:nvSpPr>
        <p:spPr>
          <a:xfrm>
            <a:off x="3946370" y="51607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7月</a:t>
            </a:r>
          </a:p>
        </p:txBody>
      </p:sp>
      <p:sp>
        <p:nvSpPr>
          <p:cNvPr id="27" name="xm-9"/>
          <p:cNvSpPr txBox="1"/>
          <p:nvPr/>
        </p:nvSpPr>
        <p:spPr>
          <a:xfrm>
            <a:off x="5155587" y="5160708"/>
            <a:ext cx="2684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10月</a:t>
            </a:r>
          </a:p>
        </p:txBody>
      </p:sp>
      <p:sp>
        <p:nvSpPr>
          <p:cNvPr id="28" name="xm-12"/>
          <p:cNvSpPr txBox="1"/>
          <p:nvPr/>
        </p:nvSpPr>
        <p:spPr>
          <a:xfrm>
            <a:off x="6414588" y="51607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1月</a:t>
            </a:r>
          </a:p>
        </p:txBody>
      </p:sp>
      <p:sp>
        <p:nvSpPr>
          <p:cNvPr id="29" name="xm-15"/>
          <p:cNvSpPr txBox="1"/>
          <p:nvPr/>
        </p:nvSpPr>
        <p:spPr>
          <a:xfrm>
            <a:off x="7648696" y="51607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4月</a:t>
            </a:r>
          </a:p>
        </p:txBody>
      </p:sp>
      <p:sp>
        <p:nvSpPr>
          <p:cNvPr id="30" name="xm-18"/>
          <p:cNvSpPr txBox="1"/>
          <p:nvPr/>
        </p:nvSpPr>
        <p:spPr>
          <a:xfrm>
            <a:off x="8882805" y="5160708"/>
            <a:ext cx="2186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7月</a:t>
            </a:r>
          </a:p>
        </p:txBody>
      </p:sp>
      <p:sp>
        <p:nvSpPr>
          <p:cNvPr id="31" name="xm-21"/>
          <p:cNvSpPr txBox="1"/>
          <p:nvPr/>
        </p:nvSpPr>
        <p:spPr>
          <a:xfrm>
            <a:off x="10092022" y="5160708"/>
            <a:ext cx="2684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10月</a:t>
            </a:r>
          </a:p>
        </p:txBody>
      </p:sp>
      <p:sp>
        <p:nvSpPr>
          <p:cNvPr id="32" name="area"/>
          <p:cNvSpPr/>
          <p:nvPr/>
        </p:nvSpPr>
        <p:spPr>
          <a:xfrm>
            <a:off x="1587500" y="2262188"/>
            <a:ext cx="9461500" cy="2817812"/>
          </a:xfrm>
          <a:custGeom>
            <a:avLst/>
            <a:gdLst/>
            <a:ahLst/>
            <a:cxnLst/>
            <a:rect l="0" t="0" r="r" b="b"/>
            <a:pathLst>
              <a:path w="9461500" h="2817812">
                <a:moveTo>
                  <a:pt x="0" y="1984375"/>
                </a:moveTo>
                <a:cubicBezTo>
                  <a:pt x="48006" y="1977453"/>
                  <a:pt x="315405" y="1936433"/>
                  <a:pt x="411353" y="1924876"/>
                </a:cubicBezTo>
                <a:cubicBezTo>
                  <a:pt x="507365" y="1913255"/>
                  <a:pt x="726757" y="1901380"/>
                  <a:pt x="822770" y="1885124"/>
                </a:cubicBezTo>
                <a:cubicBezTo>
                  <a:pt x="918718" y="1868932"/>
                  <a:pt x="1138110" y="1804479"/>
                  <a:pt x="1234123" y="1785938"/>
                </a:cubicBezTo>
                <a:cubicBezTo>
                  <a:pt x="1330071" y="1767396"/>
                  <a:pt x="1549464" y="1737995"/>
                  <a:pt x="1645476" y="1726374"/>
                </a:cubicBezTo>
                <a:cubicBezTo>
                  <a:pt x="1741488" y="1714817"/>
                  <a:pt x="1960880" y="1698308"/>
                  <a:pt x="2056828" y="1686750"/>
                </a:cubicBezTo>
                <a:cubicBezTo>
                  <a:pt x="2152840" y="1675130"/>
                  <a:pt x="2372233" y="1629474"/>
                  <a:pt x="2468245" y="1627188"/>
                </a:cubicBezTo>
                <a:cubicBezTo>
                  <a:pt x="2564193" y="1624902"/>
                  <a:pt x="2783586" y="1669161"/>
                  <a:pt x="2879598" y="1666875"/>
                </a:cubicBezTo>
                <a:cubicBezTo>
                  <a:pt x="2975546" y="1664589"/>
                  <a:pt x="3194939" y="1625854"/>
                  <a:pt x="3290951" y="1607376"/>
                </a:cubicBezTo>
                <a:cubicBezTo>
                  <a:pt x="3386963" y="1588834"/>
                  <a:pt x="3606355" y="1533588"/>
                  <a:pt x="3702304" y="1508125"/>
                </a:cubicBezTo>
                <a:cubicBezTo>
                  <a:pt x="3798316" y="1482662"/>
                  <a:pt x="4017708" y="1421448"/>
                  <a:pt x="4113721" y="1389062"/>
                </a:cubicBezTo>
                <a:cubicBezTo>
                  <a:pt x="4209669" y="1356677"/>
                  <a:pt x="4429062" y="1239584"/>
                  <a:pt x="4525074" y="1230312"/>
                </a:cubicBezTo>
                <a:cubicBezTo>
                  <a:pt x="4621022" y="1221041"/>
                  <a:pt x="4840478" y="1307402"/>
                  <a:pt x="4936427" y="1309688"/>
                </a:cubicBezTo>
                <a:cubicBezTo>
                  <a:pt x="5032438" y="1311974"/>
                  <a:pt x="5251831" y="1268666"/>
                  <a:pt x="5347780" y="1250124"/>
                </a:cubicBezTo>
                <a:cubicBezTo>
                  <a:pt x="5443792" y="1231646"/>
                  <a:pt x="5663184" y="1130110"/>
                  <a:pt x="5759196" y="1150938"/>
                </a:cubicBezTo>
                <a:cubicBezTo>
                  <a:pt x="5855144" y="1171765"/>
                  <a:pt x="6074537" y="1405573"/>
                  <a:pt x="6170549" y="1428750"/>
                </a:cubicBezTo>
                <a:cubicBezTo>
                  <a:pt x="6266561" y="1451927"/>
                  <a:pt x="6485954" y="1377124"/>
                  <a:pt x="6581902" y="1349375"/>
                </a:cubicBezTo>
                <a:cubicBezTo>
                  <a:pt x="6677914" y="1321626"/>
                  <a:pt x="6897306" y="1241552"/>
                  <a:pt x="6993255" y="1190625"/>
                </a:cubicBezTo>
                <a:cubicBezTo>
                  <a:pt x="7089267" y="1139698"/>
                  <a:pt x="7308660" y="973011"/>
                  <a:pt x="7404671" y="912812"/>
                </a:cubicBezTo>
                <a:cubicBezTo>
                  <a:pt x="7500620" y="852614"/>
                  <a:pt x="7720012" y="718693"/>
                  <a:pt x="7816024" y="674688"/>
                </a:cubicBezTo>
                <a:cubicBezTo>
                  <a:pt x="7912036" y="630682"/>
                  <a:pt x="8131429" y="565849"/>
                  <a:pt x="8227378" y="535750"/>
                </a:cubicBezTo>
                <a:cubicBezTo>
                  <a:pt x="8323390" y="505714"/>
                  <a:pt x="8542782" y="451421"/>
                  <a:pt x="8638730" y="416750"/>
                </a:cubicBezTo>
                <a:cubicBezTo>
                  <a:pt x="8734742" y="382016"/>
                  <a:pt x="8954135" y="286766"/>
                  <a:pt x="9050147" y="238125"/>
                </a:cubicBezTo>
                <a:cubicBezTo>
                  <a:pt x="9146096" y="189484"/>
                  <a:pt x="9413494" y="27750"/>
                  <a:pt x="9461500" y="0"/>
                </a:cubicBezTo>
                <a:lnTo>
                  <a:pt x="9461500" y="2817812"/>
                </a:lnTo>
                <a:lnTo>
                  <a:pt x="0" y="2817812"/>
                </a:lnTo>
                <a:close/>
              </a:path>
            </a:pathLst>
          </a:custGeom>
          <a:gradFill rotWithShape="1">
            <a:gsLst>
              <a:gs pos="0">
                <a:srgbClr val="1B5AA8">
                  <a:alpha val="22000"/>
                </a:srgbClr>
              </a:gs>
              <a:gs pos="100000">
                <a:srgbClr val="1B5AA8">
                  <a:alpha val="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line"/>
          <p:cNvSpPr/>
          <p:nvPr/>
        </p:nvSpPr>
        <p:spPr>
          <a:xfrm>
            <a:off x="1587500" y="2262188"/>
            <a:ext cx="9461500" cy="1984375"/>
          </a:xfrm>
          <a:custGeom>
            <a:avLst/>
            <a:gdLst/>
            <a:ahLst/>
            <a:cxnLst/>
            <a:rect l="0" t="0" r="r" b="b"/>
            <a:pathLst>
              <a:path w="9461500" h="1984375">
                <a:moveTo>
                  <a:pt x="0" y="1984375"/>
                </a:moveTo>
                <a:cubicBezTo>
                  <a:pt x="48006" y="1977453"/>
                  <a:pt x="315405" y="1936433"/>
                  <a:pt x="411353" y="1924876"/>
                </a:cubicBezTo>
                <a:cubicBezTo>
                  <a:pt x="507365" y="1913255"/>
                  <a:pt x="726757" y="1901380"/>
                  <a:pt x="822770" y="1885124"/>
                </a:cubicBezTo>
                <a:cubicBezTo>
                  <a:pt x="918718" y="1868932"/>
                  <a:pt x="1138110" y="1804479"/>
                  <a:pt x="1234123" y="1785938"/>
                </a:cubicBezTo>
                <a:cubicBezTo>
                  <a:pt x="1330071" y="1767396"/>
                  <a:pt x="1549464" y="1737995"/>
                  <a:pt x="1645476" y="1726374"/>
                </a:cubicBezTo>
                <a:cubicBezTo>
                  <a:pt x="1741488" y="1714817"/>
                  <a:pt x="1960880" y="1698308"/>
                  <a:pt x="2056828" y="1686750"/>
                </a:cubicBezTo>
                <a:cubicBezTo>
                  <a:pt x="2152840" y="1675130"/>
                  <a:pt x="2372233" y="1629474"/>
                  <a:pt x="2468245" y="1627188"/>
                </a:cubicBezTo>
                <a:cubicBezTo>
                  <a:pt x="2564193" y="1624902"/>
                  <a:pt x="2783586" y="1669161"/>
                  <a:pt x="2879598" y="1666875"/>
                </a:cubicBezTo>
                <a:cubicBezTo>
                  <a:pt x="2975546" y="1664589"/>
                  <a:pt x="3194939" y="1625854"/>
                  <a:pt x="3290951" y="1607376"/>
                </a:cubicBezTo>
                <a:cubicBezTo>
                  <a:pt x="3386963" y="1588834"/>
                  <a:pt x="3606355" y="1533588"/>
                  <a:pt x="3702304" y="1508125"/>
                </a:cubicBezTo>
                <a:cubicBezTo>
                  <a:pt x="3798316" y="1482662"/>
                  <a:pt x="4017708" y="1421448"/>
                  <a:pt x="4113721" y="1389062"/>
                </a:cubicBezTo>
                <a:cubicBezTo>
                  <a:pt x="4209669" y="1356677"/>
                  <a:pt x="4429062" y="1239584"/>
                  <a:pt x="4525074" y="1230312"/>
                </a:cubicBezTo>
                <a:cubicBezTo>
                  <a:pt x="4621022" y="1221041"/>
                  <a:pt x="4840478" y="1307402"/>
                  <a:pt x="4936427" y="1309688"/>
                </a:cubicBezTo>
                <a:cubicBezTo>
                  <a:pt x="5032438" y="1311974"/>
                  <a:pt x="5251831" y="1268666"/>
                  <a:pt x="5347780" y="1250124"/>
                </a:cubicBezTo>
                <a:cubicBezTo>
                  <a:pt x="5443792" y="1231646"/>
                  <a:pt x="5663184" y="1130110"/>
                  <a:pt x="5759196" y="1150938"/>
                </a:cubicBezTo>
                <a:cubicBezTo>
                  <a:pt x="5855144" y="1171765"/>
                  <a:pt x="6074537" y="1405573"/>
                  <a:pt x="6170549" y="1428750"/>
                </a:cubicBezTo>
                <a:cubicBezTo>
                  <a:pt x="6266561" y="1451927"/>
                  <a:pt x="6485954" y="1377124"/>
                  <a:pt x="6581902" y="1349375"/>
                </a:cubicBezTo>
                <a:cubicBezTo>
                  <a:pt x="6677914" y="1321626"/>
                  <a:pt x="6897306" y="1241552"/>
                  <a:pt x="6993255" y="1190625"/>
                </a:cubicBezTo>
                <a:cubicBezTo>
                  <a:pt x="7089267" y="1139698"/>
                  <a:pt x="7308660" y="973011"/>
                  <a:pt x="7404671" y="912812"/>
                </a:cubicBezTo>
                <a:cubicBezTo>
                  <a:pt x="7500620" y="852614"/>
                  <a:pt x="7720012" y="718693"/>
                  <a:pt x="7816024" y="674688"/>
                </a:cubicBezTo>
                <a:cubicBezTo>
                  <a:pt x="7912036" y="630682"/>
                  <a:pt x="8131429" y="565849"/>
                  <a:pt x="8227378" y="535750"/>
                </a:cubicBezTo>
                <a:cubicBezTo>
                  <a:pt x="8323390" y="505714"/>
                  <a:pt x="8542782" y="451421"/>
                  <a:pt x="8638730" y="416750"/>
                </a:cubicBezTo>
                <a:cubicBezTo>
                  <a:pt x="8734742" y="382016"/>
                  <a:pt x="8954135" y="286766"/>
                  <a:pt x="9050147" y="238125"/>
                </a:cubicBezTo>
                <a:cubicBezTo>
                  <a:pt x="9146096" y="189484"/>
                  <a:pt x="9413494" y="27750"/>
                  <a:pt x="9461500" y="0"/>
                </a:cubicBezTo>
              </a:path>
            </a:pathLst>
          </a:custGeom>
          <a:noFill/>
          <a:ln w="254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end"/>
          <p:cNvSpPr/>
          <p:nvPr/>
        </p:nvSpPr>
        <p:spPr>
          <a:xfrm>
            <a:off x="10991850" y="2205038"/>
            <a:ext cx="114300" cy="114300"/>
          </a:xfrm>
          <a:prstGeom prst="ellipse">
            <a:avLst/>
          </a:prstGeom>
          <a:solidFill>
            <a:srgbClr val="0B3E8F"/>
          </a:solidFill>
          <a:ln w="1905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end-t"/>
          <p:cNvSpPr txBox="1"/>
          <p:nvPr/>
        </p:nvSpPr>
        <p:spPr>
          <a:xfrm>
            <a:off x="10449560" y="1991042"/>
            <a:ext cx="525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142 万</a:t>
            </a:r>
          </a:p>
        </p:txBody>
      </p:sp>
      <p:cxnSp>
        <p:nvCxnSpPr>
          <p:cNvPr id="36" name="el-1"/>
          <p:cNvCxnSpPr/>
          <p:nvPr/>
        </p:nvCxnSpPr>
        <p:spPr>
          <a:xfrm flipV="1">
            <a:off x="2821609" y="3667125"/>
            <a:ext cx="0" cy="304800"/>
          </a:xfrm>
          <a:prstGeom prst="line">
            <a:avLst/>
          </a:prstGeom>
          <a:ln w="10160" cap="rnd">
            <a:solidFill>
              <a:srgbClr val="134C9C">
                <a:alpha val="6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ep-1"/>
          <p:cNvSpPr/>
          <p:nvPr/>
        </p:nvSpPr>
        <p:spPr>
          <a:xfrm>
            <a:off x="2758109" y="3984625"/>
            <a:ext cx="127000" cy="1270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ec-1"/>
          <p:cNvSpPr/>
          <p:nvPr/>
        </p:nvSpPr>
        <p:spPr>
          <a:xfrm>
            <a:off x="2186622" y="3222625"/>
            <a:ext cx="1270000" cy="444500"/>
          </a:xfrm>
          <a:custGeom>
            <a:avLst/>
            <a:gdLst/>
            <a:ahLst/>
            <a:cxnLst/>
            <a:rect l="0" t="0" r="r" b="b"/>
            <a:pathLst>
              <a:path w="1270000" h="444500">
                <a:moveTo>
                  <a:pt x="88900" y="0"/>
                </a:moveTo>
                <a:lnTo>
                  <a:pt x="1181100" y="0"/>
                </a:lnTo>
                <a:cubicBezTo>
                  <a:pt x="1230186" y="0"/>
                  <a:pt x="1270000" y="39814"/>
                  <a:pt x="1270000" y="88900"/>
                </a:cubicBezTo>
                <a:lnTo>
                  <a:pt x="1270000" y="355600"/>
                </a:lnTo>
                <a:cubicBezTo>
                  <a:pt x="1270000" y="404686"/>
                  <a:pt x="1230186" y="444500"/>
                  <a:pt x="1181100" y="444500"/>
                </a:cubicBezTo>
                <a:lnTo>
                  <a:pt x="88900" y="444500"/>
                </a:lnTo>
                <a:cubicBezTo>
                  <a:pt x="39814" y="444500"/>
                  <a:pt x="0" y="404686"/>
                  <a:pt x="0" y="3556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ecb-1"/>
          <p:cNvSpPr/>
          <p:nvPr/>
        </p:nvSpPr>
        <p:spPr>
          <a:xfrm>
            <a:off x="2186622" y="3222625"/>
            <a:ext cx="38100" cy="444500"/>
          </a:xfrm>
          <a:custGeom>
            <a:avLst/>
            <a:gdLst/>
            <a:ahLst/>
            <a:cxnLst/>
            <a:rect l="0" t="0" r="r" b="b"/>
            <a:pathLst>
              <a:path w="38100" h="444500">
                <a:moveTo>
                  <a:pt x="19050" y="0"/>
                </a:moveTo>
                <a:lnTo>
                  <a:pt x="19050" y="0"/>
                </a:lnTo>
                <a:cubicBezTo>
                  <a:pt x="29527" y="0"/>
                  <a:pt x="38100" y="8509"/>
                  <a:pt x="38100" y="19050"/>
                </a:cubicBezTo>
                <a:lnTo>
                  <a:pt x="38100" y="425450"/>
                </a:lnTo>
                <a:cubicBezTo>
                  <a:pt x="38100" y="435991"/>
                  <a:pt x="29527" y="444500"/>
                  <a:pt x="19050" y="444500"/>
                </a:cubicBezTo>
                <a:lnTo>
                  <a:pt x="19050" y="444500"/>
                </a:lnTo>
                <a:cubicBezTo>
                  <a:pt x="8509" y="444500"/>
                  <a:pt x="0" y="435991"/>
                  <a:pt x="0" y="4254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et-1"/>
          <p:cNvSpPr txBox="1"/>
          <p:nvPr/>
        </p:nvSpPr>
        <p:spPr>
          <a:xfrm>
            <a:off x="2313355" y="3279807"/>
            <a:ext cx="82842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App 2.0 上线</a:t>
            </a:r>
          </a:p>
        </p:txBody>
      </p:sp>
      <p:sp>
        <p:nvSpPr>
          <p:cNvPr id="41" name="ed-1"/>
          <p:cNvSpPr txBox="1"/>
          <p:nvPr/>
        </p:nvSpPr>
        <p:spPr>
          <a:xfrm>
            <a:off x="2315641" y="3468434"/>
            <a:ext cx="6248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新手引导重做</a:t>
            </a:r>
          </a:p>
        </p:txBody>
      </p:sp>
      <p:cxnSp>
        <p:nvCxnSpPr>
          <p:cNvPr id="42" name="el-2"/>
          <p:cNvCxnSpPr/>
          <p:nvPr/>
        </p:nvCxnSpPr>
        <p:spPr>
          <a:xfrm flipV="1">
            <a:off x="5701196" y="3270250"/>
            <a:ext cx="0" cy="304800"/>
          </a:xfrm>
          <a:prstGeom prst="line">
            <a:avLst/>
          </a:prstGeom>
          <a:ln w="10160" cap="rnd">
            <a:solidFill>
              <a:srgbClr val="134C9C">
                <a:alpha val="6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ep-2"/>
          <p:cNvSpPr/>
          <p:nvPr/>
        </p:nvSpPr>
        <p:spPr>
          <a:xfrm>
            <a:off x="5637696" y="3587750"/>
            <a:ext cx="127000" cy="1270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ec-2"/>
          <p:cNvSpPr/>
          <p:nvPr/>
        </p:nvSpPr>
        <p:spPr>
          <a:xfrm>
            <a:off x="5066220" y="2825750"/>
            <a:ext cx="1270000" cy="444500"/>
          </a:xfrm>
          <a:custGeom>
            <a:avLst/>
            <a:gdLst/>
            <a:ahLst/>
            <a:cxnLst/>
            <a:rect l="0" t="0" r="r" b="b"/>
            <a:pathLst>
              <a:path w="1270000" h="444500">
                <a:moveTo>
                  <a:pt x="88900" y="0"/>
                </a:moveTo>
                <a:lnTo>
                  <a:pt x="1181100" y="0"/>
                </a:lnTo>
                <a:cubicBezTo>
                  <a:pt x="1230185" y="0"/>
                  <a:pt x="1270000" y="39814"/>
                  <a:pt x="1270000" y="88900"/>
                </a:cubicBezTo>
                <a:lnTo>
                  <a:pt x="1270000" y="355600"/>
                </a:lnTo>
                <a:cubicBezTo>
                  <a:pt x="1270000" y="404686"/>
                  <a:pt x="1230185" y="444500"/>
                  <a:pt x="1181100" y="444500"/>
                </a:cubicBezTo>
                <a:lnTo>
                  <a:pt x="88900" y="444500"/>
                </a:lnTo>
                <a:cubicBezTo>
                  <a:pt x="39751" y="444500"/>
                  <a:pt x="0" y="404686"/>
                  <a:pt x="0" y="355600"/>
                </a:cubicBezTo>
                <a:lnTo>
                  <a:pt x="0" y="88900"/>
                </a:lnTo>
                <a:cubicBezTo>
                  <a:pt x="0" y="39814"/>
                  <a:pt x="39751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ecb-2"/>
          <p:cNvSpPr/>
          <p:nvPr/>
        </p:nvSpPr>
        <p:spPr>
          <a:xfrm>
            <a:off x="5066220" y="2825750"/>
            <a:ext cx="38100" cy="444500"/>
          </a:xfrm>
          <a:custGeom>
            <a:avLst/>
            <a:gdLst/>
            <a:ahLst/>
            <a:cxnLst/>
            <a:rect l="0" t="0" r="r" b="b"/>
            <a:pathLst>
              <a:path w="38100" h="444500">
                <a:moveTo>
                  <a:pt x="19050" y="0"/>
                </a:moveTo>
                <a:lnTo>
                  <a:pt x="19050" y="0"/>
                </a:lnTo>
                <a:cubicBezTo>
                  <a:pt x="29527" y="0"/>
                  <a:pt x="38100" y="8509"/>
                  <a:pt x="38100" y="19050"/>
                </a:cubicBezTo>
                <a:lnTo>
                  <a:pt x="38100" y="425450"/>
                </a:lnTo>
                <a:cubicBezTo>
                  <a:pt x="38100" y="435991"/>
                  <a:pt x="29527" y="444500"/>
                  <a:pt x="19050" y="444500"/>
                </a:cubicBezTo>
                <a:lnTo>
                  <a:pt x="19050" y="444500"/>
                </a:lnTo>
                <a:cubicBezTo>
                  <a:pt x="8509" y="444500"/>
                  <a:pt x="0" y="435991"/>
                  <a:pt x="0" y="4254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et-2"/>
          <p:cNvSpPr txBox="1"/>
          <p:nvPr/>
        </p:nvSpPr>
        <p:spPr>
          <a:xfrm>
            <a:off x="5192942" y="2882932"/>
            <a:ext cx="685038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双 11 活动</a:t>
            </a:r>
          </a:p>
        </p:txBody>
      </p:sp>
      <p:sp>
        <p:nvSpPr>
          <p:cNvPr id="47" name="ed-2"/>
          <p:cNvSpPr txBox="1"/>
          <p:nvPr/>
        </p:nvSpPr>
        <p:spPr>
          <a:xfrm>
            <a:off x="5195228" y="3071558"/>
            <a:ext cx="559181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单月 +6 万</a:t>
            </a:r>
          </a:p>
        </p:txBody>
      </p:sp>
      <p:cxnSp>
        <p:nvCxnSpPr>
          <p:cNvPr id="48" name="el-3"/>
          <p:cNvCxnSpPr/>
          <p:nvPr/>
        </p:nvCxnSpPr>
        <p:spPr>
          <a:xfrm>
            <a:off x="7758043" y="3767138"/>
            <a:ext cx="0" cy="495300"/>
          </a:xfrm>
          <a:prstGeom prst="line">
            <a:avLst/>
          </a:prstGeom>
          <a:ln w="10160" cap="rnd">
            <a:solidFill>
              <a:srgbClr val="E0703A">
                <a:alpha val="6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ep-3"/>
          <p:cNvSpPr/>
          <p:nvPr/>
        </p:nvSpPr>
        <p:spPr>
          <a:xfrm>
            <a:off x="7694543" y="3627438"/>
            <a:ext cx="127000" cy="1270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ec-3"/>
          <p:cNvSpPr/>
          <p:nvPr/>
        </p:nvSpPr>
        <p:spPr>
          <a:xfrm>
            <a:off x="7123049" y="4262438"/>
            <a:ext cx="1270000" cy="444500"/>
          </a:xfrm>
          <a:custGeom>
            <a:avLst/>
            <a:gdLst/>
            <a:ahLst/>
            <a:cxnLst/>
            <a:rect l="0" t="0" r="r" b="b"/>
            <a:pathLst>
              <a:path w="1270000" h="444500">
                <a:moveTo>
                  <a:pt x="88900" y="0"/>
                </a:moveTo>
                <a:lnTo>
                  <a:pt x="1181100" y="0"/>
                </a:lnTo>
                <a:cubicBezTo>
                  <a:pt x="1230186" y="0"/>
                  <a:pt x="1270000" y="39814"/>
                  <a:pt x="1270000" y="88900"/>
                </a:cubicBezTo>
                <a:lnTo>
                  <a:pt x="1270000" y="355600"/>
                </a:lnTo>
                <a:cubicBezTo>
                  <a:pt x="1270000" y="404686"/>
                  <a:pt x="1230186" y="444500"/>
                  <a:pt x="1181100" y="444500"/>
                </a:cubicBezTo>
                <a:lnTo>
                  <a:pt x="88900" y="444500"/>
                </a:lnTo>
                <a:cubicBezTo>
                  <a:pt x="39814" y="444500"/>
                  <a:pt x="0" y="404686"/>
                  <a:pt x="0" y="3556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ecb-3"/>
          <p:cNvSpPr/>
          <p:nvPr/>
        </p:nvSpPr>
        <p:spPr>
          <a:xfrm>
            <a:off x="7123049" y="4262438"/>
            <a:ext cx="38100" cy="444500"/>
          </a:xfrm>
          <a:custGeom>
            <a:avLst/>
            <a:gdLst/>
            <a:ahLst/>
            <a:cxnLst/>
            <a:rect l="0" t="0" r="r" b="b"/>
            <a:pathLst>
              <a:path w="38100" h="4445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425450"/>
                </a:lnTo>
                <a:cubicBezTo>
                  <a:pt x="38100" y="435991"/>
                  <a:pt x="29591" y="444500"/>
                  <a:pt x="19050" y="444500"/>
                </a:cubicBezTo>
                <a:lnTo>
                  <a:pt x="19050" y="444500"/>
                </a:lnTo>
                <a:cubicBezTo>
                  <a:pt x="8509" y="444500"/>
                  <a:pt x="0" y="435991"/>
                  <a:pt x="0" y="4254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et-3"/>
          <p:cNvSpPr txBox="1"/>
          <p:nvPr/>
        </p:nvSpPr>
        <p:spPr>
          <a:xfrm>
            <a:off x="7249789" y="4319619"/>
            <a:ext cx="5416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竞品降价</a:t>
            </a:r>
          </a:p>
        </p:txBody>
      </p:sp>
      <p:sp>
        <p:nvSpPr>
          <p:cNvPr id="53" name="ed-3"/>
          <p:cNvSpPr txBox="1"/>
          <p:nvPr/>
        </p:nvSpPr>
        <p:spPr>
          <a:xfrm>
            <a:off x="7252075" y="4508246"/>
            <a:ext cx="740791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月活回落 14 万</a:t>
            </a:r>
          </a:p>
        </p:txBody>
      </p:sp>
      <p:cxnSp>
        <p:nvCxnSpPr>
          <p:cNvPr id="54" name="el-4"/>
          <p:cNvCxnSpPr/>
          <p:nvPr/>
        </p:nvCxnSpPr>
        <p:spPr>
          <a:xfrm flipV="1">
            <a:off x="8992152" y="2794000"/>
            <a:ext cx="0" cy="304800"/>
          </a:xfrm>
          <a:prstGeom prst="line">
            <a:avLst/>
          </a:prstGeom>
          <a:ln w="10160" cap="rnd">
            <a:solidFill>
              <a:srgbClr val="134C9C">
                <a:alpha val="6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ep-4"/>
          <p:cNvSpPr/>
          <p:nvPr/>
        </p:nvSpPr>
        <p:spPr>
          <a:xfrm>
            <a:off x="8928652" y="3111500"/>
            <a:ext cx="127000" cy="1270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ec-4"/>
          <p:cNvSpPr/>
          <p:nvPr/>
        </p:nvSpPr>
        <p:spPr>
          <a:xfrm>
            <a:off x="8357171" y="2349500"/>
            <a:ext cx="1270000" cy="444500"/>
          </a:xfrm>
          <a:custGeom>
            <a:avLst/>
            <a:gdLst/>
            <a:ahLst/>
            <a:cxnLst/>
            <a:rect l="0" t="0" r="r" b="b"/>
            <a:pathLst>
              <a:path w="1270000" h="444500">
                <a:moveTo>
                  <a:pt x="88900" y="0"/>
                </a:moveTo>
                <a:lnTo>
                  <a:pt x="1181100" y="0"/>
                </a:lnTo>
                <a:cubicBezTo>
                  <a:pt x="1230186" y="0"/>
                  <a:pt x="1270000" y="39814"/>
                  <a:pt x="1270000" y="88900"/>
                </a:cubicBezTo>
                <a:lnTo>
                  <a:pt x="1270000" y="355600"/>
                </a:lnTo>
                <a:cubicBezTo>
                  <a:pt x="1270000" y="404686"/>
                  <a:pt x="1230186" y="444500"/>
                  <a:pt x="1181100" y="444500"/>
                </a:cubicBezTo>
                <a:lnTo>
                  <a:pt x="88900" y="444500"/>
                </a:lnTo>
                <a:cubicBezTo>
                  <a:pt x="39751" y="444500"/>
                  <a:pt x="0" y="404686"/>
                  <a:pt x="0" y="355600"/>
                </a:cubicBezTo>
                <a:lnTo>
                  <a:pt x="0" y="88900"/>
                </a:lnTo>
                <a:cubicBezTo>
                  <a:pt x="0" y="39814"/>
                  <a:pt x="39751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ecb-4"/>
          <p:cNvSpPr/>
          <p:nvPr/>
        </p:nvSpPr>
        <p:spPr>
          <a:xfrm>
            <a:off x="8357171" y="2349500"/>
            <a:ext cx="38100" cy="444500"/>
          </a:xfrm>
          <a:custGeom>
            <a:avLst/>
            <a:gdLst/>
            <a:ahLst/>
            <a:cxnLst/>
            <a:rect l="0" t="0" r="r" b="b"/>
            <a:pathLst>
              <a:path w="38100" h="444500">
                <a:moveTo>
                  <a:pt x="19050" y="0"/>
                </a:moveTo>
                <a:lnTo>
                  <a:pt x="19050" y="0"/>
                </a:lnTo>
                <a:cubicBezTo>
                  <a:pt x="29528" y="0"/>
                  <a:pt x="38100" y="8509"/>
                  <a:pt x="38100" y="19050"/>
                </a:cubicBezTo>
                <a:lnTo>
                  <a:pt x="38100" y="425450"/>
                </a:lnTo>
                <a:cubicBezTo>
                  <a:pt x="38100" y="435991"/>
                  <a:pt x="29528" y="444500"/>
                  <a:pt x="19050" y="444500"/>
                </a:cubicBezTo>
                <a:lnTo>
                  <a:pt x="19050" y="444500"/>
                </a:lnTo>
                <a:cubicBezTo>
                  <a:pt x="8509" y="444500"/>
                  <a:pt x="0" y="435991"/>
                  <a:pt x="0" y="4254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et-4"/>
          <p:cNvSpPr txBox="1"/>
          <p:nvPr/>
        </p:nvSpPr>
        <p:spPr>
          <a:xfrm>
            <a:off x="8483898" y="2406682"/>
            <a:ext cx="732536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AI 功能上线</a:t>
            </a:r>
          </a:p>
        </p:txBody>
      </p:sp>
      <p:sp>
        <p:nvSpPr>
          <p:cNvPr id="59" name="ed-4"/>
          <p:cNvSpPr txBox="1"/>
          <p:nvPr/>
        </p:nvSpPr>
        <p:spPr>
          <a:xfrm>
            <a:off x="8486184" y="2595308"/>
            <a:ext cx="70167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三个月 +33 万</a:t>
            </a:r>
          </a:p>
        </p:txBody>
      </p:sp>
      <p:cxnSp>
        <p:nvCxnSpPr>
          <p:cNvPr id="60" name="el-5"/>
          <p:cNvCxnSpPr/>
          <p:nvPr/>
        </p:nvCxnSpPr>
        <p:spPr>
          <a:xfrm>
            <a:off x="10637630" y="2576512"/>
            <a:ext cx="0" cy="495300"/>
          </a:xfrm>
          <a:prstGeom prst="line">
            <a:avLst/>
          </a:prstGeom>
          <a:ln w="10160" cap="rnd">
            <a:solidFill>
              <a:srgbClr val="134C9C">
                <a:alpha val="6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ep-5"/>
          <p:cNvSpPr/>
          <p:nvPr/>
        </p:nvSpPr>
        <p:spPr>
          <a:xfrm>
            <a:off x="10574130" y="2436812"/>
            <a:ext cx="127000" cy="1270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ec-5"/>
          <p:cNvSpPr/>
          <p:nvPr/>
        </p:nvSpPr>
        <p:spPr>
          <a:xfrm>
            <a:off x="9779000" y="3071812"/>
            <a:ext cx="1270000" cy="444500"/>
          </a:xfrm>
          <a:custGeom>
            <a:avLst/>
            <a:gdLst/>
            <a:ahLst/>
            <a:cxnLst/>
            <a:rect l="0" t="0" r="r" b="b"/>
            <a:pathLst>
              <a:path w="1270000" h="444500">
                <a:moveTo>
                  <a:pt x="88900" y="0"/>
                </a:moveTo>
                <a:lnTo>
                  <a:pt x="1181100" y="0"/>
                </a:lnTo>
                <a:cubicBezTo>
                  <a:pt x="1230186" y="0"/>
                  <a:pt x="1270000" y="39814"/>
                  <a:pt x="1270000" y="88900"/>
                </a:cubicBezTo>
                <a:lnTo>
                  <a:pt x="1270000" y="355600"/>
                </a:lnTo>
                <a:cubicBezTo>
                  <a:pt x="1270000" y="404686"/>
                  <a:pt x="1230186" y="444500"/>
                  <a:pt x="1181100" y="444500"/>
                </a:cubicBezTo>
                <a:lnTo>
                  <a:pt x="88900" y="444500"/>
                </a:lnTo>
                <a:cubicBezTo>
                  <a:pt x="39814" y="444500"/>
                  <a:pt x="0" y="404686"/>
                  <a:pt x="0" y="3556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ecb-5"/>
          <p:cNvSpPr/>
          <p:nvPr/>
        </p:nvSpPr>
        <p:spPr>
          <a:xfrm>
            <a:off x="9779000" y="3071812"/>
            <a:ext cx="38100" cy="444500"/>
          </a:xfrm>
          <a:custGeom>
            <a:avLst/>
            <a:gdLst/>
            <a:ahLst/>
            <a:cxnLst/>
            <a:rect l="0" t="0" r="r" b="b"/>
            <a:pathLst>
              <a:path w="38100" h="4445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425450"/>
                </a:lnTo>
                <a:cubicBezTo>
                  <a:pt x="38100" y="435991"/>
                  <a:pt x="29591" y="444500"/>
                  <a:pt x="19050" y="444500"/>
                </a:cubicBezTo>
                <a:lnTo>
                  <a:pt x="19050" y="444500"/>
                </a:lnTo>
                <a:cubicBezTo>
                  <a:pt x="8509" y="444500"/>
                  <a:pt x="0" y="435991"/>
                  <a:pt x="0" y="4254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et-5"/>
          <p:cNvSpPr txBox="1"/>
          <p:nvPr/>
        </p:nvSpPr>
        <p:spPr>
          <a:xfrm>
            <a:off x="9905746" y="3128994"/>
            <a:ext cx="652780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进入东南亚</a:t>
            </a:r>
          </a:p>
        </p:txBody>
      </p:sp>
      <p:sp>
        <p:nvSpPr>
          <p:cNvPr id="65" name="ed-5"/>
          <p:cNvSpPr txBox="1"/>
          <p:nvPr/>
        </p:nvSpPr>
        <p:spPr>
          <a:xfrm>
            <a:off x="9908032" y="3317621"/>
            <a:ext cx="64998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海外贡献 12%</a:t>
            </a:r>
          </a:p>
        </p:txBody>
      </p:sp>
      <p:sp>
        <p:nvSpPr>
          <p:cNvPr id="66" name="sum"/>
          <p:cNvSpPr/>
          <p:nvPr/>
        </p:nvSpPr>
        <p:spPr>
          <a:xfrm>
            <a:off x="952500" y="5791200"/>
            <a:ext cx="10287000" cy="457200"/>
          </a:xfrm>
          <a:custGeom>
            <a:avLst/>
            <a:gdLst/>
            <a:ahLst/>
            <a:cxnLst/>
            <a:rect l="0" t="0" r="r" b="b"/>
            <a:pathLst>
              <a:path w="10287000" h="4572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68300"/>
                </a:lnTo>
                <a:cubicBezTo>
                  <a:pt x="10287000" y="417386"/>
                  <a:pt x="10247186" y="457200"/>
                  <a:pt x="10198100" y="457200"/>
                </a:cubicBezTo>
                <a:lnTo>
                  <a:pt x="88900" y="457200"/>
                </a:lnTo>
                <a:cubicBezTo>
                  <a:pt x="39815" y="457200"/>
                  <a:pt x="0" y="417386"/>
                  <a:pt x="0" y="3683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sum-bar"/>
          <p:cNvSpPr/>
          <p:nvPr/>
        </p:nvSpPr>
        <p:spPr>
          <a:xfrm>
            <a:off x="952500" y="5791200"/>
            <a:ext cx="31750" cy="4572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sum-h"/>
          <p:cNvSpPr txBox="1"/>
          <p:nvPr/>
        </p:nvSpPr>
        <p:spPr>
          <a:xfrm>
            <a:off x="1142746" y="59499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增长归因</a:t>
            </a:r>
          </a:p>
        </p:txBody>
      </p:sp>
      <p:sp>
        <p:nvSpPr>
          <p:cNvPr id="69" name="sum-p"/>
          <p:cNvSpPr txBox="1"/>
          <p:nvPr/>
        </p:nvSpPr>
        <p:spPr>
          <a:xfrm>
            <a:off x="1891665" y="5946061"/>
            <a:ext cx="514762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两年月活从 42 万增长到 142 万（3.4 倍）；产品功能带来的增长持续，活动带来的增长会回落。</a:t>
            </a:r>
          </a:p>
        </p:txBody>
      </p:sp>
      <p:cxnSp>
        <p:nvCxnSpPr>
          <p:cNvPr id="70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foot-l"/>
          <p:cNvSpPr txBox="1"/>
          <p:nvPr/>
        </p:nvSpPr>
        <p:spPr>
          <a:xfrm>
            <a:off x="573532" y="6532308"/>
            <a:ext cx="122326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事件标注折线 · 24 个月</a:t>
            </a:r>
          </a:p>
        </p:txBody>
      </p:sp>
      <p:sp>
        <p:nvSpPr>
          <p:cNvPr id="72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季度营收与毛利率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44589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DUAL-AXIS COMBO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6654673" y="673132"/>
            <a:ext cx="496608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柱子看规模、折线看质量——2026 每个季度营收同比都在增长，毛利率自 26Q1 起回到目标区间</a:t>
            </a:r>
          </a:p>
        </p:txBody>
      </p:sp>
      <p:sp>
        <p:nvSpPr>
          <p:cNvPr id="10" name="tgt"/>
          <p:cNvSpPr/>
          <p:nvPr/>
        </p:nvSpPr>
        <p:spPr>
          <a:xfrm>
            <a:off x="1651000" y="2044700"/>
            <a:ext cx="6604000" cy="660400"/>
          </a:xfrm>
          <a:prstGeom prst="rect">
            <a:avLst/>
          </a:prstGeom>
          <a:solidFill>
            <a:srgbClr val="E0703A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tgt-t"/>
          <p:cNvSpPr txBox="1"/>
          <p:nvPr/>
        </p:nvSpPr>
        <p:spPr>
          <a:xfrm>
            <a:off x="1716151" y="1867487"/>
            <a:ext cx="118751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2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毛利率目标区间 36%–40%</a:t>
            </a:r>
          </a:p>
        </p:txBody>
      </p:sp>
      <p:cxnSp>
        <p:nvCxnSpPr>
          <p:cNvPr id="12" name="g-0"/>
          <p:cNvCxnSpPr/>
          <p:nvPr/>
        </p:nvCxnSpPr>
        <p:spPr>
          <a:xfrm>
            <a:off x="1549400" y="5016500"/>
            <a:ext cx="6807200" cy="0"/>
          </a:xfrm>
          <a:prstGeom prst="line">
            <a:avLst/>
          </a:prstGeom>
          <a:ln w="6350" cap="rnd">
            <a:solidFill>
              <a:srgbClr val="0B2545">
                <a:alpha val="1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gl-0"/>
          <p:cNvSpPr txBox="1"/>
          <p:nvPr/>
        </p:nvSpPr>
        <p:spPr>
          <a:xfrm>
            <a:off x="1349756" y="49291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1B5AA8"/>
                </a:solidFill>
                <a:latin typeface="Arial"/>
                <a:ea typeface="Arial"/>
                <a:cs typeface="Arial"/>
              </a:rPr>
              <a:t>0</a:t>
            </a:r>
          </a:p>
        </p:txBody>
      </p:sp>
      <p:sp>
        <p:nvSpPr>
          <p:cNvPr id="14" name="gr-0"/>
          <p:cNvSpPr txBox="1"/>
          <p:nvPr/>
        </p:nvSpPr>
        <p:spPr>
          <a:xfrm>
            <a:off x="8420608" y="49291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E0703A"/>
                </a:solidFill>
                <a:latin typeface="Arial"/>
                <a:ea typeface="Arial"/>
                <a:cs typeface="Arial"/>
              </a:rPr>
              <a:t>22%</a:t>
            </a:r>
          </a:p>
        </p:txBody>
      </p:sp>
      <p:cxnSp>
        <p:nvCxnSpPr>
          <p:cNvPr id="15" name="g-1"/>
          <p:cNvCxnSpPr/>
          <p:nvPr/>
        </p:nvCxnSpPr>
        <p:spPr>
          <a:xfrm>
            <a:off x="1549400" y="4356100"/>
            <a:ext cx="68072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gl-1"/>
          <p:cNvSpPr txBox="1"/>
          <p:nvPr/>
        </p:nvSpPr>
        <p:spPr>
          <a:xfrm>
            <a:off x="1235964" y="42687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1B5AA8"/>
                </a:solidFill>
                <a:latin typeface="Arial"/>
                <a:ea typeface="Arial"/>
                <a:cs typeface="Arial"/>
              </a:rPr>
              <a:t>1.5</a:t>
            </a:r>
          </a:p>
        </p:txBody>
      </p:sp>
      <p:sp>
        <p:nvSpPr>
          <p:cNvPr id="17" name="gr-1"/>
          <p:cNvSpPr txBox="1"/>
          <p:nvPr/>
        </p:nvSpPr>
        <p:spPr>
          <a:xfrm>
            <a:off x="8420608" y="42687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E0703A"/>
                </a:solidFill>
                <a:latin typeface="Arial"/>
                <a:ea typeface="Arial"/>
                <a:cs typeface="Arial"/>
              </a:rPr>
              <a:t>26%</a:t>
            </a:r>
          </a:p>
        </p:txBody>
      </p:sp>
      <p:cxnSp>
        <p:nvCxnSpPr>
          <p:cNvPr id="18" name="g-2"/>
          <p:cNvCxnSpPr/>
          <p:nvPr/>
        </p:nvCxnSpPr>
        <p:spPr>
          <a:xfrm>
            <a:off x="1549400" y="3695700"/>
            <a:ext cx="68072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gl-2"/>
          <p:cNvSpPr txBox="1"/>
          <p:nvPr/>
        </p:nvSpPr>
        <p:spPr>
          <a:xfrm>
            <a:off x="1349756" y="36083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1B5AA8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20" name="gr-2"/>
          <p:cNvSpPr txBox="1"/>
          <p:nvPr/>
        </p:nvSpPr>
        <p:spPr>
          <a:xfrm>
            <a:off x="8420608" y="36083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E0703A"/>
                </a:solidFill>
                <a:latin typeface="Arial"/>
                <a:ea typeface="Arial"/>
                <a:cs typeface="Arial"/>
              </a:rPr>
              <a:t>30%</a:t>
            </a:r>
          </a:p>
        </p:txBody>
      </p:sp>
      <p:cxnSp>
        <p:nvCxnSpPr>
          <p:cNvPr id="21" name="g-3"/>
          <p:cNvCxnSpPr/>
          <p:nvPr/>
        </p:nvCxnSpPr>
        <p:spPr>
          <a:xfrm>
            <a:off x="1549400" y="3035300"/>
            <a:ext cx="68072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gl-3"/>
          <p:cNvSpPr txBox="1"/>
          <p:nvPr/>
        </p:nvSpPr>
        <p:spPr>
          <a:xfrm>
            <a:off x="1235964" y="29479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1B5AA8"/>
                </a:solidFill>
                <a:latin typeface="Arial"/>
                <a:ea typeface="Arial"/>
                <a:cs typeface="Arial"/>
              </a:rPr>
              <a:t>4.5</a:t>
            </a:r>
          </a:p>
        </p:txBody>
      </p:sp>
      <p:sp>
        <p:nvSpPr>
          <p:cNvPr id="23" name="gr-3"/>
          <p:cNvSpPr txBox="1"/>
          <p:nvPr/>
        </p:nvSpPr>
        <p:spPr>
          <a:xfrm>
            <a:off x="8420608" y="29479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E0703A"/>
                </a:solidFill>
                <a:latin typeface="Arial"/>
                <a:ea typeface="Arial"/>
                <a:cs typeface="Arial"/>
              </a:rPr>
              <a:t>34%</a:t>
            </a:r>
          </a:p>
        </p:txBody>
      </p:sp>
      <p:cxnSp>
        <p:nvCxnSpPr>
          <p:cNvPr id="24" name="g-4"/>
          <p:cNvCxnSpPr/>
          <p:nvPr/>
        </p:nvCxnSpPr>
        <p:spPr>
          <a:xfrm>
            <a:off x="1549400" y="2374900"/>
            <a:ext cx="68072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gl-4"/>
          <p:cNvSpPr txBox="1"/>
          <p:nvPr/>
        </p:nvSpPr>
        <p:spPr>
          <a:xfrm>
            <a:off x="1349756" y="22875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1B5AA8"/>
                </a:solidFill>
                <a:latin typeface="Arial"/>
                <a:ea typeface="Arial"/>
                <a:cs typeface="Arial"/>
              </a:rPr>
              <a:t>6</a:t>
            </a:r>
          </a:p>
        </p:txBody>
      </p:sp>
      <p:sp>
        <p:nvSpPr>
          <p:cNvPr id="26" name="gr-4"/>
          <p:cNvSpPr txBox="1"/>
          <p:nvPr/>
        </p:nvSpPr>
        <p:spPr>
          <a:xfrm>
            <a:off x="8420608" y="22875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E0703A"/>
                </a:solidFill>
                <a:latin typeface="Arial"/>
                <a:ea typeface="Arial"/>
                <a:cs typeface="Arial"/>
              </a:rPr>
              <a:t>38%</a:t>
            </a:r>
          </a:p>
        </p:txBody>
      </p:sp>
      <p:cxnSp>
        <p:nvCxnSpPr>
          <p:cNvPr id="27" name="g-5"/>
          <p:cNvCxnSpPr/>
          <p:nvPr/>
        </p:nvCxnSpPr>
        <p:spPr>
          <a:xfrm>
            <a:off x="1549400" y="1714500"/>
            <a:ext cx="68072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gl-5"/>
          <p:cNvSpPr txBox="1"/>
          <p:nvPr/>
        </p:nvSpPr>
        <p:spPr>
          <a:xfrm>
            <a:off x="1235964" y="16271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1B5AA8"/>
                </a:solidFill>
                <a:latin typeface="Arial"/>
                <a:ea typeface="Arial"/>
                <a:cs typeface="Arial"/>
              </a:rPr>
              <a:t>7.5</a:t>
            </a:r>
          </a:p>
        </p:txBody>
      </p:sp>
      <p:sp>
        <p:nvSpPr>
          <p:cNvPr id="29" name="gr-5"/>
          <p:cNvSpPr txBox="1"/>
          <p:nvPr/>
        </p:nvSpPr>
        <p:spPr>
          <a:xfrm>
            <a:off x="8420608" y="16271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E0703A"/>
                </a:solidFill>
                <a:latin typeface="Arial"/>
                <a:ea typeface="Arial"/>
                <a:cs typeface="Arial"/>
              </a:rPr>
              <a:t>42%</a:t>
            </a:r>
          </a:p>
        </p:txBody>
      </p:sp>
      <p:sp>
        <p:nvSpPr>
          <p:cNvPr id="30" name="ul"/>
          <p:cNvSpPr txBox="1"/>
          <p:nvPr/>
        </p:nvSpPr>
        <p:spPr>
          <a:xfrm>
            <a:off x="883158" y="1414208"/>
            <a:ext cx="6134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营收（亿元）</a:t>
            </a:r>
          </a:p>
        </p:txBody>
      </p:sp>
      <p:sp>
        <p:nvSpPr>
          <p:cNvPr id="31" name="ur"/>
          <p:cNvSpPr txBox="1"/>
          <p:nvPr/>
        </p:nvSpPr>
        <p:spPr>
          <a:xfrm>
            <a:off x="8422132" y="1414208"/>
            <a:ext cx="3467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毛利率</a:t>
            </a:r>
          </a:p>
        </p:txBody>
      </p:sp>
      <p:sp>
        <p:nvSpPr>
          <p:cNvPr id="32" name="b-1"/>
          <p:cNvSpPr/>
          <p:nvPr/>
        </p:nvSpPr>
        <p:spPr>
          <a:xfrm>
            <a:off x="1857375" y="4091940"/>
            <a:ext cx="412750" cy="924560"/>
          </a:xfrm>
          <a:custGeom>
            <a:avLst/>
            <a:gdLst/>
            <a:ahLst/>
            <a:cxnLst/>
            <a:rect l="0" t="0" r="r" b="b"/>
            <a:pathLst>
              <a:path w="412750" h="924560">
                <a:moveTo>
                  <a:pt x="0" y="924560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349250" y="0"/>
                </a:lnTo>
                <a:cubicBezTo>
                  <a:pt x="384302" y="0"/>
                  <a:pt x="412750" y="28448"/>
                  <a:pt x="412750" y="63500"/>
                </a:cubicBezTo>
                <a:lnTo>
                  <a:pt x="412750" y="924560"/>
                </a:lnTo>
                <a:close/>
              </a:path>
            </a:pathLst>
          </a:custGeom>
          <a:gradFill rotWithShape="1">
            <a:gsLst>
              <a:gs pos="0">
                <a:srgbClr val="619DD7"/>
              </a:gs>
              <a:gs pos="100000">
                <a:srgbClr val="3985CD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bv-1"/>
          <p:cNvSpPr txBox="1"/>
          <p:nvPr/>
        </p:nvSpPr>
        <p:spPr>
          <a:xfrm>
            <a:off x="1932686" y="389026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2.1</a:t>
            </a:r>
          </a:p>
        </p:txBody>
      </p:sp>
      <p:sp>
        <p:nvSpPr>
          <p:cNvPr id="34" name="x-1"/>
          <p:cNvSpPr txBox="1"/>
          <p:nvPr/>
        </p:nvSpPr>
        <p:spPr>
          <a:xfrm>
            <a:off x="1914208" y="5102066"/>
            <a:ext cx="2990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25Q1</a:t>
            </a:r>
          </a:p>
        </p:txBody>
      </p:sp>
      <p:sp>
        <p:nvSpPr>
          <p:cNvPr id="35" name="b-2"/>
          <p:cNvSpPr/>
          <p:nvPr/>
        </p:nvSpPr>
        <p:spPr>
          <a:xfrm>
            <a:off x="2682875" y="3959860"/>
            <a:ext cx="412750" cy="1056640"/>
          </a:xfrm>
          <a:custGeom>
            <a:avLst/>
            <a:gdLst/>
            <a:ahLst/>
            <a:cxnLst/>
            <a:rect l="0" t="0" r="r" b="b"/>
            <a:pathLst>
              <a:path w="412750" h="1056640">
                <a:moveTo>
                  <a:pt x="0" y="1056640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349250" y="0"/>
                </a:lnTo>
                <a:cubicBezTo>
                  <a:pt x="384302" y="0"/>
                  <a:pt x="412750" y="28448"/>
                  <a:pt x="412750" y="63500"/>
                </a:cubicBezTo>
                <a:lnTo>
                  <a:pt x="412750" y="1056640"/>
                </a:lnTo>
                <a:close/>
              </a:path>
            </a:pathLst>
          </a:custGeom>
          <a:gradFill rotWithShape="1">
            <a:gsLst>
              <a:gs pos="0">
                <a:srgbClr val="619DD7"/>
              </a:gs>
              <a:gs pos="100000">
                <a:srgbClr val="3985CD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bv-2"/>
          <p:cNvSpPr txBox="1"/>
          <p:nvPr/>
        </p:nvSpPr>
        <p:spPr>
          <a:xfrm>
            <a:off x="2758186" y="375818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2.4</a:t>
            </a:r>
          </a:p>
        </p:txBody>
      </p:sp>
      <p:sp>
        <p:nvSpPr>
          <p:cNvPr id="37" name="x-2"/>
          <p:cNvSpPr txBox="1"/>
          <p:nvPr/>
        </p:nvSpPr>
        <p:spPr>
          <a:xfrm>
            <a:off x="2739708" y="5102066"/>
            <a:ext cx="2990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25Q2</a:t>
            </a:r>
          </a:p>
        </p:txBody>
      </p:sp>
      <p:sp>
        <p:nvSpPr>
          <p:cNvPr id="38" name="b-3"/>
          <p:cNvSpPr/>
          <p:nvPr/>
        </p:nvSpPr>
        <p:spPr>
          <a:xfrm>
            <a:off x="3508375" y="3871786"/>
            <a:ext cx="412750" cy="1144714"/>
          </a:xfrm>
          <a:custGeom>
            <a:avLst/>
            <a:gdLst/>
            <a:ahLst/>
            <a:cxnLst/>
            <a:rect l="0" t="0" r="r" b="b"/>
            <a:pathLst>
              <a:path w="412750" h="1144714">
                <a:moveTo>
                  <a:pt x="0" y="1144714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349250" y="0"/>
                </a:lnTo>
                <a:cubicBezTo>
                  <a:pt x="384302" y="0"/>
                  <a:pt x="412750" y="28448"/>
                  <a:pt x="412750" y="63500"/>
                </a:cubicBezTo>
                <a:lnTo>
                  <a:pt x="412750" y="1144714"/>
                </a:lnTo>
                <a:close/>
              </a:path>
            </a:pathLst>
          </a:custGeom>
          <a:gradFill rotWithShape="1">
            <a:gsLst>
              <a:gs pos="0">
                <a:srgbClr val="619DD7"/>
              </a:gs>
              <a:gs pos="100000">
                <a:srgbClr val="3985CD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bv-3"/>
          <p:cNvSpPr txBox="1"/>
          <p:nvPr/>
        </p:nvSpPr>
        <p:spPr>
          <a:xfrm>
            <a:off x="3583686" y="3670131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2.6</a:t>
            </a:r>
          </a:p>
        </p:txBody>
      </p:sp>
      <p:sp>
        <p:nvSpPr>
          <p:cNvPr id="40" name="x-3"/>
          <p:cNvSpPr txBox="1"/>
          <p:nvPr/>
        </p:nvSpPr>
        <p:spPr>
          <a:xfrm>
            <a:off x="3565208" y="5102066"/>
            <a:ext cx="2990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25Q3</a:t>
            </a:r>
          </a:p>
        </p:txBody>
      </p:sp>
      <p:sp>
        <p:nvSpPr>
          <p:cNvPr id="41" name="b-4"/>
          <p:cNvSpPr/>
          <p:nvPr/>
        </p:nvSpPr>
        <p:spPr>
          <a:xfrm>
            <a:off x="4333875" y="3695700"/>
            <a:ext cx="412750" cy="1320800"/>
          </a:xfrm>
          <a:custGeom>
            <a:avLst/>
            <a:gdLst/>
            <a:ahLst/>
            <a:cxnLst/>
            <a:rect l="0" t="0" r="r" b="b"/>
            <a:pathLst>
              <a:path w="412750" h="1320800">
                <a:moveTo>
                  <a:pt x="0" y="1320800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349250" y="0"/>
                </a:lnTo>
                <a:cubicBezTo>
                  <a:pt x="384302" y="0"/>
                  <a:pt x="412750" y="28448"/>
                  <a:pt x="412750" y="63500"/>
                </a:cubicBezTo>
                <a:lnTo>
                  <a:pt x="412750" y="1320800"/>
                </a:lnTo>
                <a:close/>
              </a:path>
            </a:pathLst>
          </a:custGeom>
          <a:gradFill rotWithShape="1">
            <a:gsLst>
              <a:gs pos="0">
                <a:srgbClr val="619DD7"/>
              </a:gs>
              <a:gs pos="100000">
                <a:srgbClr val="3985CD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bv-4"/>
          <p:cNvSpPr txBox="1"/>
          <p:nvPr/>
        </p:nvSpPr>
        <p:spPr>
          <a:xfrm>
            <a:off x="4409186" y="34940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3.0</a:t>
            </a:r>
          </a:p>
        </p:txBody>
      </p:sp>
      <p:sp>
        <p:nvSpPr>
          <p:cNvPr id="43" name="x-4"/>
          <p:cNvSpPr txBox="1"/>
          <p:nvPr/>
        </p:nvSpPr>
        <p:spPr>
          <a:xfrm>
            <a:off x="4390708" y="5102066"/>
            <a:ext cx="2990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25Q4</a:t>
            </a:r>
          </a:p>
        </p:txBody>
      </p:sp>
      <p:sp>
        <p:nvSpPr>
          <p:cNvPr id="44" name="b-5"/>
          <p:cNvSpPr/>
          <p:nvPr/>
        </p:nvSpPr>
        <p:spPr>
          <a:xfrm>
            <a:off x="5159375" y="3783774"/>
            <a:ext cx="412750" cy="1232726"/>
          </a:xfrm>
          <a:custGeom>
            <a:avLst/>
            <a:gdLst/>
            <a:ahLst/>
            <a:cxnLst/>
            <a:rect l="0" t="0" r="r" b="b"/>
            <a:pathLst>
              <a:path w="412750" h="1232726">
                <a:moveTo>
                  <a:pt x="0" y="1232726"/>
                </a:moveTo>
                <a:lnTo>
                  <a:pt x="0" y="63500"/>
                </a:lnTo>
                <a:cubicBezTo>
                  <a:pt x="0" y="28385"/>
                  <a:pt x="28448" y="0"/>
                  <a:pt x="63500" y="0"/>
                </a:cubicBezTo>
                <a:lnTo>
                  <a:pt x="349250" y="0"/>
                </a:lnTo>
                <a:cubicBezTo>
                  <a:pt x="384302" y="0"/>
                  <a:pt x="412750" y="28385"/>
                  <a:pt x="412750" y="63500"/>
                </a:cubicBezTo>
                <a:lnTo>
                  <a:pt x="412750" y="1232726"/>
                </a:lnTo>
                <a:close/>
              </a:path>
            </a:pathLst>
          </a:custGeom>
          <a:gradFill rotWithShape="1">
            <a:gsLst>
              <a:gs pos="0">
                <a:srgbClr val="4270B0"/>
              </a:gs>
              <a:gs pos="100000">
                <a:srgbClr val="134C9C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bv-5"/>
          <p:cNvSpPr txBox="1"/>
          <p:nvPr/>
        </p:nvSpPr>
        <p:spPr>
          <a:xfrm>
            <a:off x="5234686" y="3582077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2.8</a:t>
            </a:r>
          </a:p>
        </p:txBody>
      </p:sp>
      <p:sp>
        <p:nvSpPr>
          <p:cNvPr id="46" name="x-5"/>
          <p:cNvSpPr txBox="1"/>
          <p:nvPr/>
        </p:nvSpPr>
        <p:spPr>
          <a:xfrm>
            <a:off x="5216208" y="5102066"/>
            <a:ext cx="2990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26Q1</a:t>
            </a:r>
          </a:p>
        </p:txBody>
      </p:sp>
      <p:sp>
        <p:nvSpPr>
          <p:cNvPr id="47" name="b-6"/>
          <p:cNvSpPr/>
          <p:nvPr/>
        </p:nvSpPr>
        <p:spPr>
          <a:xfrm>
            <a:off x="5984875" y="3607626"/>
            <a:ext cx="412750" cy="1408874"/>
          </a:xfrm>
          <a:custGeom>
            <a:avLst/>
            <a:gdLst/>
            <a:ahLst/>
            <a:cxnLst/>
            <a:rect l="0" t="0" r="r" b="b"/>
            <a:pathLst>
              <a:path w="412750" h="1408874">
                <a:moveTo>
                  <a:pt x="0" y="1408874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349250" y="0"/>
                </a:lnTo>
                <a:cubicBezTo>
                  <a:pt x="384302" y="0"/>
                  <a:pt x="412750" y="28448"/>
                  <a:pt x="412750" y="63500"/>
                </a:cubicBezTo>
                <a:lnTo>
                  <a:pt x="412750" y="1408874"/>
                </a:lnTo>
                <a:close/>
              </a:path>
            </a:pathLst>
          </a:custGeom>
          <a:gradFill rotWithShape="1">
            <a:gsLst>
              <a:gs pos="0">
                <a:srgbClr val="4270B0"/>
              </a:gs>
              <a:gs pos="100000">
                <a:srgbClr val="134C9C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bv-6"/>
          <p:cNvSpPr txBox="1"/>
          <p:nvPr/>
        </p:nvSpPr>
        <p:spPr>
          <a:xfrm>
            <a:off x="6060186" y="3405971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3.2</a:t>
            </a:r>
          </a:p>
        </p:txBody>
      </p:sp>
      <p:sp>
        <p:nvSpPr>
          <p:cNvPr id="49" name="x-6"/>
          <p:cNvSpPr txBox="1"/>
          <p:nvPr/>
        </p:nvSpPr>
        <p:spPr>
          <a:xfrm>
            <a:off x="6041708" y="5102066"/>
            <a:ext cx="2990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26Q2</a:t>
            </a:r>
          </a:p>
        </p:txBody>
      </p:sp>
      <p:sp>
        <p:nvSpPr>
          <p:cNvPr id="50" name="b-7"/>
          <p:cNvSpPr/>
          <p:nvPr/>
        </p:nvSpPr>
        <p:spPr>
          <a:xfrm>
            <a:off x="6810375" y="3475546"/>
            <a:ext cx="412750" cy="1540954"/>
          </a:xfrm>
          <a:custGeom>
            <a:avLst/>
            <a:gdLst/>
            <a:ahLst/>
            <a:cxnLst/>
            <a:rect l="0" t="0" r="r" b="b"/>
            <a:pathLst>
              <a:path w="412750" h="1540954">
                <a:moveTo>
                  <a:pt x="0" y="1540954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349250" y="0"/>
                </a:lnTo>
                <a:cubicBezTo>
                  <a:pt x="384302" y="0"/>
                  <a:pt x="412750" y="28448"/>
                  <a:pt x="412750" y="63500"/>
                </a:cubicBezTo>
                <a:lnTo>
                  <a:pt x="412750" y="1540954"/>
                </a:lnTo>
                <a:close/>
              </a:path>
            </a:pathLst>
          </a:custGeom>
          <a:gradFill rotWithShape="1">
            <a:gsLst>
              <a:gs pos="0">
                <a:srgbClr val="4270B0"/>
              </a:gs>
              <a:gs pos="100000">
                <a:srgbClr val="134C9C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bv-7"/>
          <p:cNvSpPr txBox="1"/>
          <p:nvPr/>
        </p:nvSpPr>
        <p:spPr>
          <a:xfrm>
            <a:off x="6885686" y="3273891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3.5</a:t>
            </a:r>
          </a:p>
        </p:txBody>
      </p:sp>
      <p:sp>
        <p:nvSpPr>
          <p:cNvPr id="52" name="x-7"/>
          <p:cNvSpPr txBox="1"/>
          <p:nvPr/>
        </p:nvSpPr>
        <p:spPr>
          <a:xfrm>
            <a:off x="6867208" y="5102066"/>
            <a:ext cx="2990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26Q3</a:t>
            </a:r>
          </a:p>
        </p:txBody>
      </p:sp>
      <p:sp>
        <p:nvSpPr>
          <p:cNvPr id="53" name="b-8"/>
          <p:cNvSpPr/>
          <p:nvPr/>
        </p:nvSpPr>
        <p:spPr>
          <a:xfrm>
            <a:off x="7635875" y="3211386"/>
            <a:ext cx="412750" cy="1805114"/>
          </a:xfrm>
          <a:custGeom>
            <a:avLst/>
            <a:gdLst/>
            <a:ahLst/>
            <a:cxnLst/>
            <a:rect l="0" t="0" r="r" b="b"/>
            <a:pathLst>
              <a:path w="412750" h="1805114">
                <a:moveTo>
                  <a:pt x="0" y="1805114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349250" y="0"/>
                </a:lnTo>
                <a:cubicBezTo>
                  <a:pt x="384302" y="0"/>
                  <a:pt x="412750" y="28448"/>
                  <a:pt x="412750" y="63500"/>
                </a:cubicBezTo>
                <a:lnTo>
                  <a:pt x="412750" y="1805114"/>
                </a:lnTo>
                <a:close/>
              </a:path>
            </a:pathLst>
          </a:custGeom>
          <a:gradFill rotWithShape="1">
            <a:gsLst>
              <a:gs pos="0">
                <a:srgbClr val="4270B0"/>
              </a:gs>
              <a:gs pos="100000">
                <a:srgbClr val="134C9C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bv-8"/>
          <p:cNvSpPr txBox="1"/>
          <p:nvPr/>
        </p:nvSpPr>
        <p:spPr>
          <a:xfrm>
            <a:off x="7711186" y="3009731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4.1</a:t>
            </a:r>
          </a:p>
        </p:txBody>
      </p:sp>
      <p:sp>
        <p:nvSpPr>
          <p:cNvPr id="55" name="x-8"/>
          <p:cNvSpPr txBox="1"/>
          <p:nvPr/>
        </p:nvSpPr>
        <p:spPr>
          <a:xfrm>
            <a:off x="7692708" y="5102066"/>
            <a:ext cx="2990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26Q4</a:t>
            </a:r>
          </a:p>
        </p:txBody>
      </p:sp>
      <p:sp>
        <p:nvSpPr>
          <p:cNvPr id="56" name="gm"/>
          <p:cNvSpPr/>
          <p:nvPr/>
        </p:nvSpPr>
        <p:spPr>
          <a:xfrm>
            <a:off x="2063750" y="2176780"/>
            <a:ext cx="5778500" cy="892448"/>
          </a:xfrm>
          <a:custGeom>
            <a:avLst/>
            <a:gdLst/>
            <a:ahLst/>
            <a:cxnLst/>
            <a:rect l="0" t="0" r="r" b="b"/>
            <a:pathLst>
              <a:path w="5778500" h="892448">
                <a:moveTo>
                  <a:pt x="0" y="445770"/>
                </a:moveTo>
                <a:cubicBezTo>
                  <a:pt x="96330" y="470789"/>
                  <a:pt x="632905" y="608394"/>
                  <a:pt x="825500" y="660400"/>
                </a:cubicBezTo>
                <a:cubicBezTo>
                  <a:pt x="1018095" y="712406"/>
                  <a:pt x="1458404" y="879983"/>
                  <a:pt x="1651000" y="891540"/>
                </a:cubicBezTo>
                <a:cubicBezTo>
                  <a:pt x="1843596" y="903097"/>
                  <a:pt x="2283904" y="803783"/>
                  <a:pt x="2476500" y="759460"/>
                </a:cubicBezTo>
                <a:cubicBezTo>
                  <a:pt x="2669096" y="715137"/>
                  <a:pt x="3109404" y="565721"/>
                  <a:pt x="3302000" y="511810"/>
                </a:cubicBezTo>
                <a:cubicBezTo>
                  <a:pt x="3494596" y="457899"/>
                  <a:pt x="3934904" y="345313"/>
                  <a:pt x="4127500" y="297180"/>
                </a:cubicBezTo>
                <a:cubicBezTo>
                  <a:pt x="4320096" y="249047"/>
                  <a:pt x="4760404" y="133731"/>
                  <a:pt x="4953000" y="99060"/>
                </a:cubicBezTo>
                <a:cubicBezTo>
                  <a:pt x="5145596" y="64389"/>
                  <a:pt x="5682170" y="11557"/>
                  <a:pt x="5778500" y="0"/>
                </a:cubicBezTo>
              </a:path>
            </a:pathLst>
          </a:custGeom>
          <a:noFill/>
          <a:ln w="2540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gp-1"/>
          <p:cNvSpPr/>
          <p:nvPr/>
        </p:nvSpPr>
        <p:spPr>
          <a:xfrm>
            <a:off x="2012950" y="2571750"/>
            <a:ext cx="101600" cy="1016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gv-1"/>
          <p:cNvSpPr txBox="1"/>
          <p:nvPr/>
        </p:nvSpPr>
        <p:spPr>
          <a:xfrm>
            <a:off x="1893411" y="2381837"/>
            <a:ext cx="34067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36.5%</a:t>
            </a:r>
          </a:p>
        </p:txBody>
      </p:sp>
      <p:sp>
        <p:nvSpPr>
          <p:cNvPr id="59" name="gp-2"/>
          <p:cNvSpPr/>
          <p:nvPr/>
        </p:nvSpPr>
        <p:spPr>
          <a:xfrm>
            <a:off x="2838450" y="2786380"/>
            <a:ext cx="101600" cy="1016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gv-2"/>
          <p:cNvSpPr txBox="1"/>
          <p:nvPr/>
        </p:nvSpPr>
        <p:spPr>
          <a:xfrm>
            <a:off x="2718911" y="2596467"/>
            <a:ext cx="34067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35.2%</a:t>
            </a:r>
          </a:p>
        </p:txBody>
      </p:sp>
      <p:sp>
        <p:nvSpPr>
          <p:cNvPr id="61" name="gp-3"/>
          <p:cNvSpPr/>
          <p:nvPr/>
        </p:nvSpPr>
        <p:spPr>
          <a:xfrm>
            <a:off x="3663950" y="3017520"/>
            <a:ext cx="101600" cy="1016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gv-3"/>
          <p:cNvSpPr txBox="1"/>
          <p:nvPr/>
        </p:nvSpPr>
        <p:spPr>
          <a:xfrm>
            <a:off x="3544411" y="2827607"/>
            <a:ext cx="34067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33.8%</a:t>
            </a:r>
          </a:p>
        </p:txBody>
      </p:sp>
      <p:sp>
        <p:nvSpPr>
          <p:cNvPr id="63" name="gp-4"/>
          <p:cNvSpPr/>
          <p:nvPr/>
        </p:nvSpPr>
        <p:spPr>
          <a:xfrm>
            <a:off x="4489450" y="2885440"/>
            <a:ext cx="101600" cy="1016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gv-4"/>
          <p:cNvSpPr txBox="1"/>
          <p:nvPr/>
        </p:nvSpPr>
        <p:spPr>
          <a:xfrm>
            <a:off x="4369911" y="2695527"/>
            <a:ext cx="34067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34.6%</a:t>
            </a:r>
          </a:p>
        </p:txBody>
      </p:sp>
      <p:sp>
        <p:nvSpPr>
          <p:cNvPr id="65" name="gp-5"/>
          <p:cNvSpPr/>
          <p:nvPr/>
        </p:nvSpPr>
        <p:spPr>
          <a:xfrm>
            <a:off x="5314950" y="2637790"/>
            <a:ext cx="101600" cy="1016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gv-5"/>
          <p:cNvSpPr txBox="1"/>
          <p:nvPr/>
        </p:nvSpPr>
        <p:spPr>
          <a:xfrm>
            <a:off x="5195411" y="2447877"/>
            <a:ext cx="34067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36.1%</a:t>
            </a:r>
          </a:p>
        </p:txBody>
      </p:sp>
      <p:sp>
        <p:nvSpPr>
          <p:cNvPr id="67" name="gp-6"/>
          <p:cNvSpPr/>
          <p:nvPr/>
        </p:nvSpPr>
        <p:spPr>
          <a:xfrm>
            <a:off x="6140450" y="2423160"/>
            <a:ext cx="101600" cy="1016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gv-6"/>
          <p:cNvSpPr txBox="1"/>
          <p:nvPr/>
        </p:nvSpPr>
        <p:spPr>
          <a:xfrm>
            <a:off x="6020911" y="2233247"/>
            <a:ext cx="34067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37.4%</a:t>
            </a:r>
          </a:p>
        </p:txBody>
      </p:sp>
      <p:sp>
        <p:nvSpPr>
          <p:cNvPr id="69" name="gp-7"/>
          <p:cNvSpPr/>
          <p:nvPr/>
        </p:nvSpPr>
        <p:spPr>
          <a:xfrm>
            <a:off x="6965950" y="2225040"/>
            <a:ext cx="101600" cy="1016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gv-7"/>
          <p:cNvSpPr txBox="1"/>
          <p:nvPr/>
        </p:nvSpPr>
        <p:spPr>
          <a:xfrm>
            <a:off x="6846411" y="2035127"/>
            <a:ext cx="34067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38.6%</a:t>
            </a:r>
          </a:p>
        </p:txBody>
      </p:sp>
      <p:sp>
        <p:nvSpPr>
          <p:cNvPr id="71" name="gp-8"/>
          <p:cNvSpPr/>
          <p:nvPr/>
        </p:nvSpPr>
        <p:spPr>
          <a:xfrm>
            <a:off x="7791450" y="2125980"/>
            <a:ext cx="101600" cy="1016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gv-8"/>
          <p:cNvSpPr txBox="1"/>
          <p:nvPr/>
        </p:nvSpPr>
        <p:spPr>
          <a:xfrm>
            <a:off x="7671911" y="1936067"/>
            <a:ext cx="34067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39.2%</a:t>
            </a:r>
          </a:p>
        </p:txBody>
      </p:sp>
      <p:sp>
        <p:nvSpPr>
          <p:cNvPr id="73" name="lg-1"/>
          <p:cNvSpPr/>
          <p:nvPr/>
        </p:nvSpPr>
        <p:spPr>
          <a:xfrm>
            <a:off x="1651000" y="5384800"/>
            <a:ext cx="139700" cy="139700"/>
          </a:xfrm>
          <a:custGeom>
            <a:avLst/>
            <a:gdLst/>
            <a:ahLst/>
            <a:cxnLst/>
            <a:rect l="0" t="0" r="r" b="b"/>
            <a:pathLst>
              <a:path w="139700" h="139700">
                <a:moveTo>
                  <a:pt x="31750" y="0"/>
                </a:moveTo>
                <a:lnTo>
                  <a:pt x="107950" y="0"/>
                </a:lnTo>
                <a:cubicBezTo>
                  <a:pt x="125476" y="0"/>
                  <a:pt x="139700" y="14224"/>
                  <a:pt x="139700" y="31750"/>
                </a:cubicBezTo>
                <a:lnTo>
                  <a:pt x="139700" y="107950"/>
                </a:lnTo>
                <a:cubicBezTo>
                  <a:pt x="139700" y="125476"/>
                  <a:pt x="125476" y="139700"/>
                  <a:pt x="107950" y="139700"/>
                </a:cubicBezTo>
                <a:lnTo>
                  <a:pt x="31750" y="139700"/>
                </a:lnTo>
                <a:cubicBezTo>
                  <a:pt x="14224" y="139700"/>
                  <a:pt x="0" y="125476"/>
                  <a:pt x="0" y="1079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lg-1t"/>
          <p:cNvSpPr txBox="1"/>
          <p:nvPr/>
        </p:nvSpPr>
        <p:spPr>
          <a:xfrm>
            <a:off x="1842770" y="5368766"/>
            <a:ext cx="5429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2025 营收</a:t>
            </a:r>
          </a:p>
        </p:txBody>
      </p:sp>
      <p:sp>
        <p:nvSpPr>
          <p:cNvPr id="75" name="lg-2"/>
          <p:cNvSpPr/>
          <p:nvPr/>
        </p:nvSpPr>
        <p:spPr>
          <a:xfrm>
            <a:off x="2603500" y="5384800"/>
            <a:ext cx="139700" cy="139700"/>
          </a:xfrm>
          <a:custGeom>
            <a:avLst/>
            <a:gdLst/>
            <a:ahLst/>
            <a:cxnLst/>
            <a:rect l="0" t="0" r="r" b="b"/>
            <a:pathLst>
              <a:path w="139700" h="139700">
                <a:moveTo>
                  <a:pt x="31750" y="0"/>
                </a:moveTo>
                <a:lnTo>
                  <a:pt x="107950" y="0"/>
                </a:lnTo>
                <a:cubicBezTo>
                  <a:pt x="125476" y="0"/>
                  <a:pt x="139700" y="14224"/>
                  <a:pt x="139700" y="31750"/>
                </a:cubicBezTo>
                <a:lnTo>
                  <a:pt x="139700" y="107950"/>
                </a:lnTo>
                <a:cubicBezTo>
                  <a:pt x="139700" y="125476"/>
                  <a:pt x="125476" y="139700"/>
                  <a:pt x="107950" y="139700"/>
                </a:cubicBezTo>
                <a:lnTo>
                  <a:pt x="31750" y="139700"/>
                </a:lnTo>
                <a:cubicBezTo>
                  <a:pt x="14224" y="139700"/>
                  <a:pt x="0" y="125476"/>
                  <a:pt x="0" y="1079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lg-2t"/>
          <p:cNvSpPr txBox="1"/>
          <p:nvPr/>
        </p:nvSpPr>
        <p:spPr>
          <a:xfrm>
            <a:off x="2795270" y="5368766"/>
            <a:ext cx="5429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2026 营收</a:t>
            </a:r>
          </a:p>
        </p:txBody>
      </p:sp>
      <p:cxnSp>
        <p:nvCxnSpPr>
          <p:cNvPr id="77" name="lg-3"/>
          <p:cNvCxnSpPr/>
          <p:nvPr/>
        </p:nvCxnSpPr>
        <p:spPr>
          <a:xfrm>
            <a:off x="3556000" y="5454650"/>
            <a:ext cx="254000" cy="0"/>
          </a:xfrm>
          <a:prstGeom prst="line">
            <a:avLst/>
          </a:prstGeom>
          <a:ln w="25400" cap="rnd">
            <a:solidFill>
              <a:srgbClr val="E0703A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8" name="lg-3t"/>
          <p:cNvSpPr txBox="1"/>
          <p:nvPr/>
        </p:nvSpPr>
        <p:spPr>
          <a:xfrm>
            <a:off x="3862070" y="5368766"/>
            <a:ext cx="11029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毛利率（实心 = 达标）</a:t>
            </a:r>
          </a:p>
        </p:txBody>
      </p:sp>
      <p:sp>
        <p:nvSpPr>
          <p:cNvPr id="79" name="k-1"/>
          <p:cNvSpPr/>
          <p:nvPr/>
        </p:nvSpPr>
        <p:spPr>
          <a:xfrm>
            <a:off x="9017000" y="1651000"/>
            <a:ext cx="2222500" cy="1066800"/>
          </a:xfrm>
          <a:custGeom>
            <a:avLst/>
            <a:gdLst/>
            <a:ahLst/>
            <a:cxnLst/>
            <a:rect l="0" t="0" r="r" b="b"/>
            <a:pathLst>
              <a:path w="2222500" h="1066800">
                <a:moveTo>
                  <a:pt x="127000" y="0"/>
                </a:moveTo>
                <a:lnTo>
                  <a:pt x="2095500" y="0"/>
                </a:lnTo>
                <a:cubicBezTo>
                  <a:pt x="2165667" y="0"/>
                  <a:pt x="2222500" y="56832"/>
                  <a:pt x="2222500" y="127000"/>
                </a:cubicBezTo>
                <a:lnTo>
                  <a:pt x="2222500" y="939800"/>
                </a:lnTo>
                <a:cubicBezTo>
                  <a:pt x="2222500" y="1009968"/>
                  <a:pt x="2165667" y="1066800"/>
                  <a:pt x="2095500" y="1066800"/>
                </a:cubicBezTo>
                <a:lnTo>
                  <a:pt x="127000" y="1066800"/>
                </a:lnTo>
                <a:cubicBezTo>
                  <a:pt x="56833" y="1066800"/>
                  <a:pt x="0" y="1009968"/>
                  <a:pt x="0" y="9398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kh-1"/>
          <p:cNvSpPr txBox="1"/>
          <p:nvPr/>
        </p:nvSpPr>
        <p:spPr>
          <a:xfrm>
            <a:off x="9181846" y="1809782"/>
            <a:ext cx="88836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2026 全年营收</a:t>
            </a:r>
          </a:p>
        </p:txBody>
      </p:sp>
      <p:sp>
        <p:nvSpPr>
          <p:cNvPr id="81" name="kv-1"/>
          <p:cNvSpPr txBox="1"/>
          <p:nvPr/>
        </p:nvSpPr>
        <p:spPr>
          <a:xfrm>
            <a:off x="9161272" y="1991741"/>
            <a:ext cx="133223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13.6 亿</a:t>
            </a:r>
          </a:p>
        </p:txBody>
      </p:sp>
      <p:sp>
        <p:nvSpPr>
          <p:cNvPr id="82" name="kd-1"/>
          <p:cNvSpPr txBox="1"/>
          <p:nvPr/>
        </p:nvSpPr>
        <p:spPr>
          <a:xfrm>
            <a:off x="9183370" y="2447766"/>
            <a:ext cx="55626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同比 +35%</a:t>
            </a:r>
          </a:p>
        </p:txBody>
      </p:sp>
      <p:sp>
        <p:nvSpPr>
          <p:cNvPr id="83" name="k-2"/>
          <p:cNvSpPr/>
          <p:nvPr/>
        </p:nvSpPr>
        <p:spPr>
          <a:xfrm>
            <a:off x="9017000" y="2857500"/>
            <a:ext cx="2222500" cy="1066800"/>
          </a:xfrm>
          <a:custGeom>
            <a:avLst/>
            <a:gdLst/>
            <a:ahLst/>
            <a:cxnLst/>
            <a:rect l="0" t="0" r="r" b="b"/>
            <a:pathLst>
              <a:path w="2222500" h="1066800">
                <a:moveTo>
                  <a:pt x="127000" y="0"/>
                </a:moveTo>
                <a:lnTo>
                  <a:pt x="2095500" y="0"/>
                </a:lnTo>
                <a:cubicBezTo>
                  <a:pt x="2165667" y="0"/>
                  <a:pt x="2222500" y="56832"/>
                  <a:pt x="2222500" y="127000"/>
                </a:cubicBezTo>
                <a:lnTo>
                  <a:pt x="2222500" y="939800"/>
                </a:lnTo>
                <a:cubicBezTo>
                  <a:pt x="2222500" y="1009967"/>
                  <a:pt x="2165667" y="1066800"/>
                  <a:pt x="2095500" y="1066800"/>
                </a:cubicBezTo>
                <a:lnTo>
                  <a:pt x="127000" y="1066800"/>
                </a:lnTo>
                <a:cubicBezTo>
                  <a:pt x="56833" y="1066800"/>
                  <a:pt x="0" y="1009967"/>
                  <a:pt x="0" y="9398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kh-2"/>
          <p:cNvSpPr txBox="1"/>
          <p:nvPr/>
        </p:nvSpPr>
        <p:spPr>
          <a:xfrm>
            <a:off x="9181846" y="3016282"/>
            <a:ext cx="75476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Q4 单季营收</a:t>
            </a:r>
          </a:p>
        </p:txBody>
      </p:sp>
      <p:sp>
        <p:nvSpPr>
          <p:cNvPr id="85" name="kv-2"/>
          <p:cNvSpPr txBox="1"/>
          <p:nvPr/>
        </p:nvSpPr>
        <p:spPr>
          <a:xfrm>
            <a:off x="9161272" y="3198241"/>
            <a:ext cx="1172591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4.1 亿</a:t>
            </a:r>
          </a:p>
        </p:txBody>
      </p:sp>
      <p:sp>
        <p:nvSpPr>
          <p:cNvPr id="86" name="kd-2"/>
          <p:cNvSpPr txBox="1"/>
          <p:nvPr/>
        </p:nvSpPr>
        <p:spPr>
          <a:xfrm>
            <a:off x="9183370" y="3654266"/>
            <a:ext cx="57150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创历史新高</a:t>
            </a:r>
          </a:p>
        </p:txBody>
      </p:sp>
      <p:sp>
        <p:nvSpPr>
          <p:cNvPr id="87" name="k-3"/>
          <p:cNvSpPr/>
          <p:nvPr/>
        </p:nvSpPr>
        <p:spPr>
          <a:xfrm>
            <a:off x="9017000" y="4064000"/>
            <a:ext cx="2222500" cy="1066800"/>
          </a:xfrm>
          <a:custGeom>
            <a:avLst/>
            <a:gdLst/>
            <a:ahLst/>
            <a:cxnLst/>
            <a:rect l="0" t="0" r="r" b="b"/>
            <a:pathLst>
              <a:path w="2222500" h="1066800">
                <a:moveTo>
                  <a:pt x="127000" y="0"/>
                </a:moveTo>
                <a:lnTo>
                  <a:pt x="2095500" y="0"/>
                </a:lnTo>
                <a:cubicBezTo>
                  <a:pt x="2165667" y="0"/>
                  <a:pt x="2222500" y="56833"/>
                  <a:pt x="2222500" y="127000"/>
                </a:cubicBezTo>
                <a:lnTo>
                  <a:pt x="2222500" y="939800"/>
                </a:lnTo>
                <a:cubicBezTo>
                  <a:pt x="2222500" y="1009967"/>
                  <a:pt x="2165667" y="1066800"/>
                  <a:pt x="2095500" y="1066800"/>
                </a:cubicBezTo>
                <a:lnTo>
                  <a:pt x="127000" y="1066800"/>
                </a:lnTo>
                <a:cubicBezTo>
                  <a:pt x="56833" y="1066800"/>
                  <a:pt x="0" y="1009967"/>
                  <a:pt x="0" y="9398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kh-3"/>
          <p:cNvSpPr txBox="1"/>
          <p:nvPr/>
        </p:nvSpPr>
        <p:spPr>
          <a:xfrm>
            <a:off x="9181846" y="4222782"/>
            <a:ext cx="64046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Q4 毛利率</a:t>
            </a:r>
          </a:p>
        </p:txBody>
      </p:sp>
      <p:sp>
        <p:nvSpPr>
          <p:cNvPr id="89" name="kv-3"/>
          <p:cNvSpPr txBox="1"/>
          <p:nvPr/>
        </p:nvSpPr>
        <p:spPr>
          <a:xfrm>
            <a:off x="9161272" y="4404741"/>
            <a:ext cx="1049655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39.2%</a:t>
            </a:r>
          </a:p>
        </p:txBody>
      </p:sp>
      <p:sp>
        <p:nvSpPr>
          <p:cNvPr id="90" name="kd-3"/>
          <p:cNvSpPr txBox="1"/>
          <p:nvPr/>
        </p:nvSpPr>
        <p:spPr>
          <a:xfrm>
            <a:off x="9183370" y="4860766"/>
            <a:ext cx="10572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连续四季在目标区间内</a:t>
            </a:r>
          </a:p>
        </p:txBody>
      </p:sp>
      <p:sp>
        <p:nvSpPr>
          <p:cNvPr id="91" name="sum"/>
          <p:cNvSpPr/>
          <p:nvPr/>
        </p:nvSpPr>
        <p:spPr>
          <a:xfrm>
            <a:off x="952500" y="5829300"/>
            <a:ext cx="10287000" cy="419100"/>
          </a:xfrm>
          <a:custGeom>
            <a:avLst/>
            <a:gdLst/>
            <a:ahLst/>
            <a:cxnLst/>
            <a:rect l="0" t="0" r="r" b="b"/>
            <a:pathLst>
              <a:path w="10287000" h="4191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30200"/>
                </a:lnTo>
                <a:cubicBezTo>
                  <a:pt x="10287000" y="379286"/>
                  <a:pt x="10247186" y="419100"/>
                  <a:pt x="10198100" y="419100"/>
                </a:cubicBezTo>
                <a:lnTo>
                  <a:pt x="88900" y="419100"/>
                </a:lnTo>
                <a:cubicBezTo>
                  <a:pt x="39815" y="419100"/>
                  <a:pt x="0" y="379286"/>
                  <a:pt x="0" y="3302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sum-bar"/>
          <p:cNvSpPr/>
          <p:nvPr/>
        </p:nvSpPr>
        <p:spPr>
          <a:xfrm>
            <a:off x="952500" y="5829300"/>
            <a:ext cx="31750" cy="4191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sum-h"/>
          <p:cNvSpPr txBox="1"/>
          <p:nvPr/>
        </p:nvSpPr>
        <p:spPr>
          <a:xfrm>
            <a:off x="1142746" y="59626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经营判断</a:t>
            </a:r>
          </a:p>
        </p:txBody>
      </p:sp>
      <p:sp>
        <p:nvSpPr>
          <p:cNvPr id="94" name="sum-p"/>
          <p:cNvSpPr txBox="1"/>
          <p:nvPr/>
        </p:nvSpPr>
        <p:spPr>
          <a:xfrm>
            <a:off x="1891665" y="5958761"/>
            <a:ext cx="427132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2025 下半年为冲规模牺牲了毛利；2026 调整价格策略后，规模与质量同时回升。</a:t>
            </a:r>
          </a:p>
        </p:txBody>
      </p:sp>
      <p:cxnSp>
        <p:nvCxnSpPr>
          <p:cNvPr id="95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foot-l"/>
          <p:cNvSpPr txBox="1"/>
          <p:nvPr/>
        </p:nvSpPr>
        <p:spPr>
          <a:xfrm>
            <a:off x="573532" y="6532308"/>
            <a:ext cx="116395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双轴组合图 · 8 个季度</a:t>
            </a:r>
          </a:p>
        </p:txBody>
      </p:sp>
      <p:sp>
        <p:nvSpPr>
          <p:cNvPr id="97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重点项目进度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53695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PROJECT PROGRESS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7941691" y="673132"/>
            <a:ext cx="367906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十个年度重点项目：实际进度对比计划进度，落后超过 10 个点亮橙灯</a:t>
            </a:r>
          </a:p>
        </p:txBody>
      </p:sp>
      <p:sp>
        <p:nvSpPr>
          <p:cNvPr id="10" name="th-项目"/>
          <p:cNvSpPr txBox="1"/>
          <p:nvPr/>
        </p:nvSpPr>
        <p:spPr>
          <a:xfrm>
            <a:off x="1258570" y="1431766"/>
            <a:ext cx="3016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项目</a:t>
            </a:r>
          </a:p>
        </p:txBody>
      </p:sp>
      <p:sp>
        <p:nvSpPr>
          <p:cNvPr id="11" name="th-负责"/>
          <p:cNvSpPr txBox="1"/>
          <p:nvPr/>
        </p:nvSpPr>
        <p:spPr>
          <a:xfrm>
            <a:off x="2782570" y="1431766"/>
            <a:ext cx="3016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负责</a:t>
            </a:r>
          </a:p>
        </p:txBody>
      </p:sp>
      <p:sp>
        <p:nvSpPr>
          <p:cNvPr id="12" name="th-进度（竖线 = 计划）"/>
          <p:cNvSpPr txBox="1"/>
          <p:nvPr/>
        </p:nvSpPr>
        <p:spPr>
          <a:xfrm>
            <a:off x="3544570" y="1431766"/>
            <a:ext cx="11474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进度（竖线 = 计划）</a:t>
            </a:r>
          </a:p>
        </p:txBody>
      </p:sp>
      <p:sp>
        <p:nvSpPr>
          <p:cNvPr id="13" name="th-偏差"/>
          <p:cNvSpPr txBox="1"/>
          <p:nvPr/>
        </p:nvSpPr>
        <p:spPr>
          <a:xfrm>
            <a:off x="8294688" y="1431766"/>
            <a:ext cx="3016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偏差</a:t>
            </a:r>
          </a:p>
        </p:txBody>
      </p:sp>
      <p:sp>
        <p:nvSpPr>
          <p:cNvPr id="14" name="th-预算使用"/>
          <p:cNvSpPr txBox="1"/>
          <p:nvPr/>
        </p:nvSpPr>
        <p:spPr>
          <a:xfrm>
            <a:off x="9075738" y="1431766"/>
            <a:ext cx="5175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预算使用</a:t>
            </a:r>
          </a:p>
        </p:txBody>
      </p:sp>
      <p:sp>
        <p:nvSpPr>
          <p:cNvPr id="15" name="th-状态"/>
          <p:cNvSpPr txBox="1"/>
          <p:nvPr/>
        </p:nvSpPr>
        <p:spPr>
          <a:xfrm>
            <a:off x="10263188" y="1431766"/>
            <a:ext cx="3016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状态</a:t>
            </a:r>
          </a:p>
        </p:txBody>
      </p:sp>
      <p:sp>
        <p:nvSpPr>
          <p:cNvPr id="16" name="band-1"/>
          <p:cNvSpPr/>
          <p:nvPr/>
        </p:nvSpPr>
        <p:spPr>
          <a:xfrm>
            <a:off x="889000" y="1663700"/>
            <a:ext cx="10414000" cy="368300"/>
          </a:xfrm>
          <a:custGeom>
            <a:avLst/>
            <a:gdLst/>
            <a:ahLst/>
            <a:cxnLst/>
            <a:rect l="0" t="0" r="r" b="b"/>
            <a:pathLst>
              <a:path w="10414000" h="368300">
                <a:moveTo>
                  <a:pt x="88900" y="0"/>
                </a:moveTo>
                <a:lnTo>
                  <a:pt x="10325100" y="0"/>
                </a:lnTo>
                <a:cubicBezTo>
                  <a:pt x="10374186" y="0"/>
                  <a:pt x="10414000" y="39814"/>
                  <a:pt x="10414000" y="88900"/>
                </a:cubicBezTo>
                <a:lnTo>
                  <a:pt x="10414000" y="279400"/>
                </a:lnTo>
                <a:cubicBezTo>
                  <a:pt x="10414000" y="328486"/>
                  <a:pt x="10374186" y="368300"/>
                  <a:pt x="10325100" y="368300"/>
                </a:cubicBezTo>
                <a:lnTo>
                  <a:pt x="88900" y="368300"/>
                </a:lnTo>
                <a:cubicBezTo>
                  <a:pt x="39815" y="368300"/>
                  <a:pt x="0" y="328486"/>
                  <a:pt x="0" y="2794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1F6FC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no-1"/>
          <p:cNvSpPr txBox="1"/>
          <p:nvPr/>
        </p:nvSpPr>
        <p:spPr>
          <a:xfrm>
            <a:off x="1004570" y="17683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18" name="nm-1"/>
          <p:cNvSpPr txBox="1"/>
          <p:nvPr/>
        </p:nvSpPr>
        <p:spPr>
          <a:xfrm>
            <a:off x="1255522" y="1736947"/>
            <a:ext cx="86296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数据中台一期</a:t>
            </a:r>
          </a:p>
        </p:txBody>
      </p:sp>
      <p:sp>
        <p:nvSpPr>
          <p:cNvPr id="19" name="ow-1"/>
          <p:cNvSpPr txBox="1"/>
          <p:nvPr/>
        </p:nvSpPr>
        <p:spPr>
          <a:xfrm>
            <a:off x="2781808" y="1760474"/>
            <a:ext cx="5105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信息中心</a:t>
            </a:r>
          </a:p>
        </p:txBody>
      </p:sp>
      <p:sp>
        <p:nvSpPr>
          <p:cNvPr id="20" name="pb-1"/>
          <p:cNvSpPr/>
          <p:nvPr/>
        </p:nvSpPr>
        <p:spPr>
          <a:xfrm>
            <a:off x="3556000" y="1778000"/>
            <a:ext cx="4318000" cy="127000"/>
          </a:xfrm>
          <a:custGeom>
            <a:avLst/>
            <a:gdLst/>
            <a:ahLst/>
            <a:cxnLst/>
            <a:rect l="0" t="0" r="r" b="b"/>
            <a:pathLst>
              <a:path w="4318000" h="127000">
                <a:moveTo>
                  <a:pt x="63500" y="0"/>
                </a:moveTo>
                <a:lnTo>
                  <a:pt x="4254500" y="0"/>
                </a:lnTo>
                <a:cubicBezTo>
                  <a:pt x="4289552" y="0"/>
                  <a:pt x="4318000" y="28448"/>
                  <a:pt x="4318000" y="63500"/>
                </a:cubicBezTo>
                <a:lnTo>
                  <a:pt x="4318000" y="63500"/>
                </a:lnTo>
                <a:cubicBezTo>
                  <a:pt x="4318000" y="98552"/>
                  <a:pt x="4289552" y="127000"/>
                  <a:pt x="42545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pf-1"/>
          <p:cNvSpPr/>
          <p:nvPr/>
        </p:nvSpPr>
        <p:spPr>
          <a:xfrm>
            <a:off x="3556000" y="1778000"/>
            <a:ext cx="3540760" cy="127000"/>
          </a:xfrm>
          <a:custGeom>
            <a:avLst/>
            <a:gdLst/>
            <a:ahLst/>
            <a:cxnLst/>
            <a:rect l="0" t="0" r="r" b="b"/>
            <a:pathLst>
              <a:path w="3540760" h="127000">
                <a:moveTo>
                  <a:pt x="63500" y="0"/>
                </a:moveTo>
                <a:lnTo>
                  <a:pt x="3477260" y="0"/>
                </a:lnTo>
                <a:cubicBezTo>
                  <a:pt x="3512312" y="0"/>
                  <a:pt x="3540760" y="28448"/>
                  <a:pt x="3540760" y="63500"/>
                </a:cubicBezTo>
                <a:lnTo>
                  <a:pt x="3540760" y="63500"/>
                </a:lnTo>
                <a:cubicBezTo>
                  <a:pt x="3540760" y="98552"/>
                  <a:pt x="3512312" y="127000"/>
                  <a:pt x="347726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5A82BA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22" name="pl-1"/>
          <p:cNvCxnSpPr/>
          <p:nvPr/>
        </p:nvCxnSpPr>
        <p:spPr>
          <a:xfrm>
            <a:off x="7010400" y="1733550"/>
            <a:ext cx="0" cy="215900"/>
          </a:xfrm>
          <a:prstGeom prst="line">
            <a:avLst/>
          </a:prstGeom>
          <a:ln w="16510" cap="rnd">
            <a:solidFill>
              <a:srgbClr val="0B2545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pv-1"/>
          <p:cNvSpPr txBox="1"/>
          <p:nvPr/>
        </p:nvSpPr>
        <p:spPr>
          <a:xfrm>
            <a:off x="6801866" y="17698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82%</a:t>
            </a:r>
          </a:p>
        </p:txBody>
      </p:sp>
      <p:sp>
        <p:nvSpPr>
          <p:cNvPr id="24" name="dv-1"/>
          <p:cNvSpPr txBox="1"/>
          <p:nvPr/>
        </p:nvSpPr>
        <p:spPr>
          <a:xfrm>
            <a:off x="8330057" y="174479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+2</a:t>
            </a:r>
          </a:p>
        </p:txBody>
      </p:sp>
      <p:sp>
        <p:nvSpPr>
          <p:cNvPr id="25" name="bd-1"/>
          <p:cNvSpPr txBox="1"/>
          <p:nvPr/>
        </p:nvSpPr>
        <p:spPr>
          <a:xfrm>
            <a:off x="9195244" y="175263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76%</a:t>
            </a:r>
          </a:p>
        </p:txBody>
      </p:sp>
      <p:sp>
        <p:nvSpPr>
          <p:cNvPr id="26" name="st-1"/>
          <p:cNvSpPr/>
          <p:nvPr/>
        </p:nvSpPr>
        <p:spPr>
          <a:xfrm>
            <a:off x="10344150" y="1771650"/>
            <a:ext cx="139700" cy="1397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stt-1"/>
          <p:cNvSpPr txBox="1"/>
          <p:nvPr/>
        </p:nvSpPr>
        <p:spPr>
          <a:xfrm>
            <a:off x="10542270" y="1761966"/>
            <a:ext cx="276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正常</a:t>
            </a:r>
          </a:p>
        </p:txBody>
      </p:sp>
      <p:sp>
        <p:nvSpPr>
          <p:cNvPr id="28" name="no-2"/>
          <p:cNvSpPr txBox="1"/>
          <p:nvPr/>
        </p:nvSpPr>
        <p:spPr>
          <a:xfrm>
            <a:off x="1004570" y="21747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29" name="nm-2"/>
          <p:cNvSpPr txBox="1"/>
          <p:nvPr/>
        </p:nvSpPr>
        <p:spPr>
          <a:xfrm>
            <a:off x="1255522" y="2143347"/>
            <a:ext cx="86296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华南工厂扩产</a:t>
            </a:r>
          </a:p>
        </p:txBody>
      </p:sp>
      <p:sp>
        <p:nvSpPr>
          <p:cNvPr id="30" name="ow-2"/>
          <p:cNvSpPr txBox="1"/>
          <p:nvPr/>
        </p:nvSpPr>
        <p:spPr>
          <a:xfrm>
            <a:off x="2781808" y="2166874"/>
            <a:ext cx="405765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制造部</a:t>
            </a:r>
          </a:p>
        </p:txBody>
      </p:sp>
      <p:sp>
        <p:nvSpPr>
          <p:cNvPr id="31" name="pb-2"/>
          <p:cNvSpPr/>
          <p:nvPr/>
        </p:nvSpPr>
        <p:spPr>
          <a:xfrm>
            <a:off x="3556000" y="2184400"/>
            <a:ext cx="4318000" cy="127000"/>
          </a:xfrm>
          <a:custGeom>
            <a:avLst/>
            <a:gdLst/>
            <a:ahLst/>
            <a:cxnLst/>
            <a:rect l="0" t="0" r="r" b="b"/>
            <a:pathLst>
              <a:path w="4318000" h="127000">
                <a:moveTo>
                  <a:pt x="63500" y="0"/>
                </a:moveTo>
                <a:lnTo>
                  <a:pt x="4254500" y="0"/>
                </a:lnTo>
                <a:cubicBezTo>
                  <a:pt x="4289552" y="0"/>
                  <a:pt x="4318000" y="28448"/>
                  <a:pt x="4318000" y="63500"/>
                </a:cubicBezTo>
                <a:lnTo>
                  <a:pt x="4318000" y="63500"/>
                </a:lnTo>
                <a:cubicBezTo>
                  <a:pt x="4318000" y="98552"/>
                  <a:pt x="4289552" y="127000"/>
                  <a:pt x="42545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pf-2"/>
          <p:cNvSpPr/>
          <p:nvPr/>
        </p:nvSpPr>
        <p:spPr>
          <a:xfrm>
            <a:off x="3556000" y="2184400"/>
            <a:ext cx="2504440" cy="127000"/>
          </a:xfrm>
          <a:custGeom>
            <a:avLst/>
            <a:gdLst/>
            <a:ahLst/>
            <a:cxnLst/>
            <a:rect l="0" t="0" r="r" b="b"/>
            <a:pathLst>
              <a:path w="2504440" h="127000">
                <a:moveTo>
                  <a:pt x="63500" y="0"/>
                </a:moveTo>
                <a:lnTo>
                  <a:pt x="2440940" y="0"/>
                </a:lnTo>
                <a:cubicBezTo>
                  <a:pt x="2475992" y="0"/>
                  <a:pt x="2504440" y="28448"/>
                  <a:pt x="2504440" y="63500"/>
                </a:cubicBezTo>
                <a:lnTo>
                  <a:pt x="2504440" y="63500"/>
                </a:lnTo>
                <a:cubicBezTo>
                  <a:pt x="2504440" y="98552"/>
                  <a:pt x="2475992" y="127000"/>
                  <a:pt x="244094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E99B75"/>
              </a:gs>
              <a:gs pos="100000">
                <a:srgbClr val="E0703A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33" name="pl-2"/>
          <p:cNvCxnSpPr/>
          <p:nvPr/>
        </p:nvCxnSpPr>
        <p:spPr>
          <a:xfrm>
            <a:off x="6578600" y="2139950"/>
            <a:ext cx="0" cy="215900"/>
          </a:xfrm>
          <a:prstGeom prst="line">
            <a:avLst/>
          </a:prstGeom>
          <a:ln w="16510" cap="rnd">
            <a:solidFill>
              <a:srgbClr val="0B2545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pv-2"/>
          <p:cNvSpPr txBox="1"/>
          <p:nvPr/>
        </p:nvSpPr>
        <p:spPr>
          <a:xfrm>
            <a:off x="5765546" y="21762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58%</a:t>
            </a:r>
          </a:p>
        </p:txBody>
      </p:sp>
      <p:sp>
        <p:nvSpPr>
          <p:cNvPr id="35" name="dv-2"/>
          <p:cNvSpPr txBox="1"/>
          <p:nvPr/>
        </p:nvSpPr>
        <p:spPr>
          <a:xfrm>
            <a:off x="8298053" y="2151190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-12</a:t>
            </a:r>
          </a:p>
        </p:txBody>
      </p:sp>
      <p:sp>
        <p:nvSpPr>
          <p:cNvPr id="36" name="bd-2"/>
          <p:cNvSpPr txBox="1"/>
          <p:nvPr/>
        </p:nvSpPr>
        <p:spPr>
          <a:xfrm>
            <a:off x="9195244" y="215903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74%</a:t>
            </a:r>
          </a:p>
        </p:txBody>
      </p:sp>
      <p:sp>
        <p:nvSpPr>
          <p:cNvPr id="37" name="st-2"/>
          <p:cNvSpPr/>
          <p:nvPr/>
        </p:nvSpPr>
        <p:spPr>
          <a:xfrm>
            <a:off x="10344150" y="2178050"/>
            <a:ext cx="139700" cy="1397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stt-2"/>
          <p:cNvSpPr txBox="1"/>
          <p:nvPr/>
        </p:nvSpPr>
        <p:spPr>
          <a:xfrm>
            <a:off x="10542270" y="2168366"/>
            <a:ext cx="276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落后</a:t>
            </a:r>
          </a:p>
        </p:txBody>
      </p:sp>
      <p:sp>
        <p:nvSpPr>
          <p:cNvPr id="39" name="band-3"/>
          <p:cNvSpPr/>
          <p:nvPr/>
        </p:nvSpPr>
        <p:spPr>
          <a:xfrm>
            <a:off x="889000" y="2476500"/>
            <a:ext cx="10414000" cy="368300"/>
          </a:xfrm>
          <a:custGeom>
            <a:avLst/>
            <a:gdLst/>
            <a:ahLst/>
            <a:cxnLst/>
            <a:rect l="0" t="0" r="r" b="b"/>
            <a:pathLst>
              <a:path w="10414000" h="368300">
                <a:moveTo>
                  <a:pt x="88900" y="0"/>
                </a:moveTo>
                <a:lnTo>
                  <a:pt x="10325100" y="0"/>
                </a:lnTo>
                <a:cubicBezTo>
                  <a:pt x="10374186" y="0"/>
                  <a:pt x="10414000" y="39814"/>
                  <a:pt x="10414000" y="88900"/>
                </a:cubicBezTo>
                <a:lnTo>
                  <a:pt x="10414000" y="279400"/>
                </a:lnTo>
                <a:cubicBezTo>
                  <a:pt x="10414000" y="328486"/>
                  <a:pt x="10374186" y="368300"/>
                  <a:pt x="10325100" y="368300"/>
                </a:cubicBezTo>
                <a:lnTo>
                  <a:pt x="88900" y="368300"/>
                </a:lnTo>
                <a:cubicBezTo>
                  <a:pt x="39815" y="368300"/>
                  <a:pt x="0" y="328486"/>
                  <a:pt x="0" y="2794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1F6FC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no-3"/>
          <p:cNvSpPr txBox="1"/>
          <p:nvPr/>
        </p:nvSpPr>
        <p:spPr>
          <a:xfrm>
            <a:off x="1004570" y="25811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41" name="nm-3"/>
          <p:cNvSpPr txBox="1"/>
          <p:nvPr/>
        </p:nvSpPr>
        <p:spPr>
          <a:xfrm>
            <a:off x="1255522" y="2549747"/>
            <a:ext cx="902081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新品 X3 上市</a:t>
            </a:r>
          </a:p>
        </p:txBody>
      </p:sp>
      <p:sp>
        <p:nvSpPr>
          <p:cNvPr id="42" name="ow-3"/>
          <p:cNvSpPr txBox="1"/>
          <p:nvPr/>
        </p:nvSpPr>
        <p:spPr>
          <a:xfrm>
            <a:off x="2781808" y="2573274"/>
            <a:ext cx="405765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产品部</a:t>
            </a:r>
          </a:p>
        </p:txBody>
      </p:sp>
      <p:sp>
        <p:nvSpPr>
          <p:cNvPr id="43" name="pb-3"/>
          <p:cNvSpPr/>
          <p:nvPr/>
        </p:nvSpPr>
        <p:spPr>
          <a:xfrm>
            <a:off x="3556000" y="2590800"/>
            <a:ext cx="4318000" cy="127000"/>
          </a:xfrm>
          <a:custGeom>
            <a:avLst/>
            <a:gdLst/>
            <a:ahLst/>
            <a:cxnLst/>
            <a:rect l="0" t="0" r="r" b="b"/>
            <a:pathLst>
              <a:path w="4318000" h="127000">
                <a:moveTo>
                  <a:pt x="63500" y="0"/>
                </a:moveTo>
                <a:lnTo>
                  <a:pt x="4254500" y="0"/>
                </a:lnTo>
                <a:cubicBezTo>
                  <a:pt x="4289552" y="0"/>
                  <a:pt x="4318000" y="28448"/>
                  <a:pt x="4318000" y="63500"/>
                </a:cubicBezTo>
                <a:lnTo>
                  <a:pt x="4318000" y="63500"/>
                </a:lnTo>
                <a:cubicBezTo>
                  <a:pt x="4318000" y="98552"/>
                  <a:pt x="4289552" y="127000"/>
                  <a:pt x="42545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pf-3"/>
          <p:cNvSpPr/>
          <p:nvPr/>
        </p:nvSpPr>
        <p:spPr>
          <a:xfrm>
            <a:off x="3556000" y="2590800"/>
            <a:ext cx="3972560" cy="127000"/>
          </a:xfrm>
          <a:custGeom>
            <a:avLst/>
            <a:gdLst/>
            <a:ahLst/>
            <a:cxnLst/>
            <a:rect l="0" t="0" r="r" b="b"/>
            <a:pathLst>
              <a:path w="3972560" h="127000">
                <a:moveTo>
                  <a:pt x="63500" y="0"/>
                </a:moveTo>
                <a:lnTo>
                  <a:pt x="3909060" y="0"/>
                </a:lnTo>
                <a:cubicBezTo>
                  <a:pt x="3944112" y="0"/>
                  <a:pt x="3972560" y="28448"/>
                  <a:pt x="3972560" y="63500"/>
                </a:cubicBezTo>
                <a:lnTo>
                  <a:pt x="3972560" y="63500"/>
                </a:lnTo>
                <a:cubicBezTo>
                  <a:pt x="3972560" y="98552"/>
                  <a:pt x="3944112" y="127000"/>
                  <a:pt x="390906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5A82BA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45" name="pl-3"/>
          <p:cNvCxnSpPr/>
          <p:nvPr/>
        </p:nvCxnSpPr>
        <p:spPr>
          <a:xfrm>
            <a:off x="7442200" y="2546350"/>
            <a:ext cx="0" cy="215900"/>
          </a:xfrm>
          <a:prstGeom prst="line">
            <a:avLst/>
          </a:prstGeom>
          <a:ln w="16510" cap="rnd">
            <a:solidFill>
              <a:srgbClr val="0B2545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pv-3"/>
          <p:cNvSpPr txBox="1"/>
          <p:nvPr/>
        </p:nvSpPr>
        <p:spPr>
          <a:xfrm>
            <a:off x="7233666" y="25826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92%</a:t>
            </a:r>
          </a:p>
        </p:txBody>
      </p:sp>
      <p:sp>
        <p:nvSpPr>
          <p:cNvPr id="47" name="dv-3"/>
          <p:cNvSpPr txBox="1"/>
          <p:nvPr/>
        </p:nvSpPr>
        <p:spPr>
          <a:xfrm>
            <a:off x="8330057" y="255759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+2</a:t>
            </a:r>
          </a:p>
        </p:txBody>
      </p:sp>
      <p:sp>
        <p:nvSpPr>
          <p:cNvPr id="48" name="bd-3"/>
          <p:cNvSpPr txBox="1"/>
          <p:nvPr/>
        </p:nvSpPr>
        <p:spPr>
          <a:xfrm>
            <a:off x="9195244" y="256543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88%</a:t>
            </a:r>
          </a:p>
        </p:txBody>
      </p:sp>
      <p:sp>
        <p:nvSpPr>
          <p:cNvPr id="49" name="st-3"/>
          <p:cNvSpPr/>
          <p:nvPr/>
        </p:nvSpPr>
        <p:spPr>
          <a:xfrm>
            <a:off x="10344150" y="2584450"/>
            <a:ext cx="139700" cy="1397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stt-3"/>
          <p:cNvSpPr txBox="1"/>
          <p:nvPr/>
        </p:nvSpPr>
        <p:spPr>
          <a:xfrm>
            <a:off x="10542270" y="2574766"/>
            <a:ext cx="276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正常</a:t>
            </a:r>
          </a:p>
        </p:txBody>
      </p:sp>
      <p:sp>
        <p:nvSpPr>
          <p:cNvPr id="51" name="no-4"/>
          <p:cNvSpPr txBox="1"/>
          <p:nvPr/>
        </p:nvSpPr>
        <p:spPr>
          <a:xfrm>
            <a:off x="1004570" y="29875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52" name="nm-4"/>
          <p:cNvSpPr txBox="1"/>
          <p:nvPr/>
        </p:nvSpPr>
        <p:spPr>
          <a:xfrm>
            <a:off x="1255522" y="2956147"/>
            <a:ext cx="902081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CRM 系统升级</a:t>
            </a:r>
          </a:p>
        </p:txBody>
      </p:sp>
      <p:sp>
        <p:nvSpPr>
          <p:cNvPr id="53" name="ow-4"/>
          <p:cNvSpPr txBox="1"/>
          <p:nvPr/>
        </p:nvSpPr>
        <p:spPr>
          <a:xfrm>
            <a:off x="2781808" y="2979674"/>
            <a:ext cx="405765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销售部</a:t>
            </a:r>
          </a:p>
        </p:txBody>
      </p:sp>
      <p:sp>
        <p:nvSpPr>
          <p:cNvPr id="54" name="pb-4"/>
          <p:cNvSpPr/>
          <p:nvPr/>
        </p:nvSpPr>
        <p:spPr>
          <a:xfrm>
            <a:off x="3556000" y="2997200"/>
            <a:ext cx="4318000" cy="127000"/>
          </a:xfrm>
          <a:custGeom>
            <a:avLst/>
            <a:gdLst/>
            <a:ahLst/>
            <a:cxnLst/>
            <a:rect l="0" t="0" r="r" b="b"/>
            <a:pathLst>
              <a:path w="4318000" h="127000">
                <a:moveTo>
                  <a:pt x="63500" y="0"/>
                </a:moveTo>
                <a:lnTo>
                  <a:pt x="4254500" y="0"/>
                </a:lnTo>
                <a:cubicBezTo>
                  <a:pt x="4289552" y="0"/>
                  <a:pt x="4318000" y="28448"/>
                  <a:pt x="4318000" y="63500"/>
                </a:cubicBezTo>
                <a:lnTo>
                  <a:pt x="4318000" y="63500"/>
                </a:lnTo>
                <a:cubicBezTo>
                  <a:pt x="4318000" y="98552"/>
                  <a:pt x="4289552" y="127000"/>
                  <a:pt x="42545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pf-4"/>
          <p:cNvSpPr/>
          <p:nvPr/>
        </p:nvSpPr>
        <p:spPr>
          <a:xfrm>
            <a:off x="3556000" y="2997200"/>
            <a:ext cx="2633980" cy="127000"/>
          </a:xfrm>
          <a:custGeom>
            <a:avLst/>
            <a:gdLst/>
            <a:ahLst/>
            <a:cxnLst/>
            <a:rect l="0" t="0" r="r" b="b"/>
            <a:pathLst>
              <a:path w="2633980" h="127000">
                <a:moveTo>
                  <a:pt x="63500" y="0"/>
                </a:moveTo>
                <a:lnTo>
                  <a:pt x="2570480" y="0"/>
                </a:lnTo>
                <a:cubicBezTo>
                  <a:pt x="2605532" y="0"/>
                  <a:pt x="2633980" y="28448"/>
                  <a:pt x="2633980" y="63500"/>
                </a:cubicBezTo>
                <a:lnTo>
                  <a:pt x="2633980" y="63500"/>
                </a:lnTo>
                <a:cubicBezTo>
                  <a:pt x="2633980" y="98552"/>
                  <a:pt x="2605532" y="127000"/>
                  <a:pt x="257048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5A82BA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56" name="pl-4"/>
          <p:cNvCxnSpPr/>
          <p:nvPr/>
        </p:nvCxnSpPr>
        <p:spPr>
          <a:xfrm>
            <a:off x="6146800" y="2952750"/>
            <a:ext cx="0" cy="215900"/>
          </a:xfrm>
          <a:prstGeom prst="line">
            <a:avLst/>
          </a:prstGeom>
          <a:ln w="16510" cap="rnd">
            <a:solidFill>
              <a:srgbClr val="0B2545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7" name="pv-4"/>
          <p:cNvSpPr txBox="1"/>
          <p:nvPr/>
        </p:nvSpPr>
        <p:spPr>
          <a:xfrm>
            <a:off x="5895086" y="29890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61%</a:t>
            </a:r>
          </a:p>
        </p:txBody>
      </p:sp>
      <p:sp>
        <p:nvSpPr>
          <p:cNvPr id="58" name="dv-4"/>
          <p:cNvSpPr txBox="1"/>
          <p:nvPr/>
        </p:nvSpPr>
        <p:spPr>
          <a:xfrm>
            <a:off x="8330057" y="296399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+1</a:t>
            </a:r>
          </a:p>
        </p:txBody>
      </p:sp>
      <p:sp>
        <p:nvSpPr>
          <p:cNvPr id="59" name="bd-4"/>
          <p:cNvSpPr txBox="1"/>
          <p:nvPr/>
        </p:nvSpPr>
        <p:spPr>
          <a:xfrm>
            <a:off x="9195244" y="297183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55%</a:t>
            </a:r>
          </a:p>
        </p:txBody>
      </p:sp>
      <p:sp>
        <p:nvSpPr>
          <p:cNvPr id="60" name="st-4"/>
          <p:cNvSpPr/>
          <p:nvPr/>
        </p:nvSpPr>
        <p:spPr>
          <a:xfrm>
            <a:off x="10344150" y="2990850"/>
            <a:ext cx="139700" cy="1397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stt-4"/>
          <p:cNvSpPr txBox="1"/>
          <p:nvPr/>
        </p:nvSpPr>
        <p:spPr>
          <a:xfrm>
            <a:off x="10542270" y="2981166"/>
            <a:ext cx="276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正常</a:t>
            </a:r>
          </a:p>
        </p:txBody>
      </p:sp>
      <p:sp>
        <p:nvSpPr>
          <p:cNvPr id="62" name="band-5"/>
          <p:cNvSpPr/>
          <p:nvPr/>
        </p:nvSpPr>
        <p:spPr>
          <a:xfrm>
            <a:off x="889000" y="3289300"/>
            <a:ext cx="10414000" cy="368300"/>
          </a:xfrm>
          <a:custGeom>
            <a:avLst/>
            <a:gdLst/>
            <a:ahLst/>
            <a:cxnLst/>
            <a:rect l="0" t="0" r="r" b="b"/>
            <a:pathLst>
              <a:path w="10414000" h="368300">
                <a:moveTo>
                  <a:pt x="88900" y="0"/>
                </a:moveTo>
                <a:lnTo>
                  <a:pt x="10325100" y="0"/>
                </a:lnTo>
                <a:cubicBezTo>
                  <a:pt x="10374186" y="0"/>
                  <a:pt x="10414000" y="39814"/>
                  <a:pt x="10414000" y="88900"/>
                </a:cubicBezTo>
                <a:lnTo>
                  <a:pt x="10414000" y="279400"/>
                </a:lnTo>
                <a:cubicBezTo>
                  <a:pt x="10414000" y="328486"/>
                  <a:pt x="10374186" y="368300"/>
                  <a:pt x="10325100" y="368300"/>
                </a:cubicBezTo>
                <a:lnTo>
                  <a:pt x="88900" y="368300"/>
                </a:lnTo>
                <a:cubicBezTo>
                  <a:pt x="39815" y="368300"/>
                  <a:pt x="0" y="328486"/>
                  <a:pt x="0" y="2794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1F6FC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no-5"/>
          <p:cNvSpPr txBox="1"/>
          <p:nvPr/>
        </p:nvSpPr>
        <p:spPr>
          <a:xfrm>
            <a:off x="1004570" y="33939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64" name="nm-5"/>
          <p:cNvSpPr txBox="1"/>
          <p:nvPr/>
        </p:nvSpPr>
        <p:spPr>
          <a:xfrm>
            <a:off x="1255522" y="3362547"/>
            <a:ext cx="7372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海外仓建设</a:t>
            </a:r>
          </a:p>
        </p:txBody>
      </p:sp>
      <p:sp>
        <p:nvSpPr>
          <p:cNvPr id="65" name="ow-5"/>
          <p:cNvSpPr txBox="1"/>
          <p:nvPr/>
        </p:nvSpPr>
        <p:spPr>
          <a:xfrm>
            <a:off x="2781808" y="3386074"/>
            <a:ext cx="405765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国际部</a:t>
            </a:r>
          </a:p>
        </p:txBody>
      </p:sp>
      <p:sp>
        <p:nvSpPr>
          <p:cNvPr id="66" name="pb-5"/>
          <p:cNvSpPr/>
          <p:nvPr/>
        </p:nvSpPr>
        <p:spPr>
          <a:xfrm>
            <a:off x="3556000" y="3403600"/>
            <a:ext cx="4318000" cy="127000"/>
          </a:xfrm>
          <a:custGeom>
            <a:avLst/>
            <a:gdLst/>
            <a:ahLst/>
            <a:cxnLst/>
            <a:rect l="0" t="0" r="r" b="b"/>
            <a:pathLst>
              <a:path w="4318000" h="127000">
                <a:moveTo>
                  <a:pt x="63500" y="0"/>
                </a:moveTo>
                <a:lnTo>
                  <a:pt x="4254500" y="0"/>
                </a:lnTo>
                <a:cubicBezTo>
                  <a:pt x="4289552" y="0"/>
                  <a:pt x="4318000" y="28448"/>
                  <a:pt x="4318000" y="63500"/>
                </a:cubicBezTo>
                <a:lnTo>
                  <a:pt x="4318000" y="63500"/>
                </a:lnTo>
                <a:cubicBezTo>
                  <a:pt x="4318000" y="98552"/>
                  <a:pt x="4289552" y="127000"/>
                  <a:pt x="42545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pf-5"/>
          <p:cNvSpPr/>
          <p:nvPr/>
        </p:nvSpPr>
        <p:spPr>
          <a:xfrm>
            <a:off x="3556000" y="3403600"/>
            <a:ext cx="1468120" cy="127000"/>
          </a:xfrm>
          <a:custGeom>
            <a:avLst/>
            <a:gdLst/>
            <a:ahLst/>
            <a:cxnLst/>
            <a:rect l="0" t="0" r="r" b="b"/>
            <a:pathLst>
              <a:path w="1468120" h="127000">
                <a:moveTo>
                  <a:pt x="63500" y="0"/>
                </a:moveTo>
                <a:lnTo>
                  <a:pt x="1404620" y="0"/>
                </a:lnTo>
                <a:cubicBezTo>
                  <a:pt x="1439672" y="0"/>
                  <a:pt x="1468120" y="28448"/>
                  <a:pt x="1468120" y="63500"/>
                </a:cubicBezTo>
                <a:lnTo>
                  <a:pt x="1468120" y="63500"/>
                </a:lnTo>
                <a:cubicBezTo>
                  <a:pt x="1468120" y="98552"/>
                  <a:pt x="1439672" y="127000"/>
                  <a:pt x="140462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E99B75"/>
              </a:gs>
              <a:gs pos="100000">
                <a:srgbClr val="E0703A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68" name="pl-5"/>
          <p:cNvCxnSpPr/>
          <p:nvPr/>
        </p:nvCxnSpPr>
        <p:spPr>
          <a:xfrm>
            <a:off x="5715000" y="3359150"/>
            <a:ext cx="0" cy="215900"/>
          </a:xfrm>
          <a:prstGeom prst="line">
            <a:avLst/>
          </a:prstGeom>
          <a:ln w="16510" cap="rnd">
            <a:solidFill>
              <a:srgbClr val="0B2545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9" name="pv-5"/>
          <p:cNvSpPr txBox="1"/>
          <p:nvPr/>
        </p:nvSpPr>
        <p:spPr>
          <a:xfrm>
            <a:off x="4729226" y="33954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34%</a:t>
            </a:r>
          </a:p>
        </p:txBody>
      </p:sp>
      <p:sp>
        <p:nvSpPr>
          <p:cNvPr id="70" name="dv-5"/>
          <p:cNvSpPr txBox="1"/>
          <p:nvPr/>
        </p:nvSpPr>
        <p:spPr>
          <a:xfrm>
            <a:off x="8298053" y="3370390"/>
            <a:ext cx="2948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-16</a:t>
            </a:r>
          </a:p>
        </p:txBody>
      </p:sp>
      <p:sp>
        <p:nvSpPr>
          <p:cNvPr id="71" name="bd-5"/>
          <p:cNvSpPr txBox="1"/>
          <p:nvPr/>
        </p:nvSpPr>
        <p:spPr>
          <a:xfrm>
            <a:off x="9195244" y="337823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62%</a:t>
            </a:r>
          </a:p>
        </p:txBody>
      </p:sp>
      <p:sp>
        <p:nvSpPr>
          <p:cNvPr id="72" name="st-5"/>
          <p:cNvSpPr/>
          <p:nvPr/>
        </p:nvSpPr>
        <p:spPr>
          <a:xfrm>
            <a:off x="10344150" y="3397250"/>
            <a:ext cx="139700" cy="1397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stt-5"/>
          <p:cNvSpPr txBox="1"/>
          <p:nvPr/>
        </p:nvSpPr>
        <p:spPr>
          <a:xfrm>
            <a:off x="10542270" y="3387566"/>
            <a:ext cx="276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落后</a:t>
            </a:r>
          </a:p>
        </p:txBody>
      </p:sp>
      <p:sp>
        <p:nvSpPr>
          <p:cNvPr id="74" name="no-6"/>
          <p:cNvSpPr txBox="1"/>
          <p:nvPr/>
        </p:nvSpPr>
        <p:spPr>
          <a:xfrm>
            <a:off x="1004570" y="38003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06</a:t>
            </a:r>
          </a:p>
        </p:txBody>
      </p:sp>
      <p:sp>
        <p:nvSpPr>
          <p:cNvPr id="75" name="nm-6"/>
          <p:cNvSpPr txBox="1"/>
          <p:nvPr/>
        </p:nvSpPr>
        <p:spPr>
          <a:xfrm>
            <a:off x="1255522" y="3768947"/>
            <a:ext cx="7372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供应商整合</a:t>
            </a:r>
          </a:p>
        </p:txBody>
      </p:sp>
      <p:sp>
        <p:nvSpPr>
          <p:cNvPr id="76" name="ow-6"/>
          <p:cNvSpPr txBox="1"/>
          <p:nvPr/>
        </p:nvSpPr>
        <p:spPr>
          <a:xfrm>
            <a:off x="2781808" y="3792474"/>
            <a:ext cx="405765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采购部</a:t>
            </a:r>
          </a:p>
        </p:txBody>
      </p:sp>
      <p:sp>
        <p:nvSpPr>
          <p:cNvPr id="77" name="pb-6"/>
          <p:cNvSpPr/>
          <p:nvPr/>
        </p:nvSpPr>
        <p:spPr>
          <a:xfrm>
            <a:off x="3556000" y="3810000"/>
            <a:ext cx="4318000" cy="127000"/>
          </a:xfrm>
          <a:custGeom>
            <a:avLst/>
            <a:gdLst/>
            <a:ahLst/>
            <a:cxnLst/>
            <a:rect l="0" t="0" r="r" b="b"/>
            <a:pathLst>
              <a:path w="4318000" h="127000">
                <a:moveTo>
                  <a:pt x="63500" y="0"/>
                </a:moveTo>
                <a:lnTo>
                  <a:pt x="4254500" y="0"/>
                </a:lnTo>
                <a:cubicBezTo>
                  <a:pt x="4289552" y="0"/>
                  <a:pt x="4318000" y="28448"/>
                  <a:pt x="4318000" y="63500"/>
                </a:cubicBezTo>
                <a:lnTo>
                  <a:pt x="4318000" y="63500"/>
                </a:lnTo>
                <a:cubicBezTo>
                  <a:pt x="4318000" y="98552"/>
                  <a:pt x="4289552" y="127000"/>
                  <a:pt x="42545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pf-6"/>
          <p:cNvSpPr/>
          <p:nvPr/>
        </p:nvSpPr>
        <p:spPr>
          <a:xfrm>
            <a:off x="3556000" y="3810000"/>
            <a:ext cx="3324860" cy="127000"/>
          </a:xfrm>
          <a:custGeom>
            <a:avLst/>
            <a:gdLst/>
            <a:ahLst/>
            <a:cxnLst/>
            <a:rect l="0" t="0" r="r" b="b"/>
            <a:pathLst>
              <a:path w="3324860" h="127000">
                <a:moveTo>
                  <a:pt x="63500" y="0"/>
                </a:moveTo>
                <a:lnTo>
                  <a:pt x="3261360" y="0"/>
                </a:lnTo>
                <a:cubicBezTo>
                  <a:pt x="3296412" y="0"/>
                  <a:pt x="3324860" y="28448"/>
                  <a:pt x="3324860" y="63500"/>
                </a:cubicBezTo>
                <a:lnTo>
                  <a:pt x="3324860" y="63500"/>
                </a:lnTo>
                <a:cubicBezTo>
                  <a:pt x="3324860" y="98552"/>
                  <a:pt x="3296412" y="127000"/>
                  <a:pt x="326136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5A82BA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79" name="pl-6"/>
          <p:cNvCxnSpPr/>
          <p:nvPr/>
        </p:nvCxnSpPr>
        <p:spPr>
          <a:xfrm>
            <a:off x="6794500" y="3765550"/>
            <a:ext cx="0" cy="215900"/>
          </a:xfrm>
          <a:prstGeom prst="line">
            <a:avLst/>
          </a:prstGeom>
          <a:ln w="16510" cap="rnd">
            <a:solidFill>
              <a:srgbClr val="0B2545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0" name="pv-6"/>
          <p:cNvSpPr txBox="1"/>
          <p:nvPr/>
        </p:nvSpPr>
        <p:spPr>
          <a:xfrm>
            <a:off x="6585966" y="38018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77%</a:t>
            </a:r>
          </a:p>
        </p:txBody>
      </p:sp>
      <p:sp>
        <p:nvSpPr>
          <p:cNvPr id="81" name="dv-6"/>
          <p:cNvSpPr txBox="1"/>
          <p:nvPr/>
        </p:nvSpPr>
        <p:spPr>
          <a:xfrm>
            <a:off x="8330057" y="377679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+2</a:t>
            </a:r>
          </a:p>
        </p:txBody>
      </p:sp>
      <p:sp>
        <p:nvSpPr>
          <p:cNvPr id="82" name="bd-6"/>
          <p:cNvSpPr txBox="1"/>
          <p:nvPr/>
        </p:nvSpPr>
        <p:spPr>
          <a:xfrm>
            <a:off x="9195244" y="378463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70%</a:t>
            </a:r>
          </a:p>
        </p:txBody>
      </p:sp>
      <p:sp>
        <p:nvSpPr>
          <p:cNvPr id="83" name="st-6"/>
          <p:cNvSpPr/>
          <p:nvPr/>
        </p:nvSpPr>
        <p:spPr>
          <a:xfrm>
            <a:off x="10344150" y="3803650"/>
            <a:ext cx="139700" cy="1397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stt-6"/>
          <p:cNvSpPr txBox="1"/>
          <p:nvPr/>
        </p:nvSpPr>
        <p:spPr>
          <a:xfrm>
            <a:off x="10542270" y="3793966"/>
            <a:ext cx="276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正常</a:t>
            </a:r>
          </a:p>
        </p:txBody>
      </p:sp>
      <p:sp>
        <p:nvSpPr>
          <p:cNvPr id="85" name="band-7"/>
          <p:cNvSpPr/>
          <p:nvPr/>
        </p:nvSpPr>
        <p:spPr>
          <a:xfrm>
            <a:off x="889000" y="4102100"/>
            <a:ext cx="10414000" cy="368300"/>
          </a:xfrm>
          <a:custGeom>
            <a:avLst/>
            <a:gdLst/>
            <a:ahLst/>
            <a:cxnLst/>
            <a:rect l="0" t="0" r="r" b="b"/>
            <a:pathLst>
              <a:path w="10414000" h="368300">
                <a:moveTo>
                  <a:pt x="88900" y="0"/>
                </a:moveTo>
                <a:lnTo>
                  <a:pt x="10325100" y="0"/>
                </a:lnTo>
                <a:cubicBezTo>
                  <a:pt x="10374186" y="0"/>
                  <a:pt x="10414000" y="39814"/>
                  <a:pt x="10414000" y="88900"/>
                </a:cubicBezTo>
                <a:lnTo>
                  <a:pt x="10414000" y="279400"/>
                </a:lnTo>
                <a:cubicBezTo>
                  <a:pt x="10414000" y="328486"/>
                  <a:pt x="10374186" y="368300"/>
                  <a:pt x="10325100" y="368300"/>
                </a:cubicBezTo>
                <a:lnTo>
                  <a:pt x="88900" y="368300"/>
                </a:lnTo>
                <a:cubicBezTo>
                  <a:pt x="39815" y="368300"/>
                  <a:pt x="0" y="328486"/>
                  <a:pt x="0" y="2794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1F6FC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no-7"/>
          <p:cNvSpPr txBox="1"/>
          <p:nvPr/>
        </p:nvSpPr>
        <p:spPr>
          <a:xfrm>
            <a:off x="1004570" y="42067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07</a:t>
            </a:r>
          </a:p>
        </p:txBody>
      </p:sp>
      <p:sp>
        <p:nvSpPr>
          <p:cNvPr id="87" name="nm-7"/>
          <p:cNvSpPr txBox="1"/>
          <p:nvPr/>
        </p:nvSpPr>
        <p:spPr>
          <a:xfrm>
            <a:off x="1255522" y="4175347"/>
            <a:ext cx="86296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干部梯队计划</a:t>
            </a:r>
          </a:p>
        </p:txBody>
      </p:sp>
      <p:sp>
        <p:nvSpPr>
          <p:cNvPr id="88" name="ow-7"/>
          <p:cNvSpPr txBox="1"/>
          <p:nvPr/>
        </p:nvSpPr>
        <p:spPr>
          <a:xfrm>
            <a:off x="2781808" y="4198874"/>
            <a:ext cx="405765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人力部</a:t>
            </a:r>
          </a:p>
        </p:txBody>
      </p:sp>
      <p:sp>
        <p:nvSpPr>
          <p:cNvPr id="89" name="pb-7"/>
          <p:cNvSpPr/>
          <p:nvPr/>
        </p:nvSpPr>
        <p:spPr>
          <a:xfrm>
            <a:off x="3556000" y="4216400"/>
            <a:ext cx="4318000" cy="127000"/>
          </a:xfrm>
          <a:custGeom>
            <a:avLst/>
            <a:gdLst/>
            <a:ahLst/>
            <a:cxnLst/>
            <a:rect l="0" t="0" r="r" b="b"/>
            <a:pathLst>
              <a:path w="4318000" h="127000">
                <a:moveTo>
                  <a:pt x="63500" y="0"/>
                </a:moveTo>
                <a:lnTo>
                  <a:pt x="4254500" y="0"/>
                </a:lnTo>
                <a:cubicBezTo>
                  <a:pt x="4289552" y="0"/>
                  <a:pt x="4318000" y="28448"/>
                  <a:pt x="4318000" y="63500"/>
                </a:cubicBezTo>
                <a:lnTo>
                  <a:pt x="4318000" y="63500"/>
                </a:lnTo>
                <a:cubicBezTo>
                  <a:pt x="4318000" y="98552"/>
                  <a:pt x="4289552" y="127000"/>
                  <a:pt x="42545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pf-7"/>
          <p:cNvSpPr/>
          <p:nvPr/>
        </p:nvSpPr>
        <p:spPr>
          <a:xfrm>
            <a:off x="3556000" y="4216400"/>
            <a:ext cx="2849880" cy="127000"/>
          </a:xfrm>
          <a:custGeom>
            <a:avLst/>
            <a:gdLst/>
            <a:ahLst/>
            <a:cxnLst/>
            <a:rect l="0" t="0" r="r" b="b"/>
            <a:pathLst>
              <a:path w="2849880" h="127000">
                <a:moveTo>
                  <a:pt x="63500" y="0"/>
                </a:moveTo>
                <a:lnTo>
                  <a:pt x="2786380" y="0"/>
                </a:lnTo>
                <a:cubicBezTo>
                  <a:pt x="2821432" y="0"/>
                  <a:pt x="2849880" y="28448"/>
                  <a:pt x="2849880" y="63500"/>
                </a:cubicBezTo>
                <a:lnTo>
                  <a:pt x="2849880" y="63500"/>
                </a:lnTo>
                <a:cubicBezTo>
                  <a:pt x="2849880" y="98552"/>
                  <a:pt x="2821432" y="127000"/>
                  <a:pt x="278638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5A82BA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91" name="pl-7"/>
          <p:cNvCxnSpPr/>
          <p:nvPr/>
        </p:nvCxnSpPr>
        <p:spPr>
          <a:xfrm>
            <a:off x="6362700" y="4171950"/>
            <a:ext cx="0" cy="215900"/>
          </a:xfrm>
          <a:prstGeom prst="line">
            <a:avLst/>
          </a:prstGeom>
          <a:ln w="16510" cap="rnd">
            <a:solidFill>
              <a:srgbClr val="0B2545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2" name="pv-7"/>
          <p:cNvSpPr txBox="1"/>
          <p:nvPr/>
        </p:nvSpPr>
        <p:spPr>
          <a:xfrm>
            <a:off x="6110986" y="42082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66%</a:t>
            </a:r>
          </a:p>
        </p:txBody>
      </p:sp>
      <p:sp>
        <p:nvSpPr>
          <p:cNvPr id="93" name="dv-7"/>
          <p:cNvSpPr txBox="1"/>
          <p:nvPr/>
        </p:nvSpPr>
        <p:spPr>
          <a:xfrm>
            <a:off x="8330057" y="418319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+1</a:t>
            </a:r>
          </a:p>
        </p:txBody>
      </p:sp>
      <p:sp>
        <p:nvSpPr>
          <p:cNvPr id="94" name="bd-7"/>
          <p:cNvSpPr txBox="1"/>
          <p:nvPr/>
        </p:nvSpPr>
        <p:spPr>
          <a:xfrm>
            <a:off x="9195244" y="419103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60%</a:t>
            </a:r>
          </a:p>
        </p:txBody>
      </p:sp>
      <p:sp>
        <p:nvSpPr>
          <p:cNvPr id="95" name="st-7"/>
          <p:cNvSpPr/>
          <p:nvPr/>
        </p:nvSpPr>
        <p:spPr>
          <a:xfrm>
            <a:off x="10344150" y="4210050"/>
            <a:ext cx="139700" cy="1397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stt-7"/>
          <p:cNvSpPr txBox="1"/>
          <p:nvPr/>
        </p:nvSpPr>
        <p:spPr>
          <a:xfrm>
            <a:off x="10542270" y="4200366"/>
            <a:ext cx="276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正常</a:t>
            </a:r>
          </a:p>
        </p:txBody>
      </p:sp>
      <p:sp>
        <p:nvSpPr>
          <p:cNvPr id="97" name="no-8"/>
          <p:cNvSpPr txBox="1"/>
          <p:nvPr/>
        </p:nvSpPr>
        <p:spPr>
          <a:xfrm>
            <a:off x="1004570" y="46131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08</a:t>
            </a:r>
          </a:p>
        </p:txBody>
      </p:sp>
      <p:sp>
        <p:nvSpPr>
          <p:cNvPr id="98" name="nm-8"/>
          <p:cNvSpPr txBox="1"/>
          <p:nvPr/>
        </p:nvSpPr>
        <p:spPr>
          <a:xfrm>
            <a:off x="1255522" y="4581747"/>
            <a:ext cx="86296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质量追溯系统</a:t>
            </a:r>
          </a:p>
        </p:txBody>
      </p:sp>
      <p:sp>
        <p:nvSpPr>
          <p:cNvPr id="99" name="ow-8"/>
          <p:cNvSpPr txBox="1"/>
          <p:nvPr/>
        </p:nvSpPr>
        <p:spPr>
          <a:xfrm>
            <a:off x="2781808" y="4605274"/>
            <a:ext cx="405765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质量部</a:t>
            </a:r>
          </a:p>
        </p:txBody>
      </p:sp>
      <p:sp>
        <p:nvSpPr>
          <p:cNvPr id="100" name="pb-8"/>
          <p:cNvSpPr/>
          <p:nvPr/>
        </p:nvSpPr>
        <p:spPr>
          <a:xfrm>
            <a:off x="3556000" y="4622800"/>
            <a:ext cx="4318000" cy="127000"/>
          </a:xfrm>
          <a:custGeom>
            <a:avLst/>
            <a:gdLst/>
            <a:ahLst/>
            <a:cxnLst/>
            <a:rect l="0" t="0" r="r" b="b"/>
            <a:pathLst>
              <a:path w="4318000" h="127000">
                <a:moveTo>
                  <a:pt x="63500" y="0"/>
                </a:moveTo>
                <a:lnTo>
                  <a:pt x="4254500" y="0"/>
                </a:lnTo>
                <a:cubicBezTo>
                  <a:pt x="4289552" y="0"/>
                  <a:pt x="4318000" y="28448"/>
                  <a:pt x="4318000" y="63500"/>
                </a:cubicBezTo>
                <a:lnTo>
                  <a:pt x="4318000" y="63500"/>
                </a:lnTo>
                <a:cubicBezTo>
                  <a:pt x="4318000" y="98552"/>
                  <a:pt x="4289552" y="127000"/>
                  <a:pt x="42545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pf-8"/>
          <p:cNvSpPr/>
          <p:nvPr/>
        </p:nvSpPr>
        <p:spPr>
          <a:xfrm>
            <a:off x="3556000" y="4622800"/>
            <a:ext cx="2159000" cy="127000"/>
          </a:xfrm>
          <a:custGeom>
            <a:avLst/>
            <a:gdLst/>
            <a:ahLst/>
            <a:cxnLst/>
            <a:rect l="0" t="0" r="r" b="b"/>
            <a:pathLst>
              <a:path w="2159000" h="127000">
                <a:moveTo>
                  <a:pt x="63500" y="0"/>
                </a:moveTo>
                <a:lnTo>
                  <a:pt x="2095500" y="0"/>
                </a:lnTo>
                <a:cubicBezTo>
                  <a:pt x="2130552" y="0"/>
                  <a:pt x="2159000" y="28448"/>
                  <a:pt x="2159000" y="63500"/>
                </a:cubicBezTo>
                <a:lnTo>
                  <a:pt x="2159000" y="63500"/>
                </a:lnTo>
                <a:cubicBezTo>
                  <a:pt x="2159000" y="98552"/>
                  <a:pt x="2130552" y="127000"/>
                  <a:pt x="20955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E4B66B"/>
              </a:gs>
              <a:gs pos="100000">
                <a:srgbClr val="D9962B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02" name="pl-8"/>
          <p:cNvCxnSpPr/>
          <p:nvPr/>
        </p:nvCxnSpPr>
        <p:spPr>
          <a:xfrm>
            <a:off x="5930900" y="4578350"/>
            <a:ext cx="0" cy="215900"/>
          </a:xfrm>
          <a:prstGeom prst="line">
            <a:avLst/>
          </a:prstGeom>
          <a:ln w="16510" cap="rnd">
            <a:solidFill>
              <a:srgbClr val="0B2545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3" name="pv-8"/>
          <p:cNvSpPr txBox="1"/>
          <p:nvPr/>
        </p:nvSpPr>
        <p:spPr>
          <a:xfrm>
            <a:off x="5420106" y="46146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50%</a:t>
            </a:r>
          </a:p>
        </p:txBody>
      </p:sp>
      <p:sp>
        <p:nvSpPr>
          <p:cNvPr id="104" name="dv-8"/>
          <p:cNvSpPr txBox="1"/>
          <p:nvPr/>
        </p:nvSpPr>
        <p:spPr>
          <a:xfrm>
            <a:off x="8330057" y="458959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D9962B"/>
                </a:solidFill>
                <a:latin typeface="Arial"/>
                <a:ea typeface="Arial"/>
                <a:cs typeface="Arial"/>
              </a:rPr>
              <a:t>-5</a:t>
            </a:r>
          </a:p>
        </p:txBody>
      </p:sp>
      <p:sp>
        <p:nvSpPr>
          <p:cNvPr id="105" name="bd-8"/>
          <p:cNvSpPr txBox="1"/>
          <p:nvPr/>
        </p:nvSpPr>
        <p:spPr>
          <a:xfrm>
            <a:off x="9195244" y="459743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52%</a:t>
            </a:r>
          </a:p>
        </p:txBody>
      </p:sp>
      <p:sp>
        <p:nvSpPr>
          <p:cNvPr id="106" name="st-8"/>
          <p:cNvSpPr/>
          <p:nvPr/>
        </p:nvSpPr>
        <p:spPr>
          <a:xfrm>
            <a:off x="10344150" y="4616450"/>
            <a:ext cx="139700" cy="139700"/>
          </a:xfrm>
          <a:prstGeom prst="ellipse">
            <a:avLst/>
          </a:prstGeom>
          <a:solidFill>
            <a:srgbClr val="D9962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7" name="stt-8"/>
          <p:cNvSpPr txBox="1"/>
          <p:nvPr/>
        </p:nvSpPr>
        <p:spPr>
          <a:xfrm>
            <a:off x="10542270" y="4606766"/>
            <a:ext cx="276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D9962B"/>
                </a:solidFill>
                <a:latin typeface="微软雅黑"/>
                <a:ea typeface="微软雅黑"/>
                <a:cs typeface="微软雅黑"/>
              </a:rPr>
              <a:t>关注</a:t>
            </a:r>
          </a:p>
        </p:txBody>
      </p:sp>
      <p:sp>
        <p:nvSpPr>
          <p:cNvPr id="108" name="band-9"/>
          <p:cNvSpPr/>
          <p:nvPr/>
        </p:nvSpPr>
        <p:spPr>
          <a:xfrm>
            <a:off x="889000" y="4914900"/>
            <a:ext cx="10414000" cy="368300"/>
          </a:xfrm>
          <a:custGeom>
            <a:avLst/>
            <a:gdLst/>
            <a:ahLst/>
            <a:cxnLst/>
            <a:rect l="0" t="0" r="r" b="b"/>
            <a:pathLst>
              <a:path w="10414000" h="368300">
                <a:moveTo>
                  <a:pt x="88900" y="0"/>
                </a:moveTo>
                <a:lnTo>
                  <a:pt x="10325100" y="0"/>
                </a:lnTo>
                <a:cubicBezTo>
                  <a:pt x="10374186" y="0"/>
                  <a:pt x="10414000" y="39814"/>
                  <a:pt x="10414000" y="88900"/>
                </a:cubicBezTo>
                <a:lnTo>
                  <a:pt x="10414000" y="279400"/>
                </a:lnTo>
                <a:cubicBezTo>
                  <a:pt x="10414000" y="328486"/>
                  <a:pt x="10374186" y="368300"/>
                  <a:pt x="10325100" y="368300"/>
                </a:cubicBezTo>
                <a:lnTo>
                  <a:pt x="88900" y="368300"/>
                </a:lnTo>
                <a:cubicBezTo>
                  <a:pt x="39815" y="368300"/>
                  <a:pt x="0" y="328486"/>
                  <a:pt x="0" y="2794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1F6FC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no-9"/>
          <p:cNvSpPr txBox="1"/>
          <p:nvPr/>
        </p:nvSpPr>
        <p:spPr>
          <a:xfrm>
            <a:off x="1004570" y="50195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09</a:t>
            </a:r>
          </a:p>
        </p:txBody>
      </p:sp>
      <p:sp>
        <p:nvSpPr>
          <p:cNvPr id="110" name="nm-9"/>
          <p:cNvSpPr txBox="1"/>
          <p:nvPr/>
        </p:nvSpPr>
        <p:spPr>
          <a:xfrm>
            <a:off x="1255522" y="4988147"/>
            <a:ext cx="61150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品牌焕新</a:t>
            </a:r>
          </a:p>
        </p:txBody>
      </p:sp>
      <p:sp>
        <p:nvSpPr>
          <p:cNvPr id="111" name="ow-9"/>
          <p:cNvSpPr txBox="1"/>
          <p:nvPr/>
        </p:nvSpPr>
        <p:spPr>
          <a:xfrm>
            <a:off x="2781808" y="5011674"/>
            <a:ext cx="405765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市场部</a:t>
            </a:r>
          </a:p>
        </p:txBody>
      </p:sp>
      <p:sp>
        <p:nvSpPr>
          <p:cNvPr id="112" name="pb-9"/>
          <p:cNvSpPr/>
          <p:nvPr/>
        </p:nvSpPr>
        <p:spPr>
          <a:xfrm>
            <a:off x="3556000" y="5029200"/>
            <a:ext cx="4318000" cy="127000"/>
          </a:xfrm>
          <a:custGeom>
            <a:avLst/>
            <a:gdLst/>
            <a:ahLst/>
            <a:cxnLst/>
            <a:rect l="0" t="0" r="r" b="b"/>
            <a:pathLst>
              <a:path w="4318000" h="127000">
                <a:moveTo>
                  <a:pt x="63500" y="0"/>
                </a:moveTo>
                <a:lnTo>
                  <a:pt x="4254500" y="0"/>
                </a:lnTo>
                <a:cubicBezTo>
                  <a:pt x="4289552" y="0"/>
                  <a:pt x="4318000" y="28448"/>
                  <a:pt x="4318000" y="63500"/>
                </a:cubicBezTo>
                <a:lnTo>
                  <a:pt x="4318000" y="63500"/>
                </a:lnTo>
                <a:cubicBezTo>
                  <a:pt x="4318000" y="98552"/>
                  <a:pt x="4289552" y="127000"/>
                  <a:pt x="42545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3" name="pf-9"/>
          <p:cNvSpPr/>
          <p:nvPr/>
        </p:nvSpPr>
        <p:spPr>
          <a:xfrm>
            <a:off x="3556000" y="5029200"/>
            <a:ext cx="3799840" cy="127000"/>
          </a:xfrm>
          <a:custGeom>
            <a:avLst/>
            <a:gdLst/>
            <a:ahLst/>
            <a:cxnLst/>
            <a:rect l="0" t="0" r="r" b="b"/>
            <a:pathLst>
              <a:path w="3799840" h="127000">
                <a:moveTo>
                  <a:pt x="63500" y="0"/>
                </a:moveTo>
                <a:lnTo>
                  <a:pt x="3736340" y="0"/>
                </a:lnTo>
                <a:cubicBezTo>
                  <a:pt x="3771392" y="0"/>
                  <a:pt x="3799840" y="28448"/>
                  <a:pt x="3799840" y="63500"/>
                </a:cubicBezTo>
                <a:lnTo>
                  <a:pt x="3799840" y="63500"/>
                </a:lnTo>
                <a:cubicBezTo>
                  <a:pt x="3799840" y="98552"/>
                  <a:pt x="3771392" y="127000"/>
                  <a:pt x="373634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5A82BA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14" name="pl-9"/>
          <p:cNvCxnSpPr/>
          <p:nvPr/>
        </p:nvCxnSpPr>
        <p:spPr>
          <a:xfrm>
            <a:off x="7226300" y="4984750"/>
            <a:ext cx="0" cy="215900"/>
          </a:xfrm>
          <a:prstGeom prst="line">
            <a:avLst/>
          </a:prstGeom>
          <a:ln w="16510" cap="rnd">
            <a:solidFill>
              <a:srgbClr val="0B2545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5" name="pv-9"/>
          <p:cNvSpPr txBox="1"/>
          <p:nvPr/>
        </p:nvSpPr>
        <p:spPr>
          <a:xfrm>
            <a:off x="7060946" y="50210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88%</a:t>
            </a:r>
          </a:p>
        </p:txBody>
      </p:sp>
      <p:sp>
        <p:nvSpPr>
          <p:cNvPr id="116" name="dv-9"/>
          <p:cNvSpPr txBox="1"/>
          <p:nvPr/>
        </p:nvSpPr>
        <p:spPr>
          <a:xfrm>
            <a:off x="8330057" y="499599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+3</a:t>
            </a:r>
          </a:p>
        </p:txBody>
      </p:sp>
      <p:sp>
        <p:nvSpPr>
          <p:cNvPr id="117" name="bd-9"/>
          <p:cNvSpPr txBox="1"/>
          <p:nvPr/>
        </p:nvSpPr>
        <p:spPr>
          <a:xfrm>
            <a:off x="9195244" y="500383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90%</a:t>
            </a:r>
          </a:p>
        </p:txBody>
      </p:sp>
      <p:sp>
        <p:nvSpPr>
          <p:cNvPr id="118" name="st-9"/>
          <p:cNvSpPr/>
          <p:nvPr/>
        </p:nvSpPr>
        <p:spPr>
          <a:xfrm>
            <a:off x="10344150" y="5022850"/>
            <a:ext cx="139700" cy="1397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9" name="stt-9"/>
          <p:cNvSpPr txBox="1"/>
          <p:nvPr/>
        </p:nvSpPr>
        <p:spPr>
          <a:xfrm>
            <a:off x="10542270" y="5013166"/>
            <a:ext cx="276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正常</a:t>
            </a:r>
          </a:p>
        </p:txBody>
      </p:sp>
      <p:sp>
        <p:nvSpPr>
          <p:cNvPr id="120" name="no-10"/>
          <p:cNvSpPr txBox="1"/>
          <p:nvPr/>
        </p:nvSpPr>
        <p:spPr>
          <a:xfrm>
            <a:off x="1004570" y="542591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10</a:t>
            </a:r>
          </a:p>
        </p:txBody>
      </p:sp>
      <p:sp>
        <p:nvSpPr>
          <p:cNvPr id="121" name="nm-10"/>
          <p:cNvSpPr txBox="1"/>
          <p:nvPr/>
        </p:nvSpPr>
        <p:spPr>
          <a:xfrm>
            <a:off x="1255522" y="5394547"/>
            <a:ext cx="86296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财务共享中心</a:t>
            </a:r>
          </a:p>
        </p:txBody>
      </p:sp>
      <p:sp>
        <p:nvSpPr>
          <p:cNvPr id="122" name="ow-10"/>
          <p:cNvSpPr txBox="1"/>
          <p:nvPr/>
        </p:nvSpPr>
        <p:spPr>
          <a:xfrm>
            <a:off x="2781808" y="5418074"/>
            <a:ext cx="405765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财务部</a:t>
            </a:r>
          </a:p>
        </p:txBody>
      </p:sp>
      <p:sp>
        <p:nvSpPr>
          <p:cNvPr id="123" name="pb-10"/>
          <p:cNvSpPr/>
          <p:nvPr/>
        </p:nvSpPr>
        <p:spPr>
          <a:xfrm>
            <a:off x="3556000" y="5435600"/>
            <a:ext cx="4318000" cy="127000"/>
          </a:xfrm>
          <a:custGeom>
            <a:avLst/>
            <a:gdLst/>
            <a:ahLst/>
            <a:cxnLst/>
            <a:rect l="0" t="0" r="r" b="b"/>
            <a:pathLst>
              <a:path w="4318000" h="127000">
                <a:moveTo>
                  <a:pt x="63500" y="0"/>
                </a:moveTo>
                <a:lnTo>
                  <a:pt x="4254500" y="0"/>
                </a:lnTo>
                <a:cubicBezTo>
                  <a:pt x="4289552" y="0"/>
                  <a:pt x="4318000" y="28448"/>
                  <a:pt x="4318000" y="63500"/>
                </a:cubicBezTo>
                <a:lnTo>
                  <a:pt x="4318000" y="63500"/>
                </a:lnTo>
                <a:cubicBezTo>
                  <a:pt x="4318000" y="98552"/>
                  <a:pt x="4289552" y="127000"/>
                  <a:pt x="425450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4" name="pf-10"/>
          <p:cNvSpPr/>
          <p:nvPr/>
        </p:nvSpPr>
        <p:spPr>
          <a:xfrm>
            <a:off x="3556000" y="5435600"/>
            <a:ext cx="1813560" cy="127000"/>
          </a:xfrm>
          <a:custGeom>
            <a:avLst/>
            <a:gdLst/>
            <a:ahLst/>
            <a:cxnLst/>
            <a:rect l="0" t="0" r="r" b="b"/>
            <a:pathLst>
              <a:path w="1813560" h="127000">
                <a:moveTo>
                  <a:pt x="63500" y="0"/>
                </a:moveTo>
                <a:lnTo>
                  <a:pt x="1750060" y="0"/>
                </a:lnTo>
                <a:cubicBezTo>
                  <a:pt x="1785112" y="0"/>
                  <a:pt x="1813560" y="28448"/>
                  <a:pt x="1813560" y="63500"/>
                </a:cubicBezTo>
                <a:lnTo>
                  <a:pt x="1813560" y="63500"/>
                </a:lnTo>
                <a:cubicBezTo>
                  <a:pt x="1813560" y="98552"/>
                  <a:pt x="1785112" y="127000"/>
                  <a:pt x="1750060" y="127000"/>
                </a:cubicBezTo>
                <a:lnTo>
                  <a:pt x="63500" y="127000"/>
                </a:lnTo>
                <a:cubicBezTo>
                  <a:pt x="28448" y="127000"/>
                  <a:pt x="0" y="98552"/>
                  <a:pt x="0" y="635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gradFill rotWithShape="1">
            <a:gsLst>
              <a:gs pos="0">
                <a:srgbClr val="5A82BA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25" name="pl-10"/>
          <p:cNvCxnSpPr/>
          <p:nvPr/>
        </p:nvCxnSpPr>
        <p:spPr>
          <a:xfrm>
            <a:off x="5283200" y="5391150"/>
            <a:ext cx="0" cy="215900"/>
          </a:xfrm>
          <a:prstGeom prst="line">
            <a:avLst/>
          </a:prstGeom>
          <a:ln w="16510" cap="rnd">
            <a:solidFill>
              <a:srgbClr val="0B2545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6" name="pv-10"/>
          <p:cNvSpPr txBox="1"/>
          <p:nvPr/>
        </p:nvSpPr>
        <p:spPr>
          <a:xfrm>
            <a:off x="5074666" y="54274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42%</a:t>
            </a:r>
          </a:p>
        </p:txBody>
      </p:sp>
      <p:sp>
        <p:nvSpPr>
          <p:cNvPr id="127" name="dv-10"/>
          <p:cNvSpPr txBox="1"/>
          <p:nvPr/>
        </p:nvSpPr>
        <p:spPr>
          <a:xfrm>
            <a:off x="8330057" y="5402390"/>
            <a:ext cx="230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+2</a:t>
            </a:r>
          </a:p>
        </p:txBody>
      </p:sp>
      <p:sp>
        <p:nvSpPr>
          <p:cNvPr id="128" name="bd-10"/>
          <p:cNvSpPr txBox="1"/>
          <p:nvPr/>
        </p:nvSpPr>
        <p:spPr>
          <a:xfrm>
            <a:off x="9195244" y="541023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38%</a:t>
            </a:r>
          </a:p>
        </p:txBody>
      </p:sp>
      <p:sp>
        <p:nvSpPr>
          <p:cNvPr id="129" name="st-10"/>
          <p:cNvSpPr/>
          <p:nvPr/>
        </p:nvSpPr>
        <p:spPr>
          <a:xfrm>
            <a:off x="10344150" y="5429250"/>
            <a:ext cx="139700" cy="139700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0" name="stt-10"/>
          <p:cNvSpPr txBox="1"/>
          <p:nvPr/>
        </p:nvSpPr>
        <p:spPr>
          <a:xfrm>
            <a:off x="10542270" y="5419566"/>
            <a:ext cx="276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134C9C"/>
                </a:solidFill>
                <a:latin typeface="微软雅黑"/>
                <a:ea typeface="微软雅黑"/>
                <a:cs typeface="微软雅黑"/>
              </a:rPr>
              <a:t>正常</a:t>
            </a:r>
          </a:p>
        </p:txBody>
      </p:sp>
      <p:sp>
        <p:nvSpPr>
          <p:cNvPr id="131" name="sum"/>
          <p:cNvSpPr/>
          <p:nvPr/>
        </p:nvSpPr>
        <p:spPr>
          <a:xfrm>
            <a:off x="952500" y="5829300"/>
            <a:ext cx="10287000" cy="457200"/>
          </a:xfrm>
          <a:custGeom>
            <a:avLst/>
            <a:gdLst/>
            <a:ahLst/>
            <a:cxnLst/>
            <a:rect l="0" t="0" r="r" b="b"/>
            <a:pathLst>
              <a:path w="10287000" h="4572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68300"/>
                </a:lnTo>
                <a:cubicBezTo>
                  <a:pt x="10287000" y="417386"/>
                  <a:pt x="10247186" y="457200"/>
                  <a:pt x="10198100" y="457200"/>
                </a:cubicBezTo>
                <a:lnTo>
                  <a:pt x="88900" y="457200"/>
                </a:lnTo>
                <a:cubicBezTo>
                  <a:pt x="39815" y="457200"/>
                  <a:pt x="0" y="417386"/>
                  <a:pt x="0" y="3683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2" name="sum-bar"/>
          <p:cNvSpPr/>
          <p:nvPr/>
        </p:nvSpPr>
        <p:spPr>
          <a:xfrm>
            <a:off x="952500" y="5829300"/>
            <a:ext cx="31750" cy="4572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3" name="sum-h"/>
          <p:cNvSpPr txBox="1"/>
          <p:nvPr/>
        </p:nvSpPr>
        <p:spPr>
          <a:xfrm>
            <a:off x="1142746" y="5988082"/>
            <a:ext cx="8022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2 个项目落后</a:t>
            </a:r>
          </a:p>
        </p:txBody>
      </p:sp>
      <p:sp>
        <p:nvSpPr>
          <p:cNvPr id="134" name="sum-p"/>
          <p:cNvSpPr txBox="1"/>
          <p:nvPr/>
        </p:nvSpPr>
        <p:spPr>
          <a:xfrm>
            <a:off x="2145665" y="5984161"/>
            <a:ext cx="576611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海外仓与华南扩产进度落后、预算却已超前使用——下周经营会专项复盘，质量追溯需关注，其余 7 个项目正常。</a:t>
            </a:r>
          </a:p>
        </p:txBody>
      </p:sp>
      <p:cxnSp>
        <p:nvCxnSpPr>
          <p:cNvPr id="135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6" name="foot-l"/>
          <p:cNvSpPr txBox="1"/>
          <p:nvPr/>
        </p:nvSpPr>
        <p:spPr>
          <a:xfrm>
            <a:off x="573532" y="6532308"/>
            <a:ext cx="124218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项目进度看板 · 十个项目</a:t>
            </a:r>
          </a:p>
        </p:txBody>
      </p:sp>
      <p:sp>
        <p:nvSpPr>
          <p:cNvPr id="137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390398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每 100 位试用客户的去向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99060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ICON ARRAY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636381" y="673132"/>
            <a:ext cx="298437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把比例换成 100 个人，比说「转化率 23%」更有画面感</a:t>
            </a:r>
          </a:p>
        </p:txBody>
      </p:sp>
      <p:sp>
        <p:nvSpPr>
          <p:cNvPr id="10" name="p-0-h"/>
          <p:cNvSpPr/>
          <p:nvPr/>
        </p:nvSpPr>
        <p:spPr>
          <a:xfrm>
            <a:off x="1168400" y="1676400"/>
            <a:ext cx="127000" cy="1270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p-0-b"/>
          <p:cNvSpPr/>
          <p:nvPr/>
        </p:nvSpPr>
        <p:spPr>
          <a:xfrm>
            <a:off x="1130300" y="18285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p-1-h"/>
          <p:cNvSpPr/>
          <p:nvPr/>
        </p:nvSpPr>
        <p:spPr>
          <a:xfrm>
            <a:off x="1600200" y="1676400"/>
            <a:ext cx="127000" cy="1270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p-1-b"/>
          <p:cNvSpPr/>
          <p:nvPr/>
        </p:nvSpPr>
        <p:spPr>
          <a:xfrm>
            <a:off x="1562100" y="18285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p-2-h"/>
          <p:cNvSpPr/>
          <p:nvPr/>
        </p:nvSpPr>
        <p:spPr>
          <a:xfrm>
            <a:off x="2032000" y="1676400"/>
            <a:ext cx="127000" cy="1270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p-2-b"/>
          <p:cNvSpPr/>
          <p:nvPr/>
        </p:nvSpPr>
        <p:spPr>
          <a:xfrm>
            <a:off x="1993900" y="18285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p-3-h"/>
          <p:cNvSpPr/>
          <p:nvPr/>
        </p:nvSpPr>
        <p:spPr>
          <a:xfrm>
            <a:off x="2463800" y="1676400"/>
            <a:ext cx="127000" cy="1270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p-3-b"/>
          <p:cNvSpPr/>
          <p:nvPr/>
        </p:nvSpPr>
        <p:spPr>
          <a:xfrm>
            <a:off x="2425700" y="18285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p-4-h"/>
          <p:cNvSpPr/>
          <p:nvPr/>
        </p:nvSpPr>
        <p:spPr>
          <a:xfrm>
            <a:off x="2895600" y="1676400"/>
            <a:ext cx="127000" cy="1270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p-4-b"/>
          <p:cNvSpPr/>
          <p:nvPr/>
        </p:nvSpPr>
        <p:spPr>
          <a:xfrm>
            <a:off x="2857500" y="18285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p-5-h"/>
          <p:cNvSpPr/>
          <p:nvPr/>
        </p:nvSpPr>
        <p:spPr>
          <a:xfrm>
            <a:off x="3327400" y="1676400"/>
            <a:ext cx="127000" cy="1270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p-5-b"/>
          <p:cNvSpPr/>
          <p:nvPr/>
        </p:nvSpPr>
        <p:spPr>
          <a:xfrm>
            <a:off x="3289300" y="18285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p-6-h"/>
          <p:cNvSpPr/>
          <p:nvPr/>
        </p:nvSpPr>
        <p:spPr>
          <a:xfrm>
            <a:off x="3759200" y="1676400"/>
            <a:ext cx="127000" cy="1270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p-6-b"/>
          <p:cNvSpPr/>
          <p:nvPr/>
        </p:nvSpPr>
        <p:spPr>
          <a:xfrm>
            <a:off x="3721100" y="18285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p-7-h"/>
          <p:cNvSpPr/>
          <p:nvPr/>
        </p:nvSpPr>
        <p:spPr>
          <a:xfrm>
            <a:off x="4191000" y="1676400"/>
            <a:ext cx="127000" cy="1270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p-7-b"/>
          <p:cNvSpPr/>
          <p:nvPr/>
        </p:nvSpPr>
        <p:spPr>
          <a:xfrm>
            <a:off x="4152900" y="18285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p-8-h"/>
          <p:cNvSpPr/>
          <p:nvPr/>
        </p:nvSpPr>
        <p:spPr>
          <a:xfrm>
            <a:off x="4622800" y="1676400"/>
            <a:ext cx="127000" cy="1270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p-8-b"/>
          <p:cNvSpPr/>
          <p:nvPr/>
        </p:nvSpPr>
        <p:spPr>
          <a:xfrm>
            <a:off x="4584700" y="18285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p-9-h"/>
          <p:cNvSpPr/>
          <p:nvPr/>
        </p:nvSpPr>
        <p:spPr>
          <a:xfrm>
            <a:off x="5054600" y="1676400"/>
            <a:ext cx="127000" cy="1270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p-9-b"/>
          <p:cNvSpPr/>
          <p:nvPr/>
        </p:nvSpPr>
        <p:spPr>
          <a:xfrm>
            <a:off x="5016500" y="18285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p-10-h"/>
          <p:cNvSpPr/>
          <p:nvPr/>
        </p:nvSpPr>
        <p:spPr>
          <a:xfrm>
            <a:off x="1168400" y="2108200"/>
            <a:ext cx="127000" cy="1270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p-10-b"/>
          <p:cNvSpPr/>
          <p:nvPr/>
        </p:nvSpPr>
        <p:spPr>
          <a:xfrm>
            <a:off x="1130300" y="22603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p-11-h"/>
          <p:cNvSpPr/>
          <p:nvPr/>
        </p:nvSpPr>
        <p:spPr>
          <a:xfrm>
            <a:off x="1600200" y="2108200"/>
            <a:ext cx="127000" cy="1270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p-11-b"/>
          <p:cNvSpPr/>
          <p:nvPr/>
        </p:nvSpPr>
        <p:spPr>
          <a:xfrm>
            <a:off x="1562100" y="22603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p-12-h"/>
          <p:cNvSpPr/>
          <p:nvPr/>
        </p:nvSpPr>
        <p:spPr>
          <a:xfrm>
            <a:off x="2032000" y="2108200"/>
            <a:ext cx="127000" cy="1270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p-12-b"/>
          <p:cNvSpPr/>
          <p:nvPr/>
        </p:nvSpPr>
        <p:spPr>
          <a:xfrm>
            <a:off x="1993900" y="22603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p-13-h"/>
          <p:cNvSpPr/>
          <p:nvPr/>
        </p:nvSpPr>
        <p:spPr>
          <a:xfrm>
            <a:off x="2463800" y="2108200"/>
            <a:ext cx="127000" cy="1270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p-13-b"/>
          <p:cNvSpPr/>
          <p:nvPr/>
        </p:nvSpPr>
        <p:spPr>
          <a:xfrm>
            <a:off x="2425700" y="22603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p-14-h"/>
          <p:cNvSpPr/>
          <p:nvPr/>
        </p:nvSpPr>
        <p:spPr>
          <a:xfrm>
            <a:off x="2895600" y="2108200"/>
            <a:ext cx="127000" cy="1270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p-14-b"/>
          <p:cNvSpPr/>
          <p:nvPr/>
        </p:nvSpPr>
        <p:spPr>
          <a:xfrm>
            <a:off x="2857500" y="22603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p-15-h"/>
          <p:cNvSpPr/>
          <p:nvPr/>
        </p:nvSpPr>
        <p:spPr>
          <a:xfrm>
            <a:off x="3327400" y="2108200"/>
            <a:ext cx="127000" cy="1270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p-15-b"/>
          <p:cNvSpPr/>
          <p:nvPr/>
        </p:nvSpPr>
        <p:spPr>
          <a:xfrm>
            <a:off x="3289300" y="22603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p-16-h"/>
          <p:cNvSpPr/>
          <p:nvPr/>
        </p:nvSpPr>
        <p:spPr>
          <a:xfrm>
            <a:off x="3759200" y="2108200"/>
            <a:ext cx="127000" cy="1270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p-16-b"/>
          <p:cNvSpPr/>
          <p:nvPr/>
        </p:nvSpPr>
        <p:spPr>
          <a:xfrm>
            <a:off x="3721100" y="22603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p-17-h"/>
          <p:cNvSpPr/>
          <p:nvPr/>
        </p:nvSpPr>
        <p:spPr>
          <a:xfrm>
            <a:off x="4191000" y="2108200"/>
            <a:ext cx="127000" cy="1270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p-17-b"/>
          <p:cNvSpPr/>
          <p:nvPr/>
        </p:nvSpPr>
        <p:spPr>
          <a:xfrm>
            <a:off x="4152900" y="22603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p-18-h"/>
          <p:cNvSpPr/>
          <p:nvPr/>
        </p:nvSpPr>
        <p:spPr>
          <a:xfrm>
            <a:off x="4622800" y="2108200"/>
            <a:ext cx="127000" cy="1270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p-18-b"/>
          <p:cNvSpPr/>
          <p:nvPr/>
        </p:nvSpPr>
        <p:spPr>
          <a:xfrm>
            <a:off x="4584700" y="22603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p-19-h"/>
          <p:cNvSpPr/>
          <p:nvPr/>
        </p:nvSpPr>
        <p:spPr>
          <a:xfrm>
            <a:off x="5054600" y="2108200"/>
            <a:ext cx="127000" cy="1270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p-19-b"/>
          <p:cNvSpPr/>
          <p:nvPr/>
        </p:nvSpPr>
        <p:spPr>
          <a:xfrm>
            <a:off x="5016500" y="22603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p-20-h"/>
          <p:cNvSpPr/>
          <p:nvPr/>
        </p:nvSpPr>
        <p:spPr>
          <a:xfrm>
            <a:off x="1168400" y="2540000"/>
            <a:ext cx="127000" cy="1270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p-20-b"/>
          <p:cNvSpPr/>
          <p:nvPr/>
        </p:nvSpPr>
        <p:spPr>
          <a:xfrm>
            <a:off x="1130300" y="26921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p-21-h"/>
          <p:cNvSpPr/>
          <p:nvPr/>
        </p:nvSpPr>
        <p:spPr>
          <a:xfrm>
            <a:off x="1600200" y="2540000"/>
            <a:ext cx="127000" cy="1270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p-21-b"/>
          <p:cNvSpPr/>
          <p:nvPr/>
        </p:nvSpPr>
        <p:spPr>
          <a:xfrm>
            <a:off x="1562100" y="26921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p-22-h"/>
          <p:cNvSpPr/>
          <p:nvPr/>
        </p:nvSpPr>
        <p:spPr>
          <a:xfrm>
            <a:off x="2032000" y="2540000"/>
            <a:ext cx="127000" cy="1270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p-22-b"/>
          <p:cNvSpPr/>
          <p:nvPr/>
        </p:nvSpPr>
        <p:spPr>
          <a:xfrm>
            <a:off x="1993900" y="26921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p-23-h"/>
          <p:cNvSpPr/>
          <p:nvPr/>
        </p:nvSpPr>
        <p:spPr>
          <a:xfrm>
            <a:off x="2463800" y="25400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p-23-b"/>
          <p:cNvSpPr/>
          <p:nvPr/>
        </p:nvSpPr>
        <p:spPr>
          <a:xfrm>
            <a:off x="2425700" y="26921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p-24-h"/>
          <p:cNvSpPr/>
          <p:nvPr/>
        </p:nvSpPr>
        <p:spPr>
          <a:xfrm>
            <a:off x="2895600" y="25400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p-24-b"/>
          <p:cNvSpPr/>
          <p:nvPr/>
        </p:nvSpPr>
        <p:spPr>
          <a:xfrm>
            <a:off x="2857500" y="26921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p-25-h"/>
          <p:cNvSpPr/>
          <p:nvPr/>
        </p:nvSpPr>
        <p:spPr>
          <a:xfrm>
            <a:off x="3327400" y="25400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p-25-b"/>
          <p:cNvSpPr/>
          <p:nvPr/>
        </p:nvSpPr>
        <p:spPr>
          <a:xfrm>
            <a:off x="3289300" y="26921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p-26-h"/>
          <p:cNvSpPr/>
          <p:nvPr/>
        </p:nvSpPr>
        <p:spPr>
          <a:xfrm>
            <a:off x="3759200" y="25400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p-26-b"/>
          <p:cNvSpPr/>
          <p:nvPr/>
        </p:nvSpPr>
        <p:spPr>
          <a:xfrm>
            <a:off x="3721100" y="26921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p-27-h"/>
          <p:cNvSpPr/>
          <p:nvPr/>
        </p:nvSpPr>
        <p:spPr>
          <a:xfrm>
            <a:off x="4191000" y="25400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p-27-b"/>
          <p:cNvSpPr/>
          <p:nvPr/>
        </p:nvSpPr>
        <p:spPr>
          <a:xfrm>
            <a:off x="4152900" y="26921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p-28-h"/>
          <p:cNvSpPr/>
          <p:nvPr/>
        </p:nvSpPr>
        <p:spPr>
          <a:xfrm>
            <a:off x="4622800" y="25400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p-28-b"/>
          <p:cNvSpPr/>
          <p:nvPr/>
        </p:nvSpPr>
        <p:spPr>
          <a:xfrm>
            <a:off x="4584700" y="26921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p-29-h"/>
          <p:cNvSpPr/>
          <p:nvPr/>
        </p:nvSpPr>
        <p:spPr>
          <a:xfrm>
            <a:off x="5054600" y="25400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p-29-b"/>
          <p:cNvSpPr/>
          <p:nvPr/>
        </p:nvSpPr>
        <p:spPr>
          <a:xfrm>
            <a:off x="5016500" y="26921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p-30-h"/>
          <p:cNvSpPr/>
          <p:nvPr/>
        </p:nvSpPr>
        <p:spPr>
          <a:xfrm>
            <a:off x="1168400" y="29718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p-30-b"/>
          <p:cNvSpPr/>
          <p:nvPr/>
        </p:nvSpPr>
        <p:spPr>
          <a:xfrm>
            <a:off x="1130300" y="31239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p-31-h"/>
          <p:cNvSpPr/>
          <p:nvPr/>
        </p:nvSpPr>
        <p:spPr>
          <a:xfrm>
            <a:off x="1600200" y="29718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p-31-b"/>
          <p:cNvSpPr/>
          <p:nvPr/>
        </p:nvSpPr>
        <p:spPr>
          <a:xfrm>
            <a:off x="1562100" y="31239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p-32-h"/>
          <p:cNvSpPr/>
          <p:nvPr/>
        </p:nvSpPr>
        <p:spPr>
          <a:xfrm>
            <a:off x="2032000" y="29718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p-32-b"/>
          <p:cNvSpPr/>
          <p:nvPr/>
        </p:nvSpPr>
        <p:spPr>
          <a:xfrm>
            <a:off x="1993900" y="31239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p-33-h"/>
          <p:cNvSpPr/>
          <p:nvPr/>
        </p:nvSpPr>
        <p:spPr>
          <a:xfrm>
            <a:off x="2463800" y="29718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p-33-b"/>
          <p:cNvSpPr/>
          <p:nvPr/>
        </p:nvSpPr>
        <p:spPr>
          <a:xfrm>
            <a:off x="2425700" y="31239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p-34-h"/>
          <p:cNvSpPr/>
          <p:nvPr/>
        </p:nvSpPr>
        <p:spPr>
          <a:xfrm>
            <a:off x="2895600" y="29718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p-34-b"/>
          <p:cNvSpPr/>
          <p:nvPr/>
        </p:nvSpPr>
        <p:spPr>
          <a:xfrm>
            <a:off x="2857500" y="31239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p-35-h"/>
          <p:cNvSpPr/>
          <p:nvPr/>
        </p:nvSpPr>
        <p:spPr>
          <a:xfrm>
            <a:off x="3327400" y="29718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p-35-b"/>
          <p:cNvSpPr/>
          <p:nvPr/>
        </p:nvSpPr>
        <p:spPr>
          <a:xfrm>
            <a:off x="3289300" y="31239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p-36-h"/>
          <p:cNvSpPr/>
          <p:nvPr/>
        </p:nvSpPr>
        <p:spPr>
          <a:xfrm>
            <a:off x="3759200" y="29718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p-36-b"/>
          <p:cNvSpPr/>
          <p:nvPr/>
        </p:nvSpPr>
        <p:spPr>
          <a:xfrm>
            <a:off x="3721100" y="31239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p-37-h"/>
          <p:cNvSpPr/>
          <p:nvPr/>
        </p:nvSpPr>
        <p:spPr>
          <a:xfrm>
            <a:off x="4191000" y="29718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p-37-b"/>
          <p:cNvSpPr/>
          <p:nvPr/>
        </p:nvSpPr>
        <p:spPr>
          <a:xfrm>
            <a:off x="4152900" y="31239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p-38-h"/>
          <p:cNvSpPr/>
          <p:nvPr/>
        </p:nvSpPr>
        <p:spPr>
          <a:xfrm>
            <a:off x="4622800" y="29718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p-38-b"/>
          <p:cNvSpPr/>
          <p:nvPr/>
        </p:nvSpPr>
        <p:spPr>
          <a:xfrm>
            <a:off x="4584700" y="31239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p-39-h"/>
          <p:cNvSpPr/>
          <p:nvPr/>
        </p:nvSpPr>
        <p:spPr>
          <a:xfrm>
            <a:off x="5054600" y="29718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p-39-b"/>
          <p:cNvSpPr/>
          <p:nvPr/>
        </p:nvSpPr>
        <p:spPr>
          <a:xfrm>
            <a:off x="5016500" y="31239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p-40-h"/>
          <p:cNvSpPr/>
          <p:nvPr/>
        </p:nvSpPr>
        <p:spPr>
          <a:xfrm>
            <a:off x="1168400" y="34036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p-40-b"/>
          <p:cNvSpPr/>
          <p:nvPr/>
        </p:nvSpPr>
        <p:spPr>
          <a:xfrm>
            <a:off x="1130300" y="35557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p-41-h"/>
          <p:cNvSpPr/>
          <p:nvPr/>
        </p:nvSpPr>
        <p:spPr>
          <a:xfrm>
            <a:off x="1600200" y="34036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p-41-b"/>
          <p:cNvSpPr/>
          <p:nvPr/>
        </p:nvSpPr>
        <p:spPr>
          <a:xfrm>
            <a:off x="1562100" y="35557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p-42-h"/>
          <p:cNvSpPr/>
          <p:nvPr/>
        </p:nvSpPr>
        <p:spPr>
          <a:xfrm>
            <a:off x="2032000" y="34036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p-42-b"/>
          <p:cNvSpPr/>
          <p:nvPr/>
        </p:nvSpPr>
        <p:spPr>
          <a:xfrm>
            <a:off x="1993900" y="35557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p-43-h"/>
          <p:cNvSpPr/>
          <p:nvPr/>
        </p:nvSpPr>
        <p:spPr>
          <a:xfrm>
            <a:off x="2463800" y="34036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p-43-b"/>
          <p:cNvSpPr/>
          <p:nvPr/>
        </p:nvSpPr>
        <p:spPr>
          <a:xfrm>
            <a:off x="2425700" y="35557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p-44-h"/>
          <p:cNvSpPr/>
          <p:nvPr/>
        </p:nvSpPr>
        <p:spPr>
          <a:xfrm>
            <a:off x="2895600" y="34036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9" name="p-44-b"/>
          <p:cNvSpPr/>
          <p:nvPr/>
        </p:nvSpPr>
        <p:spPr>
          <a:xfrm>
            <a:off x="2857500" y="35557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p-45-h"/>
          <p:cNvSpPr/>
          <p:nvPr/>
        </p:nvSpPr>
        <p:spPr>
          <a:xfrm>
            <a:off x="3327400" y="34036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p-45-b"/>
          <p:cNvSpPr/>
          <p:nvPr/>
        </p:nvSpPr>
        <p:spPr>
          <a:xfrm>
            <a:off x="3289300" y="35557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2" name="p-46-h"/>
          <p:cNvSpPr/>
          <p:nvPr/>
        </p:nvSpPr>
        <p:spPr>
          <a:xfrm>
            <a:off x="3759200" y="34036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p-46-b"/>
          <p:cNvSpPr/>
          <p:nvPr/>
        </p:nvSpPr>
        <p:spPr>
          <a:xfrm>
            <a:off x="3721100" y="35557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4" name="p-47-h"/>
          <p:cNvSpPr/>
          <p:nvPr/>
        </p:nvSpPr>
        <p:spPr>
          <a:xfrm>
            <a:off x="4191000" y="34036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p-47-b"/>
          <p:cNvSpPr/>
          <p:nvPr/>
        </p:nvSpPr>
        <p:spPr>
          <a:xfrm>
            <a:off x="4152900" y="35557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6" name="p-48-h"/>
          <p:cNvSpPr/>
          <p:nvPr/>
        </p:nvSpPr>
        <p:spPr>
          <a:xfrm>
            <a:off x="4622800" y="34036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7" name="p-48-b"/>
          <p:cNvSpPr/>
          <p:nvPr/>
        </p:nvSpPr>
        <p:spPr>
          <a:xfrm>
            <a:off x="4584700" y="35557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8" name="p-49-h"/>
          <p:cNvSpPr/>
          <p:nvPr/>
        </p:nvSpPr>
        <p:spPr>
          <a:xfrm>
            <a:off x="5054600" y="34036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p-49-b"/>
          <p:cNvSpPr/>
          <p:nvPr/>
        </p:nvSpPr>
        <p:spPr>
          <a:xfrm>
            <a:off x="5016500" y="35557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0" name="p-50-h"/>
          <p:cNvSpPr/>
          <p:nvPr/>
        </p:nvSpPr>
        <p:spPr>
          <a:xfrm>
            <a:off x="1168400" y="38354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1" name="p-50-b"/>
          <p:cNvSpPr/>
          <p:nvPr/>
        </p:nvSpPr>
        <p:spPr>
          <a:xfrm>
            <a:off x="1130300" y="39875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2" name="p-51-h"/>
          <p:cNvSpPr/>
          <p:nvPr/>
        </p:nvSpPr>
        <p:spPr>
          <a:xfrm>
            <a:off x="1600200" y="38354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3" name="p-51-b"/>
          <p:cNvSpPr/>
          <p:nvPr/>
        </p:nvSpPr>
        <p:spPr>
          <a:xfrm>
            <a:off x="1562100" y="39875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4" name="p-52-h"/>
          <p:cNvSpPr/>
          <p:nvPr/>
        </p:nvSpPr>
        <p:spPr>
          <a:xfrm>
            <a:off x="2032000" y="38354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5" name="p-52-b"/>
          <p:cNvSpPr/>
          <p:nvPr/>
        </p:nvSpPr>
        <p:spPr>
          <a:xfrm>
            <a:off x="1993900" y="39875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6" name="p-53-h"/>
          <p:cNvSpPr/>
          <p:nvPr/>
        </p:nvSpPr>
        <p:spPr>
          <a:xfrm>
            <a:off x="2463800" y="38354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7" name="p-53-b"/>
          <p:cNvSpPr/>
          <p:nvPr/>
        </p:nvSpPr>
        <p:spPr>
          <a:xfrm>
            <a:off x="2425700" y="39875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8" name="p-54-h"/>
          <p:cNvSpPr/>
          <p:nvPr/>
        </p:nvSpPr>
        <p:spPr>
          <a:xfrm>
            <a:off x="2895600" y="3835400"/>
            <a:ext cx="127000" cy="1270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9" name="p-54-b"/>
          <p:cNvSpPr/>
          <p:nvPr/>
        </p:nvSpPr>
        <p:spPr>
          <a:xfrm>
            <a:off x="2857500" y="39875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0" name="p-55-h"/>
          <p:cNvSpPr/>
          <p:nvPr/>
        </p:nvSpPr>
        <p:spPr>
          <a:xfrm>
            <a:off x="3327400" y="3835400"/>
            <a:ext cx="127000" cy="1270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1" name="p-55-b"/>
          <p:cNvSpPr/>
          <p:nvPr/>
        </p:nvSpPr>
        <p:spPr>
          <a:xfrm>
            <a:off x="3289300" y="39875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2" name="p-56-h"/>
          <p:cNvSpPr/>
          <p:nvPr/>
        </p:nvSpPr>
        <p:spPr>
          <a:xfrm>
            <a:off x="3759200" y="3835400"/>
            <a:ext cx="127000" cy="1270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3" name="p-56-b"/>
          <p:cNvSpPr/>
          <p:nvPr/>
        </p:nvSpPr>
        <p:spPr>
          <a:xfrm>
            <a:off x="3721100" y="39875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4" name="p-57-h"/>
          <p:cNvSpPr/>
          <p:nvPr/>
        </p:nvSpPr>
        <p:spPr>
          <a:xfrm>
            <a:off x="4191000" y="3835400"/>
            <a:ext cx="127000" cy="1270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5" name="p-57-b"/>
          <p:cNvSpPr/>
          <p:nvPr/>
        </p:nvSpPr>
        <p:spPr>
          <a:xfrm>
            <a:off x="4152900" y="39875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6" name="p-58-h"/>
          <p:cNvSpPr/>
          <p:nvPr/>
        </p:nvSpPr>
        <p:spPr>
          <a:xfrm>
            <a:off x="4622800" y="3835400"/>
            <a:ext cx="127000" cy="1270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7" name="p-58-b"/>
          <p:cNvSpPr/>
          <p:nvPr/>
        </p:nvSpPr>
        <p:spPr>
          <a:xfrm>
            <a:off x="4584700" y="39875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8" name="p-59-h"/>
          <p:cNvSpPr/>
          <p:nvPr/>
        </p:nvSpPr>
        <p:spPr>
          <a:xfrm>
            <a:off x="5054600" y="3835400"/>
            <a:ext cx="127000" cy="1270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9" name="p-59-b"/>
          <p:cNvSpPr/>
          <p:nvPr/>
        </p:nvSpPr>
        <p:spPr>
          <a:xfrm>
            <a:off x="5016500" y="39875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0" name="p-60-h"/>
          <p:cNvSpPr/>
          <p:nvPr/>
        </p:nvSpPr>
        <p:spPr>
          <a:xfrm>
            <a:off x="1168400" y="4267200"/>
            <a:ext cx="127000" cy="1270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1" name="p-60-b"/>
          <p:cNvSpPr/>
          <p:nvPr/>
        </p:nvSpPr>
        <p:spPr>
          <a:xfrm>
            <a:off x="1130300" y="44193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2" name="p-61-h"/>
          <p:cNvSpPr/>
          <p:nvPr/>
        </p:nvSpPr>
        <p:spPr>
          <a:xfrm>
            <a:off x="1600200" y="4267200"/>
            <a:ext cx="127000" cy="1270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3" name="p-61-b"/>
          <p:cNvSpPr/>
          <p:nvPr/>
        </p:nvSpPr>
        <p:spPr>
          <a:xfrm>
            <a:off x="1562100" y="44193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4" name="p-62-h"/>
          <p:cNvSpPr/>
          <p:nvPr/>
        </p:nvSpPr>
        <p:spPr>
          <a:xfrm>
            <a:off x="2032000" y="4267200"/>
            <a:ext cx="127000" cy="1270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5" name="p-62-b"/>
          <p:cNvSpPr/>
          <p:nvPr/>
        </p:nvSpPr>
        <p:spPr>
          <a:xfrm>
            <a:off x="1993900" y="44193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6" name="p-63-h"/>
          <p:cNvSpPr/>
          <p:nvPr/>
        </p:nvSpPr>
        <p:spPr>
          <a:xfrm>
            <a:off x="2463800" y="4267200"/>
            <a:ext cx="127000" cy="1270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7" name="p-63-b"/>
          <p:cNvSpPr/>
          <p:nvPr/>
        </p:nvSpPr>
        <p:spPr>
          <a:xfrm>
            <a:off x="2425700" y="44193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8" name="p-64-h"/>
          <p:cNvSpPr/>
          <p:nvPr/>
        </p:nvSpPr>
        <p:spPr>
          <a:xfrm>
            <a:off x="2895600" y="4267200"/>
            <a:ext cx="127000" cy="1270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9" name="p-64-b"/>
          <p:cNvSpPr/>
          <p:nvPr/>
        </p:nvSpPr>
        <p:spPr>
          <a:xfrm>
            <a:off x="2857500" y="44193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0" name="p-65-h"/>
          <p:cNvSpPr/>
          <p:nvPr/>
        </p:nvSpPr>
        <p:spPr>
          <a:xfrm>
            <a:off x="3327400" y="4267200"/>
            <a:ext cx="127000" cy="1270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1" name="p-65-b"/>
          <p:cNvSpPr/>
          <p:nvPr/>
        </p:nvSpPr>
        <p:spPr>
          <a:xfrm>
            <a:off x="3289300" y="44193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2" name="p-66-h"/>
          <p:cNvSpPr/>
          <p:nvPr/>
        </p:nvSpPr>
        <p:spPr>
          <a:xfrm>
            <a:off x="3759200" y="4267200"/>
            <a:ext cx="127000" cy="1270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3" name="p-66-b"/>
          <p:cNvSpPr/>
          <p:nvPr/>
        </p:nvSpPr>
        <p:spPr>
          <a:xfrm>
            <a:off x="3721100" y="44193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4" name="p-67-h"/>
          <p:cNvSpPr/>
          <p:nvPr/>
        </p:nvSpPr>
        <p:spPr>
          <a:xfrm>
            <a:off x="4191000" y="4267200"/>
            <a:ext cx="127000" cy="1270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5" name="p-67-b"/>
          <p:cNvSpPr/>
          <p:nvPr/>
        </p:nvSpPr>
        <p:spPr>
          <a:xfrm>
            <a:off x="4152900" y="44193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6" name="p-68-h"/>
          <p:cNvSpPr/>
          <p:nvPr/>
        </p:nvSpPr>
        <p:spPr>
          <a:xfrm>
            <a:off x="4622800" y="4267200"/>
            <a:ext cx="127000" cy="1270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7" name="p-68-b"/>
          <p:cNvSpPr/>
          <p:nvPr/>
        </p:nvSpPr>
        <p:spPr>
          <a:xfrm>
            <a:off x="4584700" y="44193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8" name="p-69-h"/>
          <p:cNvSpPr/>
          <p:nvPr/>
        </p:nvSpPr>
        <p:spPr>
          <a:xfrm>
            <a:off x="5054600" y="4267200"/>
            <a:ext cx="127000" cy="1270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9" name="p-69-b"/>
          <p:cNvSpPr/>
          <p:nvPr/>
        </p:nvSpPr>
        <p:spPr>
          <a:xfrm>
            <a:off x="5016500" y="44193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0" name="p-70-h"/>
          <p:cNvSpPr/>
          <p:nvPr/>
        </p:nvSpPr>
        <p:spPr>
          <a:xfrm>
            <a:off x="1168400" y="4699000"/>
            <a:ext cx="127000" cy="1270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1" name="p-70-b"/>
          <p:cNvSpPr/>
          <p:nvPr/>
        </p:nvSpPr>
        <p:spPr>
          <a:xfrm>
            <a:off x="1130300" y="48511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2" name="p-71-h"/>
          <p:cNvSpPr/>
          <p:nvPr/>
        </p:nvSpPr>
        <p:spPr>
          <a:xfrm>
            <a:off x="1600200" y="4699000"/>
            <a:ext cx="127000" cy="1270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3" name="p-71-b"/>
          <p:cNvSpPr/>
          <p:nvPr/>
        </p:nvSpPr>
        <p:spPr>
          <a:xfrm>
            <a:off x="1562100" y="48511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4" name="p-72-h"/>
          <p:cNvSpPr/>
          <p:nvPr/>
        </p:nvSpPr>
        <p:spPr>
          <a:xfrm>
            <a:off x="2032000" y="4699000"/>
            <a:ext cx="127000" cy="127000"/>
          </a:xfrm>
          <a:prstGeom prst="ellipse">
            <a:avLst/>
          </a:pr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5" name="p-72-b"/>
          <p:cNvSpPr/>
          <p:nvPr/>
        </p:nvSpPr>
        <p:spPr>
          <a:xfrm>
            <a:off x="1993900" y="48511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6" name="p-73-h"/>
          <p:cNvSpPr/>
          <p:nvPr/>
        </p:nvSpPr>
        <p:spPr>
          <a:xfrm>
            <a:off x="2463800" y="4699000"/>
            <a:ext cx="127000" cy="127000"/>
          </a:xfrm>
          <a:prstGeom prst="ellipse">
            <a:avLst/>
          </a:pr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7" name="p-73-b"/>
          <p:cNvSpPr/>
          <p:nvPr/>
        </p:nvSpPr>
        <p:spPr>
          <a:xfrm>
            <a:off x="2425700" y="48511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8" name="p-74-h"/>
          <p:cNvSpPr/>
          <p:nvPr/>
        </p:nvSpPr>
        <p:spPr>
          <a:xfrm>
            <a:off x="2895600" y="4699000"/>
            <a:ext cx="127000" cy="127000"/>
          </a:xfrm>
          <a:prstGeom prst="ellipse">
            <a:avLst/>
          </a:pr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9" name="p-74-b"/>
          <p:cNvSpPr/>
          <p:nvPr/>
        </p:nvSpPr>
        <p:spPr>
          <a:xfrm>
            <a:off x="2857500" y="48511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0" name="p-75-h"/>
          <p:cNvSpPr/>
          <p:nvPr/>
        </p:nvSpPr>
        <p:spPr>
          <a:xfrm>
            <a:off x="3327400" y="4699000"/>
            <a:ext cx="127000" cy="127000"/>
          </a:xfrm>
          <a:prstGeom prst="ellipse">
            <a:avLst/>
          </a:pr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1" name="p-75-b"/>
          <p:cNvSpPr/>
          <p:nvPr/>
        </p:nvSpPr>
        <p:spPr>
          <a:xfrm>
            <a:off x="3289300" y="48511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2" name="p-76-h"/>
          <p:cNvSpPr/>
          <p:nvPr/>
        </p:nvSpPr>
        <p:spPr>
          <a:xfrm>
            <a:off x="3759200" y="4699000"/>
            <a:ext cx="127000" cy="127000"/>
          </a:xfrm>
          <a:prstGeom prst="ellipse">
            <a:avLst/>
          </a:pr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3" name="p-76-b"/>
          <p:cNvSpPr/>
          <p:nvPr/>
        </p:nvSpPr>
        <p:spPr>
          <a:xfrm>
            <a:off x="3721100" y="48511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4" name="p-77-h"/>
          <p:cNvSpPr/>
          <p:nvPr/>
        </p:nvSpPr>
        <p:spPr>
          <a:xfrm>
            <a:off x="4191000" y="4699000"/>
            <a:ext cx="127000" cy="127000"/>
          </a:xfrm>
          <a:prstGeom prst="ellipse">
            <a:avLst/>
          </a:pr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5" name="p-77-b"/>
          <p:cNvSpPr/>
          <p:nvPr/>
        </p:nvSpPr>
        <p:spPr>
          <a:xfrm>
            <a:off x="4152900" y="48511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6" name="p-78-h"/>
          <p:cNvSpPr/>
          <p:nvPr/>
        </p:nvSpPr>
        <p:spPr>
          <a:xfrm>
            <a:off x="4622800" y="4699000"/>
            <a:ext cx="127000" cy="127000"/>
          </a:xfrm>
          <a:prstGeom prst="ellipse">
            <a:avLst/>
          </a:pr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7" name="p-78-b"/>
          <p:cNvSpPr/>
          <p:nvPr/>
        </p:nvSpPr>
        <p:spPr>
          <a:xfrm>
            <a:off x="4584700" y="48511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8" name="p-79-h"/>
          <p:cNvSpPr/>
          <p:nvPr/>
        </p:nvSpPr>
        <p:spPr>
          <a:xfrm>
            <a:off x="5054600" y="4699000"/>
            <a:ext cx="127000" cy="127000"/>
          </a:xfrm>
          <a:prstGeom prst="ellipse">
            <a:avLst/>
          </a:pr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9" name="p-79-b"/>
          <p:cNvSpPr/>
          <p:nvPr/>
        </p:nvSpPr>
        <p:spPr>
          <a:xfrm>
            <a:off x="5016500" y="48511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0" name="p-80-h"/>
          <p:cNvSpPr/>
          <p:nvPr/>
        </p:nvSpPr>
        <p:spPr>
          <a:xfrm>
            <a:off x="1168400" y="5130800"/>
            <a:ext cx="127000" cy="127000"/>
          </a:xfrm>
          <a:prstGeom prst="ellipse">
            <a:avLst/>
          </a:pr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1" name="p-80-b"/>
          <p:cNvSpPr/>
          <p:nvPr/>
        </p:nvSpPr>
        <p:spPr>
          <a:xfrm>
            <a:off x="1130300" y="52829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2" name="p-81-h"/>
          <p:cNvSpPr/>
          <p:nvPr/>
        </p:nvSpPr>
        <p:spPr>
          <a:xfrm>
            <a:off x="1600200" y="5130800"/>
            <a:ext cx="127000" cy="127000"/>
          </a:xfrm>
          <a:prstGeom prst="ellipse">
            <a:avLst/>
          </a:pr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3" name="p-81-b"/>
          <p:cNvSpPr/>
          <p:nvPr/>
        </p:nvSpPr>
        <p:spPr>
          <a:xfrm>
            <a:off x="1562100" y="52829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4" name="p-82-h"/>
          <p:cNvSpPr/>
          <p:nvPr/>
        </p:nvSpPr>
        <p:spPr>
          <a:xfrm>
            <a:off x="2032000" y="5130800"/>
            <a:ext cx="127000" cy="127000"/>
          </a:xfrm>
          <a:prstGeom prst="ellipse">
            <a:avLst/>
          </a:pr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5" name="p-82-b"/>
          <p:cNvSpPr/>
          <p:nvPr/>
        </p:nvSpPr>
        <p:spPr>
          <a:xfrm>
            <a:off x="1993900" y="52829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6" name="p-83-h"/>
          <p:cNvSpPr/>
          <p:nvPr/>
        </p:nvSpPr>
        <p:spPr>
          <a:xfrm>
            <a:off x="2463800" y="5130800"/>
            <a:ext cx="127000" cy="127000"/>
          </a:xfrm>
          <a:prstGeom prst="ellipse">
            <a:avLst/>
          </a:pr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7" name="p-83-b"/>
          <p:cNvSpPr/>
          <p:nvPr/>
        </p:nvSpPr>
        <p:spPr>
          <a:xfrm>
            <a:off x="2425700" y="52829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8" name="p-84-h"/>
          <p:cNvSpPr/>
          <p:nvPr/>
        </p:nvSpPr>
        <p:spPr>
          <a:xfrm>
            <a:off x="2895600" y="5130800"/>
            <a:ext cx="127000" cy="127000"/>
          </a:xfrm>
          <a:prstGeom prst="ellipse">
            <a:avLst/>
          </a:pr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9" name="p-84-b"/>
          <p:cNvSpPr/>
          <p:nvPr/>
        </p:nvSpPr>
        <p:spPr>
          <a:xfrm>
            <a:off x="2857500" y="52829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0" name="p-85-h"/>
          <p:cNvSpPr/>
          <p:nvPr/>
        </p:nvSpPr>
        <p:spPr>
          <a:xfrm>
            <a:off x="3327400" y="5130800"/>
            <a:ext cx="127000" cy="127000"/>
          </a:xfrm>
          <a:prstGeom prst="ellipse">
            <a:avLst/>
          </a:pr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1" name="p-85-b"/>
          <p:cNvSpPr/>
          <p:nvPr/>
        </p:nvSpPr>
        <p:spPr>
          <a:xfrm>
            <a:off x="3289300" y="52829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2" name="p-86-h"/>
          <p:cNvSpPr/>
          <p:nvPr/>
        </p:nvSpPr>
        <p:spPr>
          <a:xfrm>
            <a:off x="3759200" y="5130800"/>
            <a:ext cx="127000" cy="127000"/>
          </a:xfrm>
          <a:prstGeom prst="ellipse">
            <a:avLst/>
          </a:pr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3" name="p-86-b"/>
          <p:cNvSpPr/>
          <p:nvPr/>
        </p:nvSpPr>
        <p:spPr>
          <a:xfrm>
            <a:off x="3721100" y="52829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4" name="p-87-h"/>
          <p:cNvSpPr/>
          <p:nvPr/>
        </p:nvSpPr>
        <p:spPr>
          <a:xfrm>
            <a:off x="4191000" y="5130800"/>
            <a:ext cx="127000" cy="127000"/>
          </a:xfrm>
          <a:prstGeom prst="ellipse">
            <a:avLst/>
          </a:pr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5" name="p-87-b"/>
          <p:cNvSpPr/>
          <p:nvPr/>
        </p:nvSpPr>
        <p:spPr>
          <a:xfrm>
            <a:off x="4152900" y="52829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6" name="p-88-h"/>
          <p:cNvSpPr/>
          <p:nvPr/>
        </p:nvSpPr>
        <p:spPr>
          <a:xfrm>
            <a:off x="4622800" y="5130800"/>
            <a:ext cx="127000" cy="127000"/>
          </a:xfrm>
          <a:prstGeom prst="ellipse">
            <a:avLst/>
          </a:pr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7" name="p-88-b"/>
          <p:cNvSpPr/>
          <p:nvPr/>
        </p:nvSpPr>
        <p:spPr>
          <a:xfrm>
            <a:off x="4584700" y="52829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8" name="p-89-h"/>
          <p:cNvSpPr/>
          <p:nvPr/>
        </p:nvSpPr>
        <p:spPr>
          <a:xfrm>
            <a:off x="5054600" y="5130800"/>
            <a:ext cx="127000" cy="127000"/>
          </a:xfrm>
          <a:prstGeom prst="ellipse">
            <a:avLst/>
          </a:pr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9" name="p-89-b"/>
          <p:cNvSpPr/>
          <p:nvPr/>
        </p:nvSpPr>
        <p:spPr>
          <a:xfrm>
            <a:off x="5016500" y="52829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0" name="p-90-h"/>
          <p:cNvSpPr/>
          <p:nvPr/>
        </p:nvSpPr>
        <p:spPr>
          <a:xfrm>
            <a:off x="1168400" y="5562600"/>
            <a:ext cx="127000" cy="127000"/>
          </a:xfrm>
          <a:prstGeom prst="ellipse">
            <a:avLst/>
          </a:pr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1" name="p-90-b"/>
          <p:cNvSpPr/>
          <p:nvPr/>
        </p:nvSpPr>
        <p:spPr>
          <a:xfrm>
            <a:off x="1130300" y="57147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2" name="p-91-h"/>
          <p:cNvSpPr/>
          <p:nvPr/>
        </p:nvSpPr>
        <p:spPr>
          <a:xfrm>
            <a:off x="1600200" y="5562600"/>
            <a:ext cx="127000" cy="127000"/>
          </a:xfrm>
          <a:prstGeom prst="ellipse">
            <a:avLst/>
          </a:pr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3" name="p-91-b"/>
          <p:cNvSpPr/>
          <p:nvPr/>
        </p:nvSpPr>
        <p:spPr>
          <a:xfrm>
            <a:off x="1562100" y="57147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4" name="p-92-h"/>
          <p:cNvSpPr/>
          <p:nvPr/>
        </p:nvSpPr>
        <p:spPr>
          <a:xfrm>
            <a:off x="2032000" y="5562600"/>
            <a:ext cx="127000" cy="127000"/>
          </a:xfrm>
          <a:prstGeom prst="ellipse">
            <a:avLst/>
          </a:pr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5" name="p-92-b"/>
          <p:cNvSpPr/>
          <p:nvPr/>
        </p:nvSpPr>
        <p:spPr>
          <a:xfrm>
            <a:off x="1993900" y="57147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6" name="p-93-h"/>
          <p:cNvSpPr/>
          <p:nvPr/>
        </p:nvSpPr>
        <p:spPr>
          <a:xfrm>
            <a:off x="2463800" y="5562600"/>
            <a:ext cx="127000" cy="127000"/>
          </a:xfrm>
          <a:prstGeom prst="ellipse">
            <a:avLst/>
          </a:pr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7" name="p-93-b"/>
          <p:cNvSpPr/>
          <p:nvPr/>
        </p:nvSpPr>
        <p:spPr>
          <a:xfrm>
            <a:off x="2425700" y="57147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8" name="p-94-h"/>
          <p:cNvSpPr/>
          <p:nvPr/>
        </p:nvSpPr>
        <p:spPr>
          <a:xfrm>
            <a:off x="2895600" y="5562600"/>
            <a:ext cx="127000" cy="127000"/>
          </a:xfrm>
          <a:prstGeom prst="ellipse">
            <a:avLst/>
          </a:pr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9" name="p-94-b"/>
          <p:cNvSpPr/>
          <p:nvPr/>
        </p:nvSpPr>
        <p:spPr>
          <a:xfrm>
            <a:off x="2857500" y="57147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0" name="p-95-h"/>
          <p:cNvSpPr/>
          <p:nvPr/>
        </p:nvSpPr>
        <p:spPr>
          <a:xfrm>
            <a:off x="3327400" y="5562600"/>
            <a:ext cx="127000" cy="127000"/>
          </a:xfrm>
          <a:prstGeom prst="ellipse">
            <a:avLst/>
          </a:pr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1" name="p-95-b"/>
          <p:cNvSpPr/>
          <p:nvPr/>
        </p:nvSpPr>
        <p:spPr>
          <a:xfrm>
            <a:off x="3289300" y="57147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2" name="p-96-h"/>
          <p:cNvSpPr/>
          <p:nvPr/>
        </p:nvSpPr>
        <p:spPr>
          <a:xfrm>
            <a:off x="3759200" y="5562600"/>
            <a:ext cx="127000" cy="127000"/>
          </a:xfrm>
          <a:prstGeom prst="ellipse">
            <a:avLst/>
          </a:pr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3" name="p-96-b"/>
          <p:cNvSpPr/>
          <p:nvPr/>
        </p:nvSpPr>
        <p:spPr>
          <a:xfrm>
            <a:off x="3721100" y="57147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4" name="p-97-h"/>
          <p:cNvSpPr/>
          <p:nvPr/>
        </p:nvSpPr>
        <p:spPr>
          <a:xfrm>
            <a:off x="4191000" y="5562600"/>
            <a:ext cx="127000" cy="127000"/>
          </a:xfrm>
          <a:prstGeom prst="ellipse">
            <a:avLst/>
          </a:pr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5" name="p-97-b"/>
          <p:cNvSpPr/>
          <p:nvPr/>
        </p:nvSpPr>
        <p:spPr>
          <a:xfrm>
            <a:off x="4152900" y="57147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6" name="p-98-h"/>
          <p:cNvSpPr/>
          <p:nvPr/>
        </p:nvSpPr>
        <p:spPr>
          <a:xfrm>
            <a:off x="4622800" y="5562600"/>
            <a:ext cx="127000" cy="127000"/>
          </a:xfrm>
          <a:prstGeom prst="ellipse">
            <a:avLst/>
          </a:pr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7" name="p-98-b"/>
          <p:cNvSpPr/>
          <p:nvPr/>
        </p:nvSpPr>
        <p:spPr>
          <a:xfrm>
            <a:off x="4584700" y="57147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8" name="p-99-h"/>
          <p:cNvSpPr/>
          <p:nvPr/>
        </p:nvSpPr>
        <p:spPr>
          <a:xfrm>
            <a:off x="5054600" y="5562600"/>
            <a:ext cx="127000" cy="127000"/>
          </a:xfrm>
          <a:prstGeom prst="ellipse">
            <a:avLst/>
          </a:pr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9" name="p-99-b"/>
          <p:cNvSpPr/>
          <p:nvPr/>
        </p:nvSpPr>
        <p:spPr>
          <a:xfrm>
            <a:off x="5016500" y="57147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0" name="frame"/>
          <p:cNvSpPr/>
          <p:nvPr/>
        </p:nvSpPr>
        <p:spPr>
          <a:xfrm>
            <a:off x="927100" y="1524000"/>
            <a:ext cx="4495800" cy="4483100"/>
          </a:xfrm>
          <a:custGeom>
            <a:avLst/>
            <a:gdLst/>
            <a:ahLst/>
            <a:cxnLst/>
            <a:rect l="0" t="0" r="r" b="b"/>
            <a:pathLst>
              <a:path w="4495800" h="4483100">
                <a:moveTo>
                  <a:pt x="139700" y="0"/>
                </a:moveTo>
                <a:lnTo>
                  <a:pt x="4356100" y="0"/>
                </a:lnTo>
                <a:cubicBezTo>
                  <a:pt x="4433252" y="0"/>
                  <a:pt x="4495800" y="62547"/>
                  <a:pt x="4495800" y="139700"/>
                </a:cubicBezTo>
                <a:lnTo>
                  <a:pt x="4495800" y="4343400"/>
                </a:lnTo>
                <a:cubicBezTo>
                  <a:pt x="4495800" y="4420552"/>
                  <a:pt x="4433252" y="4483100"/>
                  <a:pt x="4356100" y="4483100"/>
                </a:cubicBezTo>
                <a:lnTo>
                  <a:pt x="139700" y="4483100"/>
                </a:lnTo>
                <a:cubicBezTo>
                  <a:pt x="62547" y="4483100"/>
                  <a:pt x="0" y="4420552"/>
                  <a:pt x="0" y="4343400"/>
                </a:cubicBezTo>
                <a:lnTo>
                  <a:pt x="0" y="139700"/>
                </a:lnTo>
                <a:cubicBezTo>
                  <a:pt x="0" y="62547"/>
                  <a:pt x="62547" y="0"/>
                  <a:pt x="139700" y="0"/>
                </a:cubicBezTo>
                <a:close/>
              </a:path>
            </a:pathLst>
          </a:custGeom>
          <a:noFill/>
          <a:ln w="9525" cap="rnd">
            <a:solidFill>
              <a:srgbClr val="0B2545">
                <a:alpha val="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1" name="lg-1"/>
          <p:cNvSpPr/>
          <p:nvPr/>
        </p:nvSpPr>
        <p:spPr>
          <a:xfrm>
            <a:off x="6350000" y="1587500"/>
            <a:ext cx="4889500" cy="927100"/>
          </a:xfrm>
          <a:custGeom>
            <a:avLst/>
            <a:gdLst/>
            <a:ahLst/>
            <a:cxnLst/>
            <a:rect l="0" t="0" r="r" b="b"/>
            <a:pathLst>
              <a:path w="4889500" h="927100">
                <a:moveTo>
                  <a:pt x="139700" y="0"/>
                </a:moveTo>
                <a:lnTo>
                  <a:pt x="4749800" y="0"/>
                </a:lnTo>
                <a:cubicBezTo>
                  <a:pt x="4826953" y="0"/>
                  <a:pt x="4889500" y="62548"/>
                  <a:pt x="4889500" y="139700"/>
                </a:cubicBezTo>
                <a:lnTo>
                  <a:pt x="4889500" y="787400"/>
                </a:lnTo>
                <a:cubicBezTo>
                  <a:pt x="4889500" y="864552"/>
                  <a:pt x="4826953" y="927100"/>
                  <a:pt x="4749800" y="927100"/>
                </a:cubicBezTo>
                <a:lnTo>
                  <a:pt x="139700" y="927100"/>
                </a:lnTo>
                <a:cubicBezTo>
                  <a:pt x="62548" y="927100"/>
                  <a:pt x="0" y="864552"/>
                  <a:pt x="0" y="7874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2" name="lgb-1"/>
          <p:cNvSpPr/>
          <p:nvPr/>
        </p:nvSpPr>
        <p:spPr>
          <a:xfrm>
            <a:off x="6350000" y="1587500"/>
            <a:ext cx="50800" cy="927100"/>
          </a:xfrm>
          <a:custGeom>
            <a:avLst/>
            <a:gdLst/>
            <a:ahLst/>
            <a:cxnLst/>
            <a:rect l="0" t="0" r="r" b="b"/>
            <a:pathLst>
              <a:path w="50800" h="927100">
                <a:moveTo>
                  <a:pt x="25400" y="0"/>
                </a:moveTo>
                <a:lnTo>
                  <a:pt x="25400" y="0"/>
                </a:lnTo>
                <a:cubicBezTo>
                  <a:pt x="39434" y="0"/>
                  <a:pt x="50800" y="11366"/>
                  <a:pt x="50800" y="25400"/>
                </a:cubicBezTo>
                <a:lnTo>
                  <a:pt x="50800" y="901700"/>
                </a:lnTo>
                <a:cubicBezTo>
                  <a:pt x="50800" y="915733"/>
                  <a:pt x="39434" y="927100"/>
                  <a:pt x="25400" y="927100"/>
                </a:cubicBezTo>
                <a:lnTo>
                  <a:pt x="25400" y="927100"/>
                </a:lnTo>
                <a:cubicBezTo>
                  <a:pt x="11366" y="927100"/>
                  <a:pt x="0" y="915733"/>
                  <a:pt x="0" y="901700"/>
                </a:cubicBezTo>
                <a:lnTo>
                  <a:pt x="0" y="25400"/>
                </a:lnTo>
                <a:cubicBezTo>
                  <a:pt x="0" y="11366"/>
                  <a:pt x="11366" y="0"/>
                  <a:pt x="254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3" name="lgp-1-h"/>
          <p:cNvSpPr/>
          <p:nvPr/>
        </p:nvSpPr>
        <p:spPr>
          <a:xfrm>
            <a:off x="6667500" y="1879600"/>
            <a:ext cx="127000" cy="1270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4" name="lgp-1-b"/>
          <p:cNvSpPr/>
          <p:nvPr/>
        </p:nvSpPr>
        <p:spPr>
          <a:xfrm>
            <a:off x="6629400" y="20317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5" name="lgn-1"/>
          <p:cNvSpPr txBox="1"/>
          <p:nvPr/>
        </p:nvSpPr>
        <p:spPr>
          <a:xfrm>
            <a:off x="6999732" y="1657096"/>
            <a:ext cx="820928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2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23</a:t>
            </a:r>
          </a:p>
        </p:txBody>
      </p:sp>
      <p:sp>
        <p:nvSpPr>
          <p:cNvPr id="216" name="lgu-1"/>
          <p:cNvSpPr txBox="1"/>
          <p:nvPr/>
        </p:nvSpPr>
        <p:spPr>
          <a:xfrm>
            <a:off x="7577836" y="1986470"/>
            <a:ext cx="2654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人</a:t>
            </a:r>
          </a:p>
        </p:txBody>
      </p:sp>
      <p:sp>
        <p:nvSpPr>
          <p:cNvPr id="217" name="lgt-1"/>
          <p:cNvSpPr txBox="1"/>
          <p:nvPr/>
        </p:nvSpPr>
        <p:spPr>
          <a:xfrm>
            <a:off x="8172450" y="1785144"/>
            <a:ext cx="11715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成为付费客户</a:t>
            </a:r>
          </a:p>
        </p:txBody>
      </p:sp>
      <p:sp>
        <p:nvSpPr>
          <p:cNvPr id="218" name="lgd-1"/>
          <p:cNvSpPr txBox="1"/>
          <p:nvPr/>
        </p:nvSpPr>
        <p:spPr>
          <a:xfrm>
            <a:off x="8178165" y="2085261"/>
            <a:ext cx="120364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其中 9 位一年内增购</a:t>
            </a:r>
          </a:p>
        </p:txBody>
      </p:sp>
      <p:sp>
        <p:nvSpPr>
          <p:cNvPr id="219" name="lgbb-1"/>
          <p:cNvSpPr/>
          <p:nvPr/>
        </p:nvSpPr>
        <p:spPr>
          <a:xfrm>
            <a:off x="8191500" y="2336800"/>
            <a:ext cx="2794000" cy="63500"/>
          </a:xfrm>
          <a:custGeom>
            <a:avLst/>
            <a:gdLst/>
            <a:ahLst/>
            <a:cxnLst/>
            <a:rect l="0" t="0" r="r" b="b"/>
            <a:pathLst>
              <a:path w="2794000" h="63500">
                <a:moveTo>
                  <a:pt x="31750" y="0"/>
                </a:moveTo>
                <a:lnTo>
                  <a:pt x="2762250" y="0"/>
                </a:lnTo>
                <a:cubicBezTo>
                  <a:pt x="2779776" y="0"/>
                  <a:pt x="2794000" y="14224"/>
                  <a:pt x="2794000" y="31750"/>
                </a:cubicBezTo>
                <a:lnTo>
                  <a:pt x="2794000" y="31750"/>
                </a:lnTo>
                <a:cubicBezTo>
                  <a:pt x="2794000" y="49276"/>
                  <a:pt x="2779776" y="63500"/>
                  <a:pt x="2762250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0" name="lgbf-1"/>
          <p:cNvSpPr/>
          <p:nvPr/>
        </p:nvSpPr>
        <p:spPr>
          <a:xfrm>
            <a:off x="8191500" y="2336800"/>
            <a:ext cx="642620" cy="63500"/>
          </a:xfrm>
          <a:custGeom>
            <a:avLst/>
            <a:gdLst/>
            <a:ahLst/>
            <a:cxnLst/>
            <a:rect l="0" t="0" r="r" b="b"/>
            <a:pathLst>
              <a:path w="642620" h="63500">
                <a:moveTo>
                  <a:pt x="31750" y="0"/>
                </a:moveTo>
                <a:lnTo>
                  <a:pt x="610870" y="0"/>
                </a:lnTo>
                <a:cubicBezTo>
                  <a:pt x="628396" y="0"/>
                  <a:pt x="642620" y="14224"/>
                  <a:pt x="642620" y="31750"/>
                </a:cubicBezTo>
                <a:lnTo>
                  <a:pt x="642620" y="31750"/>
                </a:lnTo>
                <a:cubicBezTo>
                  <a:pt x="642620" y="49276"/>
                  <a:pt x="628396" y="63500"/>
                  <a:pt x="610870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1" name="lg-2"/>
          <p:cNvSpPr/>
          <p:nvPr/>
        </p:nvSpPr>
        <p:spPr>
          <a:xfrm>
            <a:off x="6350000" y="2679700"/>
            <a:ext cx="4889500" cy="927100"/>
          </a:xfrm>
          <a:custGeom>
            <a:avLst/>
            <a:gdLst/>
            <a:ahLst/>
            <a:cxnLst/>
            <a:rect l="0" t="0" r="r" b="b"/>
            <a:pathLst>
              <a:path w="4889500" h="927100">
                <a:moveTo>
                  <a:pt x="139700" y="0"/>
                </a:moveTo>
                <a:lnTo>
                  <a:pt x="4749800" y="0"/>
                </a:lnTo>
                <a:cubicBezTo>
                  <a:pt x="4826953" y="0"/>
                  <a:pt x="4889500" y="62548"/>
                  <a:pt x="4889500" y="139700"/>
                </a:cubicBezTo>
                <a:lnTo>
                  <a:pt x="4889500" y="787400"/>
                </a:lnTo>
                <a:cubicBezTo>
                  <a:pt x="4889500" y="864552"/>
                  <a:pt x="4826953" y="927100"/>
                  <a:pt x="4749800" y="927100"/>
                </a:cubicBezTo>
                <a:lnTo>
                  <a:pt x="139700" y="927100"/>
                </a:lnTo>
                <a:cubicBezTo>
                  <a:pt x="62548" y="927100"/>
                  <a:pt x="0" y="864552"/>
                  <a:pt x="0" y="7874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2" name="lgb-2"/>
          <p:cNvSpPr/>
          <p:nvPr/>
        </p:nvSpPr>
        <p:spPr>
          <a:xfrm>
            <a:off x="6350000" y="2679700"/>
            <a:ext cx="50800" cy="927100"/>
          </a:xfrm>
          <a:custGeom>
            <a:avLst/>
            <a:gdLst/>
            <a:ahLst/>
            <a:cxnLst/>
            <a:rect l="0" t="0" r="r" b="b"/>
            <a:pathLst>
              <a:path w="50800" h="927100">
                <a:moveTo>
                  <a:pt x="25400" y="0"/>
                </a:moveTo>
                <a:lnTo>
                  <a:pt x="25400" y="0"/>
                </a:lnTo>
                <a:cubicBezTo>
                  <a:pt x="39434" y="0"/>
                  <a:pt x="50800" y="11367"/>
                  <a:pt x="50800" y="25400"/>
                </a:cubicBezTo>
                <a:lnTo>
                  <a:pt x="50800" y="901700"/>
                </a:lnTo>
                <a:cubicBezTo>
                  <a:pt x="50800" y="915734"/>
                  <a:pt x="39434" y="927100"/>
                  <a:pt x="25400" y="927100"/>
                </a:cubicBezTo>
                <a:lnTo>
                  <a:pt x="25400" y="927100"/>
                </a:lnTo>
                <a:cubicBezTo>
                  <a:pt x="11366" y="927100"/>
                  <a:pt x="0" y="915734"/>
                  <a:pt x="0" y="901700"/>
                </a:cubicBezTo>
                <a:lnTo>
                  <a:pt x="0" y="25400"/>
                </a:lnTo>
                <a:cubicBezTo>
                  <a:pt x="0" y="11367"/>
                  <a:pt x="11366" y="0"/>
                  <a:pt x="254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3" name="lgp-2-h"/>
          <p:cNvSpPr/>
          <p:nvPr/>
        </p:nvSpPr>
        <p:spPr>
          <a:xfrm>
            <a:off x="6667500" y="2971800"/>
            <a:ext cx="127000" cy="1270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4" name="lgp-2-b"/>
          <p:cNvSpPr/>
          <p:nvPr/>
        </p:nvSpPr>
        <p:spPr>
          <a:xfrm>
            <a:off x="6629400" y="31239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5" name="lgn-2"/>
          <p:cNvSpPr txBox="1"/>
          <p:nvPr/>
        </p:nvSpPr>
        <p:spPr>
          <a:xfrm>
            <a:off x="6999732" y="2749296"/>
            <a:ext cx="820928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20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31</a:t>
            </a:r>
          </a:p>
        </p:txBody>
      </p:sp>
      <p:sp>
        <p:nvSpPr>
          <p:cNvPr id="226" name="lgu-2"/>
          <p:cNvSpPr txBox="1"/>
          <p:nvPr/>
        </p:nvSpPr>
        <p:spPr>
          <a:xfrm>
            <a:off x="7577836" y="3078670"/>
            <a:ext cx="2654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人</a:t>
            </a:r>
          </a:p>
        </p:txBody>
      </p:sp>
      <p:sp>
        <p:nvSpPr>
          <p:cNvPr id="227" name="lgt-2"/>
          <p:cNvSpPr txBox="1"/>
          <p:nvPr/>
        </p:nvSpPr>
        <p:spPr>
          <a:xfrm>
            <a:off x="8172450" y="2877344"/>
            <a:ext cx="14763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仍在试用 / 观望</a:t>
            </a:r>
          </a:p>
        </p:txBody>
      </p:sp>
      <p:sp>
        <p:nvSpPr>
          <p:cNvPr id="228" name="lgd-2"/>
          <p:cNvSpPr txBox="1"/>
          <p:nvPr/>
        </p:nvSpPr>
        <p:spPr>
          <a:xfrm>
            <a:off x="8178165" y="3177461"/>
            <a:ext cx="92741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平均停留 17 天</a:t>
            </a:r>
          </a:p>
        </p:txBody>
      </p:sp>
      <p:sp>
        <p:nvSpPr>
          <p:cNvPr id="229" name="lgbb-2"/>
          <p:cNvSpPr/>
          <p:nvPr/>
        </p:nvSpPr>
        <p:spPr>
          <a:xfrm>
            <a:off x="8191500" y="3429000"/>
            <a:ext cx="2794000" cy="63500"/>
          </a:xfrm>
          <a:custGeom>
            <a:avLst/>
            <a:gdLst/>
            <a:ahLst/>
            <a:cxnLst/>
            <a:rect l="0" t="0" r="r" b="b"/>
            <a:pathLst>
              <a:path w="2794000" h="63500">
                <a:moveTo>
                  <a:pt x="31750" y="0"/>
                </a:moveTo>
                <a:lnTo>
                  <a:pt x="2762250" y="0"/>
                </a:lnTo>
                <a:cubicBezTo>
                  <a:pt x="2779776" y="0"/>
                  <a:pt x="2794000" y="14224"/>
                  <a:pt x="2794000" y="31750"/>
                </a:cubicBezTo>
                <a:lnTo>
                  <a:pt x="2794000" y="31750"/>
                </a:lnTo>
                <a:cubicBezTo>
                  <a:pt x="2794000" y="49276"/>
                  <a:pt x="2779776" y="63500"/>
                  <a:pt x="2762250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0" name="lgbf-2"/>
          <p:cNvSpPr/>
          <p:nvPr/>
        </p:nvSpPr>
        <p:spPr>
          <a:xfrm>
            <a:off x="8191500" y="3429000"/>
            <a:ext cx="866140" cy="63500"/>
          </a:xfrm>
          <a:custGeom>
            <a:avLst/>
            <a:gdLst/>
            <a:ahLst/>
            <a:cxnLst/>
            <a:rect l="0" t="0" r="r" b="b"/>
            <a:pathLst>
              <a:path w="866140" h="63500">
                <a:moveTo>
                  <a:pt x="31750" y="0"/>
                </a:moveTo>
                <a:lnTo>
                  <a:pt x="834390" y="0"/>
                </a:lnTo>
                <a:cubicBezTo>
                  <a:pt x="851916" y="0"/>
                  <a:pt x="866140" y="14224"/>
                  <a:pt x="866140" y="31750"/>
                </a:cubicBezTo>
                <a:lnTo>
                  <a:pt x="866140" y="31750"/>
                </a:lnTo>
                <a:cubicBezTo>
                  <a:pt x="866140" y="49276"/>
                  <a:pt x="851916" y="63500"/>
                  <a:pt x="834390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1" name="lg-3"/>
          <p:cNvSpPr/>
          <p:nvPr/>
        </p:nvSpPr>
        <p:spPr>
          <a:xfrm>
            <a:off x="6350000" y="3771900"/>
            <a:ext cx="4889500" cy="927100"/>
          </a:xfrm>
          <a:custGeom>
            <a:avLst/>
            <a:gdLst/>
            <a:ahLst/>
            <a:cxnLst/>
            <a:rect l="0" t="0" r="r" b="b"/>
            <a:pathLst>
              <a:path w="4889500" h="927100">
                <a:moveTo>
                  <a:pt x="139700" y="0"/>
                </a:moveTo>
                <a:lnTo>
                  <a:pt x="4749800" y="0"/>
                </a:lnTo>
                <a:cubicBezTo>
                  <a:pt x="4826953" y="0"/>
                  <a:pt x="4889500" y="62548"/>
                  <a:pt x="4889500" y="139700"/>
                </a:cubicBezTo>
                <a:lnTo>
                  <a:pt x="4889500" y="787400"/>
                </a:lnTo>
                <a:cubicBezTo>
                  <a:pt x="4889500" y="864552"/>
                  <a:pt x="4826953" y="927100"/>
                  <a:pt x="4749800" y="927100"/>
                </a:cubicBezTo>
                <a:lnTo>
                  <a:pt x="139700" y="927100"/>
                </a:lnTo>
                <a:cubicBezTo>
                  <a:pt x="62548" y="927100"/>
                  <a:pt x="0" y="864552"/>
                  <a:pt x="0" y="7874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2" name="lgb-3"/>
          <p:cNvSpPr/>
          <p:nvPr/>
        </p:nvSpPr>
        <p:spPr>
          <a:xfrm>
            <a:off x="6350000" y="3771900"/>
            <a:ext cx="50800" cy="927100"/>
          </a:xfrm>
          <a:custGeom>
            <a:avLst/>
            <a:gdLst/>
            <a:ahLst/>
            <a:cxnLst/>
            <a:rect l="0" t="0" r="r" b="b"/>
            <a:pathLst>
              <a:path w="50800" h="927100">
                <a:moveTo>
                  <a:pt x="25400" y="0"/>
                </a:moveTo>
                <a:lnTo>
                  <a:pt x="25400" y="0"/>
                </a:lnTo>
                <a:cubicBezTo>
                  <a:pt x="39434" y="0"/>
                  <a:pt x="50800" y="11366"/>
                  <a:pt x="50800" y="25400"/>
                </a:cubicBezTo>
                <a:lnTo>
                  <a:pt x="50800" y="901700"/>
                </a:lnTo>
                <a:cubicBezTo>
                  <a:pt x="50800" y="915734"/>
                  <a:pt x="39434" y="927100"/>
                  <a:pt x="25400" y="927100"/>
                </a:cubicBezTo>
                <a:lnTo>
                  <a:pt x="25400" y="927100"/>
                </a:lnTo>
                <a:cubicBezTo>
                  <a:pt x="11366" y="927100"/>
                  <a:pt x="0" y="915734"/>
                  <a:pt x="0" y="901700"/>
                </a:cubicBezTo>
                <a:lnTo>
                  <a:pt x="0" y="25400"/>
                </a:lnTo>
                <a:cubicBezTo>
                  <a:pt x="0" y="11366"/>
                  <a:pt x="11366" y="0"/>
                  <a:pt x="254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3" name="lgp-3-h"/>
          <p:cNvSpPr/>
          <p:nvPr/>
        </p:nvSpPr>
        <p:spPr>
          <a:xfrm>
            <a:off x="6667500" y="4064000"/>
            <a:ext cx="127000" cy="1270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4" name="lgp-3-b"/>
          <p:cNvSpPr/>
          <p:nvPr/>
        </p:nvSpPr>
        <p:spPr>
          <a:xfrm>
            <a:off x="6629400" y="42161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5" name="lgn-3"/>
          <p:cNvSpPr txBox="1"/>
          <p:nvPr/>
        </p:nvSpPr>
        <p:spPr>
          <a:xfrm>
            <a:off x="6999732" y="3841496"/>
            <a:ext cx="820928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2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18</a:t>
            </a:r>
          </a:p>
        </p:txBody>
      </p:sp>
      <p:sp>
        <p:nvSpPr>
          <p:cNvPr id="236" name="lgu-3"/>
          <p:cNvSpPr txBox="1"/>
          <p:nvPr/>
        </p:nvSpPr>
        <p:spPr>
          <a:xfrm>
            <a:off x="7577836" y="4170871"/>
            <a:ext cx="2654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人</a:t>
            </a:r>
          </a:p>
        </p:txBody>
      </p:sp>
      <p:sp>
        <p:nvSpPr>
          <p:cNvPr id="237" name="lgt-3"/>
          <p:cNvSpPr txBox="1"/>
          <p:nvPr/>
        </p:nvSpPr>
        <p:spPr>
          <a:xfrm>
            <a:off x="8172450" y="39695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转向竞品</a:t>
            </a:r>
          </a:p>
        </p:txBody>
      </p:sp>
      <p:sp>
        <p:nvSpPr>
          <p:cNvPr id="238" name="lgd-3"/>
          <p:cNvSpPr txBox="1"/>
          <p:nvPr/>
        </p:nvSpPr>
        <p:spPr>
          <a:xfrm>
            <a:off x="8178165" y="4269661"/>
            <a:ext cx="8956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主要原因：价格</a:t>
            </a:r>
          </a:p>
        </p:txBody>
      </p:sp>
      <p:sp>
        <p:nvSpPr>
          <p:cNvPr id="239" name="lgbb-3"/>
          <p:cNvSpPr/>
          <p:nvPr/>
        </p:nvSpPr>
        <p:spPr>
          <a:xfrm>
            <a:off x="8191500" y="4521200"/>
            <a:ext cx="2794000" cy="63500"/>
          </a:xfrm>
          <a:custGeom>
            <a:avLst/>
            <a:gdLst/>
            <a:ahLst/>
            <a:cxnLst/>
            <a:rect l="0" t="0" r="r" b="b"/>
            <a:pathLst>
              <a:path w="2794000" h="63500">
                <a:moveTo>
                  <a:pt x="31750" y="0"/>
                </a:moveTo>
                <a:lnTo>
                  <a:pt x="2762250" y="0"/>
                </a:lnTo>
                <a:cubicBezTo>
                  <a:pt x="2779776" y="0"/>
                  <a:pt x="2794000" y="14224"/>
                  <a:pt x="2794000" y="31750"/>
                </a:cubicBezTo>
                <a:lnTo>
                  <a:pt x="2794000" y="31750"/>
                </a:lnTo>
                <a:cubicBezTo>
                  <a:pt x="2794000" y="49276"/>
                  <a:pt x="2779776" y="63500"/>
                  <a:pt x="2762250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0" name="lgbf-3"/>
          <p:cNvSpPr/>
          <p:nvPr/>
        </p:nvSpPr>
        <p:spPr>
          <a:xfrm>
            <a:off x="8191500" y="4521200"/>
            <a:ext cx="502920" cy="63500"/>
          </a:xfrm>
          <a:custGeom>
            <a:avLst/>
            <a:gdLst/>
            <a:ahLst/>
            <a:cxnLst/>
            <a:rect l="0" t="0" r="r" b="b"/>
            <a:pathLst>
              <a:path w="502920" h="63500">
                <a:moveTo>
                  <a:pt x="31750" y="0"/>
                </a:moveTo>
                <a:lnTo>
                  <a:pt x="471170" y="0"/>
                </a:lnTo>
                <a:cubicBezTo>
                  <a:pt x="488696" y="0"/>
                  <a:pt x="502920" y="14224"/>
                  <a:pt x="502920" y="31750"/>
                </a:cubicBezTo>
                <a:lnTo>
                  <a:pt x="502920" y="31750"/>
                </a:lnTo>
                <a:cubicBezTo>
                  <a:pt x="502920" y="49276"/>
                  <a:pt x="488696" y="63500"/>
                  <a:pt x="471170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1" name="lg-4"/>
          <p:cNvSpPr/>
          <p:nvPr/>
        </p:nvSpPr>
        <p:spPr>
          <a:xfrm>
            <a:off x="6350000" y="4864100"/>
            <a:ext cx="4889500" cy="927100"/>
          </a:xfrm>
          <a:custGeom>
            <a:avLst/>
            <a:gdLst/>
            <a:ahLst/>
            <a:cxnLst/>
            <a:rect l="0" t="0" r="r" b="b"/>
            <a:pathLst>
              <a:path w="4889500" h="927100">
                <a:moveTo>
                  <a:pt x="139700" y="0"/>
                </a:moveTo>
                <a:lnTo>
                  <a:pt x="4749800" y="0"/>
                </a:lnTo>
                <a:cubicBezTo>
                  <a:pt x="4826953" y="0"/>
                  <a:pt x="4889500" y="62548"/>
                  <a:pt x="4889500" y="139700"/>
                </a:cubicBezTo>
                <a:lnTo>
                  <a:pt x="4889500" y="787400"/>
                </a:lnTo>
                <a:cubicBezTo>
                  <a:pt x="4889500" y="864552"/>
                  <a:pt x="4826953" y="927100"/>
                  <a:pt x="4749800" y="927100"/>
                </a:cubicBezTo>
                <a:lnTo>
                  <a:pt x="139700" y="927100"/>
                </a:lnTo>
                <a:cubicBezTo>
                  <a:pt x="62548" y="927100"/>
                  <a:pt x="0" y="864552"/>
                  <a:pt x="0" y="7874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2" name="lgb-4"/>
          <p:cNvSpPr/>
          <p:nvPr/>
        </p:nvSpPr>
        <p:spPr>
          <a:xfrm>
            <a:off x="6350000" y="4864100"/>
            <a:ext cx="50800" cy="927100"/>
          </a:xfrm>
          <a:custGeom>
            <a:avLst/>
            <a:gdLst/>
            <a:ahLst/>
            <a:cxnLst/>
            <a:rect l="0" t="0" r="r" b="b"/>
            <a:pathLst>
              <a:path w="50800" h="927100">
                <a:moveTo>
                  <a:pt x="25400" y="0"/>
                </a:moveTo>
                <a:lnTo>
                  <a:pt x="25400" y="0"/>
                </a:lnTo>
                <a:cubicBezTo>
                  <a:pt x="39434" y="0"/>
                  <a:pt x="50800" y="11366"/>
                  <a:pt x="50800" y="25400"/>
                </a:cubicBezTo>
                <a:lnTo>
                  <a:pt x="50800" y="901700"/>
                </a:lnTo>
                <a:cubicBezTo>
                  <a:pt x="50800" y="915734"/>
                  <a:pt x="39434" y="927100"/>
                  <a:pt x="25400" y="927100"/>
                </a:cubicBezTo>
                <a:lnTo>
                  <a:pt x="25400" y="927100"/>
                </a:lnTo>
                <a:cubicBezTo>
                  <a:pt x="11366" y="927100"/>
                  <a:pt x="0" y="915734"/>
                  <a:pt x="0" y="901700"/>
                </a:cubicBezTo>
                <a:lnTo>
                  <a:pt x="0" y="25400"/>
                </a:lnTo>
                <a:cubicBezTo>
                  <a:pt x="0" y="11366"/>
                  <a:pt x="11366" y="0"/>
                  <a:pt x="25400" y="0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3" name="lgp-4-h"/>
          <p:cNvSpPr/>
          <p:nvPr/>
        </p:nvSpPr>
        <p:spPr>
          <a:xfrm>
            <a:off x="6667500" y="5156200"/>
            <a:ext cx="127000" cy="127000"/>
          </a:xfrm>
          <a:prstGeom prst="ellipse">
            <a:avLst/>
          </a:pr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4" name="lgp-4-b"/>
          <p:cNvSpPr/>
          <p:nvPr/>
        </p:nvSpPr>
        <p:spPr>
          <a:xfrm>
            <a:off x="6629400" y="5308377"/>
            <a:ext cx="203200" cy="152623"/>
          </a:xfrm>
          <a:custGeom>
            <a:avLst/>
            <a:gdLst/>
            <a:ahLst/>
            <a:cxnLst/>
            <a:rect l="0" t="0" r="r" b="b"/>
            <a:pathLst>
              <a:path w="203200" h="152623">
                <a:moveTo>
                  <a:pt x="0" y="152623"/>
                </a:moveTo>
                <a:cubicBezTo>
                  <a:pt x="0" y="-12477"/>
                  <a:pt x="44450" y="223"/>
                  <a:pt x="101600" y="223"/>
                </a:cubicBezTo>
                <a:cubicBezTo>
                  <a:pt x="158750" y="223"/>
                  <a:pt x="203200" y="-12477"/>
                  <a:pt x="203200" y="152623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5" name="lgn-4"/>
          <p:cNvSpPr txBox="1"/>
          <p:nvPr/>
        </p:nvSpPr>
        <p:spPr>
          <a:xfrm>
            <a:off x="6999732" y="4933696"/>
            <a:ext cx="820928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20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28</a:t>
            </a:r>
          </a:p>
        </p:txBody>
      </p:sp>
      <p:sp>
        <p:nvSpPr>
          <p:cNvPr id="246" name="lgu-4"/>
          <p:cNvSpPr txBox="1"/>
          <p:nvPr/>
        </p:nvSpPr>
        <p:spPr>
          <a:xfrm>
            <a:off x="7577836" y="5263070"/>
            <a:ext cx="2654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人</a:t>
            </a:r>
          </a:p>
        </p:txBody>
      </p:sp>
      <p:sp>
        <p:nvSpPr>
          <p:cNvPr id="247" name="lgt-4"/>
          <p:cNvSpPr txBox="1"/>
          <p:nvPr/>
        </p:nvSpPr>
        <p:spPr>
          <a:xfrm>
            <a:off x="8172450" y="5061744"/>
            <a:ext cx="10001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流失未回复</a:t>
            </a:r>
          </a:p>
        </p:txBody>
      </p:sp>
      <p:sp>
        <p:nvSpPr>
          <p:cNvPr id="248" name="lgd-4"/>
          <p:cNvSpPr txBox="1"/>
          <p:nvPr/>
        </p:nvSpPr>
        <p:spPr>
          <a:xfrm>
            <a:off x="8178165" y="53618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多数停在注册第二天</a:t>
            </a:r>
          </a:p>
        </p:txBody>
      </p:sp>
      <p:sp>
        <p:nvSpPr>
          <p:cNvPr id="249" name="lgbb-4"/>
          <p:cNvSpPr/>
          <p:nvPr/>
        </p:nvSpPr>
        <p:spPr>
          <a:xfrm>
            <a:off x="8191500" y="5613400"/>
            <a:ext cx="2794000" cy="63500"/>
          </a:xfrm>
          <a:custGeom>
            <a:avLst/>
            <a:gdLst/>
            <a:ahLst/>
            <a:cxnLst/>
            <a:rect l="0" t="0" r="r" b="b"/>
            <a:pathLst>
              <a:path w="2794000" h="63500">
                <a:moveTo>
                  <a:pt x="31750" y="0"/>
                </a:moveTo>
                <a:lnTo>
                  <a:pt x="2762250" y="0"/>
                </a:lnTo>
                <a:cubicBezTo>
                  <a:pt x="2779776" y="0"/>
                  <a:pt x="2794000" y="14224"/>
                  <a:pt x="2794000" y="31750"/>
                </a:cubicBezTo>
                <a:lnTo>
                  <a:pt x="2794000" y="31750"/>
                </a:lnTo>
                <a:cubicBezTo>
                  <a:pt x="2794000" y="49276"/>
                  <a:pt x="2779776" y="63500"/>
                  <a:pt x="2762250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0" name="lgbf-4"/>
          <p:cNvSpPr/>
          <p:nvPr/>
        </p:nvSpPr>
        <p:spPr>
          <a:xfrm>
            <a:off x="8191500" y="5613400"/>
            <a:ext cx="782320" cy="63500"/>
          </a:xfrm>
          <a:custGeom>
            <a:avLst/>
            <a:gdLst/>
            <a:ahLst/>
            <a:cxnLst/>
            <a:rect l="0" t="0" r="r" b="b"/>
            <a:pathLst>
              <a:path w="782320" h="63500">
                <a:moveTo>
                  <a:pt x="31750" y="0"/>
                </a:moveTo>
                <a:lnTo>
                  <a:pt x="750570" y="0"/>
                </a:lnTo>
                <a:cubicBezTo>
                  <a:pt x="768096" y="0"/>
                  <a:pt x="782320" y="14224"/>
                  <a:pt x="782320" y="31750"/>
                </a:cubicBezTo>
                <a:lnTo>
                  <a:pt x="782320" y="31750"/>
                </a:lnTo>
                <a:cubicBezTo>
                  <a:pt x="782320" y="49276"/>
                  <a:pt x="768096" y="63500"/>
                  <a:pt x="750570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1" name="src"/>
          <p:cNvSpPr txBox="1"/>
          <p:nvPr/>
        </p:nvSpPr>
        <p:spPr>
          <a:xfrm>
            <a:off x="8930005" y="5978366"/>
            <a:ext cx="23209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数据：2026 年 1–9 月全部试用客户，n = 4,862</a:t>
            </a:r>
          </a:p>
        </p:txBody>
      </p:sp>
      <p:cxnSp>
        <p:nvCxnSpPr>
          <p:cNvPr id="252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3" name="foot-l"/>
          <p:cNvSpPr txBox="1"/>
          <p:nvPr/>
        </p:nvSpPr>
        <p:spPr>
          <a:xfrm>
            <a:off x="573532" y="6532308"/>
            <a:ext cx="108572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人形图 · 100 位客户</a:t>
            </a:r>
          </a:p>
        </p:txBody>
      </p:sp>
      <p:sp>
        <p:nvSpPr>
          <p:cNvPr id="254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五年营收结构演变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08165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STREAMGRAPH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7618095" y="673132"/>
            <a:ext cx="40026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每条河的宽度代表当年营收——软件占比在下降，云与数据服务的河道越来越宽</a:t>
            </a:r>
          </a:p>
        </p:txBody>
      </p:sp>
      <p:sp>
        <p:nvSpPr>
          <p:cNvPr id="10" name="st-1"/>
          <p:cNvSpPr/>
          <p:nvPr/>
        </p:nvSpPr>
        <p:spPr>
          <a:xfrm>
            <a:off x="1397000" y="1959610"/>
            <a:ext cx="6731000" cy="1957070"/>
          </a:xfrm>
          <a:custGeom>
            <a:avLst/>
            <a:gdLst/>
            <a:ahLst/>
            <a:cxnLst/>
            <a:rect l="0" t="0" r="r" b="b"/>
            <a:pathLst>
              <a:path w="6731000" h="1957070">
                <a:moveTo>
                  <a:pt x="0" y="730250"/>
                </a:moveTo>
                <a:cubicBezTo>
                  <a:pt x="224346" y="706882"/>
                  <a:pt x="1233996" y="597852"/>
                  <a:pt x="1682750" y="554990"/>
                </a:cubicBezTo>
                <a:cubicBezTo>
                  <a:pt x="2131504" y="512127"/>
                  <a:pt x="2916746" y="451802"/>
                  <a:pt x="3365500" y="408940"/>
                </a:cubicBezTo>
                <a:cubicBezTo>
                  <a:pt x="3814254" y="366077"/>
                  <a:pt x="4599496" y="288226"/>
                  <a:pt x="5048250" y="233680"/>
                </a:cubicBezTo>
                <a:cubicBezTo>
                  <a:pt x="5497004" y="179133"/>
                  <a:pt x="6506654" y="31178"/>
                  <a:pt x="6731000" y="0"/>
                </a:cubicBezTo>
                <a:lnTo>
                  <a:pt x="6731000" y="1460500"/>
                </a:lnTo>
                <a:cubicBezTo>
                  <a:pt x="6506654" y="1483868"/>
                  <a:pt x="5497004" y="1592898"/>
                  <a:pt x="5048250" y="1635760"/>
                </a:cubicBezTo>
                <a:cubicBezTo>
                  <a:pt x="4599496" y="1678623"/>
                  <a:pt x="3814254" y="1750631"/>
                  <a:pt x="3365500" y="1781810"/>
                </a:cubicBezTo>
                <a:cubicBezTo>
                  <a:pt x="2916746" y="1812988"/>
                  <a:pt x="2131504" y="1846072"/>
                  <a:pt x="1682750" y="1869440"/>
                </a:cubicBezTo>
                <a:cubicBezTo>
                  <a:pt x="1233996" y="1892808"/>
                  <a:pt x="224346" y="1945386"/>
                  <a:pt x="0" y="1957070"/>
                </a:cubicBezTo>
                <a:close/>
              </a:path>
            </a:pathLst>
          </a:custGeom>
          <a:gradFill rotWithShape="1">
            <a:gsLst>
              <a:gs pos="0">
                <a:srgbClr val="23519A"/>
              </a:gs>
              <a:gs pos="100000">
                <a:srgbClr val="0B3E8F"/>
              </a:gs>
            </a:gsLst>
            <a:lin ang="0" scaled="0"/>
          </a:gra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sl-1"/>
          <p:cNvSpPr txBox="1"/>
          <p:nvPr/>
        </p:nvSpPr>
        <p:spPr>
          <a:xfrm>
            <a:off x="8242046" y="2594642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企业软件</a:t>
            </a:r>
          </a:p>
        </p:txBody>
      </p:sp>
      <p:sp>
        <p:nvSpPr>
          <p:cNvPr id="12" name="sv-1"/>
          <p:cNvSpPr txBox="1"/>
          <p:nvPr/>
        </p:nvSpPr>
        <p:spPr>
          <a:xfrm>
            <a:off x="8776208" y="260248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5.0</a:t>
            </a:r>
          </a:p>
        </p:txBody>
      </p:sp>
      <p:sp>
        <p:nvSpPr>
          <p:cNvPr id="13" name="st-2"/>
          <p:cNvSpPr/>
          <p:nvPr/>
        </p:nvSpPr>
        <p:spPr>
          <a:xfrm>
            <a:off x="1397000" y="3420110"/>
            <a:ext cx="6731000" cy="993140"/>
          </a:xfrm>
          <a:custGeom>
            <a:avLst/>
            <a:gdLst/>
            <a:ahLst/>
            <a:cxnLst/>
            <a:rect l="0" t="0" r="r" b="b"/>
            <a:pathLst>
              <a:path w="6731000" h="993140">
                <a:moveTo>
                  <a:pt x="0" y="496570"/>
                </a:moveTo>
                <a:cubicBezTo>
                  <a:pt x="224346" y="484886"/>
                  <a:pt x="1233996" y="432308"/>
                  <a:pt x="1682750" y="408940"/>
                </a:cubicBezTo>
                <a:cubicBezTo>
                  <a:pt x="2131504" y="385572"/>
                  <a:pt x="2916746" y="352488"/>
                  <a:pt x="3365500" y="321310"/>
                </a:cubicBezTo>
                <a:cubicBezTo>
                  <a:pt x="3814254" y="290131"/>
                  <a:pt x="4599496" y="218123"/>
                  <a:pt x="5048250" y="175260"/>
                </a:cubicBezTo>
                <a:cubicBezTo>
                  <a:pt x="5497004" y="132398"/>
                  <a:pt x="6506654" y="23368"/>
                  <a:pt x="6731000" y="0"/>
                </a:cubicBezTo>
                <a:lnTo>
                  <a:pt x="6731000" y="993140"/>
                </a:lnTo>
                <a:cubicBezTo>
                  <a:pt x="6506654" y="985329"/>
                  <a:pt x="5497004" y="946404"/>
                  <a:pt x="5048250" y="934720"/>
                </a:cubicBezTo>
                <a:cubicBezTo>
                  <a:pt x="4599496" y="923036"/>
                  <a:pt x="3814254" y="921067"/>
                  <a:pt x="3365500" y="905510"/>
                </a:cubicBezTo>
                <a:cubicBezTo>
                  <a:pt x="2916746" y="889952"/>
                  <a:pt x="2131504" y="841248"/>
                  <a:pt x="1682750" y="817880"/>
                </a:cubicBezTo>
                <a:cubicBezTo>
                  <a:pt x="1233996" y="794512"/>
                  <a:pt x="224346" y="741934"/>
                  <a:pt x="0" y="730250"/>
                </a:cubicBezTo>
                <a:close/>
              </a:path>
            </a:pathLst>
          </a:custGeom>
          <a:gradFill rotWithShape="1">
            <a:gsLst>
              <a:gs pos="0">
                <a:srgbClr val="326AB1"/>
              </a:gs>
              <a:gs pos="100000">
                <a:srgbClr val="1B5AA8"/>
              </a:gs>
            </a:gsLst>
            <a:lin ang="0" scaled="0"/>
          </a:gra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sl-2"/>
          <p:cNvSpPr txBox="1"/>
          <p:nvPr/>
        </p:nvSpPr>
        <p:spPr>
          <a:xfrm>
            <a:off x="8242046" y="3821462"/>
            <a:ext cx="4400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云服务</a:t>
            </a:r>
          </a:p>
        </p:txBody>
      </p:sp>
      <p:sp>
        <p:nvSpPr>
          <p:cNvPr id="15" name="sv-2"/>
          <p:cNvSpPr txBox="1"/>
          <p:nvPr/>
        </p:nvSpPr>
        <p:spPr>
          <a:xfrm>
            <a:off x="8661908" y="382930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1B5AA8"/>
                </a:solidFill>
                <a:latin typeface="Arial"/>
                <a:ea typeface="Arial"/>
                <a:cs typeface="Arial"/>
              </a:rPr>
              <a:t>3.4</a:t>
            </a:r>
          </a:p>
        </p:txBody>
      </p:sp>
      <p:sp>
        <p:nvSpPr>
          <p:cNvPr id="16" name="st-3"/>
          <p:cNvSpPr/>
          <p:nvPr/>
        </p:nvSpPr>
        <p:spPr>
          <a:xfrm>
            <a:off x="1397000" y="4150360"/>
            <a:ext cx="6731000" cy="905510"/>
          </a:xfrm>
          <a:custGeom>
            <a:avLst/>
            <a:gdLst/>
            <a:ahLst/>
            <a:cxnLst/>
            <a:rect l="0" t="0" r="r" b="b"/>
            <a:pathLst>
              <a:path w="6731000" h="905510">
                <a:moveTo>
                  <a:pt x="0" y="0"/>
                </a:moveTo>
                <a:cubicBezTo>
                  <a:pt x="224346" y="11684"/>
                  <a:pt x="1233996" y="64262"/>
                  <a:pt x="1682750" y="87630"/>
                </a:cubicBezTo>
                <a:cubicBezTo>
                  <a:pt x="2131504" y="110998"/>
                  <a:pt x="2916746" y="159702"/>
                  <a:pt x="3365500" y="175260"/>
                </a:cubicBezTo>
                <a:cubicBezTo>
                  <a:pt x="3814254" y="190817"/>
                  <a:pt x="4599496" y="192786"/>
                  <a:pt x="5048250" y="204470"/>
                </a:cubicBezTo>
                <a:cubicBezTo>
                  <a:pt x="5497004" y="216154"/>
                  <a:pt x="6506654" y="255079"/>
                  <a:pt x="6731000" y="262890"/>
                </a:cubicBezTo>
                <a:lnTo>
                  <a:pt x="6731000" y="905510"/>
                </a:lnTo>
                <a:cubicBezTo>
                  <a:pt x="6506654" y="870458"/>
                  <a:pt x="5497004" y="701040"/>
                  <a:pt x="5048250" y="642620"/>
                </a:cubicBezTo>
                <a:cubicBezTo>
                  <a:pt x="4599496" y="584200"/>
                  <a:pt x="3814254" y="517969"/>
                  <a:pt x="3365500" y="467360"/>
                </a:cubicBezTo>
                <a:cubicBezTo>
                  <a:pt x="2916746" y="416750"/>
                  <a:pt x="2131504" y="313500"/>
                  <a:pt x="1682750" y="262890"/>
                </a:cubicBezTo>
                <a:cubicBezTo>
                  <a:pt x="1233996" y="212280"/>
                  <a:pt x="224346" y="110998"/>
                  <a:pt x="0" y="87630"/>
                </a:cubicBezTo>
                <a:close/>
              </a:path>
            </a:pathLst>
          </a:custGeom>
          <a:gradFill rotWithShape="1">
            <a:gsLst>
              <a:gs pos="0">
                <a:srgbClr val="4385C8"/>
              </a:gs>
              <a:gs pos="100000">
                <a:srgbClr val="2E77C2"/>
              </a:gs>
            </a:gsLst>
            <a:lin ang="0" scaled="0"/>
          </a:gra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sl-3"/>
          <p:cNvSpPr txBox="1"/>
          <p:nvPr/>
        </p:nvSpPr>
        <p:spPr>
          <a:xfrm>
            <a:off x="8242046" y="4639342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数据服务</a:t>
            </a:r>
          </a:p>
        </p:txBody>
      </p:sp>
      <p:sp>
        <p:nvSpPr>
          <p:cNvPr id="18" name="sv-3"/>
          <p:cNvSpPr txBox="1"/>
          <p:nvPr/>
        </p:nvSpPr>
        <p:spPr>
          <a:xfrm>
            <a:off x="8776208" y="464718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2.2</a:t>
            </a:r>
          </a:p>
        </p:txBody>
      </p:sp>
      <p:sp>
        <p:nvSpPr>
          <p:cNvPr id="19" name="st-4"/>
          <p:cNvSpPr/>
          <p:nvPr/>
        </p:nvSpPr>
        <p:spPr>
          <a:xfrm>
            <a:off x="1397000" y="4237990"/>
            <a:ext cx="6731000" cy="1051560"/>
          </a:xfrm>
          <a:custGeom>
            <a:avLst/>
            <a:gdLst/>
            <a:ahLst/>
            <a:cxnLst/>
            <a:rect l="0" t="0" r="r" b="b"/>
            <a:pathLst>
              <a:path w="6731000" h="1051560">
                <a:moveTo>
                  <a:pt x="0" y="0"/>
                </a:moveTo>
                <a:cubicBezTo>
                  <a:pt x="224346" y="23368"/>
                  <a:pt x="1233996" y="124650"/>
                  <a:pt x="1682750" y="175260"/>
                </a:cubicBezTo>
                <a:cubicBezTo>
                  <a:pt x="2131504" y="225870"/>
                  <a:pt x="2916746" y="329121"/>
                  <a:pt x="3365500" y="379730"/>
                </a:cubicBezTo>
                <a:cubicBezTo>
                  <a:pt x="3814254" y="430339"/>
                  <a:pt x="4599496" y="496570"/>
                  <a:pt x="5048250" y="554990"/>
                </a:cubicBezTo>
                <a:cubicBezTo>
                  <a:pt x="5497004" y="613410"/>
                  <a:pt x="6506654" y="782828"/>
                  <a:pt x="6731000" y="817880"/>
                </a:cubicBezTo>
                <a:lnTo>
                  <a:pt x="6731000" y="1051560"/>
                </a:lnTo>
                <a:cubicBezTo>
                  <a:pt x="6506654" y="1020382"/>
                  <a:pt x="5497004" y="872426"/>
                  <a:pt x="5048250" y="817880"/>
                </a:cubicBezTo>
                <a:cubicBezTo>
                  <a:pt x="4599496" y="763334"/>
                  <a:pt x="3814254" y="689356"/>
                  <a:pt x="3365500" y="642620"/>
                </a:cubicBezTo>
                <a:cubicBezTo>
                  <a:pt x="2916746" y="595884"/>
                  <a:pt x="2131504" y="514096"/>
                  <a:pt x="1682750" y="467360"/>
                </a:cubicBezTo>
                <a:cubicBezTo>
                  <a:pt x="1233996" y="420624"/>
                  <a:pt x="224346" y="315468"/>
                  <a:pt x="0" y="292100"/>
                </a:cubicBezTo>
                <a:close/>
              </a:path>
            </a:pathLst>
          </a:custGeom>
          <a:gradFill rotWithShape="1">
            <a:gsLst>
              <a:gs pos="0">
                <a:srgbClr val="589FDB"/>
              </a:gs>
              <a:gs pos="100000">
                <a:srgbClr val="4694D7"/>
              </a:gs>
            </a:gsLst>
            <a:lin ang="0" scaled="0"/>
          </a:gra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sl-4"/>
          <p:cNvSpPr txBox="1"/>
          <p:nvPr/>
        </p:nvSpPr>
        <p:spPr>
          <a:xfrm>
            <a:off x="8242046" y="5077492"/>
            <a:ext cx="325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咨询</a:t>
            </a:r>
          </a:p>
        </p:txBody>
      </p:sp>
      <p:sp>
        <p:nvSpPr>
          <p:cNvPr id="21" name="sv-4"/>
          <p:cNvSpPr txBox="1"/>
          <p:nvPr/>
        </p:nvSpPr>
        <p:spPr>
          <a:xfrm>
            <a:off x="8547608" y="508533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4694D7"/>
                </a:solidFill>
                <a:latin typeface="Arial"/>
                <a:ea typeface="Arial"/>
                <a:cs typeface="Arial"/>
              </a:rPr>
              <a:t>0.8</a:t>
            </a:r>
          </a:p>
        </p:txBody>
      </p:sp>
      <p:sp>
        <p:nvSpPr>
          <p:cNvPr id="22" name="st-5"/>
          <p:cNvSpPr/>
          <p:nvPr/>
        </p:nvSpPr>
        <p:spPr>
          <a:xfrm>
            <a:off x="1397000" y="4530090"/>
            <a:ext cx="6731000" cy="876300"/>
          </a:xfrm>
          <a:custGeom>
            <a:avLst/>
            <a:gdLst/>
            <a:ahLst/>
            <a:cxnLst/>
            <a:rect l="0" t="0" r="r" b="b"/>
            <a:pathLst>
              <a:path w="6731000" h="876300">
                <a:moveTo>
                  <a:pt x="0" y="0"/>
                </a:moveTo>
                <a:cubicBezTo>
                  <a:pt x="224346" y="23368"/>
                  <a:pt x="1233996" y="128524"/>
                  <a:pt x="1682750" y="175260"/>
                </a:cubicBezTo>
                <a:cubicBezTo>
                  <a:pt x="2131504" y="221996"/>
                  <a:pt x="2916746" y="303784"/>
                  <a:pt x="3365500" y="350520"/>
                </a:cubicBezTo>
                <a:cubicBezTo>
                  <a:pt x="3814254" y="397256"/>
                  <a:pt x="4599496" y="471234"/>
                  <a:pt x="5048250" y="525780"/>
                </a:cubicBezTo>
                <a:cubicBezTo>
                  <a:pt x="5497004" y="580326"/>
                  <a:pt x="6506654" y="728282"/>
                  <a:pt x="6731000" y="759460"/>
                </a:cubicBezTo>
                <a:lnTo>
                  <a:pt x="6731000" y="876300"/>
                </a:lnTo>
                <a:cubicBezTo>
                  <a:pt x="6506654" y="845122"/>
                  <a:pt x="5497004" y="697167"/>
                  <a:pt x="5048250" y="642620"/>
                </a:cubicBezTo>
                <a:cubicBezTo>
                  <a:pt x="4599496" y="588074"/>
                  <a:pt x="3814254" y="510223"/>
                  <a:pt x="3365500" y="467360"/>
                </a:cubicBezTo>
                <a:cubicBezTo>
                  <a:pt x="2916746" y="424498"/>
                  <a:pt x="2131504" y="364173"/>
                  <a:pt x="1682750" y="321310"/>
                </a:cubicBezTo>
                <a:cubicBezTo>
                  <a:pt x="1233996" y="278448"/>
                  <a:pt x="224346" y="169418"/>
                  <a:pt x="0" y="146050"/>
                </a:cubicBezTo>
                <a:close/>
              </a:path>
            </a:pathLst>
          </a:custGeom>
          <a:gradFill rotWithShape="1">
            <a:gsLst>
              <a:gs pos="0">
                <a:srgbClr val="BECDDF"/>
              </a:gs>
              <a:gs pos="100000">
                <a:srgbClr val="B7C7DB"/>
              </a:gs>
            </a:gsLst>
            <a:lin ang="0" scaled="0"/>
          </a:gra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sl-5"/>
          <p:cNvSpPr txBox="1"/>
          <p:nvPr/>
        </p:nvSpPr>
        <p:spPr>
          <a:xfrm>
            <a:off x="8242046" y="5252752"/>
            <a:ext cx="325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其他</a:t>
            </a:r>
          </a:p>
        </p:txBody>
      </p:sp>
      <p:sp>
        <p:nvSpPr>
          <p:cNvPr id="24" name="sv-5"/>
          <p:cNvSpPr txBox="1"/>
          <p:nvPr/>
        </p:nvSpPr>
        <p:spPr>
          <a:xfrm>
            <a:off x="8547608" y="526059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0.4</a:t>
            </a:r>
          </a:p>
        </p:txBody>
      </p:sp>
      <p:cxnSp>
        <p:nvCxnSpPr>
          <p:cNvPr id="25" name="vg-2022"/>
          <p:cNvCxnSpPr/>
          <p:nvPr/>
        </p:nvCxnSpPr>
        <p:spPr>
          <a:xfrm>
            <a:off x="1397000" y="1832610"/>
            <a:ext cx="0" cy="370078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yr-2022"/>
          <p:cNvSpPr txBox="1"/>
          <p:nvPr/>
        </p:nvSpPr>
        <p:spPr>
          <a:xfrm>
            <a:off x="1217549" y="5620830"/>
            <a:ext cx="35890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2022</a:t>
            </a:r>
          </a:p>
        </p:txBody>
      </p:sp>
      <p:sp>
        <p:nvSpPr>
          <p:cNvPr id="27" name="tot-2022"/>
          <p:cNvSpPr txBox="1"/>
          <p:nvPr/>
        </p:nvSpPr>
        <p:spPr>
          <a:xfrm>
            <a:off x="1199832" y="2470626"/>
            <a:ext cx="3943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6.8 亿</a:t>
            </a:r>
          </a:p>
        </p:txBody>
      </p:sp>
      <p:cxnSp>
        <p:nvCxnSpPr>
          <p:cNvPr id="28" name="vg-2023"/>
          <p:cNvCxnSpPr/>
          <p:nvPr/>
        </p:nvCxnSpPr>
        <p:spPr>
          <a:xfrm>
            <a:off x="3079750" y="1832610"/>
            <a:ext cx="0" cy="370078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yr-2023"/>
          <p:cNvSpPr txBox="1"/>
          <p:nvPr/>
        </p:nvSpPr>
        <p:spPr>
          <a:xfrm>
            <a:off x="2900299" y="5620830"/>
            <a:ext cx="35890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2023</a:t>
            </a:r>
          </a:p>
        </p:txBody>
      </p:sp>
      <p:sp>
        <p:nvSpPr>
          <p:cNvPr id="30" name="tot-2023"/>
          <p:cNvSpPr txBox="1"/>
          <p:nvPr/>
        </p:nvSpPr>
        <p:spPr>
          <a:xfrm>
            <a:off x="2882582" y="2295366"/>
            <a:ext cx="3943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8.0 亿</a:t>
            </a:r>
          </a:p>
        </p:txBody>
      </p:sp>
      <p:cxnSp>
        <p:nvCxnSpPr>
          <p:cNvPr id="31" name="vg-2024"/>
          <p:cNvCxnSpPr/>
          <p:nvPr/>
        </p:nvCxnSpPr>
        <p:spPr>
          <a:xfrm>
            <a:off x="4762500" y="1832610"/>
            <a:ext cx="0" cy="370078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yr-2024"/>
          <p:cNvSpPr txBox="1"/>
          <p:nvPr/>
        </p:nvSpPr>
        <p:spPr>
          <a:xfrm>
            <a:off x="4583049" y="5620830"/>
            <a:ext cx="35890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2024</a:t>
            </a:r>
          </a:p>
        </p:txBody>
      </p:sp>
      <p:sp>
        <p:nvSpPr>
          <p:cNvPr id="33" name="tot-2024"/>
          <p:cNvSpPr txBox="1"/>
          <p:nvPr/>
        </p:nvSpPr>
        <p:spPr>
          <a:xfrm>
            <a:off x="4565332" y="2149316"/>
            <a:ext cx="3943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9.0 亿</a:t>
            </a:r>
          </a:p>
        </p:txBody>
      </p:sp>
      <p:cxnSp>
        <p:nvCxnSpPr>
          <p:cNvPr id="34" name="vg-2025"/>
          <p:cNvCxnSpPr/>
          <p:nvPr/>
        </p:nvCxnSpPr>
        <p:spPr>
          <a:xfrm>
            <a:off x="6445250" y="1832610"/>
            <a:ext cx="0" cy="370078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yr-2025"/>
          <p:cNvSpPr txBox="1"/>
          <p:nvPr/>
        </p:nvSpPr>
        <p:spPr>
          <a:xfrm>
            <a:off x="6265799" y="5620830"/>
            <a:ext cx="35890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2025</a:t>
            </a:r>
          </a:p>
        </p:txBody>
      </p:sp>
      <p:sp>
        <p:nvSpPr>
          <p:cNvPr id="36" name="tot-2025"/>
          <p:cNvSpPr txBox="1"/>
          <p:nvPr/>
        </p:nvSpPr>
        <p:spPr>
          <a:xfrm>
            <a:off x="6221412" y="1974056"/>
            <a:ext cx="4476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10.2 亿</a:t>
            </a:r>
          </a:p>
        </p:txBody>
      </p:sp>
      <p:cxnSp>
        <p:nvCxnSpPr>
          <p:cNvPr id="37" name="vg-2026"/>
          <p:cNvCxnSpPr/>
          <p:nvPr/>
        </p:nvCxnSpPr>
        <p:spPr>
          <a:xfrm>
            <a:off x="8128000" y="1832610"/>
            <a:ext cx="0" cy="370078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yr-2026"/>
          <p:cNvSpPr txBox="1"/>
          <p:nvPr/>
        </p:nvSpPr>
        <p:spPr>
          <a:xfrm>
            <a:off x="7948549" y="5620830"/>
            <a:ext cx="35890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2026</a:t>
            </a:r>
          </a:p>
        </p:txBody>
      </p:sp>
      <p:sp>
        <p:nvSpPr>
          <p:cNvPr id="39" name="tot-2026"/>
          <p:cNvSpPr txBox="1"/>
          <p:nvPr/>
        </p:nvSpPr>
        <p:spPr>
          <a:xfrm>
            <a:off x="7904162" y="1740376"/>
            <a:ext cx="4476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11.8 亿</a:t>
            </a:r>
          </a:p>
        </p:txBody>
      </p:sp>
      <p:sp>
        <p:nvSpPr>
          <p:cNvPr id="40" name="rh"/>
          <p:cNvSpPr txBox="1"/>
          <p:nvPr/>
        </p:nvSpPr>
        <p:spPr>
          <a:xfrm>
            <a:off x="9505950" y="15819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占比变化</a:t>
            </a:r>
          </a:p>
        </p:txBody>
      </p:sp>
      <p:sp>
        <p:nvSpPr>
          <p:cNvPr id="41" name="rp"/>
          <p:cNvSpPr txBox="1"/>
          <p:nvPr/>
        </p:nvSpPr>
        <p:spPr>
          <a:xfrm>
            <a:off x="9513570" y="1863566"/>
            <a:ext cx="6724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2022 → 2026</a:t>
            </a:r>
          </a:p>
        </p:txBody>
      </p:sp>
      <p:sp>
        <p:nvSpPr>
          <p:cNvPr id="42" name="c-1"/>
          <p:cNvSpPr/>
          <p:nvPr/>
        </p:nvSpPr>
        <p:spPr>
          <a:xfrm>
            <a:off x="9525000" y="2222500"/>
            <a:ext cx="1714500" cy="825500"/>
          </a:xfrm>
          <a:custGeom>
            <a:avLst/>
            <a:gdLst/>
            <a:ahLst/>
            <a:cxnLst/>
            <a:rect l="0" t="0" r="r" b="b"/>
            <a:pathLst>
              <a:path w="1714500" h="825500">
                <a:moveTo>
                  <a:pt x="114300" y="0"/>
                </a:moveTo>
                <a:lnTo>
                  <a:pt x="1600200" y="0"/>
                </a:lnTo>
                <a:cubicBezTo>
                  <a:pt x="1663319" y="0"/>
                  <a:pt x="1714500" y="51181"/>
                  <a:pt x="1714500" y="114300"/>
                </a:cubicBezTo>
                <a:lnTo>
                  <a:pt x="1714500" y="711200"/>
                </a:lnTo>
                <a:cubicBezTo>
                  <a:pt x="1714500" y="774319"/>
                  <a:pt x="1663319" y="825500"/>
                  <a:pt x="1600200" y="825500"/>
                </a:cubicBezTo>
                <a:lnTo>
                  <a:pt x="114300" y="825500"/>
                </a:lnTo>
                <a:cubicBezTo>
                  <a:pt x="51181" y="825500"/>
                  <a:pt x="0" y="774319"/>
                  <a:pt x="0" y="7112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cb-1"/>
          <p:cNvSpPr/>
          <p:nvPr/>
        </p:nvSpPr>
        <p:spPr>
          <a:xfrm>
            <a:off x="9525000" y="2222500"/>
            <a:ext cx="38100" cy="825500"/>
          </a:xfrm>
          <a:custGeom>
            <a:avLst/>
            <a:gdLst/>
            <a:ahLst/>
            <a:cxnLst/>
            <a:rect l="0" t="0" r="r" b="b"/>
            <a:pathLst>
              <a:path w="38100" h="8255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806450"/>
                </a:lnTo>
                <a:cubicBezTo>
                  <a:pt x="38100" y="816991"/>
                  <a:pt x="29591" y="825500"/>
                  <a:pt x="19050" y="825500"/>
                </a:cubicBezTo>
                <a:lnTo>
                  <a:pt x="19050" y="825500"/>
                </a:lnTo>
                <a:cubicBezTo>
                  <a:pt x="8509" y="825500"/>
                  <a:pt x="0" y="816991"/>
                  <a:pt x="0" y="8064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cn-1"/>
          <p:cNvSpPr txBox="1"/>
          <p:nvPr/>
        </p:nvSpPr>
        <p:spPr>
          <a:xfrm>
            <a:off x="9676384" y="2335340"/>
            <a:ext cx="585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企业软件</a:t>
            </a:r>
          </a:p>
        </p:txBody>
      </p:sp>
      <p:sp>
        <p:nvSpPr>
          <p:cNvPr id="45" name="ca-1"/>
          <p:cNvSpPr txBox="1"/>
          <p:nvPr/>
        </p:nvSpPr>
        <p:spPr>
          <a:xfrm>
            <a:off x="9674860" y="2649855"/>
            <a:ext cx="32766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62%</a:t>
            </a:r>
          </a:p>
        </p:txBody>
      </p:sp>
      <p:sp>
        <p:nvSpPr>
          <p:cNvPr id="46" name="car-1"/>
          <p:cNvSpPr txBox="1"/>
          <p:nvPr/>
        </p:nvSpPr>
        <p:spPr>
          <a:xfrm>
            <a:off x="10146284" y="265284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→</a:t>
            </a:r>
          </a:p>
        </p:txBody>
      </p:sp>
      <p:sp>
        <p:nvSpPr>
          <p:cNvPr id="47" name="cv-1"/>
          <p:cNvSpPr txBox="1"/>
          <p:nvPr/>
        </p:nvSpPr>
        <p:spPr>
          <a:xfrm>
            <a:off x="10555986" y="2552764"/>
            <a:ext cx="557022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7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42%</a:t>
            </a:r>
          </a:p>
        </p:txBody>
      </p:sp>
      <p:sp>
        <p:nvSpPr>
          <p:cNvPr id="48" name="c-2"/>
          <p:cNvSpPr/>
          <p:nvPr/>
        </p:nvSpPr>
        <p:spPr>
          <a:xfrm>
            <a:off x="9525000" y="3175000"/>
            <a:ext cx="1714500" cy="825500"/>
          </a:xfrm>
          <a:custGeom>
            <a:avLst/>
            <a:gdLst/>
            <a:ahLst/>
            <a:cxnLst/>
            <a:rect l="0" t="0" r="r" b="b"/>
            <a:pathLst>
              <a:path w="1714500" h="825500">
                <a:moveTo>
                  <a:pt x="114300" y="0"/>
                </a:moveTo>
                <a:lnTo>
                  <a:pt x="1600200" y="0"/>
                </a:lnTo>
                <a:cubicBezTo>
                  <a:pt x="1663319" y="0"/>
                  <a:pt x="1714500" y="51181"/>
                  <a:pt x="1714500" y="114300"/>
                </a:cubicBezTo>
                <a:lnTo>
                  <a:pt x="1714500" y="711200"/>
                </a:lnTo>
                <a:cubicBezTo>
                  <a:pt x="1714500" y="774319"/>
                  <a:pt x="1663319" y="825500"/>
                  <a:pt x="1600200" y="825500"/>
                </a:cubicBezTo>
                <a:lnTo>
                  <a:pt x="114300" y="825500"/>
                </a:lnTo>
                <a:cubicBezTo>
                  <a:pt x="51181" y="825500"/>
                  <a:pt x="0" y="774319"/>
                  <a:pt x="0" y="7112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cb-2"/>
          <p:cNvSpPr/>
          <p:nvPr/>
        </p:nvSpPr>
        <p:spPr>
          <a:xfrm>
            <a:off x="9525000" y="3175000"/>
            <a:ext cx="38100" cy="825500"/>
          </a:xfrm>
          <a:custGeom>
            <a:avLst/>
            <a:gdLst/>
            <a:ahLst/>
            <a:cxnLst/>
            <a:rect l="0" t="0" r="r" b="b"/>
            <a:pathLst>
              <a:path w="38100" h="8255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806450"/>
                </a:lnTo>
                <a:cubicBezTo>
                  <a:pt x="38100" y="816991"/>
                  <a:pt x="29591" y="825500"/>
                  <a:pt x="19050" y="825500"/>
                </a:cubicBezTo>
                <a:lnTo>
                  <a:pt x="19050" y="825500"/>
                </a:lnTo>
                <a:cubicBezTo>
                  <a:pt x="8509" y="825500"/>
                  <a:pt x="0" y="816991"/>
                  <a:pt x="0" y="8064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cn-2"/>
          <p:cNvSpPr txBox="1"/>
          <p:nvPr/>
        </p:nvSpPr>
        <p:spPr>
          <a:xfrm>
            <a:off x="9676384" y="3287840"/>
            <a:ext cx="46482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云服务</a:t>
            </a:r>
          </a:p>
        </p:txBody>
      </p:sp>
      <p:sp>
        <p:nvSpPr>
          <p:cNvPr id="51" name="ca-2"/>
          <p:cNvSpPr txBox="1"/>
          <p:nvPr/>
        </p:nvSpPr>
        <p:spPr>
          <a:xfrm>
            <a:off x="9674860" y="3602355"/>
            <a:ext cx="32766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12%</a:t>
            </a:r>
          </a:p>
        </p:txBody>
      </p:sp>
      <p:sp>
        <p:nvSpPr>
          <p:cNvPr id="52" name="car-2"/>
          <p:cNvSpPr txBox="1"/>
          <p:nvPr/>
        </p:nvSpPr>
        <p:spPr>
          <a:xfrm>
            <a:off x="10146284" y="360534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→</a:t>
            </a:r>
          </a:p>
        </p:txBody>
      </p:sp>
      <p:sp>
        <p:nvSpPr>
          <p:cNvPr id="53" name="cv-2"/>
          <p:cNvSpPr txBox="1"/>
          <p:nvPr/>
        </p:nvSpPr>
        <p:spPr>
          <a:xfrm>
            <a:off x="10555986" y="3505264"/>
            <a:ext cx="557022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7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29%</a:t>
            </a:r>
          </a:p>
        </p:txBody>
      </p:sp>
      <p:sp>
        <p:nvSpPr>
          <p:cNvPr id="54" name="c-3"/>
          <p:cNvSpPr/>
          <p:nvPr/>
        </p:nvSpPr>
        <p:spPr>
          <a:xfrm>
            <a:off x="9525000" y="4127500"/>
            <a:ext cx="1714500" cy="825500"/>
          </a:xfrm>
          <a:custGeom>
            <a:avLst/>
            <a:gdLst/>
            <a:ahLst/>
            <a:cxnLst/>
            <a:rect l="0" t="0" r="r" b="b"/>
            <a:pathLst>
              <a:path w="1714500" h="825500">
                <a:moveTo>
                  <a:pt x="114300" y="0"/>
                </a:moveTo>
                <a:lnTo>
                  <a:pt x="1600200" y="0"/>
                </a:lnTo>
                <a:cubicBezTo>
                  <a:pt x="1663319" y="0"/>
                  <a:pt x="1714500" y="51181"/>
                  <a:pt x="1714500" y="114300"/>
                </a:cubicBezTo>
                <a:lnTo>
                  <a:pt x="1714500" y="711200"/>
                </a:lnTo>
                <a:cubicBezTo>
                  <a:pt x="1714500" y="774319"/>
                  <a:pt x="1663319" y="825500"/>
                  <a:pt x="1600200" y="825500"/>
                </a:cubicBezTo>
                <a:lnTo>
                  <a:pt x="114300" y="825500"/>
                </a:lnTo>
                <a:cubicBezTo>
                  <a:pt x="51181" y="825500"/>
                  <a:pt x="0" y="774319"/>
                  <a:pt x="0" y="7112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cb-3"/>
          <p:cNvSpPr/>
          <p:nvPr/>
        </p:nvSpPr>
        <p:spPr>
          <a:xfrm>
            <a:off x="9525000" y="4127500"/>
            <a:ext cx="38100" cy="825500"/>
          </a:xfrm>
          <a:custGeom>
            <a:avLst/>
            <a:gdLst/>
            <a:ahLst/>
            <a:cxnLst/>
            <a:rect l="0" t="0" r="r" b="b"/>
            <a:pathLst>
              <a:path w="38100" h="8255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806450"/>
                </a:lnTo>
                <a:cubicBezTo>
                  <a:pt x="38100" y="816991"/>
                  <a:pt x="29591" y="825500"/>
                  <a:pt x="19050" y="825500"/>
                </a:cubicBezTo>
                <a:lnTo>
                  <a:pt x="19050" y="825500"/>
                </a:lnTo>
                <a:cubicBezTo>
                  <a:pt x="8509" y="825500"/>
                  <a:pt x="0" y="816991"/>
                  <a:pt x="0" y="8064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cn-3"/>
          <p:cNvSpPr txBox="1"/>
          <p:nvPr/>
        </p:nvSpPr>
        <p:spPr>
          <a:xfrm>
            <a:off x="9676384" y="4240340"/>
            <a:ext cx="585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数据服务</a:t>
            </a:r>
          </a:p>
        </p:txBody>
      </p:sp>
      <p:sp>
        <p:nvSpPr>
          <p:cNvPr id="57" name="ca-3"/>
          <p:cNvSpPr txBox="1"/>
          <p:nvPr/>
        </p:nvSpPr>
        <p:spPr>
          <a:xfrm>
            <a:off x="9674860" y="4554855"/>
            <a:ext cx="2565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4%</a:t>
            </a:r>
          </a:p>
        </p:txBody>
      </p:sp>
      <p:sp>
        <p:nvSpPr>
          <p:cNvPr id="58" name="car-3"/>
          <p:cNvSpPr txBox="1"/>
          <p:nvPr/>
        </p:nvSpPr>
        <p:spPr>
          <a:xfrm>
            <a:off x="10146284" y="455784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→</a:t>
            </a:r>
          </a:p>
        </p:txBody>
      </p:sp>
      <p:sp>
        <p:nvSpPr>
          <p:cNvPr id="59" name="cv-3"/>
          <p:cNvSpPr txBox="1"/>
          <p:nvPr/>
        </p:nvSpPr>
        <p:spPr>
          <a:xfrm>
            <a:off x="10555986" y="4457764"/>
            <a:ext cx="557022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7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19%</a:t>
            </a:r>
          </a:p>
        </p:txBody>
      </p:sp>
      <p:sp>
        <p:nvSpPr>
          <p:cNvPr id="60" name="sum"/>
          <p:cNvSpPr/>
          <p:nvPr/>
        </p:nvSpPr>
        <p:spPr>
          <a:xfrm>
            <a:off x="952500" y="5791200"/>
            <a:ext cx="10287000" cy="457200"/>
          </a:xfrm>
          <a:custGeom>
            <a:avLst/>
            <a:gdLst/>
            <a:ahLst/>
            <a:cxnLst/>
            <a:rect l="0" t="0" r="r" b="b"/>
            <a:pathLst>
              <a:path w="10287000" h="4572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68300"/>
                </a:lnTo>
                <a:cubicBezTo>
                  <a:pt x="10287000" y="417386"/>
                  <a:pt x="10247186" y="457200"/>
                  <a:pt x="10198100" y="457200"/>
                </a:cubicBezTo>
                <a:lnTo>
                  <a:pt x="88900" y="457200"/>
                </a:lnTo>
                <a:cubicBezTo>
                  <a:pt x="39815" y="457200"/>
                  <a:pt x="0" y="417386"/>
                  <a:pt x="0" y="3683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sum-bar"/>
          <p:cNvSpPr/>
          <p:nvPr/>
        </p:nvSpPr>
        <p:spPr>
          <a:xfrm>
            <a:off x="952500" y="5791200"/>
            <a:ext cx="31750" cy="4572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sum-h"/>
          <p:cNvSpPr txBox="1"/>
          <p:nvPr/>
        </p:nvSpPr>
        <p:spPr>
          <a:xfrm>
            <a:off x="1142746" y="59499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结构判断</a:t>
            </a:r>
          </a:p>
        </p:txBody>
      </p:sp>
      <p:sp>
        <p:nvSpPr>
          <p:cNvPr id="63" name="sum-p"/>
          <p:cNvSpPr txBox="1"/>
          <p:nvPr/>
        </p:nvSpPr>
        <p:spPr>
          <a:xfrm>
            <a:off x="1891665" y="5946061"/>
            <a:ext cx="439959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五年营收从 6.8 亿增至 11.8 亿；新增的 5 亿里，云与数据服务贡献了 4.5 亿。</a:t>
            </a:r>
          </a:p>
        </p:txBody>
      </p:sp>
      <p:cxnSp>
        <p:nvCxnSpPr>
          <p:cNvPr id="64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" name="foot-l"/>
          <p:cNvSpPr txBox="1"/>
          <p:nvPr/>
        </p:nvSpPr>
        <p:spPr>
          <a:xfrm>
            <a:off x="573532" y="6532308"/>
            <a:ext cx="9469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河流图 · 五年五类</a:t>
            </a:r>
          </a:p>
        </p:txBody>
      </p:sp>
      <p:sp>
        <p:nvSpPr>
          <p:cNvPr id="66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运营健康度仪表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99060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GAUGE GRID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7980299" y="673132"/>
            <a:ext cx="36404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六个仪表同一口径：指针落在蓝色区就是健康，落在橙色区要当周处理</a:t>
            </a:r>
          </a:p>
        </p:txBody>
      </p:sp>
      <p:sp>
        <p:nvSpPr>
          <p:cNvPr id="10" name="c-1"/>
          <p:cNvSpPr/>
          <p:nvPr/>
        </p:nvSpPr>
        <p:spPr>
          <a:xfrm>
            <a:off x="952500" y="1409700"/>
            <a:ext cx="3302000" cy="2095500"/>
          </a:xfrm>
          <a:custGeom>
            <a:avLst/>
            <a:gdLst/>
            <a:ahLst/>
            <a:cxnLst/>
            <a:rect l="0" t="0" r="r" b="b"/>
            <a:pathLst>
              <a:path w="3302000" h="2095500">
                <a:moveTo>
                  <a:pt x="139700" y="0"/>
                </a:moveTo>
                <a:lnTo>
                  <a:pt x="3162300" y="0"/>
                </a:lnTo>
                <a:cubicBezTo>
                  <a:pt x="3239452" y="0"/>
                  <a:pt x="3302000" y="62547"/>
                  <a:pt x="3302000" y="139700"/>
                </a:cubicBezTo>
                <a:lnTo>
                  <a:pt x="3302000" y="1955800"/>
                </a:lnTo>
                <a:cubicBezTo>
                  <a:pt x="3302000" y="2032952"/>
                  <a:pt x="3239452" y="2095500"/>
                  <a:pt x="3162300" y="2095500"/>
                </a:cubicBezTo>
                <a:lnTo>
                  <a:pt x="139700" y="2095500"/>
                </a:lnTo>
                <a:cubicBezTo>
                  <a:pt x="62547" y="2095500"/>
                  <a:pt x="0" y="2032952"/>
                  <a:pt x="0" y="1955800"/>
                </a:cubicBezTo>
                <a:lnTo>
                  <a:pt x="0" y="139700"/>
                </a:lnTo>
                <a:cubicBezTo>
                  <a:pt x="0" y="62547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bad-1"/>
          <p:cNvSpPr/>
          <p:nvPr/>
        </p:nvSpPr>
        <p:spPr>
          <a:xfrm>
            <a:off x="1765300" y="1879600"/>
            <a:ext cx="1676400" cy="838200"/>
          </a:xfrm>
          <a:custGeom>
            <a:avLst/>
            <a:gdLst/>
            <a:ahLst/>
            <a:cxnLst/>
            <a:rect l="0" t="0" r="r" b="b"/>
            <a:pathLst>
              <a:path w="1676400" h="838200">
                <a:moveTo>
                  <a:pt x="0" y="838200"/>
                </a:moveTo>
                <a:cubicBezTo>
                  <a:pt x="0" y="375275"/>
                  <a:pt x="375275" y="0"/>
                  <a:pt x="838200" y="0"/>
                </a:cubicBezTo>
                <a:cubicBezTo>
                  <a:pt x="1301125" y="0"/>
                  <a:pt x="1676400" y="375275"/>
                  <a:pt x="1676400" y="838200"/>
                </a:cubicBezTo>
                <a:lnTo>
                  <a:pt x="1498600" y="838200"/>
                </a:lnTo>
                <a:cubicBezTo>
                  <a:pt x="1498600" y="473471"/>
                  <a:pt x="1202929" y="177800"/>
                  <a:pt x="838200" y="177800"/>
                </a:cubicBezTo>
                <a:cubicBezTo>
                  <a:pt x="473471" y="177800"/>
                  <a:pt x="177800" y="473471"/>
                  <a:pt x="177800" y="838200"/>
                </a:cubicBezTo>
                <a:close/>
              </a:path>
            </a:pathLst>
          </a:custGeom>
          <a:solidFill>
            <a:srgbClr val="E0703A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ok-1"/>
          <p:cNvSpPr/>
          <p:nvPr/>
        </p:nvSpPr>
        <p:spPr>
          <a:xfrm>
            <a:off x="3231579" y="2458784"/>
            <a:ext cx="210121" cy="259017"/>
          </a:xfrm>
          <a:custGeom>
            <a:avLst/>
            <a:gdLst/>
            <a:ahLst/>
            <a:cxnLst/>
            <a:rect l="0" t="0" r="r" b="b"/>
            <a:pathLst>
              <a:path w="210121" h="259017">
                <a:moveTo>
                  <a:pt x="169100" y="0"/>
                </a:moveTo>
                <a:cubicBezTo>
                  <a:pt x="196279" y="83652"/>
                  <a:pt x="210122" y="171060"/>
                  <a:pt x="210121" y="259017"/>
                </a:cubicBezTo>
                <a:lnTo>
                  <a:pt x="32321" y="259017"/>
                </a:lnTo>
                <a:cubicBezTo>
                  <a:pt x="32323" y="189712"/>
                  <a:pt x="21416" y="120840"/>
                  <a:pt x="0" y="54928"/>
                </a:cubicBezTo>
                <a:close/>
              </a:path>
            </a:pathLst>
          </a:custGeom>
          <a:solidFill>
            <a:srgbClr val="2E77C2">
              <a:alpha val="3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nd-1"/>
          <p:cNvSpPr/>
          <p:nvPr/>
        </p:nvSpPr>
        <p:spPr>
          <a:xfrm>
            <a:off x="2593566" y="2580716"/>
            <a:ext cx="875445" cy="199802"/>
          </a:xfrm>
          <a:custGeom>
            <a:avLst/>
            <a:gdLst/>
            <a:ahLst/>
            <a:cxnLst/>
            <a:rect l="0" t="0" r="r" b="b"/>
            <a:pathLst>
              <a:path w="875445" h="199802">
                <a:moveTo>
                  <a:pt x="19867" y="199802"/>
                </a:moveTo>
                <a:lnTo>
                  <a:pt x="875445" y="0"/>
                </a:lnTo>
                <a:lnTo>
                  <a:pt x="0" y="74365"/>
                </a:ln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hub-1"/>
          <p:cNvSpPr/>
          <p:nvPr/>
        </p:nvSpPr>
        <p:spPr>
          <a:xfrm>
            <a:off x="2501900" y="2616200"/>
            <a:ext cx="203200" cy="203200"/>
          </a:xfrm>
          <a:prstGeom prst="ellipse">
            <a:avLst/>
          </a:prstGeom>
          <a:solidFill>
            <a:srgbClr val="0B3E8F"/>
          </a:solidFill>
          <a:ln w="2540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lo-1"/>
          <p:cNvSpPr txBox="1"/>
          <p:nvPr/>
        </p:nvSpPr>
        <p:spPr>
          <a:xfrm>
            <a:off x="1459611" y="264610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99</a:t>
            </a:r>
          </a:p>
        </p:txBody>
      </p:sp>
      <p:sp>
        <p:nvSpPr>
          <p:cNvPr id="16" name="hi-1"/>
          <p:cNvSpPr txBox="1"/>
          <p:nvPr/>
        </p:nvSpPr>
        <p:spPr>
          <a:xfrm>
            <a:off x="3542919" y="26461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100</a:t>
            </a:r>
          </a:p>
        </p:txBody>
      </p:sp>
      <p:sp>
        <p:nvSpPr>
          <p:cNvPr id="17" name="n-1"/>
          <p:cNvSpPr txBox="1"/>
          <p:nvPr/>
        </p:nvSpPr>
        <p:spPr>
          <a:xfrm>
            <a:off x="1114298" y="1537113"/>
            <a:ext cx="834390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系统可用率</a:t>
            </a:r>
          </a:p>
        </p:txBody>
      </p:sp>
      <p:sp>
        <p:nvSpPr>
          <p:cNvPr id="18" name="d-1"/>
          <p:cNvSpPr txBox="1"/>
          <p:nvPr/>
        </p:nvSpPr>
        <p:spPr>
          <a:xfrm>
            <a:off x="3389186" y="1588087"/>
            <a:ext cx="698564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目标 ≥ 99.9%</a:t>
            </a:r>
          </a:p>
        </p:txBody>
      </p:sp>
      <p:sp>
        <p:nvSpPr>
          <p:cNvPr id="19" name="v-1"/>
          <p:cNvSpPr txBox="1"/>
          <p:nvPr/>
        </p:nvSpPr>
        <p:spPr>
          <a:xfrm>
            <a:off x="2144395" y="2888932"/>
            <a:ext cx="91821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99.95 %</a:t>
            </a:r>
          </a:p>
        </p:txBody>
      </p:sp>
      <p:sp>
        <p:nvSpPr>
          <p:cNvPr id="20" name="sb-1"/>
          <p:cNvSpPr/>
          <p:nvPr/>
        </p:nvSpPr>
        <p:spPr>
          <a:xfrm>
            <a:off x="1130300" y="1803400"/>
            <a:ext cx="457200" cy="177800"/>
          </a:xfrm>
          <a:custGeom>
            <a:avLst/>
            <a:gdLst/>
            <a:ahLst/>
            <a:cxnLst/>
            <a:rect l="0" t="0" r="r" b="b"/>
            <a:pathLst>
              <a:path w="457200" h="177800">
                <a:moveTo>
                  <a:pt x="88900" y="0"/>
                </a:moveTo>
                <a:lnTo>
                  <a:pt x="368300" y="0"/>
                </a:lnTo>
                <a:cubicBezTo>
                  <a:pt x="417385" y="0"/>
                  <a:pt x="457200" y="39814"/>
                  <a:pt x="457200" y="88900"/>
                </a:cubicBezTo>
                <a:lnTo>
                  <a:pt x="457200" y="88900"/>
                </a:lnTo>
                <a:cubicBezTo>
                  <a:pt x="457200" y="137986"/>
                  <a:pt x="417385" y="177800"/>
                  <a:pt x="368300" y="177800"/>
                </a:cubicBezTo>
                <a:lnTo>
                  <a:pt x="88900" y="177800"/>
                </a:lnTo>
                <a:cubicBezTo>
                  <a:pt x="39815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sbt-1"/>
          <p:cNvSpPr txBox="1"/>
          <p:nvPr/>
        </p:nvSpPr>
        <p:spPr>
          <a:xfrm>
            <a:off x="1217295" y="1820608"/>
            <a:ext cx="2832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0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健康</a:t>
            </a:r>
          </a:p>
        </p:txBody>
      </p:sp>
      <p:sp>
        <p:nvSpPr>
          <p:cNvPr id="22" name="c-2"/>
          <p:cNvSpPr/>
          <p:nvPr/>
        </p:nvSpPr>
        <p:spPr>
          <a:xfrm>
            <a:off x="4445000" y="1409700"/>
            <a:ext cx="3302000" cy="2095500"/>
          </a:xfrm>
          <a:custGeom>
            <a:avLst/>
            <a:gdLst/>
            <a:ahLst/>
            <a:cxnLst/>
            <a:rect l="0" t="0" r="r" b="b"/>
            <a:pathLst>
              <a:path w="3302000" h="2095500">
                <a:moveTo>
                  <a:pt x="139700" y="0"/>
                </a:moveTo>
                <a:lnTo>
                  <a:pt x="3162300" y="0"/>
                </a:lnTo>
                <a:cubicBezTo>
                  <a:pt x="3239453" y="0"/>
                  <a:pt x="3302000" y="62547"/>
                  <a:pt x="3302000" y="139700"/>
                </a:cubicBezTo>
                <a:lnTo>
                  <a:pt x="3302000" y="1955800"/>
                </a:lnTo>
                <a:cubicBezTo>
                  <a:pt x="3302000" y="2032952"/>
                  <a:pt x="3239453" y="2095500"/>
                  <a:pt x="3162300" y="2095500"/>
                </a:cubicBezTo>
                <a:lnTo>
                  <a:pt x="139700" y="2095500"/>
                </a:lnTo>
                <a:cubicBezTo>
                  <a:pt x="62548" y="2095500"/>
                  <a:pt x="0" y="2032952"/>
                  <a:pt x="0" y="1955800"/>
                </a:cubicBezTo>
                <a:lnTo>
                  <a:pt x="0" y="139700"/>
                </a:lnTo>
                <a:cubicBezTo>
                  <a:pt x="0" y="62547"/>
                  <a:pt x="62548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bad-2"/>
          <p:cNvSpPr/>
          <p:nvPr/>
        </p:nvSpPr>
        <p:spPr>
          <a:xfrm>
            <a:off x="5257800" y="1879600"/>
            <a:ext cx="1676400" cy="838200"/>
          </a:xfrm>
          <a:custGeom>
            <a:avLst/>
            <a:gdLst/>
            <a:ahLst/>
            <a:cxnLst/>
            <a:rect l="0" t="0" r="r" b="b"/>
            <a:pathLst>
              <a:path w="1676400" h="838200">
                <a:moveTo>
                  <a:pt x="0" y="838200"/>
                </a:moveTo>
                <a:cubicBezTo>
                  <a:pt x="0" y="375275"/>
                  <a:pt x="375275" y="0"/>
                  <a:pt x="838200" y="0"/>
                </a:cubicBezTo>
                <a:cubicBezTo>
                  <a:pt x="1301125" y="0"/>
                  <a:pt x="1676400" y="375275"/>
                  <a:pt x="1676400" y="838200"/>
                </a:cubicBezTo>
                <a:lnTo>
                  <a:pt x="1498600" y="838200"/>
                </a:lnTo>
                <a:cubicBezTo>
                  <a:pt x="1498600" y="473471"/>
                  <a:pt x="1202929" y="177800"/>
                  <a:pt x="838200" y="177800"/>
                </a:cubicBezTo>
                <a:cubicBezTo>
                  <a:pt x="473471" y="177800"/>
                  <a:pt x="177800" y="473471"/>
                  <a:pt x="177800" y="838200"/>
                </a:cubicBezTo>
                <a:close/>
              </a:path>
            </a:pathLst>
          </a:custGeom>
          <a:solidFill>
            <a:srgbClr val="E0703A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ok-2"/>
          <p:cNvSpPr/>
          <p:nvPr/>
        </p:nvSpPr>
        <p:spPr>
          <a:xfrm>
            <a:off x="5257800" y="1879600"/>
            <a:ext cx="838200" cy="838200"/>
          </a:xfrm>
          <a:custGeom>
            <a:avLst/>
            <a:gdLst/>
            <a:ahLst/>
            <a:cxnLst/>
            <a:rect l="0" t="0" r="r" b="b"/>
            <a:pathLst>
              <a:path w="838200" h="838200">
                <a:moveTo>
                  <a:pt x="0" y="838200"/>
                </a:moveTo>
                <a:cubicBezTo>
                  <a:pt x="0" y="375275"/>
                  <a:pt x="375275" y="0"/>
                  <a:pt x="838200" y="0"/>
                </a:cubicBezTo>
                <a:lnTo>
                  <a:pt x="838200" y="177800"/>
                </a:lnTo>
                <a:cubicBezTo>
                  <a:pt x="473471" y="177800"/>
                  <a:pt x="177800" y="473471"/>
                  <a:pt x="177800" y="838200"/>
                </a:cubicBezTo>
                <a:close/>
              </a:path>
            </a:pathLst>
          </a:custGeom>
          <a:solidFill>
            <a:srgbClr val="2E77C2">
              <a:alpha val="3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nd-2"/>
          <p:cNvSpPr/>
          <p:nvPr/>
        </p:nvSpPr>
        <p:spPr>
          <a:xfrm>
            <a:off x="5580924" y="2008858"/>
            <a:ext cx="566449" cy="746266"/>
          </a:xfrm>
          <a:custGeom>
            <a:avLst/>
            <a:gdLst/>
            <a:ahLst/>
            <a:cxnLst/>
            <a:rect l="0" t="0" r="r" b="b"/>
            <a:pathLst>
              <a:path w="566449" h="746266">
                <a:moveTo>
                  <a:pt x="566449" y="671617"/>
                </a:moveTo>
                <a:lnTo>
                  <a:pt x="0" y="0"/>
                </a:lnTo>
                <a:lnTo>
                  <a:pt x="463704" y="746266"/>
                </a:ln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hub-2"/>
          <p:cNvSpPr/>
          <p:nvPr/>
        </p:nvSpPr>
        <p:spPr>
          <a:xfrm>
            <a:off x="5994400" y="2616200"/>
            <a:ext cx="203200" cy="203200"/>
          </a:xfrm>
          <a:prstGeom prst="ellipse">
            <a:avLst/>
          </a:prstGeom>
          <a:solidFill>
            <a:srgbClr val="0B3E8F"/>
          </a:solidFill>
          <a:ln w="2540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lo-2"/>
          <p:cNvSpPr txBox="1"/>
          <p:nvPr/>
        </p:nvSpPr>
        <p:spPr>
          <a:xfrm>
            <a:off x="4977003" y="26461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0</a:t>
            </a:r>
          </a:p>
        </p:txBody>
      </p:sp>
      <p:sp>
        <p:nvSpPr>
          <p:cNvPr id="28" name="hi-2"/>
          <p:cNvSpPr txBox="1"/>
          <p:nvPr/>
        </p:nvSpPr>
        <p:spPr>
          <a:xfrm>
            <a:off x="7035419" y="26461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600</a:t>
            </a:r>
          </a:p>
        </p:txBody>
      </p:sp>
      <p:sp>
        <p:nvSpPr>
          <p:cNvPr id="29" name="n-2"/>
          <p:cNvSpPr txBox="1"/>
          <p:nvPr/>
        </p:nvSpPr>
        <p:spPr>
          <a:xfrm>
            <a:off x="4606798" y="15371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平均响应</a:t>
            </a:r>
          </a:p>
        </p:txBody>
      </p:sp>
      <p:sp>
        <p:nvSpPr>
          <p:cNvPr id="30" name="d-2"/>
          <p:cNvSpPr txBox="1"/>
          <p:nvPr/>
        </p:nvSpPr>
        <p:spPr>
          <a:xfrm>
            <a:off x="6828218" y="1588087"/>
            <a:ext cx="75203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目标 ≤ 300 ms</a:t>
            </a:r>
          </a:p>
        </p:txBody>
      </p:sp>
      <p:sp>
        <p:nvSpPr>
          <p:cNvPr id="31" name="v-2"/>
          <p:cNvSpPr txBox="1"/>
          <p:nvPr/>
        </p:nvSpPr>
        <p:spPr>
          <a:xfrm>
            <a:off x="5690235" y="2888932"/>
            <a:ext cx="81153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180 ms</a:t>
            </a:r>
          </a:p>
        </p:txBody>
      </p:sp>
      <p:sp>
        <p:nvSpPr>
          <p:cNvPr id="32" name="sb-2"/>
          <p:cNvSpPr/>
          <p:nvPr/>
        </p:nvSpPr>
        <p:spPr>
          <a:xfrm>
            <a:off x="4622800" y="1803400"/>
            <a:ext cx="457200" cy="177800"/>
          </a:xfrm>
          <a:custGeom>
            <a:avLst/>
            <a:gdLst/>
            <a:ahLst/>
            <a:cxnLst/>
            <a:rect l="0" t="0" r="r" b="b"/>
            <a:pathLst>
              <a:path w="457200" h="177800">
                <a:moveTo>
                  <a:pt x="88900" y="0"/>
                </a:moveTo>
                <a:lnTo>
                  <a:pt x="368300" y="0"/>
                </a:lnTo>
                <a:cubicBezTo>
                  <a:pt x="417386" y="0"/>
                  <a:pt x="457200" y="39814"/>
                  <a:pt x="457200" y="88900"/>
                </a:cubicBezTo>
                <a:lnTo>
                  <a:pt x="457200" y="88900"/>
                </a:lnTo>
                <a:cubicBezTo>
                  <a:pt x="457200" y="137986"/>
                  <a:pt x="417386" y="177800"/>
                  <a:pt x="3683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sbt-2"/>
          <p:cNvSpPr txBox="1"/>
          <p:nvPr/>
        </p:nvSpPr>
        <p:spPr>
          <a:xfrm>
            <a:off x="4709795" y="1820608"/>
            <a:ext cx="2832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0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健康</a:t>
            </a:r>
          </a:p>
        </p:txBody>
      </p:sp>
      <p:sp>
        <p:nvSpPr>
          <p:cNvPr id="34" name="c-3"/>
          <p:cNvSpPr/>
          <p:nvPr/>
        </p:nvSpPr>
        <p:spPr>
          <a:xfrm>
            <a:off x="7937500" y="1409700"/>
            <a:ext cx="3302000" cy="2095500"/>
          </a:xfrm>
          <a:custGeom>
            <a:avLst/>
            <a:gdLst/>
            <a:ahLst/>
            <a:cxnLst/>
            <a:rect l="0" t="0" r="r" b="b"/>
            <a:pathLst>
              <a:path w="3302000" h="2095500">
                <a:moveTo>
                  <a:pt x="139700" y="0"/>
                </a:moveTo>
                <a:lnTo>
                  <a:pt x="3162300" y="0"/>
                </a:lnTo>
                <a:cubicBezTo>
                  <a:pt x="3239453" y="0"/>
                  <a:pt x="3302000" y="62547"/>
                  <a:pt x="3302000" y="139700"/>
                </a:cubicBezTo>
                <a:lnTo>
                  <a:pt x="3302000" y="1955800"/>
                </a:lnTo>
                <a:cubicBezTo>
                  <a:pt x="3302000" y="2032952"/>
                  <a:pt x="3239453" y="2095500"/>
                  <a:pt x="3162300" y="2095500"/>
                </a:cubicBezTo>
                <a:lnTo>
                  <a:pt x="139700" y="2095500"/>
                </a:lnTo>
                <a:cubicBezTo>
                  <a:pt x="62547" y="2095500"/>
                  <a:pt x="0" y="2032952"/>
                  <a:pt x="0" y="1955800"/>
                </a:cubicBezTo>
                <a:lnTo>
                  <a:pt x="0" y="139700"/>
                </a:lnTo>
                <a:cubicBezTo>
                  <a:pt x="0" y="62547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bad-3"/>
          <p:cNvSpPr/>
          <p:nvPr/>
        </p:nvSpPr>
        <p:spPr>
          <a:xfrm>
            <a:off x="8750300" y="1879600"/>
            <a:ext cx="1676400" cy="838200"/>
          </a:xfrm>
          <a:custGeom>
            <a:avLst/>
            <a:gdLst/>
            <a:ahLst/>
            <a:cxnLst/>
            <a:rect l="0" t="0" r="r" b="b"/>
            <a:pathLst>
              <a:path w="1676400" h="838200">
                <a:moveTo>
                  <a:pt x="0" y="838200"/>
                </a:moveTo>
                <a:cubicBezTo>
                  <a:pt x="0" y="375275"/>
                  <a:pt x="375275" y="0"/>
                  <a:pt x="838200" y="0"/>
                </a:cubicBezTo>
                <a:cubicBezTo>
                  <a:pt x="1301125" y="0"/>
                  <a:pt x="1676400" y="375275"/>
                  <a:pt x="1676400" y="838200"/>
                </a:cubicBezTo>
                <a:lnTo>
                  <a:pt x="1498600" y="838200"/>
                </a:lnTo>
                <a:cubicBezTo>
                  <a:pt x="1498600" y="473471"/>
                  <a:pt x="1202929" y="177800"/>
                  <a:pt x="838200" y="177800"/>
                </a:cubicBezTo>
                <a:cubicBezTo>
                  <a:pt x="473471" y="177800"/>
                  <a:pt x="177800" y="473471"/>
                  <a:pt x="177800" y="838200"/>
                </a:cubicBezTo>
                <a:close/>
              </a:path>
            </a:pathLst>
          </a:custGeom>
          <a:solidFill>
            <a:srgbClr val="E0703A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ok-3"/>
          <p:cNvSpPr/>
          <p:nvPr/>
        </p:nvSpPr>
        <p:spPr>
          <a:xfrm>
            <a:off x="8750300" y="2039684"/>
            <a:ext cx="450024" cy="678116"/>
          </a:xfrm>
          <a:custGeom>
            <a:avLst/>
            <a:gdLst/>
            <a:ahLst/>
            <a:cxnLst/>
            <a:rect l="0" t="0" r="r" b="b"/>
            <a:pathLst>
              <a:path w="450024" h="678116">
                <a:moveTo>
                  <a:pt x="0" y="678116"/>
                </a:moveTo>
                <a:cubicBezTo>
                  <a:pt x="-3" y="409808"/>
                  <a:pt x="128441" y="157713"/>
                  <a:pt x="345503" y="0"/>
                </a:cubicBezTo>
                <a:lnTo>
                  <a:pt x="450024" y="143827"/>
                </a:lnTo>
                <a:cubicBezTo>
                  <a:pt x="278997" y="268087"/>
                  <a:pt x="177795" y="466715"/>
                  <a:pt x="177800" y="678116"/>
                </a:cubicBezTo>
                <a:close/>
              </a:path>
            </a:pathLst>
          </a:custGeom>
          <a:solidFill>
            <a:srgbClr val="2E77C2">
              <a:alpha val="3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nd-3"/>
          <p:cNvSpPr/>
          <p:nvPr/>
        </p:nvSpPr>
        <p:spPr>
          <a:xfrm>
            <a:off x="8931178" y="2138292"/>
            <a:ext cx="699316" cy="627140"/>
          </a:xfrm>
          <a:custGeom>
            <a:avLst/>
            <a:gdLst/>
            <a:ahLst/>
            <a:cxnLst/>
            <a:rect l="0" t="0" r="r" b="b"/>
            <a:pathLst>
              <a:path w="699316" h="627140">
                <a:moveTo>
                  <a:pt x="699316" y="531876"/>
                </a:moveTo>
                <a:lnTo>
                  <a:pt x="0" y="0"/>
                </a:lnTo>
                <a:lnTo>
                  <a:pt x="615329" y="627140"/>
                </a:ln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hub-3"/>
          <p:cNvSpPr/>
          <p:nvPr/>
        </p:nvSpPr>
        <p:spPr>
          <a:xfrm>
            <a:off x="9486900" y="2616200"/>
            <a:ext cx="203200" cy="203200"/>
          </a:xfrm>
          <a:prstGeom prst="ellipse">
            <a:avLst/>
          </a:prstGeom>
          <a:solidFill>
            <a:srgbClr val="0B3E8F"/>
          </a:solidFill>
          <a:ln w="2540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lo-3"/>
          <p:cNvSpPr txBox="1"/>
          <p:nvPr/>
        </p:nvSpPr>
        <p:spPr>
          <a:xfrm>
            <a:off x="8469503" y="26461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0</a:t>
            </a:r>
          </a:p>
        </p:txBody>
      </p:sp>
      <p:sp>
        <p:nvSpPr>
          <p:cNvPr id="40" name="hi-3"/>
          <p:cNvSpPr txBox="1"/>
          <p:nvPr/>
        </p:nvSpPr>
        <p:spPr>
          <a:xfrm>
            <a:off x="10527919" y="26461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200</a:t>
            </a:r>
          </a:p>
        </p:txBody>
      </p:sp>
      <p:sp>
        <p:nvSpPr>
          <p:cNvPr id="41" name="n-3"/>
          <p:cNvSpPr txBox="1"/>
          <p:nvPr/>
        </p:nvSpPr>
        <p:spPr>
          <a:xfrm>
            <a:off x="8099298" y="15371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工单积压</a:t>
            </a:r>
          </a:p>
        </p:txBody>
      </p:sp>
      <p:sp>
        <p:nvSpPr>
          <p:cNvPr id="42" name="d-3"/>
          <p:cNvSpPr txBox="1"/>
          <p:nvPr/>
        </p:nvSpPr>
        <p:spPr>
          <a:xfrm>
            <a:off x="10387140" y="1588087"/>
            <a:ext cx="68561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目标 ≤ 60 单</a:t>
            </a:r>
          </a:p>
        </p:txBody>
      </p:sp>
      <p:sp>
        <p:nvSpPr>
          <p:cNvPr id="43" name="v-3"/>
          <p:cNvSpPr txBox="1"/>
          <p:nvPr/>
        </p:nvSpPr>
        <p:spPr>
          <a:xfrm>
            <a:off x="9247505" y="2888932"/>
            <a:ext cx="68199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46 单</a:t>
            </a:r>
          </a:p>
        </p:txBody>
      </p:sp>
      <p:sp>
        <p:nvSpPr>
          <p:cNvPr id="44" name="sb-3"/>
          <p:cNvSpPr/>
          <p:nvPr/>
        </p:nvSpPr>
        <p:spPr>
          <a:xfrm>
            <a:off x="8115300" y="1803400"/>
            <a:ext cx="457200" cy="177800"/>
          </a:xfrm>
          <a:custGeom>
            <a:avLst/>
            <a:gdLst/>
            <a:ahLst/>
            <a:cxnLst/>
            <a:rect l="0" t="0" r="r" b="b"/>
            <a:pathLst>
              <a:path w="457200" h="177800">
                <a:moveTo>
                  <a:pt x="88900" y="0"/>
                </a:moveTo>
                <a:lnTo>
                  <a:pt x="368300" y="0"/>
                </a:lnTo>
                <a:cubicBezTo>
                  <a:pt x="417386" y="0"/>
                  <a:pt x="457200" y="39814"/>
                  <a:pt x="457200" y="88900"/>
                </a:cubicBezTo>
                <a:lnTo>
                  <a:pt x="457200" y="88900"/>
                </a:lnTo>
                <a:cubicBezTo>
                  <a:pt x="457200" y="137986"/>
                  <a:pt x="417386" y="177800"/>
                  <a:pt x="3683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sbt-3"/>
          <p:cNvSpPr txBox="1"/>
          <p:nvPr/>
        </p:nvSpPr>
        <p:spPr>
          <a:xfrm>
            <a:off x="8202295" y="1820608"/>
            <a:ext cx="2832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0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健康</a:t>
            </a:r>
          </a:p>
        </p:txBody>
      </p:sp>
      <p:sp>
        <p:nvSpPr>
          <p:cNvPr id="46" name="c-4"/>
          <p:cNvSpPr/>
          <p:nvPr/>
        </p:nvSpPr>
        <p:spPr>
          <a:xfrm>
            <a:off x="952500" y="3695700"/>
            <a:ext cx="3302000" cy="2095500"/>
          </a:xfrm>
          <a:custGeom>
            <a:avLst/>
            <a:gdLst/>
            <a:ahLst/>
            <a:cxnLst/>
            <a:rect l="0" t="0" r="r" b="b"/>
            <a:pathLst>
              <a:path w="3302000" h="2095500">
                <a:moveTo>
                  <a:pt x="139700" y="0"/>
                </a:moveTo>
                <a:lnTo>
                  <a:pt x="3162300" y="0"/>
                </a:lnTo>
                <a:cubicBezTo>
                  <a:pt x="3239452" y="0"/>
                  <a:pt x="3302000" y="62548"/>
                  <a:pt x="3302000" y="139700"/>
                </a:cubicBezTo>
                <a:lnTo>
                  <a:pt x="3302000" y="1955800"/>
                </a:lnTo>
                <a:cubicBezTo>
                  <a:pt x="3302000" y="2032952"/>
                  <a:pt x="3239452" y="2095500"/>
                  <a:pt x="3162300" y="2095500"/>
                </a:cubicBezTo>
                <a:lnTo>
                  <a:pt x="139700" y="2095500"/>
                </a:lnTo>
                <a:cubicBezTo>
                  <a:pt x="62547" y="2095500"/>
                  <a:pt x="0" y="2032952"/>
                  <a:pt x="0" y="19558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bad-4"/>
          <p:cNvSpPr/>
          <p:nvPr/>
        </p:nvSpPr>
        <p:spPr>
          <a:xfrm>
            <a:off x="1765300" y="4165600"/>
            <a:ext cx="1676400" cy="838200"/>
          </a:xfrm>
          <a:custGeom>
            <a:avLst/>
            <a:gdLst/>
            <a:ahLst/>
            <a:cxnLst/>
            <a:rect l="0" t="0" r="r" b="b"/>
            <a:pathLst>
              <a:path w="1676400" h="838200">
                <a:moveTo>
                  <a:pt x="0" y="838200"/>
                </a:moveTo>
                <a:cubicBezTo>
                  <a:pt x="0" y="375275"/>
                  <a:pt x="375275" y="0"/>
                  <a:pt x="838200" y="0"/>
                </a:cubicBezTo>
                <a:cubicBezTo>
                  <a:pt x="1301125" y="0"/>
                  <a:pt x="1676400" y="375275"/>
                  <a:pt x="1676400" y="838200"/>
                </a:cubicBezTo>
                <a:lnTo>
                  <a:pt x="1498600" y="838200"/>
                </a:lnTo>
                <a:cubicBezTo>
                  <a:pt x="1498600" y="473471"/>
                  <a:pt x="1202929" y="177800"/>
                  <a:pt x="838200" y="177800"/>
                </a:cubicBezTo>
                <a:cubicBezTo>
                  <a:pt x="473471" y="177800"/>
                  <a:pt x="177800" y="473471"/>
                  <a:pt x="177800" y="838200"/>
                </a:cubicBezTo>
                <a:close/>
              </a:path>
            </a:pathLst>
          </a:custGeom>
          <a:solidFill>
            <a:srgbClr val="E0703A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ok-4"/>
          <p:cNvSpPr/>
          <p:nvPr/>
        </p:nvSpPr>
        <p:spPr>
          <a:xfrm>
            <a:off x="2807589" y="4206621"/>
            <a:ext cx="634111" cy="797179"/>
          </a:xfrm>
          <a:custGeom>
            <a:avLst/>
            <a:gdLst/>
            <a:ahLst/>
            <a:cxnLst/>
            <a:rect l="0" t="0" r="r" b="b"/>
            <a:pathLst>
              <a:path w="634111" h="797179">
                <a:moveTo>
                  <a:pt x="54928" y="0"/>
                </a:moveTo>
                <a:cubicBezTo>
                  <a:pt x="400287" y="112213"/>
                  <a:pt x="634112" y="434047"/>
                  <a:pt x="634111" y="797179"/>
                </a:cubicBezTo>
                <a:lnTo>
                  <a:pt x="456311" y="797179"/>
                </a:lnTo>
                <a:cubicBezTo>
                  <a:pt x="456313" y="511080"/>
                  <a:pt x="272094" y="257516"/>
                  <a:pt x="0" y="169100"/>
                </a:cubicBezTo>
                <a:close/>
              </a:path>
            </a:pathLst>
          </a:custGeom>
          <a:solidFill>
            <a:srgbClr val="2E77C2">
              <a:alpha val="3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nd-4"/>
          <p:cNvSpPr/>
          <p:nvPr/>
        </p:nvSpPr>
        <p:spPr>
          <a:xfrm>
            <a:off x="2541125" y="4143022"/>
            <a:ext cx="226577" cy="872677"/>
          </a:xfrm>
          <a:custGeom>
            <a:avLst/>
            <a:gdLst/>
            <a:ahLst/>
            <a:cxnLst/>
            <a:rect l="0" t="0" r="r" b="b"/>
            <a:pathLst>
              <a:path w="226577" h="872677">
                <a:moveTo>
                  <a:pt x="124750" y="872677"/>
                </a:moveTo>
                <a:lnTo>
                  <a:pt x="226577" y="0"/>
                </a:lnTo>
                <a:lnTo>
                  <a:pt x="0" y="848880"/>
                </a:ln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hub-4"/>
          <p:cNvSpPr/>
          <p:nvPr/>
        </p:nvSpPr>
        <p:spPr>
          <a:xfrm>
            <a:off x="2501900" y="4902200"/>
            <a:ext cx="203200" cy="203200"/>
          </a:xfrm>
          <a:prstGeom prst="ellipse">
            <a:avLst/>
          </a:prstGeom>
          <a:solidFill>
            <a:srgbClr val="E0703A"/>
          </a:solidFill>
          <a:ln w="2540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lo-4"/>
          <p:cNvSpPr txBox="1"/>
          <p:nvPr/>
        </p:nvSpPr>
        <p:spPr>
          <a:xfrm>
            <a:off x="1459611" y="493210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50</a:t>
            </a:r>
          </a:p>
        </p:txBody>
      </p:sp>
      <p:sp>
        <p:nvSpPr>
          <p:cNvPr id="52" name="hi-4"/>
          <p:cNvSpPr txBox="1"/>
          <p:nvPr/>
        </p:nvSpPr>
        <p:spPr>
          <a:xfrm>
            <a:off x="3542919" y="49321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100</a:t>
            </a:r>
          </a:p>
        </p:txBody>
      </p:sp>
      <p:sp>
        <p:nvSpPr>
          <p:cNvPr id="53" name="n-4"/>
          <p:cNvSpPr txBox="1"/>
          <p:nvPr/>
        </p:nvSpPr>
        <p:spPr>
          <a:xfrm>
            <a:off x="1114298" y="3823113"/>
            <a:ext cx="834390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首次解决率</a:t>
            </a:r>
          </a:p>
        </p:txBody>
      </p:sp>
      <p:sp>
        <p:nvSpPr>
          <p:cNvPr id="54" name="d-4"/>
          <p:cNvSpPr txBox="1"/>
          <p:nvPr/>
        </p:nvSpPr>
        <p:spPr>
          <a:xfrm>
            <a:off x="3496120" y="3874087"/>
            <a:ext cx="59163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目标 ≥ 80%</a:t>
            </a:r>
          </a:p>
        </p:txBody>
      </p:sp>
      <p:sp>
        <p:nvSpPr>
          <p:cNvPr id="55" name="v-4"/>
          <p:cNvSpPr txBox="1"/>
          <p:nvPr/>
        </p:nvSpPr>
        <p:spPr>
          <a:xfrm>
            <a:off x="2304415" y="5174932"/>
            <a:ext cx="59817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78 %</a:t>
            </a:r>
          </a:p>
        </p:txBody>
      </p:sp>
      <p:sp>
        <p:nvSpPr>
          <p:cNvPr id="56" name="sb-4"/>
          <p:cNvSpPr/>
          <p:nvPr/>
        </p:nvSpPr>
        <p:spPr>
          <a:xfrm>
            <a:off x="1130300" y="4089400"/>
            <a:ext cx="457200" cy="177800"/>
          </a:xfrm>
          <a:custGeom>
            <a:avLst/>
            <a:gdLst/>
            <a:ahLst/>
            <a:cxnLst/>
            <a:rect l="0" t="0" r="r" b="b"/>
            <a:pathLst>
              <a:path w="457200" h="177800">
                <a:moveTo>
                  <a:pt x="88900" y="0"/>
                </a:moveTo>
                <a:lnTo>
                  <a:pt x="368300" y="0"/>
                </a:lnTo>
                <a:cubicBezTo>
                  <a:pt x="417385" y="0"/>
                  <a:pt x="457200" y="39814"/>
                  <a:pt x="457200" y="88900"/>
                </a:cubicBezTo>
                <a:lnTo>
                  <a:pt x="457200" y="88900"/>
                </a:lnTo>
                <a:cubicBezTo>
                  <a:pt x="457200" y="137986"/>
                  <a:pt x="417385" y="177800"/>
                  <a:pt x="368300" y="177800"/>
                </a:cubicBezTo>
                <a:lnTo>
                  <a:pt x="88900" y="177800"/>
                </a:lnTo>
                <a:cubicBezTo>
                  <a:pt x="39815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sbt-4"/>
          <p:cNvSpPr txBox="1"/>
          <p:nvPr/>
        </p:nvSpPr>
        <p:spPr>
          <a:xfrm>
            <a:off x="1217295" y="4106608"/>
            <a:ext cx="2832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0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关注</a:t>
            </a:r>
          </a:p>
        </p:txBody>
      </p:sp>
      <p:sp>
        <p:nvSpPr>
          <p:cNvPr id="58" name="c-5"/>
          <p:cNvSpPr/>
          <p:nvPr/>
        </p:nvSpPr>
        <p:spPr>
          <a:xfrm>
            <a:off x="4445000" y="3695700"/>
            <a:ext cx="3302000" cy="2095500"/>
          </a:xfrm>
          <a:custGeom>
            <a:avLst/>
            <a:gdLst/>
            <a:ahLst/>
            <a:cxnLst/>
            <a:rect l="0" t="0" r="r" b="b"/>
            <a:pathLst>
              <a:path w="3302000" h="2095500">
                <a:moveTo>
                  <a:pt x="139700" y="0"/>
                </a:moveTo>
                <a:lnTo>
                  <a:pt x="3162300" y="0"/>
                </a:lnTo>
                <a:cubicBezTo>
                  <a:pt x="3239453" y="0"/>
                  <a:pt x="3302000" y="62548"/>
                  <a:pt x="3302000" y="139700"/>
                </a:cubicBezTo>
                <a:lnTo>
                  <a:pt x="3302000" y="1955800"/>
                </a:lnTo>
                <a:cubicBezTo>
                  <a:pt x="3302000" y="2032952"/>
                  <a:pt x="3239453" y="2095500"/>
                  <a:pt x="3162300" y="2095500"/>
                </a:cubicBezTo>
                <a:lnTo>
                  <a:pt x="139700" y="2095500"/>
                </a:lnTo>
                <a:cubicBezTo>
                  <a:pt x="62548" y="2095500"/>
                  <a:pt x="0" y="2032952"/>
                  <a:pt x="0" y="19558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bad-5"/>
          <p:cNvSpPr/>
          <p:nvPr/>
        </p:nvSpPr>
        <p:spPr>
          <a:xfrm>
            <a:off x="5257800" y="4165600"/>
            <a:ext cx="1676400" cy="838200"/>
          </a:xfrm>
          <a:custGeom>
            <a:avLst/>
            <a:gdLst/>
            <a:ahLst/>
            <a:cxnLst/>
            <a:rect l="0" t="0" r="r" b="b"/>
            <a:pathLst>
              <a:path w="1676400" h="838200">
                <a:moveTo>
                  <a:pt x="0" y="838200"/>
                </a:moveTo>
                <a:cubicBezTo>
                  <a:pt x="0" y="375275"/>
                  <a:pt x="375275" y="0"/>
                  <a:pt x="838200" y="0"/>
                </a:cubicBezTo>
                <a:cubicBezTo>
                  <a:pt x="1301125" y="0"/>
                  <a:pt x="1676400" y="375275"/>
                  <a:pt x="1676400" y="838200"/>
                </a:cubicBezTo>
                <a:lnTo>
                  <a:pt x="1498600" y="838200"/>
                </a:lnTo>
                <a:cubicBezTo>
                  <a:pt x="1498600" y="473471"/>
                  <a:pt x="1202929" y="177800"/>
                  <a:pt x="838200" y="177800"/>
                </a:cubicBezTo>
                <a:cubicBezTo>
                  <a:pt x="473471" y="177800"/>
                  <a:pt x="177800" y="473471"/>
                  <a:pt x="177800" y="838200"/>
                </a:cubicBezTo>
                <a:close/>
              </a:path>
            </a:pathLst>
          </a:custGeom>
          <a:solidFill>
            <a:srgbClr val="E0703A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ok-5"/>
          <p:cNvSpPr/>
          <p:nvPr/>
        </p:nvSpPr>
        <p:spPr>
          <a:xfrm>
            <a:off x="5257800" y="4165600"/>
            <a:ext cx="838200" cy="838200"/>
          </a:xfrm>
          <a:custGeom>
            <a:avLst/>
            <a:gdLst/>
            <a:ahLst/>
            <a:cxnLst/>
            <a:rect l="0" t="0" r="r" b="b"/>
            <a:pathLst>
              <a:path w="838200" h="838200">
                <a:moveTo>
                  <a:pt x="0" y="838200"/>
                </a:moveTo>
                <a:cubicBezTo>
                  <a:pt x="0" y="375275"/>
                  <a:pt x="375275" y="0"/>
                  <a:pt x="838200" y="0"/>
                </a:cubicBezTo>
                <a:lnTo>
                  <a:pt x="838200" y="177800"/>
                </a:lnTo>
                <a:cubicBezTo>
                  <a:pt x="473471" y="177800"/>
                  <a:pt x="177800" y="473471"/>
                  <a:pt x="177800" y="838200"/>
                </a:cubicBezTo>
                <a:close/>
              </a:path>
            </a:pathLst>
          </a:custGeom>
          <a:solidFill>
            <a:srgbClr val="2E77C2">
              <a:alpha val="3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nd-5"/>
          <p:cNvSpPr/>
          <p:nvPr/>
        </p:nvSpPr>
        <p:spPr>
          <a:xfrm>
            <a:off x="6004402" y="4132300"/>
            <a:ext cx="154750" cy="878137"/>
          </a:xfrm>
          <a:custGeom>
            <a:avLst/>
            <a:gdLst/>
            <a:ahLst/>
            <a:cxnLst/>
            <a:rect l="0" t="0" r="r" b="b"/>
            <a:pathLst>
              <a:path w="154750" h="878137">
                <a:moveTo>
                  <a:pt x="154750" y="864862"/>
                </a:moveTo>
                <a:lnTo>
                  <a:pt x="0" y="0"/>
                </a:lnTo>
                <a:lnTo>
                  <a:pt x="28446" y="878137"/>
                </a:ln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hub-5"/>
          <p:cNvSpPr/>
          <p:nvPr/>
        </p:nvSpPr>
        <p:spPr>
          <a:xfrm>
            <a:off x="5994400" y="4902200"/>
            <a:ext cx="203200" cy="203200"/>
          </a:xfrm>
          <a:prstGeom prst="ellipse">
            <a:avLst/>
          </a:prstGeom>
          <a:solidFill>
            <a:srgbClr val="0B3E8F"/>
          </a:solidFill>
          <a:ln w="2540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lo-5"/>
          <p:cNvSpPr txBox="1"/>
          <p:nvPr/>
        </p:nvSpPr>
        <p:spPr>
          <a:xfrm>
            <a:off x="4977003" y="4932108"/>
            <a:ext cx="12979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0</a:t>
            </a:r>
          </a:p>
        </p:txBody>
      </p:sp>
      <p:sp>
        <p:nvSpPr>
          <p:cNvPr id="64" name="hi-5"/>
          <p:cNvSpPr txBox="1"/>
          <p:nvPr/>
        </p:nvSpPr>
        <p:spPr>
          <a:xfrm>
            <a:off x="7060311" y="493210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90</a:t>
            </a:r>
          </a:p>
        </p:txBody>
      </p:sp>
      <p:sp>
        <p:nvSpPr>
          <p:cNvPr id="65" name="n-5"/>
          <p:cNvSpPr txBox="1"/>
          <p:nvPr/>
        </p:nvSpPr>
        <p:spPr>
          <a:xfrm>
            <a:off x="4606798" y="3823113"/>
            <a:ext cx="6915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库存周转</a:t>
            </a:r>
          </a:p>
        </p:txBody>
      </p:sp>
      <p:sp>
        <p:nvSpPr>
          <p:cNvPr id="66" name="d-5"/>
          <p:cNvSpPr txBox="1"/>
          <p:nvPr/>
        </p:nvSpPr>
        <p:spPr>
          <a:xfrm>
            <a:off x="6894640" y="3874087"/>
            <a:ext cx="68561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目标 ≤ 45 天</a:t>
            </a:r>
          </a:p>
        </p:txBody>
      </p:sp>
      <p:sp>
        <p:nvSpPr>
          <p:cNvPr id="67" name="v-5"/>
          <p:cNvSpPr txBox="1"/>
          <p:nvPr/>
        </p:nvSpPr>
        <p:spPr>
          <a:xfrm>
            <a:off x="5755005" y="5174932"/>
            <a:ext cx="68199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42 天</a:t>
            </a:r>
          </a:p>
        </p:txBody>
      </p:sp>
      <p:sp>
        <p:nvSpPr>
          <p:cNvPr id="68" name="sb-5"/>
          <p:cNvSpPr/>
          <p:nvPr/>
        </p:nvSpPr>
        <p:spPr>
          <a:xfrm>
            <a:off x="4622800" y="4089400"/>
            <a:ext cx="457200" cy="177800"/>
          </a:xfrm>
          <a:custGeom>
            <a:avLst/>
            <a:gdLst/>
            <a:ahLst/>
            <a:cxnLst/>
            <a:rect l="0" t="0" r="r" b="b"/>
            <a:pathLst>
              <a:path w="457200" h="177800">
                <a:moveTo>
                  <a:pt x="88900" y="0"/>
                </a:moveTo>
                <a:lnTo>
                  <a:pt x="368300" y="0"/>
                </a:lnTo>
                <a:cubicBezTo>
                  <a:pt x="417386" y="0"/>
                  <a:pt x="457200" y="39814"/>
                  <a:pt x="457200" y="88900"/>
                </a:cubicBezTo>
                <a:lnTo>
                  <a:pt x="457200" y="88900"/>
                </a:lnTo>
                <a:cubicBezTo>
                  <a:pt x="457200" y="137986"/>
                  <a:pt x="417386" y="177800"/>
                  <a:pt x="3683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sbt-5"/>
          <p:cNvSpPr txBox="1"/>
          <p:nvPr/>
        </p:nvSpPr>
        <p:spPr>
          <a:xfrm>
            <a:off x="4709795" y="4106608"/>
            <a:ext cx="2832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0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健康</a:t>
            </a:r>
          </a:p>
        </p:txBody>
      </p:sp>
      <p:sp>
        <p:nvSpPr>
          <p:cNvPr id="70" name="c-6"/>
          <p:cNvSpPr/>
          <p:nvPr/>
        </p:nvSpPr>
        <p:spPr>
          <a:xfrm>
            <a:off x="7937500" y="3695700"/>
            <a:ext cx="3302000" cy="2095500"/>
          </a:xfrm>
          <a:custGeom>
            <a:avLst/>
            <a:gdLst/>
            <a:ahLst/>
            <a:cxnLst/>
            <a:rect l="0" t="0" r="r" b="b"/>
            <a:pathLst>
              <a:path w="3302000" h="2095500">
                <a:moveTo>
                  <a:pt x="139700" y="0"/>
                </a:moveTo>
                <a:lnTo>
                  <a:pt x="3162300" y="0"/>
                </a:lnTo>
                <a:cubicBezTo>
                  <a:pt x="3239453" y="0"/>
                  <a:pt x="3302000" y="62548"/>
                  <a:pt x="3302000" y="139700"/>
                </a:cubicBezTo>
                <a:lnTo>
                  <a:pt x="3302000" y="1955800"/>
                </a:lnTo>
                <a:cubicBezTo>
                  <a:pt x="3302000" y="2032952"/>
                  <a:pt x="3239453" y="2095500"/>
                  <a:pt x="3162300" y="2095500"/>
                </a:cubicBezTo>
                <a:lnTo>
                  <a:pt x="139700" y="2095500"/>
                </a:lnTo>
                <a:cubicBezTo>
                  <a:pt x="62547" y="2095500"/>
                  <a:pt x="0" y="2032952"/>
                  <a:pt x="0" y="19558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bad-6"/>
          <p:cNvSpPr/>
          <p:nvPr/>
        </p:nvSpPr>
        <p:spPr>
          <a:xfrm>
            <a:off x="8750300" y="4165600"/>
            <a:ext cx="1676400" cy="838200"/>
          </a:xfrm>
          <a:custGeom>
            <a:avLst/>
            <a:gdLst/>
            <a:ahLst/>
            <a:cxnLst/>
            <a:rect l="0" t="0" r="r" b="b"/>
            <a:pathLst>
              <a:path w="1676400" h="838200">
                <a:moveTo>
                  <a:pt x="0" y="838200"/>
                </a:moveTo>
                <a:cubicBezTo>
                  <a:pt x="0" y="375275"/>
                  <a:pt x="375275" y="0"/>
                  <a:pt x="838200" y="0"/>
                </a:cubicBezTo>
                <a:cubicBezTo>
                  <a:pt x="1301125" y="0"/>
                  <a:pt x="1676400" y="375275"/>
                  <a:pt x="1676400" y="838200"/>
                </a:cubicBezTo>
                <a:lnTo>
                  <a:pt x="1498600" y="838200"/>
                </a:lnTo>
                <a:cubicBezTo>
                  <a:pt x="1498600" y="473471"/>
                  <a:pt x="1202929" y="177800"/>
                  <a:pt x="838200" y="177800"/>
                </a:cubicBezTo>
                <a:cubicBezTo>
                  <a:pt x="473471" y="177800"/>
                  <a:pt x="177800" y="473471"/>
                  <a:pt x="177800" y="838200"/>
                </a:cubicBezTo>
                <a:close/>
              </a:path>
            </a:pathLst>
          </a:custGeom>
          <a:solidFill>
            <a:srgbClr val="E0703A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ok-6"/>
          <p:cNvSpPr/>
          <p:nvPr/>
        </p:nvSpPr>
        <p:spPr>
          <a:xfrm>
            <a:off x="10030397" y="4380865"/>
            <a:ext cx="396303" cy="622935"/>
          </a:xfrm>
          <a:custGeom>
            <a:avLst/>
            <a:gdLst/>
            <a:ahLst/>
            <a:cxnLst/>
            <a:rect l="0" t="0" r="r" b="b"/>
            <a:pathLst>
              <a:path w="396303" h="622935">
                <a:moveTo>
                  <a:pt x="118999" y="0"/>
                </a:moveTo>
                <a:cubicBezTo>
                  <a:pt x="295532" y="158967"/>
                  <a:pt x="396320" y="385376"/>
                  <a:pt x="396303" y="622935"/>
                </a:cubicBezTo>
                <a:lnTo>
                  <a:pt x="218503" y="622935"/>
                </a:lnTo>
                <a:cubicBezTo>
                  <a:pt x="218509" y="435766"/>
                  <a:pt x="139093" y="257385"/>
                  <a:pt x="0" y="132144"/>
                </a:cubicBezTo>
                <a:close/>
              </a:path>
            </a:pathLst>
          </a:custGeom>
          <a:solidFill>
            <a:srgbClr val="2E77C2">
              <a:alpha val="3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nd-6"/>
          <p:cNvSpPr/>
          <p:nvPr/>
        </p:nvSpPr>
        <p:spPr>
          <a:xfrm>
            <a:off x="9551176" y="4488724"/>
            <a:ext cx="746266" cy="566449"/>
          </a:xfrm>
          <a:custGeom>
            <a:avLst/>
            <a:gdLst/>
            <a:ahLst/>
            <a:cxnLst/>
            <a:rect l="0" t="0" r="r" b="b"/>
            <a:pathLst>
              <a:path w="746266" h="566449">
                <a:moveTo>
                  <a:pt x="74649" y="566449"/>
                </a:moveTo>
                <a:lnTo>
                  <a:pt x="746266" y="0"/>
                </a:lnTo>
                <a:lnTo>
                  <a:pt x="0" y="463704"/>
                </a:ln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hub-6"/>
          <p:cNvSpPr/>
          <p:nvPr/>
        </p:nvSpPr>
        <p:spPr>
          <a:xfrm>
            <a:off x="9486900" y="4902200"/>
            <a:ext cx="203200" cy="203200"/>
          </a:xfrm>
          <a:prstGeom prst="ellipse">
            <a:avLst/>
          </a:prstGeom>
          <a:solidFill>
            <a:srgbClr val="0B3E8F"/>
          </a:solidFill>
          <a:ln w="2540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lo-6"/>
          <p:cNvSpPr txBox="1"/>
          <p:nvPr/>
        </p:nvSpPr>
        <p:spPr>
          <a:xfrm>
            <a:off x="8444611" y="493210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70</a:t>
            </a:r>
          </a:p>
        </p:txBody>
      </p:sp>
      <p:sp>
        <p:nvSpPr>
          <p:cNvPr id="76" name="hi-6"/>
          <p:cNvSpPr txBox="1"/>
          <p:nvPr/>
        </p:nvSpPr>
        <p:spPr>
          <a:xfrm>
            <a:off x="10527919" y="493210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100</a:t>
            </a:r>
          </a:p>
        </p:txBody>
      </p:sp>
      <p:sp>
        <p:nvSpPr>
          <p:cNvPr id="77" name="n-6"/>
          <p:cNvSpPr txBox="1"/>
          <p:nvPr/>
        </p:nvSpPr>
        <p:spPr>
          <a:xfrm>
            <a:off x="8099298" y="3823113"/>
            <a:ext cx="834390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准时交付率</a:t>
            </a:r>
          </a:p>
        </p:txBody>
      </p:sp>
      <p:sp>
        <p:nvSpPr>
          <p:cNvPr id="78" name="d-6"/>
          <p:cNvSpPr txBox="1"/>
          <p:nvPr/>
        </p:nvSpPr>
        <p:spPr>
          <a:xfrm>
            <a:off x="10481120" y="3874087"/>
            <a:ext cx="591630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20" b="0" spc="1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目标 ≥ 92%</a:t>
            </a:r>
          </a:p>
        </p:txBody>
      </p:sp>
      <p:sp>
        <p:nvSpPr>
          <p:cNvPr id="79" name="v-6"/>
          <p:cNvSpPr txBox="1"/>
          <p:nvPr/>
        </p:nvSpPr>
        <p:spPr>
          <a:xfrm>
            <a:off x="9289415" y="5174932"/>
            <a:ext cx="59817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94 %</a:t>
            </a:r>
          </a:p>
        </p:txBody>
      </p:sp>
      <p:sp>
        <p:nvSpPr>
          <p:cNvPr id="80" name="sb-6"/>
          <p:cNvSpPr/>
          <p:nvPr/>
        </p:nvSpPr>
        <p:spPr>
          <a:xfrm>
            <a:off x="8115300" y="4089400"/>
            <a:ext cx="457200" cy="177800"/>
          </a:xfrm>
          <a:custGeom>
            <a:avLst/>
            <a:gdLst/>
            <a:ahLst/>
            <a:cxnLst/>
            <a:rect l="0" t="0" r="r" b="b"/>
            <a:pathLst>
              <a:path w="457200" h="177800">
                <a:moveTo>
                  <a:pt x="88900" y="0"/>
                </a:moveTo>
                <a:lnTo>
                  <a:pt x="368300" y="0"/>
                </a:lnTo>
                <a:cubicBezTo>
                  <a:pt x="417386" y="0"/>
                  <a:pt x="457200" y="39814"/>
                  <a:pt x="457200" y="88900"/>
                </a:cubicBezTo>
                <a:lnTo>
                  <a:pt x="457200" y="88900"/>
                </a:lnTo>
                <a:cubicBezTo>
                  <a:pt x="457200" y="137986"/>
                  <a:pt x="417386" y="177800"/>
                  <a:pt x="3683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sbt-6"/>
          <p:cNvSpPr txBox="1"/>
          <p:nvPr/>
        </p:nvSpPr>
        <p:spPr>
          <a:xfrm>
            <a:off x="8202295" y="4106608"/>
            <a:ext cx="2832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10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健康</a:t>
            </a:r>
          </a:p>
        </p:txBody>
      </p:sp>
      <p:sp>
        <p:nvSpPr>
          <p:cNvPr id="82" name="sum"/>
          <p:cNvSpPr/>
          <p:nvPr/>
        </p:nvSpPr>
        <p:spPr>
          <a:xfrm>
            <a:off x="952500" y="5905500"/>
            <a:ext cx="10287000" cy="393700"/>
          </a:xfrm>
          <a:custGeom>
            <a:avLst/>
            <a:gdLst/>
            <a:ahLst/>
            <a:cxnLst/>
            <a:rect l="0" t="0" r="r" b="b"/>
            <a:pathLst>
              <a:path w="10287000" h="3937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04800"/>
                </a:lnTo>
                <a:cubicBezTo>
                  <a:pt x="10287000" y="353886"/>
                  <a:pt x="10247186" y="393700"/>
                  <a:pt x="10198100" y="393700"/>
                </a:cubicBezTo>
                <a:lnTo>
                  <a:pt x="88900" y="393700"/>
                </a:lnTo>
                <a:cubicBezTo>
                  <a:pt x="39815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sum-bar"/>
          <p:cNvSpPr/>
          <p:nvPr/>
        </p:nvSpPr>
        <p:spPr>
          <a:xfrm>
            <a:off x="952500" y="5905500"/>
            <a:ext cx="31750" cy="3937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sum-h"/>
          <p:cNvSpPr txBox="1"/>
          <p:nvPr/>
        </p:nvSpPr>
        <p:spPr>
          <a:xfrm>
            <a:off x="1142746" y="60261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本周关注</a:t>
            </a:r>
          </a:p>
        </p:txBody>
      </p:sp>
      <p:sp>
        <p:nvSpPr>
          <p:cNvPr id="85" name="sum-p"/>
          <p:cNvSpPr txBox="1"/>
          <p:nvPr/>
        </p:nvSpPr>
        <p:spPr>
          <a:xfrm>
            <a:off x="1891665" y="6022261"/>
            <a:ext cx="409289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六项中五项健康；首次解决率 78% 低于目标，客服部本周补充 30 条知识库。</a:t>
            </a:r>
          </a:p>
        </p:txBody>
      </p:sp>
      <p:cxnSp>
        <p:nvCxnSpPr>
          <p:cNvPr id="86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foot-l"/>
          <p:cNvSpPr txBox="1"/>
          <p:nvPr/>
        </p:nvSpPr>
        <p:spPr>
          <a:xfrm>
            <a:off x="573532" y="6532308"/>
            <a:ext cx="9469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仪表组 · 六项指标</a:t>
            </a:r>
          </a:p>
        </p:txBody>
      </p:sp>
      <p:sp>
        <p:nvSpPr>
          <p:cNvPr id="88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9946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五个大区门店满意度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99060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STRIP PLOT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075295" y="673132"/>
            <a:ext cx="35454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每个点是一家门店——看平均分之外，更要看分散程度和掉队的那几家</a:t>
            </a:r>
          </a:p>
        </p:txBody>
      </p:sp>
      <p:sp>
        <p:nvSpPr>
          <p:cNvPr id="10" name="low"/>
          <p:cNvSpPr/>
          <p:nvPr/>
        </p:nvSpPr>
        <p:spPr>
          <a:xfrm>
            <a:off x="2095500" y="1739900"/>
            <a:ext cx="3143250" cy="3848100"/>
          </a:xfrm>
          <a:prstGeom prst="rect">
            <a:avLst/>
          </a:prstGeom>
          <a:solidFill>
            <a:srgbClr val="E0703A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low-t"/>
          <p:cNvSpPr txBox="1"/>
          <p:nvPr/>
        </p:nvSpPr>
        <p:spPr>
          <a:xfrm>
            <a:off x="2161032" y="1769808"/>
            <a:ext cx="80518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2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低于 4.0 需整改</a:t>
            </a:r>
          </a:p>
        </p:txBody>
      </p:sp>
      <p:cxnSp>
        <p:nvCxnSpPr>
          <p:cNvPr id="12" name="g-0"/>
          <p:cNvCxnSpPr/>
          <p:nvPr/>
        </p:nvCxnSpPr>
        <p:spPr>
          <a:xfrm>
            <a:off x="2095500" y="1739900"/>
            <a:ext cx="0" cy="38481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gt-0"/>
          <p:cNvSpPr txBox="1"/>
          <p:nvPr/>
        </p:nvSpPr>
        <p:spPr>
          <a:xfrm>
            <a:off x="1964436" y="56530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3.0</a:t>
            </a:r>
          </a:p>
        </p:txBody>
      </p:sp>
      <p:cxnSp>
        <p:nvCxnSpPr>
          <p:cNvPr id="14" name="g-1"/>
          <p:cNvCxnSpPr/>
          <p:nvPr/>
        </p:nvCxnSpPr>
        <p:spPr>
          <a:xfrm>
            <a:off x="3667125" y="1739900"/>
            <a:ext cx="0" cy="38481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gt-1"/>
          <p:cNvSpPr txBox="1"/>
          <p:nvPr/>
        </p:nvSpPr>
        <p:spPr>
          <a:xfrm>
            <a:off x="3536061" y="56530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3.5</a:t>
            </a:r>
          </a:p>
        </p:txBody>
      </p:sp>
      <p:cxnSp>
        <p:nvCxnSpPr>
          <p:cNvPr id="16" name="g-2"/>
          <p:cNvCxnSpPr/>
          <p:nvPr/>
        </p:nvCxnSpPr>
        <p:spPr>
          <a:xfrm>
            <a:off x="5238750" y="1739900"/>
            <a:ext cx="0" cy="38481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gt-2"/>
          <p:cNvSpPr txBox="1"/>
          <p:nvPr/>
        </p:nvSpPr>
        <p:spPr>
          <a:xfrm>
            <a:off x="5107686" y="56530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4.0</a:t>
            </a:r>
          </a:p>
        </p:txBody>
      </p:sp>
      <p:cxnSp>
        <p:nvCxnSpPr>
          <p:cNvPr id="18" name="g-3"/>
          <p:cNvCxnSpPr/>
          <p:nvPr/>
        </p:nvCxnSpPr>
        <p:spPr>
          <a:xfrm>
            <a:off x="6810375" y="1739900"/>
            <a:ext cx="0" cy="38481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gt-3"/>
          <p:cNvSpPr txBox="1"/>
          <p:nvPr/>
        </p:nvSpPr>
        <p:spPr>
          <a:xfrm>
            <a:off x="6679311" y="56530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4.5</a:t>
            </a:r>
          </a:p>
        </p:txBody>
      </p:sp>
      <p:cxnSp>
        <p:nvCxnSpPr>
          <p:cNvPr id="20" name="g-4"/>
          <p:cNvCxnSpPr/>
          <p:nvPr/>
        </p:nvCxnSpPr>
        <p:spPr>
          <a:xfrm>
            <a:off x="8382000" y="1739900"/>
            <a:ext cx="0" cy="384810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gt-4"/>
          <p:cNvSpPr txBox="1"/>
          <p:nvPr/>
        </p:nvSpPr>
        <p:spPr>
          <a:xfrm>
            <a:off x="8250936" y="56530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5.0</a:t>
            </a:r>
          </a:p>
        </p:txBody>
      </p:sp>
      <p:sp>
        <p:nvSpPr>
          <p:cNvPr id="22" name="n-1"/>
          <p:cNvSpPr txBox="1"/>
          <p:nvPr/>
        </p:nvSpPr>
        <p:spPr>
          <a:xfrm>
            <a:off x="1415034" y="1973770"/>
            <a:ext cx="4432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华东</a:t>
            </a:r>
          </a:p>
        </p:txBody>
      </p:sp>
      <p:sp>
        <p:nvSpPr>
          <p:cNvPr id="23" name="nn-1"/>
          <p:cNvSpPr txBox="1"/>
          <p:nvPr/>
        </p:nvSpPr>
        <p:spPr>
          <a:xfrm>
            <a:off x="1356106" y="2201608"/>
            <a:ext cx="4960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42 家门店</a:t>
            </a:r>
          </a:p>
        </p:txBody>
      </p:sp>
      <p:sp>
        <p:nvSpPr>
          <p:cNvPr id="24" name="p-1-0"/>
          <p:cNvSpPr/>
          <p:nvPr/>
        </p:nvSpPr>
        <p:spPr>
          <a:xfrm>
            <a:off x="5551131" y="1949450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p-1-1"/>
          <p:cNvSpPr/>
          <p:nvPr/>
        </p:nvSpPr>
        <p:spPr>
          <a:xfrm>
            <a:off x="5809106" y="2153525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p-1-2"/>
          <p:cNvSpPr/>
          <p:nvPr/>
        </p:nvSpPr>
        <p:spPr>
          <a:xfrm>
            <a:off x="5946886" y="2027400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p-1-3"/>
          <p:cNvSpPr/>
          <p:nvPr/>
        </p:nvSpPr>
        <p:spPr>
          <a:xfrm>
            <a:off x="6046250" y="2231474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p-1-4"/>
          <p:cNvSpPr/>
          <p:nvPr/>
        </p:nvSpPr>
        <p:spPr>
          <a:xfrm>
            <a:off x="6126062" y="2105349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p-1-5"/>
          <p:cNvSpPr/>
          <p:nvPr/>
        </p:nvSpPr>
        <p:spPr>
          <a:xfrm>
            <a:off x="6193930" y="1979224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p-1-6"/>
          <p:cNvSpPr/>
          <p:nvPr/>
        </p:nvSpPr>
        <p:spPr>
          <a:xfrm>
            <a:off x="6253727" y="2183299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p-1-7"/>
          <p:cNvSpPr/>
          <p:nvPr/>
        </p:nvSpPr>
        <p:spPr>
          <a:xfrm>
            <a:off x="6307714" y="2057174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p-1-8"/>
          <p:cNvSpPr/>
          <p:nvPr/>
        </p:nvSpPr>
        <p:spPr>
          <a:xfrm>
            <a:off x="6357333" y="2261249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p-1-9"/>
          <p:cNvSpPr/>
          <p:nvPr/>
        </p:nvSpPr>
        <p:spPr>
          <a:xfrm>
            <a:off x="6403569" y="2135123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p-1-10"/>
          <p:cNvSpPr/>
          <p:nvPr/>
        </p:nvSpPr>
        <p:spPr>
          <a:xfrm>
            <a:off x="6447126" y="2008998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p-1-11"/>
          <p:cNvSpPr/>
          <p:nvPr/>
        </p:nvSpPr>
        <p:spPr>
          <a:xfrm>
            <a:off x="6488529" y="2213073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p-1-12"/>
          <p:cNvSpPr/>
          <p:nvPr/>
        </p:nvSpPr>
        <p:spPr>
          <a:xfrm>
            <a:off x="6528184" y="2086948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p-1-13"/>
          <p:cNvSpPr/>
          <p:nvPr/>
        </p:nvSpPr>
        <p:spPr>
          <a:xfrm>
            <a:off x="6566413" y="1960823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p-1-14"/>
          <p:cNvSpPr/>
          <p:nvPr/>
        </p:nvSpPr>
        <p:spPr>
          <a:xfrm>
            <a:off x="6603477" y="2164898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p-1-15"/>
          <p:cNvSpPr/>
          <p:nvPr/>
        </p:nvSpPr>
        <p:spPr>
          <a:xfrm>
            <a:off x="6639597" y="2038772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p-1-16"/>
          <p:cNvSpPr/>
          <p:nvPr/>
        </p:nvSpPr>
        <p:spPr>
          <a:xfrm>
            <a:off x="6674960" y="2242847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p-1-17"/>
          <p:cNvSpPr/>
          <p:nvPr/>
        </p:nvSpPr>
        <p:spPr>
          <a:xfrm>
            <a:off x="6709731" y="2116722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p-1-18"/>
          <p:cNvSpPr/>
          <p:nvPr/>
        </p:nvSpPr>
        <p:spPr>
          <a:xfrm>
            <a:off x="6744056" y="1990597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p-1-19"/>
          <p:cNvSpPr/>
          <p:nvPr/>
        </p:nvSpPr>
        <p:spPr>
          <a:xfrm>
            <a:off x="6778072" y="2194672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p-1-20"/>
          <p:cNvSpPr/>
          <p:nvPr/>
        </p:nvSpPr>
        <p:spPr>
          <a:xfrm>
            <a:off x="6811904" y="2068547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p-1-21"/>
          <p:cNvSpPr/>
          <p:nvPr/>
        </p:nvSpPr>
        <p:spPr>
          <a:xfrm>
            <a:off x="6845676" y="2272621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p-1-22"/>
          <p:cNvSpPr/>
          <p:nvPr/>
        </p:nvSpPr>
        <p:spPr>
          <a:xfrm>
            <a:off x="6879508" y="2146496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p-1-23"/>
          <p:cNvSpPr/>
          <p:nvPr/>
        </p:nvSpPr>
        <p:spPr>
          <a:xfrm>
            <a:off x="6913524" y="2020371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p-1-24"/>
          <p:cNvSpPr/>
          <p:nvPr/>
        </p:nvSpPr>
        <p:spPr>
          <a:xfrm>
            <a:off x="6947849" y="2224446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p-1-25"/>
          <p:cNvSpPr/>
          <p:nvPr/>
        </p:nvSpPr>
        <p:spPr>
          <a:xfrm>
            <a:off x="6982620" y="2098321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p-1-26"/>
          <p:cNvSpPr/>
          <p:nvPr/>
        </p:nvSpPr>
        <p:spPr>
          <a:xfrm>
            <a:off x="7017983" y="1972195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p-1-27"/>
          <p:cNvSpPr/>
          <p:nvPr/>
        </p:nvSpPr>
        <p:spPr>
          <a:xfrm>
            <a:off x="7054103" y="2176270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p-1-28"/>
          <p:cNvSpPr/>
          <p:nvPr/>
        </p:nvSpPr>
        <p:spPr>
          <a:xfrm>
            <a:off x="7091167" y="2050145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p-1-29"/>
          <p:cNvSpPr/>
          <p:nvPr/>
        </p:nvSpPr>
        <p:spPr>
          <a:xfrm>
            <a:off x="7129396" y="2254220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p-1-30"/>
          <p:cNvSpPr/>
          <p:nvPr/>
        </p:nvSpPr>
        <p:spPr>
          <a:xfrm>
            <a:off x="7169051" y="2128095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p-1-31"/>
          <p:cNvSpPr/>
          <p:nvPr/>
        </p:nvSpPr>
        <p:spPr>
          <a:xfrm>
            <a:off x="7210454" y="2001970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p-1-32"/>
          <p:cNvSpPr/>
          <p:nvPr/>
        </p:nvSpPr>
        <p:spPr>
          <a:xfrm>
            <a:off x="7254011" y="2206044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p-1-33"/>
          <p:cNvSpPr/>
          <p:nvPr/>
        </p:nvSpPr>
        <p:spPr>
          <a:xfrm>
            <a:off x="7300247" y="2079919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p-1-34"/>
          <p:cNvSpPr/>
          <p:nvPr/>
        </p:nvSpPr>
        <p:spPr>
          <a:xfrm>
            <a:off x="7349866" y="1953794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p-1-35"/>
          <p:cNvSpPr/>
          <p:nvPr/>
        </p:nvSpPr>
        <p:spPr>
          <a:xfrm>
            <a:off x="7403853" y="2157869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p-1-36"/>
          <p:cNvSpPr/>
          <p:nvPr/>
        </p:nvSpPr>
        <p:spPr>
          <a:xfrm>
            <a:off x="7463650" y="2031744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p-1-37"/>
          <p:cNvSpPr/>
          <p:nvPr/>
        </p:nvSpPr>
        <p:spPr>
          <a:xfrm>
            <a:off x="7531518" y="2235819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p-1-38"/>
          <p:cNvSpPr/>
          <p:nvPr/>
        </p:nvSpPr>
        <p:spPr>
          <a:xfrm>
            <a:off x="7611330" y="2109693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p-1-39"/>
          <p:cNvSpPr/>
          <p:nvPr/>
        </p:nvSpPr>
        <p:spPr>
          <a:xfrm>
            <a:off x="7710694" y="1983568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p-1-40"/>
          <p:cNvSpPr/>
          <p:nvPr/>
        </p:nvSpPr>
        <p:spPr>
          <a:xfrm>
            <a:off x="7848474" y="2187643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p-1-41"/>
          <p:cNvSpPr/>
          <p:nvPr/>
        </p:nvSpPr>
        <p:spPr>
          <a:xfrm>
            <a:off x="8106449" y="2061518"/>
            <a:ext cx="88900" cy="88900"/>
          </a:xfrm>
          <a:prstGeom prst="ellipse">
            <a:avLst/>
          </a:prstGeom>
          <a:solidFill>
            <a:srgbClr val="134C9C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66" name="mu-1"/>
          <p:cNvCxnSpPr/>
          <p:nvPr/>
        </p:nvCxnSpPr>
        <p:spPr>
          <a:xfrm>
            <a:off x="6873240" y="1930400"/>
            <a:ext cx="0" cy="457200"/>
          </a:xfrm>
          <a:prstGeom prst="line">
            <a:avLst/>
          </a:prstGeom>
          <a:ln w="19050" cap="rnd">
            <a:solidFill>
              <a:srgbClr val="0B2545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7" name="mub-1"/>
          <p:cNvSpPr/>
          <p:nvPr/>
        </p:nvSpPr>
        <p:spPr>
          <a:xfrm>
            <a:off x="6657340" y="1739900"/>
            <a:ext cx="431800" cy="165100"/>
          </a:xfrm>
          <a:custGeom>
            <a:avLst/>
            <a:gdLst/>
            <a:ahLst/>
            <a:cxnLst/>
            <a:rect l="0" t="0" r="r" b="b"/>
            <a:pathLst>
              <a:path w="431800" h="165100">
                <a:moveTo>
                  <a:pt x="82550" y="0"/>
                </a:moveTo>
                <a:lnTo>
                  <a:pt x="349250" y="0"/>
                </a:lnTo>
                <a:cubicBezTo>
                  <a:pt x="394843" y="0"/>
                  <a:pt x="431800" y="36957"/>
                  <a:pt x="431800" y="82550"/>
                </a:cubicBezTo>
                <a:lnTo>
                  <a:pt x="431800" y="82550"/>
                </a:lnTo>
                <a:cubicBezTo>
                  <a:pt x="431800" y="128143"/>
                  <a:pt x="394843" y="165100"/>
                  <a:pt x="349250" y="165100"/>
                </a:cubicBezTo>
                <a:lnTo>
                  <a:pt x="82550" y="165100"/>
                </a:lnTo>
                <a:cubicBezTo>
                  <a:pt x="36957" y="165100"/>
                  <a:pt x="0" y="128143"/>
                  <a:pt x="0" y="825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mut-1"/>
          <p:cNvSpPr txBox="1"/>
          <p:nvPr/>
        </p:nvSpPr>
        <p:spPr>
          <a:xfrm>
            <a:off x="6733667" y="1750758"/>
            <a:ext cx="2791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4.52</a:t>
            </a:r>
          </a:p>
        </p:txBody>
      </p:sp>
      <p:sp>
        <p:nvSpPr>
          <p:cNvPr id="69" name="n-2"/>
          <p:cNvSpPr txBox="1"/>
          <p:nvPr/>
        </p:nvSpPr>
        <p:spPr>
          <a:xfrm>
            <a:off x="1415034" y="2735770"/>
            <a:ext cx="4432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华南</a:t>
            </a:r>
          </a:p>
        </p:txBody>
      </p:sp>
      <p:sp>
        <p:nvSpPr>
          <p:cNvPr id="70" name="nn-2"/>
          <p:cNvSpPr txBox="1"/>
          <p:nvPr/>
        </p:nvSpPr>
        <p:spPr>
          <a:xfrm>
            <a:off x="1356106" y="2963608"/>
            <a:ext cx="4960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36 家门店</a:t>
            </a:r>
          </a:p>
        </p:txBody>
      </p:sp>
      <p:sp>
        <p:nvSpPr>
          <p:cNvPr id="71" name="p-2-0"/>
          <p:cNvSpPr/>
          <p:nvPr/>
        </p:nvSpPr>
        <p:spPr>
          <a:xfrm>
            <a:off x="4962623" y="2833624"/>
            <a:ext cx="88900" cy="88900"/>
          </a:xfrm>
          <a:prstGeom prst="ellipse">
            <a:avLst/>
          </a:pr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p-2-1"/>
          <p:cNvSpPr/>
          <p:nvPr/>
        </p:nvSpPr>
        <p:spPr>
          <a:xfrm>
            <a:off x="5285797" y="3037699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p-2-2"/>
          <p:cNvSpPr/>
          <p:nvPr/>
        </p:nvSpPr>
        <p:spPr>
          <a:xfrm>
            <a:off x="5459609" y="2911574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p-2-3"/>
          <p:cNvSpPr/>
          <p:nvPr/>
        </p:nvSpPr>
        <p:spPr>
          <a:xfrm>
            <a:off x="5585655" y="2785448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p-2-4"/>
          <p:cNvSpPr/>
          <p:nvPr/>
        </p:nvSpPr>
        <p:spPr>
          <a:xfrm>
            <a:off x="5687420" y="2989523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p-2-5"/>
          <p:cNvSpPr/>
          <p:nvPr/>
        </p:nvSpPr>
        <p:spPr>
          <a:xfrm>
            <a:off x="5774388" y="2863398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p-2-6"/>
          <p:cNvSpPr/>
          <p:nvPr/>
        </p:nvSpPr>
        <p:spPr>
          <a:xfrm>
            <a:off x="5851400" y="2737273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p-2-7"/>
          <p:cNvSpPr/>
          <p:nvPr/>
        </p:nvSpPr>
        <p:spPr>
          <a:xfrm>
            <a:off x="5921285" y="2941348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p-2-8"/>
          <p:cNvSpPr/>
          <p:nvPr/>
        </p:nvSpPr>
        <p:spPr>
          <a:xfrm>
            <a:off x="5985857" y="2815223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p-2-9"/>
          <p:cNvSpPr/>
          <p:nvPr/>
        </p:nvSpPr>
        <p:spPr>
          <a:xfrm>
            <a:off x="6046359" y="3019297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p-2-10"/>
          <p:cNvSpPr/>
          <p:nvPr/>
        </p:nvSpPr>
        <p:spPr>
          <a:xfrm>
            <a:off x="6103686" y="2893172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p-2-11"/>
          <p:cNvSpPr/>
          <p:nvPr/>
        </p:nvSpPr>
        <p:spPr>
          <a:xfrm>
            <a:off x="6158514" y="2767047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p-2-12"/>
          <p:cNvSpPr/>
          <p:nvPr/>
        </p:nvSpPr>
        <p:spPr>
          <a:xfrm>
            <a:off x="6211370" y="2971122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p-2-13"/>
          <p:cNvSpPr/>
          <p:nvPr/>
        </p:nvSpPr>
        <p:spPr>
          <a:xfrm>
            <a:off x="6262681" y="2844997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p-2-14"/>
          <p:cNvSpPr/>
          <p:nvPr/>
        </p:nvSpPr>
        <p:spPr>
          <a:xfrm>
            <a:off x="6312803" y="2718872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p-2-15"/>
          <p:cNvSpPr/>
          <p:nvPr/>
        </p:nvSpPr>
        <p:spPr>
          <a:xfrm>
            <a:off x="6362044" y="2922946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p-2-16"/>
          <p:cNvSpPr/>
          <p:nvPr/>
        </p:nvSpPr>
        <p:spPr>
          <a:xfrm>
            <a:off x="6410677" y="2796821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p-2-17"/>
          <p:cNvSpPr/>
          <p:nvPr/>
        </p:nvSpPr>
        <p:spPr>
          <a:xfrm>
            <a:off x="6458953" y="3000896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p-2-18"/>
          <p:cNvSpPr/>
          <p:nvPr/>
        </p:nvSpPr>
        <p:spPr>
          <a:xfrm>
            <a:off x="6507112" y="2874771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p-2-19"/>
          <p:cNvSpPr/>
          <p:nvPr/>
        </p:nvSpPr>
        <p:spPr>
          <a:xfrm>
            <a:off x="6555388" y="2748646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p-2-20"/>
          <p:cNvSpPr/>
          <p:nvPr/>
        </p:nvSpPr>
        <p:spPr>
          <a:xfrm>
            <a:off x="6604021" y="2952721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p-2-21"/>
          <p:cNvSpPr/>
          <p:nvPr/>
        </p:nvSpPr>
        <p:spPr>
          <a:xfrm>
            <a:off x="6653262" y="2826595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p-2-22"/>
          <p:cNvSpPr/>
          <p:nvPr/>
        </p:nvSpPr>
        <p:spPr>
          <a:xfrm>
            <a:off x="6703384" y="3030670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p-2-23"/>
          <p:cNvSpPr/>
          <p:nvPr/>
        </p:nvSpPr>
        <p:spPr>
          <a:xfrm>
            <a:off x="6754695" y="2904545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p-2-24"/>
          <p:cNvSpPr/>
          <p:nvPr/>
        </p:nvSpPr>
        <p:spPr>
          <a:xfrm>
            <a:off x="6807551" y="2778420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p-2-25"/>
          <p:cNvSpPr/>
          <p:nvPr/>
        </p:nvSpPr>
        <p:spPr>
          <a:xfrm>
            <a:off x="6862379" y="2982495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p-2-26"/>
          <p:cNvSpPr/>
          <p:nvPr/>
        </p:nvSpPr>
        <p:spPr>
          <a:xfrm>
            <a:off x="6919706" y="2856369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p-2-27"/>
          <p:cNvSpPr/>
          <p:nvPr/>
        </p:nvSpPr>
        <p:spPr>
          <a:xfrm>
            <a:off x="6980208" y="2730244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9" name="p-2-28"/>
          <p:cNvSpPr/>
          <p:nvPr/>
        </p:nvSpPr>
        <p:spPr>
          <a:xfrm>
            <a:off x="7044780" y="2934319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p-2-29"/>
          <p:cNvSpPr/>
          <p:nvPr/>
        </p:nvSpPr>
        <p:spPr>
          <a:xfrm>
            <a:off x="7114665" y="2808194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p-2-30"/>
          <p:cNvSpPr/>
          <p:nvPr/>
        </p:nvSpPr>
        <p:spPr>
          <a:xfrm>
            <a:off x="7191677" y="3012269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2" name="p-2-31"/>
          <p:cNvSpPr/>
          <p:nvPr/>
        </p:nvSpPr>
        <p:spPr>
          <a:xfrm>
            <a:off x="7278645" y="2886144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p-2-32"/>
          <p:cNvSpPr/>
          <p:nvPr/>
        </p:nvSpPr>
        <p:spPr>
          <a:xfrm>
            <a:off x="7380410" y="2760018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4" name="p-2-33"/>
          <p:cNvSpPr/>
          <p:nvPr/>
        </p:nvSpPr>
        <p:spPr>
          <a:xfrm>
            <a:off x="7506456" y="2964093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p-2-34"/>
          <p:cNvSpPr/>
          <p:nvPr/>
        </p:nvSpPr>
        <p:spPr>
          <a:xfrm>
            <a:off x="7680268" y="2837968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6" name="p-2-35"/>
          <p:cNvSpPr/>
          <p:nvPr/>
        </p:nvSpPr>
        <p:spPr>
          <a:xfrm>
            <a:off x="8003442" y="2711843"/>
            <a:ext cx="88900" cy="88900"/>
          </a:xfrm>
          <a:prstGeom prst="ellipse">
            <a:avLst/>
          </a:prstGeom>
          <a:solidFill>
            <a:srgbClr val="1B5AA8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07" name="mu-2"/>
          <p:cNvCxnSpPr/>
          <p:nvPr/>
        </p:nvCxnSpPr>
        <p:spPr>
          <a:xfrm>
            <a:off x="6527482" y="2692400"/>
            <a:ext cx="0" cy="457200"/>
          </a:xfrm>
          <a:prstGeom prst="line">
            <a:avLst/>
          </a:prstGeom>
          <a:ln w="19050" cap="rnd">
            <a:solidFill>
              <a:srgbClr val="0B2545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8" name="mub-2"/>
          <p:cNvSpPr/>
          <p:nvPr/>
        </p:nvSpPr>
        <p:spPr>
          <a:xfrm>
            <a:off x="6311582" y="2501900"/>
            <a:ext cx="431800" cy="165100"/>
          </a:xfrm>
          <a:custGeom>
            <a:avLst/>
            <a:gdLst/>
            <a:ahLst/>
            <a:cxnLst/>
            <a:rect l="0" t="0" r="r" b="b"/>
            <a:pathLst>
              <a:path w="431800" h="165100">
                <a:moveTo>
                  <a:pt x="82550" y="0"/>
                </a:moveTo>
                <a:lnTo>
                  <a:pt x="349250" y="0"/>
                </a:lnTo>
                <a:cubicBezTo>
                  <a:pt x="394843" y="0"/>
                  <a:pt x="431800" y="36957"/>
                  <a:pt x="431800" y="82550"/>
                </a:cubicBezTo>
                <a:lnTo>
                  <a:pt x="431800" y="82550"/>
                </a:lnTo>
                <a:cubicBezTo>
                  <a:pt x="431800" y="128143"/>
                  <a:pt x="394843" y="165100"/>
                  <a:pt x="349250" y="165100"/>
                </a:cubicBezTo>
                <a:lnTo>
                  <a:pt x="82550" y="165100"/>
                </a:lnTo>
                <a:cubicBezTo>
                  <a:pt x="36957" y="165100"/>
                  <a:pt x="0" y="128143"/>
                  <a:pt x="0" y="825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mut-2"/>
          <p:cNvSpPr txBox="1"/>
          <p:nvPr/>
        </p:nvSpPr>
        <p:spPr>
          <a:xfrm>
            <a:off x="6387910" y="2512758"/>
            <a:ext cx="2791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4.41</a:t>
            </a:r>
          </a:p>
        </p:txBody>
      </p:sp>
      <p:sp>
        <p:nvSpPr>
          <p:cNvPr id="110" name="n-3"/>
          <p:cNvSpPr txBox="1"/>
          <p:nvPr/>
        </p:nvSpPr>
        <p:spPr>
          <a:xfrm>
            <a:off x="1415034" y="3497771"/>
            <a:ext cx="4432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华北</a:t>
            </a:r>
          </a:p>
        </p:txBody>
      </p:sp>
      <p:sp>
        <p:nvSpPr>
          <p:cNvPr id="111" name="nn-3"/>
          <p:cNvSpPr txBox="1"/>
          <p:nvPr/>
        </p:nvSpPr>
        <p:spPr>
          <a:xfrm>
            <a:off x="1356106" y="3725608"/>
            <a:ext cx="4960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30 家门店</a:t>
            </a:r>
          </a:p>
        </p:txBody>
      </p:sp>
      <p:sp>
        <p:nvSpPr>
          <p:cNvPr id="112" name="p-3-0"/>
          <p:cNvSpPr/>
          <p:nvPr/>
        </p:nvSpPr>
        <p:spPr>
          <a:xfrm>
            <a:off x="4493643" y="3717798"/>
            <a:ext cx="88900" cy="88900"/>
          </a:xfrm>
          <a:prstGeom prst="ellipse">
            <a:avLst/>
          </a:pr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3" name="p-3-1"/>
          <p:cNvSpPr/>
          <p:nvPr/>
        </p:nvSpPr>
        <p:spPr>
          <a:xfrm>
            <a:off x="4887474" y="3591673"/>
            <a:ext cx="88900" cy="88900"/>
          </a:xfrm>
          <a:prstGeom prst="ellipse">
            <a:avLst/>
          </a:pr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4" name="p-3-2"/>
          <p:cNvSpPr/>
          <p:nvPr/>
        </p:nvSpPr>
        <p:spPr>
          <a:xfrm>
            <a:off x="5101237" y="3795748"/>
            <a:ext cx="88900" cy="88900"/>
          </a:xfrm>
          <a:prstGeom prst="ellipse">
            <a:avLst/>
          </a:pr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5" name="p-3-3"/>
          <p:cNvSpPr/>
          <p:nvPr/>
        </p:nvSpPr>
        <p:spPr>
          <a:xfrm>
            <a:off x="5257418" y="3669622"/>
            <a:ext cx="88900" cy="88900"/>
          </a:xfrm>
          <a:prstGeom prst="ellipse">
            <a:avLst/>
          </a:prstGeom>
          <a:solidFill>
            <a:srgbClr val="2468B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6" name="p-3-4"/>
          <p:cNvSpPr/>
          <p:nvPr/>
        </p:nvSpPr>
        <p:spPr>
          <a:xfrm>
            <a:off x="5384405" y="3543497"/>
            <a:ext cx="88900" cy="88900"/>
          </a:xfrm>
          <a:prstGeom prst="ellipse">
            <a:avLst/>
          </a:prstGeom>
          <a:solidFill>
            <a:srgbClr val="2468B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7" name="p-3-5"/>
          <p:cNvSpPr/>
          <p:nvPr/>
        </p:nvSpPr>
        <p:spPr>
          <a:xfrm>
            <a:off x="5493693" y="3747572"/>
            <a:ext cx="88900" cy="88900"/>
          </a:xfrm>
          <a:prstGeom prst="ellipse">
            <a:avLst/>
          </a:prstGeom>
          <a:solidFill>
            <a:srgbClr val="2468B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8" name="p-3-6"/>
          <p:cNvSpPr/>
          <p:nvPr/>
        </p:nvSpPr>
        <p:spPr>
          <a:xfrm>
            <a:off x="5591165" y="3621447"/>
            <a:ext cx="88900" cy="88900"/>
          </a:xfrm>
          <a:prstGeom prst="ellipse">
            <a:avLst/>
          </a:prstGeom>
          <a:solidFill>
            <a:srgbClr val="2468B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9" name="p-3-7"/>
          <p:cNvSpPr/>
          <p:nvPr/>
        </p:nvSpPr>
        <p:spPr>
          <a:xfrm>
            <a:off x="5680280" y="3495322"/>
            <a:ext cx="88900" cy="88900"/>
          </a:xfrm>
          <a:prstGeom prst="ellipse">
            <a:avLst/>
          </a:prstGeom>
          <a:solidFill>
            <a:srgbClr val="2468B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0" name="p-3-8"/>
          <p:cNvSpPr/>
          <p:nvPr/>
        </p:nvSpPr>
        <p:spPr>
          <a:xfrm>
            <a:off x="5763271" y="3699397"/>
            <a:ext cx="88900" cy="88900"/>
          </a:xfrm>
          <a:prstGeom prst="ellipse">
            <a:avLst/>
          </a:prstGeom>
          <a:solidFill>
            <a:srgbClr val="2468B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1" name="p-3-9"/>
          <p:cNvSpPr/>
          <p:nvPr/>
        </p:nvSpPr>
        <p:spPr>
          <a:xfrm>
            <a:off x="5841685" y="3573271"/>
            <a:ext cx="88900" cy="88900"/>
          </a:xfrm>
          <a:prstGeom prst="ellipse">
            <a:avLst/>
          </a:prstGeom>
          <a:solidFill>
            <a:srgbClr val="2468B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2" name="p-3-10"/>
          <p:cNvSpPr/>
          <p:nvPr/>
        </p:nvSpPr>
        <p:spPr>
          <a:xfrm>
            <a:off x="5916655" y="3777346"/>
            <a:ext cx="88900" cy="88900"/>
          </a:xfrm>
          <a:prstGeom prst="ellipse">
            <a:avLst/>
          </a:prstGeom>
          <a:solidFill>
            <a:srgbClr val="2468B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3" name="p-3-11"/>
          <p:cNvSpPr/>
          <p:nvPr/>
        </p:nvSpPr>
        <p:spPr>
          <a:xfrm>
            <a:off x="5989057" y="3651221"/>
            <a:ext cx="88900" cy="88900"/>
          </a:xfrm>
          <a:prstGeom prst="ellipse">
            <a:avLst/>
          </a:prstGeom>
          <a:solidFill>
            <a:srgbClr val="2468B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4" name="p-3-12"/>
          <p:cNvSpPr/>
          <p:nvPr/>
        </p:nvSpPr>
        <p:spPr>
          <a:xfrm>
            <a:off x="6059598" y="3525096"/>
            <a:ext cx="88900" cy="88900"/>
          </a:xfrm>
          <a:prstGeom prst="ellipse">
            <a:avLst/>
          </a:prstGeom>
          <a:solidFill>
            <a:srgbClr val="2468B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5" name="p-3-13"/>
          <p:cNvSpPr/>
          <p:nvPr/>
        </p:nvSpPr>
        <p:spPr>
          <a:xfrm>
            <a:off x="6128876" y="3729171"/>
            <a:ext cx="88900" cy="88900"/>
          </a:xfrm>
          <a:prstGeom prst="ellipse">
            <a:avLst/>
          </a:prstGeom>
          <a:solidFill>
            <a:srgbClr val="2468B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6" name="p-3-14"/>
          <p:cNvSpPr/>
          <p:nvPr/>
        </p:nvSpPr>
        <p:spPr>
          <a:xfrm>
            <a:off x="6197420" y="3603046"/>
            <a:ext cx="88900" cy="88900"/>
          </a:xfrm>
          <a:prstGeom prst="ellipse">
            <a:avLst/>
          </a:prstGeom>
          <a:solidFill>
            <a:srgbClr val="2468B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7" name="p-3-15"/>
          <p:cNvSpPr/>
          <p:nvPr/>
        </p:nvSpPr>
        <p:spPr>
          <a:xfrm>
            <a:off x="6265725" y="3476920"/>
            <a:ext cx="88900" cy="88900"/>
          </a:xfrm>
          <a:prstGeom prst="ellipse">
            <a:avLst/>
          </a:prstGeom>
          <a:solidFill>
            <a:srgbClr val="2468B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8" name="p-3-16"/>
          <p:cNvSpPr/>
          <p:nvPr/>
        </p:nvSpPr>
        <p:spPr>
          <a:xfrm>
            <a:off x="6334269" y="3680995"/>
            <a:ext cx="88900" cy="88900"/>
          </a:xfrm>
          <a:prstGeom prst="ellipse">
            <a:avLst/>
          </a:prstGeom>
          <a:solidFill>
            <a:srgbClr val="2468B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9" name="p-3-17"/>
          <p:cNvSpPr/>
          <p:nvPr/>
        </p:nvSpPr>
        <p:spPr>
          <a:xfrm>
            <a:off x="6403547" y="3554870"/>
            <a:ext cx="88900" cy="88900"/>
          </a:xfrm>
          <a:prstGeom prst="ellipse">
            <a:avLst/>
          </a:prstGeom>
          <a:solidFill>
            <a:srgbClr val="2468B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0" name="p-3-18"/>
          <p:cNvSpPr/>
          <p:nvPr/>
        </p:nvSpPr>
        <p:spPr>
          <a:xfrm>
            <a:off x="6474088" y="3758945"/>
            <a:ext cx="88900" cy="88900"/>
          </a:xfrm>
          <a:prstGeom prst="ellipse">
            <a:avLst/>
          </a:prstGeom>
          <a:solidFill>
            <a:srgbClr val="2468B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1" name="p-3-19"/>
          <p:cNvSpPr/>
          <p:nvPr/>
        </p:nvSpPr>
        <p:spPr>
          <a:xfrm>
            <a:off x="6546490" y="3632820"/>
            <a:ext cx="88900" cy="88900"/>
          </a:xfrm>
          <a:prstGeom prst="ellipse">
            <a:avLst/>
          </a:prstGeom>
          <a:solidFill>
            <a:srgbClr val="2468B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2" name="p-3-20"/>
          <p:cNvSpPr/>
          <p:nvPr/>
        </p:nvSpPr>
        <p:spPr>
          <a:xfrm>
            <a:off x="6621460" y="3506695"/>
            <a:ext cx="88900" cy="88900"/>
          </a:xfrm>
          <a:prstGeom prst="ellipse">
            <a:avLst/>
          </a:prstGeom>
          <a:solidFill>
            <a:srgbClr val="2468B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3" name="p-3-21"/>
          <p:cNvSpPr/>
          <p:nvPr/>
        </p:nvSpPr>
        <p:spPr>
          <a:xfrm>
            <a:off x="6699874" y="3710769"/>
            <a:ext cx="88900" cy="88900"/>
          </a:xfrm>
          <a:prstGeom prst="ellipse">
            <a:avLst/>
          </a:prstGeom>
          <a:solidFill>
            <a:srgbClr val="2468B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4" name="p-3-22"/>
          <p:cNvSpPr/>
          <p:nvPr/>
        </p:nvSpPr>
        <p:spPr>
          <a:xfrm>
            <a:off x="6782865" y="3584644"/>
            <a:ext cx="88900" cy="88900"/>
          </a:xfrm>
          <a:prstGeom prst="ellipse">
            <a:avLst/>
          </a:prstGeom>
          <a:solidFill>
            <a:srgbClr val="2468B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5" name="p-3-23"/>
          <p:cNvSpPr/>
          <p:nvPr/>
        </p:nvSpPr>
        <p:spPr>
          <a:xfrm>
            <a:off x="6871980" y="3788719"/>
            <a:ext cx="88900" cy="88900"/>
          </a:xfrm>
          <a:prstGeom prst="ellipse">
            <a:avLst/>
          </a:prstGeom>
          <a:solidFill>
            <a:srgbClr val="2468B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6" name="p-3-24"/>
          <p:cNvSpPr/>
          <p:nvPr/>
        </p:nvSpPr>
        <p:spPr>
          <a:xfrm>
            <a:off x="6969452" y="3662594"/>
            <a:ext cx="88900" cy="88900"/>
          </a:xfrm>
          <a:prstGeom prst="ellipse">
            <a:avLst/>
          </a:prstGeom>
          <a:solidFill>
            <a:srgbClr val="2468B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7" name="p-3-25"/>
          <p:cNvSpPr/>
          <p:nvPr/>
        </p:nvSpPr>
        <p:spPr>
          <a:xfrm>
            <a:off x="7078740" y="3536469"/>
            <a:ext cx="88900" cy="88900"/>
          </a:xfrm>
          <a:prstGeom prst="ellipse">
            <a:avLst/>
          </a:prstGeom>
          <a:solidFill>
            <a:srgbClr val="2468B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8" name="p-3-26"/>
          <p:cNvSpPr/>
          <p:nvPr/>
        </p:nvSpPr>
        <p:spPr>
          <a:xfrm>
            <a:off x="7205727" y="3740543"/>
            <a:ext cx="88900" cy="88900"/>
          </a:xfrm>
          <a:prstGeom prst="ellipse">
            <a:avLst/>
          </a:prstGeom>
          <a:solidFill>
            <a:srgbClr val="2468B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9" name="p-3-27"/>
          <p:cNvSpPr/>
          <p:nvPr/>
        </p:nvSpPr>
        <p:spPr>
          <a:xfrm>
            <a:off x="7361908" y="3614418"/>
            <a:ext cx="88900" cy="88900"/>
          </a:xfrm>
          <a:prstGeom prst="ellipse">
            <a:avLst/>
          </a:prstGeom>
          <a:solidFill>
            <a:srgbClr val="2468B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0" name="p-3-28"/>
          <p:cNvSpPr/>
          <p:nvPr/>
        </p:nvSpPr>
        <p:spPr>
          <a:xfrm>
            <a:off x="7575671" y="3488293"/>
            <a:ext cx="88900" cy="88900"/>
          </a:xfrm>
          <a:prstGeom prst="ellipse">
            <a:avLst/>
          </a:prstGeom>
          <a:solidFill>
            <a:srgbClr val="2468B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1" name="p-3-29"/>
          <p:cNvSpPr/>
          <p:nvPr/>
        </p:nvSpPr>
        <p:spPr>
          <a:xfrm>
            <a:off x="7969502" y="3692368"/>
            <a:ext cx="88900" cy="88900"/>
          </a:xfrm>
          <a:prstGeom prst="ellipse">
            <a:avLst/>
          </a:prstGeom>
          <a:solidFill>
            <a:srgbClr val="2468B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42" name="mu-3"/>
          <p:cNvCxnSpPr/>
          <p:nvPr/>
        </p:nvCxnSpPr>
        <p:spPr>
          <a:xfrm>
            <a:off x="6276022" y="3454400"/>
            <a:ext cx="0" cy="457200"/>
          </a:xfrm>
          <a:prstGeom prst="line">
            <a:avLst/>
          </a:prstGeom>
          <a:ln w="19050" cap="rnd">
            <a:solidFill>
              <a:srgbClr val="0B2545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3" name="mub-3"/>
          <p:cNvSpPr/>
          <p:nvPr/>
        </p:nvSpPr>
        <p:spPr>
          <a:xfrm>
            <a:off x="6060122" y="3263900"/>
            <a:ext cx="431800" cy="165100"/>
          </a:xfrm>
          <a:custGeom>
            <a:avLst/>
            <a:gdLst/>
            <a:ahLst/>
            <a:cxnLst/>
            <a:rect l="0" t="0" r="r" b="b"/>
            <a:pathLst>
              <a:path w="431800" h="165100">
                <a:moveTo>
                  <a:pt x="82550" y="0"/>
                </a:moveTo>
                <a:lnTo>
                  <a:pt x="349250" y="0"/>
                </a:lnTo>
                <a:cubicBezTo>
                  <a:pt x="394843" y="0"/>
                  <a:pt x="431800" y="36957"/>
                  <a:pt x="431800" y="82550"/>
                </a:cubicBezTo>
                <a:lnTo>
                  <a:pt x="431800" y="82550"/>
                </a:lnTo>
                <a:cubicBezTo>
                  <a:pt x="431800" y="128143"/>
                  <a:pt x="394843" y="165100"/>
                  <a:pt x="349250" y="165100"/>
                </a:cubicBezTo>
                <a:lnTo>
                  <a:pt x="82550" y="165100"/>
                </a:lnTo>
                <a:cubicBezTo>
                  <a:pt x="36957" y="165100"/>
                  <a:pt x="0" y="128143"/>
                  <a:pt x="0" y="825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4" name="mut-3"/>
          <p:cNvSpPr txBox="1"/>
          <p:nvPr/>
        </p:nvSpPr>
        <p:spPr>
          <a:xfrm>
            <a:off x="6136450" y="3274758"/>
            <a:ext cx="2791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4.33</a:t>
            </a:r>
          </a:p>
        </p:txBody>
      </p:sp>
      <p:sp>
        <p:nvSpPr>
          <p:cNvPr id="145" name="n-4"/>
          <p:cNvSpPr txBox="1"/>
          <p:nvPr/>
        </p:nvSpPr>
        <p:spPr>
          <a:xfrm>
            <a:off x="1415034" y="4259770"/>
            <a:ext cx="4432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华中</a:t>
            </a:r>
          </a:p>
        </p:txBody>
      </p:sp>
      <p:sp>
        <p:nvSpPr>
          <p:cNvPr id="146" name="nn-4"/>
          <p:cNvSpPr txBox="1"/>
          <p:nvPr/>
        </p:nvSpPr>
        <p:spPr>
          <a:xfrm>
            <a:off x="1356106" y="4487608"/>
            <a:ext cx="4960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24 家门店</a:t>
            </a:r>
          </a:p>
        </p:txBody>
      </p:sp>
      <p:sp>
        <p:nvSpPr>
          <p:cNvPr id="147" name="p-4-0"/>
          <p:cNvSpPr/>
          <p:nvPr/>
        </p:nvSpPr>
        <p:spPr>
          <a:xfrm>
            <a:off x="3395952" y="4271772"/>
            <a:ext cx="88900" cy="88900"/>
          </a:xfrm>
          <a:prstGeom prst="ellipse">
            <a:avLst/>
          </a:pr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8" name="p-4-1"/>
          <p:cNvSpPr/>
          <p:nvPr/>
        </p:nvSpPr>
        <p:spPr>
          <a:xfrm>
            <a:off x="3931997" y="4475847"/>
            <a:ext cx="88900" cy="88900"/>
          </a:xfrm>
          <a:prstGeom prst="ellipse">
            <a:avLst/>
          </a:pr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9" name="p-4-2"/>
          <p:cNvSpPr/>
          <p:nvPr/>
        </p:nvSpPr>
        <p:spPr>
          <a:xfrm>
            <a:off x="4226706" y="4349722"/>
            <a:ext cx="88900" cy="88900"/>
          </a:xfrm>
          <a:prstGeom prst="ellipse">
            <a:avLst/>
          </a:pr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0" name="p-4-3"/>
          <p:cNvSpPr/>
          <p:nvPr/>
        </p:nvSpPr>
        <p:spPr>
          <a:xfrm>
            <a:off x="4444375" y="4553796"/>
            <a:ext cx="88900" cy="88900"/>
          </a:xfrm>
          <a:prstGeom prst="ellipse">
            <a:avLst/>
          </a:pr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1" name="p-4-4"/>
          <p:cNvSpPr/>
          <p:nvPr/>
        </p:nvSpPr>
        <p:spPr>
          <a:xfrm>
            <a:off x="4623234" y="4427671"/>
            <a:ext cx="88900" cy="88900"/>
          </a:xfrm>
          <a:prstGeom prst="ellipse">
            <a:avLst/>
          </a:pr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2" name="p-4-5"/>
          <p:cNvSpPr/>
          <p:nvPr/>
        </p:nvSpPr>
        <p:spPr>
          <a:xfrm>
            <a:off x="4778833" y="4301546"/>
            <a:ext cx="88900" cy="88900"/>
          </a:xfrm>
          <a:prstGeom prst="ellipse">
            <a:avLst/>
          </a:pr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3" name="p-4-6"/>
          <p:cNvSpPr/>
          <p:nvPr/>
        </p:nvSpPr>
        <p:spPr>
          <a:xfrm>
            <a:off x="4919194" y="4505621"/>
            <a:ext cx="88900" cy="88900"/>
          </a:xfrm>
          <a:prstGeom prst="ellipse">
            <a:avLst/>
          </a:pr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4" name="p-4-7"/>
          <p:cNvSpPr/>
          <p:nvPr/>
        </p:nvSpPr>
        <p:spPr>
          <a:xfrm>
            <a:off x="5049092" y="4379496"/>
            <a:ext cx="88900" cy="88900"/>
          </a:xfrm>
          <a:prstGeom prst="ellipse">
            <a:avLst/>
          </a:pr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5" name="p-4-8"/>
          <p:cNvSpPr/>
          <p:nvPr/>
        </p:nvSpPr>
        <p:spPr>
          <a:xfrm>
            <a:off x="5171673" y="4253371"/>
            <a:ext cx="88900" cy="88900"/>
          </a:xfrm>
          <a:prstGeom prst="ellipse">
            <a:avLst/>
          </a:pr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6" name="p-4-9"/>
          <p:cNvSpPr/>
          <p:nvPr/>
        </p:nvSpPr>
        <p:spPr>
          <a:xfrm>
            <a:off x="5289188" y="4457445"/>
            <a:ext cx="88900" cy="88900"/>
          </a:xfrm>
          <a:prstGeom prst="ellipse">
            <a:avLst/>
          </a:prstGeom>
          <a:solidFill>
            <a:srgbClr val="2E77C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7" name="p-4-10"/>
          <p:cNvSpPr/>
          <p:nvPr/>
        </p:nvSpPr>
        <p:spPr>
          <a:xfrm>
            <a:off x="5403370" y="4331320"/>
            <a:ext cx="88900" cy="88900"/>
          </a:xfrm>
          <a:prstGeom prst="ellipse">
            <a:avLst/>
          </a:prstGeom>
          <a:solidFill>
            <a:srgbClr val="2E77C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8" name="p-4-11"/>
          <p:cNvSpPr/>
          <p:nvPr/>
        </p:nvSpPr>
        <p:spPr>
          <a:xfrm>
            <a:off x="5515655" y="4535395"/>
            <a:ext cx="88900" cy="88900"/>
          </a:xfrm>
          <a:prstGeom prst="ellipse">
            <a:avLst/>
          </a:prstGeom>
          <a:solidFill>
            <a:srgbClr val="2E77C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9" name="p-4-12"/>
          <p:cNvSpPr/>
          <p:nvPr/>
        </p:nvSpPr>
        <p:spPr>
          <a:xfrm>
            <a:off x="5627325" y="4409270"/>
            <a:ext cx="88900" cy="88900"/>
          </a:xfrm>
          <a:prstGeom prst="ellipse">
            <a:avLst/>
          </a:prstGeom>
          <a:solidFill>
            <a:srgbClr val="2E77C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0" name="p-4-13"/>
          <p:cNvSpPr/>
          <p:nvPr/>
        </p:nvSpPr>
        <p:spPr>
          <a:xfrm>
            <a:off x="5739610" y="4283145"/>
            <a:ext cx="88900" cy="88900"/>
          </a:xfrm>
          <a:prstGeom prst="ellipse">
            <a:avLst/>
          </a:prstGeom>
          <a:solidFill>
            <a:srgbClr val="2E77C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1" name="p-4-14"/>
          <p:cNvSpPr/>
          <p:nvPr/>
        </p:nvSpPr>
        <p:spPr>
          <a:xfrm>
            <a:off x="5853792" y="4487220"/>
            <a:ext cx="88900" cy="88900"/>
          </a:xfrm>
          <a:prstGeom prst="ellipse">
            <a:avLst/>
          </a:prstGeom>
          <a:solidFill>
            <a:srgbClr val="2E77C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2" name="p-4-15"/>
          <p:cNvSpPr/>
          <p:nvPr/>
        </p:nvSpPr>
        <p:spPr>
          <a:xfrm>
            <a:off x="5971307" y="4361094"/>
            <a:ext cx="88900" cy="88900"/>
          </a:xfrm>
          <a:prstGeom prst="ellipse">
            <a:avLst/>
          </a:prstGeom>
          <a:solidFill>
            <a:srgbClr val="2E77C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3" name="p-4-16"/>
          <p:cNvSpPr/>
          <p:nvPr/>
        </p:nvSpPr>
        <p:spPr>
          <a:xfrm>
            <a:off x="6093888" y="4565169"/>
            <a:ext cx="88900" cy="88900"/>
          </a:xfrm>
          <a:prstGeom prst="ellipse">
            <a:avLst/>
          </a:prstGeom>
          <a:solidFill>
            <a:srgbClr val="2E77C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4" name="p-4-17"/>
          <p:cNvSpPr/>
          <p:nvPr/>
        </p:nvSpPr>
        <p:spPr>
          <a:xfrm>
            <a:off x="6223786" y="4439044"/>
            <a:ext cx="88900" cy="88900"/>
          </a:xfrm>
          <a:prstGeom prst="ellipse">
            <a:avLst/>
          </a:prstGeom>
          <a:solidFill>
            <a:srgbClr val="2E77C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5" name="p-4-18"/>
          <p:cNvSpPr/>
          <p:nvPr/>
        </p:nvSpPr>
        <p:spPr>
          <a:xfrm>
            <a:off x="6364147" y="4312919"/>
            <a:ext cx="88900" cy="88900"/>
          </a:xfrm>
          <a:prstGeom prst="ellipse">
            <a:avLst/>
          </a:prstGeom>
          <a:solidFill>
            <a:srgbClr val="2E77C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6" name="p-4-19"/>
          <p:cNvSpPr/>
          <p:nvPr/>
        </p:nvSpPr>
        <p:spPr>
          <a:xfrm>
            <a:off x="6519746" y="4516994"/>
            <a:ext cx="88900" cy="88900"/>
          </a:xfrm>
          <a:prstGeom prst="ellipse">
            <a:avLst/>
          </a:prstGeom>
          <a:solidFill>
            <a:srgbClr val="2E77C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7" name="p-4-20"/>
          <p:cNvSpPr/>
          <p:nvPr/>
        </p:nvSpPr>
        <p:spPr>
          <a:xfrm>
            <a:off x="6698605" y="4390869"/>
            <a:ext cx="88900" cy="88900"/>
          </a:xfrm>
          <a:prstGeom prst="ellipse">
            <a:avLst/>
          </a:prstGeom>
          <a:solidFill>
            <a:srgbClr val="2E77C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8" name="p-4-21"/>
          <p:cNvSpPr/>
          <p:nvPr/>
        </p:nvSpPr>
        <p:spPr>
          <a:xfrm>
            <a:off x="6916274" y="4264743"/>
            <a:ext cx="88900" cy="88900"/>
          </a:xfrm>
          <a:prstGeom prst="ellipse">
            <a:avLst/>
          </a:prstGeom>
          <a:solidFill>
            <a:srgbClr val="2E77C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9" name="p-4-22"/>
          <p:cNvSpPr/>
          <p:nvPr/>
        </p:nvSpPr>
        <p:spPr>
          <a:xfrm>
            <a:off x="7210983" y="4468818"/>
            <a:ext cx="88900" cy="88900"/>
          </a:xfrm>
          <a:prstGeom prst="ellipse">
            <a:avLst/>
          </a:prstGeom>
          <a:solidFill>
            <a:srgbClr val="2E77C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0" name="p-4-23"/>
          <p:cNvSpPr/>
          <p:nvPr/>
        </p:nvSpPr>
        <p:spPr>
          <a:xfrm>
            <a:off x="7747028" y="4342693"/>
            <a:ext cx="88900" cy="88900"/>
          </a:xfrm>
          <a:prstGeom prst="ellipse">
            <a:avLst/>
          </a:prstGeom>
          <a:solidFill>
            <a:srgbClr val="2E77C2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71" name="mu-4"/>
          <p:cNvCxnSpPr/>
          <p:nvPr/>
        </p:nvCxnSpPr>
        <p:spPr>
          <a:xfrm>
            <a:off x="5615940" y="4216400"/>
            <a:ext cx="0" cy="457200"/>
          </a:xfrm>
          <a:prstGeom prst="line">
            <a:avLst/>
          </a:prstGeom>
          <a:ln w="19050" cap="rnd">
            <a:solidFill>
              <a:srgbClr val="0B2545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2" name="mub-4"/>
          <p:cNvSpPr/>
          <p:nvPr/>
        </p:nvSpPr>
        <p:spPr>
          <a:xfrm>
            <a:off x="5400040" y="4025900"/>
            <a:ext cx="431800" cy="165100"/>
          </a:xfrm>
          <a:custGeom>
            <a:avLst/>
            <a:gdLst/>
            <a:ahLst/>
            <a:cxnLst/>
            <a:rect l="0" t="0" r="r" b="b"/>
            <a:pathLst>
              <a:path w="431800" h="165100">
                <a:moveTo>
                  <a:pt x="82550" y="0"/>
                </a:moveTo>
                <a:lnTo>
                  <a:pt x="349250" y="0"/>
                </a:lnTo>
                <a:cubicBezTo>
                  <a:pt x="394843" y="0"/>
                  <a:pt x="431800" y="36957"/>
                  <a:pt x="431800" y="82550"/>
                </a:cubicBezTo>
                <a:lnTo>
                  <a:pt x="431800" y="82550"/>
                </a:lnTo>
                <a:cubicBezTo>
                  <a:pt x="431800" y="128143"/>
                  <a:pt x="394843" y="165100"/>
                  <a:pt x="349250" y="165100"/>
                </a:cubicBezTo>
                <a:lnTo>
                  <a:pt x="82550" y="165100"/>
                </a:lnTo>
                <a:cubicBezTo>
                  <a:pt x="36957" y="165100"/>
                  <a:pt x="0" y="128143"/>
                  <a:pt x="0" y="825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3" name="mut-4"/>
          <p:cNvSpPr txBox="1"/>
          <p:nvPr/>
        </p:nvSpPr>
        <p:spPr>
          <a:xfrm>
            <a:off x="5476367" y="4036758"/>
            <a:ext cx="2791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4.12</a:t>
            </a:r>
          </a:p>
        </p:txBody>
      </p:sp>
      <p:sp>
        <p:nvSpPr>
          <p:cNvPr id="174" name="n-5"/>
          <p:cNvSpPr txBox="1"/>
          <p:nvPr/>
        </p:nvSpPr>
        <p:spPr>
          <a:xfrm>
            <a:off x="1415034" y="5021770"/>
            <a:ext cx="4432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西南</a:t>
            </a:r>
          </a:p>
        </p:txBody>
      </p:sp>
      <p:sp>
        <p:nvSpPr>
          <p:cNvPr id="175" name="nn-5"/>
          <p:cNvSpPr txBox="1"/>
          <p:nvPr/>
        </p:nvSpPr>
        <p:spPr>
          <a:xfrm>
            <a:off x="1356106" y="5249608"/>
            <a:ext cx="4960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20 家门店</a:t>
            </a:r>
          </a:p>
        </p:txBody>
      </p:sp>
      <p:sp>
        <p:nvSpPr>
          <p:cNvPr id="176" name="p-5-0"/>
          <p:cNvSpPr/>
          <p:nvPr/>
        </p:nvSpPr>
        <p:spPr>
          <a:xfrm>
            <a:off x="2482302" y="5155946"/>
            <a:ext cx="88900" cy="88900"/>
          </a:xfrm>
          <a:prstGeom prst="ellipse">
            <a:avLst/>
          </a:pr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7" name="p-5-1"/>
          <p:cNvSpPr/>
          <p:nvPr/>
        </p:nvSpPr>
        <p:spPr>
          <a:xfrm>
            <a:off x="3168060" y="5029821"/>
            <a:ext cx="88900" cy="88900"/>
          </a:xfrm>
          <a:prstGeom prst="ellipse">
            <a:avLst/>
          </a:pr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8" name="p-5-2"/>
          <p:cNvSpPr/>
          <p:nvPr/>
        </p:nvSpPr>
        <p:spPr>
          <a:xfrm>
            <a:off x="3549673" y="5233896"/>
            <a:ext cx="88900" cy="88900"/>
          </a:xfrm>
          <a:prstGeom prst="ellipse">
            <a:avLst/>
          </a:pr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9" name="p-5-3"/>
          <p:cNvSpPr/>
          <p:nvPr/>
        </p:nvSpPr>
        <p:spPr>
          <a:xfrm>
            <a:off x="3834547" y="5107770"/>
            <a:ext cx="88900" cy="88900"/>
          </a:xfrm>
          <a:prstGeom prst="ellipse">
            <a:avLst/>
          </a:pr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0" name="p-5-4"/>
          <p:cNvSpPr/>
          <p:nvPr/>
        </p:nvSpPr>
        <p:spPr>
          <a:xfrm>
            <a:off x="4071154" y="5311845"/>
            <a:ext cx="88900" cy="88900"/>
          </a:xfrm>
          <a:prstGeom prst="ellipse">
            <a:avLst/>
          </a:pr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1" name="p-5-5"/>
          <p:cNvSpPr/>
          <p:nvPr/>
        </p:nvSpPr>
        <p:spPr>
          <a:xfrm>
            <a:off x="4279345" y="5185720"/>
            <a:ext cx="88900" cy="88900"/>
          </a:xfrm>
          <a:prstGeom prst="ellipse">
            <a:avLst/>
          </a:pr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2" name="p-5-6"/>
          <p:cNvSpPr/>
          <p:nvPr/>
        </p:nvSpPr>
        <p:spPr>
          <a:xfrm>
            <a:off x="4469489" y="5059595"/>
            <a:ext cx="88900" cy="88900"/>
          </a:xfrm>
          <a:prstGeom prst="ellipse">
            <a:avLst/>
          </a:pr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3" name="p-5-7"/>
          <p:cNvSpPr/>
          <p:nvPr/>
        </p:nvSpPr>
        <p:spPr>
          <a:xfrm>
            <a:off x="4647898" y="5263670"/>
            <a:ext cx="88900" cy="88900"/>
          </a:xfrm>
          <a:prstGeom prst="ellipse">
            <a:avLst/>
          </a:pr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4" name="p-5-8"/>
          <p:cNvSpPr/>
          <p:nvPr/>
        </p:nvSpPr>
        <p:spPr>
          <a:xfrm>
            <a:off x="4818899" y="5137545"/>
            <a:ext cx="88900" cy="88900"/>
          </a:xfrm>
          <a:prstGeom prst="ellipse">
            <a:avLst/>
          </a:pr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5" name="p-5-9"/>
          <p:cNvSpPr/>
          <p:nvPr/>
        </p:nvSpPr>
        <p:spPr>
          <a:xfrm>
            <a:off x="4985787" y="5011419"/>
            <a:ext cx="88900" cy="88900"/>
          </a:xfrm>
          <a:prstGeom prst="ellipse">
            <a:avLst/>
          </a:pr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6" name="p-5-10"/>
          <p:cNvSpPr/>
          <p:nvPr/>
        </p:nvSpPr>
        <p:spPr>
          <a:xfrm>
            <a:off x="5151353" y="5215494"/>
            <a:ext cx="88900" cy="88900"/>
          </a:xfrm>
          <a:prstGeom prst="ellipse">
            <a:avLst/>
          </a:pr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7" name="p-5-11"/>
          <p:cNvSpPr/>
          <p:nvPr/>
        </p:nvSpPr>
        <p:spPr>
          <a:xfrm>
            <a:off x="5318241" y="5089369"/>
            <a:ext cx="88900" cy="88900"/>
          </a:xfrm>
          <a:prstGeom prst="ellipse">
            <a:avLst/>
          </a:prstGeom>
          <a:solidFill>
            <a:srgbClr val="3985CD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8" name="p-5-12"/>
          <p:cNvSpPr/>
          <p:nvPr/>
        </p:nvSpPr>
        <p:spPr>
          <a:xfrm>
            <a:off x="5489242" y="5293444"/>
            <a:ext cx="88900" cy="88900"/>
          </a:xfrm>
          <a:prstGeom prst="ellipse">
            <a:avLst/>
          </a:prstGeom>
          <a:solidFill>
            <a:srgbClr val="3985CD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9" name="p-5-13"/>
          <p:cNvSpPr/>
          <p:nvPr/>
        </p:nvSpPr>
        <p:spPr>
          <a:xfrm>
            <a:off x="5667651" y="5167319"/>
            <a:ext cx="88900" cy="88900"/>
          </a:xfrm>
          <a:prstGeom prst="ellipse">
            <a:avLst/>
          </a:prstGeom>
          <a:solidFill>
            <a:srgbClr val="3985CD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0" name="p-5-14"/>
          <p:cNvSpPr/>
          <p:nvPr/>
        </p:nvSpPr>
        <p:spPr>
          <a:xfrm>
            <a:off x="5857795" y="5041194"/>
            <a:ext cx="88900" cy="88900"/>
          </a:xfrm>
          <a:prstGeom prst="ellipse">
            <a:avLst/>
          </a:prstGeom>
          <a:solidFill>
            <a:srgbClr val="3985CD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1" name="p-5-15"/>
          <p:cNvSpPr/>
          <p:nvPr/>
        </p:nvSpPr>
        <p:spPr>
          <a:xfrm>
            <a:off x="6065986" y="5245268"/>
            <a:ext cx="88900" cy="88900"/>
          </a:xfrm>
          <a:prstGeom prst="ellipse">
            <a:avLst/>
          </a:prstGeom>
          <a:solidFill>
            <a:srgbClr val="3985CD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2" name="p-5-16"/>
          <p:cNvSpPr/>
          <p:nvPr/>
        </p:nvSpPr>
        <p:spPr>
          <a:xfrm>
            <a:off x="6302593" y="5119143"/>
            <a:ext cx="88900" cy="88900"/>
          </a:xfrm>
          <a:prstGeom prst="ellipse">
            <a:avLst/>
          </a:prstGeom>
          <a:solidFill>
            <a:srgbClr val="3985CD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3" name="p-5-17"/>
          <p:cNvSpPr/>
          <p:nvPr/>
        </p:nvSpPr>
        <p:spPr>
          <a:xfrm>
            <a:off x="6587467" y="5323218"/>
            <a:ext cx="88900" cy="88900"/>
          </a:xfrm>
          <a:prstGeom prst="ellipse">
            <a:avLst/>
          </a:prstGeom>
          <a:solidFill>
            <a:srgbClr val="3985CD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4" name="p-5-18"/>
          <p:cNvSpPr/>
          <p:nvPr/>
        </p:nvSpPr>
        <p:spPr>
          <a:xfrm>
            <a:off x="6969080" y="5197093"/>
            <a:ext cx="88900" cy="88900"/>
          </a:xfrm>
          <a:prstGeom prst="ellipse">
            <a:avLst/>
          </a:prstGeom>
          <a:solidFill>
            <a:srgbClr val="3985CD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5" name="p-5-19"/>
          <p:cNvSpPr/>
          <p:nvPr/>
        </p:nvSpPr>
        <p:spPr>
          <a:xfrm>
            <a:off x="7654838" y="5070968"/>
            <a:ext cx="88900" cy="88900"/>
          </a:xfrm>
          <a:prstGeom prst="ellipse">
            <a:avLst/>
          </a:prstGeom>
          <a:solidFill>
            <a:srgbClr val="3985CD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196" name="mu-5"/>
          <p:cNvCxnSpPr/>
          <p:nvPr/>
        </p:nvCxnSpPr>
        <p:spPr>
          <a:xfrm>
            <a:off x="5113020" y="4978400"/>
            <a:ext cx="0" cy="457200"/>
          </a:xfrm>
          <a:prstGeom prst="line">
            <a:avLst/>
          </a:prstGeom>
          <a:ln w="19050" cap="rnd">
            <a:solidFill>
              <a:srgbClr val="0B2545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7" name="mub-5"/>
          <p:cNvSpPr/>
          <p:nvPr/>
        </p:nvSpPr>
        <p:spPr>
          <a:xfrm>
            <a:off x="4897120" y="4787900"/>
            <a:ext cx="431800" cy="165100"/>
          </a:xfrm>
          <a:custGeom>
            <a:avLst/>
            <a:gdLst/>
            <a:ahLst/>
            <a:cxnLst/>
            <a:rect l="0" t="0" r="r" b="b"/>
            <a:pathLst>
              <a:path w="431800" h="165100">
                <a:moveTo>
                  <a:pt x="82550" y="0"/>
                </a:moveTo>
                <a:lnTo>
                  <a:pt x="349250" y="0"/>
                </a:lnTo>
                <a:cubicBezTo>
                  <a:pt x="394843" y="0"/>
                  <a:pt x="431800" y="36957"/>
                  <a:pt x="431800" y="82550"/>
                </a:cubicBezTo>
                <a:lnTo>
                  <a:pt x="431800" y="82550"/>
                </a:lnTo>
                <a:cubicBezTo>
                  <a:pt x="431800" y="128143"/>
                  <a:pt x="394843" y="165100"/>
                  <a:pt x="349250" y="165100"/>
                </a:cubicBezTo>
                <a:lnTo>
                  <a:pt x="82550" y="165100"/>
                </a:lnTo>
                <a:cubicBezTo>
                  <a:pt x="36957" y="165100"/>
                  <a:pt x="0" y="128143"/>
                  <a:pt x="0" y="825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8" name="mut-5"/>
          <p:cNvSpPr txBox="1"/>
          <p:nvPr/>
        </p:nvSpPr>
        <p:spPr>
          <a:xfrm>
            <a:off x="4973447" y="4798758"/>
            <a:ext cx="2791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3.96</a:t>
            </a:r>
          </a:p>
        </p:txBody>
      </p:sp>
      <p:sp>
        <p:nvSpPr>
          <p:cNvPr id="199" name="side-bar"/>
          <p:cNvSpPr/>
          <p:nvPr/>
        </p:nvSpPr>
        <p:spPr>
          <a:xfrm>
            <a:off x="9017000" y="15875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0" name="side-h"/>
          <p:cNvSpPr txBox="1"/>
          <p:nvPr/>
        </p:nvSpPr>
        <p:spPr>
          <a:xfrm>
            <a:off x="9175750" y="1594644"/>
            <a:ext cx="6572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怎么看</a:t>
            </a:r>
          </a:p>
        </p:txBody>
      </p:sp>
      <p:sp>
        <p:nvSpPr>
          <p:cNvPr id="201" name="side-p"/>
          <p:cNvSpPr txBox="1"/>
          <p:nvPr/>
        </p:nvSpPr>
        <p:spPr>
          <a:xfrm>
            <a:off x="9181465" y="18693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黑线是大区平均分</a:t>
            </a:r>
          </a:p>
        </p:txBody>
      </p:sp>
      <p:sp>
        <p:nvSpPr>
          <p:cNvPr id="202" name="k-1"/>
          <p:cNvSpPr/>
          <p:nvPr/>
        </p:nvSpPr>
        <p:spPr>
          <a:xfrm>
            <a:off x="9017000" y="2260600"/>
            <a:ext cx="2222500" cy="952500"/>
          </a:xfrm>
          <a:custGeom>
            <a:avLst/>
            <a:gdLst/>
            <a:ahLst/>
            <a:cxnLst/>
            <a:rect l="0" t="0" r="r" b="b"/>
            <a:pathLst>
              <a:path w="2222500" h="952500">
                <a:moveTo>
                  <a:pt x="127000" y="0"/>
                </a:moveTo>
                <a:lnTo>
                  <a:pt x="2095500" y="0"/>
                </a:lnTo>
                <a:cubicBezTo>
                  <a:pt x="2165667" y="0"/>
                  <a:pt x="2222500" y="56832"/>
                  <a:pt x="2222500" y="127000"/>
                </a:cubicBezTo>
                <a:lnTo>
                  <a:pt x="2222500" y="825500"/>
                </a:lnTo>
                <a:cubicBezTo>
                  <a:pt x="2222500" y="895668"/>
                  <a:pt x="2165667" y="952500"/>
                  <a:pt x="2095500" y="952500"/>
                </a:cubicBezTo>
                <a:lnTo>
                  <a:pt x="127000" y="952500"/>
                </a:lnTo>
                <a:cubicBezTo>
                  <a:pt x="56833" y="952500"/>
                  <a:pt x="0" y="895668"/>
                  <a:pt x="0" y="8255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3" name="kh-1"/>
          <p:cNvSpPr txBox="1"/>
          <p:nvPr/>
        </p:nvSpPr>
        <p:spPr>
          <a:xfrm>
            <a:off x="9182608" y="2401824"/>
            <a:ext cx="9474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5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低于 4.0 的门店</a:t>
            </a:r>
          </a:p>
        </p:txBody>
      </p:sp>
      <p:sp>
        <p:nvSpPr>
          <p:cNvPr id="204" name="kv-1"/>
          <p:cNvSpPr txBox="1"/>
          <p:nvPr/>
        </p:nvSpPr>
        <p:spPr>
          <a:xfrm>
            <a:off x="9164320" y="2556510"/>
            <a:ext cx="93472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24 家</a:t>
            </a:r>
          </a:p>
        </p:txBody>
      </p:sp>
      <p:sp>
        <p:nvSpPr>
          <p:cNvPr id="205" name="kd-1"/>
          <p:cNvSpPr txBox="1"/>
          <p:nvPr/>
        </p:nvSpPr>
        <p:spPr>
          <a:xfrm>
            <a:off x="9183751" y="2972387"/>
            <a:ext cx="102266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橙色点，下月逐店复盘</a:t>
            </a:r>
          </a:p>
        </p:txBody>
      </p:sp>
      <p:sp>
        <p:nvSpPr>
          <p:cNvPr id="206" name="k-2"/>
          <p:cNvSpPr/>
          <p:nvPr/>
        </p:nvSpPr>
        <p:spPr>
          <a:xfrm>
            <a:off x="9017000" y="3340100"/>
            <a:ext cx="2222500" cy="952500"/>
          </a:xfrm>
          <a:custGeom>
            <a:avLst/>
            <a:gdLst/>
            <a:ahLst/>
            <a:cxnLst/>
            <a:rect l="0" t="0" r="r" b="b"/>
            <a:pathLst>
              <a:path w="2222500" h="952500">
                <a:moveTo>
                  <a:pt x="127000" y="0"/>
                </a:moveTo>
                <a:lnTo>
                  <a:pt x="2095500" y="0"/>
                </a:lnTo>
                <a:cubicBezTo>
                  <a:pt x="2165667" y="0"/>
                  <a:pt x="2222500" y="56833"/>
                  <a:pt x="2222500" y="127000"/>
                </a:cubicBezTo>
                <a:lnTo>
                  <a:pt x="2222500" y="825500"/>
                </a:lnTo>
                <a:cubicBezTo>
                  <a:pt x="2222500" y="895667"/>
                  <a:pt x="2165667" y="952500"/>
                  <a:pt x="2095500" y="952500"/>
                </a:cubicBezTo>
                <a:lnTo>
                  <a:pt x="127000" y="952500"/>
                </a:lnTo>
                <a:cubicBezTo>
                  <a:pt x="56833" y="952500"/>
                  <a:pt x="0" y="895667"/>
                  <a:pt x="0" y="8255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7" name="kh-2"/>
          <p:cNvSpPr txBox="1"/>
          <p:nvPr/>
        </p:nvSpPr>
        <p:spPr>
          <a:xfrm>
            <a:off x="9182608" y="3481324"/>
            <a:ext cx="41529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最稳定</a:t>
            </a:r>
          </a:p>
        </p:txBody>
      </p:sp>
      <p:sp>
        <p:nvSpPr>
          <p:cNvPr id="208" name="kv-2"/>
          <p:cNvSpPr txBox="1"/>
          <p:nvPr/>
        </p:nvSpPr>
        <p:spPr>
          <a:xfrm>
            <a:off x="9164320" y="3636010"/>
            <a:ext cx="74930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 spc="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华东</a:t>
            </a:r>
          </a:p>
        </p:txBody>
      </p:sp>
      <p:sp>
        <p:nvSpPr>
          <p:cNvPr id="209" name="kd-2"/>
          <p:cNvSpPr txBox="1"/>
          <p:nvPr/>
        </p:nvSpPr>
        <p:spPr>
          <a:xfrm>
            <a:off x="9183751" y="4051887"/>
            <a:ext cx="83470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门店之间差距最小</a:t>
            </a:r>
          </a:p>
        </p:txBody>
      </p:sp>
      <p:sp>
        <p:nvSpPr>
          <p:cNvPr id="210" name="k-3"/>
          <p:cNvSpPr/>
          <p:nvPr/>
        </p:nvSpPr>
        <p:spPr>
          <a:xfrm>
            <a:off x="9017000" y="4419600"/>
            <a:ext cx="2222500" cy="952500"/>
          </a:xfrm>
          <a:custGeom>
            <a:avLst/>
            <a:gdLst/>
            <a:ahLst/>
            <a:cxnLst/>
            <a:rect l="0" t="0" r="r" b="b"/>
            <a:pathLst>
              <a:path w="2222500" h="952500">
                <a:moveTo>
                  <a:pt x="127000" y="0"/>
                </a:moveTo>
                <a:lnTo>
                  <a:pt x="2095500" y="0"/>
                </a:lnTo>
                <a:cubicBezTo>
                  <a:pt x="2165667" y="0"/>
                  <a:pt x="2222500" y="56833"/>
                  <a:pt x="2222500" y="127000"/>
                </a:cubicBezTo>
                <a:lnTo>
                  <a:pt x="2222500" y="825500"/>
                </a:lnTo>
                <a:cubicBezTo>
                  <a:pt x="2222500" y="895667"/>
                  <a:pt x="2165667" y="952500"/>
                  <a:pt x="2095500" y="952500"/>
                </a:cubicBezTo>
                <a:lnTo>
                  <a:pt x="127000" y="952500"/>
                </a:lnTo>
                <a:cubicBezTo>
                  <a:pt x="56833" y="952500"/>
                  <a:pt x="0" y="895667"/>
                  <a:pt x="0" y="8255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1" name="kh-3"/>
          <p:cNvSpPr txBox="1"/>
          <p:nvPr/>
        </p:nvSpPr>
        <p:spPr>
          <a:xfrm>
            <a:off x="9182608" y="4560824"/>
            <a:ext cx="41529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最分散</a:t>
            </a:r>
          </a:p>
        </p:txBody>
      </p:sp>
      <p:sp>
        <p:nvSpPr>
          <p:cNvPr id="212" name="kv-3"/>
          <p:cNvSpPr txBox="1"/>
          <p:nvPr/>
        </p:nvSpPr>
        <p:spPr>
          <a:xfrm>
            <a:off x="9164320" y="4715510"/>
            <a:ext cx="74930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 spc="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西南</a:t>
            </a:r>
          </a:p>
        </p:txBody>
      </p:sp>
      <p:sp>
        <p:nvSpPr>
          <p:cNvPr id="213" name="kd-3"/>
          <p:cNvSpPr txBox="1"/>
          <p:nvPr/>
        </p:nvSpPr>
        <p:spPr>
          <a:xfrm>
            <a:off x="9183751" y="5131387"/>
            <a:ext cx="1196023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同一大区高低相差 1.6 分</a:t>
            </a:r>
          </a:p>
        </p:txBody>
      </p:sp>
      <p:cxnSp>
        <p:nvCxnSpPr>
          <p:cNvPr id="214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5" name="foot-l"/>
          <p:cNvSpPr txBox="1"/>
          <p:nvPr/>
        </p:nvSpPr>
        <p:spPr>
          <a:xfrm>
            <a:off x="573532" y="6532308"/>
            <a:ext cx="118414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点阵分布 · 152 家门店</a:t>
            </a:r>
          </a:p>
        </p:txBody>
      </p:sp>
      <p:sp>
        <p:nvSpPr>
          <p:cNvPr id="216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807716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第 14 冲刺燃尽图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35483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BURNDOWN CHART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254873" y="673132"/>
            <a:ext cx="336588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第 7 天剩 68 点，比理想线多 32 点——按现在的速度收不了尾</a:t>
            </a:r>
          </a:p>
        </p:txBody>
      </p:sp>
      <p:cxnSp>
        <p:nvCxnSpPr>
          <p:cNvPr id="10" name="gy-0"/>
          <p:cNvCxnSpPr/>
          <p:nvPr/>
        </p:nvCxnSpPr>
        <p:spPr>
          <a:xfrm>
            <a:off x="1587500" y="5207000"/>
            <a:ext cx="6350000" cy="0"/>
          </a:xfrm>
          <a:prstGeom prst="line">
            <a:avLst/>
          </a:prstGeom>
          <a:ln w="635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gyt-0"/>
          <p:cNvSpPr txBox="1"/>
          <p:nvPr/>
        </p:nvSpPr>
        <p:spPr>
          <a:xfrm>
            <a:off x="1337056" y="51196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0</a:t>
            </a:r>
          </a:p>
        </p:txBody>
      </p:sp>
      <p:cxnSp>
        <p:nvCxnSpPr>
          <p:cNvPr id="12" name="gy-30"/>
          <p:cNvCxnSpPr/>
          <p:nvPr/>
        </p:nvCxnSpPr>
        <p:spPr>
          <a:xfrm>
            <a:off x="1587500" y="4401038"/>
            <a:ext cx="6350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gyt-30"/>
          <p:cNvSpPr txBox="1"/>
          <p:nvPr/>
        </p:nvSpPr>
        <p:spPr>
          <a:xfrm>
            <a:off x="1280160" y="4313662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30</a:t>
            </a:r>
          </a:p>
        </p:txBody>
      </p:sp>
      <p:cxnSp>
        <p:nvCxnSpPr>
          <p:cNvPr id="14" name="gy-60"/>
          <p:cNvCxnSpPr/>
          <p:nvPr/>
        </p:nvCxnSpPr>
        <p:spPr>
          <a:xfrm>
            <a:off x="1587500" y="3595077"/>
            <a:ext cx="6350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gyt-60"/>
          <p:cNvSpPr txBox="1"/>
          <p:nvPr/>
        </p:nvSpPr>
        <p:spPr>
          <a:xfrm>
            <a:off x="1280160" y="3507701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60</a:t>
            </a:r>
          </a:p>
        </p:txBody>
      </p:sp>
      <p:cxnSp>
        <p:nvCxnSpPr>
          <p:cNvPr id="16" name="gy-90"/>
          <p:cNvCxnSpPr/>
          <p:nvPr/>
        </p:nvCxnSpPr>
        <p:spPr>
          <a:xfrm>
            <a:off x="1587500" y="2789115"/>
            <a:ext cx="6350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gyt-90"/>
          <p:cNvSpPr txBox="1"/>
          <p:nvPr/>
        </p:nvSpPr>
        <p:spPr>
          <a:xfrm>
            <a:off x="1280160" y="2701739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90</a:t>
            </a:r>
          </a:p>
        </p:txBody>
      </p:sp>
      <p:cxnSp>
        <p:nvCxnSpPr>
          <p:cNvPr id="18" name="gy-120"/>
          <p:cNvCxnSpPr/>
          <p:nvPr/>
        </p:nvCxnSpPr>
        <p:spPr>
          <a:xfrm>
            <a:off x="1587500" y="1983154"/>
            <a:ext cx="6350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gyt-120"/>
          <p:cNvSpPr txBox="1"/>
          <p:nvPr/>
        </p:nvSpPr>
        <p:spPr>
          <a:xfrm>
            <a:off x="1223264" y="1895778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120</a:t>
            </a:r>
          </a:p>
        </p:txBody>
      </p:sp>
      <p:sp>
        <p:nvSpPr>
          <p:cNvPr id="20" name="yl"/>
          <p:cNvSpPr txBox="1"/>
          <p:nvPr/>
        </p:nvSpPr>
        <p:spPr>
          <a:xfrm>
            <a:off x="1048258" y="1490408"/>
            <a:ext cx="4356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剩余点数</a:t>
            </a:r>
          </a:p>
        </p:txBody>
      </p:sp>
      <p:sp>
        <p:nvSpPr>
          <p:cNvPr id="21" name="gx-0"/>
          <p:cNvSpPr txBox="1"/>
          <p:nvPr/>
        </p:nvSpPr>
        <p:spPr>
          <a:xfrm>
            <a:off x="1484884" y="52974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D0</a:t>
            </a:r>
          </a:p>
        </p:txBody>
      </p:sp>
      <p:sp>
        <p:nvSpPr>
          <p:cNvPr id="22" name="gx-1"/>
          <p:cNvSpPr txBox="1"/>
          <p:nvPr/>
        </p:nvSpPr>
        <p:spPr>
          <a:xfrm>
            <a:off x="2119884" y="52974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D1</a:t>
            </a:r>
          </a:p>
        </p:txBody>
      </p:sp>
      <p:sp>
        <p:nvSpPr>
          <p:cNvPr id="23" name="gx-2"/>
          <p:cNvSpPr txBox="1"/>
          <p:nvPr/>
        </p:nvSpPr>
        <p:spPr>
          <a:xfrm>
            <a:off x="2754884" y="52974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D2</a:t>
            </a:r>
          </a:p>
        </p:txBody>
      </p:sp>
      <p:sp>
        <p:nvSpPr>
          <p:cNvPr id="24" name="gx-3"/>
          <p:cNvSpPr txBox="1"/>
          <p:nvPr/>
        </p:nvSpPr>
        <p:spPr>
          <a:xfrm>
            <a:off x="3389884" y="52974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D3</a:t>
            </a:r>
          </a:p>
        </p:txBody>
      </p:sp>
      <p:sp>
        <p:nvSpPr>
          <p:cNvPr id="25" name="gx-4"/>
          <p:cNvSpPr txBox="1"/>
          <p:nvPr/>
        </p:nvSpPr>
        <p:spPr>
          <a:xfrm>
            <a:off x="4024884" y="52974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D4</a:t>
            </a:r>
          </a:p>
        </p:txBody>
      </p:sp>
      <p:sp>
        <p:nvSpPr>
          <p:cNvPr id="26" name="gx-5"/>
          <p:cNvSpPr txBox="1"/>
          <p:nvPr/>
        </p:nvSpPr>
        <p:spPr>
          <a:xfrm>
            <a:off x="4659884" y="52974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D5</a:t>
            </a:r>
          </a:p>
        </p:txBody>
      </p:sp>
      <p:sp>
        <p:nvSpPr>
          <p:cNvPr id="27" name="gx-6"/>
          <p:cNvSpPr txBox="1"/>
          <p:nvPr/>
        </p:nvSpPr>
        <p:spPr>
          <a:xfrm>
            <a:off x="5294884" y="52974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D6</a:t>
            </a:r>
          </a:p>
        </p:txBody>
      </p:sp>
      <p:sp>
        <p:nvSpPr>
          <p:cNvPr id="28" name="gx-7"/>
          <p:cNvSpPr txBox="1"/>
          <p:nvPr/>
        </p:nvSpPr>
        <p:spPr>
          <a:xfrm>
            <a:off x="5929884" y="52974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D7</a:t>
            </a:r>
          </a:p>
        </p:txBody>
      </p:sp>
      <p:sp>
        <p:nvSpPr>
          <p:cNvPr id="29" name="gx-8"/>
          <p:cNvSpPr txBox="1"/>
          <p:nvPr/>
        </p:nvSpPr>
        <p:spPr>
          <a:xfrm>
            <a:off x="6564884" y="52974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D8</a:t>
            </a:r>
          </a:p>
        </p:txBody>
      </p:sp>
      <p:sp>
        <p:nvSpPr>
          <p:cNvPr id="30" name="gx-9"/>
          <p:cNvSpPr txBox="1"/>
          <p:nvPr/>
        </p:nvSpPr>
        <p:spPr>
          <a:xfrm>
            <a:off x="7199884" y="52974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D9</a:t>
            </a:r>
          </a:p>
        </p:txBody>
      </p:sp>
      <p:sp>
        <p:nvSpPr>
          <p:cNvPr id="31" name="gx-10"/>
          <p:cNvSpPr txBox="1"/>
          <p:nvPr/>
        </p:nvSpPr>
        <p:spPr>
          <a:xfrm>
            <a:off x="7806436" y="52974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D10</a:t>
            </a:r>
          </a:p>
        </p:txBody>
      </p:sp>
      <p:sp>
        <p:nvSpPr>
          <p:cNvPr id="32" name="future"/>
          <p:cNvSpPr/>
          <p:nvPr/>
        </p:nvSpPr>
        <p:spPr>
          <a:xfrm>
            <a:off x="6032500" y="1651000"/>
            <a:ext cx="1905000" cy="3556000"/>
          </a:xfrm>
          <a:prstGeom prst="rect">
            <a:avLst/>
          </a:prstGeom>
          <a:solidFill>
            <a:srgbClr val="DCE7F5">
              <a:alpha val="3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future-t"/>
          <p:cNvSpPr txBox="1"/>
          <p:nvPr/>
        </p:nvSpPr>
        <p:spPr>
          <a:xfrm>
            <a:off x="6719253" y="1698466"/>
            <a:ext cx="5314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剩余 3 天</a:t>
            </a:r>
          </a:p>
        </p:txBody>
      </p:sp>
      <p:cxnSp>
        <p:nvCxnSpPr>
          <p:cNvPr id="34" name="ideal"/>
          <p:cNvCxnSpPr/>
          <p:nvPr/>
        </p:nvCxnSpPr>
        <p:spPr>
          <a:xfrm>
            <a:off x="1587500" y="1983154"/>
            <a:ext cx="6350000" cy="3223846"/>
          </a:xfrm>
          <a:prstGeom prst="line">
            <a:avLst/>
          </a:prstGeom>
          <a:ln w="19050" cap="rnd">
            <a:solidFill>
              <a:srgbClr val="8FA6C2"/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ideal-t"/>
          <p:cNvSpPr txBox="1"/>
          <p:nvPr/>
        </p:nvSpPr>
        <p:spPr>
          <a:xfrm>
            <a:off x="7065962" y="5020982"/>
            <a:ext cx="3714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理想线</a:t>
            </a:r>
          </a:p>
        </p:txBody>
      </p:sp>
      <p:sp>
        <p:nvSpPr>
          <p:cNvPr id="36" name="area"/>
          <p:cNvSpPr/>
          <p:nvPr/>
        </p:nvSpPr>
        <p:spPr>
          <a:xfrm>
            <a:off x="1587500" y="1983105"/>
            <a:ext cx="4445000" cy="3223895"/>
          </a:xfrm>
          <a:custGeom>
            <a:avLst/>
            <a:gdLst/>
            <a:ahLst/>
            <a:cxnLst/>
            <a:rect l="0" t="0" r="r" b="b"/>
            <a:pathLst>
              <a:path w="4445000" h="3223895">
                <a:moveTo>
                  <a:pt x="0" y="0"/>
                </a:moveTo>
                <a:lnTo>
                  <a:pt x="635000" y="107315"/>
                </a:lnTo>
                <a:lnTo>
                  <a:pt x="1270000" y="322580"/>
                </a:lnTo>
                <a:lnTo>
                  <a:pt x="1905000" y="510540"/>
                </a:lnTo>
                <a:lnTo>
                  <a:pt x="2540000" y="295275"/>
                </a:lnTo>
                <a:lnTo>
                  <a:pt x="3175000" y="591185"/>
                </a:lnTo>
                <a:lnTo>
                  <a:pt x="3810000" y="993775"/>
                </a:lnTo>
                <a:lnTo>
                  <a:pt x="4445000" y="1397000"/>
                </a:lnTo>
                <a:lnTo>
                  <a:pt x="4445000" y="3223895"/>
                </a:lnTo>
                <a:lnTo>
                  <a:pt x="0" y="3223895"/>
                </a:lnTo>
                <a:close/>
              </a:path>
            </a:pathLst>
          </a:custGeom>
          <a:gradFill rotWithShape="1">
            <a:gsLst>
              <a:gs pos="0">
                <a:srgbClr val="2468B6">
                  <a:alpha val="28000"/>
                </a:srgbClr>
              </a:gs>
              <a:gs pos="100000">
                <a:srgbClr val="2468B6">
                  <a:alpha val="200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actual"/>
          <p:cNvSpPr/>
          <p:nvPr/>
        </p:nvSpPr>
        <p:spPr>
          <a:xfrm>
            <a:off x="1587500" y="1983105"/>
            <a:ext cx="4445000" cy="1397000"/>
          </a:xfrm>
          <a:custGeom>
            <a:avLst/>
            <a:gdLst/>
            <a:ahLst/>
            <a:cxnLst/>
            <a:rect l="0" t="0" r="r" b="b"/>
            <a:pathLst>
              <a:path w="4445000" h="1397000">
                <a:moveTo>
                  <a:pt x="0" y="0"/>
                </a:moveTo>
                <a:lnTo>
                  <a:pt x="635000" y="107315"/>
                </a:lnTo>
                <a:lnTo>
                  <a:pt x="1270000" y="322580"/>
                </a:lnTo>
                <a:lnTo>
                  <a:pt x="1905000" y="510540"/>
                </a:lnTo>
                <a:lnTo>
                  <a:pt x="2540000" y="295275"/>
                </a:lnTo>
                <a:lnTo>
                  <a:pt x="3175000" y="591185"/>
                </a:lnTo>
                <a:lnTo>
                  <a:pt x="3810000" y="993775"/>
                </a:lnTo>
                <a:lnTo>
                  <a:pt x="4445000" y="1397000"/>
                </a:lnTo>
              </a:path>
            </a:pathLst>
          </a:custGeom>
          <a:noFill/>
          <a:ln w="254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38" name="fc"/>
          <p:cNvCxnSpPr/>
          <p:nvPr/>
        </p:nvCxnSpPr>
        <p:spPr>
          <a:xfrm>
            <a:off x="6032500" y="3380154"/>
            <a:ext cx="1905000" cy="1101481"/>
          </a:xfrm>
          <a:prstGeom prst="line">
            <a:avLst/>
          </a:prstGeom>
          <a:ln w="19050" cap="rnd">
            <a:solidFill>
              <a:srgbClr val="E0703A"/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fc-end"/>
          <p:cNvSpPr/>
          <p:nvPr/>
        </p:nvSpPr>
        <p:spPr>
          <a:xfrm>
            <a:off x="7874000" y="4418135"/>
            <a:ext cx="127000" cy="1270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fc-b"/>
          <p:cNvSpPr/>
          <p:nvPr/>
        </p:nvSpPr>
        <p:spPr>
          <a:xfrm>
            <a:off x="6985000" y="4037140"/>
            <a:ext cx="952500" cy="279400"/>
          </a:xfrm>
          <a:custGeom>
            <a:avLst/>
            <a:gdLst/>
            <a:ahLst/>
            <a:cxnLst/>
            <a:rect l="0" t="0" r="r" b="b"/>
            <a:pathLst>
              <a:path w="952500" h="279400">
                <a:moveTo>
                  <a:pt x="139700" y="0"/>
                </a:moveTo>
                <a:lnTo>
                  <a:pt x="812800" y="0"/>
                </a:lnTo>
                <a:cubicBezTo>
                  <a:pt x="889953" y="0"/>
                  <a:pt x="952500" y="62548"/>
                  <a:pt x="952500" y="139700"/>
                </a:cubicBezTo>
                <a:lnTo>
                  <a:pt x="952500" y="139700"/>
                </a:lnTo>
                <a:cubicBezTo>
                  <a:pt x="952500" y="216852"/>
                  <a:pt x="889953" y="279400"/>
                  <a:pt x="812800" y="279400"/>
                </a:cubicBezTo>
                <a:lnTo>
                  <a:pt x="139700" y="279400"/>
                </a:lnTo>
                <a:cubicBezTo>
                  <a:pt x="62547" y="279400"/>
                  <a:pt x="0" y="216852"/>
                  <a:pt x="0" y="1397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fc-t"/>
          <p:cNvSpPr txBox="1"/>
          <p:nvPr/>
        </p:nvSpPr>
        <p:spPr>
          <a:xfrm>
            <a:off x="7098538" y="4095809"/>
            <a:ext cx="7254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预计剩 27 点</a:t>
            </a:r>
          </a:p>
        </p:txBody>
      </p:sp>
      <p:sp>
        <p:nvSpPr>
          <p:cNvPr id="42" name="pt-0"/>
          <p:cNvSpPr/>
          <p:nvPr/>
        </p:nvSpPr>
        <p:spPr>
          <a:xfrm>
            <a:off x="1536700" y="1932354"/>
            <a:ext cx="101600" cy="1016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pt-1"/>
          <p:cNvSpPr/>
          <p:nvPr/>
        </p:nvSpPr>
        <p:spPr>
          <a:xfrm>
            <a:off x="2171700" y="2039815"/>
            <a:ext cx="101600" cy="1016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pt-2"/>
          <p:cNvSpPr/>
          <p:nvPr/>
        </p:nvSpPr>
        <p:spPr>
          <a:xfrm>
            <a:off x="2806700" y="2254738"/>
            <a:ext cx="101600" cy="1016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pt-3"/>
          <p:cNvSpPr/>
          <p:nvPr/>
        </p:nvSpPr>
        <p:spPr>
          <a:xfrm>
            <a:off x="3441700" y="2442796"/>
            <a:ext cx="101600" cy="1016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pt-4"/>
          <p:cNvSpPr/>
          <p:nvPr/>
        </p:nvSpPr>
        <p:spPr>
          <a:xfrm>
            <a:off x="4076700" y="2227873"/>
            <a:ext cx="101600" cy="1016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pt-5"/>
          <p:cNvSpPr/>
          <p:nvPr/>
        </p:nvSpPr>
        <p:spPr>
          <a:xfrm>
            <a:off x="4711700" y="2523392"/>
            <a:ext cx="101600" cy="1016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pt-6"/>
          <p:cNvSpPr/>
          <p:nvPr/>
        </p:nvSpPr>
        <p:spPr>
          <a:xfrm>
            <a:off x="5346700" y="2926373"/>
            <a:ext cx="101600" cy="1016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pt-7"/>
          <p:cNvSpPr/>
          <p:nvPr/>
        </p:nvSpPr>
        <p:spPr>
          <a:xfrm>
            <a:off x="5962650" y="3310304"/>
            <a:ext cx="139700" cy="1397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50" name="gap"/>
          <p:cNvCxnSpPr/>
          <p:nvPr/>
        </p:nvCxnSpPr>
        <p:spPr>
          <a:xfrm>
            <a:off x="6032500" y="3456354"/>
            <a:ext cx="0" cy="758092"/>
          </a:xfrm>
          <a:prstGeom prst="line">
            <a:avLst/>
          </a:prstGeom>
          <a:ln w="15875" cap="rnd">
            <a:solidFill>
              <a:srgbClr val="E0703A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gap-i"/>
          <p:cNvSpPr/>
          <p:nvPr/>
        </p:nvSpPr>
        <p:spPr>
          <a:xfrm>
            <a:off x="5994400" y="4201746"/>
            <a:ext cx="76200" cy="76200"/>
          </a:xfrm>
          <a:prstGeom prst="ellipse">
            <a:avLst/>
          </a:prstGeom>
          <a:solidFill>
            <a:srgbClr val="8FA6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gap-t"/>
          <p:cNvSpPr txBox="1"/>
          <p:nvPr/>
        </p:nvSpPr>
        <p:spPr>
          <a:xfrm>
            <a:off x="5421122" y="3719640"/>
            <a:ext cx="52349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落后 32</a:t>
            </a:r>
          </a:p>
        </p:txBody>
      </p:sp>
      <p:sp>
        <p:nvSpPr>
          <p:cNvPr id="53" name="ins"/>
          <p:cNvSpPr/>
          <p:nvPr/>
        </p:nvSpPr>
        <p:spPr>
          <a:xfrm>
            <a:off x="3581400" y="1732598"/>
            <a:ext cx="1092200" cy="317500"/>
          </a:xfrm>
          <a:custGeom>
            <a:avLst/>
            <a:gdLst/>
            <a:ahLst/>
            <a:cxnLst/>
            <a:rect l="0" t="0" r="r" b="b"/>
            <a:pathLst>
              <a:path w="1092200" h="317500">
                <a:moveTo>
                  <a:pt x="88900" y="0"/>
                </a:moveTo>
                <a:lnTo>
                  <a:pt x="1003300" y="0"/>
                </a:lnTo>
                <a:cubicBezTo>
                  <a:pt x="1052386" y="0"/>
                  <a:pt x="1092200" y="39751"/>
                  <a:pt x="1092200" y="88900"/>
                </a:cubicBezTo>
                <a:lnTo>
                  <a:pt x="1092200" y="228600"/>
                </a:lnTo>
                <a:cubicBezTo>
                  <a:pt x="1092200" y="277685"/>
                  <a:pt x="1052386" y="317500"/>
                  <a:pt x="1003300" y="317500"/>
                </a:cubicBezTo>
                <a:lnTo>
                  <a:pt x="88900" y="317500"/>
                </a:lnTo>
                <a:cubicBezTo>
                  <a:pt x="39814" y="317500"/>
                  <a:pt x="0" y="277685"/>
                  <a:pt x="0" y="228600"/>
                </a:cubicBezTo>
                <a:lnTo>
                  <a:pt x="0" y="88900"/>
                </a:lnTo>
                <a:cubicBezTo>
                  <a:pt x="0" y="39751"/>
                  <a:pt x="39814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ins-t"/>
          <p:cNvSpPr txBox="1"/>
          <p:nvPr/>
        </p:nvSpPr>
        <p:spPr>
          <a:xfrm>
            <a:off x="3734117" y="1818139"/>
            <a:ext cx="7867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D4 插入需求 +8</a:t>
            </a:r>
          </a:p>
        </p:txBody>
      </p:sp>
      <p:cxnSp>
        <p:nvCxnSpPr>
          <p:cNvPr id="55" name="ins-l"/>
          <p:cNvCxnSpPr/>
          <p:nvPr/>
        </p:nvCxnSpPr>
        <p:spPr>
          <a:xfrm>
            <a:off x="4127500" y="2050073"/>
            <a:ext cx="0" cy="152400"/>
          </a:xfrm>
          <a:prstGeom prst="line">
            <a:avLst/>
          </a:prstGeom>
          <a:ln w="9525" cap="rnd">
            <a:solidFill>
              <a:srgbClr val="0B2545">
                <a:alpha val="3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6" name="side-bar"/>
          <p:cNvSpPr/>
          <p:nvPr/>
        </p:nvSpPr>
        <p:spPr>
          <a:xfrm>
            <a:off x="8890000" y="15875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side-h"/>
          <p:cNvSpPr txBox="1"/>
          <p:nvPr/>
        </p:nvSpPr>
        <p:spPr>
          <a:xfrm>
            <a:off x="9048750" y="15946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冲刺状态</a:t>
            </a:r>
          </a:p>
        </p:txBody>
      </p:sp>
      <p:sp>
        <p:nvSpPr>
          <p:cNvPr id="58" name="side-p"/>
          <p:cNvSpPr txBox="1"/>
          <p:nvPr/>
        </p:nvSpPr>
        <p:spPr>
          <a:xfrm>
            <a:off x="9055989" y="1885045"/>
            <a:ext cx="1575499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承诺 120 点 · 共 10 个工作日</a:t>
            </a:r>
          </a:p>
        </p:txBody>
      </p:sp>
      <p:sp>
        <p:nvSpPr>
          <p:cNvPr id="59" name="k-1"/>
          <p:cNvSpPr/>
          <p:nvPr/>
        </p:nvSpPr>
        <p:spPr>
          <a:xfrm>
            <a:off x="8890000" y="2260600"/>
            <a:ext cx="2349500" cy="889000"/>
          </a:xfrm>
          <a:custGeom>
            <a:avLst/>
            <a:gdLst/>
            <a:ahLst/>
            <a:cxnLst/>
            <a:rect l="0" t="0" r="r" b="b"/>
            <a:pathLst>
              <a:path w="2349500" h="889000">
                <a:moveTo>
                  <a:pt x="127000" y="0"/>
                </a:moveTo>
                <a:lnTo>
                  <a:pt x="2222500" y="0"/>
                </a:lnTo>
                <a:cubicBezTo>
                  <a:pt x="2292667" y="0"/>
                  <a:pt x="2349500" y="56832"/>
                  <a:pt x="2349500" y="127000"/>
                </a:cubicBezTo>
                <a:lnTo>
                  <a:pt x="2349500" y="762000"/>
                </a:lnTo>
                <a:cubicBezTo>
                  <a:pt x="2349500" y="832168"/>
                  <a:pt x="2292667" y="889000"/>
                  <a:pt x="2222500" y="889000"/>
                </a:cubicBezTo>
                <a:lnTo>
                  <a:pt x="127000" y="889000"/>
                </a:lnTo>
                <a:cubicBezTo>
                  <a:pt x="56833" y="889000"/>
                  <a:pt x="0" y="832168"/>
                  <a:pt x="0" y="762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kh-1"/>
          <p:cNvSpPr txBox="1"/>
          <p:nvPr/>
        </p:nvSpPr>
        <p:spPr>
          <a:xfrm>
            <a:off x="9055608" y="2389124"/>
            <a:ext cx="5232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今日剩余</a:t>
            </a:r>
          </a:p>
        </p:txBody>
      </p:sp>
      <p:sp>
        <p:nvSpPr>
          <p:cNvPr id="61" name="kv-1"/>
          <p:cNvSpPr txBox="1"/>
          <p:nvPr/>
        </p:nvSpPr>
        <p:spPr>
          <a:xfrm>
            <a:off x="9041892" y="2552764"/>
            <a:ext cx="785622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68 点</a:t>
            </a:r>
          </a:p>
        </p:txBody>
      </p:sp>
      <p:sp>
        <p:nvSpPr>
          <p:cNvPr id="62" name="kd-1"/>
          <p:cNvSpPr txBox="1"/>
          <p:nvPr/>
        </p:nvSpPr>
        <p:spPr>
          <a:xfrm>
            <a:off x="9056370" y="2917666"/>
            <a:ext cx="8896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理想线应剩 36 点</a:t>
            </a:r>
          </a:p>
        </p:txBody>
      </p:sp>
      <p:sp>
        <p:nvSpPr>
          <p:cNvPr id="63" name="k-2"/>
          <p:cNvSpPr/>
          <p:nvPr/>
        </p:nvSpPr>
        <p:spPr>
          <a:xfrm>
            <a:off x="8890000" y="3276600"/>
            <a:ext cx="2349500" cy="889000"/>
          </a:xfrm>
          <a:custGeom>
            <a:avLst/>
            <a:gdLst/>
            <a:ahLst/>
            <a:cxnLst/>
            <a:rect l="0" t="0" r="r" b="b"/>
            <a:pathLst>
              <a:path w="2349500" h="889000">
                <a:moveTo>
                  <a:pt x="127000" y="0"/>
                </a:moveTo>
                <a:lnTo>
                  <a:pt x="2222500" y="0"/>
                </a:lnTo>
                <a:cubicBezTo>
                  <a:pt x="2292667" y="0"/>
                  <a:pt x="2349500" y="56833"/>
                  <a:pt x="2349500" y="127000"/>
                </a:cubicBezTo>
                <a:lnTo>
                  <a:pt x="2349500" y="762000"/>
                </a:lnTo>
                <a:cubicBezTo>
                  <a:pt x="2349500" y="832167"/>
                  <a:pt x="2292667" y="889000"/>
                  <a:pt x="2222500" y="889000"/>
                </a:cubicBezTo>
                <a:lnTo>
                  <a:pt x="127000" y="889000"/>
                </a:lnTo>
                <a:cubicBezTo>
                  <a:pt x="56833" y="889000"/>
                  <a:pt x="0" y="832167"/>
                  <a:pt x="0" y="762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kh-2"/>
          <p:cNvSpPr txBox="1"/>
          <p:nvPr/>
        </p:nvSpPr>
        <p:spPr>
          <a:xfrm>
            <a:off x="9055608" y="3405124"/>
            <a:ext cx="63119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近三天速度</a:t>
            </a:r>
          </a:p>
        </p:txBody>
      </p:sp>
      <p:sp>
        <p:nvSpPr>
          <p:cNvPr id="65" name="kv-2"/>
          <p:cNvSpPr txBox="1"/>
          <p:nvPr/>
        </p:nvSpPr>
        <p:spPr>
          <a:xfrm>
            <a:off x="9041892" y="3568764"/>
            <a:ext cx="1128776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14 点/天</a:t>
            </a:r>
          </a:p>
        </p:txBody>
      </p:sp>
      <p:sp>
        <p:nvSpPr>
          <p:cNvPr id="66" name="kd-2"/>
          <p:cNvSpPr txBox="1"/>
          <p:nvPr/>
        </p:nvSpPr>
        <p:spPr>
          <a:xfrm>
            <a:off x="9056370" y="3933666"/>
            <a:ext cx="76581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比前半程快一倍</a:t>
            </a:r>
          </a:p>
        </p:txBody>
      </p:sp>
      <p:sp>
        <p:nvSpPr>
          <p:cNvPr id="67" name="k-3"/>
          <p:cNvSpPr/>
          <p:nvPr/>
        </p:nvSpPr>
        <p:spPr>
          <a:xfrm>
            <a:off x="8890000" y="4292600"/>
            <a:ext cx="2349500" cy="889000"/>
          </a:xfrm>
          <a:custGeom>
            <a:avLst/>
            <a:gdLst/>
            <a:ahLst/>
            <a:cxnLst/>
            <a:rect l="0" t="0" r="r" b="b"/>
            <a:pathLst>
              <a:path w="2349500" h="889000">
                <a:moveTo>
                  <a:pt x="127000" y="0"/>
                </a:moveTo>
                <a:lnTo>
                  <a:pt x="2222500" y="0"/>
                </a:lnTo>
                <a:cubicBezTo>
                  <a:pt x="2292667" y="0"/>
                  <a:pt x="2349500" y="56833"/>
                  <a:pt x="2349500" y="127000"/>
                </a:cubicBezTo>
                <a:lnTo>
                  <a:pt x="2349500" y="762000"/>
                </a:lnTo>
                <a:cubicBezTo>
                  <a:pt x="2349500" y="832167"/>
                  <a:pt x="2292667" y="889000"/>
                  <a:pt x="2222500" y="889000"/>
                </a:cubicBezTo>
                <a:lnTo>
                  <a:pt x="127000" y="889000"/>
                </a:lnTo>
                <a:cubicBezTo>
                  <a:pt x="56833" y="889000"/>
                  <a:pt x="0" y="832167"/>
                  <a:pt x="0" y="762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kh-3"/>
          <p:cNvSpPr txBox="1"/>
          <p:nvPr/>
        </p:nvSpPr>
        <p:spPr>
          <a:xfrm>
            <a:off x="9055608" y="4421124"/>
            <a:ext cx="5232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5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需要决策</a:t>
            </a:r>
          </a:p>
        </p:txBody>
      </p:sp>
      <p:sp>
        <p:nvSpPr>
          <p:cNvPr id="69" name="kv-3"/>
          <p:cNvSpPr txBox="1"/>
          <p:nvPr/>
        </p:nvSpPr>
        <p:spPr>
          <a:xfrm>
            <a:off x="9041892" y="4584764"/>
            <a:ext cx="1347851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砍掉 27 点</a:t>
            </a:r>
          </a:p>
        </p:txBody>
      </p:sp>
      <p:sp>
        <p:nvSpPr>
          <p:cNvPr id="70" name="kd-3"/>
          <p:cNvSpPr txBox="1"/>
          <p:nvPr/>
        </p:nvSpPr>
        <p:spPr>
          <a:xfrm>
            <a:off x="9056370" y="4949666"/>
            <a:ext cx="8629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或顺延到下个冲刺</a:t>
            </a:r>
          </a:p>
        </p:txBody>
      </p:sp>
      <p:sp>
        <p:nvSpPr>
          <p:cNvPr id="71" name="sum"/>
          <p:cNvSpPr/>
          <p:nvPr/>
        </p:nvSpPr>
        <p:spPr>
          <a:xfrm>
            <a:off x="952500" y="5778500"/>
            <a:ext cx="10287000" cy="419100"/>
          </a:xfrm>
          <a:custGeom>
            <a:avLst/>
            <a:gdLst/>
            <a:ahLst/>
            <a:cxnLst/>
            <a:rect l="0" t="0" r="r" b="b"/>
            <a:pathLst>
              <a:path w="10287000" h="4191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30200"/>
                </a:lnTo>
                <a:cubicBezTo>
                  <a:pt x="10287000" y="379286"/>
                  <a:pt x="10247186" y="419100"/>
                  <a:pt x="10198100" y="419100"/>
                </a:cubicBezTo>
                <a:lnTo>
                  <a:pt x="88900" y="419100"/>
                </a:lnTo>
                <a:cubicBezTo>
                  <a:pt x="39815" y="419100"/>
                  <a:pt x="0" y="379286"/>
                  <a:pt x="0" y="3302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sum-bar"/>
          <p:cNvSpPr/>
          <p:nvPr/>
        </p:nvSpPr>
        <p:spPr>
          <a:xfrm>
            <a:off x="952500" y="5778500"/>
            <a:ext cx="31750" cy="4191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sum-h"/>
          <p:cNvSpPr txBox="1"/>
          <p:nvPr/>
        </p:nvSpPr>
        <p:spPr>
          <a:xfrm>
            <a:off x="1142746" y="59118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复盘提示</a:t>
            </a:r>
          </a:p>
        </p:txBody>
      </p:sp>
      <p:sp>
        <p:nvSpPr>
          <p:cNvPr id="74" name="sum-p"/>
          <p:cNvSpPr txBox="1"/>
          <p:nvPr/>
        </p:nvSpPr>
        <p:spPr>
          <a:xfrm>
            <a:off x="1891665" y="5907961"/>
            <a:ext cx="360648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D4 冲刺中途插入需求是主因——下个冲刺起，新需求一律排进待办池。</a:t>
            </a:r>
          </a:p>
        </p:txBody>
      </p:sp>
      <p:cxnSp>
        <p:nvCxnSpPr>
          <p:cNvPr id="75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foot-l"/>
          <p:cNvSpPr txBox="1"/>
          <p:nvPr/>
        </p:nvSpPr>
        <p:spPr>
          <a:xfrm>
            <a:off x="573532" y="6532308"/>
            <a:ext cx="108572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燃尽图 · 第 14 冲刺</a:t>
            </a:r>
          </a:p>
        </p:txBody>
      </p:sp>
      <p:sp>
        <p:nvSpPr>
          <p:cNvPr id="77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9946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一天里什么时候下单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810131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24-HOUR RADIAL BARS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722487" y="673132"/>
            <a:ext cx="289826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把 24 小时排成一只钟——午间和晚间两座高峰一眼可见</a:t>
            </a:r>
          </a:p>
        </p:txBody>
      </p:sp>
      <p:sp>
        <p:nvSpPr>
          <p:cNvPr id="10" name="plate"/>
          <p:cNvSpPr/>
          <p:nvPr/>
        </p:nvSpPr>
        <p:spPr>
          <a:xfrm>
            <a:off x="1841500" y="1524000"/>
            <a:ext cx="4445000" cy="4445000"/>
          </a:xfrm>
          <a:prstGeom prst="ellipse">
            <a:avLst/>
          </a:prstGeom>
          <a:solidFill>
            <a:srgbClr val="FFFFFF">
              <a:alpha val="60000"/>
            </a:srgbClr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ring-0.25"/>
          <p:cNvSpPr/>
          <p:nvPr/>
        </p:nvSpPr>
        <p:spPr>
          <a:xfrm>
            <a:off x="2978150" y="2660650"/>
            <a:ext cx="2171700" cy="2171700"/>
          </a:xfrm>
          <a:prstGeom prst="ellipse">
            <a:avLst/>
          </a:prstGeom>
          <a:noFill/>
          <a:ln w="6350" cap="rnd">
            <a:solidFill>
              <a:srgbClr val="0B2545">
                <a:alpha val="6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ring-0.5"/>
          <p:cNvSpPr/>
          <p:nvPr/>
        </p:nvSpPr>
        <p:spPr>
          <a:xfrm>
            <a:off x="2641600" y="2324100"/>
            <a:ext cx="2844800" cy="2844800"/>
          </a:xfrm>
          <a:prstGeom prst="ellipse">
            <a:avLst/>
          </a:prstGeom>
          <a:noFill/>
          <a:ln w="6350" cap="rnd">
            <a:solidFill>
              <a:srgbClr val="0B2545">
                <a:alpha val="6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ring-0.75"/>
          <p:cNvSpPr/>
          <p:nvPr/>
        </p:nvSpPr>
        <p:spPr>
          <a:xfrm>
            <a:off x="2305050" y="1987550"/>
            <a:ext cx="3517900" cy="3517900"/>
          </a:xfrm>
          <a:prstGeom prst="ellipse">
            <a:avLst/>
          </a:prstGeom>
          <a:noFill/>
          <a:ln w="6350" cap="rnd">
            <a:solidFill>
              <a:srgbClr val="0B2545">
                <a:alpha val="6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ring-1"/>
          <p:cNvSpPr/>
          <p:nvPr/>
        </p:nvSpPr>
        <p:spPr>
          <a:xfrm>
            <a:off x="1968500" y="1651000"/>
            <a:ext cx="4191000" cy="4191000"/>
          </a:xfrm>
          <a:prstGeom prst="ellipse">
            <a:avLst/>
          </a:prstGeom>
          <a:noFill/>
          <a:ln w="6350" cap="rnd">
            <a:solidFill>
              <a:srgbClr val="0B2545">
                <a:alpha val="6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b-0"/>
          <p:cNvSpPr/>
          <p:nvPr/>
        </p:nvSpPr>
        <p:spPr>
          <a:xfrm>
            <a:off x="3981450" y="2733802"/>
            <a:ext cx="165100" cy="225298"/>
          </a:xfrm>
          <a:custGeom>
            <a:avLst/>
            <a:gdLst/>
            <a:ahLst/>
            <a:cxnLst/>
            <a:rect l="0" t="0" r="r" b="b"/>
            <a:pathLst>
              <a:path w="165100" h="225298">
                <a:moveTo>
                  <a:pt x="75057" y="225298"/>
                </a:moveTo>
                <a:quadBezTo>
                  <a:pt x="0" y="225298"/>
                  <a:pt x="0" y="150241"/>
                </a:quadBezTo>
                <a:lnTo>
                  <a:pt x="0" y="75057"/>
                </a:lnTo>
                <a:quadBezTo>
                  <a:pt x="0" y="0"/>
                  <a:pt x="75057" y="0"/>
                </a:quadBezTo>
                <a:lnTo>
                  <a:pt x="90043" y="0"/>
                </a:lnTo>
                <a:quadBezTo>
                  <a:pt x="165100" y="0"/>
                  <a:pt x="165100" y="75057"/>
                </a:quadBezTo>
                <a:lnTo>
                  <a:pt x="165100" y="150241"/>
                </a:lnTo>
                <a:quadBezTo>
                  <a:pt x="165100" y="225298"/>
                  <a:pt x="90043" y="225298"/>
                </a:quad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h-0"/>
          <p:cNvSpPr txBox="1"/>
          <p:nvPr/>
        </p:nvSpPr>
        <p:spPr>
          <a:xfrm>
            <a:off x="3994467" y="305736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0</a:t>
            </a:r>
          </a:p>
        </p:txBody>
      </p:sp>
      <p:sp>
        <p:nvSpPr>
          <p:cNvPr id="17" name="b-1"/>
          <p:cNvSpPr/>
          <p:nvPr/>
        </p:nvSpPr>
        <p:spPr>
          <a:xfrm>
            <a:off x="4198133" y="2870094"/>
            <a:ext cx="167344" cy="127107"/>
          </a:xfrm>
          <a:custGeom>
            <a:avLst/>
            <a:gdLst/>
            <a:ahLst/>
            <a:cxnLst/>
            <a:rect l="0" t="0" r="r" b="b"/>
            <a:pathLst>
              <a:path w="167344" h="127107">
                <a:moveTo>
                  <a:pt x="37444" y="107231"/>
                </a:moveTo>
                <a:quadBezTo>
                  <a:pt x="-10054" y="94467"/>
                  <a:pt x="2646" y="46969"/>
                </a:quadBezTo>
                <a:lnTo>
                  <a:pt x="5186" y="37444"/>
                </a:lnTo>
                <a:quadBezTo>
                  <a:pt x="17950" y="-10054"/>
                  <a:pt x="65448" y="2646"/>
                </a:quadBezTo>
                <a:lnTo>
                  <a:pt x="129900" y="19918"/>
                </a:lnTo>
                <a:quadBezTo>
                  <a:pt x="177398" y="32682"/>
                  <a:pt x="164698" y="80180"/>
                </a:quadBezTo>
                <a:lnTo>
                  <a:pt x="162158" y="89705"/>
                </a:lnTo>
                <a:quadBezTo>
                  <a:pt x="149395" y="137203"/>
                  <a:pt x="101897" y="124439"/>
                </a:quad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b-2"/>
          <p:cNvSpPr/>
          <p:nvPr/>
        </p:nvSpPr>
        <p:spPr>
          <a:xfrm>
            <a:off x="4393365" y="2987450"/>
            <a:ext cx="153499" cy="111233"/>
          </a:xfrm>
          <a:custGeom>
            <a:avLst/>
            <a:gdLst/>
            <a:ahLst/>
            <a:cxnLst/>
            <a:rect l="0" t="0" r="r" b="b"/>
            <a:pathLst>
              <a:path w="153499" h="111233">
                <a:moveTo>
                  <a:pt x="12392" y="47152"/>
                </a:moveTo>
                <a:quadBezTo>
                  <a:pt x="-7166" y="35849"/>
                  <a:pt x="4137" y="16291"/>
                </a:quadBezTo>
                <a:lnTo>
                  <a:pt x="6423" y="12417"/>
                </a:lnTo>
                <a:quadBezTo>
                  <a:pt x="17663" y="-7141"/>
                  <a:pt x="37284" y="4099"/>
                </a:quadBezTo>
                <a:lnTo>
                  <a:pt x="141107" y="64106"/>
                </a:lnTo>
                <a:quadBezTo>
                  <a:pt x="160665" y="75409"/>
                  <a:pt x="149362" y="94967"/>
                </a:quadBezTo>
                <a:lnTo>
                  <a:pt x="147139" y="98841"/>
                </a:lnTo>
                <a:quadBezTo>
                  <a:pt x="135836" y="118399"/>
                  <a:pt x="116278" y="107096"/>
                </a:quad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b-3"/>
          <p:cNvSpPr/>
          <p:nvPr/>
        </p:nvSpPr>
        <p:spPr>
          <a:xfrm>
            <a:off x="4565682" y="3120200"/>
            <a:ext cx="124619" cy="124619"/>
          </a:xfrm>
          <a:custGeom>
            <a:avLst/>
            <a:gdLst/>
            <a:ahLst/>
            <a:cxnLst/>
            <a:rect l="0" t="0" r="r" b="b"/>
            <a:pathLst>
              <a:path w="124619" h="124619">
                <a:moveTo>
                  <a:pt x="3270" y="17717"/>
                </a:moveTo>
                <a:quadBezTo>
                  <a:pt x="-3270" y="11176"/>
                  <a:pt x="3270" y="4572"/>
                </a:quadBezTo>
                <a:lnTo>
                  <a:pt x="4604" y="3302"/>
                </a:lnTo>
                <a:quadBezTo>
                  <a:pt x="11144" y="-3302"/>
                  <a:pt x="17748" y="3302"/>
                </a:quadBezTo>
                <a:lnTo>
                  <a:pt x="121317" y="106870"/>
                </a:lnTo>
                <a:quadBezTo>
                  <a:pt x="127921" y="113475"/>
                  <a:pt x="121317" y="120015"/>
                </a:quadBezTo>
                <a:lnTo>
                  <a:pt x="120047" y="121349"/>
                </a:lnTo>
                <a:quadBezTo>
                  <a:pt x="113443" y="127889"/>
                  <a:pt x="106902" y="121349"/>
                </a:quad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h-3"/>
          <p:cNvSpPr txBox="1"/>
          <p:nvPr/>
        </p:nvSpPr>
        <p:spPr>
          <a:xfrm>
            <a:off x="4425520" y="3235914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21" name="b-4"/>
          <p:cNvSpPr/>
          <p:nvPr/>
        </p:nvSpPr>
        <p:spPr>
          <a:xfrm>
            <a:off x="4705469" y="3279250"/>
            <a:ext cx="85907" cy="144208"/>
          </a:xfrm>
          <a:custGeom>
            <a:avLst/>
            <a:gdLst/>
            <a:ahLst/>
            <a:cxnLst/>
            <a:rect l="0" t="0" r="r" b="b"/>
            <a:pathLst>
              <a:path w="85907" h="144208">
                <a:moveTo>
                  <a:pt x="452" y="4335"/>
                </a:moveTo>
                <a:quadBezTo>
                  <a:pt x="-818" y="2049"/>
                  <a:pt x="1468" y="715"/>
                </a:quadBezTo>
                <a:lnTo>
                  <a:pt x="1913" y="461"/>
                </a:lnTo>
                <a:quadBezTo>
                  <a:pt x="4199" y="-809"/>
                  <a:pt x="5532" y="1414"/>
                </a:quadBezTo>
                <a:lnTo>
                  <a:pt x="85415" y="139844"/>
                </a:lnTo>
                <a:quadBezTo>
                  <a:pt x="86749" y="142130"/>
                  <a:pt x="84463" y="143463"/>
                </a:quadBezTo>
                <a:lnTo>
                  <a:pt x="84018" y="143717"/>
                </a:lnTo>
                <a:quadBezTo>
                  <a:pt x="81732" y="145051"/>
                  <a:pt x="80399" y="142765"/>
                </a:quad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b-5"/>
          <p:cNvSpPr/>
          <p:nvPr/>
        </p:nvSpPr>
        <p:spPr>
          <a:xfrm>
            <a:off x="4806469" y="3457157"/>
            <a:ext cx="70051" cy="161999"/>
          </a:xfrm>
          <a:custGeom>
            <a:avLst/>
            <a:gdLst/>
            <a:ahLst/>
            <a:cxnLst/>
            <a:rect l="0" t="0" r="r" b="b"/>
            <a:pathLst>
              <a:path w="70051" h="161999">
                <a:moveTo>
                  <a:pt x="862" y="21182"/>
                </a:moveTo>
                <a:quadBezTo>
                  <a:pt x="-3265" y="5815"/>
                  <a:pt x="12102" y="1688"/>
                </a:quadBezTo>
                <a:lnTo>
                  <a:pt x="15213" y="862"/>
                </a:lnTo>
                <a:quadBezTo>
                  <a:pt x="30580" y="-3265"/>
                  <a:pt x="34708" y="12102"/>
                </a:quadBezTo>
                <a:lnTo>
                  <a:pt x="69188" y="140816"/>
                </a:lnTo>
                <a:quadBezTo>
                  <a:pt x="73316" y="156183"/>
                  <a:pt x="57949" y="160311"/>
                </a:quadBezTo>
                <a:lnTo>
                  <a:pt x="54837" y="161136"/>
                </a:lnTo>
                <a:quadBezTo>
                  <a:pt x="39470" y="165264"/>
                  <a:pt x="35343" y="149897"/>
                </a:quad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b-6"/>
          <p:cNvSpPr/>
          <p:nvPr/>
        </p:nvSpPr>
        <p:spPr>
          <a:xfrm>
            <a:off x="4851400" y="3663950"/>
            <a:ext cx="93599" cy="165100"/>
          </a:xfrm>
          <a:custGeom>
            <a:avLst/>
            <a:gdLst/>
            <a:ahLst/>
            <a:cxnLst/>
            <a:rect l="0" t="0" r="r" b="b"/>
            <a:pathLst>
              <a:path w="93599" h="165100">
                <a:moveTo>
                  <a:pt x="0" y="42545"/>
                </a:moveTo>
                <a:quadBezTo>
                  <a:pt x="0" y="0"/>
                  <a:pt x="42545" y="0"/>
                </a:quadBezTo>
                <a:lnTo>
                  <a:pt x="51054" y="0"/>
                </a:lnTo>
                <a:quadBezTo>
                  <a:pt x="93599" y="0"/>
                  <a:pt x="93599" y="42545"/>
                </a:quadBezTo>
                <a:lnTo>
                  <a:pt x="93599" y="122555"/>
                </a:lnTo>
                <a:quadBezTo>
                  <a:pt x="93599" y="165100"/>
                  <a:pt x="51054" y="165100"/>
                </a:quadBezTo>
                <a:lnTo>
                  <a:pt x="42545" y="165100"/>
                </a:lnTo>
                <a:quadBezTo>
                  <a:pt x="0" y="165100"/>
                  <a:pt x="0" y="122555"/>
                </a:quadBezTo>
                <a:close/>
              </a:path>
            </a:pathLst>
          </a:custGeom>
          <a:solidFill>
            <a:srgbClr val="B7C7D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h-6"/>
          <p:cNvSpPr txBox="1"/>
          <p:nvPr/>
        </p:nvSpPr>
        <p:spPr>
          <a:xfrm>
            <a:off x="4604068" y="3666966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6</a:t>
            </a:r>
          </a:p>
        </p:txBody>
      </p:sp>
      <p:sp>
        <p:nvSpPr>
          <p:cNvPr id="25" name="b-7"/>
          <p:cNvSpPr/>
          <p:nvPr/>
        </p:nvSpPr>
        <p:spPr>
          <a:xfrm>
            <a:off x="4818580" y="3885954"/>
            <a:ext cx="201339" cy="179433"/>
          </a:xfrm>
          <a:custGeom>
            <a:avLst/>
            <a:gdLst/>
            <a:ahLst/>
            <a:cxnLst/>
            <a:rect l="0" t="0" r="r" b="b"/>
            <a:pathLst>
              <a:path w="201339" h="179433">
                <a:moveTo>
                  <a:pt x="7928" y="57079"/>
                </a:moveTo>
                <a:quadBezTo>
                  <a:pt x="27359" y="-15375"/>
                  <a:pt x="99812" y="4056"/>
                </a:quadBezTo>
                <a:lnTo>
                  <a:pt x="144199" y="15931"/>
                </a:lnTo>
                <a:quadBezTo>
                  <a:pt x="216716" y="35362"/>
                  <a:pt x="197285" y="107815"/>
                </a:quadBezTo>
                <a:lnTo>
                  <a:pt x="193411" y="122293"/>
                </a:lnTo>
                <a:quadBezTo>
                  <a:pt x="173980" y="194810"/>
                  <a:pt x="101463" y="175379"/>
                </a:quadBezTo>
                <a:lnTo>
                  <a:pt x="57140" y="163505"/>
                </a:lnTo>
                <a:quadBezTo>
                  <a:pt x="-15377" y="144074"/>
                  <a:pt x="4054" y="71620"/>
                </a:quad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b-8"/>
          <p:cNvSpPr/>
          <p:nvPr/>
        </p:nvSpPr>
        <p:spPr>
          <a:xfrm>
            <a:off x="4728446" y="4092503"/>
            <a:ext cx="356770" cy="281196"/>
          </a:xfrm>
          <a:custGeom>
            <a:avLst/>
            <a:gdLst/>
            <a:ahLst/>
            <a:cxnLst/>
            <a:rect l="0" t="0" r="r" b="b"/>
            <a:pathLst>
              <a:path w="356770" h="281196">
                <a:moveTo>
                  <a:pt x="21227" y="41220"/>
                </a:moveTo>
                <a:quadBezTo>
                  <a:pt x="58755" y="-23804"/>
                  <a:pt x="123716" y="13725"/>
                </a:quadBezTo>
                <a:lnTo>
                  <a:pt x="315549" y="124469"/>
                </a:lnTo>
                <a:quadBezTo>
                  <a:pt x="380573" y="161997"/>
                  <a:pt x="343045" y="227021"/>
                </a:quadBezTo>
                <a:lnTo>
                  <a:pt x="335552" y="239975"/>
                </a:lnTo>
                <a:quadBezTo>
                  <a:pt x="298023" y="304999"/>
                  <a:pt x="232999" y="267471"/>
                </a:quadBezTo>
                <a:lnTo>
                  <a:pt x="41166" y="156727"/>
                </a:lnTo>
                <a:quadBezTo>
                  <a:pt x="-23795" y="119198"/>
                  <a:pt x="13734" y="54174"/>
                </a:quad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b-9"/>
          <p:cNvSpPr/>
          <p:nvPr/>
        </p:nvSpPr>
        <p:spPr>
          <a:xfrm>
            <a:off x="4588954" y="4271454"/>
            <a:ext cx="450596" cy="450596"/>
          </a:xfrm>
          <a:custGeom>
            <a:avLst/>
            <a:gdLst/>
            <a:ahLst/>
            <a:cxnLst/>
            <a:rect l="0" t="0" r="r" b="b"/>
            <a:pathLst>
              <a:path w="450596" h="450596">
                <a:moveTo>
                  <a:pt x="37148" y="26543"/>
                </a:moveTo>
                <a:quadBezTo>
                  <a:pt x="90170" y="-26543"/>
                  <a:pt x="143256" y="26543"/>
                </a:quadBezTo>
                <a:lnTo>
                  <a:pt x="424053" y="307340"/>
                </a:lnTo>
                <a:quadBezTo>
                  <a:pt x="477139" y="360362"/>
                  <a:pt x="424053" y="413449"/>
                </a:quadBezTo>
                <a:lnTo>
                  <a:pt x="413449" y="424053"/>
                </a:lnTo>
                <a:quadBezTo>
                  <a:pt x="360362" y="477139"/>
                  <a:pt x="307340" y="424053"/>
                </a:quadBezTo>
                <a:lnTo>
                  <a:pt x="26543" y="143256"/>
                </a:lnTo>
                <a:quadBezTo>
                  <a:pt x="-26543" y="90170"/>
                  <a:pt x="26543" y="37148"/>
                </a:quad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h-9"/>
          <p:cNvSpPr txBox="1"/>
          <p:nvPr/>
        </p:nvSpPr>
        <p:spPr>
          <a:xfrm>
            <a:off x="4425520" y="4098019"/>
            <a:ext cx="1390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9</a:t>
            </a:r>
          </a:p>
        </p:txBody>
      </p:sp>
      <p:sp>
        <p:nvSpPr>
          <p:cNvPr id="29" name="b-10"/>
          <p:cNvSpPr/>
          <p:nvPr/>
        </p:nvSpPr>
        <p:spPr>
          <a:xfrm>
            <a:off x="4410003" y="4410946"/>
            <a:ext cx="412895" cy="584862"/>
          </a:xfrm>
          <a:custGeom>
            <a:avLst/>
            <a:gdLst/>
            <a:ahLst/>
            <a:cxnLst/>
            <a:rect l="0" t="0" r="r" b="b"/>
            <a:pathLst>
              <a:path w="412895" h="584862">
                <a:moveTo>
                  <a:pt x="54174" y="13734"/>
                </a:moveTo>
                <a:quadBezTo>
                  <a:pt x="119198" y="-23795"/>
                  <a:pt x="156727" y="41166"/>
                </a:quadBezTo>
                <a:lnTo>
                  <a:pt x="399170" y="461091"/>
                </a:lnTo>
                <a:quadBezTo>
                  <a:pt x="436698" y="526115"/>
                  <a:pt x="371674" y="563644"/>
                </a:quadBezTo>
                <a:lnTo>
                  <a:pt x="358720" y="571137"/>
                </a:lnTo>
                <a:quadBezTo>
                  <a:pt x="293696" y="608665"/>
                  <a:pt x="256168" y="543641"/>
                </a:quadBezTo>
                <a:lnTo>
                  <a:pt x="13725" y="123716"/>
                </a:lnTo>
                <a:quadBezTo>
                  <a:pt x="-23804" y="58755"/>
                  <a:pt x="41220" y="21227"/>
                </a:quad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b-11"/>
          <p:cNvSpPr/>
          <p:nvPr/>
        </p:nvSpPr>
        <p:spPr>
          <a:xfrm>
            <a:off x="4203454" y="4501080"/>
            <a:ext cx="338501" cy="794939"/>
          </a:xfrm>
          <a:custGeom>
            <a:avLst/>
            <a:gdLst/>
            <a:ahLst/>
            <a:cxnLst/>
            <a:rect l="0" t="0" r="r" b="b"/>
            <a:pathLst>
              <a:path w="338501" h="794939">
                <a:moveTo>
                  <a:pt x="71620" y="4054"/>
                </a:moveTo>
                <a:quadBezTo>
                  <a:pt x="144074" y="-15377"/>
                  <a:pt x="163505" y="57140"/>
                </a:quadBezTo>
                <a:lnTo>
                  <a:pt x="334447" y="695125"/>
                </a:lnTo>
                <a:quadBezTo>
                  <a:pt x="353878" y="767578"/>
                  <a:pt x="281361" y="787009"/>
                </a:quadBezTo>
                <a:lnTo>
                  <a:pt x="266883" y="790883"/>
                </a:lnTo>
                <a:quadBezTo>
                  <a:pt x="194429" y="810314"/>
                  <a:pt x="174998" y="737860"/>
                </a:quadBezTo>
                <a:lnTo>
                  <a:pt x="4056" y="99812"/>
                </a:lnTo>
                <a:quadBezTo>
                  <a:pt x="-15375" y="27359"/>
                  <a:pt x="57079" y="7928"/>
                </a:quad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b-12"/>
          <p:cNvSpPr/>
          <p:nvPr/>
        </p:nvSpPr>
        <p:spPr>
          <a:xfrm>
            <a:off x="3981450" y="4533900"/>
            <a:ext cx="165100" cy="1015428"/>
          </a:xfrm>
          <a:custGeom>
            <a:avLst/>
            <a:gdLst/>
            <a:ahLst/>
            <a:cxnLst/>
            <a:rect l="0" t="0" r="r" b="b"/>
            <a:pathLst>
              <a:path w="165100" h="1015428">
                <a:moveTo>
                  <a:pt x="90043" y="0"/>
                </a:moveTo>
                <a:quadBezTo>
                  <a:pt x="165100" y="0"/>
                  <a:pt x="165100" y="75057"/>
                </a:quadBezTo>
                <a:lnTo>
                  <a:pt x="165100" y="940372"/>
                </a:lnTo>
                <a:quadBezTo>
                  <a:pt x="165100" y="1015428"/>
                  <a:pt x="90043" y="1015428"/>
                </a:quadBezTo>
                <a:lnTo>
                  <a:pt x="75057" y="1015428"/>
                </a:lnTo>
                <a:quadBezTo>
                  <a:pt x="0" y="1015428"/>
                  <a:pt x="0" y="940372"/>
                </a:quadBezTo>
                <a:lnTo>
                  <a:pt x="0" y="75057"/>
                </a:lnTo>
                <a:quadBezTo>
                  <a:pt x="0" y="0"/>
                  <a:pt x="75057" y="0"/>
                </a:quad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h-12"/>
          <p:cNvSpPr txBox="1"/>
          <p:nvPr/>
        </p:nvSpPr>
        <p:spPr>
          <a:xfrm>
            <a:off x="3967798" y="427656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12</a:t>
            </a:r>
          </a:p>
        </p:txBody>
      </p:sp>
      <p:sp>
        <p:nvSpPr>
          <p:cNvPr id="33" name="b-13"/>
          <p:cNvSpPr/>
          <p:nvPr/>
        </p:nvSpPr>
        <p:spPr>
          <a:xfrm>
            <a:off x="3578487" y="4501080"/>
            <a:ext cx="346060" cy="823196"/>
          </a:xfrm>
          <a:custGeom>
            <a:avLst/>
            <a:gdLst/>
            <a:ahLst/>
            <a:cxnLst/>
            <a:rect l="0" t="0" r="r" b="b"/>
            <a:pathLst>
              <a:path w="346060" h="823196">
                <a:moveTo>
                  <a:pt x="288981" y="7928"/>
                </a:moveTo>
                <a:quadBezTo>
                  <a:pt x="361434" y="27359"/>
                  <a:pt x="342003" y="99812"/>
                </a:quadBezTo>
                <a:lnTo>
                  <a:pt x="163505" y="766118"/>
                </a:lnTo>
                <a:quadBezTo>
                  <a:pt x="144074" y="838571"/>
                  <a:pt x="71620" y="819140"/>
                </a:quadBezTo>
                <a:lnTo>
                  <a:pt x="57079" y="815267"/>
                </a:lnTo>
                <a:quadBezTo>
                  <a:pt x="-15375" y="795836"/>
                  <a:pt x="4056" y="723382"/>
                </a:quadBezTo>
                <a:lnTo>
                  <a:pt x="182555" y="57140"/>
                </a:lnTo>
                <a:quadBezTo>
                  <a:pt x="201986" y="-15377"/>
                  <a:pt x="274439" y="4054"/>
                </a:quad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b-14"/>
          <p:cNvSpPr/>
          <p:nvPr/>
        </p:nvSpPr>
        <p:spPr>
          <a:xfrm>
            <a:off x="3319762" y="4410946"/>
            <a:ext cx="398235" cy="559525"/>
          </a:xfrm>
          <a:custGeom>
            <a:avLst/>
            <a:gdLst/>
            <a:ahLst/>
            <a:cxnLst/>
            <a:rect l="0" t="0" r="r" b="b"/>
            <a:pathLst>
              <a:path w="398235" h="559525">
                <a:moveTo>
                  <a:pt x="357015" y="21227"/>
                </a:moveTo>
                <a:quadBezTo>
                  <a:pt x="422039" y="58755"/>
                  <a:pt x="384510" y="123716"/>
                </a:quadBezTo>
                <a:lnTo>
                  <a:pt x="156672" y="518305"/>
                </a:lnTo>
                <a:quadBezTo>
                  <a:pt x="119144" y="583329"/>
                  <a:pt x="54183" y="545800"/>
                </a:quadBezTo>
                <a:lnTo>
                  <a:pt x="41166" y="538307"/>
                </a:lnTo>
                <a:quadBezTo>
                  <a:pt x="-23795" y="500779"/>
                  <a:pt x="13734" y="435755"/>
                </a:quadBezTo>
                <a:lnTo>
                  <a:pt x="241508" y="41166"/>
                </a:lnTo>
                <a:quadBezTo>
                  <a:pt x="279037" y="-23795"/>
                  <a:pt x="344061" y="13734"/>
                </a:quad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b-15"/>
          <p:cNvSpPr/>
          <p:nvPr/>
        </p:nvSpPr>
        <p:spPr>
          <a:xfrm>
            <a:off x="3088450" y="4271454"/>
            <a:ext cx="450596" cy="450596"/>
          </a:xfrm>
          <a:custGeom>
            <a:avLst/>
            <a:gdLst/>
            <a:ahLst/>
            <a:cxnLst/>
            <a:rect l="0" t="0" r="r" b="b"/>
            <a:pathLst>
              <a:path w="450596" h="450596">
                <a:moveTo>
                  <a:pt x="424053" y="37148"/>
                </a:moveTo>
                <a:quadBezTo>
                  <a:pt x="477139" y="90170"/>
                  <a:pt x="424053" y="143256"/>
                </a:quadBezTo>
                <a:lnTo>
                  <a:pt x="143256" y="424053"/>
                </a:lnTo>
                <a:quadBezTo>
                  <a:pt x="90233" y="477139"/>
                  <a:pt x="37148" y="424053"/>
                </a:quadBezTo>
                <a:lnTo>
                  <a:pt x="26543" y="413449"/>
                </a:lnTo>
                <a:quadBezTo>
                  <a:pt x="-26543" y="360362"/>
                  <a:pt x="26543" y="307340"/>
                </a:quadBezTo>
                <a:lnTo>
                  <a:pt x="307340" y="26543"/>
                </a:lnTo>
                <a:quadBezTo>
                  <a:pt x="360426" y="-26543"/>
                  <a:pt x="413449" y="26543"/>
                </a:quad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h-15"/>
          <p:cNvSpPr txBox="1"/>
          <p:nvPr/>
        </p:nvSpPr>
        <p:spPr>
          <a:xfrm>
            <a:off x="3536745" y="4098019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15</a:t>
            </a:r>
          </a:p>
        </p:txBody>
      </p:sp>
      <p:sp>
        <p:nvSpPr>
          <p:cNvPr id="37" name="b-16"/>
          <p:cNvSpPr/>
          <p:nvPr/>
        </p:nvSpPr>
        <p:spPr>
          <a:xfrm>
            <a:off x="2865365" y="4092503"/>
            <a:ext cx="534189" cy="383621"/>
          </a:xfrm>
          <a:custGeom>
            <a:avLst/>
            <a:gdLst/>
            <a:ahLst/>
            <a:cxnLst/>
            <a:rect l="0" t="0" r="r" b="b"/>
            <a:pathLst>
              <a:path w="534189" h="383621">
                <a:moveTo>
                  <a:pt x="520455" y="54174"/>
                </a:moveTo>
                <a:quadBezTo>
                  <a:pt x="557983" y="119198"/>
                  <a:pt x="493023" y="156727"/>
                </a:quadBezTo>
                <a:lnTo>
                  <a:pt x="123770" y="369896"/>
                </a:lnTo>
                <a:quadBezTo>
                  <a:pt x="58746" y="407425"/>
                  <a:pt x="21218" y="342401"/>
                </a:quadBezTo>
                <a:lnTo>
                  <a:pt x="13725" y="329447"/>
                </a:lnTo>
                <a:quadBezTo>
                  <a:pt x="-23804" y="264423"/>
                  <a:pt x="41220" y="226894"/>
                </a:quadBezTo>
                <a:lnTo>
                  <a:pt x="410473" y="13725"/>
                </a:lnTo>
                <a:quadBezTo>
                  <a:pt x="475433" y="-23804"/>
                  <a:pt x="512962" y="41220"/>
                </a:quad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b-17"/>
          <p:cNvSpPr/>
          <p:nvPr/>
        </p:nvSpPr>
        <p:spPr>
          <a:xfrm>
            <a:off x="2684089" y="3885954"/>
            <a:ext cx="625330" cy="293037"/>
          </a:xfrm>
          <a:custGeom>
            <a:avLst/>
            <a:gdLst/>
            <a:ahLst/>
            <a:cxnLst/>
            <a:rect l="0" t="0" r="r" b="b"/>
            <a:pathLst>
              <a:path w="625330" h="293037">
                <a:moveTo>
                  <a:pt x="621276" y="71620"/>
                </a:moveTo>
                <a:quadBezTo>
                  <a:pt x="640707" y="144074"/>
                  <a:pt x="568190" y="163505"/>
                </a:quadBezTo>
                <a:lnTo>
                  <a:pt x="99814" y="288981"/>
                </a:lnTo>
                <a:quadBezTo>
                  <a:pt x="27361" y="308412"/>
                  <a:pt x="7930" y="235958"/>
                </a:quadBezTo>
                <a:lnTo>
                  <a:pt x="4056" y="221417"/>
                </a:lnTo>
                <a:quadBezTo>
                  <a:pt x="-15375" y="148963"/>
                  <a:pt x="57079" y="129532"/>
                </a:quadBezTo>
                <a:lnTo>
                  <a:pt x="525518" y="4056"/>
                </a:lnTo>
                <a:quadBezTo>
                  <a:pt x="597972" y="-15375"/>
                  <a:pt x="617403" y="57079"/>
                </a:quad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b-18"/>
          <p:cNvSpPr/>
          <p:nvPr/>
        </p:nvSpPr>
        <p:spPr>
          <a:xfrm>
            <a:off x="2509901" y="3663950"/>
            <a:ext cx="766699" cy="165100"/>
          </a:xfrm>
          <a:custGeom>
            <a:avLst/>
            <a:gdLst/>
            <a:ahLst/>
            <a:cxnLst/>
            <a:rect l="0" t="0" r="r" b="b"/>
            <a:pathLst>
              <a:path w="766699" h="165100">
                <a:moveTo>
                  <a:pt x="766699" y="90043"/>
                </a:moveTo>
                <a:quadBezTo>
                  <a:pt x="766699" y="165100"/>
                  <a:pt x="691642" y="165100"/>
                </a:quadBezTo>
                <a:lnTo>
                  <a:pt x="75057" y="165100"/>
                </a:lnTo>
                <a:quadBezTo>
                  <a:pt x="0" y="165100"/>
                  <a:pt x="0" y="90043"/>
                </a:quadBezTo>
                <a:lnTo>
                  <a:pt x="0" y="75057"/>
                </a:lnTo>
                <a:quadBezTo>
                  <a:pt x="0" y="0"/>
                  <a:pt x="75057" y="0"/>
                </a:quadBezTo>
                <a:lnTo>
                  <a:pt x="691642" y="0"/>
                </a:lnTo>
                <a:quadBezTo>
                  <a:pt x="766699" y="0"/>
                  <a:pt x="766699" y="75057"/>
                </a:quad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h-18"/>
          <p:cNvSpPr txBox="1"/>
          <p:nvPr/>
        </p:nvSpPr>
        <p:spPr>
          <a:xfrm>
            <a:off x="3358198" y="366696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18</a:t>
            </a:r>
          </a:p>
        </p:txBody>
      </p:sp>
      <p:sp>
        <p:nvSpPr>
          <p:cNvPr id="41" name="b-19"/>
          <p:cNvSpPr/>
          <p:nvPr/>
        </p:nvSpPr>
        <p:spPr>
          <a:xfrm>
            <a:off x="2344872" y="3223079"/>
            <a:ext cx="964547" cy="383967"/>
          </a:xfrm>
          <a:custGeom>
            <a:avLst/>
            <a:gdLst/>
            <a:ahLst/>
            <a:cxnLst/>
            <a:rect l="0" t="0" r="r" b="b"/>
            <a:pathLst>
              <a:path w="964547" h="383967">
                <a:moveTo>
                  <a:pt x="956620" y="326888"/>
                </a:moveTo>
                <a:quadBezTo>
                  <a:pt x="937189" y="399342"/>
                  <a:pt x="864735" y="379911"/>
                </a:quadBezTo>
                <a:lnTo>
                  <a:pt x="57079" y="163566"/>
                </a:lnTo>
                <a:quadBezTo>
                  <a:pt x="-15375" y="144135"/>
                  <a:pt x="4056" y="71618"/>
                </a:quadBezTo>
                <a:lnTo>
                  <a:pt x="7930" y="57140"/>
                </a:lnTo>
                <a:quadBezTo>
                  <a:pt x="27361" y="-15377"/>
                  <a:pt x="99814" y="4054"/>
                </a:quadBezTo>
                <a:lnTo>
                  <a:pt x="907407" y="220462"/>
                </a:lnTo>
                <a:quadBezTo>
                  <a:pt x="979924" y="239893"/>
                  <a:pt x="960493" y="312347"/>
                </a:quad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b-20"/>
          <p:cNvSpPr/>
          <p:nvPr/>
        </p:nvSpPr>
        <p:spPr>
          <a:xfrm>
            <a:off x="2282435" y="2680326"/>
            <a:ext cx="1117119" cy="720171"/>
          </a:xfrm>
          <a:custGeom>
            <a:avLst/>
            <a:gdLst/>
            <a:ahLst/>
            <a:cxnLst/>
            <a:rect l="0" t="0" r="r" b="b"/>
            <a:pathLst>
              <a:path w="1117119" h="720171">
                <a:moveTo>
                  <a:pt x="1095892" y="678951"/>
                </a:moveTo>
                <a:quadBezTo>
                  <a:pt x="1058363" y="743975"/>
                  <a:pt x="993403" y="706446"/>
                </a:quadBezTo>
                <a:lnTo>
                  <a:pt x="41220" y="156727"/>
                </a:lnTo>
                <a:quadBezTo>
                  <a:pt x="-23804" y="119198"/>
                  <a:pt x="13725" y="54174"/>
                </a:quadBezTo>
                <a:lnTo>
                  <a:pt x="21281" y="41220"/>
                </a:lnTo>
                <a:quadBezTo>
                  <a:pt x="58746" y="-23804"/>
                  <a:pt x="123770" y="13725"/>
                </a:quadBezTo>
                <a:lnTo>
                  <a:pt x="1075953" y="563444"/>
                </a:lnTo>
                <a:quadBezTo>
                  <a:pt x="1140913" y="600973"/>
                  <a:pt x="1103385" y="665997"/>
                </a:quad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b-21"/>
          <p:cNvSpPr/>
          <p:nvPr/>
        </p:nvSpPr>
        <p:spPr>
          <a:xfrm>
            <a:off x="2550414" y="2232914"/>
            <a:ext cx="988632" cy="988632"/>
          </a:xfrm>
          <a:custGeom>
            <a:avLst/>
            <a:gdLst/>
            <a:ahLst/>
            <a:cxnLst/>
            <a:rect l="0" t="0" r="r" b="b"/>
            <a:pathLst>
              <a:path w="988632" h="988632">
                <a:moveTo>
                  <a:pt x="951484" y="962088"/>
                </a:moveTo>
                <a:quadBezTo>
                  <a:pt x="898462" y="1015174"/>
                  <a:pt x="845376" y="962088"/>
                </a:quadBezTo>
                <a:lnTo>
                  <a:pt x="26543" y="143256"/>
                </a:lnTo>
                <a:quadBezTo>
                  <a:pt x="-26543" y="90234"/>
                  <a:pt x="26543" y="37148"/>
                </a:quadBezTo>
                <a:lnTo>
                  <a:pt x="37148" y="26543"/>
                </a:lnTo>
                <a:quadBezTo>
                  <a:pt x="90234" y="-26543"/>
                  <a:pt x="143256" y="26543"/>
                </a:quadBezTo>
                <a:lnTo>
                  <a:pt x="962088" y="845376"/>
                </a:lnTo>
                <a:quadBezTo>
                  <a:pt x="1015174" y="898462"/>
                  <a:pt x="962088" y="951484"/>
                </a:quad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h-21"/>
          <p:cNvSpPr txBox="1"/>
          <p:nvPr/>
        </p:nvSpPr>
        <p:spPr>
          <a:xfrm>
            <a:off x="3536745" y="3235914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21</a:t>
            </a:r>
          </a:p>
        </p:txBody>
      </p:sp>
      <p:sp>
        <p:nvSpPr>
          <p:cNvPr id="45" name="b-22"/>
          <p:cNvSpPr/>
          <p:nvPr/>
        </p:nvSpPr>
        <p:spPr>
          <a:xfrm>
            <a:off x="3100252" y="2142354"/>
            <a:ext cx="617746" cy="939700"/>
          </a:xfrm>
          <a:custGeom>
            <a:avLst/>
            <a:gdLst/>
            <a:ahLst/>
            <a:cxnLst/>
            <a:rect l="0" t="0" r="r" b="b"/>
            <a:pathLst>
              <a:path w="617746" h="939700">
                <a:moveTo>
                  <a:pt x="563571" y="925966"/>
                </a:moveTo>
                <a:quadBezTo>
                  <a:pt x="498547" y="963494"/>
                  <a:pt x="461019" y="898534"/>
                </a:quadBezTo>
                <a:lnTo>
                  <a:pt x="13725" y="123770"/>
                </a:lnTo>
                <a:quadBezTo>
                  <a:pt x="-23804" y="58746"/>
                  <a:pt x="41220" y="21218"/>
                </a:quadBezTo>
                <a:lnTo>
                  <a:pt x="54174" y="13725"/>
                </a:lnTo>
                <a:quadBezTo>
                  <a:pt x="119198" y="-23804"/>
                  <a:pt x="156727" y="41220"/>
                </a:quadBezTo>
                <a:lnTo>
                  <a:pt x="604021" y="815984"/>
                </a:lnTo>
                <a:quadBezTo>
                  <a:pt x="641549" y="880944"/>
                  <a:pt x="576525" y="918473"/>
                </a:quad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b-23"/>
          <p:cNvSpPr/>
          <p:nvPr/>
        </p:nvSpPr>
        <p:spPr>
          <a:xfrm>
            <a:off x="3654200" y="2451364"/>
            <a:ext cx="270346" cy="540556"/>
          </a:xfrm>
          <a:custGeom>
            <a:avLst/>
            <a:gdLst/>
            <a:ahLst/>
            <a:cxnLst/>
            <a:rect l="0" t="0" r="r" b="b"/>
            <a:pathLst>
              <a:path w="270346" h="540556">
                <a:moveTo>
                  <a:pt x="198726" y="536502"/>
                </a:moveTo>
                <a:quadBezTo>
                  <a:pt x="126272" y="555933"/>
                  <a:pt x="106841" y="483416"/>
                </a:quadBezTo>
                <a:lnTo>
                  <a:pt x="4035" y="99876"/>
                </a:lnTo>
                <a:quadBezTo>
                  <a:pt x="-15333" y="27359"/>
                  <a:pt x="57121" y="7928"/>
                </a:quadBezTo>
                <a:lnTo>
                  <a:pt x="71599" y="4054"/>
                </a:lnTo>
                <a:quadBezTo>
                  <a:pt x="144116" y="-15377"/>
                  <a:pt x="163547" y="57140"/>
                </a:quadBezTo>
                <a:lnTo>
                  <a:pt x="266290" y="440744"/>
                </a:lnTo>
                <a:quadBezTo>
                  <a:pt x="285721" y="513197"/>
                  <a:pt x="213267" y="532628"/>
                </a:quad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tv-21"/>
          <p:cNvSpPr txBox="1"/>
          <p:nvPr/>
        </p:nvSpPr>
        <p:spPr>
          <a:xfrm>
            <a:off x="2333662" y="2059500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920</a:t>
            </a:r>
          </a:p>
        </p:txBody>
      </p:sp>
      <p:sp>
        <p:nvSpPr>
          <p:cNvPr id="48" name="tv-20"/>
          <p:cNvSpPr txBox="1"/>
          <p:nvPr/>
        </p:nvSpPr>
        <p:spPr>
          <a:xfrm>
            <a:off x="2023081" y="2559581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880</a:t>
            </a:r>
          </a:p>
        </p:txBody>
      </p:sp>
      <p:sp>
        <p:nvSpPr>
          <p:cNvPr id="49" name="tv-22"/>
          <p:cNvSpPr txBox="1"/>
          <p:nvPr/>
        </p:nvSpPr>
        <p:spPr>
          <a:xfrm>
            <a:off x="2936171" y="1926330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740</a:t>
            </a:r>
          </a:p>
        </p:txBody>
      </p:sp>
      <p:sp>
        <p:nvSpPr>
          <p:cNvPr id="50" name="core"/>
          <p:cNvSpPr/>
          <p:nvPr/>
        </p:nvSpPr>
        <p:spPr>
          <a:xfrm>
            <a:off x="3594100" y="3276600"/>
            <a:ext cx="939800" cy="939800"/>
          </a:xfrm>
          <a:prstGeom prst="ellipse">
            <a:avLst/>
          </a:pr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core-v"/>
          <p:cNvSpPr txBox="1"/>
          <p:nvPr/>
        </p:nvSpPr>
        <p:spPr>
          <a:xfrm>
            <a:off x="3711575" y="3460433"/>
            <a:ext cx="70485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9,660</a:t>
            </a:r>
          </a:p>
        </p:txBody>
      </p:sp>
      <p:sp>
        <p:nvSpPr>
          <p:cNvPr id="52" name="core-l"/>
          <p:cNvSpPr txBox="1"/>
          <p:nvPr/>
        </p:nvSpPr>
        <p:spPr>
          <a:xfrm>
            <a:off x="3846195" y="3776408"/>
            <a:ext cx="4356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日均订单</a:t>
            </a:r>
          </a:p>
        </p:txBody>
      </p:sp>
      <p:sp>
        <p:nvSpPr>
          <p:cNvPr id="53" name="side-bar"/>
          <p:cNvSpPr/>
          <p:nvPr/>
        </p:nvSpPr>
        <p:spPr>
          <a:xfrm>
            <a:off x="7112000" y="15875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side-h"/>
          <p:cNvSpPr txBox="1"/>
          <p:nvPr/>
        </p:nvSpPr>
        <p:spPr>
          <a:xfrm>
            <a:off x="7270750" y="1594644"/>
            <a:ext cx="11715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三个关键时段</a:t>
            </a:r>
          </a:p>
        </p:txBody>
      </p:sp>
      <p:sp>
        <p:nvSpPr>
          <p:cNvPr id="55" name="side-p"/>
          <p:cNvSpPr txBox="1"/>
          <p:nvPr/>
        </p:nvSpPr>
        <p:spPr>
          <a:xfrm>
            <a:off x="7277989" y="1885045"/>
            <a:ext cx="1835341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柱长 = 该小时订单量 · 橙色为前三名</a:t>
            </a:r>
          </a:p>
        </p:txBody>
      </p:sp>
      <p:sp>
        <p:nvSpPr>
          <p:cNvPr id="56" name="z-1"/>
          <p:cNvSpPr/>
          <p:nvPr/>
        </p:nvSpPr>
        <p:spPr>
          <a:xfrm>
            <a:off x="7112000" y="2260600"/>
            <a:ext cx="4127500" cy="812800"/>
          </a:xfrm>
          <a:custGeom>
            <a:avLst/>
            <a:gdLst/>
            <a:ahLst/>
            <a:cxnLst/>
            <a:rect l="0" t="0" r="r" b="b"/>
            <a:pathLst>
              <a:path w="4127500" h="812800">
                <a:moveTo>
                  <a:pt x="127000" y="0"/>
                </a:moveTo>
                <a:lnTo>
                  <a:pt x="4000500" y="0"/>
                </a:lnTo>
                <a:cubicBezTo>
                  <a:pt x="4070667" y="0"/>
                  <a:pt x="4127500" y="56832"/>
                  <a:pt x="4127500" y="127000"/>
                </a:cubicBezTo>
                <a:lnTo>
                  <a:pt x="4127500" y="685800"/>
                </a:lnTo>
                <a:cubicBezTo>
                  <a:pt x="4127500" y="755968"/>
                  <a:pt x="4070667" y="812800"/>
                  <a:pt x="4000500" y="812800"/>
                </a:cubicBezTo>
                <a:lnTo>
                  <a:pt x="127000" y="812800"/>
                </a:lnTo>
                <a:cubicBezTo>
                  <a:pt x="56833" y="812800"/>
                  <a:pt x="0" y="755968"/>
                  <a:pt x="0" y="6858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zb-1"/>
          <p:cNvSpPr/>
          <p:nvPr/>
        </p:nvSpPr>
        <p:spPr>
          <a:xfrm>
            <a:off x="7112000" y="2260600"/>
            <a:ext cx="38100" cy="812800"/>
          </a:xfrm>
          <a:custGeom>
            <a:avLst/>
            <a:gdLst/>
            <a:ahLst/>
            <a:cxnLst/>
            <a:rect l="0" t="0" r="r" b="b"/>
            <a:pathLst>
              <a:path w="38100" h="8128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793750"/>
                </a:lnTo>
                <a:cubicBezTo>
                  <a:pt x="38100" y="804291"/>
                  <a:pt x="29591" y="812800"/>
                  <a:pt x="19050" y="812800"/>
                </a:cubicBezTo>
                <a:lnTo>
                  <a:pt x="19050" y="812800"/>
                </a:lnTo>
                <a:cubicBezTo>
                  <a:pt x="8509" y="812800"/>
                  <a:pt x="0" y="804291"/>
                  <a:pt x="0" y="7937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zn-1"/>
          <p:cNvSpPr txBox="1"/>
          <p:nvPr/>
        </p:nvSpPr>
        <p:spPr>
          <a:xfrm>
            <a:off x="7284974" y="2385028"/>
            <a:ext cx="7664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午间高峰</a:t>
            </a:r>
          </a:p>
        </p:txBody>
      </p:sp>
      <p:sp>
        <p:nvSpPr>
          <p:cNvPr id="59" name="zt-1"/>
          <p:cNvSpPr txBox="1"/>
          <p:nvPr/>
        </p:nvSpPr>
        <p:spPr>
          <a:xfrm>
            <a:off x="7291070" y="2676366"/>
            <a:ext cx="9582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11–13 时 · 3 小时</a:t>
            </a:r>
          </a:p>
        </p:txBody>
      </p:sp>
      <p:sp>
        <p:nvSpPr>
          <p:cNvPr id="60" name="zt0-1"/>
          <p:cNvSpPr/>
          <p:nvPr/>
        </p:nvSpPr>
        <p:spPr>
          <a:xfrm>
            <a:off x="8699500" y="2616200"/>
            <a:ext cx="1587500" cy="101600"/>
          </a:xfrm>
          <a:custGeom>
            <a:avLst/>
            <a:gdLst/>
            <a:ahLst/>
            <a:cxnLst/>
            <a:rect l="0" t="0" r="r" b="b"/>
            <a:pathLst>
              <a:path w="1587500" h="101600">
                <a:moveTo>
                  <a:pt x="50800" y="0"/>
                </a:moveTo>
                <a:lnTo>
                  <a:pt x="1536700" y="0"/>
                </a:lnTo>
                <a:cubicBezTo>
                  <a:pt x="1564767" y="0"/>
                  <a:pt x="1587500" y="22733"/>
                  <a:pt x="1587500" y="50800"/>
                </a:cubicBezTo>
                <a:lnTo>
                  <a:pt x="1587500" y="50800"/>
                </a:lnTo>
                <a:cubicBezTo>
                  <a:pt x="1587500" y="78867"/>
                  <a:pt x="1564767" y="101600"/>
                  <a:pt x="15367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E3EB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zt1-1"/>
          <p:cNvSpPr/>
          <p:nvPr/>
        </p:nvSpPr>
        <p:spPr>
          <a:xfrm>
            <a:off x="8699500" y="2616200"/>
            <a:ext cx="780606" cy="101600"/>
          </a:xfrm>
          <a:custGeom>
            <a:avLst/>
            <a:gdLst/>
            <a:ahLst/>
            <a:cxnLst/>
            <a:rect l="0" t="0" r="r" b="b"/>
            <a:pathLst>
              <a:path w="780606" h="101600">
                <a:moveTo>
                  <a:pt x="50800" y="0"/>
                </a:moveTo>
                <a:lnTo>
                  <a:pt x="729806" y="0"/>
                </a:lnTo>
                <a:cubicBezTo>
                  <a:pt x="757872" y="0"/>
                  <a:pt x="780606" y="22733"/>
                  <a:pt x="780606" y="50800"/>
                </a:cubicBezTo>
                <a:lnTo>
                  <a:pt x="780606" y="50800"/>
                </a:lnTo>
                <a:cubicBezTo>
                  <a:pt x="780606" y="78867"/>
                  <a:pt x="757872" y="101600"/>
                  <a:pt x="729806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zv-1"/>
          <p:cNvSpPr txBox="1"/>
          <p:nvPr/>
        </p:nvSpPr>
        <p:spPr>
          <a:xfrm>
            <a:off x="10424160" y="2442210"/>
            <a:ext cx="65532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0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20%</a:t>
            </a:r>
          </a:p>
        </p:txBody>
      </p:sp>
      <p:sp>
        <p:nvSpPr>
          <p:cNvPr id="63" name="z-2"/>
          <p:cNvSpPr/>
          <p:nvPr/>
        </p:nvSpPr>
        <p:spPr>
          <a:xfrm>
            <a:off x="7112000" y="3200400"/>
            <a:ext cx="4127500" cy="812800"/>
          </a:xfrm>
          <a:custGeom>
            <a:avLst/>
            <a:gdLst/>
            <a:ahLst/>
            <a:cxnLst/>
            <a:rect l="0" t="0" r="r" b="b"/>
            <a:pathLst>
              <a:path w="4127500" h="812800">
                <a:moveTo>
                  <a:pt x="127000" y="0"/>
                </a:moveTo>
                <a:lnTo>
                  <a:pt x="4000500" y="0"/>
                </a:lnTo>
                <a:cubicBezTo>
                  <a:pt x="4070667" y="0"/>
                  <a:pt x="4127500" y="56833"/>
                  <a:pt x="4127500" y="127000"/>
                </a:cubicBezTo>
                <a:lnTo>
                  <a:pt x="4127500" y="685800"/>
                </a:lnTo>
                <a:cubicBezTo>
                  <a:pt x="4127500" y="755967"/>
                  <a:pt x="4070667" y="812800"/>
                  <a:pt x="4000500" y="812800"/>
                </a:cubicBezTo>
                <a:lnTo>
                  <a:pt x="127000" y="812800"/>
                </a:lnTo>
                <a:cubicBezTo>
                  <a:pt x="56833" y="812800"/>
                  <a:pt x="0" y="755967"/>
                  <a:pt x="0" y="6858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zb-2"/>
          <p:cNvSpPr/>
          <p:nvPr/>
        </p:nvSpPr>
        <p:spPr>
          <a:xfrm>
            <a:off x="7112000" y="3200400"/>
            <a:ext cx="38100" cy="812800"/>
          </a:xfrm>
          <a:custGeom>
            <a:avLst/>
            <a:gdLst/>
            <a:ahLst/>
            <a:cxnLst/>
            <a:rect l="0" t="0" r="r" b="b"/>
            <a:pathLst>
              <a:path w="38100" h="8128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793750"/>
                </a:lnTo>
                <a:cubicBezTo>
                  <a:pt x="38100" y="804291"/>
                  <a:pt x="29591" y="812800"/>
                  <a:pt x="19050" y="812800"/>
                </a:cubicBezTo>
                <a:lnTo>
                  <a:pt x="19050" y="812800"/>
                </a:lnTo>
                <a:cubicBezTo>
                  <a:pt x="8509" y="812800"/>
                  <a:pt x="0" y="804291"/>
                  <a:pt x="0" y="7937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zn-2"/>
          <p:cNvSpPr txBox="1"/>
          <p:nvPr/>
        </p:nvSpPr>
        <p:spPr>
          <a:xfrm>
            <a:off x="7284974" y="3324828"/>
            <a:ext cx="7664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晚间高峰</a:t>
            </a:r>
          </a:p>
        </p:txBody>
      </p:sp>
      <p:sp>
        <p:nvSpPr>
          <p:cNvPr id="66" name="zt-2"/>
          <p:cNvSpPr txBox="1"/>
          <p:nvPr/>
        </p:nvSpPr>
        <p:spPr>
          <a:xfrm>
            <a:off x="7291070" y="3616166"/>
            <a:ext cx="9582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19–22 时 · 4 小时</a:t>
            </a:r>
          </a:p>
        </p:txBody>
      </p:sp>
      <p:sp>
        <p:nvSpPr>
          <p:cNvPr id="67" name="zt0-2"/>
          <p:cNvSpPr/>
          <p:nvPr/>
        </p:nvSpPr>
        <p:spPr>
          <a:xfrm>
            <a:off x="8699500" y="3556000"/>
            <a:ext cx="1587500" cy="101600"/>
          </a:xfrm>
          <a:custGeom>
            <a:avLst/>
            <a:gdLst/>
            <a:ahLst/>
            <a:cxnLst/>
            <a:rect l="0" t="0" r="r" b="b"/>
            <a:pathLst>
              <a:path w="1587500" h="101600">
                <a:moveTo>
                  <a:pt x="50800" y="0"/>
                </a:moveTo>
                <a:lnTo>
                  <a:pt x="1536700" y="0"/>
                </a:lnTo>
                <a:cubicBezTo>
                  <a:pt x="1564767" y="0"/>
                  <a:pt x="1587500" y="22733"/>
                  <a:pt x="1587500" y="50800"/>
                </a:cubicBezTo>
                <a:lnTo>
                  <a:pt x="1587500" y="50800"/>
                </a:lnTo>
                <a:cubicBezTo>
                  <a:pt x="1587500" y="78867"/>
                  <a:pt x="1564767" y="101600"/>
                  <a:pt x="15367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E3EB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zt1-2"/>
          <p:cNvSpPr/>
          <p:nvPr/>
        </p:nvSpPr>
        <p:spPr>
          <a:xfrm>
            <a:off x="8699500" y="3556000"/>
            <a:ext cx="1331151" cy="101600"/>
          </a:xfrm>
          <a:custGeom>
            <a:avLst/>
            <a:gdLst/>
            <a:ahLst/>
            <a:cxnLst/>
            <a:rect l="0" t="0" r="r" b="b"/>
            <a:pathLst>
              <a:path w="1331151" h="101600">
                <a:moveTo>
                  <a:pt x="50800" y="0"/>
                </a:moveTo>
                <a:lnTo>
                  <a:pt x="1280351" y="0"/>
                </a:lnTo>
                <a:cubicBezTo>
                  <a:pt x="1308417" y="0"/>
                  <a:pt x="1331151" y="22733"/>
                  <a:pt x="1331151" y="50800"/>
                </a:cubicBezTo>
                <a:lnTo>
                  <a:pt x="1331151" y="50800"/>
                </a:lnTo>
                <a:cubicBezTo>
                  <a:pt x="1331151" y="78867"/>
                  <a:pt x="1308417" y="101600"/>
                  <a:pt x="1280351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zv-2"/>
          <p:cNvSpPr txBox="1"/>
          <p:nvPr/>
        </p:nvSpPr>
        <p:spPr>
          <a:xfrm>
            <a:off x="10424160" y="3382010"/>
            <a:ext cx="65532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0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34%</a:t>
            </a:r>
          </a:p>
        </p:txBody>
      </p:sp>
      <p:sp>
        <p:nvSpPr>
          <p:cNvPr id="70" name="z-3"/>
          <p:cNvSpPr/>
          <p:nvPr/>
        </p:nvSpPr>
        <p:spPr>
          <a:xfrm>
            <a:off x="7112000" y="4140200"/>
            <a:ext cx="4127500" cy="812800"/>
          </a:xfrm>
          <a:custGeom>
            <a:avLst/>
            <a:gdLst/>
            <a:ahLst/>
            <a:cxnLst/>
            <a:rect l="0" t="0" r="r" b="b"/>
            <a:pathLst>
              <a:path w="4127500" h="812800">
                <a:moveTo>
                  <a:pt x="127000" y="0"/>
                </a:moveTo>
                <a:lnTo>
                  <a:pt x="4000500" y="0"/>
                </a:lnTo>
                <a:cubicBezTo>
                  <a:pt x="4070667" y="0"/>
                  <a:pt x="4127500" y="56833"/>
                  <a:pt x="4127500" y="127000"/>
                </a:cubicBezTo>
                <a:lnTo>
                  <a:pt x="4127500" y="685800"/>
                </a:lnTo>
                <a:cubicBezTo>
                  <a:pt x="4127500" y="755967"/>
                  <a:pt x="4070667" y="812800"/>
                  <a:pt x="4000500" y="812800"/>
                </a:cubicBezTo>
                <a:lnTo>
                  <a:pt x="127000" y="812800"/>
                </a:lnTo>
                <a:cubicBezTo>
                  <a:pt x="56833" y="812800"/>
                  <a:pt x="0" y="755967"/>
                  <a:pt x="0" y="6858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zb-3"/>
          <p:cNvSpPr/>
          <p:nvPr/>
        </p:nvSpPr>
        <p:spPr>
          <a:xfrm>
            <a:off x="7112000" y="4140200"/>
            <a:ext cx="38100" cy="812800"/>
          </a:xfrm>
          <a:custGeom>
            <a:avLst/>
            <a:gdLst/>
            <a:ahLst/>
            <a:cxnLst/>
            <a:rect l="0" t="0" r="r" b="b"/>
            <a:pathLst>
              <a:path w="38100" h="8128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793750"/>
                </a:lnTo>
                <a:cubicBezTo>
                  <a:pt x="38100" y="804291"/>
                  <a:pt x="29591" y="812800"/>
                  <a:pt x="19050" y="812800"/>
                </a:cubicBezTo>
                <a:lnTo>
                  <a:pt x="19050" y="812800"/>
                </a:lnTo>
                <a:cubicBezTo>
                  <a:pt x="8509" y="812800"/>
                  <a:pt x="0" y="804291"/>
                  <a:pt x="0" y="7937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8FA6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zn-3"/>
          <p:cNvSpPr txBox="1"/>
          <p:nvPr/>
        </p:nvSpPr>
        <p:spPr>
          <a:xfrm>
            <a:off x="7284974" y="4264628"/>
            <a:ext cx="7664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凌晨低谷</a:t>
            </a:r>
          </a:p>
        </p:txBody>
      </p:sp>
      <p:sp>
        <p:nvSpPr>
          <p:cNvPr id="73" name="zt-3"/>
          <p:cNvSpPr txBox="1"/>
          <p:nvPr/>
        </p:nvSpPr>
        <p:spPr>
          <a:xfrm>
            <a:off x="7291070" y="4555966"/>
            <a:ext cx="8515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1–6 时 · 6 小时</a:t>
            </a:r>
          </a:p>
        </p:txBody>
      </p:sp>
      <p:sp>
        <p:nvSpPr>
          <p:cNvPr id="74" name="zt0-3"/>
          <p:cNvSpPr/>
          <p:nvPr/>
        </p:nvSpPr>
        <p:spPr>
          <a:xfrm>
            <a:off x="8699500" y="4495800"/>
            <a:ext cx="1587500" cy="101600"/>
          </a:xfrm>
          <a:custGeom>
            <a:avLst/>
            <a:gdLst/>
            <a:ahLst/>
            <a:cxnLst/>
            <a:rect l="0" t="0" r="r" b="b"/>
            <a:pathLst>
              <a:path w="1587500" h="101600">
                <a:moveTo>
                  <a:pt x="50800" y="0"/>
                </a:moveTo>
                <a:lnTo>
                  <a:pt x="1536700" y="0"/>
                </a:lnTo>
                <a:cubicBezTo>
                  <a:pt x="1564767" y="0"/>
                  <a:pt x="1587500" y="22733"/>
                  <a:pt x="1587500" y="50800"/>
                </a:cubicBezTo>
                <a:lnTo>
                  <a:pt x="1587500" y="50800"/>
                </a:lnTo>
                <a:cubicBezTo>
                  <a:pt x="1587500" y="78867"/>
                  <a:pt x="1564767" y="101600"/>
                  <a:pt x="1536700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E3EB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zt1-3"/>
          <p:cNvSpPr/>
          <p:nvPr/>
        </p:nvSpPr>
        <p:spPr>
          <a:xfrm>
            <a:off x="8699500" y="4495800"/>
            <a:ext cx="152019" cy="101600"/>
          </a:xfrm>
          <a:custGeom>
            <a:avLst/>
            <a:gdLst/>
            <a:ahLst/>
            <a:cxnLst/>
            <a:rect l="0" t="0" r="r" b="b"/>
            <a:pathLst>
              <a:path w="152019" h="101600">
                <a:moveTo>
                  <a:pt x="50800" y="0"/>
                </a:moveTo>
                <a:lnTo>
                  <a:pt x="101219" y="0"/>
                </a:lnTo>
                <a:cubicBezTo>
                  <a:pt x="129286" y="0"/>
                  <a:pt x="152019" y="22733"/>
                  <a:pt x="152019" y="50800"/>
                </a:cubicBezTo>
                <a:lnTo>
                  <a:pt x="152019" y="50800"/>
                </a:lnTo>
                <a:cubicBezTo>
                  <a:pt x="152019" y="78867"/>
                  <a:pt x="129286" y="101600"/>
                  <a:pt x="101219" y="101600"/>
                </a:cubicBezTo>
                <a:lnTo>
                  <a:pt x="50800" y="101600"/>
                </a:lnTo>
                <a:cubicBezTo>
                  <a:pt x="22733" y="101600"/>
                  <a:pt x="0" y="78867"/>
                  <a:pt x="0" y="50800"/>
                </a:cubicBezTo>
                <a:lnTo>
                  <a:pt x="0" y="50800"/>
                </a:lnTo>
                <a:cubicBezTo>
                  <a:pt x="0" y="22733"/>
                  <a:pt x="22733" y="0"/>
                  <a:pt x="50800" y="0"/>
                </a:cubicBezTo>
                <a:close/>
              </a:path>
            </a:pathLst>
          </a:custGeom>
          <a:solidFill>
            <a:srgbClr val="8FA6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zv-3"/>
          <p:cNvSpPr txBox="1"/>
          <p:nvPr/>
        </p:nvSpPr>
        <p:spPr>
          <a:xfrm>
            <a:off x="10566400" y="4321810"/>
            <a:ext cx="51308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00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4%</a:t>
            </a:r>
          </a:p>
        </p:txBody>
      </p:sp>
      <p:sp>
        <p:nvSpPr>
          <p:cNvPr id="77" name="sum"/>
          <p:cNvSpPr/>
          <p:nvPr/>
        </p:nvSpPr>
        <p:spPr>
          <a:xfrm>
            <a:off x="7112000" y="5219700"/>
            <a:ext cx="4127500" cy="609600"/>
          </a:xfrm>
          <a:custGeom>
            <a:avLst/>
            <a:gdLst/>
            <a:ahLst/>
            <a:cxnLst/>
            <a:rect l="0" t="0" r="r" b="b"/>
            <a:pathLst>
              <a:path w="4127500" h="609600">
                <a:moveTo>
                  <a:pt x="114300" y="0"/>
                </a:moveTo>
                <a:lnTo>
                  <a:pt x="4013200" y="0"/>
                </a:lnTo>
                <a:cubicBezTo>
                  <a:pt x="4076319" y="0"/>
                  <a:pt x="4127500" y="51181"/>
                  <a:pt x="4127500" y="114300"/>
                </a:cubicBezTo>
                <a:lnTo>
                  <a:pt x="4127500" y="495300"/>
                </a:lnTo>
                <a:cubicBezTo>
                  <a:pt x="4127500" y="558419"/>
                  <a:pt x="4076319" y="609600"/>
                  <a:pt x="4013200" y="609600"/>
                </a:cubicBezTo>
                <a:lnTo>
                  <a:pt x="114300" y="609600"/>
                </a:lnTo>
                <a:cubicBezTo>
                  <a:pt x="51181" y="609600"/>
                  <a:pt x="0" y="558419"/>
                  <a:pt x="0" y="495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sum-bar"/>
          <p:cNvSpPr/>
          <p:nvPr/>
        </p:nvSpPr>
        <p:spPr>
          <a:xfrm>
            <a:off x="7112000" y="5219700"/>
            <a:ext cx="31750" cy="6096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sum-h"/>
          <p:cNvSpPr txBox="1"/>
          <p:nvPr/>
        </p:nvSpPr>
        <p:spPr>
          <a:xfrm>
            <a:off x="7289546" y="53403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排班建议</a:t>
            </a:r>
          </a:p>
        </p:txBody>
      </p:sp>
      <p:sp>
        <p:nvSpPr>
          <p:cNvPr id="80" name="sum-p"/>
          <p:cNvSpPr txBox="1"/>
          <p:nvPr/>
        </p:nvSpPr>
        <p:spPr>
          <a:xfrm>
            <a:off x="7289165" y="5552361"/>
            <a:ext cx="267493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客服与仓配 60% 人力排在 11–13 时和 19–22 时</a:t>
            </a:r>
          </a:p>
        </p:txBody>
      </p:sp>
      <p:cxnSp>
        <p:nvCxnSpPr>
          <p:cNvPr id="81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foot-l"/>
          <p:cNvSpPr txBox="1"/>
          <p:nvPr/>
        </p:nvSpPr>
        <p:spPr>
          <a:xfrm>
            <a:off x="573532" y="6532308"/>
            <a:ext cx="155892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24 小时环形柱 · 近 30 天日均</a:t>
            </a:r>
          </a:p>
        </p:txBody>
      </p:sp>
      <p:sp>
        <p:nvSpPr>
          <p:cNvPr id="83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五大仓库容量水位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71907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LIQUID FILL GAUGES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541385" y="673132"/>
            <a:ext cx="307936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水位超过 85% 警戒线就要调拨——华东、华中已经漫过红线</a:t>
            </a:r>
          </a:p>
        </p:txBody>
      </p:sp>
      <p:sp>
        <p:nvSpPr>
          <p:cNvPr id="10" name="tank-1"/>
          <p:cNvSpPr/>
          <p:nvPr/>
        </p:nvSpPr>
        <p:spPr>
          <a:xfrm>
            <a:off x="1377950" y="1524000"/>
            <a:ext cx="1206500" cy="3048000"/>
          </a:xfrm>
          <a:custGeom>
            <a:avLst/>
            <a:gdLst/>
            <a:ahLst/>
            <a:cxnLst/>
            <a:rect l="0" t="0" r="r" b="b"/>
            <a:pathLst>
              <a:path w="1206500" h="3048000">
                <a:moveTo>
                  <a:pt x="279400" y="0"/>
                </a:moveTo>
                <a:lnTo>
                  <a:pt x="927100" y="0"/>
                </a:lnTo>
                <a:cubicBezTo>
                  <a:pt x="1081405" y="0"/>
                  <a:pt x="1206500" y="125095"/>
                  <a:pt x="1206500" y="279400"/>
                </a:cubicBezTo>
                <a:lnTo>
                  <a:pt x="1206500" y="2768600"/>
                </a:lnTo>
                <a:cubicBezTo>
                  <a:pt x="1206500" y="2922905"/>
                  <a:pt x="1081405" y="3048000"/>
                  <a:pt x="927100" y="3048000"/>
                </a:cubicBezTo>
                <a:lnTo>
                  <a:pt x="279400" y="3048000"/>
                </a:lnTo>
                <a:cubicBezTo>
                  <a:pt x="125095" y="3048000"/>
                  <a:pt x="0" y="2922905"/>
                  <a:pt x="0" y="2768600"/>
                </a:cubicBezTo>
                <a:lnTo>
                  <a:pt x="0" y="279400"/>
                </a:lnTo>
                <a:cubicBezTo>
                  <a:pt x="0" y="125095"/>
                  <a:pt x="125095" y="0"/>
                  <a:pt x="2794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in-1"/>
          <p:cNvSpPr/>
          <p:nvPr/>
        </p:nvSpPr>
        <p:spPr>
          <a:xfrm>
            <a:off x="1441450" y="1587500"/>
            <a:ext cx="1079500" cy="2921000"/>
          </a:xfrm>
          <a:custGeom>
            <a:avLst/>
            <a:gdLst/>
            <a:ahLst/>
            <a:cxnLst/>
            <a:rect l="0" t="0" r="r" b="b"/>
            <a:pathLst>
              <a:path w="1079500" h="2921000">
                <a:moveTo>
                  <a:pt x="228600" y="0"/>
                </a:moveTo>
                <a:lnTo>
                  <a:pt x="850900" y="0"/>
                </a:lnTo>
                <a:cubicBezTo>
                  <a:pt x="977138" y="0"/>
                  <a:pt x="1079500" y="102362"/>
                  <a:pt x="1079500" y="228600"/>
                </a:cubicBezTo>
                <a:lnTo>
                  <a:pt x="1079500" y="2692400"/>
                </a:lnTo>
                <a:cubicBezTo>
                  <a:pt x="1079500" y="2818638"/>
                  <a:pt x="977138" y="2921000"/>
                  <a:pt x="850900" y="2921000"/>
                </a:cubicBezTo>
                <a:lnTo>
                  <a:pt x="228600" y="2921000"/>
                </a:lnTo>
                <a:cubicBezTo>
                  <a:pt x="102362" y="2921000"/>
                  <a:pt x="0" y="2818638"/>
                  <a:pt x="0" y="2692400"/>
                </a:cubicBezTo>
                <a:lnTo>
                  <a:pt x="0" y="228600"/>
                </a:lnTo>
                <a:cubicBezTo>
                  <a:pt x="0" y="102362"/>
                  <a:pt x="102362" y="0"/>
                  <a:pt x="228600" y="0"/>
                </a:cubicBezTo>
                <a:close/>
              </a:path>
            </a:pathLst>
          </a:custGeom>
          <a:solidFill>
            <a:srgbClr val="E8EF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liq-1"/>
          <p:cNvSpPr/>
          <p:nvPr/>
        </p:nvSpPr>
        <p:spPr>
          <a:xfrm>
            <a:off x="1441450" y="1799414"/>
            <a:ext cx="1079500" cy="2709086"/>
          </a:xfrm>
          <a:custGeom>
            <a:avLst/>
            <a:gdLst/>
            <a:ahLst/>
            <a:cxnLst/>
            <a:rect l="0" t="0" r="r" b="b"/>
            <a:pathLst>
              <a:path w="1079500" h="2709086">
                <a:moveTo>
                  <a:pt x="0" y="21766"/>
                </a:moveTo>
                <a:cubicBezTo>
                  <a:pt x="269875" y="-54434"/>
                  <a:pt x="377825" y="97966"/>
                  <a:pt x="647700" y="21766"/>
                </a:cubicBezTo>
                <a:cubicBezTo>
                  <a:pt x="863600" y="-41734"/>
                  <a:pt x="971550" y="59866"/>
                  <a:pt x="1079500" y="21766"/>
                </a:cubicBezTo>
                <a:lnTo>
                  <a:pt x="1079500" y="2480486"/>
                </a:lnTo>
                <a:cubicBezTo>
                  <a:pt x="1079500" y="2606742"/>
                  <a:pt x="977156" y="2709086"/>
                  <a:pt x="850900" y="2709086"/>
                </a:cubicBezTo>
                <a:lnTo>
                  <a:pt x="228600" y="2709086"/>
                </a:lnTo>
                <a:cubicBezTo>
                  <a:pt x="102344" y="2709086"/>
                  <a:pt x="0" y="2606742"/>
                  <a:pt x="0" y="2480486"/>
                </a:cubicBezTo>
                <a:close/>
              </a:path>
            </a:pathLst>
          </a:custGeom>
          <a:gradFill rotWithShape="1">
            <a:gsLst>
              <a:gs pos="0">
                <a:srgbClr val="E8946B"/>
              </a:gs>
              <a:gs pos="100000">
                <a:srgbClr val="E0703A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liq-hl-1"/>
          <p:cNvSpPr/>
          <p:nvPr/>
        </p:nvSpPr>
        <p:spPr>
          <a:xfrm>
            <a:off x="1504950" y="1960880"/>
            <a:ext cx="952500" cy="27186"/>
          </a:xfrm>
          <a:custGeom>
            <a:avLst/>
            <a:gdLst/>
            <a:ahLst/>
            <a:cxnLst/>
            <a:rect l="0" t="0" r="r" b="b"/>
            <a:pathLst>
              <a:path w="952500" h="27186">
                <a:moveTo>
                  <a:pt x="0" y="25400"/>
                </a:moveTo>
                <a:cubicBezTo>
                  <a:pt x="260350" y="-38100"/>
                  <a:pt x="476250" y="76200"/>
                  <a:pt x="952500" y="0"/>
                </a:cubicBezTo>
              </a:path>
            </a:pathLst>
          </a:custGeom>
          <a:noFill/>
          <a:ln w="12700" cap="rnd">
            <a:solidFill>
              <a:srgbClr val="FFFFFF">
                <a:alpha val="4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v-1"/>
          <p:cNvSpPr txBox="1"/>
          <p:nvPr/>
        </p:nvSpPr>
        <p:spPr>
          <a:xfrm>
            <a:off x="1669923" y="2094674"/>
            <a:ext cx="622554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9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92%</a:t>
            </a:r>
          </a:p>
        </p:txBody>
      </p:sp>
      <p:sp>
        <p:nvSpPr>
          <p:cNvPr id="15" name="vu-1"/>
          <p:cNvSpPr txBox="1"/>
          <p:nvPr/>
        </p:nvSpPr>
        <p:spPr>
          <a:xfrm>
            <a:off x="1709738" y="2490946"/>
            <a:ext cx="5429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EAF1FA"/>
                </a:solidFill>
                <a:latin typeface="微软雅黑"/>
                <a:ea typeface="微软雅黑"/>
                <a:cs typeface="微软雅黑"/>
              </a:rPr>
              <a:t>11.0 万方</a:t>
            </a:r>
          </a:p>
        </p:txBody>
      </p:sp>
      <p:sp>
        <p:nvSpPr>
          <p:cNvPr id="16" name="n-1"/>
          <p:cNvSpPr txBox="1"/>
          <p:nvPr/>
        </p:nvSpPr>
        <p:spPr>
          <a:xfrm>
            <a:off x="1643062" y="4718844"/>
            <a:ext cx="6762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华东仓</a:t>
            </a:r>
          </a:p>
        </p:txBody>
      </p:sp>
      <p:sp>
        <p:nvSpPr>
          <p:cNvPr id="17" name="nc-1"/>
          <p:cNvSpPr txBox="1"/>
          <p:nvPr/>
        </p:nvSpPr>
        <p:spPr>
          <a:xfrm>
            <a:off x="1629823" y="4996545"/>
            <a:ext cx="702754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容量 12 万方</a:t>
            </a:r>
          </a:p>
        </p:txBody>
      </p:sp>
      <p:sp>
        <p:nvSpPr>
          <p:cNvPr id="18" name="al-1"/>
          <p:cNvSpPr/>
          <p:nvPr/>
        </p:nvSpPr>
        <p:spPr>
          <a:xfrm>
            <a:off x="1701800" y="1257300"/>
            <a:ext cx="558800" cy="190500"/>
          </a:xfrm>
          <a:custGeom>
            <a:avLst/>
            <a:gdLst/>
            <a:ahLst/>
            <a:cxnLst/>
            <a:rect l="0" t="0" r="r" b="b"/>
            <a:pathLst>
              <a:path w="558800" h="190500">
                <a:moveTo>
                  <a:pt x="95250" y="0"/>
                </a:moveTo>
                <a:lnTo>
                  <a:pt x="463550" y="0"/>
                </a:lnTo>
                <a:cubicBezTo>
                  <a:pt x="516128" y="0"/>
                  <a:pt x="558800" y="42672"/>
                  <a:pt x="558800" y="95250"/>
                </a:cubicBezTo>
                <a:lnTo>
                  <a:pt x="558800" y="95250"/>
                </a:lnTo>
                <a:cubicBezTo>
                  <a:pt x="558800" y="147828"/>
                  <a:pt x="516128" y="190500"/>
                  <a:pt x="4635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alt-1"/>
          <p:cNvSpPr txBox="1"/>
          <p:nvPr/>
        </p:nvSpPr>
        <p:spPr>
          <a:xfrm>
            <a:off x="1807845" y="1280858"/>
            <a:ext cx="3467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需调拨</a:t>
            </a:r>
          </a:p>
        </p:txBody>
      </p:sp>
      <p:sp>
        <p:nvSpPr>
          <p:cNvPr id="20" name="tank-2"/>
          <p:cNvSpPr/>
          <p:nvPr/>
        </p:nvSpPr>
        <p:spPr>
          <a:xfrm>
            <a:off x="3435350" y="1524000"/>
            <a:ext cx="1206500" cy="3048000"/>
          </a:xfrm>
          <a:custGeom>
            <a:avLst/>
            <a:gdLst/>
            <a:ahLst/>
            <a:cxnLst/>
            <a:rect l="0" t="0" r="r" b="b"/>
            <a:pathLst>
              <a:path w="1206500" h="3048000">
                <a:moveTo>
                  <a:pt x="279400" y="0"/>
                </a:moveTo>
                <a:lnTo>
                  <a:pt x="927100" y="0"/>
                </a:lnTo>
                <a:cubicBezTo>
                  <a:pt x="1081405" y="0"/>
                  <a:pt x="1206500" y="125095"/>
                  <a:pt x="1206500" y="279400"/>
                </a:cubicBezTo>
                <a:lnTo>
                  <a:pt x="1206500" y="2768600"/>
                </a:lnTo>
                <a:cubicBezTo>
                  <a:pt x="1206500" y="2922905"/>
                  <a:pt x="1081405" y="3048000"/>
                  <a:pt x="927100" y="3048000"/>
                </a:cubicBezTo>
                <a:lnTo>
                  <a:pt x="279400" y="3048000"/>
                </a:lnTo>
                <a:cubicBezTo>
                  <a:pt x="125095" y="3048000"/>
                  <a:pt x="0" y="2922905"/>
                  <a:pt x="0" y="2768600"/>
                </a:cubicBezTo>
                <a:lnTo>
                  <a:pt x="0" y="279400"/>
                </a:lnTo>
                <a:cubicBezTo>
                  <a:pt x="0" y="125095"/>
                  <a:pt x="125095" y="0"/>
                  <a:pt x="2794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in-2"/>
          <p:cNvSpPr/>
          <p:nvPr/>
        </p:nvSpPr>
        <p:spPr>
          <a:xfrm>
            <a:off x="3498850" y="1587500"/>
            <a:ext cx="1079500" cy="2921000"/>
          </a:xfrm>
          <a:custGeom>
            <a:avLst/>
            <a:gdLst/>
            <a:ahLst/>
            <a:cxnLst/>
            <a:rect l="0" t="0" r="r" b="b"/>
            <a:pathLst>
              <a:path w="1079500" h="2921000">
                <a:moveTo>
                  <a:pt x="228600" y="0"/>
                </a:moveTo>
                <a:lnTo>
                  <a:pt x="850900" y="0"/>
                </a:lnTo>
                <a:cubicBezTo>
                  <a:pt x="977138" y="0"/>
                  <a:pt x="1079500" y="102362"/>
                  <a:pt x="1079500" y="228600"/>
                </a:cubicBezTo>
                <a:lnTo>
                  <a:pt x="1079500" y="2692400"/>
                </a:lnTo>
                <a:cubicBezTo>
                  <a:pt x="1079500" y="2818638"/>
                  <a:pt x="977138" y="2921000"/>
                  <a:pt x="850900" y="2921000"/>
                </a:cubicBezTo>
                <a:lnTo>
                  <a:pt x="228600" y="2921000"/>
                </a:lnTo>
                <a:cubicBezTo>
                  <a:pt x="102362" y="2921000"/>
                  <a:pt x="0" y="2818638"/>
                  <a:pt x="0" y="2692400"/>
                </a:cubicBezTo>
                <a:lnTo>
                  <a:pt x="0" y="228600"/>
                </a:lnTo>
                <a:cubicBezTo>
                  <a:pt x="0" y="102362"/>
                  <a:pt x="102362" y="0"/>
                  <a:pt x="228600" y="0"/>
                </a:cubicBezTo>
                <a:close/>
              </a:path>
            </a:pathLst>
          </a:custGeom>
          <a:solidFill>
            <a:srgbClr val="E8EF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liq-2"/>
          <p:cNvSpPr/>
          <p:nvPr/>
        </p:nvSpPr>
        <p:spPr>
          <a:xfrm>
            <a:off x="3498850" y="1916254"/>
            <a:ext cx="1079500" cy="2592246"/>
          </a:xfrm>
          <a:custGeom>
            <a:avLst/>
            <a:gdLst/>
            <a:ahLst/>
            <a:cxnLst/>
            <a:rect l="0" t="0" r="r" b="b"/>
            <a:pathLst>
              <a:path w="1079500" h="2592246">
                <a:moveTo>
                  <a:pt x="0" y="21766"/>
                </a:moveTo>
                <a:cubicBezTo>
                  <a:pt x="269875" y="-54434"/>
                  <a:pt x="377825" y="97966"/>
                  <a:pt x="647700" y="21766"/>
                </a:cubicBezTo>
                <a:cubicBezTo>
                  <a:pt x="863600" y="-41734"/>
                  <a:pt x="971550" y="59866"/>
                  <a:pt x="1079500" y="21766"/>
                </a:cubicBezTo>
                <a:lnTo>
                  <a:pt x="1079500" y="2363646"/>
                </a:lnTo>
                <a:cubicBezTo>
                  <a:pt x="1079500" y="2489902"/>
                  <a:pt x="977156" y="2592246"/>
                  <a:pt x="850900" y="2592246"/>
                </a:cubicBezTo>
                <a:lnTo>
                  <a:pt x="228600" y="2592246"/>
                </a:lnTo>
                <a:cubicBezTo>
                  <a:pt x="102344" y="2592246"/>
                  <a:pt x="0" y="2489902"/>
                  <a:pt x="0" y="2363646"/>
                </a:cubicBezTo>
                <a:close/>
              </a:path>
            </a:pathLst>
          </a:custGeom>
          <a:gradFill rotWithShape="1">
            <a:gsLst>
              <a:gs pos="0">
                <a:srgbClr val="E8946B"/>
              </a:gs>
              <a:gs pos="100000">
                <a:srgbClr val="E0703A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liq-hl-2"/>
          <p:cNvSpPr/>
          <p:nvPr/>
        </p:nvSpPr>
        <p:spPr>
          <a:xfrm>
            <a:off x="3562350" y="2077720"/>
            <a:ext cx="952500" cy="27186"/>
          </a:xfrm>
          <a:custGeom>
            <a:avLst/>
            <a:gdLst/>
            <a:ahLst/>
            <a:cxnLst/>
            <a:rect l="0" t="0" r="r" b="b"/>
            <a:pathLst>
              <a:path w="952500" h="27186">
                <a:moveTo>
                  <a:pt x="0" y="25400"/>
                </a:moveTo>
                <a:cubicBezTo>
                  <a:pt x="260350" y="-38100"/>
                  <a:pt x="476250" y="76200"/>
                  <a:pt x="952500" y="0"/>
                </a:cubicBezTo>
              </a:path>
            </a:pathLst>
          </a:custGeom>
          <a:noFill/>
          <a:ln w="12700" cap="rnd">
            <a:solidFill>
              <a:srgbClr val="FFFFFF">
                <a:alpha val="4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v-2"/>
          <p:cNvSpPr txBox="1"/>
          <p:nvPr/>
        </p:nvSpPr>
        <p:spPr>
          <a:xfrm>
            <a:off x="3727323" y="2211514"/>
            <a:ext cx="622554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9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88%</a:t>
            </a:r>
          </a:p>
        </p:txBody>
      </p:sp>
      <p:sp>
        <p:nvSpPr>
          <p:cNvPr id="25" name="vu-2"/>
          <p:cNvSpPr txBox="1"/>
          <p:nvPr/>
        </p:nvSpPr>
        <p:spPr>
          <a:xfrm>
            <a:off x="3793808" y="2607786"/>
            <a:ext cx="4895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EAF1FA"/>
                </a:solidFill>
                <a:latin typeface="微软雅黑"/>
                <a:ea typeface="微软雅黑"/>
                <a:cs typeface="微软雅黑"/>
              </a:rPr>
              <a:t>7.0 万方</a:t>
            </a:r>
          </a:p>
        </p:txBody>
      </p:sp>
      <p:sp>
        <p:nvSpPr>
          <p:cNvPr id="26" name="n-2"/>
          <p:cNvSpPr txBox="1"/>
          <p:nvPr/>
        </p:nvSpPr>
        <p:spPr>
          <a:xfrm>
            <a:off x="3700462" y="4718844"/>
            <a:ext cx="6762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华中仓</a:t>
            </a:r>
          </a:p>
        </p:txBody>
      </p:sp>
      <p:sp>
        <p:nvSpPr>
          <p:cNvPr id="27" name="nc-2"/>
          <p:cNvSpPr txBox="1"/>
          <p:nvPr/>
        </p:nvSpPr>
        <p:spPr>
          <a:xfrm>
            <a:off x="3714782" y="4996545"/>
            <a:ext cx="647636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容量 8 万方</a:t>
            </a:r>
          </a:p>
        </p:txBody>
      </p:sp>
      <p:sp>
        <p:nvSpPr>
          <p:cNvPr id="28" name="al-2"/>
          <p:cNvSpPr/>
          <p:nvPr/>
        </p:nvSpPr>
        <p:spPr>
          <a:xfrm>
            <a:off x="3759200" y="1257300"/>
            <a:ext cx="558800" cy="190500"/>
          </a:xfrm>
          <a:custGeom>
            <a:avLst/>
            <a:gdLst/>
            <a:ahLst/>
            <a:cxnLst/>
            <a:rect l="0" t="0" r="r" b="b"/>
            <a:pathLst>
              <a:path w="558800" h="190500">
                <a:moveTo>
                  <a:pt x="95250" y="0"/>
                </a:moveTo>
                <a:lnTo>
                  <a:pt x="463550" y="0"/>
                </a:lnTo>
                <a:cubicBezTo>
                  <a:pt x="516128" y="0"/>
                  <a:pt x="558800" y="42672"/>
                  <a:pt x="558800" y="95250"/>
                </a:cubicBezTo>
                <a:lnTo>
                  <a:pt x="558800" y="95250"/>
                </a:lnTo>
                <a:cubicBezTo>
                  <a:pt x="558800" y="147828"/>
                  <a:pt x="516128" y="190500"/>
                  <a:pt x="4635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alt-2"/>
          <p:cNvSpPr txBox="1"/>
          <p:nvPr/>
        </p:nvSpPr>
        <p:spPr>
          <a:xfrm>
            <a:off x="3865245" y="1280858"/>
            <a:ext cx="3467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需调拨</a:t>
            </a:r>
          </a:p>
        </p:txBody>
      </p:sp>
      <p:sp>
        <p:nvSpPr>
          <p:cNvPr id="30" name="tank-3"/>
          <p:cNvSpPr/>
          <p:nvPr/>
        </p:nvSpPr>
        <p:spPr>
          <a:xfrm>
            <a:off x="5492750" y="1524000"/>
            <a:ext cx="1206500" cy="3048000"/>
          </a:xfrm>
          <a:custGeom>
            <a:avLst/>
            <a:gdLst/>
            <a:ahLst/>
            <a:cxnLst/>
            <a:rect l="0" t="0" r="r" b="b"/>
            <a:pathLst>
              <a:path w="1206500" h="3048000">
                <a:moveTo>
                  <a:pt x="279400" y="0"/>
                </a:moveTo>
                <a:lnTo>
                  <a:pt x="927100" y="0"/>
                </a:lnTo>
                <a:cubicBezTo>
                  <a:pt x="1081405" y="0"/>
                  <a:pt x="1206500" y="125095"/>
                  <a:pt x="1206500" y="279400"/>
                </a:cubicBezTo>
                <a:lnTo>
                  <a:pt x="1206500" y="2768600"/>
                </a:lnTo>
                <a:cubicBezTo>
                  <a:pt x="1206500" y="2922905"/>
                  <a:pt x="1081405" y="3048000"/>
                  <a:pt x="927100" y="3048000"/>
                </a:cubicBezTo>
                <a:lnTo>
                  <a:pt x="279400" y="3048000"/>
                </a:lnTo>
                <a:cubicBezTo>
                  <a:pt x="125095" y="3048000"/>
                  <a:pt x="0" y="2922905"/>
                  <a:pt x="0" y="2768600"/>
                </a:cubicBezTo>
                <a:lnTo>
                  <a:pt x="0" y="279400"/>
                </a:lnTo>
                <a:cubicBezTo>
                  <a:pt x="0" y="125095"/>
                  <a:pt x="125095" y="0"/>
                  <a:pt x="2794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in-3"/>
          <p:cNvSpPr/>
          <p:nvPr/>
        </p:nvSpPr>
        <p:spPr>
          <a:xfrm>
            <a:off x="5556250" y="1587500"/>
            <a:ext cx="1079500" cy="2921000"/>
          </a:xfrm>
          <a:custGeom>
            <a:avLst/>
            <a:gdLst/>
            <a:ahLst/>
            <a:cxnLst/>
            <a:rect l="0" t="0" r="r" b="b"/>
            <a:pathLst>
              <a:path w="1079500" h="2921000">
                <a:moveTo>
                  <a:pt x="228600" y="0"/>
                </a:moveTo>
                <a:lnTo>
                  <a:pt x="850900" y="0"/>
                </a:lnTo>
                <a:cubicBezTo>
                  <a:pt x="977138" y="0"/>
                  <a:pt x="1079500" y="102362"/>
                  <a:pt x="1079500" y="228600"/>
                </a:cubicBezTo>
                <a:lnTo>
                  <a:pt x="1079500" y="2692400"/>
                </a:lnTo>
                <a:cubicBezTo>
                  <a:pt x="1079500" y="2818638"/>
                  <a:pt x="977138" y="2921000"/>
                  <a:pt x="850900" y="2921000"/>
                </a:cubicBezTo>
                <a:lnTo>
                  <a:pt x="228600" y="2921000"/>
                </a:lnTo>
                <a:cubicBezTo>
                  <a:pt x="102362" y="2921000"/>
                  <a:pt x="0" y="2818638"/>
                  <a:pt x="0" y="2692400"/>
                </a:cubicBezTo>
                <a:lnTo>
                  <a:pt x="0" y="228600"/>
                </a:lnTo>
                <a:cubicBezTo>
                  <a:pt x="0" y="102362"/>
                  <a:pt x="102362" y="0"/>
                  <a:pt x="228600" y="0"/>
                </a:cubicBezTo>
                <a:close/>
              </a:path>
            </a:pathLst>
          </a:custGeom>
          <a:solidFill>
            <a:srgbClr val="E8EF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liq-3"/>
          <p:cNvSpPr/>
          <p:nvPr/>
        </p:nvSpPr>
        <p:spPr>
          <a:xfrm>
            <a:off x="5556250" y="2208354"/>
            <a:ext cx="1079500" cy="2300146"/>
          </a:xfrm>
          <a:custGeom>
            <a:avLst/>
            <a:gdLst/>
            <a:ahLst/>
            <a:cxnLst/>
            <a:rect l="0" t="0" r="r" b="b"/>
            <a:pathLst>
              <a:path w="1079500" h="2300146">
                <a:moveTo>
                  <a:pt x="0" y="21766"/>
                </a:moveTo>
                <a:cubicBezTo>
                  <a:pt x="269875" y="-54434"/>
                  <a:pt x="377825" y="97966"/>
                  <a:pt x="647700" y="21766"/>
                </a:cubicBezTo>
                <a:cubicBezTo>
                  <a:pt x="863600" y="-41734"/>
                  <a:pt x="971550" y="59866"/>
                  <a:pt x="1079500" y="21766"/>
                </a:cubicBezTo>
                <a:lnTo>
                  <a:pt x="1079500" y="2071546"/>
                </a:lnTo>
                <a:cubicBezTo>
                  <a:pt x="1079500" y="2197802"/>
                  <a:pt x="977156" y="2300146"/>
                  <a:pt x="850900" y="2300146"/>
                </a:cubicBezTo>
                <a:lnTo>
                  <a:pt x="228600" y="2300146"/>
                </a:lnTo>
                <a:cubicBezTo>
                  <a:pt x="102344" y="2300146"/>
                  <a:pt x="0" y="2197802"/>
                  <a:pt x="0" y="2071546"/>
                </a:cubicBezTo>
                <a:close/>
              </a:path>
            </a:pathLst>
          </a:custGeom>
          <a:gradFill rotWithShape="1">
            <a:gsLst>
              <a:gs pos="0">
                <a:srgbClr val="5B8EC8"/>
              </a:gs>
              <a:gs pos="100000">
                <a:srgbClr val="2468B6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liq-hl-3"/>
          <p:cNvSpPr/>
          <p:nvPr/>
        </p:nvSpPr>
        <p:spPr>
          <a:xfrm>
            <a:off x="5619750" y="2369820"/>
            <a:ext cx="952500" cy="27186"/>
          </a:xfrm>
          <a:custGeom>
            <a:avLst/>
            <a:gdLst/>
            <a:ahLst/>
            <a:cxnLst/>
            <a:rect l="0" t="0" r="r" b="b"/>
            <a:pathLst>
              <a:path w="952500" h="27186">
                <a:moveTo>
                  <a:pt x="0" y="25400"/>
                </a:moveTo>
                <a:cubicBezTo>
                  <a:pt x="260350" y="-38100"/>
                  <a:pt x="476250" y="76200"/>
                  <a:pt x="952500" y="0"/>
                </a:cubicBezTo>
              </a:path>
            </a:pathLst>
          </a:custGeom>
          <a:noFill/>
          <a:ln w="12700" cap="rnd">
            <a:solidFill>
              <a:srgbClr val="FFFFFF">
                <a:alpha val="4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v-3"/>
          <p:cNvSpPr txBox="1"/>
          <p:nvPr/>
        </p:nvSpPr>
        <p:spPr>
          <a:xfrm>
            <a:off x="5784723" y="2503614"/>
            <a:ext cx="622554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9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78%</a:t>
            </a:r>
          </a:p>
        </p:txBody>
      </p:sp>
      <p:sp>
        <p:nvSpPr>
          <p:cNvPr id="35" name="vu-3"/>
          <p:cNvSpPr txBox="1"/>
          <p:nvPr/>
        </p:nvSpPr>
        <p:spPr>
          <a:xfrm>
            <a:off x="5851208" y="2899886"/>
            <a:ext cx="4895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EAF1FA"/>
                </a:solidFill>
                <a:latin typeface="微软雅黑"/>
                <a:ea typeface="微软雅黑"/>
                <a:cs typeface="微软雅黑"/>
              </a:rPr>
              <a:t>7.8 万方</a:t>
            </a:r>
          </a:p>
        </p:txBody>
      </p:sp>
      <p:sp>
        <p:nvSpPr>
          <p:cNvPr id="36" name="n-3"/>
          <p:cNvSpPr txBox="1"/>
          <p:nvPr/>
        </p:nvSpPr>
        <p:spPr>
          <a:xfrm>
            <a:off x="5757862" y="4718844"/>
            <a:ext cx="6762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华南仓</a:t>
            </a:r>
          </a:p>
        </p:txBody>
      </p:sp>
      <p:sp>
        <p:nvSpPr>
          <p:cNvPr id="37" name="nc-3"/>
          <p:cNvSpPr txBox="1"/>
          <p:nvPr/>
        </p:nvSpPr>
        <p:spPr>
          <a:xfrm>
            <a:off x="5744623" y="4996545"/>
            <a:ext cx="702754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容量 10 万方</a:t>
            </a:r>
          </a:p>
        </p:txBody>
      </p:sp>
      <p:sp>
        <p:nvSpPr>
          <p:cNvPr id="38" name="tank-4"/>
          <p:cNvSpPr/>
          <p:nvPr/>
        </p:nvSpPr>
        <p:spPr>
          <a:xfrm>
            <a:off x="7550150" y="1524000"/>
            <a:ext cx="1206500" cy="3048000"/>
          </a:xfrm>
          <a:custGeom>
            <a:avLst/>
            <a:gdLst/>
            <a:ahLst/>
            <a:cxnLst/>
            <a:rect l="0" t="0" r="r" b="b"/>
            <a:pathLst>
              <a:path w="1206500" h="3048000">
                <a:moveTo>
                  <a:pt x="279400" y="0"/>
                </a:moveTo>
                <a:lnTo>
                  <a:pt x="927100" y="0"/>
                </a:lnTo>
                <a:cubicBezTo>
                  <a:pt x="1081405" y="0"/>
                  <a:pt x="1206500" y="125095"/>
                  <a:pt x="1206500" y="279400"/>
                </a:cubicBezTo>
                <a:lnTo>
                  <a:pt x="1206500" y="2768600"/>
                </a:lnTo>
                <a:cubicBezTo>
                  <a:pt x="1206500" y="2922905"/>
                  <a:pt x="1081405" y="3048000"/>
                  <a:pt x="927100" y="3048000"/>
                </a:cubicBezTo>
                <a:lnTo>
                  <a:pt x="279400" y="3048000"/>
                </a:lnTo>
                <a:cubicBezTo>
                  <a:pt x="125095" y="3048000"/>
                  <a:pt x="0" y="2922905"/>
                  <a:pt x="0" y="2768600"/>
                </a:cubicBezTo>
                <a:lnTo>
                  <a:pt x="0" y="279400"/>
                </a:lnTo>
                <a:cubicBezTo>
                  <a:pt x="0" y="125095"/>
                  <a:pt x="125095" y="0"/>
                  <a:pt x="2794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in-4"/>
          <p:cNvSpPr/>
          <p:nvPr/>
        </p:nvSpPr>
        <p:spPr>
          <a:xfrm>
            <a:off x="7613650" y="1587500"/>
            <a:ext cx="1079500" cy="2921000"/>
          </a:xfrm>
          <a:custGeom>
            <a:avLst/>
            <a:gdLst/>
            <a:ahLst/>
            <a:cxnLst/>
            <a:rect l="0" t="0" r="r" b="b"/>
            <a:pathLst>
              <a:path w="1079500" h="2921000">
                <a:moveTo>
                  <a:pt x="228600" y="0"/>
                </a:moveTo>
                <a:lnTo>
                  <a:pt x="850900" y="0"/>
                </a:lnTo>
                <a:cubicBezTo>
                  <a:pt x="977138" y="0"/>
                  <a:pt x="1079500" y="102362"/>
                  <a:pt x="1079500" y="228600"/>
                </a:cubicBezTo>
                <a:lnTo>
                  <a:pt x="1079500" y="2692400"/>
                </a:lnTo>
                <a:cubicBezTo>
                  <a:pt x="1079500" y="2818638"/>
                  <a:pt x="977138" y="2921000"/>
                  <a:pt x="850900" y="2921000"/>
                </a:cubicBezTo>
                <a:lnTo>
                  <a:pt x="228600" y="2921000"/>
                </a:lnTo>
                <a:cubicBezTo>
                  <a:pt x="102362" y="2921000"/>
                  <a:pt x="0" y="2818638"/>
                  <a:pt x="0" y="2692400"/>
                </a:cubicBezTo>
                <a:lnTo>
                  <a:pt x="0" y="228600"/>
                </a:lnTo>
                <a:cubicBezTo>
                  <a:pt x="0" y="102362"/>
                  <a:pt x="102362" y="0"/>
                  <a:pt x="228600" y="0"/>
                </a:cubicBezTo>
                <a:close/>
              </a:path>
            </a:pathLst>
          </a:custGeom>
          <a:solidFill>
            <a:srgbClr val="E8EF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liq-4"/>
          <p:cNvSpPr/>
          <p:nvPr/>
        </p:nvSpPr>
        <p:spPr>
          <a:xfrm>
            <a:off x="7613650" y="2617294"/>
            <a:ext cx="1079500" cy="1891206"/>
          </a:xfrm>
          <a:custGeom>
            <a:avLst/>
            <a:gdLst/>
            <a:ahLst/>
            <a:cxnLst/>
            <a:rect l="0" t="0" r="r" b="b"/>
            <a:pathLst>
              <a:path w="1079500" h="1891206">
                <a:moveTo>
                  <a:pt x="0" y="21766"/>
                </a:moveTo>
                <a:cubicBezTo>
                  <a:pt x="269875" y="-54434"/>
                  <a:pt x="377825" y="97966"/>
                  <a:pt x="647700" y="21766"/>
                </a:cubicBezTo>
                <a:cubicBezTo>
                  <a:pt x="863600" y="-41734"/>
                  <a:pt x="971550" y="59866"/>
                  <a:pt x="1079500" y="21766"/>
                </a:cubicBezTo>
                <a:lnTo>
                  <a:pt x="1079500" y="1662606"/>
                </a:lnTo>
                <a:cubicBezTo>
                  <a:pt x="1079500" y="1788862"/>
                  <a:pt x="977156" y="1891206"/>
                  <a:pt x="850900" y="1891206"/>
                </a:cubicBezTo>
                <a:lnTo>
                  <a:pt x="228600" y="1891206"/>
                </a:lnTo>
                <a:cubicBezTo>
                  <a:pt x="102344" y="1891206"/>
                  <a:pt x="0" y="1788862"/>
                  <a:pt x="0" y="1662606"/>
                </a:cubicBezTo>
                <a:close/>
              </a:path>
            </a:pathLst>
          </a:custGeom>
          <a:gradFill rotWithShape="1">
            <a:gsLst>
              <a:gs pos="0">
                <a:srgbClr val="5B8EC8"/>
              </a:gs>
              <a:gs pos="100000">
                <a:srgbClr val="2468B6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liq-hl-4"/>
          <p:cNvSpPr/>
          <p:nvPr/>
        </p:nvSpPr>
        <p:spPr>
          <a:xfrm>
            <a:off x="7677150" y="2778760"/>
            <a:ext cx="952500" cy="27186"/>
          </a:xfrm>
          <a:custGeom>
            <a:avLst/>
            <a:gdLst/>
            <a:ahLst/>
            <a:cxnLst/>
            <a:rect l="0" t="0" r="r" b="b"/>
            <a:pathLst>
              <a:path w="952500" h="27186">
                <a:moveTo>
                  <a:pt x="0" y="25400"/>
                </a:moveTo>
                <a:cubicBezTo>
                  <a:pt x="260350" y="-38100"/>
                  <a:pt x="476250" y="76200"/>
                  <a:pt x="952500" y="0"/>
                </a:cubicBezTo>
              </a:path>
            </a:pathLst>
          </a:custGeom>
          <a:noFill/>
          <a:ln w="12700" cap="rnd">
            <a:solidFill>
              <a:srgbClr val="FFFFFF">
                <a:alpha val="4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v-4"/>
          <p:cNvSpPr txBox="1"/>
          <p:nvPr/>
        </p:nvSpPr>
        <p:spPr>
          <a:xfrm>
            <a:off x="7842123" y="2912554"/>
            <a:ext cx="622554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9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64%</a:t>
            </a:r>
          </a:p>
        </p:txBody>
      </p:sp>
      <p:sp>
        <p:nvSpPr>
          <p:cNvPr id="43" name="vu-4"/>
          <p:cNvSpPr txBox="1"/>
          <p:nvPr/>
        </p:nvSpPr>
        <p:spPr>
          <a:xfrm>
            <a:off x="7908608" y="3308826"/>
            <a:ext cx="4895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EAF1FA"/>
                </a:solidFill>
                <a:latin typeface="微软雅黑"/>
                <a:ea typeface="微软雅黑"/>
                <a:cs typeface="微软雅黑"/>
              </a:rPr>
              <a:t>5.8 万方</a:t>
            </a:r>
          </a:p>
        </p:txBody>
      </p:sp>
      <p:sp>
        <p:nvSpPr>
          <p:cNvPr id="44" name="n-4"/>
          <p:cNvSpPr txBox="1"/>
          <p:nvPr/>
        </p:nvSpPr>
        <p:spPr>
          <a:xfrm>
            <a:off x="7815262" y="4718844"/>
            <a:ext cx="6762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华北仓</a:t>
            </a:r>
          </a:p>
        </p:txBody>
      </p:sp>
      <p:sp>
        <p:nvSpPr>
          <p:cNvPr id="45" name="nc-4"/>
          <p:cNvSpPr txBox="1"/>
          <p:nvPr/>
        </p:nvSpPr>
        <p:spPr>
          <a:xfrm>
            <a:off x="7829582" y="4996545"/>
            <a:ext cx="647636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容量 9 万方</a:t>
            </a:r>
          </a:p>
        </p:txBody>
      </p:sp>
      <p:sp>
        <p:nvSpPr>
          <p:cNvPr id="46" name="tank-5"/>
          <p:cNvSpPr/>
          <p:nvPr/>
        </p:nvSpPr>
        <p:spPr>
          <a:xfrm>
            <a:off x="9607550" y="1524000"/>
            <a:ext cx="1206500" cy="3048000"/>
          </a:xfrm>
          <a:custGeom>
            <a:avLst/>
            <a:gdLst/>
            <a:ahLst/>
            <a:cxnLst/>
            <a:rect l="0" t="0" r="r" b="b"/>
            <a:pathLst>
              <a:path w="1206500" h="3048000">
                <a:moveTo>
                  <a:pt x="279400" y="0"/>
                </a:moveTo>
                <a:lnTo>
                  <a:pt x="927100" y="0"/>
                </a:lnTo>
                <a:cubicBezTo>
                  <a:pt x="1081405" y="0"/>
                  <a:pt x="1206500" y="125095"/>
                  <a:pt x="1206500" y="279400"/>
                </a:cubicBezTo>
                <a:lnTo>
                  <a:pt x="1206500" y="2768600"/>
                </a:lnTo>
                <a:cubicBezTo>
                  <a:pt x="1206500" y="2922905"/>
                  <a:pt x="1081405" y="3048000"/>
                  <a:pt x="927100" y="3048000"/>
                </a:cubicBezTo>
                <a:lnTo>
                  <a:pt x="279400" y="3048000"/>
                </a:lnTo>
                <a:cubicBezTo>
                  <a:pt x="125095" y="3048000"/>
                  <a:pt x="0" y="2922905"/>
                  <a:pt x="0" y="2768600"/>
                </a:cubicBezTo>
                <a:lnTo>
                  <a:pt x="0" y="279400"/>
                </a:lnTo>
                <a:cubicBezTo>
                  <a:pt x="0" y="125095"/>
                  <a:pt x="125095" y="0"/>
                  <a:pt x="2794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in-5"/>
          <p:cNvSpPr/>
          <p:nvPr/>
        </p:nvSpPr>
        <p:spPr>
          <a:xfrm>
            <a:off x="9671050" y="1587500"/>
            <a:ext cx="1079500" cy="2921000"/>
          </a:xfrm>
          <a:custGeom>
            <a:avLst/>
            <a:gdLst/>
            <a:ahLst/>
            <a:cxnLst/>
            <a:rect l="0" t="0" r="r" b="b"/>
            <a:pathLst>
              <a:path w="1079500" h="2921000">
                <a:moveTo>
                  <a:pt x="228600" y="0"/>
                </a:moveTo>
                <a:lnTo>
                  <a:pt x="850900" y="0"/>
                </a:lnTo>
                <a:cubicBezTo>
                  <a:pt x="977138" y="0"/>
                  <a:pt x="1079500" y="102362"/>
                  <a:pt x="1079500" y="228600"/>
                </a:cubicBezTo>
                <a:lnTo>
                  <a:pt x="1079500" y="2692400"/>
                </a:lnTo>
                <a:cubicBezTo>
                  <a:pt x="1079500" y="2818638"/>
                  <a:pt x="977138" y="2921000"/>
                  <a:pt x="850900" y="2921000"/>
                </a:cubicBezTo>
                <a:lnTo>
                  <a:pt x="228600" y="2921000"/>
                </a:lnTo>
                <a:cubicBezTo>
                  <a:pt x="102362" y="2921000"/>
                  <a:pt x="0" y="2818638"/>
                  <a:pt x="0" y="2692400"/>
                </a:cubicBezTo>
                <a:lnTo>
                  <a:pt x="0" y="228600"/>
                </a:lnTo>
                <a:cubicBezTo>
                  <a:pt x="0" y="102362"/>
                  <a:pt x="102362" y="0"/>
                  <a:pt x="228600" y="0"/>
                </a:cubicBezTo>
                <a:close/>
              </a:path>
            </a:pathLst>
          </a:custGeom>
          <a:solidFill>
            <a:srgbClr val="E8EF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liq-5"/>
          <p:cNvSpPr/>
          <p:nvPr/>
        </p:nvSpPr>
        <p:spPr>
          <a:xfrm>
            <a:off x="9671050" y="3113864"/>
            <a:ext cx="1079500" cy="1394636"/>
          </a:xfrm>
          <a:custGeom>
            <a:avLst/>
            <a:gdLst/>
            <a:ahLst/>
            <a:cxnLst/>
            <a:rect l="0" t="0" r="r" b="b"/>
            <a:pathLst>
              <a:path w="1079500" h="1394636">
                <a:moveTo>
                  <a:pt x="0" y="21766"/>
                </a:moveTo>
                <a:cubicBezTo>
                  <a:pt x="269875" y="-54434"/>
                  <a:pt x="377825" y="97966"/>
                  <a:pt x="647700" y="21766"/>
                </a:cubicBezTo>
                <a:cubicBezTo>
                  <a:pt x="863600" y="-41734"/>
                  <a:pt x="971550" y="59866"/>
                  <a:pt x="1079500" y="21766"/>
                </a:cubicBezTo>
                <a:lnTo>
                  <a:pt x="1079500" y="1166036"/>
                </a:lnTo>
                <a:cubicBezTo>
                  <a:pt x="1079500" y="1292292"/>
                  <a:pt x="977156" y="1394636"/>
                  <a:pt x="850900" y="1394636"/>
                </a:cubicBezTo>
                <a:lnTo>
                  <a:pt x="228600" y="1394636"/>
                </a:lnTo>
                <a:cubicBezTo>
                  <a:pt x="102344" y="1394636"/>
                  <a:pt x="0" y="1292292"/>
                  <a:pt x="0" y="1166036"/>
                </a:cubicBezTo>
                <a:close/>
              </a:path>
            </a:pathLst>
          </a:custGeom>
          <a:gradFill rotWithShape="1">
            <a:gsLst>
              <a:gs pos="0">
                <a:srgbClr val="5B8EC8"/>
              </a:gs>
              <a:gs pos="100000">
                <a:srgbClr val="2468B6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liq-hl-5"/>
          <p:cNvSpPr/>
          <p:nvPr/>
        </p:nvSpPr>
        <p:spPr>
          <a:xfrm>
            <a:off x="9734550" y="3275330"/>
            <a:ext cx="952500" cy="27186"/>
          </a:xfrm>
          <a:custGeom>
            <a:avLst/>
            <a:gdLst/>
            <a:ahLst/>
            <a:cxnLst/>
            <a:rect l="0" t="0" r="r" b="b"/>
            <a:pathLst>
              <a:path w="952500" h="27186">
                <a:moveTo>
                  <a:pt x="0" y="25400"/>
                </a:moveTo>
                <a:cubicBezTo>
                  <a:pt x="260350" y="-38100"/>
                  <a:pt x="476250" y="76200"/>
                  <a:pt x="952500" y="0"/>
                </a:cubicBezTo>
              </a:path>
            </a:pathLst>
          </a:custGeom>
          <a:noFill/>
          <a:ln w="12700" cap="rnd">
            <a:solidFill>
              <a:srgbClr val="FFFFFF">
                <a:alpha val="4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v-5"/>
          <p:cNvSpPr txBox="1"/>
          <p:nvPr/>
        </p:nvSpPr>
        <p:spPr>
          <a:xfrm>
            <a:off x="9899523" y="3409124"/>
            <a:ext cx="622554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9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47%</a:t>
            </a:r>
          </a:p>
        </p:txBody>
      </p:sp>
      <p:sp>
        <p:nvSpPr>
          <p:cNvPr id="51" name="vu-5"/>
          <p:cNvSpPr txBox="1"/>
          <p:nvPr/>
        </p:nvSpPr>
        <p:spPr>
          <a:xfrm>
            <a:off x="9966008" y="3805396"/>
            <a:ext cx="4895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EAF1FA"/>
                </a:solidFill>
                <a:latin typeface="微软雅黑"/>
                <a:ea typeface="微软雅黑"/>
                <a:cs typeface="微软雅黑"/>
              </a:rPr>
              <a:t>3.5 万方</a:t>
            </a:r>
          </a:p>
        </p:txBody>
      </p:sp>
      <p:sp>
        <p:nvSpPr>
          <p:cNvPr id="52" name="n-5"/>
          <p:cNvSpPr txBox="1"/>
          <p:nvPr/>
        </p:nvSpPr>
        <p:spPr>
          <a:xfrm>
            <a:off x="9872662" y="4718844"/>
            <a:ext cx="6762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5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西南仓</a:t>
            </a:r>
          </a:p>
        </p:txBody>
      </p:sp>
      <p:sp>
        <p:nvSpPr>
          <p:cNvPr id="53" name="nc-5"/>
          <p:cNvSpPr txBox="1"/>
          <p:nvPr/>
        </p:nvSpPr>
        <p:spPr>
          <a:xfrm>
            <a:off x="9831864" y="4996545"/>
            <a:ext cx="75787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容量 7.5 万方</a:t>
            </a:r>
          </a:p>
        </p:txBody>
      </p:sp>
      <p:cxnSp>
        <p:nvCxnSpPr>
          <p:cNvPr id="54" name="warn"/>
          <p:cNvCxnSpPr/>
          <p:nvPr/>
        </p:nvCxnSpPr>
        <p:spPr>
          <a:xfrm>
            <a:off x="952500" y="2025650"/>
            <a:ext cx="10287000" cy="0"/>
          </a:xfrm>
          <a:prstGeom prst="line">
            <a:avLst/>
          </a:prstGeom>
          <a:ln w="12700" cap="rnd">
            <a:solidFill>
              <a:srgbClr val="E0703A"/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warn-b"/>
          <p:cNvSpPr/>
          <p:nvPr/>
        </p:nvSpPr>
        <p:spPr>
          <a:xfrm>
            <a:off x="2628900" y="1771650"/>
            <a:ext cx="762000" cy="203200"/>
          </a:xfrm>
          <a:custGeom>
            <a:avLst/>
            <a:gdLst/>
            <a:ahLst/>
            <a:cxnLst/>
            <a:rect l="0" t="0" r="r" b="b"/>
            <a:pathLst>
              <a:path w="762000" h="203200">
                <a:moveTo>
                  <a:pt x="101600" y="0"/>
                </a:moveTo>
                <a:lnTo>
                  <a:pt x="660400" y="0"/>
                </a:lnTo>
                <a:cubicBezTo>
                  <a:pt x="716534" y="0"/>
                  <a:pt x="762000" y="45466"/>
                  <a:pt x="762000" y="101600"/>
                </a:cubicBezTo>
                <a:lnTo>
                  <a:pt x="762000" y="101600"/>
                </a:lnTo>
                <a:cubicBezTo>
                  <a:pt x="762000" y="157734"/>
                  <a:pt x="716534" y="203200"/>
                  <a:pt x="6604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CEFE7"/>
          </a:solidFill>
          <a:ln w="635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warn-t"/>
          <p:cNvSpPr txBox="1"/>
          <p:nvPr/>
        </p:nvSpPr>
        <p:spPr>
          <a:xfrm>
            <a:off x="2781427" y="1801558"/>
            <a:ext cx="4569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B8531F"/>
                </a:solidFill>
                <a:latin typeface="微软雅黑"/>
                <a:ea typeface="微软雅黑"/>
                <a:cs typeface="微软雅黑"/>
              </a:rPr>
              <a:t>警戒 85%</a:t>
            </a:r>
          </a:p>
        </p:txBody>
      </p:sp>
      <p:sp>
        <p:nvSpPr>
          <p:cNvPr id="57" name="sum"/>
          <p:cNvSpPr/>
          <p:nvPr/>
        </p:nvSpPr>
        <p:spPr>
          <a:xfrm>
            <a:off x="952500" y="5715000"/>
            <a:ext cx="10287000" cy="444500"/>
          </a:xfrm>
          <a:custGeom>
            <a:avLst/>
            <a:gdLst/>
            <a:ahLst/>
            <a:cxnLst/>
            <a:rect l="0" t="0" r="r" b="b"/>
            <a:pathLst>
              <a:path w="10287000" h="4445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55600"/>
                </a:lnTo>
                <a:cubicBezTo>
                  <a:pt x="10287000" y="404686"/>
                  <a:pt x="10247186" y="444500"/>
                  <a:pt x="10198100" y="444500"/>
                </a:cubicBezTo>
                <a:lnTo>
                  <a:pt x="88900" y="444500"/>
                </a:lnTo>
                <a:cubicBezTo>
                  <a:pt x="39815" y="444500"/>
                  <a:pt x="0" y="404686"/>
                  <a:pt x="0" y="3556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sum-bar"/>
          <p:cNvSpPr/>
          <p:nvPr/>
        </p:nvSpPr>
        <p:spPr>
          <a:xfrm>
            <a:off x="952500" y="5715000"/>
            <a:ext cx="31750" cy="4445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sum-h"/>
          <p:cNvSpPr txBox="1"/>
          <p:nvPr/>
        </p:nvSpPr>
        <p:spPr>
          <a:xfrm>
            <a:off x="1142746" y="586743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调拨方案</a:t>
            </a:r>
          </a:p>
        </p:txBody>
      </p:sp>
      <p:sp>
        <p:nvSpPr>
          <p:cNvPr id="60" name="sum-p"/>
          <p:cNvSpPr txBox="1"/>
          <p:nvPr/>
        </p:nvSpPr>
        <p:spPr>
          <a:xfrm>
            <a:off x="1891665" y="5863511"/>
            <a:ext cx="482250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把华东、华中压回 80% 需移出约 2.1 万方，西南仓还有 4.0 万方空位，旺季前完成调拨。</a:t>
            </a:r>
          </a:p>
        </p:txBody>
      </p:sp>
      <p:cxnSp>
        <p:nvCxnSpPr>
          <p:cNvPr id="61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foot-l"/>
          <p:cNvSpPr txBox="1"/>
          <p:nvPr/>
        </p:nvSpPr>
        <p:spPr>
          <a:xfrm>
            <a:off x="573532" y="6532308"/>
            <a:ext cx="9469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液位图 · 仓储容量</a:t>
            </a:r>
          </a:p>
        </p:txBody>
      </p:sp>
      <p:sp>
        <p:nvSpPr>
          <p:cNvPr id="63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9946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十个行业的市场盘子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35483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PACKED BUBBLES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789289" y="673132"/>
            <a:ext cx="283146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圆的面积是市场规模，橙色是年增速超过 25% 的行业</a:t>
            </a:r>
          </a:p>
        </p:txBody>
      </p:sp>
      <p:sp>
        <p:nvSpPr>
          <p:cNvPr id="10" name="b-1"/>
          <p:cNvSpPr/>
          <p:nvPr/>
        </p:nvSpPr>
        <p:spPr>
          <a:xfrm>
            <a:off x="5007513" y="2487574"/>
            <a:ext cx="1926017" cy="1926017"/>
          </a:xfrm>
          <a:prstGeom prst="ellipse">
            <a:avLst/>
          </a:prstGeom>
          <a:gradFill rotWithShape="1">
            <a:gsLst>
              <a:gs pos="0">
                <a:srgbClr val="4168A8"/>
              </a:gs>
              <a:gs pos="100000">
                <a:srgbClr val="0B3E8F"/>
              </a:gs>
            </a:gsLst>
            <a:lin ang="720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bn-1"/>
          <p:cNvSpPr txBox="1"/>
          <p:nvPr/>
        </p:nvSpPr>
        <p:spPr>
          <a:xfrm>
            <a:off x="5522211" y="3205600"/>
            <a:ext cx="8966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企业服务</a:t>
            </a:r>
          </a:p>
        </p:txBody>
      </p:sp>
      <p:sp>
        <p:nvSpPr>
          <p:cNvPr id="12" name="bv-1"/>
          <p:cNvSpPr txBox="1"/>
          <p:nvPr/>
        </p:nvSpPr>
        <p:spPr>
          <a:xfrm>
            <a:off x="5805380" y="3461393"/>
            <a:ext cx="330281" cy="22402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10" b="1">
                <a:solidFill>
                  <a:srgbClr val="E3EDF9"/>
                </a:solidFill>
                <a:latin typeface="Arial"/>
                <a:ea typeface="Arial"/>
                <a:cs typeface="Arial"/>
              </a:rPr>
              <a:t>420</a:t>
            </a:r>
          </a:p>
        </p:txBody>
      </p:sp>
      <p:sp>
        <p:nvSpPr>
          <p:cNvPr id="13" name="b-2"/>
          <p:cNvSpPr/>
          <p:nvPr/>
        </p:nvSpPr>
        <p:spPr>
          <a:xfrm>
            <a:off x="1252668" y="3783826"/>
            <a:ext cx="1654689" cy="1654689"/>
          </a:xfrm>
          <a:prstGeom prst="ellipse">
            <a:avLst/>
          </a:prstGeom>
          <a:gradFill rotWithShape="1">
            <a:gsLst>
              <a:gs pos="0">
                <a:srgbClr val="4773B2"/>
              </a:gs>
              <a:gs pos="100000">
                <a:srgbClr val="134C9C"/>
              </a:gs>
            </a:gsLst>
            <a:lin ang="720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bn-2"/>
          <p:cNvSpPr txBox="1"/>
          <p:nvPr/>
        </p:nvSpPr>
        <p:spPr>
          <a:xfrm>
            <a:off x="1815852" y="4366188"/>
            <a:ext cx="5283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零售</a:t>
            </a:r>
          </a:p>
        </p:txBody>
      </p:sp>
      <p:sp>
        <p:nvSpPr>
          <p:cNvPr id="15" name="bv-2"/>
          <p:cNvSpPr txBox="1"/>
          <p:nvPr/>
        </p:nvSpPr>
        <p:spPr>
          <a:xfrm>
            <a:off x="1914871" y="4621981"/>
            <a:ext cx="330281" cy="22402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10" b="1">
                <a:solidFill>
                  <a:srgbClr val="E3EDF9"/>
                </a:solidFill>
                <a:latin typeface="Arial"/>
                <a:ea typeface="Arial"/>
                <a:cs typeface="Arial"/>
              </a:rPr>
              <a:t>310</a:t>
            </a:r>
          </a:p>
        </p:txBody>
      </p:sp>
      <p:sp>
        <p:nvSpPr>
          <p:cNvPr id="16" name="b-3"/>
          <p:cNvSpPr/>
          <p:nvPr/>
        </p:nvSpPr>
        <p:spPr>
          <a:xfrm>
            <a:off x="2500814" y="2714910"/>
            <a:ext cx="1515382" cy="1515382"/>
          </a:xfrm>
          <a:prstGeom prst="ellipse">
            <a:avLst/>
          </a:prstGeom>
          <a:gradFill rotWithShape="1">
            <a:gsLst>
              <a:gs pos="0">
                <a:srgbClr val="4D7EBB"/>
              </a:gs>
              <a:gs pos="100000">
                <a:srgbClr val="1B5AA8"/>
              </a:gs>
            </a:gsLst>
            <a:lin ang="720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bn-3"/>
          <p:cNvSpPr txBox="1"/>
          <p:nvPr/>
        </p:nvSpPr>
        <p:spPr>
          <a:xfrm>
            <a:off x="2994345" y="3227618"/>
            <a:ext cx="5283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制造</a:t>
            </a:r>
          </a:p>
        </p:txBody>
      </p:sp>
      <p:sp>
        <p:nvSpPr>
          <p:cNvPr id="18" name="bv-3"/>
          <p:cNvSpPr txBox="1"/>
          <p:nvPr/>
        </p:nvSpPr>
        <p:spPr>
          <a:xfrm>
            <a:off x="3093365" y="3483412"/>
            <a:ext cx="330281" cy="22402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10" b="1">
                <a:solidFill>
                  <a:srgbClr val="E3EDF9"/>
                </a:solidFill>
                <a:latin typeface="Arial"/>
                <a:ea typeface="Arial"/>
                <a:cs typeface="Arial"/>
              </a:rPr>
              <a:t>260</a:t>
            </a:r>
          </a:p>
        </p:txBody>
      </p:sp>
      <p:sp>
        <p:nvSpPr>
          <p:cNvPr id="19" name="b-4"/>
          <p:cNvSpPr/>
          <p:nvPr/>
        </p:nvSpPr>
        <p:spPr>
          <a:xfrm>
            <a:off x="3796055" y="3619475"/>
            <a:ext cx="1393949" cy="1393949"/>
          </a:xfrm>
          <a:prstGeom prst="ellipse">
            <a:avLst/>
          </a:prstGeom>
          <a:gradFill rotWithShape="1">
            <a:gsLst>
              <a:gs pos="0">
                <a:srgbClr val="5489C6"/>
              </a:gs>
              <a:gs pos="100000">
                <a:srgbClr val="2468B6"/>
              </a:gs>
            </a:gsLst>
            <a:lin ang="720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bn-4"/>
          <p:cNvSpPr txBox="1"/>
          <p:nvPr/>
        </p:nvSpPr>
        <p:spPr>
          <a:xfrm>
            <a:off x="4228869" y="4071466"/>
            <a:ext cx="5283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金融</a:t>
            </a:r>
          </a:p>
        </p:txBody>
      </p:sp>
      <p:sp>
        <p:nvSpPr>
          <p:cNvPr id="21" name="bv-4"/>
          <p:cNvSpPr txBox="1"/>
          <p:nvPr/>
        </p:nvSpPr>
        <p:spPr>
          <a:xfrm>
            <a:off x="4327888" y="4327260"/>
            <a:ext cx="330281" cy="22402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10" b="1">
                <a:solidFill>
                  <a:srgbClr val="E3EDF9"/>
                </a:solidFill>
                <a:latin typeface="Arial"/>
                <a:ea typeface="Arial"/>
                <a:cs typeface="Arial"/>
              </a:rPr>
              <a:t>220</a:t>
            </a:r>
          </a:p>
        </p:txBody>
      </p:sp>
      <p:sp>
        <p:nvSpPr>
          <p:cNvPr id="22" name="b-5"/>
          <p:cNvSpPr/>
          <p:nvPr/>
        </p:nvSpPr>
        <p:spPr>
          <a:xfrm>
            <a:off x="1338800" y="2586438"/>
            <a:ext cx="1151015" cy="1151015"/>
          </a:xfrm>
          <a:prstGeom prst="ellipse">
            <a:avLst/>
          </a:prstGeom>
          <a:gradFill rotWithShape="1">
            <a:gsLst>
              <a:gs pos="0">
                <a:srgbClr val="E78F65"/>
              </a:gs>
              <a:gs pos="100000">
                <a:srgbClr val="E0703A"/>
              </a:gs>
            </a:gsLst>
            <a:lin ang="720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bn-5"/>
          <p:cNvSpPr txBox="1"/>
          <p:nvPr/>
        </p:nvSpPr>
        <p:spPr>
          <a:xfrm>
            <a:off x="1676156" y="2939114"/>
            <a:ext cx="476303" cy="2797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6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医疗</a:t>
            </a:r>
          </a:p>
        </p:txBody>
      </p:sp>
      <p:sp>
        <p:nvSpPr>
          <p:cNvPr id="24" name="bv-5"/>
          <p:cNvSpPr txBox="1"/>
          <p:nvPr/>
        </p:nvSpPr>
        <p:spPr>
          <a:xfrm>
            <a:off x="1765827" y="3171665"/>
            <a:ext cx="296962" cy="20142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10" b="1">
                <a:solidFill>
                  <a:srgbClr val="E3EDF9"/>
                </a:solidFill>
                <a:latin typeface="Arial"/>
                <a:ea typeface="Arial"/>
                <a:cs typeface="Arial"/>
              </a:rPr>
              <a:t>150</a:t>
            </a:r>
          </a:p>
        </p:txBody>
      </p:sp>
      <p:sp>
        <p:nvSpPr>
          <p:cNvPr id="25" name="b-6"/>
          <p:cNvSpPr/>
          <p:nvPr/>
        </p:nvSpPr>
        <p:spPr>
          <a:xfrm>
            <a:off x="3998165" y="2550634"/>
            <a:ext cx="1029499" cy="1029499"/>
          </a:xfrm>
          <a:prstGeom prst="ellipse">
            <a:avLst/>
          </a:prstGeom>
          <a:gradFill rotWithShape="1">
            <a:gsLst>
              <a:gs pos="0">
                <a:srgbClr val="65A0D8"/>
              </a:gs>
              <a:gs pos="100000">
                <a:srgbClr val="3985CD"/>
              </a:gs>
            </a:gsLst>
            <a:lin ang="720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bn-6"/>
          <p:cNvSpPr txBox="1"/>
          <p:nvPr/>
        </p:nvSpPr>
        <p:spPr>
          <a:xfrm>
            <a:off x="4299235" y="2863396"/>
            <a:ext cx="427359" cy="25022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3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政务</a:t>
            </a:r>
          </a:p>
        </p:txBody>
      </p:sp>
      <p:sp>
        <p:nvSpPr>
          <p:cNvPr id="27" name="bv-6"/>
          <p:cNvSpPr txBox="1"/>
          <p:nvPr/>
        </p:nvSpPr>
        <p:spPr>
          <a:xfrm>
            <a:off x="4380109" y="3074077"/>
            <a:ext cx="265611" cy="1801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10" b="1">
                <a:solidFill>
                  <a:srgbClr val="E3EDF9"/>
                </a:solidFill>
                <a:latin typeface="Arial"/>
                <a:ea typeface="Arial"/>
                <a:cs typeface="Arial"/>
              </a:rPr>
              <a:t>120</a:t>
            </a:r>
          </a:p>
        </p:txBody>
      </p:sp>
      <p:sp>
        <p:nvSpPr>
          <p:cNvPr id="28" name="b-7"/>
          <p:cNvSpPr/>
          <p:nvPr/>
        </p:nvSpPr>
        <p:spPr>
          <a:xfrm>
            <a:off x="2930963" y="4259906"/>
            <a:ext cx="891573" cy="891573"/>
          </a:xfrm>
          <a:prstGeom prst="ellipse">
            <a:avLst/>
          </a:prstGeom>
          <a:gradFill rotWithShape="1">
            <a:gsLst>
              <a:gs pos="0">
                <a:srgbClr val="6FACE0"/>
              </a:gs>
              <a:gs pos="100000">
                <a:srgbClr val="4694D7"/>
              </a:gs>
            </a:gsLst>
            <a:lin ang="720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bn-7"/>
          <p:cNvSpPr txBox="1"/>
          <p:nvPr/>
        </p:nvSpPr>
        <p:spPr>
          <a:xfrm>
            <a:off x="3190847" y="4527363"/>
            <a:ext cx="371806" cy="21670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8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教育</a:t>
            </a:r>
          </a:p>
        </p:txBody>
      </p:sp>
      <p:sp>
        <p:nvSpPr>
          <p:cNvPr id="30" name="bv-7"/>
          <p:cNvSpPr txBox="1"/>
          <p:nvPr/>
        </p:nvSpPr>
        <p:spPr>
          <a:xfrm>
            <a:off x="3286701" y="4713221"/>
            <a:ext cx="180098" cy="156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E3EDF9"/>
                </a:solidFill>
                <a:latin typeface="Arial"/>
                <a:ea typeface="Arial"/>
                <a:cs typeface="Arial"/>
              </a:rPr>
              <a:t>90</a:t>
            </a:r>
          </a:p>
        </p:txBody>
      </p:sp>
      <p:sp>
        <p:nvSpPr>
          <p:cNvPr id="31" name="b-8"/>
          <p:cNvSpPr/>
          <p:nvPr/>
        </p:nvSpPr>
        <p:spPr>
          <a:xfrm>
            <a:off x="2210276" y="1990985"/>
            <a:ext cx="840583" cy="840583"/>
          </a:xfrm>
          <a:prstGeom prst="ellipse">
            <a:avLst/>
          </a:prstGeom>
          <a:gradFill rotWithShape="1">
            <a:gsLst>
              <a:gs pos="0">
                <a:srgbClr val="E78F65"/>
              </a:gs>
              <a:gs pos="100000">
                <a:srgbClr val="E0703A"/>
              </a:gs>
            </a:gsLst>
            <a:lin ang="720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bn-8"/>
          <p:cNvSpPr txBox="1"/>
          <p:nvPr/>
        </p:nvSpPr>
        <p:spPr>
          <a:xfrm>
            <a:off x="2454934" y="2241693"/>
            <a:ext cx="351268" cy="20430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19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物流</a:t>
            </a:r>
          </a:p>
        </p:txBody>
      </p:sp>
      <p:sp>
        <p:nvSpPr>
          <p:cNvPr id="33" name="bv-8"/>
          <p:cNvSpPr txBox="1"/>
          <p:nvPr/>
        </p:nvSpPr>
        <p:spPr>
          <a:xfrm>
            <a:off x="2540779" y="2412395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E3EDF9"/>
                </a:solidFill>
                <a:latin typeface="Arial"/>
                <a:ea typeface="Arial"/>
                <a:cs typeface="Arial"/>
              </a:rPr>
              <a:t>80</a:t>
            </a:r>
          </a:p>
        </p:txBody>
      </p:sp>
      <p:sp>
        <p:nvSpPr>
          <p:cNvPr id="34" name="b-9"/>
          <p:cNvSpPr/>
          <p:nvPr/>
        </p:nvSpPr>
        <p:spPr>
          <a:xfrm>
            <a:off x="5151573" y="4388864"/>
            <a:ext cx="727966" cy="727966"/>
          </a:xfrm>
          <a:prstGeom prst="ellipse">
            <a:avLst/>
          </a:prstGeom>
          <a:gradFill rotWithShape="1">
            <a:gsLst>
              <a:gs pos="0">
                <a:srgbClr val="E78F65"/>
              </a:gs>
              <a:gs pos="100000">
                <a:srgbClr val="E0703A"/>
              </a:gs>
            </a:gsLst>
            <a:lin ang="720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bn-9"/>
          <p:cNvSpPr txBox="1"/>
          <p:nvPr/>
        </p:nvSpPr>
        <p:spPr>
          <a:xfrm>
            <a:off x="5368951" y="4615281"/>
            <a:ext cx="293209" cy="17693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能源</a:t>
            </a:r>
          </a:p>
        </p:txBody>
      </p:sp>
      <p:sp>
        <p:nvSpPr>
          <p:cNvPr id="36" name="bv-9"/>
          <p:cNvSpPr txBox="1"/>
          <p:nvPr/>
        </p:nvSpPr>
        <p:spPr>
          <a:xfrm>
            <a:off x="5425767" y="4739107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E3EDF9"/>
                </a:solidFill>
                <a:latin typeface="Arial"/>
                <a:ea typeface="Arial"/>
                <a:cs typeface="Arial"/>
              </a:rPr>
              <a:t>60</a:t>
            </a:r>
          </a:p>
        </p:txBody>
      </p:sp>
      <p:sp>
        <p:nvSpPr>
          <p:cNvPr id="37" name="b-10"/>
          <p:cNvSpPr/>
          <p:nvPr/>
        </p:nvSpPr>
        <p:spPr>
          <a:xfrm>
            <a:off x="940471" y="3493244"/>
            <a:ext cx="594382" cy="594382"/>
          </a:xfrm>
          <a:prstGeom prst="ellipse">
            <a:avLst/>
          </a:prstGeom>
          <a:gradFill rotWithShape="1">
            <a:gsLst>
              <a:gs pos="0">
                <a:srgbClr val="7AB6E6"/>
              </a:gs>
              <a:gs pos="100000">
                <a:srgbClr val="54A2DF"/>
              </a:gs>
            </a:gsLst>
            <a:lin ang="720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bn-10"/>
          <p:cNvSpPr txBox="1"/>
          <p:nvPr/>
        </p:nvSpPr>
        <p:spPr>
          <a:xfrm>
            <a:off x="1099549" y="3660101"/>
            <a:ext cx="276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其他</a:t>
            </a:r>
          </a:p>
        </p:txBody>
      </p:sp>
      <p:sp>
        <p:nvSpPr>
          <p:cNvPr id="39" name="bv-10"/>
          <p:cNvSpPr txBox="1"/>
          <p:nvPr/>
        </p:nvSpPr>
        <p:spPr>
          <a:xfrm>
            <a:off x="1147872" y="3771131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E3EDF9"/>
                </a:solidFill>
                <a:latin typeface="Arial"/>
                <a:ea typeface="Arial"/>
                <a:cs typeface="Arial"/>
              </a:rPr>
              <a:t>40</a:t>
            </a:r>
          </a:p>
        </p:txBody>
      </p:sp>
      <p:sp>
        <p:nvSpPr>
          <p:cNvPr id="40" name="side-bar"/>
          <p:cNvSpPr/>
          <p:nvPr/>
        </p:nvSpPr>
        <p:spPr>
          <a:xfrm>
            <a:off x="7239000" y="15875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side-h"/>
          <p:cNvSpPr txBox="1"/>
          <p:nvPr/>
        </p:nvSpPr>
        <p:spPr>
          <a:xfrm>
            <a:off x="7397750" y="1594644"/>
            <a:ext cx="10001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规模与增速</a:t>
            </a:r>
          </a:p>
        </p:txBody>
      </p:sp>
      <p:sp>
        <p:nvSpPr>
          <p:cNvPr id="42" name="side-p"/>
          <p:cNvSpPr txBox="1"/>
          <p:nvPr/>
        </p:nvSpPr>
        <p:spPr>
          <a:xfrm>
            <a:off x="7404989" y="1885045"/>
            <a:ext cx="1525588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合计 1,750 亿元 · 单位：亿元</a:t>
            </a:r>
          </a:p>
        </p:txBody>
      </p:sp>
      <p:sp>
        <p:nvSpPr>
          <p:cNvPr id="43" name="rn-0"/>
          <p:cNvSpPr txBox="1"/>
          <p:nvPr/>
        </p:nvSpPr>
        <p:spPr>
          <a:xfrm>
            <a:off x="7403846" y="2317782"/>
            <a:ext cx="325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医疗</a:t>
            </a:r>
          </a:p>
        </p:txBody>
      </p:sp>
      <p:sp>
        <p:nvSpPr>
          <p:cNvPr id="44" name="rs-0"/>
          <p:cNvSpPr txBox="1"/>
          <p:nvPr/>
        </p:nvSpPr>
        <p:spPr>
          <a:xfrm>
            <a:off x="8180070" y="233346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9%</a:t>
            </a:r>
          </a:p>
        </p:txBody>
      </p:sp>
      <p:cxnSp>
        <p:nvCxnSpPr>
          <p:cNvPr id="45" name="rz-0"/>
          <p:cNvCxnSpPr/>
          <p:nvPr/>
        </p:nvCxnSpPr>
        <p:spPr>
          <a:xfrm>
            <a:off x="9525000" y="2324100"/>
            <a:ext cx="0" cy="203200"/>
          </a:xfrm>
          <a:prstGeom prst="line">
            <a:avLst/>
          </a:prstGeom>
          <a:ln w="635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rb-0"/>
          <p:cNvSpPr/>
          <p:nvPr/>
        </p:nvSpPr>
        <p:spPr>
          <a:xfrm>
            <a:off x="9525000" y="2349500"/>
            <a:ext cx="1206500" cy="139700"/>
          </a:xfrm>
          <a:custGeom>
            <a:avLst/>
            <a:gdLst/>
            <a:ahLst/>
            <a:cxnLst/>
            <a:rect l="0" t="0" r="r" b="b"/>
            <a:pathLst>
              <a:path w="1206500" h="139700">
                <a:moveTo>
                  <a:pt x="38100" y="0"/>
                </a:moveTo>
                <a:lnTo>
                  <a:pt x="1168400" y="0"/>
                </a:lnTo>
                <a:cubicBezTo>
                  <a:pt x="1189418" y="0"/>
                  <a:pt x="1206500" y="17081"/>
                  <a:pt x="1206500" y="38100"/>
                </a:cubicBezTo>
                <a:lnTo>
                  <a:pt x="1206500" y="101600"/>
                </a:lnTo>
                <a:cubicBezTo>
                  <a:pt x="1206500" y="122619"/>
                  <a:pt x="1189418" y="139700"/>
                  <a:pt x="1168400" y="139700"/>
                </a:cubicBezTo>
                <a:lnTo>
                  <a:pt x="38100" y="139700"/>
                </a:lnTo>
                <a:cubicBezTo>
                  <a:pt x="17082" y="139700"/>
                  <a:pt x="0" y="122619"/>
                  <a:pt x="0" y="1016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rg-0"/>
          <p:cNvSpPr txBox="1"/>
          <p:nvPr/>
        </p:nvSpPr>
        <p:spPr>
          <a:xfrm>
            <a:off x="10783570" y="2346166"/>
            <a:ext cx="2990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+38%</a:t>
            </a:r>
          </a:p>
        </p:txBody>
      </p:sp>
      <p:sp>
        <p:nvSpPr>
          <p:cNvPr id="48" name="rn-1"/>
          <p:cNvSpPr txBox="1"/>
          <p:nvPr/>
        </p:nvSpPr>
        <p:spPr>
          <a:xfrm>
            <a:off x="7403846" y="2647982"/>
            <a:ext cx="325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能源</a:t>
            </a:r>
          </a:p>
        </p:txBody>
      </p:sp>
      <p:sp>
        <p:nvSpPr>
          <p:cNvPr id="49" name="rs-1"/>
          <p:cNvSpPr txBox="1"/>
          <p:nvPr/>
        </p:nvSpPr>
        <p:spPr>
          <a:xfrm>
            <a:off x="8180070" y="266366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3%</a:t>
            </a:r>
          </a:p>
        </p:txBody>
      </p:sp>
      <p:cxnSp>
        <p:nvCxnSpPr>
          <p:cNvPr id="50" name="rz-1"/>
          <p:cNvCxnSpPr/>
          <p:nvPr/>
        </p:nvCxnSpPr>
        <p:spPr>
          <a:xfrm>
            <a:off x="9525000" y="2654300"/>
            <a:ext cx="0" cy="203200"/>
          </a:xfrm>
          <a:prstGeom prst="line">
            <a:avLst/>
          </a:prstGeom>
          <a:ln w="635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rb-1"/>
          <p:cNvSpPr/>
          <p:nvPr/>
        </p:nvSpPr>
        <p:spPr>
          <a:xfrm>
            <a:off x="9525000" y="2679700"/>
            <a:ext cx="984250" cy="139700"/>
          </a:xfrm>
          <a:custGeom>
            <a:avLst/>
            <a:gdLst/>
            <a:ahLst/>
            <a:cxnLst/>
            <a:rect l="0" t="0" r="r" b="b"/>
            <a:pathLst>
              <a:path w="984250" h="139700">
                <a:moveTo>
                  <a:pt x="38100" y="0"/>
                </a:moveTo>
                <a:lnTo>
                  <a:pt x="946150" y="0"/>
                </a:lnTo>
                <a:cubicBezTo>
                  <a:pt x="967168" y="0"/>
                  <a:pt x="984250" y="17081"/>
                  <a:pt x="984250" y="38100"/>
                </a:cubicBezTo>
                <a:lnTo>
                  <a:pt x="984250" y="101600"/>
                </a:lnTo>
                <a:cubicBezTo>
                  <a:pt x="984250" y="122619"/>
                  <a:pt x="967168" y="139700"/>
                  <a:pt x="946150" y="139700"/>
                </a:cubicBezTo>
                <a:lnTo>
                  <a:pt x="38100" y="139700"/>
                </a:lnTo>
                <a:cubicBezTo>
                  <a:pt x="17082" y="139700"/>
                  <a:pt x="0" y="122619"/>
                  <a:pt x="0" y="1016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rg-1"/>
          <p:cNvSpPr txBox="1"/>
          <p:nvPr/>
        </p:nvSpPr>
        <p:spPr>
          <a:xfrm>
            <a:off x="10561320" y="2676366"/>
            <a:ext cx="2990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+31%</a:t>
            </a:r>
          </a:p>
        </p:txBody>
      </p:sp>
      <p:sp>
        <p:nvSpPr>
          <p:cNvPr id="53" name="rn-2"/>
          <p:cNvSpPr txBox="1"/>
          <p:nvPr/>
        </p:nvSpPr>
        <p:spPr>
          <a:xfrm>
            <a:off x="7403846" y="2978182"/>
            <a:ext cx="325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物流</a:t>
            </a:r>
          </a:p>
        </p:txBody>
      </p:sp>
      <p:sp>
        <p:nvSpPr>
          <p:cNvPr id="54" name="rs-2"/>
          <p:cNvSpPr txBox="1"/>
          <p:nvPr/>
        </p:nvSpPr>
        <p:spPr>
          <a:xfrm>
            <a:off x="8180070" y="299386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5%</a:t>
            </a:r>
          </a:p>
        </p:txBody>
      </p:sp>
      <p:cxnSp>
        <p:nvCxnSpPr>
          <p:cNvPr id="55" name="rz-2"/>
          <p:cNvCxnSpPr/>
          <p:nvPr/>
        </p:nvCxnSpPr>
        <p:spPr>
          <a:xfrm>
            <a:off x="9525000" y="2984500"/>
            <a:ext cx="0" cy="203200"/>
          </a:xfrm>
          <a:prstGeom prst="line">
            <a:avLst/>
          </a:prstGeom>
          <a:ln w="635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6" name="rb-2"/>
          <p:cNvSpPr/>
          <p:nvPr/>
        </p:nvSpPr>
        <p:spPr>
          <a:xfrm>
            <a:off x="9525000" y="3009900"/>
            <a:ext cx="857250" cy="139700"/>
          </a:xfrm>
          <a:custGeom>
            <a:avLst/>
            <a:gdLst/>
            <a:ahLst/>
            <a:cxnLst/>
            <a:rect l="0" t="0" r="r" b="b"/>
            <a:pathLst>
              <a:path w="857250" h="139700">
                <a:moveTo>
                  <a:pt x="38100" y="0"/>
                </a:moveTo>
                <a:lnTo>
                  <a:pt x="819150" y="0"/>
                </a:lnTo>
                <a:cubicBezTo>
                  <a:pt x="840168" y="0"/>
                  <a:pt x="857250" y="17081"/>
                  <a:pt x="857250" y="38100"/>
                </a:cubicBezTo>
                <a:lnTo>
                  <a:pt x="857250" y="101600"/>
                </a:lnTo>
                <a:cubicBezTo>
                  <a:pt x="857250" y="122619"/>
                  <a:pt x="840168" y="139700"/>
                  <a:pt x="819150" y="139700"/>
                </a:cubicBezTo>
                <a:lnTo>
                  <a:pt x="38100" y="139700"/>
                </a:lnTo>
                <a:cubicBezTo>
                  <a:pt x="17082" y="139700"/>
                  <a:pt x="0" y="122619"/>
                  <a:pt x="0" y="101600"/>
                </a:cubicBezTo>
                <a:lnTo>
                  <a:pt x="0" y="38100"/>
                </a:lnTo>
                <a:cubicBezTo>
                  <a:pt x="0" y="17081"/>
                  <a:pt x="17082" y="0"/>
                  <a:pt x="381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rg-2"/>
          <p:cNvSpPr txBox="1"/>
          <p:nvPr/>
        </p:nvSpPr>
        <p:spPr>
          <a:xfrm>
            <a:off x="10434320" y="3006566"/>
            <a:ext cx="2990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+27%</a:t>
            </a:r>
          </a:p>
        </p:txBody>
      </p:sp>
      <p:sp>
        <p:nvSpPr>
          <p:cNvPr id="58" name="rn-3"/>
          <p:cNvSpPr txBox="1"/>
          <p:nvPr/>
        </p:nvSpPr>
        <p:spPr>
          <a:xfrm>
            <a:off x="7403846" y="3308382"/>
            <a:ext cx="325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政务</a:t>
            </a:r>
          </a:p>
        </p:txBody>
      </p:sp>
      <p:sp>
        <p:nvSpPr>
          <p:cNvPr id="59" name="rs-3"/>
          <p:cNvSpPr txBox="1"/>
          <p:nvPr/>
        </p:nvSpPr>
        <p:spPr>
          <a:xfrm>
            <a:off x="8180070" y="332406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7%</a:t>
            </a:r>
          </a:p>
        </p:txBody>
      </p:sp>
      <p:cxnSp>
        <p:nvCxnSpPr>
          <p:cNvPr id="60" name="rz-3"/>
          <p:cNvCxnSpPr/>
          <p:nvPr/>
        </p:nvCxnSpPr>
        <p:spPr>
          <a:xfrm>
            <a:off x="9525000" y="3314700"/>
            <a:ext cx="0" cy="203200"/>
          </a:xfrm>
          <a:prstGeom prst="line">
            <a:avLst/>
          </a:prstGeom>
          <a:ln w="635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rb-3"/>
          <p:cNvSpPr/>
          <p:nvPr/>
        </p:nvSpPr>
        <p:spPr>
          <a:xfrm>
            <a:off x="9525000" y="3340100"/>
            <a:ext cx="476250" cy="139700"/>
          </a:xfrm>
          <a:custGeom>
            <a:avLst/>
            <a:gdLst/>
            <a:ahLst/>
            <a:cxnLst/>
            <a:rect l="0" t="0" r="r" b="b"/>
            <a:pathLst>
              <a:path w="476250" h="139700">
                <a:moveTo>
                  <a:pt x="38100" y="0"/>
                </a:moveTo>
                <a:lnTo>
                  <a:pt x="438150" y="0"/>
                </a:lnTo>
                <a:cubicBezTo>
                  <a:pt x="459168" y="0"/>
                  <a:pt x="476250" y="17082"/>
                  <a:pt x="476250" y="38100"/>
                </a:cubicBezTo>
                <a:lnTo>
                  <a:pt x="476250" y="101600"/>
                </a:lnTo>
                <a:cubicBezTo>
                  <a:pt x="476250" y="122618"/>
                  <a:pt x="459168" y="139700"/>
                  <a:pt x="438150" y="139700"/>
                </a:cubicBezTo>
                <a:lnTo>
                  <a:pt x="38100" y="139700"/>
                </a:lnTo>
                <a:cubicBezTo>
                  <a:pt x="17082" y="139700"/>
                  <a:pt x="0" y="122618"/>
                  <a:pt x="0" y="1016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rg-3"/>
          <p:cNvSpPr txBox="1"/>
          <p:nvPr/>
        </p:nvSpPr>
        <p:spPr>
          <a:xfrm>
            <a:off x="10053320" y="3336766"/>
            <a:ext cx="2990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+15%</a:t>
            </a:r>
          </a:p>
        </p:txBody>
      </p:sp>
      <p:sp>
        <p:nvSpPr>
          <p:cNvPr id="63" name="rn-4"/>
          <p:cNvSpPr txBox="1"/>
          <p:nvPr/>
        </p:nvSpPr>
        <p:spPr>
          <a:xfrm>
            <a:off x="7403846" y="3638582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企业服务</a:t>
            </a:r>
          </a:p>
        </p:txBody>
      </p:sp>
      <p:sp>
        <p:nvSpPr>
          <p:cNvPr id="64" name="rs-4"/>
          <p:cNvSpPr txBox="1"/>
          <p:nvPr/>
        </p:nvSpPr>
        <p:spPr>
          <a:xfrm>
            <a:off x="8180070" y="3654266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24%</a:t>
            </a:r>
          </a:p>
        </p:txBody>
      </p:sp>
      <p:cxnSp>
        <p:nvCxnSpPr>
          <p:cNvPr id="65" name="rz-4"/>
          <p:cNvCxnSpPr/>
          <p:nvPr/>
        </p:nvCxnSpPr>
        <p:spPr>
          <a:xfrm>
            <a:off x="9525000" y="3644900"/>
            <a:ext cx="0" cy="203200"/>
          </a:xfrm>
          <a:prstGeom prst="line">
            <a:avLst/>
          </a:prstGeom>
          <a:ln w="635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" name="rb-4"/>
          <p:cNvSpPr/>
          <p:nvPr/>
        </p:nvSpPr>
        <p:spPr>
          <a:xfrm>
            <a:off x="9525000" y="3670300"/>
            <a:ext cx="381000" cy="139700"/>
          </a:xfrm>
          <a:custGeom>
            <a:avLst/>
            <a:gdLst/>
            <a:ahLst/>
            <a:cxnLst/>
            <a:rect l="0" t="0" r="r" b="b"/>
            <a:pathLst>
              <a:path w="381000" h="139700">
                <a:moveTo>
                  <a:pt x="38100" y="0"/>
                </a:moveTo>
                <a:lnTo>
                  <a:pt x="342900" y="0"/>
                </a:lnTo>
                <a:cubicBezTo>
                  <a:pt x="363918" y="0"/>
                  <a:pt x="381000" y="17082"/>
                  <a:pt x="381000" y="38100"/>
                </a:cubicBezTo>
                <a:lnTo>
                  <a:pt x="381000" y="101600"/>
                </a:lnTo>
                <a:cubicBezTo>
                  <a:pt x="381000" y="122618"/>
                  <a:pt x="363918" y="139700"/>
                  <a:pt x="342900" y="139700"/>
                </a:cubicBezTo>
                <a:lnTo>
                  <a:pt x="38100" y="139700"/>
                </a:lnTo>
                <a:cubicBezTo>
                  <a:pt x="17082" y="139700"/>
                  <a:pt x="0" y="122618"/>
                  <a:pt x="0" y="1016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rg-4"/>
          <p:cNvSpPr txBox="1"/>
          <p:nvPr/>
        </p:nvSpPr>
        <p:spPr>
          <a:xfrm>
            <a:off x="9958070" y="3666966"/>
            <a:ext cx="2990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+12%</a:t>
            </a:r>
          </a:p>
        </p:txBody>
      </p:sp>
      <p:sp>
        <p:nvSpPr>
          <p:cNvPr id="68" name="rn-5"/>
          <p:cNvSpPr txBox="1"/>
          <p:nvPr/>
        </p:nvSpPr>
        <p:spPr>
          <a:xfrm>
            <a:off x="7403846" y="3968782"/>
            <a:ext cx="325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制造</a:t>
            </a:r>
          </a:p>
        </p:txBody>
      </p:sp>
      <p:sp>
        <p:nvSpPr>
          <p:cNvPr id="69" name="rs-5"/>
          <p:cNvSpPr txBox="1"/>
          <p:nvPr/>
        </p:nvSpPr>
        <p:spPr>
          <a:xfrm>
            <a:off x="8180070" y="3984466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15%</a:t>
            </a:r>
          </a:p>
        </p:txBody>
      </p:sp>
      <p:cxnSp>
        <p:nvCxnSpPr>
          <p:cNvPr id="70" name="rz-5"/>
          <p:cNvCxnSpPr/>
          <p:nvPr/>
        </p:nvCxnSpPr>
        <p:spPr>
          <a:xfrm>
            <a:off x="9525000" y="3975100"/>
            <a:ext cx="0" cy="203200"/>
          </a:xfrm>
          <a:prstGeom prst="line">
            <a:avLst/>
          </a:prstGeom>
          <a:ln w="635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rb-5"/>
          <p:cNvSpPr/>
          <p:nvPr/>
        </p:nvSpPr>
        <p:spPr>
          <a:xfrm>
            <a:off x="9525000" y="4000500"/>
            <a:ext cx="285750" cy="139700"/>
          </a:xfrm>
          <a:custGeom>
            <a:avLst/>
            <a:gdLst/>
            <a:ahLst/>
            <a:cxnLst/>
            <a:rect l="0" t="0" r="r" b="b"/>
            <a:pathLst>
              <a:path w="285750" h="139700">
                <a:moveTo>
                  <a:pt x="38100" y="0"/>
                </a:moveTo>
                <a:lnTo>
                  <a:pt x="247650" y="0"/>
                </a:lnTo>
                <a:cubicBezTo>
                  <a:pt x="268668" y="0"/>
                  <a:pt x="285750" y="17082"/>
                  <a:pt x="285750" y="38100"/>
                </a:cubicBezTo>
                <a:lnTo>
                  <a:pt x="285750" y="101600"/>
                </a:lnTo>
                <a:cubicBezTo>
                  <a:pt x="285750" y="122618"/>
                  <a:pt x="268668" y="139700"/>
                  <a:pt x="247650" y="139700"/>
                </a:cubicBezTo>
                <a:lnTo>
                  <a:pt x="38100" y="139700"/>
                </a:lnTo>
                <a:cubicBezTo>
                  <a:pt x="17082" y="139700"/>
                  <a:pt x="0" y="122618"/>
                  <a:pt x="0" y="1016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rg-5"/>
          <p:cNvSpPr txBox="1"/>
          <p:nvPr/>
        </p:nvSpPr>
        <p:spPr>
          <a:xfrm>
            <a:off x="9862820" y="3997166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+9%</a:t>
            </a:r>
          </a:p>
        </p:txBody>
      </p:sp>
      <p:sp>
        <p:nvSpPr>
          <p:cNvPr id="73" name="rn-6"/>
          <p:cNvSpPr txBox="1"/>
          <p:nvPr/>
        </p:nvSpPr>
        <p:spPr>
          <a:xfrm>
            <a:off x="7403846" y="4298982"/>
            <a:ext cx="325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金融</a:t>
            </a:r>
          </a:p>
        </p:txBody>
      </p:sp>
      <p:sp>
        <p:nvSpPr>
          <p:cNvPr id="74" name="rs-6"/>
          <p:cNvSpPr txBox="1"/>
          <p:nvPr/>
        </p:nvSpPr>
        <p:spPr>
          <a:xfrm>
            <a:off x="8180070" y="4314666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13%</a:t>
            </a:r>
          </a:p>
        </p:txBody>
      </p:sp>
      <p:cxnSp>
        <p:nvCxnSpPr>
          <p:cNvPr id="75" name="rz-6"/>
          <p:cNvCxnSpPr/>
          <p:nvPr/>
        </p:nvCxnSpPr>
        <p:spPr>
          <a:xfrm>
            <a:off x="9525000" y="4305300"/>
            <a:ext cx="0" cy="203200"/>
          </a:xfrm>
          <a:prstGeom prst="line">
            <a:avLst/>
          </a:prstGeom>
          <a:ln w="635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rb-6"/>
          <p:cNvSpPr/>
          <p:nvPr/>
        </p:nvSpPr>
        <p:spPr>
          <a:xfrm>
            <a:off x="9525000" y="4330700"/>
            <a:ext cx="254000" cy="139700"/>
          </a:xfrm>
          <a:custGeom>
            <a:avLst/>
            <a:gdLst/>
            <a:ahLst/>
            <a:cxnLst/>
            <a:rect l="0" t="0" r="r" b="b"/>
            <a:pathLst>
              <a:path w="254000" h="139700">
                <a:moveTo>
                  <a:pt x="38100" y="0"/>
                </a:moveTo>
                <a:lnTo>
                  <a:pt x="215900" y="0"/>
                </a:lnTo>
                <a:cubicBezTo>
                  <a:pt x="236918" y="0"/>
                  <a:pt x="254000" y="17082"/>
                  <a:pt x="254000" y="38100"/>
                </a:cubicBezTo>
                <a:lnTo>
                  <a:pt x="254000" y="101600"/>
                </a:lnTo>
                <a:cubicBezTo>
                  <a:pt x="254000" y="122618"/>
                  <a:pt x="236918" y="139700"/>
                  <a:pt x="215900" y="139700"/>
                </a:cubicBezTo>
                <a:lnTo>
                  <a:pt x="38100" y="139700"/>
                </a:lnTo>
                <a:cubicBezTo>
                  <a:pt x="17082" y="139700"/>
                  <a:pt x="0" y="122618"/>
                  <a:pt x="0" y="1016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rg-6"/>
          <p:cNvSpPr txBox="1"/>
          <p:nvPr/>
        </p:nvSpPr>
        <p:spPr>
          <a:xfrm>
            <a:off x="9831070" y="4327366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+8%</a:t>
            </a:r>
          </a:p>
        </p:txBody>
      </p:sp>
      <p:sp>
        <p:nvSpPr>
          <p:cNvPr id="78" name="rn-7"/>
          <p:cNvSpPr txBox="1"/>
          <p:nvPr/>
        </p:nvSpPr>
        <p:spPr>
          <a:xfrm>
            <a:off x="7403846" y="4629182"/>
            <a:ext cx="325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零售</a:t>
            </a:r>
          </a:p>
        </p:txBody>
      </p:sp>
      <p:sp>
        <p:nvSpPr>
          <p:cNvPr id="79" name="rs-7"/>
          <p:cNvSpPr txBox="1"/>
          <p:nvPr/>
        </p:nvSpPr>
        <p:spPr>
          <a:xfrm>
            <a:off x="8180070" y="4644866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18%</a:t>
            </a:r>
          </a:p>
        </p:txBody>
      </p:sp>
      <p:cxnSp>
        <p:nvCxnSpPr>
          <p:cNvPr id="80" name="rz-7"/>
          <p:cNvCxnSpPr/>
          <p:nvPr/>
        </p:nvCxnSpPr>
        <p:spPr>
          <a:xfrm>
            <a:off x="9525000" y="4635500"/>
            <a:ext cx="0" cy="203200"/>
          </a:xfrm>
          <a:prstGeom prst="line">
            <a:avLst/>
          </a:prstGeom>
          <a:ln w="635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rb-7"/>
          <p:cNvSpPr/>
          <p:nvPr/>
        </p:nvSpPr>
        <p:spPr>
          <a:xfrm>
            <a:off x="9525000" y="4660900"/>
            <a:ext cx="190500" cy="139700"/>
          </a:xfrm>
          <a:custGeom>
            <a:avLst/>
            <a:gdLst/>
            <a:ahLst/>
            <a:cxnLst/>
            <a:rect l="0" t="0" r="r" b="b"/>
            <a:pathLst>
              <a:path w="190500" h="139700">
                <a:moveTo>
                  <a:pt x="38100" y="0"/>
                </a:moveTo>
                <a:lnTo>
                  <a:pt x="152400" y="0"/>
                </a:lnTo>
                <a:cubicBezTo>
                  <a:pt x="173418" y="0"/>
                  <a:pt x="190500" y="17082"/>
                  <a:pt x="190500" y="38100"/>
                </a:cubicBezTo>
                <a:lnTo>
                  <a:pt x="190500" y="101600"/>
                </a:lnTo>
                <a:cubicBezTo>
                  <a:pt x="190500" y="122618"/>
                  <a:pt x="173418" y="139700"/>
                  <a:pt x="152400" y="139700"/>
                </a:cubicBezTo>
                <a:lnTo>
                  <a:pt x="38100" y="139700"/>
                </a:lnTo>
                <a:cubicBezTo>
                  <a:pt x="17082" y="139700"/>
                  <a:pt x="0" y="122618"/>
                  <a:pt x="0" y="1016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rg-7"/>
          <p:cNvSpPr txBox="1"/>
          <p:nvPr/>
        </p:nvSpPr>
        <p:spPr>
          <a:xfrm>
            <a:off x="9767570" y="4657566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+6%</a:t>
            </a:r>
          </a:p>
        </p:txBody>
      </p:sp>
      <p:sp>
        <p:nvSpPr>
          <p:cNvPr id="83" name="rn-8"/>
          <p:cNvSpPr txBox="1"/>
          <p:nvPr/>
        </p:nvSpPr>
        <p:spPr>
          <a:xfrm>
            <a:off x="7403846" y="4959382"/>
            <a:ext cx="325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其他</a:t>
            </a:r>
          </a:p>
        </p:txBody>
      </p:sp>
      <p:sp>
        <p:nvSpPr>
          <p:cNvPr id="84" name="rs-8"/>
          <p:cNvSpPr txBox="1"/>
          <p:nvPr/>
        </p:nvSpPr>
        <p:spPr>
          <a:xfrm>
            <a:off x="8180070" y="497506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2%</a:t>
            </a:r>
          </a:p>
        </p:txBody>
      </p:sp>
      <p:cxnSp>
        <p:nvCxnSpPr>
          <p:cNvPr id="85" name="rz-8"/>
          <p:cNvCxnSpPr/>
          <p:nvPr/>
        </p:nvCxnSpPr>
        <p:spPr>
          <a:xfrm>
            <a:off x="9525000" y="4965700"/>
            <a:ext cx="0" cy="203200"/>
          </a:xfrm>
          <a:prstGeom prst="line">
            <a:avLst/>
          </a:prstGeom>
          <a:ln w="635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6" name="rb-8"/>
          <p:cNvSpPr/>
          <p:nvPr/>
        </p:nvSpPr>
        <p:spPr>
          <a:xfrm>
            <a:off x="9525000" y="4991100"/>
            <a:ext cx="158750" cy="139700"/>
          </a:xfrm>
          <a:custGeom>
            <a:avLst/>
            <a:gdLst/>
            <a:ahLst/>
            <a:cxnLst/>
            <a:rect l="0" t="0" r="r" b="b"/>
            <a:pathLst>
              <a:path w="158750" h="139700">
                <a:moveTo>
                  <a:pt x="38100" y="0"/>
                </a:moveTo>
                <a:lnTo>
                  <a:pt x="120650" y="0"/>
                </a:lnTo>
                <a:cubicBezTo>
                  <a:pt x="141668" y="0"/>
                  <a:pt x="158750" y="17082"/>
                  <a:pt x="158750" y="38100"/>
                </a:cubicBezTo>
                <a:lnTo>
                  <a:pt x="158750" y="101600"/>
                </a:lnTo>
                <a:cubicBezTo>
                  <a:pt x="158750" y="122618"/>
                  <a:pt x="141668" y="139700"/>
                  <a:pt x="120650" y="139700"/>
                </a:cubicBezTo>
                <a:lnTo>
                  <a:pt x="38100" y="139700"/>
                </a:lnTo>
                <a:cubicBezTo>
                  <a:pt x="17082" y="139700"/>
                  <a:pt x="0" y="122618"/>
                  <a:pt x="0" y="1016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rg-8"/>
          <p:cNvSpPr txBox="1"/>
          <p:nvPr/>
        </p:nvSpPr>
        <p:spPr>
          <a:xfrm>
            <a:off x="9735820" y="4987766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+5%</a:t>
            </a:r>
          </a:p>
        </p:txBody>
      </p:sp>
      <p:sp>
        <p:nvSpPr>
          <p:cNvPr id="88" name="rn-9"/>
          <p:cNvSpPr txBox="1"/>
          <p:nvPr/>
        </p:nvSpPr>
        <p:spPr>
          <a:xfrm>
            <a:off x="7403846" y="5289582"/>
            <a:ext cx="325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教育</a:t>
            </a:r>
          </a:p>
        </p:txBody>
      </p:sp>
      <p:sp>
        <p:nvSpPr>
          <p:cNvPr id="89" name="rs-9"/>
          <p:cNvSpPr txBox="1"/>
          <p:nvPr/>
        </p:nvSpPr>
        <p:spPr>
          <a:xfrm>
            <a:off x="8180070" y="5305266"/>
            <a:ext cx="1924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Arial"/>
                <a:ea typeface="Arial"/>
                <a:cs typeface="Arial"/>
              </a:rPr>
              <a:t>5%</a:t>
            </a:r>
          </a:p>
        </p:txBody>
      </p:sp>
      <p:cxnSp>
        <p:nvCxnSpPr>
          <p:cNvPr id="90" name="rz-9"/>
          <p:cNvCxnSpPr/>
          <p:nvPr/>
        </p:nvCxnSpPr>
        <p:spPr>
          <a:xfrm>
            <a:off x="9525000" y="5295900"/>
            <a:ext cx="0" cy="203200"/>
          </a:xfrm>
          <a:prstGeom prst="line">
            <a:avLst/>
          </a:prstGeom>
          <a:ln w="635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rb-9"/>
          <p:cNvSpPr/>
          <p:nvPr/>
        </p:nvSpPr>
        <p:spPr>
          <a:xfrm>
            <a:off x="9398000" y="5321300"/>
            <a:ext cx="127000" cy="139700"/>
          </a:xfrm>
          <a:custGeom>
            <a:avLst/>
            <a:gdLst/>
            <a:ahLst/>
            <a:cxnLst/>
            <a:rect l="0" t="0" r="r" b="b"/>
            <a:pathLst>
              <a:path w="127000" h="139700">
                <a:moveTo>
                  <a:pt x="38100" y="0"/>
                </a:moveTo>
                <a:lnTo>
                  <a:pt x="88900" y="0"/>
                </a:lnTo>
                <a:cubicBezTo>
                  <a:pt x="109918" y="0"/>
                  <a:pt x="127000" y="17082"/>
                  <a:pt x="127000" y="38100"/>
                </a:cubicBezTo>
                <a:lnTo>
                  <a:pt x="127000" y="101600"/>
                </a:lnTo>
                <a:cubicBezTo>
                  <a:pt x="127000" y="122618"/>
                  <a:pt x="109918" y="139700"/>
                  <a:pt x="88900" y="139700"/>
                </a:cubicBezTo>
                <a:lnTo>
                  <a:pt x="38100" y="139700"/>
                </a:lnTo>
                <a:cubicBezTo>
                  <a:pt x="17082" y="139700"/>
                  <a:pt x="0" y="122618"/>
                  <a:pt x="0" y="101600"/>
                </a:cubicBezTo>
                <a:lnTo>
                  <a:pt x="0" y="38100"/>
                </a:lnTo>
                <a:cubicBezTo>
                  <a:pt x="0" y="17082"/>
                  <a:pt x="17082" y="0"/>
                  <a:pt x="38100" y="0"/>
                </a:cubicBezTo>
                <a:close/>
              </a:path>
            </a:pathLst>
          </a:custGeom>
          <a:solidFill>
            <a:srgbClr val="8FA6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rg-9"/>
          <p:cNvSpPr txBox="1"/>
          <p:nvPr/>
        </p:nvSpPr>
        <p:spPr>
          <a:xfrm>
            <a:off x="9577070" y="5317966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64748B"/>
                </a:solidFill>
                <a:latin typeface="Arial"/>
                <a:ea typeface="Arial"/>
                <a:cs typeface="Arial"/>
              </a:rPr>
              <a:t>-4%</a:t>
            </a:r>
          </a:p>
        </p:txBody>
      </p:sp>
      <p:sp>
        <p:nvSpPr>
          <p:cNvPr id="93" name="rg-h"/>
          <p:cNvSpPr txBox="1"/>
          <p:nvPr/>
        </p:nvSpPr>
        <p:spPr>
          <a:xfrm>
            <a:off x="9351645" y="2100008"/>
            <a:ext cx="3467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年增速</a:t>
            </a:r>
          </a:p>
        </p:txBody>
      </p:sp>
      <p:sp>
        <p:nvSpPr>
          <p:cNvPr id="94" name="sum"/>
          <p:cNvSpPr/>
          <p:nvPr/>
        </p:nvSpPr>
        <p:spPr>
          <a:xfrm>
            <a:off x="7239000" y="5676900"/>
            <a:ext cx="4000500" cy="482600"/>
          </a:xfrm>
          <a:custGeom>
            <a:avLst/>
            <a:gdLst/>
            <a:ahLst/>
            <a:cxnLst/>
            <a:rect l="0" t="0" r="r" b="b"/>
            <a:pathLst>
              <a:path w="4000500" h="482600">
                <a:moveTo>
                  <a:pt x="101600" y="0"/>
                </a:moveTo>
                <a:lnTo>
                  <a:pt x="3898900" y="0"/>
                </a:lnTo>
                <a:cubicBezTo>
                  <a:pt x="3955034" y="0"/>
                  <a:pt x="4000500" y="45466"/>
                  <a:pt x="4000500" y="101600"/>
                </a:cubicBezTo>
                <a:lnTo>
                  <a:pt x="4000500" y="381000"/>
                </a:lnTo>
                <a:cubicBezTo>
                  <a:pt x="4000500" y="437134"/>
                  <a:pt x="3955034" y="482600"/>
                  <a:pt x="38989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sum-bar"/>
          <p:cNvSpPr/>
          <p:nvPr/>
        </p:nvSpPr>
        <p:spPr>
          <a:xfrm>
            <a:off x="7239000" y="5676900"/>
            <a:ext cx="31750" cy="4826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sum-h"/>
          <p:cNvSpPr txBox="1"/>
          <p:nvPr/>
        </p:nvSpPr>
        <p:spPr>
          <a:xfrm>
            <a:off x="7404608" y="5754624"/>
            <a:ext cx="3200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机会</a:t>
            </a:r>
          </a:p>
        </p:txBody>
      </p:sp>
      <p:sp>
        <p:nvSpPr>
          <p:cNvPr id="97" name="sum-p"/>
          <p:cNvSpPr txBox="1"/>
          <p:nvPr/>
        </p:nvSpPr>
        <p:spPr>
          <a:xfrm>
            <a:off x="7404608" y="5932424"/>
            <a:ext cx="258724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1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医疗、能源、物流合计只占 16%，却是增速最快的三块</a:t>
            </a:r>
          </a:p>
        </p:txBody>
      </p:sp>
      <p:cxnSp>
        <p:nvCxnSpPr>
          <p:cNvPr id="98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气泡堆积 · 行业规模</a:t>
            </a:r>
          </a:p>
        </p:txBody>
      </p:sp>
      <p:sp>
        <p:nvSpPr>
          <p:cNvPr id="100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产线不良率控制图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26377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CONTROL CHART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131683" y="673132"/>
            <a:ext cx="348907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30 天里有两次冲出上控制线，最后 7 天连续偏高——过程正在漂移</a:t>
            </a:r>
          </a:p>
        </p:txBody>
      </p:sp>
      <p:sp>
        <p:nvSpPr>
          <p:cNvPr id="10" name="zone-0-1"/>
          <p:cNvSpPr/>
          <p:nvPr/>
        </p:nvSpPr>
        <p:spPr>
          <a:xfrm>
            <a:off x="1587500" y="2836333"/>
            <a:ext cx="6604000" cy="395111"/>
          </a:xfrm>
          <a:prstGeom prst="rect">
            <a:avLst/>
          </a:prstGeom>
          <a:solidFill>
            <a:srgbClr val="2E77C2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zone-0--1"/>
          <p:cNvSpPr/>
          <p:nvPr/>
        </p:nvSpPr>
        <p:spPr>
          <a:xfrm>
            <a:off x="1587500" y="4021667"/>
            <a:ext cx="6604000" cy="395111"/>
          </a:xfrm>
          <a:prstGeom prst="rect">
            <a:avLst/>
          </a:prstGeom>
          <a:solidFill>
            <a:srgbClr val="2E77C2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zone-1-1"/>
          <p:cNvSpPr/>
          <p:nvPr/>
        </p:nvSpPr>
        <p:spPr>
          <a:xfrm>
            <a:off x="1587500" y="2441222"/>
            <a:ext cx="6604000" cy="395111"/>
          </a:xfrm>
          <a:prstGeom prst="rect">
            <a:avLst/>
          </a:prstGeom>
          <a:solidFill>
            <a:srgbClr val="2E77C2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zone-1--1"/>
          <p:cNvSpPr/>
          <p:nvPr/>
        </p:nvSpPr>
        <p:spPr>
          <a:xfrm>
            <a:off x="1587500" y="4416778"/>
            <a:ext cx="6604000" cy="395111"/>
          </a:xfrm>
          <a:prstGeom prst="rect">
            <a:avLst/>
          </a:prstGeom>
          <a:solidFill>
            <a:srgbClr val="2E77C2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zone-c"/>
          <p:cNvSpPr/>
          <p:nvPr/>
        </p:nvSpPr>
        <p:spPr>
          <a:xfrm>
            <a:off x="1587500" y="3231444"/>
            <a:ext cx="6604000" cy="790222"/>
          </a:xfrm>
          <a:prstGeom prst="rect">
            <a:avLst/>
          </a:prstGeom>
          <a:solidFill>
            <a:srgbClr val="2E77C2">
              <a:alpha val="1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gy-1.0"/>
          <p:cNvSpPr txBox="1"/>
          <p:nvPr/>
        </p:nvSpPr>
        <p:spPr>
          <a:xfrm>
            <a:off x="1179068" y="4526957"/>
            <a:ext cx="3190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1.0%</a:t>
            </a:r>
          </a:p>
        </p:txBody>
      </p:sp>
      <p:sp>
        <p:nvSpPr>
          <p:cNvPr id="16" name="gy-2.0"/>
          <p:cNvSpPr txBox="1"/>
          <p:nvPr/>
        </p:nvSpPr>
        <p:spPr>
          <a:xfrm>
            <a:off x="1179068" y="3539180"/>
            <a:ext cx="3190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2.0%</a:t>
            </a:r>
          </a:p>
        </p:txBody>
      </p:sp>
      <p:sp>
        <p:nvSpPr>
          <p:cNvPr id="17" name="gy-3.0"/>
          <p:cNvSpPr txBox="1"/>
          <p:nvPr/>
        </p:nvSpPr>
        <p:spPr>
          <a:xfrm>
            <a:off x="1179068" y="2551402"/>
            <a:ext cx="3190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3.0%</a:t>
            </a:r>
          </a:p>
        </p:txBody>
      </p:sp>
      <p:sp>
        <p:nvSpPr>
          <p:cNvPr id="18" name="gy-4.0"/>
          <p:cNvSpPr txBox="1"/>
          <p:nvPr/>
        </p:nvSpPr>
        <p:spPr>
          <a:xfrm>
            <a:off x="1179068" y="1563624"/>
            <a:ext cx="3190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4.0%</a:t>
            </a:r>
          </a:p>
        </p:txBody>
      </p:sp>
      <p:cxnSp>
        <p:nvCxnSpPr>
          <p:cNvPr id="19" name="l-UCL"/>
          <p:cNvCxnSpPr/>
          <p:nvPr/>
        </p:nvCxnSpPr>
        <p:spPr>
          <a:xfrm>
            <a:off x="1587500" y="2441222"/>
            <a:ext cx="6604000" cy="0"/>
          </a:xfrm>
          <a:prstGeom prst="line">
            <a:avLst/>
          </a:prstGeom>
          <a:ln w="12700" cap="rnd">
            <a:solidFill>
              <a:srgbClr val="E0703A"/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lb-UCL"/>
          <p:cNvSpPr/>
          <p:nvPr/>
        </p:nvSpPr>
        <p:spPr>
          <a:xfrm>
            <a:off x="8267700" y="2345944"/>
            <a:ext cx="698500" cy="190500"/>
          </a:xfrm>
          <a:custGeom>
            <a:avLst/>
            <a:gdLst/>
            <a:ahLst/>
            <a:cxnLst/>
            <a:rect l="0" t="0" r="r" b="b"/>
            <a:pathLst>
              <a:path w="698500" h="190500">
                <a:moveTo>
                  <a:pt x="95250" y="0"/>
                </a:moveTo>
                <a:lnTo>
                  <a:pt x="603250" y="0"/>
                </a:lnTo>
                <a:cubicBezTo>
                  <a:pt x="655828" y="0"/>
                  <a:pt x="698500" y="42672"/>
                  <a:pt x="698500" y="95250"/>
                </a:cubicBezTo>
                <a:lnTo>
                  <a:pt x="698500" y="95250"/>
                </a:lnTo>
                <a:cubicBezTo>
                  <a:pt x="698500" y="147892"/>
                  <a:pt x="655828" y="190500"/>
                  <a:pt x="603250" y="190500"/>
                </a:cubicBezTo>
                <a:lnTo>
                  <a:pt x="95250" y="190500"/>
                </a:lnTo>
                <a:cubicBezTo>
                  <a:pt x="42672" y="190500"/>
                  <a:pt x="0" y="147892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lt-UCL"/>
          <p:cNvSpPr txBox="1"/>
          <p:nvPr/>
        </p:nvSpPr>
        <p:spPr>
          <a:xfrm>
            <a:off x="8377809" y="2369531"/>
            <a:ext cx="4782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UCL 3.2%</a:t>
            </a:r>
          </a:p>
        </p:txBody>
      </p:sp>
      <p:cxnSp>
        <p:nvCxnSpPr>
          <p:cNvPr id="22" name="l-CL"/>
          <p:cNvCxnSpPr/>
          <p:nvPr/>
        </p:nvCxnSpPr>
        <p:spPr>
          <a:xfrm>
            <a:off x="1587500" y="3626556"/>
            <a:ext cx="6604000" cy="0"/>
          </a:xfrm>
          <a:prstGeom prst="line">
            <a:avLst/>
          </a:prstGeom>
          <a:ln w="15875" cap="rnd">
            <a:solidFill>
              <a:srgbClr val="0B3E8F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lb-CL"/>
          <p:cNvSpPr/>
          <p:nvPr/>
        </p:nvSpPr>
        <p:spPr>
          <a:xfrm>
            <a:off x="8267700" y="3531298"/>
            <a:ext cx="698500" cy="190500"/>
          </a:xfrm>
          <a:custGeom>
            <a:avLst/>
            <a:gdLst/>
            <a:ahLst/>
            <a:cxnLst/>
            <a:rect l="0" t="0" r="r" b="b"/>
            <a:pathLst>
              <a:path w="698500" h="190500">
                <a:moveTo>
                  <a:pt x="95250" y="0"/>
                </a:moveTo>
                <a:lnTo>
                  <a:pt x="603250" y="0"/>
                </a:lnTo>
                <a:cubicBezTo>
                  <a:pt x="655828" y="0"/>
                  <a:pt x="698500" y="42672"/>
                  <a:pt x="698500" y="95250"/>
                </a:cubicBezTo>
                <a:lnTo>
                  <a:pt x="698500" y="95250"/>
                </a:lnTo>
                <a:cubicBezTo>
                  <a:pt x="698500" y="147891"/>
                  <a:pt x="655828" y="190500"/>
                  <a:pt x="603250" y="190500"/>
                </a:cubicBezTo>
                <a:lnTo>
                  <a:pt x="95250" y="190500"/>
                </a:lnTo>
                <a:cubicBezTo>
                  <a:pt x="42672" y="190500"/>
                  <a:pt x="0" y="147891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lt-CL"/>
          <p:cNvSpPr txBox="1"/>
          <p:nvPr/>
        </p:nvSpPr>
        <p:spPr>
          <a:xfrm>
            <a:off x="8402701" y="3554864"/>
            <a:ext cx="42849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CL 2.0%</a:t>
            </a:r>
          </a:p>
        </p:txBody>
      </p:sp>
      <p:cxnSp>
        <p:nvCxnSpPr>
          <p:cNvPr id="25" name="l-LCL"/>
          <p:cNvCxnSpPr/>
          <p:nvPr/>
        </p:nvCxnSpPr>
        <p:spPr>
          <a:xfrm>
            <a:off x="1587500" y="4811889"/>
            <a:ext cx="6604000" cy="0"/>
          </a:xfrm>
          <a:prstGeom prst="line">
            <a:avLst/>
          </a:prstGeom>
          <a:ln w="12700" cap="rnd">
            <a:solidFill>
              <a:srgbClr val="E0703A"/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lb-LCL"/>
          <p:cNvSpPr/>
          <p:nvPr/>
        </p:nvSpPr>
        <p:spPr>
          <a:xfrm>
            <a:off x="8267700" y="4716653"/>
            <a:ext cx="698500" cy="190500"/>
          </a:xfrm>
          <a:custGeom>
            <a:avLst/>
            <a:gdLst/>
            <a:ahLst/>
            <a:cxnLst/>
            <a:rect l="0" t="0" r="r" b="b"/>
            <a:pathLst>
              <a:path w="698500" h="190500">
                <a:moveTo>
                  <a:pt x="95250" y="0"/>
                </a:moveTo>
                <a:lnTo>
                  <a:pt x="603250" y="0"/>
                </a:lnTo>
                <a:cubicBezTo>
                  <a:pt x="655828" y="0"/>
                  <a:pt x="698500" y="42609"/>
                  <a:pt x="698500" y="95250"/>
                </a:cubicBezTo>
                <a:lnTo>
                  <a:pt x="698500" y="95250"/>
                </a:lnTo>
                <a:cubicBezTo>
                  <a:pt x="698500" y="147828"/>
                  <a:pt x="655828" y="190500"/>
                  <a:pt x="6032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09"/>
                  <a:pt x="42672" y="0"/>
                  <a:pt x="952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lt-LCL"/>
          <p:cNvSpPr txBox="1"/>
          <p:nvPr/>
        </p:nvSpPr>
        <p:spPr>
          <a:xfrm>
            <a:off x="8377809" y="4740197"/>
            <a:ext cx="4782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LCL 0.8%</a:t>
            </a:r>
          </a:p>
        </p:txBody>
      </p:sp>
      <p:sp>
        <p:nvSpPr>
          <p:cNvPr id="28" name="run"/>
          <p:cNvSpPr/>
          <p:nvPr/>
        </p:nvSpPr>
        <p:spPr>
          <a:xfrm>
            <a:off x="6623685" y="2737548"/>
            <a:ext cx="1567815" cy="839597"/>
          </a:xfrm>
          <a:custGeom>
            <a:avLst/>
            <a:gdLst/>
            <a:ahLst/>
            <a:cxnLst/>
            <a:rect l="0" t="0" r="r" b="b"/>
            <a:pathLst>
              <a:path w="1567815" h="839597">
                <a:moveTo>
                  <a:pt x="114300" y="0"/>
                </a:moveTo>
                <a:lnTo>
                  <a:pt x="1453515" y="0"/>
                </a:lnTo>
                <a:cubicBezTo>
                  <a:pt x="1516634" y="0"/>
                  <a:pt x="1567815" y="51181"/>
                  <a:pt x="1567815" y="114300"/>
                </a:cubicBezTo>
                <a:lnTo>
                  <a:pt x="1567815" y="725297"/>
                </a:lnTo>
                <a:cubicBezTo>
                  <a:pt x="1567815" y="788416"/>
                  <a:pt x="1516634" y="839597"/>
                  <a:pt x="1453515" y="839597"/>
                </a:cubicBezTo>
                <a:lnTo>
                  <a:pt x="114300" y="839597"/>
                </a:lnTo>
                <a:cubicBezTo>
                  <a:pt x="51181" y="839597"/>
                  <a:pt x="0" y="788416"/>
                  <a:pt x="0" y="725297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noFill/>
          <a:ln w="12700" cap="rnd">
            <a:solidFill>
              <a:srgbClr val="E0703A"/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run-t"/>
          <p:cNvSpPr txBox="1"/>
          <p:nvPr/>
        </p:nvSpPr>
        <p:spPr>
          <a:xfrm>
            <a:off x="6856106" y="2543722"/>
            <a:ext cx="110299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连续 7 点在中心线上方</a:t>
            </a:r>
          </a:p>
        </p:txBody>
      </p:sp>
      <p:sp>
        <p:nvSpPr>
          <p:cNvPr id="30" name="ln"/>
          <p:cNvSpPr/>
          <p:nvPr/>
        </p:nvSpPr>
        <p:spPr>
          <a:xfrm>
            <a:off x="1714500" y="2045970"/>
            <a:ext cx="6350000" cy="2172970"/>
          </a:xfrm>
          <a:custGeom>
            <a:avLst/>
            <a:gdLst/>
            <a:ahLst/>
            <a:cxnLst/>
            <a:rect l="0" t="0" r="r" b="b"/>
            <a:pathLst>
              <a:path w="6350000" h="2172970">
                <a:moveTo>
                  <a:pt x="0" y="1778000"/>
                </a:moveTo>
                <a:lnTo>
                  <a:pt x="219075" y="1383030"/>
                </a:lnTo>
                <a:lnTo>
                  <a:pt x="438150" y="1975485"/>
                </a:lnTo>
                <a:lnTo>
                  <a:pt x="656590" y="1185545"/>
                </a:lnTo>
                <a:lnTo>
                  <a:pt x="875665" y="1679575"/>
                </a:lnTo>
                <a:lnTo>
                  <a:pt x="1094740" y="1482090"/>
                </a:lnTo>
                <a:lnTo>
                  <a:pt x="1313815" y="2074545"/>
                </a:lnTo>
                <a:lnTo>
                  <a:pt x="1532890" y="988060"/>
                </a:lnTo>
                <a:lnTo>
                  <a:pt x="1751965" y="1580515"/>
                </a:lnTo>
                <a:lnTo>
                  <a:pt x="1970405" y="1877060"/>
                </a:lnTo>
                <a:lnTo>
                  <a:pt x="2189480" y="1283970"/>
                </a:lnTo>
                <a:lnTo>
                  <a:pt x="2408555" y="0"/>
                </a:lnTo>
                <a:lnTo>
                  <a:pt x="2627630" y="1482090"/>
                </a:lnTo>
                <a:lnTo>
                  <a:pt x="2846705" y="1975485"/>
                </a:lnTo>
                <a:lnTo>
                  <a:pt x="3065780" y="1679575"/>
                </a:lnTo>
                <a:lnTo>
                  <a:pt x="3284220" y="1185545"/>
                </a:lnTo>
                <a:lnTo>
                  <a:pt x="3503295" y="2172970"/>
                </a:lnTo>
                <a:lnTo>
                  <a:pt x="3722370" y="1580515"/>
                </a:lnTo>
                <a:lnTo>
                  <a:pt x="3941445" y="1383030"/>
                </a:lnTo>
                <a:lnTo>
                  <a:pt x="4160520" y="1778000"/>
                </a:lnTo>
                <a:lnTo>
                  <a:pt x="4379595" y="1877060"/>
                </a:lnTo>
                <a:lnTo>
                  <a:pt x="4598035" y="1086485"/>
                </a:lnTo>
                <a:lnTo>
                  <a:pt x="4817110" y="197485"/>
                </a:lnTo>
                <a:lnTo>
                  <a:pt x="5036185" y="1283970"/>
                </a:lnTo>
                <a:lnTo>
                  <a:pt x="5255260" y="1185545"/>
                </a:lnTo>
                <a:lnTo>
                  <a:pt x="5474335" y="1383030"/>
                </a:lnTo>
                <a:lnTo>
                  <a:pt x="5693410" y="988060"/>
                </a:lnTo>
                <a:lnTo>
                  <a:pt x="5911850" y="1283970"/>
                </a:lnTo>
                <a:lnTo>
                  <a:pt x="6130925" y="1086485"/>
                </a:lnTo>
                <a:lnTo>
                  <a:pt x="6350000" y="889000"/>
                </a:lnTo>
              </a:path>
            </a:pathLst>
          </a:custGeom>
          <a:noFill/>
          <a:ln w="1587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p-1"/>
          <p:cNvSpPr/>
          <p:nvPr/>
        </p:nvSpPr>
        <p:spPr>
          <a:xfrm>
            <a:off x="1673225" y="3782836"/>
            <a:ext cx="82550" cy="8255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gx-1"/>
          <p:cNvSpPr txBox="1"/>
          <p:nvPr/>
        </p:nvSpPr>
        <p:spPr>
          <a:xfrm>
            <a:off x="1640332" y="52974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33" name="p-2"/>
          <p:cNvSpPr/>
          <p:nvPr/>
        </p:nvSpPr>
        <p:spPr>
          <a:xfrm>
            <a:off x="1892191" y="3387725"/>
            <a:ext cx="82550" cy="8255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p-3"/>
          <p:cNvSpPr/>
          <p:nvPr/>
        </p:nvSpPr>
        <p:spPr>
          <a:xfrm>
            <a:off x="2111156" y="3980392"/>
            <a:ext cx="82550" cy="8255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p-4"/>
          <p:cNvSpPr/>
          <p:nvPr/>
        </p:nvSpPr>
        <p:spPr>
          <a:xfrm>
            <a:off x="2330122" y="3190169"/>
            <a:ext cx="82550" cy="8255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p-5"/>
          <p:cNvSpPr/>
          <p:nvPr/>
        </p:nvSpPr>
        <p:spPr>
          <a:xfrm>
            <a:off x="2549087" y="3684058"/>
            <a:ext cx="82550" cy="8255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gx-5"/>
          <p:cNvSpPr txBox="1"/>
          <p:nvPr/>
        </p:nvSpPr>
        <p:spPr>
          <a:xfrm>
            <a:off x="2516194" y="529742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  <p:sp>
        <p:nvSpPr>
          <p:cNvPr id="38" name="p-6"/>
          <p:cNvSpPr/>
          <p:nvPr/>
        </p:nvSpPr>
        <p:spPr>
          <a:xfrm>
            <a:off x="2768053" y="3486503"/>
            <a:ext cx="82550" cy="8255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p-7"/>
          <p:cNvSpPr/>
          <p:nvPr/>
        </p:nvSpPr>
        <p:spPr>
          <a:xfrm>
            <a:off x="2987018" y="4079169"/>
            <a:ext cx="82550" cy="8255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p-8"/>
          <p:cNvSpPr/>
          <p:nvPr/>
        </p:nvSpPr>
        <p:spPr>
          <a:xfrm>
            <a:off x="3205984" y="2992614"/>
            <a:ext cx="82550" cy="8255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p-9"/>
          <p:cNvSpPr/>
          <p:nvPr/>
        </p:nvSpPr>
        <p:spPr>
          <a:xfrm>
            <a:off x="3424949" y="3585281"/>
            <a:ext cx="82550" cy="8255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p-10"/>
          <p:cNvSpPr/>
          <p:nvPr/>
        </p:nvSpPr>
        <p:spPr>
          <a:xfrm>
            <a:off x="3643915" y="3881614"/>
            <a:ext cx="82550" cy="8255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gx-10"/>
          <p:cNvSpPr txBox="1"/>
          <p:nvPr/>
        </p:nvSpPr>
        <p:spPr>
          <a:xfrm>
            <a:off x="3582574" y="52974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10</a:t>
            </a:r>
          </a:p>
        </p:txBody>
      </p:sp>
      <p:sp>
        <p:nvSpPr>
          <p:cNvPr id="44" name="p-11"/>
          <p:cNvSpPr/>
          <p:nvPr/>
        </p:nvSpPr>
        <p:spPr>
          <a:xfrm>
            <a:off x="3862880" y="3288947"/>
            <a:ext cx="82550" cy="8255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p-12"/>
          <p:cNvSpPr/>
          <p:nvPr/>
        </p:nvSpPr>
        <p:spPr>
          <a:xfrm>
            <a:off x="4053271" y="1976261"/>
            <a:ext cx="139700" cy="1397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pt-12"/>
          <p:cNvSpPr txBox="1"/>
          <p:nvPr/>
        </p:nvSpPr>
        <p:spPr>
          <a:xfrm>
            <a:off x="3744978" y="1788777"/>
            <a:ext cx="7562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第 12 天 3.6%</a:t>
            </a:r>
          </a:p>
        </p:txBody>
      </p:sp>
      <p:sp>
        <p:nvSpPr>
          <p:cNvPr id="47" name="p-13"/>
          <p:cNvSpPr/>
          <p:nvPr/>
        </p:nvSpPr>
        <p:spPr>
          <a:xfrm>
            <a:off x="4300811" y="3486503"/>
            <a:ext cx="82550" cy="8255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p-14"/>
          <p:cNvSpPr/>
          <p:nvPr/>
        </p:nvSpPr>
        <p:spPr>
          <a:xfrm>
            <a:off x="4519777" y="3980392"/>
            <a:ext cx="82550" cy="8255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p-15"/>
          <p:cNvSpPr/>
          <p:nvPr/>
        </p:nvSpPr>
        <p:spPr>
          <a:xfrm>
            <a:off x="4738742" y="3684058"/>
            <a:ext cx="82550" cy="8255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gx-15"/>
          <p:cNvSpPr txBox="1"/>
          <p:nvPr/>
        </p:nvSpPr>
        <p:spPr>
          <a:xfrm>
            <a:off x="4677401" y="52974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15</a:t>
            </a:r>
          </a:p>
        </p:txBody>
      </p:sp>
      <p:sp>
        <p:nvSpPr>
          <p:cNvPr id="51" name="p-16"/>
          <p:cNvSpPr/>
          <p:nvPr/>
        </p:nvSpPr>
        <p:spPr>
          <a:xfrm>
            <a:off x="4957708" y="3190169"/>
            <a:ext cx="82550" cy="8255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p-17"/>
          <p:cNvSpPr/>
          <p:nvPr/>
        </p:nvSpPr>
        <p:spPr>
          <a:xfrm>
            <a:off x="5176673" y="4177947"/>
            <a:ext cx="82550" cy="8255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p-18"/>
          <p:cNvSpPr/>
          <p:nvPr/>
        </p:nvSpPr>
        <p:spPr>
          <a:xfrm>
            <a:off x="5395639" y="3585281"/>
            <a:ext cx="82550" cy="8255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p-19"/>
          <p:cNvSpPr/>
          <p:nvPr/>
        </p:nvSpPr>
        <p:spPr>
          <a:xfrm>
            <a:off x="5614604" y="3387725"/>
            <a:ext cx="82550" cy="8255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p-20"/>
          <p:cNvSpPr/>
          <p:nvPr/>
        </p:nvSpPr>
        <p:spPr>
          <a:xfrm>
            <a:off x="5833570" y="3782836"/>
            <a:ext cx="82550" cy="8255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gx-20"/>
          <p:cNvSpPr txBox="1"/>
          <p:nvPr/>
        </p:nvSpPr>
        <p:spPr>
          <a:xfrm>
            <a:off x="5772229" y="52974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20</a:t>
            </a:r>
          </a:p>
        </p:txBody>
      </p:sp>
      <p:sp>
        <p:nvSpPr>
          <p:cNvPr id="57" name="p-21"/>
          <p:cNvSpPr/>
          <p:nvPr/>
        </p:nvSpPr>
        <p:spPr>
          <a:xfrm>
            <a:off x="6052535" y="3881614"/>
            <a:ext cx="82550" cy="8255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p-22"/>
          <p:cNvSpPr/>
          <p:nvPr/>
        </p:nvSpPr>
        <p:spPr>
          <a:xfrm>
            <a:off x="6271501" y="3091392"/>
            <a:ext cx="82550" cy="8255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p-23"/>
          <p:cNvSpPr/>
          <p:nvPr/>
        </p:nvSpPr>
        <p:spPr>
          <a:xfrm>
            <a:off x="6461891" y="2173817"/>
            <a:ext cx="139700" cy="139700"/>
          </a:xfrm>
          <a:prstGeom prst="ellipse">
            <a:avLst/>
          </a:prstGeom>
          <a:solidFill>
            <a:srgbClr val="E0703A"/>
          </a:solidFill>
          <a:ln w="1905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pt-23"/>
          <p:cNvSpPr txBox="1"/>
          <p:nvPr/>
        </p:nvSpPr>
        <p:spPr>
          <a:xfrm>
            <a:off x="6153599" y="1986333"/>
            <a:ext cx="7562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第 23 天 3.4%</a:t>
            </a:r>
          </a:p>
        </p:txBody>
      </p:sp>
      <p:sp>
        <p:nvSpPr>
          <p:cNvPr id="61" name="p-24"/>
          <p:cNvSpPr/>
          <p:nvPr/>
        </p:nvSpPr>
        <p:spPr>
          <a:xfrm>
            <a:off x="6709432" y="3288947"/>
            <a:ext cx="82550" cy="8255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p-25"/>
          <p:cNvSpPr/>
          <p:nvPr/>
        </p:nvSpPr>
        <p:spPr>
          <a:xfrm>
            <a:off x="6928397" y="3190169"/>
            <a:ext cx="82550" cy="8255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gx-25"/>
          <p:cNvSpPr txBox="1"/>
          <p:nvPr/>
        </p:nvSpPr>
        <p:spPr>
          <a:xfrm>
            <a:off x="6867056" y="52974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25</a:t>
            </a:r>
          </a:p>
        </p:txBody>
      </p:sp>
      <p:sp>
        <p:nvSpPr>
          <p:cNvPr id="64" name="p-26"/>
          <p:cNvSpPr/>
          <p:nvPr/>
        </p:nvSpPr>
        <p:spPr>
          <a:xfrm>
            <a:off x="7147363" y="3387725"/>
            <a:ext cx="82550" cy="8255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p-27"/>
          <p:cNvSpPr/>
          <p:nvPr/>
        </p:nvSpPr>
        <p:spPr>
          <a:xfrm>
            <a:off x="7366328" y="2992614"/>
            <a:ext cx="82550" cy="8255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p-28"/>
          <p:cNvSpPr/>
          <p:nvPr/>
        </p:nvSpPr>
        <p:spPr>
          <a:xfrm>
            <a:off x="7585294" y="3288947"/>
            <a:ext cx="82550" cy="8255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p-29"/>
          <p:cNvSpPr/>
          <p:nvPr/>
        </p:nvSpPr>
        <p:spPr>
          <a:xfrm>
            <a:off x="7804259" y="3091392"/>
            <a:ext cx="82550" cy="8255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p-30"/>
          <p:cNvSpPr/>
          <p:nvPr/>
        </p:nvSpPr>
        <p:spPr>
          <a:xfrm>
            <a:off x="8023225" y="2893836"/>
            <a:ext cx="82550" cy="82550"/>
          </a:xfrm>
          <a:prstGeom prst="ellipse">
            <a:avLst/>
          </a:prstGeom>
          <a:solidFill>
            <a:srgbClr val="FFFFFF"/>
          </a:solidFill>
          <a:ln w="1587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gx-30"/>
          <p:cNvSpPr txBox="1"/>
          <p:nvPr/>
        </p:nvSpPr>
        <p:spPr>
          <a:xfrm>
            <a:off x="7961884" y="52974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30</a:t>
            </a:r>
          </a:p>
        </p:txBody>
      </p:sp>
      <p:sp>
        <p:nvSpPr>
          <p:cNvPr id="70" name="gx-u"/>
          <p:cNvSpPr txBox="1"/>
          <p:nvPr/>
        </p:nvSpPr>
        <p:spPr>
          <a:xfrm>
            <a:off x="8333232" y="5313108"/>
            <a:ext cx="3467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（日）</a:t>
            </a:r>
          </a:p>
        </p:txBody>
      </p:sp>
      <p:sp>
        <p:nvSpPr>
          <p:cNvPr id="71" name="side-bar"/>
          <p:cNvSpPr/>
          <p:nvPr/>
        </p:nvSpPr>
        <p:spPr>
          <a:xfrm>
            <a:off x="9271000" y="15875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side-h"/>
          <p:cNvSpPr txBox="1"/>
          <p:nvPr/>
        </p:nvSpPr>
        <p:spPr>
          <a:xfrm>
            <a:off x="9429750" y="15946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判异结果</a:t>
            </a:r>
          </a:p>
        </p:txBody>
      </p:sp>
      <p:sp>
        <p:nvSpPr>
          <p:cNvPr id="73" name="side-p"/>
          <p:cNvSpPr txBox="1"/>
          <p:nvPr/>
        </p:nvSpPr>
        <p:spPr>
          <a:xfrm>
            <a:off x="9436989" y="1885045"/>
            <a:ext cx="1143699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中心线 ±3σ，σ = 0.4%</a:t>
            </a:r>
          </a:p>
        </p:txBody>
      </p:sp>
      <p:sp>
        <p:nvSpPr>
          <p:cNvPr id="74" name="k-1"/>
          <p:cNvSpPr/>
          <p:nvPr/>
        </p:nvSpPr>
        <p:spPr>
          <a:xfrm>
            <a:off x="9271000" y="2260600"/>
            <a:ext cx="1968500" cy="889000"/>
          </a:xfrm>
          <a:custGeom>
            <a:avLst/>
            <a:gdLst/>
            <a:ahLst/>
            <a:cxnLst/>
            <a:rect l="0" t="0" r="r" b="b"/>
            <a:pathLst>
              <a:path w="1968500" h="889000">
                <a:moveTo>
                  <a:pt x="127000" y="0"/>
                </a:moveTo>
                <a:lnTo>
                  <a:pt x="1841500" y="0"/>
                </a:lnTo>
                <a:cubicBezTo>
                  <a:pt x="1911667" y="0"/>
                  <a:pt x="1968500" y="56832"/>
                  <a:pt x="1968500" y="127000"/>
                </a:cubicBezTo>
                <a:lnTo>
                  <a:pt x="1968500" y="762000"/>
                </a:lnTo>
                <a:cubicBezTo>
                  <a:pt x="1968500" y="832168"/>
                  <a:pt x="1911667" y="889000"/>
                  <a:pt x="1841500" y="889000"/>
                </a:cubicBezTo>
                <a:lnTo>
                  <a:pt x="127000" y="889000"/>
                </a:lnTo>
                <a:cubicBezTo>
                  <a:pt x="56833" y="889000"/>
                  <a:pt x="0" y="832168"/>
                  <a:pt x="0" y="762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kh-1"/>
          <p:cNvSpPr txBox="1"/>
          <p:nvPr/>
        </p:nvSpPr>
        <p:spPr>
          <a:xfrm>
            <a:off x="9436608" y="2389124"/>
            <a:ext cx="63119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超出控制线</a:t>
            </a:r>
          </a:p>
        </p:txBody>
      </p:sp>
      <p:sp>
        <p:nvSpPr>
          <p:cNvPr id="76" name="kv-1"/>
          <p:cNvSpPr txBox="1"/>
          <p:nvPr/>
        </p:nvSpPr>
        <p:spPr>
          <a:xfrm>
            <a:off x="9422892" y="2552764"/>
            <a:ext cx="652018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2 次</a:t>
            </a:r>
          </a:p>
        </p:txBody>
      </p:sp>
      <p:sp>
        <p:nvSpPr>
          <p:cNvPr id="77" name="kd-1"/>
          <p:cNvSpPr txBox="1"/>
          <p:nvPr/>
        </p:nvSpPr>
        <p:spPr>
          <a:xfrm>
            <a:off x="9437370" y="2917666"/>
            <a:ext cx="6915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第 12、23 天</a:t>
            </a:r>
          </a:p>
        </p:txBody>
      </p:sp>
      <p:sp>
        <p:nvSpPr>
          <p:cNvPr id="78" name="k-2"/>
          <p:cNvSpPr/>
          <p:nvPr/>
        </p:nvSpPr>
        <p:spPr>
          <a:xfrm>
            <a:off x="9271000" y="3276600"/>
            <a:ext cx="1968500" cy="889000"/>
          </a:xfrm>
          <a:custGeom>
            <a:avLst/>
            <a:gdLst/>
            <a:ahLst/>
            <a:cxnLst/>
            <a:rect l="0" t="0" r="r" b="b"/>
            <a:pathLst>
              <a:path w="1968500" h="889000">
                <a:moveTo>
                  <a:pt x="127000" y="0"/>
                </a:moveTo>
                <a:lnTo>
                  <a:pt x="1841500" y="0"/>
                </a:lnTo>
                <a:cubicBezTo>
                  <a:pt x="1911667" y="0"/>
                  <a:pt x="1968500" y="56833"/>
                  <a:pt x="1968500" y="127000"/>
                </a:cubicBezTo>
                <a:lnTo>
                  <a:pt x="1968500" y="762000"/>
                </a:lnTo>
                <a:cubicBezTo>
                  <a:pt x="1968500" y="832167"/>
                  <a:pt x="1911667" y="889000"/>
                  <a:pt x="1841500" y="889000"/>
                </a:cubicBezTo>
                <a:lnTo>
                  <a:pt x="127000" y="889000"/>
                </a:lnTo>
                <a:cubicBezTo>
                  <a:pt x="56833" y="889000"/>
                  <a:pt x="0" y="832167"/>
                  <a:pt x="0" y="762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E8793F"/>
              </a:gs>
              <a:gs pos="100000">
                <a:srgbClr val="C95A22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kh-2"/>
          <p:cNvSpPr txBox="1"/>
          <p:nvPr/>
        </p:nvSpPr>
        <p:spPr>
          <a:xfrm>
            <a:off x="9436608" y="3405124"/>
            <a:ext cx="5232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50">
                <a:solidFill>
                  <a:srgbClr val="FFE3D2"/>
                </a:solidFill>
                <a:latin typeface="微软雅黑"/>
                <a:ea typeface="微软雅黑"/>
                <a:cs typeface="微软雅黑"/>
              </a:rPr>
              <a:t>连续偏高</a:t>
            </a:r>
          </a:p>
        </p:txBody>
      </p:sp>
      <p:sp>
        <p:nvSpPr>
          <p:cNvPr id="80" name="kv-2"/>
          <p:cNvSpPr txBox="1"/>
          <p:nvPr/>
        </p:nvSpPr>
        <p:spPr>
          <a:xfrm>
            <a:off x="9422892" y="3568764"/>
            <a:ext cx="652018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7 天</a:t>
            </a:r>
          </a:p>
        </p:txBody>
      </p:sp>
      <p:sp>
        <p:nvSpPr>
          <p:cNvPr id="81" name="kd-2"/>
          <p:cNvSpPr txBox="1"/>
          <p:nvPr/>
        </p:nvSpPr>
        <p:spPr>
          <a:xfrm>
            <a:off x="9437370" y="3933666"/>
            <a:ext cx="6496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FFF1E8"/>
                </a:solidFill>
                <a:latin typeface="微软雅黑"/>
                <a:ea typeface="微软雅黑"/>
                <a:cs typeface="微软雅黑"/>
              </a:rPr>
              <a:t>第 24–30 天</a:t>
            </a:r>
          </a:p>
        </p:txBody>
      </p:sp>
      <p:sp>
        <p:nvSpPr>
          <p:cNvPr id="82" name="k-3"/>
          <p:cNvSpPr/>
          <p:nvPr/>
        </p:nvSpPr>
        <p:spPr>
          <a:xfrm>
            <a:off x="9271000" y="4292600"/>
            <a:ext cx="1968500" cy="889000"/>
          </a:xfrm>
          <a:custGeom>
            <a:avLst/>
            <a:gdLst/>
            <a:ahLst/>
            <a:cxnLst/>
            <a:rect l="0" t="0" r="r" b="b"/>
            <a:pathLst>
              <a:path w="1968500" h="889000">
                <a:moveTo>
                  <a:pt x="127000" y="0"/>
                </a:moveTo>
                <a:lnTo>
                  <a:pt x="1841500" y="0"/>
                </a:lnTo>
                <a:cubicBezTo>
                  <a:pt x="1911667" y="0"/>
                  <a:pt x="1968500" y="56833"/>
                  <a:pt x="1968500" y="127000"/>
                </a:cubicBezTo>
                <a:lnTo>
                  <a:pt x="1968500" y="762000"/>
                </a:lnTo>
                <a:cubicBezTo>
                  <a:pt x="1968500" y="832167"/>
                  <a:pt x="1911667" y="889000"/>
                  <a:pt x="1841500" y="889000"/>
                </a:cubicBezTo>
                <a:lnTo>
                  <a:pt x="127000" y="889000"/>
                </a:lnTo>
                <a:cubicBezTo>
                  <a:pt x="56833" y="889000"/>
                  <a:pt x="0" y="832167"/>
                  <a:pt x="0" y="762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kh-3"/>
          <p:cNvSpPr txBox="1"/>
          <p:nvPr/>
        </p:nvSpPr>
        <p:spPr>
          <a:xfrm>
            <a:off x="9436608" y="4421124"/>
            <a:ext cx="71297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近 7 天均值</a:t>
            </a:r>
          </a:p>
        </p:txBody>
      </p:sp>
      <p:sp>
        <p:nvSpPr>
          <p:cNvPr id="84" name="kv-3"/>
          <p:cNvSpPr txBox="1"/>
          <p:nvPr/>
        </p:nvSpPr>
        <p:spPr>
          <a:xfrm>
            <a:off x="9422892" y="4584764"/>
            <a:ext cx="798830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2.43%</a:t>
            </a:r>
          </a:p>
        </p:txBody>
      </p:sp>
      <p:sp>
        <p:nvSpPr>
          <p:cNvPr id="85" name="kd-3"/>
          <p:cNvSpPr txBox="1"/>
          <p:nvPr/>
        </p:nvSpPr>
        <p:spPr>
          <a:xfrm>
            <a:off x="9437370" y="4949666"/>
            <a:ext cx="10725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比中心线高 0.43 个点</a:t>
            </a:r>
          </a:p>
        </p:txBody>
      </p:sp>
      <p:sp>
        <p:nvSpPr>
          <p:cNvPr id="86" name="sum"/>
          <p:cNvSpPr/>
          <p:nvPr/>
        </p:nvSpPr>
        <p:spPr>
          <a:xfrm>
            <a:off x="952500" y="5727700"/>
            <a:ext cx="10287000" cy="431800"/>
          </a:xfrm>
          <a:custGeom>
            <a:avLst/>
            <a:gdLst/>
            <a:ahLst/>
            <a:cxnLst/>
            <a:rect l="0" t="0" r="r" b="b"/>
            <a:pathLst>
              <a:path w="10287000" h="4318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42900"/>
                </a:lnTo>
                <a:cubicBezTo>
                  <a:pt x="10287000" y="391986"/>
                  <a:pt x="10247186" y="431800"/>
                  <a:pt x="10198100" y="431800"/>
                </a:cubicBezTo>
                <a:lnTo>
                  <a:pt x="88900" y="431800"/>
                </a:lnTo>
                <a:cubicBezTo>
                  <a:pt x="39815" y="431800"/>
                  <a:pt x="0" y="391986"/>
                  <a:pt x="0" y="3429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sum-bar"/>
          <p:cNvSpPr/>
          <p:nvPr/>
        </p:nvSpPr>
        <p:spPr>
          <a:xfrm>
            <a:off x="952500" y="5727700"/>
            <a:ext cx="31750" cy="4318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sum-h"/>
          <p:cNvSpPr txBox="1"/>
          <p:nvPr/>
        </p:nvSpPr>
        <p:spPr>
          <a:xfrm>
            <a:off x="1142746" y="5873782"/>
            <a:ext cx="3384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处置</a:t>
            </a:r>
          </a:p>
        </p:txBody>
      </p:sp>
      <p:sp>
        <p:nvSpPr>
          <p:cNvPr id="89" name="sum-p"/>
          <p:cNvSpPr txBox="1"/>
          <p:nvPr/>
        </p:nvSpPr>
        <p:spPr>
          <a:xfrm>
            <a:off x="1637665" y="5869861"/>
            <a:ext cx="456469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两次超限查单点原因；连续偏高说明系统性漂移，优先排查第 24 天更换的新批次原料。</a:t>
            </a:r>
          </a:p>
        </p:txBody>
      </p:sp>
      <p:cxnSp>
        <p:nvCxnSpPr>
          <p:cNvPr id="90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foot-l"/>
          <p:cNvSpPr txBox="1"/>
          <p:nvPr/>
        </p:nvSpPr>
        <p:spPr>
          <a:xfrm>
            <a:off x="573532" y="6532308"/>
            <a:ext cx="112483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控制图 · 30 天不良率</a:t>
            </a:r>
          </a:p>
        </p:txBody>
      </p:sp>
      <p:sp>
        <p:nvSpPr>
          <p:cNvPr id="92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9946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未来九个月营收预测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71907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FAN CHART FORECAST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036687" y="673132"/>
            <a:ext cx="358406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实线是过去 21 个月，扇形是预测——颜色越深，落在里面的把握越大</a:t>
            </a:r>
          </a:p>
        </p:txBody>
      </p:sp>
      <p:cxnSp>
        <p:nvCxnSpPr>
          <p:cNvPr id="10" name="gy-60"/>
          <p:cNvCxnSpPr/>
          <p:nvPr/>
        </p:nvCxnSpPr>
        <p:spPr>
          <a:xfrm>
            <a:off x="1587500" y="5080000"/>
            <a:ext cx="6350000" cy="0"/>
          </a:xfrm>
          <a:prstGeom prst="line">
            <a:avLst/>
          </a:prstGeom>
          <a:ln w="635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gyt-60"/>
          <p:cNvSpPr txBox="1"/>
          <p:nvPr/>
        </p:nvSpPr>
        <p:spPr>
          <a:xfrm>
            <a:off x="1292860" y="49926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60</a:t>
            </a:r>
          </a:p>
        </p:txBody>
      </p:sp>
      <p:cxnSp>
        <p:nvCxnSpPr>
          <p:cNvPr id="12" name="gy-80"/>
          <p:cNvCxnSpPr/>
          <p:nvPr/>
        </p:nvCxnSpPr>
        <p:spPr>
          <a:xfrm>
            <a:off x="1587500" y="4394200"/>
            <a:ext cx="63500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gyt-80"/>
          <p:cNvSpPr txBox="1"/>
          <p:nvPr/>
        </p:nvSpPr>
        <p:spPr>
          <a:xfrm>
            <a:off x="1292860" y="43068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80</a:t>
            </a:r>
          </a:p>
        </p:txBody>
      </p:sp>
      <p:cxnSp>
        <p:nvCxnSpPr>
          <p:cNvPr id="14" name="gy-100"/>
          <p:cNvCxnSpPr/>
          <p:nvPr/>
        </p:nvCxnSpPr>
        <p:spPr>
          <a:xfrm>
            <a:off x="1587500" y="3708400"/>
            <a:ext cx="63500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gyt-100"/>
          <p:cNvSpPr txBox="1"/>
          <p:nvPr/>
        </p:nvSpPr>
        <p:spPr>
          <a:xfrm>
            <a:off x="1235964" y="36210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100</a:t>
            </a:r>
          </a:p>
        </p:txBody>
      </p:sp>
      <p:cxnSp>
        <p:nvCxnSpPr>
          <p:cNvPr id="16" name="gy-120"/>
          <p:cNvCxnSpPr/>
          <p:nvPr/>
        </p:nvCxnSpPr>
        <p:spPr>
          <a:xfrm>
            <a:off x="1587500" y="3022600"/>
            <a:ext cx="63500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gyt-120"/>
          <p:cNvSpPr txBox="1"/>
          <p:nvPr/>
        </p:nvSpPr>
        <p:spPr>
          <a:xfrm>
            <a:off x="1235964" y="29352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120</a:t>
            </a:r>
          </a:p>
        </p:txBody>
      </p:sp>
      <p:cxnSp>
        <p:nvCxnSpPr>
          <p:cNvPr id="18" name="gy-140"/>
          <p:cNvCxnSpPr/>
          <p:nvPr/>
        </p:nvCxnSpPr>
        <p:spPr>
          <a:xfrm>
            <a:off x="1587500" y="2336800"/>
            <a:ext cx="63500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gyt-140"/>
          <p:cNvSpPr txBox="1"/>
          <p:nvPr/>
        </p:nvSpPr>
        <p:spPr>
          <a:xfrm>
            <a:off x="1235964" y="22494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140</a:t>
            </a:r>
          </a:p>
        </p:txBody>
      </p:sp>
      <p:cxnSp>
        <p:nvCxnSpPr>
          <p:cNvPr id="20" name="gy-160"/>
          <p:cNvCxnSpPr/>
          <p:nvPr/>
        </p:nvCxnSpPr>
        <p:spPr>
          <a:xfrm>
            <a:off x="1587500" y="1651000"/>
            <a:ext cx="6350000" cy="0"/>
          </a:xfrm>
          <a:prstGeom prst="line">
            <a:avLst/>
          </a:prstGeom>
          <a:ln w="635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gyt-160"/>
          <p:cNvSpPr txBox="1"/>
          <p:nvPr/>
        </p:nvSpPr>
        <p:spPr>
          <a:xfrm>
            <a:off x="1235964" y="1563624"/>
            <a:ext cx="262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160</a:t>
            </a:r>
          </a:p>
        </p:txBody>
      </p:sp>
      <p:sp>
        <p:nvSpPr>
          <p:cNvPr id="22" name="unit"/>
          <p:cNvSpPr txBox="1"/>
          <p:nvPr/>
        </p:nvSpPr>
        <p:spPr>
          <a:xfrm>
            <a:off x="1149858" y="1401508"/>
            <a:ext cx="3467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百万元</a:t>
            </a:r>
          </a:p>
        </p:txBody>
      </p:sp>
      <p:sp>
        <p:nvSpPr>
          <p:cNvPr id="23" name="gx-0"/>
          <p:cNvSpPr txBox="1"/>
          <p:nvPr/>
        </p:nvSpPr>
        <p:spPr>
          <a:xfrm>
            <a:off x="1411288" y="5165566"/>
            <a:ext cx="3524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25.01</a:t>
            </a:r>
          </a:p>
        </p:txBody>
      </p:sp>
      <p:sp>
        <p:nvSpPr>
          <p:cNvPr id="24" name="gx-3"/>
          <p:cNvSpPr txBox="1"/>
          <p:nvPr/>
        </p:nvSpPr>
        <p:spPr>
          <a:xfrm>
            <a:off x="2068184" y="5165566"/>
            <a:ext cx="3524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25.04</a:t>
            </a:r>
          </a:p>
        </p:txBody>
      </p:sp>
      <p:sp>
        <p:nvSpPr>
          <p:cNvPr id="25" name="gx-6"/>
          <p:cNvSpPr txBox="1"/>
          <p:nvPr/>
        </p:nvSpPr>
        <p:spPr>
          <a:xfrm>
            <a:off x="2725081" y="5165566"/>
            <a:ext cx="3524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25.07</a:t>
            </a:r>
          </a:p>
        </p:txBody>
      </p:sp>
      <p:sp>
        <p:nvSpPr>
          <p:cNvPr id="26" name="gx-9"/>
          <p:cNvSpPr txBox="1"/>
          <p:nvPr/>
        </p:nvSpPr>
        <p:spPr>
          <a:xfrm>
            <a:off x="3381977" y="5165566"/>
            <a:ext cx="3524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25.10</a:t>
            </a:r>
          </a:p>
        </p:txBody>
      </p:sp>
      <p:sp>
        <p:nvSpPr>
          <p:cNvPr id="27" name="gx-12"/>
          <p:cNvSpPr txBox="1"/>
          <p:nvPr/>
        </p:nvSpPr>
        <p:spPr>
          <a:xfrm>
            <a:off x="4038874" y="5165566"/>
            <a:ext cx="3524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26.01</a:t>
            </a:r>
          </a:p>
        </p:txBody>
      </p:sp>
      <p:sp>
        <p:nvSpPr>
          <p:cNvPr id="28" name="gx-15"/>
          <p:cNvSpPr txBox="1"/>
          <p:nvPr/>
        </p:nvSpPr>
        <p:spPr>
          <a:xfrm>
            <a:off x="4695770" y="5165566"/>
            <a:ext cx="3524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26.04</a:t>
            </a:r>
          </a:p>
        </p:txBody>
      </p:sp>
      <p:sp>
        <p:nvSpPr>
          <p:cNvPr id="29" name="gx-18"/>
          <p:cNvSpPr txBox="1"/>
          <p:nvPr/>
        </p:nvSpPr>
        <p:spPr>
          <a:xfrm>
            <a:off x="5352667" y="5165566"/>
            <a:ext cx="3524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26.07</a:t>
            </a:r>
          </a:p>
        </p:txBody>
      </p:sp>
      <p:sp>
        <p:nvSpPr>
          <p:cNvPr id="30" name="gx-21"/>
          <p:cNvSpPr txBox="1"/>
          <p:nvPr/>
        </p:nvSpPr>
        <p:spPr>
          <a:xfrm>
            <a:off x="6009563" y="5165566"/>
            <a:ext cx="3524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26.10</a:t>
            </a:r>
          </a:p>
        </p:txBody>
      </p:sp>
      <p:sp>
        <p:nvSpPr>
          <p:cNvPr id="31" name="gx-24"/>
          <p:cNvSpPr txBox="1"/>
          <p:nvPr/>
        </p:nvSpPr>
        <p:spPr>
          <a:xfrm>
            <a:off x="6666460" y="5165566"/>
            <a:ext cx="3524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27.01</a:t>
            </a:r>
          </a:p>
        </p:txBody>
      </p:sp>
      <p:sp>
        <p:nvSpPr>
          <p:cNvPr id="32" name="gx-27"/>
          <p:cNvSpPr txBox="1"/>
          <p:nvPr/>
        </p:nvSpPr>
        <p:spPr>
          <a:xfrm>
            <a:off x="7323356" y="5165566"/>
            <a:ext cx="3524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>
                <a:solidFill>
                  <a:srgbClr val="7E93AE"/>
                </a:solidFill>
                <a:latin typeface="Arial"/>
                <a:ea typeface="Arial"/>
                <a:cs typeface="Arial"/>
              </a:rPr>
              <a:t>27.04</a:t>
            </a:r>
          </a:p>
        </p:txBody>
      </p:sp>
      <p:sp>
        <p:nvSpPr>
          <p:cNvPr id="33" name="fc-zone"/>
          <p:cNvSpPr/>
          <p:nvPr/>
        </p:nvSpPr>
        <p:spPr>
          <a:xfrm>
            <a:off x="5966810" y="1587500"/>
            <a:ext cx="1970690" cy="3492500"/>
          </a:xfrm>
          <a:prstGeom prst="rect">
            <a:avLst/>
          </a:prstGeom>
          <a:solidFill>
            <a:srgbClr val="DCE7F5">
              <a:alpha val="3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cxnSp>
        <p:nvCxnSpPr>
          <p:cNvPr id="34" name="now"/>
          <p:cNvCxnSpPr/>
          <p:nvPr/>
        </p:nvCxnSpPr>
        <p:spPr>
          <a:xfrm>
            <a:off x="5966810" y="1587500"/>
            <a:ext cx="0" cy="3492500"/>
          </a:xfrm>
          <a:prstGeom prst="line">
            <a:avLst/>
          </a:prstGeom>
          <a:ln w="9525" cap="rnd">
            <a:solidFill>
              <a:srgbClr val="0B2545">
                <a:alpha val="3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now-b"/>
          <p:cNvSpPr/>
          <p:nvPr/>
        </p:nvSpPr>
        <p:spPr>
          <a:xfrm>
            <a:off x="5687441" y="1397000"/>
            <a:ext cx="558800" cy="177800"/>
          </a:xfrm>
          <a:custGeom>
            <a:avLst/>
            <a:gdLst/>
            <a:ahLst/>
            <a:cxnLst/>
            <a:rect l="0" t="0" r="r" b="b"/>
            <a:pathLst>
              <a:path w="558800" h="177800">
                <a:moveTo>
                  <a:pt x="88900" y="0"/>
                </a:moveTo>
                <a:lnTo>
                  <a:pt x="469900" y="0"/>
                </a:lnTo>
                <a:cubicBezTo>
                  <a:pt x="518986" y="0"/>
                  <a:pt x="558800" y="39815"/>
                  <a:pt x="558800" y="88900"/>
                </a:cubicBezTo>
                <a:lnTo>
                  <a:pt x="558800" y="88900"/>
                </a:lnTo>
                <a:cubicBezTo>
                  <a:pt x="558800" y="137985"/>
                  <a:pt x="518986" y="177800"/>
                  <a:pt x="469900" y="177800"/>
                </a:cubicBezTo>
                <a:lnTo>
                  <a:pt x="88900" y="177800"/>
                </a:lnTo>
                <a:cubicBezTo>
                  <a:pt x="39751" y="177800"/>
                  <a:pt x="0" y="137985"/>
                  <a:pt x="0" y="88900"/>
                </a:cubicBezTo>
                <a:lnTo>
                  <a:pt x="0" y="88900"/>
                </a:lnTo>
                <a:cubicBezTo>
                  <a:pt x="0" y="39815"/>
                  <a:pt x="39751" y="0"/>
                  <a:pt x="88900" y="0"/>
                </a:cubicBezTo>
                <a:close/>
              </a:path>
            </a:pathLst>
          </a:cu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now-t"/>
          <p:cNvSpPr txBox="1"/>
          <p:nvPr/>
        </p:nvSpPr>
        <p:spPr>
          <a:xfrm>
            <a:off x="5752561" y="1414208"/>
            <a:ext cx="42849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2026.09</a:t>
            </a:r>
          </a:p>
        </p:txBody>
      </p:sp>
      <p:sp>
        <p:nvSpPr>
          <p:cNvPr id="37" name="fan-80"/>
          <p:cNvSpPr/>
          <p:nvPr/>
        </p:nvSpPr>
        <p:spPr>
          <a:xfrm>
            <a:off x="5966841" y="1549082"/>
            <a:ext cx="1970659" cy="1547111"/>
          </a:xfrm>
          <a:custGeom>
            <a:avLst/>
            <a:gdLst/>
            <a:ahLst/>
            <a:cxnLst/>
            <a:rect l="0" t="0" r="r" b="b"/>
            <a:pathLst>
              <a:path w="1970659" h="1547111">
                <a:moveTo>
                  <a:pt x="0" y="1544510"/>
                </a:moveTo>
                <a:cubicBezTo>
                  <a:pt x="29147" y="1495997"/>
                  <a:pt x="160528" y="1265301"/>
                  <a:pt x="218948" y="1180529"/>
                </a:cubicBezTo>
                <a:cubicBezTo>
                  <a:pt x="277305" y="1095692"/>
                  <a:pt x="379539" y="978980"/>
                  <a:pt x="437896" y="908431"/>
                </a:cubicBezTo>
                <a:cubicBezTo>
                  <a:pt x="496316" y="837946"/>
                  <a:pt x="598488" y="715455"/>
                  <a:pt x="656844" y="651510"/>
                </a:cubicBezTo>
                <a:cubicBezTo>
                  <a:pt x="715264" y="587566"/>
                  <a:pt x="817436" y="481394"/>
                  <a:pt x="875855" y="428879"/>
                </a:cubicBezTo>
                <a:cubicBezTo>
                  <a:pt x="934212" y="376365"/>
                  <a:pt x="1036383" y="295593"/>
                  <a:pt x="1094803" y="257493"/>
                </a:cubicBezTo>
                <a:cubicBezTo>
                  <a:pt x="1153160" y="219329"/>
                  <a:pt x="1255395" y="167068"/>
                  <a:pt x="1313752" y="143002"/>
                </a:cubicBezTo>
                <a:cubicBezTo>
                  <a:pt x="1372172" y="118936"/>
                  <a:pt x="1474343" y="90932"/>
                  <a:pt x="1532700" y="77025"/>
                </a:cubicBezTo>
                <a:cubicBezTo>
                  <a:pt x="1591120" y="63119"/>
                  <a:pt x="1693291" y="49022"/>
                  <a:pt x="1751711" y="38735"/>
                </a:cubicBezTo>
                <a:cubicBezTo>
                  <a:pt x="1810068" y="28448"/>
                  <a:pt x="1941449" y="5207"/>
                  <a:pt x="1970659" y="0"/>
                </a:cubicBezTo>
                <a:lnTo>
                  <a:pt x="1970659" y="1069848"/>
                </a:lnTo>
                <a:cubicBezTo>
                  <a:pt x="1941449" y="1066864"/>
                  <a:pt x="1810068" y="1053973"/>
                  <a:pt x="1751711" y="1047369"/>
                </a:cubicBezTo>
                <a:cubicBezTo>
                  <a:pt x="1693291" y="1040829"/>
                  <a:pt x="1591120" y="1024700"/>
                  <a:pt x="1532700" y="1020572"/>
                </a:cubicBezTo>
                <a:cubicBezTo>
                  <a:pt x="1474343" y="1016444"/>
                  <a:pt x="1372172" y="1011936"/>
                  <a:pt x="1313752" y="1016508"/>
                </a:cubicBezTo>
                <a:cubicBezTo>
                  <a:pt x="1255395" y="1021080"/>
                  <a:pt x="1153160" y="1038162"/>
                  <a:pt x="1094803" y="1054862"/>
                </a:cubicBezTo>
                <a:cubicBezTo>
                  <a:pt x="1036383" y="1071626"/>
                  <a:pt x="934212" y="1113536"/>
                  <a:pt x="875855" y="1142111"/>
                </a:cubicBezTo>
                <a:cubicBezTo>
                  <a:pt x="817436" y="1170686"/>
                  <a:pt x="715264" y="1233106"/>
                  <a:pt x="656844" y="1269174"/>
                </a:cubicBezTo>
                <a:cubicBezTo>
                  <a:pt x="598488" y="1305306"/>
                  <a:pt x="496316" y="1377061"/>
                  <a:pt x="437896" y="1412812"/>
                </a:cubicBezTo>
                <a:cubicBezTo>
                  <a:pt x="379539" y="1448498"/>
                  <a:pt x="277305" y="1519555"/>
                  <a:pt x="218948" y="1537144"/>
                </a:cubicBezTo>
                <a:cubicBezTo>
                  <a:pt x="160528" y="1554670"/>
                  <a:pt x="29147" y="1543558"/>
                  <a:pt x="0" y="1544510"/>
                </a:cubicBezTo>
                <a:close/>
              </a:path>
            </a:pathLst>
          </a:custGeom>
          <a:solidFill>
            <a:srgbClr val="3985CD">
              <a:alpha val="2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fan-50"/>
          <p:cNvSpPr/>
          <p:nvPr/>
        </p:nvSpPr>
        <p:spPr>
          <a:xfrm>
            <a:off x="5966841" y="1837118"/>
            <a:ext cx="1970659" cy="1256474"/>
          </a:xfrm>
          <a:custGeom>
            <a:avLst/>
            <a:gdLst/>
            <a:ahLst/>
            <a:cxnLst/>
            <a:rect l="0" t="0" r="r" b="b"/>
            <a:pathLst>
              <a:path w="1970659" h="1256474">
                <a:moveTo>
                  <a:pt x="0" y="1256474"/>
                </a:moveTo>
                <a:cubicBezTo>
                  <a:pt x="29147" y="1220724"/>
                  <a:pt x="160528" y="1055180"/>
                  <a:pt x="218948" y="988505"/>
                </a:cubicBezTo>
                <a:cubicBezTo>
                  <a:pt x="277305" y="921766"/>
                  <a:pt x="379539" y="817372"/>
                  <a:pt x="437896" y="756221"/>
                </a:cubicBezTo>
                <a:cubicBezTo>
                  <a:pt x="496316" y="695071"/>
                  <a:pt x="598488" y="586232"/>
                  <a:pt x="656844" y="529780"/>
                </a:cubicBezTo>
                <a:cubicBezTo>
                  <a:pt x="715264" y="473329"/>
                  <a:pt x="817436" y="378968"/>
                  <a:pt x="875855" y="332867"/>
                </a:cubicBezTo>
                <a:cubicBezTo>
                  <a:pt x="934212" y="286766"/>
                  <a:pt x="1036383" y="216471"/>
                  <a:pt x="1094803" y="184150"/>
                </a:cubicBezTo>
                <a:cubicBezTo>
                  <a:pt x="1153160" y="151765"/>
                  <a:pt x="1255395" y="108966"/>
                  <a:pt x="1313752" y="90170"/>
                </a:cubicBezTo>
                <a:cubicBezTo>
                  <a:pt x="1372172" y="71311"/>
                  <a:pt x="1474343" y="52070"/>
                  <a:pt x="1532700" y="43053"/>
                </a:cubicBezTo>
                <a:cubicBezTo>
                  <a:pt x="1591120" y="33973"/>
                  <a:pt x="1693291" y="28004"/>
                  <a:pt x="1751711" y="22288"/>
                </a:cubicBezTo>
                <a:cubicBezTo>
                  <a:pt x="1810068" y="16510"/>
                  <a:pt x="1941449" y="2984"/>
                  <a:pt x="1970659" y="0"/>
                </a:cubicBezTo>
                <a:lnTo>
                  <a:pt x="1970659" y="493776"/>
                </a:lnTo>
                <a:cubicBezTo>
                  <a:pt x="1941449" y="493014"/>
                  <a:pt x="1810068" y="489839"/>
                  <a:pt x="1751711" y="487807"/>
                </a:cubicBezTo>
                <a:cubicBezTo>
                  <a:pt x="1693291" y="485775"/>
                  <a:pt x="1591120" y="477774"/>
                  <a:pt x="1532700" y="478473"/>
                </a:cubicBezTo>
                <a:cubicBezTo>
                  <a:pt x="1474343" y="479234"/>
                  <a:pt x="1372172" y="483489"/>
                  <a:pt x="1313752" y="493332"/>
                </a:cubicBezTo>
                <a:cubicBezTo>
                  <a:pt x="1255395" y="503111"/>
                  <a:pt x="1153160" y="529654"/>
                  <a:pt x="1094803" y="552196"/>
                </a:cubicBezTo>
                <a:cubicBezTo>
                  <a:pt x="1036383" y="574675"/>
                  <a:pt x="934212" y="626999"/>
                  <a:pt x="875855" y="662051"/>
                </a:cubicBezTo>
                <a:cubicBezTo>
                  <a:pt x="817436" y="697039"/>
                  <a:pt x="715264" y="771271"/>
                  <a:pt x="656844" y="814832"/>
                </a:cubicBezTo>
                <a:cubicBezTo>
                  <a:pt x="598488" y="858456"/>
                  <a:pt x="496316" y="943864"/>
                  <a:pt x="437896" y="988949"/>
                </a:cubicBezTo>
                <a:cubicBezTo>
                  <a:pt x="379539" y="1034098"/>
                  <a:pt x="277305" y="1117409"/>
                  <a:pt x="218948" y="1153096"/>
                </a:cubicBezTo>
                <a:cubicBezTo>
                  <a:pt x="160528" y="1188720"/>
                  <a:pt x="29147" y="1242695"/>
                  <a:pt x="0" y="1256474"/>
                </a:cubicBezTo>
                <a:close/>
              </a:path>
            </a:pathLst>
          </a:custGeom>
          <a:solidFill>
            <a:srgbClr val="2468B6">
              <a:alpha val="3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fc-mid"/>
          <p:cNvSpPr/>
          <p:nvPr/>
        </p:nvSpPr>
        <p:spPr>
          <a:xfrm>
            <a:off x="5966841" y="2084006"/>
            <a:ext cx="1970659" cy="1009586"/>
          </a:xfrm>
          <a:custGeom>
            <a:avLst/>
            <a:gdLst/>
            <a:ahLst/>
            <a:cxnLst/>
            <a:rect l="0" t="0" r="r" b="b"/>
            <a:pathLst>
              <a:path w="1970659" h="1009586">
                <a:moveTo>
                  <a:pt x="0" y="1009586"/>
                </a:moveTo>
                <a:cubicBezTo>
                  <a:pt x="29147" y="984821"/>
                  <a:pt x="160528" y="875094"/>
                  <a:pt x="218948" y="823912"/>
                </a:cubicBezTo>
                <a:cubicBezTo>
                  <a:pt x="277305" y="772732"/>
                  <a:pt x="379539" y="678815"/>
                  <a:pt x="437896" y="625729"/>
                </a:cubicBezTo>
                <a:cubicBezTo>
                  <a:pt x="496316" y="572580"/>
                  <a:pt x="598488" y="475424"/>
                  <a:pt x="656844" y="425450"/>
                </a:cubicBezTo>
                <a:cubicBezTo>
                  <a:pt x="715264" y="375412"/>
                  <a:pt x="817436" y="291148"/>
                  <a:pt x="875855" y="250571"/>
                </a:cubicBezTo>
                <a:cubicBezTo>
                  <a:pt x="934212" y="209994"/>
                  <a:pt x="1036383" y="148717"/>
                  <a:pt x="1094803" y="121285"/>
                </a:cubicBezTo>
                <a:cubicBezTo>
                  <a:pt x="1153160" y="93853"/>
                  <a:pt x="1255395" y="59182"/>
                  <a:pt x="1313752" y="44831"/>
                </a:cubicBezTo>
                <a:cubicBezTo>
                  <a:pt x="1372172" y="30544"/>
                  <a:pt x="1474343" y="18796"/>
                  <a:pt x="1532700" y="13906"/>
                </a:cubicBezTo>
                <a:cubicBezTo>
                  <a:pt x="1591120" y="9017"/>
                  <a:pt x="1693291" y="9969"/>
                  <a:pt x="1751711" y="8128"/>
                </a:cubicBezTo>
                <a:cubicBezTo>
                  <a:pt x="1810068" y="6287"/>
                  <a:pt x="1941449" y="1080"/>
                  <a:pt x="1970659" y="0"/>
                </a:cubicBezTo>
              </a:path>
            </a:pathLst>
          </a:custGeom>
          <a:noFill/>
          <a:ln w="19050" cap="rnd">
            <a:solidFill>
              <a:srgbClr val="E0703A"/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area"/>
          <p:cNvSpPr/>
          <p:nvPr/>
        </p:nvSpPr>
        <p:spPr>
          <a:xfrm>
            <a:off x="1587500" y="3093593"/>
            <a:ext cx="4379341" cy="1986407"/>
          </a:xfrm>
          <a:custGeom>
            <a:avLst/>
            <a:gdLst/>
            <a:ahLst/>
            <a:cxnLst/>
            <a:rect l="0" t="0" r="r" b="b"/>
            <a:pathLst>
              <a:path w="4379341" h="1986407">
                <a:moveTo>
                  <a:pt x="0" y="1122426"/>
                </a:moveTo>
                <a:cubicBezTo>
                  <a:pt x="29210" y="1101534"/>
                  <a:pt x="160592" y="975360"/>
                  <a:pt x="218948" y="965962"/>
                </a:cubicBezTo>
                <a:cubicBezTo>
                  <a:pt x="277368" y="956500"/>
                  <a:pt x="379539" y="1050163"/>
                  <a:pt x="437960" y="1051814"/>
                </a:cubicBezTo>
                <a:cubicBezTo>
                  <a:pt x="496316" y="1053529"/>
                  <a:pt x="598488" y="969328"/>
                  <a:pt x="656907" y="978408"/>
                </a:cubicBezTo>
                <a:cubicBezTo>
                  <a:pt x="715264" y="987425"/>
                  <a:pt x="817499" y="1116520"/>
                  <a:pt x="875856" y="1119696"/>
                </a:cubicBezTo>
                <a:cubicBezTo>
                  <a:pt x="934276" y="1122934"/>
                  <a:pt x="1036447" y="1001014"/>
                  <a:pt x="1094804" y="1002411"/>
                </a:cubicBezTo>
                <a:cubicBezTo>
                  <a:pt x="1153224" y="1003871"/>
                  <a:pt x="1255395" y="1125728"/>
                  <a:pt x="1313815" y="1130491"/>
                </a:cubicBezTo>
                <a:cubicBezTo>
                  <a:pt x="1372171" y="1135190"/>
                  <a:pt x="1474343" y="1067816"/>
                  <a:pt x="1532763" y="1037844"/>
                </a:cubicBezTo>
                <a:cubicBezTo>
                  <a:pt x="1591120" y="1007872"/>
                  <a:pt x="1693354" y="926909"/>
                  <a:pt x="1751711" y="905700"/>
                </a:cubicBezTo>
                <a:cubicBezTo>
                  <a:pt x="1810131" y="884428"/>
                  <a:pt x="1912302" y="919417"/>
                  <a:pt x="1970659" y="878586"/>
                </a:cubicBezTo>
                <a:cubicBezTo>
                  <a:pt x="2029079" y="837756"/>
                  <a:pt x="2131250" y="653479"/>
                  <a:pt x="2189671" y="599440"/>
                </a:cubicBezTo>
                <a:cubicBezTo>
                  <a:pt x="2248027" y="545338"/>
                  <a:pt x="2350198" y="521525"/>
                  <a:pt x="2408618" y="472948"/>
                </a:cubicBezTo>
                <a:cubicBezTo>
                  <a:pt x="2467038" y="424434"/>
                  <a:pt x="2569210" y="267335"/>
                  <a:pt x="2627566" y="235268"/>
                </a:cubicBezTo>
                <a:cubicBezTo>
                  <a:pt x="2685986" y="203136"/>
                  <a:pt x="2788158" y="248793"/>
                  <a:pt x="2846578" y="232219"/>
                </a:cubicBezTo>
                <a:cubicBezTo>
                  <a:pt x="2904934" y="215646"/>
                  <a:pt x="3007106" y="116713"/>
                  <a:pt x="3065526" y="111125"/>
                </a:cubicBezTo>
                <a:cubicBezTo>
                  <a:pt x="3123883" y="105537"/>
                  <a:pt x="3226117" y="193167"/>
                  <a:pt x="3284474" y="190309"/>
                </a:cubicBezTo>
                <a:cubicBezTo>
                  <a:pt x="3342894" y="187389"/>
                  <a:pt x="3445066" y="86931"/>
                  <a:pt x="3503422" y="89535"/>
                </a:cubicBezTo>
                <a:cubicBezTo>
                  <a:pt x="3561842" y="92075"/>
                  <a:pt x="3664014" y="202184"/>
                  <a:pt x="3722434" y="209741"/>
                </a:cubicBezTo>
                <a:cubicBezTo>
                  <a:pt x="3780790" y="217297"/>
                  <a:pt x="3882962" y="165227"/>
                  <a:pt x="3941382" y="146240"/>
                </a:cubicBezTo>
                <a:cubicBezTo>
                  <a:pt x="3999802" y="127254"/>
                  <a:pt x="4101973" y="86868"/>
                  <a:pt x="4160329" y="67374"/>
                </a:cubicBezTo>
                <a:cubicBezTo>
                  <a:pt x="4218750" y="47879"/>
                  <a:pt x="4350131" y="9017"/>
                  <a:pt x="4379341" y="0"/>
                </a:cubicBezTo>
                <a:lnTo>
                  <a:pt x="4379310" y="1986407"/>
                </a:lnTo>
                <a:lnTo>
                  <a:pt x="0" y="1986407"/>
                </a:lnTo>
                <a:close/>
              </a:path>
            </a:pathLst>
          </a:custGeom>
          <a:gradFill rotWithShape="1">
            <a:gsLst>
              <a:gs pos="0">
                <a:srgbClr val="2468B6">
                  <a:alpha val="22000"/>
                </a:srgbClr>
              </a:gs>
              <a:gs pos="100000">
                <a:srgbClr val="2468B6">
                  <a:alpha val="200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act"/>
          <p:cNvSpPr/>
          <p:nvPr/>
        </p:nvSpPr>
        <p:spPr>
          <a:xfrm>
            <a:off x="1587500" y="3093593"/>
            <a:ext cx="4379341" cy="1130554"/>
          </a:xfrm>
          <a:custGeom>
            <a:avLst/>
            <a:gdLst/>
            <a:ahLst/>
            <a:cxnLst/>
            <a:rect l="0" t="0" r="r" b="b"/>
            <a:pathLst>
              <a:path w="4379341" h="1130554">
                <a:moveTo>
                  <a:pt x="0" y="1122426"/>
                </a:moveTo>
                <a:cubicBezTo>
                  <a:pt x="29210" y="1101534"/>
                  <a:pt x="160592" y="975360"/>
                  <a:pt x="218948" y="965962"/>
                </a:cubicBezTo>
                <a:cubicBezTo>
                  <a:pt x="277368" y="956500"/>
                  <a:pt x="379539" y="1050163"/>
                  <a:pt x="437960" y="1051814"/>
                </a:cubicBezTo>
                <a:cubicBezTo>
                  <a:pt x="496316" y="1053529"/>
                  <a:pt x="598488" y="969328"/>
                  <a:pt x="656907" y="978408"/>
                </a:cubicBezTo>
                <a:cubicBezTo>
                  <a:pt x="715264" y="987425"/>
                  <a:pt x="817499" y="1116520"/>
                  <a:pt x="875856" y="1119696"/>
                </a:cubicBezTo>
                <a:cubicBezTo>
                  <a:pt x="934276" y="1122934"/>
                  <a:pt x="1036447" y="1001014"/>
                  <a:pt x="1094804" y="1002411"/>
                </a:cubicBezTo>
                <a:cubicBezTo>
                  <a:pt x="1153224" y="1003871"/>
                  <a:pt x="1255395" y="1125728"/>
                  <a:pt x="1313815" y="1130491"/>
                </a:cubicBezTo>
                <a:cubicBezTo>
                  <a:pt x="1372171" y="1135190"/>
                  <a:pt x="1474343" y="1067816"/>
                  <a:pt x="1532763" y="1037844"/>
                </a:cubicBezTo>
                <a:cubicBezTo>
                  <a:pt x="1591120" y="1007872"/>
                  <a:pt x="1693354" y="926909"/>
                  <a:pt x="1751711" y="905700"/>
                </a:cubicBezTo>
                <a:cubicBezTo>
                  <a:pt x="1810131" y="884428"/>
                  <a:pt x="1912302" y="919417"/>
                  <a:pt x="1970659" y="878586"/>
                </a:cubicBezTo>
                <a:cubicBezTo>
                  <a:pt x="2029079" y="837756"/>
                  <a:pt x="2131250" y="653479"/>
                  <a:pt x="2189671" y="599440"/>
                </a:cubicBezTo>
                <a:cubicBezTo>
                  <a:pt x="2248027" y="545338"/>
                  <a:pt x="2350198" y="521525"/>
                  <a:pt x="2408618" y="472948"/>
                </a:cubicBezTo>
                <a:cubicBezTo>
                  <a:pt x="2467038" y="424434"/>
                  <a:pt x="2569210" y="267335"/>
                  <a:pt x="2627566" y="235268"/>
                </a:cubicBezTo>
                <a:cubicBezTo>
                  <a:pt x="2685986" y="203136"/>
                  <a:pt x="2788158" y="248793"/>
                  <a:pt x="2846578" y="232219"/>
                </a:cubicBezTo>
                <a:cubicBezTo>
                  <a:pt x="2904934" y="215646"/>
                  <a:pt x="3007106" y="116713"/>
                  <a:pt x="3065526" y="111125"/>
                </a:cubicBezTo>
                <a:cubicBezTo>
                  <a:pt x="3123883" y="105537"/>
                  <a:pt x="3226117" y="193167"/>
                  <a:pt x="3284474" y="190309"/>
                </a:cubicBezTo>
                <a:cubicBezTo>
                  <a:pt x="3342894" y="187389"/>
                  <a:pt x="3445066" y="86931"/>
                  <a:pt x="3503422" y="89535"/>
                </a:cubicBezTo>
                <a:cubicBezTo>
                  <a:pt x="3561842" y="92075"/>
                  <a:pt x="3664014" y="202184"/>
                  <a:pt x="3722434" y="209741"/>
                </a:cubicBezTo>
                <a:cubicBezTo>
                  <a:pt x="3780790" y="217297"/>
                  <a:pt x="3882962" y="165227"/>
                  <a:pt x="3941382" y="146240"/>
                </a:cubicBezTo>
                <a:cubicBezTo>
                  <a:pt x="3999802" y="127254"/>
                  <a:pt x="4101973" y="86868"/>
                  <a:pt x="4160329" y="67374"/>
                </a:cubicBezTo>
                <a:cubicBezTo>
                  <a:pt x="4218750" y="47879"/>
                  <a:pt x="4350131" y="9017"/>
                  <a:pt x="4379341" y="0"/>
                </a:cubicBezTo>
              </a:path>
            </a:pathLst>
          </a:custGeom>
          <a:noFill/>
          <a:ln w="2222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act-end"/>
          <p:cNvSpPr/>
          <p:nvPr/>
        </p:nvSpPr>
        <p:spPr>
          <a:xfrm>
            <a:off x="5916010" y="3042804"/>
            <a:ext cx="101600" cy="1016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end-80% 上沿"/>
          <p:cNvSpPr txBox="1"/>
          <p:nvPr/>
        </p:nvSpPr>
        <p:spPr>
          <a:xfrm>
            <a:off x="8014970" y="1469568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163</a:t>
            </a:r>
          </a:p>
        </p:txBody>
      </p:sp>
      <p:sp>
        <p:nvSpPr>
          <p:cNvPr id="44" name="end-中位"/>
          <p:cNvSpPr txBox="1"/>
          <p:nvPr/>
        </p:nvSpPr>
        <p:spPr>
          <a:xfrm>
            <a:off x="8014970" y="2004492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147</a:t>
            </a:r>
          </a:p>
        </p:txBody>
      </p:sp>
      <p:sp>
        <p:nvSpPr>
          <p:cNvPr id="45" name="end-80% 下沿"/>
          <p:cNvSpPr txBox="1"/>
          <p:nvPr/>
        </p:nvSpPr>
        <p:spPr>
          <a:xfrm>
            <a:off x="8014970" y="2539416"/>
            <a:ext cx="2457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132</a:t>
            </a:r>
          </a:p>
        </p:txBody>
      </p:sp>
      <p:sp>
        <p:nvSpPr>
          <p:cNvPr id="46" name="lg-0"/>
          <p:cNvSpPr/>
          <p:nvPr/>
        </p:nvSpPr>
        <p:spPr>
          <a:xfrm>
            <a:off x="1651000" y="5435600"/>
            <a:ext cx="177800" cy="88900"/>
          </a:xfrm>
          <a:custGeom>
            <a:avLst/>
            <a:gdLst/>
            <a:ahLst/>
            <a:cxnLst/>
            <a:rect l="0" t="0" r="r" b="b"/>
            <a:pathLst>
              <a:path w="177800" h="88900">
                <a:moveTo>
                  <a:pt x="25400" y="0"/>
                </a:moveTo>
                <a:lnTo>
                  <a:pt x="152400" y="0"/>
                </a:lnTo>
                <a:cubicBezTo>
                  <a:pt x="166433" y="0"/>
                  <a:pt x="177800" y="11366"/>
                  <a:pt x="177800" y="25400"/>
                </a:cubicBezTo>
                <a:lnTo>
                  <a:pt x="177800" y="63500"/>
                </a:lnTo>
                <a:cubicBezTo>
                  <a:pt x="177800" y="77534"/>
                  <a:pt x="166433" y="88900"/>
                  <a:pt x="152400" y="88900"/>
                </a:cubicBezTo>
                <a:lnTo>
                  <a:pt x="25400" y="88900"/>
                </a:lnTo>
                <a:cubicBezTo>
                  <a:pt x="11367" y="88900"/>
                  <a:pt x="0" y="77534"/>
                  <a:pt x="0" y="63500"/>
                </a:cubicBezTo>
                <a:lnTo>
                  <a:pt x="0" y="25400"/>
                </a:lnTo>
                <a:cubicBezTo>
                  <a:pt x="0" y="11366"/>
                  <a:pt x="11367" y="0"/>
                  <a:pt x="254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lgt-0"/>
          <p:cNvSpPr txBox="1"/>
          <p:nvPr/>
        </p:nvSpPr>
        <p:spPr>
          <a:xfrm>
            <a:off x="1880870" y="5400516"/>
            <a:ext cx="276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实际</a:t>
            </a:r>
          </a:p>
        </p:txBody>
      </p:sp>
      <p:sp>
        <p:nvSpPr>
          <p:cNvPr id="48" name="lg-1"/>
          <p:cNvSpPr/>
          <p:nvPr/>
        </p:nvSpPr>
        <p:spPr>
          <a:xfrm>
            <a:off x="2603500" y="5435600"/>
            <a:ext cx="177800" cy="88900"/>
          </a:xfrm>
          <a:custGeom>
            <a:avLst/>
            <a:gdLst/>
            <a:ahLst/>
            <a:cxnLst/>
            <a:rect l="0" t="0" r="r" b="b"/>
            <a:pathLst>
              <a:path w="177800" h="88900">
                <a:moveTo>
                  <a:pt x="25400" y="0"/>
                </a:moveTo>
                <a:lnTo>
                  <a:pt x="152400" y="0"/>
                </a:lnTo>
                <a:cubicBezTo>
                  <a:pt x="166433" y="0"/>
                  <a:pt x="177800" y="11366"/>
                  <a:pt x="177800" y="25400"/>
                </a:cubicBezTo>
                <a:lnTo>
                  <a:pt x="177800" y="63500"/>
                </a:lnTo>
                <a:cubicBezTo>
                  <a:pt x="177800" y="77534"/>
                  <a:pt x="166433" y="88900"/>
                  <a:pt x="152400" y="88900"/>
                </a:cubicBezTo>
                <a:lnTo>
                  <a:pt x="25400" y="88900"/>
                </a:lnTo>
                <a:cubicBezTo>
                  <a:pt x="11367" y="88900"/>
                  <a:pt x="0" y="77534"/>
                  <a:pt x="0" y="63500"/>
                </a:cubicBezTo>
                <a:lnTo>
                  <a:pt x="0" y="25400"/>
                </a:lnTo>
                <a:cubicBezTo>
                  <a:pt x="0" y="11366"/>
                  <a:pt x="11367" y="0"/>
                  <a:pt x="25400" y="0"/>
                </a:cubicBezTo>
                <a:close/>
              </a:path>
            </a:pathLst>
          </a:custGeom>
          <a:solidFill>
            <a:srgbClr val="2468B6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lgt-1"/>
          <p:cNvSpPr txBox="1"/>
          <p:nvPr/>
        </p:nvSpPr>
        <p:spPr>
          <a:xfrm>
            <a:off x="2833370" y="5400516"/>
            <a:ext cx="4895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50% 区间</a:t>
            </a:r>
          </a:p>
        </p:txBody>
      </p:sp>
      <p:sp>
        <p:nvSpPr>
          <p:cNvPr id="50" name="lg-2"/>
          <p:cNvSpPr/>
          <p:nvPr/>
        </p:nvSpPr>
        <p:spPr>
          <a:xfrm>
            <a:off x="3556000" y="5435600"/>
            <a:ext cx="177800" cy="88900"/>
          </a:xfrm>
          <a:custGeom>
            <a:avLst/>
            <a:gdLst/>
            <a:ahLst/>
            <a:cxnLst/>
            <a:rect l="0" t="0" r="r" b="b"/>
            <a:pathLst>
              <a:path w="177800" h="88900">
                <a:moveTo>
                  <a:pt x="25400" y="0"/>
                </a:moveTo>
                <a:lnTo>
                  <a:pt x="152400" y="0"/>
                </a:lnTo>
                <a:cubicBezTo>
                  <a:pt x="166434" y="0"/>
                  <a:pt x="177800" y="11366"/>
                  <a:pt x="177800" y="25400"/>
                </a:cubicBezTo>
                <a:lnTo>
                  <a:pt x="177800" y="63500"/>
                </a:lnTo>
                <a:cubicBezTo>
                  <a:pt x="177800" y="77534"/>
                  <a:pt x="166434" y="88900"/>
                  <a:pt x="152400" y="88900"/>
                </a:cubicBezTo>
                <a:lnTo>
                  <a:pt x="25400" y="88900"/>
                </a:lnTo>
                <a:cubicBezTo>
                  <a:pt x="11366" y="88900"/>
                  <a:pt x="0" y="77534"/>
                  <a:pt x="0" y="63500"/>
                </a:cubicBezTo>
                <a:lnTo>
                  <a:pt x="0" y="25400"/>
                </a:lnTo>
                <a:cubicBezTo>
                  <a:pt x="0" y="11366"/>
                  <a:pt x="11366" y="0"/>
                  <a:pt x="25400" y="0"/>
                </a:cubicBezTo>
                <a:close/>
              </a:path>
            </a:pathLst>
          </a:custGeom>
          <a:solidFill>
            <a:srgbClr val="3985CD">
              <a:alpha val="3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lgt-2"/>
          <p:cNvSpPr txBox="1"/>
          <p:nvPr/>
        </p:nvSpPr>
        <p:spPr>
          <a:xfrm>
            <a:off x="3785870" y="5400516"/>
            <a:ext cx="48958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80% 区间</a:t>
            </a:r>
          </a:p>
        </p:txBody>
      </p:sp>
      <p:sp>
        <p:nvSpPr>
          <p:cNvPr id="52" name="side-bar"/>
          <p:cNvSpPr/>
          <p:nvPr/>
        </p:nvSpPr>
        <p:spPr>
          <a:xfrm>
            <a:off x="8826500" y="15875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side-h"/>
          <p:cNvSpPr txBox="1"/>
          <p:nvPr/>
        </p:nvSpPr>
        <p:spPr>
          <a:xfrm>
            <a:off x="8985250" y="1594644"/>
            <a:ext cx="11652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2027 上半年</a:t>
            </a:r>
          </a:p>
        </p:txBody>
      </p:sp>
      <p:sp>
        <p:nvSpPr>
          <p:cNvPr id="54" name="side-p"/>
          <p:cNvSpPr txBox="1"/>
          <p:nvPr/>
        </p:nvSpPr>
        <p:spPr>
          <a:xfrm>
            <a:off x="8992489" y="1885045"/>
            <a:ext cx="1064958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1–6 月合计 · 百万元</a:t>
            </a:r>
          </a:p>
        </p:txBody>
      </p:sp>
      <p:sp>
        <p:nvSpPr>
          <p:cNvPr id="55" name="hero"/>
          <p:cNvSpPr/>
          <p:nvPr/>
        </p:nvSpPr>
        <p:spPr>
          <a:xfrm>
            <a:off x="8826500" y="2222500"/>
            <a:ext cx="2413000" cy="1270000"/>
          </a:xfrm>
          <a:custGeom>
            <a:avLst/>
            <a:gdLst/>
            <a:ahLst/>
            <a:cxnLst/>
            <a:rect l="0" t="0" r="r" b="b"/>
            <a:pathLst>
              <a:path w="2413000" h="1270000">
                <a:moveTo>
                  <a:pt x="139700" y="0"/>
                </a:moveTo>
                <a:lnTo>
                  <a:pt x="2273300" y="0"/>
                </a:lnTo>
                <a:cubicBezTo>
                  <a:pt x="2350453" y="0"/>
                  <a:pt x="2413000" y="62548"/>
                  <a:pt x="2413000" y="139700"/>
                </a:cubicBezTo>
                <a:lnTo>
                  <a:pt x="2413000" y="1130300"/>
                </a:lnTo>
                <a:cubicBezTo>
                  <a:pt x="2413000" y="1207452"/>
                  <a:pt x="2350453" y="1270000"/>
                  <a:pt x="2273300" y="1270000"/>
                </a:cubicBezTo>
                <a:lnTo>
                  <a:pt x="139700" y="1270000"/>
                </a:lnTo>
                <a:cubicBezTo>
                  <a:pt x="62547" y="1270000"/>
                  <a:pt x="0" y="1207452"/>
                  <a:pt x="0" y="11303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hero-h"/>
          <p:cNvSpPr txBox="1"/>
          <p:nvPr/>
        </p:nvSpPr>
        <p:spPr>
          <a:xfrm>
            <a:off x="8992108" y="2376424"/>
            <a:ext cx="4978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中位预测</a:t>
            </a:r>
          </a:p>
        </p:txBody>
      </p:sp>
      <p:sp>
        <p:nvSpPr>
          <p:cNvPr id="57" name="hero-v"/>
          <p:cNvSpPr txBox="1"/>
          <p:nvPr/>
        </p:nvSpPr>
        <p:spPr>
          <a:xfrm>
            <a:off x="8955532" y="2482596"/>
            <a:ext cx="1048512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2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871</a:t>
            </a:r>
          </a:p>
        </p:txBody>
      </p:sp>
      <p:sp>
        <p:nvSpPr>
          <p:cNvPr id="58" name="hero-d"/>
          <p:cNvSpPr txBox="1"/>
          <p:nvPr/>
        </p:nvSpPr>
        <p:spPr>
          <a:xfrm>
            <a:off x="8992108" y="3163824"/>
            <a:ext cx="155448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逐月 80% 区间合计 793 – 950</a:t>
            </a:r>
          </a:p>
        </p:txBody>
      </p:sp>
      <p:sp>
        <p:nvSpPr>
          <p:cNvPr id="59" name="n-0"/>
          <p:cNvSpPr/>
          <p:nvPr/>
        </p:nvSpPr>
        <p:spPr>
          <a:xfrm>
            <a:off x="8826500" y="3644900"/>
            <a:ext cx="2413000" cy="660400"/>
          </a:xfrm>
          <a:custGeom>
            <a:avLst/>
            <a:gdLst/>
            <a:ahLst/>
            <a:cxnLst/>
            <a:rect l="0" t="0" r="r" b="b"/>
            <a:pathLst>
              <a:path w="2413000" h="660400">
                <a:moveTo>
                  <a:pt x="127000" y="0"/>
                </a:moveTo>
                <a:lnTo>
                  <a:pt x="2286000" y="0"/>
                </a:lnTo>
                <a:cubicBezTo>
                  <a:pt x="2356167" y="0"/>
                  <a:pt x="2413000" y="56833"/>
                  <a:pt x="2413000" y="127000"/>
                </a:cubicBezTo>
                <a:lnTo>
                  <a:pt x="2413000" y="533400"/>
                </a:lnTo>
                <a:cubicBezTo>
                  <a:pt x="2413000" y="603567"/>
                  <a:pt x="2356167" y="660400"/>
                  <a:pt x="2286000" y="660400"/>
                </a:cubicBezTo>
                <a:lnTo>
                  <a:pt x="127000" y="660400"/>
                </a:lnTo>
                <a:cubicBezTo>
                  <a:pt x="56833" y="660400"/>
                  <a:pt x="0" y="603567"/>
                  <a:pt x="0" y="5334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nb-0"/>
          <p:cNvSpPr/>
          <p:nvPr/>
        </p:nvSpPr>
        <p:spPr>
          <a:xfrm>
            <a:off x="8826500" y="3644900"/>
            <a:ext cx="38100" cy="660400"/>
          </a:xfrm>
          <a:custGeom>
            <a:avLst/>
            <a:gdLst/>
            <a:ahLst/>
            <a:cxnLst/>
            <a:rect l="0" t="0" r="r" b="b"/>
            <a:pathLst>
              <a:path w="38100" h="6604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41350"/>
                </a:lnTo>
                <a:cubicBezTo>
                  <a:pt x="38100" y="651891"/>
                  <a:pt x="29591" y="660400"/>
                  <a:pt x="19050" y="660400"/>
                </a:cubicBezTo>
                <a:lnTo>
                  <a:pt x="19050" y="660400"/>
                </a:lnTo>
                <a:cubicBezTo>
                  <a:pt x="8509" y="660400"/>
                  <a:pt x="0" y="651891"/>
                  <a:pt x="0" y="6413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na-0"/>
          <p:cNvSpPr txBox="1"/>
          <p:nvPr/>
        </p:nvSpPr>
        <p:spPr>
          <a:xfrm>
            <a:off x="8989822" y="3775297"/>
            <a:ext cx="8324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区间逐月变宽</a:t>
            </a:r>
          </a:p>
        </p:txBody>
      </p:sp>
      <p:sp>
        <p:nvSpPr>
          <p:cNvPr id="62" name="nt-0"/>
          <p:cNvSpPr txBox="1"/>
          <p:nvPr/>
        </p:nvSpPr>
        <p:spPr>
          <a:xfrm>
            <a:off x="8992489" y="4005945"/>
            <a:ext cx="974407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越远的月份越不确定</a:t>
            </a:r>
          </a:p>
        </p:txBody>
      </p:sp>
      <p:sp>
        <p:nvSpPr>
          <p:cNvPr id="63" name="n-1"/>
          <p:cNvSpPr/>
          <p:nvPr/>
        </p:nvSpPr>
        <p:spPr>
          <a:xfrm>
            <a:off x="8826500" y="4406900"/>
            <a:ext cx="2413000" cy="660400"/>
          </a:xfrm>
          <a:custGeom>
            <a:avLst/>
            <a:gdLst/>
            <a:ahLst/>
            <a:cxnLst/>
            <a:rect l="0" t="0" r="r" b="b"/>
            <a:pathLst>
              <a:path w="2413000" h="660400">
                <a:moveTo>
                  <a:pt x="127000" y="0"/>
                </a:moveTo>
                <a:lnTo>
                  <a:pt x="2286000" y="0"/>
                </a:lnTo>
                <a:cubicBezTo>
                  <a:pt x="2356167" y="0"/>
                  <a:pt x="2413000" y="56833"/>
                  <a:pt x="2413000" y="127000"/>
                </a:cubicBezTo>
                <a:lnTo>
                  <a:pt x="2413000" y="533400"/>
                </a:lnTo>
                <a:cubicBezTo>
                  <a:pt x="2413000" y="603567"/>
                  <a:pt x="2356167" y="660400"/>
                  <a:pt x="2286000" y="660400"/>
                </a:cubicBezTo>
                <a:lnTo>
                  <a:pt x="127000" y="660400"/>
                </a:lnTo>
                <a:cubicBezTo>
                  <a:pt x="56833" y="660400"/>
                  <a:pt x="0" y="603567"/>
                  <a:pt x="0" y="5334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nb-1"/>
          <p:cNvSpPr/>
          <p:nvPr/>
        </p:nvSpPr>
        <p:spPr>
          <a:xfrm>
            <a:off x="8826500" y="4406900"/>
            <a:ext cx="38100" cy="660400"/>
          </a:xfrm>
          <a:custGeom>
            <a:avLst/>
            <a:gdLst/>
            <a:ahLst/>
            <a:cxnLst/>
            <a:rect l="0" t="0" r="r" b="b"/>
            <a:pathLst>
              <a:path w="38100" h="6604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41350"/>
                </a:lnTo>
                <a:cubicBezTo>
                  <a:pt x="38100" y="651891"/>
                  <a:pt x="29591" y="660400"/>
                  <a:pt x="19050" y="660400"/>
                </a:cubicBezTo>
                <a:lnTo>
                  <a:pt x="19050" y="660400"/>
                </a:lnTo>
                <a:cubicBezTo>
                  <a:pt x="8509" y="660400"/>
                  <a:pt x="0" y="651891"/>
                  <a:pt x="0" y="6413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na-1"/>
          <p:cNvSpPr txBox="1"/>
          <p:nvPr/>
        </p:nvSpPr>
        <p:spPr>
          <a:xfrm>
            <a:off x="8989822" y="4537297"/>
            <a:ext cx="8324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做预算用下沿</a:t>
            </a:r>
          </a:p>
        </p:txBody>
      </p:sp>
      <p:sp>
        <p:nvSpPr>
          <p:cNvPr id="66" name="nt-1"/>
          <p:cNvSpPr txBox="1"/>
          <p:nvPr/>
        </p:nvSpPr>
        <p:spPr>
          <a:xfrm>
            <a:off x="8992489" y="4767945"/>
            <a:ext cx="1053148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按 793 安排刚性支出</a:t>
            </a:r>
          </a:p>
        </p:txBody>
      </p:sp>
      <p:sp>
        <p:nvSpPr>
          <p:cNvPr id="67" name="sum"/>
          <p:cNvSpPr/>
          <p:nvPr/>
        </p:nvSpPr>
        <p:spPr>
          <a:xfrm>
            <a:off x="952500" y="5778500"/>
            <a:ext cx="10287000" cy="393700"/>
          </a:xfrm>
          <a:custGeom>
            <a:avLst/>
            <a:gdLst/>
            <a:ahLst/>
            <a:cxnLst/>
            <a:rect l="0" t="0" r="r" b="b"/>
            <a:pathLst>
              <a:path w="10287000" h="3937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04800"/>
                </a:lnTo>
                <a:cubicBezTo>
                  <a:pt x="10287000" y="353886"/>
                  <a:pt x="10247186" y="393700"/>
                  <a:pt x="10198100" y="393700"/>
                </a:cubicBezTo>
                <a:lnTo>
                  <a:pt x="88900" y="393700"/>
                </a:lnTo>
                <a:cubicBezTo>
                  <a:pt x="39815" y="393700"/>
                  <a:pt x="0" y="353886"/>
                  <a:pt x="0" y="3048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sum-bar"/>
          <p:cNvSpPr/>
          <p:nvPr/>
        </p:nvSpPr>
        <p:spPr>
          <a:xfrm>
            <a:off x="952500" y="5778500"/>
            <a:ext cx="31750" cy="3937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sum-h"/>
          <p:cNvSpPr txBox="1"/>
          <p:nvPr/>
        </p:nvSpPr>
        <p:spPr>
          <a:xfrm>
            <a:off x="1142746" y="58991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预测假设</a:t>
            </a:r>
          </a:p>
        </p:txBody>
      </p:sp>
      <p:sp>
        <p:nvSpPr>
          <p:cNvPr id="70" name="sum-p"/>
          <p:cNvSpPr txBox="1"/>
          <p:nvPr/>
        </p:nvSpPr>
        <p:spPr>
          <a:xfrm>
            <a:off x="1891665" y="5895261"/>
            <a:ext cx="41259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延续月均 2.2% 的增长和往年季节性；若新品延期上市，全年按区间下沿执行。</a:t>
            </a:r>
          </a:p>
        </p:txBody>
      </p:sp>
      <p:cxnSp>
        <p:nvCxnSpPr>
          <p:cNvPr id="71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2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扇形预测 · 月度营收</a:t>
            </a:r>
          </a:p>
        </p:txBody>
      </p:sp>
      <p:sp>
        <p:nvSpPr>
          <p:cNvPr id="73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营收渠道构成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99060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PIE OF PIE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293987" y="673132"/>
            <a:ext cx="232676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“其他”占了 18%，拆开看有三块在快速长大</a:t>
            </a:r>
          </a:p>
        </p:txBody>
      </p:sp>
      <p:sp>
        <p:nvSpPr>
          <p:cNvPr id="10" name="w-直销"/>
          <p:cNvSpPr/>
          <p:nvPr/>
        </p:nvSpPr>
        <p:spPr>
          <a:xfrm>
            <a:off x="1929892" y="3884803"/>
            <a:ext cx="2650236" cy="1258715"/>
          </a:xfrm>
          <a:custGeom>
            <a:avLst/>
            <a:gdLst/>
            <a:ahLst/>
            <a:cxnLst/>
            <a:rect l="0" t="0" r="r" b="b"/>
            <a:pathLst>
              <a:path w="2650236" h="1258715">
                <a:moveTo>
                  <a:pt x="2650236" y="564706"/>
                </a:moveTo>
                <a:cubicBezTo>
                  <a:pt x="2350580" y="1026160"/>
                  <a:pt x="1825498" y="1290257"/>
                  <a:pt x="1276414" y="1255712"/>
                </a:cubicBezTo>
                <a:cubicBezTo>
                  <a:pt x="727329" y="1221169"/>
                  <a:pt x="239458" y="893318"/>
                  <a:pt x="0" y="398018"/>
                </a:cubicBezTo>
                <a:lnTo>
                  <a:pt x="823277" y="0"/>
                </a:lnTo>
                <a:cubicBezTo>
                  <a:pt x="919035" y="198120"/>
                  <a:pt x="1114171" y="329248"/>
                  <a:pt x="1333818" y="343090"/>
                </a:cubicBezTo>
                <a:cubicBezTo>
                  <a:pt x="1553464" y="356934"/>
                  <a:pt x="1763522" y="251270"/>
                  <a:pt x="1883346" y="66738"/>
                </a:cubicBezTo>
                <a:close/>
              </a:path>
            </a:pathLst>
          </a:custGeom>
          <a:solidFill>
            <a:srgbClr val="0B3E8F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wl-直销"/>
          <p:cNvSpPr txBox="1"/>
          <p:nvPr/>
        </p:nvSpPr>
        <p:spPr>
          <a:xfrm>
            <a:off x="3075298" y="4588876"/>
            <a:ext cx="3130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直销</a:t>
            </a:r>
          </a:p>
        </p:txBody>
      </p:sp>
      <p:sp>
        <p:nvSpPr>
          <p:cNvPr id="12" name="wv-直销"/>
          <p:cNvSpPr txBox="1"/>
          <p:nvPr/>
        </p:nvSpPr>
        <p:spPr>
          <a:xfrm>
            <a:off x="3092570" y="4753976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34%</a:t>
            </a:r>
          </a:p>
        </p:txBody>
      </p:sp>
      <p:sp>
        <p:nvSpPr>
          <p:cNvPr id="13" name="w-渠道伙伴"/>
          <p:cNvSpPr/>
          <p:nvPr/>
        </p:nvSpPr>
        <p:spPr>
          <a:xfrm>
            <a:off x="1777864" y="2395982"/>
            <a:ext cx="1160662" cy="1857946"/>
          </a:xfrm>
          <a:custGeom>
            <a:avLst/>
            <a:gdLst/>
            <a:ahLst/>
            <a:cxnLst/>
            <a:rect l="0" t="0" r="r" b="b"/>
            <a:pathLst>
              <a:path w="1160662" h="1857946">
                <a:moveTo>
                  <a:pt x="138439" y="1857946"/>
                </a:moveTo>
                <a:cubicBezTo>
                  <a:pt x="-161091" y="1203642"/>
                  <a:pt x="37791" y="429069"/>
                  <a:pt x="615514" y="0"/>
                </a:cubicBezTo>
                <a:lnTo>
                  <a:pt x="1160662" y="734124"/>
                </a:lnTo>
                <a:cubicBezTo>
                  <a:pt x="929585" y="905701"/>
                  <a:pt x="850020" y="1215580"/>
                  <a:pt x="969844" y="1477264"/>
                </a:cubicBezTo>
                <a:close/>
              </a:path>
            </a:pathLst>
          </a:custGeom>
          <a:solidFill>
            <a:srgbClr val="1B5AA8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wl-渠道伙伴"/>
          <p:cNvSpPr txBox="1"/>
          <p:nvPr/>
        </p:nvSpPr>
        <p:spPr>
          <a:xfrm>
            <a:off x="1955034" y="3195546"/>
            <a:ext cx="5289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渠道伙伴</a:t>
            </a:r>
          </a:p>
        </p:txBody>
      </p:sp>
      <p:sp>
        <p:nvSpPr>
          <p:cNvPr id="15" name="wv-渠道伙伴"/>
          <p:cNvSpPr txBox="1"/>
          <p:nvPr/>
        </p:nvSpPr>
        <p:spPr>
          <a:xfrm>
            <a:off x="2080256" y="3360646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22%</a:t>
            </a:r>
          </a:p>
        </p:txBody>
      </p:sp>
      <p:sp>
        <p:nvSpPr>
          <p:cNvPr id="16" name="w-电商"/>
          <p:cNvSpPr/>
          <p:nvPr/>
        </p:nvSpPr>
        <p:spPr>
          <a:xfrm>
            <a:off x="2419160" y="2095517"/>
            <a:ext cx="1429004" cy="1027096"/>
          </a:xfrm>
          <a:custGeom>
            <a:avLst/>
            <a:gdLst/>
            <a:ahLst/>
            <a:cxnLst/>
            <a:rect l="0" t="0" r="r" b="b"/>
            <a:pathLst>
              <a:path w="1429004" h="1027096">
                <a:moveTo>
                  <a:pt x="0" y="281733"/>
                </a:moveTo>
                <a:cubicBezTo>
                  <a:pt x="416052" y="-13923"/>
                  <a:pt x="952500" y="-81678"/>
                  <a:pt x="1429004" y="101202"/>
                </a:cubicBezTo>
                <a:lnTo>
                  <a:pt x="1101280" y="954896"/>
                </a:lnTo>
                <a:cubicBezTo>
                  <a:pt x="910717" y="881681"/>
                  <a:pt x="696150" y="908795"/>
                  <a:pt x="529717" y="1027096"/>
                </a:cubicBezTo>
                <a:close/>
              </a:path>
            </a:pathLst>
          </a:custGeom>
          <a:solidFill>
            <a:srgbClr val="2E77C2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wl-电商"/>
          <p:cNvSpPr txBox="1"/>
          <p:nvPr/>
        </p:nvSpPr>
        <p:spPr>
          <a:xfrm>
            <a:off x="3005400" y="2364694"/>
            <a:ext cx="3130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电商</a:t>
            </a:r>
          </a:p>
        </p:txBody>
      </p:sp>
      <p:sp>
        <p:nvSpPr>
          <p:cNvPr id="18" name="wv-电商"/>
          <p:cNvSpPr txBox="1"/>
          <p:nvPr/>
        </p:nvSpPr>
        <p:spPr>
          <a:xfrm>
            <a:off x="3022672" y="2529794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16%</a:t>
            </a:r>
          </a:p>
        </p:txBody>
      </p:sp>
      <p:sp>
        <p:nvSpPr>
          <p:cNvPr id="19" name="w-大客户"/>
          <p:cNvSpPr/>
          <p:nvPr/>
        </p:nvSpPr>
        <p:spPr>
          <a:xfrm>
            <a:off x="3532314" y="2208466"/>
            <a:ext cx="1047814" cy="1078992"/>
          </a:xfrm>
          <a:custGeom>
            <a:avLst/>
            <a:gdLst/>
            <a:ahLst/>
            <a:cxnLst/>
            <a:rect l="0" t="0" r="r" b="b"/>
            <a:pathLst>
              <a:path w="1047814" h="1078992">
                <a:moveTo>
                  <a:pt x="345503" y="0"/>
                </a:moveTo>
                <a:cubicBezTo>
                  <a:pt x="633412" y="117475"/>
                  <a:pt x="878459" y="320231"/>
                  <a:pt x="1047814" y="581025"/>
                </a:cubicBezTo>
                <a:lnTo>
                  <a:pt x="280924" y="1078992"/>
                </a:lnTo>
                <a:cubicBezTo>
                  <a:pt x="213170" y="974725"/>
                  <a:pt x="115189" y="893635"/>
                  <a:pt x="0" y="846645"/>
                </a:cubicBezTo>
                <a:close/>
              </a:path>
            </a:pathLst>
          </a:custGeom>
          <a:solidFill>
            <a:srgbClr val="4694D7"/>
          </a:solidFill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wl-大客户"/>
          <p:cNvSpPr txBox="1"/>
          <p:nvPr/>
        </p:nvSpPr>
        <p:spPr>
          <a:xfrm>
            <a:off x="3803883" y="2612356"/>
            <a:ext cx="4210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大客户</a:t>
            </a:r>
          </a:p>
        </p:txBody>
      </p:sp>
      <p:sp>
        <p:nvSpPr>
          <p:cNvPr id="21" name="wv-大客户"/>
          <p:cNvSpPr txBox="1"/>
          <p:nvPr/>
        </p:nvSpPr>
        <p:spPr>
          <a:xfrm>
            <a:off x="3875130" y="2777456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10%</a:t>
            </a:r>
          </a:p>
        </p:txBody>
      </p:sp>
      <p:sp>
        <p:nvSpPr>
          <p:cNvPr id="22" name="w-其他"/>
          <p:cNvSpPr/>
          <p:nvPr/>
        </p:nvSpPr>
        <p:spPr>
          <a:xfrm>
            <a:off x="3934396" y="2816416"/>
            <a:ext cx="1005903" cy="1606169"/>
          </a:xfrm>
          <a:custGeom>
            <a:avLst/>
            <a:gdLst/>
            <a:ahLst/>
            <a:cxnLst/>
            <a:rect l="0" t="0" r="r" b="b"/>
            <a:pathLst>
              <a:path w="1005903" h="1606169">
                <a:moveTo>
                  <a:pt x="777113" y="0"/>
                </a:moveTo>
                <a:cubicBezTo>
                  <a:pt x="1082167" y="491935"/>
                  <a:pt x="1082167" y="1114235"/>
                  <a:pt x="777113" y="1606169"/>
                </a:cubicBezTo>
                <a:lnTo>
                  <a:pt x="0" y="1124331"/>
                </a:lnTo>
                <a:cubicBezTo>
                  <a:pt x="121983" y="927545"/>
                  <a:pt x="121983" y="678624"/>
                  <a:pt x="0" y="481838"/>
                </a:cubicBezTo>
                <a:close/>
              </a:path>
            </a:pathLst>
          </a:custGeom>
          <a:solidFill>
            <a:srgbClr val="E0703A"/>
          </a:solidFill>
          <a:ln w="1270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wl-其他"/>
          <p:cNvSpPr txBox="1"/>
          <p:nvPr/>
        </p:nvSpPr>
        <p:spPr>
          <a:xfrm>
            <a:off x="4377372" y="3473482"/>
            <a:ext cx="3130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其他</a:t>
            </a:r>
          </a:p>
        </p:txBody>
      </p:sp>
      <p:sp>
        <p:nvSpPr>
          <p:cNvPr id="24" name="wv-其他"/>
          <p:cNvSpPr txBox="1"/>
          <p:nvPr/>
        </p:nvSpPr>
        <p:spPr>
          <a:xfrm>
            <a:off x="4394644" y="3638582"/>
            <a:ext cx="278511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18%</a:t>
            </a:r>
          </a:p>
        </p:txBody>
      </p:sp>
      <p:sp>
        <p:nvSpPr>
          <p:cNvPr id="25" name="c-v"/>
          <p:cNvSpPr txBox="1"/>
          <p:nvPr/>
        </p:nvSpPr>
        <p:spPr>
          <a:xfrm>
            <a:off x="2963037" y="3327464"/>
            <a:ext cx="677926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700" b="1">
                <a:solidFill>
                  <a:srgbClr val="0B2545"/>
                </a:solidFill>
                <a:latin typeface="Arial"/>
                <a:ea typeface="Arial"/>
                <a:cs typeface="Arial"/>
              </a:rPr>
              <a:t>12.4</a:t>
            </a:r>
          </a:p>
        </p:txBody>
      </p:sp>
      <p:sp>
        <p:nvSpPr>
          <p:cNvPr id="26" name="c-l"/>
          <p:cNvSpPr txBox="1"/>
          <p:nvPr/>
        </p:nvSpPr>
        <p:spPr>
          <a:xfrm>
            <a:off x="3009519" y="3674808"/>
            <a:ext cx="5849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亿元 · 全年</a:t>
            </a:r>
          </a:p>
        </p:txBody>
      </p:sp>
      <p:cxnSp>
        <p:nvCxnSpPr>
          <p:cNvPr id="27" name="cn-1"/>
          <p:cNvCxnSpPr/>
          <p:nvPr/>
        </p:nvCxnSpPr>
        <p:spPr>
          <a:xfrm flipV="1">
            <a:off x="4703056" y="2032000"/>
            <a:ext cx="1202444" cy="770900"/>
          </a:xfrm>
          <a:prstGeom prst="line">
            <a:avLst/>
          </a:prstGeom>
          <a:ln w="9525" cap="rnd">
            <a:solidFill>
              <a:srgbClr val="E0703A">
                <a:alpha val="6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n-2"/>
          <p:cNvCxnSpPr/>
          <p:nvPr/>
        </p:nvCxnSpPr>
        <p:spPr>
          <a:xfrm>
            <a:off x="4703056" y="4436100"/>
            <a:ext cx="1202444" cy="834400"/>
          </a:xfrm>
          <a:prstGeom prst="line">
            <a:avLst/>
          </a:prstGeom>
          <a:ln w="9525" cap="rnd">
            <a:solidFill>
              <a:srgbClr val="E0703A">
                <a:alpha val="6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sb-0"/>
          <p:cNvSpPr/>
          <p:nvPr/>
        </p:nvSpPr>
        <p:spPr>
          <a:xfrm>
            <a:off x="5905500" y="2044700"/>
            <a:ext cx="698500" cy="1054100"/>
          </a:xfrm>
          <a:custGeom>
            <a:avLst/>
            <a:gdLst/>
            <a:ahLst/>
            <a:cxnLst/>
            <a:rect l="0" t="0" r="r" b="b"/>
            <a:pathLst>
              <a:path w="698500" h="1054100">
                <a:moveTo>
                  <a:pt x="63500" y="0"/>
                </a:moveTo>
                <a:lnTo>
                  <a:pt x="635000" y="0"/>
                </a:lnTo>
                <a:cubicBezTo>
                  <a:pt x="670052" y="0"/>
                  <a:pt x="698500" y="28448"/>
                  <a:pt x="698500" y="63500"/>
                </a:cubicBezTo>
                <a:lnTo>
                  <a:pt x="698500" y="990600"/>
                </a:lnTo>
                <a:cubicBezTo>
                  <a:pt x="698500" y="1025652"/>
                  <a:pt x="670052" y="1054100"/>
                  <a:pt x="635000" y="1054100"/>
                </a:cubicBezTo>
                <a:lnTo>
                  <a:pt x="63500" y="1054100"/>
                </a:lnTo>
                <a:cubicBezTo>
                  <a:pt x="28448" y="1054100"/>
                  <a:pt x="0" y="1025652"/>
                  <a:pt x="0" y="9906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E37E4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sv-0"/>
          <p:cNvSpPr txBox="1"/>
          <p:nvPr/>
        </p:nvSpPr>
        <p:spPr>
          <a:xfrm>
            <a:off x="6152134" y="2490724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6%</a:t>
            </a:r>
          </a:p>
        </p:txBody>
      </p:sp>
      <p:cxnSp>
        <p:nvCxnSpPr>
          <p:cNvPr id="31" name="sl-0"/>
          <p:cNvCxnSpPr/>
          <p:nvPr/>
        </p:nvCxnSpPr>
        <p:spPr>
          <a:xfrm>
            <a:off x="6654800" y="2571750"/>
            <a:ext cx="139700" cy="0"/>
          </a:xfrm>
          <a:prstGeom prst="line">
            <a:avLst/>
          </a:prstGeom>
          <a:ln w="635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sn-0"/>
          <p:cNvSpPr txBox="1"/>
          <p:nvPr/>
        </p:nvSpPr>
        <p:spPr>
          <a:xfrm>
            <a:off x="6844284" y="2475040"/>
            <a:ext cx="331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展会</a:t>
            </a:r>
          </a:p>
        </p:txBody>
      </p:sp>
      <p:sp>
        <p:nvSpPr>
          <p:cNvPr id="33" name="sgb-0"/>
          <p:cNvSpPr/>
          <p:nvPr/>
        </p:nvSpPr>
        <p:spPr>
          <a:xfrm>
            <a:off x="7429500" y="2476500"/>
            <a:ext cx="457200" cy="190500"/>
          </a:xfrm>
          <a:custGeom>
            <a:avLst/>
            <a:gdLst/>
            <a:ahLst/>
            <a:cxnLst/>
            <a:rect l="0" t="0" r="r" b="b"/>
            <a:pathLst>
              <a:path w="457200" h="190500">
                <a:moveTo>
                  <a:pt x="95250" y="0"/>
                </a:moveTo>
                <a:lnTo>
                  <a:pt x="361950" y="0"/>
                </a:lnTo>
                <a:cubicBezTo>
                  <a:pt x="414528" y="0"/>
                  <a:pt x="457200" y="42672"/>
                  <a:pt x="457200" y="95250"/>
                </a:cubicBezTo>
                <a:lnTo>
                  <a:pt x="457200" y="95250"/>
                </a:lnTo>
                <a:cubicBezTo>
                  <a:pt x="457200" y="147828"/>
                  <a:pt x="414528" y="190500"/>
                  <a:pt x="3619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F0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sg-0"/>
          <p:cNvSpPr txBox="1"/>
          <p:nvPr/>
        </p:nvSpPr>
        <p:spPr>
          <a:xfrm>
            <a:off x="7543419" y="2500058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+4%</a:t>
            </a:r>
          </a:p>
        </p:txBody>
      </p:sp>
      <p:sp>
        <p:nvSpPr>
          <p:cNvPr id="35" name="sb-1"/>
          <p:cNvSpPr/>
          <p:nvPr/>
        </p:nvSpPr>
        <p:spPr>
          <a:xfrm>
            <a:off x="5905500" y="3124200"/>
            <a:ext cx="698500" cy="694246"/>
          </a:xfrm>
          <a:custGeom>
            <a:avLst/>
            <a:gdLst/>
            <a:ahLst/>
            <a:cxnLst/>
            <a:rect l="0" t="0" r="r" b="b"/>
            <a:pathLst>
              <a:path w="698500" h="694246">
                <a:moveTo>
                  <a:pt x="63500" y="0"/>
                </a:moveTo>
                <a:lnTo>
                  <a:pt x="635000" y="0"/>
                </a:lnTo>
                <a:cubicBezTo>
                  <a:pt x="670052" y="0"/>
                  <a:pt x="698500" y="28448"/>
                  <a:pt x="698500" y="63500"/>
                </a:cubicBezTo>
                <a:lnTo>
                  <a:pt x="698500" y="630746"/>
                </a:lnTo>
                <a:cubicBezTo>
                  <a:pt x="698500" y="665861"/>
                  <a:pt x="670052" y="694246"/>
                  <a:pt x="635000" y="694246"/>
                </a:cubicBezTo>
                <a:lnTo>
                  <a:pt x="63500" y="694246"/>
                </a:lnTo>
                <a:cubicBezTo>
                  <a:pt x="28448" y="694246"/>
                  <a:pt x="0" y="665861"/>
                  <a:pt x="0" y="630746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E7926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sv-1"/>
          <p:cNvSpPr txBox="1"/>
          <p:nvPr/>
        </p:nvSpPr>
        <p:spPr>
          <a:xfrm>
            <a:off x="6152134" y="3390307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4%</a:t>
            </a:r>
          </a:p>
        </p:txBody>
      </p:sp>
      <p:cxnSp>
        <p:nvCxnSpPr>
          <p:cNvPr id="37" name="sl-1"/>
          <p:cNvCxnSpPr/>
          <p:nvPr/>
        </p:nvCxnSpPr>
        <p:spPr>
          <a:xfrm>
            <a:off x="6654800" y="3471333"/>
            <a:ext cx="139700" cy="0"/>
          </a:xfrm>
          <a:prstGeom prst="line">
            <a:avLst/>
          </a:prstGeom>
          <a:ln w="635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sn-1"/>
          <p:cNvSpPr txBox="1"/>
          <p:nvPr/>
        </p:nvSpPr>
        <p:spPr>
          <a:xfrm>
            <a:off x="6844284" y="3374623"/>
            <a:ext cx="5600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政府采购</a:t>
            </a:r>
          </a:p>
        </p:txBody>
      </p:sp>
      <p:sp>
        <p:nvSpPr>
          <p:cNvPr id="39" name="sgb-1"/>
          <p:cNvSpPr/>
          <p:nvPr/>
        </p:nvSpPr>
        <p:spPr>
          <a:xfrm>
            <a:off x="7429500" y="3376104"/>
            <a:ext cx="457200" cy="190500"/>
          </a:xfrm>
          <a:custGeom>
            <a:avLst/>
            <a:gdLst/>
            <a:ahLst/>
            <a:cxnLst/>
            <a:rect l="0" t="0" r="r" b="b"/>
            <a:pathLst>
              <a:path w="457200" h="190500">
                <a:moveTo>
                  <a:pt x="95250" y="0"/>
                </a:moveTo>
                <a:lnTo>
                  <a:pt x="361950" y="0"/>
                </a:lnTo>
                <a:cubicBezTo>
                  <a:pt x="414528" y="0"/>
                  <a:pt x="457200" y="42609"/>
                  <a:pt x="457200" y="95250"/>
                </a:cubicBezTo>
                <a:lnTo>
                  <a:pt x="457200" y="95250"/>
                </a:lnTo>
                <a:cubicBezTo>
                  <a:pt x="457200" y="147828"/>
                  <a:pt x="414528" y="190500"/>
                  <a:pt x="3619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09"/>
                  <a:pt x="42672" y="0"/>
                  <a:pt x="95250" y="0"/>
                </a:cubicBezTo>
                <a:close/>
              </a:path>
            </a:pathLst>
          </a:custGeom>
          <a:solidFill>
            <a:srgbClr val="FCEFE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sg-1"/>
          <p:cNvSpPr txBox="1"/>
          <p:nvPr/>
        </p:nvSpPr>
        <p:spPr>
          <a:xfrm>
            <a:off x="7518527" y="3399642"/>
            <a:ext cx="2791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+22%</a:t>
            </a:r>
          </a:p>
        </p:txBody>
      </p:sp>
      <p:sp>
        <p:nvSpPr>
          <p:cNvPr id="41" name="sb-2"/>
          <p:cNvSpPr/>
          <p:nvPr/>
        </p:nvSpPr>
        <p:spPr>
          <a:xfrm>
            <a:off x="5905500" y="3843846"/>
            <a:ext cx="698500" cy="604329"/>
          </a:xfrm>
          <a:custGeom>
            <a:avLst/>
            <a:gdLst/>
            <a:ahLst/>
            <a:cxnLst/>
            <a:rect l="0" t="0" r="r" b="b"/>
            <a:pathLst>
              <a:path w="698500" h="604329">
                <a:moveTo>
                  <a:pt x="63500" y="0"/>
                </a:moveTo>
                <a:lnTo>
                  <a:pt x="635000" y="0"/>
                </a:lnTo>
                <a:cubicBezTo>
                  <a:pt x="670052" y="0"/>
                  <a:pt x="698500" y="28448"/>
                  <a:pt x="698500" y="63500"/>
                </a:cubicBezTo>
                <a:lnTo>
                  <a:pt x="698500" y="540829"/>
                </a:lnTo>
                <a:cubicBezTo>
                  <a:pt x="698500" y="575881"/>
                  <a:pt x="670052" y="604329"/>
                  <a:pt x="635000" y="604329"/>
                </a:cubicBezTo>
                <a:lnTo>
                  <a:pt x="63500" y="604329"/>
                </a:lnTo>
                <a:cubicBezTo>
                  <a:pt x="28448" y="604329"/>
                  <a:pt x="0" y="575881"/>
                  <a:pt x="0" y="540829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ECA68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sv-2"/>
          <p:cNvSpPr txBox="1"/>
          <p:nvPr/>
        </p:nvSpPr>
        <p:spPr>
          <a:xfrm>
            <a:off x="6095238" y="4064995"/>
            <a:ext cx="3190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3.5%</a:t>
            </a:r>
          </a:p>
        </p:txBody>
      </p:sp>
      <p:cxnSp>
        <p:nvCxnSpPr>
          <p:cNvPr id="43" name="sl-2"/>
          <p:cNvCxnSpPr/>
          <p:nvPr/>
        </p:nvCxnSpPr>
        <p:spPr>
          <a:xfrm>
            <a:off x="6654800" y="4146021"/>
            <a:ext cx="139700" cy="0"/>
          </a:xfrm>
          <a:prstGeom prst="line">
            <a:avLst/>
          </a:prstGeom>
          <a:ln w="635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sn-2"/>
          <p:cNvSpPr txBox="1"/>
          <p:nvPr/>
        </p:nvSpPr>
        <p:spPr>
          <a:xfrm>
            <a:off x="6844284" y="4049310"/>
            <a:ext cx="331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海外</a:t>
            </a:r>
          </a:p>
        </p:txBody>
      </p:sp>
      <p:sp>
        <p:nvSpPr>
          <p:cNvPr id="45" name="sgb-2"/>
          <p:cNvSpPr/>
          <p:nvPr/>
        </p:nvSpPr>
        <p:spPr>
          <a:xfrm>
            <a:off x="7429500" y="4050792"/>
            <a:ext cx="457200" cy="190500"/>
          </a:xfrm>
          <a:custGeom>
            <a:avLst/>
            <a:gdLst/>
            <a:ahLst/>
            <a:cxnLst/>
            <a:rect l="0" t="0" r="r" b="b"/>
            <a:pathLst>
              <a:path w="457200" h="190500">
                <a:moveTo>
                  <a:pt x="95250" y="0"/>
                </a:moveTo>
                <a:lnTo>
                  <a:pt x="361950" y="0"/>
                </a:lnTo>
                <a:cubicBezTo>
                  <a:pt x="414528" y="0"/>
                  <a:pt x="457200" y="42609"/>
                  <a:pt x="457200" y="95250"/>
                </a:cubicBezTo>
                <a:lnTo>
                  <a:pt x="457200" y="95250"/>
                </a:lnTo>
                <a:cubicBezTo>
                  <a:pt x="457200" y="147828"/>
                  <a:pt x="414528" y="190500"/>
                  <a:pt x="3619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09"/>
                  <a:pt x="42672" y="0"/>
                  <a:pt x="95250" y="0"/>
                </a:cubicBezTo>
                <a:close/>
              </a:path>
            </a:pathLst>
          </a:custGeom>
          <a:solidFill>
            <a:srgbClr val="FCEFE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sg-2"/>
          <p:cNvSpPr txBox="1"/>
          <p:nvPr/>
        </p:nvSpPr>
        <p:spPr>
          <a:xfrm>
            <a:off x="7518527" y="4074329"/>
            <a:ext cx="2791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+61%</a:t>
            </a:r>
          </a:p>
        </p:txBody>
      </p:sp>
      <p:sp>
        <p:nvSpPr>
          <p:cNvPr id="47" name="sb-3"/>
          <p:cNvSpPr/>
          <p:nvPr/>
        </p:nvSpPr>
        <p:spPr>
          <a:xfrm>
            <a:off x="5905500" y="4473575"/>
            <a:ext cx="698500" cy="424371"/>
          </a:xfrm>
          <a:custGeom>
            <a:avLst/>
            <a:gdLst/>
            <a:ahLst/>
            <a:cxnLst/>
            <a:rect l="0" t="0" r="r" b="b"/>
            <a:pathLst>
              <a:path w="698500" h="424371">
                <a:moveTo>
                  <a:pt x="63500" y="0"/>
                </a:moveTo>
                <a:lnTo>
                  <a:pt x="635000" y="0"/>
                </a:lnTo>
                <a:cubicBezTo>
                  <a:pt x="670052" y="0"/>
                  <a:pt x="698500" y="28448"/>
                  <a:pt x="698500" y="63500"/>
                </a:cubicBezTo>
                <a:lnTo>
                  <a:pt x="698500" y="360871"/>
                </a:lnTo>
                <a:cubicBezTo>
                  <a:pt x="698500" y="395986"/>
                  <a:pt x="670052" y="424371"/>
                  <a:pt x="635000" y="424371"/>
                </a:cubicBezTo>
                <a:lnTo>
                  <a:pt x="63500" y="424371"/>
                </a:lnTo>
                <a:cubicBezTo>
                  <a:pt x="28448" y="424371"/>
                  <a:pt x="0" y="395986"/>
                  <a:pt x="0" y="360871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F0BAA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sv-3"/>
          <p:cNvSpPr txBox="1"/>
          <p:nvPr/>
        </p:nvSpPr>
        <p:spPr>
          <a:xfrm>
            <a:off x="6095238" y="4604745"/>
            <a:ext cx="3190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2.5%</a:t>
            </a:r>
          </a:p>
        </p:txBody>
      </p:sp>
      <p:cxnSp>
        <p:nvCxnSpPr>
          <p:cNvPr id="49" name="sl-3"/>
          <p:cNvCxnSpPr/>
          <p:nvPr/>
        </p:nvCxnSpPr>
        <p:spPr>
          <a:xfrm>
            <a:off x="6654800" y="4685771"/>
            <a:ext cx="139700" cy="0"/>
          </a:xfrm>
          <a:prstGeom prst="line">
            <a:avLst/>
          </a:prstGeom>
          <a:ln w="635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" name="sn-3"/>
          <p:cNvSpPr txBox="1"/>
          <p:nvPr/>
        </p:nvSpPr>
        <p:spPr>
          <a:xfrm>
            <a:off x="6844284" y="4589060"/>
            <a:ext cx="4457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转介绍</a:t>
            </a:r>
          </a:p>
        </p:txBody>
      </p:sp>
      <p:sp>
        <p:nvSpPr>
          <p:cNvPr id="51" name="sgb-3"/>
          <p:cNvSpPr/>
          <p:nvPr/>
        </p:nvSpPr>
        <p:spPr>
          <a:xfrm>
            <a:off x="7429500" y="4590542"/>
            <a:ext cx="457200" cy="190500"/>
          </a:xfrm>
          <a:custGeom>
            <a:avLst/>
            <a:gdLst/>
            <a:ahLst/>
            <a:cxnLst/>
            <a:rect l="0" t="0" r="r" b="b"/>
            <a:pathLst>
              <a:path w="457200" h="190500">
                <a:moveTo>
                  <a:pt x="95250" y="0"/>
                </a:moveTo>
                <a:lnTo>
                  <a:pt x="361950" y="0"/>
                </a:lnTo>
                <a:cubicBezTo>
                  <a:pt x="414528" y="0"/>
                  <a:pt x="457200" y="42609"/>
                  <a:pt x="457200" y="95250"/>
                </a:cubicBezTo>
                <a:lnTo>
                  <a:pt x="457200" y="95250"/>
                </a:lnTo>
                <a:cubicBezTo>
                  <a:pt x="457200" y="147828"/>
                  <a:pt x="414528" y="190500"/>
                  <a:pt x="3619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09"/>
                  <a:pt x="42672" y="0"/>
                  <a:pt x="95250" y="0"/>
                </a:cubicBezTo>
                <a:close/>
              </a:path>
            </a:pathLst>
          </a:custGeom>
          <a:solidFill>
            <a:srgbClr val="FCEFE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sg-3"/>
          <p:cNvSpPr txBox="1"/>
          <p:nvPr/>
        </p:nvSpPr>
        <p:spPr>
          <a:xfrm>
            <a:off x="7518527" y="4614079"/>
            <a:ext cx="2791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+35%</a:t>
            </a:r>
          </a:p>
        </p:txBody>
      </p:sp>
      <p:sp>
        <p:nvSpPr>
          <p:cNvPr id="53" name="sb-4"/>
          <p:cNvSpPr/>
          <p:nvPr/>
        </p:nvSpPr>
        <p:spPr>
          <a:xfrm>
            <a:off x="5905500" y="4923346"/>
            <a:ext cx="698500" cy="334454"/>
          </a:xfrm>
          <a:custGeom>
            <a:avLst/>
            <a:gdLst/>
            <a:ahLst/>
            <a:cxnLst/>
            <a:rect l="0" t="0" r="r" b="b"/>
            <a:pathLst>
              <a:path w="698500" h="334454">
                <a:moveTo>
                  <a:pt x="63500" y="0"/>
                </a:moveTo>
                <a:lnTo>
                  <a:pt x="635000" y="0"/>
                </a:lnTo>
                <a:cubicBezTo>
                  <a:pt x="670052" y="0"/>
                  <a:pt x="698500" y="28448"/>
                  <a:pt x="698500" y="63500"/>
                </a:cubicBezTo>
                <a:lnTo>
                  <a:pt x="698500" y="270954"/>
                </a:lnTo>
                <a:cubicBezTo>
                  <a:pt x="698500" y="306006"/>
                  <a:pt x="670052" y="334454"/>
                  <a:pt x="635000" y="334454"/>
                </a:cubicBezTo>
                <a:lnTo>
                  <a:pt x="63500" y="334454"/>
                </a:lnTo>
                <a:cubicBezTo>
                  <a:pt x="28448" y="334454"/>
                  <a:pt x="0" y="306006"/>
                  <a:pt x="0" y="270954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F4CEB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sv-4"/>
          <p:cNvSpPr txBox="1"/>
          <p:nvPr/>
        </p:nvSpPr>
        <p:spPr>
          <a:xfrm>
            <a:off x="6152134" y="5009557"/>
            <a:ext cx="2052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2%</a:t>
            </a:r>
          </a:p>
        </p:txBody>
      </p:sp>
      <p:cxnSp>
        <p:nvCxnSpPr>
          <p:cNvPr id="55" name="sl-4"/>
          <p:cNvCxnSpPr/>
          <p:nvPr/>
        </p:nvCxnSpPr>
        <p:spPr>
          <a:xfrm>
            <a:off x="6654800" y="5090583"/>
            <a:ext cx="139700" cy="0"/>
          </a:xfrm>
          <a:prstGeom prst="line">
            <a:avLst/>
          </a:prstGeom>
          <a:ln w="6350" cap="rnd">
            <a:solidFill>
              <a:srgbClr val="0B2545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6" name="sn-4"/>
          <p:cNvSpPr txBox="1"/>
          <p:nvPr/>
        </p:nvSpPr>
        <p:spPr>
          <a:xfrm>
            <a:off x="6844284" y="4993873"/>
            <a:ext cx="3314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零星</a:t>
            </a:r>
          </a:p>
        </p:txBody>
      </p:sp>
      <p:sp>
        <p:nvSpPr>
          <p:cNvPr id="57" name="sgb-4"/>
          <p:cNvSpPr/>
          <p:nvPr/>
        </p:nvSpPr>
        <p:spPr>
          <a:xfrm>
            <a:off x="7429500" y="4995354"/>
            <a:ext cx="457200" cy="190500"/>
          </a:xfrm>
          <a:custGeom>
            <a:avLst/>
            <a:gdLst/>
            <a:ahLst/>
            <a:cxnLst/>
            <a:rect l="0" t="0" r="r" b="b"/>
            <a:pathLst>
              <a:path w="457200" h="190500">
                <a:moveTo>
                  <a:pt x="95250" y="0"/>
                </a:moveTo>
                <a:lnTo>
                  <a:pt x="361950" y="0"/>
                </a:lnTo>
                <a:cubicBezTo>
                  <a:pt x="414528" y="0"/>
                  <a:pt x="457200" y="42609"/>
                  <a:pt x="457200" y="95250"/>
                </a:cubicBezTo>
                <a:lnTo>
                  <a:pt x="457200" y="95250"/>
                </a:lnTo>
                <a:cubicBezTo>
                  <a:pt x="457200" y="147828"/>
                  <a:pt x="414528" y="190500"/>
                  <a:pt x="3619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09"/>
                  <a:pt x="42672" y="0"/>
                  <a:pt x="95250" y="0"/>
                </a:cubicBezTo>
                <a:close/>
              </a:path>
            </a:pathLst>
          </a:custGeom>
          <a:solidFill>
            <a:srgbClr val="F0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sg-4"/>
          <p:cNvSpPr txBox="1"/>
          <p:nvPr/>
        </p:nvSpPr>
        <p:spPr>
          <a:xfrm>
            <a:off x="7543419" y="5018892"/>
            <a:ext cx="2293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-8%</a:t>
            </a:r>
          </a:p>
        </p:txBody>
      </p:sp>
      <p:sp>
        <p:nvSpPr>
          <p:cNvPr id="59" name="sb-h"/>
          <p:cNvSpPr txBox="1"/>
          <p:nvPr/>
        </p:nvSpPr>
        <p:spPr>
          <a:xfrm>
            <a:off x="5948934" y="1766824"/>
            <a:ext cx="61163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“其他”拆解</a:t>
            </a:r>
          </a:p>
        </p:txBody>
      </p:sp>
      <p:sp>
        <p:nvSpPr>
          <p:cNvPr id="60" name="side-bar"/>
          <p:cNvSpPr/>
          <p:nvPr/>
        </p:nvSpPr>
        <p:spPr>
          <a:xfrm>
            <a:off x="8890000" y="15875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side-h"/>
          <p:cNvSpPr txBox="1"/>
          <p:nvPr/>
        </p:nvSpPr>
        <p:spPr>
          <a:xfrm>
            <a:off x="9048750" y="15946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值得单列</a:t>
            </a:r>
          </a:p>
        </p:txBody>
      </p:sp>
      <p:sp>
        <p:nvSpPr>
          <p:cNvPr id="62" name="side-p"/>
          <p:cNvSpPr txBox="1"/>
          <p:nvPr/>
        </p:nvSpPr>
        <p:spPr>
          <a:xfrm>
            <a:off x="9055989" y="1885045"/>
            <a:ext cx="1206691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橙色标签为年增速 ≥ 20%</a:t>
            </a:r>
          </a:p>
        </p:txBody>
      </p:sp>
      <p:sp>
        <p:nvSpPr>
          <p:cNvPr id="63" name="hero"/>
          <p:cNvSpPr/>
          <p:nvPr/>
        </p:nvSpPr>
        <p:spPr>
          <a:xfrm>
            <a:off x="8890000" y="2222500"/>
            <a:ext cx="2349500" cy="1206500"/>
          </a:xfrm>
          <a:custGeom>
            <a:avLst/>
            <a:gdLst/>
            <a:ahLst/>
            <a:cxnLst/>
            <a:rect l="0" t="0" r="r" b="b"/>
            <a:pathLst>
              <a:path w="2349500" h="1206500">
                <a:moveTo>
                  <a:pt x="139700" y="0"/>
                </a:moveTo>
                <a:lnTo>
                  <a:pt x="2209800" y="0"/>
                </a:lnTo>
                <a:cubicBezTo>
                  <a:pt x="2286953" y="0"/>
                  <a:pt x="2349500" y="62548"/>
                  <a:pt x="2349500" y="139700"/>
                </a:cubicBezTo>
                <a:lnTo>
                  <a:pt x="2349500" y="1066800"/>
                </a:lnTo>
                <a:cubicBezTo>
                  <a:pt x="2349500" y="1143952"/>
                  <a:pt x="2286953" y="1206500"/>
                  <a:pt x="2209800" y="1206500"/>
                </a:cubicBezTo>
                <a:lnTo>
                  <a:pt x="139700" y="1206500"/>
                </a:lnTo>
                <a:cubicBezTo>
                  <a:pt x="62547" y="1206500"/>
                  <a:pt x="0" y="1143952"/>
                  <a:pt x="0" y="10668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E8793F"/>
              </a:gs>
              <a:gs pos="100000">
                <a:srgbClr val="C95A22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hero-h"/>
          <p:cNvSpPr txBox="1"/>
          <p:nvPr/>
        </p:nvSpPr>
        <p:spPr>
          <a:xfrm>
            <a:off x="9055608" y="2376424"/>
            <a:ext cx="8026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FFE3D2"/>
                </a:solidFill>
                <a:latin typeface="微软雅黑"/>
                <a:ea typeface="微软雅黑"/>
                <a:cs typeface="微软雅黑"/>
              </a:rPr>
              <a:t>三块高增长合计</a:t>
            </a:r>
          </a:p>
        </p:txBody>
      </p:sp>
      <p:sp>
        <p:nvSpPr>
          <p:cNvPr id="65" name="hero-v"/>
          <p:cNvSpPr txBox="1"/>
          <p:nvPr/>
        </p:nvSpPr>
        <p:spPr>
          <a:xfrm>
            <a:off x="9022080" y="2513965"/>
            <a:ext cx="982980" cy="6667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0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10%</a:t>
            </a:r>
          </a:p>
        </p:txBody>
      </p:sp>
      <p:sp>
        <p:nvSpPr>
          <p:cNvPr id="66" name="hero-d"/>
          <p:cNvSpPr txBox="1"/>
          <p:nvPr/>
        </p:nvSpPr>
        <p:spPr>
          <a:xfrm>
            <a:off x="9055608" y="3138424"/>
            <a:ext cx="12090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FFF1E8"/>
                </a:solidFill>
                <a:latin typeface="微软雅黑"/>
                <a:ea typeface="微软雅黑"/>
                <a:cs typeface="微软雅黑"/>
              </a:rPr>
              <a:t>政府采购、海外、转介绍</a:t>
            </a:r>
          </a:p>
        </p:txBody>
      </p:sp>
      <p:sp>
        <p:nvSpPr>
          <p:cNvPr id="67" name="n-0"/>
          <p:cNvSpPr/>
          <p:nvPr/>
        </p:nvSpPr>
        <p:spPr>
          <a:xfrm>
            <a:off x="8890000" y="3594100"/>
            <a:ext cx="2349500" cy="660400"/>
          </a:xfrm>
          <a:custGeom>
            <a:avLst/>
            <a:gdLst/>
            <a:ahLst/>
            <a:cxnLst/>
            <a:rect l="0" t="0" r="r" b="b"/>
            <a:pathLst>
              <a:path w="2349500" h="660400">
                <a:moveTo>
                  <a:pt x="127000" y="0"/>
                </a:moveTo>
                <a:lnTo>
                  <a:pt x="2222500" y="0"/>
                </a:lnTo>
                <a:cubicBezTo>
                  <a:pt x="2292667" y="0"/>
                  <a:pt x="2349500" y="56833"/>
                  <a:pt x="2349500" y="127000"/>
                </a:cubicBezTo>
                <a:lnTo>
                  <a:pt x="2349500" y="533400"/>
                </a:lnTo>
                <a:cubicBezTo>
                  <a:pt x="2349500" y="603567"/>
                  <a:pt x="2292667" y="660400"/>
                  <a:pt x="2222500" y="660400"/>
                </a:cubicBezTo>
                <a:lnTo>
                  <a:pt x="127000" y="660400"/>
                </a:lnTo>
                <a:cubicBezTo>
                  <a:pt x="56833" y="660400"/>
                  <a:pt x="0" y="603567"/>
                  <a:pt x="0" y="5334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nb-0"/>
          <p:cNvSpPr/>
          <p:nvPr/>
        </p:nvSpPr>
        <p:spPr>
          <a:xfrm>
            <a:off x="8890000" y="3594100"/>
            <a:ext cx="38100" cy="660400"/>
          </a:xfrm>
          <a:custGeom>
            <a:avLst/>
            <a:gdLst/>
            <a:ahLst/>
            <a:cxnLst/>
            <a:rect l="0" t="0" r="r" b="b"/>
            <a:pathLst>
              <a:path w="38100" h="6604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41350"/>
                </a:lnTo>
                <a:cubicBezTo>
                  <a:pt x="38100" y="651891"/>
                  <a:pt x="29591" y="660400"/>
                  <a:pt x="19050" y="660400"/>
                </a:cubicBezTo>
                <a:lnTo>
                  <a:pt x="19050" y="660400"/>
                </a:lnTo>
                <a:cubicBezTo>
                  <a:pt x="8509" y="660400"/>
                  <a:pt x="0" y="651891"/>
                  <a:pt x="0" y="6413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na-0"/>
          <p:cNvSpPr txBox="1"/>
          <p:nvPr/>
        </p:nvSpPr>
        <p:spPr>
          <a:xfrm>
            <a:off x="9053322" y="3724497"/>
            <a:ext cx="68770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海外 +61%</a:t>
            </a:r>
          </a:p>
        </p:txBody>
      </p:sp>
      <p:sp>
        <p:nvSpPr>
          <p:cNvPr id="70" name="nt-0"/>
          <p:cNvSpPr txBox="1"/>
          <p:nvPr/>
        </p:nvSpPr>
        <p:spPr>
          <a:xfrm>
            <a:off x="9055989" y="3955145"/>
            <a:ext cx="974407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明年单列为独立渠道</a:t>
            </a:r>
          </a:p>
        </p:txBody>
      </p:sp>
      <p:sp>
        <p:nvSpPr>
          <p:cNvPr id="71" name="n-1"/>
          <p:cNvSpPr/>
          <p:nvPr/>
        </p:nvSpPr>
        <p:spPr>
          <a:xfrm>
            <a:off x="8890000" y="4356100"/>
            <a:ext cx="2349500" cy="660400"/>
          </a:xfrm>
          <a:custGeom>
            <a:avLst/>
            <a:gdLst/>
            <a:ahLst/>
            <a:cxnLst/>
            <a:rect l="0" t="0" r="r" b="b"/>
            <a:pathLst>
              <a:path w="2349500" h="660400">
                <a:moveTo>
                  <a:pt x="127000" y="0"/>
                </a:moveTo>
                <a:lnTo>
                  <a:pt x="2222500" y="0"/>
                </a:lnTo>
                <a:cubicBezTo>
                  <a:pt x="2292667" y="0"/>
                  <a:pt x="2349500" y="56833"/>
                  <a:pt x="2349500" y="127000"/>
                </a:cubicBezTo>
                <a:lnTo>
                  <a:pt x="2349500" y="533400"/>
                </a:lnTo>
                <a:cubicBezTo>
                  <a:pt x="2349500" y="603567"/>
                  <a:pt x="2292667" y="660400"/>
                  <a:pt x="2222500" y="660400"/>
                </a:cubicBezTo>
                <a:lnTo>
                  <a:pt x="127000" y="660400"/>
                </a:lnTo>
                <a:cubicBezTo>
                  <a:pt x="56833" y="660400"/>
                  <a:pt x="0" y="603567"/>
                  <a:pt x="0" y="5334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nb-1"/>
          <p:cNvSpPr/>
          <p:nvPr/>
        </p:nvSpPr>
        <p:spPr>
          <a:xfrm>
            <a:off x="8890000" y="4356100"/>
            <a:ext cx="38100" cy="660400"/>
          </a:xfrm>
          <a:custGeom>
            <a:avLst/>
            <a:gdLst/>
            <a:ahLst/>
            <a:cxnLst/>
            <a:rect l="0" t="0" r="r" b="b"/>
            <a:pathLst>
              <a:path w="38100" h="6604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641350"/>
                </a:lnTo>
                <a:cubicBezTo>
                  <a:pt x="38100" y="651891"/>
                  <a:pt x="29591" y="660400"/>
                  <a:pt x="19050" y="660400"/>
                </a:cubicBezTo>
                <a:lnTo>
                  <a:pt x="19050" y="660400"/>
                </a:lnTo>
                <a:cubicBezTo>
                  <a:pt x="8509" y="660400"/>
                  <a:pt x="0" y="651891"/>
                  <a:pt x="0" y="6413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na-1"/>
          <p:cNvSpPr txBox="1"/>
          <p:nvPr/>
        </p:nvSpPr>
        <p:spPr>
          <a:xfrm>
            <a:off x="9053322" y="4486497"/>
            <a:ext cx="80835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转介绍 +35%</a:t>
            </a:r>
          </a:p>
        </p:txBody>
      </p:sp>
      <p:sp>
        <p:nvSpPr>
          <p:cNvPr id="74" name="nt-1"/>
          <p:cNvSpPr txBox="1"/>
          <p:nvPr/>
        </p:nvSpPr>
        <p:spPr>
          <a:xfrm>
            <a:off x="9055989" y="4717145"/>
            <a:ext cx="87598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上线推荐奖励计划</a:t>
            </a:r>
          </a:p>
        </p:txBody>
      </p:sp>
      <p:sp>
        <p:nvSpPr>
          <p:cNvPr id="75" name="sum"/>
          <p:cNvSpPr/>
          <p:nvPr/>
        </p:nvSpPr>
        <p:spPr>
          <a:xfrm>
            <a:off x="952500" y="5740400"/>
            <a:ext cx="10287000" cy="419100"/>
          </a:xfrm>
          <a:custGeom>
            <a:avLst/>
            <a:gdLst/>
            <a:ahLst/>
            <a:cxnLst/>
            <a:rect l="0" t="0" r="r" b="b"/>
            <a:pathLst>
              <a:path w="10287000" h="4191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330200"/>
                </a:lnTo>
                <a:cubicBezTo>
                  <a:pt x="10287000" y="379286"/>
                  <a:pt x="10247186" y="419100"/>
                  <a:pt x="10198100" y="419100"/>
                </a:cubicBezTo>
                <a:lnTo>
                  <a:pt x="88900" y="419100"/>
                </a:lnTo>
                <a:cubicBezTo>
                  <a:pt x="39815" y="419100"/>
                  <a:pt x="0" y="379286"/>
                  <a:pt x="0" y="3302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sum-bar"/>
          <p:cNvSpPr/>
          <p:nvPr/>
        </p:nvSpPr>
        <p:spPr>
          <a:xfrm>
            <a:off x="952500" y="5740400"/>
            <a:ext cx="31750" cy="4191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sum-h"/>
          <p:cNvSpPr txBox="1"/>
          <p:nvPr/>
        </p:nvSpPr>
        <p:spPr>
          <a:xfrm>
            <a:off x="1142746" y="58737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口径调整</a:t>
            </a:r>
          </a:p>
        </p:txBody>
      </p:sp>
      <p:sp>
        <p:nvSpPr>
          <p:cNvPr id="78" name="sum-p"/>
          <p:cNvSpPr txBox="1"/>
          <p:nvPr/>
        </p:nvSpPr>
        <p:spPr>
          <a:xfrm>
            <a:off x="1891665" y="5869861"/>
            <a:ext cx="435324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“其他”里的高增长部分已占总营收 10%，明年起在报表里拆成独立口径，不再合并。</a:t>
            </a:r>
          </a:p>
        </p:txBody>
      </p:sp>
      <p:cxnSp>
        <p:nvCxnSpPr>
          <p:cNvPr id="79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0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复合饼图 · 营收渠道</a:t>
            </a:r>
          </a:p>
        </p:txBody>
      </p:sp>
      <p:sp>
        <p:nvSpPr>
          <p:cNvPr id="81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六大产品优势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35483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KEY ADVANTAGES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123299" y="673132"/>
            <a:ext cx="24974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从部署到服务，六个维度构成完整的产品竞争力</a:t>
            </a:r>
          </a:p>
        </p:txBody>
      </p:sp>
      <p:sp>
        <p:nvSpPr>
          <p:cNvPr id="10" name="card-1"/>
          <p:cNvSpPr/>
          <p:nvPr/>
        </p:nvSpPr>
        <p:spPr>
          <a:xfrm>
            <a:off x="952500" y="1676400"/>
            <a:ext cx="3403600" cy="2044700"/>
          </a:xfrm>
          <a:custGeom>
            <a:avLst/>
            <a:gdLst/>
            <a:ahLst/>
            <a:cxnLst/>
            <a:rect l="0" t="0" r="r" b="b"/>
            <a:pathLst>
              <a:path w="3403600" h="2044700">
                <a:moveTo>
                  <a:pt x="127000" y="0"/>
                </a:moveTo>
                <a:lnTo>
                  <a:pt x="3276600" y="0"/>
                </a:lnTo>
                <a:cubicBezTo>
                  <a:pt x="3346767" y="0"/>
                  <a:pt x="3403600" y="56832"/>
                  <a:pt x="3403600" y="127000"/>
                </a:cubicBezTo>
                <a:lnTo>
                  <a:pt x="3403600" y="1917700"/>
                </a:lnTo>
                <a:cubicBezTo>
                  <a:pt x="3403600" y="1987867"/>
                  <a:pt x="3346767" y="2044700"/>
                  <a:pt x="3276600" y="2044700"/>
                </a:cubicBezTo>
                <a:lnTo>
                  <a:pt x="127000" y="2044700"/>
                </a:lnTo>
                <a:cubicBezTo>
                  <a:pt x="56832" y="2044700"/>
                  <a:pt x="0" y="1987867"/>
                  <a:pt x="0" y="1917700"/>
                </a:cubicBezTo>
                <a:lnTo>
                  <a:pt x="0" y="127000"/>
                </a:lnTo>
                <a:cubicBezTo>
                  <a:pt x="0" y="56832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cap-1"/>
          <p:cNvSpPr/>
          <p:nvPr/>
        </p:nvSpPr>
        <p:spPr>
          <a:xfrm>
            <a:off x="952500" y="1676400"/>
            <a:ext cx="3403600" cy="44450"/>
          </a:xfrm>
          <a:custGeom>
            <a:avLst/>
            <a:gdLst/>
            <a:ahLst/>
            <a:cxnLst/>
            <a:rect l="0" t="0" r="r" b="b"/>
            <a:pathLst>
              <a:path w="3403600" h="44450">
                <a:moveTo>
                  <a:pt x="22225" y="0"/>
                </a:moveTo>
                <a:lnTo>
                  <a:pt x="3381375" y="0"/>
                </a:lnTo>
                <a:cubicBezTo>
                  <a:pt x="3393630" y="0"/>
                  <a:pt x="3403600" y="9969"/>
                  <a:pt x="3403600" y="22225"/>
                </a:cubicBezTo>
                <a:lnTo>
                  <a:pt x="3403600" y="22225"/>
                </a:lnTo>
                <a:cubicBezTo>
                  <a:pt x="3403600" y="34481"/>
                  <a:pt x="3393630" y="44450"/>
                  <a:pt x="3381375" y="44450"/>
                </a:cubicBezTo>
                <a:lnTo>
                  <a:pt x="22225" y="44450"/>
                </a:lnTo>
                <a:cubicBezTo>
                  <a:pt x="9969" y="44450"/>
                  <a:pt x="0" y="34481"/>
                  <a:pt x="0" y="22225"/>
                </a:cubicBezTo>
                <a:lnTo>
                  <a:pt x="0" y="22225"/>
                </a:lnTo>
                <a:cubicBezTo>
                  <a:pt x="0" y="9969"/>
                  <a:pt x="9969" y="0"/>
                  <a:pt x="2222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wm-1"/>
          <p:cNvSpPr txBox="1"/>
          <p:nvPr/>
        </p:nvSpPr>
        <p:spPr>
          <a:xfrm>
            <a:off x="3355340" y="1758696"/>
            <a:ext cx="833628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3200" b="1" spc="50">
                <a:solidFill>
                  <a:srgbClr val="0B3E8F">
                    <a:alpha val="12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13" name="chip-1"/>
          <p:cNvSpPr/>
          <p:nvPr/>
        </p:nvSpPr>
        <p:spPr>
          <a:xfrm>
            <a:off x="1206500" y="1993900"/>
            <a:ext cx="431800" cy="431800"/>
          </a:xfrm>
          <a:prstGeom prst="ellipse">
            <a:avLst/>
          </a:pr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icon-rocket"/>
          <p:cNvSpPr/>
          <p:nvPr/>
        </p:nvSpPr>
        <p:spPr>
          <a:xfrm>
            <a:off x="1363028" y="2130616"/>
            <a:ext cx="118745" cy="149352"/>
          </a:xfrm>
          <a:custGeom>
            <a:avLst/>
            <a:gdLst/>
            <a:ahLst/>
            <a:cxnLst/>
            <a:rect l="0" t="0" r="r" b="b"/>
            <a:pathLst>
              <a:path w="118745" h="149352">
                <a:moveTo>
                  <a:pt x="59372" y="0"/>
                </a:moveTo>
                <a:cubicBezTo>
                  <a:pt x="86360" y="19812"/>
                  <a:pt x="100775" y="50419"/>
                  <a:pt x="100775" y="82804"/>
                </a:cubicBezTo>
                <a:lnTo>
                  <a:pt x="80962" y="115189"/>
                </a:lnTo>
                <a:lnTo>
                  <a:pt x="37782" y="115189"/>
                </a:lnTo>
                <a:lnTo>
                  <a:pt x="17970" y="82804"/>
                </a:lnTo>
                <a:cubicBezTo>
                  <a:pt x="17970" y="50419"/>
                  <a:pt x="32385" y="19812"/>
                  <a:pt x="59372" y="0"/>
                </a:cubicBezTo>
                <a:close/>
                <a:moveTo>
                  <a:pt x="17970" y="107950"/>
                </a:moveTo>
                <a:lnTo>
                  <a:pt x="0" y="149352"/>
                </a:lnTo>
                <a:lnTo>
                  <a:pt x="37782" y="134938"/>
                </a:lnTo>
                <a:moveTo>
                  <a:pt x="100775" y="107950"/>
                </a:moveTo>
                <a:lnTo>
                  <a:pt x="118745" y="149352"/>
                </a:lnTo>
                <a:lnTo>
                  <a:pt x="80962" y="134938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cn-1"/>
          <p:cNvSpPr txBox="1"/>
          <p:nvPr/>
        </p:nvSpPr>
        <p:spPr>
          <a:xfrm>
            <a:off x="1211326" y="2556859"/>
            <a:ext cx="903605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5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快速部署</a:t>
            </a:r>
          </a:p>
        </p:txBody>
      </p:sp>
      <p:sp>
        <p:nvSpPr>
          <p:cNvPr id="16" name="en-1"/>
          <p:cNvSpPr txBox="1"/>
          <p:nvPr/>
        </p:nvSpPr>
        <p:spPr>
          <a:xfrm>
            <a:off x="1233932" y="2836608"/>
            <a:ext cx="90601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64748B"/>
                </a:solidFill>
                <a:latin typeface="Arial"/>
                <a:ea typeface="Arial"/>
                <a:cs typeface="Arial"/>
              </a:rPr>
              <a:t>RAPID DEPLOY</a:t>
            </a:r>
          </a:p>
        </p:txBody>
      </p:sp>
      <p:sp>
        <p:nvSpPr>
          <p:cNvPr id="17" name="rule-1"/>
          <p:cNvSpPr/>
          <p:nvPr/>
        </p:nvSpPr>
        <p:spPr>
          <a:xfrm>
            <a:off x="1231900" y="3086100"/>
            <a:ext cx="292100" cy="16510"/>
          </a:xfrm>
          <a:prstGeom prst="roundRect">
            <a:avLst>
              <a:gd name="adj" fmla="val 50000"/>
            </a:avLst>
          </a:prstGeom>
          <a:solidFill>
            <a:srgbClr val="0B3E8F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d-1-1"/>
          <p:cNvSpPr/>
          <p:nvPr/>
        </p:nvSpPr>
        <p:spPr>
          <a:xfrm>
            <a:off x="1248410" y="3255010"/>
            <a:ext cx="43180" cy="43180"/>
          </a:xfrm>
          <a:prstGeom prst="ellipse">
            <a:avLst/>
          </a:prstGeom>
          <a:solidFill>
            <a:srgbClr val="0B3E8F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p-1-1"/>
          <p:cNvSpPr txBox="1"/>
          <p:nvPr/>
        </p:nvSpPr>
        <p:spPr>
          <a:xfrm>
            <a:off x="1370965" y="3177461"/>
            <a:ext cx="12366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标准化实施包开箱即用</a:t>
            </a:r>
          </a:p>
        </p:txBody>
      </p:sp>
      <p:sp>
        <p:nvSpPr>
          <p:cNvPr id="20" name="d-1-2"/>
          <p:cNvSpPr/>
          <p:nvPr/>
        </p:nvSpPr>
        <p:spPr>
          <a:xfrm>
            <a:off x="1248410" y="3445510"/>
            <a:ext cx="43180" cy="43180"/>
          </a:xfrm>
          <a:prstGeom prst="ellipse">
            <a:avLst/>
          </a:prstGeom>
          <a:solidFill>
            <a:srgbClr val="0B3E8F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p-1-2"/>
          <p:cNvSpPr txBox="1"/>
          <p:nvPr/>
        </p:nvSpPr>
        <p:spPr>
          <a:xfrm>
            <a:off x="1370965" y="3367961"/>
            <a:ext cx="108997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平均 3 周完成上线</a:t>
            </a:r>
          </a:p>
        </p:txBody>
      </p:sp>
      <p:sp>
        <p:nvSpPr>
          <p:cNvPr id="22" name="card-2"/>
          <p:cNvSpPr/>
          <p:nvPr/>
        </p:nvSpPr>
        <p:spPr>
          <a:xfrm>
            <a:off x="4521200" y="1676400"/>
            <a:ext cx="3403600" cy="2044700"/>
          </a:xfrm>
          <a:custGeom>
            <a:avLst/>
            <a:gdLst/>
            <a:ahLst/>
            <a:cxnLst/>
            <a:rect l="0" t="0" r="r" b="b"/>
            <a:pathLst>
              <a:path w="3403600" h="2044700">
                <a:moveTo>
                  <a:pt x="127000" y="0"/>
                </a:moveTo>
                <a:lnTo>
                  <a:pt x="3276600" y="0"/>
                </a:lnTo>
                <a:cubicBezTo>
                  <a:pt x="3346767" y="0"/>
                  <a:pt x="3403600" y="56832"/>
                  <a:pt x="3403600" y="127000"/>
                </a:cubicBezTo>
                <a:lnTo>
                  <a:pt x="3403600" y="1917700"/>
                </a:lnTo>
                <a:cubicBezTo>
                  <a:pt x="3403600" y="1987867"/>
                  <a:pt x="3346767" y="2044700"/>
                  <a:pt x="3276600" y="2044700"/>
                </a:cubicBezTo>
                <a:lnTo>
                  <a:pt x="127000" y="2044700"/>
                </a:lnTo>
                <a:cubicBezTo>
                  <a:pt x="56833" y="2044700"/>
                  <a:pt x="0" y="1987867"/>
                  <a:pt x="0" y="19177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2B5EA6"/>
              </a:gs>
              <a:gs pos="100000">
                <a:srgbClr val="134C9C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wm-2"/>
          <p:cNvSpPr txBox="1"/>
          <p:nvPr/>
        </p:nvSpPr>
        <p:spPr>
          <a:xfrm>
            <a:off x="6924040" y="1758696"/>
            <a:ext cx="833628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3200" b="1" spc="50">
                <a:solidFill>
                  <a:srgbClr val="FFFFFF">
                    <a:alpha val="18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24" name="chip-2"/>
          <p:cNvSpPr/>
          <p:nvPr/>
        </p:nvSpPr>
        <p:spPr>
          <a:xfrm>
            <a:off x="4775200" y="1993900"/>
            <a:ext cx="431800" cy="431800"/>
          </a:xfrm>
          <a:prstGeom prst="ellipse">
            <a:avLst/>
          </a:prstGeom>
          <a:solidFill>
            <a:srgbClr val="FFFFFF">
              <a:alpha val="1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icon-layers"/>
          <p:cNvSpPr/>
          <p:nvPr/>
        </p:nvSpPr>
        <p:spPr>
          <a:xfrm>
            <a:off x="4919154" y="2136013"/>
            <a:ext cx="143891" cy="149352"/>
          </a:xfrm>
          <a:custGeom>
            <a:avLst/>
            <a:gdLst/>
            <a:ahLst/>
            <a:cxnLst/>
            <a:rect l="0" t="0" r="r" b="b"/>
            <a:pathLst>
              <a:path w="143891" h="149352">
                <a:moveTo>
                  <a:pt x="71946" y="0"/>
                </a:moveTo>
                <a:lnTo>
                  <a:pt x="143891" y="37782"/>
                </a:lnTo>
                <a:lnTo>
                  <a:pt x="71946" y="75565"/>
                </a:lnTo>
                <a:lnTo>
                  <a:pt x="0" y="37782"/>
                </a:lnTo>
                <a:close/>
                <a:moveTo>
                  <a:pt x="0" y="75565"/>
                </a:moveTo>
                <a:lnTo>
                  <a:pt x="71946" y="113348"/>
                </a:lnTo>
                <a:lnTo>
                  <a:pt x="143891" y="75565"/>
                </a:lnTo>
                <a:moveTo>
                  <a:pt x="0" y="111569"/>
                </a:moveTo>
                <a:lnTo>
                  <a:pt x="71946" y="149352"/>
                </a:lnTo>
                <a:lnTo>
                  <a:pt x="143891" y="111569"/>
                </a:lnTo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cn-2"/>
          <p:cNvSpPr txBox="1"/>
          <p:nvPr/>
        </p:nvSpPr>
        <p:spPr>
          <a:xfrm>
            <a:off x="4780026" y="2556859"/>
            <a:ext cx="903605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5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弹性扩展</a:t>
            </a:r>
          </a:p>
        </p:txBody>
      </p:sp>
      <p:sp>
        <p:nvSpPr>
          <p:cNvPr id="27" name="en-2"/>
          <p:cNvSpPr txBox="1"/>
          <p:nvPr/>
        </p:nvSpPr>
        <p:spPr>
          <a:xfrm>
            <a:off x="4802632" y="2836608"/>
            <a:ext cx="97485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D3E3F6"/>
                </a:solidFill>
                <a:latin typeface="Arial"/>
                <a:ea typeface="Arial"/>
                <a:cs typeface="Arial"/>
              </a:rPr>
              <a:t>ELASTIC SCALE</a:t>
            </a:r>
          </a:p>
        </p:txBody>
      </p:sp>
      <p:sp>
        <p:nvSpPr>
          <p:cNvPr id="28" name="rule-2"/>
          <p:cNvSpPr/>
          <p:nvPr/>
        </p:nvSpPr>
        <p:spPr>
          <a:xfrm>
            <a:off x="4800600" y="3086100"/>
            <a:ext cx="292100" cy="16510"/>
          </a:xfrm>
          <a:prstGeom prst="roundRect">
            <a:avLst>
              <a:gd name="adj" fmla="val 50000"/>
            </a:avLst>
          </a:prstGeom>
          <a:solidFill>
            <a:srgbClr val="FFFFFF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d-2-1"/>
          <p:cNvSpPr/>
          <p:nvPr/>
        </p:nvSpPr>
        <p:spPr>
          <a:xfrm>
            <a:off x="4817110" y="3255010"/>
            <a:ext cx="43180" cy="43180"/>
          </a:xfrm>
          <a:prstGeom prst="ellipse">
            <a:avLst/>
          </a:prstGeom>
          <a:solidFill>
            <a:srgbClr val="FFFFFF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p-2-1"/>
          <p:cNvSpPr txBox="1"/>
          <p:nvPr/>
        </p:nvSpPr>
        <p:spPr>
          <a:xfrm>
            <a:off x="4939665" y="3177461"/>
            <a:ext cx="12366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2000"/>
                  </a:srgbClr>
                </a:solidFill>
                <a:latin typeface="微软雅黑"/>
                <a:ea typeface="微软雅黑"/>
                <a:cs typeface="微软雅黑"/>
              </a:rPr>
              <a:t>按业务量动态伸缩资源</a:t>
            </a:r>
          </a:p>
        </p:txBody>
      </p:sp>
      <p:sp>
        <p:nvSpPr>
          <p:cNvPr id="31" name="d-2-2"/>
          <p:cNvSpPr/>
          <p:nvPr/>
        </p:nvSpPr>
        <p:spPr>
          <a:xfrm>
            <a:off x="4817110" y="3445510"/>
            <a:ext cx="43180" cy="43180"/>
          </a:xfrm>
          <a:prstGeom prst="ellipse">
            <a:avLst/>
          </a:prstGeom>
          <a:solidFill>
            <a:srgbClr val="FFFFFF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p-2-2"/>
          <p:cNvSpPr txBox="1"/>
          <p:nvPr/>
        </p:nvSpPr>
        <p:spPr>
          <a:xfrm>
            <a:off x="4939665" y="3367961"/>
            <a:ext cx="8956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2000"/>
                  </a:srgbClr>
                </a:solidFill>
                <a:latin typeface="微软雅黑"/>
                <a:ea typeface="微软雅黑"/>
                <a:cs typeface="微软雅黑"/>
              </a:rPr>
              <a:t>峰值场景零卡顿</a:t>
            </a:r>
          </a:p>
        </p:txBody>
      </p:sp>
      <p:sp>
        <p:nvSpPr>
          <p:cNvPr id="33" name="card-3"/>
          <p:cNvSpPr/>
          <p:nvPr/>
        </p:nvSpPr>
        <p:spPr>
          <a:xfrm>
            <a:off x="8089900" y="1676400"/>
            <a:ext cx="3403600" cy="2044700"/>
          </a:xfrm>
          <a:custGeom>
            <a:avLst/>
            <a:gdLst/>
            <a:ahLst/>
            <a:cxnLst/>
            <a:rect l="0" t="0" r="r" b="b"/>
            <a:pathLst>
              <a:path w="3403600" h="2044700">
                <a:moveTo>
                  <a:pt x="127000" y="0"/>
                </a:moveTo>
                <a:lnTo>
                  <a:pt x="3276600" y="0"/>
                </a:lnTo>
                <a:cubicBezTo>
                  <a:pt x="3346767" y="0"/>
                  <a:pt x="3403600" y="56832"/>
                  <a:pt x="3403600" y="127000"/>
                </a:cubicBezTo>
                <a:lnTo>
                  <a:pt x="3403600" y="1917700"/>
                </a:lnTo>
                <a:cubicBezTo>
                  <a:pt x="3403600" y="1987867"/>
                  <a:pt x="3346767" y="2044700"/>
                  <a:pt x="3276600" y="2044700"/>
                </a:cubicBezTo>
                <a:lnTo>
                  <a:pt x="127000" y="2044700"/>
                </a:lnTo>
                <a:cubicBezTo>
                  <a:pt x="56833" y="2044700"/>
                  <a:pt x="0" y="1987867"/>
                  <a:pt x="0" y="19177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cap-3"/>
          <p:cNvSpPr/>
          <p:nvPr/>
        </p:nvSpPr>
        <p:spPr>
          <a:xfrm>
            <a:off x="8089900" y="1676400"/>
            <a:ext cx="3403600" cy="44450"/>
          </a:xfrm>
          <a:custGeom>
            <a:avLst/>
            <a:gdLst/>
            <a:ahLst/>
            <a:cxnLst/>
            <a:rect l="0" t="0" r="r" b="b"/>
            <a:pathLst>
              <a:path w="3403600" h="44450">
                <a:moveTo>
                  <a:pt x="22225" y="0"/>
                </a:moveTo>
                <a:lnTo>
                  <a:pt x="3381375" y="0"/>
                </a:lnTo>
                <a:cubicBezTo>
                  <a:pt x="3393631" y="0"/>
                  <a:pt x="3403600" y="9969"/>
                  <a:pt x="3403600" y="22225"/>
                </a:cubicBezTo>
                <a:lnTo>
                  <a:pt x="3403600" y="22225"/>
                </a:lnTo>
                <a:cubicBezTo>
                  <a:pt x="3403600" y="34481"/>
                  <a:pt x="3393631" y="44450"/>
                  <a:pt x="3381375" y="44450"/>
                </a:cubicBezTo>
                <a:lnTo>
                  <a:pt x="22225" y="44450"/>
                </a:lnTo>
                <a:cubicBezTo>
                  <a:pt x="9969" y="44450"/>
                  <a:pt x="0" y="34481"/>
                  <a:pt x="0" y="22225"/>
                </a:cubicBezTo>
                <a:lnTo>
                  <a:pt x="0" y="22225"/>
                </a:lnTo>
                <a:cubicBezTo>
                  <a:pt x="0" y="9969"/>
                  <a:pt x="9969" y="0"/>
                  <a:pt x="2222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wm-3"/>
          <p:cNvSpPr txBox="1"/>
          <p:nvPr/>
        </p:nvSpPr>
        <p:spPr>
          <a:xfrm>
            <a:off x="10492740" y="1758696"/>
            <a:ext cx="833628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3200" b="1" spc="50">
                <a:solidFill>
                  <a:srgbClr val="1B5AA8">
                    <a:alpha val="12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36" name="chip-3"/>
          <p:cNvSpPr/>
          <p:nvPr/>
        </p:nvSpPr>
        <p:spPr>
          <a:xfrm>
            <a:off x="8343900" y="1993900"/>
            <a:ext cx="431800" cy="431800"/>
          </a:xfrm>
          <a:prstGeom prst="ellipse">
            <a:avLst/>
          </a:prstGeom>
          <a:solidFill>
            <a:srgbClr val="1B5AA8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icon-shield"/>
          <p:cNvSpPr/>
          <p:nvPr/>
        </p:nvSpPr>
        <p:spPr>
          <a:xfrm>
            <a:off x="8495030" y="2132457"/>
            <a:ext cx="129540" cy="154686"/>
          </a:xfrm>
          <a:custGeom>
            <a:avLst/>
            <a:gdLst/>
            <a:ahLst/>
            <a:cxnLst/>
            <a:rect l="0" t="0" r="r" b="b"/>
            <a:pathLst>
              <a:path w="129540" h="154686">
                <a:moveTo>
                  <a:pt x="64770" y="0"/>
                </a:moveTo>
                <a:lnTo>
                  <a:pt x="129540" y="25146"/>
                </a:lnTo>
                <a:lnTo>
                  <a:pt x="129540" y="75565"/>
                </a:lnTo>
                <a:cubicBezTo>
                  <a:pt x="129540" y="113348"/>
                  <a:pt x="102553" y="142113"/>
                  <a:pt x="64770" y="154686"/>
                </a:cubicBezTo>
                <a:cubicBezTo>
                  <a:pt x="26988" y="142113"/>
                  <a:pt x="0" y="113348"/>
                  <a:pt x="0" y="75565"/>
                </a:cubicBezTo>
                <a:lnTo>
                  <a:pt x="0" y="25146"/>
                </a:lnTo>
                <a:close/>
                <a:moveTo>
                  <a:pt x="37783" y="77343"/>
                </a:moveTo>
                <a:lnTo>
                  <a:pt x="57594" y="97155"/>
                </a:lnTo>
                <a:lnTo>
                  <a:pt x="95377" y="59373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cn-3"/>
          <p:cNvSpPr txBox="1"/>
          <p:nvPr/>
        </p:nvSpPr>
        <p:spPr>
          <a:xfrm>
            <a:off x="8348726" y="2556859"/>
            <a:ext cx="903605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5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数据安全</a:t>
            </a:r>
          </a:p>
        </p:txBody>
      </p:sp>
      <p:sp>
        <p:nvSpPr>
          <p:cNvPr id="39" name="en-3"/>
          <p:cNvSpPr txBox="1"/>
          <p:nvPr/>
        </p:nvSpPr>
        <p:spPr>
          <a:xfrm>
            <a:off x="8371332" y="2836608"/>
            <a:ext cx="97485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64748B"/>
                </a:solidFill>
                <a:latin typeface="Arial"/>
                <a:ea typeface="Arial"/>
                <a:cs typeface="Arial"/>
              </a:rPr>
              <a:t>DATA SECURITY</a:t>
            </a:r>
          </a:p>
        </p:txBody>
      </p:sp>
      <p:sp>
        <p:nvSpPr>
          <p:cNvPr id="40" name="rule-3"/>
          <p:cNvSpPr/>
          <p:nvPr/>
        </p:nvSpPr>
        <p:spPr>
          <a:xfrm>
            <a:off x="8369300" y="3086100"/>
            <a:ext cx="292100" cy="16510"/>
          </a:xfrm>
          <a:prstGeom prst="roundRect">
            <a:avLst>
              <a:gd name="adj" fmla="val 50000"/>
            </a:avLst>
          </a:prstGeom>
          <a:solidFill>
            <a:srgbClr val="1B5AA8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d-3-1"/>
          <p:cNvSpPr/>
          <p:nvPr/>
        </p:nvSpPr>
        <p:spPr>
          <a:xfrm>
            <a:off x="8385810" y="3255010"/>
            <a:ext cx="43180" cy="43180"/>
          </a:xfrm>
          <a:prstGeom prst="ellipse">
            <a:avLst/>
          </a:prstGeom>
          <a:solidFill>
            <a:srgbClr val="1B5AA8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p-3-1"/>
          <p:cNvSpPr txBox="1"/>
          <p:nvPr/>
        </p:nvSpPr>
        <p:spPr>
          <a:xfrm>
            <a:off x="8508365" y="3177461"/>
            <a:ext cx="12366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三级等保与私有化部署</a:t>
            </a:r>
          </a:p>
        </p:txBody>
      </p:sp>
      <p:sp>
        <p:nvSpPr>
          <p:cNvPr id="43" name="d-3-2"/>
          <p:cNvSpPr/>
          <p:nvPr/>
        </p:nvSpPr>
        <p:spPr>
          <a:xfrm>
            <a:off x="8385810" y="3445510"/>
            <a:ext cx="43180" cy="43180"/>
          </a:xfrm>
          <a:prstGeom prst="ellipse">
            <a:avLst/>
          </a:prstGeom>
          <a:solidFill>
            <a:srgbClr val="1B5AA8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p-3-2"/>
          <p:cNvSpPr txBox="1"/>
          <p:nvPr/>
        </p:nvSpPr>
        <p:spPr>
          <a:xfrm>
            <a:off x="8508365" y="3367961"/>
            <a:ext cx="8956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全链路加密审计</a:t>
            </a:r>
          </a:p>
        </p:txBody>
      </p:sp>
      <p:sp>
        <p:nvSpPr>
          <p:cNvPr id="45" name="card-4"/>
          <p:cNvSpPr/>
          <p:nvPr/>
        </p:nvSpPr>
        <p:spPr>
          <a:xfrm>
            <a:off x="952500" y="3886200"/>
            <a:ext cx="3403600" cy="2044700"/>
          </a:xfrm>
          <a:custGeom>
            <a:avLst/>
            <a:gdLst/>
            <a:ahLst/>
            <a:cxnLst/>
            <a:rect l="0" t="0" r="r" b="b"/>
            <a:pathLst>
              <a:path w="3403600" h="2044700">
                <a:moveTo>
                  <a:pt x="127000" y="0"/>
                </a:moveTo>
                <a:lnTo>
                  <a:pt x="3276600" y="0"/>
                </a:lnTo>
                <a:cubicBezTo>
                  <a:pt x="3346767" y="0"/>
                  <a:pt x="3403600" y="56833"/>
                  <a:pt x="3403600" y="127000"/>
                </a:cubicBezTo>
                <a:lnTo>
                  <a:pt x="3403600" y="1917700"/>
                </a:lnTo>
                <a:cubicBezTo>
                  <a:pt x="3403600" y="1987867"/>
                  <a:pt x="3346767" y="2044700"/>
                  <a:pt x="3276600" y="2044700"/>
                </a:cubicBezTo>
                <a:lnTo>
                  <a:pt x="127000" y="2044700"/>
                </a:lnTo>
                <a:cubicBezTo>
                  <a:pt x="56832" y="2044700"/>
                  <a:pt x="0" y="1987867"/>
                  <a:pt x="0" y="1917700"/>
                </a:cubicBezTo>
                <a:lnTo>
                  <a:pt x="0" y="127000"/>
                </a:lnTo>
                <a:cubicBezTo>
                  <a:pt x="0" y="56833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cap-4"/>
          <p:cNvSpPr/>
          <p:nvPr/>
        </p:nvSpPr>
        <p:spPr>
          <a:xfrm>
            <a:off x="952500" y="3886200"/>
            <a:ext cx="3403600" cy="44450"/>
          </a:xfrm>
          <a:custGeom>
            <a:avLst/>
            <a:gdLst/>
            <a:ahLst/>
            <a:cxnLst/>
            <a:rect l="0" t="0" r="r" b="b"/>
            <a:pathLst>
              <a:path w="3403600" h="44450">
                <a:moveTo>
                  <a:pt x="22225" y="0"/>
                </a:moveTo>
                <a:lnTo>
                  <a:pt x="3381375" y="0"/>
                </a:lnTo>
                <a:cubicBezTo>
                  <a:pt x="3393630" y="0"/>
                  <a:pt x="3403600" y="9970"/>
                  <a:pt x="3403600" y="22225"/>
                </a:cubicBezTo>
                <a:lnTo>
                  <a:pt x="3403600" y="22225"/>
                </a:lnTo>
                <a:cubicBezTo>
                  <a:pt x="3403600" y="34480"/>
                  <a:pt x="3393630" y="44450"/>
                  <a:pt x="3381375" y="44450"/>
                </a:cubicBezTo>
                <a:lnTo>
                  <a:pt x="22225" y="44450"/>
                </a:lnTo>
                <a:cubicBezTo>
                  <a:pt x="9969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70"/>
                  <a:pt x="9969" y="0"/>
                  <a:pt x="22225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wm-4"/>
          <p:cNvSpPr txBox="1"/>
          <p:nvPr/>
        </p:nvSpPr>
        <p:spPr>
          <a:xfrm>
            <a:off x="3355340" y="3968496"/>
            <a:ext cx="833628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3200" b="1" spc="50">
                <a:solidFill>
                  <a:srgbClr val="2468B6">
                    <a:alpha val="12000"/>
                  </a:srgbClr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48" name="chip-4"/>
          <p:cNvSpPr/>
          <p:nvPr/>
        </p:nvSpPr>
        <p:spPr>
          <a:xfrm>
            <a:off x="1206500" y="4203700"/>
            <a:ext cx="431800" cy="431800"/>
          </a:xfrm>
          <a:prstGeom prst="ellipse">
            <a:avLst/>
          </a:prstGeom>
          <a:solidFill>
            <a:srgbClr val="2468B6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icon-code"/>
          <p:cNvSpPr/>
          <p:nvPr/>
        </p:nvSpPr>
        <p:spPr>
          <a:xfrm>
            <a:off x="1355852" y="4383596"/>
            <a:ext cx="133096" cy="72009"/>
          </a:xfrm>
          <a:custGeom>
            <a:avLst/>
            <a:gdLst/>
            <a:ahLst/>
            <a:cxnLst/>
            <a:rect l="0" t="0" r="r" b="b"/>
            <a:pathLst>
              <a:path w="133096" h="72009">
                <a:moveTo>
                  <a:pt x="39560" y="0"/>
                </a:moveTo>
                <a:lnTo>
                  <a:pt x="0" y="36004"/>
                </a:lnTo>
                <a:lnTo>
                  <a:pt x="39560" y="72009"/>
                </a:lnTo>
                <a:moveTo>
                  <a:pt x="93535" y="0"/>
                </a:moveTo>
                <a:lnTo>
                  <a:pt x="133096" y="36004"/>
                </a:lnTo>
                <a:lnTo>
                  <a:pt x="93535" y="72009"/>
                </a:lnTo>
              </a:path>
            </a:pathLst>
          </a:cu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cn-4"/>
          <p:cNvSpPr txBox="1"/>
          <p:nvPr/>
        </p:nvSpPr>
        <p:spPr>
          <a:xfrm>
            <a:off x="1211326" y="4766659"/>
            <a:ext cx="903605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5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开放集成</a:t>
            </a:r>
          </a:p>
        </p:txBody>
      </p:sp>
      <p:sp>
        <p:nvSpPr>
          <p:cNvPr id="51" name="en-4"/>
          <p:cNvSpPr txBox="1"/>
          <p:nvPr/>
        </p:nvSpPr>
        <p:spPr>
          <a:xfrm>
            <a:off x="1233932" y="5046408"/>
            <a:ext cx="6306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64748B"/>
                </a:solidFill>
                <a:latin typeface="Arial"/>
                <a:ea typeface="Arial"/>
                <a:cs typeface="Arial"/>
              </a:rPr>
              <a:t>OPEN API</a:t>
            </a:r>
          </a:p>
        </p:txBody>
      </p:sp>
      <p:sp>
        <p:nvSpPr>
          <p:cNvPr id="52" name="rule-4"/>
          <p:cNvSpPr/>
          <p:nvPr/>
        </p:nvSpPr>
        <p:spPr>
          <a:xfrm>
            <a:off x="1231900" y="5295900"/>
            <a:ext cx="292100" cy="16510"/>
          </a:xfrm>
          <a:prstGeom prst="roundRect">
            <a:avLst>
              <a:gd name="adj" fmla="val 50000"/>
            </a:avLst>
          </a:prstGeom>
          <a:solidFill>
            <a:srgbClr val="2468B6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d-4-1"/>
          <p:cNvSpPr/>
          <p:nvPr/>
        </p:nvSpPr>
        <p:spPr>
          <a:xfrm>
            <a:off x="1248410" y="5464810"/>
            <a:ext cx="43180" cy="43180"/>
          </a:xfrm>
          <a:prstGeom prst="ellipse">
            <a:avLst/>
          </a:prstGeom>
          <a:solidFill>
            <a:srgbClr val="2468B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p-4-1"/>
          <p:cNvSpPr txBox="1"/>
          <p:nvPr/>
        </p:nvSpPr>
        <p:spPr>
          <a:xfrm>
            <a:off x="1370965" y="5387261"/>
            <a:ext cx="117062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提供 200+ 标准接口</a:t>
            </a:r>
          </a:p>
        </p:txBody>
      </p:sp>
      <p:sp>
        <p:nvSpPr>
          <p:cNvPr id="55" name="d-4-2"/>
          <p:cNvSpPr/>
          <p:nvPr/>
        </p:nvSpPr>
        <p:spPr>
          <a:xfrm>
            <a:off x="1248410" y="5655310"/>
            <a:ext cx="43180" cy="43180"/>
          </a:xfrm>
          <a:prstGeom prst="ellipse">
            <a:avLst/>
          </a:prstGeom>
          <a:solidFill>
            <a:srgbClr val="2468B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p-4-2"/>
          <p:cNvSpPr txBox="1"/>
          <p:nvPr/>
        </p:nvSpPr>
        <p:spPr>
          <a:xfrm>
            <a:off x="1370965" y="55777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对接主流业务系统</a:t>
            </a:r>
          </a:p>
        </p:txBody>
      </p:sp>
      <p:sp>
        <p:nvSpPr>
          <p:cNvPr id="57" name="card-5"/>
          <p:cNvSpPr/>
          <p:nvPr/>
        </p:nvSpPr>
        <p:spPr>
          <a:xfrm>
            <a:off x="4521200" y="3886200"/>
            <a:ext cx="3403600" cy="2044700"/>
          </a:xfrm>
          <a:custGeom>
            <a:avLst/>
            <a:gdLst/>
            <a:ahLst/>
            <a:cxnLst/>
            <a:rect l="0" t="0" r="r" b="b"/>
            <a:pathLst>
              <a:path w="3403600" h="2044700">
                <a:moveTo>
                  <a:pt x="127000" y="0"/>
                </a:moveTo>
                <a:lnTo>
                  <a:pt x="3276600" y="0"/>
                </a:lnTo>
                <a:cubicBezTo>
                  <a:pt x="3346767" y="0"/>
                  <a:pt x="3403600" y="56833"/>
                  <a:pt x="3403600" y="127000"/>
                </a:cubicBezTo>
                <a:lnTo>
                  <a:pt x="3403600" y="1917700"/>
                </a:lnTo>
                <a:cubicBezTo>
                  <a:pt x="3403600" y="1987867"/>
                  <a:pt x="3346767" y="2044700"/>
                  <a:pt x="3276600" y="2044700"/>
                </a:cubicBezTo>
                <a:lnTo>
                  <a:pt x="127000" y="2044700"/>
                </a:lnTo>
                <a:cubicBezTo>
                  <a:pt x="56833" y="2044700"/>
                  <a:pt x="0" y="1987867"/>
                  <a:pt x="0" y="19177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326AB1"/>
              </a:gs>
              <a:gs pos="100000">
                <a:srgbClr val="1B5AA8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wm-5"/>
          <p:cNvSpPr txBox="1"/>
          <p:nvPr/>
        </p:nvSpPr>
        <p:spPr>
          <a:xfrm>
            <a:off x="6924040" y="3968496"/>
            <a:ext cx="833628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3200" b="1" spc="50">
                <a:solidFill>
                  <a:srgbClr val="FFFFFF">
                    <a:alpha val="18000"/>
                  </a:srgbClr>
                </a:solidFill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59" name="chip-5"/>
          <p:cNvSpPr/>
          <p:nvPr/>
        </p:nvSpPr>
        <p:spPr>
          <a:xfrm>
            <a:off x="4775200" y="4203700"/>
            <a:ext cx="431800" cy="431800"/>
          </a:xfrm>
          <a:prstGeom prst="ellipse">
            <a:avLst/>
          </a:prstGeom>
          <a:solidFill>
            <a:srgbClr val="FFFFFF">
              <a:alpha val="1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icon-brain"/>
          <p:cNvSpPr/>
          <p:nvPr/>
        </p:nvSpPr>
        <p:spPr>
          <a:xfrm>
            <a:off x="4927366" y="4358450"/>
            <a:ext cx="127468" cy="120523"/>
          </a:xfrm>
          <a:custGeom>
            <a:avLst/>
            <a:gdLst/>
            <a:ahLst/>
            <a:cxnLst/>
            <a:rect l="0" t="0" r="r" b="b"/>
            <a:pathLst>
              <a:path w="127468" h="120523">
                <a:moveTo>
                  <a:pt x="63734" y="0"/>
                </a:moveTo>
                <a:lnTo>
                  <a:pt x="63734" y="120523"/>
                </a:lnTo>
                <a:moveTo>
                  <a:pt x="40366" y="0"/>
                </a:moveTo>
                <a:cubicBezTo>
                  <a:pt x="31603" y="-254"/>
                  <a:pt x="23348" y="4064"/>
                  <a:pt x="18586" y="11430"/>
                </a:cubicBezTo>
                <a:cubicBezTo>
                  <a:pt x="13823" y="18796"/>
                  <a:pt x="13188" y="28067"/>
                  <a:pt x="16935" y="35941"/>
                </a:cubicBezTo>
                <a:cubicBezTo>
                  <a:pt x="7854" y="39116"/>
                  <a:pt x="1314" y="47180"/>
                  <a:pt x="171" y="56769"/>
                </a:cubicBezTo>
                <a:cubicBezTo>
                  <a:pt x="-972" y="66358"/>
                  <a:pt x="3473" y="75692"/>
                  <a:pt x="11537" y="80962"/>
                </a:cubicBezTo>
                <a:cubicBezTo>
                  <a:pt x="5695" y="89852"/>
                  <a:pt x="6140" y="101537"/>
                  <a:pt x="12617" y="109982"/>
                </a:cubicBezTo>
                <a:cubicBezTo>
                  <a:pt x="19030" y="118491"/>
                  <a:pt x="30206" y="121984"/>
                  <a:pt x="40366" y="118745"/>
                </a:cubicBezTo>
                <a:moveTo>
                  <a:pt x="87102" y="0"/>
                </a:moveTo>
                <a:cubicBezTo>
                  <a:pt x="95865" y="-254"/>
                  <a:pt x="104120" y="4064"/>
                  <a:pt x="108883" y="11430"/>
                </a:cubicBezTo>
                <a:cubicBezTo>
                  <a:pt x="113645" y="18796"/>
                  <a:pt x="114280" y="28067"/>
                  <a:pt x="110534" y="35941"/>
                </a:cubicBezTo>
                <a:cubicBezTo>
                  <a:pt x="119614" y="39116"/>
                  <a:pt x="126155" y="47180"/>
                  <a:pt x="127298" y="56769"/>
                </a:cubicBezTo>
                <a:cubicBezTo>
                  <a:pt x="128441" y="66358"/>
                  <a:pt x="123996" y="75692"/>
                  <a:pt x="115931" y="80962"/>
                </a:cubicBezTo>
                <a:cubicBezTo>
                  <a:pt x="121773" y="89852"/>
                  <a:pt x="121329" y="101537"/>
                  <a:pt x="114852" y="109982"/>
                </a:cubicBezTo>
                <a:cubicBezTo>
                  <a:pt x="108438" y="118491"/>
                  <a:pt x="97262" y="121984"/>
                  <a:pt x="87102" y="118745"/>
                </a:cubicBezTo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cn-5"/>
          <p:cNvSpPr txBox="1"/>
          <p:nvPr/>
        </p:nvSpPr>
        <p:spPr>
          <a:xfrm>
            <a:off x="4780026" y="4766659"/>
            <a:ext cx="903605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5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智能分析</a:t>
            </a:r>
          </a:p>
        </p:txBody>
      </p:sp>
      <p:sp>
        <p:nvSpPr>
          <p:cNvPr id="62" name="en-5"/>
          <p:cNvSpPr txBox="1"/>
          <p:nvPr/>
        </p:nvSpPr>
        <p:spPr>
          <a:xfrm>
            <a:off x="4802632" y="5046408"/>
            <a:ext cx="97485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D3E3F6"/>
                </a:solidFill>
                <a:latin typeface="Arial"/>
                <a:ea typeface="Arial"/>
                <a:cs typeface="Arial"/>
              </a:rPr>
              <a:t>SMART INSIGHT</a:t>
            </a:r>
          </a:p>
        </p:txBody>
      </p:sp>
      <p:sp>
        <p:nvSpPr>
          <p:cNvPr id="63" name="rule-5"/>
          <p:cNvSpPr/>
          <p:nvPr/>
        </p:nvSpPr>
        <p:spPr>
          <a:xfrm>
            <a:off x="4800600" y="5295900"/>
            <a:ext cx="292100" cy="16510"/>
          </a:xfrm>
          <a:prstGeom prst="roundRect">
            <a:avLst>
              <a:gd name="adj" fmla="val 50000"/>
            </a:avLst>
          </a:prstGeom>
          <a:solidFill>
            <a:srgbClr val="FFFFFF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d-5-1"/>
          <p:cNvSpPr/>
          <p:nvPr/>
        </p:nvSpPr>
        <p:spPr>
          <a:xfrm>
            <a:off x="4817110" y="5464810"/>
            <a:ext cx="43180" cy="43180"/>
          </a:xfrm>
          <a:prstGeom prst="ellipse">
            <a:avLst/>
          </a:prstGeom>
          <a:solidFill>
            <a:srgbClr val="FFFFFF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p-5-1"/>
          <p:cNvSpPr txBox="1"/>
          <p:nvPr/>
        </p:nvSpPr>
        <p:spPr>
          <a:xfrm>
            <a:off x="4939665" y="5387261"/>
            <a:ext cx="115474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2000"/>
                  </a:srgbClr>
                </a:solidFill>
                <a:latin typeface="微软雅黑"/>
                <a:ea typeface="微软雅黑"/>
                <a:cs typeface="微软雅黑"/>
              </a:rPr>
              <a:t>内置 40 套行业看板</a:t>
            </a:r>
          </a:p>
        </p:txBody>
      </p:sp>
      <p:sp>
        <p:nvSpPr>
          <p:cNvPr id="66" name="d-5-2"/>
          <p:cNvSpPr/>
          <p:nvPr/>
        </p:nvSpPr>
        <p:spPr>
          <a:xfrm>
            <a:off x="4817110" y="5655310"/>
            <a:ext cx="43180" cy="43180"/>
          </a:xfrm>
          <a:prstGeom prst="ellipse">
            <a:avLst/>
          </a:prstGeom>
          <a:solidFill>
            <a:srgbClr val="FFFFFF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p-5-2"/>
          <p:cNvSpPr txBox="1"/>
          <p:nvPr/>
        </p:nvSpPr>
        <p:spPr>
          <a:xfrm>
            <a:off x="4939665" y="5577761"/>
            <a:ext cx="7820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FFFFFF">
                    <a:alpha val="92000"/>
                  </a:srgbClr>
                </a:solidFill>
                <a:latin typeface="微软雅黑"/>
                <a:ea typeface="微软雅黑"/>
                <a:cs typeface="微软雅黑"/>
              </a:rPr>
              <a:t>异常自动预警</a:t>
            </a:r>
          </a:p>
        </p:txBody>
      </p:sp>
      <p:sp>
        <p:nvSpPr>
          <p:cNvPr id="68" name="card-6"/>
          <p:cNvSpPr/>
          <p:nvPr/>
        </p:nvSpPr>
        <p:spPr>
          <a:xfrm>
            <a:off x="8089900" y="3886200"/>
            <a:ext cx="3403600" cy="2044700"/>
          </a:xfrm>
          <a:custGeom>
            <a:avLst/>
            <a:gdLst/>
            <a:ahLst/>
            <a:cxnLst/>
            <a:rect l="0" t="0" r="r" b="b"/>
            <a:pathLst>
              <a:path w="3403600" h="2044700">
                <a:moveTo>
                  <a:pt x="127000" y="0"/>
                </a:moveTo>
                <a:lnTo>
                  <a:pt x="3276600" y="0"/>
                </a:lnTo>
                <a:cubicBezTo>
                  <a:pt x="3346767" y="0"/>
                  <a:pt x="3403600" y="56833"/>
                  <a:pt x="3403600" y="127000"/>
                </a:cubicBezTo>
                <a:lnTo>
                  <a:pt x="3403600" y="1917700"/>
                </a:lnTo>
                <a:cubicBezTo>
                  <a:pt x="3403600" y="1987867"/>
                  <a:pt x="3346767" y="2044700"/>
                  <a:pt x="3276600" y="2044700"/>
                </a:cubicBezTo>
                <a:lnTo>
                  <a:pt x="127000" y="2044700"/>
                </a:lnTo>
                <a:cubicBezTo>
                  <a:pt x="56833" y="2044700"/>
                  <a:pt x="0" y="1987867"/>
                  <a:pt x="0" y="19177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cap-6"/>
          <p:cNvSpPr/>
          <p:nvPr/>
        </p:nvSpPr>
        <p:spPr>
          <a:xfrm>
            <a:off x="8089900" y="3886200"/>
            <a:ext cx="3403600" cy="44450"/>
          </a:xfrm>
          <a:custGeom>
            <a:avLst/>
            <a:gdLst/>
            <a:ahLst/>
            <a:cxnLst/>
            <a:rect l="0" t="0" r="r" b="b"/>
            <a:pathLst>
              <a:path w="3403600" h="44450">
                <a:moveTo>
                  <a:pt x="22225" y="0"/>
                </a:moveTo>
                <a:lnTo>
                  <a:pt x="3381375" y="0"/>
                </a:lnTo>
                <a:cubicBezTo>
                  <a:pt x="3393631" y="0"/>
                  <a:pt x="3403600" y="9970"/>
                  <a:pt x="3403600" y="22225"/>
                </a:cubicBezTo>
                <a:lnTo>
                  <a:pt x="3403600" y="22225"/>
                </a:lnTo>
                <a:cubicBezTo>
                  <a:pt x="3403600" y="34480"/>
                  <a:pt x="3393631" y="44450"/>
                  <a:pt x="3381375" y="44450"/>
                </a:cubicBezTo>
                <a:lnTo>
                  <a:pt x="22225" y="44450"/>
                </a:lnTo>
                <a:cubicBezTo>
                  <a:pt x="9969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70"/>
                  <a:pt x="9969" y="0"/>
                  <a:pt x="22225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wm-6"/>
          <p:cNvSpPr txBox="1"/>
          <p:nvPr/>
        </p:nvSpPr>
        <p:spPr>
          <a:xfrm>
            <a:off x="10492740" y="3968496"/>
            <a:ext cx="833628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3200" b="1" spc="50">
                <a:solidFill>
                  <a:srgbClr val="3985CD">
                    <a:alpha val="12000"/>
                  </a:srgbClr>
                </a:solidFill>
                <a:latin typeface="Arial"/>
                <a:ea typeface="Arial"/>
                <a:cs typeface="Arial"/>
              </a:rPr>
              <a:t>06</a:t>
            </a:r>
          </a:p>
        </p:txBody>
      </p:sp>
      <p:sp>
        <p:nvSpPr>
          <p:cNvPr id="71" name="chip-6"/>
          <p:cNvSpPr/>
          <p:nvPr/>
        </p:nvSpPr>
        <p:spPr>
          <a:xfrm>
            <a:off x="8343900" y="4203700"/>
            <a:ext cx="431800" cy="431800"/>
          </a:xfrm>
          <a:prstGeom prst="ellipse">
            <a:avLst/>
          </a:prstGeom>
          <a:solidFill>
            <a:srgbClr val="3985CD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icon-hand"/>
          <p:cNvSpPr/>
          <p:nvPr/>
        </p:nvSpPr>
        <p:spPr>
          <a:xfrm>
            <a:off x="8491801" y="4342257"/>
            <a:ext cx="121974" cy="154686"/>
          </a:xfrm>
          <a:custGeom>
            <a:avLst/>
            <a:gdLst/>
            <a:ahLst/>
            <a:cxnLst/>
            <a:rect l="0" t="0" r="r" b="b"/>
            <a:pathLst>
              <a:path w="121974" h="154686">
                <a:moveTo>
                  <a:pt x="35614" y="82740"/>
                </a:moveTo>
                <a:lnTo>
                  <a:pt x="35614" y="25146"/>
                </a:lnTo>
                <a:cubicBezTo>
                  <a:pt x="35614" y="17208"/>
                  <a:pt x="42027" y="10795"/>
                  <a:pt x="50028" y="10795"/>
                </a:cubicBezTo>
                <a:cubicBezTo>
                  <a:pt x="57966" y="10795"/>
                  <a:pt x="64379" y="17208"/>
                  <a:pt x="64379" y="25146"/>
                </a:cubicBezTo>
                <a:lnTo>
                  <a:pt x="64379" y="70167"/>
                </a:lnTo>
                <a:moveTo>
                  <a:pt x="64379" y="70167"/>
                </a:moveTo>
                <a:lnTo>
                  <a:pt x="64379" y="14351"/>
                </a:lnTo>
                <a:cubicBezTo>
                  <a:pt x="64379" y="6413"/>
                  <a:pt x="70856" y="0"/>
                  <a:pt x="78794" y="0"/>
                </a:cubicBezTo>
                <a:cubicBezTo>
                  <a:pt x="86731" y="0"/>
                  <a:pt x="93208" y="6413"/>
                  <a:pt x="93208" y="14351"/>
                </a:cubicBezTo>
                <a:lnTo>
                  <a:pt x="93208" y="70167"/>
                </a:lnTo>
                <a:moveTo>
                  <a:pt x="93208" y="73723"/>
                </a:moveTo>
                <a:lnTo>
                  <a:pt x="93208" y="35941"/>
                </a:lnTo>
                <a:cubicBezTo>
                  <a:pt x="93208" y="28003"/>
                  <a:pt x="99622" y="21590"/>
                  <a:pt x="107559" y="21590"/>
                </a:cubicBezTo>
                <a:cubicBezTo>
                  <a:pt x="115560" y="21590"/>
                  <a:pt x="121974" y="28003"/>
                  <a:pt x="121974" y="35941"/>
                </a:cubicBezTo>
                <a:lnTo>
                  <a:pt x="121974" y="102552"/>
                </a:lnTo>
                <a:cubicBezTo>
                  <a:pt x="121974" y="131318"/>
                  <a:pt x="100384" y="154686"/>
                  <a:pt x="71618" y="154686"/>
                </a:cubicBezTo>
                <a:cubicBezTo>
                  <a:pt x="48187" y="154686"/>
                  <a:pt x="35614" y="143891"/>
                  <a:pt x="23041" y="125920"/>
                </a:cubicBezTo>
                <a:lnTo>
                  <a:pt x="1451" y="93535"/>
                </a:lnTo>
                <a:cubicBezTo>
                  <a:pt x="-1661" y="87122"/>
                  <a:pt x="371" y="79438"/>
                  <a:pt x="6213" y="75438"/>
                </a:cubicBezTo>
                <a:cubicBezTo>
                  <a:pt x="11992" y="71374"/>
                  <a:pt x="19929" y="72200"/>
                  <a:pt x="24819" y="77343"/>
                </a:cubicBezTo>
                <a:close/>
              </a:path>
            </a:pathLst>
          </a:custGeom>
          <a:noFill/>
          <a:ln w="1270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cn-6"/>
          <p:cNvSpPr txBox="1"/>
          <p:nvPr/>
        </p:nvSpPr>
        <p:spPr>
          <a:xfrm>
            <a:off x="8348726" y="4766659"/>
            <a:ext cx="903605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5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专属服务</a:t>
            </a:r>
          </a:p>
        </p:txBody>
      </p:sp>
      <p:sp>
        <p:nvSpPr>
          <p:cNvPr id="74" name="en-6"/>
          <p:cNvSpPr txBox="1"/>
          <p:nvPr/>
        </p:nvSpPr>
        <p:spPr>
          <a:xfrm>
            <a:off x="8371332" y="5046408"/>
            <a:ext cx="104368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64748B"/>
                </a:solidFill>
                <a:latin typeface="Arial"/>
                <a:ea typeface="Arial"/>
                <a:cs typeface="Arial"/>
              </a:rPr>
              <a:t>DEDICATED CARE</a:t>
            </a:r>
          </a:p>
        </p:txBody>
      </p:sp>
      <p:sp>
        <p:nvSpPr>
          <p:cNvPr id="75" name="rule-6"/>
          <p:cNvSpPr/>
          <p:nvPr/>
        </p:nvSpPr>
        <p:spPr>
          <a:xfrm>
            <a:off x="8369300" y="5295900"/>
            <a:ext cx="292100" cy="16510"/>
          </a:xfrm>
          <a:prstGeom prst="roundRect">
            <a:avLst>
              <a:gd name="adj" fmla="val 50000"/>
            </a:avLst>
          </a:prstGeom>
          <a:solidFill>
            <a:srgbClr val="3985CD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d-6-1"/>
          <p:cNvSpPr/>
          <p:nvPr/>
        </p:nvSpPr>
        <p:spPr>
          <a:xfrm>
            <a:off x="8385810" y="5464810"/>
            <a:ext cx="43180" cy="43180"/>
          </a:xfrm>
          <a:prstGeom prst="ellipse">
            <a:avLst/>
          </a:prstGeom>
          <a:solidFill>
            <a:srgbClr val="3985CD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p-6-1"/>
          <p:cNvSpPr txBox="1"/>
          <p:nvPr/>
        </p:nvSpPr>
        <p:spPr>
          <a:xfrm>
            <a:off x="8508365" y="53872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一对一客户成功经理</a:t>
            </a:r>
          </a:p>
        </p:txBody>
      </p:sp>
      <p:sp>
        <p:nvSpPr>
          <p:cNvPr id="78" name="d-6-2"/>
          <p:cNvSpPr/>
          <p:nvPr/>
        </p:nvSpPr>
        <p:spPr>
          <a:xfrm>
            <a:off x="8385810" y="5655310"/>
            <a:ext cx="43180" cy="43180"/>
          </a:xfrm>
          <a:prstGeom prst="ellipse">
            <a:avLst/>
          </a:prstGeom>
          <a:solidFill>
            <a:srgbClr val="3985CD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p-6-2"/>
          <p:cNvSpPr txBox="1"/>
          <p:nvPr/>
        </p:nvSpPr>
        <p:spPr>
          <a:xfrm>
            <a:off x="8508365" y="5577761"/>
            <a:ext cx="87852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7×24 响应支持</a:t>
            </a:r>
          </a:p>
        </p:txBody>
      </p:sp>
      <p:cxnSp>
        <p:nvCxnSpPr>
          <p:cNvPr id="80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产品优势 · 六个维度</a:t>
            </a:r>
          </a:p>
        </p:txBody>
      </p:sp>
      <p:sp>
        <p:nvSpPr>
          <p:cNvPr id="82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年度成果速览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08165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KEY NUMBERS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694799" y="673132"/>
            <a:ext cx="19259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一页看清全年最值得记住的九个数字</a:t>
            </a:r>
          </a:p>
        </p:txBody>
      </p:sp>
      <p:sp>
        <p:nvSpPr>
          <p:cNvPr id="10" name="hero"/>
          <p:cNvSpPr/>
          <p:nvPr/>
        </p:nvSpPr>
        <p:spPr>
          <a:xfrm>
            <a:off x="952500" y="1498600"/>
            <a:ext cx="4445000" cy="3302000"/>
          </a:xfrm>
          <a:custGeom>
            <a:avLst/>
            <a:gdLst/>
            <a:ahLst/>
            <a:cxnLst/>
            <a:rect l="0" t="0" r="r" b="b"/>
            <a:pathLst>
              <a:path w="4445000" h="3302000">
                <a:moveTo>
                  <a:pt x="152400" y="0"/>
                </a:moveTo>
                <a:lnTo>
                  <a:pt x="4292600" y="0"/>
                </a:lnTo>
                <a:cubicBezTo>
                  <a:pt x="4376801" y="0"/>
                  <a:pt x="4445000" y="68199"/>
                  <a:pt x="4445000" y="152400"/>
                </a:cubicBezTo>
                <a:lnTo>
                  <a:pt x="4445000" y="3149600"/>
                </a:lnTo>
                <a:cubicBezTo>
                  <a:pt x="4445000" y="3233801"/>
                  <a:pt x="4376801" y="3302000"/>
                  <a:pt x="4292600" y="3302000"/>
                </a:cubicBezTo>
                <a:lnTo>
                  <a:pt x="152400" y="3302000"/>
                </a:lnTo>
                <a:cubicBezTo>
                  <a:pt x="68199" y="3302000"/>
                  <a:pt x="0" y="3233801"/>
                  <a:pt x="0" y="31496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0A3A88"/>
              </a:gs>
            </a:gsLst>
            <a:lin ang="7560000" scaled="0"/>
          </a:gra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hero-wm"/>
          <p:cNvSpPr txBox="1"/>
          <p:nvPr/>
        </p:nvSpPr>
        <p:spPr>
          <a:xfrm>
            <a:off x="3778250" y="1639252"/>
            <a:ext cx="1410970" cy="1222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5500" b="1">
                <a:solidFill>
                  <a:srgbClr val="FFFFFF">
                    <a:alpha val="10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12" name="icon-coin"/>
          <p:cNvSpPr/>
          <p:nvPr/>
        </p:nvSpPr>
        <p:spPr>
          <a:xfrm>
            <a:off x="1253046" y="1883854"/>
            <a:ext cx="135509" cy="118491"/>
          </a:xfrm>
          <a:custGeom>
            <a:avLst/>
            <a:gdLst/>
            <a:ahLst/>
            <a:cxnLst/>
            <a:rect l="0" t="0" r="r" b="b"/>
            <a:pathLst>
              <a:path w="135509" h="118491">
                <a:moveTo>
                  <a:pt x="67754" y="0"/>
                </a:moveTo>
                <a:cubicBezTo>
                  <a:pt x="29654" y="0"/>
                  <a:pt x="0" y="10541"/>
                  <a:pt x="0" y="25400"/>
                </a:cubicBezTo>
                <a:cubicBezTo>
                  <a:pt x="0" y="40195"/>
                  <a:pt x="29654" y="50800"/>
                  <a:pt x="67754" y="50800"/>
                </a:cubicBezTo>
                <a:cubicBezTo>
                  <a:pt x="105854" y="50800"/>
                  <a:pt x="135509" y="40195"/>
                  <a:pt x="135509" y="25400"/>
                </a:cubicBezTo>
                <a:cubicBezTo>
                  <a:pt x="135509" y="10541"/>
                  <a:pt x="105854" y="0"/>
                  <a:pt x="67754" y="0"/>
                </a:cubicBezTo>
                <a:close/>
                <a:moveTo>
                  <a:pt x="0" y="25400"/>
                </a:moveTo>
                <a:lnTo>
                  <a:pt x="0" y="93091"/>
                </a:lnTo>
                <a:cubicBezTo>
                  <a:pt x="0" y="107950"/>
                  <a:pt x="29654" y="118491"/>
                  <a:pt x="67754" y="118491"/>
                </a:cubicBezTo>
                <a:cubicBezTo>
                  <a:pt x="105854" y="118491"/>
                  <a:pt x="135509" y="107950"/>
                  <a:pt x="135509" y="93091"/>
                </a:cubicBezTo>
                <a:lnTo>
                  <a:pt x="135509" y="25400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hero-l"/>
          <p:cNvSpPr txBox="1"/>
          <p:nvPr/>
        </p:nvSpPr>
        <p:spPr>
          <a:xfrm>
            <a:off x="1598422" y="1857597"/>
            <a:ext cx="9277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125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核心经营成果</a:t>
            </a:r>
          </a:p>
        </p:txBody>
      </p:sp>
      <p:sp>
        <p:nvSpPr>
          <p:cNvPr id="14" name="hero-v"/>
          <p:cNvSpPr txBox="1"/>
          <p:nvPr/>
        </p:nvSpPr>
        <p:spPr>
          <a:xfrm>
            <a:off x="1153668" y="2070354"/>
            <a:ext cx="2762504" cy="15113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6800" b="1" spc="100">
                <a:solidFill>
                  <a:srgbClr val="FFFFFF"/>
                </a:solidFill>
                <a:latin typeface="Arial"/>
                <a:ea typeface="Arial"/>
                <a:cs typeface="Arial"/>
              </a:rPr>
              <a:t>15.8</a:t>
            </a:r>
          </a:p>
        </p:txBody>
      </p:sp>
      <p:sp>
        <p:nvSpPr>
          <p:cNvPr id="15" name="hero-u"/>
          <p:cNvSpPr txBox="1"/>
          <p:nvPr/>
        </p:nvSpPr>
        <p:spPr>
          <a:xfrm>
            <a:off x="3593592" y="2870264"/>
            <a:ext cx="638810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5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亿元</a:t>
            </a:r>
          </a:p>
        </p:txBody>
      </p:sp>
      <p:sp>
        <p:nvSpPr>
          <p:cNvPr id="16" name="hero-rule"/>
          <p:cNvSpPr/>
          <p:nvPr/>
        </p:nvSpPr>
        <p:spPr>
          <a:xfrm>
            <a:off x="1257300" y="3403600"/>
            <a:ext cx="609600" cy="25400"/>
          </a:xfrm>
          <a:prstGeom prst="roundRect">
            <a:avLst>
              <a:gd name="adj" fmla="val 50000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hero-t"/>
          <p:cNvSpPr txBox="1"/>
          <p:nvPr/>
        </p:nvSpPr>
        <p:spPr>
          <a:xfrm>
            <a:off x="1234440" y="3523933"/>
            <a:ext cx="142875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全年营业收入</a:t>
            </a:r>
          </a:p>
        </p:txBody>
      </p:sp>
      <p:sp>
        <p:nvSpPr>
          <p:cNvPr id="18" name="hero-p"/>
          <p:cNvSpPr txBox="1"/>
          <p:nvPr/>
        </p:nvSpPr>
        <p:spPr>
          <a:xfrm>
            <a:off x="1243965" y="3914061"/>
            <a:ext cx="232124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同比增长 32.4%，连续四年保持双位数增长</a:t>
            </a:r>
          </a:p>
        </p:txBody>
      </p:sp>
      <p:sp>
        <p:nvSpPr>
          <p:cNvPr id="19" name="big-1"/>
          <p:cNvSpPr/>
          <p:nvPr/>
        </p:nvSpPr>
        <p:spPr>
          <a:xfrm>
            <a:off x="5626100" y="1498600"/>
            <a:ext cx="2616200" cy="1435100"/>
          </a:xfrm>
          <a:custGeom>
            <a:avLst/>
            <a:gdLst/>
            <a:ahLst/>
            <a:cxnLst/>
            <a:rect l="0" t="0" r="r" b="b"/>
            <a:pathLst>
              <a:path w="2616200" h="1435100">
                <a:moveTo>
                  <a:pt x="127000" y="0"/>
                </a:moveTo>
                <a:lnTo>
                  <a:pt x="2489200" y="0"/>
                </a:lnTo>
                <a:cubicBezTo>
                  <a:pt x="2559367" y="0"/>
                  <a:pt x="2616200" y="56832"/>
                  <a:pt x="2616200" y="127000"/>
                </a:cubicBezTo>
                <a:lnTo>
                  <a:pt x="2616200" y="1308100"/>
                </a:lnTo>
                <a:cubicBezTo>
                  <a:pt x="2616200" y="1378268"/>
                  <a:pt x="2559367" y="1435100"/>
                  <a:pt x="2489200" y="1435100"/>
                </a:cubicBezTo>
                <a:lnTo>
                  <a:pt x="127000" y="1435100"/>
                </a:lnTo>
                <a:cubicBezTo>
                  <a:pt x="56833" y="1435100"/>
                  <a:pt x="0" y="1378268"/>
                  <a:pt x="0" y="13081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bigcap-1"/>
          <p:cNvSpPr/>
          <p:nvPr/>
        </p:nvSpPr>
        <p:spPr>
          <a:xfrm>
            <a:off x="5626100" y="1498600"/>
            <a:ext cx="2616200" cy="44450"/>
          </a:xfrm>
          <a:custGeom>
            <a:avLst/>
            <a:gdLst/>
            <a:ahLst/>
            <a:cxnLst/>
            <a:rect l="0" t="0" r="r" b="b"/>
            <a:pathLst>
              <a:path w="2616200" h="44450">
                <a:moveTo>
                  <a:pt x="22225" y="0"/>
                </a:moveTo>
                <a:lnTo>
                  <a:pt x="2593975" y="0"/>
                </a:lnTo>
                <a:cubicBezTo>
                  <a:pt x="2606231" y="0"/>
                  <a:pt x="2616200" y="9969"/>
                  <a:pt x="2616200" y="22225"/>
                </a:cubicBezTo>
                <a:lnTo>
                  <a:pt x="2616200" y="22225"/>
                </a:lnTo>
                <a:cubicBezTo>
                  <a:pt x="2616200" y="34481"/>
                  <a:pt x="2606231" y="44450"/>
                  <a:pt x="2593975" y="44450"/>
                </a:cubicBezTo>
                <a:lnTo>
                  <a:pt x="22225" y="44450"/>
                </a:lnTo>
                <a:cubicBezTo>
                  <a:pt x="9970" y="44450"/>
                  <a:pt x="0" y="34481"/>
                  <a:pt x="0" y="22225"/>
                </a:cubicBezTo>
                <a:lnTo>
                  <a:pt x="0" y="22225"/>
                </a:lnTo>
                <a:cubicBezTo>
                  <a:pt x="0" y="9969"/>
                  <a:pt x="9970" y="0"/>
                  <a:pt x="22225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bigwm-1"/>
          <p:cNvSpPr txBox="1"/>
          <p:nvPr/>
        </p:nvSpPr>
        <p:spPr>
          <a:xfrm>
            <a:off x="7352030" y="1513650"/>
            <a:ext cx="743966" cy="6445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900" b="1">
                <a:solidFill>
                  <a:srgbClr val="134C9C">
                    <a:alpha val="12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22" name="icon-rocket"/>
          <p:cNvSpPr/>
          <p:nvPr/>
        </p:nvSpPr>
        <p:spPr>
          <a:xfrm>
            <a:off x="5903912" y="1822450"/>
            <a:ext cx="104775" cy="131762"/>
          </a:xfrm>
          <a:custGeom>
            <a:avLst/>
            <a:gdLst/>
            <a:ahLst/>
            <a:cxnLst/>
            <a:rect l="0" t="0" r="r" b="b"/>
            <a:pathLst>
              <a:path w="104775" h="131762">
                <a:moveTo>
                  <a:pt x="52388" y="0"/>
                </a:moveTo>
                <a:cubicBezTo>
                  <a:pt x="76200" y="17462"/>
                  <a:pt x="88900" y="44450"/>
                  <a:pt x="88900" y="73025"/>
                </a:cubicBezTo>
                <a:lnTo>
                  <a:pt x="71438" y="101600"/>
                </a:lnTo>
                <a:lnTo>
                  <a:pt x="33338" y="101600"/>
                </a:lnTo>
                <a:lnTo>
                  <a:pt x="15875" y="73025"/>
                </a:lnTo>
                <a:cubicBezTo>
                  <a:pt x="15875" y="44450"/>
                  <a:pt x="28575" y="17462"/>
                  <a:pt x="52388" y="0"/>
                </a:cubicBezTo>
                <a:close/>
                <a:moveTo>
                  <a:pt x="15875" y="95250"/>
                </a:moveTo>
                <a:lnTo>
                  <a:pt x="0" y="131762"/>
                </a:lnTo>
                <a:lnTo>
                  <a:pt x="33338" y="119062"/>
                </a:lnTo>
                <a:moveTo>
                  <a:pt x="88900" y="95250"/>
                </a:moveTo>
                <a:lnTo>
                  <a:pt x="104775" y="131762"/>
                </a:lnTo>
                <a:lnTo>
                  <a:pt x="71438" y="119062"/>
                </a:lnTo>
              </a:path>
            </a:pathLst>
          </a:cu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bigv-1"/>
          <p:cNvSpPr txBox="1"/>
          <p:nvPr/>
        </p:nvSpPr>
        <p:spPr>
          <a:xfrm>
            <a:off x="5793232" y="1961896"/>
            <a:ext cx="1535430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200" b="1" spc="50">
                <a:solidFill>
                  <a:srgbClr val="0B2545"/>
                </a:solidFill>
                <a:latin typeface="Arial"/>
                <a:ea typeface="Arial"/>
                <a:cs typeface="Arial"/>
              </a:rPr>
              <a:t>1,286</a:t>
            </a:r>
          </a:p>
        </p:txBody>
      </p:sp>
      <p:sp>
        <p:nvSpPr>
          <p:cNvPr id="24" name="bigu-1"/>
          <p:cNvSpPr txBox="1"/>
          <p:nvPr/>
        </p:nvSpPr>
        <p:spPr>
          <a:xfrm>
            <a:off x="7079996" y="2291270"/>
            <a:ext cx="2654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家</a:t>
            </a:r>
          </a:p>
        </p:txBody>
      </p:sp>
      <p:sp>
        <p:nvSpPr>
          <p:cNvPr id="25" name="bigl-1"/>
          <p:cNvSpPr txBox="1"/>
          <p:nvPr/>
        </p:nvSpPr>
        <p:spPr>
          <a:xfrm>
            <a:off x="5822950" y="2521744"/>
            <a:ext cx="11715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新增服务客户</a:t>
            </a:r>
          </a:p>
        </p:txBody>
      </p:sp>
      <p:sp>
        <p:nvSpPr>
          <p:cNvPr id="26" name="big-2"/>
          <p:cNvSpPr/>
          <p:nvPr/>
        </p:nvSpPr>
        <p:spPr>
          <a:xfrm>
            <a:off x="8407400" y="1498600"/>
            <a:ext cx="2616200" cy="1435100"/>
          </a:xfrm>
          <a:custGeom>
            <a:avLst/>
            <a:gdLst/>
            <a:ahLst/>
            <a:cxnLst/>
            <a:rect l="0" t="0" r="r" b="b"/>
            <a:pathLst>
              <a:path w="2616200" h="1435100">
                <a:moveTo>
                  <a:pt x="127000" y="0"/>
                </a:moveTo>
                <a:lnTo>
                  <a:pt x="2489200" y="0"/>
                </a:lnTo>
                <a:cubicBezTo>
                  <a:pt x="2559367" y="0"/>
                  <a:pt x="2616200" y="56832"/>
                  <a:pt x="2616200" y="127000"/>
                </a:cubicBezTo>
                <a:lnTo>
                  <a:pt x="2616200" y="1308100"/>
                </a:lnTo>
                <a:cubicBezTo>
                  <a:pt x="2616200" y="1378268"/>
                  <a:pt x="2559367" y="1435100"/>
                  <a:pt x="2489200" y="1435100"/>
                </a:cubicBezTo>
                <a:lnTo>
                  <a:pt x="127000" y="1435100"/>
                </a:lnTo>
                <a:cubicBezTo>
                  <a:pt x="56833" y="1435100"/>
                  <a:pt x="0" y="1378268"/>
                  <a:pt x="0" y="13081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bigcap-2"/>
          <p:cNvSpPr/>
          <p:nvPr/>
        </p:nvSpPr>
        <p:spPr>
          <a:xfrm>
            <a:off x="8407400" y="1498600"/>
            <a:ext cx="2616200" cy="44450"/>
          </a:xfrm>
          <a:custGeom>
            <a:avLst/>
            <a:gdLst/>
            <a:ahLst/>
            <a:cxnLst/>
            <a:rect l="0" t="0" r="r" b="b"/>
            <a:pathLst>
              <a:path w="2616200" h="44450">
                <a:moveTo>
                  <a:pt x="22225" y="0"/>
                </a:moveTo>
                <a:lnTo>
                  <a:pt x="2593975" y="0"/>
                </a:lnTo>
                <a:cubicBezTo>
                  <a:pt x="2606231" y="0"/>
                  <a:pt x="2616200" y="9969"/>
                  <a:pt x="2616200" y="22225"/>
                </a:cubicBezTo>
                <a:lnTo>
                  <a:pt x="2616200" y="22225"/>
                </a:lnTo>
                <a:cubicBezTo>
                  <a:pt x="2616200" y="34481"/>
                  <a:pt x="2606231" y="44450"/>
                  <a:pt x="2593975" y="44450"/>
                </a:cubicBezTo>
                <a:lnTo>
                  <a:pt x="22225" y="44450"/>
                </a:lnTo>
                <a:cubicBezTo>
                  <a:pt x="9969" y="44450"/>
                  <a:pt x="0" y="34481"/>
                  <a:pt x="0" y="22225"/>
                </a:cubicBezTo>
                <a:lnTo>
                  <a:pt x="0" y="22225"/>
                </a:lnTo>
                <a:cubicBezTo>
                  <a:pt x="0" y="9969"/>
                  <a:pt x="9969" y="0"/>
                  <a:pt x="22225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bigwm-2"/>
          <p:cNvSpPr txBox="1"/>
          <p:nvPr/>
        </p:nvSpPr>
        <p:spPr>
          <a:xfrm>
            <a:off x="10133330" y="1513650"/>
            <a:ext cx="743966" cy="6445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900" b="1">
                <a:solidFill>
                  <a:srgbClr val="2468B6">
                    <a:alpha val="12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29" name="icon-people"/>
          <p:cNvSpPr/>
          <p:nvPr/>
        </p:nvSpPr>
        <p:spPr>
          <a:xfrm>
            <a:off x="8670925" y="1912938"/>
            <a:ext cx="134938" cy="38100"/>
          </a:xfrm>
          <a:custGeom>
            <a:avLst/>
            <a:gdLst/>
            <a:ahLst/>
            <a:cxnLst/>
            <a:rect l="0" t="0" r="r" b="b"/>
            <a:pathLst>
              <a:path w="134938" h="38100">
                <a:moveTo>
                  <a:pt x="0" y="38100"/>
                </a:moveTo>
                <a:cubicBezTo>
                  <a:pt x="0" y="14288"/>
                  <a:pt x="19812" y="0"/>
                  <a:pt x="42862" y="0"/>
                </a:cubicBezTo>
                <a:cubicBezTo>
                  <a:pt x="65913" y="0"/>
                  <a:pt x="85725" y="14288"/>
                  <a:pt x="85725" y="38100"/>
                </a:cubicBezTo>
                <a:moveTo>
                  <a:pt x="101600" y="3175"/>
                </a:moveTo>
                <a:cubicBezTo>
                  <a:pt x="122238" y="5525"/>
                  <a:pt x="134938" y="19875"/>
                  <a:pt x="134938" y="38100"/>
                </a:cubicBezTo>
              </a:path>
            </a:pathLst>
          </a:cu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icon-people"/>
          <p:cNvSpPr/>
          <p:nvPr/>
        </p:nvSpPr>
        <p:spPr>
          <a:xfrm>
            <a:off x="8688388" y="1844675"/>
            <a:ext cx="50800" cy="50800"/>
          </a:xfrm>
          <a:prstGeom prst="ellipse">
            <a:avLst/>
          </a:pr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icon-people"/>
          <p:cNvSpPr/>
          <p:nvPr/>
        </p:nvSpPr>
        <p:spPr>
          <a:xfrm>
            <a:off x="8756650" y="1844675"/>
            <a:ext cx="41275" cy="41275"/>
          </a:xfrm>
          <a:prstGeom prst="ellipse">
            <a:avLst/>
          </a:pr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bigv-2"/>
          <p:cNvSpPr txBox="1"/>
          <p:nvPr/>
        </p:nvSpPr>
        <p:spPr>
          <a:xfrm>
            <a:off x="8574532" y="1961896"/>
            <a:ext cx="1301496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200" b="1" spc="50">
                <a:solidFill>
                  <a:srgbClr val="0B2545"/>
                </a:solidFill>
                <a:latin typeface="Arial"/>
                <a:ea typeface="Arial"/>
                <a:cs typeface="Arial"/>
              </a:rPr>
              <a:t>96.4</a:t>
            </a:r>
          </a:p>
        </p:txBody>
      </p:sp>
      <p:sp>
        <p:nvSpPr>
          <p:cNvPr id="33" name="bigu-2"/>
          <p:cNvSpPr txBox="1"/>
          <p:nvPr/>
        </p:nvSpPr>
        <p:spPr>
          <a:xfrm>
            <a:off x="9625584" y="2291270"/>
            <a:ext cx="203962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%</a:t>
            </a:r>
          </a:p>
        </p:txBody>
      </p:sp>
      <p:sp>
        <p:nvSpPr>
          <p:cNvPr id="34" name="bigl-2"/>
          <p:cNvSpPr txBox="1"/>
          <p:nvPr/>
        </p:nvSpPr>
        <p:spPr>
          <a:xfrm>
            <a:off x="8604250" y="2521744"/>
            <a:ext cx="10001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客户续约率</a:t>
            </a:r>
          </a:p>
        </p:txBody>
      </p:sp>
      <p:sp>
        <p:nvSpPr>
          <p:cNvPr id="35" name="sm-1"/>
          <p:cNvSpPr/>
          <p:nvPr/>
        </p:nvSpPr>
        <p:spPr>
          <a:xfrm>
            <a:off x="5626100" y="3098800"/>
            <a:ext cx="1263650" cy="1701800"/>
          </a:xfrm>
          <a:custGeom>
            <a:avLst/>
            <a:gdLst/>
            <a:ahLst/>
            <a:cxnLst/>
            <a:rect l="0" t="0" r="r" b="b"/>
            <a:pathLst>
              <a:path w="1263650" h="1701800">
                <a:moveTo>
                  <a:pt x="114300" y="0"/>
                </a:moveTo>
                <a:lnTo>
                  <a:pt x="1149350" y="0"/>
                </a:lnTo>
                <a:cubicBezTo>
                  <a:pt x="1212469" y="0"/>
                  <a:pt x="1263650" y="51181"/>
                  <a:pt x="1263650" y="114300"/>
                </a:cubicBezTo>
                <a:lnTo>
                  <a:pt x="1263650" y="1587500"/>
                </a:lnTo>
                <a:cubicBezTo>
                  <a:pt x="1263650" y="1650619"/>
                  <a:pt x="1212469" y="1701800"/>
                  <a:pt x="1149350" y="1701800"/>
                </a:cubicBezTo>
                <a:lnTo>
                  <a:pt x="114300" y="1701800"/>
                </a:lnTo>
                <a:cubicBezTo>
                  <a:pt x="51181" y="1701800"/>
                  <a:pt x="0" y="1650619"/>
                  <a:pt x="0" y="1587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smc-1"/>
          <p:cNvSpPr/>
          <p:nvPr/>
        </p:nvSpPr>
        <p:spPr>
          <a:xfrm>
            <a:off x="6086475" y="3359150"/>
            <a:ext cx="342900" cy="342900"/>
          </a:xfrm>
          <a:prstGeom prst="ellipse">
            <a:avLst/>
          </a:prstGeom>
          <a:solidFill>
            <a:srgbClr val="1B5AA8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icon-globe"/>
          <p:cNvSpPr/>
          <p:nvPr/>
        </p:nvSpPr>
        <p:spPr>
          <a:xfrm>
            <a:off x="6194234" y="3466910"/>
            <a:ext cx="127381" cy="127381"/>
          </a:xfrm>
          <a:custGeom>
            <a:avLst/>
            <a:gdLst/>
            <a:ahLst/>
            <a:cxnLst/>
            <a:rect l="0" t="0" r="r" b="b"/>
            <a:pathLst>
              <a:path w="127381" h="127381">
                <a:moveTo>
                  <a:pt x="0" y="63690"/>
                </a:moveTo>
                <a:lnTo>
                  <a:pt x="127381" y="63690"/>
                </a:lnTo>
                <a:moveTo>
                  <a:pt x="63690" y="0"/>
                </a:moveTo>
                <a:cubicBezTo>
                  <a:pt x="81470" y="18478"/>
                  <a:pt x="90361" y="40005"/>
                  <a:pt x="90361" y="63690"/>
                </a:cubicBezTo>
                <a:cubicBezTo>
                  <a:pt x="90361" y="87376"/>
                  <a:pt x="81470" y="108902"/>
                  <a:pt x="63690" y="127381"/>
                </a:cubicBezTo>
                <a:cubicBezTo>
                  <a:pt x="45911" y="108902"/>
                  <a:pt x="37020" y="87376"/>
                  <a:pt x="37020" y="63690"/>
                </a:cubicBezTo>
                <a:cubicBezTo>
                  <a:pt x="37020" y="40005"/>
                  <a:pt x="45911" y="18478"/>
                  <a:pt x="63690" y="0"/>
                </a:cubicBezTo>
                <a:close/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icon-globe"/>
          <p:cNvSpPr/>
          <p:nvPr/>
        </p:nvSpPr>
        <p:spPr>
          <a:xfrm>
            <a:off x="6194213" y="3466888"/>
            <a:ext cx="127423" cy="127423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smv-1"/>
          <p:cNvSpPr txBox="1"/>
          <p:nvPr/>
        </p:nvSpPr>
        <p:spPr>
          <a:xfrm>
            <a:off x="5972556" y="3782441"/>
            <a:ext cx="570738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200" b="1" spc="25">
                <a:solidFill>
                  <a:srgbClr val="1B5AA8"/>
                </a:solidFill>
                <a:latin typeface="Arial"/>
                <a:ea typeface="Arial"/>
                <a:cs typeface="Arial"/>
              </a:rPr>
              <a:t>28</a:t>
            </a:r>
          </a:p>
        </p:txBody>
      </p:sp>
      <p:sp>
        <p:nvSpPr>
          <p:cNvPr id="40" name="smr-1"/>
          <p:cNvSpPr/>
          <p:nvPr/>
        </p:nvSpPr>
        <p:spPr>
          <a:xfrm>
            <a:off x="6130925" y="4254500"/>
            <a:ext cx="254000" cy="16510"/>
          </a:xfrm>
          <a:prstGeom prst="roundRect">
            <a:avLst>
              <a:gd name="adj" fmla="val 50000"/>
            </a:avLst>
          </a:prstGeom>
          <a:solidFill>
            <a:srgbClr val="1B5AA8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sml-1"/>
          <p:cNvSpPr txBox="1"/>
          <p:nvPr/>
        </p:nvSpPr>
        <p:spPr>
          <a:xfrm>
            <a:off x="5921692" y="4403566"/>
            <a:ext cx="6724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省级市场覆盖</a:t>
            </a:r>
          </a:p>
        </p:txBody>
      </p:sp>
      <p:sp>
        <p:nvSpPr>
          <p:cNvPr id="42" name="sm-2"/>
          <p:cNvSpPr/>
          <p:nvPr/>
        </p:nvSpPr>
        <p:spPr>
          <a:xfrm>
            <a:off x="7004050" y="3098800"/>
            <a:ext cx="1263650" cy="1701800"/>
          </a:xfrm>
          <a:custGeom>
            <a:avLst/>
            <a:gdLst/>
            <a:ahLst/>
            <a:cxnLst/>
            <a:rect l="0" t="0" r="r" b="b"/>
            <a:pathLst>
              <a:path w="1263650" h="1701800">
                <a:moveTo>
                  <a:pt x="114300" y="0"/>
                </a:moveTo>
                <a:lnTo>
                  <a:pt x="1149350" y="0"/>
                </a:lnTo>
                <a:cubicBezTo>
                  <a:pt x="1212469" y="0"/>
                  <a:pt x="1263650" y="51181"/>
                  <a:pt x="1263650" y="114300"/>
                </a:cubicBezTo>
                <a:lnTo>
                  <a:pt x="1263650" y="1587500"/>
                </a:lnTo>
                <a:cubicBezTo>
                  <a:pt x="1263650" y="1650619"/>
                  <a:pt x="1212469" y="1701800"/>
                  <a:pt x="1149350" y="1701800"/>
                </a:cubicBezTo>
                <a:lnTo>
                  <a:pt x="114300" y="1701800"/>
                </a:lnTo>
                <a:cubicBezTo>
                  <a:pt x="51181" y="1701800"/>
                  <a:pt x="0" y="1650619"/>
                  <a:pt x="0" y="1587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smc-2"/>
          <p:cNvSpPr/>
          <p:nvPr/>
        </p:nvSpPr>
        <p:spPr>
          <a:xfrm>
            <a:off x="7464425" y="3359150"/>
            <a:ext cx="342900" cy="342900"/>
          </a:xfrm>
          <a:prstGeom prst="ellipse">
            <a:avLst/>
          </a:prstGeom>
          <a:solidFill>
            <a:srgbClr val="2468B6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icon-network"/>
          <p:cNvSpPr/>
          <p:nvPr/>
        </p:nvSpPr>
        <p:spPr>
          <a:xfrm>
            <a:off x="7613650" y="3503930"/>
            <a:ext cx="44450" cy="51880"/>
          </a:xfrm>
          <a:custGeom>
            <a:avLst/>
            <a:gdLst/>
            <a:ahLst/>
            <a:cxnLst/>
            <a:rect l="0" t="0" r="r" b="b"/>
            <a:pathLst>
              <a:path w="44450" h="51880">
                <a:moveTo>
                  <a:pt x="22225" y="0"/>
                </a:moveTo>
                <a:lnTo>
                  <a:pt x="22225" y="23686"/>
                </a:lnTo>
                <a:moveTo>
                  <a:pt x="0" y="51880"/>
                </a:moveTo>
                <a:lnTo>
                  <a:pt x="16319" y="32575"/>
                </a:lnTo>
                <a:moveTo>
                  <a:pt x="44450" y="51880"/>
                </a:moveTo>
                <a:lnTo>
                  <a:pt x="28131" y="32575"/>
                </a:lnTo>
              </a:path>
            </a:pathLst>
          </a:cu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icon-network"/>
          <p:cNvSpPr/>
          <p:nvPr/>
        </p:nvSpPr>
        <p:spPr>
          <a:xfrm>
            <a:off x="7616613" y="3466888"/>
            <a:ext cx="38523" cy="38523"/>
          </a:xfrm>
          <a:prstGeom prst="ellipse">
            <a:avLst/>
          </a:pr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icon-network"/>
          <p:cNvSpPr/>
          <p:nvPr/>
        </p:nvSpPr>
        <p:spPr>
          <a:xfrm>
            <a:off x="7579572" y="3551343"/>
            <a:ext cx="38523" cy="38523"/>
          </a:xfrm>
          <a:prstGeom prst="ellipse">
            <a:avLst/>
          </a:pr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icon-network"/>
          <p:cNvSpPr/>
          <p:nvPr/>
        </p:nvSpPr>
        <p:spPr>
          <a:xfrm>
            <a:off x="7653655" y="3551343"/>
            <a:ext cx="38523" cy="38523"/>
          </a:xfrm>
          <a:prstGeom prst="ellipse">
            <a:avLst/>
          </a:pr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smv-2"/>
          <p:cNvSpPr txBox="1"/>
          <p:nvPr/>
        </p:nvSpPr>
        <p:spPr>
          <a:xfrm>
            <a:off x="7270686" y="3782441"/>
            <a:ext cx="730377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200" b="1" spc="25">
                <a:solidFill>
                  <a:srgbClr val="2468B6"/>
                </a:solidFill>
                <a:latin typeface="Arial"/>
                <a:ea typeface="Arial"/>
                <a:cs typeface="Arial"/>
              </a:rPr>
              <a:t>460</a:t>
            </a:r>
          </a:p>
        </p:txBody>
      </p:sp>
      <p:sp>
        <p:nvSpPr>
          <p:cNvPr id="49" name="smr-2"/>
          <p:cNvSpPr/>
          <p:nvPr/>
        </p:nvSpPr>
        <p:spPr>
          <a:xfrm>
            <a:off x="7508875" y="4254500"/>
            <a:ext cx="254000" cy="16510"/>
          </a:xfrm>
          <a:prstGeom prst="roundRect">
            <a:avLst>
              <a:gd name="adj" fmla="val 50000"/>
            </a:avLst>
          </a:prstGeom>
          <a:solidFill>
            <a:srgbClr val="2468B6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sml-2"/>
          <p:cNvSpPr txBox="1"/>
          <p:nvPr/>
        </p:nvSpPr>
        <p:spPr>
          <a:xfrm>
            <a:off x="7299642" y="4403566"/>
            <a:ext cx="6724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生态合作伙伴</a:t>
            </a:r>
          </a:p>
        </p:txBody>
      </p:sp>
      <p:sp>
        <p:nvSpPr>
          <p:cNvPr id="51" name="sm-3"/>
          <p:cNvSpPr/>
          <p:nvPr/>
        </p:nvSpPr>
        <p:spPr>
          <a:xfrm>
            <a:off x="8382000" y="3098800"/>
            <a:ext cx="1263650" cy="1701800"/>
          </a:xfrm>
          <a:custGeom>
            <a:avLst/>
            <a:gdLst/>
            <a:ahLst/>
            <a:cxnLst/>
            <a:rect l="0" t="0" r="r" b="b"/>
            <a:pathLst>
              <a:path w="1263650" h="1701800">
                <a:moveTo>
                  <a:pt x="114300" y="0"/>
                </a:moveTo>
                <a:lnTo>
                  <a:pt x="1149350" y="0"/>
                </a:lnTo>
                <a:cubicBezTo>
                  <a:pt x="1212469" y="0"/>
                  <a:pt x="1263650" y="51181"/>
                  <a:pt x="1263650" y="114300"/>
                </a:cubicBezTo>
                <a:lnTo>
                  <a:pt x="1263650" y="1587500"/>
                </a:lnTo>
                <a:cubicBezTo>
                  <a:pt x="1263650" y="1650619"/>
                  <a:pt x="1212469" y="1701800"/>
                  <a:pt x="1149350" y="1701800"/>
                </a:cubicBezTo>
                <a:lnTo>
                  <a:pt x="114300" y="1701800"/>
                </a:lnTo>
                <a:cubicBezTo>
                  <a:pt x="51181" y="1701800"/>
                  <a:pt x="0" y="1650619"/>
                  <a:pt x="0" y="1587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smc-3"/>
          <p:cNvSpPr/>
          <p:nvPr/>
        </p:nvSpPr>
        <p:spPr>
          <a:xfrm>
            <a:off x="8842375" y="3359150"/>
            <a:ext cx="342900" cy="342900"/>
          </a:xfrm>
          <a:prstGeom prst="ellipse">
            <a:avLst/>
          </a:prstGeom>
          <a:solidFill>
            <a:srgbClr val="2E77C2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icon-award"/>
          <p:cNvSpPr/>
          <p:nvPr/>
        </p:nvSpPr>
        <p:spPr>
          <a:xfrm>
            <a:off x="8982710" y="3549840"/>
            <a:ext cx="62230" cy="42989"/>
          </a:xfrm>
          <a:custGeom>
            <a:avLst/>
            <a:gdLst/>
            <a:ahLst/>
            <a:cxnLst/>
            <a:rect l="0" t="0" r="r" b="b"/>
            <a:pathLst>
              <a:path w="62230" h="42989">
                <a:moveTo>
                  <a:pt x="11875" y="0"/>
                </a:moveTo>
                <a:lnTo>
                  <a:pt x="0" y="42989"/>
                </a:lnTo>
                <a:lnTo>
                  <a:pt x="31115" y="26670"/>
                </a:lnTo>
                <a:lnTo>
                  <a:pt x="62230" y="42989"/>
                </a:lnTo>
                <a:lnTo>
                  <a:pt x="50356" y="0"/>
                </a:lnTo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icon-award"/>
          <p:cNvSpPr/>
          <p:nvPr/>
        </p:nvSpPr>
        <p:spPr>
          <a:xfrm>
            <a:off x="8972338" y="3469852"/>
            <a:ext cx="82973" cy="82973"/>
          </a:xfrm>
          <a:prstGeom prst="ellipse">
            <a:avLst/>
          </a:pr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smv-3"/>
          <p:cNvSpPr txBox="1"/>
          <p:nvPr/>
        </p:nvSpPr>
        <p:spPr>
          <a:xfrm>
            <a:off x="8728456" y="3782441"/>
            <a:ext cx="570738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200" b="1" spc="25">
                <a:solidFill>
                  <a:srgbClr val="2E77C2"/>
                </a:solidFill>
                <a:latin typeface="Arial"/>
                <a:ea typeface="Arial"/>
                <a:cs typeface="Arial"/>
              </a:rPr>
              <a:t>36</a:t>
            </a:r>
          </a:p>
        </p:txBody>
      </p:sp>
      <p:sp>
        <p:nvSpPr>
          <p:cNvPr id="56" name="smr-3"/>
          <p:cNvSpPr/>
          <p:nvPr/>
        </p:nvSpPr>
        <p:spPr>
          <a:xfrm>
            <a:off x="8886825" y="4254500"/>
            <a:ext cx="254000" cy="16510"/>
          </a:xfrm>
          <a:prstGeom prst="roundRect">
            <a:avLst>
              <a:gd name="adj" fmla="val 50000"/>
            </a:avLst>
          </a:prstGeom>
          <a:solidFill>
            <a:srgbClr val="2E77C2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sml-3"/>
          <p:cNvSpPr txBox="1"/>
          <p:nvPr/>
        </p:nvSpPr>
        <p:spPr>
          <a:xfrm>
            <a:off x="8628698" y="4403566"/>
            <a:ext cx="77025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项自主知识产权</a:t>
            </a:r>
          </a:p>
        </p:txBody>
      </p:sp>
      <p:sp>
        <p:nvSpPr>
          <p:cNvPr id="58" name="sm-4"/>
          <p:cNvSpPr/>
          <p:nvPr/>
        </p:nvSpPr>
        <p:spPr>
          <a:xfrm>
            <a:off x="9759950" y="3098800"/>
            <a:ext cx="1263650" cy="1701800"/>
          </a:xfrm>
          <a:custGeom>
            <a:avLst/>
            <a:gdLst/>
            <a:ahLst/>
            <a:cxnLst/>
            <a:rect l="0" t="0" r="r" b="b"/>
            <a:pathLst>
              <a:path w="1263650" h="1701800">
                <a:moveTo>
                  <a:pt x="114300" y="0"/>
                </a:moveTo>
                <a:lnTo>
                  <a:pt x="1149350" y="0"/>
                </a:lnTo>
                <a:cubicBezTo>
                  <a:pt x="1212469" y="0"/>
                  <a:pt x="1263650" y="51181"/>
                  <a:pt x="1263650" y="114300"/>
                </a:cubicBezTo>
                <a:lnTo>
                  <a:pt x="1263650" y="1587500"/>
                </a:lnTo>
                <a:cubicBezTo>
                  <a:pt x="1263650" y="1650619"/>
                  <a:pt x="1212469" y="1701800"/>
                  <a:pt x="1149350" y="1701800"/>
                </a:cubicBezTo>
                <a:lnTo>
                  <a:pt x="114300" y="1701800"/>
                </a:lnTo>
                <a:cubicBezTo>
                  <a:pt x="51181" y="1701800"/>
                  <a:pt x="0" y="1650619"/>
                  <a:pt x="0" y="15875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smc-4"/>
          <p:cNvSpPr/>
          <p:nvPr/>
        </p:nvSpPr>
        <p:spPr>
          <a:xfrm>
            <a:off x="10220325" y="3359150"/>
            <a:ext cx="342900" cy="342900"/>
          </a:xfrm>
          <a:prstGeom prst="ellipse">
            <a:avLst/>
          </a:prstGeom>
          <a:solidFill>
            <a:srgbClr val="3985CD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icon-bulb"/>
          <p:cNvSpPr/>
          <p:nvPr/>
        </p:nvSpPr>
        <p:spPr>
          <a:xfrm>
            <a:off x="10349804" y="3466910"/>
            <a:ext cx="83941" cy="124460"/>
          </a:xfrm>
          <a:custGeom>
            <a:avLst/>
            <a:gdLst/>
            <a:ahLst/>
            <a:cxnLst/>
            <a:rect l="0" t="0" r="r" b="b"/>
            <a:pathLst>
              <a:path w="83941" h="124460">
                <a:moveTo>
                  <a:pt x="24191" y="103695"/>
                </a:moveTo>
                <a:lnTo>
                  <a:pt x="59751" y="103695"/>
                </a:lnTo>
                <a:moveTo>
                  <a:pt x="28636" y="124460"/>
                </a:moveTo>
                <a:lnTo>
                  <a:pt x="55306" y="124460"/>
                </a:lnTo>
                <a:moveTo>
                  <a:pt x="41971" y="0"/>
                </a:moveTo>
                <a:cubicBezTo>
                  <a:pt x="59941" y="-254"/>
                  <a:pt x="76070" y="11176"/>
                  <a:pt x="81785" y="28257"/>
                </a:cubicBezTo>
                <a:cubicBezTo>
                  <a:pt x="87500" y="45275"/>
                  <a:pt x="81595" y="64071"/>
                  <a:pt x="67180" y="74803"/>
                </a:cubicBezTo>
                <a:cubicBezTo>
                  <a:pt x="61973" y="79248"/>
                  <a:pt x="59751" y="83693"/>
                  <a:pt x="59751" y="90361"/>
                </a:cubicBezTo>
                <a:lnTo>
                  <a:pt x="24191" y="90361"/>
                </a:lnTo>
                <a:cubicBezTo>
                  <a:pt x="24191" y="83693"/>
                  <a:pt x="21968" y="79248"/>
                  <a:pt x="16761" y="74803"/>
                </a:cubicBezTo>
                <a:cubicBezTo>
                  <a:pt x="2347" y="64071"/>
                  <a:pt x="-3559" y="45275"/>
                  <a:pt x="2156" y="28257"/>
                </a:cubicBezTo>
                <a:cubicBezTo>
                  <a:pt x="7871" y="11176"/>
                  <a:pt x="24000" y="-254"/>
                  <a:pt x="41971" y="0"/>
                </a:cubicBezTo>
                <a:close/>
              </a:path>
            </a:pathLst>
          </a:custGeom>
          <a:noFill/>
          <a:ln w="1270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smv-4"/>
          <p:cNvSpPr txBox="1"/>
          <p:nvPr/>
        </p:nvSpPr>
        <p:spPr>
          <a:xfrm>
            <a:off x="9866948" y="3782441"/>
            <a:ext cx="1049655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200" b="1" spc="25">
                <a:solidFill>
                  <a:srgbClr val="3985CD"/>
                </a:solidFill>
                <a:latin typeface="Arial"/>
                <a:ea typeface="Arial"/>
                <a:cs typeface="Arial"/>
              </a:rPr>
              <a:t>11.4%</a:t>
            </a:r>
          </a:p>
        </p:txBody>
      </p:sp>
      <p:sp>
        <p:nvSpPr>
          <p:cNvPr id="62" name="smr-4"/>
          <p:cNvSpPr/>
          <p:nvPr/>
        </p:nvSpPr>
        <p:spPr>
          <a:xfrm>
            <a:off x="10264775" y="4254500"/>
            <a:ext cx="254000" cy="16510"/>
          </a:xfrm>
          <a:prstGeom prst="roundRect">
            <a:avLst>
              <a:gd name="adj" fmla="val 50000"/>
            </a:avLst>
          </a:prstGeom>
          <a:solidFill>
            <a:srgbClr val="3985CD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sml-4"/>
          <p:cNvSpPr txBox="1"/>
          <p:nvPr/>
        </p:nvSpPr>
        <p:spPr>
          <a:xfrm>
            <a:off x="10055542" y="4403566"/>
            <a:ext cx="6724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研发投入占比</a:t>
            </a:r>
          </a:p>
        </p:txBody>
      </p:sp>
      <p:sp>
        <p:nvSpPr>
          <p:cNvPr id="64" name="foot-band"/>
          <p:cNvSpPr/>
          <p:nvPr/>
        </p:nvSpPr>
        <p:spPr>
          <a:xfrm>
            <a:off x="952500" y="5054600"/>
            <a:ext cx="10287000" cy="609600"/>
          </a:xfrm>
          <a:custGeom>
            <a:avLst/>
            <a:gdLst/>
            <a:ahLst/>
            <a:cxnLst/>
            <a:rect l="0" t="0" r="r" b="b"/>
            <a:pathLst>
              <a:path w="10287000" h="609600">
                <a:moveTo>
                  <a:pt x="114300" y="0"/>
                </a:moveTo>
                <a:lnTo>
                  <a:pt x="10172700" y="0"/>
                </a:lnTo>
                <a:cubicBezTo>
                  <a:pt x="10235819" y="0"/>
                  <a:pt x="10287000" y="51181"/>
                  <a:pt x="10287000" y="114300"/>
                </a:cubicBezTo>
                <a:lnTo>
                  <a:pt x="10287000" y="495300"/>
                </a:lnTo>
                <a:cubicBezTo>
                  <a:pt x="10287000" y="558419"/>
                  <a:pt x="10235819" y="609600"/>
                  <a:pt x="10172700" y="609600"/>
                </a:cubicBezTo>
                <a:lnTo>
                  <a:pt x="114300" y="609600"/>
                </a:lnTo>
                <a:cubicBezTo>
                  <a:pt x="51181" y="609600"/>
                  <a:pt x="0" y="558419"/>
                  <a:pt x="0" y="495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fb-bar"/>
          <p:cNvSpPr/>
          <p:nvPr/>
        </p:nvSpPr>
        <p:spPr>
          <a:xfrm>
            <a:off x="952500" y="5054600"/>
            <a:ext cx="31750" cy="6096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fb-h"/>
          <p:cNvSpPr txBox="1"/>
          <p:nvPr/>
        </p:nvSpPr>
        <p:spPr>
          <a:xfrm>
            <a:off x="1141984" y="5167440"/>
            <a:ext cx="8648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其他关键指标</a:t>
            </a:r>
          </a:p>
        </p:txBody>
      </p:sp>
      <p:sp>
        <p:nvSpPr>
          <p:cNvPr id="67" name="fb-p"/>
          <p:cNvSpPr txBox="1"/>
          <p:nvPr/>
        </p:nvSpPr>
        <p:spPr>
          <a:xfrm>
            <a:off x="1144651" y="5385387"/>
            <a:ext cx="74517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覆盖交付与团队</a:t>
            </a:r>
          </a:p>
        </p:txBody>
      </p:sp>
      <p:cxnSp>
        <p:nvCxnSpPr>
          <p:cNvPr id="68" name="fsep-1"/>
          <p:cNvCxnSpPr/>
          <p:nvPr/>
        </p:nvCxnSpPr>
        <p:spPr>
          <a:xfrm>
            <a:off x="2641600" y="5194300"/>
            <a:ext cx="0" cy="3302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9" name="fv-1"/>
          <p:cNvSpPr txBox="1"/>
          <p:nvPr/>
        </p:nvSpPr>
        <p:spPr>
          <a:xfrm>
            <a:off x="2836164" y="5114417"/>
            <a:ext cx="673735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92.1%</a:t>
            </a:r>
          </a:p>
        </p:txBody>
      </p:sp>
      <p:sp>
        <p:nvSpPr>
          <p:cNvPr id="70" name="fl-1"/>
          <p:cNvSpPr txBox="1"/>
          <p:nvPr/>
        </p:nvSpPr>
        <p:spPr>
          <a:xfrm>
            <a:off x="2846451" y="5410787"/>
            <a:ext cx="55594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交付准时率</a:t>
            </a:r>
          </a:p>
        </p:txBody>
      </p:sp>
      <p:cxnSp>
        <p:nvCxnSpPr>
          <p:cNvPr id="71" name="fsep-2"/>
          <p:cNvCxnSpPr/>
          <p:nvPr/>
        </p:nvCxnSpPr>
        <p:spPr>
          <a:xfrm>
            <a:off x="4775200" y="5194300"/>
            <a:ext cx="0" cy="3302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2" name="fv-2"/>
          <p:cNvSpPr txBox="1"/>
          <p:nvPr/>
        </p:nvSpPr>
        <p:spPr>
          <a:xfrm>
            <a:off x="4969764" y="5114417"/>
            <a:ext cx="649224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18 天</a:t>
            </a:r>
          </a:p>
        </p:txBody>
      </p:sp>
      <p:sp>
        <p:nvSpPr>
          <p:cNvPr id="73" name="fl-2"/>
          <p:cNvSpPr txBox="1"/>
          <p:nvPr/>
        </p:nvSpPr>
        <p:spPr>
          <a:xfrm>
            <a:off x="4980051" y="5410787"/>
            <a:ext cx="65055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平均实施周期</a:t>
            </a:r>
          </a:p>
        </p:txBody>
      </p:sp>
      <p:cxnSp>
        <p:nvCxnSpPr>
          <p:cNvPr id="74" name="fsep-3"/>
          <p:cNvCxnSpPr/>
          <p:nvPr/>
        </p:nvCxnSpPr>
        <p:spPr>
          <a:xfrm>
            <a:off x="6908800" y="5194300"/>
            <a:ext cx="0" cy="3302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5" name="fv-3"/>
          <p:cNvSpPr txBox="1"/>
          <p:nvPr/>
        </p:nvSpPr>
        <p:spPr>
          <a:xfrm>
            <a:off x="7103364" y="5114417"/>
            <a:ext cx="365506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68</a:t>
            </a:r>
          </a:p>
        </p:txBody>
      </p:sp>
      <p:sp>
        <p:nvSpPr>
          <p:cNvPr id="76" name="fl-3"/>
          <p:cNvSpPr txBox="1"/>
          <p:nvPr/>
        </p:nvSpPr>
        <p:spPr>
          <a:xfrm>
            <a:off x="7113651" y="5410787"/>
            <a:ext cx="677736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NPS 净推荐值</a:t>
            </a:r>
          </a:p>
        </p:txBody>
      </p:sp>
      <p:cxnSp>
        <p:nvCxnSpPr>
          <p:cNvPr id="77" name="fsep-4"/>
          <p:cNvCxnSpPr/>
          <p:nvPr/>
        </p:nvCxnSpPr>
        <p:spPr>
          <a:xfrm>
            <a:off x="9042400" y="5194300"/>
            <a:ext cx="0" cy="3302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8" name="fv-4"/>
          <p:cNvSpPr txBox="1"/>
          <p:nvPr/>
        </p:nvSpPr>
        <p:spPr>
          <a:xfrm>
            <a:off x="9236964" y="5114417"/>
            <a:ext cx="957453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25">
                <a:solidFill>
                  <a:srgbClr val="0B3E8F"/>
                </a:solidFill>
                <a:latin typeface="Arial"/>
                <a:ea typeface="Arial"/>
                <a:cs typeface="Arial"/>
              </a:rPr>
              <a:t>1,240 人</a:t>
            </a:r>
          </a:p>
        </p:txBody>
      </p:sp>
      <p:sp>
        <p:nvSpPr>
          <p:cNvPr id="79" name="fl-4"/>
          <p:cNvSpPr txBox="1"/>
          <p:nvPr/>
        </p:nvSpPr>
        <p:spPr>
          <a:xfrm>
            <a:off x="9247251" y="5410787"/>
            <a:ext cx="46132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员工人数</a:t>
            </a:r>
          </a:p>
        </p:txBody>
      </p:sp>
      <p:sp>
        <p:nvSpPr>
          <p:cNvPr id="80" name="src-h"/>
          <p:cNvSpPr txBox="1"/>
          <p:nvPr/>
        </p:nvSpPr>
        <p:spPr>
          <a:xfrm>
            <a:off x="941070" y="5902166"/>
            <a:ext cx="5175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数据口径</a:t>
            </a:r>
          </a:p>
        </p:txBody>
      </p:sp>
      <p:sp>
        <p:nvSpPr>
          <p:cNvPr id="81" name="src-p"/>
          <p:cNvSpPr txBox="1"/>
          <p:nvPr/>
        </p:nvSpPr>
        <p:spPr>
          <a:xfrm>
            <a:off x="1639570" y="5902166"/>
            <a:ext cx="42068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统计区间 2026-01-01 至 2026-12-31，营收为合并报表口径，客户数按有效合同主体去重。</a:t>
            </a:r>
          </a:p>
        </p:txBody>
      </p:sp>
      <p:cxnSp>
        <p:nvCxnSpPr>
          <p:cNvPr id="82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3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年度成果 · 九个数字</a:t>
            </a:r>
          </a:p>
        </p:txBody>
      </p:sp>
      <p:sp>
        <p:nvSpPr>
          <p:cNvPr id="84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季度重点行动清单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53695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ACTION CHECKLIST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894699" y="673132"/>
            <a:ext cx="27260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九项重点事项，按负责人、时限与当前状态逐条跟踪</a:t>
            </a:r>
          </a:p>
        </p:txBody>
      </p:sp>
      <p:sp>
        <p:nvSpPr>
          <p:cNvPr id="10" name="th-事项"/>
          <p:cNvSpPr txBox="1"/>
          <p:nvPr/>
        </p:nvSpPr>
        <p:spPr>
          <a:xfrm>
            <a:off x="1462151" y="1359487"/>
            <a:ext cx="28987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1" spc="9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事项</a:t>
            </a:r>
          </a:p>
        </p:txBody>
      </p:sp>
      <p:sp>
        <p:nvSpPr>
          <p:cNvPr id="11" name="th-负责人"/>
          <p:cNvSpPr txBox="1"/>
          <p:nvPr/>
        </p:nvSpPr>
        <p:spPr>
          <a:xfrm>
            <a:off x="5327809" y="1359487"/>
            <a:ext cx="39338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9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负责人</a:t>
            </a:r>
          </a:p>
        </p:txBody>
      </p:sp>
      <p:sp>
        <p:nvSpPr>
          <p:cNvPr id="12" name="th-时限"/>
          <p:cNvSpPr txBox="1"/>
          <p:nvPr/>
        </p:nvSpPr>
        <p:spPr>
          <a:xfrm>
            <a:off x="6522561" y="1359487"/>
            <a:ext cx="28987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9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时限</a:t>
            </a:r>
          </a:p>
        </p:txBody>
      </p:sp>
      <p:sp>
        <p:nvSpPr>
          <p:cNvPr id="13" name="th-状态"/>
          <p:cNvSpPr txBox="1"/>
          <p:nvPr/>
        </p:nvSpPr>
        <p:spPr>
          <a:xfrm>
            <a:off x="7640161" y="1359487"/>
            <a:ext cx="28987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9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状态</a:t>
            </a:r>
          </a:p>
        </p:txBody>
      </p:sp>
      <p:cxnSp>
        <p:nvCxnSpPr>
          <p:cNvPr id="14" name="th-line"/>
          <p:cNvCxnSpPr/>
          <p:nvPr/>
        </p:nvCxnSpPr>
        <p:spPr>
          <a:xfrm>
            <a:off x="952500" y="1562100"/>
            <a:ext cx="7429500" cy="0"/>
          </a:xfrm>
          <a:prstGeom prst="line">
            <a:avLst/>
          </a:prstGeom>
          <a:ln w="6350" cap="rnd">
            <a:solidFill>
              <a:srgbClr val="0B2545">
                <a:alpha val="1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box-1"/>
          <p:cNvSpPr/>
          <p:nvPr/>
        </p:nvSpPr>
        <p:spPr>
          <a:xfrm>
            <a:off x="1066800" y="1733550"/>
            <a:ext cx="215900" cy="215900"/>
          </a:xfrm>
          <a:custGeom>
            <a:avLst/>
            <a:gdLst/>
            <a:ahLst/>
            <a:cxnLst/>
            <a:rect l="0" t="0" r="r" b="b"/>
            <a:pathLst>
              <a:path w="215900" h="215900">
                <a:moveTo>
                  <a:pt x="63500" y="0"/>
                </a:moveTo>
                <a:lnTo>
                  <a:pt x="152400" y="0"/>
                </a:lnTo>
                <a:cubicBezTo>
                  <a:pt x="187452" y="0"/>
                  <a:pt x="215900" y="28448"/>
                  <a:pt x="215900" y="63500"/>
                </a:cubicBezTo>
                <a:lnTo>
                  <a:pt x="215900" y="152400"/>
                </a:lnTo>
                <a:cubicBezTo>
                  <a:pt x="215900" y="187452"/>
                  <a:pt x="187452" y="215900"/>
                  <a:pt x="152400" y="215900"/>
                </a:cubicBezTo>
                <a:lnTo>
                  <a:pt x="63500" y="215900"/>
                </a:lnTo>
                <a:cubicBezTo>
                  <a:pt x="28448" y="215900"/>
                  <a:pt x="0" y="187452"/>
                  <a:pt x="0" y="1524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icon-check"/>
          <p:cNvSpPr/>
          <p:nvPr/>
        </p:nvSpPr>
        <p:spPr>
          <a:xfrm>
            <a:off x="1140904" y="1818196"/>
            <a:ext cx="67691" cy="47625"/>
          </a:xfrm>
          <a:custGeom>
            <a:avLst/>
            <a:gdLst/>
            <a:ahLst/>
            <a:cxnLst/>
            <a:rect l="0" t="0" r="r" b="b"/>
            <a:pathLst>
              <a:path w="67691" h="47625">
                <a:moveTo>
                  <a:pt x="0" y="25400"/>
                </a:moveTo>
                <a:lnTo>
                  <a:pt x="22225" y="47625"/>
                </a:lnTo>
                <a:lnTo>
                  <a:pt x="67691" y="0"/>
                </a:lnTo>
              </a:path>
            </a:pathLst>
          </a:custGeom>
          <a:noFill/>
          <a:ln w="1651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nm-1"/>
          <p:cNvSpPr txBox="1"/>
          <p:nvPr/>
        </p:nvSpPr>
        <p:spPr>
          <a:xfrm>
            <a:off x="1457198" y="1727613"/>
            <a:ext cx="16567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完成三条产线的柔性改造</a:t>
            </a:r>
          </a:p>
        </p:txBody>
      </p:sp>
      <p:sp>
        <p:nvSpPr>
          <p:cNvPr id="18" name="ow-1"/>
          <p:cNvSpPr txBox="1"/>
          <p:nvPr/>
        </p:nvSpPr>
        <p:spPr>
          <a:xfrm>
            <a:off x="5247164" y="1748711"/>
            <a:ext cx="55467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制造中心</a:t>
            </a:r>
          </a:p>
        </p:txBody>
      </p:sp>
      <p:sp>
        <p:nvSpPr>
          <p:cNvPr id="19" name="due-1"/>
          <p:cNvSpPr txBox="1"/>
          <p:nvPr/>
        </p:nvSpPr>
        <p:spPr>
          <a:xfrm>
            <a:off x="6309519" y="1748711"/>
            <a:ext cx="71596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9 月 30 日</a:t>
            </a:r>
          </a:p>
        </p:txBody>
      </p:sp>
      <p:sp>
        <p:nvSpPr>
          <p:cNvPr id="20" name="st-1"/>
          <p:cNvSpPr/>
          <p:nvPr/>
        </p:nvSpPr>
        <p:spPr>
          <a:xfrm>
            <a:off x="7442200" y="1733550"/>
            <a:ext cx="685800" cy="215900"/>
          </a:xfrm>
          <a:custGeom>
            <a:avLst/>
            <a:gdLst/>
            <a:ahLst/>
            <a:cxnLst/>
            <a:rect l="0" t="0" r="r" b="b"/>
            <a:pathLst>
              <a:path w="685800" h="215900">
                <a:moveTo>
                  <a:pt x="107950" y="0"/>
                </a:moveTo>
                <a:lnTo>
                  <a:pt x="577850" y="0"/>
                </a:lnTo>
                <a:cubicBezTo>
                  <a:pt x="637477" y="0"/>
                  <a:pt x="685800" y="48324"/>
                  <a:pt x="685800" y="107950"/>
                </a:cubicBezTo>
                <a:lnTo>
                  <a:pt x="685800" y="107950"/>
                </a:lnTo>
                <a:cubicBezTo>
                  <a:pt x="685800" y="167576"/>
                  <a:pt x="637477" y="215900"/>
                  <a:pt x="5778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0B3E8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stt-1"/>
          <p:cNvSpPr txBox="1"/>
          <p:nvPr/>
        </p:nvSpPr>
        <p:spPr>
          <a:xfrm>
            <a:off x="7589838" y="1761966"/>
            <a:ext cx="3905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已完成</a:t>
            </a:r>
          </a:p>
        </p:txBody>
      </p:sp>
      <p:cxnSp>
        <p:nvCxnSpPr>
          <p:cNvPr id="22" name="rl-1"/>
          <p:cNvCxnSpPr/>
          <p:nvPr/>
        </p:nvCxnSpPr>
        <p:spPr>
          <a:xfrm>
            <a:off x="952500" y="2082800"/>
            <a:ext cx="7429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box-2"/>
          <p:cNvSpPr/>
          <p:nvPr/>
        </p:nvSpPr>
        <p:spPr>
          <a:xfrm>
            <a:off x="1066800" y="2254250"/>
            <a:ext cx="215900" cy="215900"/>
          </a:xfrm>
          <a:custGeom>
            <a:avLst/>
            <a:gdLst/>
            <a:ahLst/>
            <a:cxnLst/>
            <a:rect l="0" t="0" r="r" b="b"/>
            <a:pathLst>
              <a:path w="215900" h="215900">
                <a:moveTo>
                  <a:pt x="63500" y="0"/>
                </a:moveTo>
                <a:lnTo>
                  <a:pt x="152400" y="0"/>
                </a:lnTo>
                <a:cubicBezTo>
                  <a:pt x="187452" y="0"/>
                  <a:pt x="215900" y="28448"/>
                  <a:pt x="215900" y="63500"/>
                </a:cubicBezTo>
                <a:lnTo>
                  <a:pt x="215900" y="152400"/>
                </a:lnTo>
                <a:cubicBezTo>
                  <a:pt x="215900" y="187452"/>
                  <a:pt x="187452" y="215900"/>
                  <a:pt x="152400" y="215900"/>
                </a:cubicBezTo>
                <a:lnTo>
                  <a:pt x="63500" y="215900"/>
                </a:lnTo>
                <a:cubicBezTo>
                  <a:pt x="28448" y="215900"/>
                  <a:pt x="0" y="187452"/>
                  <a:pt x="0" y="1524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icon-check"/>
          <p:cNvSpPr/>
          <p:nvPr/>
        </p:nvSpPr>
        <p:spPr>
          <a:xfrm>
            <a:off x="1140904" y="2338896"/>
            <a:ext cx="67691" cy="47625"/>
          </a:xfrm>
          <a:custGeom>
            <a:avLst/>
            <a:gdLst/>
            <a:ahLst/>
            <a:cxnLst/>
            <a:rect l="0" t="0" r="r" b="b"/>
            <a:pathLst>
              <a:path w="67691" h="47625">
                <a:moveTo>
                  <a:pt x="0" y="25400"/>
                </a:moveTo>
                <a:lnTo>
                  <a:pt x="22225" y="47625"/>
                </a:lnTo>
                <a:lnTo>
                  <a:pt x="67691" y="0"/>
                </a:lnTo>
              </a:path>
            </a:pathLst>
          </a:custGeom>
          <a:noFill/>
          <a:ln w="1651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nm-2"/>
          <p:cNvSpPr txBox="1"/>
          <p:nvPr/>
        </p:nvSpPr>
        <p:spPr>
          <a:xfrm>
            <a:off x="1457198" y="2248313"/>
            <a:ext cx="15170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上线客户自助服务门户</a:t>
            </a:r>
          </a:p>
        </p:txBody>
      </p:sp>
      <p:sp>
        <p:nvSpPr>
          <p:cNvPr id="26" name="ow-2"/>
          <p:cNvSpPr txBox="1"/>
          <p:nvPr/>
        </p:nvSpPr>
        <p:spPr>
          <a:xfrm>
            <a:off x="5303996" y="2269411"/>
            <a:ext cx="44100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产品部</a:t>
            </a:r>
          </a:p>
        </p:txBody>
      </p:sp>
      <p:sp>
        <p:nvSpPr>
          <p:cNvPr id="27" name="due-2"/>
          <p:cNvSpPr txBox="1"/>
          <p:nvPr/>
        </p:nvSpPr>
        <p:spPr>
          <a:xfrm>
            <a:off x="6277134" y="2269411"/>
            <a:ext cx="7807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10 月 15 日</a:t>
            </a:r>
          </a:p>
        </p:txBody>
      </p:sp>
      <p:sp>
        <p:nvSpPr>
          <p:cNvPr id="28" name="st-2"/>
          <p:cNvSpPr/>
          <p:nvPr/>
        </p:nvSpPr>
        <p:spPr>
          <a:xfrm>
            <a:off x="7442200" y="2254250"/>
            <a:ext cx="685800" cy="215900"/>
          </a:xfrm>
          <a:custGeom>
            <a:avLst/>
            <a:gdLst/>
            <a:ahLst/>
            <a:cxnLst/>
            <a:rect l="0" t="0" r="r" b="b"/>
            <a:pathLst>
              <a:path w="685800" h="215900">
                <a:moveTo>
                  <a:pt x="107950" y="0"/>
                </a:moveTo>
                <a:lnTo>
                  <a:pt x="577850" y="0"/>
                </a:lnTo>
                <a:cubicBezTo>
                  <a:pt x="637477" y="0"/>
                  <a:pt x="685800" y="48324"/>
                  <a:pt x="685800" y="107950"/>
                </a:cubicBezTo>
                <a:lnTo>
                  <a:pt x="685800" y="107950"/>
                </a:lnTo>
                <a:cubicBezTo>
                  <a:pt x="685800" y="167576"/>
                  <a:pt x="637477" y="215900"/>
                  <a:pt x="5778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0B3E8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stt-2"/>
          <p:cNvSpPr txBox="1"/>
          <p:nvPr/>
        </p:nvSpPr>
        <p:spPr>
          <a:xfrm>
            <a:off x="7589838" y="2282666"/>
            <a:ext cx="3905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已完成</a:t>
            </a:r>
          </a:p>
        </p:txBody>
      </p:sp>
      <p:cxnSp>
        <p:nvCxnSpPr>
          <p:cNvPr id="30" name="rl-2"/>
          <p:cNvCxnSpPr/>
          <p:nvPr/>
        </p:nvCxnSpPr>
        <p:spPr>
          <a:xfrm>
            <a:off x="952500" y="2603500"/>
            <a:ext cx="7429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rowbg-3"/>
          <p:cNvSpPr/>
          <p:nvPr/>
        </p:nvSpPr>
        <p:spPr>
          <a:xfrm>
            <a:off x="876300" y="2654300"/>
            <a:ext cx="7581900" cy="457200"/>
          </a:xfrm>
          <a:custGeom>
            <a:avLst/>
            <a:gdLst/>
            <a:ahLst/>
            <a:cxnLst/>
            <a:rect l="0" t="0" r="r" b="b"/>
            <a:pathLst>
              <a:path w="7581900" h="457200">
                <a:moveTo>
                  <a:pt x="88900" y="0"/>
                </a:moveTo>
                <a:lnTo>
                  <a:pt x="7493000" y="0"/>
                </a:lnTo>
                <a:cubicBezTo>
                  <a:pt x="7542086" y="0"/>
                  <a:pt x="7581900" y="39814"/>
                  <a:pt x="7581900" y="88900"/>
                </a:cubicBezTo>
                <a:lnTo>
                  <a:pt x="7581900" y="368300"/>
                </a:lnTo>
                <a:cubicBezTo>
                  <a:pt x="7581900" y="417386"/>
                  <a:pt x="7542086" y="457200"/>
                  <a:pt x="7493000" y="457200"/>
                </a:cubicBezTo>
                <a:lnTo>
                  <a:pt x="88900" y="457200"/>
                </a:lnTo>
                <a:cubicBezTo>
                  <a:pt x="39815" y="457200"/>
                  <a:pt x="0" y="417386"/>
                  <a:pt x="0" y="3683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rowbar-3"/>
          <p:cNvSpPr/>
          <p:nvPr/>
        </p:nvSpPr>
        <p:spPr>
          <a:xfrm>
            <a:off x="876300" y="2654300"/>
            <a:ext cx="31750" cy="457200"/>
          </a:xfrm>
          <a:custGeom>
            <a:avLst/>
            <a:gdLst/>
            <a:ahLst/>
            <a:cxnLst/>
            <a:rect l="0" t="0" r="r" b="b"/>
            <a:pathLst>
              <a:path w="31750" h="457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41325"/>
                </a:lnTo>
                <a:cubicBezTo>
                  <a:pt x="31750" y="450088"/>
                  <a:pt x="24638" y="457200"/>
                  <a:pt x="15875" y="457200"/>
                </a:cubicBezTo>
                <a:lnTo>
                  <a:pt x="15875" y="457200"/>
                </a:lnTo>
                <a:cubicBezTo>
                  <a:pt x="7112" y="457200"/>
                  <a:pt x="0" y="450088"/>
                  <a:pt x="0" y="441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box-3"/>
          <p:cNvSpPr/>
          <p:nvPr/>
        </p:nvSpPr>
        <p:spPr>
          <a:xfrm>
            <a:off x="1066800" y="2774950"/>
            <a:ext cx="215900" cy="215900"/>
          </a:xfrm>
          <a:custGeom>
            <a:avLst/>
            <a:gdLst/>
            <a:ahLst/>
            <a:cxnLst/>
            <a:rect l="0" t="0" r="r" b="b"/>
            <a:pathLst>
              <a:path w="215900" h="215900">
                <a:moveTo>
                  <a:pt x="63500" y="0"/>
                </a:moveTo>
                <a:lnTo>
                  <a:pt x="152400" y="0"/>
                </a:lnTo>
                <a:cubicBezTo>
                  <a:pt x="187452" y="0"/>
                  <a:pt x="215900" y="28448"/>
                  <a:pt x="215900" y="63500"/>
                </a:cubicBezTo>
                <a:lnTo>
                  <a:pt x="215900" y="152400"/>
                </a:lnTo>
                <a:cubicBezTo>
                  <a:pt x="215900" y="187452"/>
                  <a:pt x="187452" y="215900"/>
                  <a:pt x="152400" y="215900"/>
                </a:cubicBezTo>
                <a:lnTo>
                  <a:pt x="63500" y="215900"/>
                </a:lnTo>
                <a:cubicBezTo>
                  <a:pt x="28448" y="215900"/>
                  <a:pt x="0" y="187452"/>
                  <a:pt x="0" y="1524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FFFFFF"/>
          </a:solidFill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boxd-3"/>
          <p:cNvSpPr/>
          <p:nvPr/>
        </p:nvSpPr>
        <p:spPr>
          <a:xfrm>
            <a:off x="1130300" y="2838450"/>
            <a:ext cx="88900" cy="88900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nm-3"/>
          <p:cNvSpPr txBox="1"/>
          <p:nvPr/>
        </p:nvSpPr>
        <p:spPr>
          <a:xfrm>
            <a:off x="1457198" y="2769013"/>
            <a:ext cx="15170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华南区域交付网络补齐</a:t>
            </a:r>
          </a:p>
        </p:txBody>
      </p:sp>
      <p:sp>
        <p:nvSpPr>
          <p:cNvPr id="36" name="ow-3"/>
          <p:cNvSpPr txBox="1"/>
          <p:nvPr/>
        </p:nvSpPr>
        <p:spPr>
          <a:xfrm>
            <a:off x="5247164" y="2790111"/>
            <a:ext cx="55467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运营中心</a:t>
            </a:r>
          </a:p>
        </p:txBody>
      </p:sp>
      <p:sp>
        <p:nvSpPr>
          <p:cNvPr id="37" name="due-3"/>
          <p:cNvSpPr txBox="1"/>
          <p:nvPr/>
        </p:nvSpPr>
        <p:spPr>
          <a:xfrm>
            <a:off x="6277134" y="2790111"/>
            <a:ext cx="7807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10 月 31 日</a:t>
            </a:r>
          </a:p>
        </p:txBody>
      </p:sp>
      <p:sp>
        <p:nvSpPr>
          <p:cNvPr id="38" name="st-3"/>
          <p:cNvSpPr/>
          <p:nvPr/>
        </p:nvSpPr>
        <p:spPr>
          <a:xfrm>
            <a:off x="7442200" y="2774950"/>
            <a:ext cx="685800" cy="215900"/>
          </a:xfrm>
          <a:custGeom>
            <a:avLst/>
            <a:gdLst/>
            <a:ahLst/>
            <a:cxnLst/>
            <a:rect l="0" t="0" r="r" b="b"/>
            <a:pathLst>
              <a:path w="685800" h="215900">
                <a:moveTo>
                  <a:pt x="107950" y="0"/>
                </a:moveTo>
                <a:lnTo>
                  <a:pt x="577850" y="0"/>
                </a:lnTo>
                <a:cubicBezTo>
                  <a:pt x="637477" y="0"/>
                  <a:pt x="685800" y="48324"/>
                  <a:pt x="685800" y="107950"/>
                </a:cubicBezTo>
                <a:lnTo>
                  <a:pt x="685800" y="107950"/>
                </a:lnTo>
                <a:cubicBezTo>
                  <a:pt x="685800" y="167576"/>
                  <a:pt x="637477" y="215900"/>
                  <a:pt x="5778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2468B6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stt-3"/>
          <p:cNvSpPr txBox="1"/>
          <p:nvPr/>
        </p:nvSpPr>
        <p:spPr>
          <a:xfrm>
            <a:off x="7589838" y="2803366"/>
            <a:ext cx="3905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50">
                <a:solidFill>
                  <a:srgbClr val="2468B6"/>
                </a:solidFill>
                <a:latin typeface="微软雅黑"/>
                <a:ea typeface="微软雅黑"/>
                <a:cs typeface="微软雅黑"/>
              </a:rPr>
              <a:t>进行中</a:t>
            </a:r>
          </a:p>
        </p:txBody>
      </p:sp>
      <p:sp>
        <p:nvSpPr>
          <p:cNvPr id="40" name="rowbg-4"/>
          <p:cNvSpPr/>
          <p:nvPr/>
        </p:nvSpPr>
        <p:spPr>
          <a:xfrm>
            <a:off x="876300" y="3175000"/>
            <a:ext cx="7581900" cy="457200"/>
          </a:xfrm>
          <a:custGeom>
            <a:avLst/>
            <a:gdLst/>
            <a:ahLst/>
            <a:cxnLst/>
            <a:rect l="0" t="0" r="r" b="b"/>
            <a:pathLst>
              <a:path w="7581900" h="457200">
                <a:moveTo>
                  <a:pt x="88900" y="0"/>
                </a:moveTo>
                <a:lnTo>
                  <a:pt x="7493000" y="0"/>
                </a:lnTo>
                <a:cubicBezTo>
                  <a:pt x="7542086" y="0"/>
                  <a:pt x="7581900" y="39814"/>
                  <a:pt x="7581900" y="88900"/>
                </a:cubicBezTo>
                <a:lnTo>
                  <a:pt x="7581900" y="368300"/>
                </a:lnTo>
                <a:cubicBezTo>
                  <a:pt x="7581900" y="417386"/>
                  <a:pt x="7542086" y="457200"/>
                  <a:pt x="7493000" y="457200"/>
                </a:cubicBezTo>
                <a:lnTo>
                  <a:pt x="88900" y="457200"/>
                </a:lnTo>
                <a:cubicBezTo>
                  <a:pt x="39815" y="457200"/>
                  <a:pt x="0" y="417386"/>
                  <a:pt x="0" y="3683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rowbar-4"/>
          <p:cNvSpPr/>
          <p:nvPr/>
        </p:nvSpPr>
        <p:spPr>
          <a:xfrm>
            <a:off x="876300" y="3175000"/>
            <a:ext cx="31750" cy="457200"/>
          </a:xfrm>
          <a:custGeom>
            <a:avLst/>
            <a:gdLst/>
            <a:ahLst/>
            <a:cxnLst/>
            <a:rect l="0" t="0" r="r" b="b"/>
            <a:pathLst>
              <a:path w="31750" h="457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41325"/>
                </a:lnTo>
                <a:cubicBezTo>
                  <a:pt x="31750" y="450088"/>
                  <a:pt x="24638" y="457200"/>
                  <a:pt x="15875" y="457200"/>
                </a:cubicBezTo>
                <a:lnTo>
                  <a:pt x="15875" y="457200"/>
                </a:lnTo>
                <a:cubicBezTo>
                  <a:pt x="7112" y="457200"/>
                  <a:pt x="0" y="450088"/>
                  <a:pt x="0" y="441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box-4"/>
          <p:cNvSpPr/>
          <p:nvPr/>
        </p:nvSpPr>
        <p:spPr>
          <a:xfrm>
            <a:off x="1066800" y="3295650"/>
            <a:ext cx="215900" cy="215900"/>
          </a:xfrm>
          <a:custGeom>
            <a:avLst/>
            <a:gdLst/>
            <a:ahLst/>
            <a:cxnLst/>
            <a:rect l="0" t="0" r="r" b="b"/>
            <a:pathLst>
              <a:path w="215900" h="215900">
                <a:moveTo>
                  <a:pt x="63500" y="0"/>
                </a:moveTo>
                <a:lnTo>
                  <a:pt x="152400" y="0"/>
                </a:lnTo>
                <a:cubicBezTo>
                  <a:pt x="187452" y="0"/>
                  <a:pt x="215900" y="28448"/>
                  <a:pt x="215900" y="63500"/>
                </a:cubicBezTo>
                <a:lnTo>
                  <a:pt x="215900" y="152400"/>
                </a:lnTo>
                <a:cubicBezTo>
                  <a:pt x="215900" y="187452"/>
                  <a:pt x="187452" y="215900"/>
                  <a:pt x="152400" y="215900"/>
                </a:cubicBezTo>
                <a:lnTo>
                  <a:pt x="63500" y="215900"/>
                </a:lnTo>
                <a:cubicBezTo>
                  <a:pt x="28448" y="215900"/>
                  <a:pt x="0" y="187452"/>
                  <a:pt x="0" y="1524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FFFFFF"/>
          </a:solidFill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boxd-4"/>
          <p:cNvSpPr/>
          <p:nvPr/>
        </p:nvSpPr>
        <p:spPr>
          <a:xfrm>
            <a:off x="1130300" y="3359150"/>
            <a:ext cx="88900" cy="88900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nm-4"/>
          <p:cNvSpPr txBox="1"/>
          <p:nvPr/>
        </p:nvSpPr>
        <p:spPr>
          <a:xfrm>
            <a:off x="1457198" y="3289713"/>
            <a:ext cx="17964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主数据口径统一并上线稽核</a:t>
            </a:r>
          </a:p>
        </p:txBody>
      </p:sp>
      <p:sp>
        <p:nvSpPr>
          <p:cNvPr id="45" name="ow-4"/>
          <p:cNvSpPr txBox="1"/>
          <p:nvPr/>
        </p:nvSpPr>
        <p:spPr>
          <a:xfrm>
            <a:off x="5303996" y="3310811"/>
            <a:ext cx="44100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数据部</a:t>
            </a:r>
          </a:p>
        </p:txBody>
      </p:sp>
      <p:sp>
        <p:nvSpPr>
          <p:cNvPr id="46" name="due-4"/>
          <p:cNvSpPr txBox="1"/>
          <p:nvPr/>
        </p:nvSpPr>
        <p:spPr>
          <a:xfrm>
            <a:off x="6277134" y="3310811"/>
            <a:ext cx="7807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11 月 15 日</a:t>
            </a:r>
          </a:p>
        </p:txBody>
      </p:sp>
      <p:sp>
        <p:nvSpPr>
          <p:cNvPr id="47" name="st-4"/>
          <p:cNvSpPr/>
          <p:nvPr/>
        </p:nvSpPr>
        <p:spPr>
          <a:xfrm>
            <a:off x="7442200" y="3295650"/>
            <a:ext cx="685800" cy="215900"/>
          </a:xfrm>
          <a:custGeom>
            <a:avLst/>
            <a:gdLst/>
            <a:ahLst/>
            <a:cxnLst/>
            <a:rect l="0" t="0" r="r" b="b"/>
            <a:pathLst>
              <a:path w="685800" h="215900">
                <a:moveTo>
                  <a:pt x="107950" y="0"/>
                </a:moveTo>
                <a:lnTo>
                  <a:pt x="577850" y="0"/>
                </a:lnTo>
                <a:cubicBezTo>
                  <a:pt x="637477" y="0"/>
                  <a:pt x="685800" y="48324"/>
                  <a:pt x="685800" y="107950"/>
                </a:cubicBezTo>
                <a:lnTo>
                  <a:pt x="685800" y="107950"/>
                </a:lnTo>
                <a:cubicBezTo>
                  <a:pt x="685800" y="167576"/>
                  <a:pt x="637477" y="215900"/>
                  <a:pt x="5778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2468B6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stt-4"/>
          <p:cNvSpPr txBox="1"/>
          <p:nvPr/>
        </p:nvSpPr>
        <p:spPr>
          <a:xfrm>
            <a:off x="7589838" y="3324066"/>
            <a:ext cx="3905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50">
                <a:solidFill>
                  <a:srgbClr val="2468B6"/>
                </a:solidFill>
                <a:latin typeface="微软雅黑"/>
                <a:ea typeface="微软雅黑"/>
                <a:cs typeface="微软雅黑"/>
              </a:rPr>
              <a:t>进行中</a:t>
            </a:r>
          </a:p>
        </p:txBody>
      </p:sp>
      <p:sp>
        <p:nvSpPr>
          <p:cNvPr id="49" name="rowbg-5"/>
          <p:cNvSpPr/>
          <p:nvPr/>
        </p:nvSpPr>
        <p:spPr>
          <a:xfrm>
            <a:off x="876300" y="3695700"/>
            <a:ext cx="7581900" cy="457200"/>
          </a:xfrm>
          <a:custGeom>
            <a:avLst/>
            <a:gdLst/>
            <a:ahLst/>
            <a:cxnLst/>
            <a:rect l="0" t="0" r="r" b="b"/>
            <a:pathLst>
              <a:path w="7581900" h="457200">
                <a:moveTo>
                  <a:pt x="88900" y="0"/>
                </a:moveTo>
                <a:lnTo>
                  <a:pt x="7493000" y="0"/>
                </a:lnTo>
                <a:cubicBezTo>
                  <a:pt x="7542086" y="0"/>
                  <a:pt x="7581900" y="39814"/>
                  <a:pt x="7581900" y="88900"/>
                </a:cubicBezTo>
                <a:lnTo>
                  <a:pt x="7581900" y="368300"/>
                </a:lnTo>
                <a:cubicBezTo>
                  <a:pt x="7581900" y="417386"/>
                  <a:pt x="7542086" y="457200"/>
                  <a:pt x="7493000" y="457200"/>
                </a:cubicBezTo>
                <a:lnTo>
                  <a:pt x="88900" y="457200"/>
                </a:lnTo>
                <a:cubicBezTo>
                  <a:pt x="39815" y="457200"/>
                  <a:pt x="0" y="417386"/>
                  <a:pt x="0" y="3683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rowbar-5"/>
          <p:cNvSpPr/>
          <p:nvPr/>
        </p:nvSpPr>
        <p:spPr>
          <a:xfrm>
            <a:off x="876300" y="3695700"/>
            <a:ext cx="31750" cy="457200"/>
          </a:xfrm>
          <a:custGeom>
            <a:avLst/>
            <a:gdLst/>
            <a:ahLst/>
            <a:cxnLst/>
            <a:rect l="0" t="0" r="r" b="b"/>
            <a:pathLst>
              <a:path w="31750" h="4572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441325"/>
                </a:lnTo>
                <a:cubicBezTo>
                  <a:pt x="31750" y="450088"/>
                  <a:pt x="24638" y="457200"/>
                  <a:pt x="15875" y="457200"/>
                </a:cubicBezTo>
                <a:lnTo>
                  <a:pt x="15875" y="457200"/>
                </a:lnTo>
                <a:cubicBezTo>
                  <a:pt x="7112" y="457200"/>
                  <a:pt x="0" y="450088"/>
                  <a:pt x="0" y="4413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box-5"/>
          <p:cNvSpPr/>
          <p:nvPr/>
        </p:nvSpPr>
        <p:spPr>
          <a:xfrm>
            <a:off x="1066800" y="3816350"/>
            <a:ext cx="215900" cy="215900"/>
          </a:xfrm>
          <a:custGeom>
            <a:avLst/>
            <a:gdLst/>
            <a:ahLst/>
            <a:cxnLst/>
            <a:rect l="0" t="0" r="r" b="b"/>
            <a:pathLst>
              <a:path w="215900" h="215900">
                <a:moveTo>
                  <a:pt x="63500" y="0"/>
                </a:moveTo>
                <a:lnTo>
                  <a:pt x="152400" y="0"/>
                </a:lnTo>
                <a:cubicBezTo>
                  <a:pt x="187452" y="0"/>
                  <a:pt x="215900" y="28448"/>
                  <a:pt x="215900" y="63500"/>
                </a:cubicBezTo>
                <a:lnTo>
                  <a:pt x="215900" y="152400"/>
                </a:lnTo>
                <a:cubicBezTo>
                  <a:pt x="215900" y="187452"/>
                  <a:pt x="187452" y="215900"/>
                  <a:pt x="152400" y="215900"/>
                </a:cubicBezTo>
                <a:lnTo>
                  <a:pt x="63500" y="215900"/>
                </a:lnTo>
                <a:cubicBezTo>
                  <a:pt x="28448" y="215900"/>
                  <a:pt x="0" y="187452"/>
                  <a:pt x="0" y="1524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FFFFFF"/>
          </a:solidFill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boxd-5"/>
          <p:cNvSpPr/>
          <p:nvPr/>
        </p:nvSpPr>
        <p:spPr>
          <a:xfrm>
            <a:off x="1130300" y="3879850"/>
            <a:ext cx="88900" cy="88900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nm-5"/>
          <p:cNvSpPr txBox="1"/>
          <p:nvPr/>
        </p:nvSpPr>
        <p:spPr>
          <a:xfrm>
            <a:off x="1457198" y="3810413"/>
            <a:ext cx="15170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重点客户续约谈判收口</a:t>
            </a:r>
          </a:p>
        </p:txBody>
      </p:sp>
      <p:sp>
        <p:nvSpPr>
          <p:cNvPr id="54" name="ow-5"/>
          <p:cNvSpPr txBox="1"/>
          <p:nvPr/>
        </p:nvSpPr>
        <p:spPr>
          <a:xfrm>
            <a:off x="5303996" y="3831511"/>
            <a:ext cx="44100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销售部</a:t>
            </a:r>
          </a:p>
        </p:txBody>
      </p:sp>
      <p:sp>
        <p:nvSpPr>
          <p:cNvPr id="55" name="due-5"/>
          <p:cNvSpPr txBox="1"/>
          <p:nvPr/>
        </p:nvSpPr>
        <p:spPr>
          <a:xfrm>
            <a:off x="6277134" y="3831511"/>
            <a:ext cx="7807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11 月 30 日</a:t>
            </a:r>
          </a:p>
        </p:txBody>
      </p:sp>
      <p:sp>
        <p:nvSpPr>
          <p:cNvPr id="56" name="st-5"/>
          <p:cNvSpPr/>
          <p:nvPr/>
        </p:nvSpPr>
        <p:spPr>
          <a:xfrm>
            <a:off x="7442200" y="3816350"/>
            <a:ext cx="685800" cy="215900"/>
          </a:xfrm>
          <a:custGeom>
            <a:avLst/>
            <a:gdLst/>
            <a:ahLst/>
            <a:cxnLst/>
            <a:rect l="0" t="0" r="r" b="b"/>
            <a:pathLst>
              <a:path w="685800" h="215900">
                <a:moveTo>
                  <a:pt x="107950" y="0"/>
                </a:moveTo>
                <a:lnTo>
                  <a:pt x="577850" y="0"/>
                </a:lnTo>
                <a:cubicBezTo>
                  <a:pt x="637477" y="0"/>
                  <a:pt x="685800" y="48324"/>
                  <a:pt x="685800" y="107950"/>
                </a:cubicBezTo>
                <a:lnTo>
                  <a:pt x="685800" y="107950"/>
                </a:lnTo>
                <a:cubicBezTo>
                  <a:pt x="685800" y="167576"/>
                  <a:pt x="637477" y="215900"/>
                  <a:pt x="5778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2468B6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stt-5"/>
          <p:cNvSpPr txBox="1"/>
          <p:nvPr/>
        </p:nvSpPr>
        <p:spPr>
          <a:xfrm>
            <a:off x="7589838" y="3844766"/>
            <a:ext cx="3905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50">
                <a:solidFill>
                  <a:srgbClr val="2468B6"/>
                </a:solidFill>
                <a:latin typeface="微软雅黑"/>
                <a:ea typeface="微软雅黑"/>
                <a:cs typeface="微软雅黑"/>
              </a:rPr>
              <a:t>进行中</a:t>
            </a:r>
          </a:p>
        </p:txBody>
      </p:sp>
      <p:sp>
        <p:nvSpPr>
          <p:cNvPr id="58" name="box-6"/>
          <p:cNvSpPr/>
          <p:nvPr/>
        </p:nvSpPr>
        <p:spPr>
          <a:xfrm>
            <a:off x="1066800" y="4337050"/>
            <a:ext cx="215900" cy="215900"/>
          </a:xfrm>
          <a:custGeom>
            <a:avLst/>
            <a:gdLst/>
            <a:ahLst/>
            <a:cxnLst/>
            <a:rect l="0" t="0" r="r" b="b"/>
            <a:pathLst>
              <a:path w="215900" h="215900">
                <a:moveTo>
                  <a:pt x="63500" y="0"/>
                </a:moveTo>
                <a:lnTo>
                  <a:pt x="152400" y="0"/>
                </a:lnTo>
                <a:cubicBezTo>
                  <a:pt x="187452" y="0"/>
                  <a:pt x="215900" y="28448"/>
                  <a:pt x="215900" y="63500"/>
                </a:cubicBezTo>
                <a:lnTo>
                  <a:pt x="215900" y="152400"/>
                </a:lnTo>
                <a:cubicBezTo>
                  <a:pt x="215900" y="187452"/>
                  <a:pt x="187452" y="215900"/>
                  <a:pt x="152400" y="215900"/>
                </a:cubicBezTo>
                <a:lnTo>
                  <a:pt x="63500" y="215900"/>
                </a:lnTo>
                <a:cubicBezTo>
                  <a:pt x="28448" y="215900"/>
                  <a:pt x="0" y="187452"/>
                  <a:pt x="0" y="1524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FFFFFF"/>
          </a:solidFill>
          <a:ln w="10160" cap="rnd">
            <a:solidFill>
              <a:srgbClr val="0B2545">
                <a:alpha val="1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nm-6"/>
          <p:cNvSpPr txBox="1"/>
          <p:nvPr/>
        </p:nvSpPr>
        <p:spPr>
          <a:xfrm>
            <a:off x="1457198" y="4331113"/>
            <a:ext cx="13773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新一代平台灰度发布</a:t>
            </a:r>
          </a:p>
        </p:txBody>
      </p:sp>
      <p:sp>
        <p:nvSpPr>
          <p:cNvPr id="60" name="ow-6"/>
          <p:cNvSpPr txBox="1"/>
          <p:nvPr/>
        </p:nvSpPr>
        <p:spPr>
          <a:xfrm>
            <a:off x="5303996" y="4352211"/>
            <a:ext cx="44100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研发部</a:t>
            </a:r>
          </a:p>
        </p:txBody>
      </p:sp>
      <p:sp>
        <p:nvSpPr>
          <p:cNvPr id="61" name="due-6"/>
          <p:cNvSpPr txBox="1"/>
          <p:nvPr/>
        </p:nvSpPr>
        <p:spPr>
          <a:xfrm>
            <a:off x="6277134" y="4352211"/>
            <a:ext cx="7807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12 月 10 日</a:t>
            </a:r>
          </a:p>
        </p:txBody>
      </p:sp>
      <p:sp>
        <p:nvSpPr>
          <p:cNvPr id="62" name="st-6"/>
          <p:cNvSpPr/>
          <p:nvPr/>
        </p:nvSpPr>
        <p:spPr>
          <a:xfrm>
            <a:off x="7442200" y="4337050"/>
            <a:ext cx="685800" cy="215900"/>
          </a:xfrm>
          <a:custGeom>
            <a:avLst/>
            <a:gdLst/>
            <a:ahLst/>
            <a:cxnLst/>
            <a:rect l="0" t="0" r="r" b="b"/>
            <a:pathLst>
              <a:path w="685800" h="215900">
                <a:moveTo>
                  <a:pt x="107950" y="0"/>
                </a:moveTo>
                <a:lnTo>
                  <a:pt x="577850" y="0"/>
                </a:lnTo>
                <a:cubicBezTo>
                  <a:pt x="637477" y="0"/>
                  <a:pt x="685800" y="48324"/>
                  <a:pt x="685800" y="107950"/>
                </a:cubicBezTo>
                <a:lnTo>
                  <a:pt x="685800" y="107950"/>
                </a:lnTo>
                <a:cubicBezTo>
                  <a:pt x="685800" y="167576"/>
                  <a:pt x="637477" y="215900"/>
                  <a:pt x="5778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9AB0C8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stt-6"/>
          <p:cNvSpPr txBox="1"/>
          <p:nvPr/>
        </p:nvSpPr>
        <p:spPr>
          <a:xfrm>
            <a:off x="7589838" y="4365466"/>
            <a:ext cx="3905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50">
                <a:solidFill>
                  <a:srgbClr val="9AB0C8"/>
                </a:solidFill>
                <a:latin typeface="微软雅黑"/>
                <a:ea typeface="微软雅黑"/>
                <a:cs typeface="微软雅黑"/>
              </a:rPr>
              <a:t>待启动</a:t>
            </a:r>
          </a:p>
        </p:txBody>
      </p:sp>
      <p:cxnSp>
        <p:nvCxnSpPr>
          <p:cNvPr id="64" name="rl-6"/>
          <p:cNvCxnSpPr/>
          <p:nvPr/>
        </p:nvCxnSpPr>
        <p:spPr>
          <a:xfrm>
            <a:off x="952500" y="4686300"/>
            <a:ext cx="7429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" name="box-7"/>
          <p:cNvSpPr/>
          <p:nvPr/>
        </p:nvSpPr>
        <p:spPr>
          <a:xfrm>
            <a:off x="1066800" y="4857750"/>
            <a:ext cx="215900" cy="215900"/>
          </a:xfrm>
          <a:custGeom>
            <a:avLst/>
            <a:gdLst/>
            <a:ahLst/>
            <a:cxnLst/>
            <a:rect l="0" t="0" r="r" b="b"/>
            <a:pathLst>
              <a:path w="215900" h="215900">
                <a:moveTo>
                  <a:pt x="63500" y="0"/>
                </a:moveTo>
                <a:lnTo>
                  <a:pt x="152400" y="0"/>
                </a:lnTo>
                <a:cubicBezTo>
                  <a:pt x="187452" y="0"/>
                  <a:pt x="215900" y="28448"/>
                  <a:pt x="215900" y="63500"/>
                </a:cubicBezTo>
                <a:lnTo>
                  <a:pt x="215900" y="152400"/>
                </a:lnTo>
                <a:cubicBezTo>
                  <a:pt x="215900" y="187452"/>
                  <a:pt x="187452" y="215900"/>
                  <a:pt x="152400" y="215900"/>
                </a:cubicBezTo>
                <a:lnTo>
                  <a:pt x="63500" y="215900"/>
                </a:lnTo>
                <a:cubicBezTo>
                  <a:pt x="28448" y="215900"/>
                  <a:pt x="0" y="187452"/>
                  <a:pt x="0" y="1524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FFFFFF"/>
          </a:solidFill>
          <a:ln w="10160" cap="rnd">
            <a:solidFill>
              <a:srgbClr val="0B2545">
                <a:alpha val="1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nm-7"/>
          <p:cNvSpPr txBox="1"/>
          <p:nvPr/>
        </p:nvSpPr>
        <p:spPr>
          <a:xfrm>
            <a:off x="1457198" y="4851813"/>
            <a:ext cx="15170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渠道伙伴分级政策发布</a:t>
            </a:r>
          </a:p>
        </p:txBody>
      </p:sp>
      <p:sp>
        <p:nvSpPr>
          <p:cNvPr id="67" name="ow-7"/>
          <p:cNvSpPr txBox="1"/>
          <p:nvPr/>
        </p:nvSpPr>
        <p:spPr>
          <a:xfrm>
            <a:off x="5303996" y="4872911"/>
            <a:ext cx="44100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渠道部</a:t>
            </a:r>
          </a:p>
        </p:txBody>
      </p:sp>
      <p:sp>
        <p:nvSpPr>
          <p:cNvPr id="68" name="due-7"/>
          <p:cNvSpPr txBox="1"/>
          <p:nvPr/>
        </p:nvSpPr>
        <p:spPr>
          <a:xfrm>
            <a:off x="6277134" y="4872911"/>
            <a:ext cx="7807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12 月 15 日</a:t>
            </a:r>
          </a:p>
        </p:txBody>
      </p:sp>
      <p:sp>
        <p:nvSpPr>
          <p:cNvPr id="69" name="st-7"/>
          <p:cNvSpPr/>
          <p:nvPr/>
        </p:nvSpPr>
        <p:spPr>
          <a:xfrm>
            <a:off x="7442200" y="4857750"/>
            <a:ext cx="685800" cy="215900"/>
          </a:xfrm>
          <a:custGeom>
            <a:avLst/>
            <a:gdLst/>
            <a:ahLst/>
            <a:cxnLst/>
            <a:rect l="0" t="0" r="r" b="b"/>
            <a:pathLst>
              <a:path w="685800" h="215900">
                <a:moveTo>
                  <a:pt x="107950" y="0"/>
                </a:moveTo>
                <a:lnTo>
                  <a:pt x="577850" y="0"/>
                </a:lnTo>
                <a:cubicBezTo>
                  <a:pt x="637477" y="0"/>
                  <a:pt x="685800" y="48324"/>
                  <a:pt x="685800" y="107950"/>
                </a:cubicBezTo>
                <a:lnTo>
                  <a:pt x="685800" y="107950"/>
                </a:lnTo>
                <a:cubicBezTo>
                  <a:pt x="685800" y="167576"/>
                  <a:pt x="637477" y="215900"/>
                  <a:pt x="5778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9AB0C8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stt-7"/>
          <p:cNvSpPr txBox="1"/>
          <p:nvPr/>
        </p:nvSpPr>
        <p:spPr>
          <a:xfrm>
            <a:off x="7589838" y="4886166"/>
            <a:ext cx="3905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50">
                <a:solidFill>
                  <a:srgbClr val="9AB0C8"/>
                </a:solidFill>
                <a:latin typeface="微软雅黑"/>
                <a:ea typeface="微软雅黑"/>
                <a:cs typeface="微软雅黑"/>
              </a:rPr>
              <a:t>待启动</a:t>
            </a:r>
          </a:p>
        </p:txBody>
      </p:sp>
      <p:cxnSp>
        <p:nvCxnSpPr>
          <p:cNvPr id="71" name="rl-7"/>
          <p:cNvCxnSpPr/>
          <p:nvPr/>
        </p:nvCxnSpPr>
        <p:spPr>
          <a:xfrm>
            <a:off x="952500" y="5207000"/>
            <a:ext cx="7429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2" name="box-8"/>
          <p:cNvSpPr/>
          <p:nvPr/>
        </p:nvSpPr>
        <p:spPr>
          <a:xfrm>
            <a:off x="1066800" y="5378450"/>
            <a:ext cx="215900" cy="215900"/>
          </a:xfrm>
          <a:custGeom>
            <a:avLst/>
            <a:gdLst/>
            <a:ahLst/>
            <a:cxnLst/>
            <a:rect l="0" t="0" r="r" b="b"/>
            <a:pathLst>
              <a:path w="215900" h="215900">
                <a:moveTo>
                  <a:pt x="63500" y="0"/>
                </a:moveTo>
                <a:lnTo>
                  <a:pt x="152400" y="0"/>
                </a:lnTo>
                <a:cubicBezTo>
                  <a:pt x="187452" y="0"/>
                  <a:pt x="215900" y="28448"/>
                  <a:pt x="215900" y="63500"/>
                </a:cubicBezTo>
                <a:lnTo>
                  <a:pt x="215900" y="152400"/>
                </a:lnTo>
                <a:cubicBezTo>
                  <a:pt x="215900" y="187452"/>
                  <a:pt x="187452" y="215900"/>
                  <a:pt x="152400" y="215900"/>
                </a:cubicBezTo>
                <a:lnTo>
                  <a:pt x="63500" y="215900"/>
                </a:lnTo>
                <a:cubicBezTo>
                  <a:pt x="28448" y="215900"/>
                  <a:pt x="0" y="187452"/>
                  <a:pt x="0" y="1524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FFFFFF"/>
          </a:solidFill>
          <a:ln w="10160" cap="rnd">
            <a:solidFill>
              <a:srgbClr val="0B2545">
                <a:alpha val="1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nm-8"/>
          <p:cNvSpPr txBox="1"/>
          <p:nvPr/>
        </p:nvSpPr>
        <p:spPr>
          <a:xfrm>
            <a:off x="1457198" y="5372513"/>
            <a:ext cx="13773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年度复盘与目标拆解</a:t>
            </a:r>
          </a:p>
        </p:txBody>
      </p:sp>
      <p:sp>
        <p:nvSpPr>
          <p:cNvPr id="74" name="ow-8"/>
          <p:cNvSpPr txBox="1"/>
          <p:nvPr/>
        </p:nvSpPr>
        <p:spPr>
          <a:xfrm>
            <a:off x="5133499" y="5393611"/>
            <a:ext cx="7820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总经理办公室</a:t>
            </a:r>
          </a:p>
        </p:txBody>
      </p:sp>
      <p:sp>
        <p:nvSpPr>
          <p:cNvPr id="75" name="due-8"/>
          <p:cNvSpPr txBox="1"/>
          <p:nvPr/>
        </p:nvSpPr>
        <p:spPr>
          <a:xfrm>
            <a:off x="6277134" y="5393611"/>
            <a:ext cx="7807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12 月 25 日</a:t>
            </a:r>
          </a:p>
        </p:txBody>
      </p:sp>
      <p:sp>
        <p:nvSpPr>
          <p:cNvPr id="76" name="st-8"/>
          <p:cNvSpPr/>
          <p:nvPr/>
        </p:nvSpPr>
        <p:spPr>
          <a:xfrm>
            <a:off x="7442200" y="5378450"/>
            <a:ext cx="685800" cy="215900"/>
          </a:xfrm>
          <a:custGeom>
            <a:avLst/>
            <a:gdLst/>
            <a:ahLst/>
            <a:cxnLst/>
            <a:rect l="0" t="0" r="r" b="b"/>
            <a:pathLst>
              <a:path w="685800" h="215900">
                <a:moveTo>
                  <a:pt x="107950" y="0"/>
                </a:moveTo>
                <a:lnTo>
                  <a:pt x="577850" y="0"/>
                </a:lnTo>
                <a:cubicBezTo>
                  <a:pt x="637477" y="0"/>
                  <a:pt x="685800" y="48324"/>
                  <a:pt x="685800" y="107950"/>
                </a:cubicBezTo>
                <a:lnTo>
                  <a:pt x="685800" y="107950"/>
                </a:lnTo>
                <a:cubicBezTo>
                  <a:pt x="685800" y="167576"/>
                  <a:pt x="637477" y="215900"/>
                  <a:pt x="5778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9AB0C8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stt-8"/>
          <p:cNvSpPr txBox="1"/>
          <p:nvPr/>
        </p:nvSpPr>
        <p:spPr>
          <a:xfrm>
            <a:off x="7589838" y="5406866"/>
            <a:ext cx="3905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50">
                <a:solidFill>
                  <a:srgbClr val="9AB0C8"/>
                </a:solidFill>
                <a:latin typeface="微软雅黑"/>
                <a:ea typeface="微软雅黑"/>
                <a:cs typeface="微软雅黑"/>
              </a:rPr>
              <a:t>待启动</a:t>
            </a:r>
          </a:p>
        </p:txBody>
      </p:sp>
      <p:cxnSp>
        <p:nvCxnSpPr>
          <p:cNvPr id="78" name="rl-8"/>
          <p:cNvCxnSpPr/>
          <p:nvPr/>
        </p:nvCxnSpPr>
        <p:spPr>
          <a:xfrm>
            <a:off x="952500" y="5727700"/>
            <a:ext cx="74295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box-9"/>
          <p:cNvSpPr/>
          <p:nvPr/>
        </p:nvSpPr>
        <p:spPr>
          <a:xfrm>
            <a:off x="1066800" y="5899150"/>
            <a:ext cx="215900" cy="215900"/>
          </a:xfrm>
          <a:custGeom>
            <a:avLst/>
            <a:gdLst/>
            <a:ahLst/>
            <a:cxnLst/>
            <a:rect l="0" t="0" r="r" b="b"/>
            <a:pathLst>
              <a:path w="215900" h="215900">
                <a:moveTo>
                  <a:pt x="63500" y="0"/>
                </a:moveTo>
                <a:lnTo>
                  <a:pt x="152400" y="0"/>
                </a:lnTo>
                <a:cubicBezTo>
                  <a:pt x="187452" y="0"/>
                  <a:pt x="215900" y="28448"/>
                  <a:pt x="215900" y="63500"/>
                </a:cubicBezTo>
                <a:lnTo>
                  <a:pt x="215900" y="152400"/>
                </a:lnTo>
                <a:cubicBezTo>
                  <a:pt x="215900" y="187452"/>
                  <a:pt x="187452" y="215900"/>
                  <a:pt x="152400" y="215900"/>
                </a:cubicBezTo>
                <a:lnTo>
                  <a:pt x="63500" y="215900"/>
                </a:lnTo>
                <a:cubicBezTo>
                  <a:pt x="28448" y="215900"/>
                  <a:pt x="0" y="187452"/>
                  <a:pt x="0" y="152400"/>
                </a:cubicBez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close/>
              </a:path>
            </a:pathLst>
          </a:custGeom>
          <a:solidFill>
            <a:srgbClr val="FFFFFF"/>
          </a:solidFill>
          <a:ln w="10160" cap="rnd">
            <a:solidFill>
              <a:srgbClr val="0B2545">
                <a:alpha val="1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nm-9"/>
          <p:cNvSpPr txBox="1"/>
          <p:nvPr/>
        </p:nvSpPr>
        <p:spPr>
          <a:xfrm>
            <a:off x="1457198" y="5893213"/>
            <a:ext cx="12376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下一年度预算评审</a:t>
            </a:r>
          </a:p>
        </p:txBody>
      </p:sp>
      <p:sp>
        <p:nvSpPr>
          <p:cNvPr id="81" name="ow-9"/>
          <p:cNvSpPr txBox="1"/>
          <p:nvPr/>
        </p:nvSpPr>
        <p:spPr>
          <a:xfrm>
            <a:off x="5303996" y="5914311"/>
            <a:ext cx="44100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财务部</a:t>
            </a:r>
          </a:p>
        </p:txBody>
      </p:sp>
      <p:sp>
        <p:nvSpPr>
          <p:cNvPr id="82" name="due-9"/>
          <p:cNvSpPr txBox="1"/>
          <p:nvPr/>
        </p:nvSpPr>
        <p:spPr>
          <a:xfrm>
            <a:off x="6277134" y="5914311"/>
            <a:ext cx="7807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12 月 31 日</a:t>
            </a:r>
          </a:p>
        </p:txBody>
      </p:sp>
      <p:sp>
        <p:nvSpPr>
          <p:cNvPr id="83" name="st-9"/>
          <p:cNvSpPr/>
          <p:nvPr/>
        </p:nvSpPr>
        <p:spPr>
          <a:xfrm>
            <a:off x="7442200" y="5899150"/>
            <a:ext cx="685800" cy="215900"/>
          </a:xfrm>
          <a:custGeom>
            <a:avLst/>
            <a:gdLst/>
            <a:ahLst/>
            <a:cxnLst/>
            <a:rect l="0" t="0" r="r" b="b"/>
            <a:pathLst>
              <a:path w="685800" h="215900">
                <a:moveTo>
                  <a:pt x="107950" y="0"/>
                </a:moveTo>
                <a:lnTo>
                  <a:pt x="577850" y="0"/>
                </a:lnTo>
                <a:cubicBezTo>
                  <a:pt x="637477" y="0"/>
                  <a:pt x="685800" y="48324"/>
                  <a:pt x="685800" y="107950"/>
                </a:cubicBezTo>
                <a:lnTo>
                  <a:pt x="685800" y="107950"/>
                </a:lnTo>
                <a:cubicBezTo>
                  <a:pt x="685800" y="167576"/>
                  <a:pt x="637477" y="215900"/>
                  <a:pt x="577850" y="215900"/>
                </a:cubicBezTo>
                <a:lnTo>
                  <a:pt x="107950" y="215900"/>
                </a:lnTo>
                <a:cubicBezTo>
                  <a:pt x="48323" y="215900"/>
                  <a:pt x="0" y="167576"/>
                  <a:pt x="0" y="107950"/>
                </a:cubicBezTo>
                <a:lnTo>
                  <a:pt x="0" y="107950"/>
                </a:lnTo>
                <a:cubicBezTo>
                  <a:pt x="0" y="48324"/>
                  <a:pt x="48323" y="0"/>
                  <a:pt x="107950" y="0"/>
                </a:cubicBezTo>
                <a:close/>
              </a:path>
            </a:pathLst>
          </a:custGeom>
          <a:solidFill>
            <a:srgbClr val="9AB0C8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stt-9"/>
          <p:cNvSpPr txBox="1"/>
          <p:nvPr/>
        </p:nvSpPr>
        <p:spPr>
          <a:xfrm>
            <a:off x="7589838" y="5927566"/>
            <a:ext cx="3905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 spc="50">
                <a:solidFill>
                  <a:srgbClr val="9AB0C8"/>
                </a:solidFill>
                <a:latin typeface="微软雅黑"/>
                <a:ea typeface="微软雅黑"/>
                <a:cs typeface="微软雅黑"/>
              </a:rPr>
              <a:t>待启动</a:t>
            </a:r>
          </a:p>
        </p:txBody>
      </p:sp>
      <p:sp>
        <p:nvSpPr>
          <p:cNvPr id="85" name="panel"/>
          <p:cNvSpPr/>
          <p:nvPr/>
        </p:nvSpPr>
        <p:spPr>
          <a:xfrm>
            <a:off x="8826500" y="1498600"/>
            <a:ext cx="2413000" cy="1905000"/>
          </a:xfrm>
          <a:custGeom>
            <a:avLst/>
            <a:gdLst/>
            <a:ahLst/>
            <a:cxnLst/>
            <a:rect l="0" t="0" r="r" b="b"/>
            <a:pathLst>
              <a:path w="2413000" h="1905000">
                <a:moveTo>
                  <a:pt x="139700" y="0"/>
                </a:moveTo>
                <a:lnTo>
                  <a:pt x="2273300" y="0"/>
                </a:lnTo>
                <a:cubicBezTo>
                  <a:pt x="2350453" y="0"/>
                  <a:pt x="2413000" y="62547"/>
                  <a:pt x="2413000" y="139700"/>
                </a:cubicBezTo>
                <a:lnTo>
                  <a:pt x="2413000" y="1765300"/>
                </a:lnTo>
                <a:cubicBezTo>
                  <a:pt x="2413000" y="1842452"/>
                  <a:pt x="2350453" y="1905000"/>
                  <a:pt x="2273300" y="1905000"/>
                </a:cubicBezTo>
                <a:lnTo>
                  <a:pt x="139700" y="1905000"/>
                </a:lnTo>
                <a:cubicBezTo>
                  <a:pt x="62547" y="1905000"/>
                  <a:pt x="0" y="1842452"/>
                  <a:pt x="0" y="1765300"/>
                </a:cubicBezTo>
                <a:lnTo>
                  <a:pt x="0" y="139700"/>
                </a:lnTo>
                <a:cubicBezTo>
                  <a:pt x="0" y="62547"/>
                  <a:pt x="62547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0A3A88"/>
              </a:gs>
            </a:gsLst>
            <a:lin ang="7560000" scaled="0"/>
          </a:gra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p-h"/>
          <p:cNvSpPr txBox="1"/>
          <p:nvPr/>
        </p:nvSpPr>
        <p:spPr>
          <a:xfrm>
            <a:off x="9621520" y="1665986"/>
            <a:ext cx="8229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整体进度</a:t>
            </a:r>
          </a:p>
        </p:txBody>
      </p:sp>
      <p:sp>
        <p:nvSpPr>
          <p:cNvPr id="87" name="p-v"/>
          <p:cNvSpPr txBox="1"/>
          <p:nvPr/>
        </p:nvSpPr>
        <p:spPr>
          <a:xfrm>
            <a:off x="9499219" y="1936496"/>
            <a:ext cx="1067562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3200" b="1" spc="50">
                <a:solidFill>
                  <a:srgbClr val="FFFFFF"/>
                </a:solidFill>
                <a:latin typeface="Arial"/>
                <a:ea typeface="Arial"/>
                <a:cs typeface="Arial"/>
              </a:rPr>
              <a:t>39%</a:t>
            </a:r>
          </a:p>
        </p:txBody>
      </p:sp>
      <p:sp>
        <p:nvSpPr>
          <p:cNvPr id="88" name="p-bg"/>
          <p:cNvSpPr/>
          <p:nvPr/>
        </p:nvSpPr>
        <p:spPr>
          <a:xfrm>
            <a:off x="9105900" y="2641600"/>
            <a:ext cx="1854200" cy="88900"/>
          </a:xfrm>
          <a:prstGeom prst="roundRect">
            <a:avLst>
              <a:gd name="adj" fmla="val 50000"/>
            </a:avLst>
          </a:prstGeom>
          <a:solidFill>
            <a:srgbClr val="FFFFFF">
              <a:alpha val="2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p-bar"/>
          <p:cNvSpPr/>
          <p:nvPr/>
        </p:nvSpPr>
        <p:spPr>
          <a:xfrm>
            <a:off x="9105900" y="2641600"/>
            <a:ext cx="721078" cy="88900"/>
          </a:xfrm>
          <a:prstGeom prst="roundRect">
            <a:avLst>
              <a:gd name="adj" fmla="val 50000"/>
            </a:avLst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p-c-1"/>
          <p:cNvSpPr txBox="1"/>
          <p:nvPr/>
        </p:nvSpPr>
        <p:spPr>
          <a:xfrm>
            <a:off x="9088818" y="2828417"/>
            <a:ext cx="262763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91" name="p-l-1"/>
          <p:cNvSpPr txBox="1"/>
          <p:nvPr/>
        </p:nvSpPr>
        <p:spPr>
          <a:xfrm>
            <a:off x="9041130" y="3103308"/>
            <a:ext cx="3581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30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已完成</a:t>
            </a:r>
          </a:p>
        </p:txBody>
      </p:sp>
      <p:sp>
        <p:nvSpPr>
          <p:cNvPr id="92" name="p-c-2"/>
          <p:cNvSpPr txBox="1"/>
          <p:nvPr/>
        </p:nvSpPr>
        <p:spPr>
          <a:xfrm>
            <a:off x="9838118" y="2828417"/>
            <a:ext cx="262763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93" name="p-l-2"/>
          <p:cNvSpPr txBox="1"/>
          <p:nvPr/>
        </p:nvSpPr>
        <p:spPr>
          <a:xfrm>
            <a:off x="9790430" y="3103308"/>
            <a:ext cx="3581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30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进行中</a:t>
            </a:r>
          </a:p>
        </p:txBody>
      </p:sp>
      <p:sp>
        <p:nvSpPr>
          <p:cNvPr id="94" name="p-c-3"/>
          <p:cNvSpPr txBox="1"/>
          <p:nvPr/>
        </p:nvSpPr>
        <p:spPr>
          <a:xfrm>
            <a:off x="10587418" y="2828417"/>
            <a:ext cx="262763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95" name="p-l-3"/>
          <p:cNvSpPr txBox="1"/>
          <p:nvPr/>
        </p:nvSpPr>
        <p:spPr>
          <a:xfrm>
            <a:off x="10539730" y="3103308"/>
            <a:ext cx="35814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 spc="30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待启动</a:t>
            </a:r>
          </a:p>
        </p:txBody>
      </p:sp>
      <p:sp>
        <p:nvSpPr>
          <p:cNvPr id="96" name="risk"/>
          <p:cNvSpPr/>
          <p:nvPr/>
        </p:nvSpPr>
        <p:spPr>
          <a:xfrm>
            <a:off x="8826500" y="3556000"/>
            <a:ext cx="2413000" cy="1498600"/>
          </a:xfrm>
          <a:custGeom>
            <a:avLst/>
            <a:gdLst/>
            <a:ahLst/>
            <a:cxnLst/>
            <a:rect l="0" t="0" r="r" b="b"/>
            <a:pathLst>
              <a:path w="2413000" h="1498600">
                <a:moveTo>
                  <a:pt x="127000" y="0"/>
                </a:moveTo>
                <a:lnTo>
                  <a:pt x="2286000" y="0"/>
                </a:lnTo>
                <a:cubicBezTo>
                  <a:pt x="2356167" y="0"/>
                  <a:pt x="2413000" y="56833"/>
                  <a:pt x="2413000" y="127000"/>
                </a:cubicBezTo>
                <a:lnTo>
                  <a:pt x="2413000" y="1371600"/>
                </a:lnTo>
                <a:cubicBezTo>
                  <a:pt x="2413000" y="1441767"/>
                  <a:pt x="2356167" y="1498600"/>
                  <a:pt x="2286000" y="1498600"/>
                </a:cubicBezTo>
                <a:lnTo>
                  <a:pt x="127000" y="1498600"/>
                </a:lnTo>
                <a:cubicBezTo>
                  <a:pt x="56833" y="1498600"/>
                  <a:pt x="0" y="1441767"/>
                  <a:pt x="0" y="13716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risk-cap"/>
          <p:cNvSpPr/>
          <p:nvPr/>
        </p:nvSpPr>
        <p:spPr>
          <a:xfrm>
            <a:off x="8826500" y="3556000"/>
            <a:ext cx="2413000" cy="44450"/>
          </a:xfrm>
          <a:custGeom>
            <a:avLst/>
            <a:gdLst/>
            <a:ahLst/>
            <a:cxnLst/>
            <a:rect l="0" t="0" r="r" b="b"/>
            <a:pathLst>
              <a:path w="2413000" h="44450">
                <a:moveTo>
                  <a:pt x="22225" y="0"/>
                </a:moveTo>
                <a:lnTo>
                  <a:pt x="2390775" y="0"/>
                </a:lnTo>
                <a:cubicBezTo>
                  <a:pt x="2403031" y="0"/>
                  <a:pt x="2413000" y="9970"/>
                  <a:pt x="2413000" y="22225"/>
                </a:cubicBezTo>
                <a:lnTo>
                  <a:pt x="2413000" y="22225"/>
                </a:lnTo>
                <a:cubicBezTo>
                  <a:pt x="2413000" y="34480"/>
                  <a:pt x="2403031" y="44450"/>
                  <a:pt x="2390775" y="44450"/>
                </a:cubicBezTo>
                <a:lnTo>
                  <a:pt x="22225" y="44450"/>
                </a:lnTo>
                <a:cubicBezTo>
                  <a:pt x="9969" y="44450"/>
                  <a:pt x="0" y="34480"/>
                  <a:pt x="0" y="22225"/>
                </a:cubicBezTo>
                <a:lnTo>
                  <a:pt x="0" y="22225"/>
                </a:lnTo>
                <a:cubicBezTo>
                  <a:pt x="0" y="9970"/>
                  <a:pt x="9969" y="0"/>
                  <a:pt x="22225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icon-shield"/>
          <p:cNvSpPr/>
          <p:nvPr/>
        </p:nvSpPr>
        <p:spPr>
          <a:xfrm>
            <a:off x="9052560" y="3822510"/>
            <a:ext cx="106680" cy="127381"/>
          </a:xfrm>
          <a:custGeom>
            <a:avLst/>
            <a:gdLst/>
            <a:ahLst/>
            <a:cxnLst/>
            <a:rect l="0" t="0" r="r" b="b"/>
            <a:pathLst>
              <a:path w="106680" h="127381">
                <a:moveTo>
                  <a:pt x="53340" y="0"/>
                </a:moveTo>
                <a:lnTo>
                  <a:pt x="106680" y="20701"/>
                </a:lnTo>
                <a:lnTo>
                  <a:pt x="106680" y="62230"/>
                </a:lnTo>
                <a:cubicBezTo>
                  <a:pt x="106680" y="93345"/>
                  <a:pt x="84455" y="117030"/>
                  <a:pt x="53340" y="127381"/>
                </a:cubicBezTo>
                <a:cubicBezTo>
                  <a:pt x="22225" y="117030"/>
                  <a:pt x="0" y="93345"/>
                  <a:pt x="0" y="62230"/>
                </a:cubicBezTo>
                <a:lnTo>
                  <a:pt x="0" y="20701"/>
                </a:lnTo>
                <a:close/>
                <a:moveTo>
                  <a:pt x="31115" y="63690"/>
                </a:moveTo>
                <a:lnTo>
                  <a:pt x="47435" y="80010"/>
                </a:lnTo>
                <a:lnTo>
                  <a:pt x="78550" y="48895"/>
                </a:lnTo>
              </a:path>
            </a:pathLst>
          </a:custGeom>
          <a:noFill/>
          <a:ln w="1270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9" name="risk-h"/>
          <p:cNvSpPr txBox="1"/>
          <p:nvPr/>
        </p:nvSpPr>
        <p:spPr>
          <a:xfrm>
            <a:off x="9305798" y="3772313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重点关注</a:t>
            </a:r>
          </a:p>
        </p:txBody>
      </p:sp>
      <p:sp>
        <p:nvSpPr>
          <p:cNvPr id="100" name="risk-d-1"/>
          <p:cNvSpPr/>
          <p:nvPr/>
        </p:nvSpPr>
        <p:spPr>
          <a:xfrm>
            <a:off x="9083040" y="4187190"/>
            <a:ext cx="45720" cy="4572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risk-p-1"/>
          <p:cNvSpPr txBox="1"/>
          <p:nvPr/>
        </p:nvSpPr>
        <p:spPr>
          <a:xfrm>
            <a:off x="9208770" y="4124166"/>
            <a:ext cx="13201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华南交付网络进度落后 2 周</a:t>
            </a:r>
          </a:p>
        </p:txBody>
      </p:sp>
      <p:sp>
        <p:nvSpPr>
          <p:cNvPr id="102" name="risk-d-2"/>
          <p:cNvSpPr/>
          <p:nvPr/>
        </p:nvSpPr>
        <p:spPr>
          <a:xfrm>
            <a:off x="9083040" y="4441190"/>
            <a:ext cx="45720" cy="4572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risk-p-2"/>
          <p:cNvSpPr txBox="1"/>
          <p:nvPr/>
        </p:nvSpPr>
        <p:spPr>
          <a:xfrm>
            <a:off x="9208770" y="4378166"/>
            <a:ext cx="141732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主数据口径涉及 4 个部门会签</a:t>
            </a:r>
          </a:p>
        </p:txBody>
      </p:sp>
      <p:sp>
        <p:nvSpPr>
          <p:cNvPr id="104" name="risk-d-3"/>
          <p:cNvSpPr/>
          <p:nvPr/>
        </p:nvSpPr>
        <p:spPr>
          <a:xfrm>
            <a:off x="9083040" y="4695190"/>
            <a:ext cx="45720" cy="4572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risk-p-3"/>
          <p:cNvSpPr txBox="1"/>
          <p:nvPr/>
        </p:nvSpPr>
        <p:spPr>
          <a:xfrm>
            <a:off x="9208770" y="4632166"/>
            <a:ext cx="13201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12 月三项事项时间高度重叠</a:t>
            </a:r>
          </a:p>
        </p:txBody>
      </p:sp>
      <p:sp>
        <p:nvSpPr>
          <p:cNvPr id="106" name="tip"/>
          <p:cNvSpPr/>
          <p:nvPr/>
        </p:nvSpPr>
        <p:spPr>
          <a:xfrm>
            <a:off x="8826500" y="5207000"/>
            <a:ext cx="2413000" cy="749300"/>
          </a:xfrm>
          <a:custGeom>
            <a:avLst/>
            <a:gdLst/>
            <a:ahLst/>
            <a:cxnLst/>
            <a:rect l="0" t="0" r="r" b="b"/>
            <a:pathLst>
              <a:path w="2413000" h="749300">
                <a:moveTo>
                  <a:pt x="114300" y="0"/>
                </a:moveTo>
                <a:lnTo>
                  <a:pt x="2298700" y="0"/>
                </a:lnTo>
                <a:cubicBezTo>
                  <a:pt x="2361819" y="0"/>
                  <a:pt x="2413000" y="51181"/>
                  <a:pt x="2413000" y="114300"/>
                </a:cubicBezTo>
                <a:lnTo>
                  <a:pt x="2413000" y="635000"/>
                </a:lnTo>
                <a:cubicBezTo>
                  <a:pt x="2413000" y="698119"/>
                  <a:pt x="2361819" y="749300"/>
                  <a:pt x="2298700" y="749300"/>
                </a:cubicBezTo>
                <a:lnTo>
                  <a:pt x="114300" y="749300"/>
                </a:lnTo>
                <a:cubicBezTo>
                  <a:pt x="51181" y="749300"/>
                  <a:pt x="0" y="698119"/>
                  <a:pt x="0" y="6350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7" name="tip-bar"/>
          <p:cNvSpPr/>
          <p:nvPr/>
        </p:nvSpPr>
        <p:spPr>
          <a:xfrm>
            <a:off x="8826500" y="5207000"/>
            <a:ext cx="31750" cy="7493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8" name="tip-h"/>
          <p:cNvSpPr txBox="1"/>
          <p:nvPr/>
        </p:nvSpPr>
        <p:spPr>
          <a:xfrm>
            <a:off x="9003284" y="5332540"/>
            <a:ext cx="6108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跟踪节奏</a:t>
            </a:r>
          </a:p>
        </p:txBody>
      </p:sp>
      <p:sp>
        <p:nvSpPr>
          <p:cNvPr id="109" name="tip-p1"/>
          <p:cNvSpPr txBox="1"/>
          <p:nvPr/>
        </p:nvSpPr>
        <p:spPr>
          <a:xfrm>
            <a:off x="9005570" y="5559266"/>
            <a:ext cx="10636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每周五例会更新状态，</a:t>
            </a:r>
          </a:p>
        </p:txBody>
      </p:sp>
      <p:sp>
        <p:nvSpPr>
          <p:cNvPr id="110" name="tip-p2"/>
          <p:cNvSpPr txBox="1"/>
          <p:nvPr/>
        </p:nvSpPr>
        <p:spPr>
          <a:xfrm>
            <a:off x="9005570" y="5711666"/>
            <a:ext cx="11614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延期项需提交补救方案。</a:t>
            </a:r>
          </a:p>
        </p:txBody>
      </p:sp>
      <p:cxnSp>
        <p:nvCxnSpPr>
          <p:cNvPr id="111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行动清单 · 九项重点</a:t>
            </a:r>
          </a:p>
        </p:txBody>
      </p:sp>
      <p:sp>
        <p:nvSpPr>
          <p:cNvPr id="113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9946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客户声音与量化反馈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62801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VOICE OF CUSTOMER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780399" y="673132"/>
            <a:ext cx="2840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三类典型客户的原话摘录，以及各自最看重的指标变化</a:t>
            </a:r>
          </a:p>
        </p:txBody>
      </p:sp>
      <p:sp>
        <p:nvSpPr>
          <p:cNvPr id="10" name="card-1"/>
          <p:cNvSpPr/>
          <p:nvPr/>
        </p:nvSpPr>
        <p:spPr>
          <a:xfrm>
            <a:off x="952500" y="1587500"/>
            <a:ext cx="3302000" cy="2984500"/>
          </a:xfrm>
          <a:custGeom>
            <a:avLst/>
            <a:gdLst/>
            <a:ahLst/>
            <a:cxnLst/>
            <a:rect l="0" t="0" r="r" b="b"/>
            <a:pathLst>
              <a:path w="3302000" h="2984500">
                <a:moveTo>
                  <a:pt x="139700" y="0"/>
                </a:moveTo>
                <a:lnTo>
                  <a:pt x="3162300" y="0"/>
                </a:lnTo>
                <a:cubicBezTo>
                  <a:pt x="3239452" y="0"/>
                  <a:pt x="3302000" y="62548"/>
                  <a:pt x="3302000" y="139700"/>
                </a:cubicBezTo>
                <a:lnTo>
                  <a:pt x="3302000" y="2844800"/>
                </a:lnTo>
                <a:cubicBezTo>
                  <a:pt x="3302000" y="2921952"/>
                  <a:pt x="3239452" y="2984500"/>
                  <a:pt x="3162300" y="2984500"/>
                </a:cubicBezTo>
                <a:lnTo>
                  <a:pt x="139700" y="2984500"/>
                </a:lnTo>
                <a:cubicBezTo>
                  <a:pt x="62547" y="2984500"/>
                  <a:pt x="0" y="2921952"/>
                  <a:pt x="0" y="28448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cap-1"/>
          <p:cNvSpPr/>
          <p:nvPr/>
        </p:nvSpPr>
        <p:spPr>
          <a:xfrm>
            <a:off x="952500" y="1587500"/>
            <a:ext cx="3302000" cy="50800"/>
          </a:xfrm>
          <a:custGeom>
            <a:avLst/>
            <a:gdLst/>
            <a:ahLst/>
            <a:cxnLst/>
            <a:rect l="0" t="0" r="r" b="b"/>
            <a:pathLst>
              <a:path w="3302000" h="50800">
                <a:moveTo>
                  <a:pt x="25400" y="0"/>
                </a:moveTo>
                <a:lnTo>
                  <a:pt x="3276600" y="0"/>
                </a:lnTo>
                <a:cubicBezTo>
                  <a:pt x="3290634" y="0"/>
                  <a:pt x="3302000" y="11366"/>
                  <a:pt x="3302000" y="25400"/>
                </a:cubicBezTo>
                <a:lnTo>
                  <a:pt x="3302000" y="25400"/>
                </a:lnTo>
                <a:cubicBezTo>
                  <a:pt x="3302000" y="39433"/>
                  <a:pt x="3290634" y="50800"/>
                  <a:pt x="3276600" y="50800"/>
                </a:cubicBezTo>
                <a:lnTo>
                  <a:pt x="25400" y="50800"/>
                </a:lnTo>
                <a:cubicBezTo>
                  <a:pt x="11366" y="50800"/>
                  <a:pt x="0" y="39433"/>
                  <a:pt x="0" y="25400"/>
                </a:cubicBezTo>
                <a:lnTo>
                  <a:pt x="0" y="25400"/>
                </a:lnTo>
                <a:cubicBezTo>
                  <a:pt x="0" y="11366"/>
                  <a:pt x="11366" y="0"/>
                  <a:pt x="2540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qm-1"/>
          <p:cNvSpPr txBox="1"/>
          <p:nvPr/>
        </p:nvSpPr>
        <p:spPr>
          <a:xfrm>
            <a:off x="1133348" y="1495044"/>
            <a:ext cx="890016" cy="1066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4800" b="1">
                <a:solidFill>
                  <a:srgbClr val="0B3E8F">
                    <a:alpha val="22000"/>
                  </a:srgbClr>
                </a:solidFill>
                <a:latin typeface="Arial"/>
                <a:ea typeface="Arial"/>
                <a:cs typeface="Arial"/>
              </a:rPr>
              <a:t>“</a:t>
            </a:r>
          </a:p>
        </p:txBody>
      </p:sp>
      <p:sp>
        <p:nvSpPr>
          <p:cNvPr id="13" name="q-1-1"/>
          <p:cNvSpPr txBox="1"/>
          <p:nvPr/>
        </p:nvSpPr>
        <p:spPr>
          <a:xfrm>
            <a:off x="1215898" y="2235613"/>
            <a:ext cx="191960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排产从人工拍脑袋变成系统给</a:t>
            </a:r>
          </a:p>
        </p:txBody>
      </p:sp>
      <p:sp>
        <p:nvSpPr>
          <p:cNvPr id="14" name="q-1-2"/>
          <p:cNvSpPr txBox="1"/>
          <p:nvPr/>
        </p:nvSpPr>
        <p:spPr>
          <a:xfrm>
            <a:off x="1215898" y="2502313"/>
            <a:ext cx="191960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方案，插单时不再全线停摆。</a:t>
            </a:r>
          </a:p>
        </p:txBody>
      </p:sp>
      <p:cxnSp>
        <p:nvCxnSpPr>
          <p:cNvPr id="15" name="div-1"/>
          <p:cNvCxnSpPr/>
          <p:nvPr/>
        </p:nvCxnSpPr>
        <p:spPr>
          <a:xfrm>
            <a:off x="1231900" y="3378200"/>
            <a:ext cx="27432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av-1"/>
          <p:cNvSpPr/>
          <p:nvPr/>
        </p:nvSpPr>
        <p:spPr>
          <a:xfrm>
            <a:off x="1231900" y="3492500"/>
            <a:ext cx="330200" cy="330200"/>
          </a:xfrm>
          <a:prstGeom prst="ellipse">
            <a:avLst/>
          </a:pr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icon-factory"/>
          <p:cNvSpPr/>
          <p:nvPr/>
        </p:nvSpPr>
        <p:spPr>
          <a:xfrm>
            <a:off x="1333310" y="3629470"/>
            <a:ext cx="127381" cy="85915"/>
          </a:xfrm>
          <a:custGeom>
            <a:avLst/>
            <a:gdLst/>
            <a:ahLst/>
            <a:cxnLst/>
            <a:rect l="0" t="0" r="r" b="b"/>
            <a:pathLst>
              <a:path w="127381" h="85915">
                <a:moveTo>
                  <a:pt x="0" y="85915"/>
                </a:moveTo>
                <a:lnTo>
                  <a:pt x="0" y="20701"/>
                </a:lnTo>
                <a:lnTo>
                  <a:pt x="37021" y="42926"/>
                </a:lnTo>
                <a:lnTo>
                  <a:pt x="37021" y="20701"/>
                </a:lnTo>
                <a:lnTo>
                  <a:pt x="74041" y="42926"/>
                </a:lnTo>
                <a:lnTo>
                  <a:pt x="74041" y="0"/>
                </a:lnTo>
                <a:lnTo>
                  <a:pt x="111125" y="22225"/>
                </a:lnTo>
                <a:lnTo>
                  <a:pt x="111125" y="78486"/>
                </a:lnTo>
                <a:close/>
                <a:moveTo>
                  <a:pt x="0" y="85915"/>
                </a:moveTo>
                <a:lnTo>
                  <a:pt x="127381" y="85915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who-1"/>
          <p:cNvSpPr txBox="1"/>
          <p:nvPr/>
        </p:nvSpPr>
        <p:spPr>
          <a:xfrm>
            <a:off x="1623822" y="3470497"/>
            <a:ext cx="96532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制造业 · 华东</a:t>
            </a:r>
          </a:p>
        </p:txBody>
      </p:sp>
      <p:sp>
        <p:nvSpPr>
          <p:cNvPr id="19" name="role-1"/>
          <p:cNvSpPr txBox="1"/>
          <p:nvPr/>
        </p:nvSpPr>
        <p:spPr>
          <a:xfrm>
            <a:off x="1627251" y="3670887"/>
            <a:ext cx="74517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设备管理负责人</a:t>
            </a:r>
          </a:p>
        </p:txBody>
      </p:sp>
      <p:sp>
        <p:nvSpPr>
          <p:cNvPr id="20" name="md-1-1"/>
          <p:cNvSpPr/>
          <p:nvPr/>
        </p:nvSpPr>
        <p:spPr>
          <a:xfrm>
            <a:off x="1259840" y="3933190"/>
            <a:ext cx="45720" cy="45720"/>
          </a:xfrm>
          <a:prstGeom prst="ellipse">
            <a:avLst/>
          </a:prstGeom>
          <a:solidFill>
            <a:srgbClr val="0B3E8F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ml-1-1"/>
          <p:cNvSpPr txBox="1"/>
          <p:nvPr/>
        </p:nvSpPr>
        <p:spPr>
          <a:xfrm>
            <a:off x="1385189" y="3866245"/>
            <a:ext cx="49244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排产耗时</a:t>
            </a:r>
          </a:p>
        </p:txBody>
      </p:sp>
      <p:sp>
        <p:nvSpPr>
          <p:cNvPr id="22" name="mv-1-1"/>
          <p:cNvSpPr txBox="1"/>
          <p:nvPr/>
        </p:nvSpPr>
        <p:spPr>
          <a:xfrm>
            <a:off x="3619754" y="3846640"/>
            <a:ext cx="36906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-72%</a:t>
            </a:r>
          </a:p>
        </p:txBody>
      </p:sp>
      <p:sp>
        <p:nvSpPr>
          <p:cNvPr id="23" name="md-1-2"/>
          <p:cNvSpPr/>
          <p:nvPr/>
        </p:nvSpPr>
        <p:spPr>
          <a:xfrm>
            <a:off x="1259840" y="4225290"/>
            <a:ext cx="45720" cy="45720"/>
          </a:xfrm>
          <a:prstGeom prst="ellipse">
            <a:avLst/>
          </a:prstGeom>
          <a:solidFill>
            <a:srgbClr val="0B3E8F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ml-1-2"/>
          <p:cNvSpPr txBox="1"/>
          <p:nvPr/>
        </p:nvSpPr>
        <p:spPr>
          <a:xfrm>
            <a:off x="1385189" y="4158345"/>
            <a:ext cx="49244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插单响应</a:t>
            </a:r>
          </a:p>
        </p:txBody>
      </p:sp>
      <p:sp>
        <p:nvSpPr>
          <p:cNvPr id="25" name="mv-1-2"/>
          <p:cNvSpPr txBox="1"/>
          <p:nvPr/>
        </p:nvSpPr>
        <p:spPr>
          <a:xfrm>
            <a:off x="3519170" y="4138740"/>
            <a:ext cx="46964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4 小时</a:t>
            </a:r>
          </a:p>
        </p:txBody>
      </p:sp>
      <p:sp>
        <p:nvSpPr>
          <p:cNvPr id="26" name="card-2"/>
          <p:cNvSpPr/>
          <p:nvPr/>
        </p:nvSpPr>
        <p:spPr>
          <a:xfrm>
            <a:off x="4445000" y="1587500"/>
            <a:ext cx="3302000" cy="2984500"/>
          </a:xfrm>
          <a:custGeom>
            <a:avLst/>
            <a:gdLst/>
            <a:ahLst/>
            <a:cxnLst/>
            <a:rect l="0" t="0" r="r" b="b"/>
            <a:pathLst>
              <a:path w="3302000" h="2984500">
                <a:moveTo>
                  <a:pt x="139700" y="0"/>
                </a:moveTo>
                <a:lnTo>
                  <a:pt x="3162300" y="0"/>
                </a:lnTo>
                <a:cubicBezTo>
                  <a:pt x="3239453" y="0"/>
                  <a:pt x="3302000" y="62548"/>
                  <a:pt x="3302000" y="139700"/>
                </a:cubicBezTo>
                <a:lnTo>
                  <a:pt x="3302000" y="2844800"/>
                </a:lnTo>
                <a:cubicBezTo>
                  <a:pt x="3302000" y="2921952"/>
                  <a:pt x="3239453" y="2984500"/>
                  <a:pt x="3162300" y="2984500"/>
                </a:cubicBezTo>
                <a:lnTo>
                  <a:pt x="139700" y="2984500"/>
                </a:lnTo>
                <a:cubicBezTo>
                  <a:pt x="62548" y="2984500"/>
                  <a:pt x="0" y="2921952"/>
                  <a:pt x="0" y="28448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326AB1"/>
              </a:gs>
              <a:gs pos="100000">
                <a:srgbClr val="1B5AA8"/>
              </a:gs>
            </a:gsLst>
            <a:lin ang="744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qm-2"/>
          <p:cNvSpPr txBox="1"/>
          <p:nvPr/>
        </p:nvSpPr>
        <p:spPr>
          <a:xfrm>
            <a:off x="4625848" y="1495044"/>
            <a:ext cx="890016" cy="1066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4800" b="1">
                <a:solidFill>
                  <a:srgbClr val="FFFFFF">
                    <a:alpha val="35000"/>
                  </a:srgbClr>
                </a:solidFill>
                <a:latin typeface="Arial"/>
                <a:ea typeface="Arial"/>
                <a:cs typeface="Arial"/>
              </a:rPr>
              <a:t>“</a:t>
            </a:r>
          </a:p>
        </p:txBody>
      </p:sp>
      <p:sp>
        <p:nvSpPr>
          <p:cNvPr id="28" name="q-2-1"/>
          <p:cNvSpPr txBox="1"/>
          <p:nvPr/>
        </p:nvSpPr>
        <p:spPr>
          <a:xfrm>
            <a:off x="4708398" y="2235613"/>
            <a:ext cx="191960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4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十二个区域仓的库存口径终于</a:t>
            </a:r>
          </a:p>
        </p:txBody>
      </p:sp>
      <p:sp>
        <p:nvSpPr>
          <p:cNvPr id="29" name="q-2-2"/>
          <p:cNvSpPr txBox="1"/>
          <p:nvPr/>
        </p:nvSpPr>
        <p:spPr>
          <a:xfrm>
            <a:off x="4708398" y="2502313"/>
            <a:ext cx="191960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4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统一了，月底盘点不用再对三</a:t>
            </a:r>
          </a:p>
        </p:txBody>
      </p:sp>
      <p:sp>
        <p:nvSpPr>
          <p:cNvPr id="30" name="q-2-3"/>
          <p:cNvSpPr txBox="1"/>
          <p:nvPr/>
        </p:nvSpPr>
        <p:spPr>
          <a:xfrm>
            <a:off x="4708398" y="2769013"/>
            <a:ext cx="53530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4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天账。</a:t>
            </a:r>
          </a:p>
        </p:txBody>
      </p:sp>
      <p:cxnSp>
        <p:nvCxnSpPr>
          <p:cNvPr id="31" name="div-2"/>
          <p:cNvCxnSpPr/>
          <p:nvPr/>
        </p:nvCxnSpPr>
        <p:spPr>
          <a:xfrm>
            <a:off x="4724400" y="3378200"/>
            <a:ext cx="2743200" cy="0"/>
          </a:xfrm>
          <a:prstGeom prst="line">
            <a:avLst/>
          </a:prstGeom>
          <a:ln w="6350" cap="rnd">
            <a:solidFill>
              <a:srgbClr val="FFFFFF">
                <a:alpha val="2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av-2"/>
          <p:cNvSpPr/>
          <p:nvPr/>
        </p:nvSpPr>
        <p:spPr>
          <a:xfrm>
            <a:off x="4724400" y="3492500"/>
            <a:ext cx="330200" cy="330200"/>
          </a:xfrm>
          <a:prstGeom prst="ellipse">
            <a:avLst/>
          </a:pr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icon-cart"/>
          <p:cNvSpPr/>
          <p:nvPr/>
        </p:nvSpPr>
        <p:spPr>
          <a:xfrm>
            <a:off x="4824286" y="3602800"/>
            <a:ext cx="117792" cy="69596"/>
          </a:xfrm>
          <a:custGeom>
            <a:avLst/>
            <a:gdLst/>
            <a:ahLst/>
            <a:cxnLst/>
            <a:rect l="0" t="0" r="r" b="b"/>
            <a:pathLst>
              <a:path w="117792" h="69596">
                <a:moveTo>
                  <a:pt x="0" y="0"/>
                </a:moveTo>
                <a:lnTo>
                  <a:pt x="17081" y="0"/>
                </a:lnTo>
                <a:lnTo>
                  <a:pt x="34100" y="69596"/>
                </a:lnTo>
                <a:lnTo>
                  <a:pt x="103759" y="69596"/>
                </a:lnTo>
                <a:lnTo>
                  <a:pt x="117792" y="20701"/>
                </a:lnTo>
                <a:lnTo>
                  <a:pt x="22225" y="20701"/>
                </a:lnTo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icon-cart"/>
          <p:cNvSpPr/>
          <p:nvPr/>
        </p:nvSpPr>
        <p:spPr>
          <a:xfrm>
            <a:off x="4859867" y="3694642"/>
            <a:ext cx="20743" cy="20743"/>
          </a:xfrm>
          <a:prstGeom prst="ellipse">
            <a:avLst/>
          </a:pr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icon-cart"/>
          <p:cNvSpPr/>
          <p:nvPr/>
        </p:nvSpPr>
        <p:spPr>
          <a:xfrm>
            <a:off x="4913207" y="3694642"/>
            <a:ext cx="20743" cy="20743"/>
          </a:xfrm>
          <a:prstGeom prst="ellipse">
            <a:avLst/>
          </a:pr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who-2"/>
          <p:cNvSpPr txBox="1"/>
          <p:nvPr/>
        </p:nvSpPr>
        <p:spPr>
          <a:xfrm>
            <a:off x="5116322" y="3470497"/>
            <a:ext cx="109232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零售连锁 · 全国</a:t>
            </a:r>
          </a:p>
        </p:txBody>
      </p:sp>
      <p:sp>
        <p:nvSpPr>
          <p:cNvPr id="37" name="role-2"/>
          <p:cNvSpPr txBox="1"/>
          <p:nvPr/>
        </p:nvSpPr>
        <p:spPr>
          <a:xfrm>
            <a:off x="5119751" y="3670887"/>
            <a:ext cx="55594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D7E6F7"/>
                </a:solidFill>
                <a:latin typeface="微软雅黑"/>
                <a:ea typeface="微软雅黑"/>
                <a:cs typeface="微软雅黑"/>
              </a:rPr>
              <a:t>供应链总监</a:t>
            </a:r>
          </a:p>
        </p:txBody>
      </p:sp>
      <p:sp>
        <p:nvSpPr>
          <p:cNvPr id="38" name="md-2-1"/>
          <p:cNvSpPr/>
          <p:nvPr/>
        </p:nvSpPr>
        <p:spPr>
          <a:xfrm>
            <a:off x="4752340" y="3933190"/>
            <a:ext cx="45720" cy="45720"/>
          </a:xfrm>
          <a:prstGeom prst="ellipse">
            <a:avLst/>
          </a:prstGeom>
          <a:solidFill>
            <a:srgbClr val="FFFFFF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ml-2-1"/>
          <p:cNvSpPr txBox="1"/>
          <p:nvPr/>
        </p:nvSpPr>
        <p:spPr>
          <a:xfrm>
            <a:off x="4877689" y="3866245"/>
            <a:ext cx="49244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20">
                <a:solidFill>
                  <a:srgbClr val="D7E6F7"/>
                </a:solidFill>
                <a:latin typeface="微软雅黑"/>
                <a:ea typeface="微软雅黑"/>
                <a:cs typeface="微软雅黑"/>
              </a:rPr>
              <a:t>盘点周期</a:t>
            </a:r>
          </a:p>
        </p:txBody>
      </p:sp>
      <p:sp>
        <p:nvSpPr>
          <p:cNvPr id="40" name="mv-2-1"/>
          <p:cNvSpPr txBox="1"/>
          <p:nvPr/>
        </p:nvSpPr>
        <p:spPr>
          <a:xfrm>
            <a:off x="6562090" y="3846640"/>
            <a:ext cx="91922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3 天 → 4 小时</a:t>
            </a:r>
          </a:p>
        </p:txBody>
      </p:sp>
      <p:sp>
        <p:nvSpPr>
          <p:cNvPr id="41" name="md-2-2"/>
          <p:cNvSpPr/>
          <p:nvPr/>
        </p:nvSpPr>
        <p:spPr>
          <a:xfrm>
            <a:off x="4752340" y="4225290"/>
            <a:ext cx="45720" cy="45720"/>
          </a:xfrm>
          <a:prstGeom prst="ellipse">
            <a:avLst/>
          </a:prstGeom>
          <a:solidFill>
            <a:srgbClr val="FFFFFF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ml-2-2"/>
          <p:cNvSpPr txBox="1"/>
          <p:nvPr/>
        </p:nvSpPr>
        <p:spPr>
          <a:xfrm>
            <a:off x="4877689" y="4158345"/>
            <a:ext cx="49244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20">
                <a:solidFill>
                  <a:srgbClr val="D7E6F7"/>
                </a:solidFill>
                <a:latin typeface="微软雅黑"/>
                <a:ea typeface="微软雅黑"/>
                <a:cs typeface="微软雅黑"/>
              </a:rPr>
              <a:t>库存周转</a:t>
            </a:r>
          </a:p>
        </p:txBody>
      </p:sp>
      <p:sp>
        <p:nvSpPr>
          <p:cNvPr id="43" name="mv-2-2"/>
          <p:cNvSpPr txBox="1"/>
          <p:nvPr/>
        </p:nvSpPr>
        <p:spPr>
          <a:xfrm>
            <a:off x="7112254" y="4138740"/>
            <a:ext cx="36906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+38%</a:t>
            </a:r>
          </a:p>
        </p:txBody>
      </p:sp>
      <p:sp>
        <p:nvSpPr>
          <p:cNvPr id="44" name="card-3"/>
          <p:cNvSpPr/>
          <p:nvPr/>
        </p:nvSpPr>
        <p:spPr>
          <a:xfrm>
            <a:off x="7937500" y="1587500"/>
            <a:ext cx="3302000" cy="2984500"/>
          </a:xfrm>
          <a:custGeom>
            <a:avLst/>
            <a:gdLst/>
            <a:ahLst/>
            <a:cxnLst/>
            <a:rect l="0" t="0" r="r" b="b"/>
            <a:pathLst>
              <a:path w="3302000" h="2984500">
                <a:moveTo>
                  <a:pt x="139700" y="0"/>
                </a:moveTo>
                <a:lnTo>
                  <a:pt x="3162300" y="0"/>
                </a:lnTo>
                <a:cubicBezTo>
                  <a:pt x="3239453" y="0"/>
                  <a:pt x="3302000" y="62548"/>
                  <a:pt x="3302000" y="139700"/>
                </a:cubicBezTo>
                <a:lnTo>
                  <a:pt x="3302000" y="2844800"/>
                </a:lnTo>
                <a:cubicBezTo>
                  <a:pt x="3302000" y="2921952"/>
                  <a:pt x="3239453" y="2984500"/>
                  <a:pt x="3162300" y="2984500"/>
                </a:cubicBezTo>
                <a:lnTo>
                  <a:pt x="139700" y="2984500"/>
                </a:lnTo>
                <a:cubicBezTo>
                  <a:pt x="62547" y="2984500"/>
                  <a:pt x="0" y="2921952"/>
                  <a:pt x="0" y="28448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cap-3"/>
          <p:cNvSpPr/>
          <p:nvPr/>
        </p:nvSpPr>
        <p:spPr>
          <a:xfrm>
            <a:off x="7937500" y="1587500"/>
            <a:ext cx="3302000" cy="50800"/>
          </a:xfrm>
          <a:custGeom>
            <a:avLst/>
            <a:gdLst/>
            <a:ahLst/>
            <a:cxnLst/>
            <a:rect l="0" t="0" r="r" b="b"/>
            <a:pathLst>
              <a:path w="3302000" h="50800">
                <a:moveTo>
                  <a:pt x="25400" y="0"/>
                </a:moveTo>
                <a:lnTo>
                  <a:pt x="3276600" y="0"/>
                </a:lnTo>
                <a:cubicBezTo>
                  <a:pt x="3290634" y="0"/>
                  <a:pt x="3302000" y="11366"/>
                  <a:pt x="3302000" y="25400"/>
                </a:cubicBezTo>
                <a:lnTo>
                  <a:pt x="3302000" y="25400"/>
                </a:lnTo>
                <a:cubicBezTo>
                  <a:pt x="3302000" y="39433"/>
                  <a:pt x="3290634" y="50800"/>
                  <a:pt x="3276600" y="50800"/>
                </a:cubicBezTo>
                <a:lnTo>
                  <a:pt x="25400" y="50800"/>
                </a:lnTo>
                <a:cubicBezTo>
                  <a:pt x="11366" y="50800"/>
                  <a:pt x="0" y="39433"/>
                  <a:pt x="0" y="25400"/>
                </a:cubicBezTo>
                <a:lnTo>
                  <a:pt x="0" y="25400"/>
                </a:lnTo>
                <a:cubicBezTo>
                  <a:pt x="0" y="11366"/>
                  <a:pt x="11366" y="0"/>
                  <a:pt x="2540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qm-3"/>
          <p:cNvSpPr txBox="1"/>
          <p:nvPr/>
        </p:nvSpPr>
        <p:spPr>
          <a:xfrm>
            <a:off x="8118348" y="1495044"/>
            <a:ext cx="890016" cy="1066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4800" b="1">
                <a:solidFill>
                  <a:srgbClr val="2E77C2">
                    <a:alpha val="22000"/>
                  </a:srgbClr>
                </a:solidFill>
                <a:latin typeface="Arial"/>
                <a:ea typeface="Arial"/>
                <a:cs typeface="Arial"/>
              </a:rPr>
              <a:t>“</a:t>
            </a:r>
          </a:p>
        </p:txBody>
      </p:sp>
      <p:sp>
        <p:nvSpPr>
          <p:cNvPr id="47" name="q-3-1"/>
          <p:cNvSpPr txBox="1"/>
          <p:nvPr/>
        </p:nvSpPr>
        <p:spPr>
          <a:xfrm>
            <a:off x="8200898" y="2235613"/>
            <a:ext cx="191960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合规审计要的记录，系统里点</a:t>
            </a:r>
          </a:p>
        </p:txBody>
      </p:sp>
      <p:sp>
        <p:nvSpPr>
          <p:cNvPr id="48" name="q-3-2"/>
          <p:cNvSpPr txBox="1"/>
          <p:nvPr/>
        </p:nvSpPr>
        <p:spPr>
          <a:xfrm>
            <a:off x="8200898" y="2502313"/>
            <a:ext cx="191960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两下就能导出，检查当天就过</a:t>
            </a:r>
          </a:p>
        </p:txBody>
      </p:sp>
      <p:sp>
        <p:nvSpPr>
          <p:cNvPr id="49" name="q-3-3"/>
          <p:cNvSpPr txBox="1"/>
          <p:nvPr/>
        </p:nvSpPr>
        <p:spPr>
          <a:xfrm>
            <a:off x="8200898" y="2769013"/>
            <a:ext cx="39687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了。</a:t>
            </a:r>
          </a:p>
        </p:txBody>
      </p:sp>
      <p:cxnSp>
        <p:nvCxnSpPr>
          <p:cNvPr id="50" name="div-3"/>
          <p:cNvCxnSpPr/>
          <p:nvPr/>
        </p:nvCxnSpPr>
        <p:spPr>
          <a:xfrm>
            <a:off x="8216900" y="3378200"/>
            <a:ext cx="27432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av-3"/>
          <p:cNvSpPr/>
          <p:nvPr/>
        </p:nvSpPr>
        <p:spPr>
          <a:xfrm>
            <a:off x="8216900" y="3492500"/>
            <a:ext cx="330200" cy="330200"/>
          </a:xfrm>
          <a:prstGeom prst="ellipse">
            <a:avLst/>
          </a:prstGeom>
          <a:solidFill>
            <a:srgbClr val="2E77C2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icon-shield"/>
          <p:cNvSpPr/>
          <p:nvPr/>
        </p:nvSpPr>
        <p:spPr>
          <a:xfrm>
            <a:off x="8328660" y="3593910"/>
            <a:ext cx="106680" cy="127381"/>
          </a:xfrm>
          <a:custGeom>
            <a:avLst/>
            <a:gdLst/>
            <a:ahLst/>
            <a:cxnLst/>
            <a:rect l="0" t="0" r="r" b="b"/>
            <a:pathLst>
              <a:path w="106680" h="127381">
                <a:moveTo>
                  <a:pt x="53340" y="0"/>
                </a:moveTo>
                <a:lnTo>
                  <a:pt x="106680" y="20701"/>
                </a:lnTo>
                <a:lnTo>
                  <a:pt x="106680" y="62230"/>
                </a:lnTo>
                <a:cubicBezTo>
                  <a:pt x="106680" y="93345"/>
                  <a:pt x="84455" y="117030"/>
                  <a:pt x="53340" y="127381"/>
                </a:cubicBezTo>
                <a:cubicBezTo>
                  <a:pt x="22225" y="117030"/>
                  <a:pt x="0" y="93345"/>
                  <a:pt x="0" y="62230"/>
                </a:cubicBezTo>
                <a:lnTo>
                  <a:pt x="0" y="20701"/>
                </a:lnTo>
                <a:close/>
                <a:moveTo>
                  <a:pt x="31115" y="63690"/>
                </a:moveTo>
                <a:lnTo>
                  <a:pt x="47435" y="80010"/>
                </a:lnTo>
                <a:lnTo>
                  <a:pt x="78550" y="48895"/>
                </a:lnTo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who-3"/>
          <p:cNvSpPr txBox="1"/>
          <p:nvPr/>
        </p:nvSpPr>
        <p:spPr>
          <a:xfrm>
            <a:off x="8608822" y="3470497"/>
            <a:ext cx="1092327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金融机构 · 华南</a:t>
            </a:r>
          </a:p>
        </p:txBody>
      </p:sp>
      <p:sp>
        <p:nvSpPr>
          <p:cNvPr id="54" name="role-3"/>
          <p:cNvSpPr txBox="1"/>
          <p:nvPr/>
        </p:nvSpPr>
        <p:spPr>
          <a:xfrm>
            <a:off x="8612251" y="3670887"/>
            <a:ext cx="55594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运营部经理</a:t>
            </a:r>
          </a:p>
        </p:txBody>
      </p:sp>
      <p:sp>
        <p:nvSpPr>
          <p:cNvPr id="55" name="md-3-1"/>
          <p:cNvSpPr/>
          <p:nvPr/>
        </p:nvSpPr>
        <p:spPr>
          <a:xfrm>
            <a:off x="8244840" y="3933190"/>
            <a:ext cx="45720" cy="45720"/>
          </a:xfrm>
          <a:prstGeom prst="ellipse">
            <a:avLst/>
          </a:prstGeom>
          <a:solidFill>
            <a:srgbClr val="2E77C2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ml-3-1"/>
          <p:cNvSpPr txBox="1"/>
          <p:nvPr/>
        </p:nvSpPr>
        <p:spPr>
          <a:xfrm>
            <a:off x="8370189" y="3866245"/>
            <a:ext cx="49244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审计准备</a:t>
            </a:r>
          </a:p>
        </p:txBody>
      </p:sp>
      <p:sp>
        <p:nvSpPr>
          <p:cNvPr id="57" name="mv-3-1"/>
          <p:cNvSpPr txBox="1"/>
          <p:nvPr/>
        </p:nvSpPr>
        <p:spPr>
          <a:xfrm>
            <a:off x="10604754" y="3846640"/>
            <a:ext cx="36906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0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-85%</a:t>
            </a:r>
          </a:p>
        </p:txBody>
      </p:sp>
      <p:sp>
        <p:nvSpPr>
          <p:cNvPr id="58" name="md-3-2"/>
          <p:cNvSpPr/>
          <p:nvPr/>
        </p:nvSpPr>
        <p:spPr>
          <a:xfrm>
            <a:off x="8244840" y="4225290"/>
            <a:ext cx="45720" cy="45720"/>
          </a:xfrm>
          <a:prstGeom prst="ellipse">
            <a:avLst/>
          </a:prstGeom>
          <a:solidFill>
            <a:srgbClr val="2E77C2">
              <a:alpha val="8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ml-3-2"/>
          <p:cNvSpPr txBox="1"/>
          <p:nvPr/>
        </p:nvSpPr>
        <p:spPr>
          <a:xfrm>
            <a:off x="8370189" y="4158345"/>
            <a:ext cx="593408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一次通过率</a:t>
            </a:r>
          </a:p>
        </p:txBody>
      </p:sp>
      <p:sp>
        <p:nvSpPr>
          <p:cNvPr id="60" name="mv-3-2"/>
          <p:cNvSpPr txBox="1"/>
          <p:nvPr/>
        </p:nvSpPr>
        <p:spPr>
          <a:xfrm>
            <a:off x="10604754" y="4138740"/>
            <a:ext cx="36906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20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100%</a:t>
            </a:r>
          </a:p>
        </p:txBody>
      </p:sp>
      <p:sp>
        <p:nvSpPr>
          <p:cNvPr id="61" name="stat"/>
          <p:cNvSpPr/>
          <p:nvPr/>
        </p:nvSpPr>
        <p:spPr>
          <a:xfrm>
            <a:off x="952500" y="4838700"/>
            <a:ext cx="10287000" cy="736600"/>
          </a:xfrm>
          <a:custGeom>
            <a:avLst/>
            <a:gdLst/>
            <a:ahLst/>
            <a:cxnLst/>
            <a:rect l="0" t="0" r="r" b="b"/>
            <a:pathLst>
              <a:path w="10287000" h="736600">
                <a:moveTo>
                  <a:pt x="127000" y="0"/>
                </a:moveTo>
                <a:lnTo>
                  <a:pt x="10160000" y="0"/>
                </a:lnTo>
                <a:cubicBezTo>
                  <a:pt x="10230168" y="0"/>
                  <a:pt x="10287000" y="56833"/>
                  <a:pt x="10287000" y="127000"/>
                </a:cubicBezTo>
                <a:lnTo>
                  <a:pt x="10287000" y="609600"/>
                </a:lnTo>
                <a:cubicBezTo>
                  <a:pt x="10287000" y="679767"/>
                  <a:pt x="10230168" y="736600"/>
                  <a:pt x="10160000" y="736600"/>
                </a:cubicBezTo>
                <a:lnTo>
                  <a:pt x="127000" y="736600"/>
                </a:lnTo>
                <a:cubicBezTo>
                  <a:pt x="56832" y="736600"/>
                  <a:pt x="0" y="679767"/>
                  <a:pt x="0" y="609600"/>
                </a:cubicBezTo>
                <a:lnTo>
                  <a:pt x="0" y="127000"/>
                </a:lnTo>
                <a:cubicBezTo>
                  <a:pt x="0" y="56833"/>
                  <a:pt x="56832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0A3A88"/>
              </a:gs>
            </a:gsLst>
            <a:lin ang="0" scaled="0"/>
          </a:gra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icon-award"/>
          <p:cNvSpPr/>
          <p:nvPr/>
        </p:nvSpPr>
        <p:spPr>
          <a:xfrm>
            <a:off x="1321118" y="5230368"/>
            <a:ext cx="75565" cy="52197"/>
          </a:xfrm>
          <a:custGeom>
            <a:avLst/>
            <a:gdLst/>
            <a:ahLst/>
            <a:cxnLst/>
            <a:rect l="0" t="0" r="r" b="b"/>
            <a:pathLst>
              <a:path w="75565" h="52197">
                <a:moveTo>
                  <a:pt x="14414" y="0"/>
                </a:moveTo>
                <a:lnTo>
                  <a:pt x="0" y="52197"/>
                </a:lnTo>
                <a:lnTo>
                  <a:pt x="37782" y="32385"/>
                </a:lnTo>
                <a:lnTo>
                  <a:pt x="75565" y="52197"/>
                </a:lnTo>
                <a:lnTo>
                  <a:pt x="61150" y="0"/>
                </a:lnTo>
              </a:path>
            </a:pathLst>
          </a:cu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icon-award"/>
          <p:cNvSpPr/>
          <p:nvPr/>
        </p:nvSpPr>
        <p:spPr>
          <a:xfrm>
            <a:off x="1308523" y="5133234"/>
            <a:ext cx="100753" cy="100753"/>
          </a:xfrm>
          <a:prstGeom prst="ellipse">
            <a:avLst/>
          </a:prstGeom>
          <a:noFill/>
          <a:ln w="13335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stat-h"/>
          <p:cNvSpPr txBox="1"/>
          <p:nvPr/>
        </p:nvSpPr>
        <p:spPr>
          <a:xfrm>
            <a:off x="1595374" y="4975828"/>
            <a:ext cx="7791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整体口碑</a:t>
            </a:r>
          </a:p>
        </p:txBody>
      </p:sp>
      <p:sp>
        <p:nvSpPr>
          <p:cNvPr id="65" name="stat-p"/>
          <p:cNvSpPr txBox="1"/>
          <p:nvPr/>
        </p:nvSpPr>
        <p:spPr>
          <a:xfrm>
            <a:off x="1602232" y="5236908"/>
            <a:ext cx="73025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40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2026 年度调研</a:t>
            </a:r>
          </a:p>
        </p:txBody>
      </p:sp>
      <p:sp>
        <p:nvSpPr>
          <p:cNvPr id="66" name="sv-1"/>
          <p:cNvSpPr txBox="1"/>
          <p:nvPr/>
        </p:nvSpPr>
        <p:spPr>
          <a:xfrm>
            <a:off x="3531616" y="4956048"/>
            <a:ext cx="770890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600" b="1" spc="30">
                <a:solidFill>
                  <a:srgbClr val="FFFFFF"/>
                </a:solidFill>
                <a:latin typeface="Arial"/>
                <a:ea typeface="Arial"/>
                <a:cs typeface="Arial"/>
              </a:rPr>
              <a:t>96.4%</a:t>
            </a:r>
          </a:p>
        </p:txBody>
      </p:sp>
      <p:sp>
        <p:nvSpPr>
          <p:cNvPr id="67" name="sl-1"/>
          <p:cNvSpPr txBox="1"/>
          <p:nvPr/>
        </p:nvSpPr>
        <p:spPr>
          <a:xfrm>
            <a:off x="3544951" y="5283787"/>
            <a:ext cx="5591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5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客户续约率</a:t>
            </a:r>
          </a:p>
        </p:txBody>
      </p:sp>
      <p:cxnSp>
        <p:nvCxnSpPr>
          <p:cNvPr id="68" name="ssep-1"/>
          <p:cNvCxnSpPr/>
          <p:nvPr/>
        </p:nvCxnSpPr>
        <p:spPr>
          <a:xfrm>
            <a:off x="5156200" y="5041900"/>
            <a:ext cx="0" cy="330200"/>
          </a:xfrm>
          <a:prstGeom prst="line">
            <a:avLst/>
          </a:prstGeom>
          <a:ln w="6350" cap="rnd">
            <a:solidFill>
              <a:srgbClr val="FFFFFF">
                <a:alpha val="2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9" name="sv-2"/>
          <p:cNvSpPr txBox="1"/>
          <p:nvPr/>
        </p:nvSpPr>
        <p:spPr>
          <a:xfrm>
            <a:off x="5436616" y="4956048"/>
            <a:ext cx="418084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600" b="1" spc="30">
                <a:solidFill>
                  <a:srgbClr val="FFFFFF"/>
                </a:solidFill>
                <a:latin typeface="Arial"/>
                <a:ea typeface="Arial"/>
                <a:cs typeface="Arial"/>
              </a:rPr>
              <a:t>68</a:t>
            </a:r>
          </a:p>
        </p:txBody>
      </p:sp>
      <p:sp>
        <p:nvSpPr>
          <p:cNvPr id="70" name="sl-2"/>
          <p:cNvSpPr txBox="1"/>
          <p:nvPr/>
        </p:nvSpPr>
        <p:spPr>
          <a:xfrm>
            <a:off x="5449951" y="5283787"/>
            <a:ext cx="682816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5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NPS 净推荐值</a:t>
            </a:r>
          </a:p>
        </p:txBody>
      </p:sp>
      <p:cxnSp>
        <p:nvCxnSpPr>
          <p:cNvPr id="71" name="ssep-2"/>
          <p:cNvCxnSpPr/>
          <p:nvPr/>
        </p:nvCxnSpPr>
        <p:spPr>
          <a:xfrm>
            <a:off x="7061200" y="5041900"/>
            <a:ext cx="0" cy="330200"/>
          </a:xfrm>
          <a:prstGeom prst="line">
            <a:avLst/>
          </a:prstGeom>
          <a:ln w="6350" cap="rnd">
            <a:solidFill>
              <a:srgbClr val="FFFFFF">
                <a:alpha val="2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2" name="sv-3"/>
          <p:cNvSpPr txBox="1"/>
          <p:nvPr/>
        </p:nvSpPr>
        <p:spPr>
          <a:xfrm>
            <a:off x="7341616" y="4956048"/>
            <a:ext cx="770890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600" b="1" spc="30">
                <a:solidFill>
                  <a:srgbClr val="FFFFFF"/>
                </a:solidFill>
                <a:latin typeface="Arial"/>
                <a:ea typeface="Arial"/>
                <a:cs typeface="Arial"/>
              </a:rPr>
              <a:t>1,286</a:t>
            </a:r>
          </a:p>
        </p:txBody>
      </p:sp>
      <p:sp>
        <p:nvSpPr>
          <p:cNvPr id="73" name="sl-3"/>
          <p:cNvSpPr txBox="1"/>
          <p:nvPr/>
        </p:nvSpPr>
        <p:spPr>
          <a:xfrm>
            <a:off x="7354951" y="5283787"/>
            <a:ext cx="65436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5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本年新增客户</a:t>
            </a:r>
          </a:p>
        </p:txBody>
      </p:sp>
      <p:cxnSp>
        <p:nvCxnSpPr>
          <p:cNvPr id="74" name="ssep-3"/>
          <p:cNvCxnSpPr/>
          <p:nvPr/>
        </p:nvCxnSpPr>
        <p:spPr>
          <a:xfrm>
            <a:off x="8966200" y="5041900"/>
            <a:ext cx="0" cy="330200"/>
          </a:xfrm>
          <a:prstGeom prst="line">
            <a:avLst/>
          </a:prstGeom>
          <a:ln w="6350" cap="rnd">
            <a:solidFill>
              <a:srgbClr val="FFFFFF">
                <a:alpha val="2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5" name="sv-4"/>
          <p:cNvSpPr txBox="1"/>
          <p:nvPr/>
        </p:nvSpPr>
        <p:spPr>
          <a:xfrm>
            <a:off x="9246616" y="4956048"/>
            <a:ext cx="1006094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600" b="1" spc="30">
                <a:solidFill>
                  <a:srgbClr val="FFFFFF"/>
                </a:solidFill>
                <a:latin typeface="Arial"/>
                <a:ea typeface="Arial"/>
                <a:cs typeface="Arial"/>
              </a:rPr>
              <a:t>4.8 / 5</a:t>
            </a:r>
          </a:p>
        </p:txBody>
      </p:sp>
      <p:sp>
        <p:nvSpPr>
          <p:cNvPr id="76" name="sl-4"/>
          <p:cNvSpPr txBox="1"/>
          <p:nvPr/>
        </p:nvSpPr>
        <p:spPr>
          <a:xfrm>
            <a:off x="9259951" y="5283787"/>
            <a:ext cx="5591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5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服务满意度</a:t>
            </a:r>
          </a:p>
        </p:txBody>
      </p:sp>
      <p:sp>
        <p:nvSpPr>
          <p:cNvPr id="77" name="src-h"/>
          <p:cNvSpPr txBox="1"/>
          <p:nvPr/>
        </p:nvSpPr>
        <p:spPr>
          <a:xfrm>
            <a:off x="941070" y="5813266"/>
            <a:ext cx="5175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样本说明</a:t>
            </a:r>
          </a:p>
        </p:txBody>
      </p:sp>
      <p:sp>
        <p:nvSpPr>
          <p:cNvPr id="78" name="src-p"/>
          <p:cNvSpPr txBox="1"/>
          <p:nvPr/>
        </p:nvSpPr>
        <p:spPr>
          <a:xfrm>
            <a:off x="1652270" y="5813266"/>
            <a:ext cx="41370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引文摘自 2026 年客户回访记录，均已获授权匿名使用；指标为客户方提供的前后对照数据。</a:t>
            </a:r>
          </a:p>
        </p:txBody>
      </p:sp>
      <p:cxnSp>
        <p:nvCxnSpPr>
          <p:cNvPr id="79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0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客户声音 · 三类反馈</a:t>
            </a:r>
          </a:p>
        </p:txBody>
      </p:sp>
      <p:sp>
        <p:nvSpPr>
          <p:cNvPr id="81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689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项目角色职责矩阵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08165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RACI MATRIX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551799" y="673132"/>
            <a:ext cx="30689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六个环节、五个角色，谁负责、谁批准、谁被咨询一目了然</a:t>
            </a:r>
          </a:p>
        </p:txBody>
      </p:sp>
      <p:sp>
        <p:nvSpPr>
          <p:cNvPr id="10" name="rh-1"/>
          <p:cNvSpPr/>
          <p:nvPr/>
        </p:nvSpPr>
        <p:spPr>
          <a:xfrm>
            <a:off x="3937000" y="1460500"/>
            <a:ext cx="1346200" cy="508000"/>
          </a:xfrm>
          <a:custGeom>
            <a:avLst/>
            <a:gdLst/>
            <a:ahLst/>
            <a:cxnLst/>
            <a:rect l="0" t="0" r="r" b="b"/>
            <a:pathLst>
              <a:path w="1346200" h="508000">
                <a:moveTo>
                  <a:pt x="101600" y="0"/>
                </a:moveTo>
                <a:lnTo>
                  <a:pt x="1244600" y="0"/>
                </a:lnTo>
                <a:cubicBezTo>
                  <a:pt x="1300734" y="0"/>
                  <a:pt x="1346200" y="45466"/>
                  <a:pt x="1346200" y="101600"/>
                </a:cubicBezTo>
                <a:lnTo>
                  <a:pt x="1346200" y="406400"/>
                </a:lnTo>
                <a:cubicBezTo>
                  <a:pt x="1346200" y="462534"/>
                  <a:pt x="1300734" y="508000"/>
                  <a:pt x="1244600" y="508000"/>
                </a:cubicBezTo>
                <a:lnTo>
                  <a:pt x="101600" y="508000"/>
                </a:lnTo>
                <a:cubicBezTo>
                  <a:pt x="45466" y="508000"/>
                  <a:pt x="0" y="462534"/>
                  <a:pt x="0" y="4064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rhc-1"/>
          <p:cNvSpPr/>
          <p:nvPr/>
        </p:nvSpPr>
        <p:spPr>
          <a:xfrm>
            <a:off x="3937000" y="1460500"/>
            <a:ext cx="1346200" cy="31750"/>
          </a:xfrm>
          <a:custGeom>
            <a:avLst/>
            <a:gdLst/>
            <a:ahLst/>
            <a:cxnLst/>
            <a:rect l="0" t="0" r="r" b="b"/>
            <a:pathLst>
              <a:path w="1346200" h="31750">
                <a:moveTo>
                  <a:pt x="15875" y="0"/>
                </a:moveTo>
                <a:lnTo>
                  <a:pt x="1330325" y="0"/>
                </a:lnTo>
                <a:cubicBezTo>
                  <a:pt x="1339088" y="0"/>
                  <a:pt x="1346200" y="7112"/>
                  <a:pt x="1346200" y="15875"/>
                </a:cubicBezTo>
                <a:lnTo>
                  <a:pt x="1346200" y="15875"/>
                </a:lnTo>
                <a:cubicBezTo>
                  <a:pt x="1346200" y="24638"/>
                  <a:pt x="1339088" y="31750"/>
                  <a:pt x="1330325" y="31750"/>
                </a:cubicBezTo>
                <a:lnTo>
                  <a:pt x="15875" y="31750"/>
                </a:lnTo>
                <a:cubicBezTo>
                  <a:pt x="7112" y="31750"/>
                  <a:pt x="0" y="24638"/>
                  <a:pt x="0" y="1587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icon-process"/>
          <p:cNvSpPr/>
          <p:nvPr/>
        </p:nvSpPr>
        <p:spPr>
          <a:xfrm>
            <a:off x="4105910" y="1701800"/>
            <a:ext cx="93980" cy="50800"/>
          </a:xfrm>
          <a:custGeom>
            <a:avLst/>
            <a:gdLst/>
            <a:ahLst/>
            <a:cxnLst/>
            <a:rect l="0" t="0" r="r" b="b"/>
            <a:pathLst>
              <a:path w="93980" h="50800">
                <a:moveTo>
                  <a:pt x="0" y="0"/>
                </a:moveTo>
                <a:lnTo>
                  <a:pt x="33020" y="0"/>
                </a:lnTo>
                <a:lnTo>
                  <a:pt x="33020" y="33020"/>
                </a:lnTo>
                <a:lnTo>
                  <a:pt x="0" y="33020"/>
                </a:lnTo>
                <a:close/>
                <a:moveTo>
                  <a:pt x="60960" y="17780"/>
                </a:moveTo>
                <a:lnTo>
                  <a:pt x="93980" y="17780"/>
                </a:lnTo>
                <a:lnTo>
                  <a:pt x="93980" y="50800"/>
                </a:lnTo>
                <a:lnTo>
                  <a:pt x="60960" y="50800"/>
                </a:lnTo>
                <a:close/>
                <a:moveTo>
                  <a:pt x="33020" y="16510"/>
                </a:moveTo>
                <a:lnTo>
                  <a:pt x="60960" y="16510"/>
                </a:lnTo>
              </a:path>
            </a:pathLst>
          </a:custGeom>
          <a:noFill/>
          <a:ln w="1206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rhn-1"/>
          <p:cNvSpPr txBox="1"/>
          <p:nvPr/>
        </p:nvSpPr>
        <p:spPr>
          <a:xfrm>
            <a:off x="4292346" y="1631982"/>
            <a:ext cx="54927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项目经理</a:t>
            </a:r>
          </a:p>
        </p:txBody>
      </p:sp>
      <p:sp>
        <p:nvSpPr>
          <p:cNvPr id="14" name="rha-1"/>
          <p:cNvSpPr txBox="1"/>
          <p:nvPr/>
        </p:nvSpPr>
        <p:spPr>
          <a:xfrm>
            <a:off x="4987290" y="1655508"/>
            <a:ext cx="1922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50">
                <a:solidFill>
                  <a:srgbClr val="7E93AE"/>
                </a:solidFill>
                <a:latin typeface="Arial"/>
                <a:ea typeface="Arial"/>
                <a:cs typeface="Arial"/>
              </a:rPr>
              <a:t>PM</a:t>
            </a:r>
          </a:p>
        </p:txBody>
      </p:sp>
      <p:sp>
        <p:nvSpPr>
          <p:cNvPr id="15" name="rh-2"/>
          <p:cNvSpPr/>
          <p:nvPr/>
        </p:nvSpPr>
        <p:spPr>
          <a:xfrm>
            <a:off x="5359400" y="1460500"/>
            <a:ext cx="1346200" cy="508000"/>
          </a:xfrm>
          <a:custGeom>
            <a:avLst/>
            <a:gdLst/>
            <a:ahLst/>
            <a:cxnLst/>
            <a:rect l="0" t="0" r="r" b="b"/>
            <a:pathLst>
              <a:path w="1346200" h="508000">
                <a:moveTo>
                  <a:pt x="101600" y="0"/>
                </a:moveTo>
                <a:lnTo>
                  <a:pt x="1244600" y="0"/>
                </a:lnTo>
                <a:cubicBezTo>
                  <a:pt x="1300734" y="0"/>
                  <a:pt x="1346200" y="45466"/>
                  <a:pt x="1346200" y="101600"/>
                </a:cubicBezTo>
                <a:lnTo>
                  <a:pt x="1346200" y="406400"/>
                </a:lnTo>
                <a:cubicBezTo>
                  <a:pt x="1346200" y="462534"/>
                  <a:pt x="1300734" y="508000"/>
                  <a:pt x="1244600" y="508000"/>
                </a:cubicBezTo>
                <a:lnTo>
                  <a:pt x="101600" y="508000"/>
                </a:lnTo>
                <a:cubicBezTo>
                  <a:pt x="45466" y="508000"/>
                  <a:pt x="0" y="462534"/>
                  <a:pt x="0" y="4064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rhc-2"/>
          <p:cNvSpPr/>
          <p:nvPr/>
        </p:nvSpPr>
        <p:spPr>
          <a:xfrm>
            <a:off x="5359400" y="1460500"/>
            <a:ext cx="1346200" cy="31750"/>
          </a:xfrm>
          <a:custGeom>
            <a:avLst/>
            <a:gdLst/>
            <a:ahLst/>
            <a:cxnLst/>
            <a:rect l="0" t="0" r="r" b="b"/>
            <a:pathLst>
              <a:path w="1346200" h="31750">
                <a:moveTo>
                  <a:pt x="15875" y="0"/>
                </a:moveTo>
                <a:lnTo>
                  <a:pt x="1330325" y="0"/>
                </a:lnTo>
                <a:cubicBezTo>
                  <a:pt x="1339088" y="0"/>
                  <a:pt x="1346200" y="7112"/>
                  <a:pt x="1346200" y="15875"/>
                </a:cubicBezTo>
                <a:lnTo>
                  <a:pt x="1346200" y="15875"/>
                </a:lnTo>
                <a:cubicBezTo>
                  <a:pt x="1346200" y="24638"/>
                  <a:pt x="1339088" y="31750"/>
                  <a:pt x="1330325" y="31750"/>
                </a:cubicBezTo>
                <a:lnTo>
                  <a:pt x="15875" y="31750"/>
                </a:lnTo>
                <a:cubicBezTo>
                  <a:pt x="7112" y="31750"/>
                  <a:pt x="0" y="24638"/>
                  <a:pt x="0" y="1587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icon-bulb"/>
          <p:cNvSpPr/>
          <p:nvPr/>
        </p:nvSpPr>
        <p:spPr>
          <a:xfrm>
            <a:off x="5539324" y="1672590"/>
            <a:ext cx="71951" cy="106680"/>
          </a:xfrm>
          <a:custGeom>
            <a:avLst/>
            <a:gdLst/>
            <a:ahLst/>
            <a:cxnLst/>
            <a:rect l="0" t="0" r="r" b="b"/>
            <a:pathLst>
              <a:path w="71951" h="106680">
                <a:moveTo>
                  <a:pt x="20736" y="88900"/>
                </a:moveTo>
                <a:lnTo>
                  <a:pt x="51216" y="88900"/>
                </a:lnTo>
                <a:moveTo>
                  <a:pt x="24546" y="106680"/>
                </a:moveTo>
                <a:lnTo>
                  <a:pt x="47406" y="106680"/>
                </a:lnTo>
                <a:moveTo>
                  <a:pt x="35976" y="0"/>
                </a:moveTo>
                <a:cubicBezTo>
                  <a:pt x="51406" y="-190"/>
                  <a:pt x="65186" y="9589"/>
                  <a:pt x="70075" y="24194"/>
                </a:cubicBezTo>
                <a:cubicBezTo>
                  <a:pt x="75028" y="38862"/>
                  <a:pt x="69948" y="54928"/>
                  <a:pt x="57566" y="64135"/>
                </a:cubicBezTo>
                <a:cubicBezTo>
                  <a:pt x="53121" y="67945"/>
                  <a:pt x="51216" y="71755"/>
                  <a:pt x="51216" y="77470"/>
                </a:cubicBezTo>
                <a:lnTo>
                  <a:pt x="20736" y="77470"/>
                </a:lnTo>
                <a:cubicBezTo>
                  <a:pt x="20736" y="71755"/>
                  <a:pt x="18831" y="67945"/>
                  <a:pt x="14386" y="64135"/>
                </a:cubicBezTo>
                <a:cubicBezTo>
                  <a:pt x="2003" y="54928"/>
                  <a:pt x="-3077" y="38862"/>
                  <a:pt x="1876" y="24194"/>
                </a:cubicBezTo>
                <a:cubicBezTo>
                  <a:pt x="6766" y="9589"/>
                  <a:pt x="20545" y="-190"/>
                  <a:pt x="35976" y="0"/>
                </a:cubicBezTo>
                <a:close/>
              </a:path>
            </a:pathLst>
          </a:custGeom>
          <a:noFill/>
          <a:ln w="12065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rhn-2"/>
          <p:cNvSpPr txBox="1"/>
          <p:nvPr/>
        </p:nvSpPr>
        <p:spPr>
          <a:xfrm>
            <a:off x="5714746" y="1631982"/>
            <a:ext cx="6623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产品负责人</a:t>
            </a:r>
          </a:p>
        </p:txBody>
      </p:sp>
      <p:sp>
        <p:nvSpPr>
          <p:cNvPr id="19" name="rha-2"/>
          <p:cNvSpPr txBox="1"/>
          <p:nvPr/>
        </p:nvSpPr>
        <p:spPr>
          <a:xfrm>
            <a:off x="6409690" y="1655508"/>
            <a:ext cx="1922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50">
                <a:solidFill>
                  <a:srgbClr val="7E93AE"/>
                </a:solidFill>
                <a:latin typeface="Arial"/>
                <a:ea typeface="Arial"/>
                <a:cs typeface="Arial"/>
              </a:rPr>
              <a:t>PO</a:t>
            </a:r>
          </a:p>
        </p:txBody>
      </p:sp>
      <p:sp>
        <p:nvSpPr>
          <p:cNvPr id="20" name="rh-3"/>
          <p:cNvSpPr/>
          <p:nvPr/>
        </p:nvSpPr>
        <p:spPr>
          <a:xfrm>
            <a:off x="6781800" y="1460500"/>
            <a:ext cx="1346200" cy="508000"/>
          </a:xfrm>
          <a:custGeom>
            <a:avLst/>
            <a:gdLst/>
            <a:ahLst/>
            <a:cxnLst/>
            <a:rect l="0" t="0" r="r" b="b"/>
            <a:pathLst>
              <a:path w="1346200" h="508000">
                <a:moveTo>
                  <a:pt x="101600" y="0"/>
                </a:moveTo>
                <a:lnTo>
                  <a:pt x="1244600" y="0"/>
                </a:lnTo>
                <a:cubicBezTo>
                  <a:pt x="1300734" y="0"/>
                  <a:pt x="1346200" y="45466"/>
                  <a:pt x="1346200" y="101600"/>
                </a:cubicBezTo>
                <a:lnTo>
                  <a:pt x="1346200" y="406400"/>
                </a:lnTo>
                <a:cubicBezTo>
                  <a:pt x="1346200" y="462534"/>
                  <a:pt x="1300734" y="508000"/>
                  <a:pt x="1244600" y="508000"/>
                </a:cubicBezTo>
                <a:lnTo>
                  <a:pt x="101600" y="508000"/>
                </a:lnTo>
                <a:cubicBezTo>
                  <a:pt x="45466" y="508000"/>
                  <a:pt x="0" y="462534"/>
                  <a:pt x="0" y="4064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rhc-3"/>
          <p:cNvSpPr/>
          <p:nvPr/>
        </p:nvSpPr>
        <p:spPr>
          <a:xfrm>
            <a:off x="6781800" y="1460500"/>
            <a:ext cx="1346200" cy="31750"/>
          </a:xfrm>
          <a:custGeom>
            <a:avLst/>
            <a:gdLst/>
            <a:ahLst/>
            <a:cxnLst/>
            <a:rect l="0" t="0" r="r" b="b"/>
            <a:pathLst>
              <a:path w="1346200" h="31750">
                <a:moveTo>
                  <a:pt x="15875" y="0"/>
                </a:moveTo>
                <a:lnTo>
                  <a:pt x="1330325" y="0"/>
                </a:lnTo>
                <a:cubicBezTo>
                  <a:pt x="1339088" y="0"/>
                  <a:pt x="1346200" y="7112"/>
                  <a:pt x="1346200" y="15875"/>
                </a:cubicBezTo>
                <a:lnTo>
                  <a:pt x="1346200" y="15875"/>
                </a:lnTo>
                <a:cubicBezTo>
                  <a:pt x="1346200" y="24638"/>
                  <a:pt x="1339088" y="31750"/>
                  <a:pt x="1330325" y="31750"/>
                </a:cubicBezTo>
                <a:lnTo>
                  <a:pt x="15875" y="31750"/>
                </a:lnTo>
                <a:cubicBezTo>
                  <a:pt x="7112" y="31750"/>
                  <a:pt x="0" y="24638"/>
                  <a:pt x="0" y="1587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icon-code"/>
          <p:cNvSpPr/>
          <p:nvPr/>
        </p:nvSpPr>
        <p:spPr>
          <a:xfrm>
            <a:off x="6950710" y="1701800"/>
            <a:ext cx="93980" cy="50800"/>
          </a:xfrm>
          <a:custGeom>
            <a:avLst/>
            <a:gdLst/>
            <a:ahLst/>
            <a:cxnLst/>
            <a:rect l="0" t="0" r="r" b="b"/>
            <a:pathLst>
              <a:path w="93980" h="50800">
                <a:moveTo>
                  <a:pt x="27940" y="0"/>
                </a:moveTo>
                <a:lnTo>
                  <a:pt x="0" y="25400"/>
                </a:lnTo>
                <a:lnTo>
                  <a:pt x="27940" y="50800"/>
                </a:lnTo>
                <a:moveTo>
                  <a:pt x="66040" y="0"/>
                </a:moveTo>
                <a:lnTo>
                  <a:pt x="93980" y="25400"/>
                </a:lnTo>
                <a:lnTo>
                  <a:pt x="66040" y="50800"/>
                </a:lnTo>
              </a:path>
            </a:pathLst>
          </a:custGeom>
          <a:noFill/>
          <a:ln w="12065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rhn-3"/>
          <p:cNvSpPr txBox="1"/>
          <p:nvPr/>
        </p:nvSpPr>
        <p:spPr>
          <a:xfrm>
            <a:off x="7137146" y="1631982"/>
            <a:ext cx="6623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技术负责人</a:t>
            </a:r>
          </a:p>
        </p:txBody>
      </p:sp>
      <p:sp>
        <p:nvSpPr>
          <p:cNvPr id="24" name="rha-3"/>
          <p:cNvSpPr txBox="1"/>
          <p:nvPr/>
        </p:nvSpPr>
        <p:spPr>
          <a:xfrm>
            <a:off x="7832090" y="1655508"/>
            <a:ext cx="1922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50">
                <a:solidFill>
                  <a:srgbClr val="7E93AE"/>
                </a:solidFill>
                <a:latin typeface="Arial"/>
                <a:ea typeface="Arial"/>
                <a:cs typeface="Arial"/>
              </a:rPr>
              <a:t>TL</a:t>
            </a:r>
          </a:p>
        </p:txBody>
      </p:sp>
      <p:sp>
        <p:nvSpPr>
          <p:cNvPr id="25" name="rh-4"/>
          <p:cNvSpPr/>
          <p:nvPr/>
        </p:nvSpPr>
        <p:spPr>
          <a:xfrm>
            <a:off x="8204200" y="1460500"/>
            <a:ext cx="1346200" cy="508000"/>
          </a:xfrm>
          <a:custGeom>
            <a:avLst/>
            <a:gdLst/>
            <a:ahLst/>
            <a:cxnLst/>
            <a:rect l="0" t="0" r="r" b="b"/>
            <a:pathLst>
              <a:path w="1346200" h="508000">
                <a:moveTo>
                  <a:pt x="101600" y="0"/>
                </a:moveTo>
                <a:lnTo>
                  <a:pt x="1244600" y="0"/>
                </a:lnTo>
                <a:cubicBezTo>
                  <a:pt x="1300734" y="0"/>
                  <a:pt x="1346200" y="45466"/>
                  <a:pt x="1346200" y="101600"/>
                </a:cubicBezTo>
                <a:lnTo>
                  <a:pt x="1346200" y="406400"/>
                </a:lnTo>
                <a:cubicBezTo>
                  <a:pt x="1346200" y="462534"/>
                  <a:pt x="1300734" y="508000"/>
                  <a:pt x="1244600" y="508000"/>
                </a:cubicBezTo>
                <a:lnTo>
                  <a:pt x="101600" y="508000"/>
                </a:lnTo>
                <a:cubicBezTo>
                  <a:pt x="45466" y="508000"/>
                  <a:pt x="0" y="462534"/>
                  <a:pt x="0" y="4064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rhc-4"/>
          <p:cNvSpPr/>
          <p:nvPr/>
        </p:nvSpPr>
        <p:spPr>
          <a:xfrm>
            <a:off x="8204200" y="1460500"/>
            <a:ext cx="1346200" cy="31750"/>
          </a:xfrm>
          <a:custGeom>
            <a:avLst/>
            <a:gdLst/>
            <a:ahLst/>
            <a:cxnLst/>
            <a:rect l="0" t="0" r="r" b="b"/>
            <a:pathLst>
              <a:path w="1346200" h="31750">
                <a:moveTo>
                  <a:pt x="15875" y="0"/>
                </a:moveTo>
                <a:lnTo>
                  <a:pt x="1330325" y="0"/>
                </a:lnTo>
                <a:cubicBezTo>
                  <a:pt x="1339088" y="0"/>
                  <a:pt x="1346200" y="7112"/>
                  <a:pt x="1346200" y="15875"/>
                </a:cubicBezTo>
                <a:lnTo>
                  <a:pt x="1346200" y="15875"/>
                </a:lnTo>
                <a:cubicBezTo>
                  <a:pt x="1346200" y="24638"/>
                  <a:pt x="1339088" y="31750"/>
                  <a:pt x="1330325" y="31750"/>
                </a:cubicBezTo>
                <a:lnTo>
                  <a:pt x="15875" y="31750"/>
                </a:lnTo>
                <a:cubicBezTo>
                  <a:pt x="7112" y="31750"/>
                  <a:pt x="0" y="24638"/>
                  <a:pt x="0" y="1587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icon-people"/>
          <p:cNvSpPr/>
          <p:nvPr/>
        </p:nvSpPr>
        <p:spPr>
          <a:xfrm>
            <a:off x="8366760" y="1743710"/>
            <a:ext cx="107950" cy="30480"/>
          </a:xfrm>
          <a:custGeom>
            <a:avLst/>
            <a:gdLst/>
            <a:ahLst/>
            <a:cxnLst/>
            <a:rect l="0" t="0" r="r" b="b"/>
            <a:pathLst>
              <a:path w="107950" h="30480">
                <a:moveTo>
                  <a:pt x="0" y="30480"/>
                </a:moveTo>
                <a:cubicBezTo>
                  <a:pt x="0" y="11430"/>
                  <a:pt x="15875" y="0"/>
                  <a:pt x="34290" y="0"/>
                </a:cubicBezTo>
                <a:cubicBezTo>
                  <a:pt x="52705" y="0"/>
                  <a:pt x="68580" y="11430"/>
                  <a:pt x="68580" y="30480"/>
                </a:cubicBezTo>
                <a:moveTo>
                  <a:pt x="81280" y="2540"/>
                </a:moveTo>
                <a:cubicBezTo>
                  <a:pt x="97790" y="4445"/>
                  <a:pt x="107950" y="15875"/>
                  <a:pt x="107950" y="30480"/>
                </a:cubicBezTo>
              </a:path>
            </a:pathLst>
          </a:custGeom>
          <a:noFill/>
          <a:ln w="12065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icon-people"/>
          <p:cNvSpPr/>
          <p:nvPr/>
        </p:nvSpPr>
        <p:spPr>
          <a:xfrm>
            <a:off x="8380730" y="1689100"/>
            <a:ext cx="40640" cy="40640"/>
          </a:xfrm>
          <a:prstGeom prst="ellipse">
            <a:avLst/>
          </a:prstGeom>
          <a:noFill/>
          <a:ln w="12065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icon-people"/>
          <p:cNvSpPr/>
          <p:nvPr/>
        </p:nvSpPr>
        <p:spPr>
          <a:xfrm>
            <a:off x="8435340" y="1689100"/>
            <a:ext cx="33020" cy="33020"/>
          </a:xfrm>
          <a:prstGeom prst="ellipse">
            <a:avLst/>
          </a:prstGeom>
          <a:noFill/>
          <a:ln w="12065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rhn-4"/>
          <p:cNvSpPr txBox="1"/>
          <p:nvPr/>
        </p:nvSpPr>
        <p:spPr>
          <a:xfrm>
            <a:off x="8559546" y="1631982"/>
            <a:ext cx="77533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客户方对接人</a:t>
            </a:r>
          </a:p>
        </p:txBody>
      </p:sp>
      <p:sp>
        <p:nvSpPr>
          <p:cNvPr id="31" name="rha-4"/>
          <p:cNvSpPr txBox="1"/>
          <p:nvPr/>
        </p:nvSpPr>
        <p:spPr>
          <a:xfrm>
            <a:off x="9254490" y="1655508"/>
            <a:ext cx="1922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50">
                <a:solidFill>
                  <a:srgbClr val="7E93AE"/>
                </a:solidFill>
                <a:latin typeface="Arial"/>
                <a:ea typeface="Arial"/>
                <a:cs typeface="Arial"/>
              </a:rPr>
              <a:t>CU</a:t>
            </a:r>
          </a:p>
        </p:txBody>
      </p:sp>
      <p:sp>
        <p:nvSpPr>
          <p:cNvPr id="32" name="rh-5"/>
          <p:cNvSpPr/>
          <p:nvPr/>
        </p:nvSpPr>
        <p:spPr>
          <a:xfrm>
            <a:off x="9626600" y="1460500"/>
            <a:ext cx="1346200" cy="508000"/>
          </a:xfrm>
          <a:custGeom>
            <a:avLst/>
            <a:gdLst/>
            <a:ahLst/>
            <a:cxnLst/>
            <a:rect l="0" t="0" r="r" b="b"/>
            <a:pathLst>
              <a:path w="1346200" h="508000">
                <a:moveTo>
                  <a:pt x="101600" y="0"/>
                </a:moveTo>
                <a:lnTo>
                  <a:pt x="1244600" y="0"/>
                </a:lnTo>
                <a:cubicBezTo>
                  <a:pt x="1300734" y="0"/>
                  <a:pt x="1346200" y="45466"/>
                  <a:pt x="1346200" y="101600"/>
                </a:cubicBezTo>
                <a:lnTo>
                  <a:pt x="1346200" y="406400"/>
                </a:lnTo>
                <a:cubicBezTo>
                  <a:pt x="1346200" y="462534"/>
                  <a:pt x="1300734" y="508000"/>
                  <a:pt x="1244600" y="508000"/>
                </a:cubicBezTo>
                <a:lnTo>
                  <a:pt x="101600" y="508000"/>
                </a:lnTo>
                <a:cubicBezTo>
                  <a:pt x="45466" y="508000"/>
                  <a:pt x="0" y="462534"/>
                  <a:pt x="0" y="4064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rhc-5"/>
          <p:cNvSpPr/>
          <p:nvPr/>
        </p:nvSpPr>
        <p:spPr>
          <a:xfrm>
            <a:off x="9626600" y="1460500"/>
            <a:ext cx="1346200" cy="31750"/>
          </a:xfrm>
          <a:custGeom>
            <a:avLst/>
            <a:gdLst/>
            <a:ahLst/>
            <a:cxnLst/>
            <a:rect l="0" t="0" r="r" b="b"/>
            <a:pathLst>
              <a:path w="1346200" h="31750">
                <a:moveTo>
                  <a:pt x="15875" y="0"/>
                </a:moveTo>
                <a:lnTo>
                  <a:pt x="1330325" y="0"/>
                </a:lnTo>
                <a:cubicBezTo>
                  <a:pt x="1339088" y="0"/>
                  <a:pt x="1346200" y="7112"/>
                  <a:pt x="1346200" y="15875"/>
                </a:cubicBezTo>
                <a:lnTo>
                  <a:pt x="1346200" y="15875"/>
                </a:lnTo>
                <a:cubicBezTo>
                  <a:pt x="1346200" y="24638"/>
                  <a:pt x="1339088" y="31750"/>
                  <a:pt x="1330325" y="31750"/>
                </a:cubicBezTo>
                <a:lnTo>
                  <a:pt x="15875" y="31750"/>
                </a:lnTo>
                <a:cubicBezTo>
                  <a:pt x="7112" y="31750"/>
                  <a:pt x="0" y="24638"/>
                  <a:pt x="0" y="1587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icon-award"/>
          <p:cNvSpPr/>
          <p:nvPr/>
        </p:nvSpPr>
        <p:spPr>
          <a:xfrm>
            <a:off x="9815830" y="1743710"/>
            <a:ext cx="53340" cy="36830"/>
          </a:xfrm>
          <a:custGeom>
            <a:avLst/>
            <a:gdLst/>
            <a:ahLst/>
            <a:cxnLst/>
            <a:rect l="0" t="0" r="r" b="b"/>
            <a:pathLst>
              <a:path w="53340" h="36830">
                <a:moveTo>
                  <a:pt x="10160" y="0"/>
                </a:moveTo>
                <a:lnTo>
                  <a:pt x="0" y="36830"/>
                </a:lnTo>
                <a:lnTo>
                  <a:pt x="26670" y="22860"/>
                </a:lnTo>
                <a:lnTo>
                  <a:pt x="53340" y="36830"/>
                </a:lnTo>
                <a:lnTo>
                  <a:pt x="43180" y="0"/>
                </a:lnTo>
              </a:path>
            </a:pathLst>
          </a:custGeom>
          <a:noFill/>
          <a:ln w="12065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icon-award"/>
          <p:cNvSpPr/>
          <p:nvPr/>
        </p:nvSpPr>
        <p:spPr>
          <a:xfrm>
            <a:off x="9806940" y="1675130"/>
            <a:ext cx="71120" cy="71120"/>
          </a:xfrm>
          <a:prstGeom prst="ellipse">
            <a:avLst/>
          </a:prstGeom>
          <a:noFill/>
          <a:ln w="12065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rhn-5"/>
          <p:cNvSpPr txBox="1"/>
          <p:nvPr/>
        </p:nvSpPr>
        <p:spPr>
          <a:xfrm>
            <a:off x="9981946" y="1631982"/>
            <a:ext cx="43624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4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总经理</a:t>
            </a:r>
          </a:p>
        </p:txBody>
      </p:sp>
      <p:sp>
        <p:nvSpPr>
          <p:cNvPr id="37" name="rha-5"/>
          <p:cNvSpPr txBox="1"/>
          <p:nvPr/>
        </p:nvSpPr>
        <p:spPr>
          <a:xfrm>
            <a:off x="10676890" y="1655508"/>
            <a:ext cx="1922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 spc="50">
                <a:solidFill>
                  <a:srgbClr val="7E93AE"/>
                </a:solidFill>
                <a:latin typeface="Arial"/>
                <a:ea typeface="Arial"/>
                <a:cs typeface="Arial"/>
              </a:rPr>
              <a:t>GM</a:t>
            </a:r>
          </a:p>
        </p:txBody>
      </p:sp>
      <p:sp>
        <p:nvSpPr>
          <p:cNvPr id="38" name="th-1"/>
          <p:cNvSpPr txBox="1"/>
          <p:nvPr/>
        </p:nvSpPr>
        <p:spPr>
          <a:xfrm>
            <a:off x="966470" y="1647666"/>
            <a:ext cx="5124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9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项目环节</a:t>
            </a:r>
          </a:p>
        </p:txBody>
      </p:sp>
      <p:cxnSp>
        <p:nvCxnSpPr>
          <p:cNvPr id="39" name="th-line"/>
          <p:cNvCxnSpPr/>
          <p:nvPr/>
        </p:nvCxnSpPr>
        <p:spPr>
          <a:xfrm>
            <a:off x="952500" y="20193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1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sn-1"/>
          <p:cNvSpPr/>
          <p:nvPr/>
        </p:nvSpPr>
        <p:spPr>
          <a:xfrm>
            <a:off x="984250" y="2228850"/>
            <a:ext cx="215900" cy="215900"/>
          </a:xfrm>
          <a:prstGeom prst="ellipse">
            <a:avLst/>
          </a:pr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snt-1"/>
          <p:cNvSpPr txBox="1"/>
          <p:nvPr/>
        </p:nvSpPr>
        <p:spPr>
          <a:xfrm>
            <a:off x="1018032" y="225577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42" name="nm-1"/>
          <p:cNvSpPr txBox="1"/>
          <p:nvPr/>
        </p:nvSpPr>
        <p:spPr>
          <a:xfrm>
            <a:off x="1278636" y="2151570"/>
            <a:ext cx="7226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需求立项</a:t>
            </a:r>
          </a:p>
        </p:txBody>
      </p:sp>
      <p:sp>
        <p:nvSpPr>
          <p:cNvPr id="43" name="nt-1"/>
          <p:cNvSpPr txBox="1"/>
          <p:nvPr/>
        </p:nvSpPr>
        <p:spPr>
          <a:xfrm>
            <a:off x="1284351" y="2388187"/>
            <a:ext cx="74517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范围与目标确认</a:t>
            </a:r>
          </a:p>
        </p:txBody>
      </p:sp>
      <p:sp>
        <p:nvSpPr>
          <p:cNvPr id="44" name="m-1-1"/>
          <p:cNvSpPr/>
          <p:nvPr/>
        </p:nvSpPr>
        <p:spPr>
          <a:xfrm>
            <a:off x="4445000" y="2197100"/>
            <a:ext cx="330200" cy="279400"/>
          </a:xfrm>
          <a:custGeom>
            <a:avLst/>
            <a:gdLst/>
            <a:ahLst/>
            <a:cxnLst/>
            <a:rect l="0" t="0" r="r" b="b"/>
            <a:pathLst>
              <a:path w="330200" h="279400">
                <a:moveTo>
                  <a:pt x="88900" y="0"/>
                </a:moveTo>
                <a:lnTo>
                  <a:pt x="241300" y="0"/>
                </a:lnTo>
                <a:cubicBezTo>
                  <a:pt x="290386" y="0"/>
                  <a:pt x="330200" y="39814"/>
                  <a:pt x="330200" y="88900"/>
                </a:cubicBezTo>
                <a:lnTo>
                  <a:pt x="330200" y="190500"/>
                </a:lnTo>
                <a:cubicBezTo>
                  <a:pt x="330200" y="239586"/>
                  <a:pt x="290386" y="279400"/>
                  <a:pt x="241300" y="279400"/>
                </a:cubicBezTo>
                <a:lnTo>
                  <a:pt x="88900" y="279400"/>
                </a:lnTo>
                <a:cubicBezTo>
                  <a:pt x="39814" y="279400"/>
                  <a:pt x="0" y="239586"/>
                  <a:pt x="0" y="190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E5875A"/>
              </a:gs>
              <a:gs pos="100000">
                <a:srgbClr val="E0703A"/>
              </a:gs>
            </a:gsLst>
            <a:lin ang="732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mt-1-1"/>
          <p:cNvSpPr txBox="1"/>
          <p:nvPr/>
        </p:nvSpPr>
        <p:spPr>
          <a:xfrm>
            <a:off x="4517390" y="2230755"/>
            <a:ext cx="18542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46" name="m-1-2"/>
          <p:cNvSpPr/>
          <p:nvPr/>
        </p:nvSpPr>
        <p:spPr>
          <a:xfrm>
            <a:off x="5867400" y="2197100"/>
            <a:ext cx="330200" cy="279400"/>
          </a:xfrm>
          <a:custGeom>
            <a:avLst/>
            <a:gdLst/>
            <a:ahLst/>
            <a:cxnLst/>
            <a:rect l="0" t="0" r="r" b="b"/>
            <a:pathLst>
              <a:path w="330200" h="279400">
                <a:moveTo>
                  <a:pt x="88900" y="0"/>
                </a:moveTo>
                <a:lnTo>
                  <a:pt x="241300" y="0"/>
                </a:lnTo>
                <a:cubicBezTo>
                  <a:pt x="290386" y="0"/>
                  <a:pt x="330200" y="39814"/>
                  <a:pt x="330200" y="88900"/>
                </a:cubicBezTo>
                <a:lnTo>
                  <a:pt x="330200" y="190500"/>
                </a:lnTo>
                <a:cubicBezTo>
                  <a:pt x="330200" y="239586"/>
                  <a:pt x="290386" y="279400"/>
                  <a:pt x="241300" y="279400"/>
                </a:cubicBezTo>
                <a:lnTo>
                  <a:pt x="88900" y="279400"/>
                </a:lnTo>
                <a:cubicBezTo>
                  <a:pt x="39814" y="279400"/>
                  <a:pt x="0" y="239586"/>
                  <a:pt x="0" y="190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3969AC"/>
              </a:gs>
              <a:gs pos="100000">
                <a:srgbClr val="134C9C"/>
              </a:gs>
            </a:gsLst>
            <a:lin ang="732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mt-1-2"/>
          <p:cNvSpPr txBox="1"/>
          <p:nvPr/>
        </p:nvSpPr>
        <p:spPr>
          <a:xfrm>
            <a:off x="5939790" y="2230755"/>
            <a:ext cx="18542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R</a:t>
            </a:r>
          </a:p>
        </p:txBody>
      </p:sp>
      <p:sp>
        <p:nvSpPr>
          <p:cNvPr id="48" name="m-1-3"/>
          <p:cNvSpPr/>
          <p:nvPr/>
        </p:nvSpPr>
        <p:spPr>
          <a:xfrm>
            <a:off x="7302500" y="2209800"/>
            <a:ext cx="304800" cy="254000"/>
          </a:xfrm>
          <a:custGeom>
            <a:avLst/>
            <a:gdLst/>
            <a:ahLst/>
            <a:cxnLst/>
            <a:rect l="0" t="0" r="r" b="b"/>
            <a:pathLst>
              <a:path w="304800" h="254000">
                <a:moveTo>
                  <a:pt x="82550" y="0"/>
                </a:moveTo>
                <a:lnTo>
                  <a:pt x="222250" y="0"/>
                </a:lnTo>
                <a:cubicBezTo>
                  <a:pt x="267843" y="0"/>
                  <a:pt x="304800" y="36957"/>
                  <a:pt x="304800" y="82550"/>
                </a:cubicBezTo>
                <a:lnTo>
                  <a:pt x="304800" y="171450"/>
                </a:lnTo>
                <a:cubicBezTo>
                  <a:pt x="304800" y="217043"/>
                  <a:pt x="267843" y="254000"/>
                  <a:pt x="222250" y="254000"/>
                </a:cubicBezTo>
                <a:lnTo>
                  <a:pt x="82550" y="254000"/>
                </a:lnTo>
                <a:cubicBezTo>
                  <a:pt x="36957" y="254000"/>
                  <a:pt x="0" y="217043"/>
                  <a:pt x="0" y="1714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3985CD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mt-1-3"/>
          <p:cNvSpPr txBox="1"/>
          <p:nvPr/>
        </p:nvSpPr>
        <p:spPr>
          <a:xfrm>
            <a:off x="7371461" y="224009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C</a:t>
            </a:r>
          </a:p>
        </p:txBody>
      </p:sp>
      <p:sp>
        <p:nvSpPr>
          <p:cNvPr id="50" name="m-1-4"/>
          <p:cNvSpPr/>
          <p:nvPr/>
        </p:nvSpPr>
        <p:spPr>
          <a:xfrm>
            <a:off x="8724900" y="2209800"/>
            <a:ext cx="304800" cy="254000"/>
          </a:xfrm>
          <a:custGeom>
            <a:avLst/>
            <a:gdLst/>
            <a:ahLst/>
            <a:cxnLst/>
            <a:rect l="0" t="0" r="r" b="b"/>
            <a:pathLst>
              <a:path w="304800" h="254000">
                <a:moveTo>
                  <a:pt x="82550" y="0"/>
                </a:moveTo>
                <a:lnTo>
                  <a:pt x="222250" y="0"/>
                </a:lnTo>
                <a:cubicBezTo>
                  <a:pt x="267843" y="0"/>
                  <a:pt x="304800" y="36957"/>
                  <a:pt x="304800" y="82550"/>
                </a:cubicBezTo>
                <a:lnTo>
                  <a:pt x="304800" y="171450"/>
                </a:lnTo>
                <a:cubicBezTo>
                  <a:pt x="304800" y="217043"/>
                  <a:pt x="267843" y="254000"/>
                  <a:pt x="222250" y="254000"/>
                </a:cubicBezTo>
                <a:lnTo>
                  <a:pt x="82550" y="254000"/>
                </a:lnTo>
                <a:cubicBezTo>
                  <a:pt x="36957" y="254000"/>
                  <a:pt x="0" y="217043"/>
                  <a:pt x="0" y="1714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3985CD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mt-1-4"/>
          <p:cNvSpPr txBox="1"/>
          <p:nvPr/>
        </p:nvSpPr>
        <p:spPr>
          <a:xfrm>
            <a:off x="8793861" y="224009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C</a:t>
            </a:r>
          </a:p>
        </p:txBody>
      </p:sp>
      <p:sp>
        <p:nvSpPr>
          <p:cNvPr id="52" name="m-1-5"/>
          <p:cNvSpPr/>
          <p:nvPr/>
        </p:nvSpPr>
        <p:spPr>
          <a:xfrm>
            <a:off x="10147300" y="2209800"/>
            <a:ext cx="304800" cy="254000"/>
          </a:xfrm>
          <a:custGeom>
            <a:avLst/>
            <a:gdLst/>
            <a:ahLst/>
            <a:cxnLst/>
            <a:rect l="0" t="0" r="r" b="b"/>
            <a:pathLst>
              <a:path w="304800" h="254000">
                <a:moveTo>
                  <a:pt x="82550" y="0"/>
                </a:moveTo>
                <a:lnTo>
                  <a:pt x="222250" y="0"/>
                </a:lnTo>
                <a:cubicBezTo>
                  <a:pt x="267843" y="0"/>
                  <a:pt x="304800" y="36957"/>
                  <a:pt x="304800" y="82550"/>
                </a:cubicBezTo>
                <a:lnTo>
                  <a:pt x="304800" y="171450"/>
                </a:lnTo>
                <a:cubicBezTo>
                  <a:pt x="304800" y="217043"/>
                  <a:pt x="267843" y="254000"/>
                  <a:pt x="222250" y="254000"/>
                </a:cubicBezTo>
                <a:lnTo>
                  <a:pt x="82550" y="254000"/>
                </a:lnTo>
                <a:cubicBezTo>
                  <a:pt x="36957" y="254000"/>
                  <a:pt x="0" y="217043"/>
                  <a:pt x="0" y="1714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AFC3D9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mt-1-5"/>
          <p:cNvSpPr txBox="1"/>
          <p:nvPr/>
        </p:nvSpPr>
        <p:spPr>
          <a:xfrm>
            <a:off x="10216261" y="224009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AFC3D9"/>
                </a:solidFill>
                <a:latin typeface="Arial"/>
                <a:ea typeface="Arial"/>
                <a:cs typeface="Arial"/>
              </a:rPr>
              <a:t>I</a:t>
            </a:r>
          </a:p>
        </p:txBody>
      </p:sp>
      <p:cxnSp>
        <p:nvCxnSpPr>
          <p:cNvPr id="54" name="rl-1"/>
          <p:cNvCxnSpPr/>
          <p:nvPr/>
        </p:nvCxnSpPr>
        <p:spPr>
          <a:xfrm>
            <a:off x="952500" y="26035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sn-2"/>
          <p:cNvSpPr/>
          <p:nvPr/>
        </p:nvSpPr>
        <p:spPr>
          <a:xfrm>
            <a:off x="984250" y="2813050"/>
            <a:ext cx="215900" cy="215900"/>
          </a:xfrm>
          <a:prstGeom prst="ellipse">
            <a:avLst/>
          </a:prstGeom>
          <a:solidFill>
            <a:srgbClr val="134C9C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snt-2"/>
          <p:cNvSpPr txBox="1"/>
          <p:nvPr/>
        </p:nvSpPr>
        <p:spPr>
          <a:xfrm>
            <a:off x="1018032" y="283997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134C9C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57" name="nm-2"/>
          <p:cNvSpPr txBox="1"/>
          <p:nvPr/>
        </p:nvSpPr>
        <p:spPr>
          <a:xfrm>
            <a:off x="1278636" y="2735770"/>
            <a:ext cx="7226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方案设计</a:t>
            </a:r>
          </a:p>
        </p:txBody>
      </p:sp>
      <p:sp>
        <p:nvSpPr>
          <p:cNvPr id="58" name="nt-2"/>
          <p:cNvSpPr txBox="1"/>
          <p:nvPr/>
        </p:nvSpPr>
        <p:spPr>
          <a:xfrm>
            <a:off x="1284351" y="2972387"/>
            <a:ext cx="74517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技术与实现路径</a:t>
            </a:r>
          </a:p>
        </p:txBody>
      </p:sp>
      <p:sp>
        <p:nvSpPr>
          <p:cNvPr id="59" name="m-2-1"/>
          <p:cNvSpPr/>
          <p:nvPr/>
        </p:nvSpPr>
        <p:spPr>
          <a:xfrm>
            <a:off x="4457700" y="2794000"/>
            <a:ext cx="304800" cy="254000"/>
          </a:xfrm>
          <a:custGeom>
            <a:avLst/>
            <a:gdLst/>
            <a:ahLst/>
            <a:cxnLst/>
            <a:rect l="0" t="0" r="r" b="b"/>
            <a:pathLst>
              <a:path w="304800" h="254000">
                <a:moveTo>
                  <a:pt x="82550" y="0"/>
                </a:moveTo>
                <a:lnTo>
                  <a:pt x="222250" y="0"/>
                </a:lnTo>
                <a:cubicBezTo>
                  <a:pt x="267843" y="0"/>
                  <a:pt x="304800" y="36957"/>
                  <a:pt x="304800" y="82550"/>
                </a:cubicBezTo>
                <a:lnTo>
                  <a:pt x="304800" y="171450"/>
                </a:lnTo>
                <a:cubicBezTo>
                  <a:pt x="304800" y="217043"/>
                  <a:pt x="267843" y="254000"/>
                  <a:pt x="222250" y="254000"/>
                </a:cubicBezTo>
                <a:lnTo>
                  <a:pt x="82550" y="254000"/>
                </a:lnTo>
                <a:cubicBezTo>
                  <a:pt x="36957" y="254000"/>
                  <a:pt x="0" y="217043"/>
                  <a:pt x="0" y="1714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3985CD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mt-2-1"/>
          <p:cNvSpPr txBox="1"/>
          <p:nvPr/>
        </p:nvSpPr>
        <p:spPr>
          <a:xfrm>
            <a:off x="4526661" y="282429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C</a:t>
            </a:r>
          </a:p>
        </p:txBody>
      </p:sp>
      <p:sp>
        <p:nvSpPr>
          <p:cNvPr id="61" name="m-2-2"/>
          <p:cNvSpPr/>
          <p:nvPr/>
        </p:nvSpPr>
        <p:spPr>
          <a:xfrm>
            <a:off x="5867400" y="2781300"/>
            <a:ext cx="330200" cy="279400"/>
          </a:xfrm>
          <a:custGeom>
            <a:avLst/>
            <a:gdLst/>
            <a:ahLst/>
            <a:cxnLst/>
            <a:rect l="0" t="0" r="r" b="b"/>
            <a:pathLst>
              <a:path w="330200" h="279400">
                <a:moveTo>
                  <a:pt x="88900" y="0"/>
                </a:moveTo>
                <a:lnTo>
                  <a:pt x="241300" y="0"/>
                </a:lnTo>
                <a:cubicBezTo>
                  <a:pt x="290386" y="0"/>
                  <a:pt x="330200" y="39814"/>
                  <a:pt x="330200" y="88900"/>
                </a:cubicBezTo>
                <a:lnTo>
                  <a:pt x="330200" y="190500"/>
                </a:lnTo>
                <a:cubicBezTo>
                  <a:pt x="330200" y="239586"/>
                  <a:pt x="290386" y="279400"/>
                  <a:pt x="241300" y="279400"/>
                </a:cubicBezTo>
                <a:lnTo>
                  <a:pt x="88900" y="279400"/>
                </a:lnTo>
                <a:cubicBezTo>
                  <a:pt x="39814" y="279400"/>
                  <a:pt x="0" y="239586"/>
                  <a:pt x="0" y="190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E5875A"/>
              </a:gs>
              <a:gs pos="100000">
                <a:srgbClr val="E0703A"/>
              </a:gs>
            </a:gsLst>
            <a:lin ang="732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mt-2-2"/>
          <p:cNvSpPr txBox="1"/>
          <p:nvPr/>
        </p:nvSpPr>
        <p:spPr>
          <a:xfrm>
            <a:off x="5939790" y="2814955"/>
            <a:ext cx="18542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63" name="m-2-3"/>
          <p:cNvSpPr/>
          <p:nvPr/>
        </p:nvSpPr>
        <p:spPr>
          <a:xfrm>
            <a:off x="7289800" y="2781300"/>
            <a:ext cx="330200" cy="279400"/>
          </a:xfrm>
          <a:custGeom>
            <a:avLst/>
            <a:gdLst/>
            <a:ahLst/>
            <a:cxnLst/>
            <a:rect l="0" t="0" r="r" b="b"/>
            <a:pathLst>
              <a:path w="330200" h="279400">
                <a:moveTo>
                  <a:pt x="88900" y="0"/>
                </a:moveTo>
                <a:lnTo>
                  <a:pt x="241300" y="0"/>
                </a:lnTo>
                <a:cubicBezTo>
                  <a:pt x="290386" y="0"/>
                  <a:pt x="330200" y="39814"/>
                  <a:pt x="330200" y="88900"/>
                </a:cubicBezTo>
                <a:lnTo>
                  <a:pt x="330200" y="190500"/>
                </a:lnTo>
                <a:cubicBezTo>
                  <a:pt x="330200" y="239586"/>
                  <a:pt x="290386" y="279400"/>
                  <a:pt x="241300" y="279400"/>
                </a:cubicBezTo>
                <a:lnTo>
                  <a:pt x="88900" y="279400"/>
                </a:lnTo>
                <a:cubicBezTo>
                  <a:pt x="39814" y="279400"/>
                  <a:pt x="0" y="239586"/>
                  <a:pt x="0" y="190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3969AC"/>
              </a:gs>
              <a:gs pos="100000">
                <a:srgbClr val="134C9C"/>
              </a:gs>
            </a:gsLst>
            <a:lin ang="732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mt-2-3"/>
          <p:cNvSpPr txBox="1"/>
          <p:nvPr/>
        </p:nvSpPr>
        <p:spPr>
          <a:xfrm>
            <a:off x="7362190" y="2814955"/>
            <a:ext cx="18542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R</a:t>
            </a:r>
          </a:p>
        </p:txBody>
      </p:sp>
      <p:sp>
        <p:nvSpPr>
          <p:cNvPr id="65" name="m-2-4"/>
          <p:cNvSpPr/>
          <p:nvPr/>
        </p:nvSpPr>
        <p:spPr>
          <a:xfrm>
            <a:off x="8724900" y="2794000"/>
            <a:ext cx="304800" cy="254000"/>
          </a:xfrm>
          <a:custGeom>
            <a:avLst/>
            <a:gdLst/>
            <a:ahLst/>
            <a:cxnLst/>
            <a:rect l="0" t="0" r="r" b="b"/>
            <a:pathLst>
              <a:path w="304800" h="254000">
                <a:moveTo>
                  <a:pt x="82550" y="0"/>
                </a:moveTo>
                <a:lnTo>
                  <a:pt x="222250" y="0"/>
                </a:lnTo>
                <a:cubicBezTo>
                  <a:pt x="267843" y="0"/>
                  <a:pt x="304800" y="36957"/>
                  <a:pt x="304800" y="82550"/>
                </a:cubicBezTo>
                <a:lnTo>
                  <a:pt x="304800" y="171450"/>
                </a:lnTo>
                <a:cubicBezTo>
                  <a:pt x="304800" y="217043"/>
                  <a:pt x="267843" y="254000"/>
                  <a:pt x="222250" y="254000"/>
                </a:cubicBezTo>
                <a:lnTo>
                  <a:pt x="82550" y="254000"/>
                </a:lnTo>
                <a:cubicBezTo>
                  <a:pt x="36957" y="254000"/>
                  <a:pt x="0" y="217043"/>
                  <a:pt x="0" y="1714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AFC3D9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mt-2-4"/>
          <p:cNvSpPr txBox="1"/>
          <p:nvPr/>
        </p:nvSpPr>
        <p:spPr>
          <a:xfrm>
            <a:off x="8793861" y="282429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AFC3D9"/>
                </a:solidFill>
                <a:latin typeface="Arial"/>
                <a:ea typeface="Arial"/>
                <a:cs typeface="Arial"/>
              </a:rPr>
              <a:t>I</a:t>
            </a:r>
          </a:p>
        </p:txBody>
      </p:sp>
      <p:sp>
        <p:nvSpPr>
          <p:cNvPr id="67" name="m-2-5"/>
          <p:cNvSpPr txBox="1"/>
          <p:nvPr/>
        </p:nvSpPr>
        <p:spPr>
          <a:xfrm>
            <a:off x="10216261" y="282429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0">
                <a:solidFill>
                  <a:srgbClr val="C6D2E0"/>
                </a:solidFill>
                <a:latin typeface="微软雅黑"/>
                <a:ea typeface="微软雅黑"/>
                <a:cs typeface="微软雅黑"/>
              </a:rPr>
              <a:t>—</a:t>
            </a:r>
          </a:p>
        </p:txBody>
      </p:sp>
      <p:cxnSp>
        <p:nvCxnSpPr>
          <p:cNvPr id="68" name="rl-2"/>
          <p:cNvCxnSpPr/>
          <p:nvPr/>
        </p:nvCxnSpPr>
        <p:spPr>
          <a:xfrm>
            <a:off x="952500" y="31877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9" name="sn-3"/>
          <p:cNvSpPr/>
          <p:nvPr/>
        </p:nvSpPr>
        <p:spPr>
          <a:xfrm>
            <a:off x="984250" y="3397250"/>
            <a:ext cx="215900" cy="215900"/>
          </a:xfrm>
          <a:prstGeom prst="ellipse">
            <a:avLst/>
          </a:pr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snt-3"/>
          <p:cNvSpPr txBox="1"/>
          <p:nvPr/>
        </p:nvSpPr>
        <p:spPr>
          <a:xfrm>
            <a:off x="1018032" y="342417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1B5AA8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71" name="nm-3"/>
          <p:cNvSpPr txBox="1"/>
          <p:nvPr/>
        </p:nvSpPr>
        <p:spPr>
          <a:xfrm>
            <a:off x="1278636" y="3319971"/>
            <a:ext cx="871855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排期与预算</a:t>
            </a:r>
          </a:p>
        </p:txBody>
      </p:sp>
      <p:sp>
        <p:nvSpPr>
          <p:cNvPr id="72" name="nt-3"/>
          <p:cNvSpPr txBox="1"/>
          <p:nvPr/>
        </p:nvSpPr>
        <p:spPr>
          <a:xfrm>
            <a:off x="1284351" y="3556587"/>
            <a:ext cx="74517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资源与成本确认</a:t>
            </a:r>
          </a:p>
        </p:txBody>
      </p:sp>
      <p:sp>
        <p:nvSpPr>
          <p:cNvPr id="73" name="m-3-1"/>
          <p:cNvSpPr/>
          <p:nvPr/>
        </p:nvSpPr>
        <p:spPr>
          <a:xfrm>
            <a:off x="4445000" y="3365500"/>
            <a:ext cx="330200" cy="279400"/>
          </a:xfrm>
          <a:custGeom>
            <a:avLst/>
            <a:gdLst/>
            <a:ahLst/>
            <a:cxnLst/>
            <a:rect l="0" t="0" r="r" b="b"/>
            <a:pathLst>
              <a:path w="330200" h="279400">
                <a:moveTo>
                  <a:pt x="88900" y="0"/>
                </a:moveTo>
                <a:lnTo>
                  <a:pt x="241300" y="0"/>
                </a:lnTo>
                <a:cubicBezTo>
                  <a:pt x="290386" y="0"/>
                  <a:pt x="330200" y="39814"/>
                  <a:pt x="330200" y="88900"/>
                </a:cubicBezTo>
                <a:lnTo>
                  <a:pt x="330200" y="190500"/>
                </a:lnTo>
                <a:cubicBezTo>
                  <a:pt x="330200" y="239586"/>
                  <a:pt x="290386" y="279400"/>
                  <a:pt x="241300" y="279400"/>
                </a:cubicBezTo>
                <a:lnTo>
                  <a:pt x="88900" y="279400"/>
                </a:lnTo>
                <a:cubicBezTo>
                  <a:pt x="39814" y="279400"/>
                  <a:pt x="0" y="239586"/>
                  <a:pt x="0" y="190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3969AC"/>
              </a:gs>
              <a:gs pos="100000">
                <a:srgbClr val="134C9C"/>
              </a:gs>
            </a:gsLst>
            <a:lin ang="732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mt-3-1"/>
          <p:cNvSpPr txBox="1"/>
          <p:nvPr/>
        </p:nvSpPr>
        <p:spPr>
          <a:xfrm>
            <a:off x="4517390" y="3399155"/>
            <a:ext cx="18542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R</a:t>
            </a:r>
          </a:p>
        </p:txBody>
      </p:sp>
      <p:sp>
        <p:nvSpPr>
          <p:cNvPr id="75" name="m-3-2"/>
          <p:cNvSpPr/>
          <p:nvPr/>
        </p:nvSpPr>
        <p:spPr>
          <a:xfrm>
            <a:off x="5880100" y="3378200"/>
            <a:ext cx="304800" cy="254000"/>
          </a:xfrm>
          <a:custGeom>
            <a:avLst/>
            <a:gdLst/>
            <a:ahLst/>
            <a:cxnLst/>
            <a:rect l="0" t="0" r="r" b="b"/>
            <a:pathLst>
              <a:path w="304800" h="254000">
                <a:moveTo>
                  <a:pt x="82550" y="0"/>
                </a:moveTo>
                <a:lnTo>
                  <a:pt x="222250" y="0"/>
                </a:lnTo>
                <a:cubicBezTo>
                  <a:pt x="267843" y="0"/>
                  <a:pt x="304800" y="36957"/>
                  <a:pt x="304800" y="82550"/>
                </a:cubicBezTo>
                <a:lnTo>
                  <a:pt x="304800" y="171450"/>
                </a:lnTo>
                <a:cubicBezTo>
                  <a:pt x="304800" y="217043"/>
                  <a:pt x="267843" y="254000"/>
                  <a:pt x="222250" y="254000"/>
                </a:cubicBezTo>
                <a:lnTo>
                  <a:pt x="82550" y="254000"/>
                </a:lnTo>
                <a:cubicBezTo>
                  <a:pt x="36957" y="254000"/>
                  <a:pt x="0" y="217043"/>
                  <a:pt x="0" y="1714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3985CD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mt-3-2"/>
          <p:cNvSpPr txBox="1"/>
          <p:nvPr/>
        </p:nvSpPr>
        <p:spPr>
          <a:xfrm>
            <a:off x="5949061" y="340849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C</a:t>
            </a:r>
          </a:p>
        </p:txBody>
      </p:sp>
      <p:sp>
        <p:nvSpPr>
          <p:cNvPr id="77" name="m-3-3"/>
          <p:cNvSpPr/>
          <p:nvPr/>
        </p:nvSpPr>
        <p:spPr>
          <a:xfrm>
            <a:off x="7302500" y="3378200"/>
            <a:ext cx="304800" cy="254000"/>
          </a:xfrm>
          <a:custGeom>
            <a:avLst/>
            <a:gdLst/>
            <a:ahLst/>
            <a:cxnLst/>
            <a:rect l="0" t="0" r="r" b="b"/>
            <a:pathLst>
              <a:path w="304800" h="254000">
                <a:moveTo>
                  <a:pt x="82550" y="0"/>
                </a:moveTo>
                <a:lnTo>
                  <a:pt x="222250" y="0"/>
                </a:lnTo>
                <a:cubicBezTo>
                  <a:pt x="267843" y="0"/>
                  <a:pt x="304800" y="36957"/>
                  <a:pt x="304800" y="82550"/>
                </a:cubicBezTo>
                <a:lnTo>
                  <a:pt x="304800" y="171450"/>
                </a:lnTo>
                <a:cubicBezTo>
                  <a:pt x="304800" y="217043"/>
                  <a:pt x="267843" y="254000"/>
                  <a:pt x="222250" y="254000"/>
                </a:cubicBezTo>
                <a:lnTo>
                  <a:pt x="82550" y="254000"/>
                </a:lnTo>
                <a:cubicBezTo>
                  <a:pt x="36957" y="254000"/>
                  <a:pt x="0" y="217043"/>
                  <a:pt x="0" y="1714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3985CD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mt-3-3"/>
          <p:cNvSpPr txBox="1"/>
          <p:nvPr/>
        </p:nvSpPr>
        <p:spPr>
          <a:xfrm>
            <a:off x="7371461" y="340849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C</a:t>
            </a:r>
          </a:p>
        </p:txBody>
      </p:sp>
      <p:sp>
        <p:nvSpPr>
          <p:cNvPr id="79" name="m-3-4"/>
          <p:cNvSpPr/>
          <p:nvPr/>
        </p:nvSpPr>
        <p:spPr>
          <a:xfrm>
            <a:off x="8724900" y="3378200"/>
            <a:ext cx="304800" cy="254000"/>
          </a:xfrm>
          <a:custGeom>
            <a:avLst/>
            <a:gdLst/>
            <a:ahLst/>
            <a:cxnLst/>
            <a:rect l="0" t="0" r="r" b="b"/>
            <a:pathLst>
              <a:path w="304800" h="254000">
                <a:moveTo>
                  <a:pt x="82550" y="0"/>
                </a:moveTo>
                <a:lnTo>
                  <a:pt x="222250" y="0"/>
                </a:lnTo>
                <a:cubicBezTo>
                  <a:pt x="267843" y="0"/>
                  <a:pt x="304800" y="36957"/>
                  <a:pt x="304800" y="82550"/>
                </a:cubicBezTo>
                <a:lnTo>
                  <a:pt x="304800" y="171450"/>
                </a:lnTo>
                <a:cubicBezTo>
                  <a:pt x="304800" y="217043"/>
                  <a:pt x="267843" y="254000"/>
                  <a:pt x="222250" y="254000"/>
                </a:cubicBezTo>
                <a:lnTo>
                  <a:pt x="82550" y="254000"/>
                </a:lnTo>
                <a:cubicBezTo>
                  <a:pt x="36957" y="254000"/>
                  <a:pt x="0" y="217043"/>
                  <a:pt x="0" y="1714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AFC3D9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mt-3-4"/>
          <p:cNvSpPr txBox="1"/>
          <p:nvPr/>
        </p:nvSpPr>
        <p:spPr>
          <a:xfrm>
            <a:off x="8793861" y="340849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AFC3D9"/>
                </a:solidFill>
                <a:latin typeface="Arial"/>
                <a:ea typeface="Arial"/>
                <a:cs typeface="Arial"/>
              </a:rPr>
              <a:t>I</a:t>
            </a:r>
          </a:p>
        </p:txBody>
      </p:sp>
      <p:sp>
        <p:nvSpPr>
          <p:cNvPr id="81" name="m-3-5"/>
          <p:cNvSpPr/>
          <p:nvPr/>
        </p:nvSpPr>
        <p:spPr>
          <a:xfrm>
            <a:off x="10134600" y="3365500"/>
            <a:ext cx="330200" cy="279400"/>
          </a:xfrm>
          <a:custGeom>
            <a:avLst/>
            <a:gdLst/>
            <a:ahLst/>
            <a:cxnLst/>
            <a:rect l="0" t="0" r="r" b="b"/>
            <a:pathLst>
              <a:path w="330200" h="279400">
                <a:moveTo>
                  <a:pt x="88900" y="0"/>
                </a:moveTo>
                <a:lnTo>
                  <a:pt x="241300" y="0"/>
                </a:lnTo>
                <a:cubicBezTo>
                  <a:pt x="290386" y="0"/>
                  <a:pt x="330200" y="39814"/>
                  <a:pt x="330200" y="88900"/>
                </a:cubicBezTo>
                <a:lnTo>
                  <a:pt x="330200" y="190500"/>
                </a:lnTo>
                <a:cubicBezTo>
                  <a:pt x="330200" y="239586"/>
                  <a:pt x="290386" y="279400"/>
                  <a:pt x="241300" y="279400"/>
                </a:cubicBezTo>
                <a:lnTo>
                  <a:pt x="88900" y="279400"/>
                </a:lnTo>
                <a:cubicBezTo>
                  <a:pt x="39814" y="279400"/>
                  <a:pt x="0" y="239586"/>
                  <a:pt x="0" y="190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E5875A"/>
              </a:gs>
              <a:gs pos="100000">
                <a:srgbClr val="E0703A"/>
              </a:gs>
            </a:gsLst>
            <a:lin ang="732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mt-3-5"/>
          <p:cNvSpPr txBox="1"/>
          <p:nvPr/>
        </p:nvSpPr>
        <p:spPr>
          <a:xfrm>
            <a:off x="10206990" y="3399155"/>
            <a:ext cx="18542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cxnSp>
        <p:nvCxnSpPr>
          <p:cNvPr id="83" name="rl-3"/>
          <p:cNvCxnSpPr/>
          <p:nvPr/>
        </p:nvCxnSpPr>
        <p:spPr>
          <a:xfrm>
            <a:off x="952500" y="37719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sn-4"/>
          <p:cNvSpPr/>
          <p:nvPr/>
        </p:nvSpPr>
        <p:spPr>
          <a:xfrm>
            <a:off x="984250" y="3981450"/>
            <a:ext cx="215900" cy="215900"/>
          </a:xfrm>
          <a:prstGeom prst="ellipse">
            <a:avLst/>
          </a:prstGeom>
          <a:solidFill>
            <a:srgbClr val="2468B6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snt-4"/>
          <p:cNvSpPr txBox="1"/>
          <p:nvPr/>
        </p:nvSpPr>
        <p:spPr>
          <a:xfrm>
            <a:off x="1018032" y="400837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2468B6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86" name="nm-4"/>
          <p:cNvSpPr txBox="1"/>
          <p:nvPr/>
        </p:nvSpPr>
        <p:spPr>
          <a:xfrm>
            <a:off x="1278636" y="3904171"/>
            <a:ext cx="7226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开发实施</a:t>
            </a:r>
          </a:p>
        </p:txBody>
      </p:sp>
      <p:sp>
        <p:nvSpPr>
          <p:cNvPr id="87" name="nt-4"/>
          <p:cNvSpPr txBox="1"/>
          <p:nvPr/>
        </p:nvSpPr>
        <p:spPr>
          <a:xfrm>
            <a:off x="1284351" y="4140787"/>
            <a:ext cx="65055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按里程碑推进</a:t>
            </a:r>
          </a:p>
        </p:txBody>
      </p:sp>
      <p:sp>
        <p:nvSpPr>
          <p:cNvPr id="88" name="m-4-1"/>
          <p:cNvSpPr/>
          <p:nvPr/>
        </p:nvSpPr>
        <p:spPr>
          <a:xfrm>
            <a:off x="4445000" y="3949700"/>
            <a:ext cx="330200" cy="279400"/>
          </a:xfrm>
          <a:custGeom>
            <a:avLst/>
            <a:gdLst/>
            <a:ahLst/>
            <a:cxnLst/>
            <a:rect l="0" t="0" r="r" b="b"/>
            <a:pathLst>
              <a:path w="330200" h="279400">
                <a:moveTo>
                  <a:pt x="88900" y="0"/>
                </a:moveTo>
                <a:lnTo>
                  <a:pt x="241300" y="0"/>
                </a:lnTo>
                <a:cubicBezTo>
                  <a:pt x="290386" y="0"/>
                  <a:pt x="330200" y="39814"/>
                  <a:pt x="330200" y="88900"/>
                </a:cubicBezTo>
                <a:lnTo>
                  <a:pt x="330200" y="190500"/>
                </a:lnTo>
                <a:cubicBezTo>
                  <a:pt x="330200" y="239586"/>
                  <a:pt x="290386" y="279400"/>
                  <a:pt x="241300" y="279400"/>
                </a:cubicBezTo>
                <a:lnTo>
                  <a:pt x="88900" y="279400"/>
                </a:lnTo>
                <a:cubicBezTo>
                  <a:pt x="39814" y="279400"/>
                  <a:pt x="0" y="239586"/>
                  <a:pt x="0" y="190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E5875A"/>
              </a:gs>
              <a:gs pos="100000">
                <a:srgbClr val="E0703A"/>
              </a:gs>
            </a:gsLst>
            <a:lin ang="732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mt-4-1"/>
          <p:cNvSpPr txBox="1"/>
          <p:nvPr/>
        </p:nvSpPr>
        <p:spPr>
          <a:xfrm>
            <a:off x="4517390" y="3983355"/>
            <a:ext cx="18542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90" name="m-4-2"/>
          <p:cNvSpPr/>
          <p:nvPr/>
        </p:nvSpPr>
        <p:spPr>
          <a:xfrm>
            <a:off x="5880100" y="3962400"/>
            <a:ext cx="304800" cy="254000"/>
          </a:xfrm>
          <a:custGeom>
            <a:avLst/>
            <a:gdLst/>
            <a:ahLst/>
            <a:cxnLst/>
            <a:rect l="0" t="0" r="r" b="b"/>
            <a:pathLst>
              <a:path w="304800" h="254000">
                <a:moveTo>
                  <a:pt x="82550" y="0"/>
                </a:moveTo>
                <a:lnTo>
                  <a:pt x="222250" y="0"/>
                </a:lnTo>
                <a:cubicBezTo>
                  <a:pt x="267843" y="0"/>
                  <a:pt x="304800" y="36957"/>
                  <a:pt x="304800" y="82550"/>
                </a:cubicBezTo>
                <a:lnTo>
                  <a:pt x="304800" y="171450"/>
                </a:lnTo>
                <a:cubicBezTo>
                  <a:pt x="304800" y="217043"/>
                  <a:pt x="267843" y="254000"/>
                  <a:pt x="222250" y="254000"/>
                </a:cubicBezTo>
                <a:lnTo>
                  <a:pt x="82550" y="254000"/>
                </a:lnTo>
                <a:cubicBezTo>
                  <a:pt x="36957" y="254000"/>
                  <a:pt x="0" y="217043"/>
                  <a:pt x="0" y="1714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3985CD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mt-4-2"/>
          <p:cNvSpPr txBox="1"/>
          <p:nvPr/>
        </p:nvSpPr>
        <p:spPr>
          <a:xfrm>
            <a:off x="5949061" y="399269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C</a:t>
            </a:r>
          </a:p>
        </p:txBody>
      </p:sp>
      <p:sp>
        <p:nvSpPr>
          <p:cNvPr id="92" name="m-4-3"/>
          <p:cNvSpPr/>
          <p:nvPr/>
        </p:nvSpPr>
        <p:spPr>
          <a:xfrm>
            <a:off x="7289800" y="3949700"/>
            <a:ext cx="330200" cy="279400"/>
          </a:xfrm>
          <a:custGeom>
            <a:avLst/>
            <a:gdLst/>
            <a:ahLst/>
            <a:cxnLst/>
            <a:rect l="0" t="0" r="r" b="b"/>
            <a:pathLst>
              <a:path w="330200" h="279400">
                <a:moveTo>
                  <a:pt x="88900" y="0"/>
                </a:moveTo>
                <a:lnTo>
                  <a:pt x="241300" y="0"/>
                </a:lnTo>
                <a:cubicBezTo>
                  <a:pt x="290386" y="0"/>
                  <a:pt x="330200" y="39814"/>
                  <a:pt x="330200" y="88900"/>
                </a:cubicBezTo>
                <a:lnTo>
                  <a:pt x="330200" y="190500"/>
                </a:lnTo>
                <a:cubicBezTo>
                  <a:pt x="330200" y="239586"/>
                  <a:pt x="290386" y="279400"/>
                  <a:pt x="241300" y="279400"/>
                </a:cubicBezTo>
                <a:lnTo>
                  <a:pt x="88900" y="279400"/>
                </a:lnTo>
                <a:cubicBezTo>
                  <a:pt x="39814" y="279400"/>
                  <a:pt x="0" y="239586"/>
                  <a:pt x="0" y="190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3969AC"/>
              </a:gs>
              <a:gs pos="100000">
                <a:srgbClr val="134C9C"/>
              </a:gs>
            </a:gsLst>
            <a:lin ang="732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mt-4-3"/>
          <p:cNvSpPr txBox="1"/>
          <p:nvPr/>
        </p:nvSpPr>
        <p:spPr>
          <a:xfrm>
            <a:off x="7362190" y="3983355"/>
            <a:ext cx="18542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R</a:t>
            </a:r>
          </a:p>
        </p:txBody>
      </p:sp>
      <p:sp>
        <p:nvSpPr>
          <p:cNvPr id="94" name="m-4-4"/>
          <p:cNvSpPr/>
          <p:nvPr/>
        </p:nvSpPr>
        <p:spPr>
          <a:xfrm>
            <a:off x="8724900" y="3962400"/>
            <a:ext cx="304800" cy="254000"/>
          </a:xfrm>
          <a:custGeom>
            <a:avLst/>
            <a:gdLst/>
            <a:ahLst/>
            <a:cxnLst/>
            <a:rect l="0" t="0" r="r" b="b"/>
            <a:pathLst>
              <a:path w="304800" h="254000">
                <a:moveTo>
                  <a:pt x="82550" y="0"/>
                </a:moveTo>
                <a:lnTo>
                  <a:pt x="222250" y="0"/>
                </a:lnTo>
                <a:cubicBezTo>
                  <a:pt x="267843" y="0"/>
                  <a:pt x="304800" y="36957"/>
                  <a:pt x="304800" y="82550"/>
                </a:cubicBezTo>
                <a:lnTo>
                  <a:pt x="304800" y="171450"/>
                </a:lnTo>
                <a:cubicBezTo>
                  <a:pt x="304800" y="217043"/>
                  <a:pt x="267843" y="254000"/>
                  <a:pt x="222250" y="254000"/>
                </a:cubicBezTo>
                <a:lnTo>
                  <a:pt x="82550" y="254000"/>
                </a:lnTo>
                <a:cubicBezTo>
                  <a:pt x="36957" y="254000"/>
                  <a:pt x="0" y="217043"/>
                  <a:pt x="0" y="1714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AFC3D9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mt-4-4"/>
          <p:cNvSpPr txBox="1"/>
          <p:nvPr/>
        </p:nvSpPr>
        <p:spPr>
          <a:xfrm>
            <a:off x="8793861" y="399269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AFC3D9"/>
                </a:solidFill>
                <a:latin typeface="Arial"/>
                <a:ea typeface="Arial"/>
                <a:cs typeface="Arial"/>
              </a:rPr>
              <a:t>I</a:t>
            </a:r>
          </a:p>
        </p:txBody>
      </p:sp>
      <p:sp>
        <p:nvSpPr>
          <p:cNvPr id="96" name="m-4-5"/>
          <p:cNvSpPr txBox="1"/>
          <p:nvPr/>
        </p:nvSpPr>
        <p:spPr>
          <a:xfrm>
            <a:off x="10216261" y="399269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0">
                <a:solidFill>
                  <a:srgbClr val="C6D2E0"/>
                </a:solidFill>
                <a:latin typeface="微软雅黑"/>
                <a:ea typeface="微软雅黑"/>
                <a:cs typeface="微软雅黑"/>
              </a:rPr>
              <a:t>—</a:t>
            </a:r>
          </a:p>
        </p:txBody>
      </p:sp>
      <p:cxnSp>
        <p:nvCxnSpPr>
          <p:cNvPr id="97" name="rl-4"/>
          <p:cNvCxnSpPr/>
          <p:nvPr/>
        </p:nvCxnSpPr>
        <p:spPr>
          <a:xfrm>
            <a:off x="952500" y="43561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8" name="sn-5"/>
          <p:cNvSpPr/>
          <p:nvPr/>
        </p:nvSpPr>
        <p:spPr>
          <a:xfrm>
            <a:off x="984250" y="4565650"/>
            <a:ext cx="215900" cy="215900"/>
          </a:xfrm>
          <a:prstGeom prst="ellipse">
            <a:avLst/>
          </a:pr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9" name="snt-5"/>
          <p:cNvSpPr txBox="1"/>
          <p:nvPr/>
        </p:nvSpPr>
        <p:spPr>
          <a:xfrm>
            <a:off x="1018032" y="459257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  <p:sp>
        <p:nvSpPr>
          <p:cNvPr id="100" name="nm-5"/>
          <p:cNvSpPr txBox="1"/>
          <p:nvPr/>
        </p:nvSpPr>
        <p:spPr>
          <a:xfrm>
            <a:off x="1278636" y="4488370"/>
            <a:ext cx="7226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验收上线</a:t>
            </a:r>
          </a:p>
        </p:txBody>
      </p:sp>
      <p:sp>
        <p:nvSpPr>
          <p:cNvPr id="101" name="nt-5"/>
          <p:cNvSpPr txBox="1"/>
          <p:nvPr/>
        </p:nvSpPr>
        <p:spPr>
          <a:xfrm>
            <a:off x="1284351" y="4724987"/>
            <a:ext cx="65055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验收单与切换</a:t>
            </a:r>
          </a:p>
        </p:txBody>
      </p:sp>
      <p:sp>
        <p:nvSpPr>
          <p:cNvPr id="102" name="m-5-1"/>
          <p:cNvSpPr/>
          <p:nvPr/>
        </p:nvSpPr>
        <p:spPr>
          <a:xfrm>
            <a:off x="4445000" y="4533900"/>
            <a:ext cx="330200" cy="279400"/>
          </a:xfrm>
          <a:custGeom>
            <a:avLst/>
            <a:gdLst/>
            <a:ahLst/>
            <a:cxnLst/>
            <a:rect l="0" t="0" r="r" b="b"/>
            <a:pathLst>
              <a:path w="330200" h="279400">
                <a:moveTo>
                  <a:pt x="88900" y="0"/>
                </a:moveTo>
                <a:lnTo>
                  <a:pt x="241300" y="0"/>
                </a:lnTo>
                <a:cubicBezTo>
                  <a:pt x="290386" y="0"/>
                  <a:pt x="330200" y="39814"/>
                  <a:pt x="330200" y="88900"/>
                </a:cubicBezTo>
                <a:lnTo>
                  <a:pt x="330200" y="190500"/>
                </a:lnTo>
                <a:cubicBezTo>
                  <a:pt x="330200" y="239586"/>
                  <a:pt x="290386" y="279400"/>
                  <a:pt x="241300" y="279400"/>
                </a:cubicBezTo>
                <a:lnTo>
                  <a:pt x="88900" y="279400"/>
                </a:lnTo>
                <a:cubicBezTo>
                  <a:pt x="39814" y="279400"/>
                  <a:pt x="0" y="239586"/>
                  <a:pt x="0" y="190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3969AC"/>
              </a:gs>
              <a:gs pos="100000">
                <a:srgbClr val="134C9C"/>
              </a:gs>
            </a:gsLst>
            <a:lin ang="732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mt-5-1"/>
          <p:cNvSpPr txBox="1"/>
          <p:nvPr/>
        </p:nvSpPr>
        <p:spPr>
          <a:xfrm>
            <a:off x="4517390" y="4567555"/>
            <a:ext cx="18542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R</a:t>
            </a:r>
          </a:p>
        </p:txBody>
      </p:sp>
      <p:sp>
        <p:nvSpPr>
          <p:cNvPr id="104" name="m-5-2"/>
          <p:cNvSpPr/>
          <p:nvPr/>
        </p:nvSpPr>
        <p:spPr>
          <a:xfrm>
            <a:off x="5880100" y="4546600"/>
            <a:ext cx="304800" cy="254000"/>
          </a:xfrm>
          <a:custGeom>
            <a:avLst/>
            <a:gdLst/>
            <a:ahLst/>
            <a:cxnLst/>
            <a:rect l="0" t="0" r="r" b="b"/>
            <a:pathLst>
              <a:path w="304800" h="254000">
                <a:moveTo>
                  <a:pt x="82550" y="0"/>
                </a:moveTo>
                <a:lnTo>
                  <a:pt x="222250" y="0"/>
                </a:lnTo>
                <a:cubicBezTo>
                  <a:pt x="267843" y="0"/>
                  <a:pt x="304800" y="36957"/>
                  <a:pt x="304800" y="82550"/>
                </a:cubicBezTo>
                <a:lnTo>
                  <a:pt x="304800" y="171450"/>
                </a:lnTo>
                <a:cubicBezTo>
                  <a:pt x="304800" y="217043"/>
                  <a:pt x="267843" y="254000"/>
                  <a:pt x="222250" y="254000"/>
                </a:cubicBezTo>
                <a:lnTo>
                  <a:pt x="82550" y="254000"/>
                </a:lnTo>
                <a:cubicBezTo>
                  <a:pt x="36957" y="254000"/>
                  <a:pt x="0" y="217043"/>
                  <a:pt x="0" y="1714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3985CD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mt-5-2"/>
          <p:cNvSpPr txBox="1"/>
          <p:nvPr/>
        </p:nvSpPr>
        <p:spPr>
          <a:xfrm>
            <a:off x="5949061" y="457689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C</a:t>
            </a:r>
          </a:p>
        </p:txBody>
      </p:sp>
      <p:sp>
        <p:nvSpPr>
          <p:cNvPr id="106" name="m-5-3"/>
          <p:cNvSpPr/>
          <p:nvPr/>
        </p:nvSpPr>
        <p:spPr>
          <a:xfrm>
            <a:off x="7302500" y="4546600"/>
            <a:ext cx="304800" cy="254000"/>
          </a:xfrm>
          <a:custGeom>
            <a:avLst/>
            <a:gdLst/>
            <a:ahLst/>
            <a:cxnLst/>
            <a:rect l="0" t="0" r="r" b="b"/>
            <a:pathLst>
              <a:path w="304800" h="254000">
                <a:moveTo>
                  <a:pt x="82550" y="0"/>
                </a:moveTo>
                <a:lnTo>
                  <a:pt x="222250" y="0"/>
                </a:lnTo>
                <a:cubicBezTo>
                  <a:pt x="267843" y="0"/>
                  <a:pt x="304800" y="36957"/>
                  <a:pt x="304800" y="82550"/>
                </a:cubicBezTo>
                <a:lnTo>
                  <a:pt x="304800" y="171450"/>
                </a:lnTo>
                <a:cubicBezTo>
                  <a:pt x="304800" y="217043"/>
                  <a:pt x="267843" y="254000"/>
                  <a:pt x="222250" y="254000"/>
                </a:cubicBezTo>
                <a:lnTo>
                  <a:pt x="82550" y="254000"/>
                </a:lnTo>
                <a:cubicBezTo>
                  <a:pt x="36957" y="254000"/>
                  <a:pt x="0" y="217043"/>
                  <a:pt x="0" y="1714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3985CD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7" name="mt-5-3"/>
          <p:cNvSpPr txBox="1"/>
          <p:nvPr/>
        </p:nvSpPr>
        <p:spPr>
          <a:xfrm>
            <a:off x="7371461" y="457689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C</a:t>
            </a:r>
          </a:p>
        </p:txBody>
      </p:sp>
      <p:sp>
        <p:nvSpPr>
          <p:cNvPr id="108" name="m-5-4"/>
          <p:cNvSpPr/>
          <p:nvPr/>
        </p:nvSpPr>
        <p:spPr>
          <a:xfrm>
            <a:off x="8712200" y="4533900"/>
            <a:ext cx="330200" cy="279400"/>
          </a:xfrm>
          <a:custGeom>
            <a:avLst/>
            <a:gdLst/>
            <a:ahLst/>
            <a:cxnLst/>
            <a:rect l="0" t="0" r="r" b="b"/>
            <a:pathLst>
              <a:path w="330200" h="279400">
                <a:moveTo>
                  <a:pt x="88900" y="0"/>
                </a:moveTo>
                <a:lnTo>
                  <a:pt x="241300" y="0"/>
                </a:lnTo>
                <a:cubicBezTo>
                  <a:pt x="290386" y="0"/>
                  <a:pt x="330200" y="39814"/>
                  <a:pt x="330200" y="88900"/>
                </a:cubicBezTo>
                <a:lnTo>
                  <a:pt x="330200" y="190500"/>
                </a:lnTo>
                <a:cubicBezTo>
                  <a:pt x="330200" y="239586"/>
                  <a:pt x="290386" y="279400"/>
                  <a:pt x="241300" y="279400"/>
                </a:cubicBezTo>
                <a:lnTo>
                  <a:pt x="88900" y="279400"/>
                </a:lnTo>
                <a:cubicBezTo>
                  <a:pt x="39814" y="279400"/>
                  <a:pt x="0" y="239586"/>
                  <a:pt x="0" y="190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E5875A"/>
              </a:gs>
              <a:gs pos="100000">
                <a:srgbClr val="E0703A"/>
              </a:gs>
            </a:gsLst>
            <a:lin ang="732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mt-5-4"/>
          <p:cNvSpPr txBox="1"/>
          <p:nvPr/>
        </p:nvSpPr>
        <p:spPr>
          <a:xfrm>
            <a:off x="8784590" y="4567555"/>
            <a:ext cx="18542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110" name="m-5-5"/>
          <p:cNvSpPr/>
          <p:nvPr/>
        </p:nvSpPr>
        <p:spPr>
          <a:xfrm>
            <a:off x="10147300" y="4546600"/>
            <a:ext cx="304800" cy="254000"/>
          </a:xfrm>
          <a:custGeom>
            <a:avLst/>
            <a:gdLst/>
            <a:ahLst/>
            <a:cxnLst/>
            <a:rect l="0" t="0" r="r" b="b"/>
            <a:pathLst>
              <a:path w="304800" h="254000">
                <a:moveTo>
                  <a:pt x="82550" y="0"/>
                </a:moveTo>
                <a:lnTo>
                  <a:pt x="222250" y="0"/>
                </a:lnTo>
                <a:cubicBezTo>
                  <a:pt x="267843" y="0"/>
                  <a:pt x="304800" y="36957"/>
                  <a:pt x="304800" y="82550"/>
                </a:cubicBezTo>
                <a:lnTo>
                  <a:pt x="304800" y="171450"/>
                </a:lnTo>
                <a:cubicBezTo>
                  <a:pt x="304800" y="217043"/>
                  <a:pt x="267843" y="254000"/>
                  <a:pt x="222250" y="254000"/>
                </a:cubicBezTo>
                <a:lnTo>
                  <a:pt x="82550" y="254000"/>
                </a:lnTo>
                <a:cubicBezTo>
                  <a:pt x="36957" y="254000"/>
                  <a:pt x="0" y="217043"/>
                  <a:pt x="0" y="1714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AFC3D9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1" name="mt-5-5"/>
          <p:cNvSpPr txBox="1"/>
          <p:nvPr/>
        </p:nvSpPr>
        <p:spPr>
          <a:xfrm>
            <a:off x="10216261" y="457689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AFC3D9"/>
                </a:solidFill>
                <a:latin typeface="Arial"/>
                <a:ea typeface="Arial"/>
                <a:cs typeface="Arial"/>
              </a:rPr>
              <a:t>I</a:t>
            </a:r>
          </a:p>
        </p:txBody>
      </p:sp>
      <p:cxnSp>
        <p:nvCxnSpPr>
          <p:cNvPr id="112" name="rl-5"/>
          <p:cNvCxnSpPr/>
          <p:nvPr/>
        </p:nvCxnSpPr>
        <p:spPr>
          <a:xfrm>
            <a:off x="952500" y="4940300"/>
            <a:ext cx="10287000" cy="0"/>
          </a:xfrm>
          <a:prstGeom prst="line">
            <a:avLst/>
          </a:prstGeom>
          <a:ln w="635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3" name="sn-6"/>
          <p:cNvSpPr/>
          <p:nvPr/>
        </p:nvSpPr>
        <p:spPr>
          <a:xfrm>
            <a:off x="984250" y="5149850"/>
            <a:ext cx="215900" cy="215900"/>
          </a:xfrm>
          <a:prstGeom prst="ellipse">
            <a:avLst/>
          </a:prstGeom>
          <a:solidFill>
            <a:srgbClr val="3985CD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4" name="snt-6"/>
          <p:cNvSpPr txBox="1"/>
          <p:nvPr/>
        </p:nvSpPr>
        <p:spPr>
          <a:xfrm>
            <a:off x="1018032" y="5176774"/>
            <a:ext cx="14833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6</a:t>
            </a:r>
          </a:p>
        </p:txBody>
      </p:sp>
      <p:sp>
        <p:nvSpPr>
          <p:cNvPr id="115" name="nm-6"/>
          <p:cNvSpPr txBox="1"/>
          <p:nvPr/>
        </p:nvSpPr>
        <p:spPr>
          <a:xfrm>
            <a:off x="1278636" y="5072570"/>
            <a:ext cx="7226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复盘优化</a:t>
            </a:r>
          </a:p>
        </p:txBody>
      </p:sp>
      <p:sp>
        <p:nvSpPr>
          <p:cNvPr id="116" name="nt-6"/>
          <p:cNvSpPr txBox="1"/>
          <p:nvPr/>
        </p:nvSpPr>
        <p:spPr>
          <a:xfrm>
            <a:off x="1284351" y="5309187"/>
            <a:ext cx="74517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问题归因与改进</a:t>
            </a:r>
          </a:p>
        </p:txBody>
      </p:sp>
      <p:sp>
        <p:nvSpPr>
          <p:cNvPr id="117" name="m-6-1"/>
          <p:cNvSpPr/>
          <p:nvPr/>
        </p:nvSpPr>
        <p:spPr>
          <a:xfrm>
            <a:off x="4445000" y="5118100"/>
            <a:ext cx="330200" cy="279400"/>
          </a:xfrm>
          <a:custGeom>
            <a:avLst/>
            <a:gdLst/>
            <a:ahLst/>
            <a:cxnLst/>
            <a:rect l="0" t="0" r="r" b="b"/>
            <a:pathLst>
              <a:path w="330200" h="279400">
                <a:moveTo>
                  <a:pt x="88900" y="0"/>
                </a:moveTo>
                <a:lnTo>
                  <a:pt x="241300" y="0"/>
                </a:lnTo>
                <a:cubicBezTo>
                  <a:pt x="290386" y="0"/>
                  <a:pt x="330200" y="39814"/>
                  <a:pt x="330200" y="88900"/>
                </a:cubicBezTo>
                <a:lnTo>
                  <a:pt x="330200" y="190500"/>
                </a:lnTo>
                <a:cubicBezTo>
                  <a:pt x="330200" y="239586"/>
                  <a:pt x="290386" y="279400"/>
                  <a:pt x="241300" y="279400"/>
                </a:cubicBezTo>
                <a:lnTo>
                  <a:pt x="88900" y="279400"/>
                </a:lnTo>
                <a:cubicBezTo>
                  <a:pt x="39814" y="279400"/>
                  <a:pt x="0" y="239586"/>
                  <a:pt x="0" y="190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E5875A"/>
              </a:gs>
              <a:gs pos="100000">
                <a:srgbClr val="E0703A"/>
              </a:gs>
            </a:gsLst>
            <a:lin ang="732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8" name="mt-6-1"/>
          <p:cNvSpPr txBox="1"/>
          <p:nvPr/>
        </p:nvSpPr>
        <p:spPr>
          <a:xfrm>
            <a:off x="4517390" y="5151755"/>
            <a:ext cx="18542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119" name="m-6-2"/>
          <p:cNvSpPr/>
          <p:nvPr/>
        </p:nvSpPr>
        <p:spPr>
          <a:xfrm>
            <a:off x="5867400" y="5118100"/>
            <a:ext cx="330200" cy="279400"/>
          </a:xfrm>
          <a:custGeom>
            <a:avLst/>
            <a:gdLst/>
            <a:ahLst/>
            <a:cxnLst/>
            <a:rect l="0" t="0" r="r" b="b"/>
            <a:pathLst>
              <a:path w="330200" h="279400">
                <a:moveTo>
                  <a:pt x="88900" y="0"/>
                </a:moveTo>
                <a:lnTo>
                  <a:pt x="241300" y="0"/>
                </a:lnTo>
                <a:cubicBezTo>
                  <a:pt x="290386" y="0"/>
                  <a:pt x="330200" y="39814"/>
                  <a:pt x="330200" y="88900"/>
                </a:cubicBezTo>
                <a:lnTo>
                  <a:pt x="330200" y="190500"/>
                </a:lnTo>
                <a:cubicBezTo>
                  <a:pt x="330200" y="239586"/>
                  <a:pt x="290386" y="279400"/>
                  <a:pt x="241300" y="279400"/>
                </a:cubicBezTo>
                <a:lnTo>
                  <a:pt x="88900" y="279400"/>
                </a:lnTo>
                <a:cubicBezTo>
                  <a:pt x="39814" y="279400"/>
                  <a:pt x="0" y="239586"/>
                  <a:pt x="0" y="1905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gradFill rotWithShape="1">
            <a:gsLst>
              <a:gs pos="0">
                <a:srgbClr val="3969AC"/>
              </a:gs>
              <a:gs pos="100000">
                <a:srgbClr val="134C9C"/>
              </a:gs>
            </a:gsLst>
            <a:lin ang="7320000" scaled="0"/>
          </a:gra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0" name="mt-6-2"/>
          <p:cNvSpPr txBox="1"/>
          <p:nvPr/>
        </p:nvSpPr>
        <p:spPr>
          <a:xfrm>
            <a:off x="5939790" y="5151755"/>
            <a:ext cx="18542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0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R</a:t>
            </a:r>
          </a:p>
        </p:txBody>
      </p:sp>
      <p:sp>
        <p:nvSpPr>
          <p:cNvPr id="121" name="m-6-3"/>
          <p:cNvSpPr/>
          <p:nvPr/>
        </p:nvSpPr>
        <p:spPr>
          <a:xfrm>
            <a:off x="7302500" y="5130800"/>
            <a:ext cx="304800" cy="254000"/>
          </a:xfrm>
          <a:custGeom>
            <a:avLst/>
            <a:gdLst/>
            <a:ahLst/>
            <a:cxnLst/>
            <a:rect l="0" t="0" r="r" b="b"/>
            <a:pathLst>
              <a:path w="304800" h="254000">
                <a:moveTo>
                  <a:pt x="82550" y="0"/>
                </a:moveTo>
                <a:lnTo>
                  <a:pt x="222250" y="0"/>
                </a:lnTo>
                <a:cubicBezTo>
                  <a:pt x="267843" y="0"/>
                  <a:pt x="304800" y="36957"/>
                  <a:pt x="304800" y="82550"/>
                </a:cubicBezTo>
                <a:lnTo>
                  <a:pt x="304800" y="171450"/>
                </a:lnTo>
                <a:cubicBezTo>
                  <a:pt x="304800" y="217043"/>
                  <a:pt x="267843" y="254000"/>
                  <a:pt x="222250" y="254000"/>
                </a:cubicBezTo>
                <a:lnTo>
                  <a:pt x="82550" y="254000"/>
                </a:lnTo>
                <a:cubicBezTo>
                  <a:pt x="36957" y="254000"/>
                  <a:pt x="0" y="217043"/>
                  <a:pt x="0" y="1714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3985CD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2" name="mt-6-3"/>
          <p:cNvSpPr txBox="1"/>
          <p:nvPr/>
        </p:nvSpPr>
        <p:spPr>
          <a:xfrm>
            <a:off x="7371461" y="516109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C</a:t>
            </a:r>
          </a:p>
        </p:txBody>
      </p:sp>
      <p:sp>
        <p:nvSpPr>
          <p:cNvPr id="123" name="m-6-4"/>
          <p:cNvSpPr/>
          <p:nvPr/>
        </p:nvSpPr>
        <p:spPr>
          <a:xfrm>
            <a:off x="8724900" y="5130800"/>
            <a:ext cx="304800" cy="254000"/>
          </a:xfrm>
          <a:custGeom>
            <a:avLst/>
            <a:gdLst/>
            <a:ahLst/>
            <a:cxnLst/>
            <a:rect l="0" t="0" r="r" b="b"/>
            <a:pathLst>
              <a:path w="304800" h="254000">
                <a:moveTo>
                  <a:pt x="82550" y="0"/>
                </a:moveTo>
                <a:lnTo>
                  <a:pt x="222250" y="0"/>
                </a:lnTo>
                <a:cubicBezTo>
                  <a:pt x="267843" y="0"/>
                  <a:pt x="304800" y="36957"/>
                  <a:pt x="304800" y="82550"/>
                </a:cubicBezTo>
                <a:lnTo>
                  <a:pt x="304800" y="171450"/>
                </a:lnTo>
                <a:cubicBezTo>
                  <a:pt x="304800" y="217043"/>
                  <a:pt x="267843" y="254000"/>
                  <a:pt x="222250" y="254000"/>
                </a:cubicBezTo>
                <a:lnTo>
                  <a:pt x="82550" y="254000"/>
                </a:lnTo>
                <a:cubicBezTo>
                  <a:pt x="36957" y="254000"/>
                  <a:pt x="0" y="217043"/>
                  <a:pt x="0" y="1714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3985CD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4" name="mt-6-4"/>
          <p:cNvSpPr txBox="1"/>
          <p:nvPr/>
        </p:nvSpPr>
        <p:spPr>
          <a:xfrm>
            <a:off x="8793861" y="516109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C</a:t>
            </a:r>
          </a:p>
        </p:txBody>
      </p:sp>
      <p:sp>
        <p:nvSpPr>
          <p:cNvPr id="125" name="m-6-5"/>
          <p:cNvSpPr/>
          <p:nvPr/>
        </p:nvSpPr>
        <p:spPr>
          <a:xfrm>
            <a:off x="10147300" y="5130800"/>
            <a:ext cx="304800" cy="254000"/>
          </a:xfrm>
          <a:custGeom>
            <a:avLst/>
            <a:gdLst/>
            <a:ahLst/>
            <a:cxnLst/>
            <a:rect l="0" t="0" r="r" b="b"/>
            <a:pathLst>
              <a:path w="304800" h="254000">
                <a:moveTo>
                  <a:pt x="82550" y="0"/>
                </a:moveTo>
                <a:lnTo>
                  <a:pt x="222250" y="0"/>
                </a:lnTo>
                <a:cubicBezTo>
                  <a:pt x="267843" y="0"/>
                  <a:pt x="304800" y="36957"/>
                  <a:pt x="304800" y="82550"/>
                </a:cubicBezTo>
                <a:lnTo>
                  <a:pt x="304800" y="171450"/>
                </a:lnTo>
                <a:cubicBezTo>
                  <a:pt x="304800" y="217043"/>
                  <a:pt x="267843" y="254000"/>
                  <a:pt x="222250" y="254000"/>
                </a:cubicBezTo>
                <a:lnTo>
                  <a:pt x="82550" y="254000"/>
                </a:lnTo>
                <a:cubicBezTo>
                  <a:pt x="36957" y="254000"/>
                  <a:pt x="0" y="217043"/>
                  <a:pt x="0" y="171450"/>
                </a:cubicBezTo>
                <a:lnTo>
                  <a:pt x="0" y="82550"/>
                </a:lnTo>
                <a:cubicBezTo>
                  <a:pt x="0" y="36957"/>
                  <a:pt x="36957" y="0"/>
                  <a:pt x="82550" y="0"/>
                </a:cubicBezTo>
                <a:close/>
              </a:path>
            </a:pathLst>
          </a:custGeom>
          <a:solidFill>
            <a:srgbClr val="AFC3D9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6" name="mt-6-5"/>
          <p:cNvSpPr txBox="1"/>
          <p:nvPr/>
        </p:nvSpPr>
        <p:spPr>
          <a:xfrm>
            <a:off x="10216261" y="516109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AFC3D9"/>
                </a:solidFill>
                <a:latin typeface="Arial"/>
                <a:ea typeface="Arial"/>
                <a:cs typeface="Arial"/>
              </a:rPr>
              <a:t>I</a:t>
            </a:r>
          </a:p>
        </p:txBody>
      </p:sp>
      <p:sp>
        <p:nvSpPr>
          <p:cNvPr id="127" name="lg-h"/>
          <p:cNvSpPr txBox="1"/>
          <p:nvPr/>
        </p:nvSpPr>
        <p:spPr>
          <a:xfrm>
            <a:off x="941070" y="5673566"/>
            <a:ext cx="6229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9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RACI 含义</a:t>
            </a:r>
          </a:p>
        </p:txBody>
      </p:sp>
      <p:sp>
        <p:nvSpPr>
          <p:cNvPr id="128" name="lg-1"/>
          <p:cNvSpPr/>
          <p:nvPr/>
        </p:nvSpPr>
        <p:spPr>
          <a:xfrm>
            <a:off x="1778000" y="5664200"/>
            <a:ext cx="279400" cy="254000"/>
          </a:xfrm>
          <a:custGeom>
            <a:avLst/>
            <a:gdLst/>
            <a:ahLst/>
            <a:cxnLst/>
            <a:rect l="0" t="0" r="r" b="b"/>
            <a:pathLst>
              <a:path w="279400" h="254000">
                <a:moveTo>
                  <a:pt x="76200" y="0"/>
                </a:moveTo>
                <a:lnTo>
                  <a:pt x="203200" y="0"/>
                </a:lnTo>
                <a:cubicBezTo>
                  <a:pt x="245300" y="0"/>
                  <a:pt x="279400" y="34100"/>
                  <a:pt x="279400" y="76200"/>
                </a:cubicBezTo>
                <a:lnTo>
                  <a:pt x="279400" y="177800"/>
                </a:lnTo>
                <a:cubicBezTo>
                  <a:pt x="279400" y="219900"/>
                  <a:pt x="245300" y="254000"/>
                  <a:pt x="203200" y="254000"/>
                </a:cubicBezTo>
                <a:lnTo>
                  <a:pt x="76200" y="254000"/>
                </a:lnTo>
                <a:cubicBezTo>
                  <a:pt x="34100" y="254000"/>
                  <a:pt x="0" y="219900"/>
                  <a:pt x="0" y="1778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9" name="lgm-1"/>
          <p:cNvSpPr txBox="1"/>
          <p:nvPr/>
        </p:nvSpPr>
        <p:spPr>
          <a:xfrm>
            <a:off x="1834261" y="570084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R</a:t>
            </a:r>
          </a:p>
        </p:txBody>
      </p:sp>
      <p:sp>
        <p:nvSpPr>
          <p:cNvPr id="130" name="lgc-1"/>
          <p:cNvSpPr txBox="1"/>
          <p:nvPr/>
        </p:nvSpPr>
        <p:spPr>
          <a:xfrm>
            <a:off x="2134108" y="5665724"/>
            <a:ext cx="51308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负责执行</a:t>
            </a:r>
          </a:p>
        </p:txBody>
      </p:sp>
      <p:sp>
        <p:nvSpPr>
          <p:cNvPr id="131" name="lge-1"/>
          <p:cNvSpPr txBox="1"/>
          <p:nvPr/>
        </p:nvSpPr>
        <p:spPr>
          <a:xfrm>
            <a:off x="2135632" y="5814758"/>
            <a:ext cx="66954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30">
                <a:solidFill>
                  <a:srgbClr val="7E93AE"/>
                </a:solidFill>
                <a:latin typeface="Arial"/>
                <a:ea typeface="Arial"/>
                <a:cs typeface="Arial"/>
              </a:rPr>
              <a:t>Responsible</a:t>
            </a:r>
          </a:p>
        </p:txBody>
      </p:sp>
      <p:sp>
        <p:nvSpPr>
          <p:cNvPr id="132" name="lg-2"/>
          <p:cNvSpPr/>
          <p:nvPr/>
        </p:nvSpPr>
        <p:spPr>
          <a:xfrm>
            <a:off x="3238500" y="5664200"/>
            <a:ext cx="279400" cy="254000"/>
          </a:xfrm>
          <a:custGeom>
            <a:avLst/>
            <a:gdLst/>
            <a:ahLst/>
            <a:cxnLst/>
            <a:rect l="0" t="0" r="r" b="b"/>
            <a:pathLst>
              <a:path w="279400" h="254000">
                <a:moveTo>
                  <a:pt x="76200" y="0"/>
                </a:moveTo>
                <a:lnTo>
                  <a:pt x="203200" y="0"/>
                </a:lnTo>
                <a:cubicBezTo>
                  <a:pt x="245300" y="0"/>
                  <a:pt x="279400" y="34100"/>
                  <a:pt x="279400" y="76200"/>
                </a:cubicBezTo>
                <a:lnTo>
                  <a:pt x="279400" y="177800"/>
                </a:lnTo>
                <a:cubicBezTo>
                  <a:pt x="279400" y="219900"/>
                  <a:pt x="245300" y="254000"/>
                  <a:pt x="203200" y="254000"/>
                </a:cubicBezTo>
                <a:lnTo>
                  <a:pt x="76200" y="254000"/>
                </a:lnTo>
                <a:cubicBezTo>
                  <a:pt x="34100" y="254000"/>
                  <a:pt x="0" y="219900"/>
                  <a:pt x="0" y="1778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3" name="lgm-2"/>
          <p:cNvSpPr txBox="1"/>
          <p:nvPr/>
        </p:nvSpPr>
        <p:spPr>
          <a:xfrm>
            <a:off x="3294761" y="570084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134" name="lgc-2"/>
          <p:cNvSpPr txBox="1"/>
          <p:nvPr/>
        </p:nvSpPr>
        <p:spPr>
          <a:xfrm>
            <a:off x="3594608" y="5665724"/>
            <a:ext cx="51308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最终批准</a:t>
            </a:r>
          </a:p>
        </p:txBody>
      </p:sp>
      <p:sp>
        <p:nvSpPr>
          <p:cNvPr id="135" name="lge-2"/>
          <p:cNvSpPr txBox="1"/>
          <p:nvPr/>
        </p:nvSpPr>
        <p:spPr>
          <a:xfrm>
            <a:off x="3596132" y="5814758"/>
            <a:ext cx="66954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30">
                <a:solidFill>
                  <a:srgbClr val="7E93AE"/>
                </a:solidFill>
                <a:latin typeface="Arial"/>
                <a:ea typeface="Arial"/>
                <a:cs typeface="Arial"/>
              </a:rPr>
              <a:t>Accountable</a:t>
            </a:r>
          </a:p>
        </p:txBody>
      </p:sp>
      <p:sp>
        <p:nvSpPr>
          <p:cNvPr id="136" name="lg-3"/>
          <p:cNvSpPr/>
          <p:nvPr/>
        </p:nvSpPr>
        <p:spPr>
          <a:xfrm>
            <a:off x="4699000" y="5664200"/>
            <a:ext cx="279400" cy="254000"/>
          </a:xfrm>
          <a:custGeom>
            <a:avLst/>
            <a:gdLst/>
            <a:ahLst/>
            <a:cxnLst/>
            <a:rect l="0" t="0" r="r" b="b"/>
            <a:pathLst>
              <a:path w="279400" h="254000">
                <a:moveTo>
                  <a:pt x="76200" y="0"/>
                </a:moveTo>
                <a:lnTo>
                  <a:pt x="203200" y="0"/>
                </a:lnTo>
                <a:cubicBezTo>
                  <a:pt x="245300" y="0"/>
                  <a:pt x="279400" y="34100"/>
                  <a:pt x="279400" y="76200"/>
                </a:cubicBezTo>
                <a:lnTo>
                  <a:pt x="279400" y="177800"/>
                </a:lnTo>
                <a:cubicBezTo>
                  <a:pt x="279400" y="219900"/>
                  <a:pt x="245300" y="254000"/>
                  <a:pt x="203200" y="254000"/>
                </a:cubicBezTo>
                <a:lnTo>
                  <a:pt x="76200" y="254000"/>
                </a:lnTo>
                <a:cubicBezTo>
                  <a:pt x="34100" y="254000"/>
                  <a:pt x="0" y="219900"/>
                  <a:pt x="0" y="1778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3985CD">
              <a:alpha val="1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7" name="lgm-3"/>
          <p:cNvSpPr txBox="1"/>
          <p:nvPr/>
        </p:nvSpPr>
        <p:spPr>
          <a:xfrm>
            <a:off x="4755261" y="570084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3985CD"/>
                </a:solidFill>
                <a:latin typeface="Arial"/>
                <a:ea typeface="Arial"/>
                <a:cs typeface="Arial"/>
              </a:rPr>
              <a:t>C</a:t>
            </a:r>
          </a:p>
        </p:txBody>
      </p:sp>
      <p:sp>
        <p:nvSpPr>
          <p:cNvPr id="138" name="lgc-3"/>
          <p:cNvSpPr txBox="1"/>
          <p:nvPr/>
        </p:nvSpPr>
        <p:spPr>
          <a:xfrm>
            <a:off x="5055108" y="5665724"/>
            <a:ext cx="51308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需被咨询</a:t>
            </a:r>
          </a:p>
        </p:txBody>
      </p:sp>
      <p:sp>
        <p:nvSpPr>
          <p:cNvPr id="139" name="lge-3"/>
          <p:cNvSpPr txBox="1"/>
          <p:nvPr/>
        </p:nvSpPr>
        <p:spPr>
          <a:xfrm>
            <a:off x="5056632" y="5814758"/>
            <a:ext cx="56235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30">
                <a:solidFill>
                  <a:srgbClr val="7E93AE"/>
                </a:solidFill>
                <a:latin typeface="Arial"/>
                <a:ea typeface="Arial"/>
                <a:cs typeface="Arial"/>
              </a:rPr>
              <a:t>Consulted</a:t>
            </a:r>
          </a:p>
        </p:txBody>
      </p:sp>
      <p:sp>
        <p:nvSpPr>
          <p:cNvPr id="140" name="lg-4"/>
          <p:cNvSpPr/>
          <p:nvPr/>
        </p:nvSpPr>
        <p:spPr>
          <a:xfrm>
            <a:off x="6159500" y="5664200"/>
            <a:ext cx="279400" cy="254000"/>
          </a:xfrm>
          <a:custGeom>
            <a:avLst/>
            <a:gdLst/>
            <a:ahLst/>
            <a:cxnLst/>
            <a:rect l="0" t="0" r="r" b="b"/>
            <a:pathLst>
              <a:path w="279400" h="254000">
                <a:moveTo>
                  <a:pt x="76200" y="0"/>
                </a:moveTo>
                <a:lnTo>
                  <a:pt x="203200" y="0"/>
                </a:lnTo>
                <a:cubicBezTo>
                  <a:pt x="245300" y="0"/>
                  <a:pt x="279400" y="34100"/>
                  <a:pt x="279400" y="76200"/>
                </a:cubicBezTo>
                <a:lnTo>
                  <a:pt x="279400" y="177800"/>
                </a:lnTo>
                <a:cubicBezTo>
                  <a:pt x="279400" y="219900"/>
                  <a:pt x="245300" y="254000"/>
                  <a:pt x="203200" y="254000"/>
                </a:cubicBezTo>
                <a:lnTo>
                  <a:pt x="76200" y="254000"/>
                </a:lnTo>
                <a:cubicBezTo>
                  <a:pt x="34100" y="254000"/>
                  <a:pt x="0" y="219900"/>
                  <a:pt x="0" y="1778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solidFill>
            <a:srgbClr val="AFC3D9">
              <a:alpha val="1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1" name="lgm-4"/>
          <p:cNvSpPr txBox="1"/>
          <p:nvPr/>
        </p:nvSpPr>
        <p:spPr>
          <a:xfrm>
            <a:off x="6215761" y="5700840"/>
            <a:ext cx="16687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AFC3D9"/>
                </a:solidFill>
                <a:latin typeface="Arial"/>
                <a:ea typeface="Arial"/>
                <a:cs typeface="Arial"/>
              </a:rPr>
              <a:t>I</a:t>
            </a:r>
          </a:p>
        </p:txBody>
      </p:sp>
      <p:sp>
        <p:nvSpPr>
          <p:cNvPr id="142" name="lgc-4"/>
          <p:cNvSpPr txBox="1"/>
          <p:nvPr/>
        </p:nvSpPr>
        <p:spPr>
          <a:xfrm>
            <a:off x="6515608" y="5665724"/>
            <a:ext cx="51308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3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需被告知</a:t>
            </a:r>
          </a:p>
        </p:txBody>
      </p:sp>
      <p:sp>
        <p:nvSpPr>
          <p:cNvPr id="143" name="lge-4"/>
          <p:cNvSpPr txBox="1"/>
          <p:nvPr/>
        </p:nvSpPr>
        <p:spPr>
          <a:xfrm>
            <a:off x="6517132" y="5814758"/>
            <a:ext cx="508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30">
                <a:solidFill>
                  <a:srgbClr val="7E93AE"/>
                </a:solidFill>
                <a:latin typeface="Arial"/>
                <a:ea typeface="Arial"/>
                <a:cs typeface="Arial"/>
              </a:rPr>
              <a:t>Informed</a:t>
            </a:r>
          </a:p>
        </p:txBody>
      </p:sp>
      <p:sp>
        <p:nvSpPr>
          <p:cNvPr id="144" name="note-bar"/>
          <p:cNvSpPr/>
          <p:nvPr/>
        </p:nvSpPr>
        <p:spPr>
          <a:xfrm>
            <a:off x="7493000" y="5626100"/>
            <a:ext cx="25400" cy="3683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5" name="note-h"/>
          <p:cNvSpPr txBox="1"/>
          <p:nvPr/>
        </p:nvSpPr>
        <p:spPr>
          <a:xfrm>
            <a:off x="7645146" y="5645182"/>
            <a:ext cx="57467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9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使用规则</a:t>
            </a:r>
          </a:p>
        </p:txBody>
      </p:sp>
      <p:sp>
        <p:nvSpPr>
          <p:cNvPr id="146" name="note-p"/>
          <p:cNvSpPr txBox="1"/>
          <p:nvPr/>
        </p:nvSpPr>
        <p:spPr>
          <a:xfrm>
            <a:off x="7644765" y="5806361"/>
            <a:ext cx="274605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每个环节有且只有一个 A；R 可多人但须指名到人。</a:t>
            </a:r>
          </a:p>
        </p:txBody>
      </p:sp>
      <p:sp>
        <p:nvSpPr>
          <p:cNvPr id="147" name="note-p2"/>
          <p:cNvSpPr txBox="1"/>
          <p:nvPr/>
        </p:nvSpPr>
        <p:spPr>
          <a:xfrm>
            <a:off x="7644765" y="5958761"/>
            <a:ext cx="217773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C 在决策前征询，I 在结果出来后同步。</a:t>
            </a:r>
          </a:p>
        </p:txBody>
      </p:sp>
      <p:cxnSp>
        <p:nvCxnSpPr>
          <p:cNvPr id="148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9" name="foot-l"/>
          <p:cNvSpPr txBox="1"/>
          <p:nvPr/>
        </p:nvSpPr>
        <p:spPr>
          <a:xfrm>
            <a:off x="573532" y="6532308"/>
            <a:ext cx="1085723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RACI · 六环节五角色</a:t>
            </a:r>
          </a:p>
        </p:txBody>
      </p:sp>
      <p:sp>
        <p:nvSpPr>
          <p:cNvPr id="150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9946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季度经营复盘会议程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62636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AGENDA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237599" y="673132"/>
            <a:ext cx="23831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半天六个议题，每个议题都带明确的产出要求</a:t>
            </a:r>
          </a:p>
        </p:txBody>
      </p:sp>
      <p:sp>
        <p:nvSpPr>
          <p:cNvPr id="10" name="meta"/>
          <p:cNvSpPr/>
          <p:nvPr/>
        </p:nvSpPr>
        <p:spPr>
          <a:xfrm>
            <a:off x="952500" y="1358900"/>
            <a:ext cx="10287000" cy="482600"/>
          </a:xfrm>
          <a:custGeom>
            <a:avLst/>
            <a:gdLst/>
            <a:ahLst/>
            <a:cxnLst/>
            <a:rect l="0" t="0" r="r" b="b"/>
            <a:pathLst>
              <a:path w="10287000" h="4826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381000"/>
                </a:lnTo>
                <a:cubicBezTo>
                  <a:pt x="10287000" y="437134"/>
                  <a:pt x="10241534" y="482600"/>
                  <a:pt x="101854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0A3A88"/>
              </a:gs>
            </a:gsLst>
            <a:lin ang="0" scaled="0"/>
          </a:gra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icon-calendar"/>
          <p:cNvSpPr/>
          <p:nvPr/>
        </p:nvSpPr>
        <p:spPr>
          <a:xfrm>
            <a:off x="1155573" y="1542415"/>
            <a:ext cx="101854" cy="110046"/>
          </a:xfrm>
          <a:custGeom>
            <a:avLst/>
            <a:gdLst/>
            <a:ahLst/>
            <a:cxnLst/>
            <a:rect l="0" t="0" r="r" b="b"/>
            <a:pathLst>
              <a:path w="101854" h="110046">
                <a:moveTo>
                  <a:pt x="0" y="19241"/>
                </a:moveTo>
                <a:lnTo>
                  <a:pt x="101854" y="19241"/>
                </a:lnTo>
                <a:lnTo>
                  <a:pt x="101854" y="110046"/>
                </a:lnTo>
                <a:lnTo>
                  <a:pt x="0" y="110046"/>
                </a:lnTo>
                <a:close/>
                <a:moveTo>
                  <a:pt x="0" y="46800"/>
                </a:moveTo>
                <a:lnTo>
                  <a:pt x="101854" y="46800"/>
                </a:lnTo>
                <a:moveTo>
                  <a:pt x="27559" y="0"/>
                </a:moveTo>
                <a:lnTo>
                  <a:pt x="27559" y="27495"/>
                </a:lnTo>
                <a:moveTo>
                  <a:pt x="74295" y="0"/>
                </a:moveTo>
                <a:lnTo>
                  <a:pt x="74295" y="27495"/>
                </a:lnTo>
              </a:path>
            </a:pathLst>
          </a:custGeom>
          <a:noFill/>
          <a:ln w="1270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ml-1"/>
          <p:cNvSpPr txBox="1"/>
          <p:nvPr/>
        </p:nvSpPr>
        <p:spPr>
          <a:xfrm>
            <a:off x="1475232" y="1439608"/>
            <a:ext cx="2705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50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时间</a:t>
            </a:r>
          </a:p>
        </p:txBody>
      </p:sp>
      <p:sp>
        <p:nvSpPr>
          <p:cNvPr id="13" name="mv-1"/>
          <p:cNvSpPr txBox="1"/>
          <p:nvPr/>
        </p:nvSpPr>
        <p:spPr>
          <a:xfrm>
            <a:off x="1474089" y="1592945"/>
            <a:ext cx="1386015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12 月 18 日 09:00–12:30</a:t>
            </a:r>
          </a:p>
        </p:txBody>
      </p:sp>
      <p:cxnSp>
        <p:nvCxnSpPr>
          <p:cNvPr id="14" name="msep-1"/>
          <p:cNvCxnSpPr/>
          <p:nvPr/>
        </p:nvCxnSpPr>
        <p:spPr>
          <a:xfrm>
            <a:off x="3746500" y="1460500"/>
            <a:ext cx="0" cy="279400"/>
          </a:xfrm>
          <a:prstGeom prst="line">
            <a:avLst/>
          </a:prstGeom>
          <a:ln w="6350" cap="rnd">
            <a:solidFill>
              <a:srgbClr val="FFFFFF">
                <a:alpha val="2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ml-2"/>
          <p:cNvSpPr txBox="1"/>
          <p:nvPr/>
        </p:nvSpPr>
        <p:spPr>
          <a:xfrm>
            <a:off x="3989832" y="1439608"/>
            <a:ext cx="2705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50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地点</a:t>
            </a:r>
          </a:p>
        </p:txBody>
      </p:sp>
      <p:sp>
        <p:nvSpPr>
          <p:cNvPr id="16" name="mv-2"/>
          <p:cNvSpPr txBox="1"/>
          <p:nvPr/>
        </p:nvSpPr>
        <p:spPr>
          <a:xfrm>
            <a:off x="3988689" y="1592945"/>
            <a:ext cx="1069276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总部 3 楼战略会议室</a:t>
            </a:r>
          </a:p>
        </p:txBody>
      </p:sp>
      <p:cxnSp>
        <p:nvCxnSpPr>
          <p:cNvPr id="17" name="msep-2"/>
          <p:cNvCxnSpPr/>
          <p:nvPr/>
        </p:nvCxnSpPr>
        <p:spPr>
          <a:xfrm>
            <a:off x="6261100" y="1460500"/>
            <a:ext cx="0" cy="279400"/>
          </a:xfrm>
          <a:prstGeom prst="line">
            <a:avLst/>
          </a:prstGeom>
          <a:ln w="6350" cap="rnd">
            <a:solidFill>
              <a:srgbClr val="FFFFFF">
                <a:alpha val="2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l-3"/>
          <p:cNvSpPr txBox="1"/>
          <p:nvPr/>
        </p:nvSpPr>
        <p:spPr>
          <a:xfrm>
            <a:off x="6504432" y="1439608"/>
            <a:ext cx="2705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50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主持</a:t>
            </a:r>
          </a:p>
        </p:txBody>
      </p:sp>
      <p:sp>
        <p:nvSpPr>
          <p:cNvPr id="19" name="mv-3"/>
          <p:cNvSpPr txBox="1"/>
          <p:nvPr/>
        </p:nvSpPr>
        <p:spPr>
          <a:xfrm>
            <a:off x="6503289" y="1592945"/>
            <a:ext cx="69437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总经理办公室</a:t>
            </a:r>
          </a:p>
        </p:txBody>
      </p:sp>
      <p:cxnSp>
        <p:nvCxnSpPr>
          <p:cNvPr id="20" name="msep-3"/>
          <p:cNvCxnSpPr/>
          <p:nvPr/>
        </p:nvCxnSpPr>
        <p:spPr>
          <a:xfrm>
            <a:off x="8775700" y="1460500"/>
            <a:ext cx="0" cy="279400"/>
          </a:xfrm>
          <a:prstGeom prst="line">
            <a:avLst/>
          </a:prstGeom>
          <a:ln w="6350" cap="rnd">
            <a:solidFill>
              <a:srgbClr val="FFFFFF">
                <a:alpha val="2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ml-4"/>
          <p:cNvSpPr txBox="1"/>
          <p:nvPr/>
        </p:nvSpPr>
        <p:spPr>
          <a:xfrm>
            <a:off x="9019032" y="1439608"/>
            <a:ext cx="2705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50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参会</a:t>
            </a:r>
          </a:p>
        </p:txBody>
      </p:sp>
      <p:sp>
        <p:nvSpPr>
          <p:cNvPr id="22" name="mv-4"/>
          <p:cNvSpPr txBox="1"/>
          <p:nvPr/>
        </p:nvSpPr>
        <p:spPr>
          <a:xfrm>
            <a:off x="9017889" y="1592945"/>
            <a:ext cx="1473137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各事业部负责人 + 职能负责人</a:t>
            </a:r>
          </a:p>
        </p:txBody>
      </p:sp>
      <p:cxnSp>
        <p:nvCxnSpPr>
          <p:cNvPr id="23" name="axis"/>
          <p:cNvCxnSpPr/>
          <p:nvPr/>
        </p:nvCxnSpPr>
        <p:spPr>
          <a:xfrm>
            <a:off x="1689100" y="2070100"/>
            <a:ext cx="0" cy="3606800"/>
          </a:xfrm>
          <a:prstGeom prst="line">
            <a:avLst/>
          </a:prstGeom>
          <a:ln w="1270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tm-1"/>
          <p:cNvSpPr txBox="1"/>
          <p:nvPr/>
        </p:nvSpPr>
        <p:spPr>
          <a:xfrm>
            <a:off x="941832" y="2108613"/>
            <a:ext cx="509270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25">
                <a:solidFill>
                  <a:srgbClr val="0B2545"/>
                </a:solidFill>
                <a:latin typeface="Arial"/>
                <a:ea typeface="Arial"/>
                <a:cs typeface="Arial"/>
              </a:rPr>
              <a:t>09:00</a:t>
            </a:r>
          </a:p>
        </p:txBody>
      </p:sp>
      <p:sp>
        <p:nvSpPr>
          <p:cNvPr id="25" name="dur-1"/>
          <p:cNvSpPr txBox="1"/>
          <p:nvPr/>
        </p:nvSpPr>
        <p:spPr>
          <a:xfrm>
            <a:off x="1025906" y="2328608"/>
            <a:ext cx="4198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30 分钟</a:t>
            </a:r>
          </a:p>
        </p:txBody>
      </p:sp>
      <p:sp>
        <p:nvSpPr>
          <p:cNvPr id="26" name="dot-1"/>
          <p:cNvSpPr/>
          <p:nvPr/>
        </p:nvSpPr>
        <p:spPr>
          <a:xfrm>
            <a:off x="1606550" y="2178050"/>
            <a:ext cx="165100" cy="1651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dotc-1"/>
          <p:cNvSpPr/>
          <p:nvPr/>
        </p:nvSpPr>
        <p:spPr>
          <a:xfrm>
            <a:off x="1657350" y="2228850"/>
            <a:ext cx="63500" cy="635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card-1"/>
          <p:cNvSpPr/>
          <p:nvPr/>
        </p:nvSpPr>
        <p:spPr>
          <a:xfrm>
            <a:off x="1968500" y="2006600"/>
            <a:ext cx="6477000" cy="533400"/>
          </a:xfrm>
          <a:custGeom>
            <a:avLst/>
            <a:gdLst/>
            <a:ahLst/>
            <a:cxnLst/>
            <a:rect l="0" t="0" r="r" b="b"/>
            <a:pathLst>
              <a:path w="6477000" h="533400">
                <a:moveTo>
                  <a:pt x="101600" y="0"/>
                </a:moveTo>
                <a:lnTo>
                  <a:pt x="6375400" y="0"/>
                </a:lnTo>
                <a:cubicBezTo>
                  <a:pt x="6431534" y="0"/>
                  <a:pt x="6477000" y="45466"/>
                  <a:pt x="6477000" y="101600"/>
                </a:cubicBezTo>
                <a:lnTo>
                  <a:pt x="6477000" y="431800"/>
                </a:lnTo>
                <a:cubicBezTo>
                  <a:pt x="6477000" y="487934"/>
                  <a:pt x="6431534" y="533400"/>
                  <a:pt x="6375400" y="533400"/>
                </a:cubicBezTo>
                <a:lnTo>
                  <a:pt x="101600" y="533400"/>
                </a:lnTo>
                <a:cubicBezTo>
                  <a:pt x="45466" y="533400"/>
                  <a:pt x="0" y="487934"/>
                  <a:pt x="0" y="431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cb-1"/>
          <p:cNvSpPr/>
          <p:nvPr/>
        </p:nvSpPr>
        <p:spPr>
          <a:xfrm>
            <a:off x="1968500" y="2006600"/>
            <a:ext cx="31750" cy="533400"/>
          </a:xfrm>
          <a:custGeom>
            <a:avLst/>
            <a:gdLst/>
            <a:ahLst/>
            <a:cxnLst/>
            <a:rect l="0" t="0" r="r" b="b"/>
            <a:pathLst>
              <a:path w="31750" h="5334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517525"/>
                </a:lnTo>
                <a:cubicBezTo>
                  <a:pt x="31750" y="526288"/>
                  <a:pt x="24638" y="533400"/>
                  <a:pt x="15875" y="533400"/>
                </a:cubicBezTo>
                <a:lnTo>
                  <a:pt x="15875" y="533400"/>
                </a:lnTo>
                <a:cubicBezTo>
                  <a:pt x="7112" y="533400"/>
                  <a:pt x="0" y="526288"/>
                  <a:pt x="0" y="5175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icon-chart"/>
          <p:cNvSpPr/>
          <p:nvPr/>
        </p:nvSpPr>
        <p:spPr>
          <a:xfrm>
            <a:off x="2164715" y="2239962"/>
            <a:ext cx="115570" cy="75692"/>
          </a:xfrm>
          <a:custGeom>
            <a:avLst/>
            <a:gdLst/>
            <a:ahLst/>
            <a:cxnLst/>
            <a:rect l="0" t="0" r="r" b="b"/>
            <a:pathLst>
              <a:path w="115570" h="75692">
                <a:moveTo>
                  <a:pt x="0" y="75692"/>
                </a:moveTo>
                <a:lnTo>
                  <a:pt x="115570" y="75692"/>
                </a:lnTo>
                <a:moveTo>
                  <a:pt x="26162" y="75692"/>
                </a:moveTo>
                <a:lnTo>
                  <a:pt x="26162" y="31623"/>
                </a:lnTo>
                <a:moveTo>
                  <a:pt x="57785" y="75692"/>
                </a:moveTo>
                <a:lnTo>
                  <a:pt x="57785" y="0"/>
                </a:lnTo>
                <a:moveTo>
                  <a:pt x="89408" y="75692"/>
                </a:moveTo>
                <a:lnTo>
                  <a:pt x="89408" y="46800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tp-1"/>
          <p:cNvSpPr txBox="1"/>
          <p:nvPr/>
        </p:nvSpPr>
        <p:spPr>
          <a:xfrm>
            <a:off x="2421636" y="2062670"/>
            <a:ext cx="13195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全年经营数据回顾</a:t>
            </a:r>
          </a:p>
        </p:txBody>
      </p:sp>
      <p:sp>
        <p:nvSpPr>
          <p:cNvPr id="32" name="out-1"/>
          <p:cNvSpPr txBox="1"/>
          <p:nvPr/>
        </p:nvSpPr>
        <p:spPr>
          <a:xfrm>
            <a:off x="2427351" y="2311987"/>
            <a:ext cx="159670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营收、毛利、现金流三张表口径对齐</a:t>
            </a:r>
          </a:p>
        </p:txBody>
      </p:sp>
      <p:sp>
        <p:nvSpPr>
          <p:cNvPr id="33" name="ow-1"/>
          <p:cNvSpPr txBox="1"/>
          <p:nvPr/>
        </p:nvSpPr>
        <p:spPr>
          <a:xfrm>
            <a:off x="7619365" y="2130266"/>
            <a:ext cx="6724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总经理办公室</a:t>
            </a:r>
          </a:p>
        </p:txBody>
      </p:sp>
      <p:sp>
        <p:nvSpPr>
          <p:cNvPr id="34" name="kt-1"/>
          <p:cNvSpPr/>
          <p:nvPr/>
        </p:nvSpPr>
        <p:spPr>
          <a:xfrm>
            <a:off x="7632700" y="2336800"/>
            <a:ext cx="635000" cy="177800"/>
          </a:xfrm>
          <a:custGeom>
            <a:avLst/>
            <a:gdLst/>
            <a:ahLst/>
            <a:cxnLst/>
            <a:rect l="0" t="0" r="r" b="b"/>
            <a:pathLst>
              <a:path w="635000" h="177800">
                <a:moveTo>
                  <a:pt x="88900" y="0"/>
                </a:moveTo>
                <a:lnTo>
                  <a:pt x="546100" y="0"/>
                </a:lnTo>
                <a:cubicBezTo>
                  <a:pt x="595186" y="0"/>
                  <a:pt x="635000" y="39814"/>
                  <a:pt x="635000" y="88900"/>
                </a:cubicBezTo>
                <a:lnTo>
                  <a:pt x="635000" y="88900"/>
                </a:lnTo>
                <a:cubicBezTo>
                  <a:pt x="635000" y="137986"/>
                  <a:pt x="595186" y="177800"/>
                  <a:pt x="5461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ktt-1"/>
          <p:cNvSpPr txBox="1"/>
          <p:nvPr/>
        </p:nvSpPr>
        <p:spPr>
          <a:xfrm>
            <a:off x="7726045" y="2354008"/>
            <a:ext cx="4483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需出决议</a:t>
            </a:r>
          </a:p>
        </p:txBody>
      </p:sp>
      <p:sp>
        <p:nvSpPr>
          <p:cNvPr id="36" name="tm-2"/>
          <p:cNvSpPr txBox="1"/>
          <p:nvPr/>
        </p:nvSpPr>
        <p:spPr>
          <a:xfrm>
            <a:off x="941832" y="2769013"/>
            <a:ext cx="509270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25">
                <a:solidFill>
                  <a:srgbClr val="0B2545"/>
                </a:solidFill>
                <a:latin typeface="Arial"/>
                <a:ea typeface="Arial"/>
                <a:cs typeface="Arial"/>
              </a:rPr>
              <a:t>09:30</a:t>
            </a:r>
          </a:p>
        </p:txBody>
      </p:sp>
      <p:sp>
        <p:nvSpPr>
          <p:cNvPr id="37" name="dur-2"/>
          <p:cNvSpPr txBox="1"/>
          <p:nvPr/>
        </p:nvSpPr>
        <p:spPr>
          <a:xfrm>
            <a:off x="1025906" y="2989008"/>
            <a:ext cx="4198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40 分钟</a:t>
            </a:r>
          </a:p>
        </p:txBody>
      </p:sp>
      <p:sp>
        <p:nvSpPr>
          <p:cNvPr id="38" name="dot-2"/>
          <p:cNvSpPr/>
          <p:nvPr/>
        </p:nvSpPr>
        <p:spPr>
          <a:xfrm>
            <a:off x="1606550" y="2838450"/>
            <a:ext cx="165100" cy="1651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card-2"/>
          <p:cNvSpPr/>
          <p:nvPr/>
        </p:nvSpPr>
        <p:spPr>
          <a:xfrm>
            <a:off x="1968500" y="2667000"/>
            <a:ext cx="6477000" cy="533400"/>
          </a:xfrm>
          <a:custGeom>
            <a:avLst/>
            <a:gdLst/>
            <a:ahLst/>
            <a:cxnLst/>
            <a:rect l="0" t="0" r="r" b="b"/>
            <a:pathLst>
              <a:path w="6477000" h="533400">
                <a:moveTo>
                  <a:pt x="101600" y="0"/>
                </a:moveTo>
                <a:lnTo>
                  <a:pt x="6375400" y="0"/>
                </a:lnTo>
                <a:cubicBezTo>
                  <a:pt x="6431534" y="0"/>
                  <a:pt x="6477000" y="45466"/>
                  <a:pt x="6477000" y="101600"/>
                </a:cubicBezTo>
                <a:lnTo>
                  <a:pt x="6477000" y="431800"/>
                </a:lnTo>
                <a:cubicBezTo>
                  <a:pt x="6477000" y="487934"/>
                  <a:pt x="6431534" y="533400"/>
                  <a:pt x="6375400" y="533400"/>
                </a:cubicBezTo>
                <a:lnTo>
                  <a:pt x="101600" y="533400"/>
                </a:lnTo>
                <a:cubicBezTo>
                  <a:pt x="45466" y="533400"/>
                  <a:pt x="0" y="487934"/>
                  <a:pt x="0" y="431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cb-2"/>
          <p:cNvSpPr/>
          <p:nvPr/>
        </p:nvSpPr>
        <p:spPr>
          <a:xfrm>
            <a:off x="1968500" y="2667000"/>
            <a:ext cx="31750" cy="533400"/>
          </a:xfrm>
          <a:custGeom>
            <a:avLst/>
            <a:gdLst/>
            <a:ahLst/>
            <a:cxnLst/>
            <a:rect l="0" t="0" r="r" b="b"/>
            <a:pathLst>
              <a:path w="31750" h="5334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517525"/>
                </a:lnTo>
                <a:cubicBezTo>
                  <a:pt x="31750" y="526288"/>
                  <a:pt x="24638" y="533400"/>
                  <a:pt x="15875" y="533400"/>
                </a:cubicBezTo>
                <a:lnTo>
                  <a:pt x="15875" y="533400"/>
                </a:lnTo>
                <a:cubicBezTo>
                  <a:pt x="7112" y="533400"/>
                  <a:pt x="0" y="526288"/>
                  <a:pt x="0" y="5175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icon-people"/>
          <p:cNvSpPr/>
          <p:nvPr/>
        </p:nvSpPr>
        <p:spPr>
          <a:xfrm>
            <a:off x="2164715" y="2938907"/>
            <a:ext cx="116967" cy="33020"/>
          </a:xfrm>
          <a:custGeom>
            <a:avLst/>
            <a:gdLst/>
            <a:ahLst/>
            <a:cxnLst/>
            <a:rect l="0" t="0" r="r" b="b"/>
            <a:pathLst>
              <a:path w="116967" h="33020">
                <a:moveTo>
                  <a:pt x="0" y="33020"/>
                </a:moveTo>
                <a:cubicBezTo>
                  <a:pt x="0" y="12382"/>
                  <a:pt x="17209" y="0"/>
                  <a:pt x="37148" y="0"/>
                </a:cubicBezTo>
                <a:cubicBezTo>
                  <a:pt x="57087" y="0"/>
                  <a:pt x="74295" y="12382"/>
                  <a:pt x="74295" y="33020"/>
                </a:cubicBezTo>
                <a:moveTo>
                  <a:pt x="88075" y="2731"/>
                </a:moveTo>
                <a:cubicBezTo>
                  <a:pt x="105918" y="4762"/>
                  <a:pt x="116967" y="17145"/>
                  <a:pt x="116967" y="33020"/>
                </a:cubicBezTo>
              </a:path>
            </a:pathLst>
          </a:cu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icon-people"/>
          <p:cNvSpPr/>
          <p:nvPr/>
        </p:nvSpPr>
        <p:spPr>
          <a:xfrm>
            <a:off x="2179849" y="2879725"/>
            <a:ext cx="44027" cy="44027"/>
          </a:xfrm>
          <a:prstGeom prst="ellipse">
            <a:avLst/>
          </a:pr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icon-people"/>
          <p:cNvSpPr/>
          <p:nvPr/>
        </p:nvSpPr>
        <p:spPr>
          <a:xfrm>
            <a:off x="2239010" y="2879725"/>
            <a:ext cx="35772" cy="35772"/>
          </a:xfrm>
          <a:prstGeom prst="ellipse">
            <a:avLst/>
          </a:pr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tp-2"/>
          <p:cNvSpPr txBox="1"/>
          <p:nvPr/>
        </p:nvSpPr>
        <p:spPr>
          <a:xfrm>
            <a:off x="2421636" y="2723070"/>
            <a:ext cx="102108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各事业部述职</a:t>
            </a:r>
          </a:p>
        </p:txBody>
      </p:sp>
      <p:sp>
        <p:nvSpPr>
          <p:cNvPr id="45" name="out-2"/>
          <p:cNvSpPr txBox="1"/>
          <p:nvPr/>
        </p:nvSpPr>
        <p:spPr>
          <a:xfrm>
            <a:off x="2427351" y="2972387"/>
            <a:ext cx="1718501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每人 10 分钟：目标达成、缺口与补救</a:t>
            </a:r>
          </a:p>
        </p:txBody>
      </p:sp>
      <p:sp>
        <p:nvSpPr>
          <p:cNvPr id="46" name="ow-2"/>
          <p:cNvSpPr txBox="1"/>
          <p:nvPr/>
        </p:nvSpPr>
        <p:spPr>
          <a:xfrm>
            <a:off x="7423785" y="2790666"/>
            <a:ext cx="8680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四位事业部负责人</a:t>
            </a:r>
          </a:p>
        </p:txBody>
      </p:sp>
      <p:sp>
        <p:nvSpPr>
          <p:cNvPr id="47" name="tm-3"/>
          <p:cNvSpPr txBox="1"/>
          <p:nvPr/>
        </p:nvSpPr>
        <p:spPr>
          <a:xfrm>
            <a:off x="941832" y="3429413"/>
            <a:ext cx="509270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25">
                <a:solidFill>
                  <a:srgbClr val="7E93AE"/>
                </a:solidFill>
                <a:latin typeface="Arial"/>
                <a:ea typeface="Arial"/>
                <a:cs typeface="Arial"/>
              </a:rPr>
              <a:t>10:10</a:t>
            </a:r>
          </a:p>
        </p:txBody>
      </p:sp>
      <p:sp>
        <p:nvSpPr>
          <p:cNvPr id="48" name="dur-3"/>
          <p:cNvSpPr txBox="1"/>
          <p:nvPr/>
        </p:nvSpPr>
        <p:spPr>
          <a:xfrm>
            <a:off x="1025906" y="3649408"/>
            <a:ext cx="4198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20 分钟</a:t>
            </a:r>
          </a:p>
        </p:txBody>
      </p:sp>
      <p:sp>
        <p:nvSpPr>
          <p:cNvPr id="49" name="dot-3"/>
          <p:cNvSpPr/>
          <p:nvPr/>
        </p:nvSpPr>
        <p:spPr>
          <a:xfrm>
            <a:off x="1606550" y="3498850"/>
            <a:ext cx="165100" cy="1651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card-3"/>
          <p:cNvSpPr/>
          <p:nvPr/>
        </p:nvSpPr>
        <p:spPr>
          <a:xfrm>
            <a:off x="1968500" y="3390900"/>
            <a:ext cx="6477000" cy="381000"/>
          </a:xfrm>
          <a:custGeom>
            <a:avLst/>
            <a:gdLst/>
            <a:ahLst/>
            <a:cxnLst/>
            <a:rect l="0" t="0" r="r" b="b"/>
            <a:pathLst>
              <a:path w="6477000" h="381000">
                <a:moveTo>
                  <a:pt x="88900" y="0"/>
                </a:moveTo>
                <a:lnTo>
                  <a:pt x="6388100" y="0"/>
                </a:lnTo>
                <a:cubicBezTo>
                  <a:pt x="6437186" y="0"/>
                  <a:pt x="6477000" y="39814"/>
                  <a:pt x="6477000" y="88900"/>
                </a:cubicBezTo>
                <a:lnTo>
                  <a:pt x="6477000" y="292100"/>
                </a:lnTo>
                <a:cubicBezTo>
                  <a:pt x="6477000" y="341186"/>
                  <a:pt x="6437186" y="381000"/>
                  <a:pt x="6388100" y="381000"/>
                </a:cubicBezTo>
                <a:lnTo>
                  <a:pt x="88900" y="381000"/>
                </a:lnTo>
                <a:cubicBezTo>
                  <a:pt x="39814" y="381000"/>
                  <a:pt x="0" y="341186"/>
                  <a:pt x="0" y="2921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E9EF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icon-clock"/>
          <p:cNvSpPr/>
          <p:nvPr/>
        </p:nvSpPr>
        <p:spPr>
          <a:xfrm>
            <a:off x="2184400" y="3550920"/>
            <a:ext cx="20320" cy="42545"/>
          </a:xfrm>
          <a:custGeom>
            <a:avLst/>
            <a:gdLst/>
            <a:ahLst/>
            <a:cxnLst/>
            <a:rect l="0" t="0" r="r" b="b"/>
            <a:pathLst>
              <a:path w="20320" h="42545">
                <a:moveTo>
                  <a:pt x="0" y="0"/>
                </a:moveTo>
                <a:lnTo>
                  <a:pt x="0" y="30480"/>
                </a:lnTo>
                <a:lnTo>
                  <a:pt x="20320" y="42545"/>
                </a:lnTo>
              </a:path>
            </a:pathLst>
          </a:custGeom>
          <a:noFill/>
          <a:ln w="12065" cap="rnd">
            <a:solidFill>
              <a:srgbClr val="7E93AE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icon-clock"/>
          <p:cNvSpPr/>
          <p:nvPr/>
        </p:nvSpPr>
        <p:spPr>
          <a:xfrm>
            <a:off x="2129790" y="3526790"/>
            <a:ext cx="109220" cy="109220"/>
          </a:xfrm>
          <a:prstGeom prst="ellipse">
            <a:avLst/>
          </a:prstGeom>
          <a:noFill/>
          <a:ln w="12065" cap="rnd">
            <a:solidFill>
              <a:srgbClr val="7E93AE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tp-3"/>
          <p:cNvSpPr txBox="1"/>
          <p:nvPr/>
        </p:nvSpPr>
        <p:spPr>
          <a:xfrm>
            <a:off x="2360422" y="3470497"/>
            <a:ext cx="997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茶歇与自由交流</a:t>
            </a:r>
          </a:p>
        </p:txBody>
      </p:sp>
      <p:sp>
        <p:nvSpPr>
          <p:cNvPr id="54" name="tm-4"/>
          <p:cNvSpPr txBox="1"/>
          <p:nvPr/>
        </p:nvSpPr>
        <p:spPr>
          <a:xfrm>
            <a:off x="941832" y="4089813"/>
            <a:ext cx="509270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25">
                <a:solidFill>
                  <a:srgbClr val="0B2545"/>
                </a:solidFill>
                <a:latin typeface="Arial"/>
                <a:ea typeface="Arial"/>
                <a:cs typeface="Arial"/>
              </a:rPr>
              <a:t>10:30</a:t>
            </a:r>
          </a:p>
        </p:txBody>
      </p:sp>
      <p:sp>
        <p:nvSpPr>
          <p:cNvPr id="55" name="dur-4"/>
          <p:cNvSpPr txBox="1"/>
          <p:nvPr/>
        </p:nvSpPr>
        <p:spPr>
          <a:xfrm>
            <a:off x="1025906" y="4309808"/>
            <a:ext cx="4198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50 分钟</a:t>
            </a:r>
          </a:p>
        </p:txBody>
      </p:sp>
      <p:sp>
        <p:nvSpPr>
          <p:cNvPr id="56" name="dot-4"/>
          <p:cNvSpPr/>
          <p:nvPr/>
        </p:nvSpPr>
        <p:spPr>
          <a:xfrm>
            <a:off x="1606550" y="4159250"/>
            <a:ext cx="165100" cy="1651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dotc-4"/>
          <p:cNvSpPr/>
          <p:nvPr/>
        </p:nvSpPr>
        <p:spPr>
          <a:xfrm>
            <a:off x="1657350" y="4210050"/>
            <a:ext cx="63500" cy="63500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card-4"/>
          <p:cNvSpPr/>
          <p:nvPr/>
        </p:nvSpPr>
        <p:spPr>
          <a:xfrm>
            <a:off x="1968500" y="3987800"/>
            <a:ext cx="6477000" cy="533400"/>
          </a:xfrm>
          <a:custGeom>
            <a:avLst/>
            <a:gdLst/>
            <a:ahLst/>
            <a:cxnLst/>
            <a:rect l="0" t="0" r="r" b="b"/>
            <a:pathLst>
              <a:path w="6477000" h="533400">
                <a:moveTo>
                  <a:pt x="101600" y="0"/>
                </a:moveTo>
                <a:lnTo>
                  <a:pt x="6375400" y="0"/>
                </a:lnTo>
                <a:cubicBezTo>
                  <a:pt x="6431534" y="0"/>
                  <a:pt x="6477000" y="45466"/>
                  <a:pt x="6477000" y="101600"/>
                </a:cubicBezTo>
                <a:lnTo>
                  <a:pt x="6477000" y="431800"/>
                </a:lnTo>
                <a:cubicBezTo>
                  <a:pt x="6477000" y="487934"/>
                  <a:pt x="6431534" y="533400"/>
                  <a:pt x="6375400" y="533400"/>
                </a:cubicBezTo>
                <a:lnTo>
                  <a:pt x="101600" y="533400"/>
                </a:lnTo>
                <a:cubicBezTo>
                  <a:pt x="45466" y="533400"/>
                  <a:pt x="0" y="487934"/>
                  <a:pt x="0" y="431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cb-4"/>
          <p:cNvSpPr/>
          <p:nvPr/>
        </p:nvSpPr>
        <p:spPr>
          <a:xfrm>
            <a:off x="1968500" y="3987800"/>
            <a:ext cx="31750" cy="533400"/>
          </a:xfrm>
          <a:custGeom>
            <a:avLst/>
            <a:gdLst/>
            <a:ahLst/>
            <a:cxnLst/>
            <a:rect l="0" t="0" r="r" b="b"/>
            <a:pathLst>
              <a:path w="31750" h="5334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517525"/>
                </a:lnTo>
                <a:cubicBezTo>
                  <a:pt x="31750" y="526288"/>
                  <a:pt x="24638" y="533400"/>
                  <a:pt x="15875" y="533400"/>
                </a:cubicBezTo>
                <a:lnTo>
                  <a:pt x="15875" y="533400"/>
                </a:lnTo>
                <a:cubicBezTo>
                  <a:pt x="7112" y="533400"/>
                  <a:pt x="0" y="526288"/>
                  <a:pt x="0" y="5175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icon-tools"/>
          <p:cNvSpPr/>
          <p:nvPr/>
        </p:nvSpPr>
        <p:spPr>
          <a:xfrm>
            <a:off x="2170268" y="4186299"/>
            <a:ext cx="97635" cy="96776"/>
          </a:xfrm>
          <a:custGeom>
            <a:avLst/>
            <a:gdLst/>
            <a:ahLst/>
            <a:cxnLst/>
            <a:rect l="0" t="0" r="r" b="b"/>
            <a:pathLst>
              <a:path w="97635" h="96776">
                <a:moveTo>
                  <a:pt x="17815" y="3240"/>
                </a:moveTo>
                <a:lnTo>
                  <a:pt x="38453" y="23878"/>
                </a:lnTo>
                <a:lnTo>
                  <a:pt x="23340" y="38991"/>
                </a:lnTo>
                <a:lnTo>
                  <a:pt x="2702" y="18353"/>
                </a:lnTo>
                <a:cubicBezTo>
                  <a:pt x="-2251" y="28704"/>
                  <a:pt x="-282" y="41086"/>
                  <a:pt x="7655" y="49341"/>
                </a:cubicBezTo>
                <a:cubicBezTo>
                  <a:pt x="15656" y="57660"/>
                  <a:pt x="27912" y="60073"/>
                  <a:pt x="38453" y="55501"/>
                </a:cubicBezTo>
                <a:lnTo>
                  <a:pt x="79728" y="96776"/>
                </a:lnTo>
                <a:lnTo>
                  <a:pt x="97635" y="78869"/>
                </a:lnTo>
                <a:lnTo>
                  <a:pt x="56360" y="37594"/>
                </a:lnTo>
                <a:cubicBezTo>
                  <a:pt x="60614" y="26862"/>
                  <a:pt x="57693" y="14670"/>
                  <a:pt x="49121" y="6987"/>
                </a:cubicBezTo>
                <a:cubicBezTo>
                  <a:pt x="40485" y="-697"/>
                  <a:pt x="28039" y="-2221"/>
                  <a:pt x="17815" y="3240"/>
                </a:cubicBezTo>
                <a:close/>
              </a:path>
            </a:pathLst>
          </a:cu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tp-4"/>
          <p:cNvSpPr txBox="1"/>
          <p:nvPr/>
        </p:nvSpPr>
        <p:spPr>
          <a:xfrm>
            <a:off x="2421636" y="4043871"/>
            <a:ext cx="1170305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交付与质量专题</a:t>
            </a:r>
          </a:p>
        </p:txBody>
      </p:sp>
      <p:sp>
        <p:nvSpPr>
          <p:cNvPr id="62" name="out-4"/>
          <p:cNvSpPr txBox="1"/>
          <p:nvPr/>
        </p:nvSpPr>
        <p:spPr>
          <a:xfrm>
            <a:off x="2427351" y="4293187"/>
            <a:ext cx="150234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准时率 92.1% 的归因与改善方案</a:t>
            </a:r>
          </a:p>
        </p:txBody>
      </p:sp>
      <p:sp>
        <p:nvSpPr>
          <p:cNvPr id="63" name="ow-4"/>
          <p:cNvSpPr txBox="1"/>
          <p:nvPr/>
        </p:nvSpPr>
        <p:spPr>
          <a:xfrm>
            <a:off x="7451725" y="4111466"/>
            <a:ext cx="8401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交付中心 + 制造</a:t>
            </a:r>
          </a:p>
        </p:txBody>
      </p:sp>
      <p:sp>
        <p:nvSpPr>
          <p:cNvPr id="64" name="kt-4"/>
          <p:cNvSpPr/>
          <p:nvPr/>
        </p:nvSpPr>
        <p:spPr>
          <a:xfrm>
            <a:off x="7632700" y="4318000"/>
            <a:ext cx="635000" cy="177800"/>
          </a:xfrm>
          <a:custGeom>
            <a:avLst/>
            <a:gdLst/>
            <a:ahLst/>
            <a:cxnLst/>
            <a:rect l="0" t="0" r="r" b="b"/>
            <a:pathLst>
              <a:path w="635000" h="177800">
                <a:moveTo>
                  <a:pt x="88900" y="0"/>
                </a:moveTo>
                <a:lnTo>
                  <a:pt x="546100" y="0"/>
                </a:lnTo>
                <a:cubicBezTo>
                  <a:pt x="595186" y="0"/>
                  <a:pt x="635000" y="39814"/>
                  <a:pt x="635000" y="88900"/>
                </a:cubicBezTo>
                <a:lnTo>
                  <a:pt x="635000" y="88900"/>
                </a:lnTo>
                <a:cubicBezTo>
                  <a:pt x="635000" y="137986"/>
                  <a:pt x="595186" y="177800"/>
                  <a:pt x="5461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2468B6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ktt-4"/>
          <p:cNvSpPr txBox="1"/>
          <p:nvPr/>
        </p:nvSpPr>
        <p:spPr>
          <a:xfrm>
            <a:off x="7726045" y="4335208"/>
            <a:ext cx="4483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5">
                <a:solidFill>
                  <a:srgbClr val="2468B6"/>
                </a:solidFill>
                <a:latin typeface="微软雅黑"/>
                <a:ea typeface="微软雅黑"/>
                <a:cs typeface="微软雅黑"/>
              </a:rPr>
              <a:t>需出决议</a:t>
            </a:r>
          </a:p>
        </p:txBody>
      </p:sp>
      <p:sp>
        <p:nvSpPr>
          <p:cNvPr id="66" name="tm-5"/>
          <p:cNvSpPr txBox="1"/>
          <p:nvPr/>
        </p:nvSpPr>
        <p:spPr>
          <a:xfrm>
            <a:off x="941832" y="4750213"/>
            <a:ext cx="509270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25">
                <a:solidFill>
                  <a:srgbClr val="0B2545"/>
                </a:solidFill>
                <a:latin typeface="Arial"/>
                <a:ea typeface="Arial"/>
                <a:cs typeface="Arial"/>
              </a:rPr>
              <a:t>11:20</a:t>
            </a:r>
          </a:p>
        </p:txBody>
      </p:sp>
      <p:sp>
        <p:nvSpPr>
          <p:cNvPr id="67" name="dur-5"/>
          <p:cNvSpPr txBox="1"/>
          <p:nvPr/>
        </p:nvSpPr>
        <p:spPr>
          <a:xfrm>
            <a:off x="1025906" y="4970208"/>
            <a:ext cx="4198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40 分钟</a:t>
            </a:r>
          </a:p>
        </p:txBody>
      </p:sp>
      <p:sp>
        <p:nvSpPr>
          <p:cNvPr id="68" name="dot-5"/>
          <p:cNvSpPr/>
          <p:nvPr/>
        </p:nvSpPr>
        <p:spPr>
          <a:xfrm>
            <a:off x="1606550" y="4819650"/>
            <a:ext cx="165100" cy="1651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dotc-5"/>
          <p:cNvSpPr/>
          <p:nvPr/>
        </p:nvSpPr>
        <p:spPr>
          <a:xfrm>
            <a:off x="1657350" y="4870450"/>
            <a:ext cx="63500" cy="635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card-5"/>
          <p:cNvSpPr/>
          <p:nvPr/>
        </p:nvSpPr>
        <p:spPr>
          <a:xfrm>
            <a:off x="1968500" y="4648200"/>
            <a:ext cx="6477000" cy="533400"/>
          </a:xfrm>
          <a:custGeom>
            <a:avLst/>
            <a:gdLst/>
            <a:ahLst/>
            <a:cxnLst/>
            <a:rect l="0" t="0" r="r" b="b"/>
            <a:pathLst>
              <a:path w="6477000" h="533400">
                <a:moveTo>
                  <a:pt x="101600" y="0"/>
                </a:moveTo>
                <a:lnTo>
                  <a:pt x="6375400" y="0"/>
                </a:lnTo>
                <a:cubicBezTo>
                  <a:pt x="6431534" y="0"/>
                  <a:pt x="6477000" y="45466"/>
                  <a:pt x="6477000" y="101600"/>
                </a:cubicBezTo>
                <a:lnTo>
                  <a:pt x="6477000" y="431800"/>
                </a:lnTo>
                <a:cubicBezTo>
                  <a:pt x="6477000" y="487934"/>
                  <a:pt x="6431534" y="533400"/>
                  <a:pt x="6375400" y="533400"/>
                </a:cubicBezTo>
                <a:lnTo>
                  <a:pt x="101600" y="533400"/>
                </a:lnTo>
                <a:cubicBezTo>
                  <a:pt x="45466" y="533400"/>
                  <a:pt x="0" y="487934"/>
                  <a:pt x="0" y="431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cb-5"/>
          <p:cNvSpPr/>
          <p:nvPr/>
        </p:nvSpPr>
        <p:spPr>
          <a:xfrm>
            <a:off x="1968500" y="4648200"/>
            <a:ext cx="31750" cy="533400"/>
          </a:xfrm>
          <a:custGeom>
            <a:avLst/>
            <a:gdLst/>
            <a:ahLst/>
            <a:cxnLst/>
            <a:rect l="0" t="0" r="r" b="b"/>
            <a:pathLst>
              <a:path w="31750" h="5334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517525"/>
                </a:lnTo>
                <a:cubicBezTo>
                  <a:pt x="31750" y="526288"/>
                  <a:pt x="24638" y="533400"/>
                  <a:pt x="15875" y="533400"/>
                </a:cubicBezTo>
                <a:lnTo>
                  <a:pt x="15875" y="533400"/>
                </a:lnTo>
                <a:cubicBezTo>
                  <a:pt x="7112" y="533400"/>
                  <a:pt x="0" y="526288"/>
                  <a:pt x="0" y="5175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icon-target"/>
          <p:cNvSpPr/>
          <p:nvPr/>
        </p:nvSpPr>
        <p:spPr>
          <a:xfrm>
            <a:off x="2222500" y="4843018"/>
            <a:ext cx="45402" cy="59182"/>
          </a:xfrm>
          <a:custGeom>
            <a:avLst/>
            <a:gdLst/>
            <a:ahLst/>
            <a:cxnLst/>
            <a:rect l="0" t="0" r="r" b="b"/>
            <a:pathLst>
              <a:path w="45402" h="59182">
                <a:moveTo>
                  <a:pt x="0" y="34417"/>
                </a:moveTo>
                <a:lnTo>
                  <a:pt x="0" y="0"/>
                </a:lnTo>
                <a:moveTo>
                  <a:pt x="0" y="59182"/>
                </a:moveTo>
                <a:lnTo>
                  <a:pt x="45402" y="13780"/>
                </a:lnTo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icon-target"/>
          <p:cNvSpPr/>
          <p:nvPr/>
        </p:nvSpPr>
        <p:spPr>
          <a:xfrm>
            <a:off x="2163339" y="4843039"/>
            <a:ext cx="118322" cy="118322"/>
          </a:xfrm>
          <a:prstGeom prst="ellipse">
            <a:avLst/>
          </a:pr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icon-target"/>
          <p:cNvSpPr/>
          <p:nvPr/>
        </p:nvSpPr>
        <p:spPr>
          <a:xfrm>
            <a:off x="2192232" y="4871932"/>
            <a:ext cx="60537" cy="60537"/>
          </a:xfrm>
          <a:prstGeom prst="ellipse">
            <a:avLst/>
          </a:pr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tp-5"/>
          <p:cNvSpPr txBox="1"/>
          <p:nvPr/>
        </p:nvSpPr>
        <p:spPr>
          <a:xfrm>
            <a:off x="2421636" y="4704270"/>
            <a:ext cx="1170305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明年目标与预算</a:t>
            </a:r>
          </a:p>
        </p:txBody>
      </p:sp>
      <p:sp>
        <p:nvSpPr>
          <p:cNvPr id="76" name="out-5"/>
          <p:cNvSpPr txBox="1"/>
          <p:nvPr/>
        </p:nvSpPr>
        <p:spPr>
          <a:xfrm>
            <a:off x="2427351" y="4953587"/>
            <a:ext cx="140747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三套情景的目标区间与资源分配</a:t>
            </a:r>
          </a:p>
        </p:txBody>
      </p:sp>
      <p:sp>
        <p:nvSpPr>
          <p:cNvPr id="77" name="ow-5"/>
          <p:cNvSpPr txBox="1"/>
          <p:nvPr/>
        </p:nvSpPr>
        <p:spPr>
          <a:xfrm>
            <a:off x="7647305" y="4771866"/>
            <a:ext cx="6445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财务 + 战略</a:t>
            </a:r>
          </a:p>
        </p:txBody>
      </p:sp>
      <p:sp>
        <p:nvSpPr>
          <p:cNvPr id="78" name="kt-5"/>
          <p:cNvSpPr/>
          <p:nvPr/>
        </p:nvSpPr>
        <p:spPr>
          <a:xfrm>
            <a:off x="7632700" y="4978400"/>
            <a:ext cx="635000" cy="177800"/>
          </a:xfrm>
          <a:custGeom>
            <a:avLst/>
            <a:gdLst/>
            <a:ahLst/>
            <a:cxnLst/>
            <a:rect l="0" t="0" r="r" b="b"/>
            <a:pathLst>
              <a:path w="635000" h="177800">
                <a:moveTo>
                  <a:pt x="88900" y="0"/>
                </a:moveTo>
                <a:lnTo>
                  <a:pt x="546100" y="0"/>
                </a:lnTo>
                <a:cubicBezTo>
                  <a:pt x="595186" y="0"/>
                  <a:pt x="635000" y="39814"/>
                  <a:pt x="635000" y="88900"/>
                </a:cubicBezTo>
                <a:lnTo>
                  <a:pt x="635000" y="88900"/>
                </a:lnTo>
                <a:cubicBezTo>
                  <a:pt x="635000" y="137986"/>
                  <a:pt x="595186" y="177800"/>
                  <a:pt x="5461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ktt-5"/>
          <p:cNvSpPr txBox="1"/>
          <p:nvPr/>
        </p:nvSpPr>
        <p:spPr>
          <a:xfrm>
            <a:off x="7726045" y="4995608"/>
            <a:ext cx="4483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5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需出决议</a:t>
            </a:r>
          </a:p>
        </p:txBody>
      </p:sp>
      <p:sp>
        <p:nvSpPr>
          <p:cNvPr id="80" name="tm-6"/>
          <p:cNvSpPr txBox="1"/>
          <p:nvPr/>
        </p:nvSpPr>
        <p:spPr>
          <a:xfrm>
            <a:off x="941832" y="5410613"/>
            <a:ext cx="509270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50" b="1" spc="25">
                <a:solidFill>
                  <a:srgbClr val="0B2545"/>
                </a:solidFill>
                <a:latin typeface="Arial"/>
                <a:ea typeface="Arial"/>
                <a:cs typeface="Arial"/>
              </a:rPr>
              <a:t>12:00</a:t>
            </a:r>
          </a:p>
        </p:txBody>
      </p:sp>
      <p:sp>
        <p:nvSpPr>
          <p:cNvPr id="81" name="dur-6"/>
          <p:cNvSpPr txBox="1"/>
          <p:nvPr/>
        </p:nvSpPr>
        <p:spPr>
          <a:xfrm>
            <a:off x="1025906" y="5630608"/>
            <a:ext cx="4198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30 分钟</a:t>
            </a:r>
          </a:p>
        </p:txBody>
      </p:sp>
      <p:sp>
        <p:nvSpPr>
          <p:cNvPr id="82" name="dot-6"/>
          <p:cNvSpPr/>
          <p:nvPr/>
        </p:nvSpPr>
        <p:spPr>
          <a:xfrm>
            <a:off x="1606550" y="5480050"/>
            <a:ext cx="165100" cy="1651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dotc-6"/>
          <p:cNvSpPr/>
          <p:nvPr/>
        </p:nvSpPr>
        <p:spPr>
          <a:xfrm>
            <a:off x="1657350" y="5530850"/>
            <a:ext cx="63500" cy="63500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card-6"/>
          <p:cNvSpPr/>
          <p:nvPr/>
        </p:nvSpPr>
        <p:spPr>
          <a:xfrm>
            <a:off x="1968500" y="5308600"/>
            <a:ext cx="6477000" cy="533400"/>
          </a:xfrm>
          <a:custGeom>
            <a:avLst/>
            <a:gdLst/>
            <a:ahLst/>
            <a:cxnLst/>
            <a:rect l="0" t="0" r="r" b="b"/>
            <a:pathLst>
              <a:path w="6477000" h="533400">
                <a:moveTo>
                  <a:pt x="101600" y="0"/>
                </a:moveTo>
                <a:lnTo>
                  <a:pt x="6375400" y="0"/>
                </a:lnTo>
                <a:cubicBezTo>
                  <a:pt x="6431534" y="0"/>
                  <a:pt x="6477000" y="45466"/>
                  <a:pt x="6477000" y="101600"/>
                </a:cubicBezTo>
                <a:lnTo>
                  <a:pt x="6477000" y="431800"/>
                </a:lnTo>
                <a:cubicBezTo>
                  <a:pt x="6477000" y="487934"/>
                  <a:pt x="6431534" y="533400"/>
                  <a:pt x="6375400" y="533400"/>
                </a:cubicBezTo>
                <a:lnTo>
                  <a:pt x="101600" y="533400"/>
                </a:lnTo>
                <a:cubicBezTo>
                  <a:pt x="45466" y="533400"/>
                  <a:pt x="0" y="487934"/>
                  <a:pt x="0" y="431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cb-6"/>
          <p:cNvSpPr/>
          <p:nvPr/>
        </p:nvSpPr>
        <p:spPr>
          <a:xfrm>
            <a:off x="1968500" y="5308600"/>
            <a:ext cx="31750" cy="533400"/>
          </a:xfrm>
          <a:custGeom>
            <a:avLst/>
            <a:gdLst/>
            <a:ahLst/>
            <a:cxnLst/>
            <a:rect l="0" t="0" r="r" b="b"/>
            <a:pathLst>
              <a:path w="31750" h="5334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517525"/>
                </a:lnTo>
                <a:cubicBezTo>
                  <a:pt x="31750" y="526288"/>
                  <a:pt x="24638" y="533400"/>
                  <a:pt x="15875" y="533400"/>
                </a:cubicBezTo>
                <a:lnTo>
                  <a:pt x="15875" y="533400"/>
                </a:lnTo>
                <a:cubicBezTo>
                  <a:pt x="7112" y="533400"/>
                  <a:pt x="0" y="526288"/>
                  <a:pt x="0" y="5175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icon-check"/>
          <p:cNvSpPr/>
          <p:nvPr/>
        </p:nvSpPr>
        <p:spPr>
          <a:xfrm>
            <a:off x="2178494" y="5532310"/>
            <a:ext cx="88011" cy="61912"/>
          </a:xfrm>
          <a:custGeom>
            <a:avLst/>
            <a:gdLst/>
            <a:ahLst/>
            <a:cxnLst/>
            <a:rect l="0" t="0" r="r" b="b"/>
            <a:pathLst>
              <a:path w="88011" h="61912">
                <a:moveTo>
                  <a:pt x="0" y="33020"/>
                </a:moveTo>
                <a:lnTo>
                  <a:pt x="28893" y="61912"/>
                </a:lnTo>
                <a:lnTo>
                  <a:pt x="88011" y="0"/>
                </a:lnTo>
              </a:path>
            </a:pathLst>
          </a:custGeom>
          <a:noFill/>
          <a:ln w="1270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tp-6"/>
          <p:cNvSpPr txBox="1"/>
          <p:nvPr/>
        </p:nvSpPr>
        <p:spPr>
          <a:xfrm>
            <a:off x="2421636" y="5364670"/>
            <a:ext cx="1170305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决议确认与分工</a:t>
            </a:r>
          </a:p>
        </p:txBody>
      </p:sp>
      <p:sp>
        <p:nvSpPr>
          <p:cNvPr id="88" name="out-6"/>
          <p:cNvSpPr txBox="1"/>
          <p:nvPr/>
        </p:nvSpPr>
        <p:spPr>
          <a:xfrm>
            <a:off x="2427351" y="5613987"/>
            <a:ext cx="121824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现场产出决议清单与责任人</a:t>
            </a:r>
          </a:p>
        </p:txBody>
      </p:sp>
      <p:sp>
        <p:nvSpPr>
          <p:cNvPr id="89" name="ow-6"/>
          <p:cNvSpPr txBox="1"/>
          <p:nvPr/>
        </p:nvSpPr>
        <p:spPr>
          <a:xfrm>
            <a:off x="8010525" y="5432266"/>
            <a:ext cx="2813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全体</a:t>
            </a:r>
          </a:p>
        </p:txBody>
      </p:sp>
      <p:sp>
        <p:nvSpPr>
          <p:cNvPr id="90" name="kt-6"/>
          <p:cNvSpPr/>
          <p:nvPr/>
        </p:nvSpPr>
        <p:spPr>
          <a:xfrm>
            <a:off x="7632700" y="5638800"/>
            <a:ext cx="635000" cy="177800"/>
          </a:xfrm>
          <a:custGeom>
            <a:avLst/>
            <a:gdLst/>
            <a:ahLst/>
            <a:cxnLst/>
            <a:rect l="0" t="0" r="r" b="b"/>
            <a:pathLst>
              <a:path w="635000" h="177800">
                <a:moveTo>
                  <a:pt x="88900" y="0"/>
                </a:moveTo>
                <a:lnTo>
                  <a:pt x="546100" y="0"/>
                </a:lnTo>
                <a:cubicBezTo>
                  <a:pt x="595186" y="0"/>
                  <a:pt x="635000" y="39814"/>
                  <a:pt x="635000" y="88900"/>
                </a:cubicBezTo>
                <a:lnTo>
                  <a:pt x="635000" y="88900"/>
                </a:lnTo>
                <a:cubicBezTo>
                  <a:pt x="635000" y="137986"/>
                  <a:pt x="595186" y="177800"/>
                  <a:pt x="5461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3985CD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ktt-6"/>
          <p:cNvSpPr txBox="1"/>
          <p:nvPr/>
        </p:nvSpPr>
        <p:spPr>
          <a:xfrm>
            <a:off x="7726045" y="5656008"/>
            <a:ext cx="4483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25">
                <a:solidFill>
                  <a:srgbClr val="3985CD"/>
                </a:solidFill>
                <a:latin typeface="微软雅黑"/>
                <a:ea typeface="微软雅黑"/>
                <a:cs typeface="微软雅黑"/>
              </a:rPr>
              <a:t>需出决议</a:t>
            </a:r>
          </a:p>
        </p:txBody>
      </p:sp>
      <p:sp>
        <p:nvSpPr>
          <p:cNvPr id="92" name="side-bar"/>
          <p:cNvSpPr/>
          <p:nvPr/>
        </p:nvSpPr>
        <p:spPr>
          <a:xfrm>
            <a:off x="8712200" y="20066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side-h"/>
          <p:cNvSpPr txBox="1"/>
          <p:nvPr/>
        </p:nvSpPr>
        <p:spPr>
          <a:xfrm>
            <a:off x="8870950" y="2013744"/>
            <a:ext cx="8286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会前准备</a:t>
            </a:r>
          </a:p>
        </p:txBody>
      </p:sp>
      <p:sp>
        <p:nvSpPr>
          <p:cNvPr id="94" name="side-p"/>
          <p:cNvSpPr txBox="1"/>
          <p:nvPr/>
        </p:nvSpPr>
        <p:spPr>
          <a:xfrm>
            <a:off x="8876665" y="2288461"/>
            <a:ext cx="112172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12 月 16 日前完成</a:t>
            </a:r>
          </a:p>
        </p:txBody>
      </p:sp>
      <p:sp>
        <p:nvSpPr>
          <p:cNvPr id="95" name="pp-1"/>
          <p:cNvSpPr/>
          <p:nvPr/>
        </p:nvSpPr>
        <p:spPr>
          <a:xfrm>
            <a:off x="8712200" y="2667000"/>
            <a:ext cx="2527300" cy="673100"/>
          </a:xfrm>
          <a:custGeom>
            <a:avLst/>
            <a:gdLst/>
            <a:ahLst/>
            <a:cxnLst/>
            <a:rect l="0" t="0" r="r" b="b"/>
            <a:pathLst>
              <a:path w="2527300" h="673100">
                <a:moveTo>
                  <a:pt x="101600" y="0"/>
                </a:moveTo>
                <a:lnTo>
                  <a:pt x="2425700" y="0"/>
                </a:lnTo>
                <a:cubicBezTo>
                  <a:pt x="2481834" y="0"/>
                  <a:pt x="2527300" y="45466"/>
                  <a:pt x="2527300" y="101600"/>
                </a:cubicBezTo>
                <a:lnTo>
                  <a:pt x="2527300" y="571500"/>
                </a:lnTo>
                <a:cubicBezTo>
                  <a:pt x="2527300" y="627634"/>
                  <a:pt x="2481834" y="673100"/>
                  <a:pt x="2425700" y="673100"/>
                </a:cubicBezTo>
                <a:lnTo>
                  <a:pt x="101600" y="673100"/>
                </a:lnTo>
                <a:cubicBezTo>
                  <a:pt x="45466" y="673100"/>
                  <a:pt x="0" y="627634"/>
                  <a:pt x="0" y="5715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ppb-1"/>
          <p:cNvSpPr/>
          <p:nvPr/>
        </p:nvSpPr>
        <p:spPr>
          <a:xfrm>
            <a:off x="8712200" y="2667000"/>
            <a:ext cx="31750" cy="673100"/>
          </a:xfrm>
          <a:custGeom>
            <a:avLst/>
            <a:gdLst/>
            <a:ahLst/>
            <a:cxnLst/>
            <a:rect l="0" t="0" r="r" b="b"/>
            <a:pathLst>
              <a:path w="31750" h="6731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657225"/>
                </a:lnTo>
                <a:cubicBezTo>
                  <a:pt x="31750" y="665988"/>
                  <a:pt x="24638" y="673100"/>
                  <a:pt x="15875" y="673100"/>
                </a:cubicBezTo>
                <a:lnTo>
                  <a:pt x="15875" y="673100"/>
                </a:lnTo>
                <a:cubicBezTo>
                  <a:pt x="7112" y="673100"/>
                  <a:pt x="0" y="665988"/>
                  <a:pt x="0" y="6572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icon-db"/>
          <p:cNvSpPr/>
          <p:nvPr/>
        </p:nvSpPr>
        <p:spPr>
          <a:xfrm>
            <a:off x="8915273" y="2859088"/>
            <a:ext cx="101854" cy="123825"/>
          </a:xfrm>
          <a:custGeom>
            <a:avLst/>
            <a:gdLst/>
            <a:ahLst/>
            <a:cxnLst/>
            <a:rect l="0" t="0" r="r" b="b"/>
            <a:pathLst>
              <a:path w="101854" h="123825">
                <a:moveTo>
                  <a:pt x="50927" y="30289"/>
                </a:moveTo>
                <a:cubicBezTo>
                  <a:pt x="79121" y="30289"/>
                  <a:pt x="101854" y="23368"/>
                  <a:pt x="101854" y="15113"/>
                </a:cubicBezTo>
                <a:cubicBezTo>
                  <a:pt x="101854" y="6858"/>
                  <a:pt x="79121" y="0"/>
                  <a:pt x="50927" y="0"/>
                </a:cubicBezTo>
                <a:cubicBezTo>
                  <a:pt x="22733" y="0"/>
                  <a:pt x="0" y="6858"/>
                  <a:pt x="0" y="15113"/>
                </a:cubicBezTo>
                <a:cubicBezTo>
                  <a:pt x="0" y="23368"/>
                  <a:pt x="22733" y="30289"/>
                  <a:pt x="50927" y="30289"/>
                </a:cubicBezTo>
                <a:close/>
                <a:moveTo>
                  <a:pt x="0" y="15113"/>
                </a:moveTo>
                <a:lnTo>
                  <a:pt x="0" y="108712"/>
                </a:lnTo>
                <a:cubicBezTo>
                  <a:pt x="0" y="116967"/>
                  <a:pt x="22733" y="123825"/>
                  <a:pt x="50927" y="123825"/>
                </a:cubicBezTo>
                <a:cubicBezTo>
                  <a:pt x="79121" y="123825"/>
                  <a:pt x="101854" y="116967"/>
                  <a:pt x="101854" y="108712"/>
                </a:cubicBezTo>
                <a:lnTo>
                  <a:pt x="101854" y="15113"/>
                </a:lnTo>
                <a:moveTo>
                  <a:pt x="0" y="61912"/>
                </a:moveTo>
                <a:cubicBezTo>
                  <a:pt x="0" y="70168"/>
                  <a:pt x="22733" y="77025"/>
                  <a:pt x="50927" y="77025"/>
                </a:cubicBezTo>
                <a:cubicBezTo>
                  <a:pt x="79121" y="77025"/>
                  <a:pt x="101854" y="70168"/>
                  <a:pt x="101854" y="61912"/>
                </a:cubicBez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ppn-1"/>
          <p:cNvSpPr txBox="1"/>
          <p:nvPr/>
        </p:nvSpPr>
        <p:spPr>
          <a:xfrm>
            <a:off x="9166860" y="281495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数据封版</a:t>
            </a:r>
          </a:p>
        </p:txBody>
      </p:sp>
      <p:sp>
        <p:nvSpPr>
          <p:cNvPr id="99" name="ppt-1"/>
          <p:cNvSpPr txBox="1"/>
          <p:nvPr/>
        </p:nvSpPr>
        <p:spPr>
          <a:xfrm>
            <a:off x="8878951" y="3073987"/>
            <a:ext cx="1435799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各口径数据 12/15 24:00 封版</a:t>
            </a:r>
          </a:p>
        </p:txBody>
      </p:sp>
      <p:sp>
        <p:nvSpPr>
          <p:cNvPr id="100" name="pp-2"/>
          <p:cNvSpPr/>
          <p:nvPr/>
        </p:nvSpPr>
        <p:spPr>
          <a:xfrm>
            <a:off x="8712200" y="3454400"/>
            <a:ext cx="2527300" cy="673100"/>
          </a:xfrm>
          <a:custGeom>
            <a:avLst/>
            <a:gdLst/>
            <a:ahLst/>
            <a:cxnLst/>
            <a:rect l="0" t="0" r="r" b="b"/>
            <a:pathLst>
              <a:path w="2527300" h="673100">
                <a:moveTo>
                  <a:pt x="101600" y="0"/>
                </a:moveTo>
                <a:lnTo>
                  <a:pt x="2425700" y="0"/>
                </a:lnTo>
                <a:cubicBezTo>
                  <a:pt x="2481834" y="0"/>
                  <a:pt x="2527300" y="45466"/>
                  <a:pt x="2527300" y="101600"/>
                </a:cubicBezTo>
                <a:lnTo>
                  <a:pt x="2527300" y="571500"/>
                </a:lnTo>
                <a:cubicBezTo>
                  <a:pt x="2527300" y="627634"/>
                  <a:pt x="2481834" y="673100"/>
                  <a:pt x="2425700" y="673100"/>
                </a:cubicBezTo>
                <a:lnTo>
                  <a:pt x="101600" y="673100"/>
                </a:lnTo>
                <a:cubicBezTo>
                  <a:pt x="45466" y="673100"/>
                  <a:pt x="0" y="627634"/>
                  <a:pt x="0" y="5715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ppb-2"/>
          <p:cNvSpPr/>
          <p:nvPr/>
        </p:nvSpPr>
        <p:spPr>
          <a:xfrm>
            <a:off x="8712200" y="3454400"/>
            <a:ext cx="31750" cy="673100"/>
          </a:xfrm>
          <a:custGeom>
            <a:avLst/>
            <a:gdLst/>
            <a:ahLst/>
            <a:cxnLst/>
            <a:rect l="0" t="0" r="r" b="b"/>
            <a:pathLst>
              <a:path w="31750" h="6731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657225"/>
                </a:lnTo>
                <a:cubicBezTo>
                  <a:pt x="31750" y="665988"/>
                  <a:pt x="24638" y="673100"/>
                  <a:pt x="15875" y="673100"/>
                </a:cubicBezTo>
                <a:lnTo>
                  <a:pt x="15875" y="673100"/>
                </a:lnTo>
                <a:cubicBezTo>
                  <a:pt x="7112" y="673100"/>
                  <a:pt x="0" y="665988"/>
                  <a:pt x="0" y="6572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2" name="icon-doc"/>
          <p:cNvSpPr/>
          <p:nvPr/>
        </p:nvSpPr>
        <p:spPr>
          <a:xfrm>
            <a:off x="8929052" y="3650615"/>
            <a:ext cx="77025" cy="115570"/>
          </a:xfrm>
          <a:custGeom>
            <a:avLst/>
            <a:gdLst/>
            <a:ahLst/>
            <a:cxnLst/>
            <a:rect l="0" t="0" r="r" b="b"/>
            <a:pathLst>
              <a:path w="77025" h="115570">
                <a:moveTo>
                  <a:pt x="0" y="0"/>
                </a:moveTo>
                <a:lnTo>
                  <a:pt x="49530" y="0"/>
                </a:lnTo>
                <a:lnTo>
                  <a:pt x="77025" y="27496"/>
                </a:lnTo>
                <a:lnTo>
                  <a:pt x="77025" y="115570"/>
                </a:lnTo>
                <a:lnTo>
                  <a:pt x="0" y="115570"/>
                </a:lnTo>
                <a:close/>
                <a:moveTo>
                  <a:pt x="49530" y="0"/>
                </a:moveTo>
                <a:lnTo>
                  <a:pt x="49530" y="27496"/>
                </a:lnTo>
                <a:lnTo>
                  <a:pt x="77025" y="27496"/>
                </a:lnTo>
                <a:moveTo>
                  <a:pt x="17907" y="60515"/>
                </a:moveTo>
                <a:lnTo>
                  <a:pt x="59182" y="60515"/>
                </a:lnTo>
                <a:moveTo>
                  <a:pt x="17907" y="83947"/>
                </a:moveTo>
                <a:lnTo>
                  <a:pt x="59182" y="83947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ppn-2"/>
          <p:cNvSpPr txBox="1"/>
          <p:nvPr/>
        </p:nvSpPr>
        <p:spPr>
          <a:xfrm>
            <a:off x="9166860" y="360235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材料上传</a:t>
            </a:r>
          </a:p>
        </p:txBody>
      </p:sp>
      <p:sp>
        <p:nvSpPr>
          <p:cNvPr id="104" name="ppt-2"/>
          <p:cNvSpPr txBox="1"/>
          <p:nvPr/>
        </p:nvSpPr>
        <p:spPr>
          <a:xfrm>
            <a:off x="8878951" y="3861387"/>
            <a:ext cx="130460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述职材料提前两天上传共享盘</a:t>
            </a:r>
          </a:p>
        </p:txBody>
      </p:sp>
      <p:sp>
        <p:nvSpPr>
          <p:cNvPr id="105" name="pp-3"/>
          <p:cNvSpPr/>
          <p:nvPr/>
        </p:nvSpPr>
        <p:spPr>
          <a:xfrm>
            <a:off x="8712200" y="4241800"/>
            <a:ext cx="2527300" cy="673100"/>
          </a:xfrm>
          <a:custGeom>
            <a:avLst/>
            <a:gdLst/>
            <a:ahLst/>
            <a:cxnLst/>
            <a:rect l="0" t="0" r="r" b="b"/>
            <a:pathLst>
              <a:path w="2527300" h="673100">
                <a:moveTo>
                  <a:pt x="101600" y="0"/>
                </a:moveTo>
                <a:lnTo>
                  <a:pt x="2425700" y="0"/>
                </a:lnTo>
                <a:cubicBezTo>
                  <a:pt x="2481834" y="0"/>
                  <a:pt x="2527300" y="45466"/>
                  <a:pt x="2527300" y="101600"/>
                </a:cubicBezTo>
                <a:lnTo>
                  <a:pt x="2527300" y="571500"/>
                </a:lnTo>
                <a:cubicBezTo>
                  <a:pt x="2527300" y="627634"/>
                  <a:pt x="2481834" y="673100"/>
                  <a:pt x="2425700" y="673100"/>
                </a:cubicBezTo>
                <a:lnTo>
                  <a:pt x="101600" y="673100"/>
                </a:lnTo>
                <a:cubicBezTo>
                  <a:pt x="45466" y="673100"/>
                  <a:pt x="0" y="627634"/>
                  <a:pt x="0" y="5715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6" name="ppb-3"/>
          <p:cNvSpPr/>
          <p:nvPr/>
        </p:nvSpPr>
        <p:spPr>
          <a:xfrm>
            <a:off x="8712200" y="4241800"/>
            <a:ext cx="31750" cy="673100"/>
          </a:xfrm>
          <a:custGeom>
            <a:avLst/>
            <a:gdLst/>
            <a:ahLst/>
            <a:cxnLst/>
            <a:rect l="0" t="0" r="r" b="b"/>
            <a:pathLst>
              <a:path w="31750" h="6731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657225"/>
                </a:lnTo>
                <a:cubicBezTo>
                  <a:pt x="31750" y="665988"/>
                  <a:pt x="24638" y="673100"/>
                  <a:pt x="15875" y="673100"/>
                </a:cubicBezTo>
                <a:lnTo>
                  <a:pt x="15875" y="673100"/>
                </a:lnTo>
                <a:cubicBezTo>
                  <a:pt x="7112" y="673100"/>
                  <a:pt x="0" y="665988"/>
                  <a:pt x="0" y="6572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7" name="icon-megaphone"/>
          <p:cNvSpPr/>
          <p:nvPr/>
        </p:nvSpPr>
        <p:spPr>
          <a:xfrm>
            <a:off x="8920798" y="4453128"/>
            <a:ext cx="89408" cy="85344"/>
          </a:xfrm>
          <a:custGeom>
            <a:avLst/>
            <a:gdLst/>
            <a:ahLst/>
            <a:cxnLst/>
            <a:rect l="0" t="0" r="r" b="b"/>
            <a:pathLst>
              <a:path w="89408" h="85344">
                <a:moveTo>
                  <a:pt x="0" y="26162"/>
                </a:moveTo>
                <a:lnTo>
                  <a:pt x="0" y="59182"/>
                </a:lnTo>
                <a:lnTo>
                  <a:pt x="20638" y="59182"/>
                </a:lnTo>
                <a:lnTo>
                  <a:pt x="70168" y="85344"/>
                </a:lnTo>
                <a:lnTo>
                  <a:pt x="70168" y="0"/>
                </a:lnTo>
                <a:lnTo>
                  <a:pt x="20638" y="26162"/>
                </a:lnTo>
                <a:close/>
                <a:moveTo>
                  <a:pt x="89408" y="28893"/>
                </a:moveTo>
                <a:lnTo>
                  <a:pt x="89408" y="56451"/>
                </a:lnTo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8" name="ppn-3"/>
          <p:cNvSpPr txBox="1"/>
          <p:nvPr/>
        </p:nvSpPr>
        <p:spPr>
          <a:xfrm>
            <a:off x="9166860" y="438975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议题申报</a:t>
            </a:r>
          </a:p>
        </p:txBody>
      </p:sp>
      <p:sp>
        <p:nvSpPr>
          <p:cNvPr id="109" name="ppt-3"/>
          <p:cNvSpPr txBox="1"/>
          <p:nvPr/>
        </p:nvSpPr>
        <p:spPr>
          <a:xfrm>
            <a:off x="8878951" y="4648787"/>
            <a:ext cx="13985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临时议题需提前申报并预留时长</a:t>
            </a:r>
          </a:p>
        </p:txBody>
      </p:sp>
      <p:sp>
        <p:nvSpPr>
          <p:cNvPr id="110" name="pp-4"/>
          <p:cNvSpPr/>
          <p:nvPr/>
        </p:nvSpPr>
        <p:spPr>
          <a:xfrm>
            <a:off x="8712200" y="5029200"/>
            <a:ext cx="2527300" cy="673100"/>
          </a:xfrm>
          <a:custGeom>
            <a:avLst/>
            <a:gdLst/>
            <a:ahLst/>
            <a:cxnLst/>
            <a:rect l="0" t="0" r="r" b="b"/>
            <a:pathLst>
              <a:path w="2527300" h="673100">
                <a:moveTo>
                  <a:pt x="101600" y="0"/>
                </a:moveTo>
                <a:lnTo>
                  <a:pt x="2425700" y="0"/>
                </a:lnTo>
                <a:cubicBezTo>
                  <a:pt x="2481834" y="0"/>
                  <a:pt x="2527300" y="45466"/>
                  <a:pt x="2527300" y="101600"/>
                </a:cubicBezTo>
                <a:lnTo>
                  <a:pt x="2527300" y="571500"/>
                </a:lnTo>
                <a:cubicBezTo>
                  <a:pt x="2527300" y="627634"/>
                  <a:pt x="2481834" y="673100"/>
                  <a:pt x="2425700" y="673100"/>
                </a:cubicBezTo>
                <a:lnTo>
                  <a:pt x="101600" y="673100"/>
                </a:lnTo>
                <a:cubicBezTo>
                  <a:pt x="45466" y="673100"/>
                  <a:pt x="0" y="627634"/>
                  <a:pt x="0" y="5715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1" name="ppb-4"/>
          <p:cNvSpPr/>
          <p:nvPr/>
        </p:nvSpPr>
        <p:spPr>
          <a:xfrm>
            <a:off x="8712200" y="5029200"/>
            <a:ext cx="31750" cy="673100"/>
          </a:xfrm>
          <a:custGeom>
            <a:avLst/>
            <a:gdLst/>
            <a:ahLst/>
            <a:cxnLst/>
            <a:rect l="0" t="0" r="r" b="b"/>
            <a:pathLst>
              <a:path w="31750" h="673100">
                <a:moveTo>
                  <a:pt x="15875" y="0"/>
                </a:moveTo>
                <a:lnTo>
                  <a:pt x="15875" y="0"/>
                </a:lnTo>
                <a:cubicBezTo>
                  <a:pt x="24638" y="0"/>
                  <a:pt x="31750" y="7112"/>
                  <a:pt x="31750" y="15875"/>
                </a:cubicBezTo>
                <a:lnTo>
                  <a:pt x="31750" y="657225"/>
                </a:lnTo>
                <a:cubicBezTo>
                  <a:pt x="31750" y="665988"/>
                  <a:pt x="24638" y="673100"/>
                  <a:pt x="15875" y="673100"/>
                </a:cubicBezTo>
                <a:lnTo>
                  <a:pt x="15875" y="673100"/>
                </a:lnTo>
                <a:cubicBezTo>
                  <a:pt x="7112" y="673100"/>
                  <a:pt x="0" y="665988"/>
                  <a:pt x="0" y="657225"/>
                </a:cubicBezTo>
                <a:lnTo>
                  <a:pt x="0" y="15875"/>
                </a:lnTo>
                <a:cubicBezTo>
                  <a:pt x="0" y="7112"/>
                  <a:pt x="7112" y="0"/>
                  <a:pt x="15875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2" name="icon-check"/>
          <p:cNvSpPr/>
          <p:nvPr/>
        </p:nvSpPr>
        <p:spPr>
          <a:xfrm>
            <a:off x="8922194" y="5252910"/>
            <a:ext cx="88011" cy="61912"/>
          </a:xfrm>
          <a:custGeom>
            <a:avLst/>
            <a:gdLst/>
            <a:ahLst/>
            <a:cxnLst/>
            <a:rect l="0" t="0" r="r" b="b"/>
            <a:pathLst>
              <a:path w="88011" h="61912">
                <a:moveTo>
                  <a:pt x="0" y="33020"/>
                </a:moveTo>
                <a:lnTo>
                  <a:pt x="28892" y="61912"/>
                </a:lnTo>
                <a:lnTo>
                  <a:pt x="88011" y="0"/>
                </a:lnTo>
              </a:path>
            </a:pathLst>
          </a:cu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3" name="ppn-4"/>
          <p:cNvSpPr txBox="1"/>
          <p:nvPr/>
        </p:nvSpPr>
        <p:spPr>
          <a:xfrm>
            <a:off x="9166860" y="5177155"/>
            <a:ext cx="65278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决议模板</a:t>
            </a:r>
          </a:p>
        </p:txBody>
      </p:sp>
      <p:sp>
        <p:nvSpPr>
          <p:cNvPr id="114" name="ppt-4"/>
          <p:cNvSpPr txBox="1"/>
          <p:nvPr/>
        </p:nvSpPr>
        <p:spPr>
          <a:xfrm>
            <a:off x="8878951" y="5436187"/>
            <a:ext cx="130460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按统一模板记录责任人与时限</a:t>
            </a:r>
          </a:p>
        </p:txBody>
      </p:sp>
      <p:sp>
        <p:nvSpPr>
          <p:cNvPr id="115" name="sum"/>
          <p:cNvSpPr/>
          <p:nvPr/>
        </p:nvSpPr>
        <p:spPr>
          <a:xfrm>
            <a:off x="952500" y="5981700"/>
            <a:ext cx="10287000" cy="355600"/>
          </a:xfrm>
          <a:custGeom>
            <a:avLst/>
            <a:gdLst/>
            <a:ahLst/>
            <a:cxnLst/>
            <a:rect l="0" t="0" r="r" b="b"/>
            <a:pathLst>
              <a:path w="10287000" h="355600">
                <a:moveTo>
                  <a:pt x="88900" y="0"/>
                </a:moveTo>
                <a:lnTo>
                  <a:pt x="10198100" y="0"/>
                </a:lnTo>
                <a:cubicBezTo>
                  <a:pt x="10247186" y="0"/>
                  <a:pt x="10287000" y="39814"/>
                  <a:pt x="10287000" y="88900"/>
                </a:cubicBezTo>
                <a:lnTo>
                  <a:pt x="10287000" y="266700"/>
                </a:lnTo>
                <a:cubicBezTo>
                  <a:pt x="10287000" y="315786"/>
                  <a:pt x="10247186" y="355600"/>
                  <a:pt x="10198100" y="355600"/>
                </a:cubicBezTo>
                <a:lnTo>
                  <a:pt x="88900" y="355600"/>
                </a:lnTo>
                <a:cubicBezTo>
                  <a:pt x="39815" y="355600"/>
                  <a:pt x="0" y="315786"/>
                  <a:pt x="0" y="266700"/>
                </a:cubicBezTo>
                <a:lnTo>
                  <a:pt x="0" y="88900"/>
                </a:lnTo>
                <a:cubicBezTo>
                  <a:pt x="0" y="39814"/>
                  <a:pt x="39815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6" name="sum-bar"/>
          <p:cNvSpPr/>
          <p:nvPr/>
        </p:nvSpPr>
        <p:spPr>
          <a:xfrm>
            <a:off x="952500" y="5981700"/>
            <a:ext cx="31750" cy="3556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7" name="sum-h"/>
          <p:cNvSpPr txBox="1"/>
          <p:nvPr/>
        </p:nvSpPr>
        <p:spPr>
          <a:xfrm>
            <a:off x="1142746" y="60769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会议纪律</a:t>
            </a:r>
          </a:p>
        </p:txBody>
      </p:sp>
      <p:sp>
        <p:nvSpPr>
          <p:cNvPr id="118" name="sum-p"/>
          <p:cNvSpPr txBox="1"/>
          <p:nvPr/>
        </p:nvSpPr>
        <p:spPr>
          <a:xfrm>
            <a:off x="1891665" y="6073061"/>
            <a:ext cx="479202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准时开始、准时结束；四个带「需出决议」的议题当场形成结论，会后 24 小时内发出纪要。</a:t>
            </a:r>
          </a:p>
        </p:txBody>
      </p:sp>
      <p:cxnSp>
        <p:nvCxnSpPr>
          <p:cNvPr id="119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0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会议议程 · 六个议题</a:t>
            </a:r>
          </a:p>
        </p:txBody>
      </p:sp>
      <p:sp>
        <p:nvSpPr>
          <p:cNvPr id="121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cover"/>
          <p:cNvSpPr/>
          <p:nvPr/>
        </p:nvSpPr>
        <p:spPr>
          <a:xfrm>
            <a:off x="952500" y="1206500"/>
            <a:ext cx="3175000" cy="4864100"/>
          </a:xfrm>
          <a:custGeom>
            <a:avLst/>
            <a:gdLst/>
            <a:ahLst/>
            <a:cxnLst/>
            <a:rect l="0" t="0" r="r" b="b"/>
            <a:pathLst>
              <a:path w="3175000" h="4864100">
                <a:moveTo>
                  <a:pt x="152400" y="0"/>
                </a:moveTo>
                <a:lnTo>
                  <a:pt x="3022600" y="0"/>
                </a:lnTo>
                <a:cubicBezTo>
                  <a:pt x="3106801" y="0"/>
                  <a:pt x="3175000" y="68199"/>
                  <a:pt x="3175000" y="152400"/>
                </a:cubicBezTo>
                <a:lnTo>
                  <a:pt x="3175000" y="4711700"/>
                </a:lnTo>
                <a:cubicBezTo>
                  <a:pt x="3175000" y="4795901"/>
                  <a:pt x="3106801" y="4864100"/>
                  <a:pt x="3022600" y="4864100"/>
                </a:cubicBezTo>
                <a:lnTo>
                  <a:pt x="152400" y="4864100"/>
                </a:lnTo>
                <a:cubicBezTo>
                  <a:pt x="68199" y="4864100"/>
                  <a:pt x="0" y="4795901"/>
                  <a:pt x="0" y="4711700"/>
                </a:cubicBezTo>
                <a:lnTo>
                  <a:pt x="0" y="152400"/>
                </a:lnTo>
                <a:cubicBezTo>
                  <a:pt x="0" y="68199"/>
                  <a:pt x="68199" y="0"/>
                  <a:pt x="152400" y="0"/>
                </a:cubic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0A3A88"/>
              </a:gs>
            </a:gsLst>
            <a:lin ang="7560000" scaled="0"/>
          </a:gra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cover-wm"/>
          <p:cNvSpPr txBox="1"/>
          <p:nvPr/>
        </p:nvSpPr>
        <p:spPr>
          <a:xfrm>
            <a:off x="2184400" y="1188085"/>
            <a:ext cx="1795780" cy="15557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0" b="1">
                <a:solidFill>
                  <a:srgbClr val="FFFFFF">
                    <a:alpha val="8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7" name="cover-bar"/>
          <p:cNvSpPr/>
          <p:nvPr/>
        </p:nvSpPr>
        <p:spPr>
          <a:xfrm>
            <a:off x="1231900" y="1587500"/>
            <a:ext cx="31750" cy="4064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" name="cover-t"/>
          <p:cNvSpPr txBox="1"/>
          <p:nvPr/>
        </p:nvSpPr>
        <p:spPr>
          <a:xfrm>
            <a:off x="1196848" y="2052256"/>
            <a:ext cx="2205990" cy="5111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300" b="1" spc="2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年度经营汇报</a:t>
            </a:r>
          </a:p>
        </p:txBody>
      </p:sp>
      <p:sp>
        <p:nvSpPr>
          <p:cNvPr id="9" name="cover-en"/>
          <p:cNvSpPr txBox="1"/>
          <p:nvPr/>
        </p:nvSpPr>
        <p:spPr>
          <a:xfrm>
            <a:off x="1233932" y="2582608"/>
            <a:ext cx="8338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50">
                <a:solidFill>
                  <a:srgbClr val="BFD6F0"/>
                </a:solidFill>
                <a:latin typeface="Arial"/>
                <a:ea typeface="Arial"/>
                <a:cs typeface="Arial"/>
              </a:rPr>
              <a:t>CONTENTS</a:t>
            </a:r>
          </a:p>
        </p:txBody>
      </p:sp>
      <p:cxnSp>
        <p:nvCxnSpPr>
          <p:cNvPr id="10" name="cover-rule"/>
          <p:cNvCxnSpPr/>
          <p:nvPr/>
        </p:nvCxnSpPr>
        <p:spPr>
          <a:xfrm>
            <a:off x="1231900" y="2971800"/>
            <a:ext cx="1371600" cy="0"/>
          </a:xfrm>
          <a:prstGeom prst="line">
            <a:avLst/>
          </a:prstGeom>
          <a:ln w="8890" cap="rnd">
            <a:solidFill>
              <a:srgbClr val="FFFFFF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cover-sub"/>
          <p:cNvSpPr txBox="1"/>
          <p:nvPr/>
        </p:nvSpPr>
        <p:spPr>
          <a:xfrm>
            <a:off x="1218565" y="3139361"/>
            <a:ext cx="254793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3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六个章节，约 45 分钟，重点在第三、第五两章</a:t>
            </a:r>
          </a:p>
        </p:txBody>
      </p:sp>
      <p:sp>
        <p:nvSpPr>
          <p:cNvPr id="12" name="cv-1"/>
          <p:cNvSpPr txBox="1"/>
          <p:nvPr/>
        </p:nvSpPr>
        <p:spPr>
          <a:xfrm>
            <a:off x="1205992" y="3733864"/>
            <a:ext cx="320294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40">
                <a:solidFill>
                  <a:srgbClr val="FFFFFF"/>
                </a:solidFill>
                <a:latin typeface="Arial"/>
                <a:ea typeface="Arial"/>
                <a:cs typeface="Arial"/>
              </a:rPr>
              <a:t>6</a:t>
            </a:r>
          </a:p>
        </p:txBody>
      </p:sp>
      <p:sp>
        <p:nvSpPr>
          <p:cNvPr id="13" name="cl-1"/>
          <p:cNvSpPr txBox="1"/>
          <p:nvPr/>
        </p:nvSpPr>
        <p:spPr>
          <a:xfrm>
            <a:off x="1434465" y="3863261"/>
            <a:ext cx="44481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3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个章节</a:t>
            </a:r>
          </a:p>
        </p:txBody>
      </p:sp>
      <p:cxnSp>
        <p:nvCxnSpPr>
          <p:cNvPr id="14" name="csep-1"/>
          <p:cNvCxnSpPr/>
          <p:nvPr/>
        </p:nvCxnSpPr>
        <p:spPr>
          <a:xfrm>
            <a:off x="1231900" y="4178300"/>
            <a:ext cx="2336800" cy="0"/>
          </a:xfrm>
          <a:prstGeom prst="line">
            <a:avLst/>
          </a:prstGeom>
          <a:ln w="6350" cap="rnd">
            <a:solidFill>
              <a:srgbClr val="FFFFFF">
                <a:alpha val="1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cv-2"/>
          <p:cNvSpPr txBox="1"/>
          <p:nvPr/>
        </p:nvSpPr>
        <p:spPr>
          <a:xfrm>
            <a:off x="1205992" y="4343464"/>
            <a:ext cx="446278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40">
                <a:solidFill>
                  <a:srgbClr val="FFFFFF"/>
                </a:solidFill>
                <a:latin typeface="Arial"/>
                <a:ea typeface="Arial"/>
                <a:cs typeface="Arial"/>
              </a:rPr>
              <a:t>55</a:t>
            </a:r>
          </a:p>
        </p:txBody>
      </p:sp>
      <p:sp>
        <p:nvSpPr>
          <p:cNvPr id="16" name="cl-2"/>
          <p:cNvSpPr txBox="1"/>
          <p:nvPr/>
        </p:nvSpPr>
        <p:spPr>
          <a:xfrm>
            <a:off x="1574165" y="4472861"/>
            <a:ext cx="21494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3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页</a:t>
            </a:r>
          </a:p>
        </p:txBody>
      </p:sp>
      <p:cxnSp>
        <p:nvCxnSpPr>
          <p:cNvPr id="17" name="csep-2"/>
          <p:cNvCxnSpPr/>
          <p:nvPr/>
        </p:nvCxnSpPr>
        <p:spPr>
          <a:xfrm>
            <a:off x="1231900" y="4787900"/>
            <a:ext cx="2336800" cy="0"/>
          </a:xfrm>
          <a:prstGeom prst="line">
            <a:avLst/>
          </a:prstGeom>
          <a:ln w="6350" cap="rnd">
            <a:solidFill>
              <a:srgbClr val="FFFFFF">
                <a:alpha val="1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cv-3"/>
          <p:cNvSpPr txBox="1"/>
          <p:nvPr/>
        </p:nvSpPr>
        <p:spPr>
          <a:xfrm>
            <a:off x="1205992" y="4953064"/>
            <a:ext cx="446278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40">
                <a:solidFill>
                  <a:srgbClr val="FFFFFF"/>
                </a:solidFill>
                <a:latin typeface="Arial"/>
                <a:ea typeface="Arial"/>
                <a:cs typeface="Arial"/>
              </a:rPr>
              <a:t>45</a:t>
            </a:r>
          </a:p>
        </p:txBody>
      </p:sp>
      <p:sp>
        <p:nvSpPr>
          <p:cNvPr id="19" name="cl-3"/>
          <p:cNvSpPr txBox="1"/>
          <p:nvPr/>
        </p:nvSpPr>
        <p:spPr>
          <a:xfrm>
            <a:off x="1574165" y="5082461"/>
            <a:ext cx="32988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3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分钟</a:t>
            </a:r>
          </a:p>
        </p:txBody>
      </p:sp>
      <p:sp>
        <p:nvSpPr>
          <p:cNvPr id="20" name="cover-date"/>
          <p:cNvSpPr txBox="1"/>
          <p:nvPr/>
        </p:nvSpPr>
        <p:spPr>
          <a:xfrm>
            <a:off x="1221232" y="5681408"/>
            <a:ext cx="149377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30">
                <a:solidFill>
                  <a:srgbClr val="BFD6F0"/>
                </a:solidFill>
                <a:latin typeface="微软雅黑"/>
                <a:ea typeface="微软雅黑"/>
                <a:cs typeface="微软雅黑"/>
              </a:rPr>
              <a:t>2026 年 12 月 18 日 · 经营会</a:t>
            </a:r>
          </a:p>
        </p:txBody>
      </p:sp>
      <p:sp>
        <p:nvSpPr>
          <p:cNvPr id="21" name="ch-1"/>
          <p:cNvSpPr/>
          <p:nvPr/>
        </p:nvSpPr>
        <p:spPr>
          <a:xfrm>
            <a:off x="4572000" y="1206500"/>
            <a:ext cx="3289300" cy="1358900"/>
          </a:xfrm>
          <a:custGeom>
            <a:avLst/>
            <a:gdLst/>
            <a:ahLst/>
            <a:cxnLst/>
            <a:rect l="0" t="0" r="r" b="b"/>
            <a:pathLst>
              <a:path w="3289300" h="1358900">
                <a:moveTo>
                  <a:pt x="114300" y="0"/>
                </a:moveTo>
                <a:lnTo>
                  <a:pt x="3175000" y="0"/>
                </a:lnTo>
                <a:cubicBezTo>
                  <a:pt x="3238119" y="0"/>
                  <a:pt x="3289300" y="51181"/>
                  <a:pt x="3289300" y="114300"/>
                </a:cubicBezTo>
                <a:lnTo>
                  <a:pt x="3289300" y="1244600"/>
                </a:lnTo>
                <a:cubicBezTo>
                  <a:pt x="3289300" y="1307719"/>
                  <a:pt x="3238119" y="1358900"/>
                  <a:pt x="3175000" y="1358900"/>
                </a:cubicBezTo>
                <a:lnTo>
                  <a:pt x="114300" y="1358900"/>
                </a:lnTo>
                <a:cubicBezTo>
                  <a:pt x="51181" y="1358900"/>
                  <a:pt x="0" y="1307719"/>
                  <a:pt x="0" y="12446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chno-1"/>
          <p:cNvSpPr txBox="1"/>
          <p:nvPr/>
        </p:nvSpPr>
        <p:spPr>
          <a:xfrm>
            <a:off x="4758944" y="1378394"/>
            <a:ext cx="500126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900" b="1" spc="50">
                <a:solidFill>
                  <a:srgbClr val="FFFFFF">
                    <a:alpha val="55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23" name="icon-chart"/>
          <p:cNvSpPr/>
          <p:nvPr/>
        </p:nvSpPr>
        <p:spPr>
          <a:xfrm>
            <a:off x="5352415" y="1566862"/>
            <a:ext cx="115570" cy="75692"/>
          </a:xfrm>
          <a:custGeom>
            <a:avLst/>
            <a:gdLst/>
            <a:ahLst/>
            <a:cxnLst/>
            <a:rect l="0" t="0" r="r" b="b"/>
            <a:pathLst>
              <a:path w="115570" h="75692">
                <a:moveTo>
                  <a:pt x="0" y="75692"/>
                </a:moveTo>
                <a:lnTo>
                  <a:pt x="115570" y="75692"/>
                </a:lnTo>
                <a:moveTo>
                  <a:pt x="26162" y="75692"/>
                </a:moveTo>
                <a:lnTo>
                  <a:pt x="26162" y="31623"/>
                </a:lnTo>
                <a:moveTo>
                  <a:pt x="57785" y="75692"/>
                </a:moveTo>
                <a:lnTo>
                  <a:pt x="57785" y="0"/>
                </a:lnTo>
                <a:moveTo>
                  <a:pt x="89408" y="75692"/>
                </a:moveTo>
                <a:lnTo>
                  <a:pt x="89408" y="46800"/>
                </a:lnTo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chn-1"/>
          <p:cNvSpPr txBox="1"/>
          <p:nvPr/>
        </p:nvSpPr>
        <p:spPr>
          <a:xfrm>
            <a:off x="5594350" y="1442244"/>
            <a:ext cx="8413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经营总览</a:t>
            </a:r>
          </a:p>
        </p:txBody>
      </p:sp>
      <p:sp>
        <p:nvSpPr>
          <p:cNvPr id="25" name="che-1"/>
          <p:cNvSpPr txBox="1"/>
          <p:nvPr/>
        </p:nvSpPr>
        <p:spPr>
          <a:xfrm>
            <a:off x="5615432" y="1693608"/>
            <a:ext cx="6306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CFE0F4"/>
                </a:solidFill>
                <a:latin typeface="Arial"/>
                <a:ea typeface="Arial"/>
                <a:cs typeface="Arial"/>
              </a:rPr>
              <a:t>OVERVIEW</a:t>
            </a:r>
          </a:p>
        </p:txBody>
      </p:sp>
      <p:sp>
        <p:nvSpPr>
          <p:cNvPr id="26" name="chnote-1"/>
          <p:cNvSpPr txBox="1"/>
          <p:nvPr/>
        </p:nvSpPr>
        <p:spPr>
          <a:xfrm>
            <a:off x="4774565" y="19836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全年数据与目标达成</a:t>
            </a:r>
          </a:p>
        </p:txBody>
      </p:sp>
      <p:sp>
        <p:nvSpPr>
          <p:cNvPr id="27" name="chpg-1"/>
          <p:cNvSpPr txBox="1"/>
          <p:nvPr/>
        </p:nvSpPr>
        <p:spPr>
          <a:xfrm>
            <a:off x="7310374" y="1497140"/>
            <a:ext cx="37414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30">
                <a:solidFill>
                  <a:srgbClr val="FFFFFF"/>
                </a:solidFill>
                <a:latin typeface="Arial"/>
                <a:ea typeface="Arial"/>
                <a:cs typeface="Arial"/>
              </a:rPr>
              <a:t>P.03</a:t>
            </a:r>
          </a:p>
        </p:txBody>
      </p:sp>
      <p:sp>
        <p:nvSpPr>
          <p:cNvPr id="28" name="chtb-1"/>
          <p:cNvSpPr/>
          <p:nvPr/>
        </p:nvSpPr>
        <p:spPr>
          <a:xfrm>
            <a:off x="4787900" y="2286000"/>
            <a:ext cx="2336800" cy="63500"/>
          </a:xfrm>
          <a:custGeom>
            <a:avLst/>
            <a:gdLst/>
            <a:ahLst/>
            <a:cxnLst/>
            <a:rect l="0" t="0" r="r" b="b"/>
            <a:pathLst>
              <a:path w="2336800" h="63500">
                <a:moveTo>
                  <a:pt x="31750" y="0"/>
                </a:moveTo>
                <a:lnTo>
                  <a:pt x="2305050" y="0"/>
                </a:lnTo>
                <a:cubicBezTo>
                  <a:pt x="2322576" y="0"/>
                  <a:pt x="2336800" y="14224"/>
                  <a:pt x="2336800" y="31750"/>
                </a:cubicBezTo>
                <a:lnTo>
                  <a:pt x="2336800" y="31750"/>
                </a:lnTo>
                <a:cubicBezTo>
                  <a:pt x="2336800" y="49276"/>
                  <a:pt x="2322576" y="63500"/>
                  <a:pt x="2305050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FFFFF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cht-1"/>
          <p:cNvSpPr/>
          <p:nvPr/>
        </p:nvSpPr>
        <p:spPr>
          <a:xfrm>
            <a:off x="4787900" y="2286000"/>
            <a:ext cx="1001459" cy="63500"/>
          </a:xfrm>
          <a:custGeom>
            <a:avLst/>
            <a:gdLst/>
            <a:ahLst/>
            <a:cxnLst/>
            <a:rect l="0" t="0" r="r" b="b"/>
            <a:pathLst>
              <a:path w="1001459" h="63500">
                <a:moveTo>
                  <a:pt x="31750" y="0"/>
                </a:moveTo>
                <a:lnTo>
                  <a:pt x="969709" y="0"/>
                </a:lnTo>
                <a:cubicBezTo>
                  <a:pt x="987298" y="0"/>
                  <a:pt x="1001459" y="14224"/>
                  <a:pt x="1001459" y="31750"/>
                </a:cubicBezTo>
                <a:lnTo>
                  <a:pt x="1001459" y="31750"/>
                </a:lnTo>
                <a:cubicBezTo>
                  <a:pt x="1001459" y="49276"/>
                  <a:pt x="987298" y="63500"/>
                  <a:pt x="969709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FFFFFF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chm-1"/>
          <p:cNvSpPr txBox="1"/>
          <p:nvPr/>
        </p:nvSpPr>
        <p:spPr>
          <a:xfrm>
            <a:off x="7264400" y="2230374"/>
            <a:ext cx="41859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6 分钟</a:t>
            </a:r>
          </a:p>
        </p:txBody>
      </p:sp>
      <p:sp>
        <p:nvSpPr>
          <p:cNvPr id="31" name="chk-1"/>
          <p:cNvSpPr/>
          <p:nvPr/>
        </p:nvSpPr>
        <p:spPr>
          <a:xfrm>
            <a:off x="7137400" y="1968500"/>
            <a:ext cx="533400" cy="190500"/>
          </a:xfrm>
          <a:custGeom>
            <a:avLst/>
            <a:gdLst/>
            <a:ahLst/>
            <a:cxnLst/>
            <a:rect l="0" t="0" r="r" b="b"/>
            <a:pathLst>
              <a:path w="533400" h="190500">
                <a:moveTo>
                  <a:pt x="95250" y="0"/>
                </a:moveTo>
                <a:lnTo>
                  <a:pt x="438150" y="0"/>
                </a:lnTo>
                <a:cubicBezTo>
                  <a:pt x="490728" y="0"/>
                  <a:pt x="533400" y="42672"/>
                  <a:pt x="533400" y="95250"/>
                </a:cubicBezTo>
                <a:lnTo>
                  <a:pt x="533400" y="95250"/>
                </a:lnTo>
                <a:cubicBezTo>
                  <a:pt x="533400" y="147828"/>
                  <a:pt x="490728" y="190500"/>
                  <a:pt x="4381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chkt-1"/>
          <p:cNvSpPr txBox="1"/>
          <p:nvPr/>
        </p:nvSpPr>
        <p:spPr>
          <a:xfrm>
            <a:off x="7268845" y="1992058"/>
            <a:ext cx="2705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重点</a:t>
            </a:r>
          </a:p>
        </p:txBody>
      </p:sp>
      <p:sp>
        <p:nvSpPr>
          <p:cNvPr id="33" name="ch-2"/>
          <p:cNvSpPr/>
          <p:nvPr/>
        </p:nvSpPr>
        <p:spPr>
          <a:xfrm>
            <a:off x="7988300" y="1206500"/>
            <a:ext cx="3289300" cy="1358900"/>
          </a:xfrm>
          <a:custGeom>
            <a:avLst/>
            <a:gdLst/>
            <a:ahLst/>
            <a:cxnLst/>
            <a:rect l="0" t="0" r="r" b="b"/>
            <a:pathLst>
              <a:path w="3289300" h="1358900">
                <a:moveTo>
                  <a:pt x="114300" y="0"/>
                </a:moveTo>
                <a:lnTo>
                  <a:pt x="3175000" y="0"/>
                </a:lnTo>
                <a:cubicBezTo>
                  <a:pt x="3238119" y="0"/>
                  <a:pt x="3289300" y="51181"/>
                  <a:pt x="3289300" y="114300"/>
                </a:cubicBezTo>
                <a:lnTo>
                  <a:pt x="3289300" y="1244600"/>
                </a:lnTo>
                <a:cubicBezTo>
                  <a:pt x="3289300" y="1307719"/>
                  <a:pt x="3238119" y="1358900"/>
                  <a:pt x="3175000" y="1358900"/>
                </a:cubicBezTo>
                <a:lnTo>
                  <a:pt x="114300" y="1358900"/>
                </a:lnTo>
                <a:cubicBezTo>
                  <a:pt x="51181" y="1358900"/>
                  <a:pt x="0" y="1307719"/>
                  <a:pt x="0" y="12446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chb-2"/>
          <p:cNvSpPr/>
          <p:nvPr/>
        </p:nvSpPr>
        <p:spPr>
          <a:xfrm>
            <a:off x="7988300" y="1206500"/>
            <a:ext cx="38100" cy="1358900"/>
          </a:xfrm>
          <a:custGeom>
            <a:avLst/>
            <a:gdLst/>
            <a:ahLst/>
            <a:cxnLst/>
            <a:rect l="0" t="0" r="r" b="b"/>
            <a:pathLst>
              <a:path w="38100" h="13589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339850"/>
                </a:lnTo>
                <a:cubicBezTo>
                  <a:pt x="38100" y="1350391"/>
                  <a:pt x="29591" y="1358900"/>
                  <a:pt x="19050" y="1358900"/>
                </a:cubicBezTo>
                <a:lnTo>
                  <a:pt x="19050" y="1358900"/>
                </a:lnTo>
                <a:cubicBezTo>
                  <a:pt x="8509" y="1358900"/>
                  <a:pt x="0" y="1350391"/>
                  <a:pt x="0" y="13398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chno-2"/>
          <p:cNvSpPr txBox="1"/>
          <p:nvPr/>
        </p:nvSpPr>
        <p:spPr>
          <a:xfrm>
            <a:off x="8175244" y="1378394"/>
            <a:ext cx="500126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900" b="1" spc="50">
                <a:solidFill>
                  <a:srgbClr val="134C9C">
                    <a:alpha val="28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36" name="icon-factory"/>
          <p:cNvSpPr/>
          <p:nvPr/>
        </p:nvSpPr>
        <p:spPr>
          <a:xfrm>
            <a:off x="8767318" y="1561338"/>
            <a:ext cx="118364" cy="79819"/>
          </a:xfrm>
          <a:custGeom>
            <a:avLst/>
            <a:gdLst/>
            <a:ahLst/>
            <a:cxnLst/>
            <a:rect l="0" t="0" r="r" b="b"/>
            <a:pathLst>
              <a:path w="118364" h="79819">
                <a:moveTo>
                  <a:pt x="0" y="79819"/>
                </a:moveTo>
                <a:lnTo>
                  <a:pt x="0" y="19304"/>
                </a:lnTo>
                <a:lnTo>
                  <a:pt x="34417" y="39941"/>
                </a:lnTo>
                <a:lnTo>
                  <a:pt x="34417" y="19304"/>
                </a:lnTo>
                <a:lnTo>
                  <a:pt x="68834" y="39941"/>
                </a:lnTo>
                <a:lnTo>
                  <a:pt x="68834" y="0"/>
                </a:lnTo>
                <a:lnTo>
                  <a:pt x="103188" y="20638"/>
                </a:lnTo>
                <a:lnTo>
                  <a:pt x="103188" y="72962"/>
                </a:lnTo>
                <a:close/>
                <a:moveTo>
                  <a:pt x="0" y="79819"/>
                </a:moveTo>
                <a:lnTo>
                  <a:pt x="118364" y="79819"/>
                </a:lnTo>
              </a:path>
            </a:pathLst>
          </a:cu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chn-2"/>
          <p:cNvSpPr txBox="1"/>
          <p:nvPr/>
        </p:nvSpPr>
        <p:spPr>
          <a:xfrm>
            <a:off x="9010650" y="1442244"/>
            <a:ext cx="8413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业务回顾</a:t>
            </a:r>
          </a:p>
        </p:txBody>
      </p:sp>
      <p:sp>
        <p:nvSpPr>
          <p:cNvPr id="38" name="che-2"/>
          <p:cNvSpPr txBox="1"/>
          <p:nvPr/>
        </p:nvSpPr>
        <p:spPr>
          <a:xfrm>
            <a:off x="9031732" y="1693608"/>
            <a:ext cx="6306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64748B"/>
                </a:solidFill>
                <a:latin typeface="Arial"/>
                <a:ea typeface="Arial"/>
                <a:cs typeface="Arial"/>
              </a:rPr>
              <a:t>BUSINESS</a:t>
            </a:r>
          </a:p>
        </p:txBody>
      </p:sp>
      <p:sp>
        <p:nvSpPr>
          <p:cNvPr id="39" name="chnote-2"/>
          <p:cNvSpPr txBox="1"/>
          <p:nvPr/>
        </p:nvSpPr>
        <p:spPr>
          <a:xfrm>
            <a:off x="8190865" y="19836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四条业务线逐一复盘</a:t>
            </a:r>
          </a:p>
        </p:txBody>
      </p:sp>
      <p:sp>
        <p:nvSpPr>
          <p:cNvPr id="40" name="chpg-2"/>
          <p:cNvSpPr txBox="1"/>
          <p:nvPr/>
        </p:nvSpPr>
        <p:spPr>
          <a:xfrm>
            <a:off x="10726674" y="1497140"/>
            <a:ext cx="37414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30">
                <a:solidFill>
                  <a:srgbClr val="0B3E8F"/>
                </a:solidFill>
                <a:latin typeface="Arial"/>
                <a:ea typeface="Arial"/>
                <a:cs typeface="Arial"/>
              </a:rPr>
              <a:t>P.09</a:t>
            </a:r>
          </a:p>
        </p:txBody>
      </p:sp>
      <p:sp>
        <p:nvSpPr>
          <p:cNvPr id="41" name="chtb-2"/>
          <p:cNvSpPr/>
          <p:nvPr/>
        </p:nvSpPr>
        <p:spPr>
          <a:xfrm>
            <a:off x="8204200" y="2286000"/>
            <a:ext cx="2336800" cy="63500"/>
          </a:xfrm>
          <a:custGeom>
            <a:avLst/>
            <a:gdLst/>
            <a:ahLst/>
            <a:cxnLst/>
            <a:rect l="0" t="0" r="r" b="b"/>
            <a:pathLst>
              <a:path w="2336800" h="63500">
                <a:moveTo>
                  <a:pt x="31750" y="0"/>
                </a:moveTo>
                <a:lnTo>
                  <a:pt x="2305050" y="0"/>
                </a:lnTo>
                <a:cubicBezTo>
                  <a:pt x="2322576" y="0"/>
                  <a:pt x="2336800" y="14224"/>
                  <a:pt x="2336800" y="31750"/>
                </a:cubicBezTo>
                <a:lnTo>
                  <a:pt x="2336800" y="31750"/>
                </a:lnTo>
                <a:cubicBezTo>
                  <a:pt x="2336800" y="49276"/>
                  <a:pt x="2322576" y="63500"/>
                  <a:pt x="2305050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cht-2"/>
          <p:cNvSpPr/>
          <p:nvPr/>
        </p:nvSpPr>
        <p:spPr>
          <a:xfrm>
            <a:off x="8204200" y="2286000"/>
            <a:ext cx="1669161" cy="63500"/>
          </a:xfrm>
          <a:custGeom>
            <a:avLst/>
            <a:gdLst/>
            <a:ahLst/>
            <a:cxnLst/>
            <a:rect l="0" t="0" r="r" b="b"/>
            <a:pathLst>
              <a:path w="1669161" h="63500">
                <a:moveTo>
                  <a:pt x="31750" y="0"/>
                </a:moveTo>
                <a:lnTo>
                  <a:pt x="1637411" y="0"/>
                </a:lnTo>
                <a:cubicBezTo>
                  <a:pt x="1654937" y="0"/>
                  <a:pt x="1669161" y="14224"/>
                  <a:pt x="1669161" y="31750"/>
                </a:cubicBezTo>
                <a:lnTo>
                  <a:pt x="1669161" y="31750"/>
                </a:lnTo>
                <a:cubicBezTo>
                  <a:pt x="1669161" y="49276"/>
                  <a:pt x="1654937" y="63500"/>
                  <a:pt x="1637411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134C9C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chm-2"/>
          <p:cNvSpPr txBox="1"/>
          <p:nvPr/>
        </p:nvSpPr>
        <p:spPr>
          <a:xfrm>
            <a:off x="10621264" y="2230374"/>
            <a:ext cx="4780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10 分钟</a:t>
            </a:r>
          </a:p>
        </p:txBody>
      </p:sp>
      <p:sp>
        <p:nvSpPr>
          <p:cNvPr id="44" name="ch-3"/>
          <p:cNvSpPr/>
          <p:nvPr/>
        </p:nvSpPr>
        <p:spPr>
          <a:xfrm>
            <a:off x="4572000" y="2692400"/>
            <a:ext cx="3289300" cy="1358900"/>
          </a:xfrm>
          <a:custGeom>
            <a:avLst/>
            <a:gdLst/>
            <a:ahLst/>
            <a:cxnLst/>
            <a:rect l="0" t="0" r="r" b="b"/>
            <a:pathLst>
              <a:path w="3289300" h="1358900">
                <a:moveTo>
                  <a:pt x="114300" y="0"/>
                </a:moveTo>
                <a:lnTo>
                  <a:pt x="3175000" y="0"/>
                </a:lnTo>
                <a:cubicBezTo>
                  <a:pt x="3238119" y="0"/>
                  <a:pt x="3289300" y="51181"/>
                  <a:pt x="3289300" y="114300"/>
                </a:cubicBezTo>
                <a:lnTo>
                  <a:pt x="3289300" y="1244600"/>
                </a:lnTo>
                <a:cubicBezTo>
                  <a:pt x="3289300" y="1307719"/>
                  <a:pt x="3238119" y="1358900"/>
                  <a:pt x="3175000" y="1358900"/>
                </a:cubicBezTo>
                <a:lnTo>
                  <a:pt x="114300" y="1358900"/>
                </a:lnTo>
                <a:cubicBezTo>
                  <a:pt x="51181" y="1358900"/>
                  <a:pt x="0" y="1307719"/>
                  <a:pt x="0" y="12446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366EB2"/>
              </a:gs>
              <a:gs pos="100000">
                <a:srgbClr val="1B5AA8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chno-3"/>
          <p:cNvSpPr txBox="1"/>
          <p:nvPr/>
        </p:nvSpPr>
        <p:spPr>
          <a:xfrm>
            <a:off x="4758944" y="2864294"/>
            <a:ext cx="500126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900" b="1" spc="50">
                <a:solidFill>
                  <a:srgbClr val="FFFFFF">
                    <a:alpha val="55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46" name="icon-tools"/>
          <p:cNvSpPr/>
          <p:nvPr/>
        </p:nvSpPr>
        <p:spPr>
          <a:xfrm>
            <a:off x="5357968" y="3017899"/>
            <a:ext cx="97635" cy="96776"/>
          </a:xfrm>
          <a:custGeom>
            <a:avLst/>
            <a:gdLst/>
            <a:ahLst/>
            <a:cxnLst/>
            <a:rect l="0" t="0" r="r" b="b"/>
            <a:pathLst>
              <a:path w="97635" h="96776">
                <a:moveTo>
                  <a:pt x="17815" y="3240"/>
                </a:moveTo>
                <a:lnTo>
                  <a:pt x="38453" y="23878"/>
                </a:lnTo>
                <a:lnTo>
                  <a:pt x="23340" y="38991"/>
                </a:lnTo>
                <a:lnTo>
                  <a:pt x="2702" y="18353"/>
                </a:lnTo>
                <a:cubicBezTo>
                  <a:pt x="-2251" y="28704"/>
                  <a:pt x="-282" y="41086"/>
                  <a:pt x="7655" y="49341"/>
                </a:cubicBezTo>
                <a:cubicBezTo>
                  <a:pt x="15656" y="57660"/>
                  <a:pt x="27912" y="60073"/>
                  <a:pt x="38453" y="55501"/>
                </a:cubicBezTo>
                <a:lnTo>
                  <a:pt x="79728" y="96776"/>
                </a:lnTo>
                <a:lnTo>
                  <a:pt x="97635" y="78869"/>
                </a:lnTo>
                <a:lnTo>
                  <a:pt x="56360" y="37594"/>
                </a:lnTo>
                <a:cubicBezTo>
                  <a:pt x="60614" y="26862"/>
                  <a:pt x="57693" y="14670"/>
                  <a:pt x="49121" y="6987"/>
                </a:cubicBezTo>
                <a:cubicBezTo>
                  <a:pt x="40485" y="-697"/>
                  <a:pt x="28039" y="-2221"/>
                  <a:pt x="17815" y="3240"/>
                </a:cubicBezTo>
                <a:close/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chn-3"/>
          <p:cNvSpPr txBox="1"/>
          <p:nvPr/>
        </p:nvSpPr>
        <p:spPr>
          <a:xfrm>
            <a:off x="5594350" y="2928144"/>
            <a:ext cx="1016000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交付与质量</a:t>
            </a:r>
          </a:p>
        </p:txBody>
      </p:sp>
      <p:sp>
        <p:nvSpPr>
          <p:cNvPr id="48" name="che-3"/>
          <p:cNvSpPr txBox="1"/>
          <p:nvPr/>
        </p:nvSpPr>
        <p:spPr>
          <a:xfrm>
            <a:off x="5615432" y="3179508"/>
            <a:ext cx="6306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CFE0F4"/>
                </a:solidFill>
                <a:latin typeface="Arial"/>
                <a:ea typeface="Arial"/>
                <a:cs typeface="Arial"/>
              </a:rPr>
              <a:t>DELIVERY</a:t>
            </a:r>
          </a:p>
        </p:txBody>
      </p:sp>
      <p:sp>
        <p:nvSpPr>
          <p:cNvPr id="49" name="chnote-3"/>
          <p:cNvSpPr txBox="1"/>
          <p:nvPr/>
        </p:nvSpPr>
        <p:spPr>
          <a:xfrm>
            <a:off x="4774565" y="34695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准时率归因与改善</a:t>
            </a:r>
          </a:p>
        </p:txBody>
      </p:sp>
      <p:sp>
        <p:nvSpPr>
          <p:cNvPr id="50" name="chpg-3"/>
          <p:cNvSpPr txBox="1"/>
          <p:nvPr/>
        </p:nvSpPr>
        <p:spPr>
          <a:xfrm>
            <a:off x="7310374" y="2983040"/>
            <a:ext cx="37414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30">
                <a:solidFill>
                  <a:srgbClr val="FFFFFF"/>
                </a:solidFill>
                <a:latin typeface="Arial"/>
                <a:ea typeface="Arial"/>
                <a:cs typeface="Arial"/>
              </a:rPr>
              <a:t>P.19</a:t>
            </a:r>
          </a:p>
        </p:txBody>
      </p:sp>
      <p:sp>
        <p:nvSpPr>
          <p:cNvPr id="51" name="chtb-3"/>
          <p:cNvSpPr/>
          <p:nvPr/>
        </p:nvSpPr>
        <p:spPr>
          <a:xfrm>
            <a:off x="4787900" y="3771900"/>
            <a:ext cx="2336800" cy="63500"/>
          </a:xfrm>
          <a:custGeom>
            <a:avLst/>
            <a:gdLst/>
            <a:ahLst/>
            <a:cxnLst/>
            <a:rect l="0" t="0" r="r" b="b"/>
            <a:pathLst>
              <a:path w="2336800" h="63500">
                <a:moveTo>
                  <a:pt x="31750" y="0"/>
                </a:moveTo>
                <a:lnTo>
                  <a:pt x="2305050" y="0"/>
                </a:lnTo>
                <a:cubicBezTo>
                  <a:pt x="2322576" y="0"/>
                  <a:pt x="2336800" y="14224"/>
                  <a:pt x="2336800" y="31750"/>
                </a:cubicBezTo>
                <a:lnTo>
                  <a:pt x="2336800" y="31750"/>
                </a:lnTo>
                <a:cubicBezTo>
                  <a:pt x="2336800" y="49276"/>
                  <a:pt x="2322576" y="63500"/>
                  <a:pt x="2305050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FFFFF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cht-3"/>
          <p:cNvSpPr/>
          <p:nvPr/>
        </p:nvSpPr>
        <p:spPr>
          <a:xfrm>
            <a:off x="4787900" y="3771900"/>
            <a:ext cx="2002981" cy="63500"/>
          </a:xfrm>
          <a:custGeom>
            <a:avLst/>
            <a:gdLst/>
            <a:ahLst/>
            <a:cxnLst/>
            <a:rect l="0" t="0" r="r" b="b"/>
            <a:pathLst>
              <a:path w="2002981" h="63500">
                <a:moveTo>
                  <a:pt x="31750" y="0"/>
                </a:moveTo>
                <a:lnTo>
                  <a:pt x="1971231" y="0"/>
                </a:lnTo>
                <a:cubicBezTo>
                  <a:pt x="1988757" y="0"/>
                  <a:pt x="2002981" y="14224"/>
                  <a:pt x="2002981" y="31750"/>
                </a:cubicBezTo>
                <a:lnTo>
                  <a:pt x="2002981" y="31750"/>
                </a:lnTo>
                <a:cubicBezTo>
                  <a:pt x="2002981" y="49276"/>
                  <a:pt x="1988757" y="63500"/>
                  <a:pt x="1971231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FFFFFF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chm-3"/>
          <p:cNvSpPr txBox="1"/>
          <p:nvPr/>
        </p:nvSpPr>
        <p:spPr>
          <a:xfrm>
            <a:off x="7204964" y="3716274"/>
            <a:ext cx="4780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12 分钟</a:t>
            </a:r>
          </a:p>
        </p:txBody>
      </p:sp>
      <p:sp>
        <p:nvSpPr>
          <p:cNvPr id="54" name="chk-3"/>
          <p:cNvSpPr/>
          <p:nvPr/>
        </p:nvSpPr>
        <p:spPr>
          <a:xfrm>
            <a:off x="7137400" y="3454400"/>
            <a:ext cx="533400" cy="190500"/>
          </a:xfrm>
          <a:custGeom>
            <a:avLst/>
            <a:gdLst/>
            <a:ahLst/>
            <a:cxnLst/>
            <a:rect l="0" t="0" r="r" b="b"/>
            <a:pathLst>
              <a:path w="533400" h="190500">
                <a:moveTo>
                  <a:pt x="95250" y="0"/>
                </a:moveTo>
                <a:lnTo>
                  <a:pt x="438150" y="0"/>
                </a:lnTo>
                <a:cubicBezTo>
                  <a:pt x="490728" y="0"/>
                  <a:pt x="533400" y="42672"/>
                  <a:pt x="533400" y="95250"/>
                </a:cubicBezTo>
                <a:lnTo>
                  <a:pt x="533400" y="95250"/>
                </a:lnTo>
                <a:cubicBezTo>
                  <a:pt x="533400" y="147828"/>
                  <a:pt x="490728" y="190500"/>
                  <a:pt x="4381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chkt-3"/>
          <p:cNvSpPr txBox="1"/>
          <p:nvPr/>
        </p:nvSpPr>
        <p:spPr>
          <a:xfrm>
            <a:off x="7268845" y="3477958"/>
            <a:ext cx="2705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重点</a:t>
            </a:r>
          </a:p>
        </p:txBody>
      </p:sp>
      <p:sp>
        <p:nvSpPr>
          <p:cNvPr id="56" name="ch-4"/>
          <p:cNvSpPr/>
          <p:nvPr/>
        </p:nvSpPr>
        <p:spPr>
          <a:xfrm>
            <a:off x="7988300" y="2692400"/>
            <a:ext cx="3289300" cy="1358900"/>
          </a:xfrm>
          <a:custGeom>
            <a:avLst/>
            <a:gdLst/>
            <a:ahLst/>
            <a:cxnLst/>
            <a:rect l="0" t="0" r="r" b="b"/>
            <a:pathLst>
              <a:path w="3289300" h="1358900">
                <a:moveTo>
                  <a:pt x="114300" y="0"/>
                </a:moveTo>
                <a:lnTo>
                  <a:pt x="3175000" y="0"/>
                </a:lnTo>
                <a:cubicBezTo>
                  <a:pt x="3238119" y="0"/>
                  <a:pt x="3289300" y="51181"/>
                  <a:pt x="3289300" y="114300"/>
                </a:cubicBezTo>
                <a:lnTo>
                  <a:pt x="3289300" y="1244600"/>
                </a:lnTo>
                <a:cubicBezTo>
                  <a:pt x="3289300" y="1307719"/>
                  <a:pt x="3238119" y="1358900"/>
                  <a:pt x="3175000" y="1358900"/>
                </a:cubicBezTo>
                <a:lnTo>
                  <a:pt x="114300" y="1358900"/>
                </a:lnTo>
                <a:cubicBezTo>
                  <a:pt x="51181" y="1358900"/>
                  <a:pt x="0" y="1307719"/>
                  <a:pt x="0" y="12446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chb-4"/>
          <p:cNvSpPr/>
          <p:nvPr/>
        </p:nvSpPr>
        <p:spPr>
          <a:xfrm>
            <a:off x="7988300" y="2692400"/>
            <a:ext cx="38100" cy="1358900"/>
          </a:xfrm>
          <a:custGeom>
            <a:avLst/>
            <a:gdLst/>
            <a:ahLst/>
            <a:cxnLst/>
            <a:rect l="0" t="0" r="r" b="b"/>
            <a:pathLst>
              <a:path w="38100" h="13589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339850"/>
                </a:lnTo>
                <a:cubicBezTo>
                  <a:pt x="38100" y="1350391"/>
                  <a:pt x="29591" y="1358900"/>
                  <a:pt x="19050" y="1358900"/>
                </a:cubicBezTo>
                <a:lnTo>
                  <a:pt x="19050" y="1358900"/>
                </a:lnTo>
                <a:cubicBezTo>
                  <a:pt x="8509" y="1358900"/>
                  <a:pt x="0" y="1350391"/>
                  <a:pt x="0" y="13398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chno-4"/>
          <p:cNvSpPr txBox="1"/>
          <p:nvPr/>
        </p:nvSpPr>
        <p:spPr>
          <a:xfrm>
            <a:off x="8175244" y="2864294"/>
            <a:ext cx="500126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900" b="1" spc="50">
                <a:solidFill>
                  <a:srgbClr val="2468B6">
                    <a:alpha val="28000"/>
                  </a:srgbClr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59" name="icon-people"/>
          <p:cNvSpPr/>
          <p:nvPr/>
        </p:nvSpPr>
        <p:spPr>
          <a:xfrm>
            <a:off x="8768715" y="3091307"/>
            <a:ext cx="116967" cy="33020"/>
          </a:xfrm>
          <a:custGeom>
            <a:avLst/>
            <a:gdLst/>
            <a:ahLst/>
            <a:cxnLst/>
            <a:rect l="0" t="0" r="r" b="b"/>
            <a:pathLst>
              <a:path w="116967" h="33020">
                <a:moveTo>
                  <a:pt x="0" y="33020"/>
                </a:moveTo>
                <a:cubicBezTo>
                  <a:pt x="0" y="12382"/>
                  <a:pt x="17208" y="0"/>
                  <a:pt x="37147" y="0"/>
                </a:cubicBezTo>
                <a:cubicBezTo>
                  <a:pt x="57087" y="0"/>
                  <a:pt x="74295" y="12382"/>
                  <a:pt x="74295" y="33020"/>
                </a:cubicBezTo>
                <a:moveTo>
                  <a:pt x="88074" y="2731"/>
                </a:moveTo>
                <a:cubicBezTo>
                  <a:pt x="105918" y="4762"/>
                  <a:pt x="116967" y="17145"/>
                  <a:pt x="116967" y="33020"/>
                </a:cubicBezTo>
              </a:path>
            </a:pathLst>
          </a:cu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icon-people"/>
          <p:cNvSpPr/>
          <p:nvPr/>
        </p:nvSpPr>
        <p:spPr>
          <a:xfrm>
            <a:off x="8783849" y="3032125"/>
            <a:ext cx="44027" cy="44027"/>
          </a:xfrm>
          <a:prstGeom prst="ellipse">
            <a:avLst/>
          </a:pr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icon-people"/>
          <p:cNvSpPr/>
          <p:nvPr/>
        </p:nvSpPr>
        <p:spPr>
          <a:xfrm>
            <a:off x="8843010" y="3032125"/>
            <a:ext cx="35772" cy="35772"/>
          </a:xfrm>
          <a:prstGeom prst="ellipse">
            <a:avLst/>
          </a:pr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chn-4"/>
          <p:cNvSpPr txBox="1"/>
          <p:nvPr/>
        </p:nvSpPr>
        <p:spPr>
          <a:xfrm>
            <a:off x="9010650" y="2928144"/>
            <a:ext cx="1016000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客户与市场</a:t>
            </a:r>
          </a:p>
        </p:txBody>
      </p:sp>
      <p:sp>
        <p:nvSpPr>
          <p:cNvPr id="63" name="che-4"/>
          <p:cNvSpPr txBox="1"/>
          <p:nvPr/>
        </p:nvSpPr>
        <p:spPr>
          <a:xfrm>
            <a:off x="9031732" y="3179508"/>
            <a:ext cx="49301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64748B"/>
                </a:solidFill>
                <a:latin typeface="Arial"/>
                <a:ea typeface="Arial"/>
                <a:cs typeface="Arial"/>
              </a:rPr>
              <a:t>MARKET</a:t>
            </a:r>
          </a:p>
        </p:txBody>
      </p:sp>
      <p:sp>
        <p:nvSpPr>
          <p:cNvPr id="64" name="chnote-4"/>
          <p:cNvSpPr txBox="1"/>
          <p:nvPr/>
        </p:nvSpPr>
        <p:spPr>
          <a:xfrm>
            <a:off x="8190865" y="34695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客户结构与竞争态势</a:t>
            </a:r>
          </a:p>
        </p:txBody>
      </p:sp>
      <p:sp>
        <p:nvSpPr>
          <p:cNvPr id="65" name="chpg-4"/>
          <p:cNvSpPr txBox="1"/>
          <p:nvPr/>
        </p:nvSpPr>
        <p:spPr>
          <a:xfrm>
            <a:off x="10726674" y="2983040"/>
            <a:ext cx="37414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30">
                <a:solidFill>
                  <a:srgbClr val="0B3E8F"/>
                </a:solidFill>
                <a:latin typeface="Arial"/>
                <a:ea typeface="Arial"/>
                <a:cs typeface="Arial"/>
              </a:rPr>
              <a:t>P.31</a:t>
            </a:r>
          </a:p>
        </p:txBody>
      </p:sp>
      <p:sp>
        <p:nvSpPr>
          <p:cNvPr id="66" name="chtb-4"/>
          <p:cNvSpPr/>
          <p:nvPr/>
        </p:nvSpPr>
        <p:spPr>
          <a:xfrm>
            <a:off x="8204200" y="3771900"/>
            <a:ext cx="2336800" cy="63500"/>
          </a:xfrm>
          <a:custGeom>
            <a:avLst/>
            <a:gdLst/>
            <a:ahLst/>
            <a:cxnLst/>
            <a:rect l="0" t="0" r="r" b="b"/>
            <a:pathLst>
              <a:path w="2336800" h="63500">
                <a:moveTo>
                  <a:pt x="31750" y="0"/>
                </a:moveTo>
                <a:lnTo>
                  <a:pt x="2305050" y="0"/>
                </a:lnTo>
                <a:cubicBezTo>
                  <a:pt x="2322576" y="0"/>
                  <a:pt x="2336800" y="14224"/>
                  <a:pt x="2336800" y="31750"/>
                </a:cubicBezTo>
                <a:lnTo>
                  <a:pt x="2336800" y="31750"/>
                </a:lnTo>
                <a:cubicBezTo>
                  <a:pt x="2336800" y="49276"/>
                  <a:pt x="2322576" y="63500"/>
                  <a:pt x="2305050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cht-4"/>
          <p:cNvSpPr/>
          <p:nvPr/>
        </p:nvSpPr>
        <p:spPr>
          <a:xfrm>
            <a:off x="8204200" y="3771900"/>
            <a:ext cx="1335341" cy="63500"/>
          </a:xfrm>
          <a:custGeom>
            <a:avLst/>
            <a:gdLst/>
            <a:ahLst/>
            <a:cxnLst/>
            <a:rect l="0" t="0" r="r" b="b"/>
            <a:pathLst>
              <a:path w="1335341" h="63500">
                <a:moveTo>
                  <a:pt x="31750" y="0"/>
                </a:moveTo>
                <a:lnTo>
                  <a:pt x="1303591" y="0"/>
                </a:lnTo>
                <a:cubicBezTo>
                  <a:pt x="1321117" y="0"/>
                  <a:pt x="1335341" y="14224"/>
                  <a:pt x="1335341" y="31750"/>
                </a:cubicBezTo>
                <a:lnTo>
                  <a:pt x="1335341" y="31750"/>
                </a:lnTo>
                <a:cubicBezTo>
                  <a:pt x="1335341" y="49276"/>
                  <a:pt x="1321117" y="63500"/>
                  <a:pt x="1303591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2468B6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chm-4"/>
          <p:cNvSpPr txBox="1"/>
          <p:nvPr/>
        </p:nvSpPr>
        <p:spPr>
          <a:xfrm>
            <a:off x="10680700" y="3716274"/>
            <a:ext cx="41859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8 分钟</a:t>
            </a:r>
          </a:p>
        </p:txBody>
      </p:sp>
      <p:sp>
        <p:nvSpPr>
          <p:cNvPr id="69" name="ch-5"/>
          <p:cNvSpPr/>
          <p:nvPr/>
        </p:nvSpPr>
        <p:spPr>
          <a:xfrm>
            <a:off x="4572000" y="4178300"/>
            <a:ext cx="3289300" cy="1358900"/>
          </a:xfrm>
          <a:custGeom>
            <a:avLst/>
            <a:gdLst/>
            <a:ahLst/>
            <a:cxnLst/>
            <a:rect l="0" t="0" r="r" b="b"/>
            <a:pathLst>
              <a:path w="3289300" h="1358900">
                <a:moveTo>
                  <a:pt x="114300" y="0"/>
                </a:moveTo>
                <a:lnTo>
                  <a:pt x="3175000" y="0"/>
                </a:lnTo>
                <a:cubicBezTo>
                  <a:pt x="3238119" y="0"/>
                  <a:pt x="3289300" y="51181"/>
                  <a:pt x="3289300" y="114300"/>
                </a:cubicBezTo>
                <a:lnTo>
                  <a:pt x="3289300" y="1244600"/>
                </a:lnTo>
                <a:cubicBezTo>
                  <a:pt x="3289300" y="1307719"/>
                  <a:pt x="3238119" y="1358900"/>
                  <a:pt x="3175000" y="1358900"/>
                </a:cubicBezTo>
                <a:lnTo>
                  <a:pt x="114300" y="1358900"/>
                </a:lnTo>
                <a:cubicBezTo>
                  <a:pt x="51181" y="1358900"/>
                  <a:pt x="0" y="1307719"/>
                  <a:pt x="0" y="12446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gradFill rotWithShape="1">
            <a:gsLst>
              <a:gs pos="0">
                <a:srgbClr val="4787C9"/>
              </a:gs>
              <a:gs pos="100000">
                <a:srgbClr val="2E77C2"/>
              </a:gs>
            </a:gsLst>
            <a:lin ang="732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chno-5"/>
          <p:cNvSpPr txBox="1"/>
          <p:nvPr/>
        </p:nvSpPr>
        <p:spPr>
          <a:xfrm>
            <a:off x="4758944" y="4350194"/>
            <a:ext cx="500126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900" b="1" spc="50">
                <a:solidFill>
                  <a:srgbClr val="FFFFFF">
                    <a:alpha val="55000"/>
                  </a:srgbClr>
                </a:solidFill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71" name="icon-target"/>
          <p:cNvSpPr/>
          <p:nvPr/>
        </p:nvSpPr>
        <p:spPr>
          <a:xfrm>
            <a:off x="5410200" y="4500118"/>
            <a:ext cx="45402" cy="59182"/>
          </a:xfrm>
          <a:custGeom>
            <a:avLst/>
            <a:gdLst/>
            <a:ahLst/>
            <a:cxnLst/>
            <a:rect l="0" t="0" r="r" b="b"/>
            <a:pathLst>
              <a:path w="45402" h="59182">
                <a:moveTo>
                  <a:pt x="0" y="34417"/>
                </a:moveTo>
                <a:lnTo>
                  <a:pt x="0" y="0"/>
                </a:lnTo>
                <a:moveTo>
                  <a:pt x="0" y="59182"/>
                </a:moveTo>
                <a:lnTo>
                  <a:pt x="45402" y="13780"/>
                </a:lnTo>
              </a:path>
            </a:pathLst>
          </a:cu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icon-target"/>
          <p:cNvSpPr/>
          <p:nvPr/>
        </p:nvSpPr>
        <p:spPr>
          <a:xfrm>
            <a:off x="5351039" y="4500139"/>
            <a:ext cx="118322" cy="118322"/>
          </a:xfrm>
          <a:prstGeom prst="ellipse">
            <a:avLst/>
          </a:pr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icon-target"/>
          <p:cNvSpPr/>
          <p:nvPr/>
        </p:nvSpPr>
        <p:spPr>
          <a:xfrm>
            <a:off x="5379932" y="4529032"/>
            <a:ext cx="60537" cy="60537"/>
          </a:xfrm>
          <a:prstGeom prst="ellipse">
            <a:avLst/>
          </a:prstGeom>
          <a:noFill/>
          <a:ln w="1270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chn-5"/>
          <p:cNvSpPr txBox="1"/>
          <p:nvPr/>
        </p:nvSpPr>
        <p:spPr>
          <a:xfrm>
            <a:off x="5594350" y="4414044"/>
            <a:ext cx="8413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2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明年规划</a:t>
            </a:r>
          </a:p>
        </p:txBody>
      </p:sp>
      <p:sp>
        <p:nvSpPr>
          <p:cNvPr id="75" name="che-5"/>
          <p:cNvSpPr txBox="1"/>
          <p:nvPr/>
        </p:nvSpPr>
        <p:spPr>
          <a:xfrm>
            <a:off x="5615432" y="4665408"/>
            <a:ext cx="3553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CFE0F4"/>
                </a:solidFill>
                <a:latin typeface="Arial"/>
                <a:ea typeface="Arial"/>
                <a:cs typeface="Arial"/>
              </a:rPr>
              <a:t>PLAN</a:t>
            </a:r>
          </a:p>
        </p:txBody>
      </p:sp>
      <p:sp>
        <p:nvSpPr>
          <p:cNvPr id="76" name="chnote-5"/>
          <p:cNvSpPr txBox="1"/>
          <p:nvPr/>
        </p:nvSpPr>
        <p:spPr>
          <a:xfrm>
            <a:off x="4774565" y="4955461"/>
            <a:ext cx="10093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目标、预算与资源</a:t>
            </a:r>
          </a:p>
        </p:txBody>
      </p:sp>
      <p:sp>
        <p:nvSpPr>
          <p:cNvPr id="77" name="chpg-5"/>
          <p:cNvSpPr txBox="1"/>
          <p:nvPr/>
        </p:nvSpPr>
        <p:spPr>
          <a:xfrm>
            <a:off x="7310374" y="4468940"/>
            <a:ext cx="37414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30">
                <a:solidFill>
                  <a:srgbClr val="FFFFFF"/>
                </a:solidFill>
                <a:latin typeface="Arial"/>
                <a:ea typeface="Arial"/>
                <a:cs typeface="Arial"/>
              </a:rPr>
              <a:t>P.39</a:t>
            </a:r>
          </a:p>
        </p:txBody>
      </p:sp>
      <p:sp>
        <p:nvSpPr>
          <p:cNvPr id="78" name="chtb-5"/>
          <p:cNvSpPr/>
          <p:nvPr/>
        </p:nvSpPr>
        <p:spPr>
          <a:xfrm>
            <a:off x="4787900" y="5257800"/>
            <a:ext cx="2336800" cy="63500"/>
          </a:xfrm>
          <a:custGeom>
            <a:avLst/>
            <a:gdLst/>
            <a:ahLst/>
            <a:cxnLst/>
            <a:rect l="0" t="0" r="r" b="b"/>
            <a:pathLst>
              <a:path w="2336800" h="63500">
                <a:moveTo>
                  <a:pt x="31750" y="0"/>
                </a:moveTo>
                <a:lnTo>
                  <a:pt x="2305050" y="0"/>
                </a:lnTo>
                <a:cubicBezTo>
                  <a:pt x="2322576" y="0"/>
                  <a:pt x="2336800" y="14224"/>
                  <a:pt x="2336800" y="31750"/>
                </a:cubicBezTo>
                <a:lnTo>
                  <a:pt x="2336800" y="31750"/>
                </a:lnTo>
                <a:cubicBezTo>
                  <a:pt x="2336800" y="49276"/>
                  <a:pt x="2322576" y="63500"/>
                  <a:pt x="2305050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FFFFF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cht-5"/>
          <p:cNvSpPr/>
          <p:nvPr/>
        </p:nvSpPr>
        <p:spPr>
          <a:xfrm>
            <a:off x="4787900" y="5257800"/>
            <a:ext cx="2336800" cy="63500"/>
          </a:xfrm>
          <a:custGeom>
            <a:avLst/>
            <a:gdLst/>
            <a:ahLst/>
            <a:cxnLst/>
            <a:rect l="0" t="0" r="r" b="b"/>
            <a:pathLst>
              <a:path w="2336800" h="63500">
                <a:moveTo>
                  <a:pt x="31750" y="0"/>
                </a:moveTo>
                <a:lnTo>
                  <a:pt x="2305050" y="0"/>
                </a:lnTo>
                <a:cubicBezTo>
                  <a:pt x="2322576" y="0"/>
                  <a:pt x="2336800" y="14224"/>
                  <a:pt x="2336800" y="31750"/>
                </a:cubicBezTo>
                <a:lnTo>
                  <a:pt x="2336800" y="31750"/>
                </a:lnTo>
                <a:cubicBezTo>
                  <a:pt x="2336800" y="49276"/>
                  <a:pt x="2322576" y="63500"/>
                  <a:pt x="2305050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FFFFFF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chm-5"/>
          <p:cNvSpPr txBox="1"/>
          <p:nvPr/>
        </p:nvSpPr>
        <p:spPr>
          <a:xfrm>
            <a:off x="7204964" y="5202174"/>
            <a:ext cx="4780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2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14 分钟</a:t>
            </a:r>
          </a:p>
        </p:txBody>
      </p:sp>
      <p:sp>
        <p:nvSpPr>
          <p:cNvPr id="81" name="chk-5"/>
          <p:cNvSpPr/>
          <p:nvPr/>
        </p:nvSpPr>
        <p:spPr>
          <a:xfrm>
            <a:off x="7137400" y="4940300"/>
            <a:ext cx="533400" cy="190500"/>
          </a:xfrm>
          <a:custGeom>
            <a:avLst/>
            <a:gdLst/>
            <a:ahLst/>
            <a:cxnLst/>
            <a:rect l="0" t="0" r="r" b="b"/>
            <a:pathLst>
              <a:path w="533400" h="190500">
                <a:moveTo>
                  <a:pt x="95250" y="0"/>
                </a:moveTo>
                <a:lnTo>
                  <a:pt x="438150" y="0"/>
                </a:lnTo>
                <a:cubicBezTo>
                  <a:pt x="490728" y="0"/>
                  <a:pt x="533400" y="42672"/>
                  <a:pt x="533400" y="95250"/>
                </a:cubicBezTo>
                <a:lnTo>
                  <a:pt x="533400" y="95250"/>
                </a:lnTo>
                <a:cubicBezTo>
                  <a:pt x="533400" y="147828"/>
                  <a:pt x="490728" y="190500"/>
                  <a:pt x="4381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chkt-5"/>
          <p:cNvSpPr txBox="1"/>
          <p:nvPr/>
        </p:nvSpPr>
        <p:spPr>
          <a:xfrm>
            <a:off x="7268845" y="4963858"/>
            <a:ext cx="2705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重点</a:t>
            </a:r>
          </a:p>
        </p:txBody>
      </p:sp>
      <p:sp>
        <p:nvSpPr>
          <p:cNvPr id="83" name="ch-6"/>
          <p:cNvSpPr/>
          <p:nvPr/>
        </p:nvSpPr>
        <p:spPr>
          <a:xfrm>
            <a:off x="7988300" y="4178300"/>
            <a:ext cx="3289300" cy="1358900"/>
          </a:xfrm>
          <a:custGeom>
            <a:avLst/>
            <a:gdLst/>
            <a:ahLst/>
            <a:cxnLst/>
            <a:rect l="0" t="0" r="r" b="b"/>
            <a:pathLst>
              <a:path w="3289300" h="1358900">
                <a:moveTo>
                  <a:pt x="114300" y="0"/>
                </a:moveTo>
                <a:lnTo>
                  <a:pt x="3175000" y="0"/>
                </a:lnTo>
                <a:cubicBezTo>
                  <a:pt x="3238119" y="0"/>
                  <a:pt x="3289300" y="51181"/>
                  <a:pt x="3289300" y="114300"/>
                </a:cubicBezTo>
                <a:lnTo>
                  <a:pt x="3289300" y="1244600"/>
                </a:lnTo>
                <a:cubicBezTo>
                  <a:pt x="3289300" y="1307719"/>
                  <a:pt x="3238119" y="1358900"/>
                  <a:pt x="3175000" y="1358900"/>
                </a:cubicBezTo>
                <a:lnTo>
                  <a:pt x="114300" y="1358900"/>
                </a:lnTo>
                <a:cubicBezTo>
                  <a:pt x="51181" y="1358900"/>
                  <a:pt x="0" y="1307719"/>
                  <a:pt x="0" y="12446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chb-6"/>
          <p:cNvSpPr/>
          <p:nvPr/>
        </p:nvSpPr>
        <p:spPr>
          <a:xfrm>
            <a:off x="7988300" y="4178300"/>
            <a:ext cx="38100" cy="1358900"/>
          </a:xfrm>
          <a:custGeom>
            <a:avLst/>
            <a:gdLst/>
            <a:ahLst/>
            <a:cxnLst/>
            <a:rect l="0" t="0" r="r" b="b"/>
            <a:pathLst>
              <a:path w="38100" h="1358900">
                <a:moveTo>
                  <a:pt x="19050" y="0"/>
                </a:moveTo>
                <a:lnTo>
                  <a:pt x="19050" y="0"/>
                </a:lnTo>
                <a:cubicBezTo>
                  <a:pt x="29591" y="0"/>
                  <a:pt x="38100" y="8509"/>
                  <a:pt x="38100" y="19050"/>
                </a:cubicBezTo>
                <a:lnTo>
                  <a:pt x="38100" y="1339850"/>
                </a:lnTo>
                <a:cubicBezTo>
                  <a:pt x="38100" y="1350391"/>
                  <a:pt x="29591" y="1358900"/>
                  <a:pt x="19050" y="1358900"/>
                </a:cubicBezTo>
                <a:lnTo>
                  <a:pt x="19050" y="1358900"/>
                </a:lnTo>
                <a:cubicBezTo>
                  <a:pt x="8509" y="1358900"/>
                  <a:pt x="0" y="1350391"/>
                  <a:pt x="0" y="13398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chno-6"/>
          <p:cNvSpPr txBox="1"/>
          <p:nvPr/>
        </p:nvSpPr>
        <p:spPr>
          <a:xfrm>
            <a:off x="8175244" y="4350194"/>
            <a:ext cx="500126" cy="4222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900" b="1" spc="50">
                <a:solidFill>
                  <a:srgbClr val="3985CD">
                    <a:alpha val="28000"/>
                  </a:srgbClr>
                </a:solidFill>
                <a:latin typeface="Arial"/>
                <a:ea typeface="Arial"/>
                <a:cs typeface="Arial"/>
              </a:rPr>
              <a:t>06</a:t>
            </a:r>
          </a:p>
        </p:txBody>
      </p:sp>
      <p:sp>
        <p:nvSpPr>
          <p:cNvPr id="86" name="icon-check"/>
          <p:cNvSpPr/>
          <p:nvPr/>
        </p:nvSpPr>
        <p:spPr>
          <a:xfrm>
            <a:off x="8782494" y="4529010"/>
            <a:ext cx="88011" cy="61912"/>
          </a:xfrm>
          <a:custGeom>
            <a:avLst/>
            <a:gdLst/>
            <a:ahLst/>
            <a:cxnLst/>
            <a:rect l="0" t="0" r="r" b="b"/>
            <a:pathLst>
              <a:path w="88011" h="61912">
                <a:moveTo>
                  <a:pt x="0" y="33020"/>
                </a:moveTo>
                <a:lnTo>
                  <a:pt x="28892" y="61912"/>
                </a:lnTo>
                <a:lnTo>
                  <a:pt x="88011" y="0"/>
                </a:lnTo>
              </a:path>
            </a:pathLst>
          </a:custGeom>
          <a:noFill/>
          <a:ln w="1270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chn-6"/>
          <p:cNvSpPr txBox="1"/>
          <p:nvPr/>
        </p:nvSpPr>
        <p:spPr>
          <a:xfrm>
            <a:off x="9010650" y="4414044"/>
            <a:ext cx="8413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2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决议事项</a:t>
            </a:r>
          </a:p>
        </p:txBody>
      </p:sp>
      <p:sp>
        <p:nvSpPr>
          <p:cNvPr id="88" name="che-6"/>
          <p:cNvSpPr txBox="1"/>
          <p:nvPr/>
        </p:nvSpPr>
        <p:spPr>
          <a:xfrm>
            <a:off x="9031732" y="4665408"/>
            <a:ext cx="69951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64748B"/>
                </a:solidFill>
                <a:latin typeface="Arial"/>
                <a:ea typeface="Arial"/>
                <a:cs typeface="Arial"/>
              </a:rPr>
              <a:t>DECISIONS</a:t>
            </a:r>
          </a:p>
        </p:txBody>
      </p:sp>
      <p:sp>
        <p:nvSpPr>
          <p:cNvPr id="89" name="chnote-6"/>
          <p:cNvSpPr txBox="1"/>
          <p:nvPr/>
        </p:nvSpPr>
        <p:spPr>
          <a:xfrm>
            <a:off x="8190865" y="4955461"/>
            <a:ext cx="11229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需当场确认的六件事</a:t>
            </a:r>
          </a:p>
        </p:txBody>
      </p:sp>
      <p:sp>
        <p:nvSpPr>
          <p:cNvPr id="90" name="chpg-6"/>
          <p:cNvSpPr txBox="1"/>
          <p:nvPr/>
        </p:nvSpPr>
        <p:spPr>
          <a:xfrm>
            <a:off x="10726674" y="4468940"/>
            <a:ext cx="374142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 spc="30">
                <a:solidFill>
                  <a:srgbClr val="0B3E8F"/>
                </a:solidFill>
                <a:latin typeface="Arial"/>
                <a:ea typeface="Arial"/>
                <a:cs typeface="Arial"/>
              </a:rPr>
              <a:t>P.53</a:t>
            </a:r>
          </a:p>
        </p:txBody>
      </p:sp>
      <p:sp>
        <p:nvSpPr>
          <p:cNvPr id="91" name="chtb-6"/>
          <p:cNvSpPr/>
          <p:nvPr/>
        </p:nvSpPr>
        <p:spPr>
          <a:xfrm>
            <a:off x="8204200" y="5257800"/>
            <a:ext cx="2336800" cy="63500"/>
          </a:xfrm>
          <a:custGeom>
            <a:avLst/>
            <a:gdLst/>
            <a:ahLst/>
            <a:cxnLst/>
            <a:rect l="0" t="0" r="r" b="b"/>
            <a:pathLst>
              <a:path w="2336800" h="63500">
                <a:moveTo>
                  <a:pt x="31750" y="0"/>
                </a:moveTo>
                <a:lnTo>
                  <a:pt x="2305050" y="0"/>
                </a:lnTo>
                <a:cubicBezTo>
                  <a:pt x="2322576" y="0"/>
                  <a:pt x="2336800" y="14224"/>
                  <a:pt x="2336800" y="31750"/>
                </a:cubicBezTo>
                <a:lnTo>
                  <a:pt x="2336800" y="31750"/>
                </a:lnTo>
                <a:cubicBezTo>
                  <a:pt x="2336800" y="49276"/>
                  <a:pt x="2322576" y="63500"/>
                  <a:pt x="2305050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cht-6"/>
          <p:cNvSpPr/>
          <p:nvPr/>
        </p:nvSpPr>
        <p:spPr>
          <a:xfrm>
            <a:off x="8204200" y="5257800"/>
            <a:ext cx="834581" cy="63500"/>
          </a:xfrm>
          <a:custGeom>
            <a:avLst/>
            <a:gdLst/>
            <a:ahLst/>
            <a:cxnLst/>
            <a:rect l="0" t="0" r="r" b="b"/>
            <a:pathLst>
              <a:path w="834581" h="63500">
                <a:moveTo>
                  <a:pt x="31750" y="0"/>
                </a:moveTo>
                <a:lnTo>
                  <a:pt x="802831" y="0"/>
                </a:lnTo>
                <a:cubicBezTo>
                  <a:pt x="820357" y="0"/>
                  <a:pt x="834581" y="14224"/>
                  <a:pt x="834581" y="31750"/>
                </a:cubicBezTo>
                <a:lnTo>
                  <a:pt x="834581" y="31750"/>
                </a:lnTo>
                <a:cubicBezTo>
                  <a:pt x="834581" y="49276"/>
                  <a:pt x="820357" y="63500"/>
                  <a:pt x="802831" y="63500"/>
                </a:cubicBezTo>
                <a:lnTo>
                  <a:pt x="31750" y="63500"/>
                </a:lnTo>
                <a:cubicBezTo>
                  <a:pt x="14224" y="63500"/>
                  <a:pt x="0" y="49276"/>
                  <a:pt x="0" y="31750"/>
                </a:cubicBezTo>
                <a:lnTo>
                  <a:pt x="0" y="31750"/>
                </a:lnTo>
                <a:cubicBezTo>
                  <a:pt x="0" y="14224"/>
                  <a:pt x="14224" y="0"/>
                  <a:pt x="31750" y="0"/>
                </a:cubicBezTo>
                <a:close/>
              </a:path>
            </a:pathLst>
          </a:custGeom>
          <a:solidFill>
            <a:srgbClr val="3985CD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chm-6"/>
          <p:cNvSpPr txBox="1"/>
          <p:nvPr/>
        </p:nvSpPr>
        <p:spPr>
          <a:xfrm>
            <a:off x="10680700" y="5202174"/>
            <a:ext cx="418592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00" b="1" spc="2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5 分钟</a:t>
            </a:r>
          </a:p>
        </p:txBody>
      </p:sp>
      <p:sp>
        <p:nvSpPr>
          <p:cNvPr id="94" name="tip"/>
          <p:cNvSpPr/>
          <p:nvPr/>
        </p:nvSpPr>
        <p:spPr>
          <a:xfrm>
            <a:off x="4572000" y="5651500"/>
            <a:ext cx="6705600" cy="419100"/>
          </a:xfrm>
          <a:custGeom>
            <a:avLst/>
            <a:gdLst/>
            <a:ahLst/>
            <a:cxnLst/>
            <a:rect l="0" t="0" r="r" b="b"/>
            <a:pathLst>
              <a:path w="6705600" h="419100">
                <a:moveTo>
                  <a:pt x="88900" y="0"/>
                </a:moveTo>
                <a:lnTo>
                  <a:pt x="6616700" y="0"/>
                </a:lnTo>
                <a:cubicBezTo>
                  <a:pt x="6665786" y="0"/>
                  <a:pt x="6705600" y="39814"/>
                  <a:pt x="6705600" y="88900"/>
                </a:cubicBezTo>
                <a:lnTo>
                  <a:pt x="6705600" y="330200"/>
                </a:lnTo>
                <a:cubicBezTo>
                  <a:pt x="6705600" y="379286"/>
                  <a:pt x="6665786" y="419100"/>
                  <a:pt x="6616700" y="419100"/>
                </a:cubicBezTo>
                <a:lnTo>
                  <a:pt x="88900" y="419100"/>
                </a:lnTo>
                <a:cubicBezTo>
                  <a:pt x="39814" y="419100"/>
                  <a:pt x="0" y="379286"/>
                  <a:pt x="0" y="3302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tip-bar"/>
          <p:cNvSpPr/>
          <p:nvPr/>
        </p:nvSpPr>
        <p:spPr>
          <a:xfrm>
            <a:off x="4572000" y="5651500"/>
            <a:ext cx="31750" cy="4191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tip-h"/>
          <p:cNvSpPr txBox="1"/>
          <p:nvPr/>
        </p:nvSpPr>
        <p:spPr>
          <a:xfrm>
            <a:off x="4749546" y="5784882"/>
            <a:ext cx="579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阅读建议</a:t>
            </a:r>
          </a:p>
        </p:txBody>
      </p:sp>
      <p:sp>
        <p:nvSpPr>
          <p:cNvPr id="97" name="tip-p"/>
          <p:cNvSpPr txBox="1"/>
          <p:nvPr/>
        </p:nvSpPr>
        <p:spPr>
          <a:xfrm>
            <a:off x="5498465" y="5780961"/>
            <a:ext cx="328263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时间有限时优先看第三章与第五章，其余章节可会后自行翻阅。</a:t>
            </a:r>
          </a:p>
        </p:txBody>
      </p:sp>
      <p:cxnSp>
        <p:nvCxnSpPr>
          <p:cNvPr id="98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foot-l"/>
          <p:cNvSpPr txBox="1"/>
          <p:nvPr/>
        </p:nvSpPr>
        <p:spPr>
          <a:xfrm>
            <a:off x="573532" y="6532308"/>
            <a:ext cx="84848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目录 · 六个章节</a:t>
            </a:r>
          </a:p>
        </p:txBody>
      </p:sp>
      <p:sp>
        <p:nvSpPr>
          <p:cNvPr id="100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hero"/>
          <p:cNvSpPr/>
          <p:nvPr/>
        </p:nvSpPr>
        <p:spPr>
          <a:xfrm>
            <a:off x="952500" y="952500"/>
            <a:ext cx="4064000" cy="5118100"/>
          </a:xfrm>
          <a:custGeom>
            <a:avLst/>
            <a:gdLst/>
            <a:ahLst/>
            <a:cxnLst/>
            <a:rect l="0" t="0" r="r" b="b"/>
            <a:pathLst>
              <a:path w="4064000" h="5118100">
                <a:moveTo>
                  <a:pt x="177800" y="0"/>
                </a:moveTo>
                <a:lnTo>
                  <a:pt x="3886200" y="0"/>
                </a:lnTo>
                <a:cubicBezTo>
                  <a:pt x="3984371" y="0"/>
                  <a:pt x="4064000" y="79629"/>
                  <a:pt x="4064000" y="177800"/>
                </a:cubicBezTo>
                <a:lnTo>
                  <a:pt x="4064000" y="4940300"/>
                </a:lnTo>
                <a:cubicBezTo>
                  <a:pt x="4064000" y="5038471"/>
                  <a:pt x="3984371" y="5118100"/>
                  <a:pt x="3886200" y="5118100"/>
                </a:cubicBezTo>
                <a:lnTo>
                  <a:pt x="177800" y="5118100"/>
                </a:lnTo>
                <a:cubicBezTo>
                  <a:pt x="79629" y="5118100"/>
                  <a:pt x="0" y="5038471"/>
                  <a:pt x="0" y="4940300"/>
                </a:cubicBezTo>
                <a:lnTo>
                  <a:pt x="0" y="177800"/>
                </a:lnTo>
                <a:cubicBezTo>
                  <a:pt x="0" y="79629"/>
                  <a:pt x="79629" y="0"/>
                  <a:pt x="177800" y="0"/>
                </a:cubic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0A3A88"/>
              </a:gs>
            </a:gsLst>
            <a:lin ang="7080000" scaled="0"/>
          </a:gra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arc-1"/>
          <p:cNvSpPr/>
          <p:nvPr/>
        </p:nvSpPr>
        <p:spPr>
          <a:xfrm>
            <a:off x="2349500" y="3403600"/>
            <a:ext cx="2667000" cy="2667000"/>
          </a:xfrm>
          <a:custGeom>
            <a:avLst/>
            <a:gdLst/>
            <a:ahLst/>
            <a:cxnLst/>
            <a:rect l="0" t="0" r="r" b="b"/>
            <a:pathLst>
              <a:path w="2667000" h="2667000">
                <a:moveTo>
                  <a:pt x="2667000" y="0"/>
                </a:moveTo>
                <a:cubicBezTo>
                  <a:pt x="1200150" y="0"/>
                  <a:pt x="0" y="1200150"/>
                  <a:pt x="0" y="2667000"/>
                </a:cubicBezTo>
              </a:path>
            </a:pathLst>
          </a:custGeom>
          <a:noFill/>
          <a:ln w="10160" cap="rnd">
            <a:solidFill>
              <a:srgbClr val="FFFFFF">
                <a:alpha val="1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arc-2"/>
          <p:cNvSpPr/>
          <p:nvPr/>
        </p:nvSpPr>
        <p:spPr>
          <a:xfrm>
            <a:off x="2921000" y="3975100"/>
            <a:ext cx="2095500" cy="2095500"/>
          </a:xfrm>
          <a:custGeom>
            <a:avLst/>
            <a:gdLst/>
            <a:ahLst/>
            <a:cxnLst/>
            <a:rect l="0" t="0" r="r" b="b"/>
            <a:pathLst>
              <a:path w="2095500" h="2095500">
                <a:moveTo>
                  <a:pt x="2095500" y="0"/>
                </a:moveTo>
                <a:cubicBezTo>
                  <a:pt x="942975" y="0"/>
                  <a:pt x="0" y="942975"/>
                  <a:pt x="0" y="2095500"/>
                </a:cubicBezTo>
              </a:path>
            </a:pathLst>
          </a:custGeom>
          <a:noFill/>
          <a:ln w="10160" cap="rnd">
            <a:solidFill>
              <a:srgbClr val="FFFFFF">
                <a:alpha val="14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" name="arc-3"/>
          <p:cNvSpPr/>
          <p:nvPr/>
        </p:nvSpPr>
        <p:spPr>
          <a:xfrm>
            <a:off x="3492500" y="4546600"/>
            <a:ext cx="1524000" cy="1524000"/>
          </a:xfrm>
          <a:custGeom>
            <a:avLst/>
            <a:gdLst/>
            <a:ahLst/>
            <a:cxnLst/>
            <a:rect l="0" t="0" r="r" b="b"/>
            <a:pathLst>
              <a:path w="1524000" h="1524000">
                <a:moveTo>
                  <a:pt x="1524000" y="0"/>
                </a:moveTo>
                <a:cubicBezTo>
                  <a:pt x="685800" y="0"/>
                  <a:pt x="0" y="685800"/>
                  <a:pt x="0" y="1524000"/>
                </a:cubicBezTo>
              </a:path>
            </a:pathLst>
          </a:custGeom>
          <a:noFill/>
          <a:ln w="10160" cap="rnd">
            <a:solidFill>
              <a:srgbClr val="FFFFFF">
                <a:alpha val="1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" name="hero-bar"/>
          <p:cNvSpPr/>
          <p:nvPr/>
        </p:nvSpPr>
        <p:spPr>
          <a:xfrm>
            <a:off x="1308100" y="1435100"/>
            <a:ext cx="31750" cy="3810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" name="hero-en"/>
          <p:cNvSpPr txBox="1"/>
          <p:nvPr/>
        </p:nvSpPr>
        <p:spPr>
          <a:xfrm>
            <a:off x="1310132" y="1985708"/>
            <a:ext cx="78409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400">
                <a:solidFill>
                  <a:srgbClr val="BFD6F0"/>
                </a:solidFill>
                <a:latin typeface="Arial"/>
                <a:ea typeface="Arial"/>
                <a:cs typeface="Arial"/>
              </a:rPr>
              <a:t>CLOSING</a:t>
            </a:r>
          </a:p>
        </p:txBody>
      </p:sp>
      <p:sp>
        <p:nvSpPr>
          <p:cNvPr id="11" name="hero-t1"/>
          <p:cNvSpPr txBox="1"/>
          <p:nvPr/>
        </p:nvSpPr>
        <p:spPr>
          <a:xfrm>
            <a:off x="1268476" y="2259203"/>
            <a:ext cx="2786380" cy="5778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60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增长的确定性，</a:t>
            </a:r>
          </a:p>
        </p:txBody>
      </p:sp>
      <p:sp>
        <p:nvSpPr>
          <p:cNvPr id="12" name="hero-t2"/>
          <p:cNvSpPr txBox="1"/>
          <p:nvPr/>
        </p:nvSpPr>
        <p:spPr>
          <a:xfrm>
            <a:off x="1268476" y="2741803"/>
            <a:ext cx="2075180" cy="5778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60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来自每一个</a:t>
            </a:r>
          </a:p>
        </p:txBody>
      </p:sp>
      <p:sp>
        <p:nvSpPr>
          <p:cNvPr id="13" name="hero-t3"/>
          <p:cNvSpPr txBox="1"/>
          <p:nvPr/>
        </p:nvSpPr>
        <p:spPr>
          <a:xfrm>
            <a:off x="1268476" y="3224403"/>
            <a:ext cx="2430780" cy="5778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600" b="1" spc="200">
                <a:solidFill>
                  <a:srgbClr val="9CC6F0"/>
                </a:solidFill>
                <a:latin typeface="微软雅黑"/>
                <a:ea typeface="微软雅黑"/>
                <a:cs typeface="微软雅黑"/>
              </a:rPr>
              <a:t>被兑现的承诺</a:t>
            </a:r>
          </a:p>
        </p:txBody>
      </p:sp>
      <p:cxnSp>
        <p:nvCxnSpPr>
          <p:cNvPr id="14" name="hero-rule"/>
          <p:cNvCxnSpPr/>
          <p:nvPr/>
        </p:nvCxnSpPr>
        <p:spPr>
          <a:xfrm>
            <a:off x="1308100" y="3987800"/>
            <a:ext cx="1549400" cy="0"/>
          </a:xfrm>
          <a:prstGeom prst="line">
            <a:avLst/>
          </a:prstGeom>
          <a:ln w="8890" cap="rnd">
            <a:solidFill>
              <a:srgbClr val="FFFFFF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hero-sub"/>
          <p:cNvSpPr txBox="1"/>
          <p:nvPr/>
        </p:nvSpPr>
        <p:spPr>
          <a:xfrm>
            <a:off x="1289050" y="4121944"/>
            <a:ext cx="18573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0" spc="10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感谢各位的时间与投入</a:t>
            </a:r>
          </a:p>
        </p:txBody>
      </p:sp>
      <p:sp>
        <p:nvSpPr>
          <p:cNvPr id="16" name="meta-l-1"/>
          <p:cNvSpPr txBox="1"/>
          <p:nvPr/>
        </p:nvSpPr>
        <p:spPr>
          <a:xfrm>
            <a:off x="1296670" y="5025866"/>
            <a:ext cx="4095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00">
                <a:solidFill>
                  <a:srgbClr val="9DB9DD"/>
                </a:solidFill>
                <a:latin typeface="微软雅黑"/>
                <a:ea typeface="微软雅黑"/>
                <a:cs typeface="微软雅黑"/>
              </a:rPr>
              <a:t>汇报人</a:t>
            </a:r>
          </a:p>
        </p:txBody>
      </p:sp>
      <p:sp>
        <p:nvSpPr>
          <p:cNvPr id="17" name="meta-v-1"/>
          <p:cNvSpPr txBox="1"/>
          <p:nvPr/>
        </p:nvSpPr>
        <p:spPr>
          <a:xfrm>
            <a:off x="1891665" y="5006261"/>
            <a:ext cx="67468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经营管理部</a:t>
            </a:r>
          </a:p>
        </p:txBody>
      </p:sp>
      <p:sp>
        <p:nvSpPr>
          <p:cNvPr id="18" name="meta-l-2"/>
          <p:cNvSpPr txBox="1"/>
          <p:nvPr/>
        </p:nvSpPr>
        <p:spPr>
          <a:xfrm>
            <a:off x="1296670" y="5343366"/>
            <a:ext cx="3016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00">
                <a:solidFill>
                  <a:srgbClr val="9DB9DD"/>
                </a:solidFill>
                <a:latin typeface="微软雅黑"/>
                <a:ea typeface="微软雅黑"/>
                <a:cs typeface="微软雅黑"/>
              </a:rPr>
              <a:t>日期</a:t>
            </a:r>
          </a:p>
        </p:txBody>
      </p:sp>
      <p:sp>
        <p:nvSpPr>
          <p:cNvPr id="19" name="meta-v-2"/>
          <p:cNvSpPr txBox="1"/>
          <p:nvPr/>
        </p:nvSpPr>
        <p:spPr>
          <a:xfrm>
            <a:off x="1891665" y="5323761"/>
            <a:ext cx="130333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2026 年 12 月 18 日</a:t>
            </a:r>
          </a:p>
        </p:txBody>
      </p:sp>
      <p:sp>
        <p:nvSpPr>
          <p:cNvPr id="20" name="pt-h"/>
          <p:cNvSpPr txBox="1"/>
          <p:nvPr/>
        </p:nvSpPr>
        <p:spPr>
          <a:xfrm>
            <a:off x="5565140" y="1136332"/>
            <a:ext cx="103505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三点共识</a:t>
            </a:r>
          </a:p>
        </p:txBody>
      </p:sp>
      <p:sp>
        <p:nvSpPr>
          <p:cNvPr id="21" name="pt-en"/>
          <p:cNvSpPr txBox="1"/>
          <p:nvPr/>
        </p:nvSpPr>
        <p:spPr>
          <a:xfrm>
            <a:off x="6580632" y="1261808"/>
            <a:ext cx="113995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250">
                <a:solidFill>
                  <a:srgbClr val="7E93AE"/>
                </a:solidFill>
                <a:latin typeface="Arial"/>
                <a:ea typeface="Arial"/>
                <a:cs typeface="Arial"/>
              </a:rPr>
              <a:t>KEY TAKEAWAYS</a:t>
            </a:r>
          </a:p>
        </p:txBody>
      </p:sp>
      <p:sp>
        <p:nvSpPr>
          <p:cNvPr id="22" name="pt-1"/>
          <p:cNvSpPr/>
          <p:nvPr/>
        </p:nvSpPr>
        <p:spPr>
          <a:xfrm>
            <a:off x="5588000" y="1625600"/>
            <a:ext cx="5651500" cy="762000"/>
          </a:xfrm>
          <a:custGeom>
            <a:avLst/>
            <a:gdLst/>
            <a:ahLst/>
            <a:cxnLst/>
            <a:rect l="0" t="0" r="r" b="b"/>
            <a:pathLst>
              <a:path w="5651500" h="762000">
                <a:moveTo>
                  <a:pt x="127000" y="0"/>
                </a:moveTo>
                <a:lnTo>
                  <a:pt x="5524500" y="0"/>
                </a:lnTo>
                <a:cubicBezTo>
                  <a:pt x="5594668" y="0"/>
                  <a:pt x="5651500" y="56832"/>
                  <a:pt x="5651500" y="127000"/>
                </a:cubicBezTo>
                <a:lnTo>
                  <a:pt x="5651500" y="635000"/>
                </a:lnTo>
                <a:cubicBezTo>
                  <a:pt x="5651500" y="705168"/>
                  <a:pt x="5594668" y="762000"/>
                  <a:pt x="5524500" y="762000"/>
                </a:cubicBezTo>
                <a:lnTo>
                  <a:pt x="127000" y="762000"/>
                </a:lnTo>
                <a:cubicBezTo>
                  <a:pt x="56833" y="762000"/>
                  <a:pt x="0" y="705168"/>
                  <a:pt x="0" y="635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ptn-1"/>
          <p:cNvSpPr txBox="1"/>
          <p:nvPr/>
        </p:nvSpPr>
        <p:spPr>
          <a:xfrm>
            <a:off x="5761228" y="1719834"/>
            <a:ext cx="731012" cy="6223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800" b="1" spc="50">
                <a:solidFill>
                  <a:srgbClr val="0B3E8F">
                    <a:alpha val="18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24" name="chip"/>
          <p:cNvSpPr/>
          <p:nvPr/>
        </p:nvSpPr>
        <p:spPr>
          <a:xfrm>
            <a:off x="6413500" y="1816100"/>
            <a:ext cx="381000" cy="381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chip-ring"/>
          <p:cNvSpPr/>
          <p:nvPr/>
        </p:nvSpPr>
        <p:spPr>
          <a:xfrm>
            <a:off x="6413500" y="1816100"/>
            <a:ext cx="381000" cy="381000"/>
          </a:xfrm>
          <a:prstGeom prst="ellipse">
            <a:avLst/>
          </a:prstGeom>
          <a:noFill/>
          <a:ln w="6350" cap="rnd">
            <a:solidFill>
              <a:srgbClr val="0B3E8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icon-target"/>
          <p:cNvSpPr/>
          <p:nvPr/>
        </p:nvSpPr>
        <p:spPr>
          <a:xfrm>
            <a:off x="6604000" y="1942910"/>
            <a:ext cx="48895" cy="63690"/>
          </a:xfrm>
          <a:custGeom>
            <a:avLst/>
            <a:gdLst/>
            <a:ahLst/>
            <a:cxnLst/>
            <a:rect l="0" t="0" r="r" b="b"/>
            <a:pathLst>
              <a:path w="48895" h="63690">
                <a:moveTo>
                  <a:pt x="0" y="37020"/>
                </a:moveTo>
                <a:lnTo>
                  <a:pt x="0" y="0"/>
                </a:lnTo>
                <a:moveTo>
                  <a:pt x="0" y="63690"/>
                </a:moveTo>
                <a:lnTo>
                  <a:pt x="48895" y="14795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icon-target"/>
          <p:cNvSpPr/>
          <p:nvPr/>
        </p:nvSpPr>
        <p:spPr>
          <a:xfrm>
            <a:off x="6540288" y="1942888"/>
            <a:ext cx="127423" cy="127423"/>
          </a:xfrm>
          <a:prstGeom prst="ellipse">
            <a:avLst/>
          </a:pr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icon-target"/>
          <p:cNvSpPr/>
          <p:nvPr/>
        </p:nvSpPr>
        <p:spPr>
          <a:xfrm>
            <a:off x="6571403" y="1974003"/>
            <a:ext cx="65193" cy="65193"/>
          </a:xfrm>
          <a:prstGeom prst="ellipse">
            <a:avLst/>
          </a:pr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pth-1"/>
          <p:cNvSpPr txBox="1"/>
          <p:nvPr/>
        </p:nvSpPr>
        <p:spPr>
          <a:xfrm>
            <a:off x="6927850" y="1759744"/>
            <a:ext cx="10001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聚焦大客户</a:t>
            </a:r>
          </a:p>
        </p:txBody>
      </p:sp>
      <p:sp>
        <p:nvSpPr>
          <p:cNvPr id="30" name="ptd-1"/>
          <p:cNvSpPr txBox="1"/>
          <p:nvPr/>
        </p:nvSpPr>
        <p:spPr>
          <a:xfrm>
            <a:off x="6933565" y="2047161"/>
            <a:ext cx="261524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资源向大型企业倾斜，明年份额从 18% 提到 25%</a:t>
            </a:r>
          </a:p>
        </p:txBody>
      </p:sp>
      <p:sp>
        <p:nvSpPr>
          <p:cNvPr id="31" name="pt-2"/>
          <p:cNvSpPr/>
          <p:nvPr/>
        </p:nvSpPr>
        <p:spPr>
          <a:xfrm>
            <a:off x="5588000" y="2527300"/>
            <a:ext cx="5651500" cy="762000"/>
          </a:xfrm>
          <a:custGeom>
            <a:avLst/>
            <a:gdLst/>
            <a:ahLst/>
            <a:cxnLst/>
            <a:rect l="0" t="0" r="r" b="b"/>
            <a:pathLst>
              <a:path w="5651500" h="762000">
                <a:moveTo>
                  <a:pt x="127000" y="0"/>
                </a:moveTo>
                <a:lnTo>
                  <a:pt x="5524500" y="0"/>
                </a:lnTo>
                <a:cubicBezTo>
                  <a:pt x="5594668" y="0"/>
                  <a:pt x="5651500" y="56832"/>
                  <a:pt x="5651500" y="127000"/>
                </a:cubicBezTo>
                <a:lnTo>
                  <a:pt x="5651500" y="635000"/>
                </a:lnTo>
                <a:cubicBezTo>
                  <a:pt x="5651500" y="705168"/>
                  <a:pt x="5594668" y="762000"/>
                  <a:pt x="5524500" y="762000"/>
                </a:cubicBezTo>
                <a:lnTo>
                  <a:pt x="127000" y="762000"/>
                </a:lnTo>
                <a:cubicBezTo>
                  <a:pt x="56833" y="762000"/>
                  <a:pt x="0" y="705168"/>
                  <a:pt x="0" y="635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ptn-2"/>
          <p:cNvSpPr txBox="1"/>
          <p:nvPr/>
        </p:nvSpPr>
        <p:spPr>
          <a:xfrm>
            <a:off x="5761228" y="2621534"/>
            <a:ext cx="731012" cy="6223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800" b="1" spc="50">
                <a:solidFill>
                  <a:srgbClr val="1B5AA8">
                    <a:alpha val="18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33" name="chip"/>
          <p:cNvSpPr/>
          <p:nvPr/>
        </p:nvSpPr>
        <p:spPr>
          <a:xfrm>
            <a:off x="6413500" y="2717800"/>
            <a:ext cx="381000" cy="381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chip-ring"/>
          <p:cNvSpPr/>
          <p:nvPr/>
        </p:nvSpPr>
        <p:spPr>
          <a:xfrm>
            <a:off x="6413500" y="2717800"/>
            <a:ext cx="381000" cy="381000"/>
          </a:xfrm>
          <a:prstGeom prst="ellipse">
            <a:avLst/>
          </a:prstGeom>
          <a:noFill/>
          <a:ln w="6350" cap="rnd">
            <a:solidFill>
              <a:srgbClr val="1B5AA8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icon-db"/>
          <p:cNvSpPr/>
          <p:nvPr/>
        </p:nvSpPr>
        <p:spPr>
          <a:xfrm>
            <a:off x="6549199" y="2841625"/>
            <a:ext cx="109601" cy="133350"/>
          </a:xfrm>
          <a:custGeom>
            <a:avLst/>
            <a:gdLst/>
            <a:ahLst/>
            <a:cxnLst/>
            <a:rect l="0" t="0" r="r" b="b"/>
            <a:pathLst>
              <a:path w="109601" h="133350">
                <a:moveTo>
                  <a:pt x="54801" y="32575"/>
                </a:moveTo>
                <a:cubicBezTo>
                  <a:pt x="85154" y="32575"/>
                  <a:pt x="109601" y="25210"/>
                  <a:pt x="109601" y="16319"/>
                </a:cubicBezTo>
                <a:cubicBezTo>
                  <a:pt x="109601" y="7430"/>
                  <a:pt x="85154" y="0"/>
                  <a:pt x="54801" y="0"/>
                </a:cubicBezTo>
                <a:cubicBezTo>
                  <a:pt x="24448" y="0"/>
                  <a:pt x="0" y="7430"/>
                  <a:pt x="0" y="16319"/>
                </a:cubicBezTo>
                <a:cubicBezTo>
                  <a:pt x="0" y="25210"/>
                  <a:pt x="24448" y="32575"/>
                  <a:pt x="54801" y="32575"/>
                </a:cubicBezTo>
                <a:close/>
                <a:moveTo>
                  <a:pt x="0" y="16319"/>
                </a:moveTo>
                <a:lnTo>
                  <a:pt x="0" y="117031"/>
                </a:lnTo>
                <a:cubicBezTo>
                  <a:pt x="0" y="125920"/>
                  <a:pt x="24448" y="133350"/>
                  <a:pt x="54801" y="133350"/>
                </a:cubicBezTo>
                <a:cubicBezTo>
                  <a:pt x="85154" y="133350"/>
                  <a:pt x="109601" y="125920"/>
                  <a:pt x="109601" y="117031"/>
                </a:cubicBezTo>
                <a:lnTo>
                  <a:pt x="109601" y="16319"/>
                </a:lnTo>
                <a:moveTo>
                  <a:pt x="0" y="66675"/>
                </a:moveTo>
                <a:cubicBezTo>
                  <a:pt x="0" y="75565"/>
                  <a:pt x="24448" y="82994"/>
                  <a:pt x="54801" y="82994"/>
                </a:cubicBezTo>
                <a:cubicBezTo>
                  <a:pt x="85154" y="82994"/>
                  <a:pt x="109601" y="75565"/>
                  <a:pt x="109601" y="66675"/>
                </a:cubicBez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pth-2"/>
          <p:cNvSpPr txBox="1"/>
          <p:nvPr/>
        </p:nvSpPr>
        <p:spPr>
          <a:xfrm>
            <a:off x="6927850" y="2661444"/>
            <a:ext cx="11715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先打数据地基</a:t>
            </a:r>
          </a:p>
        </p:txBody>
      </p:sp>
      <p:sp>
        <p:nvSpPr>
          <p:cNvPr id="37" name="ptd-2"/>
          <p:cNvSpPr txBox="1"/>
          <p:nvPr/>
        </p:nvSpPr>
        <p:spPr>
          <a:xfrm>
            <a:off x="6933565" y="2948861"/>
            <a:ext cx="235616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第一年预算 40% 投入数据口径与主数据建设</a:t>
            </a:r>
          </a:p>
        </p:txBody>
      </p:sp>
      <p:sp>
        <p:nvSpPr>
          <p:cNvPr id="38" name="pt-3"/>
          <p:cNvSpPr/>
          <p:nvPr/>
        </p:nvSpPr>
        <p:spPr>
          <a:xfrm>
            <a:off x="5588000" y="3429000"/>
            <a:ext cx="5651500" cy="762000"/>
          </a:xfrm>
          <a:custGeom>
            <a:avLst/>
            <a:gdLst/>
            <a:ahLst/>
            <a:cxnLst/>
            <a:rect l="0" t="0" r="r" b="b"/>
            <a:pathLst>
              <a:path w="5651500" h="762000">
                <a:moveTo>
                  <a:pt x="127000" y="0"/>
                </a:moveTo>
                <a:lnTo>
                  <a:pt x="5524500" y="0"/>
                </a:lnTo>
                <a:cubicBezTo>
                  <a:pt x="5594668" y="0"/>
                  <a:pt x="5651500" y="56833"/>
                  <a:pt x="5651500" y="127000"/>
                </a:cubicBezTo>
                <a:lnTo>
                  <a:pt x="5651500" y="635000"/>
                </a:lnTo>
                <a:cubicBezTo>
                  <a:pt x="5651500" y="705167"/>
                  <a:pt x="5594668" y="762000"/>
                  <a:pt x="5524500" y="762000"/>
                </a:cubicBezTo>
                <a:lnTo>
                  <a:pt x="127000" y="762000"/>
                </a:lnTo>
                <a:cubicBezTo>
                  <a:pt x="56833" y="762000"/>
                  <a:pt x="0" y="705167"/>
                  <a:pt x="0" y="6350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ptn-3"/>
          <p:cNvSpPr txBox="1"/>
          <p:nvPr/>
        </p:nvSpPr>
        <p:spPr>
          <a:xfrm>
            <a:off x="5761228" y="3523234"/>
            <a:ext cx="731012" cy="6223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800" b="1" spc="50">
                <a:solidFill>
                  <a:srgbClr val="2E77C2">
                    <a:alpha val="18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40" name="chip"/>
          <p:cNvSpPr/>
          <p:nvPr/>
        </p:nvSpPr>
        <p:spPr>
          <a:xfrm>
            <a:off x="6413500" y="3619500"/>
            <a:ext cx="381000" cy="381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chip-ring"/>
          <p:cNvSpPr/>
          <p:nvPr/>
        </p:nvSpPr>
        <p:spPr>
          <a:xfrm>
            <a:off x="6413500" y="3619500"/>
            <a:ext cx="381000" cy="381000"/>
          </a:xfrm>
          <a:prstGeom prst="ellipse">
            <a:avLst/>
          </a:prstGeom>
          <a:noFill/>
          <a:ln w="6350" cap="rnd">
            <a:solidFill>
              <a:srgbClr val="2E77C2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icon-calendar"/>
          <p:cNvSpPr/>
          <p:nvPr/>
        </p:nvSpPr>
        <p:spPr>
          <a:xfrm>
            <a:off x="6549199" y="3747770"/>
            <a:ext cx="109601" cy="118554"/>
          </a:xfrm>
          <a:custGeom>
            <a:avLst/>
            <a:gdLst/>
            <a:ahLst/>
            <a:cxnLst/>
            <a:rect l="0" t="0" r="r" b="b"/>
            <a:pathLst>
              <a:path w="109601" h="118554">
                <a:moveTo>
                  <a:pt x="0" y="20764"/>
                </a:moveTo>
                <a:lnTo>
                  <a:pt x="109601" y="20764"/>
                </a:lnTo>
                <a:lnTo>
                  <a:pt x="109601" y="118554"/>
                </a:lnTo>
                <a:lnTo>
                  <a:pt x="0" y="118554"/>
                </a:lnTo>
                <a:close/>
                <a:moveTo>
                  <a:pt x="0" y="50355"/>
                </a:moveTo>
                <a:lnTo>
                  <a:pt x="109601" y="50355"/>
                </a:lnTo>
                <a:moveTo>
                  <a:pt x="29591" y="0"/>
                </a:moveTo>
                <a:lnTo>
                  <a:pt x="29591" y="29654"/>
                </a:lnTo>
                <a:moveTo>
                  <a:pt x="80010" y="0"/>
                </a:moveTo>
                <a:lnTo>
                  <a:pt x="80010" y="29654"/>
                </a:lnTo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pth-3"/>
          <p:cNvSpPr txBox="1"/>
          <p:nvPr/>
        </p:nvSpPr>
        <p:spPr>
          <a:xfrm>
            <a:off x="6927850" y="3563144"/>
            <a:ext cx="134302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把承诺变成节奏</a:t>
            </a:r>
          </a:p>
        </p:txBody>
      </p:sp>
      <p:sp>
        <p:nvSpPr>
          <p:cNvPr id="44" name="ptd-3"/>
          <p:cNvSpPr txBox="1"/>
          <p:nvPr/>
        </p:nvSpPr>
        <p:spPr>
          <a:xfrm>
            <a:off x="6933565" y="3850561"/>
            <a:ext cx="225964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月度动作红黄绿灯管理，季末复盘滚动调整</a:t>
            </a:r>
          </a:p>
        </p:txBody>
      </p:sp>
      <p:sp>
        <p:nvSpPr>
          <p:cNvPr id="45" name="nx-h"/>
          <p:cNvSpPr txBox="1"/>
          <p:nvPr/>
        </p:nvSpPr>
        <p:spPr>
          <a:xfrm>
            <a:off x="5565140" y="4336732"/>
            <a:ext cx="81915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下一步</a:t>
            </a:r>
          </a:p>
        </p:txBody>
      </p:sp>
      <p:sp>
        <p:nvSpPr>
          <p:cNvPr id="46" name="nx-en"/>
          <p:cNvSpPr txBox="1"/>
          <p:nvPr/>
        </p:nvSpPr>
        <p:spPr>
          <a:xfrm>
            <a:off x="6313932" y="4462208"/>
            <a:ext cx="89535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250">
                <a:solidFill>
                  <a:srgbClr val="7E93AE"/>
                </a:solidFill>
                <a:latin typeface="Arial"/>
                <a:ea typeface="Arial"/>
                <a:cs typeface="Arial"/>
              </a:rPr>
              <a:t>NEXT STEPS</a:t>
            </a:r>
          </a:p>
        </p:txBody>
      </p:sp>
      <p:cxnSp>
        <p:nvCxnSpPr>
          <p:cNvPr id="47" name="nx-line"/>
          <p:cNvCxnSpPr/>
          <p:nvPr/>
        </p:nvCxnSpPr>
        <p:spPr>
          <a:xfrm>
            <a:off x="5651500" y="5080000"/>
            <a:ext cx="5588000" cy="0"/>
          </a:xfrm>
          <a:prstGeom prst="line">
            <a:avLst/>
          </a:prstGeom>
          <a:ln w="19050" cap="rnd">
            <a:solidFill>
              <a:srgbClr val="1B5AA8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nx-arrow"/>
          <p:cNvSpPr/>
          <p:nvPr/>
        </p:nvSpPr>
        <p:spPr>
          <a:xfrm>
            <a:off x="11150600" y="5022850"/>
            <a:ext cx="101600" cy="114300"/>
          </a:xfrm>
          <a:custGeom>
            <a:avLst/>
            <a:gdLst/>
            <a:ahLst/>
            <a:cxnLst/>
            <a:rect l="0" t="0" r="r" b="b"/>
            <a:pathLst>
              <a:path w="101600" h="114300">
                <a:moveTo>
                  <a:pt x="0" y="0"/>
                </a:moveTo>
                <a:lnTo>
                  <a:pt x="101600" y="57150"/>
                </a:lnTo>
                <a:lnTo>
                  <a:pt x="0" y="114300"/>
                </a:lnTo>
              </a:path>
            </a:pathLst>
          </a:custGeom>
          <a:noFill/>
          <a:ln w="19050" cap="rnd">
            <a:solidFill>
              <a:srgbClr val="1B5AA8">
                <a:alpha val="4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nx-dot-1"/>
          <p:cNvSpPr/>
          <p:nvPr/>
        </p:nvSpPr>
        <p:spPr>
          <a:xfrm>
            <a:off x="5664200" y="5003800"/>
            <a:ext cx="152400" cy="1524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E0703A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nx-dt-1"/>
          <p:cNvSpPr txBox="1"/>
          <p:nvPr/>
        </p:nvSpPr>
        <p:spPr>
          <a:xfrm>
            <a:off x="5891784" y="4837240"/>
            <a:ext cx="74599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3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1 月 15 日</a:t>
            </a:r>
          </a:p>
        </p:txBody>
      </p:sp>
      <p:sp>
        <p:nvSpPr>
          <p:cNvPr id="51" name="nx-a-1"/>
          <p:cNvSpPr txBox="1"/>
          <p:nvPr/>
        </p:nvSpPr>
        <p:spPr>
          <a:xfrm>
            <a:off x="5635498" y="5232813"/>
            <a:ext cx="110680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发布年度目标书</a:t>
            </a:r>
          </a:p>
        </p:txBody>
      </p:sp>
      <p:sp>
        <p:nvSpPr>
          <p:cNvPr id="52" name="nx-o-1"/>
          <p:cNvSpPr txBox="1"/>
          <p:nvPr/>
        </p:nvSpPr>
        <p:spPr>
          <a:xfrm>
            <a:off x="5640070" y="5483066"/>
            <a:ext cx="87820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牵头：经营管理部</a:t>
            </a:r>
          </a:p>
        </p:txBody>
      </p:sp>
      <p:sp>
        <p:nvSpPr>
          <p:cNvPr id="53" name="nx-dot-2"/>
          <p:cNvSpPr/>
          <p:nvPr/>
        </p:nvSpPr>
        <p:spPr>
          <a:xfrm>
            <a:off x="7569200" y="5003800"/>
            <a:ext cx="152400" cy="1524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2468B6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nx-dt-2"/>
          <p:cNvSpPr txBox="1"/>
          <p:nvPr/>
        </p:nvSpPr>
        <p:spPr>
          <a:xfrm>
            <a:off x="7796784" y="4837240"/>
            <a:ext cx="74599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30">
                <a:solidFill>
                  <a:srgbClr val="2468B6"/>
                </a:solidFill>
                <a:latin typeface="微软雅黑"/>
                <a:ea typeface="微软雅黑"/>
                <a:cs typeface="微软雅黑"/>
              </a:rPr>
              <a:t>2 月 28 日</a:t>
            </a:r>
          </a:p>
        </p:txBody>
      </p:sp>
      <p:sp>
        <p:nvSpPr>
          <p:cNvPr id="55" name="nx-a-2"/>
          <p:cNvSpPr txBox="1"/>
          <p:nvPr/>
        </p:nvSpPr>
        <p:spPr>
          <a:xfrm>
            <a:off x="7540498" y="5232813"/>
            <a:ext cx="124777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数据治理项目立项</a:t>
            </a:r>
          </a:p>
        </p:txBody>
      </p:sp>
      <p:sp>
        <p:nvSpPr>
          <p:cNvPr id="56" name="nx-o-2"/>
          <p:cNvSpPr txBox="1"/>
          <p:nvPr/>
        </p:nvSpPr>
        <p:spPr>
          <a:xfrm>
            <a:off x="7545070" y="5483066"/>
            <a:ext cx="7791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牵头：信息中心</a:t>
            </a:r>
          </a:p>
        </p:txBody>
      </p:sp>
      <p:sp>
        <p:nvSpPr>
          <p:cNvPr id="57" name="nx-dot-3"/>
          <p:cNvSpPr/>
          <p:nvPr/>
        </p:nvSpPr>
        <p:spPr>
          <a:xfrm>
            <a:off x="9474200" y="5003800"/>
            <a:ext cx="152400" cy="1524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4694D7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nx-dt-3"/>
          <p:cNvSpPr txBox="1"/>
          <p:nvPr/>
        </p:nvSpPr>
        <p:spPr>
          <a:xfrm>
            <a:off x="9701784" y="4837240"/>
            <a:ext cx="745998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30">
                <a:solidFill>
                  <a:srgbClr val="4694D7"/>
                </a:solidFill>
                <a:latin typeface="微软雅黑"/>
                <a:ea typeface="微软雅黑"/>
                <a:cs typeface="微软雅黑"/>
              </a:rPr>
              <a:t>3 月 31 日</a:t>
            </a:r>
          </a:p>
        </p:txBody>
      </p:sp>
      <p:sp>
        <p:nvSpPr>
          <p:cNvPr id="59" name="nx-a-3"/>
          <p:cNvSpPr txBox="1"/>
          <p:nvPr/>
        </p:nvSpPr>
        <p:spPr>
          <a:xfrm>
            <a:off x="9445498" y="5232813"/>
            <a:ext cx="96583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一季度复盘会</a:t>
            </a:r>
          </a:p>
        </p:txBody>
      </p:sp>
      <p:sp>
        <p:nvSpPr>
          <p:cNvPr id="60" name="nx-o-3"/>
          <p:cNvSpPr txBox="1"/>
          <p:nvPr/>
        </p:nvSpPr>
        <p:spPr>
          <a:xfrm>
            <a:off x="9450070" y="5483066"/>
            <a:ext cx="97726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3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牵头：总经理办公会</a:t>
            </a:r>
          </a:p>
        </p:txBody>
      </p:sp>
      <p:cxnSp>
        <p:nvCxnSpPr>
          <p:cNvPr id="61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结尾 · 共识与下一步</a:t>
            </a:r>
          </a:p>
        </p:txBody>
      </p:sp>
      <p:sp>
        <p:nvSpPr>
          <p:cNvPr id="63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hero"/>
          <p:cNvSpPr/>
          <p:nvPr/>
        </p:nvSpPr>
        <p:spPr>
          <a:xfrm>
            <a:off x="952500" y="1244600"/>
            <a:ext cx="2921000" cy="4648200"/>
          </a:xfrm>
          <a:custGeom>
            <a:avLst/>
            <a:gdLst/>
            <a:ahLst/>
            <a:cxnLst/>
            <a:rect l="0" t="0" r="r" b="b"/>
            <a:pathLst>
              <a:path w="2921000" h="4648200">
                <a:moveTo>
                  <a:pt x="165100" y="0"/>
                </a:moveTo>
                <a:lnTo>
                  <a:pt x="2755900" y="0"/>
                </a:lnTo>
                <a:cubicBezTo>
                  <a:pt x="2847086" y="0"/>
                  <a:pt x="2921000" y="73914"/>
                  <a:pt x="2921000" y="165100"/>
                </a:cubicBezTo>
                <a:lnTo>
                  <a:pt x="2921000" y="4483100"/>
                </a:lnTo>
                <a:cubicBezTo>
                  <a:pt x="2921000" y="4574286"/>
                  <a:pt x="2847086" y="4648200"/>
                  <a:pt x="2755900" y="4648200"/>
                </a:cubicBezTo>
                <a:lnTo>
                  <a:pt x="165100" y="4648200"/>
                </a:lnTo>
                <a:cubicBezTo>
                  <a:pt x="73914" y="4648200"/>
                  <a:pt x="0" y="4574286"/>
                  <a:pt x="0" y="44831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0A3A88"/>
              </a:gs>
            </a:gsLst>
            <a:lin ang="7080000" scaled="0"/>
          </a:gra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hero-wm"/>
          <p:cNvSpPr txBox="1"/>
          <p:nvPr/>
        </p:nvSpPr>
        <p:spPr>
          <a:xfrm>
            <a:off x="1339850" y="1719262"/>
            <a:ext cx="2457450" cy="1666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0" b="1">
                <a:solidFill>
                  <a:srgbClr val="FFFFFF">
                    <a:alpha val="8000"/>
                  </a:srgbClr>
                </a:solidFill>
                <a:latin typeface="Arial"/>
                <a:ea typeface="Arial"/>
                <a:cs typeface="Arial"/>
              </a:rPr>
              <a:t>Q&amp;A</a:t>
            </a:r>
          </a:p>
        </p:txBody>
      </p:sp>
      <p:sp>
        <p:nvSpPr>
          <p:cNvPr id="7" name="hero-bar"/>
          <p:cNvSpPr/>
          <p:nvPr/>
        </p:nvSpPr>
        <p:spPr>
          <a:xfrm>
            <a:off x="1257300" y="1625600"/>
            <a:ext cx="31750" cy="3810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" name="hero-t"/>
          <p:cNvSpPr txBox="1"/>
          <p:nvPr/>
        </p:nvSpPr>
        <p:spPr>
          <a:xfrm>
            <a:off x="1217676" y="2043303"/>
            <a:ext cx="1770380" cy="5778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600" b="1" spc="3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常见问题</a:t>
            </a:r>
          </a:p>
        </p:txBody>
      </p:sp>
      <p:sp>
        <p:nvSpPr>
          <p:cNvPr id="9" name="hero-en"/>
          <p:cNvSpPr txBox="1"/>
          <p:nvPr/>
        </p:nvSpPr>
        <p:spPr>
          <a:xfrm>
            <a:off x="1259332" y="2608008"/>
            <a:ext cx="195224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75">
                <a:solidFill>
                  <a:srgbClr val="BFD6F0"/>
                </a:solidFill>
                <a:latin typeface="Arial"/>
                <a:ea typeface="Arial"/>
                <a:cs typeface="Arial"/>
              </a:rPr>
              <a:t>FREQUENTLY ASKED QUESTIONS</a:t>
            </a:r>
          </a:p>
        </p:txBody>
      </p:sp>
      <p:cxnSp>
        <p:nvCxnSpPr>
          <p:cNvPr id="10" name="hero-rule"/>
          <p:cNvCxnSpPr/>
          <p:nvPr/>
        </p:nvCxnSpPr>
        <p:spPr>
          <a:xfrm>
            <a:off x="1257300" y="2997200"/>
            <a:ext cx="1282700" cy="0"/>
          </a:xfrm>
          <a:prstGeom prst="line">
            <a:avLst/>
          </a:prstGeom>
          <a:ln w="8890" cap="rnd">
            <a:solidFill>
              <a:srgbClr val="FFFFFF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hero-p1"/>
          <p:cNvSpPr txBox="1"/>
          <p:nvPr/>
        </p:nvSpPr>
        <p:spPr>
          <a:xfrm>
            <a:off x="1243965" y="3177461"/>
            <a:ext cx="19288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客户在选型阶段最常问的六个问题，</a:t>
            </a:r>
          </a:p>
        </p:txBody>
      </p:sp>
      <p:sp>
        <p:nvSpPr>
          <p:cNvPr id="12" name="hero-p2"/>
          <p:cNvSpPr txBox="1"/>
          <p:nvPr/>
        </p:nvSpPr>
        <p:spPr>
          <a:xfrm>
            <a:off x="1243965" y="3393361"/>
            <a:ext cx="13573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按关注度从高到低排列。</a:t>
            </a:r>
          </a:p>
        </p:txBody>
      </p:sp>
      <p:sp>
        <p:nvSpPr>
          <p:cNvPr id="13" name="hs-v1"/>
          <p:cNvSpPr txBox="1"/>
          <p:nvPr/>
        </p:nvSpPr>
        <p:spPr>
          <a:xfrm>
            <a:off x="1231392" y="3835464"/>
            <a:ext cx="938784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1,200+</a:t>
            </a:r>
          </a:p>
        </p:txBody>
      </p:sp>
      <p:sp>
        <p:nvSpPr>
          <p:cNvPr id="14" name="hs-l1"/>
          <p:cNvSpPr txBox="1"/>
          <p:nvPr/>
        </p:nvSpPr>
        <p:spPr>
          <a:xfrm>
            <a:off x="2132965" y="3952161"/>
            <a:ext cx="9001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家企业客户在用</a:t>
            </a:r>
          </a:p>
        </p:txBody>
      </p:sp>
      <p:sp>
        <p:nvSpPr>
          <p:cNvPr id="15" name="hs-v2"/>
          <p:cNvSpPr txBox="1"/>
          <p:nvPr/>
        </p:nvSpPr>
        <p:spPr>
          <a:xfrm>
            <a:off x="1231392" y="4279964"/>
            <a:ext cx="566547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700" b="1" spc="25">
                <a:solidFill>
                  <a:srgbClr val="FFFFFF"/>
                </a:solidFill>
                <a:latin typeface="Arial"/>
                <a:ea typeface="Arial"/>
                <a:cs typeface="Arial"/>
              </a:rPr>
              <a:t>98%</a:t>
            </a:r>
          </a:p>
        </p:txBody>
      </p:sp>
      <p:sp>
        <p:nvSpPr>
          <p:cNvPr id="16" name="hs-l2"/>
          <p:cNvSpPr txBox="1"/>
          <p:nvPr/>
        </p:nvSpPr>
        <p:spPr>
          <a:xfrm>
            <a:off x="1732915" y="4396661"/>
            <a:ext cx="6715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年度续约率</a:t>
            </a:r>
          </a:p>
        </p:txBody>
      </p:sp>
      <p:sp>
        <p:nvSpPr>
          <p:cNvPr id="17" name="contact"/>
          <p:cNvSpPr/>
          <p:nvPr/>
        </p:nvSpPr>
        <p:spPr>
          <a:xfrm>
            <a:off x="1143000" y="4813300"/>
            <a:ext cx="2540000" cy="825500"/>
          </a:xfrm>
          <a:custGeom>
            <a:avLst/>
            <a:gdLst/>
            <a:ahLst/>
            <a:cxnLst/>
            <a:rect l="0" t="0" r="r" b="b"/>
            <a:pathLst>
              <a:path w="2540000" h="825500">
                <a:moveTo>
                  <a:pt x="114300" y="0"/>
                </a:moveTo>
                <a:lnTo>
                  <a:pt x="2425700" y="0"/>
                </a:lnTo>
                <a:cubicBezTo>
                  <a:pt x="2488819" y="0"/>
                  <a:pt x="2540000" y="51181"/>
                  <a:pt x="2540000" y="114300"/>
                </a:cubicBezTo>
                <a:lnTo>
                  <a:pt x="2540000" y="711200"/>
                </a:lnTo>
                <a:cubicBezTo>
                  <a:pt x="2540000" y="774319"/>
                  <a:pt x="2488819" y="825500"/>
                  <a:pt x="2425700" y="825500"/>
                </a:cubicBezTo>
                <a:lnTo>
                  <a:pt x="114300" y="825500"/>
                </a:lnTo>
                <a:cubicBezTo>
                  <a:pt x="51181" y="825500"/>
                  <a:pt x="0" y="774319"/>
                  <a:pt x="0" y="7112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ct-h"/>
          <p:cNvSpPr txBox="1"/>
          <p:nvPr/>
        </p:nvSpPr>
        <p:spPr>
          <a:xfrm>
            <a:off x="1319022" y="4943697"/>
            <a:ext cx="1019810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还有其他问题？</a:t>
            </a:r>
          </a:p>
        </p:txBody>
      </p:sp>
      <p:sp>
        <p:nvSpPr>
          <p:cNvPr id="19" name="icon-phone"/>
          <p:cNvSpPr/>
          <p:nvPr/>
        </p:nvSpPr>
        <p:spPr>
          <a:xfrm>
            <a:off x="1377124" y="5322062"/>
            <a:ext cx="65151" cy="100076"/>
          </a:xfrm>
          <a:custGeom>
            <a:avLst/>
            <a:gdLst/>
            <a:ahLst/>
            <a:cxnLst/>
            <a:rect l="0" t="0" r="r" b="b"/>
            <a:pathLst>
              <a:path w="65151" h="100076">
                <a:moveTo>
                  <a:pt x="9271" y="0"/>
                </a:moveTo>
                <a:lnTo>
                  <a:pt x="55880" y="0"/>
                </a:lnTo>
                <a:cubicBezTo>
                  <a:pt x="58356" y="0"/>
                  <a:pt x="60706" y="952"/>
                  <a:pt x="62420" y="2730"/>
                </a:cubicBezTo>
                <a:cubicBezTo>
                  <a:pt x="64198" y="4445"/>
                  <a:pt x="65151" y="6795"/>
                  <a:pt x="65151" y="9271"/>
                </a:cubicBezTo>
                <a:lnTo>
                  <a:pt x="65151" y="90805"/>
                </a:lnTo>
                <a:cubicBezTo>
                  <a:pt x="65151" y="93281"/>
                  <a:pt x="64198" y="95631"/>
                  <a:pt x="62420" y="97346"/>
                </a:cubicBezTo>
                <a:cubicBezTo>
                  <a:pt x="60706" y="99124"/>
                  <a:pt x="58356" y="100076"/>
                  <a:pt x="55880" y="100076"/>
                </a:cubicBezTo>
                <a:lnTo>
                  <a:pt x="9271" y="100076"/>
                </a:lnTo>
                <a:cubicBezTo>
                  <a:pt x="6794" y="100076"/>
                  <a:pt x="4445" y="99124"/>
                  <a:pt x="2731" y="97346"/>
                </a:cubicBezTo>
                <a:cubicBezTo>
                  <a:pt x="953" y="95631"/>
                  <a:pt x="0" y="93281"/>
                  <a:pt x="0" y="90805"/>
                </a:cubicBezTo>
                <a:lnTo>
                  <a:pt x="0" y="9271"/>
                </a:lnTo>
                <a:cubicBezTo>
                  <a:pt x="0" y="4127"/>
                  <a:pt x="4128" y="0"/>
                  <a:pt x="9271" y="0"/>
                </a:cubicBezTo>
                <a:close/>
                <a:moveTo>
                  <a:pt x="23241" y="82613"/>
                </a:moveTo>
                <a:lnTo>
                  <a:pt x="41910" y="82613"/>
                </a:lnTo>
              </a:path>
            </a:pathLst>
          </a:custGeom>
          <a:noFill/>
          <a:ln w="12700" cap="rnd">
            <a:solidFill>
              <a:srgbClr val="CFE0F4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ct-p"/>
          <p:cNvSpPr txBox="1"/>
          <p:nvPr/>
        </p:nvSpPr>
        <p:spPr>
          <a:xfrm>
            <a:off x="1546860" y="5259705"/>
            <a:ext cx="10439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00" b="1" spc="50">
                <a:solidFill>
                  <a:srgbClr val="FFFFFF"/>
                </a:solidFill>
                <a:latin typeface="Arial"/>
                <a:ea typeface="Arial"/>
                <a:cs typeface="Arial"/>
              </a:rPr>
              <a:t>400-000-0000</a:t>
            </a:r>
          </a:p>
        </p:txBody>
      </p:sp>
      <p:sp>
        <p:nvSpPr>
          <p:cNvPr id="21" name="icon-mail"/>
          <p:cNvSpPr/>
          <p:nvPr/>
        </p:nvSpPr>
        <p:spPr>
          <a:xfrm>
            <a:off x="2747454" y="5339524"/>
            <a:ext cx="93091" cy="65151"/>
          </a:xfrm>
          <a:custGeom>
            <a:avLst/>
            <a:gdLst/>
            <a:ahLst/>
            <a:cxnLst/>
            <a:rect l="0" t="0" r="r" b="b"/>
            <a:pathLst>
              <a:path w="93091" h="65151">
                <a:moveTo>
                  <a:pt x="0" y="0"/>
                </a:moveTo>
                <a:lnTo>
                  <a:pt x="93091" y="0"/>
                </a:lnTo>
                <a:lnTo>
                  <a:pt x="93091" y="65151"/>
                </a:lnTo>
                <a:lnTo>
                  <a:pt x="0" y="65151"/>
                </a:lnTo>
                <a:close/>
                <a:moveTo>
                  <a:pt x="0" y="2286"/>
                </a:moveTo>
                <a:lnTo>
                  <a:pt x="46545" y="34925"/>
                </a:lnTo>
                <a:lnTo>
                  <a:pt x="93091" y="2286"/>
                </a:lnTo>
              </a:path>
            </a:pathLst>
          </a:custGeom>
          <a:noFill/>
          <a:ln w="12700" cap="rnd">
            <a:solidFill>
              <a:srgbClr val="CFE0F4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ct-m"/>
          <p:cNvSpPr txBox="1"/>
          <p:nvPr/>
        </p:nvSpPr>
        <p:spPr>
          <a:xfrm>
            <a:off x="2933446" y="5283232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在线咨询</a:t>
            </a:r>
          </a:p>
        </p:txBody>
      </p:sp>
      <p:sp>
        <p:nvSpPr>
          <p:cNvPr id="23" name="qa-1"/>
          <p:cNvSpPr/>
          <p:nvPr/>
        </p:nvSpPr>
        <p:spPr>
          <a:xfrm>
            <a:off x="4191000" y="1244600"/>
            <a:ext cx="3460750" cy="1447800"/>
          </a:xfrm>
          <a:custGeom>
            <a:avLst/>
            <a:gdLst/>
            <a:ahLst/>
            <a:cxnLst/>
            <a:rect l="0" t="0" r="r" b="b"/>
            <a:pathLst>
              <a:path w="3460750" h="1447800">
                <a:moveTo>
                  <a:pt x="139700" y="0"/>
                </a:moveTo>
                <a:lnTo>
                  <a:pt x="3321050" y="0"/>
                </a:lnTo>
                <a:cubicBezTo>
                  <a:pt x="3398203" y="0"/>
                  <a:pt x="3460750" y="62547"/>
                  <a:pt x="3460750" y="139700"/>
                </a:cubicBezTo>
                <a:lnTo>
                  <a:pt x="3460750" y="1308100"/>
                </a:lnTo>
                <a:cubicBezTo>
                  <a:pt x="3460750" y="1385252"/>
                  <a:pt x="3398203" y="1447800"/>
                  <a:pt x="3321050" y="1447800"/>
                </a:cubicBezTo>
                <a:lnTo>
                  <a:pt x="139700" y="1447800"/>
                </a:lnTo>
                <a:cubicBezTo>
                  <a:pt x="62548" y="1447800"/>
                  <a:pt x="0" y="1385252"/>
                  <a:pt x="0" y="1308100"/>
                </a:cubicBezTo>
                <a:lnTo>
                  <a:pt x="0" y="139700"/>
                </a:lnTo>
                <a:cubicBezTo>
                  <a:pt x="0" y="62547"/>
                  <a:pt x="62548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qn-1"/>
          <p:cNvSpPr txBox="1"/>
          <p:nvPr/>
        </p:nvSpPr>
        <p:spPr>
          <a:xfrm>
            <a:off x="6689090" y="1276096"/>
            <a:ext cx="820928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3200" b="1">
                <a:solidFill>
                  <a:srgbClr val="0B3E8F">
                    <a:alpha val="8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25" name="qb-1"/>
          <p:cNvSpPr/>
          <p:nvPr/>
        </p:nvSpPr>
        <p:spPr>
          <a:xfrm>
            <a:off x="4381500" y="1460500"/>
            <a:ext cx="355600" cy="3556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qbt-1"/>
          <p:cNvSpPr txBox="1"/>
          <p:nvPr/>
        </p:nvSpPr>
        <p:spPr>
          <a:xfrm>
            <a:off x="4448048" y="1507236"/>
            <a:ext cx="222504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Q</a:t>
            </a:r>
          </a:p>
        </p:txBody>
      </p:sp>
      <p:sp>
        <p:nvSpPr>
          <p:cNvPr id="27" name="q-1"/>
          <p:cNvSpPr txBox="1"/>
          <p:nvPr/>
        </p:nvSpPr>
        <p:spPr>
          <a:xfrm>
            <a:off x="4833874" y="1515078"/>
            <a:ext cx="105346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多久能上线？</a:t>
            </a:r>
          </a:p>
        </p:txBody>
      </p:sp>
      <p:cxnSp>
        <p:nvCxnSpPr>
          <p:cNvPr id="28" name="sep-1"/>
          <p:cNvCxnSpPr/>
          <p:nvPr/>
        </p:nvCxnSpPr>
        <p:spPr>
          <a:xfrm>
            <a:off x="4381500" y="1955800"/>
            <a:ext cx="307975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icon-clock"/>
          <p:cNvSpPr/>
          <p:nvPr/>
        </p:nvSpPr>
        <p:spPr>
          <a:xfrm>
            <a:off x="4559300" y="2166620"/>
            <a:ext cx="20320" cy="42545"/>
          </a:xfrm>
          <a:custGeom>
            <a:avLst/>
            <a:gdLst/>
            <a:ahLst/>
            <a:cxnLst/>
            <a:rect l="0" t="0" r="r" b="b"/>
            <a:pathLst>
              <a:path w="20320" h="42545">
                <a:moveTo>
                  <a:pt x="0" y="0"/>
                </a:moveTo>
                <a:lnTo>
                  <a:pt x="0" y="30480"/>
                </a:lnTo>
                <a:lnTo>
                  <a:pt x="20320" y="42545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icon-clock"/>
          <p:cNvSpPr/>
          <p:nvPr/>
        </p:nvSpPr>
        <p:spPr>
          <a:xfrm>
            <a:off x="4504690" y="2142490"/>
            <a:ext cx="109220" cy="109220"/>
          </a:xfrm>
          <a:prstGeom prst="ellipse">
            <a:avLst/>
          </a:pr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a1-1"/>
          <p:cNvSpPr txBox="1"/>
          <p:nvPr/>
        </p:nvSpPr>
        <p:spPr>
          <a:xfrm>
            <a:off x="4838065" y="2097961"/>
            <a:ext cx="143097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标准版签约后 2 周上线；</a:t>
            </a:r>
          </a:p>
        </p:txBody>
      </p:sp>
      <p:sp>
        <p:nvSpPr>
          <p:cNvPr id="32" name="a2-1"/>
          <p:cNvSpPr txBox="1"/>
          <p:nvPr/>
        </p:nvSpPr>
        <p:spPr>
          <a:xfrm>
            <a:off x="4838065" y="2313861"/>
            <a:ext cx="154463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含数据迁移的项目约 6 周。</a:t>
            </a:r>
          </a:p>
        </p:txBody>
      </p:sp>
      <p:sp>
        <p:nvSpPr>
          <p:cNvPr id="33" name="hot-1"/>
          <p:cNvSpPr/>
          <p:nvPr/>
        </p:nvSpPr>
        <p:spPr>
          <a:xfrm>
            <a:off x="5861050" y="1543050"/>
            <a:ext cx="406400" cy="177800"/>
          </a:xfrm>
          <a:custGeom>
            <a:avLst/>
            <a:gdLst/>
            <a:ahLst/>
            <a:cxnLst/>
            <a:rect l="0" t="0" r="r" b="b"/>
            <a:pathLst>
              <a:path w="406400" h="177800">
                <a:moveTo>
                  <a:pt x="88900" y="0"/>
                </a:moveTo>
                <a:lnTo>
                  <a:pt x="317500" y="0"/>
                </a:lnTo>
                <a:cubicBezTo>
                  <a:pt x="366586" y="0"/>
                  <a:pt x="406400" y="39815"/>
                  <a:pt x="406400" y="88900"/>
                </a:cubicBezTo>
                <a:lnTo>
                  <a:pt x="406400" y="88900"/>
                </a:lnTo>
                <a:cubicBezTo>
                  <a:pt x="406400" y="137986"/>
                  <a:pt x="366586" y="177800"/>
                  <a:pt x="3175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5"/>
                  <a:pt x="39814" y="0"/>
                  <a:pt x="8890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hott-1"/>
          <p:cNvSpPr txBox="1"/>
          <p:nvPr/>
        </p:nvSpPr>
        <p:spPr>
          <a:xfrm>
            <a:off x="5925820" y="1560258"/>
            <a:ext cx="2768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7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高频</a:t>
            </a:r>
          </a:p>
        </p:txBody>
      </p:sp>
      <p:sp>
        <p:nvSpPr>
          <p:cNvPr id="35" name="qa-2"/>
          <p:cNvSpPr/>
          <p:nvPr/>
        </p:nvSpPr>
        <p:spPr>
          <a:xfrm>
            <a:off x="7778750" y="1244600"/>
            <a:ext cx="3460750" cy="1447800"/>
          </a:xfrm>
          <a:custGeom>
            <a:avLst/>
            <a:gdLst/>
            <a:ahLst/>
            <a:cxnLst/>
            <a:rect l="0" t="0" r="r" b="b"/>
            <a:pathLst>
              <a:path w="3460750" h="1447800">
                <a:moveTo>
                  <a:pt x="139700" y="0"/>
                </a:moveTo>
                <a:lnTo>
                  <a:pt x="3321050" y="0"/>
                </a:lnTo>
                <a:cubicBezTo>
                  <a:pt x="3398203" y="0"/>
                  <a:pt x="3460750" y="62547"/>
                  <a:pt x="3460750" y="139700"/>
                </a:cubicBezTo>
                <a:lnTo>
                  <a:pt x="3460750" y="1308100"/>
                </a:lnTo>
                <a:cubicBezTo>
                  <a:pt x="3460750" y="1385252"/>
                  <a:pt x="3398203" y="1447800"/>
                  <a:pt x="3321050" y="1447800"/>
                </a:cubicBezTo>
                <a:lnTo>
                  <a:pt x="139700" y="1447800"/>
                </a:lnTo>
                <a:cubicBezTo>
                  <a:pt x="62547" y="1447800"/>
                  <a:pt x="0" y="1385252"/>
                  <a:pt x="0" y="1308100"/>
                </a:cubicBezTo>
                <a:lnTo>
                  <a:pt x="0" y="139700"/>
                </a:lnTo>
                <a:cubicBezTo>
                  <a:pt x="0" y="62547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qn-2"/>
          <p:cNvSpPr txBox="1"/>
          <p:nvPr/>
        </p:nvSpPr>
        <p:spPr>
          <a:xfrm>
            <a:off x="10276840" y="1276096"/>
            <a:ext cx="820928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3200" b="1">
                <a:solidFill>
                  <a:srgbClr val="134C9C">
                    <a:alpha val="8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37" name="qb-2"/>
          <p:cNvSpPr/>
          <p:nvPr/>
        </p:nvSpPr>
        <p:spPr>
          <a:xfrm>
            <a:off x="7969250" y="1460500"/>
            <a:ext cx="355600" cy="3556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qbt-2"/>
          <p:cNvSpPr txBox="1"/>
          <p:nvPr/>
        </p:nvSpPr>
        <p:spPr>
          <a:xfrm>
            <a:off x="8035798" y="1507236"/>
            <a:ext cx="222504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Q</a:t>
            </a:r>
          </a:p>
        </p:txBody>
      </p:sp>
      <p:sp>
        <p:nvSpPr>
          <p:cNvPr id="39" name="q-2"/>
          <p:cNvSpPr txBox="1"/>
          <p:nvPr/>
        </p:nvSpPr>
        <p:spPr>
          <a:xfrm>
            <a:off x="8421624" y="1515078"/>
            <a:ext cx="151447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数据安全怎么保障？</a:t>
            </a:r>
          </a:p>
        </p:txBody>
      </p:sp>
      <p:cxnSp>
        <p:nvCxnSpPr>
          <p:cNvPr id="40" name="sep-2"/>
          <p:cNvCxnSpPr/>
          <p:nvPr/>
        </p:nvCxnSpPr>
        <p:spPr>
          <a:xfrm>
            <a:off x="7969250" y="1955800"/>
            <a:ext cx="307975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icon-shield"/>
          <p:cNvSpPr/>
          <p:nvPr/>
        </p:nvSpPr>
        <p:spPr>
          <a:xfrm>
            <a:off x="8101330" y="2142490"/>
            <a:ext cx="91440" cy="109220"/>
          </a:xfrm>
          <a:custGeom>
            <a:avLst/>
            <a:gdLst/>
            <a:ahLst/>
            <a:cxnLst/>
            <a:rect l="0" t="0" r="r" b="b"/>
            <a:pathLst>
              <a:path w="91440" h="109220">
                <a:moveTo>
                  <a:pt x="45720" y="0"/>
                </a:moveTo>
                <a:lnTo>
                  <a:pt x="91440" y="17780"/>
                </a:lnTo>
                <a:lnTo>
                  <a:pt x="91440" y="53340"/>
                </a:lnTo>
                <a:cubicBezTo>
                  <a:pt x="91440" y="80010"/>
                  <a:pt x="72390" y="100330"/>
                  <a:pt x="45720" y="109220"/>
                </a:cubicBezTo>
                <a:cubicBezTo>
                  <a:pt x="19050" y="100330"/>
                  <a:pt x="0" y="80010"/>
                  <a:pt x="0" y="53340"/>
                </a:cubicBezTo>
                <a:lnTo>
                  <a:pt x="0" y="17780"/>
                </a:lnTo>
                <a:close/>
                <a:moveTo>
                  <a:pt x="26670" y="54610"/>
                </a:moveTo>
                <a:lnTo>
                  <a:pt x="40640" y="68580"/>
                </a:lnTo>
                <a:lnTo>
                  <a:pt x="67310" y="41910"/>
                </a:lnTo>
              </a:path>
            </a:pathLst>
          </a:cu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a1-2"/>
          <p:cNvSpPr txBox="1"/>
          <p:nvPr/>
        </p:nvSpPr>
        <p:spPr>
          <a:xfrm>
            <a:off x="8425815" y="2097961"/>
            <a:ext cx="19491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通过等保三级与 ISO 27001 认证，</a:t>
            </a:r>
          </a:p>
        </p:txBody>
      </p:sp>
      <p:sp>
        <p:nvSpPr>
          <p:cNvPr id="43" name="a2-2"/>
          <p:cNvSpPr txBox="1"/>
          <p:nvPr/>
        </p:nvSpPr>
        <p:spPr>
          <a:xfrm>
            <a:off x="8425815" y="2313861"/>
            <a:ext cx="157765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支持私有化部署与国密加密。</a:t>
            </a:r>
          </a:p>
        </p:txBody>
      </p:sp>
      <p:sp>
        <p:nvSpPr>
          <p:cNvPr id="44" name="hot-2"/>
          <p:cNvSpPr/>
          <p:nvPr/>
        </p:nvSpPr>
        <p:spPr>
          <a:xfrm>
            <a:off x="9915525" y="1543050"/>
            <a:ext cx="406400" cy="177800"/>
          </a:xfrm>
          <a:custGeom>
            <a:avLst/>
            <a:gdLst/>
            <a:ahLst/>
            <a:cxnLst/>
            <a:rect l="0" t="0" r="r" b="b"/>
            <a:pathLst>
              <a:path w="406400" h="177800">
                <a:moveTo>
                  <a:pt x="88900" y="0"/>
                </a:moveTo>
                <a:lnTo>
                  <a:pt x="317500" y="0"/>
                </a:lnTo>
                <a:cubicBezTo>
                  <a:pt x="366586" y="0"/>
                  <a:pt x="406400" y="39815"/>
                  <a:pt x="406400" y="88900"/>
                </a:cubicBezTo>
                <a:lnTo>
                  <a:pt x="406400" y="88900"/>
                </a:lnTo>
                <a:cubicBezTo>
                  <a:pt x="406400" y="137986"/>
                  <a:pt x="366586" y="177800"/>
                  <a:pt x="3175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5"/>
                  <a:pt x="39814" y="0"/>
                  <a:pt x="8890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hott-2"/>
          <p:cNvSpPr txBox="1"/>
          <p:nvPr/>
        </p:nvSpPr>
        <p:spPr>
          <a:xfrm>
            <a:off x="9980295" y="1560258"/>
            <a:ext cx="2768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75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高频</a:t>
            </a:r>
          </a:p>
        </p:txBody>
      </p:sp>
      <p:sp>
        <p:nvSpPr>
          <p:cNvPr id="46" name="qa-3"/>
          <p:cNvSpPr/>
          <p:nvPr/>
        </p:nvSpPr>
        <p:spPr>
          <a:xfrm>
            <a:off x="4191000" y="2844800"/>
            <a:ext cx="3460750" cy="1447800"/>
          </a:xfrm>
          <a:custGeom>
            <a:avLst/>
            <a:gdLst/>
            <a:ahLst/>
            <a:cxnLst/>
            <a:rect l="0" t="0" r="r" b="b"/>
            <a:pathLst>
              <a:path w="3460750" h="1447800">
                <a:moveTo>
                  <a:pt x="139700" y="0"/>
                </a:moveTo>
                <a:lnTo>
                  <a:pt x="3321050" y="0"/>
                </a:lnTo>
                <a:cubicBezTo>
                  <a:pt x="3398203" y="0"/>
                  <a:pt x="3460750" y="62548"/>
                  <a:pt x="3460750" y="139700"/>
                </a:cubicBezTo>
                <a:lnTo>
                  <a:pt x="3460750" y="1308100"/>
                </a:lnTo>
                <a:cubicBezTo>
                  <a:pt x="3460750" y="1385252"/>
                  <a:pt x="3398203" y="1447800"/>
                  <a:pt x="3321050" y="1447800"/>
                </a:cubicBezTo>
                <a:lnTo>
                  <a:pt x="139700" y="1447800"/>
                </a:lnTo>
                <a:cubicBezTo>
                  <a:pt x="62548" y="1447800"/>
                  <a:pt x="0" y="1385252"/>
                  <a:pt x="0" y="13081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qn-3"/>
          <p:cNvSpPr txBox="1"/>
          <p:nvPr/>
        </p:nvSpPr>
        <p:spPr>
          <a:xfrm>
            <a:off x="6689090" y="2876296"/>
            <a:ext cx="820928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3200" b="1">
                <a:solidFill>
                  <a:srgbClr val="1B5AA8">
                    <a:alpha val="8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48" name="qb-3"/>
          <p:cNvSpPr/>
          <p:nvPr/>
        </p:nvSpPr>
        <p:spPr>
          <a:xfrm>
            <a:off x="4381500" y="3060700"/>
            <a:ext cx="355600" cy="35560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qbt-3"/>
          <p:cNvSpPr txBox="1"/>
          <p:nvPr/>
        </p:nvSpPr>
        <p:spPr>
          <a:xfrm>
            <a:off x="4448048" y="3107436"/>
            <a:ext cx="222504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Q</a:t>
            </a:r>
          </a:p>
        </p:txBody>
      </p:sp>
      <p:sp>
        <p:nvSpPr>
          <p:cNvPr id="50" name="q-3"/>
          <p:cNvSpPr txBox="1"/>
          <p:nvPr/>
        </p:nvSpPr>
        <p:spPr>
          <a:xfrm>
            <a:off x="4833874" y="3115278"/>
            <a:ext cx="182181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可以和现有系统打通吗？</a:t>
            </a:r>
          </a:p>
        </p:txBody>
      </p:sp>
      <p:cxnSp>
        <p:nvCxnSpPr>
          <p:cNvPr id="51" name="sep-3"/>
          <p:cNvCxnSpPr/>
          <p:nvPr/>
        </p:nvCxnSpPr>
        <p:spPr>
          <a:xfrm>
            <a:off x="4381500" y="3556000"/>
            <a:ext cx="307975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icon-network"/>
          <p:cNvSpPr/>
          <p:nvPr/>
        </p:nvSpPr>
        <p:spPr>
          <a:xfrm>
            <a:off x="4540250" y="3774440"/>
            <a:ext cx="38100" cy="44450"/>
          </a:xfrm>
          <a:custGeom>
            <a:avLst/>
            <a:gdLst/>
            <a:ahLst/>
            <a:cxnLst/>
            <a:rect l="0" t="0" r="r" b="b"/>
            <a:pathLst>
              <a:path w="38100" h="44450">
                <a:moveTo>
                  <a:pt x="19050" y="0"/>
                </a:moveTo>
                <a:lnTo>
                  <a:pt x="19050" y="20320"/>
                </a:lnTo>
                <a:moveTo>
                  <a:pt x="0" y="44450"/>
                </a:moveTo>
                <a:lnTo>
                  <a:pt x="13970" y="27940"/>
                </a:lnTo>
                <a:moveTo>
                  <a:pt x="38100" y="44450"/>
                </a:moveTo>
                <a:lnTo>
                  <a:pt x="24130" y="27940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icon-network"/>
          <p:cNvSpPr/>
          <p:nvPr/>
        </p:nvSpPr>
        <p:spPr>
          <a:xfrm>
            <a:off x="4542790" y="3742690"/>
            <a:ext cx="33020" cy="33020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icon-network"/>
          <p:cNvSpPr/>
          <p:nvPr/>
        </p:nvSpPr>
        <p:spPr>
          <a:xfrm>
            <a:off x="4511040" y="3815080"/>
            <a:ext cx="33020" cy="33020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icon-network"/>
          <p:cNvSpPr/>
          <p:nvPr/>
        </p:nvSpPr>
        <p:spPr>
          <a:xfrm>
            <a:off x="4574540" y="3815080"/>
            <a:ext cx="33020" cy="33020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a1-3"/>
          <p:cNvSpPr txBox="1"/>
          <p:nvPr/>
        </p:nvSpPr>
        <p:spPr>
          <a:xfrm>
            <a:off x="4838065" y="3698161"/>
            <a:ext cx="142970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提供 200+ 个开放 API，</a:t>
            </a:r>
          </a:p>
        </p:txBody>
      </p:sp>
      <p:sp>
        <p:nvSpPr>
          <p:cNvPr id="57" name="a2-3"/>
          <p:cNvSpPr txBox="1"/>
          <p:nvPr/>
        </p:nvSpPr>
        <p:spPr>
          <a:xfrm>
            <a:off x="4838065" y="3914061"/>
            <a:ext cx="193325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主流 ERP 与 OA 已有现成连接器。</a:t>
            </a:r>
          </a:p>
        </p:txBody>
      </p:sp>
      <p:sp>
        <p:nvSpPr>
          <p:cNvPr id="58" name="qa-4"/>
          <p:cNvSpPr/>
          <p:nvPr/>
        </p:nvSpPr>
        <p:spPr>
          <a:xfrm>
            <a:off x="7778750" y="2844800"/>
            <a:ext cx="3460750" cy="1447800"/>
          </a:xfrm>
          <a:custGeom>
            <a:avLst/>
            <a:gdLst/>
            <a:ahLst/>
            <a:cxnLst/>
            <a:rect l="0" t="0" r="r" b="b"/>
            <a:pathLst>
              <a:path w="3460750" h="1447800">
                <a:moveTo>
                  <a:pt x="139700" y="0"/>
                </a:moveTo>
                <a:lnTo>
                  <a:pt x="3321050" y="0"/>
                </a:lnTo>
                <a:cubicBezTo>
                  <a:pt x="3398203" y="0"/>
                  <a:pt x="3460750" y="62548"/>
                  <a:pt x="3460750" y="139700"/>
                </a:cubicBezTo>
                <a:lnTo>
                  <a:pt x="3460750" y="1308100"/>
                </a:lnTo>
                <a:cubicBezTo>
                  <a:pt x="3460750" y="1385252"/>
                  <a:pt x="3398203" y="1447800"/>
                  <a:pt x="3321050" y="1447800"/>
                </a:cubicBezTo>
                <a:lnTo>
                  <a:pt x="139700" y="1447800"/>
                </a:lnTo>
                <a:cubicBezTo>
                  <a:pt x="62547" y="1447800"/>
                  <a:pt x="0" y="1385252"/>
                  <a:pt x="0" y="13081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qn-4"/>
          <p:cNvSpPr txBox="1"/>
          <p:nvPr/>
        </p:nvSpPr>
        <p:spPr>
          <a:xfrm>
            <a:off x="10276840" y="2876296"/>
            <a:ext cx="820928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3200" b="1">
                <a:solidFill>
                  <a:srgbClr val="2468B6">
                    <a:alpha val="8000"/>
                  </a:srgbClr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60" name="qb-4"/>
          <p:cNvSpPr/>
          <p:nvPr/>
        </p:nvSpPr>
        <p:spPr>
          <a:xfrm>
            <a:off x="7969250" y="3060700"/>
            <a:ext cx="355600" cy="355600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qbt-4"/>
          <p:cNvSpPr txBox="1"/>
          <p:nvPr/>
        </p:nvSpPr>
        <p:spPr>
          <a:xfrm>
            <a:off x="8035798" y="3107436"/>
            <a:ext cx="222504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Q</a:t>
            </a:r>
          </a:p>
        </p:txBody>
      </p:sp>
      <p:sp>
        <p:nvSpPr>
          <p:cNvPr id="62" name="q-4"/>
          <p:cNvSpPr txBox="1"/>
          <p:nvPr/>
        </p:nvSpPr>
        <p:spPr>
          <a:xfrm>
            <a:off x="8421624" y="3115278"/>
            <a:ext cx="151447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收费方式是怎样的？</a:t>
            </a:r>
          </a:p>
        </p:txBody>
      </p:sp>
      <p:cxnSp>
        <p:nvCxnSpPr>
          <p:cNvPr id="63" name="sep-4"/>
          <p:cNvCxnSpPr/>
          <p:nvPr/>
        </p:nvCxnSpPr>
        <p:spPr>
          <a:xfrm>
            <a:off x="7969250" y="3556000"/>
            <a:ext cx="307975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icon-coin"/>
          <p:cNvSpPr/>
          <p:nvPr/>
        </p:nvSpPr>
        <p:spPr>
          <a:xfrm>
            <a:off x="8106410" y="3761740"/>
            <a:ext cx="81280" cy="71120"/>
          </a:xfrm>
          <a:custGeom>
            <a:avLst/>
            <a:gdLst/>
            <a:ahLst/>
            <a:cxnLst/>
            <a:rect l="0" t="0" r="r" b="b"/>
            <a:pathLst>
              <a:path w="81280" h="71120">
                <a:moveTo>
                  <a:pt x="40640" y="0"/>
                </a:moveTo>
                <a:cubicBezTo>
                  <a:pt x="17780" y="0"/>
                  <a:pt x="0" y="6350"/>
                  <a:pt x="0" y="15240"/>
                </a:cubicBezTo>
                <a:cubicBezTo>
                  <a:pt x="0" y="24130"/>
                  <a:pt x="17780" y="30480"/>
                  <a:pt x="40640" y="30480"/>
                </a:cubicBezTo>
                <a:cubicBezTo>
                  <a:pt x="63500" y="30480"/>
                  <a:pt x="81280" y="24130"/>
                  <a:pt x="81280" y="15240"/>
                </a:cubicBezTo>
                <a:cubicBezTo>
                  <a:pt x="81280" y="6350"/>
                  <a:pt x="63500" y="0"/>
                  <a:pt x="40640" y="0"/>
                </a:cubicBezTo>
                <a:close/>
                <a:moveTo>
                  <a:pt x="0" y="15240"/>
                </a:moveTo>
                <a:lnTo>
                  <a:pt x="0" y="55880"/>
                </a:lnTo>
                <a:cubicBezTo>
                  <a:pt x="0" y="64770"/>
                  <a:pt x="17780" y="71120"/>
                  <a:pt x="40640" y="71120"/>
                </a:cubicBezTo>
                <a:cubicBezTo>
                  <a:pt x="63500" y="71120"/>
                  <a:pt x="81280" y="64770"/>
                  <a:pt x="81280" y="55880"/>
                </a:cubicBezTo>
                <a:lnTo>
                  <a:pt x="81280" y="15240"/>
                </a:lnTo>
              </a:path>
            </a:pathLst>
          </a:cu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a1-4"/>
          <p:cNvSpPr txBox="1"/>
          <p:nvPr/>
        </p:nvSpPr>
        <p:spPr>
          <a:xfrm>
            <a:off x="8425815" y="3698161"/>
            <a:ext cx="169132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按账号年费订阅，不限数据量；</a:t>
            </a:r>
          </a:p>
        </p:txBody>
      </p:sp>
      <p:sp>
        <p:nvSpPr>
          <p:cNvPr id="66" name="a2-4"/>
          <p:cNvSpPr txBox="1"/>
          <p:nvPr/>
        </p:nvSpPr>
        <p:spPr>
          <a:xfrm>
            <a:off x="8425815" y="3914061"/>
            <a:ext cx="135032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私有化部署一次性授权。</a:t>
            </a:r>
          </a:p>
        </p:txBody>
      </p:sp>
      <p:sp>
        <p:nvSpPr>
          <p:cNvPr id="67" name="qa-5"/>
          <p:cNvSpPr/>
          <p:nvPr/>
        </p:nvSpPr>
        <p:spPr>
          <a:xfrm>
            <a:off x="4191000" y="4445000"/>
            <a:ext cx="3460750" cy="1447800"/>
          </a:xfrm>
          <a:custGeom>
            <a:avLst/>
            <a:gdLst/>
            <a:ahLst/>
            <a:cxnLst/>
            <a:rect l="0" t="0" r="r" b="b"/>
            <a:pathLst>
              <a:path w="3460750" h="1447800">
                <a:moveTo>
                  <a:pt x="139700" y="0"/>
                </a:moveTo>
                <a:lnTo>
                  <a:pt x="3321050" y="0"/>
                </a:lnTo>
                <a:cubicBezTo>
                  <a:pt x="3398203" y="0"/>
                  <a:pt x="3460750" y="62548"/>
                  <a:pt x="3460750" y="139700"/>
                </a:cubicBezTo>
                <a:lnTo>
                  <a:pt x="3460750" y="1308100"/>
                </a:lnTo>
                <a:cubicBezTo>
                  <a:pt x="3460750" y="1385252"/>
                  <a:pt x="3398203" y="1447800"/>
                  <a:pt x="3321050" y="1447800"/>
                </a:cubicBezTo>
                <a:lnTo>
                  <a:pt x="139700" y="1447800"/>
                </a:lnTo>
                <a:cubicBezTo>
                  <a:pt x="62548" y="1447800"/>
                  <a:pt x="0" y="1385252"/>
                  <a:pt x="0" y="13081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qn-5"/>
          <p:cNvSpPr txBox="1"/>
          <p:nvPr/>
        </p:nvSpPr>
        <p:spPr>
          <a:xfrm>
            <a:off x="6689090" y="4476496"/>
            <a:ext cx="820928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3200" b="1">
                <a:solidFill>
                  <a:srgbClr val="2E77C2">
                    <a:alpha val="8000"/>
                  </a:srgbClr>
                </a:solidFill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69" name="qb-5"/>
          <p:cNvSpPr/>
          <p:nvPr/>
        </p:nvSpPr>
        <p:spPr>
          <a:xfrm>
            <a:off x="4381500" y="4660900"/>
            <a:ext cx="355600" cy="3556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qbt-5"/>
          <p:cNvSpPr txBox="1"/>
          <p:nvPr/>
        </p:nvSpPr>
        <p:spPr>
          <a:xfrm>
            <a:off x="4448048" y="4707636"/>
            <a:ext cx="222504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Q</a:t>
            </a:r>
          </a:p>
        </p:txBody>
      </p:sp>
      <p:sp>
        <p:nvSpPr>
          <p:cNvPr id="71" name="q-5"/>
          <p:cNvSpPr txBox="1"/>
          <p:nvPr/>
        </p:nvSpPr>
        <p:spPr>
          <a:xfrm>
            <a:off x="4833874" y="4715478"/>
            <a:ext cx="136080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员工学起来难吗？</a:t>
            </a:r>
          </a:p>
        </p:txBody>
      </p:sp>
      <p:cxnSp>
        <p:nvCxnSpPr>
          <p:cNvPr id="72" name="sep-5"/>
          <p:cNvCxnSpPr/>
          <p:nvPr/>
        </p:nvCxnSpPr>
        <p:spPr>
          <a:xfrm>
            <a:off x="4381500" y="5156200"/>
            <a:ext cx="307975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icon-book"/>
          <p:cNvSpPr/>
          <p:nvPr/>
        </p:nvSpPr>
        <p:spPr>
          <a:xfrm>
            <a:off x="4511040" y="5354320"/>
            <a:ext cx="96520" cy="90170"/>
          </a:xfrm>
          <a:custGeom>
            <a:avLst/>
            <a:gdLst/>
            <a:ahLst/>
            <a:cxnLst/>
            <a:rect l="0" t="0" r="r" b="b"/>
            <a:pathLst>
              <a:path w="96520" h="90170">
                <a:moveTo>
                  <a:pt x="0" y="0"/>
                </a:moveTo>
                <a:lnTo>
                  <a:pt x="34290" y="0"/>
                </a:lnTo>
                <a:cubicBezTo>
                  <a:pt x="41910" y="0"/>
                  <a:pt x="48260" y="6350"/>
                  <a:pt x="48260" y="13970"/>
                </a:cubicBezTo>
                <a:lnTo>
                  <a:pt x="48260" y="90170"/>
                </a:lnTo>
                <a:cubicBezTo>
                  <a:pt x="48260" y="83820"/>
                  <a:pt x="42545" y="78740"/>
                  <a:pt x="35560" y="78740"/>
                </a:cubicBezTo>
                <a:lnTo>
                  <a:pt x="0" y="78740"/>
                </a:lnTo>
                <a:close/>
                <a:moveTo>
                  <a:pt x="96520" y="0"/>
                </a:moveTo>
                <a:lnTo>
                  <a:pt x="62230" y="0"/>
                </a:lnTo>
                <a:cubicBezTo>
                  <a:pt x="54610" y="0"/>
                  <a:pt x="48260" y="6350"/>
                  <a:pt x="48260" y="13970"/>
                </a:cubicBezTo>
                <a:lnTo>
                  <a:pt x="48260" y="90170"/>
                </a:lnTo>
                <a:cubicBezTo>
                  <a:pt x="48260" y="83820"/>
                  <a:pt x="53975" y="78740"/>
                  <a:pt x="60960" y="78740"/>
                </a:cubicBezTo>
                <a:lnTo>
                  <a:pt x="96520" y="78740"/>
                </a:lnTo>
                <a:close/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a1-5"/>
          <p:cNvSpPr txBox="1"/>
          <p:nvPr/>
        </p:nvSpPr>
        <p:spPr>
          <a:xfrm>
            <a:off x="4838065" y="5298361"/>
            <a:ext cx="143097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新员工平均 2 小时上手，</a:t>
            </a:r>
          </a:p>
        </p:txBody>
      </p:sp>
      <p:sp>
        <p:nvSpPr>
          <p:cNvPr id="75" name="a2-5"/>
          <p:cNvSpPr txBox="1"/>
          <p:nvPr/>
        </p:nvSpPr>
        <p:spPr>
          <a:xfrm>
            <a:off x="4838065" y="5514261"/>
            <a:ext cx="157765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配套录播课与每周直播答疑。</a:t>
            </a:r>
          </a:p>
        </p:txBody>
      </p:sp>
      <p:sp>
        <p:nvSpPr>
          <p:cNvPr id="76" name="qa-6"/>
          <p:cNvSpPr/>
          <p:nvPr/>
        </p:nvSpPr>
        <p:spPr>
          <a:xfrm>
            <a:off x="7778750" y="4445000"/>
            <a:ext cx="3460750" cy="1447800"/>
          </a:xfrm>
          <a:custGeom>
            <a:avLst/>
            <a:gdLst/>
            <a:ahLst/>
            <a:cxnLst/>
            <a:rect l="0" t="0" r="r" b="b"/>
            <a:pathLst>
              <a:path w="3460750" h="1447800">
                <a:moveTo>
                  <a:pt x="139700" y="0"/>
                </a:moveTo>
                <a:lnTo>
                  <a:pt x="3321050" y="0"/>
                </a:lnTo>
                <a:cubicBezTo>
                  <a:pt x="3398203" y="0"/>
                  <a:pt x="3460750" y="62548"/>
                  <a:pt x="3460750" y="139700"/>
                </a:cubicBezTo>
                <a:lnTo>
                  <a:pt x="3460750" y="1308100"/>
                </a:lnTo>
                <a:cubicBezTo>
                  <a:pt x="3460750" y="1385252"/>
                  <a:pt x="3398203" y="1447800"/>
                  <a:pt x="3321050" y="1447800"/>
                </a:cubicBezTo>
                <a:lnTo>
                  <a:pt x="139700" y="1447800"/>
                </a:lnTo>
                <a:cubicBezTo>
                  <a:pt x="62547" y="1447800"/>
                  <a:pt x="0" y="1385252"/>
                  <a:pt x="0" y="13081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qn-6"/>
          <p:cNvSpPr txBox="1"/>
          <p:nvPr/>
        </p:nvSpPr>
        <p:spPr>
          <a:xfrm>
            <a:off x="10276840" y="4476496"/>
            <a:ext cx="820928" cy="7112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3200" b="1">
                <a:solidFill>
                  <a:srgbClr val="3985CD">
                    <a:alpha val="8000"/>
                  </a:srgbClr>
                </a:solidFill>
                <a:latin typeface="Arial"/>
                <a:ea typeface="Arial"/>
                <a:cs typeface="Arial"/>
              </a:rPr>
              <a:t>06</a:t>
            </a:r>
          </a:p>
        </p:txBody>
      </p:sp>
      <p:sp>
        <p:nvSpPr>
          <p:cNvPr id="78" name="qb-6"/>
          <p:cNvSpPr/>
          <p:nvPr/>
        </p:nvSpPr>
        <p:spPr>
          <a:xfrm>
            <a:off x="7969250" y="4660900"/>
            <a:ext cx="355600" cy="355600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qbt-6"/>
          <p:cNvSpPr txBox="1"/>
          <p:nvPr/>
        </p:nvSpPr>
        <p:spPr>
          <a:xfrm>
            <a:off x="8035798" y="4707636"/>
            <a:ext cx="222504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Q</a:t>
            </a:r>
          </a:p>
        </p:txBody>
      </p:sp>
      <p:sp>
        <p:nvSpPr>
          <p:cNvPr id="80" name="q-6"/>
          <p:cNvSpPr txBox="1"/>
          <p:nvPr/>
        </p:nvSpPr>
        <p:spPr>
          <a:xfrm>
            <a:off x="8421624" y="4715478"/>
            <a:ext cx="120713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1" spc="6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出了问题找谁？</a:t>
            </a:r>
          </a:p>
        </p:txBody>
      </p:sp>
      <p:cxnSp>
        <p:nvCxnSpPr>
          <p:cNvPr id="81" name="sep-6"/>
          <p:cNvCxnSpPr/>
          <p:nvPr/>
        </p:nvCxnSpPr>
        <p:spPr>
          <a:xfrm>
            <a:off x="7969250" y="5156200"/>
            <a:ext cx="3079750" cy="0"/>
          </a:xfrm>
          <a:prstGeom prst="line">
            <a:avLst/>
          </a:prstGeom>
          <a:ln w="635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icon-people"/>
          <p:cNvSpPr/>
          <p:nvPr/>
        </p:nvSpPr>
        <p:spPr>
          <a:xfrm>
            <a:off x="8093710" y="5414010"/>
            <a:ext cx="107950" cy="30480"/>
          </a:xfrm>
          <a:custGeom>
            <a:avLst/>
            <a:gdLst/>
            <a:ahLst/>
            <a:cxnLst/>
            <a:rect l="0" t="0" r="r" b="b"/>
            <a:pathLst>
              <a:path w="107950" h="30480">
                <a:moveTo>
                  <a:pt x="0" y="30480"/>
                </a:moveTo>
                <a:cubicBezTo>
                  <a:pt x="0" y="11430"/>
                  <a:pt x="15875" y="0"/>
                  <a:pt x="34290" y="0"/>
                </a:cubicBezTo>
                <a:cubicBezTo>
                  <a:pt x="52705" y="0"/>
                  <a:pt x="68580" y="11430"/>
                  <a:pt x="68580" y="30480"/>
                </a:cubicBezTo>
                <a:moveTo>
                  <a:pt x="81280" y="2540"/>
                </a:moveTo>
                <a:cubicBezTo>
                  <a:pt x="97790" y="4445"/>
                  <a:pt x="107950" y="15875"/>
                  <a:pt x="107950" y="30480"/>
                </a:cubicBezTo>
              </a:path>
            </a:pathLst>
          </a:custGeom>
          <a:noFill/>
          <a:ln w="1270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icon-people"/>
          <p:cNvSpPr/>
          <p:nvPr/>
        </p:nvSpPr>
        <p:spPr>
          <a:xfrm>
            <a:off x="8107680" y="5359400"/>
            <a:ext cx="40640" cy="40640"/>
          </a:xfrm>
          <a:prstGeom prst="ellipse">
            <a:avLst/>
          </a:prstGeom>
          <a:noFill/>
          <a:ln w="1270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icon-people"/>
          <p:cNvSpPr/>
          <p:nvPr/>
        </p:nvSpPr>
        <p:spPr>
          <a:xfrm>
            <a:off x="8162290" y="5359400"/>
            <a:ext cx="33020" cy="33020"/>
          </a:xfrm>
          <a:prstGeom prst="ellipse">
            <a:avLst/>
          </a:prstGeom>
          <a:noFill/>
          <a:ln w="1270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a1-6"/>
          <p:cNvSpPr txBox="1"/>
          <p:nvPr/>
        </p:nvSpPr>
        <p:spPr>
          <a:xfrm>
            <a:off x="8425815" y="5298361"/>
            <a:ext cx="121951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7×24 小时专属客服，</a:t>
            </a:r>
          </a:p>
        </p:txBody>
      </p:sp>
      <p:sp>
        <p:nvSpPr>
          <p:cNvPr id="86" name="a2-6"/>
          <p:cNvSpPr txBox="1"/>
          <p:nvPr/>
        </p:nvSpPr>
        <p:spPr>
          <a:xfrm>
            <a:off x="8425815" y="5514261"/>
            <a:ext cx="207994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重大故障 15 分钟响应、4 小时恢复。</a:t>
            </a:r>
          </a:p>
        </p:txBody>
      </p:sp>
      <p:cxnSp>
        <p:nvCxnSpPr>
          <p:cNvPr id="87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常见问题 · 六问六答</a:t>
            </a:r>
          </a:p>
        </p:txBody>
      </p:sp>
      <p:sp>
        <p:nvSpPr>
          <p:cNvPr id="89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halo"/>
          <p:cNvSpPr/>
          <p:nvPr/>
        </p:nvSpPr>
        <p:spPr>
          <a:xfrm>
            <a:off x="571500" y="571500"/>
            <a:ext cx="5969000" cy="5969000"/>
          </a:xfrm>
          <a:prstGeom prst="ellipse">
            <a:avLst/>
          </a:prstGeom>
          <a:solidFill>
            <a:srgbClr val="DCE7F6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halo-ring"/>
          <p:cNvSpPr/>
          <p:nvPr/>
        </p:nvSpPr>
        <p:spPr>
          <a:xfrm>
            <a:off x="1270000" y="1270000"/>
            <a:ext cx="4572000" cy="4572000"/>
          </a:xfrm>
          <a:prstGeom prst="ellipse">
            <a:avLst/>
          </a:prstGeom>
          <a:noFill/>
          <a:ln w="9525" cap="rnd">
            <a:solidFill>
              <a:srgbClr val="1B5AA8">
                <a:alpha val="12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num"/>
          <p:cNvSpPr txBox="1"/>
          <p:nvPr/>
        </p:nvSpPr>
        <p:spPr>
          <a:xfrm>
            <a:off x="708660" y="1554480"/>
            <a:ext cx="4028440" cy="35560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6000" b="1" spc="-300">
                <a:solidFill>
                  <a:srgbClr val="0B3E8F"/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7" name="num-bar"/>
          <p:cNvSpPr/>
          <p:nvPr/>
        </p:nvSpPr>
        <p:spPr>
          <a:xfrm>
            <a:off x="1016000" y="4381500"/>
            <a:ext cx="762000" cy="508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" name="en"/>
          <p:cNvSpPr txBox="1"/>
          <p:nvPr/>
        </p:nvSpPr>
        <p:spPr>
          <a:xfrm>
            <a:off x="1004570" y="4771866"/>
            <a:ext cx="143954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400">
                <a:solidFill>
                  <a:srgbClr val="7E93AE"/>
                </a:solidFill>
                <a:latin typeface="Arial"/>
                <a:ea typeface="Arial"/>
                <a:cs typeface="Arial"/>
              </a:rPr>
              <a:t>CHAPTER THREE</a:t>
            </a:r>
          </a:p>
        </p:txBody>
      </p:sp>
      <p:sp>
        <p:nvSpPr>
          <p:cNvPr id="9" name="title"/>
          <p:cNvSpPr txBox="1"/>
          <p:nvPr/>
        </p:nvSpPr>
        <p:spPr>
          <a:xfrm>
            <a:off x="4390136" y="2483358"/>
            <a:ext cx="2951480" cy="8001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600" b="1" spc="4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交付与质量</a:t>
            </a:r>
          </a:p>
        </p:txBody>
      </p:sp>
      <p:sp>
        <p:nvSpPr>
          <p:cNvPr id="10" name="title-en"/>
          <p:cNvSpPr txBox="1"/>
          <p:nvPr/>
        </p:nvSpPr>
        <p:spPr>
          <a:xfrm>
            <a:off x="4458208" y="3303524"/>
            <a:ext cx="180136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 spc="300">
                <a:solidFill>
                  <a:srgbClr val="1B5AA8"/>
                </a:solidFill>
                <a:latin typeface="Arial"/>
                <a:ea typeface="Arial"/>
                <a:cs typeface="Arial"/>
              </a:rPr>
              <a:t>DELIVERY &amp; QUALITY</a:t>
            </a:r>
          </a:p>
        </p:txBody>
      </p:sp>
      <p:sp>
        <p:nvSpPr>
          <p:cNvPr id="11" name="desc-1"/>
          <p:cNvSpPr txBox="1"/>
          <p:nvPr/>
        </p:nvSpPr>
        <p:spPr>
          <a:xfrm>
            <a:off x="4452874" y="3693128"/>
            <a:ext cx="2745867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0" spc="4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一年里我们把准时率提高了 12 个点，</a:t>
            </a:r>
          </a:p>
        </p:txBody>
      </p:sp>
      <p:sp>
        <p:nvSpPr>
          <p:cNvPr id="12" name="desc-2"/>
          <p:cNvSpPr txBox="1"/>
          <p:nvPr/>
        </p:nvSpPr>
        <p:spPr>
          <a:xfrm>
            <a:off x="4452874" y="3947128"/>
            <a:ext cx="3154045" cy="255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50" b="0" spc="4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这一章讲清楚是怎么做到的，以及还差什么。</a:t>
            </a:r>
          </a:p>
        </p:txBody>
      </p:sp>
      <p:sp>
        <p:nvSpPr>
          <p:cNvPr id="13" name="pt-1"/>
          <p:cNvSpPr/>
          <p:nvPr/>
        </p:nvSpPr>
        <p:spPr>
          <a:xfrm>
            <a:off x="4470400" y="4508500"/>
            <a:ext cx="1460500" cy="698500"/>
          </a:xfrm>
          <a:custGeom>
            <a:avLst/>
            <a:gdLst/>
            <a:ahLst/>
            <a:cxnLst/>
            <a:rect l="0" t="0" r="r" b="b"/>
            <a:pathLst>
              <a:path w="1460500" h="698500">
                <a:moveTo>
                  <a:pt x="114300" y="0"/>
                </a:moveTo>
                <a:lnTo>
                  <a:pt x="1346200" y="0"/>
                </a:lnTo>
                <a:cubicBezTo>
                  <a:pt x="1409319" y="0"/>
                  <a:pt x="1460500" y="51181"/>
                  <a:pt x="1460500" y="114300"/>
                </a:cubicBezTo>
                <a:lnTo>
                  <a:pt x="1460500" y="584200"/>
                </a:lnTo>
                <a:cubicBezTo>
                  <a:pt x="1460500" y="647319"/>
                  <a:pt x="1409319" y="698500"/>
                  <a:pt x="1346200" y="698500"/>
                </a:cubicBezTo>
                <a:lnTo>
                  <a:pt x="114300" y="698500"/>
                </a:lnTo>
                <a:cubicBezTo>
                  <a:pt x="51181" y="698500"/>
                  <a:pt x="0" y="647319"/>
                  <a:pt x="0" y="5842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ptb-1"/>
          <p:cNvSpPr/>
          <p:nvPr/>
        </p:nvSpPr>
        <p:spPr>
          <a:xfrm>
            <a:off x="4470400" y="4508500"/>
            <a:ext cx="1460500" cy="38100"/>
          </a:xfrm>
          <a:custGeom>
            <a:avLst/>
            <a:gdLst/>
            <a:ahLst/>
            <a:cxnLst/>
            <a:rect l="0" t="0" r="r" b="b"/>
            <a:pathLst>
              <a:path w="1460500" h="38100">
                <a:moveTo>
                  <a:pt x="19050" y="0"/>
                </a:moveTo>
                <a:lnTo>
                  <a:pt x="1441450" y="0"/>
                </a:lnTo>
                <a:cubicBezTo>
                  <a:pt x="1451991" y="0"/>
                  <a:pt x="1460500" y="8509"/>
                  <a:pt x="1460500" y="19050"/>
                </a:cubicBezTo>
                <a:lnTo>
                  <a:pt x="1460500" y="19050"/>
                </a:lnTo>
                <a:cubicBezTo>
                  <a:pt x="1460500" y="29591"/>
                  <a:pt x="1451991" y="38100"/>
                  <a:pt x="14414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pth-1"/>
          <p:cNvSpPr txBox="1"/>
          <p:nvPr/>
        </p:nvSpPr>
        <p:spPr>
          <a:xfrm>
            <a:off x="4610608" y="4675124"/>
            <a:ext cx="63119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准时交付率</a:t>
            </a:r>
          </a:p>
        </p:txBody>
      </p:sp>
      <p:sp>
        <p:nvSpPr>
          <p:cNvPr id="16" name="ptv-1"/>
          <p:cNvSpPr txBox="1"/>
          <p:nvPr/>
        </p:nvSpPr>
        <p:spPr>
          <a:xfrm>
            <a:off x="4606798" y="4889913"/>
            <a:ext cx="1093724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从 82% 到 94%</a:t>
            </a:r>
          </a:p>
        </p:txBody>
      </p:sp>
      <p:sp>
        <p:nvSpPr>
          <p:cNvPr id="17" name="pt-2"/>
          <p:cNvSpPr/>
          <p:nvPr/>
        </p:nvSpPr>
        <p:spPr>
          <a:xfrm>
            <a:off x="6057900" y="4508500"/>
            <a:ext cx="1460500" cy="698500"/>
          </a:xfrm>
          <a:custGeom>
            <a:avLst/>
            <a:gdLst/>
            <a:ahLst/>
            <a:cxnLst/>
            <a:rect l="0" t="0" r="r" b="b"/>
            <a:pathLst>
              <a:path w="1460500" h="698500">
                <a:moveTo>
                  <a:pt x="114300" y="0"/>
                </a:moveTo>
                <a:lnTo>
                  <a:pt x="1346200" y="0"/>
                </a:lnTo>
                <a:cubicBezTo>
                  <a:pt x="1409319" y="0"/>
                  <a:pt x="1460500" y="51181"/>
                  <a:pt x="1460500" y="114300"/>
                </a:cubicBezTo>
                <a:lnTo>
                  <a:pt x="1460500" y="584200"/>
                </a:lnTo>
                <a:cubicBezTo>
                  <a:pt x="1460500" y="647319"/>
                  <a:pt x="1409319" y="698500"/>
                  <a:pt x="1346200" y="698500"/>
                </a:cubicBezTo>
                <a:lnTo>
                  <a:pt x="114300" y="698500"/>
                </a:lnTo>
                <a:cubicBezTo>
                  <a:pt x="51181" y="698500"/>
                  <a:pt x="0" y="647319"/>
                  <a:pt x="0" y="5842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ptb-2"/>
          <p:cNvSpPr/>
          <p:nvPr/>
        </p:nvSpPr>
        <p:spPr>
          <a:xfrm>
            <a:off x="6057900" y="4508500"/>
            <a:ext cx="1460500" cy="38100"/>
          </a:xfrm>
          <a:custGeom>
            <a:avLst/>
            <a:gdLst/>
            <a:ahLst/>
            <a:cxnLst/>
            <a:rect l="0" t="0" r="r" b="b"/>
            <a:pathLst>
              <a:path w="1460500" h="38100">
                <a:moveTo>
                  <a:pt x="19050" y="0"/>
                </a:moveTo>
                <a:lnTo>
                  <a:pt x="1441450" y="0"/>
                </a:lnTo>
                <a:cubicBezTo>
                  <a:pt x="1451991" y="0"/>
                  <a:pt x="1460500" y="8509"/>
                  <a:pt x="1460500" y="19050"/>
                </a:cubicBezTo>
                <a:lnTo>
                  <a:pt x="1460500" y="19050"/>
                </a:lnTo>
                <a:cubicBezTo>
                  <a:pt x="1460500" y="29591"/>
                  <a:pt x="1451991" y="38100"/>
                  <a:pt x="14414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pth-2"/>
          <p:cNvSpPr txBox="1"/>
          <p:nvPr/>
        </p:nvSpPr>
        <p:spPr>
          <a:xfrm>
            <a:off x="6198108" y="4675124"/>
            <a:ext cx="5232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客户投诉</a:t>
            </a:r>
          </a:p>
        </p:txBody>
      </p:sp>
      <p:sp>
        <p:nvSpPr>
          <p:cNvPr id="20" name="ptv-2"/>
          <p:cNvSpPr txBox="1"/>
          <p:nvPr/>
        </p:nvSpPr>
        <p:spPr>
          <a:xfrm>
            <a:off x="6194298" y="4889913"/>
            <a:ext cx="977519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同比下降 37%</a:t>
            </a:r>
          </a:p>
        </p:txBody>
      </p:sp>
      <p:sp>
        <p:nvSpPr>
          <p:cNvPr id="21" name="pt-3"/>
          <p:cNvSpPr/>
          <p:nvPr/>
        </p:nvSpPr>
        <p:spPr>
          <a:xfrm>
            <a:off x="7645400" y="4508500"/>
            <a:ext cx="1460500" cy="698500"/>
          </a:xfrm>
          <a:custGeom>
            <a:avLst/>
            <a:gdLst/>
            <a:ahLst/>
            <a:cxnLst/>
            <a:rect l="0" t="0" r="r" b="b"/>
            <a:pathLst>
              <a:path w="1460500" h="698500">
                <a:moveTo>
                  <a:pt x="114300" y="0"/>
                </a:moveTo>
                <a:lnTo>
                  <a:pt x="1346200" y="0"/>
                </a:lnTo>
                <a:cubicBezTo>
                  <a:pt x="1409319" y="0"/>
                  <a:pt x="1460500" y="51181"/>
                  <a:pt x="1460500" y="114300"/>
                </a:cubicBezTo>
                <a:lnTo>
                  <a:pt x="1460500" y="584200"/>
                </a:lnTo>
                <a:cubicBezTo>
                  <a:pt x="1460500" y="647319"/>
                  <a:pt x="1409319" y="698500"/>
                  <a:pt x="1346200" y="698500"/>
                </a:cubicBezTo>
                <a:lnTo>
                  <a:pt x="114300" y="698500"/>
                </a:lnTo>
                <a:cubicBezTo>
                  <a:pt x="51181" y="698500"/>
                  <a:pt x="0" y="647319"/>
                  <a:pt x="0" y="5842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ptb-3"/>
          <p:cNvSpPr/>
          <p:nvPr/>
        </p:nvSpPr>
        <p:spPr>
          <a:xfrm>
            <a:off x="7645400" y="4508500"/>
            <a:ext cx="1460500" cy="38100"/>
          </a:xfrm>
          <a:custGeom>
            <a:avLst/>
            <a:gdLst/>
            <a:ahLst/>
            <a:cxnLst/>
            <a:rect l="0" t="0" r="r" b="b"/>
            <a:pathLst>
              <a:path w="1460500" h="38100">
                <a:moveTo>
                  <a:pt x="19050" y="0"/>
                </a:moveTo>
                <a:lnTo>
                  <a:pt x="1441450" y="0"/>
                </a:lnTo>
                <a:cubicBezTo>
                  <a:pt x="1451991" y="0"/>
                  <a:pt x="1460500" y="8509"/>
                  <a:pt x="1460500" y="19050"/>
                </a:cubicBezTo>
                <a:lnTo>
                  <a:pt x="1460500" y="19050"/>
                </a:lnTo>
                <a:cubicBezTo>
                  <a:pt x="1460500" y="29591"/>
                  <a:pt x="1451991" y="38100"/>
                  <a:pt x="1441450" y="38100"/>
                </a:cubicBezTo>
                <a:lnTo>
                  <a:pt x="19050" y="38100"/>
                </a:lnTo>
                <a:cubicBezTo>
                  <a:pt x="8509" y="38100"/>
                  <a:pt x="0" y="29591"/>
                  <a:pt x="0" y="19050"/>
                </a:cubicBezTo>
                <a:lnTo>
                  <a:pt x="0" y="19050"/>
                </a:lnTo>
                <a:cubicBezTo>
                  <a:pt x="0" y="8509"/>
                  <a:pt x="8509" y="0"/>
                  <a:pt x="19050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pth-3"/>
          <p:cNvSpPr txBox="1"/>
          <p:nvPr/>
        </p:nvSpPr>
        <p:spPr>
          <a:xfrm>
            <a:off x="7785608" y="4675124"/>
            <a:ext cx="5232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质量成本</a:t>
            </a:r>
          </a:p>
        </p:txBody>
      </p:sp>
      <p:sp>
        <p:nvSpPr>
          <p:cNvPr id="24" name="ptv-3"/>
          <p:cNvSpPr txBox="1"/>
          <p:nvPr/>
        </p:nvSpPr>
        <p:spPr>
          <a:xfrm>
            <a:off x="7781798" y="4889913"/>
            <a:ext cx="1074547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节省 1,260 万</a:t>
            </a:r>
          </a:p>
        </p:txBody>
      </p:sp>
      <p:cxnSp>
        <p:nvCxnSpPr>
          <p:cNvPr id="25" name="nav-line"/>
          <p:cNvCxnSpPr/>
          <p:nvPr/>
        </p:nvCxnSpPr>
        <p:spPr>
          <a:xfrm>
            <a:off x="9906000" y="1587500"/>
            <a:ext cx="0" cy="3492500"/>
          </a:xfrm>
          <a:prstGeom prst="line">
            <a:avLst/>
          </a:prstGeom>
          <a:ln w="1270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nav-done"/>
          <p:cNvCxnSpPr/>
          <p:nvPr/>
        </p:nvCxnSpPr>
        <p:spPr>
          <a:xfrm>
            <a:off x="9906000" y="1587500"/>
            <a:ext cx="0" cy="1397000"/>
          </a:xfrm>
          <a:prstGeom prst="line">
            <a:avLst/>
          </a:prstGeom>
          <a:ln w="19050" cap="rnd">
            <a:solidFill>
              <a:srgbClr val="0B3E8F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nav-1"/>
          <p:cNvSpPr/>
          <p:nvPr/>
        </p:nvSpPr>
        <p:spPr>
          <a:xfrm>
            <a:off x="9842500" y="1524000"/>
            <a:ext cx="127000" cy="127000"/>
          </a:xfrm>
          <a:prstGeom prst="ellipse">
            <a:avLst/>
          </a:prstGeom>
          <a:solidFill>
            <a:srgbClr val="0B3E8F"/>
          </a:solidFill>
          <a:ln w="152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navt-1"/>
          <p:cNvSpPr txBox="1"/>
          <p:nvPr/>
        </p:nvSpPr>
        <p:spPr>
          <a:xfrm>
            <a:off x="10171684" y="1490790"/>
            <a:ext cx="6108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经营总览</a:t>
            </a:r>
          </a:p>
        </p:txBody>
      </p:sp>
      <p:sp>
        <p:nvSpPr>
          <p:cNvPr id="29" name="navno-1"/>
          <p:cNvSpPr txBox="1"/>
          <p:nvPr/>
        </p:nvSpPr>
        <p:spPr>
          <a:xfrm>
            <a:off x="9546590" y="151580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30" name="nav-2"/>
          <p:cNvSpPr/>
          <p:nvPr/>
        </p:nvSpPr>
        <p:spPr>
          <a:xfrm>
            <a:off x="9842500" y="2222500"/>
            <a:ext cx="127000" cy="127000"/>
          </a:xfrm>
          <a:prstGeom prst="ellipse">
            <a:avLst/>
          </a:prstGeom>
          <a:solidFill>
            <a:srgbClr val="0B3E8F"/>
          </a:solidFill>
          <a:ln w="152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navt-2"/>
          <p:cNvSpPr txBox="1"/>
          <p:nvPr/>
        </p:nvSpPr>
        <p:spPr>
          <a:xfrm>
            <a:off x="10171684" y="2189290"/>
            <a:ext cx="6108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业务回顾</a:t>
            </a:r>
          </a:p>
        </p:txBody>
      </p:sp>
      <p:sp>
        <p:nvSpPr>
          <p:cNvPr id="32" name="navno-2"/>
          <p:cNvSpPr txBox="1"/>
          <p:nvPr/>
        </p:nvSpPr>
        <p:spPr>
          <a:xfrm>
            <a:off x="9546590" y="221430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33" name="nav-3"/>
          <p:cNvSpPr/>
          <p:nvPr/>
        </p:nvSpPr>
        <p:spPr>
          <a:xfrm>
            <a:off x="9753600" y="2832100"/>
            <a:ext cx="304800" cy="304800"/>
          </a:xfrm>
          <a:prstGeom prst="ellipse">
            <a:avLst/>
          </a:prstGeom>
          <a:solidFill>
            <a:srgbClr val="E0703A"/>
          </a:solidFill>
          <a:ln w="25400" cap="rnd">
            <a:solidFill>
              <a:srgbClr val="FFFFFF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navn-3"/>
          <p:cNvSpPr txBox="1"/>
          <p:nvPr/>
        </p:nvSpPr>
        <p:spPr>
          <a:xfrm>
            <a:off x="9816211" y="291280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35" name="navt-3"/>
          <p:cNvSpPr txBox="1"/>
          <p:nvPr/>
        </p:nvSpPr>
        <p:spPr>
          <a:xfrm>
            <a:off x="10169398" y="2864263"/>
            <a:ext cx="85026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交付与质量</a:t>
            </a:r>
          </a:p>
        </p:txBody>
      </p:sp>
      <p:sp>
        <p:nvSpPr>
          <p:cNvPr id="36" name="nav-4"/>
          <p:cNvSpPr/>
          <p:nvPr/>
        </p:nvSpPr>
        <p:spPr>
          <a:xfrm>
            <a:off x="9842500" y="3619500"/>
            <a:ext cx="127000" cy="1270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0B2545">
                <a:alpha val="2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navt-4"/>
          <p:cNvSpPr txBox="1"/>
          <p:nvPr/>
        </p:nvSpPr>
        <p:spPr>
          <a:xfrm>
            <a:off x="10171684" y="3586290"/>
            <a:ext cx="7378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客户与市场</a:t>
            </a:r>
          </a:p>
        </p:txBody>
      </p:sp>
      <p:sp>
        <p:nvSpPr>
          <p:cNvPr id="38" name="navno-4"/>
          <p:cNvSpPr txBox="1"/>
          <p:nvPr/>
        </p:nvSpPr>
        <p:spPr>
          <a:xfrm>
            <a:off x="9546590" y="361130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39" name="nav-5"/>
          <p:cNvSpPr/>
          <p:nvPr/>
        </p:nvSpPr>
        <p:spPr>
          <a:xfrm>
            <a:off x="9842500" y="4318000"/>
            <a:ext cx="127000" cy="1270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0B2545">
                <a:alpha val="2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navt-5"/>
          <p:cNvSpPr txBox="1"/>
          <p:nvPr/>
        </p:nvSpPr>
        <p:spPr>
          <a:xfrm>
            <a:off x="10171684" y="4284790"/>
            <a:ext cx="6108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明年规划</a:t>
            </a:r>
          </a:p>
        </p:txBody>
      </p:sp>
      <p:sp>
        <p:nvSpPr>
          <p:cNvPr id="41" name="navno-5"/>
          <p:cNvSpPr txBox="1"/>
          <p:nvPr/>
        </p:nvSpPr>
        <p:spPr>
          <a:xfrm>
            <a:off x="9546590" y="430980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42" name="nav-6"/>
          <p:cNvSpPr/>
          <p:nvPr/>
        </p:nvSpPr>
        <p:spPr>
          <a:xfrm>
            <a:off x="9842500" y="5016500"/>
            <a:ext cx="127000" cy="127000"/>
          </a:xfrm>
          <a:prstGeom prst="ellipse">
            <a:avLst/>
          </a:prstGeom>
          <a:solidFill>
            <a:srgbClr val="FFFFFF"/>
          </a:solidFill>
          <a:ln w="15240" cap="rnd">
            <a:solidFill>
              <a:srgbClr val="0B2545">
                <a:alpha val="2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navt-6"/>
          <p:cNvSpPr txBox="1"/>
          <p:nvPr/>
        </p:nvSpPr>
        <p:spPr>
          <a:xfrm>
            <a:off x="10171684" y="4983290"/>
            <a:ext cx="6108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决议事项</a:t>
            </a:r>
          </a:p>
        </p:txBody>
      </p:sp>
      <p:sp>
        <p:nvSpPr>
          <p:cNvPr id="44" name="navno-6"/>
          <p:cNvSpPr txBox="1"/>
          <p:nvPr/>
        </p:nvSpPr>
        <p:spPr>
          <a:xfrm>
            <a:off x="9546590" y="5008308"/>
            <a:ext cx="17957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1">
                <a:solidFill>
                  <a:srgbClr val="7E93AE"/>
                </a:solidFill>
                <a:latin typeface="Arial"/>
                <a:ea typeface="Arial"/>
                <a:cs typeface="Arial"/>
              </a:rPr>
              <a:t>06</a:t>
            </a:r>
          </a:p>
        </p:txBody>
      </p:sp>
      <p:cxnSp>
        <p:nvCxnSpPr>
          <p:cNvPr id="45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foot-l"/>
          <p:cNvSpPr txBox="1"/>
          <p:nvPr/>
        </p:nvSpPr>
        <p:spPr>
          <a:xfrm>
            <a:off x="573532" y="6532308"/>
            <a:ext cx="9469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章节过渡 · 第三章</a:t>
            </a:r>
          </a:p>
        </p:txBody>
      </p:sp>
      <p:sp>
        <p:nvSpPr>
          <p:cNvPr id="47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服务过的客户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081659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CLIENT WALL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150987" y="673132"/>
            <a:ext cx="346976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1,326 家客户分布在四个核心行业，以下为各行业代表（已脱敏）</a:t>
            </a:r>
          </a:p>
        </p:txBody>
      </p:sp>
      <p:sp>
        <p:nvSpPr>
          <p:cNvPr id="10" name="hd-1"/>
          <p:cNvSpPr/>
          <p:nvPr/>
        </p:nvSpPr>
        <p:spPr>
          <a:xfrm>
            <a:off x="952500" y="1358900"/>
            <a:ext cx="2476500" cy="762000"/>
          </a:xfrm>
          <a:custGeom>
            <a:avLst/>
            <a:gdLst/>
            <a:ahLst/>
            <a:cxnLst/>
            <a:rect l="0" t="0" r="r" b="b"/>
            <a:pathLst>
              <a:path w="2476500" h="762000">
                <a:moveTo>
                  <a:pt x="139700" y="0"/>
                </a:moveTo>
                <a:lnTo>
                  <a:pt x="2336800" y="0"/>
                </a:lnTo>
                <a:cubicBezTo>
                  <a:pt x="2413952" y="0"/>
                  <a:pt x="2476500" y="62547"/>
                  <a:pt x="2476500" y="139700"/>
                </a:cubicBezTo>
                <a:lnTo>
                  <a:pt x="2476500" y="622300"/>
                </a:lnTo>
                <a:cubicBezTo>
                  <a:pt x="2476500" y="699452"/>
                  <a:pt x="2413952" y="762000"/>
                  <a:pt x="2336800" y="762000"/>
                </a:cubicBezTo>
                <a:lnTo>
                  <a:pt x="139700" y="762000"/>
                </a:lnTo>
                <a:cubicBezTo>
                  <a:pt x="62547" y="762000"/>
                  <a:pt x="0" y="699452"/>
                  <a:pt x="0" y="622300"/>
                </a:cubicBezTo>
                <a:lnTo>
                  <a:pt x="0" y="139700"/>
                </a:lnTo>
                <a:cubicBezTo>
                  <a:pt x="0" y="62547"/>
                  <a:pt x="62547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hdi-1"/>
          <p:cNvSpPr/>
          <p:nvPr/>
        </p:nvSpPr>
        <p:spPr>
          <a:xfrm>
            <a:off x="1117600" y="1549400"/>
            <a:ext cx="381000" cy="381000"/>
          </a:xfrm>
          <a:prstGeom prst="ellipse">
            <a:avLst/>
          </a:prstGeom>
          <a:solidFill>
            <a:srgbClr val="FFFFF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icon-coin"/>
          <p:cNvSpPr/>
          <p:nvPr/>
        </p:nvSpPr>
        <p:spPr>
          <a:xfrm>
            <a:off x="1257300" y="1695450"/>
            <a:ext cx="101600" cy="88900"/>
          </a:xfrm>
          <a:custGeom>
            <a:avLst/>
            <a:gdLst/>
            <a:ahLst/>
            <a:cxnLst/>
            <a:rect l="0" t="0" r="r" b="b"/>
            <a:pathLst>
              <a:path w="101600" h="88900">
                <a:moveTo>
                  <a:pt x="50800" y="0"/>
                </a:moveTo>
                <a:cubicBezTo>
                  <a:pt x="22225" y="0"/>
                  <a:pt x="0" y="7938"/>
                  <a:pt x="0" y="19050"/>
                </a:cubicBezTo>
                <a:cubicBezTo>
                  <a:pt x="0" y="30162"/>
                  <a:pt x="22225" y="38100"/>
                  <a:pt x="50800" y="38100"/>
                </a:cubicBezTo>
                <a:cubicBezTo>
                  <a:pt x="79375" y="38100"/>
                  <a:pt x="101600" y="30162"/>
                  <a:pt x="101600" y="19050"/>
                </a:cubicBezTo>
                <a:cubicBezTo>
                  <a:pt x="101600" y="7938"/>
                  <a:pt x="79375" y="0"/>
                  <a:pt x="50800" y="0"/>
                </a:cubicBezTo>
                <a:close/>
                <a:moveTo>
                  <a:pt x="0" y="19050"/>
                </a:moveTo>
                <a:lnTo>
                  <a:pt x="0" y="69850"/>
                </a:lnTo>
                <a:cubicBezTo>
                  <a:pt x="0" y="80962"/>
                  <a:pt x="22225" y="88900"/>
                  <a:pt x="50800" y="88900"/>
                </a:cubicBezTo>
                <a:cubicBezTo>
                  <a:pt x="79375" y="88900"/>
                  <a:pt x="101600" y="80962"/>
                  <a:pt x="101600" y="69850"/>
                </a:cubicBezTo>
                <a:lnTo>
                  <a:pt x="101600" y="19050"/>
                </a:lnTo>
              </a:path>
            </a:pathLst>
          </a:custGeom>
          <a:noFill/>
          <a:ln w="1333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hdn-1"/>
          <p:cNvSpPr txBox="1"/>
          <p:nvPr/>
        </p:nvSpPr>
        <p:spPr>
          <a:xfrm>
            <a:off x="1581150" y="14930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金融</a:t>
            </a:r>
          </a:p>
        </p:txBody>
      </p:sp>
      <p:sp>
        <p:nvSpPr>
          <p:cNvPr id="14" name="hde-1"/>
          <p:cNvSpPr txBox="1"/>
          <p:nvPr/>
        </p:nvSpPr>
        <p:spPr>
          <a:xfrm>
            <a:off x="1589532" y="1795208"/>
            <a:ext cx="6306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CFE0F4"/>
                </a:solidFill>
                <a:latin typeface="Arial"/>
                <a:ea typeface="Arial"/>
                <a:cs typeface="Arial"/>
              </a:rPr>
              <a:t>INDUSTRY</a:t>
            </a:r>
          </a:p>
        </p:txBody>
      </p:sp>
      <p:sp>
        <p:nvSpPr>
          <p:cNvPr id="15" name="hdc-1"/>
          <p:cNvSpPr txBox="1"/>
          <p:nvPr/>
        </p:nvSpPr>
        <p:spPr>
          <a:xfrm>
            <a:off x="2626360" y="1527810"/>
            <a:ext cx="65532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0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312</a:t>
            </a:r>
          </a:p>
        </p:txBody>
      </p:sp>
      <p:sp>
        <p:nvSpPr>
          <p:cNvPr id="16" name="hdcl-1"/>
          <p:cNvSpPr txBox="1"/>
          <p:nvPr/>
        </p:nvSpPr>
        <p:spPr>
          <a:xfrm>
            <a:off x="2896108" y="1896808"/>
            <a:ext cx="3657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5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家客户</a:t>
            </a:r>
          </a:p>
        </p:txBody>
      </p:sp>
      <p:sp>
        <p:nvSpPr>
          <p:cNvPr id="17" name="c-1-1"/>
          <p:cNvSpPr/>
          <p:nvPr/>
        </p:nvSpPr>
        <p:spPr>
          <a:xfrm>
            <a:off x="952500" y="2247900"/>
            <a:ext cx="2476500" cy="482600"/>
          </a:xfrm>
          <a:custGeom>
            <a:avLst/>
            <a:gdLst/>
            <a:ahLst/>
            <a:cxnLst/>
            <a:rect l="0" t="0" r="r" b="b"/>
            <a:pathLst>
              <a:path w="2476500" h="482600">
                <a:moveTo>
                  <a:pt x="101600" y="0"/>
                </a:moveTo>
                <a:lnTo>
                  <a:pt x="2374900" y="0"/>
                </a:lnTo>
                <a:cubicBezTo>
                  <a:pt x="2431034" y="0"/>
                  <a:pt x="2476500" y="45466"/>
                  <a:pt x="2476500" y="101600"/>
                </a:cubicBezTo>
                <a:lnTo>
                  <a:pt x="2476500" y="381000"/>
                </a:lnTo>
                <a:cubicBezTo>
                  <a:pt x="2476500" y="437134"/>
                  <a:pt x="2431034" y="482600"/>
                  <a:pt x="23749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cm-1-1"/>
          <p:cNvSpPr/>
          <p:nvPr/>
        </p:nvSpPr>
        <p:spPr>
          <a:xfrm>
            <a:off x="1079500" y="2349500"/>
            <a:ext cx="279400" cy="279400"/>
          </a:xfrm>
          <a:prstGeom prst="ellipse">
            <a:avLst/>
          </a:pr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cmt-1-1"/>
          <p:cNvSpPr txBox="1"/>
          <p:nvPr/>
        </p:nvSpPr>
        <p:spPr>
          <a:xfrm>
            <a:off x="1104582" y="2384647"/>
            <a:ext cx="2292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股</a:t>
            </a:r>
          </a:p>
        </p:txBody>
      </p:sp>
      <p:sp>
        <p:nvSpPr>
          <p:cNvPr id="20" name="cn-1-1"/>
          <p:cNvSpPr txBox="1"/>
          <p:nvPr/>
        </p:nvSpPr>
        <p:spPr>
          <a:xfrm>
            <a:off x="1434084" y="2322640"/>
            <a:ext cx="84683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股份制银行 A</a:t>
            </a:r>
          </a:p>
        </p:txBody>
      </p:sp>
      <p:sp>
        <p:nvSpPr>
          <p:cNvPr id="21" name="cd-1-1"/>
          <p:cNvSpPr txBox="1"/>
          <p:nvPr/>
        </p:nvSpPr>
        <p:spPr>
          <a:xfrm>
            <a:off x="1436751" y="2515187"/>
            <a:ext cx="64674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核心系统升级</a:t>
            </a:r>
          </a:p>
        </p:txBody>
      </p:sp>
      <p:sp>
        <p:nvSpPr>
          <p:cNvPr id="22" name="cy-1-1"/>
          <p:cNvSpPr/>
          <p:nvPr/>
        </p:nvSpPr>
        <p:spPr>
          <a:xfrm>
            <a:off x="2730500" y="2400300"/>
            <a:ext cx="546100" cy="177800"/>
          </a:xfrm>
          <a:custGeom>
            <a:avLst/>
            <a:gdLst/>
            <a:ahLst/>
            <a:cxnLst/>
            <a:rect l="0" t="0" r="r" b="b"/>
            <a:pathLst>
              <a:path w="546100" h="177800">
                <a:moveTo>
                  <a:pt x="88900" y="0"/>
                </a:moveTo>
                <a:lnTo>
                  <a:pt x="457200" y="0"/>
                </a:lnTo>
                <a:cubicBezTo>
                  <a:pt x="506286" y="0"/>
                  <a:pt x="546100" y="39814"/>
                  <a:pt x="546100" y="88900"/>
                </a:cubicBezTo>
                <a:lnTo>
                  <a:pt x="546100" y="88900"/>
                </a:lnTo>
                <a:cubicBezTo>
                  <a:pt x="546100" y="137986"/>
                  <a:pt x="506286" y="177800"/>
                  <a:pt x="4572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DCE7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cyt-1-1"/>
          <p:cNvSpPr txBox="1"/>
          <p:nvPr/>
        </p:nvSpPr>
        <p:spPr>
          <a:xfrm>
            <a:off x="2755519" y="2411158"/>
            <a:ext cx="4960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合作 3 年</a:t>
            </a:r>
          </a:p>
        </p:txBody>
      </p:sp>
      <p:sp>
        <p:nvSpPr>
          <p:cNvPr id="24" name="c-1-2"/>
          <p:cNvSpPr/>
          <p:nvPr/>
        </p:nvSpPr>
        <p:spPr>
          <a:xfrm>
            <a:off x="952500" y="2806700"/>
            <a:ext cx="2476500" cy="482600"/>
          </a:xfrm>
          <a:custGeom>
            <a:avLst/>
            <a:gdLst/>
            <a:ahLst/>
            <a:cxnLst/>
            <a:rect l="0" t="0" r="r" b="b"/>
            <a:pathLst>
              <a:path w="2476500" h="482600">
                <a:moveTo>
                  <a:pt x="101600" y="0"/>
                </a:moveTo>
                <a:lnTo>
                  <a:pt x="2374900" y="0"/>
                </a:lnTo>
                <a:cubicBezTo>
                  <a:pt x="2431034" y="0"/>
                  <a:pt x="2476500" y="45466"/>
                  <a:pt x="2476500" y="101600"/>
                </a:cubicBezTo>
                <a:lnTo>
                  <a:pt x="2476500" y="381000"/>
                </a:lnTo>
                <a:cubicBezTo>
                  <a:pt x="2476500" y="437134"/>
                  <a:pt x="2431034" y="482600"/>
                  <a:pt x="23749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cm-1-2"/>
          <p:cNvSpPr/>
          <p:nvPr/>
        </p:nvSpPr>
        <p:spPr>
          <a:xfrm>
            <a:off x="1079500" y="2908300"/>
            <a:ext cx="279400" cy="279400"/>
          </a:xfrm>
          <a:prstGeom prst="ellipse">
            <a:avLst/>
          </a:pr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cmt-1-2"/>
          <p:cNvSpPr txBox="1"/>
          <p:nvPr/>
        </p:nvSpPr>
        <p:spPr>
          <a:xfrm>
            <a:off x="1104582" y="2943447"/>
            <a:ext cx="2292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城</a:t>
            </a:r>
          </a:p>
        </p:txBody>
      </p:sp>
      <p:sp>
        <p:nvSpPr>
          <p:cNvPr id="27" name="cn-1-2"/>
          <p:cNvSpPr txBox="1"/>
          <p:nvPr/>
        </p:nvSpPr>
        <p:spPr>
          <a:xfrm>
            <a:off x="1434084" y="2881440"/>
            <a:ext cx="60553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城商行 B</a:t>
            </a:r>
          </a:p>
        </p:txBody>
      </p:sp>
      <p:sp>
        <p:nvSpPr>
          <p:cNvPr id="28" name="cd-1-2"/>
          <p:cNvSpPr txBox="1"/>
          <p:nvPr/>
        </p:nvSpPr>
        <p:spPr>
          <a:xfrm>
            <a:off x="1436751" y="3073987"/>
            <a:ext cx="458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数据中台</a:t>
            </a:r>
          </a:p>
        </p:txBody>
      </p:sp>
      <p:sp>
        <p:nvSpPr>
          <p:cNvPr id="29" name="cy-1-2"/>
          <p:cNvSpPr/>
          <p:nvPr/>
        </p:nvSpPr>
        <p:spPr>
          <a:xfrm>
            <a:off x="2730500" y="2959100"/>
            <a:ext cx="546100" cy="177800"/>
          </a:xfrm>
          <a:custGeom>
            <a:avLst/>
            <a:gdLst/>
            <a:ahLst/>
            <a:cxnLst/>
            <a:rect l="0" t="0" r="r" b="b"/>
            <a:pathLst>
              <a:path w="546100" h="177800">
                <a:moveTo>
                  <a:pt x="88900" y="0"/>
                </a:moveTo>
                <a:lnTo>
                  <a:pt x="457200" y="0"/>
                </a:lnTo>
                <a:cubicBezTo>
                  <a:pt x="506286" y="0"/>
                  <a:pt x="546100" y="39814"/>
                  <a:pt x="546100" y="88900"/>
                </a:cubicBezTo>
                <a:lnTo>
                  <a:pt x="546100" y="88900"/>
                </a:lnTo>
                <a:cubicBezTo>
                  <a:pt x="546100" y="137986"/>
                  <a:pt x="506286" y="177800"/>
                  <a:pt x="4572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DCE7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cyt-1-2"/>
          <p:cNvSpPr txBox="1"/>
          <p:nvPr/>
        </p:nvSpPr>
        <p:spPr>
          <a:xfrm>
            <a:off x="2755519" y="2969958"/>
            <a:ext cx="4960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合作 4 年</a:t>
            </a:r>
          </a:p>
        </p:txBody>
      </p:sp>
      <p:sp>
        <p:nvSpPr>
          <p:cNvPr id="31" name="c-1-3"/>
          <p:cNvSpPr/>
          <p:nvPr/>
        </p:nvSpPr>
        <p:spPr>
          <a:xfrm>
            <a:off x="952500" y="3365500"/>
            <a:ext cx="2476500" cy="482600"/>
          </a:xfrm>
          <a:custGeom>
            <a:avLst/>
            <a:gdLst/>
            <a:ahLst/>
            <a:cxnLst/>
            <a:rect l="0" t="0" r="r" b="b"/>
            <a:pathLst>
              <a:path w="2476500" h="482600">
                <a:moveTo>
                  <a:pt x="101600" y="0"/>
                </a:moveTo>
                <a:lnTo>
                  <a:pt x="2374900" y="0"/>
                </a:lnTo>
                <a:cubicBezTo>
                  <a:pt x="2431034" y="0"/>
                  <a:pt x="2476500" y="45466"/>
                  <a:pt x="2476500" y="101600"/>
                </a:cubicBezTo>
                <a:lnTo>
                  <a:pt x="2476500" y="381000"/>
                </a:lnTo>
                <a:cubicBezTo>
                  <a:pt x="2476500" y="437134"/>
                  <a:pt x="2431034" y="482600"/>
                  <a:pt x="23749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cm-1-3"/>
          <p:cNvSpPr/>
          <p:nvPr/>
        </p:nvSpPr>
        <p:spPr>
          <a:xfrm>
            <a:off x="1079500" y="3467100"/>
            <a:ext cx="279400" cy="279400"/>
          </a:xfrm>
          <a:prstGeom prst="ellipse">
            <a:avLst/>
          </a:pr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cmt-1-3"/>
          <p:cNvSpPr txBox="1"/>
          <p:nvPr/>
        </p:nvSpPr>
        <p:spPr>
          <a:xfrm>
            <a:off x="1104582" y="3502247"/>
            <a:ext cx="2292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保</a:t>
            </a:r>
          </a:p>
        </p:txBody>
      </p:sp>
      <p:sp>
        <p:nvSpPr>
          <p:cNvPr id="34" name="cn-1-3"/>
          <p:cNvSpPr txBox="1"/>
          <p:nvPr/>
        </p:nvSpPr>
        <p:spPr>
          <a:xfrm>
            <a:off x="1434084" y="3440240"/>
            <a:ext cx="7261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保险集团 C</a:t>
            </a:r>
          </a:p>
        </p:txBody>
      </p:sp>
      <p:sp>
        <p:nvSpPr>
          <p:cNvPr id="35" name="cd-1-3"/>
          <p:cNvSpPr txBox="1"/>
          <p:nvPr/>
        </p:nvSpPr>
        <p:spPr>
          <a:xfrm>
            <a:off x="1436751" y="3632787"/>
            <a:ext cx="458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客户运营</a:t>
            </a:r>
          </a:p>
        </p:txBody>
      </p:sp>
      <p:sp>
        <p:nvSpPr>
          <p:cNvPr id="36" name="cy-1-3"/>
          <p:cNvSpPr/>
          <p:nvPr/>
        </p:nvSpPr>
        <p:spPr>
          <a:xfrm>
            <a:off x="2730500" y="3517900"/>
            <a:ext cx="546100" cy="177800"/>
          </a:xfrm>
          <a:custGeom>
            <a:avLst/>
            <a:gdLst/>
            <a:ahLst/>
            <a:cxnLst/>
            <a:rect l="0" t="0" r="r" b="b"/>
            <a:pathLst>
              <a:path w="546100" h="177800">
                <a:moveTo>
                  <a:pt x="88900" y="0"/>
                </a:moveTo>
                <a:lnTo>
                  <a:pt x="457200" y="0"/>
                </a:lnTo>
                <a:cubicBezTo>
                  <a:pt x="506286" y="0"/>
                  <a:pt x="546100" y="39814"/>
                  <a:pt x="546100" y="88900"/>
                </a:cubicBezTo>
                <a:lnTo>
                  <a:pt x="546100" y="88900"/>
                </a:lnTo>
                <a:cubicBezTo>
                  <a:pt x="546100" y="137986"/>
                  <a:pt x="506286" y="177800"/>
                  <a:pt x="4572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DCE7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cyt-1-3"/>
          <p:cNvSpPr txBox="1"/>
          <p:nvPr/>
        </p:nvSpPr>
        <p:spPr>
          <a:xfrm>
            <a:off x="2755519" y="3528758"/>
            <a:ext cx="4960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合作 5 年</a:t>
            </a:r>
          </a:p>
        </p:txBody>
      </p:sp>
      <p:sp>
        <p:nvSpPr>
          <p:cNvPr id="38" name="c-1-4"/>
          <p:cNvSpPr/>
          <p:nvPr/>
        </p:nvSpPr>
        <p:spPr>
          <a:xfrm>
            <a:off x="952500" y="3924300"/>
            <a:ext cx="2476500" cy="482600"/>
          </a:xfrm>
          <a:custGeom>
            <a:avLst/>
            <a:gdLst/>
            <a:ahLst/>
            <a:cxnLst/>
            <a:rect l="0" t="0" r="r" b="b"/>
            <a:pathLst>
              <a:path w="2476500" h="482600">
                <a:moveTo>
                  <a:pt x="101600" y="0"/>
                </a:moveTo>
                <a:lnTo>
                  <a:pt x="2374900" y="0"/>
                </a:lnTo>
                <a:cubicBezTo>
                  <a:pt x="2431034" y="0"/>
                  <a:pt x="2476500" y="45466"/>
                  <a:pt x="2476500" y="101600"/>
                </a:cubicBezTo>
                <a:lnTo>
                  <a:pt x="2476500" y="381000"/>
                </a:lnTo>
                <a:cubicBezTo>
                  <a:pt x="2476500" y="437134"/>
                  <a:pt x="2431034" y="482600"/>
                  <a:pt x="23749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cm-1-4"/>
          <p:cNvSpPr/>
          <p:nvPr/>
        </p:nvSpPr>
        <p:spPr>
          <a:xfrm>
            <a:off x="1079500" y="4025900"/>
            <a:ext cx="279400" cy="279400"/>
          </a:xfrm>
          <a:prstGeom prst="ellipse">
            <a:avLst/>
          </a:pr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cmt-1-4"/>
          <p:cNvSpPr txBox="1"/>
          <p:nvPr/>
        </p:nvSpPr>
        <p:spPr>
          <a:xfrm>
            <a:off x="1104582" y="4061047"/>
            <a:ext cx="2292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证</a:t>
            </a:r>
          </a:p>
        </p:txBody>
      </p:sp>
      <p:sp>
        <p:nvSpPr>
          <p:cNvPr id="41" name="cn-1-4"/>
          <p:cNvSpPr txBox="1"/>
          <p:nvPr/>
        </p:nvSpPr>
        <p:spPr>
          <a:xfrm>
            <a:off x="1434084" y="3999040"/>
            <a:ext cx="7261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证券公司 D</a:t>
            </a:r>
          </a:p>
        </p:txBody>
      </p:sp>
      <p:sp>
        <p:nvSpPr>
          <p:cNvPr id="42" name="cd-1-4"/>
          <p:cNvSpPr txBox="1"/>
          <p:nvPr/>
        </p:nvSpPr>
        <p:spPr>
          <a:xfrm>
            <a:off x="1436751" y="4191587"/>
            <a:ext cx="458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财富管理</a:t>
            </a:r>
          </a:p>
        </p:txBody>
      </p:sp>
      <p:sp>
        <p:nvSpPr>
          <p:cNvPr id="43" name="cy-1-4"/>
          <p:cNvSpPr/>
          <p:nvPr/>
        </p:nvSpPr>
        <p:spPr>
          <a:xfrm>
            <a:off x="2730500" y="4076700"/>
            <a:ext cx="546100" cy="177800"/>
          </a:xfrm>
          <a:custGeom>
            <a:avLst/>
            <a:gdLst/>
            <a:ahLst/>
            <a:cxnLst/>
            <a:rect l="0" t="0" r="r" b="b"/>
            <a:pathLst>
              <a:path w="546100" h="177800">
                <a:moveTo>
                  <a:pt x="88900" y="0"/>
                </a:moveTo>
                <a:lnTo>
                  <a:pt x="457200" y="0"/>
                </a:lnTo>
                <a:cubicBezTo>
                  <a:pt x="506286" y="0"/>
                  <a:pt x="546100" y="39814"/>
                  <a:pt x="546100" y="88900"/>
                </a:cubicBezTo>
                <a:lnTo>
                  <a:pt x="546100" y="88900"/>
                </a:lnTo>
                <a:cubicBezTo>
                  <a:pt x="546100" y="137986"/>
                  <a:pt x="506286" y="177800"/>
                  <a:pt x="4572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DCE7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cyt-1-4"/>
          <p:cNvSpPr txBox="1"/>
          <p:nvPr/>
        </p:nvSpPr>
        <p:spPr>
          <a:xfrm>
            <a:off x="2755519" y="4087558"/>
            <a:ext cx="4960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合作 6 年</a:t>
            </a:r>
          </a:p>
        </p:txBody>
      </p:sp>
      <p:sp>
        <p:nvSpPr>
          <p:cNvPr id="45" name="c-1-5"/>
          <p:cNvSpPr/>
          <p:nvPr/>
        </p:nvSpPr>
        <p:spPr>
          <a:xfrm>
            <a:off x="952500" y="4483100"/>
            <a:ext cx="2476500" cy="482600"/>
          </a:xfrm>
          <a:custGeom>
            <a:avLst/>
            <a:gdLst/>
            <a:ahLst/>
            <a:cxnLst/>
            <a:rect l="0" t="0" r="r" b="b"/>
            <a:pathLst>
              <a:path w="2476500" h="482600">
                <a:moveTo>
                  <a:pt x="101600" y="0"/>
                </a:moveTo>
                <a:lnTo>
                  <a:pt x="2374900" y="0"/>
                </a:lnTo>
                <a:cubicBezTo>
                  <a:pt x="2431034" y="0"/>
                  <a:pt x="2476500" y="45466"/>
                  <a:pt x="2476500" y="101600"/>
                </a:cubicBezTo>
                <a:lnTo>
                  <a:pt x="2476500" y="381000"/>
                </a:lnTo>
                <a:cubicBezTo>
                  <a:pt x="2476500" y="437134"/>
                  <a:pt x="2431034" y="482600"/>
                  <a:pt x="23749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cm-1-5"/>
          <p:cNvSpPr/>
          <p:nvPr/>
        </p:nvSpPr>
        <p:spPr>
          <a:xfrm>
            <a:off x="1079500" y="4584700"/>
            <a:ext cx="279400" cy="279400"/>
          </a:xfrm>
          <a:prstGeom prst="ellipse">
            <a:avLst/>
          </a:pr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cmt-1-5"/>
          <p:cNvSpPr txBox="1"/>
          <p:nvPr/>
        </p:nvSpPr>
        <p:spPr>
          <a:xfrm>
            <a:off x="1104582" y="4619847"/>
            <a:ext cx="2292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消</a:t>
            </a:r>
          </a:p>
        </p:txBody>
      </p:sp>
      <p:sp>
        <p:nvSpPr>
          <p:cNvPr id="48" name="cn-1-5"/>
          <p:cNvSpPr txBox="1"/>
          <p:nvPr/>
        </p:nvSpPr>
        <p:spPr>
          <a:xfrm>
            <a:off x="1434084" y="4557840"/>
            <a:ext cx="7261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消费金融 E</a:t>
            </a:r>
          </a:p>
        </p:txBody>
      </p:sp>
      <p:sp>
        <p:nvSpPr>
          <p:cNvPr id="49" name="cd-1-5"/>
          <p:cNvSpPr txBox="1"/>
          <p:nvPr/>
        </p:nvSpPr>
        <p:spPr>
          <a:xfrm>
            <a:off x="1436751" y="4750387"/>
            <a:ext cx="458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风控平台</a:t>
            </a:r>
          </a:p>
        </p:txBody>
      </p:sp>
      <p:sp>
        <p:nvSpPr>
          <p:cNvPr id="50" name="cy-1-5"/>
          <p:cNvSpPr/>
          <p:nvPr/>
        </p:nvSpPr>
        <p:spPr>
          <a:xfrm>
            <a:off x="2730500" y="4635500"/>
            <a:ext cx="546100" cy="177800"/>
          </a:xfrm>
          <a:custGeom>
            <a:avLst/>
            <a:gdLst/>
            <a:ahLst/>
            <a:cxnLst/>
            <a:rect l="0" t="0" r="r" b="b"/>
            <a:pathLst>
              <a:path w="546100" h="177800">
                <a:moveTo>
                  <a:pt x="88900" y="0"/>
                </a:moveTo>
                <a:lnTo>
                  <a:pt x="457200" y="0"/>
                </a:lnTo>
                <a:cubicBezTo>
                  <a:pt x="506286" y="0"/>
                  <a:pt x="546100" y="39814"/>
                  <a:pt x="546100" y="88900"/>
                </a:cubicBezTo>
                <a:lnTo>
                  <a:pt x="546100" y="88900"/>
                </a:lnTo>
                <a:cubicBezTo>
                  <a:pt x="546100" y="137986"/>
                  <a:pt x="506286" y="177800"/>
                  <a:pt x="4572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DCE7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cyt-1-5"/>
          <p:cNvSpPr txBox="1"/>
          <p:nvPr/>
        </p:nvSpPr>
        <p:spPr>
          <a:xfrm>
            <a:off x="2755519" y="4646358"/>
            <a:ext cx="4960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合作 7 年</a:t>
            </a:r>
          </a:p>
        </p:txBody>
      </p:sp>
      <p:sp>
        <p:nvSpPr>
          <p:cNvPr id="52" name="c-1-6"/>
          <p:cNvSpPr/>
          <p:nvPr/>
        </p:nvSpPr>
        <p:spPr>
          <a:xfrm>
            <a:off x="952500" y="5041900"/>
            <a:ext cx="2476500" cy="482600"/>
          </a:xfrm>
          <a:custGeom>
            <a:avLst/>
            <a:gdLst/>
            <a:ahLst/>
            <a:cxnLst/>
            <a:rect l="0" t="0" r="r" b="b"/>
            <a:pathLst>
              <a:path w="2476500" h="482600">
                <a:moveTo>
                  <a:pt x="101600" y="0"/>
                </a:moveTo>
                <a:lnTo>
                  <a:pt x="2374900" y="0"/>
                </a:lnTo>
                <a:cubicBezTo>
                  <a:pt x="2431034" y="0"/>
                  <a:pt x="2476500" y="45466"/>
                  <a:pt x="2476500" y="101600"/>
                </a:cubicBezTo>
                <a:lnTo>
                  <a:pt x="2476500" y="381000"/>
                </a:lnTo>
                <a:cubicBezTo>
                  <a:pt x="2476500" y="437134"/>
                  <a:pt x="2431034" y="482600"/>
                  <a:pt x="23749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cm-1-6"/>
          <p:cNvSpPr/>
          <p:nvPr/>
        </p:nvSpPr>
        <p:spPr>
          <a:xfrm>
            <a:off x="1079500" y="5143500"/>
            <a:ext cx="279400" cy="279400"/>
          </a:xfrm>
          <a:prstGeom prst="ellipse">
            <a:avLst/>
          </a:pr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cmt-1-6"/>
          <p:cNvSpPr txBox="1"/>
          <p:nvPr/>
        </p:nvSpPr>
        <p:spPr>
          <a:xfrm>
            <a:off x="1104582" y="5178647"/>
            <a:ext cx="2292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信</a:t>
            </a:r>
          </a:p>
        </p:txBody>
      </p:sp>
      <p:sp>
        <p:nvSpPr>
          <p:cNvPr id="55" name="cn-1-6"/>
          <p:cNvSpPr txBox="1"/>
          <p:nvPr/>
        </p:nvSpPr>
        <p:spPr>
          <a:xfrm>
            <a:off x="1434084" y="5116640"/>
            <a:ext cx="7261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信托公司 F</a:t>
            </a:r>
          </a:p>
        </p:txBody>
      </p:sp>
      <p:sp>
        <p:nvSpPr>
          <p:cNvPr id="56" name="cd-1-6"/>
          <p:cNvSpPr txBox="1"/>
          <p:nvPr/>
        </p:nvSpPr>
        <p:spPr>
          <a:xfrm>
            <a:off x="1436751" y="5309187"/>
            <a:ext cx="55276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流程线上化</a:t>
            </a:r>
          </a:p>
        </p:txBody>
      </p:sp>
      <p:sp>
        <p:nvSpPr>
          <p:cNvPr id="57" name="cy-1-6"/>
          <p:cNvSpPr/>
          <p:nvPr/>
        </p:nvSpPr>
        <p:spPr>
          <a:xfrm>
            <a:off x="2730500" y="5194300"/>
            <a:ext cx="546100" cy="177800"/>
          </a:xfrm>
          <a:custGeom>
            <a:avLst/>
            <a:gdLst/>
            <a:ahLst/>
            <a:cxnLst/>
            <a:rect l="0" t="0" r="r" b="b"/>
            <a:pathLst>
              <a:path w="546100" h="177800">
                <a:moveTo>
                  <a:pt x="88900" y="0"/>
                </a:moveTo>
                <a:lnTo>
                  <a:pt x="457200" y="0"/>
                </a:lnTo>
                <a:cubicBezTo>
                  <a:pt x="506286" y="0"/>
                  <a:pt x="546100" y="39814"/>
                  <a:pt x="546100" y="88900"/>
                </a:cubicBezTo>
                <a:lnTo>
                  <a:pt x="546100" y="88900"/>
                </a:lnTo>
                <a:cubicBezTo>
                  <a:pt x="546100" y="137986"/>
                  <a:pt x="506286" y="177800"/>
                  <a:pt x="4572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DCE7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cyt-1-6"/>
          <p:cNvSpPr txBox="1"/>
          <p:nvPr/>
        </p:nvSpPr>
        <p:spPr>
          <a:xfrm>
            <a:off x="2755519" y="5205158"/>
            <a:ext cx="4960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合作 3 年</a:t>
            </a:r>
          </a:p>
        </p:txBody>
      </p:sp>
      <p:sp>
        <p:nvSpPr>
          <p:cNvPr id="59" name="hd-2"/>
          <p:cNvSpPr/>
          <p:nvPr/>
        </p:nvSpPr>
        <p:spPr>
          <a:xfrm>
            <a:off x="3556000" y="1358900"/>
            <a:ext cx="2476500" cy="762000"/>
          </a:xfrm>
          <a:custGeom>
            <a:avLst/>
            <a:gdLst/>
            <a:ahLst/>
            <a:cxnLst/>
            <a:rect l="0" t="0" r="r" b="b"/>
            <a:pathLst>
              <a:path w="2476500" h="762000">
                <a:moveTo>
                  <a:pt x="139700" y="0"/>
                </a:moveTo>
                <a:lnTo>
                  <a:pt x="2336800" y="0"/>
                </a:lnTo>
                <a:cubicBezTo>
                  <a:pt x="2413952" y="0"/>
                  <a:pt x="2476500" y="62547"/>
                  <a:pt x="2476500" y="139700"/>
                </a:cubicBezTo>
                <a:lnTo>
                  <a:pt x="2476500" y="622300"/>
                </a:lnTo>
                <a:cubicBezTo>
                  <a:pt x="2476500" y="699452"/>
                  <a:pt x="2413952" y="762000"/>
                  <a:pt x="2336800" y="762000"/>
                </a:cubicBezTo>
                <a:lnTo>
                  <a:pt x="139700" y="762000"/>
                </a:lnTo>
                <a:cubicBezTo>
                  <a:pt x="62548" y="762000"/>
                  <a:pt x="0" y="699452"/>
                  <a:pt x="0" y="622300"/>
                </a:cubicBezTo>
                <a:lnTo>
                  <a:pt x="0" y="139700"/>
                </a:lnTo>
                <a:cubicBezTo>
                  <a:pt x="0" y="62547"/>
                  <a:pt x="62548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366EB2"/>
              </a:gs>
              <a:gs pos="100000">
                <a:srgbClr val="1B5AA8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0" name="hdi-2"/>
          <p:cNvSpPr/>
          <p:nvPr/>
        </p:nvSpPr>
        <p:spPr>
          <a:xfrm>
            <a:off x="3721100" y="1549400"/>
            <a:ext cx="381000" cy="381000"/>
          </a:xfrm>
          <a:prstGeom prst="ellipse">
            <a:avLst/>
          </a:prstGeom>
          <a:solidFill>
            <a:srgbClr val="FFFFF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icon-factory"/>
          <p:cNvSpPr/>
          <p:nvPr/>
        </p:nvSpPr>
        <p:spPr>
          <a:xfrm>
            <a:off x="3843338" y="1709738"/>
            <a:ext cx="136525" cy="92075"/>
          </a:xfrm>
          <a:custGeom>
            <a:avLst/>
            <a:gdLst/>
            <a:ahLst/>
            <a:cxnLst/>
            <a:rect l="0" t="0" r="r" b="b"/>
            <a:pathLst>
              <a:path w="136525" h="92075">
                <a:moveTo>
                  <a:pt x="0" y="92075"/>
                </a:moveTo>
                <a:lnTo>
                  <a:pt x="0" y="22225"/>
                </a:lnTo>
                <a:lnTo>
                  <a:pt x="39688" y="46038"/>
                </a:lnTo>
                <a:lnTo>
                  <a:pt x="39688" y="22225"/>
                </a:lnTo>
                <a:lnTo>
                  <a:pt x="79375" y="46038"/>
                </a:lnTo>
                <a:lnTo>
                  <a:pt x="79375" y="0"/>
                </a:lnTo>
                <a:lnTo>
                  <a:pt x="119062" y="23812"/>
                </a:lnTo>
                <a:lnTo>
                  <a:pt x="119062" y="84138"/>
                </a:lnTo>
                <a:close/>
                <a:moveTo>
                  <a:pt x="0" y="92075"/>
                </a:moveTo>
                <a:lnTo>
                  <a:pt x="136525" y="92075"/>
                </a:lnTo>
              </a:path>
            </a:pathLst>
          </a:custGeom>
          <a:noFill/>
          <a:ln w="1333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hdn-2"/>
          <p:cNvSpPr txBox="1"/>
          <p:nvPr/>
        </p:nvSpPr>
        <p:spPr>
          <a:xfrm>
            <a:off x="4184650" y="14930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制造</a:t>
            </a:r>
          </a:p>
        </p:txBody>
      </p:sp>
      <p:sp>
        <p:nvSpPr>
          <p:cNvPr id="63" name="hde-2"/>
          <p:cNvSpPr txBox="1"/>
          <p:nvPr/>
        </p:nvSpPr>
        <p:spPr>
          <a:xfrm>
            <a:off x="4193032" y="1795208"/>
            <a:ext cx="6306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CFE0F4"/>
                </a:solidFill>
                <a:latin typeface="Arial"/>
                <a:ea typeface="Arial"/>
                <a:cs typeface="Arial"/>
              </a:rPr>
              <a:t>INDUSTRY</a:t>
            </a:r>
          </a:p>
        </p:txBody>
      </p:sp>
      <p:sp>
        <p:nvSpPr>
          <p:cNvPr id="64" name="hdc-2"/>
          <p:cNvSpPr txBox="1"/>
          <p:nvPr/>
        </p:nvSpPr>
        <p:spPr>
          <a:xfrm>
            <a:off x="5229860" y="1527810"/>
            <a:ext cx="65532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0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408</a:t>
            </a:r>
          </a:p>
        </p:txBody>
      </p:sp>
      <p:sp>
        <p:nvSpPr>
          <p:cNvPr id="65" name="hdcl-2"/>
          <p:cNvSpPr txBox="1"/>
          <p:nvPr/>
        </p:nvSpPr>
        <p:spPr>
          <a:xfrm>
            <a:off x="5499608" y="1896808"/>
            <a:ext cx="3657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5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家客户</a:t>
            </a:r>
          </a:p>
        </p:txBody>
      </p:sp>
      <p:sp>
        <p:nvSpPr>
          <p:cNvPr id="66" name="c-2-1"/>
          <p:cNvSpPr/>
          <p:nvPr/>
        </p:nvSpPr>
        <p:spPr>
          <a:xfrm>
            <a:off x="3556000" y="2247900"/>
            <a:ext cx="2476500" cy="482600"/>
          </a:xfrm>
          <a:custGeom>
            <a:avLst/>
            <a:gdLst/>
            <a:ahLst/>
            <a:cxnLst/>
            <a:rect l="0" t="0" r="r" b="b"/>
            <a:pathLst>
              <a:path w="2476500" h="482600">
                <a:moveTo>
                  <a:pt x="101600" y="0"/>
                </a:moveTo>
                <a:lnTo>
                  <a:pt x="2374900" y="0"/>
                </a:lnTo>
                <a:cubicBezTo>
                  <a:pt x="2431034" y="0"/>
                  <a:pt x="2476500" y="45466"/>
                  <a:pt x="2476500" y="101600"/>
                </a:cubicBezTo>
                <a:lnTo>
                  <a:pt x="2476500" y="381000"/>
                </a:lnTo>
                <a:cubicBezTo>
                  <a:pt x="2476500" y="437134"/>
                  <a:pt x="2431034" y="482600"/>
                  <a:pt x="23749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cm-2-1"/>
          <p:cNvSpPr/>
          <p:nvPr/>
        </p:nvSpPr>
        <p:spPr>
          <a:xfrm>
            <a:off x="3683000" y="2349500"/>
            <a:ext cx="279400" cy="279400"/>
          </a:xfrm>
          <a:prstGeom prst="ellipse">
            <a:avLst/>
          </a:pr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cmt-2-1"/>
          <p:cNvSpPr txBox="1"/>
          <p:nvPr/>
        </p:nvSpPr>
        <p:spPr>
          <a:xfrm>
            <a:off x="3708083" y="2384647"/>
            <a:ext cx="2292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汽</a:t>
            </a:r>
          </a:p>
        </p:txBody>
      </p:sp>
      <p:sp>
        <p:nvSpPr>
          <p:cNvPr id="69" name="cn-2-1"/>
          <p:cNvSpPr txBox="1"/>
          <p:nvPr/>
        </p:nvSpPr>
        <p:spPr>
          <a:xfrm>
            <a:off x="4037584" y="2322640"/>
            <a:ext cx="7261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汽车集团 A</a:t>
            </a:r>
          </a:p>
        </p:txBody>
      </p:sp>
      <p:sp>
        <p:nvSpPr>
          <p:cNvPr id="70" name="cd-2-1"/>
          <p:cNvSpPr txBox="1"/>
          <p:nvPr/>
        </p:nvSpPr>
        <p:spPr>
          <a:xfrm>
            <a:off x="4040251" y="2515187"/>
            <a:ext cx="55276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供应链协同</a:t>
            </a:r>
          </a:p>
        </p:txBody>
      </p:sp>
      <p:sp>
        <p:nvSpPr>
          <p:cNvPr id="71" name="cy-2-1"/>
          <p:cNvSpPr/>
          <p:nvPr/>
        </p:nvSpPr>
        <p:spPr>
          <a:xfrm>
            <a:off x="5334000" y="2400300"/>
            <a:ext cx="546100" cy="177800"/>
          </a:xfrm>
          <a:custGeom>
            <a:avLst/>
            <a:gdLst/>
            <a:ahLst/>
            <a:cxnLst/>
            <a:rect l="0" t="0" r="r" b="b"/>
            <a:pathLst>
              <a:path w="546100" h="177800">
                <a:moveTo>
                  <a:pt x="88900" y="0"/>
                </a:moveTo>
                <a:lnTo>
                  <a:pt x="457200" y="0"/>
                </a:lnTo>
                <a:cubicBezTo>
                  <a:pt x="506286" y="0"/>
                  <a:pt x="546100" y="39814"/>
                  <a:pt x="546100" y="88900"/>
                </a:cubicBezTo>
                <a:lnTo>
                  <a:pt x="546100" y="88900"/>
                </a:lnTo>
                <a:cubicBezTo>
                  <a:pt x="546100" y="137986"/>
                  <a:pt x="506286" y="177800"/>
                  <a:pt x="4572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DCE7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cyt-2-1"/>
          <p:cNvSpPr txBox="1"/>
          <p:nvPr/>
        </p:nvSpPr>
        <p:spPr>
          <a:xfrm>
            <a:off x="5359019" y="2411158"/>
            <a:ext cx="4960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合作 4 年</a:t>
            </a:r>
          </a:p>
        </p:txBody>
      </p:sp>
      <p:sp>
        <p:nvSpPr>
          <p:cNvPr id="73" name="c-2-2"/>
          <p:cNvSpPr/>
          <p:nvPr/>
        </p:nvSpPr>
        <p:spPr>
          <a:xfrm>
            <a:off x="3556000" y="2806700"/>
            <a:ext cx="2476500" cy="482600"/>
          </a:xfrm>
          <a:custGeom>
            <a:avLst/>
            <a:gdLst/>
            <a:ahLst/>
            <a:cxnLst/>
            <a:rect l="0" t="0" r="r" b="b"/>
            <a:pathLst>
              <a:path w="2476500" h="482600">
                <a:moveTo>
                  <a:pt x="101600" y="0"/>
                </a:moveTo>
                <a:lnTo>
                  <a:pt x="2374900" y="0"/>
                </a:lnTo>
                <a:cubicBezTo>
                  <a:pt x="2431034" y="0"/>
                  <a:pt x="2476500" y="45466"/>
                  <a:pt x="2476500" y="101600"/>
                </a:cubicBezTo>
                <a:lnTo>
                  <a:pt x="2476500" y="381000"/>
                </a:lnTo>
                <a:cubicBezTo>
                  <a:pt x="2476500" y="437134"/>
                  <a:pt x="2431034" y="482600"/>
                  <a:pt x="23749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cm-2-2"/>
          <p:cNvSpPr/>
          <p:nvPr/>
        </p:nvSpPr>
        <p:spPr>
          <a:xfrm>
            <a:off x="3683000" y="2908300"/>
            <a:ext cx="279400" cy="279400"/>
          </a:xfrm>
          <a:prstGeom prst="ellipse">
            <a:avLst/>
          </a:pr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cmt-2-2"/>
          <p:cNvSpPr txBox="1"/>
          <p:nvPr/>
        </p:nvSpPr>
        <p:spPr>
          <a:xfrm>
            <a:off x="3708083" y="2943447"/>
            <a:ext cx="2292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家</a:t>
            </a:r>
          </a:p>
        </p:txBody>
      </p:sp>
      <p:sp>
        <p:nvSpPr>
          <p:cNvPr id="76" name="cn-2-2"/>
          <p:cNvSpPr txBox="1"/>
          <p:nvPr/>
        </p:nvSpPr>
        <p:spPr>
          <a:xfrm>
            <a:off x="4037584" y="2881440"/>
            <a:ext cx="7261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家电龙头 B</a:t>
            </a:r>
          </a:p>
        </p:txBody>
      </p:sp>
      <p:sp>
        <p:nvSpPr>
          <p:cNvPr id="77" name="cd-2-2"/>
          <p:cNvSpPr txBox="1"/>
          <p:nvPr/>
        </p:nvSpPr>
        <p:spPr>
          <a:xfrm>
            <a:off x="4040251" y="3073987"/>
            <a:ext cx="458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智能工厂</a:t>
            </a:r>
          </a:p>
        </p:txBody>
      </p:sp>
      <p:sp>
        <p:nvSpPr>
          <p:cNvPr id="78" name="cy-2-2"/>
          <p:cNvSpPr/>
          <p:nvPr/>
        </p:nvSpPr>
        <p:spPr>
          <a:xfrm>
            <a:off x="5334000" y="2959100"/>
            <a:ext cx="546100" cy="177800"/>
          </a:xfrm>
          <a:custGeom>
            <a:avLst/>
            <a:gdLst/>
            <a:ahLst/>
            <a:cxnLst/>
            <a:rect l="0" t="0" r="r" b="b"/>
            <a:pathLst>
              <a:path w="546100" h="177800">
                <a:moveTo>
                  <a:pt x="88900" y="0"/>
                </a:moveTo>
                <a:lnTo>
                  <a:pt x="457200" y="0"/>
                </a:lnTo>
                <a:cubicBezTo>
                  <a:pt x="506286" y="0"/>
                  <a:pt x="546100" y="39814"/>
                  <a:pt x="546100" y="88900"/>
                </a:cubicBezTo>
                <a:lnTo>
                  <a:pt x="546100" y="88900"/>
                </a:lnTo>
                <a:cubicBezTo>
                  <a:pt x="546100" y="137986"/>
                  <a:pt x="506286" y="177800"/>
                  <a:pt x="4572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DCE7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cyt-2-2"/>
          <p:cNvSpPr txBox="1"/>
          <p:nvPr/>
        </p:nvSpPr>
        <p:spPr>
          <a:xfrm>
            <a:off x="5359019" y="2969958"/>
            <a:ext cx="4960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合作 5 年</a:t>
            </a:r>
          </a:p>
        </p:txBody>
      </p:sp>
      <p:sp>
        <p:nvSpPr>
          <p:cNvPr id="80" name="c-2-3"/>
          <p:cNvSpPr/>
          <p:nvPr/>
        </p:nvSpPr>
        <p:spPr>
          <a:xfrm>
            <a:off x="3556000" y="3365500"/>
            <a:ext cx="2476500" cy="482600"/>
          </a:xfrm>
          <a:custGeom>
            <a:avLst/>
            <a:gdLst/>
            <a:ahLst/>
            <a:cxnLst/>
            <a:rect l="0" t="0" r="r" b="b"/>
            <a:pathLst>
              <a:path w="2476500" h="482600">
                <a:moveTo>
                  <a:pt x="101600" y="0"/>
                </a:moveTo>
                <a:lnTo>
                  <a:pt x="2374900" y="0"/>
                </a:lnTo>
                <a:cubicBezTo>
                  <a:pt x="2431034" y="0"/>
                  <a:pt x="2476500" y="45466"/>
                  <a:pt x="2476500" y="101600"/>
                </a:cubicBezTo>
                <a:lnTo>
                  <a:pt x="2476500" y="381000"/>
                </a:lnTo>
                <a:cubicBezTo>
                  <a:pt x="2476500" y="437134"/>
                  <a:pt x="2431034" y="482600"/>
                  <a:pt x="23749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cm-2-3"/>
          <p:cNvSpPr/>
          <p:nvPr/>
        </p:nvSpPr>
        <p:spPr>
          <a:xfrm>
            <a:off x="3683000" y="3467100"/>
            <a:ext cx="279400" cy="279400"/>
          </a:xfrm>
          <a:prstGeom prst="ellipse">
            <a:avLst/>
          </a:pr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cmt-2-3"/>
          <p:cNvSpPr txBox="1"/>
          <p:nvPr/>
        </p:nvSpPr>
        <p:spPr>
          <a:xfrm>
            <a:off x="3708083" y="3502247"/>
            <a:ext cx="2292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装</a:t>
            </a:r>
          </a:p>
        </p:txBody>
      </p:sp>
      <p:sp>
        <p:nvSpPr>
          <p:cNvPr id="83" name="cn-2-3"/>
          <p:cNvSpPr txBox="1"/>
          <p:nvPr/>
        </p:nvSpPr>
        <p:spPr>
          <a:xfrm>
            <a:off x="4037584" y="3440240"/>
            <a:ext cx="7261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装备制造 C</a:t>
            </a:r>
          </a:p>
        </p:txBody>
      </p:sp>
      <p:sp>
        <p:nvSpPr>
          <p:cNvPr id="84" name="cd-2-3"/>
          <p:cNvSpPr txBox="1"/>
          <p:nvPr/>
        </p:nvSpPr>
        <p:spPr>
          <a:xfrm>
            <a:off x="4040251" y="3632787"/>
            <a:ext cx="458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设备物联</a:t>
            </a:r>
          </a:p>
        </p:txBody>
      </p:sp>
      <p:sp>
        <p:nvSpPr>
          <p:cNvPr id="85" name="cy-2-3"/>
          <p:cNvSpPr/>
          <p:nvPr/>
        </p:nvSpPr>
        <p:spPr>
          <a:xfrm>
            <a:off x="5334000" y="3517900"/>
            <a:ext cx="546100" cy="177800"/>
          </a:xfrm>
          <a:custGeom>
            <a:avLst/>
            <a:gdLst/>
            <a:ahLst/>
            <a:cxnLst/>
            <a:rect l="0" t="0" r="r" b="b"/>
            <a:pathLst>
              <a:path w="546100" h="177800">
                <a:moveTo>
                  <a:pt x="88900" y="0"/>
                </a:moveTo>
                <a:lnTo>
                  <a:pt x="457200" y="0"/>
                </a:lnTo>
                <a:cubicBezTo>
                  <a:pt x="506286" y="0"/>
                  <a:pt x="546100" y="39814"/>
                  <a:pt x="546100" y="88900"/>
                </a:cubicBezTo>
                <a:lnTo>
                  <a:pt x="546100" y="88900"/>
                </a:lnTo>
                <a:cubicBezTo>
                  <a:pt x="546100" y="137986"/>
                  <a:pt x="506286" y="177800"/>
                  <a:pt x="4572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DCE7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6" name="cyt-2-3"/>
          <p:cNvSpPr txBox="1"/>
          <p:nvPr/>
        </p:nvSpPr>
        <p:spPr>
          <a:xfrm>
            <a:off x="5359019" y="3528758"/>
            <a:ext cx="4960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合作 6 年</a:t>
            </a:r>
          </a:p>
        </p:txBody>
      </p:sp>
      <p:sp>
        <p:nvSpPr>
          <p:cNvPr id="87" name="c-2-4"/>
          <p:cNvSpPr/>
          <p:nvPr/>
        </p:nvSpPr>
        <p:spPr>
          <a:xfrm>
            <a:off x="3556000" y="3924300"/>
            <a:ext cx="2476500" cy="482600"/>
          </a:xfrm>
          <a:custGeom>
            <a:avLst/>
            <a:gdLst/>
            <a:ahLst/>
            <a:cxnLst/>
            <a:rect l="0" t="0" r="r" b="b"/>
            <a:pathLst>
              <a:path w="2476500" h="482600">
                <a:moveTo>
                  <a:pt x="101600" y="0"/>
                </a:moveTo>
                <a:lnTo>
                  <a:pt x="2374900" y="0"/>
                </a:lnTo>
                <a:cubicBezTo>
                  <a:pt x="2431034" y="0"/>
                  <a:pt x="2476500" y="45466"/>
                  <a:pt x="2476500" y="101600"/>
                </a:cubicBezTo>
                <a:lnTo>
                  <a:pt x="2476500" y="381000"/>
                </a:lnTo>
                <a:cubicBezTo>
                  <a:pt x="2476500" y="437134"/>
                  <a:pt x="2431034" y="482600"/>
                  <a:pt x="23749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cm-2-4"/>
          <p:cNvSpPr/>
          <p:nvPr/>
        </p:nvSpPr>
        <p:spPr>
          <a:xfrm>
            <a:off x="3683000" y="4025900"/>
            <a:ext cx="279400" cy="279400"/>
          </a:xfrm>
          <a:prstGeom prst="ellipse">
            <a:avLst/>
          </a:pr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cmt-2-4"/>
          <p:cNvSpPr txBox="1"/>
          <p:nvPr/>
        </p:nvSpPr>
        <p:spPr>
          <a:xfrm>
            <a:off x="3708083" y="4061047"/>
            <a:ext cx="2292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新</a:t>
            </a:r>
          </a:p>
        </p:txBody>
      </p:sp>
      <p:sp>
        <p:nvSpPr>
          <p:cNvPr id="90" name="cn-2-4"/>
          <p:cNvSpPr txBox="1"/>
          <p:nvPr/>
        </p:nvSpPr>
        <p:spPr>
          <a:xfrm>
            <a:off x="4037584" y="3999040"/>
            <a:ext cx="60553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新能源 D</a:t>
            </a:r>
          </a:p>
        </p:txBody>
      </p:sp>
      <p:sp>
        <p:nvSpPr>
          <p:cNvPr id="91" name="cd-2-4"/>
          <p:cNvSpPr txBox="1"/>
          <p:nvPr/>
        </p:nvSpPr>
        <p:spPr>
          <a:xfrm>
            <a:off x="4040251" y="4191587"/>
            <a:ext cx="458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质量追溯</a:t>
            </a:r>
          </a:p>
        </p:txBody>
      </p:sp>
      <p:sp>
        <p:nvSpPr>
          <p:cNvPr id="92" name="cy-2-4"/>
          <p:cNvSpPr/>
          <p:nvPr/>
        </p:nvSpPr>
        <p:spPr>
          <a:xfrm>
            <a:off x="5334000" y="4076700"/>
            <a:ext cx="546100" cy="177800"/>
          </a:xfrm>
          <a:custGeom>
            <a:avLst/>
            <a:gdLst/>
            <a:ahLst/>
            <a:cxnLst/>
            <a:rect l="0" t="0" r="r" b="b"/>
            <a:pathLst>
              <a:path w="546100" h="177800">
                <a:moveTo>
                  <a:pt x="88900" y="0"/>
                </a:moveTo>
                <a:lnTo>
                  <a:pt x="457200" y="0"/>
                </a:lnTo>
                <a:cubicBezTo>
                  <a:pt x="506286" y="0"/>
                  <a:pt x="546100" y="39814"/>
                  <a:pt x="546100" y="88900"/>
                </a:cubicBezTo>
                <a:lnTo>
                  <a:pt x="546100" y="88900"/>
                </a:lnTo>
                <a:cubicBezTo>
                  <a:pt x="546100" y="137986"/>
                  <a:pt x="506286" y="177800"/>
                  <a:pt x="4572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DCE7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cyt-2-4"/>
          <p:cNvSpPr txBox="1"/>
          <p:nvPr/>
        </p:nvSpPr>
        <p:spPr>
          <a:xfrm>
            <a:off x="5359019" y="4087558"/>
            <a:ext cx="4960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合作 7 年</a:t>
            </a:r>
          </a:p>
        </p:txBody>
      </p:sp>
      <p:sp>
        <p:nvSpPr>
          <p:cNvPr id="94" name="c-2-5"/>
          <p:cNvSpPr/>
          <p:nvPr/>
        </p:nvSpPr>
        <p:spPr>
          <a:xfrm>
            <a:off x="3556000" y="4483100"/>
            <a:ext cx="2476500" cy="482600"/>
          </a:xfrm>
          <a:custGeom>
            <a:avLst/>
            <a:gdLst/>
            <a:ahLst/>
            <a:cxnLst/>
            <a:rect l="0" t="0" r="r" b="b"/>
            <a:pathLst>
              <a:path w="2476500" h="482600">
                <a:moveTo>
                  <a:pt x="101600" y="0"/>
                </a:moveTo>
                <a:lnTo>
                  <a:pt x="2374900" y="0"/>
                </a:lnTo>
                <a:cubicBezTo>
                  <a:pt x="2431034" y="0"/>
                  <a:pt x="2476500" y="45466"/>
                  <a:pt x="2476500" y="101600"/>
                </a:cubicBezTo>
                <a:lnTo>
                  <a:pt x="2476500" y="381000"/>
                </a:lnTo>
                <a:cubicBezTo>
                  <a:pt x="2476500" y="437134"/>
                  <a:pt x="2431034" y="482600"/>
                  <a:pt x="23749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cm-2-5"/>
          <p:cNvSpPr/>
          <p:nvPr/>
        </p:nvSpPr>
        <p:spPr>
          <a:xfrm>
            <a:off x="3683000" y="4584700"/>
            <a:ext cx="279400" cy="279400"/>
          </a:xfrm>
          <a:prstGeom prst="ellipse">
            <a:avLst/>
          </a:pr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cmt-2-5"/>
          <p:cNvSpPr txBox="1"/>
          <p:nvPr/>
        </p:nvSpPr>
        <p:spPr>
          <a:xfrm>
            <a:off x="3708083" y="4619847"/>
            <a:ext cx="2292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化</a:t>
            </a:r>
          </a:p>
        </p:txBody>
      </p:sp>
      <p:sp>
        <p:nvSpPr>
          <p:cNvPr id="97" name="cn-2-5"/>
          <p:cNvSpPr txBox="1"/>
          <p:nvPr/>
        </p:nvSpPr>
        <p:spPr>
          <a:xfrm>
            <a:off x="4037584" y="4557840"/>
            <a:ext cx="7261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化工集团 E</a:t>
            </a:r>
          </a:p>
        </p:txBody>
      </p:sp>
      <p:sp>
        <p:nvSpPr>
          <p:cNvPr id="98" name="cd-2-5"/>
          <p:cNvSpPr txBox="1"/>
          <p:nvPr/>
        </p:nvSpPr>
        <p:spPr>
          <a:xfrm>
            <a:off x="4040251" y="4750387"/>
            <a:ext cx="458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安全生产</a:t>
            </a:r>
          </a:p>
        </p:txBody>
      </p:sp>
      <p:sp>
        <p:nvSpPr>
          <p:cNvPr id="99" name="cy-2-5"/>
          <p:cNvSpPr/>
          <p:nvPr/>
        </p:nvSpPr>
        <p:spPr>
          <a:xfrm>
            <a:off x="5334000" y="4635500"/>
            <a:ext cx="546100" cy="177800"/>
          </a:xfrm>
          <a:custGeom>
            <a:avLst/>
            <a:gdLst/>
            <a:ahLst/>
            <a:cxnLst/>
            <a:rect l="0" t="0" r="r" b="b"/>
            <a:pathLst>
              <a:path w="546100" h="177800">
                <a:moveTo>
                  <a:pt x="88900" y="0"/>
                </a:moveTo>
                <a:lnTo>
                  <a:pt x="457200" y="0"/>
                </a:lnTo>
                <a:cubicBezTo>
                  <a:pt x="506286" y="0"/>
                  <a:pt x="546100" y="39814"/>
                  <a:pt x="546100" y="88900"/>
                </a:cubicBezTo>
                <a:lnTo>
                  <a:pt x="546100" y="88900"/>
                </a:lnTo>
                <a:cubicBezTo>
                  <a:pt x="546100" y="137986"/>
                  <a:pt x="506286" y="177800"/>
                  <a:pt x="4572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DCE7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cyt-2-5"/>
          <p:cNvSpPr txBox="1"/>
          <p:nvPr/>
        </p:nvSpPr>
        <p:spPr>
          <a:xfrm>
            <a:off x="5359019" y="4646358"/>
            <a:ext cx="4960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合作 3 年</a:t>
            </a:r>
          </a:p>
        </p:txBody>
      </p:sp>
      <p:sp>
        <p:nvSpPr>
          <p:cNvPr id="101" name="c-2-6"/>
          <p:cNvSpPr/>
          <p:nvPr/>
        </p:nvSpPr>
        <p:spPr>
          <a:xfrm>
            <a:off x="3556000" y="5041900"/>
            <a:ext cx="2476500" cy="482600"/>
          </a:xfrm>
          <a:custGeom>
            <a:avLst/>
            <a:gdLst/>
            <a:ahLst/>
            <a:cxnLst/>
            <a:rect l="0" t="0" r="r" b="b"/>
            <a:pathLst>
              <a:path w="2476500" h="482600">
                <a:moveTo>
                  <a:pt x="101600" y="0"/>
                </a:moveTo>
                <a:lnTo>
                  <a:pt x="2374900" y="0"/>
                </a:lnTo>
                <a:cubicBezTo>
                  <a:pt x="2431034" y="0"/>
                  <a:pt x="2476500" y="45466"/>
                  <a:pt x="2476500" y="101600"/>
                </a:cubicBezTo>
                <a:lnTo>
                  <a:pt x="2476500" y="381000"/>
                </a:lnTo>
                <a:cubicBezTo>
                  <a:pt x="2476500" y="437134"/>
                  <a:pt x="2431034" y="482600"/>
                  <a:pt x="23749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2" name="cm-2-6"/>
          <p:cNvSpPr/>
          <p:nvPr/>
        </p:nvSpPr>
        <p:spPr>
          <a:xfrm>
            <a:off x="3683000" y="5143500"/>
            <a:ext cx="279400" cy="279400"/>
          </a:xfrm>
          <a:prstGeom prst="ellipse">
            <a:avLst/>
          </a:pr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cmt-2-6"/>
          <p:cNvSpPr txBox="1"/>
          <p:nvPr/>
        </p:nvSpPr>
        <p:spPr>
          <a:xfrm>
            <a:off x="3708083" y="5178647"/>
            <a:ext cx="2292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电</a:t>
            </a:r>
          </a:p>
        </p:txBody>
      </p:sp>
      <p:sp>
        <p:nvSpPr>
          <p:cNvPr id="104" name="cn-2-6"/>
          <p:cNvSpPr txBox="1"/>
          <p:nvPr/>
        </p:nvSpPr>
        <p:spPr>
          <a:xfrm>
            <a:off x="4037584" y="5116640"/>
            <a:ext cx="7261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电子代工 F</a:t>
            </a:r>
          </a:p>
        </p:txBody>
      </p:sp>
      <p:sp>
        <p:nvSpPr>
          <p:cNvPr id="105" name="cd-2-6"/>
          <p:cNvSpPr txBox="1"/>
          <p:nvPr/>
        </p:nvSpPr>
        <p:spPr>
          <a:xfrm>
            <a:off x="4040251" y="5309187"/>
            <a:ext cx="458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排产优化</a:t>
            </a:r>
          </a:p>
        </p:txBody>
      </p:sp>
      <p:sp>
        <p:nvSpPr>
          <p:cNvPr id="106" name="cy-2-6"/>
          <p:cNvSpPr/>
          <p:nvPr/>
        </p:nvSpPr>
        <p:spPr>
          <a:xfrm>
            <a:off x="5334000" y="5194300"/>
            <a:ext cx="546100" cy="177800"/>
          </a:xfrm>
          <a:custGeom>
            <a:avLst/>
            <a:gdLst/>
            <a:ahLst/>
            <a:cxnLst/>
            <a:rect l="0" t="0" r="r" b="b"/>
            <a:pathLst>
              <a:path w="546100" h="177800">
                <a:moveTo>
                  <a:pt x="88900" y="0"/>
                </a:moveTo>
                <a:lnTo>
                  <a:pt x="457200" y="0"/>
                </a:lnTo>
                <a:cubicBezTo>
                  <a:pt x="506286" y="0"/>
                  <a:pt x="546100" y="39814"/>
                  <a:pt x="546100" y="88900"/>
                </a:cubicBezTo>
                <a:lnTo>
                  <a:pt x="546100" y="88900"/>
                </a:lnTo>
                <a:cubicBezTo>
                  <a:pt x="546100" y="137986"/>
                  <a:pt x="506286" y="177800"/>
                  <a:pt x="4572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DCE7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7" name="cyt-2-6"/>
          <p:cNvSpPr txBox="1"/>
          <p:nvPr/>
        </p:nvSpPr>
        <p:spPr>
          <a:xfrm>
            <a:off x="5359019" y="5205158"/>
            <a:ext cx="4960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合作 4 年</a:t>
            </a:r>
          </a:p>
        </p:txBody>
      </p:sp>
      <p:sp>
        <p:nvSpPr>
          <p:cNvPr id="108" name="hd-3"/>
          <p:cNvSpPr/>
          <p:nvPr/>
        </p:nvSpPr>
        <p:spPr>
          <a:xfrm>
            <a:off x="6159500" y="1358900"/>
            <a:ext cx="2476500" cy="762000"/>
          </a:xfrm>
          <a:custGeom>
            <a:avLst/>
            <a:gdLst/>
            <a:ahLst/>
            <a:cxnLst/>
            <a:rect l="0" t="0" r="r" b="b"/>
            <a:pathLst>
              <a:path w="2476500" h="762000">
                <a:moveTo>
                  <a:pt x="139700" y="0"/>
                </a:moveTo>
                <a:lnTo>
                  <a:pt x="2336800" y="0"/>
                </a:lnTo>
                <a:cubicBezTo>
                  <a:pt x="2413953" y="0"/>
                  <a:pt x="2476500" y="62547"/>
                  <a:pt x="2476500" y="139700"/>
                </a:cubicBezTo>
                <a:lnTo>
                  <a:pt x="2476500" y="622300"/>
                </a:lnTo>
                <a:cubicBezTo>
                  <a:pt x="2476500" y="699452"/>
                  <a:pt x="2413953" y="762000"/>
                  <a:pt x="2336800" y="762000"/>
                </a:cubicBezTo>
                <a:lnTo>
                  <a:pt x="139700" y="762000"/>
                </a:lnTo>
                <a:cubicBezTo>
                  <a:pt x="62548" y="762000"/>
                  <a:pt x="0" y="699452"/>
                  <a:pt x="0" y="622300"/>
                </a:cubicBezTo>
                <a:lnTo>
                  <a:pt x="0" y="139700"/>
                </a:lnTo>
                <a:cubicBezTo>
                  <a:pt x="0" y="62547"/>
                  <a:pt x="62548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4787C9"/>
              </a:gs>
              <a:gs pos="100000">
                <a:srgbClr val="2E77C2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hdi-3"/>
          <p:cNvSpPr/>
          <p:nvPr/>
        </p:nvSpPr>
        <p:spPr>
          <a:xfrm>
            <a:off x="6324600" y="1549400"/>
            <a:ext cx="381000" cy="381000"/>
          </a:xfrm>
          <a:prstGeom prst="ellipse">
            <a:avLst/>
          </a:prstGeom>
          <a:solidFill>
            <a:srgbClr val="FFFFF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0" name="icon-cart"/>
          <p:cNvSpPr/>
          <p:nvPr/>
        </p:nvSpPr>
        <p:spPr>
          <a:xfrm>
            <a:off x="6445250" y="1681162"/>
            <a:ext cx="126238" cy="74612"/>
          </a:xfrm>
          <a:custGeom>
            <a:avLst/>
            <a:gdLst/>
            <a:ahLst/>
            <a:cxnLst/>
            <a:rect l="0" t="0" r="r" b="b"/>
            <a:pathLst>
              <a:path w="126238" h="74612">
                <a:moveTo>
                  <a:pt x="0" y="0"/>
                </a:moveTo>
                <a:lnTo>
                  <a:pt x="18288" y="0"/>
                </a:lnTo>
                <a:lnTo>
                  <a:pt x="36512" y="74612"/>
                </a:lnTo>
                <a:lnTo>
                  <a:pt x="111125" y="74612"/>
                </a:lnTo>
                <a:lnTo>
                  <a:pt x="126238" y="22225"/>
                </a:lnTo>
                <a:lnTo>
                  <a:pt x="23812" y="22225"/>
                </a:lnTo>
              </a:path>
            </a:pathLst>
          </a:custGeom>
          <a:noFill/>
          <a:ln w="1333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1" name="icon-cart"/>
          <p:cNvSpPr/>
          <p:nvPr/>
        </p:nvSpPr>
        <p:spPr>
          <a:xfrm>
            <a:off x="6483350" y="1779588"/>
            <a:ext cx="22225" cy="22225"/>
          </a:xfrm>
          <a:prstGeom prst="ellipse">
            <a:avLst/>
          </a:prstGeom>
          <a:noFill/>
          <a:ln w="1333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2" name="icon-cart"/>
          <p:cNvSpPr/>
          <p:nvPr/>
        </p:nvSpPr>
        <p:spPr>
          <a:xfrm>
            <a:off x="6540500" y="1779588"/>
            <a:ext cx="22225" cy="22225"/>
          </a:xfrm>
          <a:prstGeom prst="ellipse">
            <a:avLst/>
          </a:prstGeom>
          <a:noFill/>
          <a:ln w="1333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3" name="hdn-3"/>
          <p:cNvSpPr txBox="1"/>
          <p:nvPr/>
        </p:nvSpPr>
        <p:spPr>
          <a:xfrm>
            <a:off x="6788150" y="1493044"/>
            <a:ext cx="498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零售</a:t>
            </a:r>
          </a:p>
        </p:txBody>
      </p:sp>
      <p:sp>
        <p:nvSpPr>
          <p:cNvPr id="114" name="hde-3"/>
          <p:cNvSpPr txBox="1"/>
          <p:nvPr/>
        </p:nvSpPr>
        <p:spPr>
          <a:xfrm>
            <a:off x="6796532" y="1795208"/>
            <a:ext cx="6306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CFE0F4"/>
                </a:solidFill>
                <a:latin typeface="Arial"/>
                <a:ea typeface="Arial"/>
                <a:cs typeface="Arial"/>
              </a:rPr>
              <a:t>INDUSTRY</a:t>
            </a:r>
          </a:p>
        </p:txBody>
      </p:sp>
      <p:sp>
        <p:nvSpPr>
          <p:cNvPr id="115" name="hdc-3"/>
          <p:cNvSpPr txBox="1"/>
          <p:nvPr/>
        </p:nvSpPr>
        <p:spPr>
          <a:xfrm>
            <a:off x="7833360" y="1527810"/>
            <a:ext cx="65532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0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356</a:t>
            </a:r>
          </a:p>
        </p:txBody>
      </p:sp>
      <p:sp>
        <p:nvSpPr>
          <p:cNvPr id="116" name="hdcl-3"/>
          <p:cNvSpPr txBox="1"/>
          <p:nvPr/>
        </p:nvSpPr>
        <p:spPr>
          <a:xfrm>
            <a:off x="8103108" y="1896808"/>
            <a:ext cx="3657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5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家客户</a:t>
            </a:r>
          </a:p>
        </p:txBody>
      </p:sp>
      <p:sp>
        <p:nvSpPr>
          <p:cNvPr id="117" name="c-3-1"/>
          <p:cNvSpPr/>
          <p:nvPr/>
        </p:nvSpPr>
        <p:spPr>
          <a:xfrm>
            <a:off x="6159500" y="2247900"/>
            <a:ext cx="2476500" cy="482600"/>
          </a:xfrm>
          <a:custGeom>
            <a:avLst/>
            <a:gdLst/>
            <a:ahLst/>
            <a:cxnLst/>
            <a:rect l="0" t="0" r="r" b="b"/>
            <a:pathLst>
              <a:path w="2476500" h="482600">
                <a:moveTo>
                  <a:pt x="101600" y="0"/>
                </a:moveTo>
                <a:lnTo>
                  <a:pt x="2374900" y="0"/>
                </a:lnTo>
                <a:cubicBezTo>
                  <a:pt x="2431034" y="0"/>
                  <a:pt x="2476500" y="45466"/>
                  <a:pt x="2476500" y="101600"/>
                </a:cubicBezTo>
                <a:lnTo>
                  <a:pt x="2476500" y="381000"/>
                </a:lnTo>
                <a:cubicBezTo>
                  <a:pt x="2476500" y="437134"/>
                  <a:pt x="2431034" y="482600"/>
                  <a:pt x="23749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8" name="cm-3-1"/>
          <p:cNvSpPr/>
          <p:nvPr/>
        </p:nvSpPr>
        <p:spPr>
          <a:xfrm>
            <a:off x="6286500" y="2349500"/>
            <a:ext cx="279400" cy="279400"/>
          </a:xfrm>
          <a:prstGeom prst="ellipse">
            <a:avLst/>
          </a:pr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9" name="cmt-3-1"/>
          <p:cNvSpPr txBox="1"/>
          <p:nvPr/>
        </p:nvSpPr>
        <p:spPr>
          <a:xfrm>
            <a:off x="6311582" y="2384647"/>
            <a:ext cx="2292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连</a:t>
            </a:r>
          </a:p>
        </p:txBody>
      </p:sp>
      <p:sp>
        <p:nvSpPr>
          <p:cNvPr id="120" name="cn-3-1"/>
          <p:cNvSpPr txBox="1"/>
          <p:nvPr/>
        </p:nvSpPr>
        <p:spPr>
          <a:xfrm>
            <a:off x="6641084" y="2322640"/>
            <a:ext cx="7261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连锁超市 A</a:t>
            </a:r>
          </a:p>
        </p:txBody>
      </p:sp>
      <p:sp>
        <p:nvSpPr>
          <p:cNvPr id="121" name="cd-3-1"/>
          <p:cNvSpPr txBox="1"/>
          <p:nvPr/>
        </p:nvSpPr>
        <p:spPr>
          <a:xfrm>
            <a:off x="6643751" y="2515187"/>
            <a:ext cx="458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会员体系</a:t>
            </a:r>
          </a:p>
        </p:txBody>
      </p:sp>
      <p:sp>
        <p:nvSpPr>
          <p:cNvPr id="122" name="cy-3-1"/>
          <p:cNvSpPr/>
          <p:nvPr/>
        </p:nvSpPr>
        <p:spPr>
          <a:xfrm>
            <a:off x="7937500" y="2400300"/>
            <a:ext cx="546100" cy="177800"/>
          </a:xfrm>
          <a:custGeom>
            <a:avLst/>
            <a:gdLst/>
            <a:ahLst/>
            <a:cxnLst/>
            <a:rect l="0" t="0" r="r" b="b"/>
            <a:pathLst>
              <a:path w="546100" h="177800">
                <a:moveTo>
                  <a:pt x="88900" y="0"/>
                </a:moveTo>
                <a:lnTo>
                  <a:pt x="457200" y="0"/>
                </a:lnTo>
                <a:cubicBezTo>
                  <a:pt x="506286" y="0"/>
                  <a:pt x="546100" y="39814"/>
                  <a:pt x="546100" y="88900"/>
                </a:cubicBezTo>
                <a:lnTo>
                  <a:pt x="546100" y="88900"/>
                </a:lnTo>
                <a:cubicBezTo>
                  <a:pt x="546100" y="137986"/>
                  <a:pt x="506286" y="177800"/>
                  <a:pt x="4572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DCE7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3" name="cyt-3-1"/>
          <p:cNvSpPr txBox="1"/>
          <p:nvPr/>
        </p:nvSpPr>
        <p:spPr>
          <a:xfrm>
            <a:off x="7962519" y="2411158"/>
            <a:ext cx="4960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合作 5 年</a:t>
            </a:r>
          </a:p>
        </p:txBody>
      </p:sp>
      <p:sp>
        <p:nvSpPr>
          <p:cNvPr id="124" name="c-3-2"/>
          <p:cNvSpPr/>
          <p:nvPr/>
        </p:nvSpPr>
        <p:spPr>
          <a:xfrm>
            <a:off x="6159500" y="2806700"/>
            <a:ext cx="2476500" cy="482600"/>
          </a:xfrm>
          <a:custGeom>
            <a:avLst/>
            <a:gdLst/>
            <a:ahLst/>
            <a:cxnLst/>
            <a:rect l="0" t="0" r="r" b="b"/>
            <a:pathLst>
              <a:path w="2476500" h="482600">
                <a:moveTo>
                  <a:pt x="101600" y="0"/>
                </a:moveTo>
                <a:lnTo>
                  <a:pt x="2374900" y="0"/>
                </a:lnTo>
                <a:cubicBezTo>
                  <a:pt x="2431034" y="0"/>
                  <a:pt x="2476500" y="45466"/>
                  <a:pt x="2476500" y="101600"/>
                </a:cubicBezTo>
                <a:lnTo>
                  <a:pt x="2476500" y="381000"/>
                </a:lnTo>
                <a:cubicBezTo>
                  <a:pt x="2476500" y="437134"/>
                  <a:pt x="2431034" y="482600"/>
                  <a:pt x="23749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5" name="cm-3-2"/>
          <p:cNvSpPr/>
          <p:nvPr/>
        </p:nvSpPr>
        <p:spPr>
          <a:xfrm>
            <a:off x="6286500" y="2908300"/>
            <a:ext cx="279400" cy="279400"/>
          </a:xfrm>
          <a:prstGeom prst="ellipse">
            <a:avLst/>
          </a:pr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6" name="cmt-3-2"/>
          <p:cNvSpPr txBox="1"/>
          <p:nvPr/>
        </p:nvSpPr>
        <p:spPr>
          <a:xfrm>
            <a:off x="6311582" y="2943447"/>
            <a:ext cx="2292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服</a:t>
            </a:r>
          </a:p>
        </p:txBody>
      </p:sp>
      <p:sp>
        <p:nvSpPr>
          <p:cNvPr id="127" name="cn-3-2"/>
          <p:cNvSpPr txBox="1"/>
          <p:nvPr/>
        </p:nvSpPr>
        <p:spPr>
          <a:xfrm>
            <a:off x="6641084" y="2881440"/>
            <a:ext cx="7261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服饰品牌 B</a:t>
            </a:r>
          </a:p>
        </p:txBody>
      </p:sp>
      <p:sp>
        <p:nvSpPr>
          <p:cNvPr id="128" name="cd-3-2"/>
          <p:cNvSpPr txBox="1"/>
          <p:nvPr/>
        </p:nvSpPr>
        <p:spPr>
          <a:xfrm>
            <a:off x="6643751" y="3073987"/>
            <a:ext cx="36480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全渠道</a:t>
            </a:r>
          </a:p>
        </p:txBody>
      </p:sp>
      <p:sp>
        <p:nvSpPr>
          <p:cNvPr id="129" name="cy-3-2"/>
          <p:cNvSpPr/>
          <p:nvPr/>
        </p:nvSpPr>
        <p:spPr>
          <a:xfrm>
            <a:off x="7937500" y="2959100"/>
            <a:ext cx="546100" cy="177800"/>
          </a:xfrm>
          <a:custGeom>
            <a:avLst/>
            <a:gdLst/>
            <a:ahLst/>
            <a:cxnLst/>
            <a:rect l="0" t="0" r="r" b="b"/>
            <a:pathLst>
              <a:path w="546100" h="177800">
                <a:moveTo>
                  <a:pt x="88900" y="0"/>
                </a:moveTo>
                <a:lnTo>
                  <a:pt x="457200" y="0"/>
                </a:lnTo>
                <a:cubicBezTo>
                  <a:pt x="506286" y="0"/>
                  <a:pt x="546100" y="39814"/>
                  <a:pt x="546100" y="88900"/>
                </a:cubicBezTo>
                <a:lnTo>
                  <a:pt x="546100" y="88900"/>
                </a:lnTo>
                <a:cubicBezTo>
                  <a:pt x="546100" y="137986"/>
                  <a:pt x="506286" y="177800"/>
                  <a:pt x="4572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DCE7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0" name="cyt-3-2"/>
          <p:cNvSpPr txBox="1"/>
          <p:nvPr/>
        </p:nvSpPr>
        <p:spPr>
          <a:xfrm>
            <a:off x="7962519" y="2969958"/>
            <a:ext cx="4960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合作 6 年</a:t>
            </a:r>
          </a:p>
        </p:txBody>
      </p:sp>
      <p:sp>
        <p:nvSpPr>
          <p:cNvPr id="131" name="c-3-3"/>
          <p:cNvSpPr/>
          <p:nvPr/>
        </p:nvSpPr>
        <p:spPr>
          <a:xfrm>
            <a:off x="6159500" y="3365500"/>
            <a:ext cx="2476500" cy="482600"/>
          </a:xfrm>
          <a:custGeom>
            <a:avLst/>
            <a:gdLst/>
            <a:ahLst/>
            <a:cxnLst/>
            <a:rect l="0" t="0" r="r" b="b"/>
            <a:pathLst>
              <a:path w="2476500" h="482600">
                <a:moveTo>
                  <a:pt x="101600" y="0"/>
                </a:moveTo>
                <a:lnTo>
                  <a:pt x="2374900" y="0"/>
                </a:lnTo>
                <a:cubicBezTo>
                  <a:pt x="2431034" y="0"/>
                  <a:pt x="2476500" y="45466"/>
                  <a:pt x="2476500" y="101600"/>
                </a:cubicBezTo>
                <a:lnTo>
                  <a:pt x="2476500" y="381000"/>
                </a:lnTo>
                <a:cubicBezTo>
                  <a:pt x="2476500" y="437134"/>
                  <a:pt x="2431034" y="482600"/>
                  <a:pt x="23749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2" name="cm-3-3"/>
          <p:cNvSpPr/>
          <p:nvPr/>
        </p:nvSpPr>
        <p:spPr>
          <a:xfrm>
            <a:off x="6286500" y="3467100"/>
            <a:ext cx="279400" cy="279400"/>
          </a:xfrm>
          <a:prstGeom prst="ellipse">
            <a:avLst/>
          </a:pr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3" name="cmt-3-3"/>
          <p:cNvSpPr txBox="1"/>
          <p:nvPr/>
        </p:nvSpPr>
        <p:spPr>
          <a:xfrm>
            <a:off x="6311582" y="3502247"/>
            <a:ext cx="2292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母</a:t>
            </a:r>
          </a:p>
        </p:txBody>
      </p:sp>
      <p:sp>
        <p:nvSpPr>
          <p:cNvPr id="134" name="cn-3-3"/>
          <p:cNvSpPr txBox="1"/>
          <p:nvPr/>
        </p:nvSpPr>
        <p:spPr>
          <a:xfrm>
            <a:off x="6641084" y="3440240"/>
            <a:ext cx="7261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母婴连锁 C</a:t>
            </a:r>
          </a:p>
        </p:txBody>
      </p:sp>
      <p:sp>
        <p:nvSpPr>
          <p:cNvPr id="135" name="cd-3-3"/>
          <p:cNvSpPr txBox="1"/>
          <p:nvPr/>
        </p:nvSpPr>
        <p:spPr>
          <a:xfrm>
            <a:off x="6643751" y="3632787"/>
            <a:ext cx="458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私域运营</a:t>
            </a:r>
          </a:p>
        </p:txBody>
      </p:sp>
      <p:sp>
        <p:nvSpPr>
          <p:cNvPr id="136" name="cy-3-3"/>
          <p:cNvSpPr/>
          <p:nvPr/>
        </p:nvSpPr>
        <p:spPr>
          <a:xfrm>
            <a:off x="7937500" y="3517900"/>
            <a:ext cx="546100" cy="177800"/>
          </a:xfrm>
          <a:custGeom>
            <a:avLst/>
            <a:gdLst/>
            <a:ahLst/>
            <a:cxnLst/>
            <a:rect l="0" t="0" r="r" b="b"/>
            <a:pathLst>
              <a:path w="546100" h="177800">
                <a:moveTo>
                  <a:pt x="88900" y="0"/>
                </a:moveTo>
                <a:lnTo>
                  <a:pt x="457200" y="0"/>
                </a:lnTo>
                <a:cubicBezTo>
                  <a:pt x="506286" y="0"/>
                  <a:pt x="546100" y="39814"/>
                  <a:pt x="546100" y="88900"/>
                </a:cubicBezTo>
                <a:lnTo>
                  <a:pt x="546100" y="88900"/>
                </a:lnTo>
                <a:cubicBezTo>
                  <a:pt x="546100" y="137986"/>
                  <a:pt x="506286" y="177800"/>
                  <a:pt x="4572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DCE7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7" name="cyt-3-3"/>
          <p:cNvSpPr txBox="1"/>
          <p:nvPr/>
        </p:nvSpPr>
        <p:spPr>
          <a:xfrm>
            <a:off x="7962519" y="3528758"/>
            <a:ext cx="4960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合作 7 年</a:t>
            </a:r>
          </a:p>
        </p:txBody>
      </p:sp>
      <p:sp>
        <p:nvSpPr>
          <p:cNvPr id="138" name="c-3-4"/>
          <p:cNvSpPr/>
          <p:nvPr/>
        </p:nvSpPr>
        <p:spPr>
          <a:xfrm>
            <a:off x="6159500" y="3924300"/>
            <a:ext cx="2476500" cy="482600"/>
          </a:xfrm>
          <a:custGeom>
            <a:avLst/>
            <a:gdLst/>
            <a:ahLst/>
            <a:cxnLst/>
            <a:rect l="0" t="0" r="r" b="b"/>
            <a:pathLst>
              <a:path w="2476500" h="482600">
                <a:moveTo>
                  <a:pt x="101600" y="0"/>
                </a:moveTo>
                <a:lnTo>
                  <a:pt x="2374900" y="0"/>
                </a:lnTo>
                <a:cubicBezTo>
                  <a:pt x="2431034" y="0"/>
                  <a:pt x="2476500" y="45466"/>
                  <a:pt x="2476500" y="101600"/>
                </a:cubicBezTo>
                <a:lnTo>
                  <a:pt x="2476500" y="381000"/>
                </a:lnTo>
                <a:cubicBezTo>
                  <a:pt x="2476500" y="437134"/>
                  <a:pt x="2431034" y="482600"/>
                  <a:pt x="23749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9" name="cm-3-4"/>
          <p:cNvSpPr/>
          <p:nvPr/>
        </p:nvSpPr>
        <p:spPr>
          <a:xfrm>
            <a:off x="6286500" y="4025900"/>
            <a:ext cx="279400" cy="279400"/>
          </a:xfrm>
          <a:prstGeom prst="ellipse">
            <a:avLst/>
          </a:pr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0" name="cmt-3-4"/>
          <p:cNvSpPr txBox="1"/>
          <p:nvPr/>
        </p:nvSpPr>
        <p:spPr>
          <a:xfrm>
            <a:off x="6311582" y="4061047"/>
            <a:ext cx="2292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便</a:t>
            </a:r>
          </a:p>
        </p:txBody>
      </p:sp>
      <p:sp>
        <p:nvSpPr>
          <p:cNvPr id="141" name="cn-3-4"/>
          <p:cNvSpPr txBox="1"/>
          <p:nvPr/>
        </p:nvSpPr>
        <p:spPr>
          <a:xfrm>
            <a:off x="6641084" y="3999040"/>
            <a:ext cx="60553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便利店 D</a:t>
            </a:r>
          </a:p>
        </p:txBody>
      </p:sp>
      <p:sp>
        <p:nvSpPr>
          <p:cNvPr id="142" name="cd-3-4"/>
          <p:cNvSpPr txBox="1"/>
          <p:nvPr/>
        </p:nvSpPr>
        <p:spPr>
          <a:xfrm>
            <a:off x="6643751" y="4191587"/>
            <a:ext cx="552767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门店数字化</a:t>
            </a:r>
          </a:p>
        </p:txBody>
      </p:sp>
      <p:sp>
        <p:nvSpPr>
          <p:cNvPr id="143" name="cy-3-4"/>
          <p:cNvSpPr/>
          <p:nvPr/>
        </p:nvSpPr>
        <p:spPr>
          <a:xfrm>
            <a:off x="7937500" y="4076700"/>
            <a:ext cx="546100" cy="177800"/>
          </a:xfrm>
          <a:custGeom>
            <a:avLst/>
            <a:gdLst/>
            <a:ahLst/>
            <a:cxnLst/>
            <a:rect l="0" t="0" r="r" b="b"/>
            <a:pathLst>
              <a:path w="546100" h="177800">
                <a:moveTo>
                  <a:pt x="88900" y="0"/>
                </a:moveTo>
                <a:lnTo>
                  <a:pt x="457200" y="0"/>
                </a:lnTo>
                <a:cubicBezTo>
                  <a:pt x="506286" y="0"/>
                  <a:pt x="546100" y="39814"/>
                  <a:pt x="546100" y="88900"/>
                </a:cubicBezTo>
                <a:lnTo>
                  <a:pt x="546100" y="88900"/>
                </a:lnTo>
                <a:cubicBezTo>
                  <a:pt x="546100" y="137986"/>
                  <a:pt x="506286" y="177800"/>
                  <a:pt x="4572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DCE7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4" name="cyt-3-4"/>
          <p:cNvSpPr txBox="1"/>
          <p:nvPr/>
        </p:nvSpPr>
        <p:spPr>
          <a:xfrm>
            <a:off x="7962519" y="4087558"/>
            <a:ext cx="4960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合作 3 年</a:t>
            </a:r>
          </a:p>
        </p:txBody>
      </p:sp>
      <p:sp>
        <p:nvSpPr>
          <p:cNvPr id="145" name="c-3-5"/>
          <p:cNvSpPr/>
          <p:nvPr/>
        </p:nvSpPr>
        <p:spPr>
          <a:xfrm>
            <a:off x="6159500" y="4483100"/>
            <a:ext cx="2476500" cy="482600"/>
          </a:xfrm>
          <a:custGeom>
            <a:avLst/>
            <a:gdLst/>
            <a:ahLst/>
            <a:cxnLst/>
            <a:rect l="0" t="0" r="r" b="b"/>
            <a:pathLst>
              <a:path w="2476500" h="482600">
                <a:moveTo>
                  <a:pt x="101600" y="0"/>
                </a:moveTo>
                <a:lnTo>
                  <a:pt x="2374900" y="0"/>
                </a:lnTo>
                <a:cubicBezTo>
                  <a:pt x="2431034" y="0"/>
                  <a:pt x="2476500" y="45466"/>
                  <a:pt x="2476500" y="101600"/>
                </a:cubicBezTo>
                <a:lnTo>
                  <a:pt x="2476500" y="381000"/>
                </a:lnTo>
                <a:cubicBezTo>
                  <a:pt x="2476500" y="437134"/>
                  <a:pt x="2431034" y="482600"/>
                  <a:pt x="23749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6" name="cm-3-5"/>
          <p:cNvSpPr/>
          <p:nvPr/>
        </p:nvSpPr>
        <p:spPr>
          <a:xfrm>
            <a:off x="6286500" y="4584700"/>
            <a:ext cx="279400" cy="279400"/>
          </a:xfrm>
          <a:prstGeom prst="ellipse">
            <a:avLst/>
          </a:pr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7" name="cmt-3-5"/>
          <p:cNvSpPr txBox="1"/>
          <p:nvPr/>
        </p:nvSpPr>
        <p:spPr>
          <a:xfrm>
            <a:off x="6311582" y="4619847"/>
            <a:ext cx="2292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美</a:t>
            </a:r>
          </a:p>
        </p:txBody>
      </p:sp>
      <p:sp>
        <p:nvSpPr>
          <p:cNvPr id="148" name="cn-3-5"/>
          <p:cNvSpPr txBox="1"/>
          <p:nvPr/>
        </p:nvSpPr>
        <p:spPr>
          <a:xfrm>
            <a:off x="6641084" y="4557840"/>
            <a:ext cx="7261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美妆品牌 E</a:t>
            </a:r>
          </a:p>
        </p:txBody>
      </p:sp>
      <p:sp>
        <p:nvSpPr>
          <p:cNvPr id="149" name="cd-3-5"/>
          <p:cNvSpPr txBox="1"/>
          <p:nvPr/>
        </p:nvSpPr>
        <p:spPr>
          <a:xfrm>
            <a:off x="6643751" y="4750387"/>
            <a:ext cx="458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直播电商</a:t>
            </a:r>
          </a:p>
        </p:txBody>
      </p:sp>
      <p:sp>
        <p:nvSpPr>
          <p:cNvPr id="150" name="cy-3-5"/>
          <p:cNvSpPr/>
          <p:nvPr/>
        </p:nvSpPr>
        <p:spPr>
          <a:xfrm>
            <a:off x="7937500" y="4635500"/>
            <a:ext cx="546100" cy="177800"/>
          </a:xfrm>
          <a:custGeom>
            <a:avLst/>
            <a:gdLst/>
            <a:ahLst/>
            <a:cxnLst/>
            <a:rect l="0" t="0" r="r" b="b"/>
            <a:pathLst>
              <a:path w="546100" h="177800">
                <a:moveTo>
                  <a:pt x="88900" y="0"/>
                </a:moveTo>
                <a:lnTo>
                  <a:pt x="457200" y="0"/>
                </a:lnTo>
                <a:cubicBezTo>
                  <a:pt x="506286" y="0"/>
                  <a:pt x="546100" y="39814"/>
                  <a:pt x="546100" y="88900"/>
                </a:cubicBezTo>
                <a:lnTo>
                  <a:pt x="546100" y="88900"/>
                </a:lnTo>
                <a:cubicBezTo>
                  <a:pt x="546100" y="137986"/>
                  <a:pt x="506286" y="177800"/>
                  <a:pt x="4572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DCE7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1" name="cyt-3-5"/>
          <p:cNvSpPr txBox="1"/>
          <p:nvPr/>
        </p:nvSpPr>
        <p:spPr>
          <a:xfrm>
            <a:off x="7962519" y="4646358"/>
            <a:ext cx="4960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合作 4 年</a:t>
            </a:r>
          </a:p>
        </p:txBody>
      </p:sp>
      <p:sp>
        <p:nvSpPr>
          <p:cNvPr id="152" name="c-3-6"/>
          <p:cNvSpPr/>
          <p:nvPr/>
        </p:nvSpPr>
        <p:spPr>
          <a:xfrm>
            <a:off x="6159500" y="5041900"/>
            <a:ext cx="2476500" cy="482600"/>
          </a:xfrm>
          <a:custGeom>
            <a:avLst/>
            <a:gdLst/>
            <a:ahLst/>
            <a:cxnLst/>
            <a:rect l="0" t="0" r="r" b="b"/>
            <a:pathLst>
              <a:path w="2476500" h="482600">
                <a:moveTo>
                  <a:pt x="101600" y="0"/>
                </a:moveTo>
                <a:lnTo>
                  <a:pt x="2374900" y="0"/>
                </a:lnTo>
                <a:cubicBezTo>
                  <a:pt x="2431034" y="0"/>
                  <a:pt x="2476500" y="45466"/>
                  <a:pt x="2476500" y="101600"/>
                </a:cubicBezTo>
                <a:lnTo>
                  <a:pt x="2476500" y="381000"/>
                </a:lnTo>
                <a:cubicBezTo>
                  <a:pt x="2476500" y="437134"/>
                  <a:pt x="2431034" y="482600"/>
                  <a:pt x="23749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3" name="cm-3-6"/>
          <p:cNvSpPr/>
          <p:nvPr/>
        </p:nvSpPr>
        <p:spPr>
          <a:xfrm>
            <a:off x="6286500" y="5143500"/>
            <a:ext cx="279400" cy="279400"/>
          </a:xfrm>
          <a:prstGeom prst="ellipse">
            <a:avLst/>
          </a:pr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4" name="cmt-3-6"/>
          <p:cNvSpPr txBox="1"/>
          <p:nvPr/>
        </p:nvSpPr>
        <p:spPr>
          <a:xfrm>
            <a:off x="6311582" y="5178647"/>
            <a:ext cx="2292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家</a:t>
            </a:r>
          </a:p>
        </p:txBody>
      </p:sp>
      <p:sp>
        <p:nvSpPr>
          <p:cNvPr id="155" name="cn-3-6"/>
          <p:cNvSpPr txBox="1"/>
          <p:nvPr/>
        </p:nvSpPr>
        <p:spPr>
          <a:xfrm>
            <a:off x="6641084" y="5116640"/>
            <a:ext cx="7261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家居卖场 F</a:t>
            </a:r>
          </a:p>
        </p:txBody>
      </p:sp>
      <p:sp>
        <p:nvSpPr>
          <p:cNvPr id="156" name="cd-3-6"/>
          <p:cNvSpPr txBox="1"/>
          <p:nvPr/>
        </p:nvSpPr>
        <p:spPr>
          <a:xfrm>
            <a:off x="6643751" y="5309187"/>
            <a:ext cx="458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导购工具</a:t>
            </a:r>
          </a:p>
        </p:txBody>
      </p:sp>
      <p:sp>
        <p:nvSpPr>
          <p:cNvPr id="157" name="cy-3-6"/>
          <p:cNvSpPr/>
          <p:nvPr/>
        </p:nvSpPr>
        <p:spPr>
          <a:xfrm>
            <a:off x="7937500" y="5194300"/>
            <a:ext cx="546100" cy="177800"/>
          </a:xfrm>
          <a:custGeom>
            <a:avLst/>
            <a:gdLst/>
            <a:ahLst/>
            <a:cxnLst/>
            <a:rect l="0" t="0" r="r" b="b"/>
            <a:pathLst>
              <a:path w="546100" h="177800">
                <a:moveTo>
                  <a:pt x="88900" y="0"/>
                </a:moveTo>
                <a:lnTo>
                  <a:pt x="457200" y="0"/>
                </a:lnTo>
                <a:cubicBezTo>
                  <a:pt x="506286" y="0"/>
                  <a:pt x="546100" y="39814"/>
                  <a:pt x="546100" y="88900"/>
                </a:cubicBezTo>
                <a:lnTo>
                  <a:pt x="546100" y="88900"/>
                </a:lnTo>
                <a:cubicBezTo>
                  <a:pt x="546100" y="137986"/>
                  <a:pt x="506286" y="177800"/>
                  <a:pt x="4572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DCE7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8" name="cyt-3-6"/>
          <p:cNvSpPr txBox="1"/>
          <p:nvPr/>
        </p:nvSpPr>
        <p:spPr>
          <a:xfrm>
            <a:off x="7962519" y="5205158"/>
            <a:ext cx="4960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合作 5 年</a:t>
            </a:r>
          </a:p>
        </p:txBody>
      </p:sp>
      <p:sp>
        <p:nvSpPr>
          <p:cNvPr id="159" name="hd-4"/>
          <p:cNvSpPr/>
          <p:nvPr/>
        </p:nvSpPr>
        <p:spPr>
          <a:xfrm>
            <a:off x="8763000" y="1358900"/>
            <a:ext cx="2476500" cy="762000"/>
          </a:xfrm>
          <a:custGeom>
            <a:avLst/>
            <a:gdLst/>
            <a:ahLst/>
            <a:cxnLst/>
            <a:rect l="0" t="0" r="r" b="b"/>
            <a:pathLst>
              <a:path w="2476500" h="762000">
                <a:moveTo>
                  <a:pt x="139700" y="0"/>
                </a:moveTo>
                <a:lnTo>
                  <a:pt x="2336800" y="0"/>
                </a:lnTo>
                <a:cubicBezTo>
                  <a:pt x="2413953" y="0"/>
                  <a:pt x="2476500" y="62547"/>
                  <a:pt x="2476500" y="139700"/>
                </a:cubicBezTo>
                <a:lnTo>
                  <a:pt x="2476500" y="622300"/>
                </a:lnTo>
                <a:cubicBezTo>
                  <a:pt x="2476500" y="699452"/>
                  <a:pt x="2413953" y="762000"/>
                  <a:pt x="2336800" y="762000"/>
                </a:cubicBezTo>
                <a:lnTo>
                  <a:pt x="139700" y="762000"/>
                </a:lnTo>
                <a:cubicBezTo>
                  <a:pt x="62547" y="762000"/>
                  <a:pt x="0" y="699452"/>
                  <a:pt x="0" y="622300"/>
                </a:cubicBezTo>
                <a:lnTo>
                  <a:pt x="0" y="139700"/>
                </a:lnTo>
                <a:cubicBezTo>
                  <a:pt x="0" y="62547"/>
                  <a:pt x="62547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E48152"/>
              </a:gs>
              <a:gs pos="100000">
                <a:srgbClr val="E0703A"/>
              </a:gs>
            </a:gsLst>
            <a:lin ang="72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0" name="hdi-4"/>
          <p:cNvSpPr/>
          <p:nvPr/>
        </p:nvSpPr>
        <p:spPr>
          <a:xfrm>
            <a:off x="8928100" y="1549400"/>
            <a:ext cx="381000" cy="381000"/>
          </a:xfrm>
          <a:prstGeom prst="ellipse">
            <a:avLst/>
          </a:prstGeom>
          <a:solidFill>
            <a:srgbClr val="FFFFF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1" name="icon-globe"/>
          <p:cNvSpPr/>
          <p:nvPr/>
        </p:nvSpPr>
        <p:spPr>
          <a:xfrm>
            <a:off x="9050338" y="1671638"/>
            <a:ext cx="136525" cy="136525"/>
          </a:xfrm>
          <a:custGeom>
            <a:avLst/>
            <a:gdLst/>
            <a:ahLst/>
            <a:cxnLst/>
            <a:rect l="0" t="0" r="r" b="b"/>
            <a:pathLst>
              <a:path w="136525" h="136525">
                <a:moveTo>
                  <a:pt x="0" y="68262"/>
                </a:moveTo>
                <a:lnTo>
                  <a:pt x="136525" y="68262"/>
                </a:lnTo>
                <a:moveTo>
                  <a:pt x="68262" y="0"/>
                </a:moveTo>
                <a:cubicBezTo>
                  <a:pt x="87312" y="19875"/>
                  <a:pt x="96838" y="42862"/>
                  <a:pt x="96838" y="68262"/>
                </a:cubicBezTo>
                <a:cubicBezTo>
                  <a:pt x="96838" y="93662"/>
                  <a:pt x="87312" y="116650"/>
                  <a:pt x="68262" y="136525"/>
                </a:cubicBezTo>
                <a:cubicBezTo>
                  <a:pt x="49212" y="116650"/>
                  <a:pt x="39688" y="93662"/>
                  <a:pt x="39688" y="68262"/>
                </a:cubicBezTo>
                <a:cubicBezTo>
                  <a:pt x="39688" y="42862"/>
                  <a:pt x="49212" y="19875"/>
                  <a:pt x="68262" y="0"/>
                </a:cubicBezTo>
                <a:close/>
              </a:path>
            </a:pathLst>
          </a:custGeom>
          <a:noFill/>
          <a:ln w="1333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2" name="icon-globe"/>
          <p:cNvSpPr/>
          <p:nvPr/>
        </p:nvSpPr>
        <p:spPr>
          <a:xfrm>
            <a:off x="9050338" y="1671638"/>
            <a:ext cx="136525" cy="136525"/>
          </a:xfrm>
          <a:prstGeom prst="ellipse">
            <a:avLst/>
          </a:prstGeom>
          <a:noFill/>
          <a:ln w="1333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3" name="hdn-4"/>
          <p:cNvSpPr txBox="1"/>
          <p:nvPr/>
        </p:nvSpPr>
        <p:spPr>
          <a:xfrm>
            <a:off x="9391650" y="1493044"/>
            <a:ext cx="8540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公共服务</a:t>
            </a:r>
          </a:p>
        </p:txBody>
      </p:sp>
      <p:sp>
        <p:nvSpPr>
          <p:cNvPr id="164" name="hde-4"/>
          <p:cNvSpPr txBox="1"/>
          <p:nvPr/>
        </p:nvSpPr>
        <p:spPr>
          <a:xfrm>
            <a:off x="9400032" y="1795208"/>
            <a:ext cx="6306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CFE0F4"/>
                </a:solidFill>
                <a:latin typeface="Arial"/>
                <a:ea typeface="Arial"/>
                <a:cs typeface="Arial"/>
              </a:rPr>
              <a:t>INDUSTRY</a:t>
            </a:r>
          </a:p>
        </p:txBody>
      </p:sp>
      <p:sp>
        <p:nvSpPr>
          <p:cNvPr id="165" name="hdc-4"/>
          <p:cNvSpPr txBox="1"/>
          <p:nvPr/>
        </p:nvSpPr>
        <p:spPr>
          <a:xfrm>
            <a:off x="10436860" y="1527810"/>
            <a:ext cx="65532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0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250</a:t>
            </a:r>
          </a:p>
        </p:txBody>
      </p:sp>
      <p:sp>
        <p:nvSpPr>
          <p:cNvPr id="166" name="hdcl-4"/>
          <p:cNvSpPr txBox="1"/>
          <p:nvPr/>
        </p:nvSpPr>
        <p:spPr>
          <a:xfrm>
            <a:off x="10706608" y="1896808"/>
            <a:ext cx="36576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5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家客户</a:t>
            </a:r>
          </a:p>
        </p:txBody>
      </p:sp>
      <p:sp>
        <p:nvSpPr>
          <p:cNvPr id="167" name="c-4-1"/>
          <p:cNvSpPr/>
          <p:nvPr/>
        </p:nvSpPr>
        <p:spPr>
          <a:xfrm>
            <a:off x="8763000" y="2247900"/>
            <a:ext cx="2476500" cy="482600"/>
          </a:xfrm>
          <a:custGeom>
            <a:avLst/>
            <a:gdLst/>
            <a:ahLst/>
            <a:cxnLst/>
            <a:rect l="0" t="0" r="r" b="b"/>
            <a:pathLst>
              <a:path w="2476500" h="482600">
                <a:moveTo>
                  <a:pt x="101600" y="0"/>
                </a:moveTo>
                <a:lnTo>
                  <a:pt x="2374900" y="0"/>
                </a:lnTo>
                <a:cubicBezTo>
                  <a:pt x="2431034" y="0"/>
                  <a:pt x="2476500" y="45466"/>
                  <a:pt x="2476500" y="101600"/>
                </a:cubicBezTo>
                <a:lnTo>
                  <a:pt x="2476500" y="381000"/>
                </a:lnTo>
                <a:cubicBezTo>
                  <a:pt x="2476500" y="437134"/>
                  <a:pt x="2431034" y="482600"/>
                  <a:pt x="23749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8" name="cm-4-1"/>
          <p:cNvSpPr/>
          <p:nvPr/>
        </p:nvSpPr>
        <p:spPr>
          <a:xfrm>
            <a:off x="8890000" y="2349500"/>
            <a:ext cx="279400" cy="279400"/>
          </a:xfrm>
          <a:prstGeom prst="ellipse">
            <a:avLst/>
          </a:pr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9" name="cmt-4-1"/>
          <p:cNvSpPr txBox="1"/>
          <p:nvPr/>
        </p:nvSpPr>
        <p:spPr>
          <a:xfrm>
            <a:off x="8915082" y="2384647"/>
            <a:ext cx="2292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三</a:t>
            </a:r>
          </a:p>
        </p:txBody>
      </p:sp>
      <p:sp>
        <p:nvSpPr>
          <p:cNvPr id="170" name="cn-4-1"/>
          <p:cNvSpPr txBox="1"/>
          <p:nvPr/>
        </p:nvSpPr>
        <p:spPr>
          <a:xfrm>
            <a:off x="9244584" y="2322640"/>
            <a:ext cx="7261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三甲医院 A</a:t>
            </a:r>
          </a:p>
        </p:txBody>
      </p:sp>
      <p:sp>
        <p:nvSpPr>
          <p:cNvPr id="171" name="cd-4-1"/>
          <p:cNvSpPr txBox="1"/>
          <p:nvPr/>
        </p:nvSpPr>
        <p:spPr>
          <a:xfrm>
            <a:off x="9247251" y="2515187"/>
            <a:ext cx="458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智慧医院</a:t>
            </a:r>
          </a:p>
        </p:txBody>
      </p:sp>
      <p:sp>
        <p:nvSpPr>
          <p:cNvPr id="172" name="cy-4-1"/>
          <p:cNvSpPr/>
          <p:nvPr/>
        </p:nvSpPr>
        <p:spPr>
          <a:xfrm>
            <a:off x="10541000" y="2400300"/>
            <a:ext cx="546100" cy="177800"/>
          </a:xfrm>
          <a:custGeom>
            <a:avLst/>
            <a:gdLst/>
            <a:ahLst/>
            <a:cxnLst/>
            <a:rect l="0" t="0" r="r" b="b"/>
            <a:pathLst>
              <a:path w="546100" h="177800">
                <a:moveTo>
                  <a:pt x="88900" y="0"/>
                </a:moveTo>
                <a:lnTo>
                  <a:pt x="457200" y="0"/>
                </a:lnTo>
                <a:cubicBezTo>
                  <a:pt x="506286" y="0"/>
                  <a:pt x="546100" y="39814"/>
                  <a:pt x="546100" y="88900"/>
                </a:cubicBezTo>
                <a:lnTo>
                  <a:pt x="546100" y="88900"/>
                </a:lnTo>
                <a:cubicBezTo>
                  <a:pt x="546100" y="137986"/>
                  <a:pt x="506286" y="177800"/>
                  <a:pt x="4572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DCE7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3" name="cyt-4-1"/>
          <p:cNvSpPr txBox="1"/>
          <p:nvPr/>
        </p:nvSpPr>
        <p:spPr>
          <a:xfrm>
            <a:off x="10566019" y="2411158"/>
            <a:ext cx="4960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合作 6 年</a:t>
            </a:r>
          </a:p>
        </p:txBody>
      </p:sp>
      <p:sp>
        <p:nvSpPr>
          <p:cNvPr id="174" name="c-4-2"/>
          <p:cNvSpPr/>
          <p:nvPr/>
        </p:nvSpPr>
        <p:spPr>
          <a:xfrm>
            <a:off x="8763000" y="2806700"/>
            <a:ext cx="2476500" cy="482600"/>
          </a:xfrm>
          <a:custGeom>
            <a:avLst/>
            <a:gdLst/>
            <a:ahLst/>
            <a:cxnLst/>
            <a:rect l="0" t="0" r="r" b="b"/>
            <a:pathLst>
              <a:path w="2476500" h="482600">
                <a:moveTo>
                  <a:pt x="101600" y="0"/>
                </a:moveTo>
                <a:lnTo>
                  <a:pt x="2374900" y="0"/>
                </a:lnTo>
                <a:cubicBezTo>
                  <a:pt x="2431034" y="0"/>
                  <a:pt x="2476500" y="45466"/>
                  <a:pt x="2476500" y="101600"/>
                </a:cubicBezTo>
                <a:lnTo>
                  <a:pt x="2476500" y="381000"/>
                </a:lnTo>
                <a:cubicBezTo>
                  <a:pt x="2476500" y="437134"/>
                  <a:pt x="2431034" y="482600"/>
                  <a:pt x="23749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5" name="cm-4-2"/>
          <p:cNvSpPr/>
          <p:nvPr/>
        </p:nvSpPr>
        <p:spPr>
          <a:xfrm>
            <a:off x="8890000" y="2908300"/>
            <a:ext cx="279400" cy="279400"/>
          </a:xfrm>
          <a:prstGeom prst="ellipse">
            <a:avLst/>
          </a:pr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6" name="cmt-4-2"/>
          <p:cNvSpPr txBox="1"/>
          <p:nvPr/>
        </p:nvSpPr>
        <p:spPr>
          <a:xfrm>
            <a:off x="8915082" y="2943447"/>
            <a:ext cx="2292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高</a:t>
            </a:r>
          </a:p>
        </p:txBody>
      </p:sp>
      <p:sp>
        <p:nvSpPr>
          <p:cNvPr id="177" name="cn-4-2"/>
          <p:cNvSpPr txBox="1"/>
          <p:nvPr/>
        </p:nvSpPr>
        <p:spPr>
          <a:xfrm>
            <a:off x="9244584" y="2881440"/>
            <a:ext cx="484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高校 B</a:t>
            </a:r>
          </a:p>
        </p:txBody>
      </p:sp>
      <p:sp>
        <p:nvSpPr>
          <p:cNvPr id="178" name="cd-4-2"/>
          <p:cNvSpPr txBox="1"/>
          <p:nvPr/>
        </p:nvSpPr>
        <p:spPr>
          <a:xfrm>
            <a:off x="9247251" y="3073987"/>
            <a:ext cx="458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智慧校园</a:t>
            </a:r>
          </a:p>
        </p:txBody>
      </p:sp>
      <p:sp>
        <p:nvSpPr>
          <p:cNvPr id="179" name="cy-4-2"/>
          <p:cNvSpPr/>
          <p:nvPr/>
        </p:nvSpPr>
        <p:spPr>
          <a:xfrm>
            <a:off x="10541000" y="2959100"/>
            <a:ext cx="546100" cy="177800"/>
          </a:xfrm>
          <a:custGeom>
            <a:avLst/>
            <a:gdLst/>
            <a:ahLst/>
            <a:cxnLst/>
            <a:rect l="0" t="0" r="r" b="b"/>
            <a:pathLst>
              <a:path w="546100" h="177800">
                <a:moveTo>
                  <a:pt x="88900" y="0"/>
                </a:moveTo>
                <a:lnTo>
                  <a:pt x="457200" y="0"/>
                </a:lnTo>
                <a:cubicBezTo>
                  <a:pt x="506286" y="0"/>
                  <a:pt x="546100" y="39814"/>
                  <a:pt x="546100" y="88900"/>
                </a:cubicBezTo>
                <a:lnTo>
                  <a:pt x="546100" y="88900"/>
                </a:lnTo>
                <a:cubicBezTo>
                  <a:pt x="546100" y="137986"/>
                  <a:pt x="506286" y="177800"/>
                  <a:pt x="4572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DCE7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0" name="cyt-4-2"/>
          <p:cNvSpPr txBox="1"/>
          <p:nvPr/>
        </p:nvSpPr>
        <p:spPr>
          <a:xfrm>
            <a:off x="10566019" y="2969958"/>
            <a:ext cx="4960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合作 7 年</a:t>
            </a:r>
          </a:p>
        </p:txBody>
      </p:sp>
      <p:sp>
        <p:nvSpPr>
          <p:cNvPr id="181" name="c-4-3"/>
          <p:cNvSpPr/>
          <p:nvPr/>
        </p:nvSpPr>
        <p:spPr>
          <a:xfrm>
            <a:off x="8763000" y="3365500"/>
            <a:ext cx="2476500" cy="482600"/>
          </a:xfrm>
          <a:custGeom>
            <a:avLst/>
            <a:gdLst/>
            <a:ahLst/>
            <a:cxnLst/>
            <a:rect l="0" t="0" r="r" b="b"/>
            <a:pathLst>
              <a:path w="2476500" h="482600">
                <a:moveTo>
                  <a:pt x="101600" y="0"/>
                </a:moveTo>
                <a:lnTo>
                  <a:pt x="2374900" y="0"/>
                </a:lnTo>
                <a:cubicBezTo>
                  <a:pt x="2431034" y="0"/>
                  <a:pt x="2476500" y="45466"/>
                  <a:pt x="2476500" y="101600"/>
                </a:cubicBezTo>
                <a:lnTo>
                  <a:pt x="2476500" y="381000"/>
                </a:lnTo>
                <a:cubicBezTo>
                  <a:pt x="2476500" y="437134"/>
                  <a:pt x="2431034" y="482600"/>
                  <a:pt x="23749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2" name="cm-4-3"/>
          <p:cNvSpPr/>
          <p:nvPr/>
        </p:nvSpPr>
        <p:spPr>
          <a:xfrm>
            <a:off x="8890000" y="3467100"/>
            <a:ext cx="279400" cy="279400"/>
          </a:xfrm>
          <a:prstGeom prst="ellipse">
            <a:avLst/>
          </a:pr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3" name="cmt-4-3"/>
          <p:cNvSpPr txBox="1"/>
          <p:nvPr/>
        </p:nvSpPr>
        <p:spPr>
          <a:xfrm>
            <a:off x="8915082" y="3502247"/>
            <a:ext cx="2292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城</a:t>
            </a:r>
          </a:p>
        </p:txBody>
      </p:sp>
      <p:sp>
        <p:nvSpPr>
          <p:cNvPr id="184" name="cn-4-3"/>
          <p:cNvSpPr txBox="1"/>
          <p:nvPr/>
        </p:nvSpPr>
        <p:spPr>
          <a:xfrm>
            <a:off x="9244584" y="3440240"/>
            <a:ext cx="7261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城投集团 C</a:t>
            </a:r>
          </a:p>
        </p:txBody>
      </p:sp>
      <p:sp>
        <p:nvSpPr>
          <p:cNvPr id="185" name="cd-4-3"/>
          <p:cNvSpPr txBox="1"/>
          <p:nvPr/>
        </p:nvSpPr>
        <p:spPr>
          <a:xfrm>
            <a:off x="9247251" y="3632787"/>
            <a:ext cx="458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项目管理</a:t>
            </a:r>
          </a:p>
        </p:txBody>
      </p:sp>
      <p:sp>
        <p:nvSpPr>
          <p:cNvPr id="186" name="cy-4-3"/>
          <p:cNvSpPr/>
          <p:nvPr/>
        </p:nvSpPr>
        <p:spPr>
          <a:xfrm>
            <a:off x="10541000" y="3517900"/>
            <a:ext cx="546100" cy="177800"/>
          </a:xfrm>
          <a:custGeom>
            <a:avLst/>
            <a:gdLst/>
            <a:ahLst/>
            <a:cxnLst/>
            <a:rect l="0" t="0" r="r" b="b"/>
            <a:pathLst>
              <a:path w="546100" h="177800">
                <a:moveTo>
                  <a:pt x="88900" y="0"/>
                </a:moveTo>
                <a:lnTo>
                  <a:pt x="457200" y="0"/>
                </a:lnTo>
                <a:cubicBezTo>
                  <a:pt x="506286" y="0"/>
                  <a:pt x="546100" y="39814"/>
                  <a:pt x="546100" y="88900"/>
                </a:cubicBezTo>
                <a:lnTo>
                  <a:pt x="546100" y="88900"/>
                </a:lnTo>
                <a:cubicBezTo>
                  <a:pt x="546100" y="137986"/>
                  <a:pt x="506286" y="177800"/>
                  <a:pt x="4572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DCE7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7" name="cyt-4-3"/>
          <p:cNvSpPr txBox="1"/>
          <p:nvPr/>
        </p:nvSpPr>
        <p:spPr>
          <a:xfrm>
            <a:off x="10566019" y="3528758"/>
            <a:ext cx="4960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合作 3 年</a:t>
            </a:r>
          </a:p>
        </p:txBody>
      </p:sp>
      <p:sp>
        <p:nvSpPr>
          <p:cNvPr id="188" name="c-4-4"/>
          <p:cNvSpPr/>
          <p:nvPr/>
        </p:nvSpPr>
        <p:spPr>
          <a:xfrm>
            <a:off x="8763000" y="3924300"/>
            <a:ext cx="2476500" cy="482600"/>
          </a:xfrm>
          <a:custGeom>
            <a:avLst/>
            <a:gdLst/>
            <a:ahLst/>
            <a:cxnLst/>
            <a:rect l="0" t="0" r="r" b="b"/>
            <a:pathLst>
              <a:path w="2476500" h="482600">
                <a:moveTo>
                  <a:pt x="101600" y="0"/>
                </a:moveTo>
                <a:lnTo>
                  <a:pt x="2374900" y="0"/>
                </a:lnTo>
                <a:cubicBezTo>
                  <a:pt x="2431034" y="0"/>
                  <a:pt x="2476500" y="45466"/>
                  <a:pt x="2476500" y="101600"/>
                </a:cubicBezTo>
                <a:lnTo>
                  <a:pt x="2476500" y="381000"/>
                </a:lnTo>
                <a:cubicBezTo>
                  <a:pt x="2476500" y="437134"/>
                  <a:pt x="2431034" y="482600"/>
                  <a:pt x="23749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9" name="cm-4-4"/>
          <p:cNvSpPr/>
          <p:nvPr/>
        </p:nvSpPr>
        <p:spPr>
          <a:xfrm>
            <a:off x="8890000" y="4025900"/>
            <a:ext cx="279400" cy="279400"/>
          </a:xfrm>
          <a:prstGeom prst="ellipse">
            <a:avLst/>
          </a:pr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0" name="cmt-4-4"/>
          <p:cNvSpPr txBox="1"/>
          <p:nvPr/>
        </p:nvSpPr>
        <p:spPr>
          <a:xfrm>
            <a:off x="8915082" y="4061047"/>
            <a:ext cx="2292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水</a:t>
            </a:r>
          </a:p>
        </p:txBody>
      </p:sp>
      <p:sp>
        <p:nvSpPr>
          <p:cNvPr id="191" name="cn-4-4"/>
          <p:cNvSpPr txBox="1"/>
          <p:nvPr/>
        </p:nvSpPr>
        <p:spPr>
          <a:xfrm>
            <a:off x="9244584" y="3999040"/>
            <a:ext cx="7261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水务公司 D</a:t>
            </a:r>
          </a:p>
        </p:txBody>
      </p:sp>
      <p:sp>
        <p:nvSpPr>
          <p:cNvPr id="192" name="cd-4-4"/>
          <p:cNvSpPr txBox="1"/>
          <p:nvPr/>
        </p:nvSpPr>
        <p:spPr>
          <a:xfrm>
            <a:off x="9247251" y="4191587"/>
            <a:ext cx="458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管网监测</a:t>
            </a:r>
          </a:p>
        </p:txBody>
      </p:sp>
      <p:sp>
        <p:nvSpPr>
          <p:cNvPr id="193" name="cy-4-4"/>
          <p:cNvSpPr/>
          <p:nvPr/>
        </p:nvSpPr>
        <p:spPr>
          <a:xfrm>
            <a:off x="10541000" y="4076700"/>
            <a:ext cx="546100" cy="177800"/>
          </a:xfrm>
          <a:custGeom>
            <a:avLst/>
            <a:gdLst/>
            <a:ahLst/>
            <a:cxnLst/>
            <a:rect l="0" t="0" r="r" b="b"/>
            <a:pathLst>
              <a:path w="546100" h="177800">
                <a:moveTo>
                  <a:pt x="88900" y="0"/>
                </a:moveTo>
                <a:lnTo>
                  <a:pt x="457200" y="0"/>
                </a:lnTo>
                <a:cubicBezTo>
                  <a:pt x="506286" y="0"/>
                  <a:pt x="546100" y="39814"/>
                  <a:pt x="546100" y="88900"/>
                </a:cubicBezTo>
                <a:lnTo>
                  <a:pt x="546100" y="88900"/>
                </a:lnTo>
                <a:cubicBezTo>
                  <a:pt x="546100" y="137986"/>
                  <a:pt x="506286" y="177800"/>
                  <a:pt x="4572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DCE7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4" name="cyt-4-4"/>
          <p:cNvSpPr txBox="1"/>
          <p:nvPr/>
        </p:nvSpPr>
        <p:spPr>
          <a:xfrm>
            <a:off x="10566019" y="4087558"/>
            <a:ext cx="4960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合作 4 年</a:t>
            </a:r>
          </a:p>
        </p:txBody>
      </p:sp>
      <p:sp>
        <p:nvSpPr>
          <p:cNvPr id="195" name="c-4-5"/>
          <p:cNvSpPr/>
          <p:nvPr/>
        </p:nvSpPr>
        <p:spPr>
          <a:xfrm>
            <a:off x="8763000" y="4483100"/>
            <a:ext cx="2476500" cy="482600"/>
          </a:xfrm>
          <a:custGeom>
            <a:avLst/>
            <a:gdLst/>
            <a:ahLst/>
            <a:cxnLst/>
            <a:rect l="0" t="0" r="r" b="b"/>
            <a:pathLst>
              <a:path w="2476500" h="482600">
                <a:moveTo>
                  <a:pt x="101600" y="0"/>
                </a:moveTo>
                <a:lnTo>
                  <a:pt x="2374900" y="0"/>
                </a:lnTo>
                <a:cubicBezTo>
                  <a:pt x="2431034" y="0"/>
                  <a:pt x="2476500" y="45466"/>
                  <a:pt x="2476500" y="101600"/>
                </a:cubicBezTo>
                <a:lnTo>
                  <a:pt x="2476500" y="381000"/>
                </a:lnTo>
                <a:cubicBezTo>
                  <a:pt x="2476500" y="437134"/>
                  <a:pt x="2431034" y="482600"/>
                  <a:pt x="23749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6" name="cm-4-5"/>
          <p:cNvSpPr/>
          <p:nvPr/>
        </p:nvSpPr>
        <p:spPr>
          <a:xfrm>
            <a:off x="8890000" y="4584700"/>
            <a:ext cx="279400" cy="279400"/>
          </a:xfrm>
          <a:prstGeom prst="ellipse">
            <a:avLst/>
          </a:pr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7" name="cmt-4-5"/>
          <p:cNvSpPr txBox="1"/>
          <p:nvPr/>
        </p:nvSpPr>
        <p:spPr>
          <a:xfrm>
            <a:off x="8915082" y="4619847"/>
            <a:ext cx="2292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交</a:t>
            </a:r>
          </a:p>
        </p:txBody>
      </p:sp>
      <p:sp>
        <p:nvSpPr>
          <p:cNvPr id="198" name="cn-4-5"/>
          <p:cNvSpPr txBox="1"/>
          <p:nvPr/>
        </p:nvSpPr>
        <p:spPr>
          <a:xfrm>
            <a:off x="9244584" y="4557840"/>
            <a:ext cx="7261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交通集团 E</a:t>
            </a:r>
          </a:p>
        </p:txBody>
      </p:sp>
      <p:sp>
        <p:nvSpPr>
          <p:cNvPr id="199" name="cd-4-5"/>
          <p:cNvSpPr txBox="1"/>
          <p:nvPr/>
        </p:nvSpPr>
        <p:spPr>
          <a:xfrm>
            <a:off x="9247251" y="4750387"/>
            <a:ext cx="458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调度平台</a:t>
            </a:r>
          </a:p>
        </p:txBody>
      </p:sp>
      <p:sp>
        <p:nvSpPr>
          <p:cNvPr id="200" name="cy-4-5"/>
          <p:cNvSpPr/>
          <p:nvPr/>
        </p:nvSpPr>
        <p:spPr>
          <a:xfrm>
            <a:off x="10541000" y="4635500"/>
            <a:ext cx="546100" cy="177800"/>
          </a:xfrm>
          <a:custGeom>
            <a:avLst/>
            <a:gdLst/>
            <a:ahLst/>
            <a:cxnLst/>
            <a:rect l="0" t="0" r="r" b="b"/>
            <a:pathLst>
              <a:path w="546100" h="177800">
                <a:moveTo>
                  <a:pt x="88900" y="0"/>
                </a:moveTo>
                <a:lnTo>
                  <a:pt x="457200" y="0"/>
                </a:lnTo>
                <a:cubicBezTo>
                  <a:pt x="506286" y="0"/>
                  <a:pt x="546100" y="39814"/>
                  <a:pt x="546100" y="88900"/>
                </a:cubicBezTo>
                <a:lnTo>
                  <a:pt x="546100" y="88900"/>
                </a:lnTo>
                <a:cubicBezTo>
                  <a:pt x="546100" y="137986"/>
                  <a:pt x="506286" y="177800"/>
                  <a:pt x="4572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DCE7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1" name="cyt-4-5"/>
          <p:cNvSpPr txBox="1"/>
          <p:nvPr/>
        </p:nvSpPr>
        <p:spPr>
          <a:xfrm>
            <a:off x="10566019" y="4646358"/>
            <a:ext cx="4960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合作 5 年</a:t>
            </a:r>
          </a:p>
        </p:txBody>
      </p:sp>
      <p:sp>
        <p:nvSpPr>
          <p:cNvPr id="202" name="c-4-6"/>
          <p:cNvSpPr/>
          <p:nvPr/>
        </p:nvSpPr>
        <p:spPr>
          <a:xfrm>
            <a:off x="8763000" y="5041900"/>
            <a:ext cx="2476500" cy="482600"/>
          </a:xfrm>
          <a:custGeom>
            <a:avLst/>
            <a:gdLst/>
            <a:ahLst/>
            <a:cxnLst/>
            <a:rect l="0" t="0" r="r" b="b"/>
            <a:pathLst>
              <a:path w="2476500" h="482600">
                <a:moveTo>
                  <a:pt x="101600" y="0"/>
                </a:moveTo>
                <a:lnTo>
                  <a:pt x="2374900" y="0"/>
                </a:lnTo>
                <a:cubicBezTo>
                  <a:pt x="2431034" y="0"/>
                  <a:pt x="2476500" y="45466"/>
                  <a:pt x="2476500" y="101600"/>
                </a:cubicBezTo>
                <a:lnTo>
                  <a:pt x="2476500" y="381000"/>
                </a:lnTo>
                <a:cubicBezTo>
                  <a:pt x="2476500" y="437134"/>
                  <a:pt x="2431034" y="482600"/>
                  <a:pt x="2374900" y="482600"/>
                </a:cubicBezTo>
                <a:lnTo>
                  <a:pt x="101600" y="482600"/>
                </a:lnTo>
                <a:cubicBezTo>
                  <a:pt x="45466" y="482600"/>
                  <a:pt x="0" y="437134"/>
                  <a:pt x="0" y="3810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3" name="cm-4-6"/>
          <p:cNvSpPr/>
          <p:nvPr/>
        </p:nvSpPr>
        <p:spPr>
          <a:xfrm>
            <a:off x="8890000" y="5143500"/>
            <a:ext cx="279400" cy="279400"/>
          </a:xfrm>
          <a:prstGeom prst="ellipse">
            <a:avLst/>
          </a:pr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4" name="cmt-4-6"/>
          <p:cNvSpPr txBox="1"/>
          <p:nvPr/>
        </p:nvSpPr>
        <p:spPr>
          <a:xfrm>
            <a:off x="8915082" y="5178647"/>
            <a:ext cx="2292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5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文</a:t>
            </a:r>
          </a:p>
        </p:txBody>
      </p:sp>
      <p:sp>
        <p:nvSpPr>
          <p:cNvPr id="205" name="cn-4-6"/>
          <p:cNvSpPr txBox="1"/>
          <p:nvPr/>
        </p:nvSpPr>
        <p:spPr>
          <a:xfrm>
            <a:off x="9244584" y="5116640"/>
            <a:ext cx="7261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文旅集团 F</a:t>
            </a:r>
          </a:p>
        </p:txBody>
      </p:sp>
      <p:sp>
        <p:nvSpPr>
          <p:cNvPr id="206" name="cd-4-6"/>
          <p:cNvSpPr txBox="1"/>
          <p:nvPr/>
        </p:nvSpPr>
        <p:spPr>
          <a:xfrm>
            <a:off x="9247251" y="5309187"/>
            <a:ext cx="458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票务系统</a:t>
            </a:r>
          </a:p>
        </p:txBody>
      </p:sp>
      <p:sp>
        <p:nvSpPr>
          <p:cNvPr id="207" name="cy-4-6"/>
          <p:cNvSpPr/>
          <p:nvPr/>
        </p:nvSpPr>
        <p:spPr>
          <a:xfrm>
            <a:off x="10541000" y="5194300"/>
            <a:ext cx="546100" cy="177800"/>
          </a:xfrm>
          <a:custGeom>
            <a:avLst/>
            <a:gdLst/>
            <a:ahLst/>
            <a:cxnLst/>
            <a:rect l="0" t="0" r="r" b="b"/>
            <a:pathLst>
              <a:path w="546100" h="177800">
                <a:moveTo>
                  <a:pt x="88900" y="0"/>
                </a:moveTo>
                <a:lnTo>
                  <a:pt x="457200" y="0"/>
                </a:lnTo>
                <a:cubicBezTo>
                  <a:pt x="506286" y="0"/>
                  <a:pt x="546100" y="39814"/>
                  <a:pt x="546100" y="88900"/>
                </a:cubicBezTo>
                <a:lnTo>
                  <a:pt x="546100" y="88900"/>
                </a:lnTo>
                <a:cubicBezTo>
                  <a:pt x="546100" y="137986"/>
                  <a:pt x="506286" y="177800"/>
                  <a:pt x="457200" y="177800"/>
                </a:cubicBezTo>
                <a:lnTo>
                  <a:pt x="88900" y="177800"/>
                </a:lnTo>
                <a:cubicBezTo>
                  <a:pt x="39814" y="177800"/>
                  <a:pt x="0" y="137986"/>
                  <a:pt x="0" y="88900"/>
                </a:cubicBezTo>
                <a:lnTo>
                  <a:pt x="0" y="88900"/>
                </a:lnTo>
                <a:cubicBezTo>
                  <a:pt x="0" y="39814"/>
                  <a:pt x="39814" y="0"/>
                  <a:pt x="88900" y="0"/>
                </a:cubicBezTo>
                <a:close/>
              </a:path>
            </a:pathLst>
          </a:custGeom>
          <a:solidFill>
            <a:srgbClr val="DCE7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8" name="cyt-4-6"/>
          <p:cNvSpPr txBox="1"/>
          <p:nvPr/>
        </p:nvSpPr>
        <p:spPr>
          <a:xfrm>
            <a:off x="10566019" y="5205158"/>
            <a:ext cx="4960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合作 6 年</a:t>
            </a:r>
          </a:p>
        </p:txBody>
      </p:sp>
      <p:sp>
        <p:nvSpPr>
          <p:cNvPr id="209" name="sum"/>
          <p:cNvSpPr/>
          <p:nvPr/>
        </p:nvSpPr>
        <p:spPr>
          <a:xfrm>
            <a:off x="952500" y="5715000"/>
            <a:ext cx="10287000" cy="533400"/>
          </a:xfrm>
          <a:custGeom>
            <a:avLst/>
            <a:gdLst/>
            <a:ahLst/>
            <a:cxnLst/>
            <a:rect l="0" t="0" r="r" b="b"/>
            <a:pathLst>
              <a:path w="10287000" h="533400">
                <a:moveTo>
                  <a:pt x="101600" y="0"/>
                </a:moveTo>
                <a:lnTo>
                  <a:pt x="10185400" y="0"/>
                </a:lnTo>
                <a:cubicBezTo>
                  <a:pt x="10241534" y="0"/>
                  <a:pt x="10287000" y="45466"/>
                  <a:pt x="10287000" y="101600"/>
                </a:cubicBezTo>
                <a:lnTo>
                  <a:pt x="10287000" y="431800"/>
                </a:lnTo>
                <a:cubicBezTo>
                  <a:pt x="10287000" y="487934"/>
                  <a:pt x="10241534" y="533400"/>
                  <a:pt x="10185400" y="533400"/>
                </a:cubicBezTo>
                <a:lnTo>
                  <a:pt x="101600" y="533400"/>
                </a:lnTo>
                <a:cubicBezTo>
                  <a:pt x="45466" y="533400"/>
                  <a:pt x="0" y="487934"/>
                  <a:pt x="0" y="4318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0" name="sum-bar"/>
          <p:cNvSpPr/>
          <p:nvPr/>
        </p:nvSpPr>
        <p:spPr>
          <a:xfrm>
            <a:off x="952500" y="5715000"/>
            <a:ext cx="31750" cy="5334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1" name="st-v1"/>
          <p:cNvSpPr txBox="1"/>
          <p:nvPr/>
        </p:nvSpPr>
        <p:spPr>
          <a:xfrm>
            <a:off x="1182116" y="5806948"/>
            <a:ext cx="767715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6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1,326</a:t>
            </a:r>
          </a:p>
        </p:txBody>
      </p:sp>
      <p:sp>
        <p:nvSpPr>
          <p:cNvPr id="212" name="st-l1"/>
          <p:cNvSpPr txBox="1"/>
          <p:nvPr/>
        </p:nvSpPr>
        <p:spPr>
          <a:xfrm>
            <a:off x="1917065" y="5907961"/>
            <a:ext cx="4429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家客户</a:t>
            </a:r>
          </a:p>
        </p:txBody>
      </p:sp>
      <p:sp>
        <p:nvSpPr>
          <p:cNvPr id="213" name="st-v2"/>
          <p:cNvSpPr txBox="1"/>
          <p:nvPr/>
        </p:nvSpPr>
        <p:spPr>
          <a:xfrm>
            <a:off x="3722116" y="5806948"/>
            <a:ext cx="533781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6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98%</a:t>
            </a:r>
          </a:p>
        </p:txBody>
      </p:sp>
      <p:sp>
        <p:nvSpPr>
          <p:cNvPr id="214" name="st-l2"/>
          <p:cNvSpPr txBox="1"/>
          <p:nvPr/>
        </p:nvSpPr>
        <p:spPr>
          <a:xfrm>
            <a:off x="4203065" y="5907961"/>
            <a:ext cx="4429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续约率</a:t>
            </a:r>
          </a:p>
        </p:txBody>
      </p:sp>
      <p:sp>
        <p:nvSpPr>
          <p:cNvPr id="215" name="st-v3"/>
          <p:cNvSpPr txBox="1"/>
          <p:nvPr/>
        </p:nvSpPr>
        <p:spPr>
          <a:xfrm>
            <a:off x="6262116" y="5806948"/>
            <a:ext cx="857123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6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4.6 年</a:t>
            </a:r>
          </a:p>
        </p:txBody>
      </p:sp>
      <p:sp>
        <p:nvSpPr>
          <p:cNvPr id="216" name="st-l3"/>
          <p:cNvSpPr txBox="1"/>
          <p:nvPr/>
        </p:nvSpPr>
        <p:spPr>
          <a:xfrm>
            <a:off x="7073265" y="5907961"/>
            <a:ext cx="7858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平均合作时长</a:t>
            </a:r>
          </a:p>
        </p:txBody>
      </p:sp>
      <p:sp>
        <p:nvSpPr>
          <p:cNvPr id="217" name="st-v4"/>
          <p:cNvSpPr txBox="1"/>
          <p:nvPr/>
        </p:nvSpPr>
        <p:spPr>
          <a:xfrm>
            <a:off x="8802116" y="5806948"/>
            <a:ext cx="533781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600" b="1" spc="2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37%</a:t>
            </a:r>
          </a:p>
        </p:txBody>
      </p:sp>
      <p:sp>
        <p:nvSpPr>
          <p:cNvPr id="218" name="st-l4"/>
          <p:cNvSpPr txBox="1"/>
          <p:nvPr/>
        </p:nvSpPr>
        <p:spPr>
          <a:xfrm>
            <a:off x="9283065" y="5907961"/>
            <a:ext cx="9001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2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客户来自转介绍</a:t>
            </a:r>
          </a:p>
        </p:txBody>
      </p:sp>
      <p:cxnSp>
        <p:nvCxnSpPr>
          <p:cNvPr id="219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0" name="foot-l"/>
          <p:cNvSpPr txBox="1"/>
          <p:nvPr/>
        </p:nvSpPr>
        <p:spPr>
          <a:xfrm>
            <a:off x="573532" y="6532308"/>
            <a:ext cx="9469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客户墙 · 四个行业</a:t>
            </a:r>
          </a:p>
        </p:txBody>
      </p:sp>
      <p:sp>
        <p:nvSpPr>
          <p:cNvPr id="221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hero"/>
          <p:cNvSpPr/>
          <p:nvPr/>
        </p:nvSpPr>
        <p:spPr>
          <a:xfrm>
            <a:off x="952500" y="952500"/>
            <a:ext cx="3937000" cy="5080000"/>
          </a:xfrm>
          <a:custGeom>
            <a:avLst/>
            <a:gdLst/>
            <a:ahLst/>
            <a:cxnLst/>
            <a:rect l="0" t="0" r="r" b="b"/>
            <a:pathLst>
              <a:path w="3937000" h="5080000">
                <a:moveTo>
                  <a:pt x="177800" y="0"/>
                </a:moveTo>
                <a:lnTo>
                  <a:pt x="3759200" y="0"/>
                </a:lnTo>
                <a:cubicBezTo>
                  <a:pt x="3857371" y="0"/>
                  <a:pt x="3937000" y="79629"/>
                  <a:pt x="3937000" y="177800"/>
                </a:cubicBezTo>
                <a:lnTo>
                  <a:pt x="3937000" y="4902200"/>
                </a:lnTo>
                <a:cubicBezTo>
                  <a:pt x="3937000" y="5000371"/>
                  <a:pt x="3857371" y="5080000"/>
                  <a:pt x="3759200" y="5080000"/>
                </a:cubicBezTo>
                <a:lnTo>
                  <a:pt x="177800" y="5080000"/>
                </a:lnTo>
                <a:cubicBezTo>
                  <a:pt x="79629" y="5080000"/>
                  <a:pt x="0" y="5000371"/>
                  <a:pt x="0" y="4902200"/>
                </a:cubicBezTo>
                <a:lnTo>
                  <a:pt x="0" y="177800"/>
                </a:lnTo>
                <a:cubicBezTo>
                  <a:pt x="0" y="79629"/>
                  <a:pt x="79629" y="0"/>
                  <a:pt x="177800" y="0"/>
                </a:cubic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0A3A88"/>
              </a:gs>
            </a:gsLst>
            <a:lin ang="7080000" scaled="0"/>
          </a:gra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hero-arc-1"/>
          <p:cNvSpPr/>
          <p:nvPr/>
        </p:nvSpPr>
        <p:spPr>
          <a:xfrm>
            <a:off x="2984500" y="4127500"/>
            <a:ext cx="1905000" cy="1905000"/>
          </a:xfrm>
          <a:custGeom>
            <a:avLst/>
            <a:gdLst/>
            <a:ahLst/>
            <a:cxnLst/>
            <a:rect l="0" t="0" r="r" b="b"/>
            <a:pathLst>
              <a:path w="1905000" h="1905000">
                <a:moveTo>
                  <a:pt x="1905000" y="0"/>
                </a:moveTo>
                <a:cubicBezTo>
                  <a:pt x="852868" y="0"/>
                  <a:pt x="0" y="852868"/>
                  <a:pt x="0" y="1905000"/>
                </a:cubicBezTo>
              </a:path>
            </a:pathLst>
          </a:custGeom>
          <a:noFill/>
          <a:ln w="9525" cap="rnd">
            <a:solidFill>
              <a:srgbClr val="FFFFFF">
                <a:alpha val="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hero-arc-2"/>
          <p:cNvSpPr/>
          <p:nvPr/>
        </p:nvSpPr>
        <p:spPr>
          <a:xfrm>
            <a:off x="3492500" y="4635500"/>
            <a:ext cx="1397000" cy="1397000"/>
          </a:xfrm>
          <a:custGeom>
            <a:avLst/>
            <a:gdLst/>
            <a:ahLst/>
            <a:cxnLst/>
            <a:rect l="0" t="0" r="r" b="b"/>
            <a:pathLst>
              <a:path w="1397000" h="1397000">
                <a:moveTo>
                  <a:pt x="1397000" y="0"/>
                </a:moveTo>
                <a:cubicBezTo>
                  <a:pt x="625437" y="0"/>
                  <a:pt x="0" y="625437"/>
                  <a:pt x="0" y="1397000"/>
                </a:cubicBezTo>
              </a:path>
            </a:pathLst>
          </a:custGeom>
          <a:noFill/>
          <a:ln w="9525" cap="rnd">
            <a:solidFill>
              <a:srgbClr val="FFFFFF">
                <a:alpha val="12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" name="hero-arc-3"/>
          <p:cNvSpPr/>
          <p:nvPr/>
        </p:nvSpPr>
        <p:spPr>
          <a:xfrm>
            <a:off x="4000500" y="5143500"/>
            <a:ext cx="889000" cy="889000"/>
          </a:xfrm>
          <a:custGeom>
            <a:avLst/>
            <a:gdLst/>
            <a:ahLst/>
            <a:cxnLst/>
            <a:rect l="0" t="0" r="r" b="b"/>
            <a:pathLst>
              <a:path w="889000" h="889000">
                <a:moveTo>
                  <a:pt x="889000" y="0"/>
                </a:moveTo>
                <a:cubicBezTo>
                  <a:pt x="398005" y="0"/>
                  <a:pt x="0" y="398005"/>
                  <a:pt x="0" y="889000"/>
                </a:cubicBezTo>
              </a:path>
            </a:pathLst>
          </a:custGeom>
          <a:noFill/>
          <a:ln w="9525" cap="rnd">
            <a:solidFill>
              <a:srgbClr val="FFFFFF">
                <a:alpha val="1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" name="hero-bar"/>
          <p:cNvSpPr/>
          <p:nvPr/>
        </p:nvSpPr>
        <p:spPr>
          <a:xfrm>
            <a:off x="1308100" y="1435100"/>
            <a:ext cx="31750" cy="3810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" name="hero-en"/>
          <p:cNvSpPr txBox="1"/>
          <p:nvPr/>
        </p:nvSpPr>
        <p:spPr>
          <a:xfrm>
            <a:off x="1309370" y="2015966"/>
            <a:ext cx="11271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400">
                <a:solidFill>
                  <a:srgbClr val="BFD6F0"/>
                </a:solidFill>
                <a:latin typeface="Arial"/>
                <a:ea typeface="Arial"/>
                <a:cs typeface="Arial"/>
              </a:rPr>
              <a:t>CONTACT US</a:t>
            </a:r>
          </a:p>
        </p:txBody>
      </p:sp>
      <p:sp>
        <p:nvSpPr>
          <p:cNvPr id="11" name="hero-t"/>
          <p:cNvSpPr txBox="1"/>
          <p:nvPr/>
        </p:nvSpPr>
        <p:spPr>
          <a:xfrm>
            <a:off x="1253236" y="2165858"/>
            <a:ext cx="2443480" cy="8001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3600" b="1" spc="4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联系我们</a:t>
            </a:r>
          </a:p>
        </p:txBody>
      </p:sp>
      <p:sp>
        <p:nvSpPr>
          <p:cNvPr id="12" name="hero-sub"/>
          <p:cNvSpPr txBox="1"/>
          <p:nvPr/>
        </p:nvSpPr>
        <p:spPr>
          <a:xfrm>
            <a:off x="1289050" y="2978944"/>
            <a:ext cx="25431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0" spc="10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期待与您一起，把想法变成结果</a:t>
            </a:r>
          </a:p>
        </p:txBody>
      </p:sp>
      <p:cxnSp>
        <p:nvCxnSpPr>
          <p:cNvPr id="13" name="hero-rule"/>
          <p:cNvCxnSpPr/>
          <p:nvPr/>
        </p:nvCxnSpPr>
        <p:spPr>
          <a:xfrm>
            <a:off x="1308100" y="3479800"/>
            <a:ext cx="1549400" cy="0"/>
          </a:xfrm>
          <a:prstGeom prst="line">
            <a:avLst/>
          </a:prstGeom>
          <a:ln w="8890" cap="rnd">
            <a:solidFill>
              <a:srgbClr val="FFFFFF">
                <a:alpha val="3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qr"/>
          <p:cNvSpPr/>
          <p:nvPr/>
        </p:nvSpPr>
        <p:spPr>
          <a:xfrm>
            <a:off x="1308100" y="3873500"/>
            <a:ext cx="1206500" cy="1206500"/>
          </a:xfrm>
          <a:custGeom>
            <a:avLst/>
            <a:gdLst/>
            <a:ahLst/>
            <a:cxnLst/>
            <a:rect l="0" t="0" r="r" b="b"/>
            <a:pathLst>
              <a:path w="1206500" h="1206500">
                <a:moveTo>
                  <a:pt x="114300" y="0"/>
                </a:moveTo>
                <a:lnTo>
                  <a:pt x="1092200" y="0"/>
                </a:lnTo>
                <a:cubicBezTo>
                  <a:pt x="1155319" y="0"/>
                  <a:pt x="1206500" y="51181"/>
                  <a:pt x="1206500" y="114300"/>
                </a:cubicBezTo>
                <a:lnTo>
                  <a:pt x="1206500" y="1092200"/>
                </a:lnTo>
                <a:cubicBezTo>
                  <a:pt x="1206500" y="1155319"/>
                  <a:pt x="1155319" y="1206500"/>
                  <a:pt x="1092200" y="1206500"/>
                </a:cubicBezTo>
                <a:lnTo>
                  <a:pt x="114300" y="1206500"/>
                </a:lnTo>
                <a:cubicBezTo>
                  <a:pt x="51181" y="1206500"/>
                  <a:pt x="0" y="1155319"/>
                  <a:pt x="0" y="10922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qr-in"/>
          <p:cNvSpPr/>
          <p:nvPr/>
        </p:nvSpPr>
        <p:spPr>
          <a:xfrm>
            <a:off x="1409700" y="3975100"/>
            <a:ext cx="1003300" cy="1003300"/>
          </a:xfrm>
          <a:custGeom>
            <a:avLst/>
            <a:gdLst/>
            <a:ahLst/>
            <a:cxnLst/>
            <a:rect l="0" t="0" r="r" b="b"/>
            <a:pathLst>
              <a:path w="1003300" h="1003300">
                <a:moveTo>
                  <a:pt x="76200" y="0"/>
                </a:moveTo>
                <a:lnTo>
                  <a:pt x="927100" y="0"/>
                </a:lnTo>
                <a:cubicBezTo>
                  <a:pt x="969200" y="0"/>
                  <a:pt x="1003300" y="34100"/>
                  <a:pt x="1003300" y="76200"/>
                </a:cubicBezTo>
                <a:lnTo>
                  <a:pt x="1003300" y="927100"/>
                </a:lnTo>
                <a:cubicBezTo>
                  <a:pt x="1003300" y="969200"/>
                  <a:pt x="969200" y="1003300"/>
                  <a:pt x="927100" y="1003300"/>
                </a:cubicBezTo>
                <a:lnTo>
                  <a:pt x="76200" y="1003300"/>
                </a:lnTo>
                <a:cubicBezTo>
                  <a:pt x="34100" y="1003300"/>
                  <a:pt x="0" y="969200"/>
                  <a:pt x="0" y="927100"/>
                </a:cubicBezTo>
                <a:lnTo>
                  <a:pt x="0" y="76200"/>
                </a:lnTo>
                <a:cubicBezTo>
                  <a:pt x="0" y="34100"/>
                  <a:pt x="34100" y="0"/>
                  <a:pt x="76200" y="0"/>
                </a:cubicBezTo>
                <a:close/>
              </a:path>
            </a:pathLst>
          </a:custGeom>
          <a:noFill/>
          <a:ln w="12700" cap="rnd">
            <a:solidFill>
              <a:srgbClr val="1B5AA8">
                <a:alpha val="6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qr-t"/>
          <p:cNvSpPr txBox="1"/>
          <p:nvPr/>
        </p:nvSpPr>
        <p:spPr>
          <a:xfrm>
            <a:off x="1669415" y="4303840"/>
            <a:ext cx="4838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 spc="10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二维码</a:t>
            </a:r>
          </a:p>
        </p:txBody>
      </p:sp>
      <p:sp>
        <p:nvSpPr>
          <p:cNvPr id="17" name="qr-p"/>
          <p:cNvSpPr txBox="1"/>
          <p:nvPr/>
        </p:nvSpPr>
        <p:spPr>
          <a:xfrm>
            <a:off x="1604645" y="4513008"/>
            <a:ext cx="6134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替换为公众号</a:t>
            </a:r>
          </a:p>
        </p:txBody>
      </p:sp>
      <p:sp>
        <p:nvSpPr>
          <p:cNvPr id="18" name="qr-h"/>
          <p:cNvSpPr txBox="1"/>
          <p:nvPr/>
        </p:nvSpPr>
        <p:spPr>
          <a:xfrm>
            <a:off x="2714498" y="4089813"/>
            <a:ext cx="704215" cy="23336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0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扫码关注</a:t>
            </a:r>
          </a:p>
        </p:txBody>
      </p:sp>
      <p:sp>
        <p:nvSpPr>
          <p:cNvPr id="19" name="qr-d1"/>
          <p:cNvSpPr txBox="1"/>
          <p:nvPr/>
        </p:nvSpPr>
        <p:spPr>
          <a:xfrm>
            <a:off x="2718308" y="4370324"/>
            <a:ext cx="824865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获取行业报告与</a:t>
            </a:r>
          </a:p>
        </p:txBody>
      </p:sp>
      <p:sp>
        <p:nvSpPr>
          <p:cNvPr id="20" name="qr-d2"/>
          <p:cNvSpPr txBox="1"/>
          <p:nvPr/>
        </p:nvSpPr>
        <p:spPr>
          <a:xfrm>
            <a:off x="2718308" y="4548124"/>
            <a:ext cx="5105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25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最新案例</a:t>
            </a:r>
          </a:p>
        </p:txBody>
      </p:sp>
      <p:sp>
        <p:nvSpPr>
          <p:cNvPr id="21" name="hero-ty"/>
          <p:cNvSpPr txBox="1"/>
          <p:nvPr/>
        </p:nvSpPr>
        <p:spPr>
          <a:xfrm>
            <a:off x="1291336" y="5478970"/>
            <a:ext cx="1401318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500">
                <a:solidFill>
                  <a:srgbClr val="DCE9F8"/>
                </a:solidFill>
                <a:latin typeface="Arial"/>
                <a:ea typeface="Arial"/>
                <a:cs typeface="Arial"/>
              </a:rPr>
              <a:t>THANK YOU</a:t>
            </a:r>
          </a:p>
        </p:txBody>
      </p:sp>
      <p:sp>
        <p:nvSpPr>
          <p:cNvPr id="22" name="c-h"/>
          <p:cNvSpPr txBox="1"/>
          <p:nvPr/>
        </p:nvSpPr>
        <p:spPr>
          <a:xfrm>
            <a:off x="5250688" y="1040701"/>
            <a:ext cx="8851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联系方式</a:t>
            </a:r>
          </a:p>
        </p:txBody>
      </p:sp>
      <p:sp>
        <p:nvSpPr>
          <p:cNvPr id="23" name="c-1"/>
          <p:cNvSpPr/>
          <p:nvPr/>
        </p:nvSpPr>
        <p:spPr>
          <a:xfrm>
            <a:off x="5270500" y="1435100"/>
            <a:ext cx="2921000" cy="889000"/>
          </a:xfrm>
          <a:custGeom>
            <a:avLst/>
            <a:gdLst/>
            <a:ahLst/>
            <a:cxnLst/>
            <a:rect l="0" t="0" r="r" b="b"/>
            <a:pathLst>
              <a:path w="2921000" h="889000">
                <a:moveTo>
                  <a:pt x="127000" y="0"/>
                </a:moveTo>
                <a:lnTo>
                  <a:pt x="2794000" y="0"/>
                </a:lnTo>
                <a:cubicBezTo>
                  <a:pt x="2864167" y="0"/>
                  <a:pt x="2921000" y="56832"/>
                  <a:pt x="2921000" y="127000"/>
                </a:cubicBezTo>
                <a:lnTo>
                  <a:pt x="2921000" y="762000"/>
                </a:lnTo>
                <a:cubicBezTo>
                  <a:pt x="2921000" y="832168"/>
                  <a:pt x="2864167" y="889000"/>
                  <a:pt x="2794000" y="889000"/>
                </a:cubicBezTo>
                <a:lnTo>
                  <a:pt x="127000" y="889000"/>
                </a:lnTo>
                <a:cubicBezTo>
                  <a:pt x="56833" y="889000"/>
                  <a:pt x="0" y="832168"/>
                  <a:pt x="0" y="762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chip"/>
          <p:cNvSpPr/>
          <p:nvPr/>
        </p:nvSpPr>
        <p:spPr>
          <a:xfrm>
            <a:off x="5435600" y="1676400"/>
            <a:ext cx="406400" cy="4064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chip-ring"/>
          <p:cNvSpPr/>
          <p:nvPr/>
        </p:nvSpPr>
        <p:spPr>
          <a:xfrm>
            <a:off x="5435600" y="1676400"/>
            <a:ext cx="406400" cy="406400"/>
          </a:xfrm>
          <a:prstGeom prst="ellipse">
            <a:avLst/>
          </a:prstGeom>
          <a:noFill/>
          <a:ln w="6350" cap="rnd">
            <a:solidFill>
              <a:srgbClr val="0B3E8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icon-phone"/>
          <p:cNvSpPr/>
          <p:nvPr/>
        </p:nvSpPr>
        <p:spPr>
          <a:xfrm>
            <a:off x="5594350" y="1811338"/>
            <a:ext cx="88900" cy="136525"/>
          </a:xfrm>
          <a:custGeom>
            <a:avLst/>
            <a:gdLst/>
            <a:ahLst/>
            <a:cxnLst/>
            <a:rect l="0" t="0" r="r" b="b"/>
            <a:pathLst>
              <a:path w="88900" h="136525">
                <a:moveTo>
                  <a:pt x="12700" y="0"/>
                </a:moveTo>
                <a:lnTo>
                  <a:pt x="76200" y="0"/>
                </a:lnTo>
                <a:cubicBezTo>
                  <a:pt x="79565" y="0"/>
                  <a:pt x="82804" y="1333"/>
                  <a:pt x="85153" y="3746"/>
                </a:cubicBezTo>
                <a:cubicBezTo>
                  <a:pt x="87566" y="6096"/>
                  <a:pt x="88900" y="9335"/>
                  <a:pt x="88900" y="12700"/>
                </a:cubicBezTo>
                <a:lnTo>
                  <a:pt x="88900" y="123825"/>
                </a:lnTo>
                <a:cubicBezTo>
                  <a:pt x="88900" y="127190"/>
                  <a:pt x="87566" y="130429"/>
                  <a:pt x="85153" y="132779"/>
                </a:cubicBezTo>
                <a:cubicBezTo>
                  <a:pt x="82804" y="135192"/>
                  <a:pt x="79565" y="136525"/>
                  <a:pt x="76200" y="136525"/>
                </a:cubicBezTo>
                <a:lnTo>
                  <a:pt x="12700" y="136525"/>
                </a:lnTo>
                <a:cubicBezTo>
                  <a:pt x="9335" y="136525"/>
                  <a:pt x="6096" y="135192"/>
                  <a:pt x="3747" y="132779"/>
                </a:cubicBezTo>
                <a:cubicBezTo>
                  <a:pt x="1334" y="130429"/>
                  <a:pt x="0" y="127190"/>
                  <a:pt x="0" y="123825"/>
                </a:cubicBezTo>
                <a:lnTo>
                  <a:pt x="0" y="12700"/>
                </a:lnTo>
                <a:cubicBezTo>
                  <a:pt x="0" y="5715"/>
                  <a:pt x="5715" y="0"/>
                  <a:pt x="12700" y="0"/>
                </a:cubicBezTo>
                <a:close/>
                <a:moveTo>
                  <a:pt x="31750" y="112712"/>
                </a:moveTo>
                <a:lnTo>
                  <a:pt x="57150" y="112712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cl-1"/>
          <p:cNvSpPr txBox="1"/>
          <p:nvPr/>
        </p:nvSpPr>
        <p:spPr>
          <a:xfrm>
            <a:off x="5956808" y="1627124"/>
            <a:ext cx="5359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服务热线</a:t>
            </a:r>
          </a:p>
        </p:txBody>
      </p:sp>
      <p:sp>
        <p:nvSpPr>
          <p:cNvPr id="28" name="cv-1"/>
          <p:cNvSpPr txBox="1"/>
          <p:nvPr/>
        </p:nvSpPr>
        <p:spPr>
          <a:xfrm>
            <a:off x="5950712" y="1805686"/>
            <a:ext cx="1184148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400-000-0000</a:t>
            </a:r>
          </a:p>
        </p:txBody>
      </p:sp>
      <p:sp>
        <p:nvSpPr>
          <p:cNvPr id="29" name="cd-1"/>
          <p:cNvSpPr txBox="1"/>
          <p:nvPr/>
        </p:nvSpPr>
        <p:spPr>
          <a:xfrm>
            <a:off x="5957951" y="2070687"/>
            <a:ext cx="961835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工作日 9:00–18:00</a:t>
            </a:r>
          </a:p>
        </p:txBody>
      </p:sp>
      <p:sp>
        <p:nvSpPr>
          <p:cNvPr id="30" name="c-2"/>
          <p:cNvSpPr/>
          <p:nvPr/>
        </p:nvSpPr>
        <p:spPr>
          <a:xfrm>
            <a:off x="8318500" y="1435100"/>
            <a:ext cx="2921000" cy="889000"/>
          </a:xfrm>
          <a:custGeom>
            <a:avLst/>
            <a:gdLst/>
            <a:ahLst/>
            <a:cxnLst/>
            <a:rect l="0" t="0" r="r" b="b"/>
            <a:pathLst>
              <a:path w="2921000" h="889000">
                <a:moveTo>
                  <a:pt x="127000" y="0"/>
                </a:moveTo>
                <a:lnTo>
                  <a:pt x="2794000" y="0"/>
                </a:lnTo>
                <a:cubicBezTo>
                  <a:pt x="2864167" y="0"/>
                  <a:pt x="2921000" y="56832"/>
                  <a:pt x="2921000" y="127000"/>
                </a:cubicBezTo>
                <a:lnTo>
                  <a:pt x="2921000" y="762000"/>
                </a:lnTo>
                <a:cubicBezTo>
                  <a:pt x="2921000" y="832168"/>
                  <a:pt x="2864167" y="889000"/>
                  <a:pt x="2794000" y="889000"/>
                </a:cubicBezTo>
                <a:lnTo>
                  <a:pt x="127000" y="889000"/>
                </a:lnTo>
                <a:cubicBezTo>
                  <a:pt x="56833" y="889000"/>
                  <a:pt x="0" y="832168"/>
                  <a:pt x="0" y="762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chip"/>
          <p:cNvSpPr/>
          <p:nvPr/>
        </p:nvSpPr>
        <p:spPr>
          <a:xfrm>
            <a:off x="8483600" y="1676400"/>
            <a:ext cx="406400" cy="4064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chip-ring"/>
          <p:cNvSpPr/>
          <p:nvPr/>
        </p:nvSpPr>
        <p:spPr>
          <a:xfrm>
            <a:off x="8483600" y="1676400"/>
            <a:ext cx="406400" cy="406400"/>
          </a:xfrm>
          <a:prstGeom prst="ellipse">
            <a:avLst/>
          </a:prstGeom>
          <a:noFill/>
          <a:ln w="6350" cap="rnd">
            <a:solidFill>
              <a:srgbClr val="1B5AA8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icon-mail"/>
          <p:cNvSpPr/>
          <p:nvPr/>
        </p:nvSpPr>
        <p:spPr>
          <a:xfrm>
            <a:off x="8623300" y="1835150"/>
            <a:ext cx="127000" cy="88900"/>
          </a:xfrm>
          <a:custGeom>
            <a:avLst/>
            <a:gdLst/>
            <a:ahLst/>
            <a:cxnLst/>
            <a:rect l="0" t="0" r="r" b="b"/>
            <a:pathLst>
              <a:path w="127000" h="88900">
                <a:moveTo>
                  <a:pt x="0" y="0"/>
                </a:moveTo>
                <a:lnTo>
                  <a:pt x="127000" y="0"/>
                </a:lnTo>
                <a:lnTo>
                  <a:pt x="127000" y="88900"/>
                </a:lnTo>
                <a:lnTo>
                  <a:pt x="0" y="88900"/>
                </a:lnTo>
                <a:close/>
                <a:moveTo>
                  <a:pt x="0" y="3175"/>
                </a:moveTo>
                <a:lnTo>
                  <a:pt x="63500" y="47625"/>
                </a:lnTo>
                <a:lnTo>
                  <a:pt x="127000" y="3175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cl-2"/>
          <p:cNvSpPr txBox="1"/>
          <p:nvPr/>
        </p:nvSpPr>
        <p:spPr>
          <a:xfrm>
            <a:off x="9004808" y="1627124"/>
            <a:ext cx="5359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商务合作</a:t>
            </a:r>
          </a:p>
        </p:txBody>
      </p:sp>
      <p:sp>
        <p:nvSpPr>
          <p:cNvPr id="35" name="cv-2"/>
          <p:cNvSpPr txBox="1"/>
          <p:nvPr/>
        </p:nvSpPr>
        <p:spPr>
          <a:xfrm>
            <a:off x="8998712" y="1805686"/>
            <a:ext cx="1620393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hello@example.com</a:t>
            </a:r>
          </a:p>
        </p:txBody>
      </p:sp>
      <p:sp>
        <p:nvSpPr>
          <p:cNvPr id="36" name="cd-2"/>
          <p:cNvSpPr txBox="1"/>
          <p:nvPr/>
        </p:nvSpPr>
        <p:spPr>
          <a:xfrm>
            <a:off x="9005951" y="2070687"/>
            <a:ext cx="718249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24 小时内回复</a:t>
            </a:r>
          </a:p>
        </p:txBody>
      </p:sp>
      <p:sp>
        <p:nvSpPr>
          <p:cNvPr id="37" name="c-3"/>
          <p:cNvSpPr/>
          <p:nvPr/>
        </p:nvSpPr>
        <p:spPr>
          <a:xfrm>
            <a:off x="5270500" y="2451100"/>
            <a:ext cx="2921000" cy="889000"/>
          </a:xfrm>
          <a:custGeom>
            <a:avLst/>
            <a:gdLst/>
            <a:ahLst/>
            <a:cxnLst/>
            <a:rect l="0" t="0" r="r" b="b"/>
            <a:pathLst>
              <a:path w="2921000" h="889000">
                <a:moveTo>
                  <a:pt x="127000" y="0"/>
                </a:moveTo>
                <a:lnTo>
                  <a:pt x="2794000" y="0"/>
                </a:lnTo>
                <a:cubicBezTo>
                  <a:pt x="2864167" y="0"/>
                  <a:pt x="2921000" y="56832"/>
                  <a:pt x="2921000" y="127000"/>
                </a:cubicBezTo>
                <a:lnTo>
                  <a:pt x="2921000" y="762000"/>
                </a:lnTo>
                <a:cubicBezTo>
                  <a:pt x="2921000" y="832167"/>
                  <a:pt x="2864167" y="889000"/>
                  <a:pt x="2794000" y="889000"/>
                </a:cubicBezTo>
                <a:lnTo>
                  <a:pt x="127000" y="889000"/>
                </a:lnTo>
                <a:cubicBezTo>
                  <a:pt x="56833" y="889000"/>
                  <a:pt x="0" y="832167"/>
                  <a:pt x="0" y="762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chip"/>
          <p:cNvSpPr/>
          <p:nvPr/>
        </p:nvSpPr>
        <p:spPr>
          <a:xfrm>
            <a:off x="5435600" y="2692400"/>
            <a:ext cx="406400" cy="4064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chip-ring"/>
          <p:cNvSpPr/>
          <p:nvPr/>
        </p:nvSpPr>
        <p:spPr>
          <a:xfrm>
            <a:off x="5435600" y="2692400"/>
            <a:ext cx="406400" cy="406400"/>
          </a:xfrm>
          <a:prstGeom prst="ellipse">
            <a:avLst/>
          </a:prstGeom>
          <a:noFill/>
          <a:ln w="6350" cap="rnd">
            <a:solidFill>
              <a:srgbClr val="2E77C2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icon-globe"/>
          <p:cNvSpPr/>
          <p:nvPr/>
        </p:nvSpPr>
        <p:spPr>
          <a:xfrm>
            <a:off x="5570538" y="2827338"/>
            <a:ext cx="136525" cy="136525"/>
          </a:xfrm>
          <a:custGeom>
            <a:avLst/>
            <a:gdLst/>
            <a:ahLst/>
            <a:cxnLst/>
            <a:rect l="0" t="0" r="r" b="b"/>
            <a:pathLst>
              <a:path w="136525" h="136525">
                <a:moveTo>
                  <a:pt x="0" y="68262"/>
                </a:moveTo>
                <a:lnTo>
                  <a:pt x="136525" y="68262"/>
                </a:lnTo>
                <a:moveTo>
                  <a:pt x="68262" y="0"/>
                </a:moveTo>
                <a:cubicBezTo>
                  <a:pt x="87312" y="19875"/>
                  <a:pt x="96838" y="42862"/>
                  <a:pt x="96838" y="68262"/>
                </a:cubicBezTo>
                <a:cubicBezTo>
                  <a:pt x="96838" y="93662"/>
                  <a:pt x="87312" y="116650"/>
                  <a:pt x="68262" y="136525"/>
                </a:cubicBezTo>
                <a:cubicBezTo>
                  <a:pt x="49212" y="116650"/>
                  <a:pt x="39688" y="93662"/>
                  <a:pt x="39688" y="68262"/>
                </a:cubicBezTo>
                <a:cubicBezTo>
                  <a:pt x="39688" y="42862"/>
                  <a:pt x="49212" y="19875"/>
                  <a:pt x="68262" y="0"/>
                </a:cubicBezTo>
                <a:close/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icon-globe"/>
          <p:cNvSpPr/>
          <p:nvPr/>
        </p:nvSpPr>
        <p:spPr>
          <a:xfrm>
            <a:off x="5570538" y="2827338"/>
            <a:ext cx="136525" cy="136525"/>
          </a:xfrm>
          <a:prstGeom prst="ellipse">
            <a:avLst/>
          </a:pr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cl-3"/>
          <p:cNvSpPr txBox="1"/>
          <p:nvPr/>
        </p:nvSpPr>
        <p:spPr>
          <a:xfrm>
            <a:off x="5956808" y="2643124"/>
            <a:ext cx="5359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官方网站</a:t>
            </a:r>
          </a:p>
        </p:txBody>
      </p:sp>
      <p:sp>
        <p:nvSpPr>
          <p:cNvPr id="43" name="cv-3"/>
          <p:cNvSpPr txBox="1"/>
          <p:nvPr/>
        </p:nvSpPr>
        <p:spPr>
          <a:xfrm>
            <a:off x="5950712" y="2821686"/>
            <a:ext cx="1445895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5">
                <a:solidFill>
                  <a:srgbClr val="0B3E8F"/>
                </a:solidFill>
                <a:latin typeface="Arial"/>
                <a:ea typeface="Arial"/>
                <a:cs typeface="Arial"/>
              </a:rPr>
              <a:t>www.example.com</a:t>
            </a:r>
          </a:p>
        </p:txBody>
      </p:sp>
      <p:sp>
        <p:nvSpPr>
          <p:cNvPr id="44" name="cd-3"/>
          <p:cNvSpPr txBox="1"/>
          <p:nvPr/>
        </p:nvSpPr>
        <p:spPr>
          <a:xfrm>
            <a:off x="5957951" y="3086687"/>
            <a:ext cx="83978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案例、白皮书下载</a:t>
            </a:r>
          </a:p>
        </p:txBody>
      </p:sp>
      <p:sp>
        <p:nvSpPr>
          <p:cNvPr id="45" name="c-4"/>
          <p:cNvSpPr/>
          <p:nvPr/>
        </p:nvSpPr>
        <p:spPr>
          <a:xfrm>
            <a:off x="8318500" y="2451100"/>
            <a:ext cx="2921000" cy="889000"/>
          </a:xfrm>
          <a:custGeom>
            <a:avLst/>
            <a:gdLst/>
            <a:ahLst/>
            <a:cxnLst/>
            <a:rect l="0" t="0" r="r" b="b"/>
            <a:pathLst>
              <a:path w="2921000" h="889000">
                <a:moveTo>
                  <a:pt x="127000" y="0"/>
                </a:moveTo>
                <a:lnTo>
                  <a:pt x="2794000" y="0"/>
                </a:lnTo>
                <a:cubicBezTo>
                  <a:pt x="2864167" y="0"/>
                  <a:pt x="2921000" y="56832"/>
                  <a:pt x="2921000" y="127000"/>
                </a:cubicBezTo>
                <a:lnTo>
                  <a:pt x="2921000" y="762000"/>
                </a:lnTo>
                <a:cubicBezTo>
                  <a:pt x="2921000" y="832167"/>
                  <a:pt x="2864167" y="889000"/>
                  <a:pt x="2794000" y="889000"/>
                </a:cubicBezTo>
                <a:lnTo>
                  <a:pt x="127000" y="889000"/>
                </a:lnTo>
                <a:cubicBezTo>
                  <a:pt x="56833" y="889000"/>
                  <a:pt x="0" y="832167"/>
                  <a:pt x="0" y="7620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chip"/>
          <p:cNvSpPr/>
          <p:nvPr/>
        </p:nvSpPr>
        <p:spPr>
          <a:xfrm>
            <a:off x="8483600" y="2692400"/>
            <a:ext cx="406400" cy="4064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chip-ring"/>
          <p:cNvSpPr/>
          <p:nvPr/>
        </p:nvSpPr>
        <p:spPr>
          <a:xfrm>
            <a:off x="8483600" y="2692400"/>
            <a:ext cx="406400" cy="406400"/>
          </a:xfrm>
          <a:prstGeom prst="ellipse">
            <a:avLst/>
          </a:prstGeom>
          <a:noFill/>
          <a:ln w="6350" cap="rnd">
            <a:solidFill>
              <a:srgbClr val="4694D7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icon-people"/>
          <p:cNvSpPr/>
          <p:nvPr/>
        </p:nvSpPr>
        <p:spPr>
          <a:xfrm>
            <a:off x="8620125" y="2916238"/>
            <a:ext cx="134938" cy="38100"/>
          </a:xfrm>
          <a:custGeom>
            <a:avLst/>
            <a:gdLst/>
            <a:ahLst/>
            <a:cxnLst/>
            <a:rect l="0" t="0" r="r" b="b"/>
            <a:pathLst>
              <a:path w="134938" h="38100">
                <a:moveTo>
                  <a:pt x="0" y="38100"/>
                </a:moveTo>
                <a:cubicBezTo>
                  <a:pt x="0" y="14288"/>
                  <a:pt x="19812" y="0"/>
                  <a:pt x="42862" y="0"/>
                </a:cubicBezTo>
                <a:cubicBezTo>
                  <a:pt x="65913" y="0"/>
                  <a:pt x="85725" y="14288"/>
                  <a:pt x="85725" y="38100"/>
                </a:cubicBezTo>
                <a:moveTo>
                  <a:pt x="101600" y="3175"/>
                </a:moveTo>
                <a:cubicBezTo>
                  <a:pt x="122238" y="5525"/>
                  <a:pt x="134938" y="19875"/>
                  <a:pt x="134938" y="38100"/>
                </a:cubicBezTo>
              </a:path>
            </a:pathLst>
          </a:cu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icon-people"/>
          <p:cNvSpPr/>
          <p:nvPr/>
        </p:nvSpPr>
        <p:spPr>
          <a:xfrm>
            <a:off x="8637588" y="2847975"/>
            <a:ext cx="50800" cy="50800"/>
          </a:xfrm>
          <a:prstGeom prst="ellipse">
            <a:avLst/>
          </a:pr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icon-people"/>
          <p:cNvSpPr/>
          <p:nvPr/>
        </p:nvSpPr>
        <p:spPr>
          <a:xfrm>
            <a:off x="8705850" y="2847975"/>
            <a:ext cx="41275" cy="41275"/>
          </a:xfrm>
          <a:prstGeom prst="ellipse">
            <a:avLst/>
          </a:pr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cl-4"/>
          <p:cNvSpPr txBox="1"/>
          <p:nvPr/>
        </p:nvSpPr>
        <p:spPr>
          <a:xfrm>
            <a:off x="9004808" y="2643124"/>
            <a:ext cx="5359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预约拜访</a:t>
            </a:r>
          </a:p>
        </p:txBody>
      </p:sp>
      <p:sp>
        <p:nvSpPr>
          <p:cNvPr id="52" name="cv-4"/>
          <p:cNvSpPr txBox="1"/>
          <p:nvPr/>
        </p:nvSpPr>
        <p:spPr>
          <a:xfrm>
            <a:off x="8998712" y="2821686"/>
            <a:ext cx="106299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5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专属客户经理</a:t>
            </a:r>
          </a:p>
        </p:txBody>
      </p:sp>
      <p:sp>
        <p:nvSpPr>
          <p:cNvPr id="53" name="cd-4"/>
          <p:cNvSpPr txBox="1"/>
          <p:nvPr/>
        </p:nvSpPr>
        <p:spPr>
          <a:xfrm>
            <a:off x="9005951" y="3086687"/>
            <a:ext cx="74517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20" b="0" spc="2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可安排现场演示</a:t>
            </a:r>
          </a:p>
        </p:txBody>
      </p:sp>
      <p:sp>
        <p:nvSpPr>
          <p:cNvPr id="54" name="o-h"/>
          <p:cNvSpPr txBox="1"/>
          <p:nvPr/>
        </p:nvSpPr>
        <p:spPr>
          <a:xfrm>
            <a:off x="5250688" y="3542602"/>
            <a:ext cx="885190" cy="288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00" b="1" spc="1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办公地点</a:t>
            </a:r>
          </a:p>
        </p:txBody>
      </p:sp>
      <p:cxnSp>
        <p:nvCxnSpPr>
          <p:cNvPr id="55" name="o-line"/>
          <p:cNvCxnSpPr/>
          <p:nvPr/>
        </p:nvCxnSpPr>
        <p:spPr>
          <a:xfrm>
            <a:off x="5397500" y="4318000"/>
            <a:ext cx="5842000" cy="0"/>
          </a:xfrm>
          <a:prstGeom prst="line">
            <a:avLst/>
          </a:prstGeom>
          <a:ln w="19050" cap="rnd">
            <a:solidFill>
              <a:srgbClr val="1B5AA8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6" name="o-d1"/>
          <p:cNvSpPr/>
          <p:nvPr/>
        </p:nvSpPr>
        <p:spPr>
          <a:xfrm>
            <a:off x="5308600" y="4229100"/>
            <a:ext cx="177800" cy="1778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E0703A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o-c1"/>
          <p:cNvSpPr txBox="1"/>
          <p:nvPr/>
        </p:nvSpPr>
        <p:spPr>
          <a:xfrm>
            <a:off x="5353812" y="3926586"/>
            <a:ext cx="4673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上海</a:t>
            </a:r>
          </a:p>
        </p:txBody>
      </p:sp>
      <p:sp>
        <p:nvSpPr>
          <p:cNvPr id="58" name="o-r1"/>
          <p:cNvSpPr/>
          <p:nvPr/>
        </p:nvSpPr>
        <p:spPr>
          <a:xfrm>
            <a:off x="5372100" y="4521200"/>
            <a:ext cx="381000" cy="190500"/>
          </a:xfrm>
          <a:custGeom>
            <a:avLst/>
            <a:gdLst/>
            <a:ahLst/>
            <a:cxnLst/>
            <a:rect l="0" t="0" r="r" b="b"/>
            <a:pathLst>
              <a:path w="381000" h="190500">
                <a:moveTo>
                  <a:pt x="95250" y="0"/>
                </a:moveTo>
                <a:lnTo>
                  <a:pt x="285750" y="0"/>
                </a:lnTo>
                <a:cubicBezTo>
                  <a:pt x="338328" y="0"/>
                  <a:pt x="381000" y="42672"/>
                  <a:pt x="381000" y="95250"/>
                </a:cubicBezTo>
                <a:lnTo>
                  <a:pt x="381000" y="95250"/>
                </a:lnTo>
                <a:cubicBezTo>
                  <a:pt x="381000" y="147828"/>
                  <a:pt x="338328" y="190500"/>
                  <a:pt x="2857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o-rt1"/>
          <p:cNvSpPr txBox="1"/>
          <p:nvPr/>
        </p:nvSpPr>
        <p:spPr>
          <a:xfrm>
            <a:off x="5427345" y="4544758"/>
            <a:ext cx="2705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总部</a:t>
            </a:r>
          </a:p>
        </p:txBody>
      </p:sp>
      <p:sp>
        <p:nvSpPr>
          <p:cNvPr id="60" name="o-a1"/>
          <p:cNvSpPr txBox="1"/>
          <p:nvPr/>
        </p:nvSpPr>
        <p:spPr>
          <a:xfrm>
            <a:off x="5360670" y="4809966"/>
            <a:ext cx="111061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浦东新区 XX 路 XX 号</a:t>
            </a:r>
          </a:p>
        </p:txBody>
      </p:sp>
      <p:sp>
        <p:nvSpPr>
          <p:cNvPr id="61" name="o-d2"/>
          <p:cNvSpPr/>
          <p:nvPr/>
        </p:nvSpPr>
        <p:spPr>
          <a:xfrm>
            <a:off x="6997700" y="4254500"/>
            <a:ext cx="127000" cy="1270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1B5AA8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o-c2"/>
          <p:cNvSpPr txBox="1"/>
          <p:nvPr/>
        </p:nvSpPr>
        <p:spPr>
          <a:xfrm>
            <a:off x="7017512" y="3926586"/>
            <a:ext cx="4673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北京</a:t>
            </a:r>
          </a:p>
        </p:txBody>
      </p:sp>
      <p:sp>
        <p:nvSpPr>
          <p:cNvPr id="63" name="o-r2"/>
          <p:cNvSpPr/>
          <p:nvPr/>
        </p:nvSpPr>
        <p:spPr>
          <a:xfrm>
            <a:off x="7035800" y="4521200"/>
            <a:ext cx="584200" cy="190500"/>
          </a:xfrm>
          <a:custGeom>
            <a:avLst/>
            <a:gdLst/>
            <a:ahLst/>
            <a:cxnLst/>
            <a:rect l="0" t="0" r="r" b="b"/>
            <a:pathLst>
              <a:path w="584200" h="190500">
                <a:moveTo>
                  <a:pt x="95250" y="0"/>
                </a:moveTo>
                <a:lnTo>
                  <a:pt x="488950" y="0"/>
                </a:lnTo>
                <a:cubicBezTo>
                  <a:pt x="541528" y="0"/>
                  <a:pt x="584200" y="42672"/>
                  <a:pt x="584200" y="95250"/>
                </a:cubicBezTo>
                <a:lnTo>
                  <a:pt x="584200" y="95250"/>
                </a:lnTo>
                <a:cubicBezTo>
                  <a:pt x="584200" y="147828"/>
                  <a:pt x="541528" y="190500"/>
                  <a:pt x="4889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o-rt2"/>
          <p:cNvSpPr txBox="1"/>
          <p:nvPr/>
        </p:nvSpPr>
        <p:spPr>
          <a:xfrm>
            <a:off x="7097395" y="4544758"/>
            <a:ext cx="4610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50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华北中心</a:t>
            </a:r>
          </a:p>
        </p:txBody>
      </p:sp>
      <p:sp>
        <p:nvSpPr>
          <p:cNvPr id="65" name="o-a2"/>
          <p:cNvSpPr txBox="1"/>
          <p:nvPr/>
        </p:nvSpPr>
        <p:spPr>
          <a:xfrm>
            <a:off x="7024370" y="4809966"/>
            <a:ext cx="101346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朝阳区 XX 路 XX 号</a:t>
            </a:r>
          </a:p>
        </p:txBody>
      </p:sp>
      <p:sp>
        <p:nvSpPr>
          <p:cNvPr id="66" name="o-d3"/>
          <p:cNvSpPr/>
          <p:nvPr/>
        </p:nvSpPr>
        <p:spPr>
          <a:xfrm>
            <a:off x="8661400" y="4254500"/>
            <a:ext cx="127000" cy="1270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2E77C2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o-c3"/>
          <p:cNvSpPr txBox="1"/>
          <p:nvPr/>
        </p:nvSpPr>
        <p:spPr>
          <a:xfrm>
            <a:off x="8681212" y="3926586"/>
            <a:ext cx="4673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深圳</a:t>
            </a:r>
          </a:p>
        </p:txBody>
      </p:sp>
      <p:sp>
        <p:nvSpPr>
          <p:cNvPr id="68" name="o-r3"/>
          <p:cNvSpPr/>
          <p:nvPr/>
        </p:nvSpPr>
        <p:spPr>
          <a:xfrm>
            <a:off x="8699500" y="4521200"/>
            <a:ext cx="584200" cy="190500"/>
          </a:xfrm>
          <a:custGeom>
            <a:avLst/>
            <a:gdLst/>
            <a:ahLst/>
            <a:cxnLst/>
            <a:rect l="0" t="0" r="r" b="b"/>
            <a:pathLst>
              <a:path w="584200" h="190500">
                <a:moveTo>
                  <a:pt x="95250" y="0"/>
                </a:moveTo>
                <a:lnTo>
                  <a:pt x="488950" y="0"/>
                </a:lnTo>
                <a:cubicBezTo>
                  <a:pt x="541528" y="0"/>
                  <a:pt x="584200" y="42672"/>
                  <a:pt x="584200" y="95250"/>
                </a:cubicBezTo>
                <a:lnTo>
                  <a:pt x="584200" y="95250"/>
                </a:lnTo>
                <a:cubicBezTo>
                  <a:pt x="584200" y="147828"/>
                  <a:pt x="541528" y="190500"/>
                  <a:pt x="4889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o-rt3"/>
          <p:cNvSpPr txBox="1"/>
          <p:nvPr/>
        </p:nvSpPr>
        <p:spPr>
          <a:xfrm>
            <a:off x="8761095" y="4544758"/>
            <a:ext cx="4610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50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华南中心</a:t>
            </a:r>
          </a:p>
        </p:txBody>
      </p:sp>
      <p:sp>
        <p:nvSpPr>
          <p:cNvPr id="70" name="o-a3"/>
          <p:cNvSpPr txBox="1"/>
          <p:nvPr/>
        </p:nvSpPr>
        <p:spPr>
          <a:xfrm>
            <a:off x="8688070" y="4809966"/>
            <a:ext cx="101346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南山区 XX 路 XX 号</a:t>
            </a:r>
          </a:p>
        </p:txBody>
      </p:sp>
      <p:sp>
        <p:nvSpPr>
          <p:cNvPr id="71" name="o-d4"/>
          <p:cNvSpPr/>
          <p:nvPr/>
        </p:nvSpPr>
        <p:spPr>
          <a:xfrm>
            <a:off x="10325100" y="4254500"/>
            <a:ext cx="127000" cy="127000"/>
          </a:xfrm>
          <a:prstGeom prst="ellipse">
            <a:avLst/>
          </a:prstGeom>
          <a:solidFill>
            <a:srgbClr val="FFFFFF"/>
          </a:solidFill>
          <a:ln w="25400" cap="rnd">
            <a:solidFill>
              <a:srgbClr val="4694D7"/>
            </a:solidFill>
            <a:round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o-c4"/>
          <p:cNvSpPr txBox="1"/>
          <p:nvPr/>
        </p:nvSpPr>
        <p:spPr>
          <a:xfrm>
            <a:off x="10344912" y="3926586"/>
            <a:ext cx="6324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新加坡</a:t>
            </a:r>
          </a:p>
        </p:txBody>
      </p:sp>
      <p:sp>
        <p:nvSpPr>
          <p:cNvPr id="73" name="o-r4"/>
          <p:cNvSpPr/>
          <p:nvPr/>
        </p:nvSpPr>
        <p:spPr>
          <a:xfrm>
            <a:off x="10363200" y="4521200"/>
            <a:ext cx="584200" cy="190500"/>
          </a:xfrm>
          <a:custGeom>
            <a:avLst/>
            <a:gdLst/>
            <a:ahLst/>
            <a:cxnLst/>
            <a:rect l="0" t="0" r="r" b="b"/>
            <a:pathLst>
              <a:path w="584200" h="190500">
                <a:moveTo>
                  <a:pt x="95250" y="0"/>
                </a:moveTo>
                <a:lnTo>
                  <a:pt x="488950" y="0"/>
                </a:lnTo>
                <a:cubicBezTo>
                  <a:pt x="541528" y="0"/>
                  <a:pt x="584200" y="42672"/>
                  <a:pt x="584200" y="95250"/>
                </a:cubicBezTo>
                <a:lnTo>
                  <a:pt x="584200" y="95250"/>
                </a:lnTo>
                <a:cubicBezTo>
                  <a:pt x="584200" y="147828"/>
                  <a:pt x="541528" y="190500"/>
                  <a:pt x="4889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4694D7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o-rt4"/>
          <p:cNvSpPr txBox="1"/>
          <p:nvPr/>
        </p:nvSpPr>
        <p:spPr>
          <a:xfrm>
            <a:off x="10424795" y="4544758"/>
            <a:ext cx="4610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00" b="1" spc="50">
                <a:solidFill>
                  <a:srgbClr val="4694D7"/>
                </a:solidFill>
                <a:latin typeface="微软雅黑"/>
                <a:ea typeface="微软雅黑"/>
                <a:cs typeface="微软雅黑"/>
              </a:rPr>
              <a:t>海外中心</a:t>
            </a:r>
          </a:p>
        </p:txBody>
      </p:sp>
      <p:sp>
        <p:nvSpPr>
          <p:cNvPr id="75" name="o-a4"/>
          <p:cNvSpPr txBox="1"/>
          <p:nvPr/>
        </p:nvSpPr>
        <p:spPr>
          <a:xfrm>
            <a:off x="10351770" y="4809966"/>
            <a:ext cx="792480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滨海湾 XX 大厦</a:t>
            </a:r>
          </a:p>
        </p:txBody>
      </p:sp>
      <p:sp>
        <p:nvSpPr>
          <p:cNvPr id="76" name="note"/>
          <p:cNvSpPr/>
          <p:nvPr/>
        </p:nvSpPr>
        <p:spPr>
          <a:xfrm>
            <a:off x="5270500" y="5308600"/>
            <a:ext cx="5969000" cy="723900"/>
          </a:xfrm>
          <a:custGeom>
            <a:avLst/>
            <a:gdLst/>
            <a:ahLst/>
            <a:cxnLst/>
            <a:rect l="0" t="0" r="r" b="b"/>
            <a:pathLst>
              <a:path w="5969000" h="723900">
                <a:moveTo>
                  <a:pt x="127000" y="0"/>
                </a:moveTo>
                <a:lnTo>
                  <a:pt x="5842000" y="0"/>
                </a:lnTo>
                <a:cubicBezTo>
                  <a:pt x="5912168" y="0"/>
                  <a:pt x="5969000" y="56833"/>
                  <a:pt x="5969000" y="127000"/>
                </a:cubicBezTo>
                <a:lnTo>
                  <a:pt x="5969000" y="596900"/>
                </a:lnTo>
                <a:cubicBezTo>
                  <a:pt x="5969000" y="667067"/>
                  <a:pt x="5912168" y="723900"/>
                  <a:pt x="5842000" y="723900"/>
                </a:cubicBezTo>
                <a:lnTo>
                  <a:pt x="127000" y="723900"/>
                </a:lnTo>
                <a:cubicBezTo>
                  <a:pt x="56833" y="723900"/>
                  <a:pt x="0" y="667067"/>
                  <a:pt x="0" y="5969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note-bar"/>
          <p:cNvSpPr/>
          <p:nvPr/>
        </p:nvSpPr>
        <p:spPr>
          <a:xfrm>
            <a:off x="5270500" y="5308600"/>
            <a:ext cx="31750" cy="7239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note-h"/>
          <p:cNvSpPr txBox="1"/>
          <p:nvPr/>
        </p:nvSpPr>
        <p:spPr>
          <a:xfrm>
            <a:off x="5447284" y="5446840"/>
            <a:ext cx="6108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使用说明</a:t>
            </a:r>
          </a:p>
        </p:txBody>
      </p:sp>
      <p:sp>
        <p:nvSpPr>
          <p:cNvPr id="79" name="note-p"/>
          <p:cNvSpPr txBox="1"/>
          <p:nvPr/>
        </p:nvSpPr>
        <p:spPr>
          <a:xfrm>
            <a:off x="5448046" y="5695982"/>
            <a:ext cx="33928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页面中的电话、邮箱、地址均为占位示例，请替换为贵司真实信息。</a:t>
            </a:r>
          </a:p>
        </p:txBody>
      </p:sp>
      <p:cxnSp>
        <p:nvCxnSpPr>
          <p:cNvPr id="80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foot-l"/>
          <p:cNvSpPr txBox="1"/>
          <p:nvPr/>
        </p:nvSpPr>
        <p:spPr>
          <a:xfrm>
            <a:off x="573532" y="6532308"/>
            <a:ext cx="84848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结尾 · 联系我们</a:t>
            </a:r>
          </a:p>
        </p:txBody>
      </p:sp>
      <p:sp>
        <p:nvSpPr>
          <p:cNvPr id="82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核心管理团队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445895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LEADERSHIP TEAM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7484491" y="673132"/>
            <a:ext cx="413626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四位负责人合计 68 年行业经验，覆盖产品、技术、市场与运营（人物为示例）</a:t>
            </a:r>
          </a:p>
        </p:txBody>
      </p:sp>
      <p:sp>
        <p:nvSpPr>
          <p:cNvPr id="10" name="card-1"/>
          <p:cNvSpPr/>
          <p:nvPr/>
        </p:nvSpPr>
        <p:spPr>
          <a:xfrm>
            <a:off x="952500" y="1460500"/>
            <a:ext cx="2476500" cy="4318000"/>
          </a:xfrm>
          <a:custGeom>
            <a:avLst/>
            <a:gdLst/>
            <a:ahLst/>
            <a:cxnLst/>
            <a:rect l="0" t="0" r="r" b="b"/>
            <a:pathLst>
              <a:path w="2476500" h="4318000">
                <a:moveTo>
                  <a:pt x="165100" y="0"/>
                </a:moveTo>
                <a:lnTo>
                  <a:pt x="2311400" y="0"/>
                </a:lnTo>
                <a:cubicBezTo>
                  <a:pt x="2402586" y="0"/>
                  <a:pt x="2476500" y="73914"/>
                  <a:pt x="2476500" y="165100"/>
                </a:cubicBezTo>
                <a:lnTo>
                  <a:pt x="2476500" y="4152900"/>
                </a:lnTo>
                <a:cubicBezTo>
                  <a:pt x="2476500" y="4244086"/>
                  <a:pt x="2402586" y="4318000"/>
                  <a:pt x="2311400" y="4318000"/>
                </a:cubicBezTo>
                <a:lnTo>
                  <a:pt x="165100" y="4318000"/>
                </a:lnTo>
                <a:cubicBezTo>
                  <a:pt x="73914" y="4318000"/>
                  <a:pt x="0" y="4244086"/>
                  <a:pt x="0" y="41529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hd-1"/>
          <p:cNvSpPr/>
          <p:nvPr/>
        </p:nvSpPr>
        <p:spPr>
          <a:xfrm>
            <a:off x="952500" y="1460500"/>
            <a:ext cx="2476500" cy="952500"/>
          </a:xfrm>
          <a:custGeom>
            <a:avLst/>
            <a:gdLst/>
            <a:ahLst/>
            <a:cxnLst/>
            <a:rect l="0" t="0" r="r" b="b"/>
            <a:pathLst>
              <a:path w="2476500" h="952500">
                <a:moveTo>
                  <a:pt x="165100" y="0"/>
                </a:moveTo>
                <a:lnTo>
                  <a:pt x="2311400" y="0"/>
                </a:lnTo>
                <a:cubicBezTo>
                  <a:pt x="2402586" y="0"/>
                  <a:pt x="2476500" y="73914"/>
                  <a:pt x="2476500" y="165100"/>
                </a:cubicBezTo>
                <a:lnTo>
                  <a:pt x="2476500" y="787400"/>
                </a:lnTo>
                <a:cubicBezTo>
                  <a:pt x="2476500" y="878586"/>
                  <a:pt x="2402586" y="952500"/>
                  <a:pt x="2311400" y="952500"/>
                </a:cubicBezTo>
                <a:lnTo>
                  <a:pt x="165100" y="952500"/>
                </a:lnTo>
                <a:cubicBezTo>
                  <a:pt x="73914" y="952500"/>
                  <a:pt x="0" y="878586"/>
                  <a:pt x="0" y="7874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hd2-1"/>
          <p:cNvSpPr/>
          <p:nvPr/>
        </p:nvSpPr>
        <p:spPr>
          <a:xfrm>
            <a:off x="952500" y="2222500"/>
            <a:ext cx="2476500" cy="190500"/>
          </a:xfrm>
          <a:prstGeom prst="rect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en-1"/>
          <p:cNvSpPr txBox="1"/>
          <p:nvPr/>
        </p:nvSpPr>
        <p:spPr>
          <a:xfrm>
            <a:off x="2626360" y="1527810"/>
            <a:ext cx="65532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000" b="1">
                <a:solidFill>
                  <a:srgbClr val="FFFFFF">
                    <a:alpha val="25000"/>
                  </a:srgbClr>
                </a:solidFill>
                <a:latin typeface="Arial"/>
                <a:ea typeface="Arial"/>
                <a:cs typeface="Arial"/>
              </a:rPr>
              <a:t>CEO</a:t>
            </a:r>
          </a:p>
        </p:txBody>
      </p:sp>
      <p:sp>
        <p:nvSpPr>
          <p:cNvPr id="14" name="av-o-1"/>
          <p:cNvSpPr/>
          <p:nvPr/>
        </p:nvSpPr>
        <p:spPr>
          <a:xfrm>
            <a:off x="1746250" y="1968500"/>
            <a:ext cx="889000" cy="889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av-1"/>
          <p:cNvSpPr/>
          <p:nvPr/>
        </p:nvSpPr>
        <p:spPr>
          <a:xfrm>
            <a:off x="1809750" y="2032000"/>
            <a:ext cx="762000" cy="762000"/>
          </a:xfrm>
          <a:prstGeom prst="ellipse">
            <a:avLst/>
          </a:prstGeom>
          <a:gradFill rotWithShape="1">
            <a:gsLst>
              <a:gs pos="0">
                <a:srgbClr val="91A8CD"/>
              </a:gs>
              <a:gs pos="100000">
                <a:srgbClr val="5478B1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av-t-1"/>
          <p:cNvSpPr txBox="1"/>
          <p:nvPr/>
        </p:nvSpPr>
        <p:spPr>
          <a:xfrm>
            <a:off x="1925320" y="2169541"/>
            <a:ext cx="530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2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林</a:t>
            </a:r>
          </a:p>
        </p:txBody>
      </p:sp>
      <p:sp>
        <p:nvSpPr>
          <p:cNvPr id="17" name="nm-1"/>
          <p:cNvSpPr txBox="1"/>
          <p:nvPr/>
        </p:nvSpPr>
        <p:spPr>
          <a:xfrm>
            <a:off x="1894840" y="2904617"/>
            <a:ext cx="5918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3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林远</a:t>
            </a:r>
          </a:p>
        </p:txBody>
      </p:sp>
      <p:sp>
        <p:nvSpPr>
          <p:cNvPr id="18" name="rl-1"/>
          <p:cNvSpPr txBox="1"/>
          <p:nvPr/>
        </p:nvSpPr>
        <p:spPr>
          <a:xfrm>
            <a:off x="1840548" y="3206782"/>
            <a:ext cx="7004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0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首席执行官</a:t>
            </a:r>
          </a:p>
        </p:txBody>
      </p:sp>
      <p:cxnSp>
        <p:nvCxnSpPr>
          <p:cNvPr id="19" name="sep1-1"/>
          <p:cNvCxnSpPr/>
          <p:nvPr/>
        </p:nvCxnSpPr>
        <p:spPr>
          <a:xfrm>
            <a:off x="1143000" y="3556000"/>
            <a:ext cx="20955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yr-1"/>
          <p:cNvSpPr txBox="1"/>
          <p:nvPr/>
        </p:nvSpPr>
        <p:spPr>
          <a:xfrm>
            <a:off x="1109472" y="3579241"/>
            <a:ext cx="564388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20</a:t>
            </a:r>
          </a:p>
        </p:txBody>
      </p:sp>
      <p:sp>
        <p:nvSpPr>
          <p:cNvPr id="21" name="yrl-1"/>
          <p:cNvSpPr txBox="1"/>
          <p:nvPr/>
        </p:nvSpPr>
        <p:spPr>
          <a:xfrm>
            <a:off x="1549908" y="3786124"/>
            <a:ext cx="63119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年行业经验</a:t>
            </a:r>
          </a:p>
        </p:txBody>
      </p:sp>
      <p:sp>
        <p:nvSpPr>
          <p:cNvPr id="22" name="ed-1-1"/>
          <p:cNvSpPr/>
          <p:nvPr/>
        </p:nvSpPr>
        <p:spPr>
          <a:xfrm>
            <a:off x="1168400" y="4165600"/>
            <a:ext cx="50800" cy="508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ex-1-1"/>
          <p:cNvSpPr txBox="1"/>
          <p:nvPr/>
        </p:nvSpPr>
        <p:spPr>
          <a:xfrm>
            <a:off x="1270889" y="4107545"/>
            <a:ext cx="129254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曾任某上市软件公司副总裁</a:t>
            </a:r>
          </a:p>
        </p:txBody>
      </p:sp>
      <p:sp>
        <p:nvSpPr>
          <p:cNvPr id="24" name="ed-1-2"/>
          <p:cNvSpPr/>
          <p:nvPr/>
        </p:nvSpPr>
        <p:spPr>
          <a:xfrm>
            <a:off x="1168400" y="4381500"/>
            <a:ext cx="50800" cy="508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ex-1-2"/>
          <p:cNvSpPr txBox="1"/>
          <p:nvPr/>
        </p:nvSpPr>
        <p:spPr>
          <a:xfrm>
            <a:off x="1270889" y="4323445"/>
            <a:ext cx="89122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主导两次战略转型</a:t>
            </a:r>
          </a:p>
        </p:txBody>
      </p:sp>
      <p:sp>
        <p:nvSpPr>
          <p:cNvPr id="26" name="tg-1-1"/>
          <p:cNvSpPr/>
          <p:nvPr/>
        </p:nvSpPr>
        <p:spPr>
          <a:xfrm>
            <a:off x="1143000" y="4635500"/>
            <a:ext cx="482600" cy="190500"/>
          </a:xfrm>
          <a:custGeom>
            <a:avLst/>
            <a:gdLst/>
            <a:ahLst/>
            <a:cxnLst/>
            <a:rect l="0" t="0" r="r" b="b"/>
            <a:pathLst>
              <a:path w="482600" h="190500">
                <a:moveTo>
                  <a:pt x="95250" y="0"/>
                </a:moveTo>
                <a:lnTo>
                  <a:pt x="387350" y="0"/>
                </a:lnTo>
                <a:cubicBezTo>
                  <a:pt x="439928" y="0"/>
                  <a:pt x="482600" y="42672"/>
                  <a:pt x="482600" y="95250"/>
                </a:cubicBezTo>
                <a:lnTo>
                  <a:pt x="482600" y="95250"/>
                </a:lnTo>
                <a:cubicBezTo>
                  <a:pt x="482600" y="147828"/>
                  <a:pt x="439928" y="190500"/>
                  <a:pt x="3873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tgt-1-1"/>
          <p:cNvSpPr txBox="1"/>
          <p:nvPr/>
        </p:nvSpPr>
        <p:spPr>
          <a:xfrm>
            <a:off x="1244441" y="4655137"/>
            <a:ext cx="2797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战略</a:t>
            </a:r>
          </a:p>
        </p:txBody>
      </p:sp>
      <p:sp>
        <p:nvSpPr>
          <p:cNvPr id="28" name="tg-1-2"/>
          <p:cNvSpPr/>
          <p:nvPr/>
        </p:nvSpPr>
        <p:spPr>
          <a:xfrm>
            <a:off x="1701800" y="4635500"/>
            <a:ext cx="482600" cy="190500"/>
          </a:xfrm>
          <a:custGeom>
            <a:avLst/>
            <a:gdLst/>
            <a:ahLst/>
            <a:cxnLst/>
            <a:rect l="0" t="0" r="r" b="b"/>
            <a:pathLst>
              <a:path w="482600" h="190500">
                <a:moveTo>
                  <a:pt x="95250" y="0"/>
                </a:moveTo>
                <a:lnTo>
                  <a:pt x="387350" y="0"/>
                </a:lnTo>
                <a:cubicBezTo>
                  <a:pt x="439928" y="0"/>
                  <a:pt x="482600" y="42672"/>
                  <a:pt x="482600" y="95250"/>
                </a:cubicBezTo>
                <a:lnTo>
                  <a:pt x="482600" y="95250"/>
                </a:lnTo>
                <a:cubicBezTo>
                  <a:pt x="482600" y="147828"/>
                  <a:pt x="439928" y="190500"/>
                  <a:pt x="3873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tgt-1-2"/>
          <p:cNvSpPr txBox="1"/>
          <p:nvPr/>
        </p:nvSpPr>
        <p:spPr>
          <a:xfrm>
            <a:off x="1803241" y="4655137"/>
            <a:ext cx="2797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5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组织</a:t>
            </a:r>
          </a:p>
        </p:txBody>
      </p:sp>
      <p:sp>
        <p:nvSpPr>
          <p:cNvPr id="30" name="q-1"/>
          <p:cNvSpPr/>
          <p:nvPr/>
        </p:nvSpPr>
        <p:spPr>
          <a:xfrm>
            <a:off x="1079500" y="5016500"/>
            <a:ext cx="2222500" cy="584200"/>
          </a:xfrm>
          <a:custGeom>
            <a:avLst/>
            <a:gdLst/>
            <a:ahLst/>
            <a:cxnLst/>
            <a:rect l="0" t="0" r="r" b="b"/>
            <a:pathLst>
              <a:path w="2222500" h="584200">
                <a:moveTo>
                  <a:pt x="114300" y="0"/>
                </a:moveTo>
                <a:lnTo>
                  <a:pt x="2108200" y="0"/>
                </a:lnTo>
                <a:cubicBezTo>
                  <a:pt x="2171319" y="0"/>
                  <a:pt x="2222500" y="51181"/>
                  <a:pt x="2222500" y="114300"/>
                </a:cubicBezTo>
                <a:lnTo>
                  <a:pt x="2222500" y="469900"/>
                </a:lnTo>
                <a:cubicBezTo>
                  <a:pt x="2222500" y="533019"/>
                  <a:pt x="2171319" y="584200"/>
                  <a:pt x="2108200" y="584200"/>
                </a:cubicBezTo>
                <a:lnTo>
                  <a:pt x="114300" y="584200"/>
                </a:lnTo>
                <a:cubicBezTo>
                  <a:pt x="51181" y="584200"/>
                  <a:pt x="0" y="533019"/>
                  <a:pt x="0" y="469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qm-1"/>
          <p:cNvSpPr txBox="1"/>
          <p:nvPr/>
        </p:nvSpPr>
        <p:spPr>
          <a:xfrm>
            <a:off x="1201420" y="4982210"/>
            <a:ext cx="37084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>
                <a:solidFill>
                  <a:srgbClr val="0B3E8F">
                    <a:alpha val="40000"/>
                  </a:srgbClr>
                </a:solidFill>
                <a:latin typeface="Arial"/>
                <a:ea typeface="Arial"/>
                <a:cs typeface="Arial"/>
              </a:rPr>
              <a:t>“</a:t>
            </a:r>
          </a:p>
        </p:txBody>
      </p:sp>
      <p:sp>
        <p:nvSpPr>
          <p:cNvPr id="32" name="qt-1"/>
          <p:cNvSpPr txBox="1"/>
          <p:nvPr/>
        </p:nvSpPr>
        <p:spPr>
          <a:xfrm>
            <a:off x="1420622" y="5223097"/>
            <a:ext cx="11499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把复杂的事做简单</a:t>
            </a:r>
          </a:p>
        </p:txBody>
      </p:sp>
      <p:sp>
        <p:nvSpPr>
          <p:cNvPr id="33" name="card-2"/>
          <p:cNvSpPr/>
          <p:nvPr/>
        </p:nvSpPr>
        <p:spPr>
          <a:xfrm>
            <a:off x="3556000" y="1460500"/>
            <a:ext cx="2476500" cy="4318000"/>
          </a:xfrm>
          <a:custGeom>
            <a:avLst/>
            <a:gdLst/>
            <a:ahLst/>
            <a:cxnLst/>
            <a:rect l="0" t="0" r="r" b="b"/>
            <a:pathLst>
              <a:path w="2476500" h="4318000">
                <a:moveTo>
                  <a:pt x="165100" y="0"/>
                </a:moveTo>
                <a:lnTo>
                  <a:pt x="2311400" y="0"/>
                </a:lnTo>
                <a:cubicBezTo>
                  <a:pt x="2402586" y="0"/>
                  <a:pt x="2476500" y="73914"/>
                  <a:pt x="2476500" y="165100"/>
                </a:cubicBezTo>
                <a:lnTo>
                  <a:pt x="2476500" y="4152900"/>
                </a:lnTo>
                <a:cubicBezTo>
                  <a:pt x="2476500" y="4244086"/>
                  <a:pt x="2402586" y="4318000"/>
                  <a:pt x="2311400" y="4318000"/>
                </a:cubicBezTo>
                <a:lnTo>
                  <a:pt x="165100" y="4318000"/>
                </a:lnTo>
                <a:cubicBezTo>
                  <a:pt x="73914" y="4318000"/>
                  <a:pt x="0" y="4244086"/>
                  <a:pt x="0" y="41529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hd-2"/>
          <p:cNvSpPr/>
          <p:nvPr/>
        </p:nvSpPr>
        <p:spPr>
          <a:xfrm>
            <a:off x="3556000" y="1460500"/>
            <a:ext cx="2476500" cy="952500"/>
          </a:xfrm>
          <a:custGeom>
            <a:avLst/>
            <a:gdLst/>
            <a:ahLst/>
            <a:cxnLst/>
            <a:rect l="0" t="0" r="r" b="b"/>
            <a:pathLst>
              <a:path w="2476500" h="952500">
                <a:moveTo>
                  <a:pt x="165100" y="0"/>
                </a:moveTo>
                <a:lnTo>
                  <a:pt x="2311400" y="0"/>
                </a:lnTo>
                <a:cubicBezTo>
                  <a:pt x="2402586" y="0"/>
                  <a:pt x="2476500" y="73914"/>
                  <a:pt x="2476500" y="165100"/>
                </a:cubicBezTo>
                <a:lnTo>
                  <a:pt x="2476500" y="787400"/>
                </a:lnTo>
                <a:cubicBezTo>
                  <a:pt x="2476500" y="878586"/>
                  <a:pt x="2402586" y="952500"/>
                  <a:pt x="2311400" y="952500"/>
                </a:cubicBezTo>
                <a:lnTo>
                  <a:pt x="165100" y="952500"/>
                </a:lnTo>
                <a:cubicBezTo>
                  <a:pt x="73914" y="952500"/>
                  <a:pt x="0" y="878586"/>
                  <a:pt x="0" y="7874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gradFill rotWithShape="1">
            <a:gsLst>
              <a:gs pos="0">
                <a:srgbClr val="366EB2"/>
              </a:gs>
              <a:gs pos="100000">
                <a:srgbClr val="1B5AA8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hd2-2"/>
          <p:cNvSpPr/>
          <p:nvPr/>
        </p:nvSpPr>
        <p:spPr>
          <a:xfrm>
            <a:off x="3556000" y="2222500"/>
            <a:ext cx="2476500" cy="190500"/>
          </a:xfrm>
          <a:prstGeom prst="rect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en-2"/>
          <p:cNvSpPr txBox="1"/>
          <p:nvPr/>
        </p:nvSpPr>
        <p:spPr>
          <a:xfrm>
            <a:off x="5229860" y="1527810"/>
            <a:ext cx="65532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000" b="1">
                <a:solidFill>
                  <a:srgbClr val="FFFFFF">
                    <a:alpha val="25000"/>
                  </a:srgbClr>
                </a:solidFill>
                <a:latin typeface="Arial"/>
                <a:ea typeface="Arial"/>
                <a:cs typeface="Arial"/>
              </a:rPr>
              <a:t>CTO</a:t>
            </a:r>
          </a:p>
        </p:txBody>
      </p:sp>
      <p:sp>
        <p:nvSpPr>
          <p:cNvPr id="37" name="av-o-2"/>
          <p:cNvSpPr/>
          <p:nvPr/>
        </p:nvSpPr>
        <p:spPr>
          <a:xfrm>
            <a:off x="4349750" y="1968500"/>
            <a:ext cx="889000" cy="889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av-2"/>
          <p:cNvSpPr/>
          <p:nvPr/>
        </p:nvSpPr>
        <p:spPr>
          <a:xfrm>
            <a:off x="4413250" y="2032000"/>
            <a:ext cx="762000" cy="762000"/>
          </a:xfrm>
          <a:prstGeom prst="ellipse">
            <a:avLst/>
          </a:prstGeom>
          <a:gradFill rotWithShape="1">
            <a:gsLst>
              <a:gs pos="0">
                <a:srgbClr val="98B5D8"/>
              </a:gs>
              <a:gs pos="100000">
                <a:srgbClr val="5F8CC2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av-t-2"/>
          <p:cNvSpPr txBox="1"/>
          <p:nvPr/>
        </p:nvSpPr>
        <p:spPr>
          <a:xfrm>
            <a:off x="4528820" y="2169541"/>
            <a:ext cx="530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2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周</a:t>
            </a:r>
          </a:p>
        </p:txBody>
      </p:sp>
      <p:sp>
        <p:nvSpPr>
          <p:cNvPr id="40" name="nm-2"/>
          <p:cNvSpPr txBox="1"/>
          <p:nvPr/>
        </p:nvSpPr>
        <p:spPr>
          <a:xfrm>
            <a:off x="4498340" y="2904617"/>
            <a:ext cx="5918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3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周宁</a:t>
            </a:r>
          </a:p>
        </p:txBody>
      </p:sp>
      <p:sp>
        <p:nvSpPr>
          <p:cNvPr id="41" name="rl-2"/>
          <p:cNvSpPr txBox="1"/>
          <p:nvPr/>
        </p:nvSpPr>
        <p:spPr>
          <a:xfrm>
            <a:off x="4444048" y="3206782"/>
            <a:ext cx="7004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00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首席技术官</a:t>
            </a:r>
          </a:p>
        </p:txBody>
      </p:sp>
      <p:cxnSp>
        <p:nvCxnSpPr>
          <p:cNvPr id="42" name="sep1-2"/>
          <p:cNvCxnSpPr/>
          <p:nvPr/>
        </p:nvCxnSpPr>
        <p:spPr>
          <a:xfrm>
            <a:off x="3746500" y="3556000"/>
            <a:ext cx="20955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yr-2"/>
          <p:cNvSpPr txBox="1"/>
          <p:nvPr/>
        </p:nvSpPr>
        <p:spPr>
          <a:xfrm>
            <a:off x="3712972" y="3579241"/>
            <a:ext cx="564388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18</a:t>
            </a:r>
          </a:p>
        </p:txBody>
      </p:sp>
      <p:sp>
        <p:nvSpPr>
          <p:cNvPr id="44" name="yrl-2"/>
          <p:cNvSpPr txBox="1"/>
          <p:nvPr/>
        </p:nvSpPr>
        <p:spPr>
          <a:xfrm>
            <a:off x="4153408" y="3786124"/>
            <a:ext cx="63119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年行业经验</a:t>
            </a:r>
          </a:p>
        </p:txBody>
      </p:sp>
      <p:sp>
        <p:nvSpPr>
          <p:cNvPr id="45" name="ed-2-1"/>
          <p:cNvSpPr/>
          <p:nvPr/>
        </p:nvSpPr>
        <p:spPr>
          <a:xfrm>
            <a:off x="3771900" y="4165600"/>
            <a:ext cx="50800" cy="5080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ex-2-1"/>
          <p:cNvSpPr txBox="1"/>
          <p:nvPr/>
        </p:nvSpPr>
        <p:spPr>
          <a:xfrm>
            <a:off x="3874389" y="4107545"/>
            <a:ext cx="1392873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前大型互联网公司架构负责人</a:t>
            </a:r>
          </a:p>
        </p:txBody>
      </p:sp>
      <p:sp>
        <p:nvSpPr>
          <p:cNvPr id="47" name="ed-2-2"/>
          <p:cNvSpPr/>
          <p:nvPr/>
        </p:nvSpPr>
        <p:spPr>
          <a:xfrm>
            <a:off x="3771900" y="4381500"/>
            <a:ext cx="50800" cy="5080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ex-2-2"/>
          <p:cNvSpPr txBox="1"/>
          <p:nvPr/>
        </p:nvSpPr>
        <p:spPr>
          <a:xfrm>
            <a:off x="3874389" y="4323445"/>
            <a:ext cx="1076008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带领 300 人研发团队</a:t>
            </a:r>
          </a:p>
        </p:txBody>
      </p:sp>
      <p:sp>
        <p:nvSpPr>
          <p:cNvPr id="49" name="tg-2-1"/>
          <p:cNvSpPr/>
          <p:nvPr/>
        </p:nvSpPr>
        <p:spPr>
          <a:xfrm>
            <a:off x="3746500" y="4635500"/>
            <a:ext cx="482600" cy="190500"/>
          </a:xfrm>
          <a:custGeom>
            <a:avLst/>
            <a:gdLst/>
            <a:ahLst/>
            <a:cxnLst/>
            <a:rect l="0" t="0" r="r" b="b"/>
            <a:pathLst>
              <a:path w="482600" h="190500">
                <a:moveTo>
                  <a:pt x="95250" y="0"/>
                </a:moveTo>
                <a:lnTo>
                  <a:pt x="387350" y="0"/>
                </a:lnTo>
                <a:cubicBezTo>
                  <a:pt x="439928" y="0"/>
                  <a:pt x="482600" y="42672"/>
                  <a:pt x="482600" y="95250"/>
                </a:cubicBezTo>
                <a:lnTo>
                  <a:pt x="482600" y="95250"/>
                </a:lnTo>
                <a:cubicBezTo>
                  <a:pt x="482600" y="147828"/>
                  <a:pt x="439928" y="190500"/>
                  <a:pt x="3873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tgt-2-1"/>
          <p:cNvSpPr txBox="1"/>
          <p:nvPr/>
        </p:nvSpPr>
        <p:spPr>
          <a:xfrm>
            <a:off x="3847941" y="4655137"/>
            <a:ext cx="2797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50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架构</a:t>
            </a:r>
          </a:p>
        </p:txBody>
      </p:sp>
      <p:sp>
        <p:nvSpPr>
          <p:cNvPr id="51" name="tg-2-2"/>
          <p:cNvSpPr/>
          <p:nvPr/>
        </p:nvSpPr>
        <p:spPr>
          <a:xfrm>
            <a:off x="4305300" y="4635500"/>
            <a:ext cx="482600" cy="190500"/>
          </a:xfrm>
          <a:custGeom>
            <a:avLst/>
            <a:gdLst/>
            <a:ahLst/>
            <a:cxnLst/>
            <a:rect l="0" t="0" r="r" b="b"/>
            <a:pathLst>
              <a:path w="482600" h="190500">
                <a:moveTo>
                  <a:pt x="95250" y="0"/>
                </a:moveTo>
                <a:lnTo>
                  <a:pt x="387350" y="0"/>
                </a:lnTo>
                <a:cubicBezTo>
                  <a:pt x="439928" y="0"/>
                  <a:pt x="482600" y="42672"/>
                  <a:pt x="482600" y="95250"/>
                </a:cubicBezTo>
                <a:lnTo>
                  <a:pt x="482600" y="95250"/>
                </a:lnTo>
                <a:cubicBezTo>
                  <a:pt x="482600" y="147828"/>
                  <a:pt x="439928" y="190500"/>
                  <a:pt x="3873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tgt-2-2"/>
          <p:cNvSpPr txBox="1"/>
          <p:nvPr/>
        </p:nvSpPr>
        <p:spPr>
          <a:xfrm>
            <a:off x="4447254" y="4655137"/>
            <a:ext cx="198692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50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AI</a:t>
            </a:r>
          </a:p>
        </p:txBody>
      </p:sp>
      <p:sp>
        <p:nvSpPr>
          <p:cNvPr id="53" name="q-2"/>
          <p:cNvSpPr/>
          <p:nvPr/>
        </p:nvSpPr>
        <p:spPr>
          <a:xfrm>
            <a:off x="3683000" y="5016500"/>
            <a:ext cx="2222500" cy="584200"/>
          </a:xfrm>
          <a:custGeom>
            <a:avLst/>
            <a:gdLst/>
            <a:ahLst/>
            <a:cxnLst/>
            <a:rect l="0" t="0" r="r" b="b"/>
            <a:pathLst>
              <a:path w="2222500" h="584200">
                <a:moveTo>
                  <a:pt x="114300" y="0"/>
                </a:moveTo>
                <a:lnTo>
                  <a:pt x="2108200" y="0"/>
                </a:lnTo>
                <a:cubicBezTo>
                  <a:pt x="2171319" y="0"/>
                  <a:pt x="2222500" y="51181"/>
                  <a:pt x="2222500" y="114300"/>
                </a:cubicBezTo>
                <a:lnTo>
                  <a:pt x="2222500" y="469900"/>
                </a:lnTo>
                <a:cubicBezTo>
                  <a:pt x="2222500" y="533019"/>
                  <a:pt x="2171319" y="584200"/>
                  <a:pt x="2108200" y="584200"/>
                </a:cubicBezTo>
                <a:lnTo>
                  <a:pt x="114300" y="584200"/>
                </a:lnTo>
                <a:cubicBezTo>
                  <a:pt x="51181" y="584200"/>
                  <a:pt x="0" y="533019"/>
                  <a:pt x="0" y="469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qm-2"/>
          <p:cNvSpPr txBox="1"/>
          <p:nvPr/>
        </p:nvSpPr>
        <p:spPr>
          <a:xfrm>
            <a:off x="3804920" y="4982210"/>
            <a:ext cx="37084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>
                <a:solidFill>
                  <a:srgbClr val="1B5AA8">
                    <a:alpha val="40000"/>
                  </a:srgbClr>
                </a:solidFill>
                <a:latin typeface="Arial"/>
                <a:ea typeface="Arial"/>
                <a:cs typeface="Arial"/>
              </a:rPr>
              <a:t>“</a:t>
            </a:r>
          </a:p>
        </p:txBody>
      </p:sp>
      <p:sp>
        <p:nvSpPr>
          <p:cNvPr id="55" name="qt-2"/>
          <p:cNvSpPr txBox="1"/>
          <p:nvPr/>
        </p:nvSpPr>
        <p:spPr>
          <a:xfrm>
            <a:off x="4024122" y="5223097"/>
            <a:ext cx="1019810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技术为业务服务</a:t>
            </a:r>
          </a:p>
        </p:txBody>
      </p:sp>
      <p:sp>
        <p:nvSpPr>
          <p:cNvPr id="56" name="card-3"/>
          <p:cNvSpPr/>
          <p:nvPr/>
        </p:nvSpPr>
        <p:spPr>
          <a:xfrm>
            <a:off x="6159500" y="1460500"/>
            <a:ext cx="2476500" cy="4318000"/>
          </a:xfrm>
          <a:custGeom>
            <a:avLst/>
            <a:gdLst/>
            <a:ahLst/>
            <a:cxnLst/>
            <a:rect l="0" t="0" r="r" b="b"/>
            <a:pathLst>
              <a:path w="2476500" h="4318000">
                <a:moveTo>
                  <a:pt x="165100" y="0"/>
                </a:moveTo>
                <a:lnTo>
                  <a:pt x="2311400" y="0"/>
                </a:lnTo>
                <a:cubicBezTo>
                  <a:pt x="2402586" y="0"/>
                  <a:pt x="2476500" y="73914"/>
                  <a:pt x="2476500" y="165100"/>
                </a:cubicBezTo>
                <a:lnTo>
                  <a:pt x="2476500" y="4152900"/>
                </a:lnTo>
                <a:cubicBezTo>
                  <a:pt x="2476500" y="4244086"/>
                  <a:pt x="2402586" y="4318000"/>
                  <a:pt x="2311400" y="4318000"/>
                </a:cubicBezTo>
                <a:lnTo>
                  <a:pt x="165100" y="4318000"/>
                </a:lnTo>
                <a:cubicBezTo>
                  <a:pt x="73914" y="4318000"/>
                  <a:pt x="0" y="4244086"/>
                  <a:pt x="0" y="41529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hd-3"/>
          <p:cNvSpPr/>
          <p:nvPr/>
        </p:nvSpPr>
        <p:spPr>
          <a:xfrm>
            <a:off x="6159500" y="1460500"/>
            <a:ext cx="2476500" cy="952500"/>
          </a:xfrm>
          <a:custGeom>
            <a:avLst/>
            <a:gdLst/>
            <a:ahLst/>
            <a:cxnLst/>
            <a:rect l="0" t="0" r="r" b="b"/>
            <a:pathLst>
              <a:path w="2476500" h="952500">
                <a:moveTo>
                  <a:pt x="165100" y="0"/>
                </a:moveTo>
                <a:lnTo>
                  <a:pt x="2311400" y="0"/>
                </a:lnTo>
                <a:cubicBezTo>
                  <a:pt x="2402586" y="0"/>
                  <a:pt x="2476500" y="73914"/>
                  <a:pt x="2476500" y="165100"/>
                </a:cubicBezTo>
                <a:lnTo>
                  <a:pt x="2476500" y="787400"/>
                </a:lnTo>
                <a:cubicBezTo>
                  <a:pt x="2476500" y="878586"/>
                  <a:pt x="2402586" y="952500"/>
                  <a:pt x="2311400" y="952500"/>
                </a:cubicBezTo>
                <a:lnTo>
                  <a:pt x="165100" y="952500"/>
                </a:lnTo>
                <a:cubicBezTo>
                  <a:pt x="73914" y="952500"/>
                  <a:pt x="0" y="878586"/>
                  <a:pt x="0" y="7874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gradFill rotWithShape="1">
            <a:gsLst>
              <a:gs pos="0">
                <a:srgbClr val="4787C9"/>
              </a:gs>
              <a:gs pos="100000">
                <a:srgbClr val="2E77C2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hd2-3"/>
          <p:cNvSpPr/>
          <p:nvPr/>
        </p:nvSpPr>
        <p:spPr>
          <a:xfrm>
            <a:off x="6159500" y="2222500"/>
            <a:ext cx="2476500" cy="190500"/>
          </a:xfrm>
          <a:prstGeom prst="rect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en-3"/>
          <p:cNvSpPr txBox="1"/>
          <p:nvPr/>
        </p:nvSpPr>
        <p:spPr>
          <a:xfrm>
            <a:off x="7833360" y="1527810"/>
            <a:ext cx="65532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000" b="1">
                <a:solidFill>
                  <a:srgbClr val="FFFFFF">
                    <a:alpha val="25000"/>
                  </a:srgbClr>
                </a:solidFill>
                <a:latin typeface="Arial"/>
                <a:ea typeface="Arial"/>
                <a:cs typeface="Arial"/>
              </a:rPr>
              <a:t>CMO</a:t>
            </a:r>
          </a:p>
        </p:txBody>
      </p:sp>
      <p:sp>
        <p:nvSpPr>
          <p:cNvPr id="60" name="av-o-3"/>
          <p:cNvSpPr/>
          <p:nvPr/>
        </p:nvSpPr>
        <p:spPr>
          <a:xfrm>
            <a:off x="6953250" y="1968500"/>
            <a:ext cx="889000" cy="889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av-3"/>
          <p:cNvSpPr/>
          <p:nvPr/>
        </p:nvSpPr>
        <p:spPr>
          <a:xfrm>
            <a:off x="7016750" y="2032000"/>
            <a:ext cx="762000" cy="762000"/>
          </a:xfrm>
          <a:prstGeom prst="ellipse">
            <a:avLst/>
          </a:prstGeom>
          <a:gradFill rotWithShape="1">
            <a:gsLst>
              <a:gs pos="0">
                <a:srgbClr val="A1C2E4"/>
              </a:gs>
              <a:gs pos="100000">
                <a:srgbClr val="6DA0D4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2" name="av-t-3"/>
          <p:cNvSpPr txBox="1"/>
          <p:nvPr/>
        </p:nvSpPr>
        <p:spPr>
          <a:xfrm>
            <a:off x="7132320" y="2169541"/>
            <a:ext cx="530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2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许</a:t>
            </a:r>
          </a:p>
        </p:txBody>
      </p:sp>
      <p:sp>
        <p:nvSpPr>
          <p:cNvPr id="63" name="nm-3"/>
          <p:cNvSpPr txBox="1"/>
          <p:nvPr/>
        </p:nvSpPr>
        <p:spPr>
          <a:xfrm>
            <a:off x="7101840" y="2904617"/>
            <a:ext cx="5918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3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许川</a:t>
            </a:r>
          </a:p>
        </p:txBody>
      </p:sp>
      <p:sp>
        <p:nvSpPr>
          <p:cNvPr id="64" name="rl-3"/>
          <p:cNvSpPr txBox="1"/>
          <p:nvPr/>
        </p:nvSpPr>
        <p:spPr>
          <a:xfrm>
            <a:off x="7047547" y="3206782"/>
            <a:ext cx="7004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00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首席营销官</a:t>
            </a:r>
          </a:p>
        </p:txBody>
      </p:sp>
      <p:cxnSp>
        <p:nvCxnSpPr>
          <p:cNvPr id="65" name="sep1-3"/>
          <p:cNvCxnSpPr/>
          <p:nvPr/>
        </p:nvCxnSpPr>
        <p:spPr>
          <a:xfrm>
            <a:off x="6350000" y="3556000"/>
            <a:ext cx="20955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" name="yr-3"/>
          <p:cNvSpPr txBox="1"/>
          <p:nvPr/>
        </p:nvSpPr>
        <p:spPr>
          <a:xfrm>
            <a:off x="6316472" y="3579241"/>
            <a:ext cx="564388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16</a:t>
            </a:r>
          </a:p>
        </p:txBody>
      </p:sp>
      <p:sp>
        <p:nvSpPr>
          <p:cNvPr id="67" name="yrl-3"/>
          <p:cNvSpPr txBox="1"/>
          <p:nvPr/>
        </p:nvSpPr>
        <p:spPr>
          <a:xfrm>
            <a:off x="6756908" y="3786124"/>
            <a:ext cx="63119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年行业经验</a:t>
            </a:r>
          </a:p>
        </p:txBody>
      </p:sp>
      <p:sp>
        <p:nvSpPr>
          <p:cNvPr id="68" name="ed-3-1"/>
          <p:cNvSpPr/>
          <p:nvPr/>
        </p:nvSpPr>
        <p:spPr>
          <a:xfrm>
            <a:off x="6375400" y="4165600"/>
            <a:ext cx="50800" cy="508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ex-3-1"/>
          <p:cNvSpPr txBox="1"/>
          <p:nvPr/>
        </p:nvSpPr>
        <p:spPr>
          <a:xfrm>
            <a:off x="6477889" y="4107545"/>
            <a:ext cx="1392873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曾任外资品牌中国区市场总监</a:t>
            </a:r>
          </a:p>
        </p:txBody>
      </p:sp>
      <p:sp>
        <p:nvSpPr>
          <p:cNvPr id="70" name="ed-3-2"/>
          <p:cNvSpPr/>
          <p:nvPr/>
        </p:nvSpPr>
        <p:spPr>
          <a:xfrm>
            <a:off x="6375400" y="4381500"/>
            <a:ext cx="50800" cy="508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ex-3-2"/>
          <p:cNvSpPr txBox="1"/>
          <p:nvPr/>
        </p:nvSpPr>
        <p:spPr>
          <a:xfrm>
            <a:off x="6477889" y="4323445"/>
            <a:ext cx="116262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打造 3 个行业知名品牌</a:t>
            </a:r>
          </a:p>
        </p:txBody>
      </p:sp>
      <p:sp>
        <p:nvSpPr>
          <p:cNvPr id="72" name="tg-3-1"/>
          <p:cNvSpPr/>
          <p:nvPr/>
        </p:nvSpPr>
        <p:spPr>
          <a:xfrm>
            <a:off x="6350000" y="4635500"/>
            <a:ext cx="482600" cy="190500"/>
          </a:xfrm>
          <a:custGeom>
            <a:avLst/>
            <a:gdLst/>
            <a:ahLst/>
            <a:cxnLst/>
            <a:rect l="0" t="0" r="r" b="b"/>
            <a:pathLst>
              <a:path w="482600" h="190500">
                <a:moveTo>
                  <a:pt x="95250" y="0"/>
                </a:moveTo>
                <a:lnTo>
                  <a:pt x="387350" y="0"/>
                </a:lnTo>
                <a:cubicBezTo>
                  <a:pt x="439928" y="0"/>
                  <a:pt x="482600" y="42672"/>
                  <a:pt x="482600" y="95250"/>
                </a:cubicBezTo>
                <a:lnTo>
                  <a:pt x="482600" y="95250"/>
                </a:lnTo>
                <a:cubicBezTo>
                  <a:pt x="482600" y="147828"/>
                  <a:pt x="439928" y="190500"/>
                  <a:pt x="3873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tgt-3-1"/>
          <p:cNvSpPr txBox="1"/>
          <p:nvPr/>
        </p:nvSpPr>
        <p:spPr>
          <a:xfrm>
            <a:off x="6451441" y="4655137"/>
            <a:ext cx="2797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50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品牌</a:t>
            </a:r>
          </a:p>
        </p:txBody>
      </p:sp>
      <p:sp>
        <p:nvSpPr>
          <p:cNvPr id="74" name="tg-3-2"/>
          <p:cNvSpPr/>
          <p:nvPr/>
        </p:nvSpPr>
        <p:spPr>
          <a:xfrm>
            <a:off x="6908800" y="4635500"/>
            <a:ext cx="482600" cy="190500"/>
          </a:xfrm>
          <a:custGeom>
            <a:avLst/>
            <a:gdLst/>
            <a:ahLst/>
            <a:cxnLst/>
            <a:rect l="0" t="0" r="r" b="b"/>
            <a:pathLst>
              <a:path w="482600" h="190500">
                <a:moveTo>
                  <a:pt x="95250" y="0"/>
                </a:moveTo>
                <a:lnTo>
                  <a:pt x="387350" y="0"/>
                </a:lnTo>
                <a:cubicBezTo>
                  <a:pt x="439928" y="0"/>
                  <a:pt x="482600" y="42672"/>
                  <a:pt x="482600" y="95250"/>
                </a:cubicBezTo>
                <a:lnTo>
                  <a:pt x="482600" y="95250"/>
                </a:lnTo>
                <a:cubicBezTo>
                  <a:pt x="482600" y="147828"/>
                  <a:pt x="439928" y="190500"/>
                  <a:pt x="3873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2E77C2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tgt-3-2"/>
          <p:cNvSpPr txBox="1"/>
          <p:nvPr/>
        </p:nvSpPr>
        <p:spPr>
          <a:xfrm>
            <a:off x="7010241" y="4655137"/>
            <a:ext cx="2797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50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增长</a:t>
            </a:r>
          </a:p>
        </p:txBody>
      </p:sp>
      <p:sp>
        <p:nvSpPr>
          <p:cNvPr id="76" name="q-3"/>
          <p:cNvSpPr/>
          <p:nvPr/>
        </p:nvSpPr>
        <p:spPr>
          <a:xfrm>
            <a:off x="6286500" y="5016500"/>
            <a:ext cx="2222500" cy="584200"/>
          </a:xfrm>
          <a:custGeom>
            <a:avLst/>
            <a:gdLst/>
            <a:ahLst/>
            <a:cxnLst/>
            <a:rect l="0" t="0" r="r" b="b"/>
            <a:pathLst>
              <a:path w="2222500" h="584200">
                <a:moveTo>
                  <a:pt x="114300" y="0"/>
                </a:moveTo>
                <a:lnTo>
                  <a:pt x="2108200" y="0"/>
                </a:lnTo>
                <a:cubicBezTo>
                  <a:pt x="2171319" y="0"/>
                  <a:pt x="2222500" y="51181"/>
                  <a:pt x="2222500" y="114300"/>
                </a:cubicBezTo>
                <a:lnTo>
                  <a:pt x="2222500" y="469900"/>
                </a:lnTo>
                <a:cubicBezTo>
                  <a:pt x="2222500" y="533019"/>
                  <a:pt x="2171319" y="584200"/>
                  <a:pt x="2108200" y="584200"/>
                </a:cubicBezTo>
                <a:lnTo>
                  <a:pt x="114300" y="584200"/>
                </a:lnTo>
                <a:cubicBezTo>
                  <a:pt x="51181" y="584200"/>
                  <a:pt x="0" y="533019"/>
                  <a:pt x="0" y="469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qm-3"/>
          <p:cNvSpPr txBox="1"/>
          <p:nvPr/>
        </p:nvSpPr>
        <p:spPr>
          <a:xfrm>
            <a:off x="6408420" y="4982210"/>
            <a:ext cx="37084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>
                <a:solidFill>
                  <a:srgbClr val="2E77C2">
                    <a:alpha val="40000"/>
                  </a:srgbClr>
                </a:solidFill>
                <a:latin typeface="Arial"/>
                <a:ea typeface="Arial"/>
                <a:cs typeface="Arial"/>
              </a:rPr>
              <a:t>“</a:t>
            </a:r>
          </a:p>
        </p:txBody>
      </p:sp>
      <p:sp>
        <p:nvSpPr>
          <p:cNvPr id="78" name="qt-3"/>
          <p:cNvSpPr txBox="1"/>
          <p:nvPr/>
        </p:nvSpPr>
        <p:spPr>
          <a:xfrm>
            <a:off x="6627622" y="5223097"/>
            <a:ext cx="8896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先让客户听懂</a:t>
            </a:r>
          </a:p>
        </p:txBody>
      </p:sp>
      <p:sp>
        <p:nvSpPr>
          <p:cNvPr id="79" name="card-4"/>
          <p:cNvSpPr/>
          <p:nvPr/>
        </p:nvSpPr>
        <p:spPr>
          <a:xfrm>
            <a:off x="8763000" y="1460500"/>
            <a:ext cx="2476500" cy="4318000"/>
          </a:xfrm>
          <a:custGeom>
            <a:avLst/>
            <a:gdLst/>
            <a:ahLst/>
            <a:cxnLst/>
            <a:rect l="0" t="0" r="r" b="b"/>
            <a:pathLst>
              <a:path w="2476500" h="4318000">
                <a:moveTo>
                  <a:pt x="165100" y="0"/>
                </a:moveTo>
                <a:lnTo>
                  <a:pt x="2311400" y="0"/>
                </a:lnTo>
                <a:cubicBezTo>
                  <a:pt x="2402586" y="0"/>
                  <a:pt x="2476500" y="73914"/>
                  <a:pt x="2476500" y="165100"/>
                </a:cubicBezTo>
                <a:lnTo>
                  <a:pt x="2476500" y="4152900"/>
                </a:lnTo>
                <a:cubicBezTo>
                  <a:pt x="2476500" y="4244086"/>
                  <a:pt x="2402586" y="4318000"/>
                  <a:pt x="2311400" y="4318000"/>
                </a:cubicBezTo>
                <a:lnTo>
                  <a:pt x="165100" y="4318000"/>
                </a:lnTo>
                <a:cubicBezTo>
                  <a:pt x="73914" y="4318000"/>
                  <a:pt x="0" y="4244086"/>
                  <a:pt x="0" y="41529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0" name="hd-4"/>
          <p:cNvSpPr/>
          <p:nvPr/>
        </p:nvSpPr>
        <p:spPr>
          <a:xfrm>
            <a:off x="8763000" y="1460500"/>
            <a:ext cx="2476500" cy="952500"/>
          </a:xfrm>
          <a:custGeom>
            <a:avLst/>
            <a:gdLst/>
            <a:ahLst/>
            <a:cxnLst/>
            <a:rect l="0" t="0" r="r" b="b"/>
            <a:pathLst>
              <a:path w="2476500" h="952500">
                <a:moveTo>
                  <a:pt x="165100" y="0"/>
                </a:moveTo>
                <a:lnTo>
                  <a:pt x="2311400" y="0"/>
                </a:lnTo>
                <a:cubicBezTo>
                  <a:pt x="2402586" y="0"/>
                  <a:pt x="2476500" y="73914"/>
                  <a:pt x="2476500" y="165100"/>
                </a:cubicBezTo>
                <a:lnTo>
                  <a:pt x="2476500" y="787400"/>
                </a:lnTo>
                <a:cubicBezTo>
                  <a:pt x="2476500" y="878586"/>
                  <a:pt x="2402586" y="952500"/>
                  <a:pt x="2311400" y="952500"/>
                </a:cubicBezTo>
                <a:lnTo>
                  <a:pt x="165100" y="952500"/>
                </a:lnTo>
                <a:cubicBezTo>
                  <a:pt x="73914" y="952500"/>
                  <a:pt x="0" y="878586"/>
                  <a:pt x="0" y="7874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gradFill rotWithShape="1">
            <a:gsLst>
              <a:gs pos="0">
                <a:srgbClr val="E48152"/>
              </a:gs>
              <a:gs pos="100000">
                <a:srgbClr val="E0703A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hd2-4"/>
          <p:cNvSpPr/>
          <p:nvPr/>
        </p:nvSpPr>
        <p:spPr>
          <a:xfrm>
            <a:off x="8763000" y="2222500"/>
            <a:ext cx="2476500" cy="190500"/>
          </a:xfrm>
          <a:prstGeom prst="rect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en-4"/>
          <p:cNvSpPr txBox="1"/>
          <p:nvPr/>
        </p:nvSpPr>
        <p:spPr>
          <a:xfrm>
            <a:off x="10436860" y="1527810"/>
            <a:ext cx="65532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2000" b="1">
                <a:solidFill>
                  <a:srgbClr val="FFFFFF">
                    <a:alpha val="25000"/>
                  </a:srgbClr>
                </a:solidFill>
                <a:latin typeface="Arial"/>
                <a:ea typeface="Arial"/>
                <a:cs typeface="Arial"/>
              </a:rPr>
              <a:t>COO</a:t>
            </a:r>
          </a:p>
        </p:txBody>
      </p:sp>
      <p:sp>
        <p:nvSpPr>
          <p:cNvPr id="83" name="av-o-4"/>
          <p:cNvSpPr/>
          <p:nvPr/>
        </p:nvSpPr>
        <p:spPr>
          <a:xfrm>
            <a:off x="9556750" y="1968500"/>
            <a:ext cx="889000" cy="8890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av-4"/>
          <p:cNvSpPr/>
          <p:nvPr/>
        </p:nvSpPr>
        <p:spPr>
          <a:xfrm>
            <a:off x="9620250" y="2032000"/>
            <a:ext cx="762000" cy="762000"/>
          </a:xfrm>
          <a:prstGeom prst="ellipse">
            <a:avLst/>
          </a:prstGeom>
          <a:gradFill rotWithShape="1">
            <a:gsLst>
              <a:gs pos="0">
                <a:srgbClr val="F1BFA6"/>
              </a:gs>
              <a:gs pos="100000">
                <a:srgbClr val="E99B75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av-t-4"/>
          <p:cNvSpPr txBox="1"/>
          <p:nvPr/>
        </p:nvSpPr>
        <p:spPr>
          <a:xfrm>
            <a:off x="9735820" y="2169541"/>
            <a:ext cx="5308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2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沈</a:t>
            </a:r>
          </a:p>
        </p:txBody>
      </p:sp>
      <p:sp>
        <p:nvSpPr>
          <p:cNvPr id="86" name="nm-4"/>
          <p:cNvSpPr txBox="1"/>
          <p:nvPr/>
        </p:nvSpPr>
        <p:spPr>
          <a:xfrm>
            <a:off x="9705340" y="2904617"/>
            <a:ext cx="5918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400" b="1" spc="3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沈悦</a:t>
            </a:r>
          </a:p>
        </p:txBody>
      </p:sp>
      <p:sp>
        <p:nvSpPr>
          <p:cNvPr id="87" name="rl-4"/>
          <p:cNvSpPr txBox="1"/>
          <p:nvPr/>
        </p:nvSpPr>
        <p:spPr>
          <a:xfrm>
            <a:off x="9651048" y="3206782"/>
            <a:ext cx="7004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 spc="10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首席运营官</a:t>
            </a:r>
          </a:p>
        </p:txBody>
      </p:sp>
      <p:cxnSp>
        <p:nvCxnSpPr>
          <p:cNvPr id="88" name="sep1-4"/>
          <p:cNvCxnSpPr/>
          <p:nvPr/>
        </p:nvCxnSpPr>
        <p:spPr>
          <a:xfrm>
            <a:off x="8953500" y="3556000"/>
            <a:ext cx="20955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9" name="yr-4"/>
          <p:cNvSpPr txBox="1"/>
          <p:nvPr/>
        </p:nvSpPr>
        <p:spPr>
          <a:xfrm>
            <a:off x="8919972" y="3579241"/>
            <a:ext cx="564388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14</a:t>
            </a:r>
          </a:p>
        </p:txBody>
      </p:sp>
      <p:sp>
        <p:nvSpPr>
          <p:cNvPr id="90" name="yrl-4"/>
          <p:cNvSpPr txBox="1"/>
          <p:nvPr/>
        </p:nvSpPr>
        <p:spPr>
          <a:xfrm>
            <a:off x="9360408" y="3786124"/>
            <a:ext cx="63119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年行业经验</a:t>
            </a:r>
          </a:p>
        </p:txBody>
      </p:sp>
      <p:sp>
        <p:nvSpPr>
          <p:cNvPr id="91" name="ed-4-1"/>
          <p:cNvSpPr/>
          <p:nvPr/>
        </p:nvSpPr>
        <p:spPr>
          <a:xfrm>
            <a:off x="8978900" y="4165600"/>
            <a:ext cx="50800" cy="508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2" name="ex-4-1"/>
          <p:cNvSpPr txBox="1"/>
          <p:nvPr/>
        </p:nvSpPr>
        <p:spPr>
          <a:xfrm>
            <a:off x="9081389" y="4107545"/>
            <a:ext cx="1392873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咨询公司运营改善项目负责人</a:t>
            </a:r>
          </a:p>
        </p:txBody>
      </p:sp>
      <p:sp>
        <p:nvSpPr>
          <p:cNvPr id="93" name="ed-4-2"/>
          <p:cNvSpPr/>
          <p:nvPr/>
        </p:nvSpPr>
        <p:spPr>
          <a:xfrm>
            <a:off x="8978900" y="4381500"/>
            <a:ext cx="50800" cy="508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ex-4-2"/>
          <p:cNvSpPr txBox="1"/>
          <p:nvPr/>
        </p:nvSpPr>
        <p:spPr>
          <a:xfrm>
            <a:off x="9081389" y="4323445"/>
            <a:ext cx="1219645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交付准时率提升 12 个点</a:t>
            </a:r>
          </a:p>
        </p:txBody>
      </p:sp>
      <p:sp>
        <p:nvSpPr>
          <p:cNvPr id="95" name="tg-4-1"/>
          <p:cNvSpPr/>
          <p:nvPr/>
        </p:nvSpPr>
        <p:spPr>
          <a:xfrm>
            <a:off x="8953500" y="4635500"/>
            <a:ext cx="482600" cy="190500"/>
          </a:xfrm>
          <a:custGeom>
            <a:avLst/>
            <a:gdLst/>
            <a:ahLst/>
            <a:cxnLst/>
            <a:rect l="0" t="0" r="r" b="b"/>
            <a:pathLst>
              <a:path w="482600" h="190500">
                <a:moveTo>
                  <a:pt x="95250" y="0"/>
                </a:moveTo>
                <a:lnTo>
                  <a:pt x="387350" y="0"/>
                </a:lnTo>
                <a:cubicBezTo>
                  <a:pt x="439928" y="0"/>
                  <a:pt x="482600" y="42672"/>
                  <a:pt x="482600" y="95250"/>
                </a:cubicBezTo>
                <a:lnTo>
                  <a:pt x="482600" y="95250"/>
                </a:lnTo>
                <a:cubicBezTo>
                  <a:pt x="482600" y="147828"/>
                  <a:pt x="439928" y="190500"/>
                  <a:pt x="3873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6" name="tgt-4-1"/>
          <p:cNvSpPr txBox="1"/>
          <p:nvPr/>
        </p:nvSpPr>
        <p:spPr>
          <a:xfrm>
            <a:off x="9054941" y="4655137"/>
            <a:ext cx="2797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流程</a:t>
            </a:r>
          </a:p>
        </p:txBody>
      </p:sp>
      <p:sp>
        <p:nvSpPr>
          <p:cNvPr id="97" name="tg-4-2"/>
          <p:cNvSpPr/>
          <p:nvPr/>
        </p:nvSpPr>
        <p:spPr>
          <a:xfrm>
            <a:off x="9512300" y="4635500"/>
            <a:ext cx="482600" cy="190500"/>
          </a:xfrm>
          <a:custGeom>
            <a:avLst/>
            <a:gdLst/>
            <a:ahLst/>
            <a:cxnLst/>
            <a:rect l="0" t="0" r="r" b="b"/>
            <a:pathLst>
              <a:path w="482600" h="190500">
                <a:moveTo>
                  <a:pt x="95250" y="0"/>
                </a:moveTo>
                <a:lnTo>
                  <a:pt x="387350" y="0"/>
                </a:lnTo>
                <a:cubicBezTo>
                  <a:pt x="439928" y="0"/>
                  <a:pt x="482600" y="42672"/>
                  <a:pt x="482600" y="95250"/>
                </a:cubicBezTo>
                <a:lnTo>
                  <a:pt x="482600" y="95250"/>
                </a:lnTo>
                <a:cubicBezTo>
                  <a:pt x="482600" y="147828"/>
                  <a:pt x="439928" y="190500"/>
                  <a:pt x="387350" y="190500"/>
                </a:cubicBezTo>
                <a:lnTo>
                  <a:pt x="95250" y="190500"/>
                </a:lnTo>
                <a:cubicBezTo>
                  <a:pt x="42672" y="190500"/>
                  <a:pt x="0" y="147828"/>
                  <a:pt x="0" y="95250"/>
                </a:cubicBezTo>
                <a:lnTo>
                  <a:pt x="0" y="95250"/>
                </a:lnTo>
                <a:cubicBezTo>
                  <a:pt x="0" y="42672"/>
                  <a:pt x="42672" y="0"/>
                  <a:pt x="95250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8" name="tgt-4-2"/>
          <p:cNvSpPr txBox="1"/>
          <p:nvPr/>
        </p:nvSpPr>
        <p:spPr>
          <a:xfrm>
            <a:off x="9613741" y="4655137"/>
            <a:ext cx="279718" cy="16113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2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交付</a:t>
            </a:r>
          </a:p>
        </p:txBody>
      </p:sp>
      <p:sp>
        <p:nvSpPr>
          <p:cNvPr id="99" name="q-4"/>
          <p:cNvSpPr/>
          <p:nvPr/>
        </p:nvSpPr>
        <p:spPr>
          <a:xfrm>
            <a:off x="8890000" y="5016500"/>
            <a:ext cx="2222500" cy="584200"/>
          </a:xfrm>
          <a:custGeom>
            <a:avLst/>
            <a:gdLst/>
            <a:ahLst/>
            <a:cxnLst/>
            <a:rect l="0" t="0" r="r" b="b"/>
            <a:pathLst>
              <a:path w="2222500" h="584200">
                <a:moveTo>
                  <a:pt x="114300" y="0"/>
                </a:moveTo>
                <a:lnTo>
                  <a:pt x="2108200" y="0"/>
                </a:lnTo>
                <a:cubicBezTo>
                  <a:pt x="2171319" y="0"/>
                  <a:pt x="2222500" y="51181"/>
                  <a:pt x="2222500" y="114300"/>
                </a:cubicBezTo>
                <a:lnTo>
                  <a:pt x="2222500" y="469900"/>
                </a:lnTo>
                <a:cubicBezTo>
                  <a:pt x="2222500" y="533019"/>
                  <a:pt x="2171319" y="584200"/>
                  <a:pt x="2108200" y="584200"/>
                </a:cubicBezTo>
                <a:lnTo>
                  <a:pt x="114300" y="584200"/>
                </a:lnTo>
                <a:cubicBezTo>
                  <a:pt x="51181" y="584200"/>
                  <a:pt x="0" y="533019"/>
                  <a:pt x="0" y="4699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qm-4"/>
          <p:cNvSpPr txBox="1"/>
          <p:nvPr/>
        </p:nvSpPr>
        <p:spPr>
          <a:xfrm>
            <a:off x="9011920" y="4982210"/>
            <a:ext cx="37084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000" b="1">
                <a:solidFill>
                  <a:srgbClr val="E0703A">
                    <a:alpha val="40000"/>
                  </a:srgbClr>
                </a:solidFill>
                <a:latin typeface="Arial"/>
                <a:ea typeface="Arial"/>
                <a:cs typeface="Arial"/>
              </a:rPr>
              <a:t>“</a:t>
            </a:r>
          </a:p>
        </p:txBody>
      </p:sp>
      <p:sp>
        <p:nvSpPr>
          <p:cNvPr id="101" name="qt-4"/>
          <p:cNvSpPr txBox="1"/>
          <p:nvPr/>
        </p:nvSpPr>
        <p:spPr>
          <a:xfrm>
            <a:off x="9231122" y="5223097"/>
            <a:ext cx="88963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75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细节决定口碑</a:t>
            </a:r>
          </a:p>
        </p:txBody>
      </p:sp>
      <p:sp>
        <p:nvSpPr>
          <p:cNvPr id="102" name="note"/>
          <p:cNvSpPr txBox="1"/>
          <p:nvPr/>
        </p:nvSpPr>
        <p:spPr>
          <a:xfrm>
            <a:off x="941070" y="5978366"/>
            <a:ext cx="292163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 spc="2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注：人物姓名、经历均为示例，使用时请替换为真实信息与照片。</a:t>
            </a:r>
          </a:p>
        </p:txBody>
      </p:sp>
      <p:cxnSp>
        <p:nvCxnSpPr>
          <p:cNvPr id="103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4" name="foot-l"/>
          <p:cNvSpPr txBox="1"/>
          <p:nvPr/>
        </p:nvSpPr>
        <p:spPr>
          <a:xfrm>
            <a:off x="573532" y="6532308"/>
            <a:ext cx="114376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核心团队 · 四位负责人</a:t>
            </a:r>
          </a:p>
        </p:txBody>
      </p:sp>
      <p:sp>
        <p:nvSpPr>
          <p:cNvPr id="105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9946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我们的五条工作原则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35483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OUR PRINCIPLES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694799" y="673132"/>
            <a:ext cx="19259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写在墙上之前，先写进每一次决策里</a:t>
            </a:r>
          </a:p>
        </p:txBody>
      </p:sp>
      <p:sp>
        <p:nvSpPr>
          <p:cNvPr id="10" name="c-1"/>
          <p:cNvSpPr/>
          <p:nvPr/>
        </p:nvSpPr>
        <p:spPr>
          <a:xfrm>
            <a:off x="952500" y="1587500"/>
            <a:ext cx="1955800" cy="3810000"/>
          </a:xfrm>
          <a:custGeom>
            <a:avLst/>
            <a:gdLst/>
            <a:ahLst/>
            <a:cxnLst/>
            <a:rect l="0" t="0" r="r" b="b"/>
            <a:pathLst>
              <a:path w="1955800" h="3810000">
                <a:moveTo>
                  <a:pt x="165100" y="0"/>
                </a:moveTo>
                <a:lnTo>
                  <a:pt x="1790700" y="0"/>
                </a:lnTo>
                <a:cubicBezTo>
                  <a:pt x="1881886" y="0"/>
                  <a:pt x="1955800" y="73914"/>
                  <a:pt x="1955800" y="165100"/>
                </a:cubicBezTo>
                <a:lnTo>
                  <a:pt x="1955800" y="3644900"/>
                </a:lnTo>
                <a:cubicBezTo>
                  <a:pt x="1955800" y="3736086"/>
                  <a:pt x="1881886" y="3810000"/>
                  <a:pt x="1790700" y="3810000"/>
                </a:cubicBezTo>
                <a:lnTo>
                  <a:pt x="165100" y="3810000"/>
                </a:lnTo>
                <a:cubicBezTo>
                  <a:pt x="73914" y="3810000"/>
                  <a:pt x="0" y="3736086"/>
                  <a:pt x="0" y="36449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gradFill rotWithShape="1">
            <a:gsLst>
              <a:gs pos="0">
                <a:srgbClr val="23519A"/>
              </a:gs>
              <a:gs pos="100000">
                <a:srgbClr val="0B3E8F"/>
              </a:gs>
            </a:gsLst>
            <a:lin ang="66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cn-1"/>
          <p:cNvSpPr txBox="1"/>
          <p:nvPr/>
        </p:nvSpPr>
        <p:spPr>
          <a:xfrm>
            <a:off x="1428750" y="1486852"/>
            <a:ext cx="1410970" cy="1222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5500" b="1">
                <a:solidFill>
                  <a:srgbClr val="FFFFFF">
                    <a:alpha val="12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12" name="ci-1"/>
          <p:cNvSpPr/>
          <p:nvPr/>
        </p:nvSpPr>
        <p:spPr>
          <a:xfrm>
            <a:off x="1117600" y="1828800"/>
            <a:ext cx="431800" cy="431800"/>
          </a:xfrm>
          <a:prstGeom prst="ellipse">
            <a:avLst/>
          </a:prstGeom>
          <a:solidFill>
            <a:srgbClr val="FFFFF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icon-people"/>
          <p:cNvSpPr/>
          <p:nvPr/>
        </p:nvSpPr>
        <p:spPr>
          <a:xfrm>
            <a:off x="1262380" y="2066735"/>
            <a:ext cx="143954" cy="40640"/>
          </a:xfrm>
          <a:custGeom>
            <a:avLst/>
            <a:gdLst/>
            <a:ahLst/>
            <a:cxnLst/>
            <a:rect l="0" t="0" r="r" b="b"/>
            <a:pathLst>
              <a:path w="143954" h="40640">
                <a:moveTo>
                  <a:pt x="0" y="40640"/>
                </a:moveTo>
                <a:cubicBezTo>
                  <a:pt x="0" y="15240"/>
                  <a:pt x="21145" y="0"/>
                  <a:pt x="45720" y="0"/>
                </a:cubicBezTo>
                <a:cubicBezTo>
                  <a:pt x="70294" y="0"/>
                  <a:pt x="91440" y="15240"/>
                  <a:pt x="91440" y="40640"/>
                </a:cubicBezTo>
                <a:moveTo>
                  <a:pt x="108394" y="3365"/>
                </a:moveTo>
                <a:cubicBezTo>
                  <a:pt x="130366" y="5905"/>
                  <a:pt x="143954" y="21145"/>
                  <a:pt x="143954" y="40640"/>
                </a:cubicBez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icon-people"/>
          <p:cNvSpPr/>
          <p:nvPr/>
        </p:nvSpPr>
        <p:spPr>
          <a:xfrm>
            <a:off x="1281007" y="1993900"/>
            <a:ext cx="54187" cy="54187"/>
          </a:xfrm>
          <a:prstGeom prst="ellipse">
            <a:avLst/>
          </a:pr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icon-people"/>
          <p:cNvSpPr/>
          <p:nvPr/>
        </p:nvSpPr>
        <p:spPr>
          <a:xfrm>
            <a:off x="1353820" y="1993900"/>
            <a:ext cx="44027" cy="44027"/>
          </a:xfrm>
          <a:prstGeom prst="ellipse">
            <a:avLst/>
          </a:pr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ct-1"/>
          <p:cNvSpPr txBox="1"/>
          <p:nvPr/>
        </p:nvSpPr>
        <p:spPr>
          <a:xfrm>
            <a:off x="1128268" y="2892679"/>
            <a:ext cx="1272540" cy="4000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800" b="1" spc="3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客户第一</a:t>
            </a:r>
          </a:p>
        </p:txBody>
      </p:sp>
      <p:sp>
        <p:nvSpPr>
          <p:cNvPr id="17" name="ce-1"/>
          <p:cNvSpPr txBox="1"/>
          <p:nvPr/>
        </p:nvSpPr>
        <p:spPr>
          <a:xfrm>
            <a:off x="1157732" y="3293808"/>
            <a:ext cx="6814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200">
                <a:solidFill>
                  <a:srgbClr val="CFE0F4"/>
                </a:solidFill>
                <a:latin typeface="Arial"/>
                <a:ea typeface="Arial"/>
                <a:cs typeface="Arial"/>
              </a:rPr>
              <a:t>CUSTOMER</a:t>
            </a:r>
          </a:p>
        </p:txBody>
      </p:sp>
      <p:cxnSp>
        <p:nvCxnSpPr>
          <p:cNvPr id="18" name="cs-1"/>
          <p:cNvCxnSpPr/>
          <p:nvPr/>
        </p:nvCxnSpPr>
        <p:spPr>
          <a:xfrm>
            <a:off x="1155700" y="3632200"/>
            <a:ext cx="495300" cy="0"/>
          </a:xfrm>
          <a:prstGeom prst="line">
            <a:avLst/>
          </a:prstGeom>
          <a:ln w="12700" cap="rnd">
            <a:solidFill>
              <a:srgbClr val="FFFFFF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cd-1-0"/>
          <p:cNvSpPr txBox="1"/>
          <p:nvPr/>
        </p:nvSpPr>
        <p:spPr>
          <a:xfrm>
            <a:off x="1141603" y="3804618"/>
            <a:ext cx="83343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0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决策前先问：</a:t>
            </a:r>
          </a:p>
        </p:txBody>
      </p:sp>
      <p:sp>
        <p:nvSpPr>
          <p:cNvPr id="20" name="cd-1-1"/>
          <p:cNvSpPr txBox="1"/>
          <p:nvPr/>
        </p:nvSpPr>
        <p:spPr>
          <a:xfrm>
            <a:off x="1141603" y="4033218"/>
            <a:ext cx="1318577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0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这对客户有什么好处？</a:t>
            </a:r>
          </a:p>
        </p:txBody>
      </p:sp>
      <p:sp>
        <p:nvSpPr>
          <p:cNvPr id="21" name="c-2"/>
          <p:cNvSpPr/>
          <p:nvPr/>
        </p:nvSpPr>
        <p:spPr>
          <a:xfrm>
            <a:off x="3035300" y="1968500"/>
            <a:ext cx="1955800" cy="3810000"/>
          </a:xfrm>
          <a:custGeom>
            <a:avLst/>
            <a:gdLst/>
            <a:ahLst/>
            <a:cxnLst/>
            <a:rect l="0" t="0" r="r" b="b"/>
            <a:pathLst>
              <a:path w="1955800" h="3810000">
                <a:moveTo>
                  <a:pt x="165100" y="0"/>
                </a:moveTo>
                <a:lnTo>
                  <a:pt x="1790700" y="0"/>
                </a:lnTo>
                <a:cubicBezTo>
                  <a:pt x="1881886" y="0"/>
                  <a:pt x="1955800" y="73914"/>
                  <a:pt x="1955800" y="165100"/>
                </a:cubicBezTo>
                <a:lnTo>
                  <a:pt x="1955800" y="3644900"/>
                </a:lnTo>
                <a:cubicBezTo>
                  <a:pt x="1955800" y="3736086"/>
                  <a:pt x="1881886" y="3810000"/>
                  <a:pt x="1790700" y="3810000"/>
                </a:cubicBezTo>
                <a:lnTo>
                  <a:pt x="165100" y="3810000"/>
                </a:lnTo>
                <a:cubicBezTo>
                  <a:pt x="73914" y="3810000"/>
                  <a:pt x="0" y="3736086"/>
                  <a:pt x="0" y="36449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gradFill rotWithShape="1">
            <a:gsLst>
              <a:gs pos="0">
                <a:srgbClr val="326AB1"/>
              </a:gs>
              <a:gs pos="100000">
                <a:srgbClr val="1B5AA8"/>
              </a:gs>
            </a:gsLst>
            <a:lin ang="66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cn-2"/>
          <p:cNvSpPr txBox="1"/>
          <p:nvPr/>
        </p:nvSpPr>
        <p:spPr>
          <a:xfrm>
            <a:off x="3511550" y="1867852"/>
            <a:ext cx="1410970" cy="1222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5500" b="1">
                <a:solidFill>
                  <a:srgbClr val="FFFFFF">
                    <a:alpha val="12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23" name="ci-2"/>
          <p:cNvSpPr/>
          <p:nvPr/>
        </p:nvSpPr>
        <p:spPr>
          <a:xfrm>
            <a:off x="3200400" y="2209800"/>
            <a:ext cx="431800" cy="431800"/>
          </a:xfrm>
          <a:prstGeom prst="ellipse">
            <a:avLst/>
          </a:prstGeom>
          <a:solidFill>
            <a:srgbClr val="FFFFF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icon-target"/>
          <p:cNvSpPr/>
          <p:nvPr/>
        </p:nvSpPr>
        <p:spPr>
          <a:xfrm>
            <a:off x="3416300" y="2352866"/>
            <a:ext cx="55880" cy="72835"/>
          </a:xfrm>
          <a:custGeom>
            <a:avLst/>
            <a:gdLst/>
            <a:ahLst/>
            <a:cxnLst/>
            <a:rect l="0" t="0" r="r" b="b"/>
            <a:pathLst>
              <a:path w="55880" h="72835">
                <a:moveTo>
                  <a:pt x="0" y="42355"/>
                </a:moveTo>
                <a:lnTo>
                  <a:pt x="0" y="0"/>
                </a:lnTo>
                <a:moveTo>
                  <a:pt x="0" y="72835"/>
                </a:moveTo>
                <a:lnTo>
                  <a:pt x="55880" y="16955"/>
                </a:ln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icon-target"/>
          <p:cNvSpPr/>
          <p:nvPr/>
        </p:nvSpPr>
        <p:spPr>
          <a:xfrm>
            <a:off x="3343487" y="2352887"/>
            <a:ext cx="145627" cy="145627"/>
          </a:xfrm>
          <a:prstGeom prst="ellipse">
            <a:avLst/>
          </a:pr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icon-target"/>
          <p:cNvSpPr/>
          <p:nvPr/>
        </p:nvSpPr>
        <p:spPr>
          <a:xfrm>
            <a:off x="3379047" y="2388447"/>
            <a:ext cx="74507" cy="74507"/>
          </a:xfrm>
          <a:prstGeom prst="ellipse">
            <a:avLst/>
          </a:pr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ct-2"/>
          <p:cNvSpPr txBox="1"/>
          <p:nvPr/>
        </p:nvSpPr>
        <p:spPr>
          <a:xfrm>
            <a:off x="3211068" y="3273679"/>
            <a:ext cx="1272540" cy="4000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800" b="1" spc="3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结果导向</a:t>
            </a:r>
          </a:p>
        </p:txBody>
      </p:sp>
      <p:sp>
        <p:nvSpPr>
          <p:cNvPr id="28" name="ce-2"/>
          <p:cNvSpPr txBox="1"/>
          <p:nvPr/>
        </p:nvSpPr>
        <p:spPr>
          <a:xfrm>
            <a:off x="3240532" y="3674808"/>
            <a:ext cx="60629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200">
                <a:solidFill>
                  <a:srgbClr val="CFE0F4"/>
                </a:solidFill>
                <a:latin typeface="Arial"/>
                <a:ea typeface="Arial"/>
                <a:cs typeface="Arial"/>
              </a:rPr>
              <a:t>RESULTS</a:t>
            </a:r>
          </a:p>
        </p:txBody>
      </p:sp>
      <p:cxnSp>
        <p:nvCxnSpPr>
          <p:cNvPr id="29" name="cs-2"/>
          <p:cNvCxnSpPr/>
          <p:nvPr/>
        </p:nvCxnSpPr>
        <p:spPr>
          <a:xfrm>
            <a:off x="3238500" y="4013200"/>
            <a:ext cx="495300" cy="0"/>
          </a:xfrm>
          <a:prstGeom prst="line">
            <a:avLst/>
          </a:prstGeom>
          <a:ln w="12700" cap="rnd">
            <a:solidFill>
              <a:srgbClr val="FFFFFF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cd-2-0"/>
          <p:cNvSpPr txBox="1"/>
          <p:nvPr/>
        </p:nvSpPr>
        <p:spPr>
          <a:xfrm>
            <a:off x="3224403" y="4185618"/>
            <a:ext cx="83343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0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用结果说话，</a:t>
            </a:r>
          </a:p>
        </p:txBody>
      </p:sp>
      <p:sp>
        <p:nvSpPr>
          <p:cNvPr id="31" name="cd-2-1"/>
          <p:cNvSpPr txBox="1"/>
          <p:nvPr/>
        </p:nvSpPr>
        <p:spPr>
          <a:xfrm>
            <a:off x="3224403" y="4414218"/>
            <a:ext cx="954722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0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不用苦劳说话。</a:t>
            </a:r>
          </a:p>
        </p:txBody>
      </p:sp>
      <p:sp>
        <p:nvSpPr>
          <p:cNvPr id="32" name="c-3"/>
          <p:cNvSpPr/>
          <p:nvPr/>
        </p:nvSpPr>
        <p:spPr>
          <a:xfrm>
            <a:off x="5118100" y="1587500"/>
            <a:ext cx="1955800" cy="3810000"/>
          </a:xfrm>
          <a:custGeom>
            <a:avLst/>
            <a:gdLst/>
            <a:ahLst/>
            <a:cxnLst/>
            <a:rect l="0" t="0" r="r" b="b"/>
            <a:pathLst>
              <a:path w="1955800" h="3810000">
                <a:moveTo>
                  <a:pt x="165100" y="0"/>
                </a:moveTo>
                <a:lnTo>
                  <a:pt x="1790700" y="0"/>
                </a:lnTo>
                <a:cubicBezTo>
                  <a:pt x="1881886" y="0"/>
                  <a:pt x="1955800" y="73914"/>
                  <a:pt x="1955800" y="165100"/>
                </a:cubicBezTo>
                <a:lnTo>
                  <a:pt x="1955800" y="3644900"/>
                </a:lnTo>
                <a:cubicBezTo>
                  <a:pt x="1955800" y="3736086"/>
                  <a:pt x="1881886" y="3810000"/>
                  <a:pt x="1790700" y="3810000"/>
                </a:cubicBezTo>
                <a:lnTo>
                  <a:pt x="165100" y="3810000"/>
                </a:lnTo>
                <a:cubicBezTo>
                  <a:pt x="73914" y="3810000"/>
                  <a:pt x="0" y="3736086"/>
                  <a:pt x="0" y="36449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gradFill rotWithShape="1">
            <a:gsLst>
              <a:gs pos="0">
                <a:srgbClr val="4385C8"/>
              </a:gs>
              <a:gs pos="100000">
                <a:srgbClr val="2E77C2"/>
              </a:gs>
            </a:gsLst>
            <a:lin ang="66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cn-3"/>
          <p:cNvSpPr txBox="1"/>
          <p:nvPr/>
        </p:nvSpPr>
        <p:spPr>
          <a:xfrm>
            <a:off x="5594350" y="1486852"/>
            <a:ext cx="1410970" cy="1222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5500" b="1">
                <a:solidFill>
                  <a:srgbClr val="FFFFFF">
                    <a:alpha val="12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34" name="ci-3"/>
          <p:cNvSpPr/>
          <p:nvPr/>
        </p:nvSpPr>
        <p:spPr>
          <a:xfrm>
            <a:off x="5283200" y="1828800"/>
            <a:ext cx="431800" cy="431800"/>
          </a:xfrm>
          <a:prstGeom prst="ellipse">
            <a:avLst/>
          </a:prstGeom>
          <a:solidFill>
            <a:srgbClr val="FFFFF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icon-mail"/>
          <p:cNvSpPr/>
          <p:nvPr/>
        </p:nvSpPr>
        <p:spPr>
          <a:xfrm>
            <a:off x="5431346" y="1997265"/>
            <a:ext cx="135509" cy="94869"/>
          </a:xfrm>
          <a:custGeom>
            <a:avLst/>
            <a:gdLst/>
            <a:ahLst/>
            <a:cxnLst/>
            <a:rect l="0" t="0" r="r" b="b"/>
            <a:pathLst>
              <a:path w="135509" h="94869">
                <a:moveTo>
                  <a:pt x="0" y="0"/>
                </a:moveTo>
                <a:lnTo>
                  <a:pt x="135509" y="0"/>
                </a:lnTo>
                <a:lnTo>
                  <a:pt x="135509" y="94869"/>
                </a:lnTo>
                <a:lnTo>
                  <a:pt x="0" y="94869"/>
                </a:lnTo>
                <a:close/>
                <a:moveTo>
                  <a:pt x="0" y="3429"/>
                </a:moveTo>
                <a:lnTo>
                  <a:pt x="67754" y="50800"/>
                </a:lnTo>
                <a:lnTo>
                  <a:pt x="135509" y="3429"/>
                </a:ln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ct-3"/>
          <p:cNvSpPr txBox="1"/>
          <p:nvPr/>
        </p:nvSpPr>
        <p:spPr>
          <a:xfrm>
            <a:off x="5293868" y="2892679"/>
            <a:ext cx="1272540" cy="4000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800" b="1" spc="3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坦诚直接</a:t>
            </a:r>
          </a:p>
        </p:txBody>
      </p:sp>
      <p:sp>
        <p:nvSpPr>
          <p:cNvPr id="37" name="ce-3"/>
          <p:cNvSpPr txBox="1"/>
          <p:nvPr/>
        </p:nvSpPr>
        <p:spPr>
          <a:xfrm>
            <a:off x="5323332" y="3293808"/>
            <a:ext cx="531114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200">
                <a:solidFill>
                  <a:srgbClr val="CFE0F4"/>
                </a:solidFill>
                <a:latin typeface="Arial"/>
                <a:ea typeface="Arial"/>
                <a:cs typeface="Arial"/>
              </a:rPr>
              <a:t>CANDOR</a:t>
            </a:r>
          </a:p>
        </p:txBody>
      </p:sp>
      <p:cxnSp>
        <p:nvCxnSpPr>
          <p:cNvPr id="38" name="cs-3"/>
          <p:cNvCxnSpPr/>
          <p:nvPr/>
        </p:nvCxnSpPr>
        <p:spPr>
          <a:xfrm>
            <a:off x="5321300" y="3632200"/>
            <a:ext cx="495300" cy="0"/>
          </a:xfrm>
          <a:prstGeom prst="line">
            <a:avLst/>
          </a:prstGeom>
          <a:ln w="12700" cap="rnd">
            <a:solidFill>
              <a:srgbClr val="FFFFFF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cd-3-0"/>
          <p:cNvSpPr txBox="1"/>
          <p:nvPr/>
        </p:nvSpPr>
        <p:spPr>
          <a:xfrm>
            <a:off x="5307203" y="3804618"/>
            <a:ext cx="83343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0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对事不对人，</a:t>
            </a:r>
          </a:p>
        </p:txBody>
      </p:sp>
      <p:sp>
        <p:nvSpPr>
          <p:cNvPr id="40" name="cd-3-1"/>
          <p:cNvSpPr txBox="1"/>
          <p:nvPr/>
        </p:nvSpPr>
        <p:spPr>
          <a:xfrm>
            <a:off x="5307203" y="4033218"/>
            <a:ext cx="83343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0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有话当面说。</a:t>
            </a:r>
          </a:p>
        </p:txBody>
      </p:sp>
      <p:sp>
        <p:nvSpPr>
          <p:cNvPr id="41" name="c-4"/>
          <p:cNvSpPr/>
          <p:nvPr/>
        </p:nvSpPr>
        <p:spPr>
          <a:xfrm>
            <a:off x="7200900" y="1968500"/>
            <a:ext cx="1955800" cy="3810000"/>
          </a:xfrm>
          <a:custGeom>
            <a:avLst/>
            <a:gdLst/>
            <a:ahLst/>
            <a:cxnLst/>
            <a:rect l="0" t="0" r="r" b="b"/>
            <a:pathLst>
              <a:path w="1955800" h="3810000">
                <a:moveTo>
                  <a:pt x="165100" y="0"/>
                </a:moveTo>
                <a:lnTo>
                  <a:pt x="1790700" y="0"/>
                </a:lnTo>
                <a:cubicBezTo>
                  <a:pt x="1881886" y="0"/>
                  <a:pt x="1955800" y="73914"/>
                  <a:pt x="1955800" y="165100"/>
                </a:cubicBezTo>
                <a:lnTo>
                  <a:pt x="1955800" y="3644900"/>
                </a:lnTo>
                <a:cubicBezTo>
                  <a:pt x="1955800" y="3736086"/>
                  <a:pt x="1881886" y="3810000"/>
                  <a:pt x="1790700" y="3810000"/>
                </a:cubicBezTo>
                <a:lnTo>
                  <a:pt x="165100" y="3810000"/>
                </a:lnTo>
                <a:cubicBezTo>
                  <a:pt x="73914" y="3810000"/>
                  <a:pt x="0" y="3736086"/>
                  <a:pt x="0" y="36449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gradFill rotWithShape="1">
            <a:gsLst>
              <a:gs pos="0">
                <a:srgbClr val="589FDB"/>
              </a:gs>
              <a:gs pos="100000">
                <a:srgbClr val="4694D7"/>
              </a:gs>
            </a:gsLst>
            <a:lin ang="66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cn-4"/>
          <p:cNvSpPr txBox="1"/>
          <p:nvPr/>
        </p:nvSpPr>
        <p:spPr>
          <a:xfrm>
            <a:off x="7677150" y="1867852"/>
            <a:ext cx="1410970" cy="1222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5500" b="1">
                <a:solidFill>
                  <a:srgbClr val="FFFFFF">
                    <a:alpha val="12000"/>
                  </a:srgbClr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43" name="ci-4"/>
          <p:cNvSpPr/>
          <p:nvPr/>
        </p:nvSpPr>
        <p:spPr>
          <a:xfrm>
            <a:off x="7366000" y="2209800"/>
            <a:ext cx="431800" cy="431800"/>
          </a:xfrm>
          <a:prstGeom prst="ellipse">
            <a:avLst/>
          </a:prstGeom>
          <a:solidFill>
            <a:srgbClr val="FFFFF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icon-grow"/>
          <p:cNvSpPr/>
          <p:nvPr/>
        </p:nvSpPr>
        <p:spPr>
          <a:xfrm>
            <a:off x="7510780" y="2393506"/>
            <a:ext cx="127000" cy="79629"/>
          </a:xfrm>
          <a:custGeom>
            <a:avLst/>
            <a:gdLst/>
            <a:ahLst/>
            <a:cxnLst/>
            <a:rect l="0" t="0" r="r" b="b"/>
            <a:pathLst>
              <a:path w="127000" h="79629">
                <a:moveTo>
                  <a:pt x="0" y="79629"/>
                </a:moveTo>
                <a:lnTo>
                  <a:pt x="42355" y="33909"/>
                </a:lnTo>
                <a:lnTo>
                  <a:pt x="72835" y="59309"/>
                </a:lnTo>
                <a:lnTo>
                  <a:pt x="123635" y="0"/>
                </a:lnTo>
                <a:moveTo>
                  <a:pt x="103314" y="0"/>
                </a:moveTo>
                <a:lnTo>
                  <a:pt x="127000" y="0"/>
                </a:lnTo>
                <a:lnTo>
                  <a:pt x="127000" y="23749"/>
                </a:ln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ct-4"/>
          <p:cNvSpPr txBox="1"/>
          <p:nvPr/>
        </p:nvSpPr>
        <p:spPr>
          <a:xfrm>
            <a:off x="7376668" y="3273679"/>
            <a:ext cx="1272540" cy="4000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800" b="1" spc="3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持续进化</a:t>
            </a:r>
          </a:p>
        </p:txBody>
      </p:sp>
      <p:sp>
        <p:nvSpPr>
          <p:cNvPr id="46" name="ce-4"/>
          <p:cNvSpPr txBox="1"/>
          <p:nvPr/>
        </p:nvSpPr>
        <p:spPr>
          <a:xfrm>
            <a:off x="7406132" y="3674808"/>
            <a:ext cx="38074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200">
                <a:solidFill>
                  <a:srgbClr val="CFE0F4"/>
                </a:solidFill>
                <a:latin typeface="Arial"/>
                <a:ea typeface="Arial"/>
                <a:cs typeface="Arial"/>
              </a:rPr>
              <a:t>GROW</a:t>
            </a:r>
          </a:p>
        </p:txBody>
      </p:sp>
      <p:cxnSp>
        <p:nvCxnSpPr>
          <p:cNvPr id="47" name="cs-4"/>
          <p:cNvCxnSpPr/>
          <p:nvPr/>
        </p:nvCxnSpPr>
        <p:spPr>
          <a:xfrm>
            <a:off x="7404100" y="4013200"/>
            <a:ext cx="495300" cy="0"/>
          </a:xfrm>
          <a:prstGeom prst="line">
            <a:avLst/>
          </a:prstGeom>
          <a:ln w="12700" cap="rnd">
            <a:solidFill>
              <a:srgbClr val="FFFFFF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cd-4-0"/>
          <p:cNvSpPr txBox="1"/>
          <p:nvPr/>
        </p:nvSpPr>
        <p:spPr>
          <a:xfrm>
            <a:off x="7390003" y="4185618"/>
            <a:ext cx="107600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0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每季度复盘一次，</a:t>
            </a:r>
          </a:p>
        </p:txBody>
      </p:sp>
      <p:sp>
        <p:nvSpPr>
          <p:cNvPr id="49" name="cd-4-1"/>
          <p:cNvSpPr txBox="1"/>
          <p:nvPr/>
        </p:nvSpPr>
        <p:spPr>
          <a:xfrm>
            <a:off x="7390003" y="4414218"/>
            <a:ext cx="107600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0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每年换一次打法。</a:t>
            </a:r>
          </a:p>
        </p:txBody>
      </p:sp>
      <p:sp>
        <p:nvSpPr>
          <p:cNvPr id="50" name="c-5"/>
          <p:cNvSpPr/>
          <p:nvPr/>
        </p:nvSpPr>
        <p:spPr>
          <a:xfrm>
            <a:off x="9283700" y="1587500"/>
            <a:ext cx="1955800" cy="3810000"/>
          </a:xfrm>
          <a:custGeom>
            <a:avLst/>
            <a:gdLst/>
            <a:ahLst/>
            <a:cxnLst/>
            <a:rect l="0" t="0" r="r" b="b"/>
            <a:pathLst>
              <a:path w="1955800" h="3810000">
                <a:moveTo>
                  <a:pt x="165100" y="0"/>
                </a:moveTo>
                <a:lnTo>
                  <a:pt x="1790700" y="0"/>
                </a:lnTo>
                <a:cubicBezTo>
                  <a:pt x="1881886" y="0"/>
                  <a:pt x="1955800" y="73914"/>
                  <a:pt x="1955800" y="165100"/>
                </a:cubicBezTo>
                <a:lnTo>
                  <a:pt x="1955800" y="3644900"/>
                </a:lnTo>
                <a:cubicBezTo>
                  <a:pt x="1955800" y="3736086"/>
                  <a:pt x="1881886" y="3810000"/>
                  <a:pt x="1790700" y="3810000"/>
                </a:cubicBezTo>
                <a:lnTo>
                  <a:pt x="165100" y="3810000"/>
                </a:lnTo>
                <a:cubicBezTo>
                  <a:pt x="73914" y="3810000"/>
                  <a:pt x="0" y="3736086"/>
                  <a:pt x="0" y="36449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gradFill rotWithShape="1">
            <a:gsLst>
              <a:gs pos="0">
                <a:srgbClr val="E37E4E"/>
              </a:gs>
              <a:gs pos="100000">
                <a:srgbClr val="E0703A"/>
              </a:gs>
            </a:gsLst>
            <a:lin ang="66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cn-5"/>
          <p:cNvSpPr txBox="1"/>
          <p:nvPr/>
        </p:nvSpPr>
        <p:spPr>
          <a:xfrm>
            <a:off x="9759950" y="1486852"/>
            <a:ext cx="1410970" cy="1222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5500" b="1">
                <a:solidFill>
                  <a:srgbClr val="FFFFFF">
                    <a:alpha val="12000"/>
                  </a:srgbClr>
                </a:solidFill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52" name="ci-5"/>
          <p:cNvSpPr/>
          <p:nvPr/>
        </p:nvSpPr>
        <p:spPr>
          <a:xfrm>
            <a:off x="9448800" y="1828800"/>
            <a:ext cx="431800" cy="431800"/>
          </a:xfrm>
          <a:prstGeom prst="ellipse">
            <a:avLst/>
          </a:prstGeom>
          <a:solidFill>
            <a:srgbClr val="FFFFFF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icon-clock"/>
          <p:cNvSpPr/>
          <p:nvPr/>
        </p:nvSpPr>
        <p:spPr>
          <a:xfrm>
            <a:off x="9664700" y="2004060"/>
            <a:ext cx="27114" cy="56705"/>
          </a:xfrm>
          <a:custGeom>
            <a:avLst/>
            <a:gdLst/>
            <a:ahLst/>
            <a:cxnLst/>
            <a:rect l="0" t="0" r="r" b="b"/>
            <a:pathLst>
              <a:path w="27114" h="56705">
                <a:moveTo>
                  <a:pt x="0" y="0"/>
                </a:moveTo>
                <a:lnTo>
                  <a:pt x="0" y="40640"/>
                </a:lnTo>
                <a:lnTo>
                  <a:pt x="27114" y="56705"/>
                </a:lnTo>
              </a:path>
            </a:pathLst>
          </a:cu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icon-clock"/>
          <p:cNvSpPr/>
          <p:nvPr/>
        </p:nvSpPr>
        <p:spPr>
          <a:xfrm>
            <a:off x="9591887" y="1971887"/>
            <a:ext cx="145627" cy="145627"/>
          </a:xfrm>
          <a:prstGeom prst="ellipse">
            <a:avLst/>
          </a:prstGeom>
          <a:noFill/>
          <a:ln w="1397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ct-5"/>
          <p:cNvSpPr txBox="1"/>
          <p:nvPr/>
        </p:nvSpPr>
        <p:spPr>
          <a:xfrm>
            <a:off x="9459468" y="2892679"/>
            <a:ext cx="1272540" cy="4000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800" b="1" spc="3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长期主义</a:t>
            </a:r>
          </a:p>
        </p:txBody>
      </p:sp>
      <p:sp>
        <p:nvSpPr>
          <p:cNvPr id="56" name="ce-5"/>
          <p:cNvSpPr txBox="1"/>
          <p:nvPr/>
        </p:nvSpPr>
        <p:spPr>
          <a:xfrm>
            <a:off x="9488932" y="3293808"/>
            <a:ext cx="75666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200">
                <a:solidFill>
                  <a:srgbClr val="CFE0F4"/>
                </a:solidFill>
                <a:latin typeface="Arial"/>
                <a:ea typeface="Arial"/>
                <a:cs typeface="Arial"/>
              </a:rPr>
              <a:t>LONG TERM</a:t>
            </a:r>
          </a:p>
        </p:txBody>
      </p:sp>
      <p:cxnSp>
        <p:nvCxnSpPr>
          <p:cNvPr id="57" name="cs-5"/>
          <p:cNvCxnSpPr/>
          <p:nvPr/>
        </p:nvCxnSpPr>
        <p:spPr>
          <a:xfrm>
            <a:off x="9486900" y="3632200"/>
            <a:ext cx="495300" cy="0"/>
          </a:xfrm>
          <a:prstGeom prst="line">
            <a:avLst/>
          </a:prstGeom>
          <a:ln w="12700" cap="rnd">
            <a:solidFill>
              <a:srgbClr val="FFFFFF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cd-5-0"/>
          <p:cNvSpPr txBox="1"/>
          <p:nvPr/>
        </p:nvSpPr>
        <p:spPr>
          <a:xfrm>
            <a:off x="9472803" y="3804618"/>
            <a:ext cx="107600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0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做难而正确的事，</a:t>
            </a:r>
          </a:p>
        </p:txBody>
      </p:sp>
      <p:sp>
        <p:nvSpPr>
          <p:cNvPr id="59" name="cd-5-1"/>
          <p:cNvSpPr txBox="1"/>
          <p:nvPr/>
        </p:nvSpPr>
        <p:spPr>
          <a:xfrm>
            <a:off x="9472803" y="4033218"/>
            <a:ext cx="833438" cy="205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19" b="0" spc="3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时间是朋友。</a:t>
            </a:r>
          </a:p>
        </p:txBody>
      </p:sp>
      <p:sp>
        <p:nvSpPr>
          <p:cNvPr id="60" name="do-1"/>
          <p:cNvSpPr/>
          <p:nvPr/>
        </p:nvSpPr>
        <p:spPr>
          <a:xfrm>
            <a:off x="1079500" y="4584700"/>
            <a:ext cx="1701800" cy="673100"/>
          </a:xfrm>
          <a:custGeom>
            <a:avLst/>
            <a:gdLst/>
            <a:ahLst/>
            <a:cxnLst/>
            <a:rect l="0" t="0" r="r" b="b"/>
            <a:pathLst>
              <a:path w="1701800" h="673100">
                <a:moveTo>
                  <a:pt x="101600" y="0"/>
                </a:moveTo>
                <a:lnTo>
                  <a:pt x="1600200" y="0"/>
                </a:lnTo>
                <a:cubicBezTo>
                  <a:pt x="1656334" y="0"/>
                  <a:pt x="1701800" y="45466"/>
                  <a:pt x="1701800" y="101600"/>
                </a:cubicBezTo>
                <a:lnTo>
                  <a:pt x="1701800" y="571500"/>
                </a:lnTo>
                <a:cubicBezTo>
                  <a:pt x="1701800" y="627634"/>
                  <a:pt x="1656334" y="673100"/>
                  <a:pt x="1600200" y="673100"/>
                </a:cubicBezTo>
                <a:lnTo>
                  <a:pt x="101600" y="673100"/>
                </a:lnTo>
                <a:cubicBezTo>
                  <a:pt x="45466" y="673100"/>
                  <a:pt x="0" y="627634"/>
                  <a:pt x="0" y="5715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doh-1"/>
          <p:cNvSpPr txBox="1"/>
          <p:nvPr/>
        </p:nvSpPr>
        <p:spPr>
          <a:xfrm>
            <a:off x="1195832" y="4716208"/>
            <a:ext cx="3848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00">
                <a:solidFill>
                  <a:srgbClr val="FFFFFF">
                    <a:alpha val="70000"/>
                  </a:srgbClr>
                </a:solidFill>
                <a:latin typeface="微软雅黑"/>
                <a:ea typeface="微软雅黑"/>
                <a:cs typeface="微软雅黑"/>
              </a:rPr>
              <a:t>怎么做</a:t>
            </a:r>
          </a:p>
        </p:txBody>
      </p:sp>
      <p:sp>
        <p:nvSpPr>
          <p:cNvPr id="62" name="dot-1"/>
          <p:cNvSpPr txBox="1"/>
          <p:nvPr/>
        </p:nvSpPr>
        <p:spPr>
          <a:xfrm>
            <a:off x="1194308" y="4941824"/>
            <a:ext cx="12090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需求评审必须有客户原话</a:t>
            </a:r>
          </a:p>
        </p:txBody>
      </p:sp>
      <p:sp>
        <p:nvSpPr>
          <p:cNvPr id="63" name="do-2"/>
          <p:cNvSpPr/>
          <p:nvPr/>
        </p:nvSpPr>
        <p:spPr>
          <a:xfrm>
            <a:off x="3162300" y="4965700"/>
            <a:ext cx="1701800" cy="673100"/>
          </a:xfrm>
          <a:custGeom>
            <a:avLst/>
            <a:gdLst/>
            <a:ahLst/>
            <a:cxnLst/>
            <a:rect l="0" t="0" r="r" b="b"/>
            <a:pathLst>
              <a:path w="1701800" h="673100">
                <a:moveTo>
                  <a:pt x="101600" y="0"/>
                </a:moveTo>
                <a:lnTo>
                  <a:pt x="1600200" y="0"/>
                </a:lnTo>
                <a:cubicBezTo>
                  <a:pt x="1656334" y="0"/>
                  <a:pt x="1701800" y="45466"/>
                  <a:pt x="1701800" y="101600"/>
                </a:cubicBezTo>
                <a:lnTo>
                  <a:pt x="1701800" y="571500"/>
                </a:lnTo>
                <a:cubicBezTo>
                  <a:pt x="1701800" y="627634"/>
                  <a:pt x="1656334" y="673100"/>
                  <a:pt x="1600200" y="673100"/>
                </a:cubicBezTo>
                <a:lnTo>
                  <a:pt x="101600" y="673100"/>
                </a:lnTo>
                <a:cubicBezTo>
                  <a:pt x="45466" y="673100"/>
                  <a:pt x="0" y="627634"/>
                  <a:pt x="0" y="5715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doh-2"/>
          <p:cNvSpPr txBox="1"/>
          <p:nvPr/>
        </p:nvSpPr>
        <p:spPr>
          <a:xfrm>
            <a:off x="3278632" y="5097208"/>
            <a:ext cx="3848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00">
                <a:solidFill>
                  <a:srgbClr val="FFFFFF">
                    <a:alpha val="70000"/>
                  </a:srgbClr>
                </a:solidFill>
                <a:latin typeface="微软雅黑"/>
                <a:ea typeface="微软雅黑"/>
                <a:cs typeface="微软雅黑"/>
              </a:rPr>
              <a:t>怎么做</a:t>
            </a:r>
          </a:p>
        </p:txBody>
      </p:sp>
      <p:sp>
        <p:nvSpPr>
          <p:cNvPr id="65" name="dot-2"/>
          <p:cNvSpPr txBox="1"/>
          <p:nvPr/>
        </p:nvSpPr>
        <p:spPr>
          <a:xfrm>
            <a:off x="3277108" y="5322824"/>
            <a:ext cx="10058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周报只写结果与数字</a:t>
            </a:r>
          </a:p>
        </p:txBody>
      </p:sp>
      <p:sp>
        <p:nvSpPr>
          <p:cNvPr id="66" name="do-3"/>
          <p:cNvSpPr/>
          <p:nvPr/>
        </p:nvSpPr>
        <p:spPr>
          <a:xfrm>
            <a:off x="5245100" y="4584700"/>
            <a:ext cx="1701800" cy="673100"/>
          </a:xfrm>
          <a:custGeom>
            <a:avLst/>
            <a:gdLst/>
            <a:ahLst/>
            <a:cxnLst/>
            <a:rect l="0" t="0" r="r" b="b"/>
            <a:pathLst>
              <a:path w="1701800" h="673100">
                <a:moveTo>
                  <a:pt x="101600" y="0"/>
                </a:moveTo>
                <a:lnTo>
                  <a:pt x="1600200" y="0"/>
                </a:lnTo>
                <a:cubicBezTo>
                  <a:pt x="1656334" y="0"/>
                  <a:pt x="1701800" y="45466"/>
                  <a:pt x="1701800" y="101600"/>
                </a:cubicBezTo>
                <a:lnTo>
                  <a:pt x="1701800" y="571500"/>
                </a:lnTo>
                <a:cubicBezTo>
                  <a:pt x="1701800" y="627634"/>
                  <a:pt x="1656334" y="673100"/>
                  <a:pt x="1600200" y="673100"/>
                </a:cubicBezTo>
                <a:lnTo>
                  <a:pt x="101600" y="673100"/>
                </a:lnTo>
                <a:cubicBezTo>
                  <a:pt x="45466" y="673100"/>
                  <a:pt x="0" y="627634"/>
                  <a:pt x="0" y="5715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doh-3"/>
          <p:cNvSpPr txBox="1"/>
          <p:nvPr/>
        </p:nvSpPr>
        <p:spPr>
          <a:xfrm>
            <a:off x="5361432" y="4716208"/>
            <a:ext cx="3848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00">
                <a:solidFill>
                  <a:srgbClr val="FFFFFF">
                    <a:alpha val="70000"/>
                  </a:srgbClr>
                </a:solidFill>
                <a:latin typeface="微软雅黑"/>
                <a:ea typeface="微软雅黑"/>
                <a:cs typeface="微软雅黑"/>
              </a:rPr>
              <a:t>怎么做</a:t>
            </a:r>
          </a:p>
        </p:txBody>
      </p:sp>
      <p:sp>
        <p:nvSpPr>
          <p:cNvPr id="68" name="dot-3"/>
          <p:cNvSpPr txBox="1"/>
          <p:nvPr/>
        </p:nvSpPr>
        <p:spPr>
          <a:xfrm>
            <a:off x="5359908" y="4941824"/>
            <a:ext cx="9042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会议结论当场说清</a:t>
            </a:r>
          </a:p>
        </p:txBody>
      </p:sp>
      <p:sp>
        <p:nvSpPr>
          <p:cNvPr id="69" name="do-4"/>
          <p:cNvSpPr/>
          <p:nvPr/>
        </p:nvSpPr>
        <p:spPr>
          <a:xfrm>
            <a:off x="7327900" y="4965700"/>
            <a:ext cx="1701800" cy="673100"/>
          </a:xfrm>
          <a:custGeom>
            <a:avLst/>
            <a:gdLst/>
            <a:ahLst/>
            <a:cxnLst/>
            <a:rect l="0" t="0" r="r" b="b"/>
            <a:pathLst>
              <a:path w="1701800" h="673100">
                <a:moveTo>
                  <a:pt x="101600" y="0"/>
                </a:moveTo>
                <a:lnTo>
                  <a:pt x="1600200" y="0"/>
                </a:lnTo>
                <a:cubicBezTo>
                  <a:pt x="1656334" y="0"/>
                  <a:pt x="1701800" y="45466"/>
                  <a:pt x="1701800" y="101600"/>
                </a:cubicBezTo>
                <a:lnTo>
                  <a:pt x="1701800" y="571500"/>
                </a:lnTo>
                <a:cubicBezTo>
                  <a:pt x="1701800" y="627634"/>
                  <a:pt x="1656334" y="673100"/>
                  <a:pt x="1600200" y="673100"/>
                </a:cubicBezTo>
                <a:lnTo>
                  <a:pt x="101600" y="673100"/>
                </a:lnTo>
                <a:cubicBezTo>
                  <a:pt x="45466" y="673100"/>
                  <a:pt x="0" y="627634"/>
                  <a:pt x="0" y="5715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doh-4"/>
          <p:cNvSpPr txBox="1"/>
          <p:nvPr/>
        </p:nvSpPr>
        <p:spPr>
          <a:xfrm>
            <a:off x="7444232" y="5097208"/>
            <a:ext cx="3848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00">
                <a:solidFill>
                  <a:srgbClr val="FFFFFF">
                    <a:alpha val="70000"/>
                  </a:srgbClr>
                </a:solidFill>
                <a:latin typeface="微软雅黑"/>
                <a:ea typeface="微软雅黑"/>
                <a:cs typeface="微软雅黑"/>
              </a:rPr>
              <a:t>怎么做</a:t>
            </a:r>
          </a:p>
        </p:txBody>
      </p:sp>
      <p:sp>
        <p:nvSpPr>
          <p:cNvPr id="71" name="dot-4"/>
          <p:cNvSpPr txBox="1"/>
          <p:nvPr/>
        </p:nvSpPr>
        <p:spPr>
          <a:xfrm>
            <a:off x="7442708" y="5322824"/>
            <a:ext cx="9042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每季度一次复盘会</a:t>
            </a:r>
          </a:p>
        </p:txBody>
      </p:sp>
      <p:sp>
        <p:nvSpPr>
          <p:cNvPr id="72" name="do-5"/>
          <p:cNvSpPr/>
          <p:nvPr/>
        </p:nvSpPr>
        <p:spPr>
          <a:xfrm>
            <a:off x="9410700" y="4584700"/>
            <a:ext cx="1701800" cy="673100"/>
          </a:xfrm>
          <a:custGeom>
            <a:avLst/>
            <a:gdLst/>
            <a:ahLst/>
            <a:cxnLst/>
            <a:rect l="0" t="0" r="r" b="b"/>
            <a:pathLst>
              <a:path w="1701800" h="673100">
                <a:moveTo>
                  <a:pt x="101600" y="0"/>
                </a:moveTo>
                <a:lnTo>
                  <a:pt x="1600200" y="0"/>
                </a:lnTo>
                <a:cubicBezTo>
                  <a:pt x="1656334" y="0"/>
                  <a:pt x="1701800" y="45466"/>
                  <a:pt x="1701800" y="101600"/>
                </a:cubicBezTo>
                <a:lnTo>
                  <a:pt x="1701800" y="571500"/>
                </a:lnTo>
                <a:cubicBezTo>
                  <a:pt x="1701800" y="627634"/>
                  <a:pt x="1656334" y="673100"/>
                  <a:pt x="1600200" y="673100"/>
                </a:cubicBezTo>
                <a:lnTo>
                  <a:pt x="101600" y="673100"/>
                </a:lnTo>
                <a:cubicBezTo>
                  <a:pt x="45466" y="673100"/>
                  <a:pt x="0" y="627634"/>
                  <a:pt x="0" y="5715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FFFFF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doh-5"/>
          <p:cNvSpPr txBox="1"/>
          <p:nvPr/>
        </p:nvSpPr>
        <p:spPr>
          <a:xfrm>
            <a:off x="9527032" y="4716208"/>
            <a:ext cx="38481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00">
                <a:solidFill>
                  <a:srgbClr val="FFFFFF">
                    <a:alpha val="70000"/>
                  </a:srgbClr>
                </a:solidFill>
                <a:latin typeface="微软雅黑"/>
                <a:ea typeface="微软雅黑"/>
                <a:cs typeface="微软雅黑"/>
              </a:rPr>
              <a:t>怎么做</a:t>
            </a:r>
          </a:p>
        </p:txBody>
      </p:sp>
      <p:sp>
        <p:nvSpPr>
          <p:cNvPr id="74" name="dot-5"/>
          <p:cNvSpPr txBox="1"/>
          <p:nvPr/>
        </p:nvSpPr>
        <p:spPr>
          <a:xfrm>
            <a:off x="9525508" y="4941824"/>
            <a:ext cx="11074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不为短期利润牺牲口碑</a:t>
            </a:r>
          </a:p>
        </p:txBody>
      </p:sp>
      <p:cxnSp>
        <p:nvCxnSpPr>
          <p:cNvPr id="75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foot-l"/>
          <p:cNvSpPr txBox="1"/>
          <p:nvPr/>
        </p:nvSpPr>
        <p:spPr>
          <a:xfrm>
            <a:off x="573532" y="6532308"/>
            <a:ext cx="9469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原则页 · 五条原则</a:t>
            </a:r>
          </a:p>
        </p:txBody>
      </p:sp>
      <p:sp>
        <p:nvSpPr>
          <p:cNvPr id="77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3850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术语与口径说明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8084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GLOSSARY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123299" y="673132"/>
            <a:ext cx="24974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汇报中出现的八个指标，统一口径后再讨论数字</a:t>
            </a:r>
          </a:p>
        </p:txBody>
      </p:sp>
      <p:sp>
        <p:nvSpPr>
          <p:cNvPr id="10" name="c-1"/>
          <p:cNvSpPr/>
          <p:nvPr/>
        </p:nvSpPr>
        <p:spPr>
          <a:xfrm>
            <a:off x="952500" y="1409700"/>
            <a:ext cx="5048250" cy="1054100"/>
          </a:xfrm>
          <a:custGeom>
            <a:avLst/>
            <a:gdLst/>
            <a:ahLst/>
            <a:cxnLst/>
            <a:rect l="0" t="0" r="r" b="b"/>
            <a:pathLst>
              <a:path w="5048250" h="1054100">
                <a:moveTo>
                  <a:pt x="127000" y="0"/>
                </a:moveTo>
                <a:lnTo>
                  <a:pt x="4921250" y="0"/>
                </a:lnTo>
                <a:cubicBezTo>
                  <a:pt x="4991418" y="0"/>
                  <a:pt x="5048250" y="56832"/>
                  <a:pt x="5048250" y="127000"/>
                </a:cubicBezTo>
                <a:lnTo>
                  <a:pt x="5048250" y="927100"/>
                </a:lnTo>
                <a:cubicBezTo>
                  <a:pt x="5048250" y="997268"/>
                  <a:pt x="4991418" y="1054100"/>
                  <a:pt x="4921250" y="1054100"/>
                </a:cubicBezTo>
                <a:lnTo>
                  <a:pt x="127000" y="1054100"/>
                </a:lnTo>
                <a:cubicBezTo>
                  <a:pt x="56832" y="1054100"/>
                  <a:pt x="0" y="997268"/>
                  <a:pt x="0" y="927100"/>
                </a:cubicBezTo>
                <a:lnTo>
                  <a:pt x="0" y="127000"/>
                </a:lnTo>
                <a:cubicBezTo>
                  <a:pt x="0" y="56832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cl-1"/>
          <p:cNvSpPr/>
          <p:nvPr/>
        </p:nvSpPr>
        <p:spPr>
          <a:xfrm>
            <a:off x="952500" y="1409700"/>
            <a:ext cx="1206500" cy="1054100"/>
          </a:xfrm>
          <a:custGeom>
            <a:avLst/>
            <a:gdLst/>
            <a:ahLst/>
            <a:cxnLst/>
            <a:rect l="0" t="0" r="r" b="b"/>
            <a:pathLst>
              <a:path w="1206500" h="1054100">
                <a:moveTo>
                  <a:pt x="127000" y="0"/>
                </a:moveTo>
                <a:lnTo>
                  <a:pt x="1079500" y="0"/>
                </a:lnTo>
                <a:cubicBezTo>
                  <a:pt x="1149668" y="0"/>
                  <a:pt x="1206500" y="56832"/>
                  <a:pt x="1206500" y="127000"/>
                </a:cubicBezTo>
                <a:lnTo>
                  <a:pt x="1206500" y="927100"/>
                </a:lnTo>
                <a:cubicBezTo>
                  <a:pt x="1206500" y="997268"/>
                  <a:pt x="1149668" y="1054100"/>
                  <a:pt x="1079500" y="1054100"/>
                </a:cubicBezTo>
                <a:lnTo>
                  <a:pt x="127000" y="1054100"/>
                </a:lnTo>
                <a:cubicBezTo>
                  <a:pt x="56832" y="1054100"/>
                  <a:pt x="0" y="997268"/>
                  <a:pt x="0" y="927100"/>
                </a:cubicBezTo>
                <a:lnTo>
                  <a:pt x="0" y="127000"/>
                </a:lnTo>
                <a:cubicBezTo>
                  <a:pt x="0" y="56832"/>
                  <a:pt x="56832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cl2-1"/>
          <p:cNvSpPr/>
          <p:nvPr/>
        </p:nvSpPr>
        <p:spPr>
          <a:xfrm>
            <a:off x="2032000" y="1409700"/>
            <a:ext cx="127000" cy="1054100"/>
          </a:xfrm>
          <a:prstGeom prst="rect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ab-1"/>
          <p:cNvSpPr txBox="1"/>
          <p:nvPr/>
        </p:nvSpPr>
        <p:spPr>
          <a:xfrm>
            <a:off x="1176274" y="1693291"/>
            <a:ext cx="758952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200" b="1" spc="100">
                <a:solidFill>
                  <a:srgbClr val="FFFFFF"/>
                </a:solidFill>
                <a:latin typeface="Arial"/>
                <a:ea typeface="Arial"/>
                <a:cs typeface="Arial"/>
              </a:rPr>
              <a:t>ARR</a:t>
            </a:r>
          </a:p>
        </p:txBody>
      </p:sp>
      <p:sp>
        <p:nvSpPr>
          <p:cNvPr id="14" name="icon-chart"/>
          <p:cNvSpPr/>
          <p:nvPr/>
        </p:nvSpPr>
        <p:spPr>
          <a:xfrm>
            <a:off x="2355215" y="1757362"/>
            <a:ext cx="115570" cy="75692"/>
          </a:xfrm>
          <a:custGeom>
            <a:avLst/>
            <a:gdLst/>
            <a:ahLst/>
            <a:cxnLst/>
            <a:rect l="0" t="0" r="r" b="b"/>
            <a:pathLst>
              <a:path w="115570" h="75692">
                <a:moveTo>
                  <a:pt x="0" y="75692"/>
                </a:moveTo>
                <a:lnTo>
                  <a:pt x="115570" y="75692"/>
                </a:lnTo>
                <a:moveTo>
                  <a:pt x="26162" y="75692"/>
                </a:moveTo>
                <a:lnTo>
                  <a:pt x="26162" y="31623"/>
                </a:lnTo>
                <a:moveTo>
                  <a:pt x="57785" y="75692"/>
                </a:moveTo>
                <a:lnTo>
                  <a:pt x="57785" y="0"/>
                </a:lnTo>
                <a:moveTo>
                  <a:pt x="89408" y="75692"/>
                </a:moveTo>
                <a:lnTo>
                  <a:pt x="89408" y="46800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cn-1"/>
          <p:cNvSpPr txBox="1"/>
          <p:nvPr/>
        </p:nvSpPr>
        <p:spPr>
          <a:xfrm>
            <a:off x="2597912" y="1640586"/>
            <a:ext cx="12928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年度经常性收入</a:t>
            </a:r>
          </a:p>
        </p:txBody>
      </p:sp>
      <p:sp>
        <p:nvSpPr>
          <p:cNvPr id="16" name="d-1"/>
          <p:cNvSpPr txBox="1"/>
          <p:nvPr/>
        </p:nvSpPr>
        <p:spPr>
          <a:xfrm>
            <a:off x="2323465" y="2021761"/>
            <a:ext cx="224758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订阅合同按年折算的收入，不含一次性项目</a:t>
            </a:r>
          </a:p>
        </p:txBody>
      </p:sp>
      <p:sp>
        <p:nvSpPr>
          <p:cNvPr id="17" name="c-2"/>
          <p:cNvSpPr/>
          <p:nvPr/>
        </p:nvSpPr>
        <p:spPr>
          <a:xfrm>
            <a:off x="6191250" y="1409700"/>
            <a:ext cx="5048250" cy="1054100"/>
          </a:xfrm>
          <a:custGeom>
            <a:avLst/>
            <a:gdLst/>
            <a:ahLst/>
            <a:cxnLst/>
            <a:rect l="0" t="0" r="r" b="b"/>
            <a:pathLst>
              <a:path w="5048250" h="1054100">
                <a:moveTo>
                  <a:pt x="127000" y="0"/>
                </a:moveTo>
                <a:lnTo>
                  <a:pt x="4921250" y="0"/>
                </a:lnTo>
                <a:cubicBezTo>
                  <a:pt x="4991418" y="0"/>
                  <a:pt x="5048250" y="56832"/>
                  <a:pt x="5048250" y="127000"/>
                </a:cubicBezTo>
                <a:lnTo>
                  <a:pt x="5048250" y="927100"/>
                </a:lnTo>
                <a:cubicBezTo>
                  <a:pt x="5048250" y="997268"/>
                  <a:pt x="4991418" y="1054100"/>
                  <a:pt x="4921250" y="1054100"/>
                </a:cubicBezTo>
                <a:lnTo>
                  <a:pt x="127000" y="1054100"/>
                </a:lnTo>
                <a:cubicBezTo>
                  <a:pt x="56833" y="1054100"/>
                  <a:pt x="0" y="997268"/>
                  <a:pt x="0" y="9271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cl-2"/>
          <p:cNvSpPr/>
          <p:nvPr/>
        </p:nvSpPr>
        <p:spPr>
          <a:xfrm>
            <a:off x="6191250" y="1409700"/>
            <a:ext cx="1206500" cy="1054100"/>
          </a:xfrm>
          <a:custGeom>
            <a:avLst/>
            <a:gdLst/>
            <a:ahLst/>
            <a:cxnLst/>
            <a:rect l="0" t="0" r="r" b="b"/>
            <a:pathLst>
              <a:path w="1206500" h="1054100">
                <a:moveTo>
                  <a:pt x="127000" y="0"/>
                </a:moveTo>
                <a:lnTo>
                  <a:pt x="1079500" y="0"/>
                </a:lnTo>
                <a:cubicBezTo>
                  <a:pt x="1149667" y="0"/>
                  <a:pt x="1206500" y="56832"/>
                  <a:pt x="1206500" y="127000"/>
                </a:cubicBezTo>
                <a:lnTo>
                  <a:pt x="1206500" y="927100"/>
                </a:lnTo>
                <a:cubicBezTo>
                  <a:pt x="1206500" y="997268"/>
                  <a:pt x="1149667" y="1054100"/>
                  <a:pt x="1079500" y="1054100"/>
                </a:cubicBezTo>
                <a:lnTo>
                  <a:pt x="127000" y="1054100"/>
                </a:lnTo>
                <a:cubicBezTo>
                  <a:pt x="56833" y="1054100"/>
                  <a:pt x="0" y="997268"/>
                  <a:pt x="0" y="9271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366EB2"/>
              </a:gs>
              <a:gs pos="100000">
                <a:srgbClr val="1B5AA8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cl2-2"/>
          <p:cNvSpPr/>
          <p:nvPr/>
        </p:nvSpPr>
        <p:spPr>
          <a:xfrm>
            <a:off x="7270750" y="1409700"/>
            <a:ext cx="127000" cy="1054100"/>
          </a:xfrm>
          <a:prstGeom prst="rect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ab-2"/>
          <p:cNvSpPr txBox="1"/>
          <p:nvPr/>
        </p:nvSpPr>
        <p:spPr>
          <a:xfrm>
            <a:off x="6415024" y="1693291"/>
            <a:ext cx="758952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200" b="1" spc="100">
                <a:solidFill>
                  <a:srgbClr val="FFFFFF"/>
                </a:solidFill>
                <a:latin typeface="Arial"/>
                <a:ea typeface="Arial"/>
                <a:cs typeface="Arial"/>
              </a:rPr>
              <a:t>NRR</a:t>
            </a:r>
          </a:p>
        </p:txBody>
      </p:sp>
      <p:sp>
        <p:nvSpPr>
          <p:cNvPr id="21" name="icon-grow"/>
          <p:cNvSpPr/>
          <p:nvPr/>
        </p:nvSpPr>
        <p:spPr>
          <a:xfrm>
            <a:off x="7593965" y="1751838"/>
            <a:ext cx="103188" cy="64706"/>
          </a:xfrm>
          <a:custGeom>
            <a:avLst/>
            <a:gdLst/>
            <a:ahLst/>
            <a:cxnLst/>
            <a:rect l="0" t="0" r="r" b="b"/>
            <a:pathLst>
              <a:path w="103188" h="64706">
                <a:moveTo>
                  <a:pt x="0" y="64706"/>
                </a:moveTo>
                <a:lnTo>
                  <a:pt x="34417" y="27559"/>
                </a:lnTo>
                <a:lnTo>
                  <a:pt x="59182" y="48197"/>
                </a:lnTo>
                <a:lnTo>
                  <a:pt x="100457" y="0"/>
                </a:lnTo>
                <a:moveTo>
                  <a:pt x="83947" y="0"/>
                </a:moveTo>
                <a:lnTo>
                  <a:pt x="103188" y="0"/>
                </a:lnTo>
                <a:lnTo>
                  <a:pt x="103188" y="19304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cn-2"/>
          <p:cNvSpPr txBox="1"/>
          <p:nvPr/>
        </p:nvSpPr>
        <p:spPr>
          <a:xfrm>
            <a:off x="7836662" y="1640586"/>
            <a:ext cx="11277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净收入留存率</a:t>
            </a:r>
          </a:p>
        </p:txBody>
      </p:sp>
      <p:sp>
        <p:nvSpPr>
          <p:cNvPr id="23" name="d-2"/>
          <p:cNvSpPr txBox="1"/>
          <p:nvPr/>
        </p:nvSpPr>
        <p:spPr>
          <a:xfrm>
            <a:off x="7562215" y="2021761"/>
            <a:ext cx="232695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老客户今年收入 ÷ 去年收入，含增购与流失</a:t>
            </a:r>
          </a:p>
        </p:txBody>
      </p:sp>
      <p:sp>
        <p:nvSpPr>
          <p:cNvPr id="24" name="c-3"/>
          <p:cNvSpPr/>
          <p:nvPr/>
        </p:nvSpPr>
        <p:spPr>
          <a:xfrm>
            <a:off x="952500" y="2590800"/>
            <a:ext cx="5048250" cy="1054100"/>
          </a:xfrm>
          <a:custGeom>
            <a:avLst/>
            <a:gdLst/>
            <a:ahLst/>
            <a:cxnLst/>
            <a:rect l="0" t="0" r="r" b="b"/>
            <a:pathLst>
              <a:path w="5048250" h="1054100">
                <a:moveTo>
                  <a:pt x="127000" y="0"/>
                </a:moveTo>
                <a:lnTo>
                  <a:pt x="4921250" y="0"/>
                </a:lnTo>
                <a:cubicBezTo>
                  <a:pt x="4991418" y="0"/>
                  <a:pt x="5048250" y="56832"/>
                  <a:pt x="5048250" y="127000"/>
                </a:cubicBezTo>
                <a:lnTo>
                  <a:pt x="5048250" y="927100"/>
                </a:lnTo>
                <a:cubicBezTo>
                  <a:pt x="5048250" y="997267"/>
                  <a:pt x="4991418" y="1054100"/>
                  <a:pt x="4921250" y="1054100"/>
                </a:cubicBezTo>
                <a:lnTo>
                  <a:pt x="127000" y="1054100"/>
                </a:lnTo>
                <a:cubicBezTo>
                  <a:pt x="56832" y="1054100"/>
                  <a:pt x="0" y="997267"/>
                  <a:pt x="0" y="927100"/>
                </a:cubicBezTo>
                <a:lnTo>
                  <a:pt x="0" y="127000"/>
                </a:lnTo>
                <a:cubicBezTo>
                  <a:pt x="0" y="56832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cl-3"/>
          <p:cNvSpPr/>
          <p:nvPr/>
        </p:nvSpPr>
        <p:spPr>
          <a:xfrm>
            <a:off x="952500" y="2590800"/>
            <a:ext cx="1206500" cy="1054100"/>
          </a:xfrm>
          <a:custGeom>
            <a:avLst/>
            <a:gdLst/>
            <a:ahLst/>
            <a:cxnLst/>
            <a:rect l="0" t="0" r="r" b="b"/>
            <a:pathLst>
              <a:path w="1206500" h="1054100">
                <a:moveTo>
                  <a:pt x="127000" y="0"/>
                </a:moveTo>
                <a:lnTo>
                  <a:pt x="1079500" y="0"/>
                </a:lnTo>
                <a:cubicBezTo>
                  <a:pt x="1149668" y="0"/>
                  <a:pt x="1206500" y="56832"/>
                  <a:pt x="1206500" y="127000"/>
                </a:cubicBezTo>
                <a:lnTo>
                  <a:pt x="1206500" y="927100"/>
                </a:lnTo>
                <a:cubicBezTo>
                  <a:pt x="1206500" y="997267"/>
                  <a:pt x="1149668" y="1054100"/>
                  <a:pt x="1079500" y="1054100"/>
                </a:cubicBezTo>
                <a:lnTo>
                  <a:pt x="127000" y="1054100"/>
                </a:lnTo>
                <a:cubicBezTo>
                  <a:pt x="56832" y="1054100"/>
                  <a:pt x="0" y="997267"/>
                  <a:pt x="0" y="927100"/>
                </a:cubicBezTo>
                <a:lnTo>
                  <a:pt x="0" y="127000"/>
                </a:lnTo>
                <a:cubicBezTo>
                  <a:pt x="0" y="56832"/>
                  <a:pt x="56832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4787C9"/>
              </a:gs>
              <a:gs pos="100000">
                <a:srgbClr val="2E77C2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cl2-3"/>
          <p:cNvSpPr/>
          <p:nvPr/>
        </p:nvSpPr>
        <p:spPr>
          <a:xfrm>
            <a:off x="2032000" y="2590800"/>
            <a:ext cx="127000" cy="1054100"/>
          </a:xfrm>
          <a:prstGeom prst="rect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ab-3"/>
          <p:cNvSpPr txBox="1"/>
          <p:nvPr/>
        </p:nvSpPr>
        <p:spPr>
          <a:xfrm>
            <a:off x="1176274" y="2874391"/>
            <a:ext cx="758952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200" b="1" spc="100">
                <a:solidFill>
                  <a:srgbClr val="FFFFFF"/>
                </a:solidFill>
                <a:latin typeface="Arial"/>
                <a:ea typeface="Arial"/>
                <a:cs typeface="Arial"/>
              </a:rPr>
              <a:t>CAC</a:t>
            </a:r>
          </a:p>
        </p:txBody>
      </p:sp>
      <p:sp>
        <p:nvSpPr>
          <p:cNvPr id="28" name="icon-coin"/>
          <p:cNvSpPr/>
          <p:nvPr/>
        </p:nvSpPr>
        <p:spPr>
          <a:xfrm>
            <a:off x="2368994" y="2920556"/>
            <a:ext cx="88011" cy="77089"/>
          </a:xfrm>
          <a:custGeom>
            <a:avLst/>
            <a:gdLst/>
            <a:ahLst/>
            <a:cxnLst/>
            <a:rect l="0" t="0" r="r" b="b"/>
            <a:pathLst>
              <a:path w="88011" h="77089">
                <a:moveTo>
                  <a:pt x="44006" y="0"/>
                </a:moveTo>
                <a:cubicBezTo>
                  <a:pt x="19241" y="0"/>
                  <a:pt x="0" y="6921"/>
                  <a:pt x="0" y="16510"/>
                </a:cubicBezTo>
                <a:cubicBezTo>
                  <a:pt x="0" y="26162"/>
                  <a:pt x="19241" y="33020"/>
                  <a:pt x="44006" y="33020"/>
                </a:cubicBezTo>
                <a:cubicBezTo>
                  <a:pt x="68770" y="33020"/>
                  <a:pt x="88011" y="26162"/>
                  <a:pt x="88011" y="16510"/>
                </a:cubicBezTo>
                <a:cubicBezTo>
                  <a:pt x="88011" y="6921"/>
                  <a:pt x="68770" y="0"/>
                  <a:pt x="44006" y="0"/>
                </a:cubicBezTo>
                <a:close/>
                <a:moveTo>
                  <a:pt x="0" y="16510"/>
                </a:moveTo>
                <a:lnTo>
                  <a:pt x="0" y="60579"/>
                </a:lnTo>
                <a:cubicBezTo>
                  <a:pt x="0" y="70168"/>
                  <a:pt x="19241" y="77089"/>
                  <a:pt x="44006" y="77089"/>
                </a:cubicBezTo>
                <a:cubicBezTo>
                  <a:pt x="68770" y="77089"/>
                  <a:pt x="88011" y="70168"/>
                  <a:pt x="88011" y="60579"/>
                </a:cubicBezTo>
                <a:lnTo>
                  <a:pt x="88011" y="16510"/>
                </a:lnTo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cn-3"/>
          <p:cNvSpPr txBox="1"/>
          <p:nvPr/>
        </p:nvSpPr>
        <p:spPr>
          <a:xfrm>
            <a:off x="2597912" y="2821686"/>
            <a:ext cx="7975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获客成本</a:t>
            </a:r>
          </a:p>
        </p:txBody>
      </p:sp>
      <p:sp>
        <p:nvSpPr>
          <p:cNvPr id="30" name="d-3"/>
          <p:cNvSpPr txBox="1"/>
          <p:nvPr/>
        </p:nvSpPr>
        <p:spPr>
          <a:xfrm>
            <a:off x="2323465" y="3202861"/>
            <a:ext cx="164877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市场与销售费用 ÷ 新签客户数</a:t>
            </a:r>
          </a:p>
        </p:txBody>
      </p:sp>
      <p:sp>
        <p:nvSpPr>
          <p:cNvPr id="31" name="c-4"/>
          <p:cNvSpPr/>
          <p:nvPr/>
        </p:nvSpPr>
        <p:spPr>
          <a:xfrm>
            <a:off x="6191250" y="2590800"/>
            <a:ext cx="5048250" cy="1054100"/>
          </a:xfrm>
          <a:custGeom>
            <a:avLst/>
            <a:gdLst/>
            <a:ahLst/>
            <a:cxnLst/>
            <a:rect l="0" t="0" r="r" b="b"/>
            <a:pathLst>
              <a:path w="5048250" h="1054100">
                <a:moveTo>
                  <a:pt x="127000" y="0"/>
                </a:moveTo>
                <a:lnTo>
                  <a:pt x="4921250" y="0"/>
                </a:lnTo>
                <a:cubicBezTo>
                  <a:pt x="4991418" y="0"/>
                  <a:pt x="5048250" y="56832"/>
                  <a:pt x="5048250" y="127000"/>
                </a:cubicBezTo>
                <a:lnTo>
                  <a:pt x="5048250" y="927100"/>
                </a:lnTo>
                <a:cubicBezTo>
                  <a:pt x="5048250" y="997267"/>
                  <a:pt x="4991418" y="1054100"/>
                  <a:pt x="4921250" y="1054100"/>
                </a:cubicBezTo>
                <a:lnTo>
                  <a:pt x="127000" y="1054100"/>
                </a:lnTo>
                <a:cubicBezTo>
                  <a:pt x="56833" y="1054100"/>
                  <a:pt x="0" y="997267"/>
                  <a:pt x="0" y="9271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cl-4"/>
          <p:cNvSpPr/>
          <p:nvPr/>
        </p:nvSpPr>
        <p:spPr>
          <a:xfrm>
            <a:off x="6191250" y="2590800"/>
            <a:ext cx="1206500" cy="1054100"/>
          </a:xfrm>
          <a:custGeom>
            <a:avLst/>
            <a:gdLst/>
            <a:ahLst/>
            <a:cxnLst/>
            <a:rect l="0" t="0" r="r" b="b"/>
            <a:pathLst>
              <a:path w="1206500" h="1054100">
                <a:moveTo>
                  <a:pt x="127000" y="0"/>
                </a:moveTo>
                <a:lnTo>
                  <a:pt x="1079500" y="0"/>
                </a:lnTo>
                <a:cubicBezTo>
                  <a:pt x="1149667" y="0"/>
                  <a:pt x="1206500" y="56832"/>
                  <a:pt x="1206500" y="127000"/>
                </a:cubicBezTo>
                <a:lnTo>
                  <a:pt x="1206500" y="927100"/>
                </a:lnTo>
                <a:cubicBezTo>
                  <a:pt x="1206500" y="997267"/>
                  <a:pt x="1149667" y="1054100"/>
                  <a:pt x="1079500" y="1054100"/>
                </a:cubicBezTo>
                <a:lnTo>
                  <a:pt x="127000" y="1054100"/>
                </a:lnTo>
                <a:cubicBezTo>
                  <a:pt x="56833" y="1054100"/>
                  <a:pt x="0" y="997267"/>
                  <a:pt x="0" y="9271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5CA1DC"/>
              </a:gs>
              <a:gs pos="100000">
                <a:srgbClr val="4694D7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3" name="cl2-4"/>
          <p:cNvSpPr/>
          <p:nvPr/>
        </p:nvSpPr>
        <p:spPr>
          <a:xfrm>
            <a:off x="7270750" y="2590800"/>
            <a:ext cx="127000" cy="1054100"/>
          </a:xfrm>
          <a:prstGeom prst="rect">
            <a:avLst/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ab-4"/>
          <p:cNvSpPr txBox="1"/>
          <p:nvPr/>
        </p:nvSpPr>
        <p:spPr>
          <a:xfrm>
            <a:off x="6415024" y="2874391"/>
            <a:ext cx="758952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200" b="1" spc="100">
                <a:solidFill>
                  <a:srgbClr val="FFFFFF"/>
                </a:solidFill>
                <a:latin typeface="Arial"/>
                <a:ea typeface="Arial"/>
                <a:cs typeface="Arial"/>
              </a:rPr>
              <a:t>LTV</a:t>
            </a:r>
          </a:p>
        </p:txBody>
      </p:sp>
      <p:sp>
        <p:nvSpPr>
          <p:cNvPr id="35" name="icon-star"/>
          <p:cNvSpPr/>
          <p:nvPr/>
        </p:nvSpPr>
        <p:spPr>
          <a:xfrm>
            <a:off x="7593266" y="2901315"/>
            <a:ext cx="116967" cy="111443"/>
          </a:xfrm>
          <a:custGeom>
            <a:avLst/>
            <a:gdLst/>
            <a:ahLst/>
            <a:cxnLst/>
            <a:rect l="0" t="0" r="r" b="b"/>
            <a:pathLst>
              <a:path w="116967" h="111443">
                <a:moveTo>
                  <a:pt x="58484" y="0"/>
                </a:moveTo>
                <a:lnTo>
                  <a:pt x="76390" y="37148"/>
                </a:lnTo>
                <a:lnTo>
                  <a:pt x="116967" y="42672"/>
                </a:lnTo>
                <a:lnTo>
                  <a:pt x="87376" y="70866"/>
                </a:lnTo>
                <a:lnTo>
                  <a:pt x="94933" y="111443"/>
                </a:lnTo>
                <a:lnTo>
                  <a:pt x="58484" y="91504"/>
                </a:lnTo>
                <a:lnTo>
                  <a:pt x="22035" y="111443"/>
                </a:lnTo>
                <a:lnTo>
                  <a:pt x="29591" y="70866"/>
                </a:lnTo>
                <a:lnTo>
                  <a:pt x="0" y="42672"/>
                </a:lnTo>
                <a:lnTo>
                  <a:pt x="40577" y="37148"/>
                </a:lnTo>
                <a:close/>
              </a:path>
            </a:pathLst>
          </a:cu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cn-4"/>
          <p:cNvSpPr txBox="1"/>
          <p:nvPr/>
        </p:nvSpPr>
        <p:spPr>
          <a:xfrm>
            <a:off x="7836662" y="2821686"/>
            <a:ext cx="14579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客户生命周期价值</a:t>
            </a:r>
          </a:p>
        </p:txBody>
      </p:sp>
      <p:sp>
        <p:nvSpPr>
          <p:cNvPr id="37" name="d-4"/>
          <p:cNvSpPr txBox="1"/>
          <p:nvPr/>
        </p:nvSpPr>
        <p:spPr>
          <a:xfrm>
            <a:off x="7562215" y="3202861"/>
            <a:ext cx="184118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客单价 × 毛利率 × 平均合作年限</a:t>
            </a:r>
          </a:p>
        </p:txBody>
      </p:sp>
      <p:sp>
        <p:nvSpPr>
          <p:cNvPr id="38" name="c-5"/>
          <p:cNvSpPr/>
          <p:nvPr/>
        </p:nvSpPr>
        <p:spPr>
          <a:xfrm>
            <a:off x="952500" y="3771900"/>
            <a:ext cx="5048250" cy="1054100"/>
          </a:xfrm>
          <a:custGeom>
            <a:avLst/>
            <a:gdLst/>
            <a:ahLst/>
            <a:cxnLst/>
            <a:rect l="0" t="0" r="r" b="b"/>
            <a:pathLst>
              <a:path w="5048250" h="1054100">
                <a:moveTo>
                  <a:pt x="127000" y="0"/>
                </a:moveTo>
                <a:lnTo>
                  <a:pt x="4921250" y="0"/>
                </a:lnTo>
                <a:cubicBezTo>
                  <a:pt x="4991418" y="0"/>
                  <a:pt x="5048250" y="56833"/>
                  <a:pt x="5048250" y="127000"/>
                </a:cubicBezTo>
                <a:lnTo>
                  <a:pt x="5048250" y="927100"/>
                </a:lnTo>
                <a:cubicBezTo>
                  <a:pt x="5048250" y="997267"/>
                  <a:pt x="4991418" y="1054100"/>
                  <a:pt x="4921250" y="1054100"/>
                </a:cubicBezTo>
                <a:lnTo>
                  <a:pt x="127000" y="1054100"/>
                </a:lnTo>
                <a:cubicBezTo>
                  <a:pt x="56832" y="1054100"/>
                  <a:pt x="0" y="997267"/>
                  <a:pt x="0" y="927100"/>
                </a:cubicBezTo>
                <a:lnTo>
                  <a:pt x="0" y="127000"/>
                </a:lnTo>
                <a:cubicBezTo>
                  <a:pt x="0" y="56833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cl-5"/>
          <p:cNvSpPr/>
          <p:nvPr/>
        </p:nvSpPr>
        <p:spPr>
          <a:xfrm>
            <a:off x="952500" y="3771900"/>
            <a:ext cx="1206500" cy="1054100"/>
          </a:xfrm>
          <a:custGeom>
            <a:avLst/>
            <a:gdLst/>
            <a:ahLst/>
            <a:cxnLst/>
            <a:rect l="0" t="0" r="r" b="b"/>
            <a:pathLst>
              <a:path w="1206500" h="1054100">
                <a:moveTo>
                  <a:pt x="127000" y="0"/>
                </a:moveTo>
                <a:lnTo>
                  <a:pt x="1079500" y="0"/>
                </a:lnTo>
                <a:cubicBezTo>
                  <a:pt x="1149668" y="0"/>
                  <a:pt x="1206500" y="56833"/>
                  <a:pt x="1206500" y="127000"/>
                </a:cubicBezTo>
                <a:lnTo>
                  <a:pt x="1206500" y="927100"/>
                </a:lnTo>
                <a:cubicBezTo>
                  <a:pt x="1206500" y="997267"/>
                  <a:pt x="1149668" y="1054100"/>
                  <a:pt x="1079500" y="1054100"/>
                </a:cubicBezTo>
                <a:lnTo>
                  <a:pt x="127000" y="1054100"/>
                </a:lnTo>
                <a:cubicBezTo>
                  <a:pt x="56832" y="1054100"/>
                  <a:pt x="0" y="997267"/>
                  <a:pt x="0" y="927100"/>
                </a:cubicBezTo>
                <a:lnTo>
                  <a:pt x="0" y="127000"/>
                </a:lnTo>
                <a:cubicBezTo>
                  <a:pt x="0" y="56833"/>
                  <a:pt x="56832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cl2-5"/>
          <p:cNvSpPr/>
          <p:nvPr/>
        </p:nvSpPr>
        <p:spPr>
          <a:xfrm>
            <a:off x="2032000" y="3771900"/>
            <a:ext cx="127000" cy="1054100"/>
          </a:xfrm>
          <a:prstGeom prst="rect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ab-5"/>
          <p:cNvSpPr txBox="1"/>
          <p:nvPr/>
        </p:nvSpPr>
        <p:spPr>
          <a:xfrm>
            <a:off x="1176274" y="4055491"/>
            <a:ext cx="758952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200" b="1" spc="100">
                <a:solidFill>
                  <a:srgbClr val="FFFFFF"/>
                </a:solidFill>
                <a:latin typeface="Arial"/>
                <a:ea typeface="Arial"/>
                <a:cs typeface="Arial"/>
              </a:rPr>
              <a:t>NPS</a:t>
            </a:r>
          </a:p>
        </p:txBody>
      </p:sp>
      <p:sp>
        <p:nvSpPr>
          <p:cNvPr id="42" name="icon-people"/>
          <p:cNvSpPr/>
          <p:nvPr/>
        </p:nvSpPr>
        <p:spPr>
          <a:xfrm>
            <a:off x="2355215" y="4158107"/>
            <a:ext cx="116967" cy="33020"/>
          </a:xfrm>
          <a:custGeom>
            <a:avLst/>
            <a:gdLst/>
            <a:ahLst/>
            <a:cxnLst/>
            <a:rect l="0" t="0" r="r" b="b"/>
            <a:pathLst>
              <a:path w="116967" h="33020">
                <a:moveTo>
                  <a:pt x="0" y="33020"/>
                </a:moveTo>
                <a:cubicBezTo>
                  <a:pt x="0" y="12382"/>
                  <a:pt x="17209" y="0"/>
                  <a:pt x="37148" y="0"/>
                </a:cubicBezTo>
                <a:cubicBezTo>
                  <a:pt x="57087" y="0"/>
                  <a:pt x="74295" y="12382"/>
                  <a:pt x="74295" y="33020"/>
                </a:cubicBezTo>
                <a:moveTo>
                  <a:pt x="88075" y="2730"/>
                </a:moveTo>
                <a:cubicBezTo>
                  <a:pt x="105918" y="4826"/>
                  <a:pt x="116967" y="17145"/>
                  <a:pt x="116967" y="33020"/>
                </a:cubicBez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icon-people"/>
          <p:cNvSpPr/>
          <p:nvPr/>
        </p:nvSpPr>
        <p:spPr>
          <a:xfrm>
            <a:off x="2370349" y="4098925"/>
            <a:ext cx="44027" cy="44027"/>
          </a:xfrm>
          <a:prstGeom prst="ellipse">
            <a:avLst/>
          </a:pr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icon-people"/>
          <p:cNvSpPr/>
          <p:nvPr/>
        </p:nvSpPr>
        <p:spPr>
          <a:xfrm>
            <a:off x="2429510" y="4098925"/>
            <a:ext cx="35772" cy="35772"/>
          </a:xfrm>
          <a:prstGeom prst="ellipse">
            <a:avLst/>
          </a:pr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cn-5"/>
          <p:cNvSpPr txBox="1"/>
          <p:nvPr/>
        </p:nvSpPr>
        <p:spPr>
          <a:xfrm>
            <a:off x="2597912" y="4002786"/>
            <a:ext cx="7975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净推荐值</a:t>
            </a:r>
          </a:p>
        </p:txBody>
      </p:sp>
      <p:sp>
        <p:nvSpPr>
          <p:cNvPr id="46" name="d-5"/>
          <p:cNvSpPr txBox="1"/>
          <p:nvPr/>
        </p:nvSpPr>
        <p:spPr>
          <a:xfrm>
            <a:off x="2323465" y="4383961"/>
            <a:ext cx="251618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推荐者占比 − 贬损者占比，范围 −100 到 100</a:t>
            </a:r>
          </a:p>
        </p:txBody>
      </p:sp>
      <p:sp>
        <p:nvSpPr>
          <p:cNvPr id="47" name="c-6"/>
          <p:cNvSpPr/>
          <p:nvPr/>
        </p:nvSpPr>
        <p:spPr>
          <a:xfrm>
            <a:off x="6191250" y="3771900"/>
            <a:ext cx="5048250" cy="1054100"/>
          </a:xfrm>
          <a:custGeom>
            <a:avLst/>
            <a:gdLst/>
            <a:ahLst/>
            <a:cxnLst/>
            <a:rect l="0" t="0" r="r" b="b"/>
            <a:pathLst>
              <a:path w="5048250" h="1054100">
                <a:moveTo>
                  <a:pt x="127000" y="0"/>
                </a:moveTo>
                <a:lnTo>
                  <a:pt x="4921250" y="0"/>
                </a:lnTo>
                <a:cubicBezTo>
                  <a:pt x="4991418" y="0"/>
                  <a:pt x="5048250" y="56833"/>
                  <a:pt x="5048250" y="127000"/>
                </a:cubicBezTo>
                <a:lnTo>
                  <a:pt x="5048250" y="927100"/>
                </a:lnTo>
                <a:cubicBezTo>
                  <a:pt x="5048250" y="997267"/>
                  <a:pt x="4991418" y="1054100"/>
                  <a:pt x="4921250" y="1054100"/>
                </a:cubicBezTo>
                <a:lnTo>
                  <a:pt x="127000" y="1054100"/>
                </a:lnTo>
                <a:cubicBezTo>
                  <a:pt x="56833" y="1054100"/>
                  <a:pt x="0" y="997267"/>
                  <a:pt x="0" y="9271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8" name="cl-6"/>
          <p:cNvSpPr/>
          <p:nvPr/>
        </p:nvSpPr>
        <p:spPr>
          <a:xfrm>
            <a:off x="6191250" y="3771900"/>
            <a:ext cx="1206500" cy="1054100"/>
          </a:xfrm>
          <a:custGeom>
            <a:avLst/>
            <a:gdLst/>
            <a:ahLst/>
            <a:cxnLst/>
            <a:rect l="0" t="0" r="r" b="b"/>
            <a:pathLst>
              <a:path w="1206500" h="1054100">
                <a:moveTo>
                  <a:pt x="127000" y="0"/>
                </a:moveTo>
                <a:lnTo>
                  <a:pt x="1079500" y="0"/>
                </a:lnTo>
                <a:cubicBezTo>
                  <a:pt x="1149667" y="0"/>
                  <a:pt x="1206500" y="56833"/>
                  <a:pt x="1206500" y="127000"/>
                </a:cubicBezTo>
                <a:lnTo>
                  <a:pt x="1206500" y="927100"/>
                </a:lnTo>
                <a:cubicBezTo>
                  <a:pt x="1206500" y="997267"/>
                  <a:pt x="1149667" y="1054100"/>
                  <a:pt x="1079500" y="1054100"/>
                </a:cubicBezTo>
                <a:lnTo>
                  <a:pt x="127000" y="1054100"/>
                </a:lnTo>
                <a:cubicBezTo>
                  <a:pt x="56833" y="1054100"/>
                  <a:pt x="0" y="997267"/>
                  <a:pt x="0" y="9271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366EB2"/>
              </a:gs>
              <a:gs pos="100000">
                <a:srgbClr val="1B5AA8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9" name="cl2-6"/>
          <p:cNvSpPr/>
          <p:nvPr/>
        </p:nvSpPr>
        <p:spPr>
          <a:xfrm>
            <a:off x="7270750" y="3771900"/>
            <a:ext cx="127000" cy="1054100"/>
          </a:xfrm>
          <a:prstGeom prst="rect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0" name="ab-6"/>
          <p:cNvSpPr txBox="1"/>
          <p:nvPr/>
        </p:nvSpPr>
        <p:spPr>
          <a:xfrm>
            <a:off x="6415024" y="4055491"/>
            <a:ext cx="758952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200" b="1" spc="100">
                <a:solidFill>
                  <a:srgbClr val="FFFFFF"/>
                </a:solidFill>
                <a:latin typeface="Arial"/>
                <a:ea typeface="Arial"/>
                <a:cs typeface="Arial"/>
              </a:rPr>
              <a:t>GMV</a:t>
            </a:r>
          </a:p>
        </p:txBody>
      </p:sp>
      <p:sp>
        <p:nvSpPr>
          <p:cNvPr id="51" name="icon-cart"/>
          <p:cNvSpPr/>
          <p:nvPr/>
        </p:nvSpPr>
        <p:spPr>
          <a:xfrm>
            <a:off x="7591234" y="4089273"/>
            <a:ext cx="109347" cy="64706"/>
          </a:xfrm>
          <a:custGeom>
            <a:avLst/>
            <a:gdLst/>
            <a:ahLst/>
            <a:cxnLst/>
            <a:rect l="0" t="0" r="r" b="b"/>
            <a:pathLst>
              <a:path w="109347" h="64706">
                <a:moveTo>
                  <a:pt x="0" y="0"/>
                </a:moveTo>
                <a:lnTo>
                  <a:pt x="15812" y="0"/>
                </a:lnTo>
                <a:lnTo>
                  <a:pt x="31623" y="64706"/>
                </a:lnTo>
                <a:lnTo>
                  <a:pt x="96266" y="64706"/>
                </a:lnTo>
                <a:lnTo>
                  <a:pt x="109347" y="19304"/>
                </a:lnTo>
                <a:lnTo>
                  <a:pt x="20638" y="19304"/>
                </a:ln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icon-cart"/>
          <p:cNvSpPr/>
          <p:nvPr/>
        </p:nvSpPr>
        <p:spPr>
          <a:xfrm>
            <a:off x="7624233" y="4174596"/>
            <a:ext cx="19262" cy="19262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icon-cart"/>
          <p:cNvSpPr/>
          <p:nvPr/>
        </p:nvSpPr>
        <p:spPr>
          <a:xfrm>
            <a:off x="7673763" y="4174596"/>
            <a:ext cx="19262" cy="19262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cn-6"/>
          <p:cNvSpPr txBox="1"/>
          <p:nvPr/>
        </p:nvSpPr>
        <p:spPr>
          <a:xfrm>
            <a:off x="7836662" y="4002786"/>
            <a:ext cx="7975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成交总额</a:t>
            </a:r>
          </a:p>
        </p:txBody>
      </p:sp>
      <p:sp>
        <p:nvSpPr>
          <p:cNvPr id="55" name="d-6"/>
          <p:cNvSpPr txBox="1"/>
          <p:nvPr/>
        </p:nvSpPr>
        <p:spPr>
          <a:xfrm>
            <a:off x="7562215" y="4383961"/>
            <a:ext cx="16824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平台上所有订单金额，含退款前</a:t>
            </a:r>
          </a:p>
        </p:txBody>
      </p:sp>
      <p:sp>
        <p:nvSpPr>
          <p:cNvPr id="56" name="c-7"/>
          <p:cNvSpPr/>
          <p:nvPr/>
        </p:nvSpPr>
        <p:spPr>
          <a:xfrm>
            <a:off x="952500" y="4953000"/>
            <a:ext cx="5048250" cy="1054100"/>
          </a:xfrm>
          <a:custGeom>
            <a:avLst/>
            <a:gdLst/>
            <a:ahLst/>
            <a:cxnLst/>
            <a:rect l="0" t="0" r="r" b="b"/>
            <a:pathLst>
              <a:path w="5048250" h="1054100">
                <a:moveTo>
                  <a:pt x="127000" y="0"/>
                </a:moveTo>
                <a:lnTo>
                  <a:pt x="4921250" y="0"/>
                </a:lnTo>
                <a:cubicBezTo>
                  <a:pt x="4991418" y="0"/>
                  <a:pt x="5048250" y="56833"/>
                  <a:pt x="5048250" y="127000"/>
                </a:cubicBezTo>
                <a:lnTo>
                  <a:pt x="5048250" y="927100"/>
                </a:lnTo>
                <a:cubicBezTo>
                  <a:pt x="5048250" y="997267"/>
                  <a:pt x="4991418" y="1054100"/>
                  <a:pt x="4921250" y="1054100"/>
                </a:cubicBezTo>
                <a:lnTo>
                  <a:pt x="127000" y="1054100"/>
                </a:lnTo>
                <a:cubicBezTo>
                  <a:pt x="56832" y="1054100"/>
                  <a:pt x="0" y="997267"/>
                  <a:pt x="0" y="927100"/>
                </a:cubicBezTo>
                <a:lnTo>
                  <a:pt x="0" y="127000"/>
                </a:lnTo>
                <a:cubicBezTo>
                  <a:pt x="0" y="56833"/>
                  <a:pt x="56832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cl-7"/>
          <p:cNvSpPr/>
          <p:nvPr/>
        </p:nvSpPr>
        <p:spPr>
          <a:xfrm>
            <a:off x="952500" y="4953000"/>
            <a:ext cx="1206500" cy="1054100"/>
          </a:xfrm>
          <a:custGeom>
            <a:avLst/>
            <a:gdLst/>
            <a:ahLst/>
            <a:cxnLst/>
            <a:rect l="0" t="0" r="r" b="b"/>
            <a:pathLst>
              <a:path w="1206500" h="1054100">
                <a:moveTo>
                  <a:pt x="127000" y="0"/>
                </a:moveTo>
                <a:lnTo>
                  <a:pt x="1079500" y="0"/>
                </a:lnTo>
                <a:cubicBezTo>
                  <a:pt x="1149668" y="0"/>
                  <a:pt x="1206500" y="56833"/>
                  <a:pt x="1206500" y="127000"/>
                </a:cubicBezTo>
                <a:lnTo>
                  <a:pt x="1206500" y="927100"/>
                </a:lnTo>
                <a:cubicBezTo>
                  <a:pt x="1206500" y="997267"/>
                  <a:pt x="1149668" y="1054100"/>
                  <a:pt x="1079500" y="1054100"/>
                </a:cubicBezTo>
                <a:lnTo>
                  <a:pt x="127000" y="1054100"/>
                </a:lnTo>
                <a:cubicBezTo>
                  <a:pt x="56832" y="1054100"/>
                  <a:pt x="0" y="997267"/>
                  <a:pt x="0" y="927100"/>
                </a:cubicBezTo>
                <a:lnTo>
                  <a:pt x="0" y="127000"/>
                </a:lnTo>
                <a:cubicBezTo>
                  <a:pt x="0" y="56833"/>
                  <a:pt x="56832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4787C9"/>
              </a:gs>
              <a:gs pos="100000">
                <a:srgbClr val="2E77C2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cl2-7"/>
          <p:cNvSpPr/>
          <p:nvPr/>
        </p:nvSpPr>
        <p:spPr>
          <a:xfrm>
            <a:off x="2032000" y="4953000"/>
            <a:ext cx="127000" cy="1054100"/>
          </a:xfrm>
          <a:prstGeom prst="rect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ab-7"/>
          <p:cNvSpPr txBox="1"/>
          <p:nvPr/>
        </p:nvSpPr>
        <p:spPr>
          <a:xfrm>
            <a:off x="1176274" y="5236591"/>
            <a:ext cx="758952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200" b="1" spc="100">
                <a:solidFill>
                  <a:srgbClr val="FFFFFF"/>
                </a:solidFill>
                <a:latin typeface="Arial"/>
                <a:ea typeface="Arial"/>
                <a:cs typeface="Arial"/>
              </a:rPr>
              <a:t>MAU</a:t>
            </a:r>
          </a:p>
        </p:txBody>
      </p:sp>
      <p:sp>
        <p:nvSpPr>
          <p:cNvPr id="60" name="icon-phone"/>
          <p:cNvSpPr/>
          <p:nvPr/>
        </p:nvSpPr>
        <p:spPr>
          <a:xfrm>
            <a:off x="2374456" y="5262118"/>
            <a:ext cx="77089" cy="118364"/>
          </a:xfrm>
          <a:custGeom>
            <a:avLst/>
            <a:gdLst/>
            <a:ahLst/>
            <a:cxnLst/>
            <a:rect l="0" t="0" r="r" b="b"/>
            <a:pathLst>
              <a:path w="77089" h="118364">
                <a:moveTo>
                  <a:pt x="11049" y="0"/>
                </a:moveTo>
                <a:lnTo>
                  <a:pt x="66040" y="0"/>
                </a:lnTo>
                <a:cubicBezTo>
                  <a:pt x="68961" y="0"/>
                  <a:pt x="71755" y="1207"/>
                  <a:pt x="73850" y="3239"/>
                </a:cubicBezTo>
                <a:cubicBezTo>
                  <a:pt x="75882" y="5334"/>
                  <a:pt x="77089" y="8128"/>
                  <a:pt x="77089" y="11049"/>
                </a:cubicBezTo>
                <a:lnTo>
                  <a:pt x="77089" y="107315"/>
                </a:lnTo>
                <a:cubicBezTo>
                  <a:pt x="77089" y="110236"/>
                  <a:pt x="75882" y="113030"/>
                  <a:pt x="73850" y="115125"/>
                </a:cubicBezTo>
                <a:cubicBezTo>
                  <a:pt x="71755" y="117158"/>
                  <a:pt x="68961" y="118364"/>
                  <a:pt x="66040" y="118364"/>
                </a:cubicBezTo>
                <a:lnTo>
                  <a:pt x="11049" y="118364"/>
                </a:lnTo>
                <a:cubicBezTo>
                  <a:pt x="8128" y="118364"/>
                  <a:pt x="5334" y="117158"/>
                  <a:pt x="3238" y="115125"/>
                </a:cubicBezTo>
                <a:cubicBezTo>
                  <a:pt x="1206" y="113030"/>
                  <a:pt x="0" y="110236"/>
                  <a:pt x="0" y="107315"/>
                </a:cubicBezTo>
                <a:lnTo>
                  <a:pt x="0" y="11049"/>
                </a:lnTo>
                <a:cubicBezTo>
                  <a:pt x="0" y="4953"/>
                  <a:pt x="4953" y="0"/>
                  <a:pt x="11049" y="0"/>
                </a:cubicBezTo>
                <a:close/>
                <a:moveTo>
                  <a:pt x="27559" y="97727"/>
                </a:moveTo>
                <a:lnTo>
                  <a:pt x="49530" y="97727"/>
                </a:lnTo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cn-7"/>
          <p:cNvSpPr txBox="1"/>
          <p:nvPr/>
        </p:nvSpPr>
        <p:spPr>
          <a:xfrm>
            <a:off x="2597912" y="5183886"/>
            <a:ext cx="9626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月活跃用户</a:t>
            </a:r>
          </a:p>
        </p:txBody>
      </p:sp>
      <p:sp>
        <p:nvSpPr>
          <p:cNvPr id="62" name="d-7"/>
          <p:cNvSpPr txBox="1"/>
          <p:nvPr/>
        </p:nvSpPr>
        <p:spPr>
          <a:xfrm>
            <a:off x="2323465" y="5565061"/>
            <a:ext cx="1682433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当月至少登录一次的去重用户数</a:t>
            </a:r>
          </a:p>
        </p:txBody>
      </p:sp>
      <p:sp>
        <p:nvSpPr>
          <p:cNvPr id="63" name="c-8"/>
          <p:cNvSpPr/>
          <p:nvPr/>
        </p:nvSpPr>
        <p:spPr>
          <a:xfrm>
            <a:off x="6191250" y="4953000"/>
            <a:ext cx="5048250" cy="1054100"/>
          </a:xfrm>
          <a:custGeom>
            <a:avLst/>
            <a:gdLst/>
            <a:ahLst/>
            <a:cxnLst/>
            <a:rect l="0" t="0" r="r" b="b"/>
            <a:pathLst>
              <a:path w="5048250" h="1054100">
                <a:moveTo>
                  <a:pt x="127000" y="0"/>
                </a:moveTo>
                <a:lnTo>
                  <a:pt x="4921250" y="0"/>
                </a:lnTo>
                <a:cubicBezTo>
                  <a:pt x="4991418" y="0"/>
                  <a:pt x="5048250" y="56833"/>
                  <a:pt x="5048250" y="127000"/>
                </a:cubicBezTo>
                <a:lnTo>
                  <a:pt x="5048250" y="927100"/>
                </a:lnTo>
                <a:cubicBezTo>
                  <a:pt x="5048250" y="997267"/>
                  <a:pt x="4991418" y="1054100"/>
                  <a:pt x="4921250" y="1054100"/>
                </a:cubicBezTo>
                <a:lnTo>
                  <a:pt x="127000" y="1054100"/>
                </a:lnTo>
                <a:cubicBezTo>
                  <a:pt x="56833" y="1054100"/>
                  <a:pt x="0" y="997267"/>
                  <a:pt x="0" y="9271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cl-8"/>
          <p:cNvSpPr/>
          <p:nvPr/>
        </p:nvSpPr>
        <p:spPr>
          <a:xfrm>
            <a:off x="6191250" y="4953000"/>
            <a:ext cx="1206500" cy="1054100"/>
          </a:xfrm>
          <a:custGeom>
            <a:avLst/>
            <a:gdLst/>
            <a:ahLst/>
            <a:cxnLst/>
            <a:rect l="0" t="0" r="r" b="b"/>
            <a:pathLst>
              <a:path w="1206500" h="1054100">
                <a:moveTo>
                  <a:pt x="127000" y="0"/>
                </a:moveTo>
                <a:lnTo>
                  <a:pt x="1079500" y="0"/>
                </a:lnTo>
                <a:cubicBezTo>
                  <a:pt x="1149667" y="0"/>
                  <a:pt x="1206500" y="56833"/>
                  <a:pt x="1206500" y="127000"/>
                </a:cubicBezTo>
                <a:lnTo>
                  <a:pt x="1206500" y="927100"/>
                </a:lnTo>
                <a:cubicBezTo>
                  <a:pt x="1206500" y="997267"/>
                  <a:pt x="1149667" y="1054100"/>
                  <a:pt x="1079500" y="1054100"/>
                </a:cubicBezTo>
                <a:lnTo>
                  <a:pt x="127000" y="1054100"/>
                </a:lnTo>
                <a:cubicBezTo>
                  <a:pt x="56833" y="1054100"/>
                  <a:pt x="0" y="997267"/>
                  <a:pt x="0" y="9271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gradFill rotWithShape="1">
            <a:gsLst>
              <a:gs pos="0">
                <a:srgbClr val="5CA1DC"/>
              </a:gs>
              <a:gs pos="100000">
                <a:srgbClr val="4694D7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cl2-8"/>
          <p:cNvSpPr/>
          <p:nvPr/>
        </p:nvSpPr>
        <p:spPr>
          <a:xfrm>
            <a:off x="7270750" y="4953000"/>
            <a:ext cx="127000" cy="1054100"/>
          </a:xfrm>
          <a:prstGeom prst="rect">
            <a:avLst/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ab-8"/>
          <p:cNvSpPr txBox="1"/>
          <p:nvPr/>
        </p:nvSpPr>
        <p:spPr>
          <a:xfrm>
            <a:off x="6415024" y="5236591"/>
            <a:ext cx="758952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200" b="1" spc="100">
                <a:solidFill>
                  <a:srgbClr val="FFFFFF"/>
                </a:solidFill>
                <a:latin typeface="Arial"/>
                <a:ea typeface="Arial"/>
                <a:cs typeface="Arial"/>
              </a:rPr>
              <a:t>OTD</a:t>
            </a:r>
          </a:p>
        </p:txBody>
      </p:sp>
      <p:sp>
        <p:nvSpPr>
          <p:cNvPr id="67" name="icon-truck"/>
          <p:cNvSpPr/>
          <p:nvPr/>
        </p:nvSpPr>
        <p:spPr>
          <a:xfrm>
            <a:off x="7593965" y="5284152"/>
            <a:ext cx="108712" cy="67437"/>
          </a:xfrm>
          <a:custGeom>
            <a:avLst/>
            <a:gdLst/>
            <a:ahLst/>
            <a:cxnLst/>
            <a:rect l="0" t="0" r="r" b="b"/>
            <a:pathLst>
              <a:path w="108712" h="67437">
                <a:moveTo>
                  <a:pt x="0" y="0"/>
                </a:moveTo>
                <a:lnTo>
                  <a:pt x="66040" y="0"/>
                </a:lnTo>
                <a:lnTo>
                  <a:pt x="66040" y="67437"/>
                </a:lnTo>
                <a:lnTo>
                  <a:pt x="0" y="67437"/>
                </a:lnTo>
                <a:close/>
                <a:moveTo>
                  <a:pt x="66040" y="24765"/>
                </a:moveTo>
                <a:lnTo>
                  <a:pt x="89408" y="24765"/>
                </a:lnTo>
                <a:lnTo>
                  <a:pt x="108712" y="45402"/>
                </a:lnTo>
                <a:lnTo>
                  <a:pt x="108712" y="67437"/>
                </a:lnTo>
                <a:lnTo>
                  <a:pt x="66040" y="67437"/>
                </a:lnTo>
                <a:close/>
              </a:path>
            </a:pathLst>
          </a:custGeom>
          <a:noFill/>
          <a:ln w="1270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cn-8"/>
          <p:cNvSpPr txBox="1"/>
          <p:nvPr/>
        </p:nvSpPr>
        <p:spPr>
          <a:xfrm>
            <a:off x="7836662" y="5183886"/>
            <a:ext cx="9626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1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准时交付率</a:t>
            </a:r>
          </a:p>
        </p:txBody>
      </p:sp>
      <p:sp>
        <p:nvSpPr>
          <p:cNvPr id="69" name="d-8"/>
          <p:cNvSpPr txBox="1"/>
          <p:nvPr/>
        </p:nvSpPr>
        <p:spPr>
          <a:xfrm>
            <a:off x="7562215" y="5565061"/>
            <a:ext cx="198786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按承诺日期交付的订单数 ÷ 总订单数</a:t>
            </a:r>
          </a:p>
        </p:txBody>
      </p:sp>
      <p:cxnSp>
        <p:nvCxnSpPr>
          <p:cNvPr id="70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foot-l"/>
          <p:cNvSpPr txBox="1"/>
          <p:nvPr/>
        </p:nvSpPr>
        <p:spPr>
          <a:xfrm>
            <a:off x="573532" y="6532308"/>
            <a:ext cx="94691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术语表 · 八个指标</a:t>
            </a:r>
          </a:p>
        </p:txBody>
      </p:sp>
      <p:sp>
        <p:nvSpPr>
          <p:cNvPr id="72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0802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会后行动清单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990600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NEXT STEPS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875395" y="673132"/>
            <a:ext cx="27453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六件事、六个负责人、六个截止日——下周例会逐条过</a:t>
            </a:r>
          </a:p>
        </p:txBody>
      </p:sp>
      <p:sp>
        <p:nvSpPr>
          <p:cNvPr id="10" name="hero"/>
          <p:cNvSpPr/>
          <p:nvPr/>
        </p:nvSpPr>
        <p:spPr>
          <a:xfrm>
            <a:off x="952500" y="1524000"/>
            <a:ext cx="2413000" cy="4381500"/>
          </a:xfrm>
          <a:custGeom>
            <a:avLst/>
            <a:gdLst/>
            <a:ahLst/>
            <a:cxnLst/>
            <a:rect l="0" t="0" r="r" b="b"/>
            <a:pathLst>
              <a:path w="2413000" h="4381500">
                <a:moveTo>
                  <a:pt x="177800" y="0"/>
                </a:moveTo>
                <a:lnTo>
                  <a:pt x="2235200" y="0"/>
                </a:lnTo>
                <a:cubicBezTo>
                  <a:pt x="2333371" y="0"/>
                  <a:pt x="2413000" y="79629"/>
                  <a:pt x="2413000" y="177800"/>
                </a:cubicBezTo>
                <a:lnTo>
                  <a:pt x="2413000" y="4203700"/>
                </a:lnTo>
                <a:cubicBezTo>
                  <a:pt x="2413000" y="4301871"/>
                  <a:pt x="2333371" y="4381500"/>
                  <a:pt x="2235200" y="4381500"/>
                </a:cubicBezTo>
                <a:lnTo>
                  <a:pt x="177800" y="4381500"/>
                </a:lnTo>
                <a:cubicBezTo>
                  <a:pt x="79629" y="4381500"/>
                  <a:pt x="0" y="4301871"/>
                  <a:pt x="0" y="4203700"/>
                </a:cubicBezTo>
                <a:lnTo>
                  <a:pt x="0" y="177800"/>
                </a:lnTo>
                <a:cubicBezTo>
                  <a:pt x="0" y="79629"/>
                  <a:pt x="79629" y="0"/>
                  <a:pt x="1778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81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hero-deco"/>
          <p:cNvSpPr/>
          <p:nvPr/>
        </p:nvSpPr>
        <p:spPr>
          <a:xfrm>
            <a:off x="2222500" y="1143000"/>
            <a:ext cx="1524000" cy="1524000"/>
          </a:xfrm>
          <a:prstGeom prst="ellipse">
            <a:avLst/>
          </a:prstGeom>
          <a:solidFill>
            <a:srgbClr val="FFFFFF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hero-en"/>
          <p:cNvSpPr txBox="1"/>
          <p:nvPr/>
        </p:nvSpPr>
        <p:spPr>
          <a:xfrm>
            <a:off x="1167384" y="1763840"/>
            <a:ext cx="99695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200">
                <a:solidFill>
                  <a:srgbClr val="9FC0E8"/>
                </a:solidFill>
                <a:latin typeface="Arial"/>
                <a:ea typeface="Arial"/>
                <a:cs typeface="Arial"/>
              </a:rPr>
              <a:t>NEXT STEPS</a:t>
            </a:r>
          </a:p>
        </p:txBody>
      </p:sp>
      <p:sp>
        <p:nvSpPr>
          <p:cNvPr id="13" name="hero-v"/>
          <p:cNvSpPr txBox="1"/>
          <p:nvPr/>
        </p:nvSpPr>
        <p:spPr>
          <a:xfrm>
            <a:off x="1089660" y="1725930"/>
            <a:ext cx="1112520" cy="1333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60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6</a:t>
            </a:r>
          </a:p>
        </p:txBody>
      </p:sp>
      <p:sp>
        <p:nvSpPr>
          <p:cNvPr id="14" name="hero-u"/>
          <p:cNvSpPr txBox="1"/>
          <p:nvPr/>
        </p:nvSpPr>
        <p:spPr>
          <a:xfrm>
            <a:off x="1705864" y="2434717"/>
            <a:ext cx="7315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项行动</a:t>
            </a:r>
          </a:p>
        </p:txBody>
      </p:sp>
      <p:sp>
        <p:nvSpPr>
          <p:cNvPr id="15" name="hero-d"/>
          <p:cNvSpPr txBox="1"/>
          <p:nvPr/>
        </p:nvSpPr>
        <p:spPr>
          <a:xfrm>
            <a:off x="1166622" y="2835497"/>
            <a:ext cx="1018413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0" spc="50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3 周内全部关闭</a:t>
            </a:r>
          </a:p>
        </p:txBody>
      </p:sp>
      <p:cxnSp>
        <p:nvCxnSpPr>
          <p:cNvPr id="16" name="hero-l"/>
          <p:cNvCxnSpPr/>
          <p:nvPr/>
        </p:nvCxnSpPr>
        <p:spPr>
          <a:xfrm>
            <a:off x="1181100" y="3276600"/>
            <a:ext cx="1955800" cy="0"/>
          </a:xfrm>
          <a:prstGeom prst="line">
            <a:avLst/>
          </a:prstGeom>
          <a:ln w="6350" cap="rnd">
            <a:solidFill>
              <a:srgbClr val="FFFFFF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pl-0"/>
          <p:cNvSpPr/>
          <p:nvPr/>
        </p:nvSpPr>
        <p:spPr>
          <a:xfrm>
            <a:off x="1181100" y="3479800"/>
            <a:ext cx="304800" cy="3048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plt-0"/>
          <p:cNvSpPr txBox="1"/>
          <p:nvPr/>
        </p:nvSpPr>
        <p:spPr>
          <a:xfrm>
            <a:off x="1230948" y="3543332"/>
            <a:ext cx="205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高</a:t>
            </a:r>
          </a:p>
        </p:txBody>
      </p:sp>
      <p:sp>
        <p:nvSpPr>
          <p:cNvPr id="19" name="pln-0"/>
          <p:cNvSpPr txBox="1"/>
          <p:nvPr/>
        </p:nvSpPr>
        <p:spPr>
          <a:xfrm>
            <a:off x="1585722" y="3533997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高优先级</a:t>
            </a:r>
          </a:p>
        </p:txBody>
      </p:sp>
      <p:sp>
        <p:nvSpPr>
          <p:cNvPr id="20" name="plv-0"/>
          <p:cNvSpPr txBox="1"/>
          <p:nvPr/>
        </p:nvSpPr>
        <p:spPr>
          <a:xfrm>
            <a:off x="2584450" y="3473133"/>
            <a:ext cx="57531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5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2 项</a:t>
            </a:r>
          </a:p>
        </p:txBody>
      </p:sp>
      <p:sp>
        <p:nvSpPr>
          <p:cNvPr id="21" name="pl-1"/>
          <p:cNvSpPr/>
          <p:nvPr/>
        </p:nvSpPr>
        <p:spPr>
          <a:xfrm>
            <a:off x="1181100" y="4089400"/>
            <a:ext cx="304800" cy="304800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plt-1"/>
          <p:cNvSpPr txBox="1"/>
          <p:nvPr/>
        </p:nvSpPr>
        <p:spPr>
          <a:xfrm>
            <a:off x="1230948" y="4152932"/>
            <a:ext cx="205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中</a:t>
            </a:r>
          </a:p>
        </p:txBody>
      </p:sp>
      <p:sp>
        <p:nvSpPr>
          <p:cNvPr id="23" name="pln-1"/>
          <p:cNvSpPr txBox="1"/>
          <p:nvPr/>
        </p:nvSpPr>
        <p:spPr>
          <a:xfrm>
            <a:off x="1585722" y="4143597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中优先级</a:t>
            </a:r>
          </a:p>
        </p:txBody>
      </p:sp>
      <p:sp>
        <p:nvSpPr>
          <p:cNvPr id="24" name="plv-1"/>
          <p:cNvSpPr txBox="1"/>
          <p:nvPr/>
        </p:nvSpPr>
        <p:spPr>
          <a:xfrm>
            <a:off x="2584450" y="4082733"/>
            <a:ext cx="57531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5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2 项</a:t>
            </a:r>
          </a:p>
        </p:txBody>
      </p:sp>
      <p:sp>
        <p:nvSpPr>
          <p:cNvPr id="25" name="pl-2"/>
          <p:cNvSpPr/>
          <p:nvPr/>
        </p:nvSpPr>
        <p:spPr>
          <a:xfrm>
            <a:off x="1181100" y="4699000"/>
            <a:ext cx="304800" cy="304800"/>
          </a:xfrm>
          <a:prstGeom prst="ellipse">
            <a:avLst/>
          </a:prstGeom>
          <a:solidFill>
            <a:srgbClr val="8FA6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plt-2"/>
          <p:cNvSpPr txBox="1"/>
          <p:nvPr/>
        </p:nvSpPr>
        <p:spPr>
          <a:xfrm>
            <a:off x="1230948" y="4762532"/>
            <a:ext cx="205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低</a:t>
            </a:r>
          </a:p>
        </p:txBody>
      </p:sp>
      <p:sp>
        <p:nvSpPr>
          <p:cNvPr id="27" name="pln-2"/>
          <p:cNvSpPr txBox="1"/>
          <p:nvPr/>
        </p:nvSpPr>
        <p:spPr>
          <a:xfrm>
            <a:off x="1585722" y="4753197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低优先级</a:t>
            </a:r>
          </a:p>
        </p:txBody>
      </p:sp>
      <p:sp>
        <p:nvSpPr>
          <p:cNvPr id="28" name="plv-2"/>
          <p:cNvSpPr txBox="1"/>
          <p:nvPr/>
        </p:nvSpPr>
        <p:spPr>
          <a:xfrm>
            <a:off x="2584450" y="4692332"/>
            <a:ext cx="57531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5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2 项</a:t>
            </a:r>
          </a:p>
        </p:txBody>
      </p:sp>
      <p:sp>
        <p:nvSpPr>
          <p:cNvPr id="29" name="hero-f"/>
          <p:cNvSpPr txBox="1"/>
          <p:nvPr/>
        </p:nvSpPr>
        <p:spPr>
          <a:xfrm>
            <a:off x="1169670" y="5533866"/>
            <a:ext cx="15144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逾期未关闭的事项进入例会第一项</a:t>
            </a:r>
          </a:p>
        </p:txBody>
      </p:sp>
      <p:sp>
        <p:nvSpPr>
          <p:cNvPr id="30" name="th-1"/>
          <p:cNvSpPr txBox="1"/>
          <p:nvPr/>
        </p:nvSpPr>
        <p:spPr>
          <a:xfrm>
            <a:off x="4179570" y="1520666"/>
            <a:ext cx="3016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行动</a:t>
            </a:r>
          </a:p>
        </p:txBody>
      </p:sp>
      <p:sp>
        <p:nvSpPr>
          <p:cNvPr id="31" name="th-2"/>
          <p:cNvSpPr txBox="1"/>
          <p:nvPr/>
        </p:nvSpPr>
        <p:spPr>
          <a:xfrm>
            <a:off x="8243570" y="1520666"/>
            <a:ext cx="4095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负责人</a:t>
            </a:r>
          </a:p>
        </p:txBody>
      </p:sp>
      <p:sp>
        <p:nvSpPr>
          <p:cNvPr id="32" name="th-3"/>
          <p:cNvSpPr txBox="1"/>
          <p:nvPr/>
        </p:nvSpPr>
        <p:spPr>
          <a:xfrm>
            <a:off x="9704070" y="1520666"/>
            <a:ext cx="3016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截止</a:t>
            </a:r>
          </a:p>
        </p:txBody>
      </p:sp>
      <p:sp>
        <p:nvSpPr>
          <p:cNvPr id="33" name="th-4"/>
          <p:cNvSpPr txBox="1"/>
          <p:nvPr/>
        </p:nvSpPr>
        <p:spPr>
          <a:xfrm>
            <a:off x="10650855" y="1520666"/>
            <a:ext cx="4095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优先级</a:t>
            </a:r>
          </a:p>
        </p:txBody>
      </p:sp>
      <p:sp>
        <p:nvSpPr>
          <p:cNvPr id="34" name="r-1"/>
          <p:cNvSpPr/>
          <p:nvPr/>
        </p:nvSpPr>
        <p:spPr>
          <a:xfrm>
            <a:off x="3619500" y="1765300"/>
            <a:ext cx="7620000" cy="609600"/>
          </a:xfrm>
          <a:custGeom>
            <a:avLst/>
            <a:gdLst/>
            <a:ahLst/>
            <a:cxnLst/>
            <a:rect l="0" t="0" r="r" b="b"/>
            <a:pathLst>
              <a:path w="7620000" h="609600">
                <a:moveTo>
                  <a:pt x="127000" y="0"/>
                </a:moveTo>
                <a:lnTo>
                  <a:pt x="7493000" y="0"/>
                </a:lnTo>
                <a:cubicBezTo>
                  <a:pt x="7563168" y="0"/>
                  <a:pt x="7620000" y="56832"/>
                  <a:pt x="7620000" y="127000"/>
                </a:cubicBezTo>
                <a:lnTo>
                  <a:pt x="7620000" y="482600"/>
                </a:lnTo>
                <a:cubicBezTo>
                  <a:pt x="7620000" y="552768"/>
                  <a:pt x="7563168" y="609600"/>
                  <a:pt x="7493000" y="609600"/>
                </a:cubicBezTo>
                <a:lnTo>
                  <a:pt x="127000" y="609600"/>
                </a:lnTo>
                <a:cubicBezTo>
                  <a:pt x="56833" y="609600"/>
                  <a:pt x="0" y="552768"/>
                  <a:pt x="0" y="4826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rn-1"/>
          <p:cNvSpPr txBox="1"/>
          <p:nvPr/>
        </p:nvSpPr>
        <p:spPr>
          <a:xfrm>
            <a:off x="3731895" y="1923732"/>
            <a:ext cx="38481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cxnSp>
        <p:nvCxnSpPr>
          <p:cNvPr id="36" name="rl-1"/>
          <p:cNvCxnSpPr/>
          <p:nvPr/>
        </p:nvCxnSpPr>
        <p:spPr>
          <a:xfrm>
            <a:off x="4191000" y="1905000"/>
            <a:ext cx="0" cy="33020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a-1"/>
          <p:cNvSpPr txBox="1"/>
          <p:nvPr/>
        </p:nvSpPr>
        <p:spPr>
          <a:xfrm>
            <a:off x="4339336" y="1872170"/>
            <a:ext cx="144018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确定三季度定价方案</a:t>
            </a:r>
          </a:p>
        </p:txBody>
      </p:sp>
      <p:sp>
        <p:nvSpPr>
          <p:cNvPr id="38" name="rd-1"/>
          <p:cNvSpPr txBox="1"/>
          <p:nvPr/>
        </p:nvSpPr>
        <p:spPr>
          <a:xfrm>
            <a:off x="4344289" y="2126345"/>
            <a:ext cx="109188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输出两套价格表与测算</a:t>
            </a:r>
          </a:p>
        </p:txBody>
      </p:sp>
      <p:sp>
        <p:nvSpPr>
          <p:cNvPr id="39" name="av-1"/>
          <p:cNvSpPr/>
          <p:nvPr/>
        </p:nvSpPr>
        <p:spPr>
          <a:xfrm>
            <a:off x="8242300" y="1917700"/>
            <a:ext cx="304800" cy="304800"/>
          </a:xfrm>
          <a:prstGeom prst="ellipse">
            <a:avLst/>
          </a:prstGeom>
          <a:solidFill>
            <a:srgbClr val="305BA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avt-1"/>
          <p:cNvSpPr txBox="1"/>
          <p:nvPr/>
        </p:nvSpPr>
        <p:spPr>
          <a:xfrm>
            <a:off x="8286115" y="1973390"/>
            <a:ext cx="2171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王</a:t>
            </a:r>
          </a:p>
        </p:txBody>
      </p:sp>
      <p:sp>
        <p:nvSpPr>
          <p:cNvPr id="41" name="ro-1"/>
          <p:cNvSpPr txBox="1"/>
          <p:nvPr/>
        </p:nvSpPr>
        <p:spPr>
          <a:xfrm>
            <a:off x="8610346" y="1981232"/>
            <a:ext cx="4210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王晓晨</a:t>
            </a:r>
          </a:p>
        </p:txBody>
      </p:sp>
      <p:sp>
        <p:nvSpPr>
          <p:cNvPr id="42" name="icon-calendar"/>
          <p:cNvSpPr/>
          <p:nvPr/>
        </p:nvSpPr>
        <p:spPr>
          <a:xfrm>
            <a:off x="9761347" y="2021205"/>
            <a:ext cx="86106" cy="93155"/>
          </a:xfrm>
          <a:custGeom>
            <a:avLst/>
            <a:gdLst/>
            <a:ahLst/>
            <a:cxnLst/>
            <a:rect l="0" t="0" r="r" b="b"/>
            <a:pathLst>
              <a:path w="86106" h="93155">
                <a:moveTo>
                  <a:pt x="0" y="16319"/>
                </a:moveTo>
                <a:lnTo>
                  <a:pt x="86106" y="16319"/>
                </a:lnTo>
                <a:lnTo>
                  <a:pt x="86106" y="93155"/>
                </a:lnTo>
                <a:lnTo>
                  <a:pt x="0" y="93155"/>
                </a:lnTo>
                <a:close/>
                <a:moveTo>
                  <a:pt x="0" y="39560"/>
                </a:moveTo>
                <a:lnTo>
                  <a:pt x="86106" y="39560"/>
                </a:lnTo>
                <a:moveTo>
                  <a:pt x="23241" y="0"/>
                </a:moveTo>
                <a:lnTo>
                  <a:pt x="23241" y="23305"/>
                </a:lnTo>
                <a:moveTo>
                  <a:pt x="62865" y="0"/>
                </a:moveTo>
                <a:lnTo>
                  <a:pt x="62865" y="23305"/>
                </a:lnTo>
              </a:path>
            </a:pathLst>
          </a:custGeom>
          <a:noFill/>
          <a:ln w="1143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rt-1"/>
          <p:cNvSpPr txBox="1"/>
          <p:nvPr/>
        </p:nvSpPr>
        <p:spPr>
          <a:xfrm>
            <a:off x="9931146" y="1981232"/>
            <a:ext cx="675767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10 月 9 日</a:t>
            </a:r>
          </a:p>
        </p:txBody>
      </p:sp>
      <p:sp>
        <p:nvSpPr>
          <p:cNvPr id="44" name="rp-1"/>
          <p:cNvSpPr/>
          <p:nvPr/>
        </p:nvSpPr>
        <p:spPr>
          <a:xfrm>
            <a:off x="10693400" y="1955800"/>
            <a:ext cx="368300" cy="228600"/>
          </a:xfrm>
          <a:custGeom>
            <a:avLst/>
            <a:gdLst/>
            <a:ahLst/>
            <a:cxnLst/>
            <a:rect l="0" t="0" r="r" b="b"/>
            <a:pathLst>
              <a:path w="368300" h="228600">
                <a:moveTo>
                  <a:pt x="114300" y="0"/>
                </a:moveTo>
                <a:lnTo>
                  <a:pt x="254000" y="0"/>
                </a:lnTo>
                <a:cubicBezTo>
                  <a:pt x="317119" y="0"/>
                  <a:pt x="368300" y="51181"/>
                  <a:pt x="368300" y="114300"/>
                </a:cubicBezTo>
                <a:lnTo>
                  <a:pt x="368300" y="114300"/>
                </a:lnTo>
                <a:cubicBezTo>
                  <a:pt x="368300" y="177419"/>
                  <a:pt x="317119" y="228600"/>
                  <a:pt x="2540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rpt-1"/>
          <p:cNvSpPr txBox="1"/>
          <p:nvPr/>
        </p:nvSpPr>
        <p:spPr>
          <a:xfrm>
            <a:off x="10774998" y="1981232"/>
            <a:ext cx="205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高</a:t>
            </a:r>
          </a:p>
        </p:txBody>
      </p:sp>
      <p:sp>
        <p:nvSpPr>
          <p:cNvPr id="46" name="r-2"/>
          <p:cNvSpPr/>
          <p:nvPr/>
        </p:nvSpPr>
        <p:spPr>
          <a:xfrm>
            <a:off x="3619500" y="2463800"/>
            <a:ext cx="7620000" cy="609600"/>
          </a:xfrm>
          <a:custGeom>
            <a:avLst/>
            <a:gdLst/>
            <a:ahLst/>
            <a:cxnLst/>
            <a:rect l="0" t="0" r="r" b="b"/>
            <a:pathLst>
              <a:path w="7620000" h="609600">
                <a:moveTo>
                  <a:pt x="127000" y="0"/>
                </a:moveTo>
                <a:lnTo>
                  <a:pt x="7493000" y="0"/>
                </a:lnTo>
                <a:cubicBezTo>
                  <a:pt x="7563168" y="0"/>
                  <a:pt x="7620000" y="56832"/>
                  <a:pt x="7620000" y="127000"/>
                </a:cubicBezTo>
                <a:lnTo>
                  <a:pt x="7620000" y="482600"/>
                </a:lnTo>
                <a:cubicBezTo>
                  <a:pt x="7620000" y="552768"/>
                  <a:pt x="7563168" y="609600"/>
                  <a:pt x="7493000" y="609600"/>
                </a:cubicBezTo>
                <a:lnTo>
                  <a:pt x="127000" y="609600"/>
                </a:lnTo>
                <a:cubicBezTo>
                  <a:pt x="56833" y="609600"/>
                  <a:pt x="0" y="552768"/>
                  <a:pt x="0" y="4826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rn-2"/>
          <p:cNvSpPr txBox="1"/>
          <p:nvPr/>
        </p:nvSpPr>
        <p:spPr>
          <a:xfrm>
            <a:off x="3731895" y="2622232"/>
            <a:ext cx="38481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cxnSp>
        <p:nvCxnSpPr>
          <p:cNvPr id="48" name="rl-2"/>
          <p:cNvCxnSpPr/>
          <p:nvPr/>
        </p:nvCxnSpPr>
        <p:spPr>
          <a:xfrm>
            <a:off x="4191000" y="2603500"/>
            <a:ext cx="0" cy="33020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ra-2"/>
          <p:cNvSpPr txBox="1"/>
          <p:nvPr/>
        </p:nvSpPr>
        <p:spPr>
          <a:xfrm>
            <a:off x="4339336" y="2570670"/>
            <a:ext cx="142494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完成 CRM 数据清洗</a:t>
            </a:r>
          </a:p>
        </p:txBody>
      </p:sp>
      <p:sp>
        <p:nvSpPr>
          <p:cNvPr id="50" name="rd-2"/>
          <p:cNvSpPr txBox="1"/>
          <p:nvPr/>
        </p:nvSpPr>
        <p:spPr>
          <a:xfrm>
            <a:off x="4344289" y="2824845"/>
            <a:ext cx="99155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去重并补齐行业字段</a:t>
            </a:r>
          </a:p>
        </p:txBody>
      </p:sp>
      <p:sp>
        <p:nvSpPr>
          <p:cNvPr id="51" name="av-2"/>
          <p:cNvSpPr/>
          <p:nvPr/>
        </p:nvSpPr>
        <p:spPr>
          <a:xfrm>
            <a:off x="8242300" y="2616200"/>
            <a:ext cx="304800" cy="304800"/>
          </a:xfrm>
          <a:prstGeom prst="ellipse">
            <a:avLst/>
          </a:prstGeom>
          <a:solidFill>
            <a:srgbClr val="3D73B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avt-2"/>
          <p:cNvSpPr txBox="1"/>
          <p:nvPr/>
        </p:nvSpPr>
        <p:spPr>
          <a:xfrm>
            <a:off x="8286115" y="2671890"/>
            <a:ext cx="2171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李</a:t>
            </a:r>
          </a:p>
        </p:txBody>
      </p:sp>
      <p:sp>
        <p:nvSpPr>
          <p:cNvPr id="53" name="ro-2"/>
          <p:cNvSpPr txBox="1"/>
          <p:nvPr/>
        </p:nvSpPr>
        <p:spPr>
          <a:xfrm>
            <a:off x="8610346" y="2679732"/>
            <a:ext cx="3130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李嘉</a:t>
            </a:r>
          </a:p>
        </p:txBody>
      </p:sp>
      <p:sp>
        <p:nvSpPr>
          <p:cNvPr id="54" name="icon-calendar"/>
          <p:cNvSpPr/>
          <p:nvPr/>
        </p:nvSpPr>
        <p:spPr>
          <a:xfrm>
            <a:off x="9761347" y="2719705"/>
            <a:ext cx="86106" cy="93155"/>
          </a:xfrm>
          <a:custGeom>
            <a:avLst/>
            <a:gdLst/>
            <a:ahLst/>
            <a:cxnLst/>
            <a:rect l="0" t="0" r="r" b="b"/>
            <a:pathLst>
              <a:path w="86106" h="93155">
                <a:moveTo>
                  <a:pt x="0" y="16319"/>
                </a:moveTo>
                <a:lnTo>
                  <a:pt x="86106" y="16319"/>
                </a:lnTo>
                <a:lnTo>
                  <a:pt x="86106" y="93155"/>
                </a:lnTo>
                <a:lnTo>
                  <a:pt x="0" y="93155"/>
                </a:lnTo>
                <a:close/>
                <a:moveTo>
                  <a:pt x="0" y="39560"/>
                </a:moveTo>
                <a:lnTo>
                  <a:pt x="86106" y="39560"/>
                </a:lnTo>
                <a:moveTo>
                  <a:pt x="23241" y="0"/>
                </a:moveTo>
                <a:lnTo>
                  <a:pt x="23241" y="23305"/>
                </a:lnTo>
                <a:moveTo>
                  <a:pt x="62865" y="0"/>
                </a:moveTo>
                <a:lnTo>
                  <a:pt x="62865" y="23305"/>
                </a:lnTo>
              </a:path>
            </a:pathLst>
          </a:custGeom>
          <a:noFill/>
          <a:ln w="1143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rt-2"/>
          <p:cNvSpPr txBox="1"/>
          <p:nvPr/>
        </p:nvSpPr>
        <p:spPr>
          <a:xfrm>
            <a:off x="9931146" y="2679732"/>
            <a:ext cx="73621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10 月 12 日</a:t>
            </a:r>
          </a:p>
        </p:txBody>
      </p:sp>
      <p:sp>
        <p:nvSpPr>
          <p:cNvPr id="56" name="rp-2"/>
          <p:cNvSpPr/>
          <p:nvPr/>
        </p:nvSpPr>
        <p:spPr>
          <a:xfrm>
            <a:off x="10693400" y="2654300"/>
            <a:ext cx="368300" cy="228600"/>
          </a:xfrm>
          <a:custGeom>
            <a:avLst/>
            <a:gdLst/>
            <a:ahLst/>
            <a:cxnLst/>
            <a:rect l="0" t="0" r="r" b="b"/>
            <a:pathLst>
              <a:path w="368300" h="228600">
                <a:moveTo>
                  <a:pt x="114300" y="0"/>
                </a:moveTo>
                <a:lnTo>
                  <a:pt x="254000" y="0"/>
                </a:lnTo>
                <a:cubicBezTo>
                  <a:pt x="317119" y="0"/>
                  <a:pt x="368300" y="51181"/>
                  <a:pt x="368300" y="114300"/>
                </a:cubicBezTo>
                <a:lnTo>
                  <a:pt x="368300" y="114300"/>
                </a:lnTo>
                <a:cubicBezTo>
                  <a:pt x="368300" y="177419"/>
                  <a:pt x="317119" y="228600"/>
                  <a:pt x="2540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rpt-2"/>
          <p:cNvSpPr txBox="1"/>
          <p:nvPr/>
        </p:nvSpPr>
        <p:spPr>
          <a:xfrm>
            <a:off x="10774998" y="2679732"/>
            <a:ext cx="205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高</a:t>
            </a:r>
          </a:p>
        </p:txBody>
      </p:sp>
      <p:sp>
        <p:nvSpPr>
          <p:cNvPr id="58" name="r-3"/>
          <p:cNvSpPr/>
          <p:nvPr/>
        </p:nvSpPr>
        <p:spPr>
          <a:xfrm>
            <a:off x="3619500" y="3162300"/>
            <a:ext cx="7620000" cy="609600"/>
          </a:xfrm>
          <a:custGeom>
            <a:avLst/>
            <a:gdLst/>
            <a:ahLst/>
            <a:cxnLst/>
            <a:rect l="0" t="0" r="r" b="b"/>
            <a:pathLst>
              <a:path w="7620000" h="609600">
                <a:moveTo>
                  <a:pt x="127000" y="0"/>
                </a:moveTo>
                <a:lnTo>
                  <a:pt x="7493000" y="0"/>
                </a:lnTo>
                <a:cubicBezTo>
                  <a:pt x="7563168" y="0"/>
                  <a:pt x="7620000" y="56832"/>
                  <a:pt x="7620000" y="127000"/>
                </a:cubicBezTo>
                <a:lnTo>
                  <a:pt x="7620000" y="482600"/>
                </a:lnTo>
                <a:cubicBezTo>
                  <a:pt x="7620000" y="552767"/>
                  <a:pt x="7563168" y="609600"/>
                  <a:pt x="7493000" y="609600"/>
                </a:cubicBezTo>
                <a:lnTo>
                  <a:pt x="127000" y="609600"/>
                </a:lnTo>
                <a:cubicBezTo>
                  <a:pt x="56833" y="609600"/>
                  <a:pt x="0" y="552767"/>
                  <a:pt x="0" y="4826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rn-3"/>
          <p:cNvSpPr txBox="1"/>
          <p:nvPr/>
        </p:nvSpPr>
        <p:spPr>
          <a:xfrm>
            <a:off x="3731895" y="3320733"/>
            <a:ext cx="38481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cxnSp>
        <p:nvCxnSpPr>
          <p:cNvPr id="60" name="rl-3"/>
          <p:cNvCxnSpPr/>
          <p:nvPr/>
        </p:nvCxnSpPr>
        <p:spPr>
          <a:xfrm>
            <a:off x="4191000" y="3302000"/>
            <a:ext cx="0" cy="33020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ra-3"/>
          <p:cNvSpPr txBox="1"/>
          <p:nvPr/>
        </p:nvSpPr>
        <p:spPr>
          <a:xfrm>
            <a:off x="4339336" y="3269171"/>
            <a:ext cx="12941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签下两家渠道伙伴</a:t>
            </a:r>
          </a:p>
        </p:txBody>
      </p:sp>
      <p:sp>
        <p:nvSpPr>
          <p:cNvPr id="62" name="rd-3"/>
          <p:cNvSpPr txBox="1"/>
          <p:nvPr/>
        </p:nvSpPr>
        <p:spPr>
          <a:xfrm>
            <a:off x="4344289" y="3523345"/>
            <a:ext cx="89122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华南、西南各一家</a:t>
            </a:r>
          </a:p>
        </p:txBody>
      </p:sp>
      <p:sp>
        <p:nvSpPr>
          <p:cNvPr id="63" name="av-3"/>
          <p:cNvSpPr/>
          <p:nvPr/>
        </p:nvSpPr>
        <p:spPr>
          <a:xfrm>
            <a:off x="8242300" y="3314700"/>
            <a:ext cx="304800" cy="304800"/>
          </a:xfrm>
          <a:prstGeom prst="ellipse">
            <a:avLst/>
          </a:prstGeom>
          <a:solidFill>
            <a:srgbClr val="4D8BC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avt-3"/>
          <p:cNvSpPr txBox="1"/>
          <p:nvPr/>
        </p:nvSpPr>
        <p:spPr>
          <a:xfrm>
            <a:off x="8286115" y="3370390"/>
            <a:ext cx="2171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赵</a:t>
            </a:r>
          </a:p>
        </p:txBody>
      </p:sp>
      <p:sp>
        <p:nvSpPr>
          <p:cNvPr id="65" name="ro-3"/>
          <p:cNvSpPr txBox="1"/>
          <p:nvPr/>
        </p:nvSpPr>
        <p:spPr>
          <a:xfrm>
            <a:off x="8610346" y="3378232"/>
            <a:ext cx="4210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赵一鸣</a:t>
            </a:r>
          </a:p>
        </p:txBody>
      </p:sp>
      <p:sp>
        <p:nvSpPr>
          <p:cNvPr id="66" name="icon-calendar"/>
          <p:cNvSpPr/>
          <p:nvPr/>
        </p:nvSpPr>
        <p:spPr>
          <a:xfrm>
            <a:off x="9761347" y="3418205"/>
            <a:ext cx="86106" cy="93155"/>
          </a:xfrm>
          <a:custGeom>
            <a:avLst/>
            <a:gdLst/>
            <a:ahLst/>
            <a:cxnLst/>
            <a:rect l="0" t="0" r="r" b="b"/>
            <a:pathLst>
              <a:path w="86106" h="93155">
                <a:moveTo>
                  <a:pt x="0" y="16320"/>
                </a:moveTo>
                <a:lnTo>
                  <a:pt x="86106" y="16320"/>
                </a:lnTo>
                <a:lnTo>
                  <a:pt x="86106" y="93155"/>
                </a:lnTo>
                <a:lnTo>
                  <a:pt x="0" y="93155"/>
                </a:lnTo>
                <a:close/>
                <a:moveTo>
                  <a:pt x="0" y="39561"/>
                </a:moveTo>
                <a:lnTo>
                  <a:pt x="86106" y="39561"/>
                </a:lnTo>
                <a:moveTo>
                  <a:pt x="23241" y="0"/>
                </a:moveTo>
                <a:lnTo>
                  <a:pt x="23241" y="23305"/>
                </a:lnTo>
                <a:moveTo>
                  <a:pt x="62865" y="0"/>
                </a:moveTo>
                <a:lnTo>
                  <a:pt x="62865" y="23305"/>
                </a:lnTo>
              </a:path>
            </a:pathLst>
          </a:custGeom>
          <a:noFill/>
          <a:ln w="1143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rt-3"/>
          <p:cNvSpPr txBox="1"/>
          <p:nvPr/>
        </p:nvSpPr>
        <p:spPr>
          <a:xfrm>
            <a:off x="9931146" y="3378232"/>
            <a:ext cx="73621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10 月 20 日</a:t>
            </a:r>
          </a:p>
        </p:txBody>
      </p:sp>
      <p:sp>
        <p:nvSpPr>
          <p:cNvPr id="68" name="rp-3"/>
          <p:cNvSpPr/>
          <p:nvPr/>
        </p:nvSpPr>
        <p:spPr>
          <a:xfrm>
            <a:off x="10693400" y="3352800"/>
            <a:ext cx="368300" cy="228600"/>
          </a:xfrm>
          <a:custGeom>
            <a:avLst/>
            <a:gdLst/>
            <a:ahLst/>
            <a:cxnLst/>
            <a:rect l="0" t="0" r="r" b="b"/>
            <a:pathLst>
              <a:path w="368300" h="228600">
                <a:moveTo>
                  <a:pt x="114300" y="0"/>
                </a:moveTo>
                <a:lnTo>
                  <a:pt x="254000" y="0"/>
                </a:lnTo>
                <a:cubicBezTo>
                  <a:pt x="317119" y="0"/>
                  <a:pt x="368300" y="51181"/>
                  <a:pt x="368300" y="114300"/>
                </a:cubicBezTo>
                <a:lnTo>
                  <a:pt x="368300" y="114300"/>
                </a:lnTo>
                <a:cubicBezTo>
                  <a:pt x="368300" y="177419"/>
                  <a:pt x="317119" y="228600"/>
                  <a:pt x="2540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rpt-3"/>
          <p:cNvSpPr txBox="1"/>
          <p:nvPr/>
        </p:nvSpPr>
        <p:spPr>
          <a:xfrm>
            <a:off x="10774998" y="3378232"/>
            <a:ext cx="205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中</a:t>
            </a:r>
          </a:p>
        </p:txBody>
      </p:sp>
      <p:sp>
        <p:nvSpPr>
          <p:cNvPr id="70" name="r-4"/>
          <p:cNvSpPr/>
          <p:nvPr/>
        </p:nvSpPr>
        <p:spPr>
          <a:xfrm>
            <a:off x="3619500" y="3860800"/>
            <a:ext cx="7620000" cy="609600"/>
          </a:xfrm>
          <a:custGeom>
            <a:avLst/>
            <a:gdLst/>
            <a:ahLst/>
            <a:cxnLst/>
            <a:rect l="0" t="0" r="r" b="b"/>
            <a:pathLst>
              <a:path w="7620000" h="609600">
                <a:moveTo>
                  <a:pt x="127000" y="0"/>
                </a:moveTo>
                <a:lnTo>
                  <a:pt x="7493000" y="0"/>
                </a:lnTo>
                <a:cubicBezTo>
                  <a:pt x="7563168" y="0"/>
                  <a:pt x="7620000" y="56833"/>
                  <a:pt x="7620000" y="127000"/>
                </a:cubicBezTo>
                <a:lnTo>
                  <a:pt x="7620000" y="482600"/>
                </a:lnTo>
                <a:cubicBezTo>
                  <a:pt x="7620000" y="552767"/>
                  <a:pt x="7563168" y="609600"/>
                  <a:pt x="7493000" y="609600"/>
                </a:cubicBezTo>
                <a:lnTo>
                  <a:pt x="127000" y="609600"/>
                </a:lnTo>
                <a:cubicBezTo>
                  <a:pt x="56833" y="609600"/>
                  <a:pt x="0" y="552767"/>
                  <a:pt x="0" y="4826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rn-4"/>
          <p:cNvSpPr txBox="1"/>
          <p:nvPr/>
        </p:nvSpPr>
        <p:spPr>
          <a:xfrm>
            <a:off x="3731895" y="4019233"/>
            <a:ext cx="38481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cxnSp>
        <p:nvCxnSpPr>
          <p:cNvPr id="72" name="rl-4"/>
          <p:cNvCxnSpPr/>
          <p:nvPr/>
        </p:nvCxnSpPr>
        <p:spPr>
          <a:xfrm>
            <a:off x="4191000" y="4000500"/>
            <a:ext cx="0" cy="33020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ra-4"/>
          <p:cNvSpPr txBox="1"/>
          <p:nvPr/>
        </p:nvSpPr>
        <p:spPr>
          <a:xfrm>
            <a:off x="4339336" y="3967671"/>
            <a:ext cx="12941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上线新版客户门户</a:t>
            </a:r>
          </a:p>
        </p:txBody>
      </p:sp>
      <p:sp>
        <p:nvSpPr>
          <p:cNvPr id="74" name="rd-4"/>
          <p:cNvSpPr txBox="1"/>
          <p:nvPr/>
        </p:nvSpPr>
        <p:spPr>
          <a:xfrm>
            <a:off x="4344289" y="4221845"/>
            <a:ext cx="975677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先对 10% 客户灰度</a:t>
            </a:r>
          </a:p>
        </p:txBody>
      </p:sp>
      <p:sp>
        <p:nvSpPr>
          <p:cNvPr id="75" name="av-4"/>
          <p:cNvSpPr/>
          <p:nvPr/>
        </p:nvSpPr>
        <p:spPr>
          <a:xfrm>
            <a:off x="8242300" y="4013200"/>
            <a:ext cx="304800" cy="304800"/>
          </a:xfrm>
          <a:prstGeom prst="ellipse">
            <a:avLst/>
          </a:prstGeom>
          <a:solidFill>
            <a:srgbClr val="62A4D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avt-4"/>
          <p:cNvSpPr txBox="1"/>
          <p:nvPr/>
        </p:nvSpPr>
        <p:spPr>
          <a:xfrm>
            <a:off x="8286115" y="4068890"/>
            <a:ext cx="2171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陈</a:t>
            </a:r>
          </a:p>
        </p:txBody>
      </p:sp>
      <p:sp>
        <p:nvSpPr>
          <p:cNvPr id="77" name="ro-4"/>
          <p:cNvSpPr txBox="1"/>
          <p:nvPr/>
        </p:nvSpPr>
        <p:spPr>
          <a:xfrm>
            <a:off x="8610346" y="4076732"/>
            <a:ext cx="3130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陈立</a:t>
            </a:r>
          </a:p>
        </p:txBody>
      </p:sp>
      <p:sp>
        <p:nvSpPr>
          <p:cNvPr id="78" name="icon-calendar"/>
          <p:cNvSpPr/>
          <p:nvPr/>
        </p:nvSpPr>
        <p:spPr>
          <a:xfrm>
            <a:off x="9761347" y="4116705"/>
            <a:ext cx="86106" cy="93155"/>
          </a:xfrm>
          <a:custGeom>
            <a:avLst/>
            <a:gdLst/>
            <a:ahLst/>
            <a:cxnLst/>
            <a:rect l="0" t="0" r="r" b="b"/>
            <a:pathLst>
              <a:path w="86106" h="93155">
                <a:moveTo>
                  <a:pt x="0" y="16320"/>
                </a:moveTo>
                <a:lnTo>
                  <a:pt x="86106" y="16320"/>
                </a:lnTo>
                <a:lnTo>
                  <a:pt x="86106" y="93155"/>
                </a:lnTo>
                <a:lnTo>
                  <a:pt x="0" y="93155"/>
                </a:lnTo>
                <a:close/>
                <a:moveTo>
                  <a:pt x="0" y="39561"/>
                </a:moveTo>
                <a:lnTo>
                  <a:pt x="86106" y="39561"/>
                </a:lnTo>
                <a:moveTo>
                  <a:pt x="23241" y="0"/>
                </a:moveTo>
                <a:lnTo>
                  <a:pt x="23241" y="23305"/>
                </a:lnTo>
                <a:moveTo>
                  <a:pt x="62865" y="0"/>
                </a:moveTo>
                <a:lnTo>
                  <a:pt x="62865" y="23305"/>
                </a:lnTo>
              </a:path>
            </a:pathLst>
          </a:custGeom>
          <a:noFill/>
          <a:ln w="1143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rt-4"/>
          <p:cNvSpPr txBox="1"/>
          <p:nvPr/>
        </p:nvSpPr>
        <p:spPr>
          <a:xfrm>
            <a:off x="9931146" y="4076732"/>
            <a:ext cx="73621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10 月 23 日</a:t>
            </a:r>
          </a:p>
        </p:txBody>
      </p:sp>
      <p:sp>
        <p:nvSpPr>
          <p:cNvPr id="80" name="rp-4"/>
          <p:cNvSpPr/>
          <p:nvPr/>
        </p:nvSpPr>
        <p:spPr>
          <a:xfrm>
            <a:off x="10693400" y="4051300"/>
            <a:ext cx="368300" cy="228600"/>
          </a:xfrm>
          <a:custGeom>
            <a:avLst/>
            <a:gdLst/>
            <a:ahLst/>
            <a:cxnLst/>
            <a:rect l="0" t="0" r="r" b="b"/>
            <a:pathLst>
              <a:path w="368300" h="228600">
                <a:moveTo>
                  <a:pt x="114300" y="0"/>
                </a:moveTo>
                <a:lnTo>
                  <a:pt x="254000" y="0"/>
                </a:lnTo>
                <a:cubicBezTo>
                  <a:pt x="317119" y="0"/>
                  <a:pt x="368300" y="51181"/>
                  <a:pt x="368300" y="114300"/>
                </a:cubicBezTo>
                <a:lnTo>
                  <a:pt x="368300" y="114300"/>
                </a:lnTo>
                <a:cubicBezTo>
                  <a:pt x="368300" y="177419"/>
                  <a:pt x="317119" y="228600"/>
                  <a:pt x="2540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rpt-4"/>
          <p:cNvSpPr txBox="1"/>
          <p:nvPr/>
        </p:nvSpPr>
        <p:spPr>
          <a:xfrm>
            <a:off x="10774998" y="4076732"/>
            <a:ext cx="205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中</a:t>
            </a:r>
          </a:p>
        </p:txBody>
      </p:sp>
      <p:sp>
        <p:nvSpPr>
          <p:cNvPr id="82" name="r-5"/>
          <p:cNvSpPr/>
          <p:nvPr/>
        </p:nvSpPr>
        <p:spPr>
          <a:xfrm>
            <a:off x="3619500" y="4559300"/>
            <a:ext cx="7620000" cy="609600"/>
          </a:xfrm>
          <a:custGeom>
            <a:avLst/>
            <a:gdLst/>
            <a:ahLst/>
            <a:cxnLst/>
            <a:rect l="0" t="0" r="r" b="b"/>
            <a:pathLst>
              <a:path w="7620000" h="609600">
                <a:moveTo>
                  <a:pt x="127000" y="0"/>
                </a:moveTo>
                <a:lnTo>
                  <a:pt x="7493000" y="0"/>
                </a:lnTo>
                <a:cubicBezTo>
                  <a:pt x="7563168" y="0"/>
                  <a:pt x="7620000" y="56833"/>
                  <a:pt x="7620000" y="127000"/>
                </a:cubicBezTo>
                <a:lnTo>
                  <a:pt x="7620000" y="482600"/>
                </a:lnTo>
                <a:cubicBezTo>
                  <a:pt x="7620000" y="552767"/>
                  <a:pt x="7563168" y="609600"/>
                  <a:pt x="7493000" y="609600"/>
                </a:cubicBezTo>
                <a:lnTo>
                  <a:pt x="127000" y="609600"/>
                </a:lnTo>
                <a:cubicBezTo>
                  <a:pt x="56833" y="609600"/>
                  <a:pt x="0" y="552767"/>
                  <a:pt x="0" y="4826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rn-5"/>
          <p:cNvSpPr txBox="1"/>
          <p:nvPr/>
        </p:nvSpPr>
        <p:spPr>
          <a:xfrm>
            <a:off x="3731895" y="4717732"/>
            <a:ext cx="38481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05</a:t>
            </a:r>
          </a:p>
        </p:txBody>
      </p:sp>
      <p:cxnSp>
        <p:nvCxnSpPr>
          <p:cNvPr id="84" name="rl-5"/>
          <p:cNvCxnSpPr/>
          <p:nvPr/>
        </p:nvCxnSpPr>
        <p:spPr>
          <a:xfrm>
            <a:off x="4191000" y="4699000"/>
            <a:ext cx="0" cy="33020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ra-5"/>
          <p:cNvSpPr txBox="1"/>
          <p:nvPr/>
        </p:nvSpPr>
        <p:spPr>
          <a:xfrm>
            <a:off x="4339336" y="4666170"/>
            <a:ext cx="10020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发布招聘需求</a:t>
            </a:r>
          </a:p>
        </p:txBody>
      </p:sp>
      <p:sp>
        <p:nvSpPr>
          <p:cNvPr id="86" name="rd-5"/>
          <p:cNvSpPr txBox="1"/>
          <p:nvPr/>
        </p:nvSpPr>
        <p:spPr>
          <a:xfrm>
            <a:off x="4344289" y="4920345"/>
            <a:ext cx="86163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数据分析师 2 名</a:t>
            </a:r>
          </a:p>
        </p:txBody>
      </p:sp>
      <p:sp>
        <p:nvSpPr>
          <p:cNvPr id="87" name="av-5"/>
          <p:cNvSpPr/>
          <p:nvPr/>
        </p:nvSpPr>
        <p:spPr>
          <a:xfrm>
            <a:off x="8242300" y="4711700"/>
            <a:ext cx="304800" cy="304800"/>
          </a:xfrm>
          <a:prstGeom prst="ellipse">
            <a:avLst/>
          </a:prstGeom>
          <a:solidFill>
            <a:srgbClr val="305BA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avt-5"/>
          <p:cNvSpPr txBox="1"/>
          <p:nvPr/>
        </p:nvSpPr>
        <p:spPr>
          <a:xfrm>
            <a:off x="8286115" y="4767390"/>
            <a:ext cx="2171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周</a:t>
            </a:r>
          </a:p>
        </p:txBody>
      </p:sp>
      <p:sp>
        <p:nvSpPr>
          <p:cNvPr id="89" name="ro-5"/>
          <p:cNvSpPr txBox="1"/>
          <p:nvPr/>
        </p:nvSpPr>
        <p:spPr>
          <a:xfrm>
            <a:off x="8610346" y="4775232"/>
            <a:ext cx="3130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周敏</a:t>
            </a:r>
          </a:p>
        </p:txBody>
      </p:sp>
      <p:sp>
        <p:nvSpPr>
          <p:cNvPr id="90" name="icon-calendar"/>
          <p:cNvSpPr/>
          <p:nvPr/>
        </p:nvSpPr>
        <p:spPr>
          <a:xfrm>
            <a:off x="9761347" y="4815205"/>
            <a:ext cx="86106" cy="93155"/>
          </a:xfrm>
          <a:custGeom>
            <a:avLst/>
            <a:gdLst/>
            <a:ahLst/>
            <a:cxnLst/>
            <a:rect l="0" t="0" r="r" b="b"/>
            <a:pathLst>
              <a:path w="86106" h="93155">
                <a:moveTo>
                  <a:pt x="0" y="16320"/>
                </a:moveTo>
                <a:lnTo>
                  <a:pt x="86106" y="16320"/>
                </a:lnTo>
                <a:lnTo>
                  <a:pt x="86106" y="93155"/>
                </a:lnTo>
                <a:lnTo>
                  <a:pt x="0" y="93155"/>
                </a:lnTo>
                <a:close/>
                <a:moveTo>
                  <a:pt x="0" y="39561"/>
                </a:moveTo>
                <a:lnTo>
                  <a:pt x="86106" y="39561"/>
                </a:lnTo>
                <a:moveTo>
                  <a:pt x="23241" y="0"/>
                </a:moveTo>
                <a:lnTo>
                  <a:pt x="23241" y="23305"/>
                </a:lnTo>
                <a:moveTo>
                  <a:pt x="62865" y="0"/>
                </a:moveTo>
                <a:lnTo>
                  <a:pt x="62865" y="23305"/>
                </a:lnTo>
              </a:path>
            </a:pathLst>
          </a:custGeom>
          <a:noFill/>
          <a:ln w="1143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rt-5"/>
          <p:cNvSpPr txBox="1"/>
          <p:nvPr/>
        </p:nvSpPr>
        <p:spPr>
          <a:xfrm>
            <a:off x="9931146" y="4775232"/>
            <a:ext cx="73621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10 月 16 日</a:t>
            </a:r>
          </a:p>
        </p:txBody>
      </p:sp>
      <p:sp>
        <p:nvSpPr>
          <p:cNvPr id="92" name="rp-5"/>
          <p:cNvSpPr/>
          <p:nvPr/>
        </p:nvSpPr>
        <p:spPr>
          <a:xfrm>
            <a:off x="10693400" y="4749800"/>
            <a:ext cx="368300" cy="228600"/>
          </a:xfrm>
          <a:custGeom>
            <a:avLst/>
            <a:gdLst/>
            <a:ahLst/>
            <a:cxnLst/>
            <a:rect l="0" t="0" r="r" b="b"/>
            <a:pathLst>
              <a:path w="368300" h="228600">
                <a:moveTo>
                  <a:pt x="114300" y="0"/>
                </a:moveTo>
                <a:lnTo>
                  <a:pt x="254000" y="0"/>
                </a:lnTo>
                <a:cubicBezTo>
                  <a:pt x="317119" y="0"/>
                  <a:pt x="368300" y="51181"/>
                  <a:pt x="368300" y="114300"/>
                </a:cubicBezTo>
                <a:lnTo>
                  <a:pt x="368300" y="114300"/>
                </a:lnTo>
                <a:cubicBezTo>
                  <a:pt x="368300" y="177419"/>
                  <a:pt x="317119" y="228600"/>
                  <a:pt x="2540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8FA6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rpt-5"/>
          <p:cNvSpPr txBox="1"/>
          <p:nvPr/>
        </p:nvSpPr>
        <p:spPr>
          <a:xfrm>
            <a:off x="10774998" y="4775232"/>
            <a:ext cx="205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低</a:t>
            </a:r>
          </a:p>
        </p:txBody>
      </p:sp>
      <p:sp>
        <p:nvSpPr>
          <p:cNvPr id="94" name="r-6"/>
          <p:cNvSpPr/>
          <p:nvPr/>
        </p:nvSpPr>
        <p:spPr>
          <a:xfrm>
            <a:off x="3619500" y="5257800"/>
            <a:ext cx="7620000" cy="609600"/>
          </a:xfrm>
          <a:custGeom>
            <a:avLst/>
            <a:gdLst/>
            <a:ahLst/>
            <a:cxnLst/>
            <a:rect l="0" t="0" r="r" b="b"/>
            <a:pathLst>
              <a:path w="7620000" h="609600">
                <a:moveTo>
                  <a:pt x="127000" y="0"/>
                </a:moveTo>
                <a:lnTo>
                  <a:pt x="7493000" y="0"/>
                </a:lnTo>
                <a:cubicBezTo>
                  <a:pt x="7563168" y="0"/>
                  <a:pt x="7620000" y="56833"/>
                  <a:pt x="7620000" y="127000"/>
                </a:cubicBezTo>
                <a:lnTo>
                  <a:pt x="7620000" y="482600"/>
                </a:lnTo>
                <a:cubicBezTo>
                  <a:pt x="7620000" y="552767"/>
                  <a:pt x="7563168" y="609600"/>
                  <a:pt x="7493000" y="609600"/>
                </a:cubicBezTo>
                <a:lnTo>
                  <a:pt x="127000" y="609600"/>
                </a:lnTo>
                <a:cubicBezTo>
                  <a:pt x="56833" y="609600"/>
                  <a:pt x="0" y="552767"/>
                  <a:pt x="0" y="4826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rn-6"/>
          <p:cNvSpPr txBox="1"/>
          <p:nvPr/>
        </p:nvSpPr>
        <p:spPr>
          <a:xfrm>
            <a:off x="3731895" y="5416232"/>
            <a:ext cx="38481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06</a:t>
            </a:r>
          </a:p>
        </p:txBody>
      </p:sp>
      <p:cxnSp>
        <p:nvCxnSpPr>
          <p:cNvPr id="96" name="rl-6"/>
          <p:cNvCxnSpPr/>
          <p:nvPr/>
        </p:nvCxnSpPr>
        <p:spPr>
          <a:xfrm>
            <a:off x="4191000" y="5397500"/>
            <a:ext cx="0" cy="33020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7" name="ra-6"/>
          <p:cNvSpPr txBox="1"/>
          <p:nvPr/>
        </p:nvSpPr>
        <p:spPr>
          <a:xfrm>
            <a:off x="4339336" y="5364670"/>
            <a:ext cx="12941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整理季度复盘材料</a:t>
            </a:r>
          </a:p>
        </p:txBody>
      </p:sp>
      <p:sp>
        <p:nvSpPr>
          <p:cNvPr id="98" name="rd-6"/>
          <p:cNvSpPr txBox="1"/>
          <p:nvPr/>
        </p:nvSpPr>
        <p:spPr>
          <a:xfrm>
            <a:off x="4344289" y="5618845"/>
            <a:ext cx="1076008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汇总各部门 OKR 进度</a:t>
            </a:r>
          </a:p>
        </p:txBody>
      </p:sp>
      <p:sp>
        <p:nvSpPr>
          <p:cNvPr id="99" name="av-6"/>
          <p:cNvSpPr/>
          <p:nvPr/>
        </p:nvSpPr>
        <p:spPr>
          <a:xfrm>
            <a:off x="8242300" y="5410200"/>
            <a:ext cx="304800" cy="304800"/>
          </a:xfrm>
          <a:prstGeom prst="ellipse">
            <a:avLst/>
          </a:prstGeom>
          <a:solidFill>
            <a:srgbClr val="3D73B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avt-6"/>
          <p:cNvSpPr txBox="1"/>
          <p:nvPr/>
        </p:nvSpPr>
        <p:spPr>
          <a:xfrm>
            <a:off x="8286115" y="5465890"/>
            <a:ext cx="2171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9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孙</a:t>
            </a:r>
          </a:p>
        </p:txBody>
      </p:sp>
      <p:sp>
        <p:nvSpPr>
          <p:cNvPr id="101" name="ro-6"/>
          <p:cNvSpPr txBox="1"/>
          <p:nvPr/>
        </p:nvSpPr>
        <p:spPr>
          <a:xfrm>
            <a:off x="8610346" y="5473732"/>
            <a:ext cx="3130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孙可</a:t>
            </a:r>
          </a:p>
        </p:txBody>
      </p:sp>
      <p:sp>
        <p:nvSpPr>
          <p:cNvPr id="102" name="icon-calendar"/>
          <p:cNvSpPr/>
          <p:nvPr/>
        </p:nvSpPr>
        <p:spPr>
          <a:xfrm>
            <a:off x="9761347" y="5513705"/>
            <a:ext cx="86106" cy="93155"/>
          </a:xfrm>
          <a:custGeom>
            <a:avLst/>
            <a:gdLst/>
            <a:ahLst/>
            <a:cxnLst/>
            <a:rect l="0" t="0" r="r" b="b"/>
            <a:pathLst>
              <a:path w="86106" h="93155">
                <a:moveTo>
                  <a:pt x="0" y="16320"/>
                </a:moveTo>
                <a:lnTo>
                  <a:pt x="86106" y="16320"/>
                </a:lnTo>
                <a:lnTo>
                  <a:pt x="86106" y="93155"/>
                </a:lnTo>
                <a:lnTo>
                  <a:pt x="0" y="93155"/>
                </a:lnTo>
                <a:close/>
                <a:moveTo>
                  <a:pt x="0" y="39561"/>
                </a:moveTo>
                <a:lnTo>
                  <a:pt x="86106" y="39561"/>
                </a:lnTo>
                <a:moveTo>
                  <a:pt x="23241" y="0"/>
                </a:moveTo>
                <a:lnTo>
                  <a:pt x="23241" y="23305"/>
                </a:lnTo>
                <a:moveTo>
                  <a:pt x="62865" y="0"/>
                </a:moveTo>
                <a:lnTo>
                  <a:pt x="62865" y="23305"/>
                </a:lnTo>
              </a:path>
            </a:pathLst>
          </a:custGeom>
          <a:noFill/>
          <a:ln w="1143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rt-6"/>
          <p:cNvSpPr txBox="1"/>
          <p:nvPr/>
        </p:nvSpPr>
        <p:spPr>
          <a:xfrm>
            <a:off x="9931146" y="5473732"/>
            <a:ext cx="73621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10 月 30 日</a:t>
            </a:r>
          </a:p>
        </p:txBody>
      </p:sp>
      <p:sp>
        <p:nvSpPr>
          <p:cNvPr id="104" name="rp-6"/>
          <p:cNvSpPr/>
          <p:nvPr/>
        </p:nvSpPr>
        <p:spPr>
          <a:xfrm>
            <a:off x="10693400" y="5448300"/>
            <a:ext cx="368300" cy="228600"/>
          </a:xfrm>
          <a:custGeom>
            <a:avLst/>
            <a:gdLst/>
            <a:ahLst/>
            <a:cxnLst/>
            <a:rect l="0" t="0" r="r" b="b"/>
            <a:pathLst>
              <a:path w="368300" h="228600">
                <a:moveTo>
                  <a:pt x="114300" y="0"/>
                </a:moveTo>
                <a:lnTo>
                  <a:pt x="254000" y="0"/>
                </a:lnTo>
                <a:cubicBezTo>
                  <a:pt x="317119" y="0"/>
                  <a:pt x="368300" y="51181"/>
                  <a:pt x="368300" y="114300"/>
                </a:cubicBezTo>
                <a:lnTo>
                  <a:pt x="368300" y="114300"/>
                </a:lnTo>
                <a:cubicBezTo>
                  <a:pt x="368300" y="177419"/>
                  <a:pt x="317119" y="228600"/>
                  <a:pt x="254000" y="228600"/>
                </a:cubicBezTo>
                <a:lnTo>
                  <a:pt x="114300" y="228600"/>
                </a:lnTo>
                <a:cubicBezTo>
                  <a:pt x="51181" y="228600"/>
                  <a:pt x="0" y="177419"/>
                  <a:pt x="0" y="1143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8FA6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rpt-6"/>
          <p:cNvSpPr txBox="1"/>
          <p:nvPr/>
        </p:nvSpPr>
        <p:spPr>
          <a:xfrm>
            <a:off x="10774998" y="5473732"/>
            <a:ext cx="2051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5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低</a:t>
            </a:r>
          </a:p>
        </p:txBody>
      </p:sp>
      <p:cxnSp>
        <p:nvCxnSpPr>
          <p:cNvPr id="106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行动清单 · 会后跟进</a:t>
            </a:r>
          </a:p>
        </p:txBody>
      </p:sp>
      <p:sp>
        <p:nvSpPr>
          <p:cNvPr id="108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98958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2026 年度十件大事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35483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YEAR IN REVIEW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218295" y="673132"/>
            <a:ext cx="24024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按月份排好的十个节点——每一件都写清楚结果</a:t>
            </a:r>
          </a:p>
        </p:txBody>
      </p:sp>
      <p:sp>
        <p:nvSpPr>
          <p:cNvPr id="10" name="c-1"/>
          <p:cNvSpPr/>
          <p:nvPr/>
        </p:nvSpPr>
        <p:spPr>
          <a:xfrm>
            <a:off x="952500" y="1473200"/>
            <a:ext cx="5048250" cy="812800"/>
          </a:xfrm>
          <a:custGeom>
            <a:avLst/>
            <a:gdLst/>
            <a:ahLst/>
            <a:cxnLst/>
            <a:rect l="0" t="0" r="r" b="b"/>
            <a:pathLst>
              <a:path w="5048250" h="812800">
                <a:moveTo>
                  <a:pt x="139700" y="0"/>
                </a:moveTo>
                <a:lnTo>
                  <a:pt x="4908550" y="0"/>
                </a:lnTo>
                <a:cubicBezTo>
                  <a:pt x="4985702" y="0"/>
                  <a:pt x="5048250" y="62547"/>
                  <a:pt x="5048250" y="139700"/>
                </a:cubicBezTo>
                <a:lnTo>
                  <a:pt x="5048250" y="673100"/>
                </a:lnTo>
                <a:cubicBezTo>
                  <a:pt x="5048250" y="750252"/>
                  <a:pt x="4985702" y="812800"/>
                  <a:pt x="4908550" y="812800"/>
                </a:cubicBezTo>
                <a:lnTo>
                  <a:pt x="139700" y="812800"/>
                </a:lnTo>
                <a:cubicBezTo>
                  <a:pt x="62547" y="812800"/>
                  <a:pt x="0" y="750252"/>
                  <a:pt x="0" y="673100"/>
                </a:cubicBezTo>
                <a:lnTo>
                  <a:pt x="0" y="139700"/>
                </a:lnTo>
                <a:cubicBezTo>
                  <a:pt x="0" y="62547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m-1"/>
          <p:cNvSpPr/>
          <p:nvPr/>
        </p:nvSpPr>
        <p:spPr>
          <a:xfrm>
            <a:off x="952500" y="1473200"/>
            <a:ext cx="825500" cy="812800"/>
          </a:xfrm>
          <a:custGeom>
            <a:avLst/>
            <a:gdLst/>
            <a:ahLst/>
            <a:cxnLst/>
            <a:rect l="0" t="0" r="r" b="b"/>
            <a:pathLst>
              <a:path w="825500" h="812800">
                <a:moveTo>
                  <a:pt x="139700" y="0"/>
                </a:moveTo>
                <a:lnTo>
                  <a:pt x="685800" y="0"/>
                </a:lnTo>
                <a:cubicBezTo>
                  <a:pt x="762952" y="0"/>
                  <a:pt x="825500" y="62547"/>
                  <a:pt x="825500" y="139700"/>
                </a:cubicBezTo>
                <a:lnTo>
                  <a:pt x="825500" y="673100"/>
                </a:lnTo>
                <a:cubicBezTo>
                  <a:pt x="825500" y="750252"/>
                  <a:pt x="762952" y="812800"/>
                  <a:pt x="685800" y="812800"/>
                </a:cubicBezTo>
                <a:lnTo>
                  <a:pt x="139700" y="812800"/>
                </a:lnTo>
                <a:cubicBezTo>
                  <a:pt x="62547" y="812800"/>
                  <a:pt x="0" y="750252"/>
                  <a:pt x="0" y="673100"/>
                </a:cubicBezTo>
                <a:lnTo>
                  <a:pt x="0" y="139700"/>
                </a:lnTo>
                <a:cubicBezTo>
                  <a:pt x="0" y="62547"/>
                  <a:pt x="62547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2F61A8"/>
              </a:gs>
              <a:gs pos="100000">
                <a:srgbClr val="134C9C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m2-1"/>
          <p:cNvSpPr/>
          <p:nvPr/>
        </p:nvSpPr>
        <p:spPr>
          <a:xfrm>
            <a:off x="1638300" y="1473200"/>
            <a:ext cx="139700" cy="812800"/>
          </a:xfrm>
          <a:prstGeom prst="rect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mn-1"/>
          <p:cNvSpPr txBox="1"/>
          <p:nvPr/>
        </p:nvSpPr>
        <p:spPr>
          <a:xfrm>
            <a:off x="1123696" y="1553972"/>
            <a:ext cx="445008" cy="533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4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14" name="mu-1"/>
          <p:cNvSpPr txBox="1"/>
          <p:nvPr/>
        </p:nvSpPr>
        <p:spPr>
          <a:xfrm>
            <a:off x="1255712" y="2015966"/>
            <a:ext cx="1809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月</a:t>
            </a:r>
          </a:p>
        </p:txBody>
      </p:sp>
      <p:sp>
        <p:nvSpPr>
          <p:cNvPr id="15" name="a-1"/>
          <p:cNvSpPr txBox="1"/>
          <p:nvPr/>
        </p:nvSpPr>
        <p:spPr>
          <a:xfrm>
            <a:off x="1962912" y="1640586"/>
            <a:ext cx="14071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华南区域中心开业</a:t>
            </a:r>
          </a:p>
        </p:txBody>
      </p:sp>
      <p:sp>
        <p:nvSpPr>
          <p:cNvPr id="16" name="b-1"/>
          <p:cNvSpPr txBox="1"/>
          <p:nvPr/>
        </p:nvSpPr>
        <p:spPr>
          <a:xfrm>
            <a:off x="1967865" y="1932861"/>
            <a:ext cx="100107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覆盖 5 省 42 城</a:t>
            </a:r>
          </a:p>
        </p:txBody>
      </p:sp>
      <p:sp>
        <p:nvSpPr>
          <p:cNvPr id="17" name="chip"/>
          <p:cNvSpPr/>
          <p:nvPr/>
        </p:nvSpPr>
        <p:spPr>
          <a:xfrm>
            <a:off x="5416550" y="1676400"/>
            <a:ext cx="406400" cy="4064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chip-ring"/>
          <p:cNvSpPr/>
          <p:nvPr/>
        </p:nvSpPr>
        <p:spPr>
          <a:xfrm>
            <a:off x="5416550" y="1676400"/>
            <a:ext cx="406400" cy="406400"/>
          </a:xfrm>
          <a:prstGeom prst="ellipse">
            <a:avLst/>
          </a:prstGeom>
          <a:noFill/>
          <a:ln w="6350" cap="rnd">
            <a:solidFill>
              <a:srgbClr val="134C9C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icon-pin"/>
          <p:cNvSpPr/>
          <p:nvPr/>
        </p:nvSpPr>
        <p:spPr>
          <a:xfrm>
            <a:off x="5575300" y="1827720"/>
            <a:ext cx="88900" cy="118555"/>
          </a:xfrm>
          <a:custGeom>
            <a:avLst/>
            <a:gdLst/>
            <a:ahLst/>
            <a:cxnLst/>
            <a:rect l="0" t="0" r="r" b="b"/>
            <a:pathLst>
              <a:path w="88900" h="118555">
                <a:moveTo>
                  <a:pt x="44450" y="118555"/>
                </a:moveTo>
                <a:cubicBezTo>
                  <a:pt x="71120" y="85979"/>
                  <a:pt x="88900" y="64453"/>
                  <a:pt x="88900" y="44450"/>
                </a:cubicBezTo>
                <a:cubicBezTo>
                  <a:pt x="88900" y="19939"/>
                  <a:pt x="69025" y="0"/>
                  <a:pt x="44450" y="0"/>
                </a:cubicBezTo>
                <a:cubicBezTo>
                  <a:pt x="19875" y="0"/>
                  <a:pt x="0" y="19939"/>
                  <a:pt x="0" y="44450"/>
                </a:cubicBezTo>
                <a:cubicBezTo>
                  <a:pt x="0" y="64453"/>
                  <a:pt x="17780" y="85979"/>
                  <a:pt x="44450" y="118555"/>
                </a:cubicBezTo>
                <a:close/>
              </a:path>
            </a:pathLst>
          </a:cu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icon-pin"/>
          <p:cNvSpPr/>
          <p:nvPr/>
        </p:nvSpPr>
        <p:spPr>
          <a:xfrm>
            <a:off x="5601970" y="1854412"/>
            <a:ext cx="35560" cy="35560"/>
          </a:xfrm>
          <a:prstGeom prst="ellipse">
            <a:avLst/>
          </a:pr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no-1"/>
          <p:cNvSpPr txBox="1"/>
          <p:nvPr/>
        </p:nvSpPr>
        <p:spPr>
          <a:xfrm>
            <a:off x="4828540" y="1701864"/>
            <a:ext cx="436118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700" b="1">
                <a:solidFill>
                  <a:srgbClr val="54A2DF">
                    <a:alpha val="35000"/>
                  </a:srgbClr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22" name="c-2"/>
          <p:cNvSpPr/>
          <p:nvPr/>
        </p:nvSpPr>
        <p:spPr>
          <a:xfrm>
            <a:off x="952500" y="2400300"/>
            <a:ext cx="5048250" cy="812800"/>
          </a:xfrm>
          <a:custGeom>
            <a:avLst/>
            <a:gdLst/>
            <a:ahLst/>
            <a:cxnLst/>
            <a:rect l="0" t="0" r="r" b="b"/>
            <a:pathLst>
              <a:path w="5048250" h="812800">
                <a:moveTo>
                  <a:pt x="139700" y="0"/>
                </a:moveTo>
                <a:lnTo>
                  <a:pt x="4908550" y="0"/>
                </a:lnTo>
                <a:cubicBezTo>
                  <a:pt x="4985702" y="0"/>
                  <a:pt x="5048250" y="62548"/>
                  <a:pt x="5048250" y="139700"/>
                </a:cubicBezTo>
                <a:lnTo>
                  <a:pt x="5048250" y="673100"/>
                </a:lnTo>
                <a:cubicBezTo>
                  <a:pt x="5048250" y="750252"/>
                  <a:pt x="4985702" y="812800"/>
                  <a:pt x="4908550" y="812800"/>
                </a:cubicBezTo>
                <a:lnTo>
                  <a:pt x="139700" y="812800"/>
                </a:lnTo>
                <a:cubicBezTo>
                  <a:pt x="62547" y="812800"/>
                  <a:pt x="0" y="750252"/>
                  <a:pt x="0" y="6731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m-2"/>
          <p:cNvSpPr/>
          <p:nvPr/>
        </p:nvSpPr>
        <p:spPr>
          <a:xfrm>
            <a:off x="952500" y="2400300"/>
            <a:ext cx="825500" cy="812800"/>
          </a:xfrm>
          <a:custGeom>
            <a:avLst/>
            <a:gdLst/>
            <a:ahLst/>
            <a:cxnLst/>
            <a:rect l="0" t="0" r="r" b="b"/>
            <a:pathLst>
              <a:path w="825500" h="812800">
                <a:moveTo>
                  <a:pt x="139700" y="0"/>
                </a:moveTo>
                <a:lnTo>
                  <a:pt x="685800" y="0"/>
                </a:lnTo>
                <a:cubicBezTo>
                  <a:pt x="762952" y="0"/>
                  <a:pt x="825500" y="62548"/>
                  <a:pt x="825500" y="139700"/>
                </a:cubicBezTo>
                <a:lnTo>
                  <a:pt x="825500" y="673100"/>
                </a:lnTo>
                <a:cubicBezTo>
                  <a:pt x="825500" y="750252"/>
                  <a:pt x="762952" y="812800"/>
                  <a:pt x="685800" y="812800"/>
                </a:cubicBezTo>
                <a:lnTo>
                  <a:pt x="139700" y="812800"/>
                </a:lnTo>
                <a:cubicBezTo>
                  <a:pt x="62547" y="812800"/>
                  <a:pt x="0" y="750252"/>
                  <a:pt x="0" y="6731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E48152"/>
              </a:gs>
              <a:gs pos="100000">
                <a:srgbClr val="E0703A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m2-2"/>
          <p:cNvSpPr/>
          <p:nvPr/>
        </p:nvSpPr>
        <p:spPr>
          <a:xfrm>
            <a:off x="1638300" y="2400300"/>
            <a:ext cx="139700" cy="812800"/>
          </a:xfrm>
          <a:prstGeom prst="rect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mn-2"/>
          <p:cNvSpPr txBox="1"/>
          <p:nvPr/>
        </p:nvSpPr>
        <p:spPr>
          <a:xfrm>
            <a:off x="1123696" y="2481072"/>
            <a:ext cx="445008" cy="533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4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26" name="mu-2"/>
          <p:cNvSpPr txBox="1"/>
          <p:nvPr/>
        </p:nvSpPr>
        <p:spPr>
          <a:xfrm>
            <a:off x="1255712" y="2943066"/>
            <a:ext cx="1809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月</a:t>
            </a:r>
          </a:p>
        </p:txBody>
      </p:sp>
      <p:sp>
        <p:nvSpPr>
          <p:cNvPr id="27" name="a-2"/>
          <p:cNvSpPr txBox="1"/>
          <p:nvPr/>
        </p:nvSpPr>
        <p:spPr>
          <a:xfrm>
            <a:off x="1962912" y="2567686"/>
            <a:ext cx="138938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B 轮融资 3 亿元</a:t>
            </a:r>
          </a:p>
        </p:txBody>
      </p:sp>
      <p:sp>
        <p:nvSpPr>
          <p:cNvPr id="28" name="b-2"/>
          <p:cNvSpPr txBox="1"/>
          <p:nvPr/>
        </p:nvSpPr>
        <p:spPr>
          <a:xfrm>
            <a:off x="1967865" y="2859961"/>
            <a:ext cx="123031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战投领投，老股东跟投</a:t>
            </a:r>
          </a:p>
        </p:txBody>
      </p:sp>
      <p:sp>
        <p:nvSpPr>
          <p:cNvPr id="29" name="chip"/>
          <p:cNvSpPr/>
          <p:nvPr/>
        </p:nvSpPr>
        <p:spPr>
          <a:xfrm>
            <a:off x="5416550" y="2603500"/>
            <a:ext cx="406400" cy="4064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chip-ring"/>
          <p:cNvSpPr/>
          <p:nvPr/>
        </p:nvSpPr>
        <p:spPr>
          <a:xfrm>
            <a:off x="5416550" y="2603500"/>
            <a:ext cx="406400" cy="406400"/>
          </a:xfrm>
          <a:prstGeom prst="ellipse">
            <a:avLst/>
          </a:prstGeom>
          <a:noFill/>
          <a:ln w="6350" cap="rnd">
            <a:solidFill>
              <a:srgbClr val="E0703A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icon-coin"/>
          <p:cNvSpPr/>
          <p:nvPr/>
        </p:nvSpPr>
        <p:spPr>
          <a:xfrm>
            <a:off x="5572316" y="2765234"/>
            <a:ext cx="94869" cy="82931"/>
          </a:xfrm>
          <a:custGeom>
            <a:avLst/>
            <a:gdLst/>
            <a:ahLst/>
            <a:cxnLst/>
            <a:rect l="0" t="0" r="r" b="b"/>
            <a:pathLst>
              <a:path w="94869" h="82931">
                <a:moveTo>
                  <a:pt x="47435" y="0"/>
                </a:moveTo>
                <a:cubicBezTo>
                  <a:pt x="20764" y="0"/>
                  <a:pt x="0" y="7366"/>
                  <a:pt x="0" y="17780"/>
                </a:cubicBezTo>
                <a:cubicBezTo>
                  <a:pt x="0" y="28130"/>
                  <a:pt x="20764" y="35560"/>
                  <a:pt x="47435" y="35560"/>
                </a:cubicBezTo>
                <a:cubicBezTo>
                  <a:pt x="74105" y="35560"/>
                  <a:pt x="94869" y="28130"/>
                  <a:pt x="94869" y="17780"/>
                </a:cubicBezTo>
                <a:cubicBezTo>
                  <a:pt x="94869" y="7366"/>
                  <a:pt x="74105" y="0"/>
                  <a:pt x="47435" y="0"/>
                </a:cubicBezTo>
                <a:close/>
                <a:moveTo>
                  <a:pt x="0" y="17780"/>
                </a:moveTo>
                <a:lnTo>
                  <a:pt x="0" y="65151"/>
                </a:lnTo>
                <a:cubicBezTo>
                  <a:pt x="0" y="75565"/>
                  <a:pt x="20764" y="82931"/>
                  <a:pt x="47435" y="82931"/>
                </a:cubicBezTo>
                <a:cubicBezTo>
                  <a:pt x="74105" y="82931"/>
                  <a:pt x="94869" y="75565"/>
                  <a:pt x="94869" y="65151"/>
                </a:cubicBezTo>
                <a:lnTo>
                  <a:pt x="94869" y="17780"/>
                </a:lnTo>
              </a:path>
            </a:pathLst>
          </a:custGeom>
          <a:noFill/>
          <a:ln w="1270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2" name="no-2"/>
          <p:cNvSpPr txBox="1"/>
          <p:nvPr/>
        </p:nvSpPr>
        <p:spPr>
          <a:xfrm>
            <a:off x="4828540" y="2628964"/>
            <a:ext cx="436118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700" b="1">
                <a:solidFill>
                  <a:srgbClr val="54A2DF">
                    <a:alpha val="35000"/>
                  </a:srgbClr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33" name="c-3"/>
          <p:cNvSpPr/>
          <p:nvPr/>
        </p:nvSpPr>
        <p:spPr>
          <a:xfrm>
            <a:off x="952500" y="3327400"/>
            <a:ext cx="5048250" cy="812800"/>
          </a:xfrm>
          <a:custGeom>
            <a:avLst/>
            <a:gdLst/>
            <a:ahLst/>
            <a:cxnLst/>
            <a:rect l="0" t="0" r="r" b="b"/>
            <a:pathLst>
              <a:path w="5048250" h="812800">
                <a:moveTo>
                  <a:pt x="139700" y="0"/>
                </a:moveTo>
                <a:lnTo>
                  <a:pt x="4908550" y="0"/>
                </a:lnTo>
                <a:cubicBezTo>
                  <a:pt x="4985702" y="0"/>
                  <a:pt x="5048250" y="62548"/>
                  <a:pt x="5048250" y="139700"/>
                </a:cubicBezTo>
                <a:lnTo>
                  <a:pt x="5048250" y="673100"/>
                </a:lnTo>
                <a:cubicBezTo>
                  <a:pt x="5048250" y="750252"/>
                  <a:pt x="4985702" y="812800"/>
                  <a:pt x="4908550" y="812800"/>
                </a:cubicBezTo>
                <a:lnTo>
                  <a:pt x="139700" y="812800"/>
                </a:lnTo>
                <a:cubicBezTo>
                  <a:pt x="62547" y="812800"/>
                  <a:pt x="0" y="750252"/>
                  <a:pt x="0" y="6731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4" name="m-3"/>
          <p:cNvSpPr/>
          <p:nvPr/>
        </p:nvSpPr>
        <p:spPr>
          <a:xfrm>
            <a:off x="952500" y="3327400"/>
            <a:ext cx="825500" cy="812800"/>
          </a:xfrm>
          <a:custGeom>
            <a:avLst/>
            <a:gdLst/>
            <a:ahLst/>
            <a:cxnLst/>
            <a:rect l="0" t="0" r="r" b="b"/>
            <a:pathLst>
              <a:path w="825500" h="812800">
                <a:moveTo>
                  <a:pt x="139700" y="0"/>
                </a:moveTo>
                <a:lnTo>
                  <a:pt x="685800" y="0"/>
                </a:lnTo>
                <a:cubicBezTo>
                  <a:pt x="762952" y="0"/>
                  <a:pt x="825500" y="62548"/>
                  <a:pt x="825500" y="139700"/>
                </a:cubicBezTo>
                <a:lnTo>
                  <a:pt x="825500" y="673100"/>
                </a:lnTo>
                <a:cubicBezTo>
                  <a:pt x="825500" y="750252"/>
                  <a:pt x="762952" y="812800"/>
                  <a:pt x="685800" y="812800"/>
                </a:cubicBezTo>
                <a:lnTo>
                  <a:pt x="139700" y="812800"/>
                </a:lnTo>
                <a:cubicBezTo>
                  <a:pt x="62547" y="812800"/>
                  <a:pt x="0" y="750252"/>
                  <a:pt x="0" y="6731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3E7ABF"/>
              </a:gs>
              <a:gs pos="100000">
                <a:srgbClr val="2468B6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5" name="m2-3"/>
          <p:cNvSpPr/>
          <p:nvPr/>
        </p:nvSpPr>
        <p:spPr>
          <a:xfrm>
            <a:off x="1638300" y="3327400"/>
            <a:ext cx="139700" cy="812800"/>
          </a:xfrm>
          <a:prstGeom prst="rect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6" name="mn-3"/>
          <p:cNvSpPr txBox="1"/>
          <p:nvPr/>
        </p:nvSpPr>
        <p:spPr>
          <a:xfrm>
            <a:off x="1123696" y="3408172"/>
            <a:ext cx="445008" cy="533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4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37" name="mu-3"/>
          <p:cNvSpPr txBox="1"/>
          <p:nvPr/>
        </p:nvSpPr>
        <p:spPr>
          <a:xfrm>
            <a:off x="1255712" y="3870166"/>
            <a:ext cx="1809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月</a:t>
            </a:r>
          </a:p>
        </p:txBody>
      </p:sp>
      <p:sp>
        <p:nvSpPr>
          <p:cNvPr id="38" name="a-3"/>
          <p:cNvSpPr txBox="1"/>
          <p:nvPr/>
        </p:nvSpPr>
        <p:spPr>
          <a:xfrm>
            <a:off x="1962912" y="3494786"/>
            <a:ext cx="123063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发布 4.0 平台</a:t>
            </a:r>
          </a:p>
        </p:txBody>
      </p:sp>
      <p:sp>
        <p:nvSpPr>
          <p:cNvPr id="39" name="b-3"/>
          <p:cNvSpPr txBox="1"/>
          <p:nvPr/>
        </p:nvSpPr>
        <p:spPr>
          <a:xfrm>
            <a:off x="1967865" y="3787061"/>
            <a:ext cx="1211898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首月新增客户 180 家</a:t>
            </a:r>
          </a:p>
        </p:txBody>
      </p:sp>
      <p:sp>
        <p:nvSpPr>
          <p:cNvPr id="40" name="chip"/>
          <p:cNvSpPr/>
          <p:nvPr/>
        </p:nvSpPr>
        <p:spPr>
          <a:xfrm>
            <a:off x="5416550" y="3530600"/>
            <a:ext cx="406400" cy="4064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chip-ring"/>
          <p:cNvSpPr/>
          <p:nvPr/>
        </p:nvSpPr>
        <p:spPr>
          <a:xfrm>
            <a:off x="5416550" y="3530600"/>
            <a:ext cx="406400" cy="406400"/>
          </a:xfrm>
          <a:prstGeom prst="ellipse">
            <a:avLst/>
          </a:prstGeom>
          <a:noFill/>
          <a:ln w="6350" cap="rnd">
            <a:solidFill>
              <a:srgbClr val="2468B6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icon-rocket"/>
          <p:cNvSpPr/>
          <p:nvPr/>
        </p:nvSpPr>
        <p:spPr>
          <a:xfrm>
            <a:off x="5570855" y="3668586"/>
            <a:ext cx="97790" cy="123000"/>
          </a:xfrm>
          <a:custGeom>
            <a:avLst/>
            <a:gdLst/>
            <a:ahLst/>
            <a:cxnLst/>
            <a:rect l="0" t="0" r="r" b="b"/>
            <a:pathLst>
              <a:path w="97790" h="123000">
                <a:moveTo>
                  <a:pt x="48895" y="0"/>
                </a:moveTo>
                <a:cubicBezTo>
                  <a:pt x="71120" y="16319"/>
                  <a:pt x="82995" y="41529"/>
                  <a:pt x="82995" y="68199"/>
                </a:cubicBezTo>
                <a:lnTo>
                  <a:pt x="66675" y="94869"/>
                </a:lnTo>
                <a:lnTo>
                  <a:pt x="31115" y="94869"/>
                </a:lnTo>
                <a:lnTo>
                  <a:pt x="14796" y="68199"/>
                </a:lnTo>
                <a:cubicBezTo>
                  <a:pt x="14796" y="41529"/>
                  <a:pt x="26670" y="16319"/>
                  <a:pt x="48895" y="0"/>
                </a:cubicBezTo>
                <a:close/>
                <a:moveTo>
                  <a:pt x="14796" y="88900"/>
                </a:moveTo>
                <a:lnTo>
                  <a:pt x="0" y="123000"/>
                </a:lnTo>
                <a:lnTo>
                  <a:pt x="31115" y="111125"/>
                </a:lnTo>
                <a:moveTo>
                  <a:pt x="82995" y="88900"/>
                </a:moveTo>
                <a:lnTo>
                  <a:pt x="97790" y="123000"/>
                </a:lnTo>
                <a:lnTo>
                  <a:pt x="66675" y="111125"/>
                </a:lnTo>
              </a:path>
            </a:pathLst>
          </a:cu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no-3"/>
          <p:cNvSpPr txBox="1"/>
          <p:nvPr/>
        </p:nvSpPr>
        <p:spPr>
          <a:xfrm>
            <a:off x="4828540" y="3556064"/>
            <a:ext cx="436118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700" b="1">
                <a:solidFill>
                  <a:srgbClr val="54A2DF">
                    <a:alpha val="35000"/>
                  </a:srgbClr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44" name="c-4"/>
          <p:cNvSpPr/>
          <p:nvPr/>
        </p:nvSpPr>
        <p:spPr>
          <a:xfrm>
            <a:off x="952500" y="4254500"/>
            <a:ext cx="5048250" cy="812800"/>
          </a:xfrm>
          <a:custGeom>
            <a:avLst/>
            <a:gdLst/>
            <a:ahLst/>
            <a:cxnLst/>
            <a:rect l="0" t="0" r="r" b="b"/>
            <a:pathLst>
              <a:path w="5048250" h="812800">
                <a:moveTo>
                  <a:pt x="139700" y="0"/>
                </a:moveTo>
                <a:lnTo>
                  <a:pt x="4908550" y="0"/>
                </a:lnTo>
                <a:cubicBezTo>
                  <a:pt x="4985702" y="0"/>
                  <a:pt x="5048250" y="62548"/>
                  <a:pt x="5048250" y="139700"/>
                </a:cubicBezTo>
                <a:lnTo>
                  <a:pt x="5048250" y="673100"/>
                </a:lnTo>
                <a:cubicBezTo>
                  <a:pt x="5048250" y="750252"/>
                  <a:pt x="4985702" y="812800"/>
                  <a:pt x="4908550" y="812800"/>
                </a:cubicBezTo>
                <a:lnTo>
                  <a:pt x="139700" y="812800"/>
                </a:lnTo>
                <a:cubicBezTo>
                  <a:pt x="62547" y="812800"/>
                  <a:pt x="0" y="750252"/>
                  <a:pt x="0" y="6731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m-4"/>
          <p:cNvSpPr/>
          <p:nvPr/>
        </p:nvSpPr>
        <p:spPr>
          <a:xfrm>
            <a:off x="952500" y="4254500"/>
            <a:ext cx="825500" cy="812800"/>
          </a:xfrm>
          <a:custGeom>
            <a:avLst/>
            <a:gdLst/>
            <a:ahLst/>
            <a:cxnLst/>
            <a:rect l="0" t="0" r="r" b="b"/>
            <a:pathLst>
              <a:path w="825500" h="812800">
                <a:moveTo>
                  <a:pt x="139700" y="0"/>
                </a:moveTo>
                <a:lnTo>
                  <a:pt x="685800" y="0"/>
                </a:lnTo>
                <a:cubicBezTo>
                  <a:pt x="762952" y="0"/>
                  <a:pt x="825500" y="62548"/>
                  <a:pt x="825500" y="139700"/>
                </a:cubicBezTo>
                <a:lnTo>
                  <a:pt x="825500" y="673100"/>
                </a:lnTo>
                <a:cubicBezTo>
                  <a:pt x="825500" y="750252"/>
                  <a:pt x="762952" y="812800"/>
                  <a:pt x="685800" y="812800"/>
                </a:cubicBezTo>
                <a:lnTo>
                  <a:pt x="139700" y="812800"/>
                </a:lnTo>
                <a:cubicBezTo>
                  <a:pt x="62547" y="812800"/>
                  <a:pt x="0" y="750252"/>
                  <a:pt x="0" y="6731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4787C9"/>
              </a:gs>
              <a:gs pos="100000">
                <a:srgbClr val="2E77C2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6" name="m2-4"/>
          <p:cNvSpPr/>
          <p:nvPr/>
        </p:nvSpPr>
        <p:spPr>
          <a:xfrm>
            <a:off x="1638300" y="4254500"/>
            <a:ext cx="139700" cy="812800"/>
          </a:xfrm>
          <a:prstGeom prst="rect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mn-4"/>
          <p:cNvSpPr txBox="1"/>
          <p:nvPr/>
        </p:nvSpPr>
        <p:spPr>
          <a:xfrm>
            <a:off x="1123696" y="4335272"/>
            <a:ext cx="445008" cy="533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4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  <p:sp>
        <p:nvSpPr>
          <p:cNvPr id="48" name="mu-4"/>
          <p:cNvSpPr txBox="1"/>
          <p:nvPr/>
        </p:nvSpPr>
        <p:spPr>
          <a:xfrm>
            <a:off x="1255712" y="4797266"/>
            <a:ext cx="1809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月</a:t>
            </a:r>
          </a:p>
        </p:txBody>
      </p:sp>
      <p:sp>
        <p:nvSpPr>
          <p:cNvPr id="49" name="a-4"/>
          <p:cNvSpPr txBox="1"/>
          <p:nvPr/>
        </p:nvSpPr>
        <p:spPr>
          <a:xfrm>
            <a:off x="1962912" y="4421886"/>
            <a:ext cx="156591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拿下首个百万级订单</a:t>
            </a:r>
          </a:p>
        </p:txBody>
      </p:sp>
      <p:sp>
        <p:nvSpPr>
          <p:cNvPr id="50" name="b-4"/>
          <p:cNvSpPr txBox="1"/>
          <p:nvPr/>
        </p:nvSpPr>
        <p:spPr>
          <a:xfrm>
            <a:off x="1967865" y="4714161"/>
            <a:ext cx="89122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制造业头部客户</a:t>
            </a:r>
          </a:p>
        </p:txBody>
      </p:sp>
      <p:sp>
        <p:nvSpPr>
          <p:cNvPr id="51" name="chip"/>
          <p:cNvSpPr/>
          <p:nvPr/>
        </p:nvSpPr>
        <p:spPr>
          <a:xfrm>
            <a:off x="5416550" y="4457700"/>
            <a:ext cx="406400" cy="4064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chip-ring"/>
          <p:cNvSpPr/>
          <p:nvPr/>
        </p:nvSpPr>
        <p:spPr>
          <a:xfrm>
            <a:off x="5416550" y="4457700"/>
            <a:ext cx="406400" cy="406400"/>
          </a:xfrm>
          <a:prstGeom prst="ellipse">
            <a:avLst/>
          </a:prstGeom>
          <a:noFill/>
          <a:ln w="6350" cap="rnd">
            <a:solidFill>
              <a:srgbClr val="2E77C2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icon-award"/>
          <p:cNvSpPr/>
          <p:nvPr/>
        </p:nvSpPr>
        <p:spPr>
          <a:xfrm>
            <a:off x="5588635" y="4680140"/>
            <a:ext cx="62230" cy="42989"/>
          </a:xfrm>
          <a:custGeom>
            <a:avLst/>
            <a:gdLst/>
            <a:ahLst/>
            <a:cxnLst/>
            <a:rect l="0" t="0" r="r" b="b"/>
            <a:pathLst>
              <a:path w="62230" h="42989">
                <a:moveTo>
                  <a:pt x="11875" y="0"/>
                </a:moveTo>
                <a:lnTo>
                  <a:pt x="0" y="42989"/>
                </a:lnTo>
                <a:lnTo>
                  <a:pt x="31115" y="26670"/>
                </a:lnTo>
                <a:lnTo>
                  <a:pt x="62230" y="42989"/>
                </a:lnTo>
                <a:lnTo>
                  <a:pt x="50355" y="0"/>
                </a:lnTo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icon-award"/>
          <p:cNvSpPr/>
          <p:nvPr/>
        </p:nvSpPr>
        <p:spPr>
          <a:xfrm>
            <a:off x="5578263" y="4600152"/>
            <a:ext cx="82973" cy="82973"/>
          </a:xfrm>
          <a:prstGeom prst="ellipse">
            <a:avLst/>
          </a:pr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no-4"/>
          <p:cNvSpPr txBox="1"/>
          <p:nvPr/>
        </p:nvSpPr>
        <p:spPr>
          <a:xfrm>
            <a:off x="4828540" y="4483164"/>
            <a:ext cx="436118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700" b="1">
                <a:solidFill>
                  <a:srgbClr val="54A2DF">
                    <a:alpha val="35000"/>
                  </a:srgbClr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56" name="c-5"/>
          <p:cNvSpPr/>
          <p:nvPr/>
        </p:nvSpPr>
        <p:spPr>
          <a:xfrm>
            <a:off x="952500" y="5181600"/>
            <a:ext cx="5048250" cy="812800"/>
          </a:xfrm>
          <a:custGeom>
            <a:avLst/>
            <a:gdLst/>
            <a:ahLst/>
            <a:cxnLst/>
            <a:rect l="0" t="0" r="r" b="b"/>
            <a:pathLst>
              <a:path w="5048250" h="812800">
                <a:moveTo>
                  <a:pt x="139700" y="0"/>
                </a:moveTo>
                <a:lnTo>
                  <a:pt x="4908550" y="0"/>
                </a:lnTo>
                <a:cubicBezTo>
                  <a:pt x="4985702" y="0"/>
                  <a:pt x="5048250" y="62548"/>
                  <a:pt x="5048250" y="139700"/>
                </a:cubicBezTo>
                <a:lnTo>
                  <a:pt x="5048250" y="673100"/>
                </a:lnTo>
                <a:cubicBezTo>
                  <a:pt x="5048250" y="750252"/>
                  <a:pt x="4985702" y="812800"/>
                  <a:pt x="4908550" y="812800"/>
                </a:cubicBezTo>
                <a:lnTo>
                  <a:pt x="139700" y="812800"/>
                </a:lnTo>
                <a:cubicBezTo>
                  <a:pt x="62547" y="812800"/>
                  <a:pt x="0" y="750252"/>
                  <a:pt x="0" y="6731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m-5"/>
          <p:cNvSpPr/>
          <p:nvPr/>
        </p:nvSpPr>
        <p:spPr>
          <a:xfrm>
            <a:off x="952500" y="5181600"/>
            <a:ext cx="825500" cy="812800"/>
          </a:xfrm>
          <a:custGeom>
            <a:avLst/>
            <a:gdLst/>
            <a:ahLst/>
            <a:cxnLst/>
            <a:rect l="0" t="0" r="r" b="b"/>
            <a:pathLst>
              <a:path w="825500" h="812800">
                <a:moveTo>
                  <a:pt x="139700" y="0"/>
                </a:moveTo>
                <a:lnTo>
                  <a:pt x="685800" y="0"/>
                </a:lnTo>
                <a:cubicBezTo>
                  <a:pt x="762952" y="0"/>
                  <a:pt x="825500" y="62548"/>
                  <a:pt x="825500" y="139700"/>
                </a:cubicBezTo>
                <a:lnTo>
                  <a:pt x="825500" y="673100"/>
                </a:lnTo>
                <a:cubicBezTo>
                  <a:pt x="825500" y="750252"/>
                  <a:pt x="762952" y="812800"/>
                  <a:pt x="685800" y="812800"/>
                </a:cubicBezTo>
                <a:lnTo>
                  <a:pt x="139700" y="812800"/>
                </a:lnTo>
                <a:cubicBezTo>
                  <a:pt x="62547" y="812800"/>
                  <a:pt x="0" y="750252"/>
                  <a:pt x="0" y="673100"/>
                </a:cubicBezTo>
                <a:lnTo>
                  <a:pt x="0" y="139700"/>
                </a:lnTo>
                <a:cubicBezTo>
                  <a:pt x="0" y="62548"/>
                  <a:pt x="62547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5194D3"/>
              </a:gs>
              <a:gs pos="100000">
                <a:srgbClr val="3985CD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m2-5"/>
          <p:cNvSpPr/>
          <p:nvPr/>
        </p:nvSpPr>
        <p:spPr>
          <a:xfrm>
            <a:off x="1638300" y="5181600"/>
            <a:ext cx="139700" cy="812800"/>
          </a:xfrm>
          <a:prstGeom prst="rect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mn-5"/>
          <p:cNvSpPr txBox="1"/>
          <p:nvPr/>
        </p:nvSpPr>
        <p:spPr>
          <a:xfrm>
            <a:off x="1123696" y="5262372"/>
            <a:ext cx="445008" cy="533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4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6</a:t>
            </a:r>
          </a:p>
        </p:txBody>
      </p:sp>
      <p:sp>
        <p:nvSpPr>
          <p:cNvPr id="60" name="mu-5"/>
          <p:cNvSpPr txBox="1"/>
          <p:nvPr/>
        </p:nvSpPr>
        <p:spPr>
          <a:xfrm>
            <a:off x="1255712" y="5724366"/>
            <a:ext cx="1809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月</a:t>
            </a:r>
          </a:p>
        </p:txBody>
      </p:sp>
      <p:sp>
        <p:nvSpPr>
          <p:cNvPr id="61" name="a-5"/>
          <p:cNvSpPr txBox="1"/>
          <p:nvPr/>
        </p:nvSpPr>
        <p:spPr>
          <a:xfrm>
            <a:off x="1962912" y="5348986"/>
            <a:ext cx="1780794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通过 ISO 27001 认证</a:t>
            </a:r>
          </a:p>
        </p:txBody>
      </p:sp>
      <p:sp>
        <p:nvSpPr>
          <p:cNvPr id="62" name="b-5"/>
          <p:cNvSpPr txBox="1"/>
          <p:nvPr/>
        </p:nvSpPr>
        <p:spPr>
          <a:xfrm>
            <a:off x="1967865" y="5641261"/>
            <a:ext cx="100425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数据安全体系落地</a:t>
            </a:r>
          </a:p>
        </p:txBody>
      </p:sp>
      <p:sp>
        <p:nvSpPr>
          <p:cNvPr id="63" name="chip"/>
          <p:cNvSpPr/>
          <p:nvPr/>
        </p:nvSpPr>
        <p:spPr>
          <a:xfrm>
            <a:off x="5416550" y="5384800"/>
            <a:ext cx="406400" cy="4064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chip-ring"/>
          <p:cNvSpPr/>
          <p:nvPr/>
        </p:nvSpPr>
        <p:spPr>
          <a:xfrm>
            <a:off x="5416550" y="5384800"/>
            <a:ext cx="406400" cy="406400"/>
          </a:xfrm>
          <a:prstGeom prst="ellipse">
            <a:avLst/>
          </a:prstGeom>
          <a:noFill/>
          <a:ln w="6350" cap="rnd">
            <a:solidFill>
              <a:srgbClr val="3985CD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icon-shield"/>
          <p:cNvSpPr/>
          <p:nvPr/>
        </p:nvSpPr>
        <p:spPr>
          <a:xfrm>
            <a:off x="5566410" y="5524310"/>
            <a:ext cx="106680" cy="127381"/>
          </a:xfrm>
          <a:custGeom>
            <a:avLst/>
            <a:gdLst/>
            <a:ahLst/>
            <a:cxnLst/>
            <a:rect l="0" t="0" r="r" b="b"/>
            <a:pathLst>
              <a:path w="106680" h="127381">
                <a:moveTo>
                  <a:pt x="53340" y="0"/>
                </a:moveTo>
                <a:lnTo>
                  <a:pt x="106680" y="20701"/>
                </a:lnTo>
                <a:lnTo>
                  <a:pt x="106680" y="62230"/>
                </a:lnTo>
                <a:cubicBezTo>
                  <a:pt x="106680" y="93345"/>
                  <a:pt x="84455" y="117030"/>
                  <a:pt x="53340" y="127381"/>
                </a:cubicBezTo>
                <a:cubicBezTo>
                  <a:pt x="22225" y="117030"/>
                  <a:pt x="0" y="93345"/>
                  <a:pt x="0" y="62230"/>
                </a:cubicBezTo>
                <a:lnTo>
                  <a:pt x="0" y="20701"/>
                </a:lnTo>
                <a:close/>
                <a:moveTo>
                  <a:pt x="31115" y="63690"/>
                </a:moveTo>
                <a:lnTo>
                  <a:pt x="47435" y="80010"/>
                </a:lnTo>
                <a:lnTo>
                  <a:pt x="78550" y="48895"/>
                </a:lnTo>
              </a:path>
            </a:pathLst>
          </a:custGeom>
          <a:noFill/>
          <a:ln w="1270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6" name="no-5"/>
          <p:cNvSpPr txBox="1"/>
          <p:nvPr/>
        </p:nvSpPr>
        <p:spPr>
          <a:xfrm>
            <a:off x="4828540" y="5410264"/>
            <a:ext cx="436118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700" b="1">
                <a:solidFill>
                  <a:srgbClr val="54A2DF">
                    <a:alpha val="35000"/>
                  </a:srgbClr>
                </a:solidFill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67" name="c-6"/>
          <p:cNvSpPr/>
          <p:nvPr/>
        </p:nvSpPr>
        <p:spPr>
          <a:xfrm>
            <a:off x="6191250" y="1473200"/>
            <a:ext cx="5048250" cy="812800"/>
          </a:xfrm>
          <a:custGeom>
            <a:avLst/>
            <a:gdLst/>
            <a:ahLst/>
            <a:cxnLst/>
            <a:rect l="0" t="0" r="r" b="b"/>
            <a:pathLst>
              <a:path w="5048250" h="812800">
                <a:moveTo>
                  <a:pt x="139700" y="0"/>
                </a:moveTo>
                <a:lnTo>
                  <a:pt x="4908550" y="0"/>
                </a:lnTo>
                <a:cubicBezTo>
                  <a:pt x="4985703" y="0"/>
                  <a:pt x="5048250" y="62547"/>
                  <a:pt x="5048250" y="139700"/>
                </a:cubicBezTo>
                <a:lnTo>
                  <a:pt x="5048250" y="673100"/>
                </a:lnTo>
                <a:cubicBezTo>
                  <a:pt x="5048250" y="750252"/>
                  <a:pt x="4985703" y="812800"/>
                  <a:pt x="4908550" y="812800"/>
                </a:cubicBezTo>
                <a:lnTo>
                  <a:pt x="139700" y="812800"/>
                </a:lnTo>
                <a:cubicBezTo>
                  <a:pt x="62548" y="812800"/>
                  <a:pt x="0" y="750252"/>
                  <a:pt x="0" y="673100"/>
                </a:cubicBezTo>
                <a:lnTo>
                  <a:pt x="0" y="139700"/>
                </a:lnTo>
                <a:cubicBezTo>
                  <a:pt x="0" y="62547"/>
                  <a:pt x="62548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m-6"/>
          <p:cNvSpPr/>
          <p:nvPr/>
        </p:nvSpPr>
        <p:spPr>
          <a:xfrm>
            <a:off x="6191250" y="1473200"/>
            <a:ext cx="825500" cy="812800"/>
          </a:xfrm>
          <a:custGeom>
            <a:avLst/>
            <a:gdLst/>
            <a:ahLst/>
            <a:cxnLst/>
            <a:rect l="0" t="0" r="r" b="b"/>
            <a:pathLst>
              <a:path w="825500" h="812800">
                <a:moveTo>
                  <a:pt x="139700" y="0"/>
                </a:moveTo>
                <a:lnTo>
                  <a:pt x="685800" y="0"/>
                </a:lnTo>
                <a:cubicBezTo>
                  <a:pt x="762953" y="0"/>
                  <a:pt x="825500" y="62547"/>
                  <a:pt x="825500" y="139700"/>
                </a:cubicBezTo>
                <a:lnTo>
                  <a:pt x="825500" y="673100"/>
                </a:lnTo>
                <a:cubicBezTo>
                  <a:pt x="825500" y="750252"/>
                  <a:pt x="762953" y="812800"/>
                  <a:pt x="685800" y="812800"/>
                </a:cubicBezTo>
                <a:lnTo>
                  <a:pt x="139700" y="812800"/>
                </a:lnTo>
                <a:cubicBezTo>
                  <a:pt x="62548" y="812800"/>
                  <a:pt x="0" y="750252"/>
                  <a:pt x="0" y="673100"/>
                </a:cubicBezTo>
                <a:lnTo>
                  <a:pt x="0" y="139700"/>
                </a:lnTo>
                <a:cubicBezTo>
                  <a:pt x="0" y="62547"/>
                  <a:pt x="62548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2F61A8"/>
              </a:gs>
              <a:gs pos="100000">
                <a:srgbClr val="134C9C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m2-6"/>
          <p:cNvSpPr/>
          <p:nvPr/>
        </p:nvSpPr>
        <p:spPr>
          <a:xfrm>
            <a:off x="6877050" y="1473200"/>
            <a:ext cx="139700" cy="812800"/>
          </a:xfrm>
          <a:prstGeom prst="rect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0" name="mn-6"/>
          <p:cNvSpPr txBox="1"/>
          <p:nvPr/>
        </p:nvSpPr>
        <p:spPr>
          <a:xfrm>
            <a:off x="6362446" y="1553972"/>
            <a:ext cx="445008" cy="533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4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7</a:t>
            </a:r>
          </a:p>
        </p:txBody>
      </p:sp>
      <p:sp>
        <p:nvSpPr>
          <p:cNvPr id="71" name="mu-6"/>
          <p:cNvSpPr txBox="1"/>
          <p:nvPr/>
        </p:nvSpPr>
        <p:spPr>
          <a:xfrm>
            <a:off x="6494462" y="2015966"/>
            <a:ext cx="1809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月</a:t>
            </a:r>
          </a:p>
        </p:txBody>
      </p:sp>
      <p:sp>
        <p:nvSpPr>
          <p:cNvPr id="72" name="a-6"/>
          <p:cNvSpPr txBox="1"/>
          <p:nvPr/>
        </p:nvSpPr>
        <p:spPr>
          <a:xfrm>
            <a:off x="7201662" y="1640586"/>
            <a:ext cx="138938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员工突破 500 人</a:t>
            </a:r>
          </a:p>
        </p:txBody>
      </p:sp>
      <p:sp>
        <p:nvSpPr>
          <p:cNvPr id="73" name="b-6"/>
          <p:cNvSpPr txBox="1"/>
          <p:nvPr/>
        </p:nvSpPr>
        <p:spPr>
          <a:xfrm>
            <a:off x="7206615" y="1932861"/>
            <a:ext cx="80867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研发占比 46%</a:t>
            </a:r>
          </a:p>
        </p:txBody>
      </p:sp>
      <p:sp>
        <p:nvSpPr>
          <p:cNvPr id="74" name="chip"/>
          <p:cNvSpPr/>
          <p:nvPr/>
        </p:nvSpPr>
        <p:spPr>
          <a:xfrm>
            <a:off x="10655300" y="1676400"/>
            <a:ext cx="406400" cy="4064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chip-ring"/>
          <p:cNvSpPr/>
          <p:nvPr/>
        </p:nvSpPr>
        <p:spPr>
          <a:xfrm>
            <a:off x="10655300" y="1676400"/>
            <a:ext cx="406400" cy="406400"/>
          </a:xfrm>
          <a:prstGeom prst="ellipse">
            <a:avLst/>
          </a:prstGeom>
          <a:noFill/>
          <a:ln w="6350" cap="rnd">
            <a:solidFill>
              <a:srgbClr val="134C9C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icon-people"/>
          <p:cNvSpPr/>
          <p:nvPr/>
        </p:nvSpPr>
        <p:spPr>
          <a:xfrm>
            <a:off x="10796270" y="1898840"/>
            <a:ext cx="125920" cy="35560"/>
          </a:xfrm>
          <a:custGeom>
            <a:avLst/>
            <a:gdLst/>
            <a:ahLst/>
            <a:cxnLst/>
            <a:rect l="0" t="0" r="r" b="b"/>
            <a:pathLst>
              <a:path w="125920" h="35560">
                <a:moveTo>
                  <a:pt x="0" y="35560"/>
                </a:moveTo>
                <a:cubicBezTo>
                  <a:pt x="0" y="13335"/>
                  <a:pt x="18542" y="0"/>
                  <a:pt x="40005" y="0"/>
                </a:cubicBezTo>
                <a:cubicBezTo>
                  <a:pt x="61468" y="0"/>
                  <a:pt x="80010" y="13335"/>
                  <a:pt x="80010" y="35560"/>
                </a:cubicBezTo>
                <a:moveTo>
                  <a:pt x="94806" y="2985"/>
                </a:moveTo>
                <a:cubicBezTo>
                  <a:pt x="114110" y="5207"/>
                  <a:pt x="125920" y="18542"/>
                  <a:pt x="125920" y="35560"/>
                </a:cubicBezTo>
              </a:path>
            </a:pathLst>
          </a:cu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icon-people"/>
          <p:cNvSpPr/>
          <p:nvPr/>
        </p:nvSpPr>
        <p:spPr>
          <a:xfrm>
            <a:off x="10812568" y="1835150"/>
            <a:ext cx="47413" cy="47413"/>
          </a:xfrm>
          <a:prstGeom prst="ellipse">
            <a:avLst/>
          </a:pr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icon-people"/>
          <p:cNvSpPr/>
          <p:nvPr/>
        </p:nvSpPr>
        <p:spPr>
          <a:xfrm>
            <a:off x="10876280" y="1835150"/>
            <a:ext cx="38523" cy="38523"/>
          </a:xfrm>
          <a:prstGeom prst="ellipse">
            <a:avLst/>
          </a:prstGeom>
          <a:noFill/>
          <a:ln w="1270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9" name="no-6"/>
          <p:cNvSpPr txBox="1"/>
          <p:nvPr/>
        </p:nvSpPr>
        <p:spPr>
          <a:xfrm>
            <a:off x="10067290" y="1701864"/>
            <a:ext cx="436118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700" b="1">
                <a:solidFill>
                  <a:srgbClr val="54A2DF">
                    <a:alpha val="35000"/>
                  </a:srgbClr>
                </a:solidFill>
                <a:latin typeface="Arial"/>
                <a:ea typeface="Arial"/>
                <a:cs typeface="Arial"/>
              </a:rPr>
              <a:t>06</a:t>
            </a:r>
          </a:p>
        </p:txBody>
      </p:sp>
      <p:sp>
        <p:nvSpPr>
          <p:cNvPr id="80" name="c-7"/>
          <p:cNvSpPr/>
          <p:nvPr/>
        </p:nvSpPr>
        <p:spPr>
          <a:xfrm>
            <a:off x="6191250" y="2400300"/>
            <a:ext cx="5048250" cy="812800"/>
          </a:xfrm>
          <a:custGeom>
            <a:avLst/>
            <a:gdLst/>
            <a:ahLst/>
            <a:cxnLst/>
            <a:rect l="0" t="0" r="r" b="b"/>
            <a:pathLst>
              <a:path w="5048250" h="812800">
                <a:moveTo>
                  <a:pt x="139700" y="0"/>
                </a:moveTo>
                <a:lnTo>
                  <a:pt x="4908550" y="0"/>
                </a:lnTo>
                <a:cubicBezTo>
                  <a:pt x="4985703" y="0"/>
                  <a:pt x="5048250" y="62548"/>
                  <a:pt x="5048250" y="139700"/>
                </a:cubicBezTo>
                <a:lnTo>
                  <a:pt x="5048250" y="673100"/>
                </a:lnTo>
                <a:cubicBezTo>
                  <a:pt x="5048250" y="750252"/>
                  <a:pt x="4985703" y="812800"/>
                  <a:pt x="4908550" y="812800"/>
                </a:cubicBezTo>
                <a:lnTo>
                  <a:pt x="139700" y="812800"/>
                </a:lnTo>
                <a:cubicBezTo>
                  <a:pt x="62548" y="812800"/>
                  <a:pt x="0" y="750252"/>
                  <a:pt x="0" y="6731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m-7"/>
          <p:cNvSpPr/>
          <p:nvPr/>
        </p:nvSpPr>
        <p:spPr>
          <a:xfrm>
            <a:off x="6191250" y="2400300"/>
            <a:ext cx="825500" cy="812800"/>
          </a:xfrm>
          <a:custGeom>
            <a:avLst/>
            <a:gdLst/>
            <a:ahLst/>
            <a:cxnLst/>
            <a:rect l="0" t="0" r="r" b="b"/>
            <a:pathLst>
              <a:path w="825500" h="812800">
                <a:moveTo>
                  <a:pt x="139700" y="0"/>
                </a:moveTo>
                <a:lnTo>
                  <a:pt x="685800" y="0"/>
                </a:lnTo>
                <a:cubicBezTo>
                  <a:pt x="762953" y="0"/>
                  <a:pt x="825500" y="62548"/>
                  <a:pt x="825500" y="139700"/>
                </a:cubicBezTo>
                <a:lnTo>
                  <a:pt x="825500" y="673100"/>
                </a:lnTo>
                <a:cubicBezTo>
                  <a:pt x="825500" y="750252"/>
                  <a:pt x="762953" y="812800"/>
                  <a:pt x="685800" y="812800"/>
                </a:cubicBezTo>
                <a:lnTo>
                  <a:pt x="139700" y="812800"/>
                </a:lnTo>
                <a:cubicBezTo>
                  <a:pt x="62548" y="812800"/>
                  <a:pt x="0" y="750252"/>
                  <a:pt x="0" y="6731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366EB2"/>
              </a:gs>
              <a:gs pos="100000">
                <a:srgbClr val="1B5AA8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2" name="m2-7"/>
          <p:cNvSpPr/>
          <p:nvPr/>
        </p:nvSpPr>
        <p:spPr>
          <a:xfrm>
            <a:off x="6877050" y="2400300"/>
            <a:ext cx="139700" cy="812800"/>
          </a:xfrm>
          <a:prstGeom prst="rect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mn-7"/>
          <p:cNvSpPr txBox="1"/>
          <p:nvPr/>
        </p:nvSpPr>
        <p:spPr>
          <a:xfrm>
            <a:off x="6362446" y="2481072"/>
            <a:ext cx="445008" cy="533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4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8</a:t>
            </a:r>
          </a:p>
        </p:txBody>
      </p:sp>
      <p:sp>
        <p:nvSpPr>
          <p:cNvPr id="84" name="mu-7"/>
          <p:cNvSpPr txBox="1"/>
          <p:nvPr/>
        </p:nvSpPr>
        <p:spPr>
          <a:xfrm>
            <a:off x="6494462" y="2943066"/>
            <a:ext cx="1809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月</a:t>
            </a:r>
          </a:p>
        </p:txBody>
      </p:sp>
      <p:sp>
        <p:nvSpPr>
          <p:cNvPr id="85" name="a-7"/>
          <p:cNvSpPr txBox="1"/>
          <p:nvPr/>
        </p:nvSpPr>
        <p:spPr>
          <a:xfrm>
            <a:off x="7201662" y="2567686"/>
            <a:ext cx="10896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海外首单签约</a:t>
            </a:r>
          </a:p>
        </p:txBody>
      </p:sp>
      <p:sp>
        <p:nvSpPr>
          <p:cNvPr id="86" name="b-7"/>
          <p:cNvSpPr txBox="1"/>
          <p:nvPr/>
        </p:nvSpPr>
        <p:spPr>
          <a:xfrm>
            <a:off x="7206615" y="2859961"/>
            <a:ext cx="89122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东南亚零售客户</a:t>
            </a:r>
          </a:p>
        </p:txBody>
      </p:sp>
      <p:sp>
        <p:nvSpPr>
          <p:cNvPr id="87" name="chip"/>
          <p:cNvSpPr/>
          <p:nvPr/>
        </p:nvSpPr>
        <p:spPr>
          <a:xfrm>
            <a:off x="10655300" y="2603500"/>
            <a:ext cx="406400" cy="4064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8" name="chip-ring"/>
          <p:cNvSpPr/>
          <p:nvPr/>
        </p:nvSpPr>
        <p:spPr>
          <a:xfrm>
            <a:off x="10655300" y="2603500"/>
            <a:ext cx="406400" cy="406400"/>
          </a:xfrm>
          <a:prstGeom prst="ellipse">
            <a:avLst/>
          </a:prstGeom>
          <a:noFill/>
          <a:ln w="6350" cap="rnd">
            <a:solidFill>
              <a:srgbClr val="1B5AA8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9" name="icon-globe"/>
          <p:cNvSpPr/>
          <p:nvPr/>
        </p:nvSpPr>
        <p:spPr>
          <a:xfrm>
            <a:off x="10794810" y="2743010"/>
            <a:ext cx="127381" cy="127381"/>
          </a:xfrm>
          <a:custGeom>
            <a:avLst/>
            <a:gdLst/>
            <a:ahLst/>
            <a:cxnLst/>
            <a:rect l="0" t="0" r="r" b="b"/>
            <a:pathLst>
              <a:path w="127381" h="127381">
                <a:moveTo>
                  <a:pt x="0" y="63690"/>
                </a:moveTo>
                <a:lnTo>
                  <a:pt x="127381" y="63690"/>
                </a:lnTo>
                <a:moveTo>
                  <a:pt x="63690" y="0"/>
                </a:moveTo>
                <a:cubicBezTo>
                  <a:pt x="81470" y="18478"/>
                  <a:pt x="90361" y="40005"/>
                  <a:pt x="90361" y="63690"/>
                </a:cubicBezTo>
                <a:cubicBezTo>
                  <a:pt x="90361" y="87376"/>
                  <a:pt x="81470" y="108902"/>
                  <a:pt x="63690" y="127381"/>
                </a:cubicBezTo>
                <a:cubicBezTo>
                  <a:pt x="45911" y="108902"/>
                  <a:pt x="37020" y="87376"/>
                  <a:pt x="37020" y="63690"/>
                </a:cubicBezTo>
                <a:cubicBezTo>
                  <a:pt x="37020" y="40005"/>
                  <a:pt x="45911" y="18478"/>
                  <a:pt x="63690" y="0"/>
                </a:cubicBezTo>
                <a:close/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0" name="icon-globe"/>
          <p:cNvSpPr/>
          <p:nvPr/>
        </p:nvSpPr>
        <p:spPr>
          <a:xfrm>
            <a:off x="10794788" y="2742988"/>
            <a:ext cx="127423" cy="127423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no-7"/>
          <p:cNvSpPr txBox="1"/>
          <p:nvPr/>
        </p:nvSpPr>
        <p:spPr>
          <a:xfrm>
            <a:off x="10067290" y="2628964"/>
            <a:ext cx="436118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700" b="1">
                <a:solidFill>
                  <a:srgbClr val="54A2DF">
                    <a:alpha val="35000"/>
                  </a:srgbClr>
                </a:solidFill>
                <a:latin typeface="Arial"/>
                <a:ea typeface="Arial"/>
                <a:cs typeface="Arial"/>
              </a:rPr>
              <a:t>07</a:t>
            </a:r>
          </a:p>
        </p:txBody>
      </p:sp>
      <p:sp>
        <p:nvSpPr>
          <p:cNvPr id="92" name="c-8"/>
          <p:cNvSpPr/>
          <p:nvPr/>
        </p:nvSpPr>
        <p:spPr>
          <a:xfrm>
            <a:off x="6191250" y="3327400"/>
            <a:ext cx="5048250" cy="812800"/>
          </a:xfrm>
          <a:custGeom>
            <a:avLst/>
            <a:gdLst/>
            <a:ahLst/>
            <a:cxnLst/>
            <a:rect l="0" t="0" r="r" b="b"/>
            <a:pathLst>
              <a:path w="5048250" h="812800">
                <a:moveTo>
                  <a:pt x="139700" y="0"/>
                </a:moveTo>
                <a:lnTo>
                  <a:pt x="4908550" y="0"/>
                </a:lnTo>
                <a:cubicBezTo>
                  <a:pt x="4985703" y="0"/>
                  <a:pt x="5048250" y="62548"/>
                  <a:pt x="5048250" y="139700"/>
                </a:cubicBezTo>
                <a:lnTo>
                  <a:pt x="5048250" y="673100"/>
                </a:lnTo>
                <a:cubicBezTo>
                  <a:pt x="5048250" y="750252"/>
                  <a:pt x="4985703" y="812800"/>
                  <a:pt x="4908550" y="812800"/>
                </a:cubicBezTo>
                <a:lnTo>
                  <a:pt x="139700" y="812800"/>
                </a:lnTo>
                <a:cubicBezTo>
                  <a:pt x="62548" y="812800"/>
                  <a:pt x="0" y="750252"/>
                  <a:pt x="0" y="6731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m-8"/>
          <p:cNvSpPr/>
          <p:nvPr/>
        </p:nvSpPr>
        <p:spPr>
          <a:xfrm>
            <a:off x="6191250" y="3327400"/>
            <a:ext cx="825500" cy="812800"/>
          </a:xfrm>
          <a:custGeom>
            <a:avLst/>
            <a:gdLst/>
            <a:ahLst/>
            <a:cxnLst/>
            <a:rect l="0" t="0" r="r" b="b"/>
            <a:pathLst>
              <a:path w="825500" h="812800">
                <a:moveTo>
                  <a:pt x="139700" y="0"/>
                </a:moveTo>
                <a:lnTo>
                  <a:pt x="685800" y="0"/>
                </a:lnTo>
                <a:cubicBezTo>
                  <a:pt x="762953" y="0"/>
                  <a:pt x="825500" y="62548"/>
                  <a:pt x="825500" y="139700"/>
                </a:cubicBezTo>
                <a:lnTo>
                  <a:pt x="825500" y="673100"/>
                </a:lnTo>
                <a:cubicBezTo>
                  <a:pt x="825500" y="750252"/>
                  <a:pt x="762953" y="812800"/>
                  <a:pt x="685800" y="812800"/>
                </a:cubicBezTo>
                <a:lnTo>
                  <a:pt x="139700" y="812800"/>
                </a:lnTo>
                <a:cubicBezTo>
                  <a:pt x="62548" y="812800"/>
                  <a:pt x="0" y="750252"/>
                  <a:pt x="0" y="6731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3E7ABF"/>
              </a:gs>
              <a:gs pos="100000">
                <a:srgbClr val="2468B6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m2-8"/>
          <p:cNvSpPr/>
          <p:nvPr/>
        </p:nvSpPr>
        <p:spPr>
          <a:xfrm>
            <a:off x="6877050" y="3327400"/>
            <a:ext cx="139700" cy="812800"/>
          </a:xfrm>
          <a:prstGeom prst="rect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mn-8"/>
          <p:cNvSpPr txBox="1"/>
          <p:nvPr/>
        </p:nvSpPr>
        <p:spPr>
          <a:xfrm>
            <a:off x="6362446" y="3408172"/>
            <a:ext cx="445008" cy="533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4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9</a:t>
            </a:r>
          </a:p>
        </p:txBody>
      </p:sp>
      <p:sp>
        <p:nvSpPr>
          <p:cNvPr id="96" name="mu-8"/>
          <p:cNvSpPr txBox="1"/>
          <p:nvPr/>
        </p:nvSpPr>
        <p:spPr>
          <a:xfrm>
            <a:off x="6494462" y="3870166"/>
            <a:ext cx="1809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月</a:t>
            </a:r>
          </a:p>
        </p:txBody>
      </p:sp>
      <p:sp>
        <p:nvSpPr>
          <p:cNvPr id="97" name="a-8"/>
          <p:cNvSpPr txBox="1"/>
          <p:nvPr/>
        </p:nvSpPr>
        <p:spPr>
          <a:xfrm>
            <a:off x="7201662" y="3494786"/>
            <a:ext cx="10896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伙伴计划上线</a:t>
            </a:r>
          </a:p>
        </p:txBody>
      </p:sp>
      <p:sp>
        <p:nvSpPr>
          <p:cNvPr id="98" name="b-8"/>
          <p:cNvSpPr txBox="1"/>
          <p:nvPr/>
        </p:nvSpPr>
        <p:spPr>
          <a:xfrm>
            <a:off x="7206615" y="3787061"/>
            <a:ext cx="92170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签约伙伴 64 家</a:t>
            </a:r>
          </a:p>
        </p:txBody>
      </p:sp>
      <p:sp>
        <p:nvSpPr>
          <p:cNvPr id="99" name="chip"/>
          <p:cNvSpPr/>
          <p:nvPr/>
        </p:nvSpPr>
        <p:spPr>
          <a:xfrm>
            <a:off x="10655300" y="3530600"/>
            <a:ext cx="406400" cy="4064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0" name="chip-ring"/>
          <p:cNvSpPr/>
          <p:nvPr/>
        </p:nvSpPr>
        <p:spPr>
          <a:xfrm>
            <a:off x="10655300" y="3530600"/>
            <a:ext cx="406400" cy="406400"/>
          </a:xfrm>
          <a:prstGeom prst="ellipse">
            <a:avLst/>
          </a:prstGeom>
          <a:noFill/>
          <a:ln w="6350" cap="rnd">
            <a:solidFill>
              <a:srgbClr val="2468B6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icon-share"/>
          <p:cNvSpPr/>
          <p:nvPr/>
        </p:nvSpPr>
        <p:spPr>
          <a:xfrm>
            <a:off x="10830370" y="3697478"/>
            <a:ext cx="52578" cy="72644"/>
          </a:xfrm>
          <a:custGeom>
            <a:avLst/>
            <a:gdLst/>
            <a:ahLst/>
            <a:cxnLst/>
            <a:rect l="0" t="0" r="r" b="b"/>
            <a:pathLst>
              <a:path w="52578" h="72644">
                <a:moveTo>
                  <a:pt x="0" y="28893"/>
                </a:moveTo>
                <a:lnTo>
                  <a:pt x="52578" y="0"/>
                </a:lnTo>
                <a:moveTo>
                  <a:pt x="0" y="43751"/>
                </a:moveTo>
                <a:lnTo>
                  <a:pt x="52578" y="72644"/>
                </a:lnTo>
              </a:path>
            </a:pathLst>
          </a:cu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2" name="icon-share"/>
          <p:cNvSpPr/>
          <p:nvPr/>
        </p:nvSpPr>
        <p:spPr>
          <a:xfrm>
            <a:off x="10798492" y="3716761"/>
            <a:ext cx="34078" cy="34078"/>
          </a:xfrm>
          <a:prstGeom prst="ellipse">
            <a:avLst/>
          </a:pr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icon-share"/>
          <p:cNvSpPr/>
          <p:nvPr/>
        </p:nvSpPr>
        <p:spPr>
          <a:xfrm>
            <a:off x="10881466" y="3673793"/>
            <a:ext cx="34078" cy="34078"/>
          </a:xfrm>
          <a:prstGeom prst="ellipse">
            <a:avLst/>
          </a:pr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4" name="icon-share"/>
          <p:cNvSpPr/>
          <p:nvPr/>
        </p:nvSpPr>
        <p:spPr>
          <a:xfrm>
            <a:off x="10881466" y="3759729"/>
            <a:ext cx="34078" cy="34078"/>
          </a:xfrm>
          <a:prstGeom prst="ellipse">
            <a:avLst/>
          </a:prstGeom>
          <a:noFill/>
          <a:ln w="1270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no-8"/>
          <p:cNvSpPr txBox="1"/>
          <p:nvPr/>
        </p:nvSpPr>
        <p:spPr>
          <a:xfrm>
            <a:off x="10067290" y="3556064"/>
            <a:ext cx="436118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700" b="1">
                <a:solidFill>
                  <a:srgbClr val="54A2DF">
                    <a:alpha val="35000"/>
                  </a:srgbClr>
                </a:solidFill>
                <a:latin typeface="Arial"/>
                <a:ea typeface="Arial"/>
                <a:cs typeface="Arial"/>
              </a:rPr>
              <a:t>08</a:t>
            </a:r>
          </a:p>
        </p:txBody>
      </p:sp>
      <p:sp>
        <p:nvSpPr>
          <p:cNvPr id="106" name="c-9"/>
          <p:cNvSpPr/>
          <p:nvPr/>
        </p:nvSpPr>
        <p:spPr>
          <a:xfrm>
            <a:off x="6191250" y="4254500"/>
            <a:ext cx="5048250" cy="812800"/>
          </a:xfrm>
          <a:custGeom>
            <a:avLst/>
            <a:gdLst/>
            <a:ahLst/>
            <a:cxnLst/>
            <a:rect l="0" t="0" r="r" b="b"/>
            <a:pathLst>
              <a:path w="5048250" h="812800">
                <a:moveTo>
                  <a:pt x="139700" y="0"/>
                </a:moveTo>
                <a:lnTo>
                  <a:pt x="4908550" y="0"/>
                </a:lnTo>
                <a:cubicBezTo>
                  <a:pt x="4985703" y="0"/>
                  <a:pt x="5048250" y="62548"/>
                  <a:pt x="5048250" y="139700"/>
                </a:cubicBezTo>
                <a:lnTo>
                  <a:pt x="5048250" y="673100"/>
                </a:lnTo>
                <a:cubicBezTo>
                  <a:pt x="5048250" y="750252"/>
                  <a:pt x="4985703" y="812800"/>
                  <a:pt x="4908550" y="812800"/>
                </a:cubicBezTo>
                <a:lnTo>
                  <a:pt x="139700" y="812800"/>
                </a:lnTo>
                <a:cubicBezTo>
                  <a:pt x="62548" y="812800"/>
                  <a:pt x="0" y="750252"/>
                  <a:pt x="0" y="6731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7" name="m-9"/>
          <p:cNvSpPr/>
          <p:nvPr/>
        </p:nvSpPr>
        <p:spPr>
          <a:xfrm>
            <a:off x="6191250" y="4254500"/>
            <a:ext cx="825500" cy="812800"/>
          </a:xfrm>
          <a:custGeom>
            <a:avLst/>
            <a:gdLst/>
            <a:ahLst/>
            <a:cxnLst/>
            <a:rect l="0" t="0" r="r" b="b"/>
            <a:pathLst>
              <a:path w="825500" h="812800">
                <a:moveTo>
                  <a:pt x="139700" y="0"/>
                </a:moveTo>
                <a:lnTo>
                  <a:pt x="685800" y="0"/>
                </a:lnTo>
                <a:cubicBezTo>
                  <a:pt x="762953" y="0"/>
                  <a:pt x="825500" y="62548"/>
                  <a:pt x="825500" y="139700"/>
                </a:cubicBezTo>
                <a:lnTo>
                  <a:pt x="825500" y="673100"/>
                </a:lnTo>
                <a:cubicBezTo>
                  <a:pt x="825500" y="750252"/>
                  <a:pt x="762953" y="812800"/>
                  <a:pt x="685800" y="812800"/>
                </a:cubicBezTo>
                <a:lnTo>
                  <a:pt x="139700" y="812800"/>
                </a:lnTo>
                <a:cubicBezTo>
                  <a:pt x="62548" y="812800"/>
                  <a:pt x="0" y="750252"/>
                  <a:pt x="0" y="6731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4787C9"/>
              </a:gs>
              <a:gs pos="100000">
                <a:srgbClr val="2E77C2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8" name="m2-9"/>
          <p:cNvSpPr/>
          <p:nvPr/>
        </p:nvSpPr>
        <p:spPr>
          <a:xfrm>
            <a:off x="6877050" y="4254500"/>
            <a:ext cx="139700" cy="812800"/>
          </a:xfrm>
          <a:prstGeom prst="rect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9" name="mn-9"/>
          <p:cNvSpPr txBox="1"/>
          <p:nvPr/>
        </p:nvSpPr>
        <p:spPr>
          <a:xfrm>
            <a:off x="6277102" y="4335272"/>
            <a:ext cx="615696" cy="533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4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11</a:t>
            </a:r>
          </a:p>
        </p:txBody>
      </p:sp>
      <p:sp>
        <p:nvSpPr>
          <p:cNvPr id="110" name="mu-9"/>
          <p:cNvSpPr txBox="1"/>
          <p:nvPr/>
        </p:nvSpPr>
        <p:spPr>
          <a:xfrm>
            <a:off x="6494462" y="4797266"/>
            <a:ext cx="1809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月</a:t>
            </a:r>
          </a:p>
        </p:txBody>
      </p:sp>
      <p:sp>
        <p:nvSpPr>
          <p:cNvPr id="111" name="a-9"/>
          <p:cNvSpPr txBox="1"/>
          <p:nvPr/>
        </p:nvSpPr>
        <p:spPr>
          <a:xfrm>
            <a:off x="7201662" y="4421886"/>
            <a:ext cx="1297686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客户满意度 4.7</a:t>
            </a:r>
          </a:p>
        </p:txBody>
      </p:sp>
      <p:sp>
        <p:nvSpPr>
          <p:cNvPr id="112" name="b-9"/>
          <p:cNvSpPr txBox="1"/>
          <p:nvPr/>
        </p:nvSpPr>
        <p:spPr>
          <a:xfrm>
            <a:off x="7206615" y="4714161"/>
            <a:ext cx="1083627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连续 4 个季度提升</a:t>
            </a:r>
          </a:p>
        </p:txBody>
      </p:sp>
      <p:sp>
        <p:nvSpPr>
          <p:cNvPr id="113" name="chip"/>
          <p:cNvSpPr/>
          <p:nvPr/>
        </p:nvSpPr>
        <p:spPr>
          <a:xfrm>
            <a:off x="10655300" y="4457700"/>
            <a:ext cx="406400" cy="4064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4" name="chip-ring"/>
          <p:cNvSpPr/>
          <p:nvPr/>
        </p:nvSpPr>
        <p:spPr>
          <a:xfrm>
            <a:off x="10655300" y="4457700"/>
            <a:ext cx="406400" cy="406400"/>
          </a:xfrm>
          <a:prstGeom prst="ellipse">
            <a:avLst/>
          </a:prstGeom>
          <a:noFill/>
          <a:ln w="6350" cap="rnd">
            <a:solidFill>
              <a:srgbClr val="2E77C2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5" name="icon-star"/>
          <p:cNvSpPr/>
          <p:nvPr/>
        </p:nvSpPr>
        <p:spPr>
          <a:xfrm>
            <a:off x="10795508" y="4598670"/>
            <a:ext cx="125984" cy="120015"/>
          </a:xfrm>
          <a:custGeom>
            <a:avLst/>
            <a:gdLst/>
            <a:ahLst/>
            <a:cxnLst/>
            <a:rect l="0" t="0" r="r" b="b"/>
            <a:pathLst>
              <a:path w="125984" h="120015">
                <a:moveTo>
                  <a:pt x="62992" y="0"/>
                </a:moveTo>
                <a:lnTo>
                  <a:pt x="82233" y="40005"/>
                </a:lnTo>
                <a:lnTo>
                  <a:pt x="125984" y="45910"/>
                </a:lnTo>
                <a:lnTo>
                  <a:pt x="94107" y="76327"/>
                </a:lnTo>
                <a:lnTo>
                  <a:pt x="102235" y="120015"/>
                </a:lnTo>
                <a:lnTo>
                  <a:pt x="62992" y="98552"/>
                </a:lnTo>
                <a:lnTo>
                  <a:pt x="23749" y="120015"/>
                </a:lnTo>
                <a:lnTo>
                  <a:pt x="31877" y="76327"/>
                </a:lnTo>
                <a:lnTo>
                  <a:pt x="0" y="45910"/>
                </a:lnTo>
                <a:lnTo>
                  <a:pt x="43752" y="40005"/>
                </a:lnTo>
                <a:close/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6" name="no-9"/>
          <p:cNvSpPr txBox="1"/>
          <p:nvPr/>
        </p:nvSpPr>
        <p:spPr>
          <a:xfrm>
            <a:off x="10067290" y="4483164"/>
            <a:ext cx="436118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700" b="1">
                <a:solidFill>
                  <a:srgbClr val="54A2DF">
                    <a:alpha val="35000"/>
                  </a:srgbClr>
                </a:solidFill>
                <a:latin typeface="Arial"/>
                <a:ea typeface="Arial"/>
                <a:cs typeface="Arial"/>
              </a:rPr>
              <a:t>09</a:t>
            </a:r>
          </a:p>
        </p:txBody>
      </p:sp>
      <p:sp>
        <p:nvSpPr>
          <p:cNvPr id="117" name="c-10"/>
          <p:cNvSpPr/>
          <p:nvPr/>
        </p:nvSpPr>
        <p:spPr>
          <a:xfrm>
            <a:off x="6191250" y="5181600"/>
            <a:ext cx="5048250" cy="812800"/>
          </a:xfrm>
          <a:custGeom>
            <a:avLst/>
            <a:gdLst/>
            <a:ahLst/>
            <a:cxnLst/>
            <a:rect l="0" t="0" r="r" b="b"/>
            <a:pathLst>
              <a:path w="5048250" h="812800">
                <a:moveTo>
                  <a:pt x="139700" y="0"/>
                </a:moveTo>
                <a:lnTo>
                  <a:pt x="4908550" y="0"/>
                </a:lnTo>
                <a:cubicBezTo>
                  <a:pt x="4985703" y="0"/>
                  <a:pt x="5048250" y="62548"/>
                  <a:pt x="5048250" y="139700"/>
                </a:cubicBezTo>
                <a:lnTo>
                  <a:pt x="5048250" y="673100"/>
                </a:lnTo>
                <a:cubicBezTo>
                  <a:pt x="5048250" y="750252"/>
                  <a:pt x="4985703" y="812800"/>
                  <a:pt x="4908550" y="812800"/>
                </a:cubicBezTo>
                <a:lnTo>
                  <a:pt x="139700" y="812800"/>
                </a:lnTo>
                <a:cubicBezTo>
                  <a:pt x="62548" y="812800"/>
                  <a:pt x="0" y="750252"/>
                  <a:pt x="0" y="6731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8" name="m-10"/>
          <p:cNvSpPr/>
          <p:nvPr/>
        </p:nvSpPr>
        <p:spPr>
          <a:xfrm>
            <a:off x="6191250" y="5181600"/>
            <a:ext cx="825500" cy="812800"/>
          </a:xfrm>
          <a:custGeom>
            <a:avLst/>
            <a:gdLst/>
            <a:ahLst/>
            <a:cxnLst/>
            <a:rect l="0" t="0" r="r" b="b"/>
            <a:pathLst>
              <a:path w="825500" h="812800">
                <a:moveTo>
                  <a:pt x="139700" y="0"/>
                </a:moveTo>
                <a:lnTo>
                  <a:pt x="685800" y="0"/>
                </a:lnTo>
                <a:cubicBezTo>
                  <a:pt x="762953" y="0"/>
                  <a:pt x="825500" y="62548"/>
                  <a:pt x="825500" y="139700"/>
                </a:cubicBezTo>
                <a:lnTo>
                  <a:pt x="825500" y="673100"/>
                </a:lnTo>
                <a:cubicBezTo>
                  <a:pt x="825500" y="750252"/>
                  <a:pt x="762953" y="812800"/>
                  <a:pt x="685800" y="812800"/>
                </a:cubicBezTo>
                <a:lnTo>
                  <a:pt x="139700" y="812800"/>
                </a:lnTo>
                <a:cubicBezTo>
                  <a:pt x="62548" y="812800"/>
                  <a:pt x="0" y="750252"/>
                  <a:pt x="0" y="673100"/>
                </a:cubicBezTo>
                <a:lnTo>
                  <a:pt x="0" y="139700"/>
                </a:lnTo>
                <a:cubicBezTo>
                  <a:pt x="0" y="62548"/>
                  <a:pt x="62548" y="0"/>
                  <a:pt x="139700" y="0"/>
                </a:cubicBezTo>
                <a:close/>
              </a:path>
            </a:pathLst>
          </a:custGeom>
          <a:gradFill rotWithShape="1">
            <a:gsLst>
              <a:gs pos="0">
                <a:srgbClr val="E48152"/>
              </a:gs>
              <a:gs pos="100000">
                <a:srgbClr val="E0703A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9" name="m2-10"/>
          <p:cNvSpPr/>
          <p:nvPr/>
        </p:nvSpPr>
        <p:spPr>
          <a:xfrm>
            <a:off x="6877050" y="5181600"/>
            <a:ext cx="139700" cy="812800"/>
          </a:xfrm>
          <a:prstGeom prst="rect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0" name="mn-10"/>
          <p:cNvSpPr txBox="1"/>
          <p:nvPr/>
        </p:nvSpPr>
        <p:spPr>
          <a:xfrm>
            <a:off x="6277102" y="5262372"/>
            <a:ext cx="615696" cy="533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4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12</a:t>
            </a:r>
          </a:p>
        </p:txBody>
      </p:sp>
      <p:sp>
        <p:nvSpPr>
          <p:cNvPr id="121" name="mu-10"/>
          <p:cNvSpPr txBox="1"/>
          <p:nvPr/>
        </p:nvSpPr>
        <p:spPr>
          <a:xfrm>
            <a:off x="6494462" y="5724366"/>
            <a:ext cx="1809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月</a:t>
            </a:r>
          </a:p>
        </p:txBody>
      </p:sp>
      <p:sp>
        <p:nvSpPr>
          <p:cNvPr id="122" name="a-10"/>
          <p:cNvSpPr txBox="1"/>
          <p:nvPr/>
        </p:nvSpPr>
        <p:spPr>
          <a:xfrm>
            <a:off x="7201662" y="5348986"/>
            <a:ext cx="1297686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00" b="1" spc="50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年营收破 12 亿</a:t>
            </a:r>
          </a:p>
        </p:txBody>
      </p:sp>
      <p:sp>
        <p:nvSpPr>
          <p:cNvPr id="123" name="b-10"/>
          <p:cNvSpPr txBox="1"/>
          <p:nvPr/>
        </p:nvSpPr>
        <p:spPr>
          <a:xfrm>
            <a:off x="7206615" y="5641261"/>
            <a:ext cx="808672" cy="19446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80" b="0" spc="15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同比增长 38%</a:t>
            </a:r>
          </a:p>
        </p:txBody>
      </p:sp>
      <p:sp>
        <p:nvSpPr>
          <p:cNvPr id="124" name="chip"/>
          <p:cNvSpPr/>
          <p:nvPr/>
        </p:nvSpPr>
        <p:spPr>
          <a:xfrm>
            <a:off x="10655300" y="5384800"/>
            <a:ext cx="406400" cy="4064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5" name="chip-ring"/>
          <p:cNvSpPr/>
          <p:nvPr/>
        </p:nvSpPr>
        <p:spPr>
          <a:xfrm>
            <a:off x="10655300" y="5384800"/>
            <a:ext cx="406400" cy="406400"/>
          </a:xfrm>
          <a:prstGeom prst="ellipse">
            <a:avLst/>
          </a:prstGeom>
          <a:noFill/>
          <a:ln w="6350" cap="rnd">
            <a:solidFill>
              <a:srgbClr val="E0703A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6" name="icon-grow"/>
          <p:cNvSpPr/>
          <p:nvPr/>
        </p:nvSpPr>
        <p:spPr>
          <a:xfrm>
            <a:off x="10796270" y="5559870"/>
            <a:ext cx="111125" cy="69596"/>
          </a:xfrm>
          <a:custGeom>
            <a:avLst/>
            <a:gdLst/>
            <a:ahLst/>
            <a:cxnLst/>
            <a:rect l="0" t="0" r="r" b="b"/>
            <a:pathLst>
              <a:path w="111125" h="69596">
                <a:moveTo>
                  <a:pt x="0" y="69596"/>
                </a:moveTo>
                <a:lnTo>
                  <a:pt x="37020" y="29591"/>
                </a:lnTo>
                <a:lnTo>
                  <a:pt x="63690" y="51816"/>
                </a:lnTo>
                <a:lnTo>
                  <a:pt x="108140" y="0"/>
                </a:lnTo>
                <a:moveTo>
                  <a:pt x="90361" y="0"/>
                </a:moveTo>
                <a:lnTo>
                  <a:pt x="111125" y="0"/>
                </a:lnTo>
                <a:lnTo>
                  <a:pt x="111125" y="20701"/>
                </a:lnTo>
              </a:path>
            </a:pathLst>
          </a:custGeom>
          <a:noFill/>
          <a:ln w="1270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7" name="no-10"/>
          <p:cNvSpPr txBox="1"/>
          <p:nvPr/>
        </p:nvSpPr>
        <p:spPr>
          <a:xfrm>
            <a:off x="10067290" y="5410264"/>
            <a:ext cx="436118" cy="377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700" b="1">
                <a:solidFill>
                  <a:srgbClr val="54A2DF">
                    <a:alpha val="35000"/>
                  </a:srgbClr>
                </a:solidFill>
                <a:latin typeface="Arial"/>
                <a:ea typeface="Arial"/>
                <a:cs typeface="Arial"/>
              </a:rPr>
              <a:t>10</a:t>
            </a:r>
          </a:p>
        </p:txBody>
      </p:sp>
      <p:cxnSp>
        <p:nvCxnSpPr>
          <p:cNvPr id="128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9" name="foot-l"/>
          <p:cNvSpPr txBox="1"/>
          <p:nvPr/>
        </p:nvSpPr>
        <p:spPr>
          <a:xfrm>
            <a:off x="573532" y="6532308"/>
            <a:ext cx="98729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年度大事记 · 2026</a:t>
            </a:r>
          </a:p>
        </p:txBody>
      </p:sp>
      <p:sp>
        <p:nvSpPr>
          <p:cNvPr id="130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29946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我们需要的四项支持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80848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THE ASKS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9008999" y="673132"/>
            <a:ext cx="26117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批下来这四件事，第四季度就能交付下面三个结果</a:t>
            </a:r>
          </a:p>
        </p:txBody>
      </p:sp>
      <p:sp>
        <p:nvSpPr>
          <p:cNvPr id="10" name="c-1"/>
          <p:cNvSpPr/>
          <p:nvPr/>
        </p:nvSpPr>
        <p:spPr>
          <a:xfrm>
            <a:off x="952500" y="1498600"/>
            <a:ext cx="2476500" cy="2540000"/>
          </a:xfrm>
          <a:custGeom>
            <a:avLst/>
            <a:gdLst/>
            <a:ahLst/>
            <a:cxnLst/>
            <a:rect l="0" t="0" r="r" b="b"/>
            <a:pathLst>
              <a:path w="2476500" h="2540000">
                <a:moveTo>
                  <a:pt x="165100" y="0"/>
                </a:moveTo>
                <a:lnTo>
                  <a:pt x="2311400" y="0"/>
                </a:lnTo>
                <a:cubicBezTo>
                  <a:pt x="2402586" y="0"/>
                  <a:pt x="2476500" y="73914"/>
                  <a:pt x="2476500" y="165100"/>
                </a:cubicBezTo>
                <a:lnTo>
                  <a:pt x="2476500" y="2374900"/>
                </a:lnTo>
                <a:cubicBezTo>
                  <a:pt x="2476500" y="2466086"/>
                  <a:pt x="2402586" y="2540000"/>
                  <a:pt x="2311400" y="2540000"/>
                </a:cubicBezTo>
                <a:lnTo>
                  <a:pt x="165100" y="2540000"/>
                </a:lnTo>
                <a:cubicBezTo>
                  <a:pt x="73914" y="2540000"/>
                  <a:pt x="0" y="2466086"/>
                  <a:pt x="0" y="23749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81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chip"/>
          <p:cNvSpPr/>
          <p:nvPr/>
        </p:nvSpPr>
        <p:spPr>
          <a:xfrm>
            <a:off x="1143000" y="1701800"/>
            <a:ext cx="431800" cy="431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chip-ring"/>
          <p:cNvSpPr/>
          <p:nvPr/>
        </p:nvSpPr>
        <p:spPr>
          <a:xfrm>
            <a:off x="1143000" y="1701800"/>
            <a:ext cx="431800" cy="431800"/>
          </a:xfrm>
          <a:prstGeom prst="ellipse">
            <a:avLst/>
          </a:prstGeom>
          <a:noFill/>
          <a:ln w="6350" cap="rnd">
            <a:solidFill>
              <a:srgbClr val="0B3E8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icon-coin"/>
          <p:cNvSpPr/>
          <p:nvPr/>
        </p:nvSpPr>
        <p:spPr>
          <a:xfrm>
            <a:off x="1308100" y="1873250"/>
            <a:ext cx="101600" cy="88900"/>
          </a:xfrm>
          <a:custGeom>
            <a:avLst/>
            <a:gdLst/>
            <a:ahLst/>
            <a:cxnLst/>
            <a:rect l="0" t="0" r="r" b="b"/>
            <a:pathLst>
              <a:path w="101600" h="88900">
                <a:moveTo>
                  <a:pt x="50800" y="0"/>
                </a:moveTo>
                <a:cubicBezTo>
                  <a:pt x="22225" y="0"/>
                  <a:pt x="0" y="7938"/>
                  <a:pt x="0" y="19050"/>
                </a:cubicBezTo>
                <a:cubicBezTo>
                  <a:pt x="0" y="30162"/>
                  <a:pt x="22225" y="38100"/>
                  <a:pt x="50800" y="38100"/>
                </a:cubicBezTo>
                <a:cubicBezTo>
                  <a:pt x="79375" y="38100"/>
                  <a:pt x="101600" y="30162"/>
                  <a:pt x="101600" y="19050"/>
                </a:cubicBezTo>
                <a:cubicBezTo>
                  <a:pt x="101600" y="7938"/>
                  <a:pt x="79375" y="0"/>
                  <a:pt x="50800" y="0"/>
                </a:cubicBezTo>
                <a:close/>
                <a:moveTo>
                  <a:pt x="0" y="19050"/>
                </a:moveTo>
                <a:lnTo>
                  <a:pt x="0" y="69850"/>
                </a:lnTo>
                <a:cubicBezTo>
                  <a:pt x="0" y="80962"/>
                  <a:pt x="22225" y="88900"/>
                  <a:pt x="50800" y="88900"/>
                </a:cubicBezTo>
                <a:cubicBezTo>
                  <a:pt x="79375" y="88900"/>
                  <a:pt x="101600" y="80962"/>
                  <a:pt x="101600" y="69850"/>
                </a:cubicBezTo>
                <a:lnTo>
                  <a:pt x="101600" y="19050"/>
                </a:lnTo>
              </a:path>
            </a:pathLst>
          </a:custGeom>
          <a:noFill/>
          <a:ln w="1270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n-1"/>
          <p:cNvSpPr txBox="1"/>
          <p:nvPr/>
        </p:nvSpPr>
        <p:spPr>
          <a:xfrm>
            <a:off x="1668526" y="1769459"/>
            <a:ext cx="548005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50" b="1" spc="2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预算</a:t>
            </a:r>
          </a:p>
        </p:txBody>
      </p:sp>
      <p:sp>
        <p:nvSpPr>
          <p:cNvPr id="15" name="no-1"/>
          <p:cNvSpPr txBox="1"/>
          <p:nvPr/>
        </p:nvSpPr>
        <p:spPr>
          <a:xfrm>
            <a:off x="2997200" y="1798955"/>
            <a:ext cx="2565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00" b="1">
                <a:solidFill>
                  <a:srgbClr val="9FC0E8"/>
                </a:solidFill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16" name="v-1"/>
          <p:cNvSpPr txBox="1"/>
          <p:nvPr/>
        </p:nvSpPr>
        <p:spPr>
          <a:xfrm>
            <a:off x="1104392" y="2173351"/>
            <a:ext cx="1376172" cy="9334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42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800</a:t>
            </a:r>
          </a:p>
        </p:txBody>
      </p:sp>
      <p:sp>
        <p:nvSpPr>
          <p:cNvPr id="17" name="u-1"/>
          <p:cNvSpPr txBox="1"/>
          <p:nvPr/>
        </p:nvSpPr>
        <p:spPr>
          <a:xfrm>
            <a:off x="2218436" y="2634170"/>
            <a:ext cx="4051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万元</a:t>
            </a:r>
          </a:p>
        </p:txBody>
      </p:sp>
      <p:cxnSp>
        <p:nvCxnSpPr>
          <p:cNvPr id="18" name="l-1"/>
          <p:cNvCxnSpPr/>
          <p:nvPr/>
        </p:nvCxnSpPr>
        <p:spPr>
          <a:xfrm>
            <a:off x="1168400" y="3060700"/>
            <a:ext cx="2044700" cy="0"/>
          </a:xfrm>
          <a:prstGeom prst="line">
            <a:avLst/>
          </a:prstGeom>
          <a:ln w="6350" cap="rnd">
            <a:solidFill>
              <a:srgbClr val="FFFFFF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d1-1"/>
          <p:cNvSpPr txBox="1"/>
          <p:nvPr/>
        </p:nvSpPr>
        <p:spPr>
          <a:xfrm>
            <a:off x="1155446" y="3206782"/>
            <a:ext cx="117030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新市场投放 500 万，</a:t>
            </a:r>
          </a:p>
        </p:txBody>
      </p:sp>
      <p:sp>
        <p:nvSpPr>
          <p:cNvPr id="20" name="d2-1"/>
          <p:cNvSpPr txBox="1"/>
          <p:nvPr/>
        </p:nvSpPr>
        <p:spPr>
          <a:xfrm>
            <a:off x="1155446" y="3397282"/>
            <a:ext cx="106108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工具与系统 300 万</a:t>
            </a:r>
          </a:p>
        </p:txBody>
      </p:sp>
      <p:sp>
        <p:nvSpPr>
          <p:cNvPr id="21" name="due-1"/>
          <p:cNvSpPr/>
          <p:nvPr/>
        </p:nvSpPr>
        <p:spPr>
          <a:xfrm>
            <a:off x="1168400" y="3657600"/>
            <a:ext cx="2044700" cy="241300"/>
          </a:xfrm>
          <a:custGeom>
            <a:avLst/>
            <a:gdLst/>
            <a:ahLst/>
            <a:cxnLst/>
            <a:rect l="0" t="0" r="r" b="b"/>
            <a:pathLst>
              <a:path w="2044700" h="241300">
                <a:moveTo>
                  <a:pt x="120650" y="0"/>
                </a:moveTo>
                <a:lnTo>
                  <a:pt x="1924050" y="0"/>
                </a:lnTo>
                <a:cubicBezTo>
                  <a:pt x="1990662" y="0"/>
                  <a:pt x="2044700" y="54038"/>
                  <a:pt x="2044700" y="120650"/>
                </a:cubicBezTo>
                <a:lnTo>
                  <a:pt x="2044700" y="120650"/>
                </a:lnTo>
                <a:cubicBezTo>
                  <a:pt x="2044700" y="187262"/>
                  <a:pt x="1990662" y="241300"/>
                  <a:pt x="1924050" y="241300"/>
                </a:cubicBezTo>
                <a:lnTo>
                  <a:pt x="120650" y="241300"/>
                </a:lnTo>
                <a:cubicBezTo>
                  <a:pt x="54038" y="241300"/>
                  <a:pt x="0" y="187262"/>
                  <a:pt x="0" y="120650"/>
                </a:cubicBezTo>
                <a:lnTo>
                  <a:pt x="0" y="120650"/>
                </a:lnTo>
                <a:cubicBezTo>
                  <a:pt x="0" y="54038"/>
                  <a:pt x="54038" y="0"/>
                  <a:pt x="120650" y="0"/>
                </a:cubicBezTo>
                <a:close/>
              </a:path>
            </a:pathLst>
          </a:custGeom>
          <a:solidFill>
            <a:srgbClr val="FFFFFF">
              <a:alpha val="1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icon-clock"/>
          <p:cNvSpPr/>
          <p:nvPr/>
        </p:nvSpPr>
        <p:spPr>
          <a:xfrm>
            <a:off x="1320800" y="3755390"/>
            <a:ext cx="15240" cy="31877"/>
          </a:xfrm>
          <a:custGeom>
            <a:avLst/>
            <a:gdLst/>
            <a:ahLst/>
            <a:cxnLst/>
            <a:rect l="0" t="0" r="r" b="b"/>
            <a:pathLst>
              <a:path w="15240" h="31877">
                <a:moveTo>
                  <a:pt x="0" y="0"/>
                </a:moveTo>
                <a:lnTo>
                  <a:pt x="0" y="22860"/>
                </a:lnTo>
                <a:lnTo>
                  <a:pt x="15240" y="31877"/>
                </a:lnTo>
              </a:path>
            </a:pathLst>
          </a:custGeom>
          <a:noFill/>
          <a:ln w="1143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icon-clock"/>
          <p:cNvSpPr/>
          <p:nvPr/>
        </p:nvSpPr>
        <p:spPr>
          <a:xfrm>
            <a:off x="1279842" y="3737292"/>
            <a:ext cx="81915" cy="81915"/>
          </a:xfrm>
          <a:prstGeom prst="ellipse">
            <a:avLst/>
          </a:prstGeom>
          <a:noFill/>
          <a:ln w="11430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dt-1"/>
          <p:cNvSpPr txBox="1"/>
          <p:nvPr/>
        </p:nvSpPr>
        <p:spPr>
          <a:xfrm>
            <a:off x="1435989" y="3694795"/>
            <a:ext cx="769684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1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10 月 15 日前</a:t>
            </a:r>
          </a:p>
        </p:txBody>
      </p:sp>
      <p:sp>
        <p:nvSpPr>
          <p:cNvPr id="25" name="c-2"/>
          <p:cNvSpPr/>
          <p:nvPr/>
        </p:nvSpPr>
        <p:spPr>
          <a:xfrm>
            <a:off x="3556000" y="1498600"/>
            <a:ext cx="2476500" cy="2540000"/>
          </a:xfrm>
          <a:custGeom>
            <a:avLst/>
            <a:gdLst/>
            <a:ahLst/>
            <a:cxnLst/>
            <a:rect l="0" t="0" r="r" b="b"/>
            <a:pathLst>
              <a:path w="2476500" h="2540000">
                <a:moveTo>
                  <a:pt x="165100" y="0"/>
                </a:moveTo>
                <a:lnTo>
                  <a:pt x="2311400" y="0"/>
                </a:lnTo>
                <a:cubicBezTo>
                  <a:pt x="2402586" y="0"/>
                  <a:pt x="2476500" y="73914"/>
                  <a:pt x="2476500" y="165100"/>
                </a:cubicBezTo>
                <a:lnTo>
                  <a:pt x="2476500" y="2374900"/>
                </a:lnTo>
                <a:cubicBezTo>
                  <a:pt x="2476500" y="2466086"/>
                  <a:pt x="2402586" y="2540000"/>
                  <a:pt x="2311400" y="2540000"/>
                </a:cubicBezTo>
                <a:lnTo>
                  <a:pt x="165100" y="2540000"/>
                </a:lnTo>
                <a:cubicBezTo>
                  <a:pt x="73914" y="2540000"/>
                  <a:pt x="0" y="2466086"/>
                  <a:pt x="0" y="23749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6" name="chip"/>
          <p:cNvSpPr/>
          <p:nvPr/>
        </p:nvSpPr>
        <p:spPr>
          <a:xfrm>
            <a:off x="3746500" y="1701800"/>
            <a:ext cx="431800" cy="431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chip-ring"/>
          <p:cNvSpPr/>
          <p:nvPr/>
        </p:nvSpPr>
        <p:spPr>
          <a:xfrm>
            <a:off x="3746500" y="1701800"/>
            <a:ext cx="431800" cy="431800"/>
          </a:xfrm>
          <a:prstGeom prst="ellipse">
            <a:avLst/>
          </a:prstGeom>
          <a:noFill/>
          <a:ln w="6350" cap="rnd">
            <a:solidFill>
              <a:srgbClr val="1B5AA8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icon-people"/>
          <p:cNvSpPr/>
          <p:nvPr/>
        </p:nvSpPr>
        <p:spPr>
          <a:xfrm>
            <a:off x="3895725" y="1938338"/>
            <a:ext cx="134938" cy="38100"/>
          </a:xfrm>
          <a:custGeom>
            <a:avLst/>
            <a:gdLst/>
            <a:ahLst/>
            <a:cxnLst/>
            <a:rect l="0" t="0" r="r" b="b"/>
            <a:pathLst>
              <a:path w="134938" h="38100">
                <a:moveTo>
                  <a:pt x="0" y="38100"/>
                </a:moveTo>
                <a:cubicBezTo>
                  <a:pt x="0" y="14288"/>
                  <a:pt x="19812" y="0"/>
                  <a:pt x="42862" y="0"/>
                </a:cubicBezTo>
                <a:cubicBezTo>
                  <a:pt x="65913" y="0"/>
                  <a:pt x="85725" y="14288"/>
                  <a:pt x="85725" y="38100"/>
                </a:cubicBezTo>
                <a:moveTo>
                  <a:pt x="101600" y="3175"/>
                </a:moveTo>
                <a:cubicBezTo>
                  <a:pt x="122238" y="5525"/>
                  <a:pt x="134938" y="19875"/>
                  <a:pt x="134938" y="38100"/>
                </a:cubicBezTo>
              </a:path>
            </a:pathLst>
          </a:cu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icon-people"/>
          <p:cNvSpPr/>
          <p:nvPr/>
        </p:nvSpPr>
        <p:spPr>
          <a:xfrm>
            <a:off x="3913188" y="1870075"/>
            <a:ext cx="50800" cy="50800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0" name="icon-people"/>
          <p:cNvSpPr/>
          <p:nvPr/>
        </p:nvSpPr>
        <p:spPr>
          <a:xfrm>
            <a:off x="3981450" y="1870075"/>
            <a:ext cx="41275" cy="41275"/>
          </a:xfrm>
          <a:prstGeom prst="ellipse">
            <a:avLst/>
          </a:prstGeom>
          <a:noFill/>
          <a:ln w="1270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1" name="n-2"/>
          <p:cNvSpPr txBox="1"/>
          <p:nvPr/>
        </p:nvSpPr>
        <p:spPr>
          <a:xfrm>
            <a:off x="4272026" y="1769459"/>
            <a:ext cx="548005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5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人员</a:t>
            </a:r>
          </a:p>
        </p:txBody>
      </p:sp>
      <p:sp>
        <p:nvSpPr>
          <p:cNvPr id="32" name="no-2"/>
          <p:cNvSpPr txBox="1"/>
          <p:nvPr/>
        </p:nvSpPr>
        <p:spPr>
          <a:xfrm>
            <a:off x="5600700" y="1798955"/>
            <a:ext cx="2565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00" b="1">
                <a:solidFill>
                  <a:srgbClr val="4694D7"/>
                </a:solidFill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33" name="v-2"/>
          <p:cNvSpPr txBox="1"/>
          <p:nvPr/>
        </p:nvSpPr>
        <p:spPr>
          <a:xfrm>
            <a:off x="3707892" y="2173351"/>
            <a:ext cx="1077468" cy="9334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4200" b="1">
                <a:solidFill>
                  <a:srgbClr val="1B5AA8"/>
                </a:solidFill>
                <a:latin typeface="Arial"/>
                <a:ea typeface="Arial"/>
                <a:cs typeface="Arial"/>
              </a:rPr>
              <a:t>12</a:t>
            </a:r>
          </a:p>
        </p:txBody>
      </p:sp>
      <p:sp>
        <p:nvSpPr>
          <p:cNvPr id="34" name="u-2"/>
          <p:cNvSpPr txBox="1"/>
          <p:nvPr/>
        </p:nvSpPr>
        <p:spPr>
          <a:xfrm>
            <a:off x="4352036" y="2634170"/>
            <a:ext cx="2654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B5AA8"/>
                </a:solidFill>
                <a:latin typeface="微软雅黑"/>
                <a:ea typeface="微软雅黑"/>
                <a:cs typeface="微软雅黑"/>
              </a:rPr>
              <a:t>人</a:t>
            </a:r>
          </a:p>
        </p:txBody>
      </p:sp>
      <p:cxnSp>
        <p:nvCxnSpPr>
          <p:cNvPr id="35" name="l-2"/>
          <p:cNvCxnSpPr/>
          <p:nvPr/>
        </p:nvCxnSpPr>
        <p:spPr>
          <a:xfrm>
            <a:off x="3771900" y="3060700"/>
            <a:ext cx="20447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d1-2"/>
          <p:cNvSpPr txBox="1"/>
          <p:nvPr/>
        </p:nvSpPr>
        <p:spPr>
          <a:xfrm>
            <a:off x="3758946" y="3206782"/>
            <a:ext cx="1854073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销售 6 人、交付 4 人、数据 2 人</a:t>
            </a:r>
          </a:p>
        </p:txBody>
      </p:sp>
      <p:sp>
        <p:nvSpPr>
          <p:cNvPr id="37" name="due-2"/>
          <p:cNvSpPr/>
          <p:nvPr/>
        </p:nvSpPr>
        <p:spPr>
          <a:xfrm>
            <a:off x="3771900" y="3657600"/>
            <a:ext cx="2044700" cy="241300"/>
          </a:xfrm>
          <a:custGeom>
            <a:avLst/>
            <a:gdLst/>
            <a:ahLst/>
            <a:cxnLst/>
            <a:rect l="0" t="0" r="r" b="b"/>
            <a:pathLst>
              <a:path w="2044700" h="241300">
                <a:moveTo>
                  <a:pt x="120650" y="0"/>
                </a:moveTo>
                <a:lnTo>
                  <a:pt x="1924050" y="0"/>
                </a:lnTo>
                <a:cubicBezTo>
                  <a:pt x="1990662" y="0"/>
                  <a:pt x="2044700" y="54038"/>
                  <a:pt x="2044700" y="120650"/>
                </a:cubicBezTo>
                <a:lnTo>
                  <a:pt x="2044700" y="120650"/>
                </a:lnTo>
                <a:cubicBezTo>
                  <a:pt x="2044700" y="187262"/>
                  <a:pt x="1990662" y="241300"/>
                  <a:pt x="1924050" y="241300"/>
                </a:cubicBezTo>
                <a:lnTo>
                  <a:pt x="120650" y="241300"/>
                </a:lnTo>
                <a:cubicBezTo>
                  <a:pt x="54038" y="241300"/>
                  <a:pt x="0" y="187262"/>
                  <a:pt x="0" y="120650"/>
                </a:cubicBezTo>
                <a:lnTo>
                  <a:pt x="0" y="120650"/>
                </a:lnTo>
                <a:cubicBezTo>
                  <a:pt x="0" y="54038"/>
                  <a:pt x="54038" y="0"/>
                  <a:pt x="120650" y="0"/>
                </a:cubicBezTo>
                <a:close/>
              </a:path>
            </a:pathLst>
          </a:custGeom>
          <a:solidFill>
            <a:srgbClr val="F2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8" name="icon-clock"/>
          <p:cNvSpPr/>
          <p:nvPr/>
        </p:nvSpPr>
        <p:spPr>
          <a:xfrm>
            <a:off x="3924300" y="3755390"/>
            <a:ext cx="15240" cy="31877"/>
          </a:xfrm>
          <a:custGeom>
            <a:avLst/>
            <a:gdLst/>
            <a:ahLst/>
            <a:cxnLst/>
            <a:rect l="0" t="0" r="r" b="b"/>
            <a:pathLst>
              <a:path w="15240" h="31877">
                <a:moveTo>
                  <a:pt x="0" y="0"/>
                </a:moveTo>
                <a:lnTo>
                  <a:pt x="0" y="22860"/>
                </a:lnTo>
                <a:lnTo>
                  <a:pt x="15240" y="31877"/>
                </a:lnTo>
              </a:path>
            </a:pathLst>
          </a:custGeom>
          <a:noFill/>
          <a:ln w="1143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9" name="icon-clock"/>
          <p:cNvSpPr/>
          <p:nvPr/>
        </p:nvSpPr>
        <p:spPr>
          <a:xfrm>
            <a:off x="3883342" y="3737292"/>
            <a:ext cx="81915" cy="81915"/>
          </a:xfrm>
          <a:prstGeom prst="ellipse">
            <a:avLst/>
          </a:prstGeom>
          <a:noFill/>
          <a:ln w="1143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0" name="dt-2"/>
          <p:cNvSpPr txBox="1"/>
          <p:nvPr/>
        </p:nvSpPr>
        <p:spPr>
          <a:xfrm>
            <a:off x="4039489" y="3694795"/>
            <a:ext cx="647636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10 月底到岗</a:t>
            </a:r>
          </a:p>
        </p:txBody>
      </p:sp>
      <p:sp>
        <p:nvSpPr>
          <p:cNvPr id="41" name="c-3"/>
          <p:cNvSpPr/>
          <p:nvPr/>
        </p:nvSpPr>
        <p:spPr>
          <a:xfrm>
            <a:off x="6159500" y="1498600"/>
            <a:ext cx="2476500" cy="2540000"/>
          </a:xfrm>
          <a:custGeom>
            <a:avLst/>
            <a:gdLst/>
            <a:ahLst/>
            <a:cxnLst/>
            <a:rect l="0" t="0" r="r" b="b"/>
            <a:pathLst>
              <a:path w="2476500" h="2540000">
                <a:moveTo>
                  <a:pt x="165100" y="0"/>
                </a:moveTo>
                <a:lnTo>
                  <a:pt x="2311400" y="0"/>
                </a:lnTo>
                <a:cubicBezTo>
                  <a:pt x="2402586" y="0"/>
                  <a:pt x="2476500" y="73914"/>
                  <a:pt x="2476500" y="165100"/>
                </a:cubicBezTo>
                <a:lnTo>
                  <a:pt x="2476500" y="2374900"/>
                </a:lnTo>
                <a:cubicBezTo>
                  <a:pt x="2476500" y="2466086"/>
                  <a:pt x="2402586" y="2540000"/>
                  <a:pt x="2311400" y="2540000"/>
                </a:cubicBezTo>
                <a:lnTo>
                  <a:pt x="165100" y="2540000"/>
                </a:lnTo>
                <a:cubicBezTo>
                  <a:pt x="73914" y="2540000"/>
                  <a:pt x="0" y="2466086"/>
                  <a:pt x="0" y="23749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2" name="chip"/>
          <p:cNvSpPr/>
          <p:nvPr/>
        </p:nvSpPr>
        <p:spPr>
          <a:xfrm>
            <a:off x="6350000" y="1701800"/>
            <a:ext cx="431800" cy="431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chip-ring"/>
          <p:cNvSpPr/>
          <p:nvPr/>
        </p:nvSpPr>
        <p:spPr>
          <a:xfrm>
            <a:off x="6350000" y="1701800"/>
            <a:ext cx="431800" cy="431800"/>
          </a:xfrm>
          <a:prstGeom prst="ellipse">
            <a:avLst/>
          </a:prstGeom>
          <a:noFill/>
          <a:ln w="6350" cap="rnd">
            <a:solidFill>
              <a:srgbClr val="2E77C2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icon-lock"/>
          <p:cNvSpPr/>
          <p:nvPr/>
        </p:nvSpPr>
        <p:spPr>
          <a:xfrm>
            <a:off x="6518275" y="1857375"/>
            <a:ext cx="95250" cy="127000"/>
          </a:xfrm>
          <a:custGeom>
            <a:avLst/>
            <a:gdLst/>
            <a:ahLst/>
            <a:cxnLst/>
            <a:rect l="0" t="0" r="r" b="b"/>
            <a:pathLst>
              <a:path w="95250" h="127000">
                <a:moveTo>
                  <a:pt x="11112" y="49212"/>
                </a:moveTo>
                <a:lnTo>
                  <a:pt x="84138" y="49212"/>
                </a:lnTo>
                <a:cubicBezTo>
                  <a:pt x="90297" y="49212"/>
                  <a:pt x="95250" y="54165"/>
                  <a:pt x="95250" y="60325"/>
                </a:cubicBezTo>
                <a:lnTo>
                  <a:pt x="95250" y="115888"/>
                </a:lnTo>
                <a:cubicBezTo>
                  <a:pt x="95250" y="122047"/>
                  <a:pt x="90297" y="127000"/>
                  <a:pt x="84138" y="127000"/>
                </a:cubicBezTo>
                <a:lnTo>
                  <a:pt x="11112" y="127000"/>
                </a:lnTo>
                <a:cubicBezTo>
                  <a:pt x="4953" y="127000"/>
                  <a:pt x="0" y="122047"/>
                  <a:pt x="0" y="115888"/>
                </a:cubicBezTo>
                <a:lnTo>
                  <a:pt x="0" y="60325"/>
                </a:lnTo>
                <a:cubicBezTo>
                  <a:pt x="0" y="57404"/>
                  <a:pt x="1143" y="54546"/>
                  <a:pt x="3238" y="52451"/>
                </a:cubicBezTo>
                <a:cubicBezTo>
                  <a:pt x="5334" y="50356"/>
                  <a:pt x="8191" y="49212"/>
                  <a:pt x="11112" y="49212"/>
                </a:cubicBezTo>
                <a:close/>
                <a:moveTo>
                  <a:pt x="22225" y="49212"/>
                </a:moveTo>
                <a:lnTo>
                  <a:pt x="22225" y="25400"/>
                </a:lnTo>
                <a:cubicBezTo>
                  <a:pt x="22225" y="11367"/>
                  <a:pt x="33591" y="0"/>
                  <a:pt x="47625" y="0"/>
                </a:cubicBezTo>
                <a:cubicBezTo>
                  <a:pt x="61659" y="0"/>
                  <a:pt x="73025" y="11367"/>
                  <a:pt x="73025" y="25400"/>
                </a:cubicBezTo>
                <a:lnTo>
                  <a:pt x="73025" y="49212"/>
                </a:lnTo>
              </a:path>
            </a:pathLst>
          </a:custGeom>
          <a:noFill/>
          <a:ln w="1270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n-3"/>
          <p:cNvSpPr txBox="1"/>
          <p:nvPr/>
        </p:nvSpPr>
        <p:spPr>
          <a:xfrm>
            <a:off x="6875526" y="1769459"/>
            <a:ext cx="548005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5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系统</a:t>
            </a:r>
          </a:p>
        </p:txBody>
      </p:sp>
      <p:sp>
        <p:nvSpPr>
          <p:cNvPr id="46" name="no-3"/>
          <p:cNvSpPr txBox="1"/>
          <p:nvPr/>
        </p:nvSpPr>
        <p:spPr>
          <a:xfrm>
            <a:off x="8204200" y="1798955"/>
            <a:ext cx="2565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00" b="1">
                <a:solidFill>
                  <a:srgbClr val="4694D7"/>
                </a:solidFill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47" name="v-3"/>
          <p:cNvSpPr txBox="1"/>
          <p:nvPr/>
        </p:nvSpPr>
        <p:spPr>
          <a:xfrm>
            <a:off x="6311392" y="2173351"/>
            <a:ext cx="778764" cy="9334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4200" b="1">
                <a:solidFill>
                  <a:srgbClr val="2E77C2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48" name="u-3"/>
          <p:cNvSpPr txBox="1"/>
          <p:nvPr/>
        </p:nvSpPr>
        <p:spPr>
          <a:xfrm>
            <a:off x="6765036" y="2634170"/>
            <a:ext cx="5448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项权限</a:t>
            </a:r>
          </a:p>
        </p:txBody>
      </p:sp>
      <p:cxnSp>
        <p:nvCxnSpPr>
          <p:cNvPr id="49" name="l-3"/>
          <p:cNvCxnSpPr/>
          <p:nvPr/>
        </p:nvCxnSpPr>
        <p:spPr>
          <a:xfrm>
            <a:off x="6375400" y="3060700"/>
            <a:ext cx="20447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" name="d1-3"/>
          <p:cNvSpPr txBox="1"/>
          <p:nvPr/>
        </p:nvSpPr>
        <p:spPr>
          <a:xfrm>
            <a:off x="6362446" y="3206782"/>
            <a:ext cx="194906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CRM 管理员、财务数据只读、BI 发布</a:t>
            </a:r>
          </a:p>
        </p:txBody>
      </p:sp>
      <p:sp>
        <p:nvSpPr>
          <p:cNvPr id="51" name="due-3"/>
          <p:cNvSpPr/>
          <p:nvPr/>
        </p:nvSpPr>
        <p:spPr>
          <a:xfrm>
            <a:off x="6375400" y="3657600"/>
            <a:ext cx="2044700" cy="241300"/>
          </a:xfrm>
          <a:custGeom>
            <a:avLst/>
            <a:gdLst/>
            <a:ahLst/>
            <a:cxnLst/>
            <a:rect l="0" t="0" r="r" b="b"/>
            <a:pathLst>
              <a:path w="2044700" h="241300">
                <a:moveTo>
                  <a:pt x="120650" y="0"/>
                </a:moveTo>
                <a:lnTo>
                  <a:pt x="1924050" y="0"/>
                </a:lnTo>
                <a:cubicBezTo>
                  <a:pt x="1990662" y="0"/>
                  <a:pt x="2044700" y="54038"/>
                  <a:pt x="2044700" y="120650"/>
                </a:cubicBezTo>
                <a:lnTo>
                  <a:pt x="2044700" y="120650"/>
                </a:lnTo>
                <a:cubicBezTo>
                  <a:pt x="2044700" y="187262"/>
                  <a:pt x="1990662" y="241300"/>
                  <a:pt x="1924050" y="241300"/>
                </a:cubicBezTo>
                <a:lnTo>
                  <a:pt x="120650" y="241300"/>
                </a:lnTo>
                <a:cubicBezTo>
                  <a:pt x="54038" y="241300"/>
                  <a:pt x="0" y="187262"/>
                  <a:pt x="0" y="120650"/>
                </a:cubicBezTo>
                <a:lnTo>
                  <a:pt x="0" y="120650"/>
                </a:lnTo>
                <a:cubicBezTo>
                  <a:pt x="0" y="54038"/>
                  <a:pt x="54038" y="0"/>
                  <a:pt x="120650" y="0"/>
                </a:cubicBezTo>
                <a:close/>
              </a:path>
            </a:pathLst>
          </a:custGeom>
          <a:solidFill>
            <a:srgbClr val="F2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2" name="icon-clock"/>
          <p:cNvSpPr/>
          <p:nvPr/>
        </p:nvSpPr>
        <p:spPr>
          <a:xfrm>
            <a:off x="6527800" y="3755390"/>
            <a:ext cx="15240" cy="31877"/>
          </a:xfrm>
          <a:custGeom>
            <a:avLst/>
            <a:gdLst/>
            <a:ahLst/>
            <a:cxnLst/>
            <a:rect l="0" t="0" r="r" b="b"/>
            <a:pathLst>
              <a:path w="15240" h="31877">
                <a:moveTo>
                  <a:pt x="0" y="0"/>
                </a:moveTo>
                <a:lnTo>
                  <a:pt x="0" y="22860"/>
                </a:lnTo>
                <a:lnTo>
                  <a:pt x="15240" y="31877"/>
                </a:lnTo>
              </a:path>
            </a:pathLst>
          </a:custGeom>
          <a:noFill/>
          <a:ln w="1143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icon-clock"/>
          <p:cNvSpPr/>
          <p:nvPr/>
        </p:nvSpPr>
        <p:spPr>
          <a:xfrm>
            <a:off x="6486842" y="3737292"/>
            <a:ext cx="81915" cy="81915"/>
          </a:xfrm>
          <a:prstGeom prst="ellipse">
            <a:avLst/>
          </a:prstGeom>
          <a:noFill/>
          <a:ln w="1143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dt-3"/>
          <p:cNvSpPr txBox="1"/>
          <p:nvPr/>
        </p:nvSpPr>
        <p:spPr>
          <a:xfrm>
            <a:off x="6642989" y="3694795"/>
            <a:ext cx="48228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本周开通</a:t>
            </a:r>
          </a:p>
        </p:txBody>
      </p:sp>
      <p:sp>
        <p:nvSpPr>
          <p:cNvPr id="55" name="c-4"/>
          <p:cNvSpPr/>
          <p:nvPr/>
        </p:nvSpPr>
        <p:spPr>
          <a:xfrm>
            <a:off x="8763000" y="1498600"/>
            <a:ext cx="2476500" cy="2540000"/>
          </a:xfrm>
          <a:custGeom>
            <a:avLst/>
            <a:gdLst/>
            <a:ahLst/>
            <a:cxnLst/>
            <a:rect l="0" t="0" r="r" b="b"/>
            <a:pathLst>
              <a:path w="2476500" h="2540000">
                <a:moveTo>
                  <a:pt x="165100" y="0"/>
                </a:moveTo>
                <a:lnTo>
                  <a:pt x="2311400" y="0"/>
                </a:lnTo>
                <a:cubicBezTo>
                  <a:pt x="2402586" y="0"/>
                  <a:pt x="2476500" y="73914"/>
                  <a:pt x="2476500" y="165100"/>
                </a:cubicBezTo>
                <a:lnTo>
                  <a:pt x="2476500" y="2374900"/>
                </a:lnTo>
                <a:cubicBezTo>
                  <a:pt x="2476500" y="2466086"/>
                  <a:pt x="2402586" y="2540000"/>
                  <a:pt x="2311400" y="2540000"/>
                </a:cubicBezTo>
                <a:lnTo>
                  <a:pt x="165100" y="2540000"/>
                </a:lnTo>
                <a:cubicBezTo>
                  <a:pt x="73914" y="2540000"/>
                  <a:pt x="0" y="2466086"/>
                  <a:pt x="0" y="23749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6" name="chip"/>
          <p:cNvSpPr/>
          <p:nvPr/>
        </p:nvSpPr>
        <p:spPr>
          <a:xfrm>
            <a:off x="8953500" y="1701800"/>
            <a:ext cx="431800" cy="4318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76200" dist="25400" dir="5400000" rotWithShape="0">
              <a:srgbClr val="0B2545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chip-ring"/>
          <p:cNvSpPr/>
          <p:nvPr/>
        </p:nvSpPr>
        <p:spPr>
          <a:xfrm>
            <a:off x="8953500" y="1701800"/>
            <a:ext cx="431800" cy="431800"/>
          </a:xfrm>
          <a:prstGeom prst="ellipse">
            <a:avLst/>
          </a:prstGeom>
          <a:noFill/>
          <a:ln w="6350" cap="rnd">
            <a:solidFill>
              <a:srgbClr val="E0703A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8" name="icon-flag"/>
          <p:cNvSpPr/>
          <p:nvPr/>
        </p:nvSpPr>
        <p:spPr>
          <a:xfrm>
            <a:off x="9121775" y="1855788"/>
            <a:ext cx="76200" cy="130175"/>
          </a:xfrm>
          <a:custGeom>
            <a:avLst/>
            <a:gdLst/>
            <a:ahLst/>
            <a:cxnLst/>
            <a:rect l="0" t="0" r="r" b="b"/>
            <a:pathLst>
              <a:path w="76200" h="130175">
                <a:moveTo>
                  <a:pt x="0" y="130175"/>
                </a:moveTo>
                <a:lnTo>
                  <a:pt x="0" y="0"/>
                </a:lnTo>
                <a:moveTo>
                  <a:pt x="0" y="6350"/>
                </a:moveTo>
                <a:lnTo>
                  <a:pt x="76200" y="6350"/>
                </a:lnTo>
                <a:lnTo>
                  <a:pt x="63500" y="31750"/>
                </a:lnTo>
                <a:lnTo>
                  <a:pt x="76200" y="57150"/>
                </a:lnTo>
                <a:lnTo>
                  <a:pt x="0" y="57150"/>
                </a:lnTo>
              </a:path>
            </a:pathLst>
          </a:custGeom>
          <a:noFill/>
          <a:ln w="1270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9" name="n-4"/>
          <p:cNvSpPr txBox="1"/>
          <p:nvPr/>
        </p:nvSpPr>
        <p:spPr>
          <a:xfrm>
            <a:off x="9479026" y="1769459"/>
            <a:ext cx="548005" cy="3000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35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决策</a:t>
            </a:r>
          </a:p>
        </p:txBody>
      </p:sp>
      <p:sp>
        <p:nvSpPr>
          <p:cNvPr id="60" name="no-4"/>
          <p:cNvSpPr txBox="1"/>
          <p:nvPr/>
        </p:nvSpPr>
        <p:spPr>
          <a:xfrm>
            <a:off x="10807700" y="1798955"/>
            <a:ext cx="256540" cy="2222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000" b="1">
                <a:solidFill>
                  <a:srgbClr val="4694D7"/>
                </a:solidFill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61" name="v-4"/>
          <p:cNvSpPr txBox="1"/>
          <p:nvPr/>
        </p:nvSpPr>
        <p:spPr>
          <a:xfrm>
            <a:off x="8914892" y="2173351"/>
            <a:ext cx="778764" cy="9334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42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62" name="u-4"/>
          <p:cNvSpPr txBox="1"/>
          <p:nvPr/>
        </p:nvSpPr>
        <p:spPr>
          <a:xfrm>
            <a:off x="9228836" y="2634170"/>
            <a:ext cx="26543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项</a:t>
            </a:r>
          </a:p>
        </p:txBody>
      </p:sp>
      <p:cxnSp>
        <p:nvCxnSpPr>
          <p:cNvPr id="63" name="l-4"/>
          <p:cNvCxnSpPr/>
          <p:nvPr/>
        </p:nvCxnSpPr>
        <p:spPr>
          <a:xfrm>
            <a:off x="8978900" y="3060700"/>
            <a:ext cx="2044700" cy="0"/>
          </a:xfrm>
          <a:prstGeom prst="line">
            <a:avLst/>
          </a:prstGeom>
          <a:ln w="635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d1-4"/>
          <p:cNvSpPr txBox="1"/>
          <p:nvPr/>
        </p:nvSpPr>
        <p:spPr>
          <a:xfrm>
            <a:off x="8965946" y="3206782"/>
            <a:ext cx="108013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华南渠道独家政策，</a:t>
            </a:r>
          </a:p>
        </p:txBody>
      </p:sp>
      <p:sp>
        <p:nvSpPr>
          <p:cNvPr id="65" name="d2-4"/>
          <p:cNvSpPr txBox="1"/>
          <p:nvPr/>
        </p:nvSpPr>
        <p:spPr>
          <a:xfrm>
            <a:off x="8965946" y="3397282"/>
            <a:ext cx="75247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0" spc="1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需总裁办拍板</a:t>
            </a:r>
          </a:p>
        </p:txBody>
      </p:sp>
      <p:sp>
        <p:nvSpPr>
          <p:cNvPr id="66" name="due-4"/>
          <p:cNvSpPr/>
          <p:nvPr/>
        </p:nvSpPr>
        <p:spPr>
          <a:xfrm>
            <a:off x="8978900" y="3657600"/>
            <a:ext cx="2044700" cy="241300"/>
          </a:xfrm>
          <a:custGeom>
            <a:avLst/>
            <a:gdLst/>
            <a:ahLst/>
            <a:cxnLst/>
            <a:rect l="0" t="0" r="r" b="b"/>
            <a:pathLst>
              <a:path w="2044700" h="241300">
                <a:moveTo>
                  <a:pt x="120650" y="0"/>
                </a:moveTo>
                <a:lnTo>
                  <a:pt x="1924050" y="0"/>
                </a:lnTo>
                <a:cubicBezTo>
                  <a:pt x="1990662" y="0"/>
                  <a:pt x="2044700" y="54038"/>
                  <a:pt x="2044700" y="120650"/>
                </a:cubicBezTo>
                <a:lnTo>
                  <a:pt x="2044700" y="120650"/>
                </a:lnTo>
                <a:cubicBezTo>
                  <a:pt x="2044700" y="187262"/>
                  <a:pt x="1990662" y="241300"/>
                  <a:pt x="1924050" y="241300"/>
                </a:cubicBezTo>
                <a:lnTo>
                  <a:pt x="120650" y="241300"/>
                </a:lnTo>
                <a:cubicBezTo>
                  <a:pt x="54038" y="241300"/>
                  <a:pt x="0" y="187262"/>
                  <a:pt x="0" y="120650"/>
                </a:cubicBezTo>
                <a:lnTo>
                  <a:pt x="0" y="120650"/>
                </a:lnTo>
                <a:cubicBezTo>
                  <a:pt x="0" y="54038"/>
                  <a:pt x="54038" y="0"/>
                  <a:pt x="120650" y="0"/>
                </a:cubicBezTo>
                <a:close/>
              </a:path>
            </a:pathLst>
          </a:custGeom>
          <a:solidFill>
            <a:srgbClr val="F2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icon-clock"/>
          <p:cNvSpPr/>
          <p:nvPr/>
        </p:nvSpPr>
        <p:spPr>
          <a:xfrm>
            <a:off x="9131300" y="3755390"/>
            <a:ext cx="15240" cy="31877"/>
          </a:xfrm>
          <a:custGeom>
            <a:avLst/>
            <a:gdLst/>
            <a:ahLst/>
            <a:cxnLst/>
            <a:rect l="0" t="0" r="r" b="b"/>
            <a:pathLst>
              <a:path w="15240" h="31877">
                <a:moveTo>
                  <a:pt x="0" y="0"/>
                </a:moveTo>
                <a:lnTo>
                  <a:pt x="0" y="22860"/>
                </a:lnTo>
                <a:lnTo>
                  <a:pt x="15240" y="31877"/>
                </a:lnTo>
              </a:path>
            </a:pathLst>
          </a:custGeom>
          <a:noFill/>
          <a:ln w="1143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8" name="icon-clock"/>
          <p:cNvSpPr/>
          <p:nvPr/>
        </p:nvSpPr>
        <p:spPr>
          <a:xfrm>
            <a:off x="9090342" y="3737292"/>
            <a:ext cx="81915" cy="81915"/>
          </a:xfrm>
          <a:prstGeom prst="ellipse">
            <a:avLst/>
          </a:prstGeom>
          <a:noFill/>
          <a:ln w="1143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9" name="dt-4"/>
          <p:cNvSpPr txBox="1"/>
          <p:nvPr/>
        </p:nvSpPr>
        <p:spPr>
          <a:xfrm>
            <a:off x="9246489" y="3694795"/>
            <a:ext cx="868108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10 月 10 日会上</a:t>
            </a:r>
          </a:p>
        </p:txBody>
      </p:sp>
      <p:sp>
        <p:nvSpPr>
          <p:cNvPr id="70" name="cv-0"/>
          <p:cNvSpPr/>
          <p:nvPr/>
        </p:nvSpPr>
        <p:spPr>
          <a:xfrm>
            <a:off x="2190750" y="4064000"/>
            <a:ext cx="3905250" cy="596900"/>
          </a:xfrm>
          <a:custGeom>
            <a:avLst/>
            <a:gdLst/>
            <a:ahLst/>
            <a:cxnLst/>
            <a:rect l="0" t="0" r="r" b="b"/>
            <a:pathLst>
              <a:path w="3905250" h="596900">
                <a:moveTo>
                  <a:pt x="0" y="0"/>
                </a:moveTo>
                <a:cubicBezTo>
                  <a:pt x="0" y="292100"/>
                  <a:pt x="3905250" y="228600"/>
                  <a:pt x="3905250" y="596900"/>
                </a:cubicBezTo>
              </a:path>
            </a:pathLst>
          </a:custGeom>
          <a:noFill/>
          <a:ln w="12700" cap="rnd">
            <a:solidFill>
              <a:srgbClr val="2E77C2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cv-1"/>
          <p:cNvSpPr/>
          <p:nvPr/>
        </p:nvSpPr>
        <p:spPr>
          <a:xfrm>
            <a:off x="4794250" y="4064000"/>
            <a:ext cx="1301750" cy="596900"/>
          </a:xfrm>
          <a:custGeom>
            <a:avLst/>
            <a:gdLst/>
            <a:ahLst/>
            <a:cxnLst/>
            <a:rect l="0" t="0" r="r" b="b"/>
            <a:pathLst>
              <a:path w="1301750" h="596900">
                <a:moveTo>
                  <a:pt x="0" y="0"/>
                </a:moveTo>
                <a:cubicBezTo>
                  <a:pt x="0" y="292100"/>
                  <a:pt x="1301750" y="228600"/>
                  <a:pt x="1301750" y="596900"/>
                </a:cubicBezTo>
              </a:path>
            </a:pathLst>
          </a:custGeom>
          <a:noFill/>
          <a:ln w="12700" cap="rnd">
            <a:solidFill>
              <a:srgbClr val="2E77C2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2" name="cv-2"/>
          <p:cNvSpPr/>
          <p:nvPr/>
        </p:nvSpPr>
        <p:spPr>
          <a:xfrm>
            <a:off x="6096000" y="4064000"/>
            <a:ext cx="1301750" cy="596900"/>
          </a:xfrm>
          <a:custGeom>
            <a:avLst/>
            <a:gdLst/>
            <a:ahLst/>
            <a:cxnLst/>
            <a:rect l="0" t="0" r="r" b="b"/>
            <a:pathLst>
              <a:path w="1301750" h="596900">
                <a:moveTo>
                  <a:pt x="1301750" y="0"/>
                </a:moveTo>
                <a:cubicBezTo>
                  <a:pt x="1301750" y="292100"/>
                  <a:pt x="0" y="228600"/>
                  <a:pt x="0" y="596900"/>
                </a:cubicBezTo>
              </a:path>
            </a:pathLst>
          </a:custGeom>
          <a:noFill/>
          <a:ln w="12700" cap="rnd">
            <a:solidFill>
              <a:srgbClr val="2E77C2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cv-3"/>
          <p:cNvSpPr/>
          <p:nvPr/>
        </p:nvSpPr>
        <p:spPr>
          <a:xfrm>
            <a:off x="6096000" y="4064000"/>
            <a:ext cx="3905250" cy="596900"/>
          </a:xfrm>
          <a:custGeom>
            <a:avLst/>
            <a:gdLst/>
            <a:ahLst/>
            <a:cxnLst/>
            <a:rect l="0" t="0" r="r" b="b"/>
            <a:pathLst>
              <a:path w="3905250" h="596900">
                <a:moveTo>
                  <a:pt x="3905250" y="0"/>
                </a:moveTo>
                <a:cubicBezTo>
                  <a:pt x="3905250" y="292100"/>
                  <a:pt x="0" y="228600"/>
                  <a:pt x="0" y="596900"/>
                </a:cubicBezTo>
              </a:path>
            </a:pathLst>
          </a:custGeom>
          <a:noFill/>
          <a:ln w="12700" cap="rnd">
            <a:solidFill>
              <a:srgbClr val="2E77C2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cv-h"/>
          <p:cNvSpPr/>
          <p:nvPr/>
        </p:nvSpPr>
        <p:spPr>
          <a:xfrm>
            <a:off x="6051878" y="4670425"/>
            <a:ext cx="88244" cy="78804"/>
          </a:xfrm>
          <a:custGeom>
            <a:avLst/>
            <a:gdLst/>
            <a:ahLst/>
            <a:cxnLst/>
            <a:rect l="0" t="0" r="r" b="b"/>
            <a:pathLst>
              <a:path w="88244" h="78804">
                <a:moveTo>
                  <a:pt x="52123" y="71882"/>
                </a:moveTo>
                <a:quadBezTo>
                  <a:pt x="44122" y="85725"/>
                  <a:pt x="36121" y="71882"/>
                </a:quadBezTo>
                <a:lnTo>
                  <a:pt x="2657" y="13843"/>
                </a:lnTo>
                <a:quadBezTo>
                  <a:pt x="-5344" y="0"/>
                  <a:pt x="10658" y="0"/>
                </a:quadBezTo>
                <a:lnTo>
                  <a:pt x="77587" y="0"/>
                </a:lnTo>
                <a:quadBezTo>
                  <a:pt x="93589" y="0"/>
                  <a:pt x="85588" y="13843"/>
                </a:quad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out"/>
          <p:cNvSpPr/>
          <p:nvPr/>
        </p:nvSpPr>
        <p:spPr>
          <a:xfrm>
            <a:off x="952500" y="4800600"/>
            <a:ext cx="10287000" cy="1079500"/>
          </a:xfrm>
          <a:custGeom>
            <a:avLst/>
            <a:gdLst/>
            <a:ahLst/>
            <a:cxnLst/>
            <a:rect l="0" t="0" r="r" b="b"/>
            <a:pathLst>
              <a:path w="10287000" h="1079500">
                <a:moveTo>
                  <a:pt x="165100" y="0"/>
                </a:moveTo>
                <a:lnTo>
                  <a:pt x="10121900" y="0"/>
                </a:lnTo>
                <a:cubicBezTo>
                  <a:pt x="10213086" y="0"/>
                  <a:pt x="10287000" y="73914"/>
                  <a:pt x="10287000" y="165100"/>
                </a:cubicBezTo>
                <a:lnTo>
                  <a:pt x="10287000" y="914400"/>
                </a:lnTo>
                <a:cubicBezTo>
                  <a:pt x="10287000" y="1005586"/>
                  <a:pt x="10213086" y="1079500"/>
                  <a:pt x="10121900" y="1079500"/>
                </a:cubicBezTo>
                <a:lnTo>
                  <a:pt x="165100" y="1079500"/>
                </a:lnTo>
                <a:cubicBezTo>
                  <a:pt x="73914" y="1079500"/>
                  <a:pt x="0" y="1005586"/>
                  <a:pt x="0" y="9144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6" name="out-h"/>
          <p:cNvSpPr/>
          <p:nvPr/>
        </p:nvSpPr>
        <p:spPr>
          <a:xfrm>
            <a:off x="952500" y="4800600"/>
            <a:ext cx="2095500" cy="1079500"/>
          </a:xfrm>
          <a:custGeom>
            <a:avLst/>
            <a:gdLst/>
            <a:ahLst/>
            <a:cxnLst/>
            <a:rect l="0" t="0" r="r" b="b"/>
            <a:pathLst>
              <a:path w="2095500" h="1079500">
                <a:moveTo>
                  <a:pt x="165100" y="0"/>
                </a:moveTo>
                <a:lnTo>
                  <a:pt x="1930400" y="0"/>
                </a:lnTo>
                <a:cubicBezTo>
                  <a:pt x="2021586" y="0"/>
                  <a:pt x="2095500" y="73914"/>
                  <a:pt x="2095500" y="165100"/>
                </a:cubicBezTo>
                <a:lnTo>
                  <a:pt x="2095500" y="914400"/>
                </a:lnTo>
                <a:cubicBezTo>
                  <a:pt x="2095500" y="1005586"/>
                  <a:pt x="2021586" y="1079500"/>
                  <a:pt x="1930400" y="1079500"/>
                </a:cubicBezTo>
                <a:lnTo>
                  <a:pt x="165100" y="1079500"/>
                </a:lnTo>
                <a:cubicBezTo>
                  <a:pt x="73914" y="1079500"/>
                  <a:pt x="0" y="1005586"/>
                  <a:pt x="0" y="914400"/>
                </a:cubicBezTo>
                <a:lnTo>
                  <a:pt x="0" y="165100"/>
                </a:lnTo>
                <a:cubicBezTo>
                  <a:pt x="0" y="73914"/>
                  <a:pt x="73914" y="0"/>
                  <a:pt x="165100" y="0"/>
                </a:cubicBezTo>
                <a:close/>
              </a:path>
            </a:pathLst>
          </a:custGeom>
          <a:gradFill rotWithShape="1">
            <a:gsLst>
              <a:gs pos="0">
                <a:srgbClr val="E8793F"/>
              </a:gs>
              <a:gs pos="100000">
                <a:srgbClr val="C95A22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out-h2"/>
          <p:cNvSpPr/>
          <p:nvPr/>
        </p:nvSpPr>
        <p:spPr>
          <a:xfrm>
            <a:off x="2857500" y="4800600"/>
            <a:ext cx="190500" cy="1079500"/>
          </a:xfrm>
          <a:prstGeom prst="rect">
            <a:avLst/>
          </a:prstGeom>
          <a:solidFill>
            <a:srgbClr val="C95A2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8" name="out-t"/>
          <p:cNvSpPr txBox="1"/>
          <p:nvPr/>
        </p:nvSpPr>
        <p:spPr>
          <a:xfrm>
            <a:off x="1162050" y="5087144"/>
            <a:ext cx="1133475" cy="2778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25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Q4 交付结果</a:t>
            </a:r>
          </a:p>
        </p:txBody>
      </p:sp>
      <p:sp>
        <p:nvSpPr>
          <p:cNvPr id="79" name="out-d"/>
          <p:cNvSpPr txBox="1"/>
          <p:nvPr/>
        </p:nvSpPr>
        <p:spPr>
          <a:xfrm>
            <a:off x="1169289" y="5402945"/>
            <a:ext cx="1072832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FFE3D2"/>
                </a:solidFill>
                <a:latin typeface="微软雅黑"/>
                <a:ea typeface="微软雅黑"/>
                <a:cs typeface="微软雅黑"/>
              </a:rPr>
              <a:t>批准后第一个完整季度</a:t>
            </a:r>
          </a:p>
        </p:txBody>
      </p:sp>
      <p:sp>
        <p:nvSpPr>
          <p:cNvPr id="80" name="oa-0"/>
          <p:cNvSpPr txBox="1"/>
          <p:nvPr/>
        </p:nvSpPr>
        <p:spPr>
          <a:xfrm>
            <a:off x="3289046" y="5086382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新签客户</a:t>
            </a:r>
          </a:p>
        </p:txBody>
      </p:sp>
      <p:sp>
        <p:nvSpPr>
          <p:cNvPr id="81" name="ob-0"/>
          <p:cNvSpPr txBox="1"/>
          <p:nvPr/>
        </p:nvSpPr>
        <p:spPr>
          <a:xfrm>
            <a:off x="3268472" y="5255641"/>
            <a:ext cx="131318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+120 家</a:t>
            </a:r>
          </a:p>
        </p:txBody>
      </p:sp>
      <p:cxnSp>
        <p:nvCxnSpPr>
          <p:cNvPr id="82" name="od-1"/>
          <p:cNvCxnSpPr/>
          <p:nvPr/>
        </p:nvCxnSpPr>
        <p:spPr>
          <a:xfrm>
            <a:off x="5778500" y="5054600"/>
            <a:ext cx="0" cy="5715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3" name="oa-1"/>
          <p:cNvSpPr txBox="1"/>
          <p:nvPr/>
        </p:nvSpPr>
        <p:spPr>
          <a:xfrm>
            <a:off x="5956046" y="5086382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季度营收</a:t>
            </a:r>
          </a:p>
        </p:txBody>
      </p:sp>
      <p:sp>
        <p:nvSpPr>
          <p:cNvPr id="84" name="ob-1"/>
          <p:cNvSpPr txBox="1"/>
          <p:nvPr/>
        </p:nvSpPr>
        <p:spPr>
          <a:xfrm>
            <a:off x="5935472" y="5255641"/>
            <a:ext cx="1156716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3.6 亿</a:t>
            </a:r>
          </a:p>
        </p:txBody>
      </p:sp>
      <p:cxnSp>
        <p:nvCxnSpPr>
          <p:cNvPr id="85" name="od-2"/>
          <p:cNvCxnSpPr/>
          <p:nvPr/>
        </p:nvCxnSpPr>
        <p:spPr>
          <a:xfrm>
            <a:off x="8445500" y="5054600"/>
            <a:ext cx="0" cy="57150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6" name="oa-2"/>
          <p:cNvSpPr txBox="1"/>
          <p:nvPr/>
        </p:nvSpPr>
        <p:spPr>
          <a:xfrm>
            <a:off x="8623046" y="5086382"/>
            <a:ext cx="5543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回款周期</a:t>
            </a:r>
          </a:p>
        </p:txBody>
      </p:sp>
      <p:sp>
        <p:nvSpPr>
          <p:cNvPr id="87" name="ob-2"/>
          <p:cNvSpPr txBox="1"/>
          <p:nvPr/>
        </p:nvSpPr>
        <p:spPr>
          <a:xfrm>
            <a:off x="8602472" y="5255641"/>
            <a:ext cx="1715516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缩短 15 天</a:t>
            </a:r>
          </a:p>
        </p:txBody>
      </p:sp>
      <p:cxnSp>
        <p:nvCxnSpPr>
          <p:cNvPr id="88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9" name="foot-l"/>
          <p:cNvSpPr txBox="1"/>
          <p:nvPr/>
        </p:nvSpPr>
        <p:spPr>
          <a:xfrm>
            <a:off x="573532" y="6532308"/>
            <a:ext cx="104533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资源申请 · 四项支持</a:t>
            </a:r>
          </a:p>
        </p:txBody>
      </p:sp>
      <p:sp>
        <p:nvSpPr>
          <p:cNvPr id="90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bg-corner"/>
          <p:cNvSpPr/>
          <p:nvPr/>
        </p:nvSpPr>
        <p:spPr>
          <a:xfrm>
            <a:off x="9499600" y="-2870200"/>
            <a:ext cx="3886200" cy="3886200"/>
          </a:xfrm>
          <a:prstGeom prst="ellipse">
            <a:avLst/>
          </a:prstGeom>
          <a:solidFill>
            <a:srgbClr val="E7EE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bg-corner2"/>
          <p:cNvSpPr/>
          <p:nvPr/>
        </p:nvSpPr>
        <p:spPr>
          <a:xfrm>
            <a:off x="-2667000" y="5651500"/>
            <a:ext cx="3810000" cy="3810000"/>
          </a:xfrm>
          <a:prstGeom prst="ellipse">
            <a:avLst/>
          </a:prstGeom>
          <a:solidFill>
            <a:srgbClr val="EEF3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title-bar"/>
          <p:cNvSpPr/>
          <p:nvPr/>
        </p:nvSpPr>
        <p:spPr>
          <a:xfrm>
            <a:off x="584200" y="482600"/>
            <a:ext cx="31750" cy="495300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title-bar-accent"/>
          <p:cNvSpPr/>
          <p:nvPr/>
        </p:nvSpPr>
        <p:spPr>
          <a:xfrm>
            <a:off x="584200" y="482600"/>
            <a:ext cx="31750" cy="17145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title-cn"/>
          <p:cNvSpPr txBox="1"/>
          <p:nvPr/>
        </p:nvSpPr>
        <p:spPr>
          <a:xfrm>
            <a:off x="741172" y="397891"/>
            <a:ext cx="3299460" cy="4889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2200" b="1" spc="2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附录：数据口径与来源</a:t>
            </a:r>
          </a:p>
        </p:txBody>
      </p:sp>
      <p:sp>
        <p:nvSpPr>
          <p:cNvPr id="8" name="title-en"/>
          <p:cNvSpPr txBox="1"/>
          <p:nvPr/>
        </p:nvSpPr>
        <p:spPr>
          <a:xfrm>
            <a:off x="776732" y="823658"/>
            <a:ext cx="1172718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325">
                <a:solidFill>
                  <a:srgbClr val="7E93AE"/>
                </a:solidFill>
                <a:latin typeface="Arial"/>
                <a:ea typeface="Arial"/>
                <a:cs typeface="Arial"/>
              </a:rPr>
              <a:t>DATA SOURCES</a:t>
            </a:r>
          </a:p>
        </p:txBody>
      </p:sp>
      <p:sp>
        <p:nvSpPr>
          <p:cNvPr id="9" name="title-sub"/>
          <p:cNvSpPr txBox="1"/>
          <p:nvPr/>
        </p:nvSpPr>
        <p:spPr>
          <a:xfrm>
            <a:off x="8418195" y="673132"/>
            <a:ext cx="3202559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850" b="0" spc="5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报告里七类数字从哪来、多久更新、有多可靠——一页交代清楚</a:t>
            </a:r>
          </a:p>
        </p:txBody>
      </p:sp>
      <p:sp>
        <p:nvSpPr>
          <p:cNvPr id="10" name="hero"/>
          <p:cNvSpPr/>
          <p:nvPr/>
        </p:nvSpPr>
        <p:spPr>
          <a:xfrm>
            <a:off x="952500" y="1498600"/>
            <a:ext cx="2286000" cy="4381500"/>
          </a:xfrm>
          <a:custGeom>
            <a:avLst/>
            <a:gdLst/>
            <a:ahLst/>
            <a:cxnLst/>
            <a:rect l="0" t="0" r="r" b="b"/>
            <a:pathLst>
              <a:path w="2286000" h="4381500">
                <a:moveTo>
                  <a:pt x="177800" y="0"/>
                </a:moveTo>
                <a:lnTo>
                  <a:pt x="2108200" y="0"/>
                </a:lnTo>
                <a:cubicBezTo>
                  <a:pt x="2206371" y="0"/>
                  <a:pt x="2286000" y="79629"/>
                  <a:pt x="2286000" y="177800"/>
                </a:cubicBezTo>
                <a:lnTo>
                  <a:pt x="2286000" y="4203700"/>
                </a:lnTo>
                <a:cubicBezTo>
                  <a:pt x="2286000" y="4301871"/>
                  <a:pt x="2206371" y="4381500"/>
                  <a:pt x="2108200" y="4381500"/>
                </a:cubicBezTo>
                <a:lnTo>
                  <a:pt x="177800" y="4381500"/>
                </a:lnTo>
                <a:cubicBezTo>
                  <a:pt x="79629" y="4381500"/>
                  <a:pt x="0" y="4301871"/>
                  <a:pt x="0" y="4203700"/>
                </a:cubicBezTo>
                <a:lnTo>
                  <a:pt x="0" y="177800"/>
                </a:lnTo>
                <a:cubicBezTo>
                  <a:pt x="0" y="79629"/>
                  <a:pt x="79629" y="0"/>
                  <a:pt x="177800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8100000" scaled="0"/>
          </a:gra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hero-deco"/>
          <p:cNvSpPr/>
          <p:nvPr/>
        </p:nvSpPr>
        <p:spPr>
          <a:xfrm>
            <a:off x="2286000" y="1206500"/>
            <a:ext cx="1397000" cy="1397000"/>
          </a:xfrm>
          <a:prstGeom prst="ellipse">
            <a:avLst/>
          </a:prstGeom>
          <a:solidFill>
            <a:srgbClr val="FFFFFF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hero-en"/>
          <p:cNvSpPr txBox="1"/>
          <p:nvPr/>
        </p:nvSpPr>
        <p:spPr>
          <a:xfrm>
            <a:off x="1167384" y="1738440"/>
            <a:ext cx="818134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200">
                <a:solidFill>
                  <a:srgbClr val="9FC0E8"/>
                </a:solidFill>
                <a:latin typeface="Arial"/>
                <a:ea typeface="Arial"/>
                <a:cs typeface="Arial"/>
              </a:rPr>
              <a:t>APPENDIX</a:t>
            </a:r>
          </a:p>
        </p:txBody>
      </p:sp>
      <p:sp>
        <p:nvSpPr>
          <p:cNvPr id="13" name="hero-v"/>
          <p:cNvSpPr txBox="1"/>
          <p:nvPr/>
        </p:nvSpPr>
        <p:spPr>
          <a:xfrm>
            <a:off x="1097280" y="1677352"/>
            <a:ext cx="1019810" cy="1222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55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7</a:t>
            </a:r>
          </a:p>
        </p:txBody>
      </p:sp>
      <p:sp>
        <p:nvSpPr>
          <p:cNvPr id="14" name="hero-u"/>
          <p:cNvSpPr txBox="1"/>
          <p:nvPr/>
        </p:nvSpPr>
        <p:spPr>
          <a:xfrm>
            <a:off x="1642364" y="2295017"/>
            <a:ext cx="7315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1" spc="10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类数据</a:t>
            </a:r>
          </a:p>
        </p:txBody>
      </p:sp>
      <p:sp>
        <p:nvSpPr>
          <p:cNvPr id="15" name="hero-d"/>
          <p:cNvSpPr txBox="1"/>
          <p:nvPr/>
        </p:nvSpPr>
        <p:spPr>
          <a:xfrm>
            <a:off x="1167384" y="2690940"/>
            <a:ext cx="1245870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0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统一口径后再讨论数字</a:t>
            </a:r>
          </a:p>
        </p:txBody>
      </p:sp>
      <p:cxnSp>
        <p:nvCxnSpPr>
          <p:cNvPr id="16" name="hero-l"/>
          <p:cNvCxnSpPr/>
          <p:nvPr/>
        </p:nvCxnSpPr>
        <p:spPr>
          <a:xfrm>
            <a:off x="1181100" y="3111500"/>
            <a:ext cx="1828800" cy="0"/>
          </a:xfrm>
          <a:prstGeom prst="line">
            <a:avLst/>
          </a:prstGeom>
          <a:ln w="6350" cap="rnd">
            <a:solidFill>
              <a:srgbClr val="FFFFFF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cf-h"/>
          <p:cNvSpPr txBox="1"/>
          <p:nvPr/>
        </p:nvSpPr>
        <p:spPr>
          <a:xfrm>
            <a:off x="1168146" y="3282982"/>
            <a:ext cx="668655" cy="18891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50" b="1" spc="50">
                <a:solidFill>
                  <a:srgbClr val="FFFFFF"/>
                </a:solidFill>
                <a:latin typeface="微软雅黑"/>
                <a:ea typeface="微软雅黑"/>
                <a:cs typeface="微软雅黑"/>
              </a:rPr>
              <a:t>可信度说明</a:t>
            </a:r>
          </a:p>
        </p:txBody>
      </p:sp>
      <p:sp>
        <p:nvSpPr>
          <p:cNvPr id="18" name="cf-0-0"/>
          <p:cNvSpPr/>
          <p:nvPr/>
        </p:nvSpPr>
        <p:spPr>
          <a:xfrm>
            <a:off x="1225550" y="3702050"/>
            <a:ext cx="88900" cy="88900"/>
          </a:xfrm>
          <a:prstGeom prst="ellipse">
            <a:avLst/>
          </a:prstGeom>
          <a:solidFill>
            <a:srgbClr val="FFFFFF"/>
          </a:solidFill>
          <a:ln w="9525" cap="rnd">
            <a:solidFill>
              <a:srgbClr val="FFFFFF">
                <a:alpha val="8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cf-0-1"/>
          <p:cNvSpPr/>
          <p:nvPr/>
        </p:nvSpPr>
        <p:spPr>
          <a:xfrm>
            <a:off x="1365250" y="3702050"/>
            <a:ext cx="88900" cy="88900"/>
          </a:xfrm>
          <a:prstGeom prst="ellipse">
            <a:avLst/>
          </a:prstGeom>
          <a:solidFill>
            <a:srgbClr val="FFFFFF"/>
          </a:solidFill>
          <a:ln w="9525" cap="rnd">
            <a:solidFill>
              <a:srgbClr val="FFFFFF">
                <a:alpha val="8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cf-0-2"/>
          <p:cNvSpPr/>
          <p:nvPr/>
        </p:nvSpPr>
        <p:spPr>
          <a:xfrm>
            <a:off x="1504950" y="3702050"/>
            <a:ext cx="88900" cy="88900"/>
          </a:xfrm>
          <a:prstGeom prst="ellipse">
            <a:avLst/>
          </a:prstGeom>
          <a:solidFill>
            <a:srgbClr val="FFFFFF"/>
          </a:solidFill>
          <a:ln w="9525" cap="rnd">
            <a:solidFill>
              <a:srgbClr val="FFFFFF">
                <a:alpha val="8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cft-0"/>
          <p:cNvSpPr txBox="1"/>
          <p:nvPr/>
        </p:nvSpPr>
        <p:spPr>
          <a:xfrm>
            <a:off x="1715389" y="3669395"/>
            <a:ext cx="1139761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高 · 系统直出，可审计</a:t>
            </a:r>
          </a:p>
        </p:txBody>
      </p:sp>
      <p:sp>
        <p:nvSpPr>
          <p:cNvPr id="22" name="cf-1-0"/>
          <p:cNvSpPr/>
          <p:nvPr/>
        </p:nvSpPr>
        <p:spPr>
          <a:xfrm>
            <a:off x="1225550" y="4248150"/>
            <a:ext cx="88900" cy="88900"/>
          </a:xfrm>
          <a:prstGeom prst="ellipse">
            <a:avLst/>
          </a:prstGeom>
          <a:solidFill>
            <a:srgbClr val="FFFFFF"/>
          </a:solidFill>
          <a:ln w="9525" cap="rnd">
            <a:solidFill>
              <a:srgbClr val="FFFFFF">
                <a:alpha val="8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3" name="cf-1-1"/>
          <p:cNvSpPr/>
          <p:nvPr/>
        </p:nvSpPr>
        <p:spPr>
          <a:xfrm>
            <a:off x="1365250" y="4248150"/>
            <a:ext cx="88900" cy="88900"/>
          </a:xfrm>
          <a:prstGeom prst="ellipse">
            <a:avLst/>
          </a:prstGeom>
          <a:solidFill>
            <a:srgbClr val="FFFFFF"/>
          </a:solidFill>
          <a:ln w="9525" cap="rnd">
            <a:solidFill>
              <a:srgbClr val="FFFFFF">
                <a:alpha val="8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4" name="cf-1-2"/>
          <p:cNvSpPr/>
          <p:nvPr/>
        </p:nvSpPr>
        <p:spPr>
          <a:xfrm>
            <a:off x="1504950" y="4248150"/>
            <a:ext cx="88900" cy="88900"/>
          </a:xfrm>
          <a:prstGeom prst="ellipse">
            <a:avLst/>
          </a:prstGeom>
          <a:noFill/>
          <a:ln w="9525" cap="rnd">
            <a:solidFill>
              <a:srgbClr val="FFFFFF">
                <a:alpha val="8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cft-1"/>
          <p:cNvSpPr txBox="1"/>
          <p:nvPr/>
        </p:nvSpPr>
        <p:spPr>
          <a:xfrm>
            <a:off x="1715389" y="4215495"/>
            <a:ext cx="1238186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中 · 外部或抽样，有误差</a:t>
            </a:r>
          </a:p>
        </p:txBody>
      </p:sp>
      <p:sp>
        <p:nvSpPr>
          <p:cNvPr id="26" name="cf-2-0"/>
          <p:cNvSpPr/>
          <p:nvPr/>
        </p:nvSpPr>
        <p:spPr>
          <a:xfrm>
            <a:off x="1225550" y="4794250"/>
            <a:ext cx="88900" cy="88900"/>
          </a:xfrm>
          <a:prstGeom prst="ellipse">
            <a:avLst/>
          </a:prstGeom>
          <a:solidFill>
            <a:srgbClr val="FFFFFF"/>
          </a:solidFill>
          <a:ln w="9525" cap="rnd">
            <a:solidFill>
              <a:srgbClr val="FFFFFF">
                <a:alpha val="8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7" name="cf-2-1"/>
          <p:cNvSpPr/>
          <p:nvPr/>
        </p:nvSpPr>
        <p:spPr>
          <a:xfrm>
            <a:off x="1365250" y="4794250"/>
            <a:ext cx="88900" cy="88900"/>
          </a:xfrm>
          <a:prstGeom prst="ellipse">
            <a:avLst/>
          </a:prstGeom>
          <a:noFill/>
          <a:ln w="9525" cap="rnd">
            <a:solidFill>
              <a:srgbClr val="FFFFFF">
                <a:alpha val="8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cf-2-2"/>
          <p:cNvSpPr/>
          <p:nvPr/>
        </p:nvSpPr>
        <p:spPr>
          <a:xfrm>
            <a:off x="1504950" y="4794250"/>
            <a:ext cx="88900" cy="88900"/>
          </a:xfrm>
          <a:prstGeom prst="ellipse">
            <a:avLst/>
          </a:prstGeom>
          <a:noFill/>
          <a:ln w="9525" cap="rnd">
            <a:solidFill>
              <a:srgbClr val="FFFFFF">
                <a:alpha val="8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9" name="cft-2"/>
          <p:cNvSpPr txBox="1"/>
          <p:nvPr/>
        </p:nvSpPr>
        <p:spPr>
          <a:xfrm>
            <a:off x="1715389" y="4761595"/>
            <a:ext cx="1041336" cy="17224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80" b="0">
                <a:solidFill>
                  <a:srgbClr val="E3EDF9"/>
                </a:solidFill>
                <a:latin typeface="微软雅黑"/>
                <a:ea typeface="微软雅黑"/>
                <a:cs typeface="微软雅黑"/>
              </a:rPr>
              <a:t>低 · 估算，只看方向</a:t>
            </a:r>
          </a:p>
        </p:txBody>
      </p:sp>
      <p:sp>
        <p:nvSpPr>
          <p:cNvPr id="30" name="hero-f"/>
          <p:cNvSpPr txBox="1"/>
          <p:nvPr/>
        </p:nvSpPr>
        <p:spPr>
          <a:xfrm>
            <a:off x="1170432" y="5541708"/>
            <a:ext cx="1349502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>
                <a:solidFill>
                  <a:srgbClr val="9FC0E8"/>
                </a:solidFill>
                <a:latin typeface="微软雅黑"/>
                <a:ea typeface="微软雅黑"/>
                <a:cs typeface="微软雅黑"/>
              </a:rPr>
              <a:t>数据截至 2026 年 9 月 30 日</a:t>
            </a:r>
          </a:p>
        </p:txBody>
      </p:sp>
      <p:sp>
        <p:nvSpPr>
          <p:cNvPr id="31" name="th-0"/>
          <p:cNvSpPr txBox="1"/>
          <p:nvPr/>
        </p:nvSpPr>
        <p:spPr>
          <a:xfrm>
            <a:off x="3481070" y="1546066"/>
            <a:ext cx="4095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数据项</a:t>
            </a:r>
          </a:p>
        </p:txBody>
      </p:sp>
      <p:sp>
        <p:nvSpPr>
          <p:cNvPr id="32" name="th-1"/>
          <p:cNvSpPr txBox="1"/>
          <p:nvPr/>
        </p:nvSpPr>
        <p:spPr>
          <a:xfrm>
            <a:off x="5259070" y="1546066"/>
            <a:ext cx="5175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统计口径</a:t>
            </a:r>
          </a:p>
        </p:txBody>
      </p:sp>
      <p:sp>
        <p:nvSpPr>
          <p:cNvPr id="33" name="th-2"/>
          <p:cNvSpPr txBox="1"/>
          <p:nvPr/>
        </p:nvSpPr>
        <p:spPr>
          <a:xfrm>
            <a:off x="7608570" y="1546066"/>
            <a:ext cx="3016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来源</a:t>
            </a:r>
          </a:p>
        </p:txBody>
      </p:sp>
      <p:sp>
        <p:nvSpPr>
          <p:cNvPr id="34" name="th-3"/>
          <p:cNvSpPr txBox="1"/>
          <p:nvPr/>
        </p:nvSpPr>
        <p:spPr>
          <a:xfrm>
            <a:off x="9132570" y="1546066"/>
            <a:ext cx="3016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更新</a:t>
            </a:r>
          </a:p>
        </p:txBody>
      </p:sp>
      <p:sp>
        <p:nvSpPr>
          <p:cNvPr id="35" name="th-4"/>
          <p:cNvSpPr txBox="1"/>
          <p:nvPr/>
        </p:nvSpPr>
        <p:spPr>
          <a:xfrm>
            <a:off x="10402570" y="1546066"/>
            <a:ext cx="40957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可信度</a:t>
            </a:r>
          </a:p>
        </p:txBody>
      </p:sp>
      <p:sp>
        <p:nvSpPr>
          <p:cNvPr id="36" name="r-0"/>
          <p:cNvSpPr/>
          <p:nvPr/>
        </p:nvSpPr>
        <p:spPr>
          <a:xfrm>
            <a:off x="3429000" y="1790700"/>
            <a:ext cx="7810500" cy="508000"/>
          </a:xfrm>
          <a:custGeom>
            <a:avLst/>
            <a:gdLst/>
            <a:ahLst/>
            <a:cxnLst/>
            <a:rect l="0" t="0" r="r" b="b"/>
            <a:pathLst>
              <a:path w="7810500" h="508000">
                <a:moveTo>
                  <a:pt x="114300" y="0"/>
                </a:moveTo>
                <a:lnTo>
                  <a:pt x="7696200" y="0"/>
                </a:lnTo>
                <a:cubicBezTo>
                  <a:pt x="7759319" y="0"/>
                  <a:pt x="7810500" y="51181"/>
                  <a:pt x="7810500" y="114300"/>
                </a:cubicBezTo>
                <a:lnTo>
                  <a:pt x="7810500" y="393700"/>
                </a:lnTo>
                <a:cubicBezTo>
                  <a:pt x="7810500" y="456819"/>
                  <a:pt x="7759319" y="508000"/>
                  <a:pt x="7696200" y="508000"/>
                </a:cubicBezTo>
                <a:lnTo>
                  <a:pt x="114300" y="508000"/>
                </a:lnTo>
                <a:cubicBezTo>
                  <a:pt x="51181" y="508000"/>
                  <a:pt x="0" y="456819"/>
                  <a:pt x="0" y="393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7" name="ra-0"/>
          <p:cNvSpPr txBox="1"/>
          <p:nvPr/>
        </p:nvSpPr>
        <p:spPr>
          <a:xfrm>
            <a:off x="3566922" y="1959197"/>
            <a:ext cx="743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营收与利润</a:t>
            </a:r>
          </a:p>
        </p:txBody>
      </p:sp>
      <p:sp>
        <p:nvSpPr>
          <p:cNvPr id="38" name="rb-0"/>
          <p:cNvSpPr txBox="1"/>
          <p:nvPr/>
        </p:nvSpPr>
        <p:spPr>
          <a:xfrm>
            <a:off x="5321808" y="1982724"/>
            <a:ext cx="11074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按权责发生制，含税前</a:t>
            </a:r>
          </a:p>
        </p:txBody>
      </p:sp>
      <p:sp>
        <p:nvSpPr>
          <p:cNvPr id="39" name="rc-0"/>
          <p:cNvSpPr txBox="1"/>
          <p:nvPr/>
        </p:nvSpPr>
        <p:spPr>
          <a:xfrm>
            <a:off x="7671308" y="1982724"/>
            <a:ext cx="10749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财务系统 · 月结报表</a:t>
            </a:r>
          </a:p>
        </p:txBody>
      </p:sp>
      <p:sp>
        <p:nvSpPr>
          <p:cNvPr id="40" name="rdb-0"/>
          <p:cNvSpPr/>
          <p:nvPr/>
        </p:nvSpPr>
        <p:spPr>
          <a:xfrm>
            <a:off x="9207500" y="1943100"/>
            <a:ext cx="381000" cy="203200"/>
          </a:xfrm>
          <a:custGeom>
            <a:avLst/>
            <a:gdLst/>
            <a:ahLst/>
            <a:cxnLst/>
            <a:rect l="0" t="0" r="r" b="b"/>
            <a:pathLst>
              <a:path w="381000" h="203200">
                <a:moveTo>
                  <a:pt x="101600" y="0"/>
                </a:moveTo>
                <a:lnTo>
                  <a:pt x="279400" y="0"/>
                </a:lnTo>
                <a:cubicBezTo>
                  <a:pt x="335534" y="0"/>
                  <a:pt x="381000" y="45466"/>
                  <a:pt x="381000" y="101600"/>
                </a:cubicBezTo>
                <a:lnTo>
                  <a:pt x="381000" y="101600"/>
                </a:lnTo>
                <a:cubicBezTo>
                  <a:pt x="381000" y="157734"/>
                  <a:pt x="335534" y="203200"/>
                  <a:pt x="2794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1" name="rd-0"/>
          <p:cNvSpPr txBox="1"/>
          <p:nvPr/>
        </p:nvSpPr>
        <p:spPr>
          <a:xfrm>
            <a:off x="9259888" y="1965166"/>
            <a:ext cx="276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月度</a:t>
            </a:r>
          </a:p>
        </p:txBody>
      </p:sp>
      <p:sp>
        <p:nvSpPr>
          <p:cNvPr id="42" name="rf-0-0"/>
          <p:cNvSpPr/>
          <p:nvPr/>
        </p:nvSpPr>
        <p:spPr>
          <a:xfrm>
            <a:off x="10433050" y="2000250"/>
            <a:ext cx="88900" cy="889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3" name="rf-0-1"/>
          <p:cNvSpPr/>
          <p:nvPr/>
        </p:nvSpPr>
        <p:spPr>
          <a:xfrm>
            <a:off x="10572750" y="2000250"/>
            <a:ext cx="88900" cy="889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4" name="rf-0-2"/>
          <p:cNvSpPr/>
          <p:nvPr/>
        </p:nvSpPr>
        <p:spPr>
          <a:xfrm>
            <a:off x="10712450" y="2000250"/>
            <a:ext cx="88900" cy="889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5" name="rft-0"/>
          <p:cNvSpPr txBox="1"/>
          <p:nvPr/>
        </p:nvSpPr>
        <p:spPr>
          <a:xfrm>
            <a:off x="10947908" y="1957324"/>
            <a:ext cx="1930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高</a:t>
            </a:r>
          </a:p>
        </p:txBody>
      </p:sp>
      <p:sp>
        <p:nvSpPr>
          <p:cNvPr id="46" name="r-1"/>
          <p:cNvSpPr/>
          <p:nvPr/>
        </p:nvSpPr>
        <p:spPr>
          <a:xfrm>
            <a:off x="3429000" y="2374900"/>
            <a:ext cx="7810500" cy="508000"/>
          </a:xfrm>
          <a:custGeom>
            <a:avLst/>
            <a:gdLst/>
            <a:ahLst/>
            <a:cxnLst/>
            <a:rect l="0" t="0" r="r" b="b"/>
            <a:pathLst>
              <a:path w="7810500" h="508000">
                <a:moveTo>
                  <a:pt x="114300" y="0"/>
                </a:moveTo>
                <a:lnTo>
                  <a:pt x="7696200" y="0"/>
                </a:lnTo>
                <a:cubicBezTo>
                  <a:pt x="7759319" y="0"/>
                  <a:pt x="7810500" y="51181"/>
                  <a:pt x="7810500" y="114300"/>
                </a:cubicBezTo>
                <a:lnTo>
                  <a:pt x="7810500" y="393700"/>
                </a:lnTo>
                <a:cubicBezTo>
                  <a:pt x="7810500" y="456819"/>
                  <a:pt x="7759319" y="508000"/>
                  <a:pt x="7696200" y="508000"/>
                </a:cubicBezTo>
                <a:lnTo>
                  <a:pt x="114300" y="508000"/>
                </a:lnTo>
                <a:cubicBezTo>
                  <a:pt x="51181" y="508000"/>
                  <a:pt x="0" y="456819"/>
                  <a:pt x="0" y="393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7" name="ra-1"/>
          <p:cNvSpPr txBox="1"/>
          <p:nvPr/>
        </p:nvSpPr>
        <p:spPr>
          <a:xfrm>
            <a:off x="3566922" y="2543397"/>
            <a:ext cx="489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客户数</a:t>
            </a:r>
          </a:p>
        </p:txBody>
      </p:sp>
      <p:sp>
        <p:nvSpPr>
          <p:cNvPr id="48" name="rb-1"/>
          <p:cNvSpPr txBox="1"/>
          <p:nvPr/>
        </p:nvSpPr>
        <p:spPr>
          <a:xfrm>
            <a:off x="5321808" y="2566924"/>
            <a:ext cx="13106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有效合同在期内的去重客户</a:t>
            </a:r>
          </a:p>
        </p:txBody>
      </p:sp>
      <p:sp>
        <p:nvSpPr>
          <p:cNvPr id="49" name="rc-1"/>
          <p:cNvSpPr txBox="1"/>
          <p:nvPr/>
        </p:nvSpPr>
        <p:spPr>
          <a:xfrm>
            <a:off x="7671308" y="2566924"/>
            <a:ext cx="8392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CRM · 合同模块</a:t>
            </a:r>
          </a:p>
        </p:txBody>
      </p:sp>
      <p:sp>
        <p:nvSpPr>
          <p:cNvPr id="50" name="rdb-1"/>
          <p:cNvSpPr/>
          <p:nvPr/>
        </p:nvSpPr>
        <p:spPr>
          <a:xfrm>
            <a:off x="9207500" y="2527300"/>
            <a:ext cx="381000" cy="203200"/>
          </a:xfrm>
          <a:custGeom>
            <a:avLst/>
            <a:gdLst/>
            <a:ahLst/>
            <a:cxnLst/>
            <a:rect l="0" t="0" r="r" b="b"/>
            <a:pathLst>
              <a:path w="381000" h="203200">
                <a:moveTo>
                  <a:pt x="101600" y="0"/>
                </a:moveTo>
                <a:lnTo>
                  <a:pt x="279400" y="0"/>
                </a:lnTo>
                <a:cubicBezTo>
                  <a:pt x="335534" y="0"/>
                  <a:pt x="381000" y="45466"/>
                  <a:pt x="381000" y="101600"/>
                </a:cubicBezTo>
                <a:lnTo>
                  <a:pt x="381000" y="101600"/>
                </a:lnTo>
                <a:cubicBezTo>
                  <a:pt x="381000" y="157734"/>
                  <a:pt x="335534" y="203200"/>
                  <a:pt x="2794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1" name="rd-1"/>
          <p:cNvSpPr txBox="1"/>
          <p:nvPr/>
        </p:nvSpPr>
        <p:spPr>
          <a:xfrm>
            <a:off x="9259888" y="2549366"/>
            <a:ext cx="276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周度</a:t>
            </a:r>
          </a:p>
        </p:txBody>
      </p:sp>
      <p:sp>
        <p:nvSpPr>
          <p:cNvPr id="52" name="rf-1-0"/>
          <p:cNvSpPr/>
          <p:nvPr/>
        </p:nvSpPr>
        <p:spPr>
          <a:xfrm>
            <a:off x="10433050" y="2584450"/>
            <a:ext cx="88900" cy="889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3" name="rf-1-1"/>
          <p:cNvSpPr/>
          <p:nvPr/>
        </p:nvSpPr>
        <p:spPr>
          <a:xfrm>
            <a:off x="10572750" y="2584450"/>
            <a:ext cx="88900" cy="889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4" name="rf-1-2"/>
          <p:cNvSpPr/>
          <p:nvPr/>
        </p:nvSpPr>
        <p:spPr>
          <a:xfrm>
            <a:off x="10712450" y="2584450"/>
            <a:ext cx="88900" cy="889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5" name="rft-1"/>
          <p:cNvSpPr txBox="1"/>
          <p:nvPr/>
        </p:nvSpPr>
        <p:spPr>
          <a:xfrm>
            <a:off x="10947908" y="2541524"/>
            <a:ext cx="1930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高</a:t>
            </a:r>
          </a:p>
        </p:txBody>
      </p:sp>
      <p:sp>
        <p:nvSpPr>
          <p:cNvPr id="56" name="r-2"/>
          <p:cNvSpPr/>
          <p:nvPr/>
        </p:nvSpPr>
        <p:spPr>
          <a:xfrm>
            <a:off x="3429000" y="2959100"/>
            <a:ext cx="7810500" cy="508000"/>
          </a:xfrm>
          <a:custGeom>
            <a:avLst/>
            <a:gdLst/>
            <a:ahLst/>
            <a:cxnLst/>
            <a:rect l="0" t="0" r="r" b="b"/>
            <a:pathLst>
              <a:path w="7810500" h="508000">
                <a:moveTo>
                  <a:pt x="114300" y="0"/>
                </a:moveTo>
                <a:lnTo>
                  <a:pt x="7696200" y="0"/>
                </a:lnTo>
                <a:cubicBezTo>
                  <a:pt x="7759319" y="0"/>
                  <a:pt x="7810500" y="51181"/>
                  <a:pt x="7810500" y="114300"/>
                </a:cubicBezTo>
                <a:lnTo>
                  <a:pt x="7810500" y="393700"/>
                </a:lnTo>
                <a:cubicBezTo>
                  <a:pt x="7810500" y="456819"/>
                  <a:pt x="7759319" y="508000"/>
                  <a:pt x="7696200" y="508000"/>
                </a:cubicBezTo>
                <a:lnTo>
                  <a:pt x="114300" y="508000"/>
                </a:lnTo>
                <a:cubicBezTo>
                  <a:pt x="51181" y="508000"/>
                  <a:pt x="0" y="456819"/>
                  <a:pt x="0" y="393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7" name="ra-2"/>
          <p:cNvSpPr txBox="1"/>
          <p:nvPr/>
        </p:nvSpPr>
        <p:spPr>
          <a:xfrm>
            <a:off x="3566922" y="3127597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市场规模</a:t>
            </a:r>
          </a:p>
        </p:txBody>
      </p:sp>
      <p:sp>
        <p:nvSpPr>
          <p:cNvPr id="58" name="rb-2"/>
          <p:cNvSpPr txBox="1"/>
          <p:nvPr/>
        </p:nvSpPr>
        <p:spPr>
          <a:xfrm>
            <a:off x="5321808" y="3151124"/>
            <a:ext cx="9042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行业报告加权平均</a:t>
            </a:r>
          </a:p>
        </p:txBody>
      </p:sp>
      <p:sp>
        <p:nvSpPr>
          <p:cNvPr id="59" name="rc-2"/>
          <p:cNvSpPr txBox="1"/>
          <p:nvPr/>
        </p:nvSpPr>
        <p:spPr>
          <a:xfrm>
            <a:off x="7671308" y="3151124"/>
            <a:ext cx="10058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三家第三方研究机构</a:t>
            </a:r>
          </a:p>
        </p:txBody>
      </p:sp>
      <p:sp>
        <p:nvSpPr>
          <p:cNvPr id="60" name="rdb-2"/>
          <p:cNvSpPr/>
          <p:nvPr/>
        </p:nvSpPr>
        <p:spPr>
          <a:xfrm>
            <a:off x="9207500" y="3111500"/>
            <a:ext cx="381000" cy="203200"/>
          </a:xfrm>
          <a:custGeom>
            <a:avLst/>
            <a:gdLst/>
            <a:ahLst/>
            <a:cxnLst/>
            <a:rect l="0" t="0" r="r" b="b"/>
            <a:pathLst>
              <a:path w="381000" h="203200">
                <a:moveTo>
                  <a:pt x="101600" y="0"/>
                </a:moveTo>
                <a:lnTo>
                  <a:pt x="279400" y="0"/>
                </a:lnTo>
                <a:cubicBezTo>
                  <a:pt x="335534" y="0"/>
                  <a:pt x="381000" y="45466"/>
                  <a:pt x="381000" y="101600"/>
                </a:cubicBezTo>
                <a:lnTo>
                  <a:pt x="381000" y="101600"/>
                </a:lnTo>
                <a:cubicBezTo>
                  <a:pt x="381000" y="157734"/>
                  <a:pt x="335534" y="203200"/>
                  <a:pt x="2794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1" name="rd-2"/>
          <p:cNvSpPr txBox="1"/>
          <p:nvPr/>
        </p:nvSpPr>
        <p:spPr>
          <a:xfrm>
            <a:off x="9259888" y="3133566"/>
            <a:ext cx="276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年度</a:t>
            </a:r>
          </a:p>
        </p:txBody>
      </p:sp>
      <p:sp>
        <p:nvSpPr>
          <p:cNvPr id="62" name="rf-2-0"/>
          <p:cNvSpPr/>
          <p:nvPr/>
        </p:nvSpPr>
        <p:spPr>
          <a:xfrm>
            <a:off x="10433050" y="3168650"/>
            <a:ext cx="88900" cy="889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3" name="rf-2-1"/>
          <p:cNvSpPr/>
          <p:nvPr/>
        </p:nvSpPr>
        <p:spPr>
          <a:xfrm>
            <a:off x="10572750" y="3168650"/>
            <a:ext cx="88900" cy="889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4" name="rf-2-2"/>
          <p:cNvSpPr/>
          <p:nvPr/>
        </p:nvSpPr>
        <p:spPr>
          <a:xfrm>
            <a:off x="10712450" y="3168650"/>
            <a:ext cx="88900" cy="88900"/>
          </a:xfrm>
          <a:prstGeom prst="ellipse">
            <a:avLst/>
          </a:prstGeom>
          <a:solidFill>
            <a:srgbClr val="E3EB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5" name="rft-2"/>
          <p:cNvSpPr txBox="1"/>
          <p:nvPr/>
        </p:nvSpPr>
        <p:spPr>
          <a:xfrm>
            <a:off x="10947908" y="3125724"/>
            <a:ext cx="1930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中</a:t>
            </a:r>
          </a:p>
        </p:txBody>
      </p:sp>
      <p:sp>
        <p:nvSpPr>
          <p:cNvPr id="66" name="r-3"/>
          <p:cNvSpPr/>
          <p:nvPr/>
        </p:nvSpPr>
        <p:spPr>
          <a:xfrm>
            <a:off x="3429000" y="3543300"/>
            <a:ext cx="7810500" cy="508000"/>
          </a:xfrm>
          <a:custGeom>
            <a:avLst/>
            <a:gdLst/>
            <a:ahLst/>
            <a:cxnLst/>
            <a:rect l="0" t="0" r="r" b="b"/>
            <a:pathLst>
              <a:path w="7810500" h="508000">
                <a:moveTo>
                  <a:pt x="114300" y="0"/>
                </a:moveTo>
                <a:lnTo>
                  <a:pt x="7696200" y="0"/>
                </a:lnTo>
                <a:cubicBezTo>
                  <a:pt x="7759319" y="0"/>
                  <a:pt x="7810500" y="51181"/>
                  <a:pt x="7810500" y="114300"/>
                </a:cubicBezTo>
                <a:lnTo>
                  <a:pt x="7810500" y="393700"/>
                </a:lnTo>
                <a:cubicBezTo>
                  <a:pt x="7810500" y="456819"/>
                  <a:pt x="7759319" y="508000"/>
                  <a:pt x="7696200" y="508000"/>
                </a:cubicBezTo>
                <a:lnTo>
                  <a:pt x="114300" y="508000"/>
                </a:lnTo>
                <a:cubicBezTo>
                  <a:pt x="51181" y="508000"/>
                  <a:pt x="0" y="456819"/>
                  <a:pt x="0" y="393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 w="9525" cap="rnd">
            <a:solidFill>
              <a:srgbClr val="E0703A"/>
            </a:solidFill>
            <a:round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7" name="ra-3"/>
          <p:cNvSpPr txBox="1"/>
          <p:nvPr/>
        </p:nvSpPr>
        <p:spPr>
          <a:xfrm>
            <a:off x="3566922" y="3711797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竞品份额</a:t>
            </a:r>
          </a:p>
        </p:txBody>
      </p:sp>
      <p:sp>
        <p:nvSpPr>
          <p:cNvPr id="68" name="rb-3"/>
          <p:cNvSpPr txBox="1"/>
          <p:nvPr/>
        </p:nvSpPr>
        <p:spPr>
          <a:xfrm>
            <a:off x="5321808" y="3735324"/>
            <a:ext cx="12781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公开财报 + 渠道访谈估算</a:t>
            </a:r>
          </a:p>
        </p:txBody>
      </p:sp>
      <p:sp>
        <p:nvSpPr>
          <p:cNvPr id="69" name="rc-3"/>
          <p:cNvSpPr txBox="1"/>
          <p:nvPr/>
        </p:nvSpPr>
        <p:spPr>
          <a:xfrm>
            <a:off x="7671308" y="3735324"/>
            <a:ext cx="9286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财报、访谈 32 人</a:t>
            </a:r>
          </a:p>
        </p:txBody>
      </p:sp>
      <p:sp>
        <p:nvSpPr>
          <p:cNvPr id="70" name="rdb-3"/>
          <p:cNvSpPr/>
          <p:nvPr/>
        </p:nvSpPr>
        <p:spPr>
          <a:xfrm>
            <a:off x="9207500" y="3695700"/>
            <a:ext cx="381000" cy="203200"/>
          </a:xfrm>
          <a:custGeom>
            <a:avLst/>
            <a:gdLst/>
            <a:ahLst/>
            <a:cxnLst/>
            <a:rect l="0" t="0" r="r" b="b"/>
            <a:pathLst>
              <a:path w="381000" h="203200">
                <a:moveTo>
                  <a:pt x="101600" y="0"/>
                </a:moveTo>
                <a:lnTo>
                  <a:pt x="279400" y="0"/>
                </a:lnTo>
                <a:cubicBezTo>
                  <a:pt x="335534" y="0"/>
                  <a:pt x="381000" y="45466"/>
                  <a:pt x="381000" y="101600"/>
                </a:cubicBezTo>
                <a:lnTo>
                  <a:pt x="381000" y="101600"/>
                </a:lnTo>
                <a:cubicBezTo>
                  <a:pt x="381000" y="157734"/>
                  <a:pt x="335534" y="203200"/>
                  <a:pt x="2794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1" name="rd-3"/>
          <p:cNvSpPr txBox="1"/>
          <p:nvPr/>
        </p:nvSpPr>
        <p:spPr>
          <a:xfrm>
            <a:off x="9259888" y="3717766"/>
            <a:ext cx="276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半年</a:t>
            </a:r>
          </a:p>
        </p:txBody>
      </p:sp>
      <p:sp>
        <p:nvSpPr>
          <p:cNvPr id="72" name="rf-3-0"/>
          <p:cNvSpPr/>
          <p:nvPr/>
        </p:nvSpPr>
        <p:spPr>
          <a:xfrm>
            <a:off x="10433050" y="3752850"/>
            <a:ext cx="88900" cy="889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3" name="rf-3-1"/>
          <p:cNvSpPr/>
          <p:nvPr/>
        </p:nvSpPr>
        <p:spPr>
          <a:xfrm>
            <a:off x="10572750" y="3752850"/>
            <a:ext cx="88900" cy="88900"/>
          </a:xfrm>
          <a:prstGeom prst="ellipse">
            <a:avLst/>
          </a:prstGeom>
          <a:solidFill>
            <a:srgbClr val="E3EB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4" name="rf-3-2"/>
          <p:cNvSpPr/>
          <p:nvPr/>
        </p:nvSpPr>
        <p:spPr>
          <a:xfrm>
            <a:off x="10712450" y="3752850"/>
            <a:ext cx="88900" cy="88900"/>
          </a:xfrm>
          <a:prstGeom prst="ellipse">
            <a:avLst/>
          </a:prstGeom>
          <a:solidFill>
            <a:srgbClr val="E3EB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5" name="rft-3"/>
          <p:cNvSpPr txBox="1"/>
          <p:nvPr/>
        </p:nvSpPr>
        <p:spPr>
          <a:xfrm>
            <a:off x="10947908" y="3709924"/>
            <a:ext cx="1930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E0703A"/>
                </a:solidFill>
                <a:latin typeface="微软雅黑"/>
                <a:ea typeface="微软雅黑"/>
                <a:cs typeface="微软雅黑"/>
              </a:rPr>
              <a:t>低</a:t>
            </a:r>
          </a:p>
        </p:txBody>
      </p:sp>
      <p:sp>
        <p:nvSpPr>
          <p:cNvPr id="76" name="r-4"/>
          <p:cNvSpPr/>
          <p:nvPr/>
        </p:nvSpPr>
        <p:spPr>
          <a:xfrm>
            <a:off x="3429000" y="4127500"/>
            <a:ext cx="7810500" cy="508000"/>
          </a:xfrm>
          <a:custGeom>
            <a:avLst/>
            <a:gdLst/>
            <a:ahLst/>
            <a:cxnLst/>
            <a:rect l="0" t="0" r="r" b="b"/>
            <a:pathLst>
              <a:path w="7810500" h="508000">
                <a:moveTo>
                  <a:pt x="114300" y="0"/>
                </a:moveTo>
                <a:lnTo>
                  <a:pt x="7696200" y="0"/>
                </a:lnTo>
                <a:cubicBezTo>
                  <a:pt x="7759319" y="0"/>
                  <a:pt x="7810500" y="51181"/>
                  <a:pt x="7810500" y="114300"/>
                </a:cubicBezTo>
                <a:lnTo>
                  <a:pt x="7810500" y="393700"/>
                </a:lnTo>
                <a:cubicBezTo>
                  <a:pt x="7810500" y="456819"/>
                  <a:pt x="7759319" y="508000"/>
                  <a:pt x="7696200" y="508000"/>
                </a:cubicBezTo>
                <a:lnTo>
                  <a:pt x="114300" y="508000"/>
                </a:lnTo>
                <a:cubicBezTo>
                  <a:pt x="51181" y="508000"/>
                  <a:pt x="0" y="456819"/>
                  <a:pt x="0" y="393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7" name="ra-4"/>
          <p:cNvSpPr txBox="1"/>
          <p:nvPr/>
        </p:nvSpPr>
        <p:spPr>
          <a:xfrm>
            <a:off x="3566922" y="4295997"/>
            <a:ext cx="489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满意度</a:t>
            </a:r>
          </a:p>
        </p:txBody>
      </p:sp>
      <p:sp>
        <p:nvSpPr>
          <p:cNvPr id="78" name="rb-4"/>
          <p:cNvSpPr txBox="1"/>
          <p:nvPr/>
        </p:nvSpPr>
        <p:spPr>
          <a:xfrm>
            <a:off x="5321808" y="4319524"/>
            <a:ext cx="10302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NPS 与五分制双口径</a:t>
            </a:r>
          </a:p>
        </p:txBody>
      </p:sp>
      <p:sp>
        <p:nvSpPr>
          <p:cNvPr id="79" name="rc-4"/>
          <p:cNvSpPr txBox="1"/>
          <p:nvPr/>
        </p:nvSpPr>
        <p:spPr>
          <a:xfrm>
            <a:off x="7671308" y="4319524"/>
            <a:ext cx="111150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季度问卷 · 1,200 份</a:t>
            </a:r>
          </a:p>
        </p:txBody>
      </p:sp>
      <p:sp>
        <p:nvSpPr>
          <p:cNvPr id="80" name="rdb-4"/>
          <p:cNvSpPr/>
          <p:nvPr/>
        </p:nvSpPr>
        <p:spPr>
          <a:xfrm>
            <a:off x="9207500" y="4279900"/>
            <a:ext cx="381000" cy="203200"/>
          </a:xfrm>
          <a:custGeom>
            <a:avLst/>
            <a:gdLst/>
            <a:ahLst/>
            <a:cxnLst/>
            <a:rect l="0" t="0" r="r" b="b"/>
            <a:pathLst>
              <a:path w="381000" h="203200">
                <a:moveTo>
                  <a:pt x="101600" y="0"/>
                </a:moveTo>
                <a:lnTo>
                  <a:pt x="279400" y="0"/>
                </a:lnTo>
                <a:cubicBezTo>
                  <a:pt x="335534" y="0"/>
                  <a:pt x="381000" y="45466"/>
                  <a:pt x="381000" y="101600"/>
                </a:cubicBezTo>
                <a:lnTo>
                  <a:pt x="381000" y="101600"/>
                </a:lnTo>
                <a:cubicBezTo>
                  <a:pt x="381000" y="157734"/>
                  <a:pt x="335534" y="203200"/>
                  <a:pt x="2794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1" name="rd-4"/>
          <p:cNvSpPr txBox="1"/>
          <p:nvPr/>
        </p:nvSpPr>
        <p:spPr>
          <a:xfrm>
            <a:off x="9259888" y="4301966"/>
            <a:ext cx="276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季度</a:t>
            </a:r>
          </a:p>
        </p:txBody>
      </p:sp>
      <p:sp>
        <p:nvSpPr>
          <p:cNvPr id="82" name="rf-4-0"/>
          <p:cNvSpPr/>
          <p:nvPr/>
        </p:nvSpPr>
        <p:spPr>
          <a:xfrm>
            <a:off x="10433050" y="4337050"/>
            <a:ext cx="88900" cy="889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3" name="rf-4-1"/>
          <p:cNvSpPr/>
          <p:nvPr/>
        </p:nvSpPr>
        <p:spPr>
          <a:xfrm>
            <a:off x="10572750" y="4337050"/>
            <a:ext cx="88900" cy="889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4" name="rf-4-2"/>
          <p:cNvSpPr/>
          <p:nvPr/>
        </p:nvSpPr>
        <p:spPr>
          <a:xfrm>
            <a:off x="10712450" y="4337050"/>
            <a:ext cx="88900" cy="88900"/>
          </a:xfrm>
          <a:prstGeom prst="ellipse">
            <a:avLst/>
          </a:prstGeom>
          <a:solidFill>
            <a:srgbClr val="E3EB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5" name="rft-4"/>
          <p:cNvSpPr txBox="1"/>
          <p:nvPr/>
        </p:nvSpPr>
        <p:spPr>
          <a:xfrm>
            <a:off x="10947908" y="4294124"/>
            <a:ext cx="1930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中</a:t>
            </a:r>
          </a:p>
        </p:txBody>
      </p:sp>
      <p:sp>
        <p:nvSpPr>
          <p:cNvPr id="86" name="r-5"/>
          <p:cNvSpPr/>
          <p:nvPr/>
        </p:nvSpPr>
        <p:spPr>
          <a:xfrm>
            <a:off x="3429000" y="4711700"/>
            <a:ext cx="7810500" cy="508000"/>
          </a:xfrm>
          <a:custGeom>
            <a:avLst/>
            <a:gdLst/>
            <a:ahLst/>
            <a:cxnLst/>
            <a:rect l="0" t="0" r="r" b="b"/>
            <a:pathLst>
              <a:path w="7810500" h="508000">
                <a:moveTo>
                  <a:pt x="114300" y="0"/>
                </a:moveTo>
                <a:lnTo>
                  <a:pt x="7696200" y="0"/>
                </a:lnTo>
                <a:cubicBezTo>
                  <a:pt x="7759319" y="0"/>
                  <a:pt x="7810500" y="51181"/>
                  <a:pt x="7810500" y="114300"/>
                </a:cubicBezTo>
                <a:lnTo>
                  <a:pt x="7810500" y="393700"/>
                </a:lnTo>
                <a:cubicBezTo>
                  <a:pt x="7810500" y="456819"/>
                  <a:pt x="7759319" y="508000"/>
                  <a:pt x="7696200" y="508000"/>
                </a:cubicBezTo>
                <a:lnTo>
                  <a:pt x="114300" y="508000"/>
                </a:lnTo>
                <a:cubicBezTo>
                  <a:pt x="51181" y="508000"/>
                  <a:pt x="0" y="456819"/>
                  <a:pt x="0" y="393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7" name="ra-5"/>
          <p:cNvSpPr txBox="1"/>
          <p:nvPr/>
        </p:nvSpPr>
        <p:spPr>
          <a:xfrm>
            <a:off x="3566922" y="4880197"/>
            <a:ext cx="362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人效</a:t>
            </a:r>
          </a:p>
        </p:txBody>
      </p:sp>
      <p:sp>
        <p:nvSpPr>
          <p:cNvPr id="88" name="rb-5"/>
          <p:cNvSpPr txBox="1"/>
          <p:nvPr/>
        </p:nvSpPr>
        <p:spPr>
          <a:xfrm>
            <a:off x="5321808" y="4903724"/>
            <a:ext cx="1074928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营收 ÷ 期末在职人数</a:t>
            </a:r>
          </a:p>
        </p:txBody>
      </p:sp>
      <p:sp>
        <p:nvSpPr>
          <p:cNvPr id="89" name="rc-5"/>
          <p:cNvSpPr txBox="1"/>
          <p:nvPr/>
        </p:nvSpPr>
        <p:spPr>
          <a:xfrm>
            <a:off x="7671308" y="4903724"/>
            <a:ext cx="839216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财务 + HR 系统</a:t>
            </a:r>
          </a:p>
        </p:txBody>
      </p:sp>
      <p:sp>
        <p:nvSpPr>
          <p:cNvPr id="90" name="rdb-5"/>
          <p:cNvSpPr/>
          <p:nvPr/>
        </p:nvSpPr>
        <p:spPr>
          <a:xfrm>
            <a:off x="9207500" y="4864100"/>
            <a:ext cx="381000" cy="203200"/>
          </a:xfrm>
          <a:custGeom>
            <a:avLst/>
            <a:gdLst/>
            <a:ahLst/>
            <a:cxnLst/>
            <a:rect l="0" t="0" r="r" b="b"/>
            <a:pathLst>
              <a:path w="381000" h="203200">
                <a:moveTo>
                  <a:pt x="101600" y="0"/>
                </a:moveTo>
                <a:lnTo>
                  <a:pt x="279400" y="0"/>
                </a:lnTo>
                <a:cubicBezTo>
                  <a:pt x="335534" y="0"/>
                  <a:pt x="381000" y="45466"/>
                  <a:pt x="381000" y="101600"/>
                </a:cubicBezTo>
                <a:lnTo>
                  <a:pt x="381000" y="101600"/>
                </a:lnTo>
                <a:cubicBezTo>
                  <a:pt x="381000" y="157734"/>
                  <a:pt x="335534" y="203200"/>
                  <a:pt x="2794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1" name="rd-5"/>
          <p:cNvSpPr txBox="1"/>
          <p:nvPr/>
        </p:nvSpPr>
        <p:spPr>
          <a:xfrm>
            <a:off x="9259888" y="4886166"/>
            <a:ext cx="276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月度</a:t>
            </a:r>
          </a:p>
        </p:txBody>
      </p:sp>
      <p:sp>
        <p:nvSpPr>
          <p:cNvPr id="92" name="rf-5-0"/>
          <p:cNvSpPr/>
          <p:nvPr/>
        </p:nvSpPr>
        <p:spPr>
          <a:xfrm>
            <a:off x="10433050" y="4921250"/>
            <a:ext cx="88900" cy="889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3" name="rf-5-1"/>
          <p:cNvSpPr/>
          <p:nvPr/>
        </p:nvSpPr>
        <p:spPr>
          <a:xfrm>
            <a:off x="10572750" y="4921250"/>
            <a:ext cx="88900" cy="889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4" name="rf-5-2"/>
          <p:cNvSpPr/>
          <p:nvPr/>
        </p:nvSpPr>
        <p:spPr>
          <a:xfrm>
            <a:off x="10712450" y="4921250"/>
            <a:ext cx="88900" cy="88900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5" name="rft-5"/>
          <p:cNvSpPr txBox="1"/>
          <p:nvPr/>
        </p:nvSpPr>
        <p:spPr>
          <a:xfrm>
            <a:off x="10947908" y="4878324"/>
            <a:ext cx="1930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高</a:t>
            </a:r>
          </a:p>
        </p:txBody>
      </p:sp>
      <p:sp>
        <p:nvSpPr>
          <p:cNvPr id="96" name="r-6"/>
          <p:cNvSpPr/>
          <p:nvPr/>
        </p:nvSpPr>
        <p:spPr>
          <a:xfrm>
            <a:off x="3429000" y="5295900"/>
            <a:ext cx="7810500" cy="508000"/>
          </a:xfrm>
          <a:custGeom>
            <a:avLst/>
            <a:gdLst/>
            <a:ahLst/>
            <a:cxnLst/>
            <a:rect l="0" t="0" r="r" b="b"/>
            <a:pathLst>
              <a:path w="7810500" h="508000">
                <a:moveTo>
                  <a:pt x="114300" y="0"/>
                </a:moveTo>
                <a:lnTo>
                  <a:pt x="7696200" y="0"/>
                </a:lnTo>
                <a:cubicBezTo>
                  <a:pt x="7759319" y="0"/>
                  <a:pt x="7810500" y="51181"/>
                  <a:pt x="7810500" y="114300"/>
                </a:cubicBezTo>
                <a:lnTo>
                  <a:pt x="7810500" y="393700"/>
                </a:lnTo>
                <a:cubicBezTo>
                  <a:pt x="7810500" y="456819"/>
                  <a:pt x="7759319" y="508000"/>
                  <a:pt x="7696200" y="508000"/>
                </a:cubicBezTo>
                <a:lnTo>
                  <a:pt x="114300" y="508000"/>
                </a:lnTo>
                <a:cubicBezTo>
                  <a:pt x="51181" y="508000"/>
                  <a:pt x="0" y="456819"/>
                  <a:pt x="0" y="393700"/>
                </a:cubicBezTo>
                <a:lnTo>
                  <a:pt x="0" y="114300"/>
                </a:lnTo>
                <a:cubicBezTo>
                  <a:pt x="0" y="51181"/>
                  <a:pt x="51181" y="0"/>
                  <a:pt x="1143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03200" dist="50800" dir="5400000" rotWithShape="0">
              <a:srgbClr val="0B2545">
                <a:alpha val="12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97" name="ra-6"/>
          <p:cNvSpPr txBox="1"/>
          <p:nvPr/>
        </p:nvSpPr>
        <p:spPr>
          <a:xfrm>
            <a:off x="3566922" y="5464397"/>
            <a:ext cx="616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5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预测数据</a:t>
            </a:r>
          </a:p>
        </p:txBody>
      </p:sp>
      <p:sp>
        <p:nvSpPr>
          <p:cNvPr id="98" name="rb-6"/>
          <p:cNvSpPr txBox="1"/>
          <p:nvPr/>
        </p:nvSpPr>
        <p:spPr>
          <a:xfrm>
            <a:off x="5321808" y="5487924"/>
            <a:ext cx="1233424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时间序列模型，80% 区间</a:t>
            </a:r>
          </a:p>
        </p:txBody>
      </p:sp>
      <p:sp>
        <p:nvSpPr>
          <p:cNvPr id="99" name="rc-6"/>
          <p:cNvSpPr txBox="1"/>
          <p:nvPr/>
        </p:nvSpPr>
        <p:spPr>
          <a:xfrm>
            <a:off x="7671308" y="5487924"/>
            <a:ext cx="8026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内部经营分析组</a:t>
            </a:r>
          </a:p>
        </p:txBody>
      </p:sp>
      <p:sp>
        <p:nvSpPr>
          <p:cNvPr id="100" name="rdb-6"/>
          <p:cNvSpPr/>
          <p:nvPr/>
        </p:nvSpPr>
        <p:spPr>
          <a:xfrm>
            <a:off x="9207500" y="5448300"/>
            <a:ext cx="381000" cy="203200"/>
          </a:xfrm>
          <a:custGeom>
            <a:avLst/>
            <a:gdLst/>
            <a:ahLst/>
            <a:cxnLst/>
            <a:rect l="0" t="0" r="r" b="b"/>
            <a:pathLst>
              <a:path w="381000" h="203200">
                <a:moveTo>
                  <a:pt x="101600" y="0"/>
                </a:moveTo>
                <a:lnTo>
                  <a:pt x="279400" y="0"/>
                </a:lnTo>
                <a:cubicBezTo>
                  <a:pt x="335534" y="0"/>
                  <a:pt x="381000" y="45466"/>
                  <a:pt x="381000" y="101600"/>
                </a:cubicBezTo>
                <a:lnTo>
                  <a:pt x="381000" y="101600"/>
                </a:lnTo>
                <a:cubicBezTo>
                  <a:pt x="381000" y="157734"/>
                  <a:pt x="335534" y="203200"/>
                  <a:pt x="279400" y="203200"/>
                </a:cubicBezTo>
                <a:lnTo>
                  <a:pt x="101600" y="203200"/>
                </a:lnTo>
                <a:cubicBezTo>
                  <a:pt x="45466" y="203200"/>
                  <a:pt x="0" y="157734"/>
                  <a:pt x="0" y="101600"/>
                </a:cubicBezTo>
                <a:lnTo>
                  <a:pt x="0" y="101600"/>
                </a:lnTo>
                <a:cubicBezTo>
                  <a:pt x="0" y="45466"/>
                  <a:pt x="45466" y="0"/>
                  <a:pt x="101600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1" name="rd-6"/>
          <p:cNvSpPr txBox="1"/>
          <p:nvPr/>
        </p:nvSpPr>
        <p:spPr>
          <a:xfrm>
            <a:off x="9259888" y="5470366"/>
            <a:ext cx="276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750" b="1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月度</a:t>
            </a:r>
          </a:p>
        </p:txBody>
      </p:sp>
      <p:sp>
        <p:nvSpPr>
          <p:cNvPr id="102" name="rf-6-0"/>
          <p:cNvSpPr/>
          <p:nvPr/>
        </p:nvSpPr>
        <p:spPr>
          <a:xfrm>
            <a:off x="10433050" y="5505450"/>
            <a:ext cx="88900" cy="889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3" name="rf-6-1"/>
          <p:cNvSpPr/>
          <p:nvPr/>
        </p:nvSpPr>
        <p:spPr>
          <a:xfrm>
            <a:off x="10572750" y="5505450"/>
            <a:ext cx="88900" cy="88900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4" name="rf-6-2"/>
          <p:cNvSpPr/>
          <p:nvPr/>
        </p:nvSpPr>
        <p:spPr>
          <a:xfrm>
            <a:off x="10712450" y="5505450"/>
            <a:ext cx="88900" cy="88900"/>
          </a:xfrm>
          <a:prstGeom prst="ellipse">
            <a:avLst/>
          </a:prstGeom>
          <a:solidFill>
            <a:srgbClr val="E3EBF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05" name="rft-6"/>
          <p:cNvSpPr txBox="1"/>
          <p:nvPr/>
        </p:nvSpPr>
        <p:spPr>
          <a:xfrm>
            <a:off x="10947908" y="5462524"/>
            <a:ext cx="1930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1">
                <a:solidFill>
                  <a:srgbClr val="2E77C2"/>
                </a:solidFill>
                <a:latin typeface="微软雅黑"/>
                <a:ea typeface="微软雅黑"/>
                <a:cs typeface="微软雅黑"/>
              </a:rPr>
              <a:t>中</a:t>
            </a:r>
          </a:p>
        </p:txBody>
      </p:sp>
      <p:cxnSp>
        <p:nvCxnSpPr>
          <p:cNvPr id="106" name="foot-line"/>
          <p:cNvCxnSpPr/>
          <p:nvPr/>
        </p:nvCxnSpPr>
        <p:spPr>
          <a:xfrm>
            <a:off x="584200" y="6464300"/>
            <a:ext cx="11023600" cy="0"/>
          </a:xfrm>
          <a:prstGeom prst="line">
            <a:avLst/>
          </a:prstGeom>
          <a:ln w="635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foot-l"/>
          <p:cNvSpPr txBox="1"/>
          <p:nvPr/>
        </p:nvSpPr>
        <p:spPr>
          <a:xfrm>
            <a:off x="573532" y="6532308"/>
            <a:ext cx="848487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0" spc="75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附录 · 数据口径</a:t>
            </a:r>
          </a:p>
        </p:txBody>
      </p:sp>
      <p:sp>
        <p:nvSpPr>
          <p:cNvPr id="108" name="foot-r"/>
          <p:cNvSpPr txBox="1"/>
          <p:nvPr/>
        </p:nvSpPr>
        <p:spPr>
          <a:xfrm>
            <a:off x="10351262" y="6532308"/>
            <a:ext cx="126720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700" b="0" spc="10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BFCFE"/>
              </a:gs>
              <a:gs pos="55000">
                <a:srgbClr val="F3F7FC"/>
              </a:gs>
              <a:gs pos="100000">
                <a:srgbClr val="E9EFF8"/>
              </a:gs>
            </a:gsLst>
            <a:lin ang="70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3" name="shape-a"/>
          <p:cNvSpPr/>
          <p:nvPr/>
        </p:nvSpPr>
        <p:spPr>
          <a:xfrm>
            <a:off x="6731000" y="0"/>
            <a:ext cx="5461000" cy="6858000"/>
          </a:xfrm>
          <a:custGeom>
            <a:avLst/>
            <a:gdLst/>
            <a:ahLst/>
            <a:cxnLst/>
            <a:rect l="0" t="0" r="r" b="b"/>
            <a:pathLst>
              <a:path w="5461000" h="6858000">
                <a:moveTo>
                  <a:pt x="0" y="0"/>
                </a:moveTo>
                <a:cubicBezTo>
                  <a:pt x="762000" y="1397000"/>
                  <a:pt x="-381000" y="2667000"/>
                  <a:pt x="635000" y="4064000"/>
                </a:cubicBezTo>
                <a:cubicBezTo>
                  <a:pt x="1270000" y="4953000"/>
                  <a:pt x="889000" y="6096000"/>
                  <a:pt x="1270000" y="6858000"/>
                </a:cubicBezTo>
                <a:lnTo>
                  <a:pt x="5461000" y="6858000"/>
                </a:lnTo>
                <a:lnTo>
                  <a:pt x="5461000" y="0"/>
                </a:ln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4" name="shape-b"/>
          <p:cNvSpPr/>
          <p:nvPr/>
        </p:nvSpPr>
        <p:spPr>
          <a:xfrm>
            <a:off x="7874000" y="0"/>
            <a:ext cx="4318000" cy="6858000"/>
          </a:xfrm>
          <a:custGeom>
            <a:avLst/>
            <a:gdLst/>
            <a:ahLst/>
            <a:cxnLst/>
            <a:rect l="0" t="0" r="r" b="b"/>
            <a:pathLst>
              <a:path w="4318000" h="6858000">
                <a:moveTo>
                  <a:pt x="0" y="0"/>
                </a:moveTo>
                <a:cubicBezTo>
                  <a:pt x="571500" y="1143000"/>
                  <a:pt x="-190500" y="2413000"/>
                  <a:pt x="571500" y="3556000"/>
                </a:cubicBezTo>
                <a:cubicBezTo>
                  <a:pt x="1143000" y="4445000"/>
                  <a:pt x="889000" y="5715000"/>
                  <a:pt x="1397000" y="6858000"/>
                </a:cubicBezTo>
                <a:lnTo>
                  <a:pt x="4318000" y="6858000"/>
                </a:lnTo>
                <a:lnTo>
                  <a:pt x="4318000" y="0"/>
                </a:lnTo>
                <a:close/>
              </a:path>
            </a:pathLst>
          </a:custGeom>
          <a:solidFill>
            <a:srgbClr val="FFFFFF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5" name="shape-c"/>
          <p:cNvSpPr/>
          <p:nvPr/>
        </p:nvSpPr>
        <p:spPr>
          <a:xfrm>
            <a:off x="6350000" y="5040747"/>
            <a:ext cx="5842000" cy="1817253"/>
          </a:xfrm>
          <a:custGeom>
            <a:avLst/>
            <a:gdLst/>
            <a:ahLst/>
            <a:cxnLst/>
            <a:rect l="0" t="0" r="r" b="b"/>
            <a:pathLst>
              <a:path w="5842000" h="1817253">
                <a:moveTo>
                  <a:pt x="0" y="1817253"/>
                </a:moveTo>
                <a:cubicBezTo>
                  <a:pt x="508000" y="1055253"/>
                  <a:pt x="1143000" y="864753"/>
                  <a:pt x="1905000" y="1055253"/>
                </a:cubicBezTo>
                <a:cubicBezTo>
                  <a:pt x="2667000" y="1245753"/>
                  <a:pt x="3302000" y="928253"/>
                  <a:pt x="3937000" y="420253"/>
                </a:cubicBezTo>
                <a:cubicBezTo>
                  <a:pt x="4572000" y="-87747"/>
                  <a:pt x="5207000" y="-87747"/>
                  <a:pt x="5842000" y="166253"/>
                </a:cubicBezTo>
                <a:lnTo>
                  <a:pt x="5842000" y="1817253"/>
                </a:lnTo>
                <a:close/>
              </a:path>
            </a:pathLst>
          </a:custGeom>
          <a:solidFill>
            <a:srgbClr val="E0703A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6" name="ring"/>
          <p:cNvSpPr/>
          <p:nvPr/>
        </p:nvSpPr>
        <p:spPr>
          <a:xfrm>
            <a:off x="8636554" y="1397000"/>
            <a:ext cx="2030855" cy="2032008"/>
          </a:xfrm>
          <a:custGeom>
            <a:avLst/>
            <a:gdLst/>
            <a:ahLst/>
            <a:cxnLst/>
            <a:rect l="0" t="0" r="r" b="b"/>
            <a:pathLst>
              <a:path w="2030855" h="2032008">
                <a:moveTo>
                  <a:pt x="1015446" y="0"/>
                </a:moveTo>
                <a:cubicBezTo>
                  <a:pt x="1467396" y="-13"/>
                  <a:pt x="1865022" y="298515"/>
                  <a:pt x="1991124" y="732516"/>
                </a:cubicBezTo>
                <a:cubicBezTo>
                  <a:pt x="2117227" y="1166518"/>
                  <a:pt x="1941488" y="1631642"/>
                  <a:pt x="1559900" y="1873821"/>
                </a:cubicBezTo>
                <a:cubicBezTo>
                  <a:pt x="1178313" y="2115999"/>
                  <a:pt x="682628" y="2077004"/>
                  <a:pt x="343605" y="1778134"/>
                </a:cubicBezTo>
                <a:cubicBezTo>
                  <a:pt x="4583" y="1479264"/>
                  <a:pt x="-96262" y="992381"/>
                  <a:pt x="96156" y="583438"/>
                </a:cubicBezTo>
                <a:lnTo>
                  <a:pt x="325963" y="691579"/>
                </a:lnTo>
                <a:cubicBezTo>
                  <a:pt x="181650" y="998285"/>
                  <a:pt x="257282" y="1363445"/>
                  <a:pt x="511547" y="1587598"/>
                </a:cubicBezTo>
                <a:cubicBezTo>
                  <a:pt x="765811" y="1811750"/>
                  <a:pt x="1137573" y="1841000"/>
                  <a:pt x="1423764" y="1659370"/>
                </a:cubicBezTo>
                <a:cubicBezTo>
                  <a:pt x="1709955" y="1477739"/>
                  <a:pt x="1841764" y="1128900"/>
                  <a:pt x="1747192" y="803399"/>
                </a:cubicBezTo>
                <a:cubicBezTo>
                  <a:pt x="1652620" y="477897"/>
                  <a:pt x="1354407" y="253997"/>
                  <a:pt x="1015446" y="254000"/>
                </a:cubicBezTo>
                <a:close/>
              </a:path>
            </a:pathLst>
          </a:custGeom>
          <a:solidFill>
            <a:srgbClr val="FFFFFF">
              <a:alpha val="9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7" name="ring-b"/>
          <p:cNvSpPr/>
          <p:nvPr/>
        </p:nvSpPr>
        <p:spPr>
          <a:xfrm>
            <a:off x="8732710" y="1397000"/>
            <a:ext cx="919289" cy="691579"/>
          </a:xfrm>
          <a:custGeom>
            <a:avLst/>
            <a:gdLst/>
            <a:ahLst/>
            <a:cxnLst/>
            <a:rect l="0" t="0" r="r" b="b"/>
            <a:pathLst>
              <a:path w="919289" h="691579">
                <a:moveTo>
                  <a:pt x="0" y="583438"/>
                </a:moveTo>
                <a:cubicBezTo>
                  <a:pt x="167562" y="227321"/>
                  <a:pt x="525721" y="11"/>
                  <a:pt x="919289" y="0"/>
                </a:cubicBezTo>
                <a:lnTo>
                  <a:pt x="919289" y="254000"/>
                </a:lnTo>
                <a:cubicBezTo>
                  <a:pt x="624107" y="254002"/>
                  <a:pt x="355480" y="424486"/>
                  <a:pt x="229807" y="691579"/>
                </a:cubicBezTo>
                <a:close/>
              </a:path>
            </a:pathLst>
          </a:cu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8" name="ring-v"/>
          <p:cNvSpPr txBox="1"/>
          <p:nvPr/>
        </p:nvSpPr>
        <p:spPr>
          <a:xfrm>
            <a:off x="9193276" y="1999234"/>
            <a:ext cx="917448" cy="6223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8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82%</a:t>
            </a:r>
          </a:p>
        </p:txBody>
      </p:sp>
      <p:sp>
        <p:nvSpPr>
          <p:cNvPr id="9" name="ring-l"/>
          <p:cNvSpPr txBox="1"/>
          <p:nvPr/>
        </p:nvSpPr>
        <p:spPr>
          <a:xfrm>
            <a:off x="9403080" y="2541524"/>
            <a:ext cx="4978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800" b="0">
                <a:solidFill>
                  <a:srgbClr val="CFE0F4"/>
                </a:solidFill>
                <a:latin typeface="微软雅黑"/>
                <a:ea typeface="微软雅黑"/>
                <a:cs typeface="微软雅黑"/>
              </a:rPr>
              <a:t>目标达成</a:t>
            </a:r>
          </a:p>
        </p:txBody>
      </p:sp>
      <p:sp>
        <p:nvSpPr>
          <p:cNvPr id="10" name="bar-0"/>
          <p:cNvSpPr/>
          <p:nvPr/>
        </p:nvSpPr>
        <p:spPr>
          <a:xfrm>
            <a:off x="8636000" y="4254500"/>
            <a:ext cx="241300" cy="571500"/>
          </a:xfrm>
          <a:custGeom>
            <a:avLst/>
            <a:gdLst/>
            <a:ahLst/>
            <a:cxnLst/>
            <a:rect l="0" t="0" r="r" b="b"/>
            <a:pathLst>
              <a:path w="241300" h="571500">
                <a:moveTo>
                  <a:pt x="0" y="571500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177800" y="0"/>
                </a:lnTo>
                <a:cubicBezTo>
                  <a:pt x="212852" y="0"/>
                  <a:pt x="241300" y="28448"/>
                  <a:pt x="241300" y="63500"/>
                </a:cubicBezTo>
                <a:lnTo>
                  <a:pt x="241300" y="571500"/>
                </a:lnTo>
                <a:close/>
              </a:path>
            </a:pathLst>
          </a:custGeom>
          <a:solidFill>
            <a:srgbClr val="FFFFFF">
              <a:alpha val="2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1" name="bar-1"/>
          <p:cNvSpPr/>
          <p:nvPr/>
        </p:nvSpPr>
        <p:spPr>
          <a:xfrm>
            <a:off x="9042400" y="4000500"/>
            <a:ext cx="241300" cy="825500"/>
          </a:xfrm>
          <a:custGeom>
            <a:avLst/>
            <a:gdLst/>
            <a:ahLst/>
            <a:cxnLst/>
            <a:rect l="0" t="0" r="r" b="b"/>
            <a:pathLst>
              <a:path w="241300" h="825500">
                <a:moveTo>
                  <a:pt x="0" y="825500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177800" y="0"/>
                </a:lnTo>
                <a:cubicBezTo>
                  <a:pt x="212852" y="0"/>
                  <a:pt x="241300" y="28448"/>
                  <a:pt x="241300" y="63500"/>
                </a:cubicBezTo>
                <a:lnTo>
                  <a:pt x="241300" y="825500"/>
                </a:lnTo>
                <a:close/>
              </a:path>
            </a:pathLst>
          </a:custGeom>
          <a:solidFill>
            <a:srgbClr val="FFFFFF">
              <a:alpha val="3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2" name="bar-2"/>
          <p:cNvSpPr/>
          <p:nvPr/>
        </p:nvSpPr>
        <p:spPr>
          <a:xfrm>
            <a:off x="9448800" y="4127500"/>
            <a:ext cx="241300" cy="698500"/>
          </a:xfrm>
          <a:custGeom>
            <a:avLst/>
            <a:gdLst/>
            <a:ahLst/>
            <a:cxnLst/>
            <a:rect l="0" t="0" r="r" b="b"/>
            <a:pathLst>
              <a:path w="241300" h="698500">
                <a:moveTo>
                  <a:pt x="0" y="698500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177800" y="0"/>
                </a:lnTo>
                <a:cubicBezTo>
                  <a:pt x="212852" y="0"/>
                  <a:pt x="241300" y="28448"/>
                  <a:pt x="241300" y="63500"/>
                </a:cubicBezTo>
                <a:lnTo>
                  <a:pt x="241300" y="698500"/>
                </a:lnTo>
                <a:close/>
              </a:path>
            </a:pathLst>
          </a:custGeom>
          <a:solidFill>
            <a:srgbClr val="FFFFFF">
              <a:alpha val="49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3" name="bar-3"/>
          <p:cNvSpPr/>
          <p:nvPr/>
        </p:nvSpPr>
        <p:spPr>
          <a:xfrm>
            <a:off x="9855200" y="3746500"/>
            <a:ext cx="241300" cy="1079500"/>
          </a:xfrm>
          <a:custGeom>
            <a:avLst/>
            <a:gdLst/>
            <a:ahLst/>
            <a:cxnLst/>
            <a:rect l="0" t="0" r="r" b="b"/>
            <a:pathLst>
              <a:path w="241300" h="1079500">
                <a:moveTo>
                  <a:pt x="0" y="1079500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177800" y="0"/>
                </a:lnTo>
                <a:cubicBezTo>
                  <a:pt x="212852" y="0"/>
                  <a:pt x="241300" y="28448"/>
                  <a:pt x="241300" y="63500"/>
                </a:cubicBezTo>
                <a:lnTo>
                  <a:pt x="241300" y="1079500"/>
                </a:lnTo>
                <a:close/>
              </a:path>
            </a:pathLst>
          </a:custGeom>
          <a:solidFill>
            <a:srgbClr val="FFFFFF">
              <a:alpha val="6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4" name="bar-4"/>
          <p:cNvSpPr/>
          <p:nvPr/>
        </p:nvSpPr>
        <p:spPr>
          <a:xfrm>
            <a:off x="10261600" y="3492500"/>
            <a:ext cx="241300" cy="1333500"/>
          </a:xfrm>
          <a:custGeom>
            <a:avLst/>
            <a:gdLst/>
            <a:ahLst/>
            <a:cxnLst/>
            <a:rect l="0" t="0" r="r" b="b"/>
            <a:pathLst>
              <a:path w="241300" h="1333500">
                <a:moveTo>
                  <a:pt x="0" y="1333500"/>
                </a:moveTo>
                <a:lnTo>
                  <a:pt x="0" y="63500"/>
                </a:lnTo>
                <a:cubicBezTo>
                  <a:pt x="0" y="28448"/>
                  <a:pt x="28448" y="0"/>
                  <a:pt x="63500" y="0"/>
                </a:cubicBezTo>
                <a:lnTo>
                  <a:pt x="177800" y="0"/>
                </a:lnTo>
                <a:cubicBezTo>
                  <a:pt x="212852" y="0"/>
                  <a:pt x="241300" y="28448"/>
                  <a:pt x="241300" y="63500"/>
                </a:cubicBezTo>
                <a:lnTo>
                  <a:pt x="241300" y="1333500"/>
                </a:lnTo>
                <a:close/>
              </a:path>
            </a:pathLst>
          </a:custGeom>
          <a:solidFill>
            <a:srgbClr val="FFFFFF">
              <a:alpha val="73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5" name="trend"/>
          <p:cNvSpPr/>
          <p:nvPr/>
        </p:nvSpPr>
        <p:spPr>
          <a:xfrm>
            <a:off x="8756650" y="3175000"/>
            <a:ext cx="1625600" cy="889000"/>
          </a:xfrm>
          <a:custGeom>
            <a:avLst/>
            <a:gdLst/>
            <a:ahLst/>
            <a:cxnLst/>
            <a:rect l="0" t="0" r="r" b="b"/>
            <a:pathLst>
              <a:path w="1625600" h="889000">
                <a:moveTo>
                  <a:pt x="0" y="889000"/>
                </a:moveTo>
                <a:cubicBezTo>
                  <a:pt x="54165" y="855154"/>
                  <a:pt x="298006" y="651954"/>
                  <a:pt x="406400" y="635000"/>
                </a:cubicBezTo>
                <a:cubicBezTo>
                  <a:pt x="514794" y="618046"/>
                  <a:pt x="704406" y="806005"/>
                  <a:pt x="812800" y="762000"/>
                </a:cubicBezTo>
                <a:cubicBezTo>
                  <a:pt x="921194" y="717995"/>
                  <a:pt x="1110806" y="406400"/>
                  <a:pt x="1219200" y="304800"/>
                </a:cubicBezTo>
                <a:cubicBezTo>
                  <a:pt x="1327594" y="203200"/>
                  <a:pt x="1571435" y="40640"/>
                  <a:pt x="1625600" y="0"/>
                </a:cubicBezTo>
              </a:path>
            </a:pathLst>
          </a:custGeom>
          <a:noFill/>
          <a:ln w="2540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6" name="tp-0"/>
          <p:cNvSpPr/>
          <p:nvPr/>
        </p:nvSpPr>
        <p:spPr>
          <a:xfrm>
            <a:off x="8712200" y="4019550"/>
            <a:ext cx="88900" cy="889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7" name="tp-1"/>
          <p:cNvSpPr/>
          <p:nvPr/>
        </p:nvSpPr>
        <p:spPr>
          <a:xfrm>
            <a:off x="9118600" y="3765550"/>
            <a:ext cx="88900" cy="889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8" name="tp-2"/>
          <p:cNvSpPr/>
          <p:nvPr/>
        </p:nvSpPr>
        <p:spPr>
          <a:xfrm>
            <a:off x="9525000" y="3892550"/>
            <a:ext cx="88900" cy="889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19" name="tp-3"/>
          <p:cNvSpPr/>
          <p:nvPr/>
        </p:nvSpPr>
        <p:spPr>
          <a:xfrm>
            <a:off x="9931400" y="3435350"/>
            <a:ext cx="88900" cy="889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0" name="tp-4"/>
          <p:cNvSpPr/>
          <p:nvPr/>
        </p:nvSpPr>
        <p:spPr>
          <a:xfrm>
            <a:off x="10337800" y="3130550"/>
            <a:ext cx="88900" cy="8890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1" name="chip-0"/>
          <p:cNvSpPr/>
          <p:nvPr/>
        </p:nvSpPr>
        <p:spPr>
          <a:xfrm>
            <a:off x="7302500" y="1587500"/>
            <a:ext cx="1270000" cy="609600"/>
          </a:xfrm>
          <a:custGeom>
            <a:avLst/>
            <a:gdLst/>
            <a:ahLst/>
            <a:cxnLst/>
            <a:rect l="0" t="0" r="r" b="b"/>
            <a:pathLst>
              <a:path w="1270000" h="609600">
                <a:moveTo>
                  <a:pt x="127000" y="0"/>
                </a:moveTo>
                <a:lnTo>
                  <a:pt x="1143000" y="0"/>
                </a:lnTo>
                <a:cubicBezTo>
                  <a:pt x="1213167" y="0"/>
                  <a:pt x="1270000" y="56832"/>
                  <a:pt x="1270000" y="127000"/>
                </a:cubicBezTo>
                <a:lnTo>
                  <a:pt x="1270000" y="482600"/>
                </a:lnTo>
                <a:cubicBezTo>
                  <a:pt x="1270000" y="552768"/>
                  <a:pt x="1213167" y="609600"/>
                  <a:pt x="1143000" y="609600"/>
                </a:cubicBezTo>
                <a:lnTo>
                  <a:pt x="127000" y="609600"/>
                </a:lnTo>
                <a:cubicBezTo>
                  <a:pt x="56833" y="609600"/>
                  <a:pt x="0" y="552768"/>
                  <a:pt x="0" y="482600"/>
                </a:cubicBezTo>
                <a:lnTo>
                  <a:pt x="0" y="127000"/>
                </a:lnTo>
                <a:cubicBezTo>
                  <a:pt x="0" y="56832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2" name="chip-a-0"/>
          <p:cNvSpPr txBox="1"/>
          <p:nvPr/>
        </p:nvSpPr>
        <p:spPr>
          <a:xfrm>
            <a:off x="7443470" y="1711166"/>
            <a:ext cx="276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营收</a:t>
            </a:r>
          </a:p>
        </p:txBody>
      </p:sp>
      <p:sp>
        <p:nvSpPr>
          <p:cNvPr id="23" name="chip-b-0"/>
          <p:cNvSpPr txBox="1"/>
          <p:nvPr/>
        </p:nvSpPr>
        <p:spPr>
          <a:xfrm>
            <a:off x="7432040" y="1847532"/>
            <a:ext cx="59817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>
                <a:solidFill>
                  <a:srgbClr val="E0703A"/>
                </a:solidFill>
                <a:latin typeface="Arial"/>
                <a:ea typeface="Arial"/>
                <a:cs typeface="Arial"/>
              </a:rPr>
              <a:t>+38%</a:t>
            </a:r>
          </a:p>
        </p:txBody>
      </p:sp>
      <p:sp>
        <p:nvSpPr>
          <p:cNvPr id="24" name="chip-1"/>
          <p:cNvSpPr/>
          <p:nvPr/>
        </p:nvSpPr>
        <p:spPr>
          <a:xfrm>
            <a:off x="6985000" y="4826000"/>
            <a:ext cx="1270000" cy="609600"/>
          </a:xfrm>
          <a:custGeom>
            <a:avLst/>
            <a:gdLst/>
            <a:ahLst/>
            <a:cxnLst/>
            <a:rect l="0" t="0" r="r" b="b"/>
            <a:pathLst>
              <a:path w="1270000" h="609600">
                <a:moveTo>
                  <a:pt x="127000" y="0"/>
                </a:moveTo>
                <a:lnTo>
                  <a:pt x="1143000" y="0"/>
                </a:lnTo>
                <a:cubicBezTo>
                  <a:pt x="1213167" y="0"/>
                  <a:pt x="1270000" y="56833"/>
                  <a:pt x="1270000" y="127000"/>
                </a:cubicBezTo>
                <a:lnTo>
                  <a:pt x="1270000" y="482600"/>
                </a:lnTo>
                <a:cubicBezTo>
                  <a:pt x="1270000" y="552767"/>
                  <a:pt x="1213167" y="609600"/>
                  <a:pt x="1143000" y="609600"/>
                </a:cubicBezTo>
                <a:lnTo>
                  <a:pt x="127000" y="609600"/>
                </a:lnTo>
                <a:cubicBezTo>
                  <a:pt x="56833" y="609600"/>
                  <a:pt x="0" y="552767"/>
                  <a:pt x="0" y="482600"/>
                </a:cubicBezTo>
                <a:lnTo>
                  <a:pt x="0" y="127000"/>
                </a:lnTo>
                <a:cubicBezTo>
                  <a:pt x="0" y="56833"/>
                  <a:pt x="56833" y="0"/>
                  <a:pt x="12700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177800" dist="57150" dir="5400000" rotWithShape="0">
              <a:srgbClr val="123A6B">
                <a:alpha val="1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5" name="chip-a-1"/>
          <p:cNvSpPr txBox="1"/>
          <p:nvPr/>
        </p:nvSpPr>
        <p:spPr>
          <a:xfrm>
            <a:off x="7125970" y="4949666"/>
            <a:ext cx="276225" cy="1666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50" b="1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客户</a:t>
            </a:r>
          </a:p>
        </p:txBody>
      </p:sp>
      <p:sp>
        <p:nvSpPr>
          <p:cNvPr id="26" name="chip-b-1"/>
          <p:cNvSpPr txBox="1"/>
          <p:nvPr/>
        </p:nvSpPr>
        <p:spPr>
          <a:xfrm>
            <a:off x="7114540" y="5086032"/>
            <a:ext cx="811530" cy="3333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500" b="1">
                <a:solidFill>
                  <a:srgbClr val="0B3E8F"/>
                </a:solidFill>
                <a:latin typeface="Arial"/>
                <a:ea typeface="Arial"/>
                <a:cs typeface="Arial"/>
              </a:rPr>
              <a:t>5,000+</a:t>
            </a:r>
          </a:p>
        </p:txBody>
      </p:sp>
      <p:sp>
        <p:nvSpPr>
          <p:cNvPr id="27" name="acc"/>
          <p:cNvSpPr/>
          <p:nvPr/>
        </p:nvSpPr>
        <p:spPr>
          <a:xfrm>
            <a:off x="952500" y="1587500"/>
            <a:ext cx="406400" cy="381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endParaRPr/>
          </a:p>
        </p:txBody>
      </p:sp>
      <p:sp>
        <p:nvSpPr>
          <p:cNvPr id="28" name="en"/>
          <p:cNvSpPr txBox="1"/>
          <p:nvPr/>
        </p:nvSpPr>
        <p:spPr>
          <a:xfrm>
            <a:off x="938784" y="1890840"/>
            <a:ext cx="2516886" cy="2000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900" b="1" spc="200">
                <a:solidFill>
                  <a:srgbClr val="7E93AE"/>
                </a:solidFill>
                <a:latin typeface="Arial"/>
                <a:ea typeface="Arial"/>
                <a:cs typeface="Arial"/>
              </a:rPr>
              <a:t>ANNUAL BUSINESS REVIEW 2026</a:t>
            </a:r>
          </a:p>
        </p:txBody>
      </p:sp>
      <p:sp>
        <p:nvSpPr>
          <p:cNvPr id="29" name="t1"/>
          <p:cNvSpPr txBox="1"/>
          <p:nvPr/>
        </p:nvSpPr>
        <p:spPr>
          <a:xfrm>
            <a:off x="863092" y="2135251"/>
            <a:ext cx="3307080" cy="9334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4200" b="1" spc="30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2026 年度</a:t>
            </a:r>
          </a:p>
        </p:txBody>
      </p:sp>
      <p:sp>
        <p:nvSpPr>
          <p:cNvPr id="30" name="t2"/>
          <p:cNvSpPr txBox="1"/>
          <p:nvPr/>
        </p:nvSpPr>
        <p:spPr>
          <a:xfrm>
            <a:off x="863092" y="2833751"/>
            <a:ext cx="3909060" cy="9334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4200" b="1" spc="300">
                <a:solidFill>
                  <a:srgbClr val="0B3E8F"/>
                </a:solidFill>
                <a:latin typeface="微软雅黑"/>
                <a:ea typeface="微软雅黑"/>
                <a:cs typeface="微软雅黑"/>
              </a:rPr>
              <a:t>经营分析报告</a:t>
            </a:r>
          </a:p>
        </p:txBody>
      </p:sp>
      <p:sp>
        <p:nvSpPr>
          <p:cNvPr id="31" name="sub"/>
          <p:cNvSpPr txBox="1"/>
          <p:nvPr/>
        </p:nvSpPr>
        <p:spPr>
          <a:xfrm>
            <a:off x="931164" y="3742817"/>
            <a:ext cx="2827020" cy="3111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400" b="0" spc="100">
                <a:solidFill>
                  <a:srgbClr val="64748B"/>
                </a:solidFill>
                <a:latin typeface="微软雅黑"/>
                <a:ea typeface="微软雅黑"/>
                <a:cs typeface="微软雅黑"/>
              </a:rPr>
              <a:t>增长、效率与下一年的三个重点</a:t>
            </a:r>
          </a:p>
        </p:txBody>
      </p:sp>
      <p:cxnSp>
        <p:nvCxnSpPr>
          <p:cNvPr id="32" name="div"/>
          <p:cNvCxnSpPr/>
          <p:nvPr/>
        </p:nvCxnSpPr>
        <p:spPr>
          <a:xfrm>
            <a:off x="952500" y="4445000"/>
            <a:ext cx="3492500" cy="0"/>
          </a:xfrm>
          <a:prstGeom prst="line">
            <a:avLst/>
          </a:prstGeom>
          <a:ln w="635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ma-0"/>
          <p:cNvSpPr txBox="1"/>
          <p:nvPr/>
        </p:nvSpPr>
        <p:spPr>
          <a:xfrm>
            <a:off x="940308" y="4649724"/>
            <a:ext cx="4343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汇报人</a:t>
            </a:r>
          </a:p>
        </p:txBody>
      </p:sp>
      <p:sp>
        <p:nvSpPr>
          <p:cNvPr id="34" name="mb-0"/>
          <p:cNvSpPr txBox="1"/>
          <p:nvPr/>
        </p:nvSpPr>
        <p:spPr>
          <a:xfrm>
            <a:off x="935736" y="4856670"/>
            <a:ext cx="855980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经营分析部</a:t>
            </a:r>
          </a:p>
        </p:txBody>
      </p:sp>
      <p:sp>
        <p:nvSpPr>
          <p:cNvPr id="35" name="ma-1"/>
          <p:cNvSpPr txBox="1"/>
          <p:nvPr/>
        </p:nvSpPr>
        <p:spPr>
          <a:xfrm>
            <a:off x="2845308" y="4649724"/>
            <a:ext cx="32004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800" b="0" spc="100">
                <a:solidFill>
                  <a:srgbClr val="7E93AE"/>
                </a:solidFill>
                <a:latin typeface="微软雅黑"/>
                <a:ea typeface="微软雅黑"/>
                <a:cs typeface="微软雅黑"/>
              </a:rPr>
              <a:t>日期</a:t>
            </a:r>
          </a:p>
        </p:txBody>
      </p:sp>
      <p:sp>
        <p:nvSpPr>
          <p:cNvPr id="36" name="mb-1"/>
          <p:cNvSpPr txBox="1"/>
          <p:nvPr/>
        </p:nvSpPr>
        <p:spPr>
          <a:xfrm>
            <a:off x="2840736" y="4856670"/>
            <a:ext cx="1179068" cy="2444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 spc="50">
                <a:solidFill>
                  <a:srgbClr val="0B2545"/>
                </a:solidFill>
                <a:latin typeface="微软雅黑"/>
                <a:ea typeface="微软雅黑"/>
                <a:cs typeface="微软雅黑"/>
              </a:rPr>
              <a:t>2026 年 12 月</a:t>
            </a:r>
          </a:p>
        </p:txBody>
      </p:sp>
      <p:sp>
        <p:nvSpPr>
          <p:cNvPr id="37" name="brand"/>
          <p:cNvSpPr txBox="1"/>
          <p:nvPr/>
        </p:nvSpPr>
        <p:spPr>
          <a:xfrm>
            <a:off x="941832" y="6240208"/>
            <a:ext cx="1387856" cy="1555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700" b="1" spc="150">
                <a:solidFill>
                  <a:srgbClr val="7E93AE"/>
                </a:solidFill>
                <a:latin typeface="Arial"/>
                <a:ea typeface="Arial"/>
                <a:cs typeface="Arial"/>
              </a:rPr>
              <a:t>RIPRO CHART LIBRARY</a:t>
            </a:r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g-dark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3A88"/>
              </a:gs>
              <a:gs pos="100000">
                <a:srgbClr val="061F52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" name="mini-card-d33_sunburst"/>
          <p:cNvSpPr/>
          <p:nvPr/>
        </p:nvSpPr>
        <p:spPr>
          <a:xfrm>
            <a:off x="-444500" y="-3810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1" y="0"/>
                </a:moveTo>
                <a:lnTo>
                  <a:pt x="2419160" y="0"/>
                </a:lnTo>
                <a:cubicBezTo>
                  <a:pt x="2463482" y="0"/>
                  <a:pt x="2499360" y="35877"/>
                  <a:pt x="2499360" y="80201"/>
                </a:cubicBezTo>
                <a:lnTo>
                  <a:pt x="2499360" y="1325690"/>
                </a:lnTo>
                <a:cubicBezTo>
                  <a:pt x="2499360" y="1370012"/>
                  <a:pt x="2463482" y="1405890"/>
                  <a:pt x="2419160" y="1405890"/>
                </a:cubicBezTo>
                <a:lnTo>
                  <a:pt x="80201" y="1405890"/>
                </a:lnTo>
                <a:cubicBezTo>
                  <a:pt x="35878" y="1405890"/>
                  <a:pt x="0" y="1370012"/>
                  <a:pt x="0" y="1325690"/>
                </a:cubicBezTo>
                <a:lnTo>
                  <a:pt x="0" y="80201"/>
                </a:lnTo>
                <a:cubicBezTo>
                  <a:pt x="0" y="35877"/>
                  <a:pt x="35878" y="0"/>
                  <a:pt x="80201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m-d33_sunburst-title-bar"/>
          <p:cNvSpPr/>
          <p:nvPr/>
        </p:nvSpPr>
        <p:spPr>
          <a:xfrm>
            <a:off x="-324739" y="-282067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m-d33_sunburst-title-bar-accent"/>
          <p:cNvSpPr/>
          <p:nvPr/>
        </p:nvSpPr>
        <p:spPr>
          <a:xfrm>
            <a:off x="-324739" y="-282067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m-d33_sunburst-title-cn"/>
          <p:cNvSpPr txBox="1"/>
          <p:nvPr/>
        </p:nvSpPr>
        <p:spPr>
          <a:xfrm>
            <a:off x="-292560" y="-299432"/>
            <a:ext cx="551421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营收结构两层拆解</a:t>
            </a:r>
          </a:p>
        </p:txBody>
      </p:sp>
      <p:sp>
        <p:nvSpPr>
          <p:cNvPr id="7" name="m-d33_sunburst-title-en"/>
          <p:cNvSpPr txBox="1"/>
          <p:nvPr/>
        </p:nvSpPr>
        <p:spPr>
          <a:xfrm>
            <a:off x="-285270" y="-212150"/>
            <a:ext cx="27774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SUNBURST CHART</a:t>
            </a:r>
          </a:p>
        </p:txBody>
      </p:sp>
      <p:sp>
        <p:nvSpPr>
          <p:cNvPr id="8" name="m-d33_sunburst-title-sub"/>
          <p:cNvSpPr txBox="1"/>
          <p:nvPr/>
        </p:nvSpPr>
        <p:spPr>
          <a:xfrm>
            <a:off x="1308619" y="-243008"/>
            <a:ext cx="629136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内圈是四大业务，外圈是各自的产品线，角度代表营收占比</a:t>
            </a:r>
          </a:p>
        </p:txBody>
      </p:sp>
      <p:sp>
        <p:nvSpPr>
          <p:cNvPr id="9" name="m-d33_sunburst-in-1"/>
          <p:cNvSpPr/>
          <p:nvPr/>
        </p:nvSpPr>
        <p:spPr>
          <a:xfrm>
            <a:off x="470598" y="90731"/>
            <a:ext cx="279915" cy="525842"/>
          </a:xfrm>
          <a:custGeom>
            <a:avLst/>
            <a:gdLst/>
            <a:ahLst/>
            <a:cxnLst/>
            <a:rect l="0" t="0" r="r" b="b"/>
            <a:pathLst>
              <a:path w="279915" h="525842">
                <a:moveTo>
                  <a:pt x="13017" y="11"/>
                </a:moveTo>
                <a:cubicBezTo>
                  <a:pt x="136081" y="7377"/>
                  <a:pt x="240347" y="93292"/>
                  <a:pt x="271018" y="212736"/>
                </a:cubicBezTo>
                <a:cubicBezTo>
                  <a:pt x="301625" y="332116"/>
                  <a:pt x="251714" y="457655"/>
                  <a:pt x="147447" y="523378"/>
                </a:cubicBezTo>
                <a:quadBezTo>
                  <a:pt x="136271" y="530045"/>
                  <a:pt x="129984" y="518679"/>
                </a:quadBezTo>
                <a:lnTo>
                  <a:pt x="74803" y="418222"/>
                </a:lnTo>
                <a:quadBezTo>
                  <a:pt x="68517" y="406855"/>
                  <a:pt x="79439" y="399743"/>
                </a:quadBezTo>
                <a:cubicBezTo>
                  <a:pt x="127508" y="365326"/>
                  <a:pt x="149542" y="304938"/>
                  <a:pt x="134811" y="247661"/>
                </a:cubicBezTo>
                <a:cubicBezTo>
                  <a:pt x="120078" y="190384"/>
                  <a:pt x="71692" y="148093"/>
                  <a:pt x="13017" y="141108"/>
                </a:cubicBezTo>
                <a:quadBezTo>
                  <a:pt x="0" y="140155"/>
                  <a:pt x="0" y="127138"/>
                </a:quadBezTo>
                <a:lnTo>
                  <a:pt x="0" y="12520"/>
                </a:lnTo>
                <a:quadBezTo>
                  <a:pt x="0" y="-497"/>
                  <a:pt x="13017" y="11"/>
                </a:quad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" name="m-d33_sunburst-int-1"/>
          <p:cNvSpPr txBox="1"/>
          <p:nvPr/>
        </p:nvSpPr>
        <p:spPr>
          <a:xfrm>
            <a:off x="613494" y="289382"/>
            <a:ext cx="12002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企业软件</a:t>
            </a:r>
          </a:p>
        </p:txBody>
      </p:sp>
      <p:sp>
        <p:nvSpPr>
          <p:cNvPr id="11" name="m-d33_sunburst-inv-1"/>
          <p:cNvSpPr txBox="1"/>
          <p:nvPr/>
        </p:nvSpPr>
        <p:spPr>
          <a:xfrm>
            <a:off x="648316" y="325447"/>
            <a:ext cx="50378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E3EDF9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42%</a:t>
            </a:r>
          </a:p>
        </p:txBody>
      </p:sp>
      <p:sp>
        <p:nvSpPr>
          <p:cNvPr id="12" name="m-d33_sunburst-out-1-1"/>
          <p:cNvSpPr/>
          <p:nvPr/>
        </p:nvSpPr>
        <p:spPr>
          <a:xfrm>
            <a:off x="469964" y="-55372"/>
            <a:ext cx="380939" cy="298174"/>
          </a:xfrm>
          <a:custGeom>
            <a:avLst/>
            <a:gdLst/>
            <a:ahLst/>
            <a:cxnLst/>
            <a:rect l="0" t="0" r="r" b="b"/>
            <a:pathLst>
              <a:path w="380939" h="298174">
                <a:moveTo>
                  <a:pt x="10414" y="0"/>
                </a:moveTo>
                <a:cubicBezTo>
                  <a:pt x="166941" y="5017"/>
                  <a:pt x="308292" y="94742"/>
                  <a:pt x="379412" y="234188"/>
                </a:cubicBezTo>
                <a:quadBezTo>
                  <a:pt x="384048" y="243522"/>
                  <a:pt x="374650" y="247967"/>
                </a:quadBezTo>
                <a:lnTo>
                  <a:pt x="270954" y="296736"/>
                </a:lnTo>
                <a:quadBezTo>
                  <a:pt x="261556" y="301180"/>
                  <a:pt x="256857" y="291910"/>
                </a:quadBezTo>
                <a:cubicBezTo>
                  <a:pt x="208153" y="199834"/>
                  <a:pt x="114490" y="140335"/>
                  <a:pt x="10414" y="135509"/>
                </a:cubicBezTo>
                <a:quadBezTo>
                  <a:pt x="0" y="135192"/>
                  <a:pt x="0" y="124777"/>
                </a:quadBezTo>
                <a:lnTo>
                  <a:pt x="0" y="10224"/>
                </a:lnTo>
                <a:quadBezTo>
                  <a:pt x="0" y="-190"/>
                  <a:pt x="10414" y="0"/>
                </a:quadBezTo>
                <a:close/>
              </a:path>
            </a:pathLst>
          </a:custGeom>
          <a:solidFill>
            <a:srgbClr val="486EA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" name="m-d33_sunburst-outt-1-1"/>
          <p:cNvSpPr txBox="1"/>
          <p:nvPr/>
        </p:nvSpPr>
        <p:spPr>
          <a:xfrm>
            <a:off x="635445" y="52160"/>
            <a:ext cx="50378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ERP</a:t>
            </a:r>
          </a:p>
        </p:txBody>
      </p:sp>
      <p:sp>
        <p:nvSpPr>
          <p:cNvPr id="14" name="m-d33_sunburst-out-1-2"/>
          <p:cNvSpPr/>
          <p:nvPr/>
        </p:nvSpPr>
        <p:spPr>
          <a:xfrm>
            <a:off x="737183" y="197087"/>
            <a:ext cx="159120" cy="353856"/>
          </a:xfrm>
          <a:custGeom>
            <a:avLst/>
            <a:gdLst/>
            <a:ahLst/>
            <a:cxnLst/>
            <a:rect l="0" t="0" r="r" b="b"/>
            <a:pathLst>
              <a:path w="159120" h="353856">
                <a:moveTo>
                  <a:pt x="123877" y="6494"/>
                </a:moveTo>
                <a:cubicBezTo>
                  <a:pt x="170867" y="115269"/>
                  <a:pt x="170867" y="238586"/>
                  <a:pt x="123877" y="347362"/>
                </a:cubicBezTo>
                <a:quadBezTo>
                  <a:pt x="119623" y="356887"/>
                  <a:pt x="110161" y="352442"/>
                </a:quadBezTo>
                <a:lnTo>
                  <a:pt x="6529" y="303674"/>
                </a:lnTo>
                <a:quadBezTo>
                  <a:pt x="-2869" y="299229"/>
                  <a:pt x="1259" y="289704"/>
                </a:quadBezTo>
                <a:cubicBezTo>
                  <a:pt x="31231" y="217504"/>
                  <a:pt x="31231" y="136351"/>
                  <a:pt x="1259" y="64152"/>
                </a:cubicBezTo>
                <a:quadBezTo>
                  <a:pt x="-2869" y="54627"/>
                  <a:pt x="6529" y="50182"/>
                </a:quadBezTo>
                <a:lnTo>
                  <a:pt x="110161" y="1414"/>
                </a:lnTo>
                <a:quadBezTo>
                  <a:pt x="119623" y="-3031"/>
                  <a:pt x="123877" y="6494"/>
                </a:quadBezTo>
                <a:close/>
              </a:path>
            </a:pathLst>
          </a:custGeom>
          <a:solidFill>
            <a:srgbClr val="7995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" name="m-d33_sunburst-outt-1-2"/>
          <p:cNvSpPr txBox="1"/>
          <p:nvPr/>
        </p:nvSpPr>
        <p:spPr>
          <a:xfrm>
            <a:off x="803423" y="357711"/>
            <a:ext cx="50378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CRM</a:t>
            </a:r>
          </a:p>
        </p:txBody>
      </p:sp>
      <p:sp>
        <p:nvSpPr>
          <p:cNvPr id="16" name="m-d33_sunburst-out-1-3"/>
          <p:cNvSpPr/>
          <p:nvPr/>
        </p:nvSpPr>
        <p:spPr>
          <a:xfrm>
            <a:off x="614533" y="505228"/>
            <a:ext cx="236370" cy="240342"/>
          </a:xfrm>
          <a:custGeom>
            <a:avLst/>
            <a:gdLst/>
            <a:ahLst/>
            <a:cxnLst/>
            <a:rect l="0" t="0" r="r" b="b"/>
            <a:pathLst>
              <a:path w="236370" h="240342">
                <a:moveTo>
                  <a:pt x="234843" y="63986"/>
                </a:moveTo>
                <a:cubicBezTo>
                  <a:pt x="197886" y="136503"/>
                  <a:pt x="141053" y="197019"/>
                  <a:pt x="71013" y="238484"/>
                </a:cubicBezTo>
                <a:quadBezTo>
                  <a:pt x="61996" y="243628"/>
                  <a:pt x="56979" y="234547"/>
                </a:quadBezTo>
                <a:lnTo>
                  <a:pt x="1798" y="134154"/>
                </a:lnTo>
                <a:quadBezTo>
                  <a:pt x="-3219" y="125010"/>
                  <a:pt x="5735" y="119739"/>
                </a:quadBezTo>
                <a:cubicBezTo>
                  <a:pt x="50820" y="92180"/>
                  <a:pt x="87586" y="53001"/>
                  <a:pt x="112288" y="6265"/>
                </a:cubicBezTo>
                <a:quadBezTo>
                  <a:pt x="116987" y="-3006"/>
                  <a:pt x="126385" y="1439"/>
                </a:quadBezTo>
                <a:lnTo>
                  <a:pt x="230080" y="50207"/>
                </a:lnTo>
                <a:quadBezTo>
                  <a:pt x="239478" y="54652"/>
                  <a:pt x="234843" y="63986"/>
                </a:quadBezTo>
                <a:close/>
              </a:path>
            </a:pathLst>
          </a:custGeom>
          <a:solidFill>
            <a:srgbClr val="AABBD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" name="m-d33_sunburst-outt-1-3"/>
          <p:cNvSpPr txBox="1"/>
          <p:nvPr/>
        </p:nvSpPr>
        <p:spPr>
          <a:xfrm>
            <a:off x="710807" y="605439"/>
            <a:ext cx="3944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OA</a:t>
            </a:r>
          </a:p>
        </p:txBody>
      </p:sp>
      <p:sp>
        <p:nvSpPr>
          <p:cNvPr id="18" name="m-d33_sunburst-in-2"/>
          <p:cNvSpPr/>
          <p:nvPr/>
        </p:nvSpPr>
        <p:spPr>
          <a:xfrm>
            <a:off x="201366" y="424962"/>
            <a:ext cx="394555" cy="232784"/>
          </a:xfrm>
          <a:custGeom>
            <a:avLst/>
            <a:gdLst/>
            <a:ahLst/>
            <a:cxnLst/>
            <a:rect l="0" t="0" r="r" b="b"/>
            <a:pathLst>
              <a:path w="394555" h="232784">
                <a:moveTo>
                  <a:pt x="387025" y="205403"/>
                </a:moveTo>
                <a:cubicBezTo>
                  <a:pt x="315905" y="239185"/>
                  <a:pt x="234053" y="241852"/>
                  <a:pt x="160901" y="212896"/>
                </a:cubicBezTo>
                <a:cubicBezTo>
                  <a:pt x="87749" y="183940"/>
                  <a:pt x="29901" y="125901"/>
                  <a:pt x="1199" y="52685"/>
                </a:cubicBezTo>
                <a:quadBezTo>
                  <a:pt x="-3310" y="40430"/>
                  <a:pt x="9073" y="36429"/>
                </a:quadBezTo>
                <a:lnTo>
                  <a:pt x="118039" y="996"/>
                </a:lnTo>
                <a:quadBezTo>
                  <a:pt x="130421" y="-3004"/>
                  <a:pt x="135311" y="9061"/>
                </a:quadBezTo>
                <a:cubicBezTo>
                  <a:pt x="167378" y="78466"/>
                  <a:pt x="248214" y="110470"/>
                  <a:pt x="319080" y="81768"/>
                </a:cubicBezTo>
                <a:quadBezTo>
                  <a:pt x="330891" y="76371"/>
                  <a:pt x="337177" y="87801"/>
                </a:quadBezTo>
                <a:lnTo>
                  <a:pt x="392359" y="188194"/>
                </a:lnTo>
                <a:quadBezTo>
                  <a:pt x="398645" y="199561"/>
                  <a:pt x="387025" y="205403"/>
                </a:quadBezTo>
                <a:close/>
              </a:path>
            </a:pathLst>
          </a:custGeom>
          <a:gradFill rotWithShape="1">
            <a:gsLst>
              <a:gs pos="0">
                <a:srgbClr val="3E7ABF"/>
              </a:gs>
              <a:gs pos="100000">
                <a:srgbClr val="2468B6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" name="m-d33_sunburst-int-2"/>
          <p:cNvSpPr txBox="1"/>
          <p:nvPr/>
        </p:nvSpPr>
        <p:spPr>
          <a:xfrm>
            <a:off x="340491" y="540969"/>
            <a:ext cx="95288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云服务</a:t>
            </a:r>
          </a:p>
        </p:txBody>
      </p:sp>
      <p:sp>
        <p:nvSpPr>
          <p:cNvPr id="20" name="m-d33_sunburst-inv-2"/>
          <p:cNvSpPr txBox="1"/>
          <p:nvPr/>
        </p:nvSpPr>
        <p:spPr>
          <a:xfrm>
            <a:off x="362946" y="577034"/>
            <a:ext cx="50378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E3EDF9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28%</a:t>
            </a:r>
          </a:p>
        </p:txBody>
      </p:sp>
      <p:sp>
        <p:nvSpPr>
          <p:cNvPr id="21" name="m-d33_sunburst-out-2-1"/>
          <p:cNvSpPr/>
          <p:nvPr/>
        </p:nvSpPr>
        <p:spPr>
          <a:xfrm>
            <a:off x="365105" y="636493"/>
            <a:ext cx="302454" cy="167101"/>
          </a:xfrm>
          <a:custGeom>
            <a:avLst/>
            <a:gdLst/>
            <a:ahLst/>
            <a:cxnLst/>
            <a:rect l="0" t="0" r="r" b="b"/>
            <a:pathLst>
              <a:path w="302454" h="167101">
                <a:moveTo>
                  <a:pt x="296501" y="120364"/>
                </a:moveTo>
                <a:cubicBezTo>
                  <a:pt x="207538" y="165639"/>
                  <a:pt x="105557" y="178530"/>
                  <a:pt x="8084" y="156813"/>
                </a:cubicBezTo>
                <a:quadBezTo>
                  <a:pt x="-2076" y="154400"/>
                  <a:pt x="528" y="144303"/>
                </a:quadBezTo>
                <a:lnTo>
                  <a:pt x="29039" y="33369"/>
                </a:lnTo>
                <a:quadBezTo>
                  <a:pt x="31643" y="23272"/>
                  <a:pt x="41739" y="25558"/>
                </a:quadBezTo>
                <a:cubicBezTo>
                  <a:pt x="105811" y="38893"/>
                  <a:pt x="172486" y="30448"/>
                  <a:pt x="231223" y="1619"/>
                </a:cubicBezTo>
                <a:quadBezTo>
                  <a:pt x="240494" y="-3144"/>
                  <a:pt x="245511" y="6000"/>
                </a:quadBezTo>
                <a:lnTo>
                  <a:pt x="300692" y="106394"/>
                </a:lnTo>
                <a:quadBezTo>
                  <a:pt x="305709" y="115538"/>
                  <a:pt x="296501" y="120364"/>
                </a:quadBezTo>
                <a:close/>
              </a:path>
            </a:pathLst>
          </a:custGeom>
          <a:solidFill>
            <a:srgbClr val="5B8EC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" name="m-d33_sunburst-outt-2-1"/>
          <p:cNvSpPr txBox="1"/>
          <p:nvPr/>
        </p:nvSpPr>
        <p:spPr>
          <a:xfrm>
            <a:off x="481425" y="716743"/>
            <a:ext cx="6131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IaaS</a:t>
            </a:r>
          </a:p>
        </p:txBody>
      </p:sp>
      <p:sp>
        <p:nvSpPr>
          <p:cNvPr id="23" name="m-d33_sunburst-out-2-2"/>
          <p:cNvSpPr/>
          <p:nvPr/>
        </p:nvSpPr>
        <p:spPr>
          <a:xfrm>
            <a:off x="159528" y="581406"/>
            <a:ext cx="228801" cy="205680"/>
          </a:xfrm>
          <a:custGeom>
            <a:avLst/>
            <a:gdLst/>
            <a:ahLst/>
            <a:cxnLst/>
            <a:rect l="0" t="0" r="r" b="b"/>
            <a:pathLst>
              <a:path w="228801" h="205680">
                <a:moveTo>
                  <a:pt x="187182" y="205105"/>
                </a:moveTo>
                <a:cubicBezTo>
                  <a:pt x="117840" y="184912"/>
                  <a:pt x="54658" y="147574"/>
                  <a:pt x="3540" y="96520"/>
                </a:cubicBezTo>
                <a:quadBezTo>
                  <a:pt x="-3699" y="89027"/>
                  <a:pt x="3858" y="81915"/>
                </a:quadBezTo>
                <a:lnTo>
                  <a:pt x="87360" y="3492"/>
                </a:lnTo>
                <a:quadBezTo>
                  <a:pt x="94980" y="-3620"/>
                  <a:pt x="102346" y="3747"/>
                </a:quadBezTo>
                <a:cubicBezTo>
                  <a:pt x="135747" y="36131"/>
                  <a:pt x="176387" y="60198"/>
                  <a:pt x="220901" y="73850"/>
                </a:cubicBezTo>
                <a:quadBezTo>
                  <a:pt x="230870" y="76708"/>
                  <a:pt x="228267" y="86805"/>
                </a:quadBezTo>
                <a:lnTo>
                  <a:pt x="199819" y="197802"/>
                </a:lnTo>
                <a:quadBezTo>
                  <a:pt x="197215" y="207836"/>
                  <a:pt x="187182" y="205105"/>
                </a:quadBezTo>
                <a:close/>
              </a:path>
            </a:pathLst>
          </a:custGeom>
          <a:solidFill>
            <a:srgbClr val="87AC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" name="m-d33_sunburst-outt-2-2"/>
          <p:cNvSpPr txBox="1"/>
          <p:nvPr/>
        </p:nvSpPr>
        <p:spPr>
          <a:xfrm>
            <a:off x="251854" y="669202"/>
            <a:ext cx="6131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PaaS</a:t>
            </a:r>
          </a:p>
        </p:txBody>
      </p:sp>
      <p:sp>
        <p:nvSpPr>
          <p:cNvPr id="25" name="m-d33_sunburst-out-2-3"/>
          <p:cNvSpPr/>
          <p:nvPr/>
        </p:nvSpPr>
        <p:spPr>
          <a:xfrm>
            <a:off x="61730" y="470432"/>
            <a:ext cx="184698" cy="191540"/>
          </a:xfrm>
          <a:custGeom>
            <a:avLst/>
            <a:gdLst/>
            <a:ahLst/>
            <a:cxnLst/>
            <a:rect l="0" t="0" r="r" b="b"/>
            <a:pathLst>
              <a:path w="184698" h="191540">
                <a:moveTo>
                  <a:pt x="82669" y="187555"/>
                </a:moveTo>
                <a:cubicBezTo>
                  <a:pt x="46919" y="146979"/>
                  <a:pt x="19169" y="100116"/>
                  <a:pt x="881" y="49252"/>
                </a:cubicBezTo>
                <a:quadBezTo>
                  <a:pt x="-2548" y="39410"/>
                  <a:pt x="7358" y="36235"/>
                </a:quadBezTo>
                <a:lnTo>
                  <a:pt x="116324" y="802"/>
                </a:lnTo>
                <a:quadBezTo>
                  <a:pt x="126230" y="-2437"/>
                  <a:pt x="129723" y="7406"/>
                </a:quadBezTo>
                <a:cubicBezTo>
                  <a:pt x="141788" y="39283"/>
                  <a:pt x="159250" y="68874"/>
                  <a:pt x="181412" y="94782"/>
                </a:cubicBezTo>
                <a:quadBezTo>
                  <a:pt x="188333" y="102592"/>
                  <a:pt x="180713" y="109704"/>
                </a:quadBezTo>
                <a:lnTo>
                  <a:pt x="97211" y="188127"/>
                </a:lnTo>
                <a:quadBezTo>
                  <a:pt x="89654" y="195239"/>
                  <a:pt x="82669" y="187555"/>
                </a:quadBezTo>
                <a:close/>
              </a:path>
            </a:pathLst>
          </a:custGeom>
          <a:solidFill>
            <a:srgbClr val="B2CAE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6" name="m-d33_sunburst-outt-2-3"/>
          <p:cNvSpPr txBox="1"/>
          <p:nvPr/>
        </p:nvSpPr>
        <p:spPr>
          <a:xfrm>
            <a:off x="135513" y="541926"/>
            <a:ext cx="3944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7%</a:t>
            </a:r>
          </a:p>
        </p:txBody>
      </p:sp>
      <p:sp>
        <p:nvSpPr>
          <p:cNvPr id="27" name="m-d33_sunburst-in-3"/>
          <p:cNvSpPr/>
          <p:nvPr/>
        </p:nvSpPr>
        <p:spPr>
          <a:xfrm>
            <a:off x="182932" y="174530"/>
            <a:ext cx="178526" cy="280400"/>
          </a:xfrm>
          <a:custGeom>
            <a:avLst/>
            <a:gdLst/>
            <a:ahLst/>
            <a:cxnLst/>
            <a:rect l="0" t="0" r="r" b="b"/>
            <a:pathLst>
              <a:path w="178526" h="280400">
                <a:moveTo>
                  <a:pt x="9156" y="270923"/>
                </a:moveTo>
                <a:cubicBezTo>
                  <a:pt x="-15482" y="176308"/>
                  <a:pt x="10362" y="75660"/>
                  <a:pt x="77545" y="4540"/>
                </a:cubicBezTo>
                <a:quadBezTo>
                  <a:pt x="86689" y="-4667"/>
                  <a:pt x="95643" y="4794"/>
                </a:quadBezTo>
                <a:lnTo>
                  <a:pt x="174065" y="88360"/>
                </a:lnTo>
                <a:quadBezTo>
                  <a:pt x="182955" y="97822"/>
                  <a:pt x="174129" y="107410"/>
                </a:quadBezTo>
                <a:cubicBezTo>
                  <a:pt x="146189" y="140621"/>
                  <a:pt x="134886" y="184753"/>
                  <a:pt x="143331" y="227362"/>
                </a:cubicBezTo>
                <a:quadBezTo>
                  <a:pt x="146443" y="239998"/>
                  <a:pt x="134060" y="244062"/>
                </a:quadBezTo>
                <a:lnTo>
                  <a:pt x="25094" y="279432"/>
                </a:lnTo>
                <a:quadBezTo>
                  <a:pt x="12712" y="283432"/>
                  <a:pt x="9156" y="270923"/>
                </a:quadBezTo>
                <a:close/>
              </a:path>
            </a:pathLst>
          </a:custGeom>
          <a:gradFill rotWithShape="1">
            <a:gsLst>
              <a:gs pos="0">
                <a:srgbClr val="5CA1DC"/>
              </a:gs>
              <a:gs pos="100000">
                <a:srgbClr val="4694D7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8" name="m-d33_sunburst-int-3"/>
          <p:cNvSpPr txBox="1"/>
          <p:nvPr/>
        </p:nvSpPr>
        <p:spPr>
          <a:xfrm>
            <a:off x="199934" y="289382"/>
            <a:ext cx="12002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数据服务</a:t>
            </a:r>
          </a:p>
        </p:txBody>
      </p:sp>
      <p:sp>
        <p:nvSpPr>
          <p:cNvPr id="29" name="m-d33_sunburst-inv-3"/>
          <p:cNvSpPr txBox="1"/>
          <p:nvPr/>
        </p:nvSpPr>
        <p:spPr>
          <a:xfrm>
            <a:off x="234756" y="325447"/>
            <a:ext cx="50378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E3EDF9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18%</a:t>
            </a:r>
          </a:p>
        </p:txBody>
      </p:sp>
      <p:sp>
        <p:nvSpPr>
          <p:cNvPr id="30" name="m-d33_sunburst-out-3-1"/>
          <p:cNvSpPr/>
          <p:nvPr/>
        </p:nvSpPr>
        <p:spPr>
          <a:xfrm>
            <a:off x="37172" y="298353"/>
            <a:ext cx="146494" cy="202885"/>
          </a:xfrm>
          <a:custGeom>
            <a:avLst/>
            <a:gdLst/>
            <a:ahLst/>
            <a:cxnLst/>
            <a:rect l="0" t="0" r="r" b="b"/>
            <a:pathLst>
              <a:path w="146494" h="202885">
                <a:moveTo>
                  <a:pt x="16994" y="195360"/>
                </a:moveTo>
                <a:cubicBezTo>
                  <a:pt x="-596" y="134717"/>
                  <a:pt x="-4596" y="70963"/>
                  <a:pt x="5246" y="8606"/>
                </a:cubicBezTo>
                <a:quadBezTo>
                  <a:pt x="6961" y="-1617"/>
                  <a:pt x="17184" y="288"/>
                </a:quadBezTo>
                <a:lnTo>
                  <a:pt x="129770" y="21814"/>
                </a:lnTo>
                <a:quadBezTo>
                  <a:pt x="139993" y="23719"/>
                  <a:pt x="138342" y="34006"/>
                </a:quadBezTo>
                <a:cubicBezTo>
                  <a:pt x="132627" y="73948"/>
                  <a:pt x="135167" y="114588"/>
                  <a:pt x="145835" y="153450"/>
                </a:cubicBezTo>
                <a:quadBezTo>
                  <a:pt x="148756" y="163483"/>
                  <a:pt x="138850" y="166721"/>
                </a:quadBezTo>
                <a:lnTo>
                  <a:pt x="29884" y="202091"/>
                </a:lnTo>
                <a:quadBezTo>
                  <a:pt x="19978" y="205329"/>
                  <a:pt x="16994" y="195360"/>
                </a:quadBezTo>
                <a:close/>
              </a:path>
            </a:pathLst>
          </a:custGeom>
          <a:solidFill>
            <a:srgbClr val="74AF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1" name="m-d33_sunburst-outt-3-1"/>
          <p:cNvSpPr txBox="1"/>
          <p:nvPr/>
        </p:nvSpPr>
        <p:spPr>
          <a:xfrm>
            <a:off x="85831" y="380434"/>
            <a:ext cx="3944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8%</a:t>
            </a:r>
          </a:p>
        </p:txBody>
      </p:sp>
      <p:sp>
        <p:nvSpPr>
          <p:cNvPr id="32" name="m-d33_sunburst-out-3-2"/>
          <p:cNvSpPr/>
          <p:nvPr/>
        </p:nvSpPr>
        <p:spPr>
          <a:xfrm>
            <a:off x="47187" y="150000"/>
            <a:ext cx="166095" cy="164063"/>
          </a:xfrm>
          <a:custGeom>
            <a:avLst/>
            <a:gdLst/>
            <a:ahLst/>
            <a:cxnLst/>
            <a:rect l="0" t="0" r="r" b="b"/>
            <a:pathLst>
              <a:path w="166095" h="164063">
                <a:moveTo>
                  <a:pt x="374" y="130162"/>
                </a:moveTo>
                <a:cubicBezTo>
                  <a:pt x="10153" y="86284"/>
                  <a:pt x="26854" y="44183"/>
                  <a:pt x="49714" y="5512"/>
                </a:cubicBezTo>
                <a:quadBezTo>
                  <a:pt x="55111" y="-3442"/>
                  <a:pt x="63874" y="2146"/>
                </a:quadBezTo>
                <a:lnTo>
                  <a:pt x="160648" y="63551"/>
                </a:lnTo>
                <a:quadBezTo>
                  <a:pt x="169411" y="69139"/>
                  <a:pt x="164077" y="78092"/>
                </a:quadBezTo>
                <a:cubicBezTo>
                  <a:pt x="150234" y="102349"/>
                  <a:pt x="139947" y="128384"/>
                  <a:pt x="133407" y="155499"/>
                </a:cubicBezTo>
                <a:quadBezTo>
                  <a:pt x="131184" y="165722"/>
                  <a:pt x="120961" y="163754"/>
                </a:quadBezTo>
                <a:lnTo>
                  <a:pt x="8439" y="142291"/>
                </a:lnTo>
                <a:quadBezTo>
                  <a:pt x="-1785" y="140322"/>
                  <a:pt x="374" y="130162"/>
                </a:quadBezTo>
                <a:close/>
              </a:path>
            </a:pathLst>
          </a:custGeom>
          <a:solidFill>
            <a:srgbClr val="99C4E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3" name="m-d33_sunburst-outt-3-2"/>
          <p:cNvSpPr txBox="1"/>
          <p:nvPr/>
        </p:nvSpPr>
        <p:spPr>
          <a:xfrm>
            <a:off x="110530" y="224491"/>
            <a:ext cx="3944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6%</a:t>
            </a:r>
          </a:p>
        </p:txBody>
      </p:sp>
      <p:sp>
        <p:nvSpPr>
          <p:cNvPr id="34" name="m-d33_sunburst-out-3-3"/>
          <p:cNvSpPr/>
          <p:nvPr/>
        </p:nvSpPr>
        <p:spPr>
          <a:xfrm>
            <a:off x="109256" y="66818"/>
            <a:ext cx="150078" cy="143399"/>
          </a:xfrm>
          <a:custGeom>
            <a:avLst/>
            <a:gdLst/>
            <a:ahLst/>
            <a:cxnLst/>
            <a:rect l="0" t="0" r="r" b="b"/>
            <a:pathLst>
              <a:path w="150078" h="143399">
                <a:moveTo>
                  <a:pt x="2250" y="65580"/>
                </a:moveTo>
                <a:cubicBezTo>
                  <a:pt x="17427" y="43355"/>
                  <a:pt x="34572" y="22590"/>
                  <a:pt x="53558" y="3540"/>
                </a:cubicBezTo>
                <a:quadBezTo>
                  <a:pt x="61051" y="-3699"/>
                  <a:pt x="68163" y="3858"/>
                </a:quadBezTo>
                <a:lnTo>
                  <a:pt x="146586" y="87360"/>
                </a:lnTo>
                <a:quadBezTo>
                  <a:pt x="153698" y="94980"/>
                  <a:pt x="146332" y="102346"/>
                </a:quadBezTo>
                <a:cubicBezTo>
                  <a:pt x="135537" y="113459"/>
                  <a:pt x="125567" y="125460"/>
                  <a:pt x="116677" y="138160"/>
                </a:cubicBezTo>
                <a:quadBezTo>
                  <a:pt x="110835" y="146796"/>
                  <a:pt x="102009" y="141208"/>
                </a:quadBezTo>
                <a:lnTo>
                  <a:pt x="5298" y="79867"/>
                </a:lnTo>
                <a:quadBezTo>
                  <a:pt x="-3465" y="74279"/>
                  <a:pt x="2250" y="65580"/>
                </a:quadBezTo>
                <a:close/>
              </a:path>
            </a:pathLst>
          </a:custGeom>
          <a:solidFill>
            <a:srgbClr val="BEDA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5" name="m-d33_sunburst-in-4"/>
          <p:cNvSpPr/>
          <p:nvPr/>
        </p:nvSpPr>
        <p:spPr>
          <a:xfrm>
            <a:off x="280003" y="90731"/>
            <a:ext cx="182785" cy="171872"/>
          </a:xfrm>
          <a:custGeom>
            <a:avLst/>
            <a:gdLst/>
            <a:ahLst/>
            <a:cxnLst/>
            <a:rect l="0" t="0" r="r" b="b"/>
            <a:pathLst>
              <a:path w="182785" h="171872">
                <a:moveTo>
                  <a:pt x="5112" y="65225"/>
                </a:moveTo>
                <a:cubicBezTo>
                  <a:pt x="51657" y="26490"/>
                  <a:pt x="109379" y="3630"/>
                  <a:pt x="169831" y="11"/>
                </a:cubicBezTo>
                <a:quadBezTo>
                  <a:pt x="182785" y="-497"/>
                  <a:pt x="182785" y="12520"/>
                </a:quadBezTo>
                <a:lnTo>
                  <a:pt x="182785" y="127138"/>
                </a:lnTo>
                <a:quadBezTo>
                  <a:pt x="182785" y="140155"/>
                  <a:pt x="169831" y="141108"/>
                </a:quadBezTo>
                <a:cubicBezTo>
                  <a:pt x="145193" y="144029"/>
                  <a:pt x="121698" y="153300"/>
                  <a:pt x="101695" y="168095"/>
                </a:cubicBezTo>
                <a:quadBezTo>
                  <a:pt x="91599" y="176287"/>
                  <a:pt x="82645" y="166762"/>
                </a:quadBezTo>
                <a:lnTo>
                  <a:pt x="4223" y="83259"/>
                </a:lnTo>
                <a:quadBezTo>
                  <a:pt x="-4667" y="73798"/>
                  <a:pt x="5112" y="65225"/>
                </a:quadBezTo>
                <a:close/>
              </a:path>
            </a:pathLst>
          </a:custGeom>
          <a:gradFill rotWithShape="1">
            <a:gsLst>
              <a:gs pos="0">
                <a:srgbClr val="E48152"/>
              </a:gs>
              <a:gs pos="100000">
                <a:srgbClr val="E0703A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6" name="m-d33_sunburst-int-4"/>
          <p:cNvSpPr txBox="1"/>
          <p:nvPr/>
        </p:nvSpPr>
        <p:spPr>
          <a:xfrm>
            <a:off x="352858" y="143978"/>
            <a:ext cx="70555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咨询</a:t>
            </a:r>
          </a:p>
        </p:txBody>
      </p:sp>
      <p:sp>
        <p:nvSpPr>
          <p:cNvPr id="37" name="m-d33_sunburst-inv-4"/>
          <p:cNvSpPr txBox="1"/>
          <p:nvPr/>
        </p:nvSpPr>
        <p:spPr>
          <a:xfrm>
            <a:off x="362946" y="180043"/>
            <a:ext cx="50378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E3EDF9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12%</a:t>
            </a:r>
          </a:p>
        </p:txBody>
      </p:sp>
      <p:sp>
        <p:nvSpPr>
          <p:cNvPr id="38" name="m-d33_sunburst-out-4-1"/>
          <p:cNvSpPr/>
          <p:nvPr/>
        </p:nvSpPr>
        <p:spPr>
          <a:xfrm>
            <a:off x="178768" y="-30980"/>
            <a:ext cx="191540" cy="184698"/>
          </a:xfrm>
          <a:custGeom>
            <a:avLst/>
            <a:gdLst/>
            <a:ahLst/>
            <a:cxnLst/>
            <a:rect l="0" t="0" r="r" b="b"/>
            <a:pathLst>
              <a:path w="191540" h="184698">
                <a:moveTo>
                  <a:pt x="3985" y="82669"/>
                </a:moveTo>
                <a:cubicBezTo>
                  <a:pt x="44561" y="46919"/>
                  <a:pt x="91424" y="19169"/>
                  <a:pt x="142288" y="881"/>
                </a:cubicBezTo>
                <a:quadBezTo>
                  <a:pt x="152130" y="-2548"/>
                  <a:pt x="155305" y="7358"/>
                </a:quadBezTo>
                <a:lnTo>
                  <a:pt x="190738" y="116324"/>
                </a:lnTo>
                <a:quadBezTo>
                  <a:pt x="193977" y="126230"/>
                  <a:pt x="184134" y="129723"/>
                </a:quadBezTo>
                <a:cubicBezTo>
                  <a:pt x="152257" y="141788"/>
                  <a:pt x="122666" y="159250"/>
                  <a:pt x="96758" y="181412"/>
                </a:cubicBezTo>
                <a:quadBezTo>
                  <a:pt x="88948" y="188333"/>
                  <a:pt x="81836" y="180713"/>
                </a:quadBezTo>
                <a:lnTo>
                  <a:pt x="3413" y="97211"/>
                </a:lnTo>
                <a:quadBezTo>
                  <a:pt x="-3699" y="89654"/>
                  <a:pt x="3985" y="82669"/>
                </a:quadBezTo>
                <a:close/>
              </a:path>
            </a:pathLst>
          </a:custGeom>
          <a:solidFill>
            <a:srgbClr val="E8946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9" name="m-d33_sunburst-outt-4-1"/>
          <p:cNvSpPr txBox="1"/>
          <p:nvPr/>
        </p:nvSpPr>
        <p:spPr>
          <a:xfrm>
            <a:off x="262788" y="46220"/>
            <a:ext cx="3944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7%</a:t>
            </a:r>
          </a:p>
        </p:txBody>
      </p:sp>
      <p:sp>
        <p:nvSpPr>
          <p:cNvPr id="40" name="m-d33_sunburst-out-4-2"/>
          <p:cNvSpPr/>
          <p:nvPr/>
        </p:nvSpPr>
        <p:spPr>
          <a:xfrm>
            <a:off x="339503" y="-55372"/>
            <a:ext cx="123984" cy="146328"/>
          </a:xfrm>
          <a:custGeom>
            <a:avLst/>
            <a:gdLst/>
            <a:ahLst/>
            <a:cxnLst/>
            <a:rect l="0" t="0" r="r" b="b"/>
            <a:pathLst>
              <a:path w="123984" h="146328">
                <a:moveTo>
                  <a:pt x="7525" y="16828"/>
                </a:moveTo>
                <a:cubicBezTo>
                  <a:pt x="42005" y="6795"/>
                  <a:pt x="77629" y="1143"/>
                  <a:pt x="113570" y="0"/>
                </a:cubicBezTo>
                <a:quadBezTo>
                  <a:pt x="123984" y="-190"/>
                  <a:pt x="123984" y="10224"/>
                </a:quadBezTo>
                <a:lnTo>
                  <a:pt x="123984" y="124777"/>
                </a:lnTo>
                <a:quadBezTo>
                  <a:pt x="123984" y="135192"/>
                  <a:pt x="113570" y="135509"/>
                </a:quadBezTo>
                <a:cubicBezTo>
                  <a:pt x="91853" y="136525"/>
                  <a:pt x="70326" y="139954"/>
                  <a:pt x="49435" y="145669"/>
                </a:cubicBezTo>
                <a:quadBezTo>
                  <a:pt x="39402" y="148590"/>
                  <a:pt x="36163" y="138684"/>
                </a:quadBezTo>
                <a:lnTo>
                  <a:pt x="794" y="29718"/>
                </a:lnTo>
                <a:quadBezTo>
                  <a:pt x="-2445" y="19812"/>
                  <a:pt x="7525" y="16828"/>
                </a:quadBezTo>
                <a:close/>
              </a:path>
            </a:pathLst>
          </a:custGeom>
          <a:solidFill>
            <a:srgbClr val="EEB09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1" name="m-d33_sunburst-core"/>
          <p:cNvSpPr/>
          <p:nvPr/>
        </p:nvSpPr>
        <p:spPr>
          <a:xfrm>
            <a:off x="339154" y="246443"/>
            <a:ext cx="255143" cy="255143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2" name="m-d33_sunburst-core-v"/>
          <p:cNvSpPr txBox="1"/>
          <p:nvPr/>
        </p:nvSpPr>
        <p:spPr>
          <a:xfrm>
            <a:off x="406246" y="302666"/>
            <a:ext cx="120959" cy="10479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7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12</a:t>
            </a:r>
          </a:p>
        </p:txBody>
      </p:sp>
      <p:sp>
        <p:nvSpPr>
          <p:cNvPr id="43" name="m-d33_sunburst-core-l"/>
          <p:cNvSpPr txBox="1"/>
          <p:nvPr/>
        </p:nvSpPr>
        <p:spPr>
          <a:xfrm>
            <a:off x="416282" y="394160"/>
            <a:ext cx="100886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亿元营收</a:t>
            </a:r>
          </a:p>
        </p:txBody>
      </p:sp>
      <p:sp>
        <p:nvSpPr>
          <p:cNvPr id="44" name="m-d33_sunburst-lg-1"/>
          <p:cNvSpPr/>
          <p:nvPr/>
        </p:nvSpPr>
        <p:spPr>
          <a:xfrm>
            <a:off x="1091565" y="-73787"/>
            <a:ext cx="768033" cy="208280"/>
          </a:xfrm>
          <a:custGeom>
            <a:avLst/>
            <a:gdLst/>
            <a:ahLst/>
            <a:cxnLst/>
            <a:rect l="0" t="0" r="r" b="b"/>
            <a:pathLst>
              <a:path w="768033" h="208280">
                <a:moveTo>
                  <a:pt x="23431" y="0"/>
                </a:moveTo>
                <a:lnTo>
                  <a:pt x="744601" y="0"/>
                </a:lnTo>
                <a:cubicBezTo>
                  <a:pt x="757555" y="0"/>
                  <a:pt x="768033" y="10477"/>
                  <a:pt x="768033" y="23431"/>
                </a:cubicBezTo>
                <a:lnTo>
                  <a:pt x="768033" y="184848"/>
                </a:lnTo>
                <a:cubicBezTo>
                  <a:pt x="768033" y="197802"/>
                  <a:pt x="757555" y="208280"/>
                  <a:pt x="744601" y="208280"/>
                </a:cubicBezTo>
                <a:lnTo>
                  <a:pt x="23431" y="208280"/>
                </a:lnTo>
                <a:cubicBezTo>
                  <a:pt x="10478" y="208280"/>
                  <a:pt x="0" y="197802"/>
                  <a:pt x="0" y="184848"/>
                </a:cubicBezTo>
                <a:lnTo>
                  <a:pt x="0" y="23431"/>
                </a:lnTo>
                <a:cubicBezTo>
                  <a:pt x="0" y="10477"/>
                  <a:pt x="10478" y="0"/>
                  <a:pt x="2343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5" name="m-d33_sunburst-lgb-1"/>
          <p:cNvSpPr/>
          <p:nvPr/>
        </p:nvSpPr>
        <p:spPr>
          <a:xfrm>
            <a:off x="1091565" y="-73787"/>
            <a:ext cx="7810" cy="208280"/>
          </a:xfrm>
          <a:custGeom>
            <a:avLst/>
            <a:gdLst/>
            <a:ahLst/>
            <a:cxnLst/>
            <a:rect l="0" t="0" r="r" b="b"/>
            <a:pathLst>
              <a:path w="7810" h="208280">
                <a:moveTo>
                  <a:pt x="3873" y="0"/>
                </a:moveTo>
                <a:lnTo>
                  <a:pt x="3873" y="0"/>
                </a:lnTo>
                <a:cubicBezTo>
                  <a:pt x="6096" y="0"/>
                  <a:pt x="7810" y="1714"/>
                  <a:pt x="7810" y="3873"/>
                </a:cubicBezTo>
                <a:lnTo>
                  <a:pt x="7810" y="204343"/>
                </a:lnTo>
                <a:cubicBezTo>
                  <a:pt x="7810" y="206566"/>
                  <a:pt x="6096" y="208280"/>
                  <a:pt x="3873" y="208280"/>
                </a:cubicBezTo>
                <a:lnTo>
                  <a:pt x="3873" y="208280"/>
                </a:lnTo>
                <a:cubicBezTo>
                  <a:pt x="1714" y="208280"/>
                  <a:pt x="0" y="206566"/>
                  <a:pt x="0" y="204343"/>
                </a:cubicBezTo>
                <a:lnTo>
                  <a:pt x="0" y="3873"/>
                </a:lnTo>
                <a:cubicBezTo>
                  <a:pt x="0" y="1714"/>
                  <a:pt x="1714" y="0"/>
                  <a:pt x="3873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6" name="m-d33_sunburst-lgn-1"/>
          <p:cNvSpPr txBox="1"/>
          <p:nvPr/>
        </p:nvSpPr>
        <p:spPr>
          <a:xfrm>
            <a:off x="1124890" y="-61681"/>
            <a:ext cx="135382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企业软件</a:t>
            </a:r>
          </a:p>
        </p:txBody>
      </p:sp>
      <p:sp>
        <p:nvSpPr>
          <p:cNvPr id="47" name="m-d33_sunburst-lgv-1"/>
          <p:cNvSpPr txBox="1"/>
          <p:nvPr/>
        </p:nvSpPr>
        <p:spPr>
          <a:xfrm>
            <a:off x="1640148" y="-56858"/>
            <a:ext cx="183052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3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42% · 5.04 亿</a:t>
            </a:r>
          </a:p>
        </p:txBody>
      </p:sp>
      <p:sp>
        <p:nvSpPr>
          <p:cNvPr id="48" name="m-d33_sunburst-lgc-1-1"/>
          <p:cNvSpPr/>
          <p:nvPr/>
        </p:nvSpPr>
        <p:spPr>
          <a:xfrm>
            <a:off x="1130618" y="-2222"/>
            <a:ext cx="20828" cy="20828"/>
          </a:xfrm>
          <a:custGeom>
            <a:avLst/>
            <a:gdLst/>
            <a:ahLst/>
            <a:cxnLst/>
            <a:rect l="0" t="0" r="r" b="b"/>
            <a:pathLst>
              <a:path w="20828" h="20828">
                <a:moveTo>
                  <a:pt x="5207" y="0"/>
                </a:moveTo>
                <a:lnTo>
                  <a:pt x="15621" y="0"/>
                </a:lnTo>
                <a:cubicBezTo>
                  <a:pt x="18478" y="0"/>
                  <a:pt x="20828" y="2350"/>
                  <a:pt x="20828" y="5207"/>
                </a:cubicBezTo>
                <a:lnTo>
                  <a:pt x="20828" y="15621"/>
                </a:lnTo>
                <a:cubicBezTo>
                  <a:pt x="20828" y="18542"/>
                  <a:pt x="18478" y="20828"/>
                  <a:pt x="15621" y="20828"/>
                </a:cubicBezTo>
                <a:lnTo>
                  <a:pt x="5207" y="20828"/>
                </a:lnTo>
                <a:cubicBezTo>
                  <a:pt x="2349" y="20828"/>
                  <a:pt x="0" y="18542"/>
                  <a:pt x="0" y="15621"/>
                </a:cubicBezTo>
                <a:lnTo>
                  <a:pt x="0" y="5207"/>
                </a:lnTo>
                <a:cubicBezTo>
                  <a:pt x="0" y="2350"/>
                  <a:pt x="2349" y="0"/>
                  <a:pt x="5207" y="0"/>
                </a:cubicBezTo>
                <a:close/>
              </a:path>
            </a:pathLst>
          </a:custGeom>
          <a:solidFill>
            <a:srgbClr val="486EA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9" name="m-d33_sunburst-lgs-1-1"/>
          <p:cNvSpPr txBox="1"/>
          <p:nvPr/>
        </p:nvSpPr>
        <p:spPr>
          <a:xfrm>
            <a:off x="1161964" y="-10991"/>
            <a:ext cx="55298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ERP</a:t>
            </a:r>
          </a:p>
        </p:txBody>
      </p:sp>
      <p:sp>
        <p:nvSpPr>
          <p:cNvPr id="50" name="m-d33_sunburst-lgbar-1-1"/>
          <p:cNvSpPr/>
          <p:nvPr/>
        </p:nvSpPr>
        <p:spPr>
          <a:xfrm>
            <a:off x="1351915" y="381"/>
            <a:ext cx="338455" cy="15621"/>
          </a:xfrm>
          <a:custGeom>
            <a:avLst/>
            <a:gdLst/>
            <a:ahLst/>
            <a:cxnLst/>
            <a:rect l="0" t="0" r="r" b="b"/>
            <a:pathLst>
              <a:path w="338455" h="15621">
                <a:moveTo>
                  <a:pt x="7810" y="0"/>
                </a:moveTo>
                <a:lnTo>
                  <a:pt x="330645" y="0"/>
                </a:lnTo>
                <a:cubicBezTo>
                  <a:pt x="334962" y="0"/>
                  <a:pt x="338455" y="3556"/>
                  <a:pt x="338455" y="7810"/>
                </a:cubicBezTo>
                <a:lnTo>
                  <a:pt x="338455" y="7810"/>
                </a:lnTo>
                <a:cubicBezTo>
                  <a:pt x="338455" y="12128"/>
                  <a:pt x="334962" y="15621"/>
                  <a:pt x="330645" y="15621"/>
                </a:cubicBezTo>
                <a:lnTo>
                  <a:pt x="7810" y="15621"/>
                </a:lnTo>
                <a:cubicBezTo>
                  <a:pt x="3492" y="15621"/>
                  <a:pt x="0" y="12128"/>
                  <a:pt x="0" y="7810"/>
                </a:cubicBezTo>
                <a:lnTo>
                  <a:pt x="0" y="7810"/>
                </a:lnTo>
                <a:cubicBezTo>
                  <a:pt x="0" y="3556"/>
                  <a:pt x="3492" y="0"/>
                  <a:pt x="7810" y="0"/>
                </a:cubicBezTo>
                <a:close/>
              </a:path>
            </a:pathLst>
          </a:custGeom>
          <a:solidFill>
            <a:srgbClr val="486EA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1" name="m-d33_sunburst-lgp-1-1"/>
          <p:cNvSpPr txBox="1"/>
          <p:nvPr/>
        </p:nvSpPr>
        <p:spPr>
          <a:xfrm>
            <a:off x="1769308" y="-10991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18%</a:t>
            </a:r>
          </a:p>
        </p:txBody>
      </p:sp>
      <p:sp>
        <p:nvSpPr>
          <p:cNvPr id="52" name="m-d33_sunburst-lgc-1-2"/>
          <p:cNvSpPr/>
          <p:nvPr/>
        </p:nvSpPr>
        <p:spPr>
          <a:xfrm>
            <a:off x="1130618" y="44640"/>
            <a:ext cx="20828" cy="20828"/>
          </a:xfrm>
          <a:custGeom>
            <a:avLst/>
            <a:gdLst/>
            <a:ahLst/>
            <a:cxnLst/>
            <a:rect l="0" t="0" r="r" b="b"/>
            <a:pathLst>
              <a:path w="20828" h="20828">
                <a:moveTo>
                  <a:pt x="5207" y="0"/>
                </a:moveTo>
                <a:lnTo>
                  <a:pt x="15621" y="0"/>
                </a:lnTo>
                <a:cubicBezTo>
                  <a:pt x="18478" y="0"/>
                  <a:pt x="20828" y="2350"/>
                  <a:pt x="20828" y="5207"/>
                </a:cubicBezTo>
                <a:lnTo>
                  <a:pt x="20828" y="15621"/>
                </a:lnTo>
                <a:cubicBezTo>
                  <a:pt x="20828" y="18542"/>
                  <a:pt x="18478" y="20828"/>
                  <a:pt x="15621" y="20828"/>
                </a:cubicBezTo>
                <a:lnTo>
                  <a:pt x="5207" y="20828"/>
                </a:lnTo>
                <a:cubicBezTo>
                  <a:pt x="2349" y="20828"/>
                  <a:pt x="0" y="18542"/>
                  <a:pt x="0" y="15621"/>
                </a:cubicBezTo>
                <a:lnTo>
                  <a:pt x="0" y="5207"/>
                </a:lnTo>
                <a:cubicBezTo>
                  <a:pt x="0" y="2350"/>
                  <a:pt x="2349" y="0"/>
                  <a:pt x="5207" y="0"/>
                </a:cubicBezTo>
                <a:close/>
              </a:path>
            </a:pathLst>
          </a:custGeom>
          <a:solidFill>
            <a:srgbClr val="7995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3" name="m-d33_sunburst-lgs-1-2"/>
          <p:cNvSpPr txBox="1"/>
          <p:nvPr/>
        </p:nvSpPr>
        <p:spPr>
          <a:xfrm>
            <a:off x="1161964" y="35872"/>
            <a:ext cx="55298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CRM</a:t>
            </a:r>
          </a:p>
        </p:txBody>
      </p:sp>
      <p:sp>
        <p:nvSpPr>
          <p:cNvPr id="54" name="m-d33_sunburst-lgbar-1-2"/>
          <p:cNvSpPr/>
          <p:nvPr/>
        </p:nvSpPr>
        <p:spPr>
          <a:xfrm>
            <a:off x="1351915" y="47244"/>
            <a:ext cx="263271" cy="15684"/>
          </a:xfrm>
          <a:custGeom>
            <a:avLst/>
            <a:gdLst/>
            <a:ahLst/>
            <a:cxnLst/>
            <a:rect l="0" t="0" r="r" b="b"/>
            <a:pathLst>
              <a:path w="263271" h="15684">
                <a:moveTo>
                  <a:pt x="7810" y="0"/>
                </a:moveTo>
                <a:lnTo>
                  <a:pt x="255460" y="0"/>
                </a:lnTo>
                <a:cubicBezTo>
                  <a:pt x="259778" y="0"/>
                  <a:pt x="263271" y="3556"/>
                  <a:pt x="263271" y="7810"/>
                </a:cubicBezTo>
                <a:lnTo>
                  <a:pt x="263271" y="7810"/>
                </a:lnTo>
                <a:cubicBezTo>
                  <a:pt x="263271" y="12128"/>
                  <a:pt x="259778" y="15684"/>
                  <a:pt x="255460" y="15684"/>
                </a:cubicBezTo>
                <a:lnTo>
                  <a:pt x="7810" y="15684"/>
                </a:lnTo>
                <a:cubicBezTo>
                  <a:pt x="3492" y="15684"/>
                  <a:pt x="0" y="12128"/>
                  <a:pt x="0" y="7810"/>
                </a:cubicBezTo>
                <a:lnTo>
                  <a:pt x="0" y="7810"/>
                </a:lnTo>
                <a:cubicBezTo>
                  <a:pt x="0" y="3556"/>
                  <a:pt x="3492" y="0"/>
                  <a:pt x="7810" y="0"/>
                </a:cubicBezTo>
                <a:close/>
              </a:path>
            </a:pathLst>
          </a:custGeom>
          <a:solidFill>
            <a:srgbClr val="7995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5" name="m-d33_sunburst-lgp-1-2"/>
          <p:cNvSpPr txBox="1"/>
          <p:nvPr/>
        </p:nvSpPr>
        <p:spPr>
          <a:xfrm>
            <a:off x="1769308" y="35872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14%</a:t>
            </a:r>
          </a:p>
        </p:txBody>
      </p:sp>
      <p:sp>
        <p:nvSpPr>
          <p:cNvPr id="56" name="m-d33_sunburst-lgc-1-3"/>
          <p:cNvSpPr/>
          <p:nvPr/>
        </p:nvSpPr>
        <p:spPr>
          <a:xfrm>
            <a:off x="1130618" y="91504"/>
            <a:ext cx="20828" cy="20828"/>
          </a:xfrm>
          <a:custGeom>
            <a:avLst/>
            <a:gdLst/>
            <a:ahLst/>
            <a:cxnLst/>
            <a:rect l="0" t="0" r="r" b="b"/>
            <a:pathLst>
              <a:path w="20828" h="20828">
                <a:moveTo>
                  <a:pt x="5207" y="0"/>
                </a:moveTo>
                <a:lnTo>
                  <a:pt x="15621" y="0"/>
                </a:lnTo>
                <a:cubicBezTo>
                  <a:pt x="18478" y="0"/>
                  <a:pt x="20828" y="2349"/>
                  <a:pt x="20828" y="5207"/>
                </a:cubicBezTo>
                <a:lnTo>
                  <a:pt x="20828" y="15684"/>
                </a:lnTo>
                <a:cubicBezTo>
                  <a:pt x="20828" y="18542"/>
                  <a:pt x="18478" y="20828"/>
                  <a:pt x="15621" y="20828"/>
                </a:cubicBezTo>
                <a:lnTo>
                  <a:pt x="5207" y="20828"/>
                </a:lnTo>
                <a:cubicBezTo>
                  <a:pt x="2349" y="20828"/>
                  <a:pt x="0" y="18542"/>
                  <a:pt x="0" y="15684"/>
                </a:cubicBezTo>
                <a:lnTo>
                  <a:pt x="0" y="5207"/>
                </a:lnTo>
                <a:cubicBezTo>
                  <a:pt x="0" y="2349"/>
                  <a:pt x="2349" y="0"/>
                  <a:pt x="5207" y="0"/>
                </a:cubicBezTo>
                <a:close/>
              </a:path>
            </a:pathLst>
          </a:custGeom>
          <a:solidFill>
            <a:srgbClr val="AABBD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7" name="m-d33_sunburst-lgs-1-3"/>
          <p:cNvSpPr txBox="1"/>
          <p:nvPr/>
        </p:nvSpPr>
        <p:spPr>
          <a:xfrm>
            <a:off x="1161964" y="82735"/>
            <a:ext cx="43114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OA</a:t>
            </a:r>
          </a:p>
        </p:txBody>
      </p:sp>
      <p:sp>
        <p:nvSpPr>
          <p:cNvPr id="58" name="m-d33_sunburst-lgbar-1-3"/>
          <p:cNvSpPr/>
          <p:nvPr/>
        </p:nvSpPr>
        <p:spPr>
          <a:xfrm>
            <a:off x="1351915" y="94107"/>
            <a:ext cx="188023" cy="15621"/>
          </a:xfrm>
          <a:custGeom>
            <a:avLst/>
            <a:gdLst/>
            <a:ahLst/>
            <a:cxnLst/>
            <a:rect l="0" t="0" r="r" b="b"/>
            <a:pathLst>
              <a:path w="188023" h="15621">
                <a:moveTo>
                  <a:pt x="7810" y="0"/>
                </a:moveTo>
                <a:lnTo>
                  <a:pt x="180213" y="0"/>
                </a:lnTo>
                <a:cubicBezTo>
                  <a:pt x="184531" y="0"/>
                  <a:pt x="188023" y="3556"/>
                  <a:pt x="188023" y="7811"/>
                </a:cubicBezTo>
                <a:lnTo>
                  <a:pt x="188023" y="7811"/>
                </a:lnTo>
                <a:cubicBezTo>
                  <a:pt x="188023" y="12128"/>
                  <a:pt x="184531" y="15621"/>
                  <a:pt x="180213" y="15621"/>
                </a:cubicBezTo>
                <a:lnTo>
                  <a:pt x="7810" y="15621"/>
                </a:lnTo>
                <a:cubicBezTo>
                  <a:pt x="3492" y="15621"/>
                  <a:pt x="0" y="12128"/>
                  <a:pt x="0" y="7811"/>
                </a:cubicBezTo>
                <a:lnTo>
                  <a:pt x="0" y="7811"/>
                </a:lnTo>
                <a:cubicBezTo>
                  <a:pt x="0" y="3556"/>
                  <a:pt x="3492" y="0"/>
                  <a:pt x="7810" y="0"/>
                </a:cubicBezTo>
                <a:close/>
              </a:path>
            </a:pathLst>
          </a:custGeom>
          <a:solidFill>
            <a:srgbClr val="AABBD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9" name="m-d33_sunburst-lgp-1-3"/>
          <p:cNvSpPr txBox="1"/>
          <p:nvPr/>
        </p:nvSpPr>
        <p:spPr>
          <a:xfrm>
            <a:off x="1769308" y="82735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10%</a:t>
            </a:r>
          </a:p>
        </p:txBody>
      </p:sp>
      <p:sp>
        <p:nvSpPr>
          <p:cNvPr id="60" name="m-d33_sunburst-lg-2"/>
          <p:cNvSpPr/>
          <p:nvPr/>
        </p:nvSpPr>
        <p:spPr>
          <a:xfrm>
            <a:off x="1091565" y="157924"/>
            <a:ext cx="768033" cy="208280"/>
          </a:xfrm>
          <a:custGeom>
            <a:avLst/>
            <a:gdLst/>
            <a:ahLst/>
            <a:cxnLst/>
            <a:rect l="0" t="0" r="r" b="b"/>
            <a:pathLst>
              <a:path w="768033" h="208280">
                <a:moveTo>
                  <a:pt x="23431" y="0"/>
                </a:moveTo>
                <a:lnTo>
                  <a:pt x="744601" y="0"/>
                </a:lnTo>
                <a:cubicBezTo>
                  <a:pt x="757555" y="0"/>
                  <a:pt x="768033" y="10477"/>
                  <a:pt x="768033" y="23431"/>
                </a:cubicBezTo>
                <a:lnTo>
                  <a:pt x="768033" y="184848"/>
                </a:lnTo>
                <a:cubicBezTo>
                  <a:pt x="768033" y="197802"/>
                  <a:pt x="757555" y="208280"/>
                  <a:pt x="744601" y="208280"/>
                </a:cubicBezTo>
                <a:lnTo>
                  <a:pt x="23431" y="208280"/>
                </a:lnTo>
                <a:cubicBezTo>
                  <a:pt x="10478" y="208280"/>
                  <a:pt x="0" y="197802"/>
                  <a:pt x="0" y="184848"/>
                </a:cubicBezTo>
                <a:lnTo>
                  <a:pt x="0" y="23431"/>
                </a:lnTo>
                <a:cubicBezTo>
                  <a:pt x="0" y="10477"/>
                  <a:pt x="10478" y="0"/>
                  <a:pt x="2343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1" name="m-d33_sunburst-lgb-2"/>
          <p:cNvSpPr/>
          <p:nvPr/>
        </p:nvSpPr>
        <p:spPr>
          <a:xfrm>
            <a:off x="1091565" y="157924"/>
            <a:ext cx="7810" cy="208280"/>
          </a:xfrm>
          <a:custGeom>
            <a:avLst/>
            <a:gdLst/>
            <a:ahLst/>
            <a:cxnLst/>
            <a:rect l="0" t="0" r="r" b="b"/>
            <a:pathLst>
              <a:path w="7810" h="208280">
                <a:moveTo>
                  <a:pt x="3873" y="0"/>
                </a:moveTo>
                <a:lnTo>
                  <a:pt x="3873" y="0"/>
                </a:lnTo>
                <a:cubicBezTo>
                  <a:pt x="6096" y="0"/>
                  <a:pt x="7810" y="1714"/>
                  <a:pt x="7810" y="3873"/>
                </a:cubicBezTo>
                <a:lnTo>
                  <a:pt x="7810" y="204343"/>
                </a:lnTo>
                <a:cubicBezTo>
                  <a:pt x="7810" y="206566"/>
                  <a:pt x="6096" y="208280"/>
                  <a:pt x="3873" y="208280"/>
                </a:cubicBezTo>
                <a:lnTo>
                  <a:pt x="3873" y="208280"/>
                </a:lnTo>
                <a:cubicBezTo>
                  <a:pt x="1714" y="208280"/>
                  <a:pt x="0" y="206566"/>
                  <a:pt x="0" y="204343"/>
                </a:cubicBezTo>
                <a:lnTo>
                  <a:pt x="0" y="3873"/>
                </a:lnTo>
                <a:cubicBezTo>
                  <a:pt x="0" y="1714"/>
                  <a:pt x="1714" y="0"/>
                  <a:pt x="3873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2" name="m-d33_sunburst-lgn-2"/>
          <p:cNvSpPr txBox="1"/>
          <p:nvPr/>
        </p:nvSpPr>
        <p:spPr>
          <a:xfrm>
            <a:off x="1124890" y="170031"/>
            <a:ext cx="107394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云服务</a:t>
            </a:r>
          </a:p>
        </p:txBody>
      </p:sp>
      <p:sp>
        <p:nvSpPr>
          <p:cNvPr id="63" name="m-d33_sunburst-lgv-2"/>
          <p:cNvSpPr txBox="1"/>
          <p:nvPr/>
        </p:nvSpPr>
        <p:spPr>
          <a:xfrm>
            <a:off x="1640148" y="174854"/>
            <a:ext cx="183052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3" normalizeH="0" baseline="0" noProof="0">
                <a:ln>
                  <a:noFill/>
                </a:ln>
                <a:solidFill>
                  <a:srgbClr val="2468B6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28% · 3.36 亿</a:t>
            </a:r>
          </a:p>
        </p:txBody>
      </p:sp>
      <p:sp>
        <p:nvSpPr>
          <p:cNvPr id="64" name="m-d33_sunburst-lgc-2-1"/>
          <p:cNvSpPr/>
          <p:nvPr/>
        </p:nvSpPr>
        <p:spPr>
          <a:xfrm>
            <a:off x="1130618" y="229489"/>
            <a:ext cx="20828" cy="20828"/>
          </a:xfrm>
          <a:custGeom>
            <a:avLst/>
            <a:gdLst/>
            <a:ahLst/>
            <a:cxnLst/>
            <a:rect l="0" t="0" r="r" b="b"/>
            <a:pathLst>
              <a:path w="20828" h="20828">
                <a:moveTo>
                  <a:pt x="5207" y="0"/>
                </a:moveTo>
                <a:lnTo>
                  <a:pt x="15621" y="0"/>
                </a:lnTo>
                <a:cubicBezTo>
                  <a:pt x="18478" y="0"/>
                  <a:pt x="20828" y="2349"/>
                  <a:pt x="20828" y="5207"/>
                </a:cubicBezTo>
                <a:lnTo>
                  <a:pt x="20828" y="15621"/>
                </a:lnTo>
                <a:cubicBezTo>
                  <a:pt x="20828" y="18542"/>
                  <a:pt x="18478" y="20828"/>
                  <a:pt x="15621" y="20828"/>
                </a:cubicBezTo>
                <a:lnTo>
                  <a:pt x="5207" y="20828"/>
                </a:lnTo>
                <a:cubicBezTo>
                  <a:pt x="2349" y="20828"/>
                  <a:pt x="0" y="18542"/>
                  <a:pt x="0" y="15621"/>
                </a:cubicBezTo>
                <a:lnTo>
                  <a:pt x="0" y="5207"/>
                </a:lnTo>
                <a:cubicBezTo>
                  <a:pt x="0" y="2349"/>
                  <a:pt x="2349" y="0"/>
                  <a:pt x="5207" y="0"/>
                </a:cubicBezTo>
                <a:close/>
              </a:path>
            </a:pathLst>
          </a:custGeom>
          <a:solidFill>
            <a:srgbClr val="5B8EC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5" name="m-d33_sunburst-lgs-2-1"/>
          <p:cNvSpPr txBox="1"/>
          <p:nvPr/>
        </p:nvSpPr>
        <p:spPr>
          <a:xfrm>
            <a:off x="1161964" y="220721"/>
            <a:ext cx="67483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IaaS</a:t>
            </a:r>
          </a:p>
        </p:txBody>
      </p:sp>
      <p:sp>
        <p:nvSpPr>
          <p:cNvPr id="66" name="m-d33_sunburst-lgbar-2-1"/>
          <p:cNvSpPr/>
          <p:nvPr/>
        </p:nvSpPr>
        <p:spPr>
          <a:xfrm>
            <a:off x="1351915" y="232092"/>
            <a:ext cx="225616" cy="15685"/>
          </a:xfrm>
          <a:custGeom>
            <a:avLst/>
            <a:gdLst/>
            <a:ahLst/>
            <a:cxnLst/>
            <a:rect l="0" t="0" r="r" b="b"/>
            <a:pathLst>
              <a:path w="225616" h="15685">
                <a:moveTo>
                  <a:pt x="7810" y="0"/>
                </a:moveTo>
                <a:lnTo>
                  <a:pt x="217805" y="0"/>
                </a:lnTo>
                <a:cubicBezTo>
                  <a:pt x="222123" y="0"/>
                  <a:pt x="225616" y="3556"/>
                  <a:pt x="225616" y="7811"/>
                </a:cubicBezTo>
                <a:lnTo>
                  <a:pt x="225616" y="7811"/>
                </a:lnTo>
                <a:cubicBezTo>
                  <a:pt x="225616" y="12129"/>
                  <a:pt x="222123" y="15685"/>
                  <a:pt x="217805" y="15685"/>
                </a:cubicBezTo>
                <a:lnTo>
                  <a:pt x="7810" y="15685"/>
                </a:lnTo>
                <a:cubicBezTo>
                  <a:pt x="3492" y="15685"/>
                  <a:pt x="0" y="12129"/>
                  <a:pt x="0" y="7811"/>
                </a:cubicBezTo>
                <a:lnTo>
                  <a:pt x="0" y="7811"/>
                </a:lnTo>
                <a:cubicBezTo>
                  <a:pt x="0" y="3556"/>
                  <a:pt x="3492" y="0"/>
                  <a:pt x="7810" y="0"/>
                </a:cubicBezTo>
                <a:close/>
              </a:path>
            </a:pathLst>
          </a:custGeom>
          <a:solidFill>
            <a:srgbClr val="5B8EC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7" name="m-d33_sunburst-lgp-2-1"/>
          <p:cNvSpPr txBox="1"/>
          <p:nvPr/>
        </p:nvSpPr>
        <p:spPr>
          <a:xfrm>
            <a:off x="1769308" y="220721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12%</a:t>
            </a:r>
          </a:p>
        </p:txBody>
      </p:sp>
      <p:sp>
        <p:nvSpPr>
          <p:cNvPr id="68" name="m-d33_sunburst-lgc-2-2"/>
          <p:cNvSpPr/>
          <p:nvPr/>
        </p:nvSpPr>
        <p:spPr>
          <a:xfrm>
            <a:off x="1130618" y="276352"/>
            <a:ext cx="20828" cy="20828"/>
          </a:xfrm>
          <a:custGeom>
            <a:avLst/>
            <a:gdLst/>
            <a:ahLst/>
            <a:cxnLst/>
            <a:rect l="0" t="0" r="r" b="b"/>
            <a:pathLst>
              <a:path w="20828" h="20828">
                <a:moveTo>
                  <a:pt x="5207" y="0"/>
                </a:moveTo>
                <a:lnTo>
                  <a:pt x="15621" y="0"/>
                </a:lnTo>
                <a:cubicBezTo>
                  <a:pt x="18478" y="0"/>
                  <a:pt x="20828" y="2349"/>
                  <a:pt x="20828" y="5207"/>
                </a:cubicBezTo>
                <a:lnTo>
                  <a:pt x="20828" y="15621"/>
                </a:lnTo>
                <a:cubicBezTo>
                  <a:pt x="20828" y="18542"/>
                  <a:pt x="18478" y="20828"/>
                  <a:pt x="15621" y="20828"/>
                </a:cubicBezTo>
                <a:lnTo>
                  <a:pt x="5207" y="20828"/>
                </a:lnTo>
                <a:cubicBezTo>
                  <a:pt x="2349" y="20828"/>
                  <a:pt x="0" y="18542"/>
                  <a:pt x="0" y="15621"/>
                </a:cubicBezTo>
                <a:lnTo>
                  <a:pt x="0" y="5207"/>
                </a:lnTo>
                <a:cubicBezTo>
                  <a:pt x="0" y="2349"/>
                  <a:pt x="2349" y="0"/>
                  <a:pt x="5207" y="0"/>
                </a:cubicBezTo>
                <a:close/>
              </a:path>
            </a:pathLst>
          </a:custGeom>
          <a:solidFill>
            <a:srgbClr val="87AC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9" name="m-d33_sunburst-lgs-2-2"/>
          <p:cNvSpPr txBox="1"/>
          <p:nvPr/>
        </p:nvSpPr>
        <p:spPr>
          <a:xfrm>
            <a:off x="1161964" y="267584"/>
            <a:ext cx="67483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PaaS</a:t>
            </a:r>
          </a:p>
        </p:txBody>
      </p:sp>
      <p:sp>
        <p:nvSpPr>
          <p:cNvPr id="70" name="m-d33_sunburst-lgbar-2-2"/>
          <p:cNvSpPr/>
          <p:nvPr/>
        </p:nvSpPr>
        <p:spPr>
          <a:xfrm>
            <a:off x="1351915" y="278956"/>
            <a:ext cx="169228" cy="15621"/>
          </a:xfrm>
          <a:custGeom>
            <a:avLst/>
            <a:gdLst/>
            <a:ahLst/>
            <a:cxnLst/>
            <a:rect l="0" t="0" r="r" b="b"/>
            <a:pathLst>
              <a:path w="169228" h="15621">
                <a:moveTo>
                  <a:pt x="7810" y="0"/>
                </a:moveTo>
                <a:lnTo>
                  <a:pt x="161417" y="0"/>
                </a:lnTo>
                <a:cubicBezTo>
                  <a:pt x="165735" y="0"/>
                  <a:pt x="169228" y="3556"/>
                  <a:pt x="169228" y="7810"/>
                </a:cubicBezTo>
                <a:lnTo>
                  <a:pt x="169228" y="7810"/>
                </a:lnTo>
                <a:cubicBezTo>
                  <a:pt x="169228" y="12129"/>
                  <a:pt x="165735" y="15621"/>
                  <a:pt x="161417" y="15621"/>
                </a:cubicBezTo>
                <a:lnTo>
                  <a:pt x="7810" y="15621"/>
                </a:lnTo>
                <a:cubicBezTo>
                  <a:pt x="3492" y="15621"/>
                  <a:pt x="0" y="12129"/>
                  <a:pt x="0" y="7810"/>
                </a:cubicBezTo>
                <a:lnTo>
                  <a:pt x="0" y="7810"/>
                </a:lnTo>
                <a:cubicBezTo>
                  <a:pt x="0" y="3556"/>
                  <a:pt x="3492" y="0"/>
                  <a:pt x="7810" y="0"/>
                </a:cubicBezTo>
                <a:close/>
              </a:path>
            </a:pathLst>
          </a:custGeom>
          <a:solidFill>
            <a:srgbClr val="87AC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1" name="m-d33_sunburst-lgp-2-2"/>
          <p:cNvSpPr txBox="1"/>
          <p:nvPr/>
        </p:nvSpPr>
        <p:spPr>
          <a:xfrm>
            <a:off x="1780972" y="267584"/>
            <a:ext cx="42073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9%</a:t>
            </a:r>
          </a:p>
        </p:txBody>
      </p:sp>
      <p:sp>
        <p:nvSpPr>
          <p:cNvPr id="72" name="m-d33_sunburst-lgc-2-3"/>
          <p:cNvSpPr/>
          <p:nvPr/>
        </p:nvSpPr>
        <p:spPr>
          <a:xfrm>
            <a:off x="1130618" y="323215"/>
            <a:ext cx="20828" cy="20828"/>
          </a:xfrm>
          <a:custGeom>
            <a:avLst/>
            <a:gdLst/>
            <a:ahLst/>
            <a:cxnLst/>
            <a:rect l="0" t="0" r="r" b="b"/>
            <a:pathLst>
              <a:path w="20828" h="20828">
                <a:moveTo>
                  <a:pt x="5207" y="0"/>
                </a:moveTo>
                <a:lnTo>
                  <a:pt x="15621" y="0"/>
                </a:lnTo>
                <a:cubicBezTo>
                  <a:pt x="18478" y="0"/>
                  <a:pt x="20828" y="2350"/>
                  <a:pt x="20828" y="5207"/>
                </a:cubicBezTo>
                <a:lnTo>
                  <a:pt x="20828" y="15621"/>
                </a:lnTo>
                <a:cubicBezTo>
                  <a:pt x="20828" y="18542"/>
                  <a:pt x="18478" y="20828"/>
                  <a:pt x="15621" y="20828"/>
                </a:cubicBezTo>
                <a:lnTo>
                  <a:pt x="5207" y="20828"/>
                </a:lnTo>
                <a:cubicBezTo>
                  <a:pt x="2349" y="20828"/>
                  <a:pt x="0" y="18542"/>
                  <a:pt x="0" y="15621"/>
                </a:cubicBezTo>
                <a:lnTo>
                  <a:pt x="0" y="5207"/>
                </a:lnTo>
                <a:cubicBezTo>
                  <a:pt x="0" y="2350"/>
                  <a:pt x="2349" y="0"/>
                  <a:pt x="5207" y="0"/>
                </a:cubicBezTo>
                <a:close/>
              </a:path>
            </a:pathLst>
          </a:custGeom>
          <a:solidFill>
            <a:srgbClr val="B2CAE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3" name="m-d33_sunburst-lgs-2-3"/>
          <p:cNvSpPr txBox="1"/>
          <p:nvPr/>
        </p:nvSpPr>
        <p:spPr>
          <a:xfrm>
            <a:off x="1161964" y="314447"/>
            <a:ext cx="67483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SaaS</a:t>
            </a:r>
          </a:p>
        </p:txBody>
      </p:sp>
      <p:sp>
        <p:nvSpPr>
          <p:cNvPr id="74" name="m-d33_sunburst-lgbar-2-3"/>
          <p:cNvSpPr/>
          <p:nvPr/>
        </p:nvSpPr>
        <p:spPr>
          <a:xfrm>
            <a:off x="1351915" y="325818"/>
            <a:ext cx="131635" cy="15621"/>
          </a:xfrm>
          <a:custGeom>
            <a:avLst/>
            <a:gdLst/>
            <a:ahLst/>
            <a:cxnLst/>
            <a:rect l="0" t="0" r="r" b="b"/>
            <a:pathLst>
              <a:path w="131635" h="15621">
                <a:moveTo>
                  <a:pt x="7810" y="0"/>
                </a:moveTo>
                <a:lnTo>
                  <a:pt x="123825" y="0"/>
                </a:lnTo>
                <a:cubicBezTo>
                  <a:pt x="128143" y="0"/>
                  <a:pt x="131635" y="3556"/>
                  <a:pt x="131635" y="7810"/>
                </a:cubicBezTo>
                <a:lnTo>
                  <a:pt x="131635" y="7810"/>
                </a:lnTo>
                <a:cubicBezTo>
                  <a:pt x="131635" y="12128"/>
                  <a:pt x="128143" y="15621"/>
                  <a:pt x="123825" y="15621"/>
                </a:cubicBezTo>
                <a:lnTo>
                  <a:pt x="7810" y="15621"/>
                </a:lnTo>
                <a:cubicBezTo>
                  <a:pt x="3492" y="15621"/>
                  <a:pt x="0" y="12128"/>
                  <a:pt x="0" y="7810"/>
                </a:cubicBezTo>
                <a:lnTo>
                  <a:pt x="0" y="7810"/>
                </a:lnTo>
                <a:cubicBezTo>
                  <a:pt x="0" y="3556"/>
                  <a:pt x="3492" y="0"/>
                  <a:pt x="7810" y="0"/>
                </a:cubicBezTo>
                <a:close/>
              </a:path>
            </a:pathLst>
          </a:custGeom>
          <a:solidFill>
            <a:srgbClr val="B2CAE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5" name="m-d33_sunburst-lgp-2-3"/>
          <p:cNvSpPr txBox="1"/>
          <p:nvPr/>
        </p:nvSpPr>
        <p:spPr>
          <a:xfrm>
            <a:off x="1780972" y="314447"/>
            <a:ext cx="42073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7%</a:t>
            </a:r>
          </a:p>
        </p:txBody>
      </p:sp>
      <p:sp>
        <p:nvSpPr>
          <p:cNvPr id="76" name="m-d33_sunburst-lg-3"/>
          <p:cNvSpPr/>
          <p:nvPr/>
        </p:nvSpPr>
        <p:spPr>
          <a:xfrm>
            <a:off x="1091565" y="389636"/>
            <a:ext cx="768033" cy="208280"/>
          </a:xfrm>
          <a:custGeom>
            <a:avLst/>
            <a:gdLst/>
            <a:ahLst/>
            <a:cxnLst/>
            <a:rect l="0" t="0" r="r" b="b"/>
            <a:pathLst>
              <a:path w="768033" h="208280">
                <a:moveTo>
                  <a:pt x="23431" y="0"/>
                </a:moveTo>
                <a:lnTo>
                  <a:pt x="744601" y="0"/>
                </a:lnTo>
                <a:cubicBezTo>
                  <a:pt x="757555" y="0"/>
                  <a:pt x="768033" y="10477"/>
                  <a:pt x="768033" y="23431"/>
                </a:cubicBezTo>
                <a:lnTo>
                  <a:pt x="768033" y="184848"/>
                </a:lnTo>
                <a:cubicBezTo>
                  <a:pt x="768033" y="197803"/>
                  <a:pt x="757555" y="208280"/>
                  <a:pt x="744601" y="208280"/>
                </a:cubicBezTo>
                <a:lnTo>
                  <a:pt x="23431" y="208280"/>
                </a:lnTo>
                <a:cubicBezTo>
                  <a:pt x="10478" y="208280"/>
                  <a:pt x="0" y="197803"/>
                  <a:pt x="0" y="184848"/>
                </a:cubicBezTo>
                <a:lnTo>
                  <a:pt x="0" y="23431"/>
                </a:lnTo>
                <a:cubicBezTo>
                  <a:pt x="0" y="10477"/>
                  <a:pt x="10478" y="0"/>
                  <a:pt x="2343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7" name="m-d33_sunburst-lgb-3"/>
          <p:cNvSpPr/>
          <p:nvPr/>
        </p:nvSpPr>
        <p:spPr>
          <a:xfrm>
            <a:off x="1091565" y="389636"/>
            <a:ext cx="7810" cy="208280"/>
          </a:xfrm>
          <a:custGeom>
            <a:avLst/>
            <a:gdLst/>
            <a:ahLst/>
            <a:cxnLst/>
            <a:rect l="0" t="0" r="r" b="b"/>
            <a:pathLst>
              <a:path w="7810" h="208280">
                <a:moveTo>
                  <a:pt x="3873" y="0"/>
                </a:moveTo>
                <a:lnTo>
                  <a:pt x="3873" y="0"/>
                </a:lnTo>
                <a:cubicBezTo>
                  <a:pt x="6096" y="0"/>
                  <a:pt x="7810" y="1715"/>
                  <a:pt x="7810" y="3873"/>
                </a:cubicBezTo>
                <a:lnTo>
                  <a:pt x="7810" y="204343"/>
                </a:lnTo>
                <a:cubicBezTo>
                  <a:pt x="7810" y="206566"/>
                  <a:pt x="6096" y="208280"/>
                  <a:pt x="3873" y="208280"/>
                </a:cubicBezTo>
                <a:lnTo>
                  <a:pt x="3873" y="208280"/>
                </a:lnTo>
                <a:cubicBezTo>
                  <a:pt x="1714" y="208280"/>
                  <a:pt x="0" y="206566"/>
                  <a:pt x="0" y="204343"/>
                </a:cubicBezTo>
                <a:lnTo>
                  <a:pt x="0" y="3873"/>
                </a:lnTo>
                <a:cubicBezTo>
                  <a:pt x="0" y="1715"/>
                  <a:pt x="1714" y="0"/>
                  <a:pt x="3873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8" name="m-d33_sunburst-lgn-3"/>
          <p:cNvSpPr txBox="1"/>
          <p:nvPr/>
        </p:nvSpPr>
        <p:spPr>
          <a:xfrm>
            <a:off x="1124890" y="401742"/>
            <a:ext cx="135382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数据服务</a:t>
            </a:r>
          </a:p>
        </p:txBody>
      </p:sp>
      <p:sp>
        <p:nvSpPr>
          <p:cNvPr id="79" name="m-d33_sunburst-lgv-3"/>
          <p:cNvSpPr txBox="1"/>
          <p:nvPr/>
        </p:nvSpPr>
        <p:spPr>
          <a:xfrm>
            <a:off x="1640148" y="406565"/>
            <a:ext cx="183052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3" normalizeH="0" baseline="0" noProof="0">
                <a:ln>
                  <a:noFill/>
                </a:ln>
                <a:solidFill>
                  <a:srgbClr val="4694D7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18% · 2.16 亿</a:t>
            </a:r>
          </a:p>
        </p:txBody>
      </p:sp>
      <p:sp>
        <p:nvSpPr>
          <p:cNvPr id="80" name="m-d33_sunburst-lgc-3-1"/>
          <p:cNvSpPr/>
          <p:nvPr/>
        </p:nvSpPr>
        <p:spPr>
          <a:xfrm>
            <a:off x="1130618" y="461200"/>
            <a:ext cx="20828" cy="20828"/>
          </a:xfrm>
          <a:custGeom>
            <a:avLst/>
            <a:gdLst/>
            <a:ahLst/>
            <a:cxnLst/>
            <a:rect l="0" t="0" r="r" b="b"/>
            <a:pathLst>
              <a:path w="20828" h="20828">
                <a:moveTo>
                  <a:pt x="5207" y="0"/>
                </a:moveTo>
                <a:lnTo>
                  <a:pt x="15621" y="0"/>
                </a:lnTo>
                <a:cubicBezTo>
                  <a:pt x="18478" y="0"/>
                  <a:pt x="20828" y="2350"/>
                  <a:pt x="20828" y="5207"/>
                </a:cubicBezTo>
                <a:lnTo>
                  <a:pt x="20828" y="15621"/>
                </a:lnTo>
                <a:cubicBezTo>
                  <a:pt x="20828" y="18542"/>
                  <a:pt x="18478" y="20828"/>
                  <a:pt x="15621" y="20828"/>
                </a:cubicBezTo>
                <a:lnTo>
                  <a:pt x="5207" y="20828"/>
                </a:lnTo>
                <a:cubicBezTo>
                  <a:pt x="2349" y="20828"/>
                  <a:pt x="0" y="18542"/>
                  <a:pt x="0" y="15621"/>
                </a:cubicBezTo>
                <a:lnTo>
                  <a:pt x="0" y="5207"/>
                </a:lnTo>
                <a:cubicBezTo>
                  <a:pt x="0" y="2350"/>
                  <a:pt x="2349" y="0"/>
                  <a:pt x="5207" y="0"/>
                </a:cubicBezTo>
                <a:close/>
              </a:path>
            </a:pathLst>
          </a:custGeom>
          <a:solidFill>
            <a:srgbClr val="74AF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1" name="m-d33_sunburst-lgs-3-1"/>
          <p:cNvSpPr txBox="1"/>
          <p:nvPr/>
        </p:nvSpPr>
        <p:spPr>
          <a:xfrm>
            <a:off x="1161964" y="452432"/>
            <a:ext cx="10414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数据治理</a:t>
            </a:r>
          </a:p>
        </p:txBody>
      </p:sp>
      <p:sp>
        <p:nvSpPr>
          <p:cNvPr id="82" name="m-d33_sunburst-lgbar-3-1"/>
          <p:cNvSpPr/>
          <p:nvPr/>
        </p:nvSpPr>
        <p:spPr>
          <a:xfrm>
            <a:off x="1351915" y="463804"/>
            <a:ext cx="150432" cy="15621"/>
          </a:xfrm>
          <a:custGeom>
            <a:avLst/>
            <a:gdLst/>
            <a:ahLst/>
            <a:cxnLst/>
            <a:rect l="0" t="0" r="r" b="b"/>
            <a:pathLst>
              <a:path w="150432" h="15621">
                <a:moveTo>
                  <a:pt x="7810" y="0"/>
                </a:moveTo>
                <a:lnTo>
                  <a:pt x="142621" y="0"/>
                </a:lnTo>
                <a:cubicBezTo>
                  <a:pt x="146939" y="0"/>
                  <a:pt x="150432" y="3556"/>
                  <a:pt x="150432" y="7874"/>
                </a:cubicBezTo>
                <a:lnTo>
                  <a:pt x="150432" y="7874"/>
                </a:lnTo>
                <a:cubicBezTo>
                  <a:pt x="150432" y="12128"/>
                  <a:pt x="146939" y="15621"/>
                  <a:pt x="142621" y="15621"/>
                </a:cubicBezTo>
                <a:lnTo>
                  <a:pt x="7810" y="15621"/>
                </a:lnTo>
                <a:cubicBezTo>
                  <a:pt x="3492" y="15621"/>
                  <a:pt x="0" y="12128"/>
                  <a:pt x="0" y="7874"/>
                </a:cubicBezTo>
                <a:lnTo>
                  <a:pt x="0" y="7874"/>
                </a:lnTo>
                <a:cubicBezTo>
                  <a:pt x="0" y="3556"/>
                  <a:pt x="3492" y="0"/>
                  <a:pt x="7810" y="0"/>
                </a:cubicBezTo>
                <a:close/>
              </a:path>
            </a:pathLst>
          </a:custGeom>
          <a:solidFill>
            <a:srgbClr val="74AF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3" name="m-d33_sunburst-lgp-3-1"/>
          <p:cNvSpPr txBox="1"/>
          <p:nvPr/>
        </p:nvSpPr>
        <p:spPr>
          <a:xfrm>
            <a:off x="1780972" y="452432"/>
            <a:ext cx="42073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8%</a:t>
            </a:r>
          </a:p>
        </p:txBody>
      </p:sp>
      <p:sp>
        <p:nvSpPr>
          <p:cNvPr id="84" name="m-d33_sunburst-lgc-3-2"/>
          <p:cNvSpPr/>
          <p:nvPr/>
        </p:nvSpPr>
        <p:spPr>
          <a:xfrm>
            <a:off x="1130618" y="508064"/>
            <a:ext cx="20828" cy="20828"/>
          </a:xfrm>
          <a:custGeom>
            <a:avLst/>
            <a:gdLst/>
            <a:ahLst/>
            <a:cxnLst/>
            <a:rect l="0" t="0" r="r" b="b"/>
            <a:pathLst>
              <a:path w="20828" h="20828">
                <a:moveTo>
                  <a:pt x="5207" y="0"/>
                </a:moveTo>
                <a:lnTo>
                  <a:pt x="15621" y="0"/>
                </a:lnTo>
                <a:cubicBezTo>
                  <a:pt x="18478" y="0"/>
                  <a:pt x="20828" y="2349"/>
                  <a:pt x="20828" y="5207"/>
                </a:cubicBezTo>
                <a:lnTo>
                  <a:pt x="20828" y="15621"/>
                </a:lnTo>
                <a:cubicBezTo>
                  <a:pt x="20828" y="18542"/>
                  <a:pt x="18478" y="20828"/>
                  <a:pt x="15621" y="20828"/>
                </a:cubicBezTo>
                <a:lnTo>
                  <a:pt x="5207" y="20828"/>
                </a:lnTo>
                <a:cubicBezTo>
                  <a:pt x="2349" y="20828"/>
                  <a:pt x="0" y="18542"/>
                  <a:pt x="0" y="15621"/>
                </a:cubicBezTo>
                <a:lnTo>
                  <a:pt x="0" y="5207"/>
                </a:lnTo>
                <a:cubicBezTo>
                  <a:pt x="0" y="2349"/>
                  <a:pt x="2349" y="0"/>
                  <a:pt x="5207" y="0"/>
                </a:cubicBezTo>
                <a:close/>
              </a:path>
            </a:pathLst>
          </a:custGeom>
          <a:solidFill>
            <a:srgbClr val="99C4E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5" name="m-d33_sunburst-lgs-3-2"/>
          <p:cNvSpPr txBox="1"/>
          <p:nvPr/>
        </p:nvSpPr>
        <p:spPr>
          <a:xfrm>
            <a:off x="1161964" y="499295"/>
            <a:ext cx="9799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BI 分析</a:t>
            </a:r>
          </a:p>
        </p:txBody>
      </p:sp>
      <p:sp>
        <p:nvSpPr>
          <p:cNvPr id="86" name="m-d33_sunburst-lgbar-3-2"/>
          <p:cNvSpPr/>
          <p:nvPr/>
        </p:nvSpPr>
        <p:spPr>
          <a:xfrm>
            <a:off x="1351915" y="510667"/>
            <a:ext cx="112839" cy="15621"/>
          </a:xfrm>
          <a:custGeom>
            <a:avLst/>
            <a:gdLst/>
            <a:ahLst/>
            <a:cxnLst/>
            <a:rect l="0" t="0" r="r" b="b"/>
            <a:pathLst>
              <a:path w="112839" h="15621">
                <a:moveTo>
                  <a:pt x="7810" y="0"/>
                </a:moveTo>
                <a:lnTo>
                  <a:pt x="105029" y="0"/>
                </a:lnTo>
                <a:cubicBezTo>
                  <a:pt x="109347" y="0"/>
                  <a:pt x="112839" y="3556"/>
                  <a:pt x="112839" y="7874"/>
                </a:cubicBezTo>
                <a:lnTo>
                  <a:pt x="112839" y="7874"/>
                </a:lnTo>
                <a:cubicBezTo>
                  <a:pt x="112839" y="12128"/>
                  <a:pt x="109347" y="15621"/>
                  <a:pt x="105029" y="15621"/>
                </a:cubicBezTo>
                <a:lnTo>
                  <a:pt x="7810" y="15621"/>
                </a:lnTo>
                <a:cubicBezTo>
                  <a:pt x="3492" y="15621"/>
                  <a:pt x="0" y="12128"/>
                  <a:pt x="0" y="7874"/>
                </a:cubicBezTo>
                <a:lnTo>
                  <a:pt x="0" y="7874"/>
                </a:lnTo>
                <a:cubicBezTo>
                  <a:pt x="0" y="3556"/>
                  <a:pt x="3492" y="0"/>
                  <a:pt x="7810" y="0"/>
                </a:cubicBezTo>
                <a:close/>
              </a:path>
            </a:pathLst>
          </a:custGeom>
          <a:solidFill>
            <a:srgbClr val="99C4E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7" name="m-d33_sunburst-lgp-3-2"/>
          <p:cNvSpPr txBox="1"/>
          <p:nvPr/>
        </p:nvSpPr>
        <p:spPr>
          <a:xfrm>
            <a:off x="1780972" y="499295"/>
            <a:ext cx="42073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6%</a:t>
            </a:r>
          </a:p>
        </p:txBody>
      </p:sp>
      <p:sp>
        <p:nvSpPr>
          <p:cNvPr id="88" name="m-d33_sunburst-lgc-3-3"/>
          <p:cNvSpPr/>
          <p:nvPr/>
        </p:nvSpPr>
        <p:spPr>
          <a:xfrm>
            <a:off x="1130618" y="554926"/>
            <a:ext cx="20828" cy="20828"/>
          </a:xfrm>
          <a:custGeom>
            <a:avLst/>
            <a:gdLst/>
            <a:ahLst/>
            <a:cxnLst/>
            <a:rect l="0" t="0" r="r" b="b"/>
            <a:pathLst>
              <a:path w="20828" h="20828">
                <a:moveTo>
                  <a:pt x="5207" y="0"/>
                </a:moveTo>
                <a:lnTo>
                  <a:pt x="15621" y="0"/>
                </a:lnTo>
                <a:cubicBezTo>
                  <a:pt x="18478" y="0"/>
                  <a:pt x="20828" y="2350"/>
                  <a:pt x="20828" y="5270"/>
                </a:cubicBezTo>
                <a:lnTo>
                  <a:pt x="20828" y="15621"/>
                </a:lnTo>
                <a:cubicBezTo>
                  <a:pt x="20828" y="18542"/>
                  <a:pt x="18478" y="20828"/>
                  <a:pt x="15621" y="20828"/>
                </a:cubicBezTo>
                <a:lnTo>
                  <a:pt x="5207" y="20828"/>
                </a:lnTo>
                <a:cubicBezTo>
                  <a:pt x="2349" y="20828"/>
                  <a:pt x="0" y="18542"/>
                  <a:pt x="0" y="15621"/>
                </a:cubicBezTo>
                <a:lnTo>
                  <a:pt x="0" y="5270"/>
                </a:lnTo>
                <a:cubicBezTo>
                  <a:pt x="0" y="2350"/>
                  <a:pt x="2349" y="0"/>
                  <a:pt x="5207" y="0"/>
                </a:cubicBezTo>
                <a:close/>
              </a:path>
            </a:pathLst>
          </a:custGeom>
          <a:solidFill>
            <a:srgbClr val="BEDA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9" name="m-d33_sunburst-lgs-3-3"/>
          <p:cNvSpPr txBox="1"/>
          <p:nvPr/>
        </p:nvSpPr>
        <p:spPr>
          <a:xfrm>
            <a:off x="1161964" y="546158"/>
            <a:ext cx="10414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数据交易</a:t>
            </a:r>
          </a:p>
        </p:txBody>
      </p:sp>
      <p:sp>
        <p:nvSpPr>
          <p:cNvPr id="90" name="m-d33_sunburst-lgbar-3-3"/>
          <p:cNvSpPr/>
          <p:nvPr/>
        </p:nvSpPr>
        <p:spPr>
          <a:xfrm>
            <a:off x="1351915" y="557530"/>
            <a:ext cx="75184" cy="15621"/>
          </a:xfrm>
          <a:custGeom>
            <a:avLst/>
            <a:gdLst/>
            <a:ahLst/>
            <a:cxnLst/>
            <a:rect l="0" t="0" r="r" b="b"/>
            <a:pathLst>
              <a:path w="75184" h="15621">
                <a:moveTo>
                  <a:pt x="7810" y="0"/>
                </a:moveTo>
                <a:lnTo>
                  <a:pt x="67373" y="0"/>
                </a:lnTo>
                <a:cubicBezTo>
                  <a:pt x="71691" y="0"/>
                  <a:pt x="75184" y="3556"/>
                  <a:pt x="75184" y="7811"/>
                </a:cubicBezTo>
                <a:lnTo>
                  <a:pt x="75184" y="7811"/>
                </a:lnTo>
                <a:cubicBezTo>
                  <a:pt x="75184" y="12128"/>
                  <a:pt x="71691" y="15621"/>
                  <a:pt x="67373" y="15621"/>
                </a:cubicBezTo>
                <a:lnTo>
                  <a:pt x="7810" y="15621"/>
                </a:lnTo>
                <a:cubicBezTo>
                  <a:pt x="3492" y="15621"/>
                  <a:pt x="0" y="12128"/>
                  <a:pt x="0" y="7811"/>
                </a:cubicBezTo>
                <a:lnTo>
                  <a:pt x="0" y="7811"/>
                </a:lnTo>
                <a:cubicBezTo>
                  <a:pt x="0" y="3556"/>
                  <a:pt x="3492" y="0"/>
                  <a:pt x="7810" y="0"/>
                </a:cubicBezTo>
                <a:close/>
              </a:path>
            </a:pathLst>
          </a:custGeom>
          <a:solidFill>
            <a:srgbClr val="BEDA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1" name="m-d33_sunburst-lgp-3-3"/>
          <p:cNvSpPr txBox="1"/>
          <p:nvPr/>
        </p:nvSpPr>
        <p:spPr>
          <a:xfrm>
            <a:off x="1780972" y="546158"/>
            <a:ext cx="42073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4%</a:t>
            </a:r>
          </a:p>
        </p:txBody>
      </p:sp>
      <p:sp>
        <p:nvSpPr>
          <p:cNvPr id="92" name="m-d33_sunburst-lg-4"/>
          <p:cNvSpPr/>
          <p:nvPr/>
        </p:nvSpPr>
        <p:spPr>
          <a:xfrm>
            <a:off x="1091565" y="621348"/>
            <a:ext cx="768033" cy="161417"/>
          </a:xfrm>
          <a:custGeom>
            <a:avLst/>
            <a:gdLst/>
            <a:ahLst/>
            <a:cxnLst/>
            <a:rect l="0" t="0" r="r" b="b"/>
            <a:pathLst>
              <a:path w="768033" h="161417">
                <a:moveTo>
                  <a:pt x="23431" y="0"/>
                </a:moveTo>
                <a:lnTo>
                  <a:pt x="744601" y="0"/>
                </a:lnTo>
                <a:cubicBezTo>
                  <a:pt x="757555" y="0"/>
                  <a:pt x="768033" y="10478"/>
                  <a:pt x="768033" y="23432"/>
                </a:cubicBezTo>
                <a:lnTo>
                  <a:pt x="768033" y="137986"/>
                </a:lnTo>
                <a:cubicBezTo>
                  <a:pt x="768033" y="150940"/>
                  <a:pt x="757555" y="161417"/>
                  <a:pt x="744601" y="161417"/>
                </a:cubicBezTo>
                <a:lnTo>
                  <a:pt x="23431" y="161417"/>
                </a:lnTo>
                <a:cubicBezTo>
                  <a:pt x="10478" y="161417"/>
                  <a:pt x="0" y="150940"/>
                  <a:pt x="0" y="137986"/>
                </a:cubicBezTo>
                <a:lnTo>
                  <a:pt x="0" y="23432"/>
                </a:lnTo>
                <a:cubicBezTo>
                  <a:pt x="0" y="10478"/>
                  <a:pt x="10478" y="0"/>
                  <a:pt x="2343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3" name="m-d33_sunburst-lgb-4"/>
          <p:cNvSpPr/>
          <p:nvPr/>
        </p:nvSpPr>
        <p:spPr>
          <a:xfrm>
            <a:off x="1091565" y="621348"/>
            <a:ext cx="7810" cy="161417"/>
          </a:xfrm>
          <a:custGeom>
            <a:avLst/>
            <a:gdLst/>
            <a:ahLst/>
            <a:cxnLst/>
            <a:rect l="0" t="0" r="r" b="b"/>
            <a:pathLst>
              <a:path w="7810" h="161417">
                <a:moveTo>
                  <a:pt x="3873" y="0"/>
                </a:moveTo>
                <a:lnTo>
                  <a:pt x="3873" y="0"/>
                </a:lnTo>
                <a:cubicBezTo>
                  <a:pt x="6096" y="0"/>
                  <a:pt x="7810" y="1715"/>
                  <a:pt x="7810" y="3937"/>
                </a:cubicBezTo>
                <a:lnTo>
                  <a:pt x="7810" y="157544"/>
                </a:lnTo>
                <a:cubicBezTo>
                  <a:pt x="7810" y="159703"/>
                  <a:pt x="6096" y="161417"/>
                  <a:pt x="3873" y="161417"/>
                </a:cubicBezTo>
                <a:lnTo>
                  <a:pt x="3873" y="161417"/>
                </a:lnTo>
                <a:cubicBezTo>
                  <a:pt x="1714" y="161417"/>
                  <a:pt x="0" y="159703"/>
                  <a:pt x="0" y="157544"/>
                </a:cubicBezTo>
                <a:lnTo>
                  <a:pt x="0" y="3937"/>
                </a:lnTo>
                <a:cubicBezTo>
                  <a:pt x="0" y="1715"/>
                  <a:pt x="1714" y="0"/>
                  <a:pt x="3873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4" name="m-d33_sunburst-lgn-4"/>
          <p:cNvSpPr txBox="1"/>
          <p:nvPr/>
        </p:nvSpPr>
        <p:spPr>
          <a:xfrm>
            <a:off x="1124890" y="633454"/>
            <a:ext cx="79407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咨询</a:t>
            </a:r>
          </a:p>
        </p:txBody>
      </p:sp>
      <p:sp>
        <p:nvSpPr>
          <p:cNvPr id="95" name="m-d33_sunburst-lgv-4"/>
          <p:cNvSpPr txBox="1"/>
          <p:nvPr/>
        </p:nvSpPr>
        <p:spPr>
          <a:xfrm>
            <a:off x="1640148" y="638277"/>
            <a:ext cx="183052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3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12% · 1.44 亿</a:t>
            </a:r>
          </a:p>
        </p:txBody>
      </p:sp>
      <p:sp>
        <p:nvSpPr>
          <p:cNvPr id="96" name="m-d33_sunburst-lgc-4-1"/>
          <p:cNvSpPr/>
          <p:nvPr/>
        </p:nvSpPr>
        <p:spPr>
          <a:xfrm>
            <a:off x="1130618" y="692912"/>
            <a:ext cx="20828" cy="20891"/>
          </a:xfrm>
          <a:custGeom>
            <a:avLst/>
            <a:gdLst/>
            <a:ahLst/>
            <a:cxnLst/>
            <a:rect l="0" t="0" r="r" b="b"/>
            <a:pathLst>
              <a:path w="20828" h="20891">
                <a:moveTo>
                  <a:pt x="5207" y="0"/>
                </a:moveTo>
                <a:lnTo>
                  <a:pt x="15621" y="0"/>
                </a:lnTo>
                <a:cubicBezTo>
                  <a:pt x="18478" y="0"/>
                  <a:pt x="20828" y="2349"/>
                  <a:pt x="20828" y="5207"/>
                </a:cubicBezTo>
                <a:lnTo>
                  <a:pt x="20828" y="15621"/>
                </a:lnTo>
                <a:cubicBezTo>
                  <a:pt x="20828" y="18542"/>
                  <a:pt x="18478" y="20891"/>
                  <a:pt x="15621" y="20891"/>
                </a:cubicBezTo>
                <a:lnTo>
                  <a:pt x="5207" y="20891"/>
                </a:lnTo>
                <a:cubicBezTo>
                  <a:pt x="2349" y="20891"/>
                  <a:pt x="0" y="18542"/>
                  <a:pt x="0" y="15621"/>
                </a:cubicBezTo>
                <a:lnTo>
                  <a:pt x="0" y="5207"/>
                </a:lnTo>
                <a:cubicBezTo>
                  <a:pt x="0" y="2349"/>
                  <a:pt x="2349" y="0"/>
                  <a:pt x="5207" y="0"/>
                </a:cubicBezTo>
                <a:close/>
              </a:path>
            </a:pathLst>
          </a:custGeom>
          <a:solidFill>
            <a:srgbClr val="E8946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7" name="m-d33_sunburst-lgs-4-1"/>
          <p:cNvSpPr txBox="1"/>
          <p:nvPr/>
        </p:nvSpPr>
        <p:spPr>
          <a:xfrm>
            <a:off x="1161964" y="684144"/>
            <a:ext cx="10414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规划咨询</a:t>
            </a:r>
          </a:p>
        </p:txBody>
      </p:sp>
      <p:sp>
        <p:nvSpPr>
          <p:cNvPr id="98" name="m-d33_sunburst-lgbar-4-1"/>
          <p:cNvSpPr/>
          <p:nvPr/>
        </p:nvSpPr>
        <p:spPr>
          <a:xfrm>
            <a:off x="1351915" y="695516"/>
            <a:ext cx="131635" cy="15621"/>
          </a:xfrm>
          <a:custGeom>
            <a:avLst/>
            <a:gdLst/>
            <a:ahLst/>
            <a:cxnLst/>
            <a:rect l="0" t="0" r="r" b="b"/>
            <a:pathLst>
              <a:path w="131635" h="15621">
                <a:moveTo>
                  <a:pt x="7810" y="0"/>
                </a:moveTo>
                <a:lnTo>
                  <a:pt x="123825" y="0"/>
                </a:lnTo>
                <a:cubicBezTo>
                  <a:pt x="128143" y="0"/>
                  <a:pt x="131635" y="3556"/>
                  <a:pt x="131635" y="7811"/>
                </a:cubicBezTo>
                <a:lnTo>
                  <a:pt x="131635" y="7811"/>
                </a:lnTo>
                <a:cubicBezTo>
                  <a:pt x="131635" y="12128"/>
                  <a:pt x="128143" y="15621"/>
                  <a:pt x="123825" y="15621"/>
                </a:cubicBezTo>
                <a:lnTo>
                  <a:pt x="7810" y="15621"/>
                </a:lnTo>
                <a:cubicBezTo>
                  <a:pt x="3492" y="15621"/>
                  <a:pt x="0" y="12128"/>
                  <a:pt x="0" y="7811"/>
                </a:cubicBezTo>
                <a:lnTo>
                  <a:pt x="0" y="7811"/>
                </a:lnTo>
                <a:cubicBezTo>
                  <a:pt x="0" y="3556"/>
                  <a:pt x="3492" y="0"/>
                  <a:pt x="7810" y="0"/>
                </a:cubicBezTo>
                <a:close/>
              </a:path>
            </a:pathLst>
          </a:custGeom>
          <a:solidFill>
            <a:srgbClr val="E8946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9" name="m-d33_sunburst-lgp-4-1"/>
          <p:cNvSpPr txBox="1"/>
          <p:nvPr/>
        </p:nvSpPr>
        <p:spPr>
          <a:xfrm>
            <a:off x="1780972" y="684144"/>
            <a:ext cx="42073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7%</a:t>
            </a:r>
          </a:p>
        </p:txBody>
      </p:sp>
      <p:sp>
        <p:nvSpPr>
          <p:cNvPr id="100" name="m-d33_sunburst-lgc-4-2"/>
          <p:cNvSpPr/>
          <p:nvPr/>
        </p:nvSpPr>
        <p:spPr>
          <a:xfrm>
            <a:off x="1130618" y="739775"/>
            <a:ext cx="20828" cy="20828"/>
          </a:xfrm>
          <a:custGeom>
            <a:avLst/>
            <a:gdLst/>
            <a:ahLst/>
            <a:cxnLst/>
            <a:rect l="0" t="0" r="r" b="b"/>
            <a:pathLst>
              <a:path w="20828" h="20828">
                <a:moveTo>
                  <a:pt x="5207" y="0"/>
                </a:moveTo>
                <a:lnTo>
                  <a:pt x="15621" y="0"/>
                </a:lnTo>
                <a:cubicBezTo>
                  <a:pt x="18478" y="0"/>
                  <a:pt x="20828" y="2350"/>
                  <a:pt x="20828" y="5207"/>
                </a:cubicBezTo>
                <a:lnTo>
                  <a:pt x="20828" y="15684"/>
                </a:lnTo>
                <a:cubicBezTo>
                  <a:pt x="20828" y="18542"/>
                  <a:pt x="18478" y="20828"/>
                  <a:pt x="15621" y="20828"/>
                </a:cubicBezTo>
                <a:lnTo>
                  <a:pt x="5207" y="20828"/>
                </a:lnTo>
                <a:cubicBezTo>
                  <a:pt x="2349" y="20828"/>
                  <a:pt x="0" y="18542"/>
                  <a:pt x="0" y="15684"/>
                </a:cubicBezTo>
                <a:lnTo>
                  <a:pt x="0" y="5207"/>
                </a:lnTo>
                <a:cubicBezTo>
                  <a:pt x="0" y="2350"/>
                  <a:pt x="2349" y="0"/>
                  <a:pt x="5207" y="0"/>
                </a:cubicBezTo>
                <a:close/>
              </a:path>
            </a:pathLst>
          </a:custGeom>
          <a:solidFill>
            <a:srgbClr val="EEB09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1" name="m-d33_sunburst-lgs-4-2"/>
          <p:cNvSpPr txBox="1"/>
          <p:nvPr/>
        </p:nvSpPr>
        <p:spPr>
          <a:xfrm>
            <a:off x="1161964" y="731007"/>
            <a:ext cx="10414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实施服务</a:t>
            </a:r>
          </a:p>
        </p:txBody>
      </p:sp>
      <p:sp>
        <p:nvSpPr>
          <p:cNvPr id="102" name="m-d33_sunburst-lgbar-4-2"/>
          <p:cNvSpPr/>
          <p:nvPr/>
        </p:nvSpPr>
        <p:spPr>
          <a:xfrm>
            <a:off x="1351915" y="742378"/>
            <a:ext cx="94044" cy="15684"/>
          </a:xfrm>
          <a:custGeom>
            <a:avLst/>
            <a:gdLst/>
            <a:ahLst/>
            <a:cxnLst/>
            <a:rect l="0" t="0" r="r" b="b"/>
            <a:pathLst>
              <a:path w="94044" h="15684">
                <a:moveTo>
                  <a:pt x="7810" y="0"/>
                </a:moveTo>
                <a:lnTo>
                  <a:pt x="86233" y="0"/>
                </a:lnTo>
                <a:cubicBezTo>
                  <a:pt x="90551" y="0"/>
                  <a:pt x="94044" y="3556"/>
                  <a:pt x="94044" y="7811"/>
                </a:cubicBezTo>
                <a:lnTo>
                  <a:pt x="94044" y="7811"/>
                </a:lnTo>
                <a:cubicBezTo>
                  <a:pt x="94044" y="12128"/>
                  <a:pt x="90551" y="15684"/>
                  <a:pt x="86233" y="15684"/>
                </a:cubicBezTo>
                <a:lnTo>
                  <a:pt x="7810" y="15684"/>
                </a:lnTo>
                <a:cubicBezTo>
                  <a:pt x="3492" y="15684"/>
                  <a:pt x="0" y="12128"/>
                  <a:pt x="0" y="7811"/>
                </a:cubicBezTo>
                <a:lnTo>
                  <a:pt x="0" y="7811"/>
                </a:lnTo>
                <a:cubicBezTo>
                  <a:pt x="0" y="3556"/>
                  <a:pt x="3492" y="0"/>
                  <a:pt x="7810" y="0"/>
                </a:cubicBezTo>
                <a:close/>
              </a:path>
            </a:pathLst>
          </a:custGeom>
          <a:solidFill>
            <a:srgbClr val="EEB09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3" name="m-d33_sunburst-lgp-4-2"/>
          <p:cNvSpPr txBox="1"/>
          <p:nvPr/>
        </p:nvSpPr>
        <p:spPr>
          <a:xfrm>
            <a:off x="1780972" y="731007"/>
            <a:ext cx="42073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5%</a:t>
            </a:r>
          </a:p>
        </p:txBody>
      </p:sp>
      <p:cxnSp>
        <p:nvCxnSpPr>
          <p:cNvPr id="104" name="m-d33_sunburst-foot-line"/>
          <p:cNvCxnSpPr/>
          <p:nvPr/>
        </p:nvCxnSpPr>
        <p:spPr>
          <a:xfrm>
            <a:off x="-324739" y="9441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" name="m-d33_sunburst-foot-l"/>
          <p:cNvSpPr txBox="1"/>
          <p:nvPr/>
        </p:nvSpPr>
        <p:spPr>
          <a:xfrm>
            <a:off x="-326926" y="958123"/>
            <a:ext cx="347776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旭日图 · 四大业务 · 11 条产品线</a:t>
            </a:r>
          </a:p>
        </p:txBody>
      </p:sp>
      <p:sp>
        <p:nvSpPr>
          <p:cNvPr id="106" name="m-d33_sunburst-foot-r"/>
          <p:cNvSpPr txBox="1"/>
          <p:nvPr/>
        </p:nvSpPr>
        <p:spPr>
          <a:xfrm>
            <a:off x="1677509" y="9581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107" name="mini-card-s39_flywheel"/>
          <p:cNvSpPr/>
          <p:nvPr/>
        </p:nvSpPr>
        <p:spPr>
          <a:xfrm>
            <a:off x="2171700" y="-3810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0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1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0" y="1405890"/>
                </a:lnTo>
                <a:cubicBezTo>
                  <a:pt x="35877" y="1405890"/>
                  <a:pt x="0" y="1370012"/>
                  <a:pt x="0" y="1325690"/>
                </a:cubicBezTo>
                <a:lnTo>
                  <a:pt x="0" y="80201"/>
                </a:lnTo>
                <a:cubicBezTo>
                  <a:pt x="0" y="35877"/>
                  <a:pt x="35877" y="0"/>
                  <a:pt x="80200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8" name="m-s39_flywheel-title-bar"/>
          <p:cNvSpPr/>
          <p:nvPr/>
        </p:nvSpPr>
        <p:spPr>
          <a:xfrm>
            <a:off x="2291461" y="-282067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9" name="m-s39_flywheel-title-bar-accent"/>
          <p:cNvSpPr/>
          <p:nvPr/>
        </p:nvSpPr>
        <p:spPr>
          <a:xfrm>
            <a:off x="2291461" y="-282067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0" name="m-s39_flywheel-title-cn"/>
          <p:cNvSpPr txBox="1"/>
          <p:nvPr/>
        </p:nvSpPr>
        <p:spPr>
          <a:xfrm>
            <a:off x="2323640" y="-299432"/>
            <a:ext cx="301485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增长飞轮</a:t>
            </a:r>
          </a:p>
        </p:txBody>
      </p:sp>
      <p:sp>
        <p:nvSpPr>
          <p:cNvPr id="111" name="m-s39_flywheel-title-en"/>
          <p:cNvSpPr txBox="1"/>
          <p:nvPr/>
        </p:nvSpPr>
        <p:spPr>
          <a:xfrm>
            <a:off x="2330930" y="-212150"/>
            <a:ext cx="29640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GROWTH FLYWHEEL</a:t>
            </a:r>
          </a:p>
        </p:txBody>
      </p:sp>
      <p:sp>
        <p:nvSpPr>
          <p:cNvPr id="112" name="m-s39_flywheel-title-sub"/>
          <p:cNvSpPr txBox="1"/>
          <p:nvPr/>
        </p:nvSpPr>
        <p:spPr>
          <a:xfrm>
            <a:off x="3803704" y="-243008"/>
            <a:ext cx="750251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五个环节首尾相接，每转一圈，下一圈就更轻松——关键是先让它转起来</a:t>
            </a:r>
          </a:p>
        </p:txBody>
      </p:sp>
      <p:sp>
        <p:nvSpPr>
          <p:cNvPr id="113" name="m-s39_flywheel-halo"/>
          <p:cNvSpPr/>
          <p:nvPr/>
        </p:nvSpPr>
        <p:spPr>
          <a:xfrm>
            <a:off x="2744470" y="-29528"/>
            <a:ext cx="833120" cy="833120"/>
          </a:xfrm>
          <a:prstGeom prst="ellipse">
            <a:avLst/>
          </a:prstGeom>
          <a:solidFill>
            <a:srgbClr val="DCE7F6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4" name="m-s39_flywheel-seg-1"/>
          <p:cNvSpPr/>
          <p:nvPr/>
        </p:nvSpPr>
        <p:spPr>
          <a:xfrm>
            <a:off x="3174532" y="10804"/>
            <a:ext cx="318905" cy="262889"/>
          </a:xfrm>
          <a:custGeom>
            <a:avLst/>
            <a:gdLst/>
            <a:ahLst/>
            <a:cxnLst/>
            <a:rect l="0" t="0" r="r" b="b"/>
            <a:pathLst>
              <a:path w="318905" h="262889">
                <a:moveTo>
                  <a:pt x="17931" y="54"/>
                </a:moveTo>
                <a:cubicBezTo>
                  <a:pt x="136612" y="9960"/>
                  <a:pt x="243610" y="75302"/>
                  <a:pt x="306729" y="176267"/>
                </a:cubicBezTo>
                <a:lnTo>
                  <a:pt x="315555" y="170742"/>
                </a:lnTo>
                <a:quadBezTo>
                  <a:pt x="322159" y="166615"/>
                  <a:pt x="315746" y="180902"/>
                </a:quadBezTo>
                <a:lnTo>
                  <a:pt x="284567" y="250054"/>
                </a:lnTo>
                <a:quadBezTo>
                  <a:pt x="278154" y="264278"/>
                  <a:pt x="262596" y="262754"/>
                </a:quadBezTo>
                <a:lnTo>
                  <a:pt x="196366" y="256404"/>
                </a:lnTo>
                <a:quadBezTo>
                  <a:pt x="180808" y="254880"/>
                  <a:pt x="187476" y="250752"/>
                </a:quadBezTo>
                <a:lnTo>
                  <a:pt x="196302" y="245228"/>
                </a:lnTo>
                <a:cubicBezTo>
                  <a:pt x="155726" y="180267"/>
                  <a:pt x="87336" y="137722"/>
                  <a:pt x="11136" y="130102"/>
                </a:cubicBezTo>
                <a:quadBezTo>
                  <a:pt x="-548" y="129213"/>
                  <a:pt x="24" y="117529"/>
                </a:quadBezTo>
                <a:lnTo>
                  <a:pt x="5675" y="10913"/>
                </a:lnTo>
                <a:quadBezTo>
                  <a:pt x="6247" y="-771"/>
                  <a:pt x="17931" y="54"/>
                </a:quadBezTo>
                <a:close/>
              </a:path>
            </a:pathLst>
          </a:custGeom>
          <a:gradFill rotWithShape="1">
            <a:gsLst>
              <a:gs pos="0">
                <a:srgbClr val="3667AB"/>
              </a:gs>
              <a:gs pos="100000">
                <a:srgbClr val="134C9C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5" name="m-s39_flywheel-icon-fin"/>
          <p:cNvSpPr/>
          <p:nvPr/>
        </p:nvSpPr>
        <p:spPr>
          <a:xfrm>
            <a:off x="3320542" y="89154"/>
            <a:ext cx="12446" cy="19177"/>
          </a:xfrm>
          <a:custGeom>
            <a:avLst/>
            <a:gdLst/>
            <a:ahLst/>
            <a:cxnLst/>
            <a:rect l="0" t="0" r="r" b="b"/>
            <a:pathLst>
              <a:path w="12446" h="19177">
                <a:moveTo>
                  <a:pt x="6223" y="11303"/>
                </a:moveTo>
                <a:lnTo>
                  <a:pt x="6223" y="19177"/>
                </a:lnTo>
                <a:moveTo>
                  <a:pt x="1461" y="11303"/>
                </a:moveTo>
                <a:lnTo>
                  <a:pt x="11049" y="11303"/>
                </a:lnTo>
                <a:moveTo>
                  <a:pt x="1461" y="15557"/>
                </a:moveTo>
                <a:lnTo>
                  <a:pt x="11049" y="15557"/>
                </a:lnTo>
                <a:moveTo>
                  <a:pt x="0" y="0"/>
                </a:moveTo>
                <a:lnTo>
                  <a:pt x="6223" y="8509"/>
                </a:lnTo>
                <a:lnTo>
                  <a:pt x="12446" y="0"/>
                </a:lnTo>
              </a:path>
            </a:pathLst>
          </a:custGeom>
          <a:noFill/>
          <a:ln w="273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6" name="m-s39_flywheel-sn-1"/>
          <p:cNvSpPr txBox="1"/>
          <p:nvPr/>
        </p:nvSpPr>
        <p:spPr>
          <a:xfrm>
            <a:off x="3262271" y="117690"/>
            <a:ext cx="129003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更低价格</a:t>
            </a:r>
          </a:p>
        </p:txBody>
      </p:sp>
      <p:sp>
        <p:nvSpPr>
          <p:cNvPr id="117" name="m-s39_flywheel-k-1"/>
          <p:cNvSpPr txBox="1"/>
          <p:nvPr/>
        </p:nvSpPr>
        <p:spPr>
          <a:xfrm>
            <a:off x="3406207" y="-50790"/>
            <a:ext cx="165973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3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单价 -12%</a:t>
            </a:r>
          </a:p>
        </p:txBody>
      </p:sp>
      <p:sp>
        <p:nvSpPr>
          <p:cNvPr id="118" name="m-s39_flywheel-d-1"/>
          <p:cNvSpPr txBox="1"/>
          <p:nvPr/>
        </p:nvSpPr>
        <p:spPr>
          <a:xfrm>
            <a:off x="3407222" y="-3892"/>
            <a:ext cx="182701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规模效应摊薄成本</a:t>
            </a:r>
          </a:p>
        </p:txBody>
      </p:sp>
      <p:sp>
        <p:nvSpPr>
          <p:cNvPr id="119" name="m-s39_flywheel-seg-2"/>
          <p:cNvSpPr/>
          <p:nvPr/>
        </p:nvSpPr>
        <p:spPr>
          <a:xfrm>
            <a:off x="3338635" y="291718"/>
            <a:ext cx="199888" cy="348481"/>
          </a:xfrm>
          <a:custGeom>
            <a:avLst/>
            <a:gdLst/>
            <a:ahLst/>
            <a:cxnLst/>
            <a:rect l="0" t="0" r="r" b="b"/>
            <a:pathLst>
              <a:path w="199888" h="348481">
                <a:moveTo>
                  <a:pt x="189870" y="8955"/>
                </a:moveTo>
                <a:cubicBezTo>
                  <a:pt x="217111" y="124906"/>
                  <a:pt x="188092" y="246889"/>
                  <a:pt x="111511" y="338075"/>
                </a:cubicBezTo>
                <a:lnTo>
                  <a:pt x="119512" y="344743"/>
                </a:lnTo>
                <a:quadBezTo>
                  <a:pt x="125481" y="349759"/>
                  <a:pt x="109923" y="348045"/>
                </a:quadBezTo>
                <a:lnTo>
                  <a:pt x="34549" y="339790"/>
                </a:lnTo>
                <a:quadBezTo>
                  <a:pt x="18991" y="338139"/>
                  <a:pt x="15626" y="322835"/>
                </a:quadBezTo>
                <a:lnTo>
                  <a:pt x="1211" y="257875"/>
                </a:lnTo>
                <a:quadBezTo>
                  <a:pt x="-2154" y="242635"/>
                  <a:pt x="3815" y="247651"/>
                </a:quadBezTo>
                <a:lnTo>
                  <a:pt x="11816" y="254382"/>
                </a:lnTo>
                <a:cubicBezTo>
                  <a:pt x="61092" y="195708"/>
                  <a:pt x="80396" y="117540"/>
                  <a:pt x="64076" y="42673"/>
                </a:cubicBezTo>
                <a:quadBezTo>
                  <a:pt x="61282" y="31307"/>
                  <a:pt x="72649" y="28259"/>
                </a:quadBezTo>
                <a:lnTo>
                  <a:pt x="175709" y="636"/>
                </a:lnTo>
                <a:quadBezTo>
                  <a:pt x="187012" y="-2412"/>
                  <a:pt x="189870" y="8955"/>
                </a:quadBezTo>
                <a:close/>
              </a:path>
            </a:pathLst>
          </a:custGeom>
          <a:gradFill rotWithShape="1">
            <a:gsLst>
              <a:gs pos="0">
                <a:srgbClr val="3D73B5"/>
              </a:gs>
              <a:gs pos="100000">
                <a:srgbClr val="1B5AA8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0" name="m-s39_flywheel-icon-people"/>
          <p:cNvSpPr/>
          <p:nvPr/>
        </p:nvSpPr>
        <p:spPr>
          <a:xfrm>
            <a:off x="3452241" y="443040"/>
            <a:ext cx="24003" cy="6795"/>
          </a:xfrm>
          <a:custGeom>
            <a:avLst/>
            <a:gdLst/>
            <a:ahLst/>
            <a:cxnLst/>
            <a:rect l="0" t="0" r="r" b="b"/>
            <a:pathLst>
              <a:path w="24003" h="6795">
                <a:moveTo>
                  <a:pt x="0" y="6795"/>
                </a:moveTo>
                <a:cubicBezTo>
                  <a:pt x="0" y="2540"/>
                  <a:pt x="3556" y="0"/>
                  <a:pt x="7620" y="0"/>
                </a:cubicBezTo>
                <a:cubicBezTo>
                  <a:pt x="11748" y="0"/>
                  <a:pt x="15240" y="2540"/>
                  <a:pt x="15240" y="6795"/>
                </a:cubicBezTo>
                <a:moveTo>
                  <a:pt x="18098" y="572"/>
                </a:moveTo>
                <a:cubicBezTo>
                  <a:pt x="21717" y="1016"/>
                  <a:pt x="24003" y="3556"/>
                  <a:pt x="24003" y="6795"/>
                </a:cubicBezTo>
              </a:path>
            </a:pathLst>
          </a:custGeom>
          <a:noFill/>
          <a:ln w="273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1" name="m-s39_flywheel-icon-people"/>
          <p:cNvSpPr/>
          <p:nvPr/>
        </p:nvSpPr>
        <p:spPr>
          <a:xfrm>
            <a:off x="3455374" y="430932"/>
            <a:ext cx="9025" cy="9025"/>
          </a:xfrm>
          <a:prstGeom prst="ellipse">
            <a:avLst/>
          </a:prstGeom>
          <a:noFill/>
          <a:ln w="273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2" name="m-s39_flywheel-icon-people"/>
          <p:cNvSpPr/>
          <p:nvPr/>
        </p:nvSpPr>
        <p:spPr>
          <a:xfrm>
            <a:off x="3467502" y="430932"/>
            <a:ext cx="7333" cy="7333"/>
          </a:xfrm>
          <a:prstGeom prst="ellipse">
            <a:avLst/>
          </a:prstGeom>
          <a:noFill/>
          <a:ln w="273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3" name="m-s39_flywheel-sn-2"/>
          <p:cNvSpPr txBox="1"/>
          <p:nvPr/>
        </p:nvSpPr>
        <p:spPr>
          <a:xfrm>
            <a:off x="3399615" y="458315"/>
            <a:ext cx="129003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更多客户</a:t>
            </a:r>
          </a:p>
        </p:txBody>
      </p:sp>
      <p:sp>
        <p:nvSpPr>
          <p:cNvPr id="124" name="m-s39_flywheel-k-2"/>
          <p:cNvSpPr txBox="1"/>
          <p:nvPr/>
        </p:nvSpPr>
        <p:spPr>
          <a:xfrm>
            <a:off x="3612224" y="460146"/>
            <a:ext cx="165973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3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客户 +24%</a:t>
            </a:r>
          </a:p>
        </p:txBody>
      </p:sp>
      <p:sp>
        <p:nvSpPr>
          <p:cNvPr id="125" name="m-s39_flywheel-d-2"/>
          <p:cNvSpPr txBox="1"/>
          <p:nvPr/>
        </p:nvSpPr>
        <p:spPr>
          <a:xfrm>
            <a:off x="3613239" y="507045"/>
            <a:ext cx="182701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价格优势带来新客</a:t>
            </a:r>
          </a:p>
        </p:txBody>
      </p:sp>
      <p:sp>
        <p:nvSpPr>
          <p:cNvPr id="126" name="m-s39_flywheel-seg-3"/>
          <p:cNvSpPr/>
          <p:nvPr/>
        </p:nvSpPr>
        <p:spPr>
          <a:xfrm>
            <a:off x="2993419" y="598243"/>
            <a:ext cx="369325" cy="166184"/>
          </a:xfrm>
          <a:custGeom>
            <a:avLst/>
            <a:gdLst/>
            <a:ahLst/>
            <a:cxnLst/>
            <a:rect l="0" t="0" r="r" b="b"/>
            <a:pathLst>
              <a:path w="369325" h="166184">
                <a:moveTo>
                  <a:pt x="363318" y="111623"/>
                </a:moveTo>
                <a:cubicBezTo>
                  <a:pt x="261464" y="173345"/>
                  <a:pt x="136496" y="183378"/>
                  <a:pt x="26069" y="138738"/>
                </a:cubicBezTo>
                <a:lnTo>
                  <a:pt x="22196" y="148453"/>
                </a:lnTo>
                <a:quadBezTo>
                  <a:pt x="19275" y="155692"/>
                  <a:pt x="16100" y="140389"/>
                </a:quadBezTo>
                <a:lnTo>
                  <a:pt x="606" y="66094"/>
                </a:lnTo>
                <a:quadBezTo>
                  <a:pt x="-2569" y="50790"/>
                  <a:pt x="10893" y="42853"/>
                </a:quadBezTo>
                <a:lnTo>
                  <a:pt x="68233" y="9134"/>
                </a:lnTo>
                <a:quadBezTo>
                  <a:pt x="81695" y="1197"/>
                  <a:pt x="78774" y="8436"/>
                </a:quadBezTo>
                <a:lnTo>
                  <a:pt x="74901" y="18088"/>
                </a:lnTo>
                <a:cubicBezTo>
                  <a:pt x="145894" y="46790"/>
                  <a:pt x="226221" y="41011"/>
                  <a:pt x="292325" y="2340"/>
                </a:cubicBezTo>
                <a:quadBezTo>
                  <a:pt x="302294" y="-3756"/>
                  <a:pt x="308708" y="6023"/>
                </a:quadBezTo>
                <a:lnTo>
                  <a:pt x="366810" y="95558"/>
                </a:lnTo>
                <a:quadBezTo>
                  <a:pt x="373224" y="105400"/>
                  <a:pt x="363318" y="111623"/>
                </a:quadBezTo>
                <a:close/>
              </a:path>
            </a:pathLst>
          </a:custGeom>
          <a:gradFill rotWithShape="1">
            <a:gsLst>
              <a:gs pos="0">
                <a:srgbClr val="457FC1"/>
              </a:gs>
              <a:gs pos="100000">
                <a:srgbClr val="2468B6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7" name="m-s39_flywheel-icon-share"/>
          <p:cNvSpPr/>
          <p:nvPr/>
        </p:nvSpPr>
        <p:spPr>
          <a:xfrm>
            <a:off x="3177222" y="668338"/>
            <a:ext cx="10033" cy="13843"/>
          </a:xfrm>
          <a:custGeom>
            <a:avLst/>
            <a:gdLst/>
            <a:ahLst/>
            <a:cxnLst/>
            <a:rect l="0" t="0" r="r" b="b"/>
            <a:pathLst>
              <a:path w="10033" h="13843">
                <a:moveTo>
                  <a:pt x="0" y="5525"/>
                </a:moveTo>
                <a:lnTo>
                  <a:pt x="10033" y="0"/>
                </a:lnTo>
                <a:moveTo>
                  <a:pt x="0" y="8319"/>
                </a:moveTo>
                <a:lnTo>
                  <a:pt x="10033" y="13843"/>
                </a:lnTo>
              </a:path>
            </a:pathLst>
          </a:custGeom>
          <a:noFill/>
          <a:ln w="273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8" name="m-s39_flywheel-icon-share"/>
          <p:cNvSpPr/>
          <p:nvPr/>
        </p:nvSpPr>
        <p:spPr>
          <a:xfrm>
            <a:off x="3171183" y="672032"/>
            <a:ext cx="6487" cy="6487"/>
          </a:xfrm>
          <a:prstGeom prst="ellipse">
            <a:avLst/>
          </a:prstGeom>
          <a:noFill/>
          <a:ln w="273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9" name="m-s39_flywheel-icon-share"/>
          <p:cNvSpPr/>
          <p:nvPr/>
        </p:nvSpPr>
        <p:spPr>
          <a:xfrm>
            <a:off x="3186977" y="663852"/>
            <a:ext cx="6487" cy="6487"/>
          </a:xfrm>
          <a:prstGeom prst="ellipse">
            <a:avLst/>
          </a:prstGeom>
          <a:noFill/>
          <a:ln w="273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0" name="m-s39_flywheel-icon-share"/>
          <p:cNvSpPr/>
          <p:nvPr/>
        </p:nvSpPr>
        <p:spPr>
          <a:xfrm>
            <a:off x="3186977" y="680211"/>
            <a:ext cx="6487" cy="6487"/>
          </a:xfrm>
          <a:prstGeom prst="ellipse">
            <a:avLst/>
          </a:prstGeom>
          <a:noFill/>
          <a:ln w="273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1" name="m-s39_flywheel-sn-3"/>
          <p:cNvSpPr txBox="1"/>
          <p:nvPr/>
        </p:nvSpPr>
        <p:spPr>
          <a:xfrm>
            <a:off x="3118104" y="694196"/>
            <a:ext cx="129003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更多伙伴</a:t>
            </a:r>
          </a:p>
        </p:txBody>
      </p:sp>
      <p:sp>
        <p:nvSpPr>
          <p:cNvPr id="132" name="m-s39_flywheel-k-3"/>
          <p:cNvSpPr txBox="1"/>
          <p:nvPr/>
        </p:nvSpPr>
        <p:spPr>
          <a:xfrm>
            <a:off x="3189957" y="813968"/>
            <a:ext cx="195002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3" normalizeH="0" baseline="0" noProof="0">
                <a:ln>
                  <a:noFill/>
                </a:ln>
                <a:solidFill>
                  <a:srgbClr val="2468B6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伙伴 +38 家</a:t>
            </a:r>
          </a:p>
        </p:txBody>
      </p:sp>
      <p:sp>
        <p:nvSpPr>
          <p:cNvPr id="133" name="m-s39_flywheel-d-3"/>
          <p:cNvSpPr txBox="1"/>
          <p:nvPr/>
        </p:nvSpPr>
        <p:spPr>
          <a:xfrm>
            <a:off x="3190972" y="860867"/>
            <a:ext cx="203268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客户多了伙伴愿意来</a:t>
            </a:r>
          </a:p>
        </p:txBody>
      </p:sp>
      <p:sp>
        <p:nvSpPr>
          <p:cNvPr id="134" name="m-s39_flywheel-seg-4"/>
          <p:cNvSpPr/>
          <p:nvPr/>
        </p:nvSpPr>
        <p:spPr>
          <a:xfrm>
            <a:off x="2771212" y="310629"/>
            <a:ext cx="230135" cy="365664"/>
          </a:xfrm>
          <a:custGeom>
            <a:avLst/>
            <a:gdLst/>
            <a:ahLst/>
            <a:cxnLst/>
            <a:rect l="0" t="0" r="r" b="b"/>
            <a:pathLst>
              <a:path w="230135" h="365664">
                <a:moveTo>
                  <a:pt x="143247" y="362280"/>
                </a:moveTo>
                <a:cubicBezTo>
                  <a:pt x="53077" y="284493"/>
                  <a:pt x="4881" y="168732"/>
                  <a:pt x="13263" y="49924"/>
                </a:cubicBezTo>
                <a:lnTo>
                  <a:pt x="2849" y="49225"/>
                </a:lnTo>
                <a:quadBezTo>
                  <a:pt x="-4962" y="48654"/>
                  <a:pt x="8627" y="40907"/>
                </a:quadBezTo>
                <a:lnTo>
                  <a:pt x="74477" y="3315"/>
                </a:lnTo>
                <a:quadBezTo>
                  <a:pt x="88066" y="-4432"/>
                  <a:pt x="99750" y="5918"/>
                </a:quadBezTo>
                <a:lnTo>
                  <a:pt x="149597" y="49987"/>
                </a:lnTo>
                <a:quadBezTo>
                  <a:pt x="161281" y="60338"/>
                  <a:pt x="153471" y="59830"/>
                </a:quadBezTo>
                <a:lnTo>
                  <a:pt x="143120" y="59068"/>
                </a:lnTo>
                <a:cubicBezTo>
                  <a:pt x="137723" y="135458"/>
                  <a:pt x="168076" y="210071"/>
                  <a:pt x="225226" y="261061"/>
                </a:cubicBezTo>
                <a:quadBezTo>
                  <a:pt x="234179" y="268618"/>
                  <a:pt x="226813" y="277698"/>
                </a:quadBezTo>
                <a:lnTo>
                  <a:pt x="159630" y="360693"/>
                </a:lnTo>
                <a:quadBezTo>
                  <a:pt x="152264" y="369773"/>
                  <a:pt x="143247" y="362280"/>
                </a:quadBezTo>
                <a:close/>
              </a:path>
            </a:pathLst>
          </a:custGeom>
          <a:gradFill rotWithShape="1">
            <a:gsLst>
              <a:gs pos="0">
                <a:srgbClr val="4D8BCB"/>
              </a:gs>
              <a:gs pos="100000">
                <a:srgbClr val="2E77C2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5" name="m-s39_flywheel-icon-star"/>
          <p:cNvSpPr/>
          <p:nvPr/>
        </p:nvSpPr>
        <p:spPr>
          <a:xfrm>
            <a:off x="2859278" y="468567"/>
            <a:ext cx="24003" cy="22860"/>
          </a:xfrm>
          <a:custGeom>
            <a:avLst/>
            <a:gdLst/>
            <a:ahLst/>
            <a:cxnLst/>
            <a:rect l="0" t="0" r="r" b="b"/>
            <a:pathLst>
              <a:path w="24003" h="22860">
                <a:moveTo>
                  <a:pt x="12002" y="0"/>
                </a:moveTo>
                <a:lnTo>
                  <a:pt x="15685" y="7620"/>
                </a:lnTo>
                <a:lnTo>
                  <a:pt x="24003" y="8763"/>
                </a:lnTo>
                <a:lnTo>
                  <a:pt x="17907" y="14541"/>
                </a:lnTo>
                <a:lnTo>
                  <a:pt x="19495" y="22860"/>
                </a:lnTo>
                <a:lnTo>
                  <a:pt x="12002" y="18796"/>
                </a:lnTo>
                <a:lnTo>
                  <a:pt x="4509" y="22860"/>
                </a:lnTo>
                <a:lnTo>
                  <a:pt x="6096" y="14541"/>
                </a:lnTo>
                <a:lnTo>
                  <a:pt x="0" y="8763"/>
                </a:lnTo>
                <a:lnTo>
                  <a:pt x="8319" y="7620"/>
                </a:lnTo>
                <a:close/>
              </a:path>
            </a:pathLst>
          </a:custGeom>
          <a:noFill/>
          <a:ln w="273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6" name="m-s39_flywheel-sn-4"/>
          <p:cNvSpPr txBox="1"/>
          <p:nvPr/>
        </p:nvSpPr>
        <p:spPr>
          <a:xfrm>
            <a:off x="2806776" y="499354"/>
            <a:ext cx="129003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更好体验</a:t>
            </a:r>
          </a:p>
        </p:txBody>
      </p:sp>
      <p:sp>
        <p:nvSpPr>
          <p:cNvPr id="137" name="m-s39_flywheel-k-4"/>
          <p:cNvSpPr txBox="1"/>
          <p:nvPr/>
        </p:nvSpPr>
        <p:spPr>
          <a:xfrm>
            <a:off x="2605495" y="521705"/>
            <a:ext cx="124343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3" normalizeH="0" baseline="0" noProof="0">
                <a:ln>
                  <a:noFill/>
                </a:ln>
                <a:solidFill>
                  <a:srgbClr val="2E77C2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NPS +9</a:t>
            </a:r>
          </a:p>
        </p:txBody>
      </p:sp>
      <p:sp>
        <p:nvSpPr>
          <p:cNvPr id="138" name="m-s39_flywheel-d-4"/>
          <p:cNvSpPr txBox="1"/>
          <p:nvPr/>
        </p:nvSpPr>
        <p:spPr>
          <a:xfrm>
            <a:off x="2546122" y="568604"/>
            <a:ext cx="182701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伙伴补齐解决方案</a:t>
            </a:r>
          </a:p>
        </p:txBody>
      </p:sp>
      <p:sp>
        <p:nvSpPr>
          <p:cNvPr id="139" name="m-s39_flywheel-seg-5"/>
          <p:cNvSpPr/>
          <p:nvPr/>
        </p:nvSpPr>
        <p:spPr>
          <a:xfrm>
            <a:off x="2811743" y="7444"/>
            <a:ext cx="328878" cy="287910"/>
          </a:xfrm>
          <a:custGeom>
            <a:avLst/>
            <a:gdLst/>
            <a:ahLst/>
            <a:cxnLst/>
            <a:rect l="0" t="0" r="r" b="b"/>
            <a:pathLst>
              <a:path w="328878" h="287910">
                <a:moveTo>
                  <a:pt x="1244" y="233411"/>
                </a:moveTo>
                <a:cubicBezTo>
                  <a:pt x="47345" y="123620"/>
                  <a:pt x="142531" y="42022"/>
                  <a:pt x="258101" y="13257"/>
                </a:cubicBezTo>
                <a:lnTo>
                  <a:pt x="255561" y="3160"/>
                </a:lnTo>
                <a:quadBezTo>
                  <a:pt x="253656" y="-4396"/>
                  <a:pt x="265213" y="6081"/>
                </a:quadBezTo>
                <a:lnTo>
                  <a:pt x="321347" y="57072"/>
                </a:lnTo>
                <a:quadBezTo>
                  <a:pt x="332968" y="67613"/>
                  <a:pt x="326681" y="81900"/>
                </a:quadBezTo>
                <a:lnTo>
                  <a:pt x="300138" y="142924"/>
                </a:lnTo>
                <a:quadBezTo>
                  <a:pt x="293915" y="157275"/>
                  <a:pt x="292074" y="149655"/>
                </a:quadBezTo>
                <a:lnTo>
                  <a:pt x="289534" y="139558"/>
                </a:lnTo>
                <a:cubicBezTo>
                  <a:pt x="215175" y="158100"/>
                  <a:pt x="153644" y="209980"/>
                  <a:pt x="122846" y="280147"/>
                </a:cubicBezTo>
                <a:quadBezTo>
                  <a:pt x="118401" y="290942"/>
                  <a:pt x="107479" y="286751"/>
                </a:quadBezTo>
                <a:lnTo>
                  <a:pt x="7784" y="248524"/>
                </a:lnTo>
                <a:quadBezTo>
                  <a:pt x="-3138" y="244270"/>
                  <a:pt x="1244" y="233411"/>
                </a:quadBezTo>
                <a:close/>
              </a:path>
            </a:pathLst>
          </a:custGeom>
          <a:gradFill rotWithShape="1">
            <a:gsLst>
              <a:gs pos="0">
                <a:srgbClr val="E58558"/>
              </a:gs>
              <a:gs pos="100000">
                <a:srgbClr val="E0703A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0" name="m-s39_flywheel-icon-grow"/>
          <p:cNvSpPr/>
          <p:nvPr/>
        </p:nvSpPr>
        <p:spPr>
          <a:xfrm>
            <a:off x="2948559" y="118808"/>
            <a:ext cx="21146" cy="13208"/>
          </a:xfrm>
          <a:custGeom>
            <a:avLst/>
            <a:gdLst/>
            <a:ahLst/>
            <a:cxnLst/>
            <a:rect l="0" t="0" r="r" b="b"/>
            <a:pathLst>
              <a:path w="21146" h="13208">
                <a:moveTo>
                  <a:pt x="0" y="13208"/>
                </a:moveTo>
                <a:lnTo>
                  <a:pt x="7049" y="5588"/>
                </a:lnTo>
                <a:lnTo>
                  <a:pt x="12129" y="9843"/>
                </a:lnTo>
                <a:lnTo>
                  <a:pt x="20574" y="0"/>
                </a:lnTo>
                <a:moveTo>
                  <a:pt x="17209" y="0"/>
                </a:moveTo>
                <a:lnTo>
                  <a:pt x="21146" y="0"/>
                </a:lnTo>
                <a:lnTo>
                  <a:pt x="21146" y="3937"/>
                </a:lnTo>
              </a:path>
            </a:pathLst>
          </a:custGeom>
          <a:noFill/>
          <a:ln w="273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1" name="m-s39_flywheel-sn-5"/>
          <p:cNvSpPr txBox="1"/>
          <p:nvPr/>
        </p:nvSpPr>
        <p:spPr>
          <a:xfrm>
            <a:off x="2895876" y="143054"/>
            <a:ext cx="129003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更大规模</a:t>
            </a:r>
          </a:p>
        </p:txBody>
      </p:sp>
      <p:sp>
        <p:nvSpPr>
          <p:cNvPr id="142" name="m-s39_flywheel-k-5"/>
          <p:cNvSpPr txBox="1"/>
          <p:nvPr/>
        </p:nvSpPr>
        <p:spPr>
          <a:xfrm>
            <a:off x="2697515" y="-12745"/>
            <a:ext cx="165973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3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营收 +20%</a:t>
            </a:r>
          </a:p>
        </p:txBody>
      </p:sp>
      <p:sp>
        <p:nvSpPr>
          <p:cNvPr id="143" name="m-s39_flywheel-d-5"/>
          <p:cNvSpPr txBox="1"/>
          <p:nvPr/>
        </p:nvSpPr>
        <p:spPr>
          <a:xfrm>
            <a:off x="2679772" y="34154"/>
            <a:ext cx="182701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口碑推动持续增长</a:t>
            </a:r>
          </a:p>
        </p:txBody>
      </p:sp>
      <p:sp>
        <p:nvSpPr>
          <p:cNvPr id="144" name="m-s39_flywheel-core"/>
          <p:cNvSpPr/>
          <p:nvPr/>
        </p:nvSpPr>
        <p:spPr>
          <a:xfrm>
            <a:off x="2947543" y="173545"/>
            <a:ext cx="426974" cy="4269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5" name="m-s39_flywheel-core-t"/>
          <p:cNvSpPr txBox="1"/>
          <p:nvPr/>
        </p:nvSpPr>
        <p:spPr>
          <a:xfrm>
            <a:off x="3086440" y="303734"/>
            <a:ext cx="149181" cy="7745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50" b="1" i="0" u="none" strike="noStrike" kern="1200" cap="none" spc="82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飞轮</a:t>
            </a:r>
          </a:p>
        </p:txBody>
      </p:sp>
      <p:sp>
        <p:nvSpPr>
          <p:cNvPr id="146" name="m-s39_flywheel-core-l"/>
          <p:cNvSpPr txBox="1"/>
          <p:nvPr/>
        </p:nvSpPr>
        <p:spPr>
          <a:xfrm>
            <a:off x="3128226" y="384741"/>
            <a:ext cx="65608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2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转速</a:t>
            </a:r>
          </a:p>
        </p:txBody>
      </p:sp>
      <p:sp>
        <p:nvSpPr>
          <p:cNvPr id="147" name="m-s39_flywheel-core-v"/>
          <p:cNvSpPr txBox="1"/>
          <p:nvPr/>
        </p:nvSpPr>
        <p:spPr>
          <a:xfrm>
            <a:off x="3087455" y="409865"/>
            <a:ext cx="147150" cy="820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7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×1.4</a:t>
            </a:r>
          </a:p>
        </p:txBody>
      </p:sp>
      <p:sp>
        <p:nvSpPr>
          <p:cNvPr id="148" name="m-s39_flywheel-side-bar"/>
          <p:cNvSpPr/>
          <p:nvPr/>
        </p:nvSpPr>
        <p:spPr>
          <a:xfrm>
            <a:off x="3916045" y="-55562"/>
            <a:ext cx="6509" cy="109347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9" name="m-s39_flywheel-side-h"/>
          <p:cNvSpPr txBox="1"/>
          <p:nvPr/>
        </p:nvSpPr>
        <p:spPr>
          <a:xfrm>
            <a:off x="3948589" y="-54098"/>
            <a:ext cx="275320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怎么让它转起来</a:t>
            </a:r>
          </a:p>
        </p:txBody>
      </p:sp>
      <p:sp>
        <p:nvSpPr>
          <p:cNvPr id="150" name="m-s39_flywheel-side-p"/>
          <p:cNvSpPr txBox="1"/>
          <p:nvPr/>
        </p:nvSpPr>
        <p:spPr>
          <a:xfrm>
            <a:off x="3949760" y="2219"/>
            <a:ext cx="253516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从最容易推的一环下手</a:t>
            </a:r>
          </a:p>
        </p:txBody>
      </p:sp>
      <p:sp>
        <p:nvSpPr>
          <p:cNvPr id="151" name="m-s39_flywheel-tip-1"/>
          <p:cNvSpPr/>
          <p:nvPr/>
        </p:nvSpPr>
        <p:spPr>
          <a:xfrm>
            <a:off x="3916045" y="87630"/>
            <a:ext cx="559752" cy="169228"/>
          </a:xfrm>
          <a:custGeom>
            <a:avLst/>
            <a:gdLst/>
            <a:ahLst/>
            <a:cxnLst/>
            <a:rect l="0" t="0" r="r" b="b"/>
            <a:pathLst>
              <a:path w="559752" h="169228">
                <a:moveTo>
                  <a:pt x="26035" y="0"/>
                </a:moveTo>
                <a:lnTo>
                  <a:pt x="533717" y="0"/>
                </a:lnTo>
                <a:cubicBezTo>
                  <a:pt x="548132" y="0"/>
                  <a:pt x="559752" y="11620"/>
                  <a:pt x="559752" y="26035"/>
                </a:cubicBezTo>
                <a:lnTo>
                  <a:pt x="559752" y="143192"/>
                </a:lnTo>
                <a:cubicBezTo>
                  <a:pt x="559752" y="157607"/>
                  <a:pt x="548132" y="169228"/>
                  <a:pt x="533717" y="169228"/>
                </a:cubicBezTo>
                <a:lnTo>
                  <a:pt x="26035" y="169228"/>
                </a:lnTo>
                <a:cubicBezTo>
                  <a:pt x="11620" y="169228"/>
                  <a:pt x="0" y="157607"/>
                  <a:pt x="0" y="143192"/>
                </a:cubicBezTo>
                <a:lnTo>
                  <a:pt x="0" y="26035"/>
                </a:lnTo>
                <a:cubicBezTo>
                  <a:pt x="0" y="11620"/>
                  <a:pt x="11620" y="0"/>
                  <a:pt x="260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2" name="m-s39_flywheel-tipn-1"/>
          <p:cNvSpPr txBox="1"/>
          <p:nvPr/>
        </p:nvSpPr>
        <p:spPr>
          <a:xfrm>
            <a:off x="3946246" y="101429"/>
            <a:ext cx="105181" cy="9112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09" b="1" i="0" u="none" strike="noStrike" kern="1200" cap="none" spc="0" normalizeH="0" baseline="0" noProof="0">
                <a:ln>
                  <a:noFill/>
                </a:ln>
                <a:solidFill>
                  <a:srgbClr val="0B3E8F">
                    <a:alpha val="3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153" name="m-s39_flywheel-tiph-1"/>
          <p:cNvSpPr txBox="1"/>
          <p:nvPr/>
        </p:nvSpPr>
        <p:spPr>
          <a:xfrm>
            <a:off x="4043096" y="125771"/>
            <a:ext cx="214789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第一推力：价格</a:t>
            </a:r>
          </a:p>
        </p:txBody>
      </p:sp>
      <p:sp>
        <p:nvSpPr>
          <p:cNvPr id="154" name="m-s39_flywheel-tipd-1"/>
          <p:cNvSpPr txBox="1"/>
          <p:nvPr/>
        </p:nvSpPr>
        <p:spPr>
          <a:xfrm>
            <a:off x="4043799" y="182472"/>
            <a:ext cx="264971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先用规模采购把成本降下来</a:t>
            </a:r>
          </a:p>
        </p:txBody>
      </p:sp>
      <p:sp>
        <p:nvSpPr>
          <p:cNvPr id="155" name="m-s39_flywheel-tip-2"/>
          <p:cNvSpPr/>
          <p:nvPr/>
        </p:nvSpPr>
        <p:spPr>
          <a:xfrm>
            <a:off x="3916045" y="282892"/>
            <a:ext cx="559752" cy="169228"/>
          </a:xfrm>
          <a:custGeom>
            <a:avLst/>
            <a:gdLst/>
            <a:ahLst/>
            <a:cxnLst/>
            <a:rect l="0" t="0" r="r" b="b"/>
            <a:pathLst>
              <a:path w="559752" h="169228">
                <a:moveTo>
                  <a:pt x="26035" y="0"/>
                </a:moveTo>
                <a:lnTo>
                  <a:pt x="533717" y="0"/>
                </a:lnTo>
                <a:cubicBezTo>
                  <a:pt x="548132" y="0"/>
                  <a:pt x="559752" y="11621"/>
                  <a:pt x="559752" y="26035"/>
                </a:cubicBezTo>
                <a:lnTo>
                  <a:pt x="559752" y="143192"/>
                </a:lnTo>
                <a:cubicBezTo>
                  <a:pt x="559752" y="157607"/>
                  <a:pt x="548132" y="169228"/>
                  <a:pt x="533717" y="169228"/>
                </a:cubicBezTo>
                <a:lnTo>
                  <a:pt x="26035" y="169228"/>
                </a:lnTo>
                <a:cubicBezTo>
                  <a:pt x="11620" y="169228"/>
                  <a:pt x="0" y="157607"/>
                  <a:pt x="0" y="143192"/>
                </a:cubicBezTo>
                <a:lnTo>
                  <a:pt x="0" y="26035"/>
                </a:lnTo>
                <a:cubicBezTo>
                  <a:pt x="0" y="11621"/>
                  <a:pt x="11620" y="0"/>
                  <a:pt x="260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6" name="m-s39_flywheel-tipn-2"/>
          <p:cNvSpPr txBox="1"/>
          <p:nvPr/>
        </p:nvSpPr>
        <p:spPr>
          <a:xfrm>
            <a:off x="3946246" y="296691"/>
            <a:ext cx="105181" cy="9112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09" b="1" i="0" u="none" strike="noStrike" kern="1200" cap="none" spc="0" normalizeH="0" baseline="0" noProof="0">
                <a:ln>
                  <a:noFill/>
                </a:ln>
                <a:solidFill>
                  <a:srgbClr val="1B5AA8">
                    <a:alpha val="3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157" name="m-s39_flywheel-tiph-2"/>
          <p:cNvSpPr txBox="1"/>
          <p:nvPr/>
        </p:nvSpPr>
        <p:spPr>
          <a:xfrm>
            <a:off x="4043096" y="321034"/>
            <a:ext cx="132778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不要跳环</a:t>
            </a:r>
          </a:p>
        </p:txBody>
      </p:sp>
      <p:sp>
        <p:nvSpPr>
          <p:cNvPr id="158" name="m-s39_flywheel-tipd-2"/>
          <p:cNvSpPr txBox="1"/>
          <p:nvPr/>
        </p:nvSpPr>
        <p:spPr>
          <a:xfrm>
            <a:off x="4043799" y="377735"/>
            <a:ext cx="326674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任何一环卡住，整个轮子都会减速</a:t>
            </a:r>
          </a:p>
        </p:txBody>
      </p:sp>
      <p:sp>
        <p:nvSpPr>
          <p:cNvPr id="159" name="m-s39_flywheel-tip-3"/>
          <p:cNvSpPr/>
          <p:nvPr/>
        </p:nvSpPr>
        <p:spPr>
          <a:xfrm>
            <a:off x="3916045" y="478155"/>
            <a:ext cx="559752" cy="169228"/>
          </a:xfrm>
          <a:custGeom>
            <a:avLst/>
            <a:gdLst/>
            <a:ahLst/>
            <a:cxnLst/>
            <a:rect l="0" t="0" r="r" b="b"/>
            <a:pathLst>
              <a:path w="559752" h="169228">
                <a:moveTo>
                  <a:pt x="26035" y="0"/>
                </a:moveTo>
                <a:lnTo>
                  <a:pt x="533717" y="0"/>
                </a:lnTo>
                <a:cubicBezTo>
                  <a:pt x="548132" y="0"/>
                  <a:pt x="559752" y="11620"/>
                  <a:pt x="559752" y="26035"/>
                </a:cubicBezTo>
                <a:lnTo>
                  <a:pt x="559752" y="143192"/>
                </a:lnTo>
                <a:cubicBezTo>
                  <a:pt x="559752" y="157607"/>
                  <a:pt x="548132" y="169228"/>
                  <a:pt x="533717" y="169228"/>
                </a:cubicBezTo>
                <a:lnTo>
                  <a:pt x="26035" y="169228"/>
                </a:lnTo>
                <a:cubicBezTo>
                  <a:pt x="11620" y="169228"/>
                  <a:pt x="0" y="157607"/>
                  <a:pt x="0" y="143192"/>
                </a:cubicBezTo>
                <a:lnTo>
                  <a:pt x="0" y="26035"/>
                </a:lnTo>
                <a:cubicBezTo>
                  <a:pt x="0" y="11620"/>
                  <a:pt x="11620" y="0"/>
                  <a:pt x="260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0" name="m-s39_flywheel-tipn-3"/>
          <p:cNvSpPr txBox="1"/>
          <p:nvPr/>
        </p:nvSpPr>
        <p:spPr>
          <a:xfrm>
            <a:off x="3946246" y="491954"/>
            <a:ext cx="105181" cy="9112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09" b="1" i="0" u="none" strike="noStrike" kern="1200" cap="none" spc="0" normalizeH="0" baseline="0" noProof="0">
                <a:ln>
                  <a:noFill/>
                </a:ln>
                <a:solidFill>
                  <a:srgbClr val="2E77C2">
                    <a:alpha val="3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161" name="m-s39_flywheel-tiph-3"/>
          <p:cNvSpPr txBox="1"/>
          <p:nvPr/>
        </p:nvSpPr>
        <p:spPr>
          <a:xfrm>
            <a:off x="4043096" y="516296"/>
            <a:ext cx="187452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每季度量一次</a:t>
            </a:r>
          </a:p>
        </p:txBody>
      </p:sp>
      <p:sp>
        <p:nvSpPr>
          <p:cNvPr id="162" name="m-s39_flywheel-tipd-3"/>
          <p:cNvSpPr txBox="1"/>
          <p:nvPr/>
        </p:nvSpPr>
        <p:spPr>
          <a:xfrm>
            <a:off x="4043799" y="572997"/>
            <a:ext cx="347242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五个指标同时看，找出最慢的那一环</a:t>
            </a:r>
          </a:p>
        </p:txBody>
      </p:sp>
      <p:cxnSp>
        <p:nvCxnSpPr>
          <p:cNvPr id="163" name="m-s39_flywheel-foot-line"/>
          <p:cNvCxnSpPr/>
          <p:nvPr/>
        </p:nvCxnSpPr>
        <p:spPr>
          <a:xfrm>
            <a:off x="2291461" y="9441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4" name="m-s39_flywheel-foot-l"/>
          <p:cNvSpPr txBox="1"/>
          <p:nvPr/>
        </p:nvSpPr>
        <p:spPr>
          <a:xfrm>
            <a:off x="2289274" y="958123"/>
            <a:ext cx="21429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增长飞轮 · 五个环节</a:t>
            </a:r>
          </a:p>
        </p:txBody>
      </p:sp>
      <p:sp>
        <p:nvSpPr>
          <p:cNvPr id="165" name="m-s39_flywheel-foot-r"/>
          <p:cNvSpPr txBox="1"/>
          <p:nvPr/>
        </p:nvSpPr>
        <p:spPr>
          <a:xfrm>
            <a:off x="4293709" y="9581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166" name="mini-card-p28_metro"/>
          <p:cNvSpPr/>
          <p:nvPr/>
        </p:nvSpPr>
        <p:spPr>
          <a:xfrm>
            <a:off x="4787900" y="-3810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0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1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0" y="1405890"/>
                </a:lnTo>
                <a:cubicBezTo>
                  <a:pt x="35877" y="1405890"/>
                  <a:pt x="0" y="1370012"/>
                  <a:pt x="0" y="1325690"/>
                </a:cubicBezTo>
                <a:lnTo>
                  <a:pt x="0" y="80201"/>
                </a:lnTo>
                <a:cubicBezTo>
                  <a:pt x="0" y="35877"/>
                  <a:pt x="35877" y="0"/>
                  <a:pt x="80200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7" name="m-p28_metro-title-bar"/>
          <p:cNvSpPr/>
          <p:nvPr/>
        </p:nvSpPr>
        <p:spPr>
          <a:xfrm>
            <a:off x="4907661" y="-282067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8" name="m-p28_metro-title-bar-accent"/>
          <p:cNvSpPr/>
          <p:nvPr/>
        </p:nvSpPr>
        <p:spPr>
          <a:xfrm>
            <a:off x="4907661" y="-282067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9" name="m-p28_metro-title-cn"/>
          <p:cNvSpPr txBox="1"/>
          <p:nvPr/>
        </p:nvSpPr>
        <p:spPr>
          <a:xfrm>
            <a:off x="4939840" y="-299432"/>
            <a:ext cx="363969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战略地铁图</a:t>
            </a:r>
          </a:p>
        </p:txBody>
      </p:sp>
      <p:sp>
        <p:nvSpPr>
          <p:cNvPr id="170" name="m-p28_metro-title-en"/>
          <p:cNvSpPr txBox="1"/>
          <p:nvPr/>
        </p:nvSpPr>
        <p:spPr>
          <a:xfrm>
            <a:off x="4947130" y="-212150"/>
            <a:ext cx="184406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METRO MAP</a:t>
            </a:r>
          </a:p>
        </p:txBody>
      </p:sp>
      <p:sp>
        <p:nvSpPr>
          <p:cNvPr id="171" name="m-p28_metro-title-sub"/>
          <p:cNvSpPr txBox="1"/>
          <p:nvPr/>
        </p:nvSpPr>
        <p:spPr>
          <a:xfrm>
            <a:off x="6466767" y="-243008"/>
            <a:ext cx="703388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三条线同时开跑，在两个换乘站交汇——换乘站就是必须协同的节点</a:t>
            </a:r>
          </a:p>
        </p:txBody>
      </p:sp>
      <p:sp>
        <p:nvSpPr>
          <p:cNvPr id="172" name="m-p28_metro-q-1"/>
          <p:cNvSpPr/>
          <p:nvPr/>
        </p:nvSpPr>
        <p:spPr>
          <a:xfrm>
            <a:off x="5170614" y="-102426"/>
            <a:ext cx="222250" cy="44259"/>
          </a:xfrm>
          <a:custGeom>
            <a:avLst/>
            <a:gdLst/>
            <a:ahLst/>
            <a:cxnLst/>
            <a:rect l="0" t="0" r="r" b="b"/>
            <a:pathLst>
              <a:path w="222250" h="44259">
                <a:moveTo>
                  <a:pt x="22098" y="0"/>
                </a:moveTo>
                <a:lnTo>
                  <a:pt x="200152" y="0"/>
                </a:lnTo>
                <a:cubicBezTo>
                  <a:pt x="212344" y="0"/>
                  <a:pt x="222250" y="9906"/>
                  <a:pt x="222250" y="22098"/>
                </a:cubicBezTo>
                <a:lnTo>
                  <a:pt x="222250" y="22098"/>
                </a:lnTo>
                <a:cubicBezTo>
                  <a:pt x="222250" y="34353"/>
                  <a:pt x="212344" y="44259"/>
                  <a:pt x="200152" y="44259"/>
                </a:cubicBezTo>
                <a:lnTo>
                  <a:pt x="22098" y="44259"/>
                </a:lnTo>
                <a:cubicBezTo>
                  <a:pt x="9906" y="44259"/>
                  <a:pt x="0" y="34353"/>
                  <a:pt x="0" y="22098"/>
                </a:cubicBezTo>
                <a:lnTo>
                  <a:pt x="0" y="22098"/>
                </a:lnTo>
                <a:cubicBezTo>
                  <a:pt x="0" y="9906"/>
                  <a:pt x="9906" y="0"/>
                  <a:pt x="22098" y="0"/>
                </a:cubicBezTo>
                <a:close/>
              </a:path>
            </a:pathLst>
          </a:custGeom>
          <a:solidFill>
            <a:srgbClr val="0B3E8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3" name="m-p28_metro-qt-1"/>
          <p:cNvSpPr txBox="1"/>
          <p:nvPr/>
        </p:nvSpPr>
        <p:spPr>
          <a:xfrm>
            <a:off x="5234693" y="-96600"/>
            <a:ext cx="94117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2026 Q1</a:t>
            </a:r>
          </a:p>
        </p:txBody>
      </p:sp>
      <p:cxnSp>
        <p:nvCxnSpPr>
          <p:cNvPr id="174" name="m-p28_metro-qg-1"/>
          <p:cNvCxnSpPr/>
          <p:nvPr/>
        </p:nvCxnSpPr>
        <p:spPr>
          <a:xfrm>
            <a:off x="5165408" y="-47752"/>
            <a:ext cx="0" cy="747204"/>
          </a:xfrm>
          <a:prstGeom prst="line">
            <a:avLst/>
          </a:prstGeom>
          <a:ln w="2540" cap="rnd">
            <a:solidFill>
              <a:srgbClr val="0B2545">
                <a:alpha val="4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5" name="m-p28_metro-q-2"/>
          <p:cNvSpPr/>
          <p:nvPr/>
        </p:nvSpPr>
        <p:spPr>
          <a:xfrm>
            <a:off x="5403278" y="-102426"/>
            <a:ext cx="222313" cy="44259"/>
          </a:xfrm>
          <a:custGeom>
            <a:avLst/>
            <a:gdLst/>
            <a:ahLst/>
            <a:cxnLst/>
            <a:rect l="0" t="0" r="r" b="b"/>
            <a:pathLst>
              <a:path w="222313" h="44259">
                <a:moveTo>
                  <a:pt x="22162" y="0"/>
                </a:moveTo>
                <a:lnTo>
                  <a:pt x="200152" y="0"/>
                </a:lnTo>
                <a:cubicBezTo>
                  <a:pt x="212408" y="0"/>
                  <a:pt x="222313" y="9906"/>
                  <a:pt x="222313" y="22098"/>
                </a:cubicBezTo>
                <a:lnTo>
                  <a:pt x="222313" y="22098"/>
                </a:lnTo>
                <a:cubicBezTo>
                  <a:pt x="222313" y="34353"/>
                  <a:pt x="212408" y="44259"/>
                  <a:pt x="200152" y="44259"/>
                </a:cubicBezTo>
                <a:lnTo>
                  <a:pt x="22162" y="44259"/>
                </a:lnTo>
                <a:cubicBezTo>
                  <a:pt x="9906" y="44259"/>
                  <a:pt x="0" y="34353"/>
                  <a:pt x="0" y="22098"/>
                </a:cubicBezTo>
                <a:lnTo>
                  <a:pt x="0" y="22098"/>
                </a:lnTo>
                <a:cubicBezTo>
                  <a:pt x="0" y="9906"/>
                  <a:pt x="9906" y="0"/>
                  <a:pt x="22162" y="0"/>
                </a:cubicBezTo>
                <a:close/>
              </a:path>
            </a:pathLst>
          </a:custGeom>
          <a:solidFill>
            <a:srgbClr val="0B3E8F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6" name="m-p28_metro-qt-2"/>
          <p:cNvSpPr txBox="1"/>
          <p:nvPr/>
        </p:nvSpPr>
        <p:spPr>
          <a:xfrm>
            <a:off x="5494718" y="-96600"/>
            <a:ext cx="3944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Q2</a:t>
            </a:r>
          </a:p>
        </p:txBody>
      </p:sp>
      <p:cxnSp>
        <p:nvCxnSpPr>
          <p:cNvPr id="177" name="m-p28_metro-qg-2"/>
          <p:cNvCxnSpPr/>
          <p:nvPr/>
        </p:nvCxnSpPr>
        <p:spPr>
          <a:xfrm>
            <a:off x="5398095" y="-47752"/>
            <a:ext cx="0" cy="747204"/>
          </a:xfrm>
          <a:prstGeom prst="line">
            <a:avLst/>
          </a:prstGeom>
          <a:ln w="2540" cap="rnd">
            <a:solidFill>
              <a:srgbClr val="0B2545">
                <a:alpha val="4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8" name="m-p28_metro-q-3"/>
          <p:cNvSpPr/>
          <p:nvPr/>
        </p:nvSpPr>
        <p:spPr>
          <a:xfrm>
            <a:off x="5636006" y="-102426"/>
            <a:ext cx="222250" cy="44259"/>
          </a:xfrm>
          <a:custGeom>
            <a:avLst/>
            <a:gdLst/>
            <a:ahLst/>
            <a:cxnLst/>
            <a:rect l="0" t="0" r="r" b="b"/>
            <a:pathLst>
              <a:path w="222250" h="44259">
                <a:moveTo>
                  <a:pt x="22098" y="0"/>
                </a:moveTo>
                <a:lnTo>
                  <a:pt x="200152" y="0"/>
                </a:lnTo>
                <a:cubicBezTo>
                  <a:pt x="212344" y="0"/>
                  <a:pt x="222250" y="9906"/>
                  <a:pt x="222250" y="22098"/>
                </a:cubicBezTo>
                <a:lnTo>
                  <a:pt x="222250" y="22098"/>
                </a:lnTo>
                <a:cubicBezTo>
                  <a:pt x="222250" y="34353"/>
                  <a:pt x="212344" y="44259"/>
                  <a:pt x="200152" y="44259"/>
                </a:cubicBezTo>
                <a:lnTo>
                  <a:pt x="22098" y="44259"/>
                </a:lnTo>
                <a:cubicBezTo>
                  <a:pt x="9906" y="44259"/>
                  <a:pt x="0" y="34353"/>
                  <a:pt x="0" y="22098"/>
                </a:cubicBezTo>
                <a:lnTo>
                  <a:pt x="0" y="22098"/>
                </a:lnTo>
                <a:cubicBezTo>
                  <a:pt x="0" y="9906"/>
                  <a:pt x="9906" y="0"/>
                  <a:pt x="22098" y="0"/>
                </a:cubicBezTo>
                <a:close/>
              </a:path>
            </a:pathLst>
          </a:custGeom>
          <a:solidFill>
            <a:srgbClr val="0B3E8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9" name="m-p28_metro-qt-3"/>
          <p:cNvSpPr txBox="1"/>
          <p:nvPr/>
        </p:nvSpPr>
        <p:spPr>
          <a:xfrm>
            <a:off x="5727406" y="-96600"/>
            <a:ext cx="3944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Q3</a:t>
            </a:r>
          </a:p>
        </p:txBody>
      </p:sp>
      <p:cxnSp>
        <p:nvCxnSpPr>
          <p:cNvPr id="180" name="m-p28_metro-qg-3"/>
          <p:cNvCxnSpPr/>
          <p:nvPr/>
        </p:nvCxnSpPr>
        <p:spPr>
          <a:xfrm>
            <a:off x="5630783" y="-47752"/>
            <a:ext cx="0" cy="747204"/>
          </a:xfrm>
          <a:prstGeom prst="line">
            <a:avLst/>
          </a:prstGeom>
          <a:ln w="2540" cap="rnd">
            <a:solidFill>
              <a:srgbClr val="0B2545">
                <a:alpha val="4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1" name="m-p28_metro-q-4"/>
          <p:cNvSpPr/>
          <p:nvPr/>
        </p:nvSpPr>
        <p:spPr>
          <a:xfrm>
            <a:off x="5868670" y="-102426"/>
            <a:ext cx="222250" cy="44259"/>
          </a:xfrm>
          <a:custGeom>
            <a:avLst/>
            <a:gdLst/>
            <a:ahLst/>
            <a:cxnLst/>
            <a:rect l="0" t="0" r="r" b="b"/>
            <a:pathLst>
              <a:path w="222250" h="44259">
                <a:moveTo>
                  <a:pt x="22162" y="0"/>
                </a:moveTo>
                <a:lnTo>
                  <a:pt x="200152" y="0"/>
                </a:lnTo>
                <a:cubicBezTo>
                  <a:pt x="212344" y="0"/>
                  <a:pt x="222250" y="9906"/>
                  <a:pt x="222250" y="22098"/>
                </a:cubicBezTo>
                <a:lnTo>
                  <a:pt x="222250" y="22098"/>
                </a:lnTo>
                <a:cubicBezTo>
                  <a:pt x="222250" y="34353"/>
                  <a:pt x="212344" y="44259"/>
                  <a:pt x="200152" y="44259"/>
                </a:cubicBezTo>
                <a:lnTo>
                  <a:pt x="22162" y="44259"/>
                </a:lnTo>
                <a:cubicBezTo>
                  <a:pt x="9906" y="44259"/>
                  <a:pt x="0" y="34353"/>
                  <a:pt x="0" y="22098"/>
                </a:cubicBezTo>
                <a:lnTo>
                  <a:pt x="0" y="22098"/>
                </a:lnTo>
                <a:cubicBezTo>
                  <a:pt x="0" y="9906"/>
                  <a:pt x="9906" y="0"/>
                  <a:pt x="22162" y="0"/>
                </a:cubicBezTo>
                <a:close/>
              </a:path>
            </a:pathLst>
          </a:custGeom>
          <a:solidFill>
            <a:srgbClr val="0B3E8F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2" name="m-p28_metro-qt-4"/>
          <p:cNvSpPr txBox="1"/>
          <p:nvPr/>
        </p:nvSpPr>
        <p:spPr>
          <a:xfrm>
            <a:off x="5960093" y="-96600"/>
            <a:ext cx="3944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Q4</a:t>
            </a:r>
          </a:p>
        </p:txBody>
      </p:sp>
      <p:cxnSp>
        <p:nvCxnSpPr>
          <p:cNvPr id="183" name="m-p28_metro-qg-4"/>
          <p:cNvCxnSpPr/>
          <p:nvPr/>
        </p:nvCxnSpPr>
        <p:spPr>
          <a:xfrm>
            <a:off x="5863471" y="-47752"/>
            <a:ext cx="0" cy="747204"/>
          </a:xfrm>
          <a:prstGeom prst="line">
            <a:avLst/>
          </a:prstGeom>
          <a:ln w="2540" cap="rnd">
            <a:solidFill>
              <a:srgbClr val="0B2545">
                <a:alpha val="4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4" name="m-p28_metro-q-5"/>
          <p:cNvSpPr/>
          <p:nvPr/>
        </p:nvSpPr>
        <p:spPr>
          <a:xfrm>
            <a:off x="6101398" y="-102426"/>
            <a:ext cx="222250" cy="44259"/>
          </a:xfrm>
          <a:custGeom>
            <a:avLst/>
            <a:gdLst/>
            <a:ahLst/>
            <a:cxnLst/>
            <a:rect l="0" t="0" r="r" b="b"/>
            <a:pathLst>
              <a:path w="222250" h="44259">
                <a:moveTo>
                  <a:pt x="22098" y="0"/>
                </a:moveTo>
                <a:lnTo>
                  <a:pt x="200088" y="0"/>
                </a:lnTo>
                <a:cubicBezTo>
                  <a:pt x="212344" y="0"/>
                  <a:pt x="222250" y="9906"/>
                  <a:pt x="222250" y="22098"/>
                </a:cubicBezTo>
                <a:lnTo>
                  <a:pt x="222250" y="22098"/>
                </a:lnTo>
                <a:cubicBezTo>
                  <a:pt x="222250" y="34353"/>
                  <a:pt x="212344" y="44259"/>
                  <a:pt x="200088" y="44259"/>
                </a:cubicBezTo>
                <a:lnTo>
                  <a:pt x="22098" y="44259"/>
                </a:lnTo>
                <a:cubicBezTo>
                  <a:pt x="9906" y="44259"/>
                  <a:pt x="0" y="34353"/>
                  <a:pt x="0" y="22098"/>
                </a:cubicBezTo>
                <a:lnTo>
                  <a:pt x="0" y="22098"/>
                </a:lnTo>
                <a:cubicBezTo>
                  <a:pt x="0" y="9906"/>
                  <a:pt x="9906" y="0"/>
                  <a:pt x="22098" y="0"/>
                </a:cubicBezTo>
                <a:close/>
              </a:path>
            </a:pathLst>
          </a:custGeom>
          <a:solidFill>
            <a:srgbClr val="3985CD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5" name="m-p28_metro-qt-5"/>
          <p:cNvSpPr txBox="1"/>
          <p:nvPr/>
        </p:nvSpPr>
        <p:spPr>
          <a:xfrm>
            <a:off x="6165444" y="-96600"/>
            <a:ext cx="94117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2027 Q1</a:t>
            </a:r>
          </a:p>
        </p:txBody>
      </p:sp>
      <p:cxnSp>
        <p:nvCxnSpPr>
          <p:cNvPr id="186" name="m-p28_metro-qg-5"/>
          <p:cNvCxnSpPr/>
          <p:nvPr/>
        </p:nvCxnSpPr>
        <p:spPr>
          <a:xfrm>
            <a:off x="6096159" y="-47752"/>
            <a:ext cx="0" cy="747204"/>
          </a:xfrm>
          <a:prstGeom prst="line">
            <a:avLst/>
          </a:prstGeom>
          <a:ln w="2540" cap="rnd">
            <a:solidFill>
              <a:srgbClr val="0B2545">
                <a:alpha val="4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7" name="m-p28_metro-q-6"/>
          <p:cNvSpPr/>
          <p:nvPr/>
        </p:nvSpPr>
        <p:spPr>
          <a:xfrm>
            <a:off x="6334062" y="-102426"/>
            <a:ext cx="222250" cy="44259"/>
          </a:xfrm>
          <a:custGeom>
            <a:avLst/>
            <a:gdLst/>
            <a:ahLst/>
            <a:cxnLst/>
            <a:rect l="0" t="0" r="r" b="b"/>
            <a:pathLst>
              <a:path w="222250" h="44259">
                <a:moveTo>
                  <a:pt x="22098" y="0"/>
                </a:moveTo>
                <a:lnTo>
                  <a:pt x="200152" y="0"/>
                </a:lnTo>
                <a:cubicBezTo>
                  <a:pt x="212344" y="0"/>
                  <a:pt x="222250" y="9906"/>
                  <a:pt x="222250" y="22098"/>
                </a:cubicBezTo>
                <a:lnTo>
                  <a:pt x="222250" y="22098"/>
                </a:lnTo>
                <a:cubicBezTo>
                  <a:pt x="222250" y="34353"/>
                  <a:pt x="212344" y="44259"/>
                  <a:pt x="200152" y="44259"/>
                </a:cubicBezTo>
                <a:lnTo>
                  <a:pt x="22098" y="44259"/>
                </a:lnTo>
                <a:cubicBezTo>
                  <a:pt x="9906" y="44259"/>
                  <a:pt x="0" y="34353"/>
                  <a:pt x="0" y="22098"/>
                </a:cubicBezTo>
                <a:lnTo>
                  <a:pt x="0" y="22098"/>
                </a:lnTo>
                <a:cubicBezTo>
                  <a:pt x="0" y="9906"/>
                  <a:pt x="9906" y="0"/>
                  <a:pt x="22098" y="0"/>
                </a:cubicBezTo>
                <a:close/>
              </a:path>
            </a:pathLst>
          </a:custGeom>
          <a:solidFill>
            <a:srgbClr val="3985CD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8" name="m-p28_metro-qt-6"/>
          <p:cNvSpPr txBox="1"/>
          <p:nvPr/>
        </p:nvSpPr>
        <p:spPr>
          <a:xfrm>
            <a:off x="6425469" y="-96600"/>
            <a:ext cx="3944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Q2</a:t>
            </a:r>
          </a:p>
        </p:txBody>
      </p:sp>
      <p:cxnSp>
        <p:nvCxnSpPr>
          <p:cNvPr id="189" name="m-p28_metro-qg-6"/>
          <p:cNvCxnSpPr/>
          <p:nvPr/>
        </p:nvCxnSpPr>
        <p:spPr>
          <a:xfrm>
            <a:off x="6328847" y="-47752"/>
            <a:ext cx="0" cy="747204"/>
          </a:xfrm>
          <a:prstGeom prst="line">
            <a:avLst/>
          </a:prstGeom>
          <a:ln w="2540" cap="rnd">
            <a:solidFill>
              <a:srgbClr val="0B2545">
                <a:alpha val="4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0" name="m-p28_metro-q-7"/>
          <p:cNvSpPr/>
          <p:nvPr/>
        </p:nvSpPr>
        <p:spPr>
          <a:xfrm>
            <a:off x="6566726" y="-102426"/>
            <a:ext cx="222313" cy="44259"/>
          </a:xfrm>
          <a:custGeom>
            <a:avLst/>
            <a:gdLst/>
            <a:ahLst/>
            <a:cxnLst/>
            <a:rect l="0" t="0" r="r" b="b"/>
            <a:pathLst>
              <a:path w="222313" h="44259">
                <a:moveTo>
                  <a:pt x="22161" y="0"/>
                </a:moveTo>
                <a:lnTo>
                  <a:pt x="200152" y="0"/>
                </a:lnTo>
                <a:cubicBezTo>
                  <a:pt x="212407" y="0"/>
                  <a:pt x="222313" y="9906"/>
                  <a:pt x="222313" y="22098"/>
                </a:cubicBezTo>
                <a:lnTo>
                  <a:pt x="222313" y="22098"/>
                </a:lnTo>
                <a:cubicBezTo>
                  <a:pt x="222313" y="34353"/>
                  <a:pt x="212407" y="44259"/>
                  <a:pt x="200152" y="44259"/>
                </a:cubicBezTo>
                <a:lnTo>
                  <a:pt x="22161" y="44259"/>
                </a:lnTo>
                <a:cubicBezTo>
                  <a:pt x="9906" y="44259"/>
                  <a:pt x="0" y="34353"/>
                  <a:pt x="0" y="22098"/>
                </a:cubicBezTo>
                <a:lnTo>
                  <a:pt x="0" y="22098"/>
                </a:lnTo>
                <a:cubicBezTo>
                  <a:pt x="0" y="9906"/>
                  <a:pt x="9906" y="0"/>
                  <a:pt x="22161" y="0"/>
                </a:cubicBezTo>
                <a:close/>
              </a:path>
            </a:pathLst>
          </a:custGeom>
          <a:solidFill>
            <a:srgbClr val="3985CD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1" name="m-p28_metro-qt-7"/>
          <p:cNvSpPr txBox="1"/>
          <p:nvPr/>
        </p:nvSpPr>
        <p:spPr>
          <a:xfrm>
            <a:off x="6658157" y="-96600"/>
            <a:ext cx="3944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Q3</a:t>
            </a:r>
          </a:p>
        </p:txBody>
      </p:sp>
      <p:cxnSp>
        <p:nvCxnSpPr>
          <p:cNvPr id="192" name="m-p28_metro-qg-7"/>
          <p:cNvCxnSpPr/>
          <p:nvPr/>
        </p:nvCxnSpPr>
        <p:spPr>
          <a:xfrm>
            <a:off x="6561534" y="-47752"/>
            <a:ext cx="0" cy="747204"/>
          </a:xfrm>
          <a:prstGeom prst="line">
            <a:avLst/>
          </a:prstGeom>
          <a:ln w="2540" cap="rnd">
            <a:solidFill>
              <a:srgbClr val="0B2545">
                <a:alpha val="4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3" name="m-p28_metro-q-8"/>
          <p:cNvSpPr/>
          <p:nvPr/>
        </p:nvSpPr>
        <p:spPr>
          <a:xfrm>
            <a:off x="6799453" y="-102426"/>
            <a:ext cx="222250" cy="44259"/>
          </a:xfrm>
          <a:custGeom>
            <a:avLst/>
            <a:gdLst/>
            <a:ahLst/>
            <a:cxnLst/>
            <a:rect l="0" t="0" r="r" b="b"/>
            <a:pathLst>
              <a:path w="222250" h="44259">
                <a:moveTo>
                  <a:pt x="22098" y="0"/>
                </a:moveTo>
                <a:lnTo>
                  <a:pt x="200152" y="0"/>
                </a:lnTo>
                <a:cubicBezTo>
                  <a:pt x="212344" y="0"/>
                  <a:pt x="222250" y="9906"/>
                  <a:pt x="222250" y="22098"/>
                </a:cubicBezTo>
                <a:lnTo>
                  <a:pt x="222250" y="22098"/>
                </a:lnTo>
                <a:cubicBezTo>
                  <a:pt x="222250" y="34353"/>
                  <a:pt x="212344" y="44259"/>
                  <a:pt x="200152" y="44259"/>
                </a:cubicBezTo>
                <a:lnTo>
                  <a:pt x="22098" y="44259"/>
                </a:lnTo>
                <a:cubicBezTo>
                  <a:pt x="9906" y="44259"/>
                  <a:pt x="0" y="34353"/>
                  <a:pt x="0" y="22098"/>
                </a:cubicBezTo>
                <a:lnTo>
                  <a:pt x="0" y="22098"/>
                </a:lnTo>
                <a:cubicBezTo>
                  <a:pt x="0" y="9906"/>
                  <a:pt x="9906" y="0"/>
                  <a:pt x="22098" y="0"/>
                </a:cubicBezTo>
                <a:close/>
              </a:path>
            </a:pathLst>
          </a:custGeom>
          <a:solidFill>
            <a:srgbClr val="3985CD">
              <a:alpha val="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4" name="m-p28_metro-qt-8"/>
          <p:cNvSpPr txBox="1"/>
          <p:nvPr/>
        </p:nvSpPr>
        <p:spPr>
          <a:xfrm>
            <a:off x="6890845" y="-96600"/>
            <a:ext cx="3944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Q4</a:t>
            </a:r>
          </a:p>
        </p:txBody>
      </p:sp>
      <p:cxnSp>
        <p:nvCxnSpPr>
          <p:cNvPr id="195" name="m-p28_metro-qg-8"/>
          <p:cNvCxnSpPr/>
          <p:nvPr/>
        </p:nvCxnSpPr>
        <p:spPr>
          <a:xfrm>
            <a:off x="6794222" y="-47752"/>
            <a:ext cx="0" cy="747204"/>
          </a:xfrm>
          <a:prstGeom prst="line">
            <a:avLst/>
          </a:prstGeom>
          <a:ln w="2540" cap="rnd">
            <a:solidFill>
              <a:srgbClr val="0B2545">
                <a:alpha val="4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6" name="m-p28_metro-ln-tag-1"/>
          <p:cNvSpPr/>
          <p:nvPr/>
        </p:nvSpPr>
        <p:spPr>
          <a:xfrm>
            <a:off x="4983162" y="58991"/>
            <a:ext cx="143192" cy="57277"/>
          </a:xfrm>
          <a:custGeom>
            <a:avLst/>
            <a:gdLst/>
            <a:ahLst/>
            <a:cxnLst/>
            <a:rect l="0" t="0" r="r" b="b"/>
            <a:pathLst>
              <a:path w="143192" h="57277">
                <a:moveTo>
                  <a:pt x="28638" y="0"/>
                </a:moveTo>
                <a:lnTo>
                  <a:pt x="114554" y="0"/>
                </a:lnTo>
                <a:cubicBezTo>
                  <a:pt x="130365" y="0"/>
                  <a:pt x="143192" y="12827"/>
                  <a:pt x="143192" y="28639"/>
                </a:cubicBezTo>
                <a:lnTo>
                  <a:pt x="143192" y="28639"/>
                </a:lnTo>
                <a:cubicBezTo>
                  <a:pt x="143192" y="44450"/>
                  <a:pt x="130365" y="57277"/>
                  <a:pt x="114554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9"/>
                </a:cubicBezTo>
                <a:lnTo>
                  <a:pt x="0" y="28639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7" name="m-p28_metro-ln-t-1"/>
          <p:cNvSpPr txBox="1"/>
          <p:nvPr/>
        </p:nvSpPr>
        <p:spPr>
          <a:xfrm>
            <a:off x="5005162" y="67804"/>
            <a:ext cx="99193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2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产品线</a:t>
            </a:r>
          </a:p>
        </p:txBody>
      </p:sp>
      <p:cxnSp>
        <p:nvCxnSpPr>
          <p:cNvPr id="198" name="m-p28_metro-ln-1"/>
          <p:cNvCxnSpPr/>
          <p:nvPr/>
        </p:nvCxnSpPr>
        <p:spPr>
          <a:xfrm>
            <a:off x="5152390" y="87630"/>
            <a:ext cx="1758176" cy="0"/>
          </a:xfrm>
          <a:prstGeom prst="line">
            <a:avLst/>
          </a:prstGeom>
          <a:ln w="18224" cap="rnd">
            <a:solidFill>
              <a:srgbClr val="134C9C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9" name="m-p28_metro-ln-tag-2"/>
          <p:cNvSpPr/>
          <p:nvPr/>
        </p:nvSpPr>
        <p:spPr>
          <a:xfrm>
            <a:off x="4983162" y="319342"/>
            <a:ext cx="143192" cy="57277"/>
          </a:xfrm>
          <a:custGeom>
            <a:avLst/>
            <a:gdLst/>
            <a:ahLst/>
            <a:cxnLst/>
            <a:rect l="0" t="0" r="r" b="b"/>
            <a:pathLst>
              <a:path w="143192" h="57277">
                <a:moveTo>
                  <a:pt x="28638" y="0"/>
                </a:moveTo>
                <a:lnTo>
                  <a:pt x="114554" y="0"/>
                </a:lnTo>
                <a:cubicBezTo>
                  <a:pt x="130365" y="0"/>
                  <a:pt x="143192" y="12827"/>
                  <a:pt x="143192" y="28638"/>
                </a:cubicBezTo>
                <a:lnTo>
                  <a:pt x="143192" y="28638"/>
                </a:lnTo>
                <a:cubicBezTo>
                  <a:pt x="143192" y="44450"/>
                  <a:pt x="130365" y="57277"/>
                  <a:pt x="114554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0" name="m-p28_metro-ln-t-2"/>
          <p:cNvSpPr txBox="1"/>
          <p:nvPr/>
        </p:nvSpPr>
        <p:spPr>
          <a:xfrm>
            <a:off x="5005162" y="328154"/>
            <a:ext cx="99193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2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市场线</a:t>
            </a:r>
          </a:p>
        </p:txBody>
      </p:sp>
      <p:cxnSp>
        <p:nvCxnSpPr>
          <p:cNvPr id="201" name="m-p28_metro-ln-2"/>
          <p:cNvCxnSpPr/>
          <p:nvPr/>
        </p:nvCxnSpPr>
        <p:spPr>
          <a:xfrm>
            <a:off x="5152390" y="347980"/>
            <a:ext cx="1758176" cy="0"/>
          </a:xfrm>
          <a:prstGeom prst="line">
            <a:avLst/>
          </a:prstGeom>
          <a:ln w="18224" cap="rnd">
            <a:solidFill>
              <a:srgbClr val="3985CD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2" name="m-p28_metro-ln-tag-3"/>
          <p:cNvSpPr/>
          <p:nvPr/>
        </p:nvSpPr>
        <p:spPr>
          <a:xfrm>
            <a:off x="4983162" y="579692"/>
            <a:ext cx="143192" cy="57277"/>
          </a:xfrm>
          <a:custGeom>
            <a:avLst/>
            <a:gdLst/>
            <a:ahLst/>
            <a:cxnLst/>
            <a:rect l="0" t="0" r="r" b="b"/>
            <a:pathLst>
              <a:path w="143192" h="57277">
                <a:moveTo>
                  <a:pt x="28638" y="0"/>
                </a:moveTo>
                <a:lnTo>
                  <a:pt x="114554" y="0"/>
                </a:lnTo>
                <a:cubicBezTo>
                  <a:pt x="130365" y="0"/>
                  <a:pt x="143192" y="12827"/>
                  <a:pt x="143192" y="28638"/>
                </a:cubicBezTo>
                <a:lnTo>
                  <a:pt x="143192" y="28638"/>
                </a:lnTo>
                <a:cubicBezTo>
                  <a:pt x="143192" y="44450"/>
                  <a:pt x="130365" y="57277"/>
                  <a:pt x="114554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3" name="m-p28_metro-ln-t-3"/>
          <p:cNvSpPr txBox="1"/>
          <p:nvPr/>
        </p:nvSpPr>
        <p:spPr>
          <a:xfrm>
            <a:off x="5005162" y="588504"/>
            <a:ext cx="99193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2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组织线</a:t>
            </a:r>
          </a:p>
        </p:txBody>
      </p:sp>
      <p:cxnSp>
        <p:nvCxnSpPr>
          <p:cNvPr id="204" name="m-p28_metro-ln-3"/>
          <p:cNvCxnSpPr/>
          <p:nvPr/>
        </p:nvCxnSpPr>
        <p:spPr>
          <a:xfrm>
            <a:off x="5152390" y="608330"/>
            <a:ext cx="1758176" cy="0"/>
          </a:xfrm>
          <a:prstGeom prst="line">
            <a:avLst/>
          </a:prstGeom>
          <a:ln w="18224" cap="rnd">
            <a:solidFill>
              <a:srgbClr val="E0703A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5" name="m-p28_metro-xf-915.625"/>
          <p:cNvSpPr/>
          <p:nvPr/>
        </p:nvSpPr>
        <p:spPr>
          <a:xfrm>
            <a:off x="5948553" y="56388"/>
            <a:ext cx="62484" cy="322834"/>
          </a:xfrm>
          <a:custGeom>
            <a:avLst/>
            <a:gdLst/>
            <a:ahLst/>
            <a:cxnLst/>
            <a:rect l="0" t="0" r="r" b="b"/>
            <a:pathLst>
              <a:path w="62484" h="322834">
                <a:moveTo>
                  <a:pt x="31242" y="0"/>
                </a:moveTo>
                <a:lnTo>
                  <a:pt x="31242" y="0"/>
                </a:lnTo>
                <a:cubicBezTo>
                  <a:pt x="48514" y="0"/>
                  <a:pt x="62484" y="13970"/>
                  <a:pt x="62484" y="31242"/>
                </a:cubicBezTo>
                <a:lnTo>
                  <a:pt x="62484" y="291592"/>
                </a:lnTo>
                <a:cubicBezTo>
                  <a:pt x="62484" y="308864"/>
                  <a:pt x="48514" y="322834"/>
                  <a:pt x="31242" y="322834"/>
                </a:cubicBezTo>
                <a:lnTo>
                  <a:pt x="31242" y="322834"/>
                </a:lnTo>
                <a:cubicBezTo>
                  <a:pt x="14034" y="322834"/>
                  <a:pt x="0" y="308864"/>
                  <a:pt x="0" y="291592"/>
                </a:cubicBezTo>
                <a:lnTo>
                  <a:pt x="0" y="31242"/>
                </a:lnTo>
                <a:cubicBezTo>
                  <a:pt x="0" y="13970"/>
                  <a:pt x="14034" y="0"/>
                  <a:pt x="31242" y="0"/>
                </a:cubicBezTo>
                <a:close/>
              </a:path>
            </a:pathLst>
          </a:custGeom>
          <a:solidFill>
            <a:srgbClr val="FFFFFF"/>
          </a:solidFill>
          <a:ln w="5207" cap="rnd">
            <a:solidFill>
              <a:srgbClr val="0B2545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206" name="m-p28_metro-xfl-915.625"/>
          <p:cNvCxnSpPr/>
          <p:nvPr/>
        </p:nvCxnSpPr>
        <p:spPr>
          <a:xfrm>
            <a:off x="5979815" y="121475"/>
            <a:ext cx="0" cy="192659"/>
          </a:xfrm>
          <a:prstGeom prst="line">
            <a:avLst/>
          </a:prstGeom>
          <a:ln w="2604" cap="rnd">
            <a:solidFill>
              <a:srgbClr val="0B2545">
                <a:alpha val="2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7" name="m-p28_metro-xft-bg-915.625"/>
          <p:cNvSpPr/>
          <p:nvPr/>
        </p:nvSpPr>
        <p:spPr>
          <a:xfrm>
            <a:off x="6024054" y="194374"/>
            <a:ext cx="195262" cy="46863"/>
          </a:xfrm>
          <a:custGeom>
            <a:avLst/>
            <a:gdLst/>
            <a:ahLst/>
            <a:cxnLst/>
            <a:rect l="0" t="0" r="r" b="b"/>
            <a:pathLst>
              <a:path w="195262" h="46863">
                <a:moveTo>
                  <a:pt x="23432" y="0"/>
                </a:moveTo>
                <a:lnTo>
                  <a:pt x="171831" y="0"/>
                </a:lnTo>
                <a:cubicBezTo>
                  <a:pt x="184785" y="0"/>
                  <a:pt x="195262" y="10477"/>
                  <a:pt x="195262" y="23431"/>
                </a:cubicBezTo>
                <a:lnTo>
                  <a:pt x="195262" y="23431"/>
                </a:lnTo>
                <a:cubicBezTo>
                  <a:pt x="195262" y="36386"/>
                  <a:pt x="184785" y="46863"/>
                  <a:pt x="171831" y="46863"/>
                </a:cubicBezTo>
                <a:lnTo>
                  <a:pt x="23432" y="46863"/>
                </a:lnTo>
                <a:cubicBezTo>
                  <a:pt x="10478" y="46863"/>
                  <a:pt x="0" y="36386"/>
                  <a:pt x="0" y="23431"/>
                </a:cubicBezTo>
                <a:lnTo>
                  <a:pt x="0" y="23431"/>
                </a:lnTo>
                <a:cubicBezTo>
                  <a:pt x="0" y="10477"/>
                  <a:pt x="10478" y="0"/>
                  <a:pt x="23432" y="0"/>
                </a:cubicBezTo>
                <a:close/>
              </a:path>
            </a:pathLst>
          </a:cu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8" name="m-p28_metro-xft-915.625"/>
          <p:cNvSpPr txBox="1"/>
          <p:nvPr/>
        </p:nvSpPr>
        <p:spPr>
          <a:xfrm>
            <a:off x="6041257" y="201501"/>
            <a:ext cx="154257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6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换乘 · 平台化</a:t>
            </a:r>
          </a:p>
        </p:txBody>
      </p:sp>
      <p:sp>
        <p:nvSpPr>
          <p:cNvPr id="209" name="m-p28_metro-xf-1273.125"/>
          <p:cNvSpPr/>
          <p:nvPr/>
        </p:nvSpPr>
        <p:spPr>
          <a:xfrm>
            <a:off x="6413944" y="316738"/>
            <a:ext cx="62484" cy="322834"/>
          </a:xfrm>
          <a:custGeom>
            <a:avLst/>
            <a:gdLst/>
            <a:ahLst/>
            <a:cxnLst/>
            <a:rect l="0" t="0" r="r" b="b"/>
            <a:pathLst>
              <a:path w="62484" h="322834">
                <a:moveTo>
                  <a:pt x="31242" y="0"/>
                </a:moveTo>
                <a:lnTo>
                  <a:pt x="31242" y="0"/>
                </a:lnTo>
                <a:cubicBezTo>
                  <a:pt x="48514" y="0"/>
                  <a:pt x="62484" y="13970"/>
                  <a:pt x="62484" y="31242"/>
                </a:cubicBezTo>
                <a:lnTo>
                  <a:pt x="62484" y="291592"/>
                </a:lnTo>
                <a:cubicBezTo>
                  <a:pt x="62484" y="308864"/>
                  <a:pt x="48514" y="322834"/>
                  <a:pt x="31242" y="322834"/>
                </a:cubicBezTo>
                <a:lnTo>
                  <a:pt x="31242" y="322834"/>
                </a:lnTo>
                <a:cubicBezTo>
                  <a:pt x="13970" y="322834"/>
                  <a:pt x="0" y="308864"/>
                  <a:pt x="0" y="291592"/>
                </a:cubicBezTo>
                <a:lnTo>
                  <a:pt x="0" y="31242"/>
                </a:lnTo>
                <a:cubicBezTo>
                  <a:pt x="0" y="13970"/>
                  <a:pt x="13970" y="0"/>
                  <a:pt x="31242" y="0"/>
                </a:cubicBezTo>
                <a:close/>
              </a:path>
            </a:pathLst>
          </a:custGeom>
          <a:solidFill>
            <a:srgbClr val="FFFFFF"/>
          </a:solidFill>
          <a:ln w="5207" cap="rnd">
            <a:solidFill>
              <a:srgbClr val="0B2545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210" name="m-p28_metro-xfl-1273.125"/>
          <p:cNvCxnSpPr/>
          <p:nvPr/>
        </p:nvCxnSpPr>
        <p:spPr>
          <a:xfrm>
            <a:off x="6445190" y="381826"/>
            <a:ext cx="0" cy="192658"/>
          </a:xfrm>
          <a:prstGeom prst="line">
            <a:avLst/>
          </a:prstGeom>
          <a:ln w="2604" cap="rnd">
            <a:solidFill>
              <a:srgbClr val="0B2545">
                <a:alpha val="2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" name="m-p28_metro-xft-bg-1273.125"/>
          <p:cNvSpPr/>
          <p:nvPr/>
        </p:nvSpPr>
        <p:spPr>
          <a:xfrm>
            <a:off x="6489446" y="454724"/>
            <a:ext cx="175705" cy="46863"/>
          </a:xfrm>
          <a:custGeom>
            <a:avLst/>
            <a:gdLst/>
            <a:ahLst/>
            <a:cxnLst/>
            <a:rect l="0" t="0" r="r" b="b"/>
            <a:pathLst>
              <a:path w="175705" h="46863">
                <a:moveTo>
                  <a:pt x="23432" y="0"/>
                </a:moveTo>
                <a:lnTo>
                  <a:pt x="152273" y="0"/>
                </a:lnTo>
                <a:cubicBezTo>
                  <a:pt x="165227" y="0"/>
                  <a:pt x="175705" y="10478"/>
                  <a:pt x="175705" y="23431"/>
                </a:cubicBezTo>
                <a:lnTo>
                  <a:pt x="175705" y="23431"/>
                </a:lnTo>
                <a:cubicBezTo>
                  <a:pt x="175705" y="36386"/>
                  <a:pt x="165227" y="46863"/>
                  <a:pt x="152273" y="46863"/>
                </a:cubicBezTo>
                <a:lnTo>
                  <a:pt x="23432" y="46863"/>
                </a:lnTo>
                <a:cubicBezTo>
                  <a:pt x="10477" y="46863"/>
                  <a:pt x="0" y="36386"/>
                  <a:pt x="0" y="23431"/>
                </a:cubicBezTo>
                <a:lnTo>
                  <a:pt x="0" y="23431"/>
                </a:lnTo>
                <a:cubicBezTo>
                  <a:pt x="0" y="10478"/>
                  <a:pt x="10477" y="0"/>
                  <a:pt x="23432" y="0"/>
                </a:cubicBezTo>
                <a:close/>
              </a:path>
            </a:pathLst>
          </a:cu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2" name="m-p28_metro-xft-1273.125"/>
          <p:cNvSpPr txBox="1"/>
          <p:nvPr/>
        </p:nvSpPr>
        <p:spPr>
          <a:xfrm>
            <a:off x="6506633" y="461851"/>
            <a:ext cx="133950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6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换乘 · 出海</a:t>
            </a:r>
          </a:p>
        </p:txBody>
      </p:sp>
      <p:sp>
        <p:nvSpPr>
          <p:cNvPr id="213" name="m-p28_metro-st-1-1"/>
          <p:cNvSpPr/>
          <p:nvPr/>
        </p:nvSpPr>
        <p:spPr>
          <a:xfrm>
            <a:off x="5266130" y="72009"/>
            <a:ext cx="31242" cy="31242"/>
          </a:xfrm>
          <a:prstGeom prst="ellipse">
            <a:avLst/>
          </a:prstGeom>
          <a:solidFill>
            <a:srgbClr val="FFFFFF"/>
          </a:solidFill>
          <a:ln w="6509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4" name="m-p28_metro-sn-1-1"/>
          <p:cNvSpPr txBox="1"/>
          <p:nvPr/>
        </p:nvSpPr>
        <p:spPr>
          <a:xfrm>
            <a:off x="5234107" y="11829"/>
            <a:ext cx="95288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需求池</a:t>
            </a:r>
          </a:p>
        </p:txBody>
      </p:sp>
      <p:sp>
        <p:nvSpPr>
          <p:cNvPr id="215" name="m-p28_metro-stt-1-1"/>
          <p:cNvSpPr txBox="1"/>
          <p:nvPr/>
        </p:nvSpPr>
        <p:spPr>
          <a:xfrm>
            <a:off x="5248036" y="-12982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 Q1</a:t>
            </a:r>
          </a:p>
        </p:txBody>
      </p:sp>
      <p:sp>
        <p:nvSpPr>
          <p:cNvPr id="216" name="m-p28_metro-st-1-2"/>
          <p:cNvSpPr/>
          <p:nvPr/>
        </p:nvSpPr>
        <p:spPr>
          <a:xfrm>
            <a:off x="5498818" y="72009"/>
            <a:ext cx="31242" cy="31242"/>
          </a:xfrm>
          <a:prstGeom prst="ellipse">
            <a:avLst/>
          </a:prstGeom>
          <a:solidFill>
            <a:srgbClr val="FFFFFF"/>
          </a:solidFill>
          <a:ln w="6509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7" name="m-p28_metro-sn-1-2"/>
          <p:cNvSpPr txBox="1"/>
          <p:nvPr/>
        </p:nvSpPr>
        <p:spPr>
          <a:xfrm>
            <a:off x="5457527" y="11829"/>
            <a:ext cx="113825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V1 发布</a:t>
            </a:r>
          </a:p>
        </p:txBody>
      </p:sp>
      <p:sp>
        <p:nvSpPr>
          <p:cNvPr id="218" name="m-p28_metro-stt-1-2"/>
          <p:cNvSpPr txBox="1"/>
          <p:nvPr/>
        </p:nvSpPr>
        <p:spPr>
          <a:xfrm>
            <a:off x="5480724" y="-12982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 Q2</a:t>
            </a:r>
          </a:p>
        </p:txBody>
      </p:sp>
      <p:sp>
        <p:nvSpPr>
          <p:cNvPr id="219" name="m-p28_metro-sn-1-3"/>
          <p:cNvSpPr txBox="1"/>
          <p:nvPr/>
        </p:nvSpPr>
        <p:spPr>
          <a:xfrm>
            <a:off x="5932171" y="11829"/>
            <a:ext cx="95288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平台化</a:t>
            </a:r>
          </a:p>
        </p:txBody>
      </p:sp>
      <p:sp>
        <p:nvSpPr>
          <p:cNvPr id="220" name="m-p28_metro-stt-1-3"/>
          <p:cNvSpPr txBox="1"/>
          <p:nvPr/>
        </p:nvSpPr>
        <p:spPr>
          <a:xfrm>
            <a:off x="5946100" y="-12982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 Q4</a:t>
            </a:r>
          </a:p>
        </p:txBody>
      </p:sp>
      <p:sp>
        <p:nvSpPr>
          <p:cNvPr id="221" name="m-p28_metro-st-1-4"/>
          <p:cNvSpPr/>
          <p:nvPr/>
        </p:nvSpPr>
        <p:spPr>
          <a:xfrm>
            <a:off x="6196882" y="72009"/>
            <a:ext cx="31242" cy="31242"/>
          </a:xfrm>
          <a:prstGeom prst="ellipse">
            <a:avLst/>
          </a:prstGeom>
          <a:solidFill>
            <a:srgbClr val="FFFFFF"/>
          </a:solidFill>
          <a:ln w="6509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2" name="m-p28_metro-sn-1-4"/>
          <p:cNvSpPr txBox="1"/>
          <p:nvPr/>
        </p:nvSpPr>
        <p:spPr>
          <a:xfrm>
            <a:off x="6155590" y="11829"/>
            <a:ext cx="113825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AI 能力</a:t>
            </a:r>
          </a:p>
        </p:txBody>
      </p:sp>
      <p:sp>
        <p:nvSpPr>
          <p:cNvPr id="223" name="m-p28_metro-stt-1-4"/>
          <p:cNvSpPr txBox="1"/>
          <p:nvPr/>
        </p:nvSpPr>
        <p:spPr>
          <a:xfrm>
            <a:off x="6178787" y="-12982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27 Q1</a:t>
            </a:r>
          </a:p>
        </p:txBody>
      </p:sp>
      <p:sp>
        <p:nvSpPr>
          <p:cNvPr id="224" name="m-p28_metro-st-1-5"/>
          <p:cNvSpPr/>
          <p:nvPr/>
        </p:nvSpPr>
        <p:spPr>
          <a:xfrm>
            <a:off x="6662257" y="72009"/>
            <a:ext cx="31242" cy="31242"/>
          </a:xfrm>
          <a:prstGeom prst="ellipse">
            <a:avLst/>
          </a:prstGeom>
          <a:solidFill>
            <a:srgbClr val="FFFFFF"/>
          </a:solidFill>
          <a:ln w="6509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5" name="m-p28_metro-sn-1-5"/>
          <p:cNvSpPr txBox="1"/>
          <p:nvPr/>
        </p:nvSpPr>
        <p:spPr>
          <a:xfrm>
            <a:off x="6620966" y="11829"/>
            <a:ext cx="113825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V3 发布</a:t>
            </a:r>
          </a:p>
        </p:txBody>
      </p:sp>
      <p:sp>
        <p:nvSpPr>
          <p:cNvPr id="226" name="m-p28_metro-stt-1-5"/>
          <p:cNvSpPr txBox="1"/>
          <p:nvPr/>
        </p:nvSpPr>
        <p:spPr>
          <a:xfrm>
            <a:off x="6644163" y="-12982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27 Q3</a:t>
            </a:r>
          </a:p>
        </p:txBody>
      </p:sp>
      <p:sp>
        <p:nvSpPr>
          <p:cNvPr id="227" name="m-p28_metro-st-1-6"/>
          <p:cNvSpPr/>
          <p:nvPr/>
        </p:nvSpPr>
        <p:spPr>
          <a:xfrm>
            <a:off x="6891040" y="68104"/>
            <a:ext cx="39052" cy="39052"/>
          </a:xfrm>
          <a:prstGeom prst="ellipse">
            <a:avLst/>
          </a:prstGeom>
          <a:solidFill>
            <a:srgbClr val="FFFFFF"/>
          </a:solidFill>
          <a:ln w="781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8" name="m-p28_metro-sn-1-6"/>
          <p:cNvSpPr txBox="1"/>
          <p:nvPr/>
        </p:nvSpPr>
        <p:spPr>
          <a:xfrm>
            <a:off x="6850555" y="11829"/>
            <a:ext cx="12002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生态开放</a:t>
            </a:r>
          </a:p>
        </p:txBody>
      </p:sp>
      <p:sp>
        <p:nvSpPr>
          <p:cNvPr id="229" name="m-p28_metro-stt-1-6"/>
          <p:cNvSpPr txBox="1"/>
          <p:nvPr/>
        </p:nvSpPr>
        <p:spPr>
          <a:xfrm>
            <a:off x="6876851" y="-12982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27 Q4</a:t>
            </a:r>
          </a:p>
        </p:txBody>
      </p:sp>
      <p:sp>
        <p:nvSpPr>
          <p:cNvPr id="230" name="m-p28_metro-st-2-1"/>
          <p:cNvSpPr/>
          <p:nvPr/>
        </p:nvSpPr>
        <p:spPr>
          <a:xfrm>
            <a:off x="5266130" y="332359"/>
            <a:ext cx="31242" cy="31242"/>
          </a:xfrm>
          <a:prstGeom prst="ellipse">
            <a:avLst/>
          </a:prstGeom>
          <a:solidFill>
            <a:srgbClr val="FFFFFF"/>
          </a:solidFill>
          <a:ln w="6509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1" name="m-p28_metro-sn-2-1"/>
          <p:cNvSpPr txBox="1"/>
          <p:nvPr/>
        </p:nvSpPr>
        <p:spPr>
          <a:xfrm>
            <a:off x="5221741" y="384130"/>
            <a:ext cx="12002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华东深耕</a:t>
            </a:r>
          </a:p>
        </p:txBody>
      </p:sp>
      <p:sp>
        <p:nvSpPr>
          <p:cNvPr id="232" name="m-p28_metro-stt-2-1"/>
          <p:cNvSpPr txBox="1"/>
          <p:nvPr/>
        </p:nvSpPr>
        <p:spPr>
          <a:xfrm>
            <a:off x="5248036" y="419199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 Q1</a:t>
            </a:r>
          </a:p>
        </p:txBody>
      </p:sp>
      <p:sp>
        <p:nvSpPr>
          <p:cNvPr id="233" name="m-p28_metro-st-2-2"/>
          <p:cNvSpPr/>
          <p:nvPr/>
        </p:nvSpPr>
        <p:spPr>
          <a:xfrm>
            <a:off x="5498818" y="332359"/>
            <a:ext cx="31242" cy="31242"/>
          </a:xfrm>
          <a:prstGeom prst="ellipse">
            <a:avLst/>
          </a:prstGeom>
          <a:solidFill>
            <a:srgbClr val="FFFFFF"/>
          </a:solidFill>
          <a:ln w="6509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4" name="m-p28_metro-sn-2-2"/>
          <p:cNvSpPr txBox="1"/>
          <p:nvPr/>
        </p:nvSpPr>
        <p:spPr>
          <a:xfrm>
            <a:off x="5454429" y="384130"/>
            <a:ext cx="12002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华南拓展</a:t>
            </a:r>
          </a:p>
        </p:txBody>
      </p:sp>
      <p:sp>
        <p:nvSpPr>
          <p:cNvPr id="235" name="m-p28_metro-stt-2-2"/>
          <p:cNvSpPr txBox="1"/>
          <p:nvPr/>
        </p:nvSpPr>
        <p:spPr>
          <a:xfrm>
            <a:off x="5480724" y="419199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 Q2</a:t>
            </a:r>
          </a:p>
        </p:txBody>
      </p:sp>
      <p:sp>
        <p:nvSpPr>
          <p:cNvPr id="236" name="m-p28_metro-sn-2-3"/>
          <p:cNvSpPr txBox="1"/>
          <p:nvPr/>
        </p:nvSpPr>
        <p:spPr>
          <a:xfrm>
            <a:off x="5907438" y="384130"/>
            <a:ext cx="144755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联合发布会</a:t>
            </a:r>
          </a:p>
        </p:txBody>
      </p:sp>
      <p:sp>
        <p:nvSpPr>
          <p:cNvPr id="237" name="m-p28_metro-stt-2-3"/>
          <p:cNvSpPr txBox="1"/>
          <p:nvPr/>
        </p:nvSpPr>
        <p:spPr>
          <a:xfrm>
            <a:off x="5946100" y="419199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 Q4</a:t>
            </a:r>
          </a:p>
        </p:txBody>
      </p:sp>
      <p:sp>
        <p:nvSpPr>
          <p:cNvPr id="238" name="m-p28_metro-sn-2-4"/>
          <p:cNvSpPr txBox="1"/>
          <p:nvPr/>
        </p:nvSpPr>
        <p:spPr>
          <a:xfrm>
            <a:off x="6385180" y="272179"/>
            <a:ext cx="12002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海外首站</a:t>
            </a:r>
          </a:p>
        </p:txBody>
      </p:sp>
      <p:sp>
        <p:nvSpPr>
          <p:cNvPr id="239" name="m-p28_metro-stt-2-4"/>
          <p:cNvSpPr txBox="1"/>
          <p:nvPr/>
        </p:nvSpPr>
        <p:spPr>
          <a:xfrm>
            <a:off x="6411475" y="247368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27 Q2</a:t>
            </a:r>
          </a:p>
        </p:txBody>
      </p:sp>
      <p:sp>
        <p:nvSpPr>
          <p:cNvPr id="240" name="m-p28_metro-st-2-5"/>
          <p:cNvSpPr/>
          <p:nvPr/>
        </p:nvSpPr>
        <p:spPr>
          <a:xfrm>
            <a:off x="6891040" y="328454"/>
            <a:ext cx="39052" cy="39052"/>
          </a:xfrm>
          <a:prstGeom prst="ellipse">
            <a:avLst/>
          </a:prstGeom>
          <a:solidFill>
            <a:srgbClr val="FFFFFF"/>
          </a:solidFill>
          <a:ln w="781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1" name="m-p28_metro-sn-2-5"/>
          <p:cNvSpPr txBox="1"/>
          <p:nvPr/>
        </p:nvSpPr>
        <p:spPr>
          <a:xfrm>
            <a:off x="6834075" y="384130"/>
            <a:ext cx="152982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全球 10 国</a:t>
            </a:r>
          </a:p>
        </p:txBody>
      </p:sp>
      <p:sp>
        <p:nvSpPr>
          <p:cNvPr id="242" name="m-p28_metro-stt-2-5"/>
          <p:cNvSpPr txBox="1"/>
          <p:nvPr/>
        </p:nvSpPr>
        <p:spPr>
          <a:xfrm>
            <a:off x="6876851" y="419199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27 Q4</a:t>
            </a:r>
          </a:p>
        </p:txBody>
      </p:sp>
      <p:sp>
        <p:nvSpPr>
          <p:cNvPr id="243" name="m-p28_metro-st-3-1"/>
          <p:cNvSpPr/>
          <p:nvPr/>
        </p:nvSpPr>
        <p:spPr>
          <a:xfrm>
            <a:off x="5266130" y="592709"/>
            <a:ext cx="31242" cy="31242"/>
          </a:xfrm>
          <a:prstGeom prst="ellipse">
            <a:avLst/>
          </a:prstGeom>
          <a:solidFill>
            <a:srgbClr val="FFFFFF"/>
          </a:solidFill>
          <a:ln w="6509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4" name="m-p28_metro-sn-3-1"/>
          <p:cNvSpPr txBox="1"/>
          <p:nvPr/>
        </p:nvSpPr>
        <p:spPr>
          <a:xfrm>
            <a:off x="5221741" y="644480"/>
            <a:ext cx="12002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组建团队</a:t>
            </a:r>
          </a:p>
        </p:txBody>
      </p:sp>
      <p:sp>
        <p:nvSpPr>
          <p:cNvPr id="245" name="m-p28_metro-stt-3-1"/>
          <p:cNvSpPr txBox="1"/>
          <p:nvPr/>
        </p:nvSpPr>
        <p:spPr>
          <a:xfrm>
            <a:off x="5248036" y="679549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 Q1</a:t>
            </a:r>
          </a:p>
        </p:txBody>
      </p:sp>
      <p:sp>
        <p:nvSpPr>
          <p:cNvPr id="246" name="m-p28_metro-st-3-2"/>
          <p:cNvSpPr/>
          <p:nvPr/>
        </p:nvSpPr>
        <p:spPr>
          <a:xfrm>
            <a:off x="5731506" y="592709"/>
            <a:ext cx="31242" cy="31242"/>
          </a:xfrm>
          <a:prstGeom prst="ellipse">
            <a:avLst/>
          </a:prstGeom>
          <a:solidFill>
            <a:srgbClr val="FFFFFF"/>
          </a:solidFill>
          <a:ln w="6509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7" name="m-p28_metro-sn-3-2"/>
          <p:cNvSpPr txBox="1"/>
          <p:nvPr/>
        </p:nvSpPr>
        <p:spPr>
          <a:xfrm>
            <a:off x="5699483" y="644480"/>
            <a:ext cx="95288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双中台</a:t>
            </a:r>
          </a:p>
        </p:txBody>
      </p:sp>
      <p:sp>
        <p:nvSpPr>
          <p:cNvPr id="248" name="m-p28_metro-stt-3-2"/>
          <p:cNvSpPr txBox="1"/>
          <p:nvPr/>
        </p:nvSpPr>
        <p:spPr>
          <a:xfrm>
            <a:off x="5713412" y="679549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 Q3</a:t>
            </a:r>
          </a:p>
        </p:txBody>
      </p:sp>
      <p:sp>
        <p:nvSpPr>
          <p:cNvPr id="249" name="m-p28_metro-st-3-3"/>
          <p:cNvSpPr/>
          <p:nvPr/>
        </p:nvSpPr>
        <p:spPr>
          <a:xfrm>
            <a:off x="6196882" y="592709"/>
            <a:ext cx="31242" cy="31242"/>
          </a:xfrm>
          <a:prstGeom prst="ellipse">
            <a:avLst/>
          </a:prstGeom>
          <a:solidFill>
            <a:srgbClr val="FFFFFF"/>
          </a:solidFill>
          <a:ln w="6509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0" name="m-p28_metro-sn-3-3"/>
          <p:cNvSpPr txBox="1"/>
          <p:nvPr/>
        </p:nvSpPr>
        <p:spPr>
          <a:xfrm>
            <a:off x="6152492" y="644480"/>
            <a:ext cx="12002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干部梯队</a:t>
            </a:r>
          </a:p>
        </p:txBody>
      </p:sp>
      <p:sp>
        <p:nvSpPr>
          <p:cNvPr id="251" name="m-p28_metro-stt-3-3"/>
          <p:cNvSpPr txBox="1"/>
          <p:nvPr/>
        </p:nvSpPr>
        <p:spPr>
          <a:xfrm>
            <a:off x="6178787" y="679549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27 Q1</a:t>
            </a:r>
          </a:p>
        </p:txBody>
      </p:sp>
      <p:sp>
        <p:nvSpPr>
          <p:cNvPr id="252" name="m-p28_metro-sn-3-4"/>
          <p:cNvSpPr txBox="1"/>
          <p:nvPr/>
        </p:nvSpPr>
        <p:spPr>
          <a:xfrm>
            <a:off x="6385180" y="644480"/>
            <a:ext cx="12002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海外团队</a:t>
            </a:r>
          </a:p>
        </p:txBody>
      </p:sp>
      <p:sp>
        <p:nvSpPr>
          <p:cNvPr id="253" name="m-p28_metro-stt-3-4"/>
          <p:cNvSpPr txBox="1"/>
          <p:nvPr/>
        </p:nvSpPr>
        <p:spPr>
          <a:xfrm>
            <a:off x="6411475" y="679549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27 Q2</a:t>
            </a:r>
          </a:p>
        </p:txBody>
      </p:sp>
      <p:sp>
        <p:nvSpPr>
          <p:cNvPr id="254" name="m-p28_metro-st-3-5"/>
          <p:cNvSpPr/>
          <p:nvPr/>
        </p:nvSpPr>
        <p:spPr>
          <a:xfrm>
            <a:off x="6891040" y="588804"/>
            <a:ext cx="39052" cy="39052"/>
          </a:xfrm>
          <a:prstGeom prst="ellipse">
            <a:avLst/>
          </a:prstGeom>
          <a:solidFill>
            <a:srgbClr val="FFFFFF"/>
          </a:solidFill>
          <a:ln w="7810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5" name="m-p28_metro-sn-3-5"/>
          <p:cNvSpPr txBox="1"/>
          <p:nvPr/>
        </p:nvSpPr>
        <p:spPr>
          <a:xfrm>
            <a:off x="6838189" y="644480"/>
            <a:ext cx="144755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全球化组织</a:t>
            </a:r>
          </a:p>
        </p:txBody>
      </p:sp>
      <p:sp>
        <p:nvSpPr>
          <p:cNvPr id="256" name="m-p28_metro-stt-3-5"/>
          <p:cNvSpPr txBox="1"/>
          <p:nvPr/>
        </p:nvSpPr>
        <p:spPr>
          <a:xfrm>
            <a:off x="6876851" y="679549"/>
            <a:ext cx="6743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27 Q4</a:t>
            </a:r>
          </a:p>
        </p:txBody>
      </p:sp>
      <p:sp>
        <p:nvSpPr>
          <p:cNvPr id="257" name="m-p28_metro-sum"/>
          <p:cNvSpPr/>
          <p:nvPr/>
        </p:nvSpPr>
        <p:spPr>
          <a:xfrm>
            <a:off x="4983162" y="764540"/>
            <a:ext cx="2108835" cy="130175"/>
          </a:xfrm>
          <a:custGeom>
            <a:avLst/>
            <a:gdLst/>
            <a:ahLst/>
            <a:cxnLst/>
            <a:rect l="0" t="0" r="r" b="b"/>
            <a:pathLst>
              <a:path w="2108835" h="130175">
                <a:moveTo>
                  <a:pt x="20828" y="0"/>
                </a:moveTo>
                <a:lnTo>
                  <a:pt x="2088007" y="0"/>
                </a:lnTo>
                <a:cubicBezTo>
                  <a:pt x="2099501" y="0"/>
                  <a:pt x="2108835" y="9334"/>
                  <a:pt x="2108835" y="20828"/>
                </a:cubicBezTo>
                <a:lnTo>
                  <a:pt x="2108835" y="109347"/>
                </a:lnTo>
                <a:cubicBezTo>
                  <a:pt x="2108835" y="120840"/>
                  <a:pt x="2099501" y="130175"/>
                  <a:pt x="2088007" y="130175"/>
                </a:cubicBezTo>
                <a:lnTo>
                  <a:pt x="20828" y="130175"/>
                </a:lnTo>
                <a:cubicBezTo>
                  <a:pt x="9335" y="130175"/>
                  <a:pt x="0" y="120840"/>
                  <a:pt x="0" y="109347"/>
                </a:cubicBezTo>
                <a:lnTo>
                  <a:pt x="0" y="20828"/>
                </a:lnTo>
                <a:cubicBezTo>
                  <a:pt x="0" y="9334"/>
                  <a:pt x="9335" y="0"/>
                  <a:pt x="20828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8" name="m-p28_metro-sum-bar"/>
          <p:cNvSpPr/>
          <p:nvPr/>
        </p:nvSpPr>
        <p:spPr>
          <a:xfrm>
            <a:off x="4983162" y="764540"/>
            <a:ext cx="6509" cy="130175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9" name="m-p28_metro-sum-h"/>
          <p:cNvSpPr txBox="1"/>
          <p:nvPr/>
        </p:nvSpPr>
        <p:spPr>
          <a:xfrm>
            <a:off x="5021851" y="788668"/>
            <a:ext cx="131607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读图方法</a:t>
            </a:r>
          </a:p>
        </p:txBody>
      </p:sp>
      <p:sp>
        <p:nvSpPr>
          <p:cNvPr id="260" name="m-p28_metro-sum-p"/>
          <p:cNvSpPr txBox="1"/>
          <p:nvPr/>
        </p:nvSpPr>
        <p:spPr>
          <a:xfrm>
            <a:off x="5022085" y="835339"/>
            <a:ext cx="1022460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每条线各自负责人推进；到达换乘站前一个月召开联席会，三条线任何一条没到站，换乘就推迟。</a:t>
            </a:r>
          </a:p>
        </p:txBody>
      </p:sp>
      <p:cxnSp>
        <p:nvCxnSpPr>
          <p:cNvPr id="261" name="m-p28_metro-foot-line"/>
          <p:cNvCxnSpPr/>
          <p:nvPr/>
        </p:nvCxnSpPr>
        <p:spPr>
          <a:xfrm>
            <a:off x="4907661" y="9441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2" name="m-p28_metro-foot-l"/>
          <p:cNvSpPr txBox="1"/>
          <p:nvPr/>
        </p:nvSpPr>
        <p:spPr>
          <a:xfrm>
            <a:off x="4905474" y="958123"/>
            <a:ext cx="25464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地铁线路图 · 三条战略线</a:t>
            </a:r>
          </a:p>
        </p:txBody>
      </p:sp>
      <p:sp>
        <p:nvSpPr>
          <p:cNvPr id="263" name="m-p28_metro-foot-r"/>
          <p:cNvSpPr txBox="1"/>
          <p:nvPr/>
        </p:nvSpPr>
        <p:spPr>
          <a:xfrm>
            <a:off x="6909909" y="9581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264" name="mini-card-d05_donut_share"/>
          <p:cNvSpPr/>
          <p:nvPr/>
        </p:nvSpPr>
        <p:spPr>
          <a:xfrm>
            <a:off x="7404100" y="-3810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1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1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1" y="1405890"/>
                </a:lnTo>
                <a:cubicBezTo>
                  <a:pt x="35878" y="1405890"/>
                  <a:pt x="0" y="1370012"/>
                  <a:pt x="0" y="1325690"/>
                </a:cubicBezTo>
                <a:lnTo>
                  <a:pt x="0" y="80201"/>
                </a:lnTo>
                <a:cubicBezTo>
                  <a:pt x="0" y="35877"/>
                  <a:pt x="35878" y="0"/>
                  <a:pt x="80201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65" name="m-d05_donut_share-title-bar"/>
          <p:cNvSpPr/>
          <p:nvPr/>
        </p:nvSpPr>
        <p:spPr>
          <a:xfrm>
            <a:off x="7523861" y="-282067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66" name="m-d05_donut_share-title-bar-accent"/>
          <p:cNvSpPr/>
          <p:nvPr/>
        </p:nvSpPr>
        <p:spPr>
          <a:xfrm>
            <a:off x="7523861" y="-282067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67" name="m-d05_donut_share-title-cn"/>
          <p:cNvSpPr txBox="1"/>
          <p:nvPr/>
        </p:nvSpPr>
        <p:spPr>
          <a:xfrm>
            <a:off x="7556040" y="-299432"/>
            <a:ext cx="426453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客户结构分布</a:t>
            </a:r>
          </a:p>
        </p:txBody>
      </p:sp>
      <p:sp>
        <p:nvSpPr>
          <p:cNvPr id="268" name="m-d05_donut_share-title-en"/>
          <p:cNvSpPr txBox="1"/>
          <p:nvPr/>
        </p:nvSpPr>
        <p:spPr>
          <a:xfrm>
            <a:off x="7563330" y="-212150"/>
            <a:ext cx="24040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CUSTOMER MIX</a:t>
            </a:r>
          </a:p>
        </p:txBody>
      </p:sp>
      <p:sp>
        <p:nvSpPr>
          <p:cNvPr id="269" name="m-d05_donut_share-title-sub"/>
          <p:cNvSpPr txBox="1"/>
          <p:nvPr/>
        </p:nvSpPr>
        <p:spPr>
          <a:xfrm>
            <a:off x="9368102" y="-243008"/>
            <a:ext cx="418252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按行业划分的客户数量与收入贡献占比</a:t>
            </a:r>
          </a:p>
        </p:txBody>
      </p:sp>
      <p:sp>
        <p:nvSpPr>
          <p:cNvPr id="270" name="m-d05_donut_share-guide"/>
          <p:cNvSpPr/>
          <p:nvPr/>
        </p:nvSpPr>
        <p:spPr>
          <a:xfrm>
            <a:off x="7828470" y="22542"/>
            <a:ext cx="765429" cy="765429"/>
          </a:xfrm>
          <a:prstGeom prst="ellipse">
            <a:avLst/>
          </a:prstGeom>
          <a:noFill/>
          <a:ln w="2540" cap="rnd">
            <a:solidFill>
              <a:srgbClr val="0B2545">
                <a:alpha val="1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71" name="m-d05_donut_share-seg-1"/>
          <p:cNvSpPr/>
          <p:nvPr/>
        </p:nvSpPr>
        <p:spPr>
          <a:xfrm>
            <a:off x="8217027" y="57015"/>
            <a:ext cx="343043" cy="525027"/>
          </a:xfrm>
          <a:custGeom>
            <a:avLst/>
            <a:gdLst/>
            <a:ahLst/>
            <a:cxnLst/>
            <a:rect l="0" t="0" r="r" b="b"/>
            <a:pathLst>
              <a:path w="343043" h="525027">
                <a:moveTo>
                  <a:pt x="15621" y="8"/>
                </a:moveTo>
                <a:cubicBezTo>
                  <a:pt x="135001" y="7374"/>
                  <a:pt x="242253" y="75383"/>
                  <a:pt x="299847" y="180158"/>
                </a:cubicBezTo>
                <a:cubicBezTo>
                  <a:pt x="357505" y="284996"/>
                  <a:pt x="357441" y="411996"/>
                  <a:pt x="299657" y="516708"/>
                </a:cubicBezTo>
                <a:quadBezTo>
                  <a:pt x="291846" y="530170"/>
                  <a:pt x="278638" y="521851"/>
                </a:quadBezTo>
                <a:lnTo>
                  <a:pt x="199454" y="471623"/>
                </a:lnTo>
                <a:quadBezTo>
                  <a:pt x="181864" y="460447"/>
                  <a:pt x="191707" y="442095"/>
                </a:quadBezTo>
                <a:cubicBezTo>
                  <a:pt x="221869" y="378595"/>
                  <a:pt x="219646" y="304491"/>
                  <a:pt x="185801" y="242896"/>
                </a:cubicBezTo>
                <a:cubicBezTo>
                  <a:pt x="151956" y="181301"/>
                  <a:pt x="90551" y="139708"/>
                  <a:pt x="20764" y="131199"/>
                </a:cubicBezTo>
                <a:quadBezTo>
                  <a:pt x="0" y="129612"/>
                  <a:pt x="0" y="108784"/>
                </a:quadBezTo>
                <a:lnTo>
                  <a:pt x="0" y="15058"/>
                </a:lnTo>
                <a:quadBezTo>
                  <a:pt x="0" y="-563"/>
                  <a:pt x="15621" y="8"/>
                </a:quad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72" name="m-d05_donut_share-seg-2"/>
          <p:cNvSpPr/>
          <p:nvPr/>
        </p:nvSpPr>
        <p:spPr>
          <a:xfrm>
            <a:off x="8092384" y="534057"/>
            <a:ext cx="404872" cy="220094"/>
          </a:xfrm>
          <a:custGeom>
            <a:avLst/>
            <a:gdLst/>
            <a:ahLst/>
            <a:cxnLst/>
            <a:rect l="0" t="0" r="r" b="b"/>
            <a:pathLst>
              <a:path w="404872" h="220094">
                <a:moveTo>
                  <a:pt x="401312" y="75924"/>
                </a:moveTo>
                <a:cubicBezTo>
                  <a:pt x="312412" y="198543"/>
                  <a:pt x="154551" y="249851"/>
                  <a:pt x="10597" y="202861"/>
                </a:cubicBezTo>
                <a:quadBezTo>
                  <a:pt x="-4135" y="197654"/>
                  <a:pt x="1580" y="183176"/>
                </a:quadBezTo>
                <a:lnTo>
                  <a:pt x="36124" y="95990"/>
                </a:lnTo>
                <a:quadBezTo>
                  <a:pt x="43744" y="76623"/>
                  <a:pt x="63619" y="82846"/>
                </a:quadBezTo>
                <a:cubicBezTo>
                  <a:pt x="146169" y="104309"/>
                  <a:pt x="233672" y="75924"/>
                  <a:pt x="287838" y="10011"/>
                </a:cubicBezTo>
                <a:quadBezTo>
                  <a:pt x="300220" y="-6689"/>
                  <a:pt x="317810" y="4423"/>
                </a:quadBezTo>
                <a:lnTo>
                  <a:pt x="396994" y="54652"/>
                </a:lnTo>
                <a:quadBezTo>
                  <a:pt x="410202" y="63034"/>
                  <a:pt x="401312" y="75924"/>
                </a:quadBezTo>
                <a:close/>
              </a:path>
            </a:pathLst>
          </a:custGeom>
          <a:gradFill rotWithShape="1">
            <a:gsLst>
              <a:gs pos="0">
                <a:srgbClr val="2F61A8"/>
              </a:gs>
              <a:gs pos="100000">
                <a:srgbClr val="134C9C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73" name="m-d05_donut_share-seg-3"/>
          <p:cNvSpPr/>
          <p:nvPr/>
        </p:nvSpPr>
        <p:spPr>
          <a:xfrm>
            <a:off x="7872506" y="455256"/>
            <a:ext cx="247302" cy="267779"/>
          </a:xfrm>
          <a:custGeom>
            <a:avLst/>
            <a:gdLst/>
            <a:ahLst/>
            <a:cxnLst/>
            <a:rect l="0" t="0" r="r" b="b"/>
            <a:pathLst>
              <a:path w="247302" h="267779">
                <a:moveTo>
                  <a:pt x="190533" y="265850"/>
                </a:moveTo>
                <a:cubicBezTo>
                  <a:pt x="96109" y="221591"/>
                  <a:pt x="26449" y="137390"/>
                  <a:pt x="668" y="36361"/>
                </a:cubicBezTo>
                <a:quadBezTo>
                  <a:pt x="-2888" y="21121"/>
                  <a:pt x="12479" y="18200"/>
                </a:quadBezTo>
                <a:lnTo>
                  <a:pt x="104554" y="611"/>
                </a:lnTo>
                <a:quadBezTo>
                  <a:pt x="125065" y="-3263"/>
                  <a:pt x="130462" y="16803"/>
                </a:quadBezTo>
                <a:cubicBezTo>
                  <a:pt x="147607" y="70334"/>
                  <a:pt x="184691" y="115165"/>
                  <a:pt x="234031" y="142025"/>
                </a:cubicBezTo>
                <a:quadBezTo>
                  <a:pt x="252763" y="151106"/>
                  <a:pt x="245080" y="170473"/>
                </a:quadBezTo>
                <a:lnTo>
                  <a:pt x="210599" y="257659"/>
                </a:lnTo>
                <a:quadBezTo>
                  <a:pt x="204821" y="272200"/>
                  <a:pt x="190533" y="265850"/>
                </a:quadBezTo>
                <a:close/>
              </a:path>
            </a:pathLst>
          </a:custGeom>
          <a:gradFill rotWithShape="1">
            <a:gsLst>
              <a:gs pos="0">
                <a:srgbClr val="3E7ABF"/>
              </a:gs>
              <a:gs pos="100000">
                <a:srgbClr val="2468B6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74" name="m-d05_donut_share-seg-4"/>
          <p:cNvSpPr/>
          <p:nvPr/>
        </p:nvSpPr>
        <p:spPr>
          <a:xfrm>
            <a:off x="7862325" y="228472"/>
            <a:ext cx="154836" cy="233941"/>
          </a:xfrm>
          <a:custGeom>
            <a:avLst/>
            <a:gdLst/>
            <a:ahLst/>
            <a:cxnLst/>
            <a:rect l="0" t="0" r="r" b="b"/>
            <a:pathLst>
              <a:path w="154836" h="233941">
                <a:moveTo>
                  <a:pt x="2785" y="220981"/>
                </a:moveTo>
                <a:cubicBezTo>
                  <a:pt x="-6549" y="147575"/>
                  <a:pt x="7611" y="73089"/>
                  <a:pt x="43362" y="8319"/>
                </a:cubicBezTo>
                <a:quadBezTo>
                  <a:pt x="51172" y="-5143"/>
                  <a:pt x="64380" y="3176"/>
                </a:quadBezTo>
                <a:lnTo>
                  <a:pt x="143565" y="53404"/>
                </a:lnTo>
                <a:quadBezTo>
                  <a:pt x="161154" y="64580"/>
                  <a:pt x="151312" y="82932"/>
                </a:quadBezTo>
                <a:cubicBezTo>
                  <a:pt x="135310" y="116714"/>
                  <a:pt x="128198" y="154052"/>
                  <a:pt x="130674" y="191326"/>
                </a:cubicBezTo>
                <a:quadBezTo>
                  <a:pt x="133024" y="212027"/>
                  <a:pt x="112577" y="215901"/>
                </a:quadBezTo>
                <a:lnTo>
                  <a:pt x="20438" y="233490"/>
                </a:lnTo>
                <a:quadBezTo>
                  <a:pt x="5135" y="236411"/>
                  <a:pt x="2785" y="220981"/>
                </a:quadBezTo>
                <a:close/>
              </a:path>
            </a:pathLst>
          </a:custGeom>
          <a:gradFill rotWithShape="1">
            <a:gsLst>
              <a:gs pos="0">
                <a:srgbClr val="4787C9"/>
              </a:gs>
              <a:gs pos="100000">
                <a:srgbClr val="2E77C2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75" name="m-d05_donut_share-seg-5"/>
          <p:cNvSpPr/>
          <p:nvPr/>
        </p:nvSpPr>
        <p:spPr>
          <a:xfrm>
            <a:off x="7925114" y="87479"/>
            <a:ext cx="194695" cy="188978"/>
          </a:xfrm>
          <a:custGeom>
            <a:avLst/>
            <a:gdLst/>
            <a:ahLst/>
            <a:cxnLst/>
            <a:rect l="0" t="0" r="r" b="b"/>
            <a:pathLst>
              <a:path w="194695" h="188978">
                <a:moveTo>
                  <a:pt x="3560" y="113054"/>
                </a:moveTo>
                <a:cubicBezTo>
                  <a:pt x="38231" y="65238"/>
                  <a:pt x="84459" y="27011"/>
                  <a:pt x="137926" y="1929"/>
                </a:cubicBezTo>
                <a:quadBezTo>
                  <a:pt x="152213" y="-4421"/>
                  <a:pt x="157992" y="10120"/>
                </a:quadBezTo>
                <a:lnTo>
                  <a:pt x="192472" y="97306"/>
                </a:lnTo>
                <a:quadBezTo>
                  <a:pt x="200156" y="116673"/>
                  <a:pt x="181423" y="125754"/>
                </a:quadBezTo>
                <a:cubicBezTo>
                  <a:pt x="156722" y="139216"/>
                  <a:pt x="134878" y="157250"/>
                  <a:pt x="117034" y="178967"/>
                </a:cubicBezTo>
                <a:quadBezTo>
                  <a:pt x="104652" y="195667"/>
                  <a:pt x="87062" y="184555"/>
                </a:quadBezTo>
                <a:lnTo>
                  <a:pt x="7878" y="134326"/>
                </a:lnTo>
                <a:quadBezTo>
                  <a:pt x="-5330" y="125944"/>
                  <a:pt x="3560" y="113054"/>
                </a:quadBezTo>
                <a:close/>
              </a:path>
            </a:pathLst>
          </a:custGeom>
          <a:gradFill rotWithShape="1">
            <a:gsLst>
              <a:gs pos="0">
                <a:srgbClr val="5CA1DC"/>
              </a:gs>
              <a:gs pos="100000">
                <a:srgbClr val="4694D7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76" name="m-d05_donut_share-seg-6"/>
          <p:cNvSpPr/>
          <p:nvPr/>
        </p:nvSpPr>
        <p:spPr>
          <a:xfrm>
            <a:off x="8092384" y="57015"/>
            <a:ext cx="112959" cy="138109"/>
          </a:xfrm>
          <a:custGeom>
            <a:avLst/>
            <a:gdLst/>
            <a:ahLst/>
            <a:cxnLst/>
            <a:rect l="0" t="0" r="r" b="b"/>
            <a:pathLst>
              <a:path w="112959" h="138109">
                <a:moveTo>
                  <a:pt x="10597" y="16582"/>
                </a:moveTo>
                <a:cubicBezTo>
                  <a:pt x="38664" y="7438"/>
                  <a:pt x="67810" y="1850"/>
                  <a:pt x="97338" y="8"/>
                </a:cubicBezTo>
                <a:quadBezTo>
                  <a:pt x="112959" y="-563"/>
                  <a:pt x="112959" y="15058"/>
                </a:quadBezTo>
                <a:lnTo>
                  <a:pt x="112959" y="108784"/>
                </a:lnTo>
                <a:quadBezTo>
                  <a:pt x="112959" y="129612"/>
                  <a:pt x="92194" y="131199"/>
                </a:quadBezTo>
                <a:cubicBezTo>
                  <a:pt x="82542" y="132342"/>
                  <a:pt x="73017" y="134184"/>
                  <a:pt x="63619" y="136597"/>
                </a:cubicBezTo>
                <a:quadBezTo>
                  <a:pt x="43744" y="142820"/>
                  <a:pt x="36124" y="123452"/>
                </a:quadBezTo>
                <a:lnTo>
                  <a:pt x="1580" y="36267"/>
                </a:lnTo>
                <a:quadBezTo>
                  <a:pt x="-4135" y="21789"/>
                  <a:pt x="10597" y="16582"/>
                </a:quadBezTo>
                <a:close/>
              </a:path>
            </a:pathLst>
          </a:custGeom>
          <a:gradFill rotWithShape="1">
            <a:gsLst>
              <a:gs pos="0">
                <a:srgbClr val="69ADE3"/>
              </a:gs>
              <a:gs pos="100000">
                <a:srgbClr val="54A2DF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77" name="m-d05_donut_share-pct-1"/>
          <p:cNvSpPr txBox="1"/>
          <p:nvPr/>
        </p:nvSpPr>
        <p:spPr>
          <a:xfrm>
            <a:off x="8423624" y="245197"/>
            <a:ext cx="72481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34%</a:t>
            </a:r>
          </a:p>
        </p:txBody>
      </p:sp>
      <p:sp>
        <p:nvSpPr>
          <p:cNvPr id="278" name="m-d05_donut_share-pct-2"/>
          <p:cNvSpPr txBox="1"/>
          <p:nvPr/>
        </p:nvSpPr>
        <p:spPr>
          <a:xfrm>
            <a:off x="8262638" y="651802"/>
            <a:ext cx="72481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22%</a:t>
            </a:r>
          </a:p>
        </p:txBody>
      </p:sp>
      <p:sp>
        <p:nvSpPr>
          <p:cNvPr id="279" name="m-d05_donut_share-pct-3"/>
          <p:cNvSpPr txBox="1"/>
          <p:nvPr/>
        </p:nvSpPr>
        <p:spPr>
          <a:xfrm>
            <a:off x="7956287" y="562799"/>
            <a:ext cx="72481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16%</a:t>
            </a:r>
          </a:p>
        </p:txBody>
      </p:sp>
      <p:sp>
        <p:nvSpPr>
          <p:cNvPr id="280" name="m-d05_donut_share-pct-4"/>
          <p:cNvSpPr txBox="1"/>
          <p:nvPr/>
        </p:nvSpPr>
        <p:spPr>
          <a:xfrm>
            <a:off x="7896189" y="328735"/>
            <a:ext cx="72481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12%</a:t>
            </a:r>
          </a:p>
        </p:txBody>
      </p:sp>
      <p:sp>
        <p:nvSpPr>
          <p:cNvPr id="281" name="m-d05_donut_share-pct-5"/>
          <p:cNvSpPr txBox="1"/>
          <p:nvPr/>
        </p:nvSpPr>
        <p:spPr>
          <a:xfrm>
            <a:off x="7994055" y="163253"/>
            <a:ext cx="72481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10%</a:t>
            </a:r>
          </a:p>
        </p:txBody>
      </p:sp>
      <p:cxnSp>
        <p:nvCxnSpPr>
          <p:cNvPr id="282" name="m-d05_donut_share-pl-6"/>
          <p:cNvCxnSpPr/>
          <p:nvPr/>
        </p:nvCxnSpPr>
        <p:spPr>
          <a:xfrm flipH="1" flipV="1">
            <a:off x="8138496" y="24207"/>
            <a:ext cx="5854" cy="30688"/>
          </a:xfrm>
          <a:prstGeom prst="line">
            <a:avLst/>
          </a:prstGeom>
          <a:ln w="2540" cap="rnd">
            <a:solidFill>
              <a:srgbClr val="54A2DF">
                <a:alpha val="6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3" name="m-d05_donut_share-pct-6"/>
          <p:cNvSpPr txBox="1"/>
          <p:nvPr/>
        </p:nvSpPr>
        <p:spPr>
          <a:xfrm>
            <a:off x="8112079" y="-13215"/>
            <a:ext cx="46004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5" normalizeH="0" baseline="0" noProof="0">
                <a:ln>
                  <a:noFill/>
                </a:ln>
                <a:solidFill>
                  <a:srgbClr val="54A2D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6%</a:t>
            </a:r>
          </a:p>
        </p:txBody>
      </p:sp>
      <p:sp>
        <p:nvSpPr>
          <p:cNvPr id="284" name="m-d05_donut_share-core"/>
          <p:cNvSpPr/>
          <p:nvPr/>
        </p:nvSpPr>
        <p:spPr>
          <a:xfrm>
            <a:off x="8010716" y="204788"/>
            <a:ext cx="400939" cy="400939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85" name="m-d05_donut_share-core-ring"/>
          <p:cNvSpPr/>
          <p:nvPr/>
        </p:nvSpPr>
        <p:spPr>
          <a:xfrm>
            <a:off x="8026336" y="220408"/>
            <a:ext cx="369697" cy="369697"/>
          </a:xfrm>
          <a:prstGeom prst="ellipse">
            <a:avLst/>
          </a:prstGeom>
          <a:noFill/>
          <a:ln w="2540" cap="rnd">
            <a:solidFill>
              <a:srgbClr val="0B3E8F">
                <a:alpha val="14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86" name="m-d05_donut_share-tot-v"/>
          <p:cNvSpPr txBox="1"/>
          <p:nvPr/>
        </p:nvSpPr>
        <p:spPr>
          <a:xfrm>
            <a:off x="8050080" y="332073"/>
            <a:ext cx="296174" cy="11845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30" b="1" i="0" u="none" strike="noStrike" kern="1200" cap="none" spc="1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12,600</a:t>
            </a:r>
          </a:p>
        </p:txBody>
      </p:sp>
      <p:sp>
        <p:nvSpPr>
          <p:cNvPr id="287" name="m-d05_donut_share-tot-u"/>
          <p:cNvSpPr txBox="1"/>
          <p:nvPr/>
        </p:nvSpPr>
        <p:spPr>
          <a:xfrm>
            <a:off x="8317720" y="386733"/>
            <a:ext cx="4452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家</a:t>
            </a:r>
          </a:p>
        </p:txBody>
      </p:sp>
      <p:sp>
        <p:nvSpPr>
          <p:cNvPr id="288" name="m-d05_donut_share-tot-l"/>
          <p:cNvSpPr txBox="1"/>
          <p:nvPr/>
        </p:nvSpPr>
        <p:spPr>
          <a:xfrm>
            <a:off x="8136204" y="436811"/>
            <a:ext cx="149962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8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累计服务客户</a:t>
            </a:r>
          </a:p>
        </p:txBody>
      </p:sp>
      <p:sp>
        <p:nvSpPr>
          <p:cNvPr id="289" name="m-d05_donut_share-side-bar"/>
          <p:cNvSpPr/>
          <p:nvPr/>
        </p:nvSpPr>
        <p:spPr>
          <a:xfrm>
            <a:off x="8804783" y="-52959"/>
            <a:ext cx="6509" cy="114554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90" name="m-d05_donut_share-side-h"/>
          <p:cNvSpPr txBox="1"/>
          <p:nvPr/>
        </p:nvSpPr>
        <p:spPr>
          <a:xfrm>
            <a:off x="8839930" y="-51495"/>
            <a:ext cx="169878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行业明细</a:t>
            </a:r>
          </a:p>
        </p:txBody>
      </p:sp>
      <p:sp>
        <p:nvSpPr>
          <p:cNvPr id="291" name="m-d05_donut_share-side-p"/>
          <p:cNvSpPr txBox="1"/>
          <p:nvPr/>
        </p:nvSpPr>
        <p:spPr>
          <a:xfrm>
            <a:off x="8841102" y="7426"/>
            <a:ext cx="18361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按客户数量排序</a:t>
            </a:r>
          </a:p>
        </p:txBody>
      </p:sp>
      <p:sp>
        <p:nvSpPr>
          <p:cNvPr id="292" name="m-d05_donut_share-chip"/>
          <p:cNvSpPr/>
          <p:nvPr/>
        </p:nvSpPr>
        <p:spPr>
          <a:xfrm>
            <a:off x="8811292" y="101949"/>
            <a:ext cx="70294" cy="7029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93" name="m-d05_donut_share-chip-ring"/>
          <p:cNvSpPr/>
          <p:nvPr/>
        </p:nvSpPr>
        <p:spPr>
          <a:xfrm>
            <a:off x="8811292" y="101949"/>
            <a:ext cx="70294" cy="70294"/>
          </a:xfrm>
          <a:prstGeom prst="ellipse">
            <a:avLst/>
          </a:prstGeom>
          <a:noFill/>
          <a:ln w="2540" cap="rnd">
            <a:solidFill>
              <a:srgbClr val="0B3E8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94" name="m-d05_donut_share-icon-factory"/>
          <p:cNvSpPr/>
          <p:nvPr/>
        </p:nvSpPr>
        <p:spPr>
          <a:xfrm>
            <a:off x="8834310" y="131762"/>
            <a:ext cx="24257" cy="16320"/>
          </a:xfrm>
          <a:custGeom>
            <a:avLst/>
            <a:gdLst/>
            <a:ahLst/>
            <a:cxnLst/>
            <a:rect l="0" t="0" r="r" b="b"/>
            <a:pathLst>
              <a:path w="24257" h="16320">
                <a:moveTo>
                  <a:pt x="0" y="16320"/>
                </a:moveTo>
                <a:lnTo>
                  <a:pt x="0" y="3937"/>
                </a:lnTo>
                <a:lnTo>
                  <a:pt x="7048" y="8128"/>
                </a:lnTo>
                <a:lnTo>
                  <a:pt x="7048" y="3937"/>
                </a:lnTo>
                <a:lnTo>
                  <a:pt x="14097" y="8128"/>
                </a:lnTo>
                <a:lnTo>
                  <a:pt x="14097" y="0"/>
                </a:lnTo>
                <a:lnTo>
                  <a:pt x="21145" y="4191"/>
                </a:lnTo>
                <a:lnTo>
                  <a:pt x="21145" y="14923"/>
                </a:lnTo>
                <a:close/>
                <a:moveTo>
                  <a:pt x="0" y="16320"/>
                </a:moveTo>
                <a:lnTo>
                  <a:pt x="24257" y="16320"/>
                </a:lnTo>
              </a:path>
            </a:pathLst>
          </a:custGeom>
          <a:noFill/>
          <a:ln w="25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95" name="m-d05_donut_share-n-1"/>
          <p:cNvSpPr txBox="1"/>
          <p:nvPr/>
        </p:nvSpPr>
        <p:spPr>
          <a:xfrm>
            <a:off x="8905799" y="97133"/>
            <a:ext cx="106223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制造业</a:t>
            </a:r>
          </a:p>
        </p:txBody>
      </p:sp>
      <p:sp>
        <p:nvSpPr>
          <p:cNvPr id="296" name="m-d05_donut_share-c-1"/>
          <p:cNvSpPr txBox="1"/>
          <p:nvPr/>
        </p:nvSpPr>
        <p:spPr>
          <a:xfrm>
            <a:off x="8906580" y="141620"/>
            <a:ext cx="10544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4,284 家</a:t>
            </a:r>
          </a:p>
        </p:txBody>
      </p:sp>
      <p:sp>
        <p:nvSpPr>
          <p:cNvPr id="297" name="m-d05_donut_share-bg-1"/>
          <p:cNvSpPr/>
          <p:nvPr/>
        </p:nvSpPr>
        <p:spPr>
          <a:xfrm>
            <a:off x="9195308" y="116269"/>
            <a:ext cx="44259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98" name="m-d05_donut_share-bar-1"/>
          <p:cNvSpPr/>
          <p:nvPr/>
        </p:nvSpPr>
        <p:spPr>
          <a:xfrm>
            <a:off x="9195308" y="116269"/>
            <a:ext cx="442595" cy="13017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99" name="m-d05_donut_share-p-1"/>
          <p:cNvSpPr txBox="1"/>
          <p:nvPr/>
        </p:nvSpPr>
        <p:spPr>
          <a:xfrm>
            <a:off x="9690468" y="96521"/>
            <a:ext cx="75840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34%</a:t>
            </a:r>
          </a:p>
        </p:txBody>
      </p:sp>
      <p:cxnSp>
        <p:nvCxnSpPr>
          <p:cNvPr id="300" name="m-d05_donut_share-d-1"/>
          <p:cNvCxnSpPr/>
          <p:nvPr/>
        </p:nvCxnSpPr>
        <p:spPr>
          <a:xfrm>
            <a:off x="8908923" y="196977"/>
            <a:ext cx="853948" cy="0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1" name="m-d05_donut_share-chip"/>
          <p:cNvSpPr/>
          <p:nvPr/>
        </p:nvSpPr>
        <p:spPr>
          <a:xfrm>
            <a:off x="8811292" y="229521"/>
            <a:ext cx="70294" cy="7029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02" name="m-d05_donut_share-chip-ring"/>
          <p:cNvSpPr/>
          <p:nvPr/>
        </p:nvSpPr>
        <p:spPr>
          <a:xfrm>
            <a:off x="8811292" y="229521"/>
            <a:ext cx="70294" cy="70294"/>
          </a:xfrm>
          <a:prstGeom prst="ellipse">
            <a:avLst/>
          </a:prstGeom>
          <a:noFill/>
          <a:ln w="2540" cap="rnd">
            <a:solidFill>
              <a:srgbClr val="134C9C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03" name="m-d05_donut_share-icon-cart"/>
          <p:cNvSpPr/>
          <p:nvPr/>
        </p:nvSpPr>
        <p:spPr>
          <a:xfrm>
            <a:off x="8834056" y="254254"/>
            <a:ext cx="22415" cy="13208"/>
          </a:xfrm>
          <a:custGeom>
            <a:avLst/>
            <a:gdLst/>
            <a:ahLst/>
            <a:cxnLst/>
            <a:rect l="0" t="0" r="r" b="b"/>
            <a:pathLst>
              <a:path w="22415" h="13208">
                <a:moveTo>
                  <a:pt x="0" y="0"/>
                </a:moveTo>
                <a:lnTo>
                  <a:pt x="3238" y="0"/>
                </a:lnTo>
                <a:lnTo>
                  <a:pt x="6477" y="13208"/>
                </a:lnTo>
                <a:lnTo>
                  <a:pt x="19685" y="13208"/>
                </a:lnTo>
                <a:lnTo>
                  <a:pt x="22415" y="3937"/>
                </a:lnTo>
                <a:lnTo>
                  <a:pt x="4191" y="3937"/>
                </a:lnTo>
              </a:path>
            </a:pathLst>
          </a:custGeom>
          <a:noFill/>
          <a:ln w="254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04" name="m-d05_donut_share-icon-cart"/>
          <p:cNvSpPr/>
          <p:nvPr/>
        </p:nvSpPr>
        <p:spPr>
          <a:xfrm>
            <a:off x="8840798" y="271719"/>
            <a:ext cx="3949" cy="3949"/>
          </a:xfrm>
          <a:prstGeom prst="ellipse">
            <a:avLst/>
          </a:prstGeom>
          <a:noFill/>
          <a:ln w="254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05" name="m-d05_donut_share-icon-cart"/>
          <p:cNvSpPr/>
          <p:nvPr/>
        </p:nvSpPr>
        <p:spPr>
          <a:xfrm>
            <a:off x="8850952" y="271719"/>
            <a:ext cx="3949" cy="3949"/>
          </a:xfrm>
          <a:prstGeom prst="ellipse">
            <a:avLst/>
          </a:prstGeom>
          <a:noFill/>
          <a:ln w="254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06" name="m-d05_donut_share-n-2"/>
          <p:cNvSpPr txBox="1"/>
          <p:nvPr/>
        </p:nvSpPr>
        <p:spPr>
          <a:xfrm>
            <a:off x="8905799" y="224704"/>
            <a:ext cx="133820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零售连锁</a:t>
            </a:r>
          </a:p>
        </p:txBody>
      </p:sp>
      <p:sp>
        <p:nvSpPr>
          <p:cNvPr id="307" name="m-d05_donut_share-c-2"/>
          <p:cNvSpPr txBox="1"/>
          <p:nvPr/>
        </p:nvSpPr>
        <p:spPr>
          <a:xfrm>
            <a:off x="8906580" y="269192"/>
            <a:ext cx="10544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2,772 家</a:t>
            </a:r>
          </a:p>
        </p:txBody>
      </p:sp>
      <p:sp>
        <p:nvSpPr>
          <p:cNvPr id="308" name="m-d05_donut_share-bg-2"/>
          <p:cNvSpPr/>
          <p:nvPr/>
        </p:nvSpPr>
        <p:spPr>
          <a:xfrm>
            <a:off x="9195308" y="243840"/>
            <a:ext cx="44259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09" name="m-d05_donut_share-bar-2"/>
          <p:cNvSpPr/>
          <p:nvPr/>
        </p:nvSpPr>
        <p:spPr>
          <a:xfrm>
            <a:off x="9195308" y="243840"/>
            <a:ext cx="286385" cy="13017"/>
          </a:xfrm>
          <a:prstGeom prst="roundRect">
            <a:avLst>
              <a:gd name="adj" fmla="val 50000"/>
            </a:avLst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10" name="m-d05_donut_share-p-2"/>
          <p:cNvSpPr txBox="1"/>
          <p:nvPr/>
        </p:nvSpPr>
        <p:spPr>
          <a:xfrm>
            <a:off x="9690468" y="224092"/>
            <a:ext cx="75840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5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22%</a:t>
            </a:r>
          </a:p>
        </p:txBody>
      </p:sp>
      <p:cxnSp>
        <p:nvCxnSpPr>
          <p:cNvPr id="311" name="m-d05_donut_share-d-2"/>
          <p:cNvCxnSpPr/>
          <p:nvPr/>
        </p:nvCxnSpPr>
        <p:spPr>
          <a:xfrm>
            <a:off x="8908923" y="324548"/>
            <a:ext cx="853948" cy="0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2" name="m-d05_donut_share-chip"/>
          <p:cNvSpPr/>
          <p:nvPr/>
        </p:nvSpPr>
        <p:spPr>
          <a:xfrm>
            <a:off x="8811292" y="357092"/>
            <a:ext cx="70294" cy="7029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13" name="m-d05_donut_share-chip-ring"/>
          <p:cNvSpPr/>
          <p:nvPr/>
        </p:nvSpPr>
        <p:spPr>
          <a:xfrm>
            <a:off x="8811292" y="357092"/>
            <a:ext cx="70294" cy="70294"/>
          </a:xfrm>
          <a:prstGeom prst="ellipse">
            <a:avLst/>
          </a:prstGeom>
          <a:noFill/>
          <a:ln w="2540" cap="rnd">
            <a:solidFill>
              <a:srgbClr val="2468B6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14" name="m-d05_donut_share-icon-truck"/>
          <p:cNvSpPr/>
          <p:nvPr/>
        </p:nvSpPr>
        <p:spPr>
          <a:xfrm>
            <a:off x="8834564" y="384620"/>
            <a:ext cx="22288" cy="13843"/>
          </a:xfrm>
          <a:custGeom>
            <a:avLst/>
            <a:gdLst/>
            <a:ahLst/>
            <a:cxnLst/>
            <a:rect l="0" t="0" r="r" b="b"/>
            <a:pathLst>
              <a:path w="22288" h="13843">
                <a:moveTo>
                  <a:pt x="0" y="0"/>
                </a:moveTo>
                <a:lnTo>
                  <a:pt x="13589" y="0"/>
                </a:lnTo>
                <a:lnTo>
                  <a:pt x="13589" y="13843"/>
                </a:lnTo>
                <a:lnTo>
                  <a:pt x="0" y="13843"/>
                </a:lnTo>
                <a:close/>
                <a:moveTo>
                  <a:pt x="13589" y="5080"/>
                </a:moveTo>
                <a:lnTo>
                  <a:pt x="18352" y="5080"/>
                </a:lnTo>
                <a:lnTo>
                  <a:pt x="22288" y="9334"/>
                </a:lnTo>
                <a:lnTo>
                  <a:pt x="22288" y="13843"/>
                </a:lnTo>
                <a:lnTo>
                  <a:pt x="13589" y="13843"/>
                </a:lnTo>
                <a:close/>
              </a:path>
            </a:pathLst>
          </a:custGeom>
          <a:noFill/>
          <a:ln w="254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15" name="m-d05_donut_share-n-3"/>
          <p:cNvSpPr txBox="1"/>
          <p:nvPr/>
        </p:nvSpPr>
        <p:spPr>
          <a:xfrm>
            <a:off x="8905799" y="352276"/>
            <a:ext cx="133820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物流仓储</a:t>
            </a:r>
          </a:p>
        </p:txBody>
      </p:sp>
      <p:sp>
        <p:nvSpPr>
          <p:cNvPr id="316" name="m-d05_donut_share-c-3"/>
          <p:cNvSpPr txBox="1"/>
          <p:nvPr/>
        </p:nvSpPr>
        <p:spPr>
          <a:xfrm>
            <a:off x="8906580" y="396763"/>
            <a:ext cx="10544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2,016 家</a:t>
            </a:r>
          </a:p>
        </p:txBody>
      </p:sp>
      <p:sp>
        <p:nvSpPr>
          <p:cNvPr id="317" name="m-d05_donut_share-bg-3"/>
          <p:cNvSpPr/>
          <p:nvPr/>
        </p:nvSpPr>
        <p:spPr>
          <a:xfrm>
            <a:off x="9195308" y="371411"/>
            <a:ext cx="44259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18" name="m-d05_donut_share-bar-3"/>
          <p:cNvSpPr/>
          <p:nvPr/>
        </p:nvSpPr>
        <p:spPr>
          <a:xfrm>
            <a:off x="9195308" y="371411"/>
            <a:ext cx="208280" cy="13017"/>
          </a:xfrm>
          <a:prstGeom prst="roundRect">
            <a:avLst>
              <a:gd name="adj" fmla="val 50000"/>
            </a:avLst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19" name="m-d05_donut_share-p-3"/>
          <p:cNvSpPr txBox="1"/>
          <p:nvPr/>
        </p:nvSpPr>
        <p:spPr>
          <a:xfrm>
            <a:off x="9690468" y="351664"/>
            <a:ext cx="75840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5" normalizeH="0" baseline="0" noProof="0">
                <a:ln>
                  <a:noFill/>
                </a:ln>
                <a:solidFill>
                  <a:srgbClr val="2468B6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16%</a:t>
            </a:r>
          </a:p>
        </p:txBody>
      </p:sp>
      <p:cxnSp>
        <p:nvCxnSpPr>
          <p:cNvPr id="320" name="m-d05_donut_share-d-3"/>
          <p:cNvCxnSpPr/>
          <p:nvPr/>
        </p:nvCxnSpPr>
        <p:spPr>
          <a:xfrm>
            <a:off x="8908923" y="452120"/>
            <a:ext cx="853948" cy="0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1" name="m-d05_donut_share-chip"/>
          <p:cNvSpPr/>
          <p:nvPr/>
        </p:nvSpPr>
        <p:spPr>
          <a:xfrm>
            <a:off x="8811292" y="484664"/>
            <a:ext cx="70294" cy="7029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22" name="m-d05_donut_share-chip-ring"/>
          <p:cNvSpPr/>
          <p:nvPr/>
        </p:nvSpPr>
        <p:spPr>
          <a:xfrm>
            <a:off x="8811292" y="484664"/>
            <a:ext cx="70294" cy="70294"/>
          </a:xfrm>
          <a:prstGeom prst="ellipse">
            <a:avLst/>
          </a:prstGeom>
          <a:noFill/>
          <a:ln w="2540" cap="rnd">
            <a:solidFill>
              <a:srgbClr val="2E77C2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23" name="m-d05_donut_share-icon-coin"/>
          <p:cNvSpPr/>
          <p:nvPr/>
        </p:nvSpPr>
        <p:spPr>
          <a:xfrm>
            <a:off x="8837422" y="511937"/>
            <a:ext cx="18034" cy="15748"/>
          </a:xfrm>
          <a:custGeom>
            <a:avLst/>
            <a:gdLst/>
            <a:ahLst/>
            <a:cxnLst/>
            <a:rect l="0" t="0" r="r" b="b"/>
            <a:pathLst>
              <a:path w="18034" h="15748">
                <a:moveTo>
                  <a:pt x="9017" y="0"/>
                </a:moveTo>
                <a:cubicBezTo>
                  <a:pt x="3937" y="0"/>
                  <a:pt x="0" y="1397"/>
                  <a:pt x="0" y="3366"/>
                </a:cubicBezTo>
                <a:cubicBezTo>
                  <a:pt x="0" y="5334"/>
                  <a:pt x="3937" y="6731"/>
                  <a:pt x="9017" y="6731"/>
                </a:cubicBezTo>
                <a:cubicBezTo>
                  <a:pt x="14097" y="6731"/>
                  <a:pt x="18034" y="5334"/>
                  <a:pt x="18034" y="3366"/>
                </a:cubicBezTo>
                <a:cubicBezTo>
                  <a:pt x="18034" y="1397"/>
                  <a:pt x="14097" y="0"/>
                  <a:pt x="9017" y="0"/>
                </a:cubicBezTo>
                <a:close/>
                <a:moveTo>
                  <a:pt x="0" y="3366"/>
                </a:moveTo>
                <a:lnTo>
                  <a:pt x="0" y="12382"/>
                </a:lnTo>
                <a:cubicBezTo>
                  <a:pt x="0" y="14351"/>
                  <a:pt x="3937" y="15748"/>
                  <a:pt x="9017" y="15748"/>
                </a:cubicBezTo>
                <a:cubicBezTo>
                  <a:pt x="14097" y="15748"/>
                  <a:pt x="18034" y="14351"/>
                  <a:pt x="18034" y="12382"/>
                </a:cubicBezTo>
                <a:lnTo>
                  <a:pt x="18034" y="3366"/>
                </a:lnTo>
              </a:path>
            </a:pathLst>
          </a:custGeom>
          <a:noFill/>
          <a:ln w="254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24" name="m-d05_donut_share-n-4"/>
          <p:cNvSpPr txBox="1"/>
          <p:nvPr/>
        </p:nvSpPr>
        <p:spPr>
          <a:xfrm>
            <a:off x="8905799" y="479847"/>
            <a:ext cx="133820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金融机构</a:t>
            </a:r>
          </a:p>
        </p:txBody>
      </p:sp>
      <p:sp>
        <p:nvSpPr>
          <p:cNvPr id="325" name="m-d05_donut_share-c-4"/>
          <p:cNvSpPr txBox="1"/>
          <p:nvPr/>
        </p:nvSpPr>
        <p:spPr>
          <a:xfrm>
            <a:off x="8906580" y="524335"/>
            <a:ext cx="10544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1,512 家</a:t>
            </a:r>
          </a:p>
        </p:txBody>
      </p:sp>
      <p:sp>
        <p:nvSpPr>
          <p:cNvPr id="326" name="m-d05_donut_share-bg-4"/>
          <p:cNvSpPr/>
          <p:nvPr/>
        </p:nvSpPr>
        <p:spPr>
          <a:xfrm>
            <a:off x="9195308" y="498983"/>
            <a:ext cx="44259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27" name="m-d05_donut_share-bar-4"/>
          <p:cNvSpPr/>
          <p:nvPr/>
        </p:nvSpPr>
        <p:spPr>
          <a:xfrm>
            <a:off x="9195308" y="498983"/>
            <a:ext cx="156210" cy="13017"/>
          </a:xfrm>
          <a:prstGeom prst="roundRect">
            <a:avLst>
              <a:gd name="adj" fmla="val 50000"/>
            </a:avLst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28" name="m-d05_donut_share-p-4"/>
          <p:cNvSpPr txBox="1"/>
          <p:nvPr/>
        </p:nvSpPr>
        <p:spPr>
          <a:xfrm>
            <a:off x="9690468" y="479235"/>
            <a:ext cx="75840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5" normalizeH="0" baseline="0" noProof="0">
                <a:ln>
                  <a:noFill/>
                </a:ln>
                <a:solidFill>
                  <a:srgbClr val="2E77C2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12%</a:t>
            </a:r>
          </a:p>
        </p:txBody>
      </p:sp>
      <p:cxnSp>
        <p:nvCxnSpPr>
          <p:cNvPr id="329" name="m-d05_donut_share-d-4"/>
          <p:cNvCxnSpPr/>
          <p:nvPr/>
        </p:nvCxnSpPr>
        <p:spPr>
          <a:xfrm>
            <a:off x="8908923" y="579692"/>
            <a:ext cx="853948" cy="0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0" name="m-d05_donut_share-chip"/>
          <p:cNvSpPr/>
          <p:nvPr/>
        </p:nvSpPr>
        <p:spPr>
          <a:xfrm>
            <a:off x="8811292" y="612235"/>
            <a:ext cx="70294" cy="7029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31" name="m-d05_donut_share-chip-ring"/>
          <p:cNvSpPr/>
          <p:nvPr/>
        </p:nvSpPr>
        <p:spPr>
          <a:xfrm>
            <a:off x="8811292" y="612235"/>
            <a:ext cx="70294" cy="70294"/>
          </a:xfrm>
          <a:prstGeom prst="ellipse">
            <a:avLst/>
          </a:prstGeom>
          <a:noFill/>
          <a:ln w="2540" cap="rnd">
            <a:solidFill>
              <a:srgbClr val="4694D7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32" name="m-d05_donut_share-icon-flag"/>
          <p:cNvSpPr/>
          <p:nvPr/>
        </p:nvSpPr>
        <p:spPr>
          <a:xfrm>
            <a:off x="8837994" y="636397"/>
            <a:ext cx="13526" cy="23114"/>
          </a:xfrm>
          <a:custGeom>
            <a:avLst/>
            <a:gdLst/>
            <a:ahLst/>
            <a:cxnLst/>
            <a:rect l="0" t="0" r="r" b="b"/>
            <a:pathLst>
              <a:path w="13526" h="23114">
                <a:moveTo>
                  <a:pt x="0" y="23114"/>
                </a:moveTo>
                <a:lnTo>
                  <a:pt x="0" y="0"/>
                </a:lnTo>
                <a:moveTo>
                  <a:pt x="0" y="1143"/>
                </a:moveTo>
                <a:lnTo>
                  <a:pt x="13526" y="1143"/>
                </a:lnTo>
                <a:lnTo>
                  <a:pt x="11239" y="5652"/>
                </a:lnTo>
                <a:lnTo>
                  <a:pt x="13526" y="10160"/>
                </a:lnTo>
                <a:lnTo>
                  <a:pt x="0" y="10160"/>
                </a:lnTo>
              </a:path>
            </a:pathLst>
          </a:custGeom>
          <a:noFill/>
          <a:ln w="254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33" name="m-d05_donut_share-n-5"/>
          <p:cNvSpPr txBox="1"/>
          <p:nvPr/>
        </p:nvSpPr>
        <p:spPr>
          <a:xfrm>
            <a:off x="8905799" y="607419"/>
            <a:ext cx="161417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政府与公共</a:t>
            </a:r>
          </a:p>
        </p:txBody>
      </p:sp>
      <p:sp>
        <p:nvSpPr>
          <p:cNvPr id="334" name="m-d05_donut_share-c-5"/>
          <p:cNvSpPr txBox="1"/>
          <p:nvPr/>
        </p:nvSpPr>
        <p:spPr>
          <a:xfrm>
            <a:off x="8906580" y="651906"/>
            <a:ext cx="10544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1,260 家</a:t>
            </a:r>
          </a:p>
        </p:txBody>
      </p:sp>
      <p:sp>
        <p:nvSpPr>
          <p:cNvPr id="335" name="m-d05_donut_share-bg-5"/>
          <p:cNvSpPr/>
          <p:nvPr/>
        </p:nvSpPr>
        <p:spPr>
          <a:xfrm>
            <a:off x="9195308" y="626554"/>
            <a:ext cx="44259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36" name="m-d05_donut_share-bar-5"/>
          <p:cNvSpPr/>
          <p:nvPr/>
        </p:nvSpPr>
        <p:spPr>
          <a:xfrm>
            <a:off x="9195308" y="626554"/>
            <a:ext cx="130175" cy="13017"/>
          </a:xfrm>
          <a:prstGeom prst="roundRect">
            <a:avLst>
              <a:gd name="adj" fmla="val 50000"/>
            </a:avLst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37" name="m-d05_donut_share-p-5"/>
          <p:cNvSpPr txBox="1"/>
          <p:nvPr/>
        </p:nvSpPr>
        <p:spPr>
          <a:xfrm>
            <a:off x="9690468" y="606807"/>
            <a:ext cx="75840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5" normalizeH="0" baseline="0" noProof="0">
                <a:ln>
                  <a:noFill/>
                </a:ln>
                <a:solidFill>
                  <a:srgbClr val="4694D7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10%</a:t>
            </a:r>
          </a:p>
        </p:txBody>
      </p:sp>
      <p:cxnSp>
        <p:nvCxnSpPr>
          <p:cNvPr id="338" name="m-d05_donut_share-d-5"/>
          <p:cNvCxnSpPr/>
          <p:nvPr/>
        </p:nvCxnSpPr>
        <p:spPr>
          <a:xfrm>
            <a:off x="8908923" y="707263"/>
            <a:ext cx="853948" cy="0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9" name="m-d05_donut_share-chip"/>
          <p:cNvSpPr/>
          <p:nvPr/>
        </p:nvSpPr>
        <p:spPr>
          <a:xfrm>
            <a:off x="8811292" y="739807"/>
            <a:ext cx="70294" cy="7029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40" name="m-d05_donut_share-chip-ring"/>
          <p:cNvSpPr/>
          <p:nvPr/>
        </p:nvSpPr>
        <p:spPr>
          <a:xfrm>
            <a:off x="8811292" y="739807"/>
            <a:ext cx="70294" cy="70294"/>
          </a:xfrm>
          <a:prstGeom prst="ellipse">
            <a:avLst/>
          </a:prstGeom>
          <a:noFill/>
          <a:ln w="2540" cap="rnd">
            <a:solidFill>
              <a:srgbClr val="54A2D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41" name="m-d05_donut_share-icon-layers"/>
          <p:cNvSpPr/>
          <p:nvPr/>
        </p:nvSpPr>
        <p:spPr>
          <a:xfrm>
            <a:off x="8835136" y="763397"/>
            <a:ext cx="22606" cy="23431"/>
          </a:xfrm>
          <a:custGeom>
            <a:avLst/>
            <a:gdLst/>
            <a:ahLst/>
            <a:cxnLst/>
            <a:rect l="0" t="0" r="r" b="b"/>
            <a:pathLst>
              <a:path w="22606" h="23431">
                <a:moveTo>
                  <a:pt x="11303" y="0"/>
                </a:moveTo>
                <a:lnTo>
                  <a:pt x="22606" y="5906"/>
                </a:lnTo>
                <a:lnTo>
                  <a:pt x="11303" y="11875"/>
                </a:lnTo>
                <a:lnTo>
                  <a:pt x="0" y="5906"/>
                </a:lnTo>
                <a:close/>
                <a:moveTo>
                  <a:pt x="0" y="11875"/>
                </a:moveTo>
                <a:lnTo>
                  <a:pt x="11303" y="17780"/>
                </a:lnTo>
                <a:lnTo>
                  <a:pt x="22606" y="11875"/>
                </a:lnTo>
                <a:moveTo>
                  <a:pt x="0" y="17462"/>
                </a:moveTo>
                <a:lnTo>
                  <a:pt x="11303" y="23431"/>
                </a:lnTo>
                <a:lnTo>
                  <a:pt x="22606" y="17462"/>
                </a:lnTo>
              </a:path>
            </a:pathLst>
          </a:custGeom>
          <a:noFill/>
          <a:ln w="254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42" name="m-d05_donut_share-n-6"/>
          <p:cNvSpPr txBox="1"/>
          <p:nvPr/>
        </p:nvSpPr>
        <p:spPr>
          <a:xfrm>
            <a:off x="8905799" y="734990"/>
            <a:ext cx="133820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其他行业</a:t>
            </a:r>
          </a:p>
        </p:txBody>
      </p:sp>
      <p:sp>
        <p:nvSpPr>
          <p:cNvPr id="343" name="m-d05_donut_share-c-6"/>
          <p:cNvSpPr txBox="1"/>
          <p:nvPr/>
        </p:nvSpPr>
        <p:spPr>
          <a:xfrm>
            <a:off x="8906580" y="779478"/>
            <a:ext cx="82791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756 家</a:t>
            </a:r>
          </a:p>
        </p:txBody>
      </p:sp>
      <p:sp>
        <p:nvSpPr>
          <p:cNvPr id="344" name="m-d05_donut_share-bg-6"/>
          <p:cNvSpPr/>
          <p:nvPr/>
        </p:nvSpPr>
        <p:spPr>
          <a:xfrm>
            <a:off x="9195308" y="754126"/>
            <a:ext cx="44259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45" name="m-d05_donut_share-bar-6"/>
          <p:cNvSpPr/>
          <p:nvPr/>
        </p:nvSpPr>
        <p:spPr>
          <a:xfrm>
            <a:off x="9195308" y="754126"/>
            <a:ext cx="78105" cy="13017"/>
          </a:xfrm>
          <a:prstGeom prst="roundRect">
            <a:avLst>
              <a:gd name="adj" fmla="val 50000"/>
            </a:avLst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46" name="m-d05_donut_share-p-6"/>
          <p:cNvSpPr txBox="1"/>
          <p:nvPr/>
        </p:nvSpPr>
        <p:spPr>
          <a:xfrm>
            <a:off x="9707156" y="734378"/>
            <a:ext cx="59152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5" normalizeH="0" baseline="0" noProof="0">
                <a:ln>
                  <a:noFill/>
                </a:ln>
                <a:solidFill>
                  <a:srgbClr val="54A2D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6%</a:t>
            </a:r>
          </a:p>
        </p:txBody>
      </p:sp>
      <p:cxnSp>
        <p:nvCxnSpPr>
          <p:cNvPr id="347" name="m-d05_donut_share-foot-line"/>
          <p:cNvCxnSpPr/>
          <p:nvPr/>
        </p:nvCxnSpPr>
        <p:spPr>
          <a:xfrm>
            <a:off x="7523861" y="9441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8" name="m-d05_donut_share-foot-l"/>
          <p:cNvSpPr txBox="1"/>
          <p:nvPr/>
        </p:nvSpPr>
        <p:spPr>
          <a:xfrm>
            <a:off x="7521674" y="958123"/>
            <a:ext cx="21429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客户结构 · 六大行业</a:t>
            </a:r>
          </a:p>
        </p:txBody>
      </p:sp>
      <p:sp>
        <p:nvSpPr>
          <p:cNvPr id="349" name="m-d05_donut_share-foot-r"/>
          <p:cNvSpPr txBox="1"/>
          <p:nvPr/>
        </p:nvSpPr>
        <p:spPr>
          <a:xfrm>
            <a:off x="9526109" y="9581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350" name="mini-card-c05_radar"/>
          <p:cNvSpPr/>
          <p:nvPr/>
        </p:nvSpPr>
        <p:spPr>
          <a:xfrm>
            <a:off x="10020300" y="-3810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1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1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1" y="1405890"/>
                </a:lnTo>
                <a:cubicBezTo>
                  <a:pt x="35878" y="1405890"/>
                  <a:pt x="0" y="1370012"/>
                  <a:pt x="0" y="1325690"/>
                </a:cubicBezTo>
                <a:lnTo>
                  <a:pt x="0" y="80201"/>
                </a:lnTo>
                <a:cubicBezTo>
                  <a:pt x="0" y="35877"/>
                  <a:pt x="35878" y="0"/>
                  <a:pt x="80201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51" name="m-c05_radar-title-bar"/>
          <p:cNvSpPr/>
          <p:nvPr/>
        </p:nvSpPr>
        <p:spPr>
          <a:xfrm>
            <a:off x="10140061" y="-282067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52" name="m-c05_radar-title-bar-accent"/>
          <p:cNvSpPr/>
          <p:nvPr/>
        </p:nvSpPr>
        <p:spPr>
          <a:xfrm>
            <a:off x="10140061" y="-282067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53" name="m-c05_radar-title-cn"/>
          <p:cNvSpPr txBox="1"/>
          <p:nvPr/>
        </p:nvSpPr>
        <p:spPr>
          <a:xfrm>
            <a:off x="10172240" y="-299432"/>
            <a:ext cx="426453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竞品能力评估</a:t>
            </a:r>
          </a:p>
        </p:txBody>
      </p:sp>
      <p:sp>
        <p:nvSpPr>
          <p:cNvPr id="354" name="m-c05_radar-title-en"/>
          <p:cNvSpPr txBox="1"/>
          <p:nvPr/>
        </p:nvSpPr>
        <p:spPr>
          <a:xfrm>
            <a:off x="10179530" y="-212150"/>
            <a:ext cx="315076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CAPABILITY RADAR</a:t>
            </a:r>
          </a:p>
        </p:txBody>
      </p:sp>
      <p:sp>
        <p:nvSpPr>
          <p:cNvPr id="355" name="m-c05_radar-title-sub"/>
          <p:cNvSpPr txBox="1"/>
          <p:nvPr/>
        </p:nvSpPr>
        <p:spPr>
          <a:xfrm>
            <a:off x="11835799" y="-243008"/>
            <a:ext cx="566756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六个维度与两家主要竞品的量化对照（满分 10 分）</a:t>
            </a:r>
          </a:p>
        </p:txBody>
      </p:sp>
      <p:sp>
        <p:nvSpPr>
          <p:cNvPr id="356" name="m-c05_radar-grid-1"/>
          <p:cNvSpPr/>
          <p:nvPr/>
        </p:nvSpPr>
        <p:spPr>
          <a:xfrm>
            <a:off x="10868406" y="321945"/>
            <a:ext cx="126238" cy="145796"/>
          </a:xfrm>
          <a:custGeom>
            <a:avLst/>
            <a:gdLst/>
            <a:ahLst/>
            <a:cxnLst/>
            <a:rect l="0" t="0" r="r" b="b"/>
            <a:pathLst>
              <a:path w="126238" h="145796">
                <a:moveTo>
                  <a:pt x="63119" y="0"/>
                </a:moveTo>
                <a:lnTo>
                  <a:pt x="126238" y="36449"/>
                </a:lnTo>
                <a:lnTo>
                  <a:pt x="126238" y="109347"/>
                </a:lnTo>
                <a:lnTo>
                  <a:pt x="63119" y="145796"/>
                </a:lnTo>
                <a:lnTo>
                  <a:pt x="0" y="109347"/>
                </a:lnTo>
                <a:lnTo>
                  <a:pt x="0" y="36449"/>
                </a:lnTo>
                <a:close/>
              </a:path>
            </a:pathLst>
          </a:custGeom>
          <a:noFill/>
          <a:ln w="2540" cap="rnd">
            <a:solidFill>
              <a:srgbClr val="0B2545">
                <a:alpha val="9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57" name="m-c05_radar-grid-2"/>
          <p:cNvSpPr/>
          <p:nvPr/>
        </p:nvSpPr>
        <p:spPr>
          <a:xfrm>
            <a:off x="10805287" y="249047"/>
            <a:ext cx="252476" cy="291592"/>
          </a:xfrm>
          <a:custGeom>
            <a:avLst/>
            <a:gdLst/>
            <a:ahLst/>
            <a:cxnLst/>
            <a:rect l="0" t="0" r="r" b="b"/>
            <a:pathLst>
              <a:path w="252476" h="291592">
                <a:moveTo>
                  <a:pt x="126238" y="0"/>
                </a:moveTo>
                <a:lnTo>
                  <a:pt x="252476" y="72898"/>
                </a:lnTo>
                <a:lnTo>
                  <a:pt x="252476" y="218694"/>
                </a:lnTo>
                <a:lnTo>
                  <a:pt x="126238" y="291592"/>
                </a:lnTo>
                <a:lnTo>
                  <a:pt x="0" y="218694"/>
                </a:lnTo>
                <a:lnTo>
                  <a:pt x="0" y="72898"/>
                </a:lnTo>
                <a:close/>
              </a:path>
            </a:pathLst>
          </a:custGeom>
          <a:noFill/>
          <a:ln w="2540" cap="rnd">
            <a:solidFill>
              <a:srgbClr val="0B2545">
                <a:alpha val="9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58" name="m-c05_radar-grid-3"/>
          <p:cNvSpPr/>
          <p:nvPr/>
        </p:nvSpPr>
        <p:spPr>
          <a:xfrm>
            <a:off x="10742104" y="176149"/>
            <a:ext cx="378841" cy="437388"/>
          </a:xfrm>
          <a:custGeom>
            <a:avLst/>
            <a:gdLst/>
            <a:ahLst/>
            <a:cxnLst/>
            <a:rect l="0" t="0" r="r" b="b"/>
            <a:pathLst>
              <a:path w="378841" h="437388">
                <a:moveTo>
                  <a:pt x="189420" y="0"/>
                </a:moveTo>
                <a:lnTo>
                  <a:pt x="378841" y="109347"/>
                </a:lnTo>
                <a:lnTo>
                  <a:pt x="378841" y="328041"/>
                </a:lnTo>
                <a:lnTo>
                  <a:pt x="189420" y="437388"/>
                </a:lnTo>
                <a:lnTo>
                  <a:pt x="0" y="328041"/>
                </a:lnTo>
                <a:lnTo>
                  <a:pt x="0" y="109347"/>
                </a:lnTo>
                <a:close/>
              </a:path>
            </a:pathLst>
          </a:custGeom>
          <a:noFill/>
          <a:ln w="2540" cap="rnd">
            <a:solidFill>
              <a:srgbClr val="0B2545">
                <a:alpha val="9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59" name="m-c05_radar-grid-4"/>
          <p:cNvSpPr/>
          <p:nvPr/>
        </p:nvSpPr>
        <p:spPr>
          <a:xfrm>
            <a:off x="10678986" y="103251"/>
            <a:ext cx="505079" cy="583184"/>
          </a:xfrm>
          <a:custGeom>
            <a:avLst/>
            <a:gdLst/>
            <a:ahLst/>
            <a:cxnLst/>
            <a:rect l="0" t="0" r="r" b="b"/>
            <a:pathLst>
              <a:path w="505079" h="583184">
                <a:moveTo>
                  <a:pt x="252539" y="0"/>
                </a:moveTo>
                <a:lnTo>
                  <a:pt x="505079" y="145796"/>
                </a:lnTo>
                <a:lnTo>
                  <a:pt x="505079" y="437388"/>
                </a:lnTo>
                <a:lnTo>
                  <a:pt x="252539" y="583184"/>
                </a:lnTo>
                <a:lnTo>
                  <a:pt x="0" y="437388"/>
                </a:lnTo>
                <a:lnTo>
                  <a:pt x="0" y="145796"/>
                </a:lnTo>
                <a:close/>
              </a:path>
            </a:pathLst>
          </a:custGeom>
          <a:noFill/>
          <a:ln w="2540" cap="rnd">
            <a:solidFill>
              <a:srgbClr val="0B2545">
                <a:alpha val="9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60" name="m-c05_radar-grid-5"/>
          <p:cNvSpPr/>
          <p:nvPr/>
        </p:nvSpPr>
        <p:spPr>
          <a:xfrm>
            <a:off x="10615866" y="30353"/>
            <a:ext cx="631317" cy="728980"/>
          </a:xfrm>
          <a:custGeom>
            <a:avLst/>
            <a:gdLst/>
            <a:ahLst/>
            <a:cxnLst/>
            <a:rect l="0" t="0" r="r" b="b"/>
            <a:pathLst>
              <a:path w="631317" h="728980">
                <a:moveTo>
                  <a:pt x="315659" y="0"/>
                </a:moveTo>
                <a:lnTo>
                  <a:pt x="631317" y="182245"/>
                </a:lnTo>
                <a:lnTo>
                  <a:pt x="631317" y="546735"/>
                </a:lnTo>
                <a:lnTo>
                  <a:pt x="315659" y="728980"/>
                </a:lnTo>
                <a:lnTo>
                  <a:pt x="0" y="546735"/>
                </a:lnTo>
                <a:lnTo>
                  <a:pt x="0" y="182245"/>
                </a:lnTo>
                <a:close/>
              </a:path>
            </a:pathLst>
          </a:custGeom>
          <a:solidFill>
            <a:srgbClr val="FFFFFF">
              <a:alpha val="50000"/>
            </a:srgbClr>
          </a:solidFill>
          <a:ln w="2540" cap="rnd">
            <a:solidFill>
              <a:srgbClr val="0B2545">
                <a:alpha val="1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361" name="m-c05_radar-axis-1"/>
          <p:cNvCxnSpPr/>
          <p:nvPr/>
        </p:nvCxnSpPr>
        <p:spPr>
          <a:xfrm flipV="1">
            <a:off x="10931525" y="30353"/>
            <a:ext cx="0" cy="364490"/>
          </a:xfrm>
          <a:prstGeom prst="line">
            <a:avLst/>
          </a:prstGeom>
          <a:ln w="254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2" name="m-c05_radar-axl-1"/>
          <p:cNvSpPr txBox="1"/>
          <p:nvPr/>
        </p:nvSpPr>
        <p:spPr>
          <a:xfrm>
            <a:off x="10873630" y="-57662"/>
            <a:ext cx="115791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产品性能</a:t>
            </a:r>
          </a:p>
        </p:txBody>
      </p:sp>
      <p:cxnSp>
        <p:nvCxnSpPr>
          <p:cNvPr id="363" name="m-c05_radar-axis-2"/>
          <p:cNvCxnSpPr/>
          <p:nvPr/>
        </p:nvCxnSpPr>
        <p:spPr>
          <a:xfrm flipV="1">
            <a:off x="10931525" y="212598"/>
            <a:ext cx="315658" cy="182245"/>
          </a:xfrm>
          <a:prstGeom prst="line">
            <a:avLst/>
          </a:prstGeom>
          <a:ln w="254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4" name="m-c05_radar-axl-2"/>
          <p:cNvSpPr txBox="1"/>
          <p:nvPr/>
        </p:nvSpPr>
        <p:spPr>
          <a:xfrm>
            <a:off x="11303071" y="158429"/>
            <a:ext cx="139613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价格竞争力</a:t>
            </a:r>
          </a:p>
        </p:txBody>
      </p:sp>
      <p:cxnSp>
        <p:nvCxnSpPr>
          <p:cNvPr id="365" name="m-c05_radar-axis-3"/>
          <p:cNvCxnSpPr/>
          <p:nvPr/>
        </p:nvCxnSpPr>
        <p:spPr>
          <a:xfrm>
            <a:off x="10931525" y="394843"/>
            <a:ext cx="315658" cy="182245"/>
          </a:xfrm>
          <a:prstGeom prst="line">
            <a:avLst/>
          </a:prstGeom>
          <a:ln w="254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6" name="m-c05_radar-axl-3"/>
          <p:cNvSpPr txBox="1"/>
          <p:nvPr/>
        </p:nvSpPr>
        <p:spPr>
          <a:xfrm>
            <a:off x="11303071" y="590610"/>
            <a:ext cx="115791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交付速度</a:t>
            </a:r>
          </a:p>
        </p:txBody>
      </p:sp>
      <p:cxnSp>
        <p:nvCxnSpPr>
          <p:cNvPr id="367" name="m-c05_radar-axis-4"/>
          <p:cNvCxnSpPr/>
          <p:nvPr/>
        </p:nvCxnSpPr>
        <p:spPr>
          <a:xfrm>
            <a:off x="10931525" y="394843"/>
            <a:ext cx="0" cy="364490"/>
          </a:xfrm>
          <a:prstGeom prst="line">
            <a:avLst/>
          </a:prstGeom>
          <a:ln w="254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8" name="m-c05_radar-axl-4"/>
          <p:cNvSpPr txBox="1"/>
          <p:nvPr/>
        </p:nvSpPr>
        <p:spPr>
          <a:xfrm>
            <a:off x="10873630" y="806700"/>
            <a:ext cx="115791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服务响应</a:t>
            </a:r>
          </a:p>
        </p:txBody>
      </p:sp>
      <p:cxnSp>
        <p:nvCxnSpPr>
          <p:cNvPr id="369" name="m-c05_radar-axis-5"/>
          <p:cNvCxnSpPr/>
          <p:nvPr/>
        </p:nvCxnSpPr>
        <p:spPr>
          <a:xfrm flipH="1">
            <a:off x="10615867" y="394843"/>
            <a:ext cx="315658" cy="182245"/>
          </a:xfrm>
          <a:prstGeom prst="line">
            <a:avLst/>
          </a:prstGeom>
          <a:ln w="254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0" name="m-c05_radar-axl-5"/>
          <p:cNvSpPr txBox="1"/>
          <p:nvPr/>
        </p:nvSpPr>
        <p:spPr>
          <a:xfrm>
            <a:off x="10444188" y="590610"/>
            <a:ext cx="115791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生态开放</a:t>
            </a:r>
          </a:p>
        </p:txBody>
      </p:sp>
      <p:cxnSp>
        <p:nvCxnSpPr>
          <p:cNvPr id="371" name="m-c05_radar-axis-6"/>
          <p:cNvCxnSpPr/>
          <p:nvPr/>
        </p:nvCxnSpPr>
        <p:spPr>
          <a:xfrm flipH="1" flipV="1">
            <a:off x="10615867" y="212598"/>
            <a:ext cx="315658" cy="182245"/>
          </a:xfrm>
          <a:prstGeom prst="line">
            <a:avLst/>
          </a:prstGeom>
          <a:ln w="2540" cap="rnd">
            <a:solidFill>
              <a:srgbClr val="0B2545">
                <a:alpha val="1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2" name="m-c05_radar-axl-6"/>
          <p:cNvSpPr txBox="1"/>
          <p:nvPr/>
        </p:nvSpPr>
        <p:spPr>
          <a:xfrm>
            <a:off x="10444188" y="158429"/>
            <a:ext cx="115791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品牌影响</a:t>
            </a:r>
          </a:p>
        </p:txBody>
      </p:sp>
      <p:sp>
        <p:nvSpPr>
          <p:cNvPr id="373" name="m-c05_radar-area-1"/>
          <p:cNvSpPr/>
          <p:nvPr/>
        </p:nvSpPr>
        <p:spPr>
          <a:xfrm>
            <a:off x="10666349" y="103251"/>
            <a:ext cx="536638" cy="554038"/>
          </a:xfrm>
          <a:custGeom>
            <a:avLst/>
            <a:gdLst/>
            <a:ahLst/>
            <a:cxnLst/>
            <a:rect l="0" t="0" r="r" b="b"/>
            <a:pathLst>
              <a:path w="536638" h="554038">
                <a:moveTo>
                  <a:pt x="265176" y="0"/>
                </a:moveTo>
                <a:lnTo>
                  <a:pt x="536638" y="134874"/>
                </a:lnTo>
                <a:lnTo>
                  <a:pt x="467169" y="408241"/>
                </a:lnTo>
                <a:lnTo>
                  <a:pt x="265176" y="554038"/>
                </a:lnTo>
                <a:lnTo>
                  <a:pt x="82106" y="397319"/>
                </a:lnTo>
                <a:lnTo>
                  <a:pt x="0" y="138494"/>
                </a:lnTo>
                <a:close/>
              </a:path>
            </a:pathLst>
          </a:custGeom>
          <a:solidFill>
            <a:srgbClr val="3985CD">
              <a:alpha val="1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74" name="m-c05_radar-line-1"/>
          <p:cNvSpPr/>
          <p:nvPr/>
        </p:nvSpPr>
        <p:spPr>
          <a:xfrm>
            <a:off x="10666349" y="103251"/>
            <a:ext cx="536638" cy="554038"/>
          </a:xfrm>
          <a:custGeom>
            <a:avLst/>
            <a:gdLst/>
            <a:ahLst/>
            <a:cxnLst/>
            <a:rect l="0" t="0" r="r" b="b"/>
            <a:pathLst>
              <a:path w="536638" h="554038">
                <a:moveTo>
                  <a:pt x="265176" y="0"/>
                </a:moveTo>
                <a:lnTo>
                  <a:pt x="536638" y="134874"/>
                </a:lnTo>
                <a:lnTo>
                  <a:pt x="467169" y="408241"/>
                </a:lnTo>
                <a:lnTo>
                  <a:pt x="265176" y="554038"/>
                </a:lnTo>
                <a:lnTo>
                  <a:pt x="82106" y="397319"/>
                </a:lnTo>
                <a:lnTo>
                  <a:pt x="0" y="138494"/>
                </a:lnTo>
                <a:close/>
              </a:path>
            </a:pathLst>
          </a:custGeom>
          <a:noFill/>
          <a:ln w="3385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75" name="m-c05_radar-pt-1-1"/>
          <p:cNvSpPr/>
          <p:nvPr/>
        </p:nvSpPr>
        <p:spPr>
          <a:xfrm>
            <a:off x="10923714" y="95440"/>
            <a:ext cx="15621" cy="15621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76" name="m-c05_radar-pt-1-2"/>
          <p:cNvSpPr/>
          <p:nvPr/>
        </p:nvSpPr>
        <p:spPr>
          <a:xfrm>
            <a:off x="11195180" y="230302"/>
            <a:ext cx="15621" cy="15621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77" name="m-c05_radar-pt-1-3"/>
          <p:cNvSpPr/>
          <p:nvPr/>
        </p:nvSpPr>
        <p:spPr>
          <a:xfrm>
            <a:off x="11125735" y="503669"/>
            <a:ext cx="15621" cy="15621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78" name="m-c05_radar-pt-1-4"/>
          <p:cNvSpPr/>
          <p:nvPr/>
        </p:nvSpPr>
        <p:spPr>
          <a:xfrm>
            <a:off x="10923714" y="649465"/>
            <a:ext cx="15621" cy="15621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79" name="m-c05_radar-pt-1-5"/>
          <p:cNvSpPr/>
          <p:nvPr/>
        </p:nvSpPr>
        <p:spPr>
          <a:xfrm>
            <a:off x="10740633" y="492735"/>
            <a:ext cx="15621" cy="15621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80" name="m-c05_radar-pt-1-6"/>
          <p:cNvSpPr/>
          <p:nvPr/>
        </p:nvSpPr>
        <p:spPr>
          <a:xfrm>
            <a:off x="10658562" y="233947"/>
            <a:ext cx="15621" cy="15621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81" name="m-c05_radar-area-2"/>
          <p:cNvSpPr/>
          <p:nvPr/>
        </p:nvSpPr>
        <p:spPr>
          <a:xfrm>
            <a:off x="10672699" y="59499"/>
            <a:ext cx="536575" cy="663384"/>
          </a:xfrm>
          <a:custGeom>
            <a:avLst/>
            <a:gdLst/>
            <a:ahLst/>
            <a:cxnLst/>
            <a:rect l="0" t="0" r="r" b="b"/>
            <a:pathLst>
              <a:path w="536575" h="663384">
                <a:moveTo>
                  <a:pt x="258826" y="0"/>
                </a:moveTo>
                <a:lnTo>
                  <a:pt x="492442" y="200470"/>
                </a:lnTo>
                <a:lnTo>
                  <a:pt x="536575" y="495744"/>
                </a:lnTo>
                <a:lnTo>
                  <a:pt x="258826" y="663384"/>
                </a:lnTo>
                <a:lnTo>
                  <a:pt x="0" y="484759"/>
                </a:lnTo>
                <a:lnTo>
                  <a:pt x="37846" y="207772"/>
                </a:lnTo>
                <a:close/>
              </a:path>
            </a:pathLst>
          </a:custGeom>
          <a:solidFill>
            <a:srgbClr val="0B3E8F">
              <a:alpha val="3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82" name="m-c05_radar-line-2"/>
          <p:cNvSpPr/>
          <p:nvPr/>
        </p:nvSpPr>
        <p:spPr>
          <a:xfrm>
            <a:off x="10672699" y="59499"/>
            <a:ext cx="536575" cy="663384"/>
          </a:xfrm>
          <a:custGeom>
            <a:avLst/>
            <a:gdLst/>
            <a:ahLst/>
            <a:cxnLst/>
            <a:rect l="0" t="0" r="r" b="b"/>
            <a:pathLst>
              <a:path w="536575" h="663384">
                <a:moveTo>
                  <a:pt x="258826" y="0"/>
                </a:moveTo>
                <a:lnTo>
                  <a:pt x="492442" y="200470"/>
                </a:lnTo>
                <a:lnTo>
                  <a:pt x="536575" y="495744"/>
                </a:lnTo>
                <a:lnTo>
                  <a:pt x="258826" y="663384"/>
                </a:lnTo>
                <a:lnTo>
                  <a:pt x="0" y="484759"/>
                </a:lnTo>
                <a:lnTo>
                  <a:pt x="37846" y="207772"/>
                </a:lnTo>
                <a:close/>
              </a:path>
            </a:pathLst>
          </a:custGeom>
          <a:noFill/>
          <a:ln w="338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83" name="m-c05_radar-pt-2-1"/>
          <p:cNvSpPr/>
          <p:nvPr/>
        </p:nvSpPr>
        <p:spPr>
          <a:xfrm>
            <a:off x="10923714" y="51702"/>
            <a:ext cx="15621" cy="15621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84" name="m-c05_radar-pt-2-2"/>
          <p:cNvSpPr/>
          <p:nvPr/>
        </p:nvSpPr>
        <p:spPr>
          <a:xfrm>
            <a:off x="11157301" y="252171"/>
            <a:ext cx="15621" cy="15621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85" name="m-c05_radar-pt-2-3"/>
          <p:cNvSpPr/>
          <p:nvPr/>
        </p:nvSpPr>
        <p:spPr>
          <a:xfrm>
            <a:off x="11201493" y="547408"/>
            <a:ext cx="15621" cy="15621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86" name="m-c05_radar-pt-2-4"/>
          <p:cNvSpPr/>
          <p:nvPr/>
        </p:nvSpPr>
        <p:spPr>
          <a:xfrm>
            <a:off x="10923714" y="715074"/>
            <a:ext cx="15621" cy="15621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87" name="m-c05_radar-pt-2-5"/>
          <p:cNvSpPr/>
          <p:nvPr/>
        </p:nvSpPr>
        <p:spPr>
          <a:xfrm>
            <a:off x="10664875" y="536473"/>
            <a:ext cx="15621" cy="15621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88" name="m-c05_radar-pt-2-6"/>
          <p:cNvSpPr/>
          <p:nvPr/>
        </p:nvSpPr>
        <p:spPr>
          <a:xfrm>
            <a:off x="10702754" y="259461"/>
            <a:ext cx="15621" cy="15621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89" name="m-c05_radar-tickbg-2"/>
          <p:cNvSpPr/>
          <p:nvPr/>
        </p:nvSpPr>
        <p:spPr>
          <a:xfrm>
            <a:off x="10936732" y="232092"/>
            <a:ext cx="44260" cy="31242"/>
          </a:xfrm>
          <a:custGeom>
            <a:avLst/>
            <a:gdLst/>
            <a:ahLst/>
            <a:cxnLst/>
            <a:rect l="0" t="0" r="r" b="b"/>
            <a:pathLst>
              <a:path w="44260" h="31242">
                <a:moveTo>
                  <a:pt x="15621" y="0"/>
                </a:moveTo>
                <a:lnTo>
                  <a:pt x="28638" y="0"/>
                </a:lnTo>
                <a:cubicBezTo>
                  <a:pt x="37275" y="0"/>
                  <a:pt x="44260" y="7048"/>
                  <a:pt x="44260" y="15685"/>
                </a:cubicBezTo>
                <a:lnTo>
                  <a:pt x="44260" y="15685"/>
                </a:lnTo>
                <a:cubicBezTo>
                  <a:pt x="44260" y="24257"/>
                  <a:pt x="37275" y="31242"/>
                  <a:pt x="28638" y="31242"/>
                </a:cubicBezTo>
                <a:lnTo>
                  <a:pt x="15621" y="31242"/>
                </a:lnTo>
                <a:cubicBezTo>
                  <a:pt x="6985" y="31242"/>
                  <a:pt x="0" y="24257"/>
                  <a:pt x="0" y="15685"/>
                </a:cubicBezTo>
                <a:lnTo>
                  <a:pt x="0" y="15685"/>
                </a:lnTo>
                <a:cubicBezTo>
                  <a:pt x="0" y="7048"/>
                  <a:pt x="6985" y="0"/>
                  <a:pt x="15621" y="0"/>
                </a:cubicBezTo>
                <a:close/>
              </a:path>
            </a:pathLst>
          </a:custGeom>
          <a:solidFill>
            <a:srgbClr val="FFFFFF">
              <a:alpha val="8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90" name="m-c05_radar-tick-2"/>
          <p:cNvSpPr txBox="1"/>
          <p:nvPr/>
        </p:nvSpPr>
        <p:spPr>
          <a:xfrm>
            <a:off x="10945558" y="233048"/>
            <a:ext cx="2660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391" name="m-c05_radar-tickbg-4"/>
          <p:cNvSpPr/>
          <p:nvPr/>
        </p:nvSpPr>
        <p:spPr>
          <a:xfrm>
            <a:off x="10936732" y="86296"/>
            <a:ext cx="44260" cy="31306"/>
          </a:xfrm>
          <a:custGeom>
            <a:avLst/>
            <a:gdLst/>
            <a:ahLst/>
            <a:cxnLst/>
            <a:rect l="0" t="0" r="r" b="b"/>
            <a:pathLst>
              <a:path w="44260" h="31306">
                <a:moveTo>
                  <a:pt x="15621" y="0"/>
                </a:moveTo>
                <a:lnTo>
                  <a:pt x="28638" y="0"/>
                </a:lnTo>
                <a:cubicBezTo>
                  <a:pt x="37275" y="0"/>
                  <a:pt x="44260" y="7048"/>
                  <a:pt x="44260" y="15621"/>
                </a:cubicBezTo>
                <a:lnTo>
                  <a:pt x="44260" y="15621"/>
                </a:lnTo>
                <a:cubicBezTo>
                  <a:pt x="44260" y="24257"/>
                  <a:pt x="37275" y="31306"/>
                  <a:pt x="28638" y="31306"/>
                </a:cubicBezTo>
                <a:lnTo>
                  <a:pt x="15621" y="31306"/>
                </a:lnTo>
                <a:cubicBezTo>
                  <a:pt x="6985" y="31306"/>
                  <a:pt x="0" y="24257"/>
                  <a:pt x="0" y="15621"/>
                </a:cubicBezTo>
                <a:lnTo>
                  <a:pt x="0" y="15621"/>
                </a:lnTo>
                <a:cubicBezTo>
                  <a:pt x="0" y="7048"/>
                  <a:pt x="6985" y="0"/>
                  <a:pt x="15621" y="0"/>
                </a:cubicBezTo>
                <a:close/>
              </a:path>
            </a:pathLst>
          </a:custGeom>
          <a:solidFill>
            <a:srgbClr val="FFFFFF">
              <a:alpha val="8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92" name="m-c05_radar-tick-4"/>
          <p:cNvSpPr txBox="1"/>
          <p:nvPr/>
        </p:nvSpPr>
        <p:spPr>
          <a:xfrm>
            <a:off x="10945558" y="87252"/>
            <a:ext cx="2660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</a:t>
            </a:r>
          </a:p>
        </p:txBody>
      </p:sp>
      <p:sp>
        <p:nvSpPr>
          <p:cNvPr id="393" name="m-c05_radar-side-bar"/>
          <p:cNvSpPr/>
          <p:nvPr/>
        </p:nvSpPr>
        <p:spPr>
          <a:xfrm>
            <a:off x="11647488" y="-50356"/>
            <a:ext cx="6509" cy="135382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94" name="m-c05_radar-side-h"/>
          <p:cNvSpPr txBox="1"/>
          <p:nvPr/>
        </p:nvSpPr>
        <p:spPr>
          <a:xfrm>
            <a:off x="11685238" y="-46288"/>
            <a:ext cx="169878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综合评分</a:t>
            </a:r>
          </a:p>
        </p:txBody>
      </p:sp>
      <p:sp>
        <p:nvSpPr>
          <p:cNvPr id="395" name="m-c05_radar-lg-1"/>
          <p:cNvSpPr/>
          <p:nvPr/>
        </p:nvSpPr>
        <p:spPr>
          <a:xfrm>
            <a:off x="11689144" y="30353"/>
            <a:ext cx="26035" cy="13017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96" name="m-c05_radar-lgt-1"/>
          <p:cNvSpPr txBox="1"/>
          <p:nvPr/>
        </p:nvSpPr>
        <p:spPr>
          <a:xfrm>
            <a:off x="11725619" y="16844"/>
            <a:ext cx="85330" cy="37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本公司</a:t>
            </a:r>
          </a:p>
        </p:txBody>
      </p:sp>
      <p:sp>
        <p:nvSpPr>
          <p:cNvPr id="397" name="m-c05_radar-avg-1"/>
          <p:cNvSpPr txBox="1"/>
          <p:nvPr/>
        </p:nvSpPr>
        <p:spPr>
          <a:xfrm>
            <a:off x="11683832" y="51194"/>
            <a:ext cx="116142" cy="7745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5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8.3</a:t>
            </a:r>
          </a:p>
        </p:txBody>
      </p:sp>
      <p:sp>
        <p:nvSpPr>
          <p:cNvPr id="398" name="m-c05_radar-lg-2"/>
          <p:cNvSpPr/>
          <p:nvPr/>
        </p:nvSpPr>
        <p:spPr>
          <a:xfrm>
            <a:off x="11991150" y="30353"/>
            <a:ext cx="26035" cy="13017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99" name="m-c05_radar-lgt-2"/>
          <p:cNvSpPr txBox="1"/>
          <p:nvPr/>
        </p:nvSpPr>
        <p:spPr>
          <a:xfrm>
            <a:off x="12027625" y="16844"/>
            <a:ext cx="88428" cy="37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竞品 A</a:t>
            </a:r>
          </a:p>
        </p:txBody>
      </p:sp>
      <p:sp>
        <p:nvSpPr>
          <p:cNvPr id="400" name="m-c05_radar-avg-2"/>
          <p:cNvSpPr txBox="1"/>
          <p:nvPr/>
        </p:nvSpPr>
        <p:spPr>
          <a:xfrm>
            <a:off x="11985838" y="51194"/>
            <a:ext cx="116142" cy="7745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50" b="1" i="0" u="none" strike="noStrike" kern="1200" cap="none" spc="5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7.4</a:t>
            </a:r>
          </a:p>
        </p:txBody>
      </p:sp>
      <p:cxnSp>
        <p:nvCxnSpPr>
          <p:cNvPr id="401" name="m-c05_radar-div"/>
          <p:cNvCxnSpPr/>
          <p:nvPr/>
        </p:nvCxnSpPr>
        <p:spPr>
          <a:xfrm>
            <a:off x="11647488" y="155321"/>
            <a:ext cx="731583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2" name="m-c05_radar-rl-1"/>
          <p:cNvSpPr txBox="1"/>
          <p:nvPr/>
        </p:nvSpPr>
        <p:spPr>
          <a:xfrm>
            <a:off x="11644910" y="191279"/>
            <a:ext cx="107850" cy="37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产品性能</a:t>
            </a:r>
          </a:p>
        </p:txBody>
      </p:sp>
      <p:sp>
        <p:nvSpPr>
          <p:cNvPr id="403" name="m-c05_radar-bg-1-1"/>
          <p:cNvSpPr/>
          <p:nvPr/>
        </p:nvSpPr>
        <p:spPr>
          <a:xfrm>
            <a:off x="11889613" y="238633"/>
            <a:ext cx="39052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04" name="m-c05_radar-bar-1-1"/>
          <p:cNvSpPr/>
          <p:nvPr/>
        </p:nvSpPr>
        <p:spPr>
          <a:xfrm>
            <a:off x="11889613" y="238633"/>
            <a:ext cx="359283" cy="13017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05" name="m-c05_radar-bv-1-1"/>
          <p:cNvSpPr txBox="1"/>
          <p:nvPr/>
        </p:nvSpPr>
        <p:spPr>
          <a:xfrm>
            <a:off x="12332638" y="228339"/>
            <a:ext cx="48698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9.2</a:t>
            </a:r>
          </a:p>
        </p:txBody>
      </p:sp>
      <p:sp>
        <p:nvSpPr>
          <p:cNvPr id="406" name="m-c05_radar-bg-1-2"/>
          <p:cNvSpPr/>
          <p:nvPr/>
        </p:nvSpPr>
        <p:spPr>
          <a:xfrm>
            <a:off x="11889613" y="264668"/>
            <a:ext cx="39052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07" name="m-c05_radar-bar-1-2"/>
          <p:cNvSpPr/>
          <p:nvPr/>
        </p:nvSpPr>
        <p:spPr>
          <a:xfrm>
            <a:off x="11889613" y="264668"/>
            <a:ext cx="312420" cy="13017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08" name="m-c05_radar-bv-1-2"/>
          <p:cNvSpPr txBox="1"/>
          <p:nvPr/>
        </p:nvSpPr>
        <p:spPr>
          <a:xfrm>
            <a:off x="12332638" y="254374"/>
            <a:ext cx="48698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8.0</a:t>
            </a:r>
          </a:p>
        </p:txBody>
      </p:sp>
      <p:sp>
        <p:nvSpPr>
          <p:cNvPr id="409" name="m-c05_radar-rl-2"/>
          <p:cNvSpPr txBox="1"/>
          <p:nvPr/>
        </p:nvSpPr>
        <p:spPr>
          <a:xfrm>
            <a:off x="11644910" y="300626"/>
            <a:ext cx="129980" cy="37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价格竞争力</a:t>
            </a:r>
          </a:p>
        </p:txBody>
      </p:sp>
      <p:sp>
        <p:nvSpPr>
          <p:cNvPr id="410" name="m-c05_radar-bg-2-1"/>
          <p:cNvSpPr/>
          <p:nvPr/>
        </p:nvSpPr>
        <p:spPr>
          <a:xfrm>
            <a:off x="11889613" y="347980"/>
            <a:ext cx="39052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11" name="m-c05_radar-bar-2-1"/>
          <p:cNvSpPr/>
          <p:nvPr/>
        </p:nvSpPr>
        <p:spPr>
          <a:xfrm>
            <a:off x="11889613" y="347980"/>
            <a:ext cx="288988" cy="13017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12" name="m-c05_radar-bv-2-1"/>
          <p:cNvSpPr txBox="1"/>
          <p:nvPr/>
        </p:nvSpPr>
        <p:spPr>
          <a:xfrm>
            <a:off x="12332638" y="337686"/>
            <a:ext cx="48698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7.4</a:t>
            </a:r>
          </a:p>
        </p:txBody>
      </p:sp>
      <p:sp>
        <p:nvSpPr>
          <p:cNvPr id="413" name="m-c05_radar-bg-2-2"/>
          <p:cNvSpPr/>
          <p:nvPr/>
        </p:nvSpPr>
        <p:spPr>
          <a:xfrm>
            <a:off x="11889613" y="374015"/>
            <a:ext cx="39052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14" name="m-c05_radar-bar-2-2"/>
          <p:cNvSpPr/>
          <p:nvPr/>
        </p:nvSpPr>
        <p:spPr>
          <a:xfrm>
            <a:off x="11889613" y="374015"/>
            <a:ext cx="335851" cy="13017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15" name="m-c05_radar-bv-2-2"/>
          <p:cNvSpPr txBox="1"/>
          <p:nvPr/>
        </p:nvSpPr>
        <p:spPr>
          <a:xfrm>
            <a:off x="12332638" y="363721"/>
            <a:ext cx="48698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8.6</a:t>
            </a:r>
          </a:p>
        </p:txBody>
      </p:sp>
      <p:sp>
        <p:nvSpPr>
          <p:cNvPr id="416" name="m-c05_radar-rl-3"/>
          <p:cNvSpPr txBox="1"/>
          <p:nvPr/>
        </p:nvSpPr>
        <p:spPr>
          <a:xfrm>
            <a:off x="11644910" y="409973"/>
            <a:ext cx="107850" cy="37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交付速度</a:t>
            </a:r>
          </a:p>
        </p:txBody>
      </p:sp>
      <p:sp>
        <p:nvSpPr>
          <p:cNvPr id="417" name="m-c05_radar-bg-3-1"/>
          <p:cNvSpPr/>
          <p:nvPr/>
        </p:nvSpPr>
        <p:spPr>
          <a:xfrm>
            <a:off x="11889613" y="457327"/>
            <a:ext cx="39052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18" name="m-c05_radar-bar-3-1"/>
          <p:cNvSpPr/>
          <p:nvPr/>
        </p:nvSpPr>
        <p:spPr>
          <a:xfrm>
            <a:off x="11889613" y="457327"/>
            <a:ext cx="343662" cy="13017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19" name="m-c05_radar-bv-3-1"/>
          <p:cNvSpPr txBox="1"/>
          <p:nvPr/>
        </p:nvSpPr>
        <p:spPr>
          <a:xfrm>
            <a:off x="12332638" y="447033"/>
            <a:ext cx="48698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8.8</a:t>
            </a:r>
          </a:p>
        </p:txBody>
      </p:sp>
      <p:sp>
        <p:nvSpPr>
          <p:cNvPr id="420" name="m-c05_radar-bg-3-2"/>
          <p:cNvSpPr/>
          <p:nvPr/>
        </p:nvSpPr>
        <p:spPr>
          <a:xfrm>
            <a:off x="11889613" y="483362"/>
            <a:ext cx="39052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21" name="m-c05_radar-bar-3-2"/>
          <p:cNvSpPr/>
          <p:nvPr/>
        </p:nvSpPr>
        <p:spPr>
          <a:xfrm>
            <a:off x="11889613" y="483362"/>
            <a:ext cx="249936" cy="13017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22" name="m-c05_radar-bv-3-2"/>
          <p:cNvSpPr txBox="1"/>
          <p:nvPr/>
        </p:nvSpPr>
        <p:spPr>
          <a:xfrm>
            <a:off x="12332638" y="473068"/>
            <a:ext cx="48698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6.4</a:t>
            </a:r>
          </a:p>
        </p:txBody>
      </p:sp>
      <p:sp>
        <p:nvSpPr>
          <p:cNvPr id="423" name="m-c05_radar-rl-4"/>
          <p:cNvSpPr txBox="1"/>
          <p:nvPr/>
        </p:nvSpPr>
        <p:spPr>
          <a:xfrm>
            <a:off x="11644910" y="519320"/>
            <a:ext cx="107850" cy="37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服务响应</a:t>
            </a:r>
          </a:p>
        </p:txBody>
      </p:sp>
      <p:sp>
        <p:nvSpPr>
          <p:cNvPr id="424" name="m-c05_radar-bg-4-1"/>
          <p:cNvSpPr/>
          <p:nvPr/>
        </p:nvSpPr>
        <p:spPr>
          <a:xfrm>
            <a:off x="11889613" y="566674"/>
            <a:ext cx="39052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25" name="m-c05_radar-bar-4-1"/>
          <p:cNvSpPr/>
          <p:nvPr/>
        </p:nvSpPr>
        <p:spPr>
          <a:xfrm>
            <a:off x="11889613" y="566674"/>
            <a:ext cx="351472" cy="13017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26" name="m-c05_radar-bv-4-1"/>
          <p:cNvSpPr txBox="1"/>
          <p:nvPr/>
        </p:nvSpPr>
        <p:spPr>
          <a:xfrm>
            <a:off x="12332638" y="556380"/>
            <a:ext cx="48698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9.0</a:t>
            </a:r>
          </a:p>
        </p:txBody>
      </p:sp>
      <p:sp>
        <p:nvSpPr>
          <p:cNvPr id="427" name="m-c05_radar-bg-4-2"/>
          <p:cNvSpPr/>
          <p:nvPr/>
        </p:nvSpPr>
        <p:spPr>
          <a:xfrm>
            <a:off x="11889613" y="592709"/>
            <a:ext cx="39052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28" name="m-c05_radar-bar-4-2"/>
          <p:cNvSpPr/>
          <p:nvPr/>
        </p:nvSpPr>
        <p:spPr>
          <a:xfrm>
            <a:off x="11889613" y="592709"/>
            <a:ext cx="281178" cy="13017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29" name="m-c05_radar-bv-4-2"/>
          <p:cNvSpPr txBox="1"/>
          <p:nvPr/>
        </p:nvSpPr>
        <p:spPr>
          <a:xfrm>
            <a:off x="12332638" y="582415"/>
            <a:ext cx="48698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7.2</a:t>
            </a:r>
          </a:p>
        </p:txBody>
      </p:sp>
      <p:sp>
        <p:nvSpPr>
          <p:cNvPr id="430" name="m-c05_radar-rl-5"/>
          <p:cNvSpPr txBox="1"/>
          <p:nvPr/>
        </p:nvSpPr>
        <p:spPr>
          <a:xfrm>
            <a:off x="11644910" y="628667"/>
            <a:ext cx="107850" cy="37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生态开放</a:t>
            </a:r>
          </a:p>
        </p:txBody>
      </p:sp>
      <p:sp>
        <p:nvSpPr>
          <p:cNvPr id="431" name="m-c05_radar-bg-5-1"/>
          <p:cNvSpPr/>
          <p:nvPr/>
        </p:nvSpPr>
        <p:spPr>
          <a:xfrm>
            <a:off x="11889613" y="676021"/>
            <a:ext cx="39052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32" name="m-c05_radar-bar-5-1"/>
          <p:cNvSpPr/>
          <p:nvPr/>
        </p:nvSpPr>
        <p:spPr>
          <a:xfrm>
            <a:off x="11889613" y="676021"/>
            <a:ext cx="320230" cy="13017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33" name="m-c05_radar-bv-5-1"/>
          <p:cNvSpPr txBox="1"/>
          <p:nvPr/>
        </p:nvSpPr>
        <p:spPr>
          <a:xfrm>
            <a:off x="12332638" y="665727"/>
            <a:ext cx="48698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8.2</a:t>
            </a:r>
          </a:p>
        </p:txBody>
      </p:sp>
      <p:sp>
        <p:nvSpPr>
          <p:cNvPr id="434" name="m-c05_radar-bg-5-2"/>
          <p:cNvSpPr/>
          <p:nvPr/>
        </p:nvSpPr>
        <p:spPr>
          <a:xfrm>
            <a:off x="11889613" y="702056"/>
            <a:ext cx="39052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35" name="m-c05_radar-bar-5-2"/>
          <p:cNvSpPr/>
          <p:nvPr/>
        </p:nvSpPr>
        <p:spPr>
          <a:xfrm>
            <a:off x="11889613" y="702056"/>
            <a:ext cx="226504" cy="13017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36" name="m-c05_radar-bv-5-2"/>
          <p:cNvSpPr txBox="1"/>
          <p:nvPr/>
        </p:nvSpPr>
        <p:spPr>
          <a:xfrm>
            <a:off x="12332638" y="691762"/>
            <a:ext cx="48698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5.8</a:t>
            </a:r>
          </a:p>
        </p:txBody>
      </p:sp>
      <p:sp>
        <p:nvSpPr>
          <p:cNvPr id="437" name="m-c05_radar-rl-6"/>
          <p:cNvSpPr txBox="1"/>
          <p:nvPr/>
        </p:nvSpPr>
        <p:spPr>
          <a:xfrm>
            <a:off x="11644910" y="738014"/>
            <a:ext cx="107850" cy="37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品牌影响</a:t>
            </a:r>
          </a:p>
        </p:txBody>
      </p:sp>
      <p:sp>
        <p:nvSpPr>
          <p:cNvPr id="438" name="m-c05_radar-bg-6-1"/>
          <p:cNvSpPr/>
          <p:nvPr/>
        </p:nvSpPr>
        <p:spPr>
          <a:xfrm>
            <a:off x="11889613" y="785368"/>
            <a:ext cx="39052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39" name="m-c05_radar-bar-6-1"/>
          <p:cNvSpPr/>
          <p:nvPr/>
        </p:nvSpPr>
        <p:spPr>
          <a:xfrm>
            <a:off x="11889613" y="785368"/>
            <a:ext cx="273368" cy="13017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40" name="m-c05_radar-bv-6-1"/>
          <p:cNvSpPr txBox="1"/>
          <p:nvPr/>
        </p:nvSpPr>
        <p:spPr>
          <a:xfrm>
            <a:off x="12332638" y="775074"/>
            <a:ext cx="48698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7.0</a:t>
            </a:r>
          </a:p>
        </p:txBody>
      </p:sp>
      <p:sp>
        <p:nvSpPr>
          <p:cNvPr id="441" name="m-c05_radar-bg-6-2"/>
          <p:cNvSpPr/>
          <p:nvPr/>
        </p:nvSpPr>
        <p:spPr>
          <a:xfrm>
            <a:off x="11889613" y="811403"/>
            <a:ext cx="390525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42" name="m-c05_radar-bar-6-2"/>
          <p:cNvSpPr/>
          <p:nvPr/>
        </p:nvSpPr>
        <p:spPr>
          <a:xfrm>
            <a:off x="11889613" y="811403"/>
            <a:ext cx="328041" cy="13017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43" name="m-c05_radar-bv-6-2"/>
          <p:cNvSpPr txBox="1"/>
          <p:nvPr/>
        </p:nvSpPr>
        <p:spPr>
          <a:xfrm>
            <a:off x="12332638" y="801109"/>
            <a:ext cx="48698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8.4</a:t>
            </a:r>
          </a:p>
        </p:txBody>
      </p:sp>
      <p:cxnSp>
        <p:nvCxnSpPr>
          <p:cNvPr id="444" name="m-c05_radar-foot-line"/>
          <p:cNvCxnSpPr/>
          <p:nvPr/>
        </p:nvCxnSpPr>
        <p:spPr>
          <a:xfrm>
            <a:off x="10140061" y="9441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5" name="m-c05_radar-foot-l"/>
          <p:cNvSpPr txBox="1"/>
          <p:nvPr/>
        </p:nvSpPr>
        <p:spPr>
          <a:xfrm>
            <a:off x="10137874" y="958123"/>
            <a:ext cx="21429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竞品评估 · 六维雷达</a:t>
            </a:r>
          </a:p>
        </p:txBody>
      </p:sp>
      <p:sp>
        <p:nvSpPr>
          <p:cNvPr id="446" name="m-c05_radar-foot-r"/>
          <p:cNvSpPr txBox="1"/>
          <p:nvPr/>
        </p:nvSpPr>
        <p:spPr>
          <a:xfrm>
            <a:off x="12142309" y="9581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447" name="mini-card-d01_bar_line"/>
          <p:cNvSpPr/>
          <p:nvPr/>
        </p:nvSpPr>
        <p:spPr>
          <a:xfrm>
            <a:off x="-63500" y="11684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0" y="0"/>
                </a:moveTo>
                <a:lnTo>
                  <a:pt x="2419160" y="0"/>
                </a:lnTo>
                <a:cubicBezTo>
                  <a:pt x="2463482" y="0"/>
                  <a:pt x="2499360" y="35878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2" y="1405890"/>
                  <a:pt x="2419160" y="1405890"/>
                </a:cubicBezTo>
                <a:lnTo>
                  <a:pt x="80200" y="1405890"/>
                </a:lnTo>
                <a:cubicBezTo>
                  <a:pt x="35878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8"/>
                  <a:pt x="35878" y="0"/>
                  <a:pt x="80200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48" name="m-d01_bar_line-title-bar"/>
          <p:cNvSpPr/>
          <p:nvPr/>
        </p:nvSpPr>
        <p:spPr>
          <a:xfrm>
            <a:off x="56261" y="12673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49" name="m-d01_bar_line-title-bar-accent"/>
          <p:cNvSpPr/>
          <p:nvPr/>
        </p:nvSpPr>
        <p:spPr>
          <a:xfrm>
            <a:off x="56261" y="12673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50" name="m-d01_bar_line-title-cn"/>
          <p:cNvSpPr txBox="1"/>
          <p:nvPr/>
        </p:nvSpPr>
        <p:spPr>
          <a:xfrm>
            <a:off x="88440" y="1249968"/>
            <a:ext cx="488937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上半年经营数据</a:t>
            </a:r>
          </a:p>
        </p:txBody>
      </p:sp>
      <p:sp>
        <p:nvSpPr>
          <p:cNvPr id="451" name="m-d01_bar_line-title-en"/>
          <p:cNvSpPr txBox="1"/>
          <p:nvPr/>
        </p:nvSpPr>
        <p:spPr>
          <a:xfrm>
            <a:off x="95730" y="1337250"/>
            <a:ext cx="445745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H1 BUSINESS PERFORMANCE</a:t>
            </a:r>
          </a:p>
        </p:txBody>
      </p:sp>
      <p:sp>
        <p:nvSpPr>
          <p:cNvPr id="452" name="m-d01_bar_line-title-sub"/>
          <p:cNvSpPr txBox="1"/>
          <p:nvPr/>
        </p:nvSpPr>
        <p:spPr>
          <a:xfrm>
            <a:off x="1877071" y="1306392"/>
            <a:ext cx="441684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营业收入与同比增长率（单位：百万元）</a:t>
            </a:r>
          </a:p>
        </p:txBody>
      </p:sp>
      <p:cxnSp>
        <p:nvCxnSpPr>
          <p:cNvPr id="453" name="m-d01_bar_line-grid-0"/>
          <p:cNvCxnSpPr/>
          <p:nvPr/>
        </p:nvCxnSpPr>
        <p:spPr>
          <a:xfrm>
            <a:off x="155194" y="2233232"/>
            <a:ext cx="1431925" cy="0"/>
          </a:xfrm>
          <a:prstGeom prst="line">
            <a:avLst/>
          </a:prstGeom>
          <a:ln w="2540" cap="rnd">
            <a:solidFill>
              <a:srgbClr val="0B2545">
                <a:alpha val="1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4" name="m-d01_bar_line-gl-0"/>
          <p:cNvSpPr txBox="1"/>
          <p:nvPr/>
        </p:nvSpPr>
        <p:spPr>
          <a:xfrm>
            <a:off x="104074" y="2214822"/>
            <a:ext cx="30109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</a:t>
            </a:r>
          </a:p>
        </p:txBody>
      </p:sp>
      <p:cxnSp>
        <p:nvCxnSpPr>
          <p:cNvPr id="455" name="m-d01_bar_line-grid-65"/>
          <p:cNvCxnSpPr/>
          <p:nvPr/>
        </p:nvCxnSpPr>
        <p:spPr>
          <a:xfrm>
            <a:off x="155194" y="2105660"/>
            <a:ext cx="1431925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6" name="m-d01_bar_line-gl-65"/>
          <p:cNvSpPr txBox="1"/>
          <p:nvPr/>
        </p:nvSpPr>
        <p:spPr>
          <a:xfrm>
            <a:off x="92124" y="2087250"/>
            <a:ext cx="42060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65</a:t>
            </a:r>
          </a:p>
        </p:txBody>
      </p:sp>
      <p:cxnSp>
        <p:nvCxnSpPr>
          <p:cNvPr id="457" name="m-d01_bar_line-grid-130"/>
          <p:cNvCxnSpPr/>
          <p:nvPr/>
        </p:nvCxnSpPr>
        <p:spPr>
          <a:xfrm>
            <a:off x="155194" y="1978088"/>
            <a:ext cx="1431925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8" name="m-d01_bar_line-gl-130"/>
          <p:cNvSpPr txBox="1"/>
          <p:nvPr/>
        </p:nvSpPr>
        <p:spPr>
          <a:xfrm>
            <a:off x="80174" y="1959679"/>
            <a:ext cx="54010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130</a:t>
            </a:r>
          </a:p>
        </p:txBody>
      </p:sp>
      <p:cxnSp>
        <p:nvCxnSpPr>
          <p:cNvPr id="459" name="m-d01_bar_line-grid-195"/>
          <p:cNvCxnSpPr/>
          <p:nvPr/>
        </p:nvCxnSpPr>
        <p:spPr>
          <a:xfrm>
            <a:off x="155194" y="1850517"/>
            <a:ext cx="1431925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0" name="m-d01_bar_line-gl-195"/>
          <p:cNvSpPr txBox="1"/>
          <p:nvPr/>
        </p:nvSpPr>
        <p:spPr>
          <a:xfrm>
            <a:off x="80174" y="1832107"/>
            <a:ext cx="54010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195</a:t>
            </a:r>
          </a:p>
        </p:txBody>
      </p:sp>
      <p:cxnSp>
        <p:nvCxnSpPr>
          <p:cNvPr id="461" name="m-d01_bar_line-grid-260"/>
          <p:cNvCxnSpPr/>
          <p:nvPr/>
        </p:nvCxnSpPr>
        <p:spPr>
          <a:xfrm>
            <a:off x="155194" y="1722946"/>
            <a:ext cx="1431925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2" name="m-d01_bar_line-gl-260"/>
          <p:cNvSpPr txBox="1"/>
          <p:nvPr/>
        </p:nvSpPr>
        <p:spPr>
          <a:xfrm>
            <a:off x="80174" y="1704536"/>
            <a:ext cx="54010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260</a:t>
            </a:r>
          </a:p>
        </p:txBody>
      </p:sp>
      <p:sp>
        <p:nvSpPr>
          <p:cNvPr id="463" name="m-d01_bar_line-bar-1"/>
          <p:cNvSpPr/>
          <p:nvPr/>
        </p:nvSpPr>
        <p:spPr>
          <a:xfrm>
            <a:off x="217234" y="1982026"/>
            <a:ext cx="114554" cy="251206"/>
          </a:xfrm>
          <a:custGeom>
            <a:avLst/>
            <a:gdLst/>
            <a:ahLst/>
            <a:cxnLst/>
            <a:rect l="0" t="0" r="r" b="b"/>
            <a:pathLst>
              <a:path w="114554" h="251206">
                <a:moveTo>
                  <a:pt x="0" y="251206"/>
                </a:moveTo>
                <a:lnTo>
                  <a:pt x="0" y="13018"/>
                </a:lnTo>
                <a:cubicBezTo>
                  <a:pt x="0" y="5842"/>
                  <a:pt x="5842" y="0"/>
                  <a:pt x="13017" y="0"/>
                </a:cubicBezTo>
                <a:lnTo>
                  <a:pt x="101537" y="0"/>
                </a:lnTo>
                <a:cubicBezTo>
                  <a:pt x="108712" y="0"/>
                  <a:pt x="114554" y="5842"/>
                  <a:pt x="114554" y="13018"/>
                </a:cubicBezTo>
                <a:lnTo>
                  <a:pt x="114554" y="251206"/>
                </a:lnTo>
                <a:close/>
              </a:path>
            </a:pathLst>
          </a:custGeom>
          <a:gradFill rotWithShape="1">
            <a:gsLst>
              <a:gs pos="0">
                <a:srgbClr val="4168A8"/>
              </a:gs>
              <a:gs pos="100000">
                <a:srgbClr val="0B3E8F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64" name="m-d01_bar_line-val-1"/>
          <p:cNvSpPr txBox="1"/>
          <p:nvPr/>
        </p:nvSpPr>
        <p:spPr>
          <a:xfrm>
            <a:off x="239960" y="1926429"/>
            <a:ext cx="69123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128</a:t>
            </a:r>
          </a:p>
        </p:txBody>
      </p:sp>
      <p:sp>
        <p:nvSpPr>
          <p:cNvPr id="465" name="m-d01_bar_line-x-1"/>
          <p:cNvSpPr txBox="1"/>
          <p:nvPr/>
        </p:nvSpPr>
        <p:spPr>
          <a:xfrm>
            <a:off x="245850" y="2254564"/>
            <a:ext cx="5734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1月</a:t>
            </a:r>
          </a:p>
        </p:txBody>
      </p:sp>
      <p:sp>
        <p:nvSpPr>
          <p:cNvPr id="466" name="m-d01_bar_line-bar-2"/>
          <p:cNvSpPr/>
          <p:nvPr/>
        </p:nvSpPr>
        <p:spPr>
          <a:xfrm>
            <a:off x="455930" y="1927035"/>
            <a:ext cx="114490" cy="306197"/>
          </a:xfrm>
          <a:custGeom>
            <a:avLst/>
            <a:gdLst/>
            <a:ahLst/>
            <a:cxnLst/>
            <a:rect l="0" t="0" r="r" b="b"/>
            <a:pathLst>
              <a:path w="114490" h="306197">
                <a:moveTo>
                  <a:pt x="0" y="306197"/>
                </a:moveTo>
                <a:lnTo>
                  <a:pt x="0" y="13017"/>
                </a:lnTo>
                <a:cubicBezTo>
                  <a:pt x="0" y="5842"/>
                  <a:pt x="5778" y="0"/>
                  <a:pt x="12954" y="0"/>
                </a:cubicBezTo>
                <a:lnTo>
                  <a:pt x="101473" y="0"/>
                </a:lnTo>
                <a:cubicBezTo>
                  <a:pt x="108712" y="0"/>
                  <a:pt x="114490" y="5842"/>
                  <a:pt x="114490" y="13017"/>
                </a:cubicBezTo>
                <a:lnTo>
                  <a:pt x="114490" y="306197"/>
                </a:lnTo>
                <a:close/>
              </a:path>
            </a:pathLst>
          </a:custGeom>
          <a:gradFill rotWithShape="1">
            <a:gsLst>
              <a:gs pos="0">
                <a:srgbClr val="4773B2"/>
              </a:gs>
              <a:gs pos="100000">
                <a:srgbClr val="134C9C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67" name="m-d01_bar_line-val-2"/>
          <p:cNvSpPr txBox="1"/>
          <p:nvPr/>
        </p:nvSpPr>
        <p:spPr>
          <a:xfrm>
            <a:off x="478614" y="1871475"/>
            <a:ext cx="69123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156</a:t>
            </a:r>
          </a:p>
        </p:txBody>
      </p:sp>
      <p:sp>
        <p:nvSpPr>
          <p:cNvPr id="468" name="m-d01_bar_line-x-2"/>
          <p:cNvSpPr txBox="1"/>
          <p:nvPr/>
        </p:nvSpPr>
        <p:spPr>
          <a:xfrm>
            <a:off x="484504" y="2254564"/>
            <a:ext cx="5734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2月</a:t>
            </a:r>
          </a:p>
        </p:txBody>
      </p:sp>
      <p:sp>
        <p:nvSpPr>
          <p:cNvPr id="469" name="m-d01_bar_line-bar-3"/>
          <p:cNvSpPr/>
          <p:nvPr/>
        </p:nvSpPr>
        <p:spPr>
          <a:xfrm>
            <a:off x="694563" y="1940814"/>
            <a:ext cx="114554" cy="292418"/>
          </a:xfrm>
          <a:custGeom>
            <a:avLst/>
            <a:gdLst/>
            <a:ahLst/>
            <a:cxnLst/>
            <a:rect l="0" t="0" r="r" b="b"/>
            <a:pathLst>
              <a:path w="114554" h="292418">
                <a:moveTo>
                  <a:pt x="0" y="292418"/>
                </a:moveTo>
                <a:lnTo>
                  <a:pt x="0" y="13018"/>
                </a:lnTo>
                <a:cubicBezTo>
                  <a:pt x="0" y="5842"/>
                  <a:pt x="5842" y="0"/>
                  <a:pt x="13018" y="0"/>
                </a:cubicBezTo>
                <a:lnTo>
                  <a:pt x="101537" y="0"/>
                </a:lnTo>
                <a:cubicBezTo>
                  <a:pt x="108712" y="0"/>
                  <a:pt x="114554" y="5842"/>
                  <a:pt x="114554" y="13018"/>
                </a:cubicBezTo>
                <a:lnTo>
                  <a:pt x="114554" y="292418"/>
                </a:lnTo>
                <a:close/>
              </a:path>
            </a:pathLst>
          </a:custGeom>
          <a:gradFill rotWithShape="1">
            <a:gsLst>
              <a:gs pos="0">
                <a:srgbClr val="5489C6"/>
              </a:gs>
              <a:gs pos="100000">
                <a:srgbClr val="2468B6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70" name="m-d01_bar_line-val-3"/>
          <p:cNvSpPr txBox="1"/>
          <p:nvPr/>
        </p:nvSpPr>
        <p:spPr>
          <a:xfrm>
            <a:off x="717268" y="1885214"/>
            <a:ext cx="69123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149</a:t>
            </a:r>
          </a:p>
        </p:txBody>
      </p:sp>
      <p:sp>
        <p:nvSpPr>
          <p:cNvPr id="471" name="m-d01_bar_line-x-3"/>
          <p:cNvSpPr txBox="1"/>
          <p:nvPr/>
        </p:nvSpPr>
        <p:spPr>
          <a:xfrm>
            <a:off x="723158" y="2254564"/>
            <a:ext cx="5734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3月</a:t>
            </a:r>
          </a:p>
        </p:txBody>
      </p:sp>
      <p:sp>
        <p:nvSpPr>
          <p:cNvPr id="472" name="m-d01_bar_line-bar-4"/>
          <p:cNvSpPr/>
          <p:nvPr/>
        </p:nvSpPr>
        <p:spPr>
          <a:xfrm>
            <a:off x="933196" y="1866202"/>
            <a:ext cx="114554" cy="367030"/>
          </a:xfrm>
          <a:custGeom>
            <a:avLst/>
            <a:gdLst/>
            <a:ahLst/>
            <a:cxnLst/>
            <a:rect l="0" t="0" r="r" b="b"/>
            <a:pathLst>
              <a:path w="114554" h="367030">
                <a:moveTo>
                  <a:pt x="0" y="367030"/>
                </a:moveTo>
                <a:lnTo>
                  <a:pt x="0" y="13018"/>
                </a:lnTo>
                <a:cubicBezTo>
                  <a:pt x="0" y="5842"/>
                  <a:pt x="5842" y="0"/>
                  <a:pt x="13017" y="0"/>
                </a:cubicBezTo>
                <a:lnTo>
                  <a:pt x="101536" y="0"/>
                </a:lnTo>
                <a:cubicBezTo>
                  <a:pt x="108712" y="0"/>
                  <a:pt x="114554" y="5842"/>
                  <a:pt x="114554" y="13018"/>
                </a:cubicBezTo>
                <a:lnTo>
                  <a:pt x="114554" y="367030"/>
                </a:lnTo>
                <a:close/>
              </a:path>
            </a:pathLst>
          </a:custGeom>
          <a:gradFill rotWithShape="1">
            <a:gsLst>
              <a:gs pos="0">
                <a:srgbClr val="5C95CF"/>
              </a:gs>
              <a:gs pos="100000">
                <a:srgbClr val="2E77C2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73" name="m-d01_bar_line-val-4"/>
          <p:cNvSpPr txBox="1"/>
          <p:nvPr/>
        </p:nvSpPr>
        <p:spPr>
          <a:xfrm>
            <a:off x="955922" y="1810633"/>
            <a:ext cx="69123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187</a:t>
            </a:r>
          </a:p>
        </p:txBody>
      </p:sp>
      <p:sp>
        <p:nvSpPr>
          <p:cNvPr id="474" name="m-d01_bar_line-x-4"/>
          <p:cNvSpPr txBox="1"/>
          <p:nvPr/>
        </p:nvSpPr>
        <p:spPr>
          <a:xfrm>
            <a:off x="961813" y="2254564"/>
            <a:ext cx="5734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4月</a:t>
            </a:r>
          </a:p>
        </p:txBody>
      </p:sp>
      <p:sp>
        <p:nvSpPr>
          <p:cNvPr id="475" name="m-d01_bar_line-bar-5"/>
          <p:cNvSpPr/>
          <p:nvPr/>
        </p:nvSpPr>
        <p:spPr>
          <a:xfrm>
            <a:off x="1171829" y="1834832"/>
            <a:ext cx="114554" cy="398399"/>
          </a:xfrm>
          <a:custGeom>
            <a:avLst/>
            <a:gdLst/>
            <a:ahLst/>
            <a:cxnLst/>
            <a:rect l="0" t="0" r="r" b="b"/>
            <a:pathLst>
              <a:path w="114554" h="398399">
                <a:moveTo>
                  <a:pt x="0" y="398399"/>
                </a:moveTo>
                <a:lnTo>
                  <a:pt x="0" y="13018"/>
                </a:lnTo>
                <a:cubicBezTo>
                  <a:pt x="0" y="5842"/>
                  <a:pt x="5842" y="0"/>
                  <a:pt x="13018" y="0"/>
                </a:cubicBezTo>
                <a:lnTo>
                  <a:pt x="101537" y="0"/>
                </a:lnTo>
                <a:cubicBezTo>
                  <a:pt x="108775" y="0"/>
                  <a:pt x="114554" y="5842"/>
                  <a:pt x="114554" y="13018"/>
                </a:cubicBezTo>
                <a:lnTo>
                  <a:pt x="114554" y="398399"/>
                </a:lnTo>
                <a:close/>
              </a:path>
            </a:pathLst>
          </a:custGeom>
          <a:gradFill rotWithShape="1">
            <a:gsLst>
              <a:gs pos="0">
                <a:srgbClr val="6FACE0"/>
              </a:gs>
              <a:gs pos="100000">
                <a:srgbClr val="4694D7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76" name="m-d01_bar_line-val-5"/>
          <p:cNvSpPr txBox="1"/>
          <p:nvPr/>
        </p:nvSpPr>
        <p:spPr>
          <a:xfrm>
            <a:off x="1194576" y="1779231"/>
            <a:ext cx="69123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203</a:t>
            </a:r>
          </a:p>
        </p:txBody>
      </p:sp>
      <p:sp>
        <p:nvSpPr>
          <p:cNvPr id="477" name="m-d01_bar_line-x-5"/>
          <p:cNvSpPr txBox="1"/>
          <p:nvPr/>
        </p:nvSpPr>
        <p:spPr>
          <a:xfrm>
            <a:off x="1200467" y="2254564"/>
            <a:ext cx="5734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5月</a:t>
            </a:r>
          </a:p>
        </p:txBody>
      </p:sp>
      <p:sp>
        <p:nvSpPr>
          <p:cNvPr id="478" name="m-d01_bar_line-bar-6"/>
          <p:cNvSpPr/>
          <p:nvPr/>
        </p:nvSpPr>
        <p:spPr>
          <a:xfrm>
            <a:off x="1410526" y="1770062"/>
            <a:ext cx="114554" cy="463169"/>
          </a:xfrm>
          <a:custGeom>
            <a:avLst/>
            <a:gdLst/>
            <a:ahLst/>
            <a:cxnLst/>
            <a:rect l="0" t="0" r="r" b="b"/>
            <a:pathLst>
              <a:path w="114554" h="463169">
                <a:moveTo>
                  <a:pt x="0" y="463169"/>
                </a:moveTo>
                <a:lnTo>
                  <a:pt x="0" y="13018"/>
                </a:lnTo>
                <a:cubicBezTo>
                  <a:pt x="0" y="5842"/>
                  <a:pt x="5842" y="0"/>
                  <a:pt x="13018" y="0"/>
                </a:cubicBezTo>
                <a:lnTo>
                  <a:pt x="101537" y="0"/>
                </a:lnTo>
                <a:cubicBezTo>
                  <a:pt x="108712" y="0"/>
                  <a:pt x="114554" y="5842"/>
                  <a:pt x="114554" y="13018"/>
                </a:cubicBezTo>
                <a:lnTo>
                  <a:pt x="114554" y="463169"/>
                </a:lnTo>
                <a:close/>
              </a:path>
            </a:pathLst>
          </a:custGeom>
          <a:gradFill rotWithShape="1">
            <a:gsLst>
              <a:gs pos="0">
                <a:srgbClr val="7AB6E6"/>
              </a:gs>
              <a:gs pos="100000">
                <a:srgbClr val="54A2DF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79" name="m-d01_bar_line-val-6"/>
          <p:cNvSpPr txBox="1"/>
          <p:nvPr/>
        </p:nvSpPr>
        <p:spPr>
          <a:xfrm>
            <a:off x="1433230" y="1714464"/>
            <a:ext cx="69123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236</a:t>
            </a:r>
          </a:p>
        </p:txBody>
      </p:sp>
      <p:sp>
        <p:nvSpPr>
          <p:cNvPr id="480" name="m-d01_bar_line-x-6"/>
          <p:cNvSpPr txBox="1"/>
          <p:nvPr/>
        </p:nvSpPr>
        <p:spPr>
          <a:xfrm>
            <a:off x="1439121" y="2254564"/>
            <a:ext cx="5734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6月</a:t>
            </a:r>
          </a:p>
        </p:txBody>
      </p:sp>
      <p:sp>
        <p:nvSpPr>
          <p:cNvPr id="481" name="m-d01_bar_line-line-growth"/>
          <p:cNvSpPr/>
          <p:nvPr/>
        </p:nvSpPr>
        <p:spPr>
          <a:xfrm>
            <a:off x="274510" y="1596201"/>
            <a:ext cx="1193292" cy="98614"/>
          </a:xfrm>
          <a:custGeom>
            <a:avLst/>
            <a:gdLst/>
            <a:ahLst/>
            <a:cxnLst/>
            <a:rect l="0" t="0" r="r" b="b"/>
            <a:pathLst>
              <a:path w="1193292" h="98614">
                <a:moveTo>
                  <a:pt x="0" y="44449"/>
                </a:moveTo>
                <a:cubicBezTo>
                  <a:pt x="33401" y="39750"/>
                  <a:pt x="171831" y="3047"/>
                  <a:pt x="238633" y="10603"/>
                </a:cubicBezTo>
                <a:cubicBezTo>
                  <a:pt x="305499" y="18223"/>
                  <a:pt x="410528" y="100075"/>
                  <a:pt x="477330" y="98614"/>
                </a:cubicBezTo>
                <a:cubicBezTo>
                  <a:pt x="544132" y="97217"/>
                  <a:pt x="649161" y="6603"/>
                  <a:pt x="715962" y="443"/>
                </a:cubicBezTo>
                <a:cubicBezTo>
                  <a:pt x="782765" y="-5653"/>
                  <a:pt x="887794" y="50354"/>
                  <a:pt x="954596" y="54609"/>
                </a:cubicBezTo>
                <a:cubicBezTo>
                  <a:pt x="1021461" y="58927"/>
                  <a:pt x="1159891" y="34225"/>
                  <a:pt x="1193292" y="30923"/>
                </a:cubicBezTo>
              </a:path>
            </a:pathLst>
          </a:custGeom>
          <a:noFill/>
          <a:ln w="3124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82" name="m-d01_bar_line-lp-1"/>
          <p:cNvSpPr/>
          <p:nvPr/>
        </p:nvSpPr>
        <p:spPr>
          <a:xfrm>
            <a:off x="266060" y="1632214"/>
            <a:ext cx="16923" cy="16923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83" name="m-d01_bar_line-lv-1"/>
          <p:cNvSpPr txBox="1"/>
          <p:nvPr/>
        </p:nvSpPr>
        <p:spPr>
          <a:xfrm>
            <a:off x="242823" y="1590525"/>
            <a:ext cx="63395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4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+12%</a:t>
            </a:r>
          </a:p>
        </p:txBody>
      </p:sp>
      <p:sp>
        <p:nvSpPr>
          <p:cNvPr id="484" name="m-d01_bar_line-lp-2"/>
          <p:cNvSpPr/>
          <p:nvPr/>
        </p:nvSpPr>
        <p:spPr>
          <a:xfrm>
            <a:off x="504714" y="1598368"/>
            <a:ext cx="16923" cy="16923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85" name="m-d01_bar_line-lv-2"/>
          <p:cNvSpPr txBox="1"/>
          <p:nvPr/>
        </p:nvSpPr>
        <p:spPr>
          <a:xfrm>
            <a:off x="481478" y="1556679"/>
            <a:ext cx="63395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4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+22%</a:t>
            </a:r>
          </a:p>
        </p:txBody>
      </p:sp>
      <p:sp>
        <p:nvSpPr>
          <p:cNvPr id="486" name="m-d01_bar_line-lp-3"/>
          <p:cNvSpPr/>
          <p:nvPr/>
        </p:nvSpPr>
        <p:spPr>
          <a:xfrm>
            <a:off x="743368" y="1686366"/>
            <a:ext cx="16923" cy="16923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87" name="m-d01_bar_line-lv-3"/>
          <p:cNvSpPr txBox="1"/>
          <p:nvPr/>
        </p:nvSpPr>
        <p:spPr>
          <a:xfrm>
            <a:off x="725860" y="1644678"/>
            <a:ext cx="51940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4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-4%</a:t>
            </a:r>
          </a:p>
        </p:txBody>
      </p:sp>
      <p:sp>
        <p:nvSpPr>
          <p:cNvPr id="488" name="m-d01_bar_line-lp-4"/>
          <p:cNvSpPr/>
          <p:nvPr/>
        </p:nvSpPr>
        <p:spPr>
          <a:xfrm>
            <a:off x="982022" y="1588214"/>
            <a:ext cx="16923" cy="16923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89" name="m-d01_bar_line-lv-4"/>
          <p:cNvSpPr txBox="1"/>
          <p:nvPr/>
        </p:nvSpPr>
        <p:spPr>
          <a:xfrm>
            <a:off x="958786" y="1546526"/>
            <a:ext cx="63395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4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+25%</a:t>
            </a:r>
          </a:p>
        </p:txBody>
      </p:sp>
      <p:sp>
        <p:nvSpPr>
          <p:cNvPr id="490" name="m-d01_bar_line-lp-5"/>
          <p:cNvSpPr/>
          <p:nvPr/>
        </p:nvSpPr>
        <p:spPr>
          <a:xfrm>
            <a:off x="1220676" y="1642367"/>
            <a:ext cx="16923" cy="16923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91" name="m-d01_bar_line-lv-5"/>
          <p:cNvSpPr txBox="1"/>
          <p:nvPr/>
        </p:nvSpPr>
        <p:spPr>
          <a:xfrm>
            <a:off x="1203168" y="1600679"/>
            <a:ext cx="51940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4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+9%</a:t>
            </a:r>
          </a:p>
        </p:txBody>
      </p:sp>
      <p:sp>
        <p:nvSpPr>
          <p:cNvPr id="492" name="m-d01_bar_line-lp-6"/>
          <p:cNvSpPr/>
          <p:nvPr/>
        </p:nvSpPr>
        <p:spPr>
          <a:xfrm>
            <a:off x="1459331" y="1618675"/>
            <a:ext cx="16923" cy="16923"/>
          </a:xfrm>
          <a:prstGeom prst="ellipse">
            <a:avLst/>
          </a:prstGeom>
          <a:solidFill>
            <a:srgbClr val="FFFFFF"/>
          </a:solidFill>
          <a:ln w="3124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93" name="m-d01_bar_line-lv-6"/>
          <p:cNvSpPr txBox="1"/>
          <p:nvPr/>
        </p:nvSpPr>
        <p:spPr>
          <a:xfrm>
            <a:off x="1436094" y="1576987"/>
            <a:ext cx="63395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4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+16%</a:t>
            </a:r>
          </a:p>
        </p:txBody>
      </p:sp>
      <p:sp>
        <p:nvSpPr>
          <p:cNvPr id="494" name="m-d01_bar_line-legend"/>
          <p:cNvSpPr/>
          <p:nvPr/>
        </p:nvSpPr>
        <p:spPr>
          <a:xfrm>
            <a:off x="1201801" y="1457388"/>
            <a:ext cx="385318" cy="57277"/>
          </a:xfrm>
          <a:custGeom>
            <a:avLst/>
            <a:gdLst/>
            <a:ahLst/>
            <a:cxnLst/>
            <a:rect l="0" t="0" r="r" b="b"/>
            <a:pathLst>
              <a:path w="385318" h="57277">
                <a:moveTo>
                  <a:pt x="28639" y="0"/>
                </a:moveTo>
                <a:lnTo>
                  <a:pt x="356680" y="0"/>
                </a:lnTo>
                <a:cubicBezTo>
                  <a:pt x="372491" y="0"/>
                  <a:pt x="385318" y="12827"/>
                  <a:pt x="385318" y="28639"/>
                </a:cubicBezTo>
                <a:lnTo>
                  <a:pt x="385318" y="28639"/>
                </a:lnTo>
                <a:cubicBezTo>
                  <a:pt x="385318" y="44450"/>
                  <a:pt x="372491" y="57277"/>
                  <a:pt x="356680" y="57277"/>
                </a:cubicBezTo>
                <a:lnTo>
                  <a:pt x="28639" y="57277"/>
                </a:lnTo>
                <a:cubicBezTo>
                  <a:pt x="12827" y="57277"/>
                  <a:pt x="0" y="44450"/>
                  <a:pt x="0" y="28639"/>
                </a:cubicBezTo>
                <a:lnTo>
                  <a:pt x="0" y="28639"/>
                </a:lnTo>
                <a:cubicBezTo>
                  <a:pt x="0" y="12827"/>
                  <a:pt x="12827" y="0"/>
                  <a:pt x="28639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95" name="m-d01_bar_line-lg-1"/>
          <p:cNvSpPr/>
          <p:nvPr/>
        </p:nvSpPr>
        <p:spPr>
          <a:xfrm>
            <a:off x="1235646" y="1475613"/>
            <a:ext cx="22098" cy="22162"/>
          </a:xfrm>
          <a:custGeom>
            <a:avLst/>
            <a:gdLst/>
            <a:ahLst/>
            <a:cxnLst/>
            <a:rect l="0" t="0" r="r" b="b"/>
            <a:pathLst>
              <a:path w="22098" h="22162">
                <a:moveTo>
                  <a:pt x="5207" y="0"/>
                </a:moveTo>
                <a:lnTo>
                  <a:pt x="16891" y="0"/>
                </a:lnTo>
                <a:cubicBezTo>
                  <a:pt x="19812" y="0"/>
                  <a:pt x="22098" y="2350"/>
                  <a:pt x="22098" y="5207"/>
                </a:cubicBezTo>
                <a:lnTo>
                  <a:pt x="22098" y="16891"/>
                </a:lnTo>
                <a:cubicBezTo>
                  <a:pt x="22098" y="19812"/>
                  <a:pt x="19812" y="22162"/>
                  <a:pt x="16891" y="22162"/>
                </a:cubicBezTo>
                <a:lnTo>
                  <a:pt x="5207" y="22162"/>
                </a:lnTo>
                <a:cubicBezTo>
                  <a:pt x="2350" y="22162"/>
                  <a:pt x="0" y="19812"/>
                  <a:pt x="0" y="16891"/>
                </a:cubicBezTo>
                <a:lnTo>
                  <a:pt x="0" y="5207"/>
                </a:lnTo>
                <a:cubicBezTo>
                  <a:pt x="0" y="2350"/>
                  <a:pt x="2350" y="0"/>
                  <a:pt x="5207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96" name="m-d01_bar_line-lg-t1"/>
          <p:cNvSpPr txBox="1"/>
          <p:nvPr/>
        </p:nvSpPr>
        <p:spPr>
          <a:xfrm>
            <a:off x="1266915" y="1468613"/>
            <a:ext cx="105246" cy="37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营业收入</a:t>
            </a:r>
          </a:p>
        </p:txBody>
      </p:sp>
      <p:cxnSp>
        <p:nvCxnSpPr>
          <p:cNvPr id="497" name="m-d01_bar_line-lg-2"/>
          <p:cNvCxnSpPr/>
          <p:nvPr/>
        </p:nvCxnSpPr>
        <p:spPr>
          <a:xfrm>
            <a:off x="1404874" y="1486027"/>
            <a:ext cx="33846" cy="0"/>
          </a:xfrm>
          <a:prstGeom prst="line">
            <a:avLst/>
          </a:prstGeom>
          <a:ln w="3124" cap="rnd">
            <a:solidFill>
              <a:srgbClr val="E0703A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8" name="m-d01_bar_line-lg-2d"/>
          <p:cNvSpPr/>
          <p:nvPr/>
        </p:nvSpPr>
        <p:spPr>
          <a:xfrm>
            <a:off x="1414637" y="1478867"/>
            <a:ext cx="14319" cy="14319"/>
          </a:xfrm>
          <a:prstGeom prst="ellipse">
            <a:avLst/>
          </a:prstGeom>
          <a:solidFill>
            <a:srgbClr val="FFFFFF"/>
          </a:solidFill>
          <a:ln w="2604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99" name="m-d01_bar_line-lg-t2"/>
          <p:cNvSpPr txBox="1"/>
          <p:nvPr/>
        </p:nvSpPr>
        <p:spPr>
          <a:xfrm>
            <a:off x="1449160" y="1468613"/>
            <a:ext cx="105246" cy="37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同比增长</a:t>
            </a:r>
          </a:p>
        </p:txBody>
      </p:sp>
      <p:sp>
        <p:nvSpPr>
          <p:cNvPr id="500" name="m-d01_bar_line-kpi-1"/>
          <p:cNvSpPr/>
          <p:nvPr/>
        </p:nvSpPr>
        <p:spPr>
          <a:xfrm>
            <a:off x="1691259" y="1462596"/>
            <a:ext cx="575374" cy="218694"/>
          </a:xfrm>
          <a:custGeom>
            <a:avLst/>
            <a:gdLst/>
            <a:ahLst/>
            <a:cxnLst/>
            <a:rect l="0" t="0" r="r" b="b"/>
            <a:pathLst>
              <a:path w="575374" h="218694">
                <a:moveTo>
                  <a:pt x="23431" y="0"/>
                </a:moveTo>
                <a:lnTo>
                  <a:pt x="551942" y="0"/>
                </a:lnTo>
                <a:cubicBezTo>
                  <a:pt x="564896" y="0"/>
                  <a:pt x="575374" y="10477"/>
                  <a:pt x="575374" y="23431"/>
                </a:cubicBezTo>
                <a:lnTo>
                  <a:pt x="575374" y="195262"/>
                </a:lnTo>
                <a:cubicBezTo>
                  <a:pt x="575374" y="208216"/>
                  <a:pt x="564896" y="218694"/>
                  <a:pt x="551942" y="218694"/>
                </a:cubicBezTo>
                <a:lnTo>
                  <a:pt x="23431" y="218694"/>
                </a:lnTo>
                <a:cubicBezTo>
                  <a:pt x="10478" y="218694"/>
                  <a:pt x="0" y="208216"/>
                  <a:pt x="0" y="195262"/>
                </a:cubicBezTo>
                <a:lnTo>
                  <a:pt x="0" y="23431"/>
                </a:lnTo>
                <a:cubicBezTo>
                  <a:pt x="0" y="10477"/>
                  <a:pt x="10478" y="0"/>
                  <a:pt x="2343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01" name="m-d01_bar_line-kpi-bar-1"/>
          <p:cNvSpPr/>
          <p:nvPr/>
        </p:nvSpPr>
        <p:spPr>
          <a:xfrm>
            <a:off x="1691259" y="1462596"/>
            <a:ext cx="6541" cy="218694"/>
          </a:xfrm>
          <a:custGeom>
            <a:avLst/>
            <a:gdLst/>
            <a:ahLst/>
            <a:cxnLst/>
            <a:rect l="0" t="0" r="r" b="b"/>
            <a:pathLst>
              <a:path w="6541" h="218694">
                <a:moveTo>
                  <a:pt x="3239" y="0"/>
                </a:moveTo>
                <a:lnTo>
                  <a:pt x="3239" y="0"/>
                </a:lnTo>
                <a:cubicBezTo>
                  <a:pt x="5080" y="0"/>
                  <a:pt x="6541" y="1460"/>
                  <a:pt x="6541" y="3238"/>
                </a:cubicBezTo>
                <a:lnTo>
                  <a:pt x="6541" y="215455"/>
                </a:lnTo>
                <a:cubicBezTo>
                  <a:pt x="6541" y="217234"/>
                  <a:pt x="5080" y="218694"/>
                  <a:pt x="3239" y="218694"/>
                </a:cubicBezTo>
                <a:lnTo>
                  <a:pt x="3239" y="218694"/>
                </a:lnTo>
                <a:cubicBezTo>
                  <a:pt x="1461" y="218694"/>
                  <a:pt x="0" y="217234"/>
                  <a:pt x="0" y="215455"/>
                </a:cubicBezTo>
                <a:lnTo>
                  <a:pt x="0" y="3238"/>
                </a:lnTo>
                <a:cubicBezTo>
                  <a:pt x="0" y="1460"/>
                  <a:pt x="1461" y="0"/>
                  <a:pt x="3239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02" name="m-d01_bar_line-icon-coin"/>
          <p:cNvSpPr/>
          <p:nvPr/>
        </p:nvSpPr>
        <p:spPr>
          <a:xfrm>
            <a:off x="2180717" y="1528953"/>
            <a:ext cx="20828" cy="18288"/>
          </a:xfrm>
          <a:custGeom>
            <a:avLst/>
            <a:gdLst/>
            <a:ahLst/>
            <a:cxnLst/>
            <a:rect l="0" t="0" r="r" b="b"/>
            <a:pathLst>
              <a:path w="20828" h="18288">
                <a:moveTo>
                  <a:pt x="10414" y="0"/>
                </a:moveTo>
                <a:cubicBezTo>
                  <a:pt x="4572" y="0"/>
                  <a:pt x="0" y="1651"/>
                  <a:pt x="0" y="3937"/>
                </a:cubicBezTo>
                <a:cubicBezTo>
                  <a:pt x="0" y="6223"/>
                  <a:pt x="4572" y="7810"/>
                  <a:pt x="10414" y="7810"/>
                </a:cubicBezTo>
                <a:cubicBezTo>
                  <a:pt x="16256" y="7810"/>
                  <a:pt x="20828" y="6223"/>
                  <a:pt x="20828" y="3937"/>
                </a:cubicBezTo>
                <a:cubicBezTo>
                  <a:pt x="20828" y="1651"/>
                  <a:pt x="16256" y="0"/>
                  <a:pt x="10414" y="0"/>
                </a:cubicBezTo>
                <a:close/>
                <a:moveTo>
                  <a:pt x="0" y="3937"/>
                </a:moveTo>
                <a:lnTo>
                  <a:pt x="0" y="14351"/>
                </a:lnTo>
                <a:cubicBezTo>
                  <a:pt x="0" y="16637"/>
                  <a:pt x="4572" y="18288"/>
                  <a:pt x="10414" y="18288"/>
                </a:cubicBezTo>
                <a:cubicBezTo>
                  <a:pt x="16256" y="18288"/>
                  <a:pt x="20828" y="16637"/>
                  <a:pt x="20828" y="14351"/>
                </a:cubicBezTo>
                <a:lnTo>
                  <a:pt x="20828" y="3937"/>
                </a:lnTo>
              </a:path>
            </a:pathLst>
          </a:custGeom>
          <a:noFill/>
          <a:ln w="2540" cap="rnd">
            <a:solidFill>
              <a:srgbClr val="0B3E8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03" name="m-d01_bar_line-kpi-v-1"/>
          <p:cNvSpPr txBox="1"/>
          <p:nvPr/>
        </p:nvSpPr>
        <p:spPr>
          <a:xfrm>
            <a:off x="1735831" y="1492171"/>
            <a:ext cx="237700" cy="10934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90" b="1" i="0" u="none" strike="noStrike" kern="1200" cap="none" spc="1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1,059</a:t>
            </a:r>
          </a:p>
        </p:txBody>
      </p:sp>
      <p:sp>
        <p:nvSpPr>
          <p:cNvPr id="504" name="m-d01_bar_line-kpi-u-1"/>
          <p:cNvSpPr txBox="1"/>
          <p:nvPr/>
        </p:nvSpPr>
        <p:spPr>
          <a:xfrm>
            <a:off x="1916253" y="1540401"/>
            <a:ext cx="6795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百万</a:t>
            </a:r>
          </a:p>
        </p:txBody>
      </p:sp>
      <p:sp>
        <p:nvSpPr>
          <p:cNvPr id="505" name="m-d01_bar_line-kpi-l-1"/>
          <p:cNvSpPr txBox="1"/>
          <p:nvPr/>
        </p:nvSpPr>
        <p:spPr>
          <a:xfrm>
            <a:off x="1740595" y="1593275"/>
            <a:ext cx="184523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上半年累计营收</a:t>
            </a:r>
          </a:p>
        </p:txBody>
      </p:sp>
      <p:sp>
        <p:nvSpPr>
          <p:cNvPr id="506" name="m-d01_bar_line-kpi-2"/>
          <p:cNvSpPr/>
          <p:nvPr/>
        </p:nvSpPr>
        <p:spPr>
          <a:xfrm>
            <a:off x="1691259" y="1717738"/>
            <a:ext cx="575374" cy="218694"/>
          </a:xfrm>
          <a:custGeom>
            <a:avLst/>
            <a:gdLst/>
            <a:ahLst/>
            <a:cxnLst/>
            <a:rect l="0" t="0" r="r" b="b"/>
            <a:pathLst>
              <a:path w="575374" h="218694">
                <a:moveTo>
                  <a:pt x="23431" y="0"/>
                </a:moveTo>
                <a:lnTo>
                  <a:pt x="551942" y="0"/>
                </a:lnTo>
                <a:cubicBezTo>
                  <a:pt x="564896" y="0"/>
                  <a:pt x="575374" y="10478"/>
                  <a:pt x="575374" y="23431"/>
                </a:cubicBezTo>
                <a:lnTo>
                  <a:pt x="575374" y="195262"/>
                </a:lnTo>
                <a:cubicBezTo>
                  <a:pt x="575374" y="208217"/>
                  <a:pt x="564896" y="218694"/>
                  <a:pt x="551942" y="218694"/>
                </a:cubicBezTo>
                <a:lnTo>
                  <a:pt x="23431" y="218694"/>
                </a:lnTo>
                <a:cubicBezTo>
                  <a:pt x="10478" y="218694"/>
                  <a:pt x="0" y="208217"/>
                  <a:pt x="0" y="195262"/>
                </a:cubicBezTo>
                <a:lnTo>
                  <a:pt x="0" y="23431"/>
                </a:lnTo>
                <a:cubicBezTo>
                  <a:pt x="0" y="10478"/>
                  <a:pt x="10478" y="0"/>
                  <a:pt x="2343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07" name="m-d01_bar_line-kpi-bar-2"/>
          <p:cNvSpPr/>
          <p:nvPr/>
        </p:nvSpPr>
        <p:spPr>
          <a:xfrm>
            <a:off x="1691259" y="1717738"/>
            <a:ext cx="6541" cy="218694"/>
          </a:xfrm>
          <a:custGeom>
            <a:avLst/>
            <a:gdLst/>
            <a:ahLst/>
            <a:cxnLst/>
            <a:rect l="0" t="0" r="r" b="b"/>
            <a:pathLst>
              <a:path w="6541" h="218694">
                <a:moveTo>
                  <a:pt x="3239" y="0"/>
                </a:moveTo>
                <a:lnTo>
                  <a:pt x="3239" y="0"/>
                </a:lnTo>
                <a:cubicBezTo>
                  <a:pt x="5080" y="0"/>
                  <a:pt x="6541" y="1461"/>
                  <a:pt x="6541" y="3238"/>
                </a:cubicBezTo>
                <a:lnTo>
                  <a:pt x="6541" y="215456"/>
                </a:lnTo>
                <a:cubicBezTo>
                  <a:pt x="6541" y="217234"/>
                  <a:pt x="5080" y="218694"/>
                  <a:pt x="3239" y="218694"/>
                </a:cubicBezTo>
                <a:lnTo>
                  <a:pt x="3239" y="218694"/>
                </a:lnTo>
                <a:cubicBezTo>
                  <a:pt x="1461" y="218694"/>
                  <a:pt x="0" y="217234"/>
                  <a:pt x="0" y="215456"/>
                </a:cubicBezTo>
                <a:lnTo>
                  <a:pt x="0" y="3238"/>
                </a:lnTo>
                <a:cubicBezTo>
                  <a:pt x="0" y="1461"/>
                  <a:pt x="1461" y="0"/>
                  <a:pt x="3239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08" name="m-d01_bar_line-icon-target"/>
          <p:cNvSpPr/>
          <p:nvPr/>
        </p:nvSpPr>
        <p:spPr>
          <a:xfrm>
            <a:off x="2191131" y="1779270"/>
            <a:ext cx="10731" cy="13970"/>
          </a:xfrm>
          <a:custGeom>
            <a:avLst/>
            <a:gdLst/>
            <a:ahLst/>
            <a:cxnLst/>
            <a:rect l="0" t="0" r="r" b="b"/>
            <a:pathLst>
              <a:path w="10731" h="13970">
                <a:moveTo>
                  <a:pt x="0" y="8128"/>
                </a:moveTo>
                <a:lnTo>
                  <a:pt x="0" y="0"/>
                </a:lnTo>
                <a:moveTo>
                  <a:pt x="0" y="13970"/>
                </a:moveTo>
                <a:lnTo>
                  <a:pt x="10731" y="3238"/>
                </a:lnTo>
              </a:path>
            </a:pathLst>
          </a:custGeom>
          <a:noFill/>
          <a:ln w="2540" cap="rnd">
            <a:solidFill>
              <a:srgbClr val="2E77C2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09" name="m-d01_bar_line-icon-target"/>
          <p:cNvSpPr/>
          <p:nvPr/>
        </p:nvSpPr>
        <p:spPr>
          <a:xfrm>
            <a:off x="2177137" y="1779246"/>
            <a:ext cx="27988" cy="27988"/>
          </a:xfrm>
          <a:prstGeom prst="ellipse">
            <a:avLst/>
          </a:prstGeom>
          <a:noFill/>
          <a:ln w="2540" cap="rnd">
            <a:solidFill>
              <a:srgbClr val="2E77C2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10" name="m-d01_bar_line-icon-target"/>
          <p:cNvSpPr/>
          <p:nvPr/>
        </p:nvSpPr>
        <p:spPr>
          <a:xfrm>
            <a:off x="2183971" y="1786080"/>
            <a:ext cx="14319" cy="14319"/>
          </a:xfrm>
          <a:prstGeom prst="ellipse">
            <a:avLst/>
          </a:prstGeom>
          <a:noFill/>
          <a:ln w="2540" cap="rnd">
            <a:solidFill>
              <a:srgbClr val="2E77C2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11" name="m-d01_bar_line-kpi-v-2"/>
          <p:cNvSpPr txBox="1"/>
          <p:nvPr/>
        </p:nvSpPr>
        <p:spPr>
          <a:xfrm>
            <a:off x="1735831" y="1747314"/>
            <a:ext cx="165114" cy="10934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90" b="1" i="0" u="none" strike="noStrike" kern="1200" cap="none" spc="1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78%</a:t>
            </a:r>
          </a:p>
        </p:txBody>
      </p:sp>
      <p:sp>
        <p:nvSpPr>
          <p:cNvPr id="512" name="m-d01_bar_line-kpi-l-2"/>
          <p:cNvSpPr txBox="1"/>
          <p:nvPr/>
        </p:nvSpPr>
        <p:spPr>
          <a:xfrm>
            <a:off x="1740595" y="1848418"/>
            <a:ext cx="184523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年度目标完成率</a:t>
            </a:r>
          </a:p>
        </p:txBody>
      </p:sp>
      <p:sp>
        <p:nvSpPr>
          <p:cNvPr id="513" name="m-d01_bar_line-kpi-3"/>
          <p:cNvSpPr/>
          <p:nvPr/>
        </p:nvSpPr>
        <p:spPr>
          <a:xfrm>
            <a:off x="1691259" y="1972882"/>
            <a:ext cx="575374" cy="218694"/>
          </a:xfrm>
          <a:custGeom>
            <a:avLst/>
            <a:gdLst/>
            <a:ahLst/>
            <a:cxnLst/>
            <a:rect l="0" t="0" r="r" b="b"/>
            <a:pathLst>
              <a:path w="575374" h="218694">
                <a:moveTo>
                  <a:pt x="23431" y="0"/>
                </a:moveTo>
                <a:lnTo>
                  <a:pt x="551942" y="0"/>
                </a:lnTo>
                <a:cubicBezTo>
                  <a:pt x="564896" y="0"/>
                  <a:pt x="575374" y="10477"/>
                  <a:pt x="575374" y="23431"/>
                </a:cubicBezTo>
                <a:lnTo>
                  <a:pt x="575374" y="195262"/>
                </a:lnTo>
                <a:cubicBezTo>
                  <a:pt x="575374" y="208217"/>
                  <a:pt x="564896" y="218694"/>
                  <a:pt x="551942" y="218694"/>
                </a:cubicBezTo>
                <a:lnTo>
                  <a:pt x="23431" y="218694"/>
                </a:lnTo>
                <a:cubicBezTo>
                  <a:pt x="10478" y="218694"/>
                  <a:pt x="0" y="208217"/>
                  <a:pt x="0" y="195262"/>
                </a:cubicBezTo>
                <a:lnTo>
                  <a:pt x="0" y="23431"/>
                </a:lnTo>
                <a:cubicBezTo>
                  <a:pt x="0" y="10477"/>
                  <a:pt x="10478" y="0"/>
                  <a:pt x="2343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14" name="m-d01_bar_line-kpi-bar-3"/>
          <p:cNvSpPr/>
          <p:nvPr/>
        </p:nvSpPr>
        <p:spPr>
          <a:xfrm>
            <a:off x="1691259" y="1972882"/>
            <a:ext cx="6541" cy="218694"/>
          </a:xfrm>
          <a:custGeom>
            <a:avLst/>
            <a:gdLst/>
            <a:ahLst/>
            <a:cxnLst/>
            <a:rect l="0" t="0" r="r" b="b"/>
            <a:pathLst>
              <a:path w="6541" h="218694">
                <a:moveTo>
                  <a:pt x="3239" y="0"/>
                </a:moveTo>
                <a:lnTo>
                  <a:pt x="3239" y="0"/>
                </a:lnTo>
                <a:cubicBezTo>
                  <a:pt x="5080" y="0"/>
                  <a:pt x="6541" y="1461"/>
                  <a:pt x="6541" y="3238"/>
                </a:cubicBezTo>
                <a:lnTo>
                  <a:pt x="6541" y="215456"/>
                </a:lnTo>
                <a:cubicBezTo>
                  <a:pt x="6541" y="217233"/>
                  <a:pt x="5080" y="218694"/>
                  <a:pt x="3239" y="218694"/>
                </a:cubicBezTo>
                <a:lnTo>
                  <a:pt x="3239" y="218694"/>
                </a:lnTo>
                <a:cubicBezTo>
                  <a:pt x="1461" y="218694"/>
                  <a:pt x="0" y="217233"/>
                  <a:pt x="0" y="215456"/>
                </a:cubicBezTo>
                <a:lnTo>
                  <a:pt x="0" y="3238"/>
                </a:lnTo>
                <a:cubicBezTo>
                  <a:pt x="0" y="1461"/>
                  <a:pt x="1461" y="0"/>
                  <a:pt x="3239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15" name="m-d01_bar_line-icon-grow"/>
          <p:cNvSpPr/>
          <p:nvPr/>
        </p:nvSpPr>
        <p:spPr>
          <a:xfrm>
            <a:off x="2177478" y="2042224"/>
            <a:ext cx="24384" cy="15240"/>
          </a:xfrm>
          <a:custGeom>
            <a:avLst/>
            <a:gdLst/>
            <a:ahLst/>
            <a:cxnLst/>
            <a:rect l="0" t="0" r="r" b="b"/>
            <a:pathLst>
              <a:path w="24384" h="15240">
                <a:moveTo>
                  <a:pt x="0" y="15240"/>
                </a:moveTo>
                <a:lnTo>
                  <a:pt x="8128" y="6477"/>
                </a:lnTo>
                <a:lnTo>
                  <a:pt x="13970" y="11366"/>
                </a:lnTo>
                <a:lnTo>
                  <a:pt x="23749" y="0"/>
                </a:lnTo>
                <a:moveTo>
                  <a:pt x="19812" y="0"/>
                </a:moveTo>
                <a:lnTo>
                  <a:pt x="24384" y="0"/>
                </a:lnTo>
                <a:lnTo>
                  <a:pt x="24384" y="4508"/>
                </a:lnTo>
              </a:path>
            </a:pathLst>
          </a:custGeom>
          <a:noFill/>
          <a:ln w="2540" cap="rnd">
            <a:solidFill>
              <a:srgbClr val="54A2D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16" name="m-d01_bar_line-kpi-v-3"/>
          <p:cNvSpPr txBox="1"/>
          <p:nvPr/>
        </p:nvSpPr>
        <p:spPr>
          <a:xfrm>
            <a:off x="1735831" y="2002457"/>
            <a:ext cx="273992" cy="10934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90" b="1" i="0" u="none" strike="noStrike" kern="1200" cap="none" spc="1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+16.8%</a:t>
            </a:r>
          </a:p>
        </p:txBody>
      </p:sp>
      <p:sp>
        <p:nvSpPr>
          <p:cNvPr id="517" name="m-d01_bar_line-kpi-l-3"/>
          <p:cNvSpPr txBox="1"/>
          <p:nvPr/>
        </p:nvSpPr>
        <p:spPr>
          <a:xfrm>
            <a:off x="1740595" y="2103561"/>
            <a:ext cx="16109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平均同比增速</a:t>
            </a:r>
          </a:p>
        </p:txBody>
      </p:sp>
      <p:sp>
        <p:nvSpPr>
          <p:cNvPr id="518" name="m-d01_bar_line-note"/>
          <p:cNvSpPr/>
          <p:nvPr/>
        </p:nvSpPr>
        <p:spPr>
          <a:xfrm>
            <a:off x="131762" y="2347786"/>
            <a:ext cx="2134870" cy="111950"/>
          </a:xfrm>
          <a:custGeom>
            <a:avLst/>
            <a:gdLst/>
            <a:ahLst/>
            <a:cxnLst/>
            <a:rect l="0" t="0" r="r" b="b"/>
            <a:pathLst>
              <a:path w="2134870" h="111950">
                <a:moveTo>
                  <a:pt x="20828" y="0"/>
                </a:moveTo>
                <a:lnTo>
                  <a:pt x="2114042" y="0"/>
                </a:lnTo>
                <a:cubicBezTo>
                  <a:pt x="2125536" y="0"/>
                  <a:pt x="2134870" y="9334"/>
                  <a:pt x="2134870" y="20828"/>
                </a:cubicBezTo>
                <a:lnTo>
                  <a:pt x="2134870" y="91122"/>
                </a:lnTo>
                <a:cubicBezTo>
                  <a:pt x="2134870" y="102616"/>
                  <a:pt x="2125536" y="111950"/>
                  <a:pt x="2114042" y="111950"/>
                </a:cubicBezTo>
                <a:lnTo>
                  <a:pt x="20828" y="111950"/>
                </a:lnTo>
                <a:cubicBezTo>
                  <a:pt x="9334" y="111950"/>
                  <a:pt x="0" y="102616"/>
                  <a:pt x="0" y="91122"/>
                </a:cubicBezTo>
                <a:lnTo>
                  <a:pt x="0" y="20828"/>
                </a:lnTo>
                <a:cubicBezTo>
                  <a:pt x="0" y="9334"/>
                  <a:pt x="9334" y="0"/>
                  <a:pt x="20828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19" name="m-d01_bar_line-icon-grow"/>
          <p:cNvSpPr/>
          <p:nvPr/>
        </p:nvSpPr>
        <p:spPr>
          <a:xfrm>
            <a:off x="184976" y="2398395"/>
            <a:ext cx="21209" cy="13272"/>
          </a:xfrm>
          <a:custGeom>
            <a:avLst/>
            <a:gdLst/>
            <a:ahLst/>
            <a:cxnLst/>
            <a:rect l="0" t="0" r="r" b="b"/>
            <a:pathLst>
              <a:path w="21209" h="13272">
                <a:moveTo>
                  <a:pt x="0" y="13272"/>
                </a:moveTo>
                <a:lnTo>
                  <a:pt x="7112" y="5651"/>
                </a:lnTo>
                <a:lnTo>
                  <a:pt x="12192" y="9906"/>
                </a:lnTo>
                <a:lnTo>
                  <a:pt x="20638" y="0"/>
                </a:lnTo>
                <a:moveTo>
                  <a:pt x="17209" y="0"/>
                </a:moveTo>
                <a:lnTo>
                  <a:pt x="21209" y="0"/>
                </a:lnTo>
                <a:lnTo>
                  <a:pt x="21209" y="3937"/>
                </a:lnTo>
              </a:path>
            </a:pathLst>
          </a:custGeom>
          <a:noFill/>
          <a:ln w="25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20" name="m-d01_bar_line-note-1"/>
          <p:cNvSpPr txBox="1"/>
          <p:nvPr/>
        </p:nvSpPr>
        <p:spPr>
          <a:xfrm>
            <a:off x="230722" y="2386347"/>
            <a:ext cx="418422" cy="37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二季度环比提速，4 月起连续三月创新高</a:t>
            </a:r>
          </a:p>
        </p:txBody>
      </p:sp>
      <p:cxnSp>
        <p:nvCxnSpPr>
          <p:cNvPr id="521" name="m-d01_bar_line-note-div-1"/>
          <p:cNvCxnSpPr/>
          <p:nvPr/>
        </p:nvCxnSpPr>
        <p:spPr>
          <a:xfrm>
            <a:off x="886777" y="2379028"/>
            <a:ext cx="0" cy="49466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2" name="m-d01_bar_line-icon-target"/>
          <p:cNvSpPr/>
          <p:nvPr/>
        </p:nvSpPr>
        <p:spPr>
          <a:xfrm>
            <a:off x="951865" y="2391600"/>
            <a:ext cx="9334" cy="12129"/>
          </a:xfrm>
          <a:custGeom>
            <a:avLst/>
            <a:gdLst/>
            <a:ahLst/>
            <a:cxnLst/>
            <a:rect l="0" t="0" r="r" b="b"/>
            <a:pathLst>
              <a:path w="9334" h="12129">
                <a:moveTo>
                  <a:pt x="0" y="7112"/>
                </a:moveTo>
                <a:lnTo>
                  <a:pt x="0" y="0"/>
                </a:lnTo>
                <a:moveTo>
                  <a:pt x="0" y="12129"/>
                </a:moveTo>
                <a:lnTo>
                  <a:pt x="9334" y="2857"/>
                </a:lnTo>
              </a:path>
            </a:pathLst>
          </a:custGeom>
          <a:noFill/>
          <a:ln w="254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23" name="m-d01_bar_line-icon-target"/>
          <p:cNvSpPr/>
          <p:nvPr/>
        </p:nvSpPr>
        <p:spPr>
          <a:xfrm>
            <a:off x="939737" y="2391633"/>
            <a:ext cx="24256" cy="24256"/>
          </a:xfrm>
          <a:prstGeom prst="ellipse">
            <a:avLst/>
          </a:prstGeom>
          <a:noFill/>
          <a:ln w="254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24" name="m-d01_bar_line-icon-target"/>
          <p:cNvSpPr/>
          <p:nvPr/>
        </p:nvSpPr>
        <p:spPr>
          <a:xfrm>
            <a:off x="945660" y="2397556"/>
            <a:ext cx="12410" cy="12410"/>
          </a:xfrm>
          <a:prstGeom prst="ellipse">
            <a:avLst/>
          </a:prstGeom>
          <a:noFill/>
          <a:ln w="254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25" name="m-d01_bar_line-note-2"/>
          <p:cNvSpPr txBox="1"/>
          <p:nvPr/>
        </p:nvSpPr>
        <p:spPr>
          <a:xfrm>
            <a:off x="985737" y="2386347"/>
            <a:ext cx="393168" cy="37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全年目标 1,360 百万，进度符合预期</a:t>
            </a:r>
          </a:p>
        </p:txBody>
      </p:sp>
      <p:cxnSp>
        <p:nvCxnSpPr>
          <p:cNvPr id="526" name="m-d01_bar_line-note-div-2"/>
          <p:cNvCxnSpPr/>
          <p:nvPr/>
        </p:nvCxnSpPr>
        <p:spPr>
          <a:xfrm>
            <a:off x="1641792" y="2379028"/>
            <a:ext cx="0" cy="49466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7" name="m-d01_bar_line-icon-shield"/>
          <p:cNvSpPr/>
          <p:nvPr/>
        </p:nvSpPr>
        <p:spPr>
          <a:xfrm>
            <a:off x="1696720" y="2391600"/>
            <a:ext cx="20320" cy="24320"/>
          </a:xfrm>
          <a:custGeom>
            <a:avLst/>
            <a:gdLst/>
            <a:ahLst/>
            <a:cxnLst/>
            <a:rect l="0" t="0" r="r" b="b"/>
            <a:pathLst>
              <a:path w="20320" h="24320">
                <a:moveTo>
                  <a:pt x="10160" y="0"/>
                </a:moveTo>
                <a:lnTo>
                  <a:pt x="20320" y="4000"/>
                </a:lnTo>
                <a:lnTo>
                  <a:pt x="20320" y="11875"/>
                </a:lnTo>
                <a:cubicBezTo>
                  <a:pt x="20320" y="17780"/>
                  <a:pt x="16066" y="22288"/>
                  <a:pt x="10160" y="24320"/>
                </a:cubicBezTo>
                <a:cubicBezTo>
                  <a:pt x="4255" y="22288"/>
                  <a:pt x="0" y="17780"/>
                  <a:pt x="0" y="11875"/>
                </a:cubicBezTo>
                <a:lnTo>
                  <a:pt x="0" y="4000"/>
                </a:lnTo>
                <a:close/>
                <a:moveTo>
                  <a:pt x="5906" y="12129"/>
                </a:moveTo>
                <a:lnTo>
                  <a:pt x="9017" y="15240"/>
                </a:lnTo>
                <a:lnTo>
                  <a:pt x="14923" y="9335"/>
                </a:lnTo>
              </a:path>
            </a:pathLst>
          </a:custGeom>
          <a:noFill/>
          <a:ln w="254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28" name="m-d01_bar_line-note-3"/>
          <p:cNvSpPr txBox="1"/>
          <p:nvPr/>
        </p:nvSpPr>
        <p:spPr>
          <a:xfrm>
            <a:off x="1740752" y="2386347"/>
            <a:ext cx="396422" cy="3758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3 月受季节性因素影响，已于次月修复</a:t>
            </a:r>
          </a:p>
        </p:txBody>
      </p:sp>
      <p:cxnSp>
        <p:nvCxnSpPr>
          <p:cNvPr id="529" name="m-d01_bar_line-foot-line"/>
          <p:cNvCxnSpPr/>
          <p:nvPr/>
        </p:nvCxnSpPr>
        <p:spPr>
          <a:xfrm>
            <a:off x="56261" y="24935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0" name="m-d01_bar_line-foot-l"/>
          <p:cNvSpPr txBox="1"/>
          <p:nvPr/>
        </p:nvSpPr>
        <p:spPr>
          <a:xfrm>
            <a:off x="54074" y="2507523"/>
            <a:ext cx="19411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经营数据 · 上半年</a:t>
            </a:r>
          </a:p>
        </p:txBody>
      </p:sp>
      <p:sp>
        <p:nvSpPr>
          <p:cNvPr id="531" name="m-d01_bar_line-foot-r"/>
          <p:cNvSpPr txBox="1"/>
          <p:nvPr/>
        </p:nvSpPr>
        <p:spPr>
          <a:xfrm>
            <a:off x="2058509" y="25075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532" name="mini-card-s03_honeycomb"/>
          <p:cNvSpPr/>
          <p:nvPr/>
        </p:nvSpPr>
        <p:spPr>
          <a:xfrm>
            <a:off x="2552700" y="11684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0" y="0"/>
                </a:moveTo>
                <a:lnTo>
                  <a:pt x="2419160" y="0"/>
                </a:lnTo>
                <a:cubicBezTo>
                  <a:pt x="2463483" y="0"/>
                  <a:pt x="2499360" y="35878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0" y="1405890"/>
                </a:lnTo>
                <a:cubicBezTo>
                  <a:pt x="35877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8"/>
                  <a:pt x="35877" y="0"/>
                  <a:pt x="80200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33" name="m-s03_honeycomb-title-bar"/>
          <p:cNvSpPr/>
          <p:nvPr/>
        </p:nvSpPr>
        <p:spPr>
          <a:xfrm>
            <a:off x="2672461" y="12673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34" name="m-s03_honeycomb-title-bar-accent"/>
          <p:cNvSpPr/>
          <p:nvPr/>
        </p:nvSpPr>
        <p:spPr>
          <a:xfrm>
            <a:off x="2672461" y="12673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35" name="m-s03_honeycomb-title-cn"/>
          <p:cNvSpPr txBox="1"/>
          <p:nvPr/>
        </p:nvSpPr>
        <p:spPr>
          <a:xfrm>
            <a:off x="2704640" y="1249968"/>
            <a:ext cx="426453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六大核心能力</a:t>
            </a:r>
          </a:p>
        </p:txBody>
      </p:sp>
      <p:sp>
        <p:nvSpPr>
          <p:cNvPr id="536" name="m-s03_honeycomb-title-en"/>
          <p:cNvSpPr txBox="1"/>
          <p:nvPr/>
        </p:nvSpPr>
        <p:spPr>
          <a:xfrm>
            <a:off x="2711930" y="1337250"/>
            <a:ext cx="33374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CORE CAPABILITIES</a:t>
            </a:r>
          </a:p>
        </p:txBody>
      </p:sp>
      <p:sp>
        <p:nvSpPr>
          <p:cNvPr id="537" name="m-s03_honeycomb-title-sub"/>
          <p:cNvSpPr txBox="1"/>
          <p:nvPr/>
        </p:nvSpPr>
        <p:spPr>
          <a:xfrm>
            <a:off x="4422976" y="1306392"/>
            <a:ext cx="511978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以中台能力为核心，六大板块协同支撑业务增长</a:t>
            </a:r>
          </a:p>
        </p:txBody>
      </p:sp>
      <p:sp>
        <p:nvSpPr>
          <p:cNvPr id="538" name="m-s03_honeycomb-hex-ghost"/>
          <p:cNvSpPr/>
          <p:nvPr/>
        </p:nvSpPr>
        <p:spPr>
          <a:xfrm>
            <a:off x="4063048" y="1520857"/>
            <a:ext cx="302704" cy="339820"/>
          </a:xfrm>
          <a:custGeom>
            <a:avLst/>
            <a:gdLst/>
            <a:ahLst/>
            <a:cxnLst/>
            <a:rect l="0" t="0" r="r" b="b"/>
            <a:pathLst>
              <a:path w="302704" h="339820">
                <a:moveTo>
                  <a:pt x="302704" y="237776"/>
                </a:moveTo>
                <a:quadBezTo>
                  <a:pt x="302704" y="257270"/>
                  <a:pt x="285813" y="267049"/>
                </a:quadBezTo>
                <a:lnTo>
                  <a:pt x="168275" y="334931"/>
                </a:lnTo>
                <a:quadBezTo>
                  <a:pt x="151320" y="344710"/>
                  <a:pt x="134429" y="334931"/>
                </a:quadBezTo>
                <a:lnTo>
                  <a:pt x="16891" y="267049"/>
                </a:lnTo>
                <a:quadBezTo>
                  <a:pt x="0" y="257270"/>
                  <a:pt x="0" y="237776"/>
                </a:quadBezTo>
                <a:lnTo>
                  <a:pt x="0" y="102013"/>
                </a:lnTo>
                <a:quadBezTo>
                  <a:pt x="0" y="82518"/>
                  <a:pt x="16891" y="72739"/>
                </a:quadBezTo>
                <a:lnTo>
                  <a:pt x="134429" y="4858"/>
                </a:lnTo>
                <a:quadBezTo>
                  <a:pt x="151320" y="-4858"/>
                  <a:pt x="168275" y="4858"/>
                </a:quadBezTo>
                <a:lnTo>
                  <a:pt x="285813" y="72739"/>
                </a:lnTo>
                <a:quadBezTo>
                  <a:pt x="302704" y="82518"/>
                  <a:pt x="302704" y="102013"/>
                </a:quadBezTo>
                <a:close/>
              </a:path>
            </a:pathLst>
          </a:custGeom>
          <a:solidFill>
            <a:srgbClr val="1B5AA8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39" name="m-s03_honeycomb-hex-ghost"/>
          <p:cNvSpPr/>
          <p:nvPr/>
        </p:nvSpPr>
        <p:spPr>
          <a:xfrm>
            <a:off x="4063048" y="1996567"/>
            <a:ext cx="302704" cy="339820"/>
          </a:xfrm>
          <a:custGeom>
            <a:avLst/>
            <a:gdLst/>
            <a:ahLst/>
            <a:cxnLst/>
            <a:rect l="0" t="0" r="r" b="b"/>
            <a:pathLst>
              <a:path w="302704" h="339820">
                <a:moveTo>
                  <a:pt x="302704" y="237807"/>
                </a:moveTo>
                <a:quadBezTo>
                  <a:pt x="302704" y="257302"/>
                  <a:pt x="285813" y="267081"/>
                </a:quadBezTo>
                <a:lnTo>
                  <a:pt x="168275" y="334962"/>
                </a:lnTo>
                <a:quadBezTo>
                  <a:pt x="151320" y="344678"/>
                  <a:pt x="134429" y="334962"/>
                </a:quadBezTo>
                <a:lnTo>
                  <a:pt x="16891" y="267081"/>
                </a:lnTo>
                <a:quadBezTo>
                  <a:pt x="0" y="257302"/>
                  <a:pt x="0" y="237807"/>
                </a:quadBezTo>
                <a:lnTo>
                  <a:pt x="0" y="102044"/>
                </a:lnTo>
                <a:quadBezTo>
                  <a:pt x="0" y="82550"/>
                  <a:pt x="16891" y="72771"/>
                </a:quadBezTo>
                <a:lnTo>
                  <a:pt x="134429" y="4889"/>
                </a:lnTo>
                <a:quadBezTo>
                  <a:pt x="151320" y="-4890"/>
                  <a:pt x="168275" y="4889"/>
                </a:quadBezTo>
                <a:lnTo>
                  <a:pt x="285813" y="72771"/>
                </a:lnTo>
                <a:quadBezTo>
                  <a:pt x="302704" y="82550"/>
                  <a:pt x="302704" y="102044"/>
                </a:quadBezTo>
                <a:close/>
              </a:path>
            </a:pathLst>
          </a:custGeom>
          <a:solidFill>
            <a:srgbClr val="1B5AA8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40" name="m-s03_honeycomb-hex-ghost"/>
          <p:cNvSpPr/>
          <p:nvPr/>
        </p:nvSpPr>
        <p:spPr>
          <a:xfrm>
            <a:off x="3650996" y="2234470"/>
            <a:ext cx="302768" cy="339788"/>
          </a:xfrm>
          <a:custGeom>
            <a:avLst/>
            <a:gdLst/>
            <a:ahLst/>
            <a:cxnLst/>
            <a:rect l="0" t="0" r="r" b="b"/>
            <a:pathLst>
              <a:path w="302768" h="339788">
                <a:moveTo>
                  <a:pt x="302768" y="237776"/>
                </a:moveTo>
                <a:quadBezTo>
                  <a:pt x="302768" y="257270"/>
                  <a:pt x="285813" y="267049"/>
                </a:quadBezTo>
                <a:lnTo>
                  <a:pt x="168275" y="334931"/>
                </a:lnTo>
                <a:quadBezTo>
                  <a:pt x="151384" y="344646"/>
                  <a:pt x="134493" y="334931"/>
                </a:quadBezTo>
                <a:lnTo>
                  <a:pt x="16954" y="267049"/>
                </a:lnTo>
                <a:quadBezTo>
                  <a:pt x="0" y="257270"/>
                  <a:pt x="0" y="237776"/>
                </a:quadBezTo>
                <a:lnTo>
                  <a:pt x="0" y="102013"/>
                </a:lnTo>
                <a:quadBezTo>
                  <a:pt x="0" y="82518"/>
                  <a:pt x="16954" y="72739"/>
                </a:quadBezTo>
                <a:lnTo>
                  <a:pt x="134493" y="4858"/>
                </a:lnTo>
                <a:quadBezTo>
                  <a:pt x="151384" y="-4858"/>
                  <a:pt x="168275" y="4858"/>
                </a:quadBezTo>
                <a:lnTo>
                  <a:pt x="285813" y="72739"/>
                </a:lnTo>
                <a:quadBezTo>
                  <a:pt x="302768" y="82518"/>
                  <a:pt x="302768" y="102013"/>
                </a:quadBezTo>
                <a:close/>
              </a:path>
            </a:pathLst>
          </a:custGeom>
          <a:solidFill>
            <a:srgbClr val="1B5AA8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41" name="m-s03_honeycomb-hex-ghost"/>
          <p:cNvSpPr/>
          <p:nvPr/>
        </p:nvSpPr>
        <p:spPr>
          <a:xfrm>
            <a:off x="3239008" y="1996567"/>
            <a:ext cx="302705" cy="339820"/>
          </a:xfrm>
          <a:custGeom>
            <a:avLst/>
            <a:gdLst/>
            <a:ahLst/>
            <a:cxnLst/>
            <a:rect l="0" t="0" r="r" b="b"/>
            <a:pathLst>
              <a:path w="302705" h="339820">
                <a:moveTo>
                  <a:pt x="302705" y="237807"/>
                </a:moveTo>
                <a:quadBezTo>
                  <a:pt x="302705" y="257302"/>
                  <a:pt x="285814" y="267081"/>
                </a:quadBezTo>
                <a:lnTo>
                  <a:pt x="168275" y="334962"/>
                </a:lnTo>
                <a:quadBezTo>
                  <a:pt x="151384" y="344678"/>
                  <a:pt x="134430" y="334962"/>
                </a:quadBezTo>
                <a:lnTo>
                  <a:pt x="16891" y="267081"/>
                </a:lnTo>
                <a:quadBezTo>
                  <a:pt x="0" y="257302"/>
                  <a:pt x="0" y="237807"/>
                </a:quadBezTo>
                <a:lnTo>
                  <a:pt x="0" y="102044"/>
                </a:lnTo>
                <a:quadBezTo>
                  <a:pt x="0" y="82550"/>
                  <a:pt x="16891" y="72771"/>
                </a:quadBezTo>
                <a:lnTo>
                  <a:pt x="134430" y="4889"/>
                </a:lnTo>
                <a:quadBezTo>
                  <a:pt x="151384" y="-4890"/>
                  <a:pt x="168275" y="4889"/>
                </a:quadBezTo>
                <a:lnTo>
                  <a:pt x="285814" y="72771"/>
                </a:lnTo>
                <a:quadBezTo>
                  <a:pt x="302705" y="82550"/>
                  <a:pt x="302705" y="102044"/>
                </a:quadBezTo>
                <a:close/>
              </a:path>
            </a:pathLst>
          </a:custGeom>
          <a:solidFill>
            <a:srgbClr val="1B5AA8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42" name="m-s03_honeycomb-hex-ghost"/>
          <p:cNvSpPr/>
          <p:nvPr/>
        </p:nvSpPr>
        <p:spPr>
          <a:xfrm>
            <a:off x="3239008" y="1520857"/>
            <a:ext cx="302705" cy="339820"/>
          </a:xfrm>
          <a:custGeom>
            <a:avLst/>
            <a:gdLst/>
            <a:ahLst/>
            <a:cxnLst/>
            <a:rect l="0" t="0" r="r" b="b"/>
            <a:pathLst>
              <a:path w="302705" h="339820">
                <a:moveTo>
                  <a:pt x="302705" y="237776"/>
                </a:moveTo>
                <a:quadBezTo>
                  <a:pt x="302705" y="257270"/>
                  <a:pt x="285814" y="267049"/>
                </a:quadBezTo>
                <a:lnTo>
                  <a:pt x="168275" y="334931"/>
                </a:lnTo>
                <a:quadBezTo>
                  <a:pt x="151384" y="344710"/>
                  <a:pt x="134430" y="334931"/>
                </a:quadBezTo>
                <a:lnTo>
                  <a:pt x="16891" y="267049"/>
                </a:lnTo>
                <a:quadBezTo>
                  <a:pt x="0" y="257270"/>
                  <a:pt x="0" y="237776"/>
                </a:quadBezTo>
                <a:lnTo>
                  <a:pt x="0" y="102013"/>
                </a:lnTo>
                <a:quadBezTo>
                  <a:pt x="0" y="82518"/>
                  <a:pt x="16891" y="72739"/>
                </a:quadBezTo>
                <a:lnTo>
                  <a:pt x="134430" y="4858"/>
                </a:lnTo>
                <a:quadBezTo>
                  <a:pt x="151384" y="-4858"/>
                  <a:pt x="168275" y="4858"/>
                </a:quadBezTo>
                <a:lnTo>
                  <a:pt x="285814" y="72739"/>
                </a:lnTo>
                <a:quadBezTo>
                  <a:pt x="302705" y="82518"/>
                  <a:pt x="302705" y="102013"/>
                </a:quadBezTo>
                <a:close/>
              </a:path>
            </a:pathLst>
          </a:custGeom>
          <a:solidFill>
            <a:srgbClr val="1B5AA8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43" name="m-s03_honeycomb-hex-ghost"/>
          <p:cNvSpPr/>
          <p:nvPr/>
        </p:nvSpPr>
        <p:spPr>
          <a:xfrm>
            <a:off x="3650996" y="1282986"/>
            <a:ext cx="302768" cy="339788"/>
          </a:xfrm>
          <a:custGeom>
            <a:avLst/>
            <a:gdLst/>
            <a:ahLst/>
            <a:cxnLst/>
            <a:rect l="0" t="0" r="r" b="b"/>
            <a:pathLst>
              <a:path w="302768" h="339788">
                <a:moveTo>
                  <a:pt x="302768" y="237776"/>
                </a:moveTo>
                <a:quadBezTo>
                  <a:pt x="302768" y="257270"/>
                  <a:pt x="285813" y="267049"/>
                </a:quadBezTo>
                <a:lnTo>
                  <a:pt x="168275" y="334931"/>
                </a:lnTo>
                <a:quadBezTo>
                  <a:pt x="151384" y="344646"/>
                  <a:pt x="134493" y="334931"/>
                </a:quadBezTo>
                <a:lnTo>
                  <a:pt x="16954" y="267049"/>
                </a:lnTo>
                <a:quadBezTo>
                  <a:pt x="0" y="257270"/>
                  <a:pt x="0" y="237776"/>
                </a:quadBezTo>
                <a:lnTo>
                  <a:pt x="0" y="102013"/>
                </a:lnTo>
                <a:quadBezTo>
                  <a:pt x="0" y="82518"/>
                  <a:pt x="16954" y="72739"/>
                </a:quadBezTo>
                <a:lnTo>
                  <a:pt x="134493" y="4858"/>
                </a:lnTo>
                <a:quadBezTo>
                  <a:pt x="151384" y="-4858"/>
                  <a:pt x="168275" y="4858"/>
                </a:quadBezTo>
                <a:lnTo>
                  <a:pt x="285813" y="72739"/>
                </a:lnTo>
                <a:quadBezTo>
                  <a:pt x="302768" y="82518"/>
                  <a:pt x="302768" y="102013"/>
                </a:quadBezTo>
                <a:close/>
              </a:path>
            </a:pathLst>
          </a:custGeom>
          <a:solidFill>
            <a:srgbClr val="1B5AA8">
              <a:alpha val="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44" name="m-s03_honeycomb-hex-shadow"/>
          <p:cNvSpPr/>
          <p:nvPr/>
        </p:nvSpPr>
        <p:spPr>
          <a:xfrm>
            <a:off x="3292094" y="2149920"/>
            <a:ext cx="1020572" cy="114554"/>
          </a:xfrm>
          <a:prstGeom prst="ellipse">
            <a:avLst/>
          </a:prstGeom>
          <a:solidFill>
            <a:srgbClr val="123A6B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45" name="m-s03_honeycomb-hex-core"/>
          <p:cNvSpPr/>
          <p:nvPr/>
        </p:nvSpPr>
        <p:spPr>
          <a:xfrm>
            <a:off x="3646488" y="1754156"/>
            <a:ext cx="311785" cy="348932"/>
          </a:xfrm>
          <a:custGeom>
            <a:avLst/>
            <a:gdLst/>
            <a:ahLst/>
            <a:cxnLst/>
            <a:rect l="0" t="0" r="r" b="b"/>
            <a:pathLst>
              <a:path w="311785" h="348932">
                <a:moveTo>
                  <a:pt x="311785" y="242348"/>
                </a:moveTo>
                <a:quadBezTo>
                  <a:pt x="311785" y="264446"/>
                  <a:pt x="292608" y="275495"/>
                </a:quadBezTo>
                <a:lnTo>
                  <a:pt x="175070" y="343376"/>
                </a:lnTo>
                <a:quadBezTo>
                  <a:pt x="155892" y="354489"/>
                  <a:pt x="136715" y="343376"/>
                </a:quadBezTo>
                <a:lnTo>
                  <a:pt x="19177" y="275495"/>
                </a:lnTo>
                <a:quadBezTo>
                  <a:pt x="0" y="264446"/>
                  <a:pt x="0" y="242348"/>
                </a:quadBezTo>
                <a:lnTo>
                  <a:pt x="0" y="106585"/>
                </a:lnTo>
                <a:quadBezTo>
                  <a:pt x="0" y="84487"/>
                  <a:pt x="19177" y="73438"/>
                </a:quadBezTo>
                <a:lnTo>
                  <a:pt x="136715" y="5556"/>
                </a:lnTo>
                <a:quadBezTo>
                  <a:pt x="155892" y="-5556"/>
                  <a:pt x="175070" y="5556"/>
                </a:quadBezTo>
                <a:lnTo>
                  <a:pt x="292608" y="73438"/>
                </a:lnTo>
                <a:quadBezTo>
                  <a:pt x="311785" y="84487"/>
                  <a:pt x="311785" y="106585"/>
                </a:quadBezTo>
                <a:close/>
              </a:path>
            </a:pathLst>
          </a:custGeom>
          <a:gradFill rotWithShape="1">
            <a:gsLst>
              <a:gs pos="0">
                <a:srgbClr val="1E62B0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46" name="m-s03_honeycomb-hex-01"/>
          <p:cNvSpPr/>
          <p:nvPr/>
        </p:nvSpPr>
        <p:spPr>
          <a:xfrm>
            <a:off x="3783838" y="1516285"/>
            <a:ext cx="311722" cy="348933"/>
          </a:xfrm>
          <a:custGeom>
            <a:avLst/>
            <a:gdLst/>
            <a:ahLst/>
            <a:cxnLst/>
            <a:rect l="0" t="0" r="r" b="b"/>
            <a:pathLst>
              <a:path w="311722" h="348933">
                <a:moveTo>
                  <a:pt x="311722" y="242348"/>
                </a:moveTo>
                <a:quadBezTo>
                  <a:pt x="311722" y="264446"/>
                  <a:pt x="292608" y="275495"/>
                </a:quadBezTo>
                <a:lnTo>
                  <a:pt x="175070" y="343376"/>
                </a:lnTo>
                <a:quadBezTo>
                  <a:pt x="155892" y="354489"/>
                  <a:pt x="136715" y="343376"/>
                </a:quadBezTo>
                <a:lnTo>
                  <a:pt x="19177" y="275495"/>
                </a:lnTo>
                <a:quadBezTo>
                  <a:pt x="0" y="264446"/>
                  <a:pt x="0" y="242348"/>
                </a:quadBezTo>
                <a:lnTo>
                  <a:pt x="0" y="106585"/>
                </a:lnTo>
                <a:quadBezTo>
                  <a:pt x="0" y="84487"/>
                  <a:pt x="19177" y="73438"/>
                </a:quadBezTo>
                <a:lnTo>
                  <a:pt x="136715" y="5556"/>
                </a:lnTo>
                <a:quadBezTo>
                  <a:pt x="155892" y="-5556"/>
                  <a:pt x="175070" y="5556"/>
                </a:quadBezTo>
                <a:lnTo>
                  <a:pt x="292608" y="73438"/>
                </a:lnTo>
                <a:quadBezTo>
                  <a:pt x="311722" y="84487"/>
                  <a:pt x="311722" y="106585"/>
                </a:quadBezTo>
                <a:close/>
              </a:path>
            </a:pathLst>
          </a:custGeom>
          <a:gradFill rotWithShape="1">
            <a:gsLst>
              <a:gs pos="0">
                <a:srgbClr val="325DA1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47" name="m-s03_honeycomb-hex-02"/>
          <p:cNvSpPr/>
          <p:nvPr/>
        </p:nvSpPr>
        <p:spPr>
          <a:xfrm>
            <a:off x="3921188" y="1754156"/>
            <a:ext cx="311722" cy="348932"/>
          </a:xfrm>
          <a:custGeom>
            <a:avLst/>
            <a:gdLst/>
            <a:ahLst/>
            <a:cxnLst/>
            <a:rect l="0" t="0" r="r" b="b"/>
            <a:pathLst>
              <a:path w="311722" h="348932">
                <a:moveTo>
                  <a:pt x="311722" y="242348"/>
                </a:moveTo>
                <a:quadBezTo>
                  <a:pt x="311722" y="264446"/>
                  <a:pt x="292545" y="275495"/>
                </a:quadBezTo>
                <a:lnTo>
                  <a:pt x="175006" y="343376"/>
                </a:lnTo>
                <a:quadBezTo>
                  <a:pt x="155829" y="354489"/>
                  <a:pt x="136715" y="343376"/>
                </a:quadBezTo>
                <a:lnTo>
                  <a:pt x="19177" y="275495"/>
                </a:lnTo>
                <a:quadBezTo>
                  <a:pt x="0" y="264446"/>
                  <a:pt x="0" y="242348"/>
                </a:quadBezTo>
                <a:lnTo>
                  <a:pt x="0" y="106585"/>
                </a:lnTo>
                <a:quadBezTo>
                  <a:pt x="0" y="84487"/>
                  <a:pt x="19177" y="73438"/>
                </a:quadBezTo>
                <a:lnTo>
                  <a:pt x="136715" y="5556"/>
                </a:lnTo>
                <a:quadBezTo>
                  <a:pt x="155829" y="-5556"/>
                  <a:pt x="175006" y="5556"/>
                </a:quadBezTo>
                <a:lnTo>
                  <a:pt x="292545" y="73438"/>
                </a:lnTo>
                <a:quadBezTo>
                  <a:pt x="311722" y="84487"/>
                  <a:pt x="311722" y="106585"/>
                </a:quadBezTo>
                <a:close/>
              </a:path>
            </a:pathLst>
          </a:custGeom>
          <a:gradFill rotWithShape="1">
            <a:gsLst>
              <a:gs pos="0">
                <a:srgbClr val="3969AC"/>
              </a:gs>
              <a:gs pos="100000">
                <a:srgbClr val="134C9C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48" name="m-s03_honeycomb-hex-03"/>
          <p:cNvSpPr/>
          <p:nvPr/>
        </p:nvSpPr>
        <p:spPr>
          <a:xfrm>
            <a:off x="3783838" y="1992027"/>
            <a:ext cx="311722" cy="348901"/>
          </a:xfrm>
          <a:custGeom>
            <a:avLst/>
            <a:gdLst/>
            <a:ahLst/>
            <a:cxnLst/>
            <a:rect l="0" t="0" r="r" b="b"/>
            <a:pathLst>
              <a:path w="311722" h="348901">
                <a:moveTo>
                  <a:pt x="311722" y="242348"/>
                </a:moveTo>
                <a:quadBezTo>
                  <a:pt x="311722" y="264446"/>
                  <a:pt x="292608" y="275495"/>
                </a:quadBezTo>
                <a:lnTo>
                  <a:pt x="175070" y="343376"/>
                </a:lnTo>
                <a:quadBezTo>
                  <a:pt x="155892" y="354425"/>
                  <a:pt x="136715" y="343376"/>
                </a:quadBezTo>
                <a:lnTo>
                  <a:pt x="19177" y="275495"/>
                </a:lnTo>
                <a:quadBezTo>
                  <a:pt x="0" y="264446"/>
                  <a:pt x="0" y="242348"/>
                </a:quadBezTo>
                <a:lnTo>
                  <a:pt x="0" y="106585"/>
                </a:lnTo>
                <a:quadBezTo>
                  <a:pt x="0" y="84487"/>
                  <a:pt x="19177" y="73438"/>
                </a:quadBezTo>
                <a:lnTo>
                  <a:pt x="136715" y="5556"/>
                </a:lnTo>
                <a:quadBezTo>
                  <a:pt x="155892" y="-5556"/>
                  <a:pt x="175070" y="5556"/>
                </a:quadBezTo>
                <a:lnTo>
                  <a:pt x="292608" y="73438"/>
                </a:lnTo>
                <a:quadBezTo>
                  <a:pt x="311722" y="84487"/>
                  <a:pt x="311722" y="106585"/>
                </a:quadBezTo>
                <a:close/>
              </a:path>
            </a:pathLst>
          </a:custGeom>
          <a:gradFill rotWithShape="1">
            <a:gsLst>
              <a:gs pos="0">
                <a:srgbClr val="4780C2"/>
              </a:gs>
              <a:gs pos="100000">
                <a:srgbClr val="2468B6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49" name="m-s03_honeycomb-hex-04"/>
          <p:cNvSpPr/>
          <p:nvPr/>
        </p:nvSpPr>
        <p:spPr>
          <a:xfrm>
            <a:off x="3509200" y="1992027"/>
            <a:ext cx="311722" cy="348901"/>
          </a:xfrm>
          <a:custGeom>
            <a:avLst/>
            <a:gdLst/>
            <a:ahLst/>
            <a:cxnLst/>
            <a:rect l="0" t="0" r="r" b="b"/>
            <a:pathLst>
              <a:path w="311722" h="348901">
                <a:moveTo>
                  <a:pt x="311722" y="242348"/>
                </a:moveTo>
                <a:quadBezTo>
                  <a:pt x="311722" y="264446"/>
                  <a:pt x="292545" y="275495"/>
                </a:quadBezTo>
                <a:lnTo>
                  <a:pt x="175006" y="343376"/>
                </a:lnTo>
                <a:quadBezTo>
                  <a:pt x="155829" y="354425"/>
                  <a:pt x="136652" y="343376"/>
                </a:quadBezTo>
                <a:lnTo>
                  <a:pt x="19113" y="275495"/>
                </a:lnTo>
                <a:quadBezTo>
                  <a:pt x="0" y="264446"/>
                  <a:pt x="0" y="242348"/>
                </a:quadBezTo>
                <a:lnTo>
                  <a:pt x="0" y="106585"/>
                </a:lnTo>
                <a:quadBezTo>
                  <a:pt x="0" y="84487"/>
                  <a:pt x="19113" y="73438"/>
                </a:quadBezTo>
                <a:lnTo>
                  <a:pt x="136652" y="5556"/>
                </a:lnTo>
                <a:quadBezTo>
                  <a:pt x="155829" y="-5556"/>
                  <a:pt x="175006" y="5556"/>
                </a:quadBezTo>
                <a:lnTo>
                  <a:pt x="292545" y="73438"/>
                </a:lnTo>
                <a:quadBezTo>
                  <a:pt x="311722" y="84487"/>
                  <a:pt x="311722" y="106585"/>
                </a:quadBezTo>
                <a:close/>
              </a:path>
            </a:pathLst>
          </a:custGeom>
          <a:gradFill rotWithShape="1">
            <a:gsLst>
              <a:gs pos="0">
                <a:srgbClr val="4F8DCC"/>
              </a:gs>
              <a:gs pos="100000">
                <a:srgbClr val="2E77C2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50" name="m-s03_honeycomb-hex-05"/>
          <p:cNvSpPr/>
          <p:nvPr/>
        </p:nvSpPr>
        <p:spPr>
          <a:xfrm>
            <a:off x="3371850" y="1754156"/>
            <a:ext cx="311722" cy="348932"/>
          </a:xfrm>
          <a:custGeom>
            <a:avLst/>
            <a:gdLst/>
            <a:ahLst/>
            <a:cxnLst/>
            <a:rect l="0" t="0" r="r" b="b"/>
            <a:pathLst>
              <a:path w="311722" h="348932">
                <a:moveTo>
                  <a:pt x="311722" y="242348"/>
                </a:moveTo>
                <a:quadBezTo>
                  <a:pt x="311722" y="264446"/>
                  <a:pt x="292545" y="275495"/>
                </a:quadBezTo>
                <a:lnTo>
                  <a:pt x="175006" y="343376"/>
                </a:lnTo>
                <a:quadBezTo>
                  <a:pt x="155829" y="354489"/>
                  <a:pt x="136715" y="343376"/>
                </a:quadBezTo>
                <a:lnTo>
                  <a:pt x="19177" y="275495"/>
                </a:lnTo>
                <a:quadBezTo>
                  <a:pt x="0" y="264446"/>
                  <a:pt x="0" y="242348"/>
                </a:quadBezTo>
                <a:lnTo>
                  <a:pt x="0" y="106585"/>
                </a:lnTo>
                <a:quadBezTo>
                  <a:pt x="0" y="84487"/>
                  <a:pt x="19177" y="73438"/>
                </a:quadBezTo>
                <a:lnTo>
                  <a:pt x="136715" y="5556"/>
                </a:lnTo>
                <a:quadBezTo>
                  <a:pt x="155829" y="-5556"/>
                  <a:pt x="175006" y="5556"/>
                </a:quadBezTo>
                <a:lnTo>
                  <a:pt x="292545" y="73438"/>
                </a:lnTo>
                <a:quadBezTo>
                  <a:pt x="311722" y="84487"/>
                  <a:pt x="311722" y="106585"/>
                </a:quadBezTo>
                <a:close/>
              </a:path>
            </a:pathLst>
          </a:custGeom>
          <a:gradFill rotWithShape="1">
            <a:gsLst>
              <a:gs pos="0">
                <a:srgbClr val="64A5DD"/>
              </a:gs>
              <a:gs pos="100000">
                <a:srgbClr val="4694D7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51" name="m-s03_honeycomb-hex-06"/>
          <p:cNvSpPr/>
          <p:nvPr/>
        </p:nvSpPr>
        <p:spPr>
          <a:xfrm>
            <a:off x="3509200" y="1516285"/>
            <a:ext cx="311722" cy="348933"/>
          </a:xfrm>
          <a:custGeom>
            <a:avLst/>
            <a:gdLst/>
            <a:ahLst/>
            <a:cxnLst/>
            <a:rect l="0" t="0" r="r" b="b"/>
            <a:pathLst>
              <a:path w="311722" h="348933">
                <a:moveTo>
                  <a:pt x="311722" y="242348"/>
                </a:moveTo>
                <a:quadBezTo>
                  <a:pt x="311722" y="264446"/>
                  <a:pt x="292545" y="275495"/>
                </a:quadBezTo>
                <a:lnTo>
                  <a:pt x="175006" y="343376"/>
                </a:lnTo>
                <a:quadBezTo>
                  <a:pt x="155829" y="354489"/>
                  <a:pt x="136652" y="343376"/>
                </a:quadBezTo>
                <a:lnTo>
                  <a:pt x="19113" y="275495"/>
                </a:lnTo>
                <a:quadBezTo>
                  <a:pt x="0" y="264446"/>
                  <a:pt x="0" y="242348"/>
                </a:quadBezTo>
                <a:lnTo>
                  <a:pt x="0" y="106585"/>
                </a:lnTo>
                <a:quadBezTo>
                  <a:pt x="0" y="84487"/>
                  <a:pt x="19113" y="73438"/>
                </a:quadBezTo>
                <a:lnTo>
                  <a:pt x="136652" y="5556"/>
                </a:lnTo>
                <a:quadBezTo>
                  <a:pt x="155829" y="-5556"/>
                  <a:pt x="175006" y="5556"/>
                </a:quadBezTo>
                <a:lnTo>
                  <a:pt x="292545" y="73438"/>
                </a:lnTo>
                <a:quadBezTo>
                  <a:pt x="311722" y="84487"/>
                  <a:pt x="311722" y="106585"/>
                </a:quadBezTo>
                <a:close/>
              </a:path>
            </a:pathLst>
          </a:custGeom>
          <a:gradFill rotWithShape="1">
            <a:gsLst>
              <a:gs pos="0">
                <a:srgbClr val="6FB1E4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52" name="m-s03_honeycomb-join-0-1"/>
          <p:cNvSpPr/>
          <p:nvPr/>
        </p:nvSpPr>
        <p:spPr>
          <a:xfrm>
            <a:off x="3783838" y="1749901"/>
            <a:ext cx="174435" cy="119571"/>
          </a:xfrm>
          <a:custGeom>
            <a:avLst/>
            <a:gdLst/>
            <a:ahLst/>
            <a:cxnLst/>
            <a:rect l="0" t="0" r="r" b="b"/>
            <a:pathLst>
              <a:path w="174435" h="119571">
                <a:moveTo>
                  <a:pt x="0" y="14637"/>
                </a:moveTo>
                <a:quadBezTo>
                  <a:pt x="0" y="9430"/>
                  <a:pt x="4509" y="6826"/>
                </a:quadBezTo>
                <a:lnTo>
                  <a:pt x="14034" y="1302"/>
                </a:lnTo>
                <a:quadBezTo>
                  <a:pt x="18542" y="-1302"/>
                  <a:pt x="23050" y="1302"/>
                </a:quadBezTo>
                <a:lnTo>
                  <a:pt x="169926" y="86138"/>
                </a:lnTo>
                <a:quadBezTo>
                  <a:pt x="174435" y="88741"/>
                  <a:pt x="174435" y="93948"/>
                </a:quadBezTo>
                <a:lnTo>
                  <a:pt x="174435" y="104934"/>
                </a:lnTo>
                <a:quadBezTo>
                  <a:pt x="174435" y="110141"/>
                  <a:pt x="169926" y="112744"/>
                </a:quadBezTo>
                <a:lnTo>
                  <a:pt x="160401" y="118269"/>
                </a:lnTo>
                <a:quadBezTo>
                  <a:pt x="155892" y="120872"/>
                  <a:pt x="151384" y="118269"/>
                </a:quadBezTo>
                <a:lnTo>
                  <a:pt x="4509" y="33433"/>
                </a:lnTo>
                <a:quadBezTo>
                  <a:pt x="0" y="30829"/>
                  <a:pt x="0" y="25622"/>
                </a:quadBezTo>
                <a:close/>
              </a:path>
            </a:pathLst>
          </a:custGeom>
          <a:solidFill>
            <a:srgbClr val="082D7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53" name="m-s03_honeycomb-join-0-2"/>
          <p:cNvSpPr/>
          <p:nvPr/>
        </p:nvSpPr>
        <p:spPr>
          <a:xfrm>
            <a:off x="3921188" y="1829213"/>
            <a:ext cx="37084" cy="198818"/>
          </a:xfrm>
          <a:custGeom>
            <a:avLst/>
            <a:gdLst/>
            <a:ahLst/>
            <a:cxnLst/>
            <a:rect l="0" t="0" r="r" b="b"/>
            <a:pathLst>
              <a:path w="37084" h="198818">
                <a:moveTo>
                  <a:pt x="37084" y="184182"/>
                </a:moveTo>
                <a:quadBezTo>
                  <a:pt x="37084" y="189389"/>
                  <a:pt x="32575" y="191992"/>
                </a:quadBezTo>
                <a:lnTo>
                  <a:pt x="23050" y="197517"/>
                </a:lnTo>
                <a:quadBezTo>
                  <a:pt x="18542" y="200120"/>
                  <a:pt x="14034" y="197517"/>
                </a:quadBezTo>
                <a:lnTo>
                  <a:pt x="4509" y="191992"/>
                </a:lnTo>
                <a:quadBezTo>
                  <a:pt x="0" y="189389"/>
                  <a:pt x="0" y="184182"/>
                </a:quadBezTo>
                <a:lnTo>
                  <a:pt x="0" y="14637"/>
                </a:lnTo>
                <a:quadBezTo>
                  <a:pt x="0" y="9430"/>
                  <a:pt x="4509" y="6826"/>
                </a:quadBezTo>
                <a:lnTo>
                  <a:pt x="14034" y="1302"/>
                </a:lnTo>
                <a:quadBezTo>
                  <a:pt x="18542" y="-1302"/>
                  <a:pt x="23050" y="1302"/>
                </a:quadBezTo>
                <a:lnTo>
                  <a:pt x="32575" y="6826"/>
                </a:lnTo>
                <a:quadBezTo>
                  <a:pt x="37084" y="9430"/>
                  <a:pt x="37084" y="14637"/>
                </a:quadBezTo>
                <a:close/>
              </a:path>
            </a:pathLst>
          </a:custGeom>
          <a:solidFill>
            <a:srgbClr val="0A337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54" name="m-s03_honeycomb-join-0-3"/>
          <p:cNvSpPr/>
          <p:nvPr/>
        </p:nvSpPr>
        <p:spPr>
          <a:xfrm>
            <a:off x="3783838" y="1987772"/>
            <a:ext cx="174435" cy="119571"/>
          </a:xfrm>
          <a:custGeom>
            <a:avLst/>
            <a:gdLst/>
            <a:ahLst/>
            <a:cxnLst/>
            <a:rect l="0" t="0" r="r" b="b"/>
            <a:pathLst>
              <a:path w="174435" h="119571">
                <a:moveTo>
                  <a:pt x="174435" y="25622"/>
                </a:moveTo>
                <a:quadBezTo>
                  <a:pt x="174435" y="30829"/>
                  <a:pt x="169926" y="33433"/>
                </a:quadBezTo>
                <a:lnTo>
                  <a:pt x="23050" y="118269"/>
                </a:lnTo>
                <a:quadBezTo>
                  <a:pt x="18542" y="120872"/>
                  <a:pt x="14034" y="118269"/>
                </a:quadBezTo>
                <a:lnTo>
                  <a:pt x="4509" y="112744"/>
                </a:lnTo>
                <a:quadBezTo>
                  <a:pt x="0" y="110141"/>
                  <a:pt x="0" y="104934"/>
                </a:quadBezTo>
                <a:lnTo>
                  <a:pt x="0" y="93948"/>
                </a:lnTo>
                <a:quadBezTo>
                  <a:pt x="0" y="88741"/>
                  <a:pt x="4509" y="86138"/>
                </a:quadBezTo>
                <a:lnTo>
                  <a:pt x="151384" y="1302"/>
                </a:lnTo>
                <a:quadBezTo>
                  <a:pt x="155892" y="-1302"/>
                  <a:pt x="160401" y="1302"/>
                </a:quadBezTo>
                <a:lnTo>
                  <a:pt x="169926" y="6826"/>
                </a:lnTo>
                <a:quadBezTo>
                  <a:pt x="174435" y="9430"/>
                  <a:pt x="174435" y="14637"/>
                </a:quadBezTo>
                <a:close/>
              </a:path>
            </a:pathLst>
          </a:custGeom>
          <a:solidFill>
            <a:srgbClr val="103F8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55" name="m-s03_honeycomb-join-0-4"/>
          <p:cNvSpPr/>
          <p:nvPr/>
        </p:nvSpPr>
        <p:spPr>
          <a:xfrm>
            <a:off x="3646488" y="1987772"/>
            <a:ext cx="174435" cy="119571"/>
          </a:xfrm>
          <a:custGeom>
            <a:avLst/>
            <a:gdLst/>
            <a:ahLst/>
            <a:cxnLst/>
            <a:rect l="0" t="0" r="r" b="b"/>
            <a:pathLst>
              <a:path w="174435" h="119571">
                <a:moveTo>
                  <a:pt x="174435" y="104934"/>
                </a:moveTo>
                <a:quadBezTo>
                  <a:pt x="174435" y="110141"/>
                  <a:pt x="169926" y="112744"/>
                </a:quadBezTo>
                <a:lnTo>
                  <a:pt x="160401" y="118269"/>
                </a:lnTo>
                <a:quadBezTo>
                  <a:pt x="155892" y="120872"/>
                  <a:pt x="151384" y="118269"/>
                </a:quadBezTo>
                <a:lnTo>
                  <a:pt x="4509" y="33433"/>
                </a:lnTo>
                <a:quadBezTo>
                  <a:pt x="0" y="30829"/>
                  <a:pt x="0" y="25622"/>
                </a:quadBezTo>
                <a:lnTo>
                  <a:pt x="0" y="14637"/>
                </a:lnTo>
                <a:quadBezTo>
                  <a:pt x="0" y="9430"/>
                  <a:pt x="4509" y="6826"/>
                </a:quadBezTo>
                <a:lnTo>
                  <a:pt x="14034" y="1302"/>
                </a:lnTo>
                <a:quadBezTo>
                  <a:pt x="18542" y="-1302"/>
                  <a:pt x="23050" y="1302"/>
                </a:quadBezTo>
                <a:lnTo>
                  <a:pt x="169926" y="86138"/>
                </a:lnTo>
                <a:quadBezTo>
                  <a:pt x="174435" y="88741"/>
                  <a:pt x="174435" y="93948"/>
                </a:quadBezTo>
                <a:close/>
              </a:path>
            </a:pathLst>
          </a:custGeom>
          <a:solidFill>
            <a:srgbClr val="13449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56" name="m-s03_honeycomb-join-0-5"/>
          <p:cNvSpPr/>
          <p:nvPr/>
        </p:nvSpPr>
        <p:spPr>
          <a:xfrm>
            <a:off x="3646488" y="1829213"/>
            <a:ext cx="37084" cy="198818"/>
          </a:xfrm>
          <a:custGeom>
            <a:avLst/>
            <a:gdLst/>
            <a:ahLst/>
            <a:cxnLst/>
            <a:rect l="0" t="0" r="r" b="b"/>
            <a:pathLst>
              <a:path w="37084" h="198818">
                <a:moveTo>
                  <a:pt x="23050" y="197517"/>
                </a:moveTo>
                <a:quadBezTo>
                  <a:pt x="18542" y="200120"/>
                  <a:pt x="14034" y="197517"/>
                </a:quadBezTo>
                <a:lnTo>
                  <a:pt x="4509" y="191992"/>
                </a:lnTo>
                <a:quadBezTo>
                  <a:pt x="0" y="189389"/>
                  <a:pt x="0" y="184182"/>
                </a:quadBezTo>
                <a:lnTo>
                  <a:pt x="0" y="14637"/>
                </a:lnTo>
                <a:quadBezTo>
                  <a:pt x="0" y="9430"/>
                  <a:pt x="4509" y="6826"/>
                </a:quadBezTo>
                <a:lnTo>
                  <a:pt x="14034" y="1302"/>
                </a:lnTo>
                <a:quadBezTo>
                  <a:pt x="18542" y="-1302"/>
                  <a:pt x="23050" y="1302"/>
                </a:quadBezTo>
                <a:lnTo>
                  <a:pt x="32575" y="6826"/>
                </a:lnTo>
                <a:quadBezTo>
                  <a:pt x="37084" y="9430"/>
                  <a:pt x="37084" y="14637"/>
                </a:quadBezTo>
                <a:lnTo>
                  <a:pt x="37084" y="184182"/>
                </a:lnTo>
                <a:quadBezTo>
                  <a:pt x="37084" y="189389"/>
                  <a:pt x="32575" y="191992"/>
                </a:quadBezTo>
                <a:close/>
              </a:path>
            </a:pathLst>
          </a:custGeom>
          <a:solidFill>
            <a:srgbClr val="1A509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57" name="m-s03_honeycomb-join-0-6"/>
          <p:cNvSpPr/>
          <p:nvPr/>
        </p:nvSpPr>
        <p:spPr>
          <a:xfrm>
            <a:off x="3646488" y="1749901"/>
            <a:ext cx="174435" cy="119571"/>
          </a:xfrm>
          <a:custGeom>
            <a:avLst/>
            <a:gdLst/>
            <a:ahLst/>
            <a:cxnLst/>
            <a:rect l="0" t="0" r="r" b="b"/>
            <a:pathLst>
              <a:path w="174435" h="119571">
                <a:moveTo>
                  <a:pt x="4509" y="112744"/>
                </a:moveTo>
                <a:quadBezTo>
                  <a:pt x="0" y="110141"/>
                  <a:pt x="0" y="104934"/>
                </a:quadBezTo>
                <a:lnTo>
                  <a:pt x="0" y="93948"/>
                </a:lnTo>
                <a:quadBezTo>
                  <a:pt x="0" y="88741"/>
                  <a:pt x="4509" y="86138"/>
                </a:quadBezTo>
                <a:lnTo>
                  <a:pt x="151384" y="1302"/>
                </a:lnTo>
                <a:quadBezTo>
                  <a:pt x="155892" y="-1302"/>
                  <a:pt x="160401" y="1302"/>
                </a:quadBezTo>
                <a:lnTo>
                  <a:pt x="169926" y="6826"/>
                </a:lnTo>
                <a:quadBezTo>
                  <a:pt x="174435" y="9430"/>
                  <a:pt x="174435" y="14637"/>
                </a:quadBezTo>
                <a:lnTo>
                  <a:pt x="174435" y="25622"/>
                </a:lnTo>
                <a:quadBezTo>
                  <a:pt x="174435" y="30829"/>
                  <a:pt x="169926" y="33433"/>
                </a:quadBezTo>
                <a:lnTo>
                  <a:pt x="23050" y="118269"/>
                </a:lnTo>
                <a:quadBezTo>
                  <a:pt x="18542" y="120872"/>
                  <a:pt x="14034" y="118269"/>
                </a:quadBezTo>
                <a:close/>
              </a:path>
            </a:pathLst>
          </a:custGeom>
          <a:solidFill>
            <a:srgbClr val="1F56A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58" name="m-s03_honeycomb-join-1-2"/>
          <p:cNvSpPr/>
          <p:nvPr/>
        </p:nvSpPr>
        <p:spPr>
          <a:xfrm>
            <a:off x="3921188" y="1749901"/>
            <a:ext cx="174371" cy="119571"/>
          </a:xfrm>
          <a:custGeom>
            <a:avLst/>
            <a:gdLst/>
            <a:ahLst/>
            <a:cxnLst/>
            <a:rect l="0" t="0" r="r" b="b"/>
            <a:pathLst>
              <a:path w="174371" h="119571">
                <a:moveTo>
                  <a:pt x="174371" y="25622"/>
                </a:moveTo>
                <a:quadBezTo>
                  <a:pt x="174371" y="30829"/>
                  <a:pt x="169862" y="33433"/>
                </a:quadBezTo>
                <a:lnTo>
                  <a:pt x="23050" y="118269"/>
                </a:lnTo>
                <a:quadBezTo>
                  <a:pt x="18542" y="120872"/>
                  <a:pt x="14034" y="118269"/>
                </a:quadBezTo>
                <a:lnTo>
                  <a:pt x="4509" y="112744"/>
                </a:lnTo>
                <a:quadBezTo>
                  <a:pt x="0" y="110141"/>
                  <a:pt x="0" y="104934"/>
                </a:quadBezTo>
                <a:lnTo>
                  <a:pt x="0" y="93948"/>
                </a:lnTo>
                <a:quadBezTo>
                  <a:pt x="0" y="88741"/>
                  <a:pt x="4509" y="86138"/>
                </a:quadBezTo>
                <a:lnTo>
                  <a:pt x="151384" y="1302"/>
                </a:lnTo>
                <a:quadBezTo>
                  <a:pt x="155829" y="-1302"/>
                  <a:pt x="160338" y="1302"/>
                </a:quadBezTo>
                <a:lnTo>
                  <a:pt x="169862" y="6826"/>
                </a:lnTo>
                <a:quadBezTo>
                  <a:pt x="174371" y="9430"/>
                  <a:pt x="174371" y="14637"/>
                </a:quadBezTo>
                <a:close/>
              </a:path>
            </a:pathLst>
          </a:custGeom>
          <a:solidFill>
            <a:srgbClr val="09307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59" name="m-s03_honeycomb-join-1-6"/>
          <p:cNvSpPr/>
          <p:nvPr/>
        </p:nvSpPr>
        <p:spPr>
          <a:xfrm>
            <a:off x="3783838" y="1591342"/>
            <a:ext cx="37084" cy="198818"/>
          </a:xfrm>
          <a:custGeom>
            <a:avLst/>
            <a:gdLst/>
            <a:ahLst/>
            <a:cxnLst/>
            <a:rect l="0" t="0" r="r" b="b"/>
            <a:pathLst>
              <a:path w="37084" h="198818">
                <a:moveTo>
                  <a:pt x="23050" y="197517"/>
                </a:moveTo>
                <a:quadBezTo>
                  <a:pt x="18542" y="200120"/>
                  <a:pt x="14034" y="197517"/>
                </a:quadBezTo>
                <a:lnTo>
                  <a:pt x="4509" y="191992"/>
                </a:lnTo>
                <a:quadBezTo>
                  <a:pt x="0" y="189389"/>
                  <a:pt x="0" y="184182"/>
                </a:quadBezTo>
                <a:lnTo>
                  <a:pt x="0" y="14637"/>
                </a:lnTo>
                <a:quadBezTo>
                  <a:pt x="0" y="9430"/>
                  <a:pt x="4509" y="6826"/>
                </a:quadBezTo>
                <a:lnTo>
                  <a:pt x="14034" y="1302"/>
                </a:lnTo>
                <a:quadBezTo>
                  <a:pt x="18542" y="-1302"/>
                  <a:pt x="23050" y="1302"/>
                </a:quadBezTo>
                <a:lnTo>
                  <a:pt x="32575" y="6826"/>
                </a:lnTo>
                <a:quadBezTo>
                  <a:pt x="37084" y="9430"/>
                  <a:pt x="37084" y="14637"/>
                </a:quadBezTo>
                <a:lnTo>
                  <a:pt x="37084" y="184182"/>
                </a:lnTo>
                <a:quadBezTo>
                  <a:pt x="37084" y="189389"/>
                  <a:pt x="32575" y="191992"/>
                </a:quadBezTo>
                <a:close/>
              </a:path>
            </a:pathLst>
          </a:custGeom>
          <a:solidFill>
            <a:srgbClr val="1E519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60" name="m-s03_honeycomb-join-2-3"/>
          <p:cNvSpPr/>
          <p:nvPr/>
        </p:nvSpPr>
        <p:spPr>
          <a:xfrm>
            <a:off x="3921188" y="1987772"/>
            <a:ext cx="174371" cy="119571"/>
          </a:xfrm>
          <a:custGeom>
            <a:avLst/>
            <a:gdLst/>
            <a:ahLst/>
            <a:cxnLst/>
            <a:rect l="0" t="0" r="r" b="b"/>
            <a:pathLst>
              <a:path w="174371" h="119571">
                <a:moveTo>
                  <a:pt x="174371" y="104934"/>
                </a:moveTo>
                <a:quadBezTo>
                  <a:pt x="174371" y="110141"/>
                  <a:pt x="169862" y="112744"/>
                </a:quadBezTo>
                <a:lnTo>
                  <a:pt x="160338" y="118269"/>
                </a:lnTo>
                <a:quadBezTo>
                  <a:pt x="155829" y="120872"/>
                  <a:pt x="151384" y="118269"/>
                </a:quadBezTo>
                <a:lnTo>
                  <a:pt x="4509" y="33433"/>
                </a:lnTo>
                <a:quadBezTo>
                  <a:pt x="0" y="30829"/>
                  <a:pt x="0" y="25622"/>
                </a:quadBezTo>
                <a:lnTo>
                  <a:pt x="0" y="14637"/>
                </a:lnTo>
                <a:quadBezTo>
                  <a:pt x="0" y="9430"/>
                  <a:pt x="4509" y="6826"/>
                </a:quadBezTo>
                <a:lnTo>
                  <a:pt x="14034" y="1302"/>
                </a:lnTo>
                <a:quadBezTo>
                  <a:pt x="18542" y="-1302"/>
                  <a:pt x="23050" y="1302"/>
                </a:quadBezTo>
                <a:lnTo>
                  <a:pt x="169862" y="86138"/>
                </a:lnTo>
                <a:quadBezTo>
                  <a:pt x="174371" y="88741"/>
                  <a:pt x="174371" y="93948"/>
                </a:quadBezTo>
                <a:close/>
              </a:path>
            </a:pathLst>
          </a:custGeom>
          <a:solidFill>
            <a:srgbClr val="1241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61" name="m-s03_honeycomb-join-3-4"/>
          <p:cNvSpPr/>
          <p:nvPr/>
        </p:nvSpPr>
        <p:spPr>
          <a:xfrm>
            <a:off x="3783838" y="2067084"/>
            <a:ext cx="37084" cy="198819"/>
          </a:xfrm>
          <a:custGeom>
            <a:avLst/>
            <a:gdLst/>
            <a:ahLst/>
            <a:cxnLst/>
            <a:rect l="0" t="0" r="r" b="b"/>
            <a:pathLst>
              <a:path w="37084" h="198819">
                <a:moveTo>
                  <a:pt x="23050" y="197517"/>
                </a:moveTo>
                <a:quadBezTo>
                  <a:pt x="18542" y="200120"/>
                  <a:pt x="14034" y="197517"/>
                </a:quadBezTo>
                <a:lnTo>
                  <a:pt x="4509" y="191992"/>
                </a:lnTo>
                <a:quadBezTo>
                  <a:pt x="0" y="189389"/>
                  <a:pt x="0" y="184182"/>
                </a:quadBezTo>
                <a:lnTo>
                  <a:pt x="0" y="14637"/>
                </a:lnTo>
                <a:quadBezTo>
                  <a:pt x="0" y="9430"/>
                  <a:pt x="4509" y="6826"/>
                </a:quadBezTo>
                <a:lnTo>
                  <a:pt x="14034" y="1302"/>
                </a:lnTo>
                <a:quadBezTo>
                  <a:pt x="18542" y="-1302"/>
                  <a:pt x="23050" y="1302"/>
                </a:quadBezTo>
                <a:lnTo>
                  <a:pt x="32575" y="6826"/>
                </a:lnTo>
                <a:quadBezTo>
                  <a:pt x="37084" y="9430"/>
                  <a:pt x="37084" y="14637"/>
                </a:quadBezTo>
                <a:lnTo>
                  <a:pt x="37084" y="184182"/>
                </a:lnTo>
                <a:quadBezTo>
                  <a:pt x="37084" y="189389"/>
                  <a:pt x="32575" y="191992"/>
                </a:quadBezTo>
                <a:close/>
              </a:path>
            </a:pathLst>
          </a:custGeom>
          <a:solidFill>
            <a:srgbClr val="1A56A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62" name="m-s03_honeycomb-join-4-5"/>
          <p:cNvSpPr/>
          <p:nvPr/>
        </p:nvSpPr>
        <p:spPr>
          <a:xfrm>
            <a:off x="3509200" y="1987772"/>
            <a:ext cx="174371" cy="119571"/>
          </a:xfrm>
          <a:custGeom>
            <a:avLst/>
            <a:gdLst/>
            <a:ahLst/>
            <a:cxnLst/>
            <a:rect l="0" t="0" r="r" b="b"/>
            <a:pathLst>
              <a:path w="174371" h="119571">
                <a:moveTo>
                  <a:pt x="4509" y="112744"/>
                </a:moveTo>
                <a:quadBezTo>
                  <a:pt x="0" y="110141"/>
                  <a:pt x="0" y="104934"/>
                </a:quadBezTo>
                <a:lnTo>
                  <a:pt x="0" y="93948"/>
                </a:lnTo>
                <a:quadBezTo>
                  <a:pt x="0" y="88741"/>
                  <a:pt x="4509" y="86138"/>
                </a:quadBezTo>
                <a:lnTo>
                  <a:pt x="151321" y="1302"/>
                </a:lnTo>
                <a:quadBezTo>
                  <a:pt x="155829" y="-1302"/>
                  <a:pt x="160338" y="1302"/>
                </a:quadBezTo>
                <a:lnTo>
                  <a:pt x="169862" y="6826"/>
                </a:lnTo>
                <a:quadBezTo>
                  <a:pt x="174371" y="9430"/>
                  <a:pt x="174371" y="14637"/>
                </a:quadBezTo>
                <a:lnTo>
                  <a:pt x="174371" y="25622"/>
                </a:lnTo>
                <a:quadBezTo>
                  <a:pt x="174371" y="30829"/>
                  <a:pt x="169862" y="33433"/>
                </a:quadBezTo>
                <a:lnTo>
                  <a:pt x="22987" y="118269"/>
                </a:lnTo>
                <a:quadBezTo>
                  <a:pt x="18478" y="120872"/>
                  <a:pt x="14034" y="118269"/>
                </a:quadBezTo>
                <a:close/>
              </a:path>
            </a:pathLst>
          </a:custGeom>
          <a:solidFill>
            <a:srgbClr val="276BB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63" name="m-s03_honeycomb-join-5-6"/>
          <p:cNvSpPr/>
          <p:nvPr/>
        </p:nvSpPr>
        <p:spPr>
          <a:xfrm>
            <a:off x="3509200" y="1749901"/>
            <a:ext cx="174371" cy="119571"/>
          </a:xfrm>
          <a:custGeom>
            <a:avLst/>
            <a:gdLst/>
            <a:ahLst/>
            <a:cxnLst/>
            <a:rect l="0" t="0" r="r" b="b"/>
            <a:pathLst>
              <a:path w="174371" h="119571">
                <a:moveTo>
                  <a:pt x="0" y="14637"/>
                </a:moveTo>
                <a:quadBezTo>
                  <a:pt x="0" y="9430"/>
                  <a:pt x="4509" y="6826"/>
                </a:quadBezTo>
                <a:lnTo>
                  <a:pt x="14034" y="1302"/>
                </a:lnTo>
                <a:quadBezTo>
                  <a:pt x="18478" y="-1302"/>
                  <a:pt x="22987" y="1302"/>
                </a:quadBezTo>
                <a:lnTo>
                  <a:pt x="169862" y="86138"/>
                </a:lnTo>
                <a:quadBezTo>
                  <a:pt x="174371" y="88741"/>
                  <a:pt x="174371" y="93948"/>
                </a:quadBezTo>
                <a:lnTo>
                  <a:pt x="174371" y="104934"/>
                </a:lnTo>
                <a:quadBezTo>
                  <a:pt x="174371" y="110141"/>
                  <a:pt x="169862" y="112744"/>
                </a:quadBezTo>
                <a:lnTo>
                  <a:pt x="160338" y="118269"/>
                </a:lnTo>
                <a:quadBezTo>
                  <a:pt x="155829" y="120872"/>
                  <a:pt x="151321" y="118269"/>
                </a:quadBezTo>
                <a:lnTo>
                  <a:pt x="4509" y="33433"/>
                </a:lnTo>
                <a:quadBezTo>
                  <a:pt x="0" y="30829"/>
                  <a:pt x="0" y="25622"/>
                </a:quadBezTo>
                <a:close/>
              </a:path>
            </a:pathLst>
          </a:custGeom>
          <a:solidFill>
            <a:srgbClr val="3681C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64" name="m-s03_honeycomb-core-1"/>
          <p:cNvSpPr txBox="1"/>
          <p:nvPr/>
        </p:nvSpPr>
        <p:spPr>
          <a:xfrm>
            <a:off x="3740547" y="1864771"/>
            <a:ext cx="123666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41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核心</a:t>
            </a:r>
          </a:p>
        </p:txBody>
      </p:sp>
      <p:sp>
        <p:nvSpPr>
          <p:cNvPr id="565" name="m-s03_honeycomb-core-2"/>
          <p:cNvSpPr txBox="1"/>
          <p:nvPr/>
        </p:nvSpPr>
        <p:spPr>
          <a:xfrm>
            <a:off x="3740547" y="1914238"/>
            <a:ext cx="123666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41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能力</a:t>
            </a:r>
          </a:p>
        </p:txBody>
      </p:sp>
      <p:sp>
        <p:nvSpPr>
          <p:cNvPr id="566" name="m-s03_honeycomb-icon-code"/>
          <p:cNvSpPr/>
          <p:nvPr/>
        </p:nvSpPr>
        <p:spPr>
          <a:xfrm>
            <a:off x="3921252" y="1659954"/>
            <a:ext cx="36894" cy="19939"/>
          </a:xfrm>
          <a:custGeom>
            <a:avLst/>
            <a:gdLst/>
            <a:ahLst/>
            <a:cxnLst/>
            <a:rect l="0" t="0" r="r" b="b"/>
            <a:pathLst>
              <a:path w="36894" h="19939">
                <a:moveTo>
                  <a:pt x="10986" y="0"/>
                </a:moveTo>
                <a:lnTo>
                  <a:pt x="0" y="9969"/>
                </a:lnTo>
                <a:lnTo>
                  <a:pt x="10986" y="19939"/>
                </a:lnTo>
                <a:moveTo>
                  <a:pt x="25972" y="0"/>
                </a:moveTo>
                <a:lnTo>
                  <a:pt x="36894" y="9969"/>
                </a:lnTo>
                <a:lnTo>
                  <a:pt x="25972" y="19939"/>
                </a:lnTo>
              </a:path>
            </a:pathLst>
          </a:custGeom>
          <a:noFill/>
          <a:ln w="260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67" name="m-s03_honeycomb-hex-n-01"/>
          <p:cNvSpPr txBox="1"/>
          <p:nvPr/>
        </p:nvSpPr>
        <p:spPr>
          <a:xfrm>
            <a:off x="3911480" y="1717483"/>
            <a:ext cx="56470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26" normalizeH="0" baseline="0" noProof="0">
                <a:ln>
                  <a:noFill/>
                </a:ln>
                <a:solidFill>
                  <a:srgbClr val="FFFFFF">
                    <a:alpha val="72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568" name="m-s03_honeycomb-icon-factory"/>
          <p:cNvSpPr/>
          <p:nvPr/>
        </p:nvSpPr>
        <p:spPr>
          <a:xfrm>
            <a:off x="4055618" y="1898332"/>
            <a:ext cx="42862" cy="28893"/>
          </a:xfrm>
          <a:custGeom>
            <a:avLst/>
            <a:gdLst/>
            <a:ahLst/>
            <a:cxnLst/>
            <a:rect l="0" t="0" r="r" b="b"/>
            <a:pathLst>
              <a:path w="42862" h="28893">
                <a:moveTo>
                  <a:pt x="0" y="28893"/>
                </a:moveTo>
                <a:lnTo>
                  <a:pt x="0" y="6985"/>
                </a:lnTo>
                <a:lnTo>
                  <a:pt x="12446" y="14478"/>
                </a:lnTo>
                <a:lnTo>
                  <a:pt x="12446" y="6985"/>
                </a:lnTo>
                <a:lnTo>
                  <a:pt x="24892" y="14478"/>
                </a:lnTo>
                <a:lnTo>
                  <a:pt x="24892" y="0"/>
                </a:lnTo>
                <a:lnTo>
                  <a:pt x="37402" y="7493"/>
                </a:lnTo>
                <a:lnTo>
                  <a:pt x="37402" y="26416"/>
                </a:lnTo>
                <a:close/>
                <a:moveTo>
                  <a:pt x="0" y="28893"/>
                </a:moveTo>
                <a:lnTo>
                  <a:pt x="42862" y="28893"/>
                </a:lnTo>
              </a:path>
            </a:pathLst>
          </a:custGeom>
          <a:noFill/>
          <a:ln w="260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69" name="m-s03_honeycomb-hex-n-02"/>
          <p:cNvSpPr txBox="1"/>
          <p:nvPr/>
        </p:nvSpPr>
        <p:spPr>
          <a:xfrm>
            <a:off x="4048814" y="1955353"/>
            <a:ext cx="56470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26" normalizeH="0" baseline="0" noProof="0">
                <a:ln>
                  <a:noFill/>
                </a:ln>
                <a:solidFill>
                  <a:srgbClr val="FFFFFF">
                    <a:alpha val="72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570" name="m-s03_honeycomb-icon-network"/>
          <p:cNvSpPr/>
          <p:nvPr/>
        </p:nvSpPr>
        <p:spPr>
          <a:xfrm>
            <a:off x="3932238" y="2136712"/>
            <a:ext cx="14986" cy="17462"/>
          </a:xfrm>
          <a:custGeom>
            <a:avLst/>
            <a:gdLst/>
            <a:ahLst/>
            <a:cxnLst/>
            <a:rect l="0" t="0" r="r" b="b"/>
            <a:pathLst>
              <a:path w="14986" h="17462">
                <a:moveTo>
                  <a:pt x="7493" y="0"/>
                </a:moveTo>
                <a:lnTo>
                  <a:pt x="7493" y="7938"/>
                </a:lnTo>
                <a:moveTo>
                  <a:pt x="0" y="17462"/>
                </a:moveTo>
                <a:lnTo>
                  <a:pt x="5461" y="10922"/>
                </a:lnTo>
                <a:moveTo>
                  <a:pt x="14986" y="17462"/>
                </a:moveTo>
                <a:lnTo>
                  <a:pt x="9462" y="10922"/>
                </a:lnTo>
              </a:path>
            </a:pathLst>
          </a:custGeom>
          <a:noFill/>
          <a:ln w="260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71" name="m-s03_honeycomb-icon-network"/>
          <p:cNvSpPr/>
          <p:nvPr/>
        </p:nvSpPr>
        <p:spPr>
          <a:xfrm>
            <a:off x="3933228" y="2124207"/>
            <a:ext cx="12974" cy="12974"/>
          </a:xfrm>
          <a:prstGeom prst="ellipse">
            <a:avLst/>
          </a:prstGeom>
          <a:noFill/>
          <a:ln w="260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72" name="m-s03_honeycomb-icon-network"/>
          <p:cNvSpPr/>
          <p:nvPr/>
        </p:nvSpPr>
        <p:spPr>
          <a:xfrm>
            <a:off x="3920752" y="2152651"/>
            <a:ext cx="12974" cy="12974"/>
          </a:xfrm>
          <a:prstGeom prst="ellipse">
            <a:avLst/>
          </a:prstGeom>
          <a:noFill/>
          <a:ln w="260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73" name="m-s03_honeycomb-icon-network"/>
          <p:cNvSpPr/>
          <p:nvPr/>
        </p:nvSpPr>
        <p:spPr>
          <a:xfrm>
            <a:off x="3945703" y="2152651"/>
            <a:ext cx="12974" cy="12974"/>
          </a:xfrm>
          <a:prstGeom prst="ellipse">
            <a:avLst/>
          </a:prstGeom>
          <a:noFill/>
          <a:ln w="260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74" name="m-s03_honeycomb-hex-n-03"/>
          <p:cNvSpPr txBox="1"/>
          <p:nvPr/>
        </p:nvSpPr>
        <p:spPr>
          <a:xfrm>
            <a:off x="3911480" y="2193224"/>
            <a:ext cx="56470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26" normalizeH="0" baseline="0" noProof="0">
                <a:ln>
                  <a:noFill/>
                </a:ln>
                <a:solidFill>
                  <a:srgbClr val="FFFFFF">
                    <a:alpha val="72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575" name="m-s03_honeycomb-icon-megaphone"/>
          <p:cNvSpPr/>
          <p:nvPr/>
        </p:nvSpPr>
        <p:spPr>
          <a:xfrm>
            <a:off x="3648583" y="2130171"/>
            <a:ext cx="32449" cy="30988"/>
          </a:xfrm>
          <a:custGeom>
            <a:avLst/>
            <a:gdLst/>
            <a:ahLst/>
            <a:cxnLst/>
            <a:rect l="0" t="0" r="r" b="b"/>
            <a:pathLst>
              <a:path w="32449" h="30988">
                <a:moveTo>
                  <a:pt x="0" y="9525"/>
                </a:moveTo>
                <a:lnTo>
                  <a:pt x="0" y="21463"/>
                </a:lnTo>
                <a:lnTo>
                  <a:pt x="7493" y="21463"/>
                </a:lnTo>
                <a:lnTo>
                  <a:pt x="25463" y="30988"/>
                </a:lnTo>
                <a:lnTo>
                  <a:pt x="25463" y="0"/>
                </a:lnTo>
                <a:lnTo>
                  <a:pt x="7493" y="9525"/>
                </a:lnTo>
                <a:close/>
                <a:moveTo>
                  <a:pt x="32449" y="10478"/>
                </a:moveTo>
                <a:lnTo>
                  <a:pt x="32449" y="20447"/>
                </a:lnTo>
              </a:path>
            </a:pathLst>
          </a:custGeom>
          <a:noFill/>
          <a:ln w="260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76" name="m-s03_honeycomb-hex-n-04"/>
          <p:cNvSpPr txBox="1"/>
          <p:nvPr/>
        </p:nvSpPr>
        <p:spPr>
          <a:xfrm>
            <a:off x="3636810" y="2193224"/>
            <a:ext cx="56470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26" normalizeH="0" baseline="0" noProof="0">
                <a:ln>
                  <a:noFill/>
                </a:ln>
                <a:solidFill>
                  <a:srgbClr val="FFFFFF">
                    <a:alpha val="72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577" name="m-s03_honeycomb-icon-truck"/>
          <p:cNvSpPr/>
          <p:nvPr/>
        </p:nvSpPr>
        <p:spPr>
          <a:xfrm>
            <a:off x="3506724" y="1894332"/>
            <a:ext cx="39434" cy="24448"/>
          </a:xfrm>
          <a:custGeom>
            <a:avLst/>
            <a:gdLst/>
            <a:ahLst/>
            <a:cxnLst/>
            <a:rect l="0" t="0" r="r" b="b"/>
            <a:pathLst>
              <a:path w="39434" h="24448">
                <a:moveTo>
                  <a:pt x="0" y="0"/>
                </a:moveTo>
                <a:lnTo>
                  <a:pt x="24003" y="0"/>
                </a:lnTo>
                <a:lnTo>
                  <a:pt x="24003" y="24448"/>
                </a:lnTo>
                <a:lnTo>
                  <a:pt x="0" y="24448"/>
                </a:lnTo>
                <a:close/>
                <a:moveTo>
                  <a:pt x="24003" y="8954"/>
                </a:moveTo>
                <a:lnTo>
                  <a:pt x="32449" y="8954"/>
                </a:lnTo>
                <a:lnTo>
                  <a:pt x="39434" y="16447"/>
                </a:lnTo>
                <a:lnTo>
                  <a:pt x="39434" y="24448"/>
                </a:lnTo>
                <a:lnTo>
                  <a:pt x="24003" y="24448"/>
                </a:lnTo>
                <a:close/>
              </a:path>
            </a:pathLst>
          </a:custGeom>
          <a:noFill/>
          <a:ln w="260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78" name="m-s03_honeycomb-hex-n-05"/>
          <p:cNvSpPr txBox="1"/>
          <p:nvPr/>
        </p:nvSpPr>
        <p:spPr>
          <a:xfrm>
            <a:off x="3499476" y="1955353"/>
            <a:ext cx="56470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26" normalizeH="0" baseline="0" noProof="0">
                <a:ln>
                  <a:noFill/>
                </a:ln>
                <a:solidFill>
                  <a:srgbClr val="FFFFFF">
                    <a:alpha val="72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579" name="m-s03_honeycomb-icon-people"/>
          <p:cNvSpPr/>
          <p:nvPr/>
        </p:nvSpPr>
        <p:spPr>
          <a:xfrm>
            <a:off x="3644074" y="1676400"/>
            <a:ext cx="42418" cy="12001"/>
          </a:xfrm>
          <a:custGeom>
            <a:avLst/>
            <a:gdLst/>
            <a:ahLst/>
            <a:cxnLst/>
            <a:rect l="0" t="0" r="r" b="b"/>
            <a:pathLst>
              <a:path w="42418" h="12001">
                <a:moveTo>
                  <a:pt x="0" y="12001"/>
                </a:moveTo>
                <a:cubicBezTo>
                  <a:pt x="0" y="4508"/>
                  <a:pt x="6223" y="0"/>
                  <a:pt x="13462" y="0"/>
                </a:cubicBezTo>
                <a:cubicBezTo>
                  <a:pt x="20701" y="0"/>
                  <a:pt x="26988" y="4508"/>
                  <a:pt x="26988" y="12001"/>
                </a:cubicBezTo>
                <a:moveTo>
                  <a:pt x="31940" y="1016"/>
                </a:moveTo>
                <a:cubicBezTo>
                  <a:pt x="38417" y="1778"/>
                  <a:pt x="42418" y="6223"/>
                  <a:pt x="42418" y="12001"/>
                </a:cubicBezTo>
              </a:path>
            </a:pathLst>
          </a:custGeom>
          <a:noFill/>
          <a:ln w="260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80" name="m-s03_honeycomb-icon-people"/>
          <p:cNvSpPr/>
          <p:nvPr/>
        </p:nvSpPr>
        <p:spPr>
          <a:xfrm>
            <a:off x="3649576" y="1654953"/>
            <a:ext cx="15968" cy="15968"/>
          </a:xfrm>
          <a:prstGeom prst="ellipse">
            <a:avLst/>
          </a:prstGeom>
          <a:noFill/>
          <a:ln w="260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81" name="m-s03_honeycomb-icon-people"/>
          <p:cNvSpPr/>
          <p:nvPr/>
        </p:nvSpPr>
        <p:spPr>
          <a:xfrm>
            <a:off x="3671033" y="1654953"/>
            <a:ext cx="12974" cy="12974"/>
          </a:xfrm>
          <a:prstGeom prst="ellipse">
            <a:avLst/>
          </a:prstGeom>
          <a:noFill/>
          <a:ln w="260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82" name="m-s03_honeycomb-hex-n-06"/>
          <p:cNvSpPr txBox="1"/>
          <p:nvPr/>
        </p:nvSpPr>
        <p:spPr>
          <a:xfrm>
            <a:off x="3636810" y="1717483"/>
            <a:ext cx="56470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26" normalizeH="0" baseline="0" noProof="0">
                <a:ln>
                  <a:noFill/>
                </a:ln>
                <a:solidFill>
                  <a:srgbClr val="FFFFFF">
                    <a:alpha val="72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06</a:t>
            </a:r>
          </a:p>
        </p:txBody>
      </p:sp>
      <p:sp>
        <p:nvSpPr>
          <p:cNvPr id="583" name="m-s03_honeycomb-lead-01"/>
          <p:cNvSpPr/>
          <p:nvPr/>
        </p:nvSpPr>
        <p:spPr>
          <a:xfrm>
            <a:off x="4113721" y="1690751"/>
            <a:ext cx="170307" cy="3175"/>
          </a:xfrm>
          <a:custGeom>
            <a:avLst/>
            <a:gdLst/>
            <a:ahLst/>
            <a:cxnLst/>
            <a:rect l="0" t="0" r="r" b="b"/>
            <a:pathLst>
              <a:path w="170307" h="3175">
                <a:moveTo>
                  <a:pt x="0" y="0"/>
                </a:moveTo>
                <a:lnTo>
                  <a:pt x="85153" y="0"/>
                </a:lnTo>
                <a:quadBezTo>
                  <a:pt x="85153" y="0"/>
                  <a:pt x="85153" y="0"/>
                </a:quadBezTo>
                <a:lnTo>
                  <a:pt x="170307" y="0"/>
                </a:lnTo>
              </a:path>
            </a:pathLst>
          </a:custGeom>
          <a:noFill/>
          <a:ln w="25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84" name="m-s03_honeycomb-dot-01"/>
          <p:cNvSpPr/>
          <p:nvPr/>
        </p:nvSpPr>
        <p:spPr>
          <a:xfrm>
            <a:off x="4277519" y="1684243"/>
            <a:ext cx="13017" cy="13017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85" name="m-s03_honeycomb-dotr-01"/>
          <p:cNvSpPr/>
          <p:nvPr/>
        </p:nvSpPr>
        <p:spPr>
          <a:xfrm>
            <a:off x="4271661" y="1678385"/>
            <a:ext cx="24733" cy="24733"/>
          </a:xfrm>
          <a:prstGeom prst="ellipse">
            <a:avLst/>
          </a:prstGeom>
          <a:noFill/>
          <a:ln w="2540" cap="rnd">
            <a:solidFill>
              <a:srgbClr val="0B3E8F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86" name="m-s03_honeycomb-h-01"/>
          <p:cNvSpPr txBox="1"/>
          <p:nvPr/>
        </p:nvSpPr>
        <p:spPr>
          <a:xfrm>
            <a:off x="4334796" y="1642749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产品研发</a:t>
            </a:r>
          </a:p>
        </p:txBody>
      </p:sp>
      <p:sp>
        <p:nvSpPr>
          <p:cNvPr id="587" name="m-s03_honeycomb-rule-01"/>
          <p:cNvSpPr/>
          <p:nvPr/>
        </p:nvSpPr>
        <p:spPr>
          <a:xfrm>
            <a:off x="4338701" y="1707674"/>
            <a:ext cx="309816" cy="1562"/>
          </a:xfrm>
          <a:prstGeom prst="roundRect">
            <a:avLst>
              <a:gd name="adj" fmla="val 12299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88" name="m-s03_honeycomb-p-01-1"/>
          <p:cNvSpPr txBox="1"/>
          <p:nvPr/>
        </p:nvSpPr>
        <p:spPr>
          <a:xfrm>
            <a:off x="4335967" y="1717291"/>
            <a:ext cx="348544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自研核心技术栈，季度迭代上线</a:t>
            </a:r>
          </a:p>
        </p:txBody>
      </p:sp>
      <p:sp>
        <p:nvSpPr>
          <p:cNvPr id="589" name="m-s03_honeycomb-p-01-2"/>
          <p:cNvSpPr txBox="1"/>
          <p:nvPr/>
        </p:nvSpPr>
        <p:spPr>
          <a:xfrm>
            <a:off x="4335967" y="1752438"/>
            <a:ext cx="308450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近三年累计申请专利 86 项</a:t>
            </a:r>
          </a:p>
        </p:txBody>
      </p:sp>
      <p:sp>
        <p:nvSpPr>
          <p:cNvPr id="590" name="m-s03_honeycomb-mark-01"/>
          <p:cNvSpPr txBox="1"/>
          <p:nvPr/>
        </p:nvSpPr>
        <p:spPr>
          <a:xfrm>
            <a:off x="4671012" y="1621550"/>
            <a:ext cx="152461" cy="1275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70" b="1" i="0" u="none" strike="noStrike" kern="1200" cap="none" spc="20" normalizeH="0" baseline="0" noProof="0">
                <a:ln>
                  <a:noFill/>
                </a:ln>
                <a:solidFill>
                  <a:srgbClr val="0B3E8F">
                    <a:alpha val="13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591" name="m-s03_honeycomb-lead-02"/>
          <p:cNvSpPr/>
          <p:nvPr/>
        </p:nvSpPr>
        <p:spPr>
          <a:xfrm>
            <a:off x="4251071" y="1928622"/>
            <a:ext cx="32956" cy="3175"/>
          </a:xfrm>
          <a:custGeom>
            <a:avLst/>
            <a:gdLst/>
            <a:ahLst/>
            <a:cxnLst/>
            <a:rect l="0" t="0" r="r" b="b"/>
            <a:pathLst>
              <a:path w="32956" h="3175">
                <a:moveTo>
                  <a:pt x="0" y="0"/>
                </a:moveTo>
                <a:lnTo>
                  <a:pt x="16446" y="0"/>
                </a:lnTo>
                <a:quadBezTo>
                  <a:pt x="16446" y="0"/>
                  <a:pt x="16446" y="0"/>
                </a:quadBezTo>
                <a:lnTo>
                  <a:pt x="32956" y="0"/>
                </a:lnTo>
              </a:path>
            </a:pathLst>
          </a:custGeom>
          <a:noFill/>
          <a:ln w="25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92" name="m-s03_honeycomb-dot-02"/>
          <p:cNvSpPr/>
          <p:nvPr/>
        </p:nvSpPr>
        <p:spPr>
          <a:xfrm>
            <a:off x="4277519" y="1922113"/>
            <a:ext cx="13017" cy="13017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93" name="m-s03_honeycomb-dotr-02"/>
          <p:cNvSpPr/>
          <p:nvPr/>
        </p:nvSpPr>
        <p:spPr>
          <a:xfrm>
            <a:off x="4271661" y="1916255"/>
            <a:ext cx="24733" cy="24733"/>
          </a:xfrm>
          <a:prstGeom prst="ellipse">
            <a:avLst/>
          </a:prstGeom>
          <a:noFill/>
          <a:ln w="2540" cap="rnd">
            <a:solidFill>
              <a:srgbClr val="134C9C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94" name="m-s03_honeycomb-h-02"/>
          <p:cNvSpPr txBox="1"/>
          <p:nvPr/>
        </p:nvSpPr>
        <p:spPr>
          <a:xfrm>
            <a:off x="4334796" y="1880620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智能制造</a:t>
            </a:r>
          </a:p>
        </p:txBody>
      </p:sp>
      <p:sp>
        <p:nvSpPr>
          <p:cNvPr id="595" name="m-s03_honeycomb-rule-02"/>
          <p:cNvSpPr/>
          <p:nvPr/>
        </p:nvSpPr>
        <p:spPr>
          <a:xfrm>
            <a:off x="4338701" y="1945545"/>
            <a:ext cx="309816" cy="1562"/>
          </a:xfrm>
          <a:prstGeom prst="roundRect">
            <a:avLst>
              <a:gd name="adj" fmla="val 12299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96" name="m-s03_honeycomb-p-02-1"/>
          <p:cNvSpPr txBox="1"/>
          <p:nvPr/>
        </p:nvSpPr>
        <p:spPr>
          <a:xfrm>
            <a:off x="4335967" y="1955161"/>
            <a:ext cx="27824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柔性产线支持小批量定制</a:t>
            </a:r>
          </a:p>
        </p:txBody>
      </p:sp>
      <p:sp>
        <p:nvSpPr>
          <p:cNvPr id="597" name="m-s03_honeycomb-p-02-2"/>
          <p:cNvSpPr txBox="1"/>
          <p:nvPr/>
        </p:nvSpPr>
        <p:spPr>
          <a:xfrm>
            <a:off x="4335967" y="1990309"/>
            <a:ext cx="27824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订单按需生产、按期交付</a:t>
            </a:r>
          </a:p>
        </p:txBody>
      </p:sp>
      <p:sp>
        <p:nvSpPr>
          <p:cNvPr id="598" name="m-s03_honeycomb-mark-02"/>
          <p:cNvSpPr txBox="1"/>
          <p:nvPr/>
        </p:nvSpPr>
        <p:spPr>
          <a:xfrm>
            <a:off x="4671012" y="1859421"/>
            <a:ext cx="152461" cy="1275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70" b="1" i="0" u="none" strike="noStrike" kern="1200" cap="none" spc="20" normalizeH="0" baseline="0" noProof="0">
                <a:ln>
                  <a:noFill/>
                </a:ln>
                <a:solidFill>
                  <a:srgbClr val="134C9C">
                    <a:alpha val="13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599" name="m-s03_honeycomb-lead-03"/>
          <p:cNvSpPr/>
          <p:nvPr/>
        </p:nvSpPr>
        <p:spPr>
          <a:xfrm>
            <a:off x="4113721" y="2166493"/>
            <a:ext cx="170307" cy="3175"/>
          </a:xfrm>
          <a:custGeom>
            <a:avLst/>
            <a:gdLst/>
            <a:ahLst/>
            <a:cxnLst/>
            <a:rect l="0" t="0" r="r" b="b"/>
            <a:pathLst>
              <a:path w="170307" h="3175">
                <a:moveTo>
                  <a:pt x="0" y="0"/>
                </a:moveTo>
                <a:lnTo>
                  <a:pt x="85153" y="0"/>
                </a:lnTo>
                <a:quadBezTo>
                  <a:pt x="85153" y="0"/>
                  <a:pt x="85153" y="0"/>
                </a:quadBezTo>
                <a:lnTo>
                  <a:pt x="170307" y="0"/>
                </a:lnTo>
              </a:path>
            </a:pathLst>
          </a:custGeom>
          <a:noFill/>
          <a:ln w="25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00" name="m-s03_honeycomb-dot-03"/>
          <p:cNvSpPr/>
          <p:nvPr/>
        </p:nvSpPr>
        <p:spPr>
          <a:xfrm>
            <a:off x="4277519" y="2159984"/>
            <a:ext cx="13017" cy="13017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01" name="m-s03_honeycomb-dotr-03"/>
          <p:cNvSpPr/>
          <p:nvPr/>
        </p:nvSpPr>
        <p:spPr>
          <a:xfrm>
            <a:off x="4271661" y="2154126"/>
            <a:ext cx="24733" cy="24733"/>
          </a:xfrm>
          <a:prstGeom prst="ellipse">
            <a:avLst/>
          </a:prstGeom>
          <a:noFill/>
          <a:ln w="2540" cap="rnd">
            <a:solidFill>
              <a:srgbClr val="2468B6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02" name="m-s03_honeycomb-h-03"/>
          <p:cNvSpPr txBox="1"/>
          <p:nvPr/>
        </p:nvSpPr>
        <p:spPr>
          <a:xfrm>
            <a:off x="4334796" y="2118491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渠道网络</a:t>
            </a:r>
          </a:p>
        </p:txBody>
      </p:sp>
      <p:sp>
        <p:nvSpPr>
          <p:cNvPr id="603" name="m-s03_honeycomb-rule-03"/>
          <p:cNvSpPr/>
          <p:nvPr/>
        </p:nvSpPr>
        <p:spPr>
          <a:xfrm>
            <a:off x="4338701" y="2183415"/>
            <a:ext cx="309816" cy="1562"/>
          </a:xfrm>
          <a:prstGeom prst="roundRect">
            <a:avLst>
              <a:gd name="adj" fmla="val 12299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04" name="m-s03_honeycomb-p-03-1"/>
          <p:cNvSpPr txBox="1"/>
          <p:nvPr/>
        </p:nvSpPr>
        <p:spPr>
          <a:xfrm>
            <a:off x="4335967" y="2193032"/>
            <a:ext cx="355443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覆盖 28 省，门店超 1,200 家</a:t>
            </a:r>
          </a:p>
        </p:txBody>
      </p:sp>
      <p:sp>
        <p:nvSpPr>
          <p:cNvPr id="605" name="m-s03_honeycomb-p-03-2"/>
          <p:cNvSpPr txBox="1"/>
          <p:nvPr/>
        </p:nvSpPr>
        <p:spPr>
          <a:xfrm>
            <a:off x="4335967" y="2228179"/>
            <a:ext cx="231386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线上线下一体化运营</a:t>
            </a:r>
          </a:p>
        </p:txBody>
      </p:sp>
      <p:sp>
        <p:nvSpPr>
          <p:cNvPr id="606" name="m-s03_honeycomb-mark-03"/>
          <p:cNvSpPr txBox="1"/>
          <p:nvPr/>
        </p:nvSpPr>
        <p:spPr>
          <a:xfrm>
            <a:off x="4671012" y="2097292"/>
            <a:ext cx="152461" cy="1275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70" b="1" i="0" u="none" strike="noStrike" kern="1200" cap="none" spc="20" normalizeH="0" baseline="0" noProof="0">
                <a:ln>
                  <a:noFill/>
                </a:ln>
                <a:solidFill>
                  <a:srgbClr val="2468B6">
                    <a:alpha val="13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607" name="m-s03_honeycomb-lead-06"/>
          <p:cNvSpPr/>
          <p:nvPr/>
        </p:nvSpPr>
        <p:spPr>
          <a:xfrm>
            <a:off x="3320733" y="1690751"/>
            <a:ext cx="170307" cy="3175"/>
          </a:xfrm>
          <a:custGeom>
            <a:avLst/>
            <a:gdLst/>
            <a:ahLst/>
            <a:cxnLst/>
            <a:rect l="0" t="0" r="r" b="b"/>
            <a:pathLst>
              <a:path w="170307" h="3175">
                <a:moveTo>
                  <a:pt x="170307" y="0"/>
                </a:moveTo>
                <a:lnTo>
                  <a:pt x="85153" y="0"/>
                </a:lnTo>
                <a:quadBezTo>
                  <a:pt x="85153" y="0"/>
                  <a:pt x="85153" y="0"/>
                </a:quadBezTo>
                <a:lnTo>
                  <a:pt x="0" y="0"/>
                </a:lnTo>
              </a:path>
            </a:pathLst>
          </a:custGeom>
          <a:noFill/>
          <a:ln w="25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08" name="m-s03_honeycomb-dot-06"/>
          <p:cNvSpPr/>
          <p:nvPr/>
        </p:nvSpPr>
        <p:spPr>
          <a:xfrm>
            <a:off x="3314224" y="1684243"/>
            <a:ext cx="13017" cy="13017"/>
          </a:xfrm>
          <a:prstGeom prst="ellipse">
            <a:avLst/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09" name="m-s03_honeycomb-dotr-06"/>
          <p:cNvSpPr/>
          <p:nvPr/>
        </p:nvSpPr>
        <p:spPr>
          <a:xfrm>
            <a:off x="3308366" y="1678385"/>
            <a:ext cx="24733" cy="24733"/>
          </a:xfrm>
          <a:prstGeom prst="ellipse">
            <a:avLst/>
          </a:prstGeom>
          <a:noFill/>
          <a:ln w="2540" cap="rnd">
            <a:solidFill>
              <a:srgbClr val="54A2DF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10" name="m-s03_honeycomb-h-06"/>
          <p:cNvSpPr txBox="1"/>
          <p:nvPr/>
        </p:nvSpPr>
        <p:spPr>
          <a:xfrm>
            <a:off x="3104251" y="1642749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组织人才</a:t>
            </a:r>
          </a:p>
        </p:txBody>
      </p:sp>
      <p:sp>
        <p:nvSpPr>
          <p:cNvPr id="611" name="m-s03_honeycomb-rule-06"/>
          <p:cNvSpPr/>
          <p:nvPr/>
        </p:nvSpPr>
        <p:spPr>
          <a:xfrm>
            <a:off x="2956242" y="1707674"/>
            <a:ext cx="309816" cy="1562"/>
          </a:xfrm>
          <a:prstGeom prst="roundRect">
            <a:avLst>
              <a:gd name="adj" fmla="val 12299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12" name="m-s03_honeycomb-p-06-1"/>
          <p:cNvSpPr txBox="1"/>
          <p:nvPr/>
        </p:nvSpPr>
        <p:spPr>
          <a:xfrm>
            <a:off x="2990544" y="1717291"/>
            <a:ext cx="27824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专家梯队与内部培养体系</a:t>
            </a:r>
          </a:p>
        </p:txBody>
      </p:sp>
      <p:sp>
        <p:nvSpPr>
          <p:cNvPr id="613" name="m-s03_honeycomb-p-06-2"/>
          <p:cNvSpPr txBox="1"/>
          <p:nvPr/>
        </p:nvSpPr>
        <p:spPr>
          <a:xfrm>
            <a:off x="2970366" y="1752438"/>
            <a:ext cx="298426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核心团队平均司龄 6.2 年</a:t>
            </a:r>
          </a:p>
        </p:txBody>
      </p:sp>
      <p:sp>
        <p:nvSpPr>
          <p:cNvPr id="614" name="m-s03_honeycomb-mark-06"/>
          <p:cNvSpPr txBox="1"/>
          <p:nvPr/>
        </p:nvSpPr>
        <p:spPr>
          <a:xfrm>
            <a:off x="2781287" y="1621550"/>
            <a:ext cx="152461" cy="1275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70" b="1" i="0" u="none" strike="noStrike" kern="1200" cap="none" spc="20" normalizeH="0" baseline="0" noProof="0">
                <a:ln>
                  <a:noFill/>
                </a:ln>
                <a:solidFill>
                  <a:srgbClr val="54A2DF">
                    <a:alpha val="13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06</a:t>
            </a:r>
          </a:p>
        </p:txBody>
      </p:sp>
      <p:sp>
        <p:nvSpPr>
          <p:cNvPr id="615" name="m-s03_honeycomb-lead-05"/>
          <p:cNvSpPr/>
          <p:nvPr/>
        </p:nvSpPr>
        <p:spPr>
          <a:xfrm>
            <a:off x="3320733" y="1928622"/>
            <a:ext cx="32956" cy="3175"/>
          </a:xfrm>
          <a:custGeom>
            <a:avLst/>
            <a:gdLst/>
            <a:ahLst/>
            <a:cxnLst/>
            <a:rect l="0" t="0" r="r" b="b"/>
            <a:pathLst>
              <a:path w="32956" h="3175">
                <a:moveTo>
                  <a:pt x="32956" y="0"/>
                </a:moveTo>
                <a:lnTo>
                  <a:pt x="16510" y="0"/>
                </a:lnTo>
                <a:quadBezTo>
                  <a:pt x="16510" y="0"/>
                  <a:pt x="16510" y="0"/>
                </a:quadBezTo>
                <a:lnTo>
                  <a:pt x="0" y="0"/>
                </a:lnTo>
              </a:path>
            </a:pathLst>
          </a:custGeom>
          <a:noFill/>
          <a:ln w="25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16" name="m-s03_honeycomb-dot-05"/>
          <p:cNvSpPr/>
          <p:nvPr/>
        </p:nvSpPr>
        <p:spPr>
          <a:xfrm>
            <a:off x="3314224" y="1922113"/>
            <a:ext cx="13017" cy="13017"/>
          </a:xfrm>
          <a:prstGeom prst="ellipse">
            <a:avLst/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17" name="m-s03_honeycomb-dotr-05"/>
          <p:cNvSpPr/>
          <p:nvPr/>
        </p:nvSpPr>
        <p:spPr>
          <a:xfrm>
            <a:off x="3308366" y="1916255"/>
            <a:ext cx="24733" cy="24733"/>
          </a:xfrm>
          <a:prstGeom prst="ellipse">
            <a:avLst/>
          </a:prstGeom>
          <a:noFill/>
          <a:ln w="2540" cap="rnd">
            <a:solidFill>
              <a:srgbClr val="4694D7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18" name="m-s03_honeycomb-h-05"/>
          <p:cNvSpPr txBox="1"/>
          <p:nvPr/>
        </p:nvSpPr>
        <p:spPr>
          <a:xfrm>
            <a:off x="3104251" y="1880620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供应保障</a:t>
            </a:r>
          </a:p>
        </p:txBody>
      </p:sp>
      <p:sp>
        <p:nvSpPr>
          <p:cNvPr id="619" name="m-s03_honeycomb-rule-05"/>
          <p:cNvSpPr/>
          <p:nvPr/>
        </p:nvSpPr>
        <p:spPr>
          <a:xfrm>
            <a:off x="2956242" y="1945545"/>
            <a:ext cx="309816" cy="1562"/>
          </a:xfrm>
          <a:prstGeom prst="roundRect">
            <a:avLst>
              <a:gd name="adj" fmla="val 12299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20" name="m-s03_honeycomb-p-05-1"/>
          <p:cNvSpPr txBox="1"/>
          <p:nvPr/>
        </p:nvSpPr>
        <p:spPr>
          <a:xfrm>
            <a:off x="3060838" y="1955161"/>
            <a:ext cx="20795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南北双仓协同调拨</a:t>
            </a:r>
          </a:p>
        </p:txBody>
      </p:sp>
      <p:sp>
        <p:nvSpPr>
          <p:cNvPr id="621" name="m-s03_honeycomb-p-05-2"/>
          <p:cNvSpPr txBox="1"/>
          <p:nvPr/>
        </p:nvSpPr>
        <p:spPr>
          <a:xfrm>
            <a:off x="3007206" y="1990309"/>
            <a:ext cx="261587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平均履约时效 48 小时</a:t>
            </a:r>
          </a:p>
        </p:txBody>
      </p:sp>
      <p:sp>
        <p:nvSpPr>
          <p:cNvPr id="622" name="m-s03_honeycomb-mark-05"/>
          <p:cNvSpPr txBox="1"/>
          <p:nvPr/>
        </p:nvSpPr>
        <p:spPr>
          <a:xfrm>
            <a:off x="2781287" y="1859421"/>
            <a:ext cx="152461" cy="1275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70" b="1" i="0" u="none" strike="noStrike" kern="1200" cap="none" spc="20" normalizeH="0" baseline="0" noProof="0">
                <a:ln>
                  <a:noFill/>
                </a:ln>
                <a:solidFill>
                  <a:srgbClr val="4694D7">
                    <a:alpha val="13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623" name="m-s03_honeycomb-lead-04"/>
          <p:cNvSpPr/>
          <p:nvPr/>
        </p:nvSpPr>
        <p:spPr>
          <a:xfrm>
            <a:off x="3320733" y="2166493"/>
            <a:ext cx="170307" cy="3175"/>
          </a:xfrm>
          <a:custGeom>
            <a:avLst/>
            <a:gdLst/>
            <a:ahLst/>
            <a:cxnLst/>
            <a:rect l="0" t="0" r="r" b="b"/>
            <a:pathLst>
              <a:path w="170307" h="3175">
                <a:moveTo>
                  <a:pt x="170307" y="0"/>
                </a:moveTo>
                <a:lnTo>
                  <a:pt x="85153" y="0"/>
                </a:lnTo>
                <a:quadBezTo>
                  <a:pt x="85153" y="0"/>
                  <a:pt x="85153" y="0"/>
                </a:quadBezTo>
                <a:lnTo>
                  <a:pt x="0" y="0"/>
                </a:lnTo>
              </a:path>
            </a:pathLst>
          </a:custGeom>
          <a:noFill/>
          <a:ln w="25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24" name="m-s03_honeycomb-dot-04"/>
          <p:cNvSpPr/>
          <p:nvPr/>
        </p:nvSpPr>
        <p:spPr>
          <a:xfrm>
            <a:off x="3314224" y="2159984"/>
            <a:ext cx="13017" cy="13017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25" name="m-s03_honeycomb-dotr-04"/>
          <p:cNvSpPr/>
          <p:nvPr/>
        </p:nvSpPr>
        <p:spPr>
          <a:xfrm>
            <a:off x="3308366" y="2154126"/>
            <a:ext cx="24733" cy="24733"/>
          </a:xfrm>
          <a:prstGeom prst="ellipse">
            <a:avLst/>
          </a:prstGeom>
          <a:noFill/>
          <a:ln w="2540" cap="rnd">
            <a:solidFill>
              <a:srgbClr val="2E77C2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26" name="m-s03_honeycomb-h-04"/>
          <p:cNvSpPr txBox="1"/>
          <p:nvPr/>
        </p:nvSpPr>
        <p:spPr>
          <a:xfrm>
            <a:off x="3104251" y="2118491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品牌营销</a:t>
            </a:r>
          </a:p>
        </p:txBody>
      </p:sp>
      <p:sp>
        <p:nvSpPr>
          <p:cNvPr id="627" name="m-s03_honeycomb-rule-04"/>
          <p:cNvSpPr/>
          <p:nvPr/>
        </p:nvSpPr>
        <p:spPr>
          <a:xfrm>
            <a:off x="2956242" y="2183415"/>
            <a:ext cx="309816" cy="1562"/>
          </a:xfrm>
          <a:prstGeom prst="roundRect">
            <a:avLst>
              <a:gd name="adj" fmla="val 12299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28" name="m-s03_honeycomb-p-04-1"/>
          <p:cNvSpPr txBox="1"/>
          <p:nvPr/>
        </p:nvSpPr>
        <p:spPr>
          <a:xfrm>
            <a:off x="2990544" y="2193032"/>
            <a:ext cx="27824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全域内容运营与私域沉淀</a:t>
            </a:r>
          </a:p>
        </p:txBody>
      </p:sp>
      <p:sp>
        <p:nvSpPr>
          <p:cNvPr id="629" name="m-s03_honeycomb-p-04-2"/>
          <p:cNvSpPr txBox="1"/>
          <p:nvPr/>
        </p:nvSpPr>
        <p:spPr>
          <a:xfrm>
            <a:off x="2943550" y="2228179"/>
            <a:ext cx="32524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年触达用户规模超 3,000 万</a:t>
            </a:r>
          </a:p>
        </p:txBody>
      </p:sp>
      <p:sp>
        <p:nvSpPr>
          <p:cNvPr id="630" name="m-s03_honeycomb-mark-04"/>
          <p:cNvSpPr txBox="1"/>
          <p:nvPr/>
        </p:nvSpPr>
        <p:spPr>
          <a:xfrm>
            <a:off x="2781287" y="2097292"/>
            <a:ext cx="152461" cy="1275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70" b="1" i="0" u="none" strike="noStrike" kern="1200" cap="none" spc="20" normalizeH="0" baseline="0" noProof="0">
                <a:ln>
                  <a:noFill/>
                </a:ln>
                <a:solidFill>
                  <a:srgbClr val="2E77C2">
                    <a:alpha val="13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04</a:t>
            </a:r>
          </a:p>
        </p:txBody>
      </p:sp>
      <p:cxnSp>
        <p:nvCxnSpPr>
          <p:cNvPr id="631" name="m-s03_honeycomb-foot-line"/>
          <p:cNvCxnSpPr/>
          <p:nvPr/>
        </p:nvCxnSpPr>
        <p:spPr>
          <a:xfrm>
            <a:off x="2672461" y="24935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2" name="m-s03_honeycomb-foot-l"/>
          <p:cNvSpPr txBox="1"/>
          <p:nvPr/>
        </p:nvSpPr>
        <p:spPr>
          <a:xfrm>
            <a:off x="2670274" y="2507523"/>
            <a:ext cx="21429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核心能力 · 六大板块</a:t>
            </a:r>
          </a:p>
        </p:txBody>
      </p:sp>
      <p:sp>
        <p:nvSpPr>
          <p:cNvPr id="633" name="m-s03_honeycomb-foot-r"/>
          <p:cNvSpPr txBox="1"/>
          <p:nvPr/>
        </p:nvSpPr>
        <p:spPr>
          <a:xfrm>
            <a:off x="4674709" y="25075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634" name="mini-card-p16_year_wheel"/>
          <p:cNvSpPr/>
          <p:nvPr/>
        </p:nvSpPr>
        <p:spPr>
          <a:xfrm>
            <a:off x="5168900" y="11684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0" y="0"/>
                </a:moveTo>
                <a:lnTo>
                  <a:pt x="2419160" y="0"/>
                </a:lnTo>
                <a:cubicBezTo>
                  <a:pt x="2463483" y="0"/>
                  <a:pt x="2499360" y="35878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0" y="1405890"/>
                </a:lnTo>
                <a:cubicBezTo>
                  <a:pt x="35877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8"/>
                  <a:pt x="35877" y="0"/>
                  <a:pt x="80200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35" name="m-p16_year_wheel-title-bar"/>
          <p:cNvSpPr/>
          <p:nvPr/>
        </p:nvSpPr>
        <p:spPr>
          <a:xfrm>
            <a:off x="5288661" y="12673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36" name="m-p16_year_wheel-title-bar-accent"/>
          <p:cNvSpPr/>
          <p:nvPr/>
        </p:nvSpPr>
        <p:spPr>
          <a:xfrm>
            <a:off x="5288661" y="12673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37" name="m-p16_year_wheel-title-cn"/>
          <p:cNvSpPr txBox="1"/>
          <p:nvPr/>
        </p:nvSpPr>
        <p:spPr>
          <a:xfrm>
            <a:off x="5320840" y="1249968"/>
            <a:ext cx="488937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年度经营节奏环</a:t>
            </a:r>
          </a:p>
        </p:txBody>
      </p:sp>
      <p:sp>
        <p:nvSpPr>
          <p:cNvPr id="638" name="m-p16_year_wheel-title-en"/>
          <p:cNvSpPr txBox="1"/>
          <p:nvPr/>
        </p:nvSpPr>
        <p:spPr>
          <a:xfrm>
            <a:off x="5328130" y="1337250"/>
            <a:ext cx="20307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YEAR WHEEL</a:t>
            </a:r>
          </a:p>
        </p:txBody>
      </p:sp>
      <p:sp>
        <p:nvSpPr>
          <p:cNvPr id="639" name="m-p16_year_wheel-title-sub"/>
          <p:cNvSpPr txBox="1"/>
          <p:nvPr/>
        </p:nvSpPr>
        <p:spPr>
          <a:xfrm>
            <a:off x="6875156" y="1306392"/>
            <a:ext cx="675999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十二个月分四个季度，每季度一个主题、每月一件必须闭环的事</a:t>
            </a:r>
          </a:p>
        </p:txBody>
      </p:sp>
      <p:sp>
        <p:nvSpPr>
          <p:cNvPr id="640" name="m-p16_year_wheel-q-1"/>
          <p:cNvSpPr/>
          <p:nvPr/>
        </p:nvSpPr>
        <p:spPr>
          <a:xfrm>
            <a:off x="6091492" y="1547529"/>
            <a:ext cx="390555" cy="390555"/>
          </a:xfrm>
          <a:custGeom>
            <a:avLst/>
            <a:gdLst/>
            <a:ahLst/>
            <a:cxnLst/>
            <a:rect l="0" t="0" r="r" b="b"/>
            <a:pathLst>
              <a:path w="390555" h="390555">
                <a:moveTo>
                  <a:pt x="25591" y="93"/>
                </a:moveTo>
                <a:cubicBezTo>
                  <a:pt x="219266" y="17873"/>
                  <a:pt x="372682" y="171289"/>
                  <a:pt x="390462" y="364964"/>
                </a:cubicBezTo>
                <a:quadBezTo>
                  <a:pt x="391986" y="388396"/>
                  <a:pt x="368554" y="388777"/>
                </a:quadBezTo>
                <a:lnTo>
                  <a:pt x="266954" y="390555"/>
                </a:lnTo>
                <a:quadBezTo>
                  <a:pt x="243523" y="390936"/>
                  <a:pt x="241491" y="367631"/>
                </a:quadBezTo>
                <a:cubicBezTo>
                  <a:pt x="226060" y="253966"/>
                  <a:pt x="136588" y="164495"/>
                  <a:pt x="22924" y="149064"/>
                </a:cubicBezTo>
                <a:quadBezTo>
                  <a:pt x="-381" y="147032"/>
                  <a:pt x="0" y="123601"/>
                </a:quadBezTo>
                <a:lnTo>
                  <a:pt x="1778" y="22001"/>
                </a:lnTo>
                <a:quadBezTo>
                  <a:pt x="2159" y="-1431"/>
                  <a:pt x="25591" y="93"/>
                </a:quadBezTo>
                <a:close/>
              </a:path>
            </a:pathLst>
          </a:custGeom>
          <a:gradFill rotWithShape="1">
            <a:gsLst>
              <a:gs pos="0">
                <a:srgbClr val="325DA1"/>
              </a:gs>
              <a:gs pos="100000">
                <a:srgbClr val="0B3E8F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41" name="m-p16_year_wheel-qn-1"/>
          <p:cNvSpPr txBox="1"/>
          <p:nvPr/>
        </p:nvSpPr>
        <p:spPr>
          <a:xfrm>
            <a:off x="6390087" y="1551138"/>
            <a:ext cx="72273" cy="59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70" b="1" i="0" u="none" strike="noStrike" kern="1200" cap="none" spc="1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Q1</a:t>
            </a:r>
          </a:p>
        </p:txBody>
      </p:sp>
      <p:sp>
        <p:nvSpPr>
          <p:cNvPr id="642" name="m-p16_year_wheel-qt-1"/>
          <p:cNvSpPr txBox="1"/>
          <p:nvPr/>
        </p:nvSpPr>
        <p:spPr>
          <a:xfrm>
            <a:off x="6361722" y="1598840"/>
            <a:ext cx="129003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开局定调</a:t>
            </a:r>
          </a:p>
        </p:txBody>
      </p:sp>
      <p:sp>
        <p:nvSpPr>
          <p:cNvPr id="643" name="m-p16_year_wheel-q-2"/>
          <p:cNvSpPr/>
          <p:nvPr/>
        </p:nvSpPr>
        <p:spPr>
          <a:xfrm>
            <a:off x="6091492" y="1960817"/>
            <a:ext cx="390555" cy="390555"/>
          </a:xfrm>
          <a:custGeom>
            <a:avLst/>
            <a:gdLst/>
            <a:ahLst/>
            <a:cxnLst/>
            <a:rect l="0" t="0" r="r" b="b"/>
            <a:pathLst>
              <a:path w="390555" h="390555">
                <a:moveTo>
                  <a:pt x="390462" y="25590"/>
                </a:moveTo>
                <a:cubicBezTo>
                  <a:pt x="372682" y="219265"/>
                  <a:pt x="219266" y="372682"/>
                  <a:pt x="25591" y="390461"/>
                </a:cubicBezTo>
                <a:quadBezTo>
                  <a:pt x="2159" y="391985"/>
                  <a:pt x="1778" y="368554"/>
                </a:quadBezTo>
                <a:lnTo>
                  <a:pt x="0" y="266954"/>
                </a:lnTo>
                <a:quadBezTo>
                  <a:pt x="-381" y="243522"/>
                  <a:pt x="22924" y="241490"/>
                </a:quadBezTo>
                <a:cubicBezTo>
                  <a:pt x="136588" y="226060"/>
                  <a:pt x="226060" y="136588"/>
                  <a:pt x="241491" y="22923"/>
                </a:cubicBezTo>
                <a:quadBezTo>
                  <a:pt x="243523" y="-381"/>
                  <a:pt x="266954" y="0"/>
                </a:quadBezTo>
                <a:lnTo>
                  <a:pt x="368554" y="1778"/>
                </a:lnTo>
                <a:quadBezTo>
                  <a:pt x="391986" y="2159"/>
                  <a:pt x="390462" y="25590"/>
                </a:quadBezTo>
                <a:close/>
              </a:path>
            </a:pathLst>
          </a:custGeom>
          <a:gradFill rotWithShape="1">
            <a:gsLst>
              <a:gs pos="0">
                <a:srgbClr val="3F74B6"/>
              </a:gs>
              <a:gs pos="100000">
                <a:srgbClr val="1B5AA8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44" name="m-p16_year_wheel-qn-2"/>
          <p:cNvSpPr txBox="1"/>
          <p:nvPr/>
        </p:nvSpPr>
        <p:spPr>
          <a:xfrm>
            <a:off x="6390087" y="2243336"/>
            <a:ext cx="72273" cy="59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70" b="1" i="0" u="none" strike="noStrike" kern="1200" cap="none" spc="15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Q2</a:t>
            </a:r>
          </a:p>
        </p:txBody>
      </p:sp>
      <p:sp>
        <p:nvSpPr>
          <p:cNvPr id="645" name="m-p16_year_wheel-qt-2"/>
          <p:cNvSpPr txBox="1"/>
          <p:nvPr/>
        </p:nvSpPr>
        <p:spPr>
          <a:xfrm>
            <a:off x="6361722" y="2291039"/>
            <a:ext cx="129003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夯实能力</a:t>
            </a:r>
          </a:p>
        </p:txBody>
      </p:sp>
      <p:sp>
        <p:nvSpPr>
          <p:cNvPr id="646" name="m-p16_year_wheel-q-3"/>
          <p:cNvSpPr/>
          <p:nvPr/>
        </p:nvSpPr>
        <p:spPr>
          <a:xfrm>
            <a:off x="5678204" y="1960817"/>
            <a:ext cx="390555" cy="390555"/>
          </a:xfrm>
          <a:custGeom>
            <a:avLst/>
            <a:gdLst/>
            <a:ahLst/>
            <a:cxnLst/>
            <a:rect l="0" t="0" r="r" b="b"/>
            <a:pathLst>
              <a:path w="390555" h="390555">
                <a:moveTo>
                  <a:pt x="364964" y="390461"/>
                </a:moveTo>
                <a:cubicBezTo>
                  <a:pt x="171289" y="372682"/>
                  <a:pt x="17873" y="219265"/>
                  <a:pt x="93" y="25590"/>
                </a:cubicBezTo>
                <a:quadBezTo>
                  <a:pt x="-1431" y="2159"/>
                  <a:pt x="22001" y="1778"/>
                </a:quadBezTo>
                <a:lnTo>
                  <a:pt x="123601" y="0"/>
                </a:lnTo>
                <a:quadBezTo>
                  <a:pt x="147032" y="-381"/>
                  <a:pt x="149064" y="22923"/>
                </a:quadBezTo>
                <a:cubicBezTo>
                  <a:pt x="164495" y="136588"/>
                  <a:pt x="253966" y="226060"/>
                  <a:pt x="367631" y="241490"/>
                </a:cubicBezTo>
                <a:quadBezTo>
                  <a:pt x="390936" y="243522"/>
                  <a:pt x="390555" y="266954"/>
                </a:quadBezTo>
                <a:lnTo>
                  <a:pt x="388777" y="368554"/>
                </a:lnTo>
                <a:quadBezTo>
                  <a:pt x="388396" y="391985"/>
                  <a:pt x="364964" y="390461"/>
                </a:quadBezTo>
                <a:close/>
              </a:path>
            </a:pathLst>
          </a:custGeom>
          <a:gradFill rotWithShape="1">
            <a:gsLst>
              <a:gs pos="0">
                <a:srgbClr val="5999D5"/>
              </a:gs>
              <a:gs pos="100000">
                <a:srgbClr val="3985CD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47" name="m-p16_year_wheel-qn-3"/>
          <p:cNvSpPr txBox="1"/>
          <p:nvPr/>
        </p:nvSpPr>
        <p:spPr>
          <a:xfrm>
            <a:off x="5697889" y="2243336"/>
            <a:ext cx="72273" cy="59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70" b="1" i="0" u="none" strike="noStrike" kern="1200" cap="none" spc="15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Q3</a:t>
            </a:r>
          </a:p>
        </p:txBody>
      </p:sp>
      <p:sp>
        <p:nvSpPr>
          <p:cNvPr id="648" name="m-p16_year_wheel-qt-3"/>
          <p:cNvSpPr txBox="1"/>
          <p:nvPr/>
        </p:nvSpPr>
        <p:spPr>
          <a:xfrm>
            <a:off x="5669524" y="2291039"/>
            <a:ext cx="129003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规模冲刺</a:t>
            </a:r>
          </a:p>
        </p:txBody>
      </p:sp>
      <p:sp>
        <p:nvSpPr>
          <p:cNvPr id="649" name="m-p16_year_wheel-q-4"/>
          <p:cNvSpPr/>
          <p:nvPr/>
        </p:nvSpPr>
        <p:spPr>
          <a:xfrm>
            <a:off x="5678204" y="1547529"/>
            <a:ext cx="390555" cy="390555"/>
          </a:xfrm>
          <a:custGeom>
            <a:avLst/>
            <a:gdLst/>
            <a:ahLst/>
            <a:cxnLst/>
            <a:rect l="0" t="0" r="r" b="b"/>
            <a:pathLst>
              <a:path w="390555" h="390555">
                <a:moveTo>
                  <a:pt x="93" y="364964"/>
                </a:moveTo>
                <a:cubicBezTo>
                  <a:pt x="17873" y="171289"/>
                  <a:pt x="171289" y="17873"/>
                  <a:pt x="364964" y="93"/>
                </a:cubicBezTo>
                <a:quadBezTo>
                  <a:pt x="388396" y="-1431"/>
                  <a:pt x="388777" y="22001"/>
                </a:quadBezTo>
                <a:lnTo>
                  <a:pt x="390555" y="123601"/>
                </a:lnTo>
                <a:quadBezTo>
                  <a:pt x="390936" y="147032"/>
                  <a:pt x="367631" y="149064"/>
                </a:quadBezTo>
                <a:cubicBezTo>
                  <a:pt x="253966" y="164495"/>
                  <a:pt x="164495" y="253966"/>
                  <a:pt x="149064" y="367631"/>
                </a:cubicBezTo>
                <a:quadBezTo>
                  <a:pt x="147032" y="390936"/>
                  <a:pt x="123601" y="390555"/>
                </a:quadBezTo>
                <a:lnTo>
                  <a:pt x="22001" y="388777"/>
                </a:lnTo>
                <a:quadBezTo>
                  <a:pt x="-1431" y="388396"/>
                  <a:pt x="93" y="364964"/>
                </a:quadBezTo>
                <a:close/>
              </a:path>
            </a:pathLst>
          </a:custGeom>
          <a:gradFill rotWithShape="1">
            <a:gsLst>
              <a:gs pos="0">
                <a:srgbClr val="6FB1E4"/>
              </a:gs>
              <a:gs pos="100000">
                <a:srgbClr val="54A2DF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50" name="m-p16_year_wheel-qn-4"/>
          <p:cNvSpPr txBox="1"/>
          <p:nvPr/>
        </p:nvSpPr>
        <p:spPr>
          <a:xfrm>
            <a:off x="5697889" y="1551138"/>
            <a:ext cx="72273" cy="59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70" b="1" i="0" u="none" strike="noStrike" kern="1200" cap="none" spc="15" normalizeH="0" baseline="0" noProof="0">
                <a:ln>
                  <a:noFill/>
                </a:ln>
                <a:solidFill>
                  <a:srgbClr val="54A2D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Q4</a:t>
            </a:r>
          </a:p>
        </p:txBody>
      </p:sp>
      <p:sp>
        <p:nvSpPr>
          <p:cNvPr id="651" name="m-p16_year_wheel-qt-4"/>
          <p:cNvSpPr txBox="1"/>
          <p:nvPr/>
        </p:nvSpPr>
        <p:spPr>
          <a:xfrm>
            <a:off x="5669524" y="1598840"/>
            <a:ext cx="129003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收口复盘</a:t>
            </a:r>
          </a:p>
        </p:txBody>
      </p:sp>
      <p:sp>
        <p:nvSpPr>
          <p:cNvPr id="652" name="m-p16_year_wheel-mm-1"/>
          <p:cNvSpPr txBox="1"/>
          <p:nvPr/>
        </p:nvSpPr>
        <p:spPr>
          <a:xfrm>
            <a:off x="6135250" y="1590547"/>
            <a:ext cx="62927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8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1月</a:t>
            </a:r>
          </a:p>
        </p:txBody>
      </p:sp>
      <p:sp>
        <p:nvSpPr>
          <p:cNvPr id="653" name="m-p16_year_wheel-ml-1"/>
          <p:cNvSpPr txBox="1"/>
          <p:nvPr/>
        </p:nvSpPr>
        <p:spPr>
          <a:xfrm>
            <a:off x="6121282" y="1632431"/>
            <a:ext cx="9086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目标拆解</a:t>
            </a:r>
          </a:p>
        </p:txBody>
      </p:sp>
      <p:cxnSp>
        <p:nvCxnSpPr>
          <p:cNvPr id="654" name="m-p16_year_wheel-msep-2"/>
          <p:cNvCxnSpPr/>
          <p:nvPr/>
        </p:nvCxnSpPr>
        <p:spPr>
          <a:xfrm flipV="1">
            <a:off x="6211602" y="1606736"/>
            <a:ext cx="66389" cy="114990"/>
          </a:xfrm>
          <a:prstGeom prst="line">
            <a:avLst/>
          </a:prstGeom>
          <a:ln w="2540" cap="rnd">
            <a:solidFill>
              <a:srgbClr val="FFFFF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5" name="m-p16_year_wheel-mm-2"/>
          <p:cNvSpPr txBox="1"/>
          <p:nvPr/>
        </p:nvSpPr>
        <p:spPr>
          <a:xfrm>
            <a:off x="6285224" y="1677135"/>
            <a:ext cx="62927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8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2月</a:t>
            </a:r>
          </a:p>
        </p:txBody>
      </p:sp>
      <p:sp>
        <p:nvSpPr>
          <p:cNvPr id="656" name="m-p16_year_wheel-ml-2"/>
          <p:cNvSpPr txBox="1"/>
          <p:nvPr/>
        </p:nvSpPr>
        <p:spPr>
          <a:xfrm>
            <a:off x="6271256" y="1719019"/>
            <a:ext cx="9086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预算落位</a:t>
            </a:r>
          </a:p>
        </p:txBody>
      </p:sp>
      <p:cxnSp>
        <p:nvCxnSpPr>
          <p:cNvPr id="657" name="m-p16_year_wheel-msep-3"/>
          <p:cNvCxnSpPr/>
          <p:nvPr/>
        </p:nvCxnSpPr>
        <p:spPr>
          <a:xfrm flipV="1">
            <a:off x="6307849" y="1751584"/>
            <a:ext cx="114990" cy="66389"/>
          </a:xfrm>
          <a:prstGeom prst="line">
            <a:avLst/>
          </a:prstGeom>
          <a:ln w="2540" cap="rnd">
            <a:solidFill>
              <a:srgbClr val="FFFFF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8" name="m-p16_year_wheel-mm-3"/>
          <p:cNvSpPr txBox="1"/>
          <p:nvPr/>
        </p:nvSpPr>
        <p:spPr>
          <a:xfrm>
            <a:off x="6371812" y="1827110"/>
            <a:ext cx="62927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8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3月</a:t>
            </a:r>
          </a:p>
        </p:txBody>
      </p:sp>
      <p:sp>
        <p:nvSpPr>
          <p:cNvPr id="659" name="m-p16_year_wheel-ml-3"/>
          <p:cNvSpPr txBox="1"/>
          <p:nvPr/>
        </p:nvSpPr>
        <p:spPr>
          <a:xfrm>
            <a:off x="6357844" y="1868993"/>
            <a:ext cx="9086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组织就位</a:t>
            </a:r>
          </a:p>
        </p:txBody>
      </p:sp>
      <p:sp>
        <p:nvSpPr>
          <p:cNvPr id="660" name="m-p16_year_wheel-mm-4"/>
          <p:cNvSpPr txBox="1"/>
          <p:nvPr/>
        </p:nvSpPr>
        <p:spPr>
          <a:xfrm>
            <a:off x="6371812" y="2000285"/>
            <a:ext cx="62927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8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4月</a:t>
            </a:r>
          </a:p>
        </p:txBody>
      </p:sp>
      <p:sp>
        <p:nvSpPr>
          <p:cNvPr id="661" name="m-p16_year_wheel-ml-4"/>
          <p:cNvSpPr txBox="1"/>
          <p:nvPr/>
        </p:nvSpPr>
        <p:spPr>
          <a:xfrm>
            <a:off x="6357844" y="2042169"/>
            <a:ext cx="9086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产品迭代</a:t>
            </a:r>
          </a:p>
        </p:txBody>
      </p:sp>
      <p:cxnSp>
        <p:nvCxnSpPr>
          <p:cNvPr id="662" name="m-p16_year_wheel-msep-5"/>
          <p:cNvCxnSpPr/>
          <p:nvPr/>
        </p:nvCxnSpPr>
        <p:spPr>
          <a:xfrm>
            <a:off x="6307849" y="2080927"/>
            <a:ext cx="114990" cy="66389"/>
          </a:xfrm>
          <a:prstGeom prst="line">
            <a:avLst/>
          </a:prstGeom>
          <a:ln w="2540" cap="rnd">
            <a:solidFill>
              <a:srgbClr val="FFFFF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3" name="m-p16_year_wheel-mm-5"/>
          <p:cNvSpPr txBox="1"/>
          <p:nvPr/>
        </p:nvSpPr>
        <p:spPr>
          <a:xfrm>
            <a:off x="6285224" y="2150260"/>
            <a:ext cx="62927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8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5月</a:t>
            </a:r>
          </a:p>
        </p:txBody>
      </p:sp>
      <p:sp>
        <p:nvSpPr>
          <p:cNvPr id="664" name="m-p16_year_wheel-ml-5"/>
          <p:cNvSpPr txBox="1"/>
          <p:nvPr/>
        </p:nvSpPr>
        <p:spPr>
          <a:xfrm>
            <a:off x="6271256" y="2192144"/>
            <a:ext cx="9086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流程固化</a:t>
            </a:r>
          </a:p>
        </p:txBody>
      </p:sp>
      <p:cxnSp>
        <p:nvCxnSpPr>
          <p:cNvPr id="665" name="m-p16_year_wheel-msep-6"/>
          <p:cNvCxnSpPr/>
          <p:nvPr/>
        </p:nvCxnSpPr>
        <p:spPr>
          <a:xfrm>
            <a:off x="6211602" y="2177174"/>
            <a:ext cx="66389" cy="114990"/>
          </a:xfrm>
          <a:prstGeom prst="line">
            <a:avLst/>
          </a:prstGeom>
          <a:ln w="2540" cap="rnd">
            <a:solidFill>
              <a:srgbClr val="FFFFF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6" name="m-p16_year_wheel-mm-6"/>
          <p:cNvSpPr txBox="1"/>
          <p:nvPr/>
        </p:nvSpPr>
        <p:spPr>
          <a:xfrm>
            <a:off x="6135250" y="2236848"/>
            <a:ext cx="62927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8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6月</a:t>
            </a:r>
          </a:p>
        </p:txBody>
      </p:sp>
      <p:sp>
        <p:nvSpPr>
          <p:cNvPr id="667" name="m-p16_year_wheel-ml-6"/>
          <p:cNvSpPr txBox="1"/>
          <p:nvPr/>
        </p:nvSpPr>
        <p:spPr>
          <a:xfrm>
            <a:off x="6121282" y="2278731"/>
            <a:ext cx="9086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人才补齐</a:t>
            </a:r>
          </a:p>
        </p:txBody>
      </p:sp>
      <p:sp>
        <p:nvSpPr>
          <p:cNvPr id="668" name="m-p16_year_wheel-mm-7"/>
          <p:cNvSpPr txBox="1"/>
          <p:nvPr/>
        </p:nvSpPr>
        <p:spPr>
          <a:xfrm>
            <a:off x="5962074" y="2236848"/>
            <a:ext cx="62927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8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7月</a:t>
            </a:r>
          </a:p>
        </p:txBody>
      </p:sp>
      <p:sp>
        <p:nvSpPr>
          <p:cNvPr id="669" name="m-p16_year_wheel-ml-7"/>
          <p:cNvSpPr txBox="1"/>
          <p:nvPr/>
        </p:nvSpPr>
        <p:spPr>
          <a:xfrm>
            <a:off x="5948106" y="2278731"/>
            <a:ext cx="9086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渠道扩张</a:t>
            </a:r>
          </a:p>
        </p:txBody>
      </p:sp>
      <p:cxnSp>
        <p:nvCxnSpPr>
          <p:cNvPr id="670" name="m-p16_year_wheel-msep-8"/>
          <p:cNvCxnSpPr/>
          <p:nvPr/>
        </p:nvCxnSpPr>
        <p:spPr>
          <a:xfrm flipH="1">
            <a:off x="5882259" y="2177174"/>
            <a:ext cx="66389" cy="114990"/>
          </a:xfrm>
          <a:prstGeom prst="line">
            <a:avLst/>
          </a:prstGeom>
          <a:ln w="2540" cap="rnd">
            <a:solidFill>
              <a:srgbClr val="FFFFF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71" name="m-p16_year_wheel-mm-8"/>
          <p:cNvSpPr txBox="1"/>
          <p:nvPr/>
        </p:nvSpPr>
        <p:spPr>
          <a:xfrm>
            <a:off x="5812099" y="2150260"/>
            <a:ext cx="62927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8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8月</a:t>
            </a:r>
          </a:p>
        </p:txBody>
      </p:sp>
      <p:sp>
        <p:nvSpPr>
          <p:cNvPr id="672" name="m-p16_year_wheel-ml-8"/>
          <p:cNvSpPr txBox="1"/>
          <p:nvPr/>
        </p:nvSpPr>
        <p:spPr>
          <a:xfrm>
            <a:off x="5798132" y="2192144"/>
            <a:ext cx="9086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大促冲刺</a:t>
            </a:r>
          </a:p>
        </p:txBody>
      </p:sp>
      <p:cxnSp>
        <p:nvCxnSpPr>
          <p:cNvPr id="673" name="m-p16_year_wheel-msep-9"/>
          <p:cNvCxnSpPr/>
          <p:nvPr/>
        </p:nvCxnSpPr>
        <p:spPr>
          <a:xfrm flipH="1">
            <a:off x="5737411" y="2080927"/>
            <a:ext cx="114990" cy="66389"/>
          </a:xfrm>
          <a:prstGeom prst="line">
            <a:avLst/>
          </a:prstGeom>
          <a:ln w="2540" cap="rnd">
            <a:solidFill>
              <a:srgbClr val="FFFFF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74" name="m-p16_year_wheel-mm-9"/>
          <p:cNvSpPr txBox="1"/>
          <p:nvPr/>
        </p:nvSpPr>
        <p:spPr>
          <a:xfrm>
            <a:off x="5725511" y="2000285"/>
            <a:ext cx="62927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8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9月</a:t>
            </a:r>
          </a:p>
        </p:txBody>
      </p:sp>
      <p:sp>
        <p:nvSpPr>
          <p:cNvPr id="675" name="m-p16_year_wheel-ml-9"/>
          <p:cNvSpPr txBox="1"/>
          <p:nvPr/>
        </p:nvSpPr>
        <p:spPr>
          <a:xfrm>
            <a:off x="5711544" y="2042169"/>
            <a:ext cx="9086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交付提速</a:t>
            </a:r>
          </a:p>
        </p:txBody>
      </p:sp>
      <p:sp>
        <p:nvSpPr>
          <p:cNvPr id="676" name="m-p16_year_wheel-mm-10"/>
          <p:cNvSpPr txBox="1"/>
          <p:nvPr/>
        </p:nvSpPr>
        <p:spPr>
          <a:xfrm>
            <a:off x="5718065" y="1827110"/>
            <a:ext cx="77819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8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10月</a:t>
            </a:r>
          </a:p>
        </p:txBody>
      </p:sp>
      <p:sp>
        <p:nvSpPr>
          <p:cNvPr id="677" name="m-p16_year_wheel-ml-10"/>
          <p:cNvSpPr txBox="1"/>
          <p:nvPr/>
        </p:nvSpPr>
        <p:spPr>
          <a:xfrm>
            <a:off x="5711544" y="1868993"/>
            <a:ext cx="9086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回款清收</a:t>
            </a:r>
          </a:p>
        </p:txBody>
      </p:sp>
      <p:cxnSp>
        <p:nvCxnSpPr>
          <p:cNvPr id="678" name="m-p16_year_wheel-msep-11"/>
          <p:cNvCxnSpPr/>
          <p:nvPr/>
        </p:nvCxnSpPr>
        <p:spPr>
          <a:xfrm flipH="1" flipV="1">
            <a:off x="5737411" y="1751584"/>
            <a:ext cx="114990" cy="66389"/>
          </a:xfrm>
          <a:prstGeom prst="line">
            <a:avLst/>
          </a:prstGeom>
          <a:ln w="2540" cap="rnd">
            <a:solidFill>
              <a:srgbClr val="FFFFF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79" name="m-p16_year_wheel-mm-11"/>
          <p:cNvSpPr txBox="1"/>
          <p:nvPr/>
        </p:nvSpPr>
        <p:spPr>
          <a:xfrm>
            <a:off x="5804653" y="1677135"/>
            <a:ext cx="77819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8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11月</a:t>
            </a:r>
          </a:p>
        </p:txBody>
      </p:sp>
      <p:sp>
        <p:nvSpPr>
          <p:cNvPr id="680" name="m-p16_year_wheel-ml-11"/>
          <p:cNvSpPr txBox="1"/>
          <p:nvPr/>
        </p:nvSpPr>
        <p:spPr>
          <a:xfrm>
            <a:off x="5798132" y="1719019"/>
            <a:ext cx="9086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年度复盘</a:t>
            </a:r>
          </a:p>
        </p:txBody>
      </p:sp>
      <p:cxnSp>
        <p:nvCxnSpPr>
          <p:cNvPr id="681" name="m-p16_year_wheel-msep-12"/>
          <p:cNvCxnSpPr/>
          <p:nvPr/>
        </p:nvCxnSpPr>
        <p:spPr>
          <a:xfrm flipH="1" flipV="1">
            <a:off x="5882259" y="1606736"/>
            <a:ext cx="66389" cy="114990"/>
          </a:xfrm>
          <a:prstGeom prst="line">
            <a:avLst/>
          </a:prstGeom>
          <a:ln w="2540" cap="rnd">
            <a:solidFill>
              <a:srgbClr val="FFFFFF">
                <a:alpha val="4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82" name="m-p16_year_wheel-mm-12"/>
          <p:cNvSpPr txBox="1"/>
          <p:nvPr/>
        </p:nvSpPr>
        <p:spPr>
          <a:xfrm>
            <a:off x="5954628" y="1590547"/>
            <a:ext cx="77819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8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12月</a:t>
            </a:r>
          </a:p>
        </p:txBody>
      </p:sp>
      <p:sp>
        <p:nvSpPr>
          <p:cNvPr id="683" name="m-p16_year_wheel-ml-12"/>
          <p:cNvSpPr txBox="1"/>
          <p:nvPr/>
        </p:nvSpPr>
        <p:spPr>
          <a:xfrm>
            <a:off x="5948106" y="1632431"/>
            <a:ext cx="9086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明年规划</a:t>
            </a:r>
          </a:p>
        </p:txBody>
      </p:sp>
      <p:sp>
        <p:nvSpPr>
          <p:cNvPr id="684" name="m-p16_year_wheel-core"/>
          <p:cNvSpPr/>
          <p:nvPr/>
        </p:nvSpPr>
        <p:spPr>
          <a:xfrm>
            <a:off x="5845810" y="1715135"/>
            <a:ext cx="468630" cy="468630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85" name="m-p16_year_wheel-core-ring"/>
          <p:cNvSpPr/>
          <p:nvPr/>
        </p:nvSpPr>
        <p:spPr>
          <a:xfrm>
            <a:off x="5864034" y="1733360"/>
            <a:ext cx="432181" cy="432181"/>
          </a:xfrm>
          <a:prstGeom prst="ellipse">
            <a:avLst/>
          </a:prstGeom>
          <a:noFill/>
          <a:ln w="2540" cap="rnd">
            <a:solidFill>
              <a:srgbClr val="0B3E8F">
                <a:alpha val="14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86" name="m-p16_year_wheel-icon-calendar"/>
          <p:cNvSpPr/>
          <p:nvPr/>
        </p:nvSpPr>
        <p:spPr>
          <a:xfrm>
            <a:off x="6064885" y="1864424"/>
            <a:ext cx="30480" cy="33020"/>
          </a:xfrm>
          <a:custGeom>
            <a:avLst/>
            <a:gdLst/>
            <a:ahLst/>
            <a:cxnLst/>
            <a:rect l="0" t="0" r="r" b="b"/>
            <a:pathLst>
              <a:path w="30480" h="33020">
                <a:moveTo>
                  <a:pt x="0" y="5778"/>
                </a:moveTo>
                <a:lnTo>
                  <a:pt x="30480" y="5778"/>
                </a:lnTo>
                <a:lnTo>
                  <a:pt x="30480" y="33020"/>
                </a:lnTo>
                <a:lnTo>
                  <a:pt x="0" y="33020"/>
                </a:lnTo>
                <a:close/>
                <a:moveTo>
                  <a:pt x="0" y="14033"/>
                </a:moveTo>
                <a:lnTo>
                  <a:pt x="30480" y="14033"/>
                </a:lnTo>
                <a:moveTo>
                  <a:pt x="8255" y="0"/>
                </a:moveTo>
                <a:lnTo>
                  <a:pt x="8255" y="8255"/>
                </a:lnTo>
                <a:moveTo>
                  <a:pt x="22225" y="0"/>
                </a:moveTo>
                <a:lnTo>
                  <a:pt x="22225" y="8255"/>
                </a:lnTo>
              </a:path>
            </a:pathLst>
          </a:custGeom>
          <a:noFill/>
          <a:ln w="273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87" name="m-p16_year_wheel-core-y"/>
          <p:cNvSpPr txBox="1"/>
          <p:nvPr/>
        </p:nvSpPr>
        <p:spPr>
          <a:xfrm>
            <a:off x="5984993" y="1891730"/>
            <a:ext cx="190264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2026</a:t>
            </a:r>
          </a:p>
        </p:txBody>
      </p:sp>
      <p:sp>
        <p:nvSpPr>
          <p:cNvPr id="688" name="m-p16_year_wheel-core-t"/>
          <p:cNvSpPr txBox="1"/>
          <p:nvPr/>
        </p:nvSpPr>
        <p:spPr>
          <a:xfrm>
            <a:off x="6013020" y="1976181"/>
            <a:ext cx="134210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26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经营节奏</a:t>
            </a:r>
          </a:p>
        </p:txBody>
      </p:sp>
      <p:sp>
        <p:nvSpPr>
          <p:cNvPr id="689" name="m-p16_year_wheel-core-p"/>
          <p:cNvSpPr txBox="1"/>
          <p:nvPr/>
        </p:nvSpPr>
        <p:spPr>
          <a:xfrm>
            <a:off x="6002834" y="2027675"/>
            <a:ext cx="154583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6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每月一件必闭环</a:t>
            </a:r>
          </a:p>
        </p:txBody>
      </p:sp>
      <p:sp>
        <p:nvSpPr>
          <p:cNvPr id="690" name="m-p16_year_wheel-dir-arrow"/>
          <p:cNvSpPr/>
          <p:nvPr/>
        </p:nvSpPr>
        <p:spPr>
          <a:xfrm>
            <a:off x="6126058" y="1502039"/>
            <a:ext cx="259733" cy="127934"/>
          </a:xfrm>
          <a:custGeom>
            <a:avLst/>
            <a:gdLst/>
            <a:ahLst/>
            <a:cxnLst/>
            <a:rect l="0" t="0" r="r" b="b"/>
            <a:pathLst>
              <a:path w="259733" h="127934">
                <a:moveTo>
                  <a:pt x="6328" y="54"/>
                </a:moveTo>
                <a:cubicBezTo>
                  <a:pt x="92688" y="10150"/>
                  <a:pt x="174285" y="45012"/>
                  <a:pt x="241278" y="100447"/>
                </a:cubicBezTo>
                <a:lnTo>
                  <a:pt x="247120" y="93462"/>
                </a:lnTo>
                <a:quadBezTo>
                  <a:pt x="249596" y="90414"/>
                  <a:pt x="251882" y="97907"/>
                </a:quadBezTo>
                <a:lnTo>
                  <a:pt x="259185" y="121593"/>
                </a:lnTo>
                <a:quadBezTo>
                  <a:pt x="261534" y="129022"/>
                  <a:pt x="253851" y="127752"/>
                </a:quadBezTo>
                <a:lnTo>
                  <a:pt x="230737" y="123815"/>
                </a:lnTo>
                <a:quadBezTo>
                  <a:pt x="223053" y="122545"/>
                  <a:pt x="225530" y="119497"/>
                </a:quadBezTo>
                <a:lnTo>
                  <a:pt x="231308" y="112512"/>
                </a:lnTo>
                <a:cubicBezTo>
                  <a:pt x="166729" y="58982"/>
                  <a:pt x="87989" y="25327"/>
                  <a:pt x="4677" y="15611"/>
                </a:cubicBezTo>
                <a:quadBezTo>
                  <a:pt x="-467" y="15040"/>
                  <a:pt x="41" y="9833"/>
                </a:quadBezTo>
                <a:lnTo>
                  <a:pt x="613" y="4626"/>
                </a:lnTo>
                <a:quadBezTo>
                  <a:pt x="1121" y="-518"/>
                  <a:pt x="6328" y="54"/>
                </a:quadBezTo>
                <a:close/>
              </a:path>
            </a:pathLst>
          </a:custGeom>
          <a:solidFill>
            <a:srgbClr val="1B5AA8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91" name="m-p16_year_wheel-side-bar"/>
          <p:cNvSpPr/>
          <p:nvPr/>
        </p:nvSpPr>
        <p:spPr>
          <a:xfrm>
            <a:off x="6626860" y="1488630"/>
            <a:ext cx="6509" cy="109347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92" name="m-p16_year_wheel-side-h"/>
          <p:cNvSpPr txBox="1"/>
          <p:nvPr/>
        </p:nvSpPr>
        <p:spPr>
          <a:xfrm>
            <a:off x="6659404" y="1490095"/>
            <a:ext cx="169878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季度主题</a:t>
            </a:r>
          </a:p>
        </p:txBody>
      </p:sp>
      <p:sp>
        <p:nvSpPr>
          <p:cNvPr id="693" name="m-p16_year_wheel-side-p"/>
          <p:cNvSpPr txBox="1"/>
          <p:nvPr/>
        </p:nvSpPr>
        <p:spPr>
          <a:xfrm>
            <a:off x="6660575" y="1546412"/>
            <a:ext cx="276817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四个季度的重心与交付物</a:t>
            </a:r>
          </a:p>
        </p:txBody>
      </p:sp>
      <p:sp>
        <p:nvSpPr>
          <p:cNvPr id="694" name="m-p16_year_wheel-qc-1"/>
          <p:cNvSpPr/>
          <p:nvPr/>
        </p:nvSpPr>
        <p:spPr>
          <a:xfrm>
            <a:off x="6626860" y="1639633"/>
            <a:ext cx="846138" cy="164021"/>
          </a:xfrm>
          <a:custGeom>
            <a:avLst/>
            <a:gdLst/>
            <a:ahLst/>
            <a:cxnLst/>
            <a:rect l="0" t="0" r="r" b="b"/>
            <a:pathLst>
              <a:path w="846138" h="164021">
                <a:moveTo>
                  <a:pt x="23432" y="0"/>
                </a:moveTo>
                <a:lnTo>
                  <a:pt x="822706" y="0"/>
                </a:lnTo>
                <a:cubicBezTo>
                  <a:pt x="835660" y="0"/>
                  <a:pt x="846138" y="10478"/>
                  <a:pt x="846138" y="23431"/>
                </a:cubicBezTo>
                <a:lnTo>
                  <a:pt x="846138" y="140589"/>
                </a:lnTo>
                <a:cubicBezTo>
                  <a:pt x="846138" y="153543"/>
                  <a:pt x="835660" y="164021"/>
                  <a:pt x="822706" y="164021"/>
                </a:cubicBezTo>
                <a:lnTo>
                  <a:pt x="23432" y="164021"/>
                </a:lnTo>
                <a:cubicBezTo>
                  <a:pt x="10478" y="164021"/>
                  <a:pt x="0" y="153543"/>
                  <a:pt x="0" y="140589"/>
                </a:cubicBezTo>
                <a:lnTo>
                  <a:pt x="0" y="23431"/>
                </a:lnTo>
                <a:cubicBezTo>
                  <a:pt x="0" y="10478"/>
                  <a:pt x="10478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95" name="m-p16_year_wheel-qcb-1"/>
          <p:cNvSpPr/>
          <p:nvPr/>
        </p:nvSpPr>
        <p:spPr>
          <a:xfrm>
            <a:off x="6626860" y="1639633"/>
            <a:ext cx="6477" cy="164021"/>
          </a:xfrm>
          <a:custGeom>
            <a:avLst/>
            <a:gdLst/>
            <a:ahLst/>
            <a:cxnLst/>
            <a:rect l="0" t="0" r="r" b="b"/>
            <a:pathLst>
              <a:path w="6477" h="164021">
                <a:moveTo>
                  <a:pt x="3238" y="0"/>
                </a:moveTo>
                <a:lnTo>
                  <a:pt x="3238" y="0"/>
                </a:lnTo>
                <a:cubicBezTo>
                  <a:pt x="5080" y="0"/>
                  <a:pt x="6477" y="1461"/>
                  <a:pt x="6477" y="3239"/>
                </a:cubicBezTo>
                <a:lnTo>
                  <a:pt x="6477" y="160782"/>
                </a:lnTo>
                <a:cubicBezTo>
                  <a:pt x="6477" y="162560"/>
                  <a:pt x="5080" y="164021"/>
                  <a:pt x="3238" y="164021"/>
                </a:cubicBezTo>
                <a:lnTo>
                  <a:pt x="3238" y="164021"/>
                </a:lnTo>
                <a:cubicBezTo>
                  <a:pt x="1461" y="164021"/>
                  <a:pt x="0" y="162560"/>
                  <a:pt x="0" y="160782"/>
                </a:cubicBezTo>
                <a:lnTo>
                  <a:pt x="0" y="3239"/>
                </a:lnTo>
                <a:cubicBezTo>
                  <a:pt x="0" y="1461"/>
                  <a:pt x="1461" y="0"/>
                  <a:pt x="3238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96" name="m-p16_year_wheel-qcc-1"/>
          <p:cNvSpPr/>
          <p:nvPr/>
        </p:nvSpPr>
        <p:spPr>
          <a:xfrm>
            <a:off x="6660706" y="1683893"/>
            <a:ext cx="72898" cy="72898"/>
          </a:xfrm>
          <a:prstGeom prst="ellipse">
            <a:avLst/>
          </a:pr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97" name="m-p16_year_wheel-qcn-1"/>
          <p:cNvSpPr txBox="1"/>
          <p:nvPr/>
        </p:nvSpPr>
        <p:spPr>
          <a:xfrm>
            <a:off x="6668763" y="1696995"/>
            <a:ext cx="56782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6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Q1</a:t>
            </a:r>
          </a:p>
        </p:txBody>
      </p:sp>
      <p:sp>
        <p:nvSpPr>
          <p:cNvPr id="698" name="m-p16_year_wheel-icon-flag"/>
          <p:cNvSpPr/>
          <p:nvPr/>
        </p:nvSpPr>
        <p:spPr>
          <a:xfrm>
            <a:off x="6772021" y="1693736"/>
            <a:ext cx="13525" cy="23114"/>
          </a:xfrm>
          <a:custGeom>
            <a:avLst/>
            <a:gdLst/>
            <a:ahLst/>
            <a:cxnLst/>
            <a:rect l="0" t="0" r="r" b="b"/>
            <a:pathLst>
              <a:path w="13525" h="23114">
                <a:moveTo>
                  <a:pt x="0" y="23114"/>
                </a:moveTo>
                <a:lnTo>
                  <a:pt x="0" y="0"/>
                </a:lnTo>
                <a:moveTo>
                  <a:pt x="0" y="1143"/>
                </a:moveTo>
                <a:lnTo>
                  <a:pt x="13525" y="1143"/>
                </a:lnTo>
                <a:lnTo>
                  <a:pt x="11239" y="5651"/>
                </a:lnTo>
                <a:lnTo>
                  <a:pt x="13525" y="10160"/>
                </a:lnTo>
                <a:lnTo>
                  <a:pt x="0" y="10160"/>
                </a:lnTo>
              </a:path>
            </a:pathLst>
          </a:custGeom>
          <a:noFill/>
          <a:ln w="260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99" name="m-p16_year_wheel-qct-1"/>
          <p:cNvSpPr txBox="1"/>
          <p:nvPr/>
        </p:nvSpPr>
        <p:spPr>
          <a:xfrm>
            <a:off x="6816082" y="1679766"/>
            <a:ext cx="149701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1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开局定调</a:t>
            </a:r>
          </a:p>
        </p:txBody>
      </p:sp>
      <p:sp>
        <p:nvSpPr>
          <p:cNvPr id="700" name="m-p16_year_wheel-qcp-1"/>
          <p:cNvSpPr txBox="1"/>
          <p:nvPr/>
        </p:nvSpPr>
        <p:spPr>
          <a:xfrm>
            <a:off x="6777733" y="1733864"/>
            <a:ext cx="230214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目标拆解与资源就位</a:t>
            </a:r>
          </a:p>
        </p:txBody>
      </p:sp>
      <p:sp>
        <p:nvSpPr>
          <p:cNvPr id="701" name="m-p16_year_wheel-qcm-1"/>
          <p:cNvSpPr txBox="1"/>
          <p:nvPr/>
        </p:nvSpPr>
        <p:spPr>
          <a:xfrm>
            <a:off x="7172137" y="1739491"/>
            <a:ext cx="27701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目标拆解、预算落位、组织就位</a:t>
            </a:r>
          </a:p>
        </p:txBody>
      </p:sp>
      <p:sp>
        <p:nvSpPr>
          <p:cNvPr id="702" name="m-p16_year_wheel-qc-2"/>
          <p:cNvSpPr/>
          <p:nvPr/>
        </p:nvSpPr>
        <p:spPr>
          <a:xfrm>
            <a:off x="6626860" y="1829689"/>
            <a:ext cx="846138" cy="164021"/>
          </a:xfrm>
          <a:custGeom>
            <a:avLst/>
            <a:gdLst/>
            <a:ahLst/>
            <a:cxnLst/>
            <a:rect l="0" t="0" r="r" b="b"/>
            <a:pathLst>
              <a:path w="846138" h="164021">
                <a:moveTo>
                  <a:pt x="23432" y="0"/>
                </a:moveTo>
                <a:lnTo>
                  <a:pt x="822706" y="0"/>
                </a:lnTo>
                <a:cubicBezTo>
                  <a:pt x="835660" y="0"/>
                  <a:pt x="846138" y="10478"/>
                  <a:pt x="846138" y="23431"/>
                </a:cubicBezTo>
                <a:lnTo>
                  <a:pt x="846138" y="140589"/>
                </a:lnTo>
                <a:cubicBezTo>
                  <a:pt x="846138" y="153543"/>
                  <a:pt x="835660" y="164021"/>
                  <a:pt x="822706" y="164021"/>
                </a:cubicBezTo>
                <a:lnTo>
                  <a:pt x="23432" y="164021"/>
                </a:lnTo>
                <a:cubicBezTo>
                  <a:pt x="10478" y="164021"/>
                  <a:pt x="0" y="153543"/>
                  <a:pt x="0" y="140589"/>
                </a:cubicBezTo>
                <a:lnTo>
                  <a:pt x="0" y="23431"/>
                </a:lnTo>
                <a:cubicBezTo>
                  <a:pt x="0" y="10478"/>
                  <a:pt x="10478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03" name="m-p16_year_wheel-qcb-2"/>
          <p:cNvSpPr/>
          <p:nvPr/>
        </p:nvSpPr>
        <p:spPr>
          <a:xfrm>
            <a:off x="6626860" y="1829689"/>
            <a:ext cx="6477" cy="164021"/>
          </a:xfrm>
          <a:custGeom>
            <a:avLst/>
            <a:gdLst/>
            <a:ahLst/>
            <a:cxnLst/>
            <a:rect l="0" t="0" r="r" b="b"/>
            <a:pathLst>
              <a:path w="6477" h="164021">
                <a:moveTo>
                  <a:pt x="3238" y="0"/>
                </a:moveTo>
                <a:lnTo>
                  <a:pt x="3238" y="0"/>
                </a:lnTo>
                <a:cubicBezTo>
                  <a:pt x="5080" y="0"/>
                  <a:pt x="6477" y="1461"/>
                  <a:pt x="6477" y="3238"/>
                </a:cubicBezTo>
                <a:lnTo>
                  <a:pt x="6477" y="160782"/>
                </a:lnTo>
                <a:cubicBezTo>
                  <a:pt x="6477" y="162560"/>
                  <a:pt x="5080" y="164021"/>
                  <a:pt x="3238" y="164021"/>
                </a:cubicBezTo>
                <a:lnTo>
                  <a:pt x="3238" y="164021"/>
                </a:lnTo>
                <a:cubicBezTo>
                  <a:pt x="1461" y="164021"/>
                  <a:pt x="0" y="162560"/>
                  <a:pt x="0" y="160782"/>
                </a:cubicBezTo>
                <a:lnTo>
                  <a:pt x="0" y="3238"/>
                </a:lnTo>
                <a:cubicBezTo>
                  <a:pt x="0" y="1461"/>
                  <a:pt x="1461" y="0"/>
                  <a:pt x="3238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04" name="m-p16_year_wheel-qcc-2"/>
          <p:cNvSpPr/>
          <p:nvPr/>
        </p:nvSpPr>
        <p:spPr>
          <a:xfrm>
            <a:off x="6660706" y="1873948"/>
            <a:ext cx="72898" cy="72898"/>
          </a:xfrm>
          <a:prstGeom prst="ellipse">
            <a:avLst/>
          </a:pr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05" name="m-p16_year_wheel-qcn-2"/>
          <p:cNvSpPr txBox="1"/>
          <p:nvPr/>
        </p:nvSpPr>
        <p:spPr>
          <a:xfrm>
            <a:off x="6668763" y="1887051"/>
            <a:ext cx="56782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6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Q2</a:t>
            </a:r>
          </a:p>
        </p:txBody>
      </p:sp>
      <p:sp>
        <p:nvSpPr>
          <p:cNvPr id="706" name="m-p16_year_wheel-icon-tools"/>
          <p:cNvSpPr/>
          <p:nvPr/>
        </p:nvSpPr>
        <p:spPr>
          <a:xfrm>
            <a:off x="6769746" y="1883410"/>
            <a:ext cx="20055" cy="19812"/>
          </a:xfrm>
          <a:custGeom>
            <a:avLst/>
            <a:gdLst/>
            <a:ahLst/>
            <a:cxnLst/>
            <a:rect l="0" t="0" r="r" b="b"/>
            <a:pathLst>
              <a:path w="20055" h="19812">
                <a:moveTo>
                  <a:pt x="3672" y="635"/>
                </a:moveTo>
                <a:lnTo>
                  <a:pt x="7926" y="4890"/>
                </a:lnTo>
                <a:lnTo>
                  <a:pt x="4815" y="8001"/>
                </a:lnTo>
                <a:lnTo>
                  <a:pt x="560" y="3747"/>
                </a:lnTo>
                <a:cubicBezTo>
                  <a:pt x="-456" y="5842"/>
                  <a:pt x="-75" y="8382"/>
                  <a:pt x="1576" y="10097"/>
                </a:cubicBezTo>
                <a:cubicBezTo>
                  <a:pt x="3227" y="11811"/>
                  <a:pt x="5704" y="12319"/>
                  <a:pt x="7926" y="11367"/>
                </a:cubicBezTo>
                <a:lnTo>
                  <a:pt x="16372" y="19812"/>
                </a:lnTo>
                <a:lnTo>
                  <a:pt x="20055" y="16129"/>
                </a:lnTo>
                <a:lnTo>
                  <a:pt x="11546" y="7684"/>
                </a:lnTo>
                <a:cubicBezTo>
                  <a:pt x="12435" y="5525"/>
                  <a:pt x="11863" y="2985"/>
                  <a:pt x="10085" y="1397"/>
                </a:cubicBezTo>
                <a:cubicBezTo>
                  <a:pt x="8307" y="-127"/>
                  <a:pt x="5767" y="-444"/>
                  <a:pt x="3672" y="635"/>
                </a:cubicBezTo>
                <a:close/>
              </a:path>
            </a:pathLst>
          </a:custGeom>
          <a:noFill/>
          <a:ln w="2604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07" name="m-p16_year_wheel-qct-2"/>
          <p:cNvSpPr txBox="1"/>
          <p:nvPr/>
        </p:nvSpPr>
        <p:spPr>
          <a:xfrm>
            <a:off x="6816082" y="1869822"/>
            <a:ext cx="149701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1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夯实能力</a:t>
            </a:r>
          </a:p>
        </p:txBody>
      </p:sp>
      <p:sp>
        <p:nvSpPr>
          <p:cNvPr id="708" name="m-p16_year_wheel-qcp-2"/>
          <p:cNvSpPr txBox="1"/>
          <p:nvPr/>
        </p:nvSpPr>
        <p:spPr>
          <a:xfrm>
            <a:off x="6777733" y="1923919"/>
            <a:ext cx="230214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产品与交付能力补齐</a:t>
            </a:r>
          </a:p>
        </p:txBody>
      </p:sp>
      <p:sp>
        <p:nvSpPr>
          <p:cNvPr id="709" name="m-p16_year_wheel-qcm-2"/>
          <p:cNvSpPr txBox="1"/>
          <p:nvPr/>
        </p:nvSpPr>
        <p:spPr>
          <a:xfrm>
            <a:off x="7172137" y="1929546"/>
            <a:ext cx="27701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产品迭代、流程固化、人才补齐</a:t>
            </a:r>
          </a:p>
        </p:txBody>
      </p:sp>
      <p:sp>
        <p:nvSpPr>
          <p:cNvPr id="710" name="m-p16_year_wheel-qc-3"/>
          <p:cNvSpPr/>
          <p:nvPr/>
        </p:nvSpPr>
        <p:spPr>
          <a:xfrm>
            <a:off x="6626860" y="2019744"/>
            <a:ext cx="846138" cy="164020"/>
          </a:xfrm>
          <a:custGeom>
            <a:avLst/>
            <a:gdLst/>
            <a:ahLst/>
            <a:cxnLst/>
            <a:rect l="0" t="0" r="r" b="b"/>
            <a:pathLst>
              <a:path w="846138" h="164020">
                <a:moveTo>
                  <a:pt x="23432" y="0"/>
                </a:moveTo>
                <a:lnTo>
                  <a:pt x="822706" y="0"/>
                </a:lnTo>
                <a:cubicBezTo>
                  <a:pt x="835660" y="0"/>
                  <a:pt x="846138" y="10478"/>
                  <a:pt x="846138" y="23431"/>
                </a:cubicBezTo>
                <a:lnTo>
                  <a:pt x="846138" y="140589"/>
                </a:lnTo>
                <a:cubicBezTo>
                  <a:pt x="846138" y="153543"/>
                  <a:pt x="835660" y="164020"/>
                  <a:pt x="822706" y="164020"/>
                </a:cubicBezTo>
                <a:lnTo>
                  <a:pt x="23432" y="164020"/>
                </a:lnTo>
                <a:cubicBezTo>
                  <a:pt x="10478" y="164020"/>
                  <a:pt x="0" y="153543"/>
                  <a:pt x="0" y="140589"/>
                </a:cubicBezTo>
                <a:lnTo>
                  <a:pt x="0" y="23431"/>
                </a:lnTo>
                <a:cubicBezTo>
                  <a:pt x="0" y="10478"/>
                  <a:pt x="10478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11" name="m-p16_year_wheel-qcb-3"/>
          <p:cNvSpPr/>
          <p:nvPr/>
        </p:nvSpPr>
        <p:spPr>
          <a:xfrm>
            <a:off x="6626860" y="2019744"/>
            <a:ext cx="6477" cy="164020"/>
          </a:xfrm>
          <a:custGeom>
            <a:avLst/>
            <a:gdLst/>
            <a:ahLst/>
            <a:cxnLst/>
            <a:rect l="0" t="0" r="r" b="b"/>
            <a:pathLst>
              <a:path w="6477" h="164020">
                <a:moveTo>
                  <a:pt x="3238" y="0"/>
                </a:moveTo>
                <a:lnTo>
                  <a:pt x="3238" y="0"/>
                </a:lnTo>
                <a:cubicBezTo>
                  <a:pt x="5080" y="0"/>
                  <a:pt x="6477" y="1461"/>
                  <a:pt x="6477" y="3238"/>
                </a:cubicBezTo>
                <a:lnTo>
                  <a:pt x="6477" y="160782"/>
                </a:lnTo>
                <a:cubicBezTo>
                  <a:pt x="6477" y="162560"/>
                  <a:pt x="5080" y="164020"/>
                  <a:pt x="3238" y="164020"/>
                </a:cubicBezTo>
                <a:lnTo>
                  <a:pt x="3238" y="164020"/>
                </a:lnTo>
                <a:cubicBezTo>
                  <a:pt x="1461" y="164020"/>
                  <a:pt x="0" y="162560"/>
                  <a:pt x="0" y="160782"/>
                </a:cubicBezTo>
                <a:lnTo>
                  <a:pt x="0" y="3238"/>
                </a:lnTo>
                <a:cubicBezTo>
                  <a:pt x="0" y="1461"/>
                  <a:pt x="1461" y="0"/>
                  <a:pt x="3238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12" name="m-p16_year_wheel-qcc-3"/>
          <p:cNvSpPr/>
          <p:nvPr/>
        </p:nvSpPr>
        <p:spPr>
          <a:xfrm>
            <a:off x="6660706" y="2064004"/>
            <a:ext cx="72898" cy="72898"/>
          </a:xfrm>
          <a:prstGeom prst="ellipse">
            <a:avLst/>
          </a:prstGeom>
          <a:solidFill>
            <a:srgbClr val="3985CD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13" name="m-p16_year_wheel-qcn-3"/>
          <p:cNvSpPr txBox="1"/>
          <p:nvPr/>
        </p:nvSpPr>
        <p:spPr>
          <a:xfrm>
            <a:off x="6668763" y="2077106"/>
            <a:ext cx="56782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6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Q3</a:t>
            </a:r>
          </a:p>
        </p:txBody>
      </p:sp>
      <p:sp>
        <p:nvSpPr>
          <p:cNvPr id="714" name="m-p16_year_wheel-icon-rocket"/>
          <p:cNvSpPr/>
          <p:nvPr/>
        </p:nvSpPr>
        <p:spPr>
          <a:xfrm>
            <a:off x="6771132" y="2072450"/>
            <a:ext cx="18669" cy="23368"/>
          </a:xfrm>
          <a:custGeom>
            <a:avLst/>
            <a:gdLst/>
            <a:ahLst/>
            <a:cxnLst/>
            <a:rect l="0" t="0" r="r" b="b"/>
            <a:pathLst>
              <a:path w="18669" h="23368">
                <a:moveTo>
                  <a:pt x="9335" y="0"/>
                </a:moveTo>
                <a:cubicBezTo>
                  <a:pt x="13589" y="3048"/>
                  <a:pt x="15812" y="7874"/>
                  <a:pt x="15812" y="12954"/>
                </a:cubicBezTo>
                <a:lnTo>
                  <a:pt x="12700" y="18034"/>
                </a:lnTo>
                <a:lnTo>
                  <a:pt x="5969" y="18034"/>
                </a:lnTo>
                <a:lnTo>
                  <a:pt x="2858" y="12954"/>
                </a:lnTo>
                <a:cubicBezTo>
                  <a:pt x="2858" y="7874"/>
                  <a:pt x="5080" y="3048"/>
                  <a:pt x="9335" y="0"/>
                </a:cubicBezTo>
                <a:close/>
                <a:moveTo>
                  <a:pt x="2858" y="16891"/>
                </a:moveTo>
                <a:lnTo>
                  <a:pt x="0" y="23368"/>
                </a:lnTo>
                <a:lnTo>
                  <a:pt x="5969" y="21145"/>
                </a:lnTo>
                <a:moveTo>
                  <a:pt x="15812" y="16891"/>
                </a:moveTo>
                <a:lnTo>
                  <a:pt x="18669" y="23368"/>
                </a:lnTo>
                <a:lnTo>
                  <a:pt x="12700" y="21145"/>
                </a:lnTo>
              </a:path>
            </a:pathLst>
          </a:custGeom>
          <a:noFill/>
          <a:ln w="2604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15" name="m-p16_year_wheel-qct-3"/>
          <p:cNvSpPr txBox="1"/>
          <p:nvPr/>
        </p:nvSpPr>
        <p:spPr>
          <a:xfrm>
            <a:off x="6816082" y="2059877"/>
            <a:ext cx="149701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1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规模冲刺</a:t>
            </a:r>
          </a:p>
        </p:txBody>
      </p:sp>
      <p:sp>
        <p:nvSpPr>
          <p:cNvPr id="716" name="m-p16_year_wheel-qcp-3"/>
          <p:cNvSpPr txBox="1"/>
          <p:nvPr/>
        </p:nvSpPr>
        <p:spPr>
          <a:xfrm>
            <a:off x="6777733" y="2113975"/>
            <a:ext cx="230214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渠道扩张与订单转化</a:t>
            </a:r>
          </a:p>
        </p:txBody>
      </p:sp>
      <p:sp>
        <p:nvSpPr>
          <p:cNvPr id="717" name="m-p16_year_wheel-qcm-3"/>
          <p:cNvSpPr txBox="1"/>
          <p:nvPr/>
        </p:nvSpPr>
        <p:spPr>
          <a:xfrm>
            <a:off x="7172137" y="2119602"/>
            <a:ext cx="27701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渠道扩张、大促冲刺、交付提速</a:t>
            </a:r>
          </a:p>
        </p:txBody>
      </p:sp>
      <p:sp>
        <p:nvSpPr>
          <p:cNvPr id="718" name="m-p16_year_wheel-qc-4"/>
          <p:cNvSpPr/>
          <p:nvPr/>
        </p:nvSpPr>
        <p:spPr>
          <a:xfrm>
            <a:off x="6626860" y="2209800"/>
            <a:ext cx="846138" cy="164020"/>
          </a:xfrm>
          <a:custGeom>
            <a:avLst/>
            <a:gdLst/>
            <a:ahLst/>
            <a:cxnLst/>
            <a:rect l="0" t="0" r="r" b="b"/>
            <a:pathLst>
              <a:path w="846138" h="164020">
                <a:moveTo>
                  <a:pt x="23432" y="0"/>
                </a:moveTo>
                <a:lnTo>
                  <a:pt x="822706" y="0"/>
                </a:lnTo>
                <a:cubicBezTo>
                  <a:pt x="835660" y="0"/>
                  <a:pt x="846138" y="10477"/>
                  <a:pt x="846138" y="23431"/>
                </a:cubicBezTo>
                <a:lnTo>
                  <a:pt x="846138" y="140589"/>
                </a:lnTo>
                <a:cubicBezTo>
                  <a:pt x="846138" y="153543"/>
                  <a:pt x="835660" y="164020"/>
                  <a:pt x="822706" y="164020"/>
                </a:cubicBezTo>
                <a:lnTo>
                  <a:pt x="23432" y="164020"/>
                </a:lnTo>
                <a:cubicBezTo>
                  <a:pt x="10478" y="164020"/>
                  <a:pt x="0" y="153543"/>
                  <a:pt x="0" y="140589"/>
                </a:cubicBezTo>
                <a:lnTo>
                  <a:pt x="0" y="23431"/>
                </a:lnTo>
                <a:cubicBezTo>
                  <a:pt x="0" y="10477"/>
                  <a:pt x="10478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19" name="m-p16_year_wheel-qcb-4"/>
          <p:cNvSpPr/>
          <p:nvPr/>
        </p:nvSpPr>
        <p:spPr>
          <a:xfrm>
            <a:off x="6626860" y="2209800"/>
            <a:ext cx="6477" cy="164020"/>
          </a:xfrm>
          <a:custGeom>
            <a:avLst/>
            <a:gdLst/>
            <a:ahLst/>
            <a:cxnLst/>
            <a:rect l="0" t="0" r="r" b="b"/>
            <a:pathLst>
              <a:path w="6477" h="164020">
                <a:moveTo>
                  <a:pt x="3238" y="0"/>
                </a:moveTo>
                <a:lnTo>
                  <a:pt x="3238" y="0"/>
                </a:lnTo>
                <a:cubicBezTo>
                  <a:pt x="5080" y="0"/>
                  <a:pt x="6477" y="1461"/>
                  <a:pt x="6477" y="3238"/>
                </a:cubicBezTo>
                <a:lnTo>
                  <a:pt x="6477" y="160782"/>
                </a:lnTo>
                <a:cubicBezTo>
                  <a:pt x="6477" y="162560"/>
                  <a:pt x="5080" y="164020"/>
                  <a:pt x="3238" y="164020"/>
                </a:cubicBezTo>
                <a:lnTo>
                  <a:pt x="3238" y="164020"/>
                </a:lnTo>
                <a:cubicBezTo>
                  <a:pt x="1461" y="164020"/>
                  <a:pt x="0" y="162560"/>
                  <a:pt x="0" y="160782"/>
                </a:cubicBezTo>
                <a:lnTo>
                  <a:pt x="0" y="3238"/>
                </a:lnTo>
                <a:cubicBezTo>
                  <a:pt x="0" y="1461"/>
                  <a:pt x="1461" y="0"/>
                  <a:pt x="3238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20" name="m-p16_year_wheel-qcc-4"/>
          <p:cNvSpPr/>
          <p:nvPr/>
        </p:nvSpPr>
        <p:spPr>
          <a:xfrm>
            <a:off x="6660706" y="2254060"/>
            <a:ext cx="72898" cy="72898"/>
          </a:xfrm>
          <a:prstGeom prst="ellipse">
            <a:avLst/>
          </a:prstGeom>
          <a:solidFill>
            <a:srgbClr val="54A2D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21" name="m-p16_year_wheel-qcn-4"/>
          <p:cNvSpPr txBox="1"/>
          <p:nvPr/>
        </p:nvSpPr>
        <p:spPr>
          <a:xfrm>
            <a:off x="6668763" y="2267162"/>
            <a:ext cx="56782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6" normalizeH="0" baseline="0" noProof="0">
                <a:ln>
                  <a:noFill/>
                </a:ln>
                <a:solidFill>
                  <a:srgbClr val="54A2D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Q4</a:t>
            </a:r>
          </a:p>
        </p:txBody>
      </p:sp>
      <p:sp>
        <p:nvSpPr>
          <p:cNvPr id="722" name="m-p16_year_wheel-icon-check"/>
          <p:cNvSpPr/>
          <p:nvPr/>
        </p:nvSpPr>
        <p:spPr>
          <a:xfrm>
            <a:off x="6771449" y="2268664"/>
            <a:ext cx="18034" cy="12700"/>
          </a:xfrm>
          <a:custGeom>
            <a:avLst/>
            <a:gdLst/>
            <a:ahLst/>
            <a:cxnLst/>
            <a:rect l="0" t="0" r="r" b="b"/>
            <a:pathLst>
              <a:path w="18034" h="12700">
                <a:moveTo>
                  <a:pt x="0" y="6794"/>
                </a:moveTo>
                <a:lnTo>
                  <a:pt x="5906" y="12700"/>
                </a:lnTo>
                <a:lnTo>
                  <a:pt x="18034" y="0"/>
                </a:lnTo>
              </a:path>
            </a:pathLst>
          </a:custGeom>
          <a:noFill/>
          <a:ln w="2604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23" name="m-p16_year_wheel-qct-4"/>
          <p:cNvSpPr txBox="1"/>
          <p:nvPr/>
        </p:nvSpPr>
        <p:spPr>
          <a:xfrm>
            <a:off x="6816082" y="2249933"/>
            <a:ext cx="149701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1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收口复盘</a:t>
            </a:r>
          </a:p>
        </p:txBody>
      </p:sp>
      <p:sp>
        <p:nvSpPr>
          <p:cNvPr id="724" name="m-p16_year_wheel-qcp-4"/>
          <p:cNvSpPr txBox="1"/>
          <p:nvPr/>
        </p:nvSpPr>
        <p:spPr>
          <a:xfrm>
            <a:off x="6777733" y="2304030"/>
            <a:ext cx="253516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回款、复盘与下年规划</a:t>
            </a:r>
          </a:p>
        </p:txBody>
      </p:sp>
      <p:sp>
        <p:nvSpPr>
          <p:cNvPr id="725" name="m-p16_year_wheel-qcm-4"/>
          <p:cNvSpPr txBox="1"/>
          <p:nvPr/>
        </p:nvSpPr>
        <p:spPr>
          <a:xfrm>
            <a:off x="7172137" y="2309657"/>
            <a:ext cx="27701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回款清收、年度复盘、明年规划</a:t>
            </a:r>
          </a:p>
        </p:txBody>
      </p:sp>
      <p:sp>
        <p:nvSpPr>
          <p:cNvPr id="726" name="m-p16_year_wheel-sum"/>
          <p:cNvSpPr/>
          <p:nvPr/>
        </p:nvSpPr>
        <p:spPr>
          <a:xfrm>
            <a:off x="5364162" y="2392045"/>
            <a:ext cx="2108835" cy="75501"/>
          </a:xfrm>
          <a:custGeom>
            <a:avLst/>
            <a:gdLst/>
            <a:ahLst/>
            <a:cxnLst/>
            <a:rect l="0" t="0" r="r" b="b"/>
            <a:pathLst>
              <a:path w="2108835" h="75501">
                <a:moveTo>
                  <a:pt x="18225" y="0"/>
                </a:moveTo>
                <a:lnTo>
                  <a:pt x="2090610" y="0"/>
                </a:lnTo>
                <a:cubicBezTo>
                  <a:pt x="2100643" y="0"/>
                  <a:pt x="2108835" y="8192"/>
                  <a:pt x="2108835" y="18225"/>
                </a:cubicBezTo>
                <a:lnTo>
                  <a:pt x="2108835" y="57277"/>
                </a:lnTo>
                <a:cubicBezTo>
                  <a:pt x="2108835" y="67310"/>
                  <a:pt x="2100643" y="75501"/>
                  <a:pt x="2090610" y="75501"/>
                </a:cubicBezTo>
                <a:lnTo>
                  <a:pt x="18225" y="75501"/>
                </a:lnTo>
                <a:cubicBezTo>
                  <a:pt x="8191" y="75501"/>
                  <a:pt x="0" y="67310"/>
                  <a:pt x="0" y="57277"/>
                </a:cubicBezTo>
                <a:lnTo>
                  <a:pt x="0" y="18225"/>
                </a:lnTo>
                <a:cubicBezTo>
                  <a:pt x="0" y="8192"/>
                  <a:pt x="8191" y="0"/>
                  <a:pt x="18225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27" name="m-p16_year_wheel-sum-bar"/>
          <p:cNvSpPr/>
          <p:nvPr/>
        </p:nvSpPr>
        <p:spPr>
          <a:xfrm>
            <a:off x="5364162" y="2392045"/>
            <a:ext cx="6509" cy="75501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28" name="m-p16_year_wheel-sum-h"/>
          <p:cNvSpPr txBox="1"/>
          <p:nvPr/>
        </p:nvSpPr>
        <p:spPr>
          <a:xfrm>
            <a:off x="5403163" y="2411578"/>
            <a:ext cx="118850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节奏纪律</a:t>
            </a:r>
          </a:p>
        </p:txBody>
      </p:sp>
      <p:sp>
        <p:nvSpPr>
          <p:cNvPr id="729" name="m-p16_year_wheel-sum-p"/>
          <p:cNvSpPr txBox="1"/>
          <p:nvPr/>
        </p:nvSpPr>
        <p:spPr>
          <a:xfrm>
            <a:off x="5556691" y="2410774"/>
            <a:ext cx="859350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每月最后一个周五做闭环确认，未闭环事项自动进入下月首位，不做顺延式积压。</a:t>
            </a:r>
          </a:p>
        </p:txBody>
      </p:sp>
      <p:cxnSp>
        <p:nvCxnSpPr>
          <p:cNvPr id="730" name="m-p16_year_wheel-foot-line"/>
          <p:cNvCxnSpPr/>
          <p:nvPr/>
        </p:nvCxnSpPr>
        <p:spPr>
          <a:xfrm>
            <a:off x="5288661" y="24935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1" name="m-p16_year_wheel-foot-l"/>
          <p:cNvSpPr txBox="1"/>
          <p:nvPr/>
        </p:nvSpPr>
        <p:spPr>
          <a:xfrm>
            <a:off x="5286474" y="2507523"/>
            <a:ext cx="23447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年度节奏 · 四季十二月</a:t>
            </a:r>
          </a:p>
        </p:txBody>
      </p:sp>
      <p:sp>
        <p:nvSpPr>
          <p:cNvPr id="732" name="m-p16_year_wheel-foot-r"/>
          <p:cNvSpPr txBox="1"/>
          <p:nvPr/>
        </p:nvSpPr>
        <p:spPr>
          <a:xfrm>
            <a:off x="7290909" y="25075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733" name="mini-card-d11_treemap"/>
          <p:cNvSpPr/>
          <p:nvPr/>
        </p:nvSpPr>
        <p:spPr>
          <a:xfrm>
            <a:off x="7785100" y="11684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1" y="0"/>
                </a:moveTo>
                <a:lnTo>
                  <a:pt x="2419160" y="0"/>
                </a:lnTo>
                <a:cubicBezTo>
                  <a:pt x="2463483" y="0"/>
                  <a:pt x="2499360" y="35878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1" y="1405890"/>
                </a:lnTo>
                <a:cubicBezTo>
                  <a:pt x="35878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8"/>
                  <a:pt x="35878" y="0"/>
                  <a:pt x="80201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34" name="m-d11_treemap-title-bar"/>
          <p:cNvSpPr/>
          <p:nvPr/>
        </p:nvSpPr>
        <p:spPr>
          <a:xfrm>
            <a:off x="7904861" y="12673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35" name="m-d11_treemap-title-bar-accent"/>
          <p:cNvSpPr/>
          <p:nvPr/>
        </p:nvSpPr>
        <p:spPr>
          <a:xfrm>
            <a:off x="7904861" y="12673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36" name="m-d11_treemap-title-cn"/>
          <p:cNvSpPr txBox="1"/>
          <p:nvPr/>
        </p:nvSpPr>
        <p:spPr>
          <a:xfrm>
            <a:off x="7937040" y="1249968"/>
            <a:ext cx="426453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营收构成树图</a:t>
            </a:r>
          </a:p>
        </p:txBody>
      </p:sp>
      <p:sp>
        <p:nvSpPr>
          <p:cNvPr id="737" name="m-d11_treemap-title-en"/>
          <p:cNvSpPr txBox="1"/>
          <p:nvPr/>
        </p:nvSpPr>
        <p:spPr>
          <a:xfrm>
            <a:off x="7944330" y="1337250"/>
            <a:ext cx="14707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TREEMAP</a:t>
            </a:r>
          </a:p>
        </p:txBody>
      </p:sp>
      <p:sp>
        <p:nvSpPr>
          <p:cNvPr id="738" name="m-d11_treemap-title-sub"/>
          <p:cNvSpPr txBox="1"/>
          <p:nvPr/>
        </p:nvSpPr>
        <p:spPr>
          <a:xfrm>
            <a:off x="9514787" y="1306392"/>
            <a:ext cx="652567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面积代表营收规模，颜色深浅代表毛利率高低（单位：亿元）</a:t>
            </a:r>
          </a:p>
        </p:txBody>
      </p:sp>
      <p:sp>
        <p:nvSpPr>
          <p:cNvPr id="739" name="m-d11_treemap-blk-1"/>
          <p:cNvSpPr/>
          <p:nvPr/>
        </p:nvSpPr>
        <p:spPr>
          <a:xfrm>
            <a:off x="7985570" y="1522476"/>
            <a:ext cx="713931" cy="822706"/>
          </a:xfrm>
          <a:custGeom>
            <a:avLst/>
            <a:gdLst/>
            <a:ahLst/>
            <a:cxnLst/>
            <a:rect l="0" t="0" r="r" b="b"/>
            <a:pathLst>
              <a:path w="713931" h="822706">
                <a:moveTo>
                  <a:pt x="20828" y="0"/>
                </a:moveTo>
                <a:lnTo>
                  <a:pt x="693103" y="0"/>
                </a:lnTo>
                <a:cubicBezTo>
                  <a:pt x="704596" y="0"/>
                  <a:pt x="713931" y="9334"/>
                  <a:pt x="713931" y="20828"/>
                </a:cubicBezTo>
                <a:lnTo>
                  <a:pt x="713931" y="801878"/>
                </a:lnTo>
                <a:cubicBezTo>
                  <a:pt x="713931" y="813372"/>
                  <a:pt x="704596" y="822706"/>
                  <a:pt x="693103" y="822706"/>
                </a:cubicBezTo>
                <a:lnTo>
                  <a:pt x="20828" y="822706"/>
                </a:lnTo>
                <a:cubicBezTo>
                  <a:pt x="9335" y="822706"/>
                  <a:pt x="0" y="813372"/>
                  <a:pt x="0" y="801878"/>
                </a:cubicBezTo>
                <a:lnTo>
                  <a:pt x="0" y="20828"/>
                </a:lnTo>
                <a:cubicBezTo>
                  <a:pt x="0" y="9334"/>
                  <a:pt x="9335" y="0"/>
                  <a:pt x="20828" y="0"/>
                </a:cubicBezTo>
                <a:close/>
              </a:path>
            </a:pathLst>
          </a:custGeom>
          <a:gradFill rotWithShape="1">
            <a:gsLst>
              <a:gs pos="0">
                <a:srgbClr val="7EA3CE"/>
              </a:gs>
              <a:gs pos="100000">
                <a:srgbClr val="6691C5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40" name="m-d11_treemap-icon-factory"/>
          <p:cNvSpPr/>
          <p:nvPr/>
        </p:nvSpPr>
        <p:spPr>
          <a:xfrm>
            <a:off x="8032179" y="1590992"/>
            <a:ext cx="31750" cy="21399"/>
          </a:xfrm>
          <a:custGeom>
            <a:avLst/>
            <a:gdLst/>
            <a:ahLst/>
            <a:cxnLst/>
            <a:rect l="0" t="0" r="r" b="b"/>
            <a:pathLst>
              <a:path w="31750" h="21399">
                <a:moveTo>
                  <a:pt x="0" y="21399"/>
                </a:moveTo>
                <a:lnTo>
                  <a:pt x="0" y="5144"/>
                </a:lnTo>
                <a:lnTo>
                  <a:pt x="9207" y="10668"/>
                </a:lnTo>
                <a:lnTo>
                  <a:pt x="9207" y="5144"/>
                </a:lnTo>
                <a:lnTo>
                  <a:pt x="18478" y="10668"/>
                </a:lnTo>
                <a:lnTo>
                  <a:pt x="18478" y="0"/>
                </a:lnTo>
                <a:lnTo>
                  <a:pt x="27686" y="5524"/>
                </a:lnTo>
                <a:lnTo>
                  <a:pt x="27686" y="19494"/>
                </a:lnTo>
                <a:close/>
                <a:moveTo>
                  <a:pt x="0" y="21399"/>
                </a:moveTo>
                <a:lnTo>
                  <a:pt x="31750" y="21399"/>
                </a:lnTo>
              </a:path>
            </a:pathLst>
          </a:custGeom>
          <a:noFill/>
          <a:ln w="2734" cap="rnd">
            <a:solidFill>
              <a:srgbClr val="FFFFFF">
                <a:alpha val="9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41" name="m-d11_treemap-bn-1"/>
          <p:cNvSpPr txBox="1"/>
          <p:nvPr/>
        </p:nvSpPr>
        <p:spPr>
          <a:xfrm>
            <a:off x="8027434" y="1658483"/>
            <a:ext cx="219735" cy="7289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30" b="1" i="0" u="none" strike="noStrike" kern="1200" cap="none" spc="31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智能装备</a:t>
            </a:r>
          </a:p>
        </p:txBody>
      </p:sp>
      <p:sp>
        <p:nvSpPr>
          <p:cNvPr id="742" name="m-d11_treemap-bv-1"/>
          <p:cNvSpPr txBox="1"/>
          <p:nvPr/>
        </p:nvSpPr>
        <p:spPr>
          <a:xfrm>
            <a:off x="8024310" y="1701831"/>
            <a:ext cx="178548" cy="11845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30" b="1" i="0" u="none" strike="noStrike" kern="1200" cap="none" spc="1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8.2</a:t>
            </a:r>
          </a:p>
        </p:txBody>
      </p:sp>
      <p:sp>
        <p:nvSpPr>
          <p:cNvPr id="743" name="m-d11_treemap-bu-1"/>
          <p:cNvSpPr txBox="1"/>
          <p:nvPr/>
        </p:nvSpPr>
        <p:spPr>
          <a:xfrm>
            <a:off x="8157192" y="1756492"/>
            <a:ext cx="6795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0" normalizeH="0" baseline="0" noProof="0">
                <a:ln>
                  <a:noFill/>
                </a:ln>
                <a:solidFill>
                  <a:srgbClr val="DCE8F7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亿元</a:t>
            </a:r>
          </a:p>
        </p:txBody>
      </p:sp>
      <p:sp>
        <p:nvSpPr>
          <p:cNvPr id="744" name="m-d11_treemap-bc-1"/>
          <p:cNvSpPr/>
          <p:nvPr/>
        </p:nvSpPr>
        <p:spPr>
          <a:xfrm>
            <a:off x="8032432" y="1821879"/>
            <a:ext cx="229108" cy="44259"/>
          </a:xfrm>
          <a:custGeom>
            <a:avLst/>
            <a:gdLst/>
            <a:ahLst/>
            <a:cxnLst/>
            <a:rect l="0" t="0" r="r" b="b"/>
            <a:pathLst>
              <a:path w="229108" h="44259">
                <a:moveTo>
                  <a:pt x="22098" y="0"/>
                </a:moveTo>
                <a:lnTo>
                  <a:pt x="207010" y="0"/>
                </a:lnTo>
                <a:cubicBezTo>
                  <a:pt x="219202" y="0"/>
                  <a:pt x="229108" y="9906"/>
                  <a:pt x="229108" y="22098"/>
                </a:cubicBezTo>
                <a:lnTo>
                  <a:pt x="229108" y="22098"/>
                </a:lnTo>
                <a:cubicBezTo>
                  <a:pt x="229108" y="34353"/>
                  <a:pt x="219202" y="44259"/>
                  <a:pt x="207010" y="44259"/>
                </a:cubicBezTo>
                <a:lnTo>
                  <a:pt x="22098" y="44259"/>
                </a:lnTo>
                <a:cubicBezTo>
                  <a:pt x="9906" y="44259"/>
                  <a:pt x="0" y="34353"/>
                  <a:pt x="0" y="22098"/>
                </a:cubicBezTo>
                <a:lnTo>
                  <a:pt x="0" y="22098"/>
                </a:lnTo>
                <a:cubicBezTo>
                  <a:pt x="0" y="9906"/>
                  <a:pt x="9906" y="0"/>
                  <a:pt x="22098" y="0"/>
                </a:cubicBezTo>
                <a:close/>
              </a:path>
            </a:pathLst>
          </a:cu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45" name="m-d11_treemap-bp-1"/>
          <p:cNvSpPr txBox="1"/>
          <p:nvPr/>
        </p:nvSpPr>
        <p:spPr>
          <a:xfrm>
            <a:off x="8083266" y="1826402"/>
            <a:ext cx="127441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占比 48.8%</a:t>
            </a:r>
          </a:p>
        </p:txBody>
      </p:sp>
      <p:sp>
        <p:nvSpPr>
          <p:cNvPr id="746" name="m-d11_treemap-bg-1"/>
          <p:cNvSpPr txBox="1"/>
          <p:nvPr/>
        </p:nvSpPr>
        <p:spPr>
          <a:xfrm>
            <a:off x="8029933" y="2264786"/>
            <a:ext cx="133351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6" normalizeH="0" baseline="0" noProof="0">
                <a:ln>
                  <a:noFill/>
                </a:ln>
                <a:solidFill>
                  <a:srgbClr val="FFFFFF">
                    <a:alpha val="86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毛利率 34%</a:t>
            </a:r>
          </a:p>
        </p:txBody>
      </p:sp>
      <p:sp>
        <p:nvSpPr>
          <p:cNvPr id="747" name="m-d11_treemap-blk-2"/>
          <p:cNvSpPr/>
          <p:nvPr/>
        </p:nvSpPr>
        <p:spPr>
          <a:xfrm>
            <a:off x="8709914" y="1522476"/>
            <a:ext cx="749236" cy="309245"/>
          </a:xfrm>
          <a:custGeom>
            <a:avLst/>
            <a:gdLst/>
            <a:ahLst/>
            <a:cxnLst/>
            <a:rect l="0" t="0" r="r" b="b"/>
            <a:pathLst>
              <a:path w="749236" h="309245">
                <a:moveTo>
                  <a:pt x="20828" y="0"/>
                </a:moveTo>
                <a:lnTo>
                  <a:pt x="728408" y="0"/>
                </a:lnTo>
                <a:cubicBezTo>
                  <a:pt x="739902" y="0"/>
                  <a:pt x="749236" y="9334"/>
                  <a:pt x="749236" y="20828"/>
                </a:cubicBezTo>
                <a:lnTo>
                  <a:pt x="749236" y="288417"/>
                </a:lnTo>
                <a:cubicBezTo>
                  <a:pt x="749236" y="299974"/>
                  <a:pt x="739902" y="309245"/>
                  <a:pt x="728408" y="309245"/>
                </a:cubicBezTo>
                <a:lnTo>
                  <a:pt x="20828" y="309245"/>
                </a:lnTo>
                <a:cubicBezTo>
                  <a:pt x="9334" y="309245"/>
                  <a:pt x="0" y="299974"/>
                  <a:pt x="0" y="288417"/>
                </a:cubicBezTo>
                <a:lnTo>
                  <a:pt x="0" y="20828"/>
                </a:lnTo>
                <a:cubicBezTo>
                  <a:pt x="0" y="9334"/>
                  <a:pt x="9334" y="0"/>
                  <a:pt x="20828" y="0"/>
                </a:cubicBezTo>
                <a:close/>
              </a:path>
            </a:pathLst>
          </a:custGeom>
          <a:gradFill rotWithShape="1">
            <a:gsLst>
              <a:gs pos="0">
                <a:srgbClr val="3A64A5"/>
              </a:gs>
              <a:gs pos="100000">
                <a:srgbClr val="144694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48" name="m-d11_treemap-icon-cloud"/>
          <p:cNvSpPr/>
          <p:nvPr/>
        </p:nvSpPr>
        <p:spPr>
          <a:xfrm>
            <a:off x="8741156" y="1575519"/>
            <a:ext cx="26861" cy="18463"/>
          </a:xfrm>
          <a:custGeom>
            <a:avLst/>
            <a:gdLst/>
            <a:ahLst/>
            <a:cxnLst/>
            <a:rect l="0" t="0" r="r" b="b"/>
            <a:pathLst>
              <a:path w="26861" h="18463">
                <a:moveTo>
                  <a:pt x="6223" y="18458"/>
                </a:moveTo>
                <a:cubicBezTo>
                  <a:pt x="2985" y="18649"/>
                  <a:pt x="190" y="16109"/>
                  <a:pt x="0" y="12807"/>
                </a:cubicBezTo>
                <a:cubicBezTo>
                  <a:pt x="-127" y="9568"/>
                  <a:pt x="2413" y="6774"/>
                  <a:pt x="5652" y="6647"/>
                </a:cubicBezTo>
                <a:cubicBezTo>
                  <a:pt x="6160" y="3155"/>
                  <a:pt x="8890" y="488"/>
                  <a:pt x="12319" y="43"/>
                </a:cubicBezTo>
                <a:cubicBezTo>
                  <a:pt x="15812" y="-338"/>
                  <a:pt x="19113" y="1694"/>
                  <a:pt x="20320" y="4933"/>
                </a:cubicBezTo>
                <a:cubicBezTo>
                  <a:pt x="24066" y="5060"/>
                  <a:pt x="26988" y="8235"/>
                  <a:pt x="26861" y="11981"/>
                </a:cubicBezTo>
                <a:cubicBezTo>
                  <a:pt x="26670" y="15728"/>
                  <a:pt x="23495" y="18649"/>
                  <a:pt x="19749" y="18458"/>
                </a:cubicBezTo>
                <a:close/>
              </a:path>
            </a:pathLst>
          </a:custGeom>
          <a:noFill/>
          <a:ln w="2604" cap="rnd">
            <a:solidFill>
              <a:srgbClr val="FFFFFF">
                <a:alpha val="9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49" name="m-d11_treemap-bn-2"/>
          <p:cNvSpPr txBox="1"/>
          <p:nvPr/>
        </p:nvSpPr>
        <p:spPr>
          <a:xfrm>
            <a:off x="8740153" y="1615675"/>
            <a:ext cx="157121" cy="523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40" b="1" i="0" u="none" strike="noStrike" kern="1200" cap="none" spc="2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软件平台</a:t>
            </a:r>
          </a:p>
        </p:txBody>
      </p:sp>
      <p:sp>
        <p:nvSpPr>
          <p:cNvPr id="750" name="m-d11_treemap-bv-2"/>
          <p:cNvSpPr txBox="1"/>
          <p:nvPr/>
        </p:nvSpPr>
        <p:spPr>
          <a:xfrm>
            <a:off x="8739528" y="1669125"/>
            <a:ext cx="149415" cy="6150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80" b="1" i="0" u="none" strike="noStrike" kern="1200" cap="none" spc="6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3.3 亿</a:t>
            </a:r>
          </a:p>
        </p:txBody>
      </p:sp>
      <p:sp>
        <p:nvSpPr>
          <p:cNvPr id="751" name="m-d11_treemap-bp-2"/>
          <p:cNvSpPr txBox="1"/>
          <p:nvPr/>
        </p:nvSpPr>
        <p:spPr>
          <a:xfrm>
            <a:off x="8741559" y="1729077"/>
            <a:ext cx="18260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FFFFFF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19.6% · 毛利 62%</a:t>
            </a:r>
          </a:p>
        </p:txBody>
      </p:sp>
      <p:sp>
        <p:nvSpPr>
          <p:cNvPr id="752" name="m-d11_treemap-blk-3"/>
          <p:cNvSpPr/>
          <p:nvPr/>
        </p:nvSpPr>
        <p:spPr>
          <a:xfrm>
            <a:off x="8709914" y="1842135"/>
            <a:ext cx="304927" cy="503047"/>
          </a:xfrm>
          <a:custGeom>
            <a:avLst/>
            <a:gdLst/>
            <a:ahLst/>
            <a:cxnLst/>
            <a:rect l="0" t="0" r="r" b="b"/>
            <a:pathLst>
              <a:path w="304927" h="503047">
                <a:moveTo>
                  <a:pt x="20828" y="0"/>
                </a:moveTo>
                <a:lnTo>
                  <a:pt x="284099" y="0"/>
                </a:lnTo>
                <a:cubicBezTo>
                  <a:pt x="295592" y="0"/>
                  <a:pt x="304927" y="9334"/>
                  <a:pt x="304927" y="20828"/>
                </a:cubicBezTo>
                <a:lnTo>
                  <a:pt x="304927" y="482219"/>
                </a:lnTo>
                <a:cubicBezTo>
                  <a:pt x="304927" y="493712"/>
                  <a:pt x="295592" y="503047"/>
                  <a:pt x="284099" y="503047"/>
                </a:cubicBezTo>
                <a:lnTo>
                  <a:pt x="20828" y="503047"/>
                </a:lnTo>
                <a:cubicBezTo>
                  <a:pt x="9334" y="503047"/>
                  <a:pt x="0" y="493712"/>
                  <a:pt x="0" y="482219"/>
                </a:cubicBezTo>
                <a:lnTo>
                  <a:pt x="0" y="20828"/>
                </a:lnTo>
                <a:cubicBezTo>
                  <a:pt x="0" y="9334"/>
                  <a:pt x="9334" y="0"/>
                  <a:pt x="20828" y="0"/>
                </a:cubicBezTo>
                <a:close/>
              </a:path>
            </a:pathLst>
          </a:custGeom>
          <a:gradFill rotWithShape="1">
            <a:gsLst>
              <a:gs pos="0">
                <a:srgbClr val="5C83BA"/>
              </a:gs>
              <a:gs pos="100000">
                <a:srgbClr val="3D6BAD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53" name="m-d11_treemap-icon-hand"/>
          <p:cNvSpPr/>
          <p:nvPr/>
        </p:nvSpPr>
        <p:spPr>
          <a:xfrm>
            <a:off x="8743497" y="1892490"/>
            <a:ext cx="19122" cy="24257"/>
          </a:xfrm>
          <a:custGeom>
            <a:avLst/>
            <a:gdLst/>
            <a:ahLst/>
            <a:cxnLst/>
            <a:rect l="0" t="0" r="r" b="b"/>
            <a:pathLst>
              <a:path w="19122" h="24257">
                <a:moveTo>
                  <a:pt x="5597" y="13018"/>
                </a:moveTo>
                <a:lnTo>
                  <a:pt x="5597" y="4001"/>
                </a:lnTo>
                <a:cubicBezTo>
                  <a:pt x="5597" y="2731"/>
                  <a:pt x="6613" y="1715"/>
                  <a:pt x="7819" y="1715"/>
                </a:cubicBezTo>
                <a:cubicBezTo>
                  <a:pt x="9089" y="1715"/>
                  <a:pt x="10105" y="2731"/>
                  <a:pt x="10105" y="4001"/>
                </a:cubicBezTo>
                <a:lnTo>
                  <a:pt x="10105" y="11049"/>
                </a:lnTo>
                <a:moveTo>
                  <a:pt x="10105" y="11049"/>
                </a:moveTo>
                <a:lnTo>
                  <a:pt x="10105" y="2286"/>
                </a:lnTo>
                <a:cubicBezTo>
                  <a:pt x="10105" y="1016"/>
                  <a:pt x="11121" y="0"/>
                  <a:pt x="12328" y="0"/>
                </a:cubicBezTo>
                <a:cubicBezTo>
                  <a:pt x="13598" y="0"/>
                  <a:pt x="14614" y="1016"/>
                  <a:pt x="14614" y="2286"/>
                </a:cubicBezTo>
                <a:lnTo>
                  <a:pt x="14614" y="11049"/>
                </a:lnTo>
                <a:moveTo>
                  <a:pt x="14614" y="11621"/>
                </a:moveTo>
                <a:lnTo>
                  <a:pt x="14614" y="5652"/>
                </a:lnTo>
                <a:cubicBezTo>
                  <a:pt x="14614" y="4445"/>
                  <a:pt x="15630" y="3429"/>
                  <a:pt x="16900" y="3429"/>
                </a:cubicBezTo>
                <a:cubicBezTo>
                  <a:pt x="18106" y="3429"/>
                  <a:pt x="19122" y="4445"/>
                  <a:pt x="19122" y="5652"/>
                </a:cubicBezTo>
                <a:lnTo>
                  <a:pt x="19122" y="16129"/>
                </a:lnTo>
                <a:cubicBezTo>
                  <a:pt x="19122" y="20638"/>
                  <a:pt x="15757" y="24257"/>
                  <a:pt x="11248" y="24257"/>
                </a:cubicBezTo>
                <a:cubicBezTo>
                  <a:pt x="7565" y="24257"/>
                  <a:pt x="5597" y="22606"/>
                  <a:pt x="3628" y="19749"/>
                </a:cubicBezTo>
                <a:lnTo>
                  <a:pt x="199" y="14669"/>
                </a:lnTo>
                <a:cubicBezTo>
                  <a:pt x="-245" y="13716"/>
                  <a:pt x="72" y="12510"/>
                  <a:pt x="961" y="11875"/>
                </a:cubicBezTo>
                <a:cubicBezTo>
                  <a:pt x="1914" y="11240"/>
                  <a:pt x="3120" y="11367"/>
                  <a:pt x="3882" y="12129"/>
                </a:cubicBezTo>
                <a:close/>
              </a:path>
            </a:pathLst>
          </a:custGeom>
          <a:noFill/>
          <a:ln w="2604" cap="rnd">
            <a:solidFill>
              <a:srgbClr val="FFFFFF">
                <a:alpha val="9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54" name="m-d11_treemap-bn-3"/>
          <p:cNvSpPr txBox="1"/>
          <p:nvPr/>
        </p:nvSpPr>
        <p:spPr>
          <a:xfrm>
            <a:off x="8740153" y="1935360"/>
            <a:ext cx="157121" cy="523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40" b="1" i="0" u="none" strike="noStrike" kern="1200" cap="none" spc="2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运维服务</a:t>
            </a:r>
          </a:p>
        </p:txBody>
      </p:sp>
      <p:sp>
        <p:nvSpPr>
          <p:cNvPr id="755" name="m-d11_treemap-bv-3"/>
          <p:cNvSpPr txBox="1"/>
          <p:nvPr/>
        </p:nvSpPr>
        <p:spPr>
          <a:xfrm>
            <a:off x="8739528" y="1988810"/>
            <a:ext cx="149415" cy="6150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80" b="1" i="0" u="none" strike="noStrike" kern="1200" cap="none" spc="6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2.2 亿</a:t>
            </a:r>
          </a:p>
        </p:txBody>
      </p:sp>
      <p:sp>
        <p:nvSpPr>
          <p:cNvPr id="756" name="m-d11_treemap-bp-3"/>
          <p:cNvSpPr txBox="1"/>
          <p:nvPr/>
        </p:nvSpPr>
        <p:spPr>
          <a:xfrm>
            <a:off x="8741559" y="2048762"/>
            <a:ext cx="18260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FFFFFF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13.1% · 毛利 48%</a:t>
            </a:r>
          </a:p>
        </p:txBody>
      </p:sp>
      <p:sp>
        <p:nvSpPr>
          <p:cNvPr id="757" name="m-d11_treemap-blk-4"/>
          <p:cNvSpPr/>
          <p:nvPr/>
        </p:nvSpPr>
        <p:spPr>
          <a:xfrm>
            <a:off x="9025255" y="1842135"/>
            <a:ext cx="433896" cy="204914"/>
          </a:xfrm>
          <a:custGeom>
            <a:avLst/>
            <a:gdLst/>
            <a:ahLst/>
            <a:cxnLst/>
            <a:rect l="0" t="0" r="r" b="b"/>
            <a:pathLst>
              <a:path w="433896" h="204914">
                <a:moveTo>
                  <a:pt x="20828" y="0"/>
                </a:moveTo>
                <a:lnTo>
                  <a:pt x="413067" y="0"/>
                </a:lnTo>
                <a:cubicBezTo>
                  <a:pt x="424561" y="0"/>
                  <a:pt x="433896" y="9334"/>
                  <a:pt x="433896" y="20828"/>
                </a:cubicBezTo>
                <a:lnTo>
                  <a:pt x="433896" y="184086"/>
                </a:lnTo>
                <a:cubicBezTo>
                  <a:pt x="433896" y="195580"/>
                  <a:pt x="424561" y="204914"/>
                  <a:pt x="413067" y="204914"/>
                </a:cubicBezTo>
                <a:lnTo>
                  <a:pt x="20828" y="204914"/>
                </a:lnTo>
                <a:cubicBezTo>
                  <a:pt x="9335" y="204914"/>
                  <a:pt x="0" y="195580"/>
                  <a:pt x="0" y="184086"/>
                </a:cubicBezTo>
                <a:lnTo>
                  <a:pt x="0" y="20828"/>
                </a:lnTo>
                <a:cubicBezTo>
                  <a:pt x="0" y="9334"/>
                  <a:pt x="9335" y="0"/>
                  <a:pt x="20828" y="0"/>
                </a:cubicBezTo>
                <a:close/>
              </a:path>
            </a:pathLst>
          </a:custGeom>
          <a:gradFill rotWithShape="1">
            <a:gsLst>
              <a:gs pos="0">
                <a:srgbClr val="6D93C4"/>
              </a:gs>
              <a:gs pos="100000">
                <a:srgbClr val="517EB9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58" name="m-d11_treemap-bn-4"/>
          <p:cNvSpPr txBox="1"/>
          <p:nvPr/>
        </p:nvSpPr>
        <p:spPr>
          <a:xfrm>
            <a:off x="9048300" y="1863686"/>
            <a:ext cx="153737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2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供应链金融</a:t>
            </a:r>
          </a:p>
        </p:txBody>
      </p:sp>
      <p:sp>
        <p:nvSpPr>
          <p:cNvPr id="759" name="m-d11_treemap-bv-4"/>
          <p:cNvSpPr txBox="1"/>
          <p:nvPr/>
        </p:nvSpPr>
        <p:spPr>
          <a:xfrm>
            <a:off x="9049081" y="1910777"/>
            <a:ext cx="15313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1.3 亿 · 7.7%</a:t>
            </a:r>
          </a:p>
        </p:txBody>
      </p:sp>
      <p:sp>
        <p:nvSpPr>
          <p:cNvPr id="760" name="m-d11_treemap-blk-5"/>
          <p:cNvSpPr/>
          <p:nvPr/>
        </p:nvSpPr>
        <p:spPr>
          <a:xfrm>
            <a:off x="9025255" y="2057464"/>
            <a:ext cx="187071" cy="287718"/>
          </a:xfrm>
          <a:custGeom>
            <a:avLst/>
            <a:gdLst/>
            <a:ahLst/>
            <a:cxnLst/>
            <a:rect l="0" t="0" r="r" b="b"/>
            <a:pathLst>
              <a:path w="187071" h="287718">
                <a:moveTo>
                  <a:pt x="20828" y="0"/>
                </a:moveTo>
                <a:lnTo>
                  <a:pt x="166243" y="0"/>
                </a:lnTo>
                <a:cubicBezTo>
                  <a:pt x="177737" y="0"/>
                  <a:pt x="187071" y="9335"/>
                  <a:pt x="187071" y="20828"/>
                </a:cubicBezTo>
                <a:lnTo>
                  <a:pt x="187071" y="266891"/>
                </a:lnTo>
                <a:cubicBezTo>
                  <a:pt x="187071" y="278384"/>
                  <a:pt x="177737" y="287718"/>
                  <a:pt x="166243" y="287718"/>
                </a:cubicBezTo>
                <a:lnTo>
                  <a:pt x="20828" y="287718"/>
                </a:lnTo>
                <a:cubicBezTo>
                  <a:pt x="9335" y="287718"/>
                  <a:pt x="0" y="278384"/>
                  <a:pt x="0" y="266891"/>
                </a:cubicBezTo>
                <a:lnTo>
                  <a:pt x="0" y="20828"/>
                </a:lnTo>
                <a:cubicBezTo>
                  <a:pt x="0" y="9335"/>
                  <a:pt x="9335" y="0"/>
                  <a:pt x="20828" y="0"/>
                </a:cubicBezTo>
                <a:close/>
              </a:path>
            </a:pathLst>
          </a:custGeom>
          <a:gradFill rotWithShape="1">
            <a:gsLst>
              <a:gs pos="0">
                <a:srgbClr val="4A74B0"/>
              </a:gs>
              <a:gs pos="100000">
                <a:srgbClr val="2859A1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61" name="m-d11_treemap-bn-5"/>
          <p:cNvSpPr txBox="1"/>
          <p:nvPr/>
        </p:nvSpPr>
        <p:spPr>
          <a:xfrm>
            <a:off x="9048300" y="2078997"/>
            <a:ext cx="127441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2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培训认证</a:t>
            </a:r>
          </a:p>
        </p:txBody>
      </p:sp>
      <p:sp>
        <p:nvSpPr>
          <p:cNvPr id="762" name="m-d11_treemap-bv-5"/>
          <p:cNvSpPr txBox="1"/>
          <p:nvPr/>
        </p:nvSpPr>
        <p:spPr>
          <a:xfrm>
            <a:off x="9049081" y="2126088"/>
            <a:ext cx="15313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0.8 亿 · 4.8%</a:t>
            </a:r>
          </a:p>
        </p:txBody>
      </p:sp>
      <p:sp>
        <p:nvSpPr>
          <p:cNvPr id="763" name="m-d11_treemap-blk-6"/>
          <p:cNvSpPr/>
          <p:nvPr/>
        </p:nvSpPr>
        <p:spPr>
          <a:xfrm>
            <a:off x="9222740" y="2057464"/>
            <a:ext cx="236411" cy="168466"/>
          </a:xfrm>
          <a:custGeom>
            <a:avLst/>
            <a:gdLst/>
            <a:ahLst/>
            <a:cxnLst/>
            <a:rect l="0" t="0" r="r" b="b"/>
            <a:pathLst>
              <a:path w="236411" h="168466">
                <a:moveTo>
                  <a:pt x="20828" y="0"/>
                </a:moveTo>
                <a:lnTo>
                  <a:pt x="215582" y="0"/>
                </a:lnTo>
                <a:cubicBezTo>
                  <a:pt x="227076" y="0"/>
                  <a:pt x="236411" y="9335"/>
                  <a:pt x="236411" y="20828"/>
                </a:cubicBezTo>
                <a:lnTo>
                  <a:pt x="236411" y="147638"/>
                </a:lnTo>
                <a:cubicBezTo>
                  <a:pt x="236411" y="159131"/>
                  <a:pt x="227076" y="168466"/>
                  <a:pt x="215582" y="168466"/>
                </a:cubicBezTo>
                <a:lnTo>
                  <a:pt x="20828" y="168466"/>
                </a:lnTo>
                <a:cubicBezTo>
                  <a:pt x="9271" y="168466"/>
                  <a:pt x="0" y="159131"/>
                  <a:pt x="0" y="147638"/>
                </a:cubicBezTo>
                <a:lnTo>
                  <a:pt x="0" y="20828"/>
                </a:lnTo>
                <a:cubicBezTo>
                  <a:pt x="0" y="9335"/>
                  <a:pt x="9271" y="0"/>
                  <a:pt x="20828" y="0"/>
                </a:cubicBezTo>
                <a:close/>
              </a:path>
            </a:pathLst>
          </a:custGeom>
          <a:gradFill rotWithShape="1">
            <a:gsLst>
              <a:gs pos="0">
                <a:srgbClr val="8BAED6"/>
              </a:gs>
              <a:gs pos="100000">
                <a:srgbClr val="759ECE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64" name="m-d11_treemap-bn-6"/>
          <p:cNvSpPr txBox="1"/>
          <p:nvPr/>
        </p:nvSpPr>
        <p:spPr>
          <a:xfrm>
            <a:off x="9245780" y="2078997"/>
            <a:ext cx="127441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2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配件耗材</a:t>
            </a:r>
          </a:p>
        </p:txBody>
      </p:sp>
      <p:sp>
        <p:nvSpPr>
          <p:cNvPr id="765" name="m-d11_treemap-bv-6"/>
          <p:cNvSpPr txBox="1"/>
          <p:nvPr/>
        </p:nvSpPr>
        <p:spPr>
          <a:xfrm>
            <a:off x="9246562" y="2126088"/>
            <a:ext cx="15313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0.6 亿 · 3.6%</a:t>
            </a:r>
          </a:p>
        </p:txBody>
      </p:sp>
      <p:sp>
        <p:nvSpPr>
          <p:cNvPr id="766" name="m-d11_treemap-blk-7"/>
          <p:cNvSpPr/>
          <p:nvPr/>
        </p:nvSpPr>
        <p:spPr>
          <a:xfrm>
            <a:off x="9222740" y="2236343"/>
            <a:ext cx="236411" cy="108839"/>
          </a:xfrm>
          <a:custGeom>
            <a:avLst/>
            <a:gdLst/>
            <a:ahLst/>
            <a:cxnLst/>
            <a:rect l="0" t="0" r="r" b="b"/>
            <a:pathLst>
              <a:path w="236411" h="108839">
                <a:moveTo>
                  <a:pt x="20828" y="0"/>
                </a:moveTo>
                <a:lnTo>
                  <a:pt x="215582" y="0"/>
                </a:lnTo>
                <a:cubicBezTo>
                  <a:pt x="227076" y="0"/>
                  <a:pt x="236411" y="9334"/>
                  <a:pt x="236411" y="20828"/>
                </a:cubicBezTo>
                <a:lnTo>
                  <a:pt x="236411" y="88011"/>
                </a:lnTo>
                <a:cubicBezTo>
                  <a:pt x="236411" y="99505"/>
                  <a:pt x="227076" y="108839"/>
                  <a:pt x="215582" y="108839"/>
                </a:cubicBezTo>
                <a:lnTo>
                  <a:pt x="20828" y="108839"/>
                </a:lnTo>
                <a:cubicBezTo>
                  <a:pt x="9271" y="108839"/>
                  <a:pt x="0" y="99505"/>
                  <a:pt x="0" y="88011"/>
                </a:cubicBezTo>
                <a:lnTo>
                  <a:pt x="0" y="20828"/>
                </a:lnTo>
                <a:cubicBezTo>
                  <a:pt x="0" y="9334"/>
                  <a:pt x="9271" y="0"/>
                  <a:pt x="20828" y="0"/>
                </a:cubicBezTo>
                <a:close/>
              </a:path>
            </a:pathLst>
          </a:custGeom>
          <a:gradFill rotWithShape="1">
            <a:gsLst>
              <a:gs pos="0">
                <a:srgbClr val="9CBDE0"/>
              </a:gs>
              <a:gs pos="100000">
                <a:srgbClr val="89B1DA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67" name="m-d11_treemap-bn-7"/>
          <p:cNvSpPr txBox="1"/>
          <p:nvPr/>
        </p:nvSpPr>
        <p:spPr>
          <a:xfrm>
            <a:off x="9245780" y="2257871"/>
            <a:ext cx="74851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2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其他</a:t>
            </a:r>
          </a:p>
        </p:txBody>
      </p:sp>
      <p:sp>
        <p:nvSpPr>
          <p:cNvPr id="768" name="m-d11_treemap-bv-7"/>
          <p:cNvSpPr txBox="1"/>
          <p:nvPr/>
        </p:nvSpPr>
        <p:spPr>
          <a:xfrm>
            <a:off x="9246562" y="2304962"/>
            <a:ext cx="15313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FFFFFF">
                    <a:alpha val="8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0.4 亿 · 2.4%</a:t>
            </a:r>
          </a:p>
        </p:txBody>
      </p:sp>
      <p:sp>
        <p:nvSpPr>
          <p:cNvPr id="769" name="m-d11_treemap-side-bar"/>
          <p:cNvSpPr/>
          <p:nvPr/>
        </p:nvSpPr>
        <p:spPr>
          <a:xfrm>
            <a:off x="9516428" y="1501648"/>
            <a:ext cx="6509" cy="109347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70" name="m-d11_treemap-side-h"/>
          <p:cNvSpPr txBox="1"/>
          <p:nvPr/>
        </p:nvSpPr>
        <p:spPr>
          <a:xfrm>
            <a:off x="9548971" y="1503112"/>
            <a:ext cx="169878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结构明细</a:t>
            </a:r>
          </a:p>
        </p:txBody>
      </p:sp>
      <p:sp>
        <p:nvSpPr>
          <p:cNvPr id="771" name="m-d11_treemap-side-p"/>
          <p:cNvSpPr txBox="1"/>
          <p:nvPr/>
        </p:nvSpPr>
        <p:spPr>
          <a:xfrm>
            <a:off x="9550143" y="1559429"/>
            <a:ext cx="18361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按营收规模排序</a:t>
            </a:r>
          </a:p>
        </p:txBody>
      </p:sp>
      <p:sp>
        <p:nvSpPr>
          <p:cNvPr id="772" name="m-d11_treemap-lg-1"/>
          <p:cNvSpPr/>
          <p:nvPr/>
        </p:nvSpPr>
        <p:spPr>
          <a:xfrm>
            <a:off x="9516428" y="1642237"/>
            <a:ext cx="33845" cy="33845"/>
          </a:xfrm>
          <a:custGeom>
            <a:avLst/>
            <a:gdLst/>
            <a:ahLst/>
            <a:cxnLst/>
            <a:rect l="0" t="0" r="r" b="b"/>
            <a:pathLst>
              <a:path w="33845" h="33845">
                <a:moveTo>
                  <a:pt x="10414" y="0"/>
                </a:moveTo>
                <a:lnTo>
                  <a:pt x="23431" y="0"/>
                </a:lnTo>
                <a:cubicBezTo>
                  <a:pt x="29210" y="0"/>
                  <a:pt x="33845" y="4636"/>
                  <a:pt x="33845" y="10414"/>
                </a:cubicBezTo>
                <a:lnTo>
                  <a:pt x="33845" y="23431"/>
                </a:lnTo>
                <a:cubicBezTo>
                  <a:pt x="33845" y="29210"/>
                  <a:pt x="29210" y="33845"/>
                  <a:pt x="23431" y="33845"/>
                </a:cubicBezTo>
                <a:lnTo>
                  <a:pt x="10414" y="33845"/>
                </a:lnTo>
                <a:cubicBezTo>
                  <a:pt x="4636" y="33845"/>
                  <a:pt x="0" y="29210"/>
                  <a:pt x="0" y="23431"/>
                </a:cubicBezTo>
                <a:lnTo>
                  <a:pt x="0" y="10414"/>
                </a:lnTo>
                <a:cubicBezTo>
                  <a:pt x="0" y="4636"/>
                  <a:pt x="4636" y="0"/>
                  <a:pt x="10414" y="0"/>
                </a:cubicBezTo>
                <a:close/>
              </a:path>
            </a:pathLst>
          </a:custGeom>
          <a:solidFill>
            <a:srgbClr val="6691C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73" name="m-d11_treemap-ln-1"/>
          <p:cNvSpPr txBox="1"/>
          <p:nvPr/>
        </p:nvSpPr>
        <p:spPr>
          <a:xfrm>
            <a:off x="9565686" y="1639334"/>
            <a:ext cx="11898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智能装备</a:t>
            </a:r>
          </a:p>
        </p:txBody>
      </p:sp>
      <p:sp>
        <p:nvSpPr>
          <p:cNvPr id="774" name="m-d11_treemap-lv-1"/>
          <p:cNvSpPr txBox="1"/>
          <p:nvPr/>
        </p:nvSpPr>
        <p:spPr>
          <a:xfrm>
            <a:off x="9768498" y="1639334"/>
            <a:ext cx="9961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4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8.2 亿</a:t>
            </a:r>
          </a:p>
        </p:txBody>
      </p:sp>
      <p:sp>
        <p:nvSpPr>
          <p:cNvPr id="775" name="m-d11_treemap-lg2-1"/>
          <p:cNvSpPr txBox="1"/>
          <p:nvPr/>
        </p:nvSpPr>
        <p:spPr>
          <a:xfrm>
            <a:off x="9909947" y="1644157"/>
            <a:ext cx="103489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毛利 34%</a:t>
            </a:r>
          </a:p>
        </p:txBody>
      </p:sp>
      <p:cxnSp>
        <p:nvCxnSpPr>
          <p:cNvPr id="776" name="m-d11_treemap-ld-1"/>
          <p:cNvCxnSpPr/>
          <p:nvPr/>
        </p:nvCxnSpPr>
        <p:spPr>
          <a:xfrm>
            <a:off x="9516428" y="1702118"/>
            <a:ext cx="494664" cy="0"/>
          </a:xfrm>
          <a:prstGeom prst="line">
            <a:avLst/>
          </a:prstGeom>
          <a:ln w="254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77" name="m-d11_treemap-lg-2"/>
          <p:cNvSpPr/>
          <p:nvPr/>
        </p:nvSpPr>
        <p:spPr>
          <a:xfrm>
            <a:off x="9516428" y="1738567"/>
            <a:ext cx="33845" cy="33845"/>
          </a:xfrm>
          <a:custGeom>
            <a:avLst/>
            <a:gdLst/>
            <a:ahLst/>
            <a:cxnLst/>
            <a:rect l="0" t="0" r="r" b="b"/>
            <a:pathLst>
              <a:path w="33845" h="33845">
                <a:moveTo>
                  <a:pt x="10414" y="0"/>
                </a:moveTo>
                <a:lnTo>
                  <a:pt x="23431" y="0"/>
                </a:lnTo>
                <a:cubicBezTo>
                  <a:pt x="29210" y="0"/>
                  <a:pt x="33845" y="4635"/>
                  <a:pt x="33845" y="10414"/>
                </a:cubicBezTo>
                <a:lnTo>
                  <a:pt x="33845" y="23431"/>
                </a:lnTo>
                <a:cubicBezTo>
                  <a:pt x="33845" y="29210"/>
                  <a:pt x="29210" y="33845"/>
                  <a:pt x="23431" y="33845"/>
                </a:cubicBezTo>
                <a:lnTo>
                  <a:pt x="10414" y="33845"/>
                </a:lnTo>
                <a:cubicBezTo>
                  <a:pt x="4636" y="33845"/>
                  <a:pt x="0" y="29210"/>
                  <a:pt x="0" y="23431"/>
                </a:cubicBezTo>
                <a:lnTo>
                  <a:pt x="0" y="10414"/>
                </a:lnTo>
                <a:cubicBezTo>
                  <a:pt x="0" y="4635"/>
                  <a:pt x="4636" y="0"/>
                  <a:pt x="10414" y="0"/>
                </a:cubicBezTo>
                <a:close/>
              </a:path>
            </a:pathLst>
          </a:custGeom>
          <a:solidFill>
            <a:srgbClr val="14469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78" name="m-d11_treemap-ln-2"/>
          <p:cNvSpPr txBox="1"/>
          <p:nvPr/>
        </p:nvSpPr>
        <p:spPr>
          <a:xfrm>
            <a:off x="9565686" y="1735664"/>
            <a:ext cx="11898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软件平台</a:t>
            </a:r>
          </a:p>
        </p:txBody>
      </p:sp>
      <p:sp>
        <p:nvSpPr>
          <p:cNvPr id="779" name="m-d11_treemap-lv-2"/>
          <p:cNvSpPr txBox="1"/>
          <p:nvPr/>
        </p:nvSpPr>
        <p:spPr>
          <a:xfrm>
            <a:off x="9768498" y="1735664"/>
            <a:ext cx="9961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4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3.3 亿</a:t>
            </a:r>
          </a:p>
        </p:txBody>
      </p:sp>
      <p:sp>
        <p:nvSpPr>
          <p:cNvPr id="780" name="m-d11_treemap-lg2-2"/>
          <p:cNvSpPr txBox="1"/>
          <p:nvPr/>
        </p:nvSpPr>
        <p:spPr>
          <a:xfrm>
            <a:off x="9909947" y="1740487"/>
            <a:ext cx="103489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毛利 62%</a:t>
            </a:r>
          </a:p>
        </p:txBody>
      </p:sp>
      <p:cxnSp>
        <p:nvCxnSpPr>
          <p:cNvPr id="781" name="m-d11_treemap-ld-2"/>
          <p:cNvCxnSpPr/>
          <p:nvPr/>
        </p:nvCxnSpPr>
        <p:spPr>
          <a:xfrm>
            <a:off x="9516428" y="1798447"/>
            <a:ext cx="494664" cy="0"/>
          </a:xfrm>
          <a:prstGeom prst="line">
            <a:avLst/>
          </a:prstGeom>
          <a:ln w="254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82" name="m-d11_treemap-lg-3"/>
          <p:cNvSpPr/>
          <p:nvPr/>
        </p:nvSpPr>
        <p:spPr>
          <a:xfrm>
            <a:off x="9516428" y="1834896"/>
            <a:ext cx="33845" cy="33846"/>
          </a:xfrm>
          <a:custGeom>
            <a:avLst/>
            <a:gdLst/>
            <a:ahLst/>
            <a:cxnLst/>
            <a:rect l="0" t="0" r="r" b="b"/>
            <a:pathLst>
              <a:path w="33845" h="33846">
                <a:moveTo>
                  <a:pt x="10414" y="0"/>
                </a:moveTo>
                <a:lnTo>
                  <a:pt x="23431" y="0"/>
                </a:lnTo>
                <a:cubicBezTo>
                  <a:pt x="29210" y="0"/>
                  <a:pt x="33845" y="4636"/>
                  <a:pt x="33845" y="10414"/>
                </a:cubicBezTo>
                <a:lnTo>
                  <a:pt x="33845" y="23431"/>
                </a:lnTo>
                <a:cubicBezTo>
                  <a:pt x="33845" y="29210"/>
                  <a:pt x="29210" y="33846"/>
                  <a:pt x="23431" y="33846"/>
                </a:cubicBezTo>
                <a:lnTo>
                  <a:pt x="10414" y="33846"/>
                </a:lnTo>
                <a:cubicBezTo>
                  <a:pt x="4636" y="33846"/>
                  <a:pt x="0" y="29210"/>
                  <a:pt x="0" y="23431"/>
                </a:cubicBezTo>
                <a:lnTo>
                  <a:pt x="0" y="10414"/>
                </a:lnTo>
                <a:cubicBezTo>
                  <a:pt x="0" y="4636"/>
                  <a:pt x="4636" y="0"/>
                  <a:pt x="10414" y="0"/>
                </a:cubicBezTo>
                <a:close/>
              </a:path>
            </a:pathLst>
          </a:custGeom>
          <a:solidFill>
            <a:srgbClr val="3D6BA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83" name="m-d11_treemap-ln-3"/>
          <p:cNvSpPr txBox="1"/>
          <p:nvPr/>
        </p:nvSpPr>
        <p:spPr>
          <a:xfrm>
            <a:off x="9565686" y="1831993"/>
            <a:ext cx="11898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运维服务</a:t>
            </a:r>
          </a:p>
        </p:txBody>
      </p:sp>
      <p:sp>
        <p:nvSpPr>
          <p:cNvPr id="784" name="m-d11_treemap-lv-3"/>
          <p:cNvSpPr txBox="1"/>
          <p:nvPr/>
        </p:nvSpPr>
        <p:spPr>
          <a:xfrm>
            <a:off x="9768498" y="1831993"/>
            <a:ext cx="9961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4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2.2 亿</a:t>
            </a:r>
          </a:p>
        </p:txBody>
      </p:sp>
      <p:sp>
        <p:nvSpPr>
          <p:cNvPr id="785" name="m-d11_treemap-lg2-3"/>
          <p:cNvSpPr txBox="1"/>
          <p:nvPr/>
        </p:nvSpPr>
        <p:spPr>
          <a:xfrm>
            <a:off x="9909947" y="1836816"/>
            <a:ext cx="103489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毛利 48%</a:t>
            </a:r>
          </a:p>
        </p:txBody>
      </p:sp>
      <p:cxnSp>
        <p:nvCxnSpPr>
          <p:cNvPr id="786" name="m-d11_treemap-ld-3"/>
          <p:cNvCxnSpPr/>
          <p:nvPr/>
        </p:nvCxnSpPr>
        <p:spPr>
          <a:xfrm>
            <a:off x="9516428" y="1894776"/>
            <a:ext cx="494664" cy="0"/>
          </a:xfrm>
          <a:prstGeom prst="line">
            <a:avLst/>
          </a:prstGeom>
          <a:ln w="254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87" name="m-d11_treemap-lg-4"/>
          <p:cNvSpPr/>
          <p:nvPr/>
        </p:nvSpPr>
        <p:spPr>
          <a:xfrm>
            <a:off x="9516428" y="1931226"/>
            <a:ext cx="33845" cy="33845"/>
          </a:xfrm>
          <a:custGeom>
            <a:avLst/>
            <a:gdLst/>
            <a:ahLst/>
            <a:cxnLst/>
            <a:rect l="0" t="0" r="r" b="b"/>
            <a:pathLst>
              <a:path w="33845" h="33845">
                <a:moveTo>
                  <a:pt x="10414" y="0"/>
                </a:moveTo>
                <a:lnTo>
                  <a:pt x="23431" y="0"/>
                </a:lnTo>
                <a:cubicBezTo>
                  <a:pt x="29210" y="0"/>
                  <a:pt x="33845" y="4636"/>
                  <a:pt x="33845" y="10414"/>
                </a:cubicBezTo>
                <a:lnTo>
                  <a:pt x="33845" y="23431"/>
                </a:lnTo>
                <a:cubicBezTo>
                  <a:pt x="33845" y="29210"/>
                  <a:pt x="29210" y="33845"/>
                  <a:pt x="23431" y="33845"/>
                </a:cubicBezTo>
                <a:lnTo>
                  <a:pt x="10414" y="33845"/>
                </a:lnTo>
                <a:cubicBezTo>
                  <a:pt x="4636" y="33845"/>
                  <a:pt x="0" y="29210"/>
                  <a:pt x="0" y="23431"/>
                </a:cubicBezTo>
                <a:lnTo>
                  <a:pt x="0" y="10414"/>
                </a:lnTo>
                <a:cubicBezTo>
                  <a:pt x="0" y="4636"/>
                  <a:pt x="4636" y="0"/>
                  <a:pt x="10414" y="0"/>
                </a:cubicBezTo>
                <a:close/>
              </a:path>
            </a:pathLst>
          </a:custGeom>
          <a:solidFill>
            <a:srgbClr val="517EB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88" name="m-d11_treemap-ln-4"/>
          <p:cNvSpPr txBox="1"/>
          <p:nvPr/>
        </p:nvSpPr>
        <p:spPr>
          <a:xfrm>
            <a:off x="9565686" y="1928323"/>
            <a:ext cx="143453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供应链金融</a:t>
            </a:r>
          </a:p>
        </p:txBody>
      </p:sp>
      <p:sp>
        <p:nvSpPr>
          <p:cNvPr id="789" name="m-d11_treemap-lv-4"/>
          <p:cNvSpPr txBox="1"/>
          <p:nvPr/>
        </p:nvSpPr>
        <p:spPr>
          <a:xfrm>
            <a:off x="9768498" y="1928323"/>
            <a:ext cx="9961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4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1.3 亿</a:t>
            </a:r>
          </a:p>
        </p:txBody>
      </p:sp>
      <p:sp>
        <p:nvSpPr>
          <p:cNvPr id="790" name="m-d11_treemap-lg2-4"/>
          <p:cNvSpPr txBox="1"/>
          <p:nvPr/>
        </p:nvSpPr>
        <p:spPr>
          <a:xfrm>
            <a:off x="9909947" y="1933146"/>
            <a:ext cx="103489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毛利 41%</a:t>
            </a:r>
          </a:p>
        </p:txBody>
      </p:sp>
      <p:cxnSp>
        <p:nvCxnSpPr>
          <p:cNvPr id="791" name="m-d11_treemap-ld-4"/>
          <p:cNvCxnSpPr/>
          <p:nvPr/>
        </p:nvCxnSpPr>
        <p:spPr>
          <a:xfrm>
            <a:off x="9516428" y="1991106"/>
            <a:ext cx="494664" cy="0"/>
          </a:xfrm>
          <a:prstGeom prst="line">
            <a:avLst/>
          </a:prstGeom>
          <a:ln w="254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2" name="m-d11_treemap-lg-5"/>
          <p:cNvSpPr/>
          <p:nvPr/>
        </p:nvSpPr>
        <p:spPr>
          <a:xfrm>
            <a:off x="9516428" y="2027555"/>
            <a:ext cx="33845" cy="33845"/>
          </a:xfrm>
          <a:custGeom>
            <a:avLst/>
            <a:gdLst/>
            <a:ahLst/>
            <a:cxnLst/>
            <a:rect l="0" t="0" r="r" b="b"/>
            <a:pathLst>
              <a:path w="33845" h="33845">
                <a:moveTo>
                  <a:pt x="10414" y="0"/>
                </a:moveTo>
                <a:lnTo>
                  <a:pt x="23431" y="0"/>
                </a:lnTo>
                <a:cubicBezTo>
                  <a:pt x="29210" y="0"/>
                  <a:pt x="33845" y="4635"/>
                  <a:pt x="33845" y="10414"/>
                </a:cubicBezTo>
                <a:lnTo>
                  <a:pt x="33845" y="23431"/>
                </a:lnTo>
                <a:cubicBezTo>
                  <a:pt x="33845" y="29210"/>
                  <a:pt x="29210" y="33845"/>
                  <a:pt x="23431" y="33845"/>
                </a:cubicBezTo>
                <a:lnTo>
                  <a:pt x="10414" y="33845"/>
                </a:lnTo>
                <a:cubicBezTo>
                  <a:pt x="4636" y="33845"/>
                  <a:pt x="0" y="29210"/>
                  <a:pt x="0" y="23431"/>
                </a:cubicBezTo>
                <a:lnTo>
                  <a:pt x="0" y="10414"/>
                </a:lnTo>
                <a:cubicBezTo>
                  <a:pt x="0" y="4635"/>
                  <a:pt x="4636" y="0"/>
                  <a:pt x="10414" y="0"/>
                </a:cubicBezTo>
                <a:close/>
              </a:path>
            </a:pathLst>
          </a:custGeom>
          <a:solidFill>
            <a:srgbClr val="2859A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93" name="m-d11_treemap-ln-5"/>
          <p:cNvSpPr txBox="1"/>
          <p:nvPr/>
        </p:nvSpPr>
        <p:spPr>
          <a:xfrm>
            <a:off x="9565686" y="2024652"/>
            <a:ext cx="11898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培训认证</a:t>
            </a:r>
          </a:p>
        </p:txBody>
      </p:sp>
      <p:sp>
        <p:nvSpPr>
          <p:cNvPr id="794" name="m-d11_treemap-lv-5"/>
          <p:cNvSpPr txBox="1"/>
          <p:nvPr/>
        </p:nvSpPr>
        <p:spPr>
          <a:xfrm>
            <a:off x="9768498" y="2024652"/>
            <a:ext cx="9961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4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0.8 亿</a:t>
            </a:r>
          </a:p>
        </p:txBody>
      </p:sp>
      <p:sp>
        <p:nvSpPr>
          <p:cNvPr id="795" name="m-d11_treemap-lg2-5"/>
          <p:cNvSpPr txBox="1"/>
          <p:nvPr/>
        </p:nvSpPr>
        <p:spPr>
          <a:xfrm>
            <a:off x="9909947" y="2029475"/>
            <a:ext cx="103489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毛利 55%</a:t>
            </a:r>
          </a:p>
        </p:txBody>
      </p:sp>
      <p:cxnSp>
        <p:nvCxnSpPr>
          <p:cNvPr id="796" name="m-d11_treemap-ld-5"/>
          <p:cNvCxnSpPr/>
          <p:nvPr/>
        </p:nvCxnSpPr>
        <p:spPr>
          <a:xfrm>
            <a:off x="9516428" y="2087436"/>
            <a:ext cx="494664" cy="0"/>
          </a:xfrm>
          <a:prstGeom prst="line">
            <a:avLst/>
          </a:prstGeom>
          <a:ln w="254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7" name="m-d11_treemap-lg-6"/>
          <p:cNvSpPr/>
          <p:nvPr/>
        </p:nvSpPr>
        <p:spPr>
          <a:xfrm>
            <a:off x="9516428" y="2123884"/>
            <a:ext cx="33845" cy="33845"/>
          </a:xfrm>
          <a:custGeom>
            <a:avLst/>
            <a:gdLst/>
            <a:ahLst/>
            <a:cxnLst/>
            <a:rect l="0" t="0" r="r" b="b"/>
            <a:pathLst>
              <a:path w="33845" h="33845">
                <a:moveTo>
                  <a:pt x="10414" y="0"/>
                </a:moveTo>
                <a:lnTo>
                  <a:pt x="23431" y="0"/>
                </a:lnTo>
                <a:cubicBezTo>
                  <a:pt x="29210" y="0"/>
                  <a:pt x="33845" y="4635"/>
                  <a:pt x="33845" y="10414"/>
                </a:cubicBezTo>
                <a:lnTo>
                  <a:pt x="33845" y="23431"/>
                </a:lnTo>
                <a:cubicBezTo>
                  <a:pt x="33845" y="29210"/>
                  <a:pt x="29210" y="33845"/>
                  <a:pt x="23431" y="33845"/>
                </a:cubicBezTo>
                <a:lnTo>
                  <a:pt x="10414" y="33845"/>
                </a:lnTo>
                <a:cubicBezTo>
                  <a:pt x="4636" y="33845"/>
                  <a:pt x="0" y="29210"/>
                  <a:pt x="0" y="23431"/>
                </a:cubicBezTo>
                <a:lnTo>
                  <a:pt x="0" y="10414"/>
                </a:lnTo>
                <a:cubicBezTo>
                  <a:pt x="0" y="4635"/>
                  <a:pt x="4636" y="0"/>
                  <a:pt x="10414" y="0"/>
                </a:cubicBezTo>
                <a:close/>
              </a:path>
            </a:pathLst>
          </a:custGeom>
          <a:solidFill>
            <a:srgbClr val="759EC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98" name="m-d11_treemap-ln-6"/>
          <p:cNvSpPr txBox="1"/>
          <p:nvPr/>
        </p:nvSpPr>
        <p:spPr>
          <a:xfrm>
            <a:off x="9565686" y="2120982"/>
            <a:ext cx="11898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配件耗材</a:t>
            </a:r>
          </a:p>
        </p:txBody>
      </p:sp>
      <p:sp>
        <p:nvSpPr>
          <p:cNvPr id="799" name="m-d11_treemap-lv-6"/>
          <p:cNvSpPr txBox="1"/>
          <p:nvPr/>
        </p:nvSpPr>
        <p:spPr>
          <a:xfrm>
            <a:off x="9768498" y="2120982"/>
            <a:ext cx="9961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4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0.6 亿</a:t>
            </a:r>
          </a:p>
        </p:txBody>
      </p:sp>
      <p:sp>
        <p:nvSpPr>
          <p:cNvPr id="800" name="m-d11_treemap-lg2-6"/>
          <p:cNvSpPr txBox="1"/>
          <p:nvPr/>
        </p:nvSpPr>
        <p:spPr>
          <a:xfrm>
            <a:off x="9909947" y="2125805"/>
            <a:ext cx="103489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毛利 29%</a:t>
            </a:r>
          </a:p>
        </p:txBody>
      </p:sp>
      <p:cxnSp>
        <p:nvCxnSpPr>
          <p:cNvPr id="801" name="m-d11_treemap-ld-6"/>
          <p:cNvCxnSpPr/>
          <p:nvPr/>
        </p:nvCxnSpPr>
        <p:spPr>
          <a:xfrm>
            <a:off x="9516428" y="2183765"/>
            <a:ext cx="494664" cy="0"/>
          </a:xfrm>
          <a:prstGeom prst="line">
            <a:avLst/>
          </a:prstGeom>
          <a:ln w="2540" cap="rnd">
            <a:solidFill>
              <a:srgbClr val="0B2545">
                <a:alpha val="7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02" name="m-d11_treemap-lg-7"/>
          <p:cNvSpPr/>
          <p:nvPr/>
        </p:nvSpPr>
        <p:spPr>
          <a:xfrm>
            <a:off x="9516428" y="2220214"/>
            <a:ext cx="33845" cy="33846"/>
          </a:xfrm>
          <a:custGeom>
            <a:avLst/>
            <a:gdLst/>
            <a:ahLst/>
            <a:cxnLst/>
            <a:rect l="0" t="0" r="r" b="b"/>
            <a:pathLst>
              <a:path w="33845" h="33846">
                <a:moveTo>
                  <a:pt x="10414" y="0"/>
                </a:moveTo>
                <a:lnTo>
                  <a:pt x="23431" y="0"/>
                </a:lnTo>
                <a:cubicBezTo>
                  <a:pt x="29210" y="0"/>
                  <a:pt x="33845" y="4636"/>
                  <a:pt x="33845" y="10414"/>
                </a:cubicBezTo>
                <a:lnTo>
                  <a:pt x="33845" y="23431"/>
                </a:lnTo>
                <a:cubicBezTo>
                  <a:pt x="33845" y="29210"/>
                  <a:pt x="29210" y="33846"/>
                  <a:pt x="23431" y="33846"/>
                </a:cubicBezTo>
                <a:lnTo>
                  <a:pt x="10414" y="33846"/>
                </a:lnTo>
                <a:cubicBezTo>
                  <a:pt x="4636" y="33846"/>
                  <a:pt x="0" y="29210"/>
                  <a:pt x="0" y="23431"/>
                </a:cubicBezTo>
                <a:lnTo>
                  <a:pt x="0" y="10414"/>
                </a:lnTo>
                <a:cubicBezTo>
                  <a:pt x="0" y="4636"/>
                  <a:pt x="4636" y="0"/>
                  <a:pt x="10414" y="0"/>
                </a:cubicBezTo>
                <a:close/>
              </a:path>
            </a:pathLst>
          </a:custGeom>
          <a:solidFill>
            <a:srgbClr val="89B1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03" name="m-d11_treemap-ln-7"/>
          <p:cNvSpPr txBox="1"/>
          <p:nvPr/>
        </p:nvSpPr>
        <p:spPr>
          <a:xfrm>
            <a:off x="9565686" y="2217311"/>
            <a:ext cx="70034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8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其他</a:t>
            </a:r>
          </a:p>
        </p:txBody>
      </p:sp>
      <p:sp>
        <p:nvSpPr>
          <p:cNvPr id="804" name="m-d11_treemap-lv-7"/>
          <p:cNvSpPr txBox="1"/>
          <p:nvPr/>
        </p:nvSpPr>
        <p:spPr>
          <a:xfrm>
            <a:off x="9768498" y="2217311"/>
            <a:ext cx="9961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4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0.4 亿</a:t>
            </a:r>
          </a:p>
        </p:txBody>
      </p:sp>
      <p:sp>
        <p:nvSpPr>
          <p:cNvPr id="805" name="m-d11_treemap-lg2-7"/>
          <p:cNvSpPr txBox="1"/>
          <p:nvPr/>
        </p:nvSpPr>
        <p:spPr>
          <a:xfrm>
            <a:off x="9909947" y="2222134"/>
            <a:ext cx="103489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毛利 22%</a:t>
            </a:r>
          </a:p>
        </p:txBody>
      </p:sp>
      <p:sp>
        <p:nvSpPr>
          <p:cNvPr id="806" name="m-d11_treemap-cl-h"/>
          <p:cNvSpPr txBox="1"/>
          <p:nvPr/>
        </p:nvSpPr>
        <p:spPr>
          <a:xfrm>
            <a:off x="9514162" y="2327078"/>
            <a:ext cx="155572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12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颜色 = 毛利率</a:t>
            </a:r>
          </a:p>
        </p:txBody>
      </p:sp>
      <p:sp>
        <p:nvSpPr>
          <p:cNvPr id="807" name="m-d11_treemap-cl-1"/>
          <p:cNvSpPr/>
          <p:nvPr/>
        </p:nvSpPr>
        <p:spPr>
          <a:xfrm>
            <a:off x="9698672" y="2326958"/>
            <a:ext cx="44260" cy="28638"/>
          </a:xfrm>
          <a:custGeom>
            <a:avLst/>
            <a:gdLst/>
            <a:ahLst/>
            <a:cxnLst/>
            <a:rect l="0" t="0" r="r" b="b"/>
            <a:pathLst>
              <a:path w="44260" h="28638">
                <a:moveTo>
                  <a:pt x="9081" y="0"/>
                </a:moveTo>
                <a:lnTo>
                  <a:pt x="35116" y="0"/>
                </a:lnTo>
                <a:cubicBezTo>
                  <a:pt x="40196" y="0"/>
                  <a:pt x="44260" y="4064"/>
                  <a:pt x="44260" y="9081"/>
                </a:cubicBezTo>
                <a:lnTo>
                  <a:pt x="44260" y="19494"/>
                </a:lnTo>
                <a:cubicBezTo>
                  <a:pt x="44260" y="24575"/>
                  <a:pt x="40196" y="28638"/>
                  <a:pt x="35116" y="28638"/>
                </a:cubicBezTo>
                <a:lnTo>
                  <a:pt x="9081" y="28638"/>
                </a:lnTo>
                <a:cubicBezTo>
                  <a:pt x="4064" y="28638"/>
                  <a:pt x="0" y="24575"/>
                  <a:pt x="0" y="19494"/>
                </a:cubicBezTo>
                <a:lnTo>
                  <a:pt x="0" y="9081"/>
                </a:lnTo>
                <a:cubicBezTo>
                  <a:pt x="0" y="4064"/>
                  <a:pt x="4064" y="0"/>
                  <a:pt x="9081" y="0"/>
                </a:cubicBezTo>
                <a:close/>
              </a:path>
            </a:pathLst>
          </a:custGeom>
          <a:solidFill>
            <a:srgbClr val="8FB6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08" name="m-d11_treemap-cl-2"/>
          <p:cNvSpPr/>
          <p:nvPr/>
        </p:nvSpPr>
        <p:spPr>
          <a:xfrm>
            <a:off x="9750742" y="2326958"/>
            <a:ext cx="44260" cy="28638"/>
          </a:xfrm>
          <a:custGeom>
            <a:avLst/>
            <a:gdLst/>
            <a:ahLst/>
            <a:cxnLst/>
            <a:rect l="0" t="0" r="r" b="b"/>
            <a:pathLst>
              <a:path w="44260" h="28638">
                <a:moveTo>
                  <a:pt x="9081" y="0"/>
                </a:moveTo>
                <a:lnTo>
                  <a:pt x="35179" y="0"/>
                </a:lnTo>
                <a:cubicBezTo>
                  <a:pt x="40196" y="0"/>
                  <a:pt x="44260" y="4064"/>
                  <a:pt x="44260" y="9081"/>
                </a:cubicBezTo>
                <a:lnTo>
                  <a:pt x="44260" y="19494"/>
                </a:lnTo>
                <a:cubicBezTo>
                  <a:pt x="44260" y="24575"/>
                  <a:pt x="40196" y="28638"/>
                  <a:pt x="35179" y="28638"/>
                </a:cubicBezTo>
                <a:lnTo>
                  <a:pt x="9081" y="28638"/>
                </a:lnTo>
                <a:cubicBezTo>
                  <a:pt x="4064" y="28638"/>
                  <a:pt x="0" y="24575"/>
                  <a:pt x="0" y="19494"/>
                </a:cubicBezTo>
                <a:lnTo>
                  <a:pt x="0" y="9081"/>
                </a:lnTo>
                <a:cubicBezTo>
                  <a:pt x="0" y="4064"/>
                  <a:pt x="4064" y="0"/>
                  <a:pt x="9081" y="0"/>
                </a:cubicBezTo>
                <a:close/>
              </a:path>
            </a:pathLst>
          </a:custGeom>
          <a:solidFill>
            <a:srgbClr val="759EC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09" name="m-d11_treemap-cl-3"/>
          <p:cNvSpPr/>
          <p:nvPr/>
        </p:nvSpPr>
        <p:spPr>
          <a:xfrm>
            <a:off x="9802812" y="2326958"/>
            <a:ext cx="44260" cy="28638"/>
          </a:xfrm>
          <a:custGeom>
            <a:avLst/>
            <a:gdLst/>
            <a:ahLst/>
            <a:cxnLst/>
            <a:rect l="0" t="0" r="r" b="b"/>
            <a:pathLst>
              <a:path w="44260" h="28638">
                <a:moveTo>
                  <a:pt x="9081" y="0"/>
                </a:moveTo>
                <a:lnTo>
                  <a:pt x="35115" y="0"/>
                </a:lnTo>
                <a:cubicBezTo>
                  <a:pt x="40195" y="0"/>
                  <a:pt x="44260" y="4064"/>
                  <a:pt x="44260" y="9081"/>
                </a:cubicBezTo>
                <a:lnTo>
                  <a:pt x="44260" y="19494"/>
                </a:lnTo>
                <a:cubicBezTo>
                  <a:pt x="44260" y="24575"/>
                  <a:pt x="40195" y="28638"/>
                  <a:pt x="35115" y="28638"/>
                </a:cubicBezTo>
                <a:lnTo>
                  <a:pt x="9081" y="28638"/>
                </a:lnTo>
                <a:cubicBezTo>
                  <a:pt x="4064" y="28638"/>
                  <a:pt x="0" y="24575"/>
                  <a:pt x="0" y="19494"/>
                </a:cubicBezTo>
                <a:lnTo>
                  <a:pt x="0" y="9081"/>
                </a:lnTo>
                <a:cubicBezTo>
                  <a:pt x="0" y="4064"/>
                  <a:pt x="4064" y="0"/>
                  <a:pt x="9081" y="0"/>
                </a:cubicBezTo>
                <a:close/>
              </a:path>
            </a:pathLst>
          </a:custGeom>
          <a:solidFill>
            <a:srgbClr val="5A86B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10" name="m-d11_treemap-cl-4"/>
          <p:cNvSpPr/>
          <p:nvPr/>
        </p:nvSpPr>
        <p:spPr>
          <a:xfrm>
            <a:off x="9854882" y="2326958"/>
            <a:ext cx="44260" cy="28638"/>
          </a:xfrm>
          <a:custGeom>
            <a:avLst/>
            <a:gdLst/>
            <a:ahLst/>
            <a:cxnLst/>
            <a:rect l="0" t="0" r="r" b="b"/>
            <a:pathLst>
              <a:path w="44260" h="28638">
                <a:moveTo>
                  <a:pt x="9081" y="0"/>
                </a:moveTo>
                <a:lnTo>
                  <a:pt x="35115" y="0"/>
                </a:lnTo>
                <a:cubicBezTo>
                  <a:pt x="40195" y="0"/>
                  <a:pt x="44260" y="4064"/>
                  <a:pt x="44260" y="9081"/>
                </a:cubicBezTo>
                <a:lnTo>
                  <a:pt x="44260" y="19494"/>
                </a:lnTo>
                <a:cubicBezTo>
                  <a:pt x="44260" y="24575"/>
                  <a:pt x="40195" y="28638"/>
                  <a:pt x="35115" y="28638"/>
                </a:cubicBezTo>
                <a:lnTo>
                  <a:pt x="9081" y="28638"/>
                </a:lnTo>
                <a:cubicBezTo>
                  <a:pt x="4064" y="28638"/>
                  <a:pt x="0" y="24575"/>
                  <a:pt x="0" y="19494"/>
                </a:cubicBezTo>
                <a:lnTo>
                  <a:pt x="0" y="9081"/>
                </a:lnTo>
                <a:cubicBezTo>
                  <a:pt x="0" y="4064"/>
                  <a:pt x="4064" y="0"/>
                  <a:pt x="9081" y="0"/>
                </a:cubicBezTo>
                <a:close/>
              </a:path>
            </a:pathLst>
          </a:custGeom>
          <a:solidFill>
            <a:srgbClr val="406E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11" name="m-d11_treemap-cl-5"/>
          <p:cNvSpPr/>
          <p:nvPr/>
        </p:nvSpPr>
        <p:spPr>
          <a:xfrm>
            <a:off x="9906952" y="2326958"/>
            <a:ext cx="44259" cy="28638"/>
          </a:xfrm>
          <a:custGeom>
            <a:avLst/>
            <a:gdLst/>
            <a:ahLst/>
            <a:cxnLst/>
            <a:rect l="0" t="0" r="r" b="b"/>
            <a:pathLst>
              <a:path w="44259" h="28638">
                <a:moveTo>
                  <a:pt x="9144" y="0"/>
                </a:moveTo>
                <a:lnTo>
                  <a:pt x="35115" y="0"/>
                </a:lnTo>
                <a:cubicBezTo>
                  <a:pt x="40195" y="0"/>
                  <a:pt x="44259" y="4064"/>
                  <a:pt x="44259" y="9081"/>
                </a:cubicBezTo>
                <a:lnTo>
                  <a:pt x="44259" y="19494"/>
                </a:lnTo>
                <a:cubicBezTo>
                  <a:pt x="44259" y="24575"/>
                  <a:pt x="40195" y="28638"/>
                  <a:pt x="35115" y="28638"/>
                </a:cubicBezTo>
                <a:lnTo>
                  <a:pt x="9144" y="28638"/>
                </a:lnTo>
                <a:cubicBezTo>
                  <a:pt x="4064" y="28638"/>
                  <a:pt x="0" y="24575"/>
                  <a:pt x="0" y="19494"/>
                </a:cubicBezTo>
                <a:lnTo>
                  <a:pt x="0" y="9081"/>
                </a:lnTo>
                <a:cubicBezTo>
                  <a:pt x="0" y="4064"/>
                  <a:pt x="4064" y="0"/>
                  <a:pt x="9144" y="0"/>
                </a:cubicBezTo>
                <a:close/>
              </a:path>
            </a:pathLst>
          </a:custGeom>
          <a:solidFill>
            <a:srgbClr val="25569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12" name="m-d11_treemap-cl-6"/>
          <p:cNvSpPr/>
          <p:nvPr/>
        </p:nvSpPr>
        <p:spPr>
          <a:xfrm>
            <a:off x="9959022" y="2326958"/>
            <a:ext cx="44260" cy="28638"/>
          </a:xfrm>
          <a:custGeom>
            <a:avLst/>
            <a:gdLst/>
            <a:ahLst/>
            <a:cxnLst/>
            <a:rect l="0" t="0" r="r" b="b"/>
            <a:pathLst>
              <a:path w="44260" h="28638">
                <a:moveTo>
                  <a:pt x="9081" y="0"/>
                </a:moveTo>
                <a:lnTo>
                  <a:pt x="35116" y="0"/>
                </a:lnTo>
                <a:cubicBezTo>
                  <a:pt x="40196" y="0"/>
                  <a:pt x="44260" y="4064"/>
                  <a:pt x="44260" y="9081"/>
                </a:cubicBezTo>
                <a:lnTo>
                  <a:pt x="44260" y="19494"/>
                </a:lnTo>
                <a:cubicBezTo>
                  <a:pt x="44260" y="24575"/>
                  <a:pt x="40196" y="28638"/>
                  <a:pt x="35116" y="28638"/>
                </a:cubicBezTo>
                <a:lnTo>
                  <a:pt x="9081" y="28638"/>
                </a:lnTo>
                <a:cubicBezTo>
                  <a:pt x="4064" y="28638"/>
                  <a:pt x="0" y="24575"/>
                  <a:pt x="0" y="19494"/>
                </a:cubicBezTo>
                <a:lnTo>
                  <a:pt x="0" y="9081"/>
                </a:lnTo>
                <a:cubicBezTo>
                  <a:pt x="0" y="4064"/>
                  <a:pt x="4064" y="0"/>
                  <a:pt x="9081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13" name="m-d11_treemap-cl-min"/>
          <p:cNvSpPr txBox="1"/>
          <p:nvPr/>
        </p:nvSpPr>
        <p:spPr>
          <a:xfrm>
            <a:off x="9696486" y="2364331"/>
            <a:ext cx="4701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20%</a:t>
            </a:r>
          </a:p>
        </p:txBody>
      </p:sp>
      <p:sp>
        <p:nvSpPr>
          <p:cNvPr id="814" name="m-d11_treemap-cl-max"/>
          <p:cNvSpPr txBox="1"/>
          <p:nvPr/>
        </p:nvSpPr>
        <p:spPr>
          <a:xfrm>
            <a:off x="9966260" y="2364331"/>
            <a:ext cx="4701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65%</a:t>
            </a:r>
          </a:p>
        </p:txBody>
      </p:sp>
      <p:sp>
        <p:nvSpPr>
          <p:cNvPr id="815" name="m-d11_treemap-tot"/>
          <p:cNvSpPr/>
          <p:nvPr/>
        </p:nvSpPr>
        <p:spPr>
          <a:xfrm>
            <a:off x="7980362" y="2384234"/>
            <a:ext cx="1483995" cy="80708"/>
          </a:xfrm>
          <a:custGeom>
            <a:avLst/>
            <a:gdLst/>
            <a:ahLst/>
            <a:cxnLst/>
            <a:rect l="0" t="0" r="r" b="b"/>
            <a:pathLst>
              <a:path w="1483995" h="80708">
                <a:moveTo>
                  <a:pt x="18224" y="0"/>
                </a:moveTo>
                <a:lnTo>
                  <a:pt x="1465770" y="0"/>
                </a:lnTo>
                <a:cubicBezTo>
                  <a:pt x="1475804" y="0"/>
                  <a:pt x="1483995" y="8191"/>
                  <a:pt x="1483995" y="18224"/>
                </a:cubicBezTo>
                <a:lnTo>
                  <a:pt x="1483995" y="62484"/>
                </a:lnTo>
                <a:cubicBezTo>
                  <a:pt x="1483995" y="72517"/>
                  <a:pt x="1475804" y="80708"/>
                  <a:pt x="1465770" y="80708"/>
                </a:cubicBezTo>
                <a:lnTo>
                  <a:pt x="18224" y="80708"/>
                </a:lnTo>
                <a:cubicBezTo>
                  <a:pt x="8191" y="80708"/>
                  <a:pt x="0" y="72517"/>
                  <a:pt x="0" y="62484"/>
                </a:cubicBezTo>
                <a:lnTo>
                  <a:pt x="0" y="18224"/>
                </a:lnTo>
                <a:cubicBezTo>
                  <a:pt x="0" y="8191"/>
                  <a:pt x="8191" y="0"/>
                  <a:pt x="18224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16" name="m-d11_treemap-tot-bar"/>
          <p:cNvSpPr/>
          <p:nvPr/>
        </p:nvSpPr>
        <p:spPr>
          <a:xfrm>
            <a:off x="7980362" y="2384234"/>
            <a:ext cx="6509" cy="80708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17" name="m-d11_treemap-tot-h"/>
          <p:cNvSpPr txBox="1"/>
          <p:nvPr/>
        </p:nvSpPr>
        <p:spPr>
          <a:xfrm>
            <a:off x="8016759" y="2406371"/>
            <a:ext cx="69383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合计</a:t>
            </a:r>
          </a:p>
        </p:txBody>
      </p:sp>
      <p:sp>
        <p:nvSpPr>
          <p:cNvPr id="818" name="m-d11_treemap-tv-1"/>
          <p:cNvSpPr txBox="1"/>
          <p:nvPr/>
        </p:nvSpPr>
        <p:spPr>
          <a:xfrm>
            <a:off x="8146466" y="2401548"/>
            <a:ext cx="126270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16.8 亿</a:t>
            </a:r>
          </a:p>
        </p:txBody>
      </p:sp>
      <p:sp>
        <p:nvSpPr>
          <p:cNvPr id="819" name="m-d11_treemap-tl-1"/>
          <p:cNvSpPr txBox="1"/>
          <p:nvPr/>
        </p:nvSpPr>
        <p:spPr>
          <a:xfrm>
            <a:off x="8303613" y="2411194"/>
            <a:ext cx="7263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总营收</a:t>
            </a:r>
          </a:p>
        </p:txBody>
      </p:sp>
      <p:sp>
        <p:nvSpPr>
          <p:cNvPr id="820" name="m-d11_treemap-tv-2"/>
          <p:cNvSpPr txBox="1"/>
          <p:nvPr/>
        </p:nvSpPr>
        <p:spPr>
          <a:xfrm>
            <a:off x="8477110" y="2401548"/>
            <a:ext cx="38662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7</a:t>
            </a:r>
          </a:p>
        </p:txBody>
      </p:sp>
      <p:sp>
        <p:nvSpPr>
          <p:cNvPr id="821" name="m-d11_treemap-tl-2"/>
          <p:cNvSpPr txBox="1"/>
          <p:nvPr/>
        </p:nvSpPr>
        <p:spPr>
          <a:xfrm>
            <a:off x="8634258" y="2411194"/>
            <a:ext cx="9138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业务条线</a:t>
            </a:r>
          </a:p>
        </p:txBody>
      </p:sp>
      <p:sp>
        <p:nvSpPr>
          <p:cNvPr id="822" name="m-d11_treemap-tv-3"/>
          <p:cNvSpPr txBox="1"/>
          <p:nvPr/>
        </p:nvSpPr>
        <p:spPr>
          <a:xfrm>
            <a:off x="8807755" y="2401548"/>
            <a:ext cx="99584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41.6%</a:t>
            </a:r>
          </a:p>
        </p:txBody>
      </p:sp>
      <p:sp>
        <p:nvSpPr>
          <p:cNvPr id="823" name="m-d11_treemap-tl-3"/>
          <p:cNvSpPr txBox="1"/>
          <p:nvPr/>
        </p:nvSpPr>
        <p:spPr>
          <a:xfrm>
            <a:off x="8964902" y="2411194"/>
            <a:ext cx="11012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综合毛利率</a:t>
            </a:r>
          </a:p>
        </p:txBody>
      </p:sp>
      <p:sp>
        <p:nvSpPr>
          <p:cNvPr id="824" name="m-d11_treemap-tv-4"/>
          <p:cNvSpPr txBox="1"/>
          <p:nvPr/>
        </p:nvSpPr>
        <p:spPr>
          <a:xfrm>
            <a:off x="9138399" y="2401548"/>
            <a:ext cx="130175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智能装备</a:t>
            </a:r>
          </a:p>
        </p:txBody>
      </p:sp>
      <p:sp>
        <p:nvSpPr>
          <p:cNvPr id="825" name="m-d11_treemap-tl-4"/>
          <p:cNvSpPr txBox="1"/>
          <p:nvPr/>
        </p:nvSpPr>
        <p:spPr>
          <a:xfrm>
            <a:off x="9295547" y="2411194"/>
            <a:ext cx="11012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第一大板块</a:t>
            </a:r>
          </a:p>
        </p:txBody>
      </p:sp>
      <p:cxnSp>
        <p:nvCxnSpPr>
          <p:cNvPr id="826" name="m-d11_treemap-foot-line"/>
          <p:cNvCxnSpPr/>
          <p:nvPr/>
        </p:nvCxnSpPr>
        <p:spPr>
          <a:xfrm>
            <a:off x="7904861" y="24935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7" name="m-d11_treemap-foot-l"/>
          <p:cNvSpPr txBox="1"/>
          <p:nvPr/>
        </p:nvSpPr>
        <p:spPr>
          <a:xfrm>
            <a:off x="7902674" y="2507523"/>
            <a:ext cx="21429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营收构成 · 七个板块</a:t>
            </a:r>
          </a:p>
        </p:txBody>
      </p:sp>
      <p:sp>
        <p:nvSpPr>
          <p:cNvPr id="828" name="m-d11_treemap-foot-r"/>
          <p:cNvSpPr txBox="1"/>
          <p:nvPr/>
        </p:nvSpPr>
        <p:spPr>
          <a:xfrm>
            <a:off x="9907109" y="25075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829" name="mini-card-c21_bcg"/>
          <p:cNvSpPr/>
          <p:nvPr/>
        </p:nvSpPr>
        <p:spPr>
          <a:xfrm>
            <a:off x="10401300" y="11684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1" y="0"/>
                </a:moveTo>
                <a:lnTo>
                  <a:pt x="2419160" y="0"/>
                </a:lnTo>
                <a:cubicBezTo>
                  <a:pt x="2463483" y="0"/>
                  <a:pt x="2499360" y="35878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1" y="1405890"/>
                </a:lnTo>
                <a:cubicBezTo>
                  <a:pt x="35878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8"/>
                  <a:pt x="35878" y="0"/>
                  <a:pt x="80201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30" name="m-c21_bcg-title-bar"/>
          <p:cNvSpPr/>
          <p:nvPr/>
        </p:nvSpPr>
        <p:spPr>
          <a:xfrm>
            <a:off x="10521061" y="12673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31" name="m-c21_bcg-title-bar-accent"/>
          <p:cNvSpPr/>
          <p:nvPr/>
        </p:nvSpPr>
        <p:spPr>
          <a:xfrm>
            <a:off x="10521061" y="12673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32" name="m-c21_bcg-title-cn"/>
          <p:cNvSpPr txBox="1"/>
          <p:nvPr/>
        </p:nvSpPr>
        <p:spPr>
          <a:xfrm>
            <a:off x="10553240" y="1249968"/>
            <a:ext cx="725752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业务组合 · 波士顿矩阵</a:t>
            </a:r>
          </a:p>
        </p:txBody>
      </p:sp>
      <p:sp>
        <p:nvSpPr>
          <p:cNvPr id="833" name="m-c21_bcg-title-en"/>
          <p:cNvSpPr txBox="1"/>
          <p:nvPr/>
        </p:nvSpPr>
        <p:spPr>
          <a:xfrm>
            <a:off x="10560530" y="1337250"/>
            <a:ext cx="20307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BCG MATRIX</a:t>
            </a:r>
          </a:p>
        </p:txBody>
      </p:sp>
      <p:sp>
        <p:nvSpPr>
          <p:cNvPr id="834" name="m-c21_bcg-title-sub"/>
          <p:cNvSpPr txBox="1"/>
          <p:nvPr/>
        </p:nvSpPr>
        <p:spPr>
          <a:xfrm>
            <a:off x="12177850" y="1306392"/>
            <a:ext cx="605704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横轴相对市场份额、纵轴市场增长率，气泡大小代表营收</a:t>
            </a:r>
          </a:p>
        </p:txBody>
      </p:sp>
      <p:sp>
        <p:nvSpPr>
          <p:cNvPr id="835" name="m-c21_bcg-qd-1"/>
          <p:cNvSpPr/>
          <p:nvPr/>
        </p:nvSpPr>
        <p:spPr>
          <a:xfrm>
            <a:off x="10797032" y="1499044"/>
            <a:ext cx="562356" cy="421132"/>
          </a:xfrm>
          <a:custGeom>
            <a:avLst/>
            <a:gdLst/>
            <a:ahLst/>
            <a:cxnLst/>
            <a:rect l="0" t="0" r="r" b="b"/>
            <a:pathLst>
              <a:path w="562356" h="421132">
                <a:moveTo>
                  <a:pt x="23432" y="0"/>
                </a:moveTo>
                <a:lnTo>
                  <a:pt x="538925" y="0"/>
                </a:lnTo>
                <a:cubicBezTo>
                  <a:pt x="551879" y="0"/>
                  <a:pt x="562356" y="10478"/>
                  <a:pt x="562356" y="23431"/>
                </a:cubicBezTo>
                <a:lnTo>
                  <a:pt x="562356" y="397700"/>
                </a:lnTo>
                <a:cubicBezTo>
                  <a:pt x="562356" y="410655"/>
                  <a:pt x="551879" y="421132"/>
                  <a:pt x="538925" y="421132"/>
                </a:cubicBezTo>
                <a:lnTo>
                  <a:pt x="23432" y="421132"/>
                </a:lnTo>
                <a:cubicBezTo>
                  <a:pt x="10478" y="421132"/>
                  <a:pt x="0" y="410655"/>
                  <a:pt x="0" y="397700"/>
                </a:cubicBezTo>
                <a:lnTo>
                  <a:pt x="0" y="23431"/>
                </a:lnTo>
                <a:cubicBezTo>
                  <a:pt x="0" y="10478"/>
                  <a:pt x="10478" y="0"/>
                  <a:pt x="23432" y="0"/>
                </a:cubicBezTo>
                <a:close/>
              </a:path>
            </a:pathLst>
          </a:custGeom>
          <a:solidFill>
            <a:srgbClr val="0B3E8F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36" name="m-c21_bcg-qn-1"/>
          <p:cNvSpPr txBox="1"/>
          <p:nvPr/>
        </p:nvSpPr>
        <p:spPr>
          <a:xfrm>
            <a:off x="10818693" y="1513910"/>
            <a:ext cx="116116" cy="6378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90" b="1" i="0" u="none" strike="noStrike" kern="1200" cap="none" spc="41" normalizeH="0" baseline="0" noProof="0">
                <a:ln>
                  <a:noFill/>
                </a:ln>
                <a:solidFill>
                  <a:srgbClr val="0B3E8F">
                    <a:alpha val="90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明星</a:t>
            </a:r>
          </a:p>
        </p:txBody>
      </p:sp>
      <p:sp>
        <p:nvSpPr>
          <p:cNvPr id="837" name="m-c21_bcg-qe-1"/>
          <p:cNvSpPr txBox="1"/>
          <p:nvPr/>
        </p:nvSpPr>
        <p:spPr>
          <a:xfrm>
            <a:off x="10820880" y="1570263"/>
            <a:ext cx="72846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31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STAR</a:t>
            </a:r>
          </a:p>
        </p:txBody>
      </p:sp>
      <p:sp>
        <p:nvSpPr>
          <p:cNvPr id="838" name="m-c21_bcg-qd-2"/>
          <p:cNvSpPr/>
          <p:nvPr/>
        </p:nvSpPr>
        <p:spPr>
          <a:xfrm>
            <a:off x="11369802" y="1499044"/>
            <a:ext cx="562356" cy="421132"/>
          </a:xfrm>
          <a:custGeom>
            <a:avLst/>
            <a:gdLst/>
            <a:ahLst/>
            <a:cxnLst/>
            <a:rect l="0" t="0" r="r" b="b"/>
            <a:pathLst>
              <a:path w="562356" h="421132">
                <a:moveTo>
                  <a:pt x="23432" y="0"/>
                </a:moveTo>
                <a:lnTo>
                  <a:pt x="538925" y="0"/>
                </a:lnTo>
                <a:cubicBezTo>
                  <a:pt x="551879" y="0"/>
                  <a:pt x="562356" y="10478"/>
                  <a:pt x="562356" y="23431"/>
                </a:cubicBezTo>
                <a:lnTo>
                  <a:pt x="562356" y="397700"/>
                </a:lnTo>
                <a:cubicBezTo>
                  <a:pt x="562356" y="410655"/>
                  <a:pt x="551879" y="421132"/>
                  <a:pt x="538925" y="421132"/>
                </a:cubicBezTo>
                <a:lnTo>
                  <a:pt x="23432" y="421132"/>
                </a:lnTo>
                <a:cubicBezTo>
                  <a:pt x="10478" y="421132"/>
                  <a:pt x="0" y="410655"/>
                  <a:pt x="0" y="397700"/>
                </a:cubicBezTo>
                <a:lnTo>
                  <a:pt x="0" y="23431"/>
                </a:lnTo>
                <a:cubicBezTo>
                  <a:pt x="0" y="10478"/>
                  <a:pt x="10478" y="0"/>
                  <a:pt x="23432" y="0"/>
                </a:cubicBezTo>
                <a:close/>
              </a:path>
            </a:pathLst>
          </a:custGeom>
          <a:solidFill>
            <a:srgbClr val="3985CD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39" name="m-c21_bcg-qn-2"/>
          <p:cNvSpPr txBox="1"/>
          <p:nvPr/>
        </p:nvSpPr>
        <p:spPr>
          <a:xfrm>
            <a:off x="11794381" y="1513910"/>
            <a:ext cx="116116" cy="6378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90" b="1" i="0" u="none" strike="noStrike" kern="1200" cap="none" spc="41" normalizeH="0" baseline="0" noProof="0">
                <a:ln>
                  <a:noFill/>
                </a:ln>
                <a:solidFill>
                  <a:srgbClr val="3985CD">
                    <a:alpha val="90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问号</a:t>
            </a:r>
          </a:p>
        </p:txBody>
      </p:sp>
      <p:sp>
        <p:nvSpPr>
          <p:cNvPr id="840" name="m-c21_bcg-qe-2"/>
          <p:cNvSpPr txBox="1"/>
          <p:nvPr/>
        </p:nvSpPr>
        <p:spPr>
          <a:xfrm>
            <a:off x="11779020" y="1570263"/>
            <a:ext cx="129290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31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QUESTION</a:t>
            </a:r>
          </a:p>
        </p:txBody>
      </p:sp>
      <p:sp>
        <p:nvSpPr>
          <p:cNvPr id="841" name="m-c21_bcg-qd-3"/>
          <p:cNvSpPr/>
          <p:nvPr/>
        </p:nvSpPr>
        <p:spPr>
          <a:xfrm>
            <a:off x="10797032" y="1930590"/>
            <a:ext cx="562356" cy="352108"/>
          </a:xfrm>
          <a:custGeom>
            <a:avLst/>
            <a:gdLst/>
            <a:ahLst/>
            <a:cxnLst/>
            <a:rect l="0" t="0" r="r" b="b"/>
            <a:pathLst>
              <a:path w="562356" h="352108">
                <a:moveTo>
                  <a:pt x="23432" y="0"/>
                </a:moveTo>
                <a:lnTo>
                  <a:pt x="538925" y="0"/>
                </a:lnTo>
                <a:cubicBezTo>
                  <a:pt x="551879" y="0"/>
                  <a:pt x="562356" y="10478"/>
                  <a:pt x="562356" y="23432"/>
                </a:cubicBezTo>
                <a:lnTo>
                  <a:pt x="562356" y="328676"/>
                </a:lnTo>
                <a:cubicBezTo>
                  <a:pt x="562356" y="341630"/>
                  <a:pt x="551879" y="352108"/>
                  <a:pt x="538925" y="352108"/>
                </a:cubicBezTo>
                <a:lnTo>
                  <a:pt x="23432" y="352108"/>
                </a:lnTo>
                <a:cubicBezTo>
                  <a:pt x="10478" y="352108"/>
                  <a:pt x="0" y="341630"/>
                  <a:pt x="0" y="328676"/>
                </a:cubicBezTo>
                <a:lnTo>
                  <a:pt x="0" y="23432"/>
                </a:lnTo>
                <a:cubicBezTo>
                  <a:pt x="0" y="10478"/>
                  <a:pt x="10478" y="0"/>
                  <a:pt x="23432" y="0"/>
                </a:cubicBezTo>
                <a:close/>
              </a:path>
            </a:pathLst>
          </a:custGeom>
          <a:solidFill>
            <a:srgbClr val="1B5AA8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42" name="m-c21_bcg-qn-3"/>
          <p:cNvSpPr txBox="1"/>
          <p:nvPr/>
        </p:nvSpPr>
        <p:spPr>
          <a:xfrm>
            <a:off x="10818693" y="1945469"/>
            <a:ext cx="116116" cy="6378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90" b="1" i="0" u="none" strike="noStrike" kern="1200" cap="none" spc="41" normalizeH="0" baseline="0" noProof="0">
                <a:ln>
                  <a:noFill/>
                </a:ln>
                <a:solidFill>
                  <a:srgbClr val="1B5AA8">
                    <a:alpha val="90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金牛</a:t>
            </a:r>
          </a:p>
        </p:txBody>
      </p:sp>
      <p:sp>
        <p:nvSpPr>
          <p:cNvPr id="843" name="m-c21_bcg-qe-3"/>
          <p:cNvSpPr txBox="1"/>
          <p:nvPr/>
        </p:nvSpPr>
        <p:spPr>
          <a:xfrm>
            <a:off x="10820880" y="2001822"/>
            <a:ext cx="129290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31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CASH COW</a:t>
            </a:r>
          </a:p>
        </p:txBody>
      </p:sp>
      <p:sp>
        <p:nvSpPr>
          <p:cNvPr id="844" name="m-c21_bcg-qd-4"/>
          <p:cNvSpPr/>
          <p:nvPr/>
        </p:nvSpPr>
        <p:spPr>
          <a:xfrm>
            <a:off x="11369802" y="1930590"/>
            <a:ext cx="562356" cy="352108"/>
          </a:xfrm>
          <a:custGeom>
            <a:avLst/>
            <a:gdLst/>
            <a:ahLst/>
            <a:cxnLst/>
            <a:rect l="0" t="0" r="r" b="b"/>
            <a:pathLst>
              <a:path w="562356" h="352108">
                <a:moveTo>
                  <a:pt x="23432" y="0"/>
                </a:moveTo>
                <a:lnTo>
                  <a:pt x="538925" y="0"/>
                </a:lnTo>
                <a:cubicBezTo>
                  <a:pt x="551879" y="0"/>
                  <a:pt x="562356" y="10478"/>
                  <a:pt x="562356" y="23432"/>
                </a:cubicBezTo>
                <a:lnTo>
                  <a:pt x="562356" y="328676"/>
                </a:lnTo>
                <a:cubicBezTo>
                  <a:pt x="562356" y="341630"/>
                  <a:pt x="551879" y="352108"/>
                  <a:pt x="538925" y="352108"/>
                </a:cubicBezTo>
                <a:lnTo>
                  <a:pt x="23432" y="352108"/>
                </a:lnTo>
                <a:cubicBezTo>
                  <a:pt x="10478" y="352108"/>
                  <a:pt x="0" y="341630"/>
                  <a:pt x="0" y="328676"/>
                </a:cubicBezTo>
                <a:lnTo>
                  <a:pt x="0" y="23432"/>
                </a:lnTo>
                <a:cubicBezTo>
                  <a:pt x="0" y="10478"/>
                  <a:pt x="10478" y="0"/>
                  <a:pt x="23432" y="0"/>
                </a:cubicBezTo>
                <a:close/>
              </a:path>
            </a:pathLst>
          </a:custGeom>
          <a:solidFill>
            <a:srgbClr val="9DB2CC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45" name="m-c21_bcg-qn-4"/>
          <p:cNvSpPr txBox="1"/>
          <p:nvPr/>
        </p:nvSpPr>
        <p:spPr>
          <a:xfrm>
            <a:off x="11794381" y="1945469"/>
            <a:ext cx="116116" cy="6378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90" b="1" i="0" u="none" strike="noStrike" kern="1200" cap="none" spc="41" normalizeH="0" baseline="0" noProof="0">
                <a:ln>
                  <a:noFill/>
                </a:ln>
                <a:solidFill>
                  <a:srgbClr val="9DB2CC">
                    <a:alpha val="90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瘦狗</a:t>
            </a:r>
          </a:p>
        </p:txBody>
      </p:sp>
      <p:sp>
        <p:nvSpPr>
          <p:cNvPr id="846" name="m-c21_bcg-qe-4"/>
          <p:cNvSpPr txBox="1"/>
          <p:nvPr/>
        </p:nvSpPr>
        <p:spPr>
          <a:xfrm>
            <a:off x="11849575" y="2001822"/>
            <a:ext cx="58735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31" normalizeH="0" baseline="0" noProof="0">
                <a:ln>
                  <a:noFill/>
                </a:ln>
                <a:solidFill>
                  <a:srgbClr val="9DB2C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DOG</a:t>
            </a:r>
          </a:p>
        </p:txBody>
      </p:sp>
      <p:cxnSp>
        <p:nvCxnSpPr>
          <p:cNvPr id="847" name="m-c21_bcg-ax"/>
          <p:cNvCxnSpPr/>
          <p:nvPr/>
        </p:nvCxnSpPr>
        <p:spPr>
          <a:xfrm>
            <a:off x="10791825" y="2300922"/>
            <a:ext cx="1145540" cy="0"/>
          </a:xfrm>
          <a:prstGeom prst="line">
            <a:avLst/>
          </a:prstGeom>
          <a:ln w="2540" cap="rnd">
            <a:solidFill>
              <a:srgbClr val="0B2545">
                <a:alpha val="3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8" name="m-c21_bcg-ax-t"/>
          <p:cNvSpPr txBox="1"/>
          <p:nvPr/>
        </p:nvSpPr>
        <p:spPr>
          <a:xfrm>
            <a:off x="10789482" y="2315860"/>
            <a:ext cx="257616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1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高 ← 相对市场份额 → 低</a:t>
            </a:r>
          </a:p>
        </p:txBody>
      </p:sp>
      <p:sp>
        <p:nvSpPr>
          <p:cNvPr id="849" name="m-c21_bcg-ax-s"/>
          <p:cNvSpPr txBox="1"/>
          <p:nvPr/>
        </p:nvSpPr>
        <p:spPr>
          <a:xfrm>
            <a:off x="11660743" y="2317468"/>
            <a:ext cx="27880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分界：份额 1.0× · 增长 15%</a:t>
            </a:r>
          </a:p>
        </p:txBody>
      </p:sp>
      <p:sp>
        <p:nvSpPr>
          <p:cNvPr id="850" name="m-c21_bcg-gy-0"/>
          <p:cNvSpPr txBox="1"/>
          <p:nvPr/>
        </p:nvSpPr>
        <p:spPr>
          <a:xfrm>
            <a:off x="10738974" y="2168332"/>
            <a:ext cx="3681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0%</a:t>
            </a:r>
          </a:p>
        </p:txBody>
      </p:sp>
      <p:sp>
        <p:nvSpPr>
          <p:cNvPr id="851" name="m-c21_bcg-gy-15"/>
          <p:cNvSpPr txBox="1"/>
          <p:nvPr/>
        </p:nvSpPr>
        <p:spPr>
          <a:xfrm>
            <a:off x="10728768" y="1909397"/>
            <a:ext cx="4701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15%</a:t>
            </a:r>
          </a:p>
        </p:txBody>
      </p:sp>
      <p:sp>
        <p:nvSpPr>
          <p:cNvPr id="852" name="m-c21_bcg-gy-30"/>
          <p:cNvSpPr txBox="1"/>
          <p:nvPr/>
        </p:nvSpPr>
        <p:spPr>
          <a:xfrm>
            <a:off x="10728768" y="1650462"/>
            <a:ext cx="4701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30%</a:t>
            </a:r>
          </a:p>
        </p:txBody>
      </p:sp>
      <p:sp>
        <p:nvSpPr>
          <p:cNvPr id="853" name="m-c21_bcg-gy-h"/>
          <p:cNvSpPr txBox="1"/>
          <p:nvPr/>
        </p:nvSpPr>
        <p:spPr>
          <a:xfrm>
            <a:off x="10704712" y="1479141"/>
            <a:ext cx="71076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增长率</a:t>
            </a:r>
          </a:p>
        </p:txBody>
      </p:sp>
      <p:sp>
        <p:nvSpPr>
          <p:cNvPr id="854" name="m-c21_bcg-b-1"/>
          <p:cNvSpPr/>
          <p:nvPr/>
        </p:nvSpPr>
        <p:spPr>
          <a:xfrm>
            <a:off x="10944570" y="2004394"/>
            <a:ext cx="152725" cy="152725"/>
          </a:xfrm>
          <a:prstGeom prst="ellipse">
            <a:avLst/>
          </a:prstGeom>
          <a:gradFill rotWithShape="1">
            <a:gsLst>
              <a:gs pos="0">
                <a:srgbClr val="497BB9">
                  <a:alpha val="92000"/>
                </a:srgbClr>
              </a:gs>
              <a:gs pos="100000">
                <a:srgbClr val="1B5AA8">
                  <a:alpha val="92000"/>
                </a:srgbClr>
              </a:gs>
            </a:gsLst>
            <a:lin ang="7200000" scaled="0"/>
          </a:gradFill>
          <a:ln w="390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55" name="m-c21_bcg-bn-1"/>
          <p:cNvSpPr txBox="1"/>
          <p:nvPr/>
        </p:nvSpPr>
        <p:spPr>
          <a:xfrm>
            <a:off x="10960922" y="2049216"/>
            <a:ext cx="12002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企业软件</a:t>
            </a:r>
          </a:p>
        </p:txBody>
      </p:sp>
      <p:sp>
        <p:nvSpPr>
          <p:cNvPr id="856" name="m-c21_bcg-bv-1"/>
          <p:cNvSpPr txBox="1"/>
          <p:nvPr/>
        </p:nvSpPr>
        <p:spPr>
          <a:xfrm>
            <a:off x="10975046" y="2087884"/>
            <a:ext cx="9177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0" normalizeH="0" baseline="0" noProof="0">
                <a:ln>
                  <a:noFill/>
                </a:ln>
                <a:solidFill>
                  <a:srgbClr val="E3EDF9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18.2 亿</a:t>
            </a:r>
          </a:p>
        </p:txBody>
      </p:sp>
      <p:sp>
        <p:nvSpPr>
          <p:cNvPr id="857" name="m-c21_bcg-b-2"/>
          <p:cNvSpPr/>
          <p:nvPr/>
        </p:nvSpPr>
        <p:spPr>
          <a:xfrm>
            <a:off x="11131603" y="1639824"/>
            <a:ext cx="122322" cy="122322"/>
          </a:xfrm>
          <a:prstGeom prst="ellipse">
            <a:avLst/>
          </a:prstGeom>
          <a:gradFill rotWithShape="1">
            <a:gsLst>
              <a:gs pos="0">
                <a:srgbClr val="3C65A5">
                  <a:alpha val="92000"/>
                </a:srgbClr>
              </a:gs>
              <a:gs pos="100000">
                <a:srgbClr val="0B3E8F">
                  <a:alpha val="92000"/>
                </a:srgbClr>
              </a:gs>
            </a:gsLst>
            <a:lin ang="7200000" scaled="0"/>
          </a:gradFill>
          <a:ln w="390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58" name="m-c21_bcg-bn-2"/>
          <p:cNvSpPr txBox="1"/>
          <p:nvPr/>
        </p:nvSpPr>
        <p:spPr>
          <a:xfrm>
            <a:off x="11145120" y="1669444"/>
            <a:ext cx="95288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云服务</a:t>
            </a:r>
          </a:p>
        </p:txBody>
      </p:sp>
      <p:sp>
        <p:nvSpPr>
          <p:cNvPr id="859" name="m-c21_bcg-bv-2"/>
          <p:cNvSpPr txBox="1"/>
          <p:nvPr/>
        </p:nvSpPr>
        <p:spPr>
          <a:xfrm>
            <a:off x="11152345" y="1708113"/>
            <a:ext cx="80839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0" normalizeH="0" baseline="0" noProof="0">
                <a:ln>
                  <a:noFill/>
                </a:ln>
                <a:solidFill>
                  <a:srgbClr val="E3EDF9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9.6 亿</a:t>
            </a:r>
          </a:p>
        </p:txBody>
      </p:sp>
      <p:sp>
        <p:nvSpPr>
          <p:cNvPr id="860" name="m-c21_bcg-b-3"/>
          <p:cNvSpPr/>
          <p:nvPr/>
        </p:nvSpPr>
        <p:spPr>
          <a:xfrm>
            <a:off x="11517878" y="1584750"/>
            <a:ext cx="94373" cy="94373"/>
          </a:xfrm>
          <a:prstGeom prst="ellipse">
            <a:avLst/>
          </a:prstGeom>
          <a:gradFill rotWithShape="1">
            <a:gsLst>
              <a:gs pos="0">
                <a:srgbClr val="619DD7">
                  <a:alpha val="92000"/>
                </a:srgbClr>
              </a:gs>
              <a:gs pos="100000">
                <a:srgbClr val="3985CD">
                  <a:alpha val="92000"/>
                </a:srgbClr>
              </a:gs>
            </a:gsLst>
            <a:lin ang="7200000" scaled="0"/>
          </a:gradFill>
          <a:ln w="390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61" name="m-c21_bcg-bn-3"/>
          <p:cNvSpPr txBox="1"/>
          <p:nvPr/>
        </p:nvSpPr>
        <p:spPr>
          <a:xfrm>
            <a:off x="11622613" y="1602002"/>
            <a:ext cx="113643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数据服务</a:t>
            </a:r>
          </a:p>
        </p:txBody>
      </p:sp>
      <p:sp>
        <p:nvSpPr>
          <p:cNvPr id="862" name="m-c21_bcg-bv-3"/>
          <p:cNvSpPr txBox="1"/>
          <p:nvPr/>
        </p:nvSpPr>
        <p:spPr>
          <a:xfrm>
            <a:off x="11623081" y="1638067"/>
            <a:ext cx="14688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4.1 亿 · +32%</a:t>
            </a:r>
          </a:p>
        </p:txBody>
      </p:sp>
      <p:sp>
        <p:nvSpPr>
          <p:cNvPr id="863" name="m-c21_bcg-b-4"/>
          <p:cNvSpPr/>
          <p:nvPr/>
        </p:nvSpPr>
        <p:spPr>
          <a:xfrm>
            <a:off x="11692781" y="1777707"/>
            <a:ext cx="88229" cy="88229"/>
          </a:xfrm>
          <a:prstGeom prst="ellipse">
            <a:avLst/>
          </a:prstGeom>
          <a:gradFill rotWithShape="1">
            <a:gsLst>
              <a:gs pos="0">
                <a:srgbClr val="619DD7">
                  <a:alpha val="92000"/>
                </a:srgbClr>
              </a:gs>
              <a:gs pos="100000">
                <a:srgbClr val="3985CD">
                  <a:alpha val="92000"/>
                </a:srgbClr>
              </a:gs>
            </a:gsLst>
            <a:lin ang="7200000" scaled="0"/>
          </a:gradFill>
          <a:ln w="390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64" name="m-c21_bcg-bn-4"/>
          <p:cNvSpPr txBox="1"/>
          <p:nvPr/>
        </p:nvSpPr>
        <p:spPr>
          <a:xfrm>
            <a:off x="11791372" y="1791888"/>
            <a:ext cx="113643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智能硬件</a:t>
            </a:r>
          </a:p>
        </p:txBody>
      </p:sp>
      <p:sp>
        <p:nvSpPr>
          <p:cNvPr id="865" name="m-c21_bcg-bv-4"/>
          <p:cNvSpPr txBox="1"/>
          <p:nvPr/>
        </p:nvSpPr>
        <p:spPr>
          <a:xfrm>
            <a:off x="11791840" y="1827953"/>
            <a:ext cx="14688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3.2 亿 · +21%</a:t>
            </a:r>
          </a:p>
        </p:txBody>
      </p:sp>
      <p:sp>
        <p:nvSpPr>
          <p:cNvPr id="866" name="m-c21_bcg-b-5"/>
          <p:cNvSpPr/>
          <p:nvPr/>
        </p:nvSpPr>
        <p:spPr>
          <a:xfrm>
            <a:off x="11495431" y="2057025"/>
            <a:ext cx="81989" cy="81989"/>
          </a:xfrm>
          <a:prstGeom prst="ellipse">
            <a:avLst/>
          </a:prstGeom>
          <a:gradFill rotWithShape="1">
            <a:gsLst>
              <a:gs pos="0">
                <a:srgbClr val="98A9BE">
                  <a:alpha val="92000"/>
                </a:srgbClr>
              </a:gs>
              <a:gs pos="100000">
                <a:srgbClr val="7E93AE">
                  <a:alpha val="92000"/>
                </a:srgbClr>
              </a:gs>
            </a:gsLst>
            <a:lin ang="7200000" scaled="0"/>
          </a:gradFill>
          <a:ln w="390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67" name="m-c21_bcg-bn-5"/>
          <p:cNvSpPr txBox="1"/>
          <p:nvPr/>
        </p:nvSpPr>
        <p:spPr>
          <a:xfrm>
            <a:off x="11587783" y="2068086"/>
            <a:ext cx="113643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咨询服务</a:t>
            </a:r>
          </a:p>
        </p:txBody>
      </p:sp>
      <p:sp>
        <p:nvSpPr>
          <p:cNvPr id="868" name="m-c21_bcg-bv-5"/>
          <p:cNvSpPr txBox="1"/>
          <p:nvPr/>
        </p:nvSpPr>
        <p:spPr>
          <a:xfrm>
            <a:off x="11588251" y="2104151"/>
            <a:ext cx="13668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2.4 亿 · +5%</a:t>
            </a:r>
          </a:p>
        </p:txBody>
      </p:sp>
      <p:sp>
        <p:nvSpPr>
          <p:cNvPr id="869" name="m-c21_bcg-b-6"/>
          <p:cNvSpPr/>
          <p:nvPr/>
        </p:nvSpPr>
        <p:spPr>
          <a:xfrm>
            <a:off x="11728763" y="2182085"/>
            <a:ext cx="73542" cy="73542"/>
          </a:xfrm>
          <a:prstGeom prst="ellipse">
            <a:avLst/>
          </a:prstGeom>
          <a:gradFill rotWithShape="1">
            <a:gsLst>
              <a:gs pos="0">
                <a:srgbClr val="98A9BE">
                  <a:alpha val="92000"/>
                </a:srgbClr>
              </a:gs>
              <a:gs pos="100000">
                <a:srgbClr val="7E93AE">
                  <a:alpha val="92000"/>
                </a:srgbClr>
              </a:gs>
            </a:gsLst>
            <a:lin ang="7200000" scaled="0"/>
          </a:gradFill>
          <a:ln w="3905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70" name="m-c21_bcg-bn-6"/>
          <p:cNvSpPr txBox="1"/>
          <p:nvPr/>
        </p:nvSpPr>
        <p:spPr>
          <a:xfrm>
            <a:off x="11812667" y="2188922"/>
            <a:ext cx="113643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运维外包</a:t>
            </a:r>
          </a:p>
        </p:txBody>
      </p:sp>
      <p:sp>
        <p:nvSpPr>
          <p:cNvPr id="871" name="m-c21_bcg-bv-6"/>
          <p:cNvSpPr txBox="1"/>
          <p:nvPr/>
        </p:nvSpPr>
        <p:spPr>
          <a:xfrm>
            <a:off x="11813136" y="2224987"/>
            <a:ext cx="13668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1.5 亿 · -2%</a:t>
            </a:r>
          </a:p>
        </p:txBody>
      </p:sp>
      <p:sp>
        <p:nvSpPr>
          <p:cNvPr id="872" name="m-c21_bcg-st-1"/>
          <p:cNvSpPr/>
          <p:nvPr/>
        </p:nvSpPr>
        <p:spPr>
          <a:xfrm>
            <a:off x="12028488" y="1493838"/>
            <a:ext cx="676910" cy="177038"/>
          </a:xfrm>
          <a:custGeom>
            <a:avLst/>
            <a:gdLst/>
            <a:ahLst/>
            <a:cxnLst/>
            <a:rect l="0" t="0" r="r" b="b"/>
            <a:pathLst>
              <a:path w="676910" h="177038">
                <a:moveTo>
                  <a:pt x="26035" y="0"/>
                </a:moveTo>
                <a:lnTo>
                  <a:pt x="650875" y="0"/>
                </a:lnTo>
                <a:cubicBezTo>
                  <a:pt x="665289" y="0"/>
                  <a:pt x="676910" y="11621"/>
                  <a:pt x="676910" y="26035"/>
                </a:cubicBezTo>
                <a:lnTo>
                  <a:pt x="676910" y="151003"/>
                </a:lnTo>
                <a:cubicBezTo>
                  <a:pt x="676910" y="165418"/>
                  <a:pt x="665289" y="177038"/>
                  <a:pt x="650875" y="177038"/>
                </a:cubicBezTo>
                <a:lnTo>
                  <a:pt x="26035" y="177038"/>
                </a:lnTo>
                <a:cubicBezTo>
                  <a:pt x="11620" y="177038"/>
                  <a:pt x="0" y="165418"/>
                  <a:pt x="0" y="151003"/>
                </a:cubicBezTo>
                <a:lnTo>
                  <a:pt x="0" y="26035"/>
                </a:lnTo>
                <a:cubicBezTo>
                  <a:pt x="0" y="11621"/>
                  <a:pt x="11620" y="0"/>
                  <a:pt x="260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73" name="m-c21_bcg-stb-1"/>
          <p:cNvSpPr/>
          <p:nvPr/>
        </p:nvSpPr>
        <p:spPr>
          <a:xfrm>
            <a:off x="12028488" y="1493838"/>
            <a:ext cx="7811" cy="177038"/>
          </a:xfrm>
          <a:custGeom>
            <a:avLst/>
            <a:gdLst/>
            <a:ahLst/>
            <a:cxnLst/>
            <a:rect l="0" t="0" r="r" b="b"/>
            <a:pathLst>
              <a:path w="7811" h="177038">
                <a:moveTo>
                  <a:pt x="3937" y="0"/>
                </a:moveTo>
                <a:lnTo>
                  <a:pt x="3937" y="0"/>
                </a:lnTo>
                <a:cubicBezTo>
                  <a:pt x="6096" y="0"/>
                  <a:pt x="7811" y="1715"/>
                  <a:pt x="7811" y="3937"/>
                </a:cubicBezTo>
                <a:lnTo>
                  <a:pt x="7811" y="173101"/>
                </a:lnTo>
                <a:cubicBezTo>
                  <a:pt x="7811" y="175324"/>
                  <a:pt x="6096" y="177038"/>
                  <a:pt x="3937" y="177038"/>
                </a:cubicBezTo>
                <a:lnTo>
                  <a:pt x="3937" y="177038"/>
                </a:lnTo>
                <a:cubicBezTo>
                  <a:pt x="1714" y="177038"/>
                  <a:pt x="0" y="175324"/>
                  <a:pt x="0" y="173101"/>
                </a:cubicBezTo>
                <a:lnTo>
                  <a:pt x="0" y="3937"/>
                </a:lnTo>
                <a:cubicBezTo>
                  <a:pt x="0" y="1715"/>
                  <a:pt x="1714" y="0"/>
                  <a:pt x="3937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74" name="m-c21_bcg-chip"/>
          <p:cNvSpPr/>
          <p:nvPr/>
        </p:nvSpPr>
        <p:spPr>
          <a:xfrm>
            <a:off x="12062333" y="1525080"/>
            <a:ext cx="67691" cy="6769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75" name="m-c21_bcg-chip-ring"/>
          <p:cNvSpPr/>
          <p:nvPr/>
        </p:nvSpPr>
        <p:spPr>
          <a:xfrm>
            <a:off x="12062333" y="1525080"/>
            <a:ext cx="67691" cy="67691"/>
          </a:xfrm>
          <a:prstGeom prst="ellipse">
            <a:avLst/>
          </a:prstGeom>
          <a:noFill/>
          <a:ln w="2540" cap="rnd">
            <a:solidFill>
              <a:srgbClr val="0B3E8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76" name="m-c21_bcg-icon-star"/>
          <p:cNvSpPr/>
          <p:nvPr/>
        </p:nvSpPr>
        <p:spPr>
          <a:xfrm>
            <a:off x="12085130" y="1548003"/>
            <a:ext cx="22098" cy="21082"/>
          </a:xfrm>
          <a:custGeom>
            <a:avLst/>
            <a:gdLst/>
            <a:ahLst/>
            <a:cxnLst/>
            <a:rect l="0" t="0" r="r" b="b"/>
            <a:pathLst>
              <a:path w="22098" h="21082">
                <a:moveTo>
                  <a:pt x="11049" y="0"/>
                </a:moveTo>
                <a:lnTo>
                  <a:pt x="14414" y="6985"/>
                </a:lnTo>
                <a:lnTo>
                  <a:pt x="22098" y="8065"/>
                </a:lnTo>
                <a:lnTo>
                  <a:pt x="16510" y="13398"/>
                </a:lnTo>
                <a:lnTo>
                  <a:pt x="17970" y="21082"/>
                </a:lnTo>
                <a:lnTo>
                  <a:pt x="11049" y="17272"/>
                </a:lnTo>
                <a:lnTo>
                  <a:pt x="4127" y="21082"/>
                </a:lnTo>
                <a:lnTo>
                  <a:pt x="5588" y="13398"/>
                </a:lnTo>
                <a:lnTo>
                  <a:pt x="0" y="8065"/>
                </a:lnTo>
                <a:lnTo>
                  <a:pt x="7684" y="6985"/>
                </a:lnTo>
                <a:close/>
              </a:path>
            </a:pathLst>
          </a:custGeom>
          <a:noFill/>
          <a:ln w="260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77" name="m-c21_bcg-stn-1"/>
          <p:cNvSpPr txBox="1"/>
          <p:nvPr/>
        </p:nvSpPr>
        <p:spPr>
          <a:xfrm>
            <a:off x="12146947" y="1529147"/>
            <a:ext cx="102187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31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明星</a:t>
            </a:r>
          </a:p>
        </p:txBody>
      </p:sp>
      <p:sp>
        <p:nvSpPr>
          <p:cNvPr id="878" name="m-c21_bcg-sts-1"/>
          <p:cNvSpPr txBox="1"/>
          <p:nvPr/>
        </p:nvSpPr>
        <p:spPr>
          <a:xfrm>
            <a:off x="12260069" y="1541205"/>
            <a:ext cx="229043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3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加大投入，抢占份额</a:t>
            </a:r>
          </a:p>
        </p:txBody>
      </p:sp>
      <p:sp>
        <p:nvSpPr>
          <p:cNvPr id="879" name="m-c21_bcg-stw-1"/>
          <p:cNvSpPr txBox="1"/>
          <p:nvPr/>
        </p:nvSpPr>
        <p:spPr>
          <a:xfrm>
            <a:off x="12148196" y="1601889"/>
            <a:ext cx="87478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云服务</a:t>
            </a:r>
          </a:p>
        </p:txBody>
      </p:sp>
      <p:sp>
        <p:nvSpPr>
          <p:cNvPr id="880" name="m-c21_bcg-st-2"/>
          <p:cNvSpPr/>
          <p:nvPr/>
        </p:nvSpPr>
        <p:spPr>
          <a:xfrm>
            <a:off x="12028488" y="1691704"/>
            <a:ext cx="676910" cy="177038"/>
          </a:xfrm>
          <a:custGeom>
            <a:avLst/>
            <a:gdLst/>
            <a:ahLst/>
            <a:cxnLst/>
            <a:rect l="0" t="0" r="r" b="b"/>
            <a:pathLst>
              <a:path w="676910" h="177038">
                <a:moveTo>
                  <a:pt x="26035" y="0"/>
                </a:moveTo>
                <a:lnTo>
                  <a:pt x="650875" y="0"/>
                </a:lnTo>
                <a:cubicBezTo>
                  <a:pt x="665289" y="0"/>
                  <a:pt x="676910" y="11620"/>
                  <a:pt x="676910" y="26035"/>
                </a:cubicBezTo>
                <a:lnTo>
                  <a:pt x="676910" y="151003"/>
                </a:lnTo>
                <a:cubicBezTo>
                  <a:pt x="676910" y="165417"/>
                  <a:pt x="665289" y="177038"/>
                  <a:pt x="650875" y="177038"/>
                </a:cubicBezTo>
                <a:lnTo>
                  <a:pt x="26035" y="177038"/>
                </a:lnTo>
                <a:cubicBezTo>
                  <a:pt x="11620" y="177038"/>
                  <a:pt x="0" y="165417"/>
                  <a:pt x="0" y="151003"/>
                </a:cubicBezTo>
                <a:lnTo>
                  <a:pt x="0" y="26035"/>
                </a:lnTo>
                <a:cubicBezTo>
                  <a:pt x="0" y="11620"/>
                  <a:pt x="11620" y="0"/>
                  <a:pt x="260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81" name="m-c21_bcg-stb-2"/>
          <p:cNvSpPr/>
          <p:nvPr/>
        </p:nvSpPr>
        <p:spPr>
          <a:xfrm>
            <a:off x="12028488" y="1691704"/>
            <a:ext cx="7811" cy="177038"/>
          </a:xfrm>
          <a:custGeom>
            <a:avLst/>
            <a:gdLst/>
            <a:ahLst/>
            <a:cxnLst/>
            <a:rect l="0" t="0" r="r" b="b"/>
            <a:pathLst>
              <a:path w="7811" h="177038">
                <a:moveTo>
                  <a:pt x="3937" y="0"/>
                </a:moveTo>
                <a:lnTo>
                  <a:pt x="3937" y="0"/>
                </a:lnTo>
                <a:cubicBezTo>
                  <a:pt x="6096" y="0"/>
                  <a:pt x="7811" y="1714"/>
                  <a:pt x="7811" y="3873"/>
                </a:cubicBezTo>
                <a:lnTo>
                  <a:pt x="7811" y="173164"/>
                </a:lnTo>
                <a:cubicBezTo>
                  <a:pt x="7811" y="175323"/>
                  <a:pt x="6096" y="177038"/>
                  <a:pt x="3937" y="177038"/>
                </a:cubicBezTo>
                <a:lnTo>
                  <a:pt x="3937" y="177038"/>
                </a:lnTo>
                <a:cubicBezTo>
                  <a:pt x="1714" y="177038"/>
                  <a:pt x="0" y="175323"/>
                  <a:pt x="0" y="173164"/>
                </a:cubicBezTo>
                <a:lnTo>
                  <a:pt x="0" y="3873"/>
                </a:lnTo>
                <a:cubicBezTo>
                  <a:pt x="0" y="1714"/>
                  <a:pt x="1714" y="0"/>
                  <a:pt x="3937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82" name="m-c21_bcg-chip"/>
          <p:cNvSpPr/>
          <p:nvPr/>
        </p:nvSpPr>
        <p:spPr>
          <a:xfrm>
            <a:off x="12062333" y="1722946"/>
            <a:ext cx="67691" cy="6769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83" name="m-c21_bcg-chip-ring"/>
          <p:cNvSpPr/>
          <p:nvPr/>
        </p:nvSpPr>
        <p:spPr>
          <a:xfrm>
            <a:off x="12062333" y="1722946"/>
            <a:ext cx="67691" cy="67691"/>
          </a:xfrm>
          <a:prstGeom prst="ellipse">
            <a:avLst/>
          </a:prstGeom>
          <a:noFill/>
          <a:ln w="2540" cap="rnd">
            <a:solidFill>
              <a:srgbClr val="1B5AA8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84" name="m-c21_bcg-icon-coin"/>
          <p:cNvSpPr/>
          <p:nvPr/>
        </p:nvSpPr>
        <p:spPr>
          <a:xfrm>
            <a:off x="12087860" y="1749488"/>
            <a:ext cx="16637" cy="14605"/>
          </a:xfrm>
          <a:custGeom>
            <a:avLst/>
            <a:gdLst/>
            <a:ahLst/>
            <a:cxnLst/>
            <a:rect l="0" t="0" r="r" b="b"/>
            <a:pathLst>
              <a:path w="16637" h="14605">
                <a:moveTo>
                  <a:pt x="8319" y="0"/>
                </a:moveTo>
                <a:cubicBezTo>
                  <a:pt x="3620" y="0"/>
                  <a:pt x="0" y="1334"/>
                  <a:pt x="0" y="3112"/>
                </a:cubicBezTo>
                <a:cubicBezTo>
                  <a:pt x="0" y="4953"/>
                  <a:pt x="3620" y="6287"/>
                  <a:pt x="8319" y="6287"/>
                </a:cubicBezTo>
                <a:cubicBezTo>
                  <a:pt x="13018" y="6287"/>
                  <a:pt x="16637" y="4953"/>
                  <a:pt x="16637" y="3112"/>
                </a:cubicBezTo>
                <a:cubicBezTo>
                  <a:pt x="16637" y="1334"/>
                  <a:pt x="13018" y="0"/>
                  <a:pt x="8319" y="0"/>
                </a:cubicBezTo>
                <a:close/>
                <a:moveTo>
                  <a:pt x="0" y="3112"/>
                </a:moveTo>
                <a:lnTo>
                  <a:pt x="0" y="11494"/>
                </a:lnTo>
                <a:cubicBezTo>
                  <a:pt x="0" y="13272"/>
                  <a:pt x="3620" y="14605"/>
                  <a:pt x="8319" y="14605"/>
                </a:cubicBezTo>
                <a:cubicBezTo>
                  <a:pt x="13018" y="14605"/>
                  <a:pt x="16637" y="13272"/>
                  <a:pt x="16637" y="11494"/>
                </a:cubicBezTo>
                <a:lnTo>
                  <a:pt x="16637" y="3112"/>
                </a:lnTo>
              </a:path>
            </a:pathLst>
          </a:custGeom>
          <a:noFill/>
          <a:ln w="2604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85" name="m-c21_bcg-stn-2"/>
          <p:cNvSpPr txBox="1"/>
          <p:nvPr/>
        </p:nvSpPr>
        <p:spPr>
          <a:xfrm>
            <a:off x="12146947" y="1727013"/>
            <a:ext cx="102187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31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金牛</a:t>
            </a:r>
          </a:p>
        </p:txBody>
      </p:sp>
      <p:sp>
        <p:nvSpPr>
          <p:cNvPr id="886" name="m-c21_bcg-sts-2"/>
          <p:cNvSpPr txBox="1"/>
          <p:nvPr/>
        </p:nvSpPr>
        <p:spPr>
          <a:xfrm>
            <a:off x="12260069" y="1739071"/>
            <a:ext cx="229043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3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稳住利润，回收现金</a:t>
            </a:r>
          </a:p>
        </p:txBody>
      </p:sp>
      <p:sp>
        <p:nvSpPr>
          <p:cNvPr id="887" name="m-c21_bcg-stw-2"/>
          <p:cNvSpPr txBox="1"/>
          <p:nvPr/>
        </p:nvSpPr>
        <p:spPr>
          <a:xfrm>
            <a:off x="12148196" y="1799755"/>
            <a:ext cx="109998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企业软件</a:t>
            </a:r>
          </a:p>
        </p:txBody>
      </p:sp>
      <p:sp>
        <p:nvSpPr>
          <p:cNvPr id="888" name="m-c21_bcg-st-3"/>
          <p:cNvSpPr/>
          <p:nvPr/>
        </p:nvSpPr>
        <p:spPr>
          <a:xfrm>
            <a:off x="12028488" y="1889570"/>
            <a:ext cx="676910" cy="177038"/>
          </a:xfrm>
          <a:custGeom>
            <a:avLst/>
            <a:gdLst/>
            <a:ahLst/>
            <a:cxnLst/>
            <a:rect l="0" t="0" r="r" b="b"/>
            <a:pathLst>
              <a:path w="676910" h="177038">
                <a:moveTo>
                  <a:pt x="26035" y="0"/>
                </a:moveTo>
                <a:lnTo>
                  <a:pt x="650875" y="0"/>
                </a:lnTo>
                <a:cubicBezTo>
                  <a:pt x="665289" y="0"/>
                  <a:pt x="676910" y="11620"/>
                  <a:pt x="676910" y="26035"/>
                </a:cubicBezTo>
                <a:lnTo>
                  <a:pt x="676910" y="151003"/>
                </a:lnTo>
                <a:cubicBezTo>
                  <a:pt x="676910" y="165418"/>
                  <a:pt x="665289" y="177038"/>
                  <a:pt x="650875" y="177038"/>
                </a:cubicBezTo>
                <a:lnTo>
                  <a:pt x="26035" y="177038"/>
                </a:lnTo>
                <a:cubicBezTo>
                  <a:pt x="11620" y="177038"/>
                  <a:pt x="0" y="165418"/>
                  <a:pt x="0" y="151003"/>
                </a:cubicBezTo>
                <a:lnTo>
                  <a:pt x="0" y="26035"/>
                </a:lnTo>
                <a:cubicBezTo>
                  <a:pt x="0" y="11620"/>
                  <a:pt x="11620" y="0"/>
                  <a:pt x="260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89" name="m-c21_bcg-stb-3"/>
          <p:cNvSpPr/>
          <p:nvPr/>
        </p:nvSpPr>
        <p:spPr>
          <a:xfrm>
            <a:off x="12028488" y="1889570"/>
            <a:ext cx="7811" cy="177038"/>
          </a:xfrm>
          <a:custGeom>
            <a:avLst/>
            <a:gdLst/>
            <a:ahLst/>
            <a:cxnLst/>
            <a:rect l="0" t="0" r="r" b="b"/>
            <a:pathLst>
              <a:path w="7811" h="177038">
                <a:moveTo>
                  <a:pt x="3937" y="0"/>
                </a:moveTo>
                <a:lnTo>
                  <a:pt x="3937" y="0"/>
                </a:lnTo>
                <a:cubicBezTo>
                  <a:pt x="6096" y="0"/>
                  <a:pt x="7811" y="1714"/>
                  <a:pt x="7811" y="3937"/>
                </a:cubicBezTo>
                <a:lnTo>
                  <a:pt x="7811" y="173101"/>
                </a:lnTo>
                <a:cubicBezTo>
                  <a:pt x="7811" y="175324"/>
                  <a:pt x="6096" y="177038"/>
                  <a:pt x="3937" y="177038"/>
                </a:cubicBezTo>
                <a:lnTo>
                  <a:pt x="3937" y="177038"/>
                </a:lnTo>
                <a:cubicBezTo>
                  <a:pt x="1714" y="177038"/>
                  <a:pt x="0" y="175324"/>
                  <a:pt x="0" y="173101"/>
                </a:cubicBezTo>
                <a:lnTo>
                  <a:pt x="0" y="3937"/>
                </a:lnTo>
                <a:cubicBezTo>
                  <a:pt x="0" y="1714"/>
                  <a:pt x="1714" y="0"/>
                  <a:pt x="3937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90" name="m-c21_bcg-chip"/>
          <p:cNvSpPr/>
          <p:nvPr/>
        </p:nvSpPr>
        <p:spPr>
          <a:xfrm>
            <a:off x="12062333" y="1920812"/>
            <a:ext cx="67691" cy="6769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91" name="m-c21_bcg-chip-ring"/>
          <p:cNvSpPr/>
          <p:nvPr/>
        </p:nvSpPr>
        <p:spPr>
          <a:xfrm>
            <a:off x="12062333" y="1920812"/>
            <a:ext cx="67691" cy="67691"/>
          </a:xfrm>
          <a:prstGeom prst="ellipse">
            <a:avLst/>
          </a:prstGeom>
          <a:noFill/>
          <a:ln w="2540" cap="rnd">
            <a:solidFill>
              <a:srgbClr val="3985CD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92" name="m-c21_bcg-icon-search"/>
          <p:cNvSpPr/>
          <p:nvPr/>
        </p:nvSpPr>
        <p:spPr>
          <a:xfrm>
            <a:off x="12100624" y="1959102"/>
            <a:ext cx="5207" cy="5207"/>
          </a:xfrm>
          <a:custGeom>
            <a:avLst/>
            <a:gdLst/>
            <a:ahLst/>
            <a:cxnLst/>
            <a:rect l="0" t="0" r="r" b="b"/>
            <a:pathLst>
              <a:path w="5207" h="5207">
                <a:moveTo>
                  <a:pt x="5207" y="5207"/>
                </a:moveTo>
                <a:lnTo>
                  <a:pt x="0" y="0"/>
                </a:lnTo>
              </a:path>
            </a:pathLst>
          </a:custGeom>
          <a:noFill/>
          <a:ln w="2604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93" name="m-c21_bcg-icon-search"/>
          <p:cNvSpPr/>
          <p:nvPr/>
        </p:nvSpPr>
        <p:spPr>
          <a:xfrm>
            <a:off x="12086546" y="1945024"/>
            <a:ext cx="16662" cy="16662"/>
          </a:xfrm>
          <a:prstGeom prst="ellipse">
            <a:avLst/>
          </a:prstGeom>
          <a:noFill/>
          <a:ln w="2604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94" name="m-c21_bcg-stn-3"/>
          <p:cNvSpPr txBox="1"/>
          <p:nvPr/>
        </p:nvSpPr>
        <p:spPr>
          <a:xfrm>
            <a:off x="12146947" y="1924879"/>
            <a:ext cx="102187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31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问号</a:t>
            </a:r>
          </a:p>
        </p:txBody>
      </p:sp>
      <p:sp>
        <p:nvSpPr>
          <p:cNvPr id="895" name="m-c21_bcg-sts-3"/>
          <p:cNvSpPr txBox="1"/>
          <p:nvPr/>
        </p:nvSpPr>
        <p:spPr>
          <a:xfrm>
            <a:off x="12260069" y="1936937"/>
            <a:ext cx="27538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3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选择性下注，一年后复盘</a:t>
            </a:r>
          </a:p>
        </p:txBody>
      </p:sp>
      <p:sp>
        <p:nvSpPr>
          <p:cNvPr id="896" name="m-c21_bcg-stw-3"/>
          <p:cNvSpPr txBox="1"/>
          <p:nvPr/>
        </p:nvSpPr>
        <p:spPr>
          <a:xfrm>
            <a:off x="12148196" y="1997621"/>
            <a:ext cx="222599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数据服务、智能硬件</a:t>
            </a:r>
          </a:p>
        </p:txBody>
      </p:sp>
      <p:sp>
        <p:nvSpPr>
          <p:cNvPr id="897" name="m-c21_bcg-st-4"/>
          <p:cNvSpPr/>
          <p:nvPr/>
        </p:nvSpPr>
        <p:spPr>
          <a:xfrm>
            <a:off x="12028488" y="2087436"/>
            <a:ext cx="676910" cy="177038"/>
          </a:xfrm>
          <a:custGeom>
            <a:avLst/>
            <a:gdLst/>
            <a:ahLst/>
            <a:cxnLst/>
            <a:rect l="0" t="0" r="r" b="b"/>
            <a:pathLst>
              <a:path w="676910" h="177038">
                <a:moveTo>
                  <a:pt x="26035" y="0"/>
                </a:moveTo>
                <a:lnTo>
                  <a:pt x="650875" y="0"/>
                </a:lnTo>
                <a:cubicBezTo>
                  <a:pt x="665289" y="0"/>
                  <a:pt x="676910" y="11620"/>
                  <a:pt x="676910" y="26035"/>
                </a:cubicBezTo>
                <a:lnTo>
                  <a:pt x="676910" y="151003"/>
                </a:lnTo>
                <a:cubicBezTo>
                  <a:pt x="676910" y="165417"/>
                  <a:pt x="665289" y="177038"/>
                  <a:pt x="650875" y="177038"/>
                </a:cubicBezTo>
                <a:lnTo>
                  <a:pt x="26035" y="177038"/>
                </a:lnTo>
                <a:cubicBezTo>
                  <a:pt x="11620" y="177038"/>
                  <a:pt x="0" y="165417"/>
                  <a:pt x="0" y="151003"/>
                </a:cubicBezTo>
                <a:lnTo>
                  <a:pt x="0" y="26035"/>
                </a:lnTo>
                <a:cubicBezTo>
                  <a:pt x="0" y="11620"/>
                  <a:pt x="11620" y="0"/>
                  <a:pt x="260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98" name="m-c21_bcg-stb-4"/>
          <p:cNvSpPr/>
          <p:nvPr/>
        </p:nvSpPr>
        <p:spPr>
          <a:xfrm>
            <a:off x="12028488" y="2087436"/>
            <a:ext cx="7811" cy="177038"/>
          </a:xfrm>
          <a:custGeom>
            <a:avLst/>
            <a:gdLst/>
            <a:ahLst/>
            <a:cxnLst/>
            <a:rect l="0" t="0" r="r" b="b"/>
            <a:pathLst>
              <a:path w="7811" h="177038">
                <a:moveTo>
                  <a:pt x="3937" y="0"/>
                </a:moveTo>
                <a:lnTo>
                  <a:pt x="3937" y="0"/>
                </a:lnTo>
                <a:cubicBezTo>
                  <a:pt x="6096" y="0"/>
                  <a:pt x="7811" y="1714"/>
                  <a:pt x="7811" y="3937"/>
                </a:cubicBezTo>
                <a:lnTo>
                  <a:pt x="7811" y="173164"/>
                </a:lnTo>
                <a:cubicBezTo>
                  <a:pt x="7811" y="175323"/>
                  <a:pt x="6096" y="177038"/>
                  <a:pt x="3937" y="177038"/>
                </a:cubicBezTo>
                <a:lnTo>
                  <a:pt x="3937" y="177038"/>
                </a:lnTo>
                <a:cubicBezTo>
                  <a:pt x="1714" y="177038"/>
                  <a:pt x="0" y="175323"/>
                  <a:pt x="0" y="173164"/>
                </a:cubicBezTo>
                <a:lnTo>
                  <a:pt x="0" y="3937"/>
                </a:lnTo>
                <a:cubicBezTo>
                  <a:pt x="0" y="1714"/>
                  <a:pt x="1714" y="0"/>
                  <a:pt x="3937" y="0"/>
                </a:cubicBezTo>
                <a:close/>
              </a:path>
            </a:pathLst>
          </a:custGeom>
          <a:solidFill>
            <a:srgbClr val="7E93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99" name="m-c21_bcg-chip"/>
          <p:cNvSpPr/>
          <p:nvPr/>
        </p:nvSpPr>
        <p:spPr>
          <a:xfrm>
            <a:off x="12062333" y="2118678"/>
            <a:ext cx="67691" cy="6769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00" name="m-c21_bcg-chip-ring"/>
          <p:cNvSpPr/>
          <p:nvPr/>
        </p:nvSpPr>
        <p:spPr>
          <a:xfrm>
            <a:off x="12062333" y="2118678"/>
            <a:ext cx="67691" cy="67691"/>
          </a:xfrm>
          <a:prstGeom prst="ellipse">
            <a:avLst/>
          </a:prstGeom>
          <a:noFill/>
          <a:ln w="2540" cap="rnd">
            <a:solidFill>
              <a:srgbClr val="7E93AE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01" name="m-c21_bcg-icon-clock"/>
          <p:cNvSpPr/>
          <p:nvPr/>
        </p:nvSpPr>
        <p:spPr>
          <a:xfrm>
            <a:off x="12096178" y="2146300"/>
            <a:ext cx="4191" cy="8700"/>
          </a:xfrm>
          <a:custGeom>
            <a:avLst/>
            <a:gdLst/>
            <a:ahLst/>
            <a:cxnLst/>
            <a:rect l="0" t="0" r="r" b="b"/>
            <a:pathLst>
              <a:path w="4191" h="8700">
                <a:moveTo>
                  <a:pt x="0" y="0"/>
                </a:moveTo>
                <a:lnTo>
                  <a:pt x="0" y="6223"/>
                </a:lnTo>
                <a:lnTo>
                  <a:pt x="4191" y="8700"/>
                </a:lnTo>
              </a:path>
            </a:pathLst>
          </a:custGeom>
          <a:noFill/>
          <a:ln w="2604" cap="rnd">
            <a:solidFill>
              <a:srgbClr val="7E93AE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02" name="m-c21_bcg-icon-clock"/>
          <p:cNvSpPr/>
          <p:nvPr/>
        </p:nvSpPr>
        <p:spPr>
          <a:xfrm>
            <a:off x="12084983" y="2141328"/>
            <a:ext cx="22390" cy="22390"/>
          </a:xfrm>
          <a:prstGeom prst="ellipse">
            <a:avLst/>
          </a:prstGeom>
          <a:noFill/>
          <a:ln w="2604" cap="rnd">
            <a:solidFill>
              <a:srgbClr val="7E93AE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03" name="m-c21_bcg-stn-4"/>
          <p:cNvSpPr txBox="1"/>
          <p:nvPr/>
        </p:nvSpPr>
        <p:spPr>
          <a:xfrm>
            <a:off x="12146947" y="2122745"/>
            <a:ext cx="102187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31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瘦狗</a:t>
            </a:r>
          </a:p>
        </p:txBody>
      </p:sp>
      <p:sp>
        <p:nvSpPr>
          <p:cNvPr id="904" name="m-c21_bcg-sts-4"/>
          <p:cNvSpPr txBox="1"/>
          <p:nvPr/>
        </p:nvSpPr>
        <p:spPr>
          <a:xfrm>
            <a:off x="12260069" y="2134803"/>
            <a:ext cx="136358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3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收缩或出售</a:t>
            </a:r>
          </a:p>
        </p:txBody>
      </p:sp>
      <p:sp>
        <p:nvSpPr>
          <p:cNvPr id="905" name="m-c21_bcg-stw-4"/>
          <p:cNvSpPr txBox="1"/>
          <p:nvPr/>
        </p:nvSpPr>
        <p:spPr>
          <a:xfrm>
            <a:off x="12148196" y="2195487"/>
            <a:ext cx="222599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咨询服务、运维外包</a:t>
            </a:r>
          </a:p>
        </p:txBody>
      </p:sp>
      <p:sp>
        <p:nvSpPr>
          <p:cNvPr id="906" name="m-c21_bcg-sum"/>
          <p:cNvSpPr/>
          <p:nvPr/>
        </p:nvSpPr>
        <p:spPr>
          <a:xfrm>
            <a:off x="10596562" y="2381631"/>
            <a:ext cx="2108835" cy="83312"/>
          </a:xfrm>
          <a:custGeom>
            <a:avLst/>
            <a:gdLst/>
            <a:ahLst/>
            <a:cxnLst/>
            <a:rect l="0" t="0" r="r" b="b"/>
            <a:pathLst>
              <a:path w="2108835" h="83312">
                <a:moveTo>
                  <a:pt x="18224" y="0"/>
                </a:moveTo>
                <a:lnTo>
                  <a:pt x="2090610" y="0"/>
                </a:lnTo>
                <a:cubicBezTo>
                  <a:pt x="2100643" y="0"/>
                  <a:pt x="2108835" y="8192"/>
                  <a:pt x="2108835" y="18225"/>
                </a:cubicBezTo>
                <a:lnTo>
                  <a:pt x="2108835" y="65088"/>
                </a:lnTo>
                <a:cubicBezTo>
                  <a:pt x="2108835" y="75120"/>
                  <a:pt x="2100643" y="83312"/>
                  <a:pt x="2090610" y="83312"/>
                </a:cubicBezTo>
                <a:lnTo>
                  <a:pt x="18224" y="83312"/>
                </a:lnTo>
                <a:cubicBezTo>
                  <a:pt x="8191" y="83312"/>
                  <a:pt x="0" y="75120"/>
                  <a:pt x="0" y="65088"/>
                </a:cubicBezTo>
                <a:lnTo>
                  <a:pt x="0" y="18225"/>
                </a:lnTo>
                <a:cubicBezTo>
                  <a:pt x="0" y="8192"/>
                  <a:pt x="8191" y="0"/>
                  <a:pt x="18224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07" name="m-c21_bcg-sum-bar"/>
          <p:cNvSpPr/>
          <p:nvPr/>
        </p:nvSpPr>
        <p:spPr>
          <a:xfrm>
            <a:off x="10596562" y="2381631"/>
            <a:ext cx="6509" cy="83312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08" name="m-c21_bcg-sum-h"/>
          <p:cNvSpPr txBox="1"/>
          <p:nvPr/>
        </p:nvSpPr>
        <p:spPr>
          <a:xfrm>
            <a:off x="10635563" y="2407673"/>
            <a:ext cx="118850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资源配置</a:t>
            </a:r>
          </a:p>
        </p:txBody>
      </p:sp>
      <p:sp>
        <p:nvSpPr>
          <p:cNvPr id="909" name="m-c21_bcg-sum-p"/>
          <p:cNvSpPr txBox="1"/>
          <p:nvPr/>
        </p:nvSpPr>
        <p:spPr>
          <a:xfrm>
            <a:off x="10789091" y="2406869"/>
            <a:ext cx="101894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金牛业务的现金流反哺明星与问号；两条瘦狗业务明年内完成剥离，释放约 120 人投入云服务。</a:t>
            </a:r>
          </a:p>
        </p:txBody>
      </p:sp>
      <p:cxnSp>
        <p:nvCxnSpPr>
          <p:cNvPr id="910" name="m-c21_bcg-foot-line"/>
          <p:cNvCxnSpPr/>
          <p:nvPr/>
        </p:nvCxnSpPr>
        <p:spPr>
          <a:xfrm>
            <a:off x="10521061" y="24935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1" name="m-c21_bcg-foot-l"/>
          <p:cNvSpPr txBox="1"/>
          <p:nvPr/>
        </p:nvSpPr>
        <p:spPr>
          <a:xfrm>
            <a:off x="10518874" y="2507523"/>
            <a:ext cx="25464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波士顿矩阵 · 六条业务线</a:t>
            </a:r>
          </a:p>
        </p:txBody>
      </p:sp>
      <p:sp>
        <p:nvSpPr>
          <p:cNvPr id="912" name="m-c21_bcg-foot-r"/>
          <p:cNvSpPr txBox="1"/>
          <p:nvPr/>
        </p:nvSpPr>
        <p:spPr>
          <a:xfrm>
            <a:off x="12523309" y="25075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913" name="mini-card-s12_petal_core"/>
          <p:cNvSpPr/>
          <p:nvPr/>
        </p:nvSpPr>
        <p:spPr>
          <a:xfrm>
            <a:off x="-444500" y="27178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1" y="0"/>
                </a:moveTo>
                <a:lnTo>
                  <a:pt x="2419160" y="0"/>
                </a:lnTo>
                <a:cubicBezTo>
                  <a:pt x="2463482" y="0"/>
                  <a:pt x="2499360" y="35877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2" y="1405890"/>
                  <a:pt x="2419160" y="1405890"/>
                </a:cubicBezTo>
                <a:lnTo>
                  <a:pt x="80201" y="1405890"/>
                </a:lnTo>
                <a:cubicBezTo>
                  <a:pt x="35878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7"/>
                  <a:pt x="35878" y="0"/>
                  <a:pt x="80201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14" name="m-s12_petal_core-title-bar"/>
          <p:cNvSpPr/>
          <p:nvPr/>
        </p:nvSpPr>
        <p:spPr>
          <a:xfrm>
            <a:off x="-324739" y="28167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15" name="m-s12_petal_core-title-bar-accent"/>
          <p:cNvSpPr/>
          <p:nvPr/>
        </p:nvSpPr>
        <p:spPr>
          <a:xfrm>
            <a:off x="-324739" y="28167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16" name="m-s12_petal_core-title-cn"/>
          <p:cNvSpPr txBox="1"/>
          <p:nvPr/>
        </p:nvSpPr>
        <p:spPr>
          <a:xfrm>
            <a:off x="-292560" y="2799368"/>
            <a:ext cx="426453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六大核心能力</a:t>
            </a:r>
          </a:p>
        </p:txBody>
      </p:sp>
      <p:sp>
        <p:nvSpPr>
          <p:cNvPr id="917" name="m-s12_petal_core-title-en"/>
          <p:cNvSpPr txBox="1"/>
          <p:nvPr/>
        </p:nvSpPr>
        <p:spPr>
          <a:xfrm>
            <a:off x="-285270" y="2886650"/>
            <a:ext cx="40841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CORE CAPABILITY MODEL</a:t>
            </a:r>
          </a:p>
        </p:txBody>
      </p:sp>
      <p:sp>
        <p:nvSpPr>
          <p:cNvPr id="918" name="m-s12_petal_core-title-sub"/>
          <p:cNvSpPr txBox="1"/>
          <p:nvPr/>
        </p:nvSpPr>
        <p:spPr>
          <a:xfrm>
            <a:off x="1332050" y="2855792"/>
            <a:ext cx="605704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围绕客户价值中枢展开的六项能力，互为支撑、循环增强</a:t>
            </a:r>
          </a:p>
        </p:txBody>
      </p:sp>
      <p:sp>
        <p:nvSpPr>
          <p:cNvPr id="919" name="m-s12_petal_core-guide"/>
          <p:cNvSpPr/>
          <p:nvPr/>
        </p:nvSpPr>
        <p:spPr>
          <a:xfrm>
            <a:off x="362585" y="3035427"/>
            <a:ext cx="885190" cy="885190"/>
          </a:xfrm>
          <a:prstGeom prst="ellipse">
            <a:avLst/>
          </a:prstGeom>
          <a:noFill/>
          <a:ln w="2540" cap="rnd">
            <a:solidFill>
              <a:srgbClr val="0B2545">
                <a:alpha val="9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20" name="m-s12_petal_core-petal-1"/>
          <p:cNvSpPr/>
          <p:nvPr/>
        </p:nvSpPr>
        <p:spPr>
          <a:xfrm>
            <a:off x="680648" y="3093688"/>
            <a:ext cx="249065" cy="217329"/>
          </a:xfrm>
          <a:custGeom>
            <a:avLst/>
            <a:gdLst/>
            <a:ahLst/>
            <a:cxnLst/>
            <a:rect l="0" t="0" r="r" b="b"/>
            <a:pathLst>
              <a:path w="249065" h="217329">
                <a:moveTo>
                  <a:pt x="39442" y="217329"/>
                </a:moveTo>
                <a:cubicBezTo>
                  <a:pt x="-70984" y="166021"/>
                  <a:pt x="85162" y="6191"/>
                  <a:pt x="85162" y="6191"/>
                </a:cubicBezTo>
                <a:quadBezTo>
                  <a:pt x="124532" y="-6191"/>
                  <a:pt x="163902" y="6191"/>
                </a:quadBezTo>
                <a:cubicBezTo>
                  <a:pt x="163902" y="6191"/>
                  <a:pt x="320049" y="166021"/>
                  <a:pt x="209622" y="217329"/>
                </a:cubicBezTo>
                <a:quadBezTo>
                  <a:pt x="124532" y="208121"/>
                  <a:pt x="39442" y="217329"/>
                </a:quadBezTo>
                <a:close/>
              </a:path>
            </a:pathLst>
          </a:custGeom>
          <a:gradFill rotWithShape="1">
            <a:gsLst>
              <a:gs pos="0">
                <a:srgbClr val="3761A3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21" name="m-s12_petal_core-icon-rocket"/>
          <p:cNvSpPr/>
          <p:nvPr/>
        </p:nvSpPr>
        <p:spPr>
          <a:xfrm>
            <a:off x="790829" y="3169920"/>
            <a:ext cx="28639" cy="36068"/>
          </a:xfrm>
          <a:custGeom>
            <a:avLst/>
            <a:gdLst/>
            <a:ahLst/>
            <a:cxnLst/>
            <a:rect l="0" t="0" r="r" b="b"/>
            <a:pathLst>
              <a:path w="28639" h="36068">
                <a:moveTo>
                  <a:pt x="14351" y="0"/>
                </a:moveTo>
                <a:cubicBezTo>
                  <a:pt x="20828" y="4762"/>
                  <a:pt x="24320" y="12192"/>
                  <a:pt x="24320" y="20003"/>
                </a:cubicBezTo>
                <a:lnTo>
                  <a:pt x="19558" y="27813"/>
                </a:lnTo>
                <a:lnTo>
                  <a:pt x="9144" y="27813"/>
                </a:lnTo>
                <a:lnTo>
                  <a:pt x="4381" y="20003"/>
                </a:lnTo>
                <a:cubicBezTo>
                  <a:pt x="4381" y="12192"/>
                  <a:pt x="7810" y="4762"/>
                  <a:pt x="14351" y="0"/>
                </a:cubicBezTo>
                <a:close/>
                <a:moveTo>
                  <a:pt x="4381" y="26035"/>
                </a:moveTo>
                <a:lnTo>
                  <a:pt x="0" y="36068"/>
                </a:lnTo>
                <a:lnTo>
                  <a:pt x="9144" y="32575"/>
                </a:lnTo>
                <a:moveTo>
                  <a:pt x="24320" y="26035"/>
                </a:moveTo>
                <a:lnTo>
                  <a:pt x="28639" y="36068"/>
                </a:lnTo>
                <a:lnTo>
                  <a:pt x="19558" y="32575"/>
                </a:lnTo>
              </a:path>
            </a:pathLst>
          </a:custGeom>
          <a:noFill/>
          <a:ln w="286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22" name="m-s12_petal_core-pno-1"/>
          <p:cNvSpPr txBox="1"/>
          <p:nvPr/>
        </p:nvSpPr>
        <p:spPr>
          <a:xfrm>
            <a:off x="776255" y="3119819"/>
            <a:ext cx="57850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alpha val="5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01</a:t>
            </a:r>
          </a:p>
        </p:txBody>
      </p:sp>
      <p:cxnSp>
        <p:nvCxnSpPr>
          <p:cNvPr id="923" name="m-s12_petal_core-lead-1"/>
          <p:cNvCxnSpPr/>
          <p:nvPr/>
        </p:nvCxnSpPr>
        <p:spPr>
          <a:xfrm flipV="1">
            <a:off x="805180" y="3032824"/>
            <a:ext cx="0" cy="44259"/>
          </a:xfrm>
          <a:prstGeom prst="line">
            <a:avLst/>
          </a:prstGeom>
          <a:ln w="2540" cap="rnd">
            <a:solidFill>
              <a:srgbClr val="0B3E8F">
                <a:alpha val="5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24" name="m-s12_petal_core-leadd-1"/>
          <p:cNvSpPr/>
          <p:nvPr/>
        </p:nvSpPr>
        <p:spPr>
          <a:xfrm>
            <a:off x="799322" y="3026966"/>
            <a:ext cx="11716" cy="11716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25" name="m-s12_petal_core-pname-1"/>
          <p:cNvSpPr txBox="1"/>
          <p:nvPr/>
        </p:nvSpPr>
        <p:spPr>
          <a:xfrm>
            <a:off x="715750" y="2944161"/>
            <a:ext cx="178860" cy="59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70" b="1" i="0" u="none" strike="noStrike" kern="1200" cap="none" spc="26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战略咨询</a:t>
            </a:r>
          </a:p>
        </p:txBody>
      </p:sp>
      <p:sp>
        <p:nvSpPr>
          <p:cNvPr id="926" name="m-s12_petal_core-pnote-1"/>
          <p:cNvSpPr txBox="1"/>
          <p:nvPr/>
        </p:nvSpPr>
        <p:spPr>
          <a:xfrm>
            <a:off x="690073" y="2994275"/>
            <a:ext cx="230214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行业洞察与路径规划</a:t>
            </a:r>
          </a:p>
        </p:txBody>
      </p:sp>
      <p:sp>
        <p:nvSpPr>
          <p:cNvPr id="927" name="m-s12_petal_core-petal-2"/>
          <p:cNvSpPr/>
          <p:nvPr/>
        </p:nvSpPr>
        <p:spPr>
          <a:xfrm>
            <a:off x="907288" y="3242381"/>
            <a:ext cx="245047" cy="239670"/>
          </a:xfrm>
          <a:custGeom>
            <a:avLst/>
            <a:gdLst/>
            <a:ahLst/>
            <a:cxnLst/>
            <a:rect l="0" t="0" r="r" b="b"/>
            <a:pathLst>
              <a:path w="245047" h="239670">
                <a:moveTo>
                  <a:pt x="0" y="78415"/>
                </a:moveTo>
                <a:cubicBezTo>
                  <a:pt x="-10795" y="-42807"/>
                  <a:pt x="205740" y="12502"/>
                  <a:pt x="205740" y="12502"/>
                </a:cubicBezTo>
                <a:quadBezTo>
                  <a:pt x="236093" y="40378"/>
                  <a:pt x="245047" y="80637"/>
                </a:quadBezTo>
                <a:cubicBezTo>
                  <a:pt x="245047" y="80637"/>
                  <a:pt x="184722" y="295839"/>
                  <a:pt x="85090" y="225798"/>
                </a:cubicBezTo>
                <a:quadBezTo>
                  <a:pt x="50483" y="147566"/>
                  <a:pt x="0" y="78415"/>
                </a:quadBezTo>
                <a:close/>
              </a:path>
            </a:pathLst>
          </a:custGeom>
          <a:gradFill rotWithShape="1">
            <a:gsLst>
              <a:gs pos="0">
                <a:srgbClr val="3D6CAE"/>
              </a:gs>
              <a:gs pos="100000">
                <a:srgbClr val="134C9C"/>
              </a:gs>
            </a:gsLst>
            <a:lin ang="36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28" name="m-s12_petal_core-icon-code"/>
          <p:cNvSpPr/>
          <p:nvPr/>
        </p:nvSpPr>
        <p:spPr>
          <a:xfrm>
            <a:off x="1039368" y="3324860"/>
            <a:ext cx="32131" cy="17336"/>
          </a:xfrm>
          <a:custGeom>
            <a:avLst/>
            <a:gdLst/>
            <a:ahLst/>
            <a:cxnLst/>
            <a:rect l="0" t="0" r="r" b="b"/>
            <a:pathLst>
              <a:path w="32131" h="17336">
                <a:moveTo>
                  <a:pt x="9588" y="0"/>
                </a:moveTo>
                <a:lnTo>
                  <a:pt x="0" y="8700"/>
                </a:lnTo>
                <a:lnTo>
                  <a:pt x="9588" y="17336"/>
                </a:lnTo>
                <a:moveTo>
                  <a:pt x="22606" y="0"/>
                </a:moveTo>
                <a:lnTo>
                  <a:pt x="32131" y="8700"/>
                </a:lnTo>
                <a:lnTo>
                  <a:pt x="22606" y="17336"/>
                </a:lnTo>
              </a:path>
            </a:pathLst>
          </a:custGeom>
          <a:noFill/>
          <a:ln w="286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29" name="m-s12_petal_core-pno-2"/>
          <p:cNvSpPr txBox="1"/>
          <p:nvPr/>
        </p:nvSpPr>
        <p:spPr>
          <a:xfrm>
            <a:off x="1064856" y="3286443"/>
            <a:ext cx="57850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alpha val="5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02</a:t>
            </a:r>
          </a:p>
        </p:txBody>
      </p:sp>
      <p:cxnSp>
        <p:nvCxnSpPr>
          <p:cNvPr id="930" name="m-s12_petal_core-lead-2"/>
          <p:cNvCxnSpPr/>
          <p:nvPr/>
        </p:nvCxnSpPr>
        <p:spPr>
          <a:xfrm flipV="1">
            <a:off x="1152403" y="3255423"/>
            <a:ext cx="38330" cy="22129"/>
          </a:xfrm>
          <a:prstGeom prst="line">
            <a:avLst/>
          </a:prstGeom>
          <a:ln w="2540" cap="rnd">
            <a:solidFill>
              <a:srgbClr val="134C9C">
                <a:alpha val="5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31" name="m-s12_petal_core-leadd-2"/>
          <p:cNvSpPr/>
          <p:nvPr/>
        </p:nvSpPr>
        <p:spPr>
          <a:xfrm>
            <a:off x="1184875" y="3249565"/>
            <a:ext cx="11716" cy="11716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32" name="m-s12_petal_core-pname-2"/>
          <p:cNvSpPr txBox="1"/>
          <p:nvPr/>
        </p:nvSpPr>
        <p:spPr>
          <a:xfrm>
            <a:off x="1220679" y="3201908"/>
            <a:ext cx="178860" cy="59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70" b="1" i="0" u="none" strike="noStrike" kern="1200" cap="none" spc="26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产品研发</a:t>
            </a:r>
          </a:p>
        </p:txBody>
      </p:sp>
      <p:sp>
        <p:nvSpPr>
          <p:cNvPr id="933" name="m-s12_petal_core-pnote-2"/>
          <p:cNvSpPr txBox="1"/>
          <p:nvPr/>
        </p:nvSpPr>
        <p:spPr>
          <a:xfrm>
            <a:off x="1222007" y="3254625"/>
            <a:ext cx="230214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自研引擎与快速迭代</a:t>
            </a:r>
          </a:p>
        </p:txBody>
      </p:sp>
      <p:sp>
        <p:nvSpPr>
          <p:cNvPr id="934" name="m-s12_petal_core-petal-3"/>
          <p:cNvSpPr/>
          <p:nvPr/>
        </p:nvSpPr>
        <p:spPr>
          <a:xfrm>
            <a:off x="907288" y="3473993"/>
            <a:ext cx="245047" cy="239670"/>
          </a:xfrm>
          <a:custGeom>
            <a:avLst/>
            <a:gdLst/>
            <a:ahLst/>
            <a:cxnLst/>
            <a:rect l="0" t="0" r="r" b="b"/>
            <a:pathLst>
              <a:path w="245047" h="239670">
                <a:moveTo>
                  <a:pt x="85090" y="13872"/>
                </a:moveTo>
                <a:cubicBezTo>
                  <a:pt x="184722" y="-56169"/>
                  <a:pt x="245047" y="159033"/>
                  <a:pt x="245047" y="159033"/>
                </a:cubicBezTo>
                <a:quadBezTo>
                  <a:pt x="236093" y="199292"/>
                  <a:pt x="205740" y="227168"/>
                </a:quadBezTo>
                <a:cubicBezTo>
                  <a:pt x="205740" y="227168"/>
                  <a:pt x="-10795" y="282477"/>
                  <a:pt x="0" y="161255"/>
                </a:cubicBezTo>
                <a:quadBezTo>
                  <a:pt x="50483" y="92104"/>
                  <a:pt x="85090" y="13872"/>
                </a:quadBezTo>
                <a:close/>
              </a:path>
            </a:pathLst>
          </a:custGeom>
          <a:gradFill rotWithShape="1">
            <a:gsLst>
              <a:gs pos="0">
                <a:srgbClr val="4B83C3"/>
              </a:gs>
              <a:gs pos="100000">
                <a:srgbClr val="2468B6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35" name="m-s12_petal_core-icon-process"/>
          <p:cNvSpPr/>
          <p:nvPr/>
        </p:nvSpPr>
        <p:spPr>
          <a:xfrm>
            <a:off x="1039368" y="3613848"/>
            <a:ext cx="32131" cy="17336"/>
          </a:xfrm>
          <a:custGeom>
            <a:avLst/>
            <a:gdLst/>
            <a:ahLst/>
            <a:cxnLst/>
            <a:rect l="0" t="0" r="r" b="b"/>
            <a:pathLst>
              <a:path w="32131" h="17336">
                <a:moveTo>
                  <a:pt x="0" y="0"/>
                </a:moveTo>
                <a:lnTo>
                  <a:pt x="11303" y="0"/>
                </a:lnTo>
                <a:lnTo>
                  <a:pt x="11303" y="11239"/>
                </a:lnTo>
                <a:lnTo>
                  <a:pt x="0" y="11239"/>
                </a:lnTo>
                <a:close/>
                <a:moveTo>
                  <a:pt x="20828" y="6096"/>
                </a:moveTo>
                <a:lnTo>
                  <a:pt x="32131" y="6096"/>
                </a:lnTo>
                <a:lnTo>
                  <a:pt x="32131" y="17336"/>
                </a:lnTo>
                <a:lnTo>
                  <a:pt x="20828" y="17336"/>
                </a:lnTo>
                <a:close/>
                <a:moveTo>
                  <a:pt x="11303" y="5651"/>
                </a:moveTo>
                <a:lnTo>
                  <a:pt x="20828" y="5651"/>
                </a:lnTo>
              </a:path>
            </a:pathLst>
          </a:custGeom>
          <a:noFill/>
          <a:ln w="286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36" name="m-s12_petal_core-pno-3"/>
          <p:cNvSpPr txBox="1"/>
          <p:nvPr/>
        </p:nvSpPr>
        <p:spPr>
          <a:xfrm>
            <a:off x="1064856" y="3619691"/>
            <a:ext cx="57850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alpha val="5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03</a:t>
            </a:r>
          </a:p>
        </p:txBody>
      </p:sp>
      <p:cxnSp>
        <p:nvCxnSpPr>
          <p:cNvPr id="937" name="m-s12_petal_core-lead-3"/>
          <p:cNvCxnSpPr/>
          <p:nvPr/>
        </p:nvCxnSpPr>
        <p:spPr>
          <a:xfrm>
            <a:off x="1152403" y="3678492"/>
            <a:ext cx="38330" cy="22129"/>
          </a:xfrm>
          <a:prstGeom prst="line">
            <a:avLst/>
          </a:prstGeom>
          <a:ln w="2540" cap="rnd">
            <a:solidFill>
              <a:srgbClr val="2468B6">
                <a:alpha val="5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38" name="m-s12_petal_core-leadd-3"/>
          <p:cNvSpPr/>
          <p:nvPr/>
        </p:nvSpPr>
        <p:spPr>
          <a:xfrm>
            <a:off x="1184875" y="3694763"/>
            <a:ext cx="11716" cy="11716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39" name="m-s12_petal_core-pname-3"/>
          <p:cNvSpPr txBox="1"/>
          <p:nvPr/>
        </p:nvSpPr>
        <p:spPr>
          <a:xfrm>
            <a:off x="1220679" y="3665331"/>
            <a:ext cx="178860" cy="59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70" b="1" i="0" u="none" strike="noStrike" kern="1200" cap="none" spc="26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交付实施</a:t>
            </a:r>
          </a:p>
        </p:txBody>
      </p:sp>
      <p:sp>
        <p:nvSpPr>
          <p:cNvPr id="940" name="m-s12_petal_core-pnote-3"/>
          <p:cNvSpPr txBox="1"/>
          <p:nvPr/>
        </p:nvSpPr>
        <p:spPr>
          <a:xfrm>
            <a:off x="1222007" y="3718048"/>
            <a:ext cx="206913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标准化实施方法论</a:t>
            </a:r>
          </a:p>
        </p:txBody>
      </p:sp>
      <p:sp>
        <p:nvSpPr>
          <p:cNvPr id="941" name="m-s12_petal_core-petal-4"/>
          <p:cNvSpPr/>
          <p:nvPr/>
        </p:nvSpPr>
        <p:spPr>
          <a:xfrm>
            <a:off x="680648" y="3645027"/>
            <a:ext cx="249065" cy="217329"/>
          </a:xfrm>
          <a:custGeom>
            <a:avLst/>
            <a:gdLst/>
            <a:ahLst/>
            <a:cxnLst/>
            <a:rect l="0" t="0" r="r" b="b"/>
            <a:pathLst>
              <a:path w="249065" h="217329">
                <a:moveTo>
                  <a:pt x="209622" y="0"/>
                </a:moveTo>
                <a:cubicBezTo>
                  <a:pt x="320049" y="51308"/>
                  <a:pt x="163902" y="211138"/>
                  <a:pt x="163902" y="211138"/>
                </a:cubicBezTo>
                <a:quadBezTo>
                  <a:pt x="124532" y="223520"/>
                  <a:pt x="85162" y="211138"/>
                </a:quadBezTo>
                <a:cubicBezTo>
                  <a:pt x="85162" y="211138"/>
                  <a:pt x="-70984" y="51308"/>
                  <a:pt x="39442" y="0"/>
                </a:cubicBezTo>
                <a:quadBezTo>
                  <a:pt x="124532" y="9208"/>
                  <a:pt x="209622" y="0"/>
                </a:quadBezTo>
                <a:close/>
              </a:path>
            </a:pathLst>
          </a:custGeom>
          <a:gradFill rotWithShape="1">
            <a:gsLst>
              <a:gs pos="0">
                <a:srgbClr val="548FCD"/>
              </a:gs>
              <a:gs pos="100000">
                <a:srgbClr val="2E77C2"/>
              </a:gs>
            </a:gsLst>
            <a:lin ang="108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42" name="m-s12_petal_core-icon-hand"/>
          <p:cNvSpPr/>
          <p:nvPr/>
        </p:nvSpPr>
        <p:spPr>
          <a:xfrm>
            <a:off x="788761" y="3748342"/>
            <a:ext cx="29437" cy="37338"/>
          </a:xfrm>
          <a:custGeom>
            <a:avLst/>
            <a:gdLst/>
            <a:ahLst/>
            <a:cxnLst/>
            <a:rect l="0" t="0" r="r" b="b"/>
            <a:pathLst>
              <a:path w="29437" h="37338">
                <a:moveTo>
                  <a:pt x="8609" y="19939"/>
                </a:moveTo>
                <a:lnTo>
                  <a:pt x="8609" y="6096"/>
                </a:lnTo>
                <a:cubicBezTo>
                  <a:pt x="8609" y="4191"/>
                  <a:pt x="10133" y="2604"/>
                  <a:pt x="12101" y="2604"/>
                </a:cubicBezTo>
                <a:cubicBezTo>
                  <a:pt x="14006" y="2604"/>
                  <a:pt x="15530" y="4191"/>
                  <a:pt x="15530" y="6096"/>
                </a:cubicBezTo>
                <a:lnTo>
                  <a:pt x="15530" y="16955"/>
                </a:lnTo>
                <a:moveTo>
                  <a:pt x="15530" y="16955"/>
                </a:moveTo>
                <a:lnTo>
                  <a:pt x="15530" y="3493"/>
                </a:lnTo>
                <a:cubicBezTo>
                  <a:pt x="15530" y="1588"/>
                  <a:pt x="17118" y="0"/>
                  <a:pt x="19023" y="0"/>
                </a:cubicBezTo>
                <a:cubicBezTo>
                  <a:pt x="20928" y="0"/>
                  <a:pt x="22515" y="1588"/>
                  <a:pt x="22515" y="3493"/>
                </a:cubicBezTo>
                <a:lnTo>
                  <a:pt x="22515" y="16955"/>
                </a:lnTo>
                <a:moveTo>
                  <a:pt x="22515" y="17780"/>
                </a:moveTo>
                <a:lnTo>
                  <a:pt x="22515" y="8700"/>
                </a:lnTo>
                <a:cubicBezTo>
                  <a:pt x="22515" y="6795"/>
                  <a:pt x="24039" y="5207"/>
                  <a:pt x="25944" y="5207"/>
                </a:cubicBezTo>
                <a:cubicBezTo>
                  <a:pt x="27913" y="5207"/>
                  <a:pt x="29437" y="6795"/>
                  <a:pt x="29437" y="8700"/>
                </a:cubicBezTo>
                <a:lnTo>
                  <a:pt x="29437" y="24765"/>
                </a:lnTo>
                <a:cubicBezTo>
                  <a:pt x="29437" y="31687"/>
                  <a:pt x="24230" y="37338"/>
                  <a:pt x="17308" y="37338"/>
                </a:cubicBezTo>
                <a:cubicBezTo>
                  <a:pt x="11657" y="37338"/>
                  <a:pt x="8609" y="34735"/>
                  <a:pt x="5561" y="30417"/>
                </a:cubicBezTo>
                <a:lnTo>
                  <a:pt x="354" y="22606"/>
                </a:lnTo>
                <a:cubicBezTo>
                  <a:pt x="-408" y="21019"/>
                  <a:pt x="100" y="19177"/>
                  <a:pt x="1497" y="18225"/>
                </a:cubicBezTo>
                <a:cubicBezTo>
                  <a:pt x="2894" y="17209"/>
                  <a:pt x="4799" y="17462"/>
                  <a:pt x="6005" y="18669"/>
                </a:cubicBezTo>
                <a:close/>
              </a:path>
            </a:pathLst>
          </a:custGeom>
          <a:noFill/>
          <a:ln w="286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43" name="m-s12_petal_core-pno-4"/>
          <p:cNvSpPr txBox="1"/>
          <p:nvPr/>
        </p:nvSpPr>
        <p:spPr>
          <a:xfrm>
            <a:off x="776255" y="3786315"/>
            <a:ext cx="57850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alpha val="5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04</a:t>
            </a:r>
          </a:p>
        </p:txBody>
      </p:sp>
      <p:cxnSp>
        <p:nvCxnSpPr>
          <p:cNvPr id="944" name="m-s12_petal_core-lead-4"/>
          <p:cNvCxnSpPr/>
          <p:nvPr/>
        </p:nvCxnSpPr>
        <p:spPr>
          <a:xfrm>
            <a:off x="805180" y="3878961"/>
            <a:ext cx="0" cy="44259"/>
          </a:xfrm>
          <a:prstGeom prst="line">
            <a:avLst/>
          </a:prstGeom>
          <a:ln w="2540" cap="rnd">
            <a:solidFill>
              <a:srgbClr val="2E77C2">
                <a:alpha val="5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45" name="m-s12_petal_core-leadd-4"/>
          <p:cNvSpPr/>
          <p:nvPr/>
        </p:nvSpPr>
        <p:spPr>
          <a:xfrm>
            <a:off x="799322" y="3917363"/>
            <a:ext cx="11716" cy="11716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46" name="m-s12_petal_core-pname-4"/>
          <p:cNvSpPr txBox="1"/>
          <p:nvPr/>
        </p:nvSpPr>
        <p:spPr>
          <a:xfrm>
            <a:off x="715750" y="3936095"/>
            <a:ext cx="178860" cy="59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70" b="1" i="0" u="none" strike="noStrike" kern="1200" cap="none" spc="26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运营服务</a:t>
            </a:r>
          </a:p>
        </p:txBody>
      </p:sp>
      <p:sp>
        <p:nvSpPr>
          <p:cNvPr id="947" name="m-s12_petal_core-pnote-4"/>
          <p:cNvSpPr txBox="1"/>
          <p:nvPr/>
        </p:nvSpPr>
        <p:spPr>
          <a:xfrm>
            <a:off x="701723" y="3986209"/>
            <a:ext cx="206913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全周期陪跑与优化</a:t>
            </a:r>
          </a:p>
        </p:txBody>
      </p:sp>
      <p:sp>
        <p:nvSpPr>
          <p:cNvPr id="948" name="m-s12_petal_core-petal-5"/>
          <p:cNvSpPr/>
          <p:nvPr/>
        </p:nvSpPr>
        <p:spPr>
          <a:xfrm>
            <a:off x="458026" y="3473993"/>
            <a:ext cx="245047" cy="239670"/>
          </a:xfrm>
          <a:custGeom>
            <a:avLst/>
            <a:gdLst/>
            <a:ahLst/>
            <a:cxnLst/>
            <a:rect l="0" t="0" r="r" b="b"/>
            <a:pathLst>
              <a:path w="245047" h="239670">
                <a:moveTo>
                  <a:pt x="245047" y="161255"/>
                </a:moveTo>
                <a:cubicBezTo>
                  <a:pt x="255842" y="282477"/>
                  <a:pt x="39306" y="227168"/>
                  <a:pt x="39306" y="227168"/>
                </a:cubicBezTo>
                <a:quadBezTo>
                  <a:pt x="8954" y="199292"/>
                  <a:pt x="0" y="159033"/>
                </a:quadBezTo>
                <a:cubicBezTo>
                  <a:pt x="0" y="159033"/>
                  <a:pt x="60325" y="-56169"/>
                  <a:pt x="159956" y="13872"/>
                </a:cubicBezTo>
                <a:quadBezTo>
                  <a:pt x="194564" y="92104"/>
                  <a:pt x="245047" y="161255"/>
                </a:quadBezTo>
                <a:close/>
              </a:path>
            </a:pathLst>
          </a:custGeom>
          <a:gradFill rotWithShape="1">
            <a:gsLst>
              <a:gs pos="0">
                <a:srgbClr val="67A7DE"/>
              </a:gs>
              <a:gs pos="100000">
                <a:srgbClr val="4694D7"/>
              </a:gs>
            </a:gsLst>
            <a:lin ang="14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49" name="m-s12_petal_core-icon-network"/>
          <p:cNvSpPr/>
          <p:nvPr/>
        </p:nvSpPr>
        <p:spPr>
          <a:xfrm>
            <a:off x="548386" y="3614738"/>
            <a:ext cx="13017" cy="15176"/>
          </a:xfrm>
          <a:custGeom>
            <a:avLst/>
            <a:gdLst/>
            <a:ahLst/>
            <a:cxnLst/>
            <a:rect l="0" t="0" r="r" b="b"/>
            <a:pathLst>
              <a:path w="13017" h="15176">
                <a:moveTo>
                  <a:pt x="6541" y="0"/>
                </a:moveTo>
                <a:lnTo>
                  <a:pt x="6541" y="6922"/>
                </a:lnTo>
                <a:moveTo>
                  <a:pt x="0" y="15176"/>
                </a:moveTo>
                <a:lnTo>
                  <a:pt x="4762" y="9525"/>
                </a:lnTo>
                <a:moveTo>
                  <a:pt x="13017" y="15176"/>
                </a:moveTo>
                <a:lnTo>
                  <a:pt x="8255" y="9525"/>
                </a:lnTo>
              </a:path>
            </a:pathLst>
          </a:custGeom>
          <a:noFill/>
          <a:ln w="286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50" name="m-s12_petal_core-icon-network"/>
          <p:cNvSpPr/>
          <p:nvPr/>
        </p:nvSpPr>
        <p:spPr>
          <a:xfrm>
            <a:off x="549268" y="3603858"/>
            <a:ext cx="11282" cy="11282"/>
          </a:xfrm>
          <a:prstGeom prst="ellipse">
            <a:avLst/>
          </a:prstGeom>
          <a:noFill/>
          <a:ln w="286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51" name="m-s12_petal_core-icon-network"/>
          <p:cNvSpPr/>
          <p:nvPr/>
        </p:nvSpPr>
        <p:spPr>
          <a:xfrm>
            <a:off x="538420" y="3628591"/>
            <a:ext cx="11282" cy="11282"/>
          </a:xfrm>
          <a:prstGeom prst="ellipse">
            <a:avLst/>
          </a:prstGeom>
          <a:noFill/>
          <a:ln w="286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52" name="m-s12_petal_core-icon-network"/>
          <p:cNvSpPr/>
          <p:nvPr/>
        </p:nvSpPr>
        <p:spPr>
          <a:xfrm>
            <a:off x="560116" y="3628591"/>
            <a:ext cx="11282" cy="11282"/>
          </a:xfrm>
          <a:prstGeom prst="ellipse">
            <a:avLst/>
          </a:prstGeom>
          <a:noFill/>
          <a:ln w="286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53" name="m-s12_petal_core-pno-5"/>
          <p:cNvSpPr txBox="1"/>
          <p:nvPr/>
        </p:nvSpPr>
        <p:spPr>
          <a:xfrm>
            <a:off x="487654" y="3619691"/>
            <a:ext cx="57850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alpha val="5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05</a:t>
            </a:r>
          </a:p>
        </p:txBody>
      </p:sp>
      <p:cxnSp>
        <p:nvCxnSpPr>
          <p:cNvPr id="954" name="m-s12_petal_core-lead-5"/>
          <p:cNvCxnSpPr/>
          <p:nvPr/>
        </p:nvCxnSpPr>
        <p:spPr>
          <a:xfrm flipH="1">
            <a:off x="419627" y="3678492"/>
            <a:ext cx="38330" cy="22129"/>
          </a:xfrm>
          <a:prstGeom prst="line">
            <a:avLst/>
          </a:prstGeom>
          <a:ln w="2540" cap="rnd">
            <a:solidFill>
              <a:srgbClr val="4694D7">
                <a:alpha val="5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55" name="m-s12_petal_core-leadd-5"/>
          <p:cNvSpPr/>
          <p:nvPr/>
        </p:nvSpPr>
        <p:spPr>
          <a:xfrm>
            <a:off x="413769" y="3694763"/>
            <a:ext cx="11716" cy="11716"/>
          </a:xfrm>
          <a:prstGeom prst="ellipse">
            <a:avLst/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56" name="m-s12_petal_core-pname-5"/>
          <p:cNvSpPr txBox="1"/>
          <p:nvPr/>
        </p:nvSpPr>
        <p:spPr>
          <a:xfrm>
            <a:off x="210820" y="3665331"/>
            <a:ext cx="178860" cy="59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70" b="1" i="0" u="none" strike="noStrike" kern="1200" cap="none" spc="26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生态协同</a:t>
            </a:r>
          </a:p>
        </p:txBody>
      </p:sp>
      <p:sp>
        <p:nvSpPr>
          <p:cNvPr id="957" name="m-s12_petal_core-pnote-5"/>
          <p:cNvSpPr txBox="1"/>
          <p:nvPr/>
        </p:nvSpPr>
        <p:spPr>
          <a:xfrm>
            <a:off x="181440" y="3718048"/>
            <a:ext cx="206913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伙伴共建行业方案</a:t>
            </a:r>
          </a:p>
        </p:txBody>
      </p:sp>
      <p:sp>
        <p:nvSpPr>
          <p:cNvPr id="958" name="m-s12_petal_core-petal-6"/>
          <p:cNvSpPr/>
          <p:nvPr/>
        </p:nvSpPr>
        <p:spPr>
          <a:xfrm>
            <a:off x="458026" y="3242381"/>
            <a:ext cx="245047" cy="239670"/>
          </a:xfrm>
          <a:custGeom>
            <a:avLst/>
            <a:gdLst/>
            <a:ahLst/>
            <a:cxnLst/>
            <a:rect l="0" t="0" r="r" b="b"/>
            <a:pathLst>
              <a:path w="245047" h="239670">
                <a:moveTo>
                  <a:pt x="159956" y="225798"/>
                </a:moveTo>
                <a:cubicBezTo>
                  <a:pt x="60325" y="295839"/>
                  <a:pt x="0" y="80637"/>
                  <a:pt x="0" y="80637"/>
                </a:cubicBezTo>
                <a:quadBezTo>
                  <a:pt x="8954" y="40378"/>
                  <a:pt x="39306" y="12502"/>
                </a:quadBezTo>
                <a:cubicBezTo>
                  <a:pt x="39306" y="12502"/>
                  <a:pt x="255842" y="-42807"/>
                  <a:pt x="245047" y="78415"/>
                </a:cubicBezTo>
                <a:quadBezTo>
                  <a:pt x="194564" y="147566"/>
                  <a:pt x="159956" y="225798"/>
                </a:quadBezTo>
                <a:close/>
              </a:path>
            </a:pathLst>
          </a:custGeom>
          <a:gradFill rotWithShape="1">
            <a:gsLst>
              <a:gs pos="0">
                <a:srgbClr val="73B3E5"/>
              </a:gs>
              <a:gs pos="100000">
                <a:srgbClr val="54A2DF"/>
              </a:gs>
            </a:gsLst>
            <a:lin ang="180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59" name="m-s12_petal_core-icon-db"/>
          <p:cNvSpPr/>
          <p:nvPr/>
        </p:nvSpPr>
        <p:spPr>
          <a:xfrm>
            <a:off x="538861" y="3314002"/>
            <a:ext cx="32131" cy="39052"/>
          </a:xfrm>
          <a:custGeom>
            <a:avLst/>
            <a:gdLst/>
            <a:ahLst/>
            <a:cxnLst/>
            <a:rect l="0" t="0" r="r" b="b"/>
            <a:pathLst>
              <a:path w="32131" h="39052">
                <a:moveTo>
                  <a:pt x="16066" y="9525"/>
                </a:moveTo>
                <a:cubicBezTo>
                  <a:pt x="24956" y="9525"/>
                  <a:pt x="32131" y="7366"/>
                  <a:pt x="32131" y="4762"/>
                </a:cubicBezTo>
                <a:cubicBezTo>
                  <a:pt x="32131" y="2159"/>
                  <a:pt x="24956" y="0"/>
                  <a:pt x="16066" y="0"/>
                </a:cubicBezTo>
                <a:cubicBezTo>
                  <a:pt x="7175" y="0"/>
                  <a:pt x="0" y="2159"/>
                  <a:pt x="0" y="4762"/>
                </a:cubicBezTo>
                <a:cubicBezTo>
                  <a:pt x="0" y="7366"/>
                  <a:pt x="7175" y="9525"/>
                  <a:pt x="16066" y="9525"/>
                </a:cubicBezTo>
                <a:close/>
                <a:moveTo>
                  <a:pt x="0" y="4762"/>
                </a:moveTo>
                <a:lnTo>
                  <a:pt x="0" y="34290"/>
                </a:lnTo>
                <a:cubicBezTo>
                  <a:pt x="0" y="36894"/>
                  <a:pt x="7175" y="39052"/>
                  <a:pt x="16066" y="39052"/>
                </a:cubicBezTo>
                <a:cubicBezTo>
                  <a:pt x="24956" y="39052"/>
                  <a:pt x="32131" y="36894"/>
                  <a:pt x="32131" y="34290"/>
                </a:cubicBezTo>
                <a:lnTo>
                  <a:pt x="32131" y="4762"/>
                </a:lnTo>
                <a:moveTo>
                  <a:pt x="0" y="19558"/>
                </a:moveTo>
                <a:cubicBezTo>
                  <a:pt x="0" y="22162"/>
                  <a:pt x="7175" y="24321"/>
                  <a:pt x="16066" y="24321"/>
                </a:cubicBezTo>
                <a:cubicBezTo>
                  <a:pt x="24956" y="24321"/>
                  <a:pt x="32131" y="22162"/>
                  <a:pt x="32131" y="19558"/>
                </a:cubicBezTo>
              </a:path>
            </a:pathLst>
          </a:custGeom>
          <a:noFill/>
          <a:ln w="286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60" name="m-s12_petal_core-pno-6"/>
          <p:cNvSpPr txBox="1"/>
          <p:nvPr/>
        </p:nvSpPr>
        <p:spPr>
          <a:xfrm>
            <a:off x="487654" y="3286443"/>
            <a:ext cx="57850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alpha val="5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06</a:t>
            </a:r>
          </a:p>
        </p:txBody>
      </p:sp>
      <p:cxnSp>
        <p:nvCxnSpPr>
          <p:cNvPr id="961" name="m-s12_petal_core-lead-6"/>
          <p:cNvCxnSpPr/>
          <p:nvPr/>
        </p:nvCxnSpPr>
        <p:spPr>
          <a:xfrm flipH="1" flipV="1">
            <a:off x="419627" y="3255423"/>
            <a:ext cx="38330" cy="22129"/>
          </a:xfrm>
          <a:prstGeom prst="line">
            <a:avLst/>
          </a:prstGeom>
          <a:ln w="2540" cap="rnd">
            <a:solidFill>
              <a:srgbClr val="54A2DF">
                <a:alpha val="5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2" name="m-s12_petal_core-leadd-6"/>
          <p:cNvSpPr/>
          <p:nvPr/>
        </p:nvSpPr>
        <p:spPr>
          <a:xfrm>
            <a:off x="413769" y="3249565"/>
            <a:ext cx="11716" cy="11716"/>
          </a:xfrm>
          <a:prstGeom prst="ellipse">
            <a:avLst/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63" name="m-s12_petal_core-pname-6"/>
          <p:cNvSpPr txBox="1"/>
          <p:nvPr/>
        </p:nvSpPr>
        <p:spPr>
          <a:xfrm>
            <a:off x="210820" y="3201908"/>
            <a:ext cx="178860" cy="59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70" b="1" i="0" u="none" strike="noStrike" kern="1200" cap="none" spc="26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数据资产</a:t>
            </a:r>
          </a:p>
        </p:txBody>
      </p:sp>
      <p:sp>
        <p:nvSpPr>
          <p:cNvPr id="964" name="m-s12_petal_core-pnote-6"/>
          <p:cNvSpPr txBox="1"/>
          <p:nvPr/>
        </p:nvSpPr>
        <p:spPr>
          <a:xfrm>
            <a:off x="134837" y="3254625"/>
            <a:ext cx="253516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沉淀可复用的数据能力</a:t>
            </a:r>
          </a:p>
        </p:txBody>
      </p:sp>
      <p:sp>
        <p:nvSpPr>
          <p:cNvPr id="965" name="m-s12_petal_core-core"/>
          <p:cNvSpPr/>
          <p:nvPr/>
        </p:nvSpPr>
        <p:spPr>
          <a:xfrm>
            <a:off x="615124" y="3287967"/>
            <a:ext cx="380111" cy="38011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66" name="m-s12_petal_core-core-ring"/>
          <p:cNvSpPr/>
          <p:nvPr/>
        </p:nvSpPr>
        <p:spPr>
          <a:xfrm>
            <a:off x="633349" y="3306191"/>
            <a:ext cx="343662" cy="343662"/>
          </a:xfrm>
          <a:prstGeom prst="ellipse">
            <a:avLst/>
          </a:prstGeom>
          <a:noFill/>
          <a:ln w="2540" cap="rnd">
            <a:solidFill>
              <a:srgbClr val="0B3E8F">
                <a:alpha val="1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67" name="m-s12_petal_core-icon-target"/>
          <p:cNvSpPr/>
          <p:nvPr/>
        </p:nvSpPr>
        <p:spPr>
          <a:xfrm>
            <a:off x="805180" y="3401124"/>
            <a:ext cx="15049" cy="19622"/>
          </a:xfrm>
          <a:custGeom>
            <a:avLst/>
            <a:gdLst/>
            <a:ahLst/>
            <a:cxnLst/>
            <a:rect l="0" t="0" r="r" b="b"/>
            <a:pathLst>
              <a:path w="15049" h="19622">
                <a:moveTo>
                  <a:pt x="0" y="11430"/>
                </a:moveTo>
                <a:lnTo>
                  <a:pt x="0" y="0"/>
                </a:lnTo>
                <a:moveTo>
                  <a:pt x="0" y="19622"/>
                </a:moveTo>
                <a:lnTo>
                  <a:pt x="15049" y="4572"/>
                </a:lnTo>
              </a:path>
            </a:pathLst>
          </a:custGeom>
          <a:noFill/>
          <a:ln w="273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68" name="m-s12_petal_core-icon-target"/>
          <p:cNvSpPr/>
          <p:nvPr/>
        </p:nvSpPr>
        <p:spPr>
          <a:xfrm>
            <a:off x="785589" y="3401154"/>
            <a:ext cx="39183" cy="39183"/>
          </a:xfrm>
          <a:prstGeom prst="ellipse">
            <a:avLst/>
          </a:prstGeom>
          <a:noFill/>
          <a:ln w="273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69" name="m-s12_petal_core-icon-target"/>
          <p:cNvSpPr/>
          <p:nvPr/>
        </p:nvSpPr>
        <p:spPr>
          <a:xfrm>
            <a:off x="795157" y="3410722"/>
            <a:ext cx="20047" cy="20047"/>
          </a:xfrm>
          <a:prstGeom prst="ellipse">
            <a:avLst/>
          </a:prstGeom>
          <a:noFill/>
          <a:ln w="273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70" name="m-s12_petal_core-core-cn"/>
          <p:cNvSpPr txBox="1"/>
          <p:nvPr/>
        </p:nvSpPr>
        <p:spPr>
          <a:xfrm>
            <a:off x="701691" y="3453224"/>
            <a:ext cx="206978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3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客户价值</a:t>
            </a:r>
          </a:p>
        </p:txBody>
      </p:sp>
      <p:sp>
        <p:nvSpPr>
          <p:cNvPr id="971" name="m-s12_petal_core-core-en"/>
          <p:cNvSpPr txBox="1"/>
          <p:nvPr/>
        </p:nvSpPr>
        <p:spPr>
          <a:xfrm>
            <a:off x="698202" y="3515395"/>
            <a:ext cx="213956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31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CUSTOMER VALUE</a:t>
            </a:r>
          </a:p>
        </p:txBody>
      </p:sp>
      <p:sp>
        <p:nvSpPr>
          <p:cNvPr id="972" name="m-s12_petal_core-core-p"/>
          <p:cNvSpPr txBox="1"/>
          <p:nvPr/>
        </p:nvSpPr>
        <p:spPr>
          <a:xfrm>
            <a:off x="715164" y="3560651"/>
            <a:ext cx="18003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6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一切能力的出发点</a:t>
            </a:r>
          </a:p>
        </p:txBody>
      </p:sp>
      <p:sp>
        <p:nvSpPr>
          <p:cNvPr id="973" name="m-s12_petal_core-info-1"/>
          <p:cNvSpPr/>
          <p:nvPr/>
        </p:nvSpPr>
        <p:spPr>
          <a:xfrm>
            <a:off x="-249238" y="3045841"/>
            <a:ext cx="424370" cy="135382"/>
          </a:xfrm>
          <a:custGeom>
            <a:avLst/>
            <a:gdLst/>
            <a:ahLst/>
            <a:cxnLst/>
            <a:rect l="0" t="0" r="r" b="b"/>
            <a:pathLst>
              <a:path w="424370" h="135382">
                <a:moveTo>
                  <a:pt x="23431" y="0"/>
                </a:moveTo>
                <a:lnTo>
                  <a:pt x="400939" y="0"/>
                </a:lnTo>
                <a:cubicBezTo>
                  <a:pt x="413893" y="0"/>
                  <a:pt x="424370" y="10477"/>
                  <a:pt x="424370" y="23431"/>
                </a:cubicBezTo>
                <a:lnTo>
                  <a:pt x="424370" y="111950"/>
                </a:lnTo>
                <a:cubicBezTo>
                  <a:pt x="424370" y="124904"/>
                  <a:pt x="413893" y="135382"/>
                  <a:pt x="400939" y="135382"/>
                </a:cubicBezTo>
                <a:lnTo>
                  <a:pt x="23431" y="135382"/>
                </a:lnTo>
                <a:cubicBezTo>
                  <a:pt x="10477" y="135382"/>
                  <a:pt x="0" y="124904"/>
                  <a:pt x="0" y="111950"/>
                </a:cubicBezTo>
                <a:lnTo>
                  <a:pt x="0" y="23431"/>
                </a:lnTo>
                <a:cubicBezTo>
                  <a:pt x="0" y="10477"/>
                  <a:pt x="10477" y="0"/>
                  <a:pt x="2343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74" name="m-s12_petal_core-infob-1"/>
          <p:cNvSpPr/>
          <p:nvPr/>
        </p:nvSpPr>
        <p:spPr>
          <a:xfrm>
            <a:off x="-249238" y="3045841"/>
            <a:ext cx="7810" cy="135382"/>
          </a:xfrm>
          <a:custGeom>
            <a:avLst/>
            <a:gdLst/>
            <a:ahLst/>
            <a:cxnLst/>
            <a:rect l="0" t="0" r="r" b="b"/>
            <a:pathLst>
              <a:path w="7810" h="135382">
                <a:moveTo>
                  <a:pt x="3873" y="0"/>
                </a:moveTo>
                <a:lnTo>
                  <a:pt x="3873" y="0"/>
                </a:lnTo>
                <a:cubicBezTo>
                  <a:pt x="6096" y="0"/>
                  <a:pt x="7810" y="1714"/>
                  <a:pt x="7810" y="3873"/>
                </a:cubicBezTo>
                <a:lnTo>
                  <a:pt x="7810" y="131508"/>
                </a:lnTo>
                <a:cubicBezTo>
                  <a:pt x="7810" y="133667"/>
                  <a:pt x="6096" y="135382"/>
                  <a:pt x="3873" y="135382"/>
                </a:cubicBezTo>
                <a:lnTo>
                  <a:pt x="3873" y="135382"/>
                </a:lnTo>
                <a:cubicBezTo>
                  <a:pt x="1715" y="135382"/>
                  <a:pt x="0" y="133667"/>
                  <a:pt x="0" y="131508"/>
                </a:cubicBezTo>
                <a:lnTo>
                  <a:pt x="0" y="3873"/>
                </a:lnTo>
                <a:cubicBezTo>
                  <a:pt x="0" y="1714"/>
                  <a:pt x="1715" y="0"/>
                  <a:pt x="3873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75" name="m-s12_petal_core-infov-1"/>
          <p:cNvSpPr txBox="1"/>
          <p:nvPr/>
        </p:nvSpPr>
        <p:spPr>
          <a:xfrm>
            <a:off x="-213205" y="3053053"/>
            <a:ext cx="171935" cy="820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70" b="1" i="0" u="none" strike="noStrike" kern="1200" cap="none" spc="8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12 年</a:t>
            </a:r>
          </a:p>
        </p:txBody>
      </p:sp>
      <p:sp>
        <p:nvSpPr>
          <p:cNvPr id="976" name="m-s12_petal_core-infol-1"/>
          <p:cNvSpPr txBox="1"/>
          <p:nvPr/>
        </p:nvSpPr>
        <p:spPr>
          <a:xfrm>
            <a:off x="-210315" y="3124450"/>
            <a:ext cx="11474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6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行业深耕</a:t>
            </a:r>
          </a:p>
        </p:txBody>
      </p:sp>
      <p:sp>
        <p:nvSpPr>
          <p:cNvPr id="977" name="m-s12_petal_core-icon-clock"/>
          <p:cNvSpPr/>
          <p:nvPr/>
        </p:nvSpPr>
        <p:spPr>
          <a:xfrm>
            <a:off x="125666" y="3106738"/>
            <a:ext cx="4509" cy="9462"/>
          </a:xfrm>
          <a:custGeom>
            <a:avLst/>
            <a:gdLst/>
            <a:ahLst/>
            <a:cxnLst/>
            <a:rect l="0" t="0" r="r" b="b"/>
            <a:pathLst>
              <a:path w="4509" h="9462">
                <a:moveTo>
                  <a:pt x="0" y="0"/>
                </a:moveTo>
                <a:lnTo>
                  <a:pt x="0" y="6794"/>
                </a:lnTo>
                <a:lnTo>
                  <a:pt x="4509" y="9462"/>
                </a:lnTo>
              </a:path>
            </a:pathLst>
          </a:custGeom>
          <a:noFill/>
          <a:ln w="2540" cap="rnd">
            <a:solidFill>
              <a:srgbClr val="0B3E8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78" name="m-s12_petal_core-icon-clock"/>
          <p:cNvSpPr/>
          <p:nvPr/>
        </p:nvSpPr>
        <p:spPr>
          <a:xfrm>
            <a:off x="113539" y="3101404"/>
            <a:ext cx="24256" cy="24256"/>
          </a:xfrm>
          <a:prstGeom prst="ellipse">
            <a:avLst/>
          </a:prstGeom>
          <a:noFill/>
          <a:ln w="2540" cap="rnd">
            <a:solidFill>
              <a:srgbClr val="0B3E8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79" name="m-s12_petal_core-info-2"/>
          <p:cNvSpPr/>
          <p:nvPr/>
        </p:nvSpPr>
        <p:spPr>
          <a:xfrm>
            <a:off x="1435227" y="3045841"/>
            <a:ext cx="424371" cy="135382"/>
          </a:xfrm>
          <a:custGeom>
            <a:avLst/>
            <a:gdLst/>
            <a:ahLst/>
            <a:cxnLst/>
            <a:rect l="0" t="0" r="r" b="b"/>
            <a:pathLst>
              <a:path w="424371" h="135382">
                <a:moveTo>
                  <a:pt x="23431" y="0"/>
                </a:moveTo>
                <a:lnTo>
                  <a:pt x="400939" y="0"/>
                </a:lnTo>
                <a:cubicBezTo>
                  <a:pt x="413893" y="0"/>
                  <a:pt x="424371" y="10477"/>
                  <a:pt x="424371" y="23431"/>
                </a:cubicBezTo>
                <a:lnTo>
                  <a:pt x="424371" y="111950"/>
                </a:lnTo>
                <a:cubicBezTo>
                  <a:pt x="424371" y="124904"/>
                  <a:pt x="413893" y="135382"/>
                  <a:pt x="400939" y="135382"/>
                </a:cubicBezTo>
                <a:lnTo>
                  <a:pt x="23431" y="135382"/>
                </a:lnTo>
                <a:cubicBezTo>
                  <a:pt x="10477" y="135382"/>
                  <a:pt x="0" y="124904"/>
                  <a:pt x="0" y="111950"/>
                </a:cubicBezTo>
                <a:lnTo>
                  <a:pt x="0" y="23431"/>
                </a:lnTo>
                <a:cubicBezTo>
                  <a:pt x="0" y="10477"/>
                  <a:pt x="10477" y="0"/>
                  <a:pt x="2343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80" name="m-s12_petal_core-infob-2"/>
          <p:cNvSpPr/>
          <p:nvPr/>
        </p:nvSpPr>
        <p:spPr>
          <a:xfrm>
            <a:off x="1435227" y="3045841"/>
            <a:ext cx="7810" cy="135382"/>
          </a:xfrm>
          <a:custGeom>
            <a:avLst/>
            <a:gdLst/>
            <a:ahLst/>
            <a:cxnLst/>
            <a:rect l="0" t="0" r="r" b="b"/>
            <a:pathLst>
              <a:path w="7810" h="135382">
                <a:moveTo>
                  <a:pt x="3873" y="0"/>
                </a:moveTo>
                <a:lnTo>
                  <a:pt x="3873" y="0"/>
                </a:lnTo>
                <a:cubicBezTo>
                  <a:pt x="6096" y="0"/>
                  <a:pt x="7810" y="1714"/>
                  <a:pt x="7810" y="3873"/>
                </a:cubicBezTo>
                <a:lnTo>
                  <a:pt x="7810" y="131508"/>
                </a:lnTo>
                <a:cubicBezTo>
                  <a:pt x="7810" y="133667"/>
                  <a:pt x="6096" y="135382"/>
                  <a:pt x="3873" y="135382"/>
                </a:cubicBezTo>
                <a:lnTo>
                  <a:pt x="3873" y="135382"/>
                </a:lnTo>
                <a:cubicBezTo>
                  <a:pt x="1714" y="135382"/>
                  <a:pt x="0" y="133667"/>
                  <a:pt x="0" y="131508"/>
                </a:cubicBezTo>
                <a:lnTo>
                  <a:pt x="0" y="3873"/>
                </a:lnTo>
                <a:cubicBezTo>
                  <a:pt x="0" y="1714"/>
                  <a:pt x="1714" y="0"/>
                  <a:pt x="3873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81" name="m-s12_petal_core-infov-2"/>
          <p:cNvSpPr txBox="1"/>
          <p:nvPr/>
        </p:nvSpPr>
        <p:spPr>
          <a:xfrm>
            <a:off x="1471259" y="3053053"/>
            <a:ext cx="205885" cy="820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70" b="1" i="0" u="none" strike="noStrike" kern="1200" cap="none" spc="8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1,860+</a:t>
            </a:r>
          </a:p>
        </p:txBody>
      </p:sp>
      <p:sp>
        <p:nvSpPr>
          <p:cNvPr id="982" name="m-s12_petal_core-infol-2"/>
          <p:cNvSpPr txBox="1"/>
          <p:nvPr/>
        </p:nvSpPr>
        <p:spPr>
          <a:xfrm>
            <a:off x="1474149" y="3124450"/>
            <a:ext cx="11474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6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交付项目</a:t>
            </a:r>
          </a:p>
        </p:txBody>
      </p:sp>
      <p:sp>
        <p:nvSpPr>
          <p:cNvPr id="983" name="m-s12_petal_core-icon-check"/>
          <p:cNvSpPr/>
          <p:nvPr/>
        </p:nvSpPr>
        <p:spPr>
          <a:xfrm>
            <a:off x="1801114" y="3107309"/>
            <a:ext cx="18034" cy="12700"/>
          </a:xfrm>
          <a:custGeom>
            <a:avLst/>
            <a:gdLst/>
            <a:ahLst/>
            <a:cxnLst/>
            <a:rect l="0" t="0" r="r" b="b"/>
            <a:pathLst>
              <a:path w="18034" h="12700">
                <a:moveTo>
                  <a:pt x="0" y="6795"/>
                </a:moveTo>
                <a:lnTo>
                  <a:pt x="5906" y="12700"/>
                </a:lnTo>
                <a:lnTo>
                  <a:pt x="18034" y="0"/>
                </a:lnTo>
              </a:path>
            </a:pathLst>
          </a:custGeom>
          <a:noFill/>
          <a:ln w="2540" cap="rnd">
            <a:solidFill>
              <a:srgbClr val="1B5AA8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84" name="m-s12_petal_core-info-3"/>
          <p:cNvSpPr/>
          <p:nvPr/>
        </p:nvSpPr>
        <p:spPr>
          <a:xfrm>
            <a:off x="-249238" y="3858133"/>
            <a:ext cx="424370" cy="135382"/>
          </a:xfrm>
          <a:custGeom>
            <a:avLst/>
            <a:gdLst/>
            <a:ahLst/>
            <a:cxnLst/>
            <a:rect l="0" t="0" r="r" b="b"/>
            <a:pathLst>
              <a:path w="424370" h="135382">
                <a:moveTo>
                  <a:pt x="23431" y="0"/>
                </a:moveTo>
                <a:lnTo>
                  <a:pt x="400939" y="0"/>
                </a:lnTo>
                <a:cubicBezTo>
                  <a:pt x="413893" y="0"/>
                  <a:pt x="424370" y="10477"/>
                  <a:pt x="424370" y="23431"/>
                </a:cubicBezTo>
                <a:lnTo>
                  <a:pt x="424370" y="111950"/>
                </a:lnTo>
                <a:cubicBezTo>
                  <a:pt x="424370" y="124904"/>
                  <a:pt x="413893" y="135382"/>
                  <a:pt x="400939" y="135382"/>
                </a:cubicBezTo>
                <a:lnTo>
                  <a:pt x="23431" y="135382"/>
                </a:lnTo>
                <a:cubicBezTo>
                  <a:pt x="10477" y="135382"/>
                  <a:pt x="0" y="124904"/>
                  <a:pt x="0" y="111950"/>
                </a:cubicBezTo>
                <a:lnTo>
                  <a:pt x="0" y="23431"/>
                </a:lnTo>
                <a:cubicBezTo>
                  <a:pt x="0" y="10477"/>
                  <a:pt x="10477" y="0"/>
                  <a:pt x="2343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85" name="m-s12_petal_core-infob-3"/>
          <p:cNvSpPr/>
          <p:nvPr/>
        </p:nvSpPr>
        <p:spPr>
          <a:xfrm>
            <a:off x="-249238" y="3858133"/>
            <a:ext cx="7810" cy="135382"/>
          </a:xfrm>
          <a:custGeom>
            <a:avLst/>
            <a:gdLst/>
            <a:ahLst/>
            <a:cxnLst/>
            <a:rect l="0" t="0" r="r" b="b"/>
            <a:pathLst>
              <a:path w="7810" h="135382">
                <a:moveTo>
                  <a:pt x="3873" y="0"/>
                </a:moveTo>
                <a:lnTo>
                  <a:pt x="3873" y="0"/>
                </a:lnTo>
                <a:cubicBezTo>
                  <a:pt x="6096" y="0"/>
                  <a:pt x="7810" y="1714"/>
                  <a:pt x="7810" y="3874"/>
                </a:cubicBezTo>
                <a:lnTo>
                  <a:pt x="7810" y="131445"/>
                </a:lnTo>
                <a:cubicBezTo>
                  <a:pt x="7810" y="133667"/>
                  <a:pt x="6096" y="135382"/>
                  <a:pt x="3873" y="135382"/>
                </a:cubicBezTo>
                <a:lnTo>
                  <a:pt x="3873" y="135382"/>
                </a:lnTo>
                <a:cubicBezTo>
                  <a:pt x="1715" y="135382"/>
                  <a:pt x="0" y="133667"/>
                  <a:pt x="0" y="131445"/>
                </a:cubicBezTo>
                <a:lnTo>
                  <a:pt x="0" y="3874"/>
                </a:lnTo>
                <a:cubicBezTo>
                  <a:pt x="0" y="1714"/>
                  <a:pt x="1715" y="0"/>
                  <a:pt x="3873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86" name="m-s12_petal_core-infov-3"/>
          <p:cNvSpPr txBox="1"/>
          <p:nvPr/>
        </p:nvSpPr>
        <p:spPr>
          <a:xfrm>
            <a:off x="-213205" y="3865345"/>
            <a:ext cx="171935" cy="820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70" b="1" i="0" u="none" strike="noStrike" kern="1200" cap="none" spc="8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36 项</a:t>
            </a:r>
          </a:p>
        </p:txBody>
      </p:sp>
      <p:sp>
        <p:nvSpPr>
          <p:cNvPr id="987" name="m-s12_petal_core-infol-3"/>
          <p:cNvSpPr txBox="1"/>
          <p:nvPr/>
        </p:nvSpPr>
        <p:spPr>
          <a:xfrm>
            <a:off x="-210315" y="3936742"/>
            <a:ext cx="161873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6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自主知识产权</a:t>
            </a:r>
          </a:p>
        </p:txBody>
      </p:sp>
      <p:sp>
        <p:nvSpPr>
          <p:cNvPr id="988" name="m-s12_petal_core-icon-award"/>
          <p:cNvSpPr/>
          <p:nvPr/>
        </p:nvSpPr>
        <p:spPr>
          <a:xfrm>
            <a:off x="119761" y="3929507"/>
            <a:ext cx="11811" cy="8191"/>
          </a:xfrm>
          <a:custGeom>
            <a:avLst/>
            <a:gdLst/>
            <a:ahLst/>
            <a:cxnLst/>
            <a:rect l="0" t="0" r="r" b="b"/>
            <a:pathLst>
              <a:path w="11811" h="8191">
                <a:moveTo>
                  <a:pt x="2223" y="0"/>
                </a:moveTo>
                <a:lnTo>
                  <a:pt x="0" y="8191"/>
                </a:lnTo>
                <a:lnTo>
                  <a:pt x="5905" y="5080"/>
                </a:lnTo>
                <a:lnTo>
                  <a:pt x="11811" y="8191"/>
                </a:lnTo>
                <a:lnTo>
                  <a:pt x="9589" y="0"/>
                </a:lnTo>
              </a:path>
            </a:pathLst>
          </a:custGeom>
          <a:noFill/>
          <a:ln w="2540" cap="rnd">
            <a:solidFill>
              <a:srgbClr val="2E77C2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89" name="m-s12_petal_core-icon-award"/>
          <p:cNvSpPr/>
          <p:nvPr/>
        </p:nvSpPr>
        <p:spPr>
          <a:xfrm>
            <a:off x="117769" y="3914260"/>
            <a:ext cx="15795" cy="15795"/>
          </a:xfrm>
          <a:prstGeom prst="ellipse">
            <a:avLst/>
          </a:prstGeom>
          <a:noFill/>
          <a:ln w="2540" cap="rnd">
            <a:solidFill>
              <a:srgbClr val="2E77C2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90" name="m-s12_petal_core-info-4"/>
          <p:cNvSpPr/>
          <p:nvPr/>
        </p:nvSpPr>
        <p:spPr>
          <a:xfrm>
            <a:off x="1435227" y="3858133"/>
            <a:ext cx="424371" cy="135382"/>
          </a:xfrm>
          <a:custGeom>
            <a:avLst/>
            <a:gdLst/>
            <a:ahLst/>
            <a:cxnLst/>
            <a:rect l="0" t="0" r="r" b="b"/>
            <a:pathLst>
              <a:path w="424371" h="135382">
                <a:moveTo>
                  <a:pt x="23431" y="0"/>
                </a:moveTo>
                <a:lnTo>
                  <a:pt x="400939" y="0"/>
                </a:lnTo>
                <a:cubicBezTo>
                  <a:pt x="413893" y="0"/>
                  <a:pt x="424371" y="10477"/>
                  <a:pt x="424371" y="23431"/>
                </a:cubicBezTo>
                <a:lnTo>
                  <a:pt x="424371" y="111950"/>
                </a:lnTo>
                <a:cubicBezTo>
                  <a:pt x="424371" y="124904"/>
                  <a:pt x="413893" y="135382"/>
                  <a:pt x="400939" y="135382"/>
                </a:cubicBezTo>
                <a:lnTo>
                  <a:pt x="23431" y="135382"/>
                </a:lnTo>
                <a:cubicBezTo>
                  <a:pt x="10477" y="135382"/>
                  <a:pt x="0" y="124904"/>
                  <a:pt x="0" y="111950"/>
                </a:cubicBezTo>
                <a:lnTo>
                  <a:pt x="0" y="23431"/>
                </a:lnTo>
                <a:cubicBezTo>
                  <a:pt x="0" y="10477"/>
                  <a:pt x="10477" y="0"/>
                  <a:pt x="2343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91" name="m-s12_petal_core-infob-4"/>
          <p:cNvSpPr/>
          <p:nvPr/>
        </p:nvSpPr>
        <p:spPr>
          <a:xfrm>
            <a:off x="1435227" y="3858133"/>
            <a:ext cx="7810" cy="135382"/>
          </a:xfrm>
          <a:custGeom>
            <a:avLst/>
            <a:gdLst/>
            <a:ahLst/>
            <a:cxnLst/>
            <a:rect l="0" t="0" r="r" b="b"/>
            <a:pathLst>
              <a:path w="7810" h="135382">
                <a:moveTo>
                  <a:pt x="3873" y="0"/>
                </a:moveTo>
                <a:lnTo>
                  <a:pt x="3873" y="0"/>
                </a:lnTo>
                <a:cubicBezTo>
                  <a:pt x="6096" y="0"/>
                  <a:pt x="7810" y="1714"/>
                  <a:pt x="7810" y="3874"/>
                </a:cubicBezTo>
                <a:lnTo>
                  <a:pt x="7810" y="131445"/>
                </a:lnTo>
                <a:cubicBezTo>
                  <a:pt x="7810" y="133667"/>
                  <a:pt x="6096" y="135382"/>
                  <a:pt x="3873" y="135382"/>
                </a:cubicBezTo>
                <a:lnTo>
                  <a:pt x="3873" y="135382"/>
                </a:lnTo>
                <a:cubicBezTo>
                  <a:pt x="1714" y="135382"/>
                  <a:pt x="0" y="133667"/>
                  <a:pt x="0" y="131445"/>
                </a:cubicBezTo>
                <a:lnTo>
                  <a:pt x="0" y="3874"/>
                </a:lnTo>
                <a:cubicBezTo>
                  <a:pt x="0" y="1714"/>
                  <a:pt x="1714" y="0"/>
                  <a:pt x="3873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92" name="m-s12_petal_core-infov-4"/>
          <p:cNvSpPr txBox="1"/>
          <p:nvPr/>
        </p:nvSpPr>
        <p:spPr>
          <a:xfrm>
            <a:off x="1471259" y="3865345"/>
            <a:ext cx="178600" cy="820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70" b="1" i="0" u="none" strike="noStrike" kern="1200" cap="none" spc="8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96.4%</a:t>
            </a:r>
          </a:p>
        </p:txBody>
      </p:sp>
      <p:sp>
        <p:nvSpPr>
          <p:cNvPr id="993" name="m-s12_petal_core-infol-4"/>
          <p:cNvSpPr txBox="1"/>
          <p:nvPr/>
        </p:nvSpPr>
        <p:spPr>
          <a:xfrm>
            <a:off x="1474149" y="3936742"/>
            <a:ext cx="138311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6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客户续约率</a:t>
            </a:r>
          </a:p>
        </p:txBody>
      </p:sp>
      <p:sp>
        <p:nvSpPr>
          <p:cNvPr id="994" name="m-s12_petal_core-icon-people"/>
          <p:cNvSpPr/>
          <p:nvPr/>
        </p:nvSpPr>
        <p:spPr>
          <a:xfrm>
            <a:off x="1798256" y="3929507"/>
            <a:ext cx="24003" cy="6731"/>
          </a:xfrm>
          <a:custGeom>
            <a:avLst/>
            <a:gdLst/>
            <a:ahLst/>
            <a:cxnLst/>
            <a:rect l="0" t="0" r="r" b="b"/>
            <a:pathLst>
              <a:path w="24003" h="6731">
                <a:moveTo>
                  <a:pt x="0" y="6731"/>
                </a:moveTo>
                <a:cubicBezTo>
                  <a:pt x="0" y="2540"/>
                  <a:pt x="3556" y="0"/>
                  <a:pt x="7620" y="0"/>
                </a:cubicBezTo>
                <a:cubicBezTo>
                  <a:pt x="11748" y="0"/>
                  <a:pt x="15240" y="2540"/>
                  <a:pt x="15240" y="6731"/>
                </a:cubicBezTo>
                <a:moveTo>
                  <a:pt x="18098" y="571"/>
                </a:moveTo>
                <a:cubicBezTo>
                  <a:pt x="21717" y="952"/>
                  <a:pt x="24003" y="3492"/>
                  <a:pt x="24003" y="6731"/>
                </a:cubicBezTo>
              </a:path>
            </a:pathLst>
          </a:custGeom>
          <a:noFill/>
          <a:ln w="2540" cap="rnd">
            <a:solidFill>
              <a:srgbClr val="4694D7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95" name="m-s12_petal_core-icon-people"/>
          <p:cNvSpPr/>
          <p:nvPr/>
        </p:nvSpPr>
        <p:spPr>
          <a:xfrm>
            <a:off x="1801388" y="3917363"/>
            <a:ext cx="9025" cy="9025"/>
          </a:xfrm>
          <a:prstGeom prst="ellipse">
            <a:avLst/>
          </a:prstGeom>
          <a:noFill/>
          <a:ln w="2540" cap="rnd">
            <a:solidFill>
              <a:srgbClr val="4694D7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96" name="m-s12_petal_core-icon-people"/>
          <p:cNvSpPr/>
          <p:nvPr/>
        </p:nvSpPr>
        <p:spPr>
          <a:xfrm>
            <a:off x="1813516" y="3917363"/>
            <a:ext cx="7333" cy="7333"/>
          </a:xfrm>
          <a:prstGeom prst="ellipse">
            <a:avLst/>
          </a:prstGeom>
          <a:noFill/>
          <a:ln w="2540" cap="rnd">
            <a:solidFill>
              <a:srgbClr val="4694D7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997" name="m-s12_petal_core-foot-line"/>
          <p:cNvCxnSpPr/>
          <p:nvPr/>
        </p:nvCxnSpPr>
        <p:spPr>
          <a:xfrm>
            <a:off x="-324739" y="40429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8" name="m-s12_petal_core-foot-l"/>
          <p:cNvSpPr txBox="1"/>
          <p:nvPr/>
        </p:nvSpPr>
        <p:spPr>
          <a:xfrm>
            <a:off x="-326926" y="4056923"/>
            <a:ext cx="21429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能力模型 · 六大核心</a:t>
            </a:r>
          </a:p>
        </p:txBody>
      </p:sp>
      <p:sp>
        <p:nvSpPr>
          <p:cNvPr id="999" name="m-s12_petal_core-foot-r"/>
          <p:cNvSpPr txBox="1"/>
          <p:nvPr/>
        </p:nvSpPr>
        <p:spPr>
          <a:xfrm>
            <a:off x="1677509" y="40569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1000" name="mini-card-d30_radial_bar"/>
          <p:cNvSpPr/>
          <p:nvPr/>
        </p:nvSpPr>
        <p:spPr>
          <a:xfrm>
            <a:off x="2171700" y="27178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0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0" y="1405890"/>
                </a:lnTo>
                <a:cubicBezTo>
                  <a:pt x="35877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7"/>
                  <a:pt x="35877" y="0"/>
                  <a:pt x="80200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01" name="m-d30_radial_bar-title-bar"/>
          <p:cNvSpPr/>
          <p:nvPr/>
        </p:nvSpPr>
        <p:spPr>
          <a:xfrm>
            <a:off x="2291461" y="28167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02" name="m-d30_radial_bar-title-bar-accent"/>
          <p:cNvSpPr/>
          <p:nvPr/>
        </p:nvSpPr>
        <p:spPr>
          <a:xfrm>
            <a:off x="2291461" y="28167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03" name="m-d30_radial_bar-title-cn"/>
          <p:cNvSpPr txBox="1"/>
          <p:nvPr/>
        </p:nvSpPr>
        <p:spPr>
          <a:xfrm>
            <a:off x="2323640" y="2799368"/>
            <a:ext cx="551421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各大区目标完成率</a:t>
            </a:r>
          </a:p>
        </p:txBody>
      </p:sp>
      <p:sp>
        <p:nvSpPr>
          <p:cNvPr id="1004" name="m-d30_radial_bar-title-en"/>
          <p:cNvSpPr txBox="1"/>
          <p:nvPr/>
        </p:nvSpPr>
        <p:spPr>
          <a:xfrm>
            <a:off x="2330930" y="2886650"/>
            <a:ext cx="315076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RADIAL BAR CHART</a:t>
            </a:r>
          </a:p>
        </p:txBody>
      </p:sp>
      <p:sp>
        <p:nvSpPr>
          <p:cNvPr id="1005" name="m-d30_radial_bar-title-sub"/>
          <p:cNvSpPr txBox="1"/>
          <p:nvPr/>
        </p:nvSpPr>
        <p:spPr>
          <a:xfrm>
            <a:off x="3926641" y="2855792"/>
            <a:ext cx="627313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每一圈是一个大区，圈越满越接近年度目标，满圈为 100%</a:t>
            </a:r>
          </a:p>
        </p:txBody>
      </p:sp>
      <p:cxnSp>
        <p:nvCxnSpPr>
          <p:cNvPr id="1006" name="m-d30_radial_bar-tk-25"/>
          <p:cNvCxnSpPr/>
          <p:nvPr/>
        </p:nvCxnSpPr>
        <p:spPr>
          <a:xfrm flipV="1">
            <a:off x="3210407" y="3279690"/>
            <a:ext cx="319908" cy="132510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07" name="m-d30_radial_bar-tkt-25"/>
          <p:cNvSpPr txBox="1"/>
          <p:nvPr/>
        </p:nvSpPr>
        <p:spPr>
          <a:xfrm>
            <a:off x="3533264" y="3254033"/>
            <a:ext cx="4701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25%</a:t>
            </a:r>
          </a:p>
        </p:txBody>
      </p:sp>
      <p:cxnSp>
        <p:nvCxnSpPr>
          <p:cNvPr id="1008" name="m-d30_radial_bar-tk-50"/>
          <p:cNvCxnSpPr/>
          <p:nvPr/>
        </p:nvCxnSpPr>
        <p:spPr>
          <a:xfrm>
            <a:off x="3180495" y="3562575"/>
            <a:ext cx="244847" cy="244847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09" name="m-d30_radial_bar-tkt-50"/>
          <p:cNvSpPr txBox="1"/>
          <p:nvPr/>
        </p:nvSpPr>
        <p:spPr>
          <a:xfrm>
            <a:off x="3422083" y="3812975"/>
            <a:ext cx="4701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50%</a:t>
            </a:r>
          </a:p>
        </p:txBody>
      </p:sp>
      <p:cxnSp>
        <p:nvCxnSpPr>
          <p:cNvPr id="1010" name="m-d30_radial_bar-tk-75"/>
          <p:cNvCxnSpPr/>
          <p:nvPr/>
        </p:nvCxnSpPr>
        <p:spPr>
          <a:xfrm flipH="1">
            <a:off x="2897610" y="3592486"/>
            <a:ext cx="132510" cy="319908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11" name="m-d30_radial_bar-tkt-75"/>
          <p:cNvSpPr txBox="1"/>
          <p:nvPr/>
        </p:nvSpPr>
        <p:spPr>
          <a:xfrm>
            <a:off x="2863141" y="3924156"/>
            <a:ext cx="4701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75%</a:t>
            </a:r>
          </a:p>
        </p:txBody>
      </p:sp>
      <p:cxnSp>
        <p:nvCxnSpPr>
          <p:cNvPr id="1012" name="m-d30_radial_bar-tk-100"/>
          <p:cNvCxnSpPr/>
          <p:nvPr/>
        </p:nvCxnSpPr>
        <p:spPr>
          <a:xfrm flipH="1">
            <a:off x="2598674" y="3465004"/>
            <a:ext cx="346266" cy="0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13" name="m-d30_radial_bar-tkt-100"/>
          <p:cNvSpPr txBox="1"/>
          <p:nvPr/>
        </p:nvSpPr>
        <p:spPr>
          <a:xfrm>
            <a:off x="2541423" y="3450308"/>
            <a:ext cx="57225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100%</a:t>
            </a:r>
          </a:p>
        </p:txBody>
      </p:sp>
      <p:sp>
        <p:nvSpPr>
          <p:cNvPr id="1014" name="m-d30_radial_bar-trk-1"/>
          <p:cNvSpPr/>
          <p:nvPr/>
        </p:nvSpPr>
        <p:spPr>
          <a:xfrm>
            <a:off x="2619502" y="3001582"/>
            <a:ext cx="926846" cy="926846"/>
          </a:xfrm>
          <a:custGeom>
            <a:avLst/>
            <a:gdLst/>
            <a:ahLst/>
            <a:cxnLst/>
            <a:rect l="0" t="0" r="r" b="b"/>
            <a:pathLst>
              <a:path w="926846" h="926846">
                <a:moveTo>
                  <a:pt x="463423" y="0"/>
                </a:moveTo>
                <a:cubicBezTo>
                  <a:pt x="719391" y="0"/>
                  <a:pt x="926846" y="207455"/>
                  <a:pt x="926846" y="463423"/>
                </a:cubicBezTo>
                <a:cubicBezTo>
                  <a:pt x="926846" y="719392"/>
                  <a:pt x="719391" y="926846"/>
                  <a:pt x="463423" y="926846"/>
                </a:cubicBezTo>
                <a:cubicBezTo>
                  <a:pt x="207455" y="926846"/>
                  <a:pt x="0" y="719392"/>
                  <a:pt x="0" y="463423"/>
                </a:cubicBezTo>
                <a:cubicBezTo>
                  <a:pt x="0" y="452628"/>
                  <a:pt x="8763" y="443929"/>
                  <a:pt x="19558" y="443929"/>
                </a:cubicBezTo>
                <a:cubicBezTo>
                  <a:pt x="30290" y="443929"/>
                  <a:pt x="39053" y="452628"/>
                  <a:pt x="39053" y="463423"/>
                </a:cubicBezTo>
                <a:cubicBezTo>
                  <a:pt x="39053" y="697802"/>
                  <a:pt x="229044" y="887794"/>
                  <a:pt x="463423" y="887794"/>
                </a:cubicBezTo>
                <a:cubicBezTo>
                  <a:pt x="697801" y="887794"/>
                  <a:pt x="887794" y="697802"/>
                  <a:pt x="887794" y="463423"/>
                </a:cubicBezTo>
                <a:cubicBezTo>
                  <a:pt x="887794" y="229044"/>
                  <a:pt x="697801" y="39052"/>
                  <a:pt x="463423" y="39052"/>
                </a:cubicBezTo>
                <a:cubicBezTo>
                  <a:pt x="452628" y="39052"/>
                  <a:pt x="443865" y="30289"/>
                  <a:pt x="443865" y="19494"/>
                </a:cubicBezTo>
                <a:cubicBezTo>
                  <a:pt x="443865" y="8763"/>
                  <a:pt x="452628" y="0"/>
                  <a:pt x="463423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15" name="m-d30_radial_bar-bar-1"/>
          <p:cNvSpPr/>
          <p:nvPr/>
        </p:nvSpPr>
        <p:spPr>
          <a:xfrm>
            <a:off x="2627344" y="3001582"/>
            <a:ext cx="918772" cy="926670"/>
          </a:xfrm>
          <a:custGeom>
            <a:avLst/>
            <a:gdLst/>
            <a:ahLst/>
            <a:cxnLst/>
            <a:rect l="0" t="0" r="r" b="b"/>
            <a:pathLst>
              <a:path w="918772" h="926670">
                <a:moveTo>
                  <a:pt x="455581" y="0"/>
                </a:moveTo>
                <a:cubicBezTo>
                  <a:pt x="700247" y="0"/>
                  <a:pt x="902748" y="190182"/>
                  <a:pt x="918115" y="434340"/>
                </a:cubicBezTo>
                <a:cubicBezTo>
                  <a:pt x="933482" y="678497"/>
                  <a:pt x="756381" y="892556"/>
                  <a:pt x="513684" y="923163"/>
                </a:cubicBezTo>
                <a:cubicBezTo>
                  <a:pt x="270923" y="953833"/>
                  <a:pt x="46197" y="790575"/>
                  <a:pt x="350" y="550291"/>
                </a:cubicBezTo>
                <a:cubicBezTo>
                  <a:pt x="-1682" y="539686"/>
                  <a:pt x="5303" y="529463"/>
                  <a:pt x="15907" y="527431"/>
                </a:cubicBezTo>
                <a:cubicBezTo>
                  <a:pt x="26512" y="525399"/>
                  <a:pt x="36735" y="532320"/>
                  <a:pt x="38704" y="542925"/>
                </a:cubicBezTo>
                <a:cubicBezTo>
                  <a:pt x="80677" y="763016"/>
                  <a:pt x="286481" y="912495"/>
                  <a:pt x="508794" y="884428"/>
                </a:cubicBezTo>
                <a:cubicBezTo>
                  <a:pt x="731044" y="856361"/>
                  <a:pt x="893160" y="660336"/>
                  <a:pt x="879126" y="436753"/>
                </a:cubicBezTo>
                <a:cubicBezTo>
                  <a:pt x="865029" y="213169"/>
                  <a:pt x="679609" y="39052"/>
                  <a:pt x="455581" y="39052"/>
                </a:cubicBezTo>
                <a:cubicBezTo>
                  <a:pt x="444786" y="39052"/>
                  <a:pt x="436023" y="30289"/>
                  <a:pt x="436023" y="19494"/>
                </a:cubicBezTo>
                <a:cubicBezTo>
                  <a:pt x="436023" y="8763"/>
                  <a:pt x="444786" y="0"/>
                  <a:pt x="455581" y="0"/>
                </a:cubicBezTo>
                <a:close/>
              </a:path>
            </a:pathLst>
          </a:custGeom>
          <a:gradFill rotWithShape="1">
            <a:gsLst>
              <a:gs pos="0">
                <a:srgbClr val="3C65A5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16" name="m-d30_radial_bar-bv-1"/>
          <p:cNvSpPr txBox="1"/>
          <p:nvPr/>
        </p:nvSpPr>
        <p:spPr>
          <a:xfrm>
            <a:off x="2637393" y="3569870"/>
            <a:ext cx="3681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96</a:t>
            </a:r>
          </a:p>
        </p:txBody>
      </p:sp>
      <p:sp>
        <p:nvSpPr>
          <p:cNvPr id="1017" name="m-d30_radial_bar-bn-1"/>
          <p:cNvSpPr txBox="1"/>
          <p:nvPr/>
        </p:nvSpPr>
        <p:spPr>
          <a:xfrm>
            <a:off x="2990449" y="3001282"/>
            <a:ext cx="71857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华东</a:t>
            </a:r>
          </a:p>
        </p:txBody>
      </p:sp>
      <p:sp>
        <p:nvSpPr>
          <p:cNvPr id="1018" name="m-d30_radial_bar-bp-1"/>
          <p:cNvSpPr txBox="1"/>
          <p:nvPr/>
        </p:nvSpPr>
        <p:spPr>
          <a:xfrm>
            <a:off x="2937962" y="3003196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96%</a:t>
            </a:r>
          </a:p>
        </p:txBody>
      </p:sp>
      <p:sp>
        <p:nvSpPr>
          <p:cNvPr id="1019" name="m-d30_radial_bar-trk-2"/>
          <p:cNvSpPr/>
          <p:nvPr/>
        </p:nvSpPr>
        <p:spPr>
          <a:xfrm>
            <a:off x="2674176" y="3056255"/>
            <a:ext cx="817499" cy="817499"/>
          </a:xfrm>
          <a:custGeom>
            <a:avLst/>
            <a:gdLst/>
            <a:ahLst/>
            <a:cxnLst/>
            <a:rect l="0" t="0" r="r" b="b"/>
            <a:pathLst>
              <a:path w="817499" h="817499">
                <a:moveTo>
                  <a:pt x="408750" y="0"/>
                </a:moveTo>
                <a:cubicBezTo>
                  <a:pt x="634492" y="0"/>
                  <a:pt x="817499" y="183007"/>
                  <a:pt x="817499" y="408749"/>
                </a:cubicBezTo>
                <a:cubicBezTo>
                  <a:pt x="817499" y="634492"/>
                  <a:pt x="634492" y="817499"/>
                  <a:pt x="408750" y="817499"/>
                </a:cubicBezTo>
                <a:cubicBezTo>
                  <a:pt x="183007" y="817499"/>
                  <a:pt x="0" y="634492"/>
                  <a:pt x="0" y="408749"/>
                </a:cubicBezTo>
                <a:cubicBezTo>
                  <a:pt x="0" y="397955"/>
                  <a:pt x="8763" y="389255"/>
                  <a:pt x="19494" y="389255"/>
                </a:cubicBezTo>
                <a:cubicBezTo>
                  <a:pt x="30289" y="389255"/>
                  <a:pt x="39052" y="397955"/>
                  <a:pt x="39052" y="408749"/>
                </a:cubicBezTo>
                <a:cubicBezTo>
                  <a:pt x="39052" y="612902"/>
                  <a:pt x="204597" y="778446"/>
                  <a:pt x="408750" y="778446"/>
                </a:cubicBezTo>
                <a:cubicBezTo>
                  <a:pt x="612902" y="778446"/>
                  <a:pt x="778447" y="612902"/>
                  <a:pt x="778447" y="408749"/>
                </a:cubicBezTo>
                <a:cubicBezTo>
                  <a:pt x="778447" y="204597"/>
                  <a:pt x="612902" y="39052"/>
                  <a:pt x="408750" y="39052"/>
                </a:cubicBezTo>
                <a:cubicBezTo>
                  <a:pt x="397955" y="39052"/>
                  <a:pt x="389192" y="30289"/>
                  <a:pt x="389192" y="19558"/>
                </a:cubicBezTo>
                <a:cubicBezTo>
                  <a:pt x="389192" y="8763"/>
                  <a:pt x="397955" y="0"/>
                  <a:pt x="408750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20" name="m-d30_radial_bar-bar-2"/>
          <p:cNvSpPr/>
          <p:nvPr/>
        </p:nvSpPr>
        <p:spPr>
          <a:xfrm>
            <a:off x="2734758" y="3056255"/>
            <a:ext cx="756931" cy="817419"/>
          </a:xfrm>
          <a:custGeom>
            <a:avLst/>
            <a:gdLst/>
            <a:ahLst/>
            <a:cxnLst/>
            <a:rect l="0" t="0" r="r" b="b"/>
            <a:pathLst>
              <a:path w="756931" h="817419">
                <a:moveTo>
                  <a:pt x="348167" y="0"/>
                </a:moveTo>
                <a:cubicBezTo>
                  <a:pt x="544382" y="0"/>
                  <a:pt x="712911" y="139446"/>
                  <a:pt x="749678" y="332168"/>
                </a:cubicBezTo>
                <a:cubicBezTo>
                  <a:pt x="786444" y="524891"/>
                  <a:pt x="681098" y="716534"/>
                  <a:pt x="498662" y="788797"/>
                </a:cubicBezTo>
                <a:cubicBezTo>
                  <a:pt x="316227" y="861060"/>
                  <a:pt x="108201" y="793432"/>
                  <a:pt x="3045" y="627761"/>
                </a:cubicBezTo>
                <a:cubicBezTo>
                  <a:pt x="-702" y="621856"/>
                  <a:pt x="-1019" y="614426"/>
                  <a:pt x="2219" y="608267"/>
                </a:cubicBezTo>
                <a:cubicBezTo>
                  <a:pt x="5458" y="602044"/>
                  <a:pt x="11744" y="598106"/>
                  <a:pt x="18729" y="597789"/>
                </a:cubicBezTo>
                <a:cubicBezTo>
                  <a:pt x="25714" y="597471"/>
                  <a:pt x="32255" y="600964"/>
                  <a:pt x="36001" y="606806"/>
                </a:cubicBezTo>
                <a:cubicBezTo>
                  <a:pt x="131124" y="756666"/>
                  <a:pt x="319275" y="817817"/>
                  <a:pt x="484248" y="752475"/>
                </a:cubicBezTo>
                <a:cubicBezTo>
                  <a:pt x="649284" y="687133"/>
                  <a:pt x="744534" y="513779"/>
                  <a:pt x="711324" y="339471"/>
                </a:cubicBezTo>
                <a:cubicBezTo>
                  <a:pt x="678050" y="165163"/>
                  <a:pt x="525650" y="39052"/>
                  <a:pt x="348167" y="39052"/>
                </a:cubicBezTo>
                <a:cubicBezTo>
                  <a:pt x="337372" y="39052"/>
                  <a:pt x="328609" y="30289"/>
                  <a:pt x="328609" y="19558"/>
                </a:cubicBezTo>
                <a:cubicBezTo>
                  <a:pt x="328609" y="8763"/>
                  <a:pt x="337372" y="0"/>
                  <a:pt x="348167" y="0"/>
                </a:cubicBezTo>
                <a:close/>
              </a:path>
            </a:pathLst>
          </a:custGeom>
          <a:gradFill rotWithShape="1">
            <a:gsLst>
              <a:gs pos="0">
                <a:srgbClr val="4270B0"/>
              </a:gs>
              <a:gs pos="100000">
                <a:srgbClr val="134C9C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21" name="m-d30_radial_bar-bv-2"/>
          <p:cNvSpPr txBox="1"/>
          <p:nvPr/>
        </p:nvSpPr>
        <p:spPr>
          <a:xfrm>
            <a:off x="2755314" y="3685411"/>
            <a:ext cx="3681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88</a:t>
            </a:r>
          </a:p>
        </p:txBody>
      </p:sp>
      <p:sp>
        <p:nvSpPr>
          <p:cNvPr id="1022" name="m-d30_radial_bar-bn-2"/>
          <p:cNvSpPr txBox="1"/>
          <p:nvPr/>
        </p:nvSpPr>
        <p:spPr>
          <a:xfrm>
            <a:off x="2990449" y="3055956"/>
            <a:ext cx="71857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华南</a:t>
            </a:r>
          </a:p>
        </p:txBody>
      </p:sp>
      <p:sp>
        <p:nvSpPr>
          <p:cNvPr id="1023" name="m-d30_radial_bar-bp-2"/>
          <p:cNvSpPr txBox="1"/>
          <p:nvPr/>
        </p:nvSpPr>
        <p:spPr>
          <a:xfrm>
            <a:off x="2937962" y="3057869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88%</a:t>
            </a:r>
          </a:p>
        </p:txBody>
      </p:sp>
      <p:sp>
        <p:nvSpPr>
          <p:cNvPr id="1024" name="m-d30_radial_bar-trk-3"/>
          <p:cNvSpPr/>
          <p:nvPr/>
        </p:nvSpPr>
        <p:spPr>
          <a:xfrm>
            <a:off x="2728849" y="3110928"/>
            <a:ext cx="708152" cy="708152"/>
          </a:xfrm>
          <a:custGeom>
            <a:avLst/>
            <a:gdLst/>
            <a:ahLst/>
            <a:cxnLst/>
            <a:rect l="0" t="0" r="r" b="b"/>
            <a:pathLst>
              <a:path w="708152" h="708152">
                <a:moveTo>
                  <a:pt x="354076" y="0"/>
                </a:moveTo>
                <a:cubicBezTo>
                  <a:pt x="549656" y="0"/>
                  <a:pt x="708152" y="158496"/>
                  <a:pt x="708152" y="354076"/>
                </a:cubicBezTo>
                <a:cubicBezTo>
                  <a:pt x="708152" y="549656"/>
                  <a:pt x="549656" y="708152"/>
                  <a:pt x="354076" y="708152"/>
                </a:cubicBezTo>
                <a:cubicBezTo>
                  <a:pt x="158496" y="708152"/>
                  <a:pt x="0" y="549656"/>
                  <a:pt x="0" y="354076"/>
                </a:cubicBezTo>
                <a:cubicBezTo>
                  <a:pt x="0" y="343281"/>
                  <a:pt x="8763" y="334582"/>
                  <a:pt x="19494" y="334582"/>
                </a:cubicBezTo>
                <a:cubicBezTo>
                  <a:pt x="30289" y="334582"/>
                  <a:pt x="39052" y="343281"/>
                  <a:pt x="39052" y="354076"/>
                </a:cubicBezTo>
                <a:cubicBezTo>
                  <a:pt x="39052" y="528066"/>
                  <a:pt x="180086" y="669099"/>
                  <a:pt x="354076" y="669099"/>
                </a:cubicBezTo>
                <a:cubicBezTo>
                  <a:pt x="528066" y="669099"/>
                  <a:pt x="669100" y="528066"/>
                  <a:pt x="669100" y="354076"/>
                </a:cubicBezTo>
                <a:cubicBezTo>
                  <a:pt x="669100" y="180086"/>
                  <a:pt x="528066" y="39052"/>
                  <a:pt x="354076" y="39052"/>
                </a:cubicBezTo>
                <a:cubicBezTo>
                  <a:pt x="343281" y="39052"/>
                  <a:pt x="334518" y="30289"/>
                  <a:pt x="334518" y="19558"/>
                </a:cubicBezTo>
                <a:cubicBezTo>
                  <a:pt x="334518" y="8763"/>
                  <a:pt x="343281" y="0"/>
                  <a:pt x="354076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25" name="m-d30_radial_bar-bar-3"/>
          <p:cNvSpPr/>
          <p:nvPr/>
        </p:nvSpPr>
        <p:spPr>
          <a:xfrm>
            <a:off x="2854233" y="3110928"/>
            <a:ext cx="582703" cy="707889"/>
          </a:xfrm>
          <a:custGeom>
            <a:avLst/>
            <a:gdLst/>
            <a:ahLst/>
            <a:cxnLst/>
            <a:rect l="0" t="0" r="r" b="b"/>
            <a:pathLst>
              <a:path w="582703" h="707889">
                <a:moveTo>
                  <a:pt x="228692" y="0"/>
                </a:moveTo>
                <a:cubicBezTo>
                  <a:pt x="384140" y="0"/>
                  <a:pt x="521427" y="101409"/>
                  <a:pt x="567147" y="249936"/>
                </a:cubicBezTo>
                <a:cubicBezTo>
                  <a:pt x="612804" y="398526"/>
                  <a:pt x="556289" y="559562"/>
                  <a:pt x="427701" y="646938"/>
                </a:cubicBezTo>
                <a:cubicBezTo>
                  <a:pt x="299114" y="734314"/>
                  <a:pt x="128616" y="727583"/>
                  <a:pt x="7331" y="630428"/>
                </a:cubicBezTo>
                <a:cubicBezTo>
                  <a:pt x="-1114" y="623697"/>
                  <a:pt x="-2448" y="611378"/>
                  <a:pt x="4283" y="602932"/>
                </a:cubicBezTo>
                <a:cubicBezTo>
                  <a:pt x="11014" y="594550"/>
                  <a:pt x="23333" y="593154"/>
                  <a:pt x="31715" y="599948"/>
                </a:cubicBezTo>
                <a:cubicBezTo>
                  <a:pt x="139665" y="686371"/>
                  <a:pt x="291367" y="692341"/>
                  <a:pt x="405730" y="614617"/>
                </a:cubicBezTo>
                <a:cubicBezTo>
                  <a:pt x="520157" y="536893"/>
                  <a:pt x="570449" y="393636"/>
                  <a:pt x="529809" y="261430"/>
                </a:cubicBezTo>
                <a:cubicBezTo>
                  <a:pt x="489106" y="129286"/>
                  <a:pt x="366995" y="39052"/>
                  <a:pt x="228692" y="39052"/>
                </a:cubicBezTo>
                <a:cubicBezTo>
                  <a:pt x="217897" y="39052"/>
                  <a:pt x="209134" y="30289"/>
                  <a:pt x="209134" y="19558"/>
                </a:cubicBezTo>
                <a:cubicBezTo>
                  <a:pt x="209134" y="8763"/>
                  <a:pt x="217897" y="0"/>
                  <a:pt x="228692" y="0"/>
                </a:cubicBezTo>
                <a:close/>
              </a:path>
            </a:pathLst>
          </a:custGeom>
          <a:gradFill rotWithShape="1">
            <a:gsLst>
              <a:gs pos="0">
                <a:srgbClr val="497BB9"/>
              </a:gs>
              <a:gs pos="100000">
                <a:srgbClr val="1B5AA8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26" name="m-d30_radial_bar-bv-3"/>
          <p:cNvSpPr txBox="1"/>
          <p:nvPr/>
        </p:nvSpPr>
        <p:spPr>
          <a:xfrm>
            <a:off x="2878895" y="3727336"/>
            <a:ext cx="3681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81</a:t>
            </a:r>
          </a:p>
        </p:txBody>
      </p:sp>
      <p:sp>
        <p:nvSpPr>
          <p:cNvPr id="1027" name="m-d30_radial_bar-bn-3"/>
          <p:cNvSpPr txBox="1"/>
          <p:nvPr/>
        </p:nvSpPr>
        <p:spPr>
          <a:xfrm>
            <a:off x="2990449" y="3110629"/>
            <a:ext cx="71857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华北</a:t>
            </a:r>
          </a:p>
        </p:txBody>
      </p:sp>
      <p:sp>
        <p:nvSpPr>
          <p:cNvPr id="1028" name="m-d30_radial_bar-bp-3"/>
          <p:cNvSpPr txBox="1"/>
          <p:nvPr/>
        </p:nvSpPr>
        <p:spPr>
          <a:xfrm>
            <a:off x="2937962" y="3112543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81%</a:t>
            </a:r>
          </a:p>
        </p:txBody>
      </p:sp>
      <p:sp>
        <p:nvSpPr>
          <p:cNvPr id="1029" name="m-d30_radial_bar-trk-4"/>
          <p:cNvSpPr/>
          <p:nvPr/>
        </p:nvSpPr>
        <p:spPr>
          <a:xfrm>
            <a:off x="2783522" y="3165602"/>
            <a:ext cx="598805" cy="598805"/>
          </a:xfrm>
          <a:custGeom>
            <a:avLst/>
            <a:gdLst/>
            <a:ahLst/>
            <a:cxnLst/>
            <a:rect l="0" t="0" r="r" b="b"/>
            <a:pathLst>
              <a:path w="598805" h="598805">
                <a:moveTo>
                  <a:pt x="299402" y="0"/>
                </a:moveTo>
                <a:cubicBezTo>
                  <a:pt x="464756" y="0"/>
                  <a:pt x="598805" y="134049"/>
                  <a:pt x="598805" y="299402"/>
                </a:cubicBezTo>
                <a:cubicBezTo>
                  <a:pt x="598805" y="464757"/>
                  <a:pt x="464756" y="598805"/>
                  <a:pt x="299402" y="598805"/>
                </a:cubicBezTo>
                <a:cubicBezTo>
                  <a:pt x="134048" y="598805"/>
                  <a:pt x="0" y="464757"/>
                  <a:pt x="0" y="299402"/>
                </a:cubicBezTo>
                <a:cubicBezTo>
                  <a:pt x="0" y="288608"/>
                  <a:pt x="8763" y="279908"/>
                  <a:pt x="19558" y="279908"/>
                </a:cubicBezTo>
                <a:cubicBezTo>
                  <a:pt x="30289" y="279908"/>
                  <a:pt x="39052" y="288608"/>
                  <a:pt x="39052" y="299402"/>
                </a:cubicBezTo>
                <a:cubicBezTo>
                  <a:pt x="39052" y="443166"/>
                  <a:pt x="155638" y="559752"/>
                  <a:pt x="299402" y="559752"/>
                </a:cubicBezTo>
                <a:cubicBezTo>
                  <a:pt x="443166" y="559752"/>
                  <a:pt x="559752" y="443166"/>
                  <a:pt x="559752" y="299402"/>
                </a:cubicBezTo>
                <a:cubicBezTo>
                  <a:pt x="559752" y="155638"/>
                  <a:pt x="443166" y="39053"/>
                  <a:pt x="299402" y="39053"/>
                </a:cubicBezTo>
                <a:cubicBezTo>
                  <a:pt x="288607" y="39053"/>
                  <a:pt x="279844" y="30290"/>
                  <a:pt x="279844" y="19558"/>
                </a:cubicBezTo>
                <a:cubicBezTo>
                  <a:pt x="279844" y="8763"/>
                  <a:pt x="288607" y="0"/>
                  <a:pt x="299402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30" name="m-d30_radial_bar-bar-4"/>
          <p:cNvSpPr/>
          <p:nvPr/>
        </p:nvSpPr>
        <p:spPr>
          <a:xfrm>
            <a:off x="2968614" y="3165602"/>
            <a:ext cx="413588" cy="598743"/>
          </a:xfrm>
          <a:custGeom>
            <a:avLst/>
            <a:gdLst/>
            <a:ahLst/>
            <a:cxnLst/>
            <a:rect l="0" t="0" r="r" b="b"/>
            <a:pathLst>
              <a:path w="413588" h="598743">
                <a:moveTo>
                  <a:pt x="114311" y="0"/>
                </a:moveTo>
                <a:cubicBezTo>
                  <a:pt x="233691" y="0"/>
                  <a:pt x="341705" y="70930"/>
                  <a:pt x="389076" y="180531"/>
                </a:cubicBezTo>
                <a:cubicBezTo>
                  <a:pt x="436510" y="290068"/>
                  <a:pt x="414285" y="417322"/>
                  <a:pt x="332561" y="504381"/>
                </a:cubicBezTo>
                <a:cubicBezTo>
                  <a:pt x="250836" y="591376"/>
                  <a:pt x="125233" y="621538"/>
                  <a:pt x="12902" y="581088"/>
                </a:cubicBezTo>
                <a:cubicBezTo>
                  <a:pt x="2742" y="577469"/>
                  <a:pt x="-2529" y="566230"/>
                  <a:pt x="1154" y="556133"/>
                </a:cubicBezTo>
                <a:cubicBezTo>
                  <a:pt x="4774" y="545973"/>
                  <a:pt x="15950" y="540702"/>
                  <a:pt x="26110" y="544386"/>
                </a:cubicBezTo>
                <a:cubicBezTo>
                  <a:pt x="123773" y="579501"/>
                  <a:pt x="233056" y="553276"/>
                  <a:pt x="304113" y="477647"/>
                </a:cubicBezTo>
                <a:cubicBezTo>
                  <a:pt x="375169" y="401955"/>
                  <a:pt x="394473" y="291274"/>
                  <a:pt x="353262" y="196025"/>
                </a:cubicBezTo>
                <a:cubicBezTo>
                  <a:pt x="312050" y="100711"/>
                  <a:pt x="218134" y="39053"/>
                  <a:pt x="114311" y="39053"/>
                </a:cubicBezTo>
                <a:cubicBezTo>
                  <a:pt x="103516" y="39053"/>
                  <a:pt x="94753" y="30290"/>
                  <a:pt x="94753" y="19558"/>
                </a:cubicBezTo>
                <a:cubicBezTo>
                  <a:pt x="94753" y="8763"/>
                  <a:pt x="103516" y="0"/>
                  <a:pt x="114311" y="0"/>
                </a:cubicBezTo>
                <a:close/>
              </a:path>
            </a:pathLst>
          </a:custGeom>
          <a:gradFill rotWithShape="1">
            <a:gsLst>
              <a:gs pos="0">
                <a:srgbClr val="5086C5"/>
              </a:gs>
              <a:gs pos="100000">
                <a:srgbClr val="2468B6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31" name="m-d30_radial_bar-bv-4"/>
          <p:cNvSpPr txBox="1"/>
          <p:nvPr/>
        </p:nvSpPr>
        <p:spPr>
          <a:xfrm>
            <a:off x="2993025" y="3719597"/>
            <a:ext cx="3681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74</a:t>
            </a:r>
          </a:p>
        </p:txBody>
      </p:sp>
      <p:sp>
        <p:nvSpPr>
          <p:cNvPr id="1032" name="m-d30_radial_bar-bn-4"/>
          <p:cNvSpPr txBox="1"/>
          <p:nvPr/>
        </p:nvSpPr>
        <p:spPr>
          <a:xfrm>
            <a:off x="2990449" y="3165303"/>
            <a:ext cx="71857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西南</a:t>
            </a:r>
          </a:p>
        </p:txBody>
      </p:sp>
      <p:sp>
        <p:nvSpPr>
          <p:cNvPr id="1033" name="m-d30_radial_bar-bp-4"/>
          <p:cNvSpPr txBox="1"/>
          <p:nvPr/>
        </p:nvSpPr>
        <p:spPr>
          <a:xfrm>
            <a:off x="2937962" y="3167216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2468B6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74%</a:t>
            </a:r>
          </a:p>
        </p:txBody>
      </p:sp>
      <p:sp>
        <p:nvSpPr>
          <p:cNvPr id="1034" name="m-d30_radial_bar-trk-5"/>
          <p:cNvSpPr/>
          <p:nvPr/>
        </p:nvSpPr>
        <p:spPr>
          <a:xfrm>
            <a:off x="2838196" y="3220276"/>
            <a:ext cx="489458" cy="489458"/>
          </a:xfrm>
          <a:custGeom>
            <a:avLst/>
            <a:gdLst/>
            <a:ahLst/>
            <a:cxnLst/>
            <a:rect l="0" t="0" r="r" b="b"/>
            <a:pathLst>
              <a:path w="489458" h="489458">
                <a:moveTo>
                  <a:pt x="244729" y="0"/>
                </a:moveTo>
                <a:cubicBezTo>
                  <a:pt x="379921" y="0"/>
                  <a:pt x="489458" y="109538"/>
                  <a:pt x="489458" y="244729"/>
                </a:cubicBezTo>
                <a:cubicBezTo>
                  <a:pt x="489458" y="379921"/>
                  <a:pt x="379921" y="489458"/>
                  <a:pt x="244729" y="489458"/>
                </a:cubicBezTo>
                <a:cubicBezTo>
                  <a:pt x="109538" y="489458"/>
                  <a:pt x="0" y="379921"/>
                  <a:pt x="0" y="244729"/>
                </a:cubicBezTo>
                <a:cubicBezTo>
                  <a:pt x="0" y="233934"/>
                  <a:pt x="8763" y="225235"/>
                  <a:pt x="19494" y="225235"/>
                </a:cubicBezTo>
                <a:cubicBezTo>
                  <a:pt x="30290" y="225235"/>
                  <a:pt x="39053" y="233934"/>
                  <a:pt x="39053" y="244729"/>
                </a:cubicBezTo>
                <a:cubicBezTo>
                  <a:pt x="39053" y="358330"/>
                  <a:pt x="131128" y="450405"/>
                  <a:pt x="244729" y="450405"/>
                </a:cubicBezTo>
                <a:cubicBezTo>
                  <a:pt x="358331" y="450405"/>
                  <a:pt x="450406" y="358330"/>
                  <a:pt x="450406" y="244729"/>
                </a:cubicBezTo>
                <a:cubicBezTo>
                  <a:pt x="450406" y="131127"/>
                  <a:pt x="358331" y="39052"/>
                  <a:pt x="244729" y="39052"/>
                </a:cubicBezTo>
                <a:cubicBezTo>
                  <a:pt x="233934" y="39052"/>
                  <a:pt x="225171" y="30289"/>
                  <a:pt x="225171" y="19494"/>
                </a:cubicBezTo>
                <a:cubicBezTo>
                  <a:pt x="225171" y="8763"/>
                  <a:pt x="233934" y="0"/>
                  <a:pt x="244729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35" name="m-d30_radial_bar-bar-5"/>
          <p:cNvSpPr/>
          <p:nvPr/>
        </p:nvSpPr>
        <p:spPr>
          <a:xfrm>
            <a:off x="3059874" y="3220276"/>
            <a:ext cx="267764" cy="489458"/>
          </a:xfrm>
          <a:custGeom>
            <a:avLst/>
            <a:gdLst/>
            <a:ahLst/>
            <a:cxnLst/>
            <a:rect l="0" t="0" r="r" b="b"/>
            <a:pathLst>
              <a:path w="267764" h="489458">
                <a:moveTo>
                  <a:pt x="23050" y="0"/>
                </a:moveTo>
                <a:cubicBezTo>
                  <a:pt x="110934" y="0"/>
                  <a:pt x="192088" y="47117"/>
                  <a:pt x="235649" y="123444"/>
                </a:cubicBezTo>
                <a:cubicBezTo>
                  <a:pt x="279146" y="199835"/>
                  <a:pt x="278448" y="293624"/>
                  <a:pt x="233680" y="369316"/>
                </a:cubicBezTo>
                <a:cubicBezTo>
                  <a:pt x="188976" y="444945"/>
                  <a:pt x="107061" y="490791"/>
                  <a:pt x="19240" y="489458"/>
                </a:cubicBezTo>
                <a:cubicBezTo>
                  <a:pt x="8445" y="489267"/>
                  <a:pt x="-191" y="480377"/>
                  <a:pt x="0" y="469583"/>
                </a:cubicBezTo>
                <a:cubicBezTo>
                  <a:pt x="127" y="458788"/>
                  <a:pt x="9017" y="450215"/>
                  <a:pt x="19812" y="450405"/>
                </a:cubicBezTo>
                <a:cubicBezTo>
                  <a:pt x="93662" y="451549"/>
                  <a:pt x="162496" y="413004"/>
                  <a:pt x="200088" y="349440"/>
                </a:cubicBezTo>
                <a:cubicBezTo>
                  <a:pt x="237680" y="285877"/>
                  <a:pt x="238315" y="207010"/>
                  <a:pt x="201676" y="142812"/>
                </a:cubicBezTo>
                <a:cubicBezTo>
                  <a:pt x="165100" y="78676"/>
                  <a:pt x="96901" y="39052"/>
                  <a:pt x="23050" y="39052"/>
                </a:cubicBezTo>
                <a:cubicBezTo>
                  <a:pt x="12256" y="39052"/>
                  <a:pt x="3493" y="30289"/>
                  <a:pt x="3493" y="19494"/>
                </a:cubicBezTo>
                <a:cubicBezTo>
                  <a:pt x="3493" y="8763"/>
                  <a:pt x="12256" y="0"/>
                  <a:pt x="23050" y="0"/>
                </a:cubicBezTo>
                <a:close/>
              </a:path>
            </a:pathLst>
          </a:custGeom>
          <a:gradFill rotWithShape="1">
            <a:gsLst>
              <a:gs pos="0">
                <a:srgbClr val="5892CE"/>
              </a:gs>
              <a:gs pos="100000">
                <a:srgbClr val="2E77C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36" name="m-d30_radial_bar-bv-5"/>
          <p:cNvSpPr txBox="1"/>
          <p:nvPr/>
        </p:nvSpPr>
        <p:spPr>
          <a:xfrm>
            <a:off x="3080620" y="3673632"/>
            <a:ext cx="3681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67</a:t>
            </a:r>
          </a:p>
        </p:txBody>
      </p:sp>
      <p:sp>
        <p:nvSpPr>
          <p:cNvPr id="1037" name="m-d30_radial_bar-bn-5"/>
          <p:cNvSpPr txBox="1"/>
          <p:nvPr/>
        </p:nvSpPr>
        <p:spPr>
          <a:xfrm>
            <a:off x="2990449" y="3219976"/>
            <a:ext cx="71857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华中</a:t>
            </a:r>
          </a:p>
        </p:txBody>
      </p:sp>
      <p:sp>
        <p:nvSpPr>
          <p:cNvPr id="1038" name="m-d30_radial_bar-bp-5"/>
          <p:cNvSpPr txBox="1"/>
          <p:nvPr/>
        </p:nvSpPr>
        <p:spPr>
          <a:xfrm>
            <a:off x="2937962" y="3221890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2E77C2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67%</a:t>
            </a:r>
          </a:p>
        </p:txBody>
      </p:sp>
      <p:sp>
        <p:nvSpPr>
          <p:cNvPr id="1039" name="m-d30_radial_bar-trk-6"/>
          <p:cNvSpPr/>
          <p:nvPr/>
        </p:nvSpPr>
        <p:spPr>
          <a:xfrm>
            <a:off x="2892870" y="3274949"/>
            <a:ext cx="380111" cy="380111"/>
          </a:xfrm>
          <a:custGeom>
            <a:avLst/>
            <a:gdLst/>
            <a:ahLst/>
            <a:cxnLst/>
            <a:rect l="0" t="0" r="r" b="b"/>
            <a:pathLst>
              <a:path w="380111" h="380111">
                <a:moveTo>
                  <a:pt x="190056" y="0"/>
                </a:moveTo>
                <a:cubicBezTo>
                  <a:pt x="295021" y="0"/>
                  <a:pt x="380111" y="85090"/>
                  <a:pt x="380111" y="190055"/>
                </a:cubicBezTo>
                <a:cubicBezTo>
                  <a:pt x="380111" y="295021"/>
                  <a:pt x="295021" y="380111"/>
                  <a:pt x="190056" y="380111"/>
                </a:cubicBezTo>
                <a:cubicBezTo>
                  <a:pt x="85090" y="380111"/>
                  <a:pt x="0" y="295021"/>
                  <a:pt x="0" y="190055"/>
                </a:cubicBezTo>
                <a:cubicBezTo>
                  <a:pt x="0" y="179261"/>
                  <a:pt x="8763" y="170561"/>
                  <a:pt x="19494" y="170561"/>
                </a:cubicBezTo>
                <a:cubicBezTo>
                  <a:pt x="30289" y="170561"/>
                  <a:pt x="39053" y="179261"/>
                  <a:pt x="39053" y="190055"/>
                </a:cubicBezTo>
                <a:cubicBezTo>
                  <a:pt x="39053" y="273431"/>
                  <a:pt x="106680" y="341059"/>
                  <a:pt x="190056" y="341059"/>
                </a:cubicBezTo>
                <a:cubicBezTo>
                  <a:pt x="273431" y="341059"/>
                  <a:pt x="341058" y="273431"/>
                  <a:pt x="341058" y="190055"/>
                </a:cubicBezTo>
                <a:cubicBezTo>
                  <a:pt x="341058" y="106680"/>
                  <a:pt x="273431" y="39052"/>
                  <a:pt x="190056" y="39052"/>
                </a:cubicBezTo>
                <a:cubicBezTo>
                  <a:pt x="179261" y="39052"/>
                  <a:pt x="170498" y="30289"/>
                  <a:pt x="170498" y="19558"/>
                </a:cubicBezTo>
                <a:cubicBezTo>
                  <a:pt x="170498" y="8763"/>
                  <a:pt x="179261" y="0"/>
                  <a:pt x="190056" y="0"/>
                </a:cubicBezTo>
                <a:close/>
              </a:path>
            </a:pathLst>
          </a:custGeom>
          <a:solidFill>
            <a:srgbClr val="0B2545">
              <a:alpha val="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40" name="m-d30_radial_bar-bar-6"/>
          <p:cNvSpPr/>
          <p:nvPr/>
        </p:nvSpPr>
        <p:spPr>
          <a:xfrm>
            <a:off x="3063367" y="3274949"/>
            <a:ext cx="209547" cy="366090"/>
          </a:xfrm>
          <a:custGeom>
            <a:avLst/>
            <a:gdLst/>
            <a:ahLst/>
            <a:cxnLst/>
            <a:rect l="0" t="0" r="r" b="b"/>
            <a:pathLst>
              <a:path w="209547" h="366090">
                <a:moveTo>
                  <a:pt x="19558" y="0"/>
                </a:moveTo>
                <a:cubicBezTo>
                  <a:pt x="109664" y="0"/>
                  <a:pt x="187388" y="63310"/>
                  <a:pt x="205676" y="151511"/>
                </a:cubicBezTo>
                <a:cubicBezTo>
                  <a:pt x="223901" y="239776"/>
                  <a:pt x="177737" y="328676"/>
                  <a:pt x="95059" y="364490"/>
                </a:cubicBezTo>
                <a:cubicBezTo>
                  <a:pt x="85153" y="368744"/>
                  <a:pt x="73660" y="364236"/>
                  <a:pt x="69342" y="354330"/>
                </a:cubicBezTo>
                <a:cubicBezTo>
                  <a:pt x="65088" y="344424"/>
                  <a:pt x="69659" y="332930"/>
                  <a:pt x="79502" y="328612"/>
                </a:cubicBezTo>
                <a:cubicBezTo>
                  <a:pt x="145225" y="300228"/>
                  <a:pt x="181927" y="229552"/>
                  <a:pt x="167450" y="159449"/>
                </a:cubicBezTo>
                <a:cubicBezTo>
                  <a:pt x="152908" y="89344"/>
                  <a:pt x="91122" y="39052"/>
                  <a:pt x="19558" y="39052"/>
                </a:cubicBezTo>
                <a:cubicBezTo>
                  <a:pt x="8763" y="39052"/>
                  <a:pt x="0" y="30289"/>
                  <a:pt x="0" y="19558"/>
                </a:cubicBezTo>
                <a:cubicBezTo>
                  <a:pt x="0" y="8763"/>
                  <a:pt x="8763" y="0"/>
                  <a:pt x="19558" y="0"/>
                </a:cubicBezTo>
                <a:close/>
              </a:path>
            </a:pathLst>
          </a:custGeom>
          <a:gradFill rotWithShape="1">
            <a:gsLst>
              <a:gs pos="0">
                <a:srgbClr val="619DD7"/>
              </a:gs>
              <a:gs pos="100000">
                <a:srgbClr val="3985CD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41" name="m-d30_radial_bar-bv-6"/>
          <p:cNvSpPr txBox="1"/>
          <p:nvPr/>
        </p:nvSpPr>
        <p:spPr>
          <a:xfrm>
            <a:off x="3145626" y="3599012"/>
            <a:ext cx="3681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58</a:t>
            </a:r>
          </a:p>
        </p:txBody>
      </p:sp>
      <p:sp>
        <p:nvSpPr>
          <p:cNvPr id="1042" name="m-d30_radial_bar-bn-6"/>
          <p:cNvSpPr txBox="1"/>
          <p:nvPr/>
        </p:nvSpPr>
        <p:spPr>
          <a:xfrm>
            <a:off x="2990449" y="3274650"/>
            <a:ext cx="71857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西北</a:t>
            </a:r>
          </a:p>
        </p:txBody>
      </p:sp>
      <p:sp>
        <p:nvSpPr>
          <p:cNvPr id="1043" name="m-d30_radial_bar-bp-6"/>
          <p:cNvSpPr txBox="1"/>
          <p:nvPr/>
        </p:nvSpPr>
        <p:spPr>
          <a:xfrm>
            <a:off x="2937962" y="3276563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58%</a:t>
            </a:r>
          </a:p>
        </p:txBody>
      </p:sp>
      <p:sp>
        <p:nvSpPr>
          <p:cNvPr id="1044" name="m-d30_radial_bar-core"/>
          <p:cNvSpPr/>
          <p:nvPr/>
        </p:nvSpPr>
        <p:spPr>
          <a:xfrm>
            <a:off x="2955354" y="3337433"/>
            <a:ext cx="255143" cy="255143"/>
          </a:xfrm>
          <a:prstGeom prst="ellipse">
            <a:avLst/>
          </a:pr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45" name="m-d30_radial_bar-core-v"/>
          <p:cNvSpPr txBox="1"/>
          <p:nvPr/>
        </p:nvSpPr>
        <p:spPr>
          <a:xfrm>
            <a:off x="3022472" y="3412336"/>
            <a:ext cx="120907" cy="820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7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77%</a:t>
            </a:r>
          </a:p>
        </p:txBody>
      </p:sp>
      <p:sp>
        <p:nvSpPr>
          <p:cNvPr id="1046" name="m-d30_radial_bar-core-l"/>
          <p:cNvSpPr txBox="1"/>
          <p:nvPr/>
        </p:nvSpPr>
        <p:spPr>
          <a:xfrm>
            <a:off x="3025908" y="3486757"/>
            <a:ext cx="11403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0" normalizeH="0" baseline="0" noProof="0">
                <a:ln>
                  <a:noFill/>
                </a:ln>
                <a:solidFill>
                  <a:srgbClr val="CFE0F4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平均完成率</a:t>
            </a:r>
          </a:p>
        </p:txBody>
      </p:sp>
      <p:sp>
        <p:nvSpPr>
          <p:cNvPr id="1047" name="m-d30_radial_bar-side-bar"/>
          <p:cNvSpPr/>
          <p:nvPr/>
        </p:nvSpPr>
        <p:spPr>
          <a:xfrm>
            <a:off x="3785870" y="3025013"/>
            <a:ext cx="6509" cy="109347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48" name="m-d30_radial_bar-side-h"/>
          <p:cNvSpPr txBox="1"/>
          <p:nvPr/>
        </p:nvSpPr>
        <p:spPr>
          <a:xfrm>
            <a:off x="3818414" y="3026477"/>
            <a:ext cx="169878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完成情况</a:t>
            </a:r>
          </a:p>
        </p:txBody>
      </p:sp>
      <p:sp>
        <p:nvSpPr>
          <p:cNvPr id="1049" name="m-d30_radial_bar-side-p"/>
          <p:cNvSpPr txBox="1"/>
          <p:nvPr/>
        </p:nvSpPr>
        <p:spPr>
          <a:xfrm>
            <a:off x="3819585" y="3082794"/>
            <a:ext cx="316651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按完成率排序 · 已完成营收</a:t>
            </a:r>
          </a:p>
        </p:txBody>
      </p:sp>
      <p:sp>
        <p:nvSpPr>
          <p:cNvPr id="1050" name="m-d30_radial_bar-r-1"/>
          <p:cNvSpPr/>
          <p:nvPr/>
        </p:nvSpPr>
        <p:spPr>
          <a:xfrm>
            <a:off x="3785870" y="3160395"/>
            <a:ext cx="689927" cy="80709"/>
          </a:xfrm>
          <a:custGeom>
            <a:avLst/>
            <a:gdLst/>
            <a:ahLst/>
            <a:cxnLst/>
            <a:rect l="0" t="0" r="r" b="b"/>
            <a:pathLst>
              <a:path w="689927" h="80709">
                <a:moveTo>
                  <a:pt x="20828" y="0"/>
                </a:moveTo>
                <a:lnTo>
                  <a:pt x="669100" y="0"/>
                </a:lnTo>
                <a:cubicBezTo>
                  <a:pt x="680593" y="0"/>
                  <a:pt x="689927" y="9335"/>
                  <a:pt x="689927" y="20828"/>
                </a:cubicBezTo>
                <a:lnTo>
                  <a:pt x="689927" y="59881"/>
                </a:lnTo>
                <a:cubicBezTo>
                  <a:pt x="689927" y="71374"/>
                  <a:pt x="680593" y="80709"/>
                  <a:pt x="669100" y="80709"/>
                </a:cubicBezTo>
                <a:lnTo>
                  <a:pt x="20828" y="80709"/>
                </a:lnTo>
                <a:cubicBezTo>
                  <a:pt x="9334" y="80709"/>
                  <a:pt x="0" y="71374"/>
                  <a:pt x="0" y="59881"/>
                </a:cubicBezTo>
                <a:lnTo>
                  <a:pt x="0" y="20828"/>
                </a:lnTo>
                <a:cubicBezTo>
                  <a:pt x="0" y="9335"/>
                  <a:pt x="9334" y="0"/>
                  <a:pt x="2082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51" name="m-d30_radial_bar-rb-1"/>
          <p:cNvSpPr/>
          <p:nvPr/>
        </p:nvSpPr>
        <p:spPr>
          <a:xfrm>
            <a:off x="3785870" y="3160395"/>
            <a:ext cx="7810" cy="80709"/>
          </a:xfrm>
          <a:custGeom>
            <a:avLst/>
            <a:gdLst/>
            <a:ahLst/>
            <a:cxnLst/>
            <a:rect l="0" t="0" r="r" b="b"/>
            <a:pathLst>
              <a:path w="7810" h="80709">
                <a:moveTo>
                  <a:pt x="3937" y="0"/>
                </a:moveTo>
                <a:lnTo>
                  <a:pt x="3937" y="0"/>
                </a:lnTo>
                <a:cubicBezTo>
                  <a:pt x="6096" y="0"/>
                  <a:pt x="7810" y="1715"/>
                  <a:pt x="7810" y="3874"/>
                </a:cubicBezTo>
                <a:lnTo>
                  <a:pt x="7810" y="76835"/>
                </a:lnTo>
                <a:cubicBezTo>
                  <a:pt x="7810" y="78994"/>
                  <a:pt x="6096" y="80709"/>
                  <a:pt x="3937" y="80709"/>
                </a:cubicBezTo>
                <a:lnTo>
                  <a:pt x="3937" y="80709"/>
                </a:lnTo>
                <a:cubicBezTo>
                  <a:pt x="1714" y="80709"/>
                  <a:pt x="0" y="78994"/>
                  <a:pt x="0" y="76835"/>
                </a:cubicBezTo>
                <a:lnTo>
                  <a:pt x="0" y="3874"/>
                </a:lnTo>
                <a:cubicBezTo>
                  <a:pt x="0" y="1715"/>
                  <a:pt x="1714" y="0"/>
                  <a:pt x="3937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52" name="m-d30_radial_bar-rn-1"/>
          <p:cNvSpPr txBox="1"/>
          <p:nvPr/>
        </p:nvSpPr>
        <p:spPr>
          <a:xfrm>
            <a:off x="3821955" y="3181919"/>
            <a:ext cx="75632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华东</a:t>
            </a:r>
          </a:p>
        </p:txBody>
      </p:sp>
      <p:sp>
        <p:nvSpPr>
          <p:cNvPr id="1053" name="m-d30_radial_bar-rv-1"/>
          <p:cNvSpPr txBox="1"/>
          <p:nvPr/>
        </p:nvSpPr>
        <p:spPr>
          <a:xfrm>
            <a:off x="3925626" y="3177096"/>
            <a:ext cx="73887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96%</a:t>
            </a:r>
          </a:p>
        </p:txBody>
      </p:sp>
      <p:sp>
        <p:nvSpPr>
          <p:cNvPr id="1054" name="m-d30_radial_bar-ra-1"/>
          <p:cNvSpPr txBox="1"/>
          <p:nvPr/>
        </p:nvSpPr>
        <p:spPr>
          <a:xfrm>
            <a:off x="4066736" y="3183527"/>
            <a:ext cx="11247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3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18.2 亿</a:t>
            </a:r>
          </a:p>
        </p:txBody>
      </p:sp>
      <p:sp>
        <p:nvSpPr>
          <p:cNvPr id="1055" name="m-d30_radial_bar-rs-1"/>
          <p:cNvSpPr/>
          <p:nvPr/>
        </p:nvSpPr>
        <p:spPr>
          <a:xfrm>
            <a:off x="4332605" y="3181223"/>
            <a:ext cx="109347" cy="39052"/>
          </a:xfrm>
          <a:custGeom>
            <a:avLst/>
            <a:gdLst/>
            <a:ahLst/>
            <a:cxnLst/>
            <a:rect l="0" t="0" r="r" b="b"/>
            <a:pathLst>
              <a:path w="109347" h="39052">
                <a:moveTo>
                  <a:pt x="19558" y="0"/>
                </a:moveTo>
                <a:lnTo>
                  <a:pt x="89789" y="0"/>
                </a:lnTo>
                <a:cubicBezTo>
                  <a:pt x="100584" y="0"/>
                  <a:pt x="109347" y="8763"/>
                  <a:pt x="109347" y="19558"/>
                </a:cubicBezTo>
                <a:lnTo>
                  <a:pt x="109347" y="19558"/>
                </a:lnTo>
                <a:cubicBezTo>
                  <a:pt x="109347" y="30289"/>
                  <a:pt x="100584" y="39052"/>
                  <a:pt x="89789" y="39052"/>
                </a:cubicBezTo>
                <a:lnTo>
                  <a:pt x="19558" y="39052"/>
                </a:lnTo>
                <a:cubicBezTo>
                  <a:pt x="8763" y="39052"/>
                  <a:pt x="0" y="30289"/>
                  <a:pt x="0" y="19558"/>
                </a:cubicBezTo>
                <a:lnTo>
                  <a:pt x="0" y="19558"/>
                </a:lnTo>
                <a:cubicBezTo>
                  <a:pt x="0" y="8763"/>
                  <a:pt x="8763" y="0"/>
                  <a:pt x="19558" y="0"/>
                </a:cubicBezTo>
                <a:close/>
              </a:path>
            </a:pathLst>
          </a:custGeom>
          <a:solidFill>
            <a:srgbClr val="134C9C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56" name="m-d30_radial_bar-rst-1"/>
          <p:cNvSpPr txBox="1"/>
          <p:nvPr/>
        </p:nvSpPr>
        <p:spPr>
          <a:xfrm>
            <a:off x="4358607" y="3185249"/>
            <a:ext cx="57342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1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达线</a:t>
            </a:r>
          </a:p>
        </p:txBody>
      </p:sp>
      <p:sp>
        <p:nvSpPr>
          <p:cNvPr id="1057" name="m-d30_radial_bar-r-2"/>
          <p:cNvSpPr/>
          <p:nvPr/>
        </p:nvSpPr>
        <p:spPr>
          <a:xfrm>
            <a:off x="3785870" y="3259328"/>
            <a:ext cx="689927" cy="80709"/>
          </a:xfrm>
          <a:custGeom>
            <a:avLst/>
            <a:gdLst/>
            <a:ahLst/>
            <a:cxnLst/>
            <a:rect l="0" t="0" r="r" b="b"/>
            <a:pathLst>
              <a:path w="689927" h="80709">
                <a:moveTo>
                  <a:pt x="20828" y="0"/>
                </a:moveTo>
                <a:lnTo>
                  <a:pt x="669100" y="0"/>
                </a:lnTo>
                <a:cubicBezTo>
                  <a:pt x="680593" y="0"/>
                  <a:pt x="689927" y="9335"/>
                  <a:pt x="689927" y="20828"/>
                </a:cubicBezTo>
                <a:lnTo>
                  <a:pt x="689927" y="59881"/>
                </a:lnTo>
                <a:cubicBezTo>
                  <a:pt x="689927" y="71374"/>
                  <a:pt x="680593" y="80709"/>
                  <a:pt x="669100" y="80709"/>
                </a:cubicBezTo>
                <a:lnTo>
                  <a:pt x="20828" y="80709"/>
                </a:lnTo>
                <a:cubicBezTo>
                  <a:pt x="9334" y="80709"/>
                  <a:pt x="0" y="71374"/>
                  <a:pt x="0" y="59881"/>
                </a:cubicBezTo>
                <a:lnTo>
                  <a:pt x="0" y="20828"/>
                </a:lnTo>
                <a:cubicBezTo>
                  <a:pt x="0" y="9335"/>
                  <a:pt x="9334" y="0"/>
                  <a:pt x="2082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58" name="m-d30_radial_bar-rb-2"/>
          <p:cNvSpPr/>
          <p:nvPr/>
        </p:nvSpPr>
        <p:spPr>
          <a:xfrm>
            <a:off x="3785870" y="3259328"/>
            <a:ext cx="7810" cy="80709"/>
          </a:xfrm>
          <a:custGeom>
            <a:avLst/>
            <a:gdLst/>
            <a:ahLst/>
            <a:cxnLst/>
            <a:rect l="0" t="0" r="r" b="b"/>
            <a:pathLst>
              <a:path w="7810" h="80709">
                <a:moveTo>
                  <a:pt x="3937" y="0"/>
                </a:moveTo>
                <a:lnTo>
                  <a:pt x="3937" y="0"/>
                </a:lnTo>
                <a:cubicBezTo>
                  <a:pt x="6096" y="0"/>
                  <a:pt x="7810" y="1714"/>
                  <a:pt x="7810" y="3874"/>
                </a:cubicBezTo>
                <a:lnTo>
                  <a:pt x="7810" y="76835"/>
                </a:lnTo>
                <a:cubicBezTo>
                  <a:pt x="7810" y="78994"/>
                  <a:pt x="6096" y="80709"/>
                  <a:pt x="3937" y="80709"/>
                </a:cubicBezTo>
                <a:lnTo>
                  <a:pt x="3937" y="80709"/>
                </a:lnTo>
                <a:cubicBezTo>
                  <a:pt x="1714" y="80709"/>
                  <a:pt x="0" y="78994"/>
                  <a:pt x="0" y="76835"/>
                </a:cubicBezTo>
                <a:lnTo>
                  <a:pt x="0" y="3874"/>
                </a:lnTo>
                <a:cubicBezTo>
                  <a:pt x="0" y="1714"/>
                  <a:pt x="1714" y="0"/>
                  <a:pt x="3937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59" name="m-d30_radial_bar-rn-2"/>
          <p:cNvSpPr txBox="1"/>
          <p:nvPr/>
        </p:nvSpPr>
        <p:spPr>
          <a:xfrm>
            <a:off x="3821955" y="3280852"/>
            <a:ext cx="75632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华南</a:t>
            </a:r>
          </a:p>
        </p:txBody>
      </p:sp>
      <p:sp>
        <p:nvSpPr>
          <p:cNvPr id="1060" name="m-d30_radial_bar-rv-2"/>
          <p:cNvSpPr txBox="1"/>
          <p:nvPr/>
        </p:nvSpPr>
        <p:spPr>
          <a:xfrm>
            <a:off x="3925626" y="3276029"/>
            <a:ext cx="73887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88%</a:t>
            </a:r>
          </a:p>
        </p:txBody>
      </p:sp>
      <p:sp>
        <p:nvSpPr>
          <p:cNvPr id="1061" name="m-d30_radial_bar-ra-2"/>
          <p:cNvSpPr txBox="1"/>
          <p:nvPr/>
        </p:nvSpPr>
        <p:spPr>
          <a:xfrm>
            <a:off x="4066736" y="3282460"/>
            <a:ext cx="11247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3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12.6 亿</a:t>
            </a:r>
          </a:p>
        </p:txBody>
      </p:sp>
      <p:sp>
        <p:nvSpPr>
          <p:cNvPr id="1062" name="m-d30_radial_bar-rs-2"/>
          <p:cNvSpPr/>
          <p:nvPr/>
        </p:nvSpPr>
        <p:spPr>
          <a:xfrm>
            <a:off x="4332605" y="3280156"/>
            <a:ext cx="109347" cy="39053"/>
          </a:xfrm>
          <a:custGeom>
            <a:avLst/>
            <a:gdLst/>
            <a:ahLst/>
            <a:cxnLst/>
            <a:rect l="0" t="0" r="r" b="b"/>
            <a:pathLst>
              <a:path w="109347" h="39053">
                <a:moveTo>
                  <a:pt x="19558" y="0"/>
                </a:moveTo>
                <a:lnTo>
                  <a:pt x="89789" y="0"/>
                </a:lnTo>
                <a:cubicBezTo>
                  <a:pt x="100584" y="0"/>
                  <a:pt x="109347" y="8763"/>
                  <a:pt x="109347" y="19495"/>
                </a:cubicBezTo>
                <a:lnTo>
                  <a:pt x="109347" y="19495"/>
                </a:lnTo>
                <a:cubicBezTo>
                  <a:pt x="109347" y="30290"/>
                  <a:pt x="100584" y="39053"/>
                  <a:pt x="89789" y="39053"/>
                </a:cubicBezTo>
                <a:lnTo>
                  <a:pt x="19558" y="39053"/>
                </a:lnTo>
                <a:cubicBezTo>
                  <a:pt x="8763" y="39053"/>
                  <a:pt x="0" y="30290"/>
                  <a:pt x="0" y="19495"/>
                </a:cubicBezTo>
                <a:lnTo>
                  <a:pt x="0" y="19495"/>
                </a:lnTo>
                <a:cubicBezTo>
                  <a:pt x="0" y="8763"/>
                  <a:pt x="8763" y="0"/>
                  <a:pt x="19558" y="0"/>
                </a:cubicBezTo>
                <a:close/>
              </a:path>
            </a:pathLst>
          </a:custGeom>
          <a:solidFill>
            <a:srgbClr val="134C9C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63" name="m-d30_radial_bar-rst-2"/>
          <p:cNvSpPr txBox="1"/>
          <p:nvPr/>
        </p:nvSpPr>
        <p:spPr>
          <a:xfrm>
            <a:off x="4358607" y="3284182"/>
            <a:ext cx="57342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1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达线</a:t>
            </a:r>
          </a:p>
        </p:txBody>
      </p:sp>
      <p:sp>
        <p:nvSpPr>
          <p:cNvPr id="1064" name="m-d30_radial_bar-r-3"/>
          <p:cNvSpPr/>
          <p:nvPr/>
        </p:nvSpPr>
        <p:spPr>
          <a:xfrm>
            <a:off x="3785870" y="3358261"/>
            <a:ext cx="689927" cy="80709"/>
          </a:xfrm>
          <a:custGeom>
            <a:avLst/>
            <a:gdLst/>
            <a:ahLst/>
            <a:cxnLst/>
            <a:rect l="0" t="0" r="r" b="b"/>
            <a:pathLst>
              <a:path w="689927" h="80709">
                <a:moveTo>
                  <a:pt x="20828" y="0"/>
                </a:moveTo>
                <a:lnTo>
                  <a:pt x="669100" y="0"/>
                </a:lnTo>
                <a:cubicBezTo>
                  <a:pt x="680593" y="0"/>
                  <a:pt x="689927" y="9335"/>
                  <a:pt x="689927" y="20828"/>
                </a:cubicBezTo>
                <a:lnTo>
                  <a:pt x="689927" y="59880"/>
                </a:lnTo>
                <a:cubicBezTo>
                  <a:pt x="689927" y="71374"/>
                  <a:pt x="680593" y="80709"/>
                  <a:pt x="669100" y="80709"/>
                </a:cubicBezTo>
                <a:lnTo>
                  <a:pt x="20828" y="80709"/>
                </a:lnTo>
                <a:cubicBezTo>
                  <a:pt x="9334" y="80709"/>
                  <a:pt x="0" y="71374"/>
                  <a:pt x="0" y="59880"/>
                </a:cubicBezTo>
                <a:lnTo>
                  <a:pt x="0" y="20828"/>
                </a:lnTo>
                <a:cubicBezTo>
                  <a:pt x="0" y="9335"/>
                  <a:pt x="9334" y="0"/>
                  <a:pt x="2082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65" name="m-d30_radial_bar-rb-3"/>
          <p:cNvSpPr/>
          <p:nvPr/>
        </p:nvSpPr>
        <p:spPr>
          <a:xfrm>
            <a:off x="3785870" y="3358261"/>
            <a:ext cx="7810" cy="80709"/>
          </a:xfrm>
          <a:custGeom>
            <a:avLst/>
            <a:gdLst/>
            <a:ahLst/>
            <a:cxnLst/>
            <a:rect l="0" t="0" r="r" b="b"/>
            <a:pathLst>
              <a:path w="7810" h="80709">
                <a:moveTo>
                  <a:pt x="3937" y="0"/>
                </a:moveTo>
                <a:lnTo>
                  <a:pt x="3937" y="0"/>
                </a:lnTo>
                <a:cubicBezTo>
                  <a:pt x="6096" y="0"/>
                  <a:pt x="7810" y="1714"/>
                  <a:pt x="7810" y="3937"/>
                </a:cubicBezTo>
                <a:lnTo>
                  <a:pt x="7810" y="76835"/>
                </a:lnTo>
                <a:cubicBezTo>
                  <a:pt x="7810" y="78994"/>
                  <a:pt x="6096" y="80709"/>
                  <a:pt x="3937" y="80709"/>
                </a:cubicBezTo>
                <a:lnTo>
                  <a:pt x="3937" y="80709"/>
                </a:lnTo>
                <a:cubicBezTo>
                  <a:pt x="1714" y="80709"/>
                  <a:pt x="0" y="78994"/>
                  <a:pt x="0" y="76835"/>
                </a:cubicBezTo>
                <a:lnTo>
                  <a:pt x="0" y="3937"/>
                </a:lnTo>
                <a:cubicBezTo>
                  <a:pt x="0" y="1714"/>
                  <a:pt x="1714" y="0"/>
                  <a:pt x="3937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66" name="m-d30_radial_bar-rn-3"/>
          <p:cNvSpPr txBox="1"/>
          <p:nvPr/>
        </p:nvSpPr>
        <p:spPr>
          <a:xfrm>
            <a:off x="3821955" y="3379785"/>
            <a:ext cx="75632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华北</a:t>
            </a:r>
          </a:p>
        </p:txBody>
      </p:sp>
      <p:sp>
        <p:nvSpPr>
          <p:cNvPr id="1067" name="m-d30_radial_bar-rv-3"/>
          <p:cNvSpPr txBox="1"/>
          <p:nvPr/>
        </p:nvSpPr>
        <p:spPr>
          <a:xfrm>
            <a:off x="3925626" y="3374962"/>
            <a:ext cx="73887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81%</a:t>
            </a:r>
          </a:p>
        </p:txBody>
      </p:sp>
      <p:sp>
        <p:nvSpPr>
          <p:cNvPr id="1068" name="m-d30_radial_bar-ra-3"/>
          <p:cNvSpPr txBox="1"/>
          <p:nvPr/>
        </p:nvSpPr>
        <p:spPr>
          <a:xfrm>
            <a:off x="4066736" y="3381393"/>
            <a:ext cx="11247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3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10.4 亿</a:t>
            </a:r>
          </a:p>
        </p:txBody>
      </p:sp>
      <p:sp>
        <p:nvSpPr>
          <p:cNvPr id="1069" name="m-d30_radial_bar-rs-3"/>
          <p:cNvSpPr/>
          <p:nvPr/>
        </p:nvSpPr>
        <p:spPr>
          <a:xfrm>
            <a:off x="4332605" y="3379089"/>
            <a:ext cx="109347" cy="39052"/>
          </a:xfrm>
          <a:custGeom>
            <a:avLst/>
            <a:gdLst/>
            <a:ahLst/>
            <a:cxnLst/>
            <a:rect l="0" t="0" r="r" b="b"/>
            <a:pathLst>
              <a:path w="109347" h="39052">
                <a:moveTo>
                  <a:pt x="19558" y="0"/>
                </a:moveTo>
                <a:lnTo>
                  <a:pt x="89789" y="0"/>
                </a:lnTo>
                <a:cubicBezTo>
                  <a:pt x="100584" y="0"/>
                  <a:pt x="109347" y="8763"/>
                  <a:pt x="109347" y="19558"/>
                </a:cubicBezTo>
                <a:lnTo>
                  <a:pt x="109347" y="19558"/>
                </a:lnTo>
                <a:cubicBezTo>
                  <a:pt x="109347" y="30289"/>
                  <a:pt x="100584" y="39052"/>
                  <a:pt x="89789" y="39052"/>
                </a:cubicBezTo>
                <a:lnTo>
                  <a:pt x="19558" y="39052"/>
                </a:lnTo>
                <a:cubicBezTo>
                  <a:pt x="8763" y="39052"/>
                  <a:pt x="0" y="30289"/>
                  <a:pt x="0" y="19558"/>
                </a:cubicBezTo>
                <a:lnTo>
                  <a:pt x="0" y="19558"/>
                </a:lnTo>
                <a:cubicBezTo>
                  <a:pt x="0" y="8763"/>
                  <a:pt x="8763" y="0"/>
                  <a:pt x="19558" y="0"/>
                </a:cubicBezTo>
                <a:close/>
              </a:path>
            </a:pathLst>
          </a:custGeom>
          <a:solidFill>
            <a:srgbClr val="134C9C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70" name="m-d30_radial_bar-rst-3"/>
          <p:cNvSpPr txBox="1"/>
          <p:nvPr/>
        </p:nvSpPr>
        <p:spPr>
          <a:xfrm>
            <a:off x="4358607" y="3383115"/>
            <a:ext cx="57342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1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达线</a:t>
            </a:r>
          </a:p>
        </p:txBody>
      </p:sp>
      <p:sp>
        <p:nvSpPr>
          <p:cNvPr id="1071" name="m-d30_radial_bar-r-4"/>
          <p:cNvSpPr/>
          <p:nvPr/>
        </p:nvSpPr>
        <p:spPr>
          <a:xfrm>
            <a:off x="3785870" y="3457194"/>
            <a:ext cx="689927" cy="80708"/>
          </a:xfrm>
          <a:custGeom>
            <a:avLst/>
            <a:gdLst/>
            <a:ahLst/>
            <a:cxnLst/>
            <a:rect l="0" t="0" r="r" b="b"/>
            <a:pathLst>
              <a:path w="689927" h="80708">
                <a:moveTo>
                  <a:pt x="20828" y="0"/>
                </a:moveTo>
                <a:lnTo>
                  <a:pt x="669100" y="0"/>
                </a:lnTo>
                <a:cubicBezTo>
                  <a:pt x="680593" y="0"/>
                  <a:pt x="689927" y="9334"/>
                  <a:pt x="689927" y="20828"/>
                </a:cubicBezTo>
                <a:lnTo>
                  <a:pt x="689927" y="59880"/>
                </a:lnTo>
                <a:cubicBezTo>
                  <a:pt x="689927" y="71374"/>
                  <a:pt x="680593" y="80708"/>
                  <a:pt x="669100" y="80708"/>
                </a:cubicBezTo>
                <a:lnTo>
                  <a:pt x="20828" y="80708"/>
                </a:lnTo>
                <a:cubicBezTo>
                  <a:pt x="9334" y="80708"/>
                  <a:pt x="0" y="71374"/>
                  <a:pt x="0" y="59880"/>
                </a:cubicBezTo>
                <a:lnTo>
                  <a:pt x="0" y="20828"/>
                </a:lnTo>
                <a:cubicBezTo>
                  <a:pt x="0" y="9334"/>
                  <a:pt x="9334" y="0"/>
                  <a:pt x="2082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72" name="m-d30_radial_bar-rb-4"/>
          <p:cNvSpPr/>
          <p:nvPr/>
        </p:nvSpPr>
        <p:spPr>
          <a:xfrm>
            <a:off x="3785870" y="3457194"/>
            <a:ext cx="7810" cy="80708"/>
          </a:xfrm>
          <a:custGeom>
            <a:avLst/>
            <a:gdLst/>
            <a:ahLst/>
            <a:cxnLst/>
            <a:rect l="0" t="0" r="r" b="b"/>
            <a:pathLst>
              <a:path w="7810" h="80708">
                <a:moveTo>
                  <a:pt x="3937" y="0"/>
                </a:moveTo>
                <a:lnTo>
                  <a:pt x="3937" y="0"/>
                </a:lnTo>
                <a:cubicBezTo>
                  <a:pt x="6096" y="0"/>
                  <a:pt x="7810" y="1714"/>
                  <a:pt x="7810" y="3873"/>
                </a:cubicBezTo>
                <a:lnTo>
                  <a:pt x="7810" y="76771"/>
                </a:lnTo>
                <a:cubicBezTo>
                  <a:pt x="7810" y="78994"/>
                  <a:pt x="6096" y="80708"/>
                  <a:pt x="3937" y="80708"/>
                </a:cubicBezTo>
                <a:lnTo>
                  <a:pt x="3937" y="80708"/>
                </a:lnTo>
                <a:cubicBezTo>
                  <a:pt x="1714" y="80708"/>
                  <a:pt x="0" y="78994"/>
                  <a:pt x="0" y="76771"/>
                </a:cubicBezTo>
                <a:lnTo>
                  <a:pt x="0" y="3873"/>
                </a:lnTo>
                <a:cubicBezTo>
                  <a:pt x="0" y="1714"/>
                  <a:pt x="1714" y="0"/>
                  <a:pt x="3937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73" name="m-d30_radial_bar-rn-4"/>
          <p:cNvSpPr txBox="1"/>
          <p:nvPr/>
        </p:nvSpPr>
        <p:spPr>
          <a:xfrm>
            <a:off x="3821955" y="3478718"/>
            <a:ext cx="75632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西南</a:t>
            </a:r>
          </a:p>
        </p:txBody>
      </p:sp>
      <p:sp>
        <p:nvSpPr>
          <p:cNvPr id="1074" name="m-d30_radial_bar-rv-4"/>
          <p:cNvSpPr txBox="1"/>
          <p:nvPr/>
        </p:nvSpPr>
        <p:spPr>
          <a:xfrm>
            <a:off x="3925626" y="3473895"/>
            <a:ext cx="73887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2468B6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74%</a:t>
            </a:r>
          </a:p>
        </p:txBody>
      </p:sp>
      <p:sp>
        <p:nvSpPr>
          <p:cNvPr id="1075" name="m-d30_radial_bar-ra-4"/>
          <p:cNvSpPr txBox="1"/>
          <p:nvPr/>
        </p:nvSpPr>
        <p:spPr>
          <a:xfrm>
            <a:off x="4080248" y="3480326"/>
            <a:ext cx="98959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3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6.8 亿</a:t>
            </a:r>
          </a:p>
        </p:txBody>
      </p:sp>
      <p:sp>
        <p:nvSpPr>
          <p:cNvPr id="1076" name="m-d30_radial_bar-rs-4"/>
          <p:cNvSpPr/>
          <p:nvPr/>
        </p:nvSpPr>
        <p:spPr>
          <a:xfrm>
            <a:off x="4332605" y="3478022"/>
            <a:ext cx="109347" cy="39052"/>
          </a:xfrm>
          <a:custGeom>
            <a:avLst/>
            <a:gdLst/>
            <a:ahLst/>
            <a:cxnLst/>
            <a:rect l="0" t="0" r="r" b="b"/>
            <a:pathLst>
              <a:path w="109347" h="39052">
                <a:moveTo>
                  <a:pt x="19558" y="0"/>
                </a:moveTo>
                <a:lnTo>
                  <a:pt x="89789" y="0"/>
                </a:lnTo>
                <a:cubicBezTo>
                  <a:pt x="100584" y="0"/>
                  <a:pt x="109347" y="8763"/>
                  <a:pt x="109347" y="19494"/>
                </a:cubicBezTo>
                <a:lnTo>
                  <a:pt x="109347" y="19494"/>
                </a:lnTo>
                <a:cubicBezTo>
                  <a:pt x="109347" y="30289"/>
                  <a:pt x="100584" y="39052"/>
                  <a:pt x="89789" y="39052"/>
                </a:cubicBezTo>
                <a:lnTo>
                  <a:pt x="19558" y="39052"/>
                </a:lnTo>
                <a:cubicBezTo>
                  <a:pt x="8763" y="39052"/>
                  <a:pt x="0" y="30289"/>
                  <a:pt x="0" y="19494"/>
                </a:cubicBezTo>
                <a:lnTo>
                  <a:pt x="0" y="19494"/>
                </a:lnTo>
                <a:cubicBezTo>
                  <a:pt x="0" y="8763"/>
                  <a:pt x="8763" y="0"/>
                  <a:pt x="19558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77" name="m-d30_radial_bar-rst-4"/>
          <p:cNvSpPr txBox="1"/>
          <p:nvPr/>
        </p:nvSpPr>
        <p:spPr>
          <a:xfrm>
            <a:off x="4348519" y="3482048"/>
            <a:ext cx="77519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1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待追赶</a:t>
            </a:r>
          </a:p>
        </p:txBody>
      </p:sp>
      <p:sp>
        <p:nvSpPr>
          <p:cNvPr id="1078" name="m-d30_radial_bar-r-5"/>
          <p:cNvSpPr/>
          <p:nvPr/>
        </p:nvSpPr>
        <p:spPr>
          <a:xfrm>
            <a:off x="3785870" y="3556127"/>
            <a:ext cx="689927" cy="80709"/>
          </a:xfrm>
          <a:custGeom>
            <a:avLst/>
            <a:gdLst/>
            <a:ahLst/>
            <a:cxnLst/>
            <a:rect l="0" t="0" r="r" b="b"/>
            <a:pathLst>
              <a:path w="689927" h="80709">
                <a:moveTo>
                  <a:pt x="20828" y="0"/>
                </a:moveTo>
                <a:lnTo>
                  <a:pt x="669100" y="0"/>
                </a:lnTo>
                <a:cubicBezTo>
                  <a:pt x="680593" y="0"/>
                  <a:pt x="689927" y="9335"/>
                  <a:pt x="689927" y="20828"/>
                </a:cubicBezTo>
                <a:lnTo>
                  <a:pt x="689927" y="59881"/>
                </a:lnTo>
                <a:cubicBezTo>
                  <a:pt x="689927" y="71374"/>
                  <a:pt x="680593" y="80709"/>
                  <a:pt x="669100" y="80709"/>
                </a:cubicBezTo>
                <a:lnTo>
                  <a:pt x="20828" y="80709"/>
                </a:lnTo>
                <a:cubicBezTo>
                  <a:pt x="9334" y="80709"/>
                  <a:pt x="0" y="71374"/>
                  <a:pt x="0" y="59881"/>
                </a:cubicBezTo>
                <a:lnTo>
                  <a:pt x="0" y="20828"/>
                </a:lnTo>
                <a:cubicBezTo>
                  <a:pt x="0" y="9335"/>
                  <a:pt x="9334" y="0"/>
                  <a:pt x="2082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79" name="m-d30_radial_bar-rb-5"/>
          <p:cNvSpPr/>
          <p:nvPr/>
        </p:nvSpPr>
        <p:spPr>
          <a:xfrm>
            <a:off x="3785870" y="3556127"/>
            <a:ext cx="7810" cy="80709"/>
          </a:xfrm>
          <a:custGeom>
            <a:avLst/>
            <a:gdLst/>
            <a:ahLst/>
            <a:cxnLst/>
            <a:rect l="0" t="0" r="r" b="b"/>
            <a:pathLst>
              <a:path w="7810" h="80709">
                <a:moveTo>
                  <a:pt x="3937" y="0"/>
                </a:moveTo>
                <a:lnTo>
                  <a:pt x="3937" y="0"/>
                </a:lnTo>
                <a:cubicBezTo>
                  <a:pt x="6096" y="0"/>
                  <a:pt x="7810" y="1714"/>
                  <a:pt x="7810" y="3874"/>
                </a:cubicBezTo>
                <a:lnTo>
                  <a:pt x="7810" y="76835"/>
                </a:lnTo>
                <a:cubicBezTo>
                  <a:pt x="7810" y="78994"/>
                  <a:pt x="6096" y="80709"/>
                  <a:pt x="3937" y="80709"/>
                </a:cubicBezTo>
                <a:lnTo>
                  <a:pt x="3937" y="80709"/>
                </a:lnTo>
                <a:cubicBezTo>
                  <a:pt x="1714" y="80709"/>
                  <a:pt x="0" y="78994"/>
                  <a:pt x="0" y="76835"/>
                </a:cubicBezTo>
                <a:lnTo>
                  <a:pt x="0" y="3874"/>
                </a:lnTo>
                <a:cubicBezTo>
                  <a:pt x="0" y="1714"/>
                  <a:pt x="1714" y="0"/>
                  <a:pt x="3937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80" name="m-d30_radial_bar-rn-5"/>
          <p:cNvSpPr txBox="1"/>
          <p:nvPr/>
        </p:nvSpPr>
        <p:spPr>
          <a:xfrm>
            <a:off x="3821955" y="3577651"/>
            <a:ext cx="75632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华中</a:t>
            </a:r>
          </a:p>
        </p:txBody>
      </p:sp>
      <p:sp>
        <p:nvSpPr>
          <p:cNvPr id="1081" name="m-d30_radial_bar-rv-5"/>
          <p:cNvSpPr txBox="1"/>
          <p:nvPr/>
        </p:nvSpPr>
        <p:spPr>
          <a:xfrm>
            <a:off x="3925626" y="3572828"/>
            <a:ext cx="73887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2E77C2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67%</a:t>
            </a:r>
          </a:p>
        </p:txBody>
      </p:sp>
      <p:sp>
        <p:nvSpPr>
          <p:cNvPr id="1082" name="m-d30_radial_bar-ra-5"/>
          <p:cNvSpPr txBox="1"/>
          <p:nvPr/>
        </p:nvSpPr>
        <p:spPr>
          <a:xfrm>
            <a:off x="4080248" y="3579259"/>
            <a:ext cx="98959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3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5.9 亿</a:t>
            </a:r>
          </a:p>
        </p:txBody>
      </p:sp>
      <p:sp>
        <p:nvSpPr>
          <p:cNvPr id="1083" name="m-d30_radial_bar-rs-5"/>
          <p:cNvSpPr/>
          <p:nvPr/>
        </p:nvSpPr>
        <p:spPr>
          <a:xfrm>
            <a:off x="4332605" y="3576955"/>
            <a:ext cx="109347" cy="39053"/>
          </a:xfrm>
          <a:custGeom>
            <a:avLst/>
            <a:gdLst/>
            <a:ahLst/>
            <a:cxnLst/>
            <a:rect l="0" t="0" r="r" b="b"/>
            <a:pathLst>
              <a:path w="109347" h="39053">
                <a:moveTo>
                  <a:pt x="19558" y="0"/>
                </a:moveTo>
                <a:lnTo>
                  <a:pt x="89789" y="0"/>
                </a:lnTo>
                <a:cubicBezTo>
                  <a:pt x="100584" y="0"/>
                  <a:pt x="109347" y="8763"/>
                  <a:pt x="109347" y="19558"/>
                </a:cubicBezTo>
                <a:lnTo>
                  <a:pt x="109347" y="19558"/>
                </a:lnTo>
                <a:cubicBezTo>
                  <a:pt x="109347" y="30290"/>
                  <a:pt x="100584" y="39053"/>
                  <a:pt x="89789" y="39053"/>
                </a:cubicBezTo>
                <a:lnTo>
                  <a:pt x="19558" y="39053"/>
                </a:lnTo>
                <a:cubicBezTo>
                  <a:pt x="8763" y="39053"/>
                  <a:pt x="0" y="30290"/>
                  <a:pt x="0" y="19558"/>
                </a:cubicBezTo>
                <a:lnTo>
                  <a:pt x="0" y="19558"/>
                </a:lnTo>
                <a:cubicBezTo>
                  <a:pt x="0" y="8763"/>
                  <a:pt x="8763" y="0"/>
                  <a:pt x="19558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84" name="m-d30_radial_bar-rst-5"/>
          <p:cNvSpPr txBox="1"/>
          <p:nvPr/>
        </p:nvSpPr>
        <p:spPr>
          <a:xfrm>
            <a:off x="4348519" y="3580981"/>
            <a:ext cx="77519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1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待追赶</a:t>
            </a:r>
          </a:p>
        </p:txBody>
      </p:sp>
      <p:sp>
        <p:nvSpPr>
          <p:cNvPr id="1085" name="m-d30_radial_bar-r-6"/>
          <p:cNvSpPr/>
          <p:nvPr/>
        </p:nvSpPr>
        <p:spPr>
          <a:xfrm>
            <a:off x="3785870" y="3655060"/>
            <a:ext cx="689927" cy="80708"/>
          </a:xfrm>
          <a:custGeom>
            <a:avLst/>
            <a:gdLst/>
            <a:ahLst/>
            <a:cxnLst/>
            <a:rect l="0" t="0" r="r" b="b"/>
            <a:pathLst>
              <a:path w="689927" h="80708">
                <a:moveTo>
                  <a:pt x="20828" y="0"/>
                </a:moveTo>
                <a:lnTo>
                  <a:pt x="669100" y="0"/>
                </a:lnTo>
                <a:cubicBezTo>
                  <a:pt x="680593" y="0"/>
                  <a:pt x="689927" y="9335"/>
                  <a:pt x="689927" y="20828"/>
                </a:cubicBezTo>
                <a:lnTo>
                  <a:pt x="689927" y="59880"/>
                </a:lnTo>
                <a:cubicBezTo>
                  <a:pt x="689927" y="71374"/>
                  <a:pt x="680593" y="80708"/>
                  <a:pt x="669100" y="80708"/>
                </a:cubicBezTo>
                <a:lnTo>
                  <a:pt x="20828" y="80708"/>
                </a:lnTo>
                <a:cubicBezTo>
                  <a:pt x="9334" y="80708"/>
                  <a:pt x="0" y="71374"/>
                  <a:pt x="0" y="59880"/>
                </a:cubicBezTo>
                <a:lnTo>
                  <a:pt x="0" y="20828"/>
                </a:lnTo>
                <a:cubicBezTo>
                  <a:pt x="0" y="9335"/>
                  <a:pt x="9334" y="0"/>
                  <a:pt x="2082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86" name="m-d30_radial_bar-rb-6"/>
          <p:cNvSpPr/>
          <p:nvPr/>
        </p:nvSpPr>
        <p:spPr>
          <a:xfrm>
            <a:off x="3785870" y="3655060"/>
            <a:ext cx="7810" cy="80708"/>
          </a:xfrm>
          <a:custGeom>
            <a:avLst/>
            <a:gdLst/>
            <a:ahLst/>
            <a:cxnLst/>
            <a:rect l="0" t="0" r="r" b="b"/>
            <a:pathLst>
              <a:path w="7810" h="80708">
                <a:moveTo>
                  <a:pt x="3937" y="0"/>
                </a:moveTo>
                <a:lnTo>
                  <a:pt x="3937" y="0"/>
                </a:lnTo>
                <a:cubicBezTo>
                  <a:pt x="6096" y="0"/>
                  <a:pt x="7810" y="1714"/>
                  <a:pt x="7810" y="3937"/>
                </a:cubicBezTo>
                <a:lnTo>
                  <a:pt x="7810" y="76772"/>
                </a:lnTo>
                <a:cubicBezTo>
                  <a:pt x="7810" y="78994"/>
                  <a:pt x="6096" y="80708"/>
                  <a:pt x="3937" y="80708"/>
                </a:cubicBezTo>
                <a:lnTo>
                  <a:pt x="3937" y="80708"/>
                </a:lnTo>
                <a:cubicBezTo>
                  <a:pt x="1714" y="80708"/>
                  <a:pt x="0" y="78994"/>
                  <a:pt x="0" y="76772"/>
                </a:cubicBezTo>
                <a:lnTo>
                  <a:pt x="0" y="3937"/>
                </a:lnTo>
                <a:cubicBezTo>
                  <a:pt x="0" y="1714"/>
                  <a:pt x="1714" y="0"/>
                  <a:pt x="3937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87" name="m-d30_radial_bar-rn-6"/>
          <p:cNvSpPr txBox="1"/>
          <p:nvPr/>
        </p:nvSpPr>
        <p:spPr>
          <a:xfrm>
            <a:off x="3821955" y="3676584"/>
            <a:ext cx="75632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西北</a:t>
            </a:r>
          </a:p>
        </p:txBody>
      </p:sp>
      <p:sp>
        <p:nvSpPr>
          <p:cNvPr id="1088" name="m-d30_radial_bar-rv-6"/>
          <p:cNvSpPr txBox="1"/>
          <p:nvPr/>
        </p:nvSpPr>
        <p:spPr>
          <a:xfrm>
            <a:off x="3925626" y="3671761"/>
            <a:ext cx="73887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58%</a:t>
            </a:r>
          </a:p>
        </p:txBody>
      </p:sp>
      <p:sp>
        <p:nvSpPr>
          <p:cNvPr id="1089" name="m-d30_radial_bar-ra-6"/>
          <p:cNvSpPr txBox="1"/>
          <p:nvPr/>
        </p:nvSpPr>
        <p:spPr>
          <a:xfrm>
            <a:off x="4080248" y="3678192"/>
            <a:ext cx="98959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3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3.1 亿</a:t>
            </a:r>
          </a:p>
        </p:txBody>
      </p:sp>
      <p:sp>
        <p:nvSpPr>
          <p:cNvPr id="1090" name="m-d30_radial_bar-rs-6"/>
          <p:cNvSpPr/>
          <p:nvPr/>
        </p:nvSpPr>
        <p:spPr>
          <a:xfrm>
            <a:off x="4332605" y="3675888"/>
            <a:ext cx="109347" cy="39052"/>
          </a:xfrm>
          <a:custGeom>
            <a:avLst/>
            <a:gdLst/>
            <a:ahLst/>
            <a:cxnLst/>
            <a:rect l="0" t="0" r="r" b="b"/>
            <a:pathLst>
              <a:path w="109347" h="39052">
                <a:moveTo>
                  <a:pt x="19558" y="0"/>
                </a:moveTo>
                <a:lnTo>
                  <a:pt x="89789" y="0"/>
                </a:lnTo>
                <a:cubicBezTo>
                  <a:pt x="100584" y="0"/>
                  <a:pt x="109347" y="8763"/>
                  <a:pt x="109347" y="19495"/>
                </a:cubicBezTo>
                <a:lnTo>
                  <a:pt x="109347" y="19495"/>
                </a:lnTo>
                <a:cubicBezTo>
                  <a:pt x="109347" y="30289"/>
                  <a:pt x="100584" y="39052"/>
                  <a:pt x="89789" y="39052"/>
                </a:cubicBezTo>
                <a:lnTo>
                  <a:pt x="19558" y="39052"/>
                </a:lnTo>
                <a:cubicBezTo>
                  <a:pt x="8763" y="39052"/>
                  <a:pt x="0" y="30289"/>
                  <a:pt x="0" y="19495"/>
                </a:cubicBezTo>
                <a:lnTo>
                  <a:pt x="0" y="19495"/>
                </a:lnTo>
                <a:cubicBezTo>
                  <a:pt x="0" y="8763"/>
                  <a:pt x="8763" y="0"/>
                  <a:pt x="19558" y="0"/>
                </a:cubicBezTo>
                <a:close/>
              </a:path>
            </a:pathLst>
          </a:custGeom>
          <a:solidFill>
            <a:srgbClr val="E0703A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91" name="m-d30_radial_bar-rst-6"/>
          <p:cNvSpPr txBox="1"/>
          <p:nvPr/>
        </p:nvSpPr>
        <p:spPr>
          <a:xfrm>
            <a:off x="4348519" y="3679914"/>
            <a:ext cx="77519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1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待追赶</a:t>
            </a:r>
          </a:p>
        </p:txBody>
      </p:sp>
      <p:sp>
        <p:nvSpPr>
          <p:cNvPr id="1092" name="m-d30_radial_bar-sum"/>
          <p:cNvSpPr/>
          <p:nvPr/>
        </p:nvSpPr>
        <p:spPr>
          <a:xfrm>
            <a:off x="3785870" y="3780028"/>
            <a:ext cx="689927" cy="143193"/>
          </a:xfrm>
          <a:custGeom>
            <a:avLst/>
            <a:gdLst/>
            <a:ahLst/>
            <a:cxnLst/>
            <a:rect l="0" t="0" r="r" b="b"/>
            <a:pathLst>
              <a:path w="689927" h="143193">
                <a:moveTo>
                  <a:pt x="23431" y="0"/>
                </a:moveTo>
                <a:lnTo>
                  <a:pt x="666496" y="0"/>
                </a:lnTo>
                <a:cubicBezTo>
                  <a:pt x="679450" y="0"/>
                  <a:pt x="689927" y="10477"/>
                  <a:pt x="689927" y="23432"/>
                </a:cubicBezTo>
                <a:lnTo>
                  <a:pt x="689927" y="119761"/>
                </a:lnTo>
                <a:cubicBezTo>
                  <a:pt x="689927" y="132715"/>
                  <a:pt x="679450" y="143193"/>
                  <a:pt x="666496" y="143193"/>
                </a:cubicBezTo>
                <a:lnTo>
                  <a:pt x="23431" y="143193"/>
                </a:lnTo>
                <a:cubicBezTo>
                  <a:pt x="10477" y="143193"/>
                  <a:pt x="0" y="132715"/>
                  <a:pt x="0" y="119761"/>
                </a:cubicBezTo>
                <a:lnTo>
                  <a:pt x="0" y="23432"/>
                </a:lnTo>
                <a:cubicBezTo>
                  <a:pt x="0" y="10477"/>
                  <a:pt x="10477" y="0"/>
                  <a:pt x="23431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93" name="m-d30_radial_bar-sum-bar"/>
          <p:cNvSpPr/>
          <p:nvPr/>
        </p:nvSpPr>
        <p:spPr>
          <a:xfrm>
            <a:off x="3785870" y="3780028"/>
            <a:ext cx="6509" cy="143192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94" name="m-d30_radial_bar-sum-h"/>
          <p:cNvSpPr txBox="1"/>
          <p:nvPr/>
        </p:nvSpPr>
        <p:spPr>
          <a:xfrm>
            <a:off x="3819507" y="3803160"/>
            <a:ext cx="125228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冲刺建议</a:t>
            </a:r>
          </a:p>
        </p:txBody>
      </p:sp>
      <p:sp>
        <p:nvSpPr>
          <p:cNvPr id="1095" name="m-d30_radial_bar-sum-p1"/>
          <p:cNvSpPr txBox="1"/>
          <p:nvPr/>
        </p:nvSpPr>
        <p:spPr>
          <a:xfrm>
            <a:off x="3819585" y="3853430"/>
            <a:ext cx="327976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80% 线以下的三个大区四季度</a:t>
            </a:r>
          </a:p>
        </p:txBody>
      </p:sp>
      <p:sp>
        <p:nvSpPr>
          <p:cNvPr id="1096" name="m-d30_radial_bar-sum-p2"/>
          <p:cNvSpPr txBox="1"/>
          <p:nvPr/>
        </p:nvSpPr>
        <p:spPr>
          <a:xfrm>
            <a:off x="3819585" y="3887276"/>
            <a:ext cx="31795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集中投放 60% 的市场预算。</a:t>
            </a:r>
          </a:p>
        </p:txBody>
      </p:sp>
      <p:cxnSp>
        <p:nvCxnSpPr>
          <p:cNvPr id="1097" name="m-d30_radial_bar-foot-line"/>
          <p:cNvCxnSpPr/>
          <p:nvPr/>
        </p:nvCxnSpPr>
        <p:spPr>
          <a:xfrm>
            <a:off x="2291461" y="40429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98" name="m-d30_radial_bar-foot-l"/>
          <p:cNvSpPr txBox="1"/>
          <p:nvPr/>
        </p:nvSpPr>
        <p:spPr>
          <a:xfrm>
            <a:off x="2289274" y="4056923"/>
            <a:ext cx="23447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环形条形图 · 六个大区</a:t>
            </a:r>
          </a:p>
        </p:txBody>
      </p:sp>
      <p:sp>
        <p:nvSpPr>
          <p:cNvPr id="1099" name="m-d30_radial_bar-foot-r"/>
          <p:cNvSpPr txBox="1"/>
          <p:nvPr/>
        </p:nvSpPr>
        <p:spPr>
          <a:xfrm>
            <a:off x="4293709" y="40569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1100" name="mini-card-p04_funnel"/>
          <p:cNvSpPr/>
          <p:nvPr/>
        </p:nvSpPr>
        <p:spPr>
          <a:xfrm>
            <a:off x="4787900" y="27178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0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0" y="1405890"/>
                </a:lnTo>
                <a:cubicBezTo>
                  <a:pt x="35877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7"/>
                  <a:pt x="35877" y="0"/>
                  <a:pt x="80200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01" name="m-p04_funnel-title-bar"/>
          <p:cNvSpPr/>
          <p:nvPr/>
        </p:nvSpPr>
        <p:spPr>
          <a:xfrm>
            <a:off x="4907661" y="28167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02" name="m-p04_funnel-title-bar-accent"/>
          <p:cNvSpPr/>
          <p:nvPr/>
        </p:nvSpPr>
        <p:spPr>
          <a:xfrm>
            <a:off x="4907661" y="28167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03" name="m-p04_funnel-title-cn"/>
          <p:cNvSpPr txBox="1"/>
          <p:nvPr/>
        </p:nvSpPr>
        <p:spPr>
          <a:xfrm>
            <a:off x="4939840" y="2799368"/>
            <a:ext cx="426453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客户转化漏斗</a:t>
            </a:r>
          </a:p>
        </p:txBody>
      </p:sp>
      <p:sp>
        <p:nvSpPr>
          <p:cNvPr id="1104" name="m-p04_funnel-title-en"/>
          <p:cNvSpPr txBox="1"/>
          <p:nvPr/>
        </p:nvSpPr>
        <p:spPr>
          <a:xfrm>
            <a:off x="4947130" y="2886650"/>
            <a:ext cx="33374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CONVERSION FUNNEL</a:t>
            </a:r>
          </a:p>
        </p:txBody>
      </p:sp>
      <p:sp>
        <p:nvSpPr>
          <p:cNvPr id="1105" name="m-p04_funnel-title-sub"/>
          <p:cNvSpPr txBox="1"/>
          <p:nvPr/>
        </p:nvSpPr>
        <p:spPr>
          <a:xfrm>
            <a:off x="6751902" y="2855792"/>
            <a:ext cx="418252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从触达到成交，逐级转化率与流失分析</a:t>
            </a:r>
          </a:p>
        </p:txBody>
      </p:sp>
      <p:sp>
        <p:nvSpPr>
          <p:cNvPr id="1106" name="m-p04_funnel-stage-1"/>
          <p:cNvSpPr/>
          <p:nvPr/>
        </p:nvSpPr>
        <p:spPr>
          <a:xfrm>
            <a:off x="5339040" y="3053652"/>
            <a:ext cx="980519" cy="161417"/>
          </a:xfrm>
          <a:custGeom>
            <a:avLst/>
            <a:gdLst/>
            <a:ahLst/>
            <a:cxnLst/>
            <a:rect l="0" t="0" r="r" b="b"/>
            <a:pathLst>
              <a:path w="980519" h="161417">
                <a:moveTo>
                  <a:pt x="1691" y="14415"/>
                </a:moveTo>
                <a:quadBezTo>
                  <a:pt x="-4405" y="0"/>
                  <a:pt x="11216" y="0"/>
                </a:quadBezTo>
                <a:lnTo>
                  <a:pt x="969304" y="0"/>
                </a:lnTo>
                <a:quadBezTo>
                  <a:pt x="984925" y="0"/>
                  <a:pt x="978829" y="14415"/>
                </a:quadBezTo>
                <a:lnTo>
                  <a:pt x="922822" y="147003"/>
                </a:lnTo>
                <a:quadBezTo>
                  <a:pt x="916726" y="161417"/>
                  <a:pt x="901105" y="161417"/>
                </a:quadBezTo>
                <a:lnTo>
                  <a:pt x="79415" y="161417"/>
                </a:lnTo>
                <a:quadBezTo>
                  <a:pt x="63794" y="161417"/>
                  <a:pt x="57698" y="147003"/>
                </a:quadBezTo>
                <a:close/>
              </a:path>
            </a:pathLst>
          </a:custGeom>
          <a:gradFill rotWithShape="1">
            <a:gsLst>
              <a:gs pos="0">
                <a:srgbClr val="2D599F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07" name="m-p04_funnel-cnt-1"/>
          <p:cNvSpPr txBox="1"/>
          <p:nvPr/>
        </p:nvSpPr>
        <p:spPr>
          <a:xfrm>
            <a:off x="5732905" y="3083527"/>
            <a:ext cx="192789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128,000</a:t>
            </a:r>
          </a:p>
        </p:txBody>
      </p:sp>
      <p:sp>
        <p:nvSpPr>
          <p:cNvPr id="1108" name="m-p04_funnel-pct-1"/>
          <p:cNvSpPr txBox="1"/>
          <p:nvPr/>
        </p:nvSpPr>
        <p:spPr>
          <a:xfrm>
            <a:off x="5743938" y="3150101"/>
            <a:ext cx="170725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5" normalizeH="0" baseline="0" noProof="0">
                <a:ln>
                  <a:noFill/>
                </a:ln>
                <a:solidFill>
                  <a:srgbClr val="FFFFFF">
                    <a:alpha val="80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占初始流量 100%</a:t>
            </a:r>
          </a:p>
        </p:txBody>
      </p:sp>
      <p:sp>
        <p:nvSpPr>
          <p:cNvPr id="1109" name="m-p04_funnel-ln-1"/>
          <p:cNvSpPr txBox="1"/>
          <p:nvPr/>
        </p:nvSpPr>
        <p:spPr>
          <a:xfrm>
            <a:off x="4891780" y="3088890"/>
            <a:ext cx="102526" cy="865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90" b="1" i="0" u="none" strike="noStrike" kern="1200" cap="none" spc="10" normalizeH="0" baseline="0" noProof="0">
                <a:ln>
                  <a:noFill/>
                </a:ln>
                <a:solidFill>
                  <a:srgbClr val="0B3E8F">
                    <a:alpha val="9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1110" name="m-p04_funnel-lt-1"/>
          <p:cNvSpPr txBox="1"/>
          <p:nvPr/>
        </p:nvSpPr>
        <p:spPr>
          <a:xfrm>
            <a:off x="5158664" y="3092789"/>
            <a:ext cx="140198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广告触达</a:t>
            </a:r>
          </a:p>
        </p:txBody>
      </p:sp>
      <p:sp>
        <p:nvSpPr>
          <p:cNvPr id="1111" name="m-p04_funnel-lp-1"/>
          <p:cNvSpPr txBox="1"/>
          <p:nvPr/>
        </p:nvSpPr>
        <p:spPr>
          <a:xfrm>
            <a:off x="5140935" y="3141487"/>
            <a:ext cx="156991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全渠道曝光人群</a:t>
            </a:r>
          </a:p>
        </p:txBody>
      </p:sp>
      <p:sp>
        <p:nvSpPr>
          <p:cNvPr id="1112" name="m-p04_funnel-lb-1"/>
          <p:cNvSpPr/>
          <p:nvPr/>
        </p:nvSpPr>
        <p:spPr>
          <a:xfrm>
            <a:off x="5308600" y="3103118"/>
            <a:ext cx="3905" cy="62484"/>
          </a:xfrm>
          <a:prstGeom prst="roundRect">
            <a:avLst>
              <a:gd name="adj" fmla="val 30750"/>
            </a:avLst>
          </a:prstGeom>
          <a:solidFill>
            <a:srgbClr val="0B3E8F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13" name="m-p04_funnel-stage-2"/>
          <p:cNvSpPr/>
          <p:nvPr/>
        </p:nvSpPr>
        <p:spPr>
          <a:xfrm>
            <a:off x="5407239" y="3228086"/>
            <a:ext cx="844121" cy="161417"/>
          </a:xfrm>
          <a:custGeom>
            <a:avLst/>
            <a:gdLst/>
            <a:ahLst/>
            <a:cxnLst/>
            <a:rect l="0" t="0" r="r" b="b"/>
            <a:pathLst>
              <a:path w="844121" h="161417">
                <a:moveTo>
                  <a:pt x="1691" y="14414"/>
                </a:moveTo>
                <a:quadBezTo>
                  <a:pt x="-4405" y="0"/>
                  <a:pt x="11216" y="0"/>
                </a:quadBezTo>
                <a:lnTo>
                  <a:pt x="832906" y="0"/>
                </a:lnTo>
                <a:quadBezTo>
                  <a:pt x="848527" y="0"/>
                  <a:pt x="842431" y="14414"/>
                </a:quadBezTo>
                <a:lnTo>
                  <a:pt x="786360" y="147002"/>
                </a:lnTo>
                <a:quadBezTo>
                  <a:pt x="780328" y="161417"/>
                  <a:pt x="764707" y="161417"/>
                </a:quadBezTo>
                <a:lnTo>
                  <a:pt x="79415" y="161417"/>
                </a:lnTo>
                <a:quadBezTo>
                  <a:pt x="63794" y="161417"/>
                  <a:pt x="57761" y="147002"/>
                </a:quadBezTo>
                <a:close/>
              </a:path>
            </a:pathLst>
          </a:custGeom>
          <a:gradFill rotWithShape="1">
            <a:gsLst>
              <a:gs pos="0">
                <a:srgbClr val="3B71B4"/>
              </a:gs>
              <a:gs pos="100000">
                <a:srgbClr val="1B5AA8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14" name="m-p04_funnel-cnt-2"/>
          <p:cNvSpPr txBox="1"/>
          <p:nvPr/>
        </p:nvSpPr>
        <p:spPr>
          <a:xfrm>
            <a:off x="5744166" y="3257961"/>
            <a:ext cx="170269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46,080</a:t>
            </a:r>
          </a:p>
        </p:txBody>
      </p:sp>
      <p:sp>
        <p:nvSpPr>
          <p:cNvPr id="1115" name="m-p04_funnel-pct-2"/>
          <p:cNvSpPr txBox="1"/>
          <p:nvPr/>
        </p:nvSpPr>
        <p:spPr>
          <a:xfrm>
            <a:off x="5749548" y="3324536"/>
            <a:ext cx="159503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5" normalizeH="0" baseline="0" noProof="0">
                <a:ln>
                  <a:noFill/>
                </a:ln>
                <a:solidFill>
                  <a:srgbClr val="FFFFFF">
                    <a:alpha val="80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占初始流量 36%</a:t>
            </a:r>
          </a:p>
        </p:txBody>
      </p:sp>
      <p:sp>
        <p:nvSpPr>
          <p:cNvPr id="1116" name="m-p04_funnel-ln-2"/>
          <p:cNvSpPr txBox="1"/>
          <p:nvPr/>
        </p:nvSpPr>
        <p:spPr>
          <a:xfrm>
            <a:off x="4959991" y="3263324"/>
            <a:ext cx="102526" cy="865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90" b="1" i="0" u="none" strike="noStrike" kern="1200" cap="none" spc="10" normalizeH="0" baseline="0" noProof="0">
                <a:ln>
                  <a:noFill/>
                </a:ln>
                <a:solidFill>
                  <a:srgbClr val="1B5AA8">
                    <a:alpha val="9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1117" name="m-p04_funnel-lt-2"/>
          <p:cNvSpPr txBox="1"/>
          <p:nvPr/>
        </p:nvSpPr>
        <p:spPr>
          <a:xfrm>
            <a:off x="5226876" y="3267223"/>
            <a:ext cx="140198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进店浏览</a:t>
            </a:r>
          </a:p>
        </p:txBody>
      </p:sp>
      <p:sp>
        <p:nvSpPr>
          <p:cNvPr id="1118" name="m-p04_funnel-lp-2"/>
          <p:cNvSpPr txBox="1"/>
          <p:nvPr/>
        </p:nvSpPr>
        <p:spPr>
          <a:xfrm>
            <a:off x="5104095" y="3315922"/>
            <a:ext cx="26204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点击进入并停留 15 秒以上</a:t>
            </a:r>
          </a:p>
        </p:txBody>
      </p:sp>
      <p:sp>
        <p:nvSpPr>
          <p:cNvPr id="1119" name="m-p04_funnel-lb-2"/>
          <p:cNvSpPr/>
          <p:nvPr/>
        </p:nvSpPr>
        <p:spPr>
          <a:xfrm>
            <a:off x="5376812" y="3277552"/>
            <a:ext cx="3905" cy="62484"/>
          </a:xfrm>
          <a:prstGeom prst="roundRect">
            <a:avLst>
              <a:gd name="adj" fmla="val 30750"/>
            </a:avLst>
          </a:prstGeom>
          <a:solidFill>
            <a:srgbClr val="1B5AA8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120" name="m-p04_funnel-cl-2"/>
          <p:cNvCxnSpPr/>
          <p:nvPr/>
        </p:nvCxnSpPr>
        <p:spPr>
          <a:xfrm>
            <a:off x="6276581" y="3230690"/>
            <a:ext cx="109868" cy="0"/>
          </a:xfrm>
          <a:prstGeom prst="line">
            <a:avLst/>
          </a:prstGeom>
          <a:ln w="2540" cap="rnd">
            <a:solidFill>
              <a:srgbClr val="A9BBD0"/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1" name="m-p04_funnel-conv-2"/>
          <p:cNvSpPr/>
          <p:nvPr/>
        </p:nvSpPr>
        <p:spPr>
          <a:xfrm>
            <a:off x="6415088" y="3183826"/>
            <a:ext cx="296799" cy="91123"/>
          </a:xfrm>
          <a:custGeom>
            <a:avLst/>
            <a:gdLst/>
            <a:ahLst/>
            <a:cxnLst/>
            <a:rect l="0" t="0" r="r" b="b"/>
            <a:pathLst>
              <a:path w="296799" h="91123">
                <a:moveTo>
                  <a:pt x="20828" y="0"/>
                </a:moveTo>
                <a:lnTo>
                  <a:pt x="275971" y="0"/>
                </a:lnTo>
                <a:cubicBezTo>
                  <a:pt x="287464" y="0"/>
                  <a:pt x="296799" y="9335"/>
                  <a:pt x="296799" y="20828"/>
                </a:cubicBezTo>
                <a:lnTo>
                  <a:pt x="296799" y="70295"/>
                </a:lnTo>
                <a:cubicBezTo>
                  <a:pt x="296799" y="81788"/>
                  <a:pt x="287464" y="91123"/>
                  <a:pt x="275971" y="91123"/>
                </a:cubicBezTo>
                <a:lnTo>
                  <a:pt x="20828" y="91123"/>
                </a:lnTo>
                <a:cubicBezTo>
                  <a:pt x="9335" y="91123"/>
                  <a:pt x="0" y="81788"/>
                  <a:pt x="0" y="70295"/>
                </a:cubicBezTo>
                <a:lnTo>
                  <a:pt x="0" y="20828"/>
                </a:lnTo>
                <a:cubicBezTo>
                  <a:pt x="0" y="9335"/>
                  <a:pt x="9335" y="0"/>
                  <a:pt x="2082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1B5AA8">
                <a:alpha val="3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22" name="m-p04_funnel-icon-grow"/>
          <p:cNvSpPr/>
          <p:nvPr/>
        </p:nvSpPr>
        <p:spPr>
          <a:xfrm>
            <a:off x="6451028" y="3224466"/>
            <a:ext cx="19495" cy="12192"/>
          </a:xfrm>
          <a:custGeom>
            <a:avLst/>
            <a:gdLst/>
            <a:ahLst/>
            <a:cxnLst/>
            <a:rect l="0" t="0" r="r" b="b"/>
            <a:pathLst>
              <a:path w="19495" h="12192">
                <a:moveTo>
                  <a:pt x="0" y="12192"/>
                </a:moveTo>
                <a:lnTo>
                  <a:pt x="6477" y="5207"/>
                </a:lnTo>
                <a:lnTo>
                  <a:pt x="11176" y="9081"/>
                </a:lnTo>
                <a:lnTo>
                  <a:pt x="18987" y="0"/>
                </a:lnTo>
                <a:moveTo>
                  <a:pt x="15875" y="0"/>
                </a:moveTo>
                <a:lnTo>
                  <a:pt x="19495" y="0"/>
                </a:lnTo>
                <a:lnTo>
                  <a:pt x="19495" y="3619"/>
                </a:lnTo>
              </a:path>
            </a:pathLst>
          </a:custGeom>
          <a:noFill/>
          <a:ln w="2604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23" name="m-p04_funnel-conv-t-2"/>
          <p:cNvSpPr txBox="1"/>
          <p:nvPr/>
        </p:nvSpPr>
        <p:spPr>
          <a:xfrm>
            <a:off x="6497566" y="3187510"/>
            <a:ext cx="109217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36.0%</a:t>
            </a:r>
          </a:p>
        </p:txBody>
      </p:sp>
      <p:sp>
        <p:nvSpPr>
          <p:cNvPr id="1124" name="m-p04_funnel-conv-l-2"/>
          <p:cNvSpPr txBox="1"/>
          <p:nvPr/>
        </p:nvSpPr>
        <p:spPr>
          <a:xfrm>
            <a:off x="6498816" y="3234217"/>
            <a:ext cx="11012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环节转化率</a:t>
            </a:r>
          </a:p>
        </p:txBody>
      </p:sp>
      <p:sp>
        <p:nvSpPr>
          <p:cNvPr id="1125" name="m-p04_funnel-stage-3"/>
          <p:cNvSpPr/>
          <p:nvPr/>
        </p:nvSpPr>
        <p:spPr>
          <a:xfrm>
            <a:off x="5475438" y="3402521"/>
            <a:ext cx="707723" cy="161417"/>
          </a:xfrm>
          <a:custGeom>
            <a:avLst/>
            <a:gdLst/>
            <a:ahLst/>
            <a:cxnLst/>
            <a:rect l="0" t="0" r="r" b="b"/>
            <a:pathLst>
              <a:path w="707723" h="161417">
                <a:moveTo>
                  <a:pt x="1691" y="14414"/>
                </a:moveTo>
                <a:quadBezTo>
                  <a:pt x="-4405" y="0"/>
                  <a:pt x="11216" y="0"/>
                </a:quadBezTo>
                <a:lnTo>
                  <a:pt x="696508" y="0"/>
                </a:lnTo>
                <a:quadBezTo>
                  <a:pt x="712129" y="0"/>
                  <a:pt x="706033" y="14414"/>
                </a:quadBezTo>
                <a:lnTo>
                  <a:pt x="649962" y="147002"/>
                </a:lnTo>
                <a:quadBezTo>
                  <a:pt x="643866" y="161417"/>
                  <a:pt x="628245" y="161417"/>
                </a:quadBezTo>
                <a:lnTo>
                  <a:pt x="79478" y="161417"/>
                </a:lnTo>
                <a:quadBezTo>
                  <a:pt x="63857" y="161417"/>
                  <a:pt x="57761" y="147002"/>
                </a:quadBezTo>
                <a:close/>
              </a:path>
            </a:pathLst>
          </a:custGeom>
          <a:gradFill rotWithShape="1">
            <a:gsLst>
              <a:gs pos="0">
                <a:srgbClr val="4B8ACB"/>
              </a:gs>
              <a:gs pos="100000">
                <a:srgbClr val="2E77C2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26" name="m-p04_funnel-cnt-3"/>
          <p:cNvSpPr txBox="1"/>
          <p:nvPr/>
        </p:nvSpPr>
        <p:spPr>
          <a:xfrm>
            <a:off x="5744166" y="3432396"/>
            <a:ext cx="170269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13,824</a:t>
            </a:r>
          </a:p>
        </p:txBody>
      </p:sp>
      <p:sp>
        <p:nvSpPr>
          <p:cNvPr id="1127" name="m-p04_funnel-pct-3"/>
          <p:cNvSpPr txBox="1"/>
          <p:nvPr/>
        </p:nvSpPr>
        <p:spPr>
          <a:xfrm>
            <a:off x="5738327" y="3498970"/>
            <a:ext cx="181946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5" normalizeH="0" baseline="0" noProof="0">
                <a:ln>
                  <a:noFill/>
                </a:ln>
                <a:solidFill>
                  <a:srgbClr val="FFFFFF">
                    <a:alpha val="80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占初始流量 10.8%</a:t>
            </a:r>
          </a:p>
        </p:txBody>
      </p:sp>
      <p:sp>
        <p:nvSpPr>
          <p:cNvPr id="1128" name="m-p04_funnel-ln-3"/>
          <p:cNvSpPr txBox="1"/>
          <p:nvPr/>
        </p:nvSpPr>
        <p:spPr>
          <a:xfrm>
            <a:off x="5028203" y="3437759"/>
            <a:ext cx="102526" cy="865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90" b="1" i="0" u="none" strike="noStrike" kern="1200" cap="none" spc="10" normalizeH="0" baseline="0" noProof="0">
                <a:ln>
                  <a:noFill/>
                </a:ln>
                <a:solidFill>
                  <a:srgbClr val="2E77C2">
                    <a:alpha val="9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1129" name="m-p04_funnel-lt-3"/>
          <p:cNvSpPr txBox="1"/>
          <p:nvPr/>
        </p:nvSpPr>
        <p:spPr>
          <a:xfrm>
            <a:off x="5295088" y="3441658"/>
            <a:ext cx="140198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加购留资</a:t>
            </a:r>
          </a:p>
        </p:txBody>
      </p:sp>
      <p:sp>
        <p:nvSpPr>
          <p:cNvPr id="1130" name="m-p04_funnel-lp-3"/>
          <p:cNvSpPr txBox="1"/>
          <p:nvPr/>
        </p:nvSpPr>
        <p:spPr>
          <a:xfrm>
            <a:off x="5177774" y="3490356"/>
            <a:ext cx="256575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加入购物车或留下联系方式</a:t>
            </a:r>
          </a:p>
        </p:txBody>
      </p:sp>
      <p:sp>
        <p:nvSpPr>
          <p:cNvPr id="1131" name="m-p04_funnel-lb-3"/>
          <p:cNvSpPr/>
          <p:nvPr/>
        </p:nvSpPr>
        <p:spPr>
          <a:xfrm>
            <a:off x="5445023" y="3451987"/>
            <a:ext cx="3905" cy="62484"/>
          </a:xfrm>
          <a:prstGeom prst="roundRect">
            <a:avLst>
              <a:gd name="adj" fmla="val 30750"/>
            </a:avLst>
          </a:prstGeom>
          <a:solidFill>
            <a:srgbClr val="2E77C2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132" name="m-p04_funnel-cl-3"/>
          <p:cNvCxnSpPr/>
          <p:nvPr/>
        </p:nvCxnSpPr>
        <p:spPr>
          <a:xfrm>
            <a:off x="6208370" y="3405124"/>
            <a:ext cx="178079" cy="0"/>
          </a:xfrm>
          <a:prstGeom prst="line">
            <a:avLst/>
          </a:prstGeom>
          <a:ln w="2540" cap="rnd">
            <a:solidFill>
              <a:srgbClr val="A9BBD0"/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33" name="m-p04_funnel-conv-3"/>
          <p:cNvSpPr/>
          <p:nvPr/>
        </p:nvSpPr>
        <p:spPr>
          <a:xfrm>
            <a:off x="6415088" y="3358261"/>
            <a:ext cx="296799" cy="91123"/>
          </a:xfrm>
          <a:custGeom>
            <a:avLst/>
            <a:gdLst/>
            <a:ahLst/>
            <a:cxnLst/>
            <a:rect l="0" t="0" r="r" b="b"/>
            <a:pathLst>
              <a:path w="296799" h="91123">
                <a:moveTo>
                  <a:pt x="20828" y="0"/>
                </a:moveTo>
                <a:lnTo>
                  <a:pt x="275971" y="0"/>
                </a:lnTo>
                <a:cubicBezTo>
                  <a:pt x="287464" y="0"/>
                  <a:pt x="296799" y="9335"/>
                  <a:pt x="296799" y="20828"/>
                </a:cubicBezTo>
                <a:lnTo>
                  <a:pt x="296799" y="70294"/>
                </a:lnTo>
                <a:cubicBezTo>
                  <a:pt x="296799" y="81788"/>
                  <a:pt x="287464" y="91123"/>
                  <a:pt x="275971" y="91123"/>
                </a:cubicBezTo>
                <a:lnTo>
                  <a:pt x="20828" y="91123"/>
                </a:lnTo>
                <a:cubicBezTo>
                  <a:pt x="9335" y="91123"/>
                  <a:pt x="0" y="81788"/>
                  <a:pt x="0" y="70294"/>
                </a:cubicBezTo>
                <a:lnTo>
                  <a:pt x="0" y="20828"/>
                </a:lnTo>
                <a:cubicBezTo>
                  <a:pt x="0" y="9335"/>
                  <a:pt x="9335" y="0"/>
                  <a:pt x="2082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2E77C2">
                <a:alpha val="3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34" name="m-p04_funnel-icon-grow"/>
          <p:cNvSpPr/>
          <p:nvPr/>
        </p:nvSpPr>
        <p:spPr>
          <a:xfrm>
            <a:off x="6451028" y="3398901"/>
            <a:ext cx="19495" cy="12192"/>
          </a:xfrm>
          <a:custGeom>
            <a:avLst/>
            <a:gdLst/>
            <a:ahLst/>
            <a:cxnLst/>
            <a:rect l="0" t="0" r="r" b="b"/>
            <a:pathLst>
              <a:path w="19495" h="12192">
                <a:moveTo>
                  <a:pt x="0" y="12192"/>
                </a:moveTo>
                <a:lnTo>
                  <a:pt x="6477" y="5207"/>
                </a:lnTo>
                <a:lnTo>
                  <a:pt x="11176" y="9081"/>
                </a:lnTo>
                <a:lnTo>
                  <a:pt x="18987" y="0"/>
                </a:lnTo>
                <a:moveTo>
                  <a:pt x="15875" y="0"/>
                </a:moveTo>
                <a:lnTo>
                  <a:pt x="19495" y="0"/>
                </a:lnTo>
                <a:lnTo>
                  <a:pt x="19495" y="3620"/>
                </a:lnTo>
              </a:path>
            </a:pathLst>
          </a:custGeom>
          <a:noFill/>
          <a:ln w="2604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35" name="m-p04_funnel-conv-t-3"/>
          <p:cNvSpPr txBox="1"/>
          <p:nvPr/>
        </p:nvSpPr>
        <p:spPr>
          <a:xfrm>
            <a:off x="6497566" y="3361945"/>
            <a:ext cx="109217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30.0%</a:t>
            </a:r>
          </a:p>
        </p:txBody>
      </p:sp>
      <p:sp>
        <p:nvSpPr>
          <p:cNvPr id="1136" name="m-p04_funnel-conv-l-3"/>
          <p:cNvSpPr txBox="1"/>
          <p:nvPr/>
        </p:nvSpPr>
        <p:spPr>
          <a:xfrm>
            <a:off x="6498816" y="3408652"/>
            <a:ext cx="11012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环节转化率</a:t>
            </a:r>
          </a:p>
        </p:txBody>
      </p:sp>
      <p:sp>
        <p:nvSpPr>
          <p:cNvPr id="1137" name="m-p04_funnel-stage-4"/>
          <p:cNvSpPr/>
          <p:nvPr/>
        </p:nvSpPr>
        <p:spPr>
          <a:xfrm>
            <a:off x="5543665" y="3576955"/>
            <a:ext cx="571270" cy="161417"/>
          </a:xfrm>
          <a:custGeom>
            <a:avLst/>
            <a:gdLst/>
            <a:ahLst/>
            <a:cxnLst/>
            <a:rect l="0" t="0" r="r" b="b"/>
            <a:pathLst>
              <a:path w="571270" h="161417">
                <a:moveTo>
                  <a:pt x="1663" y="14415"/>
                </a:moveTo>
                <a:quadBezTo>
                  <a:pt x="-4370" y="0"/>
                  <a:pt x="11251" y="0"/>
                </a:quadBezTo>
                <a:lnTo>
                  <a:pt x="560018" y="0"/>
                </a:lnTo>
                <a:quadBezTo>
                  <a:pt x="575639" y="0"/>
                  <a:pt x="569607" y="14415"/>
                </a:quadBezTo>
                <a:lnTo>
                  <a:pt x="513536" y="147003"/>
                </a:lnTo>
                <a:quadBezTo>
                  <a:pt x="507440" y="161417"/>
                  <a:pt x="491819" y="161417"/>
                </a:quadBezTo>
                <a:lnTo>
                  <a:pt x="79450" y="161417"/>
                </a:lnTo>
                <a:quadBezTo>
                  <a:pt x="63829" y="161417"/>
                  <a:pt x="57733" y="147003"/>
                </a:quadBezTo>
                <a:close/>
              </a:path>
            </a:pathLst>
          </a:custGeom>
          <a:gradFill rotWithShape="1">
            <a:gsLst>
              <a:gs pos="0">
                <a:srgbClr val="5596D4"/>
              </a:gs>
              <a:gs pos="100000">
                <a:srgbClr val="3985CD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38" name="m-p04_funnel-cnt-4"/>
          <p:cNvSpPr txBox="1"/>
          <p:nvPr/>
        </p:nvSpPr>
        <p:spPr>
          <a:xfrm>
            <a:off x="5755426" y="3606830"/>
            <a:ext cx="147749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4,838</a:t>
            </a:r>
          </a:p>
        </p:txBody>
      </p:sp>
      <p:sp>
        <p:nvSpPr>
          <p:cNvPr id="1139" name="m-p04_funnel-pct-4"/>
          <p:cNvSpPr txBox="1"/>
          <p:nvPr/>
        </p:nvSpPr>
        <p:spPr>
          <a:xfrm>
            <a:off x="5743938" y="3673405"/>
            <a:ext cx="170725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5" normalizeH="0" baseline="0" noProof="0">
                <a:ln>
                  <a:noFill/>
                </a:ln>
                <a:solidFill>
                  <a:srgbClr val="FFFFFF">
                    <a:alpha val="80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占初始流量 3.8%</a:t>
            </a:r>
          </a:p>
        </p:txBody>
      </p:sp>
      <p:sp>
        <p:nvSpPr>
          <p:cNvPr id="1140" name="m-p04_funnel-ln-4"/>
          <p:cNvSpPr txBox="1"/>
          <p:nvPr/>
        </p:nvSpPr>
        <p:spPr>
          <a:xfrm>
            <a:off x="5096415" y="3612193"/>
            <a:ext cx="102526" cy="865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90" b="1" i="0" u="none" strike="noStrike" kern="1200" cap="none" spc="10" normalizeH="0" baseline="0" noProof="0">
                <a:ln>
                  <a:noFill/>
                </a:ln>
                <a:solidFill>
                  <a:srgbClr val="3985CD">
                    <a:alpha val="9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1141" name="m-p04_funnel-lt-4"/>
          <p:cNvSpPr txBox="1"/>
          <p:nvPr/>
        </p:nvSpPr>
        <p:spPr>
          <a:xfrm>
            <a:off x="5363300" y="3616092"/>
            <a:ext cx="140198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下单支付</a:t>
            </a:r>
          </a:p>
        </p:txBody>
      </p:sp>
      <p:sp>
        <p:nvSpPr>
          <p:cNvPr id="1142" name="m-p04_funnel-lp-4"/>
          <p:cNvSpPr txBox="1"/>
          <p:nvPr/>
        </p:nvSpPr>
        <p:spPr>
          <a:xfrm>
            <a:off x="5325653" y="3664791"/>
            <a:ext cx="176908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完成首次订单支付</a:t>
            </a:r>
          </a:p>
        </p:txBody>
      </p:sp>
      <p:sp>
        <p:nvSpPr>
          <p:cNvPr id="1143" name="m-p04_funnel-lb-4"/>
          <p:cNvSpPr/>
          <p:nvPr/>
        </p:nvSpPr>
        <p:spPr>
          <a:xfrm>
            <a:off x="5513235" y="3626422"/>
            <a:ext cx="3905" cy="62484"/>
          </a:xfrm>
          <a:prstGeom prst="roundRect">
            <a:avLst>
              <a:gd name="adj" fmla="val 30750"/>
            </a:avLst>
          </a:prstGeom>
          <a:solidFill>
            <a:srgbClr val="3985CD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144" name="m-p04_funnel-cl-4"/>
          <p:cNvCxnSpPr/>
          <p:nvPr/>
        </p:nvCxnSpPr>
        <p:spPr>
          <a:xfrm>
            <a:off x="6140158" y="3579558"/>
            <a:ext cx="246291" cy="0"/>
          </a:xfrm>
          <a:prstGeom prst="line">
            <a:avLst/>
          </a:prstGeom>
          <a:ln w="2540" cap="rnd">
            <a:solidFill>
              <a:srgbClr val="A9BBD0"/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45" name="m-p04_funnel-conv-4"/>
          <p:cNvSpPr/>
          <p:nvPr/>
        </p:nvSpPr>
        <p:spPr>
          <a:xfrm>
            <a:off x="6415088" y="3532696"/>
            <a:ext cx="296799" cy="91122"/>
          </a:xfrm>
          <a:custGeom>
            <a:avLst/>
            <a:gdLst/>
            <a:ahLst/>
            <a:cxnLst/>
            <a:rect l="0" t="0" r="r" b="b"/>
            <a:pathLst>
              <a:path w="296799" h="91122">
                <a:moveTo>
                  <a:pt x="20828" y="0"/>
                </a:moveTo>
                <a:lnTo>
                  <a:pt x="275971" y="0"/>
                </a:lnTo>
                <a:cubicBezTo>
                  <a:pt x="287464" y="0"/>
                  <a:pt x="296799" y="9334"/>
                  <a:pt x="296799" y="20828"/>
                </a:cubicBezTo>
                <a:lnTo>
                  <a:pt x="296799" y="70294"/>
                </a:lnTo>
                <a:cubicBezTo>
                  <a:pt x="296799" y="81788"/>
                  <a:pt x="287464" y="91122"/>
                  <a:pt x="275971" y="91122"/>
                </a:cubicBezTo>
                <a:lnTo>
                  <a:pt x="20828" y="91122"/>
                </a:lnTo>
                <a:cubicBezTo>
                  <a:pt x="9335" y="91122"/>
                  <a:pt x="0" y="81788"/>
                  <a:pt x="0" y="70294"/>
                </a:cubicBezTo>
                <a:lnTo>
                  <a:pt x="0" y="20828"/>
                </a:lnTo>
                <a:cubicBezTo>
                  <a:pt x="0" y="9334"/>
                  <a:pt x="9335" y="0"/>
                  <a:pt x="2082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3985CD">
                <a:alpha val="3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46" name="m-p04_funnel-icon-grow"/>
          <p:cNvSpPr/>
          <p:nvPr/>
        </p:nvSpPr>
        <p:spPr>
          <a:xfrm>
            <a:off x="6451028" y="3573336"/>
            <a:ext cx="19495" cy="12192"/>
          </a:xfrm>
          <a:custGeom>
            <a:avLst/>
            <a:gdLst/>
            <a:ahLst/>
            <a:cxnLst/>
            <a:rect l="0" t="0" r="r" b="b"/>
            <a:pathLst>
              <a:path w="19495" h="12192">
                <a:moveTo>
                  <a:pt x="0" y="12192"/>
                </a:moveTo>
                <a:lnTo>
                  <a:pt x="6477" y="5207"/>
                </a:lnTo>
                <a:lnTo>
                  <a:pt x="11176" y="9080"/>
                </a:lnTo>
                <a:lnTo>
                  <a:pt x="18987" y="0"/>
                </a:lnTo>
                <a:moveTo>
                  <a:pt x="15875" y="0"/>
                </a:moveTo>
                <a:lnTo>
                  <a:pt x="19495" y="0"/>
                </a:lnTo>
                <a:lnTo>
                  <a:pt x="19495" y="3619"/>
                </a:lnTo>
              </a:path>
            </a:pathLst>
          </a:custGeom>
          <a:noFill/>
          <a:ln w="2604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47" name="m-p04_funnel-conv-t-4"/>
          <p:cNvSpPr txBox="1"/>
          <p:nvPr/>
        </p:nvSpPr>
        <p:spPr>
          <a:xfrm>
            <a:off x="6497566" y="3536379"/>
            <a:ext cx="109217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35.0%</a:t>
            </a:r>
          </a:p>
        </p:txBody>
      </p:sp>
      <p:sp>
        <p:nvSpPr>
          <p:cNvPr id="1148" name="m-p04_funnel-conv-l-4"/>
          <p:cNvSpPr txBox="1"/>
          <p:nvPr/>
        </p:nvSpPr>
        <p:spPr>
          <a:xfrm>
            <a:off x="6498816" y="3583086"/>
            <a:ext cx="11012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环节转化率</a:t>
            </a:r>
          </a:p>
        </p:txBody>
      </p:sp>
      <p:sp>
        <p:nvSpPr>
          <p:cNvPr id="1149" name="m-p04_funnel-stage-5"/>
          <p:cNvSpPr/>
          <p:nvPr/>
        </p:nvSpPr>
        <p:spPr>
          <a:xfrm>
            <a:off x="5611900" y="3751390"/>
            <a:ext cx="434800" cy="161417"/>
          </a:xfrm>
          <a:custGeom>
            <a:avLst/>
            <a:gdLst/>
            <a:ahLst/>
            <a:cxnLst/>
            <a:rect l="0" t="0" r="r" b="b"/>
            <a:pathLst>
              <a:path w="434800" h="161417">
                <a:moveTo>
                  <a:pt x="1691" y="14414"/>
                </a:moveTo>
                <a:quadBezTo>
                  <a:pt x="-4405" y="0"/>
                  <a:pt x="11216" y="0"/>
                </a:quadBezTo>
                <a:lnTo>
                  <a:pt x="423585" y="0"/>
                </a:lnTo>
                <a:quadBezTo>
                  <a:pt x="439206" y="0"/>
                  <a:pt x="433110" y="14414"/>
                </a:quadBezTo>
                <a:lnTo>
                  <a:pt x="377103" y="147002"/>
                </a:lnTo>
                <a:quadBezTo>
                  <a:pt x="371007" y="161417"/>
                  <a:pt x="355386" y="161417"/>
                </a:quadBezTo>
                <a:lnTo>
                  <a:pt x="79415" y="161417"/>
                </a:lnTo>
                <a:quadBezTo>
                  <a:pt x="63794" y="161417"/>
                  <a:pt x="57698" y="147002"/>
                </a:quadBezTo>
                <a:close/>
              </a:path>
            </a:pathLst>
          </a:custGeom>
          <a:gradFill rotWithShape="1">
            <a:gsLst>
              <a:gs pos="0">
                <a:srgbClr val="6CAFE3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50" name="m-p04_funnel-cnt-5"/>
          <p:cNvSpPr txBox="1"/>
          <p:nvPr/>
        </p:nvSpPr>
        <p:spPr>
          <a:xfrm>
            <a:off x="5755426" y="3781265"/>
            <a:ext cx="147749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1,596</a:t>
            </a:r>
          </a:p>
        </p:txBody>
      </p:sp>
      <p:sp>
        <p:nvSpPr>
          <p:cNvPr id="1151" name="m-p04_funnel-pct-5"/>
          <p:cNvSpPr txBox="1"/>
          <p:nvPr/>
        </p:nvSpPr>
        <p:spPr>
          <a:xfrm>
            <a:off x="5743938" y="3847839"/>
            <a:ext cx="170725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5" normalizeH="0" baseline="0" noProof="0">
                <a:ln>
                  <a:noFill/>
                </a:ln>
                <a:solidFill>
                  <a:srgbClr val="FFFFFF">
                    <a:alpha val="80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占初始流量 1.2%</a:t>
            </a:r>
          </a:p>
        </p:txBody>
      </p:sp>
      <p:sp>
        <p:nvSpPr>
          <p:cNvPr id="1152" name="m-p04_funnel-ln-5"/>
          <p:cNvSpPr txBox="1"/>
          <p:nvPr/>
        </p:nvSpPr>
        <p:spPr>
          <a:xfrm>
            <a:off x="5164626" y="3786628"/>
            <a:ext cx="102526" cy="865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90" b="1" i="0" u="none" strike="noStrike" kern="1200" cap="none" spc="10" normalizeH="0" baseline="0" noProof="0">
                <a:ln>
                  <a:noFill/>
                </a:ln>
                <a:solidFill>
                  <a:srgbClr val="54A2DF">
                    <a:alpha val="9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1153" name="m-p04_funnel-lt-5"/>
          <p:cNvSpPr txBox="1"/>
          <p:nvPr/>
        </p:nvSpPr>
        <p:spPr>
          <a:xfrm>
            <a:off x="5431511" y="3790527"/>
            <a:ext cx="140198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复购成交</a:t>
            </a:r>
          </a:p>
        </p:txBody>
      </p:sp>
      <p:sp>
        <p:nvSpPr>
          <p:cNvPr id="1154" name="m-p04_funnel-lp-5"/>
          <p:cNvSpPr txBox="1"/>
          <p:nvPr/>
        </p:nvSpPr>
        <p:spPr>
          <a:xfrm>
            <a:off x="5354031" y="3839225"/>
            <a:ext cx="216741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三个月内产生二次购买</a:t>
            </a:r>
          </a:p>
        </p:txBody>
      </p:sp>
      <p:sp>
        <p:nvSpPr>
          <p:cNvPr id="1155" name="m-p04_funnel-lb-5"/>
          <p:cNvSpPr/>
          <p:nvPr/>
        </p:nvSpPr>
        <p:spPr>
          <a:xfrm>
            <a:off x="5581447" y="3800856"/>
            <a:ext cx="3905" cy="62484"/>
          </a:xfrm>
          <a:prstGeom prst="roundRect">
            <a:avLst>
              <a:gd name="adj" fmla="val 30750"/>
            </a:avLst>
          </a:prstGeom>
          <a:solidFill>
            <a:srgbClr val="54A2DF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156" name="m-p04_funnel-cl-5"/>
          <p:cNvCxnSpPr/>
          <p:nvPr/>
        </p:nvCxnSpPr>
        <p:spPr>
          <a:xfrm>
            <a:off x="6071946" y="3753993"/>
            <a:ext cx="314503" cy="0"/>
          </a:xfrm>
          <a:prstGeom prst="line">
            <a:avLst/>
          </a:prstGeom>
          <a:ln w="2540" cap="rnd">
            <a:solidFill>
              <a:srgbClr val="A9BBD0"/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57" name="m-p04_funnel-conv-5"/>
          <p:cNvSpPr/>
          <p:nvPr/>
        </p:nvSpPr>
        <p:spPr>
          <a:xfrm>
            <a:off x="6415088" y="3707130"/>
            <a:ext cx="296799" cy="91123"/>
          </a:xfrm>
          <a:custGeom>
            <a:avLst/>
            <a:gdLst/>
            <a:ahLst/>
            <a:cxnLst/>
            <a:rect l="0" t="0" r="r" b="b"/>
            <a:pathLst>
              <a:path w="296799" h="91123">
                <a:moveTo>
                  <a:pt x="20828" y="0"/>
                </a:moveTo>
                <a:lnTo>
                  <a:pt x="275971" y="0"/>
                </a:lnTo>
                <a:cubicBezTo>
                  <a:pt x="287464" y="0"/>
                  <a:pt x="296799" y="9335"/>
                  <a:pt x="296799" y="20828"/>
                </a:cubicBezTo>
                <a:lnTo>
                  <a:pt x="296799" y="70295"/>
                </a:lnTo>
                <a:cubicBezTo>
                  <a:pt x="296799" y="81788"/>
                  <a:pt x="287464" y="91123"/>
                  <a:pt x="275971" y="91123"/>
                </a:cubicBezTo>
                <a:lnTo>
                  <a:pt x="20828" y="91123"/>
                </a:lnTo>
                <a:cubicBezTo>
                  <a:pt x="9335" y="91123"/>
                  <a:pt x="0" y="81788"/>
                  <a:pt x="0" y="70295"/>
                </a:cubicBezTo>
                <a:lnTo>
                  <a:pt x="0" y="20828"/>
                </a:lnTo>
                <a:cubicBezTo>
                  <a:pt x="0" y="9335"/>
                  <a:pt x="9335" y="0"/>
                  <a:pt x="2082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54A2DF">
                <a:alpha val="3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58" name="m-p04_funnel-icon-grow"/>
          <p:cNvSpPr/>
          <p:nvPr/>
        </p:nvSpPr>
        <p:spPr>
          <a:xfrm>
            <a:off x="6451028" y="3747770"/>
            <a:ext cx="19495" cy="12192"/>
          </a:xfrm>
          <a:custGeom>
            <a:avLst/>
            <a:gdLst/>
            <a:ahLst/>
            <a:cxnLst/>
            <a:rect l="0" t="0" r="r" b="b"/>
            <a:pathLst>
              <a:path w="19495" h="12192">
                <a:moveTo>
                  <a:pt x="0" y="12192"/>
                </a:moveTo>
                <a:lnTo>
                  <a:pt x="6477" y="5207"/>
                </a:lnTo>
                <a:lnTo>
                  <a:pt x="11176" y="9080"/>
                </a:lnTo>
                <a:lnTo>
                  <a:pt x="18987" y="0"/>
                </a:lnTo>
                <a:moveTo>
                  <a:pt x="15875" y="0"/>
                </a:moveTo>
                <a:lnTo>
                  <a:pt x="19495" y="0"/>
                </a:lnTo>
                <a:lnTo>
                  <a:pt x="19495" y="3619"/>
                </a:lnTo>
              </a:path>
            </a:pathLst>
          </a:custGeom>
          <a:noFill/>
          <a:ln w="2604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59" name="m-p04_funnel-conv-t-5"/>
          <p:cNvSpPr txBox="1"/>
          <p:nvPr/>
        </p:nvSpPr>
        <p:spPr>
          <a:xfrm>
            <a:off x="6497566" y="3710814"/>
            <a:ext cx="109217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33.0%</a:t>
            </a:r>
          </a:p>
        </p:txBody>
      </p:sp>
      <p:sp>
        <p:nvSpPr>
          <p:cNvPr id="1160" name="m-p04_funnel-conv-l-5"/>
          <p:cNvSpPr txBox="1"/>
          <p:nvPr/>
        </p:nvSpPr>
        <p:spPr>
          <a:xfrm>
            <a:off x="6498816" y="3757521"/>
            <a:ext cx="11012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环节转化率</a:t>
            </a:r>
          </a:p>
        </p:txBody>
      </p:sp>
      <p:sp>
        <p:nvSpPr>
          <p:cNvPr id="1161" name="m-p04_funnel-sum-card"/>
          <p:cNvSpPr/>
          <p:nvPr/>
        </p:nvSpPr>
        <p:spPr>
          <a:xfrm>
            <a:off x="6766560" y="3524885"/>
            <a:ext cx="403543" cy="390525"/>
          </a:xfrm>
          <a:custGeom>
            <a:avLst/>
            <a:gdLst/>
            <a:ahLst/>
            <a:cxnLst/>
            <a:rect l="0" t="0" r="r" b="b"/>
            <a:pathLst>
              <a:path w="403543" h="390525">
                <a:moveTo>
                  <a:pt x="23432" y="0"/>
                </a:moveTo>
                <a:lnTo>
                  <a:pt x="380111" y="0"/>
                </a:lnTo>
                <a:cubicBezTo>
                  <a:pt x="393065" y="0"/>
                  <a:pt x="403543" y="10477"/>
                  <a:pt x="403543" y="23431"/>
                </a:cubicBezTo>
                <a:lnTo>
                  <a:pt x="403543" y="367093"/>
                </a:lnTo>
                <a:cubicBezTo>
                  <a:pt x="403543" y="380048"/>
                  <a:pt x="393065" y="390525"/>
                  <a:pt x="380111" y="390525"/>
                </a:cubicBezTo>
                <a:lnTo>
                  <a:pt x="23432" y="390525"/>
                </a:lnTo>
                <a:cubicBezTo>
                  <a:pt x="10478" y="390525"/>
                  <a:pt x="0" y="380048"/>
                  <a:pt x="0" y="367093"/>
                </a:cubicBezTo>
                <a:lnTo>
                  <a:pt x="0" y="23431"/>
                </a:lnTo>
                <a:cubicBezTo>
                  <a:pt x="0" y="10477"/>
                  <a:pt x="10478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62" name="m-p04_funnel-sum-cap"/>
          <p:cNvSpPr/>
          <p:nvPr/>
        </p:nvSpPr>
        <p:spPr>
          <a:xfrm>
            <a:off x="6766560" y="3524885"/>
            <a:ext cx="403543" cy="9080"/>
          </a:xfrm>
          <a:custGeom>
            <a:avLst/>
            <a:gdLst/>
            <a:ahLst/>
            <a:cxnLst/>
            <a:rect l="0" t="0" r="r" b="b"/>
            <a:pathLst>
              <a:path w="403543" h="9080">
                <a:moveTo>
                  <a:pt x="4572" y="0"/>
                </a:moveTo>
                <a:lnTo>
                  <a:pt x="398971" y="0"/>
                </a:lnTo>
                <a:cubicBezTo>
                  <a:pt x="401511" y="0"/>
                  <a:pt x="403543" y="2032"/>
                  <a:pt x="403543" y="4572"/>
                </a:cubicBezTo>
                <a:lnTo>
                  <a:pt x="403543" y="4572"/>
                </a:lnTo>
                <a:cubicBezTo>
                  <a:pt x="403543" y="7049"/>
                  <a:pt x="401511" y="9080"/>
                  <a:pt x="398971" y="9080"/>
                </a:cubicBezTo>
                <a:lnTo>
                  <a:pt x="4572" y="9080"/>
                </a:lnTo>
                <a:cubicBezTo>
                  <a:pt x="2032" y="9080"/>
                  <a:pt x="0" y="7049"/>
                  <a:pt x="0" y="4572"/>
                </a:cubicBezTo>
                <a:lnTo>
                  <a:pt x="0" y="4572"/>
                </a:lnTo>
                <a:cubicBezTo>
                  <a:pt x="0" y="2032"/>
                  <a:pt x="2032" y="0"/>
                  <a:pt x="4572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63" name="m-p04_funnel-sum-h"/>
          <p:cNvSpPr txBox="1"/>
          <p:nvPr/>
        </p:nvSpPr>
        <p:spPr>
          <a:xfrm>
            <a:off x="6810143" y="3574436"/>
            <a:ext cx="144364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整体转化</a:t>
            </a:r>
          </a:p>
        </p:txBody>
      </p:sp>
      <p:sp>
        <p:nvSpPr>
          <p:cNvPr id="1164" name="m-p04_funnel-sum-v"/>
          <p:cNvSpPr txBox="1"/>
          <p:nvPr/>
        </p:nvSpPr>
        <p:spPr>
          <a:xfrm>
            <a:off x="6805925" y="3632566"/>
            <a:ext cx="237700" cy="10934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90" b="1" i="0" u="none" strike="noStrike" kern="1200" cap="none" spc="1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1.25%</a:t>
            </a:r>
          </a:p>
        </p:txBody>
      </p:sp>
      <p:sp>
        <p:nvSpPr>
          <p:cNvPr id="1165" name="m-p04_funnel-sum-p"/>
          <p:cNvSpPr txBox="1"/>
          <p:nvPr/>
        </p:nvSpPr>
        <p:spPr>
          <a:xfrm>
            <a:off x="6811158" y="3730682"/>
            <a:ext cx="224825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触达 → 复购整体转化率</a:t>
            </a:r>
          </a:p>
        </p:txBody>
      </p:sp>
      <p:cxnSp>
        <p:nvCxnSpPr>
          <p:cNvPr id="1166" name="m-p04_funnel-sum-div"/>
          <p:cNvCxnSpPr/>
          <p:nvPr/>
        </p:nvCxnSpPr>
        <p:spPr>
          <a:xfrm>
            <a:off x="6813423" y="3795649"/>
            <a:ext cx="312420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67" name="m-p04_funnel-sum-l-1"/>
          <p:cNvSpPr txBox="1"/>
          <p:nvPr/>
        </p:nvSpPr>
        <p:spPr>
          <a:xfrm>
            <a:off x="6811158" y="3819201"/>
            <a:ext cx="94051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最大流失</a:t>
            </a:r>
          </a:p>
        </p:txBody>
      </p:sp>
      <p:sp>
        <p:nvSpPr>
          <p:cNvPr id="1168" name="m-p04_funnel-sum-r-1"/>
          <p:cNvSpPr txBox="1"/>
          <p:nvPr/>
        </p:nvSpPr>
        <p:spPr>
          <a:xfrm>
            <a:off x="6996970" y="3818397"/>
            <a:ext cx="131216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3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进店 → 留资</a:t>
            </a:r>
          </a:p>
        </p:txBody>
      </p:sp>
      <p:sp>
        <p:nvSpPr>
          <p:cNvPr id="1169" name="m-p04_funnel-sum-l-2"/>
          <p:cNvSpPr txBox="1"/>
          <p:nvPr/>
        </p:nvSpPr>
        <p:spPr>
          <a:xfrm>
            <a:off x="6811158" y="3860857"/>
            <a:ext cx="113317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优化优先级</a:t>
            </a:r>
          </a:p>
        </p:txBody>
      </p:sp>
      <p:sp>
        <p:nvSpPr>
          <p:cNvPr id="1170" name="m-p04_funnel-sum-r-2"/>
          <p:cNvSpPr txBox="1"/>
          <p:nvPr/>
        </p:nvSpPr>
        <p:spPr>
          <a:xfrm>
            <a:off x="7011029" y="3860053"/>
            <a:ext cx="117158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3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留资页改版</a:t>
            </a:r>
          </a:p>
        </p:txBody>
      </p:sp>
      <p:cxnSp>
        <p:nvCxnSpPr>
          <p:cNvPr id="1171" name="m-p04_funnel-foot-line"/>
          <p:cNvCxnSpPr/>
          <p:nvPr/>
        </p:nvCxnSpPr>
        <p:spPr>
          <a:xfrm>
            <a:off x="4907661" y="40429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72" name="m-p04_funnel-foot-l"/>
          <p:cNvSpPr txBox="1"/>
          <p:nvPr/>
        </p:nvSpPr>
        <p:spPr>
          <a:xfrm>
            <a:off x="4905474" y="4056923"/>
            <a:ext cx="21429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转化漏斗 · 五级旅程</a:t>
            </a:r>
          </a:p>
        </p:txBody>
      </p:sp>
      <p:sp>
        <p:nvSpPr>
          <p:cNvPr id="1173" name="m-p04_funnel-foot-r"/>
          <p:cNvSpPr txBox="1"/>
          <p:nvPr/>
        </p:nvSpPr>
        <p:spPr>
          <a:xfrm>
            <a:off x="6909909" y="40569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1174" name="mini-card-d41_combo"/>
          <p:cNvSpPr/>
          <p:nvPr/>
        </p:nvSpPr>
        <p:spPr>
          <a:xfrm>
            <a:off x="7404100" y="27178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1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1" y="1405890"/>
                </a:lnTo>
                <a:cubicBezTo>
                  <a:pt x="35878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7"/>
                  <a:pt x="35878" y="0"/>
                  <a:pt x="80201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75" name="m-d41_combo-title-bar"/>
          <p:cNvSpPr/>
          <p:nvPr/>
        </p:nvSpPr>
        <p:spPr>
          <a:xfrm>
            <a:off x="7523861" y="28167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76" name="m-d41_combo-title-bar-accent"/>
          <p:cNvSpPr/>
          <p:nvPr/>
        </p:nvSpPr>
        <p:spPr>
          <a:xfrm>
            <a:off x="7523861" y="28167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77" name="m-d41_combo-title-cn"/>
          <p:cNvSpPr txBox="1"/>
          <p:nvPr/>
        </p:nvSpPr>
        <p:spPr>
          <a:xfrm>
            <a:off x="7556040" y="2799368"/>
            <a:ext cx="551421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季度营收与毛利率</a:t>
            </a:r>
          </a:p>
        </p:txBody>
      </p:sp>
      <p:sp>
        <p:nvSpPr>
          <p:cNvPr id="1178" name="m-d41_combo-title-en"/>
          <p:cNvSpPr txBox="1"/>
          <p:nvPr/>
        </p:nvSpPr>
        <p:spPr>
          <a:xfrm>
            <a:off x="7563330" y="2886650"/>
            <a:ext cx="29640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DUAL-AXIS COMBO</a:t>
            </a:r>
          </a:p>
        </p:txBody>
      </p:sp>
      <p:sp>
        <p:nvSpPr>
          <p:cNvPr id="1179" name="m-d41_combo-title-sub"/>
          <p:cNvSpPr txBox="1"/>
          <p:nvPr/>
        </p:nvSpPr>
        <p:spPr>
          <a:xfrm>
            <a:off x="8768308" y="2855792"/>
            <a:ext cx="1018047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柱子看规模、折线看质量——2026 每个季度营收同比都在增长，毛利率自 26Q1 起回到目标区间</a:t>
            </a:r>
          </a:p>
        </p:txBody>
      </p:sp>
      <p:sp>
        <p:nvSpPr>
          <p:cNvPr id="1180" name="m-d41_combo-tgt"/>
          <p:cNvSpPr/>
          <p:nvPr/>
        </p:nvSpPr>
        <p:spPr>
          <a:xfrm>
            <a:off x="7742555" y="3136964"/>
            <a:ext cx="1353820" cy="135382"/>
          </a:xfrm>
          <a:prstGeom prst="rect">
            <a:avLst/>
          </a:prstGeom>
          <a:solidFill>
            <a:srgbClr val="E0703A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81" name="m-d41_combo-tgt-t"/>
          <p:cNvSpPr txBox="1"/>
          <p:nvPr/>
        </p:nvSpPr>
        <p:spPr>
          <a:xfrm>
            <a:off x="7755911" y="3100635"/>
            <a:ext cx="243440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5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毛利率目标区间 36%–40%</a:t>
            </a:r>
          </a:p>
        </p:txBody>
      </p:sp>
      <p:cxnSp>
        <p:nvCxnSpPr>
          <p:cNvPr id="1182" name="m-d41_combo-g-0"/>
          <p:cNvCxnSpPr/>
          <p:nvPr/>
        </p:nvCxnSpPr>
        <p:spPr>
          <a:xfrm>
            <a:off x="7721727" y="3746183"/>
            <a:ext cx="1395476" cy="0"/>
          </a:xfrm>
          <a:prstGeom prst="line">
            <a:avLst/>
          </a:prstGeom>
          <a:ln w="2540" cap="rnd">
            <a:solidFill>
              <a:srgbClr val="0B2545">
                <a:alpha val="14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83" name="m-d41_combo-gl-0"/>
          <p:cNvSpPr txBox="1"/>
          <p:nvPr/>
        </p:nvSpPr>
        <p:spPr>
          <a:xfrm>
            <a:off x="7680800" y="3728270"/>
            <a:ext cx="30409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</a:t>
            </a:r>
          </a:p>
        </p:txBody>
      </p:sp>
      <p:sp>
        <p:nvSpPr>
          <p:cNvPr id="1184" name="m-d41_combo-gr-0"/>
          <p:cNvSpPr txBox="1"/>
          <p:nvPr/>
        </p:nvSpPr>
        <p:spPr>
          <a:xfrm>
            <a:off x="9130325" y="3728270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22%</a:t>
            </a:r>
          </a:p>
        </p:txBody>
      </p:sp>
      <p:cxnSp>
        <p:nvCxnSpPr>
          <p:cNvPr id="1185" name="m-d41_combo-g-1"/>
          <p:cNvCxnSpPr/>
          <p:nvPr/>
        </p:nvCxnSpPr>
        <p:spPr>
          <a:xfrm>
            <a:off x="7721727" y="3610800"/>
            <a:ext cx="1395476" cy="0"/>
          </a:xfrm>
          <a:prstGeom prst="line">
            <a:avLst/>
          </a:prstGeom>
          <a:ln w="254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86" name="m-d41_combo-gl-1"/>
          <p:cNvSpPr txBox="1"/>
          <p:nvPr/>
        </p:nvSpPr>
        <p:spPr>
          <a:xfrm>
            <a:off x="7657473" y="3592888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1.5</a:t>
            </a:r>
          </a:p>
        </p:txBody>
      </p:sp>
      <p:sp>
        <p:nvSpPr>
          <p:cNvPr id="1187" name="m-d41_combo-gr-1"/>
          <p:cNvSpPr txBox="1"/>
          <p:nvPr/>
        </p:nvSpPr>
        <p:spPr>
          <a:xfrm>
            <a:off x="9130325" y="3592888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26%</a:t>
            </a:r>
          </a:p>
        </p:txBody>
      </p:sp>
      <p:cxnSp>
        <p:nvCxnSpPr>
          <p:cNvPr id="1188" name="m-d41_combo-g-2"/>
          <p:cNvCxnSpPr/>
          <p:nvPr/>
        </p:nvCxnSpPr>
        <p:spPr>
          <a:xfrm>
            <a:off x="7721727" y="3475418"/>
            <a:ext cx="1395476" cy="0"/>
          </a:xfrm>
          <a:prstGeom prst="line">
            <a:avLst/>
          </a:prstGeom>
          <a:ln w="254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89" name="m-d41_combo-gl-2"/>
          <p:cNvSpPr txBox="1"/>
          <p:nvPr/>
        </p:nvSpPr>
        <p:spPr>
          <a:xfrm>
            <a:off x="7680800" y="3457506"/>
            <a:ext cx="30409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1190" name="m-d41_combo-gr-2"/>
          <p:cNvSpPr txBox="1"/>
          <p:nvPr/>
        </p:nvSpPr>
        <p:spPr>
          <a:xfrm>
            <a:off x="9130325" y="3457506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30%</a:t>
            </a:r>
          </a:p>
        </p:txBody>
      </p:sp>
      <p:cxnSp>
        <p:nvCxnSpPr>
          <p:cNvPr id="1191" name="m-d41_combo-g-3"/>
          <p:cNvCxnSpPr/>
          <p:nvPr/>
        </p:nvCxnSpPr>
        <p:spPr>
          <a:xfrm>
            <a:off x="7721727" y="3340036"/>
            <a:ext cx="1395476" cy="0"/>
          </a:xfrm>
          <a:prstGeom prst="line">
            <a:avLst/>
          </a:prstGeom>
          <a:ln w="254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92" name="m-d41_combo-gl-3"/>
          <p:cNvSpPr txBox="1"/>
          <p:nvPr/>
        </p:nvSpPr>
        <p:spPr>
          <a:xfrm>
            <a:off x="7657473" y="3322124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4.5</a:t>
            </a:r>
          </a:p>
        </p:txBody>
      </p:sp>
      <p:sp>
        <p:nvSpPr>
          <p:cNvPr id="1193" name="m-d41_combo-gr-3"/>
          <p:cNvSpPr txBox="1"/>
          <p:nvPr/>
        </p:nvSpPr>
        <p:spPr>
          <a:xfrm>
            <a:off x="9130325" y="3322124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34%</a:t>
            </a:r>
          </a:p>
        </p:txBody>
      </p:sp>
      <p:cxnSp>
        <p:nvCxnSpPr>
          <p:cNvPr id="1194" name="m-d41_combo-g-4"/>
          <p:cNvCxnSpPr/>
          <p:nvPr/>
        </p:nvCxnSpPr>
        <p:spPr>
          <a:xfrm>
            <a:off x="7721727" y="3204654"/>
            <a:ext cx="1395476" cy="0"/>
          </a:xfrm>
          <a:prstGeom prst="line">
            <a:avLst/>
          </a:prstGeom>
          <a:ln w="254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95" name="m-d41_combo-gl-4"/>
          <p:cNvSpPr txBox="1"/>
          <p:nvPr/>
        </p:nvSpPr>
        <p:spPr>
          <a:xfrm>
            <a:off x="7680800" y="3186742"/>
            <a:ext cx="30409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6</a:t>
            </a:r>
          </a:p>
        </p:txBody>
      </p:sp>
      <p:sp>
        <p:nvSpPr>
          <p:cNvPr id="1196" name="m-d41_combo-gr-4"/>
          <p:cNvSpPr txBox="1"/>
          <p:nvPr/>
        </p:nvSpPr>
        <p:spPr>
          <a:xfrm>
            <a:off x="9130325" y="3186742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38%</a:t>
            </a:r>
          </a:p>
        </p:txBody>
      </p:sp>
      <p:cxnSp>
        <p:nvCxnSpPr>
          <p:cNvPr id="1197" name="m-d41_combo-g-5"/>
          <p:cNvCxnSpPr/>
          <p:nvPr/>
        </p:nvCxnSpPr>
        <p:spPr>
          <a:xfrm>
            <a:off x="7721727" y="3069272"/>
            <a:ext cx="1395476" cy="0"/>
          </a:xfrm>
          <a:prstGeom prst="line">
            <a:avLst/>
          </a:prstGeom>
          <a:ln w="2540" cap="rnd">
            <a:solidFill>
              <a:srgbClr val="0B2545">
                <a:alpha val="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98" name="m-d41_combo-gl-5"/>
          <p:cNvSpPr txBox="1"/>
          <p:nvPr/>
        </p:nvSpPr>
        <p:spPr>
          <a:xfrm>
            <a:off x="7657473" y="3051360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7.5</a:t>
            </a:r>
          </a:p>
        </p:txBody>
      </p:sp>
      <p:sp>
        <p:nvSpPr>
          <p:cNvPr id="1199" name="m-d41_combo-gr-5"/>
          <p:cNvSpPr txBox="1"/>
          <p:nvPr/>
        </p:nvSpPr>
        <p:spPr>
          <a:xfrm>
            <a:off x="9130325" y="3051360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42%</a:t>
            </a:r>
          </a:p>
        </p:txBody>
      </p:sp>
      <p:sp>
        <p:nvSpPr>
          <p:cNvPr id="1200" name="m-d41_combo-ul"/>
          <p:cNvSpPr txBox="1"/>
          <p:nvPr/>
        </p:nvSpPr>
        <p:spPr>
          <a:xfrm>
            <a:off x="7585147" y="3007713"/>
            <a:ext cx="12574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营收（亿元）</a:t>
            </a:r>
          </a:p>
        </p:txBody>
      </p:sp>
      <p:sp>
        <p:nvSpPr>
          <p:cNvPr id="1201" name="m-d41_combo-ur"/>
          <p:cNvSpPr txBox="1"/>
          <p:nvPr/>
        </p:nvSpPr>
        <p:spPr>
          <a:xfrm>
            <a:off x="9130637" y="3007713"/>
            <a:ext cx="71076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毛利率</a:t>
            </a:r>
          </a:p>
        </p:txBody>
      </p:sp>
      <p:sp>
        <p:nvSpPr>
          <p:cNvPr id="1202" name="m-d41_combo-b-1"/>
          <p:cNvSpPr/>
          <p:nvPr/>
        </p:nvSpPr>
        <p:spPr>
          <a:xfrm>
            <a:off x="7784846" y="3556635"/>
            <a:ext cx="84645" cy="189548"/>
          </a:xfrm>
          <a:custGeom>
            <a:avLst/>
            <a:gdLst/>
            <a:ahLst/>
            <a:cxnLst/>
            <a:rect l="0" t="0" r="r" b="b"/>
            <a:pathLst>
              <a:path w="84645" h="189548">
                <a:moveTo>
                  <a:pt x="0" y="189548"/>
                </a:moveTo>
                <a:lnTo>
                  <a:pt x="0" y="13017"/>
                </a:lnTo>
                <a:cubicBezTo>
                  <a:pt x="0" y="5842"/>
                  <a:pt x="5842" y="0"/>
                  <a:pt x="13017" y="0"/>
                </a:cubicBezTo>
                <a:lnTo>
                  <a:pt x="71628" y="0"/>
                </a:lnTo>
                <a:cubicBezTo>
                  <a:pt x="78803" y="0"/>
                  <a:pt x="84645" y="5842"/>
                  <a:pt x="84645" y="13017"/>
                </a:cubicBezTo>
                <a:lnTo>
                  <a:pt x="84645" y="189548"/>
                </a:lnTo>
                <a:close/>
              </a:path>
            </a:pathLst>
          </a:custGeom>
          <a:gradFill rotWithShape="1">
            <a:gsLst>
              <a:gs pos="0">
                <a:srgbClr val="619DD7"/>
              </a:gs>
              <a:gs pos="100000">
                <a:srgbClr val="3985CD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03" name="m-d41_combo-bv-1"/>
          <p:cNvSpPr txBox="1"/>
          <p:nvPr/>
        </p:nvSpPr>
        <p:spPr>
          <a:xfrm>
            <a:off x="7800301" y="3515304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2.1</a:t>
            </a:r>
          </a:p>
        </p:txBody>
      </p:sp>
      <p:sp>
        <p:nvSpPr>
          <p:cNvPr id="1204" name="m-d41_combo-x-1"/>
          <p:cNvSpPr txBox="1"/>
          <p:nvPr/>
        </p:nvSpPr>
        <p:spPr>
          <a:xfrm>
            <a:off x="7796513" y="3763724"/>
            <a:ext cx="6131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25Q1</a:t>
            </a:r>
          </a:p>
        </p:txBody>
      </p:sp>
      <p:sp>
        <p:nvSpPr>
          <p:cNvPr id="1205" name="m-d41_combo-b-2"/>
          <p:cNvSpPr/>
          <p:nvPr/>
        </p:nvSpPr>
        <p:spPr>
          <a:xfrm>
            <a:off x="7954073" y="3529584"/>
            <a:ext cx="84646" cy="216599"/>
          </a:xfrm>
          <a:custGeom>
            <a:avLst/>
            <a:gdLst/>
            <a:ahLst/>
            <a:cxnLst/>
            <a:rect l="0" t="0" r="r" b="b"/>
            <a:pathLst>
              <a:path w="84646" h="216599">
                <a:moveTo>
                  <a:pt x="0" y="216599"/>
                </a:moveTo>
                <a:lnTo>
                  <a:pt x="0" y="13017"/>
                </a:lnTo>
                <a:cubicBezTo>
                  <a:pt x="0" y="5842"/>
                  <a:pt x="5842" y="0"/>
                  <a:pt x="13018" y="0"/>
                </a:cubicBezTo>
                <a:lnTo>
                  <a:pt x="71628" y="0"/>
                </a:lnTo>
                <a:cubicBezTo>
                  <a:pt x="78804" y="0"/>
                  <a:pt x="84646" y="5842"/>
                  <a:pt x="84646" y="13017"/>
                </a:cubicBezTo>
                <a:lnTo>
                  <a:pt x="84646" y="216599"/>
                </a:lnTo>
                <a:close/>
              </a:path>
            </a:pathLst>
          </a:custGeom>
          <a:gradFill rotWithShape="1">
            <a:gsLst>
              <a:gs pos="0">
                <a:srgbClr val="619DD7"/>
              </a:gs>
              <a:gs pos="100000">
                <a:srgbClr val="3985CD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06" name="m-d41_combo-bv-2"/>
          <p:cNvSpPr txBox="1"/>
          <p:nvPr/>
        </p:nvSpPr>
        <p:spPr>
          <a:xfrm>
            <a:off x="7969528" y="3488228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2.4</a:t>
            </a:r>
          </a:p>
        </p:txBody>
      </p:sp>
      <p:sp>
        <p:nvSpPr>
          <p:cNvPr id="1207" name="m-d41_combo-x-2"/>
          <p:cNvSpPr txBox="1"/>
          <p:nvPr/>
        </p:nvSpPr>
        <p:spPr>
          <a:xfrm>
            <a:off x="7965740" y="3763724"/>
            <a:ext cx="6131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25Q2</a:t>
            </a:r>
          </a:p>
        </p:txBody>
      </p:sp>
      <p:sp>
        <p:nvSpPr>
          <p:cNvPr id="1208" name="m-d41_combo-b-3"/>
          <p:cNvSpPr/>
          <p:nvPr/>
        </p:nvSpPr>
        <p:spPr>
          <a:xfrm>
            <a:off x="8123301" y="3511486"/>
            <a:ext cx="84645" cy="234696"/>
          </a:xfrm>
          <a:custGeom>
            <a:avLst/>
            <a:gdLst/>
            <a:ahLst/>
            <a:cxnLst/>
            <a:rect l="0" t="0" r="r" b="b"/>
            <a:pathLst>
              <a:path w="84645" h="234696">
                <a:moveTo>
                  <a:pt x="0" y="234696"/>
                </a:moveTo>
                <a:lnTo>
                  <a:pt x="0" y="13017"/>
                </a:lnTo>
                <a:cubicBezTo>
                  <a:pt x="0" y="5842"/>
                  <a:pt x="5842" y="0"/>
                  <a:pt x="13017" y="0"/>
                </a:cubicBezTo>
                <a:lnTo>
                  <a:pt x="71628" y="0"/>
                </a:lnTo>
                <a:cubicBezTo>
                  <a:pt x="78804" y="0"/>
                  <a:pt x="84645" y="5842"/>
                  <a:pt x="84645" y="13017"/>
                </a:cubicBezTo>
                <a:lnTo>
                  <a:pt x="84645" y="234696"/>
                </a:lnTo>
                <a:close/>
              </a:path>
            </a:pathLst>
          </a:custGeom>
          <a:gradFill rotWithShape="1">
            <a:gsLst>
              <a:gs pos="0">
                <a:srgbClr val="619DD7"/>
              </a:gs>
              <a:gs pos="100000">
                <a:srgbClr val="3985CD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09" name="m-d41_combo-bv-3"/>
          <p:cNvSpPr txBox="1"/>
          <p:nvPr/>
        </p:nvSpPr>
        <p:spPr>
          <a:xfrm>
            <a:off x="8138756" y="3470177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2.6</a:t>
            </a:r>
          </a:p>
        </p:txBody>
      </p:sp>
      <p:sp>
        <p:nvSpPr>
          <p:cNvPr id="1210" name="m-d41_combo-x-3"/>
          <p:cNvSpPr txBox="1"/>
          <p:nvPr/>
        </p:nvSpPr>
        <p:spPr>
          <a:xfrm>
            <a:off x="8134968" y="3763724"/>
            <a:ext cx="6131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25Q3</a:t>
            </a:r>
          </a:p>
        </p:txBody>
      </p:sp>
      <p:sp>
        <p:nvSpPr>
          <p:cNvPr id="1211" name="m-d41_combo-b-4"/>
          <p:cNvSpPr/>
          <p:nvPr/>
        </p:nvSpPr>
        <p:spPr>
          <a:xfrm>
            <a:off x="8292529" y="3475418"/>
            <a:ext cx="84645" cy="270764"/>
          </a:xfrm>
          <a:custGeom>
            <a:avLst/>
            <a:gdLst/>
            <a:ahLst/>
            <a:cxnLst/>
            <a:rect l="0" t="0" r="r" b="b"/>
            <a:pathLst>
              <a:path w="84645" h="270764">
                <a:moveTo>
                  <a:pt x="0" y="270764"/>
                </a:moveTo>
                <a:lnTo>
                  <a:pt x="0" y="13018"/>
                </a:lnTo>
                <a:cubicBezTo>
                  <a:pt x="0" y="5842"/>
                  <a:pt x="5842" y="0"/>
                  <a:pt x="13017" y="0"/>
                </a:cubicBezTo>
                <a:lnTo>
                  <a:pt x="71628" y="0"/>
                </a:lnTo>
                <a:cubicBezTo>
                  <a:pt x="78803" y="0"/>
                  <a:pt x="84645" y="5842"/>
                  <a:pt x="84645" y="13018"/>
                </a:cubicBezTo>
                <a:lnTo>
                  <a:pt x="84645" y="270764"/>
                </a:lnTo>
                <a:close/>
              </a:path>
            </a:pathLst>
          </a:custGeom>
          <a:gradFill rotWithShape="1">
            <a:gsLst>
              <a:gs pos="0">
                <a:srgbClr val="619DD7"/>
              </a:gs>
              <a:gs pos="100000">
                <a:srgbClr val="3985CD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12" name="m-d41_combo-bv-4"/>
          <p:cNvSpPr txBox="1"/>
          <p:nvPr/>
        </p:nvSpPr>
        <p:spPr>
          <a:xfrm>
            <a:off x="8307983" y="3434075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3.0</a:t>
            </a:r>
          </a:p>
        </p:txBody>
      </p:sp>
      <p:sp>
        <p:nvSpPr>
          <p:cNvPr id="1213" name="m-d41_combo-x-4"/>
          <p:cNvSpPr txBox="1"/>
          <p:nvPr/>
        </p:nvSpPr>
        <p:spPr>
          <a:xfrm>
            <a:off x="8304195" y="3763724"/>
            <a:ext cx="6131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25Q4</a:t>
            </a:r>
          </a:p>
        </p:txBody>
      </p:sp>
      <p:sp>
        <p:nvSpPr>
          <p:cNvPr id="1214" name="m-d41_combo-b-5"/>
          <p:cNvSpPr/>
          <p:nvPr/>
        </p:nvSpPr>
        <p:spPr>
          <a:xfrm>
            <a:off x="8461756" y="3493452"/>
            <a:ext cx="84646" cy="252730"/>
          </a:xfrm>
          <a:custGeom>
            <a:avLst/>
            <a:gdLst/>
            <a:ahLst/>
            <a:cxnLst/>
            <a:rect l="0" t="0" r="r" b="b"/>
            <a:pathLst>
              <a:path w="84646" h="252730">
                <a:moveTo>
                  <a:pt x="0" y="252730"/>
                </a:moveTo>
                <a:lnTo>
                  <a:pt x="0" y="13018"/>
                </a:lnTo>
                <a:cubicBezTo>
                  <a:pt x="0" y="5842"/>
                  <a:pt x="5842" y="0"/>
                  <a:pt x="13017" y="0"/>
                </a:cubicBezTo>
                <a:lnTo>
                  <a:pt x="71628" y="0"/>
                </a:lnTo>
                <a:cubicBezTo>
                  <a:pt x="78804" y="0"/>
                  <a:pt x="84646" y="5842"/>
                  <a:pt x="84646" y="13018"/>
                </a:cubicBezTo>
                <a:lnTo>
                  <a:pt x="84646" y="252730"/>
                </a:lnTo>
                <a:close/>
              </a:path>
            </a:pathLst>
          </a:custGeom>
          <a:gradFill rotWithShape="1">
            <a:gsLst>
              <a:gs pos="0">
                <a:srgbClr val="4270B0"/>
              </a:gs>
              <a:gs pos="100000">
                <a:srgbClr val="134C9C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15" name="m-d41_combo-bv-5"/>
          <p:cNvSpPr txBox="1"/>
          <p:nvPr/>
        </p:nvSpPr>
        <p:spPr>
          <a:xfrm>
            <a:off x="8477211" y="3452126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2.8</a:t>
            </a:r>
          </a:p>
        </p:txBody>
      </p:sp>
      <p:sp>
        <p:nvSpPr>
          <p:cNvPr id="1216" name="m-d41_combo-x-5"/>
          <p:cNvSpPr txBox="1"/>
          <p:nvPr/>
        </p:nvSpPr>
        <p:spPr>
          <a:xfrm>
            <a:off x="8473423" y="3763724"/>
            <a:ext cx="6131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26Q1</a:t>
            </a:r>
          </a:p>
        </p:txBody>
      </p:sp>
      <p:sp>
        <p:nvSpPr>
          <p:cNvPr id="1217" name="m-d41_combo-b-6"/>
          <p:cNvSpPr/>
          <p:nvPr/>
        </p:nvSpPr>
        <p:spPr>
          <a:xfrm>
            <a:off x="8630984" y="3457384"/>
            <a:ext cx="84645" cy="288798"/>
          </a:xfrm>
          <a:custGeom>
            <a:avLst/>
            <a:gdLst/>
            <a:ahLst/>
            <a:cxnLst/>
            <a:rect l="0" t="0" r="r" b="b"/>
            <a:pathLst>
              <a:path w="84645" h="288798">
                <a:moveTo>
                  <a:pt x="0" y="288798"/>
                </a:moveTo>
                <a:lnTo>
                  <a:pt x="0" y="13017"/>
                </a:lnTo>
                <a:cubicBezTo>
                  <a:pt x="0" y="5842"/>
                  <a:pt x="5842" y="0"/>
                  <a:pt x="13017" y="0"/>
                </a:cubicBezTo>
                <a:lnTo>
                  <a:pt x="71628" y="0"/>
                </a:lnTo>
                <a:cubicBezTo>
                  <a:pt x="78803" y="0"/>
                  <a:pt x="84645" y="5842"/>
                  <a:pt x="84645" y="13017"/>
                </a:cubicBezTo>
                <a:lnTo>
                  <a:pt x="84645" y="288798"/>
                </a:lnTo>
                <a:close/>
              </a:path>
            </a:pathLst>
          </a:custGeom>
          <a:gradFill rotWithShape="1">
            <a:gsLst>
              <a:gs pos="0">
                <a:srgbClr val="4270B0"/>
              </a:gs>
              <a:gs pos="100000">
                <a:srgbClr val="134C9C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18" name="m-d41_combo-bv-6"/>
          <p:cNvSpPr txBox="1"/>
          <p:nvPr/>
        </p:nvSpPr>
        <p:spPr>
          <a:xfrm>
            <a:off x="8646438" y="3416024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3.2</a:t>
            </a:r>
          </a:p>
        </p:txBody>
      </p:sp>
      <p:sp>
        <p:nvSpPr>
          <p:cNvPr id="1219" name="m-d41_combo-x-6"/>
          <p:cNvSpPr txBox="1"/>
          <p:nvPr/>
        </p:nvSpPr>
        <p:spPr>
          <a:xfrm>
            <a:off x="8642650" y="3763724"/>
            <a:ext cx="6131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26Q2</a:t>
            </a:r>
          </a:p>
        </p:txBody>
      </p:sp>
      <p:sp>
        <p:nvSpPr>
          <p:cNvPr id="1220" name="m-d41_combo-b-7"/>
          <p:cNvSpPr/>
          <p:nvPr/>
        </p:nvSpPr>
        <p:spPr>
          <a:xfrm>
            <a:off x="8800211" y="3430270"/>
            <a:ext cx="84646" cy="315912"/>
          </a:xfrm>
          <a:custGeom>
            <a:avLst/>
            <a:gdLst/>
            <a:ahLst/>
            <a:cxnLst/>
            <a:rect l="0" t="0" r="r" b="b"/>
            <a:pathLst>
              <a:path w="84646" h="315912">
                <a:moveTo>
                  <a:pt x="0" y="315912"/>
                </a:moveTo>
                <a:lnTo>
                  <a:pt x="0" y="13017"/>
                </a:lnTo>
                <a:cubicBezTo>
                  <a:pt x="0" y="5842"/>
                  <a:pt x="5842" y="0"/>
                  <a:pt x="13018" y="0"/>
                </a:cubicBezTo>
                <a:lnTo>
                  <a:pt x="71628" y="0"/>
                </a:lnTo>
                <a:cubicBezTo>
                  <a:pt x="78804" y="0"/>
                  <a:pt x="84646" y="5842"/>
                  <a:pt x="84646" y="13017"/>
                </a:cubicBezTo>
                <a:lnTo>
                  <a:pt x="84646" y="315912"/>
                </a:lnTo>
                <a:close/>
              </a:path>
            </a:pathLst>
          </a:custGeom>
          <a:gradFill rotWithShape="1">
            <a:gsLst>
              <a:gs pos="0">
                <a:srgbClr val="4270B0"/>
              </a:gs>
              <a:gs pos="100000">
                <a:srgbClr val="134C9C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21" name="m-d41_combo-bv-7"/>
          <p:cNvSpPr txBox="1"/>
          <p:nvPr/>
        </p:nvSpPr>
        <p:spPr>
          <a:xfrm>
            <a:off x="8815666" y="3388948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3.5</a:t>
            </a:r>
          </a:p>
        </p:txBody>
      </p:sp>
      <p:sp>
        <p:nvSpPr>
          <p:cNvPr id="1222" name="m-d41_combo-x-7"/>
          <p:cNvSpPr txBox="1"/>
          <p:nvPr/>
        </p:nvSpPr>
        <p:spPr>
          <a:xfrm>
            <a:off x="8811878" y="3763724"/>
            <a:ext cx="6131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26Q3</a:t>
            </a:r>
          </a:p>
        </p:txBody>
      </p:sp>
      <p:sp>
        <p:nvSpPr>
          <p:cNvPr id="1223" name="m-d41_combo-b-8"/>
          <p:cNvSpPr/>
          <p:nvPr/>
        </p:nvSpPr>
        <p:spPr>
          <a:xfrm>
            <a:off x="8969438" y="3376104"/>
            <a:ext cx="84645" cy="370078"/>
          </a:xfrm>
          <a:custGeom>
            <a:avLst/>
            <a:gdLst/>
            <a:ahLst/>
            <a:cxnLst/>
            <a:rect l="0" t="0" r="r" b="b"/>
            <a:pathLst>
              <a:path w="84645" h="370078">
                <a:moveTo>
                  <a:pt x="0" y="370078"/>
                </a:moveTo>
                <a:lnTo>
                  <a:pt x="0" y="13018"/>
                </a:lnTo>
                <a:cubicBezTo>
                  <a:pt x="0" y="5842"/>
                  <a:pt x="5842" y="0"/>
                  <a:pt x="13017" y="0"/>
                </a:cubicBezTo>
                <a:lnTo>
                  <a:pt x="71628" y="0"/>
                </a:lnTo>
                <a:cubicBezTo>
                  <a:pt x="78804" y="0"/>
                  <a:pt x="84645" y="5842"/>
                  <a:pt x="84645" y="13018"/>
                </a:cubicBezTo>
                <a:lnTo>
                  <a:pt x="84645" y="370078"/>
                </a:lnTo>
                <a:close/>
              </a:path>
            </a:pathLst>
          </a:custGeom>
          <a:gradFill rotWithShape="1">
            <a:gsLst>
              <a:gs pos="0">
                <a:srgbClr val="4270B0"/>
              </a:gs>
              <a:gs pos="100000">
                <a:srgbClr val="134C9C"/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24" name="m-d41_combo-bv-8"/>
          <p:cNvSpPr txBox="1"/>
          <p:nvPr/>
        </p:nvSpPr>
        <p:spPr>
          <a:xfrm>
            <a:off x="8984893" y="3334795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4.1</a:t>
            </a:r>
          </a:p>
        </p:txBody>
      </p:sp>
      <p:sp>
        <p:nvSpPr>
          <p:cNvPr id="1225" name="m-d41_combo-x-8"/>
          <p:cNvSpPr txBox="1"/>
          <p:nvPr/>
        </p:nvSpPr>
        <p:spPr>
          <a:xfrm>
            <a:off x="8981105" y="3763724"/>
            <a:ext cx="61312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26Q4</a:t>
            </a:r>
          </a:p>
        </p:txBody>
      </p:sp>
      <p:sp>
        <p:nvSpPr>
          <p:cNvPr id="1226" name="m-d41_combo-gm"/>
          <p:cNvSpPr/>
          <p:nvPr/>
        </p:nvSpPr>
        <p:spPr>
          <a:xfrm>
            <a:off x="7827137" y="3164014"/>
            <a:ext cx="1184593" cy="182999"/>
          </a:xfrm>
          <a:custGeom>
            <a:avLst/>
            <a:gdLst/>
            <a:ahLst/>
            <a:cxnLst/>
            <a:rect l="0" t="0" r="r" b="b"/>
            <a:pathLst>
              <a:path w="1184593" h="182999">
                <a:moveTo>
                  <a:pt x="0" y="91376"/>
                </a:moveTo>
                <a:cubicBezTo>
                  <a:pt x="19749" y="96520"/>
                  <a:pt x="129794" y="124777"/>
                  <a:pt x="169291" y="135382"/>
                </a:cubicBezTo>
                <a:cubicBezTo>
                  <a:pt x="208725" y="146050"/>
                  <a:pt x="299022" y="180403"/>
                  <a:pt x="338455" y="182816"/>
                </a:cubicBezTo>
                <a:cubicBezTo>
                  <a:pt x="377952" y="185166"/>
                  <a:pt x="468249" y="164783"/>
                  <a:pt x="507746" y="155702"/>
                </a:cubicBezTo>
                <a:cubicBezTo>
                  <a:pt x="547180" y="146622"/>
                  <a:pt x="637477" y="116014"/>
                  <a:pt x="676910" y="104965"/>
                </a:cubicBezTo>
                <a:cubicBezTo>
                  <a:pt x="716407" y="93916"/>
                  <a:pt x="806704" y="70803"/>
                  <a:pt x="846201" y="60960"/>
                </a:cubicBezTo>
                <a:cubicBezTo>
                  <a:pt x="885635" y="51054"/>
                  <a:pt x="975932" y="27432"/>
                  <a:pt x="1015429" y="20320"/>
                </a:cubicBezTo>
                <a:cubicBezTo>
                  <a:pt x="1054862" y="13208"/>
                  <a:pt x="1164908" y="2413"/>
                  <a:pt x="1184593" y="0"/>
                </a:cubicBezTo>
              </a:path>
            </a:pathLst>
          </a:custGeom>
          <a:noFill/>
          <a:ln w="5207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27" name="m-d41_combo-gp-1"/>
          <p:cNvSpPr/>
          <p:nvPr/>
        </p:nvSpPr>
        <p:spPr>
          <a:xfrm>
            <a:off x="7816755" y="3245009"/>
            <a:ext cx="20828" cy="20828"/>
          </a:xfrm>
          <a:prstGeom prst="ellipse">
            <a:avLst/>
          </a:prstGeom>
          <a:solidFill>
            <a:srgbClr val="E0703A"/>
          </a:solidFill>
          <a:ln w="3905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28" name="m-d41_combo-gv-1"/>
          <p:cNvSpPr txBox="1"/>
          <p:nvPr/>
        </p:nvSpPr>
        <p:spPr>
          <a:xfrm>
            <a:off x="7792249" y="3206077"/>
            <a:ext cx="69839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36.5%</a:t>
            </a:r>
          </a:p>
        </p:txBody>
      </p:sp>
      <p:sp>
        <p:nvSpPr>
          <p:cNvPr id="1229" name="m-d41_combo-gp-2"/>
          <p:cNvSpPr/>
          <p:nvPr/>
        </p:nvSpPr>
        <p:spPr>
          <a:xfrm>
            <a:off x="7985982" y="3289008"/>
            <a:ext cx="20828" cy="20828"/>
          </a:xfrm>
          <a:prstGeom prst="ellipse">
            <a:avLst/>
          </a:prstGeom>
          <a:solidFill>
            <a:srgbClr val="FFFFFF"/>
          </a:solidFill>
          <a:ln w="3905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30" name="m-d41_combo-gv-2"/>
          <p:cNvSpPr txBox="1"/>
          <p:nvPr/>
        </p:nvSpPr>
        <p:spPr>
          <a:xfrm>
            <a:off x="7961477" y="3250076"/>
            <a:ext cx="69839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35.2%</a:t>
            </a:r>
          </a:p>
        </p:txBody>
      </p:sp>
      <p:sp>
        <p:nvSpPr>
          <p:cNvPr id="1231" name="m-d41_combo-gp-3"/>
          <p:cNvSpPr/>
          <p:nvPr/>
        </p:nvSpPr>
        <p:spPr>
          <a:xfrm>
            <a:off x="8155210" y="3336392"/>
            <a:ext cx="20828" cy="20828"/>
          </a:xfrm>
          <a:prstGeom prst="ellipse">
            <a:avLst/>
          </a:prstGeom>
          <a:solidFill>
            <a:srgbClr val="FFFFFF"/>
          </a:solidFill>
          <a:ln w="3905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32" name="m-d41_combo-gv-3"/>
          <p:cNvSpPr txBox="1"/>
          <p:nvPr/>
        </p:nvSpPr>
        <p:spPr>
          <a:xfrm>
            <a:off x="8130704" y="3297460"/>
            <a:ext cx="69839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33.8%</a:t>
            </a:r>
          </a:p>
        </p:txBody>
      </p:sp>
      <p:sp>
        <p:nvSpPr>
          <p:cNvPr id="1233" name="m-d41_combo-gp-4"/>
          <p:cNvSpPr/>
          <p:nvPr/>
        </p:nvSpPr>
        <p:spPr>
          <a:xfrm>
            <a:off x="8324437" y="3309315"/>
            <a:ext cx="20828" cy="20828"/>
          </a:xfrm>
          <a:prstGeom prst="ellipse">
            <a:avLst/>
          </a:prstGeom>
          <a:solidFill>
            <a:srgbClr val="FFFFFF"/>
          </a:solidFill>
          <a:ln w="3905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34" name="m-d41_combo-gv-4"/>
          <p:cNvSpPr txBox="1"/>
          <p:nvPr/>
        </p:nvSpPr>
        <p:spPr>
          <a:xfrm>
            <a:off x="8299932" y="3270383"/>
            <a:ext cx="69839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34.6%</a:t>
            </a:r>
          </a:p>
        </p:txBody>
      </p:sp>
      <p:sp>
        <p:nvSpPr>
          <p:cNvPr id="1235" name="m-d41_combo-gp-5"/>
          <p:cNvSpPr/>
          <p:nvPr/>
        </p:nvSpPr>
        <p:spPr>
          <a:xfrm>
            <a:off x="8493665" y="3258547"/>
            <a:ext cx="20828" cy="20828"/>
          </a:xfrm>
          <a:prstGeom prst="ellipse">
            <a:avLst/>
          </a:prstGeom>
          <a:solidFill>
            <a:srgbClr val="E0703A"/>
          </a:solidFill>
          <a:ln w="3905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36" name="m-d41_combo-gv-5"/>
          <p:cNvSpPr txBox="1"/>
          <p:nvPr/>
        </p:nvSpPr>
        <p:spPr>
          <a:xfrm>
            <a:off x="8469159" y="3219615"/>
            <a:ext cx="69839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36.1%</a:t>
            </a:r>
          </a:p>
        </p:txBody>
      </p:sp>
      <p:sp>
        <p:nvSpPr>
          <p:cNvPr id="1237" name="m-d41_combo-gp-6"/>
          <p:cNvSpPr/>
          <p:nvPr/>
        </p:nvSpPr>
        <p:spPr>
          <a:xfrm>
            <a:off x="8662892" y="3214548"/>
            <a:ext cx="20828" cy="20828"/>
          </a:xfrm>
          <a:prstGeom prst="ellipse">
            <a:avLst/>
          </a:prstGeom>
          <a:solidFill>
            <a:srgbClr val="E0703A"/>
          </a:solidFill>
          <a:ln w="3905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38" name="m-d41_combo-gv-6"/>
          <p:cNvSpPr txBox="1"/>
          <p:nvPr/>
        </p:nvSpPr>
        <p:spPr>
          <a:xfrm>
            <a:off x="8638387" y="3175616"/>
            <a:ext cx="69839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37.4%</a:t>
            </a:r>
          </a:p>
        </p:txBody>
      </p:sp>
      <p:sp>
        <p:nvSpPr>
          <p:cNvPr id="1239" name="m-d41_combo-gp-7"/>
          <p:cNvSpPr/>
          <p:nvPr/>
        </p:nvSpPr>
        <p:spPr>
          <a:xfrm>
            <a:off x="8832120" y="3173933"/>
            <a:ext cx="20828" cy="20828"/>
          </a:xfrm>
          <a:prstGeom prst="ellipse">
            <a:avLst/>
          </a:prstGeom>
          <a:solidFill>
            <a:srgbClr val="E0703A"/>
          </a:solidFill>
          <a:ln w="3905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40" name="m-d41_combo-gv-7"/>
          <p:cNvSpPr txBox="1"/>
          <p:nvPr/>
        </p:nvSpPr>
        <p:spPr>
          <a:xfrm>
            <a:off x="8807614" y="3135001"/>
            <a:ext cx="69839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38.6%</a:t>
            </a:r>
          </a:p>
        </p:txBody>
      </p:sp>
      <p:sp>
        <p:nvSpPr>
          <p:cNvPr id="1241" name="m-d41_combo-gp-8"/>
          <p:cNvSpPr/>
          <p:nvPr/>
        </p:nvSpPr>
        <p:spPr>
          <a:xfrm>
            <a:off x="9001347" y="3153626"/>
            <a:ext cx="20828" cy="20828"/>
          </a:xfrm>
          <a:prstGeom prst="ellipse">
            <a:avLst/>
          </a:prstGeom>
          <a:solidFill>
            <a:srgbClr val="E0703A"/>
          </a:solidFill>
          <a:ln w="3905" cap="rnd">
            <a:solidFill>
              <a:srgbClr val="E0703A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42" name="m-d41_combo-gv-8"/>
          <p:cNvSpPr txBox="1"/>
          <p:nvPr/>
        </p:nvSpPr>
        <p:spPr>
          <a:xfrm>
            <a:off x="8976842" y="3114694"/>
            <a:ext cx="69839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39.2%</a:t>
            </a:r>
          </a:p>
        </p:txBody>
      </p:sp>
      <p:sp>
        <p:nvSpPr>
          <p:cNvPr id="1243" name="m-d41_combo-lg-1"/>
          <p:cNvSpPr/>
          <p:nvPr/>
        </p:nvSpPr>
        <p:spPr>
          <a:xfrm>
            <a:off x="7742555" y="3821684"/>
            <a:ext cx="28638" cy="28638"/>
          </a:xfrm>
          <a:custGeom>
            <a:avLst/>
            <a:gdLst/>
            <a:ahLst/>
            <a:cxnLst/>
            <a:rect l="0" t="0" r="r" b="b"/>
            <a:pathLst>
              <a:path w="28638" h="28638">
                <a:moveTo>
                  <a:pt x="6540" y="0"/>
                </a:moveTo>
                <a:lnTo>
                  <a:pt x="22162" y="0"/>
                </a:lnTo>
                <a:cubicBezTo>
                  <a:pt x="25717" y="0"/>
                  <a:pt x="28638" y="2921"/>
                  <a:pt x="28638" y="6540"/>
                </a:cubicBezTo>
                <a:lnTo>
                  <a:pt x="28638" y="22162"/>
                </a:lnTo>
                <a:cubicBezTo>
                  <a:pt x="28638" y="25717"/>
                  <a:pt x="25717" y="28638"/>
                  <a:pt x="22162" y="28638"/>
                </a:cubicBezTo>
                <a:lnTo>
                  <a:pt x="6540" y="28638"/>
                </a:lnTo>
                <a:cubicBezTo>
                  <a:pt x="2921" y="28638"/>
                  <a:pt x="0" y="25717"/>
                  <a:pt x="0" y="22162"/>
                </a:cubicBezTo>
                <a:lnTo>
                  <a:pt x="0" y="6540"/>
                </a:lnTo>
                <a:cubicBezTo>
                  <a:pt x="0" y="2921"/>
                  <a:pt x="2921" y="0"/>
                  <a:pt x="6540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44" name="m-d41_combo-lg-1t"/>
          <p:cNvSpPr txBox="1"/>
          <p:nvPr/>
        </p:nvSpPr>
        <p:spPr>
          <a:xfrm>
            <a:off x="7781868" y="3818397"/>
            <a:ext cx="111300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2025 营收</a:t>
            </a:r>
          </a:p>
        </p:txBody>
      </p:sp>
      <p:sp>
        <p:nvSpPr>
          <p:cNvPr id="1245" name="m-d41_combo-lg-2"/>
          <p:cNvSpPr/>
          <p:nvPr/>
        </p:nvSpPr>
        <p:spPr>
          <a:xfrm>
            <a:off x="7937818" y="3821684"/>
            <a:ext cx="28638" cy="28638"/>
          </a:xfrm>
          <a:custGeom>
            <a:avLst/>
            <a:gdLst/>
            <a:ahLst/>
            <a:cxnLst/>
            <a:rect l="0" t="0" r="r" b="b"/>
            <a:pathLst>
              <a:path w="28638" h="28638">
                <a:moveTo>
                  <a:pt x="6540" y="0"/>
                </a:moveTo>
                <a:lnTo>
                  <a:pt x="22162" y="0"/>
                </a:lnTo>
                <a:cubicBezTo>
                  <a:pt x="25717" y="0"/>
                  <a:pt x="28638" y="2921"/>
                  <a:pt x="28638" y="6540"/>
                </a:cubicBezTo>
                <a:lnTo>
                  <a:pt x="28638" y="22162"/>
                </a:lnTo>
                <a:cubicBezTo>
                  <a:pt x="28638" y="25717"/>
                  <a:pt x="25717" y="28638"/>
                  <a:pt x="22162" y="28638"/>
                </a:cubicBezTo>
                <a:lnTo>
                  <a:pt x="6540" y="28638"/>
                </a:lnTo>
                <a:cubicBezTo>
                  <a:pt x="2921" y="28638"/>
                  <a:pt x="0" y="25717"/>
                  <a:pt x="0" y="22162"/>
                </a:cubicBezTo>
                <a:lnTo>
                  <a:pt x="0" y="6540"/>
                </a:lnTo>
                <a:cubicBezTo>
                  <a:pt x="0" y="2921"/>
                  <a:pt x="2921" y="0"/>
                  <a:pt x="6540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46" name="m-d41_combo-lg-2t"/>
          <p:cNvSpPr txBox="1"/>
          <p:nvPr/>
        </p:nvSpPr>
        <p:spPr>
          <a:xfrm>
            <a:off x="7977130" y="3818397"/>
            <a:ext cx="111300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2026 营收</a:t>
            </a:r>
          </a:p>
        </p:txBody>
      </p:sp>
      <p:cxnSp>
        <p:nvCxnSpPr>
          <p:cNvPr id="1247" name="m-d41_combo-lg-3"/>
          <p:cNvCxnSpPr/>
          <p:nvPr/>
        </p:nvCxnSpPr>
        <p:spPr>
          <a:xfrm>
            <a:off x="8133080" y="3836003"/>
            <a:ext cx="52070" cy="0"/>
          </a:xfrm>
          <a:prstGeom prst="line">
            <a:avLst/>
          </a:prstGeom>
          <a:ln w="5207" cap="rnd">
            <a:solidFill>
              <a:srgbClr val="E0703A"/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48" name="m-d41_combo-lg-3t"/>
          <p:cNvSpPr txBox="1"/>
          <p:nvPr/>
        </p:nvSpPr>
        <p:spPr>
          <a:xfrm>
            <a:off x="8195824" y="3818397"/>
            <a:ext cx="226114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毛利率（实心 = 达标）</a:t>
            </a:r>
          </a:p>
        </p:txBody>
      </p:sp>
      <p:sp>
        <p:nvSpPr>
          <p:cNvPr id="1249" name="m-d41_combo-k-1"/>
          <p:cNvSpPr/>
          <p:nvPr/>
        </p:nvSpPr>
        <p:spPr>
          <a:xfrm>
            <a:off x="9252585" y="3056255"/>
            <a:ext cx="455612" cy="218694"/>
          </a:xfrm>
          <a:custGeom>
            <a:avLst/>
            <a:gdLst/>
            <a:ahLst/>
            <a:cxnLst/>
            <a:rect l="0" t="0" r="r" b="b"/>
            <a:pathLst>
              <a:path w="455612" h="218694">
                <a:moveTo>
                  <a:pt x="26035" y="0"/>
                </a:moveTo>
                <a:lnTo>
                  <a:pt x="429578" y="0"/>
                </a:lnTo>
                <a:cubicBezTo>
                  <a:pt x="443992" y="0"/>
                  <a:pt x="455612" y="11620"/>
                  <a:pt x="455612" y="26035"/>
                </a:cubicBezTo>
                <a:lnTo>
                  <a:pt x="455612" y="192659"/>
                </a:lnTo>
                <a:cubicBezTo>
                  <a:pt x="455612" y="207073"/>
                  <a:pt x="443992" y="218694"/>
                  <a:pt x="429578" y="218694"/>
                </a:cubicBezTo>
                <a:lnTo>
                  <a:pt x="26035" y="218694"/>
                </a:lnTo>
                <a:cubicBezTo>
                  <a:pt x="11621" y="218694"/>
                  <a:pt x="0" y="207073"/>
                  <a:pt x="0" y="192659"/>
                </a:cubicBezTo>
                <a:lnTo>
                  <a:pt x="0" y="26035"/>
                </a:lnTo>
                <a:cubicBezTo>
                  <a:pt x="0" y="11620"/>
                  <a:pt x="11621" y="0"/>
                  <a:pt x="26035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50" name="m-d41_combo-kh-1"/>
          <p:cNvSpPr txBox="1"/>
          <p:nvPr/>
        </p:nvSpPr>
        <p:spPr>
          <a:xfrm>
            <a:off x="9286378" y="3088805"/>
            <a:ext cx="182115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CFE0F4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2026 全年营收</a:t>
            </a:r>
          </a:p>
        </p:txBody>
      </p:sp>
      <p:sp>
        <p:nvSpPr>
          <p:cNvPr id="1251" name="m-d41_combo-kv-1"/>
          <p:cNvSpPr txBox="1"/>
          <p:nvPr/>
        </p:nvSpPr>
        <p:spPr>
          <a:xfrm>
            <a:off x="9282161" y="3126107"/>
            <a:ext cx="273107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13.6 亿</a:t>
            </a:r>
          </a:p>
        </p:txBody>
      </p:sp>
      <p:sp>
        <p:nvSpPr>
          <p:cNvPr id="1252" name="m-d41_combo-kd-1"/>
          <p:cNvSpPr txBox="1"/>
          <p:nvPr/>
        </p:nvSpPr>
        <p:spPr>
          <a:xfrm>
            <a:off x="9286691" y="3219592"/>
            <a:ext cx="11403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CFE0F4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同比 +35%</a:t>
            </a:r>
          </a:p>
        </p:txBody>
      </p:sp>
      <p:sp>
        <p:nvSpPr>
          <p:cNvPr id="1253" name="m-d41_combo-k-2"/>
          <p:cNvSpPr/>
          <p:nvPr/>
        </p:nvSpPr>
        <p:spPr>
          <a:xfrm>
            <a:off x="9252585" y="3303588"/>
            <a:ext cx="455612" cy="218694"/>
          </a:xfrm>
          <a:custGeom>
            <a:avLst/>
            <a:gdLst/>
            <a:ahLst/>
            <a:cxnLst/>
            <a:rect l="0" t="0" r="r" b="b"/>
            <a:pathLst>
              <a:path w="455612" h="218694">
                <a:moveTo>
                  <a:pt x="26035" y="0"/>
                </a:moveTo>
                <a:lnTo>
                  <a:pt x="429578" y="0"/>
                </a:lnTo>
                <a:cubicBezTo>
                  <a:pt x="443992" y="0"/>
                  <a:pt x="455612" y="11621"/>
                  <a:pt x="455612" y="26035"/>
                </a:cubicBezTo>
                <a:lnTo>
                  <a:pt x="455612" y="192659"/>
                </a:lnTo>
                <a:cubicBezTo>
                  <a:pt x="455612" y="207074"/>
                  <a:pt x="443992" y="218694"/>
                  <a:pt x="429578" y="218694"/>
                </a:cubicBezTo>
                <a:lnTo>
                  <a:pt x="26035" y="218694"/>
                </a:lnTo>
                <a:cubicBezTo>
                  <a:pt x="11621" y="218694"/>
                  <a:pt x="0" y="207074"/>
                  <a:pt x="0" y="192659"/>
                </a:cubicBezTo>
                <a:lnTo>
                  <a:pt x="0" y="26035"/>
                </a:lnTo>
                <a:cubicBezTo>
                  <a:pt x="0" y="11621"/>
                  <a:pt x="11621" y="0"/>
                  <a:pt x="260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54" name="m-d41_combo-kh-2"/>
          <p:cNvSpPr txBox="1"/>
          <p:nvPr/>
        </p:nvSpPr>
        <p:spPr>
          <a:xfrm>
            <a:off x="9286378" y="3336138"/>
            <a:ext cx="154726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Q4 单季营收</a:t>
            </a:r>
          </a:p>
        </p:txBody>
      </p:sp>
      <p:sp>
        <p:nvSpPr>
          <p:cNvPr id="1255" name="m-d41_combo-kv-2"/>
          <p:cNvSpPr txBox="1"/>
          <p:nvPr/>
        </p:nvSpPr>
        <p:spPr>
          <a:xfrm>
            <a:off x="9282161" y="3373439"/>
            <a:ext cx="240381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4.1 亿</a:t>
            </a:r>
          </a:p>
        </p:txBody>
      </p:sp>
      <p:sp>
        <p:nvSpPr>
          <p:cNvPr id="1256" name="m-d41_combo-kd-2"/>
          <p:cNvSpPr txBox="1"/>
          <p:nvPr/>
        </p:nvSpPr>
        <p:spPr>
          <a:xfrm>
            <a:off x="9286691" y="3466925"/>
            <a:ext cx="117158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创历史新高</a:t>
            </a:r>
          </a:p>
        </p:txBody>
      </p:sp>
      <p:sp>
        <p:nvSpPr>
          <p:cNvPr id="1257" name="m-d41_combo-k-3"/>
          <p:cNvSpPr/>
          <p:nvPr/>
        </p:nvSpPr>
        <p:spPr>
          <a:xfrm>
            <a:off x="9252585" y="3550920"/>
            <a:ext cx="455612" cy="218694"/>
          </a:xfrm>
          <a:custGeom>
            <a:avLst/>
            <a:gdLst/>
            <a:ahLst/>
            <a:cxnLst/>
            <a:rect l="0" t="0" r="r" b="b"/>
            <a:pathLst>
              <a:path w="455612" h="218694">
                <a:moveTo>
                  <a:pt x="26035" y="0"/>
                </a:moveTo>
                <a:lnTo>
                  <a:pt x="429578" y="0"/>
                </a:lnTo>
                <a:cubicBezTo>
                  <a:pt x="443992" y="0"/>
                  <a:pt x="455612" y="11620"/>
                  <a:pt x="455612" y="26035"/>
                </a:cubicBezTo>
                <a:lnTo>
                  <a:pt x="455612" y="192659"/>
                </a:lnTo>
                <a:cubicBezTo>
                  <a:pt x="455612" y="207073"/>
                  <a:pt x="443992" y="218694"/>
                  <a:pt x="429578" y="218694"/>
                </a:cubicBezTo>
                <a:lnTo>
                  <a:pt x="26035" y="218694"/>
                </a:lnTo>
                <a:cubicBezTo>
                  <a:pt x="11621" y="218694"/>
                  <a:pt x="0" y="207073"/>
                  <a:pt x="0" y="192659"/>
                </a:cubicBezTo>
                <a:lnTo>
                  <a:pt x="0" y="26035"/>
                </a:lnTo>
                <a:cubicBezTo>
                  <a:pt x="0" y="11620"/>
                  <a:pt x="11621" y="0"/>
                  <a:pt x="260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58" name="m-d41_combo-kh-3"/>
          <p:cNvSpPr txBox="1"/>
          <p:nvPr/>
        </p:nvSpPr>
        <p:spPr>
          <a:xfrm>
            <a:off x="9286378" y="3583470"/>
            <a:ext cx="131295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Q4 毛利率</a:t>
            </a:r>
          </a:p>
        </p:txBody>
      </p:sp>
      <p:sp>
        <p:nvSpPr>
          <p:cNvPr id="1259" name="m-d41_combo-kv-3"/>
          <p:cNvSpPr txBox="1"/>
          <p:nvPr/>
        </p:nvSpPr>
        <p:spPr>
          <a:xfrm>
            <a:off x="9282161" y="3620772"/>
            <a:ext cx="215179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5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39.2%</a:t>
            </a:r>
          </a:p>
        </p:txBody>
      </p:sp>
      <p:sp>
        <p:nvSpPr>
          <p:cNvPr id="1260" name="m-d41_combo-kd-3"/>
          <p:cNvSpPr txBox="1"/>
          <p:nvPr/>
        </p:nvSpPr>
        <p:spPr>
          <a:xfrm>
            <a:off x="9286691" y="3714257"/>
            <a:ext cx="216741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连续四季在目标区间内</a:t>
            </a:r>
          </a:p>
        </p:txBody>
      </p:sp>
      <p:sp>
        <p:nvSpPr>
          <p:cNvPr id="1261" name="m-d41_combo-sum"/>
          <p:cNvSpPr/>
          <p:nvPr/>
        </p:nvSpPr>
        <p:spPr>
          <a:xfrm>
            <a:off x="7599362" y="3912807"/>
            <a:ext cx="2108835" cy="85915"/>
          </a:xfrm>
          <a:custGeom>
            <a:avLst/>
            <a:gdLst/>
            <a:ahLst/>
            <a:cxnLst/>
            <a:rect l="0" t="0" r="r" b="b"/>
            <a:pathLst>
              <a:path w="2108835" h="85915">
                <a:moveTo>
                  <a:pt x="18224" y="0"/>
                </a:moveTo>
                <a:lnTo>
                  <a:pt x="2090610" y="0"/>
                </a:lnTo>
                <a:cubicBezTo>
                  <a:pt x="2100643" y="0"/>
                  <a:pt x="2108835" y="8191"/>
                  <a:pt x="2108835" y="18224"/>
                </a:cubicBezTo>
                <a:lnTo>
                  <a:pt x="2108835" y="67691"/>
                </a:lnTo>
                <a:cubicBezTo>
                  <a:pt x="2108835" y="77724"/>
                  <a:pt x="2100643" y="85915"/>
                  <a:pt x="2090610" y="85915"/>
                </a:cubicBezTo>
                <a:lnTo>
                  <a:pt x="18224" y="85915"/>
                </a:lnTo>
                <a:cubicBezTo>
                  <a:pt x="8191" y="85915"/>
                  <a:pt x="0" y="77724"/>
                  <a:pt x="0" y="67691"/>
                </a:cubicBezTo>
                <a:lnTo>
                  <a:pt x="0" y="18224"/>
                </a:lnTo>
                <a:cubicBezTo>
                  <a:pt x="0" y="8191"/>
                  <a:pt x="8191" y="0"/>
                  <a:pt x="18224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62" name="m-d41_combo-sum-bar"/>
          <p:cNvSpPr/>
          <p:nvPr/>
        </p:nvSpPr>
        <p:spPr>
          <a:xfrm>
            <a:off x="7599362" y="3912807"/>
            <a:ext cx="6509" cy="85916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63" name="m-d41_combo-sum-h"/>
          <p:cNvSpPr txBox="1"/>
          <p:nvPr/>
        </p:nvSpPr>
        <p:spPr>
          <a:xfrm>
            <a:off x="7638363" y="3940150"/>
            <a:ext cx="118850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经营判断</a:t>
            </a:r>
          </a:p>
        </p:txBody>
      </p:sp>
      <p:sp>
        <p:nvSpPr>
          <p:cNvPr id="1264" name="m-d41_combo-sum-p"/>
          <p:cNvSpPr txBox="1"/>
          <p:nvPr/>
        </p:nvSpPr>
        <p:spPr>
          <a:xfrm>
            <a:off x="7791891" y="3939346"/>
            <a:ext cx="87562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2025 下半年为冲规模牺牲了毛利；2026 调整价格策略后，规模与质量同时回升。</a:t>
            </a:r>
          </a:p>
        </p:txBody>
      </p:sp>
      <p:cxnSp>
        <p:nvCxnSpPr>
          <p:cNvPr id="1265" name="m-d41_combo-foot-line"/>
          <p:cNvCxnSpPr/>
          <p:nvPr/>
        </p:nvCxnSpPr>
        <p:spPr>
          <a:xfrm>
            <a:off x="7523861" y="40429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66" name="m-d41_combo-foot-l"/>
          <p:cNvSpPr txBox="1"/>
          <p:nvPr/>
        </p:nvSpPr>
        <p:spPr>
          <a:xfrm>
            <a:off x="7521674" y="4056923"/>
            <a:ext cx="23861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双轴组合图 · 8 个季度</a:t>
            </a:r>
          </a:p>
        </p:txBody>
      </p:sp>
      <p:sp>
        <p:nvSpPr>
          <p:cNvPr id="1267" name="m-d41_combo-foot-r"/>
          <p:cNvSpPr txBox="1"/>
          <p:nvPr/>
        </p:nvSpPr>
        <p:spPr>
          <a:xfrm>
            <a:off x="9526109" y="40569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1268" name="mini-card-s07_pyramid"/>
          <p:cNvSpPr/>
          <p:nvPr/>
        </p:nvSpPr>
        <p:spPr>
          <a:xfrm>
            <a:off x="10020300" y="27178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1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1" y="1405890"/>
                </a:lnTo>
                <a:cubicBezTo>
                  <a:pt x="35878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7"/>
                  <a:pt x="35878" y="0"/>
                  <a:pt x="80201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69" name="m-s07_pyramid-title-bar"/>
          <p:cNvSpPr/>
          <p:nvPr/>
        </p:nvSpPr>
        <p:spPr>
          <a:xfrm>
            <a:off x="10140061" y="28167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70" name="m-s07_pyramid-title-bar-accent"/>
          <p:cNvSpPr/>
          <p:nvPr/>
        </p:nvSpPr>
        <p:spPr>
          <a:xfrm>
            <a:off x="10140061" y="28167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71" name="m-s07_pyramid-title-cn"/>
          <p:cNvSpPr txBox="1"/>
          <p:nvPr/>
        </p:nvSpPr>
        <p:spPr>
          <a:xfrm>
            <a:off x="10172240" y="2799368"/>
            <a:ext cx="426453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人才梯队结构</a:t>
            </a:r>
          </a:p>
        </p:txBody>
      </p:sp>
      <p:sp>
        <p:nvSpPr>
          <p:cNvPr id="1272" name="m-s07_pyramid-title-en"/>
          <p:cNvSpPr txBox="1"/>
          <p:nvPr/>
        </p:nvSpPr>
        <p:spPr>
          <a:xfrm>
            <a:off x="10179530" y="2886650"/>
            <a:ext cx="27774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TALENT PYRAMID</a:t>
            </a:r>
          </a:p>
        </p:txBody>
      </p:sp>
      <p:sp>
        <p:nvSpPr>
          <p:cNvPr id="1273" name="m-s07_pyramid-title-sub"/>
          <p:cNvSpPr txBox="1"/>
          <p:nvPr/>
        </p:nvSpPr>
        <p:spPr>
          <a:xfrm>
            <a:off x="11937439" y="2855792"/>
            <a:ext cx="465115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五级梯队层层支撑，形成可持续的人才供给</a:t>
            </a:r>
          </a:p>
        </p:txBody>
      </p:sp>
      <p:sp>
        <p:nvSpPr>
          <p:cNvPr id="1274" name="m-s07_pyramid-lvl-1"/>
          <p:cNvSpPr/>
          <p:nvPr/>
        </p:nvSpPr>
        <p:spPr>
          <a:xfrm>
            <a:off x="10875829" y="3009392"/>
            <a:ext cx="402984" cy="163004"/>
          </a:xfrm>
          <a:custGeom>
            <a:avLst/>
            <a:gdLst/>
            <a:ahLst/>
            <a:cxnLst/>
            <a:rect l="0" t="0" r="r" b="b"/>
            <a:pathLst>
              <a:path w="402984" h="163004">
                <a:moveTo>
                  <a:pt x="57665" y="19050"/>
                </a:moveTo>
                <a:quadBezTo>
                  <a:pt x="66110" y="0"/>
                  <a:pt x="86938" y="0"/>
                </a:quadBezTo>
                <a:lnTo>
                  <a:pt x="316046" y="0"/>
                </a:lnTo>
                <a:quadBezTo>
                  <a:pt x="336874" y="0"/>
                  <a:pt x="345320" y="19050"/>
                </a:quadBezTo>
                <a:lnTo>
                  <a:pt x="400565" y="143954"/>
                </a:lnTo>
                <a:quadBezTo>
                  <a:pt x="409010" y="163004"/>
                  <a:pt x="388182" y="163004"/>
                </a:quadBezTo>
                <a:lnTo>
                  <a:pt x="14802" y="163004"/>
                </a:lnTo>
                <a:quadBezTo>
                  <a:pt x="-6026" y="163004"/>
                  <a:pt x="2420" y="143954"/>
                </a:quadBezTo>
                <a:close/>
              </a:path>
            </a:pathLst>
          </a:custGeom>
          <a:gradFill rotWithShape="1">
            <a:gsLst>
              <a:gs pos="0">
                <a:srgbClr val="2D599F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75" name="m-s07_pyramid-cn-1"/>
          <p:cNvSpPr txBox="1"/>
          <p:nvPr/>
        </p:nvSpPr>
        <p:spPr>
          <a:xfrm>
            <a:off x="11022648" y="3053521"/>
            <a:ext cx="109347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1" i="0" u="none" strike="noStrike" kern="1200" cap="none" spc="2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战略决</a:t>
            </a:r>
          </a:p>
        </p:txBody>
      </p:sp>
      <p:sp>
        <p:nvSpPr>
          <p:cNvPr id="1276" name="m-s07_pyramid-sub-1"/>
          <p:cNvSpPr txBox="1"/>
          <p:nvPr/>
        </p:nvSpPr>
        <p:spPr>
          <a:xfrm>
            <a:off x="11041067" y="3098009"/>
            <a:ext cx="72507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5" normalizeH="0" baseline="0" noProof="0">
                <a:ln>
                  <a:noFill/>
                </a:ln>
                <a:solidFill>
                  <a:srgbClr val="FFFFFF">
                    <a:alpha val="80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12 人</a:t>
            </a:r>
          </a:p>
        </p:txBody>
      </p:sp>
      <p:sp>
        <p:nvSpPr>
          <p:cNvPr id="1277" name="m-s07_pyramid-ln-1"/>
          <p:cNvSpPr txBox="1"/>
          <p:nvPr/>
        </p:nvSpPr>
        <p:spPr>
          <a:xfrm>
            <a:off x="10309288" y="3042196"/>
            <a:ext cx="107785" cy="9112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09" b="1" i="0" u="none" strike="noStrike" kern="1200" cap="none" spc="10" normalizeH="0" baseline="0" noProof="0">
                <a:ln>
                  <a:noFill/>
                </a:ln>
                <a:solidFill>
                  <a:srgbClr val="0B3E8F">
                    <a:alpha val="8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1278" name="m-s07_pyramid-bg-1"/>
          <p:cNvSpPr/>
          <p:nvPr/>
        </p:nvSpPr>
        <p:spPr>
          <a:xfrm>
            <a:off x="10449878" y="3083071"/>
            <a:ext cx="195262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79" name="m-s07_pyramid-bar-1"/>
          <p:cNvSpPr/>
          <p:nvPr/>
        </p:nvSpPr>
        <p:spPr>
          <a:xfrm>
            <a:off x="10449878" y="3083071"/>
            <a:ext cx="10414" cy="13017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80" name="m-s07_pyramid-bl-1"/>
          <p:cNvSpPr txBox="1"/>
          <p:nvPr/>
        </p:nvSpPr>
        <p:spPr>
          <a:xfrm>
            <a:off x="10447612" y="3109226"/>
            <a:ext cx="89053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占比 1%</a:t>
            </a:r>
          </a:p>
        </p:txBody>
      </p:sp>
      <p:cxnSp>
        <p:nvCxnSpPr>
          <p:cNvPr id="1281" name="m-s07_pyramid-lead-1"/>
          <p:cNvCxnSpPr/>
          <p:nvPr/>
        </p:nvCxnSpPr>
        <p:spPr>
          <a:xfrm>
            <a:off x="11303044" y="3090882"/>
            <a:ext cx="334030" cy="0"/>
          </a:xfrm>
          <a:prstGeom prst="line">
            <a:avLst/>
          </a:prstGeom>
          <a:ln w="2540" cap="rnd">
            <a:solidFill>
              <a:srgbClr val="0B3E8F">
                <a:alpha val="4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2" name="m-s07_pyramid-dot-1"/>
          <p:cNvSpPr/>
          <p:nvPr/>
        </p:nvSpPr>
        <p:spPr>
          <a:xfrm>
            <a:off x="11630565" y="3084373"/>
            <a:ext cx="13017" cy="13017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83" name="m-s07_pyramid-icon-brain"/>
          <p:cNvSpPr/>
          <p:nvPr/>
        </p:nvSpPr>
        <p:spPr>
          <a:xfrm>
            <a:off x="11678384" y="3077970"/>
            <a:ext cx="21518" cy="20322"/>
          </a:xfrm>
          <a:custGeom>
            <a:avLst/>
            <a:gdLst/>
            <a:ahLst/>
            <a:cxnLst/>
            <a:rect l="0" t="0" r="r" b="b"/>
            <a:pathLst>
              <a:path w="21518" h="20322">
                <a:moveTo>
                  <a:pt x="10759" y="2"/>
                </a:moveTo>
                <a:lnTo>
                  <a:pt x="10759" y="20322"/>
                </a:lnTo>
                <a:moveTo>
                  <a:pt x="6822" y="2"/>
                </a:moveTo>
                <a:cubicBezTo>
                  <a:pt x="5362" y="-61"/>
                  <a:pt x="3965" y="701"/>
                  <a:pt x="3139" y="1907"/>
                </a:cubicBezTo>
                <a:cubicBezTo>
                  <a:pt x="2314" y="3177"/>
                  <a:pt x="2250" y="4701"/>
                  <a:pt x="2885" y="6035"/>
                </a:cubicBezTo>
                <a:cubicBezTo>
                  <a:pt x="1298" y="6606"/>
                  <a:pt x="218" y="7940"/>
                  <a:pt x="28" y="9591"/>
                </a:cubicBezTo>
                <a:cubicBezTo>
                  <a:pt x="-163" y="11178"/>
                  <a:pt x="599" y="12766"/>
                  <a:pt x="1933" y="13655"/>
                </a:cubicBezTo>
                <a:cubicBezTo>
                  <a:pt x="980" y="15179"/>
                  <a:pt x="1044" y="17147"/>
                  <a:pt x="2123" y="18544"/>
                </a:cubicBezTo>
                <a:cubicBezTo>
                  <a:pt x="3203" y="20005"/>
                  <a:pt x="5108" y="20576"/>
                  <a:pt x="6822" y="20005"/>
                </a:cubicBezTo>
                <a:moveTo>
                  <a:pt x="14696" y="2"/>
                </a:moveTo>
                <a:cubicBezTo>
                  <a:pt x="16157" y="-61"/>
                  <a:pt x="17554" y="701"/>
                  <a:pt x="18379" y="1907"/>
                </a:cubicBezTo>
                <a:cubicBezTo>
                  <a:pt x="19205" y="3177"/>
                  <a:pt x="19268" y="4701"/>
                  <a:pt x="18633" y="6035"/>
                </a:cubicBezTo>
                <a:cubicBezTo>
                  <a:pt x="20221" y="6606"/>
                  <a:pt x="21300" y="7940"/>
                  <a:pt x="21491" y="9591"/>
                </a:cubicBezTo>
                <a:cubicBezTo>
                  <a:pt x="21681" y="11178"/>
                  <a:pt x="20919" y="12766"/>
                  <a:pt x="19586" y="13655"/>
                </a:cubicBezTo>
                <a:cubicBezTo>
                  <a:pt x="20538" y="15179"/>
                  <a:pt x="20475" y="17147"/>
                  <a:pt x="19395" y="18544"/>
                </a:cubicBezTo>
                <a:cubicBezTo>
                  <a:pt x="18316" y="20005"/>
                  <a:pt x="16411" y="20576"/>
                  <a:pt x="14696" y="20005"/>
                </a:cubicBezTo>
              </a:path>
            </a:pathLst>
          </a:custGeom>
          <a:noFill/>
          <a:ln w="25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84" name="m-s07_pyramid-rn-1"/>
          <p:cNvSpPr txBox="1"/>
          <p:nvPr/>
        </p:nvSpPr>
        <p:spPr>
          <a:xfrm>
            <a:off x="11724291" y="3045483"/>
            <a:ext cx="199819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战略决策层</a:t>
            </a:r>
          </a:p>
        </p:txBody>
      </p:sp>
      <p:sp>
        <p:nvSpPr>
          <p:cNvPr id="1285" name="m-s07_pyramid-rp-1"/>
          <p:cNvSpPr txBox="1"/>
          <p:nvPr/>
        </p:nvSpPr>
        <p:spPr>
          <a:xfrm>
            <a:off x="11725462" y="3096593"/>
            <a:ext cx="276817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把握方向，决策重大事项</a:t>
            </a:r>
          </a:p>
        </p:txBody>
      </p:sp>
      <p:sp>
        <p:nvSpPr>
          <p:cNvPr id="1286" name="m-s07_pyramid-rc-1"/>
          <p:cNvSpPr txBox="1"/>
          <p:nvPr/>
        </p:nvSpPr>
        <p:spPr>
          <a:xfrm>
            <a:off x="12324398" y="3050462"/>
            <a:ext cx="80188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12</a:t>
            </a:r>
          </a:p>
        </p:txBody>
      </p:sp>
      <p:sp>
        <p:nvSpPr>
          <p:cNvPr id="1287" name="m-s07_pyramid-lvl-2"/>
          <p:cNvSpPr/>
          <p:nvPr/>
        </p:nvSpPr>
        <p:spPr>
          <a:xfrm>
            <a:off x="10794952" y="3185414"/>
            <a:ext cx="564737" cy="162941"/>
          </a:xfrm>
          <a:custGeom>
            <a:avLst/>
            <a:gdLst/>
            <a:ahLst/>
            <a:cxnLst/>
            <a:rect l="0" t="0" r="r" b="b"/>
            <a:pathLst>
              <a:path w="564737" h="162941">
                <a:moveTo>
                  <a:pt x="63103" y="11875"/>
                </a:moveTo>
                <a:quadBezTo>
                  <a:pt x="68374" y="0"/>
                  <a:pt x="81391" y="0"/>
                </a:quadBezTo>
                <a:lnTo>
                  <a:pt x="483346" y="0"/>
                </a:lnTo>
                <a:quadBezTo>
                  <a:pt x="496364" y="0"/>
                  <a:pt x="501634" y="11875"/>
                </a:quadBezTo>
                <a:lnTo>
                  <a:pt x="563229" y="151066"/>
                </a:lnTo>
                <a:quadBezTo>
                  <a:pt x="568500" y="162941"/>
                  <a:pt x="555482" y="162941"/>
                </a:quadBezTo>
                <a:lnTo>
                  <a:pt x="9255" y="162941"/>
                </a:lnTo>
                <a:quadBezTo>
                  <a:pt x="-3762" y="162941"/>
                  <a:pt x="1508" y="151066"/>
                </a:quadBezTo>
                <a:close/>
              </a:path>
            </a:pathLst>
          </a:custGeom>
          <a:gradFill rotWithShape="1">
            <a:gsLst>
              <a:gs pos="0">
                <a:srgbClr val="3B71B4"/>
              </a:gs>
              <a:gs pos="100000">
                <a:srgbClr val="1B5AA8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88" name="m-s07_pyramid-cn-2"/>
          <p:cNvSpPr txBox="1"/>
          <p:nvPr/>
        </p:nvSpPr>
        <p:spPr>
          <a:xfrm>
            <a:off x="10980861" y="3222091"/>
            <a:ext cx="192919" cy="523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40" b="1" i="0" u="none" strike="noStrike" kern="1200" cap="none" spc="26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中层管理者</a:t>
            </a:r>
          </a:p>
        </p:txBody>
      </p:sp>
      <p:sp>
        <p:nvSpPr>
          <p:cNvPr id="1289" name="m-s07_pyramid-sub-2"/>
          <p:cNvSpPr txBox="1"/>
          <p:nvPr/>
        </p:nvSpPr>
        <p:spPr>
          <a:xfrm>
            <a:off x="10982443" y="3275805"/>
            <a:ext cx="189756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6" normalizeH="0" baseline="0" noProof="0">
                <a:ln>
                  <a:noFill/>
                </a:ln>
                <a:solidFill>
                  <a:srgbClr val="FFFFFF">
                    <a:alpha val="7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86 人 · 占比 7%</a:t>
            </a:r>
          </a:p>
        </p:txBody>
      </p:sp>
      <p:sp>
        <p:nvSpPr>
          <p:cNvPr id="1290" name="m-s07_pyramid-ln-2"/>
          <p:cNvSpPr txBox="1"/>
          <p:nvPr/>
        </p:nvSpPr>
        <p:spPr>
          <a:xfrm>
            <a:off x="10309288" y="3218193"/>
            <a:ext cx="107785" cy="9112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09" b="1" i="0" u="none" strike="noStrike" kern="1200" cap="none" spc="10" normalizeH="0" baseline="0" noProof="0">
                <a:ln>
                  <a:noFill/>
                </a:ln>
                <a:solidFill>
                  <a:srgbClr val="1B5AA8">
                    <a:alpha val="8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1291" name="m-s07_pyramid-bg-2"/>
          <p:cNvSpPr/>
          <p:nvPr/>
        </p:nvSpPr>
        <p:spPr>
          <a:xfrm>
            <a:off x="10449878" y="3259068"/>
            <a:ext cx="195262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92" name="m-s07_pyramid-bar-2"/>
          <p:cNvSpPr/>
          <p:nvPr/>
        </p:nvSpPr>
        <p:spPr>
          <a:xfrm>
            <a:off x="10449878" y="3259068"/>
            <a:ext cx="31787" cy="13017"/>
          </a:xfrm>
          <a:prstGeom prst="roundRect">
            <a:avLst>
              <a:gd name="adj" fmla="val 50000"/>
            </a:avLst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93" name="m-s07_pyramid-bl-2"/>
          <p:cNvSpPr txBox="1"/>
          <p:nvPr/>
        </p:nvSpPr>
        <p:spPr>
          <a:xfrm>
            <a:off x="10447612" y="3285223"/>
            <a:ext cx="89053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占比 7%</a:t>
            </a:r>
          </a:p>
        </p:txBody>
      </p:sp>
      <p:cxnSp>
        <p:nvCxnSpPr>
          <p:cNvPr id="1294" name="m-s07_pyramid-lead-2"/>
          <p:cNvCxnSpPr/>
          <p:nvPr/>
        </p:nvCxnSpPr>
        <p:spPr>
          <a:xfrm>
            <a:off x="11381670" y="3266878"/>
            <a:ext cx="255404" cy="0"/>
          </a:xfrm>
          <a:prstGeom prst="line">
            <a:avLst/>
          </a:prstGeom>
          <a:ln w="2540" cap="rnd">
            <a:solidFill>
              <a:srgbClr val="1B5AA8">
                <a:alpha val="4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95" name="m-s07_pyramid-dot-2"/>
          <p:cNvSpPr/>
          <p:nvPr/>
        </p:nvSpPr>
        <p:spPr>
          <a:xfrm>
            <a:off x="11630565" y="3260369"/>
            <a:ext cx="13017" cy="13017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96" name="m-s07_pyramid-icon-target"/>
          <p:cNvSpPr/>
          <p:nvPr/>
        </p:nvSpPr>
        <p:spPr>
          <a:xfrm>
            <a:off x="11689144" y="3251200"/>
            <a:ext cx="10033" cy="13081"/>
          </a:xfrm>
          <a:custGeom>
            <a:avLst/>
            <a:gdLst/>
            <a:ahLst/>
            <a:cxnLst/>
            <a:rect l="0" t="0" r="r" b="b"/>
            <a:pathLst>
              <a:path w="10033" h="13081">
                <a:moveTo>
                  <a:pt x="0" y="7620"/>
                </a:moveTo>
                <a:lnTo>
                  <a:pt x="0" y="0"/>
                </a:lnTo>
                <a:moveTo>
                  <a:pt x="0" y="13081"/>
                </a:moveTo>
                <a:lnTo>
                  <a:pt x="10033" y="3048"/>
                </a:lnTo>
              </a:path>
            </a:pathLst>
          </a:custGeom>
          <a:noFill/>
          <a:ln w="254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97" name="m-s07_pyramid-icon-target"/>
          <p:cNvSpPr/>
          <p:nvPr/>
        </p:nvSpPr>
        <p:spPr>
          <a:xfrm>
            <a:off x="11676083" y="3251214"/>
            <a:ext cx="26122" cy="26122"/>
          </a:xfrm>
          <a:prstGeom prst="ellipse">
            <a:avLst/>
          </a:prstGeom>
          <a:noFill/>
          <a:ln w="254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98" name="m-s07_pyramid-icon-target"/>
          <p:cNvSpPr/>
          <p:nvPr/>
        </p:nvSpPr>
        <p:spPr>
          <a:xfrm>
            <a:off x="11682461" y="3257592"/>
            <a:ext cx="13365" cy="13365"/>
          </a:xfrm>
          <a:prstGeom prst="ellipse">
            <a:avLst/>
          </a:prstGeom>
          <a:noFill/>
          <a:ln w="254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99" name="m-s07_pyramid-rn-2"/>
          <p:cNvSpPr txBox="1"/>
          <p:nvPr/>
        </p:nvSpPr>
        <p:spPr>
          <a:xfrm>
            <a:off x="11724291" y="3221480"/>
            <a:ext cx="199819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中层管理者</a:t>
            </a:r>
          </a:p>
        </p:txBody>
      </p:sp>
      <p:sp>
        <p:nvSpPr>
          <p:cNvPr id="1300" name="m-s07_pyramid-rp-2"/>
          <p:cNvSpPr txBox="1"/>
          <p:nvPr/>
        </p:nvSpPr>
        <p:spPr>
          <a:xfrm>
            <a:off x="11725462" y="3272590"/>
            <a:ext cx="276817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承接目标，带队达成结果</a:t>
            </a:r>
          </a:p>
        </p:txBody>
      </p:sp>
      <p:sp>
        <p:nvSpPr>
          <p:cNvPr id="1301" name="m-s07_pyramid-rc-2"/>
          <p:cNvSpPr txBox="1"/>
          <p:nvPr/>
        </p:nvSpPr>
        <p:spPr>
          <a:xfrm>
            <a:off x="12324398" y="3226459"/>
            <a:ext cx="80188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5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86</a:t>
            </a:r>
          </a:p>
        </p:txBody>
      </p:sp>
      <p:sp>
        <p:nvSpPr>
          <p:cNvPr id="1302" name="m-s07_pyramid-lvl-3"/>
          <p:cNvSpPr/>
          <p:nvPr/>
        </p:nvSpPr>
        <p:spPr>
          <a:xfrm>
            <a:off x="10716339" y="3361372"/>
            <a:ext cx="721963" cy="163004"/>
          </a:xfrm>
          <a:custGeom>
            <a:avLst/>
            <a:gdLst/>
            <a:ahLst/>
            <a:cxnLst/>
            <a:rect l="0" t="0" r="r" b="b"/>
            <a:pathLst>
              <a:path w="721963" h="163004">
                <a:moveTo>
                  <a:pt x="63103" y="11938"/>
                </a:moveTo>
                <a:quadBezTo>
                  <a:pt x="68374" y="0"/>
                  <a:pt x="81391" y="0"/>
                </a:quadBezTo>
                <a:lnTo>
                  <a:pt x="640572" y="0"/>
                </a:lnTo>
                <a:quadBezTo>
                  <a:pt x="653590" y="0"/>
                  <a:pt x="658860" y="11938"/>
                </a:quadBezTo>
                <a:lnTo>
                  <a:pt x="720455" y="151066"/>
                </a:lnTo>
                <a:quadBezTo>
                  <a:pt x="725726" y="163004"/>
                  <a:pt x="712708" y="163004"/>
                </a:quadBezTo>
                <a:lnTo>
                  <a:pt x="9255" y="163004"/>
                </a:lnTo>
                <a:quadBezTo>
                  <a:pt x="-3762" y="163004"/>
                  <a:pt x="1508" y="151066"/>
                </a:quadBezTo>
                <a:close/>
              </a:path>
            </a:pathLst>
          </a:custGeom>
          <a:gradFill rotWithShape="1">
            <a:gsLst>
              <a:gs pos="0">
                <a:srgbClr val="4B8ACB"/>
              </a:gs>
              <a:gs pos="100000">
                <a:srgbClr val="2E77C2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03" name="m-s07_pyramid-cn-3"/>
          <p:cNvSpPr txBox="1"/>
          <p:nvPr/>
        </p:nvSpPr>
        <p:spPr>
          <a:xfrm>
            <a:off x="10994269" y="3396480"/>
            <a:ext cx="166103" cy="546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50" b="1" i="0" u="none" strike="noStrike" kern="1200" cap="none" spc="26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资深专家</a:t>
            </a:r>
          </a:p>
        </p:txBody>
      </p:sp>
      <p:sp>
        <p:nvSpPr>
          <p:cNvPr id="1304" name="m-s07_pyramid-sub-3"/>
          <p:cNvSpPr txBox="1"/>
          <p:nvPr/>
        </p:nvSpPr>
        <p:spPr>
          <a:xfrm>
            <a:off x="10970363" y="3451802"/>
            <a:ext cx="213917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6" normalizeH="0" baseline="0" noProof="0">
                <a:ln>
                  <a:noFill/>
                </a:ln>
                <a:solidFill>
                  <a:srgbClr val="FFFFFF">
                    <a:alpha val="7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164 人 · 占比 13%</a:t>
            </a:r>
          </a:p>
        </p:txBody>
      </p:sp>
      <p:sp>
        <p:nvSpPr>
          <p:cNvPr id="1305" name="m-s07_pyramid-ln-3"/>
          <p:cNvSpPr txBox="1"/>
          <p:nvPr/>
        </p:nvSpPr>
        <p:spPr>
          <a:xfrm>
            <a:off x="10309288" y="3394189"/>
            <a:ext cx="107785" cy="9112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09" b="1" i="0" u="none" strike="noStrike" kern="1200" cap="none" spc="10" normalizeH="0" baseline="0" noProof="0">
                <a:ln>
                  <a:noFill/>
                </a:ln>
                <a:solidFill>
                  <a:srgbClr val="2E77C2">
                    <a:alpha val="8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1306" name="m-s07_pyramid-bg-3"/>
          <p:cNvSpPr/>
          <p:nvPr/>
        </p:nvSpPr>
        <p:spPr>
          <a:xfrm>
            <a:off x="10449878" y="3435064"/>
            <a:ext cx="195262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07" name="m-s07_pyramid-bar-3"/>
          <p:cNvSpPr/>
          <p:nvPr/>
        </p:nvSpPr>
        <p:spPr>
          <a:xfrm>
            <a:off x="10449878" y="3435064"/>
            <a:ext cx="59033" cy="13017"/>
          </a:xfrm>
          <a:prstGeom prst="roundRect">
            <a:avLst>
              <a:gd name="adj" fmla="val 50000"/>
            </a:avLst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08" name="m-s07_pyramid-bl-3"/>
          <p:cNvSpPr txBox="1"/>
          <p:nvPr/>
        </p:nvSpPr>
        <p:spPr>
          <a:xfrm>
            <a:off x="10447612" y="3461220"/>
            <a:ext cx="100144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占比 13%</a:t>
            </a:r>
          </a:p>
        </p:txBody>
      </p:sp>
      <p:cxnSp>
        <p:nvCxnSpPr>
          <p:cNvPr id="1309" name="m-s07_pyramid-lead-3"/>
          <p:cNvCxnSpPr/>
          <p:nvPr/>
        </p:nvCxnSpPr>
        <p:spPr>
          <a:xfrm>
            <a:off x="11460296" y="3442875"/>
            <a:ext cx="176778" cy="0"/>
          </a:xfrm>
          <a:prstGeom prst="line">
            <a:avLst/>
          </a:prstGeom>
          <a:ln w="2540" cap="rnd">
            <a:solidFill>
              <a:srgbClr val="2E77C2">
                <a:alpha val="4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0" name="m-s07_pyramid-dot-3"/>
          <p:cNvSpPr/>
          <p:nvPr/>
        </p:nvSpPr>
        <p:spPr>
          <a:xfrm>
            <a:off x="11630565" y="3436366"/>
            <a:ext cx="13017" cy="13017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11" name="m-s07_pyramid-icon-award"/>
          <p:cNvSpPr/>
          <p:nvPr/>
        </p:nvSpPr>
        <p:spPr>
          <a:xfrm>
            <a:off x="11682794" y="3444240"/>
            <a:ext cx="12700" cy="8763"/>
          </a:xfrm>
          <a:custGeom>
            <a:avLst/>
            <a:gdLst/>
            <a:ahLst/>
            <a:cxnLst/>
            <a:rect l="0" t="0" r="r" b="b"/>
            <a:pathLst>
              <a:path w="12700" h="8763">
                <a:moveTo>
                  <a:pt x="2413" y="0"/>
                </a:moveTo>
                <a:lnTo>
                  <a:pt x="0" y="8763"/>
                </a:lnTo>
                <a:lnTo>
                  <a:pt x="6350" y="5461"/>
                </a:lnTo>
                <a:lnTo>
                  <a:pt x="12700" y="8763"/>
                </a:lnTo>
                <a:lnTo>
                  <a:pt x="10287" y="0"/>
                </a:lnTo>
              </a:path>
            </a:pathLst>
          </a:custGeom>
          <a:noFill/>
          <a:ln w="254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12" name="m-s07_pyramid-icon-award"/>
          <p:cNvSpPr/>
          <p:nvPr/>
        </p:nvSpPr>
        <p:spPr>
          <a:xfrm>
            <a:off x="11680639" y="3427818"/>
            <a:ext cx="17010" cy="17010"/>
          </a:xfrm>
          <a:prstGeom prst="ellipse">
            <a:avLst/>
          </a:prstGeom>
          <a:noFill/>
          <a:ln w="254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13" name="m-s07_pyramid-rn-3"/>
          <p:cNvSpPr txBox="1"/>
          <p:nvPr/>
        </p:nvSpPr>
        <p:spPr>
          <a:xfrm>
            <a:off x="11724291" y="3397476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资深专家</a:t>
            </a:r>
          </a:p>
        </p:txBody>
      </p:sp>
      <p:sp>
        <p:nvSpPr>
          <p:cNvPr id="1314" name="m-s07_pyramid-rp-3"/>
          <p:cNvSpPr txBox="1"/>
          <p:nvPr/>
        </p:nvSpPr>
        <p:spPr>
          <a:xfrm>
            <a:off x="11725462" y="3448586"/>
            <a:ext cx="276817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攻坚技术难题与标准建设</a:t>
            </a:r>
          </a:p>
        </p:txBody>
      </p:sp>
      <p:sp>
        <p:nvSpPr>
          <p:cNvPr id="1315" name="m-s07_pyramid-rc-3"/>
          <p:cNvSpPr txBox="1"/>
          <p:nvPr/>
        </p:nvSpPr>
        <p:spPr>
          <a:xfrm>
            <a:off x="12301877" y="3402455"/>
            <a:ext cx="102708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5" normalizeH="0" baseline="0" noProof="0">
                <a:ln>
                  <a:noFill/>
                </a:ln>
                <a:solidFill>
                  <a:srgbClr val="2E77C2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164</a:t>
            </a:r>
          </a:p>
        </p:txBody>
      </p:sp>
      <p:sp>
        <p:nvSpPr>
          <p:cNvPr id="1316" name="m-s07_pyramid-lvl-4"/>
          <p:cNvSpPr/>
          <p:nvPr/>
        </p:nvSpPr>
        <p:spPr>
          <a:xfrm>
            <a:off x="10637726" y="3537395"/>
            <a:ext cx="879189" cy="162941"/>
          </a:xfrm>
          <a:custGeom>
            <a:avLst/>
            <a:gdLst/>
            <a:ahLst/>
            <a:cxnLst/>
            <a:rect l="0" t="0" r="r" b="b"/>
            <a:pathLst>
              <a:path w="879189" h="162941">
                <a:moveTo>
                  <a:pt x="63040" y="11875"/>
                </a:moveTo>
                <a:quadBezTo>
                  <a:pt x="68310" y="0"/>
                  <a:pt x="81328" y="0"/>
                </a:quadBezTo>
                <a:lnTo>
                  <a:pt x="797862" y="0"/>
                </a:lnTo>
                <a:quadBezTo>
                  <a:pt x="810879" y="0"/>
                  <a:pt x="816150" y="11875"/>
                </a:quadBezTo>
                <a:lnTo>
                  <a:pt x="877681" y="151066"/>
                </a:lnTo>
                <a:quadBezTo>
                  <a:pt x="882952" y="162941"/>
                  <a:pt x="869934" y="162941"/>
                </a:quadBezTo>
                <a:lnTo>
                  <a:pt x="9255" y="162941"/>
                </a:lnTo>
                <a:quadBezTo>
                  <a:pt x="-3762" y="162941"/>
                  <a:pt x="1508" y="151066"/>
                </a:quadBezTo>
                <a:close/>
              </a:path>
            </a:pathLst>
          </a:custGeom>
          <a:gradFill rotWithShape="1">
            <a:gsLst>
              <a:gs pos="0">
                <a:srgbClr val="5596D4"/>
              </a:gs>
              <a:gs pos="100000">
                <a:srgbClr val="3985CD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17" name="m-s07_pyramid-cn-4"/>
          <p:cNvSpPr txBox="1"/>
          <p:nvPr/>
        </p:nvSpPr>
        <p:spPr>
          <a:xfrm>
            <a:off x="10991080" y="3570869"/>
            <a:ext cx="172482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6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骨干员工</a:t>
            </a:r>
          </a:p>
        </p:txBody>
      </p:sp>
      <p:sp>
        <p:nvSpPr>
          <p:cNvPr id="1318" name="m-s07_pyramid-sub-4"/>
          <p:cNvSpPr txBox="1"/>
          <p:nvPr/>
        </p:nvSpPr>
        <p:spPr>
          <a:xfrm>
            <a:off x="10970363" y="3627798"/>
            <a:ext cx="213917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6" normalizeH="0" baseline="0" noProof="0">
                <a:ln>
                  <a:noFill/>
                </a:ln>
                <a:solidFill>
                  <a:srgbClr val="FFFFFF">
                    <a:alpha val="7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462 人 · 占比 36%</a:t>
            </a:r>
          </a:p>
        </p:txBody>
      </p:sp>
      <p:sp>
        <p:nvSpPr>
          <p:cNvPr id="1319" name="m-s07_pyramid-ln-4"/>
          <p:cNvSpPr txBox="1"/>
          <p:nvPr/>
        </p:nvSpPr>
        <p:spPr>
          <a:xfrm>
            <a:off x="10309288" y="3570186"/>
            <a:ext cx="107785" cy="9112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09" b="1" i="0" u="none" strike="noStrike" kern="1200" cap="none" spc="10" normalizeH="0" baseline="0" noProof="0">
                <a:ln>
                  <a:noFill/>
                </a:ln>
                <a:solidFill>
                  <a:srgbClr val="3985CD">
                    <a:alpha val="8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1320" name="m-s07_pyramid-bg-4"/>
          <p:cNvSpPr/>
          <p:nvPr/>
        </p:nvSpPr>
        <p:spPr>
          <a:xfrm>
            <a:off x="10449878" y="3611061"/>
            <a:ext cx="195262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21" name="m-s07_pyramid-bar-4"/>
          <p:cNvSpPr/>
          <p:nvPr/>
        </p:nvSpPr>
        <p:spPr>
          <a:xfrm>
            <a:off x="10449878" y="3611061"/>
            <a:ext cx="163476" cy="13017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22" name="m-s07_pyramid-bl-4"/>
          <p:cNvSpPr txBox="1"/>
          <p:nvPr/>
        </p:nvSpPr>
        <p:spPr>
          <a:xfrm>
            <a:off x="10447612" y="3637216"/>
            <a:ext cx="100144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占比 36%</a:t>
            </a:r>
          </a:p>
        </p:txBody>
      </p:sp>
      <p:cxnSp>
        <p:nvCxnSpPr>
          <p:cNvPr id="1323" name="m-s07_pyramid-lead-4"/>
          <p:cNvCxnSpPr/>
          <p:nvPr/>
        </p:nvCxnSpPr>
        <p:spPr>
          <a:xfrm>
            <a:off x="11538922" y="3618871"/>
            <a:ext cx="98152" cy="0"/>
          </a:xfrm>
          <a:prstGeom prst="line">
            <a:avLst/>
          </a:prstGeom>
          <a:ln w="2540" cap="rnd">
            <a:solidFill>
              <a:srgbClr val="3985CD">
                <a:alpha val="4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24" name="m-s07_pyramid-dot-4"/>
          <p:cNvSpPr/>
          <p:nvPr/>
        </p:nvSpPr>
        <p:spPr>
          <a:xfrm>
            <a:off x="11630565" y="3612363"/>
            <a:ext cx="13017" cy="13017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25" name="m-s07_pyramid-icon-tools"/>
          <p:cNvSpPr/>
          <p:nvPr/>
        </p:nvSpPr>
        <p:spPr>
          <a:xfrm>
            <a:off x="11677620" y="3604000"/>
            <a:ext cx="21557" cy="21405"/>
          </a:xfrm>
          <a:custGeom>
            <a:avLst/>
            <a:gdLst/>
            <a:ahLst/>
            <a:cxnLst/>
            <a:rect l="0" t="0" r="r" b="b"/>
            <a:pathLst>
              <a:path w="21557" h="21405">
                <a:moveTo>
                  <a:pt x="3904" y="704"/>
                </a:moveTo>
                <a:lnTo>
                  <a:pt x="8476" y="5276"/>
                </a:lnTo>
                <a:lnTo>
                  <a:pt x="5174" y="8642"/>
                </a:lnTo>
                <a:lnTo>
                  <a:pt x="602" y="4070"/>
                </a:lnTo>
                <a:cubicBezTo>
                  <a:pt x="-478" y="6356"/>
                  <a:pt x="-97" y="9086"/>
                  <a:pt x="1681" y="10928"/>
                </a:cubicBezTo>
                <a:cubicBezTo>
                  <a:pt x="3459" y="12706"/>
                  <a:pt x="6190" y="13277"/>
                  <a:pt x="8476" y="12261"/>
                </a:cubicBezTo>
                <a:lnTo>
                  <a:pt x="17620" y="21405"/>
                </a:lnTo>
                <a:lnTo>
                  <a:pt x="21557" y="17405"/>
                </a:lnTo>
                <a:lnTo>
                  <a:pt x="12413" y="8324"/>
                </a:lnTo>
                <a:cubicBezTo>
                  <a:pt x="13365" y="5975"/>
                  <a:pt x="12730" y="3244"/>
                  <a:pt x="10825" y="1530"/>
                </a:cubicBezTo>
                <a:cubicBezTo>
                  <a:pt x="8920" y="-121"/>
                  <a:pt x="6190" y="-502"/>
                  <a:pt x="3904" y="704"/>
                </a:cubicBezTo>
                <a:close/>
              </a:path>
            </a:pathLst>
          </a:custGeom>
          <a:noFill/>
          <a:ln w="254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26" name="m-s07_pyramid-rn-4"/>
          <p:cNvSpPr txBox="1"/>
          <p:nvPr/>
        </p:nvSpPr>
        <p:spPr>
          <a:xfrm>
            <a:off x="11724291" y="3573473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骨干员工</a:t>
            </a:r>
          </a:p>
        </p:txBody>
      </p:sp>
      <p:sp>
        <p:nvSpPr>
          <p:cNvPr id="1327" name="m-s07_pyramid-rp-4"/>
          <p:cNvSpPr txBox="1"/>
          <p:nvPr/>
        </p:nvSpPr>
        <p:spPr>
          <a:xfrm>
            <a:off x="11725462" y="3624583"/>
            <a:ext cx="276817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独立负责模块与项目交付</a:t>
            </a:r>
          </a:p>
        </p:txBody>
      </p:sp>
      <p:sp>
        <p:nvSpPr>
          <p:cNvPr id="1328" name="m-s07_pyramid-rc-4"/>
          <p:cNvSpPr txBox="1"/>
          <p:nvPr/>
        </p:nvSpPr>
        <p:spPr>
          <a:xfrm>
            <a:off x="12301877" y="3578452"/>
            <a:ext cx="102708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5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462</a:t>
            </a:r>
          </a:p>
        </p:txBody>
      </p:sp>
      <p:sp>
        <p:nvSpPr>
          <p:cNvPr id="1329" name="m-s07_pyramid-lvl-5"/>
          <p:cNvSpPr/>
          <p:nvPr/>
        </p:nvSpPr>
        <p:spPr>
          <a:xfrm>
            <a:off x="10559113" y="3713353"/>
            <a:ext cx="1036421" cy="163005"/>
          </a:xfrm>
          <a:custGeom>
            <a:avLst/>
            <a:gdLst/>
            <a:ahLst/>
            <a:cxnLst/>
            <a:rect l="0" t="0" r="r" b="b"/>
            <a:pathLst>
              <a:path w="1036421" h="163005">
                <a:moveTo>
                  <a:pt x="63040" y="11938"/>
                </a:moveTo>
                <a:quadBezTo>
                  <a:pt x="68310" y="0"/>
                  <a:pt x="81328" y="0"/>
                </a:quadBezTo>
                <a:lnTo>
                  <a:pt x="955088" y="0"/>
                </a:lnTo>
                <a:quadBezTo>
                  <a:pt x="968105" y="0"/>
                  <a:pt x="973376" y="11938"/>
                </a:quadBezTo>
                <a:lnTo>
                  <a:pt x="1034907" y="151130"/>
                </a:lnTo>
                <a:quadBezTo>
                  <a:pt x="1040178" y="163005"/>
                  <a:pt x="1027224" y="163005"/>
                </a:quadBezTo>
                <a:lnTo>
                  <a:pt x="9255" y="163005"/>
                </a:lnTo>
                <a:quadBezTo>
                  <a:pt x="-3762" y="163005"/>
                  <a:pt x="1508" y="151130"/>
                </a:quadBezTo>
                <a:close/>
              </a:path>
            </a:pathLst>
          </a:custGeom>
          <a:gradFill rotWithShape="1">
            <a:gsLst>
              <a:gs pos="0">
                <a:srgbClr val="6CAFE3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30" name="m-s07_pyramid-cn-5"/>
          <p:cNvSpPr txBox="1"/>
          <p:nvPr/>
        </p:nvSpPr>
        <p:spPr>
          <a:xfrm>
            <a:off x="10987891" y="3745258"/>
            <a:ext cx="178860" cy="59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70" b="1" i="0" u="none" strike="noStrike" kern="1200" cap="none" spc="26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基础岗位</a:t>
            </a:r>
          </a:p>
        </p:txBody>
      </p:sp>
      <p:sp>
        <p:nvSpPr>
          <p:cNvPr id="1331" name="m-s07_pyramid-sub-5"/>
          <p:cNvSpPr txBox="1"/>
          <p:nvPr/>
        </p:nvSpPr>
        <p:spPr>
          <a:xfrm>
            <a:off x="10970363" y="3803795"/>
            <a:ext cx="213917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6" normalizeH="0" baseline="0" noProof="0">
                <a:ln>
                  <a:noFill/>
                </a:ln>
                <a:solidFill>
                  <a:srgbClr val="FFFFFF">
                    <a:alpha val="78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562 人 · 占比 43%</a:t>
            </a:r>
          </a:p>
        </p:txBody>
      </p:sp>
      <p:sp>
        <p:nvSpPr>
          <p:cNvPr id="1332" name="m-s07_pyramid-ln-5"/>
          <p:cNvSpPr txBox="1"/>
          <p:nvPr/>
        </p:nvSpPr>
        <p:spPr>
          <a:xfrm>
            <a:off x="10309288" y="3746183"/>
            <a:ext cx="107785" cy="9112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09" b="1" i="0" u="none" strike="noStrike" kern="1200" cap="none" spc="10" normalizeH="0" baseline="0" noProof="0">
                <a:ln>
                  <a:noFill/>
                </a:ln>
                <a:solidFill>
                  <a:srgbClr val="54A2DF">
                    <a:alpha val="8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1333" name="m-s07_pyramid-bg-5"/>
          <p:cNvSpPr/>
          <p:nvPr/>
        </p:nvSpPr>
        <p:spPr>
          <a:xfrm>
            <a:off x="10449878" y="3787057"/>
            <a:ext cx="195262" cy="13017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34" name="m-s07_pyramid-bar-5"/>
          <p:cNvSpPr/>
          <p:nvPr/>
        </p:nvSpPr>
        <p:spPr>
          <a:xfrm>
            <a:off x="10449878" y="3787057"/>
            <a:ext cx="195262" cy="13017"/>
          </a:xfrm>
          <a:prstGeom prst="roundRect">
            <a:avLst>
              <a:gd name="adj" fmla="val 50000"/>
            </a:avLst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35" name="m-s07_pyramid-bl-5"/>
          <p:cNvSpPr txBox="1"/>
          <p:nvPr/>
        </p:nvSpPr>
        <p:spPr>
          <a:xfrm>
            <a:off x="10447612" y="3813213"/>
            <a:ext cx="100144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占比 43%</a:t>
            </a:r>
          </a:p>
        </p:txBody>
      </p:sp>
      <p:cxnSp>
        <p:nvCxnSpPr>
          <p:cNvPr id="1336" name="m-s07_pyramid-lead-5"/>
          <p:cNvCxnSpPr/>
          <p:nvPr/>
        </p:nvCxnSpPr>
        <p:spPr>
          <a:xfrm>
            <a:off x="11617547" y="3794868"/>
            <a:ext cx="19527" cy="0"/>
          </a:xfrm>
          <a:prstGeom prst="line">
            <a:avLst/>
          </a:prstGeom>
          <a:ln w="2540" cap="rnd">
            <a:solidFill>
              <a:srgbClr val="54A2DF">
                <a:alpha val="42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37" name="m-s07_pyramid-dot-5"/>
          <p:cNvSpPr/>
          <p:nvPr/>
        </p:nvSpPr>
        <p:spPr>
          <a:xfrm>
            <a:off x="11630565" y="3788359"/>
            <a:ext cx="13017" cy="13017"/>
          </a:xfrm>
          <a:prstGeom prst="ellipse">
            <a:avLst/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38" name="m-s07_pyramid-icon-people"/>
          <p:cNvSpPr/>
          <p:nvPr/>
        </p:nvSpPr>
        <p:spPr>
          <a:xfrm>
            <a:off x="11676380" y="3796221"/>
            <a:ext cx="25844" cy="7302"/>
          </a:xfrm>
          <a:custGeom>
            <a:avLst/>
            <a:gdLst/>
            <a:ahLst/>
            <a:cxnLst/>
            <a:rect l="0" t="0" r="r" b="b"/>
            <a:pathLst>
              <a:path w="25844" h="7302">
                <a:moveTo>
                  <a:pt x="0" y="7302"/>
                </a:moveTo>
                <a:cubicBezTo>
                  <a:pt x="0" y="2730"/>
                  <a:pt x="3810" y="0"/>
                  <a:pt x="8191" y="0"/>
                </a:cubicBezTo>
                <a:cubicBezTo>
                  <a:pt x="12637" y="0"/>
                  <a:pt x="16383" y="2730"/>
                  <a:pt x="16383" y="7302"/>
                </a:cubicBezTo>
                <a:moveTo>
                  <a:pt x="19431" y="571"/>
                </a:moveTo>
                <a:cubicBezTo>
                  <a:pt x="23368" y="1079"/>
                  <a:pt x="25844" y="3810"/>
                  <a:pt x="25844" y="7302"/>
                </a:cubicBezTo>
              </a:path>
            </a:pathLst>
          </a:custGeom>
          <a:noFill/>
          <a:ln w="254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39" name="m-s07_pyramid-icon-people"/>
          <p:cNvSpPr/>
          <p:nvPr/>
        </p:nvSpPr>
        <p:spPr>
          <a:xfrm>
            <a:off x="11679728" y="3783152"/>
            <a:ext cx="9720" cy="9720"/>
          </a:xfrm>
          <a:prstGeom prst="ellipse">
            <a:avLst/>
          </a:prstGeom>
          <a:noFill/>
          <a:ln w="254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40" name="m-s07_pyramid-icon-people"/>
          <p:cNvSpPr/>
          <p:nvPr/>
        </p:nvSpPr>
        <p:spPr>
          <a:xfrm>
            <a:off x="11692788" y="3783152"/>
            <a:ext cx="7897" cy="7897"/>
          </a:xfrm>
          <a:prstGeom prst="ellipse">
            <a:avLst/>
          </a:prstGeom>
          <a:noFill/>
          <a:ln w="254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41" name="m-s07_pyramid-rn-5"/>
          <p:cNvSpPr txBox="1"/>
          <p:nvPr/>
        </p:nvSpPr>
        <p:spPr>
          <a:xfrm>
            <a:off x="11724291" y="3749469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基础岗位</a:t>
            </a:r>
          </a:p>
        </p:txBody>
      </p:sp>
      <p:sp>
        <p:nvSpPr>
          <p:cNvPr id="1342" name="m-s07_pyramid-rp-5"/>
          <p:cNvSpPr txBox="1"/>
          <p:nvPr/>
        </p:nvSpPr>
        <p:spPr>
          <a:xfrm>
            <a:off x="11725462" y="3800579"/>
            <a:ext cx="276817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承担执行工作并持续成长</a:t>
            </a:r>
          </a:p>
        </p:txBody>
      </p:sp>
      <p:sp>
        <p:nvSpPr>
          <p:cNvPr id="1343" name="m-s07_pyramid-rc-5"/>
          <p:cNvSpPr txBox="1"/>
          <p:nvPr/>
        </p:nvSpPr>
        <p:spPr>
          <a:xfrm>
            <a:off x="12301877" y="3754449"/>
            <a:ext cx="102708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5" normalizeH="0" baseline="0" noProof="0">
                <a:ln>
                  <a:noFill/>
                </a:ln>
                <a:solidFill>
                  <a:srgbClr val="54A2D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562</a:t>
            </a:r>
          </a:p>
        </p:txBody>
      </p:sp>
      <p:sp>
        <p:nvSpPr>
          <p:cNvPr id="1344" name="m-s07_pyramid-base"/>
          <p:cNvSpPr/>
          <p:nvPr/>
        </p:nvSpPr>
        <p:spPr>
          <a:xfrm>
            <a:off x="10504551" y="3899789"/>
            <a:ext cx="1145540" cy="20828"/>
          </a:xfrm>
          <a:custGeom>
            <a:avLst/>
            <a:gdLst/>
            <a:ahLst/>
            <a:cxnLst/>
            <a:rect l="0" t="0" r="r" b="b"/>
            <a:pathLst>
              <a:path w="1145540" h="20828">
                <a:moveTo>
                  <a:pt x="10414" y="0"/>
                </a:moveTo>
                <a:lnTo>
                  <a:pt x="1135126" y="0"/>
                </a:lnTo>
                <a:cubicBezTo>
                  <a:pt x="1140905" y="0"/>
                  <a:pt x="1145540" y="4636"/>
                  <a:pt x="1145540" y="10414"/>
                </a:cubicBezTo>
                <a:lnTo>
                  <a:pt x="1145540" y="10414"/>
                </a:lnTo>
                <a:cubicBezTo>
                  <a:pt x="1145540" y="16193"/>
                  <a:pt x="1140905" y="20828"/>
                  <a:pt x="1135126" y="20828"/>
                </a:cubicBezTo>
                <a:lnTo>
                  <a:pt x="10414" y="20828"/>
                </a:lnTo>
                <a:cubicBezTo>
                  <a:pt x="4636" y="20828"/>
                  <a:pt x="0" y="16193"/>
                  <a:pt x="0" y="10414"/>
                </a:cubicBezTo>
                <a:lnTo>
                  <a:pt x="0" y="10414"/>
                </a:lnTo>
                <a:cubicBezTo>
                  <a:pt x="0" y="4636"/>
                  <a:pt x="4636" y="0"/>
                  <a:pt x="10414" y="0"/>
                </a:cubicBezTo>
                <a:close/>
              </a:path>
            </a:pathLst>
          </a:custGeom>
          <a:solidFill>
            <a:srgbClr val="0B2545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45" name="m-s07_pyramid-base-t"/>
          <p:cNvSpPr txBox="1"/>
          <p:nvPr/>
        </p:nvSpPr>
        <p:spPr>
          <a:xfrm>
            <a:off x="10866060" y="3942753"/>
            <a:ext cx="422522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合计 1,286 人 · 核心骨干占比 56%</a:t>
            </a:r>
          </a:p>
        </p:txBody>
      </p:sp>
      <p:cxnSp>
        <p:nvCxnSpPr>
          <p:cNvPr id="1346" name="m-s07_pyramid-foot-line"/>
          <p:cNvCxnSpPr/>
          <p:nvPr/>
        </p:nvCxnSpPr>
        <p:spPr>
          <a:xfrm>
            <a:off x="10140061" y="40429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47" name="m-s07_pyramid-foot-l"/>
          <p:cNvSpPr txBox="1"/>
          <p:nvPr/>
        </p:nvSpPr>
        <p:spPr>
          <a:xfrm>
            <a:off x="10137874" y="4056923"/>
            <a:ext cx="21429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人才梯队 · 五级结构</a:t>
            </a:r>
          </a:p>
        </p:txBody>
      </p:sp>
      <p:sp>
        <p:nvSpPr>
          <p:cNvPr id="1348" name="m-s07_pyramid-foot-r"/>
          <p:cNvSpPr txBox="1"/>
          <p:nvPr/>
        </p:nvSpPr>
        <p:spPr>
          <a:xfrm>
            <a:off x="12142309" y="40569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1349" name="mini-card-d13_pareto"/>
          <p:cNvSpPr/>
          <p:nvPr/>
        </p:nvSpPr>
        <p:spPr>
          <a:xfrm>
            <a:off x="-63500" y="42672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0" y="0"/>
                </a:moveTo>
                <a:lnTo>
                  <a:pt x="2419160" y="0"/>
                </a:lnTo>
                <a:cubicBezTo>
                  <a:pt x="2463482" y="0"/>
                  <a:pt x="2499360" y="35877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2" y="1405890"/>
                  <a:pt x="2419160" y="1405890"/>
                </a:cubicBezTo>
                <a:lnTo>
                  <a:pt x="80200" y="1405890"/>
                </a:lnTo>
                <a:cubicBezTo>
                  <a:pt x="35878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7"/>
                  <a:pt x="35878" y="0"/>
                  <a:pt x="80200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50" name="m-d13_pareto-title-bar"/>
          <p:cNvSpPr/>
          <p:nvPr/>
        </p:nvSpPr>
        <p:spPr>
          <a:xfrm>
            <a:off x="56261" y="43661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51" name="m-d13_pareto-title-bar-accent"/>
          <p:cNvSpPr/>
          <p:nvPr/>
        </p:nvSpPr>
        <p:spPr>
          <a:xfrm>
            <a:off x="56261" y="43661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52" name="m-d13_pareto-title-cn"/>
          <p:cNvSpPr txBox="1"/>
          <p:nvPr/>
        </p:nvSpPr>
        <p:spPr>
          <a:xfrm>
            <a:off x="88440" y="4348768"/>
            <a:ext cx="613905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质量问题帕累托分析</a:t>
            </a:r>
          </a:p>
        </p:txBody>
      </p:sp>
      <p:sp>
        <p:nvSpPr>
          <p:cNvPr id="1353" name="m-d13_pareto-title-en"/>
          <p:cNvSpPr txBox="1"/>
          <p:nvPr/>
        </p:nvSpPr>
        <p:spPr>
          <a:xfrm>
            <a:off x="95730" y="4436050"/>
            <a:ext cx="24040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PARETO CHART</a:t>
            </a:r>
          </a:p>
        </p:txBody>
      </p:sp>
      <p:sp>
        <p:nvSpPr>
          <p:cNvPr id="1354" name="m-d13_pareto-title-sub"/>
          <p:cNvSpPr txBox="1"/>
          <p:nvPr/>
        </p:nvSpPr>
        <p:spPr>
          <a:xfrm>
            <a:off x="1751999" y="4405192"/>
            <a:ext cx="566756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八类缺陷按频次排序，前三类已占到全部问题的 76%</a:t>
            </a:r>
          </a:p>
        </p:txBody>
      </p:sp>
      <p:cxnSp>
        <p:nvCxnSpPr>
          <p:cNvPr id="1355" name="m-d13_pareto-grid-0"/>
          <p:cNvCxnSpPr/>
          <p:nvPr/>
        </p:nvCxnSpPr>
        <p:spPr>
          <a:xfrm>
            <a:off x="215074" y="5256530"/>
            <a:ext cx="1369441" cy="0"/>
          </a:xfrm>
          <a:prstGeom prst="line">
            <a:avLst/>
          </a:prstGeom>
          <a:ln w="2540" cap="rnd">
            <a:solidFill>
              <a:srgbClr val="0B2545">
                <a:alpha val="1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56" name="m-d13_pareto-yl-0"/>
          <p:cNvSpPr txBox="1"/>
          <p:nvPr/>
        </p:nvSpPr>
        <p:spPr>
          <a:xfrm>
            <a:off x="168550" y="5238618"/>
            <a:ext cx="30799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</a:t>
            </a:r>
          </a:p>
        </p:txBody>
      </p:sp>
      <p:cxnSp>
        <p:nvCxnSpPr>
          <p:cNvPr id="1357" name="m-d13_pareto-grid-50"/>
          <p:cNvCxnSpPr/>
          <p:nvPr/>
        </p:nvCxnSpPr>
        <p:spPr>
          <a:xfrm>
            <a:off x="215074" y="5155915"/>
            <a:ext cx="1369441" cy="0"/>
          </a:xfrm>
          <a:prstGeom prst="line">
            <a:avLst/>
          </a:prstGeom>
          <a:ln w="254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58" name="m-d13_pareto-yl-50"/>
          <p:cNvSpPr txBox="1"/>
          <p:nvPr/>
        </p:nvSpPr>
        <p:spPr>
          <a:xfrm>
            <a:off x="156496" y="5138003"/>
            <a:ext cx="42854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50</a:t>
            </a:r>
          </a:p>
        </p:txBody>
      </p:sp>
      <p:cxnSp>
        <p:nvCxnSpPr>
          <p:cNvPr id="1359" name="m-d13_pareto-grid-100"/>
          <p:cNvCxnSpPr/>
          <p:nvPr/>
        </p:nvCxnSpPr>
        <p:spPr>
          <a:xfrm>
            <a:off x="215074" y="5055300"/>
            <a:ext cx="1369441" cy="0"/>
          </a:xfrm>
          <a:prstGeom prst="line">
            <a:avLst/>
          </a:prstGeom>
          <a:ln w="254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60" name="m-d13_pareto-yl-100"/>
          <p:cNvSpPr txBox="1"/>
          <p:nvPr/>
        </p:nvSpPr>
        <p:spPr>
          <a:xfrm>
            <a:off x="144442" y="5037388"/>
            <a:ext cx="54908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100</a:t>
            </a:r>
          </a:p>
        </p:txBody>
      </p:sp>
      <p:cxnSp>
        <p:nvCxnSpPr>
          <p:cNvPr id="1361" name="m-d13_pareto-grid-150"/>
          <p:cNvCxnSpPr/>
          <p:nvPr/>
        </p:nvCxnSpPr>
        <p:spPr>
          <a:xfrm>
            <a:off x="215074" y="4954685"/>
            <a:ext cx="1369441" cy="0"/>
          </a:xfrm>
          <a:prstGeom prst="line">
            <a:avLst/>
          </a:prstGeom>
          <a:ln w="254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62" name="m-d13_pareto-yl-150"/>
          <p:cNvSpPr txBox="1"/>
          <p:nvPr/>
        </p:nvSpPr>
        <p:spPr>
          <a:xfrm>
            <a:off x="144442" y="4936773"/>
            <a:ext cx="54908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150</a:t>
            </a:r>
          </a:p>
        </p:txBody>
      </p:sp>
      <p:cxnSp>
        <p:nvCxnSpPr>
          <p:cNvPr id="1363" name="m-d13_pareto-grid-200"/>
          <p:cNvCxnSpPr/>
          <p:nvPr/>
        </p:nvCxnSpPr>
        <p:spPr>
          <a:xfrm>
            <a:off x="215074" y="4854070"/>
            <a:ext cx="1369441" cy="0"/>
          </a:xfrm>
          <a:prstGeom prst="line">
            <a:avLst/>
          </a:prstGeom>
          <a:ln w="254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64" name="m-d13_pareto-yl-200"/>
          <p:cNvSpPr txBox="1"/>
          <p:nvPr/>
        </p:nvSpPr>
        <p:spPr>
          <a:xfrm>
            <a:off x="144442" y="4836158"/>
            <a:ext cx="54908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200</a:t>
            </a:r>
          </a:p>
        </p:txBody>
      </p:sp>
      <p:cxnSp>
        <p:nvCxnSpPr>
          <p:cNvPr id="1365" name="m-d13_pareto-grid-250"/>
          <p:cNvCxnSpPr/>
          <p:nvPr/>
        </p:nvCxnSpPr>
        <p:spPr>
          <a:xfrm>
            <a:off x="215074" y="4753455"/>
            <a:ext cx="1369441" cy="0"/>
          </a:xfrm>
          <a:prstGeom prst="line">
            <a:avLst/>
          </a:prstGeom>
          <a:ln w="2540" cap="rnd">
            <a:solidFill>
              <a:srgbClr val="0B2545">
                <a:alpha val="6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66" name="m-d13_pareto-yl-250"/>
          <p:cNvSpPr txBox="1"/>
          <p:nvPr/>
        </p:nvSpPr>
        <p:spPr>
          <a:xfrm>
            <a:off x="144442" y="4735543"/>
            <a:ext cx="54908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250</a:t>
            </a:r>
          </a:p>
        </p:txBody>
      </p:sp>
      <p:sp>
        <p:nvSpPr>
          <p:cNvPr id="1367" name="m-d13_pareto-yl-unit"/>
          <p:cNvSpPr txBox="1"/>
          <p:nvPr/>
        </p:nvSpPr>
        <p:spPr>
          <a:xfrm>
            <a:off x="144884" y="4585751"/>
            <a:ext cx="5415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件数</a:t>
            </a:r>
          </a:p>
        </p:txBody>
      </p:sp>
      <p:sp>
        <p:nvSpPr>
          <p:cNvPr id="1368" name="m-d13_pareto-yr-0"/>
          <p:cNvSpPr txBox="1"/>
          <p:nvPr/>
        </p:nvSpPr>
        <p:spPr>
          <a:xfrm>
            <a:off x="1602844" y="5238618"/>
            <a:ext cx="42854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0%</a:t>
            </a:r>
          </a:p>
        </p:txBody>
      </p:sp>
      <p:sp>
        <p:nvSpPr>
          <p:cNvPr id="1369" name="m-d13_pareto-yr-25"/>
          <p:cNvSpPr txBox="1"/>
          <p:nvPr/>
        </p:nvSpPr>
        <p:spPr>
          <a:xfrm>
            <a:off x="1602844" y="5087615"/>
            <a:ext cx="54908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25%</a:t>
            </a:r>
          </a:p>
        </p:txBody>
      </p:sp>
      <p:sp>
        <p:nvSpPr>
          <p:cNvPr id="1370" name="m-d13_pareto-yr-50"/>
          <p:cNvSpPr txBox="1"/>
          <p:nvPr/>
        </p:nvSpPr>
        <p:spPr>
          <a:xfrm>
            <a:off x="1602844" y="4936612"/>
            <a:ext cx="54908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50%</a:t>
            </a:r>
          </a:p>
        </p:txBody>
      </p:sp>
      <p:sp>
        <p:nvSpPr>
          <p:cNvPr id="1371" name="m-d13_pareto-yr-75"/>
          <p:cNvSpPr txBox="1"/>
          <p:nvPr/>
        </p:nvSpPr>
        <p:spPr>
          <a:xfrm>
            <a:off x="1602844" y="4785609"/>
            <a:ext cx="54908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75%</a:t>
            </a:r>
          </a:p>
        </p:txBody>
      </p:sp>
      <p:sp>
        <p:nvSpPr>
          <p:cNvPr id="1372" name="m-d13_pareto-yr-100"/>
          <p:cNvSpPr txBox="1"/>
          <p:nvPr/>
        </p:nvSpPr>
        <p:spPr>
          <a:xfrm>
            <a:off x="1602844" y="4634606"/>
            <a:ext cx="66962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100%</a:t>
            </a:r>
          </a:p>
        </p:txBody>
      </p:sp>
      <p:sp>
        <p:nvSpPr>
          <p:cNvPr id="1373" name="m-d13_pareto-yr-unit"/>
          <p:cNvSpPr txBox="1"/>
          <p:nvPr/>
        </p:nvSpPr>
        <p:spPr>
          <a:xfrm>
            <a:off x="1603157" y="4585751"/>
            <a:ext cx="9190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累计占比</a:t>
            </a:r>
          </a:p>
        </p:txBody>
      </p:sp>
      <p:cxnSp>
        <p:nvCxnSpPr>
          <p:cNvPr id="1374" name="m-d13_pareto-ref80"/>
          <p:cNvCxnSpPr/>
          <p:nvPr/>
        </p:nvCxnSpPr>
        <p:spPr>
          <a:xfrm>
            <a:off x="215074" y="4773320"/>
            <a:ext cx="1369441" cy="0"/>
          </a:xfrm>
          <a:prstGeom prst="line">
            <a:avLst/>
          </a:prstGeom>
          <a:ln w="2604" cap="rnd">
            <a:solidFill>
              <a:srgbClr val="E0703A">
                <a:alpha val="75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5" name="m-d13_pareto-ref80-tag"/>
          <p:cNvSpPr/>
          <p:nvPr/>
        </p:nvSpPr>
        <p:spPr>
          <a:xfrm>
            <a:off x="1391856" y="4726432"/>
            <a:ext cx="171831" cy="36449"/>
          </a:xfrm>
          <a:custGeom>
            <a:avLst/>
            <a:gdLst/>
            <a:ahLst/>
            <a:cxnLst/>
            <a:rect l="0" t="0" r="r" b="b"/>
            <a:pathLst>
              <a:path w="171831" h="36449">
                <a:moveTo>
                  <a:pt x="18225" y="0"/>
                </a:moveTo>
                <a:lnTo>
                  <a:pt x="153606" y="0"/>
                </a:lnTo>
                <a:cubicBezTo>
                  <a:pt x="163640" y="0"/>
                  <a:pt x="171831" y="8191"/>
                  <a:pt x="171831" y="18225"/>
                </a:cubicBezTo>
                <a:lnTo>
                  <a:pt x="171831" y="18225"/>
                </a:lnTo>
                <a:cubicBezTo>
                  <a:pt x="171831" y="28321"/>
                  <a:pt x="163640" y="36449"/>
                  <a:pt x="153606" y="36449"/>
                </a:cubicBezTo>
                <a:lnTo>
                  <a:pt x="18225" y="36449"/>
                </a:lnTo>
                <a:cubicBezTo>
                  <a:pt x="8191" y="36449"/>
                  <a:pt x="0" y="28321"/>
                  <a:pt x="0" y="18225"/>
                </a:cubicBezTo>
                <a:lnTo>
                  <a:pt x="0" y="18225"/>
                </a:lnTo>
                <a:cubicBezTo>
                  <a:pt x="0" y="8191"/>
                  <a:pt x="8191" y="0"/>
                  <a:pt x="18225" y="0"/>
                </a:cubicBezTo>
                <a:close/>
              </a:path>
            </a:pathLst>
          </a:custGeom>
          <a:solidFill>
            <a:srgbClr val="E0703A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76" name="m-d13_pareto-ref80-t"/>
          <p:cNvSpPr txBox="1"/>
          <p:nvPr/>
        </p:nvSpPr>
        <p:spPr>
          <a:xfrm>
            <a:off x="1419089" y="4729985"/>
            <a:ext cx="117366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80% 分界线</a:t>
            </a:r>
          </a:p>
        </p:txBody>
      </p:sp>
      <p:sp>
        <p:nvSpPr>
          <p:cNvPr id="1377" name="m-d13_pareto-bar-1"/>
          <p:cNvSpPr/>
          <p:nvPr/>
        </p:nvSpPr>
        <p:spPr>
          <a:xfrm>
            <a:off x="267780" y="4717224"/>
            <a:ext cx="124968" cy="539305"/>
          </a:xfrm>
          <a:custGeom>
            <a:avLst/>
            <a:gdLst/>
            <a:ahLst/>
            <a:cxnLst/>
            <a:rect l="0" t="0" r="r" b="b"/>
            <a:pathLst>
              <a:path w="124968" h="539305">
                <a:moveTo>
                  <a:pt x="0" y="539305"/>
                </a:moveTo>
                <a:lnTo>
                  <a:pt x="0" y="13017"/>
                </a:lnTo>
                <a:cubicBezTo>
                  <a:pt x="0" y="5842"/>
                  <a:pt x="5842" y="0"/>
                  <a:pt x="13017" y="0"/>
                </a:cubicBezTo>
                <a:lnTo>
                  <a:pt x="111950" y="0"/>
                </a:lnTo>
                <a:cubicBezTo>
                  <a:pt x="119126" y="0"/>
                  <a:pt x="124968" y="5842"/>
                  <a:pt x="124968" y="13017"/>
                </a:cubicBezTo>
                <a:lnTo>
                  <a:pt x="124968" y="539305"/>
                </a:lnTo>
                <a:close/>
              </a:path>
            </a:pathLst>
          </a:custGeom>
          <a:gradFill rotWithShape="1">
            <a:gsLst>
              <a:gs pos="0">
                <a:srgbClr val="3C65A5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78" name="m-d13_pareto-bv-1"/>
          <p:cNvSpPr txBox="1"/>
          <p:nvPr/>
        </p:nvSpPr>
        <p:spPr>
          <a:xfrm>
            <a:off x="299272" y="4667468"/>
            <a:ext cx="62015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4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268</a:t>
            </a:r>
          </a:p>
        </p:txBody>
      </p:sp>
      <p:sp>
        <p:nvSpPr>
          <p:cNvPr id="1379" name="m-d13_pareto-bn-1"/>
          <p:cNvSpPr txBox="1"/>
          <p:nvPr/>
        </p:nvSpPr>
        <p:spPr>
          <a:xfrm>
            <a:off x="273165" y="5277862"/>
            <a:ext cx="11422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装配偏差</a:t>
            </a:r>
          </a:p>
        </p:txBody>
      </p:sp>
      <p:sp>
        <p:nvSpPr>
          <p:cNvPr id="1380" name="m-d13_pareto-bp-1"/>
          <p:cNvSpPr txBox="1"/>
          <p:nvPr/>
        </p:nvSpPr>
        <p:spPr>
          <a:xfrm>
            <a:off x="295588" y="5319938"/>
            <a:ext cx="6938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32.2%</a:t>
            </a:r>
          </a:p>
        </p:txBody>
      </p:sp>
      <p:sp>
        <p:nvSpPr>
          <p:cNvPr id="1381" name="m-d13_pareto-bar-2"/>
          <p:cNvSpPr/>
          <p:nvPr/>
        </p:nvSpPr>
        <p:spPr>
          <a:xfrm>
            <a:off x="430530" y="4862132"/>
            <a:ext cx="124968" cy="394398"/>
          </a:xfrm>
          <a:custGeom>
            <a:avLst/>
            <a:gdLst/>
            <a:ahLst/>
            <a:cxnLst/>
            <a:rect l="0" t="0" r="r" b="b"/>
            <a:pathLst>
              <a:path w="124968" h="394398">
                <a:moveTo>
                  <a:pt x="0" y="394398"/>
                </a:moveTo>
                <a:lnTo>
                  <a:pt x="0" y="13017"/>
                </a:lnTo>
                <a:cubicBezTo>
                  <a:pt x="0" y="5842"/>
                  <a:pt x="5842" y="0"/>
                  <a:pt x="13017" y="0"/>
                </a:cubicBezTo>
                <a:lnTo>
                  <a:pt x="111951" y="0"/>
                </a:lnTo>
                <a:cubicBezTo>
                  <a:pt x="119126" y="0"/>
                  <a:pt x="124968" y="5842"/>
                  <a:pt x="124968" y="13017"/>
                </a:cubicBezTo>
                <a:lnTo>
                  <a:pt x="124968" y="394398"/>
                </a:lnTo>
                <a:close/>
              </a:path>
            </a:pathLst>
          </a:custGeom>
          <a:gradFill rotWithShape="1">
            <a:gsLst>
              <a:gs pos="0">
                <a:srgbClr val="4270B0"/>
              </a:gs>
              <a:gs pos="100000">
                <a:srgbClr val="134C9C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82" name="m-d13_pareto-bv-2"/>
          <p:cNvSpPr txBox="1"/>
          <p:nvPr/>
        </p:nvSpPr>
        <p:spPr>
          <a:xfrm>
            <a:off x="461990" y="4812353"/>
            <a:ext cx="62015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4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196</a:t>
            </a:r>
          </a:p>
        </p:txBody>
      </p:sp>
      <p:sp>
        <p:nvSpPr>
          <p:cNvPr id="1383" name="m-d13_pareto-bn-2"/>
          <p:cNvSpPr txBox="1"/>
          <p:nvPr/>
        </p:nvSpPr>
        <p:spPr>
          <a:xfrm>
            <a:off x="435884" y="5277862"/>
            <a:ext cx="11422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来料不良</a:t>
            </a:r>
          </a:p>
        </p:txBody>
      </p:sp>
      <p:sp>
        <p:nvSpPr>
          <p:cNvPr id="1384" name="m-d13_pareto-bp-2"/>
          <p:cNvSpPr txBox="1"/>
          <p:nvPr/>
        </p:nvSpPr>
        <p:spPr>
          <a:xfrm>
            <a:off x="458306" y="5319938"/>
            <a:ext cx="6938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23.6%</a:t>
            </a:r>
          </a:p>
        </p:txBody>
      </p:sp>
      <p:sp>
        <p:nvSpPr>
          <p:cNvPr id="1385" name="m-d13_pareto-bar-3"/>
          <p:cNvSpPr/>
          <p:nvPr/>
        </p:nvSpPr>
        <p:spPr>
          <a:xfrm>
            <a:off x="593217" y="4970780"/>
            <a:ext cx="124968" cy="285750"/>
          </a:xfrm>
          <a:custGeom>
            <a:avLst/>
            <a:gdLst/>
            <a:ahLst/>
            <a:cxnLst/>
            <a:rect l="0" t="0" r="r" b="b"/>
            <a:pathLst>
              <a:path w="124968" h="285750">
                <a:moveTo>
                  <a:pt x="0" y="285750"/>
                </a:moveTo>
                <a:lnTo>
                  <a:pt x="0" y="13018"/>
                </a:lnTo>
                <a:cubicBezTo>
                  <a:pt x="0" y="5842"/>
                  <a:pt x="5842" y="0"/>
                  <a:pt x="13017" y="0"/>
                </a:cubicBezTo>
                <a:lnTo>
                  <a:pt x="111950" y="0"/>
                </a:lnTo>
                <a:cubicBezTo>
                  <a:pt x="119126" y="0"/>
                  <a:pt x="124968" y="5842"/>
                  <a:pt x="124968" y="13018"/>
                </a:cubicBezTo>
                <a:lnTo>
                  <a:pt x="124968" y="285750"/>
                </a:lnTo>
                <a:close/>
              </a:path>
            </a:pathLst>
          </a:custGeom>
          <a:gradFill rotWithShape="1">
            <a:gsLst>
              <a:gs pos="0">
                <a:srgbClr val="497BB9"/>
              </a:gs>
              <a:gs pos="100000">
                <a:srgbClr val="1B5AA8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86" name="m-d13_pareto-bv-3"/>
          <p:cNvSpPr txBox="1"/>
          <p:nvPr/>
        </p:nvSpPr>
        <p:spPr>
          <a:xfrm>
            <a:off x="624709" y="4921017"/>
            <a:ext cx="62015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4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142</a:t>
            </a:r>
          </a:p>
        </p:txBody>
      </p:sp>
      <p:sp>
        <p:nvSpPr>
          <p:cNvPr id="1387" name="m-d13_pareto-bn-3"/>
          <p:cNvSpPr txBox="1"/>
          <p:nvPr/>
        </p:nvSpPr>
        <p:spPr>
          <a:xfrm>
            <a:off x="598603" y="5277862"/>
            <a:ext cx="11422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参数漂移</a:t>
            </a:r>
          </a:p>
        </p:txBody>
      </p:sp>
      <p:sp>
        <p:nvSpPr>
          <p:cNvPr id="1388" name="m-d13_pareto-bp-3"/>
          <p:cNvSpPr txBox="1"/>
          <p:nvPr/>
        </p:nvSpPr>
        <p:spPr>
          <a:xfrm>
            <a:off x="621025" y="5319938"/>
            <a:ext cx="6938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17.1%</a:t>
            </a:r>
          </a:p>
        </p:txBody>
      </p:sp>
      <p:sp>
        <p:nvSpPr>
          <p:cNvPr id="1389" name="m-d13_pareto-bar-4"/>
          <p:cNvSpPr/>
          <p:nvPr/>
        </p:nvSpPr>
        <p:spPr>
          <a:xfrm>
            <a:off x="755968" y="5083492"/>
            <a:ext cx="124968" cy="173038"/>
          </a:xfrm>
          <a:custGeom>
            <a:avLst/>
            <a:gdLst/>
            <a:ahLst/>
            <a:cxnLst/>
            <a:rect l="0" t="0" r="r" b="b"/>
            <a:pathLst>
              <a:path w="124968" h="173038">
                <a:moveTo>
                  <a:pt x="0" y="173038"/>
                </a:moveTo>
                <a:lnTo>
                  <a:pt x="0" y="13018"/>
                </a:lnTo>
                <a:cubicBezTo>
                  <a:pt x="0" y="5779"/>
                  <a:pt x="5842" y="0"/>
                  <a:pt x="13017" y="0"/>
                </a:cubicBezTo>
                <a:lnTo>
                  <a:pt x="111951" y="0"/>
                </a:lnTo>
                <a:cubicBezTo>
                  <a:pt x="119126" y="0"/>
                  <a:pt x="124968" y="5779"/>
                  <a:pt x="124968" y="13018"/>
                </a:cubicBezTo>
                <a:lnTo>
                  <a:pt x="124968" y="173038"/>
                </a:lnTo>
                <a:close/>
              </a:path>
            </a:pathLst>
          </a:custGeom>
          <a:gradFill rotWithShape="1">
            <a:gsLst>
              <a:gs pos="0">
                <a:srgbClr val="5086C5"/>
              </a:gs>
              <a:gs pos="100000">
                <a:srgbClr val="2468B6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90" name="m-d13_pareto-bv-4"/>
          <p:cNvSpPr txBox="1"/>
          <p:nvPr/>
        </p:nvSpPr>
        <p:spPr>
          <a:xfrm>
            <a:off x="794249" y="5033706"/>
            <a:ext cx="48373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4" normalizeH="0" baseline="0" noProof="0">
                <a:ln>
                  <a:noFill/>
                </a:ln>
                <a:solidFill>
                  <a:srgbClr val="2468B6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86</a:t>
            </a:r>
          </a:p>
        </p:txBody>
      </p:sp>
      <p:sp>
        <p:nvSpPr>
          <p:cNvPr id="1391" name="m-d13_pareto-bn-4"/>
          <p:cNvSpPr txBox="1"/>
          <p:nvPr/>
        </p:nvSpPr>
        <p:spPr>
          <a:xfrm>
            <a:off x="761321" y="5277862"/>
            <a:ext cx="11422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外观瑕疵</a:t>
            </a:r>
          </a:p>
        </p:txBody>
      </p:sp>
      <p:sp>
        <p:nvSpPr>
          <p:cNvPr id="1392" name="m-d13_pareto-bp-4"/>
          <p:cNvSpPr txBox="1"/>
          <p:nvPr/>
        </p:nvSpPr>
        <p:spPr>
          <a:xfrm>
            <a:off x="783744" y="5319938"/>
            <a:ext cx="6938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10.3%</a:t>
            </a:r>
          </a:p>
        </p:txBody>
      </p:sp>
      <p:sp>
        <p:nvSpPr>
          <p:cNvPr id="1393" name="m-d13_pareto-bar-5"/>
          <p:cNvSpPr/>
          <p:nvPr/>
        </p:nvSpPr>
        <p:spPr>
          <a:xfrm>
            <a:off x="918654" y="5131752"/>
            <a:ext cx="124968" cy="124777"/>
          </a:xfrm>
          <a:custGeom>
            <a:avLst/>
            <a:gdLst/>
            <a:ahLst/>
            <a:cxnLst/>
            <a:rect l="0" t="0" r="r" b="b"/>
            <a:pathLst>
              <a:path w="124968" h="124777">
                <a:moveTo>
                  <a:pt x="0" y="124777"/>
                </a:moveTo>
                <a:lnTo>
                  <a:pt x="0" y="13018"/>
                </a:lnTo>
                <a:cubicBezTo>
                  <a:pt x="0" y="5842"/>
                  <a:pt x="5842" y="0"/>
                  <a:pt x="13018" y="0"/>
                </a:cubicBezTo>
                <a:lnTo>
                  <a:pt x="111951" y="0"/>
                </a:lnTo>
                <a:cubicBezTo>
                  <a:pt x="119126" y="0"/>
                  <a:pt x="124968" y="5842"/>
                  <a:pt x="124968" y="13018"/>
                </a:cubicBezTo>
                <a:lnTo>
                  <a:pt x="124968" y="124777"/>
                </a:lnTo>
                <a:close/>
              </a:path>
            </a:pathLst>
          </a:custGeom>
          <a:gradFill rotWithShape="1">
            <a:gsLst>
              <a:gs pos="0">
                <a:srgbClr val="5892CE"/>
              </a:gs>
              <a:gs pos="100000">
                <a:srgbClr val="2E77C2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94" name="m-d13_pareto-bv-5"/>
          <p:cNvSpPr txBox="1"/>
          <p:nvPr/>
        </p:nvSpPr>
        <p:spPr>
          <a:xfrm>
            <a:off x="956968" y="5082001"/>
            <a:ext cx="48373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4" normalizeH="0" baseline="0" noProof="0">
                <a:ln>
                  <a:noFill/>
                </a:ln>
                <a:solidFill>
                  <a:srgbClr val="2E77C2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62</a:t>
            </a:r>
          </a:p>
        </p:txBody>
      </p:sp>
      <p:sp>
        <p:nvSpPr>
          <p:cNvPr id="1395" name="m-d13_pareto-bn-5"/>
          <p:cNvSpPr txBox="1"/>
          <p:nvPr/>
        </p:nvSpPr>
        <p:spPr>
          <a:xfrm>
            <a:off x="924040" y="5277862"/>
            <a:ext cx="11422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软件缺陷</a:t>
            </a:r>
          </a:p>
        </p:txBody>
      </p:sp>
      <p:sp>
        <p:nvSpPr>
          <p:cNvPr id="1396" name="m-d13_pareto-bp-5"/>
          <p:cNvSpPr txBox="1"/>
          <p:nvPr/>
        </p:nvSpPr>
        <p:spPr>
          <a:xfrm>
            <a:off x="951761" y="5319938"/>
            <a:ext cx="5878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7.5%</a:t>
            </a:r>
          </a:p>
        </p:txBody>
      </p:sp>
      <p:sp>
        <p:nvSpPr>
          <p:cNvPr id="1397" name="m-d13_pareto-bar-6"/>
          <p:cNvSpPr/>
          <p:nvPr/>
        </p:nvSpPr>
        <p:spPr>
          <a:xfrm>
            <a:off x="1081405" y="5180076"/>
            <a:ext cx="124968" cy="76454"/>
          </a:xfrm>
          <a:custGeom>
            <a:avLst/>
            <a:gdLst/>
            <a:ahLst/>
            <a:cxnLst/>
            <a:rect l="0" t="0" r="r" b="b"/>
            <a:pathLst>
              <a:path w="124968" h="76454">
                <a:moveTo>
                  <a:pt x="0" y="76454"/>
                </a:moveTo>
                <a:lnTo>
                  <a:pt x="0" y="13017"/>
                </a:lnTo>
                <a:cubicBezTo>
                  <a:pt x="0" y="5778"/>
                  <a:pt x="5842" y="0"/>
                  <a:pt x="13017" y="0"/>
                </a:cubicBezTo>
                <a:lnTo>
                  <a:pt x="111950" y="0"/>
                </a:lnTo>
                <a:cubicBezTo>
                  <a:pt x="119126" y="0"/>
                  <a:pt x="124968" y="5778"/>
                  <a:pt x="124968" y="13017"/>
                </a:cubicBezTo>
                <a:lnTo>
                  <a:pt x="124968" y="76454"/>
                </a:lnTo>
                <a:close/>
              </a:path>
            </a:pathLst>
          </a:custGeom>
          <a:gradFill rotWithShape="1">
            <a:gsLst>
              <a:gs pos="0">
                <a:srgbClr val="619DD7"/>
              </a:gs>
              <a:gs pos="100000">
                <a:srgbClr val="3985CD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98" name="m-d13_pareto-bv-6"/>
          <p:cNvSpPr txBox="1"/>
          <p:nvPr/>
        </p:nvSpPr>
        <p:spPr>
          <a:xfrm>
            <a:off x="1119687" y="5130297"/>
            <a:ext cx="48373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4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38</a:t>
            </a:r>
          </a:p>
        </p:txBody>
      </p:sp>
      <p:sp>
        <p:nvSpPr>
          <p:cNvPr id="1399" name="m-d13_pareto-bn-6"/>
          <p:cNvSpPr txBox="1"/>
          <p:nvPr/>
        </p:nvSpPr>
        <p:spPr>
          <a:xfrm>
            <a:off x="1086759" y="5277862"/>
            <a:ext cx="11422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包装破损</a:t>
            </a:r>
          </a:p>
        </p:txBody>
      </p:sp>
      <p:sp>
        <p:nvSpPr>
          <p:cNvPr id="1400" name="m-d13_pareto-bp-6"/>
          <p:cNvSpPr txBox="1"/>
          <p:nvPr/>
        </p:nvSpPr>
        <p:spPr>
          <a:xfrm>
            <a:off x="1114480" y="5319938"/>
            <a:ext cx="5878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4.6%</a:t>
            </a:r>
          </a:p>
        </p:txBody>
      </p:sp>
      <p:sp>
        <p:nvSpPr>
          <p:cNvPr id="1401" name="m-d13_pareto-bar-7"/>
          <p:cNvSpPr/>
          <p:nvPr/>
        </p:nvSpPr>
        <p:spPr>
          <a:xfrm>
            <a:off x="1244092" y="5208206"/>
            <a:ext cx="124968" cy="48323"/>
          </a:xfrm>
          <a:custGeom>
            <a:avLst/>
            <a:gdLst/>
            <a:ahLst/>
            <a:cxnLst/>
            <a:rect l="0" t="0" r="r" b="b"/>
            <a:pathLst>
              <a:path w="124968" h="48323">
                <a:moveTo>
                  <a:pt x="0" y="48323"/>
                </a:moveTo>
                <a:lnTo>
                  <a:pt x="0" y="13017"/>
                </a:lnTo>
                <a:cubicBezTo>
                  <a:pt x="0" y="5842"/>
                  <a:pt x="5842" y="0"/>
                  <a:pt x="13018" y="0"/>
                </a:cubicBezTo>
                <a:lnTo>
                  <a:pt x="111951" y="0"/>
                </a:lnTo>
                <a:cubicBezTo>
                  <a:pt x="119126" y="0"/>
                  <a:pt x="124968" y="5842"/>
                  <a:pt x="124968" y="13017"/>
                </a:cubicBezTo>
                <a:lnTo>
                  <a:pt x="124968" y="48323"/>
                </a:lnTo>
                <a:close/>
              </a:path>
            </a:pathLst>
          </a:custGeom>
          <a:gradFill rotWithShape="1">
            <a:gsLst>
              <a:gs pos="0">
                <a:srgbClr val="6BA9DF"/>
              </a:gs>
              <a:gs pos="100000">
                <a:srgbClr val="4694D7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02" name="m-d13_pareto-bv-7"/>
          <p:cNvSpPr txBox="1"/>
          <p:nvPr/>
        </p:nvSpPr>
        <p:spPr>
          <a:xfrm>
            <a:off x="1282405" y="5158469"/>
            <a:ext cx="48373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4" normalizeH="0" baseline="0" noProof="0">
                <a:ln>
                  <a:noFill/>
                </a:ln>
                <a:solidFill>
                  <a:srgbClr val="4694D7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24</a:t>
            </a:r>
          </a:p>
        </p:txBody>
      </p:sp>
      <p:sp>
        <p:nvSpPr>
          <p:cNvPr id="1403" name="m-d13_pareto-bn-7"/>
          <p:cNvSpPr txBox="1"/>
          <p:nvPr/>
        </p:nvSpPr>
        <p:spPr>
          <a:xfrm>
            <a:off x="1249478" y="5277862"/>
            <a:ext cx="11422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标识错误</a:t>
            </a:r>
          </a:p>
        </p:txBody>
      </p:sp>
      <p:sp>
        <p:nvSpPr>
          <p:cNvPr id="1404" name="m-d13_pareto-bp-7"/>
          <p:cNvSpPr txBox="1"/>
          <p:nvPr/>
        </p:nvSpPr>
        <p:spPr>
          <a:xfrm>
            <a:off x="1277198" y="5319938"/>
            <a:ext cx="5878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2.9%</a:t>
            </a:r>
          </a:p>
        </p:txBody>
      </p:sp>
      <p:sp>
        <p:nvSpPr>
          <p:cNvPr id="1405" name="m-d13_pareto-bar-8"/>
          <p:cNvSpPr/>
          <p:nvPr/>
        </p:nvSpPr>
        <p:spPr>
          <a:xfrm>
            <a:off x="1406842" y="5224336"/>
            <a:ext cx="124968" cy="32194"/>
          </a:xfrm>
          <a:custGeom>
            <a:avLst/>
            <a:gdLst/>
            <a:ahLst/>
            <a:cxnLst/>
            <a:rect l="0" t="0" r="r" b="b"/>
            <a:pathLst>
              <a:path w="124968" h="32194">
                <a:moveTo>
                  <a:pt x="0" y="32194"/>
                </a:moveTo>
                <a:lnTo>
                  <a:pt x="0" y="13017"/>
                </a:lnTo>
                <a:cubicBezTo>
                  <a:pt x="0" y="5842"/>
                  <a:pt x="5842" y="0"/>
                  <a:pt x="13017" y="0"/>
                </a:cubicBezTo>
                <a:lnTo>
                  <a:pt x="111950" y="0"/>
                </a:lnTo>
                <a:cubicBezTo>
                  <a:pt x="119126" y="0"/>
                  <a:pt x="124968" y="5842"/>
                  <a:pt x="124968" y="13017"/>
                </a:cubicBezTo>
                <a:lnTo>
                  <a:pt x="124968" y="32194"/>
                </a:lnTo>
                <a:close/>
              </a:path>
            </a:pathLst>
          </a:custGeom>
          <a:gradFill rotWithShape="1">
            <a:gsLst>
              <a:gs pos="0">
                <a:srgbClr val="76B5E5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06" name="m-d13_pareto-bv-8"/>
          <p:cNvSpPr txBox="1"/>
          <p:nvPr/>
        </p:nvSpPr>
        <p:spPr>
          <a:xfrm>
            <a:off x="1445124" y="5174567"/>
            <a:ext cx="48373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4" normalizeH="0" baseline="0" noProof="0">
                <a:ln>
                  <a:noFill/>
                </a:ln>
                <a:solidFill>
                  <a:srgbClr val="54A2D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16</a:t>
            </a:r>
          </a:p>
        </p:txBody>
      </p:sp>
      <p:sp>
        <p:nvSpPr>
          <p:cNvPr id="1407" name="m-d13_pareto-bn-8"/>
          <p:cNvSpPr txBox="1"/>
          <p:nvPr/>
        </p:nvSpPr>
        <p:spPr>
          <a:xfrm>
            <a:off x="1435628" y="5277862"/>
            <a:ext cx="67366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其他</a:t>
            </a:r>
          </a:p>
        </p:txBody>
      </p:sp>
      <p:sp>
        <p:nvSpPr>
          <p:cNvPr id="1408" name="m-d13_pareto-bp-8"/>
          <p:cNvSpPr txBox="1"/>
          <p:nvPr/>
        </p:nvSpPr>
        <p:spPr>
          <a:xfrm>
            <a:off x="1439917" y="5319938"/>
            <a:ext cx="5878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1.9%</a:t>
            </a:r>
          </a:p>
        </p:txBody>
      </p:sp>
      <p:sp>
        <p:nvSpPr>
          <p:cNvPr id="1409" name="m-d13_pareto-cum-line"/>
          <p:cNvSpPr/>
          <p:nvPr/>
        </p:nvSpPr>
        <p:spPr>
          <a:xfrm>
            <a:off x="330264" y="4652518"/>
            <a:ext cx="1139063" cy="409448"/>
          </a:xfrm>
          <a:custGeom>
            <a:avLst/>
            <a:gdLst/>
            <a:ahLst/>
            <a:cxnLst/>
            <a:rect l="0" t="0" r="r" b="b"/>
            <a:pathLst>
              <a:path w="1139063" h="409448">
                <a:moveTo>
                  <a:pt x="0" y="409448"/>
                </a:moveTo>
                <a:cubicBezTo>
                  <a:pt x="21717" y="390462"/>
                  <a:pt x="119316" y="299847"/>
                  <a:pt x="162751" y="267145"/>
                </a:cubicBezTo>
                <a:cubicBezTo>
                  <a:pt x="206121" y="234442"/>
                  <a:pt x="282067" y="186119"/>
                  <a:pt x="325438" y="164084"/>
                </a:cubicBezTo>
                <a:cubicBezTo>
                  <a:pt x="368872" y="141986"/>
                  <a:pt x="444754" y="115951"/>
                  <a:pt x="488188" y="101664"/>
                </a:cubicBezTo>
                <a:cubicBezTo>
                  <a:pt x="531558" y="87312"/>
                  <a:pt x="607505" y="66294"/>
                  <a:pt x="650875" y="56642"/>
                </a:cubicBezTo>
                <a:cubicBezTo>
                  <a:pt x="694309" y="46927"/>
                  <a:pt x="770192" y="35052"/>
                  <a:pt x="813626" y="29020"/>
                </a:cubicBezTo>
                <a:cubicBezTo>
                  <a:pt x="856996" y="23050"/>
                  <a:pt x="932942" y="15494"/>
                  <a:pt x="976312" y="11621"/>
                </a:cubicBezTo>
                <a:cubicBezTo>
                  <a:pt x="1019746" y="7747"/>
                  <a:pt x="1117346" y="1524"/>
                  <a:pt x="1139063" y="0"/>
                </a:cubicBezTo>
              </a:path>
            </a:pathLst>
          </a:custGeom>
          <a:noFill/>
          <a:ln w="390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10" name="m-d13_pareto-cd-1"/>
          <p:cNvSpPr/>
          <p:nvPr/>
        </p:nvSpPr>
        <p:spPr>
          <a:xfrm>
            <a:off x="322469" y="5054158"/>
            <a:ext cx="15621" cy="15621"/>
          </a:xfrm>
          <a:prstGeom prst="ellipse">
            <a:avLst/>
          </a:prstGeom>
          <a:solidFill>
            <a:srgbClr val="FFFFFF"/>
          </a:solidFill>
          <a:ln w="338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11" name="m-d13_pareto-cc-1"/>
          <p:cNvSpPr/>
          <p:nvPr/>
        </p:nvSpPr>
        <p:spPr>
          <a:xfrm>
            <a:off x="288608" y="5004689"/>
            <a:ext cx="83312" cy="36449"/>
          </a:xfrm>
          <a:custGeom>
            <a:avLst/>
            <a:gdLst/>
            <a:ahLst/>
            <a:cxnLst/>
            <a:rect l="0" t="0" r="r" b="b"/>
            <a:pathLst>
              <a:path w="83312" h="36449">
                <a:moveTo>
                  <a:pt x="15621" y="0"/>
                </a:moveTo>
                <a:lnTo>
                  <a:pt x="67691" y="0"/>
                </a:lnTo>
                <a:cubicBezTo>
                  <a:pt x="76327" y="0"/>
                  <a:pt x="83312" y="6985"/>
                  <a:pt x="83312" y="15621"/>
                </a:cubicBezTo>
                <a:lnTo>
                  <a:pt x="83312" y="20828"/>
                </a:lnTo>
                <a:cubicBezTo>
                  <a:pt x="83312" y="29464"/>
                  <a:pt x="76327" y="36449"/>
                  <a:pt x="67691" y="36449"/>
                </a:cubicBezTo>
                <a:lnTo>
                  <a:pt x="15621" y="36449"/>
                </a:lnTo>
                <a:cubicBezTo>
                  <a:pt x="6985" y="36449"/>
                  <a:pt x="0" y="29464"/>
                  <a:pt x="0" y="20828"/>
                </a:cubicBezTo>
                <a:lnTo>
                  <a:pt x="0" y="15621"/>
                </a:lnTo>
                <a:cubicBezTo>
                  <a:pt x="0" y="6985"/>
                  <a:pt x="6985" y="0"/>
                  <a:pt x="1562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12" name="m-d13_pareto-ct-1"/>
          <p:cNvSpPr txBox="1"/>
          <p:nvPr/>
        </p:nvSpPr>
        <p:spPr>
          <a:xfrm>
            <a:off x="306184" y="5008219"/>
            <a:ext cx="4819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3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32%</a:t>
            </a:r>
          </a:p>
        </p:txBody>
      </p:sp>
      <p:sp>
        <p:nvSpPr>
          <p:cNvPr id="1413" name="m-d13_pareto-cd-2"/>
          <p:cNvSpPr/>
          <p:nvPr/>
        </p:nvSpPr>
        <p:spPr>
          <a:xfrm>
            <a:off x="485188" y="4911867"/>
            <a:ext cx="15621" cy="15621"/>
          </a:xfrm>
          <a:prstGeom prst="ellipse">
            <a:avLst/>
          </a:prstGeom>
          <a:solidFill>
            <a:srgbClr val="FFFFFF"/>
          </a:solidFill>
          <a:ln w="338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14" name="m-d13_pareto-cc-2"/>
          <p:cNvSpPr/>
          <p:nvPr/>
        </p:nvSpPr>
        <p:spPr>
          <a:xfrm>
            <a:off x="451358" y="4862386"/>
            <a:ext cx="83312" cy="36449"/>
          </a:xfrm>
          <a:custGeom>
            <a:avLst/>
            <a:gdLst/>
            <a:ahLst/>
            <a:cxnLst/>
            <a:rect l="0" t="0" r="r" b="b"/>
            <a:pathLst>
              <a:path w="83312" h="36449">
                <a:moveTo>
                  <a:pt x="15621" y="0"/>
                </a:moveTo>
                <a:lnTo>
                  <a:pt x="67691" y="0"/>
                </a:lnTo>
                <a:cubicBezTo>
                  <a:pt x="76327" y="0"/>
                  <a:pt x="83312" y="6985"/>
                  <a:pt x="83312" y="15621"/>
                </a:cubicBezTo>
                <a:lnTo>
                  <a:pt x="83312" y="20828"/>
                </a:lnTo>
                <a:cubicBezTo>
                  <a:pt x="83312" y="29464"/>
                  <a:pt x="76327" y="36449"/>
                  <a:pt x="67691" y="36449"/>
                </a:cubicBezTo>
                <a:lnTo>
                  <a:pt x="15621" y="36449"/>
                </a:lnTo>
                <a:cubicBezTo>
                  <a:pt x="6985" y="36449"/>
                  <a:pt x="0" y="29464"/>
                  <a:pt x="0" y="20828"/>
                </a:cubicBezTo>
                <a:lnTo>
                  <a:pt x="0" y="15621"/>
                </a:lnTo>
                <a:cubicBezTo>
                  <a:pt x="0" y="6985"/>
                  <a:pt x="6985" y="0"/>
                  <a:pt x="1562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15" name="m-d13_pareto-ct-2"/>
          <p:cNvSpPr txBox="1"/>
          <p:nvPr/>
        </p:nvSpPr>
        <p:spPr>
          <a:xfrm>
            <a:off x="468903" y="4865928"/>
            <a:ext cx="4819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3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56%</a:t>
            </a:r>
          </a:p>
        </p:txBody>
      </p:sp>
      <p:sp>
        <p:nvSpPr>
          <p:cNvPr id="1416" name="m-d13_pareto-cd-3"/>
          <p:cNvSpPr/>
          <p:nvPr/>
        </p:nvSpPr>
        <p:spPr>
          <a:xfrm>
            <a:off x="647906" y="4808778"/>
            <a:ext cx="15621" cy="15621"/>
          </a:xfrm>
          <a:prstGeom prst="ellipse">
            <a:avLst/>
          </a:prstGeom>
          <a:solidFill>
            <a:srgbClr val="FFFFFF"/>
          </a:solidFill>
          <a:ln w="338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17" name="m-d13_pareto-cc-3"/>
          <p:cNvSpPr/>
          <p:nvPr/>
        </p:nvSpPr>
        <p:spPr>
          <a:xfrm>
            <a:off x="614045" y="4759325"/>
            <a:ext cx="83312" cy="36449"/>
          </a:xfrm>
          <a:custGeom>
            <a:avLst/>
            <a:gdLst/>
            <a:ahLst/>
            <a:cxnLst/>
            <a:rect l="0" t="0" r="r" b="b"/>
            <a:pathLst>
              <a:path w="83312" h="36449">
                <a:moveTo>
                  <a:pt x="15621" y="0"/>
                </a:moveTo>
                <a:lnTo>
                  <a:pt x="67691" y="0"/>
                </a:lnTo>
                <a:cubicBezTo>
                  <a:pt x="76327" y="0"/>
                  <a:pt x="83312" y="6985"/>
                  <a:pt x="83312" y="15621"/>
                </a:cubicBezTo>
                <a:lnTo>
                  <a:pt x="83312" y="20828"/>
                </a:lnTo>
                <a:cubicBezTo>
                  <a:pt x="83312" y="29464"/>
                  <a:pt x="76327" y="36449"/>
                  <a:pt x="67691" y="36449"/>
                </a:cubicBezTo>
                <a:lnTo>
                  <a:pt x="15621" y="36449"/>
                </a:lnTo>
                <a:cubicBezTo>
                  <a:pt x="6985" y="36449"/>
                  <a:pt x="0" y="29464"/>
                  <a:pt x="0" y="20828"/>
                </a:cubicBezTo>
                <a:lnTo>
                  <a:pt x="0" y="15621"/>
                </a:lnTo>
                <a:cubicBezTo>
                  <a:pt x="0" y="6985"/>
                  <a:pt x="6985" y="0"/>
                  <a:pt x="1562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18" name="m-d13_pareto-ct-3"/>
          <p:cNvSpPr txBox="1"/>
          <p:nvPr/>
        </p:nvSpPr>
        <p:spPr>
          <a:xfrm>
            <a:off x="631621" y="4762839"/>
            <a:ext cx="4819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3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73%</a:t>
            </a:r>
          </a:p>
        </p:txBody>
      </p:sp>
      <p:sp>
        <p:nvSpPr>
          <p:cNvPr id="1419" name="m-d13_pareto-cd-4"/>
          <p:cNvSpPr/>
          <p:nvPr/>
        </p:nvSpPr>
        <p:spPr>
          <a:xfrm>
            <a:off x="810625" y="4746344"/>
            <a:ext cx="15621" cy="15621"/>
          </a:xfrm>
          <a:prstGeom prst="ellipse">
            <a:avLst/>
          </a:prstGeom>
          <a:solidFill>
            <a:srgbClr val="FFFFFF"/>
          </a:solidFill>
          <a:ln w="338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20" name="m-d13_pareto-cc-4"/>
          <p:cNvSpPr/>
          <p:nvPr/>
        </p:nvSpPr>
        <p:spPr>
          <a:xfrm>
            <a:off x="776796" y="4696904"/>
            <a:ext cx="83312" cy="36449"/>
          </a:xfrm>
          <a:custGeom>
            <a:avLst/>
            <a:gdLst/>
            <a:ahLst/>
            <a:cxnLst/>
            <a:rect l="0" t="0" r="r" b="b"/>
            <a:pathLst>
              <a:path w="83312" h="36449">
                <a:moveTo>
                  <a:pt x="15621" y="0"/>
                </a:moveTo>
                <a:lnTo>
                  <a:pt x="67691" y="0"/>
                </a:lnTo>
                <a:cubicBezTo>
                  <a:pt x="76327" y="0"/>
                  <a:pt x="83312" y="6985"/>
                  <a:pt x="83312" y="15621"/>
                </a:cubicBezTo>
                <a:lnTo>
                  <a:pt x="83312" y="20828"/>
                </a:lnTo>
                <a:cubicBezTo>
                  <a:pt x="83312" y="29400"/>
                  <a:pt x="76327" y="36449"/>
                  <a:pt x="67691" y="36449"/>
                </a:cubicBezTo>
                <a:lnTo>
                  <a:pt x="15621" y="36449"/>
                </a:lnTo>
                <a:cubicBezTo>
                  <a:pt x="6985" y="36449"/>
                  <a:pt x="0" y="29400"/>
                  <a:pt x="0" y="20828"/>
                </a:cubicBezTo>
                <a:lnTo>
                  <a:pt x="0" y="15621"/>
                </a:lnTo>
                <a:cubicBezTo>
                  <a:pt x="0" y="6985"/>
                  <a:pt x="6985" y="0"/>
                  <a:pt x="1562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21" name="m-d13_pareto-ct-4"/>
          <p:cNvSpPr txBox="1"/>
          <p:nvPr/>
        </p:nvSpPr>
        <p:spPr>
          <a:xfrm>
            <a:off x="794340" y="4700405"/>
            <a:ext cx="4819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3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83%</a:t>
            </a:r>
          </a:p>
        </p:txBody>
      </p:sp>
      <p:sp>
        <p:nvSpPr>
          <p:cNvPr id="1422" name="m-d13_pareto-cd-5"/>
          <p:cNvSpPr/>
          <p:nvPr/>
        </p:nvSpPr>
        <p:spPr>
          <a:xfrm>
            <a:off x="973344" y="4701334"/>
            <a:ext cx="15621" cy="15621"/>
          </a:xfrm>
          <a:prstGeom prst="ellipse">
            <a:avLst/>
          </a:prstGeom>
          <a:solidFill>
            <a:srgbClr val="FFFFFF"/>
          </a:solidFill>
          <a:ln w="338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23" name="m-d13_pareto-cd-6"/>
          <p:cNvSpPr/>
          <p:nvPr/>
        </p:nvSpPr>
        <p:spPr>
          <a:xfrm>
            <a:off x="1136063" y="4673747"/>
            <a:ext cx="15621" cy="15621"/>
          </a:xfrm>
          <a:prstGeom prst="ellipse">
            <a:avLst/>
          </a:prstGeom>
          <a:solidFill>
            <a:srgbClr val="FFFFFF"/>
          </a:solidFill>
          <a:ln w="338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24" name="m-d13_pareto-cd-7"/>
          <p:cNvSpPr/>
          <p:nvPr/>
        </p:nvSpPr>
        <p:spPr>
          <a:xfrm>
            <a:off x="1298781" y="4656323"/>
            <a:ext cx="15621" cy="15621"/>
          </a:xfrm>
          <a:prstGeom prst="ellipse">
            <a:avLst/>
          </a:prstGeom>
          <a:solidFill>
            <a:srgbClr val="FFFFFF"/>
          </a:solidFill>
          <a:ln w="338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25" name="m-d13_pareto-cd-8"/>
          <p:cNvSpPr/>
          <p:nvPr/>
        </p:nvSpPr>
        <p:spPr>
          <a:xfrm>
            <a:off x="1461500" y="4644708"/>
            <a:ext cx="15621" cy="15621"/>
          </a:xfrm>
          <a:prstGeom prst="ellipse">
            <a:avLst/>
          </a:prstGeom>
          <a:solidFill>
            <a:srgbClr val="FFFFFF"/>
          </a:solidFill>
          <a:ln w="338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26" name="m-d13_pareto-vital-box"/>
          <p:cNvSpPr/>
          <p:nvPr/>
        </p:nvSpPr>
        <p:spPr>
          <a:xfrm>
            <a:off x="233299" y="4629086"/>
            <a:ext cx="519366" cy="643064"/>
          </a:xfrm>
          <a:custGeom>
            <a:avLst/>
            <a:gdLst/>
            <a:ahLst/>
            <a:cxnLst/>
            <a:rect l="0" t="0" r="r" b="b"/>
            <a:pathLst>
              <a:path w="519366" h="643064">
                <a:moveTo>
                  <a:pt x="20828" y="0"/>
                </a:moveTo>
                <a:lnTo>
                  <a:pt x="498538" y="0"/>
                </a:lnTo>
                <a:cubicBezTo>
                  <a:pt x="510095" y="0"/>
                  <a:pt x="519366" y="9335"/>
                  <a:pt x="519366" y="20828"/>
                </a:cubicBezTo>
                <a:lnTo>
                  <a:pt x="519366" y="622236"/>
                </a:lnTo>
                <a:cubicBezTo>
                  <a:pt x="519366" y="633730"/>
                  <a:pt x="510095" y="643064"/>
                  <a:pt x="498538" y="643064"/>
                </a:cubicBezTo>
                <a:lnTo>
                  <a:pt x="20828" y="643064"/>
                </a:lnTo>
                <a:cubicBezTo>
                  <a:pt x="9334" y="643064"/>
                  <a:pt x="0" y="633730"/>
                  <a:pt x="0" y="622236"/>
                </a:cubicBezTo>
                <a:lnTo>
                  <a:pt x="0" y="20828"/>
                </a:lnTo>
                <a:cubicBezTo>
                  <a:pt x="0" y="9335"/>
                  <a:pt x="9334" y="0"/>
                  <a:pt x="20828" y="0"/>
                </a:cubicBezTo>
                <a:close/>
              </a:path>
            </a:pathLst>
          </a:custGeom>
          <a:noFill/>
          <a:ln w="2604" cap="rnd">
            <a:solidFill>
              <a:srgbClr val="E0703A">
                <a:alpha val="45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27" name="m-d13_pareto-vital-t"/>
          <p:cNvSpPr txBox="1"/>
          <p:nvPr/>
        </p:nvSpPr>
        <p:spPr>
          <a:xfrm>
            <a:off x="405846" y="4586747"/>
            <a:ext cx="174304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1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关键少数 · 76%</a:t>
            </a:r>
          </a:p>
        </p:txBody>
      </p:sp>
      <p:sp>
        <p:nvSpPr>
          <p:cNvPr id="1428" name="m-d13_pareto-side-bar"/>
          <p:cNvSpPr/>
          <p:nvPr/>
        </p:nvSpPr>
        <p:spPr>
          <a:xfrm>
            <a:off x="1670431" y="4600448"/>
            <a:ext cx="6509" cy="109347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29" name="m-d13_pareto-side-h"/>
          <p:cNvSpPr txBox="1"/>
          <p:nvPr/>
        </p:nvSpPr>
        <p:spPr>
          <a:xfrm>
            <a:off x="1702975" y="4601912"/>
            <a:ext cx="169878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改善动作</a:t>
            </a:r>
          </a:p>
        </p:txBody>
      </p:sp>
      <p:sp>
        <p:nvSpPr>
          <p:cNvPr id="1430" name="m-d13_pareto-side-p"/>
          <p:cNvSpPr txBox="1"/>
          <p:nvPr/>
        </p:nvSpPr>
        <p:spPr>
          <a:xfrm>
            <a:off x="1704146" y="4658229"/>
            <a:ext cx="18361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针对前三类缺陷</a:t>
            </a:r>
          </a:p>
        </p:txBody>
      </p:sp>
      <p:sp>
        <p:nvSpPr>
          <p:cNvPr id="1431" name="m-d13_pareto-ac-1"/>
          <p:cNvSpPr/>
          <p:nvPr/>
        </p:nvSpPr>
        <p:spPr>
          <a:xfrm>
            <a:off x="1670431" y="4751451"/>
            <a:ext cx="567563" cy="166624"/>
          </a:xfrm>
          <a:custGeom>
            <a:avLst/>
            <a:gdLst/>
            <a:ahLst/>
            <a:cxnLst/>
            <a:rect l="0" t="0" r="r" b="b"/>
            <a:pathLst>
              <a:path w="567563" h="166624">
                <a:moveTo>
                  <a:pt x="23431" y="0"/>
                </a:moveTo>
                <a:lnTo>
                  <a:pt x="544132" y="0"/>
                </a:lnTo>
                <a:cubicBezTo>
                  <a:pt x="557086" y="0"/>
                  <a:pt x="567563" y="10477"/>
                  <a:pt x="567563" y="23432"/>
                </a:cubicBezTo>
                <a:lnTo>
                  <a:pt x="567563" y="143192"/>
                </a:lnTo>
                <a:cubicBezTo>
                  <a:pt x="567563" y="156147"/>
                  <a:pt x="557086" y="166624"/>
                  <a:pt x="544132" y="166624"/>
                </a:cubicBezTo>
                <a:lnTo>
                  <a:pt x="23431" y="166624"/>
                </a:lnTo>
                <a:cubicBezTo>
                  <a:pt x="10477" y="166624"/>
                  <a:pt x="0" y="156147"/>
                  <a:pt x="0" y="143192"/>
                </a:cubicBezTo>
                <a:lnTo>
                  <a:pt x="0" y="23432"/>
                </a:lnTo>
                <a:cubicBezTo>
                  <a:pt x="0" y="10477"/>
                  <a:pt x="10477" y="0"/>
                  <a:pt x="2343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32" name="m-d13_pareto-acb-1"/>
          <p:cNvSpPr/>
          <p:nvPr/>
        </p:nvSpPr>
        <p:spPr>
          <a:xfrm>
            <a:off x="1670431" y="4751451"/>
            <a:ext cx="6477" cy="166624"/>
          </a:xfrm>
          <a:custGeom>
            <a:avLst/>
            <a:gdLst/>
            <a:ahLst/>
            <a:cxnLst/>
            <a:rect l="0" t="0" r="r" b="b"/>
            <a:pathLst>
              <a:path w="6477" h="166624">
                <a:moveTo>
                  <a:pt x="3238" y="0"/>
                </a:moveTo>
                <a:lnTo>
                  <a:pt x="3238" y="0"/>
                </a:lnTo>
                <a:cubicBezTo>
                  <a:pt x="5080" y="0"/>
                  <a:pt x="6477" y="1461"/>
                  <a:pt x="6477" y="3238"/>
                </a:cubicBezTo>
                <a:lnTo>
                  <a:pt x="6477" y="163386"/>
                </a:lnTo>
                <a:cubicBezTo>
                  <a:pt x="6477" y="165163"/>
                  <a:pt x="5080" y="166624"/>
                  <a:pt x="3238" y="166624"/>
                </a:cubicBezTo>
                <a:lnTo>
                  <a:pt x="3238" y="166624"/>
                </a:lnTo>
                <a:cubicBezTo>
                  <a:pt x="1461" y="166624"/>
                  <a:pt x="0" y="165163"/>
                  <a:pt x="0" y="163386"/>
                </a:cubicBezTo>
                <a:lnTo>
                  <a:pt x="0" y="3238"/>
                </a:lnTo>
                <a:cubicBezTo>
                  <a:pt x="0" y="1461"/>
                  <a:pt x="1461" y="0"/>
                  <a:pt x="3238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33" name="m-d13_pareto-icon-tools"/>
          <p:cNvSpPr/>
          <p:nvPr/>
        </p:nvSpPr>
        <p:spPr>
          <a:xfrm>
            <a:off x="1716184" y="4796467"/>
            <a:ext cx="21557" cy="21405"/>
          </a:xfrm>
          <a:custGeom>
            <a:avLst/>
            <a:gdLst/>
            <a:ahLst/>
            <a:cxnLst/>
            <a:rect l="0" t="0" r="r" b="b"/>
            <a:pathLst>
              <a:path w="21557" h="21405">
                <a:moveTo>
                  <a:pt x="3904" y="704"/>
                </a:moveTo>
                <a:lnTo>
                  <a:pt x="8476" y="5276"/>
                </a:lnTo>
                <a:lnTo>
                  <a:pt x="5174" y="8642"/>
                </a:lnTo>
                <a:lnTo>
                  <a:pt x="602" y="4070"/>
                </a:lnTo>
                <a:cubicBezTo>
                  <a:pt x="-478" y="6356"/>
                  <a:pt x="-97" y="9086"/>
                  <a:pt x="1681" y="10928"/>
                </a:cubicBezTo>
                <a:cubicBezTo>
                  <a:pt x="3459" y="12706"/>
                  <a:pt x="6190" y="13277"/>
                  <a:pt x="8476" y="12261"/>
                </a:cubicBezTo>
                <a:lnTo>
                  <a:pt x="17620" y="21405"/>
                </a:lnTo>
                <a:lnTo>
                  <a:pt x="21557" y="17405"/>
                </a:lnTo>
                <a:lnTo>
                  <a:pt x="12413" y="8324"/>
                </a:lnTo>
                <a:cubicBezTo>
                  <a:pt x="13365" y="5975"/>
                  <a:pt x="12730" y="3244"/>
                  <a:pt x="10825" y="1530"/>
                </a:cubicBezTo>
                <a:cubicBezTo>
                  <a:pt x="8920" y="-121"/>
                  <a:pt x="6190" y="-502"/>
                  <a:pt x="3904" y="704"/>
                </a:cubicBezTo>
                <a:close/>
              </a:path>
            </a:pathLst>
          </a:custGeom>
          <a:noFill/>
          <a:ln w="260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34" name="m-d13_pareto-acn-1"/>
          <p:cNvSpPr txBox="1"/>
          <p:nvPr/>
        </p:nvSpPr>
        <p:spPr>
          <a:xfrm>
            <a:off x="1771291" y="4785381"/>
            <a:ext cx="141761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装配偏差</a:t>
            </a:r>
          </a:p>
        </p:txBody>
      </p:sp>
      <p:sp>
        <p:nvSpPr>
          <p:cNvPr id="1435" name="m-d13_pareto-acp-1"/>
          <p:cNvSpPr txBox="1"/>
          <p:nvPr/>
        </p:nvSpPr>
        <p:spPr>
          <a:xfrm>
            <a:off x="1707062" y="4851500"/>
            <a:ext cx="260597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工装治具升级 + 首件必检</a:t>
            </a:r>
          </a:p>
        </p:txBody>
      </p:sp>
      <p:sp>
        <p:nvSpPr>
          <p:cNvPr id="1436" name="m-d13_pareto-ace-1"/>
          <p:cNvSpPr/>
          <p:nvPr/>
        </p:nvSpPr>
        <p:spPr>
          <a:xfrm>
            <a:off x="2107819" y="4790504"/>
            <a:ext cx="104140" cy="44260"/>
          </a:xfrm>
          <a:custGeom>
            <a:avLst/>
            <a:gdLst/>
            <a:ahLst/>
            <a:cxnLst/>
            <a:rect l="0" t="0" r="r" b="b"/>
            <a:pathLst>
              <a:path w="104140" h="44260">
                <a:moveTo>
                  <a:pt x="22098" y="0"/>
                </a:moveTo>
                <a:lnTo>
                  <a:pt x="81979" y="0"/>
                </a:lnTo>
                <a:cubicBezTo>
                  <a:pt x="94234" y="0"/>
                  <a:pt x="104140" y="9906"/>
                  <a:pt x="104140" y="22098"/>
                </a:cubicBezTo>
                <a:lnTo>
                  <a:pt x="104140" y="22098"/>
                </a:lnTo>
                <a:cubicBezTo>
                  <a:pt x="104140" y="34354"/>
                  <a:pt x="94234" y="44260"/>
                  <a:pt x="81979" y="44260"/>
                </a:cubicBezTo>
                <a:lnTo>
                  <a:pt x="22098" y="44260"/>
                </a:lnTo>
                <a:cubicBezTo>
                  <a:pt x="9906" y="44260"/>
                  <a:pt x="0" y="34354"/>
                  <a:pt x="0" y="22098"/>
                </a:cubicBezTo>
                <a:lnTo>
                  <a:pt x="0" y="22098"/>
                </a:lnTo>
                <a:cubicBezTo>
                  <a:pt x="0" y="9906"/>
                  <a:pt x="9906" y="0"/>
                  <a:pt x="22098" y="0"/>
                </a:cubicBezTo>
                <a:close/>
              </a:path>
            </a:pathLst>
          </a:custGeom>
          <a:solidFill>
            <a:srgbClr val="0B3E8F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37" name="m-d13_pareto-acet-1"/>
          <p:cNvSpPr txBox="1"/>
          <p:nvPr/>
        </p:nvSpPr>
        <p:spPr>
          <a:xfrm>
            <a:off x="2126148" y="4793419"/>
            <a:ext cx="67483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-40%</a:t>
            </a:r>
          </a:p>
        </p:txBody>
      </p:sp>
      <p:sp>
        <p:nvSpPr>
          <p:cNvPr id="1438" name="m-d13_pareto-ac-2"/>
          <p:cNvSpPr/>
          <p:nvPr/>
        </p:nvSpPr>
        <p:spPr>
          <a:xfrm>
            <a:off x="1670431" y="4946714"/>
            <a:ext cx="567563" cy="166624"/>
          </a:xfrm>
          <a:custGeom>
            <a:avLst/>
            <a:gdLst/>
            <a:ahLst/>
            <a:cxnLst/>
            <a:rect l="0" t="0" r="r" b="b"/>
            <a:pathLst>
              <a:path w="567563" h="166624">
                <a:moveTo>
                  <a:pt x="23431" y="0"/>
                </a:moveTo>
                <a:lnTo>
                  <a:pt x="544132" y="0"/>
                </a:lnTo>
                <a:cubicBezTo>
                  <a:pt x="557086" y="0"/>
                  <a:pt x="567563" y="10477"/>
                  <a:pt x="567563" y="23432"/>
                </a:cubicBezTo>
                <a:lnTo>
                  <a:pt x="567563" y="143192"/>
                </a:lnTo>
                <a:cubicBezTo>
                  <a:pt x="567563" y="156147"/>
                  <a:pt x="557086" y="166624"/>
                  <a:pt x="544132" y="166624"/>
                </a:cubicBezTo>
                <a:lnTo>
                  <a:pt x="23431" y="166624"/>
                </a:lnTo>
                <a:cubicBezTo>
                  <a:pt x="10477" y="166624"/>
                  <a:pt x="0" y="156147"/>
                  <a:pt x="0" y="143192"/>
                </a:cubicBezTo>
                <a:lnTo>
                  <a:pt x="0" y="23432"/>
                </a:lnTo>
                <a:cubicBezTo>
                  <a:pt x="0" y="10477"/>
                  <a:pt x="10477" y="0"/>
                  <a:pt x="2343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39" name="m-d13_pareto-acb-2"/>
          <p:cNvSpPr/>
          <p:nvPr/>
        </p:nvSpPr>
        <p:spPr>
          <a:xfrm>
            <a:off x="1670431" y="4946714"/>
            <a:ext cx="6477" cy="166624"/>
          </a:xfrm>
          <a:custGeom>
            <a:avLst/>
            <a:gdLst/>
            <a:ahLst/>
            <a:cxnLst/>
            <a:rect l="0" t="0" r="r" b="b"/>
            <a:pathLst>
              <a:path w="6477" h="166624">
                <a:moveTo>
                  <a:pt x="3238" y="0"/>
                </a:moveTo>
                <a:lnTo>
                  <a:pt x="3238" y="0"/>
                </a:lnTo>
                <a:cubicBezTo>
                  <a:pt x="5080" y="0"/>
                  <a:pt x="6477" y="1461"/>
                  <a:pt x="6477" y="3238"/>
                </a:cubicBezTo>
                <a:lnTo>
                  <a:pt x="6477" y="163386"/>
                </a:lnTo>
                <a:cubicBezTo>
                  <a:pt x="6477" y="165163"/>
                  <a:pt x="5080" y="166624"/>
                  <a:pt x="3238" y="166624"/>
                </a:cubicBezTo>
                <a:lnTo>
                  <a:pt x="3238" y="166624"/>
                </a:lnTo>
                <a:cubicBezTo>
                  <a:pt x="1461" y="166624"/>
                  <a:pt x="0" y="165163"/>
                  <a:pt x="0" y="163386"/>
                </a:cubicBezTo>
                <a:lnTo>
                  <a:pt x="0" y="3238"/>
                </a:lnTo>
                <a:cubicBezTo>
                  <a:pt x="0" y="1461"/>
                  <a:pt x="1461" y="0"/>
                  <a:pt x="3238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40" name="m-d13_pareto-icon-cart"/>
          <p:cNvSpPr/>
          <p:nvPr/>
        </p:nvSpPr>
        <p:spPr>
          <a:xfrm>
            <a:off x="1714310" y="4992751"/>
            <a:ext cx="24193" cy="14288"/>
          </a:xfrm>
          <a:custGeom>
            <a:avLst/>
            <a:gdLst/>
            <a:ahLst/>
            <a:cxnLst/>
            <a:rect l="0" t="0" r="r" b="b"/>
            <a:pathLst>
              <a:path w="24193" h="14288">
                <a:moveTo>
                  <a:pt x="0" y="0"/>
                </a:moveTo>
                <a:lnTo>
                  <a:pt x="3556" y="0"/>
                </a:lnTo>
                <a:lnTo>
                  <a:pt x="7048" y="14288"/>
                </a:lnTo>
                <a:lnTo>
                  <a:pt x="21272" y="14288"/>
                </a:lnTo>
                <a:lnTo>
                  <a:pt x="24193" y="4254"/>
                </a:lnTo>
                <a:lnTo>
                  <a:pt x="4572" y="4254"/>
                </a:lnTo>
              </a:path>
            </a:pathLst>
          </a:custGeom>
          <a:noFill/>
          <a:ln w="2604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41" name="m-d13_pareto-icon-cart"/>
          <p:cNvSpPr/>
          <p:nvPr/>
        </p:nvSpPr>
        <p:spPr>
          <a:xfrm>
            <a:off x="1721633" y="5011584"/>
            <a:ext cx="4252" cy="4252"/>
          </a:xfrm>
          <a:prstGeom prst="ellipse">
            <a:avLst/>
          </a:prstGeom>
          <a:noFill/>
          <a:ln w="2604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42" name="m-d13_pareto-icon-cart"/>
          <p:cNvSpPr/>
          <p:nvPr/>
        </p:nvSpPr>
        <p:spPr>
          <a:xfrm>
            <a:off x="1732568" y="5011584"/>
            <a:ext cx="4252" cy="4252"/>
          </a:xfrm>
          <a:prstGeom prst="ellipse">
            <a:avLst/>
          </a:prstGeom>
          <a:noFill/>
          <a:ln w="2604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43" name="m-d13_pareto-acn-2"/>
          <p:cNvSpPr txBox="1"/>
          <p:nvPr/>
        </p:nvSpPr>
        <p:spPr>
          <a:xfrm>
            <a:off x="1771291" y="4980644"/>
            <a:ext cx="141761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来料不良</a:t>
            </a:r>
          </a:p>
        </p:txBody>
      </p:sp>
      <p:sp>
        <p:nvSpPr>
          <p:cNvPr id="1444" name="m-d13_pareto-acp-2"/>
          <p:cNvSpPr txBox="1"/>
          <p:nvPr/>
        </p:nvSpPr>
        <p:spPr>
          <a:xfrm>
            <a:off x="1707062" y="5046763"/>
            <a:ext cx="225138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供应商分级与来料全检</a:t>
            </a:r>
          </a:p>
        </p:txBody>
      </p:sp>
      <p:sp>
        <p:nvSpPr>
          <p:cNvPr id="1445" name="m-d13_pareto-ace-2"/>
          <p:cNvSpPr/>
          <p:nvPr/>
        </p:nvSpPr>
        <p:spPr>
          <a:xfrm>
            <a:off x="2107819" y="4985766"/>
            <a:ext cx="104140" cy="44260"/>
          </a:xfrm>
          <a:custGeom>
            <a:avLst/>
            <a:gdLst/>
            <a:ahLst/>
            <a:cxnLst/>
            <a:rect l="0" t="0" r="r" b="b"/>
            <a:pathLst>
              <a:path w="104140" h="44260">
                <a:moveTo>
                  <a:pt x="22098" y="0"/>
                </a:moveTo>
                <a:lnTo>
                  <a:pt x="81979" y="0"/>
                </a:lnTo>
                <a:cubicBezTo>
                  <a:pt x="94234" y="0"/>
                  <a:pt x="104140" y="9906"/>
                  <a:pt x="104140" y="22098"/>
                </a:cubicBezTo>
                <a:lnTo>
                  <a:pt x="104140" y="22098"/>
                </a:lnTo>
                <a:cubicBezTo>
                  <a:pt x="104140" y="34354"/>
                  <a:pt x="94234" y="44260"/>
                  <a:pt x="81979" y="44260"/>
                </a:cubicBezTo>
                <a:lnTo>
                  <a:pt x="22098" y="44260"/>
                </a:lnTo>
                <a:cubicBezTo>
                  <a:pt x="9906" y="44260"/>
                  <a:pt x="0" y="34354"/>
                  <a:pt x="0" y="22098"/>
                </a:cubicBezTo>
                <a:lnTo>
                  <a:pt x="0" y="22098"/>
                </a:lnTo>
                <a:cubicBezTo>
                  <a:pt x="0" y="9906"/>
                  <a:pt x="9906" y="0"/>
                  <a:pt x="22098" y="0"/>
                </a:cubicBezTo>
                <a:close/>
              </a:path>
            </a:pathLst>
          </a:custGeom>
          <a:solidFill>
            <a:srgbClr val="134C9C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46" name="m-d13_pareto-acet-2"/>
          <p:cNvSpPr txBox="1"/>
          <p:nvPr/>
        </p:nvSpPr>
        <p:spPr>
          <a:xfrm>
            <a:off x="2126148" y="4988682"/>
            <a:ext cx="67483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134C9C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-35%</a:t>
            </a:r>
          </a:p>
        </p:txBody>
      </p:sp>
      <p:sp>
        <p:nvSpPr>
          <p:cNvPr id="1447" name="m-d13_pareto-ac-3"/>
          <p:cNvSpPr/>
          <p:nvPr/>
        </p:nvSpPr>
        <p:spPr>
          <a:xfrm>
            <a:off x="1670431" y="5141976"/>
            <a:ext cx="567563" cy="166624"/>
          </a:xfrm>
          <a:custGeom>
            <a:avLst/>
            <a:gdLst/>
            <a:ahLst/>
            <a:cxnLst/>
            <a:rect l="0" t="0" r="r" b="b"/>
            <a:pathLst>
              <a:path w="567563" h="166624">
                <a:moveTo>
                  <a:pt x="23431" y="0"/>
                </a:moveTo>
                <a:lnTo>
                  <a:pt x="544132" y="0"/>
                </a:lnTo>
                <a:cubicBezTo>
                  <a:pt x="557086" y="0"/>
                  <a:pt x="567563" y="10477"/>
                  <a:pt x="567563" y="23432"/>
                </a:cubicBezTo>
                <a:lnTo>
                  <a:pt x="567563" y="143192"/>
                </a:lnTo>
                <a:cubicBezTo>
                  <a:pt x="567563" y="156147"/>
                  <a:pt x="557086" y="166624"/>
                  <a:pt x="544132" y="166624"/>
                </a:cubicBezTo>
                <a:lnTo>
                  <a:pt x="23431" y="166624"/>
                </a:lnTo>
                <a:cubicBezTo>
                  <a:pt x="10477" y="166624"/>
                  <a:pt x="0" y="156147"/>
                  <a:pt x="0" y="143192"/>
                </a:cubicBezTo>
                <a:lnTo>
                  <a:pt x="0" y="23432"/>
                </a:lnTo>
                <a:cubicBezTo>
                  <a:pt x="0" y="10477"/>
                  <a:pt x="10477" y="0"/>
                  <a:pt x="2343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48" name="m-d13_pareto-acb-3"/>
          <p:cNvSpPr/>
          <p:nvPr/>
        </p:nvSpPr>
        <p:spPr>
          <a:xfrm>
            <a:off x="1670431" y="5141976"/>
            <a:ext cx="6477" cy="166624"/>
          </a:xfrm>
          <a:custGeom>
            <a:avLst/>
            <a:gdLst/>
            <a:ahLst/>
            <a:cxnLst/>
            <a:rect l="0" t="0" r="r" b="b"/>
            <a:pathLst>
              <a:path w="6477" h="166624">
                <a:moveTo>
                  <a:pt x="3238" y="0"/>
                </a:moveTo>
                <a:lnTo>
                  <a:pt x="3238" y="0"/>
                </a:lnTo>
                <a:cubicBezTo>
                  <a:pt x="5080" y="0"/>
                  <a:pt x="6477" y="1461"/>
                  <a:pt x="6477" y="3238"/>
                </a:cubicBezTo>
                <a:lnTo>
                  <a:pt x="6477" y="163386"/>
                </a:lnTo>
                <a:cubicBezTo>
                  <a:pt x="6477" y="165163"/>
                  <a:pt x="5080" y="166624"/>
                  <a:pt x="3238" y="166624"/>
                </a:cubicBezTo>
                <a:lnTo>
                  <a:pt x="3238" y="166624"/>
                </a:lnTo>
                <a:cubicBezTo>
                  <a:pt x="1461" y="166624"/>
                  <a:pt x="0" y="165163"/>
                  <a:pt x="0" y="163386"/>
                </a:cubicBezTo>
                <a:lnTo>
                  <a:pt x="0" y="3238"/>
                </a:lnTo>
                <a:cubicBezTo>
                  <a:pt x="0" y="1461"/>
                  <a:pt x="1461" y="0"/>
                  <a:pt x="3238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49" name="m-d13_pareto-icon-gear"/>
          <p:cNvSpPr/>
          <p:nvPr/>
        </p:nvSpPr>
        <p:spPr>
          <a:xfrm>
            <a:off x="1716342" y="5185283"/>
            <a:ext cx="22733" cy="27940"/>
          </a:xfrm>
          <a:custGeom>
            <a:avLst/>
            <a:gdLst/>
            <a:ahLst/>
            <a:cxnLst/>
            <a:rect l="0" t="0" r="r" b="b"/>
            <a:pathLst>
              <a:path w="22733" h="27940">
                <a:moveTo>
                  <a:pt x="11366" y="8826"/>
                </a:moveTo>
                <a:cubicBezTo>
                  <a:pt x="9525" y="8826"/>
                  <a:pt x="7810" y="9779"/>
                  <a:pt x="6858" y="11366"/>
                </a:cubicBezTo>
                <a:cubicBezTo>
                  <a:pt x="5969" y="12954"/>
                  <a:pt x="5969" y="14986"/>
                  <a:pt x="6858" y="16574"/>
                </a:cubicBezTo>
                <a:cubicBezTo>
                  <a:pt x="7810" y="18161"/>
                  <a:pt x="9525" y="19113"/>
                  <a:pt x="11366" y="19113"/>
                </a:cubicBezTo>
                <a:cubicBezTo>
                  <a:pt x="14224" y="19113"/>
                  <a:pt x="16510" y="16827"/>
                  <a:pt x="16510" y="13970"/>
                </a:cubicBezTo>
                <a:cubicBezTo>
                  <a:pt x="16510" y="11112"/>
                  <a:pt x="14224" y="8826"/>
                  <a:pt x="11366" y="8826"/>
                </a:cubicBezTo>
                <a:close/>
                <a:moveTo>
                  <a:pt x="11366" y="0"/>
                </a:moveTo>
                <a:lnTo>
                  <a:pt x="13017" y="3937"/>
                </a:lnTo>
                <a:lnTo>
                  <a:pt x="17272" y="3048"/>
                </a:lnTo>
                <a:lnTo>
                  <a:pt x="18796" y="7112"/>
                </a:lnTo>
                <a:lnTo>
                  <a:pt x="22733" y="8826"/>
                </a:lnTo>
                <a:lnTo>
                  <a:pt x="20955" y="12763"/>
                </a:lnTo>
                <a:lnTo>
                  <a:pt x="22733" y="16700"/>
                </a:lnTo>
                <a:lnTo>
                  <a:pt x="18796" y="18351"/>
                </a:lnTo>
                <a:lnTo>
                  <a:pt x="17272" y="22479"/>
                </a:lnTo>
                <a:lnTo>
                  <a:pt x="13017" y="21590"/>
                </a:lnTo>
                <a:lnTo>
                  <a:pt x="11366" y="27940"/>
                </a:lnTo>
                <a:lnTo>
                  <a:pt x="9715" y="24003"/>
                </a:lnTo>
                <a:lnTo>
                  <a:pt x="5461" y="24892"/>
                </a:lnTo>
                <a:lnTo>
                  <a:pt x="3937" y="20828"/>
                </a:lnTo>
                <a:lnTo>
                  <a:pt x="0" y="19113"/>
                </a:lnTo>
                <a:lnTo>
                  <a:pt x="1778" y="13970"/>
                </a:lnTo>
                <a:lnTo>
                  <a:pt x="0" y="10033"/>
                </a:lnTo>
                <a:lnTo>
                  <a:pt x="3937" y="8318"/>
                </a:lnTo>
                <a:lnTo>
                  <a:pt x="5461" y="4254"/>
                </a:lnTo>
                <a:lnTo>
                  <a:pt x="9715" y="5143"/>
                </a:lnTo>
                <a:close/>
              </a:path>
            </a:pathLst>
          </a:custGeom>
          <a:noFill/>
          <a:ln w="2604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50" name="m-d13_pareto-acn-3"/>
          <p:cNvSpPr txBox="1"/>
          <p:nvPr/>
        </p:nvSpPr>
        <p:spPr>
          <a:xfrm>
            <a:off x="1771291" y="5175906"/>
            <a:ext cx="141761" cy="4783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参数漂移</a:t>
            </a:r>
          </a:p>
        </p:txBody>
      </p:sp>
      <p:sp>
        <p:nvSpPr>
          <p:cNvPr id="1451" name="m-d13_pareto-acp-3"/>
          <p:cNvSpPr txBox="1"/>
          <p:nvPr/>
        </p:nvSpPr>
        <p:spPr>
          <a:xfrm>
            <a:off x="1707062" y="5242025"/>
            <a:ext cx="245835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设备点检周期缩短至班次</a:t>
            </a:r>
          </a:p>
        </p:txBody>
      </p:sp>
      <p:sp>
        <p:nvSpPr>
          <p:cNvPr id="1452" name="m-d13_pareto-ace-3"/>
          <p:cNvSpPr/>
          <p:nvPr/>
        </p:nvSpPr>
        <p:spPr>
          <a:xfrm>
            <a:off x="2107819" y="5181028"/>
            <a:ext cx="104140" cy="44260"/>
          </a:xfrm>
          <a:custGeom>
            <a:avLst/>
            <a:gdLst/>
            <a:ahLst/>
            <a:cxnLst/>
            <a:rect l="0" t="0" r="r" b="b"/>
            <a:pathLst>
              <a:path w="104140" h="44260">
                <a:moveTo>
                  <a:pt x="22098" y="0"/>
                </a:moveTo>
                <a:lnTo>
                  <a:pt x="81979" y="0"/>
                </a:lnTo>
                <a:cubicBezTo>
                  <a:pt x="94234" y="0"/>
                  <a:pt x="104140" y="9906"/>
                  <a:pt x="104140" y="22098"/>
                </a:cubicBezTo>
                <a:lnTo>
                  <a:pt x="104140" y="22098"/>
                </a:lnTo>
                <a:cubicBezTo>
                  <a:pt x="104140" y="34354"/>
                  <a:pt x="94234" y="44260"/>
                  <a:pt x="81979" y="44260"/>
                </a:cubicBezTo>
                <a:lnTo>
                  <a:pt x="22098" y="44260"/>
                </a:lnTo>
                <a:cubicBezTo>
                  <a:pt x="9906" y="44260"/>
                  <a:pt x="0" y="34354"/>
                  <a:pt x="0" y="22098"/>
                </a:cubicBezTo>
                <a:lnTo>
                  <a:pt x="0" y="22098"/>
                </a:lnTo>
                <a:cubicBezTo>
                  <a:pt x="0" y="9906"/>
                  <a:pt x="9906" y="0"/>
                  <a:pt x="22098" y="0"/>
                </a:cubicBezTo>
                <a:close/>
              </a:path>
            </a:pathLst>
          </a:custGeom>
          <a:solidFill>
            <a:srgbClr val="1B5AA8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53" name="m-d13_pareto-acet-3"/>
          <p:cNvSpPr txBox="1"/>
          <p:nvPr/>
        </p:nvSpPr>
        <p:spPr>
          <a:xfrm>
            <a:off x="2126148" y="5183944"/>
            <a:ext cx="67483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-30%</a:t>
            </a:r>
          </a:p>
        </p:txBody>
      </p:sp>
      <p:sp>
        <p:nvSpPr>
          <p:cNvPr id="1454" name="m-d13_pareto-sum"/>
          <p:cNvSpPr/>
          <p:nvPr/>
        </p:nvSpPr>
        <p:spPr>
          <a:xfrm>
            <a:off x="131762" y="5394516"/>
            <a:ext cx="2108835" cy="119761"/>
          </a:xfrm>
          <a:custGeom>
            <a:avLst/>
            <a:gdLst/>
            <a:ahLst/>
            <a:cxnLst/>
            <a:rect l="0" t="0" r="r" b="b"/>
            <a:pathLst>
              <a:path w="2108835" h="119761">
                <a:moveTo>
                  <a:pt x="20828" y="0"/>
                </a:moveTo>
                <a:lnTo>
                  <a:pt x="2088007" y="0"/>
                </a:lnTo>
                <a:cubicBezTo>
                  <a:pt x="2099500" y="0"/>
                  <a:pt x="2108835" y="9335"/>
                  <a:pt x="2108835" y="20828"/>
                </a:cubicBezTo>
                <a:lnTo>
                  <a:pt x="2108835" y="98933"/>
                </a:lnTo>
                <a:cubicBezTo>
                  <a:pt x="2108835" y="110426"/>
                  <a:pt x="2099500" y="119761"/>
                  <a:pt x="2088007" y="119761"/>
                </a:cubicBezTo>
                <a:lnTo>
                  <a:pt x="20828" y="119761"/>
                </a:lnTo>
                <a:cubicBezTo>
                  <a:pt x="9334" y="119761"/>
                  <a:pt x="0" y="110426"/>
                  <a:pt x="0" y="98933"/>
                </a:cubicBezTo>
                <a:lnTo>
                  <a:pt x="0" y="20828"/>
                </a:lnTo>
                <a:cubicBezTo>
                  <a:pt x="0" y="9335"/>
                  <a:pt x="9334" y="0"/>
                  <a:pt x="20828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55" name="m-d13_pareto-sum-bar"/>
          <p:cNvSpPr/>
          <p:nvPr/>
        </p:nvSpPr>
        <p:spPr>
          <a:xfrm>
            <a:off x="131762" y="5394516"/>
            <a:ext cx="6509" cy="119761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56" name="m-d13_pareto-sum-h"/>
          <p:cNvSpPr txBox="1"/>
          <p:nvPr/>
        </p:nvSpPr>
        <p:spPr>
          <a:xfrm>
            <a:off x="170451" y="5416040"/>
            <a:ext cx="158944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帕累托判断</a:t>
            </a:r>
          </a:p>
        </p:txBody>
      </p:sp>
      <p:sp>
        <p:nvSpPr>
          <p:cNvPr id="1457" name="m-d13_pareto-sum-p"/>
          <p:cNvSpPr txBox="1"/>
          <p:nvPr/>
        </p:nvSpPr>
        <p:spPr>
          <a:xfrm>
            <a:off x="170685" y="5460107"/>
            <a:ext cx="112868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前三类缺陷占 76%，集中资源攻这三项即可覆盖四分之三的质量损失；后五类合计 24%，按季度批量处理。</a:t>
            </a:r>
          </a:p>
        </p:txBody>
      </p:sp>
      <p:sp>
        <p:nvSpPr>
          <p:cNvPr id="1458" name="m-d13_pareto-sv-1"/>
          <p:cNvSpPr txBox="1"/>
          <p:nvPr/>
        </p:nvSpPr>
        <p:spPr>
          <a:xfrm>
            <a:off x="1626549" y="5418416"/>
            <a:ext cx="82557" cy="546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5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832</a:t>
            </a:r>
          </a:p>
        </p:txBody>
      </p:sp>
      <p:sp>
        <p:nvSpPr>
          <p:cNvPr id="1459" name="m-d13_pareto-sl-1"/>
          <p:cNvSpPr txBox="1"/>
          <p:nvPr/>
        </p:nvSpPr>
        <p:spPr>
          <a:xfrm>
            <a:off x="1622136" y="5470941"/>
            <a:ext cx="9138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问题总数</a:t>
            </a:r>
          </a:p>
        </p:txBody>
      </p:sp>
      <p:sp>
        <p:nvSpPr>
          <p:cNvPr id="1460" name="m-d13_pareto-sv-2"/>
          <p:cNvSpPr txBox="1"/>
          <p:nvPr/>
        </p:nvSpPr>
        <p:spPr>
          <a:xfrm>
            <a:off x="1816683" y="5418416"/>
            <a:ext cx="118850" cy="546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5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 / 8</a:t>
            </a:r>
          </a:p>
        </p:txBody>
      </p:sp>
      <p:sp>
        <p:nvSpPr>
          <p:cNvPr id="1461" name="m-d13_pareto-sl-2"/>
          <p:cNvSpPr txBox="1"/>
          <p:nvPr/>
        </p:nvSpPr>
        <p:spPr>
          <a:xfrm>
            <a:off x="1830416" y="5470941"/>
            <a:ext cx="9138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关键类别</a:t>
            </a:r>
          </a:p>
        </p:txBody>
      </p:sp>
      <p:sp>
        <p:nvSpPr>
          <p:cNvPr id="1462" name="m-d13_pareto-sv-3"/>
          <p:cNvSpPr txBox="1"/>
          <p:nvPr/>
        </p:nvSpPr>
        <p:spPr>
          <a:xfrm>
            <a:off x="2043109" y="5418416"/>
            <a:ext cx="82557" cy="546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50" b="1" i="0" u="none" strike="noStrike" kern="1200" cap="none" spc="5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76%</a:t>
            </a:r>
          </a:p>
        </p:txBody>
      </p:sp>
      <p:sp>
        <p:nvSpPr>
          <p:cNvPr id="1463" name="m-d13_pareto-sl-3"/>
          <p:cNvSpPr txBox="1"/>
          <p:nvPr/>
        </p:nvSpPr>
        <p:spPr>
          <a:xfrm>
            <a:off x="2038696" y="5470941"/>
            <a:ext cx="9138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累计占比</a:t>
            </a:r>
          </a:p>
        </p:txBody>
      </p:sp>
      <p:cxnSp>
        <p:nvCxnSpPr>
          <p:cNvPr id="1464" name="m-d13_pareto-foot-line"/>
          <p:cNvCxnSpPr/>
          <p:nvPr/>
        </p:nvCxnSpPr>
        <p:spPr>
          <a:xfrm>
            <a:off x="56261" y="55923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65" name="m-d13_pareto-foot-l"/>
          <p:cNvSpPr txBox="1"/>
          <p:nvPr/>
        </p:nvSpPr>
        <p:spPr>
          <a:xfrm>
            <a:off x="54074" y="5606323"/>
            <a:ext cx="19411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帕累托 · 八类缺陷</a:t>
            </a:r>
          </a:p>
        </p:txBody>
      </p:sp>
      <p:sp>
        <p:nvSpPr>
          <p:cNvPr id="1466" name="m-d13_pareto-foot-r"/>
          <p:cNvSpPr txBox="1"/>
          <p:nvPr/>
        </p:nvSpPr>
        <p:spPr>
          <a:xfrm>
            <a:off x="2058509" y="56063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1467" name="mini-card-c27_price_tiers"/>
          <p:cNvSpPr/>
          <p:nvPr/>
        </p:nvSpPr>
        <p:spPr>
          <a:xfrm>
            <a:off x="2552700" y="42672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0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0" y="1405890"/>
                </a:lnTo>
                <a:cubicBezTo>
                  <a:pt x="35877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7"/>
                  <a:pt x="35877" y="0"/>
                  <a:pt x="80200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68" name="m-c27_price_tiers-title-bar"/>
          <p:cNvSpPr/>
          <p:nvPr/>
        </p:nvSpPr>
        <p:spPr>
          <a:xfrm>
            <a:off x="2672461" y="43661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69" name="m-c27_price_tiers-title-bar-accent"/>
          <p:cNvSpPr/>
          <p:nvPr/>
        </p:nvSpPr>
        <p:spPr>
          <a:xfrm>
            <a:off x="2672461" y="43661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70" name="m-c27_price_tiers-title-cn"/>
          <p:cNvSpPr txBox="1"/>
          <p:nvPr/>
        </p:nvSpPr>
        <p:spPr>
          <a:xfrm>
            <a:off x="2704640" y="4348768"/>
            <a:ext cx="426453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三档订阅方案</a:t>
            </a:r>
          </a:p>
        </p:txBody>
      </p:sp>
      <p:sp>
        <p:nvSpPr>
          <p:cNvPr id="1471" name="m-c27_price_tiers-title-en"/>
          <p:cNvSpPr txBox="1"/>
          <p:nvPr/>
        </p:nvSpPr>
        <p:spPr>
          <a:xfrm>
            <a:off x="2711930" y="4436050"/>
            <a:ext cx="25907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PRICING TIERS</a:t>
            </a:r>
          </a:p>
        </p:txBody>
      </p:sp>
      <p:sp>
        <p:nvSpPr>
          <p:cNvPr id="1472" name="m-c27_price_tiers-title-sub"/>
          <p:cNvSpPr txBox="1"/>
          <p:nvPr/>
        </p:nvSpPr>
        <p:spPr>
          <a:xfrm>
            <a:off x="4284210" y="4405192"/>
            <a:ext cx="650745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按团队规模选择，年付享 8 折——超过七成客户选择了专业版</a:t>
            </a:r>
          </a:p>
        </p:txBody>
      </p:sp>
      <p:sp>
        <p:nvSpPr>
          <p:cNvPr id="1473" name="m-c27_price_tiers-card-1"/>
          <p:cNvSpPr/>
          <p:nvPr/>
        </p:nvSpPr>
        <p:spPr>
          <a:xfrm>
            <a:off x="2747962" y="4592638"/>
            <a:ext cx="680847" cy="898208"/>
          </a:xfrm>
          <a:custGeom>
            <a:avLst/>
            <a:gdLst/>
            <a:ahLst/>
            <a:cxnLst/>
            <a:rect l="0" t="0" r="r" b="b"/>
            <a:pathLst>
              <a:path w="680847" h="898208">
                <a:moveTo>
                  <a:pt x="33845" y="0"/>
                </a:moveTo>
                <a:lnTo>
                  <a:pt x="646938" y="0"/>
                </a:lnTo>
                <a:cubicBezTo>
                  <a:pt x="665671" y="0"/>
                  <a:pt x="680847" y="15176"/>
                  <a:pt x="680847" y="33846"/>
                </a:cubicBezTo>
                <a:lnTo>
                  <a:pt x="680847" y="864362"/>
                </a:lnTo>
                <a:cubicBezTo>
                  <a:pt x="680847" y="883031"/>
                  <a:pt x="665671" y="898208"/>
                  <a:pt x="646938" y="898208"/>
                </a:cubicBezTo>
                <a:lnTo>
                  <a:pt x="33845" y="898208"/>
                </a:lnTo>
                <a:cubicBezTo>
                  <a:pt x="15176" y="898208"/>
                  <a:pt x="0" y="883031"/>
                  <a:pt x="0" y="864362"/>
                </a:cubicBezTo>
                <a:lnTo>
                  <a:pt x="0" y="33846"/>
                </a:lnTo>
                <a:cubicBezTo>
                  <a:pt x="0" y="15176"/>
                  <a:pt x="15176" y="0"/>
                  <a:pt x="3384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74" name="m-c27_price_tiers-en-1"/>
          <p:cNvSpPr txBox="1"/>
          <p:nvPr/>
        </p:nvSpPr>
        <p:spPr>
          <a:xfrm>
            <a:off x="2797846" y="4650839"/>
            <a:ext cx="93466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41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BASIC</a:t>
            </a:r>
          </a:p>
        </p:txBody>
      </p:sp>
      <p:sp>
        <p:nvSpPr>
          <p:cNvPr id="1475" name="m-c27_price_tiers-nm-1"/>
          <p:cNvSpPr txBox="1"/>
          <p:nvPr/>
        </p:nvSpPr>
        <p:spPr>
          <a:xfrm>
            <a:off x="2795034" y="4684385"/>
            <a:ext cx="178079" cy="7289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3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基础版</a:t>
            </a:r>
          </a:p>
        </p:txBody>
      </p:sp>
      <p:sp>
        <p:nvSpPr>
          <p:cNvPr id="1476" name="m-c27_price_tiers-who-1"/>
          <p:cNvSpPr txBox="1"/>
          <p:nvPr/>
        </p:nvSpPr>
        <p:spPr>
          <a:xfrm>
            <a:off x="2797299" y="4754559"/>
            <a:ext cx="137660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小团队起步</a:t>
            </a:r>
          </a:p>
        </p:txBody>
      </p:sp>
      <p:sp>
        <p:nvSpPr>
          <p:cNvPr id="1477" name="m-c27_price_tiers-cur-1"/>
          <p:cNvSpPr txBox="1"/>
          <p:nvPr/>
        </p:nvSpPr>
        <p:spPr>
          <a:xfrm>
            <a:off x="2795659" y="4860043"/>
            <a:ext cx="53216" cy="6378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9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¥</a:t>
            </a:r>
          </a:p>
        </p:txBody>
      </p:sp>
      <p:sp>
        <p:nvSpPr>
          <p:cNvPr id="1478" name="m-c27_price_tiers-pr-1"/>
          <p:cNvSpPr txBox="1"/>
          <p:nvPr/>
        </p:nvSpPr>
        <p:spPr>
          <a:xfrm>
            <a:off x="2822631" y="4789306"/>
            <a:ext cx="189327" cy="16402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74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99</a:t>
            </a:r>
          </a:p>
        </p:txBody>
      </p:sp>
      <p:sp>
        <p:nvSpPr>
          <p:cNvPr id="1479" name="m-c27_price_tiers-pru-1"/>
          <p:cNvSpPr txBox="1"/>
          <p:nvPr/>
        </p:nvSpPr>
        <p:spPr>
          <a:xfrm>
            <a:off x="2961554" y="4879335"/>
            <a:ext cx="155898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元 / 人 / 月</a:t>
            </a:r>
          </a:p>
        </p:txBody>
      </p:sp>
      <p:cxnSp>
        <p:nvCxnSpPr>
          <p:cNvPr id="1480" name="m-c27_price_tiers-sep-1"/>
          <p:cNvCxnSpPr/>
          <p:nvPr/>
        </p:nvCxnSpPr>
        <p:spPr>
          <a:xfrm>
            <a:off x="2800032" y="4957128"/>
            <a:ext cx="576676" cy="0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81" name="m-c27_price_tiers-ok-1-5 个账号"/>
          <p:cNvSpPr/>
          <p:nvPr/>
        </p:nvSpPr>
        <p:spPr>
          <a:xfrm>
            <a:off x="2803938" y="4994878"/>
            <a:ext cx="28638" cy="28638"/>
          </a:xfrm>
          <a:prstGeom prst="ellipse">
            <a:avLst/>
          </a:prstGeom>
          <a:solidFill>
            <a:srgbClr val="3985CD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82" name="m-c27_price_tiers-okc-1-5 个账号"/>
          <p:cNvSpPr/>
          <p:nvPr/>
        </p:nvSpPr>
        <p:spPr>
          <a:xfrm>
            <a:off x="2810446" y="5002720"/>
            <a:ext cx="15621" cy="11684"/>
          </a:xfrm>
          <a:custGeom>
            <a:avLst/>
            <a:gdLst/>
            <a:ahLst/>
            <a:cxnLst/>
            <a:rect l="0" t="0" r="r" b="b"/>
            <a:pathLst>
              <a:path w="15621" h="11684">
                <a:moveTo>
                  <a:pt x="0" y="6477"/>
                </a:moveTo>
                <a:lnTo>
                  <a:pt x="5207" y="11684"/>
                </a:lnTo>
                <a:lnTo>
                  <a:pt x="15621" y="0"/>
                </a:lnTo>
              </a:path>
            </a:pathLst>
          </a:custGeom>
          <a:noFill/>
          <a:ln w="3124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83" name="m-c27_price_tiers-inc-1-5 个账号"/>
          <p:cNvSpPr txBox="1"/>
          <p:nvPr/>
        </p:nvSpPr>
        <p:spPr>
          <a:xfrm>
            <a:off x="2846687" y="4988070"/>
            <a:ext cx="12023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5 个账号</a:t>
            </a:r>
          </a:p>
        </p:txBody>
      </p:sp>
      <p:sp>
        <p:nvSpPr>
          <p:cNvPr id="1484" name="m-c27_price_tiers-ok-1-基础模板 300+"/>
          <p:cNvSpPr/>
          <p:nvPr/>
        </p:nvSpPr>
        <p:spPr>
          <a:xfrm>
            <a:off x="2803938" y="5054759"/>
            <a:ext cx="28638" cy="28638"/>
          </a:xfrm>
          <a:prstGeom prst="ellipse">
            <a:avLst/>
          </a:prstGeom>
          <a:solidFill>
            <a:srgbClr val="3985CD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85" name="m-c27_price_tiers-okc-1-基础模板 300+"/>
          <p:cNvSpPr/>
          <p:nvPr/>
        </p:nvSpPr>
        <p:spPr>
          <a:xfrm>
            <a:off x="2810446" y="5062538"/>
            <a:ext cx="15621" cy="11748"/>
          </a:xfrm>
          <a:custGeom>
            <a:avLst/>
            <a:gdLst/>
            <a:ahLst/>
            <a:cxnLst/>
            <a:rect l="0" t="0" r="r" b="b"/>
            <a:pathLst>
              <a:path w="15621" h="11748">
                <a:moveTo>
                  <a:pt x="0" y="6540"/>
                </a:moveTo>
                <a:lnTo>
                  <a:pt x="5207" y="11748"/>
                </a:lnTo>
                <a:lnTo>
                  <a:pt x="15621" y="0"/>
                </a:lnTo>
              </a:path>
            </a:pathLst>
          </a:custGeom>
          <a:noFill/>
          <a:ln w="3124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86" name="m-c27_price_tiers-inc-1-基础模板 300+"/>
          <p:cNvSpPr txBox="1"/>
          <p:nvPr/>
        </p:nvSpPr>
        <p:spPr>
          <a:xfrm>
            <a:off x="2846687" y="5047951"/>
            <a:ext cx="185109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基础模板 300+</a:t>
            </a:r>
          </a:p>
        </p:txBody>
      </p:sp>
      <p:sp>
        <p:nvSpPr>
          <p:cNvPr id="1487" name="m-c27_price_tiers-ok-1-10 GB 存储"/>
          <p:cNvSpPr/>
          <p:nvPr/>
        </p:nvSpPr>
        <p:spPr>
          <a:xfrm>
            <a:off x="2803938" y="5114639"/>
            <a:ext cx="28638" cy="28638"/>
          </a:xfrm>
          <a:prstGeom prst="ellipse">
            <a:avLst/>
          </a:prstGeom>
          <a:solidFill>
            <a:srgbClr val="3985CD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88" name="m-c27_price_tiers-okc-1-10 GB 存储"/>
          <p:cNvSpPr/>
          <p:nvPr/>
        </p:nvSpPr>
        <p:spPr>
          <a:xfrm>
            <a:off x="2810446" y="5122418"/>
            <a:ext cx="15621" cy="11748"/>
          </a:xfrm>
          <a:custGeom>
            <a:avLst/>
            <a:gdLst/>
            <a:ahLst/>
            <a:cxnLst/>
            <a:rect l="0" t="0" r="r" b="b"/>
            <a:pathLst>
              <a:path w="15621" h="11748">
                <a:moveTo>
                  <a:pt x="0" y="6541"/>
                </a:moveTo>
                <a:lnTo>
                  <a:pt x="5207" y="11748"/>
                </a:lnTo>
                <a:lnTo>
                  <a:pt x="15621" y="0"/>
                </a:lnTo>
              </a:path>
            </a:pathLst>
          </a:custGeom>
          <a:noFill/>
          <a:ln w="3124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89" name="m-c27_price_tiers-inc-1-10 GB 存储"/>
          <p:cNvSpPr txBox="1"/>
          <p:nvPr/>
        </p:nvSpPr>
        <p:spPr>
          <a:xfrm>
            <a:off x="2846687" y="5107831"/>
            <a:ext cx="150847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10 GB 存储</a:t>
            </a:r>
          </a:p>
        </p:txBody>
      </p:sp>
      <p:sp>
        <p:nvSpPr>
          <p:cNvPr id="1490" name="m-c27_price_tiers-ok-1-邮件支持"/>
          <p:cNvSpPr/>
          <p:nvPr/>
        </p:nvSpPr>
        <p:spPr>
          <a:xfrm>
            <a:off x="2803938" y="5174520"/>
            <a:ext cx="28638" cy="28638"/>
          </a:xfrm>
          <a:prstGeom prst="ellipse">
            <a:avLst/>
          </a:prstGeom>
          <a:solidFill>
            <a:srgbClr val="3985CD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91" name="m-c27_price_tiers-okc-1-邮件支持"/>
          <p:cNvSpPr/>
          <p:nvPr/>
        </p:nvSpPr>
        <p:spPr>
          <a:xfrm>
            <a:off x="2810446" y="5182362"/>
            <a:ext cx="15621" cy="11684"/>
          </a:xfrm>
          <a:custGeom>
            <a:avLst/>
            <a:gdLst/>
            <a:ahLst/>
            <a:cxnLst/>
            <a:rect l="0" t="0" r="r" b="b"/>
            <a:pathLst>
              <a:path w="15621" h="11684">
                <a:moveTo>
                  <a:pt x="0" y="6477"/>
                </a:moveTo>
                <a:lnTo>
                  <a:pt x="5207" y="11684"/>
                </a:lnTo>
                <a:lnTo>
                  <a:pt x="15621" y="0"/>
                </a:lnTo>
              </a:path>
            </a:pathLst>
          </a:custGeom>
          <a:noFill/>
          <a:ln w="3124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92" name="m-c27_price_tiers-inc-1-邮件支持"/>
          <p:cNvSpPr txBox="1"/>
          <p:nvPr/>
        </p:nvSpPr>
        <p:spPr>
          <a:xfrm>
            <a:off x="2846687" y="5167712"/>
            <a:ext cx="116897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邮件支持</a:t>
            </a:r>
          </a:p>
        </p:txBody>
      </p:sp>
      <p:cxnSp>
        <p:nvCxnSpPr>
          <p:cNvPr id="1493" name="m-c27_price_tiers-no-1-数据分析看板"/>
          <p:cNvCxnSpPr/>
          <p:nvPr/>
        </p:nvCxnSpPr>
        <p:spPr>
          <a:xfrm>
            <a:off x="2810446" y="5248720"/>
            <a:ext cx="15622" cy="0"/>
          </a:xfrm>
          <a:prstGeom prst="line">
            <a:avLst/>
          </a:prstGeom>
          <a:ln w="2604" cap="rnd">
            <a:solidFill>
              <a:srgbClr val="0B2545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94" name="m-c27_price_tiers-exc-1-数据分析看板"/>
          <p:cNvSpPr txBox="1"/>
          <p:nvPr/>
        </p:nvSpPr>
        <p:spPr>
          <a:xfrm>
            <a:off x="2846687" y="5227592"/>
            <a:ext cx="164802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数据分析看板</a:t>
            </a:r>
          </a:p>
        </p:txBody>
      </p:sp>
      <p:cxnSp>
        <p:nvCxnSpPr>
          <p:cNvPr id="1495" name="m-c27_price_tiers-no-1-专属客户经理"/>
          <p:cNvCxnSpPr/>
          <p:nvPr/>
        </p:nvCxnSpPr>
        <p:spPr>
          <a:xfrm>
            <a:off x="2810446" y="5308600"/>
            <a:ext cx="15622" cy="0"/>
          </a:xfrm>
          <a:prstGeom prst="line">
            <a:avLst/>
          </a:prstGeom>
          <a:ln w="2604" cap="rnd">
            <a:solidFill>
              <a:srgbClr val="0B2545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96" name="m-c27_price_tiers-exc-1-专属客户经理"/>
          <p:cNvSpPr txBox="1"/>
          <p:nvPr/>
        </p:nvSpPr>
        <p:spPr>
          <a:xfrm>
            <a:off x="2846687" y="5287473"/>
            <a:ext cx="164802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专属客户经理</a:t>
            </a:r>
          </a:p>
        </p:txBody>
      </p:sp>
      <p:sp>
        <p:nvSpPr>
          <p:cNvPr id="1497" name="m-c27_price_tiers-sh-1"/>
          <p:cNvSpPr/>
          <p:nvPr/>
        </p:nvSpPr>
        <p:spPr>
          <a:xfrm>
            <a:off x="2787015" y="5355463"/>
            <a:ext cx="602742" cy="96329"/>
          </a:xfrm>
          <a:custGeom>
            <a:avLst/>
            <a:gdLst/>
            <a:ahLst/>
            <a:cxnLst/>
            <a:rect l="0" t="0" r="r" b="b"/>
            <a:pathLst>
              <a:path w="602742" h="96329">
                <a:moveTo>
                  <a:pt x="23431" y="0"/>
                </a:moveTo>
                <a:lnTo>
                  <a:pt x="579247" y="0"/>
                </a:lnTo>
                <a:cubicBezTo>
                  <a:pt x="592201" y="0"/>
                  <a:pt x="602742" y="10477"/>
                  <a:pt x="602742" y="23432"/>
                </a:cubicBezTo>
                <a:lnTo>
                  <a:pt x="602742" y="72898"/>
                </a:lnTo>
                <a:cubicBezTo>
                  <a:pt x="602742" y="85852"/>
                  <a:pt x="592201" y="96329"/>
                  <a:pt x="579247" y="96329"/>
                </a:cubicBezTo>
                <a:lnTo>
                  <a:pt x="23431" y="96329"/>
                </a:lnTo>
                <a:cubicBezTo>
                  <a:pt x="10478" y="96329"/>
                  <a:pt x="0" y="85852"/>
                  <a:pt x="0" y="72898"/>
                </a:cubicBezTo>
                <a:lnTo>
                  <a:pt x="0" y="23432"/>
                </a:lnTo>
                <a:cubicBezTo>
                  <a:pt x="0" y="10477"/>
                  <a:pt x="10478" y="0"/>
                  <a:pt x="23431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98" name="m-c27_price_tiers-shl-1"/>
          <p:cNvSpPr txBox="1"/>
          <p:nvPr/>
        </p:nvSpPr>
        <p:spPr>
          <a:xfrm>
            <a:off x="2818361" y="5389621"/>
            <a:ext cx="151524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客户选择占比</a:t>
            </a:r>
          </a:p>
        </p:txBody>
      </p:sp>
      <p:sp>
        <p:nvSpPr>
          <p:cNvPr id="1499" name="m-c27_price_tiers-shv-1"/>
          <p:cNvSpPr txBox="1"/>
          <p:nvPr/>
        </p:nvSpPr>
        <p:spPr>
          <a:xfrm>
            <a:off x="3253406" y="5369105"/>
            <a:ext cx="107472" cy="7289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3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18%</a:t>
            </a:r>
          </a:p>
        </p:txBody>
      </p:sp>
      <p:sp>
        <p:nvSpPr>
          <p:cNvPr id="1500" name="m-c27_price_tiers-card-2"/>
          <p:cNvSpPr/>
          <p:nvPr/>
        </p:nvSpPr>
        <p:spPr>
          <a:xfrm>
            <a:off x="3461322" y="4548378"/>
            <a:ext cx="680783" cy="986726"/>
          </a:xfrm>
          <a:custGeom>
            <a:avLst/>
            <a:gdLst/>
            <a:ahLst/>
            <a:cxnLst/>
            <a:rect l="0" t="0" r="r" b="b"/>
            <a:pathLst>
              <a:path w="680783" h="986726">
                <a:moveTo>
                  <a:pt x="33845" y="0"/>
                </a:moveTo>
                <a:lnTo>
                  <a:pt x="647001" y="0"/>
                </a:lnTo>
                <a:cubicBezTo>
                  <a:pt x="665670" y="0"/>
                  <a:pt x="680783" y="15176"/>
                  <a:pt x="680783" y="33846"/>
                </a:cubicBezTo>
                <a:lnTo>
                  <a:pt x="680783" y="952881"/>
                </a:lnTo>
                <a:cubicBezTo>
                  <a:pt x="680783" y="971550"/>
                  <a:pt x="665670" y="986726"/>
                  <a:pt x="647001" y="986726"/>
                </a:cubicBezTo>
                <a:lnTo>
                  <a:pt x="33845" y="986726"/>
                </a:lnTo>
                <a:cubicBezTo>
                  <a:pt x="15176" y="986726"/>
                  <a:pt x="0" y="971550"/>
                  <a:pt x="0" y="952881"/>
                </a:cubicBezTo>
                <a:lnTo>
                  <a:pt x="0" y="33846"/>
                </a:lnTo>
                <a:cubicBezTo>
                  <a:pt x="0" y="15176"/>
                  <a:pt x="15176" y="0"/>
                  <a:pt x="33845" y="0"/>
                </a:cubicBezTo>
                <a:close/>
              </a:path>
            </a:pathLst>
          </a:custGeom>
          <a:gradFill rotWithShape="1">
            <a:gsLst>
              <a:gs pos="0">
                <a:srgbClr val="1E62B2"/>
              </a:gs>
              <a:gs pos="100000">
                <a:srgbClr val="0A3A88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01" name="m-c27_price_tiers-hot"/>
          <p:cNvSpPr/>
          <p:nvPr/>
        </p:nvSpPr>
        <p:spPr>
          <a:xfrm>
            <a:off x="3946842" y="4587430"/>
            <a:ext cx="156210" cy="44260"/>
          </a:xfrm>
          <a:custGeom>
            <a:avLst/>
            <a:gdLst/>
            <a:ahLst/>
            <a:cxnLst/>
            <a:rect l="0" t="0" r="r" b="b"/>
            <a:pathLst>
              <a:path w="156210" h="44260">
                <a:moveTo>
                  <a:pt x="22162" y="0"/>
                </a:moveTo>
                <a:lnTo>
                  <a:pt x="134112" y="0"/>
                </a:lnTo>
                <a:cubicBezTo>
                  <a:pt x="146304" y="0"/>
                  <a:pt x="156210" y="9906"/>
                  <a:pt x="156210" y="22098"/>
                </a:cubicBezTo>
                <a:lnTo>
                  <a:pt x="156210" y="22098"/>
                </a:lnTo>
                <a:cubicBezTo>
                  <a:pt x="156210" y="34354"/>
                  <a:pt x="146304" y="44260"/>
                  <a:pt x="134112" y="44260"/>
                </a:cubicBezTo>
                <a:lnTo>
                  <a:pt x="22162" y="44260"/>
                </a:lnTo>
                <a:cubicBezTo>
                  <a:pt x="9970" y="44260"/>
                  <a:pt x="0" y="34354"/>
                  <a:pt x="0" y="22098"/>
                </a:cubicBezTo>
                <a:lnTo>
                  <a:pt x="0" y="22098"/>
                </a:lnTo>
                <a:cubicBezTo>
                  <a:pt x="0" y="9906"/>
                  <a:pt x="9970" y="0"/>
                  <a:pt x="22162" y="0"/>
                </a:cubicBezTo>
                <a:close/>
              </a:path>
            </a:pathLst>
          </a:cu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02" name="m-c27_price_tiers-hot-t"/>
          <p:cNvSpPr txBox="1"/>
          <p:nvPr/>
        </p:nvSpPr>
        <p:spPr>
          <a:xfrm>
            <a:off x="3973235" y="4593256"/>
            <a:ext cx="103489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1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最受欢迎</a:t>
            </a:r>
          </a:p>
        </p:txBody>
      </p:sp>
      <p:sp>
        <p:nvSpPr>
          <p:cNvPr id="1503" name="m-c27_price_tiers-en-2"/>
          <p:cNvSpPr txBox="1"/>
          <p:nvPr/>
        </p:nvSpPr>
        <p:spPr>
          <a:xfrm>
            <a:off x="3511205" y="4606579"/>
            <a:ext cx="62640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41" normalizeH="0" baseline="0" noProof="0">
                <a:ln>
                  <a:noFill/>
                </a:ln>
                <a:solidFill>
                  <a:srgbClr val="CFE0F4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PRO</a:t>
            </a:r>
          </a:p>
        </p:txBody>
      </p:sp>
      <p:sp>
        <p:nvSpPr>
          <p:cNvPr id="1504" name="m-c27_price_tiers-nm-2"/>
          <p:cNvSpPr txBox="1"/>
          <p:nvPr/>
        </p:nvSpPr>
        <p:spPr>
          <a:xfrm>
            <a:off x="3508393" y="4640125"/>
            <a:ext cx="178079" cy="7289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30" b="1" i="0" u="none" strike="noStrike" kern="1200" cap="none" spc="41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专业版</a:t>
            </a:r>
          </a:p>
        </p:txBody>
      </p:sp>
      <p:sp>
        <p:nvSpPr>
          <p:cNvPr id="1505" name="m-c27_price_tiers-who-2"/>
          <p:cNvSpPr txBox="1"/>
          <p:nvPr/>
        </p:nvSpPr>
        <p:spPr>
          <a:xfrm>
            <a:off x="3510658" y="4710299"/>
            <a:ext cx="184523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CFE0F4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成长型企业首选</a:t>
            </a:r>
          </a:p>
        </p:txBody>
      </p:sp>
      <p:sp>
        <p:nvSpPr>
          <p:cNvPr id="1506" name="m-c27_price_tiers-cur-2"/>
          <p:cNvSpPr txBox="1"/>
          <p:nvPr/>
        </p:nvSpPr>
        <p:spPr>
          <a:xfrm>
            <a:off x="3509018" y="4815783"/>
            <a:ext cx="53216" cy="6378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9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¥</a:t>
            </a:r>
          </a:p>
        </p:txBody>
      </p:sp>
      <p:sp>
        <p:nvSpPr>
          <p:cNvPr id="1507" name="m-c27_price_tiers-pr-2"/>
          <p:cNvSpPr txBox="1"/>
          <p:nvPr/>
        </p:nvSpPr>
        <p:spPr>
          <a:xfrm>
            <a:off x="3535990" y="4745046"/>
            <a:ext cx="241813" cy="16402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74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299</a:t>
            </a:r>
          </a:p>
        </p:txBody>
      </p:sp>
      <p:sp>
        <p:nvSpPr>
          <p:cNvPr id="1508" name="m-c27_price_tiers-pru-2"/>
          <p:cNvSpPr txBox="1"/>
          <p:nvPr/>
        </p:nvSpPr>
        <p:spPr>
          <a:xfrm>
            <a:off x="3732190" y="4835075"/>
            <a:ext cx="155898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CFE0F4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元 / 人 / 月</a:t>
            </a:r>
          </a:p>
        </p:txBody>
      </p:sp>
      <p:cxnSp>
        <p:nvCxnSpPr>
          <p:cNvPr id="1509" name="m-c27_price_tiers-sep-2"/>
          <p:cNvCxnSpPr/>
          <p:nvPr/>
        </p:nvCxnSpPr>
        <p:spPr>
          <a:xfrm>
            <a:off x="3513392" y="4912868"/>
            <a:ext cx="576675" cy="0"/>
          </a:xfrm>
          <a:prstGeom prst="line">
            <a:avLst/>
          </a:prstGeom>
          <a:ln w="2540" cap="rnd">
            <a:solidFill>
              <a:srgbClr val="FFFFFF">
                <a:alpha val="2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10" name="m-c27_price_tiers-ok-2-30 个账号"/>
          <p:cNvSpPr/>
          <p:nvPr/>
        </p:nvSpPr>
        <p:spPr>
          <a:xfrm>
            <a:off x="3517297" y="4950619"/>
            <a:ext cx="28638" cy="28638"/>
          </a:xfrm>
          <a:prstGeom prst="ellipse">
            <a:avLst/>
          </a:pr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11" name="m-c27_price_tiers-okc-2-30 个账号"/>
          <p:cNvSpPr/>
          <p:nvPr/>
        </p:nvSpPr>
        <p:spPr>
          <a:xfrm>
            <a:off x="3523805" y="4958461"/>
            <a:ext cx="15621" cy="11684"/>
          </a:xfrm>
          <a:custGeom>
            <a:avLst/>
            <a:gdLst/>
            <a:ahLst/>
            <a:cxnLst/>
            <a:rect l="0" t="0" r="r" b="b"/>
            <a:pathLst>
              <a:path w="15621" h="11684">
                <a:moveTo>
                  <a:pt x="0" y="6477"/>
                </a:moveTo>
                <a:lnTo>
                  <a:pt x="5207" y="11684"/>
                </a:lnTo>
                <a:lnTo>
                  <a:pt x="15621" y="0"/>
                </a:lnTo>
              </a:path>
            </a:pathLst>
          </a:custGeom>
          <a:noFill/>
          <a:ln w="312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12" name="m-c27_price_tiers-inc-2-30 个账号"/>
          <p:cNvSpPr txBox="1"/>
          <p:nvPr/>
        </p:nvSpPr>
        <p:spPr>
          <a:xfrm>
            <a:off x="3560046" y="4943811"/>
            <a:ext cx="133872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30 个账号</a:t>
            </a:r>
          </a:p>
        </p:txBody>
      </p:sp>
      <p:sp>
        <p:nvSpPr>
          <p:cNvPr id="1513" name="m-c27_price_tiers-ok-2-全部模板 2,000+"/>
          <p:cNvSpPr/>
          <p:nvPr/>
        </p:nvSpPr>
        <p:spPr>
          <a:xfrm>
            <a:off x="3517297" y="5010499"/>
            <a:ext cx="28638" cy="28638"/>
          </a:xfrm>
          <a:prstGeom prst="ellipse">
            <a:avLst/>
          </a:pr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14" name="m-c27_price_tiers-okc-2-全部模板 2,000+"/>
          <p:cNvSpPr/>
          <p:nvPr/>
        </p:nvSpPr>
        <p:spPr>
          <a:xfrm>
            <a:off x="3523805" y="5018278"/>
            <a:ext cx="15621" cy="11748"/>
          </a:xfrm>
          <a:custGeom>
            <a:avLst/>
            <a:gdLst/>
            <a:ahLst/>
            <a:cxnLst/>
            <a:rect l="0" t="0" r="r" b="b"/>
            <a:pathLst>
              <a:path w="15621" h="11748">
                <a:moveTo>
                  <a:pt x="0" y="6540"/>
                </a:moveTo>
                <a:lnTo>
                  <a:pt x="5207" y="11748"/>
                </a:lnTo>
                <a:lnTo>
                  <a:pt x="15621" y="0"/>
                </a:lnTo>
              </a:path>
            </a:pathLst>
          </a:custGeom>
          <a:noFill/>
          <a:ln w="312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15" name="m-c27_price_tiers-inc-2-全部模板 2,000+"/>
          <p:cNvSpPr txBox="1"/>
          <p:nvPr/>
        </p:nvSpPr>
        <p:spPr>
          <a:xfrm>
            <a:off x="3560046" y="5003691"/>
            <a:ext cx="212394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全部模板 2,000+</a:t>
            </a:r>
          </a:p>
        </p:txBody>
      </p:sp>
      <p:sp>
        <p:nvSpPr>
          <p:cNvPr id="1516" name="m-c27_price_tiers-ok-2-200 GB 存储"/>
          <p:cNvSpPr/>
          <p:nvPr/>
        </p:nvSpPr>
        <p:spPr>
          <a:xfrm>
            <a:off x="3517297" y="5070380"/>
            <a:ext cx="28638" cy="28638"/>
          </a:xfrm>
          <a:prstGeom prst="ellipse">
            <a:avLst/>
          </a:pr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17" name="m-c27_price_tiers-okc-2-200 GB 存储"/>
          <p:cNvSpPr/>
          <p:nvPr/>
        </p:nvSpPr>
        <p:spPr>
          <a:xfrm>
            <a:off x="3523805" y="5078222"/>
            <a:ext cx="15621" cy="11684"/>
          </a:xfrm>
          <a:custGeom>
            <a:avLst/>
            <a:gdLst/>
            <a:ahLst/>
            <a:cxnLst/>
            <a:rect l="0" t="0" r="r" b="b"/>
            <a:pathLst>
              <a:path w="15621" h="11684">
                <a:moveTo>
                  <a:pt x="0" y="6477"/>
                </a:moveTo>
                <a:lnTo>
                  <a:pt x="5207" y="11684"/>
                </a:lnTo>
                <a:lnTo>
                  <a:pt x="15621" y="0"/>
                </a:lnTo>
              </a:path>
            </a:pathLst>
          </a:custGeom>
          <a:noFill/>
          <a:ln w="312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18" name="m-c27_price_tiers-inc-2-200 GB 存储"/>
          <p:cNvSpPr txBox="1"/>
          <p:nvPr/>
        </p:nvSpPr>
        <p:spPr>
          <a:xfrm>
            <a:off x="3560046" y="5063572"/>
            <a:ext cx="164489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200 GB 存储</a:t>
            </a:r>
          </a:p>
        </p:txBody>
      </p:sp>
      <p:sp>
        <p:nvSpPr>
          <p:cNvPr id="1519" name="m-c27_price_tiers-ok-2-数据分析看板"/>
          <p:cNvSpPr/>
          <p:nvPr/>
        </p:nvSpPr>
        <p:spPr>
          <a:xfrm>
            <a:off x="3517297" y="5130260"/>
            <a:ext cx="28638" cy="28638"/>
          </a:xfrm>
          <a:prstGeom prst="ellipse">
            <a:avLst/>
          </a:pr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20" name="m-c27_price_tiers-okc-2-数据分析看板"/>
          <p:cNvSpPr/>
          <p:nvPr/>
        </p:nvSpPr>
        <p:spPr>
          <a:xfrm>
            <a:off x="3523805" y="5138039"/>
            <a:ext cx="15621" cy="11748"/>
          </a:xfrm>
          <a:custGeom>
            <a:avLst/>
            <a:gdLst/>
            <a:ahLst/>
            <a:cxnLst/>
            <a:rect l="0" t="0" r="r" b="b"/>
            <a:pathLst>
              <a:path w="15621" h="11748">
                <a:moveTo>
                  <a:pt x="0" y="6540"/>
                </a:moveTo>
                <a:lnTo>
                  <a:pt x="5207" y="11748"/>
                </a:lnTo>
                <a:lnTo>
                  <a:pt x="15621" y="0"/>
                </a:lnTo>
              </a:path>
            </a:pathLst>
          </a:custGeom>
          <a:noFill/>
          <a:ln w="312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21" name="m-c27_price_tiers-inc-2-数据分析看板"/>
          <p:cNvSpPr txBox="1"/>
          <p:nvPr/>
        </p:nvSpPr>
        <p:spPr>
          <a:xfrm>
            <a:off x="3560046" y="5123452"/>
            <a:ext cx="164802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数据分析看板</a:t>
            </a:r>
          </a:p>
        </p:txBody>
      </p:sp>
      <p:sp>
        <p:nvSpPr>
          <p:cNvPr id="1522" name="m-c27_price_tiers-ok-2-7×12 在线支持"/>
          <p:cNvSpPr/>
          <p:nvPr/>
        </p:nvSpPr>
        <p:spPr>
          <a:xfrm>
            <a:off x="3517297" y="5190141"/>
            <a:ext cx="28638" cy="28638"/>
          </a:xfrm>
          <a:prstGeom prst="ellipse">
            <a:avLst/>
          </a:prstGeom>
          <a:solidFill>
            <a:srgbClr val="FFFFFF">
              <a:alpha val="2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23" name="m-c27_price_tiers-okc-2-7×12 在线支持"/>
          <p:cNvSpPr/>
          <p:nvPr/>
        </p:nvSpPr>
        <p:spPr>
          <a:xfrm>
            <a:off x="3523805" y="5197983"/>
            <a:ext cx="15621" cy="11684"/>
          </a:xfrm>
          <a:custGeom>
            <a:avLst/>
            <a:gdLst/>
            <a:ahLst/>
            <a:cxnLst/>
            <a:rect l="0" t="0" r="r" b="b"/>
            <a:pathLst>
              <a:path w="15621" h="11684">
                <a:moveTo>
                  <a:pt x="0" y="6477"/>
                </a:moveTo>
                <a:lnTo>
                  <a:pt x="5207" y="11684"/>
                </a:lnTo>
                <a:lnTo>
                  <a:pt x="15621" y="0"/>
                </a:lnTo>
              </a:path>
            </a:pathLst>
          </a:custGeom>
          <a:noFill/>
          <a:ln w="312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24" name="m-c27_price_tiers-inc-2-7×12 在线支持"/>
          <p:cNvSpPr txBox="1"/>
          <p:nvPr/>
        </p:nvSpPr>
        <p:spPr>
          <a:xfrm>
            <a:off x="3560046" y="5183333"/>
            <a:ext cx="185109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7×12 在线支持</a:t>
            </a:r>
          </a:p>
        </p:txBody>
      </p:sp>
      <p:cxnSp>
        <p:nvCxnSpPr>
          <p:cNvPr id="1525" name="m-c27_price_tiers-no-2-专属客户经理"/>
          <p:cNvCxnSpPr/>
          <p:nvPr/>
        </p:nvCxnSpPr>
        <p:spPr>
          <a:xfrm>
            <a:off x="3523805" y="5264340"/>
            <a:ext cx="15621" cy="0"/>
          </a:xfrm>
          <a:prstGeom prst="line">
            <a:avLst/>
          </a:prstGeom>
          <a:ln w="2604" cap="rnd">
            <a:solidFill>
              <a:srgbClr val="FFFFFF">
                <a:alpha val="4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6" name="m-c27_price_tiers-exc-2-专属客户经理"/>
          <p:cNvSpPr txBox="1"/>
          <p:nvPr/>
        </p:nvSpPr>
        <p:spPr>
          <a:xfrm>
            <a:off x="3560046" y="5243213"/>
            <a:ext cx="164802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8FB0D8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专属客户经理</a:t>
            </a:r>
          </a:p>
        </p:txBody>
      </p:sp>
      <p:sp>
        <p:nvSpPr>
          <p:cNvPr id="1527" name="m-c27_price_tiers-sh-2"/>
          <p:cNvSpPr/>
          <p:nvPr/>
        </p:nvSpPr>
        <p:spPr>
          <a:xfrm>
            <a:off x="3500374" y="5399722"/>
            <a:ext cx="602678" cy="96329"/>
          </a:xfrm>
          <a:custGeom>
            <a:avLst/>
            <a:gdLst/>
            <a:ahLst/>
            <a:cxnLst/>
            <a:rect l="0" t="0" r="r" b="b"/>
            <a:pathLst>
              <a:path w="602678" h="96329">
                <a:moveTo>
                  <a:pt x="23431" y="0"/>
                </a:moveTo>
                <a:lnTo>
                  <a:pt x="579247" y="0"/>
                </a:lnTo>
                <a:cubicBezTo>
                  <a:pt x="592201" y="0"/>
                  <a:pt x="602678" y="10477"/>
                  <a:pt x="602678" y="23431"/>
                </a:cubicBezTo>
                <a:lnTo>
                  <a:pt x="602678" y="72898"/>
                </a:lnTo>
                <a:cubicBezTo>
                  <a:pt x="602678" y="85852"/>
                  <a:pt x="592201" y="96329"/>
                  <a:pt x="579247" y="96329"/>
                </a:cubicBezTo>
                <a:lnTo>
                  <a:pt x="23431" y="96329"/>
                </a:lnTo>
                <a:cubicBezTo>
                  <a:pt x="10477" y="96329"/>
                  <a:pt x="0" y="85852"/>
                  <a:pt x="0" y="72898"/>
                </a:cubicBezTo>
                <a:lnTo>
                  <a:pt x="0" y="23431"/>
                </a:lnTo>
                <a:cubicBezTo>
                  <a:pt x="0" y="10477"/>
                  <a:pt x="10477" y="0"/>
                  <a:pt x="23431" y="0"/>
                </a:cubicBezTo>
                <a:close/>
              </a:path>
            </a:pathLst>
          </a:custGeom>
          <a:solidFill>
            <a:srgbClr val="FFFFFF">
              <a:alpha val="1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28" name="m-c27_price_tiers-shl-2"/>
          <p:cNvSpPr txBox="1"/>
          <p:nvPr/>
        </p:nvSpPr>
        <p:spPr>
          <a:xfrm>
            <a:off x="3531720" y="5433880"/>
            <a:ext cx="151524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10" normalizeH="0" baseline="0" noProof="0">
                <a:ln>
                  <a:noFill/>
                </a:ln>
                <a:solidFill>
                  <a:srgbClr val="CFE0F4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客户选择占比</a:t>
            </a:r>
          </a:p>
        </p:txBody>
      </p:sp>
      <p:sp>
        <p:nvSpPr>
          <p:cNvPr id="1529" name="m-c27_price_tiers-shv-2"/>
          <p:cNvSpPr txBox="1"/>
          <p:nvPr/>
        </p:nvSpPr>
        <p:spPr>
          <a:xfrm>
            <a:off x="3966765" y="5413365"/>
            <a:ext cx="107472" cy="7289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3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71%</a:t>
            </a:r>
          </a:p>
        </p:txBody>
      </p:sp>
      <p:sp>
        <p:nvSpPr>
          <p:cNvPr id="1530" name="m-c27_price_tiers-card-3"/>
          <p:cNvSpPr/>
          <p:nvPr/>
        </p:nvSpPr>
        <p:spPr>
          <a:xfrm>
            <a:off x="4174680" y="4592638"/>
            <a:ext cx="680784" cy="898208"/>
          </a:xfrm>
          <a:custGeom>
            <a:avLst/>
            <a:gdLst/>
            <a:ahLst/>
            <a:cxnLst/>
            <a:rect l="0" t="0" r="r" b="b"/>
            <a:pathLst>
              <a:path w="680784" h="898208">
                <a:moveTo>
                  <a:pt x="33846" y="0"/>
                </a:moveTo>
                <a:lnTo>
                  <a:pt x="647002" y="0"/>
                </a:lnTo>
                <a:cubicBezTo>
                  <a:pt x="665671" y="0"/>
                  <a:pt x="680784" y="15176"/>
                  <a:pt x="680784" y="33846"/>
                </a:cubicBezTo>
                <a:lnTo>
                  <a:pt x="680784" y="864362"/>
                </a:lnTo>
                <a:cubicBezTo>
                  <a:pt x="680784" y="883031"/>
                  <a:pt x="665671" y="898208"/>
                  <a:pt x="647002" y="898208"/>
                </a:cubicBezTo>
                <a:lnTo>
                  <a:pt x="33846" y="898208"/>
                </a:lnTo>
                <a:cubicBezTo>
                  <a:pt x="15177" y="898208"/>
                  <a:pt x="0" y="883031"/>
                  <a:pt x="0" y="864362"/>
                </a:cubicBezTo>
                <a:lnTo>
                  <a:pt x="0" y="33846"/>
                </a:lnTo>
                <a:cubicBezTo>
                  <a:pt x="0" y="15176"/>
                  <a:pt x="15177" y="0"/>
                  <a:pt x="33846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31" name="m-c27_price_tiers-en-3"/>
          <p:cNvSpPr txBox="1"/>
          <p:nvPr/>
        </p:nvSpPr>
        <p:spPr>
          <a:xfrm>
            <a:off x="4224564" y="4650839"/>
            <a:ext cx="17052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41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ENTERPRISE</a:t>
            </a:r>
          </a:p>
        </p:txBody>
      </p:sp>
      <p:sp>
        <p:nvSpPr>
          <p:cNvPr id="1532" name="m-c27_price_tiers-nm-3"/>
          <p:cNvSpPr txBox="1"/>
          <p:nvPr/>
        </p:nvSpPr>
        <p:spPr>
          <a:xfrm>
            <a:off x="4221752" y="4684385"/>
            <a:ext cx="178079" cy="7289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3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旗舰版</a:t>
            </a:r>
          </a:p>
        </p:txBody>
      </p:sp>
      <p:sp>
        <p:nvSpPr>
          <p:cNvPr id="1533" name="m-c27_price_tiers-who-3"/>
          <p:cNvSpPr txBox="1"/>
          <p:nvPr/>
        </p:nvSpPr>
        <p:spPr>
          <a:xfrm>
            <a:off x="4224017" y="4754559"/>
            <a:ext cx="16109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集团与大客户</a:t>
            </a:r>
          </a:p>
        </p:txBody>
      </p:sp>
      <p:sp>
        <p:nvSpPr>
          <p:cNvPr id="1534" name="m-c27_price_tiers-cur-3"/>
          <p:cNvSpPr txBox="1"/>
          <p:nvPr/>
        </p:nvSpPr>
        <p:spPr>
          <a:xfrm>
            <a:off x="4222377" y="4860043"/>
            <a:ext cx="53216" cy="6378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9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¥</a:t>
            </a:r>
          </a:p>
        </p:txBody>
      </p:sp>
      <p:sp>
        <p:nvSpPr>
          <p:cNvPr id="1535" name="m-c27_price_tiers-pr-3"/>
          <p:cNvSpPr txBox="1"/>
          <p:nvPr/>
        </p:nvSpPr>
        <p:spPr>
          <a:xfrm>
            <a:off x="4249349" y="4789306"/>
            <a:ext cx="241813" cy="16402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74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899</a:t>
            </a:r>
          </a:p>
        </p:txBody>
      </p:sp>
      <p:sp>
        <p:nvSpPr>
          <p:cNvPr id="1536" name="m-c27_price_tiers-pru-3"/>
          <p:cNvSpPr txBox="1"/>
          <p:nvPr/>
        </p:nvSpPr>
        <p:spPr>
          <a:xfrm>
            <a:off x="4445549" y="4879335"/>
            <a:ext cx="155898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元 / 人 / 月</a:t>
            </a:r>
          </a:p>
        </p:txBody>
      </p:sp>
      <p:cxnSp>
        <p:nvCxnSpPr>
          <p:cNvPr id="1537" name="m-c27_price_tiers-sep-3"/>
          <p:cNvCxnSpPr/>
          <p:nvPr/>
        </p:nvCxnSpPr>
        <p:spPr>
          <a:xfrm>
            <a:off x="4226750" y="4957128"/>
            <a:ext cx="576676" cy="0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38" name="m-c27_price_tiers-ok-3-不限账号"/>
          <p:cNvSpPr/>
          <p:nvPr/>
        </p:nvSpPr>
        <p:spPr>
          <a:xfrm>
            <a:off x="4230656" y="4994878"/>
            <a:ext cx="28638" cy="28638"/>
          </a:xfrm>
          <a:prstGeom prst="ellipse">
            <a:avLst/>
          </a:prstGeom>
          <a:solidFill>
            <a:srgbClr val="3985CD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39" name="m-c27_price_tiers-okc-3-不限账号"/>
          <p:cNvSpPr/>
          <p:nvPr/>
        </p:nvSpPr>
        <p:spPr>
          <a:xfrm>
            <a:off x="4237164" y="5002720"/>
            <a:ext cx="15621" cy="11684"/>
          </a:xfrm>
          <a:custGeom>
            <a:avLst/>
            <a:gdLst/>
            <a:ahLst/>
            <a:cxnLst/>
            <a:rect l="0" t="0" r="r" b="b"/>
            <a:pathLst>
              <a:path w="15621" h="11684">
                <a:moveTo>
                  <a:pt x="0" y="6477"/>
                </a:moveTo>
                <a:lnTo>
                  <a:pt x="5207" y="11684"/>
                </a:lnTo>
                <a:lnTo>
                  <a:pt x="15621" y="0"/>
                </a:lnTo>
              </a:path>
            </a:pathLst>
          </a:custGeom>
          <a:noFill/>
          <a:ln w="3124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40" name="m-c27_price_tiers-inc-3-不限账号"/>
          <p:cNvSpPr txBox="1"/>
          <p:nvPr/>
        </p:nvSpPr>
        <p:spPr>
          <a:xfrm>
            <a:off x="4273405" y="4988070"/>
            <a:ext cx="116897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不限账号</a:t>
            </a:r>
          </a:p>
        </p:txBody>
      </p:sp>
      <p:sp>
        <p:nvSpPr>
          <p:cNvPr id="1541" name="m-c27_price_tiers-ok-3-全部模板 + 定制"/>
          <p:cNvSpPr/>
          <p:nvPr/>
        </p:nvSpPr>
        <p:spPr>
          <a:xfrm>
            <a:off x="4230656" y="5054759"/>
            <a:ext cx="28638" cy="28638"/>
          </a:xfrm>
          <a:prstGeom prst="ellipse">
            <a:avLst/>
          </a:prstGeom>
          <a:solidFill>
            <a:srgbClr val="3985CD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42" name="m-c27_price_tiers-okc-3-全部模板 + 定制"/>
          <p:cNvSpPr/>
          <p:nvPr/>
        </p:nvSpPr>
        <p:spPr>
          <a:xfrm>
            <a:off x="4237164" y="5062538"/>
            <a:ext cx="15621" cy="11748"/>
          </a:xfrm>
          <a:custGeom>
            <a:avLst/>
            <a:gdLst/>
            <a:ahLst/>
            <a:cxnLst/>
            <a:rect l="0" t="0" r="r" b="b"/>
            <a:pathLst>
              <a:path w="15621" h="11748">
                <a:moveTo>
                  <a:pt x="0" y="6540"/>
                </a:moveTo>
                <a:lnTo>
                  <a:pt x="5207" y="11748"/>
                </a:lnTo>
                <a:lnTo>
                  <a:pt x="15621" y="0"/>
                </a:lnTo>
              </a:path>
            </a:pathLst>
          </a:custGeom>
          <a:noFill/>
          <a:ln w="3124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43" name="m-c27_price_tiers-inc-3-全部模板 + 定制"/>
          <p:cNvSpPr txBox="1"/>
          <p:nvPr/>
        </p:nvSpPr>
        <p:spPr>
          <a:xfrm>
            <a:off x="4273405" y="5047951"/>
            <a:ext cx="205729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全部模板 + 定制</a:t>
            </a:r>
          </a:p>
        </p:txBody>
      </p:sp>
      <p:sp>
        <p:nvSpPr>
          <p:cNvPr id="1544" name="m-c27_price_tiers-ok-3-不限存储"/>
          <p:cNvSpPr/>
          <p:nvPr/>
        </p:nvSpPr>
        <p:spPr>
          <a:xfrm>
            <a:off x="4230656" y="5114639"/>
            <a:ext cx="28638" cy="28638"/>
          </a:xfrm>
          <a:prstGeom prst="ellipse">
            <a:avLst/>
          </a:prstGeom>
          <a:solidFill>
            <a:srgbClr val="3985CD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45" name="m-c27_price_tiers-okc-3-不限存储"/>
          <p:cNvSpPr/>
          <p:nvPr/>
        </p:nvSpPr>
        <p:spPr>
          <a:xfrm>
            <a:off x="4237164" y="5122418"/>
            <a:ext cx="15621" cy="11748"/>
          </a:xfrm>
          <a:custGeom>
            <a:avLst/>
            <a:gdLst/>
            <a:ahLst/>
            <a:cxnLst/>
            <a:rect l="0" t="0" r="r" b="b"/>
            <a:pathLst>
              <a:path w="15621" h="11748">
                <a:moveTo>
                  <a:pt x="0" y="6541"/>
                </a:moveTo>
                <a:lnTo>
                  <a:pt x="5207" y="11748"/>
                </a:lnTo>
                <a:lnTo>
                  <a:pt x="15621" y="0"/>
                </a:lnTo>
              </a:path>
            </a:pathLst>
          </a:custGeom>
          <a:noFill/>
          <a:ln w="3124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46" name="m-c27_price_tiers-inc-3-不限存储"/>
          <p:cNvSpPr txBox="1"/>
          <p:nvPr/>
        </p:nvSpPr>
        <p:spPr>
          <a:xfrm>
            <a:off x="4273405" y="5107831"/>
            <a:ext cx="116897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不限存储</a:t>
            </a:r>
          </a:p>
        </p:txBody>
      </p:sp>
      <p:sp>
        <p:nvSpPr>
          <p:cNvPr id="1547" name="m-c27_price_tiers-ok-3-数据分析看板"/>
          <p:cNvSpPr/>
          <p:nvPr/>
        </p:nvSpPr>
        <p:spPr>
          <a:xfrm>
            <a:off x="4230656" y="5174520"/>
            <a:ext cx="28638" cy="28638"/>
          </a:xfrm>
          <a:prstGeom prst="ellipse">
            <a:avLst/>
          </a:prstGeom>
          <a:solidFill>
            <a:srgbClr val="3985CD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48" name="m-c27_price_tiers-okc-3-数据分析看板"/>
          <p:cNvSpPr/>
          <p:nvPr/>
        </p:nvSpPr>
        <p:spPr>
          <a:xfrm>
            <a:off x="4237164" y="5182362"/>
            <a:ext cx="15621" cy="11684"/>
          </a:xfrm>
          <a:custGeom>
            <a:avLst/>
            <a:gdLst/>
            <a:ahLst/>
            <a:cxnLst/>
            <a:rect l="0" t="0" r="r" b="b"/>
            <a:pathLst>
              <a:path w="15621" h="11684">
                <a:moveTo>
                  <a:pt x="0" y="6477"/>
                </a:moveTo>
                <a:lnTo>
                  <a:pt x="5207" y="11684"/>
                </a:lnTo>
                <a:lnTo>
                  <a:pt x="15621" y="0"/>
                </a:lnTo>
              </a:path>
            </a:pathLst>
          </a:custGeom>
          <a:noFill/>
          <a:ln w="3124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49" name="m-c27_price_tiers-inc-3-数据分析看板"/>
          <p:cNvSpPr txBox="1"/>
          <p:nvPr/>
        </p:nvSpPr>
        <p:spPr>
          <a:xfrm>
            <a:off x="4273405" y="5167712"/>
            <a:ext cx="164802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数据分析看板</a:t>
            </a:r>
          </a:p>
        </p:txBody>
      </p:sp>
      <p:sp>
        <p:nvSpPr>
          <p:cNvPr id="1550" name="m-c27_price_tiers-ok-3-专属客户经理"/>
          <p:cNvSpPr/>
          <p:nvPr/>
        </p:nvSpPr>
        <p:spPr>
          <a:xfrm>
            <a:off x="4230656" y="5234400"/>
            <a:ext cx="28638" cy="28638"/>
          </a:xfrm>
          <a:prstGeom prst="ellipse">
            <a:avLst/>
          </a:prstGeom>
          <a:solidFill>
            <a:srgbClr val="3985CD">
              <a:alpha val="1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51" name="m-c27_price_tiers-okc-3-专属客户经理"/>
          <p:cNvSpPr/>
          <p:nvPr/>
        </p:nvSpPr>
        <p:spPr>
          <a:xfrm>
            <a:off x="4237164" y="5242179"/>
            <a:ext cx="15621" cy="11748"/>
          </a:xfrm>
          <a:custGeom>
            <a:avLst/>
            <a:gdLst/>
            <a:ahLst/>
            <a:cxnLst/>
            <a:rect l="0" t="0" r="r" b="b"/>
            <a:pathLst>
              <a:path w="15621" h="11748">
                <a:moveTo>
                  <a:pt x="0" y="6541"/>
                </a:moveTo>
                <a:lnTo>
                  <a:pt x="5207" y="11748"/>
                </a:lnTo>
                <a:lnTo>
                  <a:pt x="15621" y="0"/>
                </a:lnTo>
              </a:path>
            </a:pathLst>
          </a:custGeom>
          <a:noFill/>
          <a:ln w="3124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52" name="m-c27_price_tiers-inc-3-专属客户经理"/>
          <p:cNvSpPr txBox="1"/>
          <p:nvPr/>
        </p:nvSpPr>
        <p:spPr>
          <a:xfrm>
            <a:off x="4273405" y="5227592"/>
            <a:ext cx="164802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专属客户经理</a:t>
            </a:r>
          </a:p>
        </p:txBody>
      </p:sp>
      <p:sp>
        <p:nvSpPr>
          <p:cNvPr id="1553" name="m-c27_price_tiers-sh-3"/>
          <p:cNvSpPr/>
          <p:nvPr/>
        </p:nvSpPr>
        <p:spPr>
          <a:xfrm>
            <a:off x="4213733" y="5355463"/>
            <a:ext cx="602742" cy="96329"/>
          </a:xfrm>
          <a:custGeom>
            <a:avLst/>
            <a:gdLst/>
            <a:ahLst/>
            <a:cxnLst/>
            <a:rect l="0" t="0" r="r" b="b"/>
            <a:pathLst>
              <a:path w="602742" h="96329">
                <a:moveTo>
                  <a:pt x="23431" y="0"/>
                </a:moveTo>
                <a:lnTo>
                  <a:pt x="579310" y="0"/>
                </a:lnTo>
                <a:cubicBezTo>
                  <a:pt x="592201" y="0"/>
                  <a:pt x="602742" y="10477"/>
                  <a:pt x="602742" y="23432"/>
                </a:cubicBezTo>
                <a:lnTo>
                  <a:pt x="602742" y="72898"/>
                </a:lnTo>
                <a:cubicBezTo>
                  <a:pt x="602742" y="85852"/>
                  <a:pt x="592201" y="96329"/>
                  <a:pt x="579310" y="96329"/>
                </a:cubicBezTo>
                <a:lnTo>
                  <a:pt x="23431" y="96329"/>
                </a:lnTo>
                <a:cubicBezTo>
                  <a:pt x="10477" y="96329"/>
                  <a:pt x="0" y="85852"/>
                  <a:pt x="0" y="72898"/>
                </a:cubicBezTo>
                <a:lnTo>
                  <a:pt x="0" y="23432"/>
                </a:lnTo>
                <a:cubicBezTo>
                  <a:pt x="0" y="10477"/>
                  <a:pt x="10477" y="0"/>
                  <a:pt x="23431" y="0"/>
                </a:cubicBezTo>
                <a:close/>
              </a:path>
            </a:pathLst>
          </a:custGeom>
          <a:solidFill>
            <a:srgbClr val="F1F6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54" name="m-c27_price_tiers-shl-3"/>
          <p:cNvSpPr txBox="1"/>
          <p:nvPr/>
        </p:nvSpPr>
        <p:spPr>
          <a:xfrm>
            <a:off x="4245079" y="5389621"/>
            <a:ext cx="151524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客户选择占比</a:t>
            </a:r>
          </a:p>
        </p:txBody>
      </p:sp>
      <p:sp>
        <p:nvSpPr>
          <p:cNvPr id="1555" name="m-c27_price_tiers-shv-3"/>
          <p:cNvSpPr txBox="1"/>
          <p:nvPr/>
        </p:nvSpPr>
        <p:spPr>
          <a:xfrm>
            <a:off x="4680124" y="5369105"/>
            <a:ext cx="107472" cy="7289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3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11%</a:t>
            </a:r>
          </a:p>
        </p:txBody>
      </p:sp>
      <p:cxnSp>
        <p:nvCxnSpPr>
          <p:cNvPr id="1556" name="m-c27_price_tiers-foot-line"/>
          <p:cNvCxnSpPr/>
          <p:nvPr/>
        </p:nvCxnSpPr>
        <p:spPr>
          <a:xfrm>
            <a:off x="2672461" y="55923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57" name="m-c27_price_tiers-foot-l"/>
          <p:cNvSpPr txBox="1"/>
          <p:nvPr/>
        </p:nvSpPr>
        <p:spPr>
          <a:xfrm>
            <a:off x="2670274" y="5606323"/>
            <a:ext cx="21429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价格方案 · 三档订阅</a:t>
            </a:r>
          </a:p>
        </p:txBody>
      </p:sp>
      <p:sp>
        <p:nvSpPr>
          <p:cNvPr id="1558" name="m-c27_price_tiers-foot-r"/>
          <p:cNvSpPr txBox="1"/>
          <p:nvPr/>
        </p:nvSpPr>
        <p:spPr>
          <a:xfrm>
            <a:off x="4674709" y="56063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1559" name="mini-card-p02_cycle_loop"/>
          <p:cNvSpPr/>
          <p:nvPr/>
        </p:nvSpPr>
        <p:spPr>
          <a:xfrm>
            <a:off x="5168900" y="42672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0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0" y="1405890"/>
                </a:lnTo>
                <a:cubicBezTo>
                  <a:pt x="35877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7"/>
                  <a:pt x="35877" y="0"/>
                  <a:pt x="80200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60" name="m-p02_cycle_loop-title-bar"/>
          <p:cNvSpPr/>
          <p:nvPr/>
        </p:nvSpPr>
        <p:spPr>
          <a:xfrm>
            <a:off x="5288661" y="43661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61" name="m-p02_cycle_loop-title-bar-accent"/>
          <p:cNvSpPr/>
          <p:nvPr/>
        </p:nvSpPr>
        <p:spPr>
          <a:xfrm>
            <a:off x="5288661" y="43661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62" name="m-p02_cycle_loop-title-cn"/>
          <p:cNvSpPr txBox="1"/>
          <p:nvPr/>
        </p:nvSpPr>
        <p:spPr>
          <a:xfrm>
            <a:off x="5320840" y="4348768"/>
            <a:ext cx="426453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闭环运营机制</a:t>
            </a:r>
          </a:p>
        </p:txBody>
      </p:sp>
      <p:sp>
        <p:nvSpPr>
          <p:cNvPr id="1563" name="m-p02_cycle_loop-title-en"/>
          <p:cNvSpPr txBox="1"/>
          <p:nvPr/>
        </p:nvSpPr>
        <p:spPr>
          <a:xfrm>
            <a:off x="5328130" y="4436050"/>
            <a:ext cx="40841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CLOSED-LOOP OPERATION</a:t>
            </a:r>
          </a:p>
        </p:txBody>
      </p:sp>
      <p:sp>
        <p:nvSpPr>
          <p:cNvPr id="1564" name="m-p02_cycle_loop-title-sub"/>
          <p:cNvSpPr txBox="1"/>
          <p:nvPr/>
        </p:nvSpPr>
        <p:spPr>
          <a:xfrm>
            <a:off x="7062608" y="4405192"/>
            <a:ext cx="488547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五个环节持续循环，形成自我优化的管理闭环</a:t>
            </a:r>
          </a:p>
        </p:txBody>
      </p:sp>
      <p:sp>
        <p:nvSpPr>
          <p:cNvPr id="1565" name="m-p02_cycle_loop-band-01"/>
          <p:cNvSpPr/>
          <p:nvPr/>
        </p:nvSpPr>
        <p:spPr>
          <a:xfrm>
            <a:off x="6379528" y="4686364"/>
            <a:ext cx="78105" cy="67691"/>
          </a:xfrm>
          <a:custGeom>
            <a:avLst/>
            <a:gdLst/>
            <a:ahLst/>
            <a:cxnLst/>
            <a:rect l="0" t="0" r="r" b="b"/>
            <a:pathLst>
              <a:path w="78105" h="67691">
                <a:moveTo>
                  <a:pt x="63754" y="67691"/>
                </a:moveTo>
                <a:lnTo>
                  <a:pt x="78105" y="0"/>
                </a:lnTo>
                <a:lnTo>
                  <a:pt x="0" y="0"/>
                </a:lnTo>
                <a:lnTo>
                  <a:pt x="14288" y="67691"/>
                </a:lnTo>
                <a:close/>
              </a:path>
            </a:pathLst>
          </a:custGeom>
          <a:solidFill>
            <a:srgbClr val="0B3E8F">
              <a:alpha val="85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66" name="m-p02_cycle_loop-band-02"/>
          <p:cNvSpPr/>
          <p:nvPr/>
        </p:nvSpPr>
        <p:spPr>
          <a:xfrm>
            <a:off x="6695567" y="4905184"/>
            <a:ext cx="123952" cy="77597"/>
          </a:xfrm>
          <a:custGeom>
            <a:avLst/>
            <a:gdLst/>
            <a:ahLst/>
            <a:cxnLst/>
            <a:rect l="0" t="0" r="r" b="b"/>
            <a:pathLst>
              <a:path w="123952" h="77597">
                <a:moveTo>
                  <a:pt x="5651" y="76644"/>
                </a:moveTo>
                <a:lnTo>
                  <a:pt x="123952" y="77597"/>
                </a:lnTo>
                <a:lnTo>
                  <a:pt x="114998" y="0"/>
                </a:lnTo>
                <a:lnTo>
                  <a:pt x="0" y="27623"/>
                </a:lnTo>
                <a:close/>
              </a:path>
            </a:pathLst>
          </a:custGeom>
          <a:solidFill>
            <a:srgbClr val="1B5AA8">
              <a:alpha val="85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67" name="m-p02_cycle_loop-band-03"/>
          <p:cNvSpPr/>
          <p:nvPr/>
        </p:nvSpPr>
        <p:spPr>
          <a:xfrm>
            <a:off x="6578156" y="5265356"/>
            <a:ext cx="140843" cy="121729"/>
          </a:xfrm>
          <a:custGeom>
            <a:avLst/>
            <a:gdLst/>
            <a:ahLst/>
            <a:cxnLst/>
            <a:rect l="0" t="0" r="r" b="b"/>
            <a:pathLst>
              <a:path w="140843" h="121729">
                <a:moveTo>
                  <a:pt x="0" y="41783"/>
                </a:moveTo>
                <a:lnTo>
                  <a:pt x="98806" y="121729"/>
                </a:lnTo>
                <a:lnTo>
                  <a:pt x="140843" y="55880"/>
                </a:lnTo>
                <a:lnTo>
                  <a:pt x="26734" y="0"/>
                </a:lnTo>
                <a:close/>
              </a:path>
            </a:pathLst>
          </a:custGeom>
          <a:solidFill>
            <a:srgbClr val="2E77C2">
              <a:alpha val="85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68" name="m-p02_cycle_loop-band-04"/>
          <p:cNvSpPr/>
          <p:nvPr/>
        </p:nvSpPr>
        <p:spPr>
          <a:xfrm>
            <a:off x="6118162" y="5265356"/>
            <a:ext cx="140843" cy="121729"/>
          </a:xfrm>
          <a:custGeom>
            <a:avLst/>
            <a:gdLst/>
            <a:ahLst/>
            <a:cxnLst/>
            <a:rect l="0" t="0" r="r" b="b"/>
            <a:pathLst>
              <a:path w="140843" h="121729">
                <a:moveTo>
                  <a:pt x="114110" y="0"/>
                </a:moveTo>
                <a:lnTo>
                  <a:pt x="0" y="55880"/>
                </a:lnTo>
                <a:lnTo>
                  <a:pt x="42037" y="121729"/>
                </a:lnTo>
                <a:lnTo>
                  <a:pt x="140843" y="41783"/>
                </a:lnTo>
                <a:close/>
              </a:path>
            </a:pathLst>
          </a:custGeom>
          <a:solidFill>
            <a:srgbClr val="3985CD">
              <a:alpha val="85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69" name="m-p02_cycle_loop-band-05"/>
          <p:cNvSpPr/>
          <p:nvPr/>
        </p:nvSpPr>
        <p:spPr>
          <a:xfrm>
            <a:off x="6017641" y="4905184"/>
            <a:ext cx="123952" cy="77597"/>
          </a:xfrm>
          <a:custGeom>
            <a:avLst/>
            <a:gdLst/>
            <a:ahLst/>
            <a:cxnLst/>
            <a:rect l="0" t="0" r="r" b="b"/>
            <a:pathLst>
              <a:path w="123952" h="77597">
                <a:moveTo>
                  <a:pt x="123952" y="27623"/>
                </a:moveTo>
                <a:lnTo>
                  <a:pt x="8954" y="0"/>
                </a:lnTo>
                <a:lnTo>
                  <a:pt x="0" y="77597"/>
                </a:lnTo>
                <a:lnTo>
                  <a:pt x="118300" y="76644"/>
                </a:lnTo>
                <a:close/>
              </a:path>
            </a:pathLst>
          </a:custGeom>
          <a:solidFill>
            <a:srgbClr val="54A2DF">
              <a:alpha val="85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70" name="m-p02_cycle_loop-guide"/>
          <p:cNvSpPr/>
          <p:nvPr/>
        </p:nvSpPr>
        <p:spPr>
          <a:xfrm>
            <a:off x="6108764" y="4738434"/>
            <a:ext cx="619633" cy="619633"/>
          </a:xfrm>
          <a:prstGeom prst="ellipse">
            <a:avLst/>
          </a:prstGeom>
          <a:noFill/>
          <a:ln w="2540" cap="rnd">
            <a:solidFill>
              <a:srgbClr val="0B2545">
                <a:alpha val="10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71" name="m-p02_cycle_loop-arc-01"/>
          <p:cNvSpPr/>
          <p:nvPr/>
        </p:nvSpPr>
        <p:spPr>
          <a:xfrm>
            <a:off x="6275015" y="4777518"/>
            <a:ext cx="285179" cy="127175"/>
          </a:xfrm>
          <a:custGeom>
            <a:avLst/>
            <a:gdLst/>
            <a:ahLst/>
            <a:cxnLst/>
            <a:rect l="0" t="0" r="r" b="b"/>
            <a:pathLst>
              <a:path w="285179" h="127175">
                <a:moveTo>
                  <a:pt x="6087" y="37497"/>
                </a:moveTo>
                <a:cubicBezTo>
                  <a:pt x="89653" y="-11779"/>
                  <a:pt x="193285" y="-12541"/>
                  <a:pt x="277613" y="35465"/>
                </a:cubicBezTo>
                <a:lnTo>
                  <a:pt x="281804" y="28099"/>
                </a:lnTo>
                <a:quadBezTo>
                  <a:pt x="285360" y="21876"/>
                  <a:pt x="285170" y="36227"/>
                </a:quadBezTo>
                <a:lnTo>
                  <a:pt x="284662" y="82391"/>
                </a:lnTo>
                <a:quadBezTo>
                  <a:pt x="284471" y="96742"/>
                  <a:pt x="271962" y="103664"/>
                </a:quadBezTo>
                <a:lnTo>
                  <a:pt x="236021" y="123539"/>
                </a:lnTo>
                <a:quadBezTo>
                  <a:pt x="223448" y="130461"/>
                  <a:pt x="227004" y="124238"/>
                </a:quadBezTo>
                <a:lnTo>
                  <a:pt x="231195" y="116935"/>
                </a:lnTo>
                <a:cubicBezTo>
                  <a:pt x="177347" y="86201"/>
                  <a:pt x="111307" y="85947"/>
                  <a:pt x="57141" y="116173"/>
                </a:cubicBezTo>
                <a:quadBezTo>
                  <a:pt x="47172" y="122269"/>
                  <a:pt x="40758" y="112427"/>
                </a:quadBezTo>
                <a:lnTo>
                  <a:pt x="2468" y="53499"/>
                </a:lnTo>
                <a:quadBezTo>
                  <a:pt x="-3882" y="43656"/>
                  <a:pt x="6087" y="37497"/>
                </a:quadBezTo>
                <a:close/>
              </a:path>
            </a:pathLst>
          </a:custGeom>
          <a:gradFill rotWithShape="1">
            <a:gsLst>
              <a:gs pos="0">
                <a:srgbClr val="28559C"/>
              </a:gs>
              <a:gs pos="100000">
                <a:srgbClr val="0B3E8F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72" name="m-p02_cycle_loop-arc-02"/>
          <p:cNvSpPr/>
          <p:nvPr/>
        </p:nvSpPr>
        <p:spPr>
          <a:xfrm>
            <a:off x="6534043" y="4841952"/>
            <a:ext cx="160346" cy="283566"/>
          </a:xfrm>
          <a:custGeom>
            <a:avLst/>
            <a:gdLst/>
            <a:ahLst/>
            <a:cxnLst/>
            <a:rect l="0" t="0" r="r" b="b"/>
            <a:pathLst>
              <a:path w="160346" h="283566">
                <a:moveTo>
                  <a:pt x="63861" y="3415"/>
                </a:moveTo>
                <a:cubicBezTo>
                  <a:pt x="136569" y="67741"/>
                  <a:pt x="169335" y="166039"/>
                  <a:pt x="149713" y="261098"/>
                </a:cubicBezTo>
                <a:lnTo>
                  <a:pt x="157968" y="262813"/>
                </a:lnTo>
                <a:quadBezTo>
                  <a:pt x="165017" y="264210"/>
                  <a:pt x="151301" y="268528"/>
                </a:quadBezTo>
                <a:lnTo>
                  <a:pt x="107232" y="282244"/>
                </a:lnTo>
                <a:quadBezTo>
                  <a:pt x="93579" y="286562"/>
                  <a:pt x="83102" y="276783"/>
                </a:quadBezTo>
                <a:lnTo>
                  <a:pt x="53066" y="248716"/>
                </a:lnTo>
                <a:quadBezTo>
                  <a:pt x="42652" y="238937"/>
                  <a:pt x="49637" y="240397"/>
                </a:quadBezTo>
                <a:lnTo>
                  <a:pt x="57892" y="242112"/>
                </a:lnTo>
                <a:cubicBezTo>
                  <a:pt x="70465" y="181406"/>
                  <a:pt x="50336" y="118541"/>
                  <a:pt x="4806" y="76377"/>
                </a:cubicBezTo>
                <a:quadBezTo>
                  <a:pt x="-4020" y="68693"/>
                  <a:pt x="3346" y="59613"/>
                </a:quadBezTo>
                <a:lnTo>
                  <a:pt x="47542" y="5003"/>
                </a:lnTo>
                <a:quadBezTo>
                  <a:pt x="54908" y="-4141"/>
                  <a:pt x="63861" y="3415"/>
                </a:quadBezTo>
                <a:close/>
              </a:path>
            </a:pathLst>
          </a:custGeom>
          <a:gradFill rotWithShape="1">
            <a:gsLst>
              <a:gs pos="0">
                <a:srgbClr val="366EB2"/>
              </a:gs>
              <a:gs pos="100000">
                <a:srgbClr val="1B5AA8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73" name="m-p02_cycle_loop-arc-03"/>
          <p:cNvSpPr/>
          <p:nvPr/>
        </p:nvSpPr>
        <p:spPr>
          <a:xfrm>
            <a:off x="6410354" y="5114719"/>
            <a:ext cx="257846" cy="213756"/>
          </a:xfrm>
          <a:custGeom>
            <a:avLst/>
            <a:gdLst/>
            <a:ahLst/>
            <a:cxnLst/>
            <a:rect l="0" t="0" r="r" b="b"/>
            <a:pathLst>
              <a:path w="257846" h="213756">
                <a:moveTo>
                  <a:pt x="256575" y="41418"/>
                </a:moveTo>
                <a:cubicBezTo>
                  <a:pt x="217903" y="130445"/>
                  <a:pt x="134528" y="191976"/>
                  <a:pt x="38071" y="202644"/>
                </a:cubicBezTo>
                <a:lnTo>
                  <a:pt x="39024" y="211026"/>
                </a:lnTo>
                <a:quadBezTo>
                  <a:pt x="39786" y="218202"/>
                  <a:pt x="31531" y="206518"/>
                </a:quadBezTo>
                <a:lnTo>
                  <a:pt x="4797" y="168799"/>
                </a:lnTo>
                <a:quadBezTo>
                  <a:pt x="-3521" y="157115"/>
                  <a:pt x="2575" y="144161"/>
                </a:quadBezTo>
                <a:lnTo>
                  <a:pt x="19974" y="106950"/>
                </a:lnTo>
                <a:quadBezTo>
                  <a:pt x="26006" y="93932"/>
                  <a:pt x="26832" y="101108"/>
                </a:quadBezTo>
                <a:lnTo>
                  <a:pt x="27721" y="109490"/>
                </a:lnTo>
                <a:cubicBezTo>
                  <a:pt x="89379" y="102632"/>
                  <a:pt x="142973" y="64087"/>
                  <a:pt x="168945" y="7763"/>
                </a:cubicBezTo>
                <a:quadBezTo>
                  <a:pt x="173517" y="-3032"/>
                  <a:pt x="184439" y="1159"/>
                </a:quadBezTo>
                <a:lnTo>
                  <a:pt x="250034" y="26368"/>
                </a:lnTo>
                <a:quadBezTo>
                  <a:pt x="261020" y="30559"/>
                  <a:pt x="256575" y="41418"/>
                </a:quadBezTo>
                <a:close/>
              </a:path>
            </a:pathLst>
          </a:custGeom>
          <a:gradFill rotWithShape="1">
            <a:gsLst>
              <a:gs pos="0">
                <a:srgbClr val="4787C9"/>
              </a:gs>
              <a:gs pos="100000">
                <a:srgbClr val="2E77C2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74" name="m-p02_cycle_loop-arc-04"/>
          <p:cNvSpPr/>
          <p:nvPr/>
        </p:nvSpPr>
        <p:spPr>
          <a:xfrm>
            <a:off x="6161305" y="5107717"/>
            <a:ext cx="247400" cy="210145"/>
          </a:xfrm>
          <a:custGeom>
            <a:avLst/>
            <a:gdLst/>
            <a:ahLst/>
            <a:cxnLst/>
            <a:rect l="0" t="0" r="r" b="b"/>
            <a:pathLst>
              <a:path w="247400" h="210145">
                <a:moveTo>
                  <a:pt x="231430" y="210091"/>
                </a:moveTo>
                <a:cubicBezTo>
                  <a:pt x="134783" y="200820"/>
                  <a:pt x="50519" y="140495"/>
                  <a:pt x="10577" y="52103"/>
                </a:cubicBezTo>
                <a:lnTo>
                  <a:pt x="2830" y="55532"/>
                </a:lnTo>
                <a:quadBezTo>
                  <a:pt x="-3710" y="58516"/>
                  <a:pt x="4862" y="47023"/>
                </a:quadBezTo>
                <a:lnTo>
                  <a:pt x="32421" y="9939"/>
                </a:lnTo>
                <a:quadBezTo>
                  <a:pt x="40994" y="-1491"/>
                  <a:pt x="55218" y="223"/>
                </a:quadBezTo>
                <a:lnTo>
                  <a:pt x="95985" y="5240"/>
                </a:lnTo>
                <a:quadBezTo>
                  <a:pt x="110209" y="7018"/>
                  <a:pt x="103668" y="10002"/>
                </a:quadBezTo>
                <a:lnTo>
                  <a:pt x="95985" y="13431"/>
                </a:lnTo>
                <a:cubicBezTo>
                  <a:pt x="121512" y="69946"/>
                  <a:pt x="174788" y="108999"/>
                  <a:pt x="236320" y="116365"/>
                </a:cubicBezTo>
                <a:quadBezTo>
                  <a:pt x="248004" y="117317"/>
                  <a:pt x="247369" y="129001"/>
                </a:quadBezTo>
                <a:lnTo>
                  <a:pt x="243749" y="199232"/>
                </a:lnTo>
                <a:quadBezTo>
                  <a:pt x="243114" y="210916"/>
                  <a:pt x="231430" y="210091"/>
                </a:quadBezTo>
                <a:close/>
              </a:path>
            </a:pathLst>
          </a:custGeom>
          <a:gradFill rotWithShape="1">
            <a:gsLst>
              <a:gs pos="0">
                <a:srgbClr val="5194D3"/>
              </a:gs>
              <a:gs pos="100000">
                <a:srgbClr val="3985CD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75" name="m-p02_cycle_loop-arc-05"/>
          <p:cNvSpPr/>
          <p:nvPr/>
        </p:nvSpPr>
        <p:spPr>
          <a:xfrm>
            <a:off x="6147847" y="4838996"/>
            <a:ext cx="160276" cy="276944"/>
          </a:xfrm>
          <a:custGeom>
            <a:avLst/>
            <a:gdLst/>
            <a:ahLst/>
            <a:cxnLst/>
            <a:rect l="0" t="0" r="r" b="b"/>
            <a:pathLst>
              <a:path w="160276" h="276944">
                <a:moveTo>
                  <a:pt x="6383" y="267928"/>
                </a:moveTo>
                <a:cubicBezTo>
                  <a:pt x="-14636" y="173186"/>
                  <a:pt x="16670" y="74443"/>
                  <a:pt x="88425" y="9102"/>
                </a:cubicBezTo>
                <a:lnTo>
                  <a:pt x="82710" y="2815"/>
                </a:lnTo>
                <a:quadBezTo>
                  <a:pt x="77884" y="-2455"/>
                  <a:pt x="91473" y="2117"/>
                </a:quadBezTo>
                <a:lnTo>
                  <a:pt x="135224" y="16912"/>
                </a:lnTo>
                <a:quadBezTo>
                  <a:pt x="148813" y="21484"/>
                  <a:pt x="151480" y="35518"/>
                </a:quadBezTo>
                <a:lnTo>
                  <a:pt x="159291" y="75840"/>
                </a:lnTo>
                <a:quadBezTo>
                  <a:pt x="162021" y="89937"/>
                  <a:pt x="157195" y="84603"/>
                </a:quadBezTo>
                <a:lnTo>
                  <a:pt x="151544" y="78380"/>
                </a:lnTo>
                <a:cubicBezTo>
                  <a:pt x="105697" y="120100"/>
                  <a:pt x="84996" y="182838"/>
                  <a:pt x="97061" y="243671"/>
                </a:cubicBezTo>
                <a:quadBezTo>
                  <a:pt x="99728" y="255101"/>
                  <a:pt x="88425" y="258085"/>
                </a:quadBezTo>
                <a:lnTo>
                  <a:pt x="20480" y="276310"/>
                </a:lnTo>
                <a:quadBezTo>
                  <a:pt x="9177" y="279358"/>
                  <a:pt x="6383" y="267928"/>
                </a:quadBezTo>
                <a:close/>
              </a:path>
            </a:pathLst>
          </a:custGeom>
          <a:gradFill rotWithShape="1">
            <a:gsLst>
              <a:gs pos="0">
                <a:srgbClr val="69ADE3"/>
              </a:gs>
              <a:gs pos="100000">
                <a:srgbClr val="54A2DF"/>
              </a:gs>
            </a:gsLst>
            <a:lin ang="7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76" name="m-p02_cycle_loop-arc-num-01"/>
          <p:cNvSpPr txBox="1"/>
          <p:nvPr/>
        </p:nvSpPr>
        <p:spPr>
          <a:xfrm>
            <a:off x="6369370" y="4790575"/>
            <a:ext cx="82791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15" normalizeH="0" baseline="0" noProof="0">
                <a:ln>
                  <a:noFill/>
                </a:ln>
                <a:solidFill>
                  <a:srgbClr val="FFFFFF">
                    <a:alpha val="9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1577" name="m-p02_cycle_loop-arc-num-02"/>
          <p:cNvSpPr txBox="1"/>
          <p:nvPr/>
        </p:nvSpPr>
        <p:spPr>
          <a:xfrm>
            <a:off x="6587582" y="4937761"/>
            <a:ext cx="82791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15" normalizeH="0" baseline="0" noProof="0">
                <a:ln>
                  <a:noFill/>
                </a:ln>
                <a:solidFill>
                  <a:srgbClr val="FFFFFF">
                    <a:alpha val="9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1578" name="m-p02_cycle_loop-arc-num-03"/>
          <p:cNvSpPr txBox="1"/>
          <p:nvPr/>
        </p:nvSpPr>
        <p:spPr>
          <a:xfrm>
            <a:off x="6515032" y="5190776"/>
            <a:ext cx="82791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15" normalizeH="0" baseline="0" noProof="0">
                <a:ln>
                  <a:noFill/>
                </a:ln>
                <a:solidFill>
                  <a:srgbClr val="FFFFFF">
                    <a:alpha val="9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1579" name="m-p02_cycle_loop-arc-num-04"/>
          <p:cNvSpPr txBox="1"/>
          <p:nvPr/>
        </p:nvSpPr>
        <p:spPr>
          <a:xfrm>
            <a:off x="6251980" y="5199962"/>
            <a:ext cx="82791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15" normalizeH="0" baseline="0" noProof="0">
                <a:ln>
                  <a:noFill/>
                </a:ln>
                <a:solidFill>
                  <a:srgbClr val="FFFFFF">
                    <a:alpha val="9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1580" name="m-p02_cycle_loop-arc-num-05"/>
          <p:cNvSpPr txBox="1"/>
          <p:nvPr/>
        </p:nvSpPr>
        <p:spPr>
          <a:xfrm>
            <a:off x="6161957" y="4952624"/>
            <a:ext cx="82791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15" normalizeH="0" baseline="0" noProof="0">
                <a:ln>
                  <a:noFill/>
                </a:ln>
                <a:solidFill>
                  <a:srgbClr val="FFFFFF">
                    <a:alpha val="9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1581" name="m-p02_cycle_loop-core"/>
          <p:cNvSpPr/>
          <p:nvPr/>
        </p:nvSpPr>
        <p:spPr>
          <a:xfrm>
            <a:off x="6254559" y="4884230"/>
            <a:ext cx="328041" cy="32804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2" name="m-p02_cycle_loop-core-ring"/>
          <p:cNvSpPr/>
          <p:nvPr/>
        </p:nvSpPr>
        <p:spPr>
          <a:xfrm>
            <a:off x="6267577" y="4897247"/>
            <a:ext cx="302006" cy="302006"/>
          </a:xfrm>
          <a:prstGeom prst="ellipse">
            <a:avLst/>
          </a:prstGeom>
          <a:noFill/>
          <a:ln w="2540" cap="rnd">
            <a:solidFill>
              <a:srgbClr val="0B3E8F">
                <a:alpha val="14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3" name="m-p02_cycle_loop-core-1"/>
          <p:cNvSpPr txBox="1"/>
          <p:nvPr/>
        </p:nvSpPr>
        <p:spPr>
          <a:xfrm>
            <a:off x="6353558" y="4982792"/>
            <a:ext cx="130045" cy="7062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20" b="1" i="0" u="none" strike="noStrike" kern="1200" cap="none" spc="5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持续</a:t>
            </a:r>
          </a:p>
        </p:txBody>
      </p:sp>
      <p:sp>
        <p:nvSpPr>
          <p:cNvPr id="1584" name="m-p02_cycle_loop-core-2"/>
          <p:cNvSpPr txBox="1"/>
          <p:nvPr/>
        </p:nvSpPr>
        <p:spPr>
          <a:xfrm>
            <a:off x="6353558" y="5032258"/>
            <a:ext cx="130045" cy="7062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20" b="1" i="0" u="none" strike="noStrike" kern="1200" cap="none" spc="51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优化</a:t>
            </a:r>
          </a:p>
        </p:txBody>
      </p:sp>
      <p:sp>
        <p:nvSpPr>
          <p:cNvPr id="1585" name="m-p02_cycle_loop-core-en"/>
          <p:cNvSpPr txBox="1"/>
          <p:nvPr/>
        </p:nvSpPr>
        <p:spPr>
          <a:xfrm>
            <a:off x="6299665" y="5101244"/>
            <a:ext cx="237830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36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CONTINUOUS LOOP</a:t>
            </a:r>
          </a:p>
        </p:txBody>
      </p:sp>
      <p:cxnSp>
        <p:nvCxnSpPr>
          <p:cNvPr id="1586" name="m-p02_cycle_loop-lead-01"/>
          <p:cNvCxnSpPr/>
          <p:nvPr/>
        </p:nvCxnSpPr>
        <p:spPr>
          <a:xfrm flipV="1">
            <a:off x="6418580" y="4686364"/>
            <a:ext cx="0" cy="28638"/>
          </a:xfrm>
          <a:prstGeom prst="line">
            <a:avLst/>
          </a:prstGeom>
          <a:ln w="2540" cap="rnd">
            <a:solidFill>
              <a:srgbClr val="0B3E8F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87" name="m-p02_cycle_loop-chip"/>
          <p:cNvSpPr/>
          <p:nvPr/>
        </p:nvSpPr>
        <p:spPr>
          <a:xfrm>
            <a:off x="6380829" y="4716304"/>
            <a:ext cx="75501" cy="7550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8" name="m-p02_cycle_loop-chip-ring"/>
          <p:cNvSpPr/>
          <p:nvPr/>
        </p:nvSpPr>
        <p:spPr>
          <a:xfrm>
            <a:off x="6380829" y="4716304"/>
            <a:ext cx="75501" cy="75501"/>
          </a:xfrm>
          <a:prstGeom prst="ellipse">
            <a:avLst/>
          </a:prstGeom>
          <a:noFill/>
          <a:ln w="2540" cap="rnd">
            <a:solidFill>
              <a:srgbClr val="0B3E8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9" name="m-p02_cycle_loop-icon-target"/>
          <p:cNvSpPr/>
          <p:nvPr/>
        </p:nvSpPr>
        <p:spPr>
          <a:xfrm>
            <a:off x="6418580" y="4740529"/>
            <a:ext cx="10414" cy="13525"/>
          </a:xfrm>
          <a:custGeom>
            <a:avLst/>
            <a:gdLst/>
            <a:ahLst/>
            <a:cxnLst/>
            <a:rect l="0" t="0" r="r" b="b"/>
            <a:pathLst>
              <a:path w="10414" h="13525">
                <a:moveTo>
                  <a:pt x="0" y="7874"/>
                </a:moveTo>
                <a:lnTo>
                  <a:pt x="0" y="0"/>
                </a:lnTo>
                <a:moveTo>
                  <a:pt x="0" y="13525"/>
                </a:moveTo>
                <a:lnTo>
                  <a:pt x="10414" y="3112"/>
                </a:lnTo>
              </a:path>
            </a:pathLst>
          </a:custGeom>
          <a:noFill/>
          <a:ln w="25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90" name="m-p02_cycle_loop-icon-target"/>
          <p:cNvSpPr/>
          <p:nvPr/>
        </p:nvSpPr>
        <p:spPr>
          <a:xfrm>
            <a:off x="6405053" y="4740527"/>
            <a:ext cx="27055" cy="27055"/>
          </a:xfrm>
          <a:prstGeom prst="ellipse">
            <a:avLst/>
          </a:prstGeom>
          <a:noFill/>
          <a:ln w="25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91" name="m-p02_cycle_loop-icon-target"/>
          <p:cNvSpPr/>
          <p:nvPr/>
        </p:nvSpPr>
        <p:spPr>
          <a:xfrm>
            <a:off x="6411659" y="4747134"/>
            <a:ext cx="13842" cy="13842"/>
          </a:xfrm>
          <a:prstGeom prst="ellipse">
            <a:avLst/>
          </a:prstGeom>
          <a:noFill/>
          <a:ln w="25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592" name="m-p02_cycle_loop-lead-02"/>
          <p:cNvCxnSpPr/>
          <p:nvPr/>
        </p:nvCxnSpPr>
        <p:spPr>
          <a:xfrm flipV="1">
            <a:off x="6737174" y="4943931"/>
            <a:ext cx="77853" cy="8948"/>
          </a:xfrm>
          <a:prstGeom prst="line">
            <a:avLst/>
          </a:prstGeom>
          <a:ln w="2540" cap="rnd">
            <a:solidFill>
              <a:srgbClr val="1B5AA8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93" name="m-p02_cycle_loop-chip"/>
          <p:cNvSpPr/>
          <p:nvPr/>
        </p:nvSpPr>
        <p:spPr>
          <a:xfrm>
            <a:off x="6660626" y="4919588"/>
            <a:ext cx="75501" cy="7550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94" name="m-p02_cycle_loop-chip-ring"/>
          <p:cNvSpPr/>
          <p:nvPr/>
        </p:nvSpPr>
        <p:spPr>
          <a:xfrm>
            <a:off x="6660626" y="4919588"/>
            <a:ext cx="75501" cy="75501"/>
          </a:xfrm>
          <a:prstGeom prst="ellipse">
            <a:avLst/>
          </a:prstGeom>
          <a:noFill/>
          <a:ln w="2540" cap="rnd">
            <a:solidFill>
              <a:srgbClr val="1B5AA8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95" name="m-p02_cycle_loop-icon-process"/>
          <p:cNvSpPr/>
          <p:nvPr/>
        </p:nvSpPr>
        <p:spPr>
          <a:xfrm>
            <a:off x="6686740" y="4951032"/>
            <a:ext cx="23305" cy="12573"/>
          </a:xfrm>
          <a:custGeom>
            <a:avLst/>
            <a:gdLst/>
            <a:ahLst/>
            <a:cxnLst/>
            <a:rect l="0" t="0" r="r" b="b"/>
            <a:pathLst>
              <a:path w="23305" h="12573">
                <a:moveTo>
                  <a:pt x="0" y="0"/>
                </a:moveTo>
                <a:lnTo>
                  <a:pt x="8191" y="0"/>
                </a:lnTo>
                <a:lnTo>
                  <a:pt x="8191" y="8191"/>
                </a:lnTo>
                <a:lnTo>
                  <a:pt x="0" y="8191"/>
                </a:lnTo>
                <a:close/>
                <a:moveTo>
                  <a:pt x="15113" y="4445"/>
                </a:moveTo>
                <a:lnTo>
                  <a:pt x="23305" y="4445"/>
                </a:lnTo>
                <a:lnTo>
                  <a:pt x="23305" y="12573"/>
                </a:lnTo>
                <a:lnTo>
                  <a:pt x="15113" y="12573"/>
                </a:lnTo>
                <a:close/>
                <a:moveTo>
                  <a:pt x="8191" y="4127"/>
                </a:moveTo>
                <a:lnTo>
                  <a:pt x="15113" y="4127"/>
                </a:lnTo>
              </a:path>
            </a:pathLst>
          </a:custGeom>
          <a:noFill/>
          <a:ln w="254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596" name="m-p02_cycle_loop-lead-03"/>
          <p:cNvCxnSpPr/>
          <p:nvPr/>
        </p:nvCxnSpPr>
        <p:spPr>
          <a:xfrm>
            <a:off x="6624436" y="5307248"/>
            <a:ext cx="73558" cy="46881"/>
          </a:xfrm>
          <a:prstGeom prst="line">
            <a:avLst/>
          </a:prstGeom>
          <a:ln w="2540" cap="rnd">
            <a:solidFill>
              <a:srgbClr val="2E77C2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97" name="m-p02_cycle_loop-chip"/>
          <p:cNvSpPr/>
          <p:nvPr/>
        </p:nvSpPr>
        <p:spPr>
          <a:xfrm>
            <a:off x="6553753" y="5248508"/>
            <a:ext cx="75501" cy="7550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98" name="m-p02_cycle_loop-chip-ring"/>
          <p:cNvSpPr/>
          <p:nvPr/>
        </p:nvSpPr>
        <p:spPr>
          <a:xfrm>
            <a:off x="6553753" y="5248508"/>
            <a:ext cx="75501" cy="75501"/>
          </a:xfrm>
          <a:prstGeom prst="ellipse">
            <a:avLst/>
          </a:prstGeom>
          <a:noFill/>
          <a:ln w="2540" cap="rnd">
            <a:solidFill>
              <a:srgbClr val="2E77C2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99" name="m-p02_cycle_loop-icon-chart"/>
          <p:cNvSpPr/>
          <p:nvPr/>
        </p:nvSpPr>
        <p:spPr>
          <a:xfrm>
            <a:off x="6578282" y="5281549"/>
            <a:ext cx="26416" cy="17272"/>
          </a:xfrm>
          <a:custGeom>
            <a:avLst/>
            <a:gdLst/>
            <a:ahLst/>
            <a:cxnLst/>
            <a:rect l="0" t="0" r="r" b="b"/>
            <a:pathLst>
              <a:path w="26416" h="17272">
                <a:moveTo>
                  <a:pt x="0" y="17272"/>
                </a:moveTo>
                <a:lnTo>
                  <a:pt x="26416" y="17272"/>
                </a:lnTo>
                <a:moveTo>
                  <a:pt x="5969" y="17272"/>
                </a:moveTo>
                <a:lnTo>
                  <a:pt x="5969" y="7239"/>
                </a:lnTo>
                <a:moveTo>
                  <a:pt x="13208" y="17272"/>
                </a:moveTo>
                <a:lnTo>
                  <a:pt x="13208" y="0"/>
                </a:lnTo>
                <a:moveTo>
                  <a:pt x="20447" y="17272"/>
                </a:moveTo>
                <a:lnTo>
                  <a:pt x="20447" y="10668"/>
                </a:lnTo>
              </a:path>
            </a:pathLst>
          </a:custGeom>
          <a:noFill/>
          <a:ln w="254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600" name="m-p02_cycle_loop-lead-04"/>
          <p:cNvCxnSpPr/>
          <p:nvPr/>
        </p:nvCxnSpPr>
        <p:spPr>
          <a:xfrm flipH="1">
            <a:off x="6139166" y="5307248"/>
            <a:ext cx="73558" cy="46881"/>
          </a:xfrm>
          <a:prstGeom prst="line">
            <a:avLst/>
          </a:prstGeom>
          <a:ln w="2540" cap="rnd">
            <a:solidFill>
              <a:srgbClr val="3985CD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01" name="m-p02_cycle_loop-chip"/>
          <p:cNvSpPr/>
          <p:nvPr/>
        </p:nvSpPr>
        <p:spPr>
          <a:xfrm>
            <a:off x="6207905" y="5248508"/>
            <a:ext cx="75501" cy="7550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02" name="m-p02_cycle_loop-chip-ring"/>
          <p:cNvSpPr/>
          <p:nvPr/>
        </p:nvSpPr>
        <p:spPr>
          <a:xfrm>
            <a:off x="6207905" y="5248508"/>
            <a:ext cx="75501" cy="75501"/>
          </a:xfrm>
          <a:prstGeom prst="ellipse">
            <a:avLst/>
          </a:prstGeom>
          <a:noFill/>
          <a:ln w="2540" cap="rnd">
            <a:solidFill>
              <a:srgbClr val="3985CD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03" name="m-p02_cycle_loop-icon-doc"/>
          <p:cNvSpPr/>
          <p:nvPr/>
        </p:nvSpPr>
        <p:spPr>
          <a:xfrm>
            <a:off x="6237160" y="5273040"/>
            <a:ext cx="17589" cy="26416"/>
          </a:xfrm>
          <a:custGeom>
            <a:avLst/>
            <a:gdLst/>
            <a:ahLst/>
            <a:cxnLst/>
            <a:rect l="0" t="0" r="r" b="b"/>
            <a:pathLst>
              <a:path w="17589" h="26416">
                <a:moveTo>
                  <a:pt x="0" y="0"/>
                </a:moveTo>
                <a:lnTo>
                  <a:pt x="11303" y="0"/>
                </a:lnTo>
                <a:lnTo>
                  <a:pt x="17589" y="6287"/>
                </a:lnTo>
                <a:lnTo>
                  <a:pt x="17589" y="26416"/>
                </a:lnTo>
                <a:lnTo>
                  <a:pt x="0" y="26416"/>
                </a:lnTo>
                <a:close/>
                <a:moveTo>
                  <a:pt x="11303" y="0"/>
                </a:moveTo>
                <a:lnTo>
                  <a:pt x="11303" y="6287"/>
                </a:lnTo>
                <a:lnTo>
                  <a:pt x="17589" y="6287"/>
                </a:lnTo>
                <a:moveTo>
                  <a:pt x="4064" y="13843"/>
                </a:moveTo>
                <a:lnTo>
                  <a:pt x="13525" y="13843"/>
                </a:lnTo>
                <a:moveTo>
                  <a:pt x="4064" y="19177"/>
                </a:moveTo>
                <a:lnTo>
                  <a:pt x="13525" y="19177"/>
                </a:lnTo>
              </a:path>
            </a:pathLst>
          </a:custGeom>
          <a:noFill/>
          <a:ln w="254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604" name="m-p02_cycle_loop-lead-05"/>
          <p:cNvCxnSpPr/>
          <p:nvPr/>
        </p:nvCxnSpPr>
        <p:spPr>
          <a:xfrm flipH="1" flipV="1">
            <a:off x="6022133" y="4943931"/>
            <a:ext cx="77853" cy="8948"/>
          </a:xfrm>
          <a:prstGeom prst="line">
            <a:avLst/>
          </a:prstGeom>
          <a:ln w="2540" cap="rnd">
            <a:solidFill>
              <a:srgbClr val="54A2DF">
                <a:alpha val="5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05" name="m-p02_cycle_loop-chip"/>
          <p:cNvSpPr/>
          <p:nvPr/>
        </p:nvSpPr>
        <p:spPr>
          <a:xfrm>
            <a:off x="6101033" y="4919588"/>
            <a:ext cx="75501" cy="7550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06" name="m-p02_cycle_loop-chip-ring"/>
          <p:cNvSpPr/>
          <p:nvPr/>
        </p:nvSpPr>
        <p:spPr>
          <a:xfrm>
            <a:off x="6101033" y="4919588"/>
            <a:ext cx="75501" cy="75501"/>
          </a:xfrm>
          <a:prstGeom prst="ellipse">
            <a:avLst/>
          </a:prstGeom>
          <a:noFill/>
          <a:ln w="2540" cap="rnd">
            <a:solidFill>
              <a:srgbClr val="54A2D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07" name="m-p02_cycle_loop-icon-grow"/>
          <p:cNvSpPr/>
          <p:nvPr/>
        </p:nvSpPr>
        <p:spPr>
          <a:xfrm>
            <a:off x="6125591" y="4951349"/>
            <a:ext cx="23559" cy="14796"/>
          </a:xfrm>
          <a:custGeom>
            <a:avLst/>
            <a:gdLst/>
            <a:ahLst/>
            <a:cxnLst/>
            <a:rect l="0" t="0" r="r" b="b"/>
            <a:pathLst>
              <a:path w="23559" h="14796">
                <a:moveTo>
                  <a:pt x="0" y="14796"/>
                </a:moveTo>
                <a:lnTo>
                  <a:pt x="7811" y="6287"/>
                </a:lnTo>
                <a:lnTo>
                  <a:pt x="13525" y="11049"/>
                </a:lnTo>
                <a:lnTo>
                  <a:pt x="22924" y="0"/>
                </a:lnTo>
                <a:moveTo>
                  <a:pt x="19177" y="0"/>
                </a:moveTo>
                <a:lnTo>
                  <a:pt x="23559" y="0"/>
                </a:lnTo>
                <a:lnTo>
                  <a:pt x="23559" y="4381"/>
                </a:lnTo>
              </a:path>
            </a:pathLst>
          </a:custGeom>
          <a:noFill/>
          <a:ln w="254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08" name="m-p02_cycle_loop-card-01"/>
          <p:cNvSpPr/>
          <p:nvPr/>
        </p:nvSpPr>
        <p:spPr>
          <a:xfrm>
            <a:off x="6171248" y="4535360"/>
            <a:ext cx="494665" cy="151003"/>
          </a:xfrm>
          <a:custGeom>
            <a:avLst/>
            <a:gdLst/>
            <a:ahLst/>
            <a:cxnLst/>
            <a:rect l="0" t="0" r="r" b="b"/>
            <a:pathLst>
              <a:path w="494665" h="151003">
                <a:moveTo>
                  <a:pt x="23431" y="0"/>
                </a:moveTo>
                <a:lnTo>
                  <a:pt x="471233" y="0"/>
                </a:lnTo>
                <a:cubicBezTo>
                  <a:pt x="484187" y="0"/>
                  <a:pt x="494665" y="10477"/>
                  <a:pt x="494665" y="23431"/>
                </a:cubicBezTo>
                <a:lnTo>
                  <a:pt x="494665" y="127572"/>
                </a:lnTo>
                <a:cubicBezTo>
                  <a:pt x="494665" y="140525"/>
                  <a:pt x="484187" y="151003"/>
                  <a:pt x="471233" y="151003"/>
                </a:cubicBezTo>
                <a:lnTo>
                  <a:pt x="23431" y="151003"/>
                </a:lnTo>
                <a:cubicBezTo>
                  <a:pt x="10477" y="151003"/>
                  <a:pt x="0" y="140525"/>
                  <a:pt x="0" y="127572"/>
                </a:cubicBezTo>
                <a:lnTo>
                  <a:pt x="0" y="23431"/>
                </a:lnTo>
                <a:cubicBezTo>
                  <a:pt x="0" y="10477"/>
                  <a:pt x="10477" y="0"/>
                  <a:pt x="2343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09" name="m-p02_cycle_loop-card-bar-01"/>
          <p:cNvSpPr/>
          <p:nvPr/>
        </p:nvSpPr>
        <p:spPr>
          <a:xfrm>
            <a:off x="6171248" y="4563999"/>
            <a:ext cx="6540" cy="93726"/>
          </a:xfrm>
          <a:custGeom>
            <a:avLst/>
            <a:gdLst/>
            <a:ahLst/>
            <a:cxnLst/>
            <a:rect l="0" t="0" r="r" b="b"/>
            <a:pathLst>
              <a:path w="6540" h="93726">
                <a:moveTo>
                  <a:pt x="3238" y="0"/>
                </a:moveTo>
                <a:lnTo>
                  <a:pt x="3238" y="0"/>
                </a:lnTo>
                <a:cubicBezTo>
                  <a:pt x="5080" y="0"/>
                  <a:pt x="6540" y="1461"/>
                  <a:pt x="6540" y="3238"/>
                </a:cubicBezTo>
                <a:lnTo>
                  <a:pt x="6540" y="90488"/>
                </a:lnTo>
                <a:cubicBezTo>
                  <a:pt x="6540" y="92265"/>
                  <a:pt x="5080" y="93726"/>
                  <a:pt x="3238" y="93726"/>
                </a:cubicBezTo>
                <a:lnTo>
                  <a:pt x="3238" y="93726"/>
                </a:lnTo>
                <a:cubicBezTo>
                  <a:pt x="1461" y="93726"/>
                  <a:pt x="0" y="92265"/>
                  <a:pt x="0" y="90488"/>
                </a:cubicBezTo>
                <a:lnTo>
                  <a:pt x="0" y="3238"/>
                </a:lnTo>
                <a:cubicBezTo>
                  <a:pt x="0" y="1461"/>
                  <a:pt x="1461" y="0"/>
                  <a:pt x="3238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10" name="m-p02_cycle_loop-card-h-01"/>
          <p:cNvSpPr txBox="1"/>
          <p:nvPr/>
        </p:nvSpPr>
        <p:spPr>
          <a:xfrm>
            <a:off x="6211602" y="4560256"/>
            <a:ext cx="167275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目标设定</a:t>
            </a:r>
          </a:p>
        </p:txBody>
      </p:sp>
      <p:sp>
        <p:nvSpPr>
          <p:cNvPr id="1611" name="m-p02_cycle_loop-card-p-01"/>
          <p:cNvSpPr txBox="1"/>
          <p:nvPr/>
        </p:nvSpPr>
        <p:spPr>
          <a:xfrm>
            <a:off x="6212773" y="4619177"/>
            <a:ext cx="20795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年度目标拆解到岗</a:t>
            </a:r>
          </a:p>
        </p:txBody>
      </p:sp>
      <p:sp>
        <p:nvSpPr>
          <p:cNvPr id="1612" name="m-p02_cycle_loop-card-n-01"/>
          <p:cNvSpPr txBox="1"/>
          <p:nvPr/>
        </p:nvSpPr>
        <p:spPr>
          <a:xfrm>
            <a:off x="6505537" y="4518073"/>
            <a:ext cx="128821" cy="10934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90" b="1" i="0" u="none" strike="noStrike" kern="1200" cap="none" spc="10" normalizeH="0" baseline="0" noProof="0">
                <a:ln>
                  <a:noFill/>
                </a:ln>
                <a:solidFill>
                  <a:srgbClr val="0B3E8F">
                    <a:alpha val="16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1613" name="m-p02_cycle_loop-card-02"/>
          <p:cNvSpPr/>
          <p:nvPr/>
        </p:nvSpPr>
        <p:spPr>
          <a:xfrm>
            <a:off x="6815010" y="4839970"/>
            <a:ext cx="494665" cy="151003"/>
          </a:xfrm>
          <a:custGeom>
            <a:avLst/>
            <a:gdLst/>
            <a:ahLst/>
            <a:cxnLst/>
            <a:rect l="0" t="0" r="r" b="b"/>
            <a:pathLst>
              <a:path w="494665" h="151003">
                <a:moveTo>
                  <a:pt x="23432" y="0"/>
                </a:moveTo>
                <a:lnTo>
                  <a:pt x="471234" y="0"/>
                </a:lnTo>
                <a:cubicBezTo>
                  <a:pt x="484188" y="0"/>
                  <a:pt x="494665" y="10541"/>
                  <a:pt x="494665" y="23431"/>
                </a:cubicBezTo>
                <a:lnTo>
                  <a:pt x="494665" y="127571"/>
                </a:lnTo>
                <a:cubicBezTo>
                  <a:pt x="494665" y="140525"/>
                  <a:pt x="484188" y="151003"/>
                  <a:pt x="471234" y="151003"/>
                </a:cubicBezTo>
                <a:lnTo>
                  <a:pt x="23432" y="151003"/>
                </a:lnTo>
                <a:cubicBezTo>
                  <a:pt x="10541" y="151003"/>
                  <a:pt x="0" y="140525"/>
                  <a:pt x="0" y="127571"/>
                </a:cubicBezTo>
                <a:lnTo>
                  <a:pt x="0" y="23431"/>
                </a:lnTo>
                <a:cubicBezTo>
                  <a:pt x="0" y="10541"/>
                  <a:pt x="10541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14" name="m-p02_cycle_loop-card-bar-02"/>
          <p:cNvSpPr/>
          <p:nvPr/>
        </p:nvSpPr>
        <p:spPr>
          <a:xfrm>
            <a:off x="6815010" y="4868608"/>
            <a:ext cx="6540" cy="93726"/>
          </a:xfrm>
          <a:custGeom>
            <a:avLst/>
            <a:gdLst/>
            <a:ahLst/>
            <a:cxnLst/>
            <a:rect l="0" t="0" r="r" b="b"/>
            <a:pathLst>
              <a:path w="6540" h="93726">
                <a:moveTo>
                  <a:pt x="3302" y="0"/>
                </a:moveTo>
                <a:lnTo>
                  <a:pt x="3302" y="0"/>
                </a:lnTo>
                <a:cubicBezTo>
                  <a:pt x="5080" y="0"/>
                  <a:pt x="6540" y="1461"/>
                  <a:pt x="6540" y="3302"/>
                </a:cubicBezTo>
                <a:lnTo>
                  <a:pt x="6540" y="90488"/>
                </a:lnTo>
                <a:cubicBezTo>
                  <a:pt x="6540" y="92329"/>
                  <a:pt x="5080" y="93726"/>
                  <a:pt x="3302" y="93726"/>
                </a:cubicBezTo>
                <a:lnTo>
                  <a:pt x="3302" y="93726"/>
                </a:lnTo>
                <a:cubicBezTo>
                  <a:pt x="1461" y="93726"/>
                  <a:pt x="0" y="92329"/>
                  <a:pt x="0" y="90488"/>
                </a:cubicBezTo>
                <a:lnTo>
                  <a:pt x="0" y="3302"/>
                </a:lnTo>
                <a:cubicBezTo>
                  <a:pt x="0" y="1461"/>
                  <a:pt x="1461" y="0"/>
                  <a:pt x="3302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15" name="m-p02_cycle_loop-card-h-02"/>
          <p:cNvSpPr txBox="1"/>
          <p:nvPr/>
        </p:nvSpPr>
        <p:spPr>
          <a:xfrm>
            <a:off x="6855381" y="4864898"/>
            <a:ext cx="167275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计划执行</a:t>
            </a:r>
          </a:p>
        </p:txBody>
      </p:sp>
      <p:sp>
        <p:nvSpPr>
          <p:cNvPr id="1616" name="m-p02_cycle_loop-card-p-02"/>
          <p:cNvSpPr txBox="1"/>
          <p:nvPr/>
        </p:nvSpPr>
        <p:spPr>
          <a:xfrm>
            <a:off x="6856553" y="4923818"/>
            <a:ext cx="20795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行动计划资源对齐</a:t>
            </a:r>
          </a:p>
        </p:txBody>
      </p:sp>
      <p:sp>
        <p:nvSpPr>
          <p:cNvPr id="1617" name="m-p02_cycle_loop-card-n-02"/>
          <p:cNvSpPr txBox="1"/>
          <p:nvPr/>
        </p:nvSpPr>
        <p:spPr>
          <a:xfrm>
            <a:off x="7149317" y="4822715"/>
            <a:ext cx="128821" cy="10934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90" b="1" i="0" u="none" strike="noStrike" kern="1200" cap="none" spc="10" normalizeH="0" baseline="0" noProof="0">
                <a:ln>
                  <a:noFill/>
                </a:ln>
                <a:solidFill>
                  <a:srgbClr val="1B5AA8">
                    <a:alpha val="16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1618" name="m-p02_cycle_loop-card-03"/>
          <p:cNvSpPr/>
          <p:nvPr/>
        </p:nvSpPr>
        <p:spPr>
          <a:xfrm>
            <a:off x="6569138" y="5354130"/>
            <a:ext cx="494665" cy="151003"/>
          </a:xfrm>
          <a:custGeom>
            <a:avLst/>
            <a:gdLst/>
            <a:ahLst/>
            <a:cxnLst/>
            <a:rect l="0" t="0" r="r" b="b"/>
            <a:pathLst>
              <a:path w="494665" h="151003">
                <a:moveTo>
                  <a:pt x="23432" y="0"/>
                </a:moveTo>
                <a:lnTo>
                  <a:pt x="471234" y="0"/>
                </a:lnTo>
                <a:cubicBezTo>
                  <a:pt x="484188" y="0"/>
                  <a:pt x="494665" y="10478"/>
                  <a:pt x="494665" y="23432"/>
                </a:cubicBezTo>
                <a:lnTo>
                  <a:pt x="494665" y="127572"/>
                </a:lnTo>
                <a:cubicBezTo>
                  <a:pt x="494665" y="140525"/>
                  <a:pt x="484188" y="151003"/>
                  <a:pt x="471234" y="151003"/>
                </a:cubicBezTo>
                <a:lnTo>
                  <a:pt x="23432" y="151003"/>
                </a:lnTo>
                <a:cubicBezTo>
                  <a:pt x="10478" y="151003"/>
                  <a:pt x="0" y="140525"/>
                  <a:pt x="0" y="127572"/>
                </a:cubicBezTo>
                <a:lnTo>
                  <a:pt x="0" y="23432"/>
                </a:lnTo>
                <a:cubicBezTo>
                  <a:pt x="0" y="10478"/>
                  <a:pt x="10478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19" name="m-p02_cycle_loop-card-bar-03"/>
          <p:cNvSpPr/>
          <p:nvPr/>
        </p:nvSpPr>
        <p:spPr>
          <a:xfrm>
            <a:off x="6569138" y="5382768"/>
            <a:ext cx="6477" cy="93726"/>
          </a:xfrm>
          <a:custGeom>
            <a:avLst/>
            <a:gdLst/>
            <a:ahLst/>
            <a:cxnLst/>
            <a:rect l="0" t="0" r="r" b="b"/>
            <a:pathLst>
              <a:path w="6477" h="93726">
                <a:moveTo>
                  <a:pt x="3238" y="0"/>
                </a:moveTo>
                <a:lnTo>
                  <a:pt x="3238" y="0"/>
                </a:lnTo>
                <a:cubicBezTo>
                  <a:pt x="5016" y="0"/>
                  <a:pt x="6477" y="1461"/>
                  <a:pt x="6477" y="3239"/>
                </a:cubicBezTo>
                <a:lnTo>
                  <a:pt x="6477" y="90488"/>
                </a:lnTo>
                <a:cubicBezTo>
                  <a:pt x="6477" y="92266"/>
                  <a:pt x="5016" y="93726"/>
                  <a:pt x="3238" y="93726"/>
                </a:cubicBezTo>
                <a:lnTo>
                  <a:pt x="3238" y="93726"/>
                </a:lnTo>
                <a:cubicBezTo>
                  <a:pt x="1461" y="93726"/>
                  <a:pt x="0" y="92266"/>
                  <a:pt x="0" y="90488"/>
                </a:cubicBezTo>
                <a:lnTo>
                  <a:pt x="0" y="3239"/>
                </a:lnTo>
                <a:cubicBezTo>
                  <a:pt x="0" y="1461"/>
                  <a:pt x="1461" y="0"/>
                  <a:pt x="3238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20" name="m-p02_cycle_loop-card-h-03"/>
          <p:cNvSpPr txBox="1"/>
          <p:nvPr/>
        </p:nvSpPr>
        <p:spPr>
          <a:xfrm>
            <a:off x="6609479" y="5379025"/>
            <a:ext cx="167275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过程监控</a:t>
            </a:r>
          </a:p>
        </p:txBody>
      </p:sp>
      <p:sp>
        <p:nvSpPr>
          <p:cNvPr id="1621" name="m-p02_cycle_loop-card-p-03"/>
          <p:cNvSpPr txBox="1"/>
          <p:nvPr/>
        </p:nvSpPr>
        <p:spPr>
          <a:xfrm>
            <a:off x="6610651" y="5437946"/>
            <a:ext cx="20795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关键指标实时预警</a:t>
            </a:r>
          </a:p>
        </p:txBody>
      </p:sp>
      <p:sp>
        <p:nvSpPr>
          <p:cNvPr id="1622" name="m-p02_cycle_loop-card-n-03"/>
          <p:cNvSpPr txBox="1"/>
          <p:nvPr/>
        </p:nvSpPr>
        <p:spPr>
          <a:xfrm>
            <a:off x="6903415" y="5336842"/>
            <a:ext cx="128821" cy="10934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90" b="1" i="0" u="none" strike="noStrike" kern="1200" cap="none" spc="10" normalizeH="0" baseline="0" noProof="0">
                <a:ln>
                  <a:noFill/>
                </a:ln>
                <a:solidFill>
                  <a:srgbClr val="2E77C2">
                    <a:alpha val="16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1623" name="m-p02_cycle_loop-card-04"/>
          <p:cNvSpPr/>
          <p:nvPr/>
        </p:nvSpPr>
        <p:spPr>
          <a:xfrm>
            <a:off x="5773356" y="5354130"/>
            <a:ext cx="494665" cy="151003"/>
          </a:xfrm>
          <a:custGeom>
            <a:avLst/>
            <a:gdLst/>
            <a:ahLst/>
            <a:cxnLst/>
            <a:rect l="0" t="0" r="r" b="b"/>
            <a:pathLst>
              <a:path w="494665" h="151003">
                <a:moveTo>
                  <a:pt x="23431" y="0"/>
                </a:moveTo>
                <a:lnTo>
                  <a:pt x="471233" y="0"/>
                </a:lnTo>
                <a:cubicBezTo>
                  <a:pt x="484188" y="0"/>
                  <a:pt x="494665" y="10478"/>
                  <a:pt x="494665" y="23432"/>
                </a:cubicBezTo>
                <a:lnTo>
                  <a:pt x="494665" y="127572"/>
                </a:lnTo>
                <a:cubicBezTo>
                  <a:pt x="494665" y="140525"/>
                  <a:pt x="484188" y="151003"/>
                  <a:pt x="471233" y="151003"/>
                </a:cubicBezTo>
                <a:lnTo>
                  <a:pt x="23431" y="151003"/>
                </a:lnTo>
                <a:cubicBezTo>
                  <a:pt x="10477" y="151003"/>
                  <a:pt x="0" y="140525"/>
                  <a:pt x="0" y="127572"/>
                </a:cubicBezTo>
                <a:lnTo>
                  <a:pt x="0" y="23432"/>
                </a:lnTo>
                <a:cubicBezTo>
                  <a:pt x="0" y="10478"/>
                  <a:pt x="10477" y="0"/>
                  <a:pt x="2343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24" name="m-p02_cycle_loop-card-bar-04"/>
          <p:cNvSpPr/>
          <p:nvPr/>
        </p:nvSpPr>
        <p:spPr>
          <a:xfrm>
            <a:off x="5773356" y="5382768"/>
            <a:ext cx="6540" cy="93726"/>
          </a:xfrm>
          <a:custGeom>
            <a:avLst/>
            <a:gdLst/>
            <a:ahLst/>
            <a:cxnLst/>
            <a:rect l="0" t="0" r="r" b="b"/>
            <a:pathLst>
              <a:path w="6540" h="93726">
                <a:moveTo>
                  <a:pt x="3238" y="0"/>
                </a:moveTo>
                <a:lnTo>
                  <a:pt x="3238" y="0"/>
                </a:lnTo>
                <a:cubicBezTo>
                  <a:pt x="5080" y="0"/>
                  <a:pt x="6540" y="1461"/>
                  <a:pt x="6540" y="3239"/>
                </a:cubicBezTo>
                <a:lnTo>
                  <a:pt x="6540" y="90488"/>
                </a:lnTo>
                <a:cubicBezTo>
                  <a:pt x="6540" y="92266"/>
                  <a:pt x="5080" y="93726"/>
                  <a:pt x="3238" y="93726"/>
                </a:cubicBezTo>
                <a:lnTo>
                  <a:pt x="3238" y="93726"/>
                </a:lnTo>
                <a:cubicBezTo>
                  <a:pt x="1460" y="93726"/>
                  <a:pt x="0" y="92266"/>
                  <a:pt x="0" y="90488"/>
                </a:cubicBezTo>
                <a:lnTo>
                  <a:pt x="0" y="3239"/>
                </a:lnTo>
                <a:cubicBezTo>
                  <a:pt x="0" y="1461"/>
                  <a:pt x="1460" y="0"/>
                  <a:pt x="3238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25" name="m-p02_cycle_loop-card-h-04"/>
          <p:cNvSpPr txBox="1"/>
          <p:nvPr/>
        </p:nvSpPr>
        <p:spPr>
          <a:xfrm>
            <a:off x="5813724" y="5379025"/>
            <a:ext cx="167275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复盘评估</a:t>
            </a:r>
          </a:p>
        </p:txBody>
      </p:sp>
      <p:sp>
        <p:nvSpPr>
          <p:cNvPr id="1626" name="m-p02_cycle_loop-card-p-04"/>
          <p:cNvSpPr txBox="1"/>
          <p:nvPr/>
        </p:nvSpPr>
        <p:spPr>
          <a:xfrm>
            <a:off x="5814896" y="5437946"/>
            <a:ext cx="20795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对照目标量化评估</a:t>
            </a:r>
          </a:p>
        </p:txBody>
      </p:sp>
      <p:sp>
        <p:nvSpPr>
          <p:cNvPr id="1627" name="m-p02_cycle_loop-card-n-04"/>
          <p:cNvSpPr txBox="1"/>
          <p:nvPr/>
        </p:nvSpPr>
        <p:spPr>
          <a:xfrm>
            <a:off x="6107659" y="5336842"/>
            <a:ext cx="128821" cy="10934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90" b="1" i="0" u="none" strike="noStrike" kern="1200" cap="none" spc="10" normalizeH="0" baseline="0" noProof="0">
                <a:ln>
                  <a:noFill/>
                </a:ln>
                <a:solidFill>
                  <a:srgbClr val="3985CD">
                    <a:alpha val="16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1628" name="m-p02_cycle_loop-card-05"/>
          <p:cNvSpPr/>
          <p:nvPr/>
        </p:nvSpPr>
        <p:spPr>
          <a:xfrm>
            <a:off x="5527484" y="4839970"/>
            <a:ext cx="494665" cy="151003"/>
          </a:xfrm>
          <a:custGeom>
            <a:avLst/>
            <a:gdLst/>
            <a:ahLst/>
            <a:cxnLst/>
            <a:rect l="0" t="0" r="r" b="b"/>
            <a:pathLst>
              <a:path w="494665" h="151003">
                <a:moveTo>
                  <a:pt x="23431" y="0"/>
                </a:moveTo>
                <a:lnTo>
                  <a:pt x="471233" y="0"/>
                </a:lnTo>
                <a:cubicBezTo>
                  <a:pt x="484124" y="0"/>
                  <a:pt x="494665" y="10541"/>
                  <a:pt x="494665" y="23431"/>
                </a:cubicBezTo>
                <a:lnTo>
                  <a:pt x="494665" y="127571"/>
                </a:lnTo>
                <a:cubicBezTo>
                  <a:pt x="494665" y="140525"/>
                  <a:pt x="484124" y="151003"/>
                  <a:pt x="471233" y="151003"/>
                </a:cubicBezTo>
                <a:lnTo>
                  <a:pt x="23431" y="151003"/>
                </a:lnTo>
                <a:cubicBezTo>
                  <a:pt x="10477" y="151003"/>
                  <a:pt x="0" y="140525"/>
                  <a:pt x="0" y="127571"/>
                </a:cubicBezTo>
                <a:lnTo>
                  <a:pt x="0" y="23431"/>
                </a:lnTo>
                <a:cubicBezTo>
                  <a:pt x="0" y="10541"/>
                  <a:pt x="10477" y="0"/>
                  <a:pt x="2343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29" name="m-p02_cycle_loop-card-bar-05"/>
          <p:cNvSpPr/>
          <p:nvPr/>
        </p:nvSpPr>
        <p:spPr>
          <a:xfrm>
            <a:off x="5527484" y="4868608"/>
            <a:ext cx="6477" cy="93726"/>
          </a:xfrm>
          <a:custGeom>
            <a:avLst/>
            <a:gdLst/>
            <a:ahLst/>
            <a:cxnLst/>
            <a:rect l="0" t="0" r="r" b="b"/>
            <a:pathLst>
              <a:path w="6477" h="93726">
                <a:moveTo>
                  <a:pt x="3238" y="0"/>
                </a:moveTo>
                <a:lnTo>
                  <a:pt x="3238" y="0"/>
                </a:lnTo>
                <a:cubicBezTo>
                  <a:pt x="5016" y="0"/>
                  <a:pt x="6477" y="1461"/>
                  <a:pt x="6477" y="3302"/>
                </a:cubicBezTo>
                <a:lnTo>
                  <a:pt x="6477" y="90488"/>
                </a:lnTo>
                <a:cubicBezTo>
                  <a:pt x="6477" y="92329"/>
                  <a:pt x="5016" y="93726"/>
                  <a:pt x="3238" y="93726"/>
                </a:cubicBezTo>
                <a:lnTo>
                  <a:pt x="3238" y="93726"/>
                </a:lnTo>
                <a:cubicBezTo>
                  <a:pt x="1461" y="93726"/>
                  <a:pt x="0" y="92329"/>
                  <a:pt x="0" y="90488"/>
                </a:cubicBezTo>
                <a:lnTo>
                  <a:pt x="0" y="3302"/>
                </a:lnTo>
                <a:cubicBezTo>
                  <a:pt x="0" y="1461"/>
                  <a:pt x="1461" y="0"/>
                  <a:pt x="3238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30" name="m-p02_cycle_loop-card-h-05"/>
          <p:cNvSpPr txBox="1"/>
          <p:nvPr/>
        </p:nvSpPr>
        <p:spPr>
          <a:xfrm>
            <a:off x="5567822" y="4864898"/>
            <a:ext cx="167275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迭代改进</a:t>
            </a:r>
          </a:p>
        </p:txBody>
      </p:sp>
      <p:sp>
        <p:nvSpPr>
          <p:cNvPr id="1631" name="m-p02_cycle_loop-card-p-05"/>
          <p:cNvSpPr txBox="1"/>
          <p:nvPr/>
        </p:nvSpPr>
        <p:spPr>
          <a:xfrm>
            <a:off x="5568994" y="4923818"/>
            <a:ext cx="20795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改进措施闭环落地</a:t>
            </a:r>
          </a:p>
        </p:txBody>
      </p:sp>
      <p:sp>
        <p:nvSpPr>
          <p:cNvPr id="1632" name="m-p02_cycle_loop-card-n-05"/>
          <p:cNvSpPr txBox="1"/>
          <p:nvPr/>
        </p:nvSpPr>
        <p:spPr>
          <a:xfrm>
            <a:off x="5861757" y="4822715"/>
            <a:ext cx="128821" cy="10934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90" b="1" i="0" u="none" strike="noStrike" kern="1200" cap="none" spc="10" normalizeH="0" baseline="0" noProof="0">
                <a:ln>
                  <a:noFill/>
                </a:ln>
                <a:solidFill>
                  <a:srgbClr val="54A2DF">
                    <a:alpha val="16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05</a:t>
            </a:r>
          </a:p>
        </p:txBody>
      </p:sp>
      <p:cxnSp>
        <p:nvCxnSpPr>
          <p:cNvPr id="1633" name="m-p02_cycle_loop-foot-line"/>
          <p:cNvCxnSpPr/>
          <p:nvPr/>
        </p:nvCxnSpPr>
        <p:spPr>
          <a:xfrm>
            <a:off x="5288661" y="55923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34" name="m-p02_cycle_loop-foot-l"/>
          <p:cNvSpPr txBox="1"/>
          <p:nvPr/>
        </p:nvSpPr>
        <p:spPr>
          <a:xfrm>
            <a:off x="5286474" y="5606323"/>
            <a:ext cx="23447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闭环机制 · 五环节循环</a:t>
            </a:r>
          </a:p>
        </p:txBody>
      </p:sp>
      <p:sp>
        <p:nvSpPr>
          <p:cNvPr id="1635" name="m-p02_cycle_loop-foot-r"/>
          <p:cNvSpPr txBox="1"/>
          <p:nvPr/>
        </p:nvSpPr>
        <p:spPr>
          <a:xfrm>
            <a:off x="7290909" y="56063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1636" name="mini-card-d08_kpi_board"/>
          <p:cNvSpPr/>
          <p:nvPr/>
        </p:nvSpPr>
        <p:spPr>
          <a:xfrm>
            <a:off x="7785100" y="42672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1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1" y="1405890"/>
                </a:lnTo>
                <a:cubicBezTo>
                  <a:pt x="35878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7"/>
                  <a:pt x="35878" y="0"/>
                  <a:pt x="80201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37" name="m-d08_kpi_board-title-bar"/>
          <p:cNvSpPr/>
          <p:nvPr/>
        </p:nvSpPr>
        <p:spPr>
          <a:xfrm>
            <a:off x="7904861" y="43661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38" name="m-d08_kpi_board-title-bar-accent"/>
          <p:cNvSpPr/>
          <p:nvPr/>
        </p:nvSpPr>
        <p:spPr>
          <a:xfrm>
            <a:off x="7904861" y="43661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39" name="m-d08_kpi_board-title-cn"/>
          <p:cNvSpPr txBox="1"/>
          <p:nvPr/>
        </p:nvSpPr>
        <p:spPr>
          <a:xfrm>
            <a:off x="7937040" y="4348768"/>
            <a:ext cx="426453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季度经营看板</a:t>
            </a:r>
          </a:p>
        </p:txBody>
      </p:sp>
      <p:sp>
        <p:nvSpPr>
          <p:cNvPr id="1640" name="m-d08_kpi_board-title-en"/>
          <p:cNvSpPr txBox="1"/>
          <p:nvPr/>
        </p:nvSpPr>
        <p:spPr>
          <a:xfrm>
            <a:off x="7944330" y="4436050"/>
            <a:ext cx="25907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KPI DASHBOARD</a:t>
            </a:r>
          </a:p>
        </p:txBody>
      </p:sp>
      <p:sp>
        <p:nvSpPr>
          <p:cNvPr id="1641" name="m-d08_kpi_board-title-sub"/>
          <p:cNvSpPr txBox="1"/>
          <p:nvPr/>
        </p:nvSpPr>
        <p:spPr>
          <a:xfrm>
            <a:off x="9655376" y="4405192"/>
            <a:ext cx="511978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六项核心指标的当期值、环比变化与近六期走势</a:t>
            </a:r>
          </a:p>
        </p:txBody>
      </p:sp>
      <p:sp>
        <p:nvSpPr>
          <p:cNvPr id="1642" name="m-d08_kpi_board-topbar"/>
          <p:cNvSpPr/>
          <p:nvPr/>
        </p:nvSpPr>
        <p:spPr>
          <a:xfrm>
            <a:off x="7980362" y="4548378"/>
            <a:ext cx="2108835" cy="109347"/>
          </a:xfrm>
          <a:custGeom>
            <a:avLst/>
            <a:gdLst/>
            <a:ahLst/>
            <a:cxnLst/>
            <a:rect l="0" t="0" r="r" b="b"/>
            <a:pathLst>
              <a:path w="2108835" h="109347">
                <a:moveTo>
                  <a:pt x="20828" y="0"/>
                </a:moveTo>
                <a:lnTo>
                  <a:pt x="2088007" y="0"/>
                </a:lnTo>
                <a:cubicBezTo>
                  <a:pt x="2099501" y="0"/>
                  <a:pt x="2108835" y="9335"/>
                  <a:pt x="2108835" y="20828"/>
                </a:cubicBezTo>
                <a:lnTo>
                  <a:pt x="2108835" y="88519"/>
                </a:lnTo>
                <a:cubicBezTo>
                  <a:pt x="2108835" y="100012"/>
                  <a:pt x="2099501" y="109347"/>
                  <a:pt x="2088007" y="109347"/>
                </a:cubicBezTo>
                <a:lnTo>
                  <a:pt x="20828" y="109347"/>
                </a:lnTo>
                <a:cubicBezTo>
                  <a:pt x="9335" y="109347"/>
                  <a:pt x="0" y="100012"/>
                  <a:pt x="0" y="88519"/>
                </a:cubicBezTo>
                <a:lnTo>
                  <a:pt x="0" y="20828"/>
                </a:lnTo>
                <a:cubicBezTo>
                  <a:pt x="0" y="9335"/>
                  <a:pt x="9335" y="0"/>
                  <a:pt x="20828" y="0"/>
                </a:cubic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0A3A88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43" name="m-d08_kpi_board-icon-target"/>
          <p:cNvSpPr/>
          <p:nvPr/>
        </p:nvSpPr>
        <p:spPr>
          <a:xfrm>
            <a:off x="8040243" y="4589082"/>
            <a:ext cx="10731" cy="13970"/>
          </a:xfrm>
          <a:custGeom>
            <a:avLst/>
            <a:gdLst/>
            <a:ahLst/>
            <a:cxnLst/>
            <a:rect l="0" t="0" r="r" b="b"/>
            <a:pathLst>
              <a:path w="10731" h="13970">
                <a:moveTo>
                  <a:pt x="0" y="8128"/>
                </a:moveTo>
                <a:lnTo>
                  <a:pt x="0" y="0"/>
                </a:lnTo>
                <a:moveTo>
                  <a:pt x="0" y="13970"/>
                </a:moveTo>
                <a:lnTo>
                  <a:pt x="10731" y="3238"/>
                </a:lnTo>
              </a:path>
            </a:pathLst>
          </a:custGeom>
          <a:noFill/>
          <a:ln w="260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44" name="m-d08_kpi_board-icon-target"/>
          <p:cNvSpPr/>
          <p:nvPr/>
        </p:nvSpPr>
        <p:spPr>
          <a:xfrm>
            <a:off x="8026249" y="4589058"/>
            <a:ext cx="27988" cy="27988"/>
          </a:xfrm>
          <a:prstGeom prst="ellipse">
            <a:avLst/>
          </a:prstGeom>
          <a:noFill/>
          <a:ln w="260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45" name="m-d08_kpi_board-icon-target"/>
          <p:cNvSpPr/>
          <p:nvPr/>
        </p:nvSpPr>
        <p:spPr>
          <a:xfrm>
            <a:off x="8033083" y="4595892"/>
            <a:ext cx="14319" cy="14319"/>
          </a:xfrm>
          <a:prstGeom prst="ellipse">
            <a:avLst/>
          </a:prstGeom>
          <a:noFill/>
          <a:ln w="260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46" name="m-d08_kpi_board-top-t"/>
          <p:cNvSpPr txBox="1"/>
          <p:nvPr/>
        </p:nvSpPr>
        <p:spPr>
          <a:xfrm>
            <a:off x="8081066" y="4578097"/>
            <a:ext cx="275190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2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2026 年第三季度</a:t>
            </a:r>
          </a:p>
        </p:txBody>
      </p:sp>
      <p:sp>
        <p:nvSpPr>
          <p:cNvPr id="1647" name="m-d08_kpi_board-tl-1"/>
          <p:cNvSpPr txBox="1"/>
          <p:nvPr/>
        </p:nvSpPr>
        <p:spPr>
          <a:xfrm>
            <a:off x="8889401" y="4572734"/>
            <a:ext cx="11273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8" normalizeH="0" baseline="0" noProof="0">
                <a:ln>
                  <a:noFill/>
                </a:ln>
                <a:solidFill>
                  <a:srgbClr val="BFD6F0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目标完成度</a:t>
            </a:r>
          </a:p>
        </p:txBody>
      </p:sp>
      <p:sp>
        <p:nvSpPr>
          <p:cNvPr id="1648" name="m-d08_kpi_board-tv-1"/>
          <p:cNvSpPr txBox="1"/>
          <p:nvPr/>
        </p:nvSpPr>
        <p:spPr>
          <a:xfrm>
            <a:off x="8887838" y="4595710"/>
            <a:ext cx="136996" cy="546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5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103.6%</a:t>
            </a:r>
          </a:p>
        </p:txBody>
      </p:sp>
      <p:cxnSp>
        <p:nvCxnSpPr>
          <p:cNvPr id="1649" name="m-d08_kpi_board-tsep-1"/>
          <p:cNvCxnSpPr/>
          <p:nvPr/>
        </p:nvCxnSpPr>
        <p:spPr>
          <a:xfrm>
            <a:off x="9217025" y="4577016"/>
            <a:ext cx="0" cy="52070"/>
          </a:xfrm>
          <a:prstGeom prst="line">
            <a:avLst/>
          </a:prstGeom>
          <a:ln w="2540" cap="rnd">
            <a:solidFill>
              <a:srgbClr val="FFFFFF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50" name="m-d08_kpi_board-tl-2"/>
          <p:cNvSpPr txBox="1"/>
          <p:nvPr/>
        </p:nvSpPr>
        <p:spPr>
          <a:xfrm>
            <a:off x="9279926" y="4572734"/>
            <a:ext cx="93466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8" normalizeH="0" baseline="0" noProof="0">
                <a:ln>
                  <a:noFill/>
                </a:ln>
                <a:solidFill>
                  <a:srgbClr val="BFD6F0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对比上季</a:t>
            </a:r>
          </a:p>
        </p:txBody>
      </p:sp>
      <p:sp>
        <p:nvSpPr>
          <p:cNvPr id="1651" name="m-d08_kpi_board-tv-2"/>
          <p:cNvSpPr txBox="1"/>
          <p:nvPr/>
        </p:nvSpPr>
        <p:spPr>
          <a:xfrm>
            <a:off x="9278363" y="4595710"/>
            <a:ext cx="136996" cy="546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5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+12.4%</a:t>
            </a:r>
          </a:p>
        </p:txBody>
      </p:sp>
      <p:cxnSp>
        <p:nvCxnSpPr>
          <p:cNvPr id="1652" name="m-d08_kpi_board-tsep-2"/>
          <p:cNvCxnSpPr/>
          <p:nvPr/>
        </p:nvCxnSpPr>
        <p:spPr>
          <a:xfrm>
            <a:off x="9607550" y="4577016"/>
            <a:ext cx="0" cy="52070"/>
          </a:xfrm>
          <a:prstGeom prst="line">
            <a:avLst/>
          </a:prstGeom>
          <a:ln w="2540" cap="rnd">
            <a:solidFill>
              <a:srgbClr val="FFFFFF">
                <a:alpha val="25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53" name="m-d08_kpi_board-tl-3"/>
          <p:cNvSpPr txBox="1"/>
          <p:nvPr/>
        </p:nvSpPr>
        <p:spPr>
          <a:xfrm>
            <a:off x="9670451" y="4572734"/>
            <a:ext cx="93466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8" normalizeH="0" baseline="0" noProof="0">
                <a:ln>
                  <a:noFill/>
                </a:ln>
                <a:solidFill>
                  <a:srgbClr val="BFD6F0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达标指标</a:t>
            </a:r>
          </a:p>
        </p:txBody>
      </p:sp>
      <p:sp>
        <p:nvSpPr>
          <p:cNvPr id="1654" name="m-d08_kpi_board-tv-3"/>
          <p:cNvSpPr txBox="1"/>
          <p:nvPr/>
        </p:nvSpPr>
        <p:spPr>
          <a:xfrm>
            <a:off x="9668888" y="4595710"/>
            <a:ext cx="118850" cy="546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5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5 / 6</a:t>
            </a:r>
          </a:p>
        </p:txBody>
      </p:sp>
      <p:sp>
        <p:nvSpPr>
          <p:cNvPr id="1655" name="m-d08_kpi_board-card-1"/>
          <p:cNvSpPr/>
          <p:nvPr/>
        </p:nvSpPr>
        <p:spPr>
          <a:xfrm>
            <a:off x="7980362" y="4699381"/>
            <a:ext cx="697738" cy="390525"/>
          </a:xfrm>
          <a:custGeom>
            <a:avLst/>
            <a:gdLst/>
            <a:ahLst/>
            <a:cxnLst/>
            <a:rect l="0" t="0" r="r" b="b"/>
            <a:pathLst>
              <a:path w="697738" h="390525">
                <a:moveTo>
                  <a:pt x="26035" y="0"/>
                </a:moveTo>
                <a:lnTo>
                  <a:pt x="671703" y="0"/>
                </a:lnTo>
                <a:cubicBezTo>
                  <a:pt x="686117" y="0"/>
                  <a:pt x="697738" y="11621"/>
                  <a:pt x="697738" y="26035"/>
                </a:cubicBezTo>
                <a:lnTo>
                  <a:pt x="697738" y="364490"/>
                </a:lnTo>
                <a:cubicBezTo>
                  <a:pt x="697738" y="378905"/>
                  <a:pt x="686117" y="390525"/>
                  <a:pt x="671703" y="390525"/>
                </a:cubicBezTo>
                <a:lnTo>
                  <a:pt x="26035" y="390525"/>
                </a:lnTo>
                <a:cubicBezTo>
                  <a:pt x="11620" y="390525"/>
                  <a:pt x="0" y="378905"/>
                  <a:pt x="0" y="364490"/>
                </a:cubicBezTo>
                <a:lnTo>
                  <a:pt x="0" y="26035"/>
                </a:lnTo>
                <a:cubicBezTo>
                  <a:pt x="0" y="11621"/>
                  <a:pt x="11620" y="0"/>
                  <a:pt x="260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56" name="m-d08_kpi_board-cap-1"/>
          <p:cNvSpPr/>
          <p:nvPr/>
        </p:nvSpPr>
        <p:spPr>
          <a:xfrm>
            <a:off x="7980362" y="4699381"/>
            <a:ext cx="9081" cy="390525"/>
          </a:xfrm>
          <a:custGeom>
            <a:avLst/>
            <a:gdLst/>
            <a:ahLst/>
            <a:cxnLst/>
            <a:rect l="0" t="0" r="r" b="b"/>
            <a:pathLst>
              <a:path w="9081" h="390525">
                <a:moveTo>
                  <a:pt x="4572" y="0"/>
                </a:moveTo>
                <a:lnTo>
                  <a:pt x="4572" y="0"/>
                </a:lnTo>
                <a:cubicBezTo>
                  <a:pt x="7048" y="0"/>
                  <a:pt x="9081" y="2032"/>
                  <a:pt x="9081" y="4572"/>
                </a:cubicBezTo>
                <a:lnTo>
                  <a:pt x="9081" y="385953"/>
                </a:lnTo>
                <a:cubicBezTo>
                  <a:pt x="9081" y="388493"/>
                  <a:pt x="7048" y="390525"/>
                  <a:pt x="4572" y="390525"/>
                </a:cubicBezTo>
                <a:lnTo>
                  <a:pt x="4572" y="390525"/>
                </a:lnTo>
                <a:cubicBezTo>
                  <a:pt x="2032" y="390525"/>
                  <a:pt x="0" y="388493"/>
                  <a:pt x="0" y="385953"/>
                </a:cubicBezTo>
                <a:lnTo>
                  <a:pt x="0" y="4572"/>
                </a:lnTo>
                <a:cubicBezTo>
                  <a:pt x="0" y="2032"/>
                  <a:pt x="2032" y="0"/>
                  <a:pt x="4572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57" name="m-d08_kpi_board-chip-1"/>
          <p:cNvSpPr/>
          <p:nvPr/>
        </p:nvSpPr>
        <p:spPr>
          <a:xfrm>
            <a:off x="8024622" y="4735830"/>
            <a:ext cx="67691" cy="67691"/>
          </a:xfrm>
          <a:prstGeom prst="ellipse">
            <a:avLst/>
          </a:pr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58" name="m-d08_kpi_board-icon-coin"/>
          <p:cNvSpPr/>
          <p:nvPr/>
        </p:nvSpPr>
        <p:spPr>
          <a:xfrm>
            <a:off x="8048752" y="4761166"/>
            <a:ext cx="19431" cy="17018"/>
          </a:xfrm>
          <a:custGeom>
            <a:avLst/>
            <a:gdLst/>
            <a:ahLst/>
            <a:cxnLst/>
            <a:rect l="0" t="0" r="r" b="b"/>
            <a:pathLst>
              <a:path w="19431" h="17018">
                <a:moveTo>
                  <a:pt x="9715" y="0"/>
                </a:moveTo>
                <a:cubicBezTo>
                  <a:pt x="4255" y="0"/>
                  <a:pt x="0" y="1524"/>
                  <a:pt x="0" y="3683"/>
                </a:cubicBezTo>
                <a:cubicBezTo>
                  <a:pt x="0" y="5779"/>
                  <a:pt x="4255" y="7303"/>
                  <a:pt x="9715" y="7303"/>
                </a:cubicBezTo>
                <a:cubicBezTo>
                  <a:pt x="15177" y="7303"/>
                  <a:pt x="19431" y="5779"/>
                  <a:pt x="19431" y="3683"/>
                </a:cubicBezTo>
                <a:cubicBezTo>
                  <a:pt x="19431" y="1524"/>
                  <a:pt x="15177" y="0"/>
                  <a:pt x="9715" y="0"/>
                </a:cubicBezTo>
                <a:close/>
                <a:moveTo>
                  <a:pt x="0" y="3683"/>
                </a:moveTo>
                <a:lnTo>
                  <a:pt x="0" y="13335"/>
                </a:lnTo>
                <a:cubicBezTo>
                  <a:pt x="0" y="15494"/>
                  <a:pt x="4255" y="17018"/>
                  <a:pt x="9715" y="17018"/>
                </a:cubicBezTo>
                <a:cubicBezTo>
                  <a:pt x="15177" y="17018"/>
                  <a:pt x="19431" y="15494"/>
                  <a:pt x="19431" y="13335"/>
                </a:cubicBezTo>
                <a:lnTo>
                  <a:pt x="19431" y="3683"/>
                </a:lnTo>
              </a:path>
            </a:pathLst>
          </a:custGeom>
          <a:noFill/>
          <a:ln w="260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59" name="m-d08_kpi_board-nm-1"/>
          <p:cNvSpPr txBox="1"/>
          <p:nvPr/>
        </p:nvSpPr>
        <p:spPr>
          <a:xfrm>
            <a:off x="8106632" y="4739898"/>
            <a:ext cx="169878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营业收入</a:t>
            </a:r>
          </a:p>
        </p:txBody>
      </p:sp>
      <p:sp>
        <p:nvSpPr>
          <p:cNvPr id="1660" name="m-d08_kpi_board-dlt-1"/>
          <p:cNvSpPr/>
          <p:nvPr/>
        </p:nvSpPr>
        <p:spPr>
          <a:xfrm>
            <a:off x="8498459" y="4743640"/>
            <a:ext cx="145796" cy="52070"/>
          </a:xfrm>
          <a:custGeom>
            <a:avLst/>
            <a:gdLst/>
            <a:ahLst/>
            <a:cxnLst/>
            <a:rect l="0" t="0" r="r" b="b"/>
            <a:pathLst>
              <a:path w="145796" h="52070">
                <a:moveTo>
                  <a:pt x="26035" y="0"/>
                </a:moveTo>
                <a:lnTo>
                  <a:pt x="119761" y="0"/>
                </a:lnTo>
                <a:cubicBezTo>
                  <a:pt x="134176" y="0"/>
                  <a:pt x="145796" y="11621"/>
                  <a:pt x="145796" y="26035"/>
                </a:cubicBezTo>
                <a:lnTo>
                  <a:pt x="145796" y="26035"/>
                </a:lnTo>
                <a:cubicBezTo>
                  <a:pt x="145796" y="40450"/>
                  <a:pt x="134176" y="52070"/>
                  <a:pt x="119761" y="52070"/>
                </a:cubicBezTo>
                <a:lnTo>
                  <a:pt x="26035" y="52070"/>
                </a:lnTo>
                <a:cubicBezTo>
                  <a:pt x="11621" y="52070"/>
                  <a:pt x="0" y="40450"/>
                  <a:pt x="0" y="26035"/>
                </a:cubicBezTo>
                <a:lnTo>
                  <a:pt x="0" y="26035"/>
                </a:lnTo>
                <a:cubicBezTo>
                  <a:pt x="0" y="11621"/>
                  <a:pt x="11621" y="0"/>
                  <a:pt x="26035" y="0"/>
                </a:cubicBezTo>
                <a:close/>
              </a:path>
            </a:pathLst>
          </a:cu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61" name="m-d08_kpi_board-icon-grow"/>
          <p:cNvSpPr/>
          <p:nvPr/>
        </p:nvSpPr>
        <p:spPr>
          <a:xfrm>
            <a:off x="8520620" y="4765548"/>
            <a:ext cx="16256" cy="10224"/>
          </a:xfrm>
          <a:custGeom>
            <a:avLst/>
            <a:gdLst/>
            <a:ahLst/>
            <a:cxnLst/>
            <a:rect l="0" t="0" r="r" b="b"/>
            <a:pathLst>
              <a:path w="16256" h="10224">
                <a:moveTo>
                  <a:pt x="0" y="10224"/>
                </a:moveTo>
                <a:lnTo>
                  <a:pt x="5398" y="4318"/>
                </a:lnTo>
                <a:lnTo>
                  <a:pt x="9271" y="7620"/>
                </a:lnTo>
                <a:lnTo>
                  <a:pt x="15812" y="0"/>
                </a:lnTo>
                <a:moveTo>
                  <a:pt x="13208" y="0"/>
                </a:moveTo>
                <a:lnTo>
                  <a:pt x="16256" y="0"/>
                </a:lnTo>
                <a:lnTo>
                  <a:pt x="16256" y="3048"/>
                </a:lnTo>
              </a:path>
            </a:pathLst>
          </a:custGeom>
          <a:noFill/>
          <a:ln w="260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62" name="m-d08_kpi_board-dltt-1"/>
          <p:cNvSpPr txBox="1"/>
          <p:nvPr/>
        </p:nvSpPr>
        <p:spPr>
          <a:xfrm>
            <a:off x="8532252" y="4753065"/>
            <a:ext cx="9107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3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+18.6%</a:t>
            </a:r>
          </a:p>
        </p:txBody>
      </p:sp>
      <p:sp>
        <p:nvSpPr>
          <p:cNvPr id="1663" name="m-d08_kpi_board-v-1"/>
          <p:cNvSpPr txBox="1"/>
          <p:nvPr/>
        </p:nvSpPr>
        <p:spPr>
          <a:xfrm>
            <a:off x="8016187" y="4818244"/>
            <a:ext cx="225932" cy="12301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5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4.82</a:t>
            </a:r>
          </a:p>
        </p:txBody>
      </p:sp>
      <p:sp>
        <p:nvSpPr>
          <p:cNvPr id="1664" name="m-d08_kpi_board-u-1"/>
          <p:cNvSpPr txBox="1"/>
          <p:nvPr/>
        </p:nvSpPr>
        <p:spPr>
          <a:xfrm>
            <a:off x="8200514" y="4876120"/>
            <a:ext cx="6795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亿元</a:t>
            </a:r>
          </a:p>
        </p:txBody>
      </p:sp>
      <p:sp>
        <p:nvSpPr>
          <p:cNvPr id="1665" name="m-d08_kpi_board-sp-1-1"/>
          <p:cNvSpPr/>
          <p:nvPr/>
        </p:nvSpPr>
        <p:spPr>
          <a:xfrm>
            <a:off x="8024622" y="4994466"/>
            <a:ext cx="39052" cy="51181"/>
          </a:xfrm>
          <a:custGeom>
            <a:avLst/>
            <a:gdLst/>
            <a:ahLst/>
            <a:cxnLst/>
            <a:rect l="0" t="0" r="r" b="b"/>
            <a:pathLst>
              <a:path w="39052" h="51181">
                <a:moveTo>
                  <a:pt x="0" y="51181"/>
                </a:moveTo>
                <a:lnTo>
                  <a:pt x="0" y="7811"/>
                </a:lnTo>
                <a:cubicBezTo>
                  <a:pt x="0" y="3493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493"/>
                  <a:pt x="39052" y="7811"/>
                </a:cubicBezTo>
                <a:lnTo>
                  <a:pt x="39052" y="51181"/>
                </a:lnTo>
                <a:close/>
              </a:path>
            </a:pathLst>
          </a:custGeom>
          <a:solidFill>
            <a:srgbClr val="0B3E8F">
              <a:alpha val="2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66" name="m-d08_kpi_board-sp-1-2"/>
          <p:cNvSpPr/>
          <p:nvPr/>
        </p:nvSpPr>
        <p:spPr>
          <a:xfrm>
            <a:off x="8079296" y="4988560"/>
            <a:ext cx="39053" cy="57087"/>
          </a:xfrm>
          <a:custGeom>
            <a:avLst/>
            <a:gdLst/>
            <a:ahLst/>
            <a:cxnLst/>
            <a:rect l="0" t="0" r="r" b="b"/>
            <a:pathLst>
              <a:path w="39053" h="57087">
                <a:moveTo>
                  <a:pt x="0" y="57087"/>
                </a:moveTo>
                <a:lnTo>
                  <a:pt x="0" y="7811"/>
                </a:lnTo>
                <a:cubicBezTo>
                  <a:pt x="0" y="3492"/>
                  <a:pt x="3493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3" y="3492"/>
                  <a:pt x="39053" y="7811"/>
                </a:cubicBezTo>
                <a:lnTo>
                  <a:pt x="39053" y="57087"/>
                </a:lnTo>
                <a:close/>
              </a:path>
            </a:pathLst>
          </a:custGeom>
          <a:solidFill>
            <a:srgbClr val="0B3E8F">
              <a:alpha val="4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67" name="m-d08_kpi_board-sp-1-3"/>
          <p:cNvSpPr/>
          <p:nvPr/>
        </p:nvSpPr>
        <p:spPr>
          <a:xfrm>
            <a:off x="8133969" y="4991481"/>
            <a:ext cx="39052" cy="54166"/>
          </a:xfrm>
          <a:custGeom>
            <a:avLst/>
            <a:gdLst/>
            <a:ahLst/>
            <a:cxnLst/>
            <a:rect l="0" t="0" r="r" b="b"/>
            <a:pathLst>
              <a:path w="39052" h="54166">
                <a:moveTo>
                  <a:pt x="0" y="54166"/>
                </a:moveTo>
                <a:lnTo>
                  <a:pt x="0" y="7811"/>
                </a:lnTo>
                <a:cubicBezTo>
                  <a:pt x="0" y="3556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556"/>
                  <a:pt x="39052" y="7811"/>
                </a:cubicBezTo>
                <a:lnTo>
                  <a:pt x="39052" y="54166"/>
                </a:lnTo>
                <a:close/>
              </a:path>
            </a:pathLst>
          </a:custGeom>
          <a:solidFill>
            <a:srgbClr val="0B3E8F">
              <a:alpha val="5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68" name="m-d08_kpi_board-sp-1-4"/>
          <p:cNvSpPr/>
          <p:nvPr/>
        </p:nvSpPr>
        <p:spPr>
          <a:xfrm>
            <a:off x="8188642" y="4982654"/>
            <a:ext cx="39053" cy="62992"/>
          </a:xfrm>
          <a:custGeom>
            <a:avLst/>
            <a:gdLst/>
            <a:ahLst/>
            <a:cxnLst/>
            <a:rect l="0" t="0" r="r" b="b"/>
            <a:pathLst>
              <a:path w="39053" h="62992">
                <a:moveTo>
                  <a:pt x="0" y="62992"/>
                </a:moveTo>
                <a:lnTo>
                  <a:pt x="0" y="7811"/>
                </a:lnTo>
                <a:cubicBezTo>
                  <a:pt x="0" y="3493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3" y="3493"/>
                  <a:pt x="39053" y="7811"/>
                </a:cubicBezTo>
                <a:lnTo>
                  <a:pt x="39053" y="62992"/>
                </a:lnTo>
                <a:close/>
              </a:path>
            </a:pathLst>
          </a:custGeom>
          <a:solidFill>
            <a:srgbClr val="0B3E8F">
              <a:alpha val="6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69" name="m-d08_kpi_board-sp-1-5"/>
          <p:cNvSpPr/>
          <p:nvPr/>
        </p:nvSpPr>
        <p:spPr>
          <a:xfrm>
            <a:off x="8243316" y="4975796"/>
            <a:ext cx="39052" cy="69850"/>
          </a:xfrm>
          <a:custGeom>
            <a:avLst/>
            <a:gdLst/>
            <a:ahLst/>
            <a:cxnLst/>
            <a:rect l="0" t="0" r="r" b="b"/>
            <a:pathLst>
              <a:path w="39052" h="69850">
                <a:moveTo>
                  <a:pt x="0" y="69850"/>
                </a:moveTo>
                <a:lnTo>
                  <a:pt x="0" y="7811"/>
                </a:lnTo>
                <a:cubicBezTo>
                  <a:pt x="0" y="3429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429"/>
                  <a:pt x="39052" y="7811"/>
                </a:cubicBezTo>
                <a:lnTo>
                  <a:pt x="39052" y="69850"/>
                </a:lnTo>
                <a:close/>
              </a:path>
            </a:pathLst>
          </a:custGeom>
          <a:solidFill>
            <a:srgbClr val="0B3E8F">
              <a:alpha val="7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70" name="m-d08_kpi_board-sp-1-6"/>
          <p:cNvSpPr/>
          <p:nvPr/>
        </p:nvSpPr>
        <p:spPr>
          <a:xfrm>
            <a:off x="8297990" y="4964938"/>
            <a:ext cx="39053" cy="80709"/>
          </a:xfrm>
          <a:custGeom>
            <a:avLst/>
            <a:gdLst/>
            <a:ahLst/>
            <a:cxnLst/>
            <a:rect l="0" t="0" r="r" b="b"/>
            <a:pathLst>
              <a:path w="39053" h="80709">
                <a:moveTo>
                  <a:pt x="0" y="80709"/>
                </a:moveTo>
                <a:lnTo>
                  <a:pt x="0" y="7811"/>
                </a:lnTo>
                <a:cubicBezTo>
                  <a:pt x="0" y="3492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3" y="3492"/>
                  <a:pt x="39053" y="7811"/>
                </a:cubicBezTo>
                <a:lnTo>
                  <a:pt x="39053" y="80709"/>
                </a:lnTo>
                <a:close/>
              </a:path>
            </a:pathLst>
          </a:custGeom>
          <a:solidFill>
            <a:srgbClr val="0B3E8F">
              <a:alpha val="8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671" name="m-d08_kpi_board-spl-1"/>
          <p:cNvCxnSpPr/>
          <p:nvPr/>
        </p:nvCxnSpPr>
        <p:spPr>
          <a:xfrm>
            <a:off x="8024622" y="5056060"/>
            <a:ext cx="609219" cy="0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2" name="m-d08_kpi_board-spt-1"/>
          <p:cNvSpPr txBox="1"/>
          <p:nvPr/>
        </p:nvSpPr>
        <p:spPr>
          <a:xfrm>
            <a:off x="8549956" y="4971069"/>
            <a:ext cx="8607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近 6 期</a:t>
            </a:r>
          </a:p>
        </p:txBody>
      </p:sp>
      <p:sp>
        <p:nvSpPr>
          <p:cNvPr id="1673" name="m-d08_kpi_board-spt2-1"/>
          <p:cNvSpPr txBox="1"/>
          <p:nvPr/>
        </p:nvSpPr>
        <p:spPr>
          <a:xfrm>
            <a:off x="8544645" y="5017932"/>
            <a:ext cx="9138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环比走势</a:t>
            </a:r>
          </a:p>
        </p:txBody>
      </p:sp>
      <p:sp>
        <p:nvSpPr>
          <p:cNvPr id="1674" name="m-d08_kpi_board-card-2"/>
          <p:cNvSpPr/>
          <p:nvPr/>
        </p:nvSpPr>
        <p:spPr>
          <a:xfrm>
            <a:off x="8711946" y="4699381"/>
            <a:ext cx="697738" cy="390525"/>
          </a:xfrm>
          <a:custGeom>
            <a:avLst/>
            <a:gdLst/>
            <a:ahLst/>
            <a:cxnLst/>
            <a:rect l="0" t="0" r="r" b="b"/>
            <a:pathLst>
              <a:path w="697738" h="390525">
                <a:moveTo>
                  <a:pt x="26035" y="0"/>
                </a:moveTo>
                <a:lnTo>
                  <a:pt x="671703" y="0"/>
                </a:lnTo>
                <a:cubicBezTo>
                  <a:pt x="686117" y="0"/>
                  <a:pt x="697738" y="11621"/>
                  <a:pt x="697738" y="26035"/>
                </a:cubicBezTo>
                <a:lnTo>
                  <a:pt x="697738" y="364490"/>
                </a:lnTo>
                <a:cubicBezTo>
                  <a:pt x="697738" y="378905"/>
                  <a:pt x="686117" y="390525"/>
                  <a:pt x="671703" y="390525"/>
                </a:cubicBezTo>
                <a:lnTo>
                  <a:pt x="26035" y="390525"/>
                </a:lnTo>
                <a:cubicBezTo>
                  <a:pt x="11620" y="390525"/>
                  <a:pt x="0" y="378905"/>
                  <a:pt x="0" y="364490"/>
                </a:cubicBezTo>
                <a:lnTo>
                  <a:pt x="0" y="26035"/>
                </a:lnTo>
                <a:cubicBezTo>
                  <a:pt x="0" y="11621"/>
                  <a:pt x="11620" y="0"/>
                  <a:pt x="260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75" name="m-d08_kpi_board-cap-2"/>
          <p:cNvSpPr/>
          <p:nvPr/>
        </p:nvSpPr>
        <p:spPr>
          <a:xfrm>
            <a:off x="8711946" y="4699381"/>
            <a:ext cx="9081" cy="390525"/>
          </a:xfrm>
          <a:custGeom>
            <a:avLst/>
            <a:gdLst/>
            <a:ahLst/>
            <a:cxnLst/>
            <a:rect l="0" t="0" r="r" b="b"/>
            <a:pathLst>
              <a:path w="9081" h="390525">
                <a:moveTo>
                  <a:pt x="4572" y="0"/>
                </a:moveTo>
                <a:lnTo>
                  <a:pt x="4572" y="0"/>
                </a:lnTo>
                <a:cubicBezTo>
                  <a:pt x="7048" y="0"/>
                  <a:pt x="9081" y="2032"/>
                  <a:pt x="9081" y="4572"/>
                </a:cubicBezTo>
                <a:lnTo>
                  <a:pt x="9081" y="385953"/>
                </a:lnTo>
                <a:cubicBezTo>
                  <a:pt x="9081" y="388493"/>
                  <a:pt x="7048" y="390525"/>
                  <a:pt x="4572" y="390525"/>
                </a:cubicBezTo>
                <a:lnTo>
                  <a:pt x="4572" y="390525"/>
                </a:lnTo>
                <a:cubicBezTo>
                  <a:pt x="2032" y="390525"/>
                  <a:pt x="0" y="388493"/>
                  <a:pt x="0" y="385953"/>
                </a:cubicBezTo>
                <a:lnTo>
                  <a:pt x="0" y="4572"/>
                </a:lnTo>
                <a:cubicBezTo>
                  <a:pt x="0" y="2032"/>
                  <a:pt x="2032" y="0"/>
                  <a:pt x="4572" y="0"/>
                </a:cubicBezTo>
                <a:close/>
              </a:path>
            </a:pathLst>
          </a:cu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76" name="m-d08_kpi_board-chip-2"/>
          <p:cNvSpPr/>
          <p:nvPr/>
        </p:nvSpPr>
        <p:spPr>
          <a:xfrm>
            <a:off x="8756206" y="4735830"/>
            <a:ext cx="67691" cy="67691"/>
          </a:xfrm>
          <a:prstGeom prst="ellipse">
            <a:avLst/>
          </a:prstGeom>
          <a:solidFill>
            <a:srgbClr val="134C9C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77" name="m-d08_kpi_board-icon-chart"/>
          <p:cNvSpPr/>
          <p:nvPr/>
        </p:nvSpPr>
        <p:spPr>
          <a:xfrm>
            <a:off x="8777288" y="4765104"/>
            <a:ext cx="25527" cy="16700"/>
          </a:xfrm>
          <a:custGeom>
            <a:avLst/>
            <a:gdLst/>
            <a:ahLst/>
            <a:cxnLst/>
            <a:rect l="0" t="0" r="r" b="b"/>
            <a:pathLst>
              <a:path w="25527" h="16700">
                <a:moveTo>
                  <a:pt x="0" y="16700"/>
                </a:moveTo>
                <a:lnTo>
                  <a:pt x="25527" y="16700"/>
                </a:lnTo>
                <a:moveTo>
                  <a:pt x="5779" y="16700"/>
                </a:moveTo>
                <a:lnTo>
                  <a:pt x="5779" y="6985"/>
                </a:lnTo>
                <a:moveTo>
                  <a:pt x="12763" y="16700"/>
                </a:moveTo>
                <a:lnTo>
                  <a:pt x="12763" y="0"/>
                </a:lnTo>
                <a:moveTo>
                  <a:pt x="19748" y="16700"/>
                </a:moveTo>
                <a:lnTo>
                  <a:pt x="19748" y="10350"/>
                </a:lnTo>
              </a:path>
            </a:pathLst>
          </a:custGeom>
          <a:noFill/>
          <a:ln w="2604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78" name="m-d08_kpi_board-nm-2"/>
          <p:cNvSpPr txBox="1"/>
          <p:nvPr/>
        </p:nvSpPr>
        <p:spPr>
          <a:xfrm>
            <a:off x="8838216" y="4739898"/>
            <a:ext cx="134731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毛利率</a:t>
            </a:r>
          </a:p>
        </p:txBody>
      </p:sp>
      <p:sp>
        <p:nvSpPr>
          <p:cNvPr id="1679" name="m-d08_kpi_board-dlt-2"/>
          <p:cNvSpPr/>
          <p:nvPr/>
        </p:nvSpPr>
        <p:spPr>
          <a:xfrm>
            <a:off x="9230042" y="4743640"/>
            <a:ext cx="145796" cy="52070"/>
          </a:xfrm>
          <a:custGeom>
            <a:avLst/>
            <a:gdLst/>
            <a:ahLst/>
            <a:cxnLst/>
            <a:rect l="0" t="0" r="r" b="b"/>
            <a:pathLst>
              <a:path w="145796" h="52070">
                <a:moveTo>
                  <a:pt x="26035" y="0"/>
                </a:moveTo>
                <a:lnTo>
                  <a:pt x="119761" y="0"/>
                </a:lnTo>
                <a:cubicBezTo>
                  <a:pt x="134176" y="0"/>
                  <a:pt x="145796" y="11621"/>
                  <a:pt x="145796" y="26035"/>
                </a:cubicBezTo>
                <a:lnTo>
                  <a:pt x="145796" y="26035"/>
                </a:lnTo>
                <a:cubicBezTo>
                  <a:pt x="145796" y="40450"/>
                  <a:pt x="134176" y="52070"/>
                  <a:pt x="119761" y="52070"/>
                </a:cubicBezTo>
                <a:lnTo>
                  <a:pt x="26035" y="52070"/>
                </a:lnTo>
                <a:cubicBezTo>
                  <a:pt x="11621" y="52070"/>
                  <a:pt x="0" y="40450"/>
                  <a:pt x="0" y="26035"/>
                </a:cubicBezTo>
                <a:lnTo>
                  <a:pt x="0" y="26035"/>
                </a:lnTo>
                <a:cubicBezTo>
                  <a:pt x="0" y="11621"/>
                  <a:pt x="11621" y="0"/>
                  <a:pt x="26035" y="0"/>
                </a:cubicBezTo>
                <a:close/>
              </a:path>
            </a:pathLst>
          </a:cu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80" name="m-d08_kpi_board-icon-grow"/>
          <p:cNvSpPr/>
          <p:nvPr/>
        </p:nvSpPr>
        <p:spPr>
          <a:xfrm>
            <a:off x="9252204" y="4765548"/>
            <a:ext cx="16256" cy="10224"/>
          </a:xfrm>
          <a:custGeom>
            <a:avLst/>
            <a:gdLst/>
            <a:ahLst/>
            <a:cxnLst/>
            <a:rect l="0" t="0" r="r" b="b"/>
            <a:pathLst>
              <a:path w="16256" h="10224">
                <a:moveTo>
                  <a:pt x="0" y="10224"/>
                </a:moveTo>
                <a:lnTo>
                  <a:pt x="5398" y="4318"/>
                </a:lnTo>
                <a:lnTo>
                  <a:pt x="9271" y="7620"/>
                </a:lnTo>
                <a:lnTo>
                  <a:pt x="15812" y="0"/>
                </a:lnTo>
                <a:moveTo>
                  <a:pt x="13208" y="0"/>
                </a:moveTo>
                <a:lnTo>
                  <a:pt x="16256" y="0"/>
                </a:lnTo>
                <a:lnTo>
                  <a:pt x="16256" y="3048"/>
                </a:lnTo>
              </a:path>
            </a:pathLst>
          </a:custGeom>
          <a:noFill/>
          <a:ln w="260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81" name="m-d08_kpi_board-dltt-2"/>
          <p:cNvSpPr txBox="1"/>
          <p:nvPr/>
        </p:nvSpPr>
        <p:spPr>
          <a:xfrm>
            <a:off x="9263836" y="4753065"/>
            <a:ext cx="9107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3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+2.1pt</a:t>
            </a:r>
          </a:p>
        </p:txBody>
      </p:sp>
      <p:sp>
        <p:nvSpPr>
          <p:cNvPr id="1682" name="m-d08_kpi_board-v-2"/>
          <p:cNvSpPr txBox="1"/>
          <p:nvPr/>
        </p:nvSpPr>
        <p:spPr>
          <a:xfrm>
            <a:off x="8747770" y="4818244"/>
            <a:ext cx="225932" cy="12301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5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38.4</a:t>
            </a:r>
          </a:p>
        </p:txBody>
      </p:sp>
      <p:sp>
        <p:nvSpPr>
          <p:cNvPr id="1683" name="m-d08_kpi_board-u-2"/>
          <p:cNvSpPr txBox="1"/>
          <p:nvPr/>
        </p:nvSpPr>
        <p:spPr>
          <a:xfrm>
            <a:off x="8932098" y="4876120"/>
            <a:ext cx="3421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%</a:t>
            </a:r>
          </a:p>
        </p:txBody>
      </p:sp>
      <p:sp>
        <p:nvSpPr>
          <p:cNvPr id="1684" name="m-d08_kpi_board-sp-2-1"/>
          <p:cNvSpPr/>
          <p:nvPr/>
        </p:nvSpPr>
        <p:spPr>
          <a:xfrm>
            <a:off x="8756206" y="4975542"/>
            <a:ext cx="39052" cy="70104"/>
          </a:xfrm>
          <a:custGeom>
            <a:avLst/>
            <a:gdLst/>
            <a:ahLst/>
            <a:cxnLst/>
            <a:rect l="0" t="0" r="r" b="b"/>
            <a:pathLst>
              <a:path w="39052" h="70104">
                <a:moveTo>
                  <a:pt x="0" y="70104"/>
                </a:moveTo>
                <a:lnTo>
                  <a:pt x="0" y="7811"/>
                </a:lnTo>
                <a:cubicBezTo>
                  <a:pt x="0" y="3493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493"/>
                  <a:pt x="39052" y="7811"/>
                </a:cubicBezTo>
                <a:lnTo>
                  <a:pt x="39052" y="70104"/>
                </a:lnTo>
                <a:close/>
              </a:path>
            </a:pathLst>
          </a:custGeom>
          <a:solidFill>
            <a:srgbClr val="134C9C">
              <a:alpha val="2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85" name="m-d08_kpi_board-sp-2-2"/>
          <p:cNvSpPr/>
          <p:nvPr/>
        </p:nvSpPr>
        <p:spPr>
          <a:xfrm>
            <a:off x="8810879" y="4973447"/>
            <a:ext cx="39053" cy="72200"/>
          </a:xfrm>
          <a:custGeom>
            <a:avLst/>
            <a:gdLst/>
            <a:ahLst/>
            <a:cxnLst/>
            <a:rect l="0" t="0" r="r" b="b"/>
            <a:pathLst>
              <a:path w="39053" h="72200">
                <a:moveTo>
                  <a:pt x="0" y="72200"/>
                </a:moveTo>
                <a:lnTo>
                  <a:pt x="0" y="7811"/>
                </a:lnTo>
                <a:cubicBezTo>
                  <a:pt x="0" y="3492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3" y="3492"/>
                  <a:pt x="39053" y="7811"/>
                </a:cubicBezTo>
                <a:lnTo>
                  <a:pt x="39053" y="72200"/>
                </a:lnTo>
                <a:close/>
              </a:path>
            </a:pathLst>
          </a:custGeom>
          <a:solidFill>
            <a:srgbClr val="134C9C">
              <a:alpha val="4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86" name="m-d08_kpi_board-sp-2-3"/>
          <p:cNvSpPr/>
          <p:nvPr/>
        </p:nvSpPr>
        <p:spPr>
          <a:xfrm>
            <a:off x="8865552" y="4971288"/>
            <a:ext cx="39052" cy="74359"/>
          </a:xfrm>
          <a:custGeom>
            <a:avLst/>
            <a:gdLst/>
            <a:ahLst/>
            <a:cxnLst/>
            <a:rect l="0" t="0" r="r" b="b"/>
            <a:pathLst>
              <a:path w="39052" h="74359">
                <a:moveTo>
                  <a:pt x="0" y="74359"/>
                </a:moveTo>
                <a:lnTo>
                  <a:pt x="0" y="7811"/>
                </a:lnTo>
                <a:cubicBezTo>
                  <a:pt x="0" y="3492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492"/>
                  <a:pt x="39052" y="7811"/>
                </a:cubicBezTo>
                <a:lnTo>
                  <a:pt x="39052" y="74359"/>
                </a:lnTo>
                <a:close/>
              </a:path>
            </a:pathLst>
          </a:custGeom>
          <a:solidFill>
            <a:srgbClr val="134C9C">
              <a:alpha val="5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87" name="m-d08_kpi_board-sp-2-4"/>
          <p:cNvSpPr/>
          <p:nvPr/>
        </p:nvSpPr>
        <p:spPr>
          <a:xfrm>
            <a:off x="8920226" y="4969192"/>
            <a:ext cx="39053" cy="76454"/>
          </a:xfrm>
          <a:custGeom>
            <a:avLst/>
            <a:gdLst/>
            <a:ahLst/>
            <a:cxnLst/>
            <a:rect l="0" t="0" r="r" b="b"/>
            <a:pathLst>
              <a:path w="39053" h="76454">
                <a:moveTo>
                  <a:pt x="0" y="76454"/>
                </a:moveTo>
                <a:lnTo>
                  <a:pt x="0" y="7811"/>
                </a:lnTo>
                <a:cubicBezTo>
                  <a:pt x="0" y="3493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3" y="3493"/>
                  <a:pt x="39053" y="7811"/>
                </a:cubicBezTo>
                <a:lnTo>
                  <a:pt x="39053" y="76454"/>
                </a:lnTo>
                <a:close/>
              </a:path>
            </a:pathLst>
          </a:custGeom>
          <a:solidFill>
            <a:srgbClr val="134C9C">
              <a:alpha val="6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88" name="m-d08_kpi_board-sp-2-5"/>
          <p:cNvSpPr/>
          <p:nvPr/>
        </p:nvSpPr>
        <p:spPr>
          <a:xfrm>
            <a:off x="8974900" y="4967034"/>
            <a:ext cx="39053" cy="78613"/>
          </a:xfrm>
          <a:custGeom>
            <a:avLst/>
            <a:gdLst/>
            <a:ahLst/>
            <a:cxnLst/>
            <a:rect l="0" t="0" r="r" b="b"/>
            <a:pathLst>
              <a:path w="39053" h="78613">
                <a:moveTo>
                  <a:pt x="0" y="78613"/>
                </a:moveTo>
                <a:lnTo>
                  <a:pt x="0" y="7811"/>
                </a:lnTo>
                <a:cubicBezTo>
                  <a:pt x="0" y="3556"/>
                  <a:pt x="3493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3" y="3556"/>
                  <a:pt x="39053" y="7811"/>
                </a:cubicBezTo>
                <a:lnTo>
                  <a:pt x="39053" y="78613"/>
                </a:lnTo>
                <a:close/>
              </a:path>
            </a:pathLst>
          </a:custGeom>
          <a:solidFill>
            <a:srgbClr val="134C9C">
              <a:alpha val="7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89" name="m-d08_kpi_board-sp-2-6"/>
          <p:cNvSpPr/>
          <p:nvPr/>
        </p:nvSpPr>
        <p:spPr>
          <a:xfrm>
            <a:off x="9029573" y="4964938"/>
            <a:ext cx="39053" cy="80709"/>
          </a:xfrm>
          <a:custGeom>
            <a:avLst/>
            <a:gdLst/>
            <a:ahLst/>
            <a:cxnLst/>
            <a:rect l="0" t="0" r="r" b="b"/>
            <a:pathLst>
              <a:path w="39053" h="80709">
                <a:moveTo>
                  <a:pt x="0" y="80709"/>
                </a:moveTo>
                <a:lnTo>
                  <a:pt x="0" y="7811"/>
                </a:lnTo>
                <a:cubicBezTo>
                  <a:pt x="0" y="3492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3" y="3492"/>
                  <a:pt x="39053" y="7811"/>
                </a:cubicBezTo>
                <a:lnTo>
                  <a:pt x="39053" y="80709"/>
                </a:lnTo>
                <a:close/>
              </a:path>
            </a:pathLst>
          </a:custGeom>
          <a:solidFill>
            <a:srgbClr val="134C9C">
              <a:alpha val="8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690" name="m-d08_kpi_board-spl-2"/>
          <p:cNvCxnSpPr/>
          <p:nvPr/>
        </p:nvCxnSpPr>
        <p:spPr>
          <a:xfrm>
            <a:off x="8756206" y="5056060"/>
            <a:ext cx="609218" cy="0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91" name="m-d08_kpi_board-spt-2"/>
          <p:cNvSpPr txBox="1"/>
          <p:nvPr/>
        </p:nvSpPr>
        <p:spPr>
          <a:xfrm>
            <a:off x="9281540" y="4971069"/>
            <a:ext cx="8607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近 6 期</a:t>
            </a:r>
          </a:p>
        </p:txBody>
      </p:sp>
      <p:sp>
        <p:nvSpPr>
          <p:cNvPr id="1692" name="m-d08_kpi_board-spt2-2"/>
          <p:cNvSpPr txBox="1"/>
          <p:nvPr/>
        </p:nvSpPr>
        <p:spPr>
          <a:xfrm>
            <a:off x="9276229" y="5017932"/>
            <a:ext cx="9138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环比走势</a:t>
            </a:r>
          </a:p>
        </p:txBody>
      </p:sp>
      <p:sp>
        <p:nvSpPr>
          <p:cNvPr id="1693" name="m-d08_kpi_board-card-3"/>
          <p:cNvSpPr/>
          <p:nvPr/>
        </p:nvSpPr>
        <p:spPr>
          <a:xfrm>
            <a:off x="9443530" y="4699381"/>
            <a:ext cx="697738" cy="390525"/>
          </a:xfrm>
          <a:custGeom>
            <a:avLst/>
            <a:gdLst/>
            <a:ahLst/>
            <a:cxnLst/>
            <a:rect l="0" t="0" r="r" b="b"/>
            <a:pathLst>
              <a:path w="697738" h="390525">
                <a:moveTo>
                  <a:pt x="26035" y="0"/>
                </a:moveTo>
                <a:lnTo>
                  <a:pt x="671703" y="0"/>
                </a:lnTo>
                <a:cubicBezTo>
                  <a:pt x="686117" y="0"/>
                  <a:pt x="697738" y="11621"/>
                  <a:pt x="697738" y="26035"/>
                </a:cubicBezTo>
                <a:lnTo>
                  <a:pt x="697738" y="364490"/>
                </a:lnTo>
                <a:cubicBezTo>
                  <a:pt x="697738" y="378905"/>
                  <a:pt x="686117" y="390525"/>
                  <a:pt x="671703" y="390525"/>
                </a:cubicBezTo>
                <a:lnTo>
                  <a:pt x="26035" y="390525"/>
                </a:lnTo>
                <a:cubicBezTo>
                  <a:pt x="11620" y="390525"/>
                  <a:pt x="0" y="378905"/>
                  <a:pt x="0" y="364490"/>
                </a:cubicBezTo>
                <a:lnTo>
                  <a:pt x="0" y="26035"/>
                </a:lnTo>
                <a:cubicBezTo>
                  <a:pt x="0" y="11621"/>
                  <a:pt x="11620" y="0"/>
                  <a:pt x="260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94" name="m-d08_kpi_board-cap-3"/>
          <p:cNvSpPr/>
          <p:nvPr/>
        </p:nvSpPr>
        <p:spPr>
          <a:xfrm>
            <a:off x="9443530" y="4699381"/>
            <a:ext cx="9144" cy="390525"/>
          </a:xfrm>
          <a:custGeom>
            <a:avLst/>
            <a:gdLst/>
            <a:ahLst/>
            <a:cxnLst/>
            <a:rect l="0" t="0" r="r" b="b"/>
            <a:pathLst>
              <a:path w="9144" h="390525">
                <a:moveTo>
                  <a:pt x="4572" y="0"/>
                </a:moveTo>
                <a:lnTo>
                  <a:pt x="4572" y="0"/>
                </a:lnTo>
                <a:cubicBezTo>
                  <a:pt x="7048" y="0"/>
                  <a:pt x="9144" y="2032"/>
                  <a:pt x="9144" y="4572"/>
                </a:cubicBezTo>
                <a:lnTo>
                  <a:pt x="9144" y="385953"/>
                </a:lnTo>
                <a:cubicBezTo>
                  <a:pt x="9144" y="388493"/>
                  <a:pt x="7048" y="390525"/>
                  <a:pt x="4572" y="390525"/>
                </a:cubicBezTo>
                <a:lnTo>
                  <a:pt x="4572" y="390525"/>
                </a:lnTo>
                <a:cubicBezTo>
                  <a:pt x="2032" y="390525"/>
                  <a:pt x="0" y="388493"/>
                  <a:pt x="0" y="385953"/>
                </a:cubicBezTo>
                <a:lnTo>
                  <a:pt x="0" y="4572"/>
                </a:lnTo>
                <a:cubicBezTo>
                  <a:pt x="0" y="2032"/>
                  <a:pt x="2032" y="0"/>
                  <a:pt x="4572" y="0"/>
                </a:cubicBezTo>
                <a:close/>
              </a:path>
            </a:pathLst>
          </a:cu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95" name="m-d08_kpi_board-chip-3"/>
          <p:cNvSpPr/>
          <p:nvPr/>
        </p:nvSpPr>
        <p:spPr>
          <a:xfrm>
            <a:off x="9487789" y="4735830"/>
            <a:ext cx="67691" cy="67691"/>
          </a:xfrm>
          <a:prstGeom prst="ellipse">
            <a:avLst/>
          </a:prstGeom>
          <a:solidFill>
            <a:srgbClr val="2468B6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96" name="m-d08_kpi_board-icon-doc"/>
          <p:cNvSpPr/>
          <p:nvPr/>
        </p:nvSpPr>
        <p:spPr>
          <a:xfrm>
            <a:off x="9513443" y="4756912"/>
            <a:ext cx="17018" cy="25527"/>
          </a:xfrm>
          <a:custGeom>
            <a:avLst/>
            <a:gdLst/>
            <a:ahLst/>
            <a:cxnLst/>
            <a:rect l="0" t="0" r="r" b="b"/>
            <a:pathLst>
              <a:path w="17018" h="25527">
                <a:moveTo>
                  <a:pt x="0" y="0"/>
                </a:moveTo>
                <a:lnTo>
                  <a:pt x="10922" y="0"/>
                </a:lnTo>
                <a:lnTo>
                  <a:pt x="17018" y="6096"/>
                </a:lnTo>
                <a:lnTo>
                  <a:pt x="17018" y="25527"/>
                </a:lnTo>
                <a:lnTo>
                  <a:pt x="0" y="25527"/>
                </a:lnTo>
                <a:close/>
                <a:moveTo>
                  <a:pt x="10922" y="0"/>
                </a:moveTo>
                <a:lnTo>
                  <a:pt x="10922" y="6096"/>
                </a:lnTo>
                <a:lnTo>
                  <a:pt x="17018" y="6096"/>
                </a:lnTo>
                <a:moveTo>
                  <a:pt x="3937" y="13399"/>
                </a:moveTo>
                <a:lnTo>
                  <a:pt x="13017" y="13399"/>
                </a:lnTo>
                <a:moveTo>
                  <a:pt x="3937" y="18542"/>
                </a:moveTo>
                <a:lnTo>
                  <a:pt x="13017" y="18542"/>
                </a:lnTo>
              </a:path>
            </a:pathLst>
          </a:custGeom>
          <a:noFill/>
          <a:ln w="2604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97" name="m-d08_kpi_board-nm-3"/>
          <p:cNvSpPr txBox="1"/>
          <p:nvPr/>
        </p:nvSpPr>
        <p:spPr>
          <a:xfrm>
            <a:off x="9569799" y="4739898"/>
            <a:ext cx="169878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新签订单</a:t>
            </a:r>
          </a:p>
        </p:txBody>
      </p:sp>
      <p:sp>
        <p:nvSpPr>
          <p:cNvPr id="1698" name="m-d08_kpi_board-dlt-3"/>
          <p:cNvSpPr/>
          <p:nvPr/>
        </p:nvSpPr>
        <p:spPr>
          <a:xfrm>
            <a:off x="9961626" y="4743640"/>
            <a:ext cx="145796" cy="52070"/>
          </a:xfrm>
          <a:custGeom>
            <a:avLst/>
            <a:gdLst/>
            <a:ahLst/>
            <a:cxnLst/>
            <a:rect l="0" t="0" r="r" b="b"/>
            <a:pathLst>
              <a:path w="145796" h="52070">
                <a:moveTo>
                  <a:pt x="26035" y="0"/>
                </a:moveTo>
                <a:lnTo>
                  <a:pt x="119761" y="0"/>
                </a:lnTo>
                <a:cubicBezTo>
                  <a:pt x="134176" y="0"/>
                  <a:pt x="145796" y="11621"/>
                  <a:pt x="145796" y="26035"/>
                </a:cubicBezTo>
                <a:lnTo>
                  <a:pt x="145796" y="26035"/>
                </a:lnTo>
                <a:cubicBezTo>
                  <a:pt x="145796" y="40450"/>
                  <a:pt x="134176" y="52070"/>
                  <a:pt x="119761" y="52070"/>
                </a:cubicBezTo>
                <a:lnTo>
                  <a:pt x="26035" y="52070"/>
                </a:lnTo>
                <a:cubicBezTo>
                  <a:pt x="11620" y="52070"/>
                  <a:pt x="0" y="40450"/>
                  <a:pt x="0" y="26035"/>
                </a:cubicBezTo>
                <a:lnTo>
                  <a:pt x="0" y="26035"/>
                </a:lnTo>
                <a:cubicBezTo>
                  <a:pt x="0" y="11621"/>
                  <a:pt x="11620" y="0"/>
                  <a:pt x="26035" y="0"/>
                </a:cubicBezTo>
                <a:close/>
              </a:path>
            </a:pathLst>
          </a:cu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99" name="m-d08_kpi_board-icon-grow"/>
          <p:cNvSpPr/>
          <p:nvPr/>
        </p:nvSpPr>
        <p:spPr>
          <a:xfrm>
            <a:off x="9983724" y="4765548"/>
            <a:ext cx="16319" cy="10224"/>
          </a:xfrm>
          <a:custGeom>
            <a:avLst/>
            <a:gdLst/>
            <a:ahLst/>
            <a:cxnLst/>
            <a:rect l="0" t="0" r="r" b="b"/>
            <a:pathLst>
              <a:path w="16319" h="10224">
                <a:moveTo>
                  <a:pt x="0" y="10224"/>
                </a:moveTo>
                <a:lnTo>
                  <a:pt x="5461" y="4318"/>
                </a:lnTo>
                <a:lnTo>
                  <a:pt x="9335" y="7620"/>
                </a:lnTo>
                <a:lnTo>
                  <a:pt x="15875" y="0"/>
                </a:lnTo>
                <a:moveTo>
                  <a:pt x="13271" y="0"/>
                </a:moveTo>
                <a:lnTo>
                  <a:pt x="16319" y="0"/>
                </a:lnTo>
                <a:lnTo>
                  <a:pt x="16319" y="3048"/>
                </a:lnTo>
              </a:path>
            </a:pathLst>
          </a:custGeom>
          <a:noFill/>
          <a:ln w="260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00" name="m-d08_kpi_board-dltt-3"/>
          <p:cNvSpPr txBox="1"/>
          <p:nvPr/>
        </p:nvSpPr>
        <p:spPr>
          <a:xfrm>
            <a:off x="9995419" y="4753065"/>
            <a:ext cx="9107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3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+24.3%</a:t>
            </a:r>
          </a:p>
        </p:txBody>
      </p:sp>
      <p:sp>
        <p:nvSpPr>
          <p:cNvPr id="1701" name="m-d08_kpi_board-v-3"/>
          <p:cNvSpPr txBox="1"/>
          <p:nvPr/>
        </p:nvSpPr>
        <p:spPr>
          <a:xfrm>
            <a:off x="9479354" y="4818244"/>
            <a:ext cx="266598" cy="12301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5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1,286</a:t>
            </a:r>
          </a:p>
        </p:txBody>
      </p:sp>
      <p:sp>
        <p:nvSpPr>
          <p:cNvPr id="1702" name="m-d08_kpi_board-u-3"/>
          <p:cNvSpPr txBox="1"/>
          <p:nvPr/>
        </p:nvSpPr>
        <p:spPr>
          <a:xfrm>
            <a:off x="9704452" y="4876120"/>
            <a:ext cx="4452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单</a:t>
            </a:r>
          </a:p>
        </p:txBody>
      </p:sp>
      <p:sp>
        <p:nvSpPr>
          <p:cNvPr id="1703" name="m-d08_kpi_board-sp-3-1"/>
          <p:cNvSpPr/>
          <p:nvPr/>
        </p:nvSpPr>
        <p:spPr>
          <a:xfrm>
            <a:off x="9487789" y="4993513"/>
            <a:ext cx="39052" cy="52134"/>
          </a:xfrm>
          <a:custGeom>
            <a:avLst/>
            <a:gdLst/>
            <a:ahLst/>
            <a:cxnLst/>
            <a:rect l="0" t="0" r="r" b="b"/>
            <a:pathLst>
              <a:path w="39052" h="52134">
                <a:moveTo>
                  <a:pt x="0" y="52134"/>
                </a:moveTo>
                <a:lnTo>
                  <a:pt x="0" y="7811"/>
                </a:lnTo>
                <a:cubicBezTo>
                  <a:pt x="0" y="3492"/>
                  <a:pt x="3492" y="0"/>
                  <a:pt x="7810" y="0"/>
                </a:cubicBezTo>
                <a:lnTo>
                  <a:pt x="31242" y="0"/>
                </a:lnTo>
                <a:cubicBezTo>
                  <a:pt x="35560" y="0"/>
                  <a:pt x="39052" y="3492"/>
                  <a:pt x="39052" y="7811"/>
                </a:cubicBezTo>
                <a:lnTo>
                  <a:pt x="39052" y="52134"/>
                </a:lnTo>
                <a:close/>
              </a:path>
            </a:pathLst>
          </a:custGeom>
          <a:solidFill>
            <a:srgbClr val="2468B6">
              <a:alpha val="2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04" name="m-d08_kpi_board-sp-3-2"/>
          <p:cNvSpPr/>
          <p:nvPr/>
        </p:nvSpPr>
        <p:spPr>
          <a:xfrm>
            <a:off x="9542462" y="4986782"/>
            <a:ext cx="39053" cy="58864"/>
          </a:xfrm>
          <a:custGeom>
            <a:avLst/>
            <a:gdLst/>
            <a:ahLst/>
            <a:cxnLst/>
            <a:rect l="0" t="0" r="r" b="b"/>
            <a:pathLst>
              <a:path w="39053" h="58864">
                <a:moveTo>
                  <a:pt x="0" y="58864"/>
                </a:moveTo>
                <a:lnTo>
                  <a:pt x="0" y="7810"/>
                </a:lnTo>
                <a:cubicBezTo>
                  <a:pt x="0" y="3492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3" y="3492"/>
                  <a:pt x="39053" y="7810"/>
                </a:cubicBezTo>
                <a:lnTo>
                  <a:pt x="39053" y="58864"/>
                </a:lnTo>
                <a:close/>
              </a:path>
            </a:pathLst>
          </a:custGeom>
          <a:solidFill>
            <a:srgbClr val="2468B6">
              <a:alpha val="4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05" name="m-d08_kpi_board-sp-3-3"/>
          <p:cNvSpPr/>
          <p:nvPr/>
        </p:nvSpPr>
        <p:spPr>
          <a:xfrm>
            <a:off x="9597136" y="4988496"/>
            <a:ext cx="39053" cy="57150"/>
          </a:xfrm>
          <a:custGeom>
            <a:avLst/>
            <a:gdLst/>
            <a:ahLst/>
            <a:cxnLst/>
            <a:rect l="0" t="0" r="r" b="b"/>
            <a:pathLst>
              <a:path w="39053" h="57150">
                <a:moveTo>
                  <a:pt x="0" y="57150"/>
                </a:moveTo>
                <a:lnTo>
                  <a:pt x="0" y="7811"/>
                </a:lnTo>
                <a:cubicBezTo>
                  <a:pt x="0" y="3492"/>
                  <a:pt x="3493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3" y="3492"/>
                  <a:pt x="39053" y="7811"/>
                </a:cubicBezTo>
                <a:lnTo>
                  <a:pt x="39053" y="57150"/>
                </a:lnTo>
                <a:close/>
              </a:path>
            </a:pathLst>
          </a:custGeom>
          <a:solidFill>
            <a:srgbClr val="2468B6">
              <a:alpha val="5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06" name="m-d08_kpi_board-sp-3-4"/>
          <p:cNvSpPr/>
          <p:nvPr/>
        </p:nvSpPr>
        <p:spPr>
          <a:xfrm>
            <a:off x="9651810" y="4979226"/>
            <a:ext cx="39052" cy="66421"/>
          </a:xfrm>
          <a:custGeom>
            <a:avLst/>
            <a:gdLst/>
            <a:ahLst/>
            <a:cxnLst/>
            <a:rect l="0" t="0" r="r" b="b"/>
            <a:pathLst>
              <a:path w="39052" h="66421">
                <a:moveTo>
                  <a:pt x="0" y="66421"/>
                </a:moveTo>
                <a:lnTo>
                  <a:pt x="0" y="7811"/>
                </a:lnTo>
                <a:cubicBezTo>
                  <a:pt x="0" y="3492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492"/>
                  <a:pt x="39052" y="7811"/>
                </a:cubicBezTo>
                <a:lnTo>
                  <a:pt x="39052" y="66421"/>
                </a:lnTo>
                <a:close/>
              </a:path>
            </a:pathLst>
          </a:custGeom>
          <a:solidFill>
            <a:srgbClr val="2468B6">
              <a:alpha val="6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07" name="m-d08_kpi_board-sp-3-5"/>
          <p:cNvSpPr/>
          <p:nvPr/>
        </p:nvSpPr>
        <p:spPr>
          <a:xfrm>
            <a:off x="9706483" y="4971669"/>
            <a:ext cx="39053" cy="73977"/>
          </a:xfrm>
          <a:custGeom>
            <a:avLst/>
            <a:gdLst/>
            <a:ahLst/>
            <a:cxnLst/>
            <a:rect l="0" t="0" r="r" b="b"/>
            <a:pathLst>
              <a:path w="39053" h="73977">
                <a:moveTo>
                  <a:pt x="0" y="73977"/>
                </a:moveTo>
                <a:lnTo>
                  <a:pt x="0" y="7810"/>
                </a:lnTo>
                <a:cubicBezTo>
                  <a:pt x="0" y="3492"/>
                  <a:pt x="3493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3" y="3492"/>
                  <a:pt x="39053" y="7810"/>
                </a:cubicBezTo>
                <a:lnTo>
                  <a:pt x="39053" y="73977"/>
                </a:lnTo>
                <a:close/>
              </a:path>
            </a:pathLst>
          </a:custGeom>
          <a:solidFill>
            <a:srgbClr val="2468B6">
              <a:alpha val="7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08" name="m-d08_kpi_board-sp-3-6"/>
          <p:cNvSpPr/>
          <p:nvPr/>
        </p:nvSpPr>
        <p:spPr>
          <a:xfrm>
            <a:off x="9761156" y="4964938"/>
            <a:ext cx="39052" cy="80709"/>
          </a:xfrm>
          <a:custGeom>
            <a:avLst/>
            <a:gdLst/>
            <a:ahLst/>
            <a:cxnLst/>
            <a:rect l="0" t="0" r="r" b="b"/>
            <a:pathLst>
              <a:path w="39052" h="80709">
                <a:moveTo>
                  <a:pt x="0" y="80709"/>
                </a:moveTo>
                <a:lnTo>
                  <a:pt x="0" y="7811"/>
                </a:lnTo>
                <a:cubicBezTo>
                  <a:pt x="0" y="3492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492"/>
                  <a:pt x="39052" y="7811"/>
                </a:cubicBezTo>
                <a:lnTo>
                  <a:pt x="39052" y="80709"/>
                </a:lnTo>
                <a:close/>
              </a:path>
            </a:pathLst>
          </a:custGeom>
          <a:solidFill>
            <a:srgbClr val="2468B6">
              <a:alpha val="8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709" name="m-d08_kpi_board-spl-3"/>
          <p:cNvCxnSpPr/>
          <p:nvPr/>
        </p:nvCxnSpPr>
        <p:spPr>
          <a:xfrm>
            <a:off x="9487789" y="5056060"/>
            <a:ext cx="609219" cy="0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10" name="m-d08_kpi_board-spt-3"/>
          <p:cNvSpPr txBox="1"/>
          <p:nvPr/>
        </p:nvSpPr>
        <p:spPr>
          <a:xfrm>
            <a:off x="10013123" y="4971069"/>
            <a:ext cx="8607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近 6 期</a:t>
            </a:r>
          </a:p>
        </p:txBody>
      </p:sp>
      <p:sp>
        <p:nvSpPr>
          <p:cNvPr id="1711" name="m-d08_kpi_board-spt2-3"/>
          <p:cNvSpPr txBox="1"/>
          <p:nvPr/>
        </p:nvSpPr>
        <p:spPr>
          <a:xfrm>
            <a:off x="10007812" y="5017932"/>
            <a:ext cx="9138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环比走势</a:t>
            </a:r>
          </a:p>
        </p:txBody>
      </p:sp>
      <p:sp>
        <p:nvSpPr>
          <p:cNvPr id="1712" name="m-d08_kpi_board-card-4"/>
          <p:cNvSpPr/>
          <p:nvPr/>
        </p:nvSpPr>
        <p:spPr>
          <a:xfrm>
            <a:off x="7980362" y="5121148"/>
            <a:ext cx="697738" cy="390525"/>
          </a:xfrm>
          <a:custGeom>
            <a:avLst/>
            <a:gdLst/>
            <a:ahLst/>
            <a:cxnLst/>
            <a:rect l="0" t="0" r="r" b="b"/>
            <a:pathLst>
              <a:path w="697738" h="390525">
                <a:moveTo>
                  <a:pt x="26035" y="0"/>
                </a:moveTo>
                <a:lnTo>
                  <a:pt x="671703" y="0"/>
                </a:lnTo>
                <a:cubicBezTo>
                  <a:pt x="686117" y="0"/>
                  <a:pt x="697738" y="11620"/>
                  <a:pt x="697738" y="26035"/>
                </a:cubicBezTo>
                <a:lnTo>
                  <a:pt x="697738" y="364490"/>
                </a:lnTo>
                <a:cubicBezTo>
                  <a:pt x="697738" y="378904"/>
                  <a:pt x="686117" y="390525"/>
                  <a:pt x="671703" y="390525"/>
                </a:cubicBezTo>
                <a:lnTo>
                  <a:pt x="26035" y="390525"/>
                </a:lnTo>
                <a:cubicBezTo>
                  <a:pt x="11620" y="390525"/>
                  <a:pt x="0" y="378904"/>
                  <a:pt x="0" y="364490"/>
                </a:cubicBezTo>
                <a:lnTo>
                  <a:pt x="0" y="26035"/>
                </a:lnTo>
                <a:cubicBezTo>
                  <a:pt x="0" y="11620"/>
                  <a:pt x="11620" y="0"/>
                  <a:pt x="260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13" name="m-d08_kpi_board-cap-4"/>
          <p:cNvSpPr/>
          <p:nvPr/>
        </p:nvSpPr>
        <p:spPr>
          <a:xfrm>
            <a:off x="7980362" y="5121148"/>
            <a:ext cx="9081" cy="390525"/>
          </a:xfrm>
          <a:custGeom>
            <a:avLst/>
            <a:gdLst/>
            <a:ahLst/>
            <a:cxnLst/>
            <a:rect l="0" t="0" r="r" b="b"/>
            <a:pathLst>
              <a:path w="9081" h="390525">
                <a:moveTo>
                  <a:pt x="4572" y="0"/>
                </a:moveTo>
                <a:lnTo>
                  <a:pt x="4572" y="0"/>
                </a:lnTo>
                <a:cubicBezTo>
                  <a:pt x="7048" y="0"/>
                  <a:pt x="9081" y="2032"/>
                  <a:pt x="9081" y="4572"/>
                </a:cubicBezTo>
                <a:lnTo>
                  <a:pt x="9081" y="385953"/>
                </a:lnTo>
                <a:cubicBezTo>
                  <a:pt x="9081" y="388493"/>
                  <a:pt x="7048" y="390525"/>
                  <a:pt x="4572" y="390525"/>
                </a:cubicBezTo>
                <a:lnTo>
                  <a:pt x="4572" y="390525"/>
                </a:lnTo>
                <a:cubicBezTo>
                  <a:pt x="2032" y="390525"/>
                  <a:pt x="0" y="388493"/>
                  <a:pt x="0" y="385953"/>
                </a:cubicBezTo>
                <a:lnTo>
                  <a:pt x="0" y="4572"/>
                </a:lnTo>
                <a:cubicBezTo>
                  <a:pt x="0" y="2032"/>
                  <a:pt x="2032" y="0"/>
                  <a:pt x="4572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14" name="m-d08_kpi_board-chip-4"/>
          <p:cNvSpPr/>
          <p:nvPr/>
        </p:nvSpPr>
        <p:spPr>
          <a:xfrm>
            <a:off x="8024622" y="5157597"/>
            <a:ext cx="67691" cy="67691"/>
          </a:xfrm>
          <a:prstGeom prst="ellipse">
            <a:avLst/>
          </a:prstGeom>
          <a:solidFill>
            <a:srgbClr val="2E77C2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15" name="m-d08_kpi_board-icon-people"/>
          <p:cNvSpPr/>
          <p:nvPr/>
        </p:nvSpPr>
        <p:spPr>
          <a:xfrm>
            <a:off x="8045704" y="5195380"/>
            <a:ext cx="25844" cy="7303"/>
          </a:xfrm>
          <a:custGeom>
            <a:avLst/>
            <a:gdLst/>
            <a:ahLst/>
            <a:cxnLst/>
            <a:rect l="0" t="0" r="r" b="b"/>
            <a:pathLst>
              <a:path w="25844" h="7303">
                <a:moveTo>
                  <a:pt x="0" y="7303"/>
                </a:moveTo>
                <a:cubicBezTo>
                  <a:pt x="0" y="2731"/>
                  <a:pt x="3810" y="0"/>
                  <a:pt x="8191" y="0"/>
                </a:cubicBezTo>
                <a:cubicBezTo>
                  <a:pt x="12637" y="0"/>
                  <a:pt x="16383" y="2731"/>
                  <a:pt x="16383" y="7303"/>
                </a:cubicBezTo>
                <a:moveTo>
                  <a:pt x="19431" y="635"/>
                </a:moveTo>
                <a:cubicBezTo>
                  <a:pt x="23368" y="1080"/>
                  <a:pt x="25844" y="3810"/>
                  <a:pt x="25844" y="7303"/>
                </a:cubicBezTo>
              </a:path>
            </a:pathLst>
          </a:custGeom>
          <a:noFill/>
          <a:ln w="2604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16" name="m-d08_kpi_board-icon-people"/>
          <p:cNvSpPr/>
          <p:nvPr/>
        </p:nvSpPr>
        <p:spPr>
          <a:xfrm>
            <a:off x="8049052" y="5182330"/>
            <a:ext cx="9720" cy="9720"/>
          </a:xfrm>
          <a:prstGeom prst="ellipse">
            <a:avLst/>
          </a:prstGeom>
          <a:noFill/>
          <a:ln w="2604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17" name="m-d08_kpi_board-icon-people"/>
          <p:cNvSpPr/>
          <p:nvPr/>
        </p:nvSpPr>
        <p:spPr>
          <a:xfrm>
            <a:off x="8062112" y="5182330"/>
            <a:ext cx="7897" cy="7897"/>
          </a:xfrm>
          <a:prstGeom prst="ellipse">
            <a:avLst/>
          </a:prstGeom>
          <a:noFill/>
          <a:ln w="2604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18" name="m-d08_kpi_board-nm-4"/>
          <p:cNvSpPr txBox="1"/>
          <p:nvPr/>
        </p:nvSpPr>
        <p:spPr>
          <a:xfrm>
            <a:off x="8106632" y="5161665"/>
            <a:ext cx="205026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客户续约率</a:t>
            </a:r>
          </a:p>
        </p:txBody>
      </p:sp>
      <p:sp>
        <p:nvSpPr>
          <p:cNvPr id="1719" name="m-d08_kpi_board-dlt-4"/>
          <p:cNvSpPr/>
          <p:nvPr/>
        </p:nvSpPr>
        <p:spPr>
          <a:xfrm>
            <a:off x="8498459" y="5165408"/>
            <a:ext cx="145796" cy="52070"/>
          </a:xfrm>
          <a:custGeom>
            <a:avLst/>
            <a:gdLst/>
            <a:ahLst/>
            <a:cxnLst/>
            <a:rect l="0" t="0" r="r" b="b"/>
            <a:pathLst>
              <a:path w="145796" h="52070">
                <a:moveTo>
                  <a:pt x="26035" y="0"/>
                </a:moveTo>
                <a:lnTo>
                  <a:pt x="119761" y="0"/>
                </a:lnTo>
                <a:cubicBezTo>
                  <a:pt x="134176" y="0"/>
                  <a:pt x="145796" y="11620"/>
                  <a:pt x="145796" y="26035"/>
                </a:cubicBezTo>
                <a:lnTo>
                  <a:pt x="145796" y="26035"/>
                </a:lnTo>
                <a:cubicBezTo>
                  <a:pt x="145796" y="40450"/>
                  <a:pt x="134176" y="52070"/>
                  <a:pt x="119761" y="52070"/>
                </a:cubicBezTo>
                <a:lnTo>
                  <a:pt x="26035" y="52070"/>
                </a:lnTo>
                <a:cubicBezTo>
                  <a:pt x="11621" y="52070"/>
                  <a:pt x="0" y="40450"/>
                  <a:pt x="0" y="26035"/>
                </a:cubicBezTo>
                <a:lnTo>
                  <a:pt x="0" y="26035"/>
                </a:lnTo>
                <a:cubicBezTo>
                  <a:pt x="0" y="11620"/>
                  <a:pt x="11621" y="0"/>
                  <a:pt x="26035" y="0"/>
                </a:cubicBezTo>
                <a:close/>
              </a:path>
            </a:pathLst>
          </a:cu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20" name="m-d08_kpi_board-icon-grow"/>
          <p:cNvSpPr/>
          <p:nvPr/>
        </p:nvSpPr>
        <p:spPr>
          <a:xfrm>
            <a:off x="8520620" y="5187315"/>
            <a:ext cx="16256" cy="10224"/>
          </a:xfrm>
          <a:custGeom>
            <a:avLst/>
            <a:gdLst/>
            <a:ahLst/>
            <a:cxnLst/>
            <a:rect l="0" t="0" r="r" b="b"/>
            <a:pathLst>
              <a:path w="16256" h="10224">
                <a:moveTo>
                  <a:pt x="0" y="10224"/>
                </a:moveTo>
                <a:lnTo>
                  <a:pt x="5398" y="4318"/>
                </a:lnTo>
                <a:lnTo>
                  <a:pt x="9271" y="7620"/>
                </a:lnTo>
                <a:lnTo>
                  <a:pt x="15812" y="0"/>
                </a:lnTo>
                <a:moveTo>
                  <a:pt x="13208" y="0"/>
                </a:moveTo>
                <a:lnTo>
                  <a:pt x="16256" y="0"/>
                </a:lnTo>
                <a:lnTo>
                  <a:pt x="16256" y="3048"/>
                </a:lnTo>
              </a:path>
            </a:pathLst>
          </a:custGeom>
          <a:noFill/>
          <a:ln w="260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21" name="m-d08_kpi_board-dltt-4"/>
          <p:cNvSpPr txBox="1"/>
          <p:nvPr/>
        </p:nvSpPr>
        <p:spPr>
          <a:xfrm>
            <a:off x="8532252" y="5174832"/>
            <a:ext cx="9107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3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+1.2pt</a:t>
            </a:r>
          </a:p>
        </p:txBody>
      </p:sp>
      <p:sp>
        <p:nvSpPr>
          <p:cNvPr id="1722" name="m-d08_kpi_board-v-4"/>
          <p:cNvSpPr txBox="1"/>
          <p:nvPr/>
        </p:nvSpPr>
        <p:spPr>
          <a:xfrm>
            <a:off x="8016187" y="5240011"/>
            <a:ext cx="225932" cy="12301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5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96.4</a:t>
            </a:r>
          </a:p>
        </p:txBody>
      </p:sp>
      <p:sp>
        <p:nvSpPr>
          <p:cNvPr id="1723" name="m-d08_kpi_board-u-4"/>
          <p:cNvSpPr txBox="1"/>
          <p:nvPr/>
        </p:nvSpPr>
        <p:spPr>
          <a:xfrm>
            <a:off x="8200514" y="5297887"/>
            <a:ext cx="3421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%</a:t>
            </a:r>
          </a:p>
        </p:txBody>
      </p:sp>
      <p:sp>
        <p:nvSpPr>
          <p:cNvPr id="1724" name="m-d08_kpi_board-sp-4-1"/>
          <p:cNvSpPr/>
          <p:nvPr/>
        </p:nvSpPr>
        <p:spPr>
          <a:xfrm>
            <a:off x="8024622" y="5393436"/>
            <a:ext cx="39052" cy="73977"/>
          </a:xfrm>
          <a:custGeom>
            <a:avLst/>
            <a:gdLst/>
            <a:ahLst/>
            <a:cxnLst/>
            <a:rect l="0" t="0" r="r" b="b"/>
            <a:pathLst>
              <a:path w="39052" h="73977">
                <a:moveTo>
                  <a:pt x="0" y="73977"/>
                </a:moveTo>
                <a:lnTo>
                  <a:pt x="0" y="7811"/>
                </a:lnTo>
                <a:cubicBezTo>
                  <a:pt x="0" y="3492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492"/>
                  <a:pt x="39052" y="7811"/>
                </a:cubicBezTo>
                <a:lnTo>
                  <a:pt x="39052" y="73977"/>
                </a:lnTo>
                <a:close/>
              </a:path>
            </a:pathLst>
          </a:custGeom>
          <a:solidFill>
            <a:srgbClr val="2E77C2">
              <a:alpha val="2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25" name="m-d08_kpi_board-sp-4-2"/>
          <p:cNvSpPr/>
          <p:nvPr/>
        </p:nvSpPr>
        <p:spPr>
          <a:xfrm>
            <a:off x="8079296" y="5391785"/>
            <a:ext cx="39053" cy="75628"/>
          </a:xfrm>
          <a:custGeom>
            <a:avLst/>
            <a:gdLst/>
            <a:ahLst/>
            <a:cxnLst/>
            <a:rect l="0" t="0" r="r" b="b"/>
            <a:pathLst>
              <a:path w="39053" h="75628">
                <a:moveTo>
                  <a:pt x="0" y="75628"/>
                </a:moveTo>
                <a:lnTo>
                  <a:pt x="0" y="7811"/>
                </a:lnTo>
                <a:cubicBezTo>
                  <a:pt x="0" y="3429"/>
                  <a:pt x="3493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3" y="3429"/>
                  <a:pt x="39053" y="7811"/>
                </a:cubicBezTo>
                <a:lnTo>
                  <a:pt x="39053" y="75628"/>
                </a:lnTo>
                <a:close/>
              </a:path>
            </a:pathLst>
          </a:custGeom>
          <a:solidFill>
            <a:srgbClr val="2E77C2">
              <a:alpha val="4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26" name="m-d08_kpi_board-sp-4-3"/>
          <p:cNvSpPr/>
          <p:nvPr/>
        </p:nvSpPr>
        <p:spPr>
          <a:xfrm>
            <a:off x="8133969" y="5390896"/>
            <a:ext cx="39052" cy="76517"/>
          </a:xfrm>
          <a:custGeom>
            <a:avLst/>
            <a:gdLst/>
            <a:ahLst/>
            <a:cxnLst/>
            <a:rect l="0" t="0" r="r" b="b"/>
            <a:pathLst>
              <a:path w="39052" h="76517">
                <a:moveTo>
                  <a:pt x="0" y="76517"/>
                </a:moveTo>
                <a:lnTo>
                  <a:pt x="0" y="7811"/>
                </a:lnTo>
                <a:cubicBezTo>
                  <a:pt x="0" y="3492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492"/>
                  <a:pt x="39052" y="7811"/>
                </a:cubicBezTo>
                <a:lnTo>
                  <a:pt x="39052" y="76517"/>
                </a:lnTo>
                <a:close/>
              </a:path>
            </a:pathLst>
          </a:custGeom>
          <a:solidFill>
            <a:srgbClr val="2E77C2">
              <a:alpha val="5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27" name="m-d08_kpi_board-sp-4-4"/>
          <p:cNvSpPr/>
          <p:nvPr/>
        </p:nvSpPr>
        <p:spPr>
          <a:xfrm>
            <a:off x="8188642" y="5389245"/>
            <a:ext cx="39053" cy="78168"/>
          </a:xfrm>
          <a:custGeom>
            <a:avLst/>
            <a:gdLst/>
            <a:ahLst/>
            <a:cxnLst/>
            <a:rect l="0" t="0" r="r" b="b"/>
            <a:pathLst>
              <a:path w="39053" h="78168">
                <a:moveTo>
                  <a:pt x="0" y="78168"/>
                </a:moveTo>
                <a:lnTo>
                  <a:pt x="0" y="7810"/>
                </a:lnTo>
                <a:cubicBezTo>
                  <a:pt x="0" y="3492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3" y="3492"/>
                  <a:pt x="39053" y="7810"/>
                </a:cubicBezTo>
                <a:lnTo>
                  <a:pt x="39053" y="78168"/>
                </a:lnTo>
                <a:close/>
              </a:path>
            </a:pathLst>
          </a:custGeom>
          <a:solidFill>
            <a:srgbClr val="2E77C2">
              <a:alpha val="6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28" name="m-d08_kpi_board-sp-4-5"/>
          <p:cNvSpPr/>
          <p:nvPr/>
        </p:nvSpPr>
        <p:spPr>
          <a:xfrm>
            <a:off x="8243316" y="5387530"/>
            <a:ext cx="39052" cy="79883"/>
          </a:xfrm>
          <a:custGeom>
            <a:avLst/>
            <a:gdLst/>
            <a:ahLst/>
            <a:cxnLst/>
            <a:rect l="0" t="0" r="r" b="b"/>
            <a:pathLst>
              <a:path w="39052" h="79883">
                <a:moveTo>
                  <a:pt x="0" y="79883"/>
                </a:moveTo>
                <a:lnTo>
                  <a:pt x="0" y="7811"/>
                </a:lnTo>
                <a:cubicBezTo>
                  <a:pt x="0" y="3493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493"/>
                  <a:pt x="39052" y="7811"/>
                </a:cubicBezTo>
                <a:lnTo>
                  <a:pt x="39052" y="79883"/>
                </a:lnTo>
                <a:close/>
              </a:path>
            </a:pathLst>
          </a:custGeom>
          <a:solidFill>
            <a:srgbClr val="2E77C2">
              <a:alpha val="7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29" name="m-d08_kpi_board-sp-4-6"/>
          <p:cNvSpPr/>
          <p:nvPr/>
        </p:nvSpPr>
        <p:spPr>
          <a:xfrm>
            <a:off x="8297990" y="5386705"/>
            <a:ext cx="39053" cy="80709"/>
          </a:xfrm>
          <a:custGeom>
            <a:avLst/>
            <a:gdLst/>
            <a:ahLst/>
            <a:cxnLst/>
            <a:rect l="0" t="0" r="r" b="b"/>
            <a:pathLst>
              <a:path w="39053" h="80709">
                <a:moveTo>
                  <a:pt x="0" y="80709"/>
                </a:moveTo>
                <a:lnTo>
                  <a:pt x="0" y="7811"/>
                </a:lnTo>
                <a:cubicBezTo>
                  <a:pt x="0" y="3493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3" y="3493"/>
                  <a:pt x="39053" y="7811"/>
                </a:cubicBezTo>
                <a:lnTo>
                  <a:pt x="39053" y="80709"/>
                </a:lnTo>
                <a:close/>
              </a:path>
            </a:pathLst>
          </a:custGeom>
          <a:solidFill>
            <a:srgbClr val="2E77C2">
              <a:alpha val="8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730" name="m-d08_kpi_board-spl-4"/>
          <p:cNvCxnSpPr/>
          <p:nvPr/>
        </p:nvCxnSpPr>
        <p:spPr>
          <a:xfrm>
            <a:off x="8024622" y="5477828"/>
            <a:ext cx="609219" cy="0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31" name="m-d08_kpi_board-spt-4"/>
          <p:cNvSpPr txBox="1"/>
          <p:nvPr/>
        </p:nvSpPr>
        <p:spPr>
          <a:xfrm>
            <a:off x="8549956" y="5392836"/>
            <a:ext cx="8607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近 6 期</a:t>
            </a:r>
          </a:p>
        </p:txBody>
      </p:sp>
      <p:sp>
        <p:nvSpPr>
          <p:cNvPr id="1732" name="m-d08_kpi_board-spt2-4"/>
          <p:cNvSpPr txBox="1"/>
          <p:nvPr/>
        </p:nvSpPr>
        <p:spPr>
          <a:xfrm>
            <a:off x="8544645" y="5439699"/>
            <a:ext cx="9138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环比走势</a:t>
            </a:r>
          </a:p>
        </p:txBody>
      </p:sp>
      <p:sp>
        <p:nvSpPr>
          <p:cNvPr id="1733" name="m-d08_kpi_board-card-5"/>
          <p:cNvSpPr/>
          <p:nvPr/>
        </p:nvSpPr>
        <p:spPr>
          <a:xfrm>
            <a:off x="8711946" y="5121148"/>
            <a:ext cx="697738" cy="390525"/>
          </a:xfrm>
          <a:custGeom>
            <a:avLst/>
            <a:gdLst/>
            <a:ahLst/>
            <a:cxnLst/>
            <a:rect l="0" t="0" r="r" b="b"/>
            <a:pathLst>
              <a:path w="697738" h="390525">
                <a:moveTo>
                  <a:pt x="26035" y="0"/>
                </a:moveTo>
                <a:lnTo>
                  <a:pt x="671703" y="0"/>
                </a:lnTo>
                <a:cubicBezTo>
                  <a:pt x="686117" y="0"/>
                  <a:pt x="697738" y="11620"/>
                  <a:pt x="697738" y="26035"/>
                </a:cubicBezTo>
                <a:lnTo>
                  <a:pt x="697738" y="364490"/>
                </a:lnTo>
                <a:cubicBezTo>
                  <a:pt x="697738" y="378904"/>
                  <a:pt x="686117" y="390525"/>
                  <a:pt x="671703" y="390525"/>
                </a:cubicBezTo>
                <a:lnTo>
                  <a:pt x="26035" y="390525"/>
                </a:lnTo>
                <a:cubicBezTo>
                  <a:pt x="11620" y="390525"/>
                  <a:pt x="0" y="378904"/>
                  <a:pt x="0" y="364490"/>
                </a:cubicBezTo>
                <a:lnTo>
                  <a:pt x="0" y="26035"/>
                </a:lnTo>
                <a:cubicBezTo>
                  <a:pt x="0" y="11620"/>
                  <a:pt x="11620" y="0"/>
                  <a:pt x="260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34" name="m-d08_kpi_board-cap-5"/>
          <p:cNvSpPr/>
          <p:nvPr/>
        </p:nvSpPr>
        <p:spPr>
          <a:xfrm>
            <a:off x="8711946" y="5121148"/>
            <a:ext cx="9081" cy="390525"/>
          </a:xfrm>
          <a:custGeom>
            <a:avLst/>
            <a:gdLst/>
            <a:ahLst/>
            <a:cxnLst/>
            <a:rect l="0" t="0" r="r" b="b"/>
            <a:pathLst>
              <a:path w="9081" h="390525">
                <a:moveTo>
                  <a:pt x="4572" y="0"/>
                </a:moveTo>
                <a:lnTo>
                  <a:pt x="4572" y="0"/>
                </a:lnTo>
                <a:cubicBezTo>
                  <a:pt x="7048" y="0"/>
                  <a:pt x="9081" y="2032"/>
                  <a:pt x="9081" y="4572"/>
                </a:cubicBezTo>
                <a:lnTo>
                  <a:pt x="9081" y="385953"/>
                </a:lnTo>
                <a:cubicBezTo>
                  <a:pt x="9081" y="388493"/>
                  <a:pt x="7048" y="390525"/>
                  <a:pt x="4572" y="390525"/>
                </a:cubicBezTo>
                <a:lnTo>
                  <a:pt x="4572" y="390525"/>
                </a:lnTo>
                <a:cubicBezTo>
                  <a:pt x="2032" y="390525"/>
                  <a:pt x="0" y="388493"/>
                  <a:pt x="0" y="385953"/>
                </a:cubicBezTo>
                <a:lnTo>
                  <a:pt x="0" y="4572"/>
                </a:lnTo>
                <a:cubicBezTo>
                  <a:pt x="0" y="2032"/>
                  <a:pt x="2032" y="0"/>
                  <a:pt x="4572" y="0"/>
                </a:cubicBezTo>
                <a:close/>
              </a:path>
            </a:pathLst>
          </a:cu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35" name="m-d08_kpi_board-chip-5"/>
          <p:cNvSpPr/>
          <p:nvPr/>
        </p:nvSpPr>
        <p:spPr>
          <a:xfrm>
            <a:off x="8756206" y="5157597"/>
            <a:ext cx="67691" cy="67691"/>
          </a:xfrm>
          <a:prstGeom prst="ellipse">
            <a:avLst/>
          </a:prstGeom>
          <a:solidFill>
            <a:srgbClr val="4694D7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36" name="m-d08_kpi_board-icon-clock"/>
          <p:cNvSpPr/>
          <p:nvPr/>
        </p:nvSpPr>
        <p:spPr>
          <a:xfrm>
            <a:off x="8790051" y="5184140"/>
            <a:ext cx="4826" cy="10224"/>
          </a:xfrm>
          <a:custGeom>
            <a:avLst/>
            <a:gdLst/>
            <a:ahLst/>
            <a:cxnLst/>
            <a:rect l="0" t="0" r="r" b="b"/>
            <a:pathLst>
              <a:path w="4826" h="10224">
                <a:moveTo>
                  <a:pt x="0" y="0"/>
                </a:moveTo>
                <a:lnTo>
                  <a:pt x="0" y="7302"/>
                </a:lnTo>
                <a:lnTo>
                  <a:pt x="4826" y="10224"/>
                </a:lnTo>
              </a:path>
            </a:pathLst>
          </a:custGeom>
          <a:noFill/>
          <a:ln w="2604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37" name="m-d08_kpi_board-icon-clock"/>
          <p:cNvSpPr/>
          <p:nvPr/>
        </p:nvSpPr>
        <p:spPr>
          <a:xfrm>
            <a:off x="8776990" y="5178382"/>
            <a:ext cx="26122" cy="26122"/>
          </a:xfrm>
          <a:prstGeom prst="ellipse">
            <a:avLst/>
          </a:prstGeom>
          <a:noFill/>
          <a:ln w="2604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38" name="m-d08_kpi_board-nm-5"/>
          <p:cNvSpPr txBox="1"/>
          <p:nvPr/>
        </p:nvSpPr>
        <p:spPr>
          <a:xfrm>
            <a:off x="8838216" y="5161665"/>
            <a:ext cx="205026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交付准时率</a:t>
            </a:r>
          </a:p>
        </p:txBody>
      </p:sp>
      <p:sp>
        <p:nvSpPr>
          <p:cNvPr id="1739" name="m-d08_kpi_board-dlt-5"/>
          <p:cNvSpPr/>
          <p:nvPr/>
        </p:nvSpPr>
        <p:spPr>
          <a:xfrm>
            <a:off x="9230042" y="5165408"/>
            <a:ext cx="145796" cy="52070"/>
          </a:xfrm>
          <a:custGeom>
            <a:avLst/>
            <a:gdLst/>
            <a:ahLst/>
            <a:cxnLst/>
            <a:rect l="0" t="0" r="r" b="b"/>
            <a:pathLst>
              <a:path w="145796" h="52070">
                <a:moveTo>
                  <a:pt x="26035" y="0"/>
                </a:moveTo>
                <a:lnTo>
                  <a:pt x="119761" y="0"/>
                </a:lnTo>
                <a:cubicBezTo>
                  <a:pt x="134176" y="0"/>
                  <a:pt x="145796" y="11620"/>
                  <a:pt x="145796" y="26035"/>
                </a:cubicBezTo>
                <a:lnTo>
                  <a:pt x="145796" y="26035"/>
                </a:lnTo>
                <a:cubicBezTo>
                  <a:pt x="145796" y="40450"/>
                  <a:pt x="134176" y="52070"/>
                  <a:pt x="119761" y="52070"/>
                </a:cubicBezTo>
                <a:lnTo>
                  <a:pt x="26035" y="52070"/>
                </a:lnTo>
                <a:cubicBezTo>
                  <a:pt x="11621" y="52070"/>
                  <a:pt x="0" y="40450"/>
                  <a:pt x="0" y="26035"/>
                </a:cubicBezTo>
                <a:lnTo>
                  <a:pt x="0" y="26035"/>
                </a:lnTo>
                <a:cubicBezTo>
                  <a:pt x="0" y="11620"/>
                  <a:pt x="11621" y="0"/>
                  <a:pt x="26035" y="0"/>
                </a:cubicBezTo>
                <a:close/>
              </a:path>
            </a:pathLst>
          </a:custGeom>
          <a:solidFill>
            <a:srgbClr val="B06A46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40" name="m-d08_kpi_board-icon-chart"/>
          <p:cNvSpPr/>
          <p:nvPr/>
        </p:nvSpPr>
        <p:spPr>
          <a:xfrm>
            <a:off x="9252204" y="5188204"/>
            <a:ext cx="18161" cy="11938"/>
          </a:xfrm>
          <a:custGeom>
            <a:avLst/>
            <a:gdLst/>
            <a:ahLst/>
            <a:cxnLst/>
            <a:rect l="0" t="0" r="r" b="b"/>
            <a:pathLst>
              <a:path w="18161" h="11938">
                <a:moveTo>
                  <a:pt x="0" y="11938"/>
                </a:moveTo>
                <a:lnTo>
                  <a:pt x="18161" y="11938"/>
                </a:lnTo>
                <a:moveTo>
                  <a:pt x="4064" y="11938"/>
                </a:moveTo>
                <a:lnTo>
                  <a:pt x="4064" y="4953"/>
                </a:lnTo>
                <a:moveTo>
                  <a:pt x="9081" y="11938"/>
                </a:moveTo>
                <a:lnTo>
                  <a:pt x="9081" y="0"/>
                </a:lnTo>
                <a:moveTo>
                  <a:pt x="14097" y="11938"/>
                </a:moveTo>
                <a:lnTo>
                  <a:pt x="14097" y="7366"/>
                </a:lnTo>
              </a:path>
            </a:pathLst>
          </a:custGeom>
          <a:noFill/>
          <a:ln w="2604" cap="rnd">
            <a:solidFill>
              <a:srgbClr val="B06A4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41" name="m-d08_kpi_board-dltt-5"/>
          <p:cNvSpPr txBox="1"/>
          <p:nvPr/>
        </p:nvSpPr>
        <p:spPr>
          <a:xfrm>
            <a:off x="9263836" y="5174832"/>
            <a:ext cx="9107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3" normalizeH="0" baseline="0" noProof="0">
                <a:ln>
                  <a:noFill/>
                </a:ln>
                <a:solidFill>
                  <a:srgbClr val="B06A46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-1.4pt</a:t>
            </a:r>
          </a:p>
        </p:txBody>
      </p:sp>
      <p:sp>
        <p:nvSpPr>
          <p:cNvPr id="1742" name="m-d08_kpi_board-v-5"/>
          <p:cNvSpPr txBox="1"/>
          <p:nvPr/>
        </p:nvSpPr>
        <p:spPr>
          <a:xfrm>
            <a:off x="8747770" y="5240011"/>
            <a:ext cx="225932" cy="12301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5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92.1</a:t>
            </a:r>
          </a:p>
        </p:txBody>
      </p:sp>
      <p:sp>
        <p:nvSpPr>
          <p:cNvPr id="1743" name="m-d08_kpi_board-u-5"/>
          <p:cNvSpPr txBox="1"/>
          <p:nvPr/>
        </p:nvSpPr>
        <p:spPr>
          <a:xfrm>
            <a:off x="8932098" y="5297887"/>
            <a:ext cx="3421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%</a:t>
            </a:r>
          </a:p>
        </p:txBody>
      </p:sp>
      <p:sp>
        <p:nvSpPr>
          <p:cNvPr id="1744" name="m-d08_kpi_board-sp-5-1"/>
          <p:cNvSpPr/>
          <p:nvPr/>
        </p:nvSpPr>
        <p:spPr>
          <a:xfrm>
            <a:off x="8756206" y="5386705"/>
            <a:ext cx="39052" cy="80709"/>
          </a:xfrm>
          <a:custGeom>
            <a:avLst/>
            <a:gdLst/>
            <a:ahLst/>
            <a:cxnLst/>
            <a:rect l="0" t="0" r="r" b="b"/>
            <a:pathLst>
              <a:path w="39052" h="80709">
                <a:moveTo>
                  <a:pt x="0" y="80709"/>
                </a:moveTo>
                <a:lnTo>
                  <a:pt x="0" y="7811"/>
                </a:lnTo>
                <a:cubicBezTo>
                  <a:pt x="0" y="3493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493"/>
                  <a:pt x="39052" y="7811"/>
                </a:cubicBezTo>
                <a:lnTo>
                  <a:pt x="39052" y="80709"/>
                </a:lnTo>
                <a:close/>
              </a:path>
            </a:pathLst>
          </a:custGeom>
          <a:solidFill>
            <a:srgbClr val="4694D7">
              <a:alpha val="2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45" name="m-d08_kpi_board-sp-5-2"/>
          <p:cNvSpPr/>
          <p:nvPr/>
        </p:nvSpPr>
        <p:spPr>
          <a:xfrm>
            <a:off x="8810879" y="5387530"/>
            <a:ext cx="39053" cy="79883"/>
          </a:xfrm>
          <a:custGeom>
            <a:avLst/>
            <a:gdLst/>
            <a:ahLst/>
            <a:cxnLst/>
            <a:rect l="0" t="0" r="r" b="b"/>
            <a:pathLst>
              <a:path w="39053" h="79883">
                <a:moveTo>
                  <a:pt x="0" y="79883"/>
                </a:moveTo>
                <a:lnTo>
                  <a:pt x="0" y="7811"/>
                </a:lnTo>
                <a:cubicBezTo>
                  <a:pt x="0" y="3493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3" y="3493"/>
                  <a:pt x="39053" y="7811"/>
                </a:cubicBezTo>
                <a:lnTo>
                  <a:pt x="39053" y="79883"/>
                </a:lnTo>
                <a:close/>
              </a:path>
            </a:pathLst>
          </a:custGeom>
          <a:solidFill>
            <a:srgbClr val="4694D7">
              <a:alpha val="4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46" name="m-d08_kpi_board-sp-5-3"/>
          <p:cNvSpPr/>
          <p:nvPr/>
        </p:nvSpPr>
        <p:spPr>
          <a:xfrm>
            <a:off x="8865552" y="5387530"/>
            <a:ext cx="39052" cy="79883"/>
          </a:xfrm>
          <a:custGeom>
            <a:avLst/>
            <a:gdLst/>
            <a:ahLst/>
            <a:cxnLst/>
            <a:rect l="0" t="0" r="r" b="b"/>
            <a:pathLst>
              <a:path w="39052" h="79883">
                <a:moveTo>
                  <a:pt x="0" y="79883"/>
                </a:moveTo>
                <a:lnTo>
                  <a:pt x="0" y="7811"/>
                </a:lnTo>
                <a:cubicBezTo>
                  <a:pt x="0" y="3493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493"/>
                  <a:pt x="39052" y="7811"/>
                </a:cubicBezTo>
                <a:lnTo>
                  <a:pt x="39052" y="79883"/>
                </a:lnTo>
                <a:close/>
              </a:path>
            </a:pathLst>
          </a:custGeom>
          <a:solidFill>
            <a:srgbClr val="4694D7">
              <a:alpha val="5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47" name="m-d08_kpi_board-sp-5-4"/>
          <p:cNvSpPr/>
          <p:nvPr/>
        </p:nvSpPr>
        <p:spPr>
          <a:xfrm>
            <a:off x="8920226" y="5388356"/>
            <a:ext cx="39053" cy="79058"/>
          </a:xfrm>
          <a:custGeom>
            <a:avLst/>
            <a:gdLst/>
            <a:ahLst/>
            <a:cxnLst/>
            <a:rect l="0" t="0" r="r" b="b"/>
            <a:pathLst>
              <a:path w="39053" h="79058">
                <a:moveTo>
                  <a:pt x="0" y="79058"/>
                </a:moveTo>
                <a:lnTo>
                  <a:pt x="0" y="7811"/>
                </a:lnTo>
                <a:cubicBezTo>
                  <a:pt x="0" y="3556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3" y="3556"/>
                  <a:pt x="39053" y="7811"/>
                </a:cubicBezTo>
                <a:lnTo>
                  <a:pt x="39053" y="79058"/>
                </a:lnTo>
                <a:close/>
              </a:path>
            </a:pathLst>
          </a:custGeom>
          <a:solidFill>
            <a:srgbClr val="4694D7">
              <a:alpha val="6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48" name="m-d08_kpi_board-sp-5-5"/>
          <p:cNvSpPr/>
          <p:nvPr/>
        </p:nvSpPr>
        <p:spPr>
          <a:xfrm>
            <a:off x="8974900" y="5389245"/>
            <a:ext cx="39053" cy="78168"/>
          </a:xfrm>
          <a:custGeom>
            <a:avLst/>
            <a:gdLst/>
            <a:ahLst/>
            <a:cxnLst/>
            <a:rect l="0" t="0" r="r" b="b"/>
            <a:pathLst>
              <a:path w="39053" h="78168">
                <a:moveTo>
                  <a:pt x="0" y="78168"/>
                </a:moveTo>
                <a:lnTo>
                  <a:pt x="0" y="7810"/>
                </a:lnTo>
                <a:cubicBezTo>
                  <a:pt x="0" y="3492"/>
                  <a:pt x="3493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3" y="3492"/>
                  <a:pt x="39053" y="7810"/>
                </a:cubicBezTo>
                <a:lnTo>
                  <a:pt x="39053" y="78168"/>
                </a:lnTo>
                <a:close/>
              </a:path>
            </a:pathLst>
          </a:custGeom>
          <a:solidFill>
            <a:srgbClr val="4694D7">
              <a:alpha val="7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49" name="m-d08_kpi_board-sp-5-6"/>
          <p:cNvSpPr/>
          <p:nvPr/>
        </p:nvSpPr>
        <p:spPr>
          <a:xfrm>
            <a:off x="9029573" y="5390070"/>
            <a:ext cx="39053" cy="77343"/>
          </a:xfrm>
          <a:custGeom>
            <a:avLst/>
            <a:gdLst/>
            <a:ahLst/>
            <a:cxnLst/>
            <a:rect l="0" t="0" r="r" b="b"/>
            <a:pathLst>
              <a:path w="39053" h="77343">
                <a:moveTo>
                  <a:pt x="0" y="77343"/>
                </a:moveTo>
                <a:lnTo>
                  <a:pt x="0" y="7810"/>
                </a:lnTo>
                <a:cubicBezTo>
                  <a:pt x="0" y="3492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3" y="3492"/>
                  <a:pt x="39053" y="7810"/>
                </a:cubicBezTo>
                <a:lnTo>
                  <a:pt x="39053" y="77343"/>
                </a:lnTo>
                <a:close/>
              </a:path>
            </a:pathLst>
          </a:custGeom>
          <a:solidFill>
            <a:srgbClr val="4694D7">
              <a:alpha val="8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750" name="m-d08_kpi_board-spl-5"/>
          <p:cNvCxnSpPr/>
          <p:nvPr/>
        </p:nvCxnSpPr>
        <p:spPr>
          <a:xfrm>
            <a:off x="8756206" y="5477828"/>
            <a:ext cx="609218" cy="0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51" name="m-d08_kpi_board-spt-5"/>
          <p:cNvSpPr txBox="1"/>
          <p:nvPr/>
        </p:nvSpPr>
        <p:spPr>
          <a:xfrm>
            <a:off x="9281540" y="5392836"/>
            <a:ext cx="8607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近 6 期</a:t>
            </a:r>
          </a:p>
        </p:txBody>
      </p:sp>
      <p:sp>
        <p:nvSpPr>
          <p:cNvPr id="1752" name="m-d08_kpi_board-spt2-5"/>
          <p:cNvSpPr txBox="1"/>
          <p:nvPr/>
        </p:nvSpPr>
        <p:spPr>
          <a:xfrm>
            <a:off x="9276229" y="5439699"/>
            <a:ext cx="9138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环比走势</a:t>
            </a:r>
          </a:p>
        </p:txBody>
      </p:sp>
      <p:sp>
        <p:nvSpPr>
          <p:cNvPr id="1753" name="m-d08_kpi_board-card-6"/>
          <p:cNvSpPr/>
          <p:nvPr/>
        </p:nvSpPr>
        <p:spPr>
          <a:xfrm>
            <a:off x="9443530" y="5121148"/>
            <a:ext cx="697738" cy="390525"/>
          </a:xfrm>
          <a:custGeom>
            <a:avLst/>
            <a:gdLst/>
            <a:ahLst/>
            <a:cxnLst/>
            <a:rect l="0" t="0" r="r" b="b"/>
            <a:pathLst>
              <a:path w="697738" h="390525">
                <a:moveTo>
                  <a:pt x="26035" y="0"/>
                </a:moveTo>
                <a:lnTo>
                  <a:pt x="671703" y="0"/>
                </a:lnTo>
                <a:cubicBezTo>
                  <a:pt x="686117" y="0"/>
                  <a:pt x="697738" y="11620"/>
                  <a:pt x="697738" y="26035"/>
                </a:cubicBezTo>
                <a:lnTo>
                  <a:pt x="697738" y="364490"/>
                </a:lnTo>
                <a:cubicBezTo>
                  <a:pt x="697738" y="378904"/>
                  <a:pt x="686117" y="390525"/>
                  <a:pt x="671703" y="390525"/>
                </a:cubicBezTo>
                <a:lnTo>
                  <a:pt x="26035" y="390525"/>
                </a:lnTo>
                <a:cubicBezTo>
                  <a:pt x="11620" y="390525"/>
                  <a:pt x="0" y="378904"/>
                  <a:pt x="0" y="364490"/>
                </a:cubicBezTo>
                <a:lnTo>
                  <a:pt x="0" y="26035"/>
                </a:lnTo>
                <a:cubicBezTo>
                  <a:pt x="0" y="11620"/>
                  <a:pt x="11620" y="0"/>
                  <a:pt x="260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54" name="m-d08_kpi_board-cap-6"/>
          <p:cNvSpPr/>
          <p:nvPr/>
        </p:nvSpPr>
        <p:spPr>
          <a:xfrm>
            <a:off x="9443530" y="5121148"/>
            <a:ext cx="9144" cy="390525"/>
          </a:xfrm>
          <a:custGeom>
            <a:avLst/>
            <a:gdLst/>
            <a:ahLst/>
            <a:cxnLst/>
            <a:rect l="0" t="0" r="r" b="b"/>
            <a:pathLst>
              <a:path w="9144" h="390525">
                <a:moveTo>
                  <a:pt x="4572" y="0"/>
                </a:moveTo>
                <a:lnTo>
                  <a:pt x="4572" y="0"/>
                </a:lnTo>
                <a:cubicBezTo>
                  <a:pt x="7048" y="0"/>
                  <a:pt x="9144" y="2032"/>
                  <a:pt x="9144" y="4572"/>
                </a:cubicBezTo>
                <a:lnTo>
                  <a:pt x="9144" y="385953"/>
                </a:lnTo>
                <a:cubicBezTo>
                  <a:pt x="9144" y="388493"/>
                  <a:pt x="7048" y="390525"/>
                  <a:pt x="4572" y="390525"/>
                </a:cubicBezTo>
                <a:lnTo>
                  <a:pt x="4572" y="390525"/>
                </a:lnTo>
                <a:cubicBezTo>
                  <a:pt x="2032" y="390525"/>
                  <a:pt x="0" y="388493"/>
                  <a:pt x="0" y="385953"/>
                </a:cubicBezTo>
                <a:lnTo>
                  <a:pt x="0" y="4572"/>
                </a:lnTo>
                <a:cubicBezTo>
                  <a:pt x="0" y="2032"/>
                  <a:pt x="2032" y="0"/>
                  <a:pt x="4572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55" name="m-d08_kpi_board-chip-6"/>
          <p:cNvSpPr/>
          <p:nvPr/>
        </p:nvSpPr>
        <p:spPr>
          <a:xfrm>
            <a:off x="9487789" y="5157597"/>
            <a:ext cx="67691" cy="67691"/>
          </a:xfrm>
          <a:prstGeom prst="ellipse">
            <a:avLst/>
          </a:prstGeom>
          <a:solidFill>
            <a:srgbClr val="54A2D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56" name="m-d08_kpi_board-icon-grow"/>
          <p:cNvSpPr/>
          <p:nvPr/>
        </p:nvSpPr>
        <p:spPr>
          <a:xfrm>
            <a:off x="9508871" y="5185664"/>
            <a:ext cx="22796" cy="14288"/>
          </a:xfrm>
          <a:custGeom>
            <a:avLst/>
            <a:gdLst/>
            <a:ahLst/>
            <a:cxnLst/>
            <a:rect l="0" t="0" r="r" b="b"/>
            <a:pathLst>
              <a:path w="22796" h="14288">
                <a:moveTo>
                  <a:pt x="0" y="14288"/>
                </a:moveTo>
                <a:lnTo>
                  <a:pt x="7620" y="6096"/>
                </a:lnTo>
                <a:lnTo>
                  <a:pt x="13081" y="10604"/>
                </a:lnTo>
                <a:lnTo>
                  <a:pt x="22162" y="0"/>
                </a:lnTo>
                <a:moveTo>
                  <a:pt x="18542" y="0"/>
                </a:moveTo>
                <a:lnTo>
                  <a:pt x="22796" y="0"/>
                </a:lnTo>
                <a:lnTo>
                  <a:pt x="22796" y="4254"/>
                </a:lnTo>
              </a:path>
            </a:pathLst>
          </a:custGeom>
          <a:noFill/>
          <a:ln w="2604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57" name="m-d08_kpi_board-nm-6"/>
          <p:cNvSpPr txBox="1"/>
          <p:nvPr/>
        </p:nvSpPr>
        <p:spPr>
          <a:xfrm>
            <a:off x="9569799" y="5161665"/>
            <a:ext cx="169878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人均产值</a:t>
            </a:r>
          </a:p>
        </p:txBody>
      </p:sp>
      <p:sp>
        <p:nvSpPr>
          <p:cNvPr id="1758" name="m-d08_kpi_board-dlt-6"/>
          <p:cNvSpPr/>
          <p:nvPr/>
        </p:nvSpPr>
        <p:spPr>
          <a:xfrm>
            <a:off x="9961626" y="5165408"/>
            <a:ext cx="145796" cy="52070"/>
          </a:xfrm>
          <a:custGeom>
            <a:avLst/>
            <a:gdLst/>
            <a:ahLst/>
            <a:cxnLst/>
            <a:rect l="0" t="0" r="r" b="b"/>
            <a:pathLst>
              <a:path w="145796" h="52070">
                <a:moveTo>
                  <a:pt x="26035" y="0"/>
                </a:moveTo>
                <a:lnTo>
                  <a:pt x="119761" y="0"/>
                </a:lnTo>
                <a:cubicBezTo>
                  <a:pt x="134176" y="0"/>
                  <a:pt x="145796" y="11620"/>
                  <a:pt x="145796" y="26035"/>
                </a:cubicBezTo>
                <a:lnTo>
                  <a:pt x="145796" y="26035"/>
                </a:lnTo>
                <a:cubicBezTo>
                  <a:pt x="145796" y="40450"/>
                  <a:pt x="134176" y="52070"/>
                  <a:pt x="119761" y="52070"/>
                </a:cubicBezTo>
                <a:lnTo>
                  <a:pt x="26035" y="52070"/>
                </a:lnTo>
                <a:cubicBezTo>
                  <a:pt x="11620" y="52070"/>
                  <a:pt x="0" y="40450"/>
                  <a:pt x="0" y="26035"/>
                </a:cubicBezTo>
                <a:lnTo>
                  <a:pt x="0" y="26035"/>
                </a:lnTo>
                <a:cubicBezTo>
                  <a:pt x="0" y="11620"/>
                  <a:pt x="11620" y="0"/>
                  <a:pt x="26035" y="0"/>
                </a:cubicBezTo>
                <a:close/>
              </a:path>
            </a:pathLst>
          </a:custGeom>
          <a:solidFill>
            <a:srgbClr val="0B3E8F">
              <a:alpha val="1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59" name="m-d08_kpi_board-icon-grow"/>
          <p:cNvSpPr/>
          <p:nvPr/>
        </p:nvSpPr>
        <p:spPr>
          <a:xfrm>
            <a:off x="9983724" y="5187315"/>
            <a:ext cx="16319" cy="10224"/>
          </a:xfrm>
          <a:custGeom>
            <a:avLst/>
            <a:gdLst/>
            <a:ahLst/>
            <a:cxnLst/>
            <a:rect l="0" t="0" r="r" b="b"/>
            <a:pathLst>
              <a:path w="16319" h="10224">
                <a:moveTo>
                  <a:pt x="0" y="10224"/>
                </a:moveTo>
                <a:lnTo>
                  <a:pt x="5461" y="4318"/>
                </a:lnTo>
                <a:lnTo>
                  <a:pt x="9335" y="7620"/>
                </a:lnTo>
                <a:lnTo>
                  <a:pt x="15875" y="0"/>
                </a:lnTo>
                <a:moveTo>
                  <a:pt x="13271" y="0"/>
                </a:moveTo>
                <a:lnTo>
                  <a:pt x="16319" y="0"/>
                </a:lnTo>
                <a:lnTo>
                  <a:pt x="16319" y="3048"/>
                </a:lnTo>
              </a:path>
            </a:pathLst>
          </a:custGeom>
          <a:noFill/>
          <a:ln w="2604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60" name="m-d08_kpi_board-dltt-6"/>
          <p:cNvSpPr txBox="1"/>
          <p:nvPr/>
        </p:nvSpPr>
        <p:spPr>
          <a:xfrm>
            <a:off x="10007474" y="5174832"/>
            <a:ext cx="7901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3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+9.8%</a:t>
            </a:r>
          </a:p>
        </p:txBody>
      </p:sp>
      <p:sp>
        <p:nvSpPr>
          <p:cNvPr id="1761" name="m-d08_kpi_board-v-6"/>
          <p:cNvSpPr txBox="1"/>
          <p:nvPr/>
        </p:nvSpPr>
        <p:spPr>
          <a:xfrm>
            <a:off x="9479354" y="5240011"/>
            <a:ext cx="225932" cy="12301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5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86.5</a:t>
            </a:r>
          </a:p>
        </p:txBody>
      </p:sp>
      <p:sp>
        <p:nvSpPr>
          <p:cNvPr id="1762" name="m-d08_kpi_board-u-6"/>
          <p:cNvSpPr txBox="1"/>
          <p:nvPr/>
        </p:nvSpPr>
        <p:spPr>
          <a:xfrm>
            <a:off x="9663681" y="5297887"/>
            <a:ext cx="6795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万元</a:t>
            </a:r>
          </a:p>
        </p:txBody>
      </p:sp>
      <p:sp>
        <p:nvSpPr>
          <p:cNvPr id="1763" name="m-d08_kpi_board-sp-6-1"/>
          <p:cNvSpPr/>
          <p:nvPr/>
        </p:nvSpPr>
        <p:spPr>
          <a:xfrm>
            <a:off x="9487789" y="5407342"/>
            <a:ext cx="39052" cy="60071"/>
          </a:xfrm>
          <a:custGeom>
            <a:avLst/>
            <a:gdLst/>
            <a:ahLst/>
            <a:cxnLst/>
            <a:rect l="0" t="0" r="r" b="b"/>
            <a:pathLst>
              <a:path w="39052" h="60071">
                <a:moveTo>
                  <a:pt x="0" y="60071"/>
                </a:moveTo>
                <a:lnTo>
                  <a:pt x="0" y="7811"/>
                </a:lnTo>
                <a:cubicBezTo>
                  <a:pt x="0" y="3493"/>
                  <a:pt x="3492" y="0"/>
                  <a:pt x="7810" y="0"/>
                </a:cubicBezTo>
                <a:lnTo>
                  <a:pt x="31242" y="0"/>
                </a:lnTo>
                <a:cubicBezTo>
                  <a:pt x="35560" y="0"/>
                  <a:pt x="39052" y="3493"/>
                  <a:pt x="39052" y="7811"/>
                </a:cubicBezTo>
                <a:lnTo>
                  <a:pt x="39052" y="60071"/>
                </a:lnTo>
                <a:close/>
              </a:path>
            </a:pathLst>
          </a:custGeom>
          <a:solidFill>
            <a:srgbClr val="54A2DF">
              <a:alpha val="2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64" name="m-d08_kpi_board-sp-6-2"/>
          <p:cNvSpPr/>
          <p:nvPr/>
        </p:nvSpPr>
        <p:spPr>
          <a:xfrm>
            <a:off x="9542462" y="5403596"/>
            <a:ext cx="39053" cy="63817"/>
          </a:xfrm>
          <a:custGeom>
            <a:avLst/>
            <a:gdLst/>
            <a:ahLst/>
            <a:cxnLst/>
            <a:rect l="0" t="0" r="r" b="b"/>
            <a:pathLst>
              <a:path w="39053" h="63817">
                <a:moveTo>
                  <a:pt x="0" y="63817"/>
                </a:moveTo>
                <a:lnTo>
                  <a:pt x="0" y="7811"/>
                </a:lnTo>
                <a:cubicBezTo>
                  <a:pt x="0" y="3492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3" y="3492"/>
                  <a:pt x="39053" y="7811"/>
                </a:cubicBezTo>
                <a:lnTo>
                  <a:pt x="39053" y="63817"/>
                </a:lnTo>
                <a:close/>
              </a:path>
            </a:pathLst>
          </a:custGeom>
          <a:solidFill>
            <a:srgbClr val="54A2DF">
              <a:alpha val="4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65" name="m-d08_kpi_board-sp-6-3"/>
          <p:cNvSpPr/>
          <p:nvPr/>
        </p:nvSpPr>
        <p:spPr>
          <a:xfrm>
            <a:off x="9597136" y="5399850"/>
            <a:ext cx="39053" cy="67564"/>
          </a:xfrm>
          <a:custGeom>
            <a:avLst/>
            <a:gdLst/>
            <a:ahLst/>
            <a:cxnLst/>
            <a:rect l="0" t="0" r="r" b="b"/>
            <a:pathLst>
              <a:path w="39053" h="67564">
                <a:moveTo>
                  <a:pt x="0" y="67564"/>
                </a:moveTo>
                <a:lnTo>
                  <a:pt x="0" y="7811"/>
                </a:lnTo>
                <a:cubicBezTo>
                  <a:pt x="0" y="3492"/>
                  <a:pt x="3493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3" y="3492"/>
                  <a:pt x="39053" y="7811"/>
                </a:cubicBezTo>
                <a:lnTo>
                  <a:pt x="39053" y="67564"/>
                </a:lnTo>
                <a:close/>
              </a:path>
            </a:pathLst>
          </a:custGeom>
          <a:solidFill>
            <a:srgbClr val="54A2DF">
              <a:alpha val="5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66" name="m-d08_kpi_board-sp-6-4"/>
          <p:cNvSpPr/>
          <p:nvPr/>
        </p:nvSpPr>
        <p:spPr>
          <a:xfrm>
            <a:off x="9651810" y="5397056"/>
            <a:ext cx="39052" cy="70358"/>
          </a:xfrm>
          <a:custGeom>
            <a:avLst/>
            <a:gdLst/>
            <a:ahLst/>
            <a:cxnLst/>
            <a:rect l="0" t="0" r="r" b="b"/>
            <a:pathLst>
              <a:path w="39052" h="70358">
                <a:moveTo>
                  <a:pt x="0" y="70358"/>
                </a:moveTo>
                <a:lnTo>
                  <a:pt x="0" y="7811"/>
                </a:lnTo>
                <a:cubicBezTo>
                  <a:pt x="0" y="3493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493"/>
                  <a:pt x="39052" y="7811"/>
                </a:cubicBezTo>
                <a:lnTo>
                  <a:pt x="39052" y="70358"/>
                </a:lnTo>
                <a:close/>
              </a:path>
            </a:pathLst>
          </a:custGeom>
          <a:solidFill>
            <a:srgbClr val="54A2DF">
              <a:alpha val="64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67" name="m-d08_kpi_board-sp-6-5"/>
          <p:cNvSpPr/>
          <p:nvPr/>
        </p:nvSpPr>
        <p:spPr>
          <a:xfrm>
            <a:off x="9706483" y="5392356"/>
            <a:ext cx="39053" cy="75057"/>
          </a:xfrm>
          <a:custGeom>
            <a:avLst/>
            <a:gdLst/>
            <a:ahLst/>
            <a:cxnLst/>
            <a:rect l="0" t="0" r="r" b="b"/>
            <a:pathLst>
              <a:path w="39053" h="75057">
                <a:moveTo>
                  <a:pt x="0" y="75057"/>
                </a:moveTo>
                <a:lnTo>
                  <a:pt x="0" y="7810"/>
                </a:lnTo>
                <a:cubicBezTo>
                  <a:pt x="0" y="3492"/>
                  <a:pt x="3493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3" y="3492"/>
                  <a:pt x="39053" y="7810"/>
                </a:cubicBezTo>
                <a:lnTo>
                  <a:pt x="39053" y="75057"/>
                </a:lnTo>
                <a:close/>
              </a:path>
            </a:pathLst>
          </a:custGeom>
          <a:solidFill>
            <a:srgbClr val="54A2DF">
              <a:alpha val="76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68" name="m-d08_kpi_board-sp-6-6"/>
          <p:cNvSpPr/>
          <p:nvPr/>
        </p:nvSpPr>
        <p:spPr>
          <a:xfrm>
            <a:off x="9761156" y="5386705"/>
            <a:ext cx="39052" cy="80709"/>
          </a:xfrm>
          <a:custGeom>
            <a:avLst/>
            <a:gdLst/>
            <a:ahLst/>
            <a:cxnLst/>
            <a:rect l="0" t="0" r="r" b="b"/>
            <a:pathLst>
              <a:path w="39052" h="80709">
                <a:moveTo>
                  <a:pt x="0" y="80709"/>
                </a:moveTo>
                <a:lnTo>
                  <a:pt x="0" y="7811"/>
                </a:lnTo>
                <a:cubicBezTo>
                  <a:pt x="0" y="3493"/>
                  <a:pt x="3492" y="0"/>
                  <a:pt x="7811" y="0"/>
                </a:cubicBezTo>
                <a:lnTo>
                  <a:pt x="31242" y="0"/>
                </a:lnTo>
                <a:cubicBezTo>
                  <a:pt x="35560" y="0"/>
                  <a:pt x="39052" y="3493"/>
                  <a:pt x="39052" y="7811"/>
                </a:cubicBezTo>
                <a:lnTo>
                  <a:pt x="39052" y="80709"/>
                </a:lnTo>
                <a:close/>
              </a:path>
            </a:pathLst>
          </a:custGeom>
          <a:solidFill>
            <a:srgbClr val="54A2DF">
              <a:alpha val="88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769" name="m-d08_kpi_board-spl-6"/>
          <p:cNvCxnSpPr/>
          <p:nvPr/>
        </p:nvCxnSpPr>
        <p:spPr>
          <a:xfrm>
            <a:off x="9487789" y="5477828"/>
            <a:ext cx="609219" cy="0"/>
          </a:xfrm>
          <a:prstGeom prst="line">
            <a:avLst/>
          </a:prstGeom>
          <a:ln w="2540" cap="rnd">
            <a:solidFill>
              <a:srgbClr val="0B2545">
                <a:alpha val="8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70" name="m-d08_kpi_board-spt-6"/>
          <p:cNvSpPr txBox="1"/>
          <p:nvPr/>
        </p:nvSpPr>
        <p:spPr>
          <a:xfrm>
            <a:off x="10013123" y="5392836"/>
            <a:ext cx="8607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近 6 期</a:t>
            </a:r>
          </a:p>
        </p:txBody>
      </p:sp>
      <p:sp>
        <p:nvSpPr>
          <p:cNvPr id="1771" name="m-d08_kpi_board-spt2-6"/>
          <p:cNvSpPr txBox="1"/>
          <p:nvPr/>
        </p:nvSpPr>
        <p:spPr>
          <a:xfrm>
            <a:off x="10007812" y="5439699"/>
            <a:ext cx="9138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环比走势</a:t>
            </a:r>
          </a:p>
        </p:txBody>
      </p:sp>
      <p:cxnSp>
        <p:nvCxnSpPr>
          <p:cNvPr id="1772" name="m-d08_kpi_board-foot-line"/>
          <p:cNvCxnSpPr/>
          <p:nvPr/>
        </p:nvCxnSpPr>
        <p:spPr>
          <a:xfrm>
            <a:off x="7904861" y="55923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73" name="m-d08_kpi_board-foot-l"/>
          <p:cNvSpPr txBox="1"/>
          <p:nvPr/>
        </p:nvSpPr>
        <p:spPr>
          <a:xfrm>
            <a:off x="7902674" y="5606323"/>
            <a:ext cx="21429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经营看板 · 六项指标</a:t>
            </a:r>
          </a:p>
        </p:txBody>
      </p:sp>
      <p:sp>
        <p:nvSpPr>
          <p:cNvPr id="1774" name="m-d08_kpi_board-foot-r"/>
          <p:cNvSpPr txBox="1"/>
          <p:nvPr/>
        </p:nvSpPr>
        <p:spPr>
          <a:xfrm>
            <a:off x="9907109" y="56063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1775" name="mini-card-s01_radial_hub"/>
          <p:cNvSpPr/>
          <p:nvPr/>
        </p:nvSpPr>
        <p:spPr>
          <a:xfrm>
            <a:off x="10401300" y="42672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1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1" y="1405890"/>
                </a:lnTo>
                <a:cubicBezTo>
                  <a:pt x="35878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7"/>
                  <a:pt x="35878" y="0"/>
                  <a:pt x="80201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76" name="m-s01_radial_hub-title-bar"/>
          <p:cNvSpPr/>
          <p:nvPr/>
        </p:nvSpPr>
        <p:spPr>
          <a:xfrm>
            <a:off x="10521061" y="43661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77" name="m-s01_radial_hub-title-bar-accent"/>
          <p:cNvSpPr/>
          <p:nvPr/>
        </p:nvSpPr>
        <p:spPr>
          <a:xfrm>
            <a:off x="10521061" y="43661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78" name="m-s01_radial_hub-title-cn"/>
          <p:cNvSpPr txBox="1"/>
          <p:nvPr/>
        </p:nvSpPr>
        <p:spPr>
          <a:xfrm>
            <a:off x="10553240" y="4348768"/>
            <a:ext cx="426453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系统解决方案</a:t>
            </a:r>
          </a:p>
        </p:txBody>
      </p:sp>
      <p:sp>
        <p:nvSpPr>
          <p:cNvPr id="1779" name="m-s01_radial_hub-title-en"/>
          <p:cNvSpPr txBox="1"/>
          <p:nvPr/>
        </p:nvSpPr>
        <p:spPr>
          <a:xfrm>
            <a:off x="10560530" y="4436050"/>
            <a:ext cx="38974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SYSTEMATIC SOLUTIONS</a:t>
            </a:r>
          </a:p>
        </p:txBody>
      </p:sp>
      <p:sp>
        <p:nvSpPr>
          <p:cNvPr id="1780" name="m-s01_radial_hub-title-sub"/>
          <p:cNvSpPr txBox="1"/>
          <p:nvPr/>
        </p:nvSpPr>
        <p:spPr>
          <a:xfrm>
            <a:off x="12365302" y="4405192"/>
            <a:ext cx="418252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以数字中台为核心，串联八大业务能力</a:t>
            </a:r>
          </a:p>
        </p:txBody>
      </p:sp>
      <p:sp>
        <p:nvSpPr>
          <p:cNvPr id="1781" name="m-s01_radial_hub-lead-01"/>
          <p:cNvSpPr/>
          <p:nvPr/>
        </p:nvSpPr>
        <p:spPr>
          <a:xfrm>
            <a:off x="11824335" y="4569650"/>
            <a:ext cx="389001" cy="28829"/>
          </a:xfrm>
          <a:custGeom>
            <a:avLst/>
            <a:gdLst/>
            <a:ahLst/>
            <a:cxnLst/>
            <a:rect l="0" t="0" r="r" b="b"/>
            <a:pathLst>
              <a:path w="389001" h="28829">
                <a:moveTo>
                  <a:pt x="0" y="28829"/>
                </a:moveTo>
                <a:lnTo>
                  <a:pt x="2985" y="21590"/>
                </a:lnTo>
                <a:quadBezTo>
                  <a:pt x="11938" y="0"/>
                  <a:pt x="35370" y="0"/>
                </a:quadBezTo>
                <a:lnTo>
                  <a:pt x="389001" y="0"/>
                </a:lnTo>
              </a:path>
            </a:pathLst>
          </a:custGeom>
          <a:noFill/>
          <a:ln w="25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82" name="m-s01_radial_hub-dot-01"/>
          <p:cNvSpPr/>
          <p:nvPr/>
        </p:nvSpPr>
        <p:spPr>
          <a:xfrm>
            <a:off x="12206827" y="4563110"/>
            <a:ext cx="13017" cy="13017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83" name="m-s01_radial_hub-dot-ring-01"/>
          <p:cNvSpPr/>
          <p:nvPr/>
        </p:nvSpPr>
        <p:spPr>
          <a:xfrm>
            <a:off x="12200969" y="4557252"/>
            <a:ext cx="24733" cy="24733"/>
          </a:xfrm>
          <a:prstGeom prst="ellipse">
            <a:avLst/>
          </a:prstGeom>
          <a:noFill/>
          <a:ln w="2540" cap="rnd">
            <a:solidFill>
              <a:srgbClr val="0B3E8F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84" name="m-s01_radial_hub-lead-02"/>
          <p:cNvSpPr/>
          <p:nvPr/>
        </p:nvSpPr>
        <p:spPr>
          <a:xfrm>
            <a:off x="12069508" y="4831715"/>
            <a:ext cx="143827" cy="11938"/>
          </a:xfrm>
          <a:custGeom>
            <a:avLst/>
            <a:gdLst/>
            <a:ahLst/>
            <a:cxnLst/>
            <a:rect l="0" t="0" r="r" b="b"/>
            <a:pathLst>
              <a:path w="143827" h="11938">
                <a:moveTo>
                  <a:pt x="0" y="11938"/>
                </a:moveTo>
                <a:lnTo>
                  <a:pt x="7239" y="8953"/>
                </a:lnTo>
                <a:quadBezTo>
                  <a:pt x="28829" y="0"/>
                  <a:pt x="52261" y="0"/>
                </a:quadBezTo>
                <a:lnTo>
                  <a:pt x="143827" y="0"/>
                </a:lnTo>
              </a:path>
            </a:pathLst>
          </a:custGeom>
          <a:noFill/>
          <a:ln w="25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85" name="m-s01_radial_hub-dot-02"/>
          <p:cNvSpPr/>
          <p:nvPr/>
        </p:nvSpPr>
        <p:spPr>
          <a:xfrm>
            <a:off x="12206827" y="4825184"/>
            <a:ext cx="13017" cy="13017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86" name="m-s01_radial_hub-dot-ring-02"/>
          <p:cNvSpPr/>
          <p:nvPr/>
        </p:nvSpPr>
        <p:spPr>
          <a:xfrm>
            <a:off x="12200969" y="4819327"/>
            <a:ext cx="24733" cy="24733"/>
          </a:xfrm>
          <a:prstGeom prst="ellipse">
            <a:avLst/>
          </a:prstGeom>
          <a:noFill/>
          <a:ln w="2540" cap="rnd">
            <a:solidFill>
              <a:srgbClr val="134C9C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87" name="m-s01_radial_hub-lead-03"/>
          <p:cNvSpPr/>
          <p:nvPr/>
        </p:nvSpPr>
        <p:spPr>
          <a:xfrm>
            <a:off x="12069508" y="5190363"/>
            <a:ext cx="143827" cy="11938"/>
          </a:xfrm>
          <a:custGeom>
            <a:avLst/>
            <a:gdLst/>
            <a:ahLst/>
            <a:cxnLst/>
            <a:rect l="0" t="0" r="r" b="b"/>
            <a:pathLst>
              <a:path w="143827" h="11938">
                <a:moveTo>
                  <a:pt x="0" y="0"/>
                </a:moveTo>
                <a:lnTo>
                  <a:pt x="7239" y="2985"/>
                </a:lnTo>
                <a:quadBezTo>
                  <a:pt x="28829" y="11938"/>
                  <a:pt x="52261" y="11938"/>
                </a:quadBezTo>
                <a:lnTo>
                  <a:pt x="143827" y="11938"/>
                </a:lnTo>
              </a:path>
            </a:pathLst>
          </a:custGeom>
          <a:noFill/>
          <a:ln w="25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88" name="m-s01_radial_hub-dot-03"/>
          <p:cNvSpPr/>
          <p:nvPr/>
        </p:nvSpPr>
        <p:spPr>
          <a:xfrm>
            <a:off x="12206827" y="5195814"/>
            <a:ext cx="13017" cy="13017"/>
          </a:xfrm>
          <a:prstGeom prst="ellipse">
            <a:avLst/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89" name="m-s01_radial_hub-dot-ring-03"/>
          <p:cNvSpPr/>
          <p:nvPr/>
        </p:nvSpPr>
        <p:spPr>
          <a:xfrm>
            <a:off x="12200969" y="5189956"/>
            <a:ext cx="24733" cy="24733"/>
          </a:xfrm>
          <a:prstGeom prst="ellipse">
            <a:avLst/>
          </a:prstGeom>
          <a:noFill/>
          <a:ln w="2540" cap="rnd">
            <a:solidFill>
              <a:srgbClr val="1B5AA8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90" name="m-s01_radial_hub-lead-04"/>
          <p:cNvSpPr/>
          <p:nvPr/>
        </p:nvSpPr>
        <p:spPr>
          <a:xfrm>
            <a:off x="11824335" y="5435536"/>
            <a:ext cx="389001" cy="28829"/>
          </a:xfrm>
          <a:custGeom>
            <a:avLst/>
            <a:gdLst/>
            <a:ahLst/>
            <a:cxnLst/>
            <a:rect l="0" t="0" r="r" b="b"/>
            <a:pathLst>
              <a:path w="389001" h="28829">
                <a:moveTo>
                  <a:pt x="0" y="0"/>
                </a:moveTo>
                <a:lnTo>
                  <a:pt x="2985" y="7239"/>
                </a:lnTo>
                <a:quadBezTo>
                  <a:pt x="11938" y="28829"/>
                  <a:pt x="35370" y="28829"/>
                </a:quadBezTo>
                <a:lnTo>
                  <a:pt x="389001" y="28829"/>
                </a:lnTo>
              </a:path>
            </a:pathLst>
          </a:custGeom>
          <a:noFill/>
          <a:ln w="25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91" name="m-s01_radial_hub-dot-04"/>
          <p:cNvSpPr/>
          <p:nvPr/>
        </p:nvSpPr>
        <p:spPr>
          <a:xfrm>
            <a:off x="12206827" y="5457889"/>
            <a:ext cx="13017" cy="13017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92" name="m-s01_radial_hub-dot-ring-04"/>
          <p:cNvSpPr/>
          <p:nvPr/>
        </p:nvSpPr>
        <p:spPr>
          <a:xfrm>
            <a:off x="12200969" y="5452031"/>
            <a:ext cx="24733" cy="24733"/>
          </a:xfrm>
          <a:prstGeom prst="ellipse">
            <a:avLst/>
          </a:prstGeom>
          <a:noFill/>
          <a:ln w="2540" cap="rnd">
            <a:solidFill>
              <a:srgbClr val="2468B6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93" name="m-s01_radial_hub-lead-05"/>
          <p:cNvSpPr/>
          <p:nvPr/>
        </p:nvSpPr>
        <p:spPr>
          <a:xfrm>
            <a:off x="11088624" y="5435536"/>
            <a:ext cx="389001" cy="28829"/>
          </a:xfrm>
          <a:custGeom>
            <a:avLst/>
            <a:gdLst/>
            <a:ahLst/>
            <a:cxnLst/>
            <a:rect l="0" t="0" r="r" b="b"/>
            <a:pathLst>
              <a:path w="389001" h="28829">
                <a:moveTo>
                  <a:pt x="389001" y="0"/>
                </a:moveTo>
                <a:lnTo>
                  <a:pt x="386016" y="7239"/>
                </a:lnTo>
                <a:quadBezTo>
                  <a:pt x="377063" y="28829"/>
                  <a:pt x="353632" y="28829"/>
                </a:quadBezTo>
                <a:lnTo>
                  <a:pt x="0" y="28829"/>
                </a:lnTo>
              </a:path>
            </a:pathLst>
          </a:custGeom>
          <a:noFill/>
          <a:ln w="25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94" name="m-s01_radial_hub-dot-05"/>
          <p:cNvSpPr/>
          <p:nvPr/>
        </p:nvSpPr>
        <p:spPr>
          <a:xfrm>
            <a:off x="11082115" y="5457889"/>
            <a:ext cx="13017" cy="13017"/>
          </a:xfrm>
          <a:prstGeom prst="ellipse">
            <a:avLst/>
          </a:pr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95" name="m-s01_radial_hub-dot-ring-05"/>
          <p:cNvSpPr/>
          <p:nvPr/>
        </p:nvSpPr>
        <p:spPr>
          <a:xfrm>
            <a:off x="11076257" y="5452031"/>
            <a:ext cx="24733" cy="24733"/>
          </a:xfrm>
          <a:prstGeom prst="ellipse">
            <a:avLst/>
          </a:prstGeom>
          <a:noFill/>
          <a:ln w="2540" cap="rnd">
            <a:solidFill>
              <a:srgbClr val="2E77C2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96" name="m-s01_radial_hub-lead-06"/>
          <p:cNvSpPr/>
          <p:nvPr/>
        </p:nvSpPr>
        <p:spPr>
          <a:xfrm>
            <a:off x="11088624" y="5190363"/>
            <a:ext cx="143828" cy="11938"/>
          </a:xfrm>
          <a:custGeom>
            <a:avLst/>
            <a:gdLst/>
            <a:ahLst/>
            <a:cxnLst/>
            <a:rect l="0" t="0" r="r" b="b"/>
            <a:pathLst>
              <a:path w="143828" h="11938">
                <a:moveTo>
                  <a:pt x="143828" y="0"/>
                </a:moveTo>
                <a:lnTo>
                  <a:pt x="136588" y="2985"/>
                </a:lnTo>
                <a:quadBezTo>
                  <a:pt x="114998" y="11938"/>
                  <a:pt x="91567" y="11938"/>
                </a:quadBezTo>
                <a:lnTo>
                  <a:pt x="0" y="11938"/>
                </a:lnTo>
              </a:path>
            </a:pathLst>
          </a:custGeom>
          <a:noFill/>
          <a:ln w="25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97" name="m-s01_radial_hub-dot-06"/>
          <p:cNvSpPr/>
          <p:nvPr/>
        </p:nvSpPr>
        <p:spPr>
          <a:xfrm>
            <a:off x="11082115" y="5195814"/>
            <a:ext cx="13017" cy="13017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98" name="m-s01_radial_hub-dot-ring-06"/>
          <p:cNvSpPr/>
          <p:nvPr/>
        </p:nvSpPr>
        <p:spPr>
          <a:xfrm>
            <a:off x="11076257" y="5189956"/>
            <a:ext cx="24733" cy="24733"/>
          </a:xfrm>
          <a:prstGeom prst="ellipse">
            <a:avLst/>
          </a:prstGeom>
          <a:noFill/>
          <a:ln w="2540" cap="rnd">
            <a:solidFill>
              <a:srgbClr val="3985CD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99" name="m-s01_radial_hub-lead-07"/>
          <p:cNvSpPr/>
          <p:nvPr/>
        </p:nvSpPr>
        <p:spPr>
          <a:xfrm>
            <a:off x="11088624" y="4831715"/>
            <a:ext cx="143828" cy="11938"/>
          </a:xfrm>
          <a:custGeom>
            <a:avLst/>
            <a:gdLst/>
            <a:ahLst/>
            <a:cxnLst/>
            <a:rect l="0" t="0" r="r" b="b"/>
            <a:pathLst>
              <a:path w="143828" h="11938">
                <a:moveTo>
                  <a:pt x="143828" y="11938"/>
                </a:moveTo>
                <a:lnTo>
                  <a:pt x="136588" y="8953"/>
                </a:lnTo>
                <a:quadBezTo>
                  <a:pt x="114998" y="0"/>
                  <a:pt x="91567" y="0"/>
                </a:quadBezTo>
                <a:lnTo>
                  <a:pt x="0" y="0"/>
                </a:lnTo>
              </a:path>
            </a:pathLst>
          </a:custGeom>
          <a:noFill/>
          <a:ln w="25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00" name="m-s01_radial_hub-dot-07"/>
          <p:cNvSpPr/>
          <p:nvPr/>
        </p:nvSpPr>
        <p:spPr>
          <a:xfrm>
            <a:off x="11082115" y="4825184"/>
            <a:ext cx="13017" cy="13017"/>
          </a:xfrm>
          <a:prstGeom prst="ellipse">
            <a:avLst/>
          </a:prstGeom>
          <a:solidFill>
            <a:srgbClr val="4694D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01" name="m-s01_radial_hub-dot-ring-07"/>
          <p:cNvSpPr/>
          <p:nvPr/>
        </p:nvSpPr>
        <p:spPr>
          <a:xfrm>
            <a:off x="11076257" y="4819327"/>
            <a:ext cx="24733" cy="24733"/>
          </a:xfrm>
          <a:prstGeom prst="ellipse">
            <a:avLst/>
          </a:prstGeom>
          <a:noFill/>
          <a:ln w="2540" cap="rnd">
            <a:solidFill>
              <a:srgbClr val="4694D7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02" name="m-s01_radial_hub-lead-08"/>
          <p:cNvSpPr/>
          <p:nvPr/>
        </p:nvSpPr>
        <p:spPr>
          <a:xfrm>
            <a:off x="11088624" y="4569650"/>
            <a:ext cx="389001" cy="28829"/>
          </a:xfrm>
          <a:custGeom>
            <a:avLst/>
            <a:gdLst/>
            <a:ahLst/>
            <a:cxnLst/>
            <a:rect l="0" t="0" r="r" b="b"/>
            <a:pathLst>
              <a:path w="389001" h="28829">
                <a:moveTo>
                  <a:pt x="389001" y="28829"/>
                </a:moveTo>
                <a:lnTo>
                  <a:pt x="386016" y="21590"/>
                </a:lnTo>
                <a:quadBezTo>
                  <a:pt x="377063" y="0"/>
                  <a:pt x="353632" y="0"/>
                </a:quadBezTo>
                <a:lnTo>
                  <a:pt x="0" y="0"/>
                </a:lnTo>
              </a:path>
            </a:pathLst>
          </a:custGeom>
          <a:noFill/>
          <a:ln w="2540" cap="rnd">
            <a:solidFill>
              <a:srgbClr val="A9BBD0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03" name="m-s01_radial_hub-dot-08"/>
          <p:cNvSpPr/>
          <p:nvPr/>
        </p:nvSpPr>
        <p:spPr>
          <a:xfrm>
            <a:off x="11082115" y="4563110"/>
            <a:ext cx="13017" cy="13017"/>
          </a:xfrm>
          <a:prstGeom prst="ellipse">
            <a:avLst/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04" name="m-s01_radial_hub-dot-ring-08"/>
          <p:cNvSpPr/>
          <p:nvPr/>
        </p:nvSpPr>
        <p:spPr>
          <a:xfrm>
            <a:off x="11076257" y="4557252"/>
            <a:ext cx="24733" cy="24733"/>
          </a:xfrm>
          <a:prstGeom prst="ellipse">
            <a:avLst/>
          </a:prstGeom>
          <a:noFill/>
          <a:ln w="2540" cap="rnd">
            <a:solidFill>
              <a:srgbClr val="54A2DF">
                <a:alpha val="28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05" name="m-s01_radial_hub-seg-01"/>
          <p:cNvSpPr/>
          <p:nvPr/>
        </p:nvSpPr>
        <p:spPr>
          <a:xfrm>
            <a:off x="11658156" y="4669233"/>
            <a:ext cx="226838" cy="177706"/>
          </a:xfrm>
          <a:custGeom>
            <a:avLst/>
            <a:gdLst/>
            <a:ahLst/>
            <a:cxnLst/>
            <a:rect l="0" t="0" r="r" b="b"/>
            <a:pathLst>
              <a:path w="226838" h="177706">
                <a:moveTo>
                  <a:pt x="20764" y="49"/>
                </a:moveTo>
                <a:cubicBezTo>
                  <a:pt x="93853" y="5891"/>
                  <a:pt x="163131" y="34593"/>
                  <a:pt x="218948" y="82091"/>
                </a:cubicBezTo>
                <a:quadBezTo>
                  <a:pt x="234378" y="96061"/>
                  <a:pt x="219646" y="110793"/>
                </a:quadBezTo>
                <a:lnTo>
                  <a:pt x="164401" y="166038"/>
                </a:lnTo>
                <a:quadBezTo>
                  <a:pt x="142303" y="188136"/>
                  <a:pt x="118046" y="168515"/>
                </a:quadBezTo>
                <a:cubicBezTo>
                  <a:pt x="92012" y="150290"/>
                  <a:pt x="62293" y="137971"/>
                  <a:pt x="31051" y="132447"/>
                </a:cubicBezTo>
                <a:quadBezTo>
                  <a:pt x="0" y="129208"/>
                  <a:pt x="0" y="97966"/>
                </a:quadBezTo>
                <a:lnTo>
                  <a:pt x="0" y="19798"/>
                </a:lnTo>
                <a:quadBezTo>
                  <a:pt x="0" y="-1030"/>
                  <a:pt x="20764" y="49"/>
                </a:quadBezTo>
                <a:close/>
              </a:path>
            </a:pathLst>
          </a:custGeom>
          <a:gradFill rotWithShape="1">
            <a:gsLst>
              <a:gs pos="0">
                <a:srgbClr val="0B3E8F"/>
              </a:gs>
              <a:gs pos="100000">
                <a:srgbClr val="0B3E8F">
                  <a:alpha val="82000"/>
                </a:srgbClr>
              </a:gs>
            </a:gsLst>
            <a:lin ang="76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06" name="m-s01_radial_hub-seg-02"/>
          <p:cNvSpPr/>
          <p:nvPr/>
        </p:nvSpPr>
        <p:spPr>
          <a:xfrm>
            <a:off x="11821049" y="4782995"/>
            <a:ext cx="177706" cy="226838"/>
          </a:xfrm>
          <a:custGeom>
            <a:avLst/>
            <a:gdLst/>
            <a:ahLst/>
            <a:cxnLst/>
            <a:rect l="0" t="0" r="r" b="b"/>
            <a:pathLst>
              <a:path w="177706" h="226838">
                <a:moveTo>
                  <a:pt x="95615" y="7890"/>
                </a:moveTo>
                <a:cubicBezTo>
                  <a:pt x="143113" y="63706"/>
                  <a:pt x="171815" y="132985"/>
                  <a:pt x="177657" y="206073"/>
                </a:cubicBezTo>
                <a:quadBezTo>
                  <a:pt x="178737" y="226838"/>
                  <a:pt x="157909" y="226838"/>
                </a:quadBezTo>
                <a:lnTo>
                  <a:pt x="79740" y="226838"/>
                </a:lnTo>
                <a:quadBezTo>
                  <a:pt x="48498" y="226838"/>
                  <a:pt x="45260" y="195786"/>
                </a:quadBezTo>
                <a:cubicBezTo>
                  <a:pt x="39735" y="164544"/>
                  <a:pt x="27416" y="134826"/>
                  <a:pt x="9192" y="108791"/>
                </a:cubicBezTo>
                <a:quadBezTo>
                  <a:pt x="-10430" y="84534"/>
                  <a:pt x="11668" y="62436"/>
                </a:quadBezTo>
                <a:lnTo>
                  <a:pt x="66913" y="7191"/>
                </a:lnTo>
                <a:quadBezTo>
                  <a:pt x="81645" y="-7541"/>
                  <a:pt x="95615" y="7890"/>
                </a:quadBezTo>
                <a:close/>
              </a:path>
            </a:pathLst>
          </a:custGeom>
          <a:gradFill rotWithShape="1">
            <a:gsLst>
              <a:gs pos="0">
                <a:srgbClr val="134C9C"/>
              </a:gs>
              <a:gs pos="100000">
                <a:srgbClr val="134C9C">
                  <a:alpha val="82000"/>
                </a:srgbClr>
              </a:gs>
            </a:gsLst>
            <a:lin ang="76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07" name="m-s01_radial_hub-seg-03"/>
          <p:cNvSpPr/>
          <p:nvPr/>
        </p:nvSpPr>
        <p:spPr>
          <a:xfrm>
            <a:off x="11821049" y="5024184"/>
            <a:ext cx="177706" cy="226838"/>
          </a:xfrm>
          <a:custGeom>
            <a:avLst/>
            <a:gdLst/>
            <a:ahLst/>
            <a:cxnLst/>
            <a:rect l="0" t="0" r="r" b="b"/>
            <a:pathLst>
              <a:path w="177706" h="226838">
                <a:moveTo>
                  <a:pt x="177657" y="20764"/>
                </a:moveTo>
                <a:cubicBezTo>
                  <a:pt x="171815" y="93853"/>
                  <a:pt x="143113" y="163131"/>
                  <a:pt x="95615" y="218948"/>
                </a:cubicBezTo>
                <a:quadBezTo>
                  <a:pt x="81645" y="234378"/>
                  <a:pt x="66913" y="219646"/>
                </a:quadBezTo>
                <a:lnTo>
                  <a:pt x="11668" y="164401"/>
                </a:lnTo>
                <a:quadBezTo>
                  <a:pt x="-10430" y="142303"/>
                  <a:pt x="9192" y="118046"/>
                </a:quadBezTo>
                <a:cubicBezTo>
                  <a:pt x="27416" y="92012"/>
                  <a:pt x="39735" y="62293"/>
                  <a:pt x="45260" y="31051"/>
                </a:cubicBezTo>
                <a:quadBezTo>
                  <a:pt x="48498" y="0"/>
                  <a:pt x="79740" y="0"/>
                </a:quadBezTo>
                <a:lnTo>
                  <a:pt x="157909" y="0"/>
                </a:lnTo>
                <a:quadBezTo>
                  <a:pt x="178737" y="0"/>
                  <a:pt x="177657" y="20764"/>
                </a:quad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1B5AA8">
                  <a:alpha val="82000"/>
                </a:srgbClr>
              </a:gs>
            </a:gsLst>
            <a:lin ang="76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08" name="m-s01_radial_hub-seg-04"/>
          <p:cNvSpPr/>
          <p:nvPr/>
        </p:nvSpPr>
        <p:spPr>
          <a:xfrm>
            <a:off x="11658156" y="5187077"/>
            <a:ext cx="226838" cy="177706"/>
          </a:xfrm>
          <a:custGeom>
            <a:avLst/>
            <a:gdLst/>
            <a:ahLst/>
            <a:cxnLst/>
            <a:rect l="0" t="0" r="r" b="b"/>
            <a:pathLst>
              <a:path w="226838" h="177706">
                <a:moveTo>
                  <a:pt x="218948" y="95615"/>
                </a:moveTo>
                <a:cubicBezTo>
                  <a:pt x="163131" y="143113"/>
                  <a:pt x="93853" y="171815"/>
                  <a:pt x="20764" y="177657"/>
                </a:cubicBezTo>
                <a:quadBezTo>
                  <a:pt x="0" y="178737"/>
                  <a:pt x="0" y="157909"/>
                </a:quadBezTo>
                <a:lnTo>
                  <a:pt x="0" y="79740"/>
                </a:lnTo>
                <a:quadBezTo>
                  <a:pt x="0" y="48498"/>
                  <a:pt x="31051" y="45260"/>
                </a:quadBezTo>
                <a:cubicBezTo>
                  <a:pt x="62293" y="39735"/>
                  <a:pt x="92012" y="27416"/>
                  <a:pt x="118046" y="9192"/>
                </a:cubicBezTo>
                <a:quadBezTo>
                  <a:pt x="142303" y="-10430"/>
                  <a:pt x="164401" y="11668"/>
                </a:quadBezTo>
                <a:lnTo>
                  <a:pt x="219646" y="66913"/>
                </a:lnTo>
                <a:quadBezTo>
                  <a:pt x="234378" y="81645"/>
                  <a:pt x="218948" y="95615"/>
                </a:quadBezTo>
                <a:close/>
              </a:path>
            </a:pathLst>
          </a:custGeom>
          <a:gradFill rotWithShape="1">
            <a:gsLst>
              <a:gs pos="0">
                <a:srgbClr val="2468B6"/>
              </a:gs>
              <a:gs pos="100000">
                <a:srgbClr val="2468B6">
                  <a:alpha val="82000"/>
                </a:srgbClr>
              </a:gs>
            </a:gsLst>
            <a:lin ang="76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09" name="m-s01_radial_hub-seg-05"/>
          <p:cNvSpPr/>
          <p:nvPr/>
        </p:nvSpPr>
        <p:spPr>
          <a:xfrm>
            <a:off x="11416967" y="5187077"/>
            <a:ext cx="226838" cy="177706"/>
          </a:xfrm>
          <a:custGeom>
            <a:avLst/>
            <a:gdLst/>
            <a:ahLst/>
            <a:cxnLst/>
            <a:rect l="0" t="0" r="r" b="b"/>
            <a:pathLst>
              <a:path w="226838" h="177706">
                <a:moveTo>
                  <a:pt x="206073" y="177657"/>
                </a:moveTo>
                <a:cubicBezTo>
                  <a:pt x="132985" y="171815"/>
                  <a:pt x="63706" y="143113"/>
                  <a:pt x="7890" y="95615"/>
                </a:cubicBezTo>
                <a:quadBezTo>
                  <a:pt x="-7541" y="81645"/>
                  <a:pt x="7191" y="66913"/>
                </a:quadBezTo>
                <a:lnTo>
                  <a:pt x="62436" y="11668"/>
                </a:lnTo>
                <a:quadBezTo>
                  <a:pt x="84534" y="-10430"/>
                  <a:pt x="108791" y="9192"/>
                </a:quadBezTo>
                <a:cubicBezTo>
                  <a:pt x="134826" y="27416"/>
                  <a:pt x="164544" y="39735"/>
                  <a:pt x="195786" y="45260"/>
                </a:cubicBezTo>
                <a:quadBezTo>
                  <a:pt x="226838" y="48498"/>
                  <a:pt x="226838" y="79740"/>
                </a:quadBezTo>
                <a:lnTo>
                  <a:pt x="226838" y="157909"/>
                </a:lnTo>
                <a:quadBezTo>
                  <a:pt x="226838" y="178737"/>
                  <a:pt x="206073" y="177657"/>
                </a:quadBezTo>
                <a:close/>
              </a:path>
            </a:pathLst>
          </a:custGeom>
          <a:gradFill rotWithShape="1">
            <a:gsLst>
              <a:gs pos="0">
                <a:srgbClr val="2E77C2"/>
              </a:gs>
              <a:gs pos="100000">
                <a:srgbClr val="2E77C2">
                  <a:alpha val="82000"/>
                </a:srgbClr>
              </a:gs>
            </a:gsLst>
            <a:lin ang="76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10" name="m-s01_radial_hub-seg-06"/>
          <p:cNvSpPr/>
          <p:nvPr/>
        </p:nvSpPr>
        <p:spPr>
          <a:xfrm>
            <a:off x="11303205" y="5024184"/>
            <a:ext cx="177706" cy="226838"/>
          </a:xfrm>
          <a:custGeom>
            <a:avLst/>
            <a:gdLst/>
            <a:ahLst/>
            <a:cxnLst/>
            <a:rect l="0" t="0" r="r" b="b"/>
            <a:pathLst>
              <a:path w="177706" h="226838">
                <a:moveTo>
                  <a:pt x="82091" y="218948"/>
                </a:moveTo>
                <a:cubicBezTo>
                  <a:pt x="34593" y="163131"/>
                  <a:pt x="5891" y="93853"/>
                  <a:pt x="49" y="20764"/>
                </a:cubicBezTo>
                <a:quadBezTo>
                  <a:pt x="-1030" y="0"/>
                  <a:pt x="19798" y="0"/>
                </a:quadBezTo>
                <a:lnTo>
                  <a:pt x="97966" y="0"/>
                </a:lnTo>
                <a:quadBezTo>
                  <a:pt x="129208" y="0"/>
                  <a:pt x="132447" y="31051"/>
                </a:quadBezTo>
                <a:cubicBezTo>
                  <a:pt x="137971" y="62293"/>
                  <a:pt x="150290" y="92012"/>
                  <a:pt x="168515" y="118046"/>
                </a:cubicBezTo>
                <a:quadBezTo>
                  <a:pt x="188136" y="142303"/>
                  <a:pt x="166038" y="164401"/>
                </a:quadBezTo>
                <a:lnTo>
                  <a:pt x="110793" y="219646"/>
                </a:lnTo>
                <a:quadBezTo>
                  <a:pt x="96061" y="234378"/>
                  <a:pt x="82091" y="218948"/>
                </a:quadBezTo>
                <a:close/>
              </a:path>
            </a:pathLst>
          </a:custGeom>
          <a:gradFill rotWithShape="1">
            <a:gsLst>
              <a:gs pos="0">
                <a:srgbClr val="3985CD"/>
              </a:gs>
              <a:gs pos="100000">
                <a:srgbClr val="3985CD">
                  <a:alpha val="82000"/>
                </a:srgbClr>
              </a:gs>
            </a:gsLst>
            <a:lin ang="76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11" name="m-s01_radial_hub-seg-07"/>
          <p:cNvSpPr/>
          <p:nvPr/>
        </p:nvSpPr>
        <p:spPr>
          <a:xfrm>
            <a:off x="11303205" y="4782995"/>
            <a:ext cx="177706" cy="226838"/>
          </a:xfrm>
          <a:custGeom>
            <a:avLst/>
            <a:gdLst/>
            <a:ahLst/>
            <a:cxnLst/>
            <a:rect l="0" t="0" r="r" b="b"/>
            <a:pathLst>
              <a:path w="177706" h="226838">
                <a:moveTo>
                  <a:pt x="49" y="206073"/>
                </a:moveTo>
                <a:cubicBezTo>
                  <a:pt x="5891" y="132985"/>
                  <a:pt x="34593" y="63706"/>
                  <a:pt x="82091" y="7890"/>
                </a:cubicBezTo>
                <a:quadBezTo>
                  <a:pt x="96061" y="-7541"/>
                  <a:pt x="110793" y="7191"/>
                </a:quadBezTo>
                <a:lnTo>
                  <a:pt x="166038" y="62436"/>
                </a:lnTo>
                <a:quadBezTo>
                  <a:pt x="188136" y="84534"/>
                  <a:pt x="168515" y="108791"/>
                </a:quadBezTo>
                <a:cubicBezTo>
                  <a:pt x="150290" y="134826"/>
                  <a:pt x="137971" y="164544"/>
                  <a:pt x="132447" y="195786"/>
                </a:cubicBezTo>
                <a:quadBezTo>
                  <a:pt x="129208" y="226838"/>
                  <a:pt x="97966" y="226838"/>
                </a:quadBezTo>
                <a:lnTo>
                  <a:pt x="19798" y="226838"/>
                </a:lnTo>
                <a:quadBezTo>
                  <a:pt x="-1030" y="226838"/>
                  <a:pt x="49" y="206073"/>
                </a:quadBezTo>
                <a:close/>
              </a:path>
            </a:pathLst>
          </a:custGeom>
          <a:gradFill rotWithShape="1">
            <a:gsLst>
              <a:gs pos="0">
                <a:srgbClr val="4694D7"/>
              </a:gs>
              <a:gs pos="100000">
                <a:srgbClr val="4694D7">
                  <a:alpha val="82000"/>
                </a:srgbClr>
              </a:gs>
            </a:gsLst>
            <a:lin ang="76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12" name="m-s01_radial_hub-seg-08"/>
          <p:cNvSpPr/>
          <p:nvPr/>
        </p:nvSpPr>
        <p:spPr>
          <a:xfrm>
            <a:off x="11416967" y="4669233"/>
            <a:ext cx="226838" cy="177706"/>
          </a:xfrm>
          <a:custGeom>
            <a:avLst/>
            <a:gdLst/>
            <a:ahLst/>
            <a:cxnLst/>
            <a:rect l="0" t="0" r="r" b="b"/>
            <a:pathLst>
              <a:path w="226838" h="177706">
                <a:moveTo>
                  <a:pt x="7890" y="82091"/>
                </a:moveTo>
                <a:cubicBezTo>
                  <a:pt x="63706" y="34593"/>
                  <a:pt x="132985" y="5891"/>
                  <a:pt x="206073" y="49"/>
                </a:cubicBezTo>
                <a:quadBezTo>
                  <a:pt x="226838" y="-1030"/>
                  <a:pt x="226838" y="19798"/>
                </a:quadBezTo>
                <a:lnTo>
                  <a:pt x="226838" y="97966"/>
                </a:lnTo>
                <a:quadBezTo>
                  <a:pt x="226838" y="129208"/>
                  <a:pt x="195786" y="132447"/>
                </a:quadBezTo>
                <a:cubicBezTo>
                  <a:pt x="164544" y="137971"/>
                  <a:pt x="134826" y="150290"/>
                  <a:pt x="108791" y="168515"/>
                </a:cubicBezTo>
                <a:quadBezTo>
                  <a:pt x="84534" y="188136"/>
                  <a:pt x="62436" y="166038"/>
                </a:quadBezTo>
                <a:lnTo>
                  <a:pt x="7191" y="110793"/>
                </a:lnTo>
                <a:quadBezTo>
                  <a:pt x="-7541" y="96061"/>
                  <a:pt x="7890" y="82091"/>
                </a:quadBezTo>
                <a:close/>
              </a:path>
            </a:pathLst>
          </a:custGeom>
          <a:gradFill rotWithShape="1">
            <a:gsLst>
              <a:gs pos="0">
                <a:srgbClr val="54A2DF"/>
              </a:gs>
              <a:gs pos="100000">
                <a:srgbClr val="54A2DF">
                  <a:alpha val="82000"/>
                </a:srgbClr>
              </a:gs>
            </a:gsLst>
            <a:lin ang="768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13" name="m-s01_radial_hub-num-01"/>
          <p:cNvSpPr txBox="1"/>
          <p:nvPr/>
        </p:nvSpPr>
        <p:spPr>
          <a:xfrm>
            <a:off x="11724757" y="4725051"/>
            <a:ext cx="69644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1814" name="m-s01_radial_hub-num-02"/>
          <p:cNvSpPr txBox="1"/>
          <p:nvPr/>
        </p:nvSpPr>
        <p:spPr>
          <a:xfrm>
            <a:off x="11878338" y="4878632"/>
            <a:ext cx="69644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1815" name="m-s01_radial_hub-num-03"/>
          <p:cNvSpPr txBox="1"/>
          <p:nvPr/>
        </p:nvSpPr>
        <p:spPr>
          <a:xfrm>
            <a:off x="11878338" y="5095829"/>
            <a:ext cx="69644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1816" name="m-s01_radial_hub-num-04"/>
          <p:cNvSpPr txBox="1"/>
          <p:nvPr/>
        </p:nvSpPr>
        <p:spPr>
          <a:xfrm>
            <a:off x="11724757" y="5249410"/>
            <a:ext cx="69644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1817" name="m-s01_radial_hub-num-05"/>
          <p:cNvSpPr txBox="1"/>
          <p:nvPr/>
        </p:nvSpPr>
        <p:spPr>
          <a:xfrm>
            <a:off x="11507560" y="5249410"/>
            <a:ext cx="69644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1818" name="m-s01_radial_hub-num-06"/>
          <p:cNvSpPr txBox="1"/>
          <p:nvPr/>
        </p:nvSpPr>
        <p:spPr>
          <a:xfrm>
            <a:off x="11353978" y="5095829"/>
            <a:ext cx="69644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06</a:t>
            </a:r>
          </a:p>
        </p:txBody>
      </p:sp>
      <p:sp>
        <p:nvSpPr>
          <p:cNvPr id="1819" name="m-s01_radial_hub-num-07"/>
          <p:cNvSpPr txBox="1"/>
          <p:nvPr/>
        </p:nvSpPr>
        <p:spPr>
          <a:xfrm>
            <a:off x="11353978" y="4878632"/>
            <a:ext cx="69644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07</a:t>
            </a:r>
          </a:p>
        </p:txBody>
      </p:sp>
      <p:sp>
        <p:nvSpPr>
          <p:cNvPr id="1820" name="m-s01_radial_hub-num-08"/>
          <p:cNvSpPr txBox="1"/>
          <p:nvPr/>
        </p:nvSpPr>
        <p:spPr>
          <a:xfrm>
            <a:off x="11507560" y="4725051"/>
            <a:ext cx="69644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08</a:t>
            </a:r>
          </a:p>
        </p:txBody>
      </p:sp>
      <p:sp>
        <p:nvSpPr>
          <p:cNvPr id="1821" name="m-s01_radial_hub-ring-guide"/>
          <p:cNvSpPr/>
          <p:nvPr/>
        </p:nvSpPr>
        <p:spPr>
          <a:xfrm>
            <a:off x="11279981" y="4646009"/>
            <a:ext cx="741998" cy="741998"/>
          </a:xfrm>
          <a:prstGeom prst="ellipse">
            <a:avLst/>
          </a:prstGeom>
          <a:noFill/>
          <a:ln w="2540" cap="rnd">
            <a:solidFill>
              <a:srgbClr val="0B2545">
                <a:alpha val="14000"/>
              </a:srgbClr>
            </a:solidFill>
            <a:prstDash val="sysDot"/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22" name="m-s01_radial_hub-core"/>
          <p:cNvSpPr/>
          <p:nvPr/>
        </p:nvSpPr>
        <p:spPr>
          <a:xfrm>
            <a:off x="11453114" y="4819142"/>
            <a:ext cx="395732" cy="395732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23" name="m-s01_radial_hub-core-ring1"/>
          <p:cNvSpPr/>
          <p:nvPr/>
        </p:nvSpPr>
        <p:spPr>
          <a:xfrm>
            <a:off x="11468735" y="4834763"/>
            <a:ext cx="364490" cy="364490"/>
          </a:xfrm>
          <a:prstGeom prst="ellipse">
            <a:avLst/>
          </a:prstGeom>
          <a:noFill/>
          <a:ln w="2540" cap="rnd">
            <a:solidFill>
              <a:srgbClr val="0B3E8F">
                <a:alpha val="1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24" name="m-s01_radial_hub-core-ring2"/>
          <p:cNvSpPr/>
          <p:nvPr/>
        </p:nvSpPr>
        <p:spPr>
          <a:xfrm>
            <a:off x="11477847" y="4843875"/>
            <a:ext cx="346265" cy="346265"/>
          </a:xfrm>
          <a:prstGeom prst="ellipse">
            <a:avLst/>
          </a:prstGeom>
          <a:noFill/>
          <a:ln w="2540" cap="rnd">
            <a:solidFill>
              <a:srgbClr val="0B3E8F">
                <a:alpha val="7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25" name="m-s01_radial_hub-core-cn"/>
          <p:cNvSpPr txBox="1"/>
          <p:nvPr/>
        </p:nvSpPr>
        <p:spPr>
          <a:xfrm>
            <a:off x="11519373" y="4950710"/>
            <a:ext cx="263214" cy="865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9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数字中台</a:t>
            </a:r>
          </a:p>
        </p:txBody>
      </p:sp>
      <p:sp>
        <p:nvSpPr>
          <p:cNvPr id="1826" name="m-s01_radial_hub-core-en"/>
          <p:cNvSpPr txBox="1"/>
          <p:nvPr/>
        </p:nvSpPr>
        <p:spPr>
          <a:xfrm>
            <a:off x="11542492" y="5030950"/>
            <a:ext cx="216976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51" normalizeH="0" baseline="0" noProof="0">
                <a:ln>
                  <a:noFill/>
                </a:ln>
                <a:solidFill>
                  <a:srgbClr val="8397A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DIGITAL CORE</a:t>
            </a:r>
          </a:p>
        </p:txBody>
      </p:sp>
      <p:sp>
        <p:nvSpPr>
          <p:cNvPr id="1827" name="m-s01_radial_hub-chip"/>
          <p:cNvSpPr/>
          <p:nvPr/>
        </p:nvSpPr>
        <p:spPr>
          <a:xfrm>
            <a:off x="11771644" y="4596811"/>
            <a:ext cx="75501" cy="7550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28" name="m-s01_radial_hub-chip-ring"/>
          <p:cNvSpPr/>
          <p:nvPr/>
        </p:nvSpPr>
        <p:spPr>
          <a:xfrm>
            <a:off x="11771644" y="4596811"/>
            <a:ext cx="75501" cy="75501"/>
          </a:xfrm>
          <a:prstGeom prst="ellipse">
            <a:avLst/>
          </a:prstGeom>
          <a:noFill/>
          <a:ln w="2540" cap="rnd">
            <a:solidFill>
              <a:srgbClr val="0B3E8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29" name="m-s01_radial_hub-icon-fin"/>
          <p:cNvSpPr/>
          <p:nvPr/>
        </p:nvSpPr>
        <p:spPr>
          <a:xfrm>
            <a:off x="11802491" y="4623880"/>
            <a:ext cx="13843" cy="21400"/>
          </a:xfrm>
          <a:custGeom>
            <a:avLst/>
            <a:gdLst/>
            <a:ahLst/>
            <a:cxnLst/>
            <a:rect l="0" t="0" r="r" b="b"/>
            <a:pathLst>
              <a:path w="13843" h="21400">
                <a:moveTo>
                  <a:pt x="6921" y="12573"/>
                </a:moveTo>
                <a:lnTo>
                  <a:pt x="6921" y="21400"/>
                </a:lnTo>
                <a:moveTo>
                  <a:pt x="1524" y="12573"/>
                </a:moveTo>
                <a:lnTo>
                  <a:pt x="12255" y="12573"/>
                </a:lnTo>
                <a:moveTo>
                  <a:pt x="1524" y="17272"/>
                </a:moveTo>
                <a:lnTo>
                  <a:pt x="12255" y="17272"/>
                </a:lnTo>
                <a:moveTo>
                  <a:pt x="0" y="0"/>
                </a:moveTo>
                <a:lnTo>
                  <a:pt x="6921" y="9398"/>
                </a:lnTo>
                <a:lnTo>
                  <a:pt x="13843" y="0"/>
                </a:lnTo>
              </a:path>
            </a:pathLst>
          </a:custGeom>
          <a:noFill/>
          <a:ln w="2540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30" name="m-s01_radial_hub-chip"/>
          <p:cNvSpPr/>
          <p:nvPr/>
        </p:nvSpPr>
        <p:spPr>
          <a:xfrm>
            <a:off x="11995675" y="4820843"/>
            <a:ext cx="75501" cy="7550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31" name="m-s01_radial_hub-chip-ring"/>
          <p:cNvSpPr/>
          <p:nvPr/>
        </p:nvSpPr>
        <p:spPr>
          <a:xfrm>
            <a:off x="11995675" y="4820843"/>
            <a:ext cx="75501" cy="75501"/>
          </a:xfrm>
          <a:prstGeom prst="ellipse">
            <a:avLst/>
          </a:prstGeom>
          <a:noFill/>
          <a:ln w="2540" cap="rnd">
            <a:solidFill>
              <a:srgbClr val="134C9C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32" name="m-s01_radial_hub-icon-cart"/>
          <p:cNvSpPr/>
          <p:nvPr/>
        </p:nvSpPr>
        <p:spPr>
          <a:xfrm>
            <a:off x="12019598" y="4846955"/>
            <a:ext cx="25019" cy="14796"/>
          </a:xfrm>
          <a:custGeom>
            <a:avLst/>
            <a:gdLst/>
            <a:ahLst/>
            <a:cxnLst/>
            <a:rect l="0" t="0" r="r" b="b"/>
            <a:pathLst>
              <a:path w="25019" h="14796">
                <a:moveTo>
                  <a:pt x="0" y="0"/>
                </a:moveTo>
                <a:lnTo>
                  <a:pt x="3620" y="0"/>
                </a:lnTo>
                <a:lnTo>
                  <a:pt x="7239" y="14796"/>
                </a:lnTo>
                <a:lnTo>
                  <a:pt x="22035" y="14796"/>
                </a:lnTo>
                <a:lnTo>
                  <a:pt x="25019" y="4382"/>
                </a:lnTo>
                <a:lnTo>
                  <a:pt x="4699" y="4382"/>
                </a:lnTo>
              </a:path>
            </a:pathLst>
          </a:custGeom>
          <a:noFill/>
          <a:ln w="254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33" name="m-s01_radial_hub-icon-cart"/>
          <p:cNvSpPr/>
          <p:nvPr/>
        </p:nvSpPr>
        <p:spPr>
          <a:xfrm>
            <a:off x="12027134" y="4866458"/>
            <a:ext cx="4404" cy="4404"/>
          </a:xfrm>
          <a:prstGeom prst="ellipse">
            <a:avLst/>
          </a:prstGeom>
          <a:noFill/>
          <a:ln w="254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34" name="m-s01_radial_hub-icon-cart"/>
          <p:cNvSpPr/>
          <p:nvPr/>
        </p:nvSpPr>
        <p:spPr>
          <a:xfrm>
            <a:off x="12038459" y="4866458"/>
            <a:ext cx="4404" cy="4404"/>
          </a:xfrm>
          <a:prstGeom prst="ellipse">
            <a:avLst/>
          </a:prstGeom>
          <a:noFill/>
          <a:ln w="2540" cap="rnd">
            <a:solidFill>
              <a:srgbClr val="134C9C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35" name="m-s01_radial_hub-chip"/>
          <p:cNvSpPr/>
          <p:nvPr/>
        </p:nvSpPr>
        <p:spPr>
          <a:xfrm>
            <a:off x="11995675" y="5137672"/>
            <a:ext cx="75501" cy="7550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36" name="m-s01_radial_hub-chip-ring"/>
          <p:cNvSpPr/>
          <p:nvPr/>
        </p:nvSpPr>
        <p:spPr>
          <a:xfrm>
            <a:off x="11995675" y="5137672"/>
            <a:ext cx="75501" cy="75501"/>
          </a:xfrm>
          <a:prstGeom prst="ellipse">
            <a:avLst/>
          </a:prstGeom>
          <a:noFill/>
          <a:ln w="2540" cap="rnd">
            <a:solidFill>
              <a:srgbClr val="1B5AA8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37" name="m-s01_radial_hub-icon-chain"/>
          <p:cNvSpPr/>
          <p:nvPr/>
        </p:nvSpPr>
        <p:spPr>
          <a:xfrm>
            <a:off x="12021042" y="5163042"/>
            <a:ext cx="24797" cy="24797"/>
          </a:xfrm>
          <a:custGeom>
            <a:avLst/>
            <a:gdLst/>
            <a:ahLst/>
            <a:cxnLst/>
            <a:rect l="0" t="0" r="r" b="b"/>
            <a:pathLst>
              <a:path w="24797" h="24797">
                <a:moveTo>
                  <a:pt x="9858" y="14875"/>
                </a:moveTo>
                <a:cubicBezTo>
                  <a:pt x="11065" y="16081"/>
                  <a:pt x="12652" y="16780"/>
                  <a:pt x="14367" y="16780"/>
                </a:cubicBezTo>
                <a:cubicBezTo>
                  <a:pt x="16018" y="16780"/>
                  <a:pt x="17669" y="16081"/>
                  <a:pt x="18812" y="14875"/>
                </a:cubicBezTo>
                <a:lnTo>
                  <a:pt x="22939" y="10811"/>
                </a:lnTo>
                <a:cubicBezTo>
                  <a:pt x="24527" y="9223"/>
                  <a:pt x="25162" y="6874"/>
                  <a:pt x="24590" y="4651"/>
                </a:cubicBezTo>
                <a:cubicBezTo>
                  <a:pt x="23955" y="2492"/>
                  <a:pt x="22241" y="778"/>
                  <a:pt x="20082" y="206"/>
                </a:cubicBezTo>
                <a:cubicBezTo>
                  <a:pt x="17923" y="-365"/>
                  <a:pt x="15573" y="270"/>
                  <a:pt x="13986" y="1857"/>
                </a:cubicBezTo>
                <a:lnTo>
                  <a:pt x="11890" y="3889"/>
                </a:lnTo>
                <a:moveTo>
                  <a:pt x="14875" y="9858"/>
                </a:moveTo>
                <a:cubicBezTo>
                  <a:pt x="13732" y="8652"/>
                  <a:pt x="12081" y="8017"/>
                  <a:pt x="10430" y="8017"/>
                </a:cubicBezTo>
                <a:cubicBezTo>
                  <a:pt x="8715" y="8017"/>
                  <a:pt x="7128" y="8652"/>
                  <a:pt x="5921" y="9858"/>
                </a:cubicBezTo>
                <a:lnTo>
                  <a:pt x="1857" y="13922"/>
                </a:lnTo>
                <a:cubicBezTo>
                  <a:pt x="-619" y="16399"/>
                  <a:pt x="-619" y="20463"/>
                  <a:pt x="1857" y="22939"/>
                </a:cubicBezTo>
                <a:cubicBezTo>
                  <a:pt x="4334" y="25416"/>
                  <a:pt x="8334" y="25416"/>
                  <a:pt x="10811" y="22939"/>
                </a:cubicBezTo>
                <a:lnTo>
                  <a:pt x="12843" y="20907"/>
                </a:lnTo>
              </a:path>
            </a:pathLst>
          </a:custGeom>
          <a:noFill/>
          <a:ln w="2540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38" name="m-s01_radial_hub-chip"/>
          <p:cNvSpPr/>
          <p:nvPr/>
        </p:nvSpPr>
        <p:spPr>
          <a:xfrm>
            <a:off x="11771644" y="5361703"/>
            <a:ext cx="75501" cy="7550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39" name="m-s01_radial_hub-chip-ring"/>
          <p:cNvSpPr/>
          <p:nvPr/>
        </p:nvSpPr>
        <p:spPr>
          <a:xfrm>
            <a:off x="11771644" y="5361703"/>
            <a:ext cx="75501" cy="75501"/>
          </a:xfrm>
          <a:prstGeom prst="ellipse">
            <a:avLst/>
          </a:prstGeom>
          <a:noFill/>
          <a:ln w="2540" cap="rnd">
            <a:solidFill>
              <a:srgbClr val="2468B6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40" name="m-s01_radial_hub-icon-factory"/>
          <p:cNvSpPr/>
          <p:nvPr/>
        </p:nvSpPr>
        <p:spPr>
          <a:xfrm>
            <a:off x="11795887" y="5393500"/>
            <a:ext cx="27051" cy="18225"/>
          </a:xfrm>
          <a:custGeom>
            <a:avLst/>
            <a:gdLst/>
            <a:ahLst/>
            <a:cxnLst/>
            <a:rect l="0" t="0" r="r" b="b"/>
            <a:pathLst>
              <a:path w="27051" h="18225">
                <a:moveTo>
                  <a:pt x="0" y="18225"/>
                </a:moveTo>
                <a:lnTo>
                  <a:pt x="0" y="4381"/>
                </a:lnTo>
                <a:lnTo>
                  <a:pt x="7811" y="9080"/>
                </a:lnTo>
                <a:lnTo>
                  <a:pt x="7811" y="4381"/>
                </a:lnTo>
                <a:lnTo>
                  <a:pt x="15685" y="9080"/>
                </a:lnTo>
                <a:lnTo>
                  <a:pt x="15685" y="0"/>
                </a:lnTo>
                <a:lnTo>
                  <a:pt x="23559" y="4699"/>
                </a:lnTo>
                <a:lnTo>
                  <a:pt x="23559" y="16637"/>
                </a:lnTo>
                <a:close/>
                <a:moveTo>
                  <a:pt x="0" y="18225"/>
                </a:moveTo>
                <a:lnTo>
                  <a:pt x="27051" y="18225"/>
                </a:lnTo>
              </a:path>
            </a:pathLst>
          </a:custGeom>
          <a:noFill/>
          <a:ln w="2540" cap="rnd">
            <a:solidFill>
              <a:srgbClr val="2468B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41" name="m-s01_radial_hub-chip"/>
          <p:cNvSpPr/>
          <p:nvPr/>
        </p:nvSpPr>
        <p:spPr>
          <a:xfrm>
            <a:off x="11454815" y="5361703"/>
            <a:ext cx="75501" cy="7550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42" name="m-s01_radial_hub-chip-ring"/>
          <p:cNvSpPr/>
          <p:nvPr/>
        </p:nvSpPr>
        <p:spPr>
          <a:xfrm>
            <a:off x="11454815" y="5361703"/>
            <a:ext cx="75501" cy="75501"/>
          </a:xfrm>
          <a:prstGeom prst="ellipse">
            <a:avLst/>
          </a:prstGeom>
          <a:noFill/>
          <a:ln w="2540" cap="rnd">
            <a:solidFill>
              <a:srgbClr val="2E77C2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43" name="m-s01_radial_hub-icon-chart"/>
          <p:cNvSpPr/>
          <p:nvPr/>
        </p:nvSpPr>
        <p:spPr>
          <a:xfrm>
            <a:off x="11479340" y="5394706"/>
            <a:ext cx="26416" cy="17336"/>
          </a:xfrm>
          <a:custGeom>
            <a:avLst/>
            <a:gdLst/>
            <a:ahLst/>
            <a:cxnLst/>
            <a:rect l="0" t="0" r="r" b="b"/>
            <a:pathLst>
              <a:path w="26416" h="17336">
                <a:moveTo>
                  <a:pt x="0" y="17336"/>
                </a:moveTo>
                <a:lnTo>
                  <a:pt x="26416" y="17336"/>
                </a:lnTo>
                <a:moveTo>
                  <a:pt x="5969" y="17336"/>
                </a:moveTo>
                <a:lnTo>
                  <a:pt x="5969" y="7239"/>
                </a:lnTo>
                <a:moveTo>
                  <a:pt x="13208" y="17336"/>
                </a:moveTo>
                <a:lnTo>
                  <a:pt x="13208" y="0"/>
                </a:lnTo>
                <a:moveTo>
                  <a:pt x="20447" y="17336"/>
                </a:moveTo>
                <a:lnTo>
                  <a:pt x="20447" y="10732"/>
                </a:lnTo>
              </a:path>
            </a:pathLst>
          </a:custGeom>
          <a:noFill/>
          <a:ln w="2540" cap="rnd">
            <a:solidFill>
              <a:srgbClr val="2E77C2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44" name="m-s01_radial_hub-chip"/>
          <p:cNvSpPr/>
          <p:nvPr/>
        </p:nvSpPr>
        <p:spPr>
          <a:xfrm>
            <a:off x="11230783" y="5137672"/>
            <a:ext cx="75501" cy="7550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45" name="m-s01_radial_hub-chip-ring"/>
          <p:cNvSpPr/>
          <p:nvPr/>
        </p:nvSpPr>
        <p:spPr>
          <a:xfrm>
            <a:off x="11230783" y="5137672"/>
            <a:ext cx="75501" cy="75501"/>
          </a:xfrm>
          <a:prstGeom prst="ellipse">
            <a:avLst/>
          </a:prstGeom>
          <a:noFill/>
          <a:ln w="2540" cap="rnd">
            <a:solidFill>
              <a:srgbClr val="3985CD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46" name="m-s01_radial_hub-icon-phone"/>
          <p:cNvSpPr/>
          <p:nvPr/>
        </p:nvSpPr>
        <p:spPr>
          <a:xfrm>
            <a:off x="11259756" y="5161915"/>
            <a:ext cx="17589" cy="27051"/>
          </a:xfrm>
          <a:custGeom>
            <a:avLst/>
            <a:gdLst/>
            <a:ahLst/>
            <a:cxnLst/>
            <a:rect l="0" t="0" r="r" b="b"/>
            <a:pathLst>
              <a:path w="17589" h="27051">
                <a:moveTo>
                  <a:pt x="2476" y="0"/>
                </a:moveTo>
                <a:lnTo>
                  <a:pt x="15049" y="0"/>
                </a:lnTo>
                <a:cubicBezTo>
                  <a:pt x="15748" y="0"/>
                  <a:pt x="16383" y="254"/>
                  <a:pt x="16827" y="699"/>
                </a:cubicBezTo>
                <a:cubicBezTo>
                  <a:pt x="17336" y="1207"/>
                  <a:pt x="17589" y="1842"/>
                  <a:pt x="17589" y="2476"/>
                </a:cubicBezTo>
                <a:lnTo>
                  <a:pt x="17589" y="24511"/>
                </a:lnTo>
                <a:cubicBezTo>
                  <a:pt x="17589" y="25210"/>
                  <a:pt x="17336" y="25845"/>
                  <a:pt x="16827" y="26289"/>
                </a:cubicBezTo>
                <a:cubicBezTo>
                  <a:pt x="16383" y="26797"/>
                  <a:pt x="15748" y="27051"/>
                  <a:pt x="15049" y="27051"/>
                </a:cubicBezTo>
                <a:lnTo>
                  <a:pt x="2476" y="27051"/>
                </a:lnTo>
                <a:cubicBezTo>
                  <a:pt x="1841" y="27051"/>
                  <a:pt x="1207" y="26797"/>
                  <a:pt x="698" y="26289"/>
                </a:cubicBezTo>
                <a:cubicBezTo>
                  <a:pt x="254" y="25845"/>
                  <a:pt x="0" y="25210"/>
                  <a:pt x="0" y="24511"/>
                </a:cubicBezTo>
                <a:lnTo>
                  <a:pt x="0" y="2476"/>
                </a:lnTo>
                <a:cubicBezTo>
                  <a:pt x="0" y="1080"/>
                  <a:pt x="1079" y="0"/>
                  <a:pt x="2476" y="0"/>
                </a:cubicBezTo>
                <a:close/>
                <a:moveTo>
                  <a:pt x="6287" y="22288"/>
                </a:moveTo>
                <a:lnTo>
                  <a:pt x="11303" y="22288"/>
                </a:lnTo>
              </a:path>
            </a:pathLst>
          </a:custGeom>
          <a:noFill/>
          <a:ln w="2540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47" name="m-s01_radial_hub-chip"/>
          <p:cNvSpPr/>
          <p:nvPr/>
        </p:nvSpPr>
        <p:spPr>
          <a:xfrm>
            <a:off x="11230783" y="4820843"/>
            <a:ext cx="75501" cy="7550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48" name="m-s01_radial_hub-chip-ring"/>
          <p:cNvSpPr/>
          <p:nvPr/>
        </p:nvSpPr>
        <p:spPr>
          <a:xfrm>
            <a:off x="11230783" y="4820843"/>
            <a:ext cx="75501" cy="75501"/>
          </a:xfrm>
          <a:prstGeom prst="ellipse">
            <a:avLst/>
          </a:prstGeom>
          <a:noFill/>
          <a:ln w="2540" cap="rnd">
            <a:solidFill>
              <a:srgbClr val="4694D7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49" name="m-s01_radial_hub-icon-share"/>
          <p:cNvSpPr/>
          <p:nvPr/>
        </p:nvSpPr>
        <p:spPr>
          <a:xfrm>
            <a:off x="11262550" y="4850892"/>
            <a:ext cx="11176" cy="15431"/>
          </a:xfrm>
          <a:custGeom>
            <a:avLst/>
            <a:gdLst/>
            <a:ahLst/>
            <a:cxnLst/>
            <a:rect l="0" t="0" r="r" b="b"/>
            <a:pathLst>
              <a:path w="11176" h="15431">
                <a:moveTo>
                  <a:pt x="0" y="6160"/>
                </a:moveTo>
                <a:lnTo>
                  <a:pt x="11176" y="0"/>
                </a:lnTo>
                <a:moveTo>
                  <a:pt x="0" y="9271"/>
                </a:moveTo>
                <a:lnTo>
                  <a:pt x="11176" y="15431"/>
                </a:lnTo>
              </a:path>
            </a:pathLst>
          </a:custGeom>
          <a:noFill/>
          <a:ln w="254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50" name="m-s01_radial_hub-icon-share"/>
          <p:cNvSpPr/>
          <p:nvPr/>
        </p:nvSpPr>
        <p:spPr>
          <a:xfrm>
            <a:off x="11255793" y="4854976"/>
            <a:ext cx="7236" cy="7236"/>
          </a:xfrm>
          <a:prstGeom prst="ellipse">
            <a:avLst/>
          </a:prstGeom>
          <a:noFill/>
          <a:ln w="254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51" name="m-s01_radial_hub-icon-share"/>
          <p:cNvSpPr/>
          <p:nvPr/>
        </p:nvSpPr>
        <p:spPr>
          <a:xfrm>
            <a:off x="11273410" y="4845853"/>
            <a:ext cx="7236" cy="7236"/>
          </a:xfrm>
          <a:prstGeom prst="ellipse">
            <a:avLst/>
          </a:prstGeom>
          <a:noFill/>
          <a:ln w="254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52" name="m-s01_radial_hub-icon-share"/>
          <p:cNvSpPr/>
          <p:nvPr/>
        </p:nvSpPr>
        <p:spPr>
          <a:xfrm>
            <a:off x="11273410" y="4864099"/>
            <a:ext cx="7236" cy="7236"/>
          </a:xfrm>
          <a:prstGeom prst="ellipse">
            <a:avLst/>
          </a:prstGeom>
          <a:noFill/>
          <a:ln w="2540" cap="rnd">
            <a:solidFill>
              <a:srgbClr val="4694D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53" name="m-s01_radial_hub-chip"/>
          <p:cNvSpPr/>
          <p:nvPr/>
        </p:nvSpPr>
        <p:spPr>
          <a:xfrm>
            <a:off x="11454815" y="4596811"/>
            <a:ext cx="75501" cy="75501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54" name="m-s01_radial_hub-chip-ring"/>
          <p:cNvSpPr/>
          <p:nvPr/>
        </p:nvSpPr>
        <p:spPr>
          <a:xfrm>
            <a:off x="11454815" y="4596811"/>
            <a:ext cx="75501" cy="75501"/>
          </a:xfrm>
          <a:prstGeom prst="ellipse">
            <a:avLst/>
          </a:prstGeom>
          <a:noFill/>
          <a:ln w="2540" cap="rnd">
            <a:solidFill>
              <a:srgbClr val="54A2DF">
                <a:alpha val="26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55" name="m-s01_radial_hub-icon-people"/>
          <p:cNvSpPr/>
          <p:nvPr/>
        </p:nvSpPr>
        <p:spPr>
          <a:xfrm>
            <a:off x="11479340" y="4638675"/>
            <a:ext cx="26734" cy="7557"/>
          </a:xfrm>
          <a:custGeom>
            <a:avLst/>
            <a:gdLst/>
            <a:ahLst/>
            <a:cxnLst/>
            <a:rect l="0" t="0" r="r" b="b"/>
            <a:pathLst>
              <a:path w="26734" h="7557">
                <a:moveTo>
                  <a:pt x="0" y="7557"/>
                </a:moveTo>
                <a:cubicBezTo>
                  <a:pt x="0" y="2794"/>
                  <a:pt x="3937" y="0"/>
                  <a:pt x="8509" y="0"/>
                </a:cubicBezTo>
                <a:cubicBezTo>
                  <a:pt x="13081" y="0"/>
                  <a:pt x="17018" y="2794"/>
                  <a:pt x="17018" y="7557"/>
                </a:cubicBezTo>
                <a:moveTo>
                  <a:pt x="20130" y="635"/>
                </a:moveTo>
                <a:cubicBezTo>
                  <a:pt x="24257" y="1079"/>
                  <a:pt x="26734" y="3937"/>
                  <a:pt x="26734" y="7557"/>
                </a:cubicBezTo>
              </a:path>
            </a:pathLst>
          </a:custGeom>
          <a:noFill/>
          <a:ln w="254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56" name="m-s01_radial_hub-icon-people"/>
          <p:cNvSpPr/>
          <p:nvPr/>
        </p:nvSpPr>
        <p:spPr>
          <a:xfrm>
            <a:off x="11482813" y="4625124"/>
            <a:ext cx="10067" cy="10067"/>
          </a:xfrm>
          <a:prstGeom prst="ellipse">
            <a:avLst/>
          </a:prstGeom>
          <a:noFill/>
          <a:ln w="254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57" name="m-s01_radial_hub-icon-people"/>
          <p:cNvSpPr/>
          <p:nvPr/>
        </p:nvSpPr>
        <p:spPr>
          <a:xfrm>
            <a:off x="11496341" y="4625124"/>
            <a:ext cx="8179" cy="8179"/>
          </a:xfrm>
          <a:prstGeom prst="ellipse">
            <a:avLst/>
          </a:prstGeom>
          <a:noFill/>
          <a:ln w="2540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58" name="m-s01_radial_hub-mark-01"/>
          <p:cNvSpPr txBox="1"/>
          <p:nvPr/>
        </p:nvSpPr>
        <p:spPr>
          <a:xfrm>
            <a:off x="12571682" y="4503021"/>
            <a:ext cx="152461" cy="1275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70" b="1" i="0" u="none" strike="noStrike" kern="1200" cap="none" spc="20" normalizeH="0" baseline="0" noProof="0">
                <a:ln>
                  <a:noFill/>
                </a:ln>
                <a:solidFill>
                  <a:srgbClr val="1B5AA8">
                    <a:alpha val="13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1859" name="m-s01_radial_hub-h-01"/>
          <p:cNvSpPr txBox="1"/>
          <p:nvPr/>
        </p:nvSpPr>
        <p:spPr>
          <a:xfrm>
            <a:off x="12251087" y="4521616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智能财务</a:t>
            </a:r>
          </a:p>
        </p:txBody>
      </p:sp>
      <p:sp>
        <p:nvSpPr>
          <p:cNvPr id="1860" name="m-s01_radial_hub-rule-01"/>
          <p:cNvSpPr/>
          <p:nvPr/>
        </p:nvSpPr>
        <p:spPr>
          <a:xfrm>
            <a:off x="12254992" y="4586541"/>
            <a:ext cx="299402" cy="1562"/>
          </a:xfrm>
          <a:prstGeom prst="roundRect">
            <a:avLst>
              <a:gd name="adj" fmla="val 12299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61" name="m-s01_radial_hub-p-01-1"/>
          <p:cNvSpPr txBox="1"/>
          <p:nvPr/>
        </p:nvSpPr>
        <p:spPr>
          <a:xfrm>
            <a:off x="12252258" y="4596158"/>
            <a:ext cx="20795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全新一代财务中台</a:t>
            </a:r>
          </a:p>
        </p:txBody>
      </p:sp>
      <p:sp>
        <p:nvSpPr>
          <p:cNvPr id="1862" name="m-s01_radial_hub-p-01-2"/>
          <p:cNvSpPr txBox="1"/>
          <p:nvPr/>
        </p:nvSpPr>
        <p:spPr>
          <a:xfrm>
            <a:off x="12252258" y="4631305"/>
            <a:ext cx="214724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月结效率提升 60%</a:t>
            </a:r>
          </a:p>
        </p:txBody>
      </p:sp>
      <p:sp>
        <p:nvSpPr>
          <p:cNvPr id="1863" name="m-s01_radial_hub-mark-02"/>
          <p:cNvSpPr txBox="1"/>
          <p:nvPr/>
        </p:nvSpPr>
        <p:spPr>
          <a:xfrm>
            <a:off x="12571682" y="4765096"/>
            <a:ext cx="152461" cy="1275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70" b="1" i="0" u="none" strike="noStrike" kern="1200" cap="none" spc="20" normalizeH="0" baseline="0" noProof="0">
                <a:ln>
                  <a:noFill/>
                </a:ln>
                <a:solidFill>
                  <a:srgbClr val="1B5AA8">
                    <a:alpha val="13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1864" name="m-s01_radial_hub-h-02"/>
          <p:cNvSpPr txBox="1"/>
          <p:nvPr/>
        </p:nvSpPr>
        <p:spPr>
          <a:xfrm>
            <a:off x="12251087" y="4783691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电商中枢</a:t>
            </a:r>
          </a:p>
        </p:txBody>
      </p:sp>
      <p:sp>
        <p:nvSpPr>
          <p:cNvPr id="1865" name="m-s01_radial_hub-rule-02"/>
          <p:cNvSpPr/>
          <p:nvPr/>
        </p:nvSpPr>
        <p:spPr>
          <a:xfrm>
            <a:off x="12254992" y="4848616"/>
            <a:ext cx="299402" cy="1562"/>
          </a:xfrm>
          <a:prstGeom prst="roundRect">
            <a:avLst>
              <a:gd name="adj" fmla="val 12299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66" name="m-s01_radial_hub-p-02-1"/>
          <p:cNvSpPr txBox="1"/>
          <p:nvPr/>
        </p:nvSpPr>
        <p:spPr>
          <a:xfrm>
            <a:off x="12252258" y="4858233"/>
            <a:ext cx="254818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无缝对接主流电商平台</a:t>
            </a:r>
          </a:p>
        </p:txBody>
      </p:sp>
      <p:sp>
        <p:nvSpPr>
          <p:cNvPr id="1867" name="m-s01_radial_hub-p-02-2"/>
          <p:cNvSpPr txBox="1"/>
          <p:nvPr/>
        </p:nvSpPr>
        <p:spPr>
          <a:xfrm>
            <a:off x="12252258" y="4893380"/>
            <a:ext cx="20795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订单库存实时同步</a:t>
            </a:r>
          </a:p>
        </p:txBody>
      </p:sp>
      <p:sp>
        <p:nvSpPr>
          <p:cNvPr id="1868" name="m-s01_radial_hub-mark-03"/>
          <p:cNvSpPr txBox="1"/>
          <p:nvPr/>
        </p:nvSpPr>
        <p:spPr>
          <a:xfrm>
            <a:off x="12571682" y="5135725"/>
            <a:ext cx="152461" cy="1275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70" b="1" i="0" u="none" strike="noStrike" kern="1200" cap="none" spc="20" normalizeH="0" baseline="0" noProof="0">
                <a:ln>
                  <a:noFill/>
                </a:ln>
                <a:solidFill>
                  <a:srgbClr val="1B5AA8">
                    <a:alpha val="13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1869" name="m-s01_radial_hub-h-03"/>
          <p:cNvSpPr txBox="1"/>
          <p:nvPr/>
        </p:nvSpPr>
        <p:spPr>
          <a:xfrm>
            <a:off x="12251087" y="5154321"/>
            <a:ext cx="199819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供应链协同</a:t>
            </a:r>
          </a:p>
        </p:txBody>
      </p:sp>
      <p:sp>
        <p:nvSpPr>
          <p:cNvPr id="1870" name="m-s01_radial_hub-rule-03"/>
          <p:cNvSpPr/>
          <p:nvPr/>
        </p:nvSpPr>
        <p:spPr>
          <a:xfrm>
            <a:off x="12254992" y="5219246"/>
            <a:ext cx="299402" cy="1562"/>
          </a:xfrm>
          <a:prstGeom prst="roundRect">
            <a:avLst>
              <a:gd name="adj" fmla="val 12299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71" name="m-s01_radial_hub-p-03-1"/>
          <p:cNvSpPr txBox="1"/>
          <p:nvPr/>
        </p:nvSpPr>
        <p:spPr>
          <a:xfrm>
            <a:off x="12252258" y="5228862"/>
            <a:ext cx="254818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流程灵活的供应链管理</a:t>
            </a:r>
          </a:p>
        </p:txBody>
      </p:sp>
      <p:sp>
        <p:nvSpPr>
          <p:cNvPr id="1872" name="m-s01_radial_hub-p-03-2"/>
          <p:cNvSpPr txBox="1"/>
          <p:nvPr/>
        </p:nvSpPr>
        <p:spPr>
          <a:xfrm>
            <a:off x="12252258" y="5264010"/>
            <a:ext cx="16109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降低采购成本</a:t>
            </a:r>
          </a:p>
        </p:txBody>
      </p:sp>
      <p:sp>
        <p:nvSpPr>
          <p:cNvPr id="1873" name="m-s01_radial_hub-mark-04"/>
          <p:cNvSpPr txBox="1"/>
          <p:nvPr/>
        </p:nvSpPr>
        <p:spPr>
          <a:xfrm>
            <a:off x="12571682" y="5397800"/>
            <a:ext cx="152461" cy="1275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70" b="1" i="0" u="none" strike="noStrike" kern="1200" cap="none" spc="20" normalizeH="0" baseline="0" noProof="0">
                <a:ln>
                  <a:noFill/>
                </a:ln>
                <a:solidFill>
                  <a:srgbClr val="1B5AA8">
                    <a:alpha val="13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1874" name="m-s01_radial_hub-h-04"/>
          <p:cNvSpPr txBox="1"/>
          <p:nvPr/>
        </p:nvSpPr>
        <p:spPr>
          <a:xfrm>
            <a:off x="12251087" y="5416396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智能制造</a:t>
            </a:r>
          </a:p>
        </p:txBody>
      </p:sp>
      <p:sp>
        <p:nvSpPr>
          <p:cNvPr id="1875" name="m-s01_radial_hub-rule-04"/>
          <p:cNvSpPr/>
          <p:nvPr/>
        </p:nvSpPr>
        <p:spPr>
          <a:xfrm>
            <a:off x="12254992" y="5481320"/>
            <a:ext cx="299402" cy="1562"/>
          </a:xfrm>
          <a:prstGeom prst="roundRect">
            <a:avLst>
              <a:gd name="adj" fmla="val 12299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76" name="m-s01_radial_hub-p-04-1"/>
          <p:cNvSpPr txBox="1"/>
          <p:nvPr/>
        </p:nvSpPr>
        <p:spPr>
          <a:xfrm>
            <a:off x="12252258" y="5490937"/>
            <a:ext cx="231386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按需生产、按期交货</a:t>
            </a:r>
          </a:p>
        </p:txBody>
      </p:sp>
      <p:sp>
        <p:nvSpPr>
          <p:cNvPr id="1877" name="m-s01_radial_hub-p-04-2"/>
          <p:cNvSpPr txBox="1"/>
          <p:nvPr/>
        </p:nvSpPr>
        <p:spPr>
          <a:xfrm>
            <a:off x="12252258" y="5526084"/>
            <a:ext cx="20795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动态库存全程可控</a:t>
            </a:r>
          </a:p>
        </p:txBody>
      </p:sp>
      <p:sp>
        <p:nvSpPr>
          <p:cNvPr id="1878" name="m-s01_radial_hub-mark-05"/>
          <p:cNvSpPr txBox="1"/>
          <p:nvPr/>
        </p:nvSpPr>
        <p:spPr>
          <a:xfrm>
            <a:off x="10577817" y="5397800"/>
            <a:ext cx="152461" cy="1275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70" b="1" i="0" u="none" strike="noStrike" kern="1200" cap="none" spc="20" normalizeH="0" baseline="0" noProof="0">
                <a:ln>
                  <a:noFill/>
                </a:ln>
                <a:solidFill>
                  <a:srgbClr val="1B5AA8">
                    <a:alpha val="13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1879" name="m-s01_radial_hub-h-05"/>
          <p:cNvSpPr txBox="1"/>
          <p:nvPr/>
        </p:nvSpPr>
        <p:spPr>
          <a:xfrm>
            <a:off x="10885160" y="5416396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数据决策</a:t>
            </a:r>
          </a:p>
        </p:txBody>
      </p:sp>
      <p:sp>
        <p:nvSpPr>
          <p:cNvPr id="1880" name="m-s01_radial_hub-rule-05"/>
          <p:cNvSpPr/>
          <p:nvPr/>
        </p:nvSpPr>
        <p:spPr>
          <a:xfrm>
            <a:off x="10747566" y="5481320"/>
            <a:ext cx="299402" cy="1562"/>
          </a:xfrm>
          <a:prstGeom prst="roundRect">
            <a:avLst>
              <a:gd name="adj" fmla="val 12299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81" name="m-s01_radial_hub-p-05-1"/>
          <p:cNvSpPr txBox="1"/>
          <p:nvPr/>
        </p:nvSpPr>
        <p:spPr>
          <a:xfrm>
            <a:off x="10841747" y="5490937"/>
            <a:ext cx="20795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全域经营数据看板</a:t>
            </a:r>
          </a:p>
        </p:txBody>
      </p:sp>
      <p:sp>
        <p:nvSpPr>
          <p:cNvPr id="1882" name="m-s01_radial_hub-p-05-2"/>
          <p:cNvSpPr txBox="1"/>
          <p:nvPr/>
        </p:nvSpPr>
        <p:spPr>
          <a:xfrm>
            <a:off x="10841747" y="5526084"/>
            <a:ext cx="20795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一屏掌握核心指标</a:t>
            </a:r>
          </a:p>
        </p:txBody>
      </p:sp>
      <p:sp>
        <p:nvSpPr>
          <p:cNvPr id="1883" name="m-s01_radial_hub-mark-06"/>
          <p:cNvSpPr txBox="1"/>
          <p:nvPr/>
        </p:nvSpPr>
        <p:spPr>
          <a:xfrm>
            <a:off x="10577817" y="5135725"/>
            <a:ext cx="152461" cy="1275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70" b="1" i="0" u="none" strike="noStrike" kern="1200" cap="none" spc="20" normalizeH="0" baseline="0" noProof="0">
                <a:ln>
                  <a:noFill/>
                </a:ln>
                <a:solidFill>
                  <a:srgbClr val="1B5AA8">
                    <a:alpha val="13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06</a:t>
            </a:r>
          </a:p>
        </p:txBody>
      </p:sp>
      <p:sp>
        <p:nvSpPr>
          <p:cNvPr id="1884" name="m-s01_radial_hub-h-06"/>
          <p:cNvSpPr txBox="1"/>
          <p:nvPr/>
        </p:nvSpPr>
        <p:spPr>
          <a:xfrm>
            <a:off x="10885160" y="5154321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移动办公</a:t>
            </a:r>
          </a:p>
        </p:txBody>
      </p:sp>
      <p:sp>
        <p:nvSpPr>
          <p:cNvPr id="1885" name="m-s01_radial_hub-rule-06"/>
          <p:cNvSpPr/>
          <p:nvPr/>
        </p:nvSpPr>
        <p:spPr>
          <a:xfrm>
            <a:off x="10747566" y="5219246"/>
            <a:ext cx="299402" cy="1562"/>
          </a:xfrm>
          <a:prstGeom prst="roundRect">
            <a:avLst>
              <a:gd name="adj" fmla="val 12299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86" name="m-s01_radial_hub-p-06-1"/>
          <p:cNvSpPr txBox="1"/>
          <p:nvPr/>
        </p:nvSpPr>
        <p:spPr>
          <a:xfrm>
            <a:off x="10865179" y="5228862"/>
            <a:ext cx="184523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一站式移动审批</a:t>
            </a:r>
          </a:p>
        </p:txBody>
      </p:sp>
      <p:sp>
        <p:nvSpPr>
          <p:cNvPr id="1887" name="m-s01_radial_hub-p-06-2"/>
          <p:cNvSpPr txBox="1"/>
          <p:nvPr/>
        </p:nvSpPr>
        <p:spPr>
          <a:xfrm>
            <a:off x="10841747" y="5264010"/>
            <a:ext cx="20795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个性化高效工作台</a:t>
            </a:r>
          </a:p>
        </p:txBody>
      </p:sp>
      <p:sp>
        <p:nvSpPr>
          <p:cNvPr id="1888" name="m-s01_radial_hub-mark-07"/>
          <p:cNvSpPr txBox="1"/>
          <p:nvPr/>
        </p:nvSpPr>
        <p:spPr>
          <a:xfrm>
            <a:off x="10577817" y="4765096"/>
            <a:ext cx="152461" cy="1275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70" b="1" i="0" u="none" strike="noStrike" kern="1200" cap="none" spc="20" normalizeH="0" baseline="0" noProof="0">
                <a:ln>
                  <a:noFill/>
                </a:ln>
                <a:solidFill>
                  <a:srgbClr val="1B5AA8">
                    <a:alpha val="13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07</a:t>
            </a:r>
          </a:p>
        </p:txBody>
      </p:sp>
      <p:sp>
        <p:nvSpPr>
          <p:cNvPr id="1889" name="m-s01_radial_hub-h-07"/>
          <p:cNvSpPr txBox="1"/>
          <p:nvPr/>
        </p:nvSpPr>
        <p:spPr>
          <a:xfrm>
            <a:off x="10885160" y="4783691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渠道管理</a:t>
            </a:r>
          </a:p>
        </p:txBody>
      </p:sp>
      <p:sp>
        <p:nvSpPr>
          <p:cNvPr id="1890" name="m-s01_radial_hub-rule-07"/>
          <p:cNvSpPr/>
          <p:nvPr/>
        </p:nvSpPr>
        <p:spPr>
          <a:xfrm>
            <a:off x="10747566" y="4848616"/>
            <a:ext cx="299402" cy="1562"/>
          </a:xfrm>
          <a:prstGeom prst="roundRect">
            <a:avLst>
              <a:gd name="adj" fmla="val 12299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91" name="m-s01_radial_hub-p-07-1"/>
          <p:cNvSpPr txBox="1"/>
          <p:nvPr/>
        </p:nvSpPr>
        <p:spPr>
          <a:xfrm>
            <a:off x="10841747" y="4858233"/>
            <a:ext cx="20795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经销门店统一管理</a:t>
            </a:r>
          </a:p>
        </p:txBody>
      </p:sp>
      <p:sp>
        <p:nvSpPr>
          <p:cNvPr id="1892" name="m-s01_radial_hub-p-07-2"/>
          <p:cNvSpPr txBox="1"/>
          <p:nvPr/>
        </p:nvSpPr>
        <p:spPr>
          <a:xfrm>
            <a:off x="10818316" y="4893380"/>
            <a:ext cx="231386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助力企业规模化扩张</a:t>
            </a:r>
          </a:p>
        </p:txBody>
      </p:sp>
      <p:sp>
        <p:nvSpPr>
          <p:cNvPr id="1893" name="m-s01_radial_hub-mark-08"/>
          <p:cNvSpPr txBox="1"/>
          <p:nvPr/>
        </p:nvSpPr>
        <p:spPr>
          <a:xfrm>
            <a:off x="10577817" y="4503021"/>
            <a:ext cx="152461" cy="1275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570" b="1" i="0" u="none" strike="noStrike" kern="1200" cap="none" spc="20" normalizeH="0" baseline="0" noProof="0">
                <a:ln>
                  <a:noFill/>
                </a:ln>
                <a:solidFill>
                  <a:srgbClr val="1B5AA8">
                    <a:alpha val="13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08</a:t>
            </a:r>
          </a:p>
        </p:txBody>
      </p:sp>
      <p:sp>
        <p:nvSpPr>
          <p:cNvPr id="1894" name="m-s01_radial_hub-h-08"/>
          <p:cNvSpPr txBox="1"/>
          <p:nvPr/>
        </p:nvSpPr>
        <p:spPr>
          <a:xfrm>
            <a:off x="10885160" y="4521616"/>
            <a:ext cx="165713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2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组织协同</a:t>
            </a:r>
          </a:p>
        </p:txBody>
      </p:sp>
      <p:sp>
        <p:nvSpPr>
          <p:cNvPr id="1895" name="m-s01_radial_hub-rule-08"/>
          <p:cNvSpPr/>
          <p:nvPr/>
        </p:nvSpPr>
        <p:spPr>
          <a:xfrm>
            <a:off x="10747566" y="4586541"/>
            <a:ext cx="299402" cy="1562"/>
          </a:xfrm>
          <a:prstGeom prst="roundRect">
            <a:avLst>
              <a:gd name="adj" fmla="val 12299"/>
            </a:avLst>
          </a:prstGeom>
          <a:solidFill>
            <a:srgbClr val="0B2545">
              <a:alpha val="1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96" name="m-s01_radial_hub-p-08-1"/>
          <p:cNvSpPr txBox="1"/>
          <p:nvPr/>
        </p:nvSpPr>
        <p:spPr>
          <a:xfrm>
            <a:off x="10818316" y="4596158"/>
            <a:ext cx="231386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企业通讯与任务协同</a:t>
            </a:r>
          </a:p>
        </p:txBody>
      </p:sp>
      <p:sp>
        <p:nvSpPr>
          <p:cNvPr id="1897" name="m-s01_radial_hub-p-08-2"/>
          <p:cNvSpPr txBox="1"/>
          <p:nvPr/>
        </p:nvSpPr>
        <p:spPr>
          <a:xfrm>
            <a:off x="10841747" y="4631305"/>
            <a:ext cx="20795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5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信息即时触达一线</a:t>
            </a:r>
          </a:p>
        </p:txBody>
      </p:sp>
      <p:cxnSp>
        <p:nvCxnSpPr>
          <p:cNvPr id="1898" name="m-s01_radial_hub-foot-line"/>
          <p:cNvCxnSpPr/>
          <p:nvPr/>
        </p:nvCxnSpPr>
        <p:spPr>
          <a:xfrm>
            <a:off x="10521061" y="55923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99" name="m-s01_radial_hub-foot-l"/>
          <p:cNvSpPr txBox="1"/>
          <p:nvPr/>
        </p:nvSpPr>
        <p:spPr>
          <a:xfrm>
            <a:off x="10518874" y="5606323"/>
            <a:ext cx="274825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八大能力模块 · 一体化协同</a:t>
            </a:r>
          </a:p>
        </p:txBody>
      </p:sp>
      <p:sp>
        <p:nvSpPr>
          <p:cNvPr id="1900" name="m-s01_radial_hub-foot-r"/>
          <p:cNvSpPr txBox="1"/>
          <p:nvPr/>
        </p:nvSpPr>
        <p:spPr>
          <a:xfrm>
            <a:off x="12523309" y="56063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1901" name="mini-card-d44_stream"/>
          <p:cNvSpPr/>
          <p:nvPr/>
        </p:nvSpPr>
        <p:spPr>
          <a:xfrm>
            <a:off x="-444500" y="58166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1" y="0"/>
                </a:moveTo>
                <a:lnTo>
                  <a:pt x="2419160" y="0"/>
                </a:lnTo>
                <a:cubicBezTo>
                  <a:pt x="2463482" y="0"/>
                  <a:pt x="2499360" y="35877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2" y="1405890"/>
                  <a:pt x="2419160" y="1405890"/>
                </a:cubicBezTo>
                <a:lnTo>
                  <a:pt x="80201" y="1405890"/>
                </a:lnTo>
                <a:cubicBezTo>
                  <a:pt x="35878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7"/>
                  <a:pt x="35878" y="0"/>
                  <a:pt x="80201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02" name="m-d44_stream-title-bar"/>
          <p:cNvSpPr/>
          <p:nvPr/>
        </p:nvSpPr>
        <p:spPr>
          <a:xfrm>
            <a:off x="-324739" y="59155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03" name="m-d44_stream-title-bar-accent"/>
          <p:cNvSpPr/>
          <p:nvPr/>
        </p:nvSpPr>
        <p:spPr>
          <a:xfrm>
            <a:off x="-324739" y="59155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04" name="m-d44_stream-title-cn"/>
          <p:cNvSpPr txBox="1"/>
          <p:nvPr/>
        </p:nvSpPr>
        <p:spPr>
          <a:xfrm>
            <a:off x="-292560" y="5898168"/>
            <a:ext cx="551421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五年营收结构演变</a:t>
            </a:r>
          </a:p>
        </p:txBody>
      </p:sp>
      <p:sp>
        <p:nvSpPr>
          <p:cNvPr id="1905" name="m-d44_stream-title-en"/>
          <p:cNvSpPr txBox="1"/>
          <p:nvPr/>
        </p:nvSpPr>
        <p:spPr>
          <a:xfrm>
            <a:off x="-285270" y="5985450"/>
            <a:ext cx="221740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STREAMGRAPH</a:t>
            </a:r>
          </a:p>
        </p:txBody>
      </p:sp>
      <p:sp>
        <p:nvSpPr>
          <p:cNvPr id="1906" name="m-d44_stream-title-sub"/>
          <p:cNvSpPr txBox="1"/>
          <p:nvPr/>
        </p:nvSpPr>
        <p:spPr>
          <a:xfrm>
            <a:off x="1117209" y="5954592"/>
            <a:ext cx="820545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每条河的宽度代表当年营收——软件占比在下降，云与数据服务的河道越来越宽</a:t>
            </a:r>
          </a:p>
        </p:txBody>
      </p:sp>
      <p:sp>
        <p:nvSpPr>
          <p:cNvPr id="1907" name="m-d44_stream-st-1"/>
          <p:cNvSpPr/>
          <p:nvPr/>
        </p:nvSpPr>
        <p:spPr>
          <a:xfrm>
            <a:off x="-158115" y="6218301"/>
            <a:ext cx="1379855" cy="401193"/>
          </a:xfrm>
          <a:custGeom>
            <a:avLst/>
            <a:gdLst/>
            <a:ahLst/>
            <a:cxnLst/>
            <a:rect l="0" t="0" r="r" b="b"/>
            <a:pathLst>
              <a:path w="1379855" h="401193">
                <a:moveTo>
                  <a:pt x="0" y="149733"/>
                </a:moveTo>
                <a:cubicBezTo>
                  <a:pt x="45974" y="144907"/>
                  <a:pt x="252984" y="122555"/>
                  <a:pt x="344932" y="113792"/>
                </a:cubicBezTo>
                <a:cubicBezTo>
                  <a:pt x="436944" y="105029"/>
                  <a:pt x="597916" y="92647"/>
                  <a:pt x="689928" y="83884"/>
                </a:cubicBezTo>
                <a:cubicBezTo>
                  <a:pt x="781939" y="75057"/>
                  <a:pt x="942912" y="59119"/>
                  <a:pt x="1034860" y="47942"/>
                </a:cubicBezTo>
                <a:cubicBezTo>
                  <a:pt x="1126871" y="36766"/>
                  <a:pt x="1333881" y="6413"/>
                  <a:pt x="1379855" y="0"/>
                </a:cubicBezTo>
                <a:lnTo>
                  <a:pt x="1379855" y="299403"/>
                </a:lnTo>
                <a:cubicBezTo>
                  <a:pt x="1333881" y="304229"/>
                  <a:pt x="1126871" y="326581"/>
                  <a:pt x="1034860" y="335343"/>
                </a:cubicBezTo>
                <a:cubicBezTo>
                  <a:pt x="942912" y="344107"/>
                  <a:pt x="781939" y="358902"/>
                  <a:pt x="689928" y="365315"/>
                </a:cubicBezTo>
                <a:cubicBezTo>
                  <a:pt x="597916" y="371665"/>
                  <a:pt x="436944" y="378460"/>
                  <a:pt x="344932" y="383286"/>
                </a:cubicBezTo>
                <a:cubicBezTo>
                  <a:pt x="252984" y="388048"/>
                  <a:pt x="45974" y="398843"/>
                  <a:pt x="0" y="401193"/>
                </a:cubicBezTo>
                <a:close/>
              </a:path>
            </a:pathLst>
          </a:custGeom>
          <a:gradFill rotWithShape="1">
            <a:gsLst>
              <a:gs pos="0">
                <a:srgbClr val="23519A"/>
              </a:gs>
              <a:gs pos="100000">
                <a:srgbClr val="0B3E8F"/>
              </a:gs>
            </a:gsLst>
            <a:lin ang="0" scaled="0"/>
          </a:gradFill>
          <a:ln w="260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08" name="m-d44_stream-sl-1"/>
          <p:cNvSpPr txBox="1"/>
          <p:nvPr/>
        </p:nvSpPr>
        <p:spPr>
          <a:xfrm>
            <a:off x="1245119" y="6348502"/>
            <a:ext cx="113643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企业软件</a:t>
            </a:r>
          </a:p>
        </p:txBody>
      </p:sp>
      <p:sp>
        <p:nvSpPr>
          <p:cNvPr id="1909" name="m-d44_stream-sv-1"/>
          <p:cNvSpPr txBox="1"/>
          <p:nvPr/>
        </p:nvSpPr>
        <p:spPr>
          <a:xfrm>
            <a:off x="1354623" y="6350109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5.0</a:t>
            </a:r>
          </a:p>
        </p:txBody>
      </p:sp>
      <p:sp>
        <p:nvSpPr>
          <p:cNvPr id="1910" name="m-d44_stream-st-2"/>
          <p:cNvSpPr/>
          <p:nvPr/>
        </p:nvSpPr>
        <p:spPr>
          <a:xfrm>
            <a:off x="-158115" y="6517704"/>
            <a:ext cx="1379855" cy="203581"/>
          </a:xfrm>
          <a:custGeom>
            <a:avLst/>
            <a:gdLst/>
            <a:ahLst/>
            <a:cxnLst/>
            <a:rect l="0" t="0" r="r" b="b"/>
            <a:pathLst>
              <a:path w="1379855" h="203581">
                <a:moveTo>
                  <a:pt x="0" y="101790"/>
                </a:moveTo>
                <a:cubicBezTo>
                  <a:pt x="45974" y="99441"/>
                  <a:pt x="252984" y="88646"/>
                  <a:pt x="344932" y="83883"/>
                </a:cubicBezTo>
                <a:cubicBezTo>
                  <a:pt x="436944" y="79057"/>
                  <a:pt x="597916" y="72263"/>
                  <a:pt x="689928" y="65913"/>
                </a:cubicBezTo>
                <a:cubicBezTo>
                  <a:pt x="781939" y="59499"/>
                  <a:pt x="942912" y="44704"/>
                  <a:pt x="1034860" y="35941"/>
                </a:cubicBezTo>
                <a:cubicBezTo>
                  <a:pt x="1126871" y="27178"/>
                  <a:pt x="1333881" y="4826"/>
                  <a:pt x="1379855" y="0"/>
                </a:cubicBezTo>
                <a:lnTo>
                  <a:pt x="1379855" y="203581"/>
                </a:lnTo>
                <a:cubicBezTo>
                  <a:pt x="1333881" y="201993"/>
                  <a:pt x="1126871" y="194056"/>
                  <a:pt x="1034860" y="191643"/>
                </a:cubicBezTo>
                <a:cubicBezTo>
                  <a:pt x="942912" y="189230"/>
                  <a:pt x="781939" y="188849"/>
                  <a:pt x="689928" y="185674"/>
                </a:cubicBezTo>
                <a:cubicBezTo>
                  <a:pt x="597916" y="182436"/>
                  <a:pt x="436944" y="172466"/>
                  <a:pt x="344932" y="167703"/>
                </a:cubicBezTo>
                <a:cubicBezTo>
                  <a:pt x="252984" y="162877"/>
                  <a:pt x="45974" y="152146"/>
                  <a:pt x="0" y="149733"/>
                </a:cubicBezTo>
                <a:close/>
              </a:path>
            </a:pathLst>
          </a:custGeom>
          <a:gradFill rotWithShape="1">
            <a:gsLst>
              <a:gs pos="0">
                <a:srgbClr val="326AB1"/>
              </a:gs>
              <a:gs pos="100000">
                <a:srgbClr val="1B5AA8"/>
              </a:gs>
            </a:gsLst>
            <a:lin ang="0" scaled="0"/>
          </a:gradFill>
          <a:ln w="260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11" name="m-d44_stream-sl-2"/>
          <p:cNvSpPr txBox="1"/>
          <p:nvPr/>
        </p:nvSpPr>
        <p:spPr>
          <a:xfrm>
            <a:off x="1245119" y="6600000"/>
            <a:ext cx="90211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云服务</a:t>
            </a:r>
          </a:p>
        </p:txBody>
      </p:sp>
      <p:sp>
        <p:nvSpPr>
          <p:cNvPr id="1912" name="m-d44_stream-sv-2"/>
          <p:cNvSpPr txBox="1"/>
          <p:nvPr/>
        </p:nvSpPr>
        <p:spPr>
          <a:xfrm>
            <a:off x="1331191" y="6601607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3.4</a:t>
            </a:r>
          </a:p>
        </p:txBody>
      </p:sp>
      <p:sp>
        <p:nvSpPr>
          <p:cNvPr id="1913" name="m-d44_stream-st-3"/>
          <p:cNvSpPr/>
          <p:nvPr/>
        </p:nvSpPr>
        <p:spPr>
          <a:xfrm>
            <a:off x="-158115" y="6667436"/>
            <a:ext cx="1379855" cy="185611"/>
          </a:xfrm>
          <a:custGeom>
            <a:avLst/>
            <a:gdLst/>
            <a:ahLst/>
            <a:cxnLst/>
            <a:rect l="0" t="0" r="r" b="b"/>
            <a:pathLst>
              <a:path w="1379855" h="185611">
                <a:moveTo>
                  <a:pt x="0" y="0"/>
                </a:moveTo>
                <a:cubicBezTo>
                  <a:pt x="45974" y="2413"/>
                  <a:pt x="252984" y="13144"/>
                  <a:pt x="344932" y="17970"/>
                </a:cubicBezTo>
                <a:cubicBezTo>
                  <a:pt x="436944" y="22733"/>
                  <a:pt x="597916" y="32703"/>
                  <a:pt x="689928" y="35941"/>
                </a:cubicBezTo>
                <a:cubicBezTo>
                  <a:pt x="781939" y="39116"/>
                  <a:pt x="942912" y="39497"/>
                  <a:pt x="1034860" y="41910"/>
                </a:cubicBezTo>
                <a:cubicBezTo>
                  <a:pt x="1126871" y="44323"/>
                  <a:pt x="1333881" y="52261"/>
                  <a:pt x="1379855" y="53848"/>
                </a:cubicBezTo>
                <a:lnTo>
                  <a:pt x="1379855" y="185611"/>
                </a:lnTo>
                <a:cubicBezTo>
                  <a:pt x="1333881" y="178435"/>
                  <a:pt x="1126871" y="143700"/>
                  <a:pt x="1034860" y="131699"/>
                </a:cubicBezTo>
                <a:cubicBezTo>
                  <a:pt x="942912" y="119761"/>
                  <a:pt x="781939" y="106172"/>
                  <a:pt x="689928" y="95821"/>
                </a:cubicBezTo>
                <a:cubicBezTo>
                  <a:pt x="597916" y="85408"/>
                  <a:pt x="436944" y="64262"/>
                  <a:pt x="344932" y="53848"/>
                </a:cubicBezTo>
                <a:cubicBezTo>
                  <a:pt x="252984" y="43497"/>
                  <a:pt x="45974" y="22733"/>
                  <a:pt x="0" y="17970"/>
                </a:cubicBezTo>
                <a:close/>
              </a:path>
            </a:pathLst>
          </a:custGeom>
          <a:gradFill rotWithShape="1">
            <a:gsLst>
              <a:gs pos="0">
                <a:srgbClr val="4385C8"/>
              </a:gs>
              <a:gs pos="100000">
                <a:srgbClr val="2E77C2"/>
              </a:gs>
            </a:gsLst>
            <a:lin ang="0" scaled="0"/>
          </a:gradFill>
          <a:ln w="260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14" name="m-d44_stream-sl-3"/>
          <p:cNvSpPr txBox="1"/>
          <p:nvPr/>
        </p:nvSpPr>
        <p:spPr>
          <a:xfrm>
            <a:off x="1245119" y="6767665"/>
            <a:ext cx="113643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数据服务</a:t>
            </a:r>
          </a:p>
        </p:txBody>
      </p:sp>
      <p:sp>
        <p:nvSpPr>
          <p:cNvPr id="1915" name="m-d44_stream-sv-3"/>
          <p:cNvSpPr txBox="1"/>
          <p:nvPr/>
        </p:nvSpPr>
        <p:spPr>
          <a:xfrm>
            <a:off x="1354623" y="6769273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2E77C2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2.2</a:t>
            </a:r>
          </a:p>
        </p:txBody>
      </p:sp>
      <p:sp>
        <p:nvSpPr>
          <p:cNvPr id="1916" name="m-d44_stream-st-4"/>
          <p:cNvSpPr/>
          <p:nvPr/>
        </p:nvSpPr>
        <p:spPr>
          <a:xfrm>
            <a:off x="-158115" y="6685407"/>
            <a:ext cx="1379855" cy="215519"/>
          </a:xfrm>
          <a:custGeom>
            <a:avLst/>
            <a:gdLst/>
            <a:ahLst/>
            <a:cxnLst/>
            <a:rect l="0" t="0" r="r" b="b"/>
            <a:pathLst>
              <a:path w="1379855" h="215519">
                <a:moveTo>
                  <a:pt x="0" y="0"/>
                </a:moveTo>
                <a:cubicBezTo>
                  <a:pt x="45974" y="4762"/>
                  <a:pt x="252984" y="25527"/>
                  <a:pt x="344932" y="35878"/>
                </a:cubicBezTo>
                <a:cubicBezTo>
                  <a:pt x="436944" y="46291"/>
                  <a:pt x="597916" y="67437"/>
                  <a:pt x="689928" y="77851"/>
                </a:cubicBezTo>
                <a:cubicBezTo>
                  <a:pt x="781939" y="88202"/>
                  <a:pt x="942912" y="101790"/>
                  <a:pt x="1034860" y="113729"/>
                </a:cubicBezTo>
                <a:cubicBezTo>
                  <a:pt x="1126871" y="125730"/>
                  <a:pt x="1333881" y="160464"/>
                  <a:pt x="1379855" y="167640"/>
                </a:cubicBezTo>
                <a:lnTo>
                  <a:pt x="1379855" y="215519"/>
                </a:lnTo>
                <a:cubicBezTo>
                  <a:pt x="1333881" y="209169"/>
                  <a:pt x="1126871" y="178816"/>
                  <a:pt x="1034860" y="167640"/>
                </a:cubicBezTo>
                <a:cubicBezTo>
                  <a:pt x="942912" y="156464"/>
                  <a:pt x="781939" y="141288"/>
                  <a:pt x="689928" y="131699"/>
                </a:cubicBezTo>
                <a:cubicBezTo>
                  <a:pt x="597916" y="122111"/>
                  <a:pt x="436944" y="105347"/>
                  <a:pt x="344932" y="95758"/>
                </a:cubicBezTo>
                <a:cubicBezTo>
                  <a:pt x="252984" y="86233"/>
                  <a:pt x="45974" y="64643"/>
                  <a:pt x="0" y="59881"/>
                </a:cubicBezTo>
                <a:close/>
              </a:path>
            </a:pathLst>
          </a:custGeom>
          <a:gradFill rotWithShape="1">
            <a:gsLst>
              <a:gs pos="0">
                <a:srgbClr val="589FDB"/>
              </a:gs>
              <a:gs pos="100000">
                <a:srgbClr val="4694D7"/>
              </a:gs>
            </a:gsLst>
            <a:lin ang="0" scaled="0"/>
          </a:gradFill>
          <a:ln w="260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17" name="m-d44_stream-sl-4"/>
          <p:cNvSpPr txBox="1"/>
          <p:nvPr/>
        </p:nvSpPr>
        <p:spPr>
          <a:xfrm>
            <a:off x="1245119" y="6857486"/>
            <a:ext cx="66780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咨询</a:t>
            </a:r>
          </a:p>
        </p:txBody>
      </p:sp>
      <p:sp>
        <p:nvSpPr>
          <p:cNvPr id="1918" name="m-d44_stream-sv-4"/>
          <p:cNvSpPr txBox="1"/>
          <p:nvPr/>
        </p:nvSpPr>
        <p:spPr>
          <a:xfrm>
            <a:off x="1307760" y="6859093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4694D7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0.8</a:t>
            </a:r>
          </a:p>
        </p:txBody>
      </p:sp>
      <p:sp>
        <p:nvSpPr>
          <p:cNvPr id="1919" name="m-d44_stream-st-5"/>
          <p:cNvSpPr/>
          <p:nvPr/>
        </p:nvSpPr>
        <p:spPr>
          <a:xfrm>
            <a:off x="-158115" y="6745288"/>
            <a:ext cx="1379855" cy="179641"/>
          </a:xfrm>
          <a:custGeom>
            <a:avLst/>
            <a:gdLst/>
            <a:ahLst/>
            <a:cxnLst/>
            <a:rect l="0" t="0" r="r" b="b"/>
            <a:pathLst>
              <a:path w="1379855" h="179641">
                <a:moveTo>
                  <a:pt x="0" y="0"/>
                </a:moveTo>
                <a:cubicBezTo>
                  <a:pt x="45974" y="4762"/>
                  <a:pt x="252984" y="26353"/>
                  <a:pt x="344932" y="35878"/>
                </a:cubicBezTo>
                <a:cubicBezTo>
                  <a:pt x="436944" y="45466"/>
                  <a:pt x="597916" y="62230"/>
                  <a:pt x="689928" y="71818"/>
                </a:cubicBezTo>
                <a:cubicBezTo>
                  <a:pt x="781939" y="81407"/>
                  <a:pt x="942912" y="96584"/>
                  <a:pt x="1034860" y="107760"/>
                </a:cubicBezTo>
                <a:cubicBezTo>
                  <a:pt x="1126871" y="118936"/>
                  <a:pt x="1333881" y="149288"/>
                  <a:pt x="1379855" y="155638"/>
                </a:cubicBezTo>
                <a:lnTo>
                  <a:pt x="1379855" y="179641"/>
                </a:lnTo>
                <a:cubicBezTo>
                  <a:pt x="1333881" y="173228"/>
                  <a:pt x="1126871" y="142875"/>
                  <a:pt x="1034860" y="131699"/>
                </a:cubicBezTo>
                <a:cubicBezTo>
                  <a:pt x="942912" y="120523"/>
                  <a:pt x="781939" y="104585"/>
                  <a:pt x="689928" y="95821"/>
                </a:cubicBezTo>
                <a:cubicBezTo>
                  <a:pt x="597916" y="86995"/>
                  <a:pt x="436944" y="74612"/>
                  <a:pt x="344932" y="65849"/>
                </a:cubicBezTo>
                <a:cubicBezTo>
                  <a:pt x="252984" y="57087"/>
                  <a:pt x="45974" y="34735"/>
                  <a:pt x="0" y="29909"/>
                </a:cubicBezTo>
                <a:close/>
              </a:path>
            </a:pathLst>
          </a:custGeom>
          <a:gradFill rotWithShape="1">
            <a:gsLst>
              <a:gs pos="0">
                <a:srgbClr val="BECDDF"/>
              </a:gs>
              <a:gs pos="100000">
                <a:srgbClr val="B7C7DB"/>
              </a:gs>
            </a:gsLst>
            <a:lin ang="0" scaled="0"/>
          </a:gradFill>
          <a:ln w="260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20" name="m-d44_stream-sl-5"/>
          <p:cNvSpPr txBox="1"/>
          <p:nvPr/>
        </p:nvSpPr>
        <p:spPr>
          <a:xfrm>
            <a:off x="1245119" y="6893414"/>
            <a:ext cx="66780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其他</a:t>
            </a:r>
          </a:p>
        </p:txBody>
      </p:sp>
      <p:sp>
        <p:nvSpPr>
          <p:cNvPr id="1921" name="m-d44_stream-sv-5"/>
          <p:cNvSpPr txBox="1"/>
          <p:nvPr/>
        </p:nvSpPr>
        <p:spPr>
          <a:xfrm>
            <a:off x="1307760" y="6895022"/>
            <a:ext cx="5373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0.4</a:t>
            </a:r>
          </a:p>
        </p:txBody>
      </p:sp>
      <p:cxnSp>
        <p:nvCxnSpPr>
          <p:cNvPr id="1922" name="m-d44_stream-vg-2022"/>
          <p:cNvCxnSpPr/>
          <p:nvPr/>
        </p:nvCxnSpPr>
        <p:spPr>
          <a:xfrm>
            <a:off x="-158115" y="6192285"/>
            <a:ext cx="0" cy="758660"/>
          </a:xfrm>
          <a:prstGeom prst="line">
            <a:avLst/>
          </a:prstGeom>
          <a:ln w="2540" cap="rnd">
            <a:solidFill>
              <a:srgbClr val="0B2545">
                <a:alpha val="6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23" name="m-d44_stream-yr-2022"/>
          <p:cNvSpPr txBox="1"/>
          <p:nvPr/>
        </p:nvSpPr>
        <p:spPr>
          <a:xfrm>
            <a:off x="-194902" y="6968870"/>
            <a:ext cx="73575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2022</a:t>
            </a:r>
          </a:p>
        </p:txBody>
      </p:sp>
      <p:sp>
        <p:nvSpPr>
          <p:cNvPr id="1924" name="m-d44_stream-tot-2022"/>
          <p:cNvSpPr txBox="1"/>
          <p:nvPr/>
        </p:nvSpPr>
        <p:spPr>
          <a:xfrm>
            <a:off x="-198534" y="6323078"/>
            <a:ext cx="80839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6.8 亿</a:t>
            </a:r>
          </a:p>
        </p:txBody>
      </p:sp>
      <p:cxnSp>
        <p:nvCxnSpPr>
          <p:cNvPr id="1925" name="m-d44_stream-vg-2023"/>
          <p:cNvCxnSpPr/>
          <p:nvPr/>
        </p:nvCxnSpPr>
        <p:spPr>
          <a:xfrm>
            <a:off x="186849" y="6192285"/>
            <a:ext cx="0" cy="758660"/>
          </a:xfrm>
          <a:prstGeom prst="line">
            <a:avLst/>
          </a:prstGeom>
          <a:ln w="2540" cap="rnd">
            <a:solidFill>
              <a:srgbClr val="0B2545">
                <a:alpha val="6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26" name="m-d44_stream-yr-2023"/>
          <p:cNvSpPr txBox="1"/>
          <p:nvPr/>
        </p:nvSpPr>
        <p:spPr>
          <a:xfrm>
            <a:off x="150061" y="6968870"/>
            <a:ext cx="73575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2023</a:t>
            </a:r>
          </a:p>
        </p:txBody>
      </p:sp>
      <p:sp>
        <p:nvSpPr>
          <p:cNvPr id="1927" name="m-d44_stream-tot-2023"/>
          <p:cNvSpPr txBox="1"/>
          <p:nvPr/>
        </p:nvSpPr>
        <p:spPr>
          <a:xfrm>
            <a:off x="146429" y="6287150"/>
            <a:ext cx="80839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8.0 亿</a:t>
            </a:r>
          </a:p>
        </p:txBody>
      </p:sp>
      <p:cxnSp>
        <p:nvCxnSpPr>
          <p:cNvPr id="1928" name="m-d44_stream-vg-2024"/>
          <p:cNvCxnSpPr/>
          <p:nvPr/>
        </p:nvCxnSpPr>
        <p:spPr>
          <a:xfrm>
            <a:off x="531812" y="6192285"/>
            <a:ext cx="0" cy="758660"/>
          </a:xfrm>
          <a:prstGeom prst="line">
            <a:avLst/>
          </a:prstGeom>
          <a:ln w="2540" cap="rnd">
            <a:solidFill>
              <a:srgbClr val="0B2545">
                <a:alpha val="6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29" name="m-d44_stream-yr-2024"/>
          <p:cNvSpPr txBox="1"/>
          <p:nvPr/>
        </p:nvSpPr>
        <p:spPr>
          <a:xfrm>
            <a:off x="495025" y="6968870"/>
            <a:ext cx="73575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2024</a:t>
            </a:r>
          </a:p>
        </p:txBody>
      </p:sp>
      <p:sp>
        <p:nvSpPr>
          <p:cNvPr id="1930" name="m-d44_stream-tot-2024"/>
          <p:cNvSpPr txBox="1"/>
          <p:nvPr/>
        </p:nvSpPr>
        <p:spPr>
          <a:xfrm>
            <a:off x="491393" y="6257210"/>
            <a:ext cx="80839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9.0 亿</a:t>
            </a:r>
          </a:p>
        </p:txBody>
      </p:sp>
      <p:cxnSp>
        <p:nvCxnSpPr>
          <p:cNvPr id="1931" name="m-d44_stream-vg-2025"/>
          <p:cNvCxnSpPr/>
          <p:nvPr/>
        </p:nvCxnSpPr>
        <p:spPr>
          <a:xfrm>
            <a:off x="876776" y="6192285"/>
            <a:ext cx="0" cy="758660"/>
          </a:xfrm>
          <a:prstGeom prst="line">
            <a:avLst/>
          </a:prstGeom>
          <a:ln w="2540" cap="rnd">
            <a:solidFill>
              <a:srgbClr val="0B2545">
                <a:alpha val="6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32" name="m-d44_stream-yr-2025"/>
          <p:cNvSpPr txBox="1"/>
          <p:nvPr/>
        </p:nvSpPr>
        <p:spPr>
          <a:xfrm>
            <a:off x="839989" y="6968870"/>
            <a:ext cx="73575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2025</a:t>
            </a:r>
          </a:p>
        </p:txBody>
      </p:sp>
      <p:sp>
        <p:nvSpPr>
          <p:cNvPr id="1933" name="m-d44_stream-tot-2025"/>
          <p:cNvSpPr txBox="1"/>
          <p:nvPr/>
        </p:nvSpPr>
        <p:spPr>
          <a:xfrm>
            <a:off x="830890" y="6221282"/>
            <a:ext cx="9177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10.2 亿</a:t>
            </a:r>
          </a:p>
        </p:txBody>
      </p:sp>
      <p:cxnSp>
        <p:nvCxnSpPr>
          <p:cNvPr id="1934" name="m-d44_stream-vg-2026"/>
          <p:cNvCxnSpPr/>
          <p:nvPr/>
        </p:nvCxnSpPr>
        <p:spPr>
          <a:xfrm>
            <a:off x="1221740" y="6192285"/>
            <a:ext cx="0" cy="758660"/>
          </a:xfrm>
          <a:prstGeom prst="line">
            <a:avLst/>
          </a:prstGeom>
          <a:ln w="2540" cap="rnd">
            <a:solidFill>
              <a:srgbClr val="0B2545">
                <a:alpha val="6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35" name="m-d44_stream-yr-2026"/>
          <p:cNvSpPr txBox="1"/>
          <p:nvPr/>
        </p:nvSpPr>
        <p:spPr>
          <a:xfrm>
            <a:off x="1184953" y="6968870"/>
            <a:ext cx="73575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2026</a:t>
            </a:r>
          </a:p>
        </p:txBody>
      </p:sp>
      <p:sp>
        <p:nvSpPr>
          <p:cNvPr id="1936" name="m-d44_stream-tot-2026"/>
          <p:cNvSpPr txBox="1"/>
          <p:nvPr/>
        </p:nvSpPr>
        <p:spPr>
          <a:xfrm>
            <a:off x="1175853" y="6173377"/>
            <a:ext cx="9177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11.8 亿</a:t>
            </a:r>
          </a:p>
        </p:txBody>
      </p:sp>
      <p:sp>
        <p:nvSpPr>
          <p:cNvPr id="1937" name="m-d44_stream-rh"/>
          <p:cNvSpPr txBox="1"/>
          <p:nvPr/>
        </p:nvSpPr>
        <p:spPr>
          <a:xfrm>
            <a:off x="1504220" y="6140898"/>
            <a:ext cx="169878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占比变化</a:t>
            </a:r>
          </a:p>
        </p:txBody>
      </p:sp>
      <p:sp>
        <p:nvSpPr>
          <p:cNvPr id="1938" name="m-d44_stream-rp"/>
          <p:cNvSpPr txBox="1"/>
          <p:nvPr/>
        </p:nvSpPr>
        <p:spPr>
          <a:xfrm>
            <a:off x="1505782" y="6198631"/>
            <a:ext cx="137855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2022 → 2026</a:t>
            </a:r>
          </a:p>
        </p:txBody>
      </p:sp>
      <p:sp>
        <p:nvSpPr>
          <p:cNvPr id="1939" name="m-d44_stream-c-1"/>
          <p:cNvSpPr/>
          <p:nvPr/>
        </p:nvSpPr>
        <p:spPr>
          <a:xfrm>
            <a:off x="1508125" y="6272212"/>
            <a:ext cx="351473" cy="169227"/>
          </a:xfrm>
          <a:custGeom>
            <a:avLst/>
            <a:gdLst/>
            <a:ahLst/>
            <a:cxnLst/>
            <a:rect l="0" t="0" r="r" b="b"/>
            <a:pathLst>
              <a:path w="351473" h="169227">
                <a:moveTo>
                  <a:pt x="23431" y="0"/>
                </a:moveTo>
                <a:lnTo>
                  <a:pt x="328041" y="0"/>
                </a:lnTo>
                <a:cubicBezTo>
                  <a:pt x="340995" y="0"/>
                  <a:pt x="351473" y="10477"/>
                  <a:pt x="351473" y="23432"/>
                </a:cubicBezTo>
                <a:lnTo>
                  <a:pt x="351473" y="145796"/>
                </a:lnTo>
                <a:cubicBezTo>
                  <a:pt x="351473" y="158750"/>
                  <a:pt x="340995" y="169227"/>
                  <a:pt x="328041" y="169227"/>
                </a:cubicBezTo>
                <a:lnTo>
                  <a:pt x="23431" y="169227"/>
                </a:lnTo>
                <a:cubicBezTo>
                  <a:pt x="10478" y="169227"/>
                  <a:pt x="0" y="158750"/>
                  <a:pt x="0" y="145796"/>
                </a:cubicBezTo>
                <a:lnTo>
                  <a:pt x="0" y="23432"/>
                </a:lnTo>
                <a:cubicBezTo>
                  <a:pt x="0" y="10477"/>
                  <a:pt x="10478" y="0"/>
                  <a:pt x="2343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40" name="m-d44_stream-cb-1"/>
          <p:cNvSpPr/>
          <p:nvPr/>
        </p:nvSpPr>
        <p:spPr>
          <a:xfrm>
            <a:off x="1508125" y="6272212"/>
            <a:ext cx="7810" cy="169227"/>
          </a:xfrm>
          <a:custGeom>
            <a:avLst/>
            <a:gdLst/>
            <a:ahLst/>
            <a:cxnLst/>
            <a:rect l="0" t="0" r="r" b="b"/>
            <a:pathLst>
              <a:path w="7810" h="169227">
                <a:moveTo>
                  <a:pt x="3937" y="0"/>
                </a:moveTo>
                <a:lnTo>
                  <a:pt x="3937" y="0"/>
                </a:lnTo>
                <a:cubicBezTo>
                  <a:pt x="6096" y="0"/>
                  <a:pt x="7810" y="1714"/>
                  <a:pt x="7810" y="3937"/>
                </a:cubicBezTo>
                <a:lnTo>
                  <a:pt x="7810" y="165290"/>
                </a:lnTo>
                <a:cubicBezTo>
                  <a:pt x="7810" y="167513"/>
                  <a:pt x="6096" y="169227"/>
                  <a:pt x="3937" y="169227"/>
                </a:cubicBezTo>
                <a:lnTo>
                  <a:pt x="3937" y="169227"/>
                </a:lnTo>
                <a:cubicBezTo>
                  <a:pt x="1715" y="169227"/>
                  <a:pt x="0" y="167513"/>
                  <a:pt x="0" y="165290"/>
                </a:cubicBezTo>
                <a:lnTo>
                  <a:pt x="0" y="3937"/>
                </a:lnTo>
                <a:cubicBezTo>
                  <a:pt x="0" y="1714"/>
                  <a:pt x="1715" y="0"/>
                  <a:pt x="3937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41" name="m-d44_stream-cn-1"/>
          <p:cNvSpPr txBox="1"/>
          <p:nvPr/>
        </p:nvSpPr>
        <p:spPr>
          <a:xfrm>
            <a:off x="1539159" y="6295345"/>
            <a:ext cx="12002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企业软件</a:t>
            </a:r>
          </a:p>
        </p:txBody>
      </p:sp>
      <p:sp>
        <p:nvSpPr>
          <p:cNvPr id="1942" name="m-d44_stream-ca-1"/>
          <p:cNvSpPr txBox="1"/>
          <p:nvPr/>
        </p:nvSpPr>
        <p:spPr>
          <a:xfrm>
            <a:off x="1538846" y="6359820"/>
            <a:ext cx="67170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0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62%</a:t>
            </a:r>
          </a:p>
        </p:txBody>
      </p:sp>
      <p:sp>
        <p:nvSpPr>
          <p:cNvPr id="1943" name="m-d44_stream-car-1"/>
          <p:cNvSpPr txBox="1"/>
          <p:nvPr/>
        </p:nvSpPr>
        <p:spPr>
          <a:xfrm>
            <a:off x="1635488" y="6360432"/>
            <a:ext cx="3421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→</a:t>
            </a:r>
          </a:p>
        </p:txBody>
      </p:sp>
      <p:sp>
        <p:nvSpPr>
          <p:cNvPr id="1944" name="m-d44_stream-cv-1"/>
          <p:cNvSpPr txBox="1"/>
          <p:nvPr/>
        </p:nvSpPr>
        <p:spPr>
          <a:xfrm>
            <a:off x="1719477" y="6339917"/>
            <a:ext cx="114190" cy="7745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5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42%</a:t>
            </a:r>
          </a:p>
        </p:txBody>
      </p:sp>
      <p:sp>
        <p:nvSpPr>
          <p:cNvPr id="1945" name="m-d44_stream-c-2"/>
          <p:cNvSpPr/>
          <p:nvPr/>
        </p:nvSpPr>
        <p:spPr>
          <a:xfrm>
            <a:off x="1508125" y="6467475"/>
            <a:ext cx="351473" cy="169228"/>
          </a:xfrm>
          <a:custGeom>
            <a:avLst/>
            <a:gdLst/>
            <a:ahLst/>
            <a:cxnLst/>
            <a:rect l="0" t="0" r="r" b="b"/>
            <a:pathLst>
              <a:path w="351473" h="169228">
                <a:moveTo>
                  <a:pt x="23431" y="0"/>
                </a:moveTo>
                <a:lnTo>
                  <a:pt x="328041" y="0"/>
                </a:lnTo>
                <a:cubicBezTo>
                  <a:pt x="340995" y="0"/>
                  <a:pt x="351473" y="10477"/>
                  <a:pt x="351473" y="23432"/>
                </a:cubicBezTo>
                <a:lnTo>
                  <a:pt x="351473" y="145796"/>
                </a:lnTo>
                <a:cubicBezTo>
                  <a:pt x="351473" y="158750"/>
                  <a:pt x="340995" y="169228"/>
                  <a:pt x="328041" y="169228"/>
                </a:cubicBezTo>
                <a:lnTo>
                  <a:pt x="23431" y="169228"/>
                </a:lnTo>
                <a:cubicBezTo>
                  <a:pt x="10478" y="169228"/>
                  <a:pt x="0" y="158750"/>
                  <a:pt x="0" y="145796"/>
                </a:cubicBezTo>
                <a:lnTo>
                  <a:pt x="0" y="23432"/>
                </a:lnTo>
                <a:cubicBezTo>
                  <a:pt x="0" y="10477"/>
                  <a:pt x="10478" y="0"/>
                  <a:pt x="2343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46" name="m-d44_stream-cb-2"/>
          <p:cNvSpPr/>
          <p:nvPr/>
        </p:nvSpPr>
        <p:spPr>
          <a:xfrm>
            <a:off x="1508125" y="6467475"/>
            <a:ext cx="7810" cy="169228"/>
          </a:xfrm>
          <a:custGeom>
            <a:avLst/>
            <a:gdLst/>
            <a:ahLst/>
            <a:cxnLst/>
            <a:rect l="0" t="0" r="r" b="b"/>
            <a:pathLst>
              <a:path w="7810" h="169228">
                <a:moveTo>
                  <a:pt x="3937" y="0"/>
                </a:moveTo>
                <a:lnTo>
                  <a:pt x="3937" y="0"/>
                </a:lnTo>
                <a:cubicBezTo>
                  <a:pt x="6096" y="0"/>
                  <a:pt x="7810" y="1714"/>
                  <a:pt x="7810" y="3937"/>
                </a:cubicBezTo>
                <a:lnTo>
                  <a:pt x="7810" y="165354"/>
                </a:lnTo>
                <a:cubicBezTo>
                  <a:pt x="7810" y="167513"/>
                  <a:pt x="6096" y="169228"/>
                  <a:pt x="3937" y="169228"/>
                </a:cubicBezTo>
                <a:lnTo>
                  <a:pt x="3937" y="169228"/>
                </a:lnTo>
                <a:cubicBezTo>
                  <a:pt x="1715" y="169228"/>
                  <a:pt x="0" y="167513"/>
                  <a:pt x="0" y="165354"/>
                </a:cubicBezTo>
                <a:lnTo>
                  <a:pt x="0" y="3937"/>
                </a:lnTo>
                <a:cubicBezTo>
                  <a:pt x="0" y="1714"/>
                  <a:pt x="1715" y="0"/>
                  <a:pt x="3937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47" name="m-d44_stream-cn-2"/>
          <p:cNvSpPr txBox="1"/>
          <p:nvPr/>
        </p:nvSpPr>
        <p:spPr>
          <a:xfrm>
            <a:off x="1539159" y="6490607"/>
            <a:ext cx="95288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云服务</a:t>
            </a:r>
          </a:p>
        </p:txBody>
      </p:sp>
      <p:sp>
        <p:nvSpPr>
          <p:cNvPr id="1948" name="m-d44_stream-ca-2"/>
          <p:cNvSpPr txBox="1"/>
          <p:nvPr/>
        </p:nvSpPr>
        <p:spPr>
          <a:xfrm>
            <a:off x="1538846" y="6555083"/>
            <a:ext cx="67170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0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12%</a:t>
            </a:r>
          </a:p>
        </p:txBody>
      </p:sp>
      <p:sp>
        <p:nvSpPr>
          <p:cNvPr id="1949" name="m-d44_stream-car-2"/>
          <p:cNvSpPr txBox="1"/>
          <p:nvPr/>
        </p:nvSpPr>
        <p:spPr>
          <a:xfrm>
            <a:off x="1635488" y="6555695"/>
            <a:ext cx="3421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→</a:t>
            </a:r>
          </a:p>
        </p:txBody>
      </p:sp>
      <p:sp>
        <p:nvSpPr>
          <p:cNvPr id="1950" name="m-d44_stream-cv-2"/>
          <p:cNvSpPr txBox="1"/>
          <p:nvPr/>
        </p:nvSpPr>
        <p:spPr>
          <a:xfrm>
            <a:off x="1719477" y="6535179"/>
            <a:ext cx="114190" cy="7745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29%</a:t>
            </a:r>
          </a:p>
        </p:txBody>
      </p:sp>
      <p:sp>
        <p:nvSpPr>
          <p:cNvPr id="1951" name="m-d44_stream-c-3"/>
          <p:cNvSpPr/>
          <p:nvPr/>
        </p:nvSpPr>
        <p:spPr>
          <a:xfrm>
            <a:off x="1508125" y="6662738"/>
            <a:ext cx="351473" cy="169228"/>
          </a:xfrm>
          <a:custGeom>
            <a:avLst/>
            <a:gdLst/>
            <a:ahLst/>
            <a:cxnLst/>
            <a:rect l="0" t="0" r="r" b="b"/>
            <a:pathLst>
              <a:path w="351473" h="169228">
                <a:moveTo>
                  <a:pt x="23431" y="0"/>
                </a:moveTo>
                <a:lnTo>
                  <a:pt x="328041" y="0"/>
                </a:lnTo>
                <a:cubicBezTo>
                  <a:pt x="340995" y="0"/>
                  <a:pt x="351473" y="10478"/>
                  <a:pt x="351473" y="23432"/>
                </a:cubicBezTo>
                <a:lnTo>
                  <a:pt x="351473" y="145796"/>
                </a:lnTo>
                <a:cubicBezTo>
                  <a:pt x="351473" y="158750"/>
                  <a:pt x="340995" y="169228"/>
                  <a:pt x="328041" y="169228"/>
                </a:cubicBezTo>
                <a:lnTo>
                  <a:pt x="23431" y="169228"/>
                </a:lnTo>
                <a:cubicBezTo>
                  <a:pt x="10478" y="169228"/>
                  <a:pt x="0" y="158750"/>
                  <a:pt x="0" y="145796"/>
                </a:cubicBezTo>
                <a:lnTo>
                  <a:pt x="0" y="23432"/>
                </a:lnTo>
                <a:cubicBezTo>
                  <a:pt x="0" y="10478"/>
                  <a:pt x="10478" y="0"/>
                  <a:pt x="2343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52" name="m-d44_stream-cb-3"/>
          <p:cNvSpPr/>
          <p:nvPr/>
        </p:nvSpPr>
        <p:spPr>
          <a:xfrm>
            <a:off x="1508125" y="6662738"/>
            <a:ext cx="7810" cy="169228"/>
          </a:xfrm>
          <a:custGeom>
            <a:avLst/>
            <a:gdLst/>
            <a:ahLst/>
            <a:cxnLst/>
            <a:rect l="0" t="0" r="r" b="b"/>
            <a:pathLst>
              <a:path w="7810" h="169228">
                <a:moveTo>
                  <a:pt x="3937" y="0"/>
                </a:moveTo>
                <a:lnTo>
                  <a:pt x="3937" y="0"/>
                </a:lnTo>
                <a:cubicBezTo>
                  <a:pt x="6096" y="0"/>
                  <a:pt x="7810" y="1714"/>
                  <a:pt x="7810" y="3937"/>
                </a:cubicBezTo>
                <a:lnTo>
                  <a:pt x="7810" y="165354"/>
                </a:lnTo>
                <a:cubicBezTo>
                  <a:pt x="7810" y="167513"/>
                  <a:pt x="6096" y="169228"/>
                  <a:pt x="3937" y="169228"/>
                </a:cubicBezTo>
                <a:lnTo>
                  <a:pt x="3937" y="169228"/>
                </a:lnTo>
                <a:cubicBezTo>
                  <a:pt x="1715" y="169228"/>
                  <a:pt x="0" y="167513"/>
                  <a:pt x="0" y="165354"/>
                </a:cubicBezTo>
                <a:lnTo>
                  <a:pt x="0" y="3937"/>
                </a:lnTo>
                <a:cubicBezTo>
                  <a:pt x="0" y="1714"/>
                  <a:pt x="1715" y="0"/>
                  <a:pt x="3937" y="0"/>
                </a:cubicBezTo>
                <a:close/>
              </a:path>
            </a:pathLst>
          </a:custGeom>
          <a:solidFill>
            <a:srgbClr val="2E77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53" name="m-d44_stream-cn-3"/>
          <p:cNvSpPr txBox="1"/>
          <p:nvPr/>
        </p:nvSpPr>
        <p:spPr>
          <a:xfrm>
            <a:off x="1539159" y="6685870"/>
            <a:ext cx="120021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1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数据服务</a:t>
            </a:r>
          </a:p>
        </p:txBody>
      </p:sp>
      <p:sp>
        <p:nvSpPr>
          <p:cNvPr id="1954" name="m-d44_stream-ca-3"/>
          <p:cNvSpPr txBox="1"/>
          <p:nvPr/>
        </p:nvSpPr>
        <p:spPr>
          <a:xfrm>
            <a:off x="1538846" y="6750345"/>
            <a:ext cx="52591" cy="4556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" b="0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4%</a:t>
            </a:r>
          </a:p>
        </p:txBody>
      </p:sp>
      <p:sp>
        <p:nvSpPr>
          <p:cNvPr id="1955" name="m-d44_stream-car-3"/>
          <p:cNvSpPr txBox="1"/>
          <p:nvPr/>
        </p:nvSpPr>
        <p:spPr>
          <a:xfrm>
            <a:off x="1635488" y="6750957"/>
            <a:ext cx="34210" cy="410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→</a:t>
            </a:r>
          </a:p>
        </p:txBody>
      </p:sp>
      <p:sp>
        <p:nvSpPr>
          <p:cNvPr id="1956" name="m-d44_stream-cv-3"/>
          <p:cNvSpPr txBox="1"/>
          <p:nvPr/>
        </p:nvSpPr>
        <p:spPr>
          <a:xfrm>
            <a:off x="1719477" y="6730442"/>
            <a:ext cx="114190" cy="7745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50" b="1" i="0" u="none" strike="noStrike" kern="1200" cap="none" spc="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19%</a:t>
            </a:r>
          </a:p>
        </p:txBody>
      </p:sp>
      <p:sp>
        <p:nvSpPr>
          <p:cNvPr id="1957" name="m-d44_stream-sum"/>
          <p:cNvSpPr/>
          <p:nvPr/>
        </p:nvSpPr>
        <p:spPr>
          <a:xfrm>
            <a:off x="-249238" y="7003796"/>
            <a:ext cx="2108835" cy="93726"/>
          </a:xfrm>
          <a:custGeom>
            <a:avLst/>
            <a:gdLst/>
            <a:ahLst/>
            <a:cxnLst/>
            <a:rect l="0" t="0" r="r" b="b"/>
            <a:pathLst>
              <a:path w="2108835" h="93726">
                <a:moveTo>
                  <a:pt x="18224" y="0"/>
                </a:moveTo>
                <a:lnTo>
                  <a:pt x="2090610" y="0"/>
                </a:lnTo>
                <a:cubicBezTo>
                  <a:pt x="2100644" y="0"/>
                  <a:pt x="2108835" y="8191"/>
                  <a:pt x="2108835" y="18224"/>
                </a:cubicBezTo>
                <a:lnTo>
                  <a:pt x="2108835" y="75501"/>
                </a:lnTo>
                <a:cubicBezTo>
                  <a:pt x="2108835" y="85535"/>
                  <a:pt x="2100644" y="93726"/>
                  <a:pt x="2090610" y="93726"/>
                </a:cubicBezTo>
                <a:lnTo>
                  <a:pt x="18224" y="93726"/>
                </a:lnTo>
                <a:cubicBezTo>
                  <a:pt x="8191" y="93726"/>
                  <a:pt x="0" y="85535"/>
                  <a:pt x="0" y="75501"/>
                </a:cubicBezTo>
                <a:lnTo>
                  <a:pt x="0" y="18224"/>
                </a:lnTo>
                <a:cubicBezTo>
                  <a:pt x="0" y="8191"/>
                  <a:pt x="8191" y="0"/>
                  <a:pt x="18224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58" name="m-d44_stream-sum-bar"/>
          <p:cNvSpPr/>
          <p:nvPr/>
        </p:nvSpPr>
        <p:spPr>
          <a:xfrm>
            <a:off x="-249238" y="7003796"/>
            <a:ext cx="6509" cy="93726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59" name="m-d44_stream-sum-h"/>
          <p:cNvSpPr txBox="1"/>
          <p:nvPr/>
        </p:nvSpPr>
        <p:spPr>
          <a:xfrm>
            <a:off x="-210237" y="7036346"/>
            <a:ext cx="118850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结构判断</a:t>
            </a:r>
          </a:p>
        </p:txBody>
      </p:sp>
      <p:sp>
        <p:nvSpPr>
          <p:cNvPr id="1960" name="m-d44_stream-sum-p"/>
          <p:cNvSpPr txBox="1"/>
          <p:nvPr/>
        </p:nvSpPr>
        <p:spPr>
          <a:xfrm>
            <a:off x="-56709" y="7035542"/>
            <a:ext cx="901917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五年营收从 6.8 亿增至 11.8 亿；新增的 5 亿里，云与数据服务贡献了 4.5 亿。</a:t>
            </a:r>
          </a:p>
        </p:txBody>
      </p:sp>
      <p:cxnSp>
        <p:nvCxnSpPr>
          <p:cNvPr id="1961" name="m-d44_stream-foot-line"/>
          <p:cNvCxnSpPr/>
          <p:nvPr/>
        </p:nvCxnSpPr>
        <p:spPr>
          <a:xfrm>
            <a:off x="-324739" y="71417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62" name="m-d44_stream-foot-l"/>
          <p:cNvSpPr txBox="1"/>
          <p:nvPr/>
        </p:nvSpPr>
        <p:spPr>
          <a:xfrm>
            <a:off x="-326926" y="7155723"/>
            <a:ext cx="19411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河流图 · 五年五类</a:t>
            </a:r>
          </a:p>
        </p:txBody>
      </p:sp>
      <p:sp>
        <p:nvSpPr>
          <p:cNvPr id="1963" name="m-d44_stream-foot-r"/>
          <p:cNvSpPr txBox="1"/>
          <p:nvPr/>
        </p:nvSpPr>
        <p:spPr>
          <a:xfrm>
            <a:off x="1677509" y="71557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1964" name="mini-card-c02_swot"/>
          <p:cNvSpPr/>
          <p:nvPr/>
        </p:nvSpPr>
        <p:spPr>
          <a:xfrm>
            <a:off x="2171700" y="58166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0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0" y="1405890"/>
                </a:lnTo>
                <a:cubicBezTo>
                  <a:pt x="35877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7"/>
                  <a:pt x="35877" y="0"/>
                  <a:pt x="80200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65" name="m-c02_swot-title-bar"/>
          <p:cNvSpPr/>
          <p:nvPr/>
        </p:nvSpPr>
        <p:spPr>
          <a:xfrm>
            <a:off x="2291461" y="59155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66" name="m-c02_swot-title-bar-accent"/>
          <p:cNvSpPr/>
          <p:nvPr/>
        </p:nvSpPr>
        <p:spPr>
          <a:xfrm>
            <a:off x="2291461" y="59155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67" name="m-c02_swot-title-cn"/>
          <p:cNvSpPr txBox="1"/>
          <p:nvPr/>
        </p:nvSpPr>
        <p:spPr>
          <a:xfrm>
            <a:off x="2323640" y="5898168"/>
            <a:ext cx="487896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SWOT 战略分析</a:t>
            </a:r>
          </a:p>
        </p:txBody>
      </p:sp>
      <p:sp>
        <p:nvSpPr>
          <p:cNvPr id="1968" name="m-c02_swot-title-en"/>
          <p:cNvSpPr txBox="1"/>
          <p:nvPr/>
        </p:nvSpPr>
        <p:spPr>
          <a:xfrm>
            <a:off x="2330930" y="5985450"/>
            <a:ext cx="25907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SWOT ANALYSIS</a:t>
            </a:r>
          </a:p>
        </p:txBody>
      </p:sp>
      <p:sp>
        <p:nvSpPr>
          <p:cNvPr id="1969" name="m-c02_swot-title-sub"/>
          <p:cNvSpPr txBox="1"/>
          <p:nvPr/>
        </p:nvSpPr>
        <p:spPr>
          <a:xfrm>
            <a:off x="4065408" y="5954592"/>
            <a:ext cx="488547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内外部四个维度，识别优势与风险并匹配对策</a:t>
            </a:r>
          </a:p>
        </p:txBody>
      </p:sp>
      <p:sp>
        <p:nvSpPr>
          <p:cNvPr id="1970" name="m-c02_swot-ax-1"/>
          <p:cNvSpPr txBox="1"/>
          <p:nvPr/>
        </p:nvSpPr>
        <p:spPr>
          <a:xfrm>
            <a:off x="3267435" y="6052223"/>
            <a:ext cx="118850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2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积极因素</a:t>
            </a:r>
          </a:p>
        </p:txBody>
      </p:sp>
      <p:sp>
        <p:nvSpPr>
          <p:cNvPr id="1971" name="m-c02_swot-ax-2"/>
          <p:cNvSpPr txBox="1"/>
          <p:nvPr/>
        </p:nvSpPr>
        <p:spPr>
          <a:xfrm>
            <a:off x="3438251" y="6052223"/>
            <a:ext cx="118850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消极因素</a:t>
            </a:r>
          </a:p>
        </p:txBody>
      </p:sp>
      <p:sp>
        <p:nvSpPr>
          <p:cNvPr id="1972" name="m-c02_swot-ax-dot"/>
          <p:cNvSpPr/>
          <p:nvPr/>
        </p:nvSpPr>
        <p:spPr>
          <a:xfrm>
            <a:off x="3407061" y="6066536"/>
            <a:ext cx="10414" cy="10414"/>
          </a:xfrm>
          <a:prstGeom prst="ellipse">
            <a:avLst/>
          </a:prstGeom>
          <a:solidFill>
            <a:srgbClr val="0B2545">
              <a:alpha val="2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73" name="m-c02_swot-ax-3"/>
          <p:cNvSpPr txBox="1"/>
          <p:nvPr/>
        </p:nvSpPr>
        <p:spPr>
          <a:xfrm>
            <a:off x="4483712" y="6285542"/>
            <a:ext cx="65608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内部</a:t>
            </a:r>
          </a:p>
        </p:txBody>
      </p:sp>
      <p:sp>
        <p:nvSpPr>
          <p:cNvPr id="1974" name="m-c02_swot-ax-4"/>
          <p:cNvSpPr txBox="1"/>
          <p:nvPr/>
        </p:nvSpPr>
        <p:spPr>
          <a:xfrm>
            <a:off x="4483712" y="6699499"/>
            <a:ext cx="65608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外部</a:t>
            </a:r>
          </a:p>
        </p:txBody>
      </p:sp>
      <p:cxnSp>
        <p:nvCxnSpPr>
          <p:cNvPr id="1975" name="m-c02_swot-ax-v"/>
          <p:cNvCxnSpPr/>
          <p:nvPr/>
        </p:nvCxnSpPr>
        <p:spPr>
          <a:xfrm>
            <a:off x="3412268" y="6095174"/>
            <a:ext cx="0" cy="812292"/>
          </a:xfrm>
          <a:prstGeom prst="line">
            <a:avLst/>
          </a:prstGeom>
          <a:ln w="2540" cap="rnd">
            <a:solidFill>
              <a:srgbClr val="0B2545">
                <a:alpha val="14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76" name="m-c02_swot-ax-h"/>
          <p:cNvCxnSpPr/>
          <p:nvPr/>
        </p:nvCxnSpPr>
        <p:spPr>
          <a:xfrm>
            <a:off x="2348738" y="6510433"/>
            <a:ext cx="2127059" cy="0"/>
          </a:xfrm>
          <a:prstGeom prst="line">
            <a:avLst/>
          </a:prstGeom>
          <a:ln w="2540" cap="rnd">
            <a:solidFill>
              <a:srgbClr val="0B2545">
                <a:alpha val="14000"/>
              </a:srgbClr>
            </a:solidFill>
            <a:prstDash val="sysDot"/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77" name="m-c02_swot-cell-S"/>
          <p:cNvSpPr/>
          <p:nvPr/>
        </p:nvSpPr>
        <p:spPr>
          <a:xfrm>
            <a:off x="2366962" y="6113399"/>
            <a:ext cx="1028383" cy="380111"/>
          </a:xfrm>
          <a:custGeom>
            <a:avLst/>
            <a:gdLst/>
            <a:ahLst/>
            <a:cxnLst/>
            <a:rect l="0" t="0" r="r" b="b"/>
            <a:pathLst>
              <a:path w="1028383" h="380111">
                <a:moveTo>
                  <a:pt x="26035" y="0"/>
                </a:moveTo>
                <a:lnTo>
                  <a:pt x="1002348" y="0"/>
                </a:lnTo>
                <a:cubicBezTo>
                  <a:pt x="1016762" y="0"/>
                  <a:pt x="1028383" y="11621"/>
                  <a:pt x="1028383" y="26035"/>
                </a:cubicBezTo>
                <a:lnTo>
                  <a:pt x="1028383" y="354076"/>
                </a:lnTo>
                <a:cubicBezTo>
                  <a:pt x="1028383" y="368490"/>
                  <a:pt x="1016762" y="380111"/>
                  <a:pt x="1002348" y="380111"/>
                </a:cubicBezTo>
                <a:lnTo>
                  <a:pt x="26035" y="380111"/>
                </a:lnTo>
                <a:cubicBezTo>
                  <a:pt x="11620" y="380111"/>
                  <a:pt x="0" y="368490"/>
                  <a:pt x="0" y="354076"/>
                </a:cubicBezTo>
                <a:lnTo>
                  <a:pt x="0" y="26035"/>
                </a:lnTo>
                <a:cubicBezTo>
                  <a:pt x="0" y="11621"/>
                  <a:pt x="11620" y="0"/>
                  <a:pt x="26035" y="0"/>
                </a:cubicBezTo>
                <a:close/>
              </a:path>
            </a:pathLst>
          </a:custGeom>
          <a:gradFill rotWithShape="1">
            <a:gsLst>
              <a:gs pos="0">
                <a:srgbClr val="134C9C"/>
              </a:gs>
              <a:gs pos="100000">
                <a:srgbClr val="0B3E8F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78" name="m-c02_swot-wm-S"/>
          <p:cNvSpPr txBox="1"/>
          <p:nvPr/>
        </p:nvSpPr>
        <p:spPr>
          <a:xfrm>
            <a:off x="3169674" y="6105016"/>
            <a:ext cx="197658" cy="23691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07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alpha val="18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S</a:t>
            </a:r>
          </a:p>
        </p:txBody>
      </p:sp>
      <p:sp>
        <p:nvSpPr>
          <p:cNvPr id="1979" name="m-c02_swot-icon-shield"/>
          <p:cNvSpPr/>
          <p:nvPr/>
        </p:nvSpPr>
        <p:spPr>
          <a:xfrm>
            <a:off x="2415096" y="6167120"/>
            <a:ext cx="23431" cy="27940"/>
          </a:xfrm>
          <a:custGeom>
            <a:avLst/>
            <a:gdLst/>
            <a:ahLst/>
            <a:cxnLst/>
            <a:rect l="0" t="0" r="r" b="b"/>
            <a:pathLst>
              <a:path w="23431" h="27940">
                <a:moveTo>
                  <a:pt x="11748" y="0"/>
                </a:moveTo>
                <a:lnTo>
                  <a:pt x="23431" y="4508"/>
                </a:lnTo>
                <a:lnTo>
                  <a:pt x="23431" y="13652"/>
                </a:lnTo>
                <a:cubicBezTo>
                  <a:pt x="23431" y="20447"/>
                  <a:pt x="18606" y="25717"/>
                  <a:pt x="11748" y="27940"/>
                </a:cubicBezTo>
                <a:cubicBezTo>
                  <a:pt x="4890" y="25717"/>
                  <a:pt x="0" y="20447"/>
                  <a:pt x="0" y="13652"/>
                </a:cubicBezTo>
                <a:lnTo>
                  <a:pt x="0" y="4508"/>
                </a:lnTo>
                <a:close/>
                <a:moveTo>
                  <a:pt x="6858" y="13970"/>
                </a:moveTo>
                <a:lnTo>
                  <a:pt x="10478" y="17526"/>
                </a:lnTo>
                <a:lnTo>
                  <a:pt x="17272" y="10731"/>
                </a:lnTo>
              </a:path>
            </a:pathLst>
          </a:custGeom>
          <a:noFill/>
          <a:ln w="254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80" name="m-c02_swot-cn-S"/>
          <p:cNvSpPr txBox="1"/>
          <p:nvPr/>
        </p:nvSpPr>
        <p:spPr>
          <a:xfrm>
            <a:off x="2469645" y="6128877"/>
            <a:ext cx="178860" cy="59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70" b="1" i="0" u="none" strike="noStrike" kern="1200" cap="none" spc="26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内部优势</a:t>
            </a:r>
          </a:p>
        </p:txBody>
      </p:sp>
      <p:sp>
        <p:nvSpPr>
          <p:cNvPr id="1981" name="m-c02_swot-en-S"/>
          <p:cNvSpPr txBox="1"/>
          <p:nvPr/>
        </p:nvSpPr>
        <p:spPr>
          <a:xfrm>
            <a:off x="2471519" y="6182014"/>
            <a:ext cx="14340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31" normalizeH="0" baseline="0" noProof="0">
                <a:ln>
                  <a:noFill/>
                </a:ln>
                <a:solidFill>
                  <a:srgbClr val="FFFFFF">
                    <a:alpha val="6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STRENGTHS</a:t>
            </a:r>
          </a:p>
        </p:txBody>
      </p:sp>
      <p:sp>
        <p:nvSpPr>
          <p:cNvPr id="1982" name="m-c02_swot-rule-S"/>
          <p:cNvSpPr/>
          <p:nvPr/>
        </p:nvSpPr>
        <p:spPr>
          <a:xfrm>
            <a:off x="2426843" y="6235764"/>
            <a:ext cx="62484" cy="3124"/>
          </a:xfrm>
          <a:prstGeom prst="roundRect">
            <a:avLst>
              <a:gd name="adj" fmla="val 24599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83" name="m-c02_swot-d-S-1"/>
          <p:cNvSpPr/>
          <p:nvPr/>
        </p:nvSpPr>
        <p:spPr>
          <a:xfrm>
            <a:off x="2430228" y="6283408"/>
            <a:ext cx="8852" cy="8852"/>
          </a:xfrm>
          <a:prstGeom prst="ellipse">
            <a:avLst/>
          </a:prstGeom>
          <a:solidFill>
            <a:srgbClr val="FFFFF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84" name="m-c02_swot-p-S-1"/>
          <p:cNvSpPr txBox="1"/>
          <p:nvPr/>
        </p:nvSpPr>
        <p:spPr>
          <a:xfrm>
            <a:off x="2455351" y="6267510"/>
            <a:ext cx="306627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FFFFFF">
                    <a:alpha val="9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自研技术壁垒，专利 86 项</a:t>
            </a:r>
          </a:p>
        </p:txBody>
      </p:sp>
      <p:sp>
        <p:nvSpPr>
          <p:cNvPr id="1985" name="m-c02_swot-d-S-2"/>
          <p:cNvSpPr/>
          <p:nvPr/>
        </p:nvSpPr>
        <p:spPr>
          <a:xfrm>
            <a:off x="2430228" y="6343288"/>
            <a:ext cx="8852" cy="8852"/>
          </a:xfrm>
          <a:prstGeom prst="ellipse">
            <a:avLst/>
          </a:prstGeom>
          <a:solidFill>
            <a:srgbClr val="FFFFF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86" name="m-c02_swot-p-S-2"/>
          <p:cNvSpPr txBox="1"/>
          <p:nvPr/>
        </p:nvSpPr>
        <p:spPr>
          <a:xfrm>
            <a:off x="2455351" y="6327390"/>
            <a:ext cx="32992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FFFFFF">
                    <a:alpha val="9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渠道覆盖 28 省，网点超千家</a:t>
            </a:r>
          </a:p>
        </p:txBody>
      </p:sp>
      <p:sp>
        <p:nvSpPr>
          <p:cNvPr id="1987" name="m-c02_swot-d-S-3"/>
          <p:cNvSpPr/>
          <p:nvPr/>
        </p:nvSpPr>
        <p:spPr>
          <a:xfrm>
            <a:off x="2430228" y="6403169"/>
            <a:ext cx="8852" cy="8852"/>
          </a:xfrm>
          <a:prstGeom prst="ellipse">
            <a:avLst/>
          </a:prstGeom>
          <a:solidFill>
            <a:srgbClr val="FFFFF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88" name="m-c02_swot-p-S-3"/>
          <p:cNvSpPr txBox="1"/>
          <p:nvPr/>
        </p:nvSpPr>
        <p:spPr>
          <a:xfrm>
            <a:off x="2455351" y="6387271"/>
            <a:ext cx="319905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FFFFFF">
                    <a:alpha val="9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核心团队稳定，司龄 6.2 年</a:t>
            </a:r>
          </a:p>
        </p:txBody>
      </p:sp>
      <p:sp>
        <p:nvSpPr>
          <p:cNvPr id="1989" name="m-c02_swot-cell-W"/>
          <p:cNvSpPr/>
          <p:nvPr/>
        </p:nvSpPr>
        <p:spPr>
          <a:xfrm>
            <a:off x="3429190" y="6113399"/>
            <a:ext cx="1028383" cy="380111"/>
          </a:xfrm>
          <a:custGeom>
            <a:avLst/>
            <a:gdLst/>
            <a:ahLst/>
            <a:cxnLst/>
            <a:rect l="0" t="0" r="r" b="b"/>
            <a:pathLst>
              <a:path w="1028383" h="380111">
                <a:moveTo>
                  <a:pt x="26035" y="0"/>
                </a:moveTo>
                <a:lnTo>
                  <a:pt x="1002348" y="0"/>
                </a:lnTo>
                <a:cubicBezTo>
                  <a:pt x="1016762" y="0"/>
                  <a:pt x="1028383" y="11621"/>
                  <a:pt x="1028383" y="26035"/>
                </a:cubicBezTo>
                <a:lnTo>
                  <a:pt x="1028383" y="354076"/>
                </a:lnTo>
                <a:cubicBezTo>
                  <a:pt x="1028383" y="368490"/>
                  <a:pt x="1016762" y="380111"/>
                  <a:pt x="1002348" y="380111"/>
                </a:cubicBezTo>
                <a:lnTo>
                  <a:pt x="26035" y="380111"/>
                </a:lnTo>
                <a:cubicBezTo>
                  <a:pt x="11621" y="380111"/>
                  <a:pt x="0" y="368490"/>
                  <a:pt x="0" y="354076"/>
                </a:cubicBezTo>
                <a:lnTo>
                  <a:pt x="0" y="26035"/>
                </a:lnTo>
                <a:cubicBezTo>
                  <a:pt x="0" y="11621"/>
                  <a:pt x="11621" y="0"/>
                  <a:pt x="26035" y="0"/>
                </a:cubicBezTo>
                <a:close/>
              </a:path>
            </a:pathLst>
          </a:custGeom>
          <a:gradFill rotWithShape="1">
            <a:gsLst>
              <a:gs pos="0">
                <a:srgbClr val="E7EDF5"/>
              </a:gs>
              <a:gs pos="100000">
                <a:srgbClr val="DDE5F0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90" name="m-c02_swot-wm-W"/>
          <p:cNvSpPr txBox="1"/>
          <p:nvPr/>
        </p:nvSpPr>
        <p:spPr>
          <a:xfrm>
            <a:off x="4231902" y="6105016"/>
            <a:ext cx="197658" cy="23691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070" b="1" i="0" u="none" strike="noStrike" kern="1200" cap="none" spc="0" normalizeH="0" baseline="0" noProof="0">
                <a:ln>
                  <a:noFill/>
                </a:ln>
                <a:solidFill>
                  <a:srgbClr val="9FB2C9">
                    <a:alpha val="34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W</a:t>
            </a:r>
          </a:p>
        </p:txBody>
      </p:sp>
      <p:sp>
        <p:nvSpPr>
          <p:cNvPr id="1991" name="m-c02_swot-icon-search"/>
          <p:cNvSpPr/>
          <p:nvPr/>
        </p:nvSpPr>
        <p:spPr>
          <a:xfrm>
            <a:off x="3494596" y="6186614"/>
            <a:ext cx="6540" cy="6540"/>
          </a:xfrm>
          <a:custGeom>
            <a:avLst/>
            <a:gdLst/>
            <a:ahLst/>
            <a:cxnLst/>
            <a:rect l="0" t="0" r="r" b="b"/>
            <a:pathLst>
              <a:path w="6540" h="6540">
                <a:moveTo>
                  <a:pt x="6540" y="6540"/>
                </a:moveTo>
                <a:lnTo>
                  <a:pt x="0" y="0"/>
                </a:lnTo>
              </a:path>
            </a:pathLst>
          </a:custGeom>
          <a:noFill/>
          <a:ln w="2540" cap="rnd">
            <a:solidFill>
              <a:srgbClr val="41587A">
                <a:alpha val="8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92" name="m-c02_swot-icon-search"/>
          <p:cNvSpPr/>
          <p:nvPr/>
        </p:nvSpPr>
        <p:spPr>
          <a:xfrm>
            <a:off x="3477030" y="6169049"/>
            <a:ext cx="20828" cy="20828"/>
          </a:xfrm>
          <a:prstGeom prst="ellipse">
            <a:avLst/>
          </a:prstGeom>
          <a:noFill/>
          <a:ln w="2540" cap="rnd">
            <a:solidFill>
              <a:srgbClr val="41587A">
                <a:alpha val="8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93" name="m-c02_swot-cn-W"/>
          <p:cNvSpPr txBox="1"/>
          <p:nvPr/>
        </p:nvSpPr>
        <p:spPr>
          <a:xfrm>
            <a:off x="3531873" y="6128877"/>
            <a:ext cx="178860" cy="59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70" b="1" i="0" u="none" strike="noStrike" kern="1200" cap="none" spc="26" normalizeH="0" baseline="0" noProof="0">
                <a:ln>
                  <a:noFill/>
                </a:ln>
                <a:solidFill>
                  <a:srgbClr val="41587A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内部劣势</a:t>
            </a:r>
          </a:p>
        </p:txBody>
      </p:sp>
      <p:sp>
        <p:nvSpPr>
          <p:cNvPr id="1994" name="m-c02_swot-en-W"/>
          <p:cNvSpPr txBox="1"/>
          <p:nvPr/>
        </p:nvSpPr>
        <p:spPr>
          <a:xfrm>
            <a:off x="3533747" y="6182014"/>
            <a:ext cx="15751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31" normalizeH="0" baseline="0" noProof="0">
                <a:ln>
                  <a:noFill/>
                </a:ln>
                <a:solidFill>
                  <a:srgbClr val="41587A">
                    <a:alpha val="6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WEAKNESSES</a:t>
            </a:r>
          </a:p>
        </p:txBody>
      </p:sp>
      <p:sp>
        <p:nvSpPr>
          <p:cNvPr id="1995" name="m-c02_swot-rule-W"/>
          <p:cNvSpPr/>
          <p:nvPr/>
        </p:nvSpPr>
        <p:spPr>
          <a:xfrm>
            <a:off x="3489071" y="6235764"/>
            <a:ext cx="62484" cy="3124"/>
          </a:xfrm>
          <a:prstGeom prst="roundRect">
            <a:avLst>
              <a:gd name="adj" fmla="val 24599"/>
            </a:avLst>
          </a:prstGeom>
          <a:solidFill>
            <a:srgbClr val="41587A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96" name="m-c02_swot-d-W-1"/>
          <p:cNvSpPr/>
          <p:nvPr/>
        </p:nvSpPr>
        <p:spPr>
          <a:xfrm>
            <a:off x="3492456" y="6283408"/>
            <a:ext cx="8852" cy="8852"/>
          </a:xfrm>
          <a:prstGeom prst="ellipse">
            <a:avLst/>
          </a:prstGeom>
          <a:solidFill>
            <a:srgbClr val="41587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97" name="m-c02_swot-p-W-1"/>
          <p:cNvSpPr txBox="1"/>
          <p:nvPr/>
        </p:nvSpPr>
        <p:spPr>
          <a:xfrm>
            <a:off x="3517579" y="6267510"/>
            <a:ext cx="206913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41587A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海外市场经验不足</a:t>
            </a:r>
          </a:p>
        </p:txBody>
      </p:sp>
      <p:sp>
        <p:nvSpPr>
          <p:cNvPr id="1998" name="m-c02_swot-d-W-2"/>
          <p:cNvSpPr/>
          <p:nvPr/>
        </p:nvSpPr>
        <p:spPr>
          <a:xfrm>
            <a:off x="3492456" y="6343288"/>
            <a:ext cx="8852" cy="8852"/>
          </a:xfrm>
          <a:prstGeom prst="ellipse">
            <a:avLst/>
          </a:prstGeom>
          <a:solidFill>
            <a:srgbClr val="41587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99" name="m-c02_swot-p-W-2"/>
          <p:cNvSpPr txBox="1"/>
          <p:nvPr/>
        </p:nvSpPr>
        <p:spPr>
          <a:xfrm>
            <a:off x="3517579" y="6327390"/>
            <a:ext cx="253516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41587A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高端产线产能仍有缺口</a:t>
            </a:r>
          </a:p>
        </p:txBody>
      </p:sp>
      <p:sp>
        <p:nvSpPr>
          <p:cNvPr id="2000" name="m-c02_swot-d-W-3"/>
          <p:cNvSpPr/>
          <p:nvPr/>
        </p:nvSpPr>
        <p:spPr>
          <a:xfrm>
            <a:off x="3492456" y="6403169"/>
            <a:ext cx="8852" cy="8852"/>
          </a:xfrm>
          <a:prstGeom prst="ellipse">
            <a:avLst/>
          </a:prstGeom>
          <a:solidFill>
            <a:srgbClr val="41587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01" name="m-c02_swot-p-W-3"/>
          <p:cNvSpPr txBox="1"/>
          <p:nvPr/>
        </p:nvSpPr>
        <p:spPr>
          <a:xfrm>
            <a:off x="3517579" y="6387271"/>
            <a:ext cx="276817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41587A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品牌认知集中在华东地区</a:t>
            </a:r>
          </a:p>
        </p:txBody>
      </p:sp>
      <p:sp>
        <p:nvSpPr>
          <p:cNvPr id="2002" name="m-c02_swot-cell-O"/>
          <p:cNvSpPr/>
          <p:nvPr/>
        </p:nvSpPr>
        <p:spPr>
          <a:xfrm>
            <a:off x="2366962" y="6527356"/>
            <a:ext cx="1028383" cy="380111"/>
          </a:xfrm>
          <a:custGeom>
            <a:avLst/>
            <a:gdLst/>
            <a:ahLst/>
            <a:cxnLst/>
            <a:rect l="0" t="0" r="r" b="b"/>
            <a:pathLst>
              <a:path w="1028383" h="380111">
                <a:moveTo>
                  <a:pt x="26035" y="0"/>
                </a:moveTo>
                <a:lnTo>
                  <a:pt x="1002348" y="0"/>
                </a:lnTo>
                <a:cubicBezTo>
                  <a:pt x="1016762" y="0"/>
                  <a:pt x="1028383" y="11620"/>
                  <a:pt x="1028383" y="26035"/>
                </a:cubicBezTo>
                <a:lnTo>
                  <a:pt x="1028383" y="354076"/>
                </a:lnTo>
                <a:cubicBezTo>
                  <a:pt x="1028383" y="368490"/>
                  <a:pt x="1016762" y="380111"/>
                  <a:pt x="1002348" y="380111"/>
                </a:cubicBezTo>
                <a:lnTo>
                  <a:pt x="26035" y="380111"/>
                </a:lnTo>
                <a:cubicBezTo>
                  <a:pt x="11620" y="380111"/>
                  <a:pt x="0" y="368490"/>
                  <a:pt x="0" y="354076"/>
                </a:cubicBezTo>
                <a:lnTo>
                  <a:pt x="0" y="26035"/>
                </a:lnTo>
                <a:cubicBezTo>
                  <a:pt x="0" y="11620"/>
                  <a:pt x="11620" y="0"/>
                  <a:pt x="26035" y="0"/>
                </a:cubicBezTo>
                <a:close/>
              </a:path>
            </a:pathLst>
          </a:custGeom>
          <a:gradFill rotWithShape="1">
            <a:gsLst>
              <a:gs pos="0">
                <a:srgbClr val="2E77C2"/>
              </a:gs>
              <a:gs pos="100000">
                <a:srgbClr val="1B5AA8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03" name="m-c02_swot-wm-O"/>
          <p:cNvSpPr txBox="1"/>
          <p:nvPr/>
        </p:nvSpPr>
        <p:spPr>
          <a:xfrm>
            <a:off x="3169674" y="6518972"/>
            <a:ext cx="197658" cy="23691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07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alpha val="18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O</a:t>
            </a:r>
          </a:p>
        </p:txBody>
      </p:sp>
      <p:sp>
        <p:nvSpPr>
          <p:cNvPr id="2004" name="m-c02_swot-icon-rocket"/>
          <p:cNvSpPr/>
          <p:nvPr/>
        </p:nvSpPr>
        <p:spPr>
          <a:xfrm>
            <a:off x="2416112" y="6580759"/>
            <a:ext cx="21463" cy="26988"/>
          </a:xfrm>
          <a:custGeom>
            <a:avLst/>
            <a:gdLst/>
            <a:ahLst/>
            <a:cxnLst/>
            <a:rect l="0" t="0" r="r" b="b"/>
            <a:pathLst>
              <a:path w="21463" h="26988">
                <a:moveTo>
                  <a:pt x="10731" y="0"/>
                </a:moveTo>
                <a:cubicBezTo>
                  <a:pt x="15621" y="3556"/>
                  <a:pt x="18225" y="9081"/>
                  <a:pt x="18225" y="14923"/>
                </a:cubicBezTo>
                <a:lnTo>
                  <a:pt x="14669" y="20828"/>
                </a:lnTo>
                <a:lnTo>
                  <a:pt x="6794" y="20828"/>
                </a:lnTo>
                <a:lnTo>
                  <a:pt x="3238" y="14923"/>
                </a:lnTo>
                <a:cubicBezTo>
                  <a:pt x="3238" y="9081"/>
                  <a:pt x="5842" y="3556"/>
                  <a:pt x="10731" y="0"/>
                </a:cubicBezTo>
                <a:close/>
                <a:moveTo>
                  <a:pt x="3238" y="19495"/>
                </a:moveTo>
                <a:lnTo>
                  <a:pt x="0" y="26988"/>
                </a:lnTo>
                <a:lnTo>
                  <a:pt x="6794" y="24384"/>
                </a:lnTo>
                <a:moveTo>
                  <a:pt x="18225" y="19495"/>
                </a:moveTo>
                <a:lnTo>
                  <a:pt x="21463" y="26988"/>
                </a:lnTo>
                <a:lnTo>
                  <a:pt x="14669" y="24384"/>
                </a:lnTo>
              </a:path>
            </a:pathLst>
          </a:custGeom>
          <a:noFill/>
          <a:ln w="2540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05" name="m-c02_swot-cn-O"/>
          <p:cNvSpPr txBox="1"/>
          <p:nvPr/>
        </p:nvSpPr>
        <p:spPr>
          <a:xfrm>
            <a:off x="2469645" y="6542833"/>
            <a:ext cx="178860" cy="59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70" b="1" i="0" u="none" strike="noStrike" kern="1200" cap="none" spc="26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外部机会</a:t>
            </a:r>
          </a:p>
        </p:txBody>
      </p:sp>
      <p:sp>
        <p:nvSpPr>
          <p:cNvPr id="2006" name="m-c02_swot-en-O"/>
          <p:cNvSpPr txBox="1"/>
          <p:nvPr/>
        </p:nvSpPr>
        <p:spPr>
          <a:xfrm>
            <a:off x="2471519" y="6595971"/>
            <a:ext cx="199845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31" normalizeH="0" baseline="0" noProof="0">
                <a:ln>
                  <a:noFill/>
                </a:ln>
                <a:solidFill>
                  <a:srgbClr val="FFFFFF">
                    <a:alpha val="6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OPPORTUNITIES</a:t>
            </a:r>
          </a:p>
        </p:txBody>
      </p:sp>
      <p:sp>
        <p:nvSpPr>
          <p:cNvPr id="2007" name="m-c02_swot-rule-O"/>
          <p:cNvSpPr/>
          <p:nvPr/>
        </p:nvSpPr>
        <p:spPr>
          <a:xfrm>
            <a:off x="2426843" y="6649720"/>
            <a:ext cx="62484" cy="3124"/>
          </a:xfrm>
          <a:prstGeom prst="roundRect">
            <a:avLst>
              <a:gd name="adj" fmla="val 24599"/>
            </a:avLst>
          </a:prstGeom>
          <a:solidFill>
            <a:srgbClr val="FFFFFF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08" name="m-c02_swot-d-O-1"/>
          <p:cNvSpPr/>
          <p:nvPr/>
        </p:nvSpPr>
        <p:spPr>
          <a:xfrm>
            <a:off x="2430228" y="6697364"/>
            <a:ext cx="8852" cy="8852"/>
          </a:xfrm>
          <a:prstGeom prst="ellipse">
            <a:avLst/>
          </a:prstGeom>
          <a:solidFill>
            <a:srgbClr val="FFFFF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09" name="m-c02_swot-p-O-1"/>
          <p:cNvSpPr txBox="1"/>
          <p:nvPr/>
        </p:nvSpPr>
        <p:spPr>
          <a:xfrm>
            <a:off x="2455351" y="6681466"/>
            <a:ext cx="300118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FFFFFF">
                    <a:alpha val="9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行业数字化渗透率快速提升</a:t>
            </a:r>
          </a:p>
        </p:txBody>
      </p:sp>
      <p:sp>
        <p:nvSpPr>
          <p:cNvPr id="2010" name="m-c02_swot-d-O-2"/>
          <p:cNvSpPr/>
          <p:nvPr/>
        </p:nvSpPr>
        <p:spPr>
          <a:xfrm>
            <a:off x="2430228" y="6757245"/>
            <a:ext cx="8852" cy="8852"/>
          </a:xfrm>
          <a:prstGeom prst="ellipse">
            <a:avLst/>
          </a:prstGeom>
          <a:solidFill>
            <a:srgbClr val="FFFFF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11" name="m-c02_swot-p-O-2"/>
          <p:cNvSpPr txBox="1"/>
          <p:nvPr/>
        </p:nvSpPr>
        <p:spPr>
          <a:xfrm>
            <a:off x="2455351" y="6741347"/>
            <a:ext cx="276817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FFFFFF">
                    <a:alpha val="9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政策补贴向智能制造倾斜</a:t>
            </a:r>
          </a:p>
        </p:txBody>
      </p:sp>
      <p:sp>
        <p:nvSpPr>
          <p:cNvPr id="2012" name="m-c02_swot-d-O-3"/>
          <p:cNvSpPr/>
          <p:nvPr/>
        </p:nvSpPr>
        <p:spPr>
          <a:xfrm>
            <a:off x="2430228" y="6817125"/>
            <a:ext cx="8852" cy="8852"/>
          </a:xfrm>
          <a:prstGeom prst="ellipse">
            <a:avLst/>
          </a:prstGeom>
          <a:solidFill>
            <a:srgbClr val="FFFFFF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13" name="m-c02_swot-p-O-3"/>
          <p:cNvSpPr txBox="1"/>
          <p:nvPr/>
        </p:nvSpPr>
        <p:spPr>
          <a:xfrm>
            <a:off x="2455351" y="6801227"/>
            <a:ext cx="253516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FFFFFF">
                    <a:alpha val="9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下沉市场需求持续释放</a:t>
            </a:r>
          </a:p>
        </p:txBody>
      </p:sp>
      <p:sp>
        <p:nvSpPr>
          <p:cNvPr id="2014" name="m-c02_swot-cell-T"/>
          <p:cNvSpPr/>
          <p:nvPr/>
        </p:nvSpPr>
        <p:spPr>
          <a:xfrm>
            <a:off x="3429190" y="6527356"/>
            <a:ext cx="1028383" cy="380111"/>
          </a:xfrm>
          <a:custGeom>
            <a:avLst/>
            <a:gdLst/>
            <a:ahLst/>
            <a:cxnLst/>
            <a:rect l="0" t="0" r="r" b="b"/>
            <a:pathLst>
              <a:path w="1028383" h="380111">
                <a:moveTo>
                  <a:pt x="26035" y="0"/>
                </a:moveTo>
                <a:lnTo>
                  <a:pt x="1002348" y="0"/>
                </a:lnTo>
                <a:cubicBezTo>
                  <a:pt x="1016762" y="0"/>
                  <a:pt x="1028383" y="11620"/>
                  <a:pt x="1028383" y="26035"/>
                </a:cubicBezTo>
                <a:lnTo>
                  <a:pt x="1028383" y="354076"/>
                </a:lnTo>
                <a:cubicBezTo>
                  <a:pt x="1028383" y="368490"/>
                  <a:pt x="1016762" y="380111"/>
                  <a:pt x="1002348" y="380111"/>
                </a:cubicBezTo>
                <a:lnTo>
                  <a:pt x="26035" y="380111"/>
                </a:lnTo>
                <a:cubicBezTo>
                  <a:pt x="11621" y="380111"/>
                  <a:pt x="0" y="368490"/>
                  <a:pt x="0" y="354076"/>
                </a:cubicBezTo>
                <a:lnTo>
                  <a:pt x="0" y="26035"/>
                </a:lnTo>
                <a:cubicBezTo>
                  <a:pt x="0" y="11620"/>
                  <a:pt x="11621" y="0"/>
                  <a:pt x="26035" y="0"/>
                </a:cubicBezTo>
                <a:close/>
              </a:path>
            </a:pathLst>
          </a:custGeom>
          <a:gradFill rotWithShape="1">
            <a:gsLst>
              <a:gs pos="0">
                <a:srgbClr val="EDF1F7"/>
              </a:gs>
              <a:gs pos="100000">
                <a:srgbClr val="E2E9F3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15" name="m-c02_swot-wm-T"/>
          <p:cNvSpPr txBox="1"/>
          <p:nvPr/>
        </p:nvSpPr>
        <p:spPr>
          <a:xfrm>
            <a:off x="4231902" y="6518972"/>
            <a:ext cx="197658" cy="23691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070" b="1" i="0" u="none" strike="noStrike" kern="1200" cap="none" spc="0" normalizeH="0" baseline="0" noProof="0">
                <a:ln>
                  <a:noFill/>
                </a:ln>
                <a:solidFill>
                  <a:srgbClr val="9FB2C9">
                    <a:alpha val="34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T</a:t>
            </a:r>
          </a:p>
        </p:txBody>
      </p:sp>
      <p:sp>
        <p:nvSpPr>
          <p:cNvPr id="2016" name="m-c02_swot-icon-flag"/>
          <p:cNvSpPr/>
          <p:nvPr/>
        </p:nvSpPr>
        <p:spPr>
          <a:xfrm>
            <a:off x="3479292" y="6582346"/>
            <a:ext cx="15621" cy="26670"/>
          </a:xfrm>
          <a:custGeom>
            <a:avLst/>
            <a:gdLst/>
            <a:ahLst/>
            <a:cxnLst/>
            <a:rect l="0" t="0" r="r" b="b"/>
            <a:pathLst>
              <a:path w="15621" h="26670">
                <a:moveTo>
                  <a:pt x="0" y="26670"/>
                </a:moveTo>
                <a:lnTo>
                  <a:pt x="0" y="0"/>
                </a:lnTo>
                <a:moveTo>
                  <a:pt x="0" y="1334"/>
                </a:moveTo>
                <a:lnTo>
                  <a:pt x="15621" y="1334"/>
                </a:lnTo>
                <a:lnTo>
                  <a:pt x="13018" y="6540"/>
                </a:lnTo>
                <a:lnTo>
                  <a:pt x="15621" y="11748"/>
                </a:lnTo>
                <a:lnTo>
                  <a:pt x="0" y="11748"/>
                </a:lnTo>
              </a:path>
            </a:pathLst>
          </a:custGeom>
          <a:noFill/>
          <a:ln w="2540" cap="rnd">
            <a:solidFill>
              <a:srgbClr val="41587A">
                <a:alpha val="8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17" name="m-c02_swot-cn-T"/>
          <p:cNvSpPr txBox="1"/>
          <p:nvPr/>
        </p:nvSpPr>
        <p:spPr>
          <a:xfrm>
            <a:off x="3531873" y="6542833"/>
            <a:ext cx="178860" cy="592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70" b="1" i="0" u="none" strike="noStrike" kern="1200" cap="none" spc="26" normalizeH="0" baseline="0" noProof="0">
                <a:ln>
                  <a:noFill/>
                </a:ln>
                <a:solidFill>
                  <a:srgbClr val="41587A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外部威胁</a:t>
            </a:r>
          </a:p>
        </p:txBody>
      </p:sp>
      <p:sp>
        <p:nvSpPr>
          <p:cNvPr id="2018" name="m-c02_swot-en-T"/>
          <p:cNvSpPr txBox="1"/>
          <p:nvPr/>
        </p:nvSpPr>
        <p:spPr>
          <a:xfrm>
            <a:off x="3533747" y="6595971"/>
            <a:ext cx="11517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31" normalizeH="0" baseline="0" noProof="0">
                <a:ln>
                  <a:noFill/>
                </a:ln>
                <a:solidFill>
                  <a:srgbClr val="41587A">
                    <a:alpha val="60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THREATS</a:t>
            </a:r>
          </a:p>
        </p:txBody>
      </p:sp>
      <p:sp>
        <p:nvSpPr>
          <p:cNvPr id="2019" name="m-c02_swot-rule-T"/>
          <p:cNvSpPr/>
          <p:nvPr/>
        </p:nvSpPr>
        <p:spPr>
          <a:xfrm>
            <a:off x="3489071" y="6649720"/>
            <a:ext cx="62484" cy="3124"/>
          </a:xfrm>
          <a:prstGeom prst="roundRect">
            <a:avLst>
              <a:gd name="adj" fmla="val 24599"/>
            </a:avLst>
          </a:prstGeom>
          <a:solidFill>
            <a:srgbClr val="41587A">
              <a:alpha val="5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20" name="m-c02_swot-d-T-1"/>
          <p:cNvSpPr/>
          <p:nvPr/>
        </p:nvSpPr>
        <p:spPr>
          <a:xfrm>
            <a:off x="3492456" y="6697364"/>
            <a:ext cx="8852" cy="8852"/>
          </a:xfrm>
          <a:prstGeom prst="ellipse">
            <a:avLst/>
          </a:prstGeom>
          <a:solidFill>
            <a:srgbClr val="41587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21" name="m-c02_swot-p-T-1"/>
          <p:cNvSpPr txBox="1"/>
          <p:nvPr/>
        </p:nvSpPr>
        <p:spPr>
          <a:xfrm>
            <a:off x="3517579" y="6681466"/>
            <a:ext cx="230214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41587A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头部厂商价格战加剧</a:t>
            </a:r>
          </a:p>
        </p:txBody>
      </p:sp>
      <p:sp>
        <p:nvSpPr>
          <p:cNvPr id="2022" name="m-c02_swot-d-T-2"/>
          <p:cNvSpPr/>
          <p:nvPr/>
        </p:nvSpPr>
        <p:spPr>
          <a:xfrm>
            <a:off x="3492456" y="6757245"/>
            <a:ext cx="8852" cy="8852"/>
          </a:xfrm>
          <a:prstGeom prst="ellipse">
            <a:avLst/>
          </a:prstGeom>
          <a:solidFill>
            <a:srgbClr val="41587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23" name="m-c02_swot-p-T-2"/>
          <p:cNvSpPr txBox="1"/>
          <p:nvPr/>
        </p:nvSpPr>
        <p:spPr>
          <a:xfrm>
            <a:off x="3517579" y="6741347"/>
            <a:ext cx="230214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41587A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上游原材料成本波动</a:t>
            </a:r>
          </a:p>
        </p:txBody>
      </p:sp>
      <p:sp>
        <p:nvSpPr>
          <p:cNvPr id="2024" name="m-c02_swot-d-T-3"/>
          <p:cNvSpPr/>
          <p:nvPr/>
        </p:nvSpPr>
        <p:spPr>
          <a:xfrm>
            <a:off x="3492456" y="6817125"/>
            <a:ext cx="8852" cy="8852"/>
          </a:xfrm>
          <a:prstGeom prst="ellipse">
            <a:avLst/>
          </a:prstGeom>
          <a:solidFill>
            <a:srgbClr val="41587A">
              <a:alpha val="5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25" name="m-c02_swot-p-T-3"/>
          <p:cNvSpPr txBox="1"/>
          <p:nvPr/>
        </p:nvSpPr>
        <p:spPr>
          <a:xfrm>
            <a:off x="3517579" y="6801227"/>
            <a:ext cx="230214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41587A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同类产品同质化明显</a:t>
            </a:r>
          </a:p>
        </p:txBody>
      </p:sp>
      <p:sp>
        <p:nvSpPr>
          <p:cNvPr id="2026" name="m-c02_swot-st-panel"/>
          <p:cNvSpPr/>
          <p:nvPr/>
        </p:nvSpPr>
        <p:spPr>
          <a:xfrm>
            <a:off x="2366962" y="6946519"/>
            <a:ext cx="2090610" cy="124968"/>
          </a:xfrm>
          <a:custGeom>
            <a:avLst/>
            <a:gdLst/>
            <a:ahLst/>
            <a:cxnLst/>
            <a:rect l="0" t="0" r="r" b="b"/>
            <a:pathLst>
              <a:path w="2090610" h="124968">
                <a:moveTo>
                  <a:pt x="20828" y="0"/>
                </a:moveTo>
                <a:lnTo>
                  <a:pt x="2069783" y="0"/>
                </a:lnTo>
                <a:cubicBezTo>
                  <a:pt x="2081276" y="0"/>
                  <a:pt x="2090610" y="9335"/>
                  <a:pt x="2090610" y="20828"/>
                </a:cubicBezTo>
                <a:lnTo>
                  <a:pt x="2090610" y="104140"/>
                </a:lnTo>
                <a:cubicBezTo>
                  <a:pt x="2090610" y="115634"/>
                  <a:pt x="2081276" y="124968"/>
                  <a:pt x="2069783" y="124968"/>
                </a:cubicBezTo>
                <a:lnTo>
                  <a:pt x="20828" y="124968"/>
                </a:lnTo>
                <a:cubicBezTo>
                  <a:pt x="9335" y="124968"/>
                  <a:pt x="0" y="115634"/>
                  <a:pt x="0" y="104140"/>
                </a:cubicBezTo>
                <a:lnTo>
                  <a:pt x="0" y="20828"/>
                </a:lnTo>
                <a:cubicBezTo>
                  <a:pt x="0" y="9335"/>
                  <a:pt x="9335" y="0"/>
                  <a:pt x="20828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27" name="m-c02_swot-st-bar-1"/>
          <p:cNvSpPr/>
          <p:nvPr/>
        </p:nvSpPr>
        <p:spPr>
          <a:xfrm>
            <a:off x="2406015" y="6980364"/>
            <a:ext cx="5207" cy="57277"/>
          </a:xfrm>
          <a:prstGeom prst="roundRect">
            <a:avLst>
              <a:gd name="adj" fmla="val 41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28" name="m-c02_swot-st-h-1"/>
          <p:cNvSpPr txBox="1"/>
          <p:nvPr/>
        </p:nvSpPr>
        <p:spPr>
          <a:xfrm>
            <a:off x="2426791" y="6979069"/>
            <a:ext cx="107863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SO 进攻</a:t>
            </a:r>
          </a:p>
        </p:txBody>
      </p:sp>
      <p:sp>
        <p:nvSpPr>
          <p:cNvPr id="2029" name="m-c02_swot-st-p-1"/>
          <p:cNvSpPr txBox="1"/>
          <p:nvPr/>
        </p:nvSpPr>
        <p:spPr>
          <a:xfrm>
            <a:off x="2427260" y="7017738"/>
            <a:ext cx="25839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以技术优势抢占政策红利市场</a:t>
            </a:r>
          </a:p>
        </p:txBody>
      </p:sp>
      <p:sp>
        <p:nvSpPr>
          <p:cNvPr id="2030" name="m-c02_swot-st-bar-2"/>
          <p:cNvSpPr/>
          <p:nvPr/>
        </p:nvSpPr>
        <p:spPr>
          <a:xfrm>
            <a:off x="2915650" y="6980364"/>
            <a:ext cx="5207" cy="57277"/>
          </a:xfrm>
          <a:prstGeom prst="roundRect">
            <a:avLst>
              <a:gd name="adj" fmla="val 41000"/>
            </a:avLst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31" name="m-c02_swot-st-h-2"/>
          <p:cNvSpPr txBox="1"/>
          <p:nvPr/>
        </p:nvSpPr>
        <p:spPr>
          <a:xfrm>
            <a:off x="2936426" y="6979069"/>
            <a:ext cx="107863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WO 改善</a:t>
            </a:r>
          </a:p>
        </p:txBody>
      </p:sp>
      <p:sp>
        <p:nvSpPr>
          <p:cNvPr id="2032" name="m-c02_swot-st-p-2"/>
          <p:cNvSpPr txBox="1"/>
          <p:nvPr/>
        </p:nvSpPr>
        <p:spPr>
          <a:xfrm>
            <a:off x="2936895" y="7017738"/>
            <a:ext cx="23978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补齐产能短板承接下沉需求</a:t>
            </a:r>
          </a:p>
        </p:txBody>
      </p:sp>
      <p:sp>
        <p:nvSpPr>
          <p:cNvPr id="2033" name="m-c02_swot-st-bar-3"/>
          <p:cNvSpPr/>
          <p:nvPr/>
        </p:nvSpPr>
        <p:spPr>
          <a:xfrm>
            <a:off x="3425285" y="6980364"/>
            <a:ext cx="5207" cy="57277"/>
          </a:xfrm>
          <a:prstGeom prst="roundRect">
            <a:avLst>
              <a:gd name="adj" fmla="val 41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34" name="m-c02_swot-st-h-3"/>
          <p:cNvSpPr txBox="1"/>
          <p:nvPr/>
        </p:nvSpPr>
        <p:spPr>
          <a:xfrm>
            <a:off x="3446061" y="6979069"/>
            <a:ext cx="107863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ST 防御</a:t>
            </a:r>
          </a:p>
        </p:txBody>
      </p:sp>
      <p:sp>
        <p:nvSpPr>
          <p:cNvPr id="2035" name="m-c02_swot-st-p-3"/>
          <p:cNvSpPr txBox="1"/>
          <p:nvPr/>
        </p:nvSpPr>
        <p:spPr>
          <a:xfrm>
            <a:off x="3446530" y="7017738"/>
            <a:ext cx="22116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以渠道深度对冲价格竞争</a:t>
            </a:r>
          </a:p>
        </p:txBody>
      </p:sp>
      <p:sp>
        <p:nvSpPr>
          <p:cNvPr id="2036" name="m-c02_swot-st-bar-4"/>
          <p:cNvSpPr/>
          <p:nvPr/>
        </p:nvSpPr>
        <p:spPr>
          <a:xfrm>
            <a:off x="3934920" y="6980364"/>
            <a:ext cx="5207" cy="57277"/>
          </a:xfrm>
          <a:prstGeom prst="roundRect">
            <a:avLst>
              <a:gd name="adj" fmla="val 41000"/>
            </a:avLst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37" name="m-c02_swot-st-h-4"/>
          <p:cNvSpPr txBox="1"/>
          <p:nvPr/>
        </p:nvSpPr>
        <p:spPr>
          <a:xfrm>
            <a:off x="3955696" y="6979069"/>
            <a:ext cx="107863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WT 规避</a:t>
            </a:r>
          </a:p>
        </p:txBody>
      </p:sp>
      <p:sp>
        <p:nvSpPr>
          <p:cNvPr id="2038" name="m-c02_swot-st-p-4"/>
          <p:cNvSpPr txBox="1"/>
          <p:nvPr/>
        </p:nvSpPr>
        <p:spPr>
          <a:xfrm>
            <a:off x="3956165" y="7017738"/>
            <a:ext cx="25839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收缩非优势区域，聚焦主航道</a:t>
            </a:r>
          </a:p>
        </p:txBody>
      </p:sp>
      <p:cxnSp>
        <p:nvCxnSpPr>
          <p:cNvPr id="2039" name="m-c02_swot-foot-line"/>
          <p:cNvCxnSpPr/>
          <p:nvPr/>
        </p:nvCxnSpPr>
        <p:spPr>
          <a:xfrm>
            <a:off x="2291461" y="71417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40" name="m-c02_swot-foot-l"/>
          <p:cNvSpPr txBox="1"/>
          <p:nvPr/>
        </p:nvSpPr>
        <p:spPr>
          <a:xfrm>
            <a:off x="2289274" y="7155723"/>
            <a:ext cx="22257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SWOT · 四维战略定位</a:t>
            </a:r>
          </a:p>
        </p:txBody>
      </p:sp>
      <p:sp>
        <p:nvSpPr>
          <p:cNvPr id="2041" name="m-c02_swot-foot-r"/>
          <p:cNvSpPr txBox="1"/>
          <p:nvPr/>
        </p:nvSpPr>
        <p:spPr>
          <a:xfrm>
            <a:off x="4293709" y="71557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2042" name="mini-card-p17_double_funnel"/>
          <p:cNvSpPr/>
          <p:nvPr/>
        </p:nvSpPr>
        <p:spPr>
          <a:xfrm>
            <a:off x="4787900" y="58166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0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0" y="1405890"/>
                </a:lnTo>
                <a:cubicBezTo>
                  <a:pt x="35877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7"/>
                  <a:pt x="35877" y="0"/>
                  <a:pt x="80200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43" name="m-p17_double_funnel-title-bar"/>
          <p:cNvSpPr/>
          <p:nvPr/>
        </p:nvSpPr>
        <p:spPr>
          <a:xfrm>
            <a:off x="4907661" y="59155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44" name="m-p17_double_funnel-title-bar-accent"/>
          <p:cNvSpPr/>
          <p:nvPr/>
        </p:nvSpPr>
        <p:spPr>
          <a:xfrm>
            <a:off x="4907661" y="59155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45" name="m-p17_double_funnel-title-cn"/>
          <p:cNvSpPr txBox="1"/>
          <p:nvPr/>
        </p:nvSpPr>
        <p:spPr>
          <a:xfrm>
            <a:off x="4939840" y="5898168"/>
            <a:ext cx="551421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获客与留存双漏斗</a:t>
            </a:r>
          </a:p>
        </p:txBody>
      </p:sp>
      <p:sp>
        <p:nvSpPr>
          <p:cNvPr id="2046" name="m-p17_double_funnel-title-en"/>
          <p:cNvSpPr txBox="1"/>
          <p:nvPr/>
        </p:nvSpPr>
        <p:spPr>
          <a:xfrm>
            <a:off x="4947130" y="5985450"/>
            <a:ext cx="25907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DOUBLE FUNNEL</a:t>
            </a:r>
          </a:p>
        </p:txBody>
      </p:sp>
      <p:sp>
        <p:nvSpPr>
          <p:cNvPr id="2047" name="m-p17_double_funnel-title-sub"/>
          <p:cNvSpPr txBox="1"/>
          <p:nvPr/>
        </p:nvSpPr>
        <p:spPr>
          <a:xfrm>
            <a:off x="6611313" y="5954592"/>
            <a:ext cx="558841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左漏斗把线索收成客户，右漏斗把客户养成长期收入</a:t>
            </a:r>
          </a:p>
        </p:txBody>
      </p:sp>
      <p:sp>
        <p:nvSpPr>
          <p:cNvPr id="2048" name="m-p17_double_funnel-fh-1"/>
          <p:cNvSpPr txBox="1"/>
          <p:nvPr/>
        </p:nvSpPr>
        <p:spPr>
          <a:xfrm>
            <a:off x="5272086" y="6117923"/>
            <a:ext cx="307343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26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获客漏斗 · ACQUISITION</a:t>
            </a:r>
          </a:p>
        </p:txBody>
      </p:sp>
      <p:sp>
        <p:nvSpPr>
          <p:cNvPr id="2049" name="m-p17_double_funnel-f-1-1"/>
          <p:cNvSpPr/>
          <p:nvPr/>
        </p:nvSpPr>
        <p:spPr>
          <a:xfrm>
            <a:off x="5027355" y="6194108"/>
            <a:ext cx="796806" cy="145796"/>
          </a:xfrm>
          <a:custGeom>
            <a:avLst/>
            <a:gdLst/>
            <a:ahLst/>
            <a:cxnLst/>
            <a:rect l="0" t="0" r="r" b="b"/>
            <a:pathLst>
              <a:path w="796806" h="145796">
                <a:moveTo>
                  <a:pt x="1972" y="16764"/>
                </a:moveTo>
                <a:quadBezTo>
                  <a:pt x="-5140" y="0"/>
                  <a:pt x="13085" y="0"/>
                </a:quadBezTo>
                <a:lnTo>
                  <a:pt x="783721" y="0"/>
                </a:lnTo>
                <a:quadBezTo>
                  <a:pt x="801945" y="0"/>
                  <a:pt x="794833" y="16764"/>
                </a:quadBezTo>
                <a:lnTo>
                  <a:pt x="747208" y="129032"/>
                </a:lnTo>
                <a:quadBezTo>
                  <a:pt x="740096" y="145796"/>
                  <a:pt x="721872" y="145796"/>
                </a:quadBezTo>
                <a:lnTo>
                  <a:pt x="74934" y="145796"/>
                </a:lnTo>
                <a:quadBezTo>
                  <a:pt x="56709" y="145796"/>
                  <a:pt x="49597" y="129032"/>
                </a:quadBezTo>
                <a:close/>
              </a:path>
            </a:pathLst>
          </a:custGeom>
          <a:gradFill rotWithShape="1">
            <a:gsLst>
              <a:gs pos="0">
                <a:srgbClr val="3761A3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50" name="m-p17_double_funnel-fn-1-1"/>
          <p:cNvSpPr txBox="1"/>
          <p:nvPr/>
        </p:nvSpPr>
        <p:spPr>
          <a:xfrm>
            <a:off x="5124871" y="6223826"/>
            <a:ext cx="150743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2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曝光触达</a:t>
            </a:r>
          </a:p>
        </p:txBody>
      </p:sp>
      <p:sp>
        <p:nvSpPr>
          <p:cNvPr id="2051" name="m-p17_double_funnel-fp-1-1"/>
          <p:cNvSpPr txBox="1"/>
          <p:nvPr/>
        </p:nvSpPr>
        <p:spPr>
          <a:xfrm>
            <a:off x="5126121" y="6280947"/>
            <a:ext cx="16532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广告、内容与展会</a:t>
            </a:r>
          </a:p>
        </p:txBody>
      </p:sp>
      <p:sp>
        <p:nvSpPr>
          <p:cNvPr id="2052" name="m-p17_double_funnel-fv-1-1"/>
          <p:cNvSpPr txBox="1"/>
          <p:nvPr/>
        </p:nvSpPr>
        <p:spPr>
          <a:xfrm>
            <a:off x="5581603" y="6231409"/>
            <a:ext cx="153633" cy="6150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8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48,600</a:t>
            </a:r>
          </a:p>
        </p:txBody>
      </p:sp>
      <p:sp>
        <p:nvSpPr>
          <p:cNvPr id="2053" name="m-p17_double_funnel-f-1-2"/>
          <p:cNvSpPr/>
          <p:nvPr/>
        </p:nvSpPr>
        <p:spPr>
          <a:xfrm>
            <a:off x="5089204" y="6363335"/>
            <a:ext cx="673108" cy="145796"/>
          </a:xfrm>
          <a:custGeom>
            <a:avLst/>
            <a:gdLst/>
            <a:ahLst/>
            <a:cxnLst/>
            <a:rect l="0" t="0" r="r" b="b"/>
            <a:pathLst>
              <a:path w="673108" h="145796">
                <a:moveTo>
                  <a:pt x="1972" y="16764"/>
                </a:moveTo>
                <a:quadBezTo>
                  <a:pt x="-5140" y="0"/>
                  <a:pt x="13085" y="0"/>
                </a:quadBezTo>
                <a:lnTo>
                  <a:pt x="660023" y="0"/>
                </a:lnTo>
                <a:quadBezTo>
                  <a:pt x="678247" y="0"/>
                  <a:pt x="671135" y="16764"/>
                </a:quadBezTo>
                <a:lnTo>
                  <a:pt x="623574" y="129032"/>
                </a:lnTo>
                <a:quadBezTo>
                  <a:pt x="616398" y="145796"/>
                  <a:pt x="598174" y="145796"/>
                </a:quadBezTo>
                <a:lnTo>
                  <a:pt x="74934" y="145796"/>
                </a:lnTo>
                <a:quadBezTo>
                  <a:pt x="56709" y="145796"/>
                  <a:pt x="49534" y="129032"/>
                </a:quadBezTo>
                <a:close/>
              </a:path>
            </a:pathLst>
          </a:custGeom>
          <a:gradFill rotWithShape="1">
            <a:gsLst>
              <a:gs pos="0">
                <a:srgbClr val="4478B8"/>
              </a:gs>
              <a:gs pos="100000">
                <a:srgbClr val="1B5AA8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54" name="m-p17_double_funnel-fn-1-2"/>
          <p:cNvSpPr txBox="1"/>
          <p:nvPr/>
        </p:nvSpPr>
        <p:spPr>
          <a:xfrm>
            <a:off x="5186704" y="6393054"/>
            <a:ext cx="150743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2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有效线索</a:t>
            </a:r>
          </a:p>
        </p:txBody>
      </p:sp>
      <p:sp>
        <p:nvSpPr>
          <p:cNvPr id="2055" name="m-p17_double_funnel-fp-1-2"/>
          <p:cNvSpPr txBox="1"/>
          <p:nvPr/>
        </p:nvSpPr>
        <p:spPr>
          <a:xfrm>
            <a:off x="5187954" y="6450175"/>
            <a:ext cx="14670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留资并通过初筛</a:t>
            </a:r>
          </a:p>
        </p:txBody>
      </p:sp>
      <p:sp>
        <p:nvSpPr>
          <p:cNvPr id="2056" name="m-p17_double_funnel-fv-1-2"/>
          <p:cNvSpPr txBox="1"/>
          <p:nvPr/>
        </p:nvSpPr>
        <p:spPr>
          <a:xfrm>
            <a:off x="5519770" y="6400637"/>
            <a:ext cx="153633" cy="6150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8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12,400</a:t>
            </a:r>
          </a:p>
        </p:txBody>
      </p:sp>
      <p:sp>
        <p:nvSpPr>
          <p:cNvPr id="2057" name="m-p17_double_funnel-fr-1-2"/>
          <p:cNvSpPr/>
          <p:nvPr/>
        </p:nvSpPr>
        <p:spPr>
          <a:xfrm>
            <a:off x="4979226" y="6329490"/>
            <a:ext cx="145860" cy="44260"/>
          </a:xfrm>
          <a:custGeom>
            <a:avLst/>
            <a:gdLst/>
            <a:ahLst/>
            <a:cxnLst/>
            <a:rect l="0" t="0" r="r" b="b"/>
            <a:pathLst>
              <a:path w="145860" h="44260">
                <a:moveTo>
                  <a:pt x="22162" y="0"/>
                </a:moveTo>
                <a:lnTo>
                  <a:pt x="123698" y="0"/>
                </a:lnTo>
                <a:cubicBezTo>
                  <a:pt x="135890" y="0"/>
                  <a:pt x="145860" y="9906"/>
                  <a:pt x="145860" y="22098"/>
                </a:cubicBezTo>
                <a:lnTo>
                  <a:pt x="145860" y="22098"/>
                </a:lnTo>
                <a:cubicBezTo>
                  <a:pt x="145860" y="34353"/>
                  <a:pt x="135890" y="44260"/>
                  <a:pt x="123698" y="44260"/>
                </a:cubicBezTo>
                <a:lnTo>
                  <a:pt x="22162" y="44260"/>
                </a:lnTo>
                <a:cubicBezTo>
                  <a:pt x="9970" y="44260"/>
                  <a:pt x="0" y="34353"/>
                  <a:pt x="0" y="22098"/>
                </a:cubicBezTo>
                <a:lnTo>
                  <a:pt x="0" y="22098"/>
                </a:lnTo>
                <a:cubicBezTo>
                  <a:pt x="0" y="9906"/>
                  <a:pt x="9970" y="0"/>
                  <a:pt x="2216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58" name="m-p17_double_funnel-frt-1-2"/>
          <p:cNvSpPr txBox="1"/>
          <p:nvPr/>
        </p:nvSpPr>
        <p:spPr>
          <a:xfrm>
            <a:off x="5015055" y="6335315"/>
            <a:ext cx="74200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3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25.5%</a:t>
            </a:r>
          </a:p>
        </p:txBody>
      </p:sp>
      <p:sp>
        <p:nvSpPr>
          <p:cNvPr id="2059" name="m-p17_double_funnel-f-1-3"/>
          <p:cNvSpPr/>
          <p:nvPr/>
        </p:nvSpPr>
        <p:spPr>
          <a:xfrm>
            <a:off x="5151053" y="6532562"/>
            <a:ext cx="549410" cy="145796"/>
          </a:xfrm>
          <a:custGeom>
            <a:avLst/>
            <a:gdLst/>
            <a:ahLst/>
            <a:cxnLst/>
            <a:rect l="0" t="0" r="r" b="b"/>
            <a:pathLst>
              <a:path w="549410" h="145796">
                <a:moveTo>
                  <a:pt x="1972" y="16764"/>
                </a:moveTo>
                <a:quadBezTo>
                  <a:pt x="-5140" y="0"/>
                  <a:pt x="13085" y="0"/>
                </a:quadBezTo>
                <a:lnTo>
                  <a:pt x="536325" y="0"/>
                </a:lnTo>
                <a:quadBezTo>
                  <a:pt x="554549" y="0"/>
                  <a:pt x="547437" y="16764"/>
                </a:quadBezTo>
                <a:lnTo>
                  <a:pt x="499876" y="129032"/>
                </a:lnTo>
                <a:quadBezTo>
                  <a:pt x="492764" y="145796"/>
                  <a:pt x="474539" y="145796"/>
                </a:quadBezTo>
                <a:lnTo>
                  <a:pt x="74870" y="145796"/>
                </a:lnTo>
                <a:quadBezTo>
                  <a:pt x="56646" y="145796"/>
                  <a:pt x="49534" y="129032"/>
                </a:quadBezTo>
                <a:close/>
              </a:path>
            </a:pathLst>
          </a:custGeom>
          <a:gradFill rotWithShape="1">
            <a:gsLst>
              <a:gs pos="0">
                <a:srgbClr val="5D9BD6"/>
              </a:gs>
              <a:gs pos="100000">
                <a:srgbClr val="3985CD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60" name="m-p17_double_funnel-fn-1-3"/>
          <p:cNvSpPr txBox="1"/>
          <p:nvPr/>
        </p:nvSpPr>
        <p:spPr>
          <a:xfrm>
            <a:off x="5248537" y="6562281"/>
            <a:ext cx="150743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2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商机立项</a:t>
            </a:r>
          </a:p>
        </p:txBody>
      </p:sp>
      <p:sp>
        <p:nvSpPr>
          <p:cNvPr id="2061" name="m-p17_double_funnel-fp-1-3"/>
          <p:cNvSpPr txBox="1"/>
          <p:nvPr/>
        </p:nvSpPr>
        <p:spPr>
          <a:xfrm>
            <a:off x="5249787" y="6619402"/>
            <a:ext cx="14670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进入方案与报价</a:t>
            </a:r>
          </a:p>
        </p:txBody>
      </p:sp>
      <p:sp>
        <p:nvSpPr>
          <p:cNvPr id="2062" name="m-p17_double_funnel-fv-1-3"/>
          <p:cNvSpPr txBox="1"/>
          <p:nvPr/>
        </p:nvSpPr>
        <p:spPr>
          <a:xfrm>
            <a:off x="5478270" y="6569864"/>
            <a:ext cx="133299" cy="6150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8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3,860</a:t>
            </a:r>
          </a:p>
        </p:txBody>
      </p:sp>
      <p:sp>
        <p:nvSpPr>
          <p:cNvPr id="2063" name="m-p17_double_funnel-fr-1-3"/>
          <p:cNvSpPr/>
          <p:nvPr/>
        </p:nvSpPr>
        <p:spPr>
          <a:xfrm>
            <a:off x="5041074" y="6498717"/>
            <a:ext cx="145796" cy="44260"/>
          </a:xfrm>
          <a:custGeom>
            <a:avLst/>
            <a:gdLst/>
            <a:ahLst/>
            <a:cxnLst/>
            <a:rect l="0" t="0" r="r" b="b"/>
            <a:pathLst>
              <a:path w="145796" h="44260">
                <a:moveTo>
                  <a:pt x="22162" y="0"/>
                </a:moveTo>
                <a:lnTo>
                  <a:pt x="123698" y="0"/>
                </a:lnTo>
                <a:cubicBezTo>
                  <a:pt x="135890" y="0"/>
                  <a:pt x="145796" y="9906"/>
                  <a:pt x="145796" y="22098"/>
                </a:cubicBezTo>
                <a:lnTo>
                  <a:pt x="145796" y="22098"/>
                </a:lnTo>
                <a:cubicBezTo>
                  <a:pt x="145796" y="34353"/>
                  <a:pt x="135890" y="44260"/>
                  <a:pt x="123698" y="44260"/>
                </a:cubicBezTo>
                <a:lnTo>
                  <a:pt x="22162" y="44260"/>
                </a:lnTo>
                <a:cubicBezTo>
                  <a:pt x="9906" y="44260"/>
                  <a:pt x="0" y="34353"/>
                  <a:pt x="0" y="22098"/>
                </a:cubicBezTo>
                <a:lnTo>
                  <a:pt x="0" y="22098"/>
                </a:lnTo>
                <a:cubicBezTo>
                  <a:pt x="0" y="9906"/>
                  <a:pt x="9906" y="0"/>
                  <a:pt x="2216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64" name="m-p17_double_funnel-frt-1-3"/>
          <p:cNvSpPr txBox="1"/>
          <p:nvPr/>
        </p:nvSpPr>
        <p:spPr>
          <a:xfrm>
            <a:off x="5076888" y="6504542"/>
            <a:ext cx="74200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3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31.1%</a:t>
            </a:r>
          </a:p>
        </p:txBody>
      </p:sp>
      <p:sp>
        <p:nvSpPr>
          <p:cNvPr id="2065" name="m-p17_double_funnel-f-1-4"/>
          <p:cNvSpPr/>
          <p:nvPr/>
        </p:nvSpPr>
        <p:spPr>
          <a:xfrm>
            <a:off x="5212838" y="6701790"/>
            <a:ext cx="425839" cy="145796"/>
          </a:xfrm>
          <a:custGeom>
            <a:avLst/>
            <a:gdLst/>
            <a:ahLst/>
            <a:cxnLst/>
            <a:rect l="0" t="0" r="r" b="b"/>
            <a:pathLst>
              <a:path w="425839" h="145796">
                <a:moveTo>
                  <a:pt x="1972" y="16764"/>
                </a:moveTo>
                <a:quadBezTo>
                  <a:pt x="-5140" y="0"/>
                  <a:pt x="13085" y="0"/>
                </a:quadBezTo>
                <a:lnTo>
                  <a:pt x="412754" y="0"/>
                </a:lnTo>
                <a:quadBezTo>
                  <a:pt x="430978" y="0"/>
                  <a:pt x="423866" y="16764"/>
                </a:quadBezTo>
                <a:lnTo>
                  <a:pt x="376241" y="129032"/>
                </a:lnTo>
                <a:quadBezTo>
                  <a:pt x="369129" y="145796"/>
                  <a:pt x="350905" y="145796"/>
                </a:quadBezTo>
                <a:lnTo>
                  <a:pt x="74934" y="145796"/>
                </a:lnTo>
                <a:quadBezTo>
                  <a:pt x="56709" y="145796"/>
                  <a:pt x="49597" y="129032"/>
                </a:quadBezTo>
                <a:close/>
              </a:path>
            </a:pathLst>
          </a:custGeom>
          <a:gradFill rotWithShape="1">
            <a:gsLst>
              <a:gs pos="0">
                <a:srgbClr val="73B3E5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66" name="m-p17_double_funnel-fn-1-4"/>
          <p:cNvSpPr txBox="1"/>
          <p:nvPr/>
        </p:nvSpPr>
        <p:spPr>
          <a:xfrm>
            <a:off x="5310370" y="6731509"/>
            <a:ext cx="150743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2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成交客户</a:t>
            </a:r>
          </a:p>
        </p:txBody>
      </p:sp>
      <p:sp>
        <p:nvSpPr>
          <p:cNvPr id="2067" name="m-p17_double_funnel-fp-1-4"/>
          <p:cNvSpPr txBox="1"/>
          <p:nvPr/>
        </p:nvSpPr>
        <p:spPr>
          <a:xfrm>
            <a:off x="5311620" y="6788630"/>
            <a:ext cx="16532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签约并支付预付款</a:t>
            </a:r>
          </a:p>
        </p:txBody>
      </p:sp>
      <p:sp>
        <p:nvSpPr>
          <p:cNvPr id="2068" name="m-p17_double_funnel-fv-1-4"/>
          <p:cNvSpPr txBox="1"/>
          <p:nvPr/>
        </p:nvSpPr>
        <p:spPr>
          <a:xfrm>
            <a:off x="5416437" y="6739092"/>
            <a:ext cx="133299" cy="6150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8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1,286</a:t>
            </a:r>
          </a:p>
        </p:txBody>
      </p:sp>
      <p:sp>
        <p:nvSpPr>
          <p:cNvPr id="2069" name="m-p17_double_funnel-fr-1-4"/>
          <p:cNvSpPr/>
          <p:nvPr/>
        </p:nvSpPr>
        <p:spPr>
          <a:xfrm>
            <a:off x="5102924" y="6667944"/>
            <a:ext cx="145796" cy="44260"/>
          </a:xfrm>
          <a:custGeom>
            <a:avLst/>
            <a:gdLst/>
            <a:ahLst/>
            <a:cxnLst/>
            <a:rect l="0" t="0" r="r" b="b"/>
            <a:pathLst>
              <a:path w="145796" h="44260">
                <a:moveTo>
                  <a:pt x="22162" y="0"/>
                </a:moveTo>
                <a:lnTo>
                  <a:pt x="123698" y="0"/>
                </a:lnTo>
                <a:cubicBezTo>
                  <a:pt x="135890" y="0"/>
                  <a:pt x="145796" y="9906"/>
                  <a:pt x="145796" y="22162"/>
                </a:cubicBezTo>
                <a:lnTo>
                  <a:pt x="145796" y="22162"/>
                </a:lnTo>
                <a:cubicBezTo>
                  <a:pt x="145796" y="34354"/>
                  <a:pt x="135890" y="44260"/>
                  <a:pt x="123698" y="44260"/>
                </a:cubicBezTo>
                <a:lnTo>
                  <a:pt x="22162" y="44260"/>
                </a:lnTo>
                <a:cubicBezTo>
                  <a:pt x="9906" y="44260"/>
                  <a:pt x="0" y="34354"/>
                  <a:pt x="0" y="22162"/>
                </a:cubicBezTo>
                <a:lnTo>
                  <a:pt x="0" y="22162"/>
                </a:lnTo>
                <a:cubicBezTo>
                  <a:pt x="0" y="9906"/>
                  <a:pt x="9906" y="0"/>
                  <a:pt x="2216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70" name="m-p17_double_funnel-frt-1-4"/>
          <p:cNvSpPr txBox="1"/>
          <p:nvPr/>
        </p:nvSpPr>
        <p:spPr>
          <a:xfrm>
            <a:off x="5138722" y="6673770"/>
            <a:ext cx="74200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3" normalizeH="0" baseline="0" noProof="0">
                <a:ln>
                  <a:noFill/>
                </a:ln>
                <a:solidFill>
                  <a:srgbClr val="54A2D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33.3%</a:t>
            </a:r>
          </a:p>
        </p:txBody>
      </p:sp>
      <p:sp>
        <p:nvSpPr>
          <p:cNvPr id="2071" name="m-p17_double_funnel-fh-2"/>
          <p:cNvSpPr txBox="1"/>
          <p:nvPr/>
        </p:nvSpPr>
        <p:spPr>
          <a:xfrm>
            <a:off x="6392762" y="6117923"/>
            <a:ext cx="278965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26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留存漏斗 · RETENTION</a:t>
            </a:r>
          </a:p>
        </p:txBody>
      </p:sp>
      <p:sp>
        <p:nvSpPr>
          <p:cNvPr id="2072" name="m-p17_double_funnel-f-2-1"/>
          <p:cNvSpPr/>
          <p:nvPr/>
        </p:nvSpPr>
        <p:spPr>
          <a:xfrm>
            <a:off x="6133842" y="6194108"/>
            <a:ext cx="796806" cy="145796"/>
          </a:xfrm>
          <a:custGeom>
            <a:avLst/>
            <a:gdLst/>
            <a:ahLst/>
            <a:cxnLst/>
            <a:rect l="0" t="0" r="r" b="b"/>
            <a:pathLst>
              <a:path w="796806" h="145796">
                <a:moveTo>
                  <a:pt x="1972" y="16764"/>
                </a:moveTo>
                <a:quadBezTo>
                  <a:pt x="-5140" y="0"/>
                  <a:pt x="13085" y="0"/>
                </a:quadBezTo>
                <a:lnTo>
                  <a:pt x="783721" y="0"/>
                </a:lnTo>
                <a:quadBezTo>
                  <a:pt x="801945" y="0"/>
                  <a:pt x="794833" y="16764"/>
                </a:quadBezTo>
                <a:lnTo>
                  <a:pt x="747208" y="129032"/>
                </a:lnTo>
                <a:quadBezTo>
                  <a:pt x="740096" y="145796"/>
                  <a:pt x="721872" y="145796"/>
                </a:quadBezTo>
                <a:lnTo>
                  <a:pt x="74934" y="145796"/>
                </a:lnTo>
                <a:quadBezTo>
                  <a:pt x="56709" y="145796"/>
                  <a:pt x="49597" y="129032"/>
                </a:quadBezTo>
                <a:close/>
              </a:path>
            </a:pathLst>
          </a:custGeom>
          <a:gradFill rotWithShape="1">
            <a:gsLst>
              <a:gs pos="0">
                <a:srgbClr val="73B3E5"/>
              </a:gs>
              <a:gs pos="100000">
                <a:srgbClr val="54A2DF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73" name="m-p17_double_funnel-fn-2-1"/>
          <p:cNvSpPr txBox="1"/>
          <p:nvPr/>
        </p:nvSpPr>
        <p:spPr>
          <a:xfrm>
            <a:off x="6231359" y="6223826"/>
            <a:ext cx="150743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2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首次上线</a:t>
            </a:r>
          </a:p>
        </p:txBody>
      </p:sp>
      <p:sp>
        <p:nvSpPr>
          <p:cNvPr id="2074" name="m-p17_double_funnel-fp-2-1"/>
          <p:cNvSpPr txBox="1"/>
          <p:nvPr/>
        </p:nvSpPr>
        <p:spPr>
          <a:xfrm>
            <a:off x="6232608" y="6280947"/>
            <a:ext cx="14670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完成实施并验收</a:t>
            </a:r>
          </a:p>
        </p:txBody>
      </p:sp>
      <p:sp>
        <p:nvSpPr>
          <p:cNvPr id="2075" name="m-p17_double_funnel-fv-2-1"/>
          <p:cNvSpPr txBox="1"/>
          <p:nvPr/>
        </p:nvSpPr>
        <p:spPr>
          <a:xfrm>
            <a:off x="6708424" y="6231409"/>
            <a:ext cx="133299" cy="6150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8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1,286</a:t>
            </a:r>
          </a:p>
        </p:txBody>
      </p:sp>
      <p:sp>
        <p:nvSpPr>
          <p:cNvPr id="2076" name="m-p17_double_funnel-f-2-2"/>
          <p:cNvSpPr/>
          <p:nvPr/>
        </p:nvSpPr>
        <p:spPr>
          <a:xfrm>
            <a:off x="6195691" y="6363335"/>
            <a:ext cx="673108" cy="145796"/>
          </a:xfrm>
          <a:custGeom>
            <a:avLst/>
            <a:gdLst/>
            <a:ahLst/>
            <a:cxnLst/>
            <a:rect l="0" t="0" r="r" b="b"/>
            <a:pathLst>
              <a:path w="673108" h="145796">
                <a:moveTo>
                  <a:pt x="1972" y="16764"/>
                </a:moveTo>
                <a:quadBezTo>
                  <a:pt x="-5140" y="0"/>
                  <a:pt x="13085" y="0"/>
                </a:quadBezTo>
                <a:lnTo>
                  <a:pt x="660023" y="0"/>
                </a:lnTo>
                <a:quadBezTo>
                  <a:pt x="678247" y="0"/>
                  <a:pt x="671135" y="16764"/>
                </a:quadBezTo>
                <a:lnTo>
                  <a:pt x="623574" y="129032"/>
                </a:lnTo>
                <a:quadBezTo>
                  <a:pt x="616462" y="145796"/>
                  <a:pt x="598174" y="145796"/>
                </a:quadBezTo>
                <a:lnTo>
                  <a:pt x="74934" y="145796"/>
                </a:lnTo>
                <a:quadBezTo>
                  <a:pt x="56646" y="145796"/>
                  <a:pt x="49534" y="129032"/>
                </a:quadBezTo>
                <a:close/>
              </a:path>
            </a:pathLst>
          </a:custGeom>
          <a:gradFill rotWithShape="1">
            <a:gsLst>
              <a:gs pos="0">
                <a:srgbClr val="5D9BD6"/>
              </a:gs>
              <a:gs pos="100000">
                <a:srgbClr val="3985CD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77" name="m-p17_double_funnel-fn-2-2"/>
          <p:cNvSpPr txBox="1"/>
          <p:nvPr/>
        </p:nvSpPr>
        <p:spPr>
          <a:xfrm>
            <a:off x="6293192" y="6393054"/>
            <a:ext cx="150743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2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稳定使用</a:t>
            </a:r>
          </a:p>
        </p:txBody>
      </p:sp>
      <p:sp>
        <p:nvSpPr>
          <p:cNvPr id="2078" name="m-p17_double_funnel-fp-2-2"/>
          <p:cNvSpPr txBox="1"/>
          <p:nvPr/>
        </p:nvSpPr>
        <p:spPr>
          <a:xfrm>
            <a:off x="6294441" y="6450175"/>
            <a:ext cx="12809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月活账号达标</a:t>
            </a:r>
          </a:p>
        </p:txBody>
      </p:sp>
      <p:sp>
        <p:nvSpPr>
          <p:cNvPr id="2079" name="m-p17_double_funnel-fv-2-2"/>
          <p:cNvSpPr txBox="1"/>
          <p:nvPr/>
        </p:nvSpPr>
        <p:spPr>
          <a:xfrm>
            <a:off x="6646591" y="6400637"/>
            <a:ext cx="133299" cy="6150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8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1,180</a:t>
            </a:r>
          </a:p>
        </p:txBody>
      </p:sp>
      <p:sp>
        <p:nvSpPr>
          <p:cNvPr id="2080" name="m-p17_double_funnel-fr-2-2"/>
          <p:cNvSpPr/>
          <p:nvPr/>
        </p:nvSpPr>
        <p:spPr>
          <a:xfrm>
            <a:off x="6085713" y="6329490"/>
            <a:ext cx="145860" cy="44260"/>
          </a:xfrm>
          <a:custGeom>
            <a:avLst/>
            <a:gdLst/>
            <a:ahLst/>
            <a:cxnLst/>
            <a:rect l="0" t="0" r="r" b="b"/>
            <a:pathLst>
              <a:path w="145860" h="44260">
                <a:moveTo>
                  <a:pt x="22162" y="0"/>
                </a:moveTo>
                <a:lnTo>
                  <a:pt x="123698" y="0"/>
                </a:lnTo>
                <a:cubicBezTo>
                  <a:pt x="135890" y="0"/>
                  <a:pt x="145860" y="9906"/>
                  <a:pt x="145860" y="22098"/>
                </a:cubicBezTo>
                <a:lnTo>
                  <a:pt x="145860" y="22098"/>
                </a:lnTo>
                <a:cubicBezTo>
                  <a:pt x="145860" y="34353"/>
                  <a:pt x="135890" y="44260"/>
                  <a:pt x="123698" y="44260"/>
                </a:cubicBezTo>
                <a:lnTo>
                  <a:pt x="22162" y="44260"/>
                </a:lnTo>
                <a:cubicBezTo>
                  <a:pt x="9970" y="44260"/>
                  <a:pt x="0" y="34353"/>
                  <a:pt x="0" y="22098"/>
                </a:cubicBezTo>
                <a:lnTo>
                  <a:pt x="0" y="22098"/>
                </a:lnTo>
                <a:cubicBezTo>
                  <a:pt x="0" y="9906"/>
                  <a:pt x="9970" y="0"/>
                  <a:pt x="2216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81" name="m-p17_double_funnel-frt-2-2"/>
          <p:cNvSpPr txBox="1"/>
          <p:nvPr/>
        </p:nvSpPr>
        <p:spPr>
          <a:xfrm>
            <a:off x="6121543" y="6335315"/>
            <a:ext cx="74200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3" normalizeH="0" baseline="0" noProof="0">
                <a:ln>
                  <a:noFill/>
                </a:ln>
                <a:solidFill>
                  <a:srgbClr val="3985C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91.8%</a:t>
            </a:r>
          </a:p>
        </p:txBody>
      </p:sp>
      <p:sp>
        <p:nvSpPr>
          <p:cNvPr id="2082" name="m-p17_double_funnel-f-2-3"/>
          <p:cNvSpPr/>
          <p:nvPr/>
        </p:nvSpPr>
        <p:spPr>
          <a:xfrm>
            <a:off x="6257514" y="6532562"/>
            <a:ext cx="549461" cy="145796"/>
          </a:xfrm>
          <a:custGeom>
            <a:avLst/>
            <a:gdLst/>
            <a:ahLst/>
            <a:cxnLst/>
            <a:rect l="0" t="0" r="r" b="b"/>
            <a:pathLst>
              <a:path w="549461" h="145796">
                <a:moveTo>
                  <a:pt x="1998" y="16764"/>
                </a:moveTo>
                <a:quadBezTo>
                  <a:pt x="-5177" y="0"/>
                  <a:pt x="13111" y="0"/>
                </a:quadBezTo>
                <a:lnTo>
                  <a:pt x="536351" y="0"/>
                </a:lnTo>
                <a:quadBezTo>
                  <a:pt x="554639" y="0"/>
                  <a:pt x="547463" y="16764"/>
                </a:quadBezTo>
                <a:lnTo>
                  <a:pt x="499902" y="129032"/>
                </a:lnTo>
                <a:quadBezTo>
                  <a:pt x="492790" y="145796"/>
                  <a:pt x="474565" y="145796"/>
                </a:quadBezTo>
                <a:lnTo>
                  <a:pt x="74896" y="145796"/>
                </a:lnTo>
                <a:quadBezTo>
                  <a:pt x="56672" y="145796"/>
                  <a:pt x="49560" y="129032"/>
                </a:quadBezTo>
                <a:close/>
              </a:path>
            </a:pathLst>
          </a:custGeom>
          <a:gradFill rotWithShape="1">
            <a:gsLst>
              <a:gs pos="0">
                <a:srgbClr val="4478B8"/>
              </a:gs>
              <a:gs pos="100000">
                <a:srgbClr val="1B5AA8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83" name="m-p17_double_funnel-fn-2-3"/>
          <p:cNvSpPr txBox="1"/>
          <p:nvPr/>
        </p:nvSpPr>
        <p:spPr>
          <a:xfrm>
            <a:off x="6355025" y="6562281"/>
            <a:ext cx="150743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2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增购扩容</a:t>
            </a:r>
          </a:p>
        </p:txBody>
      </p:sp>
      <p:sp>
        <p:nvSpPr>
          <p:cNvPr id="2084" name="m-p17_double_funnel-fp-2-3"/>
          <p:cNvSpPr txBox="1"/>
          <p:nvPr/>
        </p:nvSpPr>
        <p:spPr>
          <a:xfrm>
            <a:off x="6356274" y="6619402"/>
            <a:ext cx="14670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新增模块或席位</a:t>
            </a:r>
          </a:p>
        </p:txBody>
      </p:sp>
      <p:sp>
        <p:nvSpPr>
          <p:cNvPr id="2085" name="m-p17_double_funnel-fv-2-3"/>
          <p:cNvSpPr txBox="1"/>
          <p:nvPr/>
        </p:nvSpPr>
        <p:spPr>
          <a:xfrm>
            <a:off x="6625424" y="6569864"/>
            <a:ext cx="92633" cy="6150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8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486</a:t>
            </a:r>
          </a:p>
        </p:txBody>
      </p:sp>
      <p:sp>
        <p:nvSpPr>
          <p:cNvPr id="2086" name="m-p17_double_funnel-fr-2-3"/>
          <p:cNvSpPr/>
          <p:nvPr/>
        </p:nvSpPr>
        <p:spPr>
          <a:xfrm>
            <a:off x="6147562" y="6498717"/>
            <a:ext cx="145796" cy="44260"/>
          </a:xfrm>
          <a:custGeom>
            <a:avLst/>
            <a:gdLst/>
            <a:ahLst/>
            <a:cxnLst/>
            <a:rect l="0" t="0" r="r" b="b"/>
            <a:pathLst>
              <a:path w="145796" h="44260">
                <a:moveTo>
                  <a:pt x="22162" y="0"/>
                </a:moveTo>
                <a:lnTo>
                  <a:pt x="123698" y="0"/>
                </a:lnTo>
                <a:cubicBezTo>
                  <a:pt x="135890" y="0"/>
                  <a:pt x="145796" y="9906"/>
                  <a:pt x="145796" y="22098"/>
                </a:cubicBezTo>
                <a:lnTo>
                  <a:pt x="145796" y="22098"/>
                </a:lnTo>
                <a:cubicBezTo>
                  <a:pt x="145796" y="34353"/>
                  <a:pt x="135890" y="44260"/>
                  <a:pt x="123698" y="44260"/>
                </a:cubicBezTo>
                <a:lnTo>
                  <a:pt x="22162" y="44260"/>
                </a:lnTo>
                <a:cubicBezTo>
                  <a:pt x="9906" y="44260"/>
                  <a:pt x="0" y="34353"/>
                  <a:pt x="0" y="22098"/>
                </a:cubicBezTo>
                <a:lnTo>
                  <a:pt x="0" y="22098"/>
                </a:lnTo>
                <a:cubicBezTo>
                  <a:pt x="0" y="9906"/>
                  <a:pt x="9906" y="0"/>
                  <a:pt x="2216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87" name="m-p17_double_funnel-frt-2-3"/>
          <p:cNvSpPr txBox="1"/>
          <p:nvPr/>
        </p:nvSpPr>
        <p:spPr>
          <a:xfrm>
            <a:off x="6183376" y="6504542"/>
            <a:ext cx="74200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3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37.8%</a:t>
            </a:r>
          </a:p>
        </p:txBody>
      </p:sp>
      <p:sp>
        <p:nvSpPr>
          <p:cNvPr id="2088" name="m-p17_double_funnel-f-2-4"/>
          <p:cNvSpPr/>
          <p:nvPr/>
        </p:nvSpPr>
        <p:spPr>
          <a:xfrm>
            <a:off x="6319326" y="6701790"/>
            <a:ext cx="425839" cy="145796"/>
          </a:xfrm>
          <a:custGeom>
            <a:avLst/>
            <a:gdLst/>
            <a:ahLst/>
            <a:cxnLst/>
            <a:rect l="0" t="0" r="r" b="b"/>
            <a:pathLst>
              <a:path w="425839" h="145796">
                <a:moveTo>
                  <a:pt x="1972" y="16764"/>
                </a:moveTo>
                <a:quadBezTo>
                  <a:pt x="-5140" y="0"/>
                  <a:pt x="13085" y="0"/>
                </a:quadBezTo>
                <a:lnTo>
                  <a:pt x="412754" y="0"/>
                </a:lnTo>
                <a:quadBezTo>
                  <a:pt x="430978" y="0"/>
                  <a:pt x="423866" y="16764"/>
                </a:quadBezTo>
                <a:lnTo>
                  <a:pt x="376241" y="129032"/>
                </a:lnTo>
                <a:quadBezTo>
                  <a:pt x="369129" y="145796"/>
                  <a:pt x="350905" y="145796"/>
                </a:quadBezTo>
                <a:lnTo>
                  <a:pt x="74934" y="145796"/>
                </a:lnTo>
                <a:quadBezTo>
                  <a:pt x="56709" y="145796"/>
                  <a:pt x="49597" y="129032"/>
                </a:quadBezTo>
                <a:close/>
              </a:path>
            </a:pathLst>
          </a:custGeom>
          <a:gradFill rotWithShape="1">
            <a:gsLst>
              <a:gs pos="0">
                <a:srgbClr val="3761A3"/>
              </a:gs>
              <a:gs pos="100000">
                <a:srgbClr val="0B3E8F"/>
              </a:gs>
            </a:gsLst>
            <a:lin ang="732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89" name="m-p17_double_funnel-fn-2-4"/>
          <p:cNvSpPr txBox="1"/>
          <p:nvPr/>
        </p:nvSpPr>
        <p:spPr>
          <a:xfrm>
            <a:off x="6416858" y="6731509"/>
            <a:ext cx="150743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2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续约复购</a:t>
            </a:r>
          </a:p>
        </p:txBody>
      </p:sp>
      <p:sp>
        <p:nvSpPr>
          <p:cNvPr id="2090" name="m-p17_double_funnel-fp-2-4"/>
          <p:cNvSpPr txBox="1"/>
          <p:nvPr/>
        </p:nvSpPr>
        <p:spPr>
          <a:xfrm>
            <a:off x="6418108" y="6788630"/>
            <a:ext cx="9086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FFFFFF">
                    <a:alpha val="8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次年续签</a:t>
            </a:r>
          </a:p>
        </p:txBody>
      </p:sp>
      <p:sp>
        <p:nvSpPr>
          <p:cNvPr id="2091" name="m-p17_double_funnel-fv-2-4"/>
          <p:cNvSpPr txBox="1"/>
          <p:nvPr/>
        </p:nvSpPr>
        <p:spPr>
          <a:xfrm>
            <a:off x="6522924" y="6739092"/>
            <a:ext cx="133299" cy="6150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80" b="1" i="0" u="none" strike="noStrike" kern="1200" cap="none" spc="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1,240</a:t>
            </a:r>
          </a:p>
        </p:txBody>
      </p:sp>
      <p:sp>
        <p:nvSpPr>
          <p:cNvPr id="2092" name="m-p17_double_funnel-fr-2-4"/>
          <p:cNvSpPr/>
          <p:nvPr/>
        </p:nvSpPr>
        <p:spPr>
          <a:xfrm>
            <a:off x="6209411" y="6667944"/>
            <a:ext cx="145796" cy="44260"/>
          </a:xfrm>
          <a:custGeom>
            <a:avLst/>
            <a:gdLst/>
            <a:ahLst/>
            <a:cxnLst/>
            <a:rect l="0" t="0" r="r" b="b"/>
            <a:pathLst>
              <a:path w="145796" h="44260">
                <a:moveTo>
                  <a:pt x="22162" y="0"/>
                </a:moveTo>
                <a:lnTo>
                  <a:pt x="123698" y="0"/>
                </a:lnTo>
                <a:cubicBezTo>
                  <a:pt x="135890" y="0"/>
                  <a:pt x="145796" y="9906"/>
                  <a:pt x="145796" y="22162"/>
                </a:cubicBezTo>
                <a:lnTo>
                  <a:pt x="145796" y="22162"/>
                </a:lnTo>
                <a:cubicBezTo>
                  <a:pt x="145796" y="34354"/>
                  <a:pt x="135890" y="44260"/>
                  <a:pt x="123698" y="44260"/>
                </a:cubicBezTo>
                <a:lnTo>
                  <a:pt x="22162" y="44260"/>
                </a:lnTo>
                <a:cubicBezTo>
                  <a:pt x="9906" y="44260"/>
                  <a:pt x="0" y="34354"/>
                  <a:pt x="0" y="22162"/>
                </a:cubicBezTo>
                <a:lnTo>
                  <a:pt x="0" y="22162"/>
                </a:lnTo>
                <a:cubicBezTo>
                  <a:pt x="0" y="9906"/>
                  <a:pt x="9906" y="0"/>
                  <a:pt x="2216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93" name="m-p17_double_funnel-frt-2-4"/>
          <p:cNvSpPr txBox="1"/>
          <p:nvPr/>
        </p:nvSpPr>
        <p:spPr>
          <a:xfrm>
            <a:off x="6245209" y="6673770"/>
            <a:ext cx="74200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3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96.4%</a:t>
            </a:r>
          </a:p>
        </p:txBody>
      </p:sp>
      <p:sp>
        <p:nvSpPr>
          <p:cNvPr id="2094" name="m-p17_double_funnel-bridge"/>
          <p:cNvSpPr/>
          <p:nvPr/>
        </p:nvSpPr>
        <p:spPr>
          <a:xfrm>
            <a:off x="5964682" y="6701790"/>
            <a:ext cx="145796" cy="145796"/>
          </a:xfrm>
          <a:custGeom>
            <a:avLst/>
            <a:gdLst/>
            <a:ahLst/>
            <a:cxnLst/>
            <a:rect l="0" t="0" r="r" b="b"/>
            <a:pathLst>
              <a:path w="145796" h="145796">
                <a:moveTo>
                  <a:pt x="31242" y="0"/>
                </a:moveTo>
                <a:lnTo>
                  <a:pt x="114554" y="0"/>
                </a:lnTo>
                <a:cubicBezTo>
                  <a:pt x="131826" y="0"/>
                  <a:pt x="145796" y="13970"/>
                  <a:pt x="145796" y="31242"/>
                </a:cubicBezTo>
                <a:lnTo>
                  <a:pt x="145796" y="114554"/>
                </a:lnTo>
                <a:cubicBezTo>
                  <a:pt x="145796" y="131826"/>
                  <a:pt x="131826" y="145796"/>
                  <a:pt x="114554" y="145796"/>
                </a:cubicBezTo>
                <a:lnTo>
                  <a:pt x="31242" y="145796"/>
                </a:lnTo>
                <a:cubicBezTo>
                  <a:pt x="13970" y="145796"/>
                  <a:pt x="0" y="131826"/>
                  <a:pt x="0" y="114554"/>
                </a:cubicBezTo>
                <a:lnTo>
                  <a:pt x="0" y="31242"/>
                </a:lnTo>
                <a:cubicBezTo>
                  <a:pt x="0" y="13970"/>
                  <a:pt x="13970" y="0"/>
                  <a:pt x="31242" y="0"/>
                </a:cubicBezTo>
                <a:close/>
              </a:path>
            </a:pathLst>
          </a:custGeom>
          <a:gradFill rotWithShape="1">
            <a:gsLst>
              <a:gs pos="0">
                <a:srgbClr val="1B5AA8"/>
              </a:gs>
              <a:gs pos="100000">
                <a:srgbClr val="0A3A88"/>
              </a:gs>
            </a:gsLst>
            <a:lin ang="744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95" name="m-p17_double_funnel-icon-chain"/>
          <p:cNvSpPr/>
          <p:nvPr/>
        </p:nvSpPr>
        <p:spPr>
          <a:xfrm>
            <a:off x="6023912" y="6745375"/>
            <a:ext cx="27361" cy="27361"/>
          </a:xfrm>
          <a:custGeom>
            <a:avLst/>
            <a:gdLst/>
            <a:ahLst/>
            <a:cxnLst/>
            <a:rect l="0" t="0" r="r" b="b"/>
            <a:pathLst>
              <a:path w="27361" h="27361">
                <a:moveTo>
                  <a:pt x="10874" y="16486"/>
                </a:moveTo>
                <a:cubicBezTo>
                  <a:pt x="12208" y="17820"/>
                  <a:pt x="13986" y="18518"/>
                  <a:pt x="15827" y="18518"/>
                </a:cubicBezTo>
                <a:cubicBezTo>
                  <a:pt x="17732" y="18518"/>
                  <a:pt x="19447" y="17820"/>
                  <a:pt x="20780" y="16486"/>
                </a:cubicBezTo>
                <a:lnTo>
                  <a:pt x="25289" y="11978"/>
                </a:lnTo>
                <a:cubicBezTo>
                  <a:pt x="27067" y="10200"/>
                  <a:pt x="27765" y="7596"/>
                  <a:pt x="27130" y="5183"/>
                </a:cubicBezTo>
                <a:cubicBezTo>
                  <a:pt x="26495" y="2770"/>
                  <a:pt x="24590" y="865"/>
                  <a:pt x="22177" y="230"/>
                </a:cubicBezTo>
                <a:cubicBezTo>
                  <a:pt x="19764" y="-405"/>
                  <a:pt x="17161" y="294"/>
                  <a:pt x="15383" y="2072"/>
                </a:cubicBezTo>
                <a:lnTo>
                  <a:pt x="13160" y="4294"/>
                </a:lnTo>
                <a:moveTo>
                  <a:pt x="16462" y="10898"/>
                </a:moveTo>
                <a:cubicBezTo>
                  <a:pt x="15129" y="9565"/>
                  <a:pt x="13351" y="8866"/>
                  <a:pt x="11509" y="8866"/>
                </a:cubicBezTo>
                <a:cubicBezTo>
                  <a:pt x="9604" y="8866"/>
                  <a:pt x="7890" y="9565"/>
                  <a:pt x="6556" y="10898"/>
                </a:cubicBezTo>
                <a:lnTo>
                  <a:pt x="2048" y="15407"/>
                </a:lnTo>
                <a:cubicBezTo>
                  <a:pt x="-683" y="18137"/>
                  <a:pt x="-683" y="22582"/>
                  <a:pt x="2048" y="25313"/>
                </a:cubicBezTo>
                <a:cubicBezTo>
                  <a:pt x="4778" y="28043"/>
                  <a:pt x="9223" y="28043"/>
                  <a:pt x="11954" y="25313"/>
                </a:cubicBezTo>
                <a:lnTo>
                  <a:pt x="14176" y="23090"/>
                </a:lnTo>
              </a:path>
            </a:pathLst>
          </a:custGeom>
          <a:noFill/>
          <a:ln w="2734" cap="rnd">
            <a:solidFill>
              <a:srgbClr val="FFFFFF">
                <a:alpha val="9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96" name="m-p17_double_funnel-bridge-t"/>
          <p:cNvSpPr txBox="1"/>
          <p:nvPr/>
        </p:nvSpPr>
        <p:spPr>
          <a:xfrm>
            <a:off x="6003539" y="6786410"/>
            <a:ext cx="68082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15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交棒</a:t>
            </a:r>
          </a:p>
        </p:txBody>
      </p:sp>
      <p:sp>
        <p:nvSpPr>
          <p:cNvPr id="2097" name="m-p17_double_funnel-bridge-arr"/>
          <p:cNvSpPr/>
          <p:nvPr/>
        </p:nvSpPr>
        <p:spPr>
          <a:xfrm>
            <a:off x="6123496" y="6761670"/>
            <a:ext cx="39052" cy="26035"/>
          </a:xfrm>
          <a:custGeom>
            <a:avLst/>
            <a:gdLst/>
            <a:ahLst/>
            <a:cxnLst/>
            <a:rect l="0" t="0" r="r" b="b"/>
            <a:pathLst>
              <a:path w="39052" h="26035">
                <a:moveTo>
                  <a:pt x="0" y="0"/>
                </a:moveTo>
                <a:lnTo>
                  <a:pt x="39052" y="13018"/>
                </a:lnTo>
                <a:lnTo>
                  <a:pt x="0" y="26035"/>
                </a:lnTo>
              </a:path>
            </a:pathLst>
          </a:custGeom>
          <a:noFill/>
          <a:ln w="3124" cap="rnd">
            <a:solidFill>
              <a:srgbClr val="1B5AA8">
                <a:alpha val="6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98" name="m-p17_double_funnel-bridge-n"/>
          <p:cNvSpPr txBox="1"/>
          <p:nvPr/>
        </p:nvSpPr>
        <p:spPr>
          <a:xfrm>
            <a:off x="5956806" y="6630812"/>
            <a:ext cx="161547" cy="3417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8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成交即交付起点</a:t>
            </a:r>
          </a:p>
        </p:txBody>
      </p:sp>
      <p:sp>
        <p:nvSpPr>
          <p:cNvPr id="2099" name="m-p17_double_funnel-kpi"/>
          <p:cNvSpPr/>
          <p:nvPr/>
        </p:nvSpPr>
        <p:spPr>
          <a:xfrm>
            <a:off x="4983162" y="6897053"/>
            <a:ext cx="2108835" cy="143192"/>
          </a:xfrm>
          <a:custGeom>
            <a:avLst/>
            <a:gdLst/>
            <a:ahLst/>
            <a:cxnLst/>
            <a:rect l="0" t="0" r="r" b="b"/>
            <a:pathLst>
              <a:path w="2108835" h="143192">
                <a:moveTo>
                  <a:pt x="23432" y="0"/>
                </a:moveTo>
                <a:lnTo>
                  <a:pt x="2085404" y="0"/>
                </a:lnTo>
                <a:cubicBezTo>
                  <a:pt x="2098358" y="0"/>
                  <a:pt x="2108835" y="10477"/>
                  <a:pt x="2108835" y="23431"/>
                </a:cubicBezTo>
                <a:lnTo>
                  <a:pt x="2108835" y="119761"/>
                </a:lnTo>
                <a:cubicBezTo>
                  <a:pt x="2108835" y="132715"/>
                  <a:pt x="2098358" y="143192"/>
                  <a:pt x="2085404" y="143192"/>
                </a:cubicBezTo>
                <a:lnTo>
                  <a:pt x="23432" y="143192"/>
                </a:lnTo>
                <a:cubicBezTo>
                  <a:pt x="10477" y="143192"/>
                  <a:pt x="0" y="132715"/>
                  <a:pt x="0" y="119761"/>
                </a:cubicBezTo>
                <a:lnTo>
                  <a:pt x="0" y="23431"/>
                </a:lnTo>
                <a:cubicBezTo>
                  <a:pt x="0" y="10477"/>
                  <a:pt x="10477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00" name="m-p17_double_funnel-kpi-cap"/>
          <p:cNvSpPr/>
          <p:nvPr/>
        </p:nvSpPr>
        <p:spPr>
          <a:xfrm>
            <a:off x="4983162" y="6897053"/>
            <a:ext cx="2108835" cy="9144"/>
          </a:xfrm>
          <a:custGeom>
            <a:avLst/>
            <a:gdLst/>
            <a:ahLst/>
            <a:cxnLst/>
            <a:rect l="0" t="0" r="r" b="b"/>
            <a:pathLst>
              <a:path w="2108835" h="9144">
                <a:moveTo>
                  <a:pt x="4572" y="0"/>
                </a:moveTo>
                <a:lnTo>
                  <a:pt x="2104263" y="0"/>
                </a:lnTo>
                <a:cubicBezTo>
                  <a:pt x="2106803" y="0"/>
                  <a:pt x="2108835" y="2032"/>
                  <a:pt x="2108835" y="4572"/>
                </a:cubicBezTo>
                <a:lnTo>
                  <a:pt x="2108835" y="4572"/>
                </a:lnTo>
                <a:cubicBezTo>
                  <a:pt x="2108835" y="7048"/>
                  <a:pt x="2106803" y="9144"/>
                  <a:pt x="2104263" y="9144"/>
                </a:cubicBezTo>
                <a:lnTo>
                  <a:pt x="4572" y="9144"/>
                </a:lnTo>
                <a:cubicBezTo>
                  <a:pt x="2032" y="9144"/>
                  <a:pt x="0" y="7048"/>
                  <a:pt x="0" y="4572"/>
                </a:cubicBezTo>
                <a:lnTo>
                  <a:pt x="0" y="4572"/>
                </a:lnTo>
                <a:cubicBezTo>
                  <a:pt x="0" y="2032"/>
                  <a:pt x="2032" y="0"/>
                  <a:pt x="4572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01" name="m-p17_double_funnel-kv-1"/>
          <p:cNvSpPr txBox="1"/>
          <p:nvPr/>
        </p:nvSpPr>
        <p:spPr>
          <a:xfrm>
            <a:off x="5069599" y="6921721"/>
            <a:ext cx="125749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6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2.6%</a:t>
            </a:r>
          </a:p>
        </p:txBody>
      </p:sp>
      <p:sp>
        <p:nvSpPr>
          <p:cNvPr id="2102" name="m-p17_double_funnel-kl-1"/>
          <p:cNvSpPr txBox="1"/>
          <p:nvPr/>
        </p:nvSpPr>
        <p:spPr>
          <a:xfrm>
            <a:off x="5240779" y="6936609"/>
            <a:ext cx="138311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6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线索到成交</a:t>
            </a:r>
          </a:p>
        </p:txBody>
      </p:sp>
      <p:sp>
        <p:nvSpPr>
          <p:cNvPr id="2103" name="m-p17_double_funnel-kn-1"/>
          <p:cNvSpPr txBox="1"/>
          <p:nvPr/>
        </p:nvSpPr>
        <p:spPr>
          <a:xfrm>
            <a:off x="5241326" y="6978685"/>
            <a:ext cx="164749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48,600 → 1,286</a:t>
            </a:r>
          </a:p>
        </p:txBody>
      </p:sp>
      <p:cxnSp>
        <p:nvCxnSpPr>
          <p:cNvPr id="2104" name="m-p17_double_funnel-ksep-1"/>
          <p:cNvCxnSpPr/>
          <p:nvPr/>
        </p:nvCxnSpPr>
        <p:spPr>
          <a:xfrm>
            <a:off x="5522087" y="6933501"/>
            <a:ext cx="0" cy="75502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05" name="m-p17_double_funnel-kv-2"/>
          <p:cNvSpPr txBox="1"/>
          <p:nvPr/>
        </p:nvSpPr>
        <p:spPr>
          <a:xfrm>
            <a:off x="5590299" y="6921721"/>
            <a:ext cx="148400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6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96.4%</a:t>
            </a:r>
          </a:p>
        </p:txBody>
      </p:sp>
      <p:sp>
        <p:nvSpPr>
          <p:cNvPr id="2106" name="m-p17_double_funnel-kl-2"/>
          <p:cNvSpPr txBox="1"/>
          <p:nvPr/>
        </p:nvSpPr>
        <p:spPr>
          <a:xfrm>
            <a:off x="5761479" y="6936609"/>
            <a:ext cx="138311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6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首年续约率</a:t>
            </a:r>
          </a:p>
        </p:txBody>
      </p:sp>
      <p:sp>
        <p:nvSpPr>
          <p:cNvPr id="2107" name="m-p17_double_funnel-kn-2"/>
          <p:cNvSpPr txBox="1"/>
          <p:nvPr/>
        </p:nvSpPr>
        <p:spPr>
          <a:xfrm>
            <a:off x="5762026" y="6978685"/>
            <a:ext cx="154153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1,286 → 1,240</a:t>
            </a:r>
          </a:p>
        </p:txBody>
      </p:sp>
      <p:cxnSp>
        <p:nvCxnSpPr>
          <p:cNvPr id="2108" name="m-p17_double_funnel-ksep-2"/>
          <p:cNvCxnSpPr/>
          <p:nvPr/>
        </p:nvCxnSpPr>
        <p:spPr>
          <a:xfrm>
            <a:off x="6042787" y="6933501"/>
            <a:ext cx="0" cy="75502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09" name="m-p17_double_funnel-kv-3"/>
          <p:cNvSpPr txBox="1"/>
          <p:nvPr/>
        </p:nvSpPr>
        <p:spPr>
          <a:xfrm>
            <a:off x="6110999" y="6921721"/>
            <a:ext cx="148400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6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37.8%</a:t>
            </a:r>
          </a:p>
        </p:txBody>
      </p:sp>
      <p:sp>
        <p:nvSpPr>
          <p:cNvPr id="2110" name="m-p17_double_funnel-kl-3"/>
          <p:cNvSpPr txBox="1"/>
          <p:nvPr/>
        </p:nvSpPr>
        <p:spPr>
          <a:xfrm>
            <a:off x="6282179" y="6936609"/>
            <a:ext cx="138311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6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增购渗透率</a:t>
            </a:r>
          </a:p>
        </p:txBody>
      </p:sp>
      <p:sp>
        <p:nvSpPr>
          <p:cNvPr id="2111" name="m-p17_double_funnel-kn-3"/>
          <p:cNvSpPr txBox="1"/>
          <p:nvPr/>
        </p:nvSpPr>
        <p:spPr>
          <a:xfrm>
            <a:off x="6282726" y="6978685"/>
            <a:ext cx="132961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486 / 1,286</a:t>
            </a:r>
          </a:p>
        </p:txBody>
      </p:sp>
      <p:cxnSp>
        <p:nvCxnSpPr>
          <p:cNvPr id="2112" name="m-p17_double_funnel-ksep-3"/>
          <p:cNvCxnSpPr/>
          <p:nvPr/>
        </p:nvCxnSpPr>
        <p:spPr>
          <a:xfrm>
            <a:off x="6563487" y="6933501"/>
            <a:ext cx="0" cy="75502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3" name="m-p17_double_funnel-kv-4"/>
          <p:cNvSpPr txBox="1"/>
          <p:nvPr/>
        </p:nvSpPr>
        <p:spPr>
          <a:xfrm>
            <a:off x="6631699" y="6921721"/>
            <a:ext cx="148400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6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1.42×</a:t>
            </a:r>
          </a:p>
        </p:txBody>
      </p:sp>
      <p:sp>
        <p:nvSpPr>
          <p:cNvPr id="2114" name="m-p17_double_funnel-kl-4"/>
          <p:cNvSpPr txBox="1"/>
          <p:nvPr/>
        </p:nvSpPr>
        <p:spPr>
          <a:xfrm>
            <a:off x="6802879" y="6936609"/>
            <a:ext cx="185434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1" i="0" u="none" strike="noStrike" kern="1200" cap="none" spc="6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客户净收入留存</a:t>
            </a:r>
          </a:p>
        </p:txBody>
      </p:sp>
      <p:sp>
        <p:nvSpPr>
          <p:cNvPr id="2115" name="m-p17_double_funnel-kn-4"/>
          <p:cNvSpPr txBox="1"/>
          <p:nvPr/>
        </p:nvSpPr>
        <p:spPr>
          <a:xfrm>
            <a:off x="6803426" y="6978685"/>
            <a:ext cx="128092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3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含增购与流失</a:t>
            </a:r>
          </a:p>
        </p:txBody>
      </p:sp>
      <p:sp>
        <p:nvSpPr>
          <p:cNvPr id="2116" name="m-p17_double_funnel-note-bar"/>
          <p:cNvSpPr/>
          <p:nvPr/>
        </p:nvSpPr>
        <p:spPr>
          <a:xfrm>
            <a:off x="4983162" y="7048056"/>
            <a:ext cx="5207" cy="67691"/>
          </a:xfrm>
          <a:prstGeom prst="roundRect">
            <a:avLst>
              <a:gd name="adj" fmla="val 41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17" name="m-p17_double_funnel-note-h"/>
          <p:cNvSpPr txBox="1"/>
          <p:nvPr/>
        </p:nvSpPr>
        <p:spPr>
          <a:xfrm>
            <a:off x="5014352" y="7059778"/>
            <a:ext cx="69383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判断</a:t>
            </a:r>
          </a:p>
        </p:txBody>
      </p:sp>
      <p:sp>
        <p:nvSpPr>
          <p:cNvPr id="2118" name="m-p17_double_funnel-note-p"/>
          <p:cNvSpPr txBox="1"/>
          <p:nvPr/>
        </p:nvSpPr>
        <p:spPr>
          <a:xfrm>
            <a:off x="5113207" y="7058974"/>
            <a:ext cx="108181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获客漏斗最大的损耗在「线索 → 商机」（31.1%），留存漏斗的机会在增购（当前仅 37.8% 渗透）。</a:t>
            </a:r>
          </a:p>
        </p:txBody>
      </p:sp>
      <p:cxnSp>
        <p:nvCxnSpPr>
          <p:cNvPr id="2119" name="m-p17_double_funnel-foot-line"/>
          <p:cNvCxnSpPr/>
          <p:nvPr/>
        </p:nvCxnSpPr>
        <p:spPr>
          <a:xfrm>
            <a:off x="4907661" y="71417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20" name="m-p17_double_funnel-foot-l"/>
          <p:cNvSpPr txBox="1"/>
          <p:nvPr/>
        </p:nvSpPr>
        <p:spPr>
          <a:xfrm>
            <a:off x="4905474" y="7155723"/>
            <a:ext cx="21429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双漏斗 · 获客与留存</a:t>
            </a:r>
          </a:p>
        </p:txBody>
      </p:sp>
      <p:sp>
        <p:nvSpPr>
          <p:cNvPr id="2121" name="m-p17_double_funnel-foot-r"/>
          <p:cNvSpPr txBox="1"/>
          <p:nvPr/>
        </p:nvSpPr>
        <p:spPr>
          <a:xfrm>
            <a:off x="6909909" y="71557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2122" name="mini-card-d02_progress_rings"/>
          <p:cNvSpPr/>
          <p:nvPr/>
        </p:nvSpPr>
        <p:spPr>
          <a:xfrm>
            <a:off x="7404100" y="58166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1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1" y="1405890"/>
                </a:lnTo>
                <a:cubicBezTo>
                  <a:pt x="35878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7"/>
                  <a:pt x="35878" y="0"/>
                  <a:pt x="80201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23" name="m-d02_progress_rings-title-bar"/>
          <p:cNvSpPr/>
          <p:nvPr/>
        </p:nvSpPr>
        <p:spPr>
          <a:xfrm>
            <a:off x="7523861" y="59155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24" name="m-d02_progress_rings-title-bar-accent"/>
          <p:cNvSpPr/>
          <p:nvPr/>
        </p:nvSpPr>
        <p:spPr>
          <a:xfrm>
            <a:off x="7523861" y="59155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25" name="m-d02_progress_rings-title-cn"/>
          <p:cNvSpPr txBox="1"/>
          <p:nvPr/>
        </p:nvSpPr>
        <p:spPr>
          <a:xfrm>
            <a:off x="7556040" y="5898168"/>
            <a:ext cx="488937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年度目标完成度</a:t>
            </a:r>
          </a:p>
        </p:txBody>
      </p:sp>
      <p:sp>
        <p:nvSpPr>
          <p:cNvPr id="2126" name="m-d02_progress_rings-title-en"/>
          <p:cNvSpPr txBox="1"/>
          <p:nvPr/>
        </p:nvSpPr>
        <p:spPr>
          <a:xfrm>
            <a:off x="7563330" y="5985450"/>
            <a:ext cx="29640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ANNUAL PROGRESS</a:t>
            </a:r>
          </a:p>
        </p:txBody>
      </p:sp>
      <p:sp>
        <p:nvSpPr>
          <p:cNvPr id="2127" name="m-d02_progress_rings-title-sub"/>
          <p:cNvSpPr txBox="1"/>
          <p:nvPr/>
        </p:nvSpPr>
        <p:spPr>
          <a:xfrm>
            <a:off x="9391534" y="5954592"/>
            <a:ext cx="394821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总体进度与四项关键指标的完成情况</a:t>
            </a:r>
          </a:p>
        </p:txBody>
      </p:sp>
      <p:sp>
        <p:nvSpPr>
          <p:cNvPr id="2128" name="m-d02_progress_rings-main-bg"/>
          <p:cNvSpPr/>
          <p:nvPr/>
        </p:nvSpPr>
        <p:spPr>
          <a:xfrm>
            <a:off x="7831074" y="6316472"/>
            <a:ext cx="551942" cy="551942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29" name="m-d02_progress_rings-main-track"/>
          <p:cNvSpPr/>
          <p:nvPr/>
        </p:nvSpPr>
        <p:spPr>
          <a:xfrm>
            <a:off x="7875334" y="6360732"/>
            <a:ext cx="463423" cy="463423"/>
          </a:xfrm>
          <a:prstGeom prst="ellipse">
            <a:avLst/>
          </a:prstGeom>
          <a:noFill/>
          <a:ln w="39052" cap="rnd">
            <a:solidFill>
              <a:srgbClr val="E3EBF6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30" name="m-d02_progress_rings-main-arc"/>
          <p:cNvSpPr/>
          <p:nvPr/>
        </p:nvSpPr>
        <p:spPr>
          <a:xfrm>
            <a:off x="7875453" y="6360732"/>
            <a:ext cx="463151" cy="463416"/>
          </a:xfrm>
          <a:custGeom>
            <a:avLst/>
            <a:gdLst/>
            <a:ahLst/>
            <a:cxnLst/>
            <a:rect l="0" t="0" r="r" b="b"/>
            <a:pathLst>
              <a:path w="463151" h="463416">
                <a:moveTo>
                  <a:pt x="231592" y="0"/>
                </a:moveTo>
                <a:cubicBezTo>
                  <a:pt x="329318" y="0"/>
                  <a:pt x="416504" y="61277"/>
                  <a:pt x="449587" y="153225"/>
                </a:cubicBezTo>
                <a:cubicBezTo>
                  <a:pt x="482671" y="245173"/>
                  <a:pt x="454604" y="347980"/>
                  <a:pt x="379293" y="410273"/>
                </a:cubicBezTo>
                <a:cubicBezTo>
                  <a:pt x="303982" y="472503"/>
                  <a:pt x="197746" y="480886"/>
                  <a:pt x="113672" y="431165"/>
                </a:cubicBezTo>
                <a:cubicBezTo>
                  <a:pt x="29535" y="381444"/>
                  <a:pt x="-14344" y="284289"/>
                  <a:pt x="4008" y="188277"/>
                </a:cubicBezTo>
              </a:path>
            </a:pathLst>
          </a:custGeom>
          <a:noFill/>
          <a:ln w="39052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31" name="m-d02_progress_rings-main-line"/>
          <p:cNvSpPr/>
          <p:nvPr/>
        </p:nvSpPr>
        <p:spPr>
          <a:xfrm>
            <a:off x="7911782" y="6397180"/>
            <a:ext cx="390525" cy="390525"/>
          </a:xfrm>
          <a:prstGeom prst="ellipse">
            <a:avLst/>
          </a:prstGeom>
          <a:noFill/>
          <a:ln w="2540" cap="rnd">
            <a:solidFill>
              <a:srgbClr val="1B5AA8">
                <a:alpha val="1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32" name="m-d02_progress_rings-main-v"/>
          <p:cNvSpPr txBox="1"/>
          <p:nvPr/>
        </p:nvSpPr>
        <p:spPr>
          <a:xfrm>
            <a:off x="7872209" y="6466746"/>
            <a:ext cx="255039" cy="21869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980" b="1" i="0" u="none" strike="noStrike" kern="1200" cap="none" spc="10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78</a:t>
            </a:r>
          </a:p>
        </p:txBody>
      </p:sp>
      <p:sp>
        <p:nvSpPr>
          <p:cNvPr id="2133" name="m-d02_progress_rings-main-p"/>
          <p:cNvSpPr txBox="1"/>
          <p:nvPr/>
        </p:nvSpPr>
        <p:spPr>
          <a:xfrm>
            <a:off x="8117980" y="6520782"/>
            <a:ext cx="57017" cy="6834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10" b="1" i="0" u="none" strike="noStrike" kern="1200" cap="none" spc="0" normalizeH="0" baseline="0" noProof="0">
                <a:ln>
                  <a:noFill/>
                </a:ln>
                <a:solidFill>
                  <a:srgbClr val="1B5AA8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%</a:t>
            </a:r>
          </a:p>
        </p:txBody>
      </p:sp>
      <p:sp>
        <p:nvSpPr>
          <p:cNvPr id="2134" name="m-d02_progress_rings-main-l"/>
          <p:cNvSpPr txBox="1"/>
          <p:nvPr/>
        </p:nvSpPr>
        <p:spPr>
          <a:xfrm>
            <a:off x="8002514" y="6645209"/>
            <a:ext cx="209061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年度综合完成率</a:t>
            </a:r>
          </a:p>
        </p:txBody>
      </p:sp>
      <p:sp>
        <p:nvSpPr>
          <p:cNvPr id="2135" name="m-d02_progress_rings-main-dot"/>
          <p:cNvSpPr/>
          <p:nvPr/>
        </p:nvSpPr>
        <p:spPr>
          <a:xfrm>
            <a:off x="7865118" y="6534705"/>
            <a:ext cx="28638" cy="28638"/>
          </a:xfrm>
          <a:prstGeom prst="ellipse">
            <a:avLst/>
          </a:prstGeom>
          <a:solidFill>
            <a:srgbClr val="FFFFFF"/>
          </a:solidFill>
          <a:ln w="4426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36" name="m-d02_progress_rings-main-note"/>
          <p:cNvSpPr txBox="1"/>
          <p:nvPr/>
        </p:nvSpPr>
        <p:spPr>
          <a:xfrm>
            <a:off x="7881165" y="6923400"/>
            <a:ext cx="451759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距离全年目标还差 22%，四季度为冲刺关键期</a:t>
            </a:r>
          </a:p>
        </p:txBody>
      </p:sp>
      <p:sp>
        <p:nvSpPr>
          <p:cNvPr id="2137" name="m-d02_progress_rings-card-1"/>
          <p:cNvSpPr/>
          <p:nvPr/>
        </p:nvSpPr>
        <p:spPr>
          <a:xfrm>
            <a:off x="8653780" y="6227953"/>
            <a:ext cx="508953" cy="320231"/>
          </a:xfrm>
          <a:custGeom>
            <a:avLst/>
            <a:gdLst/>
            <a:ahLst/>
            <a:cxnLst/>
            <a:rect l="0" t="0" r="r" b="b"/>
            <a:pathLst>
              <a:path w="508953" h="320231">
                <a:moveTo>
                  <a:pt x="23432" y="0"/>
                </a:moveTo>
                <a:lnTo>
                  <a:pt x="485521" y="0"/>
                </a:lnTo>
                <a:cubicBezTo>
                  <a:pt x="498475" y="0"/>
                  <a:pt x="508953" y="10477"/>
                  <a:pt x="508953" y="23432"/>
                </a:cubicBezTo>
                <a:lnTo>
                  <a:pt x="508953" y="296799"/>
                </a:lnTo>
                <a:cubicBezTo>
                  <a:pt x="508953" y="309753"/>
                  <a:pt x="498475" y="320231"/>
                  <a:pt x="485521" y="320231"/>
                </a:cubicBezTo>
                <a:lnTo>
                  <a:pt x="23432" y="320231"/>
                </a:lnTo>
                <a:cubicBezTo>
                  <a:pt x="10478" y="320231"/>
                  <a:pt x="0" y="309753"/>
                  <a:pt x="0" y="296799"/>
                </a:cubicBezTo>
                <a:lnTo>
                  <a:pt x="0" y="23432"/>
                </a:lnTo>
                <a:cubicBezTo>
                  <a:pt x="0" y="10477"/>
                  <a:pt x="10478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38" name="m-d02_progress_rings-cap-1"/>
          <p:cNvSpPr/>
          <p:nvPr/>
        </p:nvSpPr>
        <p:spPr>
          <a:xfrm>
            <a:off x="8653780" y="6227953"/>
            <a:ext cx="508953" cy="7811"/>
          </a:xfrm>
          <a:custGeom>
            <a:avLst/>
            <a:gdLst/>
            <a:ahLst/>
            <a:cxnLst/>
            <a:rect l="0" t="0" r="r" b="b"/>
            <a:pathLst>
              <a:path w="508953" h="7811">
                <a:moveTo>
                  <a:pt x="3874" y="0"/>
                </a:moveTo>
                <a:lnTo>
                  <a:pt x="505079" y="0"/>
                </a:lnTo>
                <a:cubicBezTo>
                  <a:pt x="507238" y="0"/>
                  <a:pt x="508953" y="1714"/>
                  <a:pt x="508953" y="3874"/>
                </a:cubicBezTo>
                <a:lnTo>
                  <a:pt x="508953" y="3874"/>
                </a:lnTo>
                <a:cubicBezTo>
                  <a:pt x="508953" y="6096"/>
                  <a:pt x="507238" y="7811"/>
                  <a:pt x="505079" y="7811"/>
                </a:cubicBezTo>
                <a:lnTo>
                  <a:pt x="3874" y="7811"/>
                </a:lnTo>
                <a:cubicBezTo>
                  <a:pt x="1714" y="7811"/>
                  <a:pt x="0" y="6096"/>
                  <a:pt x="0" y="3874"/>
                </a:cubicBezTo>
                <a:lnTo>
                  <a:pt x="0" y="3874"/>
                </a:lnTo>
                <a:cubicBezTo>
                  <a:pt x="0" y="1714"/>
                  <a:pt x="1714" y="0"/>
                  <a:pt x="3874" y="0"/>
                </a:cubicBezTo>
                <a:close/>
              </a:path>
            </a:pathLst>
          </a:cu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39" name="m-d02_progress_rings-tr-1"/>
          <p:cNvSpPr/>
          <p:nvPr/>
        </p:nvSpPr>
        <p:spPr>
          <a:xfrm>
            <a:off x="8700643" y="6316472"/>
            <a:ext cx="145796" cy="145796"/>
          </a:xfrm>
          <a:prstGeom prst="ellipse">
            <a:avLst/>
          </a:prstGeom>
          <a:noFill/>
          <a:ln w="19526" cap="rnd">
            <a:solidFill>
              <a:srgbClr val="E7EEF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40" name="m-d02_progress_rings-arc-1"/>
          <p:cNvSpPr/>
          <p:nvPr/>
        </p:nvSpPr>
        <p:spPr>
          <a:xfrm>
            <a:off x="8700643" y="6316472"/>
            <a:ext cx="145724" cy="145807"/>
          </a:xfrm>
          <a:custGeom>
            <a:avLst/>
            <a:gdLst/>
            <a:ahLst/>
            <a:cxnLst/>
            <a:rect l="0" t="0" r="r" b="b"/>
            <a:pathLst>
              <a:path w="145724" h="145807">
                <a:moveTo>
                  <a:pt x="72898" y="0"/>
                </a:moveTo>
                <a:cubicBezTo>
                  <a:pt x="107061" y="0"/>
                  <a:pt x="136588" y="23686"/>
                  <a:pt x="144018" y="57023"/>
                </a:cubicBezTo>
                <a:cubicBezTo>
                  <a:pt x="151447" y="90297"/>
                  <a:pt x="134811" y="124333"/>
                  <a:pt x="103949" y="138875"/>
                </a:cubicBezTo>
                <a:cubicBezTo>
                  <a:pt x="73025" y="153416"/>
                  <a:pt x="36195" y="144526"/>
                  <a:pt x="15303" y="117602"/>
                </a:cubicBezTo>
                <a:cubicBezTo>
                  <a:pt x="-5652" y="90614"/>
                  <a:pt x="-5016" y="52705"/>
                  <a:pt x="16700" y="26416"/>
                </a:cubicBezTo>
              </a:path>
            </a:pathLst>
          </a:custGeom>
          <a:noFill/>
          <a:ln w="19526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41" name="m-d02_progress_rings-v-1"/>
          <p:cNvSpPr txBox="1"/>
          <p:nvPr/>
        </p:nvSpPr>
        <p:spPr>
          <a:xfrm>
            <a:off x="8733421" y="6350942"/>
            <a:ext cx="85447" cy="7289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30" b="1" i="0" u="none" strike="noStrike" kern="1200" cap="none" spc="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86</a:t>
            </a:r>
          </a:p>
        </p:txBody>
      </p:sp>
      <p:sp>
        <p:nvSpPr>
          <p:cNvPr id="2142" name="m-d02_progress_rings-p-1"/>
          <p:cNvSpPr txBox="1"/>
          <p:nvPr/>
        </p:nvSpPr>
        <p:spPr>
          <a:xfrm>
            <a:off x="8815614" y="6359052"/>
            <a:ext cx="2660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%</a:t>
            </a:r>
          </a:p>
        </p:txBody>
      </p:sp>
      <p:sp>
        <p:nvSpPr>
          <p:cNvPr id="2143" name="m-d02_progress_rings-icon-coin"/>
          <p:cNvSpPr/>
          <p:nvPr/>
        </p:nvSpPr>
        <p:spPr>
          <a:xfrm>
            <a:off x="9091232" y="6287770"/>
            <a:ext cx="18097" cy="15748"/>
          </a:xfrm>
          <a:custGeom>
            <a:avLst/>
            <a:gdLst/>
            <a:ahLst/>
            <a:cxnLst/>
            <a:rect l="0" t="0" r="r" b="b"/>
            <a:pathLst>
              <a:path w="18097" h="15748">
                <a:moveTo>
                  <a:pt x="9080" y="0"/>
                </a:moveTo>
                <a:cubicBezTo>
                  <a:pt x="4000" y="0"/>
                  <a:pt x="0" y="1397"/>
                  <a:pt x="0" y="3365"/>
                </a:cubicBezTo>
                <a:cubicBezTo>
                  <a:pt x="0" y="5334"/>
                  <a:pt x="4000" y="6731"/>
                  <a:pt x="9080" y="6731"/>
                </a:cubicBezTo>
                <a:cubicBezTo>
                  <a:pt x="14097" y="6731"/>
                  <a:pt x="18097" y="5334"/>
                  <a:pt x="18097" y="3365"/>
                </a:cubicBezTo>
                <a:cubicBezTo>
                  <a:pt x="18097" y="1397"/>
                  <a:pt x="14097" y="0"/>
                  <a:pt x="9080" y="0"/>
                </a:cubicBezTo>
                <a:close/>
                <a:moveTo>
                  <a:pt x="0" y="3365"/>
                </a:moveTo>
                <a:lnTo>
                  <a:pt x="0" y="12382"/>
                </a:lnTo>
                <a:cubicBezTo>
                  <a:pt x="0" y="14351"/>
                  <a:pt x="4000" y="15748"/>
                  <a:pt x="9080" y="15748"/>
                </a:cubicBezTo>
                <a:cubicBezTo>
                  <a:pt x="14097" y="15748"/>
                  <a:pt x="18097" y="14351"/>
                  <a:pt x="18097" y="12382"/>
                </a:cubicBezTo>
                <a:lnTo>
                  <a:pt x="18097" y="3365"/>
                </a:lnTo>
              </a:path>
            </a:pathLst>
          </a:custGeom>
          <a:noFill/>
          <a:ln w="2540" cap="rnd">
            <a:solidFill>
              <a:srgbClr val="0B3E8F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44" name="m-d02_progress_rings-n-1"/>
          <p:cNvSpPr txBox="1"/>
          <p:nvPr/>
        </p:nvSpPr>
        <p:spPr>
          <a:xfrm>
            <a:off x="8873776" y="6333557"/>
            <a:ext cx="167275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营收目标</a:t>
            </a:r>
          </a:p>
        </p:txBody>
      </p:sp>
      <p:sp>
        <p:nvSpPr>
          <p:cNvPr id="2145" name="m-d02_progress_rings-note-1"/>
          <p:cNvSpPr txBox="1"/>
          <p:nvPr/>
        </p:nvSpPr>
        <p:spPr>
          <a:xfrm>
            <a:off x="8874947" y="6389874"/>
            <a:ext cx="21316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17.2 亿 / 20 亿</a:t>
            </a:r>
          </a:p>
        </p:txBody>
      </p:sp>
      <p:sp>
        <p:nvSpPr>
          <p:cNvPr id="2146" name="m-d02_progress_rings-bg-1"/>
          <p:cNvSpPr/>
          <p:nvPr/>
        </p:nvSpPr>
        <p:spPr>
          <a:xfrm>
            <a:off x="8877681" y="6454458"/>
            <a:ext cx="247332" cy="10414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47" name="m-d02_progress_rings-bar-1"/>
          <p:cNvSpPr/>
          <p:nvPr/>
        </p:nvSpPr>
        <p:spPr>
          <a:xfrm>
            <a:off x="8877681" y="6454458"/>
            <a:ext cx="212706" cy="10414"/>
          </a:xfrm>
          <a:prstGeom prst="roundRect">
            <a:avLst>
              <a:gd name="adj" fmla="val 50000"/>
            </a:avLst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48" name="m-d02_progress_rings-card-2"/>
          <p:cNvSpPr/>
          <p:nvPr/>
        </p:nvSpPr>
        <p:spPr>
          <a:xfrm>
            <a:off x="9199182" y="6227953"/>
            <a:ext cx="509016" cy="320231"/>
          </a:xfrm>
          <a:custGeom>
            <a:avLst/>
            <a:gdLst/>
            <a:ahLst/>
            <a:cxnLst/>
            <a:rect l="0" t="0" r="r" b="b"/>
            <a:pathLst>
              <a:path w="509016" h="320231">
                <a:moveTo>
                  <a:pt x="23432" y="0"/>
                </a:moveTo>
                <a:lnTo>
                  <a:pt x="485585" y="0"/>
                </a:lnTo>
                <a:cubicBezTo>
                  <a:pt x="498538" y="0"/>
                  <a:pt x="509016" y="10477"/>
                  <a:pt x="509016" y="23432"/>
                </a:cubicBezTo>
                <a:lnTo>
                  <a:pt x="509016" y="296799"/>
                </a:lnTo>
                <a:cubicBezTo>
                  <a:pt x="509016" y="309753"/>
                  <a:pt x="498538" y="320231"/>
                  <a:pt x="485585" y="320231"/>
                </a:cubicBezTo>
                <a:lnTo>
                  <a:pt x="23432" y="320231"/>
                </a:lnTo>
                <a:cubicBezTo>
                  <a:pt x="10541" y="320231"/>
                  <a:pt x="0" y="309753"/>
                  <a:pt x="0" y="296799"/>
                </a:cubicBezTo>
                <a:lnTo>
                  <a:pt x="0" y="23432"/>
                </a:lnTo>
                <a:cubicBezTo>
                  <a:pt x="0" y="10477"/>
                  <a:pt x="10541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49" name="m-d02_progress_rings-cap-2"/>
          <p:cNvSpPr/>
          <p:nvPr/>
        </p:nvSpPr>
        <p:spPr>
          <a:xfrm>
            <a:off x="9199182" y="6227953"/>
            <a:ext cx="509016" cy="7811"/>
          </a:xfrm>
          <a:custGeom>
            <a:avLst/>
            <a:gdLst/>
            <a:ahLst/>
            <a:cxnLst/>
            <a:rect l="0" t="0" r="r" b="b"/>
            <a:pathLst>
              <a:path w="509016" h="7811">
                <a:moveTo>
                  <a:pt x="3937" y="0"/>
                </a:moveTo>
                <a:lnTo>
                  <a:pt x="505079" y="0"/>
                </a:lnTo>
                <a:cubicBezTo>
                  <a:pt x="507301" y="0"/>
                  <a:pt x="509016" y="1714"/>
                  <a:pt x="509016" y="3874"/>
                </a:cubicBezTo>
                <a:lnTo>
                  <a:pt x="509016" y="3874"/>
                </a:lnTo>
                <a:cubicBezTo>
                  <a:pt x="509016" y="6096"/>
                  <a:pt x="507301" y="7811"/>
                  <a:pt x="505079" y="7811"/>
                </a:cubicBezTo>
                <a:lnTo>
                  <a:pt x="3937" y="7811"/>
                </a:lnTo>
                <a:cubicBezTo>
                  <a:pt x="1778" y="7811"/>
                  <a:pt x="0" y="6096"/>
                  <a:pt x="0" y="3874"/>
                </a:cubicBezTo>
                <a:lnTo>
                  <a:pt x="0" y="3874"/>
                </a:lnTo>
                <a:cubicBezTo>
                  <a:pt x="0" y="1714"/>
                  <a:pt x="1778" y="0"/>
                  <a:pt x="3937" y="0"/>
                </a:cubicBezTo>
                <a:close/>
              </a:path>
            </a:pathLst>
          </a:cu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50" name="m-d02_progress_rings-tr-2"/>
          <p:cNvSpPr/>
          <p:nvPr/>
        </p:nvSpPr>
        <p:spPr>
          <a:xfrm>
            <a:off x="9246076" y="6316472"/>
            <a:ext cx="145796" cy="145796"/>
          </a:xfrm>
          <a:prstGeom prst="ellipse">
            <a:avLst/>
          </a:prstGeom>
          <a:noFill/>
          <a:ln w="19526" cap="rnd">
            <a:solidFill>
              <a:srgbClr val="E7EEF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51" name="m-d02_progress_rings-arc-2"/>
          <p:cNvSpPr/>
          <p:nvPr/>
        </p:nvSpPr>
        <p:spPr>
          <a:xfrm>
            <a:off x="9247378" y="6316472"/>
            <a:ext cx="144439" cy="145776"/>
          </a:xfrm>
          <a:custGeom>
            <a:avLst/>
            <a:gdLst/>
            <a:ahLst/>
            <a:cxnLst/>
            <a:rect l="0" t="0" r="r" b="b"/>
            <a:pathLst>
              <a:path w="144439" h="145776">
                <a:moveTo>
                  <a:pt x="71628" y="0"/>
                </a:moveTo>
                <a:cubicBezTo>
                  <a:pt x="110109" y="0"/>
                  <a:pt x="141923" y="29908"/>
                  <a:pt x="144336" y="68326"/>
                </a:cubicBezTo>
                <a:cubicBezTo>
                  <a:pt x="146749" y="106743"/>
                  <a:pt x="118936" y="140399"/>
                  <a:pt x="80709" y="145225"/>
                </a:cubicBezTo>
                <a:cubicBezTo>
                  <a:pt x="42545" y="150050"/>
                  <a:pt x="7176" y="124333"/>
                  <a:pt x="0" y="86550"/>
                </a:cubicBezTo>
              </a:path>
            </a:pathLst>
          </a:custGeom>
          <a:noFill/>
          <a:ln w="19526" cap="rnd">
            <a:solidFill>
              <a:srgbClr val="1B5AA8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52" name="m-d02_progress_rings-v-2"/>
          <p:cNvSpPr txBox="1"/>
          <p:nvPr/>
        </p:nvSpPr>
        <p:spPr>
          <a:xfrm>
            <a:off x="9278854" y="6350942"/>
            <a:ext cx="85447" cy="7289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30" b="1" i="0" u="none" strike="noStrike" kern="1200" cap="none" spc="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72</a:t>
            </a:r>
          </a:p>
        </p:txBody>
      </p:sp>
      <p:sp>
        <p:nvSpPr>
          <p:cNvPr id="2153" name="m-d02_progress_rings-p-2"/>
          <p:cNvSpPr txBox="1"/>
          <p:nvPr/>
        </p:nvSpPr>
        <p:spPr>
          <a:xfrm>
            <a:off x="9361047" y="6359052"/>
            <a:ext cx="2660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%</a:t>
            </a:r>
          </a:p>
        </p:txBody>
      </p:sp>
      <p:sp>
        <p:nvSpPr>
          <p:cNvPr id="2154" name="m-d02_progress_rings-icon-people"/>
          <p:cNvSpPr/>
          <p:nvPr/>
        </p:nvSpPr>
        <p:spPr>
          <a:xfrm>
            <a:off x="9633839" y="6299327"/>
            <a:ext cx="24003" cy="6731"/>
          </a:xfrm>
          <a:custGeom>
            <a:avLst/>
            <a:gdLst/>
            <a:ahLst/>
            <a:cxnLst/>
            <a:rect l="0" t="0" r="r" b="b"/>
            <a:pathLst>
              <a:path w="24003" h="6731">
                <a:moveTo>
                  <a:pt x="0" y="6731"/>
                </a:moveTo>
                <a:cubicBezTo>
                  <a:pt x="0" y="2540"/>
                  <a:pt x="3556" y="0"/>
                  <a:pt x="7620" y="0"/>
                </a:cubicBezTo>
                <a:cubicBezTo>
                  <a:pt x="11747" y="0"/>
                  <a:pt x="15240" y="2540"/>
                  <a:pt x="15240" y="6731"/>
                </a:cubicBezTo>
                <a:moveTo>
                  <a:pt x="18097" y="572"/>
                </a:moveTo>
                <a:cubicBezTo>
                  <a:pt x="21717" y="952"/>
                  <a:pt x="24003" y="3493"/>
                  <a:pt x="24003" y="6731"/>
                </a:cubicBezTo>
              </a:path>
            </a:pathLst>
          </a:custGeom>
          <a:noFill/>
          <a:ln w="2540" cap="rnd">
            <a:solidFill>
              <a:srgbClr val="1B5AA8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55" name="m-d02_progress_rings-icon-people"/>
          <p:cNvSpPr/>
          <p:nvPr/>
        </p:nvSpPr>
        <p:spPr>
          <a:xfrm>
            <a:off x="9636970" y="6287183"/>
            <a:ext cx="9025" cy="9025"/>
          </a:xfrm>
          <a:prstGeom prst="ellipse">
            <a:avLst/>
          </a:prstGeom>
          <a:noFill/>
          <a:ln w="2540" cap="rnd">
            <a:solidFill>
              <a:srgbClr val="1B5AA8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56" name="m-d02_progress_rings-icon-people"/>
          <p:cNvSpPr/>
          <p:nvPr/>
        </p:nvSpPr>
        <p:spPr>
          <a:xfrm>
            <a:off x="9649098" y="6287183"/>
            <a:ext cx="7333" cy="7333"/>
          </a:xfrm>
          <a:prstGeom prst="ellipse">
            <a:avLst/>
          </a:prstGeom>
          <a:noFill/>
          <a:ln w="2540" cap="rnd">
            <a:solidFill>
              <a:srgbClr val="1B5AA8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57" name="m-d02_progress_rings-n-2"/>
          <p:cNvSpPr txBox="1"/>
          <p:nvPr/>
        </p:nvSpPr>
        <p:spPr>
          <a:xfrm>
            <a:off x="9419209" y="6333557"/>
            <a:ext cx="167275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新客获取</a:t>
            </a:r>
          </a:p>
        </p:txBody>
      </p:sp>
      <p:sp>
        <p:nvSpPr>
          <p:cNvPr id="2158" name="m-d02_progress_rings-note-2"/>
          <p:cNvSpPr txBox="1"/>
          <p:nvPr/>
        </p:nvSpPr>
        <p:spPr>
          <a:xfrm>
            <a:off x="9420381" y="6389874"/>
            <a:ext cx="24297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8,640 / 12,000 家</a:t>
            </a:r>
          </a:p>
        </p:txBody>
      </p:sp>
      <p:sp>
        <p:nvSpPr>
          <p:cNvPr id="2159" name="m-d02_progress_rings-bg-2"/>
          <p:cNvSpPr/>
          <p:nvPr/>
        </p:nvSpPr>
        <p:spPr>
          <a:xfrm>
            <a:off x="9423114" y="6454458"/>
            <a:ext cx="247332" cy="10414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60" name="m-d02_progress_rings-bar-2"/>
          <p:cNvSpPr/>
          <p:nvPr/>
        </p:nvSpPr>
        <p:spPr>
          <a:xfrm>
            <a:off x="9423114" y="6454458"/>
            <a:ext cx="178079" cy="10414"/>
          </a:xfrm>
          <a:prstGeom prst="roundRect">
            <a:avLst>
              <a:gd name="adj" fmla="val 50000"/>
            </a:avLst>
          </a:prstGeom>
          <a:solidFill>
            <a:srgbClr val="1B5A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61" name="m-d02_progress_rings-card-3"/>
          <p:cNvSpPr/>
          <p:nvPr/>
        </p:nvSpPr>
        <p:spPr>
          <a:xfrm>
            <a:off x="8653780" y="6584632"/>
            <a:ext cx="508953" cy="320231"/>
          </a:xfrm>
          <a:custGeom>
            <a:avLst/>
            <a:gdLst/>
            <a:ahLst/>
            <a:cxnLst/>
            <a:rect l="0" t="0" r="r" b="b"/>
            <a:pathLst>
              <a:path w="508953" h="320231">
                <a:moveTo>
                  <a:pt x="23432" y="0"/>
                </a:moveTo>
                <a:lnTo>
                  <a:pt x="485521" y="0"/>
                </a:lnTo>
                <a:cubicBezTo>
                  <a:pt x="498475" y="0"/>
                  <a:pt x="508953" y="10477"/>
                  <a:pt x="508953" y="23432"/>
                </a:cubicBezTo>
                <a:lnTo>
                  <a:pt x="508953" y="296799"/>
                </a:lnTo>
                <a:cubicBezTo>
                  <a:pt x="508953" y="309753"/>
                  <a:pt x="498475" y="320231"/>
                  <a:pt x="485521" y="320231"/>
                </a:cubicBezTo>
                <a:lnTo>
                  <a:pt x="23432" y="320231"/>
                </a:lnTo>
                <a:cubicBezTo>
                  <a:pt x="10478" y="320231"/>
                  <a:pt x="0" y="309753"/>
                  <a:pt x="0" y="296799"/>
                </a:cubicBezTo>
                <a:lnTo>
                  <a:pt x="0" y="23432"/>
                </a:lnTo>
                <a:cubicBezTo>
                  <a:pt x="0" y="10477"/>
                  <a:pt x="10478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62" name="m-d02_progress_rings-cap-3"/>
          <p:cNvSpPr/>
          <p:nvPr/>
        </p:nvSpPr>
        <p:spPr>
          <a:xfrm>
            <a:off x="8653780" y="6584632"/>
            <a:ext cx="508953" cy="7811"/>
          </a:xfrm>
          <a:custGeom>
            <a:avLst/>
            <a:gdLst/>
            <a:ahLst/>
            <a:cxnLst/>
            <a:rect l="0" t="0" r="r" b="b"/>
            <a:pathLst>
              <a:path w="508953" h="7811">
                <a:moveTo>
                  <a:pt x="3874" y="0"/>
                </a:moveTo>
                <a:lnTo>
                  <a:pt x="505079" y="0"/>
                </a:lnTo>
                <a:cubicBezTo>
                  <a:pt x="507238" y="0"/>
                  <a:pt x="508953" y="1714"/>
                  <a:pt x="508953" y="3937"/>
                </a:cubicBezTo>
                <a:lnTo>
                  <a:pt x="508953" y="3937"/>
                </a:lnTo>
                <a:cubicBezTo>
                  <a:pt x="508953" y="6096"/>
                  <a:pt x="507238" y="7811"/>
                  <a:pt x="505079" y="7811"/>
                </a:cubicBezTo>
                <a:lnTo>
                  <a:pt x="3874" y="7811"/>
                </a:lnTo>
                <a:cubicBezTo>
                  <a:pt x="1714" y="7811"/>
                  <a:pt x="0" y="6096"/>
                  <a:pt x="0" y="3937"/>
                </a:cubicBezTo>
                <a:lnTo>
                  <a:pt x="0" y="3937"/>
                </a:lnTo>
                <a:cubicBezTo>
                  <a:pt x="0" y="1714"/>
                  <a:pt x="1714" y="0"/>
                  <a:pt x="3874" y="0"/>
                </a:cubicBezTo>
                <a:close/>
              </a:path>
            </a:pathLst>
          </a:cu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63" name="m-d02_progress_rings-tr-3"/>
          <p:cNvSpPr/>
          <p:nvPr/>
        </p:nvSpPr>
        <p:spPr>
          <a:xfrm>
            <a:off x="8700643" y="6673151"/>
            <a:ext cx="145796" cy="145796"/>
          </a:xfrm>
          <a:prstGeom prst="ellipse">
            <a:avLst/>
          </a:prstGeom>
          <a:noFill/>
          <a:ln w="19526" cap="rnd">
            <a:solidFill>
              <a:srgbClr val="E7EEF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64" name="m-d02_progress_rings-arc-3"/>
          <p:cNvSpPr/>
          <p:nvPr/>
        </p:nvSpPr>
        <p:spPr>
          <a:xfrm>
            <a:off x="8700678" y="6673152"/>
            <a:ext cx="145722" cy="145791"/>
          </a:xfrm>
          <a:custGeom>
            <a:avLst/>
            <a:gdLst/>
            <a:ahLst/>
            <a:cxnLst/>
            <a:rect l="0" t="0" r="r" b="b"/>
            <a:pathLst>
              <a:path w="145722" h="145791">
                <a:moveTo>
                  <a:pt x="72863" y="0"/>
                </a:moveTo>
                <a:cubicBezTo>
                  <a:pt x="109185" y="0"/>
                  <a:pt x="139919" y="26670"/>
                  <a:pt x="145063" y="62611"/>
                </a:cubicBezTo>
                <a:cubicBezTo>
                  <a:pt x="150143" y="98552"/>
                  <a:pt x="128045" y="132778"/>
                  <a:pt x="93183" y="142875"/>
                </a:cubicBezTo>
                <a:cubicBezTo>
                  <a:pt x="58385" y="153035"/>
                  <a:pt x="21365" y="135953"/>
                  <a:pt x="6442" y="102870"/>
                </a:cubicBezTo>
                <a:cubicBezTo>
                  <a:pt x="-8480" y="69850"/>
                  <a:pt x="3140" y="30797"/>
                  <a:pt x="33811" y="11366"/>
                </a:cubicBezTo>
              </a:path>
            </a:pathLst>
          </a:custGeom>
          <a:noFill/>
          <a:ln w="19526" cap="rnd">
            <a:solidFill>
              <a:srgbClr val="3985CD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65" name="m-d02_progress_rings-v-3"/>
          <p:cNvSpPr txBox="1"/>
          <p:nvPr/>
        </p:nvSpPr>
        <p:spPr>
          <a:xfrm>
            <a:off x="8733421" y="6707622"/>
            <a:ext cx="85447" cy="7289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30" b="1" i="0" u="none" strike="noStrike" kern="1200" cap="none" spc="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91</a:t>
            </a:r>
          </a:p>
        </p:txBody>
      </p:sp>
      <p:sp>
        <p:nvSpPr>
          <p:cNvPr id="2166" name="m-d02_progress_rings-p-3"/>
          <p:cNvSpPr txBox="1"/>
          <p:nvPr/>
        </p:nvSpPr>
        <p:spPr>
          <a:xfrm>
            <a:off x="8815614" y="6715732"/>
            <a:ext cx="2660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%</a:t>
            </a:r>
          </a:p>
        </p:txBody>
      </p:sp>
      <p:sp>
        <p:nvSpPr>
          <p:cNvPr id="2167" name="m-d02_progress_rings-icon-truck"/>
          <p:cNvSpPr/>
          <p:nvPr/>
        </p:nvSpPr>
        <p:spPr>
          <a:xfrm>
            <a:off x="9088438" y="6644704"/>
            <a:ext cx="22288" cy="13843"/>
          </a:xfrm>
          <a:custGeom>
            <a:avLst/>
            <a:gdLst/>
            <a:ahLst/>
            <a:cxnLst/>
            <a:rect l="0" t="0" r="r" b="b"/>
            <a:pathLst>
              <a:path w="22288" h="13843">
                <a:moveTo>
                  <a:pt x="0" y="0"/>
                </a:moveTo>
                <a:lnTo>
                  <a:pt x="13526" y="0"/>
                </a:lnTo>
                <a:lnTo>
                  <a:pt x="13526" y="13843"/>
                </a:lnTo>
                <a:lnTo>
                  <a:pt x="0" y="13843"/>
                </a:lnTo>
                <a:close/>
                <a:moveTo>
                  <a:pt x="13526" y="5080"/>
                </a:moveTo>
                <a:lnTo>
                  <a:pt x="18352" y="5080"/>
                </a:lnTo>
                <a:lnTo>
                  <a:pt x="22288" y="9335"/>
                </a:lnTo>
                <a:lnTo>
                  <a:pt x="22288" y="13843"/>
                </a:lnTo>
                <a:lnTo>
                  <a:pt x="13526" y="13843"/>
                </a:lnTo>
                <a:close/>
              </a:path>
            </a:pathLst>
          </a:custGeom>
          <a:noFill/>
          <a:ln w="2540" cap="rnd">
            <a:solidFill>
              <a:srgbClr val="3985CD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68" name="m-d02_progress_rings-n-3"/>
          <p:cNvSpPr txBox="1"/>
          <p:nvPr/>
        </p:nvSpPr>
        <p:spPr>
          <a:xfrm>
            <a:off x="8873776" y="6690237"/>
            <a:ext cx="167275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产品交付</a:t>
            </a:r>
          </a:p>
        </p:txBody>
      </p:sp>
      <p:sp>
        <p:nvSpPr>
          <p:cNvPr id="2169" name="m-d02_progress_rings-note-3"/>
          <p:cNvSpPr txBox="1"/>
          <p:nvPr/>
        </p:nvSpPr>
        <p:spPr>
          <a:xfrm>
            <a:off x="8874947" y="6746554"/>
            <a:ext cx="229694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1,092 / 1,200 台</a:t>
            </a:r>
          </a:p>
        </p:txBody>
      </p:sp>
      <p:sp>
        <p:nvSpPr>
          <p:cNvPr id="2170" name="m-d02_progress_rings-bg-3"/>
          <p:cNvSpPr/>
          <p:nvPr/>
        </p:nvSpPr>
        <p:spPr>
          <a:xfrm>
            <a:off x="8877681" y="6811137"/>
            <a:ext cx="247332" cy="10414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71" name="m-d02_progress_rings-bar-3"/>
          <p:cNvSpPr/>
          <p:nvPr/>
        </p:nvSpPr>
        <p:spPr>
          <a:xfrm>
            <a:off x="8877681" y="6811137"/>
            <a:ext cx="225073" cy="10414"/>
          </a:xfrm>
          <a:prstGeom prst="roundRect">
            <a:avLst>
              <a:gd name="adj" fmla="val 50000"/>
            </a:avLst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72" name="m-d02_progress_rings-card-4"/>
          <p:cNvSpPr/>
          <p:nvPr/>
        </p:nvSpPr>
        <p:spPr>
          <a:xfrm>
            <a:off x="9199182" y="6584632"/>
            <a:ext cx="509016" cy="320231"/>
          </a:xfrm>
          <a:custGeom>
            <a:avLst/>
            <a:gdLst/>
            <a:ahLst/>
            <a:cxnLst/>
            <a:rect l="0" t="0" r="r" b="b"/>
            <a:pathLst>
              <a:path w="509016" h="320231">
                <a:moveTo>
                  <a:pt x="23432" y="0"/>
                </a:moveTo>
                <a:lnTo>
                  <a:pt x="485585" y="0"/>
                </a:lnTo>
                <a:cubicBezTo>
                  <a:pt x="498538" y="0"/>
                  <a:pt x="509016" y="10477"/>
                  <a:pt x="509016" y="23432"/>
                </a:cubicBezTo>
                <a:lnTo>
                  <a:pt x="509016" y="296799"/>
                </a:lnTo>
                <a:cubicBezTo>
                  <a:pt x="509016" y="309753"/>
                  <a:pt x="498538" y="320231"/>
                  <a:pt x="485585" y="320231"/>
                </a:cubicBezTo>
                <a:lnTo>
                  <a:pt x="23432" y="320231"/>
                </a:lnTo>
                <a:cubicBezTo>
                  <a:pt x="10541" y="320231"/>
                  <a:pt x="0" y="309753"/>
                  <a:pt x="0" y="296799"/>
                </a:cubicBezTo>
                <a:lnTo>
                  <a:pt x="0" y="23432"/>
                </a:lnTo>
                <a:cubicBezTo>
                  <a:pt x="0" y="10477"/>
                  <a:pt x="10541" y="0"/>
                  <a:pt x="2343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73" name="m-d02_progress_rings-cap-4"/>
          <p:cNvSpPr/>
          <p:nvPr/>
        </p:nvSpPr>
        <p:spPr>
          <a:xfrm>
            <a:off x="9199182" y="6584632"/>
            <a:ext cx="509016" cy="7811"/>
          </a:xfrm>
          <a:custGeom>
            <a:avLst/>
            <a:gdLst/>
            <a:ahLst/>
            <a:cxnLst/>
            <a:rect l="0" t="0" r="r" b="b"/>
            <a:pathLst>
              <a:path w="509016" h="7811">
                <a:moveTo>
                  <a:pt x="3937" y="0"/>
                </a:moveTo>
                <a:lnTo>
                  <a:pt x="505079" y="0"/>
                </a:lnTo>
                <a:cubicBezTo>
                  <a:pt x="507301" y="0"/>
                  <a:pt x="509016" y="1714"/>
                  <a:pt x="509016" y="3937"/>
                </a:cubicBezTo>
                <a:lnTo>
                  <a:pt x="509016" y="3937"/>
                </a:lnTo>
                <a:cubicBezTo>
                  <a:pt x="509016" y="6096"/>
                  <a:pt x="507301" y="7811"/>
                  <a:pt x="505079" y="7811"/>
                </a:cubicBezTo>
                <a:lnTo>
                  <a:pt x="3937" y="7811"/>
                </a:lnTo>
                <a:cubicBezTo>
                  <a:pt x="1778" y="7811"/>
                  <a:pt x="0" y="6096"/>
                  <a:pt x="0" y="3937"/>
                </a:cubicBezTo>
                <a:lnTo>
                  <a:pt x="0" y="3937"/>
                </a:lnTo>
                <a:cubicBezTo>
                  <a:pt x="0" y="1714"/>
                  <a:pt x="1778" y="0"/>
                  <a:pt x="3937" y="0"/>
                </a:cubicBezTo>
                <a:close/>
              </a:path>
            </a:pathLst>
          </a:cu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74" name="m-d02_progress_rings-tr-4"/>
          <p:cNvSpPr/>
          <p:nvPr/>
        </p:nvSpPr>
        <p:spPr>
          <a:xfrm>
            <a:off x="9246076" y="6673151"/>
            <a:ext cx="145796" cy="145796"/>
          </a:xfrm>
          <a:prstGeom prst="ellipse">
            <a:avLst/>
          </a:prstGeom>
          <a:noFill/>
          <a:ln w="19526" cap="rnd">
            <a:solidFill>
              <a:srgbClr val="E7EEF7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75" name="m-d02_progress_rings-arc-4"/>
          <p:cNvSpPr/>
          <p:nvPr/>
        </p:nvSpPr>
        <p:spPr>
          <a:xfrm>
            <a:off x="9262808" y="6673152"/>
            <a:ext cx="129042" cy="145742"/>
          </a:xfrm>
          <a:custGeom>
            <a:avLst/>
            <a:gdLst/>
            <a:ahLst/>
            <a:cxnLst/>
            <a:rect l="0" t="0" r="r" b="b"/>
            <a:pathLst>
              <a:path w="129042" h="145742">
                <a:moveTo>
                  <a:pt x="56197" y="0"/>
                </a:moveTo>
                <a:cubicBezTo>
                  <a:pt x="90043" y="0"/>
                  <a:pt x="119380" y="23304"/>
                  <a:pt x="127127" y="56261"/>
                </a:cubicBezTo>
                <a:cubicBezTo>
                  <a:pt x="134874" y="89217"/>
                  <a:pt x="118872" y="123126"/>
                  <a:pt x="88583" y="138176"/>
                </a:cubicBezTo>
                <a:cubicBezTo>
                  <a:pt x="58230" y="153225"/>
                  <a:pt x="21590" y="145478"/>
                  <a:pt x="0" y="119380"/>
                </a:cubicBezTo>
              </a:path>
            </a:pathLst>
          </a:custGeom>
          <a:noFill/>
          <a:ln w="19526" cap="rnd">
            <a:solidFill>
              <a:srgbClr val="54A2D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76" name="m-d02_progress_rings-v-4"/>
          <p:cNvSpPr txBox="1"/>
          <p:nvPr/>
        </p:nvSpPr>
        <p:spPr>
          <a:xfrm>
            <a:off x="9278854" y="6707622"/>
            <a:ext cx="85447" cy="7289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30" b="1" i="0" u="none" strike="noStrike" kern="1200" cap="none" spc="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64</a:t>
            </a:r>
          </a:p>
        </p:txBody>
      </p:sp>
      <p:sp>
        <p:nvSpPr>
          <p:cNvPr id="2177" name="m-d02_progress_rings-p-4"/>
          <p:cNvSpPr txBox="1"/>
          <p:nvPr/>
        </p:nvSpPr>
        <p:spPr>
          <a:xfrm>
            <a:off x="9361047" y="6715732"/>
            <a:ext cx="26608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%</a:t>
            </a:r>
          </a:p>
        </p:txBody>
      </p:sp>
      <p:sp>
        <p:nvSpPr>
          <p:cNvPr id="2178" name="m-d02_progress_rings-icon-star"/>
          <p:cNvSpPr/>
          <p:nvPr/>
        </p:nvSpPr>
        <p:spPr>
          <a:xfrm>
            <a:off x="9633712" y="6640449"/>
            <a:ext cx="24003" cy="22860"/>
          </a:xfrm>
          <a:custGeom>
            <a:avLst/>
            <a:gdLst/>
            <a:ahLst/>
            <a:cxnLst/>
            <a:rect l="0" t="0" r="r" b="b"/>
            <a:pathLst>
              <a:path w="24003" h="22860">
                <a:moveTo>
                  <a:pt x="12002" y="0"/>
                </a:moveTo>
                <a:lnTo>
                  <a:pt x="15685" y="7620"/>
                </a:lnTo>
                <a:lnTo>
                  <a:pt x="24003" y="8763"/>
                </a:lnTo>
                <a:lnTo>
                  <a:pt x="17907" y="14541"/>
                </a:lnTo>
                <a:lnTo>
                  <a:pt x="19495" y="22860"/>
                </a:lnTo>
                <a:lnTo>
                  <a:pt x="12002" y="18796"/>
                </a:lnTo>
                <a:lnTo>
                  <a:pt x="4509" y="22860"/>
                </a:lnTo>
                <a:lnTo>
                  <a:pt x="6096" y="14541"/>
                </a:lnTo>
                <a:lnTo>
                  <a:pt x="0" y="8763"/>
                </a:lnTo>
                <a:lnTo>
                  <a:pt x="8319" y="7620"/>
                </a:lnTo>
                <a:close/>
              </a:path>
            </a:pathLst>
          </a:custGeom>
          <a:noFill/>
          <a:ln w="2540" cap="rnd">
            <a:solidFill>
              <a:srgbClr val="54A2DF">
                <a:alpha val="50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79" name="m-d02_progress_rings-n-4"/>
          <p:cNvSpPr txBox="1"/>
          <p:nvPr/>
        </p:nvSpPr>
        <p:spPr>
          <a:xfrm>
            <a:off x="9419209" y="6690237"/>
            <a:ext cx="132778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15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满意度</a:t>
            </a:r>
          </a:p>
        </p:txBody>
      </p:sp>
      <p:sp>
        <p:nvSpPr>
          <p:cNvPr id="2180" name="m-d02_progress_rings-note-4"/>
          <p:cNvSpPr txBox="1"/>
          <p:nvPr/>
        </p:nvSpPr>
        <p:spPr>
          <a:xfrm>
            <a:off x="9420381" y="6746554"/>
            <a:ext cx="226439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NPS 64 / 目标 80</a:t>
            </a:r>
          </a:p>
        </p:txBody>
      </p:sp>
      <p:sp>
        <p:nvSpPr>
          <p:cNvPr id="2181" name="m-d02_progress_rings-bg-4"/>
          <p:cNvSpPr/>
          <p:nvPr/>
        </p:nvSpPr>
        <p:spPr>
          <a:xfrm>
            <a:off x="9423114" y="6811137"/>
            <a:ext cx="247332" cy="10414"/>
          </a:xfrm>
          <a:prstGeom prst="roundRect">
            <a:avLst>
              <a:gd name="adj" fmla="val 50000"/>
            </a:avLst>
          </a:prstGeom>
          <a:solidFill>
            <a:srgbClr val="0B2545">
              <a:alpha val="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82" name="m-d02_progress_rings-bar-4"/>
          <p:cNvSpPr/>
          <p:nvPr/>
        </p:nvSpPr>
        <p:spPr>
          <a:xfrm>
            <a:off x="9423114" y="6811137"/>
            <a:ext cx="158293" cy="10414"/>
          </a:xfrm>
          <a:prstGeom prst="roundRect">
            <a:avLst>
              <a:gd name="adj" fmla="val 50000"/>
            </a:avLst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83" name="m-d02_progress_rings-q-panel"/>
          <p:cNvSpPr/>
          <p:nvPr/>
        </p:nvSpPr>
        <p:spPr>
          <a:xfrm>
            <a:off x="7599362" y="6977761"/>
            <a:ext cx="2163508" cy="119761"/>
          </a:xfrm>
          <a:custGeom>
            <a:avLst/>
            <a:gdLst/>
            <a:ahLst/>
            <a:cxnLst/>
            <a:rect l="0" t="0" r="r" b="b"/>
            <a:pathLst>
              <a:path w="2163508" h="119761">
                <a:moveTo>
                  <a:pt x="20828" y="0"/>
                </a:moveTo>
                <a:lnTo>
                  <a:pt x="2142681" y="0"/>
                </a:lnTo>
                <a:cubicBezTo>
                  <a:pt x="2154174" y="0"/>
                  <a:pt x="2163508" y="9335"/>
                  <a:pt x="2163508" y="20828"/>
                </a:cubicBezTo>
                <a:lnTo>
                  <a:pt x="2163508" y="98933"/>
                </a:lnTo>
                <a:cubicBezTo>
                  <a:pt x="2163508" y="110427"/>
                  <a:pt x="2154174" y="119761"/>
                  <a:pt x="2142681" y="119761"/>
                </a:cubicBezTo>
                <a:lnTo>
                  <a:pt x="20828" y="119761"/>
                </a:lnTo>
                <a:cubicBezTo>
                  <a:pt x="9335" y="119761"/>
                  <a:pt x="0" y="110427"/>
                  <a:pt x="0" y="98933"/>
                </a:cubicBezTo>
                <a:lnTo>
                  <a:pt x="0" y="20828"/>
                </a:lnTo>
                <a:cubicBezTo>
                  <a:pt x="0" y="9335"/>
                  <a:pt x="9335" y="0"/>
                  <a:pt x="20828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84" name="m-d02_progress_rings-q-h"/>
          <p:cNvSpPr txBox="1"/>
          <p:nvPr/>
        </p:nvSpPr>
        <p:spPr>
          <a:xfrm>
            <a:off x="7651068" y="7020113"/>
            <a:ext cx="131607" cy="43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9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季度累计</a:t>
            </a:r>
          </a:p>
        </p:txBody>
      </p:sp>
      <p:sp>
        <p:nvSpPr>
          <p:cNvPr id="2185" name="m-d02_progress_rings-q-track"/>
          <p:cNvSpPr/>
          <p:nvPr/>
        </p:nvSpPr>
        <p:spPr>
          <a:xfrm>
            <a:off x="7924800" y="7032434"/>
            <a:ext cx="1627188" cy="15621"/>
          </a:xfrm>
          <a:prstGeom prst="roundRect">
            <a:avLst>
              <a:gd name="adj" fmla="val 50000"/>
            </a:avLst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86" name="m-d02_progress_rings-q-bar"/>
          <p:cNvSpPr/>
          <p:nvPr/>
        </p:nvSpPr>
        <p:spPr>
          <a:xfrm>
            <a:off x="7924800" y="7032434"/>
            <a:ext cx="1269206" cy="15621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2E77C2"/>
              </a:gs>
              <a:gs pos="100000">
                <a:srgbClr val="0B3E8F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87" name="m-d02_progress_rings-q-dot-1"/>
          <p:cNvSpPr/>
          <p:nvPr/>
        </p:nvSpPr>
        <p:spPr>
          <a:xfrm>
            <a:off x="8271066" y="7028529"/>
            <a:ext cx="23432" cy="23432"/>
          </a:xfrm>
          <a:prstGeom prst="ellipse">
            <a:avLst/>
          </a:prstGeom>
          <a:solidFill>
            <a:srgbClr val="FFFFFF"/>
          </a:solidFill>
          <a:ln w="338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88" name="m-d02_progress_rings-q-t-1"/>
          <p:cNvSpPr txBox="1"/>
          <p:nvPr/>
        </p:nvSpPr>
        <p:spPr>
          <a:xfrm>
            <a:off x="8241015" y="6993502"/>
            <a:ext cx="83533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Q1 22%</a:t>
            </a:r>
          </a:p>
        </p:txBody>
      </p:sp>
      <p:sp>
        <p:nvSpPr>
          <p:cNvPr id="2189" name="m-d02_progress_rings-q-dot-2"/>
          <p:cNvSpPr/>
          <p:nvPr/>
        </p:nvSpPr>
        <p:spPr>
          <a:xfrm>
            <a:off x="8580231" y="7028529"/>
            <a:ext cx="23432" cy="23432"/>
          </a:xfrm>
          <a:prstGeom prst="ellipse">
            <a:avLst/>
          </a:prstGeom>
          <a:solidFill>
            <a:srgbClr val="FFFFFF"/>
          </a:solidFill>
          <a:ln w="338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90" name="m-d02_progress_rings-q-t-2"/>
          <p:cNvSpPr txBox="1"/>
          <p:nvPr/>
        </p:nvSpPr>
        <p:spPr>
          <a:xfrm>
            <a:off x="8550180" y="6993502"/>
            <a:ext cx="83533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Q2 41%</a:t>
            </a:r>
          </a:p>
        </p:txBody>
      </p:sp>
      <p:sp>
        <p:nvSpPr>
          <p:cNvPr id="2191" name="m-d02_progress_rings-q-dot-3"/>
          <p:cNvSpPr/>
          <p:nvPr/>
        </p:nvSpPr>
        <p:spPr>
          <a:xfrm>
            <a:off x="8921940" y="7028529"/>
            <a:ext cx="23432" cy="23432"/>
          </a:xfrm>
          <a:prstGeom prst="ellipse">
            <a:avLst/>
          </a:prstGeom>
          <a:solidFill>
            <a:srgbClr val="FFFFFF"/>
          </a:solidFill>
          <a:ln w="338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92" name="m-d02_progress_rings-q-t-3"/>
          <p:cNvSpPr txBox="1"/>
          <p:nvPr/>
        </p:nvSpPr>
        <p:spPr>
          <a:xfrm>
            <a:off x="8891890" y="6993502"/>
            <a:ext cx="83533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Q3 62%</a:t>
            </a:r>
          </a:p>
        </p:txBody>
      </p:sp>
      <p:sp>
        <p:nvSpPr>
          <p:cNvPr id="2193" name="m-d02_progress_rings-q-dot-4"/>
          <p:cNvSpPr/>
          <p:nvPr/>
        </p:nvSpPr>
        <p:spPr>
          <a:xfrm>
            <a:off x="9182290" y="7028529"/>
            <a:ext cx="23432" cy="23432"/>
          </a:xfrm>
          <a:prstGeom prst="ellipse">
            <a:avLst/>
          </a:prstGeom>
          <a:solidFill>
            <a:srgbClr val="FFFFFF"/>
          </a:solidFill>
          <a:ln w="3385" cap="rnd">
            <a:solidFill>
              <a:srgbClr val="0B3E8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94" name="m-d02_progress_rings-q-t-4"/>
          <p:cNvSpPr txBox="1"/>
          <p:nvPr/>
        </p:nvSpPr>
        <p:spPr>
          <a:xfrm>
            <a:off x="9152240" y="6993502"/>
            <a:ext cx="83533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1" i="0" u="none" strike="noStrike" kern="1200" cap="none" spc="4" normalizeH="0" baseline="0" noProof="0">
                <a:ln>
                  <a:noFill/>
                </a:ln>
                <a:solidFill>
                  <a:srgbClr val="0B3E8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Q4 78%</a:t>
            </a:r>
          </a:p>
        </p:txBody>
      </p:sp>
      <p:sp>
        <p:nvSpPr>
          <p:cNvPr id="2195" name="m-d02_progress_rings-q-end"/>
          <p:cNvSpPr txBox="1"/>
          <p:nvPr/>
        </p:nvSpPr>
        <p:spPr>
          <a:xfrm>
            <a:off x="9567947" y="7024744"/>
            <a:ext cx="111235" cy="3303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50" b="0" i="0" u="none" strike="noStrike" kern="1200" cap="none" spc="4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目标 100%</a:t>
            </a:r>
          </a:p>
        </p:txBody>
      </p:sp>
      <p:cxnSp>
        <p:nvCxnSpPr>
          <p:cNvPr id="2196" name="m-d02_progress_rings-foot-line"/>
          <p:cNvCxnSpPr/>
          <p:nvPr/>
        </p:nvCxnSpPr>
        <p:spPr>
          <a:xfrm>
            <a:off x="7523861" y="71417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97" name="m-d02_progress_rings-foot-l"/>
          <p:cNvSpPr txBox="1"/>
          <p:nvPr/>
        </p:nvSpPr>
        <p:spPr>
          <a:xfrm>
            <a:off x="7521674" y="7155723"/>
            <a:ext cx="274825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目标完成度 · 四项关键指标</a:t>
            </a:r>
          </a:p>
        </p:txBody>
      </p:sp>
      <p:sp>
        <p:nvSpPr>
          <p:cNvPr id="2198" name="m-d02_progress_rings-foot-r"/>
          <p:cNvSpPr txBox="1"/>
          <p:nvPr/>
        </p:nvSpPr>
        <p:spPr>
          <a:xfrm>
            <a:off x="9526109" y="71557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2199" name="mini-card-s29_iso_stack"/>
          <p:cNvSpPr/>
          <p:nvPr/>
        </p:nvSpPr>
        <p:spPr>
          <a:xfrm>
            <a:off x="10020300" y="5816600"/>
            <a:ext cx="2499360" cy="1405890"/>
          </a:xfrm>
          <a:custGeom>
            <a:avLst/>
            <a:gdLst/>
            <a:ahLst/>
            <a:cxnLst/>
            <a:rect l="0" t="0" r="r" b="b"/>
            <a:pathLst>
              <a:path w="2499360" h="1405890">
                <a:moveTo>
                  <a:pt x="80201" y="0"/>
                </a:moveTo>
                <a:lnTo>
                  <a:pt x="2419160" y="0"/>
                </a:lnTo>
                <a:cubicBezTo>
                  <a:pt x="2463483" y="0"/>
                  <a:pt x="2499360" y="35877"/>
                  <a:pt x="2499360" y="80200"/>
                </a:cubicBezTo>
                <a:lnTo>
                  <a:pt x="2499360" y="1325690"/>
                </a:lnTo>
                <a:cubicBezTo>
                  <a:pt x="2499360" y="1370012"/>
                  <a:pt x="2463483" y="1405890"/>
                  <a:pt x="2419160" y="1405890"/>
                </a:cubicBezTo>
                <a:lnTo>
                  <a:pt x="80201" y="1405890"/>
                </a:lnTo>
                <a:cubicBezTo>
                  <a:pt x="35878" y="1405890"/>
                  <a:pt x="0" y="1370012"/>
                  <a:pt x="0" y="1325690"/>
                </a:cubicBezTo>
                <a:lnTo>
                  <a:pt x="0" y="80200"/>
                </a:lnTo>
                <a:cubicBezTo>
                  <a:pt x="0" y="35877"/>
                  <a:pt x="35878" y="0"/>
                  <a:pt x="80201" y="0"/>
                </a:cubicBezTo>
                <a:close/>
              </a:path>
            </a:pathLst>
          </a:custGeom>
          <a:solidFill>
            <a:srgbClr val="F6F9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00" name="m-s29_iso_stack-title-bar"/>
          <p:cNvSpPr/>
          <p:nvPr/>
        </p:nvSpPr>
        <p:spPr>
          <a:xfrm>
            <a:off x="10140061" y="5915533"/>
            <a:ext cx="6509" cy="101536"/>
          </a:xfrm>
          <a:prstGeom prst="roundRect">
            <a:avLst>
              <a:gd name="adj" fmla="val 50000"/>
            </a:avLst>
          </a:prstGeom>
          <a:solidFill>
            <a:srgbClr val="0B254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01" name="m-s29_iso_stack-title-bar-accent"/>
          <p:cNvSpPr/>
          <p:nvPr/>
        </p:nvSpPr>
        <p:spPr>
          <a:xfrm>
            <a:off x="10140061" y="5915533"/>
            <a:ext cx="6509" cy="35147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02" name="m-s29_iso_stack-title-cn"/>
          <p:cNvSpPr txBox="1"/>
          <p:nvPr/>
        </p:nvSpPr>
        <p:spPr>
          <a:xfrm>
            <a:off x="10172240" y="5898168"/>
            <a:ext cx="426453" cy="10023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50" b="1" i="0" u="none" strike="noStrike" kern="1200" cap="none" spc="41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五层技术架构</a:t>
            </a:r>
          </a:p>
        </p:txBody>
      </p:sp>
      <p:sp>
        <p:nvSpPr>
          <p:cNvPr id="2203" name="m-s29_iso_stack-title-en"/>
          <p:cNvSpPr txBox="1"/>
          <p:nvPr/>
        </p:nvSpPr>
        <p:spPr>
          <a:xfrm>
            <a:off x="10179530" y="5985450"/>
            <a:ext cx="315076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1" i="0" u="none" strike="noStrike" kern="1200" cap="none" spc="67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ISOMETRIC LAYERS</a:t>
            </a:r>
          </a:p>
        </p:txBody>
      </p:sp>
      <p:sp>
        <p:nvSpPr>
          <p:cNvPr id="2204" name="m-s29_iso_stack-title-sub"/>
          <p:cNvSpPr txBox="1"/>
          <p:nvPr/>
        </p:nvSpPr>
        <p:spPr>
          <a:xfrm>
            <a:off x="11867145" y="5954592"/>
            <a:ext cx="535410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0" i="0" u="none" strike="noStrike" kern="1200" cap="none" spc="10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自下而上逐层支撑，每一层只依赖它下面的那一层</a:t>
            </a:r>
          </a:p>
        </p:txBody>
      </p:sp>
      <p:sp>
        <p:nvSpPr>
          <p:cNvPr id="2205" name="m-s29_iso_stack-side-l-5"/>
          <p:cNvSpPr/>
          <p:nvPr/>
        </p:nvSpPr>
        <p:spPr>
          <a:xfrm>
            <a:off x="10879455" y="6821551"/>
            <a:ext cx="390525" cy="158813"/>
          </a:xfrm>
          <a:custGeom>
            <a:avLst/>
            <a:gdLst/>
            <a:ahLst/>
            <a:cxnLst/>
            <a:rect l="0" t="0" r="r" b="b"/>
            <a:pathLst>
              <a:path w="390525" h="158813">
                <a:moveTo>
                  <a:pt x="0" y="0"/>
                </a:moveTo>
                <a:lnTo>
                  <a:pt x="390525" y="124968"/>
                </a:lnTo>
                <a:lnTo>
                  <a:pt x="390525" y="158813"/>
                </a:lnTo>
                <a:lnTo>
                  <a:pt x="0" y="33845"/>
                </a:lnTo>
                <a:close/>
              </a:path>
            </a:pathLst>
          </a:custGeom>
          <a:solidFill>
            <a:srgbClr val="0A347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06" name="m-s29_iso_stack-side-r-5"/>
          <p:cNvSpPr/>
          <p:nvPr/>
        </p:nvSpPr>
        <p:spPr>
          <a:xfrm>
            <a:off x="11269980" y="6821551"/>
            <a:ext cx="390525" cy="158813"/>
          </a:xfrm>
          <a:custGeom>
            <a:avLst/>
            <a:gdLst/>
            <a:ahLst/>
            <a:cxnLst/>
            <a:rect l="0" t="0" r="r" b="b"/>
            <a:pathLst>
              <a:path w="390525" h="158813">
                <a:moveTo>
                  <a:pt x="0" y="124968"/>
                </a:moveTo>
                <a:lnTo>
                  <a:pt x="390525" y="0"/>
                </a:lnTo>
                <a:lnTo>
                  <a:pt x="390525" y="33845"/>
                </a:lnTo>
                <a:lnTo>
                  <a:pt x="0" y="158813"/>
                </a:lnTo>
                <a:close/>
              </a:path>
            </a:pathLst>
          </a:custGeom>
          <a:solidFill>
            <a:srgbClr val="0A388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07" name="m-s29_iso_stack-top-5"/>
          <p:cNvSpPr/>
          <p:nvPr/>
        </p:nvSpPr>
        <p:spPr>
          <a:xfrm>
            <a:off x="10879455" y="6696583"/>
            <a:ext cx="781050" cy="249936"/>
          </a:xfrm>
          <a:custGeom>
            <a:avLst/>
            <a:gdLst/>
            <a:ahLst/>
            <a:cxnLst/>
            <a:rect l="0" t="0" r="r" b="b"/>
            <a:pathLst>
              <a:path w="781050" h="249936">
                <a:moveTo>
                  <a:pt x="390525" y="0"/>
                </a:moveTo>
                <a:lnTo>
                  <a:pt x="781050" y="124968"/>
                </a:lnTo>
                <a:lnTo>
                  <a:pt x="390525" y="249936"/>
                </a:lnTo>
                <a:lnTo>
                  <a:pt x="0" y="124968"/>
                </a:lnTo>
                <a:close/>
              </a:path>
            </a:pathLst>
          </a:custGeom>
          <a:gradFill rotWithShape="1">
            <a:gsLst>
              <a:gs pos="0">
                <a:srgbClr val="4168A8"/>
              </a:gs>
              <a:gs pos="100000">
                <a:srgbClr val="0B3E8F"/>
              </a:gs>
            </a:gsLst>
            <a:lin ang="6000000" scaled="0"/>
          </a:gradFill>
          <a:ln w="2540" cap="rnd">
            <a:solidFill>
              <a:srgbClr val="FFFFF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08" name="m-s29_iso_stack-icon-cloud"/>
          <p:cNvSpPr/>
          <p:nvPr/>
        </p:nvSpPr>
        <p:spPr>
          <a:xfrm>
            <a:off x="11133328" y="6861576"/>
            <a:ext cx="26797" cy="18463"/>
          </a:xfrm>
          <a:custGeom>
            <a:avLst/>
            <a:gdLst/>
            <a:ahLst/>
            <a:cxnLst/>
            <a:rect l="0" t="0" r="r" b="b"/>
            <a:pathLst>
              <a:path w="26797" h="18463">
                <a:moveTo>
                  <a:pt x="6223" y="18458"/>
                </a:moveTo>
                <a:cubicBezTo>
                  <a:pt x="2921" y="18649"/>
                  <a:pt x="190" y="16109"/>
                  <a:pt x="0" y="12807"/>
                </a:cubicBezTo>
                <a:cubicBezTo>
                  <a:pt x="-127" y="9568"/>
                  <a:pt x="2350" y="6774"/>
                  <a:pt x="5652" y="6647"/>
                </a:cubicBezTo>
                <a:cubicBezTo>
                  <a:pt x="6096" y="3155"/>
                  <a:pt x="8890" y="488"/>
                  <a:pt x="12319" y="43"/>
                </a:cubicBezTo>
                <a:cubicBezTo>
                  <a:pt x="15812" y="-338"/>
                  <a:pt x="19050" y="1694"/>
                  <a:pt x="20320" y="4933"/>
                </a:cubicBezTo>
                <a:cubicBezTo>
                  <a:pt x="24066" y="5060"/>
                  <a:pt x="26988" y="8235"/>
                  <a:pt x="26797" y="11981"/>
                </a:cubicBezTo>
                <a:cubicBezTo>
                  <a:pt x="26670" y="15728"/>
                  <a:pt x="23495" y="18649"/>
                  <a:pt x="19749" y="18458"/>
                </a:cubicBezTo>
                <a:close/>
              </a:path>
            </a:pathLst>
          </a:custGeom>
          <a:noFill/>
          <a:ln w="273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09" name="m-s29_iso_stack-tn-5"/>
          <p:cNvSpPr txBox="1"/>
          <p:nvPr/>
        </p:nvSpPr>
        <p:spPr>
          <a:xfrm>
            <a:off x="11164018" y="6846063"/>
            <a:ext cx="188493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31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基础设施层</a:t>
            </a:r>
          </a:p>
        </p:txBody>
      </p:sp>
      <p:cxnSp>
        <p:nvCxnSpPr>
          <p:cNvPr id="2210" name="m-s29_iso_stack-ll-5"/>
          <p:cNvCxnSpPr/>
          <p:nvPr/>
        </p:nvCxnSpPr>
        <p:spPr>
          <a:xfrm flipH="1">
            <a:off x="10788332" y="6873621"/>
            <a:ext cx="78106" cy="0"/>
          </a:xfrm>
          <a:prstGeom prst="line">
            <a:avLst/>
          </a:prstGeom>
          <a:ln w="2540" cap="rnd">
            <a:solidFill>
              <a:srgbClr val="0B3E8F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11" name="m-s29_iso_stack-lld-5"/>
          <p:cNvSpPr/>
          <p:nvPr/>
        </p:nvSpPr>
        <p:spPr>
          <a:xfrm>
            <a:off x="10859929" y="6867112"/>
            <a:ext cx="13017" cy="13017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12" name="m-s29_iso_stack-no-5"/>
          <p:cNvSpPr txBox="1"/>
          <p:nvPr/>
        </p:nvSpPr>
        <p:spPr>
          <a:xfrm>
            <a:off x="10209314" y="6830143"/>
            <a:ext cx="105181" cy="9112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09" b="1" i="0" u="none" strike="noStrike" kern="1200" cap="none" spc="0" normalizeH="0" baseline="0" noProof="0">
                <a:ln>
                  <a:noFill/>
                </a:ln>
                <a:solidFill>
                  <a:srgbClr val="0B3E8F">
                    <a:alpha val="3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01</a:t>
            </a:r>
          </a:p>
        </p:txBody>
      </p:sp>
      <p:sp>
        <p:nvSpPr>
          <p:cNvPr id="2213" name="m-s29_iso_stack-ln-5"/>
          <p:cNvSpPr txBox="1"/>
          <p:nvPr/>
        </p:nvSpPr>
        <p:spPr>
          <a:xfrm>
            <a:off x="10318401" y="6828222"/>
            <a:ext cx="205026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基础设施层</a:t>
            </a:r>
          </a:p>
        </p:txBody>
      </p:sp>
      <p:sp>
        <p:nvSpPr>
          <p:cNvPr id="2214" name="m-s29_iso_stack-ld-5"/>
          <p:cNvSpPr txBox="1"/>
          <p:nvPr/>
        </p:nvSpPr>
        <p:spPr>
          <a:xfrm>
            <a:off x="10319885" y="6882548"/>
            <a:ext cx="245835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安全、稳定、弹性的资源</a:t>
            </a:r>
          </a:p>
        </p:txBody>
      </p:sp>
      <p:cxnSp>
        <p:nvCxnSpPr>
          <p:cNvPr id="2215" name="m-s29_iso_stack-rl-5"/>
          <p:cNvCxnSpPr/>
          <p:nvPr/>
        </p:nvCxnSpPr>
        <p:spPr>
          <a:xfrm>
            <a:off x="11673522" y="6873621"/>
            <a:ext cx="78106" cy="0"/>
          </a:xfrm>
          <a:prstGeom prst="line">
            <a:avLst/>
          </a:prstGeom>
          <a:ln w="2540" cap="rnd">
            <a:solidFill>
              <a:srgbClr val="0B3E8F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16" name="m-s29_iso_stack-rld-5"/>
          <p:cNvSpPr/>
          <p:nvPr/>
        </p:nvSpPr>
        <p:spPr>
          <a:xfrm>
            <a:off x="11667014" y="6867112"/>
            <a:ext cx="13017" cy="13017"/>
          </a:xfrm>
          <a:prstGeom prst="ellipse">
            <a:avLst/>
          </a:prstGeom>
          <a:solidFill>
            <a:srgbClr val="0B3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17" name="m-s29_iso_stack-cp-5-1"/>
          <p:cNvSpPr/>
          <p:nvPr/>
        </p:nvSpPr>
        <p:spPr>
          <a:xfrm>
            <a:off x="11764645" y="6844982"/>
            <a:ext cx="171831" cy="57277"/>
          </a:xfrm>
          <a:custGeom>
            <a:avLst/>
            <a:gdLst/>
            <a:ahLst/>
            <a:cxnLst/>
            <a:rect l="0" t="0" r="r" b="b"/>
            <a:pathLst>
              <a:path w="171831" h="57277">
                <a:moveTo>
                  <a:pt x="28638" y="0"/>
                </a:moveTo>
                <a:lnTo>
                  <a:pt x="143192" y="0"/>
                </a:lnTo>
                <a:cubicBezTo>
                  <a:pt x="159004" y="0"/>
                  <a:pt x="171831" y="12827"/>
                  <a:pt x="171831" y="28638"/>
                </a:cubicBezTo>
                <a:lnTo>
                  <a:pt x="171831" y="28638"/>
                </a:lnTo>
                <a:cubicBezTo>
                  <a:pt x="171831" y="44450"/>
                  <a:pt x="159004" y="57277"/>
                  <a:pt x="143192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0B3E8F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18" name="m-s29_iso_stack-cpt-5-1"/>
          <p:cNvSpPr txBox="1"/>
          <p:nvPr/>
        </p:nvSpPr>
        <p:spPr>
          <a:xfrm>
            <a:off x="11809165" y="6855709"/>
            <a:ext cx="82791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混合云</a:t>
            </a:r>
          </a:p>
        </p:txBody>
      </p:sp>
      <p:sp>
        <p:nvSpPr>
          <p:cNvPr id="2219" name="m-s29_iso_stack-cp-5-2"/>
          <p:cNvSpPr/>
          <p:nvPr/>
        </p:nvSpPr>
        <p:spPr>
          <a:xfrm>
            <a:off x="11952097" y="6844982"/>
            <a:ext cx="171831" cy="57277"/>
          </a:xfrm>
          <a:custGeom>
            <a:avLst/>
            <a:gdLst/>
            <a:ahLst/>
            <a:cxnLst/>
            <a:rect l="0" t="0" r="r" b="b"/>
            <a:pathLst>
              <a:path w="171831" h="57277">
                <a:moveTo>
                  <a:pt x="28638" y="0"/>
                </a:moveTo>
                <a:lnTo>
                  <a:pt x="143192" y="0"/>
                </a:lnTo>
                <a:cubicBezTo>
                  <a:pt x="159004" y="0"/>
                  <a:pt x="171831" y="12827"/>
                  <a:pt x="171831" y="28638"/>
                </a:cubicBezTo>
                <a:lnTo>
                  <a:pt x="171831" y="28638"/>
                </a:lnTo>
                <a:cubicBezTo>
                  <a:pt x="171831" y="44450"/>
                  <a:pt x="159004" y="57277"/>
                  <a:pt x="143192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0B3E8F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20" name="m-s29_iso_stack-cpt-5-2"/>
          <p:cNvSpPr txBox="1"/>
          <p:nvPr/>
        </p:nvSpPr>
        <p:spPr>
          <a:xfrm>
            <a:off x="11985942" y="6855709"/>
            <a:ext cx="10414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网络安全</a:t>
            </a:r>
          </a:p>
        </p:txBody>
      </p:sp>
      <p:sp>
        <p:nvSpPr>
          <p:cNvPr id="2221" name="m-s29_iso_stack-cp-5-3"/>
          <p:cNvSpPr/>
          <p:nvPr/>
        </p:nvSpPr>
        <p:spPr>
          <a:xfrm>
            <a:off x="12139549" y="6844982"/>
            <a:ext cx="171831" cy="57277"/>
          </a:xfrm>
          <a:custGeom>
            <a:avLst/>
            <a:gdLst/>
            <a:ahLst/>
            <a:cxnLst/>
            <a:rect l="0" t="0" r="r" b="b"/>
            <a:pathLst>
              <a:path w="171831" h="57277">
                <a:moveTo>
                  <a:pt x="28638" y="0"/>
                </a:moveTo>
                <a:lnTo>
                  <a:pt x="143192" y="0"/>
                </a:lnTo>
                <a:cubicBezTo>
                  <a:pt x="159004" y="0"/>
                  <a:pt x="171831" y="12827"/>
                  <a:pt x="171831" y="28638"/>
                </a:cubicBezTo>
                <a:lnTo>
                  <a:pt x="171831" y="28638"/>
                </a:lnTo>
                <a:cubicBezTo>
                  <a:pt x="171831" y="44450"/>
                  <a:pt x="159004" y="57277"/>
                  <a:pt x="143192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0B3E8F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22" name="m-s29_iso_stack-cpt-5-3"/>
          <p:cNvSpPr txBox="1"/>
          <p:nvPr/>
        </p:nvSpPr>
        <p:spPr>
          <a:xfrm>
            <a:off x="12173394" y="6855709"/>
            <a:ext cx="10414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灾备中心</a:t>
            </a:r>
          </a:p>
        </p:txBody>
      </p:sp>
      <p:sp>
        <p:nvSpPr>
          <p:cNvPr id="2223" name="m-s29_iso_stack-side-l-4"/>
          <p:cNvSpPr/>
          <p:nvPr/>
        </p:nvSpPr>
        <p:spPr>
          <a:xfrm>
            <a:off x="10879455" y="6665341"/>
            <a:ext cx="390525" cy="158813"/>
          </a:xfrm>
          <a:custGeom>
            <a:avLst/>
            <a:gdLst/>
            <a:ahLst/>
            <a:cxnLst/>
            <a:rect l="0" t="0" r="r" b="b"/>
            <a:pathLst>
              <a:path w="390525" h="158813">
                <a:moveTo>
                  <a:pt x="0" y="0"/>
                </a:moveTo>
                <a:lnTo>
                  <a:pt x="390525" y="124968"/>
                </a:lnTo>
                <a:lnTo>
                  <a:pt x="390525" y="158813"/>
                </a:lnTo>
                <a:lnTo>
                  <a:pt x="0" y="33845"/>
                </a:lnTo>
                <a:close/>
              </a:path>
            </a:pathLst>
          </a:custGeom>
          <a:solidFill>
            <a:srgbClr val="0F3C7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24" name="m-s29_iso_stack-side-r-4"/>
          <p:cNvSpPr/>
          <p:nvPr/>
        </p:nvSpPr>
        <p:spPr>
          <a:xfrm>
            <a:off x="11269980" y="6665341"/>
            <a:ext cx="390525" cy="158813"/>
          </a:xfrm>
          <a:custGeom>
            <a:avLst/>
            <a:gdLst/>
            <a:ahLst/>
            <a:cxnLst/>
            <a:rect l="0" t="0" r="r" b="b"/>
            <a:pathLst>
              <a:path w="390525" h="158813">
                <a:moveTo>
                  <a:pt x="0" y="124968"/>
                </a:moveTo>
                <a:lnTo>
                  <a:pt x="390525" y="0"/>
                </a:lnTo>
                <a:lnTo>
                  <a:pt x="390525" y="33845"/>
                </a:lnTo>
                <a:lnTo>
                  <a:pt x="0" y="158813"/>
                </a:lnTo>
                <a:close/>
              </a:path>
            </a:pathLst>
          </a:custGeom>
          <a:solidFill>
            <a:srgbClr val="11438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25" name="m-s29_iso_stack-top-4"/>
          <p:cNvSpPr/>
          <p:nvPr/>
        </p:nvSpPr>
        <p:spPr>
          <a:xfrm>
            <a:off x="10879455" y="6540373"/>
            <a:ext cx="781050" cy="249936"/>
          </a:xfrm>
          <a:custGeom>
            <a:avLst/>
            <a:gdLst/>
            <a:ahLst/>
            <a:cxnLst/>
            <a:rect l="0" t="0" r="r" b="b"/>
            <a:pathLst>
              <a:path w="781050" h="249936">
                <a:moveTo>
                  <a:pt x="390525" y="0"/>
                </a:moveTo>
                <a:lnTo>
                  <a:pt x="781050" y="124968"/>
                </a:lnTo>
                <a:lnTo>
                  <a:pt x="390525" y="249936"/>
                </a:lnTo>
                <a:lnTo>
                  <a:pt x="0" y="124968"/>
                </a:lnTo>
                <a:close/>
              </a:path>
            </a:pathLst>
          </a:custGeom>
          <a:gradFill rotWithShape="1">
            <a:gsLst>
              <a:gs pos="0">
                <a:srgbClr val="4773B2"/>
              </a:gs>
              <a:gs pos="100000">
                <a:srgbClr val="134C9C"/>
              </a:gs>
            </a:gsLst>
            <a:lin ang="6000000" scaled="0"/>
          </a:gradFill>
          <a:ln w="2540" cap="rnd">
            <a:solidFill>
              <a:srgbClr val="FFFFF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26" name="m-s29_iso_stack-icon-layers"/>
          <p:cNvSpPr/>
          <p:nvPr/>
        </p:nvSpPr>
        <p:spPr>
          <a:xfrm>
            <a:off x="11148060" y="6703251"/>
            <a:ext cx="22543" cy="23431"/>
          </a:xfrm>
          <a:custGeom>
            <a:avLst/>
            <a:gdLst/>
            <a:ahLst/>
            <a:cxnLst/>
            <a:rect l="0" t="0" r="r" b="b"/>
            <a:pathLst>
              <a:path w="22543" h="23431">
                <a:moveTo>
                  <a:pt x="11303" y="0"/>
                </a:moveTo>
                <a:lnTo>
                  <a:pt x="22543" y="5905"/>
                </a:lnTo>
                <a:lnTo>
                  <a:pt x="11303" y="11874"/>
                </a:lnTo>
                <a:lnTo>
                  <a:pt x="0" y="5905"/>
                </a:lnTo>
                <a:close/>
                <a:moveTo>
                  <a:pt x="0" y="11874"/>
                </a:moveTo>
                <a:lnTo>
                  <a:pt x="11303" y="17780"/>
                </a:lnTo>
                <a:lnTo>
                  <a:pt x="22543" y="11874"/>
                </a:lnTo>
                <a:moveTo>
                  <a:pt x="0" y="17462"/>
                </a:moveTo>
                <a:lnTo>
                  <a:pt x="11303" y="23431"/>
                </a:lnTo>
                <a:lnTo>
                  <a:pt x="22543" y="17462"/>
                </a:lnTo>
              </a:path>
            </a:pathLst>
          </a:custGeom>
          <a:noFill/>
          <a:ln w="273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27" name="m-s29_iso_stack-tn-4"/>
          <p:cNvSpPr txBox="1"/>
          <p:nvPr/>
        </p:nvSpPr>
        <p:spPr>
          <a:xfrm>
            <a:off x="11209579" y="6689853"/>
            <a:ext cx="123406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31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平台层</a:t>
            </a:r>
          </a:p>
        </p:txBody>
      </p:sp>
      <p:cxnSp>
        <p:nvCxnSpPr>
          <p:cNvPr id="2228" name="m-s29_iso_stack-ll-4"/>
          <p:cNvCxnSpPr/>
          <p:nvPr/>
        </p:nvCxnSpPr>
        <p:spPr>
          <a:xfrm flipH="1">
            <a:off x="10788332" y="6717411"/>
            <a:ext cx="78106" cy="0"/>
          </a:xfrm>
          <a:prstGeom prst="line">
            <a:avLst/>
          </a:prstGeom>
          <a:ln w="2540" cap="rnd">
            <a:solidFill>
              <a:srgbClr val="134C9C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29" name="m-s29_iso_stack-lld-4"/>
          <p:cNvSpPr/>
          <p:nvPr/>
        </p:nvSpPr>
        <p:spPr>
          <a:xfrm>
            <a:off x="10859929" y="6710902"/>
            <a:ext cx="13017" cy="13017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30" name="m-s29_iso_stack-no-4"/>
          <p:cNvSpPr txBox="1"/>
          <p:nvPr/>
        </p:nvSpPr>
        <p:spPr>
          <a:xfrm>
            <a:off x="10209314" y="6673933"/>
            <a:ext cx="105181" cy="9112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09" b="1" i="0" u="none" strike="noStrike" kern="1200" cap="none" spc="0" normalizeH="0" baseline="0" noProof="0">
                <a:ln>
                  <a:noFill/>
                </a:ln>
                <a:solidFill>
                  <a:srgbClr val="134C9C">
                    <a:alpha val="3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02</a:t>
            </a:r>
          </a:p>
        </p:txBody>
      </p:sp>
      <p:sp>
        <p:nvSpPr>
          <p:cNvPr id="2231" name="m-s29_iso_stack-ln-4"/>
          <p:cNvSpPr txBox="1"/>
          <p:nvPr/>
        </p:nvSpPr>
        <p:spPr>
          <a:xfrm>
            <a:off x="10318401" y="6672012"/>
            <a:ext cx="134731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平台层</a:t>
            </a:r>
          </a:p>
        </p:txBody>
      </p:sp>
      <p:sp>
        <p:nvSpPr>
          <p:cNvPr id="2232" name="m-s29_iso_stack-ld-4"/>
          <p:cNvSpPr txBox="1"/>
          <p:nvPr/>
        </p:nvSpPr>
        <p:spPr>
          <a:xfrm>
            <a:off x="10319885" y="6726338"/>
            <a:ext cx="225138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研发与运行的公共底座</a:t>
            </a:r>
          </a:p>
        </p:txBody>
      </p:sp>
      <p:cxnSp>
        <p:nvCxnSpPr>
          <p:cNvPr id="2233" name="m-s29_iso_stack-rl-4"/>
          <p:cNvCxnSpPr/>
          <p:nvPr/>
        </p:nvCxnSpPr>
        <p:spPr>
          <a:xfrm>
            <a:off x="11673522" y="6717411"/>
            <a:ext cx="78106" cy="0"/>
          </a:xfrm>
          <a:prstGeom prst="line">
            <a:avLst/>
          </a:prstGeom>
          <a:ln w="2540" cap="rnd">
            <a:solidFill>
              <a:srgbClr val="134C9C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34" name="m-s29_iso_stack-rld-4"/>
          <p:cNvSpPr/>
          <p:nvPr/>
        </p:nvSpPr>
        <p:spPr>
          <a:xfrm>
            <a:off x="11667014" y="6710902"/>
            <a:ext cx="13017" cy="13017"/>
          </a:xfrm>
          <a:prstGeom prst="ellipse">
            <a:avLst/>
          </a:prstGeom>
          <a:solidFill>
            <a:srgbClr val="134C9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35" name="m-s29_iso_stack-cp-4-1"/>
          <p:cNvSpPr/>
          <p:nvPr/>
        </p:nvSpPr>
        <p:spPr>
          <a:xfrm>
            <a:off x="11764645" y="6688772"/>
            <a:ext cx="171831" cy="57277"/>
          </a:xfrm>
          <a:custGeom>
            <a:avLst/>
            <a:gdLst/>
            <a:ahLst/>
            <a:cxnLst/>
            <a:rect l="0" t="0" r="r" b="b"/>
            <a:pathLst>
              <a:path w="171831" h="57277">
                <a:moveTo>
                  <a:pt x="28638" y="0"/>
                </a:moveTo>
                <a:lnTo>
                  <a:pt x="143192" y="0"/>
                </a:lnTo>
                <a:cubicBezTo>
                  <a:pt x="159004" y="0"/>
                  <a:pt x="171831" y="12827"/>
                  <a:pt x="171831" y="28638"/>
                </a:cubicBezTo>
                <a:lnTo>
                  <a:pt x="171831" y="28638"/>
                </a:lnTo>
                <a:cubicBezTo>
                  <a:pt x="171831" y="44450"/>
                  <a:pt x="159004" y="57277"/>
                  <a:pt x="143192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134C9C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36" name="m-s29_iso_stack-cpt-4-1"/>
          <p:cNvSpPr txBox="1"/>
          <p:nvPr/>
        </p:nvSpPr>
        <p:spPr>
          <a:xfrm>
            <a:off x="11798490" y="6699499"/>
            <a:ext cx="10414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容器平台</a:t>
            </a:r>
          </a:p>
        </p:txBody>
      </p:sp>
      <p:sp>
        <p:nvSpPr>
          <p:cNvPr id="2237" name="m-s29_iso_stack-cp-4-2"/>
          <p:cNvSpPr/>
          <p:nvPr/>
        </p:nvSpPr>
        <p:spPr>
          <a:xfrm>
            <a:off x="11952097" y="6688772"/>
            <a:ext cx="171831" cy="57277"/>
          </a:xfrm>
          <a:custGeom>
            <a:avLst/>
            <a:gdLst/>
            <a:ahLst/>
            <a:cxnLst/>
            <a:rect l="0" t="0" r="r" b="b"/>
            <a:pathLst>
              <a:path w="171831" h="57277">
                <a:moveTo>
                  <a:pt x="28638" y="0"/>
                </a:moveTo>
                <a:lnTo>
                  <a:pt x="143192" y="0"/>
                </a:lnTo>
                <a:cubicBezTo>
                  <a:pt x="159004" y="0"/>
                  <a:pt x="171831" y="12827"/>
                  <a:pt x="171831" y="28638"/>
                </a:cubicBezTo>
                <a:lnTo>
                  <a:pt x="171831" y="28638"/>
                </a:lnTo>
                <a:cubicBezTo>
                  <a:pt x="171831" y="44450"/>
                  <a:pt x="159004" y="57277"/>
                  <a:pt x="143192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134C9C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38" name="m-s29_iso_stack-cpt-4-2"/>
          <p:cNvSpPr txBox="1"/>
          <p:nvPr/>
        </p:nvSpPr>
        <p:spPr>
          <a:xfrm>
            <a:off x="11982922" y="6699499"/>
            <a:ext cx="11018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API 网关</a:t>
            </a:r>
          </a:p>
        </p:txBody>
      </p:sp>
      <p:sp>
        <p:nvSpPr>
          <p:cNvPr id="2239" name="m-s29_iso_stack-cp-4-3"/>
          <p:cNvSpPr/>
          <p:nvPr/>
        </p:nvSpPr>
        <p:spPr>
          <a:xfrm>
            <a:off x="12139549" y="6688772"/>
            <a:ext cx="171831" cy="57277"/>
          </a:xfrm>
          <a:custGeom>
            <a:avLst/>
            <a:gdLst/>
            <a:ahLst/>
            <a:cxnLst/>
            <a:rect l="0" t="0" r="r" b="b"/>
            <a:pathLst>
              <a:path w="171831" h="57277">
                <a:moveTo>
                  <a:pt x="28638" y="0"/>
                </a:moveTo>
                <a:lnTo>
                  <a:pt x="143192" y="0"/>
                </a:lnTo>
                <a:cubicBezTo>
                  <a:pt x="159004" y="0"/>
                  <a:pt x="171831" y="12827"/>
                  <a:pt x="171831" y="28638"/>
                </a:cubicBezTo>
                <a:lnTo>
                  <a:pt x="171831" y="28638"/>
                </a:lnTo>
                <a:cubicBezTo>
                  <a:pt x="171831" y="44450"/>
                  <a:pt x="159004" y="57277"/>
                  <a:pt x="143192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134C9C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40" name="m-s29_iso_stack-cpt-4-3"/>
          <p:cNvSpPr txBox="1"/>
          <p:nvPr/>
        </p:nvSpPr>
        <p:spPr>
          <a:xfrm>
            <a:off x="12179539" y="6699499"/>
            <a:ext cx="91851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DevOps</a:t>
            </a:r>
          </a:p>
        </p:txBody>
      </p:sp>
      <p:sp>
        <p:nvSpPr>
          <p:cNvPr id="2241" name="m-s29_iso_stack-side-l-3"/>
          <p:cNvSpPr/>
          <p:nvPr/>
        </p:nvSpPr>
        <p:spPr>
          <a:xfrm>
            <a:off x="10879455" y="6509131"/>
            <a:ext cx="390525" cy="158813"/>
          </a:xfrm>
          <a:custGeom>
            <a:avLst/>
            <a:gdLst/>
            <a:ahLst/>
            <a:cxnLst/>
            <a:rect l="0" t="0" r="r" b="b"/>
            <a:pathLst>
              <a:path w="390525" h="158813">
                <a:moveTo>
                  <a:pt x="0" y="0"/>
                </a:moveTo>
                <a:lnTo>
                  <a:pt x="390525" y="124968"/>
                </a:lnTo>
                <a:lnTo>
                  <a:pt x="390525" y="158813"/>
                </a:lnTo>
                <a:lnTo>
                  <a:pt x="0" y="33846"/>
                </a:lnTo>
                <a:close/>
              </a:path>
            </a:pathLst>
          </a:custGeom>
          <a:solidFill>
            <a:srgbClr val="194E8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42" name="m-s29_iso_stack-side-r-3"/>
          <p:cNvSpPr/>
          <p:nvPr/>
        </p:nvSpPr>
        <p:spPr>
          <a:xfrm>
            <a:off x="11269980" y="6509131"/>
            <a:ext cx="390525" cy="158813"/>
          </a:xfrm>
          <a:custGeom>
            <a:avLst/>
            <a:gdLst/>
            <a:ahLst/>
            <a:cxnLst/>
            <a:rect l="0" t="0" r="r" b="b"/>
            <a:pathLst>
              <a:path w="390525" h="158813">
                <a:moveTo>
                  <a:pt x="0" y="124968"/>
                </a:moveTo>
                <a:lnTo>
                  <a:pt x="390525" y="0"/>
                </a:lnTo>
                <a:lnTo>
                  <a:pt x="390525" y="33846"/>
                </a:lnTo>
                <a:lnTo>
                  <a:pt x="0" y="158813"/>
                </a:lnTo>
                <a:close/>
              </a:path>
            </a:pathLst>
          </a:custGeom>
          <a:solidFill>
            <a:srgbClr val="1E599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43" name="m-s29_iso_stack-top-3"/>
          <p:cNvSpPr/>
          <p:nvPr/>
        </p:nvSpPr>
        <p:spPr>
          <a:xfrm>
            <a:off x="10879455" y="6384163"/>
            <a:ext cx="781050" cy="249936"/>
          </a:xfrm>
          <a:custGeom>
            <a:avLst/>
            <a:gdLst/>
            <a:ahLst/>
            <a:cxnLst/>
            <a:rect l="0" t="0" r="r" b="b"/>
            <a:pathLst>
              <a:path w="781050" h="249936">
                <a:moveTo>
                  <a:pt x="390525" y="0"/>
                </a:moveTo>
                <a:lnTo>
                  <a:pt x="781050" y="124968"/>
                </a:lnTo>
                <a:lnTo>
                  <a:pt x="390525" y="249936"/>
                </a:lnTo>
                <a:lnTo>
                  <a:pt x="0" y="124968"/>
                </a:lnTo>
                <a:close/>
              </a:path>
            </a:pathLst>
          </a:custGeom>
          <a:gradFill rotWithShape="1">
            <a:gsLst>
              <a:gs pos="0">
                <a:srgbClr val="5489C6"/>
              </a:gs>
              <a:gs pos="100000">
                <a:srgbClr val="2468B6"/>
              </a:gs>
            </a:gsLst>
            <a:lin ang="6000000" scaled="0"/>
          </a:gradFill>
          <a:ln w="2540" cap="rnd">
            <a:solidFill>
              <a:srgbClr val="FFFFF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44" name="m-s29_iso_stack-icon-db"/>
          <p:cNvSpPr/>
          <p:nvPr/>
        </p:nvSpPr>
        <p:spPr>
          <a:xfrm>
            <a:off x="11148886" y="6545897"/>
            <a:ext cx="20891" cy="25400"/>
          </a:xfrm>
          <a:custGeom>
            <a:avLst/>
            <a:gdLst/>
            <a:ahLst/>
            <a:cxnLst/>
            <a:rect l="0" t="0" r="r" b="b"/>
            <a:pathLst>
              <a:path w="20891" h="25400">
                <a:moveTo>
                  <a:pt x="10478" y="6223"/>
                </a:moveTo>
                <a:cubicBezTo>
                  <a:pt x="16256" y="6223"/>
                  <a:pt x="20891" y="4826"/>
                  <a:pt x="20891" y="3112"/>
                </a:cubicBezTo>
                <a:cubicBezTo>
                  <a:pt x="20891" y="1397"/>
                  <a:pt x="16256" y="0"/>
                  <a:pt x="10478" y="0"/>
                </a:cubicBezTo>
                <a:cubicBezTo>
                  <a:pt x="4636" y="0"/>
                  <a:pt x="0" y="1397"/>
                  <a:pt x="0" y="3112"/>
                </a:cubicBezTo>
                <a:cubicBezTo>
                  <a:pt x="0" y="4826"/>
                  <a:pt x="4636" y="6223"/>
                  <a:pt x="10478" y="6223"/>
                </a:cubicBezTo>
                <a:close/>
                <a:moveTo>
                  <a:pt x="0" y="3112"/>
                </a:moveTo>
                <a:lnTo>
                  <a:pt x="0" y="22288"/>
                </a:lnTo>
                <a:cubicBezTo>
                  <a:pt x="0" y="24003"/>
                  <a:pt x="4636" y="25400"/>
                  <a:pt x="10478" y="25400"/>
                </a:cubicBezTo>
                <a:cubicBezTo>
                  <a:pt x="16256" y="25400"/>
                  <a:pt x="20891" y="24003"/>
                  <a:pt x="20891" y="22288"/>
                </a:cubicBezTo>
                <a:lnTo>
                  <a:pt x="20891" y="3112"/>
                </a:lnTo>
                <a:moveTo>
                  <a:pt x="0" y="12700"/>
                </a:moveTo>
                <a:cubicBezTo>
                  <a:pt x="0" y="14414"/>
                  <a:pt x="4636" y="15812"/>
                  <a:pt x="10478" y="15812"/>
                </a:cubicBezTo>
                <a:cubicBezTo>
                  <a:pt x="16256" y="15812"/>
                  <a:pt x="20891" y="14414"/>
                  <a:pt x="20891" y="12700"/>
                </a:cubicBezTo>
              </a:path>
            </a:pathLst>
          </a:custGeom>
          <a:noFill/>
          <a:ln w="273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45" name="m-s29_iso_stack-tn-3"/>
          <p:cNvSpPr txBox="1"/>
          <p:nvPr/>
        </p:nvSpPr>
        <p:spPr>
          <a:xfrm>
            <a:off x="11209579" y="6533643"/>
            <a:ext cx="123406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31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数据层</a:t>
            </a:r>
          </a:p>
        </p:txBody>
      </p:sp>
      <p:cxnSp>
        <p:nvCxnSpPr>
          <p:cNvPr id="2246" name="m-s29_iso_stack-ll-3"/>
          <p:cNvCxnSpPr/>
          <p:nvPr/>
        </p:nvCxnSpPr>
        <p:spPr>
          <a:xfrm flipH="1">
            <a:off x="10788332" y="6561201"/>
            <a:ext cx="78106" cy="0"/>
          </a:xfrm>
          <a:prstGeom prst="line">
            <a:avLst/>
          </a:prstGeom>
          <a:ln w="2540" cap="rnd">
            <a:solidFill>
              <a:srgbClr val="2468B6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47" name="m-s29_iso_stack-lld-3"/>
          <p:cNvSpPr/>
          <p:nvPr/>
        </p:nvSpPr>
        <p:spPr>
          <a:xfrm>
            <a:off x="10859929" y="6554692"/>
            <a:ext cx="13017" cy="13017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48" name="m-s29_iso_stack-no-3"/>
          <p:cNvSpPr txBox="1"/>
          <p:nvPr/>
        </p:nvSpPr>
        <p:spPr>
          <a:xfrm>
            <a:off x="10209314" y="6517723"/>
            <a:ext cx="105181" cy="9112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09" b="1" i="0" u="none" strike="noStrike" kern="1200" cap="none" spc="0" normalizeH="0" baseline="0" noProof="0">
                <a:ln>
                  <a:noFill/>
                </a:ln>
                <a:solidFill>
                  <a:srgbClr val="2468B6">
                    <a:alpha val="3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03</a:t>
            </a:r>
          </a:p>
        </p:txBody>
      </p:sp>
      <p:sp>
        <p:nvSpPr>
          <p:cNvPr id="2249" name="m-s29_iso_stack-ln-3"/>
          <p:cNvSpPr txBox="1"/>
          <p:nvPr/>
        </p:nvSpPr>
        <p:spPr>
          <a:xfrm>
            <a:off x="10318401" y="6515802"/>
            <a:ext cx="134731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数据层</a:t>
            </a:r>
          </a:p>
        </p:txBody>
      </p:sp>
      <p:sp>
        <p:nvSpPr>
          <p:cNvPr id="2250" name="m-s29_iso_stack-ld-3"/>
          <p:cNvSpPr txBox="1"/>
          <p:nvPr/>
        </p:nvSpPr>
        <p:spPr>
          <a:xfrm>
            <a:off x="10319885" y="6570128"/>
            <a:ext cx="204440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统一口径的数据资产</a:t>
            </a:r>
          </a:p>
        </p:txBody>
      </p:sp>
      <p:cxnSp>
        <p:nvCxnSpPr>
          <p:cNvPr id="2251" name="m-s29_iso_stack-rl-3"/>
          <p:cNvCxnSpPr/>
          <p:nvPr/>
        </p:nvCxnSpPr>
        <p:spPr>
          <a:xfrm>
            <a:off x="11673522" y="6561201"/>
            <a:ext cx="78106" cy="0"/>
          </a:xfrm>
          <a:prstGeom prst="line">
            <a:avLst/>
          </a:prstGeom>
          <a:ln w="2540" cap="rnd">
            <a:solidFill>
              <a:srgbClr val="2468B6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52" name="m-s29_iso_stack-rld-3"/>
          <p:cNvSpPr/>
          <p:nvPr/>
        </p:nvSpPr>
        <p:spPr>
          <a:xfrm>
            <a:off x="11667014" y="6554692"/>
            <a:ext cx="13017" cy="13017"/>
          </a:xfrm>
          <a:prstGeom prst="ellipse">
            <a:avLst/>
          </a:prstGeom>
          <a:solidFill>
            <a:srgbClr val="2468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53" name="m-s29_iso_stack-cp-3-1"/>
          <p:cNvSpPr/>
          <p:nvPr/>
        </p:nvSpPr>
        <p:spPr>
          <a:xfrm>
            <a:off x="11764645" y="6532562"/>
            <a:ext cx="171831" cy="57277"/>
          </a:xfrm>
          <a:custGeom>
            <a:avLst/>
            <a:gdLst/>
            <a:ahLst/>
            <a:cxnLst/>
            <a:rect l="0" t="0" r="r" b="b"/>
            <a:pathLst>
              <a:path w="171831" h="57277">
                <a:moveTo>
                  <a:pt x="28638" y="0"/>
                </a:moveTo>
                <a:lnTo>
                  <a:pt x="143192" y="0"/>
                </a:lnTo>
                <a:cubicBezTo>
                  <a:pt x="159004" y="0"/>
                  <a:pt x="171831" y="12827"/>
                  <a:pt x="171831" y="28638"/>
                </a:cubicBezTo>
                <a:lnTo>
                  <a:pt x="171831" y="28638"/>
                </a:lnTo>
                <a:cubicBezTo>
                  <a:pt x="171831" y="44450"/>
                  <a:pt x="159004" y="57277"/>
                  <a:pt x="143192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2468B6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54" name="m-s29_iso_stack-cpt-3-1"/>
          <p:cNvSpPr txBox="1"/>
          <p:nvPr/>
        </p:nvSpPr>
        <p:spPr>
          <a:xfrm>
            <a:off x="11798490" y="6543289"/>
            <a:ext cx="10414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数据仓库</a:t>
            </a:r>
          </a:p>
        </p:txBody>
      </p:sp>
      <p:sp>
        <p:nvSpPr>
          <p:cNvPr id="2255" name="m-s29_iso_stack-cp-3-2"/>
          <p:cNvSpPr/>
          <p:nvPr/>
        </p:nvSpPr>
        <p:spPr>
          <a:xfrm>
            <a:off x="11952097" y="6532562"/>
            <a:ext cx="171831" cy="57277"/>
          </a:xfrm>
          <a:custGeom>
            <a:avLst/>
            <a:gdLst/>
            <a:ahLst/>
            <a:cxnLst/>
            <a:rect l="0" t="0" r="r" b="b"/>
            <a:pathLst>
              <a:path w="171831" h="57277">
                <a:moveTo>
                  <a:pt x="28638" y="0"/>
                </a:moveTo>
                <a:lnTo>
                  <a:pt x="143192" y="0"/>
                </a:lnTo>
                <a:cubicBezTo>
                  <a:pt x="159004" y="0"/>
                  <a:pt x="171831" y="12827"/>
                  <a:pt x="171831" y="28638"/>
                </a:cubicBezTo>
                <a:lnTo>
                  <a:pt x="171831" y="28638"/>
                </a:lnTo>
                <a:cubicBezTo>
                  <a:pt x="171831" y="44450"/>
                  <a:pt x="159004" y="57277"/>
                  <a:pt x="143192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2468B6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56" name="m-s29_iso_stack-cpt-3-2"/>
          <p:cNvSpPr txBox="1"/>
          <p:nvPr/>
        </p:nvSpPr>
        <p:spPr>
          <a:xfrm>
            <a:off x="11985942" y="6543289"/>
            <a:ext cx="10414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指标平台</a:t>
            </a:r>
          </a:p>
        </p:txBody>
      </p:sp>
      <p:sp>
        <p:nvSpPr>
          <p:cNvPr id="2257" name="m-s29_iso_stack-cp-3-3"/>
          <p:cNvSpPr/>
          <p:nvPr/>
        </p:nvSpPr>
        <p:spPr>
          <a:xfrm>
            <a:off x="12139549" y="6532562"/>
            <a:ext cx="171831" cy="57277"/>
          </a:xfrm>
          <a:custGeom>
            <a:avLst/>
            <a:gdLst/>
            <a:ahLst/>
            <a:cxnLst/>
            <a:rect l="0" t="0" r="r" b="b"/>
            <a:pathLst>
              <a:path w="171831" h="57277">
                <a:moveTo>
                  <a:pt x="28638" y="0"/>
                </a:moveTo>
                <a:lnTo>
                  <a:pt x="143192" y="0"/>
                </a:lnTo>
                <a:cubicBezTo>
                  <a:pt x="159004" y="0"/>
                  <a:pt x="171831" y="12827"/>
                  <a:pt x="171831" y="28638"/>
                </a:cubicBezTo>
                <a:lnTo>
                  <a:pt x="171831" y="28638"/>
                </a:lnTo>
                <a:cubicBezTo>
                  <a:pt x="171831" y="44450"/>
                  <a:pt x="159004" y="57277"/>
                  <a:pt x="143192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2468B6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58" name="m-s29_iso_stack-cpt-3-3"/>
          <p:cNvSpPr txBox="1"/>
          <p:nvPr/>
        </p:nvSpPr>
        <p:spPr>
          <a:xfrm>
            <a:off x="12173394" y="6543289"/>
            <a:ext cx="10414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标签体系</a:t>
            </a:r>
          </a:p>
        </p:txBody>
      </p:sp>
      <p:sp>
        <p:nvSpPr>
          <p:cNvPr id="2259" name="m-s29_iso_stack-side-l-2"/>
          <p:cNvSpPr/>
          <p:nvPr/>
        </p:nvSpPr>
        <p:spPr>
          <a:xfrm>
            <a:off x="10879455" y="6352921"/>
            <a:ext cx="390525" cy="158813"/>
          </a:xfrm>
          <a:custGeom>
            <a:avLst/>
            <a:gdLst/>
            <a:ahLst/>
            <a:cxnLst/>
            <a:rect l="0" t="0" r="r" b="b"/>
            <a:pathLst>
              <a:path w="390525" h="158813">
                <a:moveTo>
                  <a:pt x="0" y="0"/>
                </a:moveTo>
                <a:lnTo>
                  <a:pt x="390525" y="124968"/>
                </a:lnTo>
                <a:lnTo>
                  <a:pt x="390525" y="158813"/>
                </a:lnTo>
                <a:lnTo>
                  <a:pt x="0" y="33845"/>
                </a:lnTo>
                <a:close/>
              </a:path>
            </a:pathLst>
          </a:custGeom>
          <a:solidFill>
            <a:srgbClr val="26609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60" name="m-s29_iso_stack-side-r-2"/>
          <p:cNvSpPr/>
          <p:nvPr/>
        </p:nvSpPr>
        <p:spPr>
          <a:xfrm>
            <a:off x="11269980" y="6352921"/>
            <a:ext cx="390525" cy="158813"/>
          </a:xfrm>
          <a:custGeom>
            <a:avLst/>
            <a:gdLst/>
            <a:ahLst/>
            <a:cxnLst/>
            <a:rect l="0" t="0" r="r" b="b"/>
            <a:pathLst>
              <a:path w="390525" h="158813">
                <a:moveTo>
                  <a:pt x="0" y="124968"/>
                </a:moveTo>
                <a:lnTo>
                  <a:pt x="390525" y="0"/>
                </a:lnTo>
                <a:lnTo>
                  <a:pt x="390525" y="33845"/>
                </a:lnTo>
                <a:lnTo>
                  <a:pt x="0" y="158813"/>
                </a:lnTo>
                <a:close/>
              </a:path>
            </a:pathLst>
          </a:custGeom>
          <a:solidFill>
            <a:srgbClr val="2E6FB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61" name="m-s29_iso_stack-top-2"/>
          <p:cNvSpPr/>
          <p:nvPr/>
        </p:nvSpPr>
        <p:spPr>
          <a:xfrm>
            <a:off x="10879455" y="6227953"/>
            <a:ext cx="781050" cy="249936"/>
          </a:xfrm>
          <a:custGeom>
            <a:avLst/>
            <a:gdLst/>
            <a:ahLst/>
            <a:cxnLst/>
            <a:rect l="0" t="0" r="r" b="b"/>
            <a:pathLst>
              <a:path w="781050" h="249936">
                <a:moveTo>
                  <a:pt x="390525" y="0"/>
                </a:moveTo>
                <a:lnTo>
                  <a:pt x="781050" y="124968"/>
                </a:lnTo>
                <a:lnTo>
                  <a:pt x="390525" y="249936"/>
                </a:lnTo>
                <a:lnTo>
                  <a:pt x="0" y="124968"/>
                </a:lnTo>
                <a:close/>
              </a:path>
            </a:pathLst>
          </a:custGeom>
          <a:gradFill rotWithShape="1">
            <a:gsLst>
              <a:gs pos="0">
                <a:srgbClr val="65A0D8"/>
              </a:gs>
              <a:gs pos="100000">
                <a:srgbClr val="3985CD"/>
              </a:gs>
            </a:gsLst>
            <a:lin ang="6000000" scaled="0"/>
          </a:gradFill>
          <a:ln w="2540" cap="rnd">
            <a:solidFill>
              <a:srgbClr val="FFFFF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62" name="m-s29_iso_stack-icon-gear"/>
          <p:cNvSpPr/>
          <p:nvPr/>
        </p:nvSpPr>
        <p:spPr>
          <a:xfrm>
            <a:off x="11148758" y="6389434"/>
            <a:ext cx="21145" cy="25908"/>
          </a:xfrm>
          <a:custGeom>
            <a:avLst/>
            <a:gdLst/>
            <a:ahLst/>
            <a:cxnLst/>
            <a:rect l="0" t="0" r="r" b="b"/>
            <a:pathLst>
              <a:path w="21145" h="25908">
                <a:moveTo>
                  <a:pt x="10605" y="8191"/>
                </a:moveTo>
                <a:cubicBezTo>
                  <a:pt x="8826" y="8191"/>
                  <a:pt x="7302" y="9080"/>
                  <a:pt x="6413" y="10541"/>
                </a:cubicBezTo>
                <a:cubicBezTo>
                  <a:pt x="5588" y="12065"/>
                  <a:pt x="5588" y="13843"/>
                  <a:pt x="6413" y="15367"/>
                </a:cubicBezTo>
                <a:cubicBezTo>
                  <a:pt x="7302" y="16827"/>
                  <a:pt x="8826" y="17716"/>
                  <a:pt x="10605" y="17716"/>
                </a:cubicBezTo>
                <a:cubicBezTo>
                  <a:pt x="13208" y="17716"/>
                  <a:pt x="15367" y="15621"/>
                  <a:pt x="15367" y="12954"/>
                </a:cubicBezTo>
                <a:cubicBezTo>
                  <a:pt x="15367" y="10287"/>
                  <a:pt x="13208" y="8191"/>
                  <a:pt x="10605" y="8191"/>
                </a:cubicBezTo>
                <a:close/>
                <a:moveTo>
                  <a:pt x="10605" y="0"/>
                </a:moveTo>
                <a:lnTo>
                  <a:pt x="12128" y="3619"/>
                </a:lnTo>
                <a:lnTo>
                  <a:pt x="16065" y="2794"/>
                </a:lnTo>
                <a:lnTo>
                  <a:pt x="17462" y="6604"/>
                </a:lnTo>
                <a:lnTo>
                  <a:pt x="21145" y="8191"/>
                </a:lnTo>
                <a:lnTo>
                  <a:pt x="19494" y="11811"/>
                </a:lnTo>
                <a:lnTo>
                  <a:pt x="21145" y="15494"/>
                </a:lnTo>
                <a:lnTo>
                  <a:pt x="17462" y="17018"/>
                </a:lnTo>
                <a:lnTo>
                  <a:pt x="16065" y="20828"/>
                </a:lnTo>
                <a:lnTo>
                  <a:pt x="12128" y="20002"/>
                </a:lnTo>
                <a:lnTo>
                  <a:pt x="10605" y="25908"/>
                </a:lnTo>
                <a:lnTo>
                  <a:pt x="9017" y="22288"/>
                </a:lnTo>
                <a:lnTo>
                  <a:pt x="5080" y="23114"/>
                </a:lnTo>
                <a:lnTo>
                  <a:pt x="3683" y="19304"/>
                </a:lnTo>
                <a:lnTo>
                  <a:pt x="0" y="17716"/>
                </a:lnTo>
                <a:lnTo>
                  <a:pt x="1651" y="12954"/>
                </a:lnTo>
                <a:lnTo>
                  <a:pt x="0" y="9271"/>
                </a:lnTo>
                <a:lnTo>
                  <a:pt x="3683" y="7747"/>
                </a:lnTo>
                <a:lnTo>
                  <a:pt x="5080" y="3937"/>
                </a:lnTo>
                <a:lnTo>
                  <a:pt x="9017" y="4762"/>
                </a:lnTo>
                <a:close/>
              </a:path>
            </a:pathLst>
          </a:custGeom>
          <a:noFill/>
          <a:ln w="273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63" name="m-s29_iso_stack-tn-2"/>
          <p:cNvSpPr txBox="1"/>
          <p:nvPr/>
        </p:nvSpPr>
        <p:spPr>
          <a:xfrm>
            <a:off x="11209579" y="6377433"/>
            <a:ext cx="123406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31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服务层</a:t>
            </a:r>
          </a:p>
        </p:txBody>
      </p:sp>
      <p:cxnSp>
        <p:nvCxnSpPr>
          <p:cNvPr id="2264" name="m-s29_iso_stack-ll-2"/>
          <p:cNvCxnSpPr/>
          <p:nvPr/>
        </p:nvCxnSpPr>
        <p:spPr>
          <a:xfrm flipH="1">
            <a:off x="10788332" y="6404991"/>
            <a:ext cx="78106" cy="0"/>
          </a:xfrm>
          <a:prstGeom prst="line">
            <a:avLst/>
          </a:prstGeom>
          <a:ln w="2540" cap="rnd">
            <a:solidFill>
              <a:srgbClr val="3985CD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65" name="m-s29_iso_stack-lld-2"/>
          <p:cNvSpPr/>
          <p:nvPr/>
        </p:nvSpPr>
        <p:spPr>
          <a:xfrm>
            <a:off x="10859929" y="6398482"/>
            <a:ext cx="13017" cy="13017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66" name="m-s29_iso_stack-no-2"/>
          <p:cNvSpPr txBox="1"/>
          <p:nvPr/>
        </p:nvSpPr>
        <p:spPr>
          <a:xfrm>
            <a:off x="10209314" y="6361513"/>
            <a:ext cx="105181" cy="9112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09" b="1" i="0" u="none" strike="noStrike" kern="1200" cap="none" spc="0" normalizeH="0" baseline="0" noProof="0">
                <a:ln>
                  <a:noFill/>
                </a:ln>
                <a:solidFill>
                  <a:srgbClr val="3985CD">
                    <a:alpha val="3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04</a:t>
            </a:r>
          </a:p>
        </p:txBody>
      </p:sp>
      <p:sp>
        <p:nvSpPr>
          <p:cNvPr id="2267" name="m-s29_iso_stack-ln-2"/>
          <p:cNvSpPr txBox="1"/>
          <p:nvPr/>
        </p:nvSpPr>
        <p:spPr>
          <a:xfrm>
            <a:off x="10318401" y="6359592"/>
            <a:ext cx="134731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服务层</a:t>
            </a:r>
          </a:p>
        </p:txBody>
      </p:sp>
      <p:sp>
        <p:nvSpPr>
          <p:cNvPr id="2268" name="m-s29_iso_stack-ld-2"/>
          <p:cNvSpPr txBox="1"/>
          <p:nvPr/>
        </p:nvSpPr>
        <p:spPr>
          <a:xfrm>
            <a:off x="10319885" y="6413918"/>
            <a:ext cx="225138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可复用的业务能力中心</a:t>
            </a:r>
          </a:p>
        </p:txBody>
      </p:sp>
      <p:cxnSp>
        <p:nvCxnSpPr>
          <p:cNvPr id="2269" name="m-s29_iso_stack-rl-2"/>
          <p:cNvCxnSpPr/>
          <p:nvPr/>
        </p:nvCxnSpPr>
        <p:spPr>
          <a:xfrm>
            <a:off x="11673522" y="6404991"/>
            <a:ext cx="78106" cy="0"/>
          </a:xfrm>
          <a:prstGeom prst="line">
            <a:avLst/>
          </a:prstGeom>
          <a:ln w="2540" cap="rnd">
            <a:solidFill>
              <a:srgbClr val="3985CD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70" name="m-s29_iso_stack-rld-2"/>
          <p:cNvSpPr/>
          <p:nvPr/>
        </p:nvSpPr>
        <p:spPr>
          <a:xfrm>
            <a:off x="11667014" y="6398482"/>
            <a:ext cx="13017" cy="13017"/>
          </a:xfrm>
          <a:prstGeom prst="ellipse">
            <a:avLst/>
          </a:prstGeom>
          <a:solidFill>
            <a:srgbClr val="3985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71" name="m-s29_iso_stack-cp-2-1"/>
          <p:cNvSpPr/>
          <p:nvPr/>
        </p:nvSpPr>
        <p:spPr>
          <a:xfrm>
            <a:off x="11764645" y="6376352"/>
            <a:ext cx="171831" cy="57277"/>
          </a:xfrm>
          <a:custGeom>
            <a:avLst/>
            <a:gdLst/>
            <a:ahLst/>
            <a:cxnLst/>
            <a:rect l="0" t="0" r="r" b="b"/>
            <a:pathLst>
              <a:path w="171831" h="57277">
                <a:moveTo>
                  <a:pt x="28638" y="0"/>
                </a:moveTo>
                <a:lnTo>
                  <a:pt x="143192" y="0"/>
                </a:lnTo>
                <a:cubicBezTo>
                  <a:pt x="159004" y="0"/>
                  <a:pt x="171831" y="12827"/>
                  <a:pt x="171831" y="28638"/>
                </a:cubicBezTo>
                <a:lnTo>
                  <a:pt x="171831" y="28638"/>
                </a:lnTo>
                <a:cubicBezTo>
                  <a:pt x="171831" y="44450"/>
                  <a:pt x="159004" y="57277"/>
                  <a:pt x="143192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3985CD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72" name="m-s29_iso_stack-cpt-2-1"/>
          <p:cNvSpPr txBox="1"/>
          <p:nvPr/>
        </p:nvSpPr>
        <p:spPr>
          <a:xfrm>
            <a:off x="11798490" y="6387079"/>
            <a:ext cx="10414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订单中心</a:t>
            </a:r>
          </a:p>
        </p:txBody>
      </p:sp>
      <p:sp>
        <p:nvSpPr>
          <p:cNvPr id="2273" name="m-s29_iso_stack-cp-2-2"/>
          <p:cNvSpPr/>
          <p:nvPr/>
        </p:nvSpPr>
        <p:spPr>
          <a:xfrm>
            <a:off x="11952097" y="6376352"/>
            <a:ext cx="171831" cy="57277"/>
          </a:xfrm>
          <a:custGeom>
            <a:avLst/>
            <a:gdLst/>
            <a:ahLst/>
            <a:cxnLst/>
            <a:rect l="0" t="0" r="r" b="b"/>
            <a:pathLst>
              <a:path w="171831" h="57277">
                <a:moveTo>
                  <a:pt x="28638" y="0"/>
                </a:moveTo>
                <a:lnTo>
                  <a:pt x="143192" y="0"/>
                </a:lnTo>
                <a:cubicBezTo>
                  <a:pt x="159004" y="0"/>
                  <a:pt x="171831" y="12827"/>
                  <a:pt x="171831" y="28638"/>
                </a:cubicBezTo>
                <a:lnTo>
                  <a:pt x="171831" y="28638"/>
                </a:lnTo>
                <a:cubicBezTo>
                  <a:pt x="171831" y="44450"/>
                  <a:pt x="159004" y="57277"/>
                  <a:pt x="143192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3985CD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74" name="m-s29_iso_stack-cpt-2-2"/>
          <p:cNvSpPr txBox="1"/>
          <p:nvPr/>
        </p:nvSpPr>
        <p:spPr>
          <a:xfrm>
            <a:off x="11985942" y="6387079"/>
            <a:ext cx="10414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会员中心</a:t>
            </a:r>
          </a:p>
        </p:txBody>
      </p:sp>
      <p:sp>
        <p:nvSpPr>
          <p:cNvPr id="2275" name="m-s29_iso_stack-cp-2-3"/>
          <p:cNvSpPr/>
          <p:nvPr/>
        </p:nvSpPr>
        <p:spPr>
          <a:xfrm>
            <a:off x="12139549" y="6376352"/>
            <a:ext cx="171831" cy="57277"/>
          </a:xfrm>
          <a:custGeom>
            <a:avLst/>
            <a:gdLst/>
            <a:ahLst/>
            <a:cxnLst/>
            <a:rect l="0" t="0" r="r" b="b"/>
            <a:pathLst>
              <a:path w="171831" h="57277">
                <a:moveTo>
                  <a:pt x="28638" y="0"/>
                </a:moveTo>
                <a:lnTo>
                  <a:pt x="143192" y="0"/>
                </a:lnTo>
                <a:cubicBezTo>
                  <a:pt x="159004" y="0"/>
                  <a:pt x="171831" y="12827"/>
                  <a:pt x="171831" y="28638"/>
                </a:cubicBezTo>
                <a:lnTo>
                  <a:pt x="171831" y="28638"/>
                </a:lnTo>
                <a:cubicBezTo>
                  <a:pt x="171831" y="44450"/>
                  <a:pt x="159004" y="57277"/>
                  <a:pt x="143192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3985CD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76" name="m-s29_iso_stack-cpt-2-3"/>
          <p:cNvSpPr txBox="1"/>
          <p:nvPr/>
        </p:nvSpPr>
        <p:spPr>
          <a:xfrm>
            <a:off x="12173394" y="6387079"/>
            <a:ext cx="10414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支付中心</a:t>
            </a:r>
          </a:p>
        </p:txBody>
      </p:sp>
      <p:sp>
        <p:nvSpPr>
          <p:cNvPr id="2277" name="m-s29_iso_stack-side-l-1"/>
          <p:cNvSpPr/>
          <p:nvPr/>
        </p:nvSpPr>
        <p:spPr>
          <a:xfrm>
            <a:off x="10879455" y="6196711"/>
            <a:ext cx="390525" cy="158813"/>
          </a:xfrm>
          <a:custGeom>
            <a:avLst/>
            <a:gdLst/>
            <a:ahLst/>
            <a:cxnLst/>
            <a:rect l="0" t="0" r="r" b="b"/>
            <a:pathLst>
              <a:path w="390525" h="158813">
                <a:moveTo>
                  <a:pt x="0" y="0"/>
                </a:moveTo>
                <a:lnTo>
                  <a:pt x="390525" y="124968"/>
                </a:lnTo>
                <a:lnTo>
                  <a:pt x="390525" y="158813"/>
                </a:lnTo>
                <a:lnTo>
                  <a:pt x="0" y="33846"/>
                </a:lnTo>
                <a:close/>
              </a:path>
            </a:pathLst>
          </a:custGeom>
          <a:solidFill>
            <a:srgbClr val="3772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78" name="m-s29_iso_stack-side-r-1"/>
          <p:cNvSpPr/>
          <p:nvPr/>
        </p:nvSpPr>
        <p:spPr>
          <a:xfrm>
            <a:off x="11269980" y="6196711"/>
            <a:ext cx="390525" cy="158813"/>
          </a:xfrm>
          <a:custGeom>
            <a:avLst/>
            <a:gdLst/>
            <a:ahLst/>
            <a:cxnLst/>
            <a:rect l="0" t="0" r="r" b="b"/>
            <a:pathLst>
              <a:path w="390525" h="158813">
                <a:moveTo>
                  <a:pt x="0" y="124968"/>
                </a:moveTo>
                <a:lnTo>
                  <a:pt x="390525" y="0"/>
                </a:lnTo>
                <a:lnTo>
                  <a:pt x="390525" y="33846"/>
                </a:lnTo>
                <a:lnTo>
                  <a:pt x="0" y="158813"/>
                </a:lnTo>
                <a:close/>
              </a:path>
            </a:pathLst>
          </a:custGeom>
          <a:solidFill>
            <a:srgbClr val="4386B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79" name="m-s29_iso_stack-top-1"/>
          <p:cNvSpPr/>
          <p:nvPr/>
        </p:nvSpPr>
        <p:spPr>
          <a:xfrm>
            <a:off x="10879455" y="6071743"/>
            <a:ext cx="781050" cy="249936"/>
          </a:xfrm>
          <a:custGeom>
            <a:avLst/>
            <a:gdLst/>
            <a:ahLst/>
            <a:cxnLst/>
            <a:rect l="0" t="0" r="r" b="b"/>
            <a:pathLst>
              <a:path w="781050" h="249936">
                <a:moveTo>
                  <a:pt x="390525" y="0"/>
                </a:moveTo>
                <a:lnTo>
                  <a:pt x="781050" y="124968"/>
                </a:lnTo>
                <a:lnTo>
                  <a:pt x="390525" y="249936"/>
                </a:lnTo>
                <a:lnTo>
                  <a:pt x="0" y="124968"/>
                </a:lnTo>
                <a:close/>
              </a:path>
            </a:pathLst>
          </a:custGeom>
          <a:gradFill rotWithShape="1">
            <a:gsLst>
              <a:gs pos="0">
                <a:srgbClr val="7AB6E6"/>
              </a:gs>
              <a:gs pos="100000">
                <a:srgbClr val="54A2DF"/>
              </a:gs>
            </a:gsLst>
            <a:lin ang="6000000" scaled="0"/>
          </a:gradFill>
          <a:ln w="2540" cap="rnd">
            <a:solidFill>
              <a:srgbClr val="FFFFFF">
                <a:alpha val="5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80" name="m-s29_iso_stack-icon-phone"/>
          <p:cNvSpPr/>
          <p:nvPr/>
        </p:nvSpPr>
        <p:spPr>
          <a:xfrm>
            <a:off x="11151426" y="6187186"/>
            <a:ext cx="15811" cy="24257"/>
          </a:xfrm>
          <a:custGeom>
            <a:avLst/>
            <a:gdLst/>
            <a:ahLst/>
            <a:cxnLst/>
            <a:rect l="0" t="0" r="r" b="b"/>
            <a:pathLst>
              <a:path w="15811" h="24257">
                <a:moveTo>
                  <a:pt x="2286" y="0"/>
                </a:moveTo>
                <a:lnTo>
                  <a:pt x="13525" y="0"/>
                </a:lnTo>
                <a:cubicBezTo>
                  <a:pt x="14160" y="0"/>
                  <a:pt x="14732" y="254"/>
                  <a:pt x="15113" y="635"/>
                </a:cubicBezTo>
                <a:cubicBezTo>
                  <a:pt x="15557" y="1079"/>
                  <a:pt x="15811" y="1651"/>
                  <a:pt x="15811" y="2286"/>
                </a:cubicBezTo>
                <a:lnTo>
                  <a:pt x="15811" y="21971"/>
                </a:lnTo>
                <a:cubicBezTo>
                  <a:pt x="15811" y="22606"/>
                  <a:pt x="15557" y="23177"/>
                  <a:pt x="15113" y="23622"/>
                </a:cubicBezTo>
                <a:cubicBezTo>
                  <a:pt x="14732" y="24003"/>
                  <a:pt x="14160" y="24257"/>
                  <a:pt x="13525" y="24257"/>
                </a:cubicBezTo>
                <a:lnTo>
                  <a:pt x="2286" y="24257"/>
                </a:lnTo>
                <a:cubicBezTo>
                  <a:pt x="1651" y="24257"/>
                  <a:pt x="1079" y="24003"/>
                  <a:pt x="698" y="23622"/>
                </a:cubicBezTo>
                <a:cubicBezTo>
                  <a:pt x="254" y="23177"/>
                  <a:pt x="0" y="22606"/>
                  <a:pt x="0" y="21971"/>
                </a:cubicBezTo>
                <a:lnTo>
                  <a:pt x="0" y="2286"/>
                </a:lnTo>
                <a:cubicBezTo>
                  <a:pt x="0" y="1016"/>
                  <a:pt x="1016" y="0"/>
                  <a:pt x="2286" y="0"/>
                </a:cubicBezTo>
                <a:close/>
                <a:moveTo>
                  <a:pt x="5651" y="20002"/>
                </a:moveTo>
                <a:lnTo>
                  <a:pt x="10160" y="20002"/>
                </a:lnTo>
              </a:path>
            </a:pathLst>
          </a:custGeom>
          <a:noFill/>
          <a:ln w="2734" cap="rnd">
            <a:solidFill>
              <a:srgbClr val="FFFFFF"/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81" name="m-s29_iso_stack-tn-1"/>
          <p:cNvSpPr txBox="1"/>
          <p:nvPr/>
        </p:nvSpPr>
        <p:spPr>
          <a:xfrm>
            <a:off x="11209579" y="6174360"/>
            <a:ext cx="123406" cy="5011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29" b="1" i="0" u="none" strike="noStrike" kern="1200" cap="none" spc="31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应用层</a:t>
            </a:r>
          </a:p>
        </p:txBody>
      </p:sp>
      <p:cxnSp>
        <p:nvCxnSpPr>
          <p:cNvPr id="2282" name="m-s29_iso_stack-ll-1"/>
          <p:cNvCxnSpPr/>
          <p:nvPr/>
        </p:nvCxnSpPr>
        <p:spPr>
          <a:xfrm flipH="1">
            <a:off x="10788332" y="6196711"/>
            <a:ext cx="78106" cy="0"/>
          </a:xfrm>
          <a:prstGeom prst="line">
            <a:avLst/>
          </a:prstGeom>
          <a:ln w="2540" cap="rnd">
            <a:solidFill>
              <a:srgbClr val="54A2DF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83" name="m-s29_iso_stack-lld-1"/>
          <p:cNvSpPr/>
          <p:nvPr/>
        </p:nvSpPr>
        <p:spPr>
          <a:xfrm>
            <a:off x="10859929" y="6190202"/>
            <a:ext cx="13017" cy="13017"/>
          </a:xfrm>
          <a:prstGeom prst="ellipse">
            <a:avLst/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84" name="m-s29_iso_stack-no-1"/>
          <p:cNvSpPr txBox="1"/>
          <p:nvPr/>
        </p:nvSpPr>
        <p:spPr>
          <a:xfrm>
            <a:off x="10209314" y="6153233"/>
            <a:ext cx="105181" cy="9112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409" b="1" i="0" u="none" strike="noStrike" kern="1200" cap="none" spc="0" normalizeH="0" baseline="0" noProof="0">
                <a:ln>
                  <a:noFill/>
                </a:ln>
                <a:solidFill>
                  <a:srgbClr val="54A2DF">
                    <a:alpha val="35000"/>
                  </a:srgbClr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05</a:t>
            </a:r>
          </a:p>
        </p:txBody>
      </p:sp>
      <p:sp>
        <p:nvSpPr>
          <p:cNvPr id="2285" name="m-s29_iso_stack-ln-1"/>
          <p:cNvSpPr txBox="1"/>
          <p:nvPr/>
        </p:nvSpPr>
        <p:spPr>
          <a:xfrm>
            <a:off x="10318401" y="6151312"/>
            <a:ext cx="134731" cy="56952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6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应用层</a:t>
            </a:r>
          </a:p>
        </p:txBody>
      </p:sp>
      <p:sp>
        <p:nvSpPr>
          <p:cNvPr id="2286" name="m-s29_iso_stack-ld-1"/>
          <p:cNvSpPr txBox="1"/>
          <p:nvPr/>
        </p:nvSpPr>
        <p:spPr>
          <a:xfrm>
            <a:off x="10319885" y="6205638"/>
            <a:ext cx="266533" cy="353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面向客户与员工的前台应用</a:t>
            </a:r>
          </a:p>
        </p:txBody>
      </p:sp>
      <p:cxnSp>
        <p:nvCxnSpPr>
          <p:cNvPr id="2287" name="m-s29_iso_stack-rl-1"/>
          <p:cNvCxnSpPr/>
          <p:nvPr/>
        </p:nvCxnSpPr>
        <p:spPr>
          <a:xfrm>
            <a:off x="11673522" y="6196711"/>
            <a:ext cx="78106" cy="0"/>
          </a:xfrm>
          <a:prstGeom prst="line">
            <a:avLst/>
          </a:prstGeom>
          <a:ln w="2540" cap="rnd">
            <a:solidFill>
              <a:srgbClr val="54A2DF">
                <a:alpha val="7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88" name="m-s29_iso_stack-rld-1"/>
          <p:cNvSpPr/>
          <p:nvPr/>
        </p:nvSpPr>
        <p:spPr>
          <a:xfrm>
            <a:off x="11667014" y="6190202"/>
            <a:ext cx="13017" cy="13017"/>
          </a:xfrm>
          <a:prstGeom prst="ellipse">
            <a:avLst/>
          </a:prstGeom>
          <a:solidFill>
            <a:srgbClr val="54A2D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89" name="m-s29_iso_stack-cp-1-1"/>
          <p:cNvSpPr/>
          <p:nvPr/>
        </p:nvSpPr>
        <p:spPr>
          <a:xfrm>
            <a:off x="11764645" y="6168072"/>
            <a:ext cx="171831" cy="57277"/>
          </a:xfrm>
          <a:custGeom>
            <a:avLst/>
            <a:gdLst/>
            <a:ahLst/>
            <a:cxnLst/>
            <a:rect l="0" t="0" r="r" b="b"/>
            <a:pathLst>
              <a:path w="171831" h="57277">
                <a:moveTo>
                  <a:pt x="28638" y="0"/>
                </a:moveTo>
                <a:lnTo>
                  <a:pt x="143192" y="0"/>
                </a:lnTo>
                <a:cubicBezTo>
                  <a:pt x="159004" y="0"/>
                  <a:pt x="171831" y="12827"/>
                  <a:pt x="171831" y="28638"/>
                </a:cubicBezTo>
                <a:lnTo>
                  <a:pt x="171831" y="28638"/>
                </a:lnTo>
                <a:cubicBezTo>
                  <a:pt x="171831" y="44450"/>
                  <a:pt x="159004" y="57277"/>
                  <a:pt x="143192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54A2DF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90" name="m-s29_iso_stack-cpt-1-1"/>
          <p:cNvSpPr txBox="1"/>
          <p:nvPr/>
        </p:nvSpPr>
        <p:spPr>
          <a:xfrm>
            <a:off x="11798490" y="6178799"/>
            <a:ext cx="10414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客户门户</a:t>
            </a:r>
          </a:p>
        </p:txBody>
      </p:sp>
      <p:sp>
        <p:nvSpPr>
          <p:cNvPr id="2291" name="m-s29_iso_stack-cp-1-2"/>
          <p:cNvSpPr/>
          <p:nvPr/>
        </p:nvSpPr>
        <p:spPr>
          <a:xfrm>
            <a:off x="11952097" y="6168072"/>
            <a:ext cx="171831" cy="57277"/>
          </a:xfrm>
          <a:custGeom>
            <a:avLst/>
            <a:gdLst/>
            <a:ahLst/>
            <a:cxnLst/>
            <a:rect l="0" t="0" r="r" b="b"/>
            <a:pathLst>
              <a:path w="171831" h="57277">
                <a:moveTo>
                  <a:pt x="28638" y="0"/>
                </a:moveTo>
                <a:lnTo>
                  <a:pt x="143192" y="0"/>
                </a:lnTo>
                <a:cubicBezTo>
                  <a:pt x="159004" y="0"/>
                  <a:pt x="171831" y="12827"/>
                  <a:pt x="171831" y="28638"/>
                </a:cubicBezTo>
                <a:lnTo>
                  <a:pt x="171831" y="28638"/>
                </a:lnTo>
                <a:cubicBezTo>
                  <a:pt x="171831" y="44450"/>
                  <a:pt x="159004" y="57277"/>
                  <a:pt x="143192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54A2DF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92" name="m-s29_iso_stack-cpt-1-2"/>
          <p:cNvSpPr txBox="1"/>
          <p:nvPr/>
        </p:nvSpPr>
        <p:spPr>
          <a:xfrm>
            <a:off x="11982922" y="6178799"/>
            <a:ext cx="110180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移动 App</a:t>
            </a:r>
          </a:p>
        </p:txBody>
      </p:sp>
      <p:sp>
        <p:nvSpPr>
          <p:cNvPr id="2293" name="m-s29_iso_stack-cp-1-3"/>
          <p:cNvSpPr/>
          <p:nvPr/>
        </p:nvSpPr>
        <p:spPr>
          <a:xfrm>
            <a:off x="12139549" y="6168072"/>
            <a:ext cx="171831" cy="57277"/>
          </a:xfrm>
          <a:custGeom>
            <a:avLst/>
            <a:gdLst/>
            <a:ahLst/>
            <a:cxnLst/>
            <a:rect l="0" t="0" r="r" b="b"/>
            <a:pathLst>
              <a:path w="171831" h="57277">
                <a:moveTo>
                  <a:pt x="28638" y="0"/>
                </a:moveTo>
                <a:lnTo>
                  <a:pt x="143192" y="0"/>
                </a:lnTo>
                <a:cubicBezTo>
                  <a:pt x="159004" y="0"/>
                  <a:pt x="171831" y="12827"/>
                  <a:pt x="171831" y="28638"/>
                </a:cubicBezTo>
                <a:lnTo>
                  <a:pt x="171831" y="28638"/>
                </a:lnTo>
                <a:cubicBezTo>
                  <a:pt x="171831" y="44450"/>
                  <a:pt x="159004" y="57277"/>
                  <a:pt x="143192" y="57277"/>
                </a:cubicBezTo>
                <a:lnTo>
                  <a:pt x="28638" y="57277"/>
                </a:lnTo>
                <a:cubicBezTo>
                  <a:pt x="12827" y="57277"/>
                  <a:pt x="0" y="44450"/>
                  <a:pt x="0" y="28638"/>
                </a:cubicBezTo>
                <a:lnTo>
                  <a:pt x="0" y="28638"/>
                </a:lnTo>
                <a:cubicBezTo>
                  <a:pt x="0" y="12827"/>
                  <a:pt x="12827" y="0"/>
                  <a:pt x="28638" y="0"/>
                </a:cubicBezTo>
                <a:close/>
              </a:path>
            </a:pathLst>
          </a:custGeom>
          <a:solidFill>
            <a:srgbClr val="FFFFFF"/>
          </a:solidFill>
          <a:ln w="2540" cap="rnd">
            <a:solidFill>
              <a:srgbClr val="54A2DF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94" name="m-s29_iso_stack-cpt-1-3"/>
          <p:cNvSpPr txBox="1"/>
          <p:nvPr/>
        </p:nvSpPr>
        <p:spPr>
          <a:xfrm>
            <a:off x="12176467" y="6178799"/>
            <a:ext cx="97996" cy="36449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" b="1" i="0" u="none" strike="noStrike" kern="1200" cap="none" spc="4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BI 看板</a:t>
            </a:r>
          </a:p>
        </p:txBody>
      </p:sp>
      <p:sp>
        <p:nvSpPr>
          <p:cNvPr id="2295" name="m-s29_iso_stack-sum"/>
          <p:cNvSpPr/>
          <p:nvPr/>
        </p:nvSpPr>
        <p:spPr>
          <a:xfrm>
            <a:off x="10215562" y="7027228"/>
            <a:ext cx="2108835" cy="85915"/>
          </a:xfrm>
          <a:custGeom>
            <a:avLst/>
            <a:gdLst/>
            <a:ahLst/>
            <a:cxnLst/>
            <a:rect l="0" t="0" r="r" b="b"/>
            <a:pathLst>
              <a:path w="2108835" h="85915">
                <a:moveTo>
                  <a:pt x="18224" y="0"/>
                </a:moveTo>
                <a:lnTo>
                  <a:pt x="2090610" y="0"/>
                </a:lnTo>
                <a:cubicBezTo>
                  <a:pt x="2100643" y="0"/>
                  <a:pt x="2108835" y="8191"/>
                  <a:pt x="2108835" y="18224"/>
                </a:cubicBezTo>
                <a:lnTo>
                  <a:pt x="2108835" y="67691"/>
                </a:lnTo>
                <a:cubicBezTo>
                  <a:pt x="2108835" y="77724"/>
                  <a:pt x="2100643" y="85915"/>
                  <a:pt x="2090610" y="85915"/>
                </a:cubicBezTo>
                <a:lnTo>
                  <a:pt x="18224" y="85915"/>
                </a:lnTo>
                <a:cubicBezTo>
                  <a:pt x="8191" y="85915"/>
                  <a:pt x="0" y="77724"/>
                  <a:pt x="0" y="67691"/>
                </a:cubicBezTo>
                <a:lnTo>
                  <a:pt x="0" y="18224"/>
                </a:lnTo>
                <a:cubicBezTo>
                  <a:pt x="0" y="8191"/>
                  <a:pt x="8191" y="0"/>
                  <a:pt x="18224" y="0"/>
                </a:cubicBezTo>
                <a:close/>
              </a:path>
            </a:pathLst>
          </a:cu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96" name="m-s29_iso_stack-sum-bar"/>
          <p:cNvSpPr/>
          <p:nvPr/>
        </p:nvSpPr>
        <p:spPr>
          <a:xfrm>
            <a:off x="10215562" y="7027228"/>
            <a:ext cx="6509" cy="85916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97" name="m-s29_iso_stack-sum-h"/>
          <p:cNvSpPr txBox="1"/>
          <p:nvPr/>
        </p:nvSpPr>
        <p:spPr>
          <a:xfrm>
            <a:off x="10254563" y="7054571"/>
            <a:ext cx="118850" cy="3872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70" b="1" i="0" u="none" strike="noStrike" kern="1200" cap="none" spc="20" normalizeH="0" baseline="0" noProof="0">
                <a:ln>
                  <a:noFill/>
                </a:ln>
                <a:solidFill>
                  <a:srgbClr val="0B2545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架构原则</a:t>
            </a:r>
          </a:p>
        </p:txBody>
      </p:sp>
      <p:sp>
        <p:nvSpPr>
          <p:cNvPr id="2298" name="m-s29_iso_stack-sum-p"/>
          <p:cNvSpPr txBox="1"/>
          <p:nvPr/>
        </p:nvSpPr>
        <p:spPr>
          <a:xfrm>
            <a:off x="10408091" y="7053767"/>
            <a:ext cx="816002" cy="3986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" b="0" i="0" u="none" strike="noStrike" kern="1200" cap="none" spc="4" normalizeH="0" baseline="0" noProof="0">
                <a:ln>
                  <a:noFill/>
                </a:ln>
                <a:solidFill>
                  <a:srgbClr val="64748B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上层只调用下层开放的接口，禁止跨层直连——任何一层都可以独立升级替换。</a:t>
            </a:r>
          </a:p>
        </p:txBody>
      </p:sp>
      <p:cxnSp>
        <p:nvCxnSpPr>
          <p:cNvPr id="2299" name="m-s29_iso_stack-foot-line"/>
          <p:cNvCxnSpPr/>
          <p:nvPr/>
        </p:nvCxnSpPr>
        <p:spPr>
          <a:xfrm>
            <a:off x="10140061" y="7141782"/>
            <a:ext cx="2259838" cy="0"/>
          </a:xfrm>
          <a:prstGeom prst="line">
            <a:avLst/>
          </a:prstGeom>
          <a:ln w="2540" cap="rnd">
            <a:solidFill>
              <a:srgbClr val="0B2545">
                <a:alpha val="10000"/>
              </a:srgbClr>
            </a:solidFill>
            <a:round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00" name="m-s29_iso_stack-foot-l"/>
          <p:cNvSpPr txBox="1"/>
          <p:nvPr/>
        </p:nvSpPr>
        <p:spPr>
          <a:xfrm>
            <a:off x="10137874" y="7155723"/>
            <a:ext cx="214294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15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等轴分层 · 五层架构</a:t>
            </a:r>
          </a:p>
        </p:txBody>
      </p:sp>
      <p:sp>
        <p:nvSpPr>
          <p:cNvPr id="2301" name="m-s29_iso_stack-foot-r"/>
          <p:cNvSpPr txBox="1"/>
          <p:nvPr/>
        </p:nvSpPr>
        <p:spPr>
          <a:xfrm>
            <a:off x="12142309" y="7155723"/>
            <a:ext cx="259777" cy="3189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" b="0" i="0" u="none" strike="noStrike" kern="1200" cap="none" spc="20" normalizeH="0" baseline="0" noProof="0">
                <a:ln>
                  <a:noFill/>
                </a:ln>
                <a:solidFill>
                  <a:srgbClr val="7E93AE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RIPRO CHART LIBRARY</a:t>
            </a:r>
          </a:p>
        </p:txBody>
      </p:sp>
      <p:sp>
        <p:nvSpPr>
          <p:cNvPr id="2302" name="veil-h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3A88">
                  <a:alpha val="72000"/>
                </a:srgbClr>
              </a:gs>
              <a:gs pos="28000">
                <a:srgbClr val="061F52">
                  <a:alpha val="95000"/>
                </a:srgbClr>
              </a:gs>
              <a:gs pos="72000">
                <a:srgbClr val="061F52">
                  <a:alpha val="95000"/>
                </a:srgbClr>
              </a:gs>
              <a:gs pos="100000">
                <a:srgbClr val="0A3A88">
                  <a:alpha val="72000"/>
                </a:srgbClr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03" name="veil-v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61F52">
                  <a:alpha val="60000"/>
                </a:srgbClr>
              </a:gs>
              <a:gs pos="50000">
                <a:srgbClr val="061F52">
                  <a:alpha val="20000"/>
                </a:srgbClr>
              </a:gs>
              <a:gs pos="100000">
                <a:srgbClr val="061F52">
                  <a:alpha val="7500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2304" name="logo" descr="ripro_logo_whi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365750" y="952500"/>
            <a:ext cx="1460500" cy="398065"/>
          </a:xfrm>
          <a:prstGeom prst="rect">
            <a:avLst/>
          </a:prstGeom>
        </p:spPr>
      </p:pic>
      <p:sp>
        <p:nvSpPr>
          <p:cNvPr id="2305" name="ty-0"/>
          <p:cNvSpPr/>
          <p:nvPr/>
        </p:nvSpPr>
        <p:spPr>
          <a:xfrm>
            <a:off x="2428240" y="2428875"/>
            <a:ext cx="626110" cy="809625"/>
          </a:xfrm>
          <a:custGeom>
            <a:avLst/>
            <a:gdLst/>
            <a:ahLst/>
            <a:cxnLst/>
            <a:rect l="0" t="0" r="r" b="b"/>
            <a:pathLst>
              <a:path w="626110" h="809625">
                <a:moveTo>
                  <a:pt x="626110" y="0"/>
                </a:moveTo>
                <a:lnTo>
                  <a:pt x="626110" y="158115"/>
                </a:lnTo>
                <a:lnTo>
                  <a:pt x="411480" y="158115"/>
                </a:lnTo>
                <a:lnTo>
                  <a:pt x="411480" y="809625"/>
                </a:lnTo>
                <a:lnTo>
                  <a:pt x="214630" y="809625"/>
                </a:lnTo>
                <a:lnTo>
                  <a:pt x="214630" y="158115"/>
                </a:lnTo>
                <a:lnTo>
                  <a:pt x="0" y="158115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06" name="ty-1"/>
          <p:cNvSpPr/>
          <p:nvPr/>
        </p:nvSpPr>
        <p:spPr>
          <a:xfrm>
            <a:off x="3229610" y="2428875"/>
            <a:ext cx="701040" cy="809625"/>
          </a:xfrm>
          <a:custGeom>
            <a:avLst/>
            <a:gdLst/>
            <a:ahLst/>
            <a:cxnLst/>
            <a:rect l="0" t="0" r="r" b="b"/>
            <a:pathLst>
              <a:path w="701040" h="809625">
                <a:moveTo>
                  <a:pt x="701040" y="0"/>
                </a:moveTo>
                <a:lnTo>
                  <a:pt x="701040" y="809625"/>
                </a:lnTo>
                <a:lnTo>
                  <a:pt x="503555" y="809625"/>
                </a:lnTo>
                <a:lnTo>
                  <a:pt x="503555" y="476250"/>
                </a:lnTo>
                <a:lnTo>
                  <a:pt x="196850" y="476250"/>
                </a:lnTo>
                <a:lnTo>
                  <a:pt x="196850" y="809625"/>
                </a:lnTo>
                <a:lnTo>
                  <a:pt x="0" y="809625"/>
                </a:lnTo>
                <a:lnTo>
                  <a:pt x="0" y="0"/>
                </a:lnTo>
                <a:lnTo>
                  <a:pt x="196850" y="0"/>
                </a:lnTo>
                <a:lnTo>
                  <a:pt x="196850" y="317500"/>
                </a:lnTo>
                <a:lnTo>
                  <a:pt x="503555" y="317500"/>
                </a:lnTo>
                <a:lnTo>
                  <a:pt x="503555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07" name="ty-2"/>
          <p:cNvSpPr/>
          <p:nvPr/>
        </p:nvSpPr>
        <p:spPr>
          <a:xfrm>
            <a:off x="4095750" y="2428875"/>
            <a:ext cx="813435" cy="809625"/>
          </a:xfrm>
          <a:custGeom>
            <a:avLst/>
            <a:gdLst/>
            <a:ahLst/>
            <a:cxnLst/>
            <a:rect l="0" t="0" r="r" b="b"/>
            <a:pathLst>
              <a:path w="813435" h="809625">
                <a:moveTo>
                  <a:pt x="556895" y="666750"/>
                </a:moveTo>
                <a:lnTo>
                  <a:pt x="254635" y="666750"/>
                </a:lnTo>
                <a:lnTo>
                  <a:pt x="206375" y="809625"/>
                </a:lnTo>
                <a:lnTo>
                  <a:pt x="0" y="809625"/>
                </a:lnTo>
                <a:lnTo>
                  <a:pt x="292735" y="0"/>
                </a:lnTo>
                <a:lnTo>
                  <a:pt x="520700" y="0"/>
                </a:lnTo>
                <a:lnTo>
                  <a:pt x="813435" y="809625"/>
                </a:lnTo>
                <a:lnTo>
                  <a:pt x="605155" y="809625"/>
                </a:lnTo>
                <a:close/>
                <a:moveTo>
                  <a:pt x="506095" y="514350"/>
                </a:moveTo>
                <a:lnTo>
                  <a:pt x="405765" y="218440"/>
                </a:lnTo>
                <a:lnTo>
                  <a:pt x="306705" y="51435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08" name="ty-3"/>
          <p:cNvSpPr/>
          <p:nvPr/>
        </p:nvSpPr>
        <p:spPr>
          <a:xfrm>
            <a:off x="5074285" y="2428875"/>
            <a:ext cx="723900" cy="809625"/>
          </a:xfrm>
          <a:custGeom>
            <a:avLst/>
            <a:gdLst/>
            <a:ahLst/>
            <a:cxnLst/>
            <a:rect l="0" t="0" r="r" b="b"/>
            <a:pathLst>
              <a:path w="723900" h="809625">
                <a:moveTo>
                  <a:pt x="723900" y="809625"/>
                </a:moveTo>
                <a:lnTo>
                  <a:pt x="527050" y="809625"/>
                </a:lnTo>
                <a:lnTo>
                  <a:pt x="197485" y="310515"/>
                </a:lnTo>
                <a:lnTo>
                  <a:pt x="197485" y="809625"/>
                </a:lnTo>
                <a:lnTo>
                  <a:pt x="0" y="809625"/>
                </a:lnTo>
                <a:lnTo>
                  <a:pt x="0" y="0"/>
                </a:lnTo>
                <a:lnTo>
                  <a:pt x="197485" y="0"/>
                </a:lnTo>
                <a:lnTo>
                  <a:pt x="527050" y="501650"/>
                </a:lnTo>
                <a:lnTo>
                  <a:pt x="527050" y="0"/>
                </a:lnTo>
                <a:lnTo>
                  <a:pt x="72390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09" name="ty-4"/>
          <p:cNvSpPr/>
          <p:nvPr/>
        </p:nvSpPr>
        <p:spPr>
          <a:xfrm>
            <a:off x="6017895" y="2428875"/>
            <a:ext cx="709930" cy="809625"/>
          </a:xfrm>
          <a:custGeom>
            <a:avLst/>
            <a:gdLst/>
            <a:ahLst/>
            <a:cxnLst/>
            <a:rect l="0" t="0" r="r" b="b"/>
            <a:pathLst>
              <a:path w="709930" h="809625">
                <a:moveTo>
                  <a:pt x="468630" y="809625"/>
                </a:moveTo>
                <a:lnTo>
                  <a:pt x="196850" y="452120"/>
                </a:lnTo>
                <a:lnTo>
                  <a:pt x="196850" y="809625"/>
                </a:lnTo>
                <a:lnTo>
                  <a:pt x="0" y="809625"/>
                </a:lnTo>
                <a:lnTo>
                  <a:pt x="0" y="0"/>
                </a:lnTo>
                <a:lnTo>
                  <a:pt x="196850" y="0"/>
                </a:lnTo>
                <a:lnTo>
                  <a:pt x="196850" y="355600"/>
                </a:lnTo>
                <a:lnTo>
                  <a:pt x="466725" y="0"/>
                </a:lnTo>
                <a:lnTo>
                  <a:pt x="698500" y="0"/>
                </a:lnTo>
                <a:lnTo>
                  <a:pt x="384810" y="396875"/>
                </a:lnTo>
                <a:lnTo>
                  <a:pt x="709930" y="80962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10" name="ty-6"/>
          <p:cNvSpPr/>
          <p:nvPr/>
        </p:nvSpPr>
        <p:spPr>
          <a:xfrm>
            <a:off x="7154545" y="2428875"/>
            <a:ext cx="757555" cy="809625"/>
          </a:xfrm>
          <a:custGeom>
            <a:avLst/>
            <a:gdLst/>
            <a:ahLst/>
            <a:cxnLst/>
            <a:rect l="0" t="0" r="r" b="b"/>
            <a:pathLst>
              <a:path w="757555" h="809625">
                <a:moveTo>
                  <a:pt x="757555" y="0"/>
                </a:moveTo>
                <a:lnTo>
                  <a:pt x="477520" y="542290"/>
                </a:lnTo>
                <a:lnTo>
                  <a:pt x="477520" y="809625"/>
                </a:lnTo>
                <a:lnTo>
                  <a:pt x="280035" y="809625"/>
                </a:lnTo>
                <a:lnTo>
                  <a:pt x="280035" y="542290"/>
                </a:lnTo>
                <a:lnTo>
                  <a:pt x="0" y="0"/>
                </a:lnTo>
                <a:lnTo>
                  <a:pt x="223520" y="0"/>
                </a:lnTo>
                <a:lnTo>
                  <a:pt x="380365" y="339090"/>
                </a:lnTo>
                <a:lnTo>
                  <a:pt x="53594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11" name="ty-7"/>
          <p:cNvSpPr/>
          <p:nvPr/>
        </p:nvSpPr>
        <p:spPr>
          <a:xfrm>
            <a:off x="8034655" y="2417445"/>
            <a:ext cx="829945" cy="829310"/>
          </a:xfrm>
          <a:custGeom>
            <a:avLst/>
            <a:gdLst/>
            <a:ahLst/>
            <a:cxnLst/>
            <a:rect l="0" t="0" r="r" b="b"/>
            <a:pathLst>
              <a:path w="829945" h="829310">
                <a:moveTo>
                  <a:pt x="0" y="414020"/>
                </a:moveTo>
                <a:quadBezTo>
                  <a:pt x="0" y="295275"/>
                  <a:pt x="55880" y="200660"/>
                </a:quadBezTo>
                <a:quadBezTo>
                  <a:pt x="111760" y="106045"/>
                  <a:pt x="206375" y="53340"/>
                </a:quadBezTo>
                <a:quadBezTo>
                  <a:pt x="301625" y="0"/>
                  <a:pt x="415925" y="0"/>
                </a:quadBezTo>
                <a:quadBezTo>
                  <a:pt x="530225" y="0"/>
                  <a:pt x="625475" y="53340"/>
                </a:quadBezTo>
                <a:quadBezTo>
                  <a:pt x="720090" y="106045"/>
                  <a:pt x="775335" y="200660"/>
                </a:quadBezTo>
                <a:quadBezTo>
                  <a:pt x="829945" y="295275"/>
                  <a:pt x="829945" y="414020"/>
                </a:quadBezTo>
                <a:quadBezTo>
                  <a:pt x="829945" y="532765"/>
                  <a:pt x="774700" y="628015"/>
                </a:quadBezTo>
                <a:quadBezTo>
                  <a:pt x="718820" y="723265"/>
                  <a:pt x="624840" y="775970"/>
                </a:quadBezTo>
                <a:quadBezTo>
                  <a:pt x="530225" y="829310"/>
                  <a:pt x="415925" y="829310"/>
                </a:quadBezTo>
                <a:quadBezTo>
                  <a:pt x="301625" y="829310"/>
                  <a:pt x="206375" y="775970"/>
                </a:quadBezTo>
                <a:quadBezTo>
                  <a:pt x="111760" y="723265"/>
                  <a:pt x="55880" y="628015"/>
                </a:quadBezTo>
                <a:quadBezTo>
                  <a:pt x="0" y="532765"/>
                  <a:pt x="0" y="414020"/>
                </a:quadBezTo>
                <a:close/>
                <a:moveTo>
                  <a:pt x="629285" y="414020"/>
                </a:moveTo>
                <a:quadBezTo>
                  <a:pt x="629285" y="306705"/>
                  <a:pt x="570865" y="242570"/>
                </a:quadBezTo>
                <a:quadBezTo>
                  <a:pt x="512445" y="179070"/>
                  <a:pt x="415925" y="179070"/>
                </a:quadBezTo>
                <a:quadBezTo>
                  <a:pt x="318135" y="179070"/>
                  <a:pt x="259715" y="242570"/>
                </a:quadBezTo>
                <a:quadBezTo>
                  <a:pt x="201295" y="305435"/>
                  <a:pt x="201295" y="414020"/>
                </a:quadBezTo>
                <a:quadBezTo>
                  <a:pt x="201295" y="521335"/>
                  <a:pt x="259715" y="585470"/>
                </a:quadBezTo>
                <a:quadBezTo>
                  <a:pt x="318135" y="648970"/>
                  <a:pt x="415925" y="648970"/>
                </a:quadBezTo>
                <a:quadBezTo>
                  <a:pt x="512445" y="648970"/>
                  <a:pt x="570865" y="584835"/>
                </a:quadBezTo>
                <a:quadBezTo>
                  <a:pt x="629285" y="520065"/>
                  <a:pt x="629285" y="414020"/>
                </a:quad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12" name="ty-8"/>
          <p:cNvSpPr/>
          <p:nvPr/>
        </p:nvSpPr>
        <p:spPr>
          <a:xfrm>
            <a:off x="9046845" y="2428875"/>
            <a:ext cx="677545" cy="817880"/>
          </a:xfrm>
          <a:custGeom>
            <a:avLst/>
            <a:gdLst/>
            <a:ahLst/>
            <a:cxnLst/>
            <a:rect l="0" t="0" r="r" b="b"/>
            <a:pathLst>
              <a:path w="677545" h="817880">
                <a:moveTo>
                  <a:pt x="196850" y="0"/>
                </a:moveTo>
                <a:lnTo>
                  <a:pt x="196850" y="484505"/>
                </a:lnTo>
                <a:quadBezTo>
                  <a:pt x="196850" y="556895"/>
                  <a:pt x="233045" y="596265"/>
                </a:quadBezTo>
                <a:quadBezTo>
                  <a:pt x="268605" y="635635"/>
                  <a:pt x="337820" y="635635"/>
                </a:quadBezTo>
                <a:quadBezTo>
                  <a:pt x="407035" y="635635"/>
                  <a:pt x="443865" y="596265"/>
                </a:quadBezTo>
                <a:quadBezTo>
                  <a:pt x="480695" y="556895"/>
                  <a:pt x="480695" y="484505"/>
                </a:quadBezTo>
                <a:lnTo>
                  <a:pt x="480695" y="0"/>
                </a:lnTo>
                <a:lnTo>
                  <a:pt x="677545" y="0"/>
                </a:lnTo>
                <a:lnTo>
                  <a:pt x="677545" y="483235"/>
                </a:lnTo>
                <a:quadBezTo>
                  <a:pt x="677545" y="591820"/>
                  <a:pt x="631825" y="666750"/>
                </a:quadBezTo>
                <a:quadBezTo>
                  <a:pt x="585470" y="741680"/>
                  <a:pt x="508000" y="779780"/>
                </a:quadBezTo>
                <a:quadBezTo>
                  <a:pt x="429895" y="817880"/>
                  <a:pt x="334010" y="817880"/>
                </a:quadBezTo>
                <a:quadBezTo>
                  <a:pt x="238760" y="817880"/>
                  <a:pt x="163195" y="780415"/>
                </a:quadBezTo>
                <a:quadBezTo>
                  <a:pt x="87630" y="742950"/>
                  <a:pt x="43815" y="667385"/>
                </a:quadBezTo>
                <a:quadBezTo>
                  <a:pt x="0" y="591820"/>
                  <a:pt x="0" y="483235"/>
                </a:quadBez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13" name="dot"/>
          <p:cNvSpPr/>
          <p:nvPr/>
        </p:nvSpPr>
        <p:spPr>
          <a:xfrm>
            <a:off x="9893102" y="3079750"/>
            <a:ext cx="152400" cy="152400"/>
          </a:xfrm>
          <a:prstGeom prst="ellipse">
            <a:avLst/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14" name="cn"/>
          <p:cNvSpPr txBox="1"/>
          <p:nvPr/>
        </p:nvSpPr>
        <p:spPr>
          <a:xfrm>
            <a:off x="5038090" y="3559810"/>
            <a:ext cx="2115820" cy="444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0" b="1" i="0" u="none" strike="noStrike" kern="1200" cap="none" spc="500" normalizeH="0" baseline="0" noProof="0">
                <a:ln>
                  <a:noFill/>
                </a:ln>
                <a:solidFill>
                  <a:srgbClr val="CFE0F4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感 谢 观 看</a:t>
            </a:r>
          </a:p>
        </p:txBody>
      </p:sp>
      <p:sp>
        <p:nvSpPr>
          <p:cNvPr id="2315" name="acc"/>
          <p:cNvSpPr/>
          <p:nvPr/>
        </p:nvSpPr>
        <p:spPr>
          <a:xfrm>
            <a:off x="5892800" y="4191000"/>
            <a:ext cx="406400" cy="38100"/>
          </a:xfrm>
          <a:prstGeom prst="roundRect">
            <a:avLst>
              <a:gd name="adj" fmla="val 50000"/>
            </a:avLst>
          </a:prstGeom>
          <a:solidFill>
            <a:srgbClr val="E070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16" name="slogan"/>
          <p:cNvSpPr txBox="1"/>
          <p:nvPr/>
        </p:nvSpPr>
        <p:spPr>
          <a:xfrm>
            <a:off x="4827270" y="4459986"/>
            <a:ext cx="2537460" cy="2667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0" i="0" u="none" strike="noStrike" kern="1200" cap="none" spc="150" normalizeH="0" baseline="0" noProof="0">
                <a:ln>
                  <a:noFill/>
                </a:ln>
                <a:solidFill>
                  <a:srgbClr val="CFE0F4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让每一张图表，都讲清楚一件事</a:t>
            </a:r>
          </a:p>
        </p:txBody>
      </p:sp>
      <p:sp>
        <p:nvSpPr>
          <p:cNvPr id="2317" name="chip-0"/>
          <p:cNvSpPr/>
          <p:nvPr/>
        </p:nvSpPr>
        <p:spPr>
          <a:xfrm>
            <a:off x="3587750" y="5156200"/>
            <a:ext cx="1587500" cy="482600"/>
          </a:xfrm>
          <a:custGeom>
            <a:avLst/>
            <a:gdLst/>
            <a:ahLst/>
            <a:cxnLst/>
            <a:rect l="0" t="0" r="r" b="b"/>
            <a:pathLst>
              <a:path w="1587500" h="482600">
                <a:moveTo>
                  <a:pt x="241300" y="0"/>
                </a:moveTo>
                <a:lnTo>
                  <a:pt x="1346200" y="0"/>
                </a:lnTo>
                <a:cubicBezTo>
                  <a:pt x="1479486" y="0"/>
                  <a:pt x="1587500" y="108013"/>
                  <a:pt x="1587500" y="241300"/>
                </a:cubicBezTo>
                <a:lnTo>
                  <a:pt x="1587500" y="241300"/>
                </a:lnTo>
                <a:cubicBezTo>
                  <a:pt x="1587500" y="374587"/>
                  <a:pt x="1479486" y="482600"/>
                  <a:pt x="1346200" y="482600"/>
                </a:cubicBezTo>
                <a:lnTo>
                  <a:pt x="241300" y="482600"/>
                </a:lnTo>
                <a:cubicBezTo>
                  <a:pt x="108013" y="482600"/>
                  <a:pt x="0" y="374587"/>
                  <a:pt x="0" y="241300"/>
                </a:cubicBezTo>
                <a:lnTo>
                  <a:pt x="0" y="241300"/>
                </a:lnTo>
                <a:cubicBezTo>
                  <a:pt x="0" y="108013"/>
                  <a:pt x="108013" y="0"/>
                  <a:pt x="241300" y="0"/>
                </a:cubicBezTo>
                <a:close/>
              </a:path>
            </a:pathLst>
          </a:custGeom>
          <a:solidFill>
            <a:srgbClr val="FFFFFF">
              <a:alpha val="8000"/>
            </a:srgbClr>
          </a:solidFill>
          <a:ln w="7620" cap="rnd">
            <a:solidFill>
              <a:srgbClr val="FFFFFF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18" name="chipv-0"/>
          <p:cNvSpPr txBox="1"/>
          <p:nvPr/>
        </p:nvSpPr>
        <p:spPr>
          <a:xfrm>
            <a:off x="3786378" y="5222748"/>
            <a:ext cx="524256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0" b="1" i="0" u="none" strike="noStrike" kern="1200" cap="none" spc="0" normalizeH="0" baseline="0" noProof="0">
                <a:ln>
                  <a:noFill/>
                </a:ln>
                <a:solidFill>
                  <a:srgbClr val="E0703A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200</a:t>
            </a:r>
          </a:p>
        </p:txBody>
      </p:sp>
      <p:sp>
        <p:nvSpPr>
          <p:cNvPr id="2319" name="chipl-0"/>
          <p:cNvSpPr txBox="1"/>
          <p:nvPr/>
        </p:nvSpPr>
        <p:spPr>
          <a:xfrm>
            <a:off x="4347972" y="5305647"/>
            <a:ext cx="743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950" b="1" i="0" u="none" strike="noStrike" kern="1200" cap="none" spc="5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张原生图表</a:t>
            </a:r>
          </a:p>
        </p:txBody>
      </p:sp>
      <p:sp>
        <p:nvSpPr>
          <p:cNvPr id="2320" name="chip-1"/>
          <p:cNvSpPr/>
          <p:nvPr/>
        </p:nvSpPr>
        <p:spPr>
          <a:xfrm>
            <a:off x="5302250" y="5156200"/>
            <a:ext cx="1587500" cy="482600"/>
          </a:xfrm>
          <a:custGeom>
            <a:avLst/>
            <a:gdLst/>
            <a:ahLst/>
            <a:cxnLst/>
            <a:rect l="0" t="0" r="r" b="b"/>
            <a:pathLst>
              <a:path w="1587500" h="482600">
                <a:moveTo>
                  <a:pt x="241300" y="0"/>
                </a:moveTo>
                <a:lnTo>
                  <a:pt x="1346200" y="0"/>
                </a:lnTo>
                <a:cubicBezTo>
                  <a:pt x="1479486" y="0"/>
                  <a:pt x="1587500" y="108013"/>
                  <a:pt x="1587500" y="241300"/>
                </a:cubicBezTo>
                <a:lnTo>
                  <a:pt x="1587500" y="241300"/>
                </a:lnTo>
                <a:cubicBezTo>
                  <a:pt x="1587500" y="374587"/>
                  <a:pt x="1479486" y="482600"/>
                  <a:pt x="1346200" y="482600"/>
                </a:cubicBezTo>
                <a:lnTo>
                  <a:pt x="241300" y="482600"/>
                </a:lnTo>
                <a:cubicBezTo>
                  <a:pt x="108013" y="482600"/>
                  <a:pt x="0" y="374587"/>
                  <a:pt x="0" y="241300"/>
                </a:cubicBezTo>
                <a:lnTo>
                  <a:pt x="0" y="241300"/>
                </a:lnTo>
                <a:cubicBezTo>
                  <a:pt x="0" y="108013"/>
                  <a:pt x="108013" y="0"/>
                  <a:pt x="241300" y="0"/>
                </a:cubicBezTo>
                <a:close/>
              </a:path>
            </a:pathLst>
          </a:custGeom>
          <a:solidFill>
            <a:srgbClr val="FFFFFF">
              <a:alpha val="8000"/>
            </a:srgbClr>
          </a:solidFill>
          <a:ln w="7620" cap="rnd">
            <a:solidFill>
              <a:srgbClr val="FFFFFF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21" name="chipv-1"/>
          <p:cNvSpPr txBox="1"/>
          <p:nvPr/>
        </p:nvSpPr>
        <p:spPr>
          <a:xfrm>
            <a:off x="5728462" y="5222748"/>
            <a:ext cx="296672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0" b="1" i="0" u="none" strike="noStrike" kern="1200" cap="none" spc="0" normalizeH="0" baseline="0" noProof="0">
                <a:ln>
                  <a:noFill/>
                </a:ln>
                <a:solidFill>
                  <a:srgbClr val="8CC4F2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5</a:t>
            </a:r>
          </a:p>
        </p:txBody>
      </p:sp>
      <p:sp>
        <p:nvSpPr>
          <p:cNvPr id="2322" name="chipl-1"/>
          <p:cNvSpPr txBox="1"/>
          <p:nvPr/>
        </p:nvSpPr>
        <p:spPr>
          <a:xfrm>
            <a:off x="6062472" y="5305647"/>
            <a:ext cx="362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950" b="1" i="0" u="none" strike="noStrike" kern="1200" cap="none" spc="5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大类</a:t>
            </a:r>
          </a:p>
        </p:txBody>
      </p:sp>
      <p:sp>
        <p:nvSpPr>
          <p:cNvPr id="2323" name="chip-2"/>
          <p:cNvSpPr/>
          <p:nvPr/>
        </p:nvSpPr>
        <p:spPr>
          <a:xfrm>
            <a:off x="7016750" y="5156200"/>
            <a:ext cx="1587500" cy="482600"/>
          </a:xfrm>
          <a:custGeom>
            <a:avLst/>
            <a:gdLst/>
            <a:ahLst/>
            <a:cxnLst/>
            <a:rect l="0" t="0" r="r" b="b"/>
            <a:pathLst>
              <a:path w="1587500" h="482600">
                <a:moveTo>
                  <a:pt x="241300" y="0"/>
                </a:moveTo>
                <a:lnTo>
                  <a:pt x="1346200" y="0"/>
                </a:lnTo>
                <a:cubicBezTo>
                  <a:pt x="1479486" y="0"/>
                  <a:pt x="1587500" y="108013"/>
                  <a:pt x="1587500" y="241300"/>
                </a:cubicBezTo>
                <a:lnTo>
                  <a:pt x="1587500" y="241300"/>
                </a:lnTo>
                <a:cubicBezTo>
                  <a:pt x="1587500" y="374587"/>
                  <a:pt x="1479486" y="482600"/>
                  <a:pt x="1346200" y="482600"/>
                </a:cubicBezTo>
                <a:lnTo>
                  <a:pt x="241300" y="482600"/>
                </a:lnTo>
                <a:cubicBezTo>
                  <a:pt x="108013" y="482600"/>
                  <a:pt x="0" y="374587"/>
                  <a:pt x="0" y="241300"/>
                </a:cubicBezTo>
                <a:lnTo>
                  <a:pt x="0" y="241300"/>
                </a:lnTo>
                <a:cubicBezTo>
                  <a:pt x="0" y="108013"/>
                  <a:pt x="108013" y="0"/>
                  <a:pt x="241300" y="0"/>
                </a:cubicBezTo>
                <a:close/>
              </a:path>
            </a:pathLst>
          </a:custGeom>
          <a:solidFill>
            <a:srgbClr val="FFFFFF">
              <a:alpha val="8000"/>
            </a:srgbClr>
          </a:solidFill>
          <a:ln w="7620" cap="rnd">
            <a:solidFill>
              <a:srgbClr val="FFFFFF">
                <a:alpha val="35000"/>
              </a:srgbClr>
            </a:solidFill>
            <a:rou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24" name="chipv-2"/>
          <p:cNvSpPr txBox="1"/>
          <p:nvPr/>
        </p:nvSpPr>
        <p:spPr>
          <a:xfrm>
            <a:off x="7101586" y="5222748"/>
            <a:ext cx="638048" cy="355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0" b="1" i="0" u="none" strike="noStrike" kern="1200" cap="none" spc="0" normalizeH="0" baseline="0" noProof="0">
                <a:ln>
                  <a:noFill/>
                </a:ln>
                <a:solidFill>
                  <a:srgbClr val="8CC4F2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100%</a:t>
            </a:r>
          </a:p>
        </p:txBody>
      </p:sp>
      <p:sp>
        <p:nvSpPr>
          <p:cNvPr id="2325" name="chipl-2"/>
          <p:cNvSpPr txBox="1"/>
          <p:nvPr/>
        </p:nvSpPr>
        <p:spPr>
          <a:xfrm>
            <a:off x="7776972" y="5305647"/>
            <a:ext cx="489585" cy="211138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950" b="1" i="0" u="none" strike="noStrike" kern="1200" cap="none" spc="5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可编辑</a:t>
            </a:r>
          </a:p>
        </p:txBody>
      </p:sp>
      <p:sp>
        <p:nvSpPr>
          <p:cNvPr id="2326" name="maker"/>
          <p:cNvSpPr txBox="1"/>
          <p:nvPr/>
        </p:nvSpPr>
        <p:spPr>
          <a:xfrm>
            <a:off x="4428490" y="6224524"/>
            <a:ext cx="3335020" cy="177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800" b="0" i="0" u="none" strike="noStrike" kern="1200" cap="none" spc="150" normalizeH="0" baseline="0" noProof="0">
                <a:ln>
                  <a:noFill/>
                </a:ln>
                <a:solidFill>
                  <a:srgbClr val="9FC0E8"/>
                </a:solidFill>
                <a:effectLst/>
                <a:uLnTx/>
                <a:uFillTx/>
                <a:latin typeface="微软雅黑"/>
                <a:ea typeface="微软雅黑"/>
                <a:cs typeface="微软雅黑"/>
              </a:rPr>
              <a:t>RIPRO CHART LIBRARY · 锐普演示设计 出品 · 2026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215</TotalTime>
  <Words>21570</Words>
  <Application>Microsoft Office PowerPoint</Application>
  <PresentationFormat>宽屏</PresentationFormat>
  <Paragraphs>11748</Paragraphs>
  <Slides>202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3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202</vt:i4>
      </vt:variant>
    </vt:vector>
  </HeadingPairs>
  <TitlesOfParts>
    <vt:vector size="206" baseType="lpstr">
      <vt:lpstr>微软雅黑</vt:lpstr>
      <vt:lpstr>Arial</vt:lpstr>
      <vt:lpstr>Calibri</vt:lpstr>
      <vt:lpstr>Office Theme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>陈魁</dc:creator>
  <cp:keywords/>
  <dc:description>generated using python-pptx</dc:description>
  <cp:lastModifiedBy>魁 陈</cp:lastModifiedBy>
  <cp:revision>16</cp:revision>
  <dcterms:created xsi:type="dcterms:W3CDTF">2013-01-27T09:14:16Z</dcterms:created>
  <dcterms:modified xsi:type="dcterms:W3CDTF">2026-09-22T06:37:49Z</dcterms:modified>
  <cp:category/>
</cp:coreProperties>
</file>